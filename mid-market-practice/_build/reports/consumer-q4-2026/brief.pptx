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g"/>
  <Override PartName="/ppt/media/image178.jpg" ContentType="image/jpg"/>
  <Override PartName="/ppt/media/image24.jpg" ContentType="image/jpg"/>
  <Override PartName="/ppt/media/image25.jpg" ContentType="image/jpg"/>
  <Override PartName="/ppt/media/image27.jpg" ContentType="image/jpg"/>
  <Override PartName="/ppt/media/image31.jpg" ContentType="image/jpg"/>
  <Override PartName="/ppt/media/image32.jpg" ContentType="image/jpg"/>
  <Override PartName="/ppt/media/image34.jpg" ContentType="image/jpg"/>
  <Override PartName="/ppt/media/image36.jpg" ContentType="image/jpg"/>
  <Override PartName="/ppt/media/image38.jpg" ContentType="image/jpg"/>
  <Override PartName="/ppt/media/image40.jpg" ContentType="image/jpg"/>
  <Override PartName="/ppt/media/image42.jpg" ContentType="image/jpg"/>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removePersonalInfoOnSave="1">
  <p:sldMasterIdLst>
    <p:sldMasterId id="2147483648" r:id="rId1"/>
  </p:sldMasterIdLst>
  <p:sldIdLst>
    <p:sldId id="256" r:id="rId2"/>
    <p:sldId id="276" r:id="rId3"/>
    <p:sldId id="285" r:id="rId4"/>
    <p:sldId id="257" r:id="rId5"/>
    <p:sldId id="258" r:id="rId6"/>
    <p:sldId id="259" r:id="rId7"/>
    <p:sldId id="260" r:id="rId8"/>
    <p:sldId id="279" r:id="rId9"/>
    <p:sldId id="261" r:id="rId10"/>
    <p:sldId id="262" r:id="rId11"/>
    <p:sldId id="263" r:id="rId12"/>
    <p:sldId id="278" r:id="rId13"/>
    <p:sldId id="264" r:id="rId14"/>
    <p:sldId id="265" r:id="rId15"/>
    <p:sldId id="282" r:id="rId16"/>
    <p:sldId id="267" r:id="rId17"/>
    <p:sldId id="268" r:id="rId18"/>
    <p:sldId id="269" r:id="rId19"/>
    <p:sldId id="280" r:id="rId20"/>
    <p:sldId id="281" r:id="rId21"/>
    <p:sldId id="270" r:id="rId22"/>
    <p:sldId id="271" r:id="rId23"/>
    <p:sldId id="272" r:id="rId24"/>
    <p:sldId id="273" r:id="rId25"/>
    <p:sldId id="274" r:id="rId26"/>
    <p:sldId id="283" r:id="rId27"/>
    <p:sldId id="286" r:id="rId28"/>
    <p:sldId id="277" r:id="rId29"/>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Connect With Us" id="{945E0551-7368-7241-40B9-5BCAD131584B}">
          <p14:sldIdLst>
            <p14:sldId id="276"/>
            <p14:sldId id="285"/>
          </p14:sldIdLst>
        </p14:section>
        <p14:section name="Insights" id="{1403C3D4-3916-A9F3-20FD-5E617E9D9A2C}">
          <p14:sldIdLst>
            <p14:sldId id="257"/>
            <p14:sldId id="258"/>
            <p14:sldId id="259"/>
            <p14:sldId id="260"/>
            <p14:sldId id="279"/>
            <p14:sldId id="261"/>
          </p14:sldIdLst>
        </p14:section>
        <p14:section name="Sector Activity" id="{7E2FC109-A562-1178-AF4A-363ED1828842}">
          <p14:sldIdLst>
            <p14:sldId id="262"/>
            <p14:sldId id="263"/>
            <p14:sldId id="278"/>
            <p14:sldId id="264"/>
            <p14:sldId id="265"/>
            <p14:sldId id="282"/>
            <p14:sldId id="267"/>
            <p14:sldId id="268"/>
            <p14:sldId id="269"/>
            <p14:sldId id="280"/>
            <p14:sldId id="281"/>
            <p14:sldId id="270"/>
            <p14:sldId id="271"/>
            <p14:sldId id="272"/>
            <p14:sldId id="273"/>
            <p14:sldId id="274"/>
            <p14:sldId id="283"/>
            <p14:sldId id="28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presProps" Target="pres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-1.3</c:v>
                </c:pt>
                <c:pt idx="4">
                  <c:v>0.26</c:v>
                </c:pt>
              </c:numCache>
            </c:numRef>
          </c:val>
          <c:smooth val="0"/>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2.85</c:v>
                </c:pt>
                <c:pt idx="4">
                  <c:v>1.81</c:v>
                </c:pt>
              </c:numCache>
            </c:numRef>
          </c:val>
          <c:smooth val="0"/>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dPt>
          <c:dPt>
            <c:idx val="4"/>
            <c:bubble3D val="0"/>
            <c:spPr>
              <a:ln w="19050" cap="flat">
                <a:solidFill>
                  <a:srgbClr val="8F8880"/>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11.54</c:v>
                </c:pt>
                <c:pt idx="4">
                  <c:v>5.64</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4.75</c:v>
                </c:pt>
                <c:pt idx="4">
                  <c:v>3.6849999999999996</c:v>
                </c:pt>
              </c:numCache>
            </c:numRef>
          </c:val>
          <c:smooth val="0"/>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1.89</c:v>
                </c:pt>
                <c:pt idx="4">
                  <c:v>2.9000000000000004</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6.48</c:v>
                </c:pt>
                <c:pt idx="4">
                  <c:v>2.79</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9.2850000000000001</c:v>
                </c:pt>
                <c:pt idx="1">
                  <c:v>10.32</c:v>
                </c:pt>
                <c:pt idx="2">
                  <c:v>6.6349999999999998</c:v>
                </c:pt>
                <c:pt idx="3">
                  <c:v>6.61</c:v>
                </c:pt>
                <c:pt idx="4">
                  <c:v>4.75</c:v>
                </c:pt>
              </c:numCache>
            </c:numRef>
          </c:val>
          <c:smooth val="0"/>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10.52</c:v>
                </c:pt>
                <c:pt idx="1">
                  <c:v>3.88</c:v>
                </c:pt>
                <c:pt idx="2">
                  <c:v>8.6300000000000008</c:v>
                </c:pt>
                <c:pt idx="3">
                  <c:v>8.1300000000000008</c:v>
                </c:pt>
                <c:pt idx="4">
                  <c:v>7.65</c:v>
                </c:pt>
              </c:numCache>
            </c:numRef>
          </c:val>
          <c:smooth val="0"/>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dPt>
          <c:dPt>
            <c:idx val="4"/>
            <c:bubble3D val="0"/>
            <c:spPr>
              <a:ln w="19050" cap="flat">
                <a:solidFill>
                  <a:srgbClr val="8F8880"/>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4.5149999999999997</c:v>
                </c:pt>
                <c:pt idx="3">
                  <c:v>4.72</c:v>
                </c:pt>
                <c:pt idx="4">
                  <c:v>4.085</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559736</c:v>
                </c:pt>
                <c:pt idx="1">
                  <c:v>545417</c:v>
                </c:pt>
                <c:pt idx="2">
                  <c:v>603580</c:v>
                </c:pt>
                <c:pt idx="3">
                  <c:v>609247</c:v>
                </c:pt>
                <c:pt idx="4">
                  <c:v>605589</c:v>
                </c:pt>
                <c:pt idx="5">
                  <c:v>611711</c:v>
                </c:pt>
                <c:pt idx="6">
                  <c:v>602014</c:v>
                </c:pt>
                <c:pt idx="7">
                  <c:v>605419</c:v>
                </c:pt>
                <c:pt idx="8">
                  <c:v>610161</c:v>
                </c:pt>
                <c:pt idx="9">
                  <c:v>619018</c:v>
                </c:pt>
                <c:pt idx="10">
                  <c:v>625980</c:v>
                </c:pt>
                <c:pt idx="11">
                  <c:v>621734</c:v>
                </c:pt>
                <c:pt idx="12">
                  <c:v>634120</c:v>
                </c:pt>
                <c:pt idx="13">
                  <c:v>640815</c:v>
                </c:pt>
                <c:pt idx="14">
                  <c:v>652673</c:v>
                </c:pt>
                <c:pt idx="15">
                  <c:v>661508</c:v>
                </c:pt>
                <c:pt idx="16">
                  <c:v>661325</c:v>
                </c:pt>
                <c:pt idx="17">
                  <c:v>667984</c:v>
                </c:pt>
                <c:pt idx="18">
                  <c:v>659750</c:v>
                </c:pt>
                <c:pt idx="19">
                  <c:v>662999</c:v>
                </c:pt>
                <c:pt idx="20">
                  <c:v>661072</c:v>
                </c:pt>
                <c:pt idx="21">
                  <c:v>666924</c:v>
                </c:pt>
                <c:pt idx="22">
                  <c:v>656410</c:v>
                </c:pt>
                <c:pt idx="23">
                  <c:v>648305</c:v>
                </c:pt>
                <c:pt idx="24">
                  <c:v>674646</c:v>
                </c:pt>
                <c:pt idx="25">
                  <c:v>664692</c:v>
                </c:pt>
                <c:pt idx="26">
                  <c:v>655146</c:v>
                </c:pt>
                <c:pt idx="27">
                  <c:v>658962</c:v>
                </c:pt>
                <c:pt idx="28">
                  <c:v>662303</c:v>
                </c:pt>
                <c:pt idx="29">
                  <c:v>664476</c:v>
                </c:pt>
                <c:pt idx="30">
                  <c:v>663391</c:v>
                </c:pt>
                <c:pt idx="31">
                  <c:v>667632</c:v>
                </c:pt>
                <c:pt idx="32">
                  <c:v>671096</c:v>
                </c:pt>
                <c:pt idx="33">
                  <c:v>667815</c:v>
                </c:pt>
                <c:pt idx="34">
                  <c:v>666419</c:v>
                </c:pt>
                <c:pt idx="35">
                  <c:v>666963</c:v>
                </c:pt>
                <c:pt idx="36">
                  <c:v>660602</c:v>
                </c:pt>
                <c:pt idx="37">
                  <c:v>664621</c:v>
                </c:pt>
                <c:pt idx="38">
                  <c:v>664328</c:v>
                </c:pt>
                <c:pt idx="39">
                  <c:v>664858</c:v>
                </c:pt>
                <c:pt idx="40">
                  <c:v>667659</c:v>
                </c:pt>
                <c:pt idx="41">
                  <c:v>666040</c:v>
                </c:pt>
                <c:pt idx="42">
                  <c:v>673662</c:v>
                </c:pt>
                <c:pt idx="43">
                  <c:v>670668</c:v>
                </c:pt>
                <c:pt idx="44">
                  <c:v>676005</c:v>
                </c:pt>
                <c:pt idx="45">
                  <c:v>681808</c:v>
                </c:pt>
                <c:pt idx="46">
                  <c:v>685709</c:v>
                </c:pt>
                <c:pt idx="47">
                  <c:v>691794</c:v>
                </c:pt>
                <c:pt idx="48">
                  <c:v>687058</c:v>
                </c:pt>
                <c:pt idx="49">
                  <c:v>683772</c:v>
                </c:pt>
                <c:pt idx="50">
                  <c:v>694750</c:v>
                </c:pt>
                <c:pt idx="51">
                  <c:v>695464</c:v>
                </c:pt>
                <c:pt idx="52">
                  <c:v>685488</c:v>
                </c:pt>
                <c:pt idx="53">
                  <c:v>691883</c:v>
                </c:pt>
                <c:pt idx="54">
                  <c:v>698280</c:v>
                </c:pt>
                <c:pt idx="55">
                  <c:v>700407</c:v>
                </c:pt>
                <c:pt idx="56">
                  <c:v>700948</c:v>
                </c:pt>
                <c:pt idx="57">
                  <c:v>700790</c:v>
                </c:pt>
                <c:pt idx="58">
                  <c:v>705453</c:v>
                </c:pt>
                <c:pt idx="59">
                  <c:v>706264</c:v>
                </c:pt>
                <c:pt idx="60">
                  <c:v>701860</c:v>
                </c:pt>
                <c:pt idx="61">
                  <c:v>707959</c:v>
                </c:pt>
                <c:pt idx="62">
                  <c:v>719700</c:v>
                </c:pt>
                <c:pt idx="63">
                  <c:v>723921</c:v>
                </c:pt>
                <c:pt idx="64">
                  <c:v>731415</c:v>
                </c:pt>
                <c:pt idx="65">
                  <c:v>732898</c:v>
                </c:pt>
                <c:pt idx="66">
                  <c:v>729915</c:v>
                </c:pt>
                <c:pt idx="67">
                  <c:v>739322</c:v>
                </c:pt>
                <c:pt idx="68">
                  <c:v>745021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55014</c:v>
                </c:pt>
                <c:pt idx="1">
                  <c:v>53506</c:v>
                </c:pt>
                <c:pt idx="2">
                  <c:v>60811</c:v>
                </c:pt>
                <c:pt idx="3">
                  <c:v>63378</c:v>
                </c:pt>
                <c:pt idx="4">
                  <c:v>65084</c:v>
                </c:pt>
                <c:pt idx="5">
                  <c:v>68017</c:v>
                </c:pt>
                <c:pt idx="6">
                  <c:v>69445</c:v>
                </c:pt>
                <c:pt idx="7">
                  <c:v>69255</c:v>
                </c:pt>
                <c:pt idx="8">
                  <c:v>69270</c:v>
                </c:pt>
                <c:pt idx="9">
                  <c:v>69375</c:v>
                </c:pt>
                <c:pt idx="10">
                  <c:v>70058</c:v>
                </c:pt>
                <c:pt idx="11">
                  <c:v>69105</c:v>
                </c:pt>
                <c:pt idx="12">
                  <c:v>67818</c:v>
                </c:pt>
                <c:pt idx="13">
                  <c:v>70713</c:v>
                </c:pt>
                <c:pt idx="14">
                  <c:v>72679</c:v>
                </c:pt>
                <c:pt idx="15">
                  <c:v>75135</c:v>
                </c:pt>
                <c:pt idx="16">
                  <c:v>75804</c:v>
                </c:pt>
                <c:pt idx="17">
                  <c:v>76164</c:v>
                </c:pt>
                <c:pt idx="18">
                  <c:v>75711</c:v>
                </c:pt>
                <c:pt idx="19">
                  <c:v>77315</c:v>
                </c:pt>
                <c:pt idx="20">
                  <c:v>77129</c:v>
                </c:pt>
                <c:pt idx="21">
                  <c:v>77788</c:v>
                </c:pt>
                <c:pt idx="22">
                  <c:v>76944</c:v>
                </c:pt>
                <c:pt idx="23">
                  <c:v>76259</c:v>
                </c:pt>
                <c:pt idx="24">
                  <c:v>81068</c:v>
                </c:pt>
                <c:pt idx="25">
                  <c:v>78417</c:v>
                </c:pt>
                <c:pt idx="26">
                  <c:v>78269</c:v>
                </c:pt>
                <c:pt idx="27">
                  <c:v>78022</c:v>
                </c:pt>
                <c:pt idx="28">
                  <c:v>78552</c:v>
                </c:pt>
                <c:pt idx="29">
                  <c:v>78979</c:v>
                </c:pt>
                <c:pt idx="30">
                  <c:v>79404</c:v>
                </c:pt>
                <c:pt idx="31">
                  <c:v>79322</c:v>
                </c:pt>
                <c:pt idx="32">
                  <c:v>79889</c:v>
                </c:pt>
                <c:pt idx="33">
                  <c:v>79946</c:v>
                </c:pt>
                <c:pt idx="34">
                  <c:v>80776</c:v>
                </c:pt>
                <c:pt idx="35">
                  <c:v>81113</c:v>
                </c:pt>
                <c:pt idx="36">
                  <c:v>80969</c:v>
                </c:pt>
                <c:pt idx="37">
                  <c:v>81251</c:v>
                </c:pt>
                <c:pt idx="38">
                  <c:v>80732</c:v>
                </c:pt>
                <c:pt idx="39">
                  <c:v>80933</c:v>
                </c:pt>
                <c:pt idx="40">
                  <c:v>81010</c:v>
                </c:pt>
                <c:pt idx="41">
                  <c:v>81011</c:v>
                </c:pt>
                <c:pt idx="42">
                  <c:v>81496</c:v>
                </c:pt>
                <c:pt idx="43">
                  <c:v>81524</c:v>
                </c:pt>
                <c:pt idx="44">
                  <c:v>82588</c:v>
                </c:pt>
                <c:pt idx="45">
                  <c:v>83405</c:v>
                </c:pt>
                <c:pt idx="46">
                  <c:v>83567</c:v>
                </c:pt>
                <c:pt idx="47">
                  <c:v>83697</c:v>
                </c:pt>
                <c:pt idx="48">
                  <c:v>84160</c:v>
                </c:pt>
                <c:pt idx="49">
                  <c:v>83158</c:v>
                </c:pt>
                <c:pt idx="50">
                  <c:v>85761</c:v>
                </c:pt>
                <c:pt idx="51">
                  <c:v>86400</c:v>
                </c:pt>
                <c:pt idx="52">
                  <c:v>85893</c:v>
                </c:pt>
                <c:pt idx="53">
                  <c:v>86401</c:v>
                </c:pt>
                <c:pt idx="54">
                  <c:v>86205</c:v>
                </c:pt>
                <c:pt idx="55">
                  <c:v>86837</c:v>
                </c:pt>
                <c:pt idx="56">
                  <c:v>86837</c:v>
                </c:pt>
                <c:pt idx="57">
                  <c:v>86890</c:v>
                </c:pt>
                <c:pt idx="58">
                  <c:v>87424</c:v>
                </c:pt>
                <c:pt idx="59">
                  <c:v>87142</c:v>
                </c:pt>
                <c:pt idx="60">
                  <c:v>86989</c:v>
                </c:pt>
                <c:pt idx="61">
                  <c:v>87586</c:v>
                </c:pt>
                <c:pt idx="62">
                  <c:v>87793</c:v>
                </c:pt>
                <c:pt idx="63">
                  <c:v>88700</c:v>
                </c:pt>
                <c:pt idx="64">
                  <c:v>89532</c:v>
                </c:pt>
                <c:pt idx="65">
                  <c:v>90105</c:v>
                </c:pt>
                <c:pt idx="66">
                  <c:v>90652</c:v>
                </c:pt>
                <c:pt idx="67">
                  <c:v>91882</c:v>
                </c:pt>
                <c:pt idx="68">
                  <c:v>92906</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8">
                  <c:v>315</c:v>
                </c:pt>
                <c:pt idx="59">
                  <c:v>316.98200000000003</c:v>
                </c:pt>
                <c:pt idx="60">
                  <c:v>317.589</c:v>
                </c:pt>
                <c:pt idx="61">
                  <c:v>318.98500000000001</c:v>
                </c:pt>
                <c:pt idx="62">
                  <c:v>318.46199999999999</c:v>
                </c:pt>
                <c:pt idx="63">
                  <c:v>320.63299999999998</c:v>
                </c:pt>
                <c:pt idx="64">
                  <c:v>320.83600000000001</c:v>
                </c:pt>
                <c:pt idx="65">
                  <c:v>321.44600000000003</c:v>
                </c:pt>
                <c:pt idx="66">
                  <c:v>321.21600000000001</c:v>
                </c:pt>
                <c:pt idx="67">
                  <c:v>321.33499999999998</c:v>
                </c:pt>
                <c:pt idx="68">
                  <c:v>321.11099999999999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8">
                  <c:v>387.202</c:v>
                </c:pt>
                <c:pt idx="59">
                  <c:v>389.88900000000001</c:v>
                </c:pt>
                <c:pt idx="60">
                  <c:v>390.471</c:v>
                </c:pt>
                <c:pt idx="61">
                  <c:v>391.70600000000002</c:v>
                </c:pt>
                <c:pt idx="62">
                  <c:v>392.65199999999999</c:v>
                </c:pt>
                <c:pt idx="63">
                  <c:v>393.54599999999999</c:v>
                </c:pt>
                <c:pt idx="64">
                  <c:v>394.72800000000001</c:v>
                </c:pt>
                <c:pt idx="65">
                  <c:v>395.63299999999998</c:v>
                </c:pt>
                <c:pt idx="66">
                  <c:v>396.85899999999998</c:v>
                </c:pt>
                <c:pt idx="67">
                  <c:v>397.86799999999999</c:v>
                </c:pt>
                <c:pt idx="68">
                  <c:v>398.78300000000002</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273.53300000000002</c:v>
                </c:pt>
                <c:pt idx="65">
                  <c:v>274.90499999999997</c:v>
                </c:pt>
                <c:pt idx="66">
                  <c:v>273.49700000000001</c:v>
                </c:pt>
                <c:pt idx="67">
                  <c:v>271.93400000000003</c:v>
                </c:pt>
                <c:pt idx="68">
                  <c:v>271.82600000000002</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5.jpg"/><Relationship Id="rId11" Type="http://schemas.openxmlformats.org/officeDocument/2006/relationships/image" Target="../media/image16.jpg"/><Relationship Id="rId12" Type="http://schemas.openxmlformats.org/officeDocument/2006/relationships/image" Target="../media/image17.jpg"/><Relationship Id="rId13" Type="http://schemas.openxmlformats.org/officeDocument/2006/relationships/image" Target="../media/image18.jpg"/><Relationship Id="rId14" Type="http://schemas.openxmlformats.org/officeDocument/2006/relationships/image" Target="../media/image19.jpg"/><Relationship Id="rId15" Type="http://schemas.openxmlformats.org/officeDocument/2006/relationships/hyperlink" Target="tel:8137716675" TargetMode="External"/><Relationship Id="rId16" Type="http://schemas.openxmlformats.org/officeDocument/2006/relationships/hyperlink" Target="mailto:jhoutz@benchmarkintl.com" TargetMode="External"/><Relationship Id="rId17" Type="http://schemas.openxmlformats.org/officeDocument/2006/relationships/hyperlink" Target="tel:8138982372" TargetMode="External"/><Relationship Id="rId18" Type="http://schemas.openxmlformats.org/officeDocument/2006/relationships/hyperlink" Target="mailto:azykov@benchmarkintl.com" TargetMode="External"/><Relationship Id="rId19" Type="http://schemas.openxmlformats.org/officeDocument/2006/relationships/hyperlink" Target="tel:8138982397" TargetMode="External"/><Relationship Id="rId20" Type="http://schemas.openxmlformats.org/officeDocument/2006/relationships/hyperlink" Target="mailto:hess@benchmarkintl.com" TargetMode="External"/><Relationship Id="rId21" Type="http://schemas.openxmlformats.org/officeDocument/2006/relationships/image" Target="../media/image20.png"/><Relationship Id="rId22" Type="http://schemas.openxmlformats.org/officeDocument/2006/relationships/image" Target="../media/image21.png"/><Relationship Id="rId23" Type="http://schemas.openxmlformats.org/officeDocument/2006/relationships/image" Target="../media/image22.png"/><Relationship Id="rId24"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7.jpg"/><Relationship Id="rId4" Type="http://schemas.openxmlformats.org/officeDocument/2006/relationships/hyperlink" Target="https://www.sec.gov/Archives/edgar/data/0000047111/000162828026050769/exhibit991_2026xq2.htm" TargetMode="External"/><Relationship Id="rId5" Type="http://schemas.openxmlformats.org/officeDocument/2006/relationships/hyperlink" Target="https://www.sec.gov/Archives/edgar/data/0000313927/000119312526326749/chd-ex99_1.htm" TargetMode="External"/><Relationship Id="rId6" Type="http://schemas.openxmlformats.org/officeDocument/2006/relationships/hyperlink" Target="https://www.sec.gov/Archives/edgar/data/0000040704/000162828026063141/a20260923ex99.htm" TargetMode="External"/><Relationship Id="rId7" Type="http://schemas.openxmlformats.org/officeDocument/2006/relationships/hyperlink" Target="https://plma.com/article/store-brands-continue-gains-unit-sales-and-shares" TargetMode="External"/><Relationship Id="rId8" Type="http://schemas.openxmlformats.org/officeDocument/2006/relationships/hyperlink" Target="https://www.census.gov/retail/mrts/www/data/pdf/ec_current.pdf" TargetMode="External"/><Relationship Id="rId9" Type="http://schemas.openxmlformats.org/officeDocument/2006/relationships/hyperlink" Target="https://www.sec.gov/Archives/edgar/data/0000104169/000010416926000145/earningsreleasefy27q2.htm" TargetMode="External"/><Relationship Id="rId10" Type="http://schemas.openxmlformats.org/officeDocument/2006/relationships/hyperlink" Target="https://www.sec.gov/Archives/edgar/data/0001670592/000167059226000039/yeti-20260813xex991pressre.htm" TargetMode="External"/><Relationship Id="rId11" Type="http://schemas.openxmlformats.org/officeDocument/2006/relationships/hyperlink" Target="https://www.sec.gov/Archives/edgar/data/55785/000110465925105220/tm2530027d1_ex99-1.htm" TargetMode="External"/><Relationship Id="rId12" Type="http://schemas.openxmlformats.org/officeDocument/2006/relationships/hyperlink" Target="https://www.foodbusinessnews.net/articles/30071-mccormick-to-acquire-unilevers-food-business" TargetMode="External"/><Relationship Id="rId13" Type="http://schemas.openxmlformats.org/officeDocument/2006/relationships/hyperlink" Target="https://investors.sysco.com/annual-reports-and-sec-filings/news-releases/2026/03-30-2026-113036743" TargetMode="External"/><Relationship Id="rId14" Type="http://schemas.openxmlformats.org/officeDocument/2006/relationships/hyperlink" Target="https://www.sec.gov/Archives/edgar/data/0001418135/000141813526000048/ex991-keurigdrpepperreport.htm" TargetMode="External"/><Relationship Id="rId15" Type="http://schemas.openxmlformats.org/officeDocument/2006/relationships/hyperlink" Target="https://www.sec.gov/Archives/edgar/data/0000769520/000076952026000044/middex991er-q22026.htm"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sec.gov/Archives/edgar/data/0002091467/000119312526345758/d135444dex994.htm" TargetMode="External"/><Relationship Id="rId18" Type="http://schemas.openxmlformats.org/officeDocument/2006/relationships/hyperlink" Target="https://www.newswire.com/news/tidal-wave-auto-spa-acquires-and-rebrands-six-locations-in-georgia-and-22863356" TargetMode="External"/><Relationship Id="rId19" Type="http://schemas.openxmlformats.org/officeDocument/2006/relationships/hyperlink" Target="https://www.prnewswire.com/news-releases/nations-largest-pool-service-company-sps-poolcare-acquires-leading-pe-backed-competitor-302669059.html" TargetMode="External"/><Relationship Id="rId20"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28.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29.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30.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insuranceaum.com/private-credit-market-update-q2-2026"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31.jpg"/><Relationship Id="rId20"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34.jpg"/><Relationship Id="rId11" Type="http://schemas.openxmlformats.org/officeDocument/2006/relationships/image" Target="../media/image35.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36.jpg"/><Relationship Id="rId17" Type="http://schemas.openxmlformats.org/officeDocument/2006/relationships/image" Target="../media/image37.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38.jpg"/><Relationship Id="rId23" Type="http://schemas.openxmlformats.org/officeDocument/2006/relationships/image" Target="../media/image39.png"/><Relationship Id="rId24" Type="http://schemas.openxmlformats.org/officeDocument/2006/relationships/hyperlink" Target="https://www.prnewswire.com/news-releases/mister-car-wash-announces-completion-of-take-private-by-leonard-green--partners-302776284.html"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8.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0.jpg"/><Relationship Id="rId4" Type="http://schemas.openxmlformats.org/officeDocument/2006/relationships/image" Target="../media/image41.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42.jpg"/><Relationship Id="rId5" Type="http://schemas.openxmlformats.org/officeDocument/2006/relationships/image" Target="../media/image26.png"/><Relationship Id="rId6"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hffoodsgroup.gcs-web.com/news-releases/news-release-details/hf-foods-group-completes-acquisition-searay-foods" TargetMode="External"/><Relationship Id="rId6" Type="http://schemas.openxmlformats.org/officeDocument/2006/relationships/hyperlink" Target="https://www.sec.gov/Archives/edgar/data/0001482981/000148298126000167/exhibit991-copra_pressrele.htm" TargetMode="External"/><Relationship Id="rId7" Type="http://schemas.openxmlformats.org/officeDocument/2006/relationships/image" Target="../media/image21.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image" Target="../media/image8.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image" Target="../media/image45.png"/><Relationship Id="rId13" Type="http://schemas.openxmlformats.org/officeDocument/2006/relationships/image" Target="../media/image46.png"/><Relationship Id="rId14" Type="http://schemas.openxmlformats.org/officeDocument/2006/relationships/image" Target="../media/image47.png"/><Relationship Id="rId15" Type="http://schemas.openxmlformats.org/officeDocument/2006/relationships/image" Target="../media/image48.png"/><Relationship Id="rId16" Type="http://schemas.openxmlformats.org/officeDocument/2006/relationships/image" Target="../media/image49.png"/><Relationship Id="rId17"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hyperlink" Target="https://ir.prestigebrands.com/news-releases/news-release-details/prestige-consumer-healthcare-announces-agreement-acquire-breathe" TargetMode="External"/><Relationship Id="rId5" Type="http://schemas.openxmlformats.org/officeDocument/2006/relationships/hyperlink" Target="https://www.sec.gov/Archives/edgar/data/2098/000119312526019610/acu-ex99_1.htm" TargetMode="External"/><Relationship Id="rId6" Type="http://schemas.openxmlformats.org/officeDocument/2006/relationships/image" Target="../media/image22.png"/><Relationship Id="rId7" Type="http://schemas.openxmlformats.org/officeDocument/2006/relationships/hyperlink" Target="https://www.agri-pulse.com/articles/25180-democrats-call-for-investigation-into-sysco-acquisition" TargetMode="External"/><Relationship Id="rId8" Type="http://schemas.openxmlformats.org/officeDocument/2006/relationships/hyperlink" Target="https://investors.sysco.com/annual-reports-and-sec-filings/news-releases/2026/03-30-2026-113036743" TargetMode="External"/><Relationship Id="rId9" Type="http://schemas.openxmlformats.org/officeDocument/2006/relationships/hyperlink" Target="https://ir.standex.com/2026-03-09-STANDEX-ANNOUNCES-DIVESTITURE-OF-FEDERAL-INDUSTRIES-TO-AERITEK" TargetMode="External"/><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54.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 Id="rId17"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hyperlink" Target="https://fesmag.com/topics/the-latest-news/23508-singer-buys-bresco" TargetMode="External"/><Relationship Id="rId5" Type="http://schemas.openxmlformats.org/officeDocument/2006/relationships/image" Target="../media/image23.png"/><Relationship Id="rId6" Type="http://schemas.openxmlformats.org/officeDocument/2006/relationships/hyperlink" Target="https://www.prnewswire.com/news-releases/mister-car-wash-announces-completion-of-take-private-by-leonard-green--partners-302776284.html" TargetMode="External"/><Relationship Id="rId7" Type="http://schemas.openxmlformats.org/officeDocument/2006/relationships/hyperlink" Target="https://www.sec.gov/Archives/edgar/data/1853513/000119312526056047/d113732dex991.htm" TargetMode="External"/><Relationship Id="rId8" Type="http://schemas.openxmlformats.org/officeDocument/2006/relationships/hyperlink" Target="https://www.privateequitywire.co.uk/oak-hill-capital-to-acquire-guild-garage-group/" TargetMode="External"/><Relationship Id="rId9" Type="http://schemas.openxmlformats.org/officeDocument/2006/relationships/hyperlink" Target="https://finance.yahoo.com/markets/stocks/articles/pe-hopes-garage-door-roll-193930270.html" TargetMode="External"/><Relationship Id="rId10" Type="http://schemas.openxmlformats.org/officeDocument/2006/relationships/hyperlink" Target="https://rollins.com/investors/press-releases/detail/429/rollins-acquires-romex-pest-control" TargetMode="External"/><Relationship Id="rId11" Type="http://schemas.openxmlformats.org/officeDocument/2006/relationships/hyperlink" Target="https://www.sec.gov/Archives/edgar/data/0000084839/000008483926000040/rol-20260630.htm" TargetMode="External"/><Relationship Id="rId12" Type="http://schemas.openxmlformats.org/officeDocument/2006/relationships/hyperlink" Target="https://giecdn.blob.core.windows.net/fileuploads/document/2026/05/11/2026-top-100-poster.pdf" TargetMode="External"/><Relationship Id="rId13" Type="http://schemas.openxmlformats.org/officeDocument/2006/relationships/image" Target="../media/image8.png"/><Relationship Id="rId14" Type="http://schemas.openxmlformats.org/officeDocument/2006/relationships/image" Target="../media/image59.png"/><Relationship Id="rId15" Type="http://schemas.openxmlformats.org/officeDocument/2006/relationships/image" Target="../media/image60.png"/><Relationship Id="rId16" Type="http://schemas.openxmlformats.org/officeDocument/2006/relationships/image" Target="../media/image61.png"/><Relationship Id="rId17" Type="http://schemas.openxmlformats.org/officeDocument/2006/relationships/image" Target="../media/image62.png"/><Relationship Id="rId18" Type="http://schemas.openxmlformats.org/officeDocument/2006/relationships/image" Target="../media/image63.png"/><Relationship Id="rId19" Type="http://schemas.openxmlformats.org/officeDocument/2006/relationships/image" Target="../media/image64.png"/><Relationship Id="rId20" Type="http://schemas.openxmlformats.org/officeDocument/2006/relationships/image" Target="../media/image65.png"/><Relationship Id="rId21"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benchmarkintl.com/about/our-succes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image" Target="../media/image8.png"/><Relationship Id="rId24" Type="http://schemas.openxmlformats.org/officeDocument/2006/relationships/image" Target="../media/image67.png"/><Relationship Id="rId25" Type="http://schemas.openxmlformats.org/officeDocument/2006/relationships/image" Target="../media/image68.png"/><Relationship Id="rId26" Type="http://schemas.openxmlformats.org/officeDocument/2006/relationships/image" Target="../media/image69.png"/><Relationship Id="rId27" Type="http://schemas.openxmlformats.org/officeDocument/2006/relationships/image" Target="../media/image70.png"/><Relationship Id="rId28" Type="http://schemas.openxmlformats.org/officeDocument/2006/relationships/image" Target="../media/image71.png"/><Relationship Id="rId29" Type="http://schemas.openxmlformats.org/officeDocument/2006/relationships/image" Target="../media/image72.png"/><Relationship Id="rId30" Type="http://schemas.openxmlformats.org/officeDocument/2006/relationships/image" Target="../media/image73.png"/><Relationship Id="rId31" Type="http://schemas.openxmlformats.org/officeDocument/2006/relationships/image" Target="../media/image74.png"/><Relationship Id="rId32" Type="http://schemas.openxmlformats.org/officeDocument/2006/relationships/image" Target="../media/image75.png"/><Relationship Id="rId33" Type="http://schemas.openxmlformats.org/officeDocument/2006/relationships/image" Target="../media/image76.png"/><Relationship Id="rId34" Type="http://schemas.openxmlformats.org/officeDocument/2006/relationships/image" Target="../media/image77.png"/><Relationship Id="rId35" Type="http://schemas.openxmlformats.org/officeDocument/2006/relationships/image" Target="../media/image78.png"/><Relationship Id="rId36" Type="http://schemas.openxmlformats.org/officeDocument/2006/relationships/image" Target="../media/image79.png"/><Relationship Id="rId37" Type="http://schemas.openxmlformats.org/officeDocument/2006/relationships/image" Target="../media/image80.png"/><Relationship Id="rId38" Type="http://schemas.openxmlformats.org/officeDocument/2006/relationships/image" Target="../media/image81.png"/><Relationship Id="rId39" Type="http://schemas.openxmlformats.org/officeDocument/2006/relationships/image" Target="../media/image82.png"/><Relationship Id="rId40" Type="http://schemas.openxmlformats.org/officeDocument/2006/relationships/image" Target="../media/image83.png"/><Relationship Id="rId41" Type="http://schemas.openxmlformats.org/officeDocument/2006/relationships/image" Target="../media/image84.png"/><Relationship Id="rId42" Type="http://schemas.openxmlformats.org/officeDocument/2006/relationships/image" Target="../media/image85.png"/><Relationship Id="rId43" Type="http://schemas.openxmlformats.org/officeDocument/2006/relationships/image" Target="../media/image86.png"/><Relationship Id="rId44" Type="http://schemas.openxmlformats.org/officeDocument/2006/relationships/image" Target="../media/image87.png"/><Relationship Id="rId45" Type="http://schemas.openxmlformats.org/officeDocument/2006/relationships/image" Target="../media/image88.png"/><Relationship Id="rId46" Type="http://schemas.openxmlformats.org/officeDocument/2006/relationships/image" Target="../media/image89.png"/><Relationship Id="rId47" Type="http://schemas.openxmlformats.org/officeDocument/2006/relationships/image" Target="../media/image90.png"/><Relationship Id="rId48" Type="http://schemas.openxmlformats.org/officeDocument/2006/relationships/image" Target="../media/image91.png"/><Relationship Id="rId49" Type="http://schemas.openxmlformats.org/officeDocument/2006/relationships/image" Target="../media/image92.png"/><Relationship Id="rId50" Type="http://schemas.openxmlformats.org/officeDocument/2006/relationships/image" Target="../media/image93.png"/><Relationship Id="rId51" Type="http://schemas.openxmlformats.org/officeDocument/2006/relationships/image" Target="../media/image94.png"/><Relationship Id="rId52" Type="http://schemas.openxmlformats.org/officeDocument/2006/relationships/image" Target="../media/image9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image" Target="../media/image101.png"/><Relationship Id="rId9" Type="http://schemas.openxmlformats.org/officeDocument/2006/relationships/image" Target="../media/image102.png"/><Relationship Id="rId10" Type="http://schemas.openxmlformats.org/officeDocument/2006/relationships/image" Target="../media/image103.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image" Target="../media/image106.png"/><Relationship Id="rId14" Type="http://schemas.openxmlformats.org/officeDocument/2006/relationships/image" Target="../media/image107.png"/><Relationship Id="rId15" Type="http://schemas.openxmlformats.org/officeDocument/2006/relationships/image" Target="../media/image108.png"/><Relationship Id="rId16" Type="http://schemas.openxmlformats.org/officeDocument/2006/relationships/image" Target="../media/image44.png"/><Relationship Id="rId17" Type="http://schemas.openxmlformats.org/officeDocument/2006/relationships/image" Target="../media/image109.png"/><Relationship Id="rId18" Type="http://schemas.openxmlformats.org/officeDocument/2006/relationships/image" Target="../media/image110.png"/><Relationship Id="rId19" Type="http://schemas.openxmlformats.org/officeDocument/2006/relationships/image" Target="../media/image111.png"/><Relationship Id="rId20" Type="http://schemas.openxmlformats.org/officeDocument/2006/relationships/image" Target="../media/image112.png"/><Relationship Id="rId21" Type="http://schemas.openxmlformats.org/officeDocument/2006/relationships/image" Target="../media/image113.png"/><Relationship Id="rId22" Type="http://schemas.openxmlformats.org/officeDocument/2006/relationships/image" Target="../media/image114.png"/><Relationship Id="rId23" Type="http://schemas.openxmlformats.org/officeDocument/2006/relationships/image" Target="../media/image115.png"/><Relationship Id="rId24" Type="http://schemas.openxmlformats.org/officeDocument/2006/relationships/image" Target="../media/image116.png"/><Relationship Id="rId25" Type="http://schemas.openxmlformats.org/officeDocument/2006/relationships/image" Target="../media/image117.png"/><Relationship Id="rId26" Type="http://schemas.openxmlformats.org/officeDocument/2006/relationships/image" Target="../media/image118.png"/><Relationship Id="rId27" Type="http://schemas.openxmlformats.org/officeDocument/2006/relationships/image" Target="../media/image119.png"/><Relationship Id="rId28" Type="http://schemas.openxmlformats.org/officeDocument/2006/relationships/image" Target="../media/image120.png"/><Relationship Id="rId29" Type="http://schemas.openxmlformats.org/officeDocument/2006/relationships/image" Target="../media/image121.png"/><Relationship Id="rId30" Type="http://schemas.openxmlformats.org/officeDocument/2006/relationships/image" Target="../media/image122.png"/><Relationship Id="rId31" Type="http://schemas.openxmlformats.org/officeDocument/2006/relationships/image" Target="../media/image47.png"/><Relationship Id="rId32" Type="http://schemas.openxmlformats.org/officeDocument/2006/relationships/image" Target="../media/image46.png"/><Relationship Id="rId33" Type="http://schemas.openxmlformats.org/officeDocument/2006/relationships/image" Target="../media/image123.png"/><Relationship Id="rId34" Type="http://schemas.openxmlformats.org/officeDocument/2006/relationships/image" Target="../media/image124.png"/><Relationship Id="rId35" Type="http://schemas.openxmlformats.org/officeDocument/2006/relationships/image" Target="../media/image125.png"/><Relationship Id="rId36" Type="http://schemas.openxmlformats.org/officeDocument/2006/relationships/image" Target="../media/image49.png"/><Relationship Id="rId37" Type="http://schemas.openxmlformats.org/officeDocument/2006/relationships/image" Target="../media/image126.png"/><Relationship Id="rId38" Type="http://schemas.openxmlformats.org/officeDocument/2006/relationships/image" Target="../media/image127.png"/><Relationship Id="rId39" Type="http://schemas.openxmlformats.org/officeDocument/2006/relationships/image" Target="../media/image128.png"/><Relationship Id="rId40" Type="http://schemas.openxmlformats.org/officeDocument/2006/relationships/image" Target="../media/image129.png"/><Relationship Id="rId41" Type="http://schemas.openxmlformats.org/officeDocument/2006/relationships/image" Target="../media/image130.png"/><Relationship Id="rId42" Type="http://schemas.openxmlformats.org/officeDocument/2006/relationships/image" Target="../media/image131.png"/><Relationship Id="rId43" Type="http://schemas.openxmlformats.org/officeDocument/2006/relationships/image" Target="../media/image132.png"/><Relationship Id="rId44" Type="http://schemas.openxmlformats.org/officeDocument/2006/relationships/image" Target="../media/image133.png"/><Relationship Id="rId45" Type="http://schemas.openxmlformats.org/officeDocument/2006/relationships/image" Target="../media/image54.png"/><Relationship Id="rId46" Type="http://schemas.openxmlformats.org/officeDocument/2006/relationships/image" Target="../media/image134.png"/><Relationship Id="rId47" Type="http://schemas.openxmlformats.org/officeDocument/2006/relationships/image" Target="../media/image135.png"/><Relationship Id="rId48" Type="http://schemas.openxmlformats.org/officeDocument/2006/relationships/image" Target="../media/image136.png"/><Relationship Id="rId49" Type="http://schemas.openxmlformats.org/officeDocument/2006/relationships/image" Target="../media/image137.png"/><Relationship Id="rId50" Type="http://schemas.openxmlformats.org/officeDocument/2006/relationships/image" Target="../media/image56.png"/><Relationship Id="rId51" Type="http://schemas.openxmlformats.org/officeDocument/2006/relationships/image" Target="../media/image138.png"/><Relationship Id="rId52" Type="http://schemas.openxmlformats.org/officeDocument/2006/relationships/image" Target="../media/image139.png"/><Relationship Id="rId53" Type="http://schemas.openxmlformats.org/officeDocument/2006/relationships/image" Target="../media/image140.png"/><Relationship Id="rId54" Type="http://schemas.openxmlformats.org/officeDocument/2006/relationships/image" Target="../media/image141.png"/><Relationship Id="rId55" Type="http://schemas.openxmlformats.org/officeDocument/2006/relationships/image" Target="../media/image142.png"/><Relationship Id="rId56" Type="http://schemas.openxmlformats.org/officeDocument/2006/relationships/image" Target="../media/image143.png"/><Relationship Id="rId57" Type="http://schemas.openxmlformats.org/officeDocument/2006/relationships/image" Target="../media/image144.png"/><Relationship Id="rId58" Type="http://schemas.openxmlformats.org/officeDocument/2006/relationships/image" Target="../media/image145.png"/><Relationship Id="rId59" Type="http://schemas.openxmlformats.org/officeDocument/2006/relationships/image" Target="../media/image63.png"/><Relationship Id="rId60" Type="http://schemas.openxmlformats.org/officeDocument/2006/relationships/image" Target="../media/image146.png"/><Relationship Id="rId61" Type="http://schemas.openxmlformats.org/officeDocument/2006/relationships/image" Target="../media/image147.png"/><Relationship Id="rId62" Type="http://schemas.openxmlformats.org/officeDocument/2006/relationships/image" Target="../media/image148.png"/><Relationship Id="rId63" Type="http://schemas.openxmlformats.org/officeDocument/2006/relationships/image" Target="../media/image149.png"/><Relationship Id="rId64" Type="http://schemas.openxmlformats.org/officeDocument/2006/relationships/image" Target="../media/image150.png"/><Relationship Id="rId65" Type="http://schemas.openxmlformats.org/officeDocument/2006/relationships/image" Target="../media/image151.png"/><Relationship Id="rId66" Type="http://schemas.openxmlformats.org/officeDocument/2006/relationships/image" Target="../media/image152.png"/><Relationship Id="rId67" Type="http://schemas.openxmlformats.org/officeDocument/2006/relationships/image" Target="../media/image60.png"/><Relationship Id="rId68" Type="http://schemas.openxmlformats.org/officeDocument/2006/relationships/image" Target="../media/image73.png"/><Relationship Id="rId69" Type="http://schemas.openxmlformats.org/officeDocument/2006/relationships/image" Target="../media/image153.png"/><Relationship Id="rId70" Type="http://schemas.openxmlformats.org/officeDocument/2006/relationships/image" Target="../media/image154.png"/><Relationship Id="rId71" Type="http://schemas.openxmlformats.org/officeDocument/2006/relationships/image" Target="../media/image155.png"/><Relationship Id="rId72" Type="http://schemas.openxmlformats.org/officeDocument/2006/relationships/image" Target="../media/image156.png"/><Relationship Id="rId73" Type="http://schemas.openxmlformats.org/officeDocument/2006/relationships/image" Target="../media/image157.png"/><Relationship Id="rId74" Type="http://schemas.openxmlformats.org/officeDocument/2006/relationships/image" Target="../media/image158.png"/><Relationship Id="rId75" Type="http://schemas.openxmlformats.org/officeDocument/2006/relationships/image" Target="../media/image52.png"/><Relationship Id="rId76" Type="http://schemas.openxmlformats.org/officeDocument/2006/relationships/image" Target="../media/image159.png"/><Relationship Id="rId77" Type="http://schemas.openxmlformats.org/officeDocument/2006/relationships/image" Target="../media/image160.png"/><Relationship Id="rId78" Type="http://schemas.openxmlformats.org/officeDocument/2006/relationships/image" Target="../media/image161.png"/><Relationship Id="rId79" Type="http://schemas.openxmlformats.org/officeDocument/2006/relationships/image" Target="../media/image58.png"/><Relationship Id="rId80" Type="http://schemas.openxmlformats.org/officeDocument/2006/relationships/image" Target="../media/image79.png"/><Relationship Id="rId81" Type="http://schemas.openxmlformats.org/officeDocument/2006/relationships/image" Target="../media/image72.png"/><Relationship Id="rId82" Type="http://schemas.openxmlformats.org/officeDocument/2006/relationships/image" Target="../media/image162.png"/><Relationship Id="rId83" Type="http://schemas.openxmlformats.org/officeDocument/2006/relationships/image" Target="../media/image163.png"/><Relationship Id="rId84" Type="http://schemas.openxmlformats.org/officeDocument/2006/relationships/image" Target="../media/image74.png"/><Relationship Id="rId85" Type="http://schemas.openxmlformats.org/officeDocument/2006/relationships/image" Target="../media/image164.png"/><Relationship Id="rId86" Type="http://schemas.openxmlformats.org/officeDocument/2006/relationships/image" Target="../media/image165.png"/><Relationship Id="rId87" Type="http://schemas.openxmlformats.org/officeDocument/2006/relationships/image" Target="../media/image166.png"/><Relationship Id="rId88" Type="http://schemas.openxmlformats.org/officeDocument/2006/relationships/image" Target="../media/image167.png"/><Relationship Id="rId89" Type="http://schemas.openxmlformats.org/officeDocument/2006/relationships/image" Target="../media/image65.png"/><Relationship Id="rId90" Type="http://schemas.openxmlformats.org/officeDocument/2006/relationships/image" Target="../media/image95.png"/><Relationship Id="rId91" Type="http://schemas.openxmlformats.org/officeDocument/2006/relationships/image" Target="../media/image6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8.png"/><Relationship Id="rId4" Type="http://schemas.openxmlformats.org/officeDocument/2006/relationships/chart" Target="../charts/chart1.xml"/><Relationship Id="rId5" Type="http://schemas.openxmlformats.org/officeDocument/2006/relationships/image" Target="../media/image169.png"/><Relationship Id="rId6" Type="http://schemas.openxmlformats.org/officeDocument/2006/relationships/chart" Target="../charts/chart2.xml"/><Relationship Id="rId7" Type="http://schemas.openxmlformats.org/officeDocument/2006/relationships/image" Target="../media/image170.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01.png"/><Relationship Id="rId9" Type="http://schemas.openxmlformats.org/officeDocument/2006/relationships/image" Target="../media/image176.png"/><Relationship Id="rId10" Type="http://schemas.openxmlformats.org/officeDocument/2006/relationships/image" Target="../media/image17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7.png"/><Relationship Id="rId4" Type="http://schemas.openxmlformats.org/officeDocument/2006/relationships/image" Target="../media/image118.png"/><Relationship Id="rId5" Type="http://schemas.openxmlformats.org/officeDocument/2006/relationships/image" Target="../media/image127.png"/><Relationship Id="rId6" Type="http://schemas.openxmlformats.org/officeDocument/2006/relationships/image" Target="../media/image147.png"/><Relationship Id="rId7" Type="http://schemas.openxmlformats.org/officeDocument/2006/relationships/image" Target="../media/image119.png"/><Relationship Id="rId8" Type="http://schemas.openxmlformats.org/officeDocument/2006/relationships/image" Target="../media/image109.png"/><Relationship Id="rId9" Type="http://schemas.openxmlformats.org/officeDocument/2006/relationships/image" Target="../media/image142.png"/><Relationship Id="rId10" Type="http://schemas.openxmlformats.org/officeDocument/2006/relationships/image" Target="../media/image163.png"/><Relationship Id="rId11" Type="http://schemas.openxmlformats.org/officeDocument/2006/relationships/image" Target="../media/image130.png"/><Relationship Id="rId12" Type="http://schemas.openxmlformats.org/officeDocument/2006/relationships/image" Target="../media/image129.png"/><Relationship Id="rId13" Type="http://schemas.openxmlformats.org/officeDocument/2006/relationships/image" Target="../media/image63.png"/><Relationship Id="rId14" Type="http://schemas.openxmlformats.org/officeDocument/2006/relationships/image" Target="../media/image160.png"/><Relationship Id="rId15" Type="http://schemas.openxmlformats.org/officeDocument/2006/relationships/image" Target="../media/image112.png"/><Relationship Id="rId16" Type="http://schemas.openxmlformats.org/officeDocument/2006/relationships/image" Target="../media/image148.png"/><Relationship Id="rId17" Type="http://schemas.openxmlformats.org/officeDocument/2006/relationships/image" Target="../media/image56.png"/><Relationship Id="rId18" Type="http://schemas.openxmlformats.org/officeDocument/2006/relationships/image" Target="../media/image104.png"/><Relationship Id="rId19" Type="http://schemas.openxmlformats.org/officeDocument/2006/relationships/image" Target="../media/image10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hyperlink" Target="https://fred.stlouisfed.org/series/ECOMPCTSA" TargetMode="External"/><Relationship Id="rId7" Type="http://schemas.openxmlformats.org/officeDocument/2006/relationships/chart" Target="../charts/chart8.xml"/><Relationship Id="rId8" Type="http://schemas.openxmlformats.org/officeDocument/2006/relationships/hyperlink" Target="https://fred.stlouisfed.org/series/UMCSENT" TargetMode="External"/><Relationship Id="rId9" Type="http://schemas.openxmlformats.org/officeDocument/2006/relationships/hyperlink" Target="https://www.sca.isr.umich.edu/" TargetMode="External"/><Relationship Id="rId10" Type="http://schemas.openxmlformats.org/officeDocument/2006/relationships/chart" Target="../charts/chart9.xml"/><Relationship Id="rId11" Type="http://schemas.openxmlformats.org/officeDocument/2006/relationships/hyperlink" Target="https://fred.stlouisfed.org/series/CUSR0000SAF11" TargetMode="External"/><Relationship Id="rId12" Type="http://schemas.openxmlformats.org/officeDocument/2006/relationships/chart" Target="../charts/chart10.xml"/><Relationship Id="rId13" Type="http://schemas.openxmlformats.org/officeDocument/2006/relationships/hyperlink" Target="https://fred.stlouisfed.org/series/CUSR0000SEFV" TargetMode="External"/><Relationship Id="rId14" Type="http://schemas.openxmlformats.org/officeDocument/2006/relationships/chart" Target="../charts/chart11.xml"/><Relationship Id="rId15" Type="http://schemas.openxmlformats.org/officeDocument/2006/relationships/hyperlink" Target="https://fred.stlouisfed.org/series/PCU311311" TargetMode="External"/><Relationship Id="rId16" Type="http://schemas.openxmlformats.org/officeDocument/2006/relationships/chart" Target="../charts/chart12.xml"/><Relationship Id="rId17" Type="http://schemas.openxmlformats.org/officeDocument/2006/relationships/hyperlink" Target="https://fred.stlouisfed.org/series/GASDESM" TargetMode="External"/><Relationship Id="rId18"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178.jpg"/><Relationship Id="rId5" Type="http://schemas.openxmlformats.org/officeDocument/2006/relationships/image" Target="../media/image26.png"/><Relationship Id="rId6"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image" Target="../media/image179.png"/><Relationship Id="rId5" Type="http://schemas.openxmlformats.org/officeDocument/2006/relationships/image" Target="../media/image180.png"/><Relationship Id="rId6" Type="http://schemas.openxmlformats.org/officeDocument/2006/relationships/image" Target="../media/image181.png"/><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85.png"/><Relationship Id="rId11" Type="http://schemas.openxmlformats.org/officeDocument/2006/relationships/image" Target="../media/image186.png"/><Relationship Id="rId12" Type="http://schemas.openxmlformats.org/officeDocument/2006/relationships/image" Target="../media/image187.png"/><Relationship Id="rId13" Type="http://schemas.openxmlformats.org/officeDocument/2006/relationships/image" Target="../media/image18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Consumer%20Q4%202026%20Quarterly%20Industry%20Report" TargetMode="External"/><Relationship Id="rId6" Type="http://schemas.openxmlformats.org/officeDocument/2006/relationships/image" Target="../media/image189.png"/><Relationship Id="rId7" Type="http://schemas.openxmlformats.org/officeDocument/2006/relationships/image" Target="../media/image19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insuranceaum.com/private-credit-market-update-q2-2026" TargetMode="External"/><Relationship Id="rId29" Type="http://schemas.openxmlformats.org/officeDocument/2006/relationships/hyperlink" Target="https://sgbonline.com/yeti-boosts-fy-eps-outlook-after-q2-earnings-beat-sales-climb-9-percent/" TargetMode="External"/><Relationship Id="rId30" Type="http://schemas.openxmlformats.org/officeDocument/2006/relationships/hyperlink" Target="https://nafem.org/2026/03/11/advocacy-issues-survey-pressure-is-the-new-normal/" TargetMode="External"/><Relationship Id="rId31" Type="http://schemas.openxmlformats.org/officeDocument/2006/relationships/hyperlink" Target="https://investors.generalmills.com/press-releases/press-release-details/2026/General-Mills-Reports-Fiscal-2027-First-quarter-Results-and-Reaffirms-Full-year-Outlook/default.aspx" TargetMode="External"/><Relationship Id="rId32" Type="http://schemas.openxmlformats.org/officeDocument/2006/relationships/hyperlink" Target="https://www.foodbusinessnews.net/articles/31105-conagra-reviews-brand-portfolio-in-turnaround-push" TargetMode="External"/><Relationship Id="rId33" Type="http://schemas.openxmlformats.org/officeDocument/2006/relationships/hyperlink" Target="https://www.nutraingredients.com/Article/2026/08/04/pg-to-acquire-thorne-in-premium-wellness-play/" TargetMode="External"/><Relationship Id="rId34" Type="http://schemas.openxmlformats.org/officeDocument/2006/relationships/hyperlink" Target="https://www.sec.gov/Archives/edgar/data/0001665918/000166591826000043/usfd06272026ex991.htm" TargetMode="External"/><Relationship Id="rId35" Type="http://schemas.openxmlformats.org/officeDocument/2006/relationships/hyperlink" Target="https://www.sec.gov/Archives/edgar/data/0001618673/000119312526345718/pfgc-ex99_1.htm" TargetMode="External"/><Relationship Id="rId36" Type="http://schemas.openxmlformats.org/officeDocument/2006/relationships/hyperlink" Target="https://www.circana.com/post/us-beauty-industry-posts-solid-first-half-growth-as-fragrance-and-skincare-lead-across-prestige-and" TargetMode="External"/><Relationship Id="rId37" Type="http://schemas.openxmlformats.org/officeDocument/2006/relationships/hyperlink" Target="https://americanpetproducts.org/news/u.s.-pet-industry-reaches-158-billion-in-2025-poised-for-continued-growth-in-2026" TargetMode="External"/><Relationship Id="rId38" Type="http://schemas.openxmlformats.org/officeDocument/2006/relationships/hyperlink" Target="https://chainstoreage.com/circana-retail-spending-remained-resilient-june-heres-what-drove-it" TargetMode="External"/><Relationship Id="rId39" Type="http://schemas.openxmlformats.org/officeDocument/2006/relationships/hyperlink" Target="https://calrecycle.ca.gov/packaging/packaging-epr/" TargetMode="External"/><Relationship Id="rId40" Type="http://schemas.openxmlformats.org/officeDocument/2006/relationships/hyperlink" Target="https://fesmag.com/topics/the-latest-news/23859-equipment-and-supplies-sales-post-modest-growth-in-q2" TargetMode="External"/><Relationship Id="rId41" Type="http://schemas.openxmlformats.org/officeDocument/2006/relationships/hyperlink" Target="https://www.nrn.com/restaurant-franchising/giant-wendy-s-franchisee-meritage-hospitality-group-files-for-bankruptcy" TargetMode="External"/><Relationship Id="rId42" Type="http://schemas.openxmlformats.org/officeDocument/2006/relationships/hyperlink" Target="https://www.fermag.com/articles/parts-town-gains-tech-with-acquisition-of-86-repairs/" TargetMode="External"/><Relationship Id="rId43" Type="http://schemas.openxmlformats.org/officeDocument/2006/relationships/hyperlink" Target="https://www.fermag.com/articles/easy-ice-strengthens-footprint-with-acquisition/" TargetMode="External"/><Relationship Id="rId44" Type="http://schemas.openxmlformats.org/officeDocument/2006/relationships/hyperlink" Target="https://www.prnewswire.com/news-releases/mister-car-wash-announces-completion-of-take-private-by-leonard-green--partners-302776284.html" TargetMode="External"/><Relationship Id="rId45" Type="http://schemas.openxmlformats.org/officeDocument/2006/relationships/hyperlink" Target="https://finance.yahoo.com/news/blackstone-expands-essential-home-services-221544542.html" TargetMode="External"/><Relationship Id="rId46" Type="http://schemas.openxmlformats.org/officeDocument/2006/relationships/hyperlink" Target="https://www.fenderbender.com/news/latest-news/news/55336744/classic-collision-kendrick-paint-body-bought-by-classic-collision" TargetMode="External"/><Relationship Id="rId47" Type="http://schemas.openxmlformats.org/officeDocument/2006/relationships/hyperlink" Target="https://www.jchs.harvard.edu/press-releases/remodeling-spending-poised-further-slowdown" TargetMode="External"/><Relationship Id="rId48" Type="http://schemas.openxmlformats.org/officeDocument/2006/relationships/hyperlink" Target="https://restaurant.org/research-and-media/media/press-releases/persistent-cost-increases-and-enduring-demand-will-shape-the-restaurant-industry-in-2026/" TargetMode="External"/><Relationship Id="rId49" Type="http://schemas.openxmlformats.org/officeDocument/2006/relationships/hyperlink" Target="https://www.ers.usda.gov/data-products/food-price-outlook/summary-findings" TargetMode="External"/><Relationship Id="rId50" Type="http://schemas.openxmlformats.org/officeDocument/2006/relationships/hyperlink" Target="https://restaurant.org/NRA/media/Research/RPI/2024/RPI-August-2026.pdf" TargetMode="External"/><Relationship Id="rId51" Type="http://schemas.openxmlformats.org/officeDocument/2006/relationships/hyperlink" Target="https://www.deloitte.com/us/en/about/press-room/deloitte-forecasts-holiday-retail-sales.html" TargetMode="External"/><Relationship Id="rId52" Type="http://schemas.openxmlformats.org/officeDocument/2006/relationships/image" Target="../media/image8.png"/><Relationship Id="rId53" Type="http://schemas.openxmlformats.org/officeDocument/2006/relationships/hyperlink" Target="https://s204.q4cdn.com/636391999/files/content_files/Hormel-Foods-Announces-Definitive-Agreement-to-Acquire-Brakebush_-Supplemental-Slides-vFinal.pdf" TargetMode="External"/><Relationship Id="rId54" Type="http://schemas.openxmlformats.org/officeDocument/2006/relationships/hyperlink" Target="https://hffoodsgroup.gcs-web.com/news-releases/news-release-details/hf-foods-group-completes-acquisition-searay-foods" TargetMode="External"/><Relationship Id="rId55" Type="http://schemas.openxmlformats.org/officeDocument/2006/relationships/hyperlink" Target="https://www.sec.gov/Archives/edgar/data/0001482981/000148298126000167/exhibit991-copra_pressrele.htm" TargetMode="External"/><Relationship Id="rId56" Type="http://schemas.openxmlformats.org/officeDocument/2006/relationships/hyperlink" Target="https://investors.thecloroxcompany.com/news/news-details/2026/Clorox-Announces-Acquisition-of-GOJO-Industries-Makers-of-Purell-Market-Leader-in-Skin-Health-and-Hygiene/" TargetMode="External"/><Relationship Id="rId57" Type="http://schemas.openxmlformats.org/officeDocument/2006/relationships/hyperlink" Target="https://ir.prestigebrands.com/news-releases/news-release-details/prestige-consumer-healthcare-announces-agreement-acquire-breathe" TargetMode="External"/><Relationship Id="rId58" Type="http://schemas.openxmlformats.org/officeDocument/2006/relationships/hyperlink" Target="https://www.sec.gov/Archives/edgar/data/2098/000119312526019610/acu-ex99_1.htm" TargetMode="External"/><Relationship Id="rId59" Type="http://schemas.openxmlformats.org/officeDocument/2006/relationships/hyperlink" Target="https://www.agri-pulse.com/articles/25180-democrats-call-for-investigation-into-sysco-acquisition" TargetMode="External"/><Relationship Id="rId60" Type="http://schemas.openxmlformats.org/officeDocument/2006/relationships/hyperlink" Target="https://ir.standex.com/2026-03-09-STANDEX-ANNOUNCES-DIVESTITURE-OF-FEDERAL-INDUSTRIES-TO-AERITEK" TargetMode="External"/><Relationship Id="rId61" Type="http://schemas.openxmlformats.org/officeDocument/2006/relationships/hyperlink" Target="https://fesmag.com/topics/the-latest-news/23508-singer-buys-bresco" TargetMode="External"/><Relationship Id="rId62" Type="http://schemas.openxmlformats.org/officeDocument/2006/relationships/hyperlink" Target="https://www.sec.gov/Archives/edgar/data/1853513/000119312526056047/d113732dex991.htm" TargetMode="External"/><Relationship Id="rId63" Type="http://schemas.openxmlformats.org/officeDocument/2006/relationships/hyperlink" Target="https://finance.yahoo.com/markets/stocks/articles/pe-hopes-garage-door-roll-193930270.html" TargetMode="External"/><Relationship Id="rId64" Type="http://schemas.openxmlformats.org/officeDocument/2006/relationships/hyperlink" Target="https://www.privateequitywire.co.uk/oak-hill-capital-to-acquire-guild-garage-group/" TargetMode="External"/><Relationship Id="rId65" Type="http://schemas.openxmlformats.org/officeDocument/2006/relationships/hyperlink" Target="https://rollins.com/investors/press-releases/detail/429/rollins-acquires-romex-pest-control" TargetMode="External"/><Relationship Id="rId66" Type="http://schemas.openxmlformats.org/officeDocument/2006/relationships/hyperlink" Target="https://www.sec.gov/Archives/edgar/data/0000084839/000008483926000040/rol-20260630.htm" TargetMode="External"/><Relationship Id="rId67" Type="http://schemas.openxmlformats.org/officeDocument/2006/relationships/hyperlink" Target="https://giecdn.blob.core.windows.net/fileuploads/document/2026/05/11/2026-top-100-poster.pdf" TargetMode="External"/><Relationship Id="rId6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70" Type="http://schemas.openxmlformats.org/officeDocument/2006/relationships/hyperlink" Target="https://www.benchmarkintl.com/insights/completed-transactions/benchmark-international-successfully-facilitated-the-transaction-between-wrs-group-ltd-and-project-energy-savers-inc/" TargetMode="External"/><Relationship Id="rId71" Type="http://schemas.openxmlformats.org/officeDocument/2006/relationships/hyperlink" Target="https://www.benchmarkintl.com/insights/completed-transactions/benchmark-international-successfully-facilitated-the-transaction-between-kittleson-landscape-inc-and-lancaster-group-llc/" TargetMode="External"/><Relationship Id="rId72" Type="http://schemas.openxmlformats.org/officeDocument/2006/relationships/hyperlink" Target="https://www.benchmarkintl.com/insights/completed-transactions/benchmark-international-successfully-facilitated-the-transaction-between-jagimo-corporation-inc-and-castleford-group/" TargetMode="External"/><Relationship Id="rId7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5" Type="http://schemas.openxmlformats.org/officeDocument/2006/relationships/hyperlink" Target="https://www.benchmarkintl.com/insights/completed-transactions/benchmark-international-successfully-facilitated-the-transaction-between-mm-roofing-co-and-allied-roofing-partners/" TargetMode="External"/><Relationship Id="rId7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7" Type="http://schemas.openxmlformats.org/officeDocument/2006/relationships/hyperlink" Target="https://www.benchmarkintl.com/insights/completed-transactions/benchmark-international-successfully-facilitated-the-transaction-between-arocam-inc-and-innova-capital/" TargetMode="External"/><Relationship Id="rId78" Type="http://schemas.openxmlformats.org/officeDocument/2006/relationships/hyperlink" Target="https://www.benchmarkintl.com/insights/completed-transactions/benchmark-international-successfully-facilitated-a-transaction-between-stirling-food-systems-inc-and-greasecycle-llc/" TargetMode="External"/><Relationship Id="rId7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80" Type="http://schemas.openxmlformats.org/officeDocument/2006/relationships/hyperlink" Target="https://www.benchmarkintl.com/insights/completed-transactions/benchmark-international-successfully-facilitated-the-transaction-between-gsm-wings-llc-and-gpc-investments/" TargetMode="External"/><Relationship Id="rId8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82" Type="http://schemas.openxmlformats.org/officeDocument/2006/relationships/hyperlink" Target="https://www.benchmarkintl.com/insights/completed-transactions/benchmark-international-successfully-facilitated-the-transaction-between-smart-buffet-ware-llc-and-front-of-house-worldwide/" TargetMode="External"/><Relationship Id="rId83" Type="http://schemas.openxmlformats.org/officeDocument/2006/relationships/hyperlink" Target="https://www.benchmarkintl.com/insights/completed-transactions/benchmark-international-successfully-facilitated-the-transaction-between-nova-seafood-ltd-and-highwood-harbor-llc/" TargetMode="External"/><Relationship Id="rId84" Type="http://schemas.openxmlformats.org/officeDocument/2006/relationships/hyperlink" Target="https://www.benchmarkintl.com/insights/featured-content/benchmark-international-successfully-facilitated-the-transaction-between-palm-coast-sales-inc-and-fourshore-partners/" TargetMode="External"/><Relationship Id="rId85" Type="http://schemas.openxmlformats.org/officeDocument/2006/relationships/hyperlink" Target="https://www.benchmarkintl.com/about/our-success/" TargetMode="External"/><Relationship Id="rId86" Type="http://schemas.openxmlformats.org/officeDocument/2006/relationships/hyperlink" Target="https://stockanalysis.com/" TargetMode="External"/><Relationship Id="rId87" Type="http://schemas.openxmlformats.org/officeDocument/2006/relationships/hyperlink" Target="https://mercercapital.com/insights/newsletters/middle-market-transaction-update-newsletter/middle-market-transaction-update-fall-2026/" TargetMode="External"/><Relationship Id="rId88" Type="http://schemas.openxmlformats.org/officeDocument/2006/relationships/hyperlink" Target="https://www.businesswire.com/news/home/20250512684279/en/Church-Dwight-to-Acquire-the-Touchland-Brand-for-$700-million-Plus-Earn-out" TargetMode="External"/><Relationship Id="rId89" Type="http://schemas.openxmlformats.org/officeDocument/2006/relationships/hyperlink" Target="https://fred.stlouisfed.org/series/RSAFS" TargetMode="External"/><Relationship Id="rId90" Type="http://schemas.openxmlformats.org/officeDocument/2006/relationships/hyperlink" Target="https://www.census.gov/retail/marts/www/marts_current.pdf" TargetMode="External"/><Relationship Id="rId91" Type="http://schemas.openxmlformats.org/officeDocument/2006/relationships/hyperlink" Target="https://fred.stlouisfed.org/series/RSFSDP" TargetMode="External"/><Relationship Id="rId92" Type="http://schemas.openxmlformats.org/officeDocument/2006/relationships/hyperlink" Target="https://fred.stlouisfed.org/series/ECOMPCTSA" TargetMode="External"/><Relationship Id="rId93" Type="http://schemas.openxmlformats.org/officeDocument/2006/relationships/hyperlink" Target="https://fred.stlouisfed.org/series/UMCSENT" TargetMode="External"/><Relationship Id="rId94" Type="http://schemas.openxmlformats.org/officeDocument/2006/relationships/hyperlink" Target="https://www.sca.isr.umich.edu/" TargetMode="External"/><Relationship Id="rId95" Type="http://schemas.openxmlformats.org/officeDocument/2006/relationships/hyperlink" Target="https://fred.stlouisfed.org/series/CUSR0000SAF11" TargetMode="External"/><Relationship Id="rId96" Type="http://schemas.openxmlformats.org/officeDocument/2006/relationships/hyperlink" Target="https://fred.stlouisfed.org/series/CUSR0000SEFV" TargetMode="External"/><Relationship Id="rId97" Type="http://schemas.openxmlformats.org/officeDocument/2006/relationships/hyperlink" Target="https://fred.stlouisfed.org/series/PCU311311"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Rows of baked loaves on bakery oven racks"/>
          <p:cNvPicPr>
            <a:picLocks noChangeAspect="1"/>
          </p:cNvPicPr>
          <p:nvPr/>
        </p:nvPicPr>
        <p:blipFill>
          <a:blip r:embed="rId3"/>
          <a:stretch>
            <a:fillRect/>
          </a:stretch>
        </p:blipFill>
        <p:spPr>
          <a:xfrm>
            <a:off x="0" y="0"/>
            <a:ext cx="10058400" cy="7772400"/>
          </a:xfrm>
          <a:prstGeom prst="rect">
            <a:avLst/>
          </a:prstGeom>
        </p:spPr>
      </p:pic>
      <p:pic>
        <p:nvPicPr>
          <p:cNvPr id="4" name="Shade" descr="Dark gradient overlay on the page background"/>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logo"/>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BENCHMARK INTERNATIONAL  |  MIDDLE MARKET</a:t>
            </a:r>
            <a:endParaRPr lang="en-US" sz="750" dirty="0"/>
          </a:p>
        </p:txBody>
      </p:sp>
      <p:sp>
        <p:nvSpPr>
          <p:cNvPr id="8" name="Text 7"/>
          <p:cNvSpPr txBox="1"/>
          <p:nvPr/>
        </p:nvSpPr>
        <p:spPr>
          <a:xfrm>
            <a:off x="609600" y="2247900"/>
            <a:ext cx="4297680"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consumer through the third quarter, and they are paying for brands and operators that have held price and volume while the cost of financing a purchase rises.</a:t>
            </a:r>
            <a:endParaRPr lang="en-US" sz="1500" dirty="0"/>
          </a:p>
        </p:txBody>
      </p:sp>
      <p:pic>
        <p:nvPicPr>
          <p:cNvPr id="12" name="Icon" descr="Food &amp; Beverage segment 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Consumer Brands &amp; Products segment 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Foodservice &amp; Distribution segment 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Consumer Services &amp; Retail segment 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6400000"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now, three repriced costs, four segments, our view,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Transactions, buyers, public company performance, operating metrics, and earnings commentary</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About Benchmark</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Benchmark and the Middle Market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02</a:t>
            </a:r>
            <a:endParaRPr lang="en-US" sz="713" dirty="0"/>
          </a:p>
        </p:txBody>
      </p:sp>
      <p:sp>
        <p:nvSpPr>
          <p:cNvPr id="7" name="Text 5"/>
          <p:cNvSpPr/>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latin typeface="Newsreader"/>
              </a:rPr>
              <a:t>Important Disclosures</a:t>
            </a:r>
            <a:endParaRPr lang="en-US" sz="2025" dirty="0">
              <a:latin typeface="Newsreader"/>
            </a:endParaRPr>
          </a:p>
        </p:txBody>
      </p:sp>
      <p:sp>
        <p:nvSpPr>
          <p:cNvPr id="12" name="Text 5"/>
          <p:cNvSpPr/>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latin typeface="Quicksand"/>
              </a:rPr>
              <a:t>Information in this report is as of October 19, 2026, unless stated otherwise.</a:t>
            </a:r>
            <a:endParaRPr lang="en-US" sz="675" dirty="0">
              <a:latin typeface="Quicksand"/>
            </a:endParaRPr>
          </a:p>
        </p:txBody>
      </p:sp>
      <p:sp>
        <p:nvSpPr>
          <p:cNvPr id="14"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latin typeface="Quicksand"/>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latin typeface="Quicksand"/>
            </a:endParaRPr>
          </a:p>
          <a:p>
            <a:pPr marL="0" indent="0">
              <a:lnSpc>
                <a:spcPts val="1290"/>
              </a:lnSpc>
              <a:spcAft>
                <a:spcPts val="800"/>
              </a:spcAft>
              <a:buNone/>
            </a:pPr>
            <a:r>
              <a:rPr lang="en-US" sz="855" dirty="0">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latin typeface="Quicksand"/>
            </a:endParaRPr>
          </a:p>
          <a:p>
            <a:pPr marL="0" indent="0">
              <a:lnSpc>
                <a:spcPts val="1290"/>
              </a:lnSpc>
              <a:spcAft>
                <a:spcPts val="800"/>
              </a:spcAft>
              <a:buNone/>
            </a:pPr>
            <a:r>
              <a:rPr lang="en-US" sz="855" dirty="0">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latin typeface="Quicksand"/>
            </a:endParaRPr>
          </a:p>
        </p:txBody>
      </p:sp>
      <p:sp>
        <p:nvSpPr>
          <p:cNvPr id="6"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latin typeface="Quicksand"/>
            </a:endParaRPr>
          </a:p>
          <a:p>
            <a:pPr marL="0" indent="0">
              <a:lnSpc>
                <a:spcPts val="1290"/>
              </a:lnSpc>
              <a:spcAft>
                <a:spcPts val="800"/>
              </a:spcAft>
              <a:buNone/>
            </a:pPr>
            <a:r>
              <a:rPr lang="en-US" sz="855" dirty="0">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endParaRPr lang="en-US" sz="855" dirty="0">
              <a:latin typeface="Quicksand"/>
            </a:endParaRPr>
          </a:p>
          <a:p>
            <a:pPr marL="0" indent="0">
              <a:lnSpc>
                <a:spcPts val="1290"/>
              </a:lnSpc>
              <a:spcAft>
                <a:spcPts val="800"/>
              </a:spcAft>
              <a:buNone/>
            </a:pPr>
            <a:r>
              <a:rPr lang="en-US" sz="855" dirty="0">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latin typeface="Quicksan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370332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CONSUMER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Picture" descr="Dark marble background with the Benchmark International knot emblem"/>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b="0" i="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Picture" descr="Headshot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Picture" descr="Headshot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extLst>
                    <a:ext uri="{A12FA001-AC4F-418D-AE19-62706E023703}">
                      <ahyp:hlinkClr xmlns:ahyp="http://schemas.microsoft.com/office/drawing/2018/hyperlinkcolor" val="tx"/>
                    </a:ext>
                  </a:extLst>
                </a:hlinkClick>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Picture" descr="Headshot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Picture" descr="Headshot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Picture" descr="Headshot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Picture" descr="Headshot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Picture" descr="Headshot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Picture" descr="Headshot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Picture" descr="Headshot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Picture" descr="Headshot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83"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sp>
        <p:nvSpPr>
          <p:cNvPr id="85"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TextBox 85"/>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15">
                  <a:extLst>
                    <a:ext uri="{A12FA001-AC4F-418D-AE19-62706E023703}">
                      <ahyp:hlinkClr xmlns:ahyp="http://schemas.microsoft.com/office/drawing/2018/hyperlinkcolor" val="tx"/>
                    </a:ext>
                  </a:extLst>
                </a:hlinkClick>
              </a:rPr>
              <a:t>813-771-6675</a:t>
            </a:r>
          </a:p>
          <a:p>
            <a:pPr algn="ctr">
              <a:lnSpc>
                <a:spcPts val="1200"/>
              </a:lnSpc>
              <a:spcBef>
                <a:spcPts val="0"/>
              </a:spcBef>
              <a:spcAft>
                <a:spcPts val="0"/>
              </a:spcAft>
            </a:pPr>
            <a:r>
              <a:rPr sz="788" b="0" i="0" u="sng" spc="15">
                <a:solidFill>
                  <a:srgbClr val="8C6239"/>
                </a:solidFill>
                <a:latin typeface="Quicksand"/>
                <a:hlinkClick r:id="rId16">
                  <a:extLst>
                    <a:ext uri="{A12FA001-AC4F-418D-AE19-62706E023703}">
                      <ahyp:hlinkClr xmlns:ahyp="http://schemas.microsoft.com/office/drawing/2018/hyperlinkcolor" val="tx"/>
                    </a:ext>
                  </a:extLst>
                </a:hlinkClick>
              </a:rPr>
              <a:t>jhoutz@benchmarkintl.com</a:t>
            </a:r>
          </a:p>
        </p:txBody>
      </p:sp>
      <p:sp>
        <p:nvSpPr>
          <p:cNvPr id="91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17">
                  <a:extLst>
                    <a:ext uri="{A12FA001-AC4F-418D-AE19-62706E023703}">
                      <ahyp:hlinkClr xmlns:ahyp="http://schemas.microsoft.com/office/drawing/2018/hyperlinkcolor" val="tx"/>
                    </a:ext>
                  </a:extLst>
                </a:hlinkClick>
              </a:rPr>
              <a:t>813-898-2372</a:t>
            </a:r>
          </a:p>
          <a:p>
            <a:pPr algn="ctr">
              <a:lnSpc>
                <a:spcPts val="1200"/>
              </a:lnSpc>
              <a:spcBef>
                <a:spcPts val="0"/>
              </a:spcBef>
              <a:spcAft>
                <a:spcPts val="0"/>
              </a:spcAft>
            </a:pPr>
            <a:r>
              <a:rPr sz="788" b="0" i="0" u="sng" spc="15">
                <a:solidFill>
                  <a:srgbClr val="8C6239"/>
                </a:solidFill>
                <a:latin typeface="Quicksand"/>
                <a:hlinkClick r:id="rId18">
                  <a:extLst>
                    <a:ext uri="{A12FA001-AC4F-418D-AE19-62706E023703}">
                      <ahyp:hlinkClr xmlns:ahyp="http://schemas.microsoft.com/office/drawing/2018/hyperlinkcolor" val="tx"/>
                    </a:ext>
                  </a:extLst>
                </a:hlinkClick>
              </a:rPr>
              <a:t>azykov@benchmarkintl.com</a:t>
            </a:r>
          </a:p>
        </p:txBody>
      </p:sp>
      <p:sp>
        <p:nvSpPr>
          <p:cNvPr id="913"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19">
                  <a:extLst>
                    <a:ext uri="{A12FA001-AC4F-418D-AE19-62706E023703}">
                      <ahyp:hlinkClr xmlns:ahyp="http://schemas.microsoft.com/office/drawing/2018/hyperlinkcolor" val="tx"/>
                    </a:ext>
                  </a:extLst>
                </a:hlinkClick>
              </a:rPr>
              <a:t>813-898-2397</a:t>
            </a:r>
          </a:p>
          <a:p>
            <a:pPr algn="ctr">
              <a:lnSpc>
                <a:spcPts val="1200"/>
              </a:lnSpc>
              <a:spcBef>
                <a:spcPts val="0"/>
              </a:spcBef>
              <a:spcAft>
                <a:spcPts val="0"/>
              </a:spcAft>
            </a:pPr>
            <a:r>
              <a:rPr sz="788" b="0" i="0" u="sng" spc="15" dirty="0">
                <a:solidFill>
                  <a:srgbClr val="8C6239"/>
                </a:solidFill>
                <a:latin typeface="Quicksand"/>
                <a:hlinkClick r:id="rId20">
                  <a:extLst>
                    <a:ext uri="{A12FA001-AC4F-418D-AE19-62706E023703}">
                      <ahyp:hlinkClr xmlns:ahyp="http://schemas.microsoft.com/office/drawing/2018/hyperlinkcolor" val="tx"/>
                    </a:ext>
                  </a:extLst>
                </a:hlinkClick>
              </a:rPr>
              <a:t>hess@benchmarkintl.com</a:t>
            </a:r>
          </a:p>
        </p:txBody>
      </p:sp>
      <p:sp>
        <p:nvSpPr>
          <p:cNvPr id="74"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CONSUMER COVERAGE</a:t>
            </a:r>
          </a:p>
        </p:txBody>
      </p:sp>
      <p:sp>
        <p:nvSpPr>
          <p:cNvPr id="76" name="TextBox 71"/>
          <p:cNvSpPr txBox="1"/>
          <p:nvPr/>
        </p:nvSpPr>
        <p:spPr>
          <a:xfrm>
            <a:off x="2895600" y="6484715"/>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Food &amp; Beverage</a:t>
            </a:r>
          </a:p>
        </p:txBody>
      </p:sp>
      <p:sp>
        <p:nvSpPr>
          <p:cNvPr id="78" name="TextBox 73"/>
          <p:cNvSpPr txBox="1"/>
          <p:nvPr/>
        </p:nvSpPr>
        <p:spPr>
          <a:xfrm>
            <a:off x="5276850" y="6484715"/>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Consumer Brands &amp; Products</a:t>
            </a:r>
          </a:p>
        </p:txBody>
      </p:sp>
      <p:sp>
        <p:nvSpPr>
          <p:cNvPr id="80" name="TextBox 75"/>
          <p:cNvSpPr txBox="1"/>
          <p:nvPr/>
        </p:nvSpPr>
        <p:spPr>
          <a:xfrm>
            <a:off x="2895600" y="6760940"/>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Foodservice &amp; Distribution</a:t>
            </a:r>
          </a:p>
        </p:txBody>
      </p:sp>
      <p:sp>
        <p:nvSpPr>
          <p:cNvPr id="82" name="TextBox 77"/>
          <p:cNvSpPr txBox="1"/>
          <p:nvPr/>
        </p:nvSpPr>
        <p:spPr>
          <a:xfrm>
            <a:off x="5276850" y="6760940"/>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Consumer Services &amp; Retail</a:t>
            </a:r>
          </a:p>
        </p:txBody>
      </p:sp>
      <p:pic>
        <p:nvPicPr>
          <p:cNvPr id="90" name="Picture 89" descr="Food &amp; Beverage segment icon"/>
          <p:cNvPicPr>
            <a:picLocks noChangeAspect="1"/>
          </p:cNvPicPr>
          <p:nvPr/>
        </p:nvPicPr>
        <p:blipFill>
          <a:blip r:embed="rId21"/>
          <a:stretch>
            <a:fillRect/>
          </a:stretch>
        </p:blipFill>
        <p:spPr>
          <a:xfrm>
            <a:off x="2628900" y="6467475"/>
            <a:ext cx="190500" cy="190500"/>
          </a:xfrm>
          <a:prstGeom prst="rect">
            <a:avLst/>
          </a:prstGeom>
        </p:spPr>
      </p:pic>
      <p:pic>
        <p:nvPicPr>
          <p:cNvPr id="91" name="Picture 90" descr="Consumer Brands &amp; Products segment icon"/>
          <p:cNvPicPr>
            <a:picLocks noChangeAspect="1"/>
          </p:cNvPicPr>
          <p:nvPr/>
        </p:nvPicPr>
        <p:blipFill>
          <a:blip r:embed="rId22"/>
          <a:stretch>
            <a:fillRect/>
          </a:stretch>
        </p:blipFill>
        <p:spPr>
          <a:xfrm>
            <a:off x="5010150" y="6467475"/>
            <a:ext cx="190500" cy="190500"/>
          </a:xfrm>
          <a:prstGeom prst="rect">
            <a:avLst/>
          </a:prstGeom>
        </p:spPr>
      </p:pic>
      <p:pic>
        <p:nvPicPr>
          <p:cNvPr id="92" name="Picture 91" descr="Foodservice &amp; Distribution segment icon"/>
          <p:cNvPicPr>
            <a:picLocks noChangeAspect="1"/>
          </p:cNvPicPr>
          <p:nvPr/>
        </p:nvPicPr>
        <p:blipFill>
          <a:blip r:embed="rId23"/>
          <a:stretch>
            <a:fillRect/>
          </a:stretch>
        </p:blipFill>
        <p:spPr>
          <a:xfrm>
            <a:off x="2628900" y="6743700"/>
            <a:ext cx="190500" cy="190500"/>
          </a:xfrm>
          <a:prstGeom prst="rect">
            <a:avLst/>
          </a:prstGeom>
        </p:spPr>
      </p:pic>
      <p:pic>
        <p:nvPicPr>
          <p:cNvPr id="93" name="Picture 92" descr="Consumer Brands &amp; Products segment icon"/>
          <p:cNvPicPr>
            <a:picLocks noChangeAspect="1"/>
          </p:cNvPicPr>
          <p:nvPr/>
        </p:nvPicPr>
        <p:blipFill>
          <a:blip r:embed="rId24"/>
          <a:stretch>
            <a:fillRect/>
          </a:stretch>
        </p:blipFill>
        <p:spPr>
          <a:xfrm>
            <a:off x="5010150" y="6743700"/>
            <a:ext cx="190500" cy="190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Smiling woman in a wide-brimmed hat and trench coat holding a phone and shopp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stayed active through the third quarter while rebuilding what they treat as normal earnings after a year of changes in tariffs, fuel prices, and interest rates. Brands that held volume through price increases, companies that sell through more than one channel and operators with room to add locations drew the strongest bids.</a:t>
            </a:r>
            <a:endParaRPr lang="en-US" sz="1013" dirty="0"/>
          </a:p>
        </p:txBody>
      </p:sp>
      <p:pic>
        <p:nvPicPr>
          <p:cNvPr id="25"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27"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28"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9"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30"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32"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33"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4"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07</a:t>
            </a:r>
            <a:endParaRPr lang="en-US" sz="825" dirty="0"/>
          </a:p>
        </p:txBody>
      </p:sp>
      <p:sp>
        <p:nvSpPr>
          <p:cNvPr id="35"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36"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6181344"/>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38" name="Text 14"/>
          <p:cNvSpPr txBox="1"/>
          <p:nvPr/>
        </p:nvSpPr>
        <p:spPr>
          <a:xfrm>
            <a:off x="971550" y="6163056"/>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Our view</a:t>
            </a:r>
            <a:endParaRPr lang="en-US" sz="975" dirty="0"/>
          </a:p>
        </p:txBody>
      </p:sp>
      <p:sp>
        <p:nvSpPr>
          <p:cNvPr id="39" name="Shape 12"/>
          <p:cNvSpPr/>
          <p:nvPr/>
        </p:nvSpPr>
        <p:spPr>
          <a:xfrm>
            <a:off x="609600" y="6419088"/>
            <a:ext cx="4476750" cy="9525"/>
          </a:xfrm>
          <a:prstGeom prst="rect">
            <a:avLst/>
          </a:prstGeom>
          <a:solidFill>
            <a:srgbClr val="D3AE84">
              <a:alpha val="28000"/>
            </a:srgbClr>
          </a:solidFill>
          <a:ln/>
        </p:spPr>
        <p:txBody>
          <a:bodyPr/>
          <a:lstStyle/>
          <a:p>
            <a:endParaRPr lang="en-US"/>
          </a:p>
        </p:txBody>
      </p:sp>
      <p:sp>
        <p:nvSpPr>
          <p:cNvPr id="40" name="Text 13"/>
          <p:cNvSpPr txBox="1"/>
          <p:nvPr/>
        </p:nvSpPr>
        <p:spPr>
          <a:xfrm>
            <a:off x="609600" y="6528816"/>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09</a:t>
            </a:r>
            <a:endParaRPr lang="en-US" sz="825" dirty="0"/>
          </a:p>
        </p:txBody>
      </p:sp>
      <p:sp>
        <p:nvSpPr>
          <p:cNvPr id="41" name="Text 14"/>
          <p:cNvSpPr txBox="1"/>
          <p:nvPr/>
        </p:nvSpPr>
        <p:spPr>
          <a:xfrm>
            <a:off x="971550" y="6510528"/>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sp>
        <p:nvSpPr>
          <p:cNvPr id="42" name="Shape 12"/>
          <p:cNvSpPr/>
          <p:nvPr/>
        </p:nvSpPr>
        <p:spPr>
          <a:xfrm>
            <a:off x="609600" y="6766560"/>
            <a:ext cx="4476750" cy="9525"/>
          </a:xfrm>
          <a:prstGeom prst="rect">
            <a:avLst/>
          </a:prstGeom>
          <a:solidFill>
            <a:srgbClr val="D3AE84">
              <a:alpha val="28000"/>
            </a:srgbClr>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consumer market in the third quarter, with management commentary on page 20.</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fruit and vegetables stacked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7" name="Text 16"/>
          <p:cNvSpPr txBox="1"/>
          <p:nvPr/>
        </p:nvSpPr>
        <p:spPr>
          <a:xfrm>
            <a:off x="3749040" y="1484561"/>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749040" y="1678871"/>
            <a:ext cx="3611880" cy="690118"/>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6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Hershey</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Church &amp; Dwight</a:t>
            </a:r>
            <a:r>
              <a:rPr lang="en-US" sz="760"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PLMA</a:t>
            </a:r>
            <a:r>
              <a:rPr lang="en-US" sz="760"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586663" y="167163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Buyers pay for brands that hold unit volume while they raise price.</a:t>
            </a:r>
            <a:endParaRPr lang="en-US" sz="900" dirty="0"/>
          </a:p>
        </p:txBody>
      </p:sp>
      <p:sp>
        <p:nvSpPr>
          <p:cNvPr id="21" name="Text 20"/>
          <p:cNvSpPr txBox="1"/>
          <p:nvPr/>
        </p:nvSpPr>
        <p:spPr>
          <a:xfrm>
            <a:off x="7586663" y="151618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5" name="Text 24"/>
          <p:cNvSpPr txBox="1"/>
          <p:nvPr/>
        </p:nvSpPr>
        <p:spPr>
          <a:xfrm>
            <a:off x="3749040" y="2910929"/>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749040" y="3105239"/>
            <a:ext cx="3611880" cy="828142"/>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60"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Census Bureau</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Walmart</a:t>
            </a:r>
            <a:r>
              <a:rPr lang="en-US" sz="760"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60"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YETI</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308909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Buyers credit companies that sell through wholesale, direct-to-consumer, and foodservice rather than through one channel.</a:t>
            </a:r>
            <a:endParaRPr lang="en-US" sz="900" dirty="0"/>
          </a:p>
        </p:txBody>
      </p:sp>
      <p:sp>
        <p:nvSpPr>
          <p:cNvPr id="29" name="Text 28"/>
          <p:cNvSpPr txBox="1"/>
          <p:nvPr/>
        </p:nvSpPr>
        <p:spPr>
          <a:xfrm>
            <a:off x="7600950" y="293364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3" name="Text 32"/>
          <p:cNvSpPr txBox="1"/>
          <p:nvPr/>
        </p:nvSpPr>
        <p:spPr>
          <a:xfrm>
            <a:off x="3749040" y="4192488"/>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749040" y="4386798"/>
            <a:ext cx="3611880" cy="966165"/>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Kimberly-Clark, McCormick, and Sysco have committed more than $120 billion to three transactions since November 2025 (</a:t>
            </a:r>
            <a:r>
              <a:rPr lang="en-US" sz="76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Kenvue</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Unilever’s food business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Jetro Restaurant Depot</a:t>
            </a:r>
            <a:r>
              <a:rPr lang="en-US" sz="760"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Keurig Dr Pepper</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Middleby</a:t>
            </a:r>
            <a:r>
              <a:rPr lang="en-US" sz="760"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37498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Large companies are selling slower businesses and buying growth and capacity from smaller companies.</a:t>
            </a:r>
            <a:endParaRPr lang="en-US" sz="900" dirty="0"/>
          </a:p>
        </p:txBody>
      </p:sp>
      <p:sp>
        <p:nvSpPr>
          <p:cNvPr id="37" name="Text 36"/>
          <p:cNvSpPr txBox="1"/>
          <p:nvPr/>
        </p:nvSpPr>
        <p:spPr>
          <a:xfrm>
            <a:off x="7600950" y="421953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41" name="Text 40"/>
          <p:cNvSpPr txBox="1"/>
          <p:nvPr/>
        </p:nvSpPr>
        <p:spPr>
          <a:xfrm>
            <a:off x="3749040" y="5691336"/>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749040" y="5885646"/>
            <a:ext cx="3611880" cy="966165"/>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Add-on acquisitions made up about three-quarters of US private equity buyouts in the second quarter (</a:t>
            </a:r>
            <a:r>
              <a:rPr lang="en-US" sz="76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PitchBook</a:t>
            </a:r>
            <a:r>
              <a:rPr lang="en-US" sz="760"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60"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Boyd Group</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Tidal Wave Auto Spa</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SPS PoolCare</a:t>
            </a:r>
            <a:r>
              <a:rPr lang="en-US" sz="760"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875211"/>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Add-ons made up about three-quarters of private equity buyouts, so owners with locations or routes a platform can absorb draw the most interest.</a:t>
            </a:r>
            <a:endParaRPr lang="en-US" sz="900" dirty="0"/>
          </a:p>
        </p:txBody>
      </p:sp>
      <p:sp>
        <p:nvSpPr>
          <p:cNvPr id="45" name="Text 44"/>
          <p:cNvSpPr txBox="1"/>
          <p:nvPr/>
        </p:nvSpPr>
        <p:spPr>
          <a:xfrm>
            <a:off x="7600950" y="5719763"/>
            <a:ext cx="2038350" cy="119063"/>
          </a:xfrm>
          <a:prstGeom prst="rect">
            <a:avLst/>
          </a:prstGeom>
          <a:noFill/>
          <a:ln/>
        </p:spPr>
        <p:txBody>
          <a:bodyPr wrap="non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are from quarterly earnings releases filed between July 30 and October 1, 2026.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
        <p:nvSpPr>
          <p:cNvPr id="50" name="TextBox 49"/>
          <p:cNvSpPr txBox="1"/>
          <p:nvPr/>
        </p:nvSpPr>
        <p:spPr>
          <a:xfrm>
            <a:off x="2880360" y="1429697"/>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23.8%</a:t>
            </a:r>
            <a:endParaRPr lang="en-US" sz="1700" dirty="0"/>
          </a:p>
        </p:txBody>
      </p:sp>
      <p:sp>
        <p:nvSpPr>
          <p:cNvPr id="51" name="TextBox 50"/>
          <p:cNvSpPr txBox="1"/>
          <p:nvPr/>
        </p:nvSpPr>
        <p:spPr>
          <a:xfrm>
            <a:off x="2880360" y="2856065"/>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17.1%</a:t>
            </a:r>
            <a:endParaRPr lang="en-US" sz="1700" dirty="0"/>
          </a:p>
        </p:txBody>
      </p:sp>
      <p:sp>
        <p:nvSpPr>
          <p:cNvPr id="52" name="TextBox 51"/>
          <p:cNvSpPr txBox="1"/>
          <p:nvPr/>
        </p:nvSpPr>
        <p:spPr>
          <a:xfrm>
            <a:off x="2880360" y="4137624"/>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$120B</a:t>
            </a:r>
            <a:endParaRPr lang="en-US" sz="1700" dirty="0"/>
          </a:p>
        </p:txBody>
      </p:sp>
      <p:sp>
        <p:nvSpPr>
          <p:cNvPr id="53" name="TextBox 52"/>
          <p:cNvSpPr txBox="1"/>
          <p:nvPr/>
        </p:nvSpPr>
        <p:spPr>
          <a:xfrm>
            <a:off x="2880360" y="5636472"/>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3 in 4</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moved in the past year, and the moves change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404336"/>
            <a:ext cx="28575" cy="1333500"/>
          </a:xfrm>
          <a:prstGeom prst="rect">
            <a:avLst/>
          </a:prstGeom>
          <a:solidFill>
            <a:srgbClr val="B68757"/>
          </a:solidFill>
          <a:ln/>
        </p:spPr>
        <p:txBody>
          <a:bodyPr/>
          <a:lstStyle/>
          <a:p>
            <a:endParaRPr lang="en-US"/>
          </a:p>
        </p:txBody>
      </p:sp>
      <p:sp>
        <p:nvSpPr>
          <p:cNvPr id="12" name="Text 11"/>
          <p:cNvSpPr txBox="1"/>
          <p:nvPr/>
        </p:nvSpPr>
        <p:spPr>
          <a:xfrm>
            <a:off x="600075" y="5537686"/>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ariffs marker 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a:t>
            </a:r>
            <a:r>
              <a:rPr lang="en-US" sz="795" kern="0" spc="15" dirty="0">
                <a:solidFill>
                  <a:srgbClr val="333231"/>
                </a:solidFill>
                <a:latin typeface="Quicksand" pitchFamily="34" charset="0"/>
              </a:rPr>
              <a:t>, a temporary 10% tariff followed,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a:t>
            </a:r>
            <a:r>
              <a:rPr lang="en-US" sz="795" kern="0" spc="15" dirty="0">
                <a:solidFill>
                  <a:srgbClr val="333231"/>
                </a:solidFill>
                <a:latin typeface="Quicksand" pitchFamily="34" charset="0"/>
              </a:rPr>
              <a:t> apply to 60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Fuel marker 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Financing marker 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in September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new direct loans to middle-market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Customer paying with a smartphone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A higher rate lowers the debt a sponsor can place against the same earnings, so price support shifts toward strategic buyers that fund purchases from cash flow.</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 and the loan spread figure is from Northleaf Capital Partners’ second-quarter private credit update.</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Assorted rustic bread loaves"/>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Food &amp; Beverage segment 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666598" y="2428377"/>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55588"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4</a:t>
            </a:r>
            <a:endParaRPr lang="en-US" sz="2100" dirty="0"/>
          </a:p>
        </p:txBody>
      </p:sp>
      <p:sp>
        <p:nvSpPr>
          <p:cNvPr id="29" name="Text 28"/>
          <p:cNvSpPr txBox="1"/>
          <p:nvPr/>
        </p:nvSpPr>
        <p:spPr>
          <a:xfrm>
            <a:off x="1164946"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Rows of eyeshadow and bronzer palette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Consumer Brands &amp; Products segment 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3004986" y="2447427"/>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the five weeks to July 4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2993708"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2</a:t>
            </a:r>
            <a:endParaRPr lang="en-US" sz="2100" dirty="0"/>
          </a:p>
        </p:txBody>
      </p:sp>
      <p:sp>
        <p:nvSpPr>
          <p:cNvPr id="52" name="Text 51"/>
          <p:cNvSpPr txBox="1"/>
          <p:nvPr/>
        </p:nvSpPr>
        <p:spPr>
          <a:xfrm>
            <a:off x="3503066"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Wine glasses hanging upside down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Foodservice &amp; Distribution segment 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343373" y="2447427"/>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and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 kept buying repair and ice-machine businesses through the year.</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32744"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6</a:t>
            </a:r>
            <a:endParaRPr lang="en-US" sz="2100" dirty="0"/>
          </a:p>
        </p:txBody>
      </p:sp>
      <p:sp>
        <p:nvSpPr>
          <p:cNvPr id="75" name="Text 74"/>
          <p:cNvSpPr txBox="1"/>
          <p:nvPr/>
        </p:nvSpPr>
        <p:spPr>
          <a:xfrm>
            <a:off x="5842102"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Interior of a multi-story arcade with wooden balconies and shops"/>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Consumer Services &amp; Retail segment 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681760" y="2447427"/>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 majority stake in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in a deal reported at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family business, in December.</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55111"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55111" y="5411302"/>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70864"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20</a:t>
            </a:r>
            <a:endParaRPr lang="en-US" sz="2100" dirty="0"/>
          </a:p>
        </p:txBody>
      </p:sp>
      <p:sp>
        <p:nvSpPr>
          <p:cNvPr id="98" name="Text 97"/>
          <p:cNvSpPr txBox="1"/>
          <p:nvPr/>
        </p:nvSpPr>
        <p:spPr>
          <a:xfrm>
            <a:off x="8180222"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logo"/>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07</a:t>
            </a:r>
            <a:endParaRPr lang="en-US" sz="71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Our View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are paying for brands and operators that held volume, sell through more than one channel, and can add locations.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Views are those of the Benchmark International Middle Market team, drawn from the figures in this report, which are the latest published as of October 19, 2026. Demand reflects the team’s assessment for owner-operated businesses in each segment.</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3" name="Rectangle 12"/>
          <p:cNvSpPr/>
          <p:nvPr/>
        </p:nvSpPr>
        <p:spPr>
          <a:xfrm>
            <a:off x="420624" y="1234440"/>
            <a:ext cx="2743200" cy="4206240"/>
          </a:xfrm>
          <a:prstGeom prst="rect">
            <a:avLst/>
          </a:prstGeom>
          <a:solidFill>
            <a:srgbClr val="1B1A1A"/>
          </a:solidFill>
          <a:ln>
            <a:noFill/>
          </a:ln>
        </p:spPr>
        <p:txBody>
          <a:bodyPr rtlCol="0" anchor="ctr"/>
          <a:lstStyle/>
          <a:p>
            <a:pPr algn="ctr"/>
            <a:endParaRPr/>
          </a:p>
        </p:txBody>
      </p:sp>
      <p:sp>
        <p:nvSpPr>
          <p:cNvPr id="14" name="Rectangle 13"/>
          <p:cNvSpPr/>
          <p:nvPr/>
        </p:nvSpPr>
        <p:spPr>
          <a:xfrm>
            <a:off x="420624" y="1234440"/>
            <a:ext cx="2743200"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640080" y="1280160"/>
            <a:ext cx="2286000" cy="137160"/>
          </a:xfrm>
          <a:prstGeom prst="rect">
            <a:avLst/>
          </a:prstGeom>
          <a:noFill/>
        </p:spPr>
        <p:txBody>
          <a:bodyPr wrap="square" lIns="0" tIns="0" rIns="0" bIns="0" rtlCol="0" anchor="t"/>
          <a:lstStyle/>
          <a:p>
            <a:pPr marL="0" indent="0" algn="l">
              <a:lnSpc>
                <a:spcPts val="965"/>
              </a:lnSpc>
              <a:buNone/>
            </a:pPr>
            <a:r>
              <a:rPr lang="en-US" sz="800" b="1" kern="0" spc="15" dirty="0">
                <a:solidFill>
                  <a:srgbClr val="D3AE84"/>
                </a:solidFill>
                <a:latin typeface="Quicksand" pitchFamily="34" charset="0"/>
              </a:rPr>
              <a:t>OUR POSITION</a:t>
            </a:r>
            <a:endParaRPr lang="en-US" sz="800" dirty="0"/>
          </a:p>
        </p:txBody>
      </p:sp>
      <p:sp>
        <p:nvSpPr>
          <p:cNvPr id="16" name="TextBox 15"/>
          <p:cNvSpPr txBox="1"/>
          <p:nvPr/>
        </p:nvSpPr>
        <p:spPr>
          <a:xfrm>
            <a:off x="640080" y="1508760"/>
            <a:ext cx="2331720" cy="1354125"/>
          </a:xfrm>
          <a:prstGeom prst="rect">
            <a:avLst/>
          </a:prstGeom>
          <a:noFill/>
        </p:spPr>
        <p:txBody>
          <a:bodyPr wrap="square" lIns="0" tIns="0" rIns="0" bIns="0" rtlCol="0" anchor="t"/>
          <a:lstStyle/>
          <a:p>
            <a:pPr marL="0" indent="0" algn="l">
              <a:lnSpc>
                <a:spcPts val="1333"/>
              </a:lnSpc>
              <a:buNone/>
            </a:pPr>
            <a:r>
              <a:rPr lang="en-US" sz="980" kern="0" spc="15" dirty="0">
                <a:solidFill>
                  <a:srgbClr val="FFFFFF"/>
                </a:solidFill>
                <a:latin typeface="Newsreader Medium" pitchFamily="34" charset="0"/>
              </a:rPr>
              <a:t>Buyers are paying for brands and operators that held volume while they raised price, that sell through more than one channel, and that can add locations, and with financing costs higher they are testing the earnings behind that performance more closely than a year ago.</a:t>
            </a:r>
            <a:endParaRPr lang="en-US" sz="980" dirty="0"/>
          </a:p>
        </p:txBody>
      </p:sp>
      <p:sp>
        <p:nvSpPr>
          <p:cNvPr id="17" name="Rectangle 16"/>
          <p:cNvSpPr/>
          <p:nvPr/>
        </p:nvSpPr>
        <p:spPr>
          <a:xfrm>
            <a:off x="630936" y="3128061"/>
            <a:ext cx="2331720" cy="9144"/>
          </a:xfrm>
          <a:prstGeom prst="rect">
            <a:avLst/>
          </a:prstGeom>
          <a:solidFill>
            <a:srgbClr val="FFFFFF"/>
          </a:solidFill>
          <a:ln>
            <a:noFill/>
          </a:ln>
        </p:spPr>
        <p:txBody>
          <a:bodyPr rtlCol="0" anchor="ctr"/>
          <a:lstStyle/>
          <a:p>
            <a:pPr algn="ctr"/>
            <a:endParaRPr/>
          </a:p>
        </p:txBody>
      </p:sp>
      <p:sp>
        <p:nvSpPr>
          <p:cNvPr id="18" name="TextBox 17"/>
          <p:cNvSpPr txBox="1"/>
          <p:nvPr/>
        </p:nvSpPr>
        <p:spPr>
          <a:xfrm>
            <a:off x="630936" y="32195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23.8%</a:t>
            </a:r>
            <a:endParaRPr lang="en-US" sz="1700" dirty="0"/>
          </a:p>
        </p:txBody>
      </p:sp>
      <p:sp>
        <p:nvSpPr>
          <p:cNvPr id="19" name="TextBox 18"/>
          <p:cNvSpPr txBox="1"/>
          <p:nvPr/>
        </p:nvSpPr>
        <p:spPr>
          <a:xfrm>
            <a:off x="630936" y="3512109"/>
            <a:ext cx="2331720" cy="259588"/>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store brand share of units sold in the first half of 2026 (Private Label Manufacturers Association)</a:t>
            </a:r>
            <a:endParaRPr lang="en-US" sz="730" dirty="0"/>
          </a:p>
        </p:txBody>
      </p:sp>
      <p:sp>
        <p:nvSpPr>
          <p:cNvPr id="20" name="Rectangle 19"/>
          <p:cNvSpPr/>
          <p:nvPr/>
        </p:nvSpPr>
        <p:spPr>
          <a:xfrm>
            <a:off x="630936" y="3826561"/>
            <a:ext cx="2331720" cy="9144"/>
          </a:xfrm>
          <a:prstGeom prst="rect">
            <a:avLst/>
          </a:prstGeom>
          <a:solidFill>
            <a:srgbClr val="FFFFFF"/>
          </a:solidFill>
          <a:ln>
            <a:noFill/>
          </a:ln>
        </p:spPr>
        <p:txBody>
          <a:bodyPr rtlCol="0" anchor="ctr"/>
          <a:lstStyle/>
          <a:p>
            <a:pPr algn="ctr"/>
            <a:endParaRPr/>
          </a:p>
        </p:txBody>
      </p:sp>
      <p:sp>
        <p:nvSpPr>
          <p:cNvPr id="21" name="TextBox 20"/>
          <p:cNvSpPr txBox="1"/>
          <p:nvPr/>
        </p:nvSpPr>
        <p:spPr>
          <a:xfrm>
            <a:off x="630936" y="39180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About 75%</a:t>
            </a:r>
            <a:endParaRPr lang="en-US" sz="1700" dirty="0"/>
          </a:p>
        </p:txBody>
      </p:sp>
      <p:sp>
        <p:nvSpPr>
          <p:cNvPr id="22" name="TextBox 21"/>
          <p:cNvSpPr txBox="1"/>
          <p:nvPr/>
        </p:nvSpPr>
        <p:spPr>
          <a:xfrm>
            <a:off x="630936" y="4210609"/>
            <a:ext cx="2331720" cy="259588"/>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of US private equity buyouts in the second quarter were add-on acquisitions (PitchBook)</a:t>
            </a:r>
            <a:endParaRPr lang="en-US" sz="730" dirty="0"/>
          </a:p>
        </p:txBody>
      </p:sp>
      <p:sp>
        <p:nvSpPr>
          <p:cNvPr id="23" name="Rectangle 22"/>
          <p:cNvSpPr/>
          <p:nvPr/>
        </p:nvSpPr>
        <p:spPr>
          <a:xfrm>
            <a:off x="630936" y="4525061"/>
            <a:ext cx="2331720" cy="9144"/>
          </a:xfrm>
          <a:prstGeom prst="rect">
            <a:avLst/>
          </a:prstGeom>
          <a:solidFill>
            <a:srgbClr val="FFFFFF"/>
          </a:solidFill>
          <a:ln>
            <a:noFill/>
          </a:ln>
        </p:spPr>
        <p:txBody>
          <a:bodyPr rtlCol="0" anchor="ctr"/>
          <a:lstStyle/>
          <a:p>
            <a:pPr algn="ctr"/>
            <a:endParaRPr/>
          </a:p>
        </p:txBody>
      </p:sp>
      <p:sp>
        <p:nvSpPr>
          <p:cNvPr id="24" name="TextBox 23"/>
          <p:cNvSpPr txBox="1"/>
          <p:nvPr/>
        </p:nvSpPr>
        <p:spPr>
          <a:xfrm>
            <a:off x="630936" y="46165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9 of 17</a:t>
            </a:r>
            <a:endParaRPr lang="en-US" sz="1700" dirty="0"/>
          </a:p>
        </p:txBody>
      </p:sp>
      <p:sp>
        <p:nvSpPr>
          <p:cNvPr id="25" name="TextBox 24"/>
          <p:cNvSpPr txBox="1"/>
          <p:nvPr/>
        </p:nvSpPr>
        <p:spPr>
          <a:xfrm>
            <a:off x="630936" y="4909109"/>
            <a:ext cx="2331720" cy="389382"/>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named acquirers of our consumer clients were operating companies or platforms adding to an existing business</a:t>
            </a:r>
            <a:endParaRPr lang="en-US" sz="730" dirty="0"/>
          </a:p>
        </p:txBody>
      </p:sp>
      <p:sp>
        <p:nvSpPr>
          <p:cNvPr id="26" name="TextBox 25"/>
          <p:cNvSpPr txBox="1"/>
          <p:nvPr/>
        </p:nvSpPr>
        <p:spPr>
          <a:xfrm>
            <a:off x="3337560" y="1280160"/>
            <a:ext cx="109728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SEGMENT</a:t>
            </a:r>
            <a:endParaRPr lang="en-US" sz="800" dirty="0"/>
          </a:p>
        </p:txBody>
      </p:sp>
      <p:sp>
        <p:nvSpPr>
          <p:cNvPr id="27" name="TextBox 26"/>
          <p:cNvSpPr txBox="1"/>
          <p:nvPr/>
        </p:nvSpPr>
        <p:spPr>
          <a:xfrm>
            <a:off x="4681728" y="1280160"/>
            <a:ext cx="91440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DEMAND</a:t>
            </a:r>
            <a:endParaRPr lang="en-US" sz="800" dirty="0"/>
          </a:p>
        </p:txBody>
      </p:sp>
      <p:sp>
        <p:nvSpPr>
          <p:cNvPr id="28" name="TextBox 27"/>
          <p:cNvSpPr txBox="1"/>
          <p:nvPr/>
        </p:nvSpPr>
        <p:spPr>
          <a:xfrm>
            <a:off x="5897880" y="1280160"/>
            <a:ext cx="91440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OUR VIEW</a:t>
            </a:r>
            <a:endParaRPr lang="en-US" sz="800" dirty="0"/>
          </a:p>
        </p:txBody>
      </p:sp>
      <p:sp>
        <p:nvSpPr>
          <p:cNvPr id="29" name="Rectangle 28"/>
          <p:cNvSpPr/>
          <p:nvPr/>
        </p:nvSpPr>
        <p:spPr>
          <a:xfrm>
            <a:off x="3337560" y="1517904"/>
            <a:ext cx="6300216" cy="18288"/>
          </a:xfrm>
          <a:prstGeom prst="rect">
            <a:avLst/>
          </a:prstGeom>
          <a:solidFill>
            <a:srgbClr val="B68757"/>
          </a:solidFill>
          <a:ln>
            <a:noFill/>
          </a:ln>
        </p:spPr>
        <p:txBody>
          <a:bodyPr rtlCol="0" anchor="ctr"/>
          <a:lstStyle/>
          <a:p>
            <a:pPr algn="ctr"/>
            <a:endParaRPr/>
          </a:p>
        </p:txBody>
      </p:sp>
      <p:sp>
        <p:nvSpPr>
          <p:cNvPr id="30" name="TextBox 29"/>
          <p:cNvSpPr txBox="1"/>
          <p:nvPr/>
        </p:nvSpPr>
        <p:spPr>
          <a:xfrm>
            <a:off x="3337560" y="1682496"/>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FOOD &amp; BEVERAGE</a:t>
            </a:r>
            <a:endParaRPr lang="en-US" sz="760" dirty="0"/>
          </a:p>
        </p:txBody>
      </p:sp>
      <p:sp>
        <p:nvSpPr>
          <p:cNvPr id="31" name="TextBox 30"/>
          <p:cNvSpPr txBox="1"/>
          <p:nvPr/>
        </p:nvSpPr>
        <p:spPr>
          <a:xfrm>
            <a:off x="4681728" y="1682496"/>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MIXED</a:t>
            </a:r>
            <a:endParaRPr lang="en-US" sz="760" dirty="0"/>
          </a:p>
        </p:txBody>
      </p:sp>
      <p:sp>
        <p:nvSpPr>
          <p:cNvPr id="32" name="Oval 31"/>
          <p:cNvSpPr/>
          <p:nvPr/>
        </p:nvSpPr>
        <p:spPr>
          <a:xfrm>
            <a:off x="4681728" y="1874520"/>
            <a:ext cx="82296" cy="82296"/>
          </a:xfrm>
          <a:prstGeom prst="ellipse">
            <a:avLst/>
          </a:prstGeom>
          <a:solidFill>
            <a:srgbClr val="B68757"/>
          </a:solidFill>
          <a:ln>
            <a:noFill/>
          </a:ln>
        </p:spPr>
        <p:txBody>
          <a:bodyPr rtlCol="0" anchor="ctr"/>
          <a:lstStyle/>
          <a:p>
            <a:pPr algn="ctr"/>
            <a:endParaRPr/>
          </a:p>
        </p:txBody>
      </p:sp>
      <p:sp>
        <p:nvSpPr>
          <p:cNvPr id="33" name="Oval 32"/>
          <p:cNvSpPr/>
          <p:nvPr/>
        </p:nvSpPr>
        <p:spPr>
          <a:xfrm>
            <a:off x="4800600" y="1874520"/>
            <a:ext cx="82296" cy="82296"/>
          </a:xfrm>
          <a:prstGeom prst="ellipse">
            <a:avLst/>
          </a:prstGeom>
          <a:solidFill>
            <a:srgbClr val="B68757"/>
          </a:solidFill>
          <a:ln>
            <a:noFill/>
          </a:ln>
        </p:spPr>
        <p:txBody>
          <a:bodyPr rtlCol="0" anchor="ctr"/>
          <a:lstStyle/>
          <a:p>
            <a:pPr algn="ctr"/>
            <a:endParaRPr/>
          </a:p>
        </p:txBody>
      </p:sp>
      <p:sp>
        <p:nvSpPr>
          <p:cNvPr id="34" name="Oval 33"/>
          <p:cNvSpPr/>
          <p:nvPr/>
        </p:nvSpPr>
        <p:spPr>
          <a:xfrm>
            <a:off x="4919472" y="1874520"/>
            <a:ext cx="82296" cy="82296"/>
          </a:xfrm>
          <a:prstGeom prst="ellipse">
            <a:avLst/>
          </a:prstGeom>
          <a:noFill/>
          <a:ln w="9525">
            <a:solidFill>
              <a:srgbClr val="C3BDB6"/>
            </a:solidFill>
          </a:ln>
        </p:spPr>
        <p:txBody>
          <a:bodyPr rtlCol="0" anchor="ctr"/>
          <a:lstStyle/>
          <a:p>
            <a:pPr algn="ctr"/>
            <a:endParaRPr/>
          </a:p>
        </p:txBody>
      </p:sp>
      <p:sp>
        <p:nvSpPr>
          <p:cNvPr id="35" name="Oval 34"/>
          <p:cNvSpPr/>
          <p:nvPr/>
        </p:nvSpPr>
        <p:spPr>
          <a:xfrm>
            <a:off x="5038344" y="1874520"/>
            <a:ext cx="82296" cy="82296"/>
          </a:xfrm>
          <a:prstGeom prst="ellipse">
            <a:avLst/>
          </a:prstGeom>
          <a:noFill/>
          <a:ln w="9525">
            <a:solidFill>
              <a:srgbClr val="C3BDB6"/>
            </a:solidFill>
          </a:ln>
        </p:spPr>
        <p:txBody>
          <a:bodyPr rtlCol="0" anchor="ctr"/>
          <a:lstStyle/>
          <a:p>
            <a:pPr algn="ctr"/>
            <a:endParaRPr/>
          </a:p>
        </p:txBody>
      </p:sp>
      <p:sp>
        <p:nvSpPr>
          <p:cNvPr id="36" name="TextBox 35"/>
          <p:cNvSpPr txBox="1"/>
          <p:nvPr/>
        </p:nvSpPr>
        <p:spPr>
          <a:xfrm>
            <a:off x="5897880" y="1682496"/>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Buyers are separating brands that hold volume from brands that rely on price. Hershey’s organic sales rose 3.6% on about 12 points of price against an 8-point volume decline, store brands reached 23.8% of units, and packaged food companies trade at a median 8.8x EBITDA against 9.8x a year ago. Strategics still pay for growth categories, as Hormel did at 10.7x for Brakebush Brothers.</a:t>
            </a:r>
            <a:endParaRPr lang="en-US" sz="760" dirty="0"/>
          </a:p>
        </p:txBody>
      </p:sp>
      <p:sp>
        <p:nvSpPr>
          <p:cNvPr id="37" name="Rectangle 36"/>
          <p:cNvSpPr/>
          <p:nvPr/>
        </p:nvSpPr>
        <p:spPr>
          <a:xfrm>
            <a:off x="3337560" y="2560320"/>
            <a:ext cx="6300216" cy="9144"/>
          </a:xfrm>
          <a:prstGeom prst="rect">
            <a:avLst/>
          </a:prstGeom>
          <a:solidFill>
            <a:srgbClr val="E3DCD3"/>
          </a:solidFill>
          <a:ln>
            <a:noFill/>
          </a:ln>
        </p:spPr>
        <p:txBody>
          <a:bodyPr rtlCol="0" anchor="ctr"/>
          <a:lstStyle/>
          <a:p>
            <a:pPr algn="ctr"/>
            <a:endParaRPr/>
          </a:p>
        </p:txBody>
      </p:sp>
      <p:sp>
        <p:nvSpPr>
          <p:cNvPr id="38" name="TextBox 37"/>
          <p:cNvSpPr txBox="1"/>
          <p:nvPr/>
        </p:nvSpPr>
        <p:spPr>
          <a:xfrm>
            <a:off x="3337560" y="2633472"/>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CONSUMER BRANDS &amp; PRODUCTS</a:t>
            </a:r>
            <a:endParaRPr lang="en-US" sz="760" dirty="0"/>
          </a:p>
        </p:txBody>
      </p:sp>
      <p:sp>
        <p:nvSpPr>
          <p:cNvPr id="39" name="TextBox 38"/>
          <p:cNvSpPr txBox="1"/>
          <p:nvPr/>
        </p:nvSpPr>
        <p:spPr>
          <a:xfrm>
            <a:off x="4681728" y="2633472"/>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STEADY</a:t>
            </a:r>
            <a:endParaRPr lang="en-US" sz="760" dirty="0"/>
          </a:p>
        </p:txBody>
      </p:sp>
      <p:sp>
        <p:nvSpPr>
          <p:cNvPr id="40" name="Oval 39"/>
          <p:cNvSpPr/>
          <p:nvPr/>
        </p:nvSpPr>
        <p:spPr>
          <a:xfrm>
            <a:off x="4681728" y="2825496"/>
            <a:ext cx="82296" cy="82296"/>
          </a:xfrm>
          <a:prstGeom prst="ellipse">
            <a:avLst/>
          </a:prstGeom>
          <a:solidFill>
            <a:srgbClr val="B68757"/>
          </a:solidFill>
          <a:ln>
            <a:noFill/>
          </a:ln>
        </p:spPr>
        <p:txBody>
          <a:bodyPr rtlCol="0" anchor="ctr"/>
          <a:lstStyle/>
          <a:p>
            <a:pPr algn="ctr"/>
            <a:endParaRPr/>
          </a:p>
        </p:txBody>
      </p:sp>
      <p:sp>
        <p:nvSpPr>
          <p:cNvPr id="41" name="Oval 40"/>
          <p:cNvSpPr/>
          <p:nvPr/>
        </p:nvSpPr>
        <p:spPr>
          <a:xfrm>
            <a:off x="4800600" y="2825496"/>
            <a:ext cx="82296" cy="82296"/>
          </a:xfrm>
          <a:prstGeom prst="ellipse">
            <a:avLst/>
          </a:prstGeom>
          <a:solidFill>
            <a:srgbClr val="B68757"/>
          </a:solidFill>
          <a:ln>
            <a:noFill/>
          </a:ln>
        </p:spPr>
        <p:txBody>
          <a:bodyPr rtlCol="0" anchor="ctr"/>
          <a:lstStyle/>
          <a:p>
            <a:pPr algn="ctr"/>
            <a:endParaRPr/>
          </a:p>
        </p:txBody>
      </p:sp>
      <p:sp>
        <p:nvSpPr>
          <p:cNvPr id="42" name="Oval 41"/>
          <p:cNvSpPr/>
          <p:nvPr/>
        </p:nvSpPr>
        <p:spPr>
          <a:xfrm>
            <a:off x="4919472" y="2825496"/>
            <a:ext cx="82296" cy="82296"/>
          </a:xfrm>
          <a:prstGeom prst="ellipse">
            <a:avLst/>
          </a:prstGeom>
          <a:solidFill>
            <a:srgbClr val="B68757"/>
          </a:solidFill>
          <a:ln>
            <a:noFill/>
          </a:ln>
        </p:spPr>
        <p:txBody>
          <a:bodyPr rtlCol="0" anchor="ctr"/>
          <a:lstStyle/>
          <a:p>
            <a:pPr algn="ctr"/>
            <a:endParaRPr/>
          </a:p>
        </p:txBody>
      </p:sp>
      <p:sp>
        <p:nvSpPr>
          <p:cNvPr id="43" name="Oval 42"/>
          <p:cNvSpPr/>
          <p:nvPr/>
        </p:nvSpPr>
        <p:spPr>
          <a:xfrm>
            <a:off x="5038344" y="2825496"/>
            <a:ext cx="82296" cy="82296"/>
          </a:xfrm>
          <a:prstGeom prst="ellipse">
            <a:avLst/>
          </a:prstGeom>
          <a:noFill/>
          <a:ln w="9525">
            <a:solidFill>
              <a:srgbClr val="C3BDB6"/>
            </a:solidFill>
          </a:ln>
        </p:spPr>
        <p:txBody>
          <a:bodyPr rtlCol="0" anchor="ctr"/>
          <a:lstStyle/>
          <a:p>
            <a:pPr algn="ctr"/>
            <a:endParaRPr/>
          </a:p>
        </p:txBody>
      </p:sp>
      <p:sp>
        <p:nvSpPr>
          <p:cNvPr id="44" name="TextBox 43"/>
          <p:cNvSpPr txBox="1"/>
          <p:nvPr/>
        </p:nvSpPr>
        <p:spPr>
          <a:xfrm>
            <a:off x="5897880" y="2633472"/>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Beauty, personal care, over-the-counter health, and pet products drew a large share of this year’s brand acquisitions, and household and personal care companies trade at a median 17.1x EBITDA against 16.3x a year ago. Dollar growth runs ahead of unit demand, with non-edible packaged goods up 3.1% in dollars and down 2.2% in units, so buyers will test unit trends and tariff exposure by product.</a:t>
            </a:r>
            <a:endParaRPr lang="en-US" sz="760" dirty="0"/>
          </a:p>
        </p:txBody>
      </p:sp>
      <p:sp>
        <p:nvSpPr>
          <p:cNvPr id="45" name="Rectangle 44"/>
          <p:cNvSpPr/>
          <p:nvPr/>
        </p:nvSpPr>
        <p:spPr>
          <a:xfrm>
            <a:off x="3337560" y="3511296"/>
            <a:ext cx="6300216" cy="9144"/>
          </a:xfrm>
          <a:prstGeom prst="rect">
            <a:avLst/>
          </a:prstGeom>
          <a:solidFill>
            <a:srgbClr val="E3DCD3"/>
          </a:solidFill>
          <a:ln>
            <a:noFill/>
          </a:ln>
        </p:spPr>
        <p:txBody>
          <a:bodyPr rtlCol="0" anchor="ctr"/>
          <a:lstStyle/>
          <a:p>
            <a:pPr algn="ctr"/>
            <a:endParaRPr/>
          </a:p>
        </p:txBody>
      </p:sp>
      <p:sp>
        <p:nvSpPr>
          <p:cNvPr id="46" name="TextBox 45"/>
          <p:cNvSpPr txBox="1"/>
          <p:nvPr/>
        </p:nvSpPr>
        <p:spPr>
          <a:xfrm>
            <a:off x="3337560" y="3584448"/>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FOODSERVICE &amp; DISTRIBUTION</a:t>
            </a:r>
            <a:endParaRPr lang="en-US" sz="760" dirty="0"/>
          </a:p>
        </p:txBody>
      </p:sp>
      <p:sp>
        <p:nvSpPr>
          <p:cNvPr id="47" name="TextBox 46"/>
          <p:cNvSpPr txBox="1"/>
          <p:nvPr/>
        </p:nvSpPr>
        <p:spPr>
          <a:xfrm>
            <a:off x="4681728" y="3584448"/>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STEADY</a:t>
            </a:r>
            <a:endParaRPr lang="en-US" sz="760" dirty="0"/>
          </a:p>
        </p:txBody>
      </p:sp>
      <p:sp>
        <p:nvSpPr>
          <p:cNvPr id="48" name="Oval 47"/>
          <p:cNvSpPr/>
          <p:nvPr/>
        </p:nvSpPr>
        <p:spPr>
          <a:xfrm>
            <a:off x="4681728" y="3776472"/>
            <a:ext cx="82296" cy="82296"/>
          </a:xfrm>
          <a:prstGeom prst="ellipse">
            <a:avLst/>
          </a:prstGeom>
          <a:solidFill>
            <a:srgbClr val="B68757"/>
          </a:solidFill>
          <a:ln>
            <a:noFill/>
          </a:ln>
        </p:spPr>
        <p:txBody>
          <a:bodyPr rtlCol="0" anchor="ctr"/>
          <a:lstStyle/>
          <a:p>
            <a:pPr algn="ctr"/>
            <a:endParaRPr/>
          </a:p>
        </p:txBody>
      </p:sp>
      <p:sp>
        <p:nvSpPr>
          <p:cNvPr id="49" name="Oval 48"/>
          <p:cNvSpPr/>
          <p:nvPr/>
        </p:nvSpPr>
        <p:spPr>
          <a:xfrm>
            <a:off x="4800600" y="3776472"/>
            <a:ext cx="82296" cy="82296"/>
          </a:xfrm>
          <a:prstGeom prst="ellipse">
            <a:avLst/>
          </a:prstGeom>
          <a:solidFill>
            <a:srgbClr val="B68757"/>
          </a:solidFill>
          <a:ln>
            <a:noFill/>
          </a:ln>
        </p:spPr>
        <p:txBody>
          <a:bodyPr rtlCol="0" anchor="ctr"/>
          <a:lstStyle/>
          <a:p>
            <a:pPr algn="ctr"/>
            <a:endParaRPr/>
          </a:p>
        </p:txBody>
      </p:sp>
      <p:sp>
        <p:nvSpPr>
          <p:cNvPr id="50" name="Oval 49"/>
          <p:cNvSpPr/>
          <p:nvPr/>
        </p:nvSpPr>
        <p:spPr>
          <a:xfrm>
            <a:off x="4919472" y="3776472"/>
            <a:ext cx="82296" cy="82296"/>
          </a:xfrm>
          <a:prstGeom prst="ellipse">
            <a:avLst/>
          </a:prstGeom>
          <a:solidFill>
            <a:srgbClr val="B68757"/>
          </a:solidFill>
          <a:ln>
            <a:noFill/>
          </a:ln>
        </p:spPr>
        <p:txBody>
          <a:bodyPr rtlCol="0" anchor="ctr"/>
          <a:lstStyle/>
          <a:p>
            <a:pPr algn="ctr"/>
            <a:endParaRPr/>
          </a:p>
        </p:txBody>
      </p:sp>
      <p:sp>
        <p:nvSpPr>
          <p:cNvPr id="51" name="Oval 50"/>
          <p:cNvSpPr/>
          <p:nvPr/>
        </p:nvSpPr>
        <p:spPr>
          <a:xfrm>
            <a:off x="5038344" y="3776472"/>
            <a:ext cx="82296" cy="82296"/>
          </a:xfrm>
          <a:prstGeom prst="ellipse">
            <a:avLst/>
          </a:prstGeom>
          <a:noFill/>
          <a:ln w="9525">
            <a:solidFill>
              <a:srgbClr val="C3BDB6"/>
            </a:solidFill>
          </a:ln>
        </p:spPr>
        <p:txBody>
          <a:bodyPr rtlCol="0" anchor="ctr"/>
          <a:lstStyle/>
          <a:p>
            <a:pPr algn="ctr"/>
            <a:endParaRPr/>
          </a:p>
        </p:txBody>
      </p:sp>
      <p:sp>
        <p:nvSpPr>
          <p:cNvPr id="52" name="TextBox 51"/>
          <p:cNvSpPr txBox="1"/>
          <p:nvPr/>
        </p:nvSpPr>
        <p:spPr>
          <a:xfrm>
            <a:off x="5897880" y="3584448"/>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Foodservice distribution companies trade at a median 13.6x EBITDA, level with a year ago, and Sysco agreed to pay 14.6x operating income for Jetro Restaurant Depot. Operators are spending carefully, with the share of manufacturers’ agents reporting more quoting down to 33%, and a 314-unit Wendy’s franchisee in Chapter 11 shows where credit risk sits.</a:t>
            </a:r>
            <a:endParaRPr lang="en-US" sz="760" dirty="0"/>
          </a:p>
        </p:txBody>
      </p:sp>
      <p:sp>
        <p:nvSpPr>
          <p:cNvPr id="53" name="Rectangle 52"/>
          <p:cNvSpPr/>
          <p:nvPr/>
        </p:nvSpPr>
        <p:spPr>
          <a:xfrm>
            <a:off x="3337560" y="4462272"/>
            <a:ext cx="6300216" cy="9144"/>
          </a:xfrm>
          <a:prstGeom prst="rect">
            <a:avLst/>
          </a:prstGeom>
          <a:solidFill>
            <a:srgbClr val="E3DCD3"/>
          </a:solidFill>
          <a:ln>
            <a:noFill/>
          </a:ln>
        </p:spPr>
        <p:txBody>
          <a:bodyPr rtlCol="0" anchor="ctr"/>
          <a:lstStyle/>
          <a:p>
            <a:pPr algn="ctr"/>
            <a:endParaRPr/>
          </a:p>
        </p:txBody>
      </p:sp>
      <p:sp>
        <p:nvSpPr>
          <p:cNvPr id="54" name="TextBox 53"/>
          <p:cNvSpPr txBox="1"/>
          <p:nvPr/>
        </p:nvSpPr>
        <p:spPr>
          <a:xfrm>
            <a:off x="3337560" y="4535424"/>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CONSUMER SERVICES &amp; RETAIL</a:t>
            </a:r>
            <a:endParaRPr lang="en-US" sz="760" dirty="0"/>
          </a:p>
        </p:txBody>
      </p:sp>
      <p:sp>
        <p:nvSpPr>
          <p:cNvPr id="55" name="TextBox 54"/>
          <p:cNvSpPr txBox="1"/>
          <p:nvPr/>
        </p:nvSpPr>
        <p:spPr>
          <a:xfrm>
            <a:off x="4681728" y="4535424"/>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STRONG</a:t>
            </a:r>
            <a:endParaRPr lang="en-US" sz="760" dirty="0"/>
          </a:p>
        </p:txBody>
      </p:sp>
      <p:sp>
        <p:nvSpPr>
          <p:cNvPr id="56" name="Oval 55"/>
          <p:cNvSpPr/>
          <p:nvPr/>
        </p:nvSpPr>
        <p:spPr>
          <a:xfrm>
            <a:off x="4681728" y="4727448"/>
            <a:ext cx="82296" cy="82296"/>
          </a:xfrm>
          <a:prstGeom prst="ellipse">
            <a:avLst/>
          </a:prstGeom>
          <a:solidFill>
            <a:srgbClr val="B68757"/>
          </a:solidFill>
          <a:ln>
            <a:noFill/>
          </a:ln>
        </p:spPr>
        <p:txBody>
          <a:bodyPr rtlCol="0" anchor="ctr"/>
          <a:lstStyle/>
          <a:p>
            <a:pPr algn="ctr"/>
            <a:endParaRPr/>
          </a:p>
        </p:txBody>
      </p:sp>
      <p:sp>
        <p:nvSpPr>
          <p:cNvPr id="57" name="Oval 56"/>
          <p:cNvSpPr/>
          <p:nvPr/>
        </p:nvSpPr>
        <p:spPr>
          <a:xfrm>
            <a:off x="4800600" y="4727448"/>
            <a:ext cx="82296" cy="82296"/>
          </a:xfrm>
          <a:prstGeom prst="ellipse">
            <a:avLst/>
          </a:prstGeom>
          <a:solidFill>
            <a:srgbClr val="B68757"/>
          </a:solidFill>
          <a:ln>
            <a:noFill/>
          </a:ln>
        </p:spPr>
        <p:txBody>
          <a:bodyPr rtlCol="0" anchor="ctr"/>
          <a:lstStyle/>
          <a:p>
            <a:pPr algn="ctr"/>
            <a:endParaRPr/>
          </a:p>
        </p:txBody>
      </p:sp>
      <p:sp>
        <p:nvSpPr>
          <p:cNvPr id="58" name="Oval 57"/>
          <p:cNvSpPr/>
          <p:nvPr/>
        </p:nvSpPr>
        <p:spPr>
          <a:xfrm>
            <a:off x="4919472" y="4727448"/>
            <a:ext cx="82296" cy="82296"/>
          </a:xfrm>
          <a:prstGeom prst="ellipse">
            <a:avLst/>
          </a:prstGeom>
          <a:solidFill>
            <a:srgbClr val="B68757"/>
          </a:solidFill>
          <a:ln>
            <a:noFill/>
          </a:ln>
        </p:spPr>
        <p:txBody>
          <a:bodyPr rtlCol="0" anchor="ctr"/>
          <a:lstStyle/>
          <a:p>
            <a:pPr algn="ctr"/>
            <a:endParaRPr/>
          </a:p>
        </p:txBody>
      </p:sp>
      <p:sp>
        <p:nvSpPr>
          <p:cNvPr id="59" name="Oval 58"/>
          <p:cNvSpPr/>
          <p:nvPr/>
        </p:nvSpPr>
        <p:spPr>
          <a:xfrm>
            <a:off x="5038344" y="4727448"/>
            <a:ext cx="82296" cy="82296"/>
          </a:xfrm>
          <a:prstGeom prst="ellipse">
            <a:avLst/>
          </a:prstGeom>
          <a:solidFill>
            <a:srgbClr val="B68757"/>
          </a:solidFill>
          <a:ln>
            <a:noFill/>
          </a:ln>
        </p:spPr>
        <p:txBody>
          <a:bodyPr rtlCol="0" anchor="ctr"/>
          <a:lstStyle/>
          <a:p>
            <a:pPr algn="ctr"/>
            <a:endParaRPr/>
          </a:p>
        </p:txBody>
      </p:sp>
      <p:sp>
        <p:nvSpPr>
          <p:cNvPr id="60" name="TextBox 59"/>
          <p:cNvSpPr txBox="1"/>
          <p:nvPr/>
        </p:nvSpPr>
        <p:spPr>
          <a:xfrm>
            <a:off x="5897880" y="4535424"/>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Sponsors and public acquirers keep paying for scale and recurring customers: Leonard Green paid $3.1 billion for Mister Car Wash, Oak Hill agreed to buy Guild Garage Group at a reported 16x EBITDA, and Rollins allocated about 89% of its Romex price to customer contracts and goodwill. Consumer services shares are down 33.3% in a year and the median multiple is 11.9x against 18.2x a year ago.</a:t>
            </a:r>
            <a:endParaRPr lang="en-US" sz="760" dirty="0"/>
          </a:p>
        </p:txBody>
      </p:sp>
      <p:sp>
        <p:nvSpPr>
          <p:cNvPr id="61" name="Rectangle 60"/>
          <p:cNvSpPr/>
          <p:nvPr/>
        </p:nvSpPr>
        <p:spPr>
          <a:xfrm>
            <a:off x="3337560" y="5413248"/>
            <a:ext cx="6300216" cy="9144"/>
          </a:xfrm>
          <a:prstGeom prst="rect">
            <a:avLst/>
          </a:prstGeom>
          <a:solidFill>
            <a:srgbClr val="E3DCD3"/>
          </a:solidFill>
          <a:ln>
            <a:noFill/>
          </a:ln>
        </p:spPr>
        <p:txBody>
          <a:bodyPr rtlCol="0" anchor="ctr"/>
          <a:lstStyle/>
          <a:p>
            <a:pPr algn="ctr"/>
            <a:endParaRPr/>
          </a:p>
        </p:txBody>
      </p:sp>
      <p:sp>
        <p:nvSpPr>
          <p:cNvPr id="62" name="Rectangle 61"/>
          <p:cNvSpPr/>
          <p:nvPr/>
        </p:nvSpPr>
        <p:spPr>
          <a:xfrm>
            <a:off x="420624" y="5577840"/>
            <a:ext cx="9217152" cy="1353312"/>
          </a:xfrm>
          <a:prstGeom prst="rect">
            <a:avLst/>
          </a:prstGeom>
          <a:solidFill>
            <a:srgbClr val="1B1A1A"/>
          </a:solidFill>
          <a:ln>
            <a:noFill/>
          </a:ln>
        </p:spPr>
        <p:txBody>
          <a:bodyPr rtlCol="0" anchor="ctr"/>
          <a:lstStyle/>
          <a:p>
            <a:pPr algn="ctr"/>
            <a:endParaRPr/>
          </a:p>
        </p:txBody>
      </p:sp>
      <p:sp>
        <p:nvSpPr>
          <p:cNvPr id="63" name="Rectangle 62"/>
          <p:cNvSpPr/>
          <p:nvPr/>
        </p:nvSpPr>
        <p:spPr>
          <a:xfrm>
            <a:off x="420624" y="5577840"/>
            <a:ext cx="9217152" cy="27432"/>
          </a:xfrm>
          <a:prstGeom prst="rect">
            <a:avLst/>
          </a:prstGeom>
          <a:solidFill>
            <a:srgbClr val="B68757"/>
          </a:solidFill>
          <a:ln>
            <a:noFill/>
          </a:ln>
        </p:spPr>
        <p:txBody>
          <a:bodyPr rtlCol="0" anchor="ctr"/>
          <a:lstStyle/>
          <a:p>
            <a:pPr algn="ctr"/>
            <a:endParaRPr/>
          </a:p>
        </p:txBody>
      </p:sp>
      <p:sp>
        <p:nvSpPr>
          <p:cNvPr id="64" name="TextBox 63"/>
          <p:cNvSpPr txBox="1"/>
          <p:nvPr/>
        </p:nvSpPr>
        <p:spPr>
          <a:xfrm>
            <a:off x="630936" y="5806440"/>
            <a:ext cx="1371600" cy="365760"/>
          </a:xfrm>
          <a:prstGeom prst="rect">
            <a:avLst/>
          </a:prstGeom>
          <a:noFill/>
        </p:spPr>
        <p:txBody>
          <a:bodyPr wrap="square" lIns="0" tIns="0" rIns="0" bIns="0" rtlCol="0" anchor="t"/>
          <a:lstStyle/>
          <a:p>
            <a:pPr marL="0" indent="0" algn="l">
              <a:lnSpc>
                <a:spcPts val="1012"/>
              </a:lnSpc>
              <a:buNone/>
            </a:pPr>
            <a:r>
              <a:rPr lang="en-US" sz="800" b="1" kern="0" spc="15" dirty="0">
                <a:solidFill>
                  <a:srgbClr val="D3AE84"/>
                </a:solidFill>
                <a:latin typeface="Quicksand" pitchFamily="34" charset="0"/>
              </a:rPr>
              <a:t>OUR ADVICE TO OWNERS</a:t>
            </a:r>
            <a:endParaRPr lang="en-US" sz="800" dirty="0"/>
          </a:p>
        </p:txBody>
      </p:sp>
      <p:sp>
        <p:nvSpPr>
          <p:cNvPr id="65" name="Rectangle 64"/>
          <p:cNvSpPr/>
          <p:nvPr/>
        </p:nvSpPr>
        <p:spPr>
          <a:xfrm>
            <a:off x="2112264" y="5806440"/>
            <a:ext cx="9144" cy="868680"/>
          </a:xfrm>
          <a:prstGeom prst="rect">
            <a:avLst/>
          </a:prstGeom>
          <a:solidFill>
            <a:srgbClr val="FFFFFF"/>
          </a:solidFill>
          <a:ln>
            <a:noFill/>
          </a:ln>
        </p:spPr>
        <p:txBody>
          <a:bodyPr rtlCol="0" anchor="ctr"/>
          <a:lstStyle/>
          <a:p>
            <a:pPr algn="ctr"/>
            <a:endParaRPr/>
          </a:p>
        </p:txBody>
      </p:sp>
      <p:sp>
        <p:nvSpPr>
          <p:cNvPr id="66" name="TextBox 65"/>
          <p:cNvSpPr txBox="1"/>
          <p:nvPr/>
        </p:nvSpPr>
        <p:spPr>
          <a:xfrm>
            <a:off x="224028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1</a:t>
            </a:r>
            <a:endParaRPr lang="en-US" sz="1900" dirty="0"/>
          </a:p>
        </p:txBody>
      </p:sp>
      <p:sp>
        <p:nvSpPr>
          <p:cNvPr id="67" name="TextBox 66"/>
          <p:cNvSpPr txBox="1"/>
          <p:nvPr/>
        </p:nvSpPr>
        <p:spPr>
          <a:xfrm>
            <a:off x="253288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Show price, volume, and customer retention by product or service line, because buyers separate growth that comes from units from growth that comes from price.</a:t>
            </a:r>
            <a:endParaRPr lang="en-US" sz="790" dirty="0"/>
          </a:p>
        </p:txBody>
      </p:sp>
      <p:sp>
        <p:nvSpPr>
          <p:cNvPr id="68" name="Rectangle 67"/>
          <p:cNvSpPr/>
          <p:nvPr/>
        </p:nvSpPr>
        <p:spPr>
          <a:xfrm>
            <a:off x="4581144" y="5806440"/>
            <a:ext cx="9144" cy="868680"/>
          </a:xfrm>
          <a:prstGeom prst="rect">
            <a:avLst/>
          </a:prstGeom>
          <a:solidFill>
            <a:srgbClr val="FFFFFF"/>
          </a:solidFill>
          <a:ln>
            <a:noFill/>
          </a:ln>
        </p:spPr>
        <p:txBody>
          <a:bodyPr rtlCol="0" anchor="ctr"/>
          <a:lstStyle/>
          <a:p>
            <a:pPr algn="ctr"/>
            <a:endParaRPr/>
          </a:p>
        </p:txBody>
      </p:sp>
      <p:sp>
        <p:nvSpPr>
          <p:cNvPr id="69" name="TextBox 68"/>
          <p:cNvSpPr txBox="1"/>
          <p:nvPr/>
        </p:nvSpPr>
        <p:spPr>
          <a:xfrm>
            <a:off x="470916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2</a:t>
            </a:r>
            <a:endParaRPr lang="en-US" sz="1900" dirty="0"/>
          </a:p>
        </p:txBody>
      </p:sp>
      <p:sp>
        <p:nvSpPr>
          <p:cNvPr id="70" name="TextBox 69"/>
          <p:cNvSpPr txBox="1"/>
          <p:nvPr/>
        </p:nvSpPr>
        <p:spPr>
          <a:xfrm>
            <a:off x="500176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Assemble landed cost by period, fuel recovery by contract, and the financing terms of the business before a process, since buyers are rebuilding earnings from those three costs.</a:t>
            </a:r>
            <a:endParaRPr lang="en-US" sz="790" dirty="0"/>
          </a:p>
        </p:txBody>
      </p:sp>
      <p:sp>
        <p:nvSpPr>
          <p:cNvPr id="71" name="Rectangle 70"/>
          <p:cNvSpPr/>
          <p:nvPr/>
        </p:nvSpPr>
        <p:spPr>
          <a:xfrm>
            <a:off x="7050024" y="5806440"/>
            <a:ext cx="9144" cy="868680"/>
          </a:xfrm>
          <a:prstGeom prst="rect">
            <a:avLst/>
          </a:prstGeom>
          <a:solidFill>
            <a:srgbClr val="FFFFFF"/>
          </a:solidFill>
          <a:ln>
            <a:noFill/>
          </a:ln>
        </p:spPr>
        <p:txBody>
          <a:bodyPr rtlCol="0" anchor="ctr"/>
          <a:lstStyle/>
          <a:p>
            <a:pPr algn="ctr"/>
            <a:endParaRPr/>
          </a:p>
        </p:txBody>
      </p:sp>
      <p:sp>
        <p:nvSpPr>
          <p:cNvPr id="72" name="TextBox 71"/>
          <p:cNvSpPr txBox="1"/>
          <p:nvPr/>
        </p:nvSpPr>
        <p:spPr>
          <a:xfrm>
            <a:off x="717804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3</a:t>
            </a:r>
            <a:endParaRPr lang="en-US" sz="1900" dirty="0"/>
          </a:p>
        </p:txBody>
      </p:sp>
      <p:sp>
        <p:nvSpPr>
          <p:cNvPr id="73" name="TextBox 72"/>
          <p:cNvSpPr txBox="1"/>
          <p:nvPr/>
        </p:nvSpPr>
        <p:spPr>
          <a:xfrm>
            <a:off x="747064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Approach operating companies and platforms in adjacent categories alongside sponsors; nine of the 17 named acquirers of our consumer clients were operating companies or platforms.</a:t>
            </a:r>
            <a:endParaRPr lang="en-US" sz="7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drum"/>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Document icon next to the link to the source"/>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Four releases from the quarter that speak to how consumer businesses are valued and sold.</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1852613"/>
            <a:ext cx="19050" cy="495300"/>
          </a:xfrm>
          <a:prstGeom prst="rect">
            <a:avLst/>
          </a:prstGeom>
          <a:solidFill>
            <a:srgbClr val="B68757"/>
          </a:solidFill>
          <a:ln/>
        </p:spPr>
        <p:txBody>
          <a:bodyPr/>
          <a:lstStyle/>
          <a:p>
            <a:endParaRPr lang="en-US"/>
          </a:p>
        </p:txBody>
      </p:sp>
      <p:sp>
        <p:nvSpPr>
          <p:cNvPr id="33" name="Text 32"/>
          <p:cNvSpPr txBox="1"/>
          <p:nvPr/>
        </p:nvSpPr>
        <p:spPr>
          <a:xfrm>
            <a:off x="6381750" y="1845469"/>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214563"/>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816817"/>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71750" y="5987273"/>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71750" y="66579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70510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Multi-story shopping arcade with a glass roof and wooden balconies"/>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1975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seven of the nine peer groups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pic>
        <p:nvPicPr>
          <p:cNvPr id="28"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30"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32"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33"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4"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14</a:t>
            </a:r>
            <a:endParaRPr lang="en-US" sz="825" dirty="0"/>
          </a:p>
        </p:txBody>
      </p:sp>
      <p:sp>
        <p:nvSpPr>
          <p:cNvPr id="35"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36"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15</a:t>
            </a:r>
            <a:endParaRPr lang="en-US" sz="825" dirty="0"/>
          </a:p>
        </p:txBody>
      </p:sp>
      <p:sp>
        <p:nvSpPr>
          <p:cNvPr id="38"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Landscape: select participants</a:t>
            </a:r>
            <a:endParaRPr lang="en-US" sz="975" dirty="0"/>
          </a:p>
        </p:txBody>
      </p:sp>
      <p:sp>
        <p:nvSpPr>
          <p:cNvPr id="39"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40" name="Text 13"/>
          <p:cNvSpPr txBox="1"/>
          <p:nvPr/>
        </p:nvSpPr>
        <p:spPr>
          <a:xfrm>
            <a:off x="609600" y="6181344"/>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16</a:t>
            </a:r>
            <a:endParaRPr lang="en-US" sz="825" dirty="0"/>
          </a:p>
        </p:txBody>
      </p:sp>
      <p:sp>
        <p:nvSpPr>
          <p:cNvPr id="41" name="Text 14"/>
          <p:cNvSpPr txBox="1"/>
          <p:nvPr/>
        </p:nvSpPr>
        <p:spPr>
          <a:xfrm>
            <a:off x="971550" y="6163056"/>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42" name="Shape 12"/>
          <p:cNvSpPr/>
          <p:nvPr/>
        </p:nvSpPr>
        <p:spPr>
          <a:xfrm>
            <a:off x="609600" y="6419088"/>
            <a:ext cx="4476750" cy="9525"/>
          </a:xfrm>
          <a:prstGeom prst="rect">
            <a:avLst/>
          </a:prstGeom>
          <a:solidFill>
            <a:srgbClr val="D3AE84">
              <a:alpha val="28000"/>
            </a:srgbClr>
          </a:solidFill>
          <a:ln/>
        </p:spPr>
        <p:txBody>
          <a:bodyPr/>
          <a:lstStyle/>
          <a:p>
            <a:endParaRPr lang="en-US"/>
          </a:p>
        </p:txBody>
      </p:sp>
      <p:sp>
        <p:nvSpPr>
          <p:cNvPr id="43" name="Text 13"/>
          <p:cNvSpPr txBox="1"/>
          <p:nvPr/>
        </p:nvSpPr>
        <p:spPr>
          <a:xfrm>
            <a:off x="609600" y="6528816"/>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24</a:t>
            </a:r>
            <a:endParaRPr lang="en-US" sz="825" dirty="0"/>
          </a:p>
        </p:txBody>
      </p:sp>
      <p:sp>
        <p:nvSpPr>
          <p:cNvPr id="44" name="Text 14"/>
          <p:cNvSpPr txBox="1"/>
          <p:nvPr/>
        </p:nvSpPr>
        <p:spPr>
          <a:xfrm>
            <a:off x="971550" y="6510528"/>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sp>
        <p:nvSpPr>
          <p:cNvPr id="45" name="Shape 12"/>
          <p:cNvSpPr/>
          <p:nvPr/>
        </p:nvSpPr>
        <p:spPr>
          <a:xfrm>
            <a:off x="609600" y="6766560"/>
            <a:ext cx="4476750" cy="9525"/>
          </a:xfrm>
          <a:prstGeom prst="rect">
            <a:avLst/>
          </a:prstGeom>
          <a:solidFill>
            <a:srgbClr val="D3AE84">
              <a:alpha val="28000"/>
            </a:srgbClr>
          </a:solidFill>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905963"/>
            <a:ext cx="9220200" cy="9525"/>
          </a:xfrm>
          <a:prstGeom prst="rect">
            <a:avLst/>
          </a:prstGeom>
          <a:solidFill>
            <a:srgbClr val="E3DCD3"/>
          </a:solidFill>
          <a:ln/>
        </p:spPr>
        <p:txBody>
          <a:bodyPr/>
          <a:lstStyle/>
          <a:p>
            <a:endParaRPr lang="en-US"/>
          </a:p>
        </p:txBody>
      </p:sp>
      <p:sp>
        <p:nvSpPr>
          <p:cNvPr id="17" name="Shape 16"/>
          <p:cNvSpPr/>
          <p:nvPr/>
        </p:nvSpPr>
        <p:spPr>
          <a:xfrm>
            <a:off x="419100" y="1816096"/>
            <a:ext cx="712143" cy="209550"/>
          </a:xfrm>
          <a:prstGeom prst="rect">
            <a:avLst/>
          </a:prstGeom>
          <a:solidFill>
            <a:srgbClr val="1B1A1A"/>
          </a:solidFill>
          <a:ln/>
        </p:spPr>
        <p:txBody>
          <a:bodyPr/>
          <a:lstStyle/>
          <a:p>
            <a:endParaRPr lang="en-US"/>
          </a:p>
        </p:txBody>
      </p:sp>
      <p:sp>
        <p:nvSpPr>
          <p:cNvPr id="18" name="Text 17"/>
          <p:cNvSpPr txBox="1"/>
          <p:nvPr/>
        </p:nvSpPr>
        <p:spPr>
          <a:xfrm>
            <a:off x="504825" y="1858959"/>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Food &amp; Beverage segment icon"/>
          <p:cNvPicPr>
            <a:picLocks noChangeAspect="1"/>
          </p:cNvPicPr>
          <p:nvPr/>
        </p:nvPicPr>
        <p:blipFill>
          <a:blip r:embed="rId3"/>
          <a:stretch>
            <a:fillRect/>
          </a:stretch>
        </p:blipFill>
        <p:spPr>
          <a:xfrm>
            <a:off x="419100" y="2101846"/>
            <a:ext cx="133350" cy="133350"/>
          </a:xfrm>
          <a:prstGeom prst="rect">
            <a:avLst/>
          </a:prstGeom>
        </p:spPr>
      </p:pic>
      <p:sp>
        <p:nvSpPr>
          <p:cNvPr id="20" name="Text 19"/>
          <p:cNvSpPr txBox="1"/>
          <p:nvPr/>
        </p:nvSpPr>
        <p:spPr>
          <a:xfrm>
            <a:off x="619125" y="2094702"/>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4" name="Text 23"/>
          <p:cNvSpPr txBox="1"/>
          <p:nvPr/>
        </p:nvSpPr>
        <p:spPr>
          <a:xfrm>
            <a:off x="1543050" y="20018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8" name="Text 27"/>
          <p:cNvSpPr txBox="1"/>
          <p:nvPr/>
        </p:nvSpPr>
        <p:spPr>
          <a:xfrm>
            <a:off x="3581400" y="1664208"/>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Wisconsin producer of prepared chicken with about $1.2 billion of net sales in the latest twelve months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732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4250131"/>
            <a:ext cx="9220200" cy="9525"/>
          </a:xfrm>
          <a:prstGeom prst="rect">
            <a:avLst/>
          </a:prstGeom>
          <a:solidFill>
            <a:srgbClr val="E3DCD3"/>
          </a:solidFill>
          <a:ln/>
        </p:spPr>
        <p:txBody>
          <a:bodyPr/>
          <a:lstStyle/>
          <a:p>
            <a:endParaRPr lang="en-US"/>
          </a:p>
        </p:txBody>
      </p:sp>
      <p:sp>
        <p:nvSpPr>
          <p:cNvPr id="33" name="Shape 32"/>
          <p:cNvSpPr/>
          <p:nvPr/>
        </p:nvSpPr>
        <p:spPr>
          <a:xfrm>
            <a:off x="419100" y="3167009"/>
            <a:ext cx="708571" cy="209550"/>
          </a:xfrm>
          <a:prstGeom prst="rect">
            <a:avLst/>
          </a:prstGeom>
          <a:solidFill>
            <a:srgbClr val="1B1A1A"/>
          </a:solidFill>
          <a:ln/>
        </p:spPr>
        <p:txBody>
          <a:bodyPr/>
          <a:lstStyle/>
          <a:p>
            <a:endParaRPr lang="en-US"/>
          </a:p>
        </p:txBody>
      </p:sp>
      <p:sp>
        <p:nvSpPr>
          <p:cNvPr id="34" name="Text 33"/>
          <p:cNvSpPr txBox="1"/>
          <p:nvPr/>
        </p:nvSpPr>
        <p:spPr>
          <a:xfrm>
            <a:off x="504825" y="3209871"/>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Food &amp; Beverage segment icon"/>
          <p:cNvPicPr>
            <a:picLocks noChangeAspect="1"/>
          </p:cNvPicPr>
          <p:nvPr/>
        </p:nvPicPr>
        <p:blipFill>
          <a:blip r:embed="rId3"/>
          <a:stretch>
            <a:fillRect/>
          </a:stretch>
        </p:blipFill>
        <p:spPr>
          <a:xfrm>
            <a:off x="419100" y="3452759"/>
            <a:ext cx="133350" cy="133350"/>
          </a:xfrm>
          <a:prstGeom prst="rect">
            <a:avLst/>
          </a:prstGeom>
        </p:spPr>
      </p:pic>
      <p:sp>
        <p:nvSpPr>
          <p:cNvPr id="36" name="Text 35"/>
          <p:cNvSpPr txBox="1"/>
          <p:nvPr/>
        </p:nvSpPr>
        <p:spPr>
          <a:xfrm>
            <a:off x="619125" y="3445615"/>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40" name="Text 39"/>
          <p:cNvSpPr txBox="1"/>
          <p:nvPr/>
        </p:nvSpPr>
        <p:spPr>
          <a:xfrm>
            <a:off x="1543050" y="335274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4" name="Text 43"/>
          <p:cNvSpPr txBox="1"/>
          <p:nvPr/>
        </p:nvSpPr>
        <p:spPr>
          <a:xfrm>
            <a:off x="3581400" y="3008376"/>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in July to acquire Searay Foods, a British Columbia distributor of frozen specialty seafood, completed the purchase on September 3 and stated the base price as a multiple of 2025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332417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3347984"/>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315986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3347984"/>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adjusted EBITDA on the base price, as stated by HF Foods</a:t>
            </a:r>
            <a:endParaRPr lang="en-US" sz="645" dirty="0"/>
          </a:p>
        </p:txBody>
      </p:sp>
      <p:sp>
        <p:nvSpPr>
          <p:cNvPr id="49" name="Shape 48"/>
          <p:cNvSpPr/>
          <p:nvPr/>
        </p:nvSpPr>
        <p:spPr>
          <a:xfrm>
            <a:off x="419100" y="5594299"/>
            <a:ext cx="9220200" cy="9525"/>
          </a:xfrm>
          <a:prstGeom prst="rect">
            <a:avLst/>
          </a:prstGeom>
          <a:solidFill>
            <a:srgbClr val="E3DCD3"/>
          </a:solidFill>
          <a:ln/>
        </p:spPr>
        <p:txBody>
          <a:bodyPr/>
          <a:lstStyle/>
          <a:p>
            <a:endParaRPr lang="en-US"/>
          </a:p>
        </p:txBody>
      </p:sp>
      <p:sp>
        <p:nvSpPr>
          <p:cNvPr id="50" name="Shape 49"/>
          <p:cNvSpPr/>
          <p:nvPr/>
        </p:nvSpPr>
        <p:spPr>
          <a:xfrm>
            <a:off x="419100" y="4517922"/>
            <a:ext cx="708571" cy="209550"/>
          </a:xfrm>
          <a:prstGeom prst="rect">
            <a:avLst/>
          </a:prstGeom>
          <a:solidFill>
            <a:srgbClr val="1B1A1A"/>
          </a:solidFill>
          <a:ln/>
        </p:spPr>
        <p:txBody>
          <a:bodyPr/>
          <a:lstStyle/>
          <a:p>
            <a:endParaRPr lang="en-US"/>
          </a:p>
        </p:txBody>
      </p:sp>
      <p:sp>
        <p:nvSpPr>
          <p:cNvPr id="51" name="Text 50"/>
          <p:cNvSpPr txBox="1"/>
          <p:nvPr/>
        </p:nvSpPr>
        <p:spPr>
          <a:xfrm>
            <a:off x="504825" y="4560784"/>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Food &amp; Beverage segment icon"/>
          <p:cNvPicPr>
            <a:picLocks noChangeAspect="1"/>
          </p:cNvPicPr>
          <p:nvPr/>
        </p:nvPicPr>
        <p:blipFill>
          <a:blip r:embed="rId3"/>
          <a:stretch>
            <a:fillRect/>
          </a:stretch>
        </p:blipFill>
        <p:spPr>
          <a:xfrm>
            <a:off x="419100" y="4803672"/>
            <a:ext cx="133350" cy="133350"/>
          </a:xfrm>
          <a:prstGeom prst="rect">
            <a:avLst/>
          </a:prstGeom>
        </p:spPr>
      </p:pic>
      <p:sp>
        <p:nvSpPr>
          <p:cNvPr id="53" name="Text 52"/>
          <p:cNvSpPr txBox="1"/>
          <p:nvPr/>
        </p:nvSpPr>
        <p:spPr>
          <a:xfrm>
            <a:off x="619125" y="479652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7" name="Text 56"/>
          <p:cNvSpPr txBox="1"/>
          <p:nvPr/>
        </p:nvSpPr>
        <p:spPr>
          <a:xfrm>
            <a:off x="1543050" y="4703659"/>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1" name="Text 60"/>
          <p:cNvSpPr txBox="1"/>
          <p:nvPr/>
        </p:nvSpPr>
        <p:spPr>
          <a:xfrm>
            <a:off x="3581400" y="4352544"/>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super-premium Thai coconut water sold chilled and frozen, for $175 million at closing plus an earn-out of $45 million to $100 million payable in 2029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46750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469889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4698897"/>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5814066"/>
            <a:ext cx="657523" cy="209550"/>
          </a:xfrm>
          <a:prstGeom prst="rect">
            <a:avLst/>
          </a:prstGeom>
          <a:solidFill>
            <a:srgbClr val="1B1A1A"/>
          </a:solidFill>
          <a:ln/>
        </p:spPr>
        <p:txBody>
          <a:bodyPr/>
          <a:lstStyle/>
          <a:p>
            <a:endParaRPr lang="en-US"/>
          </a:p>
        </p:txBody>
      </p:sp>
      <p:sp>
        <p:nvSpPr>
          <p:cNvPr id="67" name="Text 66"/>
          <p:cNvSpPr txBox="1"/>
          <p:nvPr/>
        </p:nvSpPr>
        <p:spPr>
          <a:xfrm>
            <a:off x="504825" y="5856928"/>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Consumer Brands &amp; Products segment icon"/>
          <p:cNvPicPr>
            <a:picLocks noChangeAspect="1"/>
          </p:cNvPicPr>
          <p:nvPr/>
        </p:nvPicPr>
        <p:blipFill>
          <a:blip r:embed="rId7"/>
          <a:stretch>
            <a:fillRect/>
          </a:stretch>
        </p:blipFill>
        <p:spPr>
          <a:xfrm>
            <a:off x="419100" y="6099816"/>
            <a:ext cx="133350" cy="133350"/>
          </a:xfrm>
          <a:prstGeom prst="rect">
            <a:avLst/>
          </a:prstGeom>
        </p:spPr>
      </p:pic>
      <p:sp>
        <p:nvSpPr>
          <p:cNvPr id="69" name="Text 68"/>
          <p:cNvSpPr txBox="1"/>
          <p:nvPr/>
        </p:nvSpPr>
        <p:spPr>
          <a:xfrm>
            <a:off x="619125" y="6092672"/>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3" name="Text 72"/>
          <p:cNvSpPr txBox="1"/>
          <p:nvPr/>
        </p:nvSpPr>
        <p:spPr>
          <a:xfrm>
            <a:off x="1543050" y="605457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7" name="Text 76"/>
          <p:cNvSpPr txBox="1"/>
          <p:nvPr/>
        </p:nvSpPr>
        <p:spPr>
          <a:xfrm>
            <a:off x="3581400" y="5696712"/>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agreed in January and completed on April 1 the purchase of GOJO Industries, the maker of Purell,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602599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604981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14.</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
        <p:nvSpPr>
          <p:cNvPr id="120" name="Text 111"/>
          <p:cNvSpPr txBox="1"/>
          <p:nvPr/>
        </p:nvSpPr>
        <p:spPr>
          <a:xfrm>
            <a:off x="7548562" y="1975789"/>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p:cNvSpPr txBox="1"/>
          <p:nvPr/>
        </p:nvSpPr>
        <p:spPr>
          <a:xfrm>
            <a:off x="7548562" y="2191738"/>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p:cNvSpPr txBox="1"/>
          <p:nvPr/>
        </p:nvSpPr>
        <p:spPr>
          <a:xfrm>
            <a:off x="8586788" y="192299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p:cNvSpPr txBox="1"/>
          <p:nvPr/>
        </p:nvSpPr>
        <p:spPr>
          <a:xfrm>
            <a:off x="8586788" y="2110234"/>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p:cNvSpPr txBox="1"/>
          <p:nvPr/>
        </p:nvSpPr>
        <p:spPr>
          <a:xfrm>
            <a:off x="8601076" y="5935882"/>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p:cNvSpPr txBox="1"/>
          <p:nvPr/>
        </p:nvSpPr>
        <p:spPr>
          <a:xfrm>
            <a:off x="8601076" y="6170881"/>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
        <p:nvSpPr>
          <p:cNvPr id="135" name="TextBox 134"/>
          <p:cNvSpPr txBox="1"/>
          <p:nvPr/>
        </p:nvSpPr>
        <p:spPr>
          <a:xfrm>
            <a:off x="1545336" y="25146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Hormel paid 10.7x projected 2026 adjusted EBITDA for a prepared chicken producer, against a median of 8.8x for listed packaged food companies.</a:t>
            </a:r>
            <a:endParaRPr lang="en-US" sz="750" dirty="0"/>
          </a:p>
        </p:txBody>
      </p:sp>
      <p:sp>
        <p:nvSpPr>
          <p:cNvPr id="137" name="TextBox 136"/>
          <p:cNvSpPr txBox="1"/>
          <p:nvPr/>
        </p:nvSpPr>
        <p:spPr>
          <a:xfrm>
            <a:off x="1545336" y="3858768"/>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frozen seafood distributor sold at 5.0x adjusted EBITDA, the lowest multiple in this table.</a:t>
            </a:r>
            <a:endParaRPr lang="en-US" sz="750" dirty="0"/>
          </a:p>
        </p:txBody>
      </p:sp>
      <p:sp>
        <p:nvSpPr>
          <p:cNvPr id="139" name="TextBox 138"/>
          <p:cNvSpPr txBox="1"/>
          <p:nvPr/>
        </p:nvSpPr>
        <p:spPr>
          <a:xfrm>
            <a:off x="1545336" y="5202936"/>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Vita Coco tied $45 million to $100 million of the price to an earn-out payable in 2029, so the total depends on results after closing.</a:t>
            </a:r>
            <a:endParaRPr lang="en-US" sz="750" dirty="0"/>
          </a:p>
        </p:txBody>
      </p:sp>
      <p:sp>
        <p:nvSpPr>
          <p:cNvPr id="141" name="TextBox 140"/>
          <p:cNvSpPr txBox="1"/>
          <p:nvPr/>
        </p:nvSpPr>
        <p:spPr>
          <a:xfrm>
            <a:off x="1545336" y="6547104"/>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family-led brand founded in 1946 sold to a strategic at 11.9x adjusted EBITDA, net of anticipated tax benefits.</a:t>
            </a:r>
            <a:endParaRPr lang="en-US" sz="750" dirty="0"/>
          </a:p>
        </p:txBody>
      </p:sp>
      <p:pic>
        <p:nvPicPr>
          <p:cNvPr id="143" name="Logo Brakebush Brothers" descr="Brakebush Brothers logo"/>
          <p:cNvPicPr>
            <a:picLocks noChangeAspect="1"/>
          </p:cNvPicPr>
          <p:nvPr/>
        </p:nvPicPr>
        <p:blipFill>
          <a:blip r:embed="rId10"/>
          <a:stretch>
            <a:fillRect/>
          </a:stretch>
        </p:blipFill>
        <p:spPr>
          <a:xfrm>
            <a:off x="2131550" y="1761459"/>
            <a:ext cx="728000" cy="195000"/>
          </a:xfrm>
          <a:prstGeom prst="rect">
            <a:avLst/>
          </a:prstGeom>
        </p:spPr>
      </p:pic>
      <p:pic>
        <p:nvPicPr>
          <p:cNvPr id="144" name="Logo Hormel Foods" descr="Hormel Foods logo"/>
          <p:cNvPicPr>
            <a:picLocks noChangeAspect="1"/>
          </p:cNvPicPr>
          <p:nvPr/>
        </p:nvPicPr>
        <p:blipFill>
          <a:blip r:embed="rId11"/>
          <a:stretch>
            <a:fillRect/>
          </a:stretch>
        </p:blipFill>
        <p:spPr>
          <a:xfrm>
            <a:off x="2215199" y="2180559"/>
            <a:ext cx="560702" cy="195000"/>
          </a:xfrm>
          <a:prstGeom prst="rect">
            <a:avLst/>
          </a:prstGeom>
        </p:spPr>
      </p:pic>
      <p:pic>
        <p:nvPicPr>
          <p:cNvPr id="145" name="Logo Searay Foods" descr="Searay Foods logo"/>
          <p:cNvPicPr>
            <a:picLocks noChangeAspect="1"/>
          </p:cNvPicPr>
          <p:nvPr/>
        </p:nvPicPr>
        <p:blipFill>
          <a:blip r:embed="rId12"/>
          <a:stretch>
            <a:fillRect/>
          </a:stretch>
        </p:blipFill>
        <p:spPr>
          <a:xfrm>
            <a:off x="2400550" y="3114871"/>
            <a:ext cx="190000" cy="190000"/>
          </a:xfrm>
          <a:prstGeom prst="rect">
            <a:avLst/>
          </a:prstGeom>
        </p:spPr>
      </p:pic>
      <p:pic>
        <p:nvPicPr>
          <p:cNvPr id="146" name="Logo Hf Foods" descr="HF Foods logo"/>
          <p:cNvPicPr>
            <a:picLocks noChangeAspect="1"/>
          </p:cNvPicPr>
          <p:nvPr/>
        </p:nvPicPr>
        <p:blipFill>
          <a:blip r:embed="rId13"/>
          <a:stretch>
            <a:fillRect/>
          </a:stretch>
        </p:blipFill>
        <p:spPr>
          <a:xfrm>
            <a:off x="2067502" y="3531471"/>
            <a:ext cx="856097" cy="195000"/>
          </a:xfrm>
          <a:prstGeom prst="rect">
            <a:avLst/>
          </a:prstGeom>
        </p:spPr>
      </p:pic>
      <p:pic>
        <p:nvPicPr>
          <p:cNvPr id="147" name="Logo Vita Coco" descr="Vita Coco logo"/>
          <p:cNvPicPr>
            <a:picLocks noChangeAspect="1"/>
          </p:cNvPicPr>
          <p:nvPr/>
        </p:nvPicPr>
        <p:blipFill>
          <a:blip r:embed="rId14"/>
          <a:stretch>
            <a:fillRect/>
          </a:stretch>
        </p:blipFill>
        <p:spPr>
          <a:xfrm>
            <a:off x="2406415" y="4884884"/>
            <a:ext cx="178271" cy="190000"/>
          </a:xfrm>
          <a:prstGeom prst="rect">
            <a:avLst/>
          </a:prstGeom>
        </p:spPr>
      </p:pic>
      <p:pic>
        <p:nvPicPr>
          <p:cNvPr id="148" name="Logo Gojo Industries" descr="GOJO Industries logo"/>
          <p:cNvPicPr>
            <a:picLocks noChangeAspect="1"/>
          </p:cNvPicPr>
          <p:nvPr/>
        </p:nvPicPr>
        <p:blipFill>
          <a:blip r:embed="rId15"/>
          <a:stretch>
            <a:fillRect/>
          </a:stretch>
        </p:blipFill>
        <p:spPr>
          <a:xfrm>
            <a:off x="2212942" y="5814197"/>
            <a:ext cx="565217" cy="195000"/>
          </a:xfrm>
          <a:prstGeom prst="rect">
            <a:avLst/>
          </a:prstGeom>
        </p:spPr>
      </p:pic>
      <p:pic>
        <p:nvPicPr>
          <p:cNvPr id="149" name="Logo Clorox" descr="Clorox logo"/>
          <p:cNvPicPr>
            <a:picLocks noChangeAspect="1"/>
          </p:cNvPicPr>
          <p:nvPr/>
        </p:nvPicPr>
        <p:blipFill>
          <a:blip r:embed="rId16"/>
          <a:stretch>
            <a:fillRect/>
          </a:stretch>
        </p:blipFill>
        <p:spPr>
          <a:xfrm>
            <a:off x="1720550" y="6240011"/>
            <a:ext cx="1550000" cy="181571"/>
          </a:xfrm>
          <a:prstGeom prst="rect">
            <a:avLst/>
          </a:prstGeom>
        </p:spPr>
      </p:pic>
      <p:pic>
        <p:nvPicPr>
          <p:cNvPr id="150" name="Logo Copra" descr="Copra logo"/>
          <p:cNvPicPr>
            <a:picLocks noChangeAspect="1"/>
          </p:cNvPicPr>
          <p:nvPr/>
        </p:nvPicPr>
        <p:blipFill>
          <a:blip r:embed="rId17"/>
          <a:stretch/>
        </p:blipFill>
        <p:spPr>
          <a:xfrm>
            <a:off x="2129099" y="4434864"/>
            <a:ext cx="734426" cy="2560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Health, first-aid, and foodservice transactions, from an $18.7 million brand to a $29.1 billion distributor.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14.</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
        <p:nvSpPr>
          <p:cNvPr id="13" name="Shape 8"/>
          <p:cNvSpPr/>
          <p:nvPr/>
        </p:nvSpPr>
        <p:spPr>
          <a:xfrm>
            <a:off x="419100" y="1552575"/>
            <a:ext cx="9220200" cy="19050"/>
          </a:xfrm>
          <a:prstGeom prst="rect">
            <a:avLst/>
          </a:prstGeom>
          <a:solidFill>
            <a:srgbClr val="B68757"/>
          </a:solidFill>
          <a:ln/>
        </p:spPr>
        <p:txBody>
          <a:bodyPr/>
          <a:lstStyle/>
          <a:p>
            <a:endParaRPr lang="en-US"/>
          </a:p>
        </p:txBody>
      </p:sp>
      <p:sp>
        <p:nvSpPr>
          <p:cNvPr id="14"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5"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6"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7"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8"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9"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20" name="Shape 81"/>
          <p:cNvSpPr/>
          <p:nvPr/>
        </p:nvSpPr>
        <p:spPr>
          <a:xfrm>
            <a:off x="419100" y="1788307"/>
            <a:ext cx="676424" cy="209550"/>
          </a:xfrm>
          <a:prstGeom prst="rect">
            <a:avLst/>
          </a:prstGeom>
          <a:solidFill>
            <a:srgbClr val="1B1A1A"/>
          </a:solidFill>
          <a:ln/>
        </p:spPr>
        <p:txBody>
          <a:bodyPr/>
          <a:lstStyle/>
          <a:p>
            <a:endParaRPr lang="en-US"/>
          </a:p>
        </p:txBody>
      </p:sp>
      <p:sp>
        <p:nvSpPr>
          <p:cNvPr id="21" name="Text 82"/>
          <p:cNvSpPr txBox="1"/>
          <p:nvPr/>
        </p:nvSpPr>
        <p:spPr>
          <a:xfrm>
            <a:off x="504825" y="1831169"/>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22" name="Icon" descr="Consumer Brands &amp; Products segment icon"/>
          <p:cNvPicPr>
            <a:picLocks noChangeAspect="1"/>
          </p:cNvPicPr>
          <p:nvPr/>
        </p:nvPicPr>
        <p:blipFill>
          <a:blip r:embed="rId3"/>
          <a:stretch>
            <a:fillRect/>
          </a:stretch>
        </p:blipFill>
        <p:spPr>
          <a:xfrm>
            <a:off x="419100" y="2074057"/>
            <a:ext cx="133350" cy="133350"/>
          </a:xfrm>
          <a:prstGeom prst="rect">
            <a:avLst/>
          </a:prstGeom>
        </p:spPr>
      </p:pic>
      <p:sp>
        <p:nvSpPr>
          <p:cNvPr id="23" name="Text 84"/>
          <p:cNvSpPr txBox="1"/>
          <p:nvPr/>
        </p:nvSpPr>
        <p:spPr>
          <a:xfrm>
            <a:off x="619125" y="2066913"/>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27" name="Text 88"/>
          <p:cNvSpPr txBox="1"/>
          <p:nvPr/>
        </p:nvSpPr>
        <p:spPr>
          <a:xfrm>
            <a:off x="1543050" y="2028813"/>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31" name="Text 92"/>
          <p:cNvSpPr txBox="1"/>
          <p:nvPr/>
        </p:nvSpPr>
        <p:spPr>
          <a:xfrm>
            <a:off x="3581400" y="1664208"/>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Dimetapp, and Anbesol from Foundation Consumer Healthcare, brands with about $200 million of 2025 revenue and $95 million of EBITDA, and stated the price as a multiple of EBITDA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32" name="Text 93"/>
          <p:cNvSpPr txBox="1"/>
          <p:nvPr/>
        </p:nvSpPr>
        <p:spPr>
          <a:xfrm>
            <a:off x="6362700" y="200023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33" name="Text 94"/>
          <p:cNvSpPr txBox="1"/>
          <p:nvPr/>
        </p:nvSpPr>
        <p:spPr>
          <a:xfrm>
            <a:off x="7562850" y="2024051"/>
            <a:ext cx="876300" cy="133350"/>
          </a:xfrm>
          <a:prstGeom prst="rect">
            <a:avLst/>
          </a:prstGeom>
          <a:noFill/>
          <a:ln/>
        </p:spPr>
        <p:txBody>
          <a:bodyPr wrap="none" lIns="0" tIns="0" rIns="0" bIns="0" rtlCol="0" anchor="t"/>
          <a:lstStyle/>
          <a:p>
            <a:pPr marL="0" indent="0" algn="l">
              <a:lnSpc>
                <a:spcPts val="1050"/>
              </a:lnSpc>
              <a:buNone/>
            </a:pPr>
            <a:r>
              <a:rPr lang="en-US" sz="1200" kern="0" spc="15" dirty="0">
                <a:solidFill>
                  <a:srgbClr val="8C6239"/>
                </a:solidFill>
                <a:latin typeface="Quicksand" pitchFamily="34" charset="0"/>
              </a:rPr>
              <a:t>About 5.2x</a:t>
            </a:r>
            <a:endParaRPr lang="en-US" sz="780" dirty="0"/>
          </a:p>
        </p:txBody>
      </p:sp>
      <p:sp>
        <p:nvSpPr>
          <p:cNvPr id="34" name="Text 95"/>
          <p:cNvSpPr txBox="1"/>
          <p:nvPr/>
        </p:nvSpPr>
        <p:spPr>
          <a:xfrm>
            <a:off x="8572500" y="18907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35" name="Text 96"/>
          <p:cNvSpPr txBox="1"/>
          <p:nvPr/>
        </p:nvSpPr>
        <p:spPr>
          <a:xfrm>
            <a:off x="8572500" y="2078819"/>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36" name="Text 94b"/>
          <p:cNvSpPr txBox="1"/>
          <p:nvPr/>
        </p:nvSpPr>
        <p:spPr>
          <a:xfrm>
            <a:off x="7562850" y="2206931"/>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37" name="Shape 80"/>
          <p:cNvSpPr/>
          <p:nvPr/>
        </p:nvSpPr>
        <p:spPr>
          <a:xfrm>
            <a:off x="419100" y="4250131"/>
            <a:ext cx="9220200" cy="9525"/>
          </a:xfrm>
          <a:prstGeom prst="rect">
            <a:avLst/>
          </a:prstGeom>
          <a:solidFill>
            <a:srgbClr val="E3DCD3"/>
          </a:solidFill>
          <a:ln/>
        </p:spPr>
        <p:txBody>
          <a:bodyPr/>
          <a:lstStyle/>
          <a:p>
            <a:endParaRPr lang="en-US"/>
          </a:p>
        </p:txBody>
      </p:sp>
      <p:sp>
        <p:nvSpPr>
          <p:cNvPr id="38" name="Shape 98"/>
          <p:cNvSpPr/>
          <p:nvPr/>
        </p:nvSpPr>
        <p:spPr>
          <a:xfrm>
            <a:off x="419100" y="3139220"/>
            <a:ext cx="657523" cy="209550"/>
          </a:xfrm>
          <a:prstGeom prst="rect">
            <a:avLst/>
          </a:prstGeom>
          <a:solidFill>
            <a:srgbClr val="1B1A1A"/>
          </a:solidFill>
          <a:ln/>
        </p:spPr>
        <p:txBody>
          <a:bodyPr/>
          <a:lstStyle/>
          <a:p>
            <a:endParaRPr lang="en-US"/>
          </a:p>
        </p:txBody>
      </p:sp>
      <p:sp>
        <p:nvSpPr>
          <p:cNvPr id="39" name="Text 99"/>
          <p:cNvSpPr txBox="1"/>
          <p:nvPr/>
        </p:nvSpPr>
        <p:spPr>
          <a:xfrm>
            <a:off x="504825" y="3182082"/>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40" name="Icon" descr="Consumer Brands &amp; Products segment icon"/>
          <p:cNvPicPr>
            <a:picLocks noChangeAspect="1"/>
          </p:cNvPicPr>
          <p:nvPr/>
        </p:nvPicPr>
        <p:blipFill>
          <a:blip r:embed="rId3"/>
          <a:stretch>
            <a:fillRect/>
          </a:stretch>
        </p:blipFill>
        <p:spPr>
          <a:xfrm>
            <a:off x="419100" y="3424970"/>
            <a:ext cx="133350" cy="133350"/>
          </a:xfrm>
          <a:prstGeom prst="rect">
            <a:avLst/>
          </a:prstGeom>
        </p:spPr>
      </p:pic>
      <p:sp>
        <p:nvSpPr>
          <p:cNvPr id="41" name="Text 101"/>
          <p:cNvSpPr txBox="1"/>
          <p:nvPr/>
        </p:nvSpPr>
        <p:spPr>
          <a:xfrm>
            <a:off x="619125" y="3417826"/>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45" name="Text 105"/>
          <p:cNvSpPr txBox="1"/>
          <p:nvPr/>
        </p:nvSpPr>
        <p:spPr>
          <a:xfrm>
            <a:off x="1543050" y="337972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9" name="Text 109"/>
          <p:cNvSpPr txBox="1"/>
          <p:nvPr/>
        </p:nvSpPr>
        <p:spPr>
          <a:xfrm>
            <a:off x="3581400" y="3008376"/>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50" name="Text 110"/>
          <p:cNvSpPr txBox="1"/>
          <p:nvPr/>
        </p:nvSpPr>
        <p:spPr>
          <a:xfrm>
            <a:off x="6362700" y="335115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51" name="Text 111"/>
          <p:cNvSpPr txBox="1"/>
          <p:nvPr/>
        </p:nvSpPr>
        <p:spPr>
          <a:xfrm>
            <a:off x="7562850" y="3241613"/>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52" name="Text 112"/>
          <p:cNvSpPr txBox="1"/>
          <p:nvPr/>
        </p:nvSpPr>
        <p:spPr>
          <a:xfrm>
            <a:off x="7562850" y="3429732"/>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3" name="Text 113"/>
          <p:cNvSpPr txBox="1"/>
          <p:nvPr/>
        </p:nvSpPr>
        <p:spPr>
          <a:xfrm>
            <a:off x="8572500" y="337496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4" name="Shape 15"/>
          <p:cNvSpPr/>
          <p:nvPr/>
        </p:nvSpPr>
        <p:spPr>
          <a:xfrm>
            <a:off x="419100" y="5594299"/>
            <a:ext cx="9220200" cy="9525"/>
          </a:xfrm>
          <a:prstGeom prst="rect">
            <a:avLst/>
          </a:prstGeom>
          <a:solidFill>
            <a:srgbClr val="E3DCD3"/>
          </a:solidFill>
          <a:ln/>
        </p:spPr>
        <p:txBody>
          <a:bodyPr/>
          <a:lstStyle/>
          <a:p>
            <a:endParaRPr lang="en-US"/>
          </a:p>
        </p:txBody>
      </p:sp>
      <p:sp>
        <p:nvSpPr>
          <p:cNvPr id="55" name="Shape 16"/>
          <p:cNvSpPr/>
          <p:nvPr/>
        </p:nvSpPr>
        <p:spPr>
          <a:xfrm>
            <a:off x="419100" y="4504432"/>
            <a:ext cx="676424" cy="209550"/>
          </a:xfrm>
          <a:prstGeom prst="rect">
            <a:avLst/>
          </a:prstGeom>
          <a:solidFill>
            <a:srgbClr val="1B1A1A"/>
          </a:solidFill>
          <a:ln/>
        </p:spPr>
        <p:txBody>
          <a:bodyPr/>
          <a:lstStyle/>
          <a:p>
            <a:endParaRPr lang="en-US"/>
          </a:p>
        </p:txBody>
      </p:sp>
      <p:sp>
        <p:nvSpPr>
          <p:cNvPr id="56" name="Text 17"/>
          <p:cNvSpPr txBox="1"/>
          <p:nvPr/>
        </p:nvSpPr>
        <p:spPr>
          <a:xfrm>
            <a:off x="504825" y="45472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57" name="Icon" descr="Foodservice &amp; Distribution segment icon"/>
          <p:cNvPicPr>
            <a:picLocks noChangeAspect="1"/>
          </p:cNvPicPr>
          <p:nvPr/>
        </p:nvPicPr>
        <p:blipFill>
          <a:blip r:embed="rId6"/>
          <a:stretch>
            <a:fillRect/>
          </a:stretch>
        </p:blipFill>
        <p:spPr>
          <a:xfrm>
            <a:off x="419100" y="4790182"/>
            <a:ext cx="133350" cy="133350"/>
          </a:xfrm>
          <a:prstGeom prst="rect">
            <a:avLst/>
          </a:prstGeom>
        </p:spPr>
      </p:pic>
      <p:sp>
        <p:nvSpPr>
          <p:cNvPr id="58" name="Text 19"/>
          <p:cNvSpPr txBox="1"/>
          <p:nvPr/>
        </p:nvSpPr>
        <p:spPr>
          <a:xfrm>
            <a:off x="619125" y="47830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62" name="Text 23"/>
          <p:cNvSpPr txBox="1"/>
          <p:nvPr/>
        </p:nvSpPr>
        <p:spPr>
          <a:xfrm>
            <a:off x="1543050" y="46901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6" name="Text 27"/>
          <p:cNvSpPr txBox="1"/>
          <p:nvPr/>
        </p:nvSpPr>
        <p:spPr>
          <a:xfrm>
            <a:off x="3581400" y="4352544"/>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while members of Congress have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67" name="Text 28"/>
          <p:cNvSpPr txBox="1"/>
          <p:nvPr/>
        </p:nvSpPr>
        <p:spPr>
          <a:xfrm>
            <a:off x="6362700" y="46068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68" name="Text 29"/>
          <p:cNvSpPr txBox="1"/>
          <p:nvPr/>
        </p:nvSpPr>
        <p:spPr>
          <a:xfrm>
            <a:off x="6362700" y="47949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69" name="Text 30"/>
          <p:cNvSpPr txBox="1"/>
          <p:nvPr/>
        </p:nvSpPr>
        <p:spPr>
          <a:xfrm>
            <a:off x="7562850" y="46854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70" name="Text 31"/>
          <p:cNvSpPr txBox="1"/>
          <p:nvPr/>
        </p:nvSpPr>
        <p:spPr>
          <a:xfrm>
            <a:off x="8572500" y="45520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71" name="Text 32"/>
          <p:cNvSpPr txBox="1"/>
          <p:nvPr/>
        </p:nvSpPr>
        <p:spPr>
          <a:xfrm>
            <a:off x="8572500" y="47401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72" name="Shape 33"/>
          <p:cNvSpPr/>
          <p:nvPr/>
        </p:nvSpPr>
        <p:spPr>
          <a:xfrm>
            <a:off x="419100" y="6938467"/>
            <a:ext cx="9220200" cy="9525"/>
          </a:xfrm>
          <a:prstGeom prst="rect">
            <a:avLst/>
          </a:prstGeom>
          <a:solidFill>
            <a:srgbClr val="E3DCD3"/>
          </a:solidFill>
          <a:ln/>
        </p:spPr>
        <p:txBody>
          <a:bodyPr/>
          <a:lstStyle/>
          <a:p>
            <a:endParaRPr lang="en-US"/>
          </a:p>
        </p:txBody>
      </p:sp>
      <p:sp>
        <p:nvSpPr>
          <p:cNvPr id="73" name="Shape 34"/>
          <p:cNvSpPr/>
          <p:nvPr/>
        </p:nvSpPr>
        <p:spPr>
          <a:xfrm>
            <a:off x="419100" y="5855345"/>
            <a:ext cx="676424" cy="209550"/>
          </a:xfrm>
          <a:prstGeom prst="rect">
            <a:avLst/>
          </a:prstGeom>
          <a:solidFill>
            <a:srgbClr val="1B1A1A"/>
          </a:solidFill>
          <a:ln/>
        </p:spPr>
        <p:txBody>
          <a:bodyPr/>
          <a:lstStyle/>
          <a:p>
            <a:endParaRPr lang="en-US"/>
          </a:p>
        </p:txBody>
      </p:sp>
      <p:sp>
        <p:nvSpPr>
          <p:cNvPr id="74" name="Text 35"/>
          <p:cNvSpPr txBox="1"/>
          <p:nvPr/>
        </p:nvSpPr>
        <p:spPr>
          <a:xfrm>
            <a:off x="504825" y="58982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75" name="Icon" descr="Foodservice &amp; Distribution segment icon"/>
          <p:cNvPicPr>
            <a:picLocks noChangeAspect="1"/>
          </p:cNvPicPr>
          <p:nvPr/>
        </p:nvPicPr>
        <p:blipFill>
          <a:blip r:embed="rId6"/>
          <a:stretch>
            <a:fillRect/>
          </a:stretch>
        </p:blipFill>
        <p:spPr>
          <a:xfrm>
            <a:off x="419100" y="6141095"/>
            <a:ext cx="133350" cy="133350"/>
          </a:xfrm>
          <a:prstGeom prst="rect">
            <a:avLst/>
          </a:prstGeom>
        </p:spPr>
      </p:pic>
      <p:sp>
        <p:nvSpPr>
          <p:cNvPr id="76" name="Text 37"/>
          <p:cNvSpPr txBox="1"/>
          <p:nvPr/>
        </p:nvSpPr>
        <p:spPr>
          <a:xfrm>
            <a:off x="619125" y="61339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80" name="Text 41"/>
          <p:cNvSpPr txBox="1"/>
          <p:nvPr/>
        </p:nvSpPr>
        <p:spPr>
          <a:xfrm>
            <a:off x="1543050" y="60196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84" name="Text 45"/>
          <p:cNvSpPr txBox="1"/>
          <p:nvPr/>
        </p:nvSpPr>
        <p:spPr>
          <a:xfrm>
            <a:off x="2166342" y="63220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85" name="Text 46"/>
          <p:cNvSpPr txBox="1"/>
          <p:nvPr/>
        </p:nvSpPr>
        <p:spPr>
          <a:xfrm>
            <a:off x="3581400" y="5696712"/>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86" name="Text 47"/>
          <p:cNvSpPr txBox="1"/>
          <p:nvPr/>
        </p:nvSpPr>
        <p:spPr>
          <a:xfrm>
            <a:off x="6362700" y="59577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87" name="Text 48"/>
          <p:cNvSpPr txBox="1"/>
          <p:nvPr/>
        </p:nvSpPr>
        <p:spPr>
          <a:xfrm>
            <a:off x="6362700" y="61458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8" name="Text 49"/>
          <p:cNvSpPr txBox="1"/>
          <p:nvPr/>
        </p:nvSpPr>
        <p:spPr>
          <a:xfrm>
            <a:off x="7562850" y="59029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89" name="Text 50"/>
          <p:cNvSpPr txBox="1"/>
          <p:nvPr/>
        </p:nvSpPr>
        <p:spPr>
          <a:xfrm>
            <a:off x="7562850" y="60910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90" name="Text 51"/>
          <p:cNvSpPr txBox="1"/>
          <p:nvPr/>
        </p:nvSpPr>
        <p:spPr>
          <a:xfrm>
            <a:off x="8572500" y="60363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1" name="TextBox 90"/>
          <p:cNvSpPr txBox="1"/>
          <p:nvPr/>
        </p:nvSpPr>
        <p:spPr>
          <a:xfrm>
            <a:off x="1545336" y="25146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Brands with $95 million of EBITDA on about $200 million of revenue sold at 5.2x revenue and 11.0x EBITDA, a margin of 47.5%.</a:t>
            </a:r>
            <a:endParaRPr lang="en-US" sz="750" dirty="0"/>
          </a:p>
        </p:txBody>
      </p:sp>
      <p:sp>
        <p:nvSpPr>
          <p:cNvPr id="92" name="TextBox 91"/>
          <p:cNvSpPr txBox="1"/>
          <p:nvPr/>
        </p:nvSpPr>
        <p:spPr>
          <a:xfrm>
            <a:off x="1545336" y="3858768"/>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first-aid brand sold almost entirely direct to consumers changed hands at about 1.0x revenue.</a:t>
            </a:r>
            <a:endParaRPr lang="en-US" sz="750" dirty="0"/>
          </a:p>
        </p:txBody>
      </p:sp>
      <p:sp>
        <p:nvSpPr>
          <p:cNvPr id="94" name="TextBox 93"/>
          <p:cNvSpPr txBox="1"/>
          <p:nvPr/>
        </p:nvSpPr>
        <p:spPr>
          <a:xfrm>
            <a:off x="1545336" y="5202936"/>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At $29.1 billion this is the largest transaction in the table, and members of Congress have asked the FTC to review it.</a:t>
            </a:r>
            <a:endParaRPr lang="en-US" sz="750" dirty="0"/>
          </a:p>
        </p:txBody>
      </p:sp>
      <p:sp>
        <p:nvSpPr>
          <p:cNvPr id="96" name="TextBox 95"/>
          <p:cNvSpPr txBox="1"/>
          <p:nvPr/>
        </p:nvSpPr>
        <p:spPr>
          <a:xfrm>
            <a:off x="1545336" y="6547104"/>
            <a:ext cx="4700016" cy="135255"/>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carve-out from a public parent sold at about 2.0x revenue.</a:t>
            </a:r>
            <a:endParaRPr lang="en-US" sz="750" dirty="0"/>
          </a:p>
        </p:txBody>
      </p:sp>
      <p:pic>
        <p:nvPicPr>
          <p:cNvPr id="97" name="Logo Breathe Right, Dimetapp And Anbesol" descr="Breathe Right, Dimetapp and Anbesol logo"/>
          <p:cNvPicPr>
            <a:picLocks noChangeAspect="1"/>
          </p:cNvPicPr>
          <p:nvPr/>
        </p:nvPicPr>
        <p:blipFill>
          <a:blip r:embed="rId10"/>
          <a:stretch>
            <a:fillRect/>
          </a:stretch>
        </p:blipFill>
        <p:spPr>
          <a:xfrm>
            <a:off x="2400550" y="1762363"/>
            <a:ext cx="190000" cy="190000"/>
          </a:xfrm>
          <a:prstGeom prst="rect">
            <a:avLst/>
          </a:prstGeom>
        </p:spPr>
      </p:pic>
      <p:pic>
        <p:nvPicPr>
          <p:cNvPr id="98" name="Logo Prestige Consumer Healthcare" descr="Prestige Consumer Healthcare logo"/>
          <p:cNvPicPr>
            <a:picLocks noChangeAspect="1"/>
          </p:cNvPicPr>
          <p:nvPr/>
        </p:nvPicPr>
        <p:blipFill>
          <a:blip r:embed="rId11"/>
          <a:stretch>
            <a:fillRect/>
          </a:stretch>
        </p:blipFill>
        <p:spPr>
          <a:xfrm>
            <a:off x="2163091" y="2236113"/>
            <a:ext cx="664918" cy="195000"/>
          </a:xfrm>
          <a:prstGeom prst="rect">
            <a:avLst/>
          </a:prstGeom>
        </p:spPr>
      </p:pic>
      <p:pic>
        <p:nvPicPr>
          <p:cNvPr id="99" name="Logo My Medic" descr="My Medic logo"/>
          <p:cNvPicPr>
            <a:picLocks noChangeAspect="1"/>
          </p:cNvPicPr>
          <p:nvPr/>
        </p:nvPicPr>
        <p:blipFill>
          <a:blip r:embed="rId12"/>
          <a:stretch>
            <a:fillRect/>
          </a:stretch>
        </p:blipFill>
        <p:spPr>
          <a:xfrm>
            <a:off x="1882187" y="3139351"/>
            <a:ext cx="1226727" cy="195000"/>
          </a:xfrm>
          <a:prstGeom prst="rect">
            <a:avLst/>
          </a:prstGeom>
        </p:spPr>
      </p:pic>
      <p:pic>
        <p:nvPicPr>
          <p:cNvPr id="100" name="Logo Acme United" descr="Acme United logo"/>
          <p:cNvPicPr>
            <a:picLocks noChangeAspect="1"/>
          </p:cNvPicPr>
          <p:nvPr/>
        </p:nvPicPr>
        <p:blipFill>
          <a:blip r:embed="rId13"/>
          <a:stretch>
            <a:fillRect/>
          </a:stretch>
        </p:blipFill>
        <p:spPr>
          <a:xfrm>
            <a:off x="2396147" y="3560951"/>
            <a:ext cx="198807" cy="190000"/>
          </a:xfrm>
          <a:prstGeom prst="rect">
            <a:avLst/>
          </a:prstGeom>
        </p:spPr>
      </p:pic>
      <p:pic>
        <p:nvPicPr>
          <p:cNvPr id="101" name="Logo Jetro Restaurant Depot" descr="Jetro Restaurant Depot logo"/>
          <p:cNvPicPr>
            <a:picLocks noChangeAspect="1"/>
          </p:cNvPicPr>
          <p:nvPr/>
        </p:nvPicPr>
        <p:blipFill>
          <a:blip r:embed="rId14"/>
          <a:stretch>
            <a:fillRect/>
          </a:stretch>
        </p:blipFill>
        <p:spPr>
          <a:xfrm>
            <a:off x="2219765" y="4449795"/>
            <a:ext cx="551571" cy="195000"/>
          </a:xfrm>
          <a:prstGeom prst="rect">
            <a:avLst/>
          </a:prstGeom>
        </p:spPr>
      </p:pic>
      <p:pic>
        <p:nvPicPr>
          <p:cNvPr id="102" name="Logo Sysco" descr="Sysco logo"/>
          <p:cNvPicPr>
            <a:picLocks noChangeAspect="1"/>
          </p:cNvPicPr>
          <p:nvPr/>
        </p:nvPicPr>
        <p:blipFill>
          <a:blip r:embed="rId15"/>
          <a:stretch>
            <a:fillRect/>
          </a:stretch>
        </p:blipFill>
        <p:spPr>
          <a:xfrm>
            <a:off x="2243637" y="4868895"/>
            <a:ext cx="503827" cy="195000"/>
          </a:xfrm>
          <a:prstGeom prst="rect">
            <a:avLst/>
          </a:prstGeom>
        </p:spPr>
      </p:pic>
      <p:pic>
        <p:nvPicPr>
          <p:cNvPr id="103" name="Logo Federal Industries" descr="Federal Industries logo"/>
          <p:cNvPicPr>
            <a:picLocks noChangeAspect="1"/>
          </p:cNvPicPr>
          <p:nvPr/>
        </p:nvPicPr>
        <p:blipFill>
          <a:blip r:embed="rId16"/>
          <a:stretch>
            <a:fillRect/>
          </a:stretch>
        </p:blipFill>
        <p:spPr>
          <a:xfrm>
            <a:off x="2255234" y="5779276"/>
            <a:ext cx="480633" cy="195000"/>
          </a:xfrm>
          <a:prstGeom prst="rect">
            <a:avLst/>
          </a:prstGeom>
        </p:spPr>
      </p:pic>
      <p:pic>
        <p:nvPicPr>
          <p:cNvPr id="104" name="Logo Aeritek" descr="AeriTek logo"/>
          <p:cNvPicPr>
            <a:picLocks noChangeAspect="1"/>
          </p:cNvPicPr>
          <p:nvPr/>
        </p:nvPicPr>
        <p:blipFill>
          <a:blip r:embed="rId17"/>
          <a:stretch>
            <a:fillRect/>
          </a:stretch>
        </p:blipFill>
        <p:spPr>
          <a:xfrm>
            <a:off x="2228782" y="6183001"/>
            <a:ext cx="533536" cy="125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53" name="Shape 52"/>
          <p:cNvSpPr/>
          <p:nvPr/>
        </p:nvSpPr>
        <p:spPr>
          <a:xfrm>
            <a:off x="419100" y="2905963"/>
            <a:ext cx="9220200" cy="9525"/>
          </a:xfrm>
          <a:prstGeom prst="rect">
            <a:avLst/>
          </a:prstGeom>
          <a:solidFill>
            <a:srgbClr val="E3DCD3"/>
          </a:solidFill>
          <a:ln/>
        </p:spPr>
        <p:txBody>
          <a:bodyPr/>
          <a:lstStyle/>
          <a:p>
            <a:endParaRPr lang="en-US"/>
          </a:p>
        </p:txBody>
      </p:sp>
      <p:sp>
        <p:nvSpPr>
          <p:cNvPr id="54" name="Shape 53"/>
          <p:cNvSpPr/>
          <p:nvPr/>
        </p:nvSpPr>
        <p:spPr>
          <a:xfrm>
            <a:off x="419100" y="1829586"/>
            <a:ext cx="658862" cy="209550"/>
          </a:xfrm>
          <a:prstGeom prst="rect">
            <a:avLst/>
          </a:prstGeom>
          <a:solidFill>
            <a:srgbClr val="1B1A1A"/>
          </a:solidFill>
          <a:ln/>
        </p:spPr>
        <p:txBody>
          <a:bodyPr/>
          <a:lstStyle/>
          <a:p>
            <a:endParaRPr lang="en-US"/>
          </a:p>
        </p:txBody>
      </p:sp>
      <p:sp>
        <p:nvSpPr>
          <p:cNvPr id="55" name="Text 54"/>
          <p:cNvSpPr txBox="1"/>
          <p:nvPr/>
        </p:nvSpPr>
        <p:spPr>
          <a:xfrm>
            <a:off x="504825" y="1872448"/>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Foodservice &amp; Distribution segment icon"/>
          <p:cNvPicPr>
            <a:picLocks noChangeAspect="1"/>
          </p:cNvPicPr>
          <p:nvPr/>
        </p:nvPicPr>
        <p:blipFill>
          <a:blip r:embed="rId3"/>
          <a:stretch>
            <a:fillRect/>
          </a:stretch>
        </p:blipFill>
        <p:spPr>
          <a:xfrm>
            <a:off x="419100" y="2115336"/>
            <a:ext cx="133350" cy="133350"/>
          </a:xfrm>
          <a:prstGeom prst="rect">
            <a:avLst/>
          </a:prstGeom>
        </p:spPr>
      </p:pic>
      <p:sp>
        <p:nvSpPr>
          <p:cNvPr id="57" name="Text 56"/>
          <p:cNvSpPr txBox="1"/>
          <p:nvPr/>
        </p:nvSpPr>
        <p:spPr>
          <a:xfrm>
            <a:off x="619125" y="2108192"/>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61" name="Text 60"/>
          <p:cNvSpPr txBox="1"/>
          <p:nvPr/>
        </p:nvSpPr>
        <p:spPr>
          <a:xfrm>
            <a:off x="1543050" y="2015323"/>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5" name="Text 64"/>
          <p:cNvSpPr txBox="1"/>
          <p:nvPr/>
        </p:nvSpPr>
        <p:spPr>
          <a:xfrm>
            <a:off x="3581400" y="1664208"/>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201056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2010561"/>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201056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3125730"/>
            <a:ext cx="647551" cy="209550"/>
          </a:xfrm>
          <a:prstGeom prst="rect">
            <a:avLst/>
          </a:prstGeom>
          <a:solidFill>
            <a:srgbClr val="1B1A1A"/>
          </a:solidFill>
          <a:ln/>
        </p:spPr>
        <p:txBody>
          <a:bodyPr/>
          <a:lstStyle/>
          <a:p>
            <a:endParaRPr lang="en-US"/>
          </a:p>
        </p:txBody>
      </p:sp>
      <p:sp>
        <p:nvSpPr>
          <p:cNvPr id="71" name="Text 70"/>
          <p:cNvSpPr txBox="1"/>
          <p:nvPr/>
        </p:nvSpPr>
        <p:spPr>
          <a:xfrm>
            <a:off x="504825" y="3168592"/>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Consumer Services &amp; Retail segment icon"/>
          <p:cNvPicPr>
            <a:picLocks noChangeAspect="1"/>
          </p:cNvPicPr>
          <p:nvPr/>
        </p:nvPicPr>
        <p:blipFill>
          <a:blip r:embed="rId5"/>
          <a:stretch>
            <a:fillRect/>
          </a:stretch>
        </p:blipFill>
        <p:spPr>
          <a:xfrm>
            <a:off x="419100" y="3411480"/>
            <a:ext cx="133350" cy="133350"/>
          </a:xfrm>
          <a:prstGeom prst="rect">
            <a:avLst/>
          </a:prstGeom>
        </p:spPr>
      </p:pic>
      <p:sp>
        <p:nvSpPr>
          <p:cNvPr id="73" name="Text 72"/>
          <p:cNvSpPr txBox="1"/>
          <p:nvPr/>
        </p:nvSpPr>
        <p:spPr>
          <a:xfrm>
            <a:off x="619125" y="3404336"/>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7" name="Text 76"/>
          <p:cNvSpPr txBox="1"/>
          <p:nvPr/>
        </p:nvSpPr>
        <p:spPr>
          <a:xfrm>
            <a:off x="1543050" y="336623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81" name="Text 80"/>
          <p:cNvSpPr txBox="1"/>
          <p:nvPr/>
        </p:nvSpPr>
        <p:spPr>
          <a:xfrm>
            <a:off x="3581400" y="3008376"/>
            <a:ext cx="2662238" cy="86628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3224312"/>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3471011"/>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938467"/>
            <a:ext cx="9220200" cy="9525"/>
          </a:xfrm>
          <a:prstGeom prst="rect">
            <a:avLst/>
          </a:prstGeom>
          <a:solidFill>
            <a:srgbClr val="E3DCD3"/>
          </a:solidFill>
          <a:ln/>
        </p:spPr>
        <p:txBody>
          <a:bodyPr/>
          <a:lstStyle/>
          <a:p>
            <a:endParaRPr lang="en-US"/>
          </a:p>
        </p:txBody>
      </p:sp>
      <p:sp>
        <p:nvSpPr>
          <p:cNvPr id="87" name="Shape 86"/>
          <p:cNvSpPr/>
          <p:nvPr/>
        </p:nvSpPr>
        <p:spPr>
          <a:xfrm>
            <a:off x="419100" y="4476643"/>
            <a:ext cx="676424" cy="209550"/>
          </a:xfrm>
          <a:prstGeom prst="rect">
            <a:avLst/>
          </a:prstGeom>
          <a:solidFill>
            <a:srgbClr val="1B1A1A"/>
          </a:solidFill>
          <a:ln/>
        </p:spPr>
        <p:txBody>
          <a:bodyPr/>
          <a:lstStyle/>
          <a:p>
            <a:endParaRPr lang="en-US"/>
          </a:p>
        </p:txBody>
      </p:sp>
      <p:sp>
        <p:nvSpPr>
          <p:cNvPr id="88" name="Text 87"/>
          <p:cNvSpPr txBox="1"/>
          <p:nvPr/>
        </p:nvSpPr>
        <p:spPr>
          <a:xfrm>
            <a:off x="504825" y="451950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Consumer Services &amp; Retail segment icon"/>
          <p:cNvPicPr>
            <a:picLocks noChangeAspect="1"/>
          </p:cNvPicPr>
          <p:nvPr/>
        </p:nvPicPr>
        <p:blipFill>
          <a:blip r:embed="rId5"/>
          <a:stretch>
            <a:fillRect/>
          </a:stretch>
        </p:blipFill>
        <p:spPr>
          <a:xfrm>
            <a:off x="419100" y="4762393"/>
            <a:ext cx="133350" cy="133350"/>
          </a:xfrm>
          <a:prstGeom prst="rect">
            <a:avLst/>
          </a:prstGeom>
        </p:spPr>
      </p:pic>
      <p:sp>
        <p:nvSpPr>
          <p:cNvPr id="90" name="Text 89"/>
          <p:cNvSpPr txBox="1"/>
          <p:nvPr/>
        </p:nvSpPr>
        <p:spPr>
          <a:xfrm>
            <a:off x="619125" y="4755249"/>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4" name="Text 93"/>
          <p:cNvSpPr txBox="1"/>
          <p:nvPr/>
        </p:nvSpPr>
        <p:spPr>
          <a:xfrm>
            <a:off x="1543050" y="4717149"/>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8" name="Text 97"/>
          <p:cNvSpPr txBox="1"/>
          <p:nvPr/>
        </p:nvSpPr>
        <p:spPr>
          <a:xfrm>
            <a:off x="3581400" y="4352544"/>
            <a:ext cx="2662238" cy="86628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platform assembled since 2024 from nearly 30 garage door companies and reported to generate revenue above $300 million and EBITDA close to $50 million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 at a price PitchBook put at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$800 million and 16 times EBITDA</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463380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4821924"/>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471238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457903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4767155"/>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per PitchBook data</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5827556"/>
            <a:ext cx="658862" cy="209550"/>
          </a:xfrm>
          <a:prstGeom prst="rect">
            <a:avLst/>
          </a:prstGeom>
          <a:solidFill>
            <a:srgbClr val="1B1A1A"/>
          </a:solidFill>
          <a:ln/>
        </p:spPr>
        <p:txBody>
          <a:bodyPr/>
          <a:lstStyle/>
          <a:p>
            <a:endParaRPr lang="en-US"/>
          </a:p>
        </p:txBody>
      </p:sp>
      <p:sp>
        <p:nvSpPr>
          <p:cNvPr id="106" name="Text 105"/>
          <p:cNvSpPr txBox="1"/>
          <p:nvPr/>
        </p:nvSpPr>
        <p:spPr>
          <a:xfrm>
            <a:off x="504825" y="5870418"/>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Consumer Services &amp; Retail segment icon"/>
          <p:cNvPicPr>
            <a:picLocks noChangeAspect="1"/>
          </p:cNvPicPr>
          <p:nvPr/>
        </p:nvPicPr>
        <p:blipFill>
          <a:blip r:embed="rId5"/>
          <a:stretch>
            <a:fillRect/>
          </a:stretch>
        </p:blipFill>
        <p:spPr>
          <a:xfrm>
            <a:off x="419100" y="6113306"/>
            <a:ext cx="133350" cy="133350"/>
          </a:xfrm>
          <a:prstGeom prst="rect">
            <a:avLst/>
          </a:prstGeom>
        </p:spPr>
      </p:pic>
      <p:sp>
        <p:nvSpPr>
          <p:cNvPr id="108" name="Text 107"/>
          <p:cNvSpPr txBox="1"/>
          <p:nvPr/>
        </p:nvSpPr>
        <p:spPr>
          <a:xfrm>
            <a:off x="619125" y="6106162"/>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12" name="Text 111"/>
          <p:cNvSpPr txBox="1"/>
          <p:nvPr/>
        </p:nvSpPr>
        <p:spPr>
          <a:xfrm>
            <a:off x="1543050" y="606806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6" name="Text 115"/>
          <p:cNvSpPr txBox="1"/>
          <p:nvPr/>
        </p:nvSpPr>
        <p:spPr>
          <a:xfrm>
            <a:off x="3581400" y="5696712"/>
            <a:ext cx="2662238" cy="866280"/>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a:t>
            </a:r>
          </a:p>
          <a:p>
            <a:pPr>
              <a:lnSpc>
                <a:spcPts val="1140"/>
              </a:lnSpc>
            </a:pPr>
            <a:endParaRPr lang="en-US" sz="795" dirty="0"/>
          </a:p>
        </p:txBody>
      </p:sp>
      <p:sp>
        <p:nvSpPr>
          <p:cNvPr id="117" name="Text 116"/>
          <p:cNvSpPr txBox="1"/>
          <p:nvPr/>
        </p:nvSpPr>
        <p:spPr>
          <a:xfrm>
            <a:off x="6362700" y="603948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142327"/>
            <a:ext cx="1016502" cy="344835"/>
          </a:xfrm>
          <a:prstGeom prst="rect">
            <a:avLst/>
          </a:prstGeom>
          <a:noFill/>
          <a:ln/>
        </p:spPr>
        <p:txBody>
          <a:bodyPr wrap="square" lIns="0" tIns="0" rIns="0" bIns="0" rtlCol="0" anchor="t"/>
          <a:lstStyle/>
          <a:p>
            <a:pPr marL="0" indent="0" algn="l">
              <a:lnSpc>
                <a:spcPts val="1050"/>
              </a:lnSpc>
              <a:buNone/>
            </a:pPr>
            <a:r>
              <a:rPr lang="en-US" sz="650" kern="0" spc="15" dirty="0">
                <a:solidFill>
                  <a:srgbClr val="6F6A66"/>
                </a:solidFill>
                <a:latin typeface="Quicksand" pitchFamily="34" charset="0"/>
              </a:rPr>
              <a:t>Calculated on 2025 revenue of $35.1M (PCT Top 100)</a:t>
            </a:r>
          </a:p>
        </p:txBody>
      </p:sp>
      <p:sp>
        <p:nvSpPr>
          <p:cNvPr id="119" name="Text 118"/>
          <p:cNvSpPr txBox="1"/>
          <p:nvPr/>
        </p:nvSpPr>
        <p:spPr>
          <a:xfrm>
            <a:off x="8572500" y="6096637"/>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11 to 13.</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
        <p:nvSpPr>
          <p:cNvPr id="125" name="Text 49"/>
          <p:cNvSpPr txBox="1"/>
          <p:nvPr/>
        </p:nvSpPr>
        <p:spPr>
          <a:xfrm>
            <a:off x="7562850" y="3161449"/>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p:cNvSpPr txBox="1"/>
          <p:nvPr/>
        </p:nvSpPr>
        <p:spPr>
          <a:xfrm>
            <a:off x="8617893" y="3170974"/>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9.0x</a:t>
            </a:r>
            <a:endParaRPr lang="en-US" sz="1200" dirty="0"/>
          </a:p>
        </p:txBody>
      </p:sp>
      <p:sp>
        <p:nvSpPr>
          <p:cNvPr id="129" name="Text 50"/>
          <p:cNvSpPr txBox="1"/>
          <p:nvPr/>
        </p:nvSpPr>
        <p:spPr>
          <a:xfrm>
            <a:off x="7548562" y="3468258"/>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1" name="Text 50"/>
          <p:cNvSpPr txBox="1"/>
          <p:nvPr/>
        </p:nvSpPr>
        <p:spPr>
          <a:xfrm>
            <a:off x="8513935" y="3458761"/>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3" name="Text 49"/>
          <p:cNvSpPr txBox="1"/>
          <p:nvPr/>
        </p:nvSpPr>
        <p:spPr>
          <a:xfrm>
            <a:off x="7577138" y="594185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
        <p:nvSpPr>
          <p:cNvPr id="134" name="TextBox 133"/>
          <p:cNvSpPr txBox="1"/>
          <p:nvPr/>
        </p:nvSpPr>
        <p:spPr>
          <a:xfrm>
            <a:off x="1545336" y="2514600"/>
            <a:ext cx="4700016" cy="135255"/>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dealer bought a dealer, and neither the price nor a multiple was disclosed.</a:t>
            </a:r>
            <a:endParaRPr lang="en-US" sz="750" dirty="0"/>
          </a:p>
        </p:txBody>
      </p:sp>
      <p:sp>
        <p:nvSpPr>
          <p:cNvPr id="136" name="TextBox 135"/>
          <p:cNvSpPr txBox="1"/>
          <p:nvPr/>
        </p:nvSpPr>
        <p:spPr>
          <a:xfrm>
            <a:off x="1545336" y="3938664"/>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sponsor paid 9.0x EBITDA and 2.9x revenue for about 550 locations and 2.5 million subscription members.</a:t>
            </a:r>
            <a:endParaRPr lang="en-US" sz="750" dirty="0"/>
          </a:p>
        </p:txBody>
      </p:sp>
      <p:sp>
        <p:nvSpPr>
          <p:cNvPr id="137" name="TextBox 136"/>
          <p:cNvSpPr txBox="1"/>
          <p:nvPr/>
        </p:nvSpPr>
        <p:spPr>
          <a:xfrm>
            <a:off x="1545336" y="5282832"/>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platform assembled from nearly 30 garage door companies since 2024 was priced at 16x EBITDA, against a 7.0x average for middle-market deals.</a:t>
            </a:r>
            <a:endParaRPr lang="en-US" sz="750" dirty="0"/>
          </a:p>
        </p:txBody>
      </p:sp>
      <p:sp>
        <p:nvSpPr>
          <p:cNvPr id="138" name="TextBox 137"/>
          <p:cNvSpPr txBox="1"/>
          <p:nvPr/>
        </p:nvSpPr>
        <p:spPr>
          <a:xfrm>
            <a:off x="1545336" y="66270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Rollins allocated about 89% of the price to customer contracts and goodwill, and the price was 2.7x 2025 revenue.</a:t>
            </a:r>
            <a:endParaRPr lang="en-US" sz="750" dirty="0"/>
          </a:p>
        </p:txBody>
      </p:sp>
      <p:pic>
        <p:nvPicPr>
          <p:cNvPr id="140" name="Logo Mister Car Wash" descr="Mister Car Wash logo"/>
          <p:cNvPicPr>
            <a:picLocks noChangeAspect="1"/>
          </p:cNvPicPr>
          <p:nvPr/>
        </p:nvPicPr>
        <p:blipFill>
          <a:blip r:embed="rId14"/>
          <a:stretch>
            <a:fillRect/>
          </a:stretch>
        </p:blipFill>
        <p:spPr>
          <a:xfrm>
            <a:off x="2203050" y="3125861"/>
            <a:ext cx="585000" cy="195000"/>
          </a:xfrm>
          <a:prstGeom prst="rect">
            <a:avLst/>
          </a:prstGeom>
        </p:spPr>
      </p:pic>
      <p:pic>
        <p:nvPicPr>
          <p:cNvPr id="141" name="Logo Leonard Green &amp; Partners" descr="Leonard Green &amp; Partners logo"/>
          <p:cNvPicPr>
            <a:picLocks noChangeAspect="1"/>
          </p:cNvPicPr>
          <p:nvPr/>
        </p:nvPicPr>
        <p:blipFill>
          <a:blip r:embed="rId15"/>
          <a:stretch>
            <a:fillRect/>
          </a:stretch>
        </p:blipFill>
        <p:spPr>
          <a:xfrm>
            <a:off x="1902072" y="3544961"/>
            <a:ext cx="1186956" cy="195000"/>
          </a:xfrm>
          <a:prstGeom prst="rect">
            <a:avLst/>
          </a:prstGeom>
        </p:spPr>
      </p:pic>
      <p:pic>
        <p:nvPicPr>
          <p:cNvPr id="142" name="Logo Guild Garage Group" descr="Guild Garage Group logo"/>
          <p:cNvPicPr>
            <a:picLocks noChangeAspect="1"/>
          </p:cNvPicPr>
          <p:nvPr/>
        </p:nvPicPr>
        <p:blipFill>
          <a:blip r:embed="rId16"/>
          <a:stretch>
            <a:fillRect/>
          </a:stretch>
        </p:blipFill>
        <p:spPr>
          <a:xfrm>
            <a:off x="2316950" y="4479274"/>
            <a:ext cx="357200" cy="190000"/>
          </a:xfrm>
          <a:prstGeom prst="rect">
            <a:avLst/>
          </a:prstGeom>
        </p:spPr>
      </p:pic>
      <p:pic>
        <p:nvPicPr>
          <p:cNvPr id="143" name="Logo Romex Pest Control" descr="Romex Pest Control logo"/>
          <p:cNvPicPr>
            <a:picLocks noChangeAspect="1"/>
          </p:cNvPicPr>
          <p:nvPr/>
        </p:nvPicPr>
        <p:blipFill>
          <a:blip r:embed="rId17"/>
          <a:stretch>
            <a:fillRect/>
          </a:stretch>
        </p:blipFill>
        <p:spPr>
          <a:xfrm>
            <a:off x="2176986" y="5827687"/>
            <a:ext cx="637128" cy="195000"/>
          </a:xfrm>
          <a:prstGeom prst="rect">
            <a:avLst/>
          </a:prstGeom>
        </p:spPr>
      </p:pic>
      <p:pic>
        <p:nvPicPr>
          <p:cNvPr id="144" name="Logo Rollins" descr="Rollins logo"/>
          <p:cNvPicPr>
            <a:picLocks noChangeAspect="1"/>
          </p:cNvPicPr>
          <p:nvPr/>
        </p:nvPicPr>
        <p:blipFill>
          <a:blip r:embed="rId18"/>
          <a:stretch>
            <a:fillRect/>
          </a:stretch>
        </p:blipFill>
        <p:spPr>
          <a:xfrm>
            <a:off x="2303957" y="6246787"/>
            <a:ext cx="383187" cy="195000"/>
          </a:xfrm>
          <a:prstGeom prst="rect">
            <a:avLst/>
          </a:prstGeom>
        </p:spPr>
      </p:pic>
      <p:pic>
        <p:nvPicPr>
          <p:cNvPr id="145" name="Logo Bresco" descr="Bresco logo"/>
          <p:cNvPicPr>
            <a:picLocks noChangeAspect="1"/>
          </p:cNvPicPr>
          <p:nvPr/>
        </p:nvPicPr>
        <p:blipFill>
          <a:blip r:embed="rId19"/>
          <a:stretch/>
        </p:blipFill>
        <p:spPr>
          <a:xfrm>
            <a:off x="2246413" y="1746528"/>
            <a:ext cx="499799" cy="256032"/>
          </a:xfrm>
          <a:prstGeom prst="rect">
            <a:avLst/>
          </a:prstGeom>
        </p:spPr>
      </p:pic>
      <p:pic>
        <p:nvPicPr>
          <p:cNvPr id="146" name="Logo Singer Equipment" descr="Singer Equipment logo"/>
          <p:cNvPicPr>
            <a:picLocks noChangeAspect="1"/>
          </p:cNvPicPr>
          <p:nvPr/>
        </p:nvPicPr>
        <p:blipFill>
          <a:blip r:embed="rId20"/>
          <a:stretch/>
        </p:blipFill>
        <p:spPr>
          <a:xfrm>
            <a:off x="2302938" y="2165628"/>
            <a:ext cx="386749" cy="256032"/>
          </a:xfrm>
          <a:prstGeom prst="rect">
            <a:avLst/>
          </a:prstGeom>
        </p:spPr>
      </p:pic>
      <p:pic>
        <p:nvPicPr>
          <p:cNvPr id="147" name="Logo Oak Hill Capital" descr="Oak Hill Capital logo"/>
          <p:cNvPicPr>
            <a:picLocks noChangeAspect="1"/>
          </p:cNvPicPr>
          <p:nvPr/>
        </p:nvPicPr>
        <p:blipFill>
          <a:blip r:embed="rId21"/>
          <a:stretch/>
        </p:blipFill>
        <p:spPr>
          <a:xfrm>
            <a:off x="1545336" y="4919052"/>
            <a:ext cx="1901952" cy="1528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77444" y="1990391"/>
            <a:ext cx="1276502" cy="594360"/>
          </a:xfrm>
          <a:prstGeom prst="rect">
            <a:avLst/>
          </a:prstGeom>
          <a:noFill/>
          <a:ln/>
        </p:spPr>
        <p:txBody>
          <a:bodyPr wrap="none" lIns="0" tIns="0" rIns="0" bIns="0" rtlCol="0" anchor="t"/>
          <a:lstStyle/>
          <a:p>
            <a:pPr marL="0" indent="0" algn="l">
              <a:lnSpc>
                <a:spcPts val="4440"/>
              </a:lnSpc>
              <a:buNone/>
            </a:pPr>
            <a:r>
              <a:rPr lang="en-US" sz="3700" kern="0" spc="15" dirty="0">
                <a:solidFill>
                  <a:srgbClr val="D3AE84"/>
                </a:solidFill>
                <a:latin typeface="Newsreader SemiBold" pitchFamily="34" charset="0"/>
              </a:rPr>
              <a:t>32</a:t>
            </a:r>
            <a:endParaRPr lang="en-US" sz="3700" dirty="0"/>
          </a:p>
        </p:txBody>
      </p:sp>
      <p:sp>
        <p:nvSpPr>
          <p:cNvPr id="12" name="Text 11"/>
          <p:cNvSpPr txBox="1"/>
          <p:nvPr/>
        </p:nvSpPr>
        <p:spPr>
          <a:xfrm>
            <a:off x="590702" y="2560320"/>
            <a:ext cx="1290218" cy="603504"/>
          </a:xfrm>
          <a:prstGeom prst="rect">
            <a:avLst/>
          </a:prstGeom>
          <a:noFill/>
          <a:ln/>
        </p:spPr>
        <p:txBody>
          <a:bodyPr wrap="square" lIns="0" tIns="0" rIns="0" bIns="0" rtlCol="0" anchor="t"/>
          <a:lstStyle/>
          <a:p>
            <a:pPr marL="0" indent="0" algn="l">
              <a:lnSpc>
                <a:spcPts val="1104"/>
              </a:lnSpc>
              <a:buNone/>
            </a:pPr>
            <a:r>
              <a:rPr lang="en-US" sz="920" kern="0" spc="15" dirty="0">
                <a:solidFill>
                  <a:srgbClr val="E8E2DA"/>
                </a:solidFill>
                <a:latin typeface="Quicksand" pitchFamily="34" charset="0"/>
              </a:rPr>
              <a:t>consumer transactions closed in the four segments</a:t>
            </a:r>
            <a:endParaRPr lang="en-US" sz="920" dirty="0"/>
          </a:p>
        </p:txBody>
      </p:sp>
      <p:sp>
        <p:nvSpPr>
          <p:cNvPr id="13" name="Shape 12"/>
          <p:cNvSpPr/>
          <p:nvPr/>
        </p:nvSpPr>
        <p:spPr>
          <a:xfrm>
            <a:off x="590702" y="3337560"/>
            <a:ext cx="1276502" cy="9144"/>
          </a:xfrm>
          <a:prstGeom prst="rect">
            <a:avLst/>
          </a:prstGeom>
          <a:solidFill>
            <a:srgbClr val="D3AE84">
              <a:alpha val="30000"/>
            </a:srgbClr>
          </a:solidFill>
          <a:ln/>
        </p:spPr>
        <p:txBody>
          <a:bodyPr/>
          <a:lstStyle/>
          <a:p>
            <a:endParaRPr lang="en-US"/>
          </a:p>
        </p:txBody>
      </p:sp>
      <p:sp>
        <p:nvSpPr>
          <p:cNvPr id="17" name="Text 16"/>
          <p:cNvSpPr txBox="1"/>
          <p:nvPr/>
        </p:nvSpPr>
        <p:spPr>
          <a:xfrm>
            <a:off x="577444" y="3727751"/>
            <a:ext cx="1303020" cy="566928"/>
          </a:xfrm>
          <a:prstGeom prst="rect">
            <a:avLst/>
          </a:prstGeom>
          <a:noFill/>
          <a:ln/>
        </p:spPr>
        <p:txBody>
          <a:bodyPr wrap="none" lIns="0" tIns="0" rIns="0" bIns="0" rtlCol="0" anchor="t"/>
          <a:lstStyle/>
          <a:p>
            <a:pPr marL="0" indent="0" algn="l">
              <a:lnSpc>
                <a:spcPts val="3720"/>
              </a:lnSpc>
              <a:buNone/>
            </a:pPr>
            <a:r>
              <a:rPr lang="en-US" sz="3100" kern="0" spc="15" dirty="0">
                <a:solidFill>
                  <a:srgbClr val="D3AE84"/>
                </a:solidFill>
                <a:latin typeface="Newsreader SemiBold" pitchFamily="34" charset="0"/>
              </a:rPr>
              <a:t>9 of 17</a:t>
            </a:r>
            <a:endParaRPr lang="en-US" sz="3100" dirty="0"/>
          </a:p>
        </p:txBody>
      </p:sp>
      <p:sp>
        <p:nvSpPr>
          <p:cNvPr id="18" name="Text 17"/>
          <p:cNvSpPr txBox="1"/>
          <p:nvPr/>
        </p:nvSpPr>
        <p:spPr>
          <a:xfrm>
            <a:off x="590702" y="4297680"/>
            <a:ext cx="1290218" cy="1051560"/>
          </a:xfrm>
          <a:prstGeom prst="rect">
            <a:avLst/>
          </a:prstGeom>
          <a:noFill/>
          <a:ln/>
        </p:spPr>
        <p:txBody>
          <a:bodyPr wrap="square" lIns="0" tIns="0" rIns="0" bIns="0" rtlCol="0" anchor="t"/>
          <a:lstStyle/>
          <a:p>
            <a:pPr marL="0" indent="0" algn="l">
              <a:lnSpc>
                <a:spcPts val="1056"/>
              </a:lnSpc>
              <a:buNone/>
            </a:pPr>
            <a:r>
              <a:rPr lang="en-US" sz="880" kern="0" spc="15" dirty="0">
                <a:solidFill>
                  <a:srgbClr val="E8E2DA"/>
                </a:solidFill>
                <a:latin typeface="Quicksand" pitchFamily="34" charset="0"/>
              </a:rPr>
              <a:t>named acquirers were operating companies or platforms adding to an existing business</a:t>
            </a:r>
            <a:endParaRPr lang="en-US" sz="880" dirty="0"/>
          </a:p>
        </p:txBody>
      </p:sp>
      <p:sp>
        <p:nvSpPr>
          <p:cNvPr id="19" name="Shape 18"/>
          <p:cNvSpPr/>
          <p:nvPr/>
        </p:nvSpPr>
        <p:spPr>
          <a:xfrm>
            <a:off x="590702" y="5596128"/>
            <a:ext cx="1276502" cy="9144"/>
          </a:xfrm>
          <a:prstGeom prst="rect">
            <a:avLst/>
          </a:prstGeom>
          <a:solidFill>
            <a:srgbClr val="D3AE84">
              <a:alpha val="30000"/>
            </a:srgbClr>
          </a:solidFill>
          <a:ln/>
        </p:spPr>
        <p:txBody>
          <a:bodyPr/>
          <a:lstStyle/>
          <a:p>
            <a:endParaRPr lang="en-US"/>
          </a:p>
        </p:txBody>
      </p:sp>
      <p:sp>
        <p:nvSpPr>
          <p:cNvPr id="20" name="Text 19"/>
          <p:cNvSpPr txBox="1"/>
          <p:nvPr/>
        </p:nvSpPr>
        <p:spPr>
          <a:xfrm>
            <a:off x="590702" y="5806440"/>
            <a:ext cx="1290218" cy="932688"/>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902" y="1233526"/>
            <a:ext cx="1904695" cy="164592"/>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CLOSED BY SEGMENT</a:t>
            </a:r>
            <a:endParaRPr lang="en-US" sz="675" dirty="0"/>
          </a:p>
        </p:txBody>
      </p:sp>
      <p:sp>
        <p:nvSpPr>
          <p:cNvPr id="22" name="Text 21"/>
          <p:cNvSpPr txBox="1"/>
          <p:nvPr/>
        </p:nvSpPr>
        <p:spPr>
          <a:xfrm>
            <a:off x="2190902" y="1435608"/>
            <a:ext cx="1904695" cy="128016"/>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Since January 2025</a:t>
            </a:r>
            <a:endParaRPr lang="en-US" sz="705" dirty="0"/>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Food &amp; Beverage segment icon"/>
          <p:cNvPicPr>
            <a:picLocks noChangeAspect="1"/>
          </p:cNvPicPr>
          <p:nvPr/>
        </p:nvPicPr>
        <p:blipFill>
          <a:blip r:embed="rId4"/>
          <a:stretch>
            <a:fillRect/>
          </a:stretch>
        </p:blipFill>
        <p:spPr>
          <a:xfrm>
            <a:off x="2190902" y="1879092"/>
            <a:ext cx="155448" cy="155448"/>
          </a:xfrm>
          <a:prstGeom prst="rect">
            <a:avLst/>
          </a:prstGeom>
        </p:spPr>
      </p:pic>
      <p:sp>
        <p:nvSpPr>
          <p:cNvPr id="28" name="Text 27"/>
          <p:cNvSpPr txBox="1"/>
          <p:nvPr/>
        </p:nvSpPr>
        <p:spPr>
          <a:xfrm>
            <a:off x="2391156" y="1881835"/>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902" y="2199132"/>
            <a:ext cx="327355" cy="192024"/>
          </a:xfrm>
          <a:prstGeom prst="rect">
            <a:avLst/>
          </a:prstGeom>
          <a:solidFill>
            <a:srgbClr val="B68757"/>
          </a:solidFill>
          <a:ln/>
        </p:spPr>
        <p:txBody>
          <a:bodyPr/>
          <a:lstStyle/>
          <a:p>
            <a:endParaRPr lang="en-US"/>
          </a:p>
        </p:txBody>
      </p:sp>
      <p:sp>
        <p:nvSpPr>
          <p:cNvPr id="30" name="Text 29"/>
          <p:cNvSpPr txBox="1"/>
          <p:nvPr/>
        </p:nvSpPr>
        <p:spPr>
          <a:xfrm>
            <a:off x="2577694" y="2185416"/>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4</a:t>
            </a:r>
            <a:endParaRPr lang="en-US" sz="1000"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Consumer Brands &amp; Products segment icon"/>
          <p:cNvPicPr>
            <a:picLocks noChangeAspect="1"/>
          </p:cNvPicPr>
          <p:nvPr/>
        </p:nvPicPr>
        <p:blipFill>
          <a:blip r:embed="rId5"/>
          <a:stretch>
            <a:fillRect/>
          </a:stretch>
        </p:blipFill>
        <p:spPr>
          <a:xfrm>
            <a:off x="2190902" y="2884018"/>
            <a:ext cx="155448" cy="155448"/>
          </a:xfrm>
          <a:prstGeom prst="rect">
            <a:avLst/>
          </a:prstGeom>
        </p:spPr>
      </p:pic>
      <p:sp>
        <p:nvSpPr>
          <p:cNvPr id="35" name="Text 34"/>
          <p:cNvSpPr txBox="1"/>
          <p:nvPr/>
        </p:nvSpPr>
        <p:spPr>
          <a:xfrm>
            <a:off x="2391156" y="2886761"/>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902" y="3204058"/>
            <a:ext cx="163678" cy="192024"/>
          </a:xfrm>
          <a:prstGeom prst="rect">
            <a:avLst/>
          </a:prstGeom>
          <a:solidFill>
            <a:srgbClr val="B68757"/>
          </a:solidFill>
          <a:ln/>
        </p:spPr>
        <p:txBody>
          <a:bodyPr/>
          <a:lstStyle/>
          <a:p>
            <a:endParaRPr lang="en-US"/>
          </a:p>
        </p:txBody>
      </p:sp>
      <p:sp>
        <p:nvSpPr>
          <p:cNvPr id="37" name="Text 36"/>
          <p:cNvSpPr txBox="1"/>
          <p:nvPr/>
        </p:nvSpPr>
        <p:spPr>
          <a:xfrm>
            <a:off x="2414016" y="3190342"/>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2</a:t>
            </a:r>
            <a:endParaRPr lang="en-US" sz="1000"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Foodservice &amp; Distribution segment icon"/>
          <p:cNvPicPr>
            <a:picLocks noChangeAspect="1"/>
          </p:cNvPicPr>
          <p:nvPr/>
        </p:nvPicPr>
        <p:blipFill>
          <a:blip r:embed="rId6"/>
          <a:stretch>
            <a:fillRect/>
          </a:stretch>
        </p:blipFill>
        <p:spPr>
          <a:xfrm>
            <a:off x="2190902" y="3888943"/>
            <a:ext cx="155448" cy="155448"/>
          </a:xfrm>
          <a:prstGeom prst="rect">
            <a:avLst/>
          </a:prstGeom>
        </p:spPr>
      </p:pic>
      <p:sp>
        <p:nvSpPr>
          <p:cNvPr id="42" name="Text 41"/>
          <p:cNvSpPr txBox="1"/>
          <p:nvPr/>
        </p:nvSpPr>
        <p:spPr>
          <a:xfrm>
            <a:off x="2391156" y="3891686"/>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902" y="4208983"/>
            <a:ext cx="491033" cy="192024"/>
          </a:xfrm>
          <a:prstGeom prst="rect">
            <a:avLst/>
          </a:prstGeom>
          <a:solidFill>
            <a:srgbClr val="B68757"/>
          </a:solidFill>
          <a:ln/>
        </p:spPr>
        <p:txBody>
          <a:bodyPr/>
          <a:lstStyle/>
          <a:p>
            <a:endParaRPr lang="en-US"/>
          </a:p>
        </p:txBody>
      </p:sp>
      <p:sp>
        <p:nvSpPr>
          <p:cNvPr id="44" name="Text 43"/>
          <p:cNvSpPr txBox="1"/>
          <p:nvPr/>
        </p:nvSpPr>
        <p:spPr>
          <a:xfrm>
            <a:off x="2741371" y="4195267"/>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6</a:t>
            </a:r>
            <a:endParaRPr lang="en-US" sz="1000"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Consumer Services &amp; Retail segment icon"/>
          <p:cNvPicPr>
            <a:picLocks noChangeAspect="1"/>
          </p:cNvPicPr>
          <p:nvPr/>
        </p:nvPicPr>
        <p:blipFill>
          <a:blip r:embed="rId7"/>
          <a:stretch>
            <a:fillRect/>
          </a:stretch>
        </p:blipFill>
        <p:spPr>
          <a:xfrm>
            <a:off x="2190902" y="4893869"/>
            <a:ext cx="155448" cy="155448"/>
          </a:xfrm>
          <a:prstGeom prst="rect">
            <a:avLst/>
          </a:prstGeom>
        </p:spPr>
      </p:pic>
      <p:sp>
        <p:nvSpPr>
          <p:cNvPr id="49" name="Text 48"/>
          <p:cNvSpPr txBox="1"/>
          <p:nvPr/>
        </p:nvSpPr>
        <p:spPr>
          <a:xfrm>
            <a:off x="2391156" y="4896612"/>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902" y="5213909"/>
            <a:ext cx="1636776" cy="192024"/>
          </a:xfrm>
          <a:prstGeom prst="rect">
            <a:avLst/>
          </a:prstGeom>
          <a:solidFill>
            <a:srgbClr val="B68757"/>
          </a:solidFill>
          <a:ln/>
        </p:spPr>
        <p:txBody>
          <a:bodyPr/>
          <a:lstStyle/>
          <a:p>
            <a:endParaRPr lang="en-US"/>
          </a:p>
        </p:txBody>
      </p:sp>
      <p:sp>
        <p:nvSpPr>
          <p:cNvPr id="51" name="Text 50"/>
          <p:cNvSpPr txBox="1"/>
          <p:nvPr/>
        </p:nvSpPr>
        <p:spPr>
          <a:xfrm>
            <a:off x="3887114" y="5200193"/>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20</a:t>
            </a:r>
            <a:endParaRPr lang="en-US" sz="1000"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302" y="1233526"/>
            <a:ext cx="5391302" cy="133502"/>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15 MOST RECENT NAMED TRANSACTIONS, BY ANNOUNCEMENT</a:t>
            </a:r>
            <a:endParaRPr lang="en-US" sz="675" dirty="0"/>
          </a:p>
        </p:txBody>
      </p:sp>
      <p:sp>
        <p:nvSpPr>
          <p:cNvPr id="69" name="Shape 68"/>
          <p:cNvSpPr/>
          <p:nvPr/>
        </p:nvSpPr>
        <p:spPr>
          <a:xfrm>
            <a:off x="4248302" y="1463040"/>
            <a:ext cx="1746504" cy="1010412"/>
          </a:xfrm>
          <a:prstGeom prst="rect">
            <a:avLst/>
          </a:prstGeom>
          <a:solidFill>
            <a:srgbClr val="FAF7F3"/>
          </a:solidFill>
          <a:ln/>
        </p:spPr>
        <p:txBody>
          <a:bodyPr/>
          <a:lstStyle/>
          <a:p>
            <a:endParaRPr lang="en-US"/>
          </a:p>
        </p:txBody>
      </p:sp>
      <p:sp>
        <p:nvSpPr>
          <p:cNvPr id="70" name="Shape 69"/>
          <p:cNvSpPr/>
          <p:nvPr/>
        </p:nvSpPr>
        <p:spPr>
          <a:xfrm>
            <a:off x="4248302" y="1463040"/>
            <a:ext cx="1746504" cy="19202"/>
          </a:xfrm>
          <a:prstGeom prst="rect">
            <a:avLst/>
          </a:prstGeom>
          <a:solidFill>
            <a:srgbClr val="B68757"/>
          </a:solidFill>
          <a:ln/>
        </p:spPr>
        <p:txBody>
          <a:bodyPr/>
          <a:lstStyle/>
          <a:p>
            <a:endParaRPr lang="en-US"/>
          </a:p>
        </p:txBody>
      </p:sp>
      <p:sp>
        <p:nvSpPr>
          <p:cNvPr id="71" name="Text 70">
            <a:hlinkClick r:id="rId8"/>
          </p:cNvPr>
          <p:cNvSpPr txBox="1"/>
          <p:nvPr/>
        </p:nvSpPr>
        <p:spPr>
          <a:xfrm>
            <a:off x="4339742"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SEPT 2026</a:t>
            </a:r>
            <a:endParaRPr lang="en-US" sz="555" dirty="0"/>
          </a:p>
        </p:txBody>
      </p:sp>
      <p:sp>
        <p:nvSpPr>
          <p:cNvPr id="74" name="Text 73">
            <a:hlinkClick r:id="rId8"/>
          </p:cNvPr>
          <p:cNvSpPr txBox="1"/>
          <p:nvPr/>
        </p:nvSpPr>
        <p:spPr>
          <a:xfrm>
            <a:off x="4339742"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39742"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76" name="Shape 75"/>
          <p:cNvSpPr/>
          <p:nvPr/>
        </p:nvSpPr>
        <p:spPr>
          <a:xfrm>
            <a:off x="6070702" y="1463040"/>
            <a:ext cx="1746504" cy="1010412"/>
          </a:xfrm>
          <a:prstGeom prst="rect">
            <a:avLst/>
          </a:prstGeom>
          <a:solidFill>
            <a:srgbClr val="FAF7F3"/>
          </a:solidFill>
          <a:ln/>
        </p:spPr>
        <p:txBody>
          <a:bodyPr/>
          <a:lstStyle/>
          <a:p>
            <a:endParaRPr lang="en-US"/>
          </a:p>
        </p:txBody>
      </p:sp>
      <p:sp>
        <p:nvSpPr>
          <p:cNvPr id="77" name="Shape 76"/>
          <p:cNvSpPr/>
          <p:nvPr/>
        </p:nvSpPr>
        <p:spPr>
          <a:xfrm>
            <a:off x="6070702" y="1463040"/>
            <a:ext cx="1746504" cy="19202"/>
          </a:xfrm>
          <a:prstGeom prst="rect">
            <a:avLst/>
          </a:prstGeom>
          <a:solidFill>
            <a:srgbClr val="B68757"/>
          </a:solidFill>
          <a:ln/>
        </p:spPr>
        <p:txBody>
          <a:bodyPr/>
          <a:lstStyle/>
          <a:p>
            <a:endParaRPr lang="en-US"/>
          </a:p>
        </p:txBody>
      </p:sp>
      <p:sp>
        <p:nvSpPr>
          <p:cNvPr id="78" name="Text 77">
            <a:hlinkClick r:id="rId9"/>
          </p:cNvPr>
          <p:cNvSpPr txBox="1"/>
          <p:nvPr/>
        </p:nvSpPr>
        <p:spPr>
          <a:xfrm>
            <a:off x="6162142"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SEPT 2026</a:t>
            </a:r>
            <a:endParaRPr lang="en-US" sz="555" dirty="0"/>
          </a:p>
        </p:txBody>
      </p:sp>
      <p:sp>
        <p:nvSpPr>
          <p:cNvPr id="81" name="Text 80">
            <a:hlinkClick r:id="rId9"/>
          </p:cNvPr>
          <p:cNvSpPr txBox="1"/>
          <p:nvPr/>
        </p:nvSpPr>
        <p:spPr>
          <a:xfrm>
            <a:off x="6162142"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2142"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83" name="Shape 82"/>
          <p:cNvSpPr/>
          <p:nvPr/>
        </p:nvSpPr>
        <p:spPr>
          <a:xfrm>
            <a:off x="7893101" y="1463040"/>
            <a:ext cx="1746504" cy="1010412"/>
          </a:xfrm>
          <a:prstGeom prst="rect">
            <a:avLst/>
          </a:prstGeom>
          <a:solidFill>
            <a:srgbClr val="FAF7F3"/>
          </a:solidFill>
          <a:ln/>
        </p:spPr>
        <p:txBody>
          <a:bodyPr/>
          <a:lstStyle/>
          <a:p>
            <a:endParaRPr lang="en-US"/>
          </a:p>
        </p:txBody>
      </p:sp>
      <p:sp>
        <p:nvSpPr>
          <p:cNvPr id="84" name="Shape 83"/>
          <p:cNvSpPr/>
          <p:nvPr/>
        </p:nvSpPr>
        <p:spPr>
          <a:xfrm>
            <a:off x="7893101" y="1463040"/>
            <a:ext cx="1746504" cy="19202"/>
          </a:xfrm>
          <a:prstGeom prst="rect">
            <a:avLst/>
          </a:prstGeom>
          <a:solidFill>
            <a:srgbClr val="B68757"/>
          </a:solidFill>
          <a:ln/>
        </p:spPr>
        <p:txBody>
          <a:bodyPr/>
          <a:lstStyle/>
          <a:p>
            <a:endParaRPr lang="en-US"/>
          </a:p>
        </p:txBody>
      </p:sp>
      <p:sp>
        <p:nvSpPr>
          <p:cNvPr id="85" name="Text 84">
            <a:hlinkClick r:id="rId10"/>
          </p:cNvPr>
          <p:cNvSpPr txBox="1"/>
          <p:nvPr/>
        </p:nvSpPr>
        <p:spPr>
          <a:xfrm>
            <a:off x="7984541"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JULY 2026</a:t>
            </a:r>
            <a:endParaRPr lang="en-US" sz="555" dirty="0"/>
          </a:p>
        </p:txBody>
      </p:sp>
      <p:sp>
        <p:nvSpPr>
          <p:cNvPr id="88" name="Text 87">
            <a:hlinkClick r:id="rId10"/>
          </p:cNvPr>
          <p:cNvSpPr txBox="1"/>
          <p:nvPr/>
        </p:nvSpPr>
        <p:spPr>
          <a:xfrm>
            <a:off x="7984541"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4541"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90" name="Shape 89"/>
          <p:cNvSpPr/>
          <p:nvPr/>
        </p:nvSpPr>
        <p:spPr>
          <a:xfrm>
            <a:off x="4248302" y="2557577"/>
            <a:ext cx="1746504" cy="1010412"/>
          </a:xfrm>
          <a:prstGeom prst="rect">
            <a:avLst/>
          </a:prstGeom>
          <a:solidFill>
            <a:srgbClr val="FAF7F3"/>
          </a:solidFill>
          <a:ln/>
        </p:spPr>
        <p:txBody>
          <a:bodyPr/>
          <a:lstStyle/>
          <a:p>
            <a:endParaRPr lang="en-US"/>
          </a:p>
        </p:txBody>
      </p:sp>
      <p:sp>
        <p:nvSpPr>
          <p:cNvPr id="91" name="Shape 90"/>
          <p:cNvSpPr/>
          <p:nvPr/>
        </p:nvSpPr>
        <p:spPr>
          <a:xfrm>
            <a:off x="4248302" y="2557577"/>
            <a:ext cx="1746504" cy="19202"/>
          </a:xfrm>
          <a:prstGeom prst="rect">
            <a:avLst/>
          </a:prstGeom>
          <a:solidFill>
            <a:srgbClr val="B68757"/>
          </a:solidFill>
          <a:ln/>
        </p:spPr>
        <p:txBody>
          <a:bodyPr/>
          <a:lstStyle/>
          <a:p>
            <a:endParaRPr lang="en-US"/>
          </a:p>
        </p:txBody>
      </p:sp>
      <p:sp>
        <p:nvSpPr>
          <p:cNvPr id="92" name="Text 91">
            <a:hlinkClick r:id="rId11"/>
          </p:cNvPr>
          <p:cNvSpPr txBox="1"/>
          <p:nvPr/>
        </p:nvSpPr>
        <p:spPr>
          <a:xfrm>
            <a:off x="4339742"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2026</a:t>
            </a:r>
            <a:endParaRPr lang="en-US" sz="555" dirty="0"/>
          </a:p>
        </p:txBody>
      </p:sp>
      <p:sp>
        <p:nvSpPr>
          <p:cNvPr id="95" name="Text 94">
            <a:hlinkClick r:id="rId11"/>
          </p:cNvPr>
          <p:cNvSpPr txBox="1"/>
          <p:nvPr/>
        </p:nvSpPr>
        <p:spPr>
          <a:xfrm>
            <a:off x="4339742"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39742"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97" name="Shape 96"/>
          <p:cNvSpPr/>
          <p:nvPr/>
        </p:nvSpPr>
        <p:spPr>
          <a:xfrm>
            <a:off x="6070702" y="2557577"/>
            <a:ext cx="1746504" cy="1010412"/>
          </a:xfrm>
          <a:prstGeom prst="rect">
            <a:avLst/>
          </a:prstGeom>
          <a:solidFill>
            <a:srgbClr val="FAF7F3"/>
          </a:solidFill>
          <a:ln/>
        </p:spPr>
        <p:txBody>
          <a:bodyPr/>
          <a:lstStyle/>
          <a:p>
            <a:endParaRPr lang="en-US"/>
          </a:p>
        </p:txBody>
      </p:sp>
      <p:sp>
        <p:nvSpPr>
          <p:cNvPr id="98" name="Shape 97"/>
          <p:cNvSpPr/>
          <p:nvPr/>
        </p:nvSpPr>
        <p:spPr>
          <a:xfrm>
            <a:off x="6070702" y="2557577"/>
            <a:ext cx="1746504" cy="19202"/>
          </a:xfrm>
          <a:prstGeom prst="rect">
            <a:avLst/>
          </a:prstGeom>
          <a:solidFill>
            <a:srgbClr val="B68757"/>
          </a:solidFill>
          <a:ln/>
        </p:spPr>
        <p:txBody>
          <a:bodyPr/>
          <a:lstStyle/>
          <a:p>
            <a:endParaRPr lang="en-US"/>
          </a:p>
        </p:txBody>
      </p:sp>
      <p:sp>
        <p:nvSpPr>
          <p:cNvPr id="99" name="Text 98">
            <a:hlinkClick r:id="rId12"/>
          </p:cNvPr>
          <p:cNvSpPr txBox="1"/>
          <p:nvPr/>
        </p:nvSpPr>
        <p:spPr>
          <a:xfrm>
            <a:off x="6162142"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2026</a:t>
            </a:r>
            <a:endParaRPr lang="en-US" sz="555" dirty="0"/>
          </a:p>
        </p:txBody>
      </p:sp>
      <p:sp>
        <p:nvSpPr>
          <p:cNvPr id="102" name="Text 101">
            <a:hlinkClick r:id="rId12"/>
          </p:cNvPr>
          <p:cNvSpPr txBox="1"/>
          <p:nvPr/>
        </p:nvSpPr>
        <p:spPr>
          <a:xfrm>
            <a:off x="6162142"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2142"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04" name="Shape 103"/>
          <p:cNvSpPr/>
          <p:nvPr/>
        </p:nvSpPr>
        <p:spPr>
          <a:xfrm>
            <a:off x="7893101" y="2557577"/>
            <a:ext cx="1746504" cy="1010412"/>
          </a:xfrm>
          <a:prstGeom prst="rect">
            <a:avLst/>
          </a:prstGeom>
          <a:solidFill>
            <a:srgbClr val="FAF7F3"/>
          </a:solidFill>
          <a:ln/>
        </p:spPr>
        <p:txBody>
          <a:bodyPr/>
          <a:lstStyle/>
          <a:p>
            <a:endParaRPr lang="en-US"/>
          </a:p>
        </p:txBody>
      </p:sp>
      <p:sp>
        <p:nvSpPr>
          <p:cNvPr id="105" name="Shape 104"/>
          <p:cNvSpPr/>
          <p:nvPr/>
        </p:nvSpPr>
        <p:spPr>
          <a:xfrm>
            <a:off x="7893101" y="2557577"/>
            <a:ext cx="1746504" cy="19202"/>
          </a:xfrm>
          <a:prstGeom prst="rect">
            <a:avLst/>
          </a:prstGeom>
          <a:solidFill>
            <a:srgbClr val="B68757"/>
          </a:solidFill>
          <a:ln/>
        </p:spPr>
        <p:txBody>
          <a:bodyPr/>
          <a:lstStyle/>
          <a:p>
            <a:endParaRPr lang="en-US"/>
          </a:p>
        </p:txBody>
      </p:sp>
      <p:sp>
        <p:nvSpPr>
          <p:cNvPr id="106" name="Text 105">
            <a:hlinkClick r:id="rId13"/>
          </p:cNvPr>
          <p:cNvSpPr txBox="1"/>
          <p:nvPr/>
        </p:nvSpPr>
        <p:spPr>
          <a:xfrm>
            <a:off x="7984541"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MAR 2026</a:t>
            </a:r>
            <a:endParaRPr lang="en-US" sz="555" dirty="0"/>
          </a:p>
        </p:txBody>
      </p:sp>
      <p:sp>
        <p:nvSpPr>
          <p:cNvPr id="109" name="Text 108">
            <a:hlinkClick r:id="rId13"/>
          </p:cNvPr>
          <p:cNvSpPr txBox="1"/>
          <p:nvPr/>
        </p:nvSpPr>
        <p:spPr>
          <a:xfrm>
            <a:off x="7984541"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4541"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11" name="Shape 110"/>
          <p:cNvSpPr/>
          <p:nvPr/>
        </p:nvSpPr>
        <p:spPr>
          <a:xfrm>
            <a:off x="4248302" y="3652114"/>
            <a:ext cx="1746504" cy="1010412"/>
          </a:xfrm>
          <a:prstGeom prst="rect">
            <a:avLst/>
          </a:prstGeom>
          <a:solidFill>
            <a:srgbClr val="FAF7F3"/>
          </a:solidFill>
          <a:ln/>
        </p:spPr>
        <p:txBody>
          <a:bodyPr/>
          <a:lstStyle/>
          <a:p>
            <a:endParaRPr lang="en-US"/>
          </a:p>
        </p:txBody>
      </p:sp>
      <p:sp>
        <p:nvSpPr>
          <p:cNvPr id="112" name="Shape 111"/>
          <p:cNvSpPr/>
          <p:nvPr/>
        </p:nvSpPr>
        <p:spPr>
          <a:xfrm>
            <a:off x="4248302" y="3652114"/>
            <a:ext cx="1746504" cy="19202"/>
          </a:xfrm>
          <a:prstGeom prst="rect">
            <a:avLst/>
          </a:prstGeom>
          <a:solidFill>
            <a:srgbClr val="B68757"/>
          </a:solidFill>
          <a:ln/>
        </p:spPr>
        <p:txBody>
          <a:bodyPr/>
          <a:lstStyle/>
          <a:p>
            <a:endParaRPr lang="en-US"/>
          </a:p>
        </p:txBody>
      </p:sp>
      <p:sp>
        <p:nvSpPr>
          <p:cNvPr id="113" name="Text 112">
            <a:hlinkClick r:id="rId14"/>
          </p:cNvPr>
          <p:cNvSpPr txBox="1"/>
          <p:nvPr/>
        </p:nvSpPr>
        <p:spPr>
          <a:xfrm>
            <a:off x="4339742"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MAR 2026</a:t>
            </a:r>
            <a:endParaRPr lang="en-US" sz="555" dirty="0"/>
          </a:p>
        </p:txBody>
      </p:sp>
      <p:sp>
        <p:nvSpPr>
          <p:cNvPr id="116" name="Text 115">
            <a:hlinkClick r:id="rId14"/>
          </p:cNvPr>
          <p:cNvSpPr txBox="1"/>
          <p:nvPr/>
        </p:nvSpPr>
        <p:spPr>
          <a:xfrm>
            <a:off x="4339742"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39742"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18" name="Shape 117"/>
          <p:cNvSpPr/>
          <p:nvPr/>
        </p:nvSpPr>
        <p:spPr>
          <a:xfrm>
            <a:off x="6070702" y="3652114"/>
            <a:ext cx="1746504" cy="1010412"/>
          </a:xfrm>
          <a:prstGeom prst="rect">
            <a:avLst/>
          </a:prstGeom>
          <a:solidFill>
            <a:srgbClr val="FAF7F3"/>
          </a:solidFill>
          <a:ln/>
        </p:spPr>
        <p:txBody>
          <a:bodyPr/>
          <a:lstStyle/>
          <a:p>
            <a:endParaRPr lang="en-US"/>
          </a:p>
        </p:txBody>
      </p:sp>
      <p:sp>
        <p:nvSpPr>
          <p:cNvPr id="119" name="Shape 118"/>
          <p:cNvSpPr/>
          <p:nvPr/>
        </p:nvSpPr>
        <p:spPr>
          <a:xfrm>
            <a:off x="6070702" y="3652114"/>
            <a:ext cx="1746504" cy="19202"/>
          </a:xfrm>
          <a:prstGeom prst="rect">
            <a:avLst/>
          </a:prstGeom>
          <a:solidFill>
            <a:srgbClr val="B68757"/>
          </a:solidFill>
          <a:ln/>
        </p:spPr>
        <p:txBody>
          <a:bodyPr/>
          <a:lstStyle/>
          <a:p>
            <a:endParaRPr lang="en-US"/>
          </a:p>
        </p:txBody>
      </p:sp>
      <p:sp>
        <p:nvSpPr>
          <p:cNvPr id="120" name="Text 119">
            <a:hlinkClick r:id="rId15"/>
          </p:cNvPr>
          <p:cNvSpPr txBox="1"/>
          <p:nvPr/>
        </p:nvSpPr>
        <p:spPr>
          <a:xfrm>
            <a:off x="6162142"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FEB 2026</a:t>
            </a:r>
            <a:endParaRPr lang="en-US" sz="555" dirty="0"/>
          </a:p>
        </p:txBody>
      </p:sp>
      <p:sp>
        <p:nvSpPr>
          <p:cNvPr id="123" name="Text 122">
            <a:hlinkClick r:id="rId15"/>
          </p:cNvPr>
          <p:cNvSpPr txBox="1"/>
          <p:nvPr/>
        </p:nvSpPr>
        <p:spPr>
          <a:xfrm>
            <a:off x="6162142"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2142"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25" name="Shape 124"/>
          <p:cNvSpPr/>
          <p:nvPr/>
        </p:nvSpPr>
        <p:spPr>
          <a:xfrm>
            <a:off x="7893101" y="3652114"/>
            <a:ext cx="1746504" cy="1010412"/>
          </a:xfrm>
          <a:prstGeom prst="rect">
            <a:avLst/>
          </a:prstGeom>
          <a:solidFill>
            <a:srgbClr val="FAF7F3"/>
          </a:solidFill>
          <a:ln/>
        </p:spPr>
        <p:txBody>
          <a:bodyPr/>
          <a:lstStyle/>
          <a:p>
            <a:endParaRPr lang="en-US"/>
          </a:p>
        </p:txBody>
      </p:sp>
      <p:sp>
        <p:nvSpPr>
          <p:cNvPr id="126" name="Shape 125"/>
          <p:cNvSpPr/>
          <p:nvPr/>
        </p:nvSpPr>
        <p:spPr>
          <a:xfrm>
            <a:off x="7893101" y="3652114"/>
            <a:ext cx="1746504" cy="19202"/>
          </a:xfrm>
          <a:prstGeom prst="rect">
            <a:avLst/>
          </a:prstGeom>
          <a:solidFill>
            <a:srgbClr val="B68757"/>
          </a:solidFill>
          <a:ln/>
        </p:spPr>
        <p:txBody>
          <a:bodyPr/>
          <a:lstStyle/>
          <a:p>
            <a:endParaRPr lang="en-US"/>
          </a:p>
        </p:txBody>
      </p:sp>
      <p:sp>
        <p:nvSpPr>
          <p:cNvPr id="127" name="Text 126">
            <a:hlinkClick r:id="rId16"/>
          </p:cNvPr>
          <p:cNvSpPr txBox="1"/>
          <p:nvPr/>
        </p:nvSpPr>
        <p:spPr>
          <a:xfrm>
            <a:off x="7984541"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JAN 2026</a:t>
            </a:r>
            <a:endParaRPr lang="en-US" sz="555" dirty="0"/>
          </a:p>
        </p:txBody>
      </p:sp>
      <p:sp>
        <p:nvSpPr>
          <p:cNvPr id="130" name="Text 129">
            <a:hlinkClick r:id="rId16"/>
          </p:cNvPr>
          <p:cNvSpPr txBox="1"/>
          <p:nvPr/>
        </p:nvSpPr>
        <p:spPr>
          <a:xfrm>
            <a:off x="7984541"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4541"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32" name="Shape 131"/>
          <p:cNvSpPr/>
          <p:nvPr/>
        </p:nvSpPr>
        <p:spPr>
          <a:xfrm>
            <a:off x="4248302" y="4746650"/>
            <a:ext cx="1746504" cy="1010412"/>
          </a:xfrm>
          <a:prstGeom prst="rect">
            <a:avLst/>
          </a:prstGeom>
          <a:solidFill>
            <a:srgbClr val="FAF7F3"/>
          </a:solidFill>
          <a:ln/>
        </p:spPr>
        <p:txBody>
          <a:bodyPr/>
          <a:lstStyle/>
          <a:p>
            <a:endParaRPr lang="en-US"/>
          </a:p>
        </p:txBody>
      </p:sp>
      <p:sp>
        <p:nvSpPr>
          <p:cNvPr id="133" name="Shape 132"/>
          <p:cNvSpPr/>
          <p:nvPr/>
        </p:nvSpPr>
        <p:spPr>
          <a:xfrm>
            <a:off x="4248302" y="4746650"/>
            <a:ext cx="1746504" cy="19202"/>
          </a:xfrm>
          <a:prstGeom prst="rect">
            <a:avLst/>
          </a:prstGeom>
          <a:solidFill>
            <a:srgbClr val="B68757"/>
          </a:solidFill>
          <a:ln/>
        </p:spPr>
        <p:txBody>
          <a:bodyPr/>
          <a:lstStyle/>
          <a:p>
            <a:endParaRPr lang="en-US"/>
          </a:p>
        </p:txBody>
      </p:sp>
      <p:sp>
        <p:nvSpPr>
          <p:cNvPr id="134" name="Text 133">
            <a:hlinkClick r:id="rId17"/>
          </p:cNvPr>
          <p:cNvSpPr txBox="1"/>
          <p:nvPr/>
        </p:nvSpPr>
        <p:spPr>
          <a:xfrm>
            <a:off x="4339742"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DEC 2025</a:t>
            </a:r>
            <a:endParaRPr lang="en-US" sz="555" dirty="0"/>
          </a:p>
        </p:txBody>
      </p:sp>
      <p:sp>
        <p:nvSpPr>
          <p:cNvPr id="137" name="Text 136">
            <a:hlinkClick r:id="rId17"/>
          </p:cNvPr>
          <p:cNvSpPr txBox="1"/>
          <p:nvPr/>
        </p:nvSpPr>
        <p:spPr>
          <a:xfrm>
            <a:off x="4339742"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39742"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39" name="Shape 138"/>
          <p:cNvSpPr/>
          <p:nvPr/>
        </p:nvSpPr>
        <p:spPr>
          <a:xfrm>
            <a:off x="6070702" y="4746650"/>
            <a:ext cx="1746504" cy="1010412"/>
          </a:xfrm>
          <a:prstGeom prst="rect">
            <a:avLst/>
          </a:prstGeom>
          <a:solidFill>
            <a:srgbClr val="FAF7F3"/>
          </a:solidFill>
          <a:ln/>
        </p:spPr>
        <p:txBody>
          <a:bodyPr/>
          <a:lstStyle/>
          <a:p>
            <a:endParaRPr lang="en-US"/>
          </a:p>
        </p:txBody>
      </p:sp>
      <p:sp>
        <p:nvSpPr>
          <p:cNvPr id="140" name="Shape 139"/>
          <p:cNvSpPr/>
          <p:nvPr/>
        </p:nvSpPr>
        <p:spPr>
          <a:xfrm>
            <a:off x="6070702" y="4746650"/>
            <a:ext cx="1746504" cy="19202"/>
          </a:xfrm>
          <a:prstGeom prst="rect">
            <a:avLst/>
          </a:prstGeom>
          <a:solidFill>
            <a:srgbClr val="B68757"/>
          </a:solidFill>
          <a:ln/>
        </p:spPr>
        <p:txBody>
          <a:bodyPr/>
          <a:lstStyle/>
          <a:p>
            <a:endParaRPr lang="en-US"/>
          </a:p>
        </p:txBody>
      </p:sp>
      <p:sp>
        <p:nvSpPr>
          <p:cNvPr id="141" name="Text 140">
            <a:hlinkClick r:id="rId18"/>
          </p:cNvPr>
          <p:cNvSpPr txBox="1"/>
          <p:nvPr/>
        </p:nvSpPr>
        <p:spPr>
          <a:xfrm>
            <a:off x="6162142"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DEC 2025</a:t>
            </a:r>
            <a:endParaRPr lang="en-US" sz="555" dirty="0"/>
          </a:p>
        </p:txBody>
      </p:sp>
      <p:sp>
        <p:nvSpPr>
          <p:cNvPr id="144" name="Text 143">
            <a:hlinkClick r:id="rId18"/>
          </p:cNvPr>
          <p:cNvSpPr txBox="1"/>
          <p:nvPr/>
        </p:nvSpPr>
        <p:spPr>
          <a:xfrm>
            <a:off x="6162142"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2142"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46" name="Shape 145"/>
          <p:cNvSpPr/>
          <p:nvPr/>
        </p:nvSpPr>
        <p:spPr>
          <a:xfrm>
            <a:off x="7893101" y="4746650"/>
            <a:ext cx="1746504" cy="1010412"/>
          </a:xfrm>
          <a:prstGeom prst="rect">
            <a:avLst/>
          </a:prstGeom>
          <a:solidFill>
            <a:srgbClr val="FAF7F3"/>
          </a:solidFill>
          <a:ln/>
        </p:spPr>
        <p:txBody>
          <a:bodyPr/>
          <a:lstStyle/>
          <a:p>
            <a:endParaRPr lang="en-US"/>
          </a:p>
        </p:txBody>
      </p:sp>
      <p:sp>
        <p:nvSpPr>
          <p:cNvPr id="147" name="Shape 146"/>
          <p:cNvSpPr/>
          <p:nvPr/>
        </p:nvSpPr>
        <p:spPr>
          <a:xfrm>
            <a:off x="7893101" y="4746650"/>
            <a:ext cx="1746504" cy="19202"/>
          </a:xfrm>
          <a:prstGeom prst="rect">
            <a:avLst/>
          </a:prstGeom>
          <a:solidFill>
            <a:srgbClr val="B68757"/>
          </a:solidFill>
          <a:ln/>
        </p:spPr>
        <p:txBody>
          <a:bodyPr/>
          <a:lstStyle/>
          <a:p>
            <a:endParaRPr lang="en-US"/>
          </a:p>
        </p:txBody>
      </p:sp>
      <p:sp>
        <p:nvSpPr>
          <p:cNvPr id="148" name="Text 147">
            <a:hlinkClick r:id="rId19"/>
          </p:cNvPr>
          <p:cNvSpPr txBox="1"/>
          <p:nvPr/>
        </p:nvSpPr>
        <p:spPr>
          <a:xfrm>
            <a:off x="7984541"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JULY 2025</a:t>
            </a:r>
            <a:endParaRPr lang="en-US" sz="555" dirty="0"/>
          </a:p>
        </p:txBody>
      </p:sp>
      <p:sp>
        <p:nvSpPr>
          <p:cNvPr id="151" name="Text 150">
            <a:hlinkClick r:id="rId19"/>
          </p:cNvPr>
          <p:cNvSpPr txBox="1"/>
          <p:nvPr/>
        </p:nvSpPr>
        <p:spPr>
          <a:xfrm>
            <a:off x="7984541"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4541"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53" name="Shape 152"/>
          <p:cNvSpPr/>
          <p:nvPr/>
        </p:nvSpPr>
        <p:spPr>
          <a:xfrm>
            <a:off x="4248302" y="5841187"/>
            <a:ext cx="1746504" cy="1010412"/>
          </a:xfrm>
          <a:prstGeom prst="rect">
            <a:avLst/>
          </a:prstGeom>
          <a:solidFill>
            <a:srgbClr val="FAF7F3"/>
          </a:solidFill>
          <a:ln/>
        </p:spPr>
        <p:txBody>
          <a:bodyPr/>
          <a:lstStyle/>
          <a:p>
            <a:endParaRPr lang="en-US"/>
          </a:p>
        </p:txBody>
      </p:sp>
      <p:sp>
        <p:nvSpPr>
          <p:cNvPr id="154" name="Shape 153"/>
          <p:cNvSpPr/>
          <p:nvPr/>
        </p:nvSpPr>
        <p:spPr>
          <a:xfrm>
            <a:off x="4248302" y="5841187"/>
            <a:ext cx="1746504" cy="19202"/>
          </a:xfrm>
          <a:prstGeom prst="rect">
            <a:avLst/>
          </a:prstGeom>
          <a:solidFill>
            <a:srgbClr val="B68757"/>
          </a:solidFill>
          <a:ln/>
        </p:spPr>
        <p:txBody>
          <a:bodyPr/>
          <a:lstStyle/>
          <a:p>
            <a:endParaRPr lang="en-US"/>
          </a:p>
        </p:txBody>
      </p:sp>
      <p:sp>
        <p:nvSpPr>
          <p:cNvPr id="155" name="Text 154">
            <a:hlinkClick r:id="rId20"/>
          </p:cNvPr>
          <p:cNvSpPr txBox="1"/>
          <p:nvPr/>
        </p:nvSpPr>
        <p:spPr>
          <a:xfrm>
            <a:off x="4339742"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58" name="Text 157">
            <a:hlinkClick r:id="rId20"/>
          </p:cNvPr>
          <p:cNvSpPr txBox="1"/>
          <p:nvPr/>
        </p:nvSpPr>
        <p:spPr>
          <a:xfrm>
            <a:off x="4339742"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39742" y="656813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60" name="Shape 159"/>
          <p:cNvSpPr/>
          <p:nvPr/>
        </p:nvSpPr>
        <p:spPr>
          <a:xfrm>
            <a:off x="6070702" y="5841187"/>
            <a:ext cx="1746504" cy="1010412"/>
          </a:xfrm>
          <a:prstGeom prst="rect">
            <a:avLst/>
          </a:prstGeom>
          <a:solidFill>
            <a:srgbClr val="FAF7F3"/>
          </a:solidFill>
          <a:ln/>
        </p:spPr>
        <p:txBody>
          <a:bodyPr/>
          <a:lstStyle/>
          <a:p>
            <a:endParaRPr lang="en-US"/>
          </a:p>
        </p:txBody>
      </p:sp>
      <p:sp>
        <p:nvSpPr>
          <p:cNvPr id="161" name="Shape 160"/>
          <p:cNvSpPr/>
          <p:nvPr/>
        </p:nvSpPr>
        <p:spPr>
          <a:xfrm>
            <a:off x="6070702" y="5841187"/>
            <a:ext cx="1746504" cy="19202"/>
          </a:xfrm>
          <a:prstGeom prst="rect">
            <a:avLst/>
          </a:prstGeom>
          <a:solidFill>
            <a:srgbClr val="B68757"/>
          </a:solidFill>
          <a:ln/>
        </p:spPr>
        <p:txBody>
          <a:bodyPr/>
          <a:lstStyle/>
          <a:p>
            <a:endParaRPr lang="en-US"/>
          </a:p>
        </p:txBody>
      </p:sp>
      <p:sp>
        <p:nvSpPr>
          <p:cNvPr id="162" name="Text 161">
            <a:hlinkClick r:id="rId21"/>
          </p:cNvPr>
          <p:cNvSpPr txBox="1"/>
          <p:nvPr/>
        </p:nvSpPr>
        <p:spPr>
          <a:xfrm>
            <a:off x="6162142"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65" name="Text 164">
            <a:hlinkClick r:id="rId21"/>
          </p:cNvPr>
          <p:cNvSpPr txBox="1"/>
          <p:nvPr/>
        </p:nvSpPr>
        <p:spPr>
          <a:xfrm>
            <a:off x="6162142"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2142" y="6577279"/>
            <a:ext cx="1563624" cy="228600"/>
          </a:xfrm>
          <a:prstGeom prst="rect">
            <a:avLst/>
          </a:prstGeom>
          <a:noFill/>
          <a:ln/>
        </p:spPr>
        <p:txBody>
          <a:bodyPr wrap="square" lIns="0" tIns="0" rIns="0" bIns="0" rtlCol="0" anchor="ctr"/>
          <a:lstStyle/>
          <a:p>
            <a:pPr marL="0" indent="0" algn="ctr">
              <a:lnSpc>
                <a:spcPts val="666"/>
              </a:lnSpc>
              <a:buNone/>
            </a:pPr>
            <a:r>
              <a:rPr lang="en-US" sz="555" kern="0" spc="90" dirty="0">
                <a:solidFill>
                  <a:srgbClr val="6F6A66"/>
                </a:solidFill>
                <a:latin typeface="Quicksand" pitchFamily="34" charset="0"/>
              </a:rPr>
              <a:t>ACQUIRED BY
an individual investor</a:t>
            </a:r>
            <a:endParaRPr lang="en-US" sz="555" dirty="0"/>
          </a:p>
        </p:txBody>
      </p:sp>
      <p:sp>
        <p:nvSpPr>
          <p:cNvPr id="167" name="Shape 166"/>
          <p:cNvSpPr/>
          <p:nvPr/>
        </p:nvSpPr>
        <p:spPr>
          <a:xfrm>
            <a:off x="7893101" y="5841187"/>
            <a:ext cx="1746504" cy="1010412"/>
          </a:xfrm>
          <a:prstGeom prst="rect">
            <a:avLst/>
          </a:prstGeom>
          <a:solidFill>
            <a:srgbClr val="FAF7F3"/>
          </a:solidFill>
          <a:ln/>
        </p:spPr>
        <p:txBody>
          <a:bodyPr/>
          <a:lstStyle/>
          <a:p>
            <a:endParaRPr lang="en-US"/>
          </a:p>
        </p:txBody>
      </p:sp>
      <p:sp>
        <p:nvSpPr>
          <p:cNvPr id="168" name="Shape 167"/>
          <p:cNvSpPr/>
          <p:nvPr/>
        </p:nvSpPr>
        <p:spPr>
          <a:xfrm>
            <a:off x="7893101" y="5841187"/>
            <a:ext cx="1746504" cy="19202"/>
          </a:xfrm>
          <a:prstGeom prst="rect">
            <a:avLst/>
          </a:prstGeom>
          <a:solidFill>
            <a:srgbClr val="B68757"/>
          </a:solidFill>
          <a:ln/>
        </p:spPr>
        <p:txBody>
          <a:bodyPr/>
          <a:lstStyle/>
          <a:p>
            <a:endParaRPr lang="en-US"/>
          </a:p>
        </p:txBody>
      </p:sp>
      <p:sp>
        <p:nvSpPr>
          <p:cNvPr id="169" name="Text 168">
            <a:hlinkClick r:id="rId22"/>
          </p:cNvPr>
          <p:cNvSpPr txBox="1"/>
          <p:nvPr/>
        </p:nvSpPr>
        <p:spPr>
          <a:xfrm>
            <a:off x="7984541"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72" name="Text 171">
            <a:hlinkClick r:id="rId22"/>
          </p:cNvPr>
          <p:cNvSpPr txBox="1"/>
          <p:nvPr/>
        </p:nvSpPr>
        <p:spPr>
          <a:xfrm>
            <a:off x="7984541"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4541" y="656813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logo"/>
          <p:cNvPicPr>
            <a:picLocks noChangeAspect="1"/>
          </p:cNvPicPr>
          <p:nvPr/>
        </p:nvPicPr>
        <p:blipFill>
          <a:blip r:embed="rId23"/>
          <a:stretch>
            <a:fillRect/>
          </a:stretch>
        </p:blipFill>
        <p:spPr>
          <a:xfrm>
            <a:off x="419100" y="7143750"/>
            <a:ext cx="914400" cy="171450"/>
          </a:xfrm>
          <a:prstGeom prst="rect">
            <a:avLst/>
          </a:prstGeom>
        </p:spPr>
      </p:pic>
      <p:sp>
        <p:nvSpPr>
          <p:cNvPr id="192" name="Text 191"/>
          <p:cNvSpPr txBox="1"/>
          <p:nvPr/>
        </p:nvSpPr>
        <p:spPr>
          <a:xfrm>
            <a:off x="1543507" y="7098487"/>
            <a:ext cx="7658100" cy="237744"/>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Closed-transaction counts are from Benchmark International’s records for January 1, 2025 through September 30, 2026.</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pic>
        <p:nvPicPr>
          <p:cNvPr id="194" name="Logo Thomasville Restoration" descr="Thomasville Restoration logo"/>
          <p:cNvPicPr>
            <a:picLocks noChangeAspect="1"/>
          </p:cNvPicPr>
          <p:nvPr/>
        </p:nvPicPr>
        <p:blipFill>
          <a:blip r:embed="rId24"/>
          <a:stretch>
            <a:fillRect/>
          </a:stretch>
        </p:blipFill>
        <p:spPr>
          <a:xfrm>
            <a:off x="4892954" y="2308860"/>
            <a:ext cx="457200" cy="141732"/>
          </a:xfrm>
          <a:prstGeom prst="rect">
            <a:avLst/>
          </a:prstGeom>
        </p:spPr>
      </p:pic>
      <p:pic>
        <p:nvPicPr>
          <p:cNvPr id="195" name="Logo Elevate Youth Development" descr="Elevate Youth Development logo"/>
          <p:cNvPicPr>
            <a:picLocks noChangeAspect="1"/>
          </p:cNvPicPr>
          <p:nvPr/>
        </p:nvPicPr>
        <p:blipFill>
          <a:blip r:embed="rId25"/>
          <a:stretch>
            <a:fillRect/>
          </a:stretch>
        </p:blipFill>
        <p:spPr>
          <a:xfrm>
            <a:off x="6557143" y="2308860"/>
            <a:ext cx="773620" cy="141732"/>
          </a:xfrm>
          <a:prstGeom prst="rect">
            <a:avLst/>
          </a:prstGeom>
        </p:spPr>
      </p:pic>
      <p:pic>
        <p:nvPicPr>
          <p:cNvPr id="196" name="Logo Kittleson Landscape" descr="Kittleson Landscape logo"/>
          <p:cNvPicPr>
            <a:picLocks noChangeAspect="1"/>
          </p:cNvPicPr>
          <p:nvPr/>
        </p:nvPicPr>
        <p:blipFill>
          <a:blip r:embed="rId26"/>
          <a:stretch>
            <a:fillRect/>
          </a:stretch>
        </p:blipFill>
        <p:spPr>
          <a:xfrm>
            <a:off x="4758698" y="2745029"/>
            <a:ext cx="725713" cy="228600"/>
          </a:xfrm>
          <a:prstGeom prst="rect">
            <a:avLst/>
          </a:prstGeom>
        </p:spPr>
      </p:pic>
      <p:pic>
        <p:nvPicPr>
          <p:cNvPr id="197" name="Logo Lancaster Group" descr="Lancaster Group logo"/>
          <p:cNvPicPr>
            <a:picLocks noChangeAspect="1"/>
          </p:cNvPicPr>
          <p:nvPr/>
        </p:nvPicPr>
        <p:blipFill>
          <a:blip r:embed="rId27"/>
          <a:stretch>
            <a:fillRect/>
          </a:stretch>
        </p:blipFill>
        <p:spPr>
          <a:xfrm>
            <a:off x="4581052" y="3403397"/>
            <a:ext cx="1081006" cy="141732"/>
          </a:xfrm>
          <a:prstGeom prst="rect">
            <a:avLst/>
          </a:prstGeom>
        </p:spPr>
      </p:pic>
      <p:pic>
        <p:nvPicPr>
          <p:cNvPr id="198" name="Logo Telmark Sales Solutions" descr="Telmark Sales Solutions logo"/>
          <p:cNvPicPr>
            <a:picLocks noChangeAspect="1"/>
          </p:cNvPicPr>
          <p:nvPr/>
        </p:nvPicPr>
        <p:blipFill>
          <a:blip r:embed="rId28"/>
          <a:stretch>
            <a:fillRect/>
          </a:stretch>
        </p:blipFill>
        <p:spPr>
          <a:xfrm>
            <a:off x="8556076" y="2745029"/>
            <a:ext cx="420553" cy="228600"/>
          </a:xfrm>
          <a:prstGeom prst="rect">
            <a:avLst/>
          </a:prstGeom>
        </p:spPr>
      </p:pic>
      <p:pic>
        <p:nvPicPr>
          <p:cNvPr id="199" name="Logo Market Performance Group" descr="Market Performance Group logo"/>
          <p:cNvPicPr>
            <a:picLocks noChangeAspect="1"/>
          </p:cNvPicPr>
          <p:nvPr/>
        </p:nvPicPr>
        <p:blipFill>
          <a:blip r:embed="rId29"/>
          <a:stretch>
            <a:fillRect/>
          </a:stretch>
        </p:blipFill>
        <p:spPr>
          <a:xfrm>
            <a:off x="8275742" y="3403397"/>
            <a:ext cx="981221" cy="141732"/>
          </a:xfrm>
          <a:prstGeom prst="rect">
            <a:avLst/>
          </a:prstGeom>
        </p:spPr>
      </p:pic>
      <p:pic>
        <p:nvPicPr>
          <p:cNvPr id="200" name="Logo Classic Collision" descr="Classic Collision logo"/>
          <p:cNvPicPr>
            <a:picLocks noChangeAspect="1"/>
          </p:cNvPicPr>
          <p:nvPr/>
        </p:nvPicPr>
        <p:blipFill>
          <a:blip r:embed="rId30"/>
          <a:stretch>
            <a:fillRect/>
          </a:stretch>
        </p:blipFill>
        <p:spPr>
          <a:xfrm>
            <a:off x="4850432" y="4497934"/>
            <a:ext cx="542244" cy="141732"/>
          </a:xfrm>
          <a:prstGeom prst="rect">
            <a:avLst/>
          </a:prstGeom>
        </p:spPr>
      </p:pic>
      <p:pic>
        <p:nvPicPr>
          <p:cNvPr id="201" name="Logo Allied Roofing Partners" descr="Allied Roofing Partners logo"/>
          <p:cNvPicPr>
            <a:picLocks noChangeAspect="1"/>
          </p:cNvPicPr>
          <p:nvPr/>
        </p:nvPicPr>
        <p:blipFill>
          <a:blip r:embed="rId31"/>
          <a:stretch>
            <a:fillRect/>
          </a:stretch>
        </p:blipFill>
        <p:spPr>
          <a:xfrm>
            <a:off x="6800630" y="4497934"/>
            <a:ext cx="286648" cy="141732"/>
          </a:xfrm>
          <a:prstGeom prst="rect">
            <a:avLst/>
          </a:prstGeom>
        </p:spPr>
      </p:pic>
      <p:pic>
        <p:nvPicPr>
          <p:cNvPr id="202" name="Logo Formulation Technology" descr="Formulation Technology logo"/>
          <p:cNvPicPr>
            <a:picLocks noChangeAspect="1"/>
          </p:cNvPicPr>
          <p:nvPr/>
        </p:nvPicPr>
        <p:blipFill>
          <a:blip r:embed="rId32"/>
          <a:stretch>
            <a:fillRect/>
          </a:stretch>
        </p:blipFill>
        <p:spPr>
          <a:xfrm>
            <a:off x="8456358" y="3839566"/>
            <a:ext cx="619989" cy="228600"/>
          </a:xfrm>
          <a:prstGeom prst="rect">
            <a:avLst/>
          </a:prstGeom>
        </p:spPr>
      </p:pic>
      <p:pic>
        <p:nvPicPr>
          <p:cNvPr id="203" name="Logo AAVIN Private Equity" descr="AAVIN Private Equity logo"/>
          <p:cNvPicPr>
            <a:picLocks noChangeAspect="1"/>
          </p:cNvPicPr>
          <p:nvPr/>
        </p:nvPicPr>
        <p:blipFill>
          <a:blip r:embed="rId33"/>
          <a:stretch>
            <a:fillRect/>
          </a:stretch>
        </p:blipFill>
        <p:spPr>
          <a:xfrm>
            <a:off x="8703321" y="4497934"/>
            <a:ext cx="126063" cy="141732"/>
          </a:xfrm>
          <a:prstGeom prst="rect">
            <a:avLst/>
          </a:prstGeom>
        </p:spPr>
      </p:pic>
      <p:pic>
        <p:nvPicPr>
          <p:cNvPr id="204" name="Logo Innova Capital" descr="Innova Capital logo"/>
          <p:cNvPicPr>
            <a:picLocks noChangeAspect="1"/>
          </p:cNvPicPr>
          <p:nvPr/>
        </p:nvPicPr>
        <p:blipFill>
          <a:blip r:embed="rId34"/>
          <a:stretch>
            <a:fillRect/>
          </a:stretch>
        </p:blipFill>
        <p:spPr>
          <a:xfrm>
            <a:off x="4793506" y="5592470"/>
            <a:ext cx="656097" cy="141732"/>
          </a:xfrm>
          <a:prstGeom prst="rect">
            <a:avLst/>
          </a:prstGeom>
        </p:spPr>
      </p:pic>
      <p:pic>
        <p:nvPicPr>
          <p:cNvPr id="205" name="Logo Stirling Food Systems" descr="Stirling Food Systems logo"/>
          <p:cNvPicPr>
            <a:picLocks noChangeAspect="1"/>
          </p:cNvPicPr>
          <p:nvPr/>
        </p:nvPicPr>
        <p:blipFill>
          <a:blip r:embed="rId35"/>
          <a:stretch>
            <a:fillRect/>
          </a:stretch>
        </p:blipFill>
        <p:spPr>
          <a:xfrm>
            <a:off x="6596767" y="4934102"/>
            <a:ext cx="694372" cy="228600"/>
          </a:xfrm>
          <a:prstGeom prst="rect">
            <a:avLst/>
          </a:prstGeom>
        </p:spPr>
      </p:pic>
      <p:pic>
        <p:nvPicPr>
          <p:cNvPr id="206" name="Logo GreaseCycle" descr="GreaseCycle logo"/>
          <p:cNvPicPr>
            <a:picLocks noChangeAspect="1"/>
          </p:cNvPicPr>
          <p:nvPr/>
        </p:nvPicPr>
        <p:blipFill>
          <a:blip r:embed="rId36"/>
          <a:stretch>
            <a:fillRect/>
          </a:stretch>
        </p:blipFill>
        <p:spPr>
          <a:xfrm>
            <a:off x="6597128" y="5592470"/>
            <a:ext cx="693652" cy="141732"/>
          </a:xfrm>
          <a:prstGeom prst="rect">
            <a:avLst/>
          </a:prstGeom>
        </p:spPr>
      </p:pic>
      <p:pic>
        <p:nvPicPr>
          <p:cNvPr id="207" name="Logo Southern Pool Designs" descr="Southern Pool Designs logo"/>
          <p:cNvPicPr>
            <a:picLocks noChangeAspect="1"/>
          </p:cNvPicPr>
          <p:nvPr/>
        </p:nvPicPr>
        <p:blipFill>
          <a:blip r:embed="rId37"/>
          <a:stretch>
            <a:fillRect/>
          </a:stretch>
        </p:blipFill>
        <p:spPr>
          <a:xfrm>
            <a:off x="6766592" y="6028639"/>
            <a:ext cx="354723" cy="228600"/>
          </a:xfrm>
          <a:prstGeom prst="rect">
            <a:avLst/>
          </a:prstGeom>
        </p:spPr>
      </p:pic>
      <p:pic>
        <p:nvPicPr>
          <p:cNvPr id="211" name="Logo Gilco Restoration (VA)" descr="Gilco Restoration (VA) logo"/>
          <p:cNvPicPr>
            <a:picLocks noChangeAspect="1"/>
          </p:cNvPicPr>
          <p:nvPr/>
        </p:nvPicPr>
        <p:blipFill>
          <a:blip r:embed="rId38"/>
          <a:stretch/>
        </p:blipFill>
        <p:spPr>
          <a:xfrm>
            <a:off x="4929049" y="1650492"/>
            <a:ext cx="385011" cy="228600"/>
          </a:xfrm>
          <a:prstGeom prst="rect">
            <a:avLst/>
          </a:prstGeom>
        </p:spPr>
      </p:pic>
      <p:pic>
        <p:nvPicPr>
          <p:cNvPr id="212" name="Logo Edison Martial Arts" descr="Edison Martial Arts logo"/>
          <p:cNvPicPr>
            <a:picLocks noChangeAspect="1"/>
          </p:cNvPicPr>
          <p:nvPr/>
        </p:nvPicPr>
        <p:blipFill>
          <a:blip r:embed="rId39"/>
          <a:stretch/>
        </p:blipFill>
        <p:spPr>
          <a:xfrm>
            <a:off x="6728308" y="1650492"/>
            <a:ext cx="431292" cy="228600"/>
          </a:xfrm>
          <a:prstGeom prst="rect">
            <a:avLst/>
          </a:prstGeom>
        </p:spPr>
      </p:pic>
      <p:pic>
        <p:nvPicPr>
          <p:cNvPr id="213" name="Logo Project Energy Savers" descr="Project Energy Savers logo"/>
          <p:cNvPicPr>
            <a:picLocks noChangeAspect="1"/>
          </p:cNvPicPr>
          <p:nvPr/>
        </p:nvPicPr>
        <p:blipFill>
          <a:blip r:embed="rId40"/>
          <a:stretch/>
        </p:blipFill>
        <p:spPr>
          <a:xfrm>
            <a:off x="8599136" y="1650492"/>
            <a:ext cx="334433" cy="228600"/>
          </a:xfrm>
          <a:prstGeom prst="rect">
            <a:avLst/>
          </a:prstGeom>
        </p:spPr>
      </p:pic>
      <p:pic>
        <p:nvPicPr>
          <p:cNvPr id="214" name="Logo WRS Group" descr="WRS Group logo"/>
          <p:cNvPicPr>
            <a:picLocks noChangeAspect="1"/>
          </p:cNvPicPr>
          <p:nvPr/>
        </p:nvPicPr>
        <p:blipFill>
          <a:blip r:embed="rId41"/>
          <a:stretch/>
        </p:blipFill>
        <p:spPr>
          <a:xfrm>
            <a:off x="8167026" y="2308860"/>
            <a:ext cx="1198653" cy="141732"/>
          </a:xfrm>
          <a:prstGeom prst="rect">
            <a:avLst/>
          </a:prstGeom>
        </p:spPr>
      </p:pic>
      <p:pic>
        <p:nvPicPr>
          <p:cNvPr id="215" name="Logo Jagimo Corporation" descr="Jagimo Corporation logo"/>
          <p:cNvPicPr>
            <a:picLocks noChangeAspect="1"/>
          </p:cNvPicPr>
          <p:nvPr/>
        </p:nvPicPr>
        <p:blipFill>
          <a:blip r:embed="rId42"/>
          <a:stretch/>
        </p:blipFill>
        <p:spPr>
          <a:xfrm>
            <a:off x="6762026" y="2745029"/>
            <a:ext cx="363855" cy="228600"/>
          </a:xfrm>
          <a:prstGeom prst="rect">
            <a:avLst/>
          </a:prstGeom>
        </p:spPr>
      </p:pic>
      <p:pic>
        <p:nvPicPr>
          <p:cNvPr id="216" name="Logo Castleford Group" descr="Castleford Group logo"/>
          <p:cNvPicPr>
            <a:picLocks noChangeAspect="1"/>
          </p:cNvPicPr>
          <p:nvPr/>
        </p:nvPicPr>
        <p:blipFill>
          <a:blip r:embed="rId43"/>
          <a:stretch/>
        </p:blipFill>
        <p:spPr>
          <a:xfrm>
            <a:off x="6851575" y="3403397"/>
            <a:ext cx="184758" cy="141732"/>
          </a:xfrm>
          <a:prstGeom prst="rect">
            <a:avLst/>
          </a:prstGeom>
        </p:spPr>
      </p:pic>
      <p:pic>
        <p:nvPicPr>
          <p:cNvPr id="217" name="Logo Stepfar Investments" descr="Stepfar Investments logo"/>
          <p:cNvPicPr>
            <a:picLocks noChangeAspect="1"/>
          </p:cNvPicPr>
          <p:nvPr/>
        </p:nvPicPr>
        <p:blipFill>
          <a:blip r:embed="rId44"/>
          <a:stretch/>
        </p:blipFill>
        <p:spPr>
          <a:xfrm>
            <a:off x="4394606" y="3919483"/>
            <a:ext cx="1453896" cy="68765"/>
          </a:xfrm>
          <a:prstGeom prst="rect">
            <a:avLst/>
          </a:prstGeom>
        </p:spPr>
      </p:pic>
      <p:pic>
        <p:nvPicPr>
          <p:cNvPr id="218" name="Logo M&amp;M Roofing" descr="M&amp;M Roofing logo"/>
          <p:cNvPicPr>
            <a:picLocks noChangeAspect="1"/>
          </p:cNvPicPr>
          <p:nvPr/>
        </p:nvPicPr>
        <p:blipFill>
          <a:blip r:embed="rId45"/>
          <a:stretch/>
        </p:blipFill>
        <p:spPr>
          <a:xfrm>
            <a:off x="6644548" y="3839566"/>
            <a:ext cx="598811" cy="228600"/>
          </a:xfrm>
          <a:prstGeom prst="rect">
            <a:avLst/>
          </a:prstGeom>
        </p:spPr>
      </p:pic>
      <p:pic>
        <p:nvPicPr>
          <p:cNvPr id="219" name="Logo Arocam" descr="Arocam logo"/>
          <p:cNvPicPr>
            <a:picLocks noChangeAspect="1"/>
          </p:cNvPicPr>
          <p:nvPr/>
        </p:nvPicPr>
        <p:blipFill>
          <a:blip r:embed="rId46"/>
          <a:stretch/>
        </p:blipFill>
        <p:spPr>
          <a:xfrm>
            <a:off x="4617920" y="4934102"/>
            <a:ext cx="1007269" cy="228600"/>
          </a:xfrm>
          <a:prstGeom prst="rect">
            <a:avLst/>
          </a:prstGeom>
        </p:spPr>
      </p:pic>
      <p:pic>
        <p:nvPicPr>
          <p:cNvPr id="220" name="Logo Affordable Garage Doors" descr="Affordable Garage Doors logo"/>
          <p:cNvPicPr>
            <a:picLocks noChangeAspect="1"/>
          </p:cNvPicPr>
          <p:nvPr/>
        </p:nvPicPr>
        <p:blipFill>
          <a:blip r:embed="rId47"/>
          <a:stretch/>
        </p:blipFill>
        <p:spPr>
          <a:xfrm>
            <a:off x="8564072" y="4934102"/>
            <a:ext cx="404562" cy="228600"/>
          </a:xfrm>
          <a:prstGeom prst="rect">
            <a:avLst/>
          </a:prstGeom>
        </p:spPr>
      </p:pic>
      <p:pic>
        <p:nvPicPr>
          <p:cNvPr id="221" name="Logo A.S.A.P. Garage Door Repair" descr="A.S.A.P. Garage Door Repair logo"/>
          <p:cNvPicPr>
            <a:picLocks noChangeAspect="1"/>
          </p:cNvPicPr>
          <p:nvPr/>
        </p:nvPicPr>
        <p:blipFill>
          <a:blip r:embed="rId48"/>
          <a:stretch/>
        </p:blipFill>
        <p:spPr>
          <a:xfrm>
            <a:off x="8632080" y="5592470"/>
            <a:ext cx="268545" cy="141732"/>
          </a:xfrm>
          <a:prstGeom prst="rect">
            <a:avLst/>
          </a:prstGeom>
        </p:spPr>
      </p:pic>
      <p:pic>
        <p:nvPicPr>
          <p:cNvPr id="222" name="Logo GSM Wings" descr="GSM Wings logo"/>
          <p:cNvPicPr>
            <a:picLocks noChangeAspect="1"/>
          </p:cNvPicPr>
          <p:nvPr/>
        </p:nvPicPr>
        <p:blipFill>
          <a:blip r:embed="rId49"/>
          <a:stretch/>
        </p:blipFill>
        <p:spPr>
          <a:xfrm>
            <a:off x="4822850" y="6028639"/>
            <a:ext cx="597408" cy="228600"/>
          </a:xfrm>
          <a:prstGeom prst="rect">
            <a:avLst/>
          </a:prstGeom>
        </p:spPr>
      </p:pic>
      <p:pic>
        <p:nvPicPr>
          <p:cNvPr id="223" name="Logo GPC Investments" descr="GPC Investments logo"/>
          <p:cNvPicPr>
            <a:picLocks noChangeAspect="1"/>
          </p:cNvPicPr>
          <p:nvPr/>
        </p:nvPicPr>
        <p:blipFill>
          <a:blip r:embed="rId50"/>
          <a:stretch/>
        </p:blipFill>
        <p:spPr>
          <a:xfrm>
            <a:off x="4745831" y="6687007"/>
            <a:ext cx="751447" cy="141732"/>
          </a:xfrm>
          <a:prstGeom prst="rect">
            <a:avLst/>
          </a:prstGeom>
        </p:spPr>
      </p:pic>
      <p:pic>
        <p:nvPicPr>
          <p:cNvPr id="224" name="Logo Smart Buffet Ware" descr="Smart Buffet Ware logo"/>
          <p:cNvPicPr>
            <a:picLocks noChangeAspect="1"/>
          </p:cNvPicPr>
          <p:nvPr/>
        </p:nvPicPr>
        <p:blipFill>
          <a:blip r:embed="rId51"/>
          <a:stretch/>
        </p:blipFill>
        <p:spPr>
          <a:xfrm>
            <a:off x="8421120" y="6028639"/>
            <a:ext cx="690466" cy="228600"/>
          </a:xfrm>
          <a:prstGeom prst="rect">
            <a:avLst/>
          </a:prstGeom>
        </p:spPr>
      </p:pic>
      <p:pic>
        <p:nvPicPr>
          <p:cNvPr id="225" name="Logo Front of House Worldwide" descr="Front of House Worldwide logo"/>
          <p:cNvPicPr>
            <a:picLocks noChangeAspect="1"/>
          </p:cNvPicPr>
          <p:nvPr/>
        </p:nvPicPr>
        <p:blipFill>
          <a:blip r:embed="rId52"/>
          <a:stretch/>
        </p:blipFill>
        <p:spPr>
          <a:xfrm>
            <a:off x="8563387" y="6687007"/>
            <a:ext cx="405931" cy="1417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Landscape: Select Participants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listed reference companies in each segment, and the platforms, sponsors, and strategic buyers acquiring founder-owned consumer businesses.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Listed companies are the 56 in the peer groups on pages 21 to 23. Private participants are buyers named in 2026 transactions covered in this report and in announcements of Benchmark International transactions. Company names and marks are the property of their owners and are shown for identification.</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
        <p:nvSpPr>
          <p:cNvPr id="13" name="Rectangle 12"/>
          <p:cNvSpPr/>
          <p:nvPr/>
        </p:nvSpPr>
        <p:spPr>
          <a:xfrm>
            <a:off x="481981" y="1234440"/>
            <a:ext cx="4535424" cy="2798064"/>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4535424" cy="274320"/>
          </a:xfrm>
          <a:prstGeom prst="rect">
            <a:avLst/>
          </a:prstGeom>
          <a:solidFill>
            <a:srgbClr val="1B1A1A"/>
          </a:solidFill>
          <a:ln>
            <a:noFill/>
          </a:ln>
        </p:spPr>
        <p:txBody>
          <a:bodyPr rtlCol="0" anchor="ctr"/>
          <a:lstStyle/>
          <a:p>
            <a:pPr algn="ctr"/>
            <a:endParaRPr/>
          </a:p>
        </p:txBody>
      </p:sp>
      <p:sp>
        <p:nvSpPr>
          <p:cNvPr id="15" name="TextBox 14"/>
          <p:cNvSpPr txBox="1"/>
          <p:nvPr/>
        </p:nvSpPr>
        <p:spPr>
          <a:xfrm>
            <a:off x="566928" y="1312164"/>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FOOD &amp; BEVERAGE</a:t>
            </a:r>
            <a:endParaRPr lang="en-US" sz="720" dirty="0"/>
          </a:p>
        </p:txBody>
      </p:sp>
      <p:sp>
        <p:nvSpPr>
          <p:cNvPr id="16" name="TextBox 15"/>
          <p:cNvSpPr txBox="1"/>
          <p:nvPr/>
        </p:nvSpPr>
        <p:spPr>
          <a:xfrm>
            <a:off x="3675888" y="1312164"/>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20 LISTED</a:t>
            </a:r>
            <a:endParaRPr lang="en-US" sz="615" dirty="0"/>
          </a:p>
        </p:txBody>
      </p:sp>
      <p:sp>
        <p:nvSpPr>
          <p:cNvPr id="17" name="TextBox 16"/>
          <p:cNvSpPr txBox="1"/>
          <p:nvPr/>
        </p:nvSpPr>
        <p:spPr>
          <a:xfrm>
            <a:off x="566928" y="1618488"/>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sp>
        <p:nvSpPr>
          <p:cNvPr id="57" name="Rectangle 56"/>
          <p:cNvSpPr/>
          <p:nvPr/>
        </p:nvSpPr>
        <p:spPr>
          <a:xfrm>
            <a:off x="566928" y="3058668"/>
            <a:ext cx="4242816" cy="9144"/>
          </a:xfrm>
          <a:prstGeom prst="rect">
            <a:avLst/>
          </a:prstGeom>
          <a:solidFill>
            <a:srgbClr val="E3DCD3"/>
          </a:solidFill>
          <a:ln>
            <a:noFill/>
          </a:ln>
        </p:spPr>
        <p:txBody>
          <a:bodyPr rtlCol="0" anchor="ctr"/>
          <a:lstStyle/>
          <a:p>
            <a:pPr algn="ctr"/>
            <a:endParaRPr/>
          </a:p>
        </p:txBody>
      </p:sp>
      <p:sp>
        <p:nvSpPr>
          <p:cNvPr id="58" name="TextBox 57"/>
          <p:cNvSpPr txBox="1"/>
          <p:nvPr/>
        </p:nvSpPr>
        <p:spPr>
          <a:xfrm>
            <a:off x="566928" y="3127248"/>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72" name="Picture 71" descr="Intersnack logo"/>
          <p:cNvPicPr>
            <a:picLocks noChangeAspect="1"/>
          </p:cNvPicPr>
          <p:nvPr/>
        </p:nvPicPr>
        <p:blipFill>
          <a:blip r:embed="rId3"/>
          <a:stretch>
            <a:fillRect/>
          </a:stretch>
        </p:blipFill>
        <p:spPr>
          <a:xfrm>
            <a:off x="816102" y="3635340"/>
            <a:ext cx="360588" cy="360588"/>
          </a:xfrm>
          <a:prstGeom prst="rect">
            <a:avLst/>
          </a:prstGeom>
        </p:spPr>
      </p:pic>
      <p:sp>
        <p:nvSpPr>
          <p:cNvPr id="78" name="Rectangle 77"/>
          <p:cNvSpPr/>
          <p:nvPr/>
        </p:nvSpPr>
        <p:spPr>
          <a:xfrm>
            <a:off x="5102352" y="1234440"/>
            <a:ext cx="4535424" cy="274320"/>
          </a:xfrm>
          <a:prstGeom prst="rect">
            <a:avLst/>
          </a:prstGeom>
          <a:solidFill>
            <a:srgbClr val="1B1A1A"/>
          </a:solidFill>
          <a:ln>
            <a:noFill/>
          </a:ln>
        </p:spPr>
        <p:txBody>
          <a:bodyPr rtlCol="0" anchor="ctr"/>
          <a:lstStyle/>
          <a:p>
            <a:pPr algn="ctr"/>
            <a:endParaRPr/>
          </a:p>
        </p:txBody>
      </p:sp>
      <p:sp>
        <p:nvSpPr>
          <p:cNvPr id="79" name="TextBox 78"/>
          <p:cNvSpPr txBox="1"/>
          <p:nvPr/>
        </p:nvSpPr>
        <p:spPr>
          <a:xfrm>
            <a:off x="5248656" y="1312164"/>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CONSUMER BRANDS &amp; PRODUCTS</a:t>
            </a:r>
            <a:endParaRPr lang="en-US" sz="720" dirty="0"/>
          </a:p>
        </p:txBody>
      </p:sp>
      <p:sp>
        <p:nvSpPr>
          <p:cNvPr id="80" name="TextBox 79"/>
          <p:cNvSpPr txBox="1"/>
          <p:nvPr/>
        </p:nvSpPr>
        <p:spPr>
          <a:xfrm>
            <a:off x="8357616" y="1312164"/>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12 LISTED</a:t>
            </a:r>
            <a:endParaRPr lang="en-US" sz="615" dirty="0"/>
          </a:p>
        </p:txBody>
      </p:sp>
      <p:sp>
        <p:nvSpPr>
          <p:cNvPr id="81" name="TextBox 80"/>
          <p:cNvSpPr txBox="1"/>
          <p:nvPr/>
        </p:nvSpPr>
        <p:spPr>
          <a:xfrm>
            <a:off x="5248656" y="1618488"/>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sp>
        <p:nvSpPr>
          <p:cNvPr id="103" name="Rectangle 102"/>
          <p:cNvSpPr/>
          <p:nvPr/>
        </p:nvSpPr>
        <p:spPr>
          <a:xfrm>
            <a:off x="5248656" y="2766060"/>
            <a:ext cx="4242816" cy="9144"/>
          </a:xfrm>
          <a:prstGeom prst="rect">
            <a:avLst/>
          </a:prstGeom>
          <a:solidFill>
            <a:srgbClr val="E3DCD3"/>
          </a:solidFill>
          <a:ln>
            <a:noFill/>
          </a:ln>
        </p:spPr>
        <p:txBody>
          <a:bodyPr rtlCol="0" anchor="ctr"/>
          <a:lstStyle/>
          <a:p>
            <a:pPr algn="ctr"/>
            <a:endParaRPr/>
          </a:p>
        </p:txBody>
      </p:sp>
      <p:sp>
        <p:nvSpPr>
          <p:cNvPr id="104" name="TextBox 103"/>
          <p:cNvSpPr txBox="1"/>
          <p:nvPr/>
        </p:nvSpPr>
        <p:spPr>
          <a:xfrm>
            <a:off x="5248656" y="2834640"/>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sp>
        <p:nvSpPr>
          <p:cNvPr id="113" name="TextBox 112"/>
          <p:cNvSpPr txBox="1"/>
          <p:nvPr/>
        </p:nvSpPr>
        <p:spPr>
          <a:xfrm>
            <a:off x="6035954" y="3351276"/>
            <a:ext cx="432511" cy="228600"/>
          </a:xfrm>
          <a:prstGeom prst="rect">
            <a:avLst/>
          </a:prstGeom>
          <a:noFill/>
        </p:spPr>
        <p:txBody>
          <a:bodyPr wrap="none" lIns="0" tIns="0" rIns="0" bIns="0" rtlCol="0" anchor="t"/>
          <a:lstStyle/>
          <a:p>
            <a:pPr marL="0" indent="0" algn="l">
              <a:lnSpc>
                <a:spcPts val="780"/>
              </a:lnSpc>
              <a:buNone/>
            </a:pPr>
            <a:r>
              <a:rPr lang="en-US" sz="650" kern="0" spc="15" dirty="0">
                <a:solidFill>
                  <a:srgbClr val="333231"/>
                </a:solidFill>
                <a:latin typeface="Quicksand SemiBold" pitchFamily="34" charset="0"/>
              </a:rPr>
              <a:t>Acme United</a:t>
            </a:r>
            <a:endParaRPr lang="en-US" sz="650" dirty="0"/>
          </a:p>
        </p:txBody>
      </p:sp>
      <p:sp>
        <p:nvSpPr>
          <p:cNvPr id="123" name="Rectangle 122"/>
          <p:cNvSpPr/>
          <p:nvPr/>
        </p:nvSpPr>
        <p:spPr>
          <a:xfrm>
            <a:off x="419100" y="4096512"/>
            <a:ext cx="4535424" cy="2798064"/>
          </a:xfrm>
          <a:prstGeom prst="rect">
            <a:avLst/>
          </a:prstGeom>
          <a:solidFill>
            <a:srgbClr val="FAF7F3"/>
          </a:solidFill>
          <a:ln>
            <a:noFill/>
          </a:ln>
        </p:spPr>
        <p:txBody>
          <a:bodyPr rtlCol="0" anchor="ctr"/>
          <a:lstStyle/>
          <a:p>
            <a:pPr algn="ctr"/>
            <a:endParaRPr/>
          </a:p>
        </p:txBody>
      </p:sp>
      <p:sp>
        <p:nvSpPr>
          <p:cNvPr id="124" name="Rectangle 123"/>
          <p:cNvSpPr/>
          <p:nvPr/>
        </p:nvSpPr>
        <p:spPr>
          <a:xfrm>
            <a:off x="420624" y="4087368"/>
            <a:ext cx="4535424" cy="274320"/>
          </a:xfrm>
          <a:prstGeom prst="rect">
            <a:avLst/>
          </a:prstGeom>
          <a:solidFill>
            <a:srgbClr val="1B1A1A"/>
          </a:solidFill>
          <a:ln>
            <a:noFill/>
          </a:ln>
        </p:spPr>
        <p:txBody>
          <a:bodyPr rtlCol="0" anchor="ctr"/>
          <a:lstStyle/>
          <a:p>
            <a:pPr algn="ctr"/>
            <a:endParaRPr/>
          </a:p>
        </p:txBody>
      </p:sp>
      <p:sp>
        <p:nvSpPr>
          <p:cNvPr id="125" name="TextBox 124"/>
          <p:cNvSpPr txBox="1"/>
          <p:nvPr/>
        </p:nvSpPr>
        <p:spPr>
          <a:xfrm>
            <a:off x="566928" y="4165092"/>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FOODSERVICE &amp; DISTRIBUTION</a:t>
            </a:r>
            <a:endParaRPr lang="en-US" sz="720" dirty="0"/>
          </a:p>
        </p:txBody>
      </p:sp>
      <p:sp>
        <p:nvSpPr>
          <p:cNvPr id="126" name="TextBox 125"/>
          <p:cNvSpPr txBox="1"/>
          <p:nvPr/>
        </p:nvSpPr>
        <p:spPr>
          <a:xfrm>
            <a:off x="3675888" y="4165092"/>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6 LISTED</a:t>
            </a:r>
            <a:endParaRPr lang="en-US" sz="615" dirty="0"/>
          </a:p>
        </p:txBody>
      </p:sp>
      <p:sp>
        <p:nvSpPr>
          <p:cNvPr id="127" name="TextBox 126"/>
          <p:cNvSpPr txBox="1"/>
          <p:nvPr/>
        </p:nvSpPr>
        <p:spPr>
          <a:xfrm>
            <a:off x="566928" y="4471416"/>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pic>
        <p:nvPicPr>
          <p:cNvPr id="133" name="Picture 132" descr="Chefs' Warehouse logo"/>
          <p:cNvPicPr>
            <a:picLocks noChangeAspect="1"/>
          </p:cNvPicPr>
          <p:nvPr/>
        </p:nvPicPr>
        <p:blipFill>
          <a:blip r:embed="rId4"/>
          <a:stretch>
            <a:fillRect/>
          </a:stretch>
        </p:blipFill>
        <p:spPr>
          <a:xfrm>
            <a:off x="2713064" y="4952539"/>
            <a:ext cx="317754" cy="317754"/>
          </a:xfrm>
          <a:prstGeom prst="rect">
            <a:avLst/>
          </a:prstGeom>
        </p:spPr>
      </p:pic>
      <p:pic>
        <p:nvPicPr>
          <p:cNvPr id="135" name="Picture 134" descr="United Natural Foods logo"/>
          <p:cNvPicPr>
            <a:picLocks noChangeAspect="1"/>
          </p:cNvPicPr>
          <p:nvPr/>
        </p:nvPicPr>
        <p:blipFill>
          <a:blip r:embed="rId5"/>
          <a:stretch>
            <a:fillRect/>
          </a:stretch>
        </p:blipFill>
        <p:spPr>
          <a:xfrm>
            <a:off x="1176690" y="4896612"/>
            <a:ext cx="401777" cy="401777"/>
          </a:xfrm>
          <a:prstGeom prst="rect">
            <a:avLst/>
          </a:prstGeom>
        </p:spPr>
      </p:pic>
      <p:sp>
        <p:nvSpPr>
          <p:cNvPr id="139" name="Rectangle 138"/>
          <p:cNvSpPr/>
          <p:nvPr/>
        </p:nvSpPr>
        <p:spPr>
          <a:xfrm>
            <a:off x="566928" y="5399532"/>
            <a:ext cx="4242816" cy="9144"/>
          </a:xfrm>
          <a:prstGeom prst="rect">
            <a:avLst/>
          </a:prstGeom>
          <a:solidFill>
            <a:srgbClr val="E3DCD3"/>
          </a:solidFill>
          <a:ln>
            <a:noFill/>
          </a:ln>
        </p:spPr>
        <p:txBody>
          <a:bodyPr rtlCol="0" anchor="ctr"/>
          <a:lstStyle/>
          <a:p>
            <a:pPr algn="ctr"/>
            <a:endParaRPr/>
          </a:p>
        </p:txBody>
      </p:sp>
      <p:sp>
        <p:nvSpPr>
          <p:cNvPr id="140" name="TextBox 139"/>
          <p:cNvSpPr txBox="1"/>
          <p:nvPr/>
        </p:nvSpPr>
        <p:spPr>
          <a:xfrm>
            <a:off x="566928" y="5468112"/>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148" name="Picture 147" descr="Parts Town logo"/>
          <p:cNvPicPr>
            <a:picLocks noChangeAspect="1"/>
          </p:cNvPicPr>
          <p:nvPr/>
        </p:nvPicPr>
        <p:blipFill>
          <a:blip r:embed="rId6"/>
          <a:stretch>
            <a:fillRect/>
          </a:stretch>
        </p:blipFill>
        <p:spPr>
          <a:xfrm>
            <a:off x="1226455" y="5885537"/>
            <a:ext cx="437753" cy="437753"/>
          </a:xfrm>
          <a:prstGeom prst="rect">
            <a:avLst/>
          </a:prstGeom>
        </p:spPr>
      </p:pic>
      <p:sp>
        <p:nvSpPr>
          <p:cNvPr id="155" name="Rectangle 154"/>
          <p:cNvSpPr/>
          <p:nvPr/>
        </p:nvSpPr>
        <p:spPr>
          <a:xfrm>
            <a:off x="5102352" y="4087368"/>
            <a:ext cx="4535424" cy="2798064"/>
          </a:xfrm>
          <a:prstGeom prst="rect">
            <a:avLst/>
          </a:prstGeom>
          <a:solidFill>
            <a:srgbClr val="FAF7F3"/>
          </a:solidFill>
          <a:ln>
            <a:noFill/>
          </a:ln>
        </p:spPr>
        <p:txBody>
          <a:bodyPr rtlCol="0" anchor="ctr"/>
          <a:lstStyle/>
          <a:p>
            <a:pPr algn="ctr"/>
            <a:endParaRPr/>
          </a:p>
        </p:txBody>
      </p:sp>
      <p:sp>
        <p:nvSpPr>
          <p:cNvPr id="156" name="Rectangle 155"/>
          <p:cNvSpPr/>
          <p:nvPr/>
        </p:nvSpPr>
        <p:spPr>
          <a:xfrm>
            <a:off x="5102352" y="4087368"/>
            <a:ext cx="4535424" cy="274320"/>
          </a:xfrm>
          <a:prstGeom prst="rect">
            <a:avLst/>
          </a:prstGeom>
          <a:solidFill>
            <a:srgbClr val="1B1A1A"/>
          </a:solidFill>
          <a:ln>
            <a:noFill/>
          </a:ln>
        </p:spPr>
        <p:txBody>
          <a:bodyPr rtlCol="0" anchor="ctr"/>
          <a:lstStyle/>
          <a:p>
            <a:pPr algn="ctr"/>
            <a:endParaRPr/>
          </a:p>
        </p:txBody>
      </p:sp>
      <p:sp>
        <p:nvSpPr>
          <p:cNvPr id="157" name="TextBox 156"/>
          <p:cNvSpPr txBox="1"/>
          <p:nvPr/>
        </p:nvSpPr>
        <p:spPr>
          <a:xfrm>
            <a:off x="5248656" y="4165092"/>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CONSUMER SERVICES &amp; RETAIL</a:t>
            </a:r>
            <a:endParaRPr lang="en-US" sz="720" dirty="0"/>
          </a:p>
        </p:txBody>
      </p:sp>
      <p:sp>
        <p:nvSpPr>
          <p:cNvPr id="158" name="TextBox 157"/>
          <p:cNvSpPr txBox="1"/>
          <p:nvPr/>
        </p:nvSpPr>
        <p:spPr>
          <a:xfrm>
            <a:off x="8357616" y="4165092"/>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18 LISTED</a:t>
            </a:r>
            <a:endParaRPr lang="en-US" sz="615" dirty="0"/>
          </a:p>
        </p:txBody>
      </p:sp>
      <p:sp>
        <p:nvSpPr>
          <p:cNvPr id="159" name="TextBox 158"/>
          <p:cNvSpPr txBox="1"/>
          <p:nvPr/>
        </p:nvSpPr>
        <p:spPr>
          <a:xfrm>
            <a:off x="5248656" y="4471416"/>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pic>
        <p:nvPicPr>
          <p:cNvPr id="173" name="Picture 172" descr="Frontdoor logo"/>
          <p:cNvPicPr>
            <a:picLocks noChangeAspect="1"/>
          </p:cNvPicPr>
          <p:nvPr/>
        </p:nvPicPr>
        <p:blipFill>
          <a:blip r:embed="rId7"/>
          <a:stretch>
            <a:fillRect/>
          </a:stretch>
        </p:blipFill>
        <p:spPr>
          <a:xfrm>
            <a:off x="8027477" y="4875147"/>
            <a:ext cx="266716" cy="266716"/>
          </a:xfrm>
          <a:prstGeom prst="rect">
            <a:avLst/>
          </a:prstGeom>
        </p:spPr>
      </p:pic>
      <p:pic>
        <p:nvPicPr>
          <p:cNvPr id="175" name="Picture 174" descr="Driven Brands logo"/>
          <p:cNvPicPr>
            <a:picLocks noChangeAspect="1"/>
          </p:cNvPicPr>
          <p:nvPr/>
        </p:nvPicPr>
        <p:blipFill>
          <a:blip r:embed="rId8"/>
          <a:stretch>
            <a:fillRect/>
          </a:stretch>
        </p:blipFill>
        <p:spPr>
          <a:xfrm>
            <a:off x="8662844" y="4927846"/>
            <a:ext cx="266716" cy="266716"/>
          </a:xfrm>
          <a:prstGeom prst="rect">
            <a:avLst/>
          </a:prstGeom>
        </p:spPr>
      </p:pic>
      <p:pic>
        <p:nvPicPr>
          <p:cNvPr id="179" name="Picture 178" descr="Service Corporation International logo"/>
          <p:cNvPicPr>
            <a:picLocks noChangeAspect="1"/>
          </p:cNvPicPr>
          <p:nvPr/>
        </p:nvPicPr>
        <p:blipFill>
          <a:blip r:embed="rId9"/>
          <a:stretch>
            <a:fillRect/>
          </a:stretch>
        </p:blipFill>
        <p:spPr>
          <a:xfrm>
            <a:off x="7278367" y="5189875"/>
            <a:ext cx="266716" cy="266716"/>
          </a:xfrm>
          <a:prstGeom prst="rect">
            <a:avLst/>
          </a:prstGeom>
        </p:spPr>
      </p:pic>
      <p:sp>
        <p:nvSpPr>
          <p:cNvPr id="194" name="Rectangle 193"/>
          <p:cNvSpPr/>
          <p:nvPr/>
        </p:nvSpPr>
        <p:spPr>
          <a:xfrm>
            <a:off x="5248656" y="5865876"/>
            <a:ext cx="4242816" cy="9144"/>
          </a:xfrm>
          <a:prstGeom prst="rect">
            <a:avLst/>
          </a:prstGeom>
          <a:solidFill>
            <a:srgbClr val="E3DCD3"/>
          </a:solidFill>
          <a:ln>
            <a:noFill/>
          </a:ln>
        </p:spPr>
        <p:txBody>
          <a:bodyPr rtlCol="0" anchor="ctr"/>
          <a:lstStyle/>
          <a:p>
            <a:pPr algn="ctr"/>
            <a:endParaRPr/>
          </a:p>
        </p:txBody>
      </p:sp>
      <p:sp>
        <p:nvSpPr>
          <p:cNvPr id="195" name="TextBox 194"/>
          <p:cNvSpPr txBox="1"/>
          <p:nvPr/>
        </p:nvSpPr>
        <p:spPr>
          <a:xfrm>
            <a:off x="5248656" y="5934456"/>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203" name="Picture 202" descr="Blackstone logo"/>
          <p:cNvPicPr>
            <a:picLocks noChangeAspect="1"/>
          </p:cNvPicPr>
          <p:nvPr/>
        </p:nvPicPr>
        <p:blipFill>
          <a:blip r:embed="rId10"/>
          <a:stretch>
            <a:fillRect/>
          </a:stretch>
        </p:blipFill>
        <p:spPr>
          <a:xfrm>
            <a:off x="5959387" y="6385472"/>
            <a:ext cx="334416" cy="334416"/>
          </a:xfrm>
          <a:prstGeom prst="rect">
            <a:avLst/>
          </a:prstGeom>
        </p:spPr>
      </p:pic>
      <p:pic>
        <p:nvPicPr>
          <p:cNvPr id="214" name="Logo General Mills" descr="General Mills logo"/>
          <p:cNvPicPr>
            <a:picLocks noChangeAspect="1"/>
          </p:cNvPicPr>
          <p:nvPr/>
        </p:nvPicPr>
        <p:blipFill>
          <a:blip r:embed="rId11"/>
          <a:stretch>
            <a:fillRect/>
          </a:stretch>
        </p:blipFill>
        <p:spPr>
          <a:xfrm>
            <a:off x="612343" y="1816125"/>
            <a:ext cx="291441" cy="250261"/>
          </a:xfrm>
          <a:prstGeom prst="rect">
            <a:avLst/>
          </a:prstGeom>
        </p:spPr>
      </p:pic>
      <p:pic>
        <p:nvPicPr>
          <p:cNvPr id="215" name="Logo Conagra Brands" descr="Conagra Brands logo"/>
          <p:cNvPicPr>
            <a:picLocks noChangeAspect="1"/>
          </p:cNvPicPr>
          <p:nvPr/>
        </p:nvPicPr>
        <p:blipFill>
          <a:blip r:embed="rId12"/>
          <a:stretch>
            <a:fillRect/>
          </a:stretch>
        </p:blipFill>
        <p:spPr>
          <a:xfrm>
            <a:off x="1464396" y="1834743"/>
            <a:ext cx="768096" cy="157277"/>
          </a:xfrm>
          <a:prstGeom prst="rect">
            <a:avLst/>
          </a:prstGeom>
        </p:spPr>
      </p:pic>
      <p:pic>
        <p:nvPicPr>
          <p:cNvPr id="216" name="Logo Kraft Heinz" descr="Kraft Heinz logo"/>
          <p:cNvPicPr>
            <a:picLocks noChangeAspect="1"/>
          </p:cNvPicPr>
          <p:nvPr/>
        </p:nvPicPr>
        <p:blipFill>
          <a:blip r:embed="rId13"/>
          <a:stretch>
            <a:fillRect/>
          </a:stretch>
        </p:blipFill>
        <p:spPr>
          <a:xfrm>
            <a:off x="2341508" y="1848792"/>
            <a:ext cx="768096" cy="129180"/>
          </a:xfrm>
          <a:prstGeom prst="rect">
            <a:avLst/>
          </a:prstGeom>
        </p:spPr>
      </p:pic>
      <p:pic>
        <p:nvPicPr>
          <p:cNvPr id="217" name="Logo Campbell's" descr="Campbell's logo"/>
          <p:cNvPicPr>
            <a:picLocks noChangeAspect="1"/>
          </p:cNvPicPr>
          <p:nvPr/>
        </p:nvPicPr>
        <p:blipFill>
          <a:blip r:embed="rId14"/>
          <a:stretch>
            <a:fillRect/>
          </a:stretch>
        </p:blipFill>
        <p:spPr>
          <a:xfrm>
            <a:off x="3218620" y="1814038"/>
            <a:ext cx="768096" cy="198687"/>
          </a:xfrm>
          <a:prstGeom prst="rect">
            <a:avLst/>
          </a:prstGeom>
        </p:spPr>
      </p:pic>
      <p:pic>
        <p:nvPicPr>
          <p:cNvPr id="218" name="Logo J.M. Smucker" descr="J.M. Smucker logo"/>
          <p:cNvPicPr>
            <a:picLocks noChangeAspect="1"/>
          </p:cNvPicPr>
          <p:nvPr/>
        </p:nvPicPr>
        <p:blipFill>
          <a:blip r:embed="rId15"/>
          <a:stretch>
            <a:fillRect/>
          </a:stretch>
        </p:blipFill>
        <p:spPr>
          <a:xfrm>
            <a:off x="4095733" y="1810512"/>
            <a:ext cx="677435" cy="205740"/>
          </a:xfrm>
          <a:prstGeom prst="rect">
            <a:avLst/>
          </a:prstGeom>
        </p:spPr>
      </p:pic>
      <p:pic>
        <p:nvPicPr>
          <p:cNvPr id="219" name="Logo Hormel Foods" descr="Hormel Foods logo"/>
          <p:cNvPicPr>
            <a:picLocks noChangeAspect="1"/>
          </p:cNvPicPr>
          <p:nvPr/>
        </p:nvPicPr>
        <p:blipFill>
          <a:blip r:embed="rId16"/>
          <a:stretch>
            <a:fillRect/>
          </a:stretch>
        </p:blipFill>
        <p:spPr>
          <a:xfrm>
            <a:off x="722376" y="2093976"/>
            <a:ext cx="591584" cy="205740"/>
          </a:xfrm>
          <a:prstGeom prst="rect">
            <a:avLst/>
          </a:prstGeom>
        </p:spPr>
      </p:pic>
      <p:pic>
        <p:nvPicPr>
          <p:cNvPr id="220" name="Logo McCormick" descr="McCormick logo"/>
          <p:cNvPicPr>
            <a:picLocks noChangeAspect="1"/>
          </p:cNvPicPr>
          <p:nvPr/>
        </p:nvPicPr>
        <p:blipFill>
          <a:blip r:embed="rId17"/>
          <a:stretch>
            <a:fillRect/>
          </a:stretch>
        </p:blipFill>
        <p:spPr>
          <a:xfrm>
            <a:off x="1776171" y="2074744"/>
            <a:ext cx="308661" cy="263987"/>
          </a:xfrm>
          <a:prstGeom prst="rect">
            <a:avLst/>
          </a:prstGeom>
        </p:spPr>
      </p:pic>
      <p:pic>
        <p:nvPicPr>
          <p:cNvPr id="221" name="Logo Post Holdings" descr="Post Holdings logo"/>
          <p:cNvPicPr>
            <a:picLocks noChangeAspect="1"/>
          </p:cNvPicPr>
          <p:nvPr/>
        </p:nvPicPr>
        <p:blipFill>
          <a:blip r:embed="rId18"/>
          <a:stretch>
            <a:fillRect/>
          </a:stretch>
        </p:blipFill>
        <p:spPr>
          <a:xfrm>
            <a:off x="2270027" y="2108286"/>
            <a:ext cx="768096" cy="177120"/>
          </a:xfrm>
          <a:prstGeom prst="rect">
            <a:avLst/>
          </a:prstGeom>
        </p:spPr>
      </p:pic>
      <p:pic>
        <p:nvPicPr>
          <p:cNvPr id="222" name="Logo Mondelez" descr="Mondelez logo"/>
          <p:cNvPicPr>
            <a:picLocks noChangeAspect="1"/>
          </p:cNvPicPr>
          <p:nvPr/>
        </p:nvPicPr>
        <p:blipFill>
          <a:blip r:embed="rId19"/>
          <a:stretch>
            <a:fillRect/>
          </a:stretch>
        </p:blipFill>
        <p:spPr>
          <a:xfrm>
            <a:off x="3190515" y="2045702"/>
            <a:ext cx="291441" cy="283732"/>
          </a:xfrm>
          <a:prstGeom prst="rect">
            <a:avLst/>
          </a:prstGeom>
        </p:spPr>
      </p:pic>
      <p:pic>
        <p:nvPicPr>
          <p:cNvPr id="223" name="Logo Hershey" descr="Hershey logo"/>
          <p:cNvPicPr>
            <a:picLocks noChangeAspect="1"/>
          </p:cNvPicPr>
          <p:nvPr/>
        </p:nvPicPr>
        <p:blipFill>
          <a:blip r:embed="rId20"/>
          <a:stretch>
            <a:fillRect/>
          </a:stretch>
        </p:blipFill>
        <p:spPr>
          <a:xfrm>
            <a:off x="3928977" y="2093976"/>
            <a:ext cx="725319" cy="205740"/>
          </a:xfrm>
          <a:prstGeom prst="rect">
            <a:avLst/>
          </a:prstGeom>
        </p:spPr>
      </p:pic>
      <p:pic>
        <p:nvPicPr>
          <p:cNvPr id="224" name="Logo Utz Brands" descr="Utz Brands logo"/>
          <p:cNvPicPr>
            <a:picLocks noChangeAspect="1"/>
          </p:cNvPicPr>
          <p:nvPr/>
        </p:nvPicPr>
        <p:blipFill>
          <a:blip r:embed="rId21"/>
          <a:stretch>
            <a:fillRect/>
          </a:stretch>
        </p:blipFill>
        <p:spPr>
          <a:xfrm>
            <a:off x="640080" y="2377440"/>
            <a:ext cx="488633" cy="205740"/>
          </a:xfrm>
          <a:prstGeom prst="rect">
            <a:avLst/>
          </a:prstGeom>
        </p:spPr>
      </p:pic>
      <p:pic>
        <p:nvPicPr>
          <p:cNvPr id="225" name="Logo BellRing Brands" descr="BellRing Brands logo"/>
          <p:cNvPicPr>
            <a:picLocks noChangeAspect="1"/>
          </p:cNvPicPr>
          <p:nvPr/>
        </p:nvPicPr>
        <p:blipFill>
          <a:blip r:embed="rId22"/>
          <a:stretch>
            <a:fillRect/>
          </a:stretch>
        </p:blipFill>
        <p:spPr>
          <a:xfrm>
            <a:off x="1517994" y="2377440"/>
            <a:ext cx="423581" cy="205740"/>
          </a:xfrm>
          <a:prstGeom prst="rect">
            <a:avLst/>
          </a:prstGeom>
        </p:spPr>
      </p:pic>
      <p:pic>
        <p:nvPicPr>
          <p:cNvPr id="226" name="Logo Vital Farms" descr="Vital Farms logo"/>
          <p:cNvPicPr>
            <a:picLocks noChangeAspect="1"/>
          </p:cNvPicPr>
          <p:nvPr/>
        </p:nvPicPr>
        <p:blipFill>
          <a:blip r:embed="rId23"/>
          <a:stretch>
            <a:fillRect/>
          </a:stretch>
        </p:blipFill>
        <p:spPr>
          <a:xfrm>
            <a:off x="3488232" y="2280303"/>
            <a:ext cx="302540" cy="302877"/>
          </a:xfrm>
          <a:prstGeom prst="rect">
            <a:avLst/>
          </a:prstGeom>
        </p:spPr>
      </p:pic>
      <p:pic>
        <p:nvPicPr>
          <p:cNvPr id="227" name="Logo Coca-Cola" descr="Coca-Cola logo"/>
          <p:cNvPicPr>
            <a:picLocks noChangeAspect="1"/>
          </p:cNvPicPr>
          <p:nvPr/>
        </p:nvPicPr>
        <p:blipFill>
          <a:blip r:embed="rId24"/>
          <a:stretch>
            <a:fillRect/>
          </a:stretch>
        </p:blipFill>
        <p:spPr>
          <a:xfrm>
            <a:off x="4161947" y="2391353"/>
            <a:ext cx="422926" cy="243887"/>
          </a:xfrm>
          <a:prstGeom prst="rect">
            <a:avLst/>
          </a:prstGeom>
        </p:spPr>
      </p:pic>
      <p:pic>
        <p:nvPicPr>
          <p:cNvPr id="228" name="Logo PepsiCo" descr="PepsiCo logo"/>
          <p:cNvPicPr>
            <a:picLocks noChangeAspect="1"/>
          </p:cNvPicPr>
          <p:nvPr/>
        </p:nvPicPr>
        <p:blipFill>
          <a:blip r:embed="rId25"/>
          <a:stretch>
            <a:fillRect/>
          </a:stretch>
        </p:blipFill>
        <p:spPr>
          <a:xfrm>
            <a:off x="694944" y="2660904"/>
            <a:ext cx="675787" cy="205740"/>
          </a:xfrm>
          <a:prstGeom prst="rect">
            <a:avLst/>
          </a:prstGeom>
        </p:spPr>
      </p:pic>
      <p:pic>
        <p:nvPicPr>
          <p:cNvPr id="229" name="Logo Keurig Dr Pepper" descr="Keurig Dr Pepper logo"/>
          <p:cNvPicPr>
            <a:picLocks noChangeAspect="1"/>
          </p:cNvPicPr>
          <p:nvPr/>
        </p:nvPicPr>
        <p:blipFill>
          <a:blip r:embed="rId26"/>
          <a:stretch>
            <a:fillRect/>
          </a:stretch>
        </p:blipFill>
        <p:spPr>
          <a:xfrm>
            <a:off x="1500325" y="2660904"/>
            <a:ext cx="686853" cy="205740"/>
          </a:xfrm>
          <a:prstGeom prst="rect">
            <a:avLst/>
          </a:prstGeom>
        </p:spPr>
      </p:pic>
      <p:pic>
        <p:nvPicPr>
          <p:cNvPr id="230" name="Logo Monster Beverage" descr="Monster Beverage logo"/>
          <p:cNvPicPr>
            <a:picLocks noChangeAspect="1"/>
          </p:cNvPicPr>
          <p:nvPr/>
        </p:nvPicPr>
        <p:blipFill>
          <a:blip r:embed="rId27"/>
          <a:stretch>
            <a:fillRect/>
          </a:stretch>
        </p:blipFill>
        <p:spPr>
          <a:xfrm>
            <a:off x="2704265" y="2670048"/>
            <a:ext cx="292608" cy="292608"/>
          </a:xfrm>
          <a:prstGeom prst="rect">
            <a:avLst/>
          </a:prstGeom>
        </p:spPr>
      </p:pic>
      <p:pic>
        <p:nvPicPr>
          <p:cNvPr id="231" name="Logo Celsius" descr="Celsius logo"/>
          <p:cNvPicPr>
            <a:picLocks noChangeAspect="1"/>
          </p:cNvPicPr>
          <p:nvPr/>
        </p:nvPicPr>
        <p:blipFill>
          <a:blip r:embed="rId28"/>
          <a:stretch>
            <a:fillRect/>
          </a:stretch>
        </p:blipFill>
        <p:spPr>
          <a:xfrm>
            <a:off x="3283144" y="2670047"/>
            <a:ext cx="291440" cy="274787"/>
          </a:xfrm>
          <a:prstGeom prst="rect">
            <a:avLst/>
          </a:prstGeom>
        </p:spPr>
      </p:pic>
      <p:pic>
        <p:nvPicPr>
          <p:cNvPr id="232" name="Logo Constellation Brands" descr="Constellation Brands logo"/>
          <p:cNvPicPr>
            <a:picLocks noChangeAspect="1"/>
          </p:cNvPicPr>
          <p:nvPr/>
        </p:nvPicPr>
        <p:blipFill>
          <a:blip r:embed="rId29"/>
          <a:stretch>
            <a:fillRect/>
          </a:stretch>
        </p:blipFill>
        <p:spPr>
          <a:xfrm>
            <a:off x="3913632" y="2713681"/>
            <a:ext cx="768096" cy="100186"/>
          </a:xfrm>
          <a:prstGeom prst="rect">
            <a:avLst/>
          </a:prstGeom>
        </p:spPr>
      </p:pic>
      <p:pic>
        <p:nvPicPr>
          <p:cNvPr id="233" name="Logo Hormel Foods" descr="Hormel Foods logo"/>
          <p:cNvPicPr>
            <a:picLocks noChangeAspect="1"/>
          </p:cNvPicPr>
          <p:nvPr/>
        </p:nvPicPr>
        <p:blipFill>
          <a:blip r:embed="rId16"/>
          <a:stretch>
            <a:fillRect/>
          </a:stretch>
        </p:blipFill>
        <p:spPr>
          <a:xfrm>
            <a:off x="757200" y="3337560"/>
            <a:ext cx="552144" cy="192024"/>
          </a:xfrm>
          <a:prstGeom prst="rect">
            <a:avLst/>
          </a:prstGeom>
        </p:spPr>
      </p:pic>
      <p:pic>
        <p:nvPicPr>
          <p:cNvPr id="234" name="Logo Procter &amp; Gamble" descr="Procter &amp; Gamble logo"/>
          <p:cNvPicPr>
            <a:picLocks noChangeAspect="1"/>
          </p:cNvPicPr>
          <p:nvPr/>
        </p:nvPicPr>
        <p:blipFill>
          <a:blip r:embed="rId30"/>
          <a:stretch>
            <a:fillRect/>
          </a:stretch>
        </p:blipFill>
        <p:spPr>
          <a:xfrm>
            <a:off x="2034540" y="3337560"/>
            <a:ext cx="192024" cy="192024"/>
          </a:xfrm>
          <a:prstGeom prst="rect">
            <a:avLst/>
          </a:prstGeom>
        </p:spPr>
      </p:pic>
      <p:pic>
        <p:nvPicPr>
          <p:cNvPr id="235" name="Logo Vita Coco" descr="Vita Coco logo"/>
          <p:cNvPicPr>
            <a:picLocks noChangeAspect="1"/>
          </p:cNvPicPr>
          <p:nvPr/>
        </p:nvPicPr>
        <p:blipFill>
          <a:blip r:embed="rId31"/>
          <a:stretch>
            <a:fillRect/>
          </a:stretch>
        </p:blipFill>
        <p:spPr>
          <a:xfrm>
            <a:off x="3091569" y="3285447"/>
            <a:ext cx="254101" cy="270821"/>
          </a:xfrm>
          <a:prstGeom prst="rect">
            <a:avLst/>
          </a:prstGeom>
        </p:spPr>
      </p:pic>
      <p:pic>
        <p:nvPicPr>
          <p:cNvPr id="236" name="Logo HF Foods" descr="HF Foods logo"/>
          <p:cNvPicPr>
            <a:picLocks noChangeAspect="1"/>
          </p:cNvPicPr>
          <p:nvPr/>
        </p:nvPicPr>
        <p:blipFill>
          <a:blip r:embed="rId32"/>
          <a:stretch>
            <a:fillRect/>
          </a:stretch>
        </p:blipFill>
        <p:spPr>
          <a:xfrm>
            <a:off x="3903596" y="3337560"/>
            <a:ext cx="843031" cy="192024"/>
          </a:xfrm>
          <a:prstGeom prst="rect">
            <a:avLst/>
          </a:prstGeom>
        </p:spPr>
      </p:pic>
      <p:pic>
        <p:nvPicPr>
          <p:cNvPr id="237" name="Logo Sargento" descr="Sargento logo"/>
          <p:cNvPicPr>
            <a:picLocks noChangeAspect="1"/>
          </p:cNvPicPr>
          <p:nvPr/>
        </p:nvPicPr>
        <p:blipFill>
          <a:blip r:embed="rId33"/>
          <a:stretch>
            <a:fillRect/>
          </a:stretch>
        </p:blipFill>
        <p:spPr>
          <a:xfrm>
            <a:off x="2462267" y="3512094"/>
            <a:ext cx="525979" cy="192024"/>
          </a:xfrm>
          <a:prstGeom prst="rect">
            <a:avLst/>
          </a:prstGeom>
        </p:spPr>
      </p:pic>
      <p:pic>
        <p:nvPicPr>
          <p:cNvPr id="238" name="Logo Europastry" descr="Europastry logo"/>
          <p:cNvPicPr>
            <a:picLocks noChangeAspect="1"/>
          </p:cNvPicPr>
          <p:nvPr/>
        </p:nvPicPr>
        <p:blipFill>
          <a:blip r:embed="rId34"/>
          <a:stretch>
            <a:fillRect/>
          </a:stretch>
        </p:blipFill>
        <p:spPr>
          <a:xfrm>
            <a:off x="2249504" y="3777700"/>
            <a:ext cx="1078992" cy="190622"/>
          </a:xfrm>
          <a:prstGeom prst="rect">
            <a:avLst/>
          </a:prstGeom>
        </p:spPr>
      </p:pic>
      <p:pic>
        <p:nvPicPr>
          <p:cNvPr id="239" name="Logo Procter &amp; Gamble" descr="Procter &amp; Gamble logo"/>
          <p:cNvPicPr>
            <a:picLocks noChangeAspect="1"/>
          </p:cNvPicPr>
          <p:nvPr/>
        </p:nvPicPr>
        <p:blipFill>
          <a:blip r:embed="rId30"/>
          <a:stretch>
            <a:fillRect/>
          </a:stretch>
        </p:blipFill>
        <p:spPr>
          <a:xfrm>
            <a:off x="5285232" y="1810512"/>
            <a:ext cx="214884" cy="214884"/>
          </a:xfrm>
          <a:prstGeom prst="rect">
            <a:avLst/>
          </a:prstGeom>
        </p:spPr>
      </p:pic>
      <p:pic>
        <p:nvPicPr>
          <p:cNvPr id="240" name="Logo Colgate-Palmolive" descr="Colgate-Palmolive logo"/>
          <p:cNvPicPr>
            <a:picLocks noChangeAspect="1"/>
          </p:cNvPicPr>
          <p:nvPr/>
        </p:nvPicPr>
        <p:blipFill>
          <a:blip r:embed="rId35"/>
          <a:stretch>
            <a:fillRect/>
          </a:stretch>
        </p:blipFill>
        <p:spPr>
          <a:xfrm>
            <a:off x="6003950" y="1824228"/>
            <a:ext cx="355561" cy="254480"/>
          </a:xfrm>
          <a:prstGeom prst="rect">
            <a:avLst/>
          </a:prstGeom>
        </p:spPr>
      </p:pic>
      <p:pic>
        <p:nvPicPr>
          <p:cNvPr id="241" name="Logo Clorox" descr="Clorox logo"/>
          <p:cNvPicPr>
            <a:picLocks noChangeAspect="1"/>
          </p:cNvPicPr>
          <p:nvPr/>
        </p:nvPicPr>
        <p:blipFill>
          <a:blip r:embed="rId36"/>
          <a:stretch>
            <a:fillRect/>
          </a:stretch>
        </p:blipFill>
        <p:spPr>
          <a:xfrm>
            <a:off x="8458200" y="1859576"/>
            <a:ext cx="996696" cy="116755"/>
          </a:xfrm>
          <a:prstGeom prst="rect">
            <a:avLst/>
          </a:prstGeom>
        </p:spPr>
      </p:pic>
      <p:pic>
        <p:nvPicPr>
          <p:cNvPr id="242" name="Logo Estee Lauder" descr="Estee Lauder logo"/>
          <p:cNvPicPr>
            <a:picLocks noChangeAspect="1"/>
          </p:cNvPicPr>
          <p:nvPr/>
        </p:nvPicPr>
        <p:blipFill>
          <a:blip r:embed="rId37"/>
          <a:stretch>
            <a:fillRect/>
          </a:stretch>
        </p:blipFill>
        <p:spPr>
          <a:xfrm>
            <a:off x="5579702" y="2037221"/>
            <a:ext cx="424248" cy="253943"/>
          </a:xfrm>
          <a:prstGeom prst="rect">
            <a:avLst/>
          </a:prstGeom>
        </p:spPr>
      </p:pic>
      <p:pic>
        <p:nvPicPr>
          <p:cNvPr id="243" name="Logo e.l.f. Beauty" descr="e.l.f. Beauty logo"/>
          <p:cNvPicPr>
            <a:picLocks noChangeAspect="1"/>
          </p:cNvPicPr>
          <p:nvPr/>
        </p:nvPicPr>
        <p:blipFill>
          <a:blip r:embed="rId38"/>
          <a:stretch>
            <a:fillRect/>
          </a:stretch>
        </p:blipFill>
        <p:spPr>
          <a:xfrm>
            <a:off x="6420868" y="1962775"/>
            <a:ext cx="506931" cy="390663"/>
          </a:xfrm>
          <a:prstGeom prst="rect">
            <a:avLst/>
          </a:prstGeom>
        </p:spPr>
      </p:pic>
      <p:pic>
        <p:nvPicPr>
          <p:cNvPr id="244" name="Logo Central Garden &amp; Pet" descr="Central Garden &amp; Pet logo"/>
          <p:cNvPicPr>
            <a:picLocks noChangeAspect="1"/>
          </p:cNvPicPr>
          <p:nvPr/>
        </p:nvPicPr>
        <p:blipFill>
          <a:blip r:embed="rId39"/>
          <a:stretch>
            <a:fillRect/>
          </a:stretch>
        </p:blipFill>
        <p:spPr>
          <a:xfrm>
            <a:off x="7343091" y="2066776"/>
            <a:ext cx="501574" cy="288138"/>
          </a:xfrm>
          <a:prstGeom prst="rect">
            <a:avLst/>
          </a:prstGeom>
        </p:spPr>
      </p:pic>
      <p:pic>
        <p:nvPicPr>
          <p:cNvPr id="245" name="Logo YETI" descr="YETI logo"/>
          <p:cNvPicPr>
            <a:picLocks noChangeAspect="1"/>
          </p:cNvPicPr>
          <p:nvPr/>
        </p:nvPicPr>
        <p:blipFill>
          <a:blip r:embed="rId40"/>
          <a:stretch>
            <a:fillRect/>
          </a:stretch>
        </p:blipFill>
        <p:spPr>
          <a:xfrm>
            <a:off x="5321808" y="2377440"/>
            <a:ext cx="752094" cy="214884"/>
          </a:xfrm>
          <a:prstGeom prst="rect">
            <a:avLst/>
          </a:prstGeom>
        </p:spPr>
      </p:pic>
      <p:pic>
        <p:nvPicPr>
          <p:cNvPr id="246" name="Logo Mattel" descr="Mattel logo"/>
          <p:cNvPicPr>
            <a:picLocks noChangeAspect="1"/>
          </p:cNvPicPr>
          <p:nvPr/>
        </p:nvPicPr>
        <p:blipFill>
          <a:blip r:embed="rId41"/>
          <a:stretch>
            <a:fillRect/>
          </a:stretch>
        </p:blipFill>
        <p:spPr>
          <a:xfrm>
            <a:off x="6774280" y="2377440"/>
            <a:ext cx="219454" cy="214884"/>
          </a:xfrm>
          <a:prstGeom prst="rect">
            <a:avLst/>
          </a:prstGeom>
        </p:spPr>
      </p:pic>
      <p:pic>
        <p:nvPicPr>
          <p:cNvPr id="247" name="Logo Traeger" descr="Traeger logo"/>
          <p:cNvPicPr>
            <a:picLocks noChangeAspect="1"/>
          </p:cNvPicPr>
          <p:nvPr/>
        </p:nvPicPr>
        <p:blipFill>
          <a:blip r:embed="rId42"/>
          <a:stretch>
            <a:fillRect/>
          </a:stretch>
        </p:blipFill>
        <p:spPr>
          <a:xfrm>
            <a:off x="8861213" y="2377440"/>
            <a:ext cx="557107" cy="214884"/>
          </a:xfrm>
          <a:prstGeom prst="rect">
            <a:avLst/>
          </a:prstGeom>
        </p:spPr>
      </p:pic>
      <p:pic>
        <p:nvPicPr>
          <p:cNvPr id="248" name="Logo Clorox" descr="Clorox logo"/>
          <p:cNvPicPr>
            <a:picLocks noChangeAspect="1"/>
          </p:cNvPicPr>
          <p:nvPr/>
        </p:nvPicPr>
        <p:blipFill>
          <a:blip r:embed="rId36"/>
          <a:stretch>
            <a:fillRect/>
          </a:stretch>
        </p:blipFill>
        <p:spPr>
          <a:xfrm>
            <a:off x="5248656" y="3113767"/>
            <a:ext cx="932688" cy="109258"/>
          </a:xfrm>
          <a:prstGeom prst="rect">
            <a:avLst/>
          </a:prstGeom>
        </p:spPr>
      </p:pic>
      <p:pic>
        <p:nvPicPr>
          <p:cNvPr id="249" name="Logo Henkel" descr="Henkel logo"/>
          <p:cNvPicPr>
            <a:picLocks noChangeAspect="1"/>
          </p:cNvPicPr>
          <p:nvPr/>
        </p:nvPicPr>
        <p:blipFill>
          <a:blip r:embed="rId43"/>
          <a:stretch>
            <a:fillRect/>
          </a:stretch>
        </p:blipFill>
        <p:spPr>
          <a:xfrm>
            <a:off x="7704932" y="3054096"/>
            <a:ext cx="409256" cy="228600"/>
          </a:xfrm>
          <a:prstGeom prst="rect">
            <a:avLst/>
          </a:prstGeom>
        </p:spPr>
      </p:pic>
      <p:pic>
        <p:nvPicPr>
          <p:cNvPr id="250" name="Logo Kimberly-Clark" descr="Kimberly-Clark logo"/>
          <p:cNvPicPr>
            <a:picLocks noChangeAspect="1"/>
          </p:cNvPicPr>
          <p:nvPr/>
        </p:nvPicPr>
        <p:blipFill>
          <a:blip r:embed="rId44"/>
          <a:stretch>
            <a:fillRect/>
          </a:stretch>
        </p:blipFill>
        <p:spPr>
          <a:xfrm>
            <a:off x="8540496" y="3110789"/>
            <a:ext cx="932688" cy="115215"/>
          </a:xfrm>
          <a:prstGeom prst="rect">
            <a:avLst/>
          </a:prstGeom>
        </p:spPr>
      </p:pic>
      <p:pic>
        <p:nvPicPr>
          <p:cNvPr id="251" name="Logo Acme United" descr="Acme United logo"/>
          <p:cNvPicPr>
            <a:picLocks noChangeAspect="1"/>
          </p:cNvPicPr>
          <p:nvPr/>
        </p:nvPicPr>
        <p:blipFill>
          <a:blip r:embed="rId45"/>
          <a:stretch>
            <a:fillRect/>
          </a:stretch>
        </p:blipFill>
        <p:spPr>
          <a:xfrm>
            <a:off x="5802782" y="3369448"/>
            <a:ext cx="201168" cy="192256"/>
          </a:xfrm>
          <a:prstGeom prst="rect">
            <a:avLst/>
          </a:prstGeom>
        </p:spPr>
      </p:pic>
      <p:pic>
        <p:nvPicPr>
          <p:cNvPr id="252" name="Logo Advent International" descr="Advent International logo"/>
          <p:cNvPicPr>
            <a:picLocks noChangeAspect="1"/>
          </p:cNvPicPr>
          <p:nvPr/>
        </p:nvPicPr>
        <p:blipFill>
          <a:blip r:embed="rId46"/>
          <a:stretch>
            <a:fillRect/>
          </a:stretch>
        </p:blipFill>
        <p:spPr>
          <a:xfrm>
            <a:off x="7082298" y="3351276"/>
            <a:ext cx="941293" cy="228600"/>
          </a:xfrm>
          <a:prstGeom prst="rect">
            <a:avLst/>
          </a:prstGeom>
        </p:spPr>
      </p:pic>
      <p:pic>
        <p:nvPicPr>
          <p:cNvPr id="253" name="Logo TSG Consumer Partners" descr="TSG Consumer Partners logo"/>
          <p:cNvPicPr>
            <a:picLocks noChangeAspect="1"/>
          </p:cNvPicPr>
          <p:nvPr/>
        </p:nvPicPr>
        <p:blipFill>
          <a:blip r:embed="rId47"/>
          <a:stretch>
            <a:fillRect/>
          </a:stretch>
        </p:blipFill>
        <p:spPr>
          <a:xfrm>
            <a:off x="8430768" y="3398139"/>
            <a:ext cx="1078992" cy="134874"/>
          </a:xfrm>
          <a:prstGeom prst="rect">
            <a:avLst/>
          </a:prstGeom>
        </p:spPr>
      </p:pic>
      <p:pic>
        <p:nvPicPr>
          <p:cNvPr id="254" name="Logo TowerBrook" descr="TowerBrook logo"/>
          <p:cNvPicPr>
            <a:picLocks noChangeAspect="1"/>
          </p:cNvPicPr>
          <p:nvPr/>
        </p:nvPicPr>
        <p:blipFill>
          <a:blip r:embed="rId48"/>
          <a:stretch>
            <a:fillRect/>
          </a:stretch>
        </p:blipFill>
        <p:spPr>
          <a:xfrm>
            <a:off x="5266944" y="3701100"/>
            <a:ext cx="1078992" cy="123313"/>
          </a:xfrm>
          <a:prstGeom prst="rect">
            <a:avLst/>
          </a:prstGeom>
        </p:spPr>
      </p:pic>
      <p:pic>
        <p:nvPicPr>
          <p:cNvPr id="255" name="Logo Authentic Brands Group" descr="Authentic Brands Group logo"/>
          <p:cNvPicPr>
            <a:picLocks noChangeAspect="1"/>
          </p:cNvPicPr>
          <p:nvPr/>
        </p:nvPicPr>
        <p:blipFill>
          <a:blip r:embed="rId49"/>
          <a:stretch>
            <a:fillRect/>
          </a:stretch>
        </p:blipFill>
        <p:spPr>
          <a:xfrm>
            <a:off x="6766560" y="3690385"/>
            <a:ext cx="1078992" cy="144743"/>
          </a:xfrm>
          <a:prstGeom prst="rect">
            <a:avLst/>
          </a:prstGeom>
        </p:spPr>
      </p:pic>
      <p:pic>
        <p:nvPicPr>
          <p:cNvPr id="256" name="Logo Sysco" descr="Sysco logo"/>
          <p:cNvPicPr>
            <a:picLocks noChangeAspect="1"/>
          </p:cNvPicPr>
          <p:nvPr/>
        </p:nvPicPr>
        <p:blipFill>
          <a:blip r:embed="rId50"/>
          <a:stretch>
            <a:fillRect/>
          </a:stretch>
        </p:blipFill>
        <p:spPr>
          <a:xfrm>
            <a:off x="603504" y="4663440"/>
            <a:ext cx="602454" cy="233172"/>
          </a:xfrm>
          <a:prstGeom prst="rect">
            <a:avLst/>
          </a:prstGeom>
        </p:spPr>
      </p:pic>
      <p:pic>
        <p:nvPicPr>
          <p:cNvPr id="257" name="Logo US Foods" descr="US Foods logo"/>
          <p:cNvPicPr>
            <a:picLocks noChangeAspect="1"/>
          </p:cNvPicPr>
          <p:nvPr/>
        </p:nvPicPr>
        <p:blipFill>
          <a:blip r:embed="rId51"/>
          <a:stretch>
            <a:fillRect/>
          </a:stretch>
        </p:blipFill>
        <p:spPr>
          <a:xfrm>
            <a:off x="2113094" y="4645734"/>
            <a:ext cx="358694" cy="335403"/>
          </a:xfrm>
          <a:prstGeom prst="rect">
            <a:avLst/>
          </a:prstGeom>
        </p:spPr>
      </p:pic>
      <p:pic>
        <p:nvPicPr>
          <p:cNvPr id="258" name="Logo Middleby" descr="Middleby logo"/>
          <p:cNvPicPr>
            <a:picLocks noChangeAspect="1"/>
          </p:cNvPicPr>
          <p:nvPr/>
        </p:nvPicPr>
        <p:blipFill>
          <a:blip r:embed="rId52"/>
          <a:stretch>
            <a:fillRect/>
          </a:stretch>
        </p:blipFill>
        <p:spPr>
          <a:xfrm>
            <a:off x="3419856" y="5021500"/>
            <a:ext cx="1234440" cy="175420"/>
          </a:xfrm>
          <a:prstGeom prst="rect">
            <a:avLst/>
          </a:prstGeom>
        </p:spPr>
      </p:pic>
      <p:pic>
        <p:nvPicPr>
          <p:cNvPr id="259" name="Logo Sysco" descr="Sysco logo"/>
          <p:cNvPicPr>
            <a:picLocks noChangeAspect="1"/>
          </p:cNvPicPr>
          <p:nvPr/>
        </p:nvPicPr>
        <p:blipFill>
          <a:blip r:embed="rId50"/>
          <a:stretch>
            <a:fillRect/>
          </a:stretch>
        </p:blipFill>
        <p:spPr>
          <a:xfrm>
            <a:off x="702513" y="5696712"/>
            <a:ext cx="661517" cy="256032"/>
          </a:xfrm>
          <a:prstGeom prst="rect">
            <a:avLst/>
          </a:prstGeom>
        </p:spPr>
      </p:pic>
      <p:pic>
        <p:nvPicPr>
          <p:cNvPr id="260" name="Logo Wasserstrom" descr="Wasserstrom logo"/>
          <p:cNvPicPr>
            <a:picLocks noChangeAspect="1"/>
          </p:cNvPicPr>
          <p:nvPr/>
        </p:nvPicPr>
        <p:blipFill>
          <a:blip r:embed="rId53"/>
          <a:stretch>
            <a:fillRect/>
          </a:stretch>
        </p:blipFill>
        <p:spPr>
          <a:xfrm>
            <a:off x="3858768" y="5771600"/>
            <a:ext cx="932688" cy="106255"/>
          </a:xfrm>
          <a:prstGeom prst="rect">
            <a:avLst/>
          </a:prstGeom>
        </p:spPr>
      </p:pic>
      <p:pic>
        <p:nvPicPr>
          <p:cNvPr id="261" name="Logo Darden Restaurants" descr="Darden Restaurants logo"/>
          <p:cNvPicPr>
            <a:picLocks noChangeAspect="1"/>
          </p:cNvPicPr>
          <p:nvPr/>
        </p:nvPicPr>
        <p:blipFill>
          <a:blip r:embed="rId54"/>
          <a:stretch>
            <a:fillRect/>
          </a:stretch>
        </p:blipFill>
        <p:spPr>
          <a:xfrm>
            <a:off x="5285232" y="4654296"/>
            <a:ext cx="798956" cy="210312"/>
          </a:xfrm>
          <a:prstGeom prst="rect">
            <a:avLst/>
          </a:prstGeom>
        </p:spPr>
      </p:pic>
      <p:pic>
        <p:nvPicPr>
          <p:cNvPr id="262" name="Logo Texas Roadhouse" descr="Texas Roadhouse logo"/>
          <p:cNvPicPr>
            <a:picLocks noChangeAspect="1"/>
          </p:cNvPicPr>
          <p:nvPr/>
        </p:nvPicPr>
        <p:blipFill>
          <a:blip r:embed="rId55"/>
          <a:stretch>
            <a:fillRect/>
          </a:stretch>
        </p:blipFill>
        <p:spPr>
          <a:xfrm>
            <a:off x="6856804" y="4654296"/>
            <a:ext cx="210312" cy="210312"/>
          </a:xfrm>
          <a:prstGeom prst="rect">
            <a:avLst/>
          </a:prstGeom>
        </p:spPr>
      </p:pic>
      <p:pic>
        <p:nvPicPr>
          <p:cNvPr id="263" name="Logo Chipotle" descr="Chipotle logo"/>
          <p:cNvPicPr>
            <a:picLocks noChangeAspect="1"/>
          </p:cNvPicPr>
          <p:nvPr/>
        </p:nvPicPr>
        <p:blipFill>
          <a:blip r:embed="rId56"/>
          <a:stretch>
            <a:fillRect/>
          </a:stretch>
        </p:blipFill>
        <p:spPr>
          <a:xfrm>
            <a:off x="7839732" y="4654296"/>
            <a:ext cx="210312" cy="210312"/>
          </a:xfrm>
          <a:prstGeom prst="rect">
            <a:avLst/>
          </a:prstGeom>
        </p:spPr>
      </p:pic>
      <p:pic>
        <p:nvPicPr>
          <p:cNvPr id="264" name="Logo McDonald's" descr="McDonald's logo"/>
          <p:cNvPicPr>
            <a:picLocks noChangeAspect="1"/>
          </p:cNvPicPr>
          <p:nvPr/>
        </p:nvPicPr>
        <p:blipFill>
          <a:blip r:embed="rId57"/>
          <a:stretch>
            <a:fillRect/>
          </a:stretch>
        </p:blipFill>
        <p:spPr>
          <a:xfrm>
            <a:off x="8938975" y="4629597"/>
            <a:ext cx="347243" cy="303591"/>
          </a:xfrm>
          <a:prstGeom prst="rect">
            <a:avLst/>
          </a:prstGeom>
        </p:spPr>
      </p:pic>
      <p:pic>
        <p:nvPicPr>
          <p:cNvPr id="265" name="Logo Domino's Pizza" descr="Domino's Pizza logo"/>
          <p:cNvPicPr>
            <a:picLocks noChangeAspect="1"/>
          </p:cNvPicPr>
          <p:nvPr/>
        </p:nvPicPr>
        <p:blipFill>
          <a:blip r:embed="rId58"/>
          <a:stretch>
            <a:fillRect/>
          </a:stretch>
        </p:blipFill>
        <p:spPr>
          <a:xfrm>
            <a:off x="5546020" y="4859531"/>
            <a:ext cx="282332" cy="282332"/>
          </a:xfrm>
          <a:prstGeom prst="rect">
            <a:avLst/>
          </a:prstGeom>
        </p:spPr>
      </p:pic>
      <p:pic>
        <p:nvPicPr>
          <p:cNvPr id="266" name="Logo Rollins" descr="Rollins logo"/>
          <p:cNvPicPr>
            <a:picLocks noChangeAspect="1"/>
          </p:cNvPicPr>
          <p:nvPr/>
        </p:nvPicPr>
        <p:blipFill>
          <a:blip r:embed="rId59"/>
          <a:stretch>
            <a:fillRect/>
          </a:stretch>
        </p:blipFill>
        <p:spPr>
          <a:xfrm>
            <a:off x="7414514" y="4933188"/>
            <a:ext cx="413277" cy="210312"/>
          </a:xfrm>
          <a:prstGeom prst="rect">
            <a:avLst/>
          </a:prstGeom>
        </p:spPr>
      </p:pic>
      <p:pic>
        <p:nvPicPr>
          <p:cNvPr id="267" name="Logo Planet Fitness" descr="Planet Fitness logo"/>
          <p:cNvPicPr>
            <a:picLocks noChangeAspect="1"/>
          </p:cNvPicPr>
          <p:nvPr/>
        </p:nvPicPr>
        <p:blipFill>
          <a:blip r:embed="rId60"/>
          <a:stretch>
            <a:fillRect/>
          </a:stretch>
        </p:blipFill>
        <p:spPr>
          <a:xfrm>
            <a:off x="5321808" y="5212080"/>
            <a:ext cx="543910" cy="210312"/>
          </a:xfrm>
          <a:prstGeom prst="rect">
            <a:avLst/>
          </a:prstGeom>
        </p:spPr>
      </p:pic>
      <p:pic>
        <p:nvPicPr>
          <p:cNvPr id="268" name="Logo Boyd Group Services" descr="Boyd Group Services logo"/>
          <p:cNvPicPr>
            <a:picLocks noChangeAspect="1"/>
          </p:cNvPicPr>
          <p:nvPr/>
        </p:nvPicPr>
        <p:blipFill>
          <a:blip r:embed="rId61"/>
          <a:stretch>
            <a:fillRect/>
          </a:stretch>
        </p:blipFill>
        <p:spPr>
          <a:xfrm>
            <a:off x="5973162" y="5232684"/>
            <a:ext cx="1042416" cy="169103"/>
          </a:xfrm>
          <a:prstGeom prst="rect">
            <a:avLst/>
          </a:prstGeom>
        </p:spPr>
      </p:pic>
      <p:pic>
        <p:nvPicPr>
          <p:cNvPr id="269" name="Logo Walmart" descr="Walmart logo"/>
          <p:cNvPicPr>
            <a:picLocks noChangeAspect="1"/>
          </p:cNvPicPr>
          <p:nvPr/>
        </p:nvPicPr>
        <p:blipFill>
          <a:blip r:embed="rId62"/>
          <a:stretch>
            <a:fillRect/>
          </a:stretch>
        </p:blipFill>
        <p:spPr>
          <a:xfrm>
            <a:off x="8375904" y="5222674"/>
            <a:ext cx="1042416" cy="189124"/>
          </a:xfrm>
          <a:prstGeom prst="rect">
            <a:avLst/>
          </a:prstGeom>
        </p:spPr>
      </p:pic>
      <p:pic>
        <p:nvPicPr>
          <p:cNvPr id="270" name="Logo Target" descr="Target logo"/>
          <p:cNvPicPr>
            <a:picLocks noChangeAspect="1"/>
          </p:cNvPicPr>
          <p:nvPr/>
        </p:nvPicPr>
        <p:blipFill>
          <a:blip r:embed="rId63"/>
          <a:stretch>
            <a:fillRect/>
          </a:stretch>
        </p:blipFill>
        <p:spPr>
          <a:xfrm>
            <a:off x="6278637" y="5490972"/>
            <a:ext cx="214882" cy="210312"/>
          </a:xfrm>
          <a:prstGeom prst="rect">
            <a:avLst/>
          </a:prstGeom>
        </p:spPr>
      </p:pic>
      <p:pic>
        <p:nvPicPr>
          <p:cNvPr id="271" name="Logo Kroger" descr="Kroger logo"/>
          <p:cNvPicPr>
            <a:picLocks noChangeAspect="1"/>
          </p:cNvPicPr>
          <p:nvPr/>
        </p:nvPicPr>
        <p:blipFill>
          <a:blip r:embed="rId64"/>
          <a:stretch>
            <a:fillRect/>
          </a:stretch>
        </p:blipFill>
        <p:spPr>
          <a:xfrm>
            <a:off x="6714595" y="5511303"/>
            <a:ext cx="412097" cy="229706"/>
          </a:xfrm>
          <a:prstGeom prst="rect">
            <a:avLst/>
          </a:prstGeom>
        </p:spPr>
      </p:pic>
      <p:pic>
        <p:nvPicPr>
          <p:cNvPr id="272" name="Logo Dollar General" descr="Dollar General logo"/>
          <p:cNvPicPr>
            <a:picLocks noChangeAspect="1"/>
          </p:cNvPicPr>
          <p:nvPr/>
        </p:nvPicPr>
        <p:blipFill>
          <a:blip r:embed="rId65"/>
          <a:stretch>
            <a:fillRect/>
          </a:stretch>
        </p:blipFill>
        <p:spPr>
          <a:xfrm>
            <a:off x="7314943" y="5503469"/>
            <a:ext cx="1042416" cy="185318"/>
          </a:xfrm>
          <a:prstGeom prst="rect">
            <a:avLst/>
          </a:prstGeom>
        </p:spPr>
      </p:pic>
      <p:pic>
        <p:nvPicPr>
          <p:cNvPr id="273" name="Logo Tractor Supply" descr="Tractor Supply logo"/>
          <p:cNvPicPr>
            <a:picLocks noChangeAspect="1"/>
          </p:cNvPicPr>
          <p:nvPr/>
        </p:nvPicPr>
        <p:blipFill>
          <a:blip r:embed="rId66"/>
          <a:stretch>
            <a:fillRect/>
          </a:stretch>
        </p:blipFill>
        <p:spPr>
          <a:xfrm>
            <a:off x="8499161" y="5490972"/>
            <a:ext cx="864295" cy="210312"/>
          </a:xfrm>
          <a:prstGeom prst="rect">
            <a:avLst/>
          </a:prstGeom>
        </p:spPr>
      </p:pic>
      <p:pic>
        <p:nvPicPr>
          <p:cNvPr id="274" name="Logo Leonard Green &amp; Partners" descr="Leonard Green &amp; Partners logo"/>
          <p:cNvPicPr>
            <a:picLocks noChangeAspect="1"/>
          </p:cNvPicPr>
          <p:nvPr/>
        </p:nvPicPr>
        <p:blipFill>
          <a:blip r:embed="rId67"/>
          <a:stretch>
            <a:fillRect/>
          </a:stretch>
        </p:blipFill>
        <p:spPr>
          <a:xfrm>
            <a:off x="5248656" y="6171024"/>
            <a:ext cx="932688" cy="153227"/>
          </a:xfrm>
          <a:prstGeom prst="rect">
            <a:avLst/>
          </a:prstGeom>
        </p:spPr>
      </p:pic>
      <p:pic>
        <p:nvPicPr>
          <p:cNvPr id="275" name="Logo Rollins" descr="Rollins logo"/>
          <p:cNvPicPr>
            <a:picLocks noChangeAspect="1"/>
          </p:cNvPicPr>
          <p:nvPr/>
        </p:nvPicPr>
        <p:blipFill>
          <a:blip r:embed="rId59"/>
          <a:stretch>
            <a:fillRect/>
          </a:stretch>
        </p:blipFill>
        <p:spPr>
          <a:xfrm>
            <a:off x="7725382" y="6153912"/>
            <a:ext cx="368355" cy="187452"/>
          </a:xfrm>
          <a:prstGeom prst="rect">
            <a:avLst/>
          </a:prstGeom>
        </p:spPr>
      </p:pic>
      <p:pic>
        <p:nvPicPr>
          <p:cNvPr id="276" name="Logo Boyd Group" descr="Boyd Group logo"/>
          <p:cNvPicPr>
            <a:picLocks noChangeAspect="1"/>
          </p:cNvPicPr>
          <p:nvPr/>
        </p:nvPicPr>
        <p:blipFill>
          <a:blip r:embed="rId61"/>
          <a:stretch>
            <a:fillRect/>
          </a:stretch>
        </p:blipFill>
        <p:spPr>
          <a:xfrm>
            <a:off x="8540496" y="6171987"/>
            <a:ext cx="932688" cy="151303"/>
          </a:xfrm>
          <a:prstGeom prst="rect">
            <a:avLst/>
          </a:prstGeom>
        </p:spPr>
      </p:pic>
      <p:pic>
        <p:nvPicPr>
          <p:cNvPr id="277" name="Logo Classic Collision" descr="Classic Collision logo"/>
          <p:cNvPicPr>
            <a:picLocks noChangeAspect="1"/>
          </p:cNvPicPr>
          <p:nvPr/>
        </p:nvPicPr>
        <p:blipFill>
          <a:blip r:embed="rId68"/>
          <a:stretch>
            <a:fillRect/>
          </a:stretch>
        </p:blipFill>
        <p:spPr>
          <a:xfrm>
            <a:off x="7194364" y="6377940"/>
            <a:ext cx="717161" cy="187452"/>
          </a:xfrm>
          <a:prstGeom prst="rect">
            <a:avLst/>
          </a:prstGeom>
        </p:spPr>
      </p:pic>
      <p:pic>
        <p:nvPicPr>
          <p:cNvPr id="278" name="Logo Tidal Wave Auto Spa" descr="Tidal Wave Auto Spa logo"/>
          <p:cNvPicPr>
            <a:picLocks noChangeAspect="1"/>
          </p:cNvPicPr>
          <p:nvPr/>
        </p:nvPicPr>
        <p:blipFill>
          <a:blip r:embed="rId69"/>
          <a:stretch>
            <a:fillRect/>
          </a:stretch>
        </p:blipFill>
        <p:spPr>
          <a:xfrm>
            <a:off x="8796202" y="6377940"/>
            <a:ext cx="348125" cy="187452"/>
          </a:xfrm>
          <a:prstGeom prst="rect">
            <a:avLst/>
          </a:prstGeom>
        </p:spPr>
      </p:pic>
      <p:pic>
        <p:nvPicPr>
          <p:cNvPr id="279" name="Logo El Car Wash" descr="El Car Wash logo"/>
          <p:cNvPicPr>
            <a:picLocks noChangeAspect="1"/>
          </p:cNvPicPr>
          <p:nvPr/>
        </p:nvPicPr>
        <p:blipFill>
          <a:blip r:embed="rId70"/>
          <a:stretch>
            <a:fillRect/>
          </a:stretch>
        </p:blipFill>
        <p:spPr>
          <a:xfrm>
            <a:off x="5480456" y="6453385"/>
            <a:ext cx="385262" cy="320209"/>
          </a:xfrm>
          <a:prstGeom prst="rect">
            <a:avLst/>
          </a:prstGeom>
        </p:spPr>
      </p:pic>
      <p:pic>
        <p:nvPicPr>
          <p:cNvPr id="280" name="Logo SPS PoolCare" descr="SPS PoolCare logo"/>
          <p:cNvPicPr>
            <a:picLocks noChangeAspect="1"/>
          </p:cNvPicPr>
          <p:nvPr/>
        </p:nvPicPr>
        <p:blipFill>
          <a:blip r:embed="rId71"/>
          <a:stretch>
            <a:fillRect/>
          </a:stretch>
        </p:blipFill>
        <p:spPr>
          <a:xfrm>
            <a:off x="6766560" y="6644442"/>
            <a:ext cx="1078992" cy="102504"/>
          </a:xfrm>
          <a:prstGeom prst="rect">
            <a:avLst/>
          </a:prstGeom>
        </p:spPr>
      </p:pic>
      <p:pic>
        <p:nvPicPr>
          <p:cNvPr id="281" name="Logo Rise Baking" descr="Rise Baking logo"/>
          <p:cNvPicPr>
            <a:picLocks noChangeAspect="1"/>
          </p:cNvPicPr>
          <p:nvPr/>
        </p:nvPicPr>
        <p:blipFill>
          <a:blip r:embed="rId72"/>
          <a:stretch>
            <a:fillRect/>
          </a:stretch>
        </p:blipFill>
        <p:spPr>
          <a:xfrm>
            <a:off x="3836823" y="3551247"/>
            <a:ext cx="254101" cy="444681"/>
          </a:xfrm>
          <a:prstGeom prst="rect">
            <a:avLst/>
          </a:prstGeom>
        </p:spPr>
      </p:pic>
      <p:pic>
        <p:nvPicPr>
          <p:cNvPr id="282" name="Logo Church &amp; Dwight" descr="Church &amp; Dwight logo"/>
          <p:cNvPicPr>
            <a:picLocks noChangeAspect="1"/>
          </p:cNvPicPr>
          <p:nvPr/>
        </p:nvPicPr>
        <p:blipFill>
          <a:blip r:embed="rId73"/>
          <a:stretch>
            <a:fillRect/>
          </a:stretch>
        </p:blipFill>
        <p:spPr>
          <a:xfrm>
            <a:off x="7644905" y="1810512"/>
            <a:ext cx="215809" cy="214884"/>
          </a:xfrm>
          <a:prstGeom prst="rect">
            <a:avLst/>
          </a:prstGeom>
        </p:spPr>
      </p:pic>
      <p:pic>
        <p:nvPicPr>
          <p:cNvPr id="283" name="Logo Newell Brands" descr="Newell Brands logo"/>
          <p:cNvPicPr>
            <a:picLocks noChangeAspect="1"/>
          </p:cNvPicPr>
          <p:nvPr/>
        </p:nvPicPr>
        <p:blipFill>
          <a:blip r:embed="rId74"/>
          <a:stretch>
            <a:fillRect/>
          </a:stretch>
        </p:blipFill>
        <p:spPr>
          <a:xfrm>
            <a:off x="7694113" y="2377440"/>
            <a:ext cx="466722" cy="214884"/>
          </a:xfrm>
          <a:prstGeom prst="rect">
            <a:avLst/>
          </a:prstGeom>
        </p:spPr>
      </p:pic>
      <p:pic>
        <p:nvPicPr>
          <p:cNvPr id="284" name="Logo Prestige Consumer Healthcare" descr="Prestige Consumer Healthcare logo"/>
          <p:cNvPicPr>
            <a:picLocks noChangeAspect="1"/>
          </p:cNvPicPr>
          <p:nvPr/>
        </p:nvPicPr>
        <p:blipFill>
          <a:blip r:embed="rId75"/>
          <a:stretch>
            <a:fillRect/>
          </a:stretch>
        </p:blipFill>
        <p:spPr>
          <a:xfrm>
            <a:off x="6422537" y="3054096"/>
            <a:ext cx="779486" cy="228600"/>
          </a:xfrm>
          <a:prstGeom prst="rect">
            <a:avLst/>
          </a:prstGeom>
        </p:spPr>
      </p:pic>
      <p:pic>
        <p:nvPicPr>
          <p:cNvPr id="285" name="Logo WHP Global" descr="WHP Global logo"/>
          <p:cNvPicPr>
            <a:picLocks noChangeAspect="1"/>
          </p:cNvPicPr>
          <p:nvPr/>
        </p:nvPicPr>
        <p:blipFill>
          <a:blip r:embed="rId76"/>
          <a:stretch>
            <a:fillRect/>
          </a:stretch>
        </p:blipFill>
        <p:spPr>
          <a:xfrm>
            <a:off x="8266176" y="3699749"/>
            <a:ext cx="1078992" cy="126014"/>
          </a:xfrm>
          <a:prstGeom prst="rect">
            <a:avLst/>
          </a:prstGeom>
        </p:spPr>
      </p:pic>
      <p:pic>
        <p:nvPicPr>
          <p:cNvPr id="286" name="Logo Performance Food Group" descr="Performance Food Group logo"/>
          <p:cNvPicPr>
            <a:picLocks noChangeAspect="1"/>
          </p:cNvPicPr>
          <p:nvPr/>
        </p:nvPicPr>
        <p:blipFill>
          <a:blip r:embed="rId77"/>
          <a:stretch>
            <a:fillRect/>
          </a:stretch>
        </p:blipFill>
        <p:spPr>
          <a:xfrm>
            <a:off x="3538728" y="4683858"/>
            <a:ext cx="1234440" cy="192335"/>
          </a:xfrm>
          <a:prstGeom prst="rect">
            <a:avLst/>
          </a:prstGeom>
        </p:spPr>
      </p:pic>
      <p:pic>
        <p:nvPicPr>
          <p:cNvPr id="287" name="Logo Performance Food Group" descr="Performance Food Group logo"/>
          <p:cNvPicPr>
            <a:picLocks noChangeAspect="1"/>
          </p:cNvPicPr>
          <p:nvPr/>
        </p:nvPicPr>
        <p:blipFill>
          <a:blip r:embed="rId77"/>
          <a:stretch>
            <a:fillRect/>
          </a:stretch>
        </p:blipFill>
        <p:spPr>
          <a:xfrm>
            <a:off x="1664208" y="5752068"/>
            <a:ext cx="932688" cy="145320"/>
          </a:xfrm>
          <a:prstGeom prst="rect">
            <a:avLst/>
          </a:prstGeom>
        </p:spPr>
      </p:pic>
      <p:pic>
        <p:nvPicPr>
          <p:cNvPr id="288" name="Logo Five Star Breaktime Solutions" descr="Five Star Breaktime Solutions logo"/>
          <p:cNvPicPr>
            <a:picLocks noChangeAspect="1"/>
          </p:cNvPicPr>
          <p:nvPr/>
        </p:nvPicPr>
        <p:blipFill>
          <a:blip r:embed="rId78"/>
          <a:stretch>
            <a:fillRect/>
          </a:stretch>
        </p:blipFill>
        <p:spPr>
          <a:xfrm>
            <a:off x="2460470" y="6025896"/>
            <a:ext cx="821493" cy="256032"/>
          </a:xfrm>
          <a:prstGeom prst="rect">
            <a:avLst/>
          </a:prstGeom>
        </p:spPr>
      </p:pic>
      <p:pic>
        <p:nvPicPr>
          <p:cNvPr id="289" name="Logo AeriTek" descr="AeriTek logo"/>
          <p:cNvPicPr>
            <a:picLocks noChangeAspect="1"/>
          </p:cNvPicPr>
          <p:nvPr/>
        </p:nvPicPr>
        <p:blipFill>
          <a:blip r:embed="rId79"/>
          <a:stretch>
            <a:fillRect/>
          </a:stretch>
        </p:blipFill>
        <p:spPr>
          <a:xfrm>
            <a:off x="3749040" y="6027515"/>
            <a:ext cx="1078992" cy="252793"/>
          </a:xfrm>
          <a:prstGeom prst="rect">
            <a:avLst/>
          </a:prstGeom>
        </p:spPr>
      </p:pic>
      <p:pic>
        <p:nvPicPr>
          <p:cNvPr id="290" name="Logo GreaseCycle" descr="GreaseCycle logo"/>
          <p:cNvPicPr>
            <a:picLocks noChangeAspect="1"/>
          </p:cNvPicPr>
          <p:nvPr/>
        </p:nvPicPr>
        <p:blipFill>
          <a:blip r:embed="rId80"/>
          <a:stretch>
            <a:fillRect/>
          </a:stretch>
        </p:blipFill>
        <p:spPr>
          <a:xfrm>
            <a:off x="2084832" y="6372862"/>
            <a:ext cx="1078992" cy="220468"/>
          </a:xfrm>
          <a:prstGeom prst="rect">
            <a:avLst/>
          </a:prstGeom>
        </p:spPr>
      </p:pic>
      <p:pic>
        <p:nvPicPr>
          <p:cNvPr id="291" name="Logo Market Performance Group" descr="Market Performance Group logo"/>
          <p:cNvPicPr>
            <a:picLocks noChangeAspect="1"/>
          </p:cNvPicPr>
          <p:nvPr/>
        </p:nvPicPr>
        <p:blipFill>
          <a:blip r:embed="rId81"/>
          <a:stretch>
            <a:fillRect/>
          </a:stretch>
        </p:blipFill>
        <p:spPr>
          <a:xfrm>
            <a:off x="3584448" y="6405169"/>
            <a:ext cx="1078992" cy="155854"/>
          </a:xfrm>
          <a:prstGeom prst="rect">
            <a:avLst/>
          </a:prstGeom>
        </p:spPr>
      </p:pic>
      <p:pic>
        <p:nvPicPr>
          <p:cNvPr id="292" name="Logo Brinker International" descr="Brinker International logo"/>
          <p:cNvPicPr>
            <a:picLocks noChangeAspect="1"/>
          </p:cNvPicPr>
          <p:nvPr/>
        </p:nvPicPr>
        <p:blipFill>
          <a:blip r:embed="rId82"/>
          <a:stretch>
            <a:fillRect/>
          </a:stretch>
        </p:blipFill>
        <p:spPr>
          <a:xfrm>
            <a:off x="6349873" y="4723457"/>
            <a:ext cx="409925" cy="408613"/>
          </a:xfrm>
          <a:prstGeom prst="rect">
            <a:avLst/>
          </a:prstGeom>
        </p:spPr>
      </p:pic>
      <p:pic>
        <p:nvPicPr>
          <p:cNvPr id="293" name="Logo Costco" descr="Costco logo"/>
          <p:cNvPicPr>
            <a:picLocks noChangeAspect="1"/>
          </p:cNvPicPr>
          <p:nvPr/>
        </p:nvPicPr>
        <p:blipFill>
          <a:blip r:embed="rId83"/>
          <a:stretch>
            <a:fillRect/>
          </a:stretch>
        </p:blipFill>
        <p:spPr>
          <a:xfrm>
            <a:off x="5376672" y="5490972"/>
            <a:ext cx="760163" cy="210312"/>
          </a:xfrm>
          <a:prstGeom prst="rect">
            <a:avLst/>
          </a:prstGeom>
        </p:spPr>
      </p:pic>
      <p:pic>
        <p:nvPicPr>
          <p:cNvPr id="294" name="Logo Allied Roofing Partners" descr="Allied Roofing Partners logo"/>
          <p:cNvPicPr>
            <a:picLocks noChangeAspect="1"/>
          </p:cNvPicPr>
          <p:nvPr/>
        </p:nvPicPr>
        <p:blipFill>
          <a:blip r:embed="rId84"/>
          <a:stretch>
            <a:fillRect/>
          </a:stretch>
        </p:blipFill>
        <p:spPr>
          <a:xfrm>
            <a:off x="8616114" y="6601968"/>
            <a:ext cx="379116" cy="187452"/>
          </a:xfrm>
          <a:prstGeom prst="rect">
            <a:avLst/>
          </a:prstGeom>
        </p:spPr>
      </p:pic>
      <p:pic>
        <p:nvPicPr>
          <p:cNvPr id="295" name="Logo Simply Good Foods" descr="Simply Good Foods logo"/>
          <p:cNvPicPr>
            <a:picLocks noChangeAspect="1"/>
          </p:cNvPicPr>
          <p:nvPr/>
        </p:nvPicPr>
        <p:blipFill>
          <a:blip r:embed="rId85"/>
          <a:stretch/>
        </p:blipFill>
        <p:spPr>
          <a:xfrm>
            <a:off x="2330855" y="2383354"/>
            <a:ext cx="768096" cy="193913"/>
          </a:xfrm>
          <a:prstGeom prst="rect">
            <a:avLst/>
          </a:prstGeom>
        </p:spPr>
      </p:pic>
      <p:pic>
        <p:nvPicPr>
          <p:cNvPr id="296" name="Logo Rich Products" descr="Rich Products logo"/>
          <p:cNvPicPr>
            <a:picLocks noChangeAspect="1"/>
          </p:cNvPicPr>
          <p:nvPr/>
        </p:nvPicPr>
        <p:blipFill>
          <a:blip r:embed="rId86"/>
          <a:stretch/>
        </p:blipFill>
        <p:spPr>
          <a:xfrm>
            <a:off x="1244546" y="3570732"/>
            <a:ext cx="418699" cy="192024"/>
          </a:xfrm>
          <a:prstGeom prst="rect">
            <a:avLst/>
          </a:prstGeom>
        </p:spPr>
      </p:pic>
      <p:pic>
        <p:nvPicPr>
          <p:cNvPr id="297" name="Logo C.H. Guenther" descr="C.H. Guenther logo"/>
          <p:cNvPicPr>
            <a:picLocks noChangeAspect="1"/>
          </p:cNvPicPr>
          <p:nvPr/>
        </p:nvPicPr>
        <p:blipFill>
          <a:blip r:embed="rId87"/>
          <a:stretch/>
        </p:blipFill>
        <p:spPr>
          <a:xfrm>
            <a:off x="4154566" y="3570732"/>
            <a:ext cx="267940" cy="192024"/>
          </a:xfrm>
          <a:prstGeom prst="rect">
            <a:avLst/>
          </a:prstGeom>
        </p:spPr>
      </p:pic>
      <p:pic>
        <p:nvPicPr>
          <p:cNvPr id="298" name="Logo Spectrum Brands" descr="Spectrum Brands logo"/>
          <p:cNvPicPr>
            <a:picLocks noChangeAspect="1"/>
          </p:cNvPicPr>
          <p:nvPr/>
        </p:nvPicPr>
        <p:blipFill>
          <a:blip r:embed="rId88"/>
          <a:stretch/>
        </p:blipFill>
        <p:spPr>
          <a:xfrm>
            <a:off x="8557576" y="2093976"/>
            <a:ext cx="778448" cy="214884"/>
          </a:xfrm>
          <a:prstGeom prst="rect">
            <a:avLst/>
          </a:prstGeom>
        </p:spPr>
      </p:pic>
      <p:pic>
        <p:nvPicPr>
          <p:cNvPr id="299" name="Logo Singer Equipment" descr="Singer Equipment logo"/>
          <p:cNvPicPr>
            <a:picLocks noChangeAspect="1"/>
          </p:cNvPicPr>
          <p:nvPr/>
        </p:nvPicPr>
        <p:blipFill>
          <a:blip r:embed="rId89"/>
          <a:stretch/>
        </p:blipFill>
        <p:spPr>
          <a:xfrm>
            <a:off x="3034458" y="5696712"/>
            <a:ext cx="386748" cy="256032"/>
          </a:xfrm>
          <a:prstGeom prst="rect">
            <a:avLst/>
          </a:prstGeom>
        </p:spPr>
      </p:pic>
      <p:pic>
        <p:nvPicPr>
          <p:cNvPr id="300" name="Logo Front of House Worldwide" descr="Front of House Worldwide logo"/>
          <p:cNvPicPr>
            <a:picLocks noChangeAspect="1"/>
          </p:cNvPicPr>
          <p:nvPr/>
        </p:nvPicPr>
        <p:blipFill>
          <a:blip r:embed="rId90"/>
          <a:stretch/>
        </p:blipFill>
        <p:spPr>
          <a:xfrm>
            <a:off x="758064" y="6355080"/>
            <a:ext cx="733296" cy="256032"/>
          </a:xfrm>
          <a:prstGeom prst="rect">
            <a:avLst/>
          </a:prstGeom>
        </p:spPr>
      </p:pic>
      <p:pic>
        <p:nvPicPr>
          <p:cNvPr id="301" name="Logo Oak Hill Capital" descr="Oak Hill Capital logo"/>
          <p:cNvPicPr>
            <a:picLocks noChangeAspect="1"/>
          </p:cNvPicPr>
          <p:nvPr/>
        </p:nvPicPr>
        <p:blipFill>
          <a:blip r:embed="rId91"/>
          <a:stretch/>
        </p:blipFill>
        <p:spPr>
          <a:xfrm>
            <a:off x="6345936" y="6210164"/>
            <a:ext cx="932688" cy="749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and snack shares are down a quarter to a third in a year, and earnings rose most at consumer services and foodservice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14 to October 19,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943160" y="2085975"/>
            <a:ext cx="769303" cy="114300"/>
          </a:xfrm>
          <a:prstGeom prst="rect">
            <a:avLst/>
          </a:prstGeom>
          <a:solidFill>
            <a:srgbClr val="B68757"/>
          </a:solidFill>
          <a:ln/>
        </p:spPr>
        <p:txBody>
          <a:bodyPr/>
          <a:lstStyle/>
          <a:p>
            <a:endParaRPr lang="en-US"/>
          </a:p>
        </p:txBody>
      </p:sp>
      <p:sp>
        <p:nvSpPr>
          <p:cNvPr id="17" name="Text 16"/>
          <p:cNvSpPr txBox="1"/>
          <p:nvPr/>
        </p:nvSpPr>
        <p:spPr>
          <a:xfrm>
            <a:off x="2525036"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−22.8%</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637801" y="2438400"/>
            <a:ext cx="1074662" cy="114300"/>
          </a:xfrm>
          <a:prstGeom prst="rect">
            <a:avLst/>
          </a:prstGeom>
          <a:solidFill>
            <a:srgbClr val="B68757"/>
          </a:solidFill>
          <a:ln/>
        </p:spPr>
        <p:txBody>
          <a:bodyPr/>
          <a:lstStyle/>
          <a:p>
            <a:endParaRPr lang="en-US"/>
          </a:p>
        </p:txBody>
      </p:sp>
      <p:sp>
        <p:nvSpPr>
          <p:cNvPr id="21" name="Text 20"/>
          <p:cNvSpPr txBox="1"/>
          <p:nvPr/>
        </p:nvSpPr>
        <p:spPr>
          <a:xfrm>
            <a:off x="2233221"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−31.9%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2463" y="2790825"/>
            <a:ext cx="390050" cy="114300"/>
          </a:xfrm>
          <a:prstGeom prst="rect">
            <a:avLst/>
          </a:prstGeom>
          <a:solidFill>
            <a:srgbClr val="B68757"/>
          </a:solidFill>
          <a:ln/>
        </p:spPr>
        <p:txBody>
          <a:bodyPr/>
          <a:lstStyle/>
          <a:p>
            <a:endParaRPr lang="en-US"/>
          </a:p>
        </p:txBody>
      </p:sp>
      <p:sp>
        <p:nvSpPr>
          <p:cNvPr id="25" name="Text 24"/>
          <p:cNvSpPr txBox="1"/>
          <p:nvPr/>
        </p:nvSpPr>
        <p:spPr>
          <a:xfrm>
            <a:off x="4157378"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+11.6%</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2463" y="3400425"/>
            <a:ext cx="240238" cy="114300"/>
          </a:xfrm>
          <a:prstGeom prst="rect">
            <a:avLst/>
          </a:prstGeom>
          <a:solidFill>
            <a:srgbClr val="B68757"/>
          </a:solidFill>
          <a:ln/>
        </p:spPr>
        <p:txBody>
          <a:bodyPr/>
          <a:lstStyle/>
          <a:p>
            <a:endParaRPr lang="en-US"/>
          </a:p>
        </p:txBody>
      </p:sp>
      <p:sp>
        <p:nvSpPr>
          <p:cNvPr id="30" name="Text 29"/>
          <p:cNvSpPr txBox="1"/>
          <p:nvPr/>
        </p:nvSpPr>
        <p:spPr>
          <a:xfrm>
            <a:off x="4007566"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+7.1%</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2463" y="3752850"/>
            <a:ext cx="668753" cy="114300"/>
          </a:xfrm>
          <a:prstGeom prst="rect">
            <a:avLst/>
          </a:prstGeom>
          <a:solidFill>
            <a:srgbClr val="B68757"/>
          </a:solidFill>
          <a:ln/>
        </p:spPr>
        <p:txBody>
          <a:bodyPr/>
          <a:lstStyle/>
          <a:p>
            <a:endParaRPr lang="en-US"/>
          </a:p>
        </p:txBody>
      </p:sp>
      <p:sp>
        <p:nvSpPr>
          <p:cNvPr id="34" name="Text 33"/>
          <p:cNvSpPr txBox="1"/>
          <p:nvPr/>
        </p:nvSpPr>
        <p:spPr>
          <a:xfrm>
            <a:off x="4436081"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+19.8%</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2463" y="4362450"/>
            <a:ext cx="294899" cy="114300"/>
          </a:xfrm>
          <a:prstGeom prst="rect">
            <a:avLst/>
          </a:prstGeom>
          <a:solidFill>
            <a:srgbClr val="B68757"/>
          </a:solidFill>
          <a:ln/>
        </p:spPr>
        <p:txBody>
          <a:bodyPr/>
          <a:lstStyle/>
          <a:p>
            <a:endParaRPr lang="en-US"/>
          </a:p>
        </p:txBody>
      </p:sp>
      <p:sp>
        <p:nvSpPr>
          <p:cNvPr id="39" name="Text 38"/>
          <p:cNvSpPr txBox="1"/>
          <p:nvPr/>
        </p:nvSpPr>
        <p:spPr>
          <a:xfrm>
            <a:off x="4062227"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+8.7%</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265053" y="4972050"/>
            <a:ext cx="447410" cy="114300"/>
          </a:xfrm>
          <a:prstGeom prst="rect">
            <a:avLst/>
          </a:prstGeom>
          <a:solidFill>
            <a:srgbClr val="B68757"/>
          </a:solidFill>
          <a:ln/>
        </p:spPr>
        <p:txBody>
          <a:bodyPr/>
          <a:lstStyle/>
          <a:p>
            <a:endParaRPr lang="en-US"/>
          </a:p>
        </p:txBody>
      </p:sp>
      <p:sp>
        <p:nvSpPr>
          <p:cNvPr id="44" name="Text 43"/>
          <p:cNvSpPr txBox="1"/>
          <p:nvPr/>
        </p:nvSpPr>
        <p:spPr>
          <a:xfrm>
            <a:off x="2890089"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−13.3%</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587864" y="5324475"/>
            <a:ext cx="1124599" cy="114300"/>
          </a:xfrm>
          <a:prstGeom prst="rect">
            <a:avLst/>
          </a:prstGeom>
          <a:solidFill>
            <a:srgbClr val="B68757"/>
          </a:solidFill>
          <a:ln/>
        </p:spPr>
        <p:txBody>
          <a:bodyPr/>
          <a:lstStyle/>
          <a:p>
            <a:endParaRPr lang="en-US"/>
          </a:p>
        </p:txBody>
      </p:sp>
      <p:sp>
        <p:nvSpPr>
          <p:cNvPr id="48" name="Text 47"/>
          <p:cNvSpPr txBox="1"/>
          <p:nvPr/>
        </p:nvSpPr>
        <p:spPr>
          <a:xfrm>
            <a:off x="2169145"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−33.3%</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2463" y="5676900"/>
            <a:ext cx="270605" cy="114300"/>
          </a:xfrm>
          <a:prstGeom prst="rect">
            <a:avLst/>
          </a:prstGeom>
          <a:solidFill>
            <a:srgbClr val="B68757"/>
          </a:solidFill>
          <a:ln/>
        </p:spPr>
        <p:txBody>
          <a:bodyPr/>
          <a:lstStyle/>
          <a:p>
            <a:endParaRPr lang="en-US"/>
          </a:p>
        </p:txBody>
      </p:sp>
      <p:sp>
        <p:nvSpPr>
          <p:cNvPr id="52" name="Text 51"/>
          <p:cNvSpPr txBox="1"/>
          <p:nvPr/>
        </p:nvSpPr>
        <p:spPr>
          <a:xfrm>
            <a:off x="4037933"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+8.0%</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618676" y="2085975"/>
            <a:ext cx="373179" cy="114300"/>
          </a:xfrm>
          <a:prstGeom prst="rect">
            <a:avLst/>
          </a:prstGeom>
          <a:solidFill>
            <a:srgbClr val="B68757"/>
          </a:solidFill>
          <a:ln/>
        </p:spPr>
        <p:txBody>
          <a:bodyPr/>
          <a:lstStyle/>
          <a:p>
            <a:endParaRPr lang="en-US"/>
          </a:p>
        </p:txBody>
      </p:sp>
      <p:sp>
        <p:nvSpPr>
          <p:cNvPr id="61" name="Text 60"/>
          <p:cNvSpPr txBox="1"/>
          <p:nvPr/>
        </p:nvSpPr>
        <p:spPr>
          <a:xfrm>
            <a:off x="7264697"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474600" y="2438400"/>
            <a:ext cx="517255" cy="114300"/>
          </a:xfrm>
          <a:prstGeom prst="rect">
            <a:avLst/>
          </a:prstGeom>
          <a:solidFill>
            <a:srgbClr val="B68757"/>
          </a:solidFill>
          <a:ln/>
        </p:spPr>
        <p:txBody>
          <a:bodyPr/>
          <a:lstStyle/>
          <a:p>
            <a:endParaRPr lang="en-US"/>
          </a:p>
        </p:txBody>
      </p:sp>
      <p:sp>
        <p:nvSpPr>
          <p:cNvPr id="65" name="Text 64"/>
          <p:cNvSpPr txBox="1"/>
          <p:nvPr/>
        </p:nvSpPr>
        <p:spPr>
          <a:xfrm>
            <a:off x="7097702"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−15.3%</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856" y="2790825"/>
            <a:ext cx="215269" cy="114300"/>
          </a:xfrm>
          <a:prstGeom prst="rect">
            <a:avLst/>
          </a:prstGeom>
          <a:solidFill>
            <a:srgbClr val="B68757"/>
          </a:solidFill>
          <a:ln/>
        </p:spPr>
        <p:txBody>
          <a:bodyPr/>
          <a:lstStyle/>
          <a:p>
            <a:endParaRPr lang="en-US"/>
          </a:p>
        </p:txBody>
      </p:sp>
      <p:sp>
        <p:nvSpPr>
          <p:cNvPr id="69" name="Text 68"/>
          <p:cNvSpPr txBox="1"/>
          <p:nvPr/>
        </p:nvSpPr>
        <p:spPr>
          <a:xfrm>
            <a:off x="8261989"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856" y="3400425"/>
            <a:ext cx="24968" cy="114300"/>
          </a:xfrm>
          <a:prstGeom prst="rect">
            <a:avLst/>
          </a:prstGeom>
          <a:solidFill>
            <a:srgbClr val="B68757"/>
          </a:solidFill>
          <a:ln/>
        </p:spPr>
        <p:txBody>
          <a:bodyPr/>
          <a:lstStyle/>
          <a:p>
            <a:endParaRPr lang="en-US"/>
          </a:p>
        </p:txBody>
      </p:sp>
      <p:sp>
        <p:nvSpPr>
          <p:cNvPr id="74" name="Text 73"/>
          <p:cNvSpPr txBox="1"/>
          <p:nvPr/>
        </p:nvSpPr>
        <p:spPr>
          <a:xfrm>
            <a:off x="8071688"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720912" y="3752850"/>
            <a:ext cx="270943" cy="114300"/>
          </a:xfrm>
          <a:prstGeom prst="rect">
            <a:avLst/>
          </a:prstGeom>
          <a:solidFill>
            <a:srgbClr val="B68757"/>
          </a:solidFill>
          <a:ln/>
        </p:spPr>
        <p:txBody>
          <a:bodyPr/>
          <a:lstStyle/>
          <a:p>
            <a:endParaRPr lang="en-US"/>
          </a:p>
        </p:txBody>
      </p:sp>
      <p:sp>
        <p:nvSpPr>
          <p:cNvPr id="78" name="Text 77"/>
          <p:cNvSpPr txBox="1"/>
          <p:nvPr/>
        </p:nvSpPr>
        <p:spPr>
          <a:xfrm>
            <a:off x="7367231"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856" y="4362450"/>
            <a:ext cx="272292" cy="114300"/>
          </a:xfrm>
          <a:prstGeom prst="rect">
            <a:avLst/>
          </a:prstGeom>
          <a:solidFill>
            <a:srgbClr val="B68757"/>
          </a:solidFill>
          <a:ln/>
        </p:spPr>
        <p:txBody>
          <a:bodyPr/>
          <a:lstStyle/>
          <a:p>
            <a:endParaRPr lang="en-US"/>
          </a:p>
        </p:txBody>
      </p:sp>
      <p:sp>
        <p:nvSpPr>
          <p:cNvPr id="83" name="Text 82"/>
          <p:cNvSpPr txBox="1"/>
          <p:nvPr/>
        </p:nvSpPr>
        <p:spPr>
          <a:xfrm>
            <a:off x="8319012"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+8.1%</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856" y="4972050"/>
            <a:ext cx="211558" cy="114300"/>
          </a:xfrm>
          <a:prstGeom prst="rect">
            <a:avLst/>
          </a:prstGeom>
          <a:solidFill>
            <a:srgbClr val="B68757"/>
          </a:solidFill>
          <a:ln/>
        </p:spPr>
        <p:txBody>
          <a:bodyPr/>
          <a:lstStyle/>
          <a:p>
            <a:endParaRPr lang="en-US"/>
          </a:p>
        </p:txBody>
      </p:sp>
      <p:sp>
        <p:nvSpPr>
          <p:cNvPr id="88" name="Text 87"/>
          <p:cNvSpPr txBox="1"/>
          <p:nvPr/>
        </p:nvSpPr>
        <p:spPr>
          <a:xfrm>
            <a:off x="8258278"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856" y="5324475"/>
            <a:ext cx="403884" cy="114300"/>
          </a:xfrm>
          <a:prstGeom prst="rect">
            <a:avLst/>
          </a:prstGeom>
          <a:solidFill>
            <a:srgbClr val="B68757"/>
          </a:solidFill>
          <a:ln/>
        </p:spPr>
        <p:txBody>
          <a:bodyPr/>
          <a:lstStyle/>
          <a:p>
            <a:endParaRPr lang="en-US"/>
          </a:p>
        </p:txBody>
      </p:sp>
      <p:sp>
        <p:nvSpPr>
          <p:cNvPr id="92" name="Text 91"/>
          <p:cNvSpPr txBox="1"/>
          <p:nvPr/>
        </p:nvSpPr>
        <p:spPr>
          <a:xfrm>
            <a:off x="8450604"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+12.0%</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856" y="5676900"/>
            <a:ext cx="118432" cy="114300"/>
          </a:xfrm>
          <a:prstGeom prst="rect">
            <a:avLst/>
          </a:prstGeom>
          <a:solidFill>
            <a:srgbClr val="B68757"/>
          </a:solidFill>
          <a:ln/>
        </p:spPr>
        <p:txBody>
          <a:bodyPr/>
          <a:lstStyle/>
          <a:p>
            <a:endParaRPr lang="en-US"/>
          </a:p>
        </p:txBody>
      </p:sp>
      <p:sp>
        <p:nvSpPr>
          <p:cNvPr id="96" name="Text 95"/>
          <p:cNvSpPr txBox="1"/>
          <p:nvPr/>
        </p:nvSpPr>
        <p:spPr>
          <a:xfrm>
            <a:off x="8165152"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31 of 56</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12.0x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14.2x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7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56 listed companies in nine peer groups, listed on pages 21 to 23. Source: StockAnalysis, retrieved October 19, 2026. EBITDA is as reported, so the snack and packaged food declines include commodity hedging and impairment charges. The snacks median sits between Hershey, down 10%, and three smaller companies down 54% to 79%. Multiples cover the 52 companies with comparable readings on both dates; foodservice distribution is unchanged and household and personal care is higher.</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Chart key with colored markers for each peer group"/>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descr="Chart of median revenue growth by fiscal year for a listed peer group"/>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+11.5%</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Chart key with colored markers for each peer group"/>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descr="Chart of median revenue growth by fiscal year for a listed peer group"/>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Chart key with colored markers for each peer group"/>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descr="Chart of median revenue growth by fiscal year for a listed peer group"/>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(6)</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Chart key with colored markers for each peer group"/>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descr="Chart of median revenue growth by fiscal year for a listed peer group"/>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+10.5%</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+3.9%</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+8.6%</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+8.1%</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brackets. Shaded years are analyst consensus; current-year estimates are as retrieved October 19, 2026 and next-year estimates as retrieved October 7. Beverage estimates carry Keurig Dr Pepper’s JDE Peet’s purchase and Celsius’s Alani Nu purchase. Middleby is left out because its revenue was restated for a spin-off. Source: StockAnalysis.</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seven of nine peer groups and below its three-year median in eight of nine.</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3936" y="2028825"/>
            <a:ext cx="322127" cy="114300"/>
          </a:xfrm>
          <a:prstGeom prst="rect">
            <a:avLst/>
          </a:prstGeom>
          <a:solidFill>
            <a:srgbClr val="B68757"/>
          </a:solidFill>
          <a:ln/>
        </p:spPr>
        <p:txBody>
          <a:bodyPr/>
          <a:lstStyle/>
          <a:p>
            <a:endParaRPr lang="en-US"/>
          </a:p>
        </p:txBody>
      </p:sp>
      <p:sp>
        <p:nvSpPr>
          <p:cNvPr id="17" name="Text 16"/>
          <p:cNvSpPr txBox="1"/>
          <p:nvPr/>
        </p:nvSpPr>
        <p:spPr>
          <a:xfrm>
            <a:off x="2160071"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3936" y="2343150"/>
            <a:ext cx="322127" cy="114300"/>
          </a:xfrm>
          <a:prstGeom prst="rect">
            <a:avLst/>
          </a:prstGeom>
          <a:solidFill>
            <a:srgbClr val="B68757"/>
          </a:solidFill>
          <a:ln/>
        </p:spPr>
        <p:txBody>
          <a:bodyPr/>
          <a:lstStyle/>
          <a:p>
            <a:endParaRPr lang="en-US"/>
          </a:p>
        </p:txBody>
      </p:sp>
      <p:sp>
        <p:nvSpPr>
          <p:cNvPr id="21" name="Text 20"/>
          <p:cNvSpPr txBox="1"/>
          <p:nvPr/>
        </p:nvSpPr>
        <p:spPr>
          <a:xfrm>
            <a:off x="2160071"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3936" y="2657475"/>
            <a:ext cx="750919" cy="114300"/>
          </a:xfrm>
          <a:prstGeom prst="rect">
            <a:avLst/>
          </a:prstGeom>
          <a:solidFill>
            <a:srgbClr val="B68757"/>
          </a:solidFill>
          <a:ln/>
        </p:spPr>
        <p:txBody>
          <a:bodyPr/>
          <a:lstStyle/>
          <a:p>
            <a:endParaRPr lang="en-US"/>
          </a:p>
        </p:txBody>
      </p:sp>
      <p:sp>
        <p:nvSpPr>
          <p:cNvPr id="25" name="Text 24"/>
          <p:cNvSpPr txBox="1"/>
          <p:nvPr/>
        </p:nvSpPr>
        <p:spPr>
          <a:xfrm>
            <a:off x="2588863"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3936" y="3190875"/>
            <a:ext cx="853318" cy="114300"/>
          </a:xfrm>
          <a:prstGeom prst="rect">
            <a:avLst/>
          </a:prstGeom>
          <a:solidFill>
            <a:srgbClr val="B68757"/>
          </a:solidFill>
          <a:ln/>
        </p:spPr>
        <p:txBody>
          <a:bodyPr/>
          <a:lstStyle/>
          <a:p>
            <a:endParaRPr lang="en-US"/>
          </a:p>
        </p:txBody>
      </p:sp>
      <p:sp>
        <p:nvSpPr>
          <p:cNvPr id="30" name="Text 29"/>
          <p:cNvSpPr txBox="1"/>
          <p:nvPr/>
        </p:nvSpPr>
        <p:spPr>
          <a:xfrm>
            <a:off x="2691262"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4.0x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3936" y="3505200"/>
            <a:ext cx="223995" cy="114300"/>
          </a:xfrm>
          <a:prstGeom prst="rect">
            <a:avLst/>
          </a:prstGeom>
          <a:solidFill>
            <a:srgbClr val="B68757"/>
          </a:solidFill>
          <a:ln/>
        </p:spPr>
        <p:txBody>
          <a:bodyPr/>
          <a:lstStyle/>
          <a:p>
            <a:endParaRPr lang="en-US"/>
          </a:p>
        </p:txBody>
      </p:sp>
      <p:sp>
        <p:nvSpPr>
          <p:cNvPr id="34" name="Text 33"/>
          <p:cNvSpPr txBox="1"/>
          <p:nvPr/>
        </p:nvSpPr>
        <p:spPr>
          <a:xfrm>
            <a:off x="2061939"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3936" y="4038600"/>
            <a:ext cx="140797" cy="114300"/>
          </a:xfrm>
          <a:prstGeom prst="rect">
            <a:avLst/>
          </a:prstGeom>
          <a:solidFill>
            <a:srgbClr val="B68757"/>
          </a:solidFill>
          <a:ln/>
        </p:spPr>
        <p:txBody>
          <a:bodyPr/>
          <a:lstStyle/>
          <a:p>
            <a:endParaRPr lang="en-US"/>
          </a:p>
        </p:txBody>
      </p:sp>
      <p:sp>
        <p:nvSpPr>
          <p:cNvPr id="39" name="Text 38"/>
          <p:cNvSpPr txBox="1"/>
          <p:nvPr/>
        </p:nvSpPr>
        <p:spPr>
          <a:xfrm>
            <a:off x="1978741"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3936" y="4572000"/>
            <a:ext cx="578122" cy="114300"/>
          </a:xfrm>
          <a:prstGeom prst="rect">
            <a:avLst/>
          </a:prstGeom>
          <a:solidFill>
            <a:srgbClr val="B68757"/>
          </a:solidFill>
          <a:ln/>
        </p:spPr>
        <p:txBody>
          <a:bodyPr/>
          <a:lstStyle/>
          <a:p>
            <a:endParaRPr lang="en-US"/>
          </a:p>
        </p:txBody>
      </p:sp>
      <p:sp>
        <p:nvSpPr>
          <p:cNvPr id="44" name="Text 43"/>
          <p:cNvSpPr txBox="1"/>
          <p:nvPr/>
        </p:nvSpPr>
        <p:spPr>
          <a:xfrm>
            <a:off x="2416066"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3936" y="4886325"/>
            <a:ext cx="693320" cy="114300"/>
          </a:xfrm>
          <a:prstGeom prst="rect">
            <a:avLst/>
          </a:prstGeom>
          <a:solidFill>
            <a:srgbClr val="B68757"/>
          </a:solidFill>
          <a:ln/>
        </p:spPr>
        <p:txBody>
          <a:bodyPr/>
          <a:lstStyle/>
          <a:p>
            <a:endParaRPr lang="en-US"/>
          </a:p>
        </p:txBody>
      </p:sp>
      <p:sp>
        <p:nvSpPr>
          <p:cNvPr id="48" name="Text 47"/>
          <p:cNvSpPr txBox="1"/>
          <p:nvPr/>
        </p:nvSpPr>
        <p:spPr>
          <a:xfrm>
            <a:off x="2531264"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3.2x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3936" y="5200650"/>
            <a:ext cx="253862" cy="114300"/>
          </a:xfrm>
          <a:prstGeom prst="rect">
            <a:avLst/>
          </a:prstGeom>
          <a:solidFill>
            <a:srgbClr val="B68757"/>
          </a:solidFill>
          <a:ln/>
        </p:spPr>
        <p:txBody>
          <a:bodyPr/>
          <a:lstStyle/>
          <a:p>
            <a:endParaRPr lang="en-US"/>
          </a:p>
        </p:txBody>
      </p:sp>
      <p:sp>
        <p:nvSpPr>
          <p:cNvPr id="52" name="Text 51"/>
          <p:cNvSpPr txBox="1"/>
          <p:nvPr/>
        </p:nvSpPr>
        <p:spPr>
          <a:xfrm>
            <a:off x="2091806"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92040" y="2028825"/>
            <a:ext cx="383148" cy="114300"/>
          </a:xfrm>
          <a:prstGeom prst="rect">
            <a:avLst/>
          </a:prstGeom>
          <a:solidFill>
            <a:srgbClr val="B68757"/>
          </a:solidFill>
          <a:ln/>
        </p:spPr>
        <p:txBody>
          <a:bodyPr/>
          <a:lstStyle/>
          <a:p>
            <a:endParaRPr lang="en-US"/>
          </a:p>
        </p:txBody>
      </p:sp>
      <p:sp>
        <p:nvSpPr>
          <p:cNvPr id="63" name="Shape 62"/>
          <p:cNvSpPr/>
          <p:nvPr/>
        </p:nvSpPr>
        <p:spPr>
          <a:xfrm>
            <a:off x="5314629" y="1990725"/>
            <a:ext cx="19050" cy="190500"/>
          </a:xfrm>
          <a:prstGeom prst="rect">
            <a:avLst/>
          </a:prstGeom>
          <a:solidFill>
            <a:srgbClr val="1B1A1A"/>
          </a:solidFill>
          <a:ln/>
        </p:spPr>
        <p:txBody>
          <a:bodyPr/>
          <a:lstStyle/>
          <a:p>
            <a:endParaRPr lang="en-US"/>
          </a:p>
        </p:txBody>
      </p:sp>
      <p:sp>
        <p:nvSpPr>
          <p:cNvPr id="64" name="Text 63"/>
          <p:cNvSpPr txBox="1"/>
          <p:nvPr/>
        </p:nvSpPr>
        <p:spPr>
          <a:xfrm>
            <a:off x="5406052"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8.8x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92040" y="2343150"/>
            <a:ext cx="459431" cy="114300"/>
          </a:xfrm>
          <a:prstGeom prst="rect">
            <a:avLst/>
          </a:prstGeom>
          <a:solidFill>
            <a:srgbClr val="B68757"/>
          </a:solidFill>
          <a:ln/>
        </p:spPr>
        <p:txBody>
          <a:bodyPr/>
          <a:lstStyle/>
          <a:p>
            <a:endParaRPr lang="en-US"/>
          </a:p>
        </p:txBody>
      </p:sp>
      <p:sp>
        <p:nvSpPr>
          <p:cNvPr id="68" name="Shape 67"/>
          <p:cNvSpPr/>
          <p:nvPr/>
        </p:nvSpPr>
        <p:spPr>
          <a:xfrm>
            <a:off x="5529175" y="2305050"/>
            <a:ext cx="19050" cy="190500"/>
          </a:xfrm>
          <a:prstGeom prst="rect">
            <a:avLst/>
          </a:prstGeom>
          <a:solidFill>
            <a:srgbClr val="1B1A1A"/>
          </a:solidFill>
          <a:ln/>
        </p:spPr>
        <p:txBody>
          <a:bodyPr/>
          <a:lstStyle/>
          <a:p>
            <a:endParaRPr lang="en-US"/>
          </a:p>
        </p:txBody>
      </p:sp>
      <p:sp>
        <p:nvSpPr>
          <p:cNvPr id="69" name="Text 68"/>
          <p:cNvSpPr txBox="1"/>
          <p:nvPr/>
        </p:nvSpPr>
        <p:spPr>
          <a:xfrm>
            <a:off x="5653286"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10.6x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92040" y="2657475"/>
            <a:ext cx="497139" cy="114300"/>
          </a:xfrm>
          <a:prstGeom prst="rect">
            <a:avLst/>
          </a:prstGeom>
          <a:solidFill>
            <a:srgbClr val="B68757"/>
          </a:solidFill>
          <a:ln/>
        </p:spPr>
        <p:txBody>
          <a:bodyPr/>
          <a:lstStyle/>
          <a:p>
            <a:endParaRPr lang="en-US"/>
          </a:p>
        </p:txBody>
      </p:sp>
      <p:sp>
        <p:nvSpPr>
          <p:cNvPr id="73" name="Shape 72"/>
          <p:cNvSpPr/>
          <p:nvPr/>
        </p:nvSpPr>
        <p:spPr>
          <a:xfrm>
            <a:off x="5743721" y="2619375"/>
            <a:ext cx="19050" cy="190500"/>
          </a:xfrm>
          <a:prstGeom prst="rect">
            <a:avLst/>
          </a:prstGeom>
          <a:solidFill>
            <a:srgbClr val="1B1A1A"/>
          </a:solidFill>
          <a:ln/>
        </p:spPr>
        <p:txBody>
          <a:bodyPr/>
          <a:lstStyle/>
          <a:p>
            <a:endParaRPr lang="en-US"/>
          </a:p>
        </p:txBody>
      </p:sp>
      <p:sp>
        <p:nvSpPr>
          <p:cNvPr id="74" name="Text 73"/>
          <p:cNvSpPr txBox="1"/>
          <p:nvPr/>
        </p:nvSpPr>
        <p:spPr>
          <a:xfrm>
            <a:off x="5888228"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92040" y="3190875"/>
            <a:ext cx="738990" cy="114300"/>
          </a:xfrm>
          <a:prstGeom prst="rect">
            <a:avLst/>
          </a:prstGeom>
          <a:solidFill>
            <a:srgbClr val="B68757"/>
          </a:solidFill>
          <a:ln/>
        </p:spPr>
        <p:txBody>
          <a:bodyPr/>
          <a:lstStyle/>
          <a:p>
            <a:endParaRPr lang="en-US"/>
          </a:p>
        </p:txBody>
      </p:sp>
      <p:sp>
        <p:nvSpPr>
          <p:cNvPr id="79" name="Shape 78"/>
          <p:cNvSpPr/>
          <p:nvPr/>
        </p:nvSpPr>
        <p:spPr>
          <a:xfrm>
            <a:off x="5598523" y="3152775"/>
            <a:ext cx="19050" cy="190500"/>
          </a:xfrm>
          <a:prstGeom prst="rect">
            <a:avLst/>
          </a:prstGeom>
          <a:solidFill>
            <a:srgbClr val="1B1A1A"/>
          </a:solidFill>
          <a:ln/>
        </p:spPr>
        <p:txBody>
          <a:bodyPr/>
          <a:lstStyle/>
          <a:p>
            <a:endParaRPr lang="en-US"/>
          </a:p>
        </p:txBody>
      </p:sp>
      <p:sp>
        <p:nvSpPr>
          <p:cNvPr id="80" name="Text 79"/>
          <p:cNvSpPr txBox="1"/>
          <p:nvPr/>
        </p:nvSpPr>
        <p:spPr>
          <a:xfrm>
            <a:off x="5742289"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17.1x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92040" y="3505200"/>
            <a:ext cx="383148" cy="114300"/>
          </a:xfrm>
          <a:prstGeom prst="rect">
            <a:avLst/>
          </a:prstGeom>
          <a:solidFill>
            <a:srgbClr val="B68757"/>
          </a:solidFill>
          <a:ln/>
        </p:spPr>
        <p:txBody>
          <a:bodyPr/>
          <a:lstStyle/>
          <a:p>
            <a:endParaRPr lang="en-US"/>
          </a:p>
        </p:txBody>
      </p:sp>
      <p:sp>
        <p:nvSpPr>
          <p:cNvPr id="84" name="Shape 83"/>
          <p:cNvSpPr/>
          <p:nvPr/>
        </p:nvSpPr>
        <p:spPr>
          <a:xfrm>
            <a:off x="5314196" y="3467100"/>
            <a:ext cx="19050" cy="190500"/>
          </a:xfrm>
          <a:prstGeom prst="rect">
            <a:avLst/>
          </a:prstGeom>
          <a:solidFill>
            <a:srgbClr val="1B1A1A"/>
          </a:solidFill>
          <a:ln/>
        </p:spPr>
        <p:txBody>
          <a:bodyPr/>
          <a:lstStyle/>
          <a:p>
            <a:endParaRPr lang="en-US"/>
          </a:p>
        </p:txBody>
      </p:sp>
      <p:sp>
        <p:nvSpPr>
          <p:cNvPr id="85" name="Text 84"/>
          <p:cNvSpPr txBox="1"/>
          <p:nvPr/>
        </p:nvSpPr>
        <p:spPr>
          <a:xfrm>
            <a:off x="5396492"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8.8x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92040" y="4038600"/>
            <a:ext cx="588158" cy="114300"/>
          </a:xfrm>
          <a:prstGeom prst="rect">
            <a:avLst/>
          </a:prstGeom>
          <a:solidFill>
            <a:srgbClr val="B68757"/>
          </a:solidFill>
          <a:ln/>
        </p:spPr>
        <p:txBody>
          <a:bodyPr/>
          <a:lstStyle/>
          <a:p>
            <a:endParaRPr lang="en-US"/>
          </a:p>
        </p:txBody>
      </p:sp>
      <p:sp>
        <p:nvSpPr>
          <p:cNvPr id="90" name="Shape 89"/>
          <p:cNvSpPr/>
          <p:nvPr/>
        </p:nvSpPr>
        <p:spPr>
          <a:xfrm>
            <a:off x="5481932" y="4000500"/>
            <a:ext cx="19050" cy="190500"/>
          </a:xfrm>
          <a:prstGeom prst="rect">
            <a:avLst/>
          </a:prstGeom>
          <a:solidFill>
            <a:srgbClr val="1B1A1A"/>
          </a:solidFill>
          <a:ln/>
        </p:spPr>
        <p:txBody>
          <a:bodyPr/>
          <a:lstStyle/>
          <a:p>
            <a:endParaRPr lang="en-US"/>
          </a:p>
        </p:txBody>
      </p:sp>
      <p:sp>
        <p:nvSpPr>
          <p:cNvPr id="91" name="Text 90"/>
          <p:cNvSpPr txBox="1"/>
          <p:nvPr/>
        </p:nvSpPr>
        <p:spPr>
          <a:xfrm>
            <a:off x="5564228"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13.6x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92040" y="4572000"/>
            <a:ext cx="659673" cy="114300"/>
          </a:xfrm>
          <a:prstGeom prst="rect">
            <a:avLst/>
          </a:prstGeom>
          <a:solidFill>
            <a:srgbClr val="B68757"/>
          </a:solidFill>
          <a:ln/>
        </p:spPr>
        <p:txBody>
          <a:bodyPr/>
          <a:lstStyle/>
          <a:p>
            <a:endParaRPr lang="en-US"/>
          </a:p>
        </p:txBody>
      </p:sp>
      <p:sp>
        <p:nvSpPr>
          <p:cNvPr id="96" name="Shape 95"/>
          <p:cNvSpPr/>
          <p:nvPr/>
        </p:nvSpPr>
        <p:spPr>
          <a:xfrm>
            <a:off x="5658769" y="4533900"/>
            <a:ext cx="19050" cy="190500"/>
          </a:xfrm>
          <a:prstGeom prst="rect">
            <a:avLst/>
          </a:prstGeom>
          <a:solidFill>
            <a:srgbClr val="1B1A1A"/>
          </a:solidFill>
          <a:ln/>
        </p:spPr>
        <p:txBody>
          <a:bodyPr/>
          <a:lstStyle/>
          <a:p>
            <a:endParaRPr lang="en-US"/>
          </a:p>
        </p:txBody>
      </p:sp>
      <p:sp>
        <p:nvSpPr>
          <p:cNvPr id="97" name="Text 96"/>
          <p:cNvSpPr txBox="1"/>
          <p:nvPr/>
        </p:nvSpPr>
        <p:spPr>
          <a:xfrm>
            <a:off x="578227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15.2x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92040" y="4886325"/>
            <a:ext cx="516209" cy="114300"/>
          </a:xfrm>
          <a:prstGeom prst="rect">
            <a:avLst/>
          </a:prstGeom>
          <a:solidFill>
            <a:srgbClr val="B68757"/>
          </a:solidFill>
          <a:ln/>
        </p:spPr>
        <p:txBody>
          <a:bodyPr/>
          <a:lstStyle/>
          <a:p>
            <a:endParaRPr lang="en-US"/>
          </a:p>
        </p:txBody>
      </p:sp>
      <p:sp>
        <p:nvSpPr>
          <p:cNvPr id="101" name="Shape 100"/>
          <p:cNvSpPr/>
          <p:nvPr/>
        </p:nvSpPr>
        <p:spPr>
          <a:xfrm>
            <a:off x="5680441" y="4848225"/>
            <a:ext cx="19050" cy="190500"/>
          </a:xfrm>
          <a:prstGeom prst="rect">
            <a:avLst/>
          </a:prstGeom>
          <a:solidFill>
            <a:srgbClr val="1B1A1A"/>
          </a:solidFill>
          <a:ln/>
        </p:spPr>
        <p:txBody>
          <a:bodyPr/>
          <a:lstStyle/>
          <a:p>
            <a:endParaRPr lang="en-US"/>
          </a:p>
        </p:txBody>
      </p:sp>
      <p:sp>
        <p:nvSpPr>
          <p:cNvPr id="102" name="Text 101"/>
          <p:cNvSpPr txBox="1"/>
          <p:nvPr/>
        </p:nvSpPr>
        <p:spPr>
          <a:xfrm>
            <a:off x="5762737"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92040" y="5200650"/>
            <a:ext cx="527045" cy="114300"/>
          </a:xfrm>
          <a:prstGeom prst="rect">
            <a:avLst/>
          </a:prstGeom>
          <a:solidFill>
            <a:srgbClr val="B68757"/>
          </a:solidFill>
          <a:ln/>
        </p:spPr>
        <p:txBody>
          <a:bodyPr/>
          <a:lstStyle/>
          <a:p>
            <a:endParaRPr lang="en-US"/>
          </a:p>
        </p:txBody>
      </p:sp>
      <p:sp>
        <p:nvSpPr>
          <p:cNvPr id="106" name="Shape 105"/>
          <p:cNvSpPr/>
          <p:nvPr/>
        </p:nvSpPr>
        <p:spPr>
          <a:xfrm>
            <a:off x="5536110" y="5162550"/>
            <a:ext cx="19050" cy="190500"/>
          </a:xfrm>
          <a:prstGeom prst="rect">
            <a:avLst/>
          </a:prstGeom>
          <a:solidFill>
            <a:srgbClr val="1B1A1A"/>
          </a:solidFill>
          <a:ln/>
        </p:spPr>
        <p:txBody>
          <a:bodyPr/>
          <a:lstStyle/>
          <a:p>
            <a:endParaRPr lang="en-US"/>
          </a:p>
        </p:txBody>
      </p:sp>
      <p:sp>
        <p:nvSpPr>
          <p:cNvPr id="107" name="Text 106"/>
          <p:cNvSpPr txBox="1"/>
          <p:nvPr/>
        </p:nvSpPr>
        <p:spPr>
          <a:xfrm>
            <a:off x="5625621"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12.2x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10144" y="2028825"/>
            <a:ext cx="417923" cy="114300"/>
          </a:xfrm>
          <a:prstGeom prst="rect">
            <a:avLst/>
          </a:prstGeom>
          <a:solidFill>
            <a:srgbClr val="B68757"/>
          </a:solidFill>
          <a:ln/>
        </p:spPr>
        <p:txBody>
          <a:bodyPr/>
          <a:lstStyle/>
          <a:p>
            <a:endParaRPr lang="en-US"/>
          </a:p>
        </p:txBody>
      </p:sp>
      <p:sp>
        <p:nvSpPr>
          <p:cNvPr id="116" name="Text 115"/>
          <p:cNvSpPr txBox="1"/>
          <p:nvPr/>
        </p:nvSpPr>
        <p:spPr>
          <a:xfrm>
            <a:off x="8492075"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10144" y="2343150"/>
            <a:ext cx="626354" cy="114300"/>
          </a:xfrm>
          <a:prstGeom prst="rect">
            <a:avLst/>
          </a:prstGeom>
          <a:solidFill>
            <a:srgbClr val="B68757"/>
          </a:solidFill>
          <a:ln/>
        </p:spPr>
        <p:txBody>
          <a:bodyPr/>
          <a:lstStyle/>
          <a:p>
            <a:endParaRPr lang="en-US"/>
          </a:p>
        </p:txBody>
      </p:sp>
      <p:sp>
        <p:nvSpPr>
          <p:cNvPr id="120" name="Text 119"/>
          <p:cNvSpPr txBox="1"/>
          <p:nvPr/>
        </p:nvSpPr>
        <p:spPr>
          <a:xfrm>
            <a:off x="8700506"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17.7x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10144" y="2657475"/>
            <a:ext cx="649710" cy="114300"/>
          </a:xfrm>
          <a:prstGeom prst="rect">
            <a:avLst/>
          </a:prstGeom>
          <a:solidFill>
            <a:srgbClr val="B68757"/>
          </a:solidFill>
          <a:ln/>
        </p:spPr>
        <p:txBody>
          <a:bodyPr/>
          <a:lstStyle/>
          <a:p>
            <a:endParaRPr lang="en-US"/>
          </a:p>
        </p:txBody>
      </p:sp>
      <p:sp>
        <p:nvSpPr>
          <p:cNvPr id="124" name="Text 123"/>
          <p:cNvSpPr txBox="1"/>
          <p:nvPr/>
        </p:nvSpPr>
        <p:spPr>
          <a:xfrm>
            <a:off x="8723862"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18.4x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10144" y="3190875"/>
            <a:ext cx="897067" cy="114300"/>
          </a:xfrm>
          <a:prstGeom prst="rect">
            <a:avLst/>
          </a:prstGeom>
          <a:solidFill>
            <a:srgbClr val="B68757"/>
          </a:solidFill>
          <a:ln/>
        </p:spPr>
        <p:txBody>
          <a:bodyPr/>
          <a:lstStyle/>
          <a:p>
            <a:endParaRPr lang="en-US"/>
          </a:p>
        </p:txBody>
      </p:sp>
      <p:sp>
        <p:nvSpPr>
          <p:cNvPr id="129" name="Text 128"/>
          <p:cNvSpPr txBox="1"/>
          <p:nvPr/>
        </p:nvSpPr>
        <p:spPr>
          <a:xfrm>
            <a:off x="89712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25.4x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10144" y="3505200"/>
            <a:ext cx="486575" cy="114300"/>
          </a:xfrm>
          <a:prstGeom prst="rect">
            <a:avLst/>
          </a:prstGeom>
          <a:solidFill>
            <a:srgbClr val="B68757"/>
          </a:solidFill>
          <a:ln/>
        </p:spPr>
        <p:txBody>
          <a:bodyPr/>
          <a:lstStyle/>
          <a:p>
            <a:endParaRPr lang="en-US"/>
          </a:p>
        </p:txBody>
      </p:sp>
      <p:sp>
        <p:nvSpPr>
          <p:cNvPr id="133" name="Text 132"/>
          <p:cNvSpPr txBox="1"/>
          <p:nvPr/>
        </p:nvSpPr>
        <p:spPr>
          <a:xfrm>
            <a:off x="8560727"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13.8x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10144" y="4038600"/>
            <a:ext cx="589552" cy="114300"/>
          </a:xfrm>
          <a:prstGeom prst="rect">
            <a:avLst/>
          </a:prstGeom>
          <a:solidFill>
            <a:srgbClr val="B68757"/>
          </a:solidFill>
          <a:ln/>
        </p:spPr>
        <p:txBody>
          <a:bodyPr/>
          <a:lstStyle/>
          <a:p>
            <a:endParaRPr lang="en-US"/>
          </a:p>
        </p:txBody>
      </p:sp>
      <p:sp>
        <p:nvSpPr>
          <p:cNvPr id="138" name="Text 137"/>
          <p:cNvSpPr txBox="1"/>
          <p:nvPr/>
        </p:nvSpPr>
        <p:spPr>
          <a:xfrm>
            <a:off x="8663704"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16.7x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10144" y="4572000"/>
            <a:ext cx="657849" cy="114300"/>
          </a:xfrm>
          <a:prstGeom prst="rect">
            <a:avLst/>
          </a:prstGeom>
          <a:solidFill>
            <a:srgbClr val="B68757"/>
          </a:solidFill>
          <a:ln/>
        </p:spPr>
        <p:txBody>
          <a:bodyPr/>
          <a:lstStyle/>
          <a:p>
            <a:endParaRPr lang="en-US"/>
          </a:p>
        </p:txBody>
      </p:sp>
      <p:sp>
        <p:nvSpPr>
          <p:cNvPr id="143" name="Text 142"/>
          <p:cNvSpPr txBox="1"/>
          <p:nvPr/>
        </p:nvSpPr>
        <p:spPr>
          <a:xfrm>
            <a:off x="873200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18.6x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10144" y="4886325"/>
            <a:ext cx="616446" cy="114300"/>
          </a:xfrm>
          <a:prstGeom prst="rect">
            <a:avLst/>
          </a:prstGeom>
          <a:solidFill>
            <a:srgbClr val="B68757"/>
          </a:solidFill>
          <a:ln/>
        </p:spPr>
        <p:txBody>
          <a:bodyPr/>
          <a:lstStyle/>
          <a:p>
            <a:endParaRPr lang="en-US"/>
          </a:p>
        </p:txBody>
      </p:sp>
      <p:sp>
        <p:nvSpPr>
          <p:cNvPr id="147" name="Text 146"/>
          <p:cNvSpPr txBox="1"/>
          <p:nvPr/>
        </p:nvSpPr>
        <p:spPr>
          <a:xfrm>
            <a:off x="8690598"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17.4x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10144" y="5200650"/>
            <a:ext cx="594860" cy="114300"/>
          </a:xfrm>
          <a:prstGeom prst="rect">
            <a:avLst/>
          </a:prstGeom>
          <a:solidFill>
            <a:srgbClr val="B68757"/>
          </a:solidFill>
          <a:ln/>
        </p:spPr>
        <p:txBody>
          <a:bodyPr/>
          <a:lstStyle/>
          <a:p>
            <a:endParaRPr lang="en-US"/>
          </a:p>
        </p:txBody>
      </p:sp>
      <p:sp>
        <p:nvSpPr>
          <p:cNvPr id="151" name="Text 150"/>
          <p:cNvSpPr txBox="1"/>
          <p:nvPr/>
        </p:nvSpPr>
        <p:spPr>
          <a:xfrm>
            <a:off x="8669012"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16.8x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DEAL MULTIPLES, LARGE AND MIDDLE MARKET</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grpSp>
        <p:nvGrpSpPr>
          <p:cNvPr id="186" name="Group 185"/>
          <p:cNvGrpSpPr/>
          <p:nvPr/>
        </p:nvGrpSpPr>
        <p:grpSpPr>
          <a:xfrm>
            <a:off x="1952625" y="6215063"/>
            <a:ext cx="1207740" cy="495300"/>
            <a:chOff x="1952625" y="6276975"/>
            <a:chExt cx="1207740" cy="495300"/>
          </a:xfrm>
        </p:grpSpPr>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12.5x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EV to EBITDA on US buyouts closed in 2025 (PitchBook)</a:t>
              </a:r>
              <a:endParaRPr lang="en-US" sz="705" dirty="0"/>
            </a:p>
          </p:txBody>
        </p:sp>
      </p:gr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7.0x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average EBITDA multiple, GF Data middle-market deals, Q2 2026 (Mercer)</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Kenvue</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grpSp>
        <p:nvGrpSpPr>
          <p:cNvPr id="185" name="Group 184"/>
          <p:cNvGrpSpPr/>
          <p:nvPr/>
        </p:nvGrpSpPr>
        <p:grpSpPr>
          <a:xfrm>
            <a:off x="6828979" y="6215063"/>
            <a:ext cx="1207740" cy="619125"/>
            <a:chOff x="6828979" y="6215063"/>
            <a:chExt cx="1207740" cy="619125"/>
          </a:xfrm>
        </p:grpSpPr>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10.7x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CY2026 adjusted EBITDA: Hormel for Brakebush Brothers</a:t>
              </a:r>
              <a:endParaRPr lang="en-US" sz="705" dirty="0"/>
            </a:p>
          </p:txBody>
        </p:sp>
      </p:gr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grpSp>
        <p:nvGrpSpPr>
          <p:cNvPr id="184" name="Group 183"/>
          <p:cNvGrpSpPr/>
          <p:nvPr/>
        </p:nvGrpSpPr>
        <p:grpSpPr>
          <a:xfrm>
            <a:off x="8374856" y="6215063"/>
            <a:ext cx="1088380" cy="495300"/>
            <a:chOff x="8374856" y="6276975"/>
            <a:chExt cx="1088380" cy="495300"/>
          </a:xfrm>
        </p:grpSpPr>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adjusted EBITDA on the base price: HF Foods for Searay Foods</a:t>
              </a:r>
              <a:endParaRPr lang="en-US" sz="705" dirty="0"/>
            </a:p>
          </p:txBody>
        </p:sp>
      </p:gr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StockAnalysis, retrieved October 19, 2026. Multiples use reported EBITDA. The year-ago multiple is the reading at the quarter-end nearest September 30, 2025. The three-year median is the median of each company's multiple at its fiscal quarter-ends since October 2023, for the companies with a reading today and a year ago. The PitchBook median covers US buyouts closed in 2025; the GF Data average covers 85 reported deals of $10 million to $500 million enterprise value in the second quarter of 2026. Acquirer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
        <p:nvSpPr>
          <p:cNvPr id="173" name="Diamond 172"/>
          <p:cNvSpPr/>
          <p:nvPr/>
        </p:nvSpPr>
        <p:spPr>
          <a:xfrm>
            <a:off x="5261577" y="203065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4" name="Diamond 173"/>
          <p:cNvSpPr/>
          <p:nvPr/>
        </p:nvSpPr>
        <p:spPr>
          <a:xfrm>
            <a:off x="5508811" y="234497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5" name="Diamond 174"/>
          <p:cNvSpPr/>
          <p:nvPr/>
        </p:nvSpPr>
        <p:spPr>
          <a:xfrm>
            <a:off x="5743752" y="265930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6" name="Diamond 175"/>
          <p:cNvSpPr/>
          <p:nvPr/>
        </p:nvSpPr>
        <p:spPr>
          <a:xfrm>
            <a:off x="5597814" y="319270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7" name="Diamond 176"/>
          <p:cNvSpPr/>
          <p:nvPr/>
        </p:nvSpPr>
        <p:spPr>
          <a:xfrm>
            <a:off x="5240867" y="35070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8" name="Diamond 177"/>
          <p:cNvSpPr/>
          <p:nvPr/>
        </p:nvSpPr>
        <p:spPr>
          <a:xfrm>
            <a:off x="5399498" y="40404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9" name="Diamond 178"/>
          <p:cNvSpPr/>
          <p:nvPr/>
        </p:nvSpPr>
        <p:spPr>
          <a:xfrm>
            <a:off x="5637803" y="45738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0" name="Diamond 179"/>
          <p:cNvSpPr/>
          <p:nvPr/>
        </p:nvSpPr>
        <p:spPr>
          <a:xfrm>
            <a:off x="5583385" y="488815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1" name="Diamond 180"/>
          <p:cNvSpPr/>
          <p:nvPr/>
        </p:nvSpPr>
        <p:spPr>
          <a:xfrm>
            <a:off x="5481146" y="520247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2" name="Diamond 181"/>
          <p:cNvSpPr/>
          <p:nvPr/>
        </p:nvSpPr>
        <p:spPr>
          <a:xfrm>
            <a:off x="5303520" y="1559052"/>
            <a:ext cx="91440" cy="91440"/>
          </a:xfrm>
          <a:prstGeom prst="diamond">
            <a:avLst/>
          </a:prstGeom>
          <a:solidFill>
            <a:srgbClr val="FFFFFF"/>
          </a:solidFill>
          <a:ln w="15875">
            <a:solidFill>
              <a:srgbClr val="8C6239"/>
            </a:solidFill>
          </a:ln>
        </p:spPr>
        <p:txBody>
          <a:bodyPr rtlCol="0" anchor="ctr"/>
          <a:lstStyle/>
          <a:p>
            <a:pPr algn="ctr"/>
            <a:endParaRPr/>
          </a:p>
        </p:txBody>
      </p:sp>
      <p:sp>
        <p:nvSpPr>
          <p:cNvPr id="183" name="TextBox 182"/>
          <p:cNvSpPr txBox="1"/>
          <p:nvPr/>
        </p:nvSpPr>
        <p:spPr>
          <a:xfrm>
            <a:off x="5449824" y="1554480"/>
            <a:ext cx="960120"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Three-year median</a:t>
            </a:r>
            <a:endParaRPr lang="en-US" sz="70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Operating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Beverage companies keep the highest EBITDA and free cash flow margins, and foodservice distribution and retail run on the thinnest margins.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Margins are trailing twelve months as reported, and medians exclude companies without a reading (Vital Farms for free cash flow margin). Revenue growth compares the trailing twelve months with the prior twelve and includes acquisitions.</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19</a:t>
            </a:r>
            <a:endParaRPr lang="en-US" sz="713" dirty="0"/>
          </a:p>
        </p:txBody>
      </p:sp>
      <p:sp>
        <p:nvSpPr>
          <p:cNvPr id="13" name="Rectangle 12"/>
          <p:cNvSpPr/>
          <p:nvPr/>
        </p:nvSpPr>
        <p:spPr>
          <a:xfrm>
            <a:off x="420624" y="1234440"/>
            <a:ext cx="2980944" cy="4764024"/>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2980944"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566928"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Median EBITDA margin</a:t>
            </a:r>
            <a:endParaRPr lang="en-US" sz="938" dirty="0"/>
          </a:p>
        </p:txBody>
      </p:sp>
      <p:sp>
        <p:nvSpPr>
          <p:cNvPr id="16" name="TextBox 15"/>
          <p:cNvSpPr txBox="1"/>
          <p:nvPr/>
        </p:nvSpPr>
        <p:spPr>
          <a:xfrm>
            <a:off x="566928"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by peer group</a:t>
            </a:r>
            <a:endParaRPr lang="en-US" sz="705" dirty="0"/>
          </a:p>
        </p:txBody>
      </p:sp>
      <p:sp>
        <p:nvSpPr>
          <p:cNvPr id="17" name="TextBox 16"/>
          <p:cNvSpPr txBox="1"/>
          <p:nvPr/>
        </p:nvSpPr>
        <p:spPr>
          <a:xfrm>
            <a:off x="566928" y="181051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 &amp; BEVERAGE</a:t>
            </a:r>
            <a:endParaRPr lang="en-US" sz="615" dirty="0"/>
          </a:p>
        </p:txBody>
      </p:sp>
      <p:sp>
        <p:nvSpPr>
          <p:cNvPr id="18" name="TextBox 17"/>
          <p:cNvSpPr txBox="1"/>
          <p:nvPr/>
        </p:nvSpPr>
        <p:spPr>
          <a:xfrm>
            <a:off x="566928" y="209397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Packaged food</a:t>
            </a:r>
            <a:endParaRPr lang="en-US" sz="740" dirty="0"/>
          </a:p>
        </p:txBody>
      </p:sp>
      <p:sp>
        <p:nvSpPr>
          <p:cNvPr id="19" name="Rectangle 18"/>
          <p:cNvSpPr/>
          <p:nvPr/>
        </p:nvSpPr>
        <p:spPr>
          <a:xfrm>
            <a:off x="1993392" y="2002536"/>
            <a:ext cx="9144" cy="310896"/>
          </a:xfrm>
          <a:prstGeom prst="rect">
            <a:avLst/>
          </a:prstGeom>
          <a:solidFill>
            <a:srgbClr val="C3BDB6"/>
          </a:solidFill>
          <a:ln>
            <a:noFill/>
          </a:ln>
        </p:spPr>
        <p:txBody>
          <a:bodyPr rtlCol="0" anchor="ctr"/>
          <a:lstStyle/>
          <a:p>
            <a:pPr algn="ctr"/>
            <a:endParaRPr/>
          </a:p>
        </p:txBody>
      </p:sp>
      <p:sp>
        <p:nvSpPr>
          <p:cNvPr id="20" name="Rectangle 19"/>
          <p:cNvSpPr/>
          <p:nvPr/>
        </p:nvSpPr>
        <p:spPr>
          <a:xfrm>
            <a:off x="1993392" y="2093976"/>
            <a:ext cx="492404" cy="109728"/>
          </a:xfrm>
          <a:prstGeom prst="rect">
            <a:avLst/>
          </a:prstGeom>
          <a:solidFill>
            <a:srgbClr val="B68757"/>
          </a:solidFill>
          <a:ln>
            <a:noFill/>
          </a:ln>
        </p:spPr>
        <p:txBody>
          <a:bodyPr rtlCol="0" anchor="ctr"/>
          <a:lstStyle/>
          <a:p>
            <a:pPr algn="ctr"/>
            <a:endParaRPr/>
          </a:p>
        </p:txBody>
      </p:sp>
      <p:sp>
        <p:nvSpPr>
          <p:cNvPr id="21" name="TextBox 20"/>
          <p:cNvSpPr txBox="1"/>
          <p:nvPr/>
        </p:nvSpPr>
        <p:spPr>
          <a:xfrm>
            <a:off x="2540660" y="206654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17.9%</a:t>
            </a:r>
            <a:endParaRPr lang="en-US" sz="788" dirty="0"/>
          </a:p>
        </p:txBody>
      </p:sp>
      <p:sp>
        <p:nvSpPr>
          <p:cNvPr id="22" name="TextBox 21"/>
          <p:cNvSpPr txBox="1"/>
          <p:nvPr/>
        </p:nvSpPr>
        <p:spPr>
          <a:xfrm>
            <a:off x="566928" y="240487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Snacks</a:t>
            </a:r>
            <a:endParaRPr lang="en-US" sz="740" dirty="0"/>
          </a:p>
        </p:txBody>
      </p:sp>
      <p:sp>
        <p:nvSpPr>
          <p:cNvPr id="23" name="Rectangle 22"/>
          <p:cNvSpPr/>
          <p:nvPr/>
        </p:nvSpPr>
        <p:spPr>
          <a:xfrm>
            <a:off x="1993392" y="2313432"/>
            <a:ext cx="9144" cy="310896"/>
          </a:xfrm>
          <a:prstGeom prst="rect">
            <a:avLst/>
          </a:prstGeom>
          <a:solidFill>
            <a:srgbClr val="C3BDB6"/>
          </a:solidFill>
          <a:ln>
            <a:noFill/>
          </a:ln>
        </p:spPr>
        <p:txBody>
          <a:bodyPr rtlCol="0" anchor="ctr"/>
          <a:lstStyle/>
          <a:p>
            <a:pPr algn="ctr"/>
            <a:endParaRPr/>
          </a:p>
        </p:txBody>
      </p:sp>
      <p:sp>
        <p:nvSpPr>
          <p:cNvPr id="24" name="Rectangle 23"/>
          <p:cNvSpPr/>
          <p:nvPr/>
        </p:nvSpPr>
        <p:spPr>
          <a:xfrm>
            <a:off x="1993392" y="2404872"/>
            <a:ext cx="403250" cy="109728"/>
          </a:xfrm>
          <a:prstGeom prst="rect">
            <a:avLst/>
          </a:prstGeom>
          <a:solidFill>
            <a:srgbClr val="B68757"/>
          </a:solidFill>
          <a:ln>
            <a:noFill/>
          </a:ln>
        </p:spPr>
        <p:txBody>
          <a:bodyPr rtlCol="0" anchor="ctr"/>
          <a:lstStyle/>
          <a:p>
            <a:pPr algn="ctr"/>
            <a:endParaRPr/>
          </a:p>
        </p:txBody>
      </p:sp>
      <p:sp>
        <p:nvSpPr>
          <p:cNvPr id="25" name="TextBox 24"/>
          <p:cNvSpPr txBox="1"/>
          <p:nvPr/>
        </p:nvSpPr>
        <p:spPr>
          <a:xfrm>
            <a:off x="2451506" y="237744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14.7%</a:t>
            </a:r>
            <a:endParaRPr lang="en-US" sz="788" dirty="0"/>
          </a:p>
        </p:txBody>
      </p:sp>
      <p:sp>
        <p:nvSpPr>
          <p:cNvPr id="26" name="TextBox 25"/>
          <p:cNvSpPr txBox="1"/>
          <p:nvPr/>
        </p:nvSpPr>
        <p:spPr>
          <a:xfrm>
            <a:off x="566928" y="271576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Beverages</a:t>
            </a:r>
            <a:endParaRPr lang="en-US" sz="740" dirty="0"/>
          </a:p>
        </p:txBody>
      </p:sp>
      <p:sp>
        <p:nvSpPr>
          <p:cNvPr id="27" name="Rectangle 26"/>
          <p:cNvSpPr/>
          <p:nvPr/>
        </p:nvSpPr>
        <p:spPr>
          <a:xfrm>
            <a:off x="1993392" y="2624328"/>
            <a:ext cx="9144" cy="310896"/>
          </a:xfrm>
          <a:prstGeom prst="rect">
            <a:avLst/>
          </a:prstGeom>
          <a:solidFill>
            <a:srgbClr val="C3BDB6"/>
          </a:solidFill>
          <a:ln>
            <a:noFill/>
          </a:ln>
        </p:spPr>
        <p:txBody>
          <a:bodyPr rtlCol="0" anchor="ctr"/>
          <a:lstStyle/>
          <a:p>
            <a:pPr algn="ctr"/>
            <a:endParaRPr/>
          </a:p>
        </p:txBody>
      </p:sp>
      <p:sp>
        <p:nvSpPr>
          <p:cNvPr id="28" name="Rectangle 27"/>
          <p:cNvSpPr/>
          <p:nvPr/>
        </p:nvSpPr>
        <p:spPr>
          <a:xfrm>
            <a:off x="1993392" y="2715768"/>
            <a:ext cx="763981" cy="109728"/>
          </a:xfrm>
          <a:prstGeom prst="rect">
            <a:avLst/>
          </a:prstGeom>
          <a:solidFill>
            <a:srgbClr val="B68757"/>
          </a:solidFill>
          <a:ln>
            <a:noFill/>
          </a:ln>
        </p:spPr>
        <p:txBody>
          <a:bodyPr rtlCol="0" anchor="ctr"/>
          <a:lstStyle/>
          <a:p>
            <a:pPr algn="ctr"/>
            <a:endParaRPr/>
          </a:p>
        </p:txBody>
      </p:sp>
      <p:sp>
        <p:nvSpPr>
          <p:cNvPr id="29" name="TextBox 28"/>
          <p:cNvSpPr txBox="1"/>
          <p:nvPr/>
        </p:nvSpPr>
        <p:spPr>
          <a:xfrm>
            <a:off x="2812237" y="268833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27.9%</a:t>
            </a:r>
            <a:endParaRPr lang="en-US" sz="788" dirty="0"/>
          </a:p>
        </p:txBody>
      </p:sp>
      <p:sp>
        <p:nvSpPr>
          <p:cNvPr id="30" name="TextBox 29"/>
          <p:cNvSpPr txBox="1"/>
          <p:nvPr/>
        </p:nvSpPr>
        <p:spPr>
          <a:xfrm>
            <a:off x="566928" y="3017520"/>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BRANDS &amp; PRODUCTS</a:t>
            </a:r>
            <a:endParaRPr lang="en-US" sz="615" dirty="0"/>
          </a:p>
        </p:txBody>
      </p:sp>
      <p:sp>
        <p:nvSpPr>
          <p:cNvPr id="31" name="TextBox 30"/>
          <p:cNvSpPr txBox="1"/>
          <p:nvPr/>
        </p:nvSpPr>
        <p:spPr>
          <a:xfrm>
            <a:off x="566928" y="330098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Household &amp; personal care</a:t>
            </a:r>
            <a:endParaRPr lang="en-US" sz="740" dirty="0"/>
          </a:p>
        </p:txBody>
      </p:sp>
      <p:sp>
        <p:nvSpPr>
          <p:cNvPr id="32" name="Rectangle 31"/>
          <p:cNvSpPr/>
          <p:nvPr/>
        </p:nvSpPr>
        <p:spPr>
          <a:xfrm>
            <a:off x="1993392" y="3209544"/>
            <a:ext cx="9144" cy="310896"/>
          </a:xfrm>
          <a:prstGeom prst="rect">
            <a:avLst/>
          </a:prstGeom>
          <a:solidFill>
            <a:srgbClr val="C3BDB6"/>
          </a:solidFill>
          <a:ln>
            <a:noFill/>
          </a:ln>
        </p:spPr>
        <p:txBody>
          <a:bodyPr rtlCol="0" anchor="ctr"/>
          <a:lstStyle/>
          <a:p>
            <a:pPr algn="ctr"/>
            <a:endParaRPr/>
          </a:p>
        </p:txBody>
      </p:sp>
      <p:sp>
        <p:nvSpPr>
          <p:cNvPr id="33" name="Rectangle 32"/>
          <p:cNvSpPr/>
          <p:nvPr/>
        </p:nvSpPr>
        <p:spPr>
          <a:xfrm>
            <a:off x="1993392" y="3300984"/>
            <a:ext cx="532181" cy="109728"/>
          </a:xfrm>
          <a:prstGeom prst="rect">
            <a:avLst/>
          </a:prstGeom>
          <a:solidFill>
            <a:srgbClr val="B68757"/>
          </a:solidFill>
          <a:ln>
            <a:noFill/>
          </a:ln>
        </p:spPr>
        <p:txBody>
          <a:bodyPr rtlCol="0" anchor="ctr"/>
          <a:lstStyle/>
          <a:p>
            <a:pPr algn="ctr"/>
            <a:endParaRPr/>
          </a:p>
        </p:txBody>
      </p:sp>
      <p:sp>
        <p:nvSpPr>
          <p:cNvPr id="34" name="TextBox 33"/>
          <p:cNvSpPr txBox="1"/>
          <p:nvPr/>
        </p:nvSpPr>
        <p:spPr>
          <a:xfrm>
            <a:off x="2580437" y="327355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19.4%</a:t>
            </a:r>
            <a:endParaRPr lang="en-US" sz="788" dirty="0"/>
          </a:p>
        </p:txBody>
      </p:sp>
      <p:sp>
        <p:nvSpPr>
          <p:cNvPr id="35" name="TextBox 34"/>
          <p:cNvSpPr txBox="1"/>
          <p:nvPr/>
        </p:nvSpPr>
        <p:spPr>
          <a:xfrm>
            <a:off x="566928" y="3611880"/>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Durables, outdoor &amp; pet</a:t>
            </a:r>
            <a:endParaRPr lang="en-US" sz="740" dirty="0"/>
          </a:p>
        </p:txBody>
      </p:sp>
      <p:sp>
        <p:nvSpPr>
          <p:cNvPr id="36" name="Rectangle 35"/>
          <p:cNvSpPr/>
          <p:nvPr/>
        </p:nvSpPr>
        <p:spPr>
          <a:xfrm>
            <a:off x="1993392" y="3520440"/>
            <a:ext cx="9144" cy="310896"/>
          </a:xfrm>
          <a:prstGeom prst="rect">
            <a:avLst/>
          </a:prstGeom>
          <a:solidFill>
            <a:srgbClr val="C3BDB6"/>
          </a:solidFill>
          <a:ln>
            <a:noFill/>
          </a:ln>
        </p:spPr>
        <p:txBody>
          <a:bodyPr rtlCol="0" anchor="ctr"/>
          <a:lstStyle/>
          <a:p>
            <a:pPr algn="ctr"/>
            <a:endParaRPr/>
          </a:p>
        </p:txBody>
      </p:sp>
      <p:sp>
        <p:nvSpPr>
          <p:cNvPr id="37" name="Rectangle 36"/>
          <p:cNvSpPr/>
          <p:nvPr/>
        </p:nvSpPr>
        <p:spPr>
          <a:xfrm>
            <a:off x="1993392" y="3611880"/>
            <a:ext cx="322326" cy="109728"/>
          </a:xfrm>
          <a:prstGeom prst="rect">
            <a:avLst/>
          </a:prstGeom>
          <a:solidFill>
            <a:srgbClr val="B68757"/>
          </a:solidFill>
          <a:ln>
            <a:noFill/>
          </a:ln>
        </p:spPr>
        <p:txBody>
          <a:bodyPr rtlCol="0" anchor="ctr"/>
          <a:lstStyle/>
          <a:p>
            <a:pPr algn="ctr"/>
            <a:endParaRPr/>
          </a:p>
        </p:txBody>
      </p:sp>
      <p:sp>
        <p:nvSpPr>
          <p:cNvPr id="38" name="TextBox 37"/>
          <p:cNvSpPr txBox="1"/>
          <p:nvPr/>
        </p:nvSpPr>
        <p:spPr>
          <a:xfrm>
            <a:off x="2370582" y="3584448"/>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11.8%</a:t>
            </a:r>
            <a:endParaRPr lang="en-US" sz="788" dirty="0"/>
          </a:p>
        </p:txBody>
      </p:sp>
      <p:sp>
        <p:nvSpPr>
          <p:cNvPr id="39" name="TextBox 38"/>
          <p:cNvSpPr txBox="1"/>
          <p:nvPr/>
        </p:nvSpPr>
        <p:spPr>
          <a:xfrm>
            <a:off x="566928" y="391363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FOODSERVICE &amp; DISTRIBUTION</a:t>
            </a:r>
            <a:endParaRPr lang="en-US" sz="615" dirty="0"/>
          </a:p>
        </p:txBody>
      </p:sp>
      <p:sp>
        <p:nvSpPr>
          <p:cNvPr id="40" name="TextBox 39"/>
          <p:cNvSpPr txBox="1"/>
          <p:nvPr/>
        </p:nvSpPr>
        <p:spPr>
          <a:xfrm>
            <a:off x="566928" y="419709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Foodservice distribution</a:t>
            </a:r>
            <a:endParaRPr lang="en-US" sz="740" dirty="0"/>
          </a:p>
        </p:txBody>
      </p:sp>
      <p:sp>
        <p:nvSpPr>
          <p:cNvPr id="41" name="Rectangle 40"/>
          <p:cNvSpPr/>
          <p:nvPr/>
        </p:nvSpPr>
        <p:spPr>
          <a:xfrm>
            <a:off x="1993392" y="4105656"/>
            <a:ext cx="9144" cy="310896"/>
          </a:xfrm>
          <a:prstGeom prst="rect">
            <a:avLst/>
          </a:prstGeom>
          <a:solidFill>
            <a:srgbClr val="C3BDB6"/>
          </a:solidFill>
          <a:ln>
            <a:noFill/>
          </a:ln>
        </p:spPr>
        <p:txBody>
          <a:bodyPr rtlCol="0" anchor="ctr"/>
          <a:lstStyle/>
          <a:p>
            <a:pPr algn="ctr"/>
            <a:endParaRPr/>
          </a:p>
        </p:txBody>
      </p:sp>
      <p:sp>
        <p:nvSpPr>
          <p:cNvPr id="42" name="Rectangle 41"/>
          <p:cNvSpPr/>
          <p:nvPr/>
        </p:nvSpPr>
        <p:spPr>
          <a:xfrm>
            <a:off x="1993392" y="4197096"/>
            <a:ext cx="133045" cy="109728"/>
          </a:xfrm>
          <a:prstGeom prst="rect">
            <a:avLst/>
          </a:prstGeom>
          <a:solidFill>
            <a:srgbClr val="B68757"/>
          </a:solidFill>
          <a:ln>
            <a:noFill/>
          </a:ln>
        </p:spPr>
        <p:txBody>
          <a:bodyPr rtlCol="0" anchor="ctr"/>
          <a:lstStyle/>
          <a:p>
            <a:pPr algn="ctr"/>
            <a:endParaRPr/>
          </a:p>
        </p:txBody>
      </p:sp>
      <p:sp>
        <p:nvSpPr>
          <p:cNvPr id="43" name="TextBox 42"/>
          <p:cNvSpPr txBox="1"/>
          <p:nvPr/>
        </p:nvSpPr>
        <p:spPr>
          <a:xfrm>
            <a:off x="2181301" y="416966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4.8%</a:t>
            </a:r>
            <a:endParaRPr lang="en-US" sz="788" dirty="0"/>
          </a:p>
        </p:txBody>
      </p:sp>
      <p:sp>
        <p:nvSpPr>
          <p:cNvPr id="44" name="TextBox 43"/>
          <p:cNvSpPr txBox="1"/>
          <p:nvPr/>
        </p:nvSpPr>
        <p:spPr>
          <a:xfrm>
            <a:off x="566928" y="4498848"/>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SERVICES &amp; RETAIL</a:t>
            </a:r>
            <a:endParaRPr lang="en-US" sz="615" dirty="0"/>
          </a:p>
        </p:txBody>
      </p:sp>
      <p:sp>
        <p:nvSpPr>
          <p:cNvPr id="45" name="TextBox 44"/>
          <p:cNvSpPr txBox="1"/>
          <p:nvPr/>
        </p:nvSpPr>
        <p:spPr>
          <a:xfrm>
            <a:off x="566928" y="478231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Restaurants</a:t>
            </a:r>
            <a:endParaRPr lang="en-US" sz="740" dirty="0"/>
          </a:p>
        </p:txBody>
      </p:sp>
      <p:sp>
        <p:nvSpPr>
          <p:cNvPr id="46" name="Rectangle 45"/>
          <p:cNvSpPr/>
          <p:nvPr/>
        </p:nvSpPr>
        <p:spPr>
          <a:xfrm>
            <a:off x="1993392" y="4690872"/>
            <a:ext cx="9144" cy="310896"/>
          </a:xfrm>
          <a:prstGeom prst="rect">
            <a:avLst/>
          </a:prstGeom>
          <a:solidFill>
            <a:srgbClr val="C3BDB6"/>
          </a:solidFill>
          <a:ln>
            <a:noFill/>
          </a:ln>
        </p:spPr>
        <p:txBody>
          <a:bodyPr rtlCol="0" anchor="ctr"/>
          <a:lstStyle/>
          <a:p>
            <a:pPr algn="ctr"/>
            <a:endParaRPr/>
          </a:p>
        </p:txBody>
      </p:sp>
      <p:sp>
        <p:nvSpPr>
          <p:cNvPr id="47" name="Rectangle 46"/>
          <p:cNvSpPr/>
          <p:nvPr/>
        </p:nvSpPr>
        <p:spPr>
          <a:xfrm>
            <a:off x="1993392" y="4782312"/>
            <a:ext cx="470459" cy="109728"/>
          </a:xfrm>
          <a:prstGeom prst="rect">
            <a:avLst/>
          </a:prstGeom>
          <a:solidFill>
            <a:srgbClr val="B68757"/>
          </a:solidFill>
          <a:ln>
            <a:noFill/>
          </a:ln>
        </p:spPr>
        <p:txBody>
          <a:bodyPr rtlCol="0" anchor="ctr"/>
          <a:lstStyle/>
          <a:p>
            <a:pPr algn="ctr"/>
            <a:endParaRPr/>
          </a:p>
        </p:txBody>
      </p:sp>
      <p:sp>
        <p:nvSpPr>
          <p:cNvPr id="48" name="TextBox 47"/>
          <p:cNvSpPr txBox="1"/>
          <p:nvPr/>
        </p:nvSpPr>
        <p:spPr>
          <a:xfrm>
            <a:off x="2518715" y="475488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17.1%</a:t>
            </a:r>
            <a:endParaRPr lang="en-US" sz="788" dirty="0"/>
          </a:p>
        </p:txBody>
      </p:sp>
      <p:sp>
        <p:nvSpPr>
          <p:cNvPr id="49" name="TextBox 48"/>
          <p:cNvSpPr txBox="1"/>
          <p:nvPr/>
        </p:nvSpPr>
        <p:spPr>
          <a:xfrm>
            <a:off x="566928" y="509320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Consumer services</a:t>
            </a:r>
            <a:endParaRPr lang="en-US" sz="740" dirty="0"/>
          </a:p>
        </p:txBody>
      </p:sp>
      <p:sp>
        <p:nvSpPr>
          <p:cNvPr id="50" name="Rectangle 49"/>
          <p:cNvSpPr/>
          <p:nvPr/>
        </p:nvSpPr>
        <p:spPr>
          <a:xfrm>
            <a:off x="1993392" y="5001768"/>
            <a:ext cx="9144" cy="310896"/>
          </a:xfrm>
          <a:prstGeom prst="rect">
            <a:avLst/>
          </a:prstGeom>
          <a:solidFill>
            <a:srgbClr val="C3BDB6"/>
          </a:solidFill>
          <a:ln>
            <a:noFill/>
          </a:ln>
        </p:spPr>
        <p:txBody>
          <a:bodyPr rtlCol="0" anchor="ctr"/>
          <a:lstStyle/>
          <a:p>
            <a:pPr algn="ctr"/>
            <a:endParaRPr/>
          </a:p>
        </p:txBody>
      </p:sp>
      <p:sp>
        <p:nvSpPr>
          <p:cNvPr id="51" name="Rectangle 50"/>
          <p:cNvSpPr/>
          <p:nvPr/>
        </p:nvSpPr>
        <p:spPr>
          <a:xfrm>
            <a:off x="1993392" y="5093208"/>
            <a:ext cx="632308" cy="109728"/>
          </a:xfrm>
          <a:prstGeom prst="rect">
            <a:avLst/>
          </a:prstGeom>
          <a:solidFill>
            <a:srgbClr val="B68757"/>
          </a:solidFill>
          <a:ln>
            <a:noFill/>
          </a:ln>
        </p:spPr>
        <p:txBody>
          <a:bodyPr rtlCol="0" anchor="ctr"/>
          <a:lstStyle/>
          <a:p>
            <a:pPr algn="ctr"/>
            <a:endParaRPr/>
          </a:p>
        </p:txBody>
      </p:sp>
      <p:sp>
        <p:nvSpPr>
          <p:cNvPr id="52" name="TextBox 51"/>
          <p:cNvSpPr txBox="1"/>
          <p:nvPr/>
        </p:nvSpPr>
        <p:spPr>
          <a:xfrm>
            <a:off x="2680564" y="506577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23.1%</a:t>
            </a:r>
            <a:endParaRPr lang="en-US" sz="788" dirty="0"/>
          </a:p>
        </p:txBody>
      </p:sp>
      <p:sp>
        <p:nvSpPr>
          <p:cNvPr id="53" name="TextBox 52"/>
          <p:cNvSpPr txBox="1"/>
          <p:nvPr/>
        </p:nvSpPr>
        <p:spPr>
          <a:xfrm>
            <a:off x="566928" y="540410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Retail</a:t>
            </a:r>
            <a:endParaRPr lang="en-US" sz="740" dirty="0"/>
          </a:p>
        </p:txBody>
      </p:sp>
      <p:sp>
        <p:nvSpPr>
          <p:cNvPr id="54" name="Rectangle 53"/>
          <p:cNvSpPr/>
          <p:nvPr/>
        </p:nvSpPr>
        <p:spPr>
          <a:xfrm>
            <a:off x="1993392" y="5312664"/>
            <a:ext cx="9144" cy="310896"/>
          </a:xfrm>
          <a:prstGeom prst="rect">
            <a:avLst/>
          </a:prstGeom>
          <a:solidFill>
            <a:srgbClr val="C3BDB6"/>
          </a:solidFill>
          <a:ln>
            <a:noFill/>
          </a:ln>
        </p:spPr>
        <p:txBody>
          <a:bodyPr rtlCol="0" anchor="ctr"/>
          <a:lstStyle/>
          <a:p>
            <a:pPr algn="ctr"/>
            <a:endParaRPr/>
          </a:p>
        </p:txBody>
      </p:sp>
      <p:sp>
        <p:nvSpPr>
          <p:cNvPr id="55" name="Rectangle 54"/>
          <p:cNvSpPr/>
          <p:nvPr/>
        </p:nvSpPr>
        <p:spPr>
          <a:xfrm>
            <a:off x="1993392" y="5404104"/>
            <a:ext cx="192024" cy="109728"/>
          </a:xfrm>
          <a:prstGeom prst="rect">
            <a:avLst/>
          </a:prstGeom>
          <a:solidFill>
            <a:srgbClr val="B68757"/>
          </a:solidFill>
          <a:ln>
            <a:noFill/>
          </a:ln>
        </p:spPr>
        <p:txBody>
          <a:bodyPr rtlCol="0" anchor="ctr"/>
          <a:lstStyle/>
          <a:p>
            <a:pPr algn="ctr"/>
            <a:endParaRPr/>
          </a:p>
        </p:txBody>
      </p:sp>
      <p:sp>
        <p:nvSpPr>
          <p:cNvPr id="56" name="TextBox 55"/>
          <p:cNvSpPr txBox="1"/>
          <p:nvPr/>
        </p:nvSpPr>
        <p:spPr>
          <a:xfrm>
            <a:off x="2240280" y="537667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7.0%</a:t>
            </a:r>
            <a:endParaRPr lang="en-US" sz="788" dirty="0"/>
          </a:p>
        </p:txBody>
      </p:sp>
      <p:sp>
        <p:nvSpPr>
          <p:cNvPr id="57" name="Rectangle 56"/>
          <p:cNvSpPr/>
          <p:nvPr/>
        </p:nvSpPr>
        <p:spPr>
          <a:xfrm>
            <a:off x="3538728" y="1234440"/>
            <a:ext cx="2980944" cy="4764024"/>
          </a:xfrm>
          <a:prstGeom prst="rect">
            <a:avLst/>
          </a:prstGeom>
          <a:solidFill>
            <a:srgbClr val="FAF7F3"/>
          </a:solidFill>
          <a:ln>
            <a:noFill/>
          </a:ln>
        </p:spPr>
        <p:txBody>
          <a:bodyPr rtlCol="0" anchor="ctr"/>
          <a:lstStyle/>
          <a:p>
            <a:pPr algn="ctr"/>
            <a:endParaRPr/>
          </a:p>
        </p:txBody>
      </p:sp>
      <p:sp>
        <p:nvSpPr>
          <p:cNvPr id="58" name="Rectangle 57"/>
          <p:cNvSpPr/>
          <p:nvPr/>
        </p:nvSpPr>
        <p:spPr>
          <a:xfrm>
            <a:off x="3538728" y="1234440"/>
            <a:ext cx="2980944" cy="27432"/>
          </a:xfrm>
          <a:prstGeom prst="rect">
            <a:avLst/>
          </a:prstGeom>
          <a:solidFill>
            <a:srgbClr val="B68757"/>
          </a:solidFill>
          <a:ln>
            <a:noFill/>
          </a:ln>
        </p:spPr>
        <p:txBody>
          <a:bodyPr rtlCol="0" anchor="ctr"/>
          <a:lstStyle/>
          <a:p>
            <a:pPr algn="ctr"/>
            <a:endParaRPr/>
          </a:p>
        </p:txBody>
      </p:sp>
      <p:sp>
        <p:nvSpPr>
          <p:cNvPr id="59" name="TextBox 58"/>
          <p:cNvSpPr txBox="1"/>
          <p:nvPr/>
        </p:nvSpPr>
        <p:spPr>
          <a:xfrm>
            <a:off x="3685032"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Median free cash flow margin</a:t>
            </a:r>
            <a:endParaRPr lang="en-US" sz="938" dirty="0"/>
          </a:p>
        </p:txBody>
      </p:sp>
      <p:sp>
        <p:nvSpPr>
          <p:cNvPr id="60" name="TextBox 59"/>
          <p:cNvSpPr txBox="1"/>
          <p:nvPr/>
        </p:nvSpPr>
        <p:spPr>
          <a:xfrm>
            <a:off x="3685032"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by peer group</a:t>
            </a:r>
            <a:endParaRPr lang="en-US" sz="705" dirty="0"/>
          </a:p>
        </p:txBody>
      </p:sp>
      <p:sp>
        <p:nvSpPr>
          <p:cNvPr id="61" name="TextBox 60"/>
          <p:cNvSpPr txBox="1"/>
          <p:nvPr/>
        </p:nvSpPr>
        <p:spPr>
          <a:xfrm>
            <a:off x="3685032" y="181051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 &amp; BEVERAGE</a:t>
            </a:r>
            <a:endParaRPr lang="en-US" sz="615" dirty="0"/>
          </a:p>
        </p:txBody>
      </p:sp>
      <p:sp>
        <p:nvSpPr>
          <p:cNvPr id="62" name="TextBox 61"/>
          <p:cNvSpPr txBox="1"/>
          <p:nvPr/>
        </p:nvSpPr>
        <p:spPr>
          <a:xfrm>
            <a:off x="3685032" y="209397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Packaged food</a:t>
            </a:r>
            <a:endParaRPr lang="en-US" sz="740" dirty="0"/>
          </a:p>
        </p:txBody>
      </p:sp>
      <p:sp>
        <p:nvSpPr>
          <p:cNvPr id="63" name="Rectangle 62"/>
          <p:cNvSpPr/>
          <p:nvPr/>
        </p:nvSpPr>
        <p:spPr>
          <a:xfrm>
            <a:off x="5111496" y="2002536"/>
            <a:ext cx="9144" cy="310896"/>
          </a:xfrm>
          <a:prstGeom prst="rect">
            <a:avLst/>
          </a:prstGeom>
          <a:solidFill>
            <a:srgbClr val="C3BDB6"/>
          </a:solidFill>
          <a:ln>
            <a:noFill/>
          </a:ln>
        </p:spPr>
        <p:txBody>
          <a:bodyPr rtlCol="0" anchor="ctr"/>
          <a:lstStyle/>
          <a:p>
            <a:pPr algn="ctr"/>
            <a:endParaRPr/>
          </a:p>
        </p:txBody>
      </p:sp>
      <p:sp>
        <p:nvSpPr>
          <p:cNvPr id="64" name="Rectangle 63"/>
          <p:cNvSpPr/>
          <p:nvPr/>
        </p:nvSpPr>
        <p:spPr>
          <a:xfrm>
            <a:off x="5111496" y="2093976"/>
            <a:ext cx="222885" cy="109728"/>
          </a:xfrm>
          <a:prstGeom prst="rect">
            <a:avLst/>
          </a:prstGeom>
          <a:solidFill>
            <a:srgbClr val="B68757"/>
          </a:solidFill>
          <a:ln>
            <a:noFill/>
          </a:ln>
        </p:spPr>
        <p:txBody>
          <a:bodyPr rtlCol="0" anchor="ctr"/>
          <a:lstStyle/>
          <a:p>
            <a:pPr algn="ctr"/>
            <a:endParaRPr/>
          </a:p>
        </p:txBody>
      </p:sp>
      <p:sp>
        <p:nvSpPr>
          <p:cNvPr id="65" name="TextBox 64"/>
          <p:cNvSpPr txBox="1"/>
          <p:nvPr/>
        </p:nvSpPr>
        <p:spPr>
          <a:xfrm>
            <a:off x="5389245" y="206654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8.1%</a:t>
            </a:r>
            <a:endParaRPr lang="en-US" sz="788" dirty="0"/>
          </a:p>
        </p:txBody>
      </p:sp>
      <p:sp>
        <p:nvSpPr>
          <p:cNvPr id="66" name="TextBox 65"/>
          <p:cNvSpPr txBox="1"/>
          <p:nvPr/>
        </p:nvSpPr>
        <p:spPr>
          <a:xfrm>
            <a:off x="3685032" y="240487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Snacks</a:t>
            </a:r>
            <a:endParaRPr lang="en-US" sz="740" dirty="0"/>
          </a:p>
        </p:txBody>
      </p:sp>
      <p:sp>
        <p:nvSpPr>
          <p:cNvPr id="67" name="Rectangle 66"/>
          <p:cNvSpPr/>
          <p:nvPr/>
        </p:nvSpPr>
        <p:spPr>
          <a:xfrm>
            <a:off x="5111496" y="2313432"/>
            <a:ext cx="9144" cy="310896"/>
          </a:xfrm>
          <a:prstGeom prst="rect">
            <a:avLst/>
          </a:prstGeom>
          <a:solidFill>
            <a:srgbClr val="C3BDB6"/>
          </a:solidFill>
          <a:ln>
            <a:noFill/>
          </a:ln>
        </p:spPr>
        <p:txBody>
          <a:bodyPr rtlCol="0" anchor="ctr"/>
          <a:lstStyle/>
          <a:p>
            <a:pPr algn="ctr"/>
            <a:endParaRPr/>
          </a:p>
        </p:txBody>
      </p:sp>
      <p:sp>
        <p:nvSpPr>
          <p:cNvPr id="68" name="Rectangle 67"/>
          <p:cNvSpPr/>
          <p:nvPr/>
        </p:nvSpPr>
        <p:spPr>
          <a:xfrm>
            <a:off x="5111496" y="2404872"/>
            <a:ext cx="235367" cy="109728"/>
          </a:xfrm>
          <a:prstGeom prst="rect">
            <a:avLst/>
          </a:prstGeom>
          <a:solidFill>
            <a:srgbClr val="B68757"/>
          </a:solidFill>
          <a:ln>
            <a:noFill/>
          </a:ln>
        </p:spPr>
        <p:txBody>
          <a:bodyPr rtlCol="0" anchor="ctr"/>
          <a:lstStyle/>
          <a:p>
            <a:pPr algn="ctr"/>
            <a:endParaRPr/>
          </a:p>
        </p:txBody>
      </p:sp>
      <p:sp>
        <p:nvSpPr>
          <p:cNvPr id="69" name="TextBox 68"/>
          <p:cNvSpPr txBox="1"/>
          <p:nvPr/>
        </p:nvSpPr>
        <p:spPr>
          <a:xfrm>
            <a:off x="5401727" y="237744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8.6%</a:t>
            </a:r>
            <a:endParaRPr lang="en-US" sz="788" dirty="0"/>
          </a:p>
        </p:txBody>
      </p:sp>
      <p:sp>
        <p:nvSpPr>
          <p:cNvPr id="70" name="TextBox 69"/>
          <p:cNvSpPr txBox="1"/>
          <p:nvPr/>
        </p:nvSpPr>
        <p:spPr>
          <a:xfrm>
            <a:off x="3685032" y="271576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Beverages</a:t>
            </a:r>
            <a:endParaRPr lang="en-US" sz="740" dirty="0"/>
          </a:p>
        </p:txBody>
      </p:sp>
      <p:sp>
        <p:nvSpPr>
          <p:cNvPr id="71" name="Rectangle 70"/>
          <p:cNvSpPr/>
          <p:nvPr/>
        </p:nvSpPr>
        <p:spPr>
          <a:xfrm>
            <a:off x="5111496" y="2624328"/>
            <a:ext cx="9144" cy="310896"/>
          </a:xfrm>
          <a:prstGeom prst="rect">
            <a:avLst/>
          </a:prstGeom>
          <a:solidFill>
            <a:srgbClr val="C3BDB6"/>
          </a:solidFill>
          <a:ln>
            <a:noFill/>
          </a:ln>
        </p:spPr>
        <p:txBody>
          <a:bodyPr rtlCol="0" anchor="ctr"/>
          <a:lstStyle/>
          <a:p>
            <a:pPr algn="ctr"/>
            <a:endParaRPr/>
          </a:p>
        </p:txBody>
      </p:sp>
      <p:sp>
        <p:nvSpPr>
          <p:cNvPr id="72" name="Rectangle 71"/>
          <p:cNvSpPr/>
          <p:nvPr/>
        </p:nvSpPr>
        <p:spPr>
          <a:xfrm>
            <a:off x="5111496" y="2715768"/>
            <a:ext cx="482255" cy="109728"/>
          </a:xfrm>
          <a:prstGeom prst="rect">
            <a:avLst/>
          </a:prstGeom>
          <a:solidFill>
            <a:srgbClr val="B68757"/>
          </a:solidFill>
          <a:ln>
            <a:noFill/>
          </a:ln>
        </p:spPr>
        <p:txBody>
          <a:bodyPr rtlCol="0" anchor="ctr"/>
          <a:lstStyle/>
          <a:p>
            <a:pPr algn="ctr"/>
            <a:endParaRPr/>
          </a:p>
        </p:txBody>
      </p:sp>
      <p:sp>
        <p:nvSpPr>
          <p:cNvPr id="73" name="TextBox 72"/>
          <p:cNvSpPr txBox="1"/>
          <p:nvPr/>
        </p:nvSpPr>
        <p:spPr>
          <a:xfrm>
            <a:off x="5648615" y="268833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17.6%</a:t>
            </a:r>
            <a:endParaRPr lang="en-US" sz="788" dirty="0"/>
          </a:p>
        </p:txBody>
      </p:sp>
      <p:sp>
        <p:nvSpPr>
          <p:cNvPr id="74" name="TextBox 73"/>
          <p:cNvSpPr txBox="1"/>
          <p:nvPr/>
        </p:nvSpPr>
        <p:spPr>
          <a:xfrm>
            <a:off x="3685032" y="3017520"/>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BRANDS &amp; PRODUCTS</a:t>
            </a:r>
            <a:endParaRPr lang="en-US" sz="615" dirty="0"/>
          </a:p>
        </p:txBody>
      </p:sp>
      <p:sp>
        <p:nvSpPr>
          <p:cNvPr id="75" name="TextBox 74"/>
          <p:cNvSpPr txBox="1"/>
          <p:nvPr/>
        </p:nvSpPr>
        <p:spPr>
          <a:xfrm>
            <a:off x="3685032" y="330098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Household &amp; personal care</a:t>
            </a:r>
            <a:endParaRPr lang="en-US" sz="740" dirty="0"/>
          </a:p>
        </p:txBody>
      </p:sp>
      <p:sp>
        <p:nvSpPr>
          <p:cNvPr id="76" name="Rectangle 75"/>
          <p:cNvSpPr/>
          <p:nvPr/>
        </p:nvSpPr>
        <p:spPr>
          <a:xfrm>
            <a:off x="5111496" y="3209544"/>
            <a:ext cx="9144" cy="310896"/>
          </a:xfrm>
          <a:prstGeom prst="rect">
            <a:avLst/>
          </a:prstGeom>
          <a:solidFill>
            <a:srgbClr val="C3BDB6"/>
          </a:solidFill>
          <a:ln>
            <a:noFill/>
          </a:ln>
        </p:spPr>
        <p:txBody>
          <a:bodyPr rtlCol="0" anchor="ctr"/>
          <a:lstStyle/>
          <a:p>
            <a:pPr algn="ctr"/>
            <a:endParaRPr/>
          </a:p>
        </p:txBody>
      </p:sp>
      <p:sp>
        <p:nvSpPr>
          <p:cNvPr id="77" name="Rectangle 76"/>
          <p:cNvSpPr/>
          <p:nvPr/>
        </p:nvSpPr>
        <p:spPr>
          <a:xfrm>
            <a:off x="5111496" y="3300984"/>
            <a:ext cx="456743" cy="109728"/>
          </a:xfrm>
          <a:prstGeom prst="rect">
            <a:avLst/>
          </a:prstGeom>
          <a:solidFill>
            <a:srgbClr val="B68757"/>
          </a:solidFill>
          <a:ln>
            <a:noFill/>
          </a:ln>
        </p:spPr>
        <p:txBody>
          <a:bodyPr rtlCol="0" anchor="ctr"/>
          <a:lstStyle/>
          <a:p>
            <a:pPr algn="ctr"/>
            <a:endParaRPr/>
          </a:p>
        </p:txBody>
      </p:sp>
      <p:sp>
        <p:nvSpPr>
          <p:cNvPr id="78" name="TextBox 77"/>
          <p:cNvSpPr txBox="1"/>
          <p:nvPr/>
        </p:nvSpPr>
        <p:spPr>
          <a:xfrm>
            <a:off x="5623103" y="327355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16.6%</a:t>
            </a:r>
            <a:endParaRPr lang="en-US" sz="788" dirty="0"/>
          </a:p>
        </p:txBody>
      </p:sp>
      <p:sp>
        <p:nvSpPr>
          <p:cNvPr id="79" name="TextBox 78"/>
          <p:cNvSpPr txBox="1"/>
          <p:nvPr/>
        </p:nvSpPr>
        <p:spPr>
          <a:xfrm>
            <a:off x="3685032" y="3611880"/>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Durables, outdoor &amp; pet</a:t>
            </a:r>
            <a:endParaRPr lang="en-US" sz="740" dirty="0"/>
          </a:p>
        </p:txBody>
      </p:sp>
      <p:sp>
        <p:nvSpPr>
          <p:cNvPr id="80" name="Rectangle 79"/>
          <p:cNvSpPr/>
          <p:nvPr/>
        </p:nvSpPr>
        <p:spPr>
          <a:xfrm>
            <a:off x="5111496" y="3520440"/>
            <a:ext cx="9144" cy="310896"/>
          </a:xfrm>
          <a:prstGeom prst="rect">
            <a:avLst/>
          </a:prstGeom>
          <a:solidFill>
            <a:srgbClr val="C3BDB6"/>
          </a:solidFill>
          <a:ln>
            <a:noFill/>
          </a:ln>
        </p:spPr>
        <p:txBody>
          <a:bodyPr rtlCol="0" anchor="ctr"/>
          <a:lstStyle/>
          <a:p>
            <a:pPr algn="ctr"/>
            <a:endParaRPr/>
          </a:p>
        </p:txBody>
      </p:sp>
      <p:sp>
        <p:nvSpPr>
          <p:cNvPr id="81" name="Rectangle 80"/>
          <p:cNvSpPr/>
          <p:nvPr/>
        </p:nvSpPr>
        <p:spPr>
          <a:xfrm>
            <a:off x="5111496" y="3611880"/>
            <a:ext cx="292974" cy="109728"/>
          </a:xfrm>
          <a:prstGeom prst="rect">
            <a:avLst/>
          </a:prstGeom>
          <a:solidFill>
            <a:srgbClr val="B68757"/>
          </a:solidFill>
          <a:ln>
            <a:noFill/>
          </a:ln>
        </p:spPr>
        <p:txBody>
          <a:bodyPr rtlCol="0" anchor="ctr"/>
          <a:lstStyle/>
          <a:p>
            <a:pPr algn="ctr"/>
            <a:endParaRPr/>
          </a:p>
        </p:txBody>
      </p:sp>
      <p:sp>
        <p:nvSpPr>
          <p:cNvPr id="82" name="TextBox 81"/>
          <p:cNvSpPr txBox="1"/>
          <p:nvPr/>
        </p:nvSpPr>
        <p:spPr>
          <a:xfrm>
            <a:off x="5459334" y="3584448"/>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10.7%</a:t>
            </a:r>
            <a:endParaRPr lang="en-US" sz="788" dirty="0"/>
          </a:p>
        </p:txBody>
      </p:sp>
      <p:sp>
        <p:nvSpPr>
          <p:cNvPr id="83" name="TextBox 82"/>
          <p:cNvSpPr txBox="1"/>
          <p:nvPr/>
        </p:nvSpPr>
        <p:spPr>
          <a:xfrm>
            <a:off x="3685032" y="391363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FOODSERVICE &amp; DISTRIBUTION</a:t>
            </a:r>
            <a:endParaRPr lang="en-US" sz="615" dirty="0"/>
          </a:p>
        </p:txBody>
      </p:sp>
      <p:sp>
        <p:nvSpPr>
          <p:cNvPr id="84" name="TextBox 83"/>
          <p:cNvSpPr txBox="1"/>
          <p:nvPr/>
        </p:nvSpPr>
        <p:spPr>
          <a:xfrm>
            <a:off x="3685032" y="419709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Foodservice distribution</a:t>
            </a:r>
            <a:endParaRPr lang="en-US" sz="740" dirty="0"/>
          </a:p>
        </p:txBody>
      </p:sp>
      <p:sp>
        <p:nvSpPr>
          <p:cNvPr id="85" name="Rectangle 84"/>
          <p:cNvSpPr/>
          <p:nvPr/>
        </p:nvSpPr>
        <p:spPr>
          <a:xfrm>
            <a:off x="5111496" y="4105656"/>
            <a:ext cx="9144" cy="310896"/>
          </a:xfrm>
          <a:prstGeom prst="rect">
            <a:avLst/>
          </a:prstGeom>
          <a:solidFill>
            <a:srgbClr val="C3BDB6"/>
          </a:solidFill>
          <a:ln>
            <a:noFill/>
          </a:ln>
        </p:spPr>
        <p:txBody>
          <a:bodyPr rtlCol="0" anchor="ctr"/>
          <a:lstStyle/>
          <a:p>
            <a:pPr algn="ctr"/>
            <a:endParaRPr/>
          </a:p>
        </p:txBody>
      </p:sp>
      <p:sp>
        <p:nvSpPr>
          <p:cNvPr id="86" name="Rectangle 85"/>
          <p:cNvSpPr/>
          <p:nvPr/>
        </p:nvSpPr>
        <p:spPr>
          <a:xfrm>
            <a:off x="5111496" y="4197096"/>
            <a:ext cx="63779" cy="109728"/>
          </a:xfrm>
          <a:prstGeom prst="rect">
            <a:avLst/>
          </a:prstGeom>
          <a:solidFill>
            <a:srgbClr val="B68757"/>
          </a:solidFill>
          <a:ln>
            <a:noFill/>
          </a:ln>
        </p:spPr>
        <p:txBody>
          <a:bodyPr rtlCol="0" anchor="ctr"/>
          <a:lstStyle/>
          <a:p>
            <a:pPr algn="ctr"/>
            <a:endParaRPr/>
          </a:p>
        </p:txBody>
      </p:sp>
      <p:sp>
        <p:nvSpPr>
          <p:cNvPr id="87" name="TextBox 86"/>
          <p:cNvSpPr txBox="1"/>
          <p:nvPr/>
        </p:nvSpPr>
        <p:spPr>
          <a:xfrm>
            <a:off x="5230139" y="416966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2.3%</a:t>
            </a:r>
            <a:endParaRPr lang="en-US" sz="788" dirty="0"/>
          </a:p>
        </p:txBody>
      </p:sp>
      <p:sp>
        <p:nvSpPr>
          <p:cNvPr id="88" name="TextBox 87"/>
          <p:cNvSpPr txBox="1"/>
          <p:nvPr/>
        </p:nvSpPr>
        <p:spPr>
          <a:xfrm>
            <a:off x="3685032" y="4498848"/>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SERVICES &amp; RETAIL</a:t>
            </a:r>
            <a:endParaRPr lang="en-US" sz="615" dirty="0"/>
          </a:p>
        </p:txBody>
      </p:sp>
      <p:sp>
        <p:nvSpPr>
          <p:cNvPr id="89" name="TextBox 88"/>
          <p:cNvSpPr txBox="1"/>
          <p:nvPr/>
        </p:nvSpPr>
        <p:spPr>
          <a:xfrm>
            <a:off x="3685032" y="478231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Restaurants</a:t>
            </a:r>
            <a:endParaRPr lang="en-US" sz="740" dirty="0"/>
          </a:p>
        </p:txBody>
      </p:sp>
      <p:sp>
        <p:nvSpPr>
          <p:cNvPr id="90" name="Rectangle 89"/>
          <p:cNvSpPr/>
          <p:nvPr/>
        </p:nvSpPr>
        <p:spPr>
          <a:xfrm>
            <a:off x="5111496" y="4690872"/>
            <a:ext cx="9144" cy="310896"/>
          </a:xfrm>
          <a:prstGeom prst="rect">
            <a:avLst/>
          </a:prstGeom>
          <a:solidFill>
            <a:srgbClr val="C3BDB6"/>
          </a:solidFill>
          <a:ln>
            <a:noFill/>
          </a:ln>
        </p:spPr>
        <p:txBody>
          <a:bodyPr rtlCol="0" anchor="ctr"/>
          <a:lstStyle/>
          <a:p>
            <a:pPr algn="ctr"/>
            <a:endParaRPr/>
          </a:p>
        </p:txBody>
      </p:sp>
      <p:sp>
        <p:nvSpPr>
          <p:cNvPr id="91" name="Rectangle 90"/>
          <p:cNvSpPr/>
          <p:nvPr/>
        </p:nvSpPr>
        <p:spPr>
          <a:xfrm>
            <a:off x="5111496" y="4782312"/>
            <a:ext cx="303809" cy="109728"/>
          </a:xfrm>
          <a:prstGeom prst="rect">
            <a:avLst/>
          </a:prstGeom>
          <a:solidFill>
            <a:srgbClr val="B68757"/>
          </a:solidFill>
          <a:ln>
            <a:noFill/>
          </a:ln>
        </p:spPr>
        <p:txBody>
          <a:bodyPr rtlCol="0" anchor="ctr"/>
          <a:lstStyle/>
          <a:p>
            <a:pPr algn="ctr"/>
            <a:endParaRPr/>
          </a:p>
        </p:txBody>
      </p:sp>
      <p:sp>
        <p:nvSpPr>
          <p:cNvPr id="92" name="TextBox 91"/>
          <p:cNvSpPr txBox="1"/>
          <p:nvPr/>
        </p:nvSpPr>
        <p:spPr>
          <a:xfrm>
            <a:off x="5470169" y="475488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11.1%</a:t>
            </a:r>
            <a:endParaRPr lang="en-US" sz="788" dirty="0"/>
          </a:p>
        </p:txBody>
      </p:sp>
      <p:sp>
        <p:nvSpPr>
          <p:cNvPr id="93" name="TextBox 92"/>
          <p:cNvSpPr txBox="1"/>
          <p:nvPr/>
        </p:nvSpPr>
        <p:spPr>
          <a:xfrm>
            <a:off x="3685032" y="509320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Consumer services</a:t>
            </a:r>
            <a:endParaRPr lang="en-US" sz="740" dirty="0"/>
          </a:p>
        </p:txBody>
      </p:sp>
      <p:sp>
        <p:nvSpPr>
          <p:cNvPr id="94" name="Rectangle 93"/>
          <p:cNvSpPr/>
          <p:nvPr/>
        </p:nvSpPr>
        <p:spPr>
          <a:xfrm>
            <a:off x="5111496" y="5001768"/>
            <a:ext cx="9144" cy="310896"/>
          </a:xfrm>
          <a:prstGeom prst="rect">
            <a:avLst/>
          </a:prstGeom>
          <a:solidFill>
            <a:srgbClr val="C3BDB6"/>
          </a:solidFill>
          <a:ln>
            <a:noFill/>
          </a:ln>
        </p:spPr>
        <p:txBody>
          <a:bodyPr rtlCol="0" anchor="ctr"/>
          <a:lstStyle/>
          <a:p>
            <a:pPr algn="ctr"/>
            <a:endParaRPr/>
          </a:p>
        </p:txBody>
      </p:sp>
      <p:sp>
        <p:nvSpPr>
          <p:cNvPr id="95" name="Rectangle 94"/>
          <p:cNvSpPr/>
          <p:nvPr/>
        </p:nvSpPr>
        <p:spPr>
          <a:xfrm>
            <a:off x="5111496" y="5093208"/>
            <a:ext cx="384459" cy="109728"/>
          </a:xfrm>
          <a:prstGeom prst="rect">
            <a:avLst/>
          </a:prstGeom>
          <a:solidFill>
            <a:srgbClr val="B68757"/>
          </a:solidFill>
          <a:ln>
            <a:noFill/>
          </a:ln>
        </p:spPr>
        <p:txBody>
          <a:bodyPr rtlCol="0" anchor="ctr"/>
          <a:lstStyle/>
          <a:p>
            <a:pPr algn="ctr"/>
            <a:endParaRPr/>
          </a:p>
        </p:txBody>
      </p:sp>
      <p:sp>
        <p:nvSpPr>
          <p:cNvPr id="96" name="TextBox 95"/>
          <p:cNvSpPr txBox="1"/>
          <p:nvPr/>
        </p:nvSpPr>
        <p:spPr>
          <a:xfrm>
            <a:off x="5550819" y="506577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14.0%</a:t>
            </a:r>
            <a:endParaRPr lang="en-US" sz="788" dirty="0"/>
          </a:p>
        </p:txBody>
      </p:sp>
      <p:sp>
        <p:nvSpPr>
          <p:cNvPr id="97" name="TextBox 96"/>
          <p:cNvSpPr txBox="1"/>
          <p:nvPr/>
        </p:nvSpPr>
        <p:spPr>
          <a:xfrm>
            <a:off x="3685032" y="540410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Retail</a:t>
            </a:r>
            <a:endParaRPr lang="en-US" sz="740" dirty="0"/>
          </a:p>
        </p:txBody>
      </p:sp>
      <p:sp>
        <p:nvSpPr>
          <p:cNvPr id="98" name="Rectangle 97"/>
          <p:cNvSpPr/>
          <p:nvPr/>
        </p:nvSpPr>
        <p:spPr>
          <a:xfrm>
            <a:off x="5111496" y="5312664"/>
            <a:ext cx="9144" cy="310896"/>
          </a:xfrm>
          <a:prstGeom prst="rect">
            <a:avLst/>
          </a:prstGeom>
          <a:solidFill>
            <a:srgbClr val="C3BDB6"/>
          </a:solidFill>
          <a:ln>
            <a:noFill/>
          </a:ln>
        </p:spPr>
        <p:txBody>
          <a:bodyPr rtlCol="0" anchor="ctr"/>
          <a:lstStyle/>
          <a:p>
            <a:pPr algn="ctr"/>
            <a:endParaRPr/>
          </a:p>
        </p:txBody>
      </p:sp>
      <p:sp>
        <p:nvSpPr>
          <p:cNvPr id="99" name="Rectangle 98"/>
          <p:cNvSpPr/>
          <p:nvPr/>
        </p:nvSpPr>
        <p:spPr>
          <a:xfrm>
            <a:off x="5111496" y="5404104"/>
            <a:ext cx="69129" cy="109728"/>
          </a:xfrm>
          <a:prstGeom prst="rect">
            <a:avLst/>
          </a:prstGeom>
          <a:solidFill>
            <a:srgbClr val="B68757"/>
          </a:solidFill>
          <a:ln>
            <a:noFill/>
          </a:ln>
        </p:spPr>
        <p:txBody>
          <a:bodyPr rtlCol="0" anchor="ctr"/>
          <a:lstStyle/>
          <a:p>
            <a:pPr algn="ctr"/>
            <a:endParaRPr/>
          </a:p>
        </p:txBody>
      </p:sp>
      <p:sp>
        <p:nvSpPr>
          <p:cNvPr id="100" name="TextBox 99"/>
          <p:cNvSpPr txBox="1"/>
          <p:nvPr/>
        </p:nvSpPr>
        <p:spPr>
          <a:xfrm>
            <a:off x="5235489" y="537667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2.5%</a:t>
            </a:r>
            <a:endParaRPr lang="en-US" sz="788" dirty="0"/>
          </a:p>
        </p:txBody>
      </p:sp>
      <p:sp>
        <p:nvSpPr>
          <p:cNvPr id="101" name="Rectangle 100"/>
          <p:cNvSpPr/>
          <p:nvPr/>
        </p:nvSpPr>
        <p:spPr>
          <a:xfrm>
            <a:off x="6656832" y="1234440"/>
            <a:ext cx="2980944" cy="4764024"/>
          </a:xfrm>
          <a:prstGeom prst="rect">
            <a:avLst/>
          </a:prstGeom>
          <a:solidFill>
            <a:srgbClr val="FAF7F3"/>
          </a:solidFill>
          <a:ln>
            <a:noFill/>
          </a:ln>
        </p:spPr>
        <p:txBody>
          <a:bodyPr rtlCol="0" anchor="ctr"/>
          <a:lstStyle/>
          <a:p>
            <a:pPr algn="ctr"/>
            <a:endParaRPr/>
          </a:p>
        </p:txBody>
      </p:sp>
      <p:sp>
        <p:nvSpPr>
          <p:cNvPr id="102" name="Rectangle 101"/>
          <p:cNvSpPr/>
          <p:nvPr/>
        </p:nvSpPr>
        <p:spPr>
          <a:xfrm>
            <a:off x="6656832" y="1234440"/>
            <a:ext cx="2980944" cy="27432"/>
          </a:xfrm>
          <a:prstGeom prst="rect">
            <a:avLst/>
          </a:prstGeom>
          <a:solidFill>
            <a:srgbClr val="B68757"/>
          </a:solidFill>
          <a:ln>
            <a:noFill/>
          </a:ln>
        </p:spPr>
        <p:txBody>
          <a:bodyPr rtlCol="0" anchor="ctr"/>
          <a:lstStyle/>
          <a:p>
            <a:pPr algn="ctr"/>
            <a:endParaRPr/>
          </a:p>
        </p:txBody>
      </p:sp>
      <p:sp>
        <p:nvSpPr>
          <p:cNvPr id="103" name="TextBox 102"/>
          <p:cNvSpPr txBox="1"/>
          <p:nvPr/>
        </p:nvSpPr>
        <p:spPr>
          <a:xfrm>
            <a:off x="6803136"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Fastest revenue growth</a:t>
            </a:r>
            <a:endParaRPr lang="en-US" sz="938" dirty="0"/>
          </a:p>
        </p:txBody>
      </p:sp>
      <p:sp>
        <p:nvSpPr>
          <p:cNvPr id="104" name="TextBox 103"/>
          <p:cNvSpPr txBox="1"/>
          <p:nvPr/>
        </p:nvSpPr>
        <p:spPr>
          <a:xfrm>
            <a:off x="6803136"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56 listed companies</a:t>
            </a:r>
            <a:endParaRPr lang="en-US" sz="705" dirty="0"/>
          </a:p>
        </p:txBody>
      </p:sp>
      <p:pic>
        <p:nvPicPr>
          <p:cNvPr id="105" name="Picture 104" descr="Celsius logo"/>
          <p:cNvPicPr>
            <a:picLocks noChangeAspect="1"/>
          </p:cNvPicPr>
          <p:nvPr/>
        </p:nvPicPr>
        <p:blipFill>
          <a:blip r:embed="rId3"/>
          <a:stretch>
            <a:fillRect/>
          </a:stretch>
        </p:blipFill>
        <p:spPr>
          <a:xfrm>
            <a:off x="6803136" y="2057595"/>
            <a:ext cx="237744" cy="237744"/>
          </a:xfrm>
          <a:prstGeom prst="rect">
            <a:avLst/>
          </a:prstGeom>
        </p:spPr>
      </p:pic>
      <p:sp>
        <p:nvSpPr>
          <p:cNvPr id="106" name="TextBox 105"/>
          <p:cNvSpPr txBox="1"/>
          <p:nvPr/>
        </p:nvSpPr>
        <p:spPr>
          <a:xfrm>
            <a:off x="7132320" y="20484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Celsius</a:t>
            </a:r>
            <a:endParaRPr lang="en-US" sz="795" dirty="0"/>
          </a:p>
        </p:txBody>
      </p:sp>
      <p:sp>
        <p:nvSpPr>
          <p:cNvPr id="107" name="TextBox 106"/>
          <p:cNvSpPr txBox="1"/>
          <p:nvPr/>
        </p:nvSpPr>
        <p:spPr>
          <a:xfrm>
            <a:off x="7132320" y="22038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BEVERAGES</a:t>
            </a:r>
            <a:endParaRPr lang="en-US" sz="560" dirty="0"/>
          </a:p>
        </p:txBody>
      </p:sp>
      <p:sp>
        <p:nvSpPr>
          <p:cNvPr id="108" name="Rectangle 107"/>
          <p:cNvSpPr/>
          <p:nvPr/>
        </p:nvSpPr>
        <p:spPr>
          <a:xfrm>
            <a:off x="8412480" y="2121603"/>
            <a:ext cx="804672" cy="109728"/>
          </a:xfrm>
          <a:prstGeom prst="rect">
            <a:avLst/>
          </a:prstGeom>
          <a:solidFill>
            <a:srgbClr val="B68757"/>
          </a:solidFill>
          <a:ln>
            <a:noFill/>
          </a:ln>
        </p:spPr>
        <p:txBody>
          <a:bodyPr rtlCol="0" anchor="ctr"/>
          <a:lstStyle/>
          <a:p>
            <a:pPr algn="ctr"/>
            <a:endParaRPr/>
          </a:p>
        </p:txBody>
      </p:sp>
      <p:sp>
        <p:nvSpPr>
          <p:cNvPr id="109" name="TextBox 108"/>
          <p:cNvSpPr txBox="1"/>
          <p:nvPr/>
        </p:nvSpPr>
        <p:spPr>
          <a:xfrm>
            <a:off x="9272016" y="20941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+82.9%</a:t>
            </a:r>
            <a:endParaRPr lang="en-US" sz="788" dirty="0"/>
          </a:p>
        </p:txBody>
      </p:sp>
      <p:pic>
        <p:nvPicPr>
          <p:cNvPr id="110" name="Picture 109" descr="e.l.f. Beauty logo"/>
          <p:cNvPicPr>
            <a:picLocks noChangeAspect="1"/>
          </p:cNvPicPr>
          <p:nvPr/>
        </p:nvPicPr>
        <p:blipFill>
          <a:blip r:embed="rId4"/>
          <a:stretch>
            <a:fillRect/>
          </a:stretch>
        </p:blipFill>
        <p:spPr>
          <a:xfrm>
            <a:off x="6803136" y="2514795"/>
            <a:ext cx="237744" cy="237744"/>
          </a:xfrm>
          <a:prstGeom prst="rect">
            <a:avLst/>
          </a:prstGeom>
        </p:spPr>
      </p:pic>
      <p:sp>
        <p:nvSpPr>
          <p:cNvPr id="111" name="TextBox 110"/>
          <p:cNvSpPr txBox="1"/>
          <p:nvPr/>
        </p:nvSpPr>
        <p:spPr>
          <a:xfrm>
            <a:off x="7132320" y="25056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e.l.f. Beauty</a:t>
            </a:r>
            <a:endParaRPr lang="en-US" sz="795" dirty="0"/>
          </a:p>
        </p:txBody>
      </p:sp>
      <p:sp>
        <p:nvSpPr>
          <p:cNvPr id="112" name="TextBox 111"/>
          <p:cNvSpPr txBox="1"/>
          <p:nvPr/>
        </p:nvSpPr>
        <p:spPr>
          <a:xfrm>
            <a:off x="7132320" y="26610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HOUSEHOLD &amp; PERSONAL CARE</a:t>
            </a:r>
            <a:endParaRPr lang="en-US" sz="560" dirty="0"/>
          </a:p>
        </p:txBody>
      </p:sp>
      <p:sp>
        <p:nvSpPr>
          <p:cNvPr id="113" name="Rectangle 112"/>
          <p:cNvSpPr/>
          <p:nvPr/>
        </p:nvSpPr>
        <p:spPr>
          <a:xfrm>
            <a:off x="8412480" y="2578803"/>
            <a:ext cx="302844" cy="109728"/>
          </a:xfrm>
          <a:prstGeom prst="rect">
            <a:avLst/>
          </a:prstGeom>
          <a:solidFill>
            <a:srgbClr val="B68757"/>
          </a:solidFill>
          <a:ln>
            <a:noFill/>
          </a:ln>
        </p:spPr>
        <p:txBody>
          <a:bodyPr rtlCol="0" anchor="ctr"/>
          <a:lstStyle/>
          <a:p>
            <a:pPr algn="ctr"/>
            <a:endParaRPr/>
          </a:p>
        </p:txBody>
      </p:sp>
      <p:sp>
        <p:nvSpPr>
          <p:cNvPr id="114" name="TextBox 113"/>
          <p:cNvSpPr txBox="1"/>
          <p:nvPr/>
        </p:nvSpPr>
        <p:spPr>
          <a:xfrm>
            <a:off x="8770188" y="25513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+31.2%</a:t>
            </a:r>
            <a:endParaRPr lang="en-US" sz="788" dirty="0"/>
          </a:p>
        </p:txBody>
      </p:sp>
      <p:pic>
        <p:nvPicPr>
          <p:cNvPr id="115" name="Picture 114" descr="Monster Beverage logo"/>
          <p:cNvPicPr>
            <a:picLocks noChangeAspect="1"/>
          </p:cNvPicPr>
          <p:nvPr/>
        </p:nvPicPr>
        <p:blipFill>
          <a:blip r:embed="rId5"/>
          <a:stretch>
            <a:fillRect/>
          </a:stretch>
        </p:blipFill>
        <p:spPr>
          <a:xfrm>
            <a:off x="6803136" y="2971995"/>
            <a:ext cx="237744" cy="237744"/>
          </a:xfrm>
          <a:prstGeom prst="rect">
            <a:avLst/>
          </a:prstGeom>
        </p:spPr>
      </p:pic>
      <p:sp>
        <p:nvSpPr>
          <p:cNvPr id="116" name="TextBox 115"/>
          <p:cNvSpPr txBox="1"/>
          <p:nvPr/>
        </p:nvSpPr>
        <p:spPr>
          <a:xfrm>
            <a:off x="7132320" y="29628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Monster Beverage</a:t>
            </a:r>
            <a:endParaRPr lang="en-US" sz="795" dirty="0"/>
          </a:p>
        </p:txBody>
      </p:sp>
      <p:sp>
        <p:nvSpPr>
          <p:cNvPr id="117" name="TextBox 116"/>
          <p:cNvSpPr txBox="1"/>
          <p:nvPr/>
        </p:nvSpPr>
        <p:spPr>
          <a:xfrm>
            <a:off x="7132320" y="31182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BEVERAGES</a:t>
            </a:r>
            <a:endParaRPr lang="en-US" sz="560" dirty="0"/>
          </a:p>
        </p:txBody>
      </p:sp>
      <p:sp>
        <p:nvSpPr>
          <p:cNvPr id="118" name="Rectangle 117"/>
          <p:cNvSpPr/>
          <p:nvPr/>
        </p:nvSpPr>
        <p:spPr>
          <a:xfrm>
            <a:off x="8412480" y="3036003"/>
            <a:ext cx="198013" cy="109728"/>
          </a:xfrm>
          <a:prstGeom prst="rect">
            <a:avLst/>
          </a:prstGeom>
          <a:solidFill>
            <a:srgbClr val="B68757"/>
          </a:solidFill>
          <a:ln>
            <a:noFill/>
          </a:ln>
        </p:spPr>
        <p:txBody>
          <a:bodyPr rtlCol="0" anchor="ctr"/>
          <a:lstStyle/>
          <a:p>
            <a:pPr algn="ctr"/>
            <a:endParaRPr/>
          </a:p>
        </p:txBody>
      </p:sp>
      <p:sp>
        <p:nvSpPr>
          <p:cNvPr id="119" name="TextBox 118"/>
          <p:cNvSpPr txBox="1"/>
          <p:nvPr/>
        </p:nvSpPr>
        <p:spPr>
          <a:xfrm>
            <a:off x="8665357" y="30085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+20.4%</a:t>
            </a:r>
            <a:endParaRPr lang="en-US" sz="788" dirty="0"/>
          </a:p>
        </p:txBody>
      </p:sp>
      <p:pic>
        <p:nvPicPr>
          <p:cNvPr id="120" name="Picture 119" descr="Boyd Group Services logo"/>
          <p:cNvPicPr>
            <a:picLocks noChangeAspect="1"/>
          </p:cNvPicPr>
          <p:nvPr/>
        </p:nvPicPr>
        <p:blipFill>
          <a:blip r:embed="rId6"/>
          <a:stretch>
            <a:fillRect/>
          </a:stretch>
        </p:blipFill>
        <p:spPr>
          <a:xfrm>
            <a:off x="6803136" y="3429195"/>
            <a:ext cx="237744" cy="237744"/>
          </a:xfrm>
          <a:prstGeom prst="rect">
            <a:avLst/>
          </a:prstGeom>
        </p:spPr>
      </p:pic>
      <p:sp>
        <p:nvSpPr>
          <p:cNvPr id="121" name="TextBox 120"/>
          <p:cNvSpPr txBox="1"/>
          <p:nvPr/>
        </p:nvSpPr>
        <p:spPr>
          <a:xfrm>
            <a:off x="7132320" y="34200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Boyd Group Services</a:t>
            </a:r>
            <a:endParaRPr lang="en-US" sz="795" dirty="0"/>
          </a:p>
        </p:txBody>
      </p:sp>
      <p:sp>
        <p:nvSpPr>
          <p:cNvPr id="122" name="TextBox 121"/>
          <p:cNvSpPr txBox="1"/>
          <p:nvPr/>
        </p:nvSpPr>
        <p:spPr>
          <a:xfrm>
            <a:off x="7132320" y="35754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23" name="Rectangle 122"/>
          <p:cNvSpPr/>
          <p:nvPr/>
        </p:nvSpPr>
        <p:spPr>
          <a:xfrm>
            <a:off x="8412480" y="3493203"/>
            <a:ext cx="167923" cy="109728"/>
          </a:xfrm>
          <a:prstGeom prst="rect">
            <a:avLst/>
          </a:prstGeom>
          <a:solidFill>
            <a:srgbClr val="B68757"/>
          </a:solidFill>
          <a:ln>
            <a:noFill/>
          </a:ln>
        </p:spPr>
        <p:txBody>
          <a:bodyPr rtlCol="0" anchor="ctr"/>
          <a:lstStyle/>
          <a:p>
            <a:pPr algn="ctr"/>
            <a:endParaRPr/>
          </a:p>
        </p:txBody>
      </p:sp>
      <p:sp>
        <p:nvSpPr>
          <p:cNvPr id="124" name="TextBox 123"/>
          <p:cNvSpPr txBox="1"/>
          <p:nvPr/>
        </p:nvSpPr>
        <p:spPr>
          <a:xfrm>
            <a:off x="8635267" y="34657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+17.3%</a:t>
            </a:r>
            <a:endParaRPr lang="en-US" sz="788" dirty="0"/>
          </a:p>
        </p:txBody>
      </p:sp>
      <p:pic>
        <p:nvPicPr>
          <p:cNvPr id="125" name="Picture 124" descr="Vital Farms logo"/>
          <p:cNvPicPr>
            <a:picLocks noChangeAspect="1"/>
          </p:cNvPicPr>
          <p:nvPr/>
        </p:nvPicPr>
        <p:blipFill>
          <a:blip r:embed="rId7"/>
          <a:stretch>
            <a:fillRect/>
          </a:stretch>
        </p:blipFill>
        <p:spPr>
          <a:xfrm>
            <a:off x="6803136" y="3886395"/>
            <a:ext cx="237744" cy="237744"/>
          </a:xfrm>
          <a:prstGeom prst="rect">
            <a:avLst/>
          </a:prstGeom>
        </p:spPr>
      </p:pic>
      <p:sp>
        <p:nvSpPr>
          <p:cNvPr id="126" name="TextBox 125"/>
          <p:cNvSpPr txBox="1"/>
          <p:nvPr/>
        </p:nvSpPr>
        <p:spPr>
          <a:xfrm>
            <a:off x="7132320" y="38772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Vital Farms</a:t>
            </a:r>
            <a:endParaRPr lang="en-US" sz="795" dirty="0"/>
          </a:p>
        </p:txBody>
      </p:sp>
      <p:sp>
        <p:nvSpPr>
          <p:cNvPr id="127" name="TextBox 126"/>
          <p:cNvSpPr txBox="1"/>
          <p:nvPr/>
        </p:nvSpPr>
        <p:spPr>
          <a:xfrm>
            <a:off x="7132320" y="40326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SNACKS</a:t>
            </a:r>
            <a:endParaRPr lang="en-US" sz="560" dirty="0"/>
          </a:p>
        </p:txBody>
      </p:sp>
      <p:sp>
        <p:nvSpPr>
          <p:cNvPr id="128" name="Rectangle 127"/>
          <p:cNvSpPr/>
          <p:nvPr/>
        </p:nvSpPr>
        <p:spPr>
          <a:xfrm>
            <a:off x="8412480" y="3950403"/>
            <a:ext cx="159187" cy="109728"/>
          </a:xfrm>
          <a:prstGeom prst="rect">
            <a:avLst/>
          </a:prstGeom>
          <a:solidFill>
            <a:srgbClr val="B68757"/>
          </a:solidFill>
          <a:ln>
            <a:noFill/>
          </a:ln>
        </p:spPr>
        <p:txBody>
          <a:bodyPr rtlCol="0" anchor="ctr"/>
          <a:lstStyle/>
          <a:p>
            <a:pPr algn="ctr"/>
            <a:endParaRPr/>
          </a:p>
        </p:txBody>
      </p:sp>
      <p:sp>
        <p:nvSpPr>
          <p:cNvPr id="129" name="TextBox 128"/>
          <p:cNvSpPr txBox="1"/>
          <p:nvPr/>
        </p:nvSpPr>
        <p:spPr>
          <a:xfrm>
            <a:off x="8626531" y="39229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+16.4%</a:t>
            </a:r>
            <a:endParaRPr lang="en-US" sz="788" dirty="0"/>
          </a:p>
        </p:txBody>
      </p:sp>
      <p:pic>
        <p:nvPicPr>
          <p:cNvPr id="130" name="Picture 129" descr="Driven Brands logo"/>
          <p:cNvPicPr>
            <a:picLocks noChangeAspect="1"/>
          </p:cNvPicPr>
          <p:nvPr/>
        </p:nvPicPr>
        <p:blipFill>
          <a:blip r:embed="rId8"/>
          <a:stretch>
            <a:fillRect/>
          </a:stretch>
        </p:blipFill>
        <p:spPr>
          <a:xfrm>
            <a:off x="6803136" y="4343595"/>
            <a:ext cx="237744" cy="237744"/>
          </a:xfrm>
          <a:prstGeom prst="rect">
            <a:avLst/>
          </a:prstGeom>
        </p:spPr>
      </p:pic>
      <p:sp>
        <p:nvSpPr>
          <p:cNvPr id="131" name="TextBox 130"/>
          <p:cNvSpPr txBox="1"/>
          <p:nvPr/>
        </p:nvSpPr>
        <p:spPr>
          <a:xfrm>
            <a:off x="7132320" y="43344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Driven Brands</a:t>
            </a:r>
            <a:endParaRPr lang="en-US" sz="795" dirty="0"/>
          </a:p>
        </p:txBody>
      </p:sp>
      <p:sp>
        <p:nvSpPr>
          <p:cNvPr id="132" name="TextBox 131"/>
          <p:cNvSpPr txBox="1"/>
          <p:nvPr/>
        </p:nvSpPr>
        <p:spPr>
          <a:xfrm>
            <a:off x="7132320" y="44898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33" name="Rectangle 132"/>
          <p:cNvSpPr/>
          <p:nvPr/>
        </p:nvSpPr>
        <p:spPr>
          <a:xfrm>
            <a:off x="8412480" y="4407603"/>
            <a:ext cx="148510" cy="109728"/>
          </a:xfrm>
          <a:prstGeom prst="rect">
            <a:avLst/>
          </a:prstGeom>
          <a:solidFill>
            <a:srgbClr val="B68757"/>
          </a:solidFill>
          <a:ln>
            <a:noFill/>
          </a:ln>
        </p:spPr>
        <p:txBody>
          <a:bodyPr rtlCol="0" anchor="ctr"/>
          <a:lstStyle/>
          <a:p>
            <a:pPr algn="ctr"/>
            <a:endParaRPr/>
          </a:p>
        </p:txBody>
      </p:sp>
      <p:sp>
        <p:nvSpPr>
          <p:cNvPr id="134" name="TextBox 133"/>
          <p:cNvSpPr txBox="1"/>
          <p:nvPr/>
        </p:nvSpPr>
        <p:spPr>
          <a:xfrm>
            <a:off x="8615854" y="43801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+15.3%</a:t>
            </a:r>
            <a:endParaRPr lang="en-US" sz="788" dirty="0"/>
          </a:p>
        </p:txBody>
      </p:sp>
      <p:pic>
        <p:nvPicPr>
          <p:cNvPr id="135" name="Picture 134" descr="McCormick logo"/>
          <p:cNvPicPr>
            <a:picLocks noChangeAspect="1"/>
          </p:cNvPicPr>
          <p:nvPr/>
        </p:nvPicPr>
        <p:blipFill>
          <a:blip r:embed="rId9"/>
          <a:stretch>
            <a:fillRect/>
          </a:stretch>
        </p:blipFill>
        <p:spPr>
          <a:xfrm>
            <a:off x="6803136" y="4800795"/>
            <a:ext cx="237744" cy="237744"/>
          </a:xfrm>
          <a:prstGeom prst="rect">
            <a:avLst/>
          </a:prstGeom>
        </p:spPr>
      </p:pic>
      <p:sp>
        <p:nvSpPr>
          <p:cNvPr id="136" name="TextBox 135"/>
          <p:cNvSpPr txBox="1"/>
          <p:nvPr/>
        </p:nvSpPr>
        <p:spPr>
          <a:xfrm>
            <a:off x="7132320" y="47916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McCormick</a:t>
            </a:r>
            <a:endParaRPr lang="en-US" sz="795" dirty="0"/>
          </a:p>
        </p:txBody>
      </p:sp>
      <p:sp>
        <p:nvSpPr>
          <p:cNvPr id="137" name="TextBox 136"/>
          <p:cNvSpPr txBox="1"/>
          <p:nvPr/>
        </p:nvSpPr>
        <p:spPr>
          <a:xfrm>
            <a:off x="7132320" y="49470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PACKAGED FOOD</a:t>
            </a:r>
            <a:endParaRPr lang="en-US" sz="560" dirty="0"/>
          </a:p>
        </p:txBody>
      </p:sp>
      <p:sp>
        <p:nvSpPr>
          <p:cNvPr id="138" name="Rectangle 137"/>
          <p:cNvSpPr/>
          <p:nvPr/>
        </p:nvSpPr>
        <p:spPr>
          <a:xfrm>
            <a:off x="8412480" y="4864803"/>
            <a:ext cx="128126" cy="109728"/>
          </a:xfrm>
          <a:prstGeom prst="rect">
            <a:avLst/>
          </a:prstGeom>
          <a:solidFill>
            <a:srgbClr val="B68757"/>
          </a:solidFill>
          <a:ln>
            <a:noFill/>
          </a:ln>
        </p:spPr>
        <p:txBody>
          <a:bodyPr rtlCol="0" anchor="ctr"/>
          <a:lstStyle/>
          <a:p>
            <a:pPr algn="ctr"/>
            <a:endParaRPr/>
          </a:p>
        </p:txBody>
      </p:sp>
      <p:sp>
        <p:nvSpPr>
          <p:cNvPr id="139" name="TextBox 138"/>
          <p:cNvSpPr txBox="1"/>
          <p:nvPr/>
        </p:nvSpPr>
        <p:spPr>
          <a:xfrm>
            <a:off x="8595470" y="48373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+13.2%</a:t>
            </a:r>
            <a:endParaRPr lang="en-US" sz="788" dirty="0"/>
          </a:p>
        </p:txBody>
      </p:sp>
      <p:pic>
        <p:nvPicPr>
          <p:cNvPr id="140" name="Picture 139" descr="Planet Fitness logo"/>
          <p:cNvPicPr>
            <a:picLocks noChangeAspect="1"/>
          </p:cNvPicPr>
          <p:nvPr/>
        </p:nvPicPr>
        <p:blipFill>
          <a:blip r:embed="rId10"/>
          <a:stretch>
            <a:fillRect/>
          </a:stretch>
        </p:blipFill>
        <p:spPr>
          <a:xfrm>
            <a:off x="6803136" y="5257995"/>
            <a:ext cx="237744" cy="237744"/>
          </a:xfrm>
          <a:prstGeom prst="rect">
            <a:avLst/>
          </a:prstGeom>
        </p:spPr>
      </p:pic>
      <p:sp>
        <p:nvSpPr>
          <p:cNvPr id="141" name="TextBox 140"/>
          <p:cNvSpPr txBox="1"/>
          <p:nvPr/>
        </p:nvSpPr>
        <p:spPr>
          <a:xfrm>
            <a:off x="7132320" y="52488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Planet Fitness</a:t>
            </a:r>
            <a:endParaRPr lang="en-US" sz="795" dirty="0"/>
          </a:p>
        </p:txBody>
      </p:sp>
      <p:sp>
        <p:nvSpPr>
          <p:cNvPr id="142" name="TextBox 141"/>
          <p:cNvSpPr txBox="1"/>
          <p:nvPr/>
        </p:nvSpPr>
        <p:spPr>
          <a:xfrm>
            <a:off x="7132320" y="54042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43" name="Rectangle 142"/>
          <p:cNvSpPr/>
          <p:nvPr/>
        </p:nvSpPr>
        <p:spPr>
          <a:xfrm>
            <a:off x="8412480" y="5322003"/>
            <a:ext cx="112596" cy="109728"/>
          </a:xfrm>
          <a:prstGeom prst="rect">
            <a:avLst/>
          </a:prstGeom>
          <a:solidFill>
            <a:srgbClr val="B68757"/>
          </a:solidFill>
          <a:ln>
            <a:noFill/>
          </a:ln>
        </p:spPr>
        <p:txBody>
          <a:bodyPr rtlCol="0" anchor="ctr"/>
          <a:lstStyle/>
          <a:p>
            <a:pPr algn="ctr"/>
            <a:endParaRPr/>
          </a:p>
        </p:txBody>
      </p:sp>
      <p:sp>
        <p:nvSpPr>
          <p:cNvPr id="144" name="TextBox 143"/>
          <p:cNvSpPr txBox="1"/>
          <p:nvPr/>
        </p:nvSpPr>
        <p:spPr>
          <a:xfrm>
            <a:off x="8579940" y="52945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+11.6%</a:t>
            </a:r>
            <a:endParaRPr lang="en-US" sz="788" dirty="0"/>
          </a:p>
        </p:txBody>
      </p:sp>
      <p:sp>
        <p:nvSpPr>
          <p:cNvPr id="145" name="Rectangle 144"/>
          <p:cNvSpPr/>
          <p:nvPr/>
        </p:nvSpPr>
        <p:spPr>
          <a:xfrm>
            <a:off x="420624" y="6245352"/>
            <a:ext cx="9217152" cy="685800"/>
          </a:xfrm>
          <a:prstGeom prst="rect">
            <a:avLst/>
          </a:prstGeom>
          <a:solidFill>
            <a:srgbClr val="1B1A1A"/>
          </a:solidFill>
          <a:ln>
            <a:noFill/>
          </a:ln>
        </p:spPr>
        <p:txBody>
          <a:bodyPr rtlCol="0" anchor="ctr"/>
          <a:lstStyle/>
          <a:p>
            <a:pPr algn="ctr"/>
            <a:endParaRPr/>
          </a:p>
        </p:txBody>
      </p:sp>
      <p:sp>
        <p:nvSpPr>
          <p:cNvPr id="146" name="TextBox 145"/>
          <p:cNvSpPr txBox="1"/>
          <p:nvPr/>
        </p:nvSpPr>
        <p:spPr>
          <a:xfrm>
            <a:off x="612648" y="6382512"/>
            <a:ext cx="1005840" cy="402336"/>
          </a:xfrm>
          <a:prstGeom prst="rect">
            <a:avLst/>
          </a:prstGeom>
          <a:noFill/>
        </p:spPr>
        <p:txBody>
          <a:bodyPr wrap="square" lIns="0" tIns="0" rIns="0" bIns="0" rtlCol="0" anchor="t"/>
          <a:lstStyle/>
          <a:p>
            <a:pPr marL="0" indent="0" algn="l">
              <a:lnSpc>
                <a:spcPts val="945"/>
              </a:lnSpc>
              <a:buNone/>
            </a:pPr>
            <a:r>
              <a:rPr lang="en-US" sz="675" b="1" kern="0" spc="15" dirty="0">
                <a:solidFill>
                  <a:srgbClr val="D3AE84"/>
                </a:solidFill>
                <a:latin typeface="Quicksand" pitchFamily="34" charset="0"/>
              </a:rPr>
              <a:t>WHAT THE MARGINS SHOW</a:t>
            </a:r>
            <a:endParaRPr lang="en-US" sz="675" dirty="0"/>
          </a:p>
        </p:txBody>
      </p:sp>
      <p:sp>
        <p:nvSpPr>
          <p:cNvPr id="147" name="Rectangle 146"/>
          <p:cNvSpPr/>
          <p:nvPr/>
        </p:nvSpPr>
        <p:spPr>
          <a:xfrm>
            <a:off x="1773936" y="6345936"/>
            <a:ext cx="9144" cy="493776"/>
          </a:xfrm>
          <a:prstGeom prst="rect">
            <a:avLst/>
          </a:prstGeom>
          <a:solidFill>
            <a:srgbClr val="FFFFFF"/>
          </a:solidFill>
          <a:ln>
            <a:noFill/>
          </a:ln>
        </p:spPr>
        <p:txBody>
          <a:bodyPr rtlCol="0" anchor="ctr"/>
          <a:lstStyle/>
          <a:p>
            <a:pPr algn="ctr"/>
            <a:endParaRPr/>
          </a:p>
        </p:txBody>
      </p:sp>
      <p:sp>
        <p:nvSpPr>
          <p:cNvPr id="148" name="TextBox 147"/>
          <p:cNvSpPr txBox="1"/>
          <p:nvPr/>
        </p:nvSpPr>
        <p:spPr>
          <a:xfrm>
            <a:off x="195681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15.8%</a:t>
            </a:r>
            <a:endParaRPr lang="en-US" sz="1650" dirty="0"/>
          </a:p>
        </p:txBody>
      </p:sp>
      <p:sp>
        <p:nvSpPr>
          <p:cNvPr id="149" name="TextBox 148"/>
          <p:cNvSpPr txBox="1"/>
          <p:nvPr/>
        </p:nvSpPr>
        <p:spPr>
          <a:xfrm>
            <a:off x="195681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median EBITDA margin of the listed consumer companies</a:t>
            </a:r>
            <a:endParaRPr lang="en-US" sz="705" dirty="0"/>
          </a:p>
        </p:txBody>
      </p:sp>
      <p:sp>
        <p:nvSpPr>
          <p:cNvPr id="150" name="Rectangle 149"/>
          <p:cNvSpPr/>
          <p:nvPr/>
        </p:nvSpPr>
        <p:spPr>
          <a:xfrm>
            <a:off x="4471416" y="6345936"/>
            <a:ext cx="9144" cy="493776"/>
          </a:xfrm>
          <a:prstGeom prst="rect">
            <a:avLst/>
          </a:prstGeom>
          <a:solidFill>
            <a:srgbClr val="FFFFFF"/>
          </a:solidFill>
          <a:ln>
            <a:noFill/>
          </a:ln>
        </p:spPr>
        <p:txBody>
          <a:bodyPr rtlCol="0" anchor="ctr"/>
          <a:lstStyle/>
          <a:p>
            <a:pPr algn="ctr"/>
            <a:endParaRPr/>
          </a:p>
        </p:txBody>
      </p:sp>
      <p:sp>
        <p:nvSpPr>
          <p:cNvPr id="151" name="TextBox 150"/>
          <p:cNvSpPr txBox="1"/>
          <p:nvPr/>
        </p:nvSpPr>
        <p:spPr>
          <a:xfrm>
            <a:off x="465429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9.6%</a:t>
            </a:r>
            <a:endParaRPr lang="en-US" sz="1650" dirty="0"/>
          </a:p>
        </p:txBody>
      </p:sp>
      <p:sp>
        <p:nvSpPr>
          <p:cNvPr id="152" name="TextBox 151"/>
          <p:cNvSpPr txBox="1"/>
          <p:nvPr/>
        </p:nvSpPr>
        <p:spPr>
          <a:xfrm>
            <a:off x="465429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median free cash flow margin of the listed consumer companies</a:t>
            </a:r>
            <a:endParaRPr lang="en-US" sz="705" dirty="0"/>
          </a:p>
        </p:txBody>
      </p:sp>
      <p:sp>
        <p:nvSpPr>
          <p:cNvPr id="153" name="Rectangle 152"/>
          <p:cNvSpPr/>
          <p:nvPr/>
        </p:nvSpPr>
        <p:spPr>
          <a:xfrm>
            <a:off x="7168896" y="6345936"/>
            <a:ext cx="9144" cy="493776"/>
          </a:xfrm>
          <a:prstGeom prst="rect">
            <a:avLst/>
          </a:prstGeom>
          <a:solidFill>
            <a:srgbClr val="FFFFFF"/>
          </a:solidFill>
          <a:ln>
            <a:noFill/>
          </a:ln>
        </p:spPr>
        <p:txBody>
          <a:bodyPr rtlCol="0" anchor="ctr"/>
          <a:lstStyle/>
          <a:p>
            <a:pPr algn="ctr"/>
            <a:endParaRPr/>
          </a:p>
        </p:txBody>
      </p:sp>
      <p:sp>
        <p:nvSpPr>
          <p:cNvPr id="154" name="TextBox 153"/>
          <p:cNvSpPr txBox="1"/>
          <p:nvPr/>
        </p:nvSpPr>
        <p:spPr>
          <a:xfrm>
            <a:off x="735177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28 of 54</a:t>
            </a:r>
            <a:endParaRPr lang="en-US" sz="1650" dirty="0"/>
          </a:p>
        </p:txBody>
      </p:sp>
      <p:sp>
        <p:nvSpPr>
          <p:cNvPr id="155" name="TextBox 154"/>
          <p:cNvSpPr txBox="1"/>
          <p:nvPr/>
        </p:nvSpPr>
        <p:spPr>
          <a:xfrm>
            <a:off x="735177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listed consumer companies grew revenue more than 5% over the trailing twelve months</a:t>
            </a:r>
            <a:endParaRPr lang="en-US" sz="70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Earnings and Commentary</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Beverage, beauty, and platform companies grew fastest in their latest quarter, while General Mills and Campbell’s reported lower sales.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is net sales as reported for each company’s latest quarter, ended May to September 2026 (StockAnalysis, retrieved October 19, 2026), and includes acquisitions, divestitures, and currency; Keurig Dr Pepper includes JDE Peet’s. Organic growth for Hershey and Church &amp; Dwight is on page 5. Quotations are from each company’s earnings release.</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
        <p:nvSpPr>
          <p:cNvPr id="13" name="Rectangle 12"/>
          <p:cNvSpPr/>
          <p:nvPr/>
        </p:nvSpPr>
        <p:spPr>
          <a:xfrm>
            <a:off x="420624" y="1234440"/>
            <a:ext cx="3017520" cy="5696712"/>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3017520"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566928" y="1389888"/>
            <a:ext cx="2743200"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Net sales growth, latest quarter</a:t>
            </a:r>
            <a:endParaRPr lang="en-US" sz="938" dirty="0"/>
          </a:p>
        </p:txBody>
      </p:sp>
      <p:sp>
        <p:nvSpPr>
          <p:cNvPr id="16" name="TextBox 15"/>
          <p:cNvSpPr txBox="1"/>
          <p:nvPr/>
        </p:nvSpPr>
        <p:spPr>
          <a:xfrm>
            <a:off x="566928" y="1563624"/>
            <a:ext cx="2743200"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Year over year, as reported; selected companies</a:t>
            </a:r>
            <a:endParaRPr lang="en-US" sz="705" dirty="0"/>
          </a:p>
        </p:txBody>
      </p:sp>
      <p:sp>
        <p:nvSpPr>
          <p:cNvPr id="19" name="Rectangle 18"/>
          <p:cNvSpPr/>
          <p:nvPr/>
        </p:nvSpPr>
        <p:spPr>
          <a:xfrm>
            <a:off x="2505456" y="1792224"/>
            <a:ext cx="9144" cy="237744"/>
          </a:xfrm>
          <a:prstGeom prst="rect">
            <a:avLst/>
          </a:prstGeom>
          <a:solidFill>
            <a:srgbClr val="C3BDB6"/>
          </a:solidFill>
          <a:ln>
            <a:noFill/>
          </a:ln>
        </p:spPr>
        <p:txBody>
          <a:bodyPr rtlCol="0" anchor="ctr"/>
          <a:lstStyle/>
          <a:p>
            <a:pPr algn="ctr"/>
            <a:endParaRPr/>
          </a:p>
        </p:txBody>
      </p:sp>
      <p:sp>
        <p:nvSpPr>
          <p:cNvPr id="20" name="Rectangle 19"/>
          <p:cNvSpPr/>
          <p:nvPr/>
        </p:nvSpPr>
        <p:spPr>
          <a:xfrm>
            <a:off x="2514600" y="1856232"/>
            <a:ext cx="538993" cy="100584"/>
          </a:xfrm>
          <a:prstGeom prst="rect">
            <a:avLst/>
          </a:prstGeom>
          <a:solidFill>
            <a:srgbClr val="B68757"/>
          </a:solidFill>
          <a:ln>
            <a:noFill/>
          </a:ln>
        </p:spPr>
        <p:txBody>
          <a:bodyPr rtlCol="0" anchor="ctr"/>
          <a:lstStyle/>
          <a:p>
            <a:pPr algn="ctr"/>
            <a:endParaRPr/>
          </a:p>
        </p:txBody>
      </p:sp>
      <p:sp>
        <p:nvSpPr>
          <p:cNvPr id="21" name="TextBox 20"/>
          <p:cNvSpPr txBox="1"/>
          <p:nvPr/>
        </p:nvSpPr>
        <p:spPr>
          <a:xfrm>
            <a:off x="3099313" y="1828800"/>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+75.6%</a:t>
            </a:r>
            <a:endParaRPr lang="en-US" sz="730" dirty="0"/>
          </a:p>
        </p:txBody>
      </p:sp>
      <p:sp>
        <p:nvSpPr>
          <p:cNvPr id="23" name="TextBox 22"/>
          <p:cNvSpPr txBox="1"/>
          <p:nvPr/>
        </p:nvSpPr>
        <p:spPr>
          <a:xfrm>
            <a:off x="786384" y="2095805"/>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e.l.f. Beauty</a:t>
            </a:r>
            <a:endParaRPr lang="en-US" sz="740" dirty="0"/>
          </a:p>
        </p:txBody>
      </p:sp>
      <p:sp>
        <p:nvSpPr>
          <p:cNvPr id="24" name="Rectangle 23"/>
          <p:cNvSpPr/>
          <p:nvPr/>
        </p:nvSpPr>
        <p:spPr>
          <a:xfrm>
            <a:off x="2505456" y="2040941"/>
            <a:ext cx="9144" cy="237744"/>
          </a:xfrm>
          <a:prstGeom prst="rect">
            <a:avLst/>
          </a:prstGeom>
          <a:solidFill>
            <a:srgbClr val="C3BDB6"/>
          </a:solidFill>
          <a:ln>
            <a:noFill/>
          </a:ln>
        </p:spPr>
        <p:txBody>
          <a:bodyPr rtlCol="0" anchor="ctr"/>
          <a:lstStyle/>
          <a:p>
            <a:pPr algn="ctr"/>
            <a:endParaRPr/>
          </a:p>
        </p:txBody>
      </p:sp>
      <p:sp>
        <p:nvSpPr>
          <p:cNvPr id="25" name="Rectangle 24"/>
          <p:cNvSpPr/>
          <p:nvPr/>
        </p:nvSpPr>
        <p:spPr>
          <a:xfrm>
            <a:off x="2514600" y="2104949"/>
            <a:ext cx="253312" cy="100584"/>
          </a:xfrm>
          <a:prstGeom prst="rect">
            <a:avLst/>
          </a:prstGeom>
          <a:solidFill>
            <a:srgbClr val="B68757"/>
          </a:solidFill>
          <a:ln>
            <a:noFill/>
          </a:ln>
        </p:spPr>
        <p:txBody>
          <a:bodyPr rtlCol="0" anchor="ctr"/>
          <a:lstStyle/>
          <a:p>
            <a:pPr algn="ctr"/>
            <a:endParaRPr/>
          </a:p>
        </p:txBody>
      </p:sp>
      <p:sp>
        <p:nvSpPr>
          <p:cNvPr id="26" name="TextBox 25"/>
          <p:cNvSpPr txBox="1"/>
          <p:nvPr/>
        </p:nvSpPr>
        <p:spPr>
          <a:xfrm>
            <a:off x="2813632" y="2077517"/>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+35.5%</a:t>
            </a:r>
            <a:endParaRPr lang="en-US" sz="730" dirty="0"/>
          </a:p>
        </p:txBody>
      </p:sp>
      <p:sp>
        <p:nvSpPr>
          <p:cNvPr id="29" name="Rectangle 28"/>
          <p:cNvSpPr/>
          <p:nvPr/>
        </p:nvSpPr>
        <p:spPr>
          <a:xfrm>
            <a:off x="2505456" y="2289658"/>
            <a:ext cx="9144" cy="237744"/>
          </a:xfrm>
          <a:prstGeom prst="rect">
            <a:avLst/>
          </a:prstGeom>
          <a:solidFill>
            <a:srgbClr val="C3BDB6"/>
          </a:solidFill>
          <a:ln>
            <a:noFill/>
          </a:ln>
        </p:spPr>
        <p:txBody>
          <a:bodyPr rtlCol="0" anchor="ctr"/>
          <a:lstStyle/>
          <a:p>
            <a:pPr algn="ctr"/>
            <a:endParaRPr/>
          </a:p>
        </p:txBody>
      </p:sp>
      <p:sp>
        <p:nvSpPr>
          <p:cNvPr id="30" name="Rectangle 29"/>
          <p:cNvSpPr/>
          <p:nvPr/>
        </p:nvSpPr>
        <p:spPr>
          <a:xfrm>
            <a:off x="2514600" y="2353666"/>
            <a:ext cx="213168" cy="100584"/>
          </a:xfrm>
          <a:prstGeom prst="rect">
            <a:avLst/>
          </a:prstGeom>
          <a:solidFill>
            <a:srgbClr val="B68757"/>
          </a:solidFill>
          <a:ln>
            <a:noFill/>
          </a:ln>
        </p:spPr>
        <p:txBody>
          <a:bodyPr rtlCol="0" anchor="ctr"/>
          <a:lstStyle/>
          <a:p>
            <a:pPr algn="ctr"/>
            <a:endParaRPr/>
          </a:p>
        </p:txBody>
      </p:sp>
      <p:sp>
        <p:nvSpPr>
          <p:cNvPr id="31" name="TextBox 30"/>
          <p:cNvSpPr txBox="1"/>
          <p:nvPr/>
        </p:nvSpPr>
        <p:spPr>
          <a:xfrm>
            <a:off x="2773488" y="232623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+29.9%</a:t>
            </a:r>
            <a:endParaRPr lang="en-US" sz="730" dirty="0"/>
          </a:p>
        </p:txBody>
      </p:sp>
      <p:sp>
        <p:nvSpPr>
          <p:cNvPr id="33" name="TextBox 32"/>
          <p:cNvSpPr txBox="1"/>
          <p:nvPr/>
        </p:nvSpPr>
        <p:spPr>
          <a:xfrm>
            <a:off x="786384" y="2593238"/>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Monster Beverage</a:t>
            </a:r>
            <a:endParaRPr lang="en-US" sz="740" dirty="0"/>
          </a:p>
        </p:txBody>
      </p:sp>
      <p:sp>
        <p:nvSpPr>
          <p:cNvPr id="34" name="Rectangle 33"/>
          <p:cNvSpPr/>
          <p:nvPr/>
        </p:nvSpPr>
        <p:spPr>
          <a:xfrm>
            <a:off x="2505456" y="2538374"/>
            <a:ext cx="9144" cy="237744"/>
          </a:xfrm>
          <a:prstGeom prst="rect">
            <a:avLst/>
          </a:prstGeom>
          <a:solidFill>
            <a:srgbClr val="C3BDB6"/>
          </a:solidFill>
          <a:ln>
            <a:noFill/>
          </a:ln>
        </p:spPr>
        <p:txBody>
          <a:bodyPr rtlCol="0" anchor="ctr"/>
          <a:lstStyle/>
          <a:p>
            <a:pPr algn="ctr"/>
            <a:endParaRPr/>
          </a:p>
        </p:txBody>
      </p:sp>
      <p:sp>
        <p:nvSpPr>
          <p:cNvPr id="35" name="Rectangle 34"/>
          <p:cNvSpPr/>
          <p:nvPr/>
        </p:nvSpPr>
        <p:spPr>
          <a:xfrm>
            <a:off x="2514600" y="2602382"/>
            <a:ext cx="143849" cy="100584"/>
          </a:xfrm>
          <a:prstGeom prst="rect">
            <a:avLst/>
          </a:prstGeom>
          <a:solidFill>
            <a:srgbClr val="B68757"/>
          </a:solidFill>
          <a:ln>
            <a:noFill/>
          </a:ln>
        </p:spPr>
        <p:txBody>
          <a:bodyPr rtlCol="0" anchor="ctr"/>
          <a:lstStyle/>
          <a:p>
            <a:pPr algn="ctr"/>
            <a:endParaRPr/>
          </a:p>
        </p:txBody>
      </p:sp>
      <p:sp>
        <p:nvSpPr>
          <p:cNvPr id="36" name="TextBox 35"/>
          <p:cNvSpPr txBox="1"/>
          <p:nvPr/>
        </p:nvSpPr>
        <p:spPr>
          <a:xfrm>
            <a:off x="2704169" y="2574950"/>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+20.2%</a:t>
            </a:r>
            <a:endParaRPr lang="en-US" sz="730" dirty="0"/>
          </a:p>
        </p:txBody>
      </p:sp>
      <p:sp>
        <p:nvSpPr>
          <p:cNvPr id="38" name="TextBox 37"/>
          <p:cNvSpPr txBox="1"/>
          <p:nvPr/>
        </p:nvSpPr>
        <p:spPr>
          <a:xfrm>
            <a:off x="786384" y="2841955"/>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McCormick</a:t>
            </a:r>
            <a:endParaRPr lang="en-US" sz="740" dirty="0"/>
          </a:p>
        </p:txBody>
      </p:sp>
      <p:sp>
        <p:nvSpPr>
          <p:cNvPr id="39" name="Rectangle 38"/>
          <p:cNvSpPr/>
          <p:nvPr/>
        </p:nvSpPr>
        <p:spPr>
          <a:xfrm>
            <a:off x="2505456" y="2787091"/>
            <a:ext cx="9144" cy="237744"/>
          </a:xfrm>
          <a:prstGeom prst="rect">
            <a:avLst/>
          </a:prstGeom>
          <a:solidFill>
            <a:srgbClr val="C3BDB6"/>
          </a:solidFill>
          <a:ln>
            <a:noFill/>
          </a:ln>
        </p:spPr>
        <p:txBody>
          <a:bodyPr rtlCol="0" anchor="ctr"/>
          <a:lstStyle/>
          <a:p>
            <a:pPr algn="ctr"/>
            <a:endParaRPr/>
          </a:p>
        </p:txBody>
      </p:sp>
      <p:sp>
        <p:nvSpPr>
          <p:cNvPr id="40" name="Rectangle 39"/>
          <p:cNvSpPr/>
          <p:nvPr/>
        </p:nvSpPr>
        <p:spPr>
          <a:xfrm>
            <a:off x="2514600" y="2851099"/>
            <a:ext cx="124006" cy="100584"/>
          </a:xfrm>
          <a:prstGeom prst="rect">
            <a:avLst/>
          </a:prstGeom>
          <a:solidFill>
            <a:srgbClr val="B68757"/>
          </a:solidFill>
          <a:ln>
            <a:noFill/>
          </a:ln>
        </p:spPr>
        <p:txBody>
          <a:bodyPr rtlCol="0" anchor="ctr"/>
          <a:lstStyle/>
          <a:p>
            <a:pPr algn="ctr"/>
            <a:endParaRPr/>
          </a:p>
        </p:txBody>
      </p:sp>
      <p:sp>
        <p:nvSpPr>
          <p:cNvPr id="41" name="TextBox 40"/>
          <p:cNvSpPr txBox="1"/>
          <p:nvPr/>
        </p:nvSpPr>
        <p:spPr>
          <a:xfrm>
            <a:off x="2684326" y="2823667"/>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+17.4%</a:t>
            </a:r>
            <a:endParaRPr lang="en-US" sz="730" dirty="0"/>
          </a:p>
        </p:txBody>
      </p:sp>
      <p:pic>
        <p:nvPicPr>
          <p:cNvPr id="42" name="Picture 41" descr="Chefs' Warehouse logo"/>
          <p:cNvPicPr>
            <a:picLocks noChangeAspect="1"/>
          </p:cNvPicPr>
          <p:nvPr/>
        </p:nvPicPr>
        <p:blipFill>
          <a:blip r:embed="rId3"/>
          <a:stretch>
            <a:fillRect/>
          </a:stretch>
        </p:blipFill>
        <p:spPr>
          <a:xfrm>
            <a:off x="548640" y="3063240"/>
            <a:ext cx="173736" cy="173736"/>
          </a:xfrm>
          <a:prstGeom prst="rect">
            <a:avLst/>
          </a:prstGeom>
        </p:spPr>
      </p:pic>
      <p:sp>
        <p:nvSpPr>
          <p:cNvPr id="43" name="TextBox 42"/>
          <p:cNvSpPr txBox="1"/>
          <p:nvPr/>
        </p:nvSpPr>
        <p:spPr>
          <a:xfrm>
            <a:off x="786384" y="3090672"/>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Chefs' Warehouse</a:t>
            </a:r>
            <a:endParaRPr lang="en-US" sz="740" dirty="0"/>
          </a:p>
        </p:txBody>
      </p:sp>
      <p:sp>
        <p:nvSpPr>
          <p:cNvPr id="44" name="Rectangle 43"/>
          <p:cNvSpPr/>
          <p:nvPr/>
        </p:nvSpPr>
        <p:spPr>
          <a:xfrm>
            <a:off x="2505456" y="3035808"/>
            <a:ext cx="9144" cy="237744"/>
          </a:xfrm>
          <a:prstGeom prst="rect">
            <a:avLst/>
          </a:prstGeom>
          <a:solidFill>
            <a:srgbClr val="C3BDB6"/>
          </a:solidFill>
          <a:ln>
            <a:noFill/>
          </a:ln>
        </p:spPr>
        <p:txBody>
          <a:bodyPr rtlCol="0" anchor="ctr"/>
          <a:lstStyle/>
          <a:p>
            <a:pPr algn="ctr"/>
            <a:endParaRPr/>
          </a:p>
        </p:txBody>
      </p:sp>
      <p:sp>
        <p:nvSpPr>
          <p:cNvPr id="45" name="Rectangle 44"/>
          <p:cNvSpPr/>
          <p:nvPr/>
        </p:nvSpPr>
        <p:spPr>
          <a:xfrm>
            <a:off x="2514600" y="3099816"/>
            <a:ext cx="92148" cy="100584"/>
          </a:xfrm>
          <a:prstGeom prst="rect">
            <a:avLst/>
          </a:prstGeom>
          <a:solidFill>
            <a:srgbClr val="B68757"/>
          </a:solidFill>
          <a:ln>
            <a:noFill/>
          </a:ln>
        </p:spPr>
        <p:txBody>
          <a:bodyPr rtlCol="0" anchor="ctr"/>
          <a:lstStyle/>
          <a:p>
            <a:pPr algn="ctr"/>
            <a:endParaRPr/>
          </a:p>
        </p:txBody>
      </p:sp>
      <p:sp>
        <p:nvSpPr>
          <p:cNvPr id="46" name="TextBox 45"/>
          <p:cNvSpPr txBox="1"/>
          <p:nvPr/>
        </p:nvSpPr>
        <p:spPr>
          <a:xfrm>
            <a:off x="2652468" y="307238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+12.9%</a:t>
            </a:r>
            <a:endParaRPr lang="en-US" sz="730" dirty="0"/>
          </a:p>
        </p:txBody>
      </p:sp>
      <p:sp>
        <p:nvSpPr>
          <p:cNvPr id="48" name="TextBox 47"/>
          <p:cNvSpPr txBox="1"/>
          <p:nvPr/>
        </p:nvSpPr>
        <p:spPr>
          <a:xfrm>
            <a:off x="786384" y="3339389"/>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Texas Roadhouse</a:t>
            </a:r>
            <a:endParaRPr lang="en-US" sz="740" dirty="0"/>
          </a:p>
        </p:txBody>
      </p:sp>
      <p:sp>
        <p:nvSpPr>
          <p:cNvPr id="49" name="Rectangle 48"/>
          <p:cNvSpPr/>
          <p:nvPr/>
        </p:nvSpPr>
        <p:spPr>
          <a:xfrm>
            <a:off x="2505456" y="3284525"/>
            <a:ext cx="9144" cy="237744"/>
          </a:xfrm>
          <a:prstGeom prst="rect">
            <a:avLst/>
          </a:prstGeom>
          <a:solidFill>
            <a:srgbClr val="C3BDB6"/>
          </a:solidFill>
          <a:ln>
            <a:noFill/>
          </a:ln>
        </p:spPr>
        <p:txBody>
          <a:bodyPr rtlCol="0" anchor="ctr"/>
          <a:lstStyle/>
          <a:p>
            <a:pPr algn="ctr"/>
            <a:endParaRPr/>
          </a:p>
        </p:txBody>
      </p:sp>
      <p:sp>
        <p:nvSpPr>
          <p:cNvPr id="50" name="Rectangle 49"/>
          <p:cNvSpPr/>
          <p:nvPr/>
        </p:nvSpPr>
        <p:spPr>
          <a:xfrm>
            <a:off x="2514600" y="3348533"/>
            <a:ext cx="79208" cy="100584"/>
          </a:xfrm>
          <a:prstGeom prst="rect">
            <a:avLst/>
          </a:prstGeom>
          <a:solidFill>
            <a:srgbClr val="B68757"/>
          </a:solidFill>
          <a:ln>
            <a:noFill/>
          </a:ln>
        </p:spPr>
        <p:txBody>
          <a:bodyPr rtlCol="0" anchor="ctr"/>
          <a:lstStyle/>
          <a:p>
            <a:pPr algn="ctr"/>
            <a:endParaRPr/>
          </a:p>
        </p:txBody>
      </p:sp>
      <p:sp>
        <p:nvSpPr>
          <p:cNvPr id="51" name="TextBox 50"/>
          <p:cNvSpPr txBox="1"/>
          <p:nvPr/>
        </p:nvSpPr>
        <p:spPr>
          <a:xfrm>
            <a:off x="2639528" y="3321101"/>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+11.1%</a:t>
            </a:r>
            <a:endParaRPr lang="en-US" sz="730" dirty="0"/>
          </a:p>
        </p:txBody>
      </p:sp>
      <p:sp>
        <p:nvSpPr>
          <p:cNvPr id="53" name="Rectangle 52"/>
          <p:cNvSpPr/>
          <p:nvPr/>
        </p:nvSpPr>
        <p:spPr>
          <a:xfrm>
            <a:off x="2505456" y="3533242"/>
            <a:ext cx="9144" cy="237744"/>
          </a:xfrm>
          <a:prstGeom prst="rect">
            <a:avLst/>
          </a:prstGeom>
          <a:solidFill>
            <a:srgbClr val="C3BDB6"/>
          </a:solidFill>
          <a:ln>
            <a:noFill/>
          </a:ln>
        </p:spPr>
        <p:txBody>
          <a:bodyPr rtlCol="0" anchor="ctr"/>
          <a:lstStyle/>
          <a:p>
            <a:pPr algn="ctr"/>
            <a:endParaRPr/>
          </a:p>
        </p:txBody>
      </p:sp>
      <p:sp>
        <p:nvSpPr>
          <p:cNvPr id="54" name="Rectangle 53"/>
          <p:cNvSpPr/>
          <p:nvPr/>
        </p:nvSpPr>
        <p:spPr>
          <a:xfrm>
            <a:off x="2514600" y="3597250"/>
            <a:ext cx="79199" cy="100584"/>
          </a:xfrm>
          <a:prstGeom prst="rect">
            <a:avLst/>
          </a:prstGeom>
          <a:solidFill>
            <a:srgbClr val="B68757"/>
          </a:solidFill>
          <a:ln>
            <a:noFill/>
          </a:ln>
        </p:spPr>
        <p:txBody>
          <a:bodyPr rtlCol="0" anchor="ctr"/>
          <a:lstStyle/>
          <a:p>
            <a:pPr algn="ctr"/>
            <a:endParaRPr/>
          </a:p>
        </p:txBody>
      </p:sp>
      <p:sp>
        <p:nvSpPr>
          <p:cNvPr id="55" name="TextBox 54"/>
          <p:cNvSpPr txBox="1"/>
          <p:nvPr/>
        </p:nvSpPr>
        <p:spPr>
          <a:xfrm>
            <a:off x="2639519" y="356981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+11.1%</a:t>
            </a:r>
            <a:endParaRPr lang="en-US" sz="730" dirty="0"/>
          </a:p>
        </p:txBody>
      </p:sp>
      <p:sp>
        <p:nvSpPr>
          <p:cNvPr id="57" name="TextBox 56"/>
          <p:cNvSpPr txBox="1"/>
          <p:nvPr/>
        </p:nvSpPr>
        <p:spPr>
          <a:xfrm>
            <a:off x="786384" y="3836822"/>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Mattel</a:t>
            </a:r>
            <a:endParaRPr lang="en-US" sz="740" dirty="0"/>
          </a:p>
        </p:txBody>
      </p:sp>
      <p:sp>
        <p:nvSpPr>
          <p:cNvPr id="58" name="Rectangle 57"/>
          <p:cNvSpPr/>
          <p:nvPr/>
        </p:nvSpPr>
        <p:spPr>
          <a:xfrm>
            <a:off x="2505456" y="3781958"/>
            <a:ext cx="9144" cy="237744"/>
          </a:xfrm>
          <a:prstGeom prst="rect">
            <a:avLst/>
          </a:prstGeom>
          <a:solidFill>
            <a:srgbClr val="C3BDB6"/>
          </a:solidFill>
          <a:ln>
            <a:noFill/>
          </a:ln>
        </p:spPr>
        <p:txBody>
          <a:bodyPr rtlCol="0" anchor="ctr"/>
          <a:lstStyle/>
          <a:p>
            <a:pPr algn="ctr"/>
            <a:endParaRPr/>
          </a:p>
        </p:txBody>
      </p:sp>
      <p:sp>
        <p:nvSpPr>
          <p:cNvPr id="59" name="Rectangle 58"/>
          <p:cNvSpPr/>
          <p:nvPr/>
        </p:nvSpPr>
        <p:spPr>
          <a:xfrm>
            <a:off x="2514600" y="3845966"/>
            <a:ext cx="74760" cy="100584"/>
          </a:xfrm>
          <a:prstGeom prst="rect">
            <a:avLst/>
          </a:prstGeom>
          <a:solidFill>
            <a:srgbClr val="B68757"/>
          </a:solidFill>
          <a:ln>
            <a:noFill/>
          </a:ln>
        </p:spPr>
        <p:txBody>
          <a:bodyPr rtlCol="0" anchor="ctr"/>
          <a:lstStyle/>
          <a:p>
            <a:pPr algn="ctr"/>
            <a:endParaRPr/>
          </a:p>
        </p:txBody>
      </p:sp>
      <p:sp>
        <p:nvSpPr>
          <p:cNvPr id="60" name="TextBox 59"/>
          <p:cNvSpPr txBox="1"/>
          <p:nvPr/>
        </p:nvSpPr>
        <p:spPr>
          <a:xfrm>
            <a:off x="2635080" y="381853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+10.5%</a:t>
            </a:r>
            <a:endParaRPr lang="en-US" sz="730" dirty="0"/>
          </a:p>
        </p:txBody>
      </p:sp>
      <p:sp>
        <p:nvSpPr>
          <p:cNvPr id="63" name="Rectangle 62"/>
          <p:cNvSpPr/>
          <p:nvPr/>
        </p:nvSpPr>
        <p:spPr>
          <a:xfrm>
            <a:off x="2505456" y="4030675"/>
            <a:ext cx="9144" cy="237744"/>
          </a:xfrm>
          <a:prstGeom prst="rect">
            <a:avLst/>
          </a:prstGeom>
          <a:solidFill>
            <a:srgbClr val="C3BDB6"/>
          </a:solidFill>
          <a:ln>
            <a:noFill/>
          </a:ln>
        </p:spPr>
        <p:txBody>
          <a:bodyPr rtlCol="0" anchor="ctr"/>
          <a:lstStyle/>
          <a:p>
            <a:pPr algn="ctr"/>
            <a:endParaRPr/>
          </a:p>
        </p:txBody>
      </p:sp>
      <p:sp>
        <p:nvSpPr>
          <p:cNvPr id="64" name="Rectangle 63"/>
          <p:cNvSpPr/>
          <p:nvPr/>
        </p:nvSpPr>
        <p:spPr>
          <a:xfrm>
            <a:off x="2514600" y="4094683"/>
            <a:ext cx="60745" cy="100584"/>
          </a:xfrm>
          <a:prstGeom prst="rect">
            <a:avLst/>
          </a:prstGeom>
          <a:solidFill>
            <a:srgbClr val="B68757"/>
          </a:solidFill>
          <a:ln>
            <a:noFill/>
          </a:ln>
        </p:spPr>
        <p:txBody>
          <a:bodyPr rtlCol="0" anchor="ctr"/>
          <a:lstStyle/>
          <a:p>
            <a:pPr algn="ctr"/>
            <a:endParaRPr/>
          </a:p>
        </p:txBody>
      </p:sp>
      <p:sp>
        <p:nvSpPr>
          <p:cNvPr id="65" name="TextBox 64"/>
          <p:cNvSpPr txBox="1"/>
          <p:nvPr/>
        </p:nvSpPr>
        <p:spPr>
          <a:xfrm>
            <a:off x="2621065" y="4067251"/>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+8.5%</a:t>
            </a:r>
            <a:endParaRPr lang="en-US" sz="730" dirty="0"/>
          </a:p>
        </p:txBody>
      </p:sp>
      <p:sp>
        <p:nvSpPr>
          <p:cNvPr id="68" name="Rectangle 67"/>
          <p:cNvSpPr/>
          <p:nvPr/>
        </p:nvSpPr>
        <p:spPr>
          <a:xfrm>
            <a:off x="2505456" y="4279392"/>
            <a:ext cx="9144" cy="237744"/>
          </a:xfrm>
          <a:prstGeom prst="rect">
            <a:avLst/>
          </a:prstGeom>
          <a:solidFill>
            <a:srgbClr val="C3BDB6"/>
          </a:solidFill>
          <a:ln>
            <a:noFill/>
          </a:ln>
        </p:spPr>
        <p:txBody>
          <a:bodyPr rtlCol="0" anchor="ctr"/>
          <a:lstStyle/>
          <a:p>
            <a:pPr algn="ctr"/>
            <a:endParaRPr/>
          </a:p>
        </p:txBody>
      </p:sp>
      <p:sp>
        <p:nvSpPr>
          <p:cNvPr id="69" name="Rectangle 68"/>
          <p:cNvSpPr/>
          <p:nvPr/>
        </p:nvSpPr>
        <p:spPr>
          <a:xfrm>
            <a:off x="2514600" y="4343400"/>
            <a:ext cx="56407" cy="100584"/>
          </a:xfrm>
          <a:prstGeom prst="rect">
            <a:avLst/>
          </a:prstGeom>
          <a:solidFill>
            <a:srgbClr val="B68757"/>
          </a:solidFill>
          <a:ln>
            <a:noFill/>
          </a:ln>
        </p:spPr>
        <p:txBody>
          <a:bodyPr rtlCol="0" anchor="ctr"/>
          <a:lstStyle/>
          <a:p>
            <a:pPr algn="ctr"/>
            <a:endParaRPr/>
          </a:p>
        </p:txBody>
      </p:sp>
      <p:sp>
        <p:nvSpPr>
          <p:cNvPr id="70" name="TextBox 69"/>
          <p:cNvSpPr txBox="1"/>
          <p:nvPr/>
        </p:nvSpPr>
        <p:spPr>
          <a:xfrm>
            <a:off x="2616727" y="431596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+7.9%</a:t>
            </a:r>
            <a:endParaRPr lang="en-US" sz="730" dirty="0"/>
          </a:p>
        </p:txBody>
      </p:sp>
      <p:sp>
        <p:nvSpPr>
          <p:cNvPr id="72" name="Rectangle 71"/>
          <p:cNvSpPr/>
          <p:nvPr/>
        </p:nvSpPr>
        <p:spPr>
          <a:xfrm>
            <a:off x="2505456" y="4528109"/>
            <a:ext cx="9144" cy="237744"/>
          </a:xfrm>
          <a:prstGeom prst="rect">
            <a:avLst/>
          </a:prstGeom>
          <a:solidFill>
            <a:srgbClr val="C3BDB6"/>
          </a:solidFill>
          <a:ln>
            <a:noFill/>
          </a:ln>
        </p:spPr>
        <p:txBody>
          <a:bodyPr rtlCol="0" anchor="ctr"/>
          <a:lstStyle/>
          <a:p>
            <a:pPr algn="ctr"/>
            <a:endParaRPr/>
          </a:p>
        </p:txBody>
      </p:sp>
      <p:sp>
        <p:nvSpPr>
          <p:cNvPr id="73" name="Rectangle 72"/>
          <p:cNvSpPr/>
          <p:nvPr/>
        </p:nvSpPr>
        <p:spPr>
          <a:xfrm>
            <a:off x="2514600" y="4592117"/>
            <a:ext cx="52153" cy="100584"/>
          </a:xfrm>
          <a:prstGeom prst="rect">
            <a:avLst/>
          </a:prstGeom>
          <a:solidFill>
            <a:srgbClr val="B68757"/>
          </a:solidFill>
          <a:ln>
            <a:noFill/>
          </a:ln>
        </p:spPr>
        <p:txBody>
          <a:bodyPr rtlCol="0" anchor="ctr"/>
          <a:lstStyle/>
          <a:p>
            <a:pPr algn="ctr"/>
            <a:endParaRPr/>
          </a:p>
        </p:txBody>
      </p:sp>
      <p:sp>
        <p:nvSpPr>
          <p:cNvPr id="74" name="TextBox 73"/>
          <p:cNvSpPr txBox="1"/>
          <p:nvPr/>
        </p:nvSpPr>
        <p:spPr>
          <a:xfrm>
            <a:off x="2612473" y="4564685"/>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+7.3%</a:t>
            </a:r>
            <a:endParaRPr lang="en-US" sz="730" dirty="0"/>
          </a:p>
        </p:txBody>
      </p:sp>
      <p:sp>
        <p:nvSpPr>
          <p:cNvPr id="77" name="Rectangle 76"/>
          <p:cNvSpPr/>
          <p:nvPr/>
        </p:nvSpPr>
        <p:spPr>
          <a:xfrm>
            <a:off x="2505456" y="4776826"/>
            <a:ext cx="9144" cy="237744"/>
          </a:xfrm>
          <a:prstGeom prst="rect">
            <a:avLst/>
          </a:prstGeom>
          <a:solidFill>
            <a:srgbClr val="C3BDB6"/>
          </a:solidFill>
          <a:ln>
            <a:noFill/>
          </a:ln>
        </p:spPr>
        <p:txBody>
          <a:bodyPr rtlCol="0" anchor="ctr"/>
          <a:lstStyle/>
          <a:p>
            <a:pPr algn="ctr"/>
            <a:endParaRPr/>
          </a:p>
        </p:txBody>
      </p:sp>
      <p:sp>
        <p:nvSpPr>
          <p:cNvPr id="78" name="Rectangle 77"/>
          <p:cNvSpPr/>
          <p:nvPr/>
        </p:nvSpPr>
        <p:spPr>
          <a:xfrm>
            <a:off x="2514600" y="4840834"/>
            <a:ext cx="47078" cy="100584"/>
          </a:xfrm>
          <a:prstGeom prst="rect">
            <a:avLst/>
          </a:prstGeom>
          <a:solidFill>
            <a:srgbClr val="B68757"/>
          </a:solidFill>
          <a:ln>
            <a:noFill/>
          </a:ln>
        </p:spPr>
        <p:txBody>
          <a:bodyPr rtlCol="0" anchor="ctr"/>
          <a:lstStyle/>
          <a:p>
            <a:pPr algn="ctr"/>
            <a:endParaRPr/>
          </a:p>
        </p:txBody>
      </p:sp>
      <p:sp>
        <p:nvSpPr>
          <p:cNvPr id="79" name="TextBox 78"/>
          <p:cNvSpPr txBox="1"/>
          <p:nvPr/>
        </p:nvSpPr>
        <p:spPr>
          <a:xfrm>
            <a:off x="2607398" y="4813402"/>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+6.6%</a:t>
            </a:r>
            <a:endParaRPr lang="en-US" sz="730" dirty="0"/>
          </a:p>
        </p:txBody>
      </p:sp>
      <p:sp>
        <p:nvSpPr>
          <p:cNvPr id="82" name="Rectangle 81"/>
          <p:cNvSpPr/>
          <p:nvPr/>
        </p:nvSpPr>
        <p:spPr>
          <a:xfrm>
            <a:off x="2505456" y="5025542"/>
            <a:ext cx="9144" cy="237744"/>
          </a:xfrm>
          <a:prstGeom prst="rect">
            <a:avLst/>
          </a:prstGeom>
          <a:solidFill>
            <a:srgbClr val="C3BDB6"/>
          </a:solidFill>
          <a:ln>
            <a:noFill/>
          </a:ln>
        </p:spPr>
        <p:txBody>
          <a:bodyPr rtlCol="0" anchor="ctr"/>
          <a:lstStyle/>
          <a:p>
            <a:pPr algn="ctr"/>
            <a:endParaRPr/>
          </a:p>
        </p:txBody>
      </p:sp>
      <p:sp>
        <p:nvSpPr>
          <p:cNvPr id="83" name="Rectangle 82"/>
          <p:cNvSpPr/>
          <p:nvPr/>
        </p:nvSpPr>
        <p:spPr>
          <a:xfrm>
            <a:off x="2514600" y="5089550"/>
            <a:ext cx="42355" cy="100584"/>
          </a:xfrm>
          <a:prstGeom prst="rect">
            <a:avLst/>
          </a:prstGeom>
          <a:solidFill>
            <a:srgbClr val="B68757"/>
          </a:solidFill>
          <a:ln>
            <a:noFill/>
          </a:ln>
        </p:spPr>
        <p:txBody>
          <a:bodyPr rtlCol="0" anchor="ctr"/>
          <a:lstStyle/>
          <a:p>
            <a:pPr algn="ctr"/>
            <a:endParaRPr/>
          </a:p>
        </p:txBody>
      </p:sp>
      <p:sp>
        <p:nvSpPr>
          <p:cNvPr id="84" name="TextBox 83"/>
          <p:cNvSpPr txBox="1"/>
          <p:nvPr/>
        </p:nvSpPr>
        <p:spPr>
          <a:xfrm>
            <a:off x="2602675" y="506211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+5.9%</a:t>
            </a:r>
            <a:endParaRPr lang="en-US" sz="730" dirty="0"/>
          </a:p>
        </p:txBody>
      </p:sp>
      <p:sp>
        <p:nvSpPr>
          <p:cNvPr id="87" name="Rectangle 86"/>
          <p:cNvSpPr/>
          <p:nvPr/>
        </p:nvSpPr>
        <p:spPr>
          <a:xfrm>
            <a:off x="2505456" y="5274259"/>
            <a:ext cx="9144" cy="237744"/>
          </a:xfrm>
          <a:prstGeom prst="rect">
            <a:avLst/>
          </a:prstGeom>
          <a:solidFill>
            <a:srgbClr val="C3BDB6"/>
          </a:solidFill>
          <a:ln>
            <a:noFill/>
          </a:ln>
        </p:spPr>
        <p:txBody>
          <a:bodyPr rtlCol="0" anchor="ctr"/>
          <a:lstStyle/>
          <a:p>
            <a:pPr algn="ctr"/>
            <a:endParaRPr/>
          </a:p>
        </p:txBody>
      </p:sp>
      <p:sp>
        <p:nvSpPr>
          <p:cNvPr id="88" name="Rectangle 87"/>
          <p:cNvSpPr/>
          <p:nvPr/>
        </p:nvSpPr>
        <p:spPr>
          <a:xfrm>
            <a:off x="2514600" y="5338267"/>
            <a:ext cx="33269" cy="100584"/>
          </a:xfrm>
          <a:prstGeom prst="rect">
            <a:avLst/>
          </a:prstGeom>
          <a:solidFill>
            <a:srgbClr val="B68757"/>
          </a:solidFill>
          <a:ln>
            <a:noFill/>
          </a:ln>
        </p:spPr>
        <p:txBody>
          <a:bodyPr rtlCol="0" anchor="ctr"/>
          <a:lstStyle/>
          <a:p>
            <a:pPr algn="ctr"/>
            <a:endParaRPr/>
          </a:p>
        </p:txBody>
      </p:sp>
      <p:sp>
        <p:nvSpPr>
          <p:cNvPr id="89" name="TextBox 88"/>
          <p:cNvSpPr txBox="1"/>
          <p:nvPr/>
        </p:nvSpPr>
        <p:spPr>
          <a:xfrm>
            <a:off x="2593589" y="5310835"/>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+4.7%</a:t>
            </a:r>
            <a:endParaRPr lang="en-US" sz="730" dirty="0"/>
          </a:p>
        </p:txBody>
      </p:sp>
      <p:sp>
        <p:nvSpPr>
          <p:cNvPr id="90" name="TextBox 89"/>
          <p:cNvSpPr txBox="1"/>
          <p:nvPr/>
        </p:nvSpPr>
        <p:spPr>
          <a:xfrm>
            <a:off x="786384" y="5577840"/>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Church &amp; Dwight</a:t>
            </a:r>
            <a:endParaRPr lang="en-US" sz="740" dirty="0"/>
          </a:p>
        </p:txBody>
      </p:sp>
      <p:sp>
        <p:nvSpPr>
          <p:cNvPr id="91" name="Rectangle 90"/>
          <p:cNvSpPr/>
          <p:nvPr/>
        </p:nvSpPr>
        <p:spPr>
          <a:xfrm>
            <a:off x="2505456" y="5522976"/>
            <a:ext cx="9144" cy="237744"/>
          </a:xfrm>
          <a:prstGeom prst="rect">
            <a:avLst/>
          </a:prstGeom>
          <a:solidFill>
            <a:srgbClr val="C3BDB6"/>
          </a:solidFill>
          <a:ln>
            <a:noFill/>
          </a:ln>
        </p:spPr>
        <p:txBody>
          <a:bodyPr rtlCol="0" anchor="ctr"/>
          <a:lstStyle/>
          <a:p>
            <a:pPr algn="ctr"/>
            <a:endParaRPr/>
          </a:p>
        </p:txBody>
      </p:sp>
      <p:sp>
        <p:nvSpPr>
          <p:cNvPr id="92" name="Rectangle 91"/>
          <p:cNvSpPr/>
          <p:nvPr/>
        </p:nvSpPr>
        <p:spPr>
          <a:xfrm>
            <a:off x="2514600" y="5586984"/>
            <a:ext cx="11222" cy="100584"/>
          </a:xfrm>
          <a:prstGeom prst="rect">
            <a:avLst/>
          </a:prstGeom>
          <a:solidFill>
            <a:srgbClr val="B68757"/>
          </a:solidFill>
          <a:ln>
            <a:noFill/>
          </a:ln>
        </p:spPr>
        <p:txBody>
          <a:bodyPr rtlCol="0" anchor="ctr"/>
          <a:lstStyle/>
          <a:p>
            <a:pPr algn="ctr"/>
            <a:endParaRPr/>
          </a:p>
        </p:txBody>
      </p:sp>
      <p:sp>
        <p:nvSpPr>
          <p:cNvPr id="93" name="TextBox 92"/>
          <p:cNvSpPr txBox="1"/>
          <p:nvPr/>
        </p:nvSpPr>
        <p:spPr>
          <a:xfrm>
            <a:off x="2571542" y="5559552"/>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+1.6%</a:t>
            </a:r>
            <a:endParaRPr lang="en-US" sz="730" dirty="0"/>
          </a:p>
        </p:txBody>
      </p:sp>
      <p:sp>
        <p:nvSpPr>
          <p:cNvPr id="95" name="TextBox 94"/>
          <p:cNvSpPr txBox="1"/>
          <p:nvPr/>
        </p:nvSpPr>
        <p:spPr>
          <a:xfrm>
            <a:off x="786384" y="5826557"/>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General Mills</a:t>
            </a:r>
            <a:endParaRPr lang="en-US" sz="740" dirty="0"/>
          </a:p>
        </p:txBody>
      </p:sp>
      <p:sp>
        <p:nvSpPr>
          <p:cNvPr id="96" name="Rectangle 95"/>
          <p:cNvSpPr/>
          <p:nvPr/>
        </p:nvSpPr>
        <p:spPr>
          <a:xfrm>
            <a:off x="2505456" y="5771693"/>
            <a:ext cx="9144" cy="237744"/>
          </a:xfrm>
          <a:prstGeom prst="rect">
            <a:avLst/>
          </a:prstGeom>
          <a:solidFill>
            <a:srgbClr val="C3BDB6"/>
          </a:solidFill>
          <a:ln>
            <a:noFill/>
          </a:ln>
        </p:spPr>
        <p:txBody>
          <a:bodyPr rtlCol="0" anchor="ctr"/>
          <a:lstStyle/>
          <a:p>
            <a:pPr algn="ctr"/>
            <a:endParaRPr/>
          </a:p>
        </p:txBody>
      </p:sp>
      <p:sp>
        <p:nvSpPr>
          <p:cNvPr id="97" name="Rectangle 96"/>
          <p:cNvSpPr/>
          <p:nvPr/>
        </p:nvSpPr>
        <p:spPr>
          <a:xfrm>
            <a:off x="2494391" y="5835701"/>
            <a:ext cx="20209" cy="100584"/>
          </a:xfrm>
          <a:prstGeom prst="rect">
            <a:avLst/>
          </a:prstGeom>
          <a:solidFill>
            <a:srgbClr val="8C6239"/>
          </a:solidFill>
          <a:ln>
            <a:noFill/>
          </a:ln>
        </p:spPr>
        <p:txBody>
          <a:bodyPr rtlCol="0" anchor="ctr"/>
          <a:lstStyle/>
          <a:p>
            <a:pPr algn="ctr"/>
            <a:endParaRPr/>
          </a:p>
        </p:txBody>
      </p:sp>
      <p:sp>
        <p:nvSpPr>
          <p:cNvPr id="98" name="TextBox 97"/>
          <p:cNvSpPr txBox="1"/>
          <p:nvPr/>
        </p:nvSpPr>
        <p:spPr>
          <a:xfrm>
            <a:off x="2569464" y="5808269"/>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−2.8%</a:t>
            </a:r>
            <a:endParaRPr lang="en-US" sz="730" dirty="0"/>
          </a:p>
        </p:txBody>
      </p:sp>
      <p:sp>
        <p:nvSpPr>
          <p:cNvPr id="101" name="Rectangle 100"/>
          <p:cNvSpPr/>
          <p:nvPr/>
        </p:nvSpPr>
        <p:spPr>
          <a:xfrm>
            <a:off x="2505456" y="6020410"/>
            <a:ext cx="9144" cy="237744"/>
          </a:xfrm>
          <a:prstGeom prst="rect">
            <a:avLst/>
          </a:prstGeom>
          <a:solidFill>
            <a:srgbClr val="C3BDB6"/>
          </a:solidFill>
          <a:ln>
            <a:noFill/>
          </a:ln>
        </p:spPr>
        <p:txBody>
          <a:bodyPr rtlCol="0" anchor="ctr"/>
          <a:lstStyle/>
          <a:p>
            <a:pPr algn="ctr"/>
            <a:endParaRPr/>
          </a:p>
        </p:txBody>
      </p:sp>
      <p:sp>
        <p:nvSpPr>
          <p:cNvPr id="102" name="Rectangle 101"/>
          <p:cNvSpPr/>
          <p:nvPr/>
        </p:nvSpPr>
        <p:spPr>
          <a:xfrm>
            <a:off x="2458058" y="6084418"/>
            <a:ext cx="56542" cy="100584"/>
          </a:xfrm>
          <a:prstGeom prst="rect">
            <a:avLst/>
          </a:prstGeom>
          <a:solidFill>
            <a:srgbClr val="8C6239"/>
          </a:solidFill>
          <a:ln>
            <a:noFill/>
          </a:ln>
        </p:spPr>
        <p:txBody>
          <a:bodyPr rtlCol="0" anchor="ctr"/>
          <a:lstStyle/>
          <a:p>
            <a:pPr algn="ctr"/>
            <a:endParaRPr/>
          </a:p>
        </p:txBody>
      </p:sp>
      <p:sp>
        <p:nvSpPr>
          <p:cNvPr id="103" name="TextBox 102"/>
          <p:cNvSpPr txBox="1"/>
          <p:nvPr/>
        </p:nvSpPr>
        <p:spPr>
          <a:xfrm>
            <a:off x="2569464" y="6056986"/>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−7.9%</a:t>
            </a:r>
            <a:endParaRPr lang="en-US" sz="730" dirty="0"/>
          </a:p>
        </p:txBody>
      </p:sp>
      <p:sp>
        <p:nvSpPr>
          <p:cNvPr id="104" name="TextBox 103"/>
          <p:cNvSpPr txBox="1"/>
          <p:nvPr/>
        </p:nvSpPr>
        <p:spPr>
          <a:xfrm>
            <a:off x="3584448" y="1234440"/>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BRANDS AND PRICING</a:t>
            </a:r>
            <a:endParaRPr lang="en-US" sz="675" dirty="0"/>
          </a:p>
        </p:txBody>
      </p:sp>
      <p:sp>
        <p:nvSpPr>
          <p:cNvPr id="105" name="Rectangle 104"/>
          <p:cNvSpPr/>
          <p:nvPr/>
        </p:nvSpPr>
        <p:spPr>
          <a:xfrm>
            <a:off x="3584448" y="1408176"/>
            <a:ext cx="6053328" cy="9144"/>
          </a:xfrm>
          <a:prstGeom prst="rect">
            <a:avLst/>
          </a:prstGeom>
          <a:solidFill>
            <a:srgbClr val="E3DCD3"/>
          </a:solidFill>
          <a:ln>
            <a:noFill/>
          </a:ln>
        </p:spPr>
        <p:txBody>
          <a:bodyPr rtlCol="0" anchor="ctr"/>
          <a:lstStyle/>
          <a:p>
            <a:pPr algn="ctr"/>
            <a:endParaRPr/>
          </a:p>
        </p:txBody>
      </p:sp>
      <p:sp>
        <p:nvSpPr>
          <p:cNvPr id="106" name="TextBox 105"/>
          <p:cNvSpPr txBox="1"/>
          <p:nvPr/>
        </p:nvSpPr>
        <p:spPr>
          <a:xfrm>
            <a:off x="3584448" y="1508760"/>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delivered a strong first half, with reported net sales up 8.7%, organic net sales up 5.8% and meaningful earnings recovery.”</a:t>
            </a:r>
            <a:endParaRPr lang="en-US" sz="860" dirty="0"/>
          </a:p>
        </p:txBody>
      </p:sp>
      <p:sp>
        <p:nvSpPr>
          <p:cNvPr id="107" name="TextBox 106"/>
          <p:cNvSpPr txBox="1"/>
          <p:nvPr/>
        </p:nvSpPr>
        <p:spPr>
          <a:xfrm>
            <a:off x="3584448" y="2006651"/>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Kirk Tanner, President and Chief Executive Officer, The Hershey Company</a:t>
            </a:r>
            <a:endParaRPr lang="en-US" sz="660" dirty="0"/>
          </a:p>
        </p:txBody>
      </p:sp>
      <p:sp>
        <p:nvSpPr>
          <p:cNvPr id="108" name="TextBox 107"/>
          <p:cNvSpPr txBox="1"/>
          <p:nvPr/>
        </p:nvSpPr>
        <p:spPr>
          <a:xfrm>
            <a:off x="6693408" y="1508760"/>
            <a:ext cx="2880360" cy="602894"/>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860" dirty="0"/>
          </a:p>
        </p:txBody>
      </p:sp>
      <p:sp>
        <p:nvSpPr>
          <p:cNvPr id="109" name="TextBox 108"/>
          <p:cNvSpPr txBox="1"/>
          <p:nvPr/>
        </p:nvSpPr>
        <p:spPr>
          <a:xfrm>
            <a:off x="6693408" y="2157374"/>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110" name="Rectangle 109"/>
          <p:cNvSpPr/>
          <p:nvPr/>
        </p:nvSpPr>
        <p:spPr>
          <a:xfrm>
            <a:off x="3584448" y="2478024"/>
            <a:ext cx="6053328" cy="530352"/>
          </a:xfrm>
          <a:prstGeom prst="rect">
            <a:avLst/>
          </a:prstGeom>
          <a:solidFill>
            <a:srgbClr val="FAF7F3"/>
          </a:solidFill>
          <a:ln>
            <a:noFill/>
          </a:ln>
        </p:spPr>
        <p:txBody>
          <a:bodyPr rtlCol="0" anchor="ctr"/>
          <a:lstStyle/>
          <a:p>
            <a:pPr algn="ctr"/>
            <a:endParaRPr/>
          </a:p>
        </p:txBody>
      </p:sp>
      <p:sp>
        <p:nvSpPr>
          <p:cNvPr id="111" name="Rectangle 110"/>
          <p:cNvSpPr/>
          <p:nvPr/>
        </p:nvSpPr>
        <p:spPr>
          <a:xfrm>
            <a:off x="3584448" y="2478024"/>
            <a:ext cx="27432" cy="530352"/>
          </a:xfrm>
          <a:prstGeom prst="rect">
            <a:avLst/>
          </a:prstGeom>
          <a:solidFill>
            <a:srgbClr val="B68757"/>
          </a:solidFill>
          <a:ln>
            <a:noFill/>
          </a:ln>
        </p:spPr>
        <p:txBody>
          <a:bodyPr rtlCol="0" anchor="ctr"/>
          <a:lstStyle/>
          <a:p>
            <a:pPr algn="ctr"/>
            <a:endParaRPr/>
          </a:p>
        </p:txBody>
      </p:sp>
      <p:sp>
        <p:nvSpPr>
          <p:cNvPr id="112" name="TextBox 111"/>
          <p:cNvSpPr txBox="1"/>
          <p:nvPr/>
        </p:nvSpPr>
        <p:spPr>
          <a:xfrm>
            <a:off x="3749040" y="2542032"/>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13" name="TextBox 112"/>
          <p:cNvSpPr txBox="1"/>
          <p:nvPr/>
        </p:nvSpPr>
        <p:spPr>
          <a:xfrm>
            <a:off x="3749040" y="2679192"/>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Hershey’s second-quarter organic sales rose 3.6% on about 12 points of price against an 8-point volume decline, and Church &amp; Dwight grew volume 4.3%, so buyers look at units before price.</a:t>
            </a:r>
            <a:endParaRPr lang="en-US" sz="760" dirty="0"/>
          </a:p>
        </p:txBody>
      </p:sp>
      <p:sp>
        <p:nvSpPr>
          <p:cNvPr id="114" name="TextBox 113"/>
          <p:cNvSpPr txBox="1"/>
          <p:nvPr/>
        </p:nvSpPr>
        <p:spPr>
          <a:xfrm>
            <a:off x="3584448" y="3168396"/>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CHANNELS AND PORTFOLIOS</a:t>
            </a:r>
            <a:endParaRPr lang="en-US" sz="675" dirty="0"/>
          </a:p>
        </p:txBody>
      </p:sp>
      <p:sp>
        <p:nvSpPr>
          <p:cNvPr id="115" name="Rectangle 114"/>
          <p:cNvSpPr/>
          <p:nvPr/>
        </p:nvSpPr>
        <p:spPr>
          <a:xfrm>
            <a:off x="3584448" y="3342132"/>
            <a:ext cx="6053328" cy="9144"/>
          </a:xfrm>
          <a:prstGeom prst="rect">
            <a:avLst/>
          </a:prstGeom>
          <a:solidFill>
            <a:srgbClr val="E3DCD3"/>
          </a:solidFill>
          <a:ln>
            <a:noFill/>
          </a:ln>
        </p:spPr>
        <p:txBody>
          <a:bodyPr rtlCol="0" anchor="ctr"/>
          <a:lstStyle/>
          <a:p>
            <a:pPr algn="ctr"/>
            <a:endParaRPr/>
          </a:p>
        </p:txBody>
      </p:sp>
      <p:sp>
        <p:nvSpPr>
          <p:cNvPr id="116" name="TextBox 115"/>
          <p:cNvSpPr txBox="1"/>
          <p:nvPr/>
        </p:nvSpPr>
        <p:spPr>
          <a:xfrm>
            <a:off x="3584448" y="3442716"/>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860" dirty="0"/>
          </a:p>
        </p:txBody>
      </p:sp>
      <p:sp>
        <p:nvSpPr>
          <p:cNvPr id="117" name="TextBox 116"/>
          <p:cNvSpPr txBox="1"/>
          <p:nvPr/>
        </p:nvSpPr>
        <p:spPr>
          <a:xfrm>
            <a:off x="3584448" y="3940607"/>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118" name="TextBox 117"/>
          <p:cNvSpPr txBox="1"/>
          <p:nvPr/>
        </p:nvSpPr>
        <p:spPr>
          <a:xfrm>
            <a:off x="6693408" y="3442716"/>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860" dirty="0"/>
          </a:p>
        </p:txBody>
      </p:sp>
      <p:sp>
        <p:nvSpPr>
          <p:cNvPr id="119" name="TextBox 118"/>
          <p:cNvSpPr txBox="1"/>
          <p:nvPr/>
        </p:nvSpPr>
        <p:spPr>
          <a:xfrm>
            <a:off x="6693408" y="3940607"/>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120" name="Rectangle 119"/>
          <p:cNvSpPr/>
          <p:nvPr/>
        </p:nvSpPr>
        <p:spPr>
          <a:xfrm>
            <a:off x="3584448" y="4411980"/>
            <a:ext cx="6053328" cy="530352"/>
          </a:xfrm>
          <a:prstGeom prst="rect">
            <a:avLst/>
          </a:prstGeom>
          <a:solidFill>
            <a:srgbClr val="FAF7F3"/>
          </a:solidFill>
          <a:ln>
            <a:noFill/>
          </a:ln>
        </p:spPr>
        <p:txBody>
          <a:bodyPr rtlCol="0" anchor="ctr"/>
          <a:lstStyle/>
          <a:p>
            <a:pPr algn="ctr"/>
            <a:endParaRPr/>
          </a:p>
        </p:txBody>
      </p:sp>
      <p:sp>
        <p:nvSpPr>
          <p:cNvPr id="121" name="Rectangle 120"/>
          <p:cNvSpPr/>
          <p:nvPr/>
        </p:nvSpPr>
        <p:spPr>
          <a:xfrm>
            <a:off x="3584448" y="4411980"/>
            <a:ext cx="27432" cy="530352"/>
          </a:xfrm>
          <a:prstGeom prst="rect">
            <a:avLst/>
          </a:prstGeom>
          <a:solidFill>
            <a:srgbClr val="B68757"/>
          </a:solidFill>
          <a:ln>
            <a:noFill/>
          </a:ln>
        </p:spPr>
        <p:txBody>
          <a:bodyPr rtlCol="0" anchor="ctr"/>
          <a:lstStyle/>
          <a:p>
            <a:pPr algn="ctr"/>
            <a:endParaRPr/>
          </a:p>
        </p:txBody>
      </p:sp>
      <p:sp>
        <p:nvSpPr>
          <p:cNvPr id="122" name="TextBox 121"/>
          <p:cNvSpPr txBox="1"/>
          <p:nvPr/>
        </p:nvSpPr>
        <p:spPr>
          <a:xfrm>
            <a:off x="3749040" y="4475988"/>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23" name="TextBox 122"/>
          <p:cNvSpPr txBox="1"/>
          <p:nvPr/>
        </p:nvSpPr>
        <p:spPr>
          <a:xfrm>
            <a:off x="3749040" y="4613148"/>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Keurig Dr Pepper’s growth includes JDE Peet’s, YETI grew wholesale sales 10% and direct-to-consumer sales 7%, and McCormick is planning its Unilever Foods combination, so buyers separate acquired from organic growth.</a:t>
            </a:r>
            <a:endParaRPr lang="en-US" sz="760" dirty="0"/>
          </a:p>
        </p:txBody>
      </p:sp>
      <p:sp>
        <p:nvSpPr>
          <p:cNvPr id="124" name="TextBox 123"/>
          <p:cNvSpPr txBox="1"/>
          <p:nvPr/>
        </p:nvSpPr>
        <p:spPr>
          <a:xfrm>
            <a:off x="3584448" y="5102352"/>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PLATFORMS AND DISTRIBUTION</a:t>
            </a:r>
            <a:endParaRPr lang="en-US" sz="675" dirty="0"/>
          </a:p>
        </p:txBody>
      </p:sp>
      <p:sp>
        <p:nvSpPr>
          <p:cNvPr id="125" name="Rectangle 124"/>
          <p:cNvSpPr/>
          <p:nvPr/>
        </p:nvSpPr>
        <p:spPr>
          <a:xfrm>
            <a:off x="3584448" y="5276088"/>
            <a:ext cx="6053328" cy="9144"/>
          </a:xfrm>
          <a:prstGeom prst="rect">
            <a:avLst/>
          </a:prstGeom>
          <a:solidFill>
            <a:srgbClr val="E3DCD3"/>
          </a:solidFill>
          <a:ln>
            <a:noFill/>
          </a:ln>
        </p:spPr>
        <p:txBody>
          <a:bodyPr rtlCol="0" anchor="ctr"/>
          <a:lstStyle/>
          <a:p>
            <a:pPr algn="ctr"/>
            <a:endParaRPr/>
          </a:p>
        </p:txBody>
      </p:sp>
      <p:sp>
        <p:nvSpPr>
          <p:cNvPr id="126" name="TextBox 125"/>
          <p:cNvSpPr txBox="1"/>
          <p:nvPr/>
        </p:nvSpPr>
        <p:spPr>
          <a:xfrm>
            <a:off x="3584448" y="5376672"/>
            <a:ext cx="2880360" cy="602894"/>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860" dirty="0"/>
          </a:p>
        </p:txBody>
      </p:sp>
      <p:sp>
        <p:nvSpPr>
          <p:cNvPr id="127" name="TextBox 126"/>
          <p:cNvSpPr txBox="1"/>
          <p:nvPr/>
        </p:nvSpPr>
        <p:spPr>
          <a:xfrm>
            <a:off x="3584448" y="6025286"/>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Brian Kaner, President &amp; CEO, Boyd Group</a:t>
            </a:r>
            <a:endParaRPr lang="en-US" sz="660" dirty="0"/>
          </a:p>
        </p:txBody>
      </p:sp>
      <p:sp>
        <p:nvSpPr>
          <p:cNvPr id="128" name="TextBox 127"/>
          <p:cNvSpPr txBox="1"/>
          <p:nvPr/>
        </p:nvSpPr>
        <p:spPr>
          <a:xfrm>
            <a:off x="6693408" y="5376672"/>
            <a:ext cx="2880360" cy="301447"/>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have clear positive momentum in our business domestically and internationally.”</a:t>
            </a:r>
            <a:endParaRPr lang="en-US" sz="860" dirty="0"/>
          </a:p>
        </p:txBody>
      </p:sp>
      <p:sp>
        <p:nvSpPr>
          <p:cNvPr id="129" name="TextBox 128"/>
          <p:cNvSpPr txBox="1"/>
          <p:nvPr/>
        </p:nvSpPr>
        <p:spPr>
          <a:xfrm>
            <a:off x="6693408" y="5723839"/>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Kevin Hourican, Chair of the Board and Chief Executive Officer, Sysco</a:t>
            </a:r>
            <a:endParaRPr lang="en-US" sz="660" dirty="0"/>
          </a:p>
        </p:txBody>
      </p:sp>
      <p:sp>
        <p:nvSpPr>
          <p:cNvPr id="130" name="Rectangle 129"/>
          <p:cNvSpPr/>
          <p:nvPr/>
        </p:nvSpPr>
        <p:spPr>
          <a:xfrm>
            <a:off x="3584448" y="6345936"/>
            <a:ext cx="6053328" cy="530352"/>
          </a:xfrm>
          <a:prstGeom prst="rect">
            <a:avLst/>
          </a:prstGeom>
          <a:solidFill>
            <a:srgbClr val="FAF7F3"/>
          </a:solidFill>
          <a:ln>
            <a:noFill/>
          </a:ln>
        </p:spPr>
        <p:txBody>
          <a:bodyPr rtlCol="0" anchor="ctr"/>
          <a:lstStyle/>
          <a:p>
            <a:pPr algn="ctr"/>
            <a:endParaRPr/>
          </a:p>
        </p:txBody>
      </p:sp>
      <p:sp>
        <p:nvSpPr>
          <p:cNvPr id="131" name="Rectangle 130"/>
          <p:cNvSpPr/>
          <p:nvPr/>
        </p:nvSpPr>
        <p:spPr>
          <a:xfrm>
            <a:off x="3584448" y="6345936"/>
            <a:ext cx="27432" cy="530352"/>
          </a:xfrm>
          <a:prstGeom prst="rect">
            <a:avLst/>
          </a:prstGeom>
          <a:solidFill>
            <a:srgbClr val="B68757"/>
          </a:solidFill>
          <a:ln>
            <a:noFill/>
          </a:ln>
        </p:spPr>
        <p:txBody>
          <a:bodyPr rtlCol="0" anchor="ctr"/>
          <a:lstStyle/>
          <a:p>
            <a:pPr algn="ctr"/>
            <a:endParaRPr/>
          </a:p>
        </p:txBody>
      </p:sp>
      <p:sp>
        <p:nvSpPr>
          <p:cNvPr id="132" name="TextBox 131"/>
          <p:cNvSpPr txBox="1"/>
          <p:nvPr/>
        </p:nvSpPr>
        <p:spPr>
          <a:xfrm>
            <a:off x="3749040" y="6409944"/>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33" name="TextBox 132"/>
          <p:cNvSpPr txBox="1"/>
          <p:nvPr/>
        </p:nvSpPr>
        <p:spPr>
          <a:xfrm>
            <a:off x="3749040" y="6547104"/>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Boyd’s sales rose 29.9%, mostly from new locations that include 258 Joe Hudson’s centers, and Sysco reported positive case growth across its local, national, and international businesses.</a:t>
            </a:r>
            <a:endParaRPr lang="en-US" sz="760" dirty="0"/>
          </a:p>
        </p:txBody>
      </p:sp>
      <p:pic>
        <p:nvPicPr>
          <p:cNvPr id="134" name="Logo Keurig Dr Pepper" descr="Keurig Dr Pepper logo"/>
          <p:cNvPicPr>
            <a:picLocks noChangeAspect="1"/>
          </p:cNvPicPr>
          <p:nvPr/>
        </p:nvPicPr>
        <p:blipFill>
          <a:blip r:embed="rId4"/>
          <a:stretch>
            <a:fillRect/>
          </a:stretch>
        </p:blipFill>
        <p:spPr>
          <a:xfrm>
            <a:off x="548640" y="1831524"/>
            <a:ext cx="500769" cy="150000"/>
          </a:xfrm>
          <a:prstGeom prst="rect">
            <a:avLst/>
          </a:prstGeom>
        </p:spPr>
      </p:pic>
      <p:pic>
        <p:nvPicPr>
          <p:cNvPr id="135" name="Logo e.l.f. Beauty" descr="e.l.f. Beauty logo"/>
          <p:cNvPicPr>
            <a:picLocks noChangeAspect="1"/>
          </p:cNvPicPr>
          <p:nvPr/>
        </p:nvPicPr>
        <p:blipFill>
          <a:blip r:embed="rId5"/>
          <a:stretch>
            <a:fillRect/>
          </a:stretch>
        </p:blipFill>
        <p:spPr>
          <a:xfrm>
            <a:off x="548640" y="2068373"/>
            <a:ext cx="225443" cy="173736"/>
          </a:xfrm>
          <a:prstGeom prst="rect">
            <a:avLst/>
          </a:prstGeom>
        </p:spPr>
      </p:pic>
      <p:pic>
        <p:nvPicPr>
          <p:cNvPr id="136" name="Logo Boyd Group Services" descr="Boyd Group Services logo"/>
          <p:cNvPicPr>
            <a:picLocks noChangeAspect="1"/>
          </p:cNvPicPr>
          <p:nvPr/>
        </p:nvPicPr>
        <p:blipFill>
          <a:blip r:embed="rId6"/>
          <a:stretch>
            <a:fillRect/>
          </a:stretch>
        </p:blipFill>
        <p:spPr>
          <a:xfrm>
            <a:off x="548640" y="2328958"/>
            <a:ext cx="924657" cy="150000"/>
          </a:xfrm>
          <a:prstGeom prst="rect">
            <a:avLst/>
          </a:prstGeom>
        </p:spPr>
      </p:pic>
      <p:pic>
        <p:nvPicPr>
          <p:cNvPr id="137" name="Logo Monster Beverage" descr="Monster Beverage logo"/>
          <p:cNvPicPr>
            <a:picLocks noChangeAspect="1"/>
          </p:cNvPicPr>
          <p:nvPr/>
        </p:nvPicPr>
        <p:blipFill>
          <a:blip r:embed="rId7"/>
          <a:stretch>
            <a:fillRect/>
          </a:stretch>
        </p:blipFill>
        <p:spPr>
          <a:xfrm>
            <a:off x="548640" y="2565806"/>
            <a:ext cx="173736" cy="173736"/>
          </a:xfrm>
          <a:prstGeom prst="rect">
            <a:avLst/>
          </a:prstGeom>
        </p:spPr>
      </p:pic>
      <p:pic>
        <p:nvPicPr>
          <p:cNvPr id="138" name="Logo McCormick" descr="McCormick logo"/>
          <p:cNvPicPr>
            <a:picLocks noChangeAspect="1"/>
          </p:cNvPicPr>
          <p:nvPr/>
        </p:nvPicPr>
        <p:blipFill>
          <a:blip r:embed="rId8"/>
          <a:stretch>
            <a:fillRect/>
          </a:stretch>
        </p:blipFill>
        <p:spPr>
          <a:xfrm>
            <a:off x="548640" y="2814523"/>
            <a:ext cx="203137" cy="173736"/>
          </a:xfrm>
          <a:prstGeom prst="rect">
            <a:avLst/>
          </a:prstGeom>
        </p:spPr>
      </p:pic>
      <p:pic>
        <p:nvPicPr>
          <p:cNvPr id="139" name="Logo Texas Roadhouse" descr="Texas Roadhouse logo"/>
          <p:cNvPicPr>
            <a:picLocks noChangeAspect="1"/>
          </p:cNvPicPr>
          <p:nvPr/>
        </p:nvPicPr>
        <p:blipFill>
          <a:blip r:embed="rId9"/>
          <a:stretch>
            <a:fillRect/>
          </a:stretch>
        </p:blipFill>
        <p:spPr>
          <a:xfrm>
            <a:off x="548640" y="3311957"/>
            <a:ext cx="173736" cy="173736"/>
          </a:xfrm>
          <a:prstGeom prst="rect">
            <a:avLst/>
          </a:prstGeom>
        </p:spPr>
      </p:pic>
      <p:pic>
        <p:nvPicPr>
          <p:cNvPr id="140" name="Logo Costco" descr="Costco logo"/>
          <p:cNvPicPr>
            <a:picLocks noChangeAspect="1"/>
          </p:cNvPicPr>
          <p:nvPr/>
        </p:nvPicPr>
        <p:blipFill>
          <a:blip r:embed="rId10"/>
          <a:stretch>
            <a:fillRect/>
          </a:stretch>
        </p:blipFill>
        <p:spPr>
          <a:xfrm>
            <a:off x="548640" y="3577114"/>
            <a:ext cx="542168" cy="150000"/>
          </a:xfrm>
          <a:prstGeom prst="rect">
            <a:avLst/>
          </a:prstGeom>
        </p:spPr>
      </p:pic>
      <p:pic>
        <p:nvPicPr>
          <p:cNvPr id="141" name="Logo Mattel" descr="Mattel logo"/>
          <p:cNvPicPr>
            <a:picLocks noChangeAspect="1"/>
          </p:cNvPicPr>
          <p:nvPr/>
        </p:nvPicPr>
        <p:blipFill>
          <a:blip r:embed="rId11"/>
          <a:stretch>
            <a:fillRect/>
          </a:stretch>
        </p:blipFill>
        <p:spPr>
          <a:xfrm>
            <a:off x="548640" y="3809390"/>
            <a:ext cx="177432" cy="173736"/>
          </a:xfrm>
          <a:prstGeom prst="rect">
            <a:avLst/>
          </a:prstGeom>
        </p:spPr>
      </p:pic>
      <p:pic>
        <p:nvPicPr>
          <p:cNvPr id="142" name="Logo YETI" descr="YETI logo"/>
          <p:cNvPicPr>
            <a:picLocks noChangeAspect="1"/>
          </p:cNvPicPr>
          <p:nvPr/>
        </p:nvPicPr>
        <p:blipFill>
          <a:blip r:embed="rId12"/>
          <a:stretch>
            <a:fillRect/>
          </a:stretch>
        </p:blipFill>
        <p:spPr>
          <a:xfrm>
            <a:off x="548640" y="4069975"/>
            <a:ext cx="525000" cy="150000"/>
          </a:xfrm>
          <a:prstGeom prst="rect">
            <a:avLst/>
          </a:prstGeom>
        </p:spPr>
      </p:pic>
      <p:pic>
        <p:nvPicPr>
          <p:cNvPr id="143" name="Logo Rollins" descr="Rollins logo"/>
          <p:cNvPicPr>
            <a:picLocks noChangeAspect="1"/>
          </p:cNvPicPr>
          <p:nvPr/>
        </p:nvPicPr>
        <p:blipFill>
          <a:blip r:embed="rId13"/>
          <a:stretch>
            <a:fillRect/>
          </a:stretch>
        </p:blipFill>
        <p:spPr>
          <a:xfrm>
            <a:off x="548640" y="4318692"/>
            <a:ext cx="294759" cy="150000"/>
          </a:xfrm>
          <a:prstGeom prst="rect">
            <a:avLst/>
          </a:prstGeom>
        </p:spPr>
      </p:pic>
      <p:pic>
        <p:nvPicPr>
          <p:cNvPr id="144" name="Logo Performance Food Group" descr="Performance Food Group logo"/>
          <p:cNvPicPr>
            <a:picLocks noChangeAspect="1"/>
          </p:cNvPicPr>
          <p:nvPr/>
        </p:nvPicPr>
        <p:blipFill>
          <a:blip r:embed="rId14"/>
          <a:stretch>
            <a:fillRect/>
          </a:stretch>
        </p:blipFill>
        <p:spPr>
          <a:xfrm>
            <a:off x="548640" y="4571981"/>
            <a:ext cx="962727" cy="150000"/>
          </a:xfrm>
          <a:prstGeom prst="rect">
            <a:avLst/>
          </a:prstGeom>
        </p:spPr>
      </p:pic>
      <p:pic>
        <p:nvPicPr>
          <p:cNvPr id="145" name="Logo Hershey" descr="Hershey logo"/>
          <p:cNvPicPr>
            <a:picLocks noChangeAspect="1"/>
          </p:cNvPicPr>
          <p:nvPr/>
        </p:nvPicPr>
        <p:blipFill>
          <a:blip r:embed="rId15"/>
          <a:stretch>
            <a:fillRect/>
          </a:stretch>
        </p:blipFill>
        <p:spPr>
          <a:xfrm>
            <a:off x="548640" y="4816126"/>
            <a:ext cx="528813" cy="150000"/>
          </a:xfrm>
          <a:prstGeom prst="rect">
            <a:avLst/>
          </a:prstGeom>
        </p:spPr>
      </p:pic>
      <p:pic>
        <p:nvPicPr>
          <p:cNvPr id="146" name="Logo Walmart" descr="Walmart logo"/>
          <p:cNvPicPr>
            <a:picLocks noChangeAspect="1"/>
          </p:cNvPicPr>
          <p:nvPr/>
        </p:nvPicPr>
        <p:blipFill>
          <a:blip r:embed="rId16"/>
          <a:stretch>
            <a:fillRect/>
          </a:stretch>
        </p:blipFill>
        <p:spPr>
          <a:xfrm>
            <a:off x="548640" y="5064842"/>
            <a:ext cx="826771" cy="150000"/>
          </a:xfrm>
          <a:prstGeom prst="rect">
            <a:avLst/>
          </a:prstGeom>
        </p:spPr>
      </p:pic>
      <p:pic>
        <p:nvPicPr>
          <p:cNvPr id="147" name="Logo Sysco" descr="Sysco logo"/>
          <p:cNvPicPr>
            <a:picLocks noChangeAspect="1"/>
          </p:cNvPicPr>
          <p:nvPr/>
        </p:nvPicPr>
        <p:blipFill>
          <a:blip r:embed="rId17"/>
          <a:stretch>
            <a:fillRect/>
          </a:stretch>
        </p:blipFill>
        <p:spPr>
          <a:xfrm>
            <a:off x="548640" y="5313559"/>
            <a:ext cx="387559" cy="150000"/>
          </a:xfrm>
          <a:prstGeom prst="rect">
            <a:avLst/>
          </a:prstGeom>
        </p:spPr>
      </p:pic>
      <p:pic>
        <p:nvPicPr>
          <p:cNvPr id="148" name="Logo General Mills" descr="General Mills logo"/>
          <p:cNvPicPr>
            <a:picLocks noChangeAspect="1"/>
          </p:cNvPicPr>
          <p:nvPr/>
        </p:nvPicPr>
        <p:blipFill>
          <a:blip r:embed="rId18"/>
          <a:stretch>
            <a:fillRect/>
          </a:stretch>
        </p:blipFill>
        <p:spPr>
          <a:xfrm>
            <a:off x="548640" y="5799125"/>
            <a:ext cx="202325" cy="173736"/>
          </a:xfrm>
          <a:prstGeom prst="rect">
            <a:avLst/>
          </a:prstGeom>
        </p:spPr>
      </p:pic>
      <p:pic>
        <p:nvPicPr>
          <p:cNvPr id="149" name="Logo Campbell's" descr="Campbell's logo"/>
          <p:cNvPicPr>
            <a:picLocks noChangeAspect="1"/>
          </p:cNvPicPr>
          <p:nvPr/>
        </p:nvPicPr>
        <p:blipFill>
          <a:blip r:embed="rId19"/>
          <a:stretch>
            <a:fillRect/>
          </a:stretch>
        </p:blipFill>
        <p:spPr>
          <a:xfrm>
            <a:off x="548640" y="6059710"/>
            <a:ext cx="579878" cy="15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8.8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descr="Table of public company market capitalization, valuation multiples, growth and margins"/>
          <p:cNvGraphicFramePr>
            <a:graphicFrameLocks noGrp="1"/>
          </p:cNvGraphicFramePr>
          <p:nvPr/>
        </p:nvGraphicFramePr>
        <p:xfrm>
          <a:off x="419100" y="1238250"/>
          <a:ext cx="9220200" cy="56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PACKAGED FOOD</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General Mills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GIS</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Conagra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CAG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Kraft Heinz</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KHC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Campbell's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CPB</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J.M. Smucker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SJM</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Hormel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HRL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0" kern="0" dirty="0">
                          <a:solidFill>
                            <a:srgbClr val="1B1A1A"/>
                          </a:solidFill>
                          <a:latin typeface="Quicksand SemiBold"/>
                        </a:rPr>
                        <a:t>McCormick</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MKC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8"/>
                  </a:ext>
                </a:extLst>
              </a:tr>
              <a:tr h="200000">
                <a:tc>
                  <a:txBody>
                    <a:bodyPr/>
                    <a:lstStyle/>
                    <a:p>
                      <a:pPr marL="0" indent="0" algn="l">
                        <a:lnSpc>
                          <a:spcPts val="900"/>
                        </a:lnSpc>
                        <a:buNone/>
                      </a:pPr>
                      <a:r>
                        <a:rPr lang="en-US" sz="750" b="0" kern="0" dirty="0">
                          <a:solidFill>
                            <a:srgbClr val="1B1A1A"/>
                          </a:solidFill>
                          <a:latin typeface="Quicksand SemiBold"/>
                        </a:rPr>
                        <a:t>Post Holdings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POST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−22.8%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9.8x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−0.5%</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0"/>
                  </a:ext>
                </a:extLst>
              </a:tr>
              <a:tr h="215000">
                <a:tc gridSpan="12">
                  <a:txBody>
                    <a:bodyPr/>
                    <a:lstStyle/>
                    <a:p>
                      <a:pPr marL="0" indent="0" algn="l">
                        <a:lnSpc>
                          <a:spcPts val="800"/>
                        </a:lnSpc>
                        <a:buNone/>
                      </a:pPr>
                      <a:r>
                        <a:rPr lang="en-US" sz="645" b="1" kern="0" spc="60" dirty="0">
                          <a:solidFill>
                            <a:srgbClr val="8C6239"/>
                          </a:solidFill>
                          <a:latin typeface="Quicksand"/>
                        </a:rPr>
                        <a:t>SNACKS AND BETTER-FOR-YOU</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Mondelez</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MDLZ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Hershey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HSY</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Utz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UTZ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BellRing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BRBR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0" kern="0" dirty="0">
                          <a:solidFill>
                            <a:srgbClr val="1B1A1A"/>
                          </a:solidFill>
                          <a:latin typeface="Quicksand SemiBold"/>
                        </a:rPr>
                        <a:t>Simply Good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SMPL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6"/>
                  </a:ext>
                </a:extLst>
              </a:tr>
              <a:tr h="200000">
                <a:tc>
                  <a:txBody>
                    <a:bodyPr/>
                    <a:lstStyle/>
                    <a:p>
                      <a:pPr marL="0" indent="0" algn="l">
                        <a:lnSpc>
                          <a:spcPts val="900"/>
                        </a:lnSpc>
                        <a:buNone/>
                      </a:pPr>
                      <a:r>
                        <a:rPr lang="en-US" sz="750" b="0" kern="0" dirty="0">
                          <a:solidFill>
                            <a:srgbClr val="1B1A1A"/>
                          </a:solidFill>
                          <a:latin typeface="Quicksand SemiBold"/>
                        </a:rPr>
                        <a:t>Vital Farms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VITL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−78.6%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0.58x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n.a.</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−31.9%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+2.9%</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8"/>
                  </a:ext>
                </a:extLst>
              </a:tr>
              <a:tr h="215000">
                <a:tc gridSpan="12">
                  <a:txBody>
                    <a:bodyPr/>
                    <a:lstStyle/>
                    <a:p>
                      <a:pPr marL="0" indent="0" algn="l">
                        <a:lnSpc>
                          <a:spcPts val="800"/>
                        </a:lnSpc>
                        <a:buNone/>
                      </a:pPr>
                      <a:r>
                        <a:rPr lang="en-US" sz="645" b="1" kern="0" spc="60" dirty="0">
                          <a:solidFill>
                            <a:srgbClr val="8C6239"/>
                          </a:solidFill>
                          <a:latin typeface="Quicksand"/>
                        </a:rPr>
                        <a:t>BEVERAGES</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Coca-Cola</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KO</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PepsiCo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PEP</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Keurig Dr Pepper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KDP</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+58.5%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Monster Beverage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MNST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+17.4%</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0" kern="0" dirty="0">
                          <a:solidFill>
                            <a:srgbClr val="1B1A1A"/>
                          </a:solidFill>
                          <a:latin typeface="Quicksand SemiBold"/>
                        </a:rPr>
                        <a:t>Celsius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CELH</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4"/>
                  </a:ext>
                </a:extLst>
              </a:tr>
              <a:tr h="200000">
                <a:tc>
                  <a:txBody>
                    <a:bodyPr/>
                    <a:lstStyle/>
                    <a:p>
                      <a:pPr marL="0" indent="0" algn="l">
                        <a:lnSpc>
                          <a:spcPts val="900"/>
                        </a:lnSpc>
                        <a:buNone/>
                      </a:pPr>
                      <a:r>
                        <a:rPr lang="en-US" sz="750" b="0" kern="0" dirty="0">
                          <a:solidFill>
                            <a:srgbClr val="1B1A1A"/>
                          </a:solidFill>
                          <a:latin typeface="Quicksand SemiBold"/>
                        </a:rPr>
                        <a:t>Constellation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STZ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3.52x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+11.6%</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3.52x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+6.5%</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27.9%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+11.5%</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follow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descr="Table of public company market capitalization, valuation multiples, growth and margins"/>
          <p:cNvGraphicFramePr>
            <a:graphicFrameLocks noGrp="1"/>
          </p:cNvGraphicFramePr>
          <p:nvPr/>
        </p:nvGraphicFramePr>
        <p:xfrm>
          <a:off x="419100" y="1238250"/>
          <a:ext cx="9220200" cy="52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HOUSEHOLD AND PERSONAL CARE</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Procter &amp; Gamble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Colgate-Palmolive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Church &amp; Dwight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CHD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Clorox</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CLX</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Estee Lauder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e.l.f. Beauty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ELF</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+7.1%</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4.00x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16.3x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25.4x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+4.8%</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08"/>
                  </a:ext>
                </a:extLst>
              </a:tr>
              <a:tr h="215000">
                <a:tc gridSpan="12">
                  <a:txBody>
                    <a:bodyPr/>
                    <a:lstStyle/>
                    <a:p>
                      <a:pPr marL="0" indent="0" algn="l">
                        <a:lnSpc>
                          <a:spcPts val="800"/>
                        </a:lnSpc>
                        <a:buNone/>
                      </a:pPr>
                      <a:r>
                        <a:rPr lang="en-US" sz="645" b="1" kern="0" spc="60" dirty="0">
                          <a:solidFill>
                            <a:srgbClr val="8C6239"/>
                          </a:solidFill>
                          <a:latin typeface="Quicksand"/>
                        </a:rPr>
                        <a:t>DURABLES, OUTDOOR AND PET</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0" kern="0" dirty="0">
                          <a:solidFill>
                            <a:srgbClr val="1B1A1A"/>
                          </a:solidFill>
                          <a:latin typeface="Quicksand SemiBold"/>
                        </a:rPr>
                        <a:t>Central Garden &amp; Pet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CENT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0"/>
                  </a:ext>
                </a:extLst>
              </a:tr>
              <a:tr h="200000">
                <a:tc>
                  <a:txBody>
                    <a:bodyPr/>
                    <a:lstStyle/>
                    <a:p>
                      <a:pPr marL="0" indent="0" algn="l">
                        <a:lnSpc>
                          <a:spcPts val="900"/>
                        </a:lnSpc>
                        <a:buNone/>
                      </a:pPr>
                      <a:r>
                        <a:rPr lang="en-US" sz="750" b="0" kern="0" dirty="0">
                          <a:solidFill>
                            <a:srgbClr val="1B1A1A"/>
                          </a:solidFill>
                          <a:latin typeface="Quicksand SemiBold"/>
                        </a:rPr>
                        <a:t>Spectrum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SPB</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0.81x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YETI</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YETI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Mattel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MAT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Newell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NWL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Traeger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COOK</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9.7x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6"/>
                  </a:ext>
                </a:extLst>
              </a:tr>
              <a:tr h="215000">
                <a:tc gridSpan="12">
                  <a:txBody>
                    <a:bodyPr/>
                    <a:lstStyle/>
                    <a:p>
                      <a:pPr marL="0" indent="0" algn="l">
                        <a:lnSpc>
                          <a:spcPts val="800"/>
                        </a:lnSpc>
                        <a:buNone/>
                      </a:pPr>
                      <a:r>
                        <a:rPr lang="en-US" sz="645" b="1" kern="0" spc="60" dirty="0">
                          <a:solidFill>
                            <a:srgbClr val="8C6239"/>
                          </a:solidFill>
                          <a:latin typeface="Quicksand"/>
                        </a:rPr>
                        <a:t>FOODSERVICE DISTRIBUTION AND EQUIPMENT</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0" kern="0" dirty="0">
                          <a:solidFill>
                            <a:srgbClr val="1B1A1A"/>
                          </a:solidFill>
                          <a:latin typeface="Quicksand SemiBold"/>
                        </a:rPr>
                        <a:t>Sysco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SYY</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8"/>
                  </a:ext>
                </a:extLst>
              </a:tr>
              <a:tr h="200000">
                <a:tc>
                  <a:txBody>
                    <a:bodyPr/>
                    <a:lstStyle/>
                    <a:p>
                      <a:pPr marL="0" indent="0" algn="l">
                        <a:lnSpc>
                          <a:spcPts val="900"/>
                        </a:lnSpc>
                        <a:buNone/>
                      </a:pPr>
                      <a:r>
                        <a:rPr lang="en-US" sz="750" b="0" kern="0" dirty="0">
                          <a:solidFill>
                            <a:srgbClr val="1B1A1A"/>
                          </a:solidFill>
                          <a:latin typeface="Quicksand SemiBold"/>
                        </a:rPr>
                        <a:t>US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USFD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Performance Food Group</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PFGC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Chefs' Warehouse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CHEF</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United Natural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UNFI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Middleby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MIDD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0.66x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+6.5%</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fell more than 40%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9" name="Company metrics table" descr="Table of public company market capitalization, valuation multiples, growth and margins"/>
          <p:cNvGraphicFramePr>
            <a:graphicFrameLocks noGrp="1"/>
          </p:cNvGraphicFramePr>
          <p:nvPr/>
        </p:nvGraphicFramePr>
        <p:xfrm>
          <a:off x="419100" y="1238250"/>
          <a:ext cx="9220200" cy="52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RESTAURANTS</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Darden Restaurants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DRI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Texas Roadhouse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TXRH</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Chipotle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CMG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McDonald's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MCD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Domino's Pizza</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DPZ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Brinker International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EAT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−13.3%</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2.71x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+7.6%</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+6.6%</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08"/>
                  </a:ext>
                </a:extLst>
              </a:tr>
              <a:tr h="215000">
                <a:tc gridSpan="12">
                  <a:txBody>
                    <a:bodyPr/>
                    <a:lstStyle/>
                    <a:p>
                      <a:pPr marL="0" indent="0" algn="l">
                        <a:lnSpc>
                          <a:spcPts val="800"/>
                        </a:lnSpc>
                        <a:buNone/>
                      </a:pPr>
                      <a:r>
                        <a:rPr lang="en-US" sz="645" b="1" kern="0" spc="60" dirty="0">
                          <a:solidFill>
                            <a:srgbClr val="8C6239"/>
                          </a:solidFill>
                          <a:latin typeface="Quicksand"/>
                        </a:rPr>
                        <a:t>CONSUMER AND ROUTE-BASED SERVICES</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0" kern="0" dirty="0">
                          <a:solidFill>
                            <a:srgbClr val="1B1A1A"/>
                          </a:solidFill>
                          <a:latin typeface="Quicksand SemiBold"/>
                        </a:rPr>
                        <a:t>Rollins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ROL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0"/>
                  </a:ext>
                </a:extLst>
              </a:tr>
              <a:tr h="200000">
                <a:tc>
                  <a:txBody>
                    <a:bodyPr/>
                    <a:lstStyle/>
                    <a:p>
                      <a:pPr marL="0" indent="0" algn="l">
                        <a:lnSpc>
                          <a:spcPts val="900"/>
                        </a:lnSpc>
                        <a:buNone/>
                      </a:pPr>
                      <a:r>
                        <a:rPr lang="en-US" sz="750" b="0" kern="0" dirty="0">
                          <a:solidFill>
                            <a:srgbClr val="1B1A1A"/>
                          </a:solidFill>
                          <a:latin typeface="Quicksand SemiBold"/>
                        </a:rPr>
                        <a:t>Frontdoor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FTDR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Driven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DRVN</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Planet Fitness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PLNT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Service Corporation Intl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SCI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Boyd Group Services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BGSI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−33.3%</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3.25x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23.1%</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+8.1%</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6"/>
                  </a:ext>
                </a:extLst>
              </a:tr>
              <a:tr h="215000">
                <a:tc gridSpan="12">
                  <a:txBody>
                    <a:bodyPr/>
                    <a:lstStyle/>
                    <a:p>
                      <a:pPr marL="0" indent="0" algn="l">
                        <a:lnSpc>
                          <a:spcPts val="800"/>
                        </a:lnSpc>
                        <a:buNone/>
                      </a:pPr>
                      <a:r>
                        <a:rPr lang="en-US" sz="645" b="1" kern="0" spc="60" dirty="0">
                          <a:solidFill>
                            <a:srgbClr val="8C6239"/>
                          </a:solidFill>
                          <a:latin typeface="Quicksand"/>
                        </a:rPr>
                        <a:t>RETAIL</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0" kern="0" dirty="0">
                          <a:solidFill>
                            <a:srgbClr val="1B1A1A"/>
                          </a:solidFill>
                          <a:latin typeface="Quicksand SemiBold"/>
                        </a:rPr>
                        <a:t>Walmart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WMT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8"/>
                  </a:ext>
                </a:extLst>
              </a:tr>
              <a:tr h="200000">
                <a:tc>
                  <a:txBody>
                    <a:bodyPr/>
                    <a:lstStyle/>
                    <a:p>
                      <a:pPr marL="0" indent="0" algn="l">
                        <a:lnSpc>
                          <a:spcPts val="900"/>
                        </a:lnSpc>
                        <a:buNone/>
                      </a:pPr>
                      <a:r>
                        <a:rPr lang="en-US" sz="750" b="0" kern="0" dirty="0">
                          <a:solidFill>
                            <a:srgbClr val="1B1A1A"/>
                          </a:solidFill>
                          <a:latin typeface="Quicksand SemiBold"/>
                        </a:rPr>
                        <a:t>Costco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COST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429.5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Target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TGT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Kroger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Dollar General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Tractor Supply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TSCO</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+8.0%</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12.2x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7.0%</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+4.7%</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23</a:t>
            </a:r>
            <a:endParaRPr lang="en-US" sz="713"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sit below a year ago,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$745.0B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+6.3%</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descr="Line chart of a monthly or quarterly demand or cost indicator since 202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FRED, series RSAFS; 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52531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80154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$92.9B</a:t>
            </a:r>
            <a:endParaRPr lang="en-US" sz="1875" dirty="0"/>
          </a:p>
        </p:txBody>
      </p:sp>
      <p:sp>
        <p:nvSpPr>
          <p:cNvPr id="35" name="Text 34"/>
          <p:cNvSpPr txBox="1"/>
          <p:nvPr/>
        </p:nvSpPr>
        <p:spPr>
          <a:xfrm>
            <a:off x="2876550" y="206824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36" name="Text 35"/>
          <p:cNvSpPr txBox="1"/>
          <p:nvPr/>
        </p:nvSpPr>
        <p:spPr>
          <a:xfrm>
            <a:off x="4279702" y="191584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a:t>
            </a:r>
            <a:endParaRPr lang="en-US" sz="900" dirty="0"/>
          </a:p>
        </p:txBody>
      </p:sp>
      <p:sp>
        <p:nvSpPr>
          <p:cNvPr id="37" name="Text 36"/>
          <p:cNvSpPr txBox="1"/>
          <p:nvPr/>
        </p:nvSpPr>
        <p:spPr>
          <a:xfrm>
            <a:off x="4279702" y="206824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917607" y="344531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descr="Line chart of a monthly or quarterly demand or cost indicator since 2021"/>
          <p:cNvGraphicFramePr/>
          <p:nvPr/>
        </p:nvGraphicFramePr>
        <p:xfrm>
          <a:off x="2903746" y="2194095"/>
          <a:ext cx="1885097" cy="1123950"/>
        </p:xfrm>
        <a:graphic>
          <a:graphicData uri="http://schemas.openxmlformats.org/drawingml/2006/chart">
            <c:chart xmlns:c="http://schemas.openxmlformats.org/drawingml/2006/chart" xmlns:r="http://schemas.openxmlformats.org/officeDocument/2006/relationships" r:id="rId4"/>
          </a:graphicData>
        </a:graphic>
      </p:graphicFrame>
      <p:sp>
        <p:nvSpPr>
          <p:cNvPr id="45" name="Text 44"/>
          <p:cNvSpPr txBox="1"/>
          <p:nvPr/>
        </p:nvSpPr>
        <p:spPr>
          <a:xfrm>
            <a:off x="3247072" y="348270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48270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48270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48270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48270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FRED, series RSFSDP; 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descr="Line chart of a monthly or quarterly demand or cost indicator since 2021"/>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5"/>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729037"/>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descr="Line chart of a monthly or quarterly demand or cost indicator since 2021"/>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7"/>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321.1</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+1.8%</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descr="Line chart of a monthly or quarterly demand or cost indicator since 2021"/>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398.8</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+3.5%</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descr="Line chart of a monthly or quarterly demand or cost indicator since 2021"/>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2"/>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420006"/>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71963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271.8</a:t>
            </a:r>
            <a:endParaRPr lang="en-US" sz="1875" dirty="0"/>
          </a:p>
        </p:txBody>
      </p:sp>
      <p:sp>
        <p:nvSpPr>
          <p:cNvPr id="139" name="Text 138"/>
          <p:cNvSpPr txBox="1"/>
          <p:nvPr/>
        </p:nvSpPr>
        <p:spPr>
          <a:xfrm>
            <a:off x="5210175" y="498633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40" name="Text 139"/>
          <p:cNvSpPr txBox="1"/>
          <p:nvPr/>
        </p:nvSpPr>
        <p:spPr>
          <a:xfrm>
            <a:off x="6613327" y="483393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−1.0%</a:t>
            </a:r>
            <a:endParaRPr lang="en-US" sz="900" dirty="0"/>
          </a:p>
        </p:txBody>
      </p:sp>
      <p:sp>
        <p:nvSpPr>
          <p:cNvPr id="141" name="Text 140"/>
          <p:cNvSpPr txBox="1"/>
          <p:nvPr/>
        </p:nvSpPr>
        <p:spPr>
          <a:xfrm>
            <a:off x="6613327" y="498633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10175" y="6338887"/>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descr="Line chart of a monthly or quarterly demand or cost indicator since 2021"/>
          <p:cNvGraphicFramePr/>
          <p:nvPr/>
        </p:nvGraphicFramePr>
        <p:xfrm>
          <a:off x="5215364" y="5214937"/>
          <a:ext cx="1885097" cy="1123950"/>
        </p:xfrm>
        <a:graphic>
          <a:graphicData uri="http://schemas.openxmlformats.org/drawingml/2006/chart">
            <c:chart xmlns:c="http://schemas.openxmlformats.org/drawingml/2006/chart" xmlns:r="http://schemas.openxmlformats.org/officeDocument/2006/relationships" r:id="rId14"/>
          </a:graphicData>
        </a:graphic>
      </p:graphicFrame>
      <p:sp>
        <p:nvSpPr>
          <p:cNvPr id="149" name="Text 148"/>
          <p:cNvSpPr txBox="1"/>
          <p:nvPr/>
        </p:nvSpPr>
        <p:spPr>
          <a:xfrm>
            <a:off x="5580698" y="6376987"/>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376987"/>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27445" y="6376987"/>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376987"/>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376987"/>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descr="Line chart of a monthly or quarterly demand or cost indicator since 2021"/>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6"/>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logo"/>
          <p:cNvPicPr>
            <a:picLocks noChangeAspect="1"/>
          </p:cNvPicPr>
          <p:nvPr/>
        </p:nvPicPr>
        <p:blipFill>
          <a:blip r:embed="rId18"/>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September retail figures are the Census advance estimate on the series as revised October 15, 2026, and September sentiment is the final reading from the Surveys of Consumers. The consumer price series have no October 2025 reading because that month’s index was not produced during the federal shutdown; the unadjusted food-at-home increase for September is 1.9%.</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24</a:t>
            </a:r>
            <a:endParaRPr lang="en-US" sz="71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Presenter at a screen with colleagues seated around a conference table with laptops and gift bags"/>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About Benchmark</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a:t>
            </a:r>
            <a:endParaRPr lang="en-US" sz="1013" dirty="0"/>
          </a:p>
        </p:txBody>
      </p:sp>
      <p:pic>
        <p:nvPicPr>
          <p:cNvPr id="22"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24"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25"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26</a:t>
            </a:r>
            <a:endParaRPr lang="en-US" sz="825" dirty="0"/>
          </a:p>
        </p:txBody>
      </p:sp>
      <p:sp>
        <p:nvSpPr>
          <p:cNvPr id="26"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About Benchmark International</a:t>
            </a:r>
            <a:endParaRPr lang="en-US" sz="975" dirty="0"/>
          </a:p>
        </p:txBody>
      </p:sp>
      <p:sp>
        <p:nvSpPr>
          <p:cNvPr id="27"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0"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27</a:t>
            </a:r>
            <a:endParaRPr lang="en-US" sz="825" dirty="0"/>
          </a:p>
        </p:txBody>
      </p:sp>
      <p:sp>
        <p:nvSpPr>
          <p:cNvPr id="32"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33"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28</a:t>
            </a:r>
            <a:endParaRPr lang="en-US" sz="825" dirty="0"/>
          </a:p>
        </p:txBody>
      </p:sp>
      <p:sp>
        <p:nvSpPr>
          <p:cNvPr id="38"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world’s leading privately owned sell-side M&amp;A advisor focused on five industries.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benchmarkintl.com. Awards as shown on the Benchmark International Middle Market site.</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26</a:t>
            </a:r>
            <a:endParaRPr lang="en-US" sz="713" dirty="0"/>
          </a:p>
        </p:txBody>
      </p:sp>
      <p:sp>
        <p:nvSpPr>
          <p:cNvPr id="13"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4" name="Picture" descr="Dark marble background with the Benchmark International knot emblem"/>
          <p:cNvPicPr>
            <a:picLocks noChangeAspect="1"/>
          </p:cNvPicPr>
          <p:nvPr/>
        </p:nvPicPr>
        <p:blipFill>
          <a:blip r:embed="rId3">
            <a:alphaModFix amt="50000"/>
          </a:blip>
          <a:srcRect l="13603" t="24064" r="13603" b="43850"/>
          <a:stretch>
            <a:fillRect/>
          </a:stretch>
        </p:blipFill>
        <p:spPr>
          <a:xfrm>
            <a:off x="419100" y="1238250"/>
            <a:ext cx="9220200" cy="2286000"/>
          </a:xfrm>
          <a:prstGeom prst="rect">
            <a:avLst/>
          </a:prstGeom>
        </p:spPr>
      </p:pic>
      <p:pic>
        <p:nvPicPr>
          <p:cNvPr id="15" name="Picture" descr="Benchmark International logo"/>
          <p:cNvPicPr>
            <a:picLocks noChangeAspect="1"/>
          </p:cNvPicPr>
          <p:nvPr/>
        </p:nvPicPr>
        <p:blipFill>
          <a:blip r:embed="rId4"/>
          <a:stretch>
            <a:fillRect/>
          </a:stretch>
        </p:blipFill>
        <p:spPr>
          <a:xfrm>
            <a:off x="600738" y="1466850"/>
            <a:ext cx="2381250" cy="447675"/>
          </a:xfrm>
          <a:prstGeom prst="rect">
            <a:avLst/>
          </a:prstGeom>
        </p:spPr>
      </p:pic>
      <p:sp>
        <p:nvSpPr>
          <p:cNvPr id="16" name="TextBox 11"/>
          <p:cNvSpPr txBox="1"/>
          <p:nvPr/>
        </p:nvSpPr>
        <p:spPr>
          <a:xfrm>
            <a:off x="3192810" y="1445975"/>
            <a:ext cx="6265515" cy="338138"/>
          </a:xfrm>
          <a:prstGeom prst="rect">
            <a:avLst/>
          </a:prstGeom>
          <a:noFill/>
        </p:spPr>
        <p:txBody>
          <a:bodyPr wrap="square" lIns="0" tIns="0" rIns="0" bIns="0" anchor="t">
            <a:noAutofit/>
          </a:bodyPr>
          <a:lstStyle/>
          <a:p>
            <a:pPr algn="l">
              <a:lnSpc>
                <a:spcPts val="1462"/>
              </a:lnSpc>
              <a:spcBef>
                <a:spcPts val="0"/>
              </a:spcBef>
              <a:spcAft>
                <a:spcPts val="0"/>
              </a:spcAft>
            </a:pPr>
            <a:r>
              <a:rPr sz="938" b="0" i="0" spc="15">
                <a:solidFill>
                  <a:srgbClr val="E8E2DA"/>
                </a:solidFill>
                <a:latin typeface="Quicksand"/>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7"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8"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9"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20"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21"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22"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23"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4"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5"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6"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7"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8"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9"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30" name="Panel"/>
          <p:cNvSpPr/>
          <p:nvPr/>
        </p:nvSpPr>
        <p:spPr>
          <a:xfrm>
            <a:off x="419100" y="3924300"/>
            <a:ext cx="2205038" cy="1466850"/>
          </a:xfrm>
          <a:prstGeom prst="rect">
            <a:avLst/>
          </a:prstGeom>
          <a:solidFill>
            <a:srgbClr val="FFFFFF"/>
          </a:solidFill>
          <a:ln>
            <a:noFill/>
          </a:ln>
        </p:spPr>
        <p:txBody>
          <a:bodyPr rtlCol="0" anchor="ctr"/>
          <a:lstStyle/>
          <a:p>
            <a:pPr algn="ctr"/>
            <a:endParaRPr/>
          </a:p>
        </p:txBody>
      </p:sp>
      <p:sp>
        <p:nvSpPr>
          <p:cNvPr id="31" name="Rule"/>
          <p:cNvSpPr/>
          <p:nvPr/>
        </p:nvSpPr>
        <p:spPr>
          <a:xfrm>
            <a:off x="419100" y="3924300"/>
            <a:ext cx="2205038" cy="28575"/>
          </a:xfrm>
          <a:prstGeom prst="rect">
            <a:avLst/>
          </a:prstGeom>
          <a:solidFill>
            <a:srgbClr val="B68757"/>
          </a:solidFill>
          <a:ln>
            <a:noFill/>
          </a:ln>
        </p:spPr>
        <p:txBody>
          <a:bodyPr rtlCol="0" anchor="ctr"/>
          <a:lstStyle/>
          <a:p>
            <a:pPr algn="ctr"/>
            <a:endParaRPr/>
          </a:p>
        </p:txBody>
      </p:sp>
      <p:sp>
        <p:nvSpPr>
          <p:cNvPr id="32" name="Rule"/>
          <p:cNvSpPr/>
          <p:nvPr/>
        </p:nvSpPr>
        <p:spPr>
          <a:xfrm>
            <a:off x="2614612" y="3924300"/>
            <a:ext cx="9525" cy="1466850"/>
          </a:xfrm>
          <a:prstGeom prst="rect">
            <a:avLst/>
          </a:prstGeom>
          <a:solidFill>
            <a:srgbClr val="E3DCD3"/>
          </a:solidFill>
          <a:ln>
            <a:noFill/>
          </a:ln>
        </p:spPr>
        <p:txBody>
          <a:bodyPr rtlCol="0" anchor="ctr"/>
          <a:lstStyle/>
          <a:p>
            <a:pPr algn="ctr"/>
            <a:endParaRPr/>
          </a:p>
        </p:txBody>
      </p:sp>
      <p:sp>
        <p:nvSpPr>
          <p:cNvPr id="33" name="Rule"/>
          <p:cNvSpPr/>
          <p:nvPr/>
        </p:nvSpPr>
        <p:spPr>
          <a:xfrm>
            <a:off x="419100" y="5381625"/>
            <a:ext cx="2205038" cy="9525"/>
          </a:xfrm>
          <a:prstGeom prst="rect">
            <a:avLst/>
          </a:prstGeom>
          <a:solidFill>
            <a:srgbClr val="E3DCD3"/>
          </a:solidFill>
          <a:ln>
            <a:noFill/>
          </a:ln>
        </p:spPr>
        <p:txBody>
          <a:bodyPr rtlCol="0" anchor="ctr"/>
          <a:lstStyle/>
          <a:p>
            <a:pPr algn="ctr"/>
            <a:endParaRPr/>
          </a:p>
        </p:txBody>
      </p:sp>
      <p:sp>
        <p:nvSpPr>
          <p:cNvPr id="34" name="Rule"/>
          <p:cNvSpPr/>
          <p:nvPr/>
        </p:nvSpPr>
        <p:spPr>
          <a:xfrm>
            <a:off x="419100" y="3924300"/>
            <a:ext cx="9525" cy="1466850"/>
          </a:xfrm>
          <a:prstGeom prst="rect">
            <a:avLst/>
          </a:prstGeom>
          <a:solidFill>
            <a:srgbClr val="E3DCD3"/>
          </a:solidFill>
          <a:ln>
            <a:noFill/>
          </a:ln>
        </p:spPr>
        <p:txBody>
          <a:bodyPr rtlCol="0" anchor="ctr"/>
          <a:lstStyle/>
          <a:p>
            <a:pPr algn="ctr"/>
            <a:endParaRPr/>
          </a:p>
        </p:txBody>
      </p:sp>
      <p:pic>
        <p:nvPicPr>
          <p:cNvPr id="35" name="Picture" descr="The M&amp;A Advisor award: Investment Banking Firm of the Year"/>
          <p:cNvPicPr>
            <a:picLocks noChangeAspect="1"/>
          </p:cNvPicPr>
          <p:nvPr/>
        </p:nvPicPr>
        <p:blipFill>
          <a:blip r:embed="rId5"/>
          <a:stretch>
            <a:fillRect/>
          </a:stretch>
        </p:blipFill>
        <p:spPr>
          <a:xfrm>
            <a:off x="514499" y="4086225"/>
            <a:ext cx="2014091" cy="1162050"/>
          </a:xfrm>
          <a:prstGeom prst="rect">
            <a:avLst/>
          </a:prstGeom>
        </p:spPr>
      </p:pic>
      <p:sp>
        <p:nvSpPr>
          <p:cNvPr id="36" name="Panel"/>
          <p:cNvSpPr/>
          <p:nvPr/>
        </p:nvSpPr>
        <p:spPr>
          <a:xfrm>
            <a:off x="2757488" y="3924300"/>
            <a:ext cx="2205038" cy="1466850"/>
          </a:xfrm>
          <a:prstGeom prst="rect">
            <a:avLst/>
          </a:prstGeom>
          <a:solidFill>
            <a:srgbClr val="FFFFFF"/>
          </a:solidFill>
          <a:ln>
            <a:noFill/>
          </a:ln>
        </p:spPr>
        <p:txBody>
          <a:bodyPr rtlCol="0" anchor="ctr"/>
          <a:lstStyle/>
          <a:p>
            <a:pPr algn="ctr"/>
            <a:endParaRPr/>
          </a:p>
        </p:txBody>
      </p:sp>
      <p:sp>
        <p:nvSpPr>
          <p:cNvPr id="37" name="Rule"/>
          <p:cNvSpPr/>
          <p:nvPr/>
        </p:nvSpPr>
        <p:spPr>
          <a:xfrm>
            <a:off x="2757488" y="3924300"/>
            <a:ext cx="2205038" cy="28575"/>
          </a:xfrm>
          <a:prstGeom prst="rect">
            <a:avLst/>
          </a:prstGeom>
          <a:solidFill>
            <a:srgbClr val="B68757"/>
          </a:solidFill>
          <a:ln>
            <a:noFill/>
          </a:ln>
        </p:spPr>
        <p:txBody>
          <a:bodyPr rtlCol="0" anchor="ctr"/>
          <a:lstStyle/>
          <a:p>
            <a:pPr algn="ctr"/>
            <a:endParaRPr/>
          </a:p>
        </p:txBody>
      </p:sp>
      <p:sp>
        <p:nvSpPr>
          <p:cNvPr id="38" name="Rule"/>
          <p:cNvSpPr/>
          <p:nvPr/>
        </p:nvSpPr>
        <p:spPr>
          <a:xfrm>
            <a:off x="4953000" y="3924300"/>
            <a:ext cx="9525" cy="1466850"/>
          </a:xfrm>
          <a:prstGeom prst="rect">
            <a:avLst/>
          </a:prstGeom>
          <a:solidFill>
            <a:srgbClr val="E3DCD3"/>
          </a:solidFill>
          <a:ln>
            <a:noFill/>
          </a:ln>
        </p:spPr>
        <p:txBody>
          <a:bodyPr rtlCol="0" anchor="ctr"/>
          <a:lstStyle/>
          <a:p>
            <a:pPr algn="ctr"/>
            <a:endParaRPr/>
          </a:p>
        </p:txBody>
      </p:sp>
      <p:sp>
        <p:nvSpPr>
          <p:cNvPr id="39" name="Rule"/>
          <p:cNvSpPr/>
          <p:nvPr/>
        </p:nvSpPr>
        <p:spPr>
          <a:xfrm>
            <a:off x="2757488" y="5381625"/>
            <a:ext cx="2205038" cy="9525"/>
          </a:xfrm>
          <a:prstGeom prst="rect">
            <a:avLst/>
          </a:prstGeom>
          <a:solidFill>
            <a:srgbClr val="E3DCD3"/>
          </a:solidFill>
          <a:ln>
            <a:noFill/>
          </a:ln>
        </p:spPr>
        <p:txBody>
          <a:bodyPr rtlCol="0" anchor="ctr"/>
          <a:lstStyle/>
          <a:p>
            <a:pPr algn="ctr"/>
            <a:endParaRPr/>
          </a:p>
        </p:txBody>
      </p:sp>
      <p:sp>
        <p:nvSpPr>
          <p:cNvPr id="40" name="Rule"/>
          <p:cNvSpPr/>
          <p:nvPr/>
        </p:nvSpPr>
        <p:spPr>
          <a:xfrm>
            <a:off x="2757488" y="3924300"/>
            <a:ext cx="9525" cy="1466850"/>
          </a:xfrm>
          <a:prstGeom prst="rect">
            <a:avLst/>
          </a:prstGeom>
          <a:solidFill>
            <a:srgbClr val="E3DCD3"/>
          </a:solidFill>
          <a:ln>
            <a:noFill/>
          </a:ln>
        </p:spPr>
        <p:txBody>
          <a:bodyPr rtlCol="0" anchor="ctr"/>
          <a:lstStyle/>
          <a:p>
            <a:pPr algn="ctr"/>
            <a:endParaRPr/>
          </a:p>
        </p:txBody>
      </p:sp>
      <p:pic>
        <p:nvPicPr>
          <p:cNvPr id="41" name="Picture" descr="PitchBook award: #1 Sell-Side Exclusive M&amp;A Advisor in the World"/>
          <p:cNvPicPr>
            <a:picLocks noChangeAspect="1"/>
          </p:cNvPicPr>
          <p:nvPr/>
        </p:nvPicPr>
        <p:blipFill>
          <a:blip r:embed="rId6"/>
          <a:stretch>
            <a:fillRect/>
          </a:stretch>
        </p:blipFill>
        <p:spPr>
          <a:xfrm>
            <a:off x="2852886" y="4086225"/>
            <a:ext cx="2014091" cy="1162050"/>
          </a:xfrm>
          <a:prstGeom prst="rect">
            <a:avLst/>
          </a:prstGeom>
        </p:spPr>
      </p:pic>
      <p:sp>
        <p:nvSpPr>
          <p:cNvPr id="42" name="Panel"/>
          <p:cNvSpPr/>
          <p:nvPr/>
        </p:nvSpPr>
        <p:spPr>
          <a:xfrm>
            <a:off x="5095875" y="3924300"/>
            <a:ext cx="2205038" cy="1466850"/>
          </a:xfrm>
          <a:prstGeom prst="rect">
            <a:avLst/>
          </a:prstGeom>
          <a:solidFill>
            <a:srgbClr val="FFFFFF"/>
          </a:solidFill>
          <a:ln>
            <a:noFill/>
          </a:ln>
        </p:spPr>
        <p:txBody>
          <a:bodyPr rtlCol="0" anchor="ctr"/>
          <a:lstStyle/>
          <a:p>
            <a:pPr algn="ctr"/>
            <a:endParaRPr/>
          </a:p>
        </p:txBody>
      </p:sp>
      <p:sp>
        <p:nvSpPr>
          <p:cNvPr id="43" name="Rule"/>
          <p:cNvSpPr/>
          <p:nvPr/>
        </p:nvSpPr>
        <p:spPr>
          <a:xfrm>
            <a:off x="5095875" y="3924300"/>
            <a:ext cx="2205038" cy="28575"/>
          </a:xfrm>
          <a:prstGeom prst="rect">
            <a:avLst/>
          </a:prstGeom>
          <a:solidFill>
            <a:srgbClr val="B68757"/>
          </a:solidFill>
          <a:ln>
            <a:noFill/>
          </a:ln>
        </p:spPr>
        <p:txBody>
          <a:bodyPr rtlCol="0" anchor="ctr"/>
          <a:lstStyle/>
          <a:p>
            <a:pPr algn="ctr"/>
            <a:endParaRPr/>
          </a:p>
        </p:txBody>
      </p:sp>
      <p:sp>
        <p:nvSpPr>
          <p:cNvPr id="44" name="Rule"/>
          <p:cNvSpPr/>
          <p:nvPr/>
        </p:nvSpPr>
        <p:spPr>
          <a:xfrm>
            <a:off x="7291388" y="3924300"/>
            <a:ext cx="9525" cy="1466850"/>
          </a:xfrm>
          <a:prstGeom prst="rect">
            <a:avLst/>
          </a:prstGeom>
          <a:solidFill>
            <a:srgbClr val="E3DCD3"/>
          </a:solidFill>
          <a:ln>
            <a:noFill/>
          </a:ln>
        </p:spPr>
        <p:txBody>
          <a:bodyPr rtlCol="0" anchor="ctr"/>
          <a:lstStyle/>
          <a:p>
            <a:pPr algn="ctr"/>
            <a:endParaRPr/>
          </a:p>
        </p:txBody>
      </p:sp>
      <p:sp>
        <p:nvSpPr>
          <p:cNvPr id="45" name="Rule"/>
          <p:cNvSpPr/>
          <p:nvPr/>
        </p:nvSpPr>
        <p:spPr>
          <a:xfrm>
            <a:off x="5095875" y="5381625"/>
            <a:ext cx="2205038" cy="9525"/>
          </a:xfrm>
          <a:prstGeom prst="rect">
            <a:avLst/>
          </a:prstGeom>
          <a:solidFill>
            <a:srgbClr val="E3DCD3"/>
          </a:solidFill>
          <a:ln>
            <a:noFill/>
          </a:ln>
        </p:spPr>
        <p:txBody>
          <a:bodyPr rtlCol="0" anchor="ctr"/>
          <a:lstStyle/>
          <a:p>
            <a:pPr algn="ctr"/>
            <a:endParaRPr/>
          </a:p>
        </p:txBody>
      </p:sp>
      <p:sp>
        <p:nvSpPr>
          <p:cNvPr id="46" name="Rule"/>
          <p:cNvSpPr/>
          <p:nvPr/>
        </p:nvSpPr>
        <p:spPr>
          <a:xfrm>
            <a:off x="5095875" y="3924300"/>
            <a:ext cx="9525" cy="1466850"/>
          </a:xfrm>
          <a:prstGeom prst="rect">
            <a:avLst/>
          </a:prstGeom>
          <a:solidFill>
            <a:srgbClr val="E3DCD3"/>
          </a:solidFill>
          <a:ln>
            <a:noFill/>
          </a:ln>
        </p:spPr>
        <p:txBody>
          <a:bodyPr rtlCol="0" anchor="ctr"/>
          <a:lstStyle/>
          <a:p>
            <a:pPr algn="ctr"/>
            <a:endParaRPr/>
          </a:p>
        </p:txBody>
      </p:sp>
      <p:pic>
        <p:nvPicPr>
          <p:cNvPr id="47" name="Picture" descr="LSEG award: #1 Privately-Held M&amp;A Advisors Worldwide"/>
          <p:cNvPicPr>
            <a:picLocks noChangeAspect="1"/>
          </p:cNvPicPr>
          <p:nvPr/>
        </p:nvPicPr>
        <p:blipFill>
          <a:blip r:embed="rId7"/>
          <a:stretch>
            <a:fillRect/>
          </a:stretch>
        </p:blipFill>
        <p:spPr>
          <a:xfrm>
            <a:off x="5191274" y="4086225"/>
            <a:ext cx="2014091" cy="1162050"/>
          </a:xfrm>
          <a:prstGeom prst="rect">
            <a:avLst/>
          </a:prstGeom>
        </p:spPr>
      </p:pic>
      <p:sp>
        <p:nvSpPr>
          <p:cNvPr id="48" name="Panel"/>
          <p:cNvSpPr/>
          <p:nvPr/>
        </p:nvSpPr>
        <p:spPr>
          <a:xfrm>
            <a:off x="7434262" y="3924300"/>
            <a:ext cx="2205038" cy="1466850"/>
          </a:xfrm>
          <a:prstGeom prst="rect">
            <a:avLst/>
          </a:prstGeom>
          <a:solidFill>
            <a:srgbClr val="FFFFFF"/>
          </a:solidFill>
          <a:ln>
            <a:noFill/>
          </a:ln>
        </p:spPr>
        <p:txBody>
          <a:bodyPr rtlCol="0" anchor="ctr"/>
          <a:lstStyle/>
          <a:p>
            <a:pPr algn="ctr"/>
            <a:endParaRPr/>
          </a:p>
        </p:txBody>
      </p:sp>
      <p:sp>
        <p:nvSpPr>
          <p:cNvPr id="49" name="Rule"/>
          <p:cNvSpPr/>
          <p:nvPr/>
        </p:nvSpPr>
        <p:spPr>
          <a:xfrm>
            <a:off x="7434262" y="3924300"/>
            <a:ext cx="2205038" cy="28575"/>
          </a:xfrm>
          <a:prstGeom prst="rect">
            <a:avLst/>
          </a:prstGeom>
          <a:solidFill>
            <a:srgbClr val="B68757"/>
          </a:solidFill>
          <a:ln>
            <a:noFill/>
          </a:ln>
        </p:spPr>
        <p:txBody>
          <a:bodyPr rtlCol="0" anchor="ctr"/>
          <a:lstStyle/>
          <a:p>
            <a:pPr algn="ctr"/>
            <a:endParaRPr/>
          </a:p>
        </p:txBody>
      </p:sp>
      <p:sp>
        <p:nvSpPr>
          <p:cNvPr id="50" name="Rule"/>
          <p:cNvSpPr/>
          <p:nvPr/>
        </p:nvSpPr>
        <p:spPr>
          <a:xfrm>
            <a:off x="9629775" y="3924300"/>
            <a:ext cx="9525" cy="1466850"/>
          </a:xfrm>
          <a:prstGeom prst="rect">
            <a:avLst/>
          </a:prstGeom>
          <a:solidFill>
            <a:srgbClr val="E3DCD3"/>
          </a:solidFill>
          <a:ln>
            <a:noFill/>
          </a:ln>
        </p:spPr>
        <p:txBody>
          <a:bodyPr rtlCol="0" anchor="ctr"/>
          <a:lstStyle/>
          <a:p>
            <a:pPr algn="ctr"/>
            <a:endParaRPr/>
          </a:p>
        </p:txBody>
      </p:sp>
      <p:sp>
        <p:nvSpPr>
          <p:cNvPr id="51" name="Rule"/>
          <p:cNvSpPr/>
          <p:nvPr/>
        </p:nvSpPr>
        <p:spPr>
          <a:xfrm>
            <a:off x="7434262" y="5381625"/>
            <a:ext cx="2205038" cy="9525"/>
          </a:xfrm>
          <a:prstGeom prst="rect">
            <a:avLst/>
          </a:prstGeom>
          <a:solidFill>
            <a:srgbClr val="E3DCD3"/>
          </a:solidFill>
          <a:ln>
            <a:noFill/>
          </a:ln>
        </p:spPr>
        <p:txBody>
          <a:bodyPr rtlCol="0" anchor="ctr"/>
          <a:lstStyle/>
          <a:p>
            <a:pPr algn="ctr"/>
            <a:endParaRPr/>
          </a:p>
        </p:txBody>
      </p:sp>
      <p:sp>
        <p:nvSpPr>
          <p:cNvPr id="52" name="Rule"/>
          <p:cNvSpPr/>
          <p:nvPr/>
        </p:nvSpPr>
        <p:spPr>
          <a:xfrm>
            <a:off x="7434262" y="3924300"/>
            <a:ext cx="9525" cy="1466850"/>
          </a:xfrm>
          <a:prstGeom prst="rect">
            <a:avLst/>
          </a:prstGeom>
          <a:solidFill>
            <a:srgbClr val="E3DCD3"/>
          </a:solidFill>
          <a:ln>
            <a:noFill/>
          </a:ln>
        </p:spPr>
        <p:txBody>
          <a:bodyPr rtlCol="0" anchor="ctr"/>
          <a:lstStyle/>
          <a:p>
            <a:pPr algn="ctr"/>
            <a:endParaRPr/>
          </a:p>
        </p:txBody>
      </p:sp>
      <p:pic>
        <p:nvPicPr>
          <p:cNvPr id="53" name="Picture" descr="DealMakers award: Mergers and Acquisitions (Unlisted Deals), first in the category of Investment Advisers (Deal Flow)"/>
          <p:cNvPicPr>
            <a:picLocks noChangeAspect="1"/>
          </p:cNvPicPr>
          <p:nvPr/>
        </p:nvPicPr>
        <p:blipFill>
          <a:blip r:embed="rId8"/>
          <a:stretch>
            <a:fillRect/>
          </a:stretch>
        </p:blipFill>
        <p:spPr>
          <a:xfrm>
            <a:off x="7529661" y="4086225"/>
            <a:ext cx="2014091" cy="1162050"/>
          </a:xfrm>
          <a:prstGeom prst="rect">
            <a:avLst/>
          </a:prstGeom>
        </p:spPr>
      </p:pic>
      <p:sp>
        <p:nvSpPr>
          <p:cNvPr id="54"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5"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6" name="Rule"/>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7" name="Graphic" descr="Industrial icon, a factory"/>
          <p:cNvPicPr>
            <a:picLocks noChangeAspect="1"/>
          </p:cNvPicPr>
          <p:nvPr/>
        </p:nvPicPr>
        <p:blipFill>
          <a:blip r:embed="rId9"/>
          <a:stretch>
            <a:fillRect/>
          </a:stretch>
        </p:blipFill>
        <p:spPr>
          <a:xfrm>
            <a:off x="533400" y="6515100"/>
            <a:ext cx="285750" cy="285750"/>
          </a:xfrm>
          <a:prstGeom prst="rect">
            <a:avLst/>
          </a:prstGeom>
        </p:spPr>
      </p:pic>
      <p:sp>
        <p:nvSpPr>
          <p:cNvPr id="58"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9"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60" name="Rule"/>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61" name="Graphic" descr="Business Services icon, a briefcase"/>
          <p:cNvPicPr>
            <a:picLocks noChangeAspect="1"/>
          </p:cNvPicPr>
          <p:nvPr/>
        </p:nvPicPr>
        <p:blipFill>
          <a:blip r:embed="rId10"/>
          <a:stretch>
            <a:fillRect/>
          </a:stretch>
        </p:blipFill>
        <p:spPr>
          <a:xfrm>
            <a:off x="2400300" y="6515100"/>
            <a:ext cx="285750" cy="285750"/>
          </a:xfrm>
          <a:prstGeom prst="rect">
            <a:avLst/>
          </a:prstGeom>
        </p:spPr>
      </p:pic>
      <p:sp>
        <p:nvSpPr>
          <p:cNvPr id="62"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63"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4" name="Rule"/>
          <p:cNvSpPr/>
          <p:nvPr/>
        </p:nvSpPr>
        <p:spPr>
          <a:xfrm>
            <a:off x="4152900" y="6353175"/>
            <a:ext cx="1752600" cy="28575"/>
          </a:xfrm>
          <a:prstGeom prst="rect">
            <a:avLst/>
          </a:prstGeom>
          <a:solidFill>
            <a:srgbClr val="1B1A1A"/>
          </a:solidFill>
          <a:ln>
            <a:noFill/>
          </a:ln>
        </p:spPr>
        <p:txBody>
          <a:bodyPr rtlCol="0" anchor="ctr"/>
          <a:lstStyle/>
          <a:p>
            <a:pPr algn="ctr"/>
            <a:endParaRPr/>
          </a:p>
        </p:txBody>
      </p:sp>
      <p:pic>
        <p:nvPicPr>
          <p:cNvPr id="65" name="Graphic" descr="Consumer icon, a shopping cart"/>
          <p:cNvPicPr>
            <a:picLocks noChangeAspect="1"/>
          </p:cNvPicPr>
          <p:nvPr/>
        </p:nvPicPr>
        <p:blipFill>
          <a:blip r:embed="rId11"/>
          <a:stretch>
            <a:fillRect/>
          </a:stretch>
        </p:blipFill>
        <p:spPr>
          <a:xfrm>
            <a:off x="4267200" y="6515100"/>
            <a:ext cx="285750" cy="285750"/>
          </a:xfrm>
          <a:prstGeom prst="rect">
            <a:avLst/>
          </a:prstGeom>
        </p:spPr>
      </p:pic>
      <p:sp>
        <p:nvSpPr>
          <p:cNvPr id="66"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7"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8" name="Rule"/>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9" name="Graphic" descr="Healthcare icon, a heart with a pulse line"/>
          <p:cNvPicPr>
            <a:picLocks noChangeAspect="1"/>
          </p:cNvPicPr>
          <p:nvPr/>
        </p:nvPicPr>
        <p:blipFill>
          <a:blip r:embed="rId12"/>
          <a:stretch>
            <a:fillRect/>
          </a:stretch>
        </p:blipFill>
        <p:spPr>
          <a:xfrm>
            <a:off x="6134100" y="6515100"/>
            <a:ext cx="285750" cy="285750"/>
          </a:xfrm>
          <a:prstGeom prst="rect">
            <a:avLst/>
          </a:prstGeom>
        </p:spPr>
      </p:pic>
      <p:sp>
        <p:nvSpPr>
          <p:cNvPr id="70"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71"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72" name="Rule"/>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73" name="Graphic" descr="Technology icon, a microchip"/>
          <p:cNvPicPr>
            <a:picLocks noChangeAspect="1"/>
          </p:cNvPicPr>
          <p:nvPr/>
        </p:nvPicPr>
        <p:blipFill>
          <a:blip r:embed="rId13"/>
          <a:stretch>
            <a:fillRect/>
          </a:stretch>
        </p:blipFill>
        <p:spPr>
          <a:xfrm>
            <a:off x="8001000" y="6515100"/>
            <a:ext cx="285750" cy="285750"/>
          </a:xfrm>
          <a:prstGeom prst="rect">
            <a:avLst/>
          </a:prstGeom>
        </p:spPr>
      </p:pic>
      <p:sp>
        <p:nvSpPr>
          <p:cNvPr id="74"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3703320"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95">
                <a:solidFill>
                  <a:srgbClr val="8C6239"/>
                </a:solidFill>
                <a:latin typeface="Quicksand"/>
              </a:rPr>
              <a:t>CONSUMER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Panel"/>
          <p:cNvSpPr/>
          <p:nvPr/>
        </p:nvSpPr>
        <p:spPr>
          <a:xfrm>
            <a:off x="419100" y="2640000"/>
            <a:ext cx="685800" cy="19050"/>
          </a:xfrm>
          <a:prstGeom prst="rect">
            <a:avLst/>
          </a:prstGeom>
          <a:solidFill>
            <a:srgbClr val="B68757"/>
          </a:solidFill>
          <a:ln>
            <a:noFill/>
          </a:ln>
        </p:spPr>
        <p:txBody>
          <a:bodyPr rtlCol="0" anchor="ctr"/>
          <a:lstStyle/>
          <a:p>
            <a:pPr algn="ctr"/>
            <a:endParaRPr/>
          </a:p>
        </p:txBody>
      </p:sp>
      <p:sp>
        <p:nvSpPr>
          <p:cNvPr id="12" name="TextBox 11"/>
          <p:cNvSpPr txBox="1"/>
          <p:nvPr/>
        </p:nvSpPr>
        <p:spPr>
          <a:xfrm>
            <a:off x="419100" y="2714938"/>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dirty="0">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any of the four consumer segments, and the advisors who work with them, are welcome to call or email.</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Picture" descr="Headshot of Jared Hardin"/>
          <p:cNvPicPr>
            <a:picLocks noChangeAspect="1"/>
          </p:cNvPicPr>
          <p:nvPr/>
        </p:nvPicPr>
        <p:blipFill>
          <a:blip r:embed="rId2"/>
          <a:stretch>
            <a:fillRect/>
          </a:stretch>
        </p:blipFill>
        <p:spPr>
          <a:xfrm>
            <a:off x="600075" y="4513327"/>
            <a:ext cx="914400" cy="914400"/>
          </a:xfrm>
          <a:prstGeom prst="ellipse">
            <a:avLst/>
          </a:prstGeom>
        </p:spPr>
      </p:pic>
      <p:sp>
        <p:nvSpPr>
          <p:cNvPr id="16" name="TextBox 15"/>
          <p:cNvSpPr txBox="1"/>
          <p:nvPr/>
        </p:nvSpPr>
        <p:spPr>
          <a:xfrm>
            <a:off x="1704975" y="4485514"/>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04975" y="4779837"/>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p>
        </p:txBody>
      </p:sp>
      <p:sp>
        <p:nvSpPr>
          <p:cNvPr id="18" name="TextBox 17"/>
          <p:cNvSpPr txBox="1"/>
          <p:nvPr/>
        </p:nvSpPr>
        <p:spPr>
          <a:xfrm>
            <a:off x="1704975" y="4988243"/>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extLst>
                    <a:ext uri="{A12FA001-AC4F-418D-AE19-62706E023703}">
                      <ahyp:hlinkClr xmlns:ahyp="http://schemas.microsoft.com/office/drawing/2018/hyperlinkcolor" val="tx"/>
                    </a:ext>
                  </a:extLst>
                </a:hlinkClick>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Graphic"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27</a:t>
            </a:r>
          </a:p>
        </p:txBody>
      </p:sp>
      <p:pic>
        <p:nvPicPr>
          <p:cNvPr id="22" name="Picture 21" descr="Presenter at a screen with colleagues seated around a conference table with laptops and gift bags"/>
          <p:cNvPicPr>
            <a:picLocks noChangeAspect="1"/>
          </p:cNvPicPr>
          <p:nvPr/>
        </p:nvPicPr>
        <p:blipFill>
          <a:blip r:embed="rId7"/>
          <a:srcRect l="31494" r="31494"/>
          <a:stretch>
            <a:fillRect/>
          </a:stretch>
        </p:blipFill>
        <p:spPr>
          <a:xfrm>
            <a:off x="6477000" y="1238250"/>
            <a:ext cx="3162300" cy="569595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Sources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ources left column"/>
          <p:cNvSpPr txBox="1"/>
          <p:nvPr/>
        </p:nvSpPr>
        <p:spPr>
          <a:xfrm>
            <a:off x="419097" y="1234440"/>
            <a:ext cx="4480560" cy="5212080"/>
          </a:xfrm>
          <a:prstGeom prst="rect">
            <a:avLst/>
          </a:prstGeom>
          <a:noFill/>
          <a:ln/>
        </p:spPr>
        <p:txBody>
          <a:bodyPr wrap="square" lIns="0" tIns="0" rIns="0" bIns="0" numCol="1" spcCol="0" rtlCol="0" anchor="t"/>
          <a:lstStyle/>
          <a:p>
            <a:pPr marL="0" indent="0" algn="l">
              <a:lnSpc>
                <a:spcPts val="800"/>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800"/>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800"/>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800"/>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800"/>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800"/>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800"/>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800"/>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800"/>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800"/>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800"/>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800"/>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800"/>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800"/>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800"/>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800"/>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Northleaf private credit update, Q2 2026</a:t>
            </a:r>
            <a:r>
              <a:rPr lang="en-US" sz="668" u="sng" kern="0" spc="15" dirty="0">
                <a:solidFill>
                  <a:srgbClr val="8C6239"/>
                </a:solidFill>
                <a:latin typeface="Quicksand" pitchFamily="34" charset="0"/>
              </a:rPr>
              <a:t> insuranceaum.com</a:t>
            </a:r>
            <a:endParaRPr lang="en-US" sz="668" dirty="0"/>
          </a:p>
          <a:p>
            <a:pPr marL="0" indent="0" algn="l">
              <a:lnSpc>
                <a:spcPts val="800"/>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800"/>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800"/>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800"/>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800"/>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800"/>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800"/>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800"/>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800"/>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800"/>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800"/>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800"/>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800"/>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800"/>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Mister Car Wash and Leonard Green</a:t>
            </a:r>
            <a:r>
              <a:rPr lang="en-US" sz="668" u="sng" kern="0" spc="15" dirty="0">
                <a:solidFill>
                  <a:srgbClr val="8C6239"/>
                </a:solidFill>
                <a:latin typeface="Quicksand" pitchFamily="34" charset="0"/>
              </a:rPr>
              <a:t> prnewswire.com</a:t>
            </a:r>
            <a:endParaRPr lang="en-US" sz="668" dirty="0"/>
          </a:p>
          <a:p>
            <a:pPr marL="0" indent="0" algn="l">
              <a:lnSpc>
                <a:spcPts val="800"/>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800"/>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800"/>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800"/>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800"/>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800"/>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800"/>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52"/>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19,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28</a:t>
            </a:r>
            <a:endParaRPr lang="en-US" sz="713" dirty="0"/>
          </a:p>
        </p:txBody>
      </p:sp>
      <p:sp>
        <p:nvSpPr>
          <p:cNvPr id="15" name="Sources right column"/>
          <p:cNvSpPr txBox="1"/>
          <p:nvPr/>
        </p:nvSpPr>
        <p:spPr>
          <a:xfrm>
            <a:off x="5157216" y="1234440"/>
            <a:ext cx="4480560" cy="5212080"/>
          </a:xfrm>
          <a:prstGeom prst="rect">
            <a:avLst/>
          </a:prstGeom>
          <a:noFill/>
          <a:ln/>
        </p:spPr>
        <p:txBody>
          <a:bodyPr wrap="square" lIns="0" tIns="0" rIns="0" bIns="0" numCol="1" spcCol="0" rtlCol="0" anchor="t"/>
          <a:lstStyle/>
          <a:p>
            <a:pPr marL="0" indent="0" algn="l">
              <a:lnSpc>
                <a:spcPts val="800"/>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Hormel and Brakebush Brothers</a:t>
            </a:r>
            <a:r>
              <a:rPr lang="en-US" sz="668" u="sng" kern="0" spc="15" dirty="0">
                <a:solidFill>
                  <a:srgbClr val="8C6239"/>
                </a:solidFill>
                <a:latin typeface="Quicksand" pitchFamily="34" charset="0"/>
              </a:rPr>
              <a:t> hormelfoods.com</a:t>
            </a:r>
            <a:endParaRPr lang="en-US" sz="668" dirty="0"/>
          </a:p>
          <a:p>
            <a:pPr marL="0" indent="0" algn="l">
              <a:lnSpc>
                <a:spcPts val="800"/>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HF Foods and Searay Foods</a:t>
            </a:r>
            <a:r>
              <a:rPr lang="en-US" sz="668" u="sng" kern="0" spc="15" dirty="0">
                <a:solidFill>
                  <a:srgbClr val="8C6239"/>
                </a:solidFill>
                <a:latin typeface="Quicksand" pitchFamily="34" charset="0"/>
              </a:rPr>
              <a:t> hffoodsgroup.gcs-web.com</a:t>
            </a:r>
            <a:endParaRPr lang="en-US" sz="668" dirty="0"/>
          </a:p>
          <a:p>
            <a:pPr marL="0" indent="0" algn="l">
              <a:lnSpc>
                <a:spcPts val="800"/>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Vita Coco and Copra</a:t>
            </a:r>
            <a:r>
              <a:rPr lang="en-US" sz="668" u="sng" kern="0" spc="15" dirty="0">
                <a:solidFill>
                  <a:srgbClr val="8C6239"/>
                </a:solidFill>
                <a:latin typeface="Quicksand" pitchFamily="34" charset="0"/>
              </a:rPr>
              <a:t> sec.gov</a:t>
            </a:r>
            <a:endParaRPr lang="en-US" sz="668" dirty="0"/>
          </a:p>
          <a:p>
            <a:pPr marL="0" indent="0" algn="l">
              <a:lnSpc>
                <a:spcPts val="800"/>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thecloroxcompany.com</a:t>
            </a:r>
            <a:endParaRPr lang="en-US" sz="668" dirty="0"/>
          </a:p>
          <a:p>
            <a:pPr marL="0" indent="0" algn="l">
              <a:lnSpc>
                <a:spcPts val="800"/>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800"/>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800"/>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800"/>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800"/>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Mister Car Wash results</a:t>
            </a:r>
            <a:r>
              <a:rPr lang="en-US" sz="668" u="sng" kern="0" spc="15" dirty="0">
                <a:solidFill>
                  <a:srgbClr val="8C6239"/>
                </a:solidFill>
                <a:latin typeface="Quicksand" pitchFamily="34" charset="0"/>
              </a:rPr>
              <a:t> sec.gov</a:t>
            </a:r>
            <a:endParaRPr lang="en-US" sz="668" dirty="0"/>
          </a:p>
          <a:p>
            <a:pPr marL="0" indent="0" algn="l">
              <a:lnSpc>
                <a:spcPts val="800"/>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800"/>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800"/>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800"/>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PCT Top 100, 2026</a:t>
            </a:r>
            <a:r>
              <a:rPr lang="en-US" sz="668" u="sng" kern="0" spc="15" dirty="0">
                <a:solidFill>
                  <a:srgbClr val="8C6239"/>
                </a:solidFill>
                <a:latin typeface="Quicksand" pitchFamily="34" charset="0"/>
              </a:rPr>
              <a:t> pctonline.com</a:t>
            </a:r>
            <a:endParaRPr lang="en-US" sz="668" dirty="0"/>
          </a:p>
          <a:p>
            <a:pPr marL="0" indent="0" algn="l">
              <a:lnSpc>
                <a:spcPts val="800"/>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Prestige Consumer Healthcare and Foundation Consumer Healthcare</a:t>
            </a:r>
            <a:r>
              <a:rPr lang="en-US" sz="668" u="sng" kern="0" spc="15" dirty="0">
                <a:solidFill>
                  <a:srgbClr val="8C6239"/>
                </a:solidFill>
                <a:latin typeface="Quicksand" pitchFamily="34" charset="0"/>
              </a:rPr>
              <a:t> ir.prestigebrands.com</a:t>
            </a:r>
            <a:endParaRPr lang="en-US" sz="668" dirty="0"/>
          </a:p>
          <a:p>
            <a:pPr marL="0" indent="0" algn="l">
              <a:lnSpc>
                <a:spcPts val="800"/>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800"/>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Mercer Capital, Middle Market Transaction Update, Fall 2026 (GF Data)</a:t>
            </a:r>
            <a:r>
              <a:rPr lang="en-US" sz="668" u="sng" kern="0" spc="15" dirty="0">
                <a:solidFill>
                  <a:srgbClr val="8C6239"/>
                </a:solidFill>
                <a:latin typeface="Quicksand" pitchFamily="34" charset="0"/>
              </a:rPr>
              <a:t> mercercapital.com</a:t>
            </a:r>
            <a:endParaRPr lang="en-US" sz="668" dirty="0"/>
          </a:p>
          <a:p>
            <a:pPr marL="0" indent="0" algn="l">
              <a:lnSpc>
                <a:spcPts val="800"/>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800"/>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Retail and food services sales (RSAFS)</a:t>
            </a:r>
            <a:r>
              <a:rPr lang="en-US" sz="668" u="sng" kern="0" spc="15" dirty="0">
                <a:solidFill>
                  <a:srgbClr val="8C6239"/>
                </a:solidFill>
                <a:latin typeface="Quicksand" pitchFamily="34" charset="0"/>
              </a:rPr>
              <a:t> 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800"/>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FRED: Food services and drinking places sales (RSFSDP)</a:t>
            </a:r>
            <a:r>
              <a:rPr lang="en-US" sz="668" u="sng" kern="0" spc="15" dirty="0">
                <a:solidFill>
                  <a:srgbClr val="8C6239"/>
                </a:solidFill>
                <a:latin typeface="Quicksand" pitchFamily="34" charset="0"/>
              </a:rPr>
              <a:t> 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800"/>
              </a:lnSpc>
              <a:buNone/>
            </a:pPr>
            <a:r>
              <a:rPr lang="en-US" sz="668"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800"/>
              </a:lnSpc>
            </a:pPr>
            <a:endParaRPr lang="en-US" sz="700" kern="0" spc="15" dirty="0">
              <a:solidFill>
                <a:srgbClr val="333231"/>
              </a:solidFill>
              <a:latin typeface="Quicksand" pitchFamily="34" charset="0"/>
            </a:endParaRPr>
          </a:p>
        </p:txBody>
      </p:sp>
      <p:sp>
        <p:nvSpPr>
          <p:cNvPr id="16" name="Source methodology"/>
          <p:cNvSpPr txBox="1"/>
          <p:nvPr/>
        </p:nvSpPr>
        <p:spPr>
          <a:xfrm>
            <a:off x="419097" y="6510528"/>
            <a:ext cx="9217152" cy="393192"/>
          </a:xfrm>
          <a:prstGeom prst="rect">
            <a:avLst/>
          </a:prstGeom>
          <a:noFill/>
          <a:ln/>
        </p:spPr>
        <p:txBody>
          <a:bodyPr wrap="square" lIns="0" tIns="0" rIns="0" bIns="0" numCol="1" spcCol="0" rtlCol="0" anchor="t"/>
          <a:lstStyle/>
          <a:p>
            <a:pPr marL="0" indent="0" algn="l">
              <a:lnSpc>
                <a:spcPts val="800"/>
              </a:lnSpc>
              <a:buNone/>
            </a:pPr>
            <a:r>
              <a:rPr lang="en-US" sz="675" b="0" kern="0" spc="15" dirty="0">
                <a:solidFill>
                  <a:srgbClr val="1B1A1A"/>
                </a:solidFill>
                <a:latin typeface="Quicksand" pitchFamily="34" charset="0"/>
              </a:rPr>
              <a:t>Listed-company figures are from StockAnalysis and use reported results. Index series are from FRED, the US Census Bureau, the Bureau of Labor Statistics, and the University of Michigan. Benchmark International figures are from the firm’s transaction records as of October 1, 2026. Earnings quotations are from each company’s earnings release, and the view on page 8 is the Middle Market team’s.</a:t>
            </a:r>
            <a:endParaRPr lang="en-US" sz="66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C6239"/>
      </a:hlink>
      <a:folHlink>
        <a:srgbClr val="8C6239"/>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Consumer Q4 2026 M&amp;A Industry Report | Benchmark International</dc:title>
  <cp:lastModifiedBy>Jared Hardin</cp:lastModifiedBy>
  <cp:revision>1</cp:revision>
  <dcterms:modified xsi:type="dcterms:W3CDTF">2026-10-27T20:15:16Z</dcterms:modified>
  <dc:subject>Consumer mergers and acquisitions: deal activity, valuations, and what buyers are paying for, Q4 2026</dc:subject>
  <dc:creator>Jared Hardin, Benchmark International</dc:creator>
  <cp:keywords>Consumer M&amp;A, middle market, sell-side M&amp;A, Q4 2026, Benchmark International</cp:keywords>
</cp:coreProperties>
</file>