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jpg" ContentType="image/jpg"/>
  <Override PartName="/ppt/media/image11.jpg" ContentType="image/jpg"/>
  <Override PartName="/ppt/media/image20.jpg" ContentType="image/jpg"/>
  <Override PartName="/ppt/media/image21.jpg" ContentType="image/jpg"/>
  <Override PartName="/ppt/media/image23.jpg" ContentType="image/jpg"/>
  <Override PartName="/ppt/media/image25.jpg" ContentType="image/jpg"/>
  <Override PartName="/ppt/media/image27.jpg" ContentType="image/jpg"/>
  <Override PartName="/ppt/media/image29.jpg" ContentType="image/jpg"/>
  <Override PartName="/ppt/media/image31.jpg" ContentType="image/jpg"/>
  <Override PartName="/ppt/media/image45.jpg" ContentType="image/jpg"/>
  <Override PartName="/ppt/media/image46.jpg" ContentType="image/jpg"/>
  <Override PartName="/ppt/media/image47.jpg" ContentType="image/jpg"/>
  <Override PartName="/ppt/media/image48.jpg" ContentType="image/jpg"/>
  <Override PartName="/ppt/media/image49.jpg" ContentType="image/jpg"/>
  <Override PartName="/ppt/media/image8.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9.2850000000000001</c:v>
                </c:pt>
                <c:pt idx="1">
                  <c:v>10.32</c:v>
                </c:pt>
                <c:pt idx="2">
                  <c:v>6.6349999999999998</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4.22</c:v>
                </c:pt>
                <c:pt idx="2">
                  <c:v>6.28</c:v>
                </c:pt>
                <c:pt idx="3">
                  <c:v>8.66</c:v>
                </c:pt>
                <c:pt idx="4">
                  <c:v>8.43</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4.5149999999999997</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 Cover.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Insights.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Happening in Consumer Right Now.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4: Tariffs, Fuel and Financing.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Perspectives on Four Consumer Segments.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What We're Reading.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Sector Activity.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8: Select Recent Consumer Transactions (1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9: Select Recent Consumer Transactions (2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10: Benchmark International's Consumer Transactions.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11: Who Is Buying.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12: Public Company Market Performance.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13: Revenue Growth Trends.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 Public Company Valuation Metrics.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15: Public Company Metrics: Food and Beverage.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16: Public Company Metrics: Consumer Brands and Foodservice.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17: Public Company Metrics: Restaurants, Services and Retail.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18: Demand and Cost Indicators.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19: Connect With Us.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20: Connect With Our Team.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21: Important Disclosures.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22: Sources.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 Id="rId17" Type="http://schemas.openxmlformats.org/officeDocument/2006/relationships/hyperlink" Target="https://www.linkedin.com/in/jared-p-hardin" TargetMode="External"/><Relationship Id="rId18" Type="http://schemas.openxmlformats.org/officeDocument/2006/relationships/hyperlink" Target="mailto:jhoutz@benchmarkintl.com" TargetMode="External"/><Relationship Id="rId19" Type="http://schemas.openxmlformats.org/officeDocument/2006/relationships/hyperlink" Target="https://www.linkedin.com/in/jordanhoutz" TargetMode="External"/><Relationship Id="rId20" Type="http://schemas.openxmlformats.org/officeDocument/2006/relationships/hyperlink" Target="tel:8138982372" TargetMode="External"/><Relationship Id="rId21" Type="http://schemas.openxmlformats.org/officeDocument/2006/relationships/hyperlink" Target="mailto:azykov@benchmarkintl.com" TargetMode="External"/><Relationship Id="rId22" Type="http://schemas.openxmlformats.org/officeDocument/2006/relationships/hyperlink" Target="https://www.linkedin.com/in/alex-zykov-787646b"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https://www.linkedin.com/in/shannon-l-h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descr="/tmp/claude-0/-home-claude-about/4bef2f41-4227-5ff7-ab18-11ac74cd9797/scratchpad/pptx/ex/media/bbebf5d44e0c.png"/>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SECTOR REPORT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consumer through the third quarter, and they are paying for brands and operators that have held price and volume while the cost of financing a purchase rises.</a:t>
            </a:r>
            <a:endParaRPr lang="en-US" sz="1500" dirty="0"/>
          </a:p>
        </p:txBody>
      </p:sp>
      <p:pic>
        <p:nvPicPr>
          <p:cNvPr id="12" name="Icon" descr="/tmp/claude-0/-home-claude-about/4bef2f41-4227-5ff7-ab18-11ac74cd9797/scratchpad/pptx/ex/media/a5844c0bd0eb.png"/>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descr="/tmp/claude-0/-home-claude-about/4bef2f41-4227-5ff7-ab18-11ac74cd9797/scratchpad/pptx/ex/media/267c0dc43ff0.png"/>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descr="/tmp/claude-0/-home-claude-about/4bef2f41-4227-5ff7-ab18-11ac74cd9797/scratchpad/pptx/ex/media/df6e3233e72f.png"/>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descr="/tmp/claude-0/-home-claude-about/4bef2f41-4227-5ff7-ab18-11ac74cd9797/scratchpad/pptx/ex/media/b26f2f7508a0.png"/>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segments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Sector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the buyer landscape,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SECTOR REPORT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sp>
        <p:nvSpPr>
          <p:cNvPr id="12" name="Shape 11"/>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03</a:t>
            </a:r>
            <a:endParaRPr lang="en-US" sz="825" dirty="0"/>
          </a:p>
        </p:txBody>
      </p:sp>
      <p:sp>
        <p:nvSpPr>
          <p:cNvPr id="15" name="Text 14"/>
          <p:cNvSpPr txBox="1"/>
          <p:nvPr/>
        </p:nvSpPr>
        <p:spPr>
          <a:xfrm>
            <a:off x="971550" y="5386388"/>
            <a:ext cx="205353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Happening in consumer right now</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04</a:t>
            </a:r>
            <a:endParaRPr lang="en-US" sz="825" dirty="0"/>
          </a:p>
        </p:txBody>
      </p:sp>
      <p:sp>
        <p:nvSpPr>
          <p:cNvPr id="18" name="Text 17"/>
          <p:cNvSpPr txBox="1"/>
          <p:nvPr/>
        </p:nvSpPr>
        <p:spPr>
          <a:xfrm>
            <a:off x="971550" y="5757863"/>
            <a:ext cx="349493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Tariffs, fuel and financing: three costs buyers are repricing</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05</a:t>
            </a:r>
            <a:endParaRPr lang="en-US" sz="825" dirty="0"/>
          </a:p>
        </p:txBody>
      </p:sp>
      <p:sp>
        <p:nvSpPr>
          <p:cNvPr id="21" name="Text 20"/>
          <p:cNvSpPr txBox="1"/>
          <p:nvPr/>
        </p:nvSpPr>
        <p:spPr>
          <a:xfrm>
            <a:off x="971550" y="6129338"/>
            <a:ext cx="249421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Perspectives on four consumer segments</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06</a:t>
            </a:r>
            <a:endParaRPr lang="en-US" sz="825" dirty="0"/>
          </a:p>
        </p:txBody>
      </p:sp>
      <p:sp>
        <p:nvSpPr>
          <p:cNvPr id="24" name="Text 23"/>
          <p:cNvSpPr txBox="1"/>
          <p:nvPr/>
        </p:nvSpPr>
        <p:spPr>
          <a:xfrm>
            <a:off x="971550" y="6500813"/>
            <a:ext cx="120893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What we’re reading</a:t>
            </a:r>
            <a:endParaRPr lang="en-US" sz="975"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the management of a listed company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descr="/tmp/claude-0/-home-claude-about/4bef2f41-4227-5ff7-ab18-11ac74cd9797/scratchpad/pptx/ex/media/1a2bb4c623c9.png"/>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descr="/tmp/claude-0/-home-claude-about/4bef2f41-4227-5ff7-ab18-11ac74cd9797/scratchpad/pptx/ex/media/c842de1b9991.png"/>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descr="/tmp/claude-0/-home-claude-about/4bef2f41-4227-5ff7-ab18-11ac74cd9797/scratchpad/pptx/ex/media/7f896b401a11.png"/>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descr="/tmp/claude-0/-home-claude-about/4bef2f41-4227-5ff7-ab18-11ac74cd9797/scratchpad/pptx/ex/media/824067d0c0ab.png"/>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descr="/tmp/claude-0/-home-claude-about/4bef2f41-4227-5ff7-ab18-11ac74cd9797/scratchpad/pptx/ex/media/0ff2b76e92bb.png"/>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a:t>
            </a:r>
            <a:r>
              <a:rPr lang="en-US" sz="795" kern="0" spc="15" dirty="0">
                <a:solidFill>
                  <a:srgbClr val="333231"/>
                </a:solidFill>
                <a:latin typeface="Quicksand" pitchFamily="34" charset="0"/>
              </a:rPr>
              <a:t>, a temporary 10% tariff followed,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a:t>
            </a:r>
            <a:r>
              <a:rPr lang="en-US" sz="795" kern="0" spc="15" dirty="0">
                <a:solidFill>
                  <a:srgbClr val="333231"/>
                </a:solidFill>
                <a:latin typeface="Quicksand" pitchFamily="34" charset="0"/>
              </a:rPr>
              <a:t> apply to 60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descr="/tmp/claude-0/-home-claude-about/4bef2f41-4227-5ff7-ab18-11ac74cd9797/scratchpad/pptx/ex/media/0a88f65df2d4.png"/>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descr="/tmp/claude-0/-home-claude-about/4bef2f41-4227-5ff7-ab18-11ac74cd9797/scratchpad/pptx/ex/media/e559ea1bcf7b.png"/>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Segments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segments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descr="/tmp/claude-0/-home-claude-about/4bef2f41-4227-5ff7-ab18-11ac74cd9797/scratchpad/pptx/ex/media/57a13b492294.png"/>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descr="/tmp/claude-0/-home-claude-about/4bef2f41-4227-5ff7-ab18-11ac74cd9797/scratchpad/pptx/ex/media/60d9d56b60f3.png"/>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descr="/tmp/claude-0/-home-claude-about/4bef2f41-4227-5ff7-ab18-11ac74cd9797/scratchpad/pptx/ex/media/d87eae45b167.png"/>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descr="/tmp/claude-0/-home-claude-about/4bef2f41-4227-5ff7-ab18-11ac74cd9797/scratchpad/pptx/ex/media/84e7bc3cb1b6.png"/>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descr="/tmp/claude-0/-home-claude-about/4bef2f41-4227-5ff7-ab18-11ac74cd9797/scratchpad/pptx/ex/media/236f278cd0c9.png"/>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SECTOR REPORT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Sector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descr="/tmp/claude-0/-home-claude-about/4bef2f41-4227-5ff7-ab18-11ac74cd9797/scratchpad/pptx/ex/media/12a88f390be7.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descr="/tmp/claude-0/-home-claude-about/4bef2f41-4227-5ff7-ab18-11ac74cd9797/scratchpad/pptx/ex/media/12a88f390be7.png"/>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descr="/tmp/claude-0/-home-claude-about/4bef2f41-4227-5ff7-ab18-11ac74cd9797/scratchpad/pptx/ex/media/12a88f390be7.png"/>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descr="/tmp/claude-0/-home-claude-about/4bef2f41-4227-5ff7-ab18-11ac74cd9797/scratchpad/pptx/ex/media/850c46659f16.png"/>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descr="/tmp/claude-0/-home-claude-about/4bef2f41-4227-5ff7-ab18-11ac74cd9797/scratchpad/pptx/ex/media/850c46659f16.png"/>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descr="/tmp/claude-0/-home-claude-about/4bef2f41-4227-5ff7-ab18-11ac74cd9797/scratchpad/pptx/ex/media/850c46659f16.png"/>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descr="/tmp/claude-0/-home-claude-about/4bef2f41-4227-5ff7-ab18-11ac74cd9797/scratchpad/pptx/ex/media/2fc6f7a740ba.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while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descr="/tmp/claude-0/-home-claude-about/4bef2f41-4227-5ff7-ab18-11ac74cd9797/scratchpad/pptx/ex/media/2fc6f7a740ba.png"/>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descr="/tmp/claude-0/-home-claude-about/4bef2f41-4227-5ff7-ab18-11ac74cd9797/scratchpad/pptx/ex/media/2fc6f7a740ba.png"/>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descr="/tmp/claude-0/-home-claude-about/4bef2f41-4227-5ff7-ab18-11ac74cd9797/scratchpad/pptx/ex/media/151feb1fc16e.png"/>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descr="/tmp/claude-0/-home-claude-about/4bef2f41-4227-5ff7-ab18-11ac74cd9797/scratchpad/pptx/ex/media/151feb1fc16e.png"/>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descr="/tmp/claude-0/-home-claude-about/4bef2f41-4227-5ff7-ab18-11ac74cd9797/scratchpad/pptx/ex/media/151feb1fc16e.png"/>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revenues 2025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segments on pages 08 and 09.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 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 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segment,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segments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SEGMENT</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descr="/tmp/claude-0/-home-claude-about/4bef2f41-4227-5ff7-ab18-11ac74cd9797/scratchpad/pptx/ex/media/12a88f390be7.png"/>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descr="/tmp/claude-0/-home-claude-about/4bef2f41-4227-5ff7-ab18-11ac74cd9797/scratchpad/pptx/ex/media/850c46659f16.png"/>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descr="/tmp/claude-0/-home-claude-about/4bef2f41-4227-5ff7-ab18-11ac74cd9797/scratchpad/pptx/ex/media/2fc6f7a740ba.png"/>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descr="/tmp/claude-0/-home-claude-about/4bef2f41-4227-5ff7-ab18-11ac74cd9797/scratchpad/pptx/ex/media/151feb1fc16e.png"/>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descr="/tmp/claude-0/-home-claude-about/4bef2f41-4227-5ff7-ab18-11ac74cd9797/scratchpad/pptx/ex/media/def9bdf75f56.png"/>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descr="/tmp/claude-0/-home-claude-about/4bef2f41-4227-5ff7-ab18-11ac74cd9797/scratchpad/pptx/ex/media/14deaec9fcb9.png"/>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descr="/tmp/claude-0/-home-claude-about/4bef2f41-4227-5ff7-ab18-11ac74cd9797/scratchpad/pptx/ex/media/0f959ca30c29.png"/>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descr="/tmp/claude-0/-home-claude-about/4bef2f41-4227-5ff7-ab18-11ac74cd9797/scratchpad/pptx/ex/media/d991b288196b.png"/>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descr="/tmp/claude-0/-home-claude-about/4bef2f41-4227-5ff7-ab18-11ac74cd9797/scratchpad/pptx/ex/media/42bdc7a43577.png"/>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descr="/tmp/claude-0/-home-claude-about/4bef2f41-4227-5ff7-ab18-11ac74cd9797/scratchpad/pptx/ex/media/f6957116ab71.png"/>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7,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34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11.5x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listed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descr="/tmp/claude-0/-home-claude-about/4bef2f41-4227-5ff7-ab18-11ac74cd9797/scratchpad/pptx/ex/media/7aca1844d531.png"/>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descr="/tmp/claude-0/-home-claude-about/4bef2f41-4227-5ff7-ab18-11ac74cd9797/scratchpad/pptx/ex/media/f160cce94675.png"/>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descr="/tmp/claude-0/-home-claude-about/4bef2f41-4227-5ff7-ab18-11ac74cd9797/scratchpad/pptx/ex/media/7520079976eb.png"/>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descr="/tmp/claude-0/-home-claude-about/4bef2f41-4227-5ff7-ab18-11ac74cd9797/scratchpad/pptx/ex/media/7aca1844d531.png"/>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+8.7%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+8.4%</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brackets.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771525" cy="114300"/>
          </a:xfrm>
          <a:prstGeom prst="rect">
            <a:avLst/>
          </a:prstGeom>
          <a:solidFill>
            <a:srgbClr val="B68757"/>
          </a:solidFill>
          <a:ln/>
        </p:spPr>
        <p:txBody>
          <a:bodyPr/>
          <a:lstStyle/>
          <a:p>
            <a:endParaRPr lang="en-US"/>
          </a:p>
        </p:txBody>
      </p:sp>
      <p:sp>
        <p:nvSpPr>
          <p:cNvPr id="48" name="Text 47"/>
          <p:cNvSpPr txBox="1"/>
          <p:nvPr/>
        </p:nvSpPr>
        <p:spPr>
          <a:xfrm>
            <a:off x="2600325"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3.6x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508546" cy="114300"/>
          </a:xfrm>
          <a:prstGeom prst="rect">
            <a:avLst/>
          </a:prstGeom>
          <a:solidFill>
            <a:srgbClr val="B68757"/>
          </a:solidFill>
          <a:ln/>
        </p:spPr>
        <p:txBody>
          <a:bodyPr/>
          <a:lstStyle/>
          <a:p>
            <a:endParaRPr lang="en-US"/>
          </a:p>
        </p:txBody>
      </p:sp>
      <p:sp>
        <p:nvSpPr>
          <p:cNvPr id="101" name="Shape 100"/>
          <p:cNvSpPr/>
          <p:nvPr/>
        </p:nvSpPr>
        <p:spPr>
          <a:xfrm>
            <a:off x="5601891" y="4848225"/>
            <a:ext cx="19050" cy="190500"/>
          </a:xfrm>
          <a:prstGeom prst="rect">
            <a:avLst/>
          </a:prstGeom>
          <a:solidFill>
            <a:srgbClr val="1B1A1A"/>
          </a:solidFill>
          <a:ln/>
        </p:spPr>
        <p:txBody>
          <a:bodyPr/>
          <a:lstStyle/>
          <a:p>
            <a:endParaRPr lang="en-US"/>
          </a:p>
        </p:txBody>
      </p:sp>
      <p:sp>
        <p:nvSpPr>
          <p:cNvPr id="102" name="Text 101"/>
          <p:cNvSpPr txBox="1"/>
          <p:nvPr/>
        </p:nvSpPr>
        <p:spPr>
          <a:xfrm>
            <a:off x="5668566"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608558" cy="114300"/>
          </a:xfrm>
          <a:prstGeom prst="rect">
            <a:avLst/>
          </a:prstGeom>
          <a:solidFill>
            <a:srgbClr val="B68757"/>
          </a:solidFill>
          <a:ln/>
        </p:spPr>
        <p:txBody>
          <a:bodyPr/>
          <a:lstStyle/>
          <a:p>
            <a:endParaRPr lang="en-US"/>
          </a:p>
        </p:txBody>
      </p:sp>
      <p:sp>
        <p:nvSpPr>
          <p:cNvPr id="147" name="Text 146"/>
          <p:cNvSpPr txBox="1"/>
          <p:nvPr/>
        </p:nvSpPr>
        <p:spPr>
          <a:xfrm>
            <a:off x="8672959"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Multiples use reported EBITDA. The year-ago multiple is the reading four quarter-ends earlier, between late August and November 2025.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follow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United Rentals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URI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SECTOR REPORT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Middle Market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Owners considering a sale, a recapitalization or a growth partnership in any of the four consumer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236976"/>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493008"/>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partial recapitalization to a full sale,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FULL Q4 2026 CONSUMER REPORT</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descr="/tmp/claude-0/-home-claude-about/4bef2f41-4227-5ff7-ab18-11ac74cd9797/scratchpad/pptx/ex/media/a5844c0bd0eb.png"/>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descr="/tmp/claude-0/-home-claude-about/4bef2f41-4227-5ff7-ab18-11ac74cd9797/scratchpad/pptx/ex/media/267c0dc43ff0.png"/>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descr="/tmp/claude-0/-home-claude-about/4bef2f41-4227-5ff7-ab18-11ac74cd9797/scratchpad/pptx/ex/media/df6e3233e72f.png"/>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descr="/tmp/claude-0/-home-claude-about/4bef2f41-4227-5ff7-ab18-11ac74cd9797/scratchpad/pptx/ex/media/b26f2f7508a0.png"/>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
        <p:nvSpPr>
          <p:cNvPr id="79" name="Contact Jared Hardin"/>
          <p:cNvSpPr txBox="1"/>
          <p:nvPr/>
        </p:nvSpPr>
        <p:spPr>
          <a:xfrm>
            <a:off x="1527048" y="3666744"/>
            <a:ext cx="1792224" cy="370332"/>
          </a:xfrm>
          <a:prstGeom prst="rect">
            <a:avLst/>
          </a:prstGeom>
          <a:noFill/>
        </p:spPr>
        <p:txBody>
          <a:bodyPr wrap="square" lIns="0" tIns="0" rIns="0" bIns="0" anchor="t">
            <a:spAutoFit/>
          </a:bodyPr>
          <a:lstStyle/>
          <a:p>
            <a:pPr algn="l" indent="0" marL="0">
              <a:lnSpc>
                <a:spcPts val="972"/>
              </a:lnSpc>
              <a:buNone/>
            </a:pPr>
            <a:r>
              <a:rPr lang="en-US" sz="750" dirty="0" u="sng">
                <a:solidFill>
                  <a:srgbClr val="8C6239"/>
                </a:solidFill>
                <a:latin typeface="+mn-lt" pitchFamily="34" charset="0"/>
                <a:hlinkClick r:id="rId4">
                  <a:extLst>
                    <a:ext uri="{A12FA001-AC4F-418D-AE19-62706E023703}">
                      <ahyp:hlinkClr xmlns:ahyp="http://schemas.microsoft.com/office/drawing/2018/hyperlinkcolor" val="tx"/>
                    </a:ext>
                  </a:extLst>
                </a:hlinkClick>
              </a:rPr>
              <a:t>813-771-6675</a:t>
            </a:r>
          </a:p>
          <a:p>
            <a:pPr algn="l" indent="0" marL="0">
              <a:lnSpc>
                <a:spcPts val="972"/>
              </a:lnSpc>
              <a:buNone/>
            </a:pPr>
            <a:r>
              <a:rPr lang="en-US" sz="750" dirty="0" u="sng">
                <a:solidFill>
                  <a:srgbClr val="8C6239"/>
                </a:solidFill>
                <a:latin typeface="+mn-lt" pitchFamily="34" charset="0"/>
                <a:hlinkClick r:id="rId5">
                  <a:extLst>
                    <a:ext uri="{A12FA001-AC4F-418D-AE19-62706E023703}">
                      <ahyp:hlinkClr xmlns:ahyp="http://schemas.microsoft.com/office/drawing/2018/hyperlinkcolor" val="tx"/>
                    </a:ext>
                  </a:extLst>
                </a:hlinkClick>
              </a:rPr>
              <a:t>j.hardin@benchmarkintl.com</a:t>
            </a:r>
          </a:p>
          <a:p>
            <a:pPr algn="l" indent="0" marL="0">
              <a:lnSpc>
                <a:spcPts val="972"/>
              </a:lnSpc>
              <a:buNone/>
            </a:pPr>
            <a:r>
              <a:rPr lang="en-US" sz="750" dirty="0" u="sng">
                <a:solidFill>
                  <a:srgbClr val="8C6239"/>
                </a:solidFill>
                <a:latin typeface="+mn-lt" pitchFamily="34" charset="0"/>
                <a:hlinkClick r:id="rId17">
                  <a:extLst>
                    <a:ext uri="{A12FA001-AC4F-418D-AE19-62706E023703}">
                      <ahyp:hlinkClr xmlns:ahyp="http://schemas.microsoft.com/office/drawing/2018/hyperlinkcolor" val="tx"/>
                    </a:ext>
                  </a:extLst>
                </a:hlinkClick>
              </a:rPr>
              <a:t>LinkedIn</a:t>
            </a:r>
          </a:p>
        </p:txBody>
      </p:sp>
      <p:sp>
        <p:nvSpPr>
          <p:cNvPr id="80" name="Contact Jordan Houtz"/>
          <p:cNvSpPr txBox="1"/>
          <p:nvPr/>
        </p:nvSpPr>
        <p:spPr>
          <a:xfrm>
            <a:off x="4727448" y="3666744"/>
            <a:ext cx="1792224" cy="493776"/>
          </a:xfrm>
          <a:prstGeom prst="rect">
            <a:avLst/>
          </a:prstGeom>
          <a:noFill/>
        </p:spPr>
        <p:txBody>
          <a:bodyPr wrap="square" lIns="0" tIns="0" rIns="0" bIns="0" anchor="t">
            <a:spAutoFit/>
          </a:bodyPr>
          <a:lstStyle/>
          <a:p>
            <a:pPr algn="l" indent="0" marL="0">
              <a:lnSpc>
                <a:spcPts val="972"/>
              </a:lnSpc>
              <a:buNone/>
            </a:pPr>
            <a:r>
              <a:rPr lang="en-US" sz="750" dirty="0">
                <a:solidFill>
                  <a:srgbClr val="6F6A66"/>
                </a:solidFill>
                <a:latin typeface="+mn-lt" pitchFamily="34" charset="0"/>
              </a:rPr>
              <a:t>Head of Middle Market</a:t>
            </a:r>
          </a:p>
          <a:p>
            <a:pPr algn="l" indent="0" marL="0">
              <a:lnSpc>
                <a:spcPts val="972"/>
              </a:lnSpc>
              <a:buNone/>
            </a:pPr>
            <a:r>
              <a:rPr lang="en-US" sz="750" dirty="0" u="sng">
                <a:solidFill>
                  <a:srgbClr val="8C6239"/>
                </a:solidFill>
                <a:latin typeface="+mn-lt" pitchFamily="34" charset="0"/>
                <a:hlinkClick r:id="rId4">
                  <a:extLst>
                    <a:ext uri="{A12FA001-AC4F-418D-AE19-62706E023703}">
                      <ahyp:hlinkClr xmlns:ahyp="http://schemas.microsoft.com/office/drawing/2018/hyperlinkcolor" val="tx"/>
                    </a:ext>
                  </a:extLst>
                </a:hlinkClick>
              </a:rPr>
              <a:t>813-771-6675 (team line)</a:t>
            </a:r>
          </a:p>
          <a:p>
            <a:pPr algn="l" indent="0" marL="0">
              <a:lnSpc>
                <a:spcPts val="972"/>
              </a:lnSpc>
              <a:buNone/>
            </a:pPr>
            <a:r>
              <a:rPr lang="en-US" sz="750" dirty="0" u="sng">
                <a:solidFill>
                  <a:srgbClr val="8C6239"/>
                </a:solidFill>
                <a:latin typeface="+mn-lt" pitchFamily="34" charset="0"/>
                <a:hlinkClick r:id="rId18">
                  <a:extLst>
                    <a:ext uri="{A12FA001-AC4F-418D-AE19-62706E023703}">
                      <ahyp:hlinkClr xmlns:ahyp="http://schemas.microsoft.com/office/drawing/2018/hyperlinkcolor" val="tx"/>
                    </a:ext>
                  </a:extLst>
                </a:hlinkClick>
              </a:rPr>
              <a:t>jhoutz@benchmarkintl.com</a:t>
            </a:r>
          </a:p>
          <a:p>
            <a:pPr algn="l" indent="0" marL="0">
              <a:lnSpc>
                <a:spcPts val="972"/>
              </a:lnSpc>
              <a:buNone/>
            </a:pPr>
            <a:r>
              <a:rPr lang="en-US" sz="750" dirty="0" u="sng">
                <a:solidFill>
                  <a:srgbClr val="8C6239"/>
                </a:solidFill>
                <a:latin typeface="+mn-lt" pitchFamily="34" charset="0"/>
                <a:hlinkClick r:id="rId19">
                  <a:extLst>
                    <a:ext uri="{A12FA001-AC4F-418D-AE19-62706E023703}">
                      <ahyp:hlinkClr xmlns:ahyp="http://schemas.microsoft.com/office/drawing/2018/hyperlinkcolor" val="tx"/>
                    </a:ext>
                  </a:extLst>
                </a:hlinkClick>
              </a:rPr>
              <a:t>LinkedIn</a:t>
            </a:r>
          </a:p>
        </p:txBody>
      </p:sp>
      <p:sp>
        <p:nvSpPr>
          <p:cNvPr id="81" name="Contact Alex Zykov"/>
          <p:cNvSpPr txBox="1"/>
          <p:nvPr/>
        </p:nvSpPr>
        <p:spPr>
          <a:xfrm>
            <a:off x="1527048" y="4873752"/>
            <a:ext cx="1792224" cy="370332"/>
          </a:xfrm>
          <a:prstGeom prst="rect">
            <a:avLst/>
          </a:prstGeom>
          <a:noFill/>
        </p:spPr>
        <p:txBody>
          <a:bodyPr wrap="square" lIns="0" tIns="0" rIns="0" bIns="0" anchor="t">
            <a:spAutoFit/>
          </a:bodyPr>
          <a:lstStyle/>
          <a:p>
            <a:pPr algn="l" indent="0" marL="0">
              <a:lnSpc>
                <a:spcPts val="972"/>
              </a:lnSpc>
              <a:buNone/>
            </a:pPr>
            <a:r>
              <a:rPr lang="en-US" sz="750" dirty="0" u="sng">
                <a:solidFill>
                  <a:srgbClr val="8C6239"/>
                </a:solidFill>
                <a:latin typeface="+mn-lt" pitchFamily="34" charset="0"/>
                <a:hlinkClick r:id="rId20">
                  <a:extLst>
                    <a:ext uri="{A12FA001-AC4F-418D-AE19-62706E023703}">
                      <ahyp:hlinkClr xmlns:ahyp="http://schemas.microsoft.com/office/drawing/2018/hyperlinkcolor" val="tx"/>
                    </a:ext>
                  </a:extLst>
                </a:hlinkClick>
              </a:rPr>
              <a:t>813-898-2372</a:t>
            </a:r>
          </a:p>
          <a:p>
            <a:pPr algn="l" indent="0" marL="0">
              <a:lnSpc>
                <a:spcPts val="972"/>
              </a:lnSpc>
              <a:buNone/>
            </a:pPr>
            <a:r>
              <a:rPr lang="en-US" sz="750" dirty="0" u="sng">
                <a:solidFill>
                  <a:srgbClr val="8C6239"/>
                </a:solidFill>
                <a:latin typeface="+mn-lt" pitchFamily="34" charset="0"/>
                <a:hlinkClick r:id="rId21">
                  <a:extLst>
                    <a:ext uri="{A12FA001-AC4F-418D-AE19-62706E023703}">
                      <ahyp:hlinkClr xmlns:ahyp="http://schemas.microsoft.com/office/drawing/2018/hyperlinkcolor" val="tx"/>
                    </a:ext>
                  </a:extLst>
                </a:hlinkClick>
              </a:rPr>
              <a:t>azykov@benchmarkintl.com</a:t>
            </a:r>
          </a:p>
          <a:p>
            <a:pPr algn="l" indent="0" marL="0">
              <a:lnSpc>
                <a:spcPts val="972"/>
              </a:lnSpc>
              <a:buNone/>
            </a:pPr>
            <a:r>
              <a:rPr lang="en-US" sz="750" dirty="0" u="sng">
                <a:solidFill>
                  <a:srgbClr val="8C6239"/>
                </a:solidFill>
                <a:latin typeface="+mn-lt" pitchFamily="34" charset="0"/>
                <a:hlinkClick r:id="rId22">
                  <a:extLst>
                    <a:ext uri="{A12FA001-AC4F-418D-AE19-62706E023703}">
                      <ahyp:hlinkClr xmlns:ahyp="http://schemas.microsoft.com/office/drawing/2018/hyperlinkcolor" val="tx"/>
                    </a:ext>
                  </a:extLst>
                </a:hlinkClick>
              </a:rPr>
              <a:t>LinkedIn</a:t>
            </a:r>
          </a:p>
        </p:txBody>
      </p:sp>
      <p:sp>
        <p:nvSpPr>
          <p:cNvPr id="82" name="Contact Shannon Hess"/>
          <p:cNvSpPr txBox="1"/>
          <p:nvPr/>
        </p:nvSpPr>
        <p:spPr>
          <a:xfrm>
            <a:off x="4727448" y="4873752"/>
            <a:ext cx="1792224" cy="370332"/>
          </a:xfrm>
          <a:prstGeom prst="rect">
            <a:avLst/>
          </a:prstGeom>
          <a:noFill/>
        </p:spPr>
        <p:txBody>
          <a:bodyPr wrap="square" lIns="0" tIns="0" rIns="0" bIns="0" anchor="t">
            <a:spAutoFit/>
          </a:bodyPr>
          <a:lstStyle/>
          <a:p>
            <a:pPr algn="l" indent="0" marL="0">
              <a:lnSpc>
                <a:spcPts val="972"/>
              </a:lnSpc>
              <a:buNone/>
            </a:pPr>
            <a:r>
              <a:rPr lang="en-US" sz="750" dirty="0" u="sng">
                <a:solidFill>
                  <a:srgbClr val="8C6239"/>
                </a:solidFill>
                <a:latin typeface="+mn-lt" pitchFamily="34" charset="0"/>
                <a:hlinkClick r:id="rId23">
                  <a:extLst>
                    <a:ext uri="{A12FA001-AC4F-418D-AE19-62706E023703}">
                      <ahyp:hlinkClr xmlns:ahyp="http://schemas.microsoft.com/office/drawing/2018/hyperlinkcolor" val="tx"/>
                    </a:ext>
                  </a:extLst>
                </a:hlinkClick>
              </a:rPr>
              <a:t>813-898-2397</a:t>
            </a:r>
          </a:p>
          <a:p>
            <a:pPr algn="l" indent="0" marL="0">
              <a:lnSpc>
                <a:spcPts val="972"/>
              </a:lnSpc>
              <a:buNone/>
            </a:pPr>
            <a:r>
              <a:rPr lang="en-US" sz="750" dirty="0" u="sng">
                <a:solidFill>
                  <a:srgbClr val="8C6239"/>
                </a:solidFill>
                <a:latin typeface="+mn-lt" pitchFamily="34" charset="0"/>
                <a:hlinkClick r:id="rId24">
                  <a:extLst>
                    <a:ext uri="{A12FA001-AC4F-418D-AE19-62706E023703}">
                      <ahyp:hlinkClr xmlns:ahyp="http://schemas.microsoft.com/office/drawing/2018/hyperlinkcolor" val="tx"/>
                    </a:ext>
                  </a:extLst>
                </a:hlinkClick>
              </a:rPr>
              <a:t>hess@benchmarkintl.com</a:t>
            </a:r>
          </a:p>
          <a:p>
            <a:pPr algn="l" indent="0" marL="0">
              <a:lnSpc>
                <a:spcPts val="972"/>
              </a:lnSpc>
              <a:buNone/>
            </a:pPr>
            <a:r>
              <a:rPr lang="en-US" sz="750" dirty="0" u="sng">
                <a:solidFill>
                  <a:srgbClr val="8C6239"/>
                </a:solidFill>
                <a:latin typeface="+mn-lt" pitchFamily="34" charset="0"/>
                <a:hlinkClick r:id="rId25">
                  <a:extLst>
                    <a:ext uri="{A12FA001-AC4F-418D-AE19-62706E023703}">
                      <ahyp:hlinkClr xmlns:ahyp="http://schemas.microsoft.com/office/drawing/2018/hyperlinkcolor" val="tx"/>
                    </a:ext>
                  </a:extLst>
                </a:hlinkClick>
              </a:rPr>
              <a:t>LinkedIn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report and to the Middle Market sector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Middle Market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report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SECTOR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report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7, 2026. The full Q4 2026 Consumer report carries the longer source list behind the four segment chapters.</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Sector Brief</dc:title>
  <dc:subject>Consumer quarterly sector brief, Q4 2026</dc:subject>
  <dc:creator>Benchmark International</dc:creator>
  <cp:lastModifiedBy>Jason Lisiak</cp:lastModifiedBy>
  <cp:revision>4</cp:revision>
  <dcterms:created xsi:type="dcterms:W3CDTF">2026-10-12T17:07:31Z</dcterms:created>
  <dcterms:modified xsi:type="dcterms:W3CDTF">2026-10-14T16:35:51Z</dcterms:modified>
</cp:coreProperties>
</file>