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jpg" ContentType="image/jpeg"/>
  <Override PartName="/ppt/media/image11.jpg" ContentType="image/jpeg"/>
  <Override PartName="/ppt/media/image20.jpg" ContentType="image/jpeg"/>
  <Override PartName="/ppt/media/image21.jpg" ContentType="image/jpeg"/>
  <Override PartName="/ppt/media/image23.jpg" ContentType="image/jpeg"/>
  <Override PartName="/ppt/media/image25.jpg" ContentType="image/jpeg"/>
  <Override PartName="/ppt/media/image27.jpg" ContentType="image/jpeg"/>
  <Override PartName="/ppt/media/image29.jpg" ContentType="image/jpeg"/>
  <Override PartName="/ppt/media/image31.jpg" ContentType="image/jpeg"/>
  <Override PartName="/ppt/media/image45.jpg" ContentType="image/jpeg"/>
  <Override PartName="/ppt/media/image46.jpg" ContentType="image/jpeg"/>
  <Override PartName="/ppt/media/image47.jpg" ContentType="image/jpeg"/>
  <Override PartName="/ppt/media/image48.jpg" ContentType="image/jpeg"/>
  <Override PartName="/ppt/media/image49.jpg" ContentType="image/jpeg"/>
  <Override PartName="/ppt/media/image8.jpg" ContentType="image/jpeg"/>
  <Override PartName="/ppt/media/image9.jpg" ContentType="image/j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 Cover.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Insights.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Happening in Consumer Right Now.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4: Tariffs, Fuel and Financing.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Perspectives on Four Consumer Segments.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What We're Reading.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Sector Activity.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8: Select Recent Consumer Transactions (1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9: Select Recent Consumer Transactions (2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10: Benchmark International's Consumer Transactions.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11: Who Is Buying.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12: Public Company Market Performance.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13: Revenue Growth Trends.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 Public Company Valuation Metrics.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15: Public Company Metrics: Food and Beverage.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16: Public Company Metrics: Consumer Brands and Foodservice.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17: Public Company Metrics: Restaurants, Services and Retail.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18: Demand and Cost Indicators.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19: Connect With Us.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20: Connect With Our Team.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21: Important Disclosures.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22: Sources.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descr="/tmp/claude-0/-home-claude-about/4bef2f41-4227-5ff7-ab18-11ac74cd9797/scratchpad/pptx/ex/media/bbebf5d44e0c.png"/>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SECTOR BRIEF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sector through the third quarter, and they are paying for brands and operators that have held price and volume while the cost of financing a purchase rises.</a:t>
            </a:r>
            <a:endParaRPr lang="en-US" sz="1500" dirty="0"/>
          </a:p>
        </p:txBody>
      </p:sp>
      <p:pic>
        <p:nvPicPr>
          <p:cNvPr id="12" name="Icon" descr="/tmp/claude-0/-home-claude-about/4bef2f41-4227-5ff7-ab18-11ac74cd9797/scratchpad/pptx/ex/media/a5844c0bd0eb.png"/>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descr="/tmp/claude-0/-home-claude-about/4bef2f41-4227-5ff7-ab18-11ac74cd9797/scratchpad/pptx/ex/media/267c0dc43ff0.png"/>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descr="/tmp/claude-0/-home-claude-about/4bef2f41-4227-5ff7-ab18-11ac74cd9797/scratchpad/pptx/ex/media/df6e3233e72f.png"/>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descr="/tmp/claude-0/-home-claude-about/4bef2f41-4227-5ff7-ab18-11ac74cd9797/scratchpad/pptx/ex/media/b26f2f7508a0.png"/>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segments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Sector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the buyer landscape,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sp>
        <p:nvSpPr>
          <p:cNvPr id="12" name="Shape 11"/>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03</a:t>
            </a:r>
            <a:endParaRPr lang="en-US" sz="825" dirty="0"/>
          </a:p>
        </p:txBody>
      </p:sp>
      <p:sp>
        <p:nvSpPr>
          <p:cNvPr id="15" name="Text 14"/>
          <p:cNvSpPr txBox="1"/>
          <p:nvPr/>
        </p:nvSpPr>
        <p:spPr>
          <a:xfrm>
            <a:off x="971550" y="5386388"/>
            <a:ext cx="205353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Happening in consumer right now</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04</a:t>
            </a:r>
            <a:endParaRPr lang="en-US" sz="825" dirty="0"/>
          </a:p>
        </p:txBody>
      </p:sp>
      <p:sp>
        <p:nvSpPr>
          <p:cNvPr id="18" name="Text 17"/>
          <p:cNvSpPr txBox="1"/>
          <p:nvPr/>
        </p:nvSpPr>
        <p:spPr>
          <a:xfrm>
            <a:off x="971550" y="5757863"/>
            <a:ext cx="349493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Tariffs, fuel and financing: three costs buyers are repricing</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05</a:t>
            </a:r>
            <a:endParaRPr lang="en-US" sz="825" dirty="0"/>
          </a:p>
        </p:txBody>
      </p:sp>
      <p:sp>
        <p:nvSpPr>
          <p:cNvPr id="21" name="Text 20"/>
          <p:cNvSpPr txBox="1"/>
          <p:nvPr/>
        </p:nvSpPr>
        <p:spPr>
          <a:xfrm>
            <a:off x="971550" y="6129338"/>
            <a:ext cx="249421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Perspectives on four consumer segments</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06</a:t>
            </a:r>
            <a:endParaRPr lang="en-US" sz="825" dirty="0"/>
          </a:p>
        </p:txBody>
      </p:sp>
      <p:sp>
        <p:nvSpPr>
          <p:cNvPr id="24" name="Text 23"/>
          <p:cNvSpPr txBox="1"/>
          <p:nvPr/>
        </p:nvSpPr>
        <p:spPr>
          <a:xfrm>
            <a:off x="971550" y="6500813"/>
            <a:ext cx="120893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What we’re reading</a:t>
            </a:r>
            <a:endParaRPr lang="en-US" sz="975"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descr="/tmp/claude-0/-home-claude-about/4bef2f41-4227-5ff7-ab18-11ac74cd9797/scratchpad/pptx/ex/media/1a2bb4c623c9.png"/>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descr="/tmp/claude-0/-home-claude-about/4bef2f41-4227-5ff7-ab18-11ac74cd9797/scratchpad/pptx/ex/media/c842de1b9991.png"/>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descr="/tmp/claude-0/-home-claude-about/4bef2f41-4227-5ff7-ab18-11ac74cd9797/scratchpad/pptx/ex/media/7f896b401a11.png"/>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descr="/tmp/claude-0/-home-claude-about/4bef2f41-4227-5ff7-ab18-11ac74cd9797/scratchpad/pptx/ex/media/824067d0c0ab.png"/>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descr="/tmp/claude-0/-home-claude-about/4bef2f41-4227-5ff7-ab18-11ac74cd9797/scratchpad/pptx/ex/media/0ff2b76e92bb.png"/>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descr="/tmp/claude-0/-home-claude-about/4bef2f41-4227-5ff7-ab18-11ac74cd9797/scratchpad/pptx/ex/media/0a88f65df2d4.png"/>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descr="/tmp/claude-0/-home-claude-about/4bef2f41-4227-5ff7-ab18-11ac74cd9797/scratchpad/pptx/ex/media/e559ea1bcf7b.png"/>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Segments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segments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descr="/tmp/claude-0/-home-claude-about/4bef2f41-4227-5ff7-ab18-11ac74cd9797/scratchpad/pptx/ex/media/57a13b492294.png"/>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descr="/tmp/claude-0/-home-claude-about/4bef2f41-4227-5ff7-ab18-11ac74cd9797/scratchpad/pptx/ex/media/60d9d56b60f3.png"/>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descr="/tmp/claude-0/-home-claude-about/4bef2f41-4227-5ff7-ab18-11ac74cd9797/scratchpad/pptx/ex/media/d87eae45b167.png"/>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descr="/tmp/claude-0/-home-claude-about/4bef2f41-4227-5ff7-ab18-11ac74cd9797/scratchpad/pptx/ex/media/84e7bc3cb1b6.png"/>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descr="/tmp/claude-0/-home-claude-about/4bef2f41-4227-5ff7-ab18-11ac74cd9797/scratchpad/pptx/ex/media/236f278cd0c9.png"/>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Sector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descr="/tmp/claude-0/-home-claude-about/4bef2f41-4227-5ff7-ab18-11ac74cd9797/scratchpad/pptx/ex/media/12a88f390be7.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descr="/tmp/claude-0/-home-claude-about/4bef2f41-4227-5ff7-ab18-11ac74cd9797/scratchpad/pptx/ex/media/12a88f390be7.png"/>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descr="/tmp/claude-0/-home-claude-about/4bef2f41-4227-5ff7-ab18-11ac74cd9797/scratchpad/pptx/ex/media/12a88f390be7.png"/>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descr="/tmp/claude-0/-home-claude-about/4bef2f41-4227-5ff7-ab18-11ac74cd9797/scratchpad/pptx/ex/media/850c46659f16.png"/>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descr="/tmp/claude-0/-home-claude-about/4bef2f41-4227-5ff7-ab18-11ac74cd9797/scratchpad/pptx/ex/media/850c46659f16.png"/>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descr="/tmp/claude-0/-home-claude-about/4bef2f41-4227-5ff7-ab18-11ac74cd9797/scratchpad/pptx/ex/media/850c46659f16.png"/>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descr="/tmp/claude-0/-home-claude-about/4bef2f41-4227-5ff7-ab18-11ac74cd9797/scratchpad/pptx/ex/media/2fc6f7a740ba.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descr="/tmp/claude-0/-home-claude-about/4bef2f41-4227-5ff7-ab18-11ac74cd9797/scratchpad/pptx/ex/media/2fc6f7a740ba.png"/>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descr="/tmp/claude-0/-home-claude-about/4bef2f41-4227-5ff7-ab18-11ac74cd9797/scratchpad/pptx/ex/media/2fc6f7a740ba.png"/>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descr="/tmp/claude-0/-home-claude-about/4bef2f41-4227-5ff7-ab18-11ac74cd9797/scratchpad/pptx/ex/media/151feb1fc16e.png"/>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descr="/tmp/claude-0/-home-claude-about/4bef2f41-4227-5ff7-ab18-11ac74cd9797/scratchpad/pptx/ex/media/151feb1fc16e.png"/>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descr="/tmp/claude-0/-home-claude-about/4bef2f41-4227-5ff7-ab18-11ac74cd9797/scratchpad/pptx/ex/media/151feb1fc16e.png"/>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segments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segment,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segments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SEGMENT</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descr="/tmp/claude-0/-home-claude-about/4bef2f41-4227-5ff7-ab18-11ac74cd9797/scratchpad/pptx/ex/media/12a88f390be7.png"/>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descr="/tmp/claude-0/-home-claude-about/4bef2f41-4227-5ff7-ab18-11ac74cd9797/scratchpad/pptx/ex/media/850c46659f16.png"/>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descr="/tmp/claude-0/-home-claude-about/4bef2f41-4227-5ff7-ab18-11ac74cd9797/scratchpad/pptx/ex/media/2fc6f7a740ba.png"/>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descr="/tmp/claude-0/-home-claude-about/4bef2f41-4227-5ff7-ab18-11ac74cd9797/scratchpad/pptx/ex/media/151feb1fc16e.png"/>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descr="/tmp/claude-0/-home-claude-about/4bef2f41-4227-5ff7-ab18-11ac74cd9797/scratchpad/pptx/ex/media/def9bdf75f56.png"/>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descr="/tmp/claude-0/-home-claude-about/4bef2f41-4227-5ff7-ab18-11ac74cd9797/scratchpad/pptx/ex/media/14deaec9fcb9.png"/>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descr="/tmp/claude-0/-home-claude-about/4bef2f41-4227-5ff7-ab18-11ac74cd9797/scratchpad/pptx/ex/media/0f959ca30c29.png"/>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descr="/tmp/claude-0/-home-claude-about/4bef2f41-4227-5ff7-ab18-11ac74cd9797/scratchpad/pptx/ex/media/d991b288196b.png"/>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descr="/tmp/claude-0/-home-claude-about/4bef2f41-4227-5ff7-ab18-11ac74cd9797/scratchpad/pptx/ex/media/42bdc7a43577.png"/>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descr="/tmp/claude-0/-home-claude-about/4bef2f41-4227-5ff7-ab18-11ac74cd9797/scratchpad/pptx/ex/media/f6957116ab71.png"/>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descr="/tmp/claude-0/-home-claude-about/4bef2f41-4227-5ff7-ab18-11ac74cd9797/scratchpad/pptx/ex/media/7aca1844d531.png"/>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descr="/tmp/claude-0/-home-claude-about/4bef2f41-4227-5ff7-ab18-11ac74cd9797/scratchpad/pptx/ex/media/f160cce94675.png"/>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descr="/tmp/claude-0/-home-claude-about/4bef2f41-4227-5ff7-ab18-11ac74cd9797/scratchpad/pptx/ex/media/7520079976eb.png"/>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descr="/tmp/claude-0/-home-claude-about/4bef2f41-4227-5ff7-ab18-11ac74cd9797/scratchpad/pptx/ex/media/7aca1844d531.png"/>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Owners considering a sale, a recapitalization or a growth partnership in any of the four consumer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3" name="Text 22"/>
          <p:cNvSpPr txBox="1"/>
          <p:nvPr/>
        </p:nvSpPr>
        <p:spPr>
          <a:xfrm>
            <a:off x="4724400" y="3752850"/>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partial recapitalization to a full sale,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FULL Q4 2026 CONSUMER REPORT</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descr="/tmp/claude-0/-home-claude-about/4bef2f41-4227-5ff7-ab18-11ac74cd9797/scratchpad/pptx/ex/media/a5844c0bd0eb.png"/>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descr="/tmp/claude-0/-home-claude-about/4bef2f41-4227-5ff7-ab18-11ac74cd9797/scratchpad/pptx/ex/media/267c0dc43ff0.png"/>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descr="/tmp/claude-0/-home-claude-about/4bef2f41-4227-5ff7-ab18-11ac74cd9797/scratchpad/pptx/ex/media/df6e3233e72f.png"/>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descr="/tmp/claude-0/-home-claude-about/4bef2f41-4227-5ff7-ab18-11ac74cd9797/scratchpad/pptx/ex/media/b26f2f7508a0.png"/>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sector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 The full Q4 2026 Consumer report carries the longer source list behind the four segment chapters.</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Sector Brief</dc:title>
  <dc:subject>Consumer quarterly sector brief, Q4 2026</dc:subject>
  <dc:creator>Benchmark International</dc:creator>
  <cp:lastModifiedBy>Jason Lisiak</cp:lastModifiedBy>
  <cp:revision>4</cp:revision>
  <dcterms:created xsi:type="dcterms:W3CDTF">2026-10-12T17:07:31Z</dcterms:created>
  <dcterms:modified xsi:type="dcterms:W3CDTF">2026-10-14T16:35:51Z</dcterms:modified>
</cp:coreProperties>
</file>