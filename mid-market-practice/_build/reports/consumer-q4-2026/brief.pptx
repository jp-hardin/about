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 Cover.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Insights.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Happening in Consumer Right Now.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4: Tariffs, Fuel and Financing.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Perspectives on Four Consumer Segments.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What We're Reading.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Sector Activity.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8: Select Recent Consumer Transactions (1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9: Select Recent Consumer Transactions (2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10: Benchmark International's Consumer Transactions.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11: Who Is Buying.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12: Public Company Market Performance.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13: Revenue Growth Trends.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 Public Company Valuation Metrics.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15: Public Company Metrics: Food and Beverage.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16: Public Company Metrics: Consumer Brands and Foodservice.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17: Public Company Metrics: Restaurants, Services and Retail.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18: Demand and Cost Indicators.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19: Connect With Us.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20: Connect With Our Team.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21: Important Disclosures.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22: Sources.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SECTOR BRIEF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sector through the third quarter, and they are paying for brands and operators that have held price and volume while the cost of financing a purchase rises.</a:t>
            </a:r>
            <a:endParaRPr lang="en-US" sz="1500" dirty="0"/>
          </a:p>
        </p:txBody>
      </p:sp>
      <p:pic>
        <p:nvPicPr>
          <p:cNvPr id="12" name="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segments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active buyers,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50" b="1">
                <a:solidFill>
                  <a:srgbClr val="C99A6A"/>
                </a:solidFill>
                <a:latin typeface="Quicksand"/>
              </a:rPr>
              <a:t>01  </a:t>
            </a:r>
            <a:r>
              <a:rPr sz="750" b="1">
                <a:solidFill>
                  <a:srgbClr val="FFFFFF"/>
                </a:solidFill>
                <a:latin typeface="Quicksand"/>
              </a:rPr>
              <a:t>Volume has to hold up alongside price</a:t>
            </a:r>
          </a:p>
          <a:p>
            <a:pPr>
              <a:lnSpc>
                <a:spcPct val="120000"/>
              </a:lnSpc>
            </a:pPr>
            <a:r>
              <a:rPr sz="700" b="0">
                <a:solidFill>
                  <a:srgbClr val="D9D2C9"/>
                </a:solidFill>
                <a:latin typeface="Quicksand"/>
              </a:rPr>
              <a:t>Hershey’s organic sales rose 3.6% on an 8-point decline in volume. Church &amp; Dwight grew 5.8% with volume up 4.3%. Show buyers price and unit volume by product line.</a:t>
            </a:r>
          </a:p>
          <a:p>
            <a:pPr>
              <a:spcBef>
                <a:spcPts val="600"/>
              </a:spcBef>
            </a:pPr>
            <a:r>
              <a:rPr sz="750" b="1">
                <a:solidFill>
                  <a:srgbClr val="C99A6A"/>
                </a:solidFill>
                <a:latin typeface="Quicksand"/>
              </a:rPr>
              <a:t>02  </a:t>
            </a:r>
            <a:r>
              <a:rPr sz="750" b="1">
                <a:solidFill>
                  <a:srgbClr val="FFFFFF"/>
                </a:solidFill>
                <a:latin typeface="Quicksand"/>
              </a:rPr>
              <a:t>Selling through several channels pays</a:t>
            </a:r>
          </a:p>
          <a:p>
            <a:pPr>
              <a:lnSpc>
                <a:spcPct val="120000"/>
              </a:lnSpc>
            </a:pPr>
            <a:r>
              <a:rPr sz="700" b="0">
                <a:solidFill>
                  <a:srgbClr val="D9D2C9"/>
                </a:solidFill>
                <a:latin typeface="Quicksand"/>
              </a:rPr>
              <a:t>E-commerce reached 17.1% of retail sales in the second quarter, and YETI grew wholesale 10% and direct-to-consumer 7%. Buyers are paying for brands that sell through more than one channel.</a:t>
            </a:r>
          </a:p>
          <a:p>
            <a:pPr>
              <a:spcBef>
                <a:spcPts val="600"/>
              </a:spcBef>
            </a:pPr>
            <a:r>
              <a:rPr sz="750" b="1">
                <a:solidFill>
                  <a:srgbClr val="C99A6A"/>
                </a:solidFill>
                <a:latin typeface="Quicksand"/>
              </a:rPr>
              <a:t>03  </a:t>
            </a:r>
            <a:r>
              <a:rPr sz="750" b="1">
                <a:solidFill>
                  <a:srgbClr val="FFFFFF"/>
                </a:solidFill>
                <a:latin typeface="Quicksand"/>
              </a:rPr>
              <a:t>Platforms buy location by location</a:t>
            </a:r>
          </a:p>
          <a:p>
            <a:pPr>
              <a:lnSpc>
                <a:spcPct val="120000"/>
              </a:lnSpc>
            </a:pPr>
            <a:r>
              <a:rPr sz="700" b="0">
                <a:solidFill>
                  <a:srgbClr val="D9D2C9"/>
                </a:solidFill>
                <a:latin typeface="Quicksand"/>
              </a:rPr>
              <a:t>Add-ons made up about 75% of US private equity buyouts in the second quarter. Boyd Group’s sales rose 29.9%, mostly from new locations. Operators with room to add sites draw buyers.</a:t>
            </a:r>
          </a:p>
          <a:p>
            <a:pPr>
              <a:spcBef>
                <a:spcPts val="600"/>
              </a:spcBef>
            </a:pPr>
            <a:r>
              <a:rPr sz="750" b="1">
                <a:solidFill>
                  <a:srgbClr val="C99A6A"/>
                </a:solidFill>
                <a:latin typeface="Quicksand"/>
              </a:rPr>
              <a:t>04  </a:t>
            </a:r>
            <a:r>
              <a:rPr sz="750" b="1">
                <a:solidFill>
                  <a:srgbClr val="FFFFFF"/>
                </a:solidFill>
                <a:latin typeface="Quicksand"/>
              </a:rPr>
              <a:t>Tariffs, fuel and rates are being repriced</a:t>
            </a:r>
          </a:p>
          <a:p>
            <a:pPr>
              <a:lnSpc>
                <a:spcPct val="120000"/>
              </a:lnSpc>
            </a:pPr>
            <a:r>
              <a:rPr sz="700" b="0">
                <a:solidFill>
                  <a:srgbClr val="D9D2C9"/>
                </a:solidFill>
                <a:latin typeface="Quicksand"/>
              </a:rPr>
              <a:t>Diesel averaged $6.29 a gallon in September, and the federal funds target now sits at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Segments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segments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segments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segment,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segments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SEGMENT</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recapitalization or a growth partnership in any of the four consumer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partial recapitalization to a full sale,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sector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Sector Brief</dc:title>
  <dc:subject>Consumer quarterly sector brief, Q4 2026</dc:subject>
  <dc:creator>Jared Hardin, Benchmark International</dc:creator>
  <cp:lastModifiedBy>Benchmark International</cp:lastModifiedBy>
  <cp:revision>4</cp:revision>
  <dcterms:created xsi:type="dcterms:W3CDTF">2026-10-12T17:07:31Z</dcterms:created>
  <dcterms:modified xsi:type="dcterms:W3CDTF">2026-10-14T16:35:51Z</dcterms:modified>
  <dc:description/>
  <cp:keywords/>
</cp:coreProperties>
</file>