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media/image1.jpg" ContentType="image/jpg"/>
  <Override PartName="/ppt/media/image11.jpg" ContentType="image/jpg"/>
  <Override PartName="/ppt/media/image20.jpg" ContentType="image/jpg"/>
  <Override PartName="/ppt/media/image21.jpg" ContentType="image/jpg"/>
  <Override PartName="/ppt/media/image23.jpg" ContentType="image/jpg"/>
  <Override PartName="/ppt/media/image25.jpg" ContentType="image/jpg"/>
  <Override PartName="/ppt/media/image27.jpg" ContentType="image/jpg"/>
  <Override PartName="/ppt/media/image29.jpg" ContentType="image/jpg"/>
  <Override PartName="/ppt/media/image31.jpg" ContentType="image/jpg"/>
  <Override PartName="/ppt/media/image45.jpg" ContentType="image/jpg"/>
  <Override PartName="/ppt/media/image46.jpg" ContentType="image/jpg"/>
  <Override PartName="/ppt/media/image47.jpg" ContentType="image/jpg"/>
  <Override PartName="/ppt/media/image48.jpg" ContentType="image/jpg"/>
  <Override PartName="/ppt/media/image49.jpg" ContentType="image/jpg"/>
  <Override PartName="/ppt/media/image8.jpg" ContentType="image/jpg"/>
  <Override PartName="/ppt/media/image9.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748C3D61-DA49-4B17-A97B-D1008B8D6E92}">
          <p14:sldIdLst>
            <p14:sldId id="256"/>
          </p14:sldIdLst>
        </p14:section>
        <p14:section name="Insights" id="{1403C3D4-3916-A9F3-20FD-5E617E9D9A2C}">
          <p14:sldIdLst>
            <p14:sldId id="257"/>
            <p14:sldId id="258"/>
            <p14:sldId id="259"/>
            <p14:sldId id="260"/>
            <p14:sldId id="261"/>
          </p14:sldIdLst>
        </p14:section>
        <p14:section name="Sector Activity" id="{7E2FC109-A562-1178-AF4A-363ED1828842}">
          <p14:sldIdLst>
            <p14:sldId id="262"/>
            <p14:sldId id="263"/>
            <p14:sldId id="264"/>
            <p14:sldId id="265"/>
            <p14:sldId id="266"/>
            <p14:sldId id="267"/>
            <p14:sldId id="268"/>
            <p14:sldId id="269"/>
            <p14:sldId id="270"/>
            <p14:sldId id="271"/>
            <p14:sldId id="272"/>
            <p14:sldId id="273"/>
          </p14:sldIdLst>
        </p14:section>
        <p14:section name="Connect With Us" id="{945E0551-7368-7241-40B9-5BCAD131584B}">
          <p14:sldIdLst>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3" d="100"/>
          <a:sy n="103" d="100"/>
        </p:scale>
        <p:origin x="106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Packaged food</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4D19-4DD2-A509-C5DA49F37D91}"/>
              </c:ext>
            </c:extLst>
          </c:dPt>
          <c:dPt>
            <c:idx val="4"/>
            <c:bubble3D val="0"/>
            <c:spPr>
              <a:ln w="19050" cap="flat">
                <a:solidFill>
                  <a:srgbClr val="1B1A1A"/>
                </a:solidFill>
                <a:prstDash val="dash"/>
                <a:round/>
              </a:ln>
            </c:spPr>
            <c:extLst>
              <c:ext xmlns:c16="http://schemas.microsoft.com/office/drawing/2014/chart" uri="{C3380CC4-5D6E-409C-BE32-E72D297353CC}">
                <c16:uniqueId val="{00000003-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-0.3</c:v>
                </c:pt>
                <c:pt idx="1">
                  <c:v>-0.32</c:v>
                </c:pt>
                <c:pt idx="2">
                  <c:v>-0.65</c:v>
                </c:pt>
                <c:pt idx="3">
                  <c:v>-1.2949999999999999</c:v>
                </c:pt>
                <c:pt idx="4">
                  <c:v>0.26</c:v>
                </c:pt>
              </c:numCache>
            </c:numRef>
          </c:val>
          <c:smooth val="0"/>
          <c:extLst>
            <c:ext xmlns:c16="http://schemas.microsoft.com/office/drawing/2014/chart" uri="{C3380CC4-5D6E-409C-BE32-E72D297353CC}">
              <c16:uniqueId val="{00000004-4D19-4DD2-A509-C5DA49F37D91}"/>
            </c:ext>
          </c:extLst>
        </c:ser>
        <c:ser>
          <c:idx val="1"/>
          <c:order val="1"/>
          <c:tx>
            <c:strRef>
              <c:f>Sheet1!$C$1</c:f>
              <c:strCache>
                <c:ptCount val="1"/>
                <c:pt idx="0">
                  <c:v>Snacks</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4D19-4DD2-A509-C5DA49F37D91}"/>
              </c:ext>
            </c:extLst>
          </c:dPt>
          <c:dPt>
            <c:idx val="4"/>
            <c:bubble3D val="0"/>
            <c:spPr>
              <a:ln w="19050" cap="flat">
                <a:solidFill>
                  <a:srgbClr val="B68757"/>
                </a:solidFill>
                <a:prstDash val="dash"/>
                <a:round/>
              </a:ln>
            </c:spPr>
            <c:extLst>
              <c:ext xmlns:c16="http://schemas.microsoft.com/office/drawing/2014/chart" uri="{C3380CC4-5D6E-409C-BE32-E72D297353CC}">
                <c16:uniqueId val="{00000008-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10.754999999999999</c:v>
                </c:pt>
                <c:pt idx="1">
                  <c:v>4.1550000000000002</c:v>
                </c:pt>
                <c:pt idx="2">
                  <c:v>7.3650000000000002</c:v>
                </c:pt>
                <c:pt idx="3">
                  <c:v>2.75</c:v>
                </c:pt>
                <c:pt idx="4">
                  <c:v>1.81</c:v>
                </c:pt>
              </c:numCache>
            </c:numRef>
          </c:val>
          <c:smooth val="0"/>
          <c:extLst>
            <c:ext xmlns:c16="http://schemas.microsoft.com/office/drawing/2014/chart" uri="{C3380CC4-5D6E-409C-BE32-E72D297353CC}">
              <c16:uniqueId val="{00000009-4D19-4DD2-A509-C5DA49F37D91}"/>
            </c:ext>
          </c:extLst>
        </c:ser>
        <c:ser>
          <c:idx val="2"/>
          <c:order val="2"/>
          <c:tx>
            <c:strRef>
              <c:f>Sheet1!$D$1</c:f>
              <c:strCache>
                <c:ptCount val="1"/>
                <c:pt idx="0">
                  <c:v>Beverages</c:v>
                </c:pt>
              </c:strCache>
            </c:strRef>
          </c:tx>
          <c:spPr>
            <a:ln w="19050" cap="flat">
              <a:solidFill>
                <a:srgbClr val="8F8880"/>
              </a:solidFill>
              <a:prstDash val="solid"/>
              <a:round/>
            </a:ln>
            <a:effectLst/>
          </c:spPr>
          <c:marker>
            <c:symbol val="diamond"/>
            <c:size val="6"/>
            <c:spPr>
              <a:solidFill>
                <a:srgbClr val="8F8880"/>
              </a:solidFill>
              <a:ln w="11430" cap="flat">
                <a:solidFill>
                  <a:srgbClr val="FAF7F3"/>
                </a:solidFill>
                <a:prstDash val="solid"/>
                <a:round/>
              </a:ln>
              <a:effectLst/>
            </c:spPr>
          </c:marker>
          <c:dPt>
            <c:idx val="3"/>
            <c:bubble3D val="0"/>
            <c:spPr>
              <a:ln w="19050" cap="flat">
                <a:solidFill>
                  <a:srgbClr val="8F8880"/>
                </a:solidFill>
                <a:prstDash val="dash"/>
                <a:round/>
              </a:ln>
            </c:spPr>
            <c:extLst>
              <c:ext xmlns:c16="http://schemas.microsoft.com/office/drawing/2014/chart" uri="{C3380CC4-5D6E-409C-BE32-E72D297353CC}">
                <c16:uniqueId val="{0000000B-4D19-4DD2-A509-C5DA49F37D91}"/>
              </c:ext>
            </c:extLst>
          </c:dPt>
          <c:dPt>
            <c:idx val="4"/>
            <c:bubble3D val="0"/>
            <c:spPr>
              <a:ln w="19050" cap="flat">
                <a:solidFill>
                  <a:srgbClr val="8F8880"/>
                </a:solidFill>
                <a:prstDash val="dash"/>
                <a:round/>
              </a:ln>
            </c:spPr>
            <c:extLst>
              <c:ext xmlns:c16="http://schemas.microsoft.com/office/drawing/2014/chart" uri="{C3380CC4-5D6E-409C-BE32-E72D297353CC}">
                <c16:uniqueId val="{0000000D-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Sheet1!$D$2:$D$6</c:f>
              <c:numCache>
                <c:formatCode>General</c:formatCode>
                <c:ptCount val="5"/>
                <c:pt idx="0">
                  <c:v>6.1400000000000006</c:v>
                </c:pt>
                <c:pt idx="1">
                  <c:v>2.855</c:v>
                </c:pt>
                <c:pt idx="2">
                  <c:v>5.2050000000000001</c:v>
                </c:pt>
                <c:pt idx="3">
                  <c:v>11.299999999999999</c:v>
                </c:pt>
                <c:pt idx="4">
                  <c:v>5.64</c:v>
                </c:pt>
              </c:numCache>
            </c:numRef>
          </c:val>
          <c:smooth val="0"/>
          <c:extLst>
            <c:ext xmlns:c16="http://schemas.microsoft.com/office/drawing/2014/chart" uri="{C3380CC4-5D6E-409C-BE32-E72D297353CC}">
              <c16:uniqueId val="{0000000E-4D19-4DD2-A509-C5DA49F37D91}"/>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2.5595"/>
          <c:min val="-2.5545"/>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Household &amp; personal care</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FC91-4CF2-9FEF-7FDB0F4318B3}"/>
              </c:ext>
            </c:extLst>
          </c:dPt>
          <c:dPt>
            <c:idx val="4"/>
            <c:bubble3D val="0"/>
            <c:spPr>
              <a:ln w="19050" cap="flat">
                <a:solidFill>
                  <a:srgbClr val="1B1A1A"/>
                </a:solidFill>
                <a:prstDash val="dash"/>
                <a:round/>
              </a:ln>
            </c:spPr>
            <c:extLst>
              <c:ext xmlns:c16="http://schemas.microsoft.com/office/drawing/2014/chart" uri="{C3380CC4-5D6E-409C-BE32-E72D297353CC}">
                <c16:uniqueId val="{00000003-FC91-4CF2-9FEF-7FDB0F4318B3}"/>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5.3849999999999998</c:v>
                </c:pt>
                <c:pt idx="1">
                  <c:v>1.8</c:v>
                </c:pt>
                <c:pt idx="2">
                  <c:v>2.415</c:v>
                </c:pt>
                <c:pt idx="3">
                  <c:v>4.7349999999999994</c:v>
                </c:pt>
                <c:pt idx="4">
                  <c:v>3.6849999999999996</c:v>
                </c:pt>
              </c:numCache>
            </c:numRef>
          </c:val>
          <c:smooth val="0"/>
          <c:extLst>
            <c:ext xmlns:c16="http://schemas.microsoft.com/office/drawing/2014/chart" uri="{C3380CC4-5D6E-409C-BE32-E72D297353CC}">
              <c16:uniqueId val="{00000004-FC91-4CF2-9FEF-7FDB0F4318B3}"/>
            </c:ext>
          </c:extLst>
        </c:ser>
        <c:ser>
          <c:idx val="1"/>
          <c:order val="1"/>
          <c:tx>
            <c:strRef>
              <c:f>Sheet1!$C$1</c:f>
              <c:strCache>
                <c:ptCount val="1"/>
                <c:pt idx="0">
                  <c:v>Durables, outdoor &amp; pet</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FC91-4CF2-9FEF-7FDB0F4318B3}"/>
              </c:ext>
            </c:extLst>
          </c:dPt>
          <c:dPt>
            <c:idx val="4"/>
            <c:bubble3D val="0"/>
            <c:spPr>
              <a:ln w="19050" cap="flat">
                <a:solidFill>
                  <a:srgbClr val="B68757"/>
                </a:solidFill>
                <a:prstDash val="dash"/>
                <a:round/>
              </a:ln>
            </c:spPr>
            <c:extLst>
              <c:ext xmlns:c16="http://schemas.microsoft.com/office/drawing/2014/chart" uri="{C3380CC4-5D6E-409C-BE32-E72D297353CC}">
                <c16:uniqueId val="{00000008-FC91-4CF2-9FEF-7FDB0F4318B3}"/>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-3.835</c:v>
                </c:pt>
                <c:pt idx="1">
                  <c:v>-0.71499999999999997</c:v>
                </c:pt>
                <c:pt idx="2">
                  <c:v>-3.6050000000000004</c:v>
                </c:pt>
                <c:pt idx="3">
                  <c:v>1.915</c:v>
                </c:pt>
                <c:pt idx="4">
                  <c:v>2.9000000000000004</c:v>
                </c:pt>
              </c:numCache>
            </c:numRef>
          </c:val>
          <c:smooth val="0"/>
          <c:extLst>
            <c:ext xmlns:c16="http://schemas.microsoft.com/office/drawing/2014/chart" uri="{C3380CC4-5D6E-409C-BE32-E72D297353CC}">
              <c16:uniqueId val="{00000009-FC91-4CF2-9FEF-7FDB0F4318B3}"/>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6.3069999999999995"/>
          <c:min val="-4.7569999999999997"/>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Foodservice distribution</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9428-4BF2-917E-8F6BC49E8617}"/>
              </c:ext>
            </c:extLst>
          </c:dPt>
          <c:dPt>
            <c:idx val="4"/>
            <c:bubble3D val="0"/>
            <c:spPr>
              <a:ln w="19050" cap="flat">
                <a:solidFill>
                  <a:srgbClr val="1B1A1A"/>
                </a:solidFill>
                <a:prstDash val="dash"/>
                <a:round/>
              </a:ln>
            </c:spPr>
            <c:extLst>
              <c:ext xmlns:c16="http://schemas.microsoft.com/office/drawing/2014/chart" uri="{C3380CC4-5D6E-409C-BE32-E72D297353CC}">
                <c16:uniqueId val="{00000003-9428-4BF2-917E-8F6BC49E8617}"/>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3.3</c:v>
                </c:pt>
                <c:pt idx="1">
                  <c:v>6.4</c:v>
                </c:pt>
                <c:pt idx="2">
                  <c:v>4.08</c:v>
                </c:pt>
                <c:pt idx="3">
                  <c:v>6.08</c:v>
                </c:pt>
                <c:pt idx="4">
                  <c:v>2.79</c:v>
                </c:pt>
              </c:numCache>
            </c:numRef>
          </c:val>
          <c:smooth val="0"/>
          <c:extLst>
            <c:ext xmlns:c16="http://schemas.microsoft.com/office/drawing/2014/chart" uri="{C3380CC4-5D6E-409C-BE32-E72D297353CC}">
              <c16:uniqueId val="{00000004-9428-4BF2-917E-8F6BC49E8617}"/>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7.0400000000000009"/>
          <c:min val="-0.6400000000000001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Restaurants</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E258-48A1-BF8C-F6D266B51939}"/>
              </c:ext>
            </c:extLst>
          </c:dPt>
          <c:dPt>
            <c:idx val="4"/>
            <c:bubble3D val="0"/>
            <c:spPr>
              <a:ln w="19050" cap="flat">
                <a:solidFill>
                  <a:srgbClr val="1B1A1A"/>
                </a:solidFill>
                <a:prstDash val="dash"/>
                <a:round/>
              </a:ln>
            </c:spPr>
            <c:extLst>
              <c:ext xmlns:c16="http://schemas.microsoft.com/office/drawing/2014/chart" uri="{C3380CC4-5D6E-409C-BE32-E72D297353CC}">
                <c16:uniqueId val="{00000003-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9.2850000000000001</c:v>
                </c:pt>
                <c:pt idx="1">
                  <c:v>10.32</c:v>
                </c:pt>
                <c:pt idx="2">
                  <c:v>6.6349999999999998</c:v>
                </c:pt>
                <c:pt idx="3">
                  <c:v>6.51</c:v>
                </c:pt>
                <c:pt idx="4">
                  <c:v>4.75</c:v>
                </c:pt>
              </c:numCache>
            </c:numRef>
          </c:val>
          <c:smooth val="0"/>
          <c:extLst>
            <c:ext xmlns:c16="http://schemas.microsoft.com/office/drawing/2014/chart" uri="{C3380CC4-5D6E-409C-BE32-E72D297353CC}">
              <c16:uniqueId val="{00000004-E258-48A1-BF8C-F6D266B51939}"/>
            </c:ext>
          </c:extLst>
        </c:ser>
        <c:ser>
          <c:idx val="1"/>
          <c:order val="1"/>
          <c:tx>
            <c:strRef>
              <c:f>Sheet1!$C$1</c:f>
              <c:strCache>
                <c:ptCount val="1"/>
                <c:pt idx="0">
                  <c:v>Consumer services</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E258-48A1-BF8C-F6D266B51939}"/>
              </c:ext>
            </c:extLst>
          </c:dPt>
          <c:dPt>
            <c:idx val="4"/>
            <c:bubble3D val="0"/>
            <c:spPr>
              <a:ln w="19050" cap="flat">
                <a:solidFill>
                  <a:srgbClr val="B68757"/>
                </a:solidFill>
                <a:prstDash val="dash"/>
                <a:round/>
              </a:ln>
            </c:spPr>
            <c:extLst>
              <c:ext xmlns:c16="http://schemas.microsoft.com/office/drawing/2014/chart" uri="{C3380CC4-5D6E-409C-BE32-E72D297353CC}">
                <c16:uniqueId val="{00000008-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13.95</c:v>
                </c:pt>
                <c:pt idx="1">
                  <c:v>4.22</c:v>
                </c:pt>
                <c:pt idx="2">
                  <c:v>6.28</c:v>
                </c:pt>
                <c:pt idx="3">
                  <c:v>8.66</c:v>
                </c:pt>
                <c:pt idx="4">
                  <c:v>8.43</c:v>
                </c:pt>
              </c:numCache>
            </c:numRef>
          </c:val>
          <c:smooth val="0"/>
          <c:extLst>
            <c:ext xmlns:c16="http://schemas.microsoft.com/office/drawing/2014/chart" uri="{C3380CC4-5D6E-409C-BE32-E72D297353CC}">
              <c16:uniqueId val="{00000009-E258-48A1-BF8C-F6D266B51939}"/>
            </c:ext>
          </c:extLst>
        </c:ser>
        <c:ser>
          <c:idx val="2"/>
          <c:order val="2"/>
          <c:tx>
            <c:strRef>
              <c:f>Sheet1!$D$1</c:f>
              <c:strCache>
                <c:ptCount val="1"/>
                <c:pt idx="0">
                  <c:v>Retail</c:v>
                </c:pt>
              </c:strCache>
            </c:strRef>
          </c:tx>
          <c:spPr>
            <a:ln w="19050" cap="flat">
              <a:solidFill>
                <a:srgbClr val="8F8880"/>
              </a:solidFill>
              <a:prstDash val="solid"/>
              <a:round/>
            </a:ln>
            <a:effectLst/>
          </c:spPr>
          <c:marker>
            <c:symbol val="diamond"/>
            <c:size val="6"/>
            <c:spPr>
              <a:solidFill>
                <a:srgbClr val="8F8880"/>
              </a:solidFill>
              <a:ln w="11430" cap="flat">
                <a:solidFill>
                  <a:srgbClr val="FAF7F3"/>
                </a:solidFill>
                <a:prstDash val="solid"/>
                <a:round/>
              </a:ln>
              <a:effectLst/>
            </c:spPr>
          </c:marker>
          <c:dPt>
            <c:idx val="3"/>
            <c:bubble3D val="0"/>
            <c:spPr>
              <a:ln w="19050" cap="flat">
                <a:solidFill>
                  <a:srgbClr val="8F8880"/>
                </a:solidFill>
                <a:prstDash val="dash"/>
                <a:round/>
              </a:ln>
            </c:spPr>
            <c:extLst>
              <c:ext xmlns:c16="http://schemas.microsoft.com/office/drawing/2014/chart" uri="{C3380CC4-5D6E-409C-BE32-E72D297353CC}">
                <c16:uniqueId val="{0000000B-E258-48A1-BF8C-F6D266B51939}"/>
              </c:ext>
            </c:extLst>
          </c:dPt>
          <c:dPt>
            <c:idx val="4"/>
            <c:bubble3D val="0"/>
            <c:spPr>
              <a:ln w="19050" cap="flat">
                <a:solidFill>
                  <a:srgbClr val="8F8880"/>
                </a:solidFill>
                <a:prstDash val="dash"/>
                <a:round/>
              </a:ln>
            </c:spPr>
            <c:extLst>
              <c:ext xmlns:c16="http://schemas.microsoft.com/office/drawing/2014/chart" uri="{C3380CC4-5D6E-409C-BE32-E72D297353CC}">
                <c16:uniqueId val="{0000000D-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Sheet1!$D$2:$D$6</c:f>
              <c:numCache>
                <c:formatCode>General</c:formatCode>
                <c:ptCount val="5"/>
                <c:pt idx="0">
                  <c:v>2.3550000000000004</c:v>
                </c:pt>
                <c:pt idx="1">
                  <c:v>3.605</c:v>
                </c:pt>
                <c:pt idx="2">
                  <c:v>4.5149999999999997</c:v>
                </c:pt>
                <c:pt idx="3">
                  <c:v>4.72</c:v>
                </c:pt>
                <c:pt idx="4">
                  <c:v>4.085</c:v>
                </c:pt>
              </c:numCache>
            </c:numRef>
          </c:val>
          <c:smooth val="0"/>
          <c:extLst>
            <c:ext xmlns:c16="http://schemas.microsoft.com/office/drawing/2014/chart" uri="{C3380CC4-5D6E-409C-BE32-E72D297353CC}">
              <c16:uniqueId val="{0000000E-E258-48A1-BF8C-F6D266B51939}"/>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5.344999999999999"/>
          <c:min val="-1.395"/>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Retail and food services sales ($M)</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336E-45AD-A24E-DB8A53C33644}"/>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559230</c:v>
                </c:pt>
                <c:pt idx="1">
                  <c:v>544891</c:v>
                </c:pt>
                <c:pt idx="2">
                  <c:v>603581</c:v>
                </c:pt>
                <c:pt idx="3">
                  <c:v>608961</c:v>
                </c:pt>
                <c:pt idx="4">
                  <c:v>605282</c:v>
                </c:pt>
                <c:pt idx="5">
                  <c:v>611950</c:v>
                </c:pt>
                <c:pt idx="6">
                  <c:v>601817</c:v>
                </c:pt>
                <c:pt idx="7">
                  <c:v>605533</c:v>
                </c:pt>
                <c:pt idx="8">
                  <c:v>609671</c:v>
                </c:pt>
                <c:pt idx="9">
                  <c:v>618573</c:v>
                </c:pt>
                <c:pt idx="10">
                  <c:v>624874</c:v>
                </c:pt>
                <c:pt idx="11">
                  <c:v>619938</c:v>
                </c:pt>
                <c:pt idx="12">
                  <c:v>631509</c:v>
                </c:pt>
                <c:pt idx="13">
                  <c:v>638101</c:v>
                </c:pt>
                <c:pt idx="14">
                  <c:v>651027</c:v>
                </c:pt>
                <c:pt idx="15">
                  <c:v>660194</c:v>
                </c:pt>
                <c:pt idx="16">
                  <c:v>659847</c:v>
                </c:pt>
                <c:pt idx="17">
                  <c:v>666113</c:v>
                </c:pt>
                <c:pt idx="18">
                  <c:v>659550</c:v>
                </c:pt>
                <c:pt idx="19">
                  <c:v>663566</c:v>
                </c:pt>
                <c:pt idx="20">
                  <c:v>661854</c:v>
                </c:pt>
                <c:pt idx="21">
                  <c:v>668671</c:v>
                </c:pt>
                <c:pt idx="22">
                  <c:v>659458</c:v>
                </c:pt>
                <c:pt idx="23">
                  <c:v>651763</c:v>
                </c:pt>
                <c:pt idx="24">
                  <c:v>680253</c:v>
                </c:pt>
                <c:pt idx="25">
                  <c:v>672152</c:v>
                </c:pt>
                <c:pt idx="26">
                  <c:v>665071</c:v>
                </c:pt>
                <c:pt idx="27">
                  <c:v>670494</c:v>
                </c:pt>
                <c:pt idx="28">
                  <c:v>673902</c:v>
                </c:pt>
                <c:pt idx="29">
                  <c:v>677117</c:v>
                </c:pt>
                <c:pt idx="30">
                  <c:v>678424</c:v>
                </c:pt>
                <c:pt idx="31">
                  <c:v>684755</c:v>
                </c:pt>
                <c:pt idx="32">
                  <c:v>689403</c:v>
                </c:pt>
                <c:pt idx="33">
                  <c:v>686148</c:v>
                </c:pt>
                <c:pt idx="34">
                  <c:v>685328</c:v>
                </c:pt>
                <c:pt idx="35">
                  <c:v>686277</c:v>
                </c:pt>
                <c:pt idx="36">
                  <c:v>680456</c:v>
                </c:pt>
                <c:pt idx="37">
                  <c:v>685280</c:v>
                </c:pt>
                <c:pt idx="38">
                  <c:v>687641</c:v>
                </c:pt>
                <c:pt idx="39">
                  <c:v>687602</c:v>
                </c:pt>
                <c:pt idx="40">
                  <c:v>692774</c:v>
                </c:pt>
                <c:pt idx="41">
                  <c:v>692449</c:v>
                </c:pt>
                <c:pt idx="42">
                  <c:v>698835</c:v>
                </c:pt>
                <c:pt idx="43">
                  <c:v>697039</c:v>
                </c:pt>
                <c:pt idx="44">
                  <c:v>703055</c:v>
                </c:pt>
                <c:pt idx="45">
                  <c:v>708290</c:v>
                </c:pt>
                <c:pt idx="46">
                  <c:v>711853</c:v>
                </c:pt>
                <c:pt idx="47">
                  <c:v>717265</c:v>
                </c:pt>
                <c:pt idx="48">
                  <c:v>711260</c:v>
                </c:pt>
                <c:pt idx="49">
                  <c:v>711575</c:v>
                </c:pt>
                <c:pt idx="50">
                  <c:v>723339</c:v>
                </c:pt>
                <c:pt idx="51">
                  <c:v>722442</c:v>
                </c:pt>
                <c:pt idx="52">
                  <c:v>714513</c:v>
                </c:pt>
                <c:pt idx="53">
                  <c:v>719484</c:v>
                </c:pt>
                <c:pt idx="54">
                  <c:v>727837</c:v>
                </c:pt>
                <c:pt idx="55">
                  <c:v>730037</c:v>
                </c:pt>
                <c:pt idx="56">
                  <c:v>732192</c:v>
                </c:pt>
                <c:pt idx="57">
                  <c:v>731051</c:v>
                </c:pt>
                <c:pt idx="58">
                  <c:v>734718</c:v>
                </c:pt>
                <c:pt idx="59">
                  <c:v>734717</c:v>
                </c:pt>
                <c:pt idx="60">
                  <c:v>734503</c:v>
                </c:pt>
                <c:pt idx="61">
                  <c:v>741278</c:v>
                </c:pt>
                <c:pt idx="62">
                  <c:v>754013</c:v>
                </c:pt>
                <c:pt idx="63">
                  <c:v>759097</c:v>
                </c:pt>
                <c:pt idx="64">
                  <c:v>766192</c:v>
                </c:pt>
                <c:pt idx="65">
                  <c:v>768587</c:v>
                </c:pt>
                <c:pt idx="66">
                  <c:v>764462</c:v>
                </c:pt>
                <c:pt idx="67">
                  <c:v>773947</c:v>
                </c:pt>
              </c:numCache>
            </c:numRef>
          </c:val>
          <c:smooth val="0"/>
          <c:extLst>
            <c:ext xmlns:c16="http://schemas.microsoft.com/office/drawing/2014/chart" uri="{C3380CC4-5D6E-409C-BE32-E72D297353CC}">
              <c16:uniqueId val="{00000001-336E-45AD-A24E-DB8A53C33644}"/>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792271.48"/>
          <c:min val="526566.5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services and drinking places sales ($M)</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B496-446F-AFEA-793F9FD71850}"/>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57626</c:v>
                </c:pt>
                <c:pt idx="1">
                  <c:v>56086</c:v>
                </c:pt>
                <c:pt idx="2">
                  <c:v>63974</c:v>
                </c:pt>
                <c:pt idx="3">
                  <c:v>66762</c:v>
                </c:pt>
                <c:pt idx="4">
                  <c:v>68693</c:v>
                </c:pt>
                <c:pt idx="5">
                  <c:v>71798</c:v>
                </c:pt>
                <c:pt idx="6">
                  <c:v>73217</c:v>
                </c:pt>
                <c:pt idx="7">
                  <c:v>73056</c:v>
                </c:pt>
                <c:pt idx="8">
                  <c:v>73020</c:v>
                </c:pt>
                <c:pt idx="9">
                  <c:v>73212</c:v>
                </c:pt>
                <c:pt idx="10">
                  <c:v>73792</c:v>
                </c:pt>
                <c:pt idx="11">
                  <c:v>72661</c:v>
                </c:pt>
                <c:pt idx="12">
                  <c:v>71252</c:v>
                </c:pt>
                <c:pt idx="13">
                  <c:v>74324</c:v>
                </c:pt>
                <c:pt idx="14">
                  <c:v>76542</c:v>
                </c:pt>
                <c:pt idx="15">
                  <c:v>79251</c:v>
                </c:pt>
                <c:pt idx="16">
                  <c:v>80003</c:v>
                </c:pt>
                <c:pt idx="17">
                  <c:v>80557</c:v>
                </c:pt>
                <c:pt idx="18">
                  <c:v>80283</c:v>
                </c:pt>
                <c:pt idx="19">
                  <c:v>82370</c:v>
                </c:pt>
                <c:pt idx="20">
                  <c:v>82408</c:v>
                </c:pt>
                <c:pt idx="21">
                  <c:v>83665</c:v>
                </c:pt>
                <c:pt idx="22">
                  <c:v>83102</c:v>
                </c:pt>
                <c:pt idx="23">
                  <c:v>82644</c:v>
                </c:pt>
                <c:pt idx="24">
                  <c:v>88289</c:v>
                </c:pt>
                <c:pt idx="25">
                  <c:v>85987</c:v>
                </c:pt>
                <c:pt idx="26">
                  <c:v>86259</c:v>
                </c:pt>
                <c:pt idx="27">
                  <c:v>86620</c:v>
                </c:pt>
                <c:pt idx="28">
                  <c:v>87616</c:v>
                </c:pt>
                <c:pt idx="29">
                  <c:v>88447</c:v>
                </c:pt>
                <c:pt idx="30">
                  <c:v>89167</c:v>
                </c:pt>
                <c:pt idx="31">
                  <c:v>89564</c:v>
                </c:pt>
                <c:pt idx="32">
                  <c:v>90447</c:v>
                </c:pt>
                <c:pt idx="33">
                  <c:v>90631</c:v>
                </c:pt>
                <c:pt idx="34">
                  <c:v>91761</c:v>
                </c:pt>
                <c:pt idx="35">
                  <c:v>92021</c:v>
                </c:pt>
                <c:pt idx="36">
                  <c:v>91512</c:v>
                </c:pt>
                <c:pt idx="37">
                  <c:v>92074</c:v>
                </c:pt>
                <c:pt idx="38">
                  <c:v>91672</c:v>
                </c:pt>
                <c:pt idx="39">
                  <c:v>91926</c:v>
                </c:pt>
                <c:pt idx="40">
                  <c:v>92402</c:v>
                </c:pt>
                <c:pt idx="41">
                  <c:v>92470</c:v>
                </c:pt>
                <c:pt idx="42">
                  <c:v>93021</c:v>
                </c:pt>
                <c:pt idx="43">
                  <c:v>93438</c:v>
                </c:pt>
                <c:pt idx="44">
                  <c:v>94281</c:v>
                </c:pt>
                <c:pt idx="45">
                  <c:v>95518</c:v>
                </c:pt>
                <c:pt idx="46">
                  <c:v>95509</c:v>
                </c:pt>
                <c:pt idx="47">
                  <c:v>95552</c:v>
                </c:pt>
                <c:pt idx="48">
                  <c:v>96115</c:v>
                </c:pt>
                <c:pt idx="49">
                  <c:v>94939</c:v>
                </c:pt>
                <c:pt idx="50">
                  <c:v>97919</c:v>
                </c:pt>
                <c:pt idx="51">
                  <c:v>98170</c:v>
                </c:pt>
                <c:pt idx="52">
                  <c:v>97973</c:v>
                </c:pt>
                <c:pt idx="53">
                  <c:v>98693</c:v>
                </c:pt>
                <c:pt idx="54">
                  <c:v>98691</c:v>
                </c:pt>
                <c:pt idx="55">
                  <c:v>99267</c:v>
                </c:pt>
                <c:pt idx="56">
                  <c:v>99797</c:v>
                </c:pt>
                <c:pt idx="57">
                  <c:v>99705</c:v>
                </c:pt>
                <c:pt idx="58">
                  <c:v>100241</c:v>
                </c:pt>
                <c:pt idx="59">
                  <c:v>99887</c:v>
                </c:pt>
                <c:pt idx="60">
                  <c:v>99554</c:v>
                </c:pt>
                <c:pt idx="61">
                  <c:v>100240</c:v>
                </c:pt>
                <c:pt idx="62">
                  <c:v>100241</c:v>
                </c:pt>
                <c:pt idx="63">
                  <c:v>101267</c:v>
                </c:pt>
                <c:pt idx="64">
                  <c:v>102588</c:v>
                </c:pt>
                <c:pt idx="65">
                  <c:v>103340</c:v>
                </c:pt>
                <c:pt idx="66">
                  <c:v>103824</c:v>
                </c:pt>
                <c:pt idx="67">
                  <c:v>105070</c:v>
                </c:pt>
              </c:numCache>
            </c:numRef>
          </c:val>
          <c:smooth val="0"/>
          <c:extLst>
            <c:ext xmlns:c16="http://schemas.microsoft.com/office/drawing/2014/chart" uri="{C3380CC4-5D6E-409C-BE32-E72D297353CC}">
              <c16:uniqueId val="{00000001-B496-446F-AFEA-793F9FD7185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08988.72"/>
          <c:min val="52167.2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E-commerce share of retail sales (%)</c:v>
                </c:pt>
              </c:strCache>
            </c:strRef>
          </c:tx>
          <c:spPr>
            <a:ln w="17145" cap="flat">
              <a:solidFill>
                <a:srgbClr val="8C6239"/>
              </a:solidFill>
              <a:prstDash val="solid"/>
              <a:round/>
            </a:ln>
            <a:effectLst/>
          </c:spPr>
          <c:marker>
            <c:symbol val="none"/>
          </c:marker>
          <c:dPt>
            <c:idx val="21"/>
            <c:marker>
              <c:symbol val="circle"/>
              <c:size val="5"/>
              <c:spPr>
                <a:solidFill>
                  <a:srgbClr val="B68757"/>
                </a:solidFill>
                <a:ln>
                  <a:noFill/>
                </a:ln>
              </c:spPr>
            </c:marker>
            <c:bubble3D val="0"/>
            <c:extLst>
              <c:ext xmlns:c16="http://schemas.microsoft.com/office/drawing/2014/chart" uri="{C3380CC4-5D6E-409C-BE32-E72D297353CC}">
                <c16:uniqueId val="{00000000-BE32-4619-9290-D5A2D92E24B3}"/>
              </c:ext>
            </c:extLst>
          </c:dPt>
          <c:cat>
            <c:strRef>
              <c:f>Sheet1!$A$2:$A$23</c:f>
              <c:strCache>
                <c:ptCount val="22"/>
                <c:pt idx="0">
                  <c:v>2021-01</c:v>
                </c:pt>
                <c:pt idx="1">
                  <c:v>2021-04</c:v>
                </c:pt>
                <c:pt idx="2">
                  <c:v>2021-07</c:v>
                </c:pt>
                <c:pt idx="3">
                  <c:v>2021-10</c:v>
                </c:pt>
                <c:pt idx="4">
                  <c:v>2022-01</c:v>
                </c:pt>
                <c:pt idx="5">
                  <c:v>2022-04</c:v>
                </c:pt>
                <c:pt idx="6">
                  <c:v>2022-07</c:v>
                </c:pt>
                <c:pt idx="7">
                  <c:v>2022-10</c:v>
                </c:pt>
                <c:pt idx="8">
                  <c:v>2023-01</c:v>
                </c:pt>
                <c:pt idx="9">
                  <c:v>2023-04</c:v>
                </c:pt>
                <c:pt idx="10">
                  <c:v>2023-07</c:v>
                </c:pt>
                <c:pt idx="11">
                  <c:v>2023-10</c:v>
                </c:pt>
                <c:pt idx="12">
                  <c:v>2024-01</c:v>
                </c:pt>
                <c:pt idx="13">
                  <c:v>2024-04</c:v>
                </c:pt>
                <c:pt idx="14">
                  <c:v>2024-07</c:v>
                </c:pt>
                <c:pt idx="15">
                  <c:v>2024-10</c:v>
                </c:pt>
                <c:pt idx="16">
                  <c:v>2025-01</c:v>
                </c:pt>
                <c:pt idx="17">
                  <c:v>2025-04</c:v>
                </c:pt>
                <c:pt idx="18">
                  <c:v>2025-07</c:v>
                </c:pt>
                <c:pt idx="19">
                  <c:v>2025-10</c:v>
                </c:pt>
                <c:pt idx="20">
                  <c:v>2026-01</c:v>
                </c:pt>
                <c:pt idx="21">
                  <c:v>2026-04</c:v>
                </c:pt>
              </c:strCache>
            </c:strRef>
          </c:cat>
          <c:val>
            <c:numRef>
              <c:f>Sheet1!$B$2:$B$23</c:f>
              <c:numCache>
                <c:formatCode>General</c:formatCode>
                <c:ptCount val="22"/>
                <c:pt idx="0">
                  <c:v>14.9</c:v>
                </c:pt>
                <c:pt idx="1">
                  <c:v>14.6</c:v>
                </c:pt>
                <c:pt idx="2">
                  <c:v>14.5</c:v>
                </c:pt>
                <c:pt idx="3">
                  <c:v>14.6</c:v>
                </c:pt>
                <c:pt idx="4">
                  <c:v>14.4</c:v>
                </c:pt>
                <c:pt idx="5">
                  <c:v>14.2</c:v>
                </c:pt>
                <c:pt idx="6">
                  <c:v>14.5</c:v>
                </c:pt>
                <c:pt idx="7">
                  <c:v>14.6</c:v>
                </c:pt>
                <c:pt idx="8">
                  <c:v>15</c:v>
                </c:pt>
                <c:pt idx="9">
                  <c:v>15.3</c:v>
                </c:pt>
                <c:pt idx="10">
                  <c:v>15.4</c:v>
                </c:pt>
                <c:pt idx="11">
                  <c:v>15.5</c:v>
                </c:pt>
                <c:pt idx="12">
                  <c:v>15.9</c:v>
                </c:pt>
                <c:pt idx="13">
                  <c:v>16.100000000000001</c:v>
                </c:pt>
                <c:pt idx="14">
                  <c:v>16.2</c:v>
                </c:pt>
                <c:pt idx="15">
                  <c:v>16.2</c:v>
                </c:pt>
                <c:pt idx="16">
                  <c:v>16</c:v>
                </c:pt>
                <c:pt idx="17">
                  <c:v>16.3</c:v>
                </c:pt>
                <c:pt idx="18">
                  <c:v>16.399999999999999</c:v>
                </c:pt>
                <c:pt idx="19">
                  <c:v>16.7</c:v>
                </c:pt>
                <c:pt idx="20">
                  <c:v>17</c:v>
                </c:pt>
                <c:pt idx="21">
                  <c:v>17.100000000000001</c:v>
                </c:pt>
              </c:numCache>
            </c:numRef>
          </c:val>
          <c:smooth val="0"/>
          <c:extLst>
            <c:ext xmlns:c16="http://schemas.microsoft.com/office/drawing/2014/chart" uri="{C3380CC4-5D6E-409C-BE32-E72D297353CC}">
              <c16:uniqueId val="{00000001-BE32-4619-9290-D5A2D92E24B3}"/>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7.332000000000001"/>
          <c:min val="13.96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Consumer sentiment</c:v>
                </c:pt>
              </c:strCache>
            </c:strRef>
          </c:tx>
          <c:spPr>
            <a:ln w="17145" cap="flat">
              <a:solidFill>
                <a:srgbClr val="8C6239"/>
              </a:solidFill>
              <a:prstDash val="solid"/>
              <a:round/>
            </a:ln>
            <a:effectLst/>
          </c:spPr>
          <c:marker>
            <c:symbol val="none"/>
          </c:marker>
          <c:dPt>
            <c:idx val="68"/>
            <c:marker>
              <c:symbol val="circle"/>
              <c:size val="5"/>
              <c:spPr>
                <a:solidFill>
                  <a:srgbClr val="B68757"/>
                </a:solidFill>
                <a:ln>
                  <a:noFill/>
                </a:ln>
              </c:spPr>
            </c:marker>
            <c:bubble3D val="0"/>
            <c:extLst>
              <c:ext xmlns:c16="http://schemas.microsoft.com/office/drawing/2014/chart" uri="{C3380CC4-5D6E-409C-BE32-E72D297353CC}">
                <c16:uniqueId val="{00000000-8BBB-4DE6-9F13-C0539A7E7A04}"/>
              </c:ext>
            </c:extLst>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79</c:v>
                </c:pt>
                <c:pt idx="1">
                  <c:v>76.8</c:v>
                </c:pt>
                <c:pt idx="2">
                  <c:v>84.9</c:v>
                </c:pt>
                <c:pt idx="3">
                  <c:v>88.3</c:v>
                </c:pt>
                <c:pt idx="4">
                  <c:v>82.9</c:v>
                </c:pt>
                <c:pt idx="5">
                  <c:v>85.5</c:v>
                </c:pt>
                <c:pt idx="6">
                  <c:v>81.2</c:v>
                </c:pt>
                <c:pt idx="7">
                  <c:v>70.3</c:v>
                </c:pt>
                <c:pt idx="8">
                  <c:v>72.8</c:v>
                </c:pt>
                <c:pt idx="9">
                  <c:v>71.7</c:v>
                </c:pt>
                <c:pt idx="10">
                  <c:v>67.400000000000006</c:v>
                </c:pt>
                <c:pt idx="11">
                  <c:v>70.599999999999994</c:v>
                </c:pt>
                <c:pt idx="12">
                  <c:v>67.2</c:v>
                </c:pt>
                <c:pt idx="13">
                  <c:v>62.8</c:v>
                </c:pt>
                <c:pt idx="14">
                  <c:v>59.4</c:v>
                </c:pt>
                <c:pt idx="15">
                  <c:v>65.2</c:v>
                </c:pt>
                <c:pt idx="16">
                  <c:v>58.4</c:v>
                </c:pt>
                <c:pt idx="17">
                  <c:v>50</c:v>
                </c:pt>
                <c:pt idx="18">
                  <c:v>51.5</c:v>
                </c:pt>
                <c:pt idx="19">
                  <c:v>58.2</c:v>
                </c:pt>
                <c:pt idx="20">
                  <c:v>58.6</c:v>
                </c:pt>
                <c:pt idx="21">
                  <c:v>59.9</c:v>
                </c:pt>
                <c:pt idx="22">
                  <c:v>56.7</c:v>
                </c:pt>
                <c:pt idx="23">
                  <c:v>59.8</c:v>
                </c:pt>
                <c:pt idx="24">
                  <c:v>64.900000000000006</c:v>
                </c:pt>
                <c:pt idx="25">
                  <c:v>66.900000000000006</c:v>
                </c:pt>
                <c:pt idx="26">
                  <c:v>62</c:v>
                </c:pt>
                <c:pt idx="27">
                  <c:v>63.7</c:v>
                </c:pt>
                <c:pt idx="28">
                  <c:v>59</c:v>
                </c:pt>
                <c:pt idx="29">
                  <c:v>64.2</c:v>
                </c:pt>
                <c:pt idx="30">
                  <c:v>71.5</c:v>
                </c:pt>
                <c:pt idx="31">
                  <c:v>69.400000000000006</c:v>
                </c:pt>
                <c:pt idx="32">
                  <c:v>67.8</c:v>
                </c:pt>
                <c:pt idx="33">
                  <c:v>63.8</c:v>
                </c:pt>
                <c:pt idx="34">
                  <c:v>61.3</c:v>
                </c:pt>
                <c:pt idx="35">
                  <c:v>69.7</c:v>
                </c:pt>
                <c:pt idx="36">
                  <c:v>79</c:v>
                </c:pt>
                <c:pt idx="37">
                  <c:v>76.900000000000006</c:v>
                </c:pt>
                <c:pt idx="38">
                  <c:v>79.400000000000006</c:v>
                </c:pt>
                <c:pt idx="39">
                  <c:v>77.2</c:v>
                </c:pt>
                <c:pt idx="40">
                  <c:v>69.099999999999994</c:v>
                </c:pt>
                <c:pt idx="41">
                  <c:v>68.2</c:v>
                </c:pt>
                <c:pt idx="42">
                  <c:v>66.400000000000006</c:v>
                </c:pt>
                <c:pt idx="43">
                  <c:v>67.900000000000006</c:v>
                </c:pt>
                <c:pt idx="44">
                  <c:v>70.099999999999994</c:v>
                </c:pt>
                <c:pt idx="45">
                  <c:v>70.5</c:v>
                </c:pt>
                <c:pt idx="46">
                  <c:v>71.8</c:v>
                </c:pt>
                <c:pt idx="47">
                  <c:v>74</c:v>
                </c:pt>
                <c:pt idx="48">
                  <c:v>71.7</c:v>
                </c:pt>
                <c:pt idx="49">
                  <c:v>64.7</c:v>
                </c:pt>
                <c:pt idx="50">
                  <c:v>57</c:v>
                </c:pt>
                <c:pt idx="51">
                  <c:v>52.2</c:v>
                </c:pt>
                <c:pt idx="52">
                  <c:v>52.2</c:v>
                </c:pt>
                <c:pt idx="53">
                  <c:v>60.7</c:v>
                </c:pt>
                <c:pt idx="54">
                  <c:v>61.7</c:v>
                </c:pt>
                <c:pt idx="55">
                  <c:v>58.2</c:v>
                </c:pt>
                <c:pt idx="56">
                  <c:v>55.1</c:v>
                </c:pt>
                <c:pt idx="57">
                  <c:v>53.6</c:v>
                </c:pt>
                <c:pt idx="58">
                  <c:v>51</c:v>
                </c:pt>
                <c:pt idx="59">
                  <c:v>52.9</c:v>
                </c:pt>
                <c:pt idx="60">
                  <c:v>56.4</c:v>
                </c:pt>
                <c:pt idx="61">
                  <c:v>56.6</c:v>
                </c:pt>
                <c:pt idx="62">
                  <c:v>53.3</c:v>
                </c:pt>
                <c:pt idx="63">
                  <c:v>49.8</c:v>
                </c:pt>
                <c:pt idx="64">
                  <c:v>44.8</c:v>
                </c:pt>
                <c:pt idx="65">
                  <c:v>49.5</c:v>
                </c:pt>
                <c:pt idx="66">
                  <c:v>55.2</c:v>
                </c:pt>
                <c:pt idx="67">
                  <c:v>51.7</c:v>
                </c:pt>
                <c:pt idx="68">
                  <c:v>48.1</c:v>
                </c:pt>
              </c:numCache>
            </c:numRef>
          </c:val>
          <c:smooth val="0"/>
          <c:extLst>
            <c:ext xmlns:c16="http://schemas.microsoft.com/office/drawing/2014/chart" uri="{C3380CC4-5D6E-409C-BE32-E72D297353CC}">
              <c16:uniqueId val="{00000001-8BBB-4DE6-9F13-C0539A7E7A04}"/>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91.78"/>
          <c:min val="41.3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at home CPI</c:v>
                </c:pt>
              </c:strCache>
            </c:strRef>
          </c:tx>
          <c:spPr>
            <a:ln w="17145" cap="flat">
              <a:solidFill>
                <a:srgbClr val="8C6239"/>
              </a:solidFill>
              <a:prstDash val="solid"/>
              <a:round/>
            </a:ln>
            <a:effectLst/>
          </c:spPr>
          <c:marker>
            <c:symbol val="none"/>
          </c:marker>
          <c:dPt>
            <c:idx val="66"/>
            <c:marker>
              <c:symbol val="circle"/>
              <c:size val="5"/>
              <c:spPr>
                <a:solidFill>
                  <a:srgbClr val="B68757"/>
                </a:solidFill>
                <a:ln>
                  <a:noFill/>
                </a:ln>
              </c:spPr>
            </c:marker>
            <c:bubble3D val="0"/>
            <c:extLst>
              <c:ext xmlns:c16="http://schemas.microsoft.com/office/drawing/2014/chart" uri="{C3380CC4-5D6E-409C-BE32-E72D297353CC}">
                <c16:uniqueId val="{00000000-4354-437B-BAD7-C3D39750ECB1}"/>
              </c:ext>
            </c:extLst>
          </c:dPt>
          <c:cat>
            <c:strRef>
              <c:f>Sheet1!$A$2:$A$68</c:f>
              <c:strCache>
                <c:ptCount val="67"/>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2025-11</c:v>
                </c:pt>
                <c:pt idx="58">
                  <c:v>2025-12</c:v>
                </c:pt>
                <c:pt idx="59">
                  <c:v>2026-01</c:v>
                </c:pt>
                <c:pt idx="60">
                  <c:v>2026-02</c:v>
                </c:pt>
                <c:pt idx="61">
                  <c:v>2026-03</c:v>
                </c:pt>
                <c:pt idx="62">
                  <c:v>2026-04</c:v>
                </c:pt>
                <c:pt idx="63">
                  <c:v>2026-05</c:v>
                </c:pt>
                <c:pt idx="64">
                  <c:v>2026-06</c:v>
                </c:pt>
                <c:pt idx="65">
                  <c:v>2026-07</c:v>
                </c:pt>
                <c:pt idx="66">
                  <c:v>2026-08</c:v>
                </c:pt>
              </c:strCache>
            </c:strRef>
          </c:cat>
          <c:val>
            <c:numRef>
              <c:f>Sheet1!$B$2:$B$68</c:f>
              <c:numCache>
                <c:formatCode>General</c:formatCode>
                <c:ptCount val="67"/>
                <c:pt idx="0">
                  <c:v>252.541</c:v>
                </c:pt>
                <c:pt idx="1">
                  <c:v>252.822</c:v>
                </c:pt>
                <c:pt idx="2">
                  <c:v>252.93299999999999</c:v>
                </c:pt>
                <c:pt idx="3">
                  <c:v>254.125</c:v>
                </c:pt>
                <c:pt idx="4">
                  <c:v>255.04300000000001</c:v>
                </c:pt>
                <c:pt idx="5">
                  <c:v>257.05799999999999</c:v>
                </c:pt>
                <c:pt idx="6">
                  <c:v>258.49099999999999</c:v>
                </c:pt>
                <c:pt idx="7">
                  <c:v>259.613</c:v>
                </c:pt>
                <c:pt idx="8">
                  <c:v>262.459</c:v>
                </c:pt>
                <c:pt idx="9">
                  <c:v>265.084</c:v>
                </c:pt>
                <c:pt idx="10">
                  <c:v>267.47300000000001</c:v>
                </c:pt>
                <c:pt idx="11">
                  <c:v>268.98500000000001</c:v>
                </c:pt>
                <c:pt idx="12">
                  <c:v>271.17599999999999</c:v>
                </c:pt>
                <c:pt idx="13">
                  <c:v>274.72800000000001</c:v>
                </c:pt>
                <c:pt idx="14">
                  <c:v>278.33300000000003</c:v>
                </c:pt>
                <c:pt idx="15">
                  <c:v>281.59300000000002</c:v>
                </c:pt>
                <c:pt idx="16">
                  <c:v>285.52199999999999</c:v>
                </c:pt>
                <c:pt idx="17">
                  <c:v>288.56799999999998</c:v>
                </c:pt>
                <c:pt idx="18">
                  <c:v>292.45499999999998</c:v>
                </c:pt>
                <c:pt idx="19">
                  <c:v>294.88400000000001</c:v>
                </c:pt>
                <c:pt idx="20">
                  <c:v>296.40300000000002</c:v>
                </c:pt>
                <c:pt idx="21">
                  <c:v>297.96600000000001</c:v>
                </c:pt>
                <c:pt idx="22">
                  <c:v>299.44900000000001</c:v>
                </c:pt>
                <c:pt idx="23">
                  <c:v>300.57600000000002</c:v>
                </c:pt>
                <c:pt idx="24">
                  <c:v>301.67599999999999</c:v>
                </c:pt>
                <c:pt idx="25">
                  <c:v>302.44400000000002</c:v>
                </c:pt>
                <c:pt idx="26">
                  <c:v>301.46699999999998</c:v>
                </c:pt>
                <c:pt idx="27">
                  <c:v>301.81099999999998</c:v>
                </c:pt>
                <c:pt idx="28">
                  <c:v>302.18400000000003</c:v>
                </c:pt>
                <c:pt idx="29">
                  <c:v>302.05700000000002</c:v>
                </c:pt>
                <c:pt idx="30">
                  <c:v>302.98399999999998</c:v>
                </c:pt>
                <c:pt idx="31">
                  <c:v>303.63099999999997</c:v>
                </c:pt>
                <c:pt idx="32">
                  <c:v>303.44900000000001</c:v>
                </c:pt>
                <c:pt idx="33">
                  <c:v>304.36599999999999</c:v>
                </c:pt>
                <c:pt idx="34">
                  <c:v>304.33199999999999</c:v>
                </c:pt>
                <c:pt idx="35">
                  <c:v>304.505</c:v>
                </c:pt>
                <c:pt idx="36">
                  <c:v>305.18700000000001</c:v>
                </c:pt>
                <c:pt idx="37">
                  <c:v>305.43200000000002</c:v>
                </c:pt>
                <c:pt idx="38">
                  <c:v>305.01</c:v>
                </c:pt>
                <c:pt idx="39">
                  <c:v>305.35399999999998</c:v>
                </c:pt>
                <c:pt idx="40">
                  <c:v>305.41399999999999</c:v>
                </c:pt>
                <c:pt idx="41">
                  <c:v>305.58199999999999</c:v>
                </c:pt>
                <c:pt idx="42">
                  <c:v>306.28500000000003</c:v>
                </c:pt>
                <c:pt idx="43">
                  <c:v>306.399</c:v>
                </c:pt>
                <c:pt idx="44">
                  <c:v>307.25799999999998</c:v>
                </c:pt>
                <c:pt idx="45">
                  <c:v>307.86700000000002</c:v>
                </c:pt>
                <c:pt idx="46">
                  <c:v>309.09300000000002</c:v>
                </c:pt>
                <c:pt idx="47">
                  <c:v>309.767</c:v>
                </c:pt>
                <c:pt idx="48">
                  <c:v>310.81700000000001</c:v>
                </c:pt>
                <c:pt idx="49">
                  <c:v>310.95499999999998</c:v>
                </c:pt>
                <c:pt idx="50">
                  <c:v>312.154</c:v>
                </c:pt>
                <c:pt idx="51">
                  <c:v>311.44</c:v>
                </c:pt>
                <c:pt idx="52">
                  <c:v>312.29599999999999</c:v>
                </c:pt>
                <c:pt idx="53">
                  <c:v>312.98200000000003</c:v>
                </c:pt>
                <c:pt idx="54">
                  <c:v>313.03500000000003</c:v>
                </c:pt>
                <c:pt idx="55">
                  <c:v>314.64699999999999</c:v>
                </c:pt>
                <c:pt idx="56">
                  <c:v>315.54000000000002</c:v>
                </c:pt>
                <c:pt idx="57">
                  <c:v>315</c:v>
                </c:pt>
                <c:pt idx="58">
                  <c:v>316.98200000000003</c:v>
                </c:pt>
                <c:pt idx="59">
                  <c:v>317.589</c:v>
                </c:pt>
                <c:pt idx="60">
                  <c:v>318.98500000000001</c:v>
                </c:pt>
                <c:pt idx="61">
                  <c:v>318.46199999999999</c:v>
                </c:pt>
                <c:pt idx="62">
                  <c:v>320.63299999999998</c:v>
                </c:pt>
                <c:pt idx="63">
                  <c:v>320.83600000000001</c:v>
                </c:pt>
                <c:pt idx="64">
                  <c:v>321.44600000000003</c:v>
                </c:pt>
                <c:pt idx="65">
                  <c:v>321.21600000000001</c:v>
                </c:pt>
                <c:pt idx="66">
                  <c:v>321.33499999999998</c:v>
                </c:pt>
              </c:numCache>
            </c:numRef>
          </c:val>
          <c:smooth val="0"/>
          <c:extLst>
            <c:ext xmlns:c16="http://schemas.microsoft.com/office/drawing/2014/chart" uri="{C3380CC4-5D6E-409C-BE32-E72D297353CC}">
              <c16:uniqueId val="{00000001-4354-437B-BAD7-C3D39750ECB1}"/>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326.95840000000004"/>
          <c:min val="247.0285999999999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away from home CPI</c:v>
                </c:pt>
              </c:strCache>
            </c:strRef>
          </c:tx>
          <c:spPr>
            <a:ln w="17145" cap="flat">
              <a:solidFill>
                <a:srgbClr val="8C6239"/>
              </a:solidFill>
              <a:prstDash val="solid"/>
              <a:round/>
            </a:ln>
            <a:effectLst/>
          </c:spPr>
          <c:marker>
            <c:symbol val="none"/>
          </c:marker>
          <c:dPt>
            <c:idx val="66"/>
            <c:marker>
              <c:symbol val="circle"/>
              <c:size val="5"/>
              <c:spPr>
                <a:solidFill>
                  <a:srgbClr val="B68757"/>
                </a:solidFill>
                <a:ln>
                  <a:noFill/>
                </a:ln>
              </c:spPr>
            </c:marker>
            <c:bubble3D val="0"/>
            <c:extLst>
              <c:ext xmlns:c16="http://schemas.microsoft.com/office/drawing/2014/chart" uri="{C3380CC4-5D6E-409C-BE32-E72D297353CC}">
                <c16:uniqueId val="{00000000-08A7-42D4-926D-282346940126}"/>
              </c:ext>
            </c:extLst>
          </c:dPt>
          <c:cat>
            <c:strRef>
              <c:f>Sheet1!$A$2:$A$68</c:f>
              <c:strCache>
                <c:ptCount val="67"/>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2025-11</c:v>
                </c:pt>
                <c:pt idx="58">
                  <c:v>2025-12</c:v>
                </c:pt>
                <c:pt idx="59">
                  <c:v>2026-01</c:v>
                </c:pt>
                <c:pt idx="60">
                  <c:v>2026-02</c:v>
                </c:pt>
                <c:pt idx="61">
                  <c:v>2026-03</c:v>
                </c:pt>
                <c:pt idx="62">
                  <c:v>2026-04</c:v>
                </c:pt>
                <c:pt idx="63">
                  <c:v>2026-05</c:v>
                </c:pt>
                <c:pt idx="64">
                  <c:v>2026-06</c:v>
                </c:pt>
                <c:pt idx="65">
                  <c:v>2026-07</c:v>
                </c:pt>
                <c:pt idx="66">
                  <c:v>2026-08</c:v>
                </c:pt>
              </c:strCache>
            </c:strRef>
          </c:cat>
          <c:val>
            <c:numRef>
              <c:f>Sheet1!$B$2:$B$68</c:f>
              <c:numCache>
                <c:formatCode>General</c:formatCode>
                <c:ptCount val="67"/>
                <c:pt idx="0">
                  <c:v>300.38200000000001</c:v>
                </c:pt>
                <c:pt idx="1">
                  <c:v>300.54000000000002</c:v>
                </c:pt>
                <c:pt idx="2">
                  <c:v>300.89699999999999</c:v>
                </c:pt>
                <c:pt idx="3">
                  <c:v>301.81900000000002</c:v>
                </c:pt>
                <c:pt idx="4">
                  <c:v>303.48099999999999</c:v>
                </c:pt>
                <c:pt idx="5">
                  <c:v>305.63400000000001</c:v>
                </c:pt>
                <c:pt idx="6">
                  <c:v>308.02300000000002</c:v>
                </c:pt>
                <c:pt idx="7">
                  <c:v>309.33600000000001</c:v>
                </c:pt>
                <c:pt idx="8">
                  <c:v>310.99599999999998</c:v>
                </c:pt>
                <c:pt idx="9">
                  <c:v>313.59199999999998</c:v>
                </c:pt>
                <c:pt idx="10">
                  <c:v>315.48099999999999</c:v>
                </c:pt>
                <c:pt idx="11">
                  <c:v>317.37200000000001</c:v>
                </c:pt>
                <c:pt idx="12">
                  <c:v>319.471</c:v>
                </c:pt>
                <c:pt idx="13">
                  <c:v>320.88</c:v>
                </c:pt>
                <c:pt idx="14">
                  <c:v>321.68900000000002</c:v>
                </c:pt>
                <c:pt idx="15">
                  <c:v>323.55900000000003</c:v>
                </c:pt>
                <c:pt idx="16">
                  <c:v>325.952</c:v>
                </c:pt>
                <c:pt idx="17">
                  <c:v>329.03300000000002</c:v>
                </c:pt>
                <c:pt idx="18">
                  <c:v>331.34199999999998</c:v>
                </c:pt>
                <c:pt idx="19">
                  <c:v>334.21199999999999</c:v>
                </c:pt>
                <c:pt idx="20">
                  <c:v>337.36900000000003</c:v>
                </c:pt>
                <c:pt idx="21">
                  <c:v>340.53199999999998</c:v>
                </c:pt>
                <c:pt idx="22">
                  <c:v>342.26600000000002</c:v>
                </c:pt>
                <c:pt idx="23">
                  <c:v>343.55900000000003</c:v>
                </c:pt>
                <c:pt idx="24">
                  <c:v>345.67700000000002</c:v>
                </c:pt>
                <c:pt idx="25">
                  <c:v>347.86900000000003</c:v>
                </c:pt>
                <c:pt idx="26">
                  <c:v>349.94400000000002</c:v>
                </c:pt>
                <c:pt idx="27">
                  <c:v>351.23700000000002</c:v>
                </c:pt>
                <c:pt idx="28">
                  <c:v>352.892</c:v>
                </c:pt>
                <c:pt idx="29">
                  <c:v>354.245</c:v>
                </c:pt>
                <c:pt idx="30">
                  <c:v>354.86200000000002</c:v>
                </c:pt>
                <c:pt idx="31">
                  <c:v>356.08300000000003</c:v>
                </c:pt>
                <c:pt idx="32">
                  <c:v>357.488</c:v>
                </c:pt>
                <c:pt idx="33">
                  <c:v>358.82400000000001</c:v>
                </c:pt>
                <c:pt idx="34">
                  <c:v>360.38299999999998</c:v>
                </c:pt>
                <c:pt idx="35">
                  <c:v>361.56400000000002</c:v>
                </c:pt>
                <c:pt idx="36">
                  <c:v>363.24900000000002</c:v>
                </c:pt>
                <c:pt idx="37">
                  <c:v>363.596</c:v>
                </c:pt>
                <c:pt idx="38">
                  <c:v>364.54599999999999</c:v>
                </c:pt>
                <c:pt idx="39">
                  <c:v>365.81299999999999</c:v>
                </c:pt>
                <c:pt idx="40">
                  <c:v>367.09899999999999</c:v>
                </c:pt>
                <c:pt idx="41">
                  <c:v>368.61599999999999</c:v>
                </c:pt>
                <c:pt idx="42">
                  <c:v>369.38299999999998</c:v>
                </c:pt>
                <c:pt idx="43">
                  <c:v>370.34800000000001</c:v>
                </c:pt>
                <c:pt idx="44">
                  <c:v>371.60399999999998</c:v>
                </c:pt>
                <c:pt idx="45">
                  <c:v>372.48599999999999</c:v>
                </c:pt>
                <c:pt idx="46">
                  <c:v>373.53</c:v>
                </c:pt>
                <c:pt idx="47">
                  <c:v>374.64400000000001</c:v>
                </c:pt>
                <c:pt idx="48">
                  <c:v>375.53199999999998</c:v>
                </c:pt>
                <c:pt idx="49">
                  <c:v>376.99099999999999</c:v>
                </c:pt>
                <c:pt idx="50">
                  <c:v>378.363</c:v>
                </c:pt>
                <c:pt idx="51">
                  <c:v>380.03899999999999</c:v>
                </c:pt>
                <c:pt idx="52">
                  <c:v>381.22800000000001</c:v>
                </c:pt>
                <c:pt idx="53">
                  <c:v>382.75</c:v>
                </c:pt>
                <c:pt idx="54">
                  <c:v>383.80799999999999</c:v>
                </c:pt>
                <c:pt idx="55">
                  <c:v>384.90899999999999</c:v>
                </c:pt>
                <c:pt idx="56">
                  <c:v>385.45100000000002</c:v>
                </c:pt>
                <c:pt idx="57">
                  <c:v>387.202</c:v>
                </c:pt>
                <c:pt idx="58">
                  <c:v>389.88900000000001</c:v>
                </c:pt>
                <c:pt idx="59">
                  <c:v>390.471</c:v>
                </c:pt>
                <c:pt idx="60">
                  <c:v>391.70600000000002</c:v>
                </c:pt>
                <c:pt idx="61">
                  <c:v>392.65199999999999</c:v>
                </c:pt>
                <c:pt idx="62">
                  <c:v>393.54599999999999</c:v>
                </c:pt>
                <c:pt idx="63">
                  <c:v>394.72800000000001</c:v>
                </c:pt>
                <c:pt idx="64">
                  <c:v>395.63299999999998</c:v>
                </c:pt>
                <c:pt idx="65">
                  <c:v>396.85899999999998</c:v>
                </c:pt>
                <c:pt idx="66">
                  <c:v>397.86799999999999</c:v>
                </c:pt>
              </c:numCache>
            </c:numRef>
          </c:val>
          <c:smooth val="0"/>
          <c:extLst>
            <c:ext xmlns:c16="http://schemas.microsoft.com/office/drawing/2014/chart" uri="{C3380CC4-5D6E-409C-BE32-E72D297353CC}">
              <c16:uniqueId val="{00000001-08A7-42D4-926D-282346940126}"/>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405.66687999999999"/>
          <c:min val="292.58312000000001"/>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manufacturing PPI</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C760-4023-BC2D-3333CC57C087}"/>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205</c:v>
                </c:pt>
                <c:pt idx="1">
                  <c:v>208.6</c:v>
                </c:pt>
                <c:pt idx="2">
                  <c:v>211.8</c:v>
                </c:pt>
                <c:pt idx="3">
                  <c:v>217.7</c:v>
                </c:pt>
                <c:pt idx="4">
                  <c:v>223.9</c:v>
                </c:pt>
                <c:pt idx="5">
                  <c:v>228.9</c:v>
                </c:pt>
                <c:pt idx="6">
                  <c:v>225.33500000000001</c:v>
                </c:pt>
                <c:pt idx="7">
                  <c:v>229.18799999999999</c:v>
                </c:pt>
                <c:pt idx="8">
                  <c:v>231.88900000000001</c:v>
                </c:pt>
                <c:pt idx="9">
                  <c:v>229.35499999999999</c:v>
                </c:pt>
                <c:pt idx="10">
                  <c:v>229.49299999999999</c:v>
                </c:pt>
                <c:pt idx="11">
                  <c:v>229.61699999999999</c:v>
                </c:pt>
                <c:pt idx="12">
                  <c:v>234.274</c:v>
                </c:pt>
                <c:pt idx="13">
                  <c:v>238.77500000000001</c:v>
                </c:pt>
                <c:pt idx="14">
                  <c:v>242.416</c:v>
                </c:pt>
                <c:pt idx="15">
                  <c:v>249.12200000000001</c:v>
                </c:pt>
                <c:pt idx="16">
                  <c:v>253.63499999999999</c:v>
                </c:pt>
                <c:pt idx="17">
                  <c:v>256.04000000000002</c:v>
                </c:pt>
                <c:pt idx="18">
                  <c:v>256.59500000000003</c:v>
                </c:pt>
                <c:pt idx="19">
                  <c:v>256.45400000000001</c:v>
                </c:pt>
                <c:pt idx="20">
                  <c:v>255.916</c:v>
                </c:pt>
                <c:pt idx="21">
                  <c:v>254.03200000000001</c:v>
                </c:pt>
                <c:pt idx="22">
                  <c:v>256.04899999999998</c:v>
                </c:pt>
                <c:pt idx="23">
                  <c:v>254.15899999999999</c:v>
                </c:pt>
                <c:pt idx="24">
                  <c:v>255.18799999999999</c:v>
                </c:pt>
                <c:pt idx="25">
                  <c:v>252.191</c:v>
                </c:pt>
                <c:pt idx="26">
                  <c:v>254.26599999999999</c:v>
                </c:pt>
                <c:pt idx="27">
                  <c:v>253.399</c:v>
                </c:pt>
                <c:pt idx="28">
                  <c:v>253.93799999999999</c:v>
                </c:pt>
                <c:pt idx="29">
                  <c:v>253.42500000000001</c:v>
                </c:pt>
                <c:pt idx="30">
                  <c:v>253.273</c:v>
                </c:pt>
                <c:pt idx="31">
                  <c:v>254.48500000000001</c:v>
                </c:pt>
                <c:pt idx="32">
                  <c:v>255.774</c:v>
                </c:pt>
                <c:pt idx="33">
                  <c:v>255.30199999999999</c:v>
                </c:pt>
                <c:pt idx="34">
                  <c:v>252.88300000000001</c:v>
                </c:pt>
                <c:pt idx="35">
                  <c:v>253.71299999999999</c:v>
                </c:pt>
                <c:pt idx="36">
                  <c:v>251.917</c:v>
                </c:pt>
                <c:pt idx="37">
                  <c:v>253.27699999999999</c:v>
                </c:pt>
                <c:pt idx="38">
                  <c:v>255.44499999999999</c:v>
                </c:pt>
                <c:pt idx="39">
                  <c:v>256.52300000000002</c:v>
                </c:pt>
                <c:pt idx="40">
                  <c:v>257.21800000000002</c:v>
                </c:pt>
                <c:pt idx="41">
                  <c:v>259.03100000000001</c:v>
                </c:pt>
                <c:pt idx="42">
                  <c:v>260.37900000000002</c:v>
                </c:pt>
                <c:pt idx="43">
                  <c:v>260.13900000000001</c:v>
                </c:pt>
                <c:pt idx="44">
                  <c:v>261.71499999999997</c:v>
                </c:pt>
                <c:pt idx="45">
                  <c:v>260.666</c:v>
                </c:pt>
                <c:pt idx="46">
                  <c:v>262.17099999999999</c:v>
                </c:pt>
                <c:pt idx="47">
                  <c:v>262.04899999999998</c:v>
                </c:pt>
                <c:pt idx="48">
                  <c:v>263.053</c:v>
                </c:pt>
                <c:pt idx="49">
                  <c:v>265.89600000000002</c:v>
                </c:pt>
                <c:pt idx="50">
                  <c:v>265.96199999999999</c:v>
                </c:pt>
                <c:pt idx="51">
                  <c:v>267.10899999999998</c:v>
                </c:pt>
                <c:pt idx="52">
                  <c:v>268.649</c:v>
                </c:pt>
                <c:pt idx="53">
                  <c:v>270.291</c:v>
                </c:pt>
                <c:pt idx="54">
                  <c:v>270.83199999999999</c:v>
                </c:pt>
                <c:pt idx="55">
                  <c:v>272.79199999999997</c:v>
                </c:pt>
                <c:pt idx="56">
                  <c:v>274.55099999999999</c:v>
                </c:pt>
                <c:pt idx="57">
                  <c:v>269.91199999999998</c:v>
                </c:pt>
                <c:pt idx="58">
                  <c:v>269.21600000000001</c:v>
                </c:pt>
                <c:pt idx="59">
                  <c:v>267.56400000000002</c:v>
                </c:pt>
                <c:pt idx="60">
                  <c:v>267.47500000000002</c:v>
                </c:pt>
                <c:pt idx="61">
                  <c:v>268.096</c:v>
                </c:pt>
                <c:pt idx="62">
                  <c:v>269.95699999999999</c:v>
                </c:pt>
                <c:pt idx="63">
                  <c:v>272.149</c:v>
                </c:pt>
                <c:pt idx="64">
                  <c:v>273.589</c:v>
                </c:pt>
                <c:pt idx="65">
                  <c:v>274.923</c:v>
                </c:pt>
                <c:pt idx="66">
                  <c:v>273.66000000000003</c:v>
                </c:pt>
                <c:pt idx="67">
                  <c:v>273.02800000000002</c:v>
                </c:pt>
              </c:numCache>
            </c:numRef>
          </c:val>
          <c:smooth val="0"/>
          <c:extLst>
            <c:ext xmlns:c16="http://schemas.microsoft.com/office/drawing/2014/chart" uri="{C3380CC4-5D6E-409C-BE32-E72D297353CC}">
              <c16:uniqueId val="{00000001-C760-4023-BC2D-3333CC57C087}"/>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280.51684"/>
          <c:min val="199.40616"/>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Diesel price ($/gal)</c:v>
                </c:pt>
              </c:strCache>
            </c:strRef>
          </c:tx>
          <c:spPr>
            <a:ln w="17145" cap="flat">
              <a:solidFill>
                <a:srgbClr val="8C6239"/>
              </a:solidFill>
              <a:prstDash val="solid"/>
              <a:round/>
            </a:ln>
            <a:effectLst/>
          </c:spPr>
          <c:marker>
            <c:symbol val="none"/>
          </c:marker>
          <c:dPt>
            <c:idx val="68"/>
            <c:marker>
              <c:symbol val="circle"/>
              <c:size val="5"/>
              <c:spPr>
                <a:solidFill>
                  <a:srgbClr val="B68757"/>
                </a:solidFill>
                <a:ln>
                  <a:noFill/>
                </a:ln>
              </c:spPr>
            </c:marker>
            <c:bubble3D val="0"/>
            <c:extLst>
              <c:ext xmlns:c16="http://schemas.microsoft.com/office/drawing/2014/chart" uri="{C3380CC4-5D6E-409C-BE32-E72D297353CC}">
                <c16:uniqueId val="{00000000-FFF8-406D-975D-55A56323DC9C}"/>
              </c:ext>
            </c:extLst>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2.681</c:v>
                </c:pt>
                <c:pt idx="1">
                  <c:v>2.847</c:v>
                </c:pt>
                <c:pt idx="2">
                  <c:v>3.1520000000000001</c:v>
                </c:pt>
                <c:pt idx="3">
                  <c:v>3.13</c:v>
                </c:pt>
                <c:pt idx="4">
                  <c:v>3.2170000000000001</c:v>
                </c:pt>
                <c:pt idx="5">
                  <c:v>3.2869999999999999</c:v>
                </c:pt>
                <c:pt idx="6">
                  <c:v>3.339</c:v>
                </c:pt>
                <c:pt idx="7">
                  <c:v>3.35</c:v>
                </c:pt>
                <c:pt idx="8">
                  <c:v>3.3839999999999999</c:v>
                </c:pt>
                <c:pt idx="9">
                  <c:v>3.6120000000000001</c:v>
                </c:pt>
                <c:pt idx="10">
                  <c:v>3.7269999999999999</c:v>
                </c:pt>
                <c:pt idx="11">
                  <c:v>3.641</c:v>
                </c:pt>
                <c:pt idx="12">
                  <c:v>3.7240000000000002</c:v>
                </c:pt>
                <c:pt idx="13">
                  <c:v>4.032</c:v>
                </c:pt>
                <c:pt idx="14">
                  <c:v>5.1050000000000004</c:v>
                </c:pt>
                <c:pt idx="15">
                  <c:v>5.12</c:v>
                </c:pt>
                <c:pt idx="16">
                  <c:v>5.5709999999999997</c:v>
                </c:pt>
                <c:pt idx="17">
                  <c:v>5.7539999999999996</c:v>
                </c:pt>
                <c:pt idx="18">
                  <c:v>5.4859999999999998</c:v>
                </c:pt>
                <c:pt idx="19">
                  <c:v>5.0129999999999999</c:v>
                </c:pt>
                <c:pt idx="20">
                  <c:v>4.9930000000000003</c:v>
                </c:pt>
                <c:pt idx="21">
                  <c:v>5.2110000000000003</c:v>
                </c:pt>
                <c:pt idx="22">
                  <c:v>5.2549999999999999</c:v>
                </c:pt>
                <c:pt idx="23">
                  <c:v>4.7140000000000004</c:v>
                </c:pt>
                <c:pt idx="24">
                  <c:v>4.5759999999999996</c:v>
                </c:pt>
                <c:pt idx="25">
                  <c:v>4.4130000000000003</c:v>
                </c:pt>
                <c:pt idx="26">
                  <c:v>4.2110000000000003</c:v>
                </c:pt>
                <c:pt idx="27">
                  <c:v>4.0990000000000002</c:v>
                </c:pt>
                <c:pt idx="28">
                  <c:v>3.915</c:v>
                </c:pt>
                <c:pt idx="29">
                  <c:v>3.802</c:v>
                </c:pt>
                <c:pt idx="30">
                  <c:v>3.8820000000000001</c:v>
                </c:pt>
                <c:pt idx="31">
                  <c:v>4.37</c:v>
                </c:pt>
                <c:pt idx="32">
                  <c:v>4.5629999999999997</c:v>
                </c:pt>
                <c:pt idx="33">
                  <c:v>4.5069999999999997</c:v>
                </c:pt>
                <c:pt idx="34">
                  <c:v>4.2539999999999996</c:v>
                </c:pt>
                <c:pt idx="35">
                  <c:v>3.972</c:v>
                </c:pt>
                <c:pt idx="36">
                  <c:v>3.8540000000000001</c:v>
                </c:pt>
                <c:pt idx="37">
                  <c:v>4.0439999999999996</c:v>
                </c:pt>
                <c:pt idx="38">
                  <c:v>4.0220000000000002</c:v>
                </c:pt>
                <c:pt idx="39">
                  <c:v>4.0019999999999998</c:v>
                </c:pt>
                <c:pt idx="40">
                  <c:v>3.8220000000000001</c:v>
                </c:pt>
                <c:pt idx="41">
                  <c:v>3.722</c:v>
                </c:pt>
                <c:pt idx="42">
                  <c:v>3.81</c:v>
                </c:pt>
                <c:pt idx="43">
                  <c:v>3.7</c:v>
                </c:pt>
                <c:pt idx="44">
                  <c:v>3.5579999999999998</c:v>
                </c:pt>
                <c:pt idx="45">
                  <c:v>3.585</c:v>
                </c:pt>
                <c:pt idx="46">
                  <c:v>3.5219999999999998</c:v>
                </c:pt>
                <c:pt idx="47">
                  <c:v>3.4940000000000002</c:v>
                </c:pt>
                <c:pt idx="48">
                  <c:v>3.6339999999999999</c:v>
                </c:pt>
                <c:pt idx="49">
                  <c:v>3.6749999999999998</c:v>
                </c:pt>
                <c:pt idx="50">
                  <c:v>3.585</c:v>
                </c:pt>
                <c:pt idx="51">
                  <c:v>3.5670000000000002</c:v>
                </c:pt>
                <c:pt idx="52">
                  <c:v>3.4990000000000001</c:v>
                </c:pt>
                <c:pt idx="53">
                  <c:v>3.5990000000000002</c:v>
                </c:pt>
                <c:pt idx="54">
                  <c:v>3.7789999999999999</c:v>
                </c:pt>
                <c:pt idx="55">
                  <c:v>3.7440000000000002</c:v>
                </c:pt>
                <c:pt idx="56">
                  <c:v>3.7480000000000002</c:v>
                </c:pt>
                <c:pt idx="57">
                  <c:v>3.6789999999999998</c:v>
                </c:pt>
                <c:pt idx="58">
                  <c:v>3.8220000000000001</c:v>
                </c:pt>
                <c:pt idx="59">
                  <c:v>3.6150000000000002</c:v>
                </c:pt>
                <c:pt idx="60">
                  <c:v>3.5230000000000001</c:v>
                </c:pt>
                <c:pt idx="61">
                  <c:v>3.722</c:v>
                </c:pt>
                <c:pt idx="62">
                  <c:v>4.9210000000000003</c:v>
                </c:pt>
                <c:pt idx="63">
                  <c:v>5.5010000000000003</c:v>
                </c:pt>
                <c:pt idx="64">
                  <c:v>5.6</c:v>
                </c:pt>
                <c:pt idx="65">
                  <c:v>5.024</c:v>
                </c:pt>
                <c:pt idx="66">
                  <c:v>4.9550000000000001</c:v>
                </c:pt>
                <c:pt idx="67">
                  <c:v>5.4619999999999997</c:v>
                </c:pt>
                <c:pt idx="68">
                  <c:v>6.2910000000000004</c:v>
                </c:pt>
              </c:numCache>
            </c:numRef>
          </c:val>
          <c:smooth val="0"/>
          <c:extLst>
            <c:ext xmlns:c16="http://schemas.microsoft.com/office/drawing/2014/chart" uri="{C3380CC4-5D6E-409C-BE32-E72D297353CC}">
              <c16:uniqueId val="{00000001-FFF8-406D-975D-55A56323DC9C}"/>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6.5798000000000005"/>
          <c:min val="2.3921999999999999"/>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601468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 Cover.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 Insights.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3: Happening in Consumer Right Now.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4: Tariffs, Fuel and Financing.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5: Perspectives on Four Consumer Segments.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6: What We're Reading.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7: Sector Activity.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8: Select Recent Consumer Transactions (1 of 2).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9: Select Recent Consumer Transactions (2 of 2).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10: Benchmark International's Consumer Transactions.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11: Who Is Buying.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12: Public Company Market Performance.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13: Revenue Growth Trends.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14: Public Company Valuation Metrics.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15: Public Company Metrics: Food and Beverage.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16: Public Company Metrics: Consumer Brands and Foodservice.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17: Public Company Metrics: Restaurants, Services and Retail.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18: Demand and Cost Indicators.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19: Connect With Us.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20: Connect With Our Team.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21: Important Disclosures.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22: Sources.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8.jpg"/><Relationship Id="rId4" Type="http://schemas.openxmlformats.org/officeDocument/2006/relationships/image" Target="../media/image9.jpg"/><Relationship Id="rId5" Type="http://schemas.openxmlformats.org/officeDocument/2006/relationships/image" Target="../media/image10.png"/><Relationship Id="rId6"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1.jpg"/><Relationship Id="rId4" Type="http://schemas.openxmlformats.org/officeDocument/2006/relationships/image" Target="../media/image12.png"/><Relationship Id="rId5" Type="http://schemas.openxmlformats.org/officeDocument/2006/relationships/hyperlink" Target="https://www.sec.gov/Archives/edgar/data/0000047111/000162828026050769/exhibit991_2026xq2.htm" TargetMode="External"/><Relationship Id="rId6" Type="http://schemas.openxmlformats.org/officeDocument/2006/relationships/hyperlink" Target="https://www.sec.gov/Archives/edgar/data/0000313927/000119312526326749/chd-ex99_1.htm" TargetMode="External"/><Relationship Id="rId7" Type="http://schemas.openxmlformats.org/officeDocument/2006/relationships/hyperlink" Target="https://www.sec.gov/Archives/edgar/data/0000040704/000162828026063141/a20260923ex99.htm" TargetMode="External"/><Relationship Id="rId8" Type="http://schemas.openxmlformats.org/officeDocument/2006/relationships/hyperlink" Target="https://plma.com/article/store-brands-continue-gains-unit-sales-and-shares" TargetMode="External"/><Relationship Id="rId9" Type="http://schemas.openxmlformats.org/officeDocument/2006/relationships/image" Target="../media/image13.png"/><Relationship Id="rId10" Type="http://schemas.openxmlformats.org/officeDocument/2006/relationships/hyperlink" Target="https://www.census.gov/retail/mrts/www/data/pdf/ec_current.pdf" TargetMode="External"/><Relationship Id="rId11" Type="http://schemas.openxmlformats.org/officeDocument/2006/relationships/hyperlink" Target="https://www.sec.gov/Archives/edgar/data/0000104169/000010416926000145/earningsreleasefy27q2.htm" TargetMode="External"/><Relationship Id="rId12" Type="http://schemas.openxmlformats.org/officeDocument/2006/relationships/hyperlink" Target="https://www.sec.gov/Archives/edgar/data/0001670592/000167059226000039/yeti-20260813xex991pressre.htm" TargetMode="External"/><Relationship Id="rId13" Type="http://schemas.openxmlformats.org/officeDocument/2006/relationships/image" Target="../media/image14.png"/><Relationship Id="rId14" Type="http://schemas.openxmlformats.org/officeDocument/2006/relationships/hyperlink" Target="https://www.sec.gov/Archives/edgar/data/55785/000110465925105220/tm2530027d1_ex99-1.htm" TargetMode="External"/><Relationship Id="rId15" Type="http://schemas.openxmlformats.org/officeDocument/2006/relationships/hyperlink" Target="https://www.foodbusinessnews.net/articles/30071-mccormick-to-acquire-unilevers-food-business" TargetMode="External"/><Relationship Id="rId16" Type="http://schemas.openxmlformats.org/officeDocument/2006/relationships/hyperlink" Target="https://investors.sysco.com/annual-reports-and-sec-filings/news-releases/2026/03-30-2026-113036743" TargetMode="External"/><Relationship Id="rId17" Type="http://schemas.openxmlformats.org/officeDocument/2006/relationships/hyperlink" Target="https://www.sec.gov/Archives/edgar/data/0001418135/000141813526000048/ex991-keurigdrpepperreport.htm" TargetMode="External"/><Relationship Id="rId18" Type="http://schemas.openxmlformats.org/officeDocument/2006/relationships/hyperlink" Target="https://www.sec.gov/Archives/edgar/data/0000769520/000076952026000044/middex991er-q22026.htm" TargetMode="External"/><Relationship Id="rId19" Type="http://schemas.openxmlformats.org/officeDocument/2006/relationships/image" Target="../media/image15.png"/><Relationship Id="rId20" Type="http://schemas.openxmlformats.org/officeDocument/2006/relationships/hyperlink" Target="https://pitchbook.brightspotcdn.com/40/42/bbeb88094080abaea3d7c87530b8/q2-2026-us-pe-breakdown.pdf" TargetMode="External"/><Relationship Id="rId21" Type="http://schemas.openxmlformats.org/officeDocument/2006/relationships/hyperlink" Target="https://www.sec.gov/Archives/edgar/data/0002091467/000119312526345758/d135444dex994.htm" TargetMode="External"/><Relationship Id="rId22" Type="http://schemas.openxmlformats.org/officeDocument/2006/relationships/hyperlink" Target="https://www.newswire.com/news/tidal-wave-auto-spa-acquires-and-rebrands-six-locations-in-georgia-and-22863356" TargetMode="External"/><Relationship Id="rId23" Type="http://schemas.openxmlformats.org/officeDocument/2006/relationships/hyperlink" Target="https://www.prnewswire.com/news-releases/nations-largest-pool-service-company-sps-poolcare-acquires-leading-pe-backed-competitor-302669059.html" TargetMode="External"/><Relationship Id="rId24" Type="http://schemas.openxmlformats.org/officeDocument/2006/relationships/image" Target="../media/image1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sgbonline.com/yeti-boosts-fy-eps-outlook-after-q2-earnings-beat-sales-climb-9-percent/" TargetMode="External"/><Relationship Id="rId4" Type="http://schemas.openxmlformats.org/officeDocument/2006/relationships/hyperlink" Target="https://www.sec.gov/Archives/edgar/data/0000104169/000010416926000145/earningsreleasefy27q2.htm" TargetMode="External"/><Relationship Id="rId5" Type="http://schemas.openxmlformats.org/officeDocument/2006/relationships/hyperlink" Target="https://nafem.org/2026/03/11/advocacy-issues-survey-pressure-is-the-new-normal/" TargetMode="External"/><Relationship Id="rId6" Type="http://schemas.openxmlformats.org/officeDocument/2006/relationships/image" Target="../media/image17.png"/><Relationship Id="rId7" Type="http://schemas.openxmlformats.org/officeDocument/2006/relationships/hyperlink" Target="https://www.supremecourt.gov/opinions/25pdf/24-1287_4gcj.pdf" TargetMode="External"/><Relationship Id="rId8" Type="http://schemas.openxmlformats.org/officeDocument/2006/relationships/hyperlink" Target="https://www.wiley.law/alert-New-Forced-Labor-Tariffs-Imposed-on-60-US-Trading-Partners" TargetMode="External"/><Relationship Id="rId9" Type="http://schemas.openxmlformats.org/officeDocument/2006/relationships/hyperlink" Target="https://info.expeditors.com/newsflash/white-house-delays-increase-of-section-232-tariffs-on-furniture-and-cabinets" TargetMode="External"/><Relationship Id="rId10" Type="http://schemas.openxmlformats.org/officeDocument/2006/relationships/hyperlink" Target="https://www.strtrade.com/trade-news-resources/str-trade-report/trade-report/february/de-minimis-suspension-remains-in-place" TargetMode="External"/><Relationship Id="rId11" Type="http://schemas.openxmlformats.org/officeDocument/2006/relationships/image" Target="../media/image18.png"/><Relationship Id="rId12" Type="http://schemas.openxmlformats.org/officeDocument/2006/relationships/hyperlink" Target="https://fred.stlouisfed.org/series/GASDESM" TargetMode="External"/><Relationship Id="rId13" Type="http://schemas.openxmlformats.org/officeDocument/2006/relationships/hyperlink" Target="https://www.eia.gov/outlooks/steo/" TargetMode="External"/><Relationship Id="rId14" Type="http://schemas.openxmlformats.org/officeDocument/2006/relationships/image" Target="../media/image19.png"/><Relationship Id="rId15" Type="http://schemas.openxmlformats.org/officeDocument/2006/relationships/hyperlink" Target="https://www.federalreserve.gov/newsevents/pressreleases/monetary20260916a.htm" TargetMode="External"/><Relationship Id="rId16" Type="http://schemas.openxmlformats.org/officeDocument/2006/relationships/hyperlink" Target="https://www.federalreserve.gov/monetarypolicy/fomcprojtabl20260916.htm" TargetMode="External"/><Relationship Id="rId17" Type="http://schemas.openxmlformats.org/officeDocument/2006/relationships/hyperlink" Target="https://pitchbook.brightspotcdn.com/40/42/bbeb88094080abaea3d7c87530b8/q2-2026-us-pe-breakdown.pdf" TargetMode="External"/><Relationship Id="rId18" Type="http://schemas.openxmlformats.org/officeDocument/2006/relationships/hyperlink" Target="https://www.fasken.com/en/knowledge/2026/05/private-ma-deal-trends-to-watch-key-takeaways-from-srs-acquioms-2026-study" TargetMode="External"/><Relationship Id="rId19" Type="http://schemas.openxmlformats.org/officeDocument/2006/relationships/image" Target="../media/image20.jpg"/><Relationship Id="rId20"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1.jpg"/><Relationship Id="rId4" Type="http://schemas.openxmlformats.org/officeDocument/2006/relationships/image" Target="../media/image22.png"/><Relationship Id="rId5" Type="http://schemas.openxmlformats.org/officeDocument/2006/relationships/hyperlink" Target="https://investors.generalmills.com/press-releases/press-release-details/2026/General-Mills-Reports-Fiscal-2027-First-quarter-Results-and-Reaffirms-Full-year-Outlook/default.aspx" TargetMode="External"/><Relationship Id="rId6" Type="http://schemas.openxmlformats.org/officeDocument/2006/relationships/hyperlink" Target="https://www.foodbusinessnews.net/articles/31105-conagra-reviews-brand-portfolio-in-turnaround-push" TargetMode="External"/><Relationship Id="rId7" Type="http://schemas.openxmlformats.org/officeDocument/2006/relationships/hyperlink" Target="https://www.nutraingredients.com/Article/2026/08/04/pg-to-acquire-thorne-in-premium-wellness-play/" TargetMode="External"/><Relationship Id="rId8" Type="http://schemas.openxmlformats.org/officeDocument/2006/relationships/hyperlink" Target="https://www.sec.gov/Archives/edgar/data/0001665918/000166591826000043/usfd06272026ex991.htm" TargetMode="External"/><Relationship Id="rId9" Type="http://schemas.openxmlformats.org/officeDocument/2006/relationships/hyperlink" Target="https://www.sec.gov/Archives/edgar/data/0001618673/000119312526345718/pfgc-ex99_1.htm" TargetMode="External"/><Relationship Id="rId10" Type="http://schemas.openxmlformats.org/officeDocument/2006/relationships/image" Target="../media/image23.jpg"/><Relationship Id="rId11" Type="http://schemas.openxmlformats.org/officeDocument/2006/relationships/image" Target="../media/image24.png"/><Relationship Id="rId12" Type="http://schemas.openxmlformats.org/officeDocument/2006/relationships/hyperlink" Target="https://www.circana.com/post/us-beauty-industry-posts-solid-first-half-growth-as-fragrance-and-skincare-lead-across-prestige-and" TargetMode="External"/><Relationship Id="rId13" Type="http://schemas.openxmlformats.org/officeDocument/2006/relationships/hyperlink" Target="https://americanpetproducts.org/news/u.s.-pet-industry-reaches-158-billion-in-2025-poised-for-continued-growth-in-2026" TargetMode="External"/><Relationship Id="rId14" Type="http://schemas.openxmlformats.org/officeDocument/2006/relationships/hyperlink" Target="https://chainstoreage.com/circana-retail-spending-remained-resilient-june-heres-what-drove-it" TargetMode="External"/><Relationship Id="rId15" Type="http://schemas.openxmlformats.org/officeDocument/2006/relationships/hyperlink" Target="https://calrecycle.ca.gov/packaging/packaging-epr/" TargetMode="External"/><Relationship Id="rId16" Type="http://schemas.openxmlformats.org/officeDocument/2006/relationships/image" Target="../media/image25.jpg"/><Relationship Id="rId17" Type="http://schemas.openxmlformats.org/officeDocument/2006/relationships/image" Target="../media/image26.png"/><Relationship Id="rId18" Type="http://schemas.openxmlformats.org/officeDocument/2006/relationships/hyperlink" Target="https://fesmag.com/topics/the-latest-news/23859-equipment-and-supplies-sales-post-modest-growth-in-q2" TargetMode="External"/><Relationship Id="rId19" Type="http://schemas.openxmlformats.org/officeDocument/2006/relationships/hyperlink" Target="https://www.nrn.com/restaurant-franchising/giant-wendy-s-franchisee-meritage-hospitality-group-files-for-bankruptcy" TargetMode="External"/><Relationship Id="rId20" Type="http://schemas.openxmlformats.org/officeDocument/2006/relationships/hyperlink" Target="https://www.fermag.com/articles/parts-town-gains-tech-with-acquisition-of-86-repairs/" TargetMode="External"/><Relationship Id="rId21" Type="http://schemas.openxmlformats.org/officeDocument/2006/relationships/hyperlink" Target="https://www.fermag.com/articles/easy-ice-strengthens-footprint-with-acquisition/" TargetMode="External"/><Relationship Id="rId22" Type="http://schemas.openxmlformats.org/officeDocument/2006/relationships/image" Target="../media/image27.jpg"/><Relationship Id="rId23" Type="http://schemas.openxmlformats.org/officeDocument/2006/relationships/image" Target="../media/image28.png"/><Relationship Id="rId24" Type="http://schemas.openxmlformats.org/officeDocument/2006/relationships/hyperlink" Target="https://www.placera.se/pressmeddelanden/mister-car-wash-mister-car-wash-announces-completion-of-take-private-by-leonard-green-partners-20260519" TargetMode="External"/><Relationship Id="rId25" Type="http://schemas.openxmlformats.org/officeDocument/2006/relationships/hyperlink" Target="https://finance.yahoo.com/news/blackstone-expands-essential-home-services-221544542.html" TargetMode="External"/><Relationship Id="rId26" Type="http://schemas.openxmlformats.org/officeDocument/2006/relationships/hyperlink" Target="https://www.fenderbender.com/news/latest-news/news/55336744/classic-collision-kendrick-paint-body-bought-by-classic-collision" TargetMode="External"/><Relationship Id="rId27" Type="http://schemas.openxmlformats.org/officeDocument/2006/relationships/hyperlink" Target="https://www.jchs.harvard.edu/press-releases/remodeling-spending-poised-further-slowdown" TargetMode="External"/><Relationship Id="rId28" Type="http://schemas.openxmlformats.org/officeDocument/2006/relationships/image" Target="../media/image16.png"/><Relationship Id="rId29" Type="http://schemas.openxmlformats.org/officeDocument/2006/relationships/hyperlink" Target="https://plma.com/article/store-brands-continue-gains-unit-sales-and-shares" TargetMode="External"/><Relationship Id="rId30" Type="http://schemas.openxmlformats.org/officeDocument/2006/relationships/hyperlink" Target="https://restaurant.org/research-and-media/media/press-releases/persistent-cost-increases-and-enduring-demand-will-shape-the-restaurant-industry-in-2026/"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9.jpg"/><Relationship Id="rId4" Type="http://schemas.openxmlformats.org/officeDocument/2006/relationships/image" Target="../media/image30.png"/><Relationship Id="rId5" Type="http://schemas.openxmlformats.org/officeDocument/2006/relationships/hyperlink" Target="https://www.ers.usda.gov/data-products/food-price-outlook/summary-findings" TargetMode="External"/><Relationship Id="rId6" Type="http://schemas.openxmlformats.org/officeDocument/2006/relationships/hyperlink" Target="https://plma.com/article/store-brands-continue-gains-unit-sales-and-shares" TargetMode="External"/><Relationship Id="rId7" Type="http://schemas.openxmlformats.org/officeDocument/2006/relationships/hyperlink" Target="https://restaurant.org/NRA/media/Research/RPI/2024/RPI-August-2026.pdf" TargetMode="External"/><Relationship Id="rId8" Type="http://schemas.openxmlformats.org/officeDocument/2006/relationships/hyperlink" Target="https://www.deloitte.com/us/en/about/press-room/deloitte-forecasts-holiday-retail-sales.html" TargetMode="External"/><Relationship Id="rId9"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jpg"/><Relationship Id="rId4" Type="http://schemas.openxmlformats.org/officeDocument/2006/relationships/image" Target="../media/image31.jpg"/><Relationship Id="rId5" Type="http://schemas.openxmlformats.org/officeDocument/2006/relationships/image" Target="../media/image10.png"/><Relationship Id="rId6"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2.png"/><Relationship Id="rId4" Type="http://schemas.openxmlformats.org/officeDocument/2006/relationships/hyperlink" Target="https://s204.q4cdn.com/636391999/files/content_files/Hormel-Foods-Announces-Definitive-Agreement-to-Acquire-Brakebush_-Supplemental-Slides-vFinal.pdf" TargetMode="External"/><Relationship Id="rId5" Type="http://schemas.openxmlformats.org/officeDocument/2006/relationships/hyperlink" Target="https://finance.yahoo.com/markets/stocks/articles/hf-foods-group-acquire-searay-123000612.html" TargetMode="External"/><Relationship Id="rId6" Type="http://schemas.openxmlformats.org/officeDocument/2006/relationships/hyperlink" Target="https://www.foodbusinessnews.net/articles/30721-the-vita-coco-co-acquires-copra-inc" TargetMode="External"/><Relationship Id="rId7" Type="http://schemas.openxmlformats.org/officeDocument/2006/relationships/image" Target="../media/image33.png"/><Relationship Id="rId8" Type="http://schemas.openxmlformats.org/officeDocument/2006/relationships/hyperlink" Target="https://investors.thecloroxcompany.com/news/news-details/2026/Clorox-Announces-Acquisition-of-GOJO-Industries-Makers-of-Purell-Market-Leader-in-Skin-Health-and-Hygiene/" TargetMode="External"/><Relationship Id="rId9" Type="http://schemas.openxmlformats.org/officeDocument/2006/relationships/hyperlink" Target="https://ir.prestigebrands.com/news-releases/news-release-details/prestige-consumer-healthcare-announces-agreement-acquire-breathe" TargetMode="External"/><Relationship Id="rId10" Type="http://schemas.openxmlformats.org/officeDocument/2006/relationships/hyperlink" Target="https://www.sec.gov/Archives/edgar/data/2098/000119312526019610/acu-ex99_1.htm" TargetMode="External"/><Relationship Id="rId11"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4.png"/><Relationship Id="rId4" Type="http://schemas.openxmlformats.org/officeDocument/2006/relationships/hyperlink" Target="https://www.agri-pulse.com/articles/25180-democrats-call-for-investigation-into-sysco-acquisition" TargetMode="External"/><Relationship Id="rId5" Type="http://schemas.openxmlformats.org/officeDocument/2006/relationships/hyperlink" Target="https://investors.sysco.com/annual-reports-and-sec-filings/news-releases/2026/03-30-2026-113036743" TargetMode="External"/><Relationship Id="rId6" Type="http://schemas.openxmlformats.org/officeDocument/2006/relationships/hyperlink" Target="https://ir.standex.com/2026-03-09-STANDEX-ANNOUNCES-DIVESTITURE-OF-FEDERAL-INDUSTRIES-TO-AERITEK" TargetMode="External"/><Relationship Id="rId7" Type="http://schemas.openxmlformats.org/officeDocument/2006/relationships/hyperlink" Target="https://fesmag.com/topics/the-latest-news/23508-singer-buys-bresco" TargetMode="External"/><Relationship Id="rId8" Type="http://schemas.openxmlformats.org/officeDocument/2006/relationships/image" Target="../media/image35.png"/><Relationship Id="rId9" Type="http://schemas.openxmlformats.org/officeDocument/2006/relationships/hyperlink" Target="https://www.prnewswire.com/news-releases/mister-car-wash-announces-completion-of-take-private-by-leonard-green--partners-302776284.html" TargetMode="External"/><Relationship Id="rId10" Type="http://schemas.openxmlformats.org/officeDocument/2006/relationships/hyperlink" Target="https://www.sec.gov/Archives/edgar/data/1853513/000119312526056047/d113732dex991.htm" TargetMode="External"/><Relationship Id="rId11" Type="http://schemas.openxmlformats.org/officeDocument/2006/relationships/hyperlink" Target="https://finance.yahoo.com/markets/stocks/articles/pe-hopes-garage-door-roll-193930270.html" TargetMode="External"/><Relationship Id="rId12" Type="http://schemas.openxmlformats.org/officeDocument/2006/relationships/hyperlink" Target="https://www.privateequitywire.co.uk/oak-hill-capital-to-acquire-guild-garage-group/" TargetMode="External"/><Relationship Id="rId13" Type="http://schemas.openxmlformats.org/officeDocument/2006/relationships/hyperlink" Target="https://rollins.com/investors/press-releases/detail/429/rollins-acquires-romex-pest-control" TargetMode="External"/><Relationship Id="rId14" Type="http://schemas.openxmlformats.org/officeDocument/2006/relationships/hyperlink" Target="https://www.sec.gov/Archives/edgar/data/0000084839/000008483926000040/rol-20260630.htm" TargetMode="External"/><Relationship Id="rId15" Type="http://schemas.openxmlformats.org/officeDocument/2006/relationships/hyperlink" Target="https://giecdn.blob.core.windows.net/fileuploads/document/2026/05/11/2026-top-100-poster.pdf" TargetMode="External"/><Relationship Id="rId16"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hyperlink" Target="https://www.benchmarkintl.com/about/our-success/" TargetMode="External"/><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hyperlink" Target="https://www.benchmarkintl.com/insights/completed-transactions/benchmark-international-successfully-facilitated-the-transaction-between-gilco-restoration-inc-and-thomasville-restoration/" TargetMode="External"/><Relationship Id="rId9" Type="http://schemas.openxmlformats.org/officeDocument/2006/relationships/hyperlink" Target="https://www.benchmarkintl.com/insights/completed-transactions/benchmark-international-successfully-facilitated-the-transaction-between-edison-martial-arts-llc-and-elevate-youth-development/" TargetMode="External"/><Relationship Id="rId10" Type="http://schemas.openxmlformats.org/officeDocument/2006/relationships/hyperlink" Target="https://www.benchmarkintl.com/insights/completed-transactions/benchmark-international-successfully-facilitated-the-transaction-between-wrs-group-ltd-and-project-energy-savers-inc/" TargetMode="External"/><Relationship Id="rId11" Type="http://schemas.openxmlformats.org/officeDocument/2006/relationships/hyperlink" Target="https://www.benchmarkintl.com/insights/completed-transactions/benchmark-international-successfully-facilitated-the-transaction-between-kittleson-landscape-inc-and-lancaster-group-llc/" TargetMode="External"/><Relationship Id="rId12" Type="http://schemas.openxmlformats.org/officeDocument/2006/relationships/hyperlink" Target="https://www.benchmarkintl.com/insights/completed-transactions/benchmark-international-successfully-facilitated-the-transaction-between-jagimo-corporation-inc-and-castleford-group/" TargetMode="External"/><Relationship Id="rId13"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14" Type="http://schemas.openxmlformats.org/officeDocument/2006/relationships/hyperlink" Target="https://www.benchmarkintl.com/insights/completed-transactions/benchmark-international-successfully-facilitated-the-transaction-between-stepfar-investments-llc-and-classic-collision-llc/" TargetMode="External"/><Relationship Id="rId15" Type="http://schemas.openxmlformats.org/officeDocument/2006/relationships/hyperlink" Target="https://www.benchmarkintl.com/insights/completed-transactions/benchmark-international-successfully-facilitated-the-transaction-between-mm-roofing-co-and-allied-roofing-partners/" TargetMode="External"/><Relationship Id="rId16"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17" Type="http://schemas.openxmlformats.org/officeDocument/2006/relationships/hyperlink" Target="https://www.benchmarkintl.com/insights/completed-transactions/benchmark-international-successfully-facilitated-the-transaction-between-arocam-inc-and-innova-capital/" TargetMode="External"/><Relationship Id="rId18" Type="http://schemas.openxmlformats.org/officeDocument/2006/relationships/hyperlink" Target="https://www.benchmarkintl.com/insights/completed-transactions/benchmark-international-successfully-facilitated-a-transaction-between-stirling-food-systems-inc-and-greasecycle-llc/" TargetMode="External"/><Relationship Id="rId19" Type="http://schemas.openxmlformats.org/officeDocument/2006/relationships/hyperlink" Target="https://www.benchmarkintl.com/insights/completed-transactions/benchmark-international-successfully-facilitated-the-transaction-between-affordable-garage-doors-inc-and-asap-garage-door-repair/" TargetMode="External"/><Relationship Id="rId20" Type="http://schemas.openxmlformats.org/officeDocument/2006/relationships/hyperlink" Target="https://www.benchmarkintl.com/insights/completed-transactions/benchmark-international-successfully-facilitated-the-transaction-between-gsm-wings-llc-and-gpc-investments/" TargetMode="External"/><Relationship Id="rId21" Type="http://schemas.openxmlformats.org/officeDocument/2006/relationships/hyperlink" Target="https://www.benchmarkintl.com/insights/completed-transactions/benchmark-international-successfully-facilitated-the-transaction-between-southern-pool-designs-inc-and-an-individual-investor/" TargetMode="External"/><Relationship Id="rId22" Type="http://schemas.openxmlformats.org/officeDocument/2006/relationships/hyperlink" Target="https://www.benchmarkintl.com/insights/completed-transactions/benchmark-international-successfully-facilitated-the-transaction-between-smart-buffet-ware-llc-and-front-of-house-worldwide/" TargetMode="External"/><Relationship Id="rId23" Type="http://schemas.openxmlformats.org/officeDocument/2006/relationships/hyperlink" Target="https://www.benchmarkintl.com/insights/completed-transactions/benchmark-international-successfully-facilitated-the-transaction-between-nova-seafood-ltd-and-highwood-harbor-llc/" TargetMode="External"/><Relationship Id="rId24" Type="http://schemas.openxmlformats.org/officeDocument/2006/relationships/hyperlink" Target="https://www.benchmarkintl.com/insights/featured-content/benchmark-international-successfully-facilitated-the-transaction-between-palm-coast-sales-inc-and-fourshore-partners/" TargetMode="External"/><Relationship Id="rId25"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 Id="rId9" Type="http://schemas.openxmlformats.org/officeDocument/2006/relationships/image" Target="../media/image16.png"/><Relationship Id="rId10" Type="http://schemas.openxmlformats.org/officeDocument/2006/relationships/hyperlink" Target="https://www.bain.com/insights/outlook-gaining-traction-global-private-equity-report-2026/"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2.png"/><Relationship Id="rId4" Type="http://schemas.openxmlformats.org/officeDocument/2006/relationships/chart" Target="../charts/chart1.xml"/><Relationship Id="rId5" Type="http://schemas.openxmlformats.org/officeDocument/2006/relationships/image" Target="../media/image43.png"/><Relationship Id="rId6" Type="http://schemas.openxmlformats.org/officeDocument/2006/relationships/chart" Target="../charts/chart2.xml"/><Relationship Id="rId7" Type="http://schemas.openxmlformats.org/officeDocument/2006/relationships/image" Target="../media/image44.png"/><Relationship Id="rId8" Type="http://schemas.openxmlformats.org/officeDocument/2006/relationships/chart" Target="../charts/chart3.xml"/><Relationship Id="rId9" Type="http://schemas.openxmlformats.org/officeDocument/2006/relationships/chart" Target="../charts/chart4.xml"/><Relationship Id="rId10" Type="http://schemas.openxmlformats.org/officeDocument/2006/relationships/image" Target="../media/image16.png"/><Relationship Id="rId11" Type="http://schemas.openxmlformats.org/officeDocument/2006/relationships/hyperlink" Target="https://stockanalysis.co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www.sec.gov/Archives/edgar/data/55785/000110465925105220/tm2530027d1_ex99-1.htm" TargetMode="External"/><Relationship Id="rId4" Type="http://schemas.openxmlformats.org/officeDocument/2006/relationships/hyperlink" Target="https://investors.sysco.com/annual-reports-and-sec-filings/news-releases/2026/03-30-2026-113036743" TargetMode="External"/><Relationship Id="rId5" Type="http://schemas.openxmlformats.org/officeDocument/2006/relationships/hyperlink" Target="https://www.businesswire.com/news/home/20250512684279/en/Church-Dwight-to-Acquire-the-Touchland-Brand-for-$700-million-Plus-Earn-out" TargetMode="External"/><Relationship Id="rId6" Type="http://schemas.openxmlformats.org/officeDocument/2006/relationships/hyperlink" Target="https://ir.prestigebrands.com/news-releases/news-release-details/prestige-consumer-healthcare-announces-agreement-acquire-breathe" TargetMode="External"/><Relationship Id="rId7" Type="http://schemas.openxmlformats.org/officeDocument/2006/relationships/hyperlink" Target="https://finance.yahoo.com/markets/stocks/articles/hf-foods-group-acquire-searay-123000612.html" TargetMode="External"/><Relationship Id="rId8" Type="http://schemas.openxmlformats.org/officeDocument/2006/relationships/image" Target="../media/image16.png"/><Relationship Id="rId9" Type="http://schemas.openxmlformats.org/officeDocument/2006/relationships/hyperlink" Target="https://stockanalysi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chart" Target="../charts/chart5.xml"/><Relationship Id="rId4" Type="http://schemas.openxmlformats.org/officeDocument/2006/relationships/hyperlink" Target="https://fred.stlouisfed.org/series/MRTSSM44X72USS" TargetMode="External"/><Relationship Id="rId5" Type="http://schemas.openxmlformats.org/officeDocument/2006/relationships/hyperlink" Target="https://www.census.gov/retail/marts/www/marts_current.pdf" TargetMode="External"/><Relationship Id="rId6" Type="http://schemas.openxmlformats.org/officeDocument/2006/relationships/chart" Target="../charts/chart6.xml"/><Relationship Id="rId7" Type="http://schemas.openxmlformats.org/officeDocument/2006/relationships/hyperlink" Target="https://fred.stlouisfed.org/series/MRTSSM722USS" TargetMode="External"/><Relationship Id="rId8" Type="http://schemas.openxmlformats.org/officeDocument/2006/relationships/chart" Target="../charts/chart7.xml"/><Relationship Id="rId9" Type="http://schemas.openxmlformats.org/officeDocument/2006/relationships/hyperlink" Target="https://fred.stlouisfed.org/series/ECOMPCTSA" TargetMode="External"/><Relationship Id="rId10" Type="http://schemas.openxmlformats.org/officeDocument/2006/relationships/chart" Target="../charts/chart8.xml"/><Relationship Id="rId11" Type="http://schemas.openxmlformats.org/officeDocument/2006/relationships/hyperlink" Target="https://fred.stlouisfed.org/series/UMCSENT" TargetMode="External"/><Relationship Id="rId12" Type="http://schemas.openxmlformats.org/officeDocument/2006/relationships/hyperlink" Target="https://www.sca.isr.umich.edu/" TargetMode="External"/><Relationship Id="rId13" Type="http://schemas.openxmlformats.org/officeDocument/2006/relationships/chart" Target="../charts/chart9.xml"/><Relationship Id="rId14" Type="http://schemas.openxmlformats.org/officeDocument/2006/relationships/hyperlink" Target="https://fred.stlouisfed.org/series/CUSR0000SAF11" TargetMode="External"/><Relationship Id="rId15" Type="http://schemas.openxmlformats.org/officeDocument/2006/relationships/chart" Target="../charts/chart10.xml"/><Relationship Id="rId16" Type="http://schemas.openxmlformats.org/officeDocument/2006/relationships/hyperlink" Target="https://fred.stlouisfed.org/series/CUSR0000SEFV" TargetMode="External"/><Relationship Id="rId17" Type="http://schemas.openxmlformats.org/officeDocument/2006/relationships/chart" Target="../charts/chart11.xml"/><Relationship Id="rId18" Type="http://schemas.openxmlformats.org/officeDocument/2006/relationships/hyperlink" Target="https://fred.stlouisfed.org/series/PCU311311" TargetMode="External"/><Relationship Id="rId19" Type="http://schemas.openxmlformats.org/officeDocument/2006/relationships/chart" Target="../charts/chart12.xml"/><Relationship Id="rId20" Type="http://schemas.openxmlformats.org/officeDocument/2006/relationships/hyperlink" Target="https://fred.stlouisfed.org/series/GASDESM" TargetMode="External"/><Relationship Id="rId21"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8.jpg"/><Relationship Id="rId4" Type="http://schemas.openxmlformats.org/officeDocument/2006/relationships/image" Target="../media/image45.jpg"/><Relationship Id="rId5" Type="http://schemas.openxmlformats.org/officeDocument/2006/relationships/image" Target="../media/image10.png"/><Relationship Id="rId6"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46.jpg"/><Relationship Id="rId4" Type="http://schemas.openxmlformats.org/officeDocument/2006/relationships/hyperlink" Target="tel:8137716675" TargetMode="External"/><Relationship Id="rId5" Type="http://schemas.openxmlformats.org/officeDocument/2006/relationships/hyperlink" Target="mailto:j.hardin@benchmarkintl.com" TargetMode="External"/><Relationship Id="rId6" Type="http://schemas.openxmlformats.org/officeDocument/2006/relationships/image" Target="../media/image47.jpg"/><Relationship Id="rId7" Type="http://schemas.openxmlformats.org/officeDocument/2006/relationships/image" Target="../media/image48.jpg"/><Relationship Id="rId8" Type="http://schemas.openxmlformats.org/officeDocument/2006/relationships/image" Target="../media/image49.jpg"/><Relationship Id="rId9" Type="http://schemas.openxmlformats.org/officeDocument/2006/relationships/hyperlink" Target="https://jp-hardin.github.io/about/mid-market-practice/insights/consumer-industry-report-q4-2026.html" TargetMode="External"/><Relationship Id="rId10" Type="http://schemas.openxmlformats.org/officeDocument/2006/relationships/image" Target="../media/image50.png"/><Relationship Id="rId11" Type="http://schemas.openxmlformats.org/officeDocument/2006/relationships/image" Target="../media/image4.png"/><Relationship Id="rId12" Type="http://schemas.openxmlformats.org/officeDocument/2006/relationships/image" Target="../media/image5.png"/><Relationship Id="rId13" Type="http://schemas.openxmlformats.org/officeDocument/2006/relationships/image" Target="../media/image6.png"/><Relationship Id="rId14" Type="http://schemas.openxmlformats.org/officeDocument/2006/relationships/image" Target="../media/image7.png"/><Relationship Id="rId15" Type="http://schemas.openxmlformats.org/officeDocument/2006/relationships/image" Target="../media/image16.png"/><Relationship Id="rId16" Type="http://schemas.openxmlformats.org/officeDocument/2006/relationships/hyperlink" Target="https://www.benchmarkintl.com/about/our-succes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hyperlink" Target="https://www.sec.gov/Archives/edgar/data/0000047111/000162828026050769/exhibit991_2026xq2.htm" TargetMode="External"/><Relationship Id="rId4" Type="http://schemas.openxmlformats.org/officeDocument/2006/relationships/hyperlink" Target="https://www.sec.gov/Archives/edgar/data/0000313927/000119312526326749/chd-ex99_1.htm" TargetMode="External"/><Relationship Id="rId5" Type="http://schemas.openxmlformats.org/officeDocument/2006/relationships/hyperlink" Target="https://www.sec.gov/Archives/edgar/data/0000040704/000162828026063141/a20260923ex99.htm" TargetMode="External"/><Relationship Id="rId6" Type="http://schemas.openxmlformats.org/officeDocument/2006/relationships/hyperlink" Target="https://plma.com/article/store-brands-continue-gains-unit-sales-and-shares" TargetMode="External"/><Relationship Id="rId7" Type="http://schemas.openxmlformats.org/officeDocument/2006/relationships/hyperlink" Target="https://www.census.gov/retail/mrts/www/data/pdf/ec_current.pdf" TargetMode="External"/><Relationship Id="rId8" Type="http://schemas.openxmlformats.org/officeDocument/2006/relationships/hyperlink" Target="https://www.sec.gov/Archives/edgar/data/0000104169/000010416926000145/earningsreleasefy27q2.htm" TargetMode="External"/><Relationship Id="rId9" Type="http://schemas.openxmlformats.org/officeDocument/2006/relationships/hyperlink" Target="https://www.sec.gov/Archives/edgar/data/0001670592/000167059226000039/yeti-20260813xex991pressre.htm" TargetMode="External"/><Relationship Id="rId10" Type="http://schemas.openxmlformats.org/officeDocument/2006/relationships/hyperlink" Target="https://www.sec.gov/Archives/edgar/data/55785/000110465925105220/tm2530027d1_ex99-1.htm" TargetMode="External"/><Relationship Id="rId11" Type="http://schemas.openxmlformats.org/officeDocument/2006/relationships/hyperlink" Target="https://www.foodbusinessnews.net/articles/30071-mccormick-to-acquire-unilevers-food-business" TargetMode="External"/><Relationship Id="rId12" Type="http://schemas.openxmlformats.org/officeDocument/2006/relationships/hyperlink" Target="https://investors.sysco.com/annual-reports-and-sec-filings/news-releases/2026/03-30-2026-113036743" TargetMode="External"/><Relationship Id="rId13" Type="http://schemas.openxmlformats.org/officeDocument/2006/relationships/hyperlink" Target="https://www.sec.gov/Archives/edgar/data/0001418135/000141813526000048/ex991-keurigdrpepperreport.htm" TargetMode="External"/><Relationship Id="rId14" Type="http://schemas.openxmlformats.org/officeDocument/2006/relationships/hyperlink" Target="https://www.sec.gov/Archives/edgar/data/0000769520/000076952026000044/middex991er-q22026.htm" TargetMode="External"/><Relationship Id="rId15" Type="http://schemas.openxmlformats.org/officeDocument/2006/relationships/hyperlink" Target="https://pitchbook.brightspotcdn.com/40/42/bbeb88094080abaea3d7c87530b8/q2-2026-us-pe-breakdown.pdf" TargetMode="External"/><Relationship Id="rId16" Type="http://schemas.openxmlformats.org/officeDocument/2006/relationships/hyperlink" Target="https://www.sec.gov/Archives/edgar/data/0002091467/000119312526345758/d135444dex994.htm" TargetMode="External"/><Relationship Id="rId17" Type="http://schemas.openxmlformats.org/officeDocument/2006/relationships/hyperlink" Target="https://www.newswire.com/news/tidal-wave-auto-spa-acquires-and-rebrands-six-locations-in-georgia-and-22863356" TargetMode="External"/><Relationship Id="rId18" Type="http://schemas.openxmlformats.org/officeDocument/2006/relationships/hyperlink" Target="https://www.prnewswire.com/news-releases/nations-largest-pool-service-company-sps-poolcare-acquires-leading-pe-backed-competitor-302669059.html" TargetMode="External"/><Relationship Id="rId19" Type="http://schemas.openxmlformats.org/officeDocument/2006/relationships/hyperlink" Target="https://www.supremecourt.gov/opinions/25pdf/24-1287_4gcj.pdf" TargetMode="External"/><Relationship Id="rId20" Type="http://schemas.openxmlformats.org/officeDocument/2006/relationships/hyperlink" Target="https://www.wiley.law/alert-New-Forced-Labor-Tariffs-Imposed-on-60-US-Trading-Partners" TargetMode="External"/><Relationship Id="rId21" Type="http://schemas.openxmlformats.org/officeDocument/2006/relationships/hyperlink" Target="https://info.expeditors.com/newsflash/white-house-delays-increase-of-section-232-tariffs-on-furniture-and-cabinets" TargetMode="External"/><Relationship Id="rId22" Type="http://schemas.openxmlformats.org/officeDocument/2006/relationships/hyperlink" Target="https://www.strtrade.com/trade-news-resources/str-trade-report/trade-report/february/de-minimis-suspension-remains-in-place" TargetMode="External"/><Relationship Id="rId23" Type="http://schemas.openxmlformats.org/officeDocument/2006/relationships/hyperlink" Target="https://fred.stlouisfed.org/series/GASDESM" TargetMode="External"/><Relationship Id="rId24" Type="http://schemas.openxmlformats.org/officeDocument/2006/relationships/hyperlink" Target="https://www.eia.gov/outlooks/steo/" TargetMode="External"/><Relationship Id="rId25" Type="http://schemas.openxmlformats.org/officeDocument/2006/relationships/hyperlink" Target="https://www.federalreserve.gov/newsevents/pressreleases/monetary20260916a.htm" TargetMode="External"/><Relationship Id="rId26" Type="http://schemas.openxmlformats.org/officeDocument/2006/relationships/hyperlink" Target="https://www.federalreserve.gov/monetarypolicy/fomcprojtabl20260916.htm" TargetMode="External"/><Relationship Id="rId27" Type="http://schemas.openxmlformats.org/officeDocument/2006/relationships/hyperlink" Target="https://www.fasken.com/en/knowledge/2026/05/private-ma-deal-trends-to-watch-key-takeaways-from-srs-acquioms-2026-study" TargetMode="External"/><Relationship Id="rId28" Type="http://schemas.openxmlformats.org/officeDocument/2006/relationships/hyperlink" Target="https://sgbonline.com/yeti-boosts-fy-eps-outlook-after-q2-earnings-beat-sales-climb-9-percent/" TargetMode="External"/><Relationship Id="rId29" Type="http://schemas.openxmlformats.org/officeDocument/2006/relationships/hyperlink" Target="https://nafem.org/2026/03/11/advocacy-issues-survey-pressure-is-the-new-normal/" TargetMode="External"/><Relationship Id="rId30" Type="http://schemas.openxmlformats.org/officeDocument/2006/relationships/hyperlink" Target="https://investors.generalmills.com/press-releases/press-release-details/2026/General-Mills-Reports-Fiscal-2027-First-quarter-Results-and-Reaffirms-Full-year-Outlook/default.aspx" TargetMode="External"/><Relationship Id="rId31" Type="http://schemas.openxmlformats.org/officeDocument/2006/relationships/hyperlink" Target="https://www.foodbusinessnews.net/articles/31105-conagra-reviews-brand-portfolio-in-turnaround-push" TargetMode="External"/><Relationship Id="rId32" Type="http://schemas.openxmlformats.org/officeDocument/2006/relationships/hyperlink" Target="https://www.nutraingredients.com/Article/2026/08/04/pg-to-acquire-thorne-in-premium-wellness-play/" TargetMode="External"/><Relationship Id="rId33" Type="http://schemas.openxmlformats.org/officeDocument/2006/relationships/hyperlink" Target="https://www.sec.gov/Archives/edgar/data/0001665918/000166591826000043/usfd06272026ex991.htm" TargetMode="External"/><Relationship Id="rId34" Type="http://schemas.openxmlformats.org/officeDocument/2006/relationships/hyperlink" Target="https://www.sec.gov/Archives/edgar/data/0001618673/000119312526345718/pfgc-ex99_1.htm" TargetMode="External"/><Relationship Id="rId35" Type="http://schemas.openxmlformats.org/officeDocument/2006/relationships/hyperlink" Target="https://www.circana.com/post/us-beauty-industry-posts-solid-first-half-growth-as-fragrance-and-skincare-lead-across-prestige-and" TargetMode="External"/><Relationship Id="rId36" Type="http://schemas.openxmlformats.org/officeDocument/2006/relationships/hyperlink" Target="https://americanpetproducts.org/news/u.s.-pet-industry-reaches-158-billion-in-2025-poised-for-continued-growth-in-2026" TargetMode="External"/><Relationship Id="rId37" Type="http://schemas.openxmlformats.org/officeDocument/2006/relationships/hyperlink" Target="https://chainstoreage.com/circana-retail-spending-remained-resilient-june-heres-what-drove-it" TargetMode="External"/><Relationship Id="rId38" Type="http://schemas.openxmlformats.org/officeDocument/2006/relationships/hyperlink" Target="https://calrecycle.ca.gov/packaging/packaging-epr/" TargetMode="External"/><Relationship Id="rId39" Type="http://schemas.openxmlformats.org/officeDocument/2006/relationships/hyperlink" Target="https://fesmag.com/topics/the-latest-news/23859-equipment-and-supplies-sales-post-modest-growth-in-q2" TargetMode="External"/><Relationship Id="rId40" Type="http://schemas.openxmlformats.org/officeDocument/2006/relationships/hyperlink" Target="https://www.nrn.com/restaurant-franchising/giant-wendy-s-franchisee-meritage-hospitality-group-files-for-bankruptcy" TargetMode="External"/><Relationship Id="rId41" Type="http://schemas.openxmlformats.org/officeDocument/2006/relationships/hyperlink" Target="https://www.fermag.com/articles/parts-town-gains-tech-with-acquisition-of-86-repairs/" TargetMode="External"/><Relationship Id="rId42" Type="http://schemas.openxmlformats.org/officeDocument/2006/relationships/hyperlink" Target="https://www.fermag.com/articles/easy-ice-strengthens-footprint-with-acquisition/" TargetMode="External"/><Relationship Id="rId43" Type="http://schemas.openxmlformats.org/officeDocument/2006/relationships/hyperlink" Target="https://www.placera.se/pressmeddelanden/mister-car-wash-mister-car-wash-announces-completion-of-take-private-by-leonard-green-partners-20260519" TargetMode="External"/><Relationship Id="rId44" Type="http://schemas.openxmlformats.org/officeDocument/2006/relationships/hyperlink" Target="https://finance.yahoo.com/news/blackstone-expands-essential-home-services-221544542.html" TargetMode="External"/><Relationship Id="rId45" Type="http://schemas.openxmlformats.org/officeDocument/2006/relationships/hyperlink" Target="https://www.fenderbender.com/news/latest-news/news/55336744/classic-collision-kendrick-paint-body-bought-by-classic-collision" TargetMode="External"/><Relationship Id="rId46" Type="http://schemas.openxmlformats.org/officeDocument/2006/relationships/hyperlink" Target="https://www.jchs.harvard.edu/press-releases/remodeling-spending-poised-further-slowdown" TargetMode="External"/><Relationship Id="rId47" Type="http://schemas.openxmlformats.org/officeDocument/2006/relationships/hyperlink" Target="https://restaurant.org/research-and-media/media/press-releases/persistent-cost-increases-and-enduring-demand-will-shape-the-restaurant-industry-in-2026/" TargetMode="External"/><Relationship Id="rId48" Type="http://schemas.openxmlformats.org/officeDocument/2006/relationships/hyperlink" Target="https://www.ers.usda.gov/data-products/food-price-outlook/summary-findings" TargetMode="External"/><Relationship Id="rId49" Type="http://schemas.openxmlformats.org/officeDocument/2006/relationships/hyperlink" Target="https://restaurant.org/NRA/media/Research/RPI/2024/RPI-August-2026.pdf" TargetMode="External"/><Relationship Id="rId50" Type="http://schemas.openxmlformats.org/officeDocument/2006/relationships/hyperlink" Target="https://www.deloitte.com/us/en/about/press-room/deloitte-forecasts-holiday-retail-sales.html" TargetMode="External"/><Relationship Id="rId51" Type="http://schemas.openxmlformats.org/officeDocument/2006/relationships/hyperlink" Target="https://www.foodbusinessnews.net/articles/31098-hormel-foods-to-acquire-brakebush-brothers" TargetMode="External"/><Relationship Id="rId52" Type="http://schemas.openxmlformats.org/officeDocument/2006/relationships/hyperlink" Target="https://finance.yahoo.com/markets/stocks/articles/hf-foods-group-acquire-searay-123000612.html" TargetMode="External"/><Relationship Id="rId53" Type="http://schemas.openxmlformats.org/officeDocument/2006/relationships/hyperlink" Target="https://www.foodbusinessnews.net/articles/30721-the-vita-coco-co-acquires-copra-inc" TargetMode="External"/><Relationship Id="rId54" Type="http://schemas.openxmlformats.org/officeDocument/2006/relationships/hyperlink" Target="https://wysu.org/ohio-news/2026-01-23/clorox-acquires-akron-based-gojo-for-2-25b-says-purell-manufacturer-will-remain-in-ohio" TargetMode="External"/><Relationship Id="rId55" Type="http://schemas.openxmlformats.org/officeDocument/2006/relationships/hyperlink" Target="https://ir.prestigebrands.com/news-releases/news-release-details/prestige-consumer-healthcare-announces-agreement-acquire-breathe" TargetMode="External"/><Relationship Id="rId56" Type="http://schemas.openxmlformats.org/officeDocument/2006/relationships/hyperlink" Target="https://www.sec.gov/Archives/edgar/data/2098/000119312526019610/acu-ex99_1.htm" TargetMode="External"/><Relationship Id="rId57" Type="http://schemas.openxmlformats.org/officeDocument/2006/relationships/hyperlink" Target="https://www.agri-pulse.com/articles/25180-democrats-call-for-investigation-into-sysco-acquisition" TargetMode="External"/><Relationship Id="rId58" Type="http://schemas.openxmlformats.org/officeDocument/2006/relationships/hyperlink" Target="https://ir.standex.com/2026-03-09-STANDEX-ANNOUNCES-DIVESTITURE-OF-FEDERAL-INDUSTRIES-TO-AERITEK" TargetMode="External"/><Relationship Id="rId59" Type="http://schemas.openxmlformats.org/officeDocument/2006/relationships/hyperlink" Target="https://fesmag.com/topics/the-latest-news/23508-singer-buys-bresco" TargetMode="External"/><Relationship Id="rId60" Type="http://schemas.openxmlformats.org/officeDocument/2006/relationships/hyperlink" Target="https://app.edgar.tools/filing/1853513/0001193125-26-191483/mcw-ex99_1.htm" TargetMode="External"/><Relationship Id="rId61" Type="http://schemas.openxmlformats.org/officeDocument/2006/relationships/hyperlink" Target="https://finance.yahoo.com/markets/stocks/articles/pe-hopes-garage-door-roll-193930270.html" TargetMode="External"/><Relationship Id="rId62" Type="http://schemas.openxmlformats.org/officeDocument/2006/relationships/hyperlink" Target="https://www.privateequitywire.co.uk/oak-hill-capital-to-acquire-guild-garage-group/" TargetMode="External"/><Relationship Id="rId63" Type="http://schemas.openxmlformats.org/officeDocument/2006/relationships/hyperlink" Target="https://rollins.com/investors/press-releases/detail/429/rollins-acquires-romex-pest-control" TargetMode="External"/><Relationship Id="rId64" Type="http://schemas.openxmlformats.org/officeDocument/2006/relationships/hyperlink" Target="https://www.sec.gov/Archives/edgar/data/0000084839/000008483926000040/rol-20260630.htm" TargetMode="External"/><Relationship Id="rId65" Type="http://schemas.openxmlformats.org/officeDocument/2006/relationships/hyperlink" Target="https://www.benchmarkintl.com/insights/completed-transactions/benchmark-international-successfully-facilitated-the-transaction-between-gilco-restoration-inc-and-thomasville-restoration/" TargetMode="External"/><Relationship Id="rId66" Type="http://schemas.openxmlformats.org/officeDocument/2006/relationships/hyperlink" Target="https://www.benchmarkintl.com/insights/completed-transactions/benchmark-international-successfully-facilitated-the-transaction-between-edison-martial-arts-llc-and-elevate-youth-development/" TargetMode="External"/><Relationship Id="rId67" Type="http://schemas.openxmlformats.org/officeDocument/2006/relationships/hyperlink" Target="https://www.benchmarkintl.com/insights/completed-transactions/benchmark-international-successfully-facilitated-the-transaction-between-wrs-group-ltd-and-project-energy-savers-inc/" TargetMode="External"/><Relationship Id="rId68" Type="http://schemas.openxmlformats.org/officeDocument/2006/relationships/hyperlink" Target="https://www.benchmarkintl.com/insights/completed-transactions/benchmark-international-successfully-facilitated-the-transaction-between-kittleson-landscape-inc-and-lancaster-group-llc/" TargetMode="External"/><Relationship Id="rId69" Type="http://schemas.openxmlformats.org/officeDocument/2006/relationships/hyperlink" Target="https://www.benchmarkintl.com/insights/completed-transactions/benchmark-international-successfully-facilitated-the-transaction-between-jagimo-corporation-inc-and-castleford-group/" TargetMode="External"/><Relationship Id="rId70"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71" Type="http://schemas.openxmlformats.org/officeDocument/2006/relationships/hyperlink" Target="https://www.benchmarkintl.com/insights/completed-transactions/benchmark-international-successfully-facilitated-the-transaction-between-stepfar-investments-llc-and-classic-collision-llc/" TargetMode="External"/><Relationship Id="rId72" Type="http://schemas.openxmlformats.org/officeDocument/2006/relationships/hyperlink" Target="https://www.benchmarkintl.com/insights/completed-transactions/benchmark-international-successfully-facilitated-the-transaction-between-mm-roofing-co-and-allied-roofing-partners/" TargetMode="External"/><Relationship Id="rId73"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74" Type="http://schemas.openxmlformats.org/officeDocument/2006/relationships/hyperlink" Target="https://www.benchmarkintl.com/insights/completed-transactions/benchmark-international-successfully-facilitated-the-transaction-between-arocam-inc-and-innova-capital/" TargetMode="External"/><Relationship Id="rId75" Type="http://schemas.openxmlformats.org/officeDocument/2006/relationships/hyperlink" Target="https://www.benchmarkintl.com/insights/completed-transactions/benchmark-international-successfully-facilitated-a-transaction-between-stirling-food-systems-inc-and-greasecycle-llc/" TargetMode="External"/><Relationship Id="rId76" Type="http://schemas.openxmlformats.org/officeDocument/2006/relationships/hyperlink" Target="https://www.benchmarkintl.com/insights/completed-transactions/benchmark-international-successfully-facilitated-the-transaction-between-affordable-garage-doors-inc-and-asap-garage-door-repair/" TargetMode="External"/><Relationship Id="rId77" Type="http://schemas.openxmlformats.org/officeDocument/2006/relationships/hyperlink" Target="https://www.benchmarkintl.com/insights/completed-transactions/benchmark-international-successfully-facilitated-the-transaction-between-gsm-wings-llc-and-gpc-investments/" TargetMode="External"/><Relationship Id="rId78" Type="http://schemas.openxmlformats.org/officeDocument/2006/relationships/hyperlink" Target="https://www.benchmarkintl.com/insights/completed-transactions/benchmark-international-successfully-facilitated-the-transaction-between-southern-pool-designs-inc-and-an-individual-investor/" TargetMode="External"/><Relationship Id="rId79" Type="http://schemas.openxmlformats.org/officeDocument/2006/relationships/hyperlink" Target="https://www.benchmarkintl.com/insights/completed-transactions/benchmark-international-successfully-facilitated-the-transaction-between-smart-buffet-ware-llc-and-front-of-house-worldwide/" TargetMode="External"/><Relationship Id="rId80" Type="http://schemas.openxmlformats.org/officeDocument/2006/relationships/hyperlink" Target="https://www.benchmarkintl.com/insights/completed-transactions/benchmark-international-successfully-facilitated-the-transaction-between-nova-seafood-ltd-and-highwood-harbor-llc/" TargetMode="External"/><Relationship Id="rId81" Type="http://schemas.openxmlformats.org/officeDocument/2006/relationships/hyperlink" Target="https://www.benchmarkintl.com/insights/featured-content/benchmark-international-successfully-facilitated-the-transaction-between-palm-coast-sales-inc-and-fourshore-partners/" TargetMode="External"/><Relationship Id="rId82" Type="http://schemas.openxmlformats.org/officeDocument/2006/relationships/hyperlink" Target="https://www.benchmarkintl.com/about/our-success/" TargetMode="External"/><Relationship Id="rId83" Type="http://schemas.openxmlformats.org/officeDocument/2006/relationships/hyperlink" Target="https://www.bain.com/insights/outlook-gaining-traction-global-private-equity-report-2026/" TargetMode="External"/><Relationship Id="rId84" Type="http://schemas.openxmlformats.org/officeDocument/2006/relationships/hyperlink" Target="https://stockanalysis.com/" TargetMode="External"/><Relationship Id="rId85" Type="http://schemas.openxmlformats.org/officeDocument/2006/relationships/hyperlink" Target="https://www.businesswire.com/news/home/20250512684279/en/Church-Dwight-to-Acquire-the-Touchland-Brand-for-$700-million-Plus-Earn-out" TargetMode="External"/><Relationship Id="rId86" Type="http://schemas.openxmlformats.org/officeDocument/2006/relationships/hyperlink" Target="https://fred.stlouisfed.org/series/MRTSSM44X72USS" TargetMode="External"/><Relationship Id="rId87" Type="http://schemas.openxmlformats.org/officeDocument/2006/relationships/hyperlink" Target="https://www.census.gov/retail/marts/www/marts_current.pdf" TargetMode="External"/><Relationship Id="rId88" Type="http://schemas.openxmlformats.org/officeDocument/2006/relationships/hyperlink" Target="https://fred.stlouisfed.org/series/MRTSSM722USS" TargetMode="External"/><Relationship Id="rId89" Type="http://schemas.openxmlformats.org/officeDocument/2006/relationships/hyperlink" Target="https://fred.stlouisfed.org/series/ECOMPCTSA" TargetMode="External"/><Relationship Id="rId90" Type="http://schemas.openxmlformats.org/officeDocument/2006/relationships/hyperlink" Target="https://fred.stlouisfed.org/series/UMCSENT" TargetMode="External"/><Relationship Id="rId91" Type="http://schemas.openxmlformats.org/officeDocument/2006/relationships/hyperlink" Target="https://www.sca.isr.umich.edu/" TargetMode="External"/><Relationship Id="rId92" Type="http://schemas.openxmlformats.org/officeDocument/2006/relationships/hyperlink" Target="https://fred.stlouisfed.org/series/CUSR0000SAF11" TargetMode="External"/><Relationship Id="rId93" Type="http://schemas.openxmlformats.org/officeDocument/2006/relationships/hyperlink" Target="https://fred.stlouisfed.org/series/CUSR0000SEFV" TargetMode="External"/><Relationship Id="rId94" Type="http://schemas.openxmlformats.org/officeDocument/2006/relationships/hyperlink" Target="https://fred.stlouisfed.org/series/PCU311311" TargetMode="External"/><Relationship Id="rId95" Type="http://schemas.openxmlformats.org/officeDocument/2006/relationships/hyperlink" Target="https://s204.q4cdn.com/636391999/files/content_files/Hormel-Foods-Announces-Definitive-Agreement-to-Acquire-Brakebush_-Supplemental-Slides-vFinal.pdf" TargetMode="External"/><Relationship Id="rId96" Type="http://schemas.openxmlformats.org/officeDocument/2006/relationships/hyperlink" Target="https://investors.thecloroxcompany.com/news/news-details/2026/Clorox-Announces-Acquisition-of-GOJO-Industries-Makers-of-Purell-Market-Leader-in-Skin-Health-and-Hygiene/" TargetMode="External"/><Relationship Id="rId97" Type="http://schemas.openxmlformats.org/officeDocument/2006/relationships/hyperlink" Target="https://www.sec.gov/Archives/edgar/data/1853513/000119312526056047/d113732dex991.htm" TargetMode="External"/><Relationship Id="rId98" Type="http://schemas.openxmlformats.org/officeDocument/2006/relationships/hyperlink" Target="https://giecdn.blob.core.windows.net/fileuploads/document/2026/05/11/2026-top-100-poster.pdf" TargetMode="External"/><Relationship Id="rId99"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Loaves of bread on bakery racks" descr="Loaves of bread on bakery racks"/>
          <p:cNvPicPr>
            <a:picLocks noChangeAspect="1"/>
          </p:cNvPicPr>
          <p:nvPr/>
        </p:nvPicPr>
        <p:blipFill>
          <a:blip r:embed="rId3"/>
          <a:stretch>
            <a:fillRect/>
          </a:stretch>
        </p:blipFill>
        <p:spPr>
          <a:xfrm>
            <a:off x="0" y="0"/>
            <a:ext cx="10058400" cy="7772400"/>
          </a:xfrm>
          <a:prstGeom prst="rect">
            <a:avLst/>
          </a:prstGeom>
        </p:spPr>
      </p:pic>
      <p:pic>
        <p:nvPicPr>
          <p:cNvPr id="4" name="Shade" descr="/tmp/claude-0/-home-claude-about/4bef2f41-4227-5ff7-ab18-11ac74cd9797/scratchpad/pptx/ex/media/bbebf5d44e0c.png"/>
          <p:cNvPicPr>
            <a:picLocks noChangeAspect="1"/>
          </p:cNvPicPr>
          <p:nvPr/>
        </p:nvPicPr>
        <p:blipFill>
          <a:blip r:embed="rId4"/>
          <a:stretch>
            <a:fillRect/>
          </a:stretch>
        </p:blipFill>
        <p:spPr>
          <a:xfrm>
            <a:off x="0" y="0"/>
            <a:ext cx="10058400" cy="7772400"/>
          </a:xfrm>
          <a:prstGeom prst="rect">
            <a:avLst/>
          </a:prstGeom>
        </p:spPr>
      </p:pic>
      <p:sp>
        <p:nvSpPr>
          <p:cNvPr id="5" name="Shape 4"/>
          <p:cNvSpPr/>
          <p:nvPr/>
        </p:nvSpPr>
        <p:spPr>
          <a:xfrm>
            <a:off x="0" y="0"/>
            <a:ext cx="57150" cy="7772400"/>
          </a:xfrm>
          <a:prstGeom prst="rect">
            <a:avLst/>
          </a:prstGeom>
          <a:solidFill>
            <a:srgbClr val="B68757"/>
          </a:solidFill>
          <a:ln/>
        </p:spPr>
        <p:txBody>
          <a:bodyPr/>
          <a:lstStyle/>
          <a:p>
            <a:endParaRPr lang="en-US"/>
          </a:p>
        </p:txBody>
      </p:sp>
      <p:pic>
        <p:nvPicPr>
          <p:cNvPr id="6" name="Benchmark International" descr="Benchmark International"/>
          <p:cNvPicPr>
            <a:picLocks noChangeAspect="1"/>
          </p:cNvPicPr>
          <p:nvPr/>
        </p:nvPicPr>
        <p:blipFill>
          <a:blip r:embed="rId5"/>
          <a:stretch>
            <a:fillRect/>
          </a:stretch>
        </p:blipFill>
        <p:spPr>
          <a:xfrm>
            <a:off x="609600" y="571500"/>
            <a:ext cx="2438400" cy="457200"/>
          </a:xfrm>
          <a:prstGeom prst="rect">
            <a:avLst/>
          </a:prstGeom>
        </p:spPr>
      </p:pic>
      <p:sp>
        <p:nvSpPr>
          <p:cNvPr id="7" name="Text 6"/>
          <p:cNvSpPr txBox="1"/>
          <p:nvPr/>
        </p:nvSpPr>
        <p:spPr>
          <a:xfrm>
            <a:off x="609600" y="1157288"/>
            <a:ext cx="2313087" cy="133350"/>
          </a:xfrm>
          <a:prstGeom prst="rect">
            <a:avLst/>
          </a:prstGeom>
          <a:noFill/>
          <a:ln/>
        </p:spPr>
        <p:txBody>
          <a:bodyPr wrap="none" lIns="0" tIns="0" rIns="0" bIns="0" rtlCol="0" anchor="t"/>
          <a:lstStyle/>
          <a:p>
            <a:pPr marL="0" indent="0" algn="l">
              <a:lnSpc>
                <a:spcPts val="1050"/>
              </a:lnSpc>
              <a:buNone/>
            </a:pPr>
            <a:r>
              <a:rPr lang="en-US" sz="750" b="1" kern="0" spc="255" dirty="0">
                <a:solidFill>
                  <a:srgbClr val="D3AE84"/>
                </a:solidFill>
                <a:latin typeface="Quicksand" pitchFamily="34" charset="0"/>
              </a:rPr>
              <a:t>MIDDLE MARKET</a:t>
            </a:r>
            <a:endParaRPr lang="en-US" sz="750" dirty="0"/>
          </a:p>
        </p:txBody>
      </p:sp>
      <p:sp>
        <p:nvSpPr>
          <p:cNvPr id="8" name="Text 7"/>
          <p:cNvSpPr txBox="1"/>
          <p:nvPr/>
        </p:nvSpPr>
        <p:spPr>
          <a:xfrm>
            <a:off x="609600" y="2247900"/>
            <a:ext cx="3000375" cy="152400"/>
          </a:xfrm>
          <a:prstGeom prst="rect">
            <a:avLst/>
          </a:prstGeom>
          <a:noFill/>
          <a:ln/>
        </p:spPr>
        <p:txBody>
          <a:bodyPr wrap="none" lIns="0" tIns="0" rIns="0" bIns="0" rtlCol="0" anchor="t"/>
          <a:lstStyle/>
          <a:p>
            <a:pPr marL="0" indent="0" algn="l">
              <a:lnSpc>
                <a:spcPts val="1200"/>
              </a:lnSpc>
              <a:buNone/>
            </a:pPr>
            <a:r>
              <a:rPr lang="en-US" sz="825" b="1" kern="0" spc="240" dirty="0">
                <a:solidFill>
                  <a:srgbClr val="D3AE84"/>
                </a:solidFill>
                <a:latin typeface="Quicksand" pitchFamily="34" charset="0"/>
              </a:rPr>
              <a:t>QUARTERLY SECTOR BRIEF  |  Q4 2026</a:t>
            </a:r>
            <a:endParaRPr lang="en-US" sz="825" dirty="0"/>
          </a:p>
        </p:txBody>
      </p:sp>
      <p:sp>
        <p:nvSpPr>
          <p:cNvPr id="9" name="Text 8"/>
          <p:cNvSpPr txBox="1"/>
          <p:nvPr/>
        </p:nvSpPr>
        <p:spPr>
          <a:xfrm>
            <a:off x="571500" y="2490788"/>
            <a:ext cx="4842421" cy="876300"/>
          </a:xfrm>
          <a:prstGeom prst="rect">
            <a:avLst/>
          </a:prstGeom>
          <a:noFill/>
          <a:ln/>
        </p:spPr>
        <p:txBody>
          <a:bodyPr wrap="none" lIns="0" tIns="0" rIns="0" bIns="0" rtlCol="0" anchor="t"/>
          <a:lstStyle/>
          <a:p>
            <a:pPr marL="0" indent="0" algn="l">
              <a:lnSpc>
                <a:spcPts val="6900"/>
              </a:lnSpc>
              <a:buNone/>
            </a:pPr>
            <a:r>
              <a:rPr lang="en-US" sz="6150" kern="0" spc="225" dirty="0">
                <a:solidFill>
                  <a:srgbClr val="FFFFFF"/>
                </a:solidFill>
                <a:latin typeface="Cinzel" pitchFamily="34" charset="0"/>
              </a:rPr>
              <a:t>CONSUMER</a:t>
            </a:r>
            <a:endParaRPr lang="en-US" sz="6150" dirty="0"/>
          </a:p>
        </p:txBody>
      </p:sp>
      <p:sp>
        <p:nvSpPr>
          <p:cNvPr id="10" name="Shape 9"/>
          <p:cNvSpPr/>
          <p:nvPr/>
        </p:nvSpPr>
        <p:spPr>
          <a:xfrm>
            <a:off x="609600" y="3486150"/>
            <a:ext cx="685800" cy="28575"/>
          </a:xfrm>
          <a:prstGeom prst="rect">
            <a:avLst/>
          </a:prstGeom>
          <a:solidFill>
            <a:srgbClr val="B68757"/>
          </a:solidFill>
          <a:ln/>
        </p:spPr>
        <p:txBody>
          <a:bodyPr/>
          <a:lstStyle/>
          <a:p>
            <a:endParaRPr lang="en-US"/>
          </a:p>
        </p:txBody>
      </p:sp>
      <p:sp>
        <p:nvSpPr>
          <p:cNvPr id="11" name="Text 10"/>
          <p:cNvSpPr txBox="1"/>
          <p:nvPr/>
        </p:nvSpPr>
        <p:spPr>
          <a:xfrm>
            <a:off x="609600" y="3729038"/>
            <a:ext cx="4977765" cy="1104900"/>
          </a:xfrm>
          <a:prstGeom prst="rect">
            <a:avLst/>
          </a:prstGeom>
          <a:noFill/>
          <a:ln/>
        </p:spPr>
        <p:txBody>
          <a:bodyPr wrap="square" lIns="0" tIns="0" rIns="0" bIns="0" rtlCol="0" anchor="t"/>
          <a:lstStyle/>
          <a:p>
            <a:pPr marL="0" indent="0" algn="l">
              <a:lnSpc>
                <a:spcPts val="2175"/>
              </a:lnSpc>
              <a:buNone/>
            </a:pPr>
            <a:r>
              <a:rPr lang="en-US" sz="1500" i="1" kern="0" spc="15" dirty="0">
                <a:solidFill>
                  <a:srgbClr val="F4EFE8"/>
                </a:solidFill>
                <a:latin typeface="Newsreader Medium" pitchFamily="34" charset="0"/>
              </a:rPr>
              <a:t>Strategic and financial buyers stayed active across the consumer sector through the third quarter, and they are paying for brands and operators that have held price and volume while the cost of financing a purchase rises.</a:t>
            </a:r>
            <a:endParaRPr lang="en-US" sz="1500" dirty="0"/>
          </a:p>
        </p:txBody>
      </p:sp>
      <p:pic>
        <p:nvPicPr>
          <p:cNvPr id="12" name="Icon" descr="/tmp/claude-0/-home-claude-about/4bef2f41-4227-5ff7-ab18-11ac74cd9797/scratchpad/pptx/ex/media/a5844c0bd0eb.png"/>
          <p:cNvPicPr>
            <a:picLocks noChangeAspect="1"/>
          </p:cNvPicPr>
          <p:nvPr/>
        </p:nvPicPr>
        <p:blipFill>
          <a:blip r:embed="rId6"/>
          <a:stretch>
            <a:fillRect/>
          </a:stretch>
        </p:blipFill>
        <p:spPr>
          <a:xfrm>
            <a:off x="609600" y="5567363"/>
            <a:ext cx="142875" cy="142875"/>
          </a:xfrm>
          <a:prstGeom prst="rect">
            <a:avLst/>
          </a:prstGeom>
        </p:spPr>
      </p:pic>
      <p:sp>
        <p:nvSpPr>
          <p:cNvPr id="13" name="Text 12"/>
          <p:cNvSpPr txBox="1"/>
          <p:nvPr/>
        </p:nvSpPr>
        <p:spPr>
          <a:xfrm>
            <a:off x="838200" y="5557838"/>
            <a:ext cx="966192"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Food &amp; Beverage</a:t>
            </a:r>
            <a:endParaRPr lang="en-US" sz="863" dirty="0"/>
          </a:p>
        </p:txBody>
      </p:sp>
      <p:pic>
        <p:nvPicPr>
          <p:cNvPr id="14" name="Icon" descr="/tmp/claude-0/-home-claude-about/4bef2f41-4227-5ff7-ab18-11ac74cd9797/scratchpad/pptx/ex/media/267c0dc43ff0.png"/>
          <p:cNvPicPr>
            <a:picLocks noChangeAspect="1"/>
          </p:cNvPicPr>
          <p:nvPr/>
        </p:nvPicPr>
        <p:blipFill>
          <a:blip r:embed="rId7"/>
          <a:stretch>
            <a:fillRect/>
          </a:stretch>
        </p:blipFill>
        <p:spPr>
          <a:xfrm>
            <a:off x="609600" y="5786438"/>
            <a:ext cx="142875" cy="142875"/>
          </a:xfrm>
          <a:prstGeom prst="rect">
            <a:avLst/>
          </a:prstGeom>
        </p:spPr>
      </p:pic>
      <p:sp>
        <p:nvSpPr>
          <p:cNvPr id="15" name="Text 14"/>
          <p:cNvSpPr txBox="1"/>
          <p:nvPr/>
        </p:nvSpPr>
        <p:spPr>
          <a:xfrm>
            <a:off x="838200" y="5776913"/>
            <a:ext cx="1598265"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Consumer Brands &amp; Products</a:t>
            </a:r>
            <a:endParaRPr lang="en-US" sz="863" dirty="0"/>
          </a:p>
        </p:txBody>
      </p:sp>
      <p:pic>
        <p:nvPicPr>
          <p:cNvPr id="16" name="Icon" descr="/tmp/claude-0/-home-claude-about/4bef2f41-4227-5ff7-ab18-11ac74cd9797/scratchpad/pptx/ex/media/df6e3233e72f.png"/>
          <p:cNvPicPr>
            <a:picLocks noChangeAspect="1"/>
          </p:cNvPicPr>
          <p:nvPr/>
        </p:nvPicPr>
        <p:blipFill>
          <a:blip r:embed="rId8"/>
          <a:stretch>
            <a:fillRect/>
          </a:stretch>
        </p:blipFill>
        <p:spPr>
          <a:xfrm>
            <a:off x="609600" y="6005513"/>
            <a:ext cx="142875" cy="142875"/>
          </a:xfrm>
          <a:prstGeom prst="rect">
            <a:avLst/>
          </a:prstGeom>
        </p:spPr>
      </p:pic>
      <p:sp>
        <p:nvSpPr>
          <p:cNvPr id="17" name="Text 16"/>
          <p:cNvSpPr txBox="1"/>
          <p:nvPr/>
        </p:nvSpPr>
        <p:spPr>
          <a:xfrm>
            <a:off x="838200" y="5995988"/>
            <a:ext cx="1436043"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Foodservice &amp; Distribution</a:t>
            </a:r>
            <a:endParaRPr lang="en-US" sz="863" dirty="0"/>
          </a:p>
        </p:txBody>
      </p:sp>
      <p:pic>
        <p:nvPicPr>
          <p:cNvPr id="18" name="Icon" descr="/tmp/claude-0/-home-claude-about/4bef2f41-4227-5ff7-ab18-11ac74cd9797/scratchpad/pptx/ex/media/b26f2f7508a0.png"/>
          <p:cNvPicPr>
            <a:picLocks noChangeAspect="1"/>
          </p:cNvPicPr>
          <p:nvPr/>
        </p:nvPicPr>
        <p:blipFill>
          <a:blip r:embed="rId9"/>
          <a:stretch>
            <a:fillRect/>
          </a:stretch>
        </p:blipFill>
        <p:spPr>
          <a:xfrm>
            <a:off x="609600" y="6224588"/>
            <a:ext cx="142875" cy="142875"/>
          </a:xfrm>
          <a:prstGeom prst="rect">
            <a:avLst/>
          </a:prstGeom>
        </p:spPr>
      </p:pic>
      <p:sp>
        <p:nvSpPr>
          <p:cNvPr id="19" name="Text 18"/>
          <p:cNvSpPr txBox="1"/>
          <p:nvPr/>
        </p:nvSpPr>
        <p:spPr>
          <a:xfrm>
            <a:off x="838200" y="6215063"/>
            <a:ext cx="1498848"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Consumer Services &amp; Retail</a:t>
            </a:r>
            <a:endParaRPr lang="en-US" sz="863" dirty="0"/>
          </a:p>
        </p:txBody>
      </p:sp>
      <p:sp>
        <p:nvSpPr>
          <p:cNvPr id="20" name="Text 19"/>
          <p:cNvSpPr txBox="1"/>
          <p:nvPr/>
        </p:nvSpPr>
        <p:spPr>
          <a:xfrm>
            <a:off x="609600" y="7067550"/>
            <a:ext cx="2825502" cy="161925"/>
          </a:xfrm>
          <a:prstGeom prst="rect">
            <a:avLst/>
          </a:prstGeom>
          <a:noFill/>
          <a:ln/>
        </p:spPr>
        <p:txBody>
          <a:bodyPr wrap="none" lIns="0" tIns="0" rIns="0" bIns="0" rtlCol="0" anchor="t"/>
          <a:lstStyle/>
          <a:p>
            <a:pPr marL="0" indent="0" algn="l">
              <a:lnSpc>
                <a:spcPts val="1275"/>
              </a:lnSpc>
              <a:buNone/>
            </a:pPr>
            <a:r>
              <a:rPr lang="en-US" sz="863" kern="0" spc="45" dirty="0">
                <a:solidFill>
                  <a:srgbClr val="D9D2C8"/>
                </a:solidFill>
                <a:latin typeface="Quicksand" pitchFamily="34" charset="0"/>
              </a:rPr>
              <a:t>October 2026  |  Jared Hardin, Managing Director</a:t>
            </a:r>
            <a:endParaRPr lang="en-US" sz="863" dirty="0"/>
          </a:p>
        </p:txBody>
      </p:sp>
      <p:sp>
        <p:nvSpPr>
          <p:cNvPr id="21" name="Shape 20"/>
          <p:cNvSpPr/>
          <p:nvPr/>
        </p:nvSpPr>
        <p:spPr>
          <a:xfrm>
            <a:off x="6096000" y="4305300"/>
            <a:ext cx="3543300" cy="3152775"/>
          </a:xfrm>
          <a:prstGeom prst="rect">
            <a:avLst/>
          </a:prstGeom>
          <a:solidFill>
            <a:srgbClr val="1B1A1A">
              <a:alpha val="80000"/>
            </a:srgbClr>
          </a:solidFill>
          <a:ln/>
        </p:spPr>
        <p:txBody>
          <a:bodyPr/>
          <a:lstStyle/>
          <a:p>
            <a:endParaRPr lang="en-US"/>
          </a:p>
        </p:txBody>
      </p:sp>
      <p:sp>
        <p:nvSpPr>
          <p:cNvPr id="22" name="Shape 21"/>
          <p:cNvSpPr/>
          <p:nvPr/>
        </p:nvSpPr>
        <p:spPr>
          <a:xfrm>
            <a:off x="6096000" y="4305300"/>
            <a:ext cx="3543300" cy="28575"/>
          </a:xfrm>
          <a:prstGeom prst="rect">
            <a:avLst/>
          </a:prstGeom>
          <a:solidFill>
            <a:srgbClr val="B68757"/>
          </a:solidFill>
          <a:ln/>
        </p:spPr>
        <p:txBody>
          <a:bodyPr/>
          <a:lstStyle/>
          <a:p>
            <a:endParaRPr lang="en-US"/>
          </a:p>
        </p:txBody>
      </p:sp>
      <p:sp>
        <p:nvSpPr>
          <p:cNvPr id="23" name="Text 22"/>
          <p:cNvSpPr txBox="1"/>
          <p:nvPr/>
        </p:nvSpPr>
        <p:spPr>
          <a:xfrm>
            <a:off x="6343650" y="4538663"/>
            <a:ext cx="3048000" cy="133350"/>
          </a:xfrm>
          <a:prstGeom prst="rect">
            <a:avLst/>
          </a:prstGeom>
          <a:noFill/>
          <a:ln/>
        </p:spPr>
        <p:txBody>
          <a:bodyPr wrap="none" lIns="0" tIns="0" rIns="0" bIns="0" rtlCol="0" anchor="t"/>
          <a:lstStyle/>
          <a:p>
            <a:pPr marL="0" indent="0" algn="l">
              <a:lnSpc>
                <a:spcPts val="1050"/>
              </a:lnSpc>
              <a:buNone/>
            </a:pPr>
            <a:r>
              <a:rPr lang="en-US" sz="750" b="1" kern="0" spc="225" dirty="0">
                <a:solidFill>
                  <a:srgbClr val="D3AE84"/>
                </a:solidFill>
                <a:latin typeface="Quicksand" pitchFamily="34" charset="0"/>
              </a:rPr>
              <a:t>WHAT’S INCLUDED</a:t>
            </a:r>
            <a:endParaRPr lang="en-US" sz="750" dirty="0"/>
          </a:p>
        </p:txBody>
      </p:sp>
      <p:sp>
        <p:nvSpPr>
          <p:cNvPr id="24" name="Shape 23"/>
          <p:cNvSpPr/>
          <p:nvPr/>
        </p:nvSpPr>
        <p:spPr>
          <a:xfrm>
            <a:off x="6343650" y="4791075"/>
            <a:ext cx="3048000" cy="9525"/>
          </a:xfrm>
          <a:prstGeom prst="rect">
            <a:avLst/>
          </a:prstGeom>
          <a:solidFill>
            <a:srgbClr val="D3AE84">
              <a:alpha val="35000"/>
            </a:srgbClr>
          </a:solidFill>
          <a:ln/>
        </p:spPr>
        <p:txBody>
          <a:bodyPr/>
          <a:lstStyle/>
          <a:p>
            <a:endParaRPr lang="en-US"/>
          </a:p>
        </p:txBody>
      </p:sp>
      <p:sp>
        <p:nvSpPr>
          <p:cNvPr id="25" name="Text 24"/>
          <p:cNvSpPr txBox="1"/>
          <p:nvPr/>
        </p:nvSpPr>
        <p:spPr>
          <a:xfrm>
            <a:off x="6343650" y="49196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01</a:t>
            </a:r>
            <a:endParaRPr lang="en-US" sz="1650" dirty="0"/>
          </a:p>
        </p:txBody>
      </p:sp>
      <p:sp>
        <p:nvSpPr>
          <p:cNvPr id="26" name="Text 25"/>
          <p:cNvSpPr txBox="1"/>
          <p:nvPr/>
        </p:nvSpPr>
        <p:spPr>
          <a:xfrm>
            <a:off x="6838950" y="4919663"/>
            <a:ext cx="255270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Insights</a:t>
            </a:r>
            <a:endParaRPr lang="en-US" sz="1350" dirty="0"/>
          </a:p>
        </p:txBody>
      </p:sp>
      <p:sp>
        <p:nvSpPr>
          <p:cNvPr id="27" name="Text 26"/>
          <p:cNvSpPr txBox="1"/>
          <p:nvPr/>
        </p:nvSpPr>
        <p:spPr>
          <a:xfrm>
            <a:off x="6838950" y="5162550"/>
            <a:ext cx="2566988" cy="457200"/>
          </a:xfrm>
          <a:prstGeom prst="rect">
            <a:avLst/>
          </a:prstGeom>
          <a:noFill/>
          <a:ln/>
        </p:spPr>
        <p:txBody>
          <a:bodyPr wrap="square" lIns="0" tIns="0" rIns="0" bIns="0" rtlCol="0" anchor="t"/>
          <a:lstStyle/>
          <a:p>
            <a:pPr marL="0" indent="0" algn="l">
              <a:lnSpc>
                <a:spcPts val="1200"/>
              </a:lnSpc>
              <a:buNone/>
            </a:pPr>
            <a:r>
              <a:rPr lang="en-US" sz="825" kern="0" spc="15" dirty="0">
                <a:solidFill>
                  <a:srgbClr val="D9D2C8"/>
                </a:solidFill>
                <a:latin typeface="Quicksand" pitchFamily="34" charset="0"/>
              </a:rPr>
              <a:t>What is happening in consumer right now, three costs buyers are repricing, perspectives on four segments and what we are reading</a:t>
            </a:r>
            <a:endParaRPr lang="en-US" sz="825" dirty="0"/>
          </a:p>
        </p:txBody>
      </p:sp>
      <p:sp>
        <p:nvSpPr>
          <p:cNvPr id="28" name="Shape 27"/>
          <p:cNvSpPr/>
          <p:nvPr/>
        </p:nvSpPr>
        <p:spPr>
          <a:xfrm>
            <a:off x="6343650" y="5743575"/>
            <a:ext cx="3048000" cy="9525"/>
          </a:xfrm>
          <a:prstGeom prst="rect">
            <a:avLst/>
          </a:prstGeom>
          <a:solidFill>
            <a:srgbClr val="D3AE84">
              <a:alpha val="35000"/>
            </a:srgbClr>
          </a:solidFill>
          <a:ln/>
        </p:spPr>
        <p:txBody>
          <a:bodyPr/>
          <a:lstStyle/>
          <a:p>
            <a:endParaRPr lang="en-US"/>
          </a:p>
        </p:txBody>
      </p:sp>
      <p:sp>
        <p:nvSpPr>
          <p:cNvPr id="29" name="Text 28"/>
          <p:cNvSpPr txBox="1"/>
          <p:nvPr/>
        </p:nvSpPr>
        <p:spPr>
          <a:xfrm>
            <a:off x="6343650" y="58721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02</a:t>
            </a:r>
            <a:endParaRPr lang="en-US" sz="1650" dirty="0"/>
          </a:p>
        </p:txBody>
      </p:sp>
      <p:sp>
        <p:nvSpPr>
          <p:cNvPr id="30" name="Text 29"/>
          <p:cNvSpPr txBox="1"/>
          <p:nvPr/>
        </p:nvSpPr>
        <p:spPr>
          <a:xfrm>
            <a:off x="6838950" y="5872163"/>
            <a:ext cx="255270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Sector Activity</a:t>
            </a:r>
            <a:endParaRPr lang="en-US" sz="1350" dirty="0"/>
          </a:p>
        </p:txBody>
      </p:sp>
      <p:sp>
        <p:nvSpPr>
          <p:cNvPr id="31" name="Text 30"/>
          <p:cNvSpPr txBox="1"/>
          <p:nvPr/>
        </p:nvSpPr>
        <p:spPr>
          <a:xfrm>
            <a:off x="6838950" y="6115050"/>
            <a:ext cx="2566988" cy="457200"/>
          </a:xfrm>
          <a:prstGeom prst="rect">
            <a:avLst/>
          </a:prstGeom>
          <a:noFill/>
          <a:ln/>
        </p:spPr>
        <p:txBody>
          <a:bodyPr wrap="square" lIns="0" tIns="0" rIns="0" bIns="0" rtlCol="0" anchor="t"/>
          <a:lstStyle/>
          <a:p>
            <a:pPr marL="0" indent="0" algn="l">
              <a:lnSpc>
                <a:spcPts val="1200"/>
              </a:lnSpc>
              <a:buNone/>
            </a:pPr>
            <a:r>
              <a:rPr lang="en-US" sz="825" kern="0" spc="15" dirty="0">
                <a:solidFill>
                  <a:srgbClr val="D9D2C8"/>
                </a:solidFill>
                <a:latin typeface="Quicksand" pitchFamily="34" charset="0"/>
              </a:rPr>
              <a:t>Recent transactions, the buyer landscape, public company performance and valuation, and demand and cost indicators</a:t>
            </a:r>
            <a:endParaRPr lang="en-US" sz="825" dirty="0"/>
          </a:p>
        </p:txBody>
      </p:sp>
      <p:sp>
        <p:nvSpPr>
          <p:cNvPr id="32" name="Shape 31"/>
          <p:cNvSpPr/>
          <p:nvPr/>
        </p:nvSpPr>
        <p:spPr>
          <a:xfrm>
            <a:off x="6343650" y="6696075"/>
            <a:ext cx="3048000" cy="9525"/>
          </a:xfrm>
          <a:prstGeom prst="rect">
            <a:avLst/>
          </a:prstGeom>
          <a:solidFill>
            <a:srgbClr val="D3AE84">
              <a:alpha val="35000"/>
            </a:srgbClr>
          </a:solidFill>
          <a:ln/>
        </p:spPr>
        <p:txBody>
          <a:bodyPr/>
          <a:lstStyle/>
          <a:p>
            <a:endParaRPr lang="en-US"/>
          </a:p>
        </p:txBody>
      </p:sp>
      <p:sp>
        <p:nvSpPr>
          <p:cNvPr id="33" name="Text 32"/>
          <p:cNvSpPr txBox="1"/>
          <p:nvPr/>
        </p:nvSpPr>
        <p:spPr>
          <a:xfrm>
            <a:off x="6343650" y="68246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03</a:t>
            </a:r>
            <a:endParaRPr lang="en-US" sz="1650" dirty="0"/>
          </a:p>
        </p:txBody>
      </p:sp>
      <p:sp>
        <p:nvSpPr>
          <p:cNvPr id="34" name="Text 33"/>
          <p:cNvSpPr txBox="1"/>
          <p:nvPr/>
        </p:nvSpPr>
        <p:spPr>
          <a:xfrm>
            <a:off x="6838950" y="6824663"/>
            <a:ext cx="243081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Connect With Us</a:t>
            </a:r>
            <a:endParaRPr lang="en-US" sz="1350" dirty="0"/>
          </a:p>
        </p:txBody>
      </p:sp>
      <p:sp>
        <p:nvSpPr>
          <p:cNvPr id="35" name="Text 34"/>
          <p:cNvSpPr txBox="1"/>
          <p:nvPr/>
        </p:nvSpPr>
        <p:spPr>
          <a:xfrm>
            <a:off x="6838950" y="7067550"/>
            <a:ext cx="2487960" cy="152400"/>
          </a:xfrm>
          <a:prstGeom prst="rect">
            <a:avLst/>
          </a:prstGeom>
          <a:noFill/>
          <a:ln/>
        </p:spPr>
        <p:txBody>
          <a:bodyPr wrap="none" lIns="0" tIns="0" rIns="0" bIns="0" rtlCol="0" anchor="t"/>
          <a:lstStyle/>
          <a:p>
            <a:pPr marL="0" indent="0" algn="l">
              <a:lnSpc>
                <a:spcPts val="1200"/>
              </a:lnSpc>
              <a:buNone/>
            </a:pPr>
            <a:r>
              <a:rPr lang="en-US" sz="825" kern="0" spc="15" dirty="0">
                <a:solidFill>
                  <a:srgbClr val="D9D2C8"/>
                </a:solidFill>
                <a:latin typeface="Quicksand" pitchFamily="34" charset="0"/>
              </a:rPr>
              <a:t>The Middle Market consumer team</a:t>
            </a:r>
            <a:endParaRPr lang="en-US" sz="8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descr="/tmp/claude-0/-home-claude-about/4bef2f41-4227-5ff7-ab18-11ac74cd9797/scratchpad/pptx/ex/media/1eecee506727.jpg"/>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shopper carrying bags on a city street" descr="A shopper carrying bags on a city street"/>
          <p:cNvPicPr>
            <a:picLocks noChangeAspect="1"/>
          </p:cNvPicPr>
          <p:nvPr/>
        </p:nvPicPr>
        <p:blipFill>
          <a:blip r:embed="rId4"/>
          <a:stretch>
            <a:fillRect/>
          </a:stretch>
        </p:blipFill>
        <p:spPr>
          <a:xfrm>
            <a:off x="5676900" y="0"/>
            <a:ext cx="4381500" cy="7772400"/>
          </a:xfrm>
          <a:prstGeom prst="rect">
            <a:avLst/>
          </a:prstGeom>
        </p:spPr>
      </p:pic>
      <p:pic>
        <p:nvPicPr>
          <p:cNvPr id="5" name="Shade" descr="/tmp/claude-0/-home-claude-about/4bef2f41-4227-5ff7-ab18-11ac74cd9797/scratchpad/pptx/ex/media/b967cc30ffa5.png"/>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SECTOR BRIEF  |  Q4 2026</a:t>
            </a:r>
            <a:endParaRPr lang="en-US" sz="675" dirty="0"/>
          </a:p>
        </p:txBody>
      </p:sp>
      <p:sp>
        <p:nvSpPr>
          <p:cNvPr id="8" name="Text 7"/>
          <p:cNvSpPr txBox="1"/>
          <p:nvPr/>
        </p:nvSpPr>
        <p:spPr>
          <a:xfrm>
            <a:off x="571500" y="1428750"/>
            <a:ext cx="1169789"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01</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Insights</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Buyers of consumer businesses are paying for brands that have held price and volume, for companies that sell through more than one channel and for operators with room to add distribution or locations. They have stayed active while tariffs, fuel and interest rates have each changed what a buyer treats as normal earnings.</a:t>
            </a:r>
            <a:endParaRPr lang="en-US" sz="1013" dirty="0"/>
          </a:p>
        </p:txBody>
      </p:sp>
      <p:sp>
        <p:nvSpPr>
          <p:cNvPr id="12" name="Shape 11"/>
          <p:cNvSpPr/>
          <p:nvPr/>
        </p:nvSpPr>
        <p:spPr>
          <a:xfrm>
            <a:off x="609600" y="6781800"/>
            <a:ext cx="4476750" cy="9525"/>
          </a:xfrm>
          <a:prstGeom prst="rect">
            <a:avLst/>
          </a:prstGeom>
          <a:solidFill>
            <a:srgbClr val="D3AE84">
              <a:alpha val="28000"/>
            </a:srgbClr>
          </a:solidFill>
          <a:ln/>
        </p:spPr>
        <p:txBody>
          <a:bodyPr/>
          <a:lstStyle/>
          <a:p>
            <a:endParaRPr lang="en-US"/>
          </a:p>
        </p:txBody>
      </p:sp>
      <p:sp>
        <p:nvSpPr>
          <p:cNvPr id="13" name="Shape 12"/>
          <p:cNvSpPr/>
          <p:nvPr/>
        </p:nvSpPr>
        <p:spPr>
          <a:xfrm>
            <a:off x="609600" y="5295900"/>
            <a:ext cx="4476750" cy="9525"/>
          </a:xfrm>
          <a:prstGeom prst="rect">
            <a:avLst/>
          </a:prstGeom>
          <a:solidFill>
            <a:srgbClr val="D3AE84">
              <a:alpha val="28000"/>
            </a:srgbClr>
          </a:solidFill>
          <a:ln/>
        </p:spPr>
        <p:txBody>
          <a:bodyPr/>
          <a:lstStyle/>
          <a:p>
            <a:endParaRPr lang="en-US"/>
          </a:p>
        </p:txBody>
      </p:sp>
      <p:sp>
        <p:nvSpPr>
          <p:cNvPr id="14" name="Text 13"/>
          <p:cNvSpPr txBox="1"/>
          <p:nvPr/>
        </p:nvSpPr>
        <p:spPr>
          <a:xfrm>
            <a:off x="609600" y="54006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03</a:t>
            </a:r>
            <a:endParaRPr lang="en-US" sz="825" dirty="0"/>
          </a:p>
        </p:txBody>
      </p:sp>
      <p:sp>
        <p:nvSpPr>
          <p:cNvPr id="15" name="Text 14"/>
          <p:cNvSpPr txBox="1"/>
          <p:nvPr/>
        </p:nvSpPr>
        <p:spPr>
          <a:xfrm>
            <a:off x="971550" y="5386388"/>
            <a:ext cx="2053530"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Happening in consumer right now</a:t>
            </a:r>
            <a:endParaRPr lang="en-US" sz="975" dirty="0"/>
          </a:p>
        </p:txBody>
      </p:sp>
      <p:sp>
        <p:nvSpPr>
          <p:cNvPr id="16" name="Shape 15"/>
          <p:cNvSpPr/>
          <p:nvPr/>
        </p:nvSpPr>
        <p:spPr>
          <a:xfrm>
            <a:off x="609600" y="5667375"/>
            <a:ext cx="4476750" cy="9525"/>
          </a:xfrm>
          <a:prstGeom prst="rect">
            <a:avLst/>
          </a:prstGeom>
          <a:solidFill>
            <a:srgbClr val="D3AE84">
              <a:alpha val="28000"/>
            </a:srgbClr>
          </a:solidFill>
          <a:ln/>
        </p:spPr>
        <p:txBody>
          <a:bodyPr/>
          <a:lstStyle/>
          <a:p>
            <a:endParaRPr lang="en-US"/>
          </a:p>
        </p:txBody>
      </p:sp>
      <p:sp>
        <p:nvSpPr>
          <p:cNvPr id="17" name="Text 16"/>
          <p:cNvSpPr txBox="1"/>
          <p:nvPr/>
        </p:nvSpPr>
        <p:spPr>
          <a:xfrm>
            <a:off x="609600" y="577215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04</a:t>
            </a:r>
            <a:endParaRPr lang="en-US" sz="825" dirty="0"/>
          </a:p>
        </p:txBody>
      </p:sp>
      <p:sp>
        <p:nvSpPr>
          <p:cNvPr id="18" name="Text 17"/>
          <p:cNvSpPr txBox="1"/>
          <p:nvPr/>
        </p:nvSpPr>
        <p:spPr>
          <a:xfrm>
            <a:off x="971550" y="5757863"/>
            <a:ext cx="349493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Tariffs, fuel and financing: three costs buyers are repricing</a:t>
            </a:r>
            <a:endParaRPr lang="en-US" sz="975" dirty="0"/>
          </a:p>
        </p:txBody>
      </p:sp>
      <p:sp>
        <p:nvSpPr>
          <p:cNvPr id="19" name="Shape 18"/>
          <p:cNvSpPr/>
          <p:nvPr/>
        </p:nvSpPr>
        <p:spPr>
          <a:xfrm>
            <a:off x="609600" y="6038850"/>
            <a:ext cx="4476750" cy="9525"/>
          </a:xfrm>
          <a:prstGeom prst="rect">
            <a:avLst/>
          </a:prstGeom>
          <a:solidFill>
            <a:srgbClr val="D3AE84">
              <a:alpha val="28000"/>
            </a:srgbClr>
          </a:solidFill>
          <a:ln/>
        </p:spPr>
        <p:txBody>
          <a:bodyPr/>
          <a:lstStyle/>
          <a:p>
            <a:endParaRPr lang="en-US"/>
          </a:p>
        </p:txBody>
      </p:sp>
      <p:sp>
        <p:nvSpPr>
          <p:cNvPr id="20" name="Text 19"/>
          <p:cNvSpPr txBox="1"/>
          <p:nvPr/>
        </p:nvSpPr>
        <p:spPr>
          <a:xfrm>
            <a:off x="609600" y="614362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05</a:t>
            </a:r>
            <a:endParaRPr lang="en-US" sz="825" dirty="0"/>
          </a:p>
        </p:txBody>
      </p:sp>
      <p:sp>
        <p:nvSpPr>
          <p:cNvPr id="21" name="Text 20"/>
          <p:cNvSpPr txBox="1"/>
          <p:nvPr/>
        </p:nvSpPr>
        <p:spPr>
          <a:xfrm>
            <a:off x="971550" y="6129338"/>
            <a:ext cx="249421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Perspectives on four consumer segments</a:t>
            </a:r>
            <a:endParaRPr lang="en-US" sz="975" dirty="0"/>
          </a:p>
        </p:txBody>
      </p:sp>
      <p:sp>
        <p:nvSpPr>
          <p:cNvPr id="22" name="Shape 21"/>
          <p:cNvSpPr/>
          <p:nvPr/>
        </p:nvSpPr>
        <p:spPr>
          <a:xfrm>
            <a:off x="609600" y="6410325"/>
            <a:ext cx="4476750" cy="9525"/>
          </a:xfrm>
          <a:prstGeom prst="rect">
            <a:avLst/>
          </a:prstGeom>
          <a:solidFill>
            <a:srgbClr val="D3AE84">
              <a:alpha val="28000"/>
            </a:srgbClr>
          </a:solidFill>
          <a:ln/>
        </p:spPr>
        <p:txBody>
          <a:bodyPr/>
          <a:lstStyle/>
          <a:p>
            <a:endParaRPr lang="en-US"/>
          </a:p>
        </p:txBody>
      </p:sp>
      <p:sp>
        <p:nvSpPr>
          <p:cNvPr id="23" name="Text 22"/>
          <p:cNvSpPr txBox="1"/>
          <p:nvPr/>
        </p:nvSpPr>
        <p:spPr>
          <a:xfrm>
            <a:off x="609600" y="651510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06</a:t>
            </a:r>
            <a:endParaRPr lang="en-US" sz="825" dirty="0"/>
          </a:p>
        </p:txBody>
      </p:sp>
      <p:sp>
        <p:nvSpPr>
          <p:cNvPr id="24" name="Text 23"/>
          <p:cNvSpPr txBox="1"/>
          <p:nvPr/>
        </p:nvSpPr>
        <p:spPr>
          <a:xfrm>
            <a:off x="971550" y="6500813"/>
            <a:ext cx="120893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What we’re reading</a:t>
            </a:r>
            <a:endParaRPr lang="en-US" sz="975" dirty="0"/>
          </a:p>
        </p:txBody>
      </p:sp>
      <p:pic>
        <p:nvPicPr>
          <p:cNvPr id="25"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6" name="Text 25"/>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Happening in Consumer Right Now</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Four developments shaping the market, each with what a listed company’s management said about it in its latest results.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47900" cy="5695950"/>
          </a:xfrm>
          <a:prstGeom prst="rect">
            <a:avLst/>
          </a:prstGeom>
          <a:solidFill>
            <a:srgbClr val="1B1A1A"/>
          </a:solidFill>
          <a:ln/>
        </p:spPr>
        <p:txBody>
          <a:bodyPr/>
          <a:lstStyle/>
          <a:p>
            <a:endParaRPr lang="en-US"/>
          </a:p>
        </p:txBody>
      </p:sp>
      <p:pic>
        <p:nvPicPr>
          <p:cNvPr id="10" name="Fresh produce on a market stall" descr="Fresh produce on a market stall"/>
          <p:cNvPicPr>
            <a:picLocks noChangeAspect="1"/>
          </p:cNvPicPr>
          <p:nvPr/>
        </p:nvPicPr>
        <p:blipFill>
          <a:blip r:embed="rId3"/>
          <a:stretch>
            <a:fillRect/>
          </a:stretch>
        </p:blipFill>
        <p:spPr>
          <a:xfrm>
            <a:off x="419100" y="1238250"/>
            <a:ext cx="2247900" cy="2495550"/>
          </a:xfrm>
          <a:prstGeom prst="rect">
            <a:avLst/>
          </a:prstGeom>
        </p:spPr>
      </p:pic>
      <p:sp>
        <p:nvSpPr>
          <p:cNvPr id="11" name="Shape 10"/>
          <p:cNvSpPr/>
          <p:nvPr/>
        </p:nvSpPr>
        <p:spPr>
          <a:xfrm>
            <a:off x="419100" y="3705225"/>
            <a:ext cx="2247900" cy="28575"/>
          </a:xfrm>
          <a:prstGeom prst="rect">
            <a:avLst/>
          </a:prstGeom>
          <a:solidFill>
            <a:srgbClr val="B68757"/>
          </a:solidFill>
          <a:ln/>
        </p:spPr>
        <p:txBody>
          <a:bodyPr/>
          <a:lstStyle/>
          <a:p>
            <a:endParaRPr lang="en-US"/>
          </a:p>
        </p:txBody>
      </p:sp>
      <p:sp>
        <p:nvSpPr>
          <p:cNvPr id="12" name="Text 11"/>
          <p:cNvSpPr txBox="1"/>
          <p:nvPr/>
        </p:nvSpPr>
        <p:spPr>
          <a:xfrm>
            <a:off x="628650" y="3938588"/>
            <a:ext cx="185291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D3AE84"/>
                </a:solidFill>
                <a:latin typeface="Quicksand" pitchFamily="34" charset="0"/>
              </a:rPr>
              <a:t>WHAT IT MEANS FOR OWNERS</a:t>
            </a:r>
            <a:endParaRPr lang="en-US" sz="675" dirty="0"/>
          </a:p>
        </p:txBody>
      </p:sp>
      <p:sp>
        <p:nvSpPr>
          <p:cNvPr id="13" name="Text 12"/>
          <p:cNvSpPr txBox="1"/>
          <p:nvPr/>
        </p:nvSpPr>
        <p:spPr>
          <a:xfrm>
            <a:off x="628650" y="4186238"/>
            <a:ext cx="1843088" cy="1533525"/>
          </a:xfrm>
          <a:prstGeom prst="rect">
            <a:avLst/>
          </a:prstGeom>
          <a:noFill/>
          <a:ln/>
        </p:spPr>
        <p:txBody>
          <a:bodyPr wrap="square" lIns="0" tIns="0" rIns="0" bIns="0" rtlCol="0" anchor="t"/>
          <a:lstStyle/>
          <a:p>
            <a:pPr marL="0" indent="0" algn="l">
              <a:lnSpc>
                <a:spcPts val="1725"/>
              </a:lnSpc>
              <a:buNone/>
            </a:pPr>
            <a:r>
              <a:rPr lang="en-US" sz="1200" i="1" kern="0" spc="15" dirty="0">
                <a:solidFill>
                  <a:srgbClr val="FFFFFF"/>
                </a:solidFill>
                <a:latin typeface="Newsreader Medium" pitchFamily="34" charset="0"/>
              </a:rPr>
              <a:t>Buyers are paying for brands and operators that have held price and volume, that sell through more than one channel and that have room to add distribution or locations.</a:t>
            </a:r>
            <a:endParaRPr lang="en-US" sz="1200" dirty="0"/>
          </a:p>
        </p:txBody>
      </p:sp>
      <p:sp>
        <p:nvSpPr>
          <p:cNvPr id="14" name="Text 13"/>
          <p:cNvSpPr txBox="1"/>
          <p:nvPr/>
        </p:nvSpPr>
        <p:spPr>
          <a:xfrm>
            <a:off x="628650" y="5855494"/>
            <a:ext cx="1843088" cy="942975"/>
          </a:xfrm>
          <a:prstGeom prst="rect">
            <a:avLst/>
          </a:prstGeom>
          <a:noFill/>
          <a:ln/>
        </p:spPr>
        <p:txBody>
          <a:bodyPr wrap="square" lIns="0" tIns="0" rIns="0" bIns="0" rtlCol="0" anchor="t"/>
          <a:lstStyle/>
          <a:p>
            <a:pPr marL="0" indent="0" algn="l">
              <a:lnSpc>
                <a:spcPts val="1238"/>
              </a:lnSpc>
              <a:buNone/>
            </a:pPr>
            <a:r>
              <a:rPr lang="en-US" sz="825" kern="0" spc="15" dirty="0">
                <a:solidFill>
                  <a:srgbClr val="E8E2DA"/>
                </a:solidFill>
                <a:latin typeface="Quicksand" pitchFamily="34" charset="0"/>
              </a:rPr>
              <a:t>An owner who can show price increases by product or service line, with unit volume and customer retention beside them, gives a buyer the evidence that supports a higher valuation.</a:t>
            </a:r>
            <a:endParaRPr lang="en-US" sz="825" dirty="0"/>
          </a:p>
        </p:txBody>
      </p:sp>
      <p:sp>
        <p:nvSpPr>
          <p:cNvPr id="15" name="Dot 14"/>
          <p:cNvSpPr/>
          <p:nvPr/>
        </p:nvSpPr>
        <p:spPr>
          <a:xfrm>
            <a:off x="2876550" y="1756172"/>
            <a:ext cx="381000" cy="381000"/>
          </a:xfrm>
          <a:prstGeom prst="ellipse">
            <a:avLst/>
          </a:prstGeom>
          <a:solidFill>
            <a:srgbClr val="1B1A1A"/>
          </a:solidFill>
          <a:ln/>
        </p:spPr>
        <p:txBody>
          <a:bodyPr/>
          <a:lstStyle/>
          <a:p>
            <a:endParaRPr lang="en-US"/>
          </a:p>
        </p:txBody>
      </p:sp>
      <p:pic>
        <p:nvPicPr>
          <p:cNvPr id="16" name="Icon" descr="/tmp/claude-0/-home-claude-about/4bef2f41-4227-5ff7-ab18-11ac74cd9797/scratchpad/pptx/ex/media/1a2bb4c623c9.png"/>
          <p:cNvPicPr>
            <a:picLocks noChangeAspect="1"/>
          </p:cNvPicPr>
          <p:nvPr/>
        </p:nvPicPr>
        <p:blipFill>
          <a:blip r:embed="rId4"/>
          <a:stretch>
            <a:fillRect/>
          </a:stretch>
        </p:blipFill>
        <p:spPr>
          <a:xfrm>
            <a:off x="2971800" y="1851422"/>
            <a:ext cx="190500" cy="190500"/>
          </a:xfrm>
          <a:prstGeom prst="rect">
            <a:avLst/>
          </a:prstGeom>
        </p:spPr>
      </p:pic>
      <p:sp>
        <p:nvSpPr>
          <p:cNvPr id="17" name="Text 16"/>
          <p:cNvSpPr txBox="1"/>
          <p:nvPr/>
        </p:nvSpPr>
        <p:spPr>
          <a:xfrm>
            <a:off x="3409950" y="1484561"/>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Brands are being sorted by whether volume follows price</a:t>
            </a:r>
            <a:endParaRPr lang="en-US" sz="975" dirty="0"/>
          </a:p>
        </p:txBody>
      </p:sp>
      <p:sp>
        <p:nvSpPr>
          <p:cNvPr id="18" name="Text 17"/>
          <p:cNvSpPr txBox="1"/>
          <p:nvPr/>
        </p:nvSpPr>
        <p:spPr>
          <a:xfrm>
            <a:off x="3409950" y="1678871"/>
            <a:ext cx="3905631"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Hershey’s organic sales rose 3.6% in the second quarter on about 12 points of price and an 8-point decline in volume, while Church &amp; Dwight grew organic sales 5.8% with volume up 4.3%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Hershey</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Church &amp; Dwight</a:t>
            </a:r>
            <a:r>
              <a:rPr lang="en-US" sz="795" kern="0" spc="15" dirty="0">
                <a:solidFill>
                  <a:srgbClr val="333231"/>
                </a:solidFill>
                <a:latin typeface="Quicksand" pitchFamily="34" charset="0"/>
              </a:rPr>
              <a:t>). General Mills reported flat organic sales with volume down a point, and store brands reached a record 23.8% of units sold in the first half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PLMA</a:t>
            </a:r>
            <a:r>
              <a:rPr lang="en-US" sz="795" kern="0" spc="15" dirty="0">
                <a:solidFill>
                  <a:srgbClr val="333231"/>
                </a:solidFill>
                <a:latin typeface="Quicksand" pitchFamily="34" charset="0"/>
              </a:rPr>
              <a:t>).</a:t>
            </a:r>
            <a:endParaRPr lang="en-US" sz="795" dirty="0"/>
          </a:p>
        </p:txBody>
      </p:sp>
      <p:sp>
        <p:nvSpPr>
          <p:cNvPr id="19" name="Shape 18"/>
          <p:cNvSpPr/>
          <p:nvPr/>
        </p:nvSpPr>
        <p:spPr>
          <a:xfrm>
            <a:off x="7448550" y="1410891"/>
            <a:ext cx="19050" cy="1071563"/>
          </a:xfrm>
          <a:prstGeom prst="rect">
            <a:avLst/>
          </a:prstGeom>
          <a:solidFill>
            <a:srgbClr val="B68757"/>
          </a:solidFill>
          <a:ln/>
        </p:spPr>
        <p:txBody>
          <a:bodyPr/>
          <a:lstStyle/>
          <a:p>
            <a:endParaRPr lang="en-US"/>
          </a:p>
        </p:txBody>
      </p:sp>
      <p:sp>
        <p:nvSpPr>
          <p:cNvPr id="20" name="Text 19"/>
          <p:cNvSpPr txBox="1"/>
          <p:nvPr/>
        </p:nvSpPr>
        <p:spPr>
          <a:xfrm>
            <a:off x="7600950" y="1408509"/>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“Our power brands continued to perform exceptionally well in a challenging macroeconomic environment, driving a second straight quarter of industry-leading organic sales growth.”</a:t>
            </a:r>
            <a:endParaRPr lang="en-US" sz="900" dirty="0"/>
          </a:p>
        </p:txBody>
      </p:sp>
      <p:sp>
        <p:nvSpPr>
          <p:cNvPr id="21" name="Text 20"/>
          <p:cNvSpPr txBox="1"/>
          <p:nvPr/>
        </p:nvSpPr>
        <p:spPr>
          <a:xfrm>
            <a:off x="7600950" y="2237184"/>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Rick Dierker, Chief Executive Officer, Church &amp; Dwight</a:t>
            </a:r>
            <a:endParaRPr lang="en-US" sz="660" dirty="0"/>
          </a:p>
        </p:txBody>
      </p:sp>
      <p:sp>
        <p:nvSpPr>
          <p:cNvPr id="22" name="Shape 21"/>
          <p:cNvSpPr/>
          <p:nvPr/>
        </p:nvSpPr>
        <p:spPr>
          <a:xfrm>
            <a:off x="2876550" y="2655094"/>
            <a:ext cx="6762750" cy="9525"/>
          </a:xfrm>
          <a:prstGeom prst="rect">
            <a:avLst/>
          </a:prstGeom>
          <a:solidFill>
            <a:srgbClr val="E3DCD3"/>
          </a:solidFill>
          <a:ln/>
        </p:spPr>
        <p:txBody>
          <a:bodyPr/>
          <a:lstStyle/>
          <a:p>
            <a:endParaRPr lang="en-US"/>
          </a:p>
        </p:txBody>
      </p:sp>
      <p:sp>
        <p:nvSpPr>
          <p:cNvPr id="23" name="Dot 22"/>
          <p:cNvSpPr/>
          <p:nvPr/>
        </p:nvSpPr>
        <p:spPr>
          <a:xfrm>
            <a:off x="2876550" y="3182541"/>
            <a:ext cx="381000" cy="381000"/>
          </a:xfrm>
          <a:prstGeom prst="ellipse">
            <a:avLst/>
          </a:prstGeom>
          <a:solidFill>
            <a:srgbClr val="1B1A1A"/>
          </a:solidFill>
          <a:ln/>
        </p:spPr>
        <p:txBody>
          <a:bodyPr/>
          <a:lstStyle/>
          <a:p>
            <a:endParaRPr lang="en-US"/>
          </a:p>
        </p:txBody>
      </p:sp>
      <p:pic>
        <p:nvPicPr>
          <p:cNvPr id="24" name="Icon" descr="/tmp/claude-0/-home-claude-about/4bef2f41-4227-5ff7-ab18-11ac74cd9797/scratchpad/pptx/ex/media/c842de1b9991.png"/>
          <p:cNvPicPr>
            <a:picLocks noChangeAspect="1"/>
          </p:cNvPicPr>
          <p:nvPr/>
        </p:nvPicPr>
        <p:blipFill>
          <a:blip r:embed="rId9"/>
          <a:stretch>
            <a:fillRect/>
          </a:stretch>
        </p:blipFill>
        <p:spPr>
          <a:xfrm>
            <a:off x="2971800" y="3277791"/>
            <a:ext cx="190500" cy="190500"/>
          </a:xfrm>
          <a:prstGeom prst="rect">
            <a:avLst/>
          </a:prstGeom>
        </p:spPr>
      </p:pic>
      <p:sp>
        <p:nvSpPr>
          <p:cNvPr id="25" name="Text 24"/>
          <p:cNvSpPr txBox="1"/>
          <p:nvPr/>
        </p:nvSpPr>
        <p:spPr>
          <a:xfrm>
            <a:off x="3409950" y="2910929"/>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Growth is arriving through more than one channel</a:t>
            </a:r>
            <a:endParaRPr lang="en-US" sz="975" dirty="0"/>
          </a:p>
        </p:txBody>
      </p:sp>
      <p:sp>
        <p:nvSpPr>
          <p:cNvPr id="26" name="Text 25"/>
          <p:cNvSpPr txBox="1"/>
          <p:nvPr/>
        </p:nvSpPr>
        <p:spPr>
          <a:xfrm>
            <a:off x="3409950" y="3105239"/>
            <a:ext cx="3905631"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E-commerce reached $340.2 billion in the second quarter, or 17.1% of retail sales, and Walmart’s global e-commerce sales grew 23% in its July quarter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Census Bureau</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Walmart</a:t>
            </a:r>
            <a:r>
              <a:rPr lang="en-US" sz="795" kern="0" spc="15" dirty="0">
                <a:solidFill>
                  <a:srgbClr val="333231"/>
                </a:solidFill>
                <a:latin typeface="Quicksand" pitchFamily="34" charset="0"/>
              </a:rPr>
              <a:t>). YETI grew wholesale sales 10% and direct-to-consumer sales 7% in its second quarter, and General Mills’ foodservice business grew organic sales 4% while the company’s total organic sales were flat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YETI</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a:t>
            </a:r>
            <a:endParaRPr lang="en-US" sz="795" dirty="0"/>
          </a:p>
        </p:txBody>
      </p:sp>
      <p:sp>
        <p:nvSpPr>
          <p:cNvPr id="27" name="Shape 26"/>
          <p:cNvSpPr/>
          <p:nvPr/>
        </p:nvSpPr>
        <p:spPr>
          <a:xfrm>
            <a:off x="7448550" y="2837259"/>
            <a:ext cx="19050" cy="1071563"/>
          </a:xfrm>
          <a:prstGeom prst="rect">
            <a:avLst/>
          </a:prstGeom>
          <a:solidFill>
            <a:srgbClr val="B68757"/>
          </a:solidFill>
          <a:ln/>
        </p:spPr>
        <p:txBody>
          <a:bodyPr/>
          <a:lstStyle/>
          <a:p>
            <a:endParaRPr lang="en-US"/>
          </a:p>
        </p:txBody>
      </p:sp>
      <p:sp>
        <p:nvSpPr>
          <p:cNvPr id="28" name="Text 27"/>
          <p:cNvSpPr txBox="1"/>
          <p:nvPr/>
        </p:nvSpPr>
        <p:spPr>
          <a:xfrm>
            <a:off x="7600950" y="2834878"/>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also saw continued progress across our omni-channel model, including strong wholesale sell-through, healthy DTC demand and improving trends in Corporate Sales.”</a:t>
            </a:r>
            <a:endParaRPr lang="en-US" sz="900" dirty="0"/>
          </a:p>
        </p:txBody>
      </p:sp>
      <p:sp>
        <p:nvSpPr>
          <p:cNvPr id="29" name="Text 28"/>
          <p:cNvSpPr txBox="1"/>
          <p:nvPr/>
        </p:nvSpPr>
        <p:spPr>
          <a:xfrm>
            <a:off x="7600950" y="3663553"/>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Matt Reintjes, Chair of the Board and Chief Executive Officer, YETI</a:t>
            </a:r>
            <a:endParaRPr lang="en-US" sz="660" dirty="0"/>
          </a:p>
        </p:txBody>
      </p:sp>
      <p:sp>
        <p:nvSpPr>
          <p:cNvPr id="30" name="Shape 29"/>
          <p:cNvSpPr/>
          <p:nvPr/>
        </p:nvSpPr>
        <p:spPr>
          <a:xfrm>
            <a:off x="2876550" y="4081463"/>
            <a:ext cx="6762750" cy="9525"/>
          </a:xfrm>
          <a:prstGeom prst="rect">
            <a:avLst/>
          </a:prstGeom>
          <a:solidFill>
            <a:srgbClr val="E3DCD3"/>
          </a:solidFill>
          <a:ln/>
        </p:spPr>
        <p:txBody>
          <a:bodyPr/>
          <a:lstStyle/>
          <a:p>
            <a:endParaRPr lang="en-US"/>
          </a:p>
        </p:txBody>
      </p:sp>
      <p:sp>
        <p:nvSpPr>
          <p:cNvPr id="31" name="Dot 30"/>
          <p:cNvSpPr/>
          <p:nvPr/>
        </p:nvSpPr>
        <p:spPr>
          <a:xfrm>
            <a:off x="2876550" y="4608909"/>
            <a:ext cx="381000" cy="381000"/>
          </a:xfrm>
          <a:prstGeom prst="ellipse">
            <a:avLst/>
          </a:prstGeom>
          <a:solidFill>
            <a:srgbClr val="1B1A1A"/>
          </a:solidFill>
          <a:ln/>
        </p:spPr>
        <p:txBody>
          <a:bodyPr/>
          <a:lstStyle/>
          <a:p>
            <a:endParaRPr lang="en-US"/>
          </a:p>
        </p:txBody>
      </p:sp>
      <p:pic>
        <p:nvPicPr>
          <p:cNvPr id="32" name="Icon" descr="/tmp/claude-0/-home-claude-about/4bef2f41-4227-5ff7-ab18-11ac74cd9797/scratchpad/pptx/ex/media/7f896b401a11.png"/>
          <p:cNvPicPr>
            <a:picLocks noChangeAspect="1"/>
          </p:cNvPicPr>
          <p:nvPr/>
        </p:nvPicPr>
        <p:blipFill>
          <a:blip r:embed="rId13"/>
          <a:stretch>
            <a:fillRect/>
          </a:stretch>
        </p:blipFill>
        <p:spPr>
          <a:xfrm>
            <a:off x="2971800" y="4704159"/>
            <a:ext cx="190500" cy="190500"/>
          </a:xfrm>
          <a:prstGeom prst="rect">
            <a:avLst/>
          </a:prstGeom>
        </p:spPr>
      </p:pic>
      <p:sp>
        <p:nvSpPr>
          <p:cNvPr id="33" name="Text 32"/>
          <p:cNvSpPr txBox="1"/>
          <p:nvPr/>
        </p:nvSpPr>
        <p:spPr>
          <a:xfrm>
            <a:off x="3409950" y="4192488"/>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Strategic acquirers are reshaping portfolios at scale</a:t>
            </a:r>
            <a:endParaRPr lang="en-US" sz="975" dirty="0"/>
          </a:p>
        </p:txBody>
      </p:sp>
      <p:sp>
        <p:nvSpPr>
          <p:cNvPr id="34" name="Text 33"/>
          <p:cNvSpPr txBox="1"/>
          <p:nvPr/>
        </p:nvSpPr>
        <p:spPr>
          <a:xfrm>
            <a:off x="3409950" y="4386798"/>
            <a:ext cx="3905631" cy="101363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Kimberly-Clark, McCormick and Sysco have committed more than $120 billion to three transactions since November 2025 (</a:t>
            </a:r>
            <a:r>
              <a:rPr lang="en-US" sz="795"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Kenvue</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Unilever’s food business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Jetro Restaurant Depot</a:t>
            </a:r>
            <a:r>
              <a:rPr lang="en-US" sz="795" kern="0" spc="15" dirty="0">
                <a:solidFill>
                  <a:srgbClr val="333231"/>
                </a:solidFill>
                <a:latin typeface="Quicksand" pitchFamily="34" charset="0"/>
              </a:rPr>
              <a:t>). The largest companies are also selling and separating businesses: General Mills completed the sale of its Brazil business on September 2, Keurig Dr Pepper is preparing to separate in early 2027, and Middleby spun off its food processing business in July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Keurig Dr Pepper</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Middleby</a:t>
            </a:r>
            <a:r>
              <a:rPr lang="en-US" sz="795" kern="0" spc="15" dirty="0">
                <a:solidFill>
                  <a:srgbClr val="333231"/>
                </a:solidFill>
                <a:latin typeface="Quicksand" pitchFamily="34" charset="0"/>
              </a:rPr>
              <a:t>).</a:t>
            </a:r>
            <a:endParaRPr lang="en-US" sz="795" dirty="0"/>
          </a:p>
        </p:txBody>
      </p:sp>
      <p:sp>
        <p:nvSpPr>
          <p:cNvPr id="35" name="Shape 34"/>
          <p:cNvSpPr/>
          <p:nvPr/>
        </p:nvSpPr>
        <p:spPr>
          <a:xfrm>
            <a:off x="7448550" y="4263628"/>
            <a:ext cx="19050" cy="1071563"/>
          </a:xfrm>
          <a:prstGeom prst="rect">
            <a:avLst/>
          </a:prstGeom>
          <a:solidFill>
            <a:srgbClr val="B68757"/>
          </a:solidFill>
          <a:ln/>
        </p:spPr>
        <p:txBody>
          <a:bodyPr/>
          <a:lstStyle/>
          <a:p>
            <a:endParaRPr lang="en-US"/>
          </a:p>
        </p:txBody>
      </p:sp>
      <p:sp>
        <p:nvSpPr>
          <p:cNvPr id="36" name="Text 35"/>
          <p:cNvSpPr txBox="1"/>
          <p:nvPr/>
        </p:nvSpPr>
        <p:spPr>
          <a:xfrm>
            <a:off x="7600950" y="4261247"/>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remain confident in the strategic benefits of the proposed combination with Unilever Foods and have made substantial progress on integration planning.”</a:t>
            </a:r>
            <a:endParaRPr lang="en-US" sz="900" dirty="0"/>
          </a:p>
        </p:txBody>
      </p:sp>
      <p:sp>
        <p:nvSpPr>
          <p:cNvPr id="37" name="Text 36"/>
          <p:cNvSpPr txBox="1"/>
          <p:nvPr/>
        </p:nvSpPr>
        <p:spPr>
          <a:xfrm>
            <a:off x="7600950" y="5089922"/>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Brendan M. Foley, Chairman, President and CEO, McCormick</a:t>
            </a:r>
            <a:endParaRPr lang="en-US" sz="660" dirty="0"/>
          </a:p>
        </p:txBody>
      </p:sp>
      <p:sp>
        <p:nvSpPr>
          <p:cNvPr id="38" name="Shape 37"/>
          <p:cNvSpPr/>
          <p:nvPr/>
        </p:nvSpPr>
        <p:spPr>
          <a:xfrm>
            <a:off x="2876550" y="5507831"/>
            <a:ext cx="6762750" cy="9525"/>
          </a:xfrm>
          <a:prstGeom prst="rect">
            <a:avLst/>
          </a:prstGeom>
          <a:solidFill>
            <a:srgbClr val="E3DCD3"/>
          </a:solidFill>
          <a:ln/>
        </p:spPr>
        <p:txBody>
          <a:bodyPr/>
          <a:lstStyle/>
          <a:p>
            <a:endParaRPr lang="en-US"/>
          </a:p>
        </p:txBody>
      </p:sp>
      <p:sp>
        <p:nvSpPr>
          <p:cNvPr id="39" name="Dot 38"/>
          <p:cNvSpPr/>
          <p:nvPr/>
        </p:nvSpPr>
        <p:spPr>
          <a:xfrm>
            <a:off x="2876550" y="6035278"/>
            <a:ext cx="381000" cy="381000"/>
          </a:xfrm>
          <a:prstGeom prst="ellipse">
            <a:avLst/>
          </a:prstGeom>
          <a:solidFill>
            <a:srgbClr val="1B1A1A"/>
          </a:solidFill>
          <a:ln/>
        </p:spPr>
        <p:txBody>
          <a:bodyPr/>
          <a:lstStyle/>
          <a:p>
            <a:endParaRPr lang="en-US"/>
          </a:p>
        </p:txBody>
      </p:sp>
      <p:pic>
        <p:nvPicPr>
          <p:cNvPr id="40" name="Icon" descr="/tmp/claude-0/-home-claude-about/4bef2f41-4227-5ff7-ab18-11ac74cd9797/scratchpad/pptx/ex/media/824067d0c0ab.png"/>
          <p:cNvPicPr>
            <a:picLocks noChangeAspect="1"/>
          </p:cNvPicPr>
          <p:nvPr/>
        </p:nvPicPr>
        <p:blipFill>
          <a:blip r:embed="rId19"/>
          <a:stretch>
            <a:fillRect/>
          </a:stretch>
        </p:blipFill>
        <p:spPr>
          <a:xfrm>
            <a:off x="2971800" y="6130528"/>
            <a:ext cx="190500" cy="190500"/>
          </a:xfrm>
          <a:prstGeom prst="rect">
            <a:avLst/>
          </a:prstGeom>
        </p:spPr>
      </p:pic>
      <p:sp>
        <p:nvSpPr>
          <p:cNvPr id="41" name="Text 40"/>
          <p:cNvSpPr txBox="1"/>
          <p:nvPr/>
        </p:nvSpPr>
        <p:spPr>
          <a:xfrm>
            <a:off x="3409950" y="5691336"/>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Multi-site platforms keep adding locations</a:t>
            </a:r>
            <a:endParaRPr lang="en-US" sz="975" dirty="0"/>
          </a:p>
        </p:txBody>
      </p:sp>
      <p:sp>
        <p:nvSpPr>
          <p:cNvPr id="42" name="Text 41"/>
          <p:cNvSpPr txBox="1"/>
          <p:nvPr/>
        </p:nvSpPr>
        <p:spPr>
          <a:xfrm>
            <a:off x="3409950" y="5885646"/>
            <a:ext cx="3905631"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Add-on acquisitions made up about 75% of US private equity buyouts in the second quarter (</a:t>
            </a:r>
            <a:r>
              <a:rPr lang="en-US" sz="795"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PitchBook</a:t>
            </a:r>
            <a:r>
              <a:rPr lang="en-US" sz="795" kern="0" spc="15" dirty="0">
                <a:solidFill>
                  <a:srgbClr val="333231"/>
                </a:solidFill>
                <a:latin typeface="Quicksand" pitchFamily="34" charset="0"/>
              </a:rPr>
              <a:t>). Boyd Group’s second-quarter sales rose 29.9%, mostly from new locations that include the 258 Joe Hudson’s collision centers it bought in January. Tidal Wave Auto Spa reached 332 car wash locations in September, and SPS PoolCare had completed 191 acquisitions since 2021 by January (</a:t>
            </a:r>
            <a:r>
              <a:rPr lang="en-US" sz="795"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Boyd Group</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22">
                  <a:extLst>
                    <a:ext uri="{A12FA001-AC4F-418D-AE19-62706E023703}">
                      <ahyp:hlinkClr xmlns:ahyp="http://schemas.microsoft.com/office/drawing/2018/hyperlinkcolor" val="tx"/>
                    </a:ext>
                  </a:extLst>
                </a:hlinkClick>
              </a:rPr>
              <a:t>Tidal Wave Auto Spa</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23">
                  <a:extLst>
                    <a:ext uri="{A12FA001-AC4F-418D-AE19-62706E023703}">
                      <ahyp:hlinkClr xmlns:ahyp="http://schemas.microsoft.com/office/drawing/2018/hyperlinkcolor" val="tx"/>
                    </a:ext>
                  </a:extLst>
                </a:hlinkClick>
              </a:rPr>
              <a:t>SPS PoolCare</a:t>
            </a:r>
            <a:r>
              <a:rPr lang="en-US" sz="795" kern="0" spc="15" dirty="0">
                <a:solidFill>
                  <a:srgbClr val="333231"/>
                </a:solidFill>
                <a:latin typeface="Quicksand" pitchFamily="34" charset="0"/>
              </a:rPr>
              <a:t>).</a:t>
            </a:r>
            <a:endParaRPr lang="en-US" sz="795" dirty="0"/>
          </a:p>
        </p:txBody>
      </p:sp>
      <p:sp>
        <p:nvSpPr>
          <p:cNvPr id="43" name="Shape 42"/>
          <p:cNvSpPr/>
          <p:nvPr/>
        </p:nvSpPr>
        <p:spPr>
          <a:xfrm>
            <a:off x="7448550" y="5749528"/>
            <a:ext cx="19050" cy="952500"/>
          </a:xfrm>
          <a:prstGeom prst="rect">
            <a:avLst/>
          </a:prstGeom>
          <a:solidFill>
            <a:srgbClr val="B68757"/>
          </a:solidFill>
          <a:ln/>
        </p:spPr>
        <p:txBody>
          <a:bodyPr/>
          <a:lstStyle/>
          <a:p>
            <a:endParaRPr lang="en-US"/>
          </a:p>
        </p:txBody>
      </p:sp>
      <p:sp>
        <p:nvSpPr>
          <p:cNvPr id="44" name="Text 43"/>
          <p:cNvSpPr txBox="1"/>
          <p:nvPr/>
        </p:nvSpPr>
        <p:spPr>
          <a:xfrm>
            <a:off x="7600950" y="5747147"/>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also successfully completed the conversion of Joe Hudson’s 258 locations during the quarter, accelerating synergy realization, which contributed to the strength in our profitability.”</a:t>
            </a:r>
            <a:endParaRPr lang="en-US" sz="900" dirty="0"/>
          </a:p>
        </p:txBody>
      </p:sp>
      <p:sp>
        <p:nvSpPr>
          <p:cNvPr id="45" name="Text 44"/>
          <p:cNvSpPr txBox="1"/>
          <p:nvPr/>
        </p:nvSpPr>
        <p:spPr>
          <a:xfrm>
            <a:off x="7600950" y="6575822"/>
            <a:ext cx="2038350" cy="119063"/>
          </a:xfrm>
          <a:prstGeom prst="rect">
            <a:avLst/>
          </a:prstGeom>
          <a:noFill/>
          <a:ln/>
        </p:spPr>
        <p:txBody>
          <a:bodyPr wrap="none" lIns="0" tIns="0" rIns="0" bIns="0" rtlCol="0" anchor="t"/>
          <a:lstStyle/>
          <a:p>
            <a:pPr marL="0" indent="0" algn="l">
              <a:lnSpc>
                <a:spcPts val="938"/>
              </a:lnSpc>
              <a:buNone/>
            </a:pPr>
            <a:r>
              <a:rPr lang="en-US" sz="660" kern="0" spc="15" dirty="0">
                <a:solidFill>
                  <a:srgbClr val="6F6A66"/>
                </a:solidFill>
                <a:latin typeface="Quicksand" pitchFamily="34" charset="0"/>
              </a:rPr>
              <a:t>Brian Kaner, President &amp; CEO, Boyd Group</a:t>
            </a:r>
            <a:endParaRPr lang="en-US" sz="660" dirty="0"/>
          </a:p>
        </p:txBody>
      </p:sp>
      <p:sp>
        <p:nvSpPr>
          <p:cNvPr id="46" name="Shape 45"/>
          <p:cNvSpPr/>
          <p:nvPr/>
        </p:nvSpPr>
        <p:spPr>
          <a:xfrm>
            <a:off x="419100" y="7029450"/>
            <a:ext cx="9220200" cy="9525"/>
          </a:xfrm>
          <a:prstGeom prst="rect">
            <a:avLst/>
          </a:prstGeom>
          <a:solidFill>
            <a:srgbClr val="E3DCD3"/>
          </a:solidFill>
          <a:ln/>
        </p:spPr>
        <p:txBody>
          <a:bodyPr/>
          <a:lstStyle/>
          <a:p>
            <a:endParaRPr lang="en-US"/>
          </a:p>
        </p:txBody>
      </p:sp>
      <p:pic>
        <p:nvPicPr>
          <p:cNvPr id="47" name="Benchmark International" descr="Benchmark International"/>
          <p:cNvPicPr>
            <a:picLocks noChangeAspect="1"/>
          </p:cNvPicPr>
          <p:nvPr/>
        </p:nvPicPr>
        <p:blipFill>
          <a:blip r:embed="rId24"/>
          <a:stretch>
            <a:fillRect/>
          </a:stretch>
        </p:blipFill>
        <p:spPr>
          <a:xfrm>
            <a:off x="419100" y="7143750"/>
            <a:ext cx="914400" cy="171450"/>
          </a:xfrm>
          <a:prstGeom prst="rect">
            <a:avLst/>
          </a:prstGeom>
        </p:spPr>
      </p:pic>
      <p:sp>
        <p:nvSpPr>
          <p:cNvPr id="48" name="Text 4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Company figures and quotations are from quarterly earnings releases filed between July 30 and October 1, 2026, and quotations are reproduced as published. Store brand share is Circana data for the six months to June 14, 2026. Platform location and acquisition counts are from the linked announcements.</a:t>
            </a:r>
            <a:endParaRPr lang="en-US" sz="675" dirty="0"/>
          </a:p>
        </p:txBody>
      </p:sp>
      <p:sp>
        <p:nvSpPr>
          <p:cNvPr id="49" name="Text 48"/>
          <p:cNvSpPr txBox="1"/>
          <p:nvPr/>
        </p:nvSpPr>
        <p:spPr>
          <a:xfrm>
            <a:off x="9497020" y="7162800"/>
            <a:ext cx="199430"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03</a:t>
            </a:r>
            <a:endParaRPr lang="en-US" sz="713"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Tariffs, Fuel and Financing: Three Costs Buyers Are Repricing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Tariffs, fuel and interest rates have each moved in the past year, and each changes what a buyer will treat as normal earnings.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Text 8"/>
          <p:cNvSpPr txBox="1"/>
          <p:nvPr/>
        </p:nvSpPr>
        <p:spPr>
          <a:xfrm>
            <a:off x="419100" y="1234440"/>
            <a:ext cx="2395538" cy="1356152"/>
          </a:xfrm>
          <a:prstGeom prst="rect">
            <a:avLst/>
          </a:prstGeom>
          <a:noFill/>
          <a:ln/>
        </p:spPr>
        <p:txBody>
          <a:bodyPr wrap="square" lIns="0" tIns="0" rIns="0" bIns="0" rtlCol="0" anchor="t"/>
          <a:lstStyle/>
          <a:p>
            <a:pPr marL="0" indent="0" algn="l">
              <a:lnSpc>
                <a:spcPts val="1335"/>
              </a:lnSpc>
              <a:buNone/>
            </a:pPr>
            <a:r>
              <a:rPr lang="en-US" sz="885" kern="0" spc="15" dirty="0">
                <a:solidFill>
                  <a:srgbClr val="333231"/>
                </a:solidFill>
                <a:latin typeface="Quicksand" pitchFamily="34" charset="0"/>
              </a:rPr>
              <a:t>A consumer company that reaches the market in the next year will present earnings that passed through three tariff regimes, a fuel shock and the first increase in the federal funds rate since 2023. Buyers are rebuilding each of those costs period by period before they settle on the earnings they will pay for.</a:t>
            </a:r>
            <a:endParaRPr lang="en-US" sz="885" dirty="0"/>
          </a:p>
        </p:txBody>
      </p:sp>
      <p:sp>
        <p:nvSpPr>
          <p:cNvPr id="10" name="Text 9"/>
          <p:cNvSpPr txBox="1"/>
          <p:nvPr/>
        </p:nvSpPr>
        <p:spPr>
          <a:xfrm>
            <a:off x="419100" y="2704862"/>
            <a:ext cx="2395538" cy="1695182"/>
          </a:xfrm>
          <a:prstGeom prst="rect">
            <a:avLst/>
          </a:prstGeom>
          <a:noFill/>
          <a:ln/>
        </p:spPr>
        <p:txBody>
          <a:bodyPr wrap="square" lIns="0" tIns="0" rIns="0" bIns="0" rtlCol="0" anchor="t"/>
          <a:lstStyle/>
          <a:p>
            <a:pPr marL="0" indent="0" algn="l">
              <a:lnSpc>
                <a:spcPts val="1335"/>
              </a:lnSpc>
              <a:buNone/>
            </a:pPr>
            <a:r>
              <a:rPr lang="en-US" sz="885" kern="0" spc="15" dirty="0">
                <a:solidFill>
                  <a:srgbClr val="333231"/>
                </a:solidFill>
                <a:latin typeface="Quicksand" pitchFamily="34" charset="0"/>
              </a:rPr>
              <a:t>The effect differs from one company to the next. YETI recorded </a:t>
            </a:r>
            <a:r>
              <a:rPr lang="en-US" sz="885" u="sng" kern="0" spc="15" dirty="0">
                <a:solidFill>
                  <a:srgbClr val="8C6239"/>
                </a:solidFill>
                <a:latin typeface="Quicksand" pitchFamily="34" charset="0"/>
                <a:hlinkClick r:id="rId3">
                  <a:extLst>
                    <a:ext uri="{A12FA001-AC4F-418D-AE19-62706E023703}">
                      <ahyp:hlinkClr xmlns:ahyp="http://schemas.microsoft.com/office/drawing/2018/hyperlinkcolor" val="tx"/>
                    </a:ext>
                  </a:extLst>
                </a:hlinkClick>
              </a:rPr>
              <a:t>a $45.6 million net benefit</a:t>
            </a:r>
            <a:r>
              <a:rPr lang="en-US" sz="885" kern="0" spc="15" dirty="0">
                <a:solidFill>
                  <a:srgbClr val="333231"/>
                </a:solidFill>
                <a:latin typeface="Quicksand" pitchFamily="34" charset="0"/>
              </a:rPr>
              <a:t> from tariff refunds in its second quarter and Walmart said it </a:t>
            </a:r>
            <a:r>
              <a:rPr lang="en-US" sz="88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reinvested its refunds into price</a:t>
            </a:r>
            <a:r>
              <a:rPr lang="en-US" sz="885" kern="0" spc="15" dirty="0">
                <a:solidFill>
                  <a:srgbClr val="333231"/>
                </a:solidFill>
                <a:latin typeface="Quicksand" pitchFamily="34" charset="0"/>
              </a:rPr>
              <a:t>, while </a:t>
            </a:r>
            <a:r>
              <a:rPr lang="en-US" sz="88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91% of the foodservice equipment manufacturers</a:t>
            </a:r>
            <a:r>
              <a:rPr lang="en-US" sz="885" kern="0" spc="15" dirty="0">
                <a:solidFill>
                  <a:srgbClr val="333231"/>
                </a:solidFill>
                <a:latin typeface="Quicksand" pitchFamily="34" charset="0"/>
              </a:rPr>
              <a:t> surveyed by their trade association reported negative effects from tariffs and 78% said they were passing the cost on to customers.</a:t>
            </a:r>
            <a:endParaRPr lang="en-US" sz="885" dirty="0"/>
          </a:p>
        </p:txBody>
      </p:sp>
      <p:sp>
        <p:nvSpPr>
          <p:cNvPr id="11" name="Shape 10"/>
          <p:cNvSpPr/>
          <p:nvPr/>
        </p:nvSpPr>
        <p:spPr>
          <a:xfrm>
            <a:off x="419100" y="5600700"/>
            <a:ext cx="28575" cy="1333500"/>
          </a:xfrm>
          <a:prstGeom prst="rect">
            <a:avLst/>
          </a:prstGeom>
          <a:solidFill>
            <a:srgbClr val="B68757"/>
          </a:solidFill>
          <a:ln/>
        </p:spPr>
        <p:txBody>
          <a:bodyPr/>
          <a:lstStyle/>
          <a:p>
            <a:endParaRPr lang="en-US"/>
          </a:p>
        </p:txBody>
      </p:sp>
      <p:sp>
        <p:nvSpPr>
          <p:cNvPr id="12" name="Text 11"/>
          <p:cNvSpPr txBox="1"/>
          <p:nvPr/>
        </p:nvSpPr>
        <p:spPr>
          <a:xfrm>
            <a:off x="600075" y="5734050"/>
            <a:ext cx="2214563" cy="1200150"/>
          </a:xfrm>
          <a:prstGeom prst="rect">
            <a:avLst/>
          </a:prstGeom>
          <a:noFill/>
          <a:ln/>
        </p:spPr>
        <p:txBody>
          <a:bodyPr wrap="square" lIns="0" tIns="0" rIns="0" bIns="0" rtlCol="0" anchor="t"/>
          <a:lstStyle/>
          <a:p>
            <a:pPr marL="0" indent="0" algn="l">
              <a:lnSpc>
                <a:spcPts val="1575"/>
              </a:lnSpc>
              <a:buNone/>
            </a:pPr>
            <a:r>
              <a:rPr lang="en-US" sz="1088" i="1" kern="0" spc="15" dirty="0">
                <a:solidFill>
                  <a:srgbClr val="1B1A1A"/>
                </a:solidFill>
                <a:latin typeface="Newsreader Medium" pitchFamily="34" charset="0"/>
              </a:rPr>
              <a:t>An owner who can hand a buyer landed cost by period, fuel recovery by contract and a clear account of how the business is financed shortens diligence and protects the earnings figure the price is built on.</a:t>
            </a:r>
            <a:endParaRPr lang="en-US" sz="1088" dirty="0"/>
          </a:p>
        </p:txBody>
      </p:sp>
      <p:sp>
        <p:nvSpPr>
          <p:cNvPr id="13" name="Text 12"/>
          <p:cNvSpPr txBox="1"/>
          <p:nvPr/>
        </p:nvSpPr>
        <p:spPr>
          <a:xfrm>
            <a:off x="3009900" y="1233488"/>
            <a:ext cx="43053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WHAT BUYERS ARE REBUILDING</a:t>
            </a:r>
            <a:endParaRPr lang="en-US" sz="675" dirty="0"/>
          </a:p>
        </p:txBody>
      </p:sp>
      <p:sp>
        <p:nvSpPr>
          <p:cNvPr id="14" name="Shape 13"/>
          <p:cNvSpPr/>
          <p:nvPr/>
        </p:nvSpPr>
        <p:spPr>
          <a:xfrm>
            <a:off x="3009900" y="1438275"/>
            <a:ext cx="4305300" cy="9525"/>
          </a:xfrm>
          <a:prstGeom prst="rect">
            <a:avLst/>
          </a:prstGeom>
          <a:solidFill>
            <a:srgbClr val="E3DCD3"/>
          </a:solidFill>
          <a:ln/>
        </p:spPr>
        <p:txBody>
          <a:bodyPr/>
          <a:lstStyle/>
          <a:p>
            <a:endParaRPr lang="en-US"/>
          </a:p>
        </p:txBody>
      </p:sp>
      <p:sp>
        <p:nvSpPr>
          <p:cNvPr id="15" name="Text 14"/>
          <p:cNvSpPr txBox="1"/>
          <p:nvPr/>
        </p:nvSpPr>
        <p:spPr>
          <a:xfrm>
            <a:off x="3009900" y="1533525"/>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01</a:t>
            </a:r>
            <a:endParaRPr lang="en-US" sz="1800" dirty="0"/>
          </a:p>
        </p:txBody>
      </p:sp>
      <p:sp>
        <p:nvSpPr>
          <p:cNvPr id="16" name="Dot 15"/>
          <p:cNvSpPr/>
          <p:nvPr/>
        </p:nvSpPr>
        <p:spPr>
          <a:xfrm>
            <a:off x="3009900" y="1876425"/>
            <a:ext cx="285750" cy="285750"/>
          </a:xfrm>
          <a:prstGeom prst="ellipse">
            <a:avLst/>
          </a:prstGeom>
          <a:solidFill>
            <a:srgbClr val="1B1A1A"/>
          </a:solidFill>
          <a:ln/>
        </p:spPr>
        <p:txBody>
          <a:bodyPr/>
          <a:lstStyle/>
          <a:p>
            <a:endParaRPr lang="en-US"/>
          </a:p>
        </p:txBody>
      </p:sp>
      <p:pic>
        <p:nvPicPr>
          <p:cNvPr id="17" name="Icon" descr="/tmp/claude-0/-home-claude-about/4bef2f41-4227-5ff7-ab18-11ac74cd9797/scratchpad/pptx/ex/media/0ff2b76e92bb.png"/>
          <p:cNvPicPr>
            <a:picLocks noChangeAspect="1"/>
          </p:cNvPicPr>
          <p:nvPr/>
        </p:nvPicPr>
        <p:blipFill>
          <a:blip r:embed="rId6"/>
          <a:stretch>
            <a:fillRect/>
          </a:stretch>
        </p:blipFill>
        <p:spPr>
          <a:xfrm>
            <a:off x="3076575" y="1943100"/>
            <a:ext cx="152400" cy="152400"/>
          </a:xfrm>
          <a:prstGeom prst="rect">
            <a:avLst/>
          </a:prstGeom>
        </p:spPr>
      </p:pic>
      <p:sp>
        <p:nvSpPr>
          <p:cNvPr id="18" name="Text 17"/>
          <p:cNvSpPr txBox="1"/>
          <p:nvPr/>
        </p:nvSpPr>
        <p:spPr>
          <a:xfrm>
            <a:off x="3562350" y="1528763"/>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Tariffs</a:t>
            </a:r>
            <a:endParaRPr lang="en-US" sz="1275" dirty="0"/>
          </a:p>
        </p:txBody>
      </p:sp>
      <p:sp>
        <p:nvSpPr>
          <p:cNvPr id="19" name="Text 18"/>
          <p:cNvSpPr txBox="1"/>
          <p:nvPr/>
        </p:nvSpPr>
        <p:spPr>
          <a:xfrm>
            <a:off x="3562350" y="1775460"/>
            <a:ext cx="3771614"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The Supreme Court held on February 20 that the International Emergency Economic Powers Act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does not authorize tariffs. A temporary 10% tariff followed</a:t>
            </a:r>
            <a:r>
              <a:rPr lang="en-US" sz="795" kern="0" spc="15" dirty="0">
                <a:solidFill>
                  <a:srgbClr val="333231"/>
                </a:solidFill>
                <a:latin typeface="Quicksand" pitchFamily="34" charset="0"/>
              </a:rPr>
              <a:t>, and since July 24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Section 301 tariffs of 10% to 12.5% have applied to 60</a:t>
            </a:r>
            <a:r>
              <a:rPr lang="en-US" sz="795" kern="0" spc="15" dirty="0">
                <a:solidFill>
                  <a:srgbClr val="333231"/>
                </a:solidFill>
                <a:latin typeface="Quicksand" pitchFamily="34" charset="0"/>
              </a:rPr>
              <a:t> trading partners. Section 232 duties stayed in place, including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25% on upholstered furniture</a:t>
            </a:r>
            <a:r>
              <a:rPr lang="en-US" sz="795" kern="0" spc="15" dirty="0">
                <a:solidFill>
                  <a:srgbClr val="333231"/>
                </a:solidFill>
                <a:latin typeface="Quicksand" pitchFamily="34" charset="0"/>
              </a:rPr>
              <a:t>, and duty-free treatment for parcels under $800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remains suspended</a:t>
            </a:r>
            <a:r>
              <a:rPr lang="en-US" sz="795" kern="0" spc="15" dirty="0">
                <a:solidFill>
                  <a:srgbClr val="333231"/>
                </a:solidFill>
                <a:latin typeface="Quicksand" pitchFamily="34" charset="0"/>
              </a:rPr>
              <a:t>.</a:t>
            </a:r>
            <a:endParaRPr lang="en-US" sz="795" dirty="0"/>
          </a:p>
        </p:txBody>
      </p:sp>
      <p:sp>
        <p:nvSpPr>
          <p:cNvPr id="20" name="Shape 19"/>
          <p:cNvSpPr/>
          <p:nvPr/>
        </p:nvSpPr>
        <p:spPr>
          <a:xfrm>
            <a:off x="3562350" y="2707184"/>
            <a:ext cx="3752850" cy="501104"/>
          </a:xfrm>
          <a:prstGeom prst="rect">
            <a:avLst/>
          </a:prstGeom>
          <a:solidFill>
            <a:srgbClr val="FAF7F3"/>
          </a:solidFill>
          <a:ln/>
        </p:spPr>
        <p:txBody>
          <a:bodyPr/>
          <a:lstStyle/>
          <a:p>
            <a:endParaRPr lang="en-US"/>
          </a:p>
        </p:txBody>
      </p:sp>
      <p:sp>
        <p:nvSpPr>
          <p:cNvPr id="21" name="Text 20"/>
          <p:cNvSpPr txBox="1"/>
          <p:nvPr/>
        </p:nvSpPr>
        <p:spPr>
          <a:xfrm>
            <a:off x="3657600" y="2749094"/>
            <a:ext cx="3580162" cy="405825"/>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Landed cost under each regime, the status of any refund claim and the sourcing alternatives the company has already qualified.</a:t>
            </a:r>
            <a:endParaRPr lang="en-US" sz="630" dirty="0"/>
          </a:p>
        </p:txBody>
      </p:sp>
      <p:sp>
        <p:nvSpPr>
          <p:cNvPr id="22" name="Shape 21"/>
          <p:cNvSpPr/>
          <p:nvPr/>
        </p:nvSpPr>
        <p:spPr>
          <a:xfrm>
            <a:off x="3009900" y="3284488"/>
            <a:ext cx="4305300" cy="9525"/>
          </a:xfrm>
          <a:prstGeom prst="rect">
            <a:avLst/>
          </a:prstGeom>
          <a:solidFill>
            <a:srgbClr val="E3DCD3"/>
          </a:solidFill>
          <a:ln/>
        </p:spPr>
        <p:txBody>
          <a:bodyPr/>
          <a:lstStyle/>
          <a:p>
            <a:endParaRPr lang="en-US"/>
          </a:p>
        </p:txBody>
      </p:sp>
      <p:sp>
        <p:nvSpPr>
          <p:cNvPr id="23" name="Text 22"/>
          <p:cNvSpPr txBox="1"/>
          <p:nvPr/>
        </p:nvSpPr>
        <p:spPr>
          <a:xfrm>
            <a:off x="3009900" y="3379738"/>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02</a:t>
            </a:r>
            <a:endParaRPr lang="en-US" sz="1800" dirty="0"/>
          </a:p>
        </p:txBody>
      </p:sp>
      <p:sp>
        <p:nvSpPr>
          <p:cNvPr id="24" name="Dot 23"/>
          <p:cNvSpPr/>
          <p:nvPr/>
        </p:nvSpPr>
        <p:spPr>
          <a:xfrm>
            <a:off x="3009900" y="3722638"/>
            <a:ext cx="285750" cy="285750"/>
          </a:xfrm>
          <a:prstGeom prst="ellipse">
            <a:avLst/>
          </a:prstGeom>
          <a:solidFill>
            <a:srgbClr val="1B1A1A"/>
          </a:solidFill>
          <a:ln/>
        </p:spPr>
        <p:txBody>
          <a:bodyPr/>
          <a:lstStyle/>
          <a:p>
            <a:endParaRPr lang="en-US"/>
          </a:p>
        </p:txBody>
      </p:sp>
      <p:pic>
        <p:nvPicPr>
          <p:cNvPr id="25" name="Icon" descr="/tmp/claude-0/-home-claude-about/4bef2f41-4227-5ff7-ab18-11ac74cd9797/scratchpad/pptx/ex/media/0a88f65df2d4.png"/>
          <p:cNvPicPr>
            <a:picLocks noChangeAspect="1"/>
          </p:cNvPicPr>
          <p:nvPr/>
        </p:nvPicPr>
        <p:blipFill>
          <a:blip r:embed="rId11"/>
          <a:stretch>
            <a:fillRect/>
          </a:stretch>
        </p:blipFill>
        <p:spPr>
          <a:xfrm>
            <a:off x="3076575" y="3789313"/>
            <a:ext cx="152400" cy="152400"/>
          </a:xfrm>
          <a:prstGeom prst="rect">
            <a:avLst/>
          </a:prstGeom>
        </p:spPr>
      </p:pic>
      <p:sp>
        <p:nvSpPr>
          <p:cNvPr id="26" name="Text 25"/>
          <p:cNvSpPr txBox="1"/>
          <p:nvPr/>
        </p:nvSpPr>
        <p:spPr>
          <a:xfrm>
            <a:off x="3562350" y="3374975"/>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Fuel</a:t>
            </a:r>
            <a:endParaRPr lang="en-US" sz="1275" dirty="0"/>
          </a:p>
        </p:txBody>
      </p:sp>
      <p:sp>
        <p:nvSpPr>
          <p:cNvPr id="27" name="Text 26"/>
          <p:cNvSpPr txBox="1"/>
          <p:nvPr/>
        </p:nvSpPr>
        <p:spPr>
          <a:xfrm>
            <a:off x="3562350" y="3621673"/>
            <a:ext cx="3771614"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On-highway diesel averaged $6.29 a gallon in September against $3.75 a year earlier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FRED</a:t>
            </a:r>
            <a:r>
              <a:rPr lang="en-US" sz="795" kern="0" spc="15" dirty="0">
                <a:solidFill>
                  <a:srgbClr val="333231"/>
                </a:solidFill>
                <a:latin typeface="Quicksand" pitchFamily="34" charset="0"/>
              </a:rPr>
              <a:t>). The Energy Information Administration’s October outlook expects retail diesel to average </a:t>
            </a:r>
            <a:r>
              <a:rPr lang="en-US" sz="795"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about $4.50 next year</a:t>
            </a:r>
            <a:r>
              <a:rPr lang="en-US" sz="795" kern="0" spc="15" dirty="0">
                <a:solidFill>
                  <a:srgbClr val="333231"/>
                </a:solidFill>
                <a:latin typeface="Quicksand" pitchFamily="34" charset="0"/>
              </a:rPr>
              <a:t>, which would still be well above the price distributors and route-based service companies paid a year ago.</a:t>
            </a:r>
            <a:endParaRPr lang="en-US" sz="795" dirty="0"/>
          </a:p>
        </p:txBody>
      </p:sp>
      <p:sp>
        <p:nvSpPr>
          <p:cNvPr id="28" name="Shape 27"/>
          <p:cNvSpPr/>
          <p:nvPr/>
        </p:nvSpPr>
        <p:spPr>
          <a:xfrm>
            <a:off x="3562350" y="4408587"/>
            <a:ext cx="3752850" cy="501104"/>
          </a:xfrm>
          <a:prstGeom prst="rect">
            <a:avLst/>
          </a:prstGeom>
          <a:solidFill>
            <a:srgbClr val="FAF7F3"/>
          </a:solidFill>
          <a:ln/>
        </p:spPr>
        <p:txBody>
          <a:bodyPr/>
          <a:lstStyle/>
          <a:p>
            <a:endParaRPr lang="en-US"/>
          </a:p>
        </p:txBody>
      </p:sp>
      <p:sp>
        <p:nvSpPr>
          <p:cNvPr id="29" name="Text 28"/>
          <p:cNvSpPr txBox="1"/>
          <p:nvPr/>
        </p:nvSpPr>
        <p:spPr>
          <a:xfrm>
            <a:off x="3657600" y="4450497"/>
            <a:ext cx="3580162" cy="405825"/>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Which customer contracts carry fuel surcharges or cost escalators, how quickly they reset and how much of the increase the company has recovered.</a:t>
            </a:r>
            <a:endParaRPr lang="en-US" sz="630" dirty="0"/>
          </a:p>
        </p:txBody>
      </p:sp>
      <p:sp>
        <p:nvSpPr>
          <p:cNvPr id="30" name="Shape 29"/>
          <p:cNvSpPr/>
          <p:nvPr/>
        </p:nvSpPr>
        <p:spPr>
          <a:xfrm>
            <a:off x="3009900" y="4985891"/>
            <a:ext cx="4305300" cy="9525"/>
          </a:xfrm>
          <a:prstGeom prst="rect">
            <a:avLst/>
          </a:prstGeom>
          <a:solidFill>
            <a:srgbClr val="E3DCD3"/>
          </a:solidFill>
          <a:ln/>
        </p:spPr>
        <p:txBody>
          <a:bodyPr/>
          <a:lstStyle/>
          <a:p>
            <a:endParaRPr lang="en-US"/>
          </a:p>
        </p:txBody>
      </p:sp>
      <p:sp>
        <p:nvSpPr>
          <p:cNvPr id="31" name="Text 30"/>
          <p:cNvSpPr txBox="1"/>
          <p:nvPr/>
        </p:nvSpPr>
        <p:spPr>
          <a:xfrm>
            <a:off x="3009900" y="5081141"/>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03</a:t>
            </a:r>
            <a:endParaRPr lang="en-US" sz="1800" dirty="0"/>
          </a:p>
        </p:txBody>
      </p:sp>
      <p:sp>
        <p:nvSpPr>
          <p:cNvPr id="32" name="Dot 31"/>
          <p:cNvSpPr/>
          <p:nvPr/>
        </p:nvSpPr>
        <p:spPr>
          <a:xfrm>
            <a:off x="3009900" y="5424041"/>
            <a:ext cx="285750" cy="285750"/>
          </a:xfrm>
          <a:prstGeom prst="ellipse">
            <a:avLst/>
          </a:prstGeom>
          <a:solidFill>
            <a:srgbClr val="1B1A1A"/>
          </a:solidFill>
          <a:ln/>
        </p:spPr>
        <p:txBody>
          <a:bodyPr/>
          <a:lstStyle/>
          <a:p>
            <a:endParaRPr lang="en-US"/>
          </a:p>
        </p:txBody>
      </p:sp>
      <p:pic>
        <p:nvPicPr>
          <p:cNvPr id="33" name="Icon" descr="/tmp/claude-0/-home-claude-about/4bef2f41-4227-5ff7-ab18-11ac74cd9797/scratchpad/pptx/ex/media/e559ea1bcf7b.png"/>
          <p:cNvPicPr>
            <a:picLocks noChangeAspect="1"/>
          </p:cNvPicPr>
          <p:nvPr/>
        </p:nvPicPr>
        <p:blipFill>
          <a:blip r:embed="rId14"/>
          <a:stretch>
            <a:fillRect/>
          </a:stretch>
        </p:blipFill>
        <p:spPr>
          <a:xfrm>
            <a:off x="3076575" y="5490716"/>
            <a:ext cx="152400" cy="152400"/>
          </a:xfrm>
          <a:prstGeom prst="rect">
            <a:avLst/>
          </a:prstGeom>
        </p:spPr>
      </p:pic>
      <p:sp>
        <p:nvSpPr>
          <p:cNvPr id="34" name="Text 33"/>
          <p:cNvSpPr txBox="1"/>
          <p:nvPr/>
        </p:nvSpPr>
        <p:spPr>
          <a:xfrm>
            <a:off x="3562350" y="5076379"/>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Financing</a:t>
            </a:r>
            <a:endParaRPr lang="en-US" sz="1275" dirty="0"/>
          </a:p>
        </p:txBody>
      </p:sp>
      <p:sp>
        <p:nvSpPr>
          <p:cNvPr id="35" name="Text 34"/>
          <p:cNvSpPr txBox="1"/>
          <p:nvPr/>
        </p:nvSpPr>
        <p:spPr>
          <a:xfrm>
            <a:off x="3562350" y="5323076"/>
            <a:ext cx="3771614"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The Federal Reserve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raised its target range</a:t>
            </a:r>
            <a:r>
              <a:rPr lang="en-US" sz="795" kern="0" spc="15" dirty="0">
                <a:solidFill>
                  <a:srgbClr val="333231"/>
                </a:solidFill>
                <a:latin typeface="Quicksand" pitchFamily="34" charset="0"/>
              </a:rPr>
              <a:t> to 3.75% to 4.00% on September 16 and projects a policy rate of </a:t>
            </a:r>
            <a:r>
              <a:rPr lang="en-US" sz="79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4.1% at the end of 2026 and 2027</a:t>
            </a:r>
            <a:r>
              <a:rPr lang="en-US" sz="795" kern="0" spc="15" dirty="0">
                <a:solidFill>
                  <a:srgbClr val="333231"/>
                </a:solidFill>
                <a:latin typeface="Quicksand" pitchFamily="34" charset="0"/>
              </a:rPr>
              <a:t>. Spreads on direct loans for buyouts </a:t>
            </a:r>
            <a:r>
              <a:rPr lang="en-US" sz="795"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widened by roughly 25 to 50 basis points</a:t>
            </a:r>
            <a:r>
              <a:rPr lang="en-US" sz="795" kern="0" spc="15" dirty="0">
                <a:solidFill>
                  <a:srgbClr val="333231"/>
                </a:solidFill>
                <a:latin typeface="Quicksand" pitchFamily="34" charset="0"/>
              </a:rPr>
              <a:t> in the second quarter, and earn-outs appeared in 24% of 2025 transactions with a median equal to 34% of the closing payment (</a:t>
            </a:r>
            <a:r>
              <a:rPr lang="en-US" sz="795"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SRS Acquiom study, as summarized by Fasken</a:t>
            </a:r>
            <a:r>
              <a:rPr lang="en-US" sz="795" kern="0" spc="15" dirty="0">
                <a:solidFill>
                  <a:srgbClr val="333231"/>
                </a:solidFill>
                <a:latin typeface="Quicksand" pitchFamily="34" charset="0"/>
              </a:rPr>
              <a:t>).</a:t>
            </a:r>
            <a:endParaRPr lang="en-US" sz="795" dirty="0"/>
          </a:p>
        </p:txBody>
      </p:sp>
      <p:sp>
        <p:nvSpPr>
          <p:cNvPr id="36" name="Shape 35"/>
          <p:cNvSpPr/>
          <p:nvPr/>
        </p:nvSpPr>
        <p:spPr>
          <a:xfrm>
            <a:off x="3562350" y="6254800"/>
            <a:ext cx="3752850" cy="365820"/>
          </a:xfrm>
          <a:prstGeom prst="rect">
            <a:avLst/>
          </a:prstGeom>
          <a:solidFill>
            <a:srgbClr val="FAF7F3"/>
          </a:solidFill>
          <a:ln/>
        </p:spPr>
        <p:txBody>
          <a:bodyPr/>
          <a:lstStyle/>
          <a:p>
            <a:endParaRPr lang="en-US"/>
          </a:p>
        </p:txBody>
      </p:sp>
      <p:sp>
        <p:nvSpPr>
          <p:cNvPr id="37" name="Text 36"/>
          <p:cNvSpPr txBox="1"/>
          <p:nvPr/>
        </p:nvSpPr>
        <p:spPr>
          <a:xfrm>
            <a:off x="3657600" y="6296710"/>
            <a:ext cx="3580162" cy="270540"/>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How much of the price is paid in cash at closing, how much is contingent and how much is rolled into the buyer’s equity.</a:t>
            </a:r>
            <a:endParaRPr lang="en-US" sz="630" dirty="0"/>
          </a:p>
        </p:txBody>
      </p:sp>
      <p:sp>
        <p:nvSpPr>
          <p:cNvPr id="38" name="Shape 37"/>
          <p:cNvSpPr/>
          <p:nvPr/>
        </p:nvSpPr>
        <p:spPr>
          <a:xfrm>
            <a:off x="7524750" y="1238250"/>
            <a:ext cx="2114550" cy="5695950"/>
          </a:xfrm>
          <a:prstGeom prst="rect">
            <a:avLst/>
          </a:prstGeom>
          <a:solidFill>
            <a:srgbClr val="1B1A1A"/>
          </a:solidFill>
          <a:ln/>
        </p:spPr>
        <p:txBody>
          <a:bodyPr/>
          <a:lstStyle/>
          <a:p>
            <a:endParaRPr lang="en-US"/>
          </a:p>
        </p:txBody>
      </p:sp>
      <p:pic>
        <p:nvPicPr>
          <p:cNvPr id="39" name="A customer paying at a card terminal" descr="A customer paying at a card terminal"/>
          <p:cNvPicPr>
            <a:picLocks noChangeAspect="1"/>
          </p:cNvPicPr>
          <p:nvPr/>
        </p:nvPicPr>
        <p:blipFill>
          <a:blip r:embed="rId19"/>
          <a:stretch>
            <a:fillRect/>
          </a:stretch>
        </p:blipFill>
        <p:spPr>
          <a:xfrm>
            <a:off x="7524750" y="1238250"/>
            <a:ext cx="2114550" cy="1143000"/>
          </a:xfrm>
          <a:prstGeom prst="rect">
            <a:avLst/>
          </a:prstGeom>
        </p:spPr>
      </p:pic>
      <p:sp>
        <p:nvSpPr>
          <p:cNvPr id="40" name="Shape 39"/>
          <p:cNvSpPr/>
          <p:nvPr/>
        </p:nvSpPr>
        <p:spPr>
          <a:xfrm>
            <a:off x="7524750" y="2352675"/>
            <a:ext cx="2114550" cy="28575"/>
          </a:xfrm>
          <a:prstGeom prst="rect">
            <a:avLst/>
          </a:prstGeom>
          <a:solidFill>
            <a:srgbClr val="B68757"/>
          </a:solidFill>
          <a:ln/>
        </p:spPr>
        <p:txBody>
          <a:bodyPr/>
          <a:lstStyle/>
          <a:p>
            <a:endParaRPr lang="en-US"/>
          </a:p>
        </p:txBody>
      </p:sp>
      <p:sp>
        <p:nvSpPr>
          <p:cNvPr id="41" name="Text 40"/>
          <p:cNvSpPr txBox="1"/>
          <p:nvPr/>
        </p:nvSpPr>
        <p:spPr>
          <a:xfrm>
            <a:off x="7715250" y="2509838"/>
            <a:ext cx="174783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D3AE84"/>
                </a:solidFill>
                <a:latin typeface="Quicksand" pitchFamily="34" charset="0"/>
              </a:rPr>
              <a:t>THE REPRICING IN FOUR FIGURES</a:t>
            </a:r>
            <a:endParaRPr lang="en-US" sz="675" dirty="0"/>
          </a:p>
        </p:txBody>
      </p:sp>
      <p:sp>
        <p:nvSpPr>
          <p:cNvPr id="42" name="Shape 41"/>
          <p:cNvSpPr/>
          <p:nvPr/>
        </p:nvSpPr>
        <p:spPr>
          <a:xfrm>
            <a:off x="7715250" y="2838450"/>
            <a:ext cx="1733550" cy="9525"/>
          </a:xfrm>
          <a:prstGeom prst="rect">
            <a:avLst/>
          </a:prstGeom>
          <a:solidFill>
            <a:srgbClr val="D3AE84">
              <a:alpha val="30000"/>
            </a:srgbClr>
          </a:solidFill>
          <a:ln/>
        </p:spPr>
        <p:txBody>
          <a:bodyPr/>
          <a:lstStyle/>
          <a:p>
            <a:endParaRPr lang="en-US"/>
          </a:p>
        </p:txBody>
      </p:sp>
      <p:sp>
        <p:nvSpPr>
          <p:cNvPr id="43" name="Text 42"/>
          <p:cNvSpPr txBox="1"/>
          <p:nvPr/>
        </p:nvSpPr>
        <p:spPr>
          <a:xfrm>
            <a:off x="7715250" y="293370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12.5%</a:t>
            </a:r>
            <a:endParaRPr lang="en-US" sz="1725" dirty="0"/>
          </a:p>
        </p:txBody>
      </p:sp>
      <p:sp>
        <p:nvSpPr>
          <p:cNvPr id="44" name="Text 43"/>
          <p:cNvSpPr txBox="1"/>
          <p:nvPr/>
        </p:nvSpPr>
        <p:spPr>
          <a:xfrm>
            <a:off x="7715250" y="319325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Section 301 tariff on goods from China and Vietnam since July 24</a:t>
            </a:r>
            <a:endParaRPr lang="en-US" sz="720" dirty="0"/>
          </a:p>
        </p:txBody>
      </p:sp>
      <p:sp>
        <p:nvSpPr>
          <p:cNvPr id="45" name="Shape 44"/>
          <p:cNvSpPr/>
          <p:nvPr/>
        </p:nvSpPr>
        <p:spPr>
          <a:xfrm>
            <a:off x="7715250" y="3543300"/>
            <a:ext cx="1733550" cy="9525"/>
          </a:xfrm>
          <a:prstGeom prst="rect">
            <a:avLst/>
          </a:prstGeom>
          <a:solidFill>
            <a:srgbClr val="D3AE84">
              <a:alpha val="30000"/>
            </a:srgbClr>
          </a:solidFill>
          <a:ln/>
        </p:spPr>
        <p:txBody>
          <a:bodyPr/>
          <a:lstStyle/>
          <a:p>
            <a:endParaRPr lang="en-US"/>
          </a:p>
        </p:txBody>
      </p:sp>
      <p:sp>
        <p:nvSpPr>
          <p:cNvPr id="46" name="Text 45"/>
          <p:cNvSpPr txBox="1"/>
          <p:nvPr/>
        </p:nvSpPr>
        <p:spPr>
          <a:xfrm>
            <a:off x="7715250" y="363855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$6.29</a:t>
            </a:r>
            <a:endParaRPr lang="en-US" sz="1725" dirty="0"/>
          </a:p>
        </p:txBody>
      </p:sp>
      <p:sp>
        <p:nvSpPr>
          <p:cNvPr id="47" name="Text 46"/>
          <p:cNvSpPr txBox="1"/>
          <p:nvPr/>
        </p:nvSpPr>
        <p:spPr>
          <a:xfrm>
            <a:off x="7715250" y="389810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Diesel per gallon, September average, against $3.75 a year earlier</a:t>
            </a:r>
            <a:endParaRPr lang="en-US" sz="720" dirty="0"/>
          </a:p>
        </p:txBody>
      </p:sp>
      <p:sp>
        <p:nvSpPr>
          <p:cNvPr id="48" name="Shape 47"/>
          <p:cNvSpPr/>
          <p:nvPr/>
        </p:nvSpPr>
        <p:spPr>
          <a:xfrm>
            <a:off x="7715250" y="4248150"/>
            <a:ext cx="1733550" cy="9525"/>
          </a:xfrm>
          <a:prstGeom prst="rect">
            <a:avLst/>
          </a:prstGeom>
          <a:solidFill>
            <a:srgbClr val="D3AE84">
              <a:alpha val="30000"/>
            </a:srgbClr>
          </a:solidFill>
          <a:ln/>
        </p:spPr>
        <p:txBody>
          <a:bodyPr/>
          <a:lstStyle/>
          <a:p>
            <a:endParaRPr lang="en-US"/>
          </a:p>
        </p:txBody>
      </p:sp>
      <p:sp>
        <p:nvSpPr>
          <p:cNvPr id="49" name="Text 48"/>
          <p:cNvSpPr txBox="1"/>
          <p:nvPr/>
        </p:nvSpPr>
        <p:spPr>
          <a:xfrm>
            <a:off x="7715250" y="434340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3.75% to 4.00%</a:t>
            </a:r>
            <a:endParaRPr lang="en-US" sz="1725" dirty="0"/>
          </a:p>
        </p:txBody>
      </p:sp>
      <p:sp>
        <p:nvSpPr>
          <p:cNvPr id="50" name="Text 49"/>
          <p:cNvSpPr txBox="1"/>
          <p:nvPr/>
        </p:nvSpPr>
        <p:spPr>
          <a:xfrm>
            <a:off x="7715250" y="460295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Federal funds target range after the September 16 increase</a:t>
            </a:r>
            <a:endParaRPr lang="en-US" sz="720" dirty="0"/>
          </a:p>
        </p:txBody>
      </p:sp>
      <p:sp>
        <p:nvSpPr>
          <p:cNvPr id="51" name="Shape 50"/>
          <p:cNvSpPr/>
          <p:nvPr/>
        </p:nvSpPr>
        <p:spPr>
          <a:xfrm>
            <a:off x="7715250" y="4953000"/>
            <a:ext cx="1733550" cy="9525"/>
          </a:xfrm>
          <a:prstGeom prst="rect">
            <a:avLst/>
          </a:prstGeom>
          <a:solidFill>
            <a:srgbClr val="D3AE84">
              <a:alpha val="30000"/>
            </a:srgbClr>
          </a:solidFill>
          <a:ln/>
        </p:spPr>
        <p:txBody>
          <a:bodyPr/>
          <a:lstStyle/>
          <a:p>
            <a:endParaRPr lang="en-US"/>
          </a:p>
        </p:txBody>
      </p:sp>
      <p:sp>
        <p:nvSpPr>
          <p:cNvPr id="52" name="Text 51"/>
          <p:cNvSpPr txBox="1"/>
          <p:nvPr/>
        </p:nvSpPr>
        <p:spPr>
          <a:xfrm>
            <a:off x="7715250" y="504825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24%</a:t>
            </a:r>
            <a:endParaRPr lang="en-US" sz="1725" dirty="0"/>
          </a:p>
        </p:txBody>
      </p:sp>
      <p:sp>
        <p:nvSpPr>
          <p:cNvPr id="53" name="Text 52"/>
          <p:cNvSpPr txBox="1"/>
          <p:nvPr/>
        </p:nvSpPr>
        <p:spPr>
          <a:xfrm>
            <a:off x="7715250" y="530780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Share of 2025 transactions that included an earn-out</a:t>
            </a:r>
            <a:endParaRPr lang="en-US" sz="720" dirty="0"/>
          </a:p>
        </p:txBody>
      </p:sp>
      <p:sp>
        <p:nvSpPr>
          <p:cNvPr id="54" name="Shape 53"/>
          <p:cNvSpPr/>
          <p:nvPr/>
        </p:nvSpPr>
        <p:spPr>
          <a:xfrm>
            <a:off x="7715250" y="5657850"/>
            <a:ext cx="1733550" cy="9525"/>
          </a:xfrm>
          <a:prstGeom prst="rect">
            <a:avLst/>
          </a:prstGeom>
          <a:solidFill>
            <a:srgbClr val="D3AE84">
              <a:alpha val="30000"/>
            </a:srgbClr>
          </a:solidFill>
          <a:ln/>
        </p:spPr>
        <p:txBody>
          <a:bodyPr/>
          <a:lstStyle/>
          <a:p>
            <a:endParaRPr lang="en-US"/>
          </a:p>
        </p:txBody>
      </p:sp>
      <p:sp>
        <p:nvSpPr>
          <p:cNvPr id="55" name="Text 54"/>
          <p:cNvSpPr txBox="1"/>
          <p:nvPr/>
        </p:nvSpPr>
        <p:spPr>
          <a:xfrm>
            <a:off x="7715250" y="5774531"/>
            <a:ext cx="1747838"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FFFFFF"/>
                </a:solidFill>
                <a:latin typeface="Newsreader Medium" pitchFamily="34" charset="0"/>
              </a:rPr>
              <a:t>Buyers who finance with debt carry the higher rate into their models, which favors sellers whose earnings are growing.</a:t>
            </a:r>
            <a:endParaRPr lang="en-US" sz="938" dirty="0"/>
          </a:p>
        </p:txBody>
      </p:sp>
      <p:sp>
        <p:nvSpPr>
          <p:cNvPr id="56" name="Shape 55"/>
          <p:cNvSpPr/>
          <p:nvPr/>
        </p:nvSpPr>
        <p:spPr>
          <a:xfrm>
            <a:off x="419100" y="7029450"/>
            <a:ext cx="9220200" cy="9525"/>
          </a:xfrm>
          <a:prstGeom prst="rect">
            <a:avLst/>
          </a:prstGeom>
          <a:solidFill>
            <a:srgbClr val="E3DCD3"/>
          </a:solidFill>
          <a:ln/>
        </p:spPr>
        <p:txBody>
          <a:bodyPr/>
          <a:lstStyle/>
          <a:p>
            <a:endParaRPr lang="en-US"/>
          </a:p>
        </p:txBody>
      </p:sp>
      <p:pic>
        <p:nvPicPr>
          <p:cNvPr id="57" name="Benchmark International" descr="Benchmark International"/>
          <p:cNvPicPr>
            <a:picLocks noChangeAspect="1"/>
          </p:cNvPicPr>
          <p:nvPr/>
        </p:nvPicPr>
        <p:blipFill>
          <a:blip r:embed="rId20"/>
          <a:stretch>
            <a:fillRect/>
          </a:stretch>
        </p:blipFill>
        <p:spPr>
          <a:xfrm>
            <a:off x="419100" y="7143750"/>
            <a:ext cx="914400" cy="171450"/>
          </a:xfrm>
          <a:prstGeom prst="rect">
            <a:avLst/>
          </a:prstGeom>
        </p:spPr>
      </p:pic>
      <p:sp>
        <p:nvSpPr>
          <p:cNvPr id="58" name="Text 5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Tariff rates are as described in the linked sources. Diesel is the monthly average US on-highway retail price published by the Energy Information Administration. Earn-out figures are from the SRS Acquiom 2026 deal terms study of 2025 transactions.</a:t>
            </a:r>
            <a:endParaRPr lang="en-US" sz="675" dirty="0"/>
          </a:p>
        </p:txBody>
      </p:sp>
      <p:sp>
        <p:nvSpPr>
          <p:cNvPr id="59" name="Text 58"/>
          <p:cNvSpPr txBox="1"/>
          <p:nvPr/>
        </p:nvSpPr>
        <p:spPr>
          <a:xfrm>
            <a:off x="9492407" y="7162800"/>
            <a:ext cx="204043"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04</a:t>
            </a:r>
            <a:endParaRPr lang="en-US" sz="713"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Perspectives on Four Consumer Segments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What is moving demand, and who is buying, in each of the segments the consumer practice covers.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05038" cy="5695950"/>
          </a:xfrm>
          <a:prstGeom prst="rect">
            <a:avLst/>
          </a:prstGeom>
          <a:solidFill>
            <a:srgbClr val="FAF7F3"/>
          </a:solidFill>
          <a:ln/>
        </p:spPr>
        <p:txBody>
          <a:bodyPr/>
          <a:lstStyle/>
          <a:p>
            <a:endParaRPr lang="en-US"/>
          </a:p>
        </p:txBody>
      </p:sp>
      <p:sp>
        <p:nvSpPr>
          <p:cNvPr id="10" name="Shape 9"/>
          <p:cNvSpPr/>
          <p:nvPr/>
        </p:nvSpPr>
        <p:spPr>
          <a:xfrm>
            <a:off x="419100" y="1238250"/>
            <a:ext cx="2205038" cy="28575"/>
          </a:xfrm>
          <a:prstGeom prst="rect">
            <a:avLst/>
          </a:prstGeom>
          <a:solidFill>
            <a:srgbClr val="B68757"/>
          </a:solidFill>
          <a:ln/>
        </p:spPr>
        <p:txBody>
          <a:bodyPr/>
          <a:lstStyle/>
          <a:p>
            <a:endParaRPr lang="en-US"/>
          </a:p>
        </p:txBody>
      </p:sp>
      <p:pic>
        <p:nvPicPr>
          <p:cNvPr id="11" name="Loaves of artisan bread" descr="Loaves of artisan bread"/>
          <p:cNvPicPr>
            <a:picLocks noChangeAspect="1"/>
          </p:cNvPicPr>
          <p:nvPr/>
        </p:nvPicPr>
        <p:blipFill>
          <a:blip r:embed="rId3"/>
          <a:stretch>
            <a:fillRect/>
          </a:stretch>
        </p:blipFill>
        <p:spPr>
          <a:xfrm>
            <a:off x="419100" y="1266825"/>
            <a:ext cx="2205038" cy="609600"/>
          </a:xfrm>
          <a:prstGeom prst="rect">
            <a:avLst/>
          </a:prstGeom>
        </p:spPr>
      </p:pic>
      <p:sp>
        <p:nvSpPr>
          <p:cNvPr id="12" name="Dot 11"/>
          <p:cNvSpPr/>
          <p:nvPr/>
        </p:nvSpPr>
        <p:spPr>
          <a:xfrm>
            <a:off x="552450" y="1981200"/>
            <a:ext cx="285750" cy="285750"/>
          </a:xfrm>
          <a:prstGeom prst="ellipse">
            <a:avLst/>
          </a:prstGeom>
          <a:solidFill>
            <a:srgbClr val="1B1A1A"/>
          </a:solidFill>
          <a:ln/>
        </p:spPr>
        <p:txBody>
          <a:bodyPr/>
          <a:lstStyle/>
          <a:p>
            <a:endParaRPr lang="en-US"/>
          </a:p>
        </p:txBody>
      </p:sp>
      <p:pic>
        <p:nvPicPr>
          <p:cNvPr id="13" name="Icon" descr="/tmp/claude-0/-home-claude-about/4bef2f41-4227-5ff7-ab18-11ac74cd9797/scratchpad/pptx/ex/media/57a13b492294.png"/>
          <p:cNvPicPr>
            <a:picLocks noChangeAspect="1"/>
          </p:cNvPicPr>
          <p:nvPr/>
        </p:nvPicPr>
        <p:blipFill>
          <a:blip r:embed="rId4"/>
          <a:stretch>
            <a:fillRect/>
          </a:stretch>
        </p:blipFill>
        <p:spPr>
          <a:xfrm>
            <a:off x="619125" y="2047875"/>
            <a:ext cx="152400" cy="152400"/>
          </a:xfrm>
          <a:prstGeom prst="rect">
            <a:avLst/>
          </a:prstGeom>
        </p:spPr>
      </p:pic>
      <p:sp>
        <p:nvSpPr>
          <p:cNvPr id="14" name="Text 13"/>
          <p:cNvSpPr txBox="1"/>
          <p:nvPr/>
        </p:nvSpPr>
        <p:spPr>
          <a:xfrm>
            <a:off x="923925" y="2047875"/>
            <a:ext cx="1078260" cy="152400"/>
          </a:xfrm>
          <a:prstGeom prst="rect">
            <a:avLst/>
          </a:prstGeom>
          <a:noFill/>
          <a:ln/>
        </p:spPr>
        <p:txBody>
          <a:bodyPr wrap="none" lIns="0" tIns="0" rIns="0" bIns="0" rtlCol="0" anchor="t"/>
          <a:lstStyle/>
          <a:p>
            <a:pPr marL="0" indent="0" algn="l">
              <a:lnSpc>
                <a:spcPts val="1200"/>
              </a:lnSpc>
              <a:buNone/>
            </a:pPr>
            <a:r>
              <a:rPr lang="en-US" sz="938" b="1" kern="0" spc="15" dirty="0">
                <a:solidFill>
                  <a:srgbClr val="1B1A1A"/>
                </a:solidFill>
                <a:latin typeface="Quicksand" pitchFamily="34" charset="0"/>
              </a:rPr>
              <a:t>Food &amp; Beverage</a:t>
            </a:r>
            <a:endParaRPr lang="en-US" sz="938" dirty="0"/>
          </a:p>
        </p:txBody>
      </p:sp>
      <p:sp>
        <p:nvSpPr>
          <p:cNvPr id="15" name="Text 14"/>
          <p:cNvSpPr txBox="1"/>
          <p:nvPr/>
        </p:nvSpPr>
        <p:spPr>
          <a:xfrm>
            <a:off x="552450" y="2347913"/>
            <a:ext cx="817066"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23.8%</a:t>
            </a:r>
            <a:endParaRPr lang="en-US" sz="2025" dirty="0"/>
          </a:p>
        </p:txBody>
      </p:sp>
      <p:sp>
        <p:nvSpPr>
          <p:cNvPr id="16" name="Text 15"/>
          <p:cNvSpPr txBox="1"/>
          <p:nvPr/>
        </p:nvSpPr>
        <p:spPr>
          <a:xfrm>
            <a:off x="1407616" y="2459831"/>
            <a:ext cx="1097459"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Store brand share of units sold in the first half of 2026</a:t>
            </a:r>
            <a:endParaRPr lang="en-US" sz="675" dirty="0"/>
          </a:p>
        </p:txBody>
      </p:sp>
      <p:sp>
        <p:nvSpPr>
          <p:cNvPr id="17" name="Shape 16"/>
          <p:cNvSpPr/>
          <p:nvPr/>
        </p:nvSpPr>
        <p:spPr>
          <a:xfrm>
            <a:off x="552450" y="2871788"/>
            <a:ext cx="1938337" cy="9525"/>
          </a:xfrm>
          <a:prstGeom prst="rect">
            <a:avLst/>
          </a:prstGeom>
          <a:solidFill>
            <a:srgbClr val="E3DCD3"/>
          </a:solidFill>
          <a:ln/>
        </p:spPr>
        <p:txBody>
          <a:bodyPr/>
          <a:lstStyle/>
          <a:p>
            <a:endParaRPr lang="en-US"/>
          </a:p>
        </p:txBody>
      </p:sp>
      <p:sp>
        <p:nvSpPr>
          <p:cNvPr id="18" name="Shape 17"/>
          <p:cNvSpPr/>
          <p:nvPr/>
        </p:nvSpPr>
        <p:spPr>
          <a:xfrm>
            <a:off x="552450" y="3014663"/>
            <a:ext cx="47625" cy="47625"/>
          </a:xfrm>
          <a:prstGeom prst="rect">
            <a:avLst/>
          </a:prstGeom>
          <a:solidFill>
            <a:srgbClr val="B68757"/>
          </a:solidFill>
          <a:ln/>
        </p:spPr>
        <p:txBody>
          <a:bodyPr/>
          <a:lstStyle/>
          <a:p>
            <a:endParaRPr lang="en-US"/>
          </a:p>
        </p:txBody>
      </p:sp>
      <p:sp>
        <p:nvSpPr>
          <p:cNvPr id="19" name="Text 18"/>
          <p:cNvSpPr txBox="1"/>
          <p:nvPr/>
        </p:nvSpPr>
        <p:spPr>
          <a:xfrm>
            <a:off x="676275" y="2960846"/>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The largest packaged food companies report flat or falling volume, and they are selling slow-growing brands and buying growth and capacity from smaller companies (</a:t>
            </a:r>
            <a:r>
              <a:rPr lang="en-US" sz="757"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General Mills</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Conagra</a:t>
            </a:r>
            <a:r>
              <a:rPr lang="en-US" sz="757" kern="0" spc="15" dirty="0">
                <a:solidFill>
                  <a:srgbClr val="333231"/>
                </a:solidFill>
                <a:latin typeface="Quicksand" pitchFamily="34" charset="0"/>
              </a:rPr>
              <a:t>).</a:t>
            </a:r>
            <a:endParaRPr lang="en-US" sz="757" dirty="0"/>
          </a:p>
        </p:txBody>
      </p:sp>
      <p:sp>
        <p:nvSpPr>
          <p:cNvPr id="20" name="Shape 19"/>
          <p:cNvSpPr/>
          <p:nvPr/>
        </p:nvSpPr>
        <p:spPr>
          <a:xfrm>
            <a:off x="552450" y="3762226"/>
            <a:ext cx="47625" cy="47625"/>
          </a:xfrm>
          <a:prstGeom prst="rect">
            <a:avLst/>
          </a:prstGeom>
          <a:solidFill>
            <a:srgbClr val="B68757"/>
          </a:solidFill>
          <a:ln/>
        </p:spPr>
        <p:txBody>
          <a:bodyPr/>
          <a:lstStyle/>
          <a:p>
            <a:endParaRPr lang="en-US"/>
          </a:p>
        </p:txBody>
      </p:sp>
      <p:sp>
        <p:nvSpPr>
          <p:cNvPr id="21" name="Text 20"/>
          <p:cNvSpPr txBox="1"/>
          <p:nvPr/>
        </p:nvSpPr>
        <p:spPr>
          <a:xfrm>
            <a:off x="676275" y="3708410"/>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Growth is in protein, zero-sugar beverages, supplements and foodservice, and Procter &amp; Gamble agreed to buy Thorne in a deal </a:t>
            </a:r>
            <a:r>
              <a:rPr lang="en-US" sz="757"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reportedly valued at $3.8 billion</a:t>
            </a:r>
            <a:r>
              <a:rPr lang="en-US" sz="757" kern="0" spc="15" dirty="0">
                <a:solidFill>
                  <a:srgbClr val="333231"/>
                </a:solidFill>
                <a:latin typeface="Quicksand" pitchFamily="34" charset="0"/>
              </a:rPr>
              <a:t>.</a:t>
            </a:r>
            <a:endParaRPr lang="en-US" sz="757" dirty="0"/>
          </a:p>
        </p:txBody>
      </p:sp>
      <p:sp>
        <p:nvSpPr>
          <p:cNvPr id="22" name="Shape 21"/>
          <p:cNvSpPr/>
          <p:nvPr/>
        </p:nvSpPr>
        <p:spPr>
          <a:xfrm>
            <a:off x="552450" y="4509790"/>
            <a:ext cx="47625" cy="47625"/>
          </a:xfrm>
          <a:prstGeom prst="rect">
            <a:avLst/>
          </a:prstGeom>
          <a:solidFill>
            <a:srgbClr val="B68757"/>
          </a:solidFill>
          <a:ln/>
        </p:spPr>
        <p:txBody>
          <a:bodyPr/>
          <a:lstStyle/>
          <a:p>
            <a:endParaRPr lang="en-US"/>
          </a:p>
        </p:txBody>
      </p:sp>
      <p:sp>
        <p:nvSpPr>
          <p:cNvPr id="23" name="Text 22"/>
          <p:cNvSpPr txBox="1"/>
          <p:nvPr/>
        </p:nvSpPr>
        <p:spPr>
          <a:xfrm>
            <a:off x="676275" y="4455974"/>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National distributors are growing case volume with independent restaurants, up 5.1% at </a:t>
            </a:r>
            <a:r>
              <a:rPr lang="en-US" sz="757"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US Foods</a:t>
            </a:r>
            <a:r>
              <a:rPr lang="en-US" sz="757" kern="0" spc="15" dirty="0">
                <a:solidFill>
                  <a:srgbClr val="333231"/>
                </a:solidFill>
                <a:latin typeface="Quicksand" pitchFamily="34" charset="0"/>
              </a:rPr>
              <a:t> and 5.8% organically at </a:t>
            </a:r>
            <a:r>
              <a:rPr lang="en-US" sz="757"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Performance Food Group</a:t>
            </a:r>
            <a:r>
              <a:rPr lang="en-US" sz="757" kern="0" spc="15" dirty="0">
                <a:solidFill>
                  <a:srgbClr val="333231"/>
                </a:solidFill>
                <a:latin typeface="Quicksand" pitchFamily="34" charset="0"/>
              </a:rPr>
              <a:t>.</a:t>
            </a:r>
            <a:endParaRPr lang="en-US" sz="757" dirty="0"/>
          </a:p>
        </p:txBody>
      </p:sp>
      <p:sp>
        <p:nvSpPr>
          <p:cNvPr id="24" name="Text 23"/>
          <p:cNvSpPr txBox="1"/>
          <p:nvPr/>
        </p:nvSpPr>
        <p:spPr>
          <a:xfrm>
            <a:off x="552450"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25" name="Text 24"/>
          <p:cNvSpPr txBox="1"/>
          <p:nvPr/>
        </p:nvSpPr>
        <p:spPr>
          <a:xfrm>
            <a:off x="552450"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Family-owned strategics such as Rich Products, Sargento and C.H. Guenther, bakery consolidators, private equity platforms and European strategics entering the United States.</a:t>
            </a:r>
            <a:endParaRPr lang="en-US" sz="735" dirty="0"/>
          </a:p>
        </p:txBody>
      </p:sp>
      <p:sp>
        <p:nvSpPr>
          <p:cNvPr id="26" name="Shape 25"/>
          <p:cNvSpPr/>
          <p:nvPr/>
        </p:nvSpPr>
        <p:spPr>
          <a:xfrm>
            <a:off x="552450" y="6162675"/>
            <a:ext cx="1938337" cy="666750"/>
          </a:xfrm>
          <a:prstGeom prst="rect">
            <a:avLst/>
          </a:prstGeom>
          <a:solidFill>
            <a:srgbClr val="1B1A1A"/>
          </a:solidFill>
          <a:ln/>
        </p:spPr>
        <p:txBody>
          <a:bodyPr/>
          <a:lstStyle/>
          <a:p>
            <a:endParaRPr lang="en-US"/>
          </a:p>
        </p:txBody>
      </p:sp>
      <p:sp>
        <p:nvSpPr>
          <p:cNvPr id="27" name="Text 26"/>
          <p:cNvSpPr txBox="1"/>
          <p:nvPr/>
        </p:nvSpPr>
        <p:spPr>
          <a:xfrm>
            <a:off x="666750"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28" name="Text 27"/>
          <p:cNvSpPr txBox="1"/>
          <p:nvPr/>
        </p:nvSpPr>
        <p:spPr>
          <a:xfrm>
            <a:off x="666750"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4</a:t>
            </a:r>
            <a:endParaRPr lang="en-US" sz="1350" dirty="0"/>
          </a:p>
        </p:txBody>
      </p:sp>
      <p:sp>
        <p:nvSpPr>
          <p:cNvPr id="29" name="Text 28"/>
          <p:cNvSpPr txBox="1"/>
          <p:nvPr/>
        </p:nvSpPr>
        <p:spPr>
          <a:xfrm>
            <a:off x="962025"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30" name="Text 29"/>
          <p:cNvSpPr txBox="1"/>
          <p:nvPr/>
        </p:nvSpPr>
        <p:spPr>
          <a:xfrm>
            <a:off x="666750"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27</a:t>
            </a:r>
            <a:endParaRPr lang="en-US" sz="1350" dirty="0"/>
          </a:p>
        </p:txBody>
      </p:sp>
      <p:sp>
        <p:nvSpPr>
          <p:cNvPr id="31" name="Text 30"/>
          <p:cNvSpPr txBox="1"/>
          <p:nvPr/>
        </p:nvSpPr>
        <p:spPr>
          <a:xfrm>
            <a:off x="962025"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32" name="Shape 31"/>
          <p:cNvSpPr/>
          <p:nvPr/>
        </p:nvSpPr>
        <p:spPr>
          <a:xfrm>
            <a:off x="2757488" y="1238250"/>
            <a:ext cx="2205038" cy="5695950"/>
          </a:xfrm>
          <a:prstGeom prst="rect">
            <a:avLst/>
          </a:prstGeom>
          <a:solidFill>
            <a:srgbClr val="FAF7F3"/>
          </a:solidFill>
          <a:ln/>
        </p:spPr>
        <p:txBody>
          <a:bodyPr/>
          <a:lstStyle/>
          <a:p>
            <a:endParaRPr lang="en-US"/>
          </a:p>
        </p:txBody>
      </p:sp>
      <p:sp>
        <p:nvSpPr>
          <p:cNvPr id="33" name="Shape 32"/>
          <p:cNvSpPr/>
          <p:nvPr/>
        </p:nvSpPr>
        <p:spPr>
          <a:xfrm>
            <a:off x="2757488" y="1238250"/>
            <a:ext cx="2205038" cy="28575"/>
          </a:xfrm>
          <a:prstGeom prst="rect">
            <a:avLst/>
          </a:prstGeom>
          <a:solidFill>
            <a:srgbClr val="B68757"/>
          </a:solidFill>
          <a:ln/>
        </p:spPr>
        <p:txBody>
          <a:bodyPr/>
          <a:lstStyle/>
          <a:p>
            <a:endParaRPr lang="en-US"/>
          </a:p>
        </p:txBody>
      </p:sp>
      <p:pic>
        <p:nvPicPr>
          <p:cNvPr id="34" name="Cosmetics on a retail display" descr="Cosmetics on a retail display"/>
          <p:cNvPicPr>
            <a:picLocks noChangeAspect="1"/>
          </p:cNvPicPr>
          <p:nvPr/>
        </p:nvPicPr>
        <p:blipFill>
          <a:blip r:embed="rId10"/>
          <a:stretch>
            <a:fillRect/>
          </a:stretch>
        </p:blipFill>
        <p:spPr>
          <a:xfrm>
            <a:off x="2757488" y="1266825"/>
            <a:ext cx="2205038" cy="609600"/>
          </a:xfrm>
          <a:prstGeom prst="rect">
            <a:avLst/>
          </a:prstGeom>
        </p:spPr>
      </p:pic>
      <p:sp>
        <p:nvSpPr>
          <p:cNvPr id="35" name="Dot 34"/>
          <p:cNvSpPr/>
          <p:nvPr/>
        </p:nvSpPr>
        <p:spPr>
          <a:xfrm>
            <a:off x="2890838" y="1990725"/>
            <a:ext cx="285750" cy="285750"/>
          </a:xfrm>
          <a:prstGeom prst="ellipse">
            <a:avLst/>
          </a:prstGeom>
          <a:solidFill>
            <a:srgbClr val="1B1A1A"/>
          </a:solidFill>
          <a:ln/>
        </p:spPr>
        <p:txBody>
          <a:bodyPr/>
          <a:lstStyle/>
          <a:p>
            <a:endParaRPr lang="en-US"/>
          </a:p>
        </p:txBody>
      </p:sp>
      <p:pic>
        <p:nvPicPr>
          <p:cNvPr id="36" name="Icon" descr="/tmp/claude-0/-home-claude-about/4bef2f41-4227-5ff7-ab18-11ac74cd9797/scratchpad/pptx/ex/media/60d9d56b60f3.png"/>
          <p:cNvPicPr>
            <a:picLocks noChangeAspect="1"/>
          </p:cNvPicPr>
          <p:nvPr/>
        </p:nvPicPr>
        <p:blipFill>
          <a:blip r:embed="rId11"/>
          <a:stretch>
            <a:fillRect/>
          </a:stretch>
        </p:blipFill>
        <p:spPr>
          <a:xfrm>
            <a:off x="2957513" y="2057400"/>
            <a:ext cx="152400" cy="152400"/>
          </a:xfrm>
          <a:prstGeom prst="rect">
            <a:avLst/>
          </a:prstGeom>
        </p:spPr>
      </p:pic>
      <p:sp>
        <p:nvSpPr>
          <p:cNvPr id="37" name="Text 36"/>
          <p:cNvSpPr txBox="1"/>
          <p:nvPr/>
        </p:nvSpPr>
        <p:spPr>
          <a:xfrm>
            <a:off x="3262313"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Consumer Brands &amp; Products</a:t>
            </a:r>
            <a:endParaRPr lang="en-US" sz="938" dirty="0"/>
          </a:p>
        </p:txBody>
      </p:sp>
      <p:sp>
        <p:nvSpPr>
          <p:cNvPr id="38" name="Text 37"/>
          <p:cNvSpPr txBox="1"/>
          <p:nvPr/>
        </p:nvSpPr>
        <p:spPr>
          <a:xfrm>
            <a:off x="2890838" y="2366963"/>
            <a:ext cx="433536"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7%</a:t>
            </a:r>
            <a:endParaRPr lang="en-US" sz="2025" dirty="0"/>
          </a:p>
        </p:txBody>
      </p:sp>
      <p:sp>
        <p:nvSpPr>
          <p:cNvPr id="39" name="Text 38"/>
          <p:cNvSpPr txBox="1"/>
          <p:nvPr/>
        </p:nvSpPr>
        <p:spPr>
          <a:xfrm>
            <a:off x="3362474" y="2478881"/>
            <a:ext cx="1480989"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Growth in both prestige and mass beauty sales in the first half of 2026</a:t>
            </a:r>
            <a:endParaRPr lang="en-US" sz="675" dirty="0"/>
          </a:p>
        </p:txBody>
      </p:sp>
      <p:sp>
        <p:nvSpPr>
          <p:cNvPr id="40" name="Shape 39"/>
          <p:cNvSpPr/>
          <p:nvPr/>
        </p:nvSpPr>
        <p:spPr>
          <a:xfrm>
            <a:off x="2890838" y="2890838"/>
            <a:ext cx="1938337" cy="9525"/>
          </a:xfrm>
          <a:prstGeom prst="rect">
            <a:avLst/>
          </a:prstGeom>
          <a:solidFill>
            <a:srgbClr val="E3DCD3"/>
          </a:solidFill>
          <a:ln/>
        </p:spPr>
        <p:txBody>
          <a:bodyPr/>
          <a:lstStyle/>
          <a:p>
            <a:endParaRPr lang="en-US"/>
          </a:p>
        </p:txBody>
      </p:sp>
      <p:sp>
        <p:nvSpPr>
          <p:cNvPr id="41" name="Shape 40"/>
          <p:cNvSpPr/>
          <p:nvPr/>
        </p:nvSpPr>
        <p:spPr>
          <a:xfrm>
            <a:off x="2890838" y="3033713"/>
            <a:ext cx="47625" cy="47625"/>
          </a:xfrm>
          <a:prstGeom prst="rect">
            <a:avLst/>
          </a:prstGeom>
          <a:solidFill>
            <a:srgbClr val="B68757"/>
          </a:solidFill>
          <a:ln/>
        </p:spPr>
        <p:txBody>
          <a:bodyPr/>
          <a:lstStyle/>
          <a:p>
            <a:endParaRPr lang="en-US"/>
          </a:p>
        </p:txBody>
      </p:sp>
      <p:sp>
        <p:nvSpPr>
          <p:cNvPr id="42" name="Text 41"/>
          <p:cNvSpPr txBox="1"/>
          <p:nvPr/>
        </p:nvSpPr>
        <p:spPr>
          <a:xfrm>
            <a:off x="3014663" y="2979896"/>
            <a:ext cx="1828800" cy="817096"/>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Beauty, personal care, over-the-counter health and pet products drew a large share of this year’s brand acquisitions, and beauty and pet spending are still growing (</a:t>
            </a:r>
            <a:r>
              <a:rPr lang="en-US" sz="757"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Circana</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American Pet Products Association</a:t>
            </a:r>
            <a:r>
              <a:rPr lang="en-US" sz="757" kern="0" spc="15" dirty="0">
                <a:solidFill>
                  <a:srgbClr val="333231"/>
                </a:solidFill>
                <a:latin typeface="Quicksand" pitchFamily="34" charset="0"/>
              </a:rPr>
              <a:t>).</a:t>
            </a:r>
            <a:endParaRPr lang="en-US" sz="757" dirty="0"/>
          </a:p>
        </p:txBody>
      </p:sp>
      <p:sp>
        <p:nvSpPr>
          <p:cNvPr id="43" name="Shape 42"/>
          <p:cNvSpPr/>
          <p:nvPr/>
        </p:nvSpPr>
        <p:spPr>
          <a:xfrm>
            <a:off x="2890838" y="3917454"/>
            <a:ext cx="47625" cy="47625"/>
          </a:xfrm>
          <a:prstGeom prst="rect">
            <a:avLst/>
          </a:prstGeom>
          <a:solidFill>
            <a:srgbClr val="B68757"/>
          </a:solidFill>
          <a:ln/>
        </p:spPr>
        <p:txBody>
          <a:bodyPr/>
          <a:lstStyle/>
          <a:p>
            <a:endParaRPr lang="en-US"/>
          </a:p>
        </p:txBody>
      </p:sp>
      <p:sp>
        <p:nvSpPr>
          <p:cNvPr id="44" name="Text 43"/>
          <p:cNvSpPr txBox="1"/>
          <p:nvPr/>
        </p:nvSpPr>
        <p:spPr>
          <a:xfrm>
            <a:off x="3014663" y="3863638"/>
            <a:ext cx="1828800" cy="544741"/>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Dollar growth overstates unit demand: non-edible packaged goods rose 3.1% in dollars and fell 2.2% in units in June (</a:t>
            </a:r>
            <a:r>
              <a:rPr lang="en-US" sz="757"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Circana</a:t>
            </a:r>
            <a:r>
              <a:rPr lang="en-US" sz="757" kern="0" spc="15" dirty="0">
                <a:solidFill>
                  <a:srgbClr val="333231"/>
                </a:solidFill>
                <a:latin typeface="Quicksand" pitchFamily="34" charset="0"/>
              </a:rPr>
              <a:t>).</a:t>
            </a:r>
            <a:endParaRPr lang="en-US" sz="757" dirty="0"/>
          </a:p>
        </p:txBody>
      </p:sp>
      <p:sp>
        <p:nvSpPr>
          <p:cNvPr id="45" name="Shape 44"/>
          <p:cNvSpPr/>
          <p:nvPr/>
        </p:nvSpPr>
        <p:spPr>
          <a:xfrm>
            <a:off x="2890838" y="4528840"/>
            <a:ext cx="47625" cy="47625"/>
          </a:xfrm>
          <a:prstGeom prst="rect">
            <a:avLst/>
          </a:prstGeom>
          <a:solidFill>
            <a:srgbClr val="B68757"/>
          </a:solidFill>
          <a:ln/>
        </p:spPr>
        <p:txBody>
          <a:bodyPr/>
          <a:lstStyle/>
          <a:p>
            <a:endParaRPr lang="en-US"/>
          </a:p>
        </p:txBody>
      </p:sp>
      <p:sp>
        <p:nvSpPr>
          <p:cNvPr id="46" name="Text 45"/>
          <p:cNvSpPr txBox="1"/>
          <p:nvPr/>
        </p:nvSpPr>
        <p:spPr>
          <a:xfrm>
            <a:off x="3014663" y="4475024"/>
            <a:ext cx="1828800" cy="544741"/>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Importers have carried three tariff regimes since April 2025, and packaging producer-responsibility rules </a:t>
            </a:r>
            <a:r>
              <a:rPr lang="en-US" sz="757"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took effect in California</a:t>
            </a:r>
            <a:r>
              <a:rPr lang="en-US" sz="757" kern="0" spc="15" dirty="0">
                <a:solidFill>
                  <a:srgbClr val="333231"/>
                </a:solidFill>
                <a:latin typeface="Quicksand" pitchFamily="34" charset="0"/>
              </a:rPr>
              <a:t> on May 1.</a:t>
            </a:r>
            <a:endParaRPr lang="en-US" sz="757" dirty="0"/>
          </a:p>
        </p:txBody>
      </p:sp>
      <p:sp>
        <p:nvSpPr>
          <p:cNvPr id="47" name="Text 46"/>
          <p:cNvSpPr txBox="1"/>
          <p:nvPr/>
        </p:nvSpPr>
        <p:spPr>
          <a:xfrm>
            <a:off x="2890838"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48" name="Text 47"/>
          <p:cNvSpPr txBox="1"/>
          <p:nvPr/>
        </p:nvSpPr>
        <p:spPr>
          <a:xfrm>
            <a:off x="2890838"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Strategics such as Procter &amp; Gamble, Clorox and Henkel, consumer private equity firms such as Advent, TSG and TowerBrook, and brand-management firms.</a:t>
            </a:r>
            <a:endParaRPr lang="en-US" sz="735" dirty="0"/>
          </a:p>
        </p:txBody>
      </p:sp>
      <p:sp>
        <p:nvSpPr>
          <p:cNvPr id="49" name="Shape 48"/>
          <p:cNvSpPr/>
          <p:nvPr/>
        </p:nvSpPr>
        <p:spPr>
          <a:xfrm>
            <a:off x="2890838" y="6162675"/>
            <a:ext cx="1938337" cy="666750"/>
          </a:xfrm>
          <a:prstGeom prst="rect">
            <a:avLst/>
          </a:prstGeom>
          <a:solidFill>
            <a:srgbClr val="1B1A1A"/>
          </a:solidFill>
          <a:ln/>
        </p:spPr>
        <p:txBody>
          <a:bodyPr/>
          <a:lstStyle/>
          <a:p>
            <a:endParaRPr lang="en-US"/>
          </a:p>
        </p:txBody>
      </p:sp>
      <p:sp>
        <p:nvSpPr>
          <p:cNvPr id="50" name="Text 49"/>
          <p:cNvSpPr txBox="1"/>
          <p:nvPr/>
        </p:nvSpPr>
        <p:spPr>
          <a:xfrm>
            <a:off x="3005138"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51" name="Text 50"/>
          <p:cNvSpPr txBox="1"/>
          <p:nvPr/>
        </p:nvSpPr>
        <p:spPr>
          <a:xfrm>
            <a:off x="3005138"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a:t>
            </a:r>
            <a:endParaRPr lang="en-US" sz="1350" dirty="0"/>
          </a:p>
        </p:txBody>
      </p:sp>
      <p:sp>
        <p:nvSpPr>
          <p:cNvPr id="52" name="Text 51"/>
          <p:cNvSpPr txBox="1"/>
          <p:nvPr/>
        </p:nvSpPr>
        <p:spPr>
          <a:xfrm>
            <a:off x="3300413"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53" name="Text 52"/>
          <p:cNvSpPr txBox="1"/>
          <p:nvPr/>
        </p:nvSpPr>
        <p:spPr>
          <a:xfrm>
            <a:off x="3005138"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12</a:t>
            </a:r>
            <a:endParaRPr lang="en-US" sz="1350" dirty="0"/>
          </a:p>
        </p:txBody>
      </p:sp>
      <p:sp>
        <p:nvSpPr>
          <p:cNvPr id="54" name="Text 53"/>
          <p:cNvSpPr txBox="1"/>
          <p:nvPr/>
        </p:nvSpPr>
        <p:spPr>
          <a:xfrm>
            <a:off x="3300413"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55" name="Shape 54"/>
          <p:cNvSpPr/>
          <p:nvPr/>
        </p:nvSpPr>
        <p:spPr>
          <a:xfrm>
            <a:off x="5095875" y="1238250"/>
            <a:ext cx="2205038" cy="5695950"/>
          </a:xfrm>
          <a:prstGeom prst="rect">
            <a:avLst/>
          </a:prstGeom>
          <a:solidFill>
            <a:srgbClr val="FAF7F3"/>
          </a:solidFill>
          <a:ln/>
        </p:spPr>
        <p:txBody>
          <a:bodyPr/>
          <a:lstStyle/>
          <a:p>
            <a:endParaRPr lang="en-US"/>
          </a:p>
        </p:txBody>
      </p:sp>
      <p:sp>
        <p:nvSpPr>
          <p:cNvPr id="56" name="Shape 55"/>
          <p:cNvSpPr/>
          <p:nvPr/>
        </p:nvSpPr>
        <p:spPr>
          <a:xfrm>
            <a:off x="5095875" y="1238250"/>
            <a:ext cx="2205038" cy="28575"/>
          </a:xfrm>
          <a:prstGeom prst="rect">
            <a:avLst/>
          </a:prstGeom>
          <a:solidFill>
            <a:srgbClr val="B68757"/>
          </a:solidFill>
          <a:ln/>
        </p:spPr>
        <p:txBody>
          <a:bodyPr/>
          <a:lstStyle/>
          <a:p>
            <a:endParaRPr lang="en-US"/>
          </a:p>
        </p:txBody>
      </p:sp>
      <p:pic>
        <p:nvPicPr>
          <p:cNvPr id="57" name="Glassware hanging above a bar" descr="Glassware hanging above a bar"/>
          <p:cNvPicPr>
            <a:picLocks noChangeAspect="1"/>
          </p:cNvPicPr>
          <p:nvPr/>
        </p:nvPicPr>
        <p:blipFill>
          <a:blip r:embed="rId16"/>
          <a:stretch>
            <a:fillRect/>
          </a:stretch>
        </p:blipFill>
        <p:spPr>
          <a:xfrm>
            <a:off x="5095875" y="1266825"/>
            <a:ext cx="2205038" cy="609600"/>
          </a:xfrm>
          <a:prstGeom prst="rect">
            <a:avLst/>
          </a:prstGeom>
        </p:spPr>
      </p:pic>
      <p:sp>
        <p:nvSpPr>
          <p:cNvPr id="58" name="Dot 57"/>
          <p:cNvSpPr/>
          <p:nvPr/>
        </p:nvSpPr>
        <p:spPr>
          <a:xfrm>
            <a:off x="5229225" y="1990725"/>
            <a:ext cx="285750" cy="285750"/>
          </a:xfrm>
          <a:prstGeom prst="ellipse">
            <a:avLst/>
          </a:prstGeom>
          <a:solidFill>
            <a:srgbClr val="1B1A1A"/>
          </a:solidFill>
          <a:ln/>
        </p:spPr>
        <p:txBody>
          <a:bodyPr/>
          <a:lstStyle/>
          <a:p>
            <a:endParaRPr lang="en-US"/>
          </a:p>
        </p:txBody>
      </p:sp>
      <p:pic>
        <p:nvPicPr>
          <p:cNvPr id="59" name="Icon" descr="/tmp/claude-0/-home-claude-about/4bef2f41-4227-5ff7-ab18-11ac74cd9797/scratchpad/pptx/ex/media/d87eae45b167.png"/>
          <p:cNvPicPr>
            <a:picLocks noChangeAspect="1"/>
          </p:cNvPicPr>
          <p:nvPr/>
        </p:nvPicPr>
        <p:blipFill>
          <a:blip r:embed="rId17"/>
          <a:stretch>
            <a:fillRect/>
          </a:stretch>
        </p:blipFill>
        <p:spPr>
          <a:xfrm>
            <a:off x="5295900" y="2057400"/>
            <a:ext cx="152400" cy="152400"/>
          </a:xfrm>
          <a:prstGeom prst="rect">
            <a:avLst/>
          </a:prstGeom>
        </p:spPr>
      </p:pic>
      <p:sp>
        <p:nvSpPr>
          <p:cNvPr id="60" name="Text 59"/>
          <p:cNvSpPr txBox="1"/>
          <p:nvPr/>
        </p:nvSpPr>
        <p:spPr>
          <a:xfrm>
            <a:off x="5600700"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Foodservice &amp; Distribution</a:t>
            </a:r>
            <a:endParaRPr lang="en-US" sz="938" dirty="0"/>
          </a:p>
        </p:txBody>
      </p:sp>
      <p:sp>
        <p:nvSpPr>
          <p:cNvPr id="61" name="Text 60"/>
          <p:cNvSpPr txBox="1"/>
          <p:nvPr/>
        </p:nvSpPr>
        <p:spPr>
          <a:xfrm>
            <a:off x="5229225" y="2366963"/>
            <a:ext cx="940594"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$1.55T</a:t>
            </a:r>
            <a:endParaRPr lang="en-US" sz="2025" dirty="0"/>
          </a:p>
        </p:txBody>
      </p:sp>
      <p:sp>
        <p:nvSpPr>
          <p:cNvPr id="62" name="Text 61"/>
          <p:cNvSpPr txBox="1"/>
          <p:nvPr/>
        </p:nvSpPr>
        <p:spPr>
          <a:xfrm>
            <a:off x="6207919" y="2478881"/>
            <a:ext cx="973931"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Restaurant and foodservice sales forecast for 2026</a:t>
            </a:r>
            <a:endParaRPr lang="en-US" sz="675" dirty="0"/>
          </a:p>
        </p:txBody>
      </p:sp>
      <p:sp>
        <p:nvSpPr>
          <p:cNvPr id="63" name="Shape 62"/>
          <p:cNvSpPr/>
          <p:nvPr/>
        </p:nvSpPr>
        <p:spPr>
          <a:xfrm>
            <a:off x="5229225" y="2890838"/>
            <a:ext cx="1938337" cy="9525"/>
          </a:xfrm>
          <a:prstGeom prst="rect">
            <a:avLst/>
          </a:prstGeom>
          <a:solidFill>
            <a:srgbClr val="E3DCD3"/>
          </a:solidFill>
          <a:ln/>
        </p:spPr>
        <p:txBody>
          <a:bodyPr/>
          <a:lstStyle/>
          <a:p>
            <a:endParaRPr lang="en-US"/>
          </a:p>
        </p:txBody>
      </p:sp>
      <p:sp>
        <p:nvSpPr>
          <p:cNvPr id="64" name="Shape 63"/>
          <p:cNvSpPr/>
          <p:nvPr/>
        </p:nvSpPr>
        <p:spPr>
          <a:xfrm>
            <a:off x="5229225" y="3033713"/>
            <a:ext cx="47625" cy="47625"/>
          </a:xfrm>
          <a:prstGeom prst="rect">
            <a:avLst/>
          </a:prstGeom>
          <a:solidFill>
            <a:srgbClr val="B68757"/>
          </a:solidFill>
          <a:ln/>
        </p:spPr>
        <p:txBody>
          <a:bodyPr/>
          <a:lstStyle/>
          <a:p>
            <a:endParaRPr lang="en-US"/>
          </a:p>
        </p:txBody>
      </p:sp>
      <p:sp>
        <p:nvSpPr>
          <p:cNvPr id="65" name="Text 64"/>
          <p:cNvSpPr txBox="1"/>
          <p:nvPr/>
        </p:nvSpPr>
        <p:spPr>
          <a:xfrm>
            <a:off x="5353050" y="2979896"/>
            <a:ext cx="1828800" cy="817096"/>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Operators are spending carefully: sales of equipment and supplies through manufacturers’ agents </a:t>
            </a:r>
            <a:r>
              <a:rPr lang="en-US" sz="757"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rose 2.0%</a:t>
            </a:r>
            <a:r>
              <a:rPr lang="en-US" sz="757" kern="0" spc="15" dirty="0">
                <a:solidFill>
                  <a:srgbClr val="333231"/>
                </a:solidFill>
                <a:latin typeface="Quicksand" pitchFamily="34" charset="0"/>
              </a:rPr>
              <a:t> in the second quarter, and the share of agents reporting more quoting fell to 33%.</a:t>
            </a:r>
            <a:endParaRPr lang="en-US" sz="757" dirty="0"/>
          </a:p>
        </p:txBody>
      </p:sp>
      <p:sp>
        <p:nvSpPr>
          <p:cNvPr id="66" name="Shape 65"/>
          <p:cNvSpPr/>
          <p:nvPr/>
        </p:nvSpPr>
        <p:spPr>
          <a:xfrm>
            <a:off x="5229225" y="3917454"/>
            <a:ext cx="47625" cy="47625"/>
          </a:xfrm>
          <a:prstGeom prst="rect">
            <a:avLst/>
          </a:prstGeom>
          <a:solidFill>
            <a:srgbClr val="B68757"/>
          </a:solidFill>
          <a:ln/>
        </p:spPr>
        <p:txBody>
          <a:bodyPr/>
          <a:lstStyle/>
          <a:p>
            <a:endParaRPr lang="en-US"/>
          </a:p>
        </p:txBody>
      </p:sp>
      <p:sp>
        <p:nvSpPr>
          <p:cNvPr id="67" name="Text 66"/>
          <p:cNvSpPr txBox="1"/>
          <p:nvPr/>
        </p:nvSpPr>
        <p:spPr>
          <a:xfrm>
            <a:off x="5353050" y="3863638"/>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Franchisee distress is the credit risk in the channel. A 314-unit Wendy’s franchisee </a:t>
            </a:r>
            <a:r>
              <a:rPr lang="en-US" sz="757" u="sng" kern="0" spc="15" dirty="0">
                <a:solidFill>
                  <a:srgbClr val="8C6239"/>
                </a:solidFill>
                <a:latin typeface="Quicksand" pitchFamily="34" charset="0"/>
                <a:hlinkClick r:id="rId19">
                  <a:extLst>
                    <a:ext uri="{A12FA001-AC4F-418D-AE19-62706E023703}">
                      <ahyp:hlinkClr xmlns:ahyp="http://schemas.microsoft.com/office/drawing/2018/hyperlinkcolor" val="tx"/>
                    </a:ext>
                  </a:extLst>
                </a:hlinkClick>
              </a:rPr>
              <a:t>filed for Chapter 11 in September</a:t>
            </a:r>
            <a:r>
              <a:rPr lang="en-US" sz="757" kern="0" spc="15" dirty="0">
                <a:solidFill>
                  <a:srgbClr val="333231"/>
                </a:solidFill>
                <a:latin typeface="Quicksand" pitchFamily="34" charset="0"/>
              </a:rPr>
              <a:t> after store-level EBITDA fell 48%.</a:t>
            </a:r>
            <a:endParaRPr lang="en-US" sz="757" dirty="0"/>
          </a:p>
        </p:txBody>
      </p:sp>
      <p:sp>
        <p:nvSpPr>
          <p:cNvPr id="68" name="Shape 67"/>
          <p:cNvSpPr/>
          <p:nvPr/>
        </p:nvSpPr>
        <p:spPr>
          <a:xfrm>
            <a:off x="5229225" y="4665018"/>
            <a:ext cx="47625" cy="47625"/>
          </a:xfrm>
          <a:prstGeom prst="rect">
            <a:avLst/>
          </a:prstGeom>
          <a:solidFill>
            <a:srgbClr val="B68757"/>
          </a:solidFill>
          <a:ln/>
        </p:spPr>
        <p:txBody>
          <a:bodyPr/>
          <a:lstStyle/>
          <a:p>
            <a:endParaRPr lang="en-US"/>
          </a:p>
        </p:txBody>
      </p:sp>
      <p:sp>
        <p:nvSpPr>
          <p:cNvPr id="69" name="Text 68"/>
          <p:cNvSpPr txBox="1"/>
          <p:nvPr/>
        </p:nvSpPr>
        <p:spPr>
          <a:xfrm>
            <a:off x="5353050" y="4611201"/>
            <a:ext cx="1828800" cy="408563"/>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Parts, repair, ice and refreshment route businesses changed hands all year (</a:t>
            </a:r>
            <a:r>
              <a:rPr lang="en-US" sz="757"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Parts Town</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Easy Ice</a:t>
            </a:r>
            <a:r>
              <a:rPr lang="en-US" sz="757" kern="0" spc="15" dirty="0">
                <a:solidFill>
                  <a:srgbClr val="333231"/>
                </a:solidFill>
                <a:latin typeface="Quicksand" pitchFamily="34" charset="0"/>
              </a:rPr>
              <a:t>).</a:t>
            </a:r>
            <a:endParaRPr lang="en-US" sz="757" dirty="0"/>
          </a:p>
        </p:txBody>
      </p:sp>
      <p:sp>
        <p:nvSpPr>
          <p:cNvPr id="70" name="Text 69"/>
          <p:cNvSpPr txBox="1"/>
          <p:nvPr/>
        </p:nvSpPr>
        <p:spPr>
          <a:xfrm>
            <a:off x="5229225"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71" name="Text 70"/>
          <p:cNvSpPr txBox="1"/>
          <p:nvPr/>
        </p:nvSpPr>
        <p:spPr>
          <a:xfrm>
            <a:off x="5229225"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Strategic dealers such as Singer and Wasserstrom, parts and service platforms such as Parts Town and Tech24, and route platforms such as Five Star Breaktime Solutions.</a:t>
            </a:r>
            <a:endParaRPr lang="en-US" sz="735" dirty="0"/>
          </a:p>
        </p:txBody>
      </p:sp>
      <p:sp>
        <p:nvSpPr>
          <p:cNvPr id="72" name="Shape 71"/>
          <p:cNvSpPr/>
          <p:nvPr/>
        </p:nvSpPr>
        <p:spPr>
          <a:xfrm>
            <a:off x="5229225" y="6162675"/>
            <a:ext cx="1938337" cy="666750"/>
          </a:xfrm>
          <a:prstGeom prst="rect">
            <a:avLst/>
          </a:prstGeom>
          <a:solidFill>
            <a:srgbClr val="1B1A1A"/>
          </a:solidFill>
          <a:ln/>
        </p:spPr>
        <p:txBody>
          <a:bodyPr/>
          <a:lstStyle/>
          <a:p>
            <a:endParaRPr lang="en-US"/>
          </a:p>
        </p:txBody>
      </p:sp>
      <p:sp>
        <p:nvSpPr>
          <p:cNvPr id="73" name="Text 72"/>
          <p:cNvSpPr txBox="1"/>
          <p:nvPr/>
        </p:nvSpPr>
        <p:spPr>
          <a:xfrm>
            <a:off x="5343525"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74" name="Text 73"/>
          <p:cNvSpPr txBox="1"/>
          <p:nvPr/>
        </p:nvSpPr>
        <p:spPr>
          <a:xfrm>
            <a:off x="5343525"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6</a:t>
            </a:r>
            <a:endParaRPr lang="en-US" sz="1350" dirty="0"/>
          </a:p>
        </p:txBody>
      </p:sp>
      <p:sp>
        <p:nvSpPr>
          <p:cNvPr id="75" name="Text 74"/>
          <p:cNvSpPr txBox="1"/>
          <p:nvPr/>
        </p:nvSpPr>
        <p:spPr>
          <a:xfrm>
            <a:off x="5638800"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76" name="Text 75"/>
          <p:cNvSpPr txBox="1"/>
          <p:nvPr/>
        </p:nvSpPr>
        <p:spPr>
          <a:xfrm>
            <a:off x="5343525" y="6548438"/>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5</a:t>
            </a:r>
            <a:endParaRPr lang="en-US" sz="1350" dirty="0"/>
          </a:p>
        </p:txBody>
      </p:sp>
      <p:sp>
        <p:nvSpPr>
          <p:cNvPr id="77" name="Text 76"/>
          <p:cNvSpPr txBox="1"/>
          <p:nvPr/>
        </p:nvSpPr>
        <p:spPr>
          <a:xfrm>
            <a:off x="5638800"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78" name="Shape 77"/>
          <p:cNvSpPr/>
          <p:nvPr/>
        </p:nvSpPr>
        <p:spPr>
          <a:xfrm>
            <a:off x="7434263" y="1238250"/>
            <a:ext cx="2205038" cy="5695950"/>
          </a:xfrm>
          <a:prstGeom prst="rect">
            <a:avLst/>
          </a:prstGeom>
          <a:solidFill>
            <a:srgbClr val="FAF7F3"/>
          </a:solidFill>
          <a:ln/>
        </p:spPr>
        <p:txBody>
          <a:bodyPr/>
          <a:lstStyle/>
          <a:p>
            <a:endParaRPr lang="en-US"/>
          </a:p>
        </p:txBody>
      </p:sp>
      <p:sp>
        <p:nvSpPr>
          <p:cNvPr id="79" name="Shape 78"/>
          <p:cNvSpPr/>
          <p:nvPr/>
        </p:nvSpPr>
        <p:spPr>
          <a:xfrm>
            <a:off x="7434263" y="1238250"/>
            <a:ext cx="2205038" cy="28575"/>
          </a:xfrm>
          <a:prstGeom prst="rect">
            <a:avLst/>
          </a:prstGeom>
          <a:solidFill>
            <a:srgbClr val="B68757"/>
          </a:solidFill>
          <a:ln/>
        </p:spPr>
        <p:txBody>
          <a:bodyPr/>
          <a:lstStyle/>
          <a:p>
            <a:endParaRPr lang="en-US"/>
          </a:p>
        </p:txBody>
      </p:sp>
      <p:pic>
        <p:nvPicPr>
          <p:cNvPr id="80" name="A glass-roofed shopping arcade" descr="A glass-roofed shopping arcade"/>
          <p:cNvPicPr>
            <a:picLocks noChangeAspect="1"/>
          </p:cNvPicPr>
          <p:nvPr/>
        </p:nvPicPr>
        <p:blipFill>
          <a:blip r:embed="rId22"/>
          <a:stretch>
            <a:fillRect/>
          </a:stretch>
        </p:blipFill>
        <p:spPr>
          <a:xfrm>
            <a:off x="7434263" y="1266825"/>
            <a:ext cx="2205038" cy="609600"/>
          </a:xfrm>
          <a:prstGeom prst="rect">
            <a:avLst/>
          </a:prstGeom>
        </p:spPr>
      </p:pic>
      <p:sp>
        <p:nvSpPr>
          <p:cNvPr id="81" name="Dot 80"/>
          <p:cNvSpPr/>
          <p:nvPr/>
        </p:nvSpPr>
        <p:spPr>
          <a:xfrm>
            <a:off x="7567612" y="1990725"/>
            <a:ext cx="285750" cy="285750"/>
          </a:xfrm>
          <a:prstGeom prst="ellipse">
            <a:avLst/>
          </a:prstGeom>
          <a:solidFill>
            <a:srgbClr val="1B1A1A"/>
          </a:solidFill>
          <a:ln/>
        </p:spPr>
        <p:txBody>
          <a:bodyPr/>
          <a:lstStyle/>
          <a:p>
            <a:endParaRPr lang="en-US"/>
          </a:p>
        </p:txBody>
      </p:sp>
      <p:pic>
        <p:nvPicPr>
          <p:cNvPr id="82" name="Icon" descr="/tmp/claude-0/-home-claude-about/4bef2f41-4227-5ff7-ab18-11ac74cd9797/scratchpad/pptx/ex/media/84e7bc3cb1b6.png"/>
          <p:cNvPicPr>
            <a:picLocks noChangeAspect="1"/>
          </p:cNvPicPr>
          <p:nvPr/>
        </p:nvPicPr>
        <p:blipFill>
          <a:blip r:embed="rId23"/>
          <a:stretch>
            <a:fillRect/>
          </a:stretch>
        </p:blipFill>
        <p:spPr>
          <a:xfrm>
            <a:off x="7634288" y="2057400"/>
            <a:ext cx="152400" cy="152400"/>
          </a:xfrm>
          <a:prstGeom prst="rect">
            <a:avLst/>
          </a:prstGeom>
        </p:spPr>
      </p:pic>
      <p:sp>
        <p:nvSpPr>
          <p:cNvPr id="83" name="Text 82"/>
          <p:cNvSpPr txBox="1"/>
          <p:nvPr/>
        </p:nvSpPr>
        <p:spPr>
          <a:xfrm>
            <a:off x="7939087"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Consumer Services &amp; Retail</a:t>
            </a:r>
            <a:endParaRPr lang="en-US" sz="938" dirty="0"/>
          </a:p>
        </p:txBody>
      </p:sp>
      <p:sp>
        <p:nvSpPr>
          <p:cNvPr id="84" name="Text 83"/>
          <p:cNvSpPr txBox="1"/>
          <p:nvPr/>
        </p:nvSpPr>
        <p:spPr>
          <a:xfrm>
            <a:off x="7567612" y="2366963"/>
            <a:ext cx="778818"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$3.1B</a:t>
            </a:r>
            <a:endParaRPr lang="en-US" sz="2025" dirty="0"/>
          </a:p>
        </p:txBody>
      </p:sp>
      <p:sp>
        <p:nvSpPr>
          <p:cNvPr id="85" name="Text 84"/>
          <p:cNvSpPr txBox="1"/>
          <p:nvPr/>
        </p:nvSpPr>
        <p:spPr>
          <a:xfrm>
            <a:off x="8384530" y="2478881"/>
            <a:ext cx="1135707"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Enterprise value of the Mister Car Wash take-private completed in May</a:t>
            </a:r>
            <a:endParaRPr lang="en-US" sz="675" dirty="0"/>
          </a:p>
        </p:txBody>
      </p:sp>
      <p:sp>
        <p:nvSpPr>
          <p:cNvPr id="86" name="Shape 85"/>
          <p:cNvSpPr/>
          <p:nvPr/>
        </p:nvSpPr>
        <p:spPr>
          <a:xfrm>
            <a:off x="7567612" y="2890838"/>
            <a:ext cx="1938337" cy="9525"/>
          </a:xfrm>
          <a:prstGeom prst="rect">
            <a:avLst/>
          </a:prstGeom>
          <a:solidFill>
            <a:srgbClr val="E3DCD3"/>
          </a:solidFill>
          <a:ln/>
        </p:spPr>
        <p:txBody>
          <a:bodyPr/>
          <a:lstStyle/>
          <a:p>
            <a:endParaRPr lang="en-US"/>
          </a:p>
        </p:txBody>
      </p:sp>
      <p:sp>
        <p:nvSpPr>
          <p:cNvPr id="87" name="Shape 86"/>
          <p:cNvSpPr/>
          <p:nvPr/>
        </p:nvSpPr>
        <p:spPr>
          <a:xfrm>
            <a:off x="7567612" y="3033713"/>
            <a:ext cx="47625" cy="47625"/>
          </a:xfrm>
          <a:prstGeom prst="rect">
            <a:avLst/>
          </a:prstGeom>
          <a:solidFill>
            <a:srgbClr val="B68757"/>
          </a:solidFill>
          <a:ln/>
        </p:spPr>
        <p:txBody>
          <a:bodyPr/>
          <a:lstStyle/>
          <a:p>
            <a:endParaRPr lang="en-US"/>
          </a:p>
        </p:txBody>
      </p:sp>
      <p:sp>
        <p:nvSpPr>
          <p:cNvPr id="88" name="Text 87"/>
          <p:cNvSpPr txBox="1"/>
          <p:nvPr/>
        </p:nvSpPr>
        <p:spPr>
          <a:xfrm>
            <a:off x="7691438" y="2979896"/>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Sponsors paid for scale: Leonard Green took </a:t>
            </a:r>
            <a:r>
              <a:rPr lang="en-US" sz="757" u="sng" kern="0" spc="15" dirty="0">
                <a:solidFill>
                  <a:srgbClr val="8C6239"/>
                </a:solidFill>
                <a:latin typeface="Quicksand" pitchFamily="34" charset="0"/>
                <a:hlinkClick r:id="rId24">
                  <a:extLst>
                    <a:ext uri="{A12FA001-AC4F-418D-AE19-62706E023703}">
                      <ahyp:hlinkClr xmlns:ahyp="http://schemas.microsoft.com/office/drawing/2018/hyperlinkcolor" val="tx"/>
                    </a:ext>
                  </a:extLst>
                </a:hlinkClick>
              </a:rPr>
              <a:t>Mister Car Wash</a:t>
            </a:r>
            <a:r>
              <a:rPr lang="en-US" sz="757" kern="0" spc="15" dirty="0">
                <a:solidFill>
                  <a:srgbClr val="333231"/>
                </a:solidFill>
                <a:latin typeface="Quicksand" pitchFamily="34" charset="0"/>
              </a:rPr>
              <a:t> private and Blackstone agreed to buy </a:t>
            </a:r>
            <a:r>
              <a:rPr lang="en-US" sz="757" u="sng" kern="0" spc="15" dirty="0">
                <a:solidFill>
                  <a:srgbClr val="8C6239"/>
                </a:solidFill>
                <a:latin typeface="Quicksand" pitchFamily="34" charset="0"/>
                <a:hlinkClick r:id="rId25">
                  <a:extLst>
                    <a:ext uri="{A12FA001-AC4F-418D-AE19-62706E023703}">
                      <ahyp:hlinkClr xmlns:ahyp="http://schemas.microsoft.com/office/drawing/2018/hyperlinkcolor" val="tx"/>
                    </a:ext>
                  </a:extLst>
                </a:hlinkClick>
              </a:rPr>
              <a:t>Champions Group</a:t>
            </a:r>
            <a:r>
              <a:rPr lang="en-US" sz="757" kern="0" spc="15" dirty="0">
                <a:solidFill>
                  <a:srgbClr val="333231"/>
                </a:solidFill>
                <a:latin typeface="Quicksand" pitchFamily="34" charset="0"/>
              </a:rPr>
              <a:t> for about $2.5 billion.</a:t>
            </a:r>
            <a:endParaRPr lang="en-US" sz="757" dirty="0"/>
          </a:p>
        </p:txBody>
      </p:sp>
      <p:sp>
        <p:nvSpPr>
          <p:cNvPr id="89" name="Shape 88"/>
          <p:cNvSpPr/>
          <p:nvPr/>
        </p:nvSpPr>
        <p:spPr>
          <a:xfrm>
            <a:off x="7567612" y="3781276"/>
            <a:ext cx="47625" cy="47625"/>
          </a:xfrm>
          <a:prstGeom prst="rect">
            <a:avLst/>
          </a:prstGeom>
          <a:solidFill>
            <a:srgbClr val="B68757"/>
          </a:solidFill>
          <a:ln/>
        </p:spPr>
        <p:txBody>
          <a:bodyPr/>
          <a:lstStyle/>
          <a:p>
            <a:endParaRPr lang="en-US"/>
          </a:p>
        </p:txBody>
      </p:sp>
      <p:sp>
        <p:nvSpPr>
          <p:cNvPr id="90" name="Text 89"/>
          <p:cNvSpPr txBox="1"/>
          <p:nvPr/>
        </p:nvSpPr>
        <p:spPr>
          <a:xfrm>
            <a:off x="7691438" y="3727460"/>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Platforms buy family-owned operators a few locations at a time, as when Classic Collision </a:t>
            </a:r>
            <a:r>
              <a:rPr lang="en-US" sz="757" u="sng" kern="0" spc="15" dirty="0">
                <a:solidFill>
                  <a:srgbClr val="8C6239"/>
                </a:solidFill>
                <a:latin typeface="Quicksand" pitchFamily="34" charset="0"/>
                <a:hlinkClick r:id="rId26">
                  <a:extLst>
                    <a:ext uri="{A12FA001-AC4F-418D-AE19-62706E023703}">
                      <ahyp:hlinkClr xmlns:ahyp="http://schemas.microsoft.com/office/drawing/2018/hyperlinkcolor" val="tx"/>
                    </a:ext>
                  </a:extLst>
                </a:hlinkClick>
              </a:rPr>
              <a:t>bought Kendrick Paint &amp; Body</a:t>
            </a:r>
            <a:r>
              <a:rPr lang="en-US" sz="757" kern="0" spc="15" dirty="0">
                <a:solidFill>
                  <a:srgbClr val="333231"/>
                </a:solidFill>
                <a:latin typeface="Quicksand" pitchFamily="34" charset="0"/>
              </a:rPr>
              <a:t>, a nine-location business family-owned since 1952.</a:t>
            </a:r>
            <a:endParaRPr lang="en-US" sz="757" dirty="0"/>
          </a:p>
        </p:txBody>
      </p:sp>
      <p:sp>
        <p:nvSpPr>
          <p:cNvPr id="91" name="Shape 90"/>
          <p:cNvSpPr/>
          <p:nvPr/>
        </p:nvSpPr>
        <p:spPr>
          <a:xfrm>
            <a:off x="7567612" y="4528840"/>
            <a:ext cx="47625" cy="47625"/>
          </a:xfrm>
          <a:prstGeom prst="rect">
            <a:avLst/>
          </a:prstGeom>
          <a:solidFill>
            <a:srgbClr val="B68757"/>
          </a:solidFill>
          <a:ln/>
        </p:spPr>
        <p:txBody>
          <a:bodyPr/>
          <a:lstStyle/>
          <a:p>
            <a:endParaRPr lang="en-US"/>
          </a:p>
        </p:txBody>
      </p:sp>
      <p:sp>
        <p:nvSpPr>
          <p:cNvPr id="92" name="Text 91"/>
          <p:cNvSpPr txBox="1"/>
          <p:nvPr/>
        </p:nvSpPr>
        <p:spPr>
          <a:xfrm>
            <a:off x="7691438" y="4475024"/>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Housing-linked demand softened through the summer, and growth in home improvement spending is projected to slow to </a:t>
            </a:r>
            <a:r>
              <a:rPr lang="en-US" sz="757" u="sng" kern="0" spc="15" dirty="0">
                <a:solidFill>
                  <a:srgbClr val="8C6239"/>
                </a:solidFill>
                <a:latin typeface="Quicksand" pitchFamily="34" charset="0"/>
                <a:hlinkClick r:id="rId27">
                  <a:extLst>
                    <a:ext uri="{A12FA001-AC4F-418D-AE19-62706E023703}">
                      <ahyp:hlinkClr xmlns:ahyp="http://schemas.microsoft.com/office/drawing/2018/hyperlinkcolor" val="tx"/>
                    </a:ext>
                  </a:extLst>
                </a:hlinkClick>
              </a:rPr>
              <a:t>0.5% by the second quarter of 2027</a:t>
            </a:r>
            <a:r>
              <a:rPr lang="en-US" sz="757" kern="0" spc="15" dirty="0">
                <a:solidFill>
                  <a:srgbClr val="333231"/>
                </a:solidFill>
                <a:latin typeface="Quicksand" pitchFamily="34" charset="0"/>
              </a:rPr>
              <a:t>.</a:t>
            </a:r>
            <a:endParaRPr lang="en-US" sz="757" dirty="0"/>
          </a:p>
        </p:txBody>
      </p:sp>
      <p:sp>
        <p:nvSpPr>
          <p:cNvPr id="93" name="Text 92"/>
          <p:cNvSpPr txBox="1"/>
          <p:nvPr/>
        </p:nvSpPr>
        <p:spPr>
          <a:xfrm>
            <a:off x="7567612" y="5408414"/>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94" name="Text 93"/>
          <p:cNvSpPr txBox="1"/>
          <p:nvPr/>
        </p:nvSpPr>
        <p:spPr>
          <a:xfrm>
            <a:off x="7567612" y="5542717"/>
            <a:ext cx="1952625" cy="525691"/>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Sponsor-backed platforms in car wash, collision, roofing, pool and garage door service, public acquirers such as Rollins and Boyd Group, and regional strategics.</a:t>
            </a:r>
            <a:endParaRPr lang="en-US" sz="735" dirty="0"/>
          </a:p>
        </p:txBody>
      </p:sp>
      <p:sp>
        <p:nvSpPr>
          <p:cNvPr id="95" name="Shape 94"/>
          <p:cNvSpPr/>
          <p:nvPr/>
        </p:nvSpPr>
        <p:spPr>
          <a:xfrm>
            <a:off x="7567612" y="6162675"/>
            <a:ext cx="1938337" cy="666750"/>
          </a:xfrm>
          <a:prstGeom prst="rect">
            <a:avLst/>
          </a:prstGeom>
          <a:solidFill>
            <a:srgbClr val="1B1A1A"/>
          </a:solidFill>
          <a:ln/>
        </p:spPr>
        <p:txBody>
          <a:bodyPr/>
          <a:lstStyle/>
          <a:p>
            <a:endParaRPr lang="en-US"/>
          </a:p>
        </p:txBody>
      </p:sp>
      <p:sp>
        <p:nvSpPr>
          <p:cNvPr id="96" name="Text 95"/>
          <p:cNvSpPr txBox="1"/>
          <p:nvPr/>
        </p:nvSpPr>
        <p:spPr>
          <a:xfrm>
            <a:off x="7681912"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97" name="Text 96"/>
          <p:cNvSpPr txBox="1"/>
          <p:nvPr/>
        </p:nvSpPr>
        <p:spPr>
          <a:xfrm>
            <a:off x="7681912" y="6348413"/>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20</a:t>
            </a:r>
            <a:endParaRPr lang="en-US" sz="1350" dirty="0"/>
          </a:p>
        </p:txBody>
      </p:sp>
      <p:sp>
        <p:nvSpPr>
          <p:cNvPr id="98" name="Text 97"/>
          <p:cNvSpPr txBox="1"/>
          <p:nvPr/>
        </p:nvSpPr>
        <p:spPr>
          <a:xfrm>
            <a:off x="7977188"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99" name="Text 98"/>
          <p:cNvSpPr txBox="1"/>
          <p:nvPr/>
        </p:nvSpPr>
        <p:spPr>
          <a:xfrm>
            <a:off x="7681912"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66</a:t>
            </a:r>
            <a:endParaRPr lang="en-US" sz="1350" dirty="0"/>
          </a:p>
        </p:txBody>
      </p:sp>
      <p:sp>
        <p:nvSpPr>
          <p:cNvPr id="100" name="Text 99"/>
          <p:cNvSpPr txBox="1"/>
          <p:nvPr/>
        </p:nvSpPr>
        <p:spPr>
          <a:xfrm>
            <a:off x="7977188"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101" name="Shape 100"/>
          <p:cNvSpPr/>
          <p:nvPr/>
        </p:nvSpPr>
        <p:spPr>
          <a:xfrm>
            <a:off x="419100" y="7029450"/>
            <a:ext cx="9220200" cy="9525"/>
          </a:xfrm>
          <a:prstGeom prst="rect">
            <a:avLst/>
          </a:prstGeom>
          <a:solidFill>
            <a:srgbClr val="E3DCD3"/>
          </a:solidFill>
          <a:ln/>
        </p:spPr>
        <p:txBody>
          <a:bodyPr/>
          <a:lstStyle/>
          <a:p>
            <a:endParaRPr lang="en-US"/>
          </a:p>
        </p:txBody>
      </p:sp>
      <p:pic>
        <p:nvPicPr>
          <p:cNvPr id="102" name="Benchmark International" descr="Benchmark International"/>
          <p:cNvPicPr>
            <a:picLocks noChangeAspect="1"/>
          </p:cNvPicPr>
          <p:nvPr/>
        </p:nvPicPr>
        <p:blipFill>
          <a:blip r:embed="rId28"/>
          <a:stretch>
            <a:fillRect/>
          </a:stretch>
        </p:blipFill>
        <p:spPr>
          <a:xfrm>
            <a:off x="419100" y="7143750"/>
            <a:ext cx="914400" cy="171450"/>
          </a:xfrm>
          <a:prstGeom prst="rect">
            <a:avLst/>
          </a:prstGeom>
        </p:spPr>
      </p:pic>
      <p:sp>
        <p:nvSpPr>
          <p:cNvPr id="103" name="Text 102"/>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Benchmark International counts are from the firm’s transaction records as of October 1, 2026. Store brand share is from the </a:t>
            </a:r>
            <a:r>
              <a:rPr lang="en-US" sz="675" u="sng" kern="0" spc="15" dirty="0">
                <a:solidFill>
                  <a:srgbClr val="8C6239"/>
                </a:solidFill>
                <a:latin typeface="Quicksand" pitchFamily="34" charset="0"/>
                <a:hlinkClick r:id="rId29">
                  <a:extLst>
                    <a:ext uri="{A12FA001-AC4F-418D-AE19-62706E023703}">
                      <ahyp:hlinkClr xmlns:ahyp="http://schemas.microsoft.com/office/drawing/2018/hyperlinkcolor" val="tx"/>
                    </a:ext>
                  </a:extLst>
                </a:hlinkClick>
              </a:rPr>
              <a:t>Private Label Manufacturers Association</a:t>
            </a:r>
            <a:r>
              <a:rPr lang="en-US" sz="675" kern="0" spc="15" dirty="0">
                <a:solidFill>
                  <a:srgbClr val="6F6A66"/>
                </a:solidFill>
                <a:latin typeface="Quicksand" pitchFamily="34" charset="0"/>
              </a:rPr>
              <a:t>, the restaurant sales forecast from the </a:t>
            </a:r>
            <a:r>
              <a:rPr lang="en-US" sz="675" u="sng" kern="0" spc="15" dirty="0">
                <a:solidFill>
                  <a:srgbClr val="8C6239"/>
                </a:solidFill>
                <a:latin typeface="Quicksand" pitchFamily="34" charset="0"/>
                <a:hlinkClick r:id="rId30">
                  <a:extLst>
                    <a:ext uri="{A12FA001-AC4F-418D-AE19-62706E023703}">
                      <ahyp:hlinkClr xmlns:ahyp="http://schemas.microsoft.com/office/drawing/2018/hyperlinkcolor" val="tx"/>
                    </a:ext>
                  </a:extLst>
                </a:hlinkClick>
              </a:rPr>
              <a:t>National Restaurant Association</a:t>
            </a:r>
            <a:r>
              <a:rPr lang="en-US" sz="675" kern="0" spc="15" dirty="0">
                <a:solidFill>
                  <a:srgbClr val="6F6A66"/>
                </a:solidFill>
                <a:latin typeface="Quicksand" pitchFamily="34" charset="0"/>
              </a:rPr>
              <a:t> and beauty sales from </a:t>
            </a:r>
            <a:r>
              <a:rPr lang="en-US" sz="67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Circana</a:t>
            </a:r>
            <a:r>
              <a:rPr lang="en-US" sz="675" kern="0" spc="15" dirty="0">
                <a:solidFill>
                  <a:srgbClr val="6F6A66"/>
                </a:solidFill>
                <a:latin typeface="Quicksand" pitchFamily="34" charset="0"/>
              </a:rPr>
              <a:t>.</a:t>
            </a:r>
            <a:endParaRPr lang="en-US" sz="675" dirty="0"/>
          </a:p>
        </p:txBody>
      </p:sp>
      <p:sp>
        <p:nvSpPr>
          <p:cNvPr id="104" name="Text 103"/>
          <p:cNvSpPr txBox="1"/>
          <p:nvPr/>
        </p:nvSpPr>
        <p:spPr>
          <a:xfrm>
            <a:off x="9493448" y="7162800"/>
            <a:ext cx="20300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05</a:t>
            </a:r>
            <a:endParaRPr lang="en-US" sz="713"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What We’re Reading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Primary sources and industry releases from the third quarter.</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1809750" cy="5695950"/>
          </a:xfrm>
          <a:prstGeom prst="rect">
            <a:avLst/>
          </a:prstGeom>
          <a:solidFill>
            <a:srgbClr val="1B1A1A"/>
          </a:solidFill>
          <a:ln/>
        </p:spPr>
        <p:txBody>
          <a:bodyPr/>
          <a:lstStyle/>
          <a:p>
            <a:endParaRPr lang="en-US"/>
          </a:p>
        </p:txBody>
      </p:sp>
      <p:pic>
        <p:nvPicPr>
          <p:cNvPr id="10" name="Roasted coffee beans in a roaster" descr="Roasted coffee beans in a roaster"/>
          <p:cNvPicPr>
            <a:picLocks noChangeAspect="1"/>
          </p:cNvPicPr>
          <p:nvPr/>
        </p:nvPicPr>
        <p:blipFill>
          <a:blip r:embed="rId3"/>
          <a:stretch>
            <a:fillRect/>
          </a:stretch>
        </p:blipFill>
        <p:spPr>
          <a:xfrm>
            <a:off x="419100" y="1238250"/>
            <a:ext cx="1809750" cy="1809750"/>
          </a:xfrm>
          <a:prstGeom prst="rect">
            <a:avLst/>
          </a:prstGeom>
        </p:spPr>
      </p:pic>
      <p:sp>
        <p:nvSpPr>
          <p:cNvPr id="11" name="Shape 10"/>
          <p:cNvSpPr/>
          <p:nvPr/>
        </p:nvSpPr>
        <p:spPr>
          <a:xfrm>
            <a:off x="419100" y="3019425"/>
            <a:ext cx="1809750" cy="28575"/>
          </a:xfrm>
          <a:prstGeom prst="rect">
            <a:avLst/>
          </a:prstGeom>
          <a:solidFill>
            <a:srgbClr val="B68757"/>
          </a:solidFill>
          <a:ln/>
        </p:spPr>
        <p:txBody>
          <a:bodyPr/>
          <a:lstStyle/>
          <a:p>
            <a:endParaRPr lang="en-US"/>
          </a:p>
        </p:txBody>
      </p:sp>
      <p:pic>
        <p:nvPicPr>
          <p:cNvPr id="12" name="Icon" descr="/tmp/claude-0/-home-claude-about/4bef2f41-4227-5ff7-ab18-11ac74cd9797/scratchpad/pptx/ex/media/236f278cd0c9.png"/>
          <p:cNvPicPr>
            <a:picLocks noChangeAspect="1"/>
          </p:cNvPicPr>
          <p:nvPr/>
        </p:nvPicPr>
        <p:blipFill>
          <a:blip r:embed="rId4"/>
          <a:stretch>
            <a:fillRect/>
          </a:stretch>
        </p:blipFill>
        <p:spPr>
          <a:xfrm>
            <a:off x="609600" y="3276600"/>
            <a:ext cx="323850" cy="323850"/>
          </a:xfrm>
          <a:prstGeom prst="rect">
            <a:avLst/>
          </a:prstGeom>
        </p:spPr>
      </p:pic>
      <p:sp>
        <p:nvSpPr>
          <p:cNvPr id="13" name="Text 12"/>
          <p:cNvSpPr txBox="1"/>
          <p:nvPr/>
        </p:nvSpPr>
        <p:spPr>
          <a:xfrm>
            <a:off x="609600" y="3752850"/>
            <a:ext cx="1443038" cy="942975"/>
          </a:xfrm>
          <a:prstGeom prst="rect">
            <a:avLst/>
          </a:prstGeom>
          <a:noFill/>
          <a:ln/>
        </p:spPr>
        <p:txBody>
          <a:bodyPr wrap="square" lIns="0" tIns="0" rIns="0" bIns="0" rtlCol="0" anchor="t"/>
          <a:lstStyle/>
          <a:p>
            <a:pPr marL="0" indent="0" algn="l">
              <a:lnSpc>
                <a:spcPts val="2475"/>
              </a:lnSpc>
              <a:buNone/>
            </a:pPr>
            <a:r>
              <a:rPr lang="en-US" sz="2025" kern="0" spc="15" dirty="0">
                <a:solidFill>
                  <a:srgbClr val="FFFFFF"/>
                </a:solidFill>
                <a:latin typeface="Newsreader SemiBold" pitchFamily="34" charset="0"/>
              </a:rPr>
              <a:t>Four pieces from the quarter</a:t>
            </a:r>
            <a:endParaRPr lang="en-US" sz="2025" dirty="0"/>
          </a:p>
        </p:txBody>
      </p:sp>
      <p:sp>
        <p:nvSpPr>
          <p:cNvPr id="14" name="Shape 13"/>
          <p:cNvSpPr/>
          <p:nvPr/>
        </p:nvSpPr>
        <p:spPr>
          <a:xfrm>
            <a:off x="609600" y="4867275"/>
            <a:ext cx="533400" cy="19050"/>
          </a:xfrm>
          <a:prstGeom prst="rect">
            <a:avLst/>
          </a:prstGeom>
          <a:solidFill>
            <a:srgbClr val="B68757"/>
          </a:solidFill>
          <a:ln/>
        </p:spPr>
        <p:txBody>
          <a:bodyPr/>
          <a:lstStyle/>
          <a:p>
            <a:endParaRPr lang="en-US"/>
          </a:p>
        </p:txBody>
      </p:sp>
      <p:sp>
        <p:nvSpPr>
          <p:cNvPr id="15" name="Text 14"/>
          <p:cNvSpPr txBox="1"/>
          <p:nvPr/>
        </p:nvSpPr>
        <p:spPr>
          <a:xfrm>
            <a:off x="609600" y="5057775"/>
            <a:ext cx="1443038" cy="1266825"/>
          </a:xfrm>
          <a:prstGeom prst="rect">
            <a:avLst/>
          </a:prstGeom>
          <a:noFill/>
          <a:ln/>
        </p:spPr>
        <p:txBody>
          <a:bodyPr wrap="square" lIns="0" tIns="0" rIns="0" bIns="0" rtlCol="0" anchor="t"/>
          <a:lstStyle/>
          <a:p>
            <a:pPr marL="0" indent="0" algn="l">
              <a:lnSpc>
                <a:spcPts val="1425"/>
              </a:lnSpc>
              <a:buNone/>
            </a:pPr>
            <a:r>
              <a:rPr lang="en-US" sz="900" kern="0" spc="15" dirty="0">
                <a:solidFill>
                  <a:srgbClr val="E8E2DA"/>
                </a:solidFill>
                <a:latin typeface="Quicksand" pitchFamily="34" charset="0"/>
              </a:rPr>
              <a:t>Each bears on how consumer businesses are valued and sold, and each is shown with the passage we marked and the reason it matters to an owner.</a:t>
            </a:r>
            <a:endParaRPr lang="en-US" sz="900" dirty="0"/>
          </a:p>
        </p:txBody>
      </p:sp>
      <p:sp>
        <p:nvSpPr>
          <p:cNvPr id="16" name="Shape 15"/>
          <p:cNvSpPr/>
          <p:nvPr/>
        </p:nvSpPr>
        <p:spPr>
          <a:xfrm>
            <a:off x="2400300" y="1238250"/>
            <a:ext cx="3543300" cy="2771775"/>
          </a:xfrm>
          <a:prstGeom prst="rect">
            <a:avLst/>
          </a:prstGeom>
          <a:solidFill>
            <a:srgbClr val="FAF7F3"/>
          </a:solidFill>
          <a:ln/>
        </p:spPr>
        <p:txBody>
          <a:bodyPr/>
          <a:lstStyle/>
          <a:p>
            <a:endParaRPr lang="en-US"/>
          </a:p>
        </p:txBody>
      </p:sp>
      <p:sp>
        <p:nvSpPr>
          <p:cNvPr id="17" name="Shape 16"/>
          <p:cNvSpPr/>
          <p:nvPr/>
        </p:nvSpPr>
        <p:spPr>
          <a:xfrm>
            <a:off x="2400300" y="1238250"/>
            <a:ext cx="3543300" cy="28575"/>
          </a:xfrm>
          <a:prstGeom prst="rect">
            <a:avLst/>
          </a:prstGeom>
          <a:solidFill>
            <a:srgbClr val="B68757"/>
          </a:solidFill>
          <a:ln/>
        </p:spPr>
        <p:txBody>
          <a:bodyPr/>
          <a:lstStyle/>
          <a:p>
            <a:endParaRPr lang="en-US"/>
          </a:p>
        </p:txBody>
      </p:sp>
      <p:sp>
        <p:nvSpPr>
          <p:cNvPr id="18" name="Text 17"/>
          <p:cNvSpPr txBox="1"/>
          <p:nvPr/>
        </p:nvSpPr>
        <p:spPr>
          <a:xfrm>
            <a:off x="2552700" y="1390650"/>
            <a:ext cx="2064841"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USDA ECONOMIC RESEARCH SERVICE</a:t>
            </a:r>
            <a:endParaRPr lang="en-US" sz="638" dirty="0"/>
          </a:p>
        </p:txBody>
      </p:sp>
      <p:sp>
        <p:nvSpPr>
          <p:cNvPr id="19" name="Text 18"/>
          <p:cNvSpPr txBox="1"/>
          <p:nvPr/>
        </p:nvSpPr>
        <p:spPr>
          <a:xfrm>
            <a:off x="4926211" y="1385888"/>
            <a:ext cx="922139"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25, 2026</a:t>
            </a:r>
            <a:endParaRPr lang="en-US" sz="713" dirty="0"/>
          </a:p>
        </p:txBody>
      </p:sp>
      <p:sp>
        <p:nvSpPr>
          <p:cNvPr id="20" name="Text 19"/>
          <p:cNvSpPr txBox="1"/>
          <p:nvPr/>
        </p:nvSpPr>
        <p:spPr>
          <a:xfrm>
            <a:off x="2552700" y="1578769"/>
            <a:ext cx="3238500" cy="185738"/>
          </a:xfrm>
          <a:prstGeom prst="rect">
            <a:avLst/>
          </a:prstGeom>
          <a:noFill/>
          <a:ln/>
        </p:spPr>
        <p:txBody>
          <a:bodyPr wrap="none" lIns="0" tIns="0" rIns="0" bIns="0" rtlCol="0" anchor="t"/>
          <a:lstStyle/>
          <a:p>
            <a:pPr marL="0" indent="0" algn="l">
              <a:lnSpc>
                <a:spcPts val="1463"/>
              </a:lnSpc>
              <a:buNone/>
            </a:pPr>
            <a:r>
              <a:rPr lang="en-US" sz="1125" kern="0" spc="15" dirty="0">
                <a:solidFill>
                  <a:srgbClr val="1B1A1A"/>
                </a:solidFill>
                <a:latin typeface="Newsreader SemiBold" pitchFamily="34" charset="0"/>
              </a:rPr>
              <a:t>Food Price Outlook: Summary Findings</a:t>
            </a:r>
            <a:endParaRPr lang="en-US" sz="1125" dirty="0"/>
          </a:p>
        </p:txBody>
      </p:sp>
      <p:sp>
        <p:nvSpPr>
          <p:cNvPr id="21" name="Shape 20"/>
          <p:cNvSpPr/>
          <p:nvPr/>
        </p:nvSpPr>
        <p:spPr>
          <a:xfrm>
            <a:off x="2552700" y="1862138"/>
            <a:ext cx="19050" cy="495300"/>
          </a:xfrm>
          <a:prstGeom prst="rect">
            <a:avLst/>
          </a:prstGeom>
          <a:solidFill>
            <a:srgbClr val="B68757"/>
          </a:solidFill>
          <a:ln/>
        </p:spPr>
        <p:txBody>
          <a:bodyPr/>
          <a:lstStyle/>
          <a:p>
            <a:endParaRPr lang="en-US"/>
          </a:p>
        </p:txBody>
      </p:sp>
      <p:sp>
        <p:nvSpPr>
          <p:cNvPr id="22" name="Text 21"/>
          <p:cNvSpPr txBox="1"/>
          <p:nvPr/>
        </p:nvSpPr>
        <p:spPr>
          <a:xfrm>
            <a:off x="2686050" y="1854994"/>
            <a:ext cx="3120676" cy="333375"/>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“In 2026, prices for all food are forecast to increase 2.9 percent, with a forecast interval of 2.5 to 3.2 percent.”</a:t>
            </a:r>
            <a:endParaRPr lang="en-US" sz="938" dirty="0"/>
          </a:p>
        </p:txBody>
      </p:sp>
      <p:sp>
        <p:nvSpPr>
          <p:cNvPr id="23" name="Text 22"/>
          <p:cNvSpPr txBox="1"/>
          <p:nvPr/>
        </p:nvSpPr>
        <p:spPr>
          <a:xfrm>
            <a:off x="2686050" y="2224088"/>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USDA Economic Research Service, Food Price Outlook</a:t>
            </a:r>
            <a:endParaRPr lang="en-US" sz="713" dirty="0"/>
          </a:p>
        </p:txBody>
      </p:sp>
      <p:sp>
        <p:nvSpPr>
          <p:cNvPr id="24" name="Text 23"/>
          <p:cNvSpPr txBox="1"/>
          <p:nvPr/>
        </p:nvSpPr>
        <p:spPr>
          <a:xfrm>
            <a:off x="2552700" y="2836069"/>
            <a:ext cx="3254692" cy="738188"/>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Key takeaway.</a:t>
            </a:r>
            <a:r>
              <a:rPr lang="en-US" sz="788" kern="0" spc="15" dirty="0">
                <a:solidFill>
                  <a:srgbClr val="333231"/>
                </a:solidFill>
                <a:latin typeface="Quicksand" pitchFamily="34" charset="0"/>
              </a:rPr>
              <a:t> Food-at-home prices are forecast to rise 2.4% and food-away-from-home prices 3.5%, with beef and veal up 9.4% and eggs down 29.4%. Input costs are moving in different directions by category, which is why buyers ask for price and cost history by product line.</a:t>
            </a:r>
            <a:endParaRPr lang="en-US" sz="788" dirty="0"/>
          </a:p>
        </p:txBody>
      </p:sp>
      <p:sp>
        <p:nvSpPr>
          <p:cNvPr id="25" name="Shape 24"/>
          <p:cNvSpPr/>
          <p:nvPr/>
        </p:nvSpPr>
        <p:spPr>
          <a:xfrm>
            <a:off x="2552700" y="3657600"/>
            <a:ext cx="904875" cy="228600"/>
          </a:xfrm>
          <a:prstGeom prst="rect">
            <a:avLst/>
          </a:prstGeom>
          <a:solidFill>
            <a:srgbClr val="1B1A1A"/>
          </a:solidFill>
          <a:ln/>
        </p:spPr>
        <p:txBody>
          <a:bodyPr/>
          <a:lstStyle/>
          <a:p>
            <a:endParaRPr lang="en-US"/>
          </a:p>
        </p:txBody>
      </p:sp>
      <p:sp>
        <p:nvSpPr>
          <p:cNvPr id="26" name="Text 25">
            <a:hlinkClick r:id="rId5"/>
          </p:cNvPr>
          <p:cNvSpPr txBox="1"/>
          <p:nvPr/>
        </p:nvSpPr>
        <p:spPr>
          <a:xfrm>
            <a:off x="2686050" y="3709988"/>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27" name="Shape 26"/>
          <p:cNvSpPr/>
          <p:nvPr/>
        </p:nvSpPr>
        <p:spPr>
          <a:xfrm>
            <a:off x="6096000" y="1238250"/>
            <a:ext cx="3543300" cy="2771775"/>
          </a:xfrm>
          <a:prstGeom prst="rect">
            <a:avLst/>
          </a:prstGeom>
          <a:solidFill>
            <a:srgbClr val="FAF7F3"/>
          </a:solidFill>
          <a:ln/>
        </p:spPr>
        <p:txBody>
          <a:bodyPr/>
          <a:lstStyle/>
          <a:p>
            <a:endParaRPr lang="en-US"/>
          </a:p>
        </p:txBody>
      </p:sp>
      <p:sp>
        <p:nvSpPr>
          <p:cNvPr id="28" name="Shape 27"/>
          <p:cNvSpPr/>
          <p:nvPr/>
        </p:nvSpPr>
        <p:spPr>
          <a:xfrm>
            <a:off x="6096000" y="1238250"/>
            <a:ext cx="3543300" cy="28575"/>
          </a:xfrm>
          <a:prstGeom prst="rect">
            <a:avLst/>
          </a:prstGeom>
          <a:solidFill>
            <a:srgbClr val="B68757"/>
          </a:solidFill>
          <a:ln/>
        </p:spPr>
        <p:txBody>
          <a:bodyPr/>
          <a:lstStyle/>
          <a:p>
            <a:endParaRPr lang="en-US"/>
          </a:p>
        </p:txBody>
      </p:sp>
      <p:sp>
        <p:nvSpPr>
          <p:cNvPr id="29" name="Text 28"/>
          <p:cNvSpPr txBox="1"/>
          <p:nvPr/>
        </p:nvSpPr>
        <p:spPr>
          <a:xfrm>
            <a:off x="6248400" y="1390650"/>
            <a:ext cx="2651522"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PRIVATE LABEL MANUFACTURERS ASSOCIATION</a:t>
            </a:r>
            <a:endParaRPr lang="en-US" sz="638" dirty="0"/>
          </a:p>
        </p:txBody>
      </p:sp>
      <p:sp>
        <p:nvSpPr>
          <p:cNvPr id="30" name="Text 29"/>
          <p:cNvSpPr txBox="1"/>
          <p:nvPr/>
        </p:nvSpPr>
        <p:spPr>
          <a:xfrm>
            <a:off x="8971211" y="1385888"/>
            <a:ext cx="572839"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July 8, 2026</a:t>
            </a:r>
            <a:endParaRPr lang="en-US" sz="713" dirty="0"/>
          </a:p>
        </p:txBody>
      </p:sp>
      <p:sp>
        <p:nvSpPr>
          <p:cNvPr id="31" name="Text 30"/>
          <p:cNvSpPr txBox="1"/>
          <p:nvPr/>
        </p:nvSpPr>
        <p:spPr>
          <a:xfrm>
            <a:off x="6248400" y="1578769"/>
            <a:ext cx="3254692" cy="371475"/>
          </a:xfrm>
          <a:prstGeom prst="rect">
            <a:avLst/>
          </a:prstGeom>
          <a:noFill/>
          <a:ln/>
        </p:spPr>
        <p:txBody>
          <a:bodyPr wrap="square" lIns="0" tIns="0" rIns="0" bIns="0" rtlCol="0" anchor="t"/>
          <a:lstStyle/>
          <a:p>
            <a:pPr marL="0" indent="0" algn="l">
              <a:lnSpc>
                <a:spcPts val="1463"/>
              </a:lnSpc>
              <a:buNone/>
            </a:pPr>
            <a:r>
              <a:rPr lang="en-US" sz="1125" kern="0" spc="15" dirty="0">
                <a:solidFill>
                  <a:srgbClr val="1B1A1A"/>
                </a:solidFill>
                <a:latin typeface="Newsreader SemiBold" pitchFamily="34" charset="0"/>
              </a:rPr>
              <a:t>Store Brands Continue Gains in Unit Sales and Shares</a:t>
            </a:r>
            <a:endParaRPr lang="en-US" sz="1125" dirty="0"/>
          </a:p>
        </p:txBody>
      </p:sp>
      <p:sp>
        <p:nvSpPr>
          <p:cNvPr id="32" name="Shape 31"/>
          <p:cNvSpPr/>
          <p:nvPr/>
        </p:nvSpPr>
        <p:spPr>
          <a:xfrm>
            <a:off x="6248400" y="2047875"/>
            <a:ext cx="19050" cy="495300"/>
          </a:xfrm>
          <a:prstGeom prst="rect">
            <a:avLst/>
          </a:prstGeom>
          <a:solidFill>
            <a:srgbClr val="B68757"/>
          </a:solidFill>
          <a:ln/>
        </p:spPr>
        <p:txBody>
          <a:bodyPr/>
          <a:lstStyle/>
          <a:p>
            <a:endParaRPr lang="en-US"/>
          </a:p>
        </p:txBody>
      </p:sp>
      <p:sp>
        <p:nvSpPr>
          <p:cNvPr id="33" name="Text 32"/>
          <p:cNvSpPr txBox="1"/>
          <p:nvPr/>
        </p:nvSpPr>
        <p:spPr>
          <a:xfrm>
            <a:off x="6381750" y="2040731"/>
            <a:ext cx="3120676" cy="333375"/>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“The disconnect between unit sales and dollar sales reflects, in part, fluctuating national brand pricing.”</a:t>
            </a:r>
            <a:endParaRPr lang="en-US" sz="938" dirty="0"/>
          </a:p>
        </p:txBody>
      </p:sp>
      <p:sp>
        <p:nvSpPr>
          <p:cNvPr id="34" name="Text 33"/>
          <p:cNvSpPr txBox="1"/>
          <p:nvPr/>
        </p:nvSpPr>
        <p:spPr>
          <a:xfrm>
            <a:off x="6381750" y="2409825"/>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Peggy Davies, President, Private Label Manufacturers Association</a:t>
            </a:r>
            <a:endParaRPr lang="en-US" sz="713" dirty="0"/>
          </a:p>
        </p:txBody>
      </p:sp>
      <p:sp>
        <p:nvSpPr>
          <p:cNvPr id="35" name="Text 34"/>
          <p:cNvSpPr txBox="1"/>
          <p:nvPr/>
        </p:nvSpPr>
        <p:spPr>
          <a:xfrm>
            <a:off x="6248400" y="2983706"/>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Key takeaway.</a:t>
            </a:r>
            <a:r>
              <a:rPr lang="en-US" sz="788" kern="0" spc="15" dirty="0">
                <a:solidFill>
                  <a:srgbClr val="333231"/>
                </a:solidFill>
                <a:latin typeface="Quicksand" pitchFamily="34" charset="0"/>
              </a:rPr>
              <a:t> Store brand unit share reached a record 23.8% in the six months to mid-June, while store brand dollar sales were flat and national brand dollars rose 2.2%. Buyers pay for brands that hold unit volume while they raise price.</a:t>
            </a:r>
            <a:endParaRPr lang="en-US" sz="788" dirty="0"/>
          </a:p>
        </p:txBody>
      </p:sp>
      <p:sp>
        <p:nvSpPr>
          <p:cNvPr id="36" name="Shape 35"/>
          <p:cNvSpPr/>
          <p:nvPr/>
        </p:nvSpPr>
        <p:spPr>
          <a:xfrm>
            <a:off x="6248400" y="3657600"/>
            <a:ext cx="904875" cy="228600"/>
          </a:xfrm>
          <a:prstGeom prst="rect">
            <a:avLst/>
          </a:prstGeom>
          <a:solidFill>
            <a:srgbClr val="1B1A1A"/>
          </a:solidFill>
          <a:ln/>
        </p:spPr>
        <p:txBody>
          <a:bodyPr/>
          <a:lstStyle/>
          <a:p>
            <a:endParaRPr lang="en-US"/>
          </a:p>
        </p:txBody>
      </p:sp>
      <p:sp>
        <p:nvSpPr>
          <p:cNvPr id="37" name="Text 36">
            <a:hlinkClick r:id="rId6"/>
          </p:cNvPr>
          <p:cNvSpPr txBox="1"/>
          <p:nvPr/>
        </p:nvSpPr>
        <p:spPr>
          <a:xfrm>
            <a:off x="6381750" y="3709988"/>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38" name="Shape 37"/>
          <p:cNvSpPr/>
          <p:nvPr/>
        </p:nvSpPr>
        <p:spPr>
          <a:xfrm>
            <a:off x="2400300" y="4162425"/>
            <a:ext cx="3543300" cy="2771775"/>
          </a:xfrm>
          <a:prstGeom prst="rect">
            <a:avLst/>
          </a:prstGeom>
          <a:solidFill>
            <a:srgbClr val="FAF7F3"/>
          </a:solidFill>
          <a:ln/>
        </p:spPr>
        <p:txBody>
          <a:bodyPr/>
          <a:lstStyle/>
          <a:p>
            <a:endParaRPr lang="en-US"/>
          </a:p>
        </p:txBody>
      </p:sp>
      <p:sp>
        <p:nvSpPr>
          <p:cNvPr id="39" name="Shape 38"/>
          <p:cNvSpPr/>
          <p:nvPr/>
        </p:nvSpPr>
        <p:spPr>
          <a:xfrm>
            <a:off x="2400300" y="4162425"/>
            <a:ext cx="3543300" cy="28575"/>
          </a:xfrm>
          <a:prstGeom prst="rect">
            <a:avLst/>
          </a:prstGeom>
          <a:solidFill>
            <a:srgbClr val="B68757"/>
          </a:solidFill>
          <a:ln/>
        </p:spPr>
        <p:txBody>
          <a:bodyPr/>
          <a:lstStyle/>
          <a:p>
            <a:endParaRPr lang="en-US"/>
          </a:p>
        </p:txBody>
      </p:sp>
      <p:sp>
        <p:nvSpPr>
          <p:cNvPr id="40" name="Text 39"/>
          <p:cNvSpPr txBox="1"/>
          <p:nvPr/>
        </p:nvSpPr>
        <p:spPr>
          <a:xfrm>
            <a:off x="2552700" y="4314825"/>
            <a:ext cx="2138363"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NATIONAL RESTAURANT ASSOCIATION</a:t>
            </a:r>
            <a:endParaRPr lang="en-US" sz="638" dirty="0"/>
          </a:p>
        </p:txBody>
      </p:sp>
      <p:sp>
        <p:nvSpPr>
          <p:cNvPr id="41" name="Text 40"/>
          <p:cNvSpPr txBox="1"/>
          <p:nvPr/>
        </p:nvSpPr>
        <p:spPr>
          <a:xfrm>
            <a:off x="4924276" y="4310063"/>
            <a:ext cx="924074"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30, 2026</a:t>
            </a:r>
            <a:endParaRPr lang="en-US" sz="713" dirty="0"/>
          </a:p>
        </p:txBody>
      </p:sp>
      <p:sp>
        <p:nvSpPr>
          <p:cNvPr id="42" name="Text 41"/>
          <p:cNvSpPr txBox="1"/>
          <p:nvPr/>
        </p:nvSpPr>
        <p:spPr>
          <a:xfrm>
            <a:off x="2552700" y="4502944"/>
            <a:ext cx="3238500" cy="185738"/>
          </a:xfrm>
          <a:prstGeom prst="rect">
            <a:avLst/>
          </a:prstGeom>
          <a:noFill/>
          <a:ln/>
        </p:spPr>
        <p:txBody>
          <a:bodyPr wrap="none" lIns="0" tIns="0" rIns="0" bIns="0" rtlCol="0" anchor="t"/>
          <a:lstStyle/>
          <a:p>
            <a:pPr marL="0" indent="0" algn="l">
              <a:lnSpc>
                <a:spcPts val="1463"/>
              </a:lnSpc>
              <a:buNone/>
            </a:pPr>
            <a:r>
              <a:rPr lang="en-US" sz="1125" kern="0" spc="15" dirty="0">
                <a:solidFill>
                  <a:srgbClr val="1B1A1A"/>
                </a:solidFill>
                <a:latin typeface="Newsreader SemiBold" pitchFamily="34" charset="0"/>
              </a:rPr>
              <a:t>Restaurant Performance Index: August 2026</a:t>
            </a:r>
            <a:endParaRPr lang="en-US" sz="1125" dirty="0"/>
          </a:p>
        </p:txBody>
      </p:sp>
      <p:sp>
        <p:nvSpPr>
          <p:cNvPr id="43" name="Shape 42"/>
          <p:cNvSpPr/>
          <p:nvPr/>
        </p:nvSpPr>
        <p:spPr>
          <a:xfrm>
            <a:off x="2552700" y="4786313"/>
            <a:ext cx="19050" cy="828675"/>
          </a:xfrm>
          <a:prstGeom prst="rect">
            <a:avLst/>
          </a:prstGeom>
          <a:solidFill>
            <a:srgbClr val="B68757"/>
          </a:solidFill>
          <a:ln/>
        </p:spPr>
        <p:txBody>
          <a:bodyPr/>
          <a:lstStyle/>
          <a:p>
            <a:endParaRPr lang="en-US"/>
          </a:p>
        </p:txBody>
      </p:sp>
      <p:sp>
        <p:nvSpPr>
          <p:cNvPr id="44" name="Text 43"/>
          <p:cNvSpPr txBox="1"/>
          <p:nvPr/>
        </p:nvSpPr>
        <p:spPr>
          <a:xfrm>
            <a:off x="2686050" y="4779169"/>
            <a:ext cx="3120676"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“The National Restaurant Association’s Restaurant Performance Index (RPI) rose for the fourth consecutive month in August, largely because of improvements in both same-store sales and customer traffic levels.”</a:t>
            </a:r>
            <a:endParaRPr lang="en-US" sz="938" dirty="0"/>
          </a:p>
        </p:txBody>
      </p:sp>
      <p:sp>
        <p:nvSpPr>
          <p:cNvPr id="45" name="Text 44"/>
          <p:cNvSpPr txBox="1"/>
          <p:nvPr/>
        </p:nvSpPr>
        <p:spPr>
          <a:xfrm>
            <a:off x="2686050" y="5481638"/>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National Restaurant Association, Restaurant Performance Index</a:t>
            </a:r>
            <a:endParaRPr lang="en-US" sz="713" dirty="0"/>
          </a:p>
        </p:txBody>
      </p:sp>
      <p:sp>
        <p:nvSpPr>
          <p:cNvPr id="46" name="Text 45"/>
          <p:cNvSpPr txBox="1"/>
          <p:nvPr/>
        </p:nvSpPr>
        <p:spPr>
          <a:xfrm>
            <a:off x="2552700" y="5907881"/>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Key takeaway.</a:t>
            </a:r>
            <a:r>
              <a:rPr lang="en-US" sz="788" kern="0" spc="15" dirty="0">
                <a:solidFill>
                  <a:srgbClr val="333231"/>
                </a:solidFill>
                <a:latin typeface="Quicksand" pitchFamily="34" charset="0"/>
              </a:rPr>
              <a:t> The index stood at 100.6, with 51% of operators reporting higher same-store sales than a year earlier and 46% still reporting lower traffic. Distributors and equipment dealers that sell to restaurants are valued partly on the health of those customers.</a:t>
            </a:r>
            <a:endParaRPr lang="en-US" sz="788" dirty="0"/>
          </a:p>
        </p:txBody>
      </p:sp>
      <p:sp>
        <p:nvSpPr>
          <p:cNvPr id="47" name="Shape 46"/>
          <p:cNvSpPr/>
          <p:nvPr/>
        </p:nvSpPr>
        <p:spPr>
          <a:xfrm>
            <a:off x="2552700" y="6581775"/>
            <a:ext cx="904875" cy="228600"/>
          </a:xfrm>
          <a:prstGeom prst="rect">
            <a:avLst/>
          </a:prstGeom>
          <a:solidFill>
            <a:srgbClr val="1B1A1A"/>
          </a:solidFill>
          <a:ln/>
        </p:spPr>
        <p:txBody>
          <a:bodyPr/>
          <a:lstStyle/>
          <a:p>
            <a:endParaRPr lang="en-US"/>
          </a:p>
        </p:txBody>
      </p:sp>
      <p:sp>
        <p:nvSpPr>
          <p:cNvPr id="48" name="Text 47">
            <a:hlinkClick r:id="rId7"/>
          </p:cNvPr>
          <p:cNvSpPr txBox="1"/>
          <p:nvPr/>
        </p:nvSpPr>
        <p:spPr>
          <a:xfrm>
            <a:off x="2686050" y="6634163"/>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49" name="Shape 48"/>
          <p:cNvSpPr/>
          <p:nvPr/>
        </p:nvSpPr>
        <p:spPr>
          <a:xfrm>
            <a:off x="6096000" y="4162425"/>
            <a:ext cx="3543300" cy="2771775"/>
          </a:xfrm>
          <a:prstGeom prst="rect">
            <a:avLst/>
          </a:prstGeom>
          <a:solidFill>
            <a:srgbClr val="FAF7F3"/>
          </a:solidFill>
          <a:ln/>
        </p:spPr>
        <p:txBody>
          <a:bodyPr/>
          <a:lstStyle/>
          <a:p>
            <a:endParaRPr lang="en-US"/>
          </a:p>
        </p:txBody>
      </p:sp>
      <p:sp>
        <p:nvSpPr>
          <p:cNvPr id="50" name="Shape 49"/>
          <p:cNvSpPr/>
          <p:nvPr/>
        </p:nvSpPr>
        <p:spPr>
          <a:xfrm>
            <a:off x="6096000" y="4162425"/>
            <a:ext cx="3543300" cy="28575"/>
          </a:xfrm>
          <a:prstGeom prst="rect">
            <a:avLst/>
          </a:prstGeom>
          <a:solidFill>
            <a:srgbClr val="B68757"/>
          </a:solidFill>
          <a:ln/>
        </p:spPr>
        <p:txBody>
          <a:bodyPr/>
          <a:lstStyle/>
          <a:p>
            <a:endParaRPr lang="en-US"/>
          </a:p>
        </p:txBody>
      </p:sp>
      <p:sp>
        <p:nvSpPr>
          <p:cNvPr id="51" name="Text 50"/>
          <p:cNvSpPr txBox="1"/>
          <p:nvPr/>
        </p:nvSpPr>
        <p:spPr>
          <a:xfrm>
            <a:off x="6248400" y="4314825"/>
            <a:ext cx="592336"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DELOITTE</a:t>
            </a:r>
            <a:endParaRPr lang="en-US" sz="638" dirty="0"/>
          </a:p>
        </p:txBody>
      </p:sp>
      <p:sp>
        <p:nvSpPr>
          <p:cNvPr id="52" name="Text 51"/>
          <p:cNvSpPr txBox="1"/>
          <p:nvPr/>
        </p:nvSpPr>
        <p:spPr>
          <a:xfrm>
            <a:off x="8633966" y="4310063"/>
            <a:ext cx="910084"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10, 2026</a:t>
            </a:r>
            <a:endParaRPr lang="en-US" sz="713" dirty="0"/>
          </a:p>
        </p:txBody>
      </p:sp>
      <p:sp>
        <p:nvSpPr>
          <p:cNvPr id="53" name="Text 52"/>
          <p:cNvSpPr txBox="1"/>
          <p:nvPr/>
        </p:nvSpPr>
        <p:spPr>
          <a:xfrm>
            <a:off x="6248400" y="4502944"/>
            <a:ext cx="3254692" cy="371475"/>
          </a:xfrm>
          <a:prstGeom prst="rect">
            <a:avLst/>
          </a:prstGeom>
          <a:noFill/>
          <a:ln/>
        </p:spPr>
        <p:txBody>
          <a:bodyPr wrap="square" lIns="0" tIns="0" rIns="0" bIns="0" rtlCol="0" anchor="t"/>
          <a:lstStyle/>
          <a:p>
            <a:pPr marL="0" indent="0" algn="l">
              <a:lnSpc>
                <a:spcPts val="1463"/>
              </a:lnSpc>
              <a:buNone/>
            </a:pPr>
            <a:r>
              <a:rPr lang="en-US" sz="1125" kern="0" spc="15" dirty="0">
                <a:solidFill>
                  <a:srgbClr val="1B1A1A"/>
                </a:solidFill>
                <a:latin typeface="Newsreader SemiBold" pitchFamily="34" charset="0"/>
              </a:rPr>
              <a:t>Deloitte Forecasts Holiday Retail Sales to Reach $1.70 Trillion to $1.71 Trillion</a:t>
            </a:r>
            <a:endParaRPr lang="en-US" sz="1125" dirty="0"/>
          </a:p>
        </p:txBody>
      </p:sp>
      <p:sp>
        <p:nvSpPr>
          <p:cNvPr id="54" name="Shape 53"/>
          <p:cNvSpPr/>
          <p:nvPr/>
        </p:nvSpPr>
        <p:spPr>
          <a:xfrm>
            <a:off x="6248400" y="4972050"/>
            <a:ext cx="19050" cy="962025"/>
          </a:xfrm>
          <a:prstGeom prst="rect">
            <a:avLst/>
          </a:prstGeom>
          <a:solidFill>
            <a:srgbClr val="B68757"/>
          </a:solidFill>
          <a:ln/>
        </p:spPr>
        <p:txBody>
          <a:bodyPr/>
          <a:lstStyle/>
          <a:p>
            <a:endParaRPr lang="en-US"/>
          </a:p>
        </p:txBody>
      </p:sp>
      <p:sp>
        <p:nvSpPr>
          <p:cNvPr id="55" name="Text 54"/>
          <p:cNvSpPr txBox="1"/>
          <p:nvPr/>
        </p:nvSpPr>
        <p:spPr>
          <a:xfrm>
            <a:off x="6381750" y="4964906"/>
            <a:ext cx="3120676"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“As they look to get more out of their dollars, we continue to see value-seeking behaviors across income levels, including switching among brands and retailers and using promotions to manage spending.”</a:t>
            </a:r>
            <a:endParaRPr lang="en-US" sz="938" dirty="0"/>
          </a:p>
        </p:txBody>
      </p:sp>
      <p:sp>
        <p:nvSpPr>
          <p:cNvPr id="56" name="Text 55"/>
          <p:cNvSpPr txBox="1"/>
          <p:nvPr/>
        </p:nvSpPr>
        <p:spPr>
          <a:xfrm>
            <a:off x="6381750" y="5667375"/>
            <a:ext cx="3120676" cy="266700"/>
          </a:xfrm>
          <a:prstGeom prst="rect">
            <a:avLst/>
          </a:prstGeom>
          <a:noFill/>
          <a:ln/>
        </p:spPr>
        <p:txBody>
          <a:bodyPr wrap="square" lIns="0" tIns="0" rIns="0" bIns="0" rtlCol="0" anchor="t"/>
          <a:lstStyle/>
          <a:p>
            <a:pPr marL="0" indent="0" algn="l">
              <a:lnSpc>
                <a:spcPts val="1050"/>
              </a:lnSpc>
              <a:buNone/>
            </a:pPr>
            <a:r>
              <a:rPr lang="en-US" sz="713" kern="0" spc="15" dirty="0">
                <a:solidFill>
                  <a:srgbClr val="6F6A66"/>
                </a:solidFill>
                <a:latin typeface="Quicksand" pitchFamily="34" charset="0"/>
              </a:rPr>
              <a:t>Natalie Martini, vice chair, Deloitte, and US retail and consumer products leader</a:t>
            </a:r>
            <a:endParaRPr lang="en-US" sz="713" dirty="0"/>
          </a:p>
        </p:txBody>
      </p:sp>
      <p:sp>
        <p:nvSpPr>
          <p:cNvPr id="57" name="Text 56"/>
          <p:cNvSpPr txBox="1"/>
          <p:nvPr/>
        </p:nvSpPr>
        <p:spPr>
          <a:xfrm>
            <a:off x="6248400" y="5984081"/>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Key takeaway.</a:t>
            </a:r>
            <a:r>
              <a:rPr lang="en-US" sz="788" kern="0" spc="15" dirty="0">
                <a:solidFill>
                  <a:srgbClr val="333231"/>
                </a:solidFill>
                <a:latin typeface="Quicksand" pitchFamily="34" charset="0"/>
              </a:rPr>
              <a:t> Holiday sales are forecast to rise 4.0% to 4.8% and e-commerce sales 7.5% to 8.4%. Online sales growing at nearly twice the pace of the total keeps channel mix in front of every buyer of a consumer brand.</a:t>
            </a:r>
            <a:endParaRPr lang="en-US" sz="788" dirty="0"/>
          </a:p>
        </p:txBody>
      </p:sp>
      <p:sp>
        <p:nvSpPr>
          <p:cNvPr id="58" name="Shape 57"/>
          <p:cNvSpPr/>
          <p:nvPr/>
        </p:nvSpPr>
        <p:spPr>
          <a:xfrm>
            <a:off x="6248400" y="6657975"/>
            <a:ext cx="904875" cy="228600"/>
          </a:xfrm>
          <a:prstGeom prst="rect">
            <a:avLst/>
          </a:prstGeom>
          <a:solidFill>
            <a:srgbClr val="1B1A1A"/>
          </a:solidFill>
          <a:ln/>
        </p:spPr>
        <p:txBody>
          <a:bodyPr/>
          <a:lstStyle/>
          <a:p>
            <a:endParaRPr lang="en-US"/>
          </a:p>
        </p:txBody>
      </p:sp>
      <p:sp>
        <p:nvSpPr>
          <p:cNvPr id="59" name="Text 58">
            <a:hlinkClick r:id="rId8"/>
          </p:cNvPr>
          <p:cNvSpPr txBox="1"/>
          <p:nvPr/>
        </p:nvSpPr>
        <p:spPr>
          <a:xfrm>
            <a:off x="6381750" y="6710363"/>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60" name="Shape 59"/>
          <p:cNvSpPr/>
          <p:nvPr/>
        </p:nvSpPr>
        <p:spPr>
          <a:xfrm>
            <a:off x="419100" y="7029450"/>
            <a:ext cx="9220200" cy="9525"/>
          </a:xfrm>
          <a:prstGeom prst="rect">
            <a:avLst/>
          </a:prstGeom>
          <a:solidFill>
            <a:srgbClr val="E3DCD3"/>
          </a:solidFill>
          <a:ln/>
        </p:spPr>
        <p:txBody>
          <a:bodyPr/>
          <a:lstStyle/>
          <a:p>
            <a:endParaRPr lang="en-US"/>
          </a:p>
        </p:txBody>
      </p:sp>
      <p:pic>
        <p:nvPicPr>
          <p:cNvPr id="61" name="Benchmark International" descr="Benchmark International"/>
          <p:cNvPicPr>
            <a:picLocks noChangeAspect="1"/>
          </p:cNvPicPr>
          <p:nvPr/>
        </p:nvPicPr>
        <p:blipFill>
          <a:blip r:embed="rId9"/>
          <a:stretch>
            <a:fillRect/>
          </a:stretch>
        </p:blipFill>
        <p:spPr>
          <a:xfrm>
            <a:off x="419100" y="7143750"/>
            <a:ext cx="914400" cy="171450"/>
          </a:xfrm>
          <a:prstGeom prst="rect">
            <a:avLst/>
          </a:prstGeom>
        </p:spPr>
      </p:pic>
      <p:sp>
        <p:nvSpPr>
          <p:cNvPr id="62" name="Text 6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Quotations are reproduced as published. Store brand figures are Circana data for the six months ending June 14, 2026. The Deloitte forecast covers November 2026 through January 2027.</a:t>
            </a:r>
            <a:endParaRPr lang="en-US" sz="675" dirty="0"/>
          </a:p>
        </p:txBody>
      </p:sp>
      <p:sp>
        <p:nvSpPr>
          <p:cNvPr id="63" name="Text 62"/>
          <p:cNvSpPr txBox="1"/>
          <p:nvPr/>
        </p:nvSpPr>
        <p:spPr>
          <a:xfrm>
            <a:off x="9495532" y="7162800"/>
            <a:ext cx="200918"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06</a:t>
            </a:r>
            <a:endParaRPr lang="en-US" sz="713"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descr="/tmp/claude-0/-home-claude-about/4bef2f41-4227-5ff7-ab18-11ac74cd9797/scratchpad/pptx/ex/media/1eecee506727.jpg"/>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glass-roofed shopping arcade" descr="A glass-roofed shopping arcade"/>
          <p:cNvPicPr>
            <a:picLocks noChangeAspect="1"/>
          </p:cNvPicPr>
          <p:nvPr/>
        </p:nvPicPr>
        <p:blipFill>
          <a:blip r:embed="rId4"/>
          <a:stretch>
            <a:fillRect/>
          </a:stretch>
        </p:blipFill>
        <p:spPr>
          <a:xfrm>
            <a:off x="5676900" y="0"/>
            <a:ext cx="4381500" cy="7772400"/>
          </a:xfrm>
          <a:prstGeom prst="rect">
            <a:avLst/>
          </a:prstGeom>
        </p:spPr>
      </p:pic>
      <p:pic>
        <p:nvPicPr>
          <p:cNvPr id="5" name="Shade" descr="/tmp/claude-0/-home-claude-about/4bef2f41-4227-5ff7-ab18-11ac74cd9797/scratchpad/pptx/ex/media/b967cc30ffa5.png"/>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SECTOR BRIEF  |  Q4 2026</a:t>
            </a:r>
            <a:endParaRPr lang="en-US" sz="675" dirty="0"/>
          </a:p>
        </p:txBody>
      </p:sp>
      <p:sp>
        <p:nvSpPr>
          <p:cNvPr id="8" name="Text 7"/>
          <p:cNvSpPr txBox="1"/>
          <p:nvPr/>
        </p:nvSpPr>
        <p:spPr>
          <a:xfrm>
            <a:off x="571500" y="1428750"/>
            <a:ext cx="1380083"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02</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Sector Activity</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Strategic acquirers have committed more than $120 billion to three consumer transactions since November 2025, and sponsor-backed platforms are buying family-owned operators a few locations at a time. Listed consumer companies trade at lower multiples of earnings than a year ago in every peer group we track.</a:t>
            </a:r>
            <a:endParaRPr lang="en-US" sz="1013" dirty="0"/>
          </a:p>
        </p:txBody>
      </p:sp>
      <p:sp>
        <p:nvSpPr>
          <p:cNvPr id="12" name="Shape 11"/>
          <p:cNvSpPr/>
          <p:nvPr/>
        </p:nvSpPr>
        <p:spPr>
          <a:xfrm>
            <a:off x="609600" y="7153275"/>
            <a:ext cx="4476750" cy="9525"/>
          </a:xfrm>
          <a:prstGeom prst="rect">
            <a:avLst/>
          </a:prstGeom>
          <a:solidFill>
            <a:srgbClr val="D3AE84">
              <a:alpha val="28000"/>
            </a:srgbClr>
          </a:solidFill>
          <a:ln/>
        </p:spPr>
        <p:txBody>
          <a:bodyPr/>
          <a:lstStyle/>
          <a:p>
            <a:endParaRPr lang="en-US"/>
          </a:p>
        </p:txBody>
      </p:sp>
      <p:sp>
        <p:nvSpPr>
          <p:cNvPr id="13" name="Shape 12"/>
          <p:cNvSpPr/>
          <p:nvPr/>
        </p:nvSpPr>
        <p:spPr>
          <a:xfrm>
            <a:off x="609600" y="5295900"/>
            <a:ext cx="4476750" cy="9525"/>
          </a:xfrm>
          <a:prstGeom prst="rect">
            <a:avLst/>
          </a:prstGeom>
          <a:solidFill>
            <a:srgbClr val="D3AE84">
              <a:alpha val="28000"/>
            </a:srgbClr>
          </a:solidFill>
          <a:ln/>
        </p:spPr>
        <p:txBody>
          <a:bodyPr/>
          <a:lstStyle/>
          <a:p>
            <a:endParaRPr lang="en-US"/>
          </a:p>
        </p:txBody>
      </p:sp>
      <p:sp>
        <p:nvSpPr>
          <p:cNvPr id="14" name="Text 13"/>
          <p:cNvSpPr txBox="1"/>
          <p:nvPr/>
        </p:nvSpPr>
        <p:spPr>
          <a:xfrm>
            <a:off x="609600" y="54006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08</a:t>
            </a:r>
            <a:endParaRPr lang="en-US" sz="825" dirty="0"/>
          </a:p>
        </p:txBody>
      </p:sp>
      <p:sp>
        <p:nvSpPr>
          <p:cNvPr id="15" name="Text 14"/>
          <p:cNvSpPr txBox="1"/>
          <p:nvPr/>
        </p:nvSpPr>
        <p:spPr>
          <a:xfrm>
            <a:off x="971550" y="5386388"/>
            <a:ext cx="2206228"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Select recent consumer transactions</a:t>
            </a:r>
            <a:endParaRPr lang="en-US" sz="975" dirty="0"/>
          </a:p>
        </p:txBody>
      </p:sp>
      <p:sp>
        <p:nvSpPr>
          <p:cNvPr id="16" name="Shape 15"/>
          <p:cNvSpPr/>
          <p:nvPr/>
        </p:nvSpPr>
        <p:spPr>
          <a:xfrm>
            <a:off x="609600" y="5667375"/>
            <a:ext cx="4476750" cy="9525"/>
          </a:xfrm>
          <a:prstGeom prst="rect">
            <a:avLst/>
          </a:prstGeom>
          <a:solidFill>
            <a:srgbClr val="D3AE84">
              <a:alpha val="28000"/>
            </a:srgbClr>
          </a:solidFill>
          <a:ln/>
        </p:spPr>
        <p:txBody>
          <a:bodyPr/>
          <a:lstStyle/>
          <a:p>
            <a:endParaRPr lang="en-US"/>
          </a:p>
        </p:txBody>
      </p:sp>
      <p:sp>
        <p:nvSpPr>
          <p:cNvPr id="17" name="Text 16"/>
          <p:cNvSpPr txBox="1"/>
          <p:nvPr/>
        </p:nvSpPr>
        <p:spPr>
          <a:xfrm>
            <a:off x="609600" y="577215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10</a:t>
            </a:r>
            <a:endParaRPr lang="en-US" sz="825" dirty="0"/>
          </a:p>
        </p:txBody>
      </p:sp>
      <p:sp>
        <p:nvSpPr>
          <p:cNvPr id="18" name="Text 17"/>
          <p:cNvSpPr txBox="1"/>
          <p:nvPr/>
        </p:nvSpPr>
        <p:spPr>
          <a:xfrm>
            <a:off x="971550" y="5757863"/>
            <a:ext cx="299070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Benchmark International’s consumer transactions</a:t>
            </a:r>
            <a:endParaRPr lang="en-US" sz="975" dirty="0"/>
          </a:p>
        </p:txBody>
      </p:sp>
      <p:sp>
        <p:nvSpPr>
          <p:cNvPr id="19" name="Shape 18"/>
          <p:cNvSpPr/>
          <p:nvPr/>
        </p:nvSpPr>
        <p:spPr>
          <a:xfrm>
            <a:off x="609600" y="6038850"/>
            <a:ext cx="4476750" cy="9525"/>
          </a:xfrm>
          <a:prstGeom prst="rect">
            <a:avLst/>
          </a:prstGeom>
          <a:solidFill>
            <a:srgbClr val="D3AE84">
              <a:alpha val="28000"/>
            </a:srgbClr>
          </a:solidFill>
          <a:ln/>
        </p:spPr>
        <p:txBody>
          <a:bodyPr/>
          <a:lstStyle/>
          <a:p>
            <a:endParaRPr lang="en-US"/>
          </a:p>
        </p:txBody>
      </p:sp>
      <p:sp>
        <p:nvSpPr>
          <p:cNvPr id="20" name="Text 19"/>
          <p:cNvSpPr txBox="1"/>
          <p:nvPr/>
        </p:nvSpPr>
        <p:spPr>
          <a:xfrm>
            <a:off x="609600" y="614362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11</a:t>
            </a:r>
            <a:endParaRPr lang="en-US" sz="825" dirty="0"/>
          </a:p>
        </p:txBody>
      </p:sp>
      <p:sp>
        <p:nvSpPr>
          <p:cNvPr id="21" name="Text 20"/>
          <p:cNvSpPr txBox="1"/>
          <p:nvPr/>
        </p:nvSpPr>
        <p:spPr>
          <a:xfrm>
            <a:off x="971550" y="6129338"/>
            <a:ext cx="89014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Who is buying</a:t>
            </a:r>
            <a:endParaRPr lang="en-US" sz="975" dirty="0"/>
          </a:p>
        </p:txBody>
      </p:sp>
      <p:sp>
        <p:nvSpPr>
          <p:cNvPr id="22" name="Shape 21"/>
          <p:cNvSpPr/>
          <p:nvPr/>
        </p:nvSpPr>
        <p:spPr>
          <a:xfrm>
            <a:off x="609600" y="6410325"/>
            <a:ext cx="4476750" cy="9525"/>
          </a:xfrm>
          <a:prstGeom prst="rect">
            <a:avLst/>
          </a:prstGeom>
          <a:solidFill>
            <a:srgbClr val="D3AE84">
              <a:alpha val="28000"/>
            </a:srgbClr>
          </a:solidFill>
          <a:ln/>
        </p:spPr>
        <p:txBody>
          <a:bodyPr/>
          <a:lstStyle/>
          <a:p>
            <a:endParaRPr lang="en-US"/>
          </a:p>
        </p:txBody>
      </p:sp>
      <p:sp>
        <p:nvSpPr>
          <p:cNvPr id="23" name="Text 22"/>
          <p:cNvSpPr txBox="1"/>
          <p:nvPr/>
        </p:nvSpPr>
        <p:spPr>
          <a:xfrm>
            <a:off x="609600" y="651510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12</a:t>
            </a:r>
            <a:endParaRPr lang="en-US" sz="825" dirty="0"/>
          </a:p>
        </p:txBody>
      </p:sp>
      <p:sp>
        <p:nvSpPr>
          <p:cNvPr id="24" name="Text 23"/>
          <p:cNvSpPr txBox="1"/>
          <p:nvPr/>
        </p:nvSpPr>
        <p:spPr>
          <a:xfrm>
            <a:off x="971550" y="6500813"/>
            <a:ext cx="2648545"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Public company performance and valuation</a:t>
            </a:r>
            <a:endParaRPr lang="en-US" sz="975" dirty="0"/>
          </a:p>
        </p:txBody>
      </p:sp>
      <p:sp>
        <p:nvSpPr>
          <p:cNvPr id="25" name="Shape 24"/>
          <p:cNvSpPr/>
          <p:nvPr/>
        </p:nvSpPr>
        <p:spPr>
          <a:xfrm>
            <a:off x="609600" y="6781800"/>
            <a:ext cx="4476750" cy="9525"/>
          </a:xfrm>
          <a:prstGeom prst="rect">
            <a:avLst/>
          </a:prstGeom>
          <a:solidFill>
            <a:srgbClr val="D3AE84">
              <a:alpha val="28000"/>
            </a:srgbClr>
          </a:solidFill>
          <a:ln/>
        </p:spPr>
        <p:txBody>
          <a:bodyPr/>
          <a:lstStyle/>
          <a:p>
            <a:endParaRPr lang="en-US"/>
          </a:p>
        </p:txBody>
      </p:sp>
      <p:sp>
        <p:nvSpPr>
          <p:cNvPr id="26" name="Text 25"/>
          <p:cNvSpPr txBox="1"/>
          <p:nvPr/>
        </p:nvSpPr>
        <p:spPr>
          <a:xfrm>
            <a:off x="609600" y="68865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18</a:t>
            </a:r>
            <a:endParaRPr lang="en-US" sz="825" dirty="0"/>
          </a:p>
        </p:txBody>
      </p:sp>
      <p:sp>
        <p:nvSpPr>
          <p:cNvPr id="27" name="Text 26"/>
          <p:cNvSpPr txBox="1"/>
          <p:nvPr/>
        </p:nvSpPr>
        <p:spPr>
          <a:xfrm>
            <a:off x="971550" y="6872288"/>
            <a:ext cx="1724025"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Demand and cost indicators</a:t>
            </a:r>
            <a:endParaRPr lang="en-US" sz="975" dirty="0"/>
          </a:p>
        </p:txBody>
      </p:sp>
      <p:pic>
        <p:nvPicPr>
          <p:cNvPr id="28"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9" name="Text 28"/>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Select Recent Consumer Transactions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Acquirers disclosed a price in most of these transactions and a multiple of earnings in only a few.</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552575"/>
            <a:ext cx="9220200" cy="19050"/>
          </a:xfrm>
          <a:prstGeom prst="rect">
            <a:avLst/>
          </a:prstGeom>
          <a:solidFill>
            <a:srgbClr val="B68757"/>
          </a:solidFill>
          <a:ln/>
        </p:spPr>
        <p:txBody>
          <a:bodyPr/>
          <a:lstStyle/>
          <a:p>
            <a:endParaRPr lang="en-US"/>
          </a:p>
        </p:txBody>
      </p:sp>
      <p:sp>
        <p:nvSpPr>
          <p:cNvPr id="10" name="Text 9"/>
          <p:cNvSpPr txBox="1"/>
          <p:nvPr/>
        </p:nvSpPr>
        <p:spPr>
          <a:xfrm>
            <a:off x="419100" y="1238250"/>
            <a:ext cx="9906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ANNOUNCED</a:t>
            </a:r>
            <a:endParaRPr lang="en-US" sz="638" dirty="0"/>
          </a:p>
        </p:txBody>
      </p:sp>
      <p:sp>
        <p:nvSpPr>
          <p:cNvPr id="11" name="Text 10"/>
          <p:cNvSpPr txBox="1"/>
          <p:nvPr/>
        </p:nvSpPr>
        <p:spPr>
          <a:xfrm>
            <a:off x="1543050" y="1238250"/>
            <a:ext cx="19050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TARGET AND ACQUIRER</a:t>
            </a:r>
            <a:endParaRPr lang="en-US" sz="638" dirty="0"/>
          </a:p>
        </p:txBody>
      </p:sp>
      <p:sp>
        <p:nvSpPr>
          <p:cNvPr id="12" name="Text 11"/>
          <p:cNvSpPr txBox="1"/>
          <p:nvPr/>
        </p:nvSpPr>
        <p:spPr>
          <a:xfrm>
            <a:off x="3581400" y="1238250"/>
            <a:ext cx="264795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BUSINESS AND TERMS</a:t>
            </a:r>
            <a:endParaRPr lang="en-US" sz="638" dirty="0"/>
          </a:p>
        </p:txBody>
      </p:sp>
      <p:sp>
        <p:nvSpPr>
          <p:cNvPr id="13" name="Text 12"/>
          <p:cNvSpPr txBox="1"/>
          <p:nvPr/>
        </p:nvSpPr>
        <p:spPr>
          <a:xfrm>
            <a:off x="6362700" y="1238250"/>
            <a:ext cx="10668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STATED VALUE</a:t>
            </a:r>
            <a:endParaRPr lang="en-US" sz="638" dirty="0"/>
          </a:p>
        </p:txBody>
      </p:sp>
      <p:sp>
        <p:nvSpPr>
          <p:cNvPr id="14" name="Text 13"/>
          <p:cNvSpPr txBox="1"/>
          <p:nvPr/>
        </p:nvSpPr>
        <p:spPr>
          <a:xfrm>
            <a:off x="7562850" y="1238250"/>
            <a:ext cx="8905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REVENUE</a:t>
            </a:r>
            <a:endParaRPr lang="en-US" sz="638" dirty="0"/>
          </a:p>
        </p:txBody>
      </p:sp>
      <p:sp>
        <p:nvSpPr>
          <p:cNvPr id="15" name="Text 14"/>
          <p:cNvSpPr txBox="1"/>
          <p:nvPr/>
        </p:nvSpPr>
        <p:spPr>
          <a:xfrm>
            <a:off x="8572500" y="1238250"/>
            <a:ext cx="10810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EARNINGS</a:t>
            </a:r>
            <a:endParaRPr lang="en-US" sz="638" dirty="0"/>
          </a:p>
        </p:txBody>
      </p:sp>
      <p:sp>
        <p:nvSpPr>
          <p:cNvPr id="16" name="Shape 15"/>
          <p:cNvSpPr/>
          <p:nvPr/>
        </p:nvSpPr>
        <p:spPr>
          <a:xfrm>
            <a:off x="419100" y="2455813"/>
            <a:ext cx="9220200" cy="9525"/>
          </a:xfrm>
          <a:prstGeom prst="rect">
            <a:avLst/>
          </a:prstGeom>
          <a:solidFill>
            <a:srgbClr val="E3DCD3"/>
          </a:solidFill>
          <a:ln/>
        </p:spPr>
        <p:txBody>
          <a:bodyPr/>
          <a:lstStyle/>
          <a:p>
            <a:endParaRPr lang="en-US"/>
          </a:p>
        </p:txBody>
      </p:sp>
      <p:sp>
        <p:nvSpPr>
          <p:cNvPr id="17" name="Shape 16"/>
          <p:cNvSpPr/>
          <p:nvPr/>
        </p:nvSpPr>
        <p:spPr>
          <a:xfrm>
            <a:off x="419100" y="1761232"/>
            <a:ext cx="712143" cy="209550"/>
          </a:xfrm>
          <a:prstGeom prst="rect">
            <a:avLst/>
          </a:prstGeom>
          <a:solidFill>
            <a:srgbClr val="1B1A1A"/>
          </a:solidFill>
          <a:ln/>
        </p:spPr>
        <p:txBody>
          <a:bodyPr/>
          <a:lstStyle/>
          <a:p>
            <a:endParaRPr lang="en-US"/>
          </a:p>
        </p:txBody>
      </p:sp>
      <p:sp>
        <p:nvSpPr>
          <p:cNvPr id="18" name="Text 17"/>
          <p:cNvSpPr txBox="1"/>
          <p:nvPr/>
        </p:nvSpPr>
        <p:spPr>
          <a:xfrm>
            <a:off x="504825" y="1804095"/>
            <a:ext cx="59784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SEPT 2026</a:t>
            </a:r>
            <a:endParaRPr lang="en-US" sz="638" dirty="0"/>
          </a:p>
        </p:txBody>
      </p:sp>
      <p:pic>
        <p:nvPicPr>
          <p:cNvPr id="19" name="Icon" descr="/tmp/claude-0/-home-claude-about/4bef2f41-4227-5ff7-ab18-11ac74cd9797/scratchpad/pptx/ex/media/12a88f390be7.png"/>
          <p:cNvPicPr>
            <a:picLocks noChangeAspect="1"/>
          </p:cNvPicPr>
          <p:nvPr/>
        </p:nvPicPr>
        <p:blipFill>
          <a:blip r:embed="rId3"/>
          <a:stretch>
            <a:fillRect/>
          </a:stretch>
        </p:blipFill>
        <p:spPr>
          <a:xfrm>
            <a:off x="419100" y="2046982"/>
            <a:ext cx="133350" cy="133350"/>
          </a:xfrm>
          <a:prstGeom prst="rect">
            <a:avLst/>
          </a:prstGeom>
        </p:spPr>
      </p:pic>
      <p:sp>
        <p:nvSpPr>
          <p:cNvPr id="20" name="Text 19"/>
          <p:cNvSpPr txBox="1"/>
          <p:nvPr/>
        </p:nvSpPr>
        <p:spPr>
          <a:xfrm>
            <a:off x="619125" y="2039838"/>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21" name="Shape 20"/>
          <p:cNvSpPr/>
          <p:nvPr/>
        </p:nvSpPr>
        <p:spPr>
          <a:xfrm>
            <a:off x="1543050" y="1661220"/>
            <a:ext cx="1905000" cy="285750"/>
          </a:xfrm>
          <a:prstGeom prst="rect">
            <a:avLst/>
          </a:prstGeom>
          <a:solidFill>
            <a:srgbClr val="FAF7F3"/>
          </a:solidFill>
          <a:ln/>
        </p:spPr>
        <p:txBody>
          <a:bodyPr/>
          <a:lstStyle/>
          <a:p>
            <a:endParaRPr lang="en-US"/>
          </a:p>
        </p:txBody>
      </p:sp>
      <p:sp>
        <p:nvSpPr>
          <p:cNvPr id="22" name="Shape 21"/>
          <p:cNvSpPr/>
          <p:nvPr/>
        </p:nvSpPr>
        <p:spPr>
          <a:xfrm>
            <a:off x="1547813" y="1665982"/>
            <a:ext cx="1895475" cy="276225"/>
          </a:xfrm>
          <a:prstGeom prst="rect">
            <a:avLst/>
          </a:prstGeom>
          <a:ln w="9525">
            <a:solidFill>
              <a:srgbClr val="E3DCD3"/>
            </a:solidFill>
            <a:prstDash val="solid"/>
          </a:ln>
        </p:spPr>
        <p:txBody>
          <a:bodyPr/>
          <a:lstStyle/>
          <a:p>
            <a:endParaRPr lang="en-US"/>
          </a:p>
        </p:txBody>
      </p:sp>
      <p:sp>
        <p:nvSpPr>
          <p:cNvPr id="23" name="Text 22"/>
          <p:cNvSpPr txBox="1"/>
          <p:nvPr/>
        </p:nvSpPr>
        <p:spPr>
          <a:xfrm>
            <a:off x="1898303" y="1742182"/>
            <a:ext cx="1194495"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BRAKEBUSH BROTHERS</a:t>
            </a:r>
            <a:endParaRPr lang="en-US" sz="765" dirty="0"/>
          </a:p>
        </p:txBody>
      </p:sp>
      <p:sp>
        <p:nvSpPr>
          <p:cNvPr id="24" name="Text 23"/>
          <p:cNvSpPr txBox="1"/>
          <p:nvPr/>
        </p:nvSpPr>
        <p:spPr>
          <a:xfrm>
            <a:off x="1543050" y="1946970"/>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25" name="Shape 24"/>
          <p:cNvSpPr/>
          <p:nvPr/>
        </p:nvSpPr>
        <p:spPr>
          <a:xfrm>
            <a:off x="1543050" y="2080320"/>
            <a:ext cx="1905000" cy="285750"/>
          </a:xfrm>
          <a:prstGeom prst="rect">
            <a:avLst/>
          </a:prstGeom>
          <a:solidFill>
            <a:srgbClr val="FFFFFF"/>
          </a:solidFill>
          <a:ln/>
        </p:spPr>
        <p:txBody>
          <a:bodyPr/>
          <a:lstStyle/>
          <a:p>
            <a:endParaRPr lang="en-US"/>
          </a:p>
        </p:txBody>
      </p:sp>
      <p:sp>
        <p:nvSpPr>
          <p:cNvPr id="26" name="Shape 25"/>
          <p:cNvSpPr/>
          <p:nvPr/>
        </p:nvSpPr>
        <p:spPr>
          <a:xfrm>
            <a:off x="1547813" y="2085082"/>
            <a:ext cx="1895475" cy="276225"/>
          </a:xfrm>
          <a:prstGeom prst="rect">
            <a:avLst/>
          </a:prstGeom>
          <a:ln w="9525">
            <a:solidFill>
              <a:srgbClr val="C3BDB6"/>
            </a:solidFill>
            <a:prstDash val="solid"/>
          </a:ln>
        </p:spPr>
        <p:txBody>
          <a:bodyPr/>
          <a:lstStyle/>
          <a:p>
            <a:endParaRPr lang="en-US"/>
          </a:p>
        </p:txBody>
      </p:sp>
      <p:sp>
        <p:nvSpPr>
          <p:cNvPr id="27" name="Text 26"/>
          <p:cNvSpPr txBox="1"/>
          <p:nvPr/>
        </p:nvSpPr>
        <p:spPr>
          <a:xfrm>
            <a:off x="2089398" y="2161282"/>
            <a:ext cx="81230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HORMEL FOODS</a:t>
            </a:r>
            <a:endParaRPr lang="en-US" sz="765" dirty="0"/>
          </a:p>
        </p:txBody>
      </p:sp>
      <p:sp>
        <p:nvSpPr>
          <p:cNvPr id="28" name="Text 27"/>
          <p:cNvSpPr txBox="1"/>
          <p:nvPr/>
        </p:nvSpPr>
        <p:spPr>
          <a:xfrm>
            <a:off x="3581400" y="1790789"/>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Hormel agreed on September 30 to acquire Brakebush Brothers, a producer of prepared chicken (</a:t>
            </a:r>
            <a:r>
              <a:rPr lang="en-US" sz="79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Hormel and Brakebush Brothers</a:t>
            </a:r>
            <a:r>
              <a:rPr lang="en-US" sz="795" kern="0" spc="15" dirty="0">
                <a:solidFill>
                  <a:srgbClr val="333231"/>
                </a:solidFill>
                <a:latin typeface="Quicksand" pitchFamily="34" charset="0"/>
              </a:rPr>
              <a:t>).</a:t>
            </a:r>
            <a:endParaRPr lang="en-US" sz="795" dirty="0"/>
          </a:p>
        </p:txBody>
      </p:sp>
      <p:sp>
        <p:nvSpPr>
          <p:cNvPr id="29" name="Text 28"/>
          <p:cNvSpPr txBox="1"/>
          <p:nvPr/>
        </p:nvSpPr>
        <p:spPr>
          <a:xfrm>
            <a:off x="6362700" y="1918395"/>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$1.06B</a:t>
            </a:r>
            <a:endParaRPr lang="en-US" sz="1200" dirty="0"/>
          </a:p>
        </p:txBody>
      </p:sp>
      <p:sp>
        <p:nvSpPr>
          <p:cNvPr id="32" name="Shape 31"/>
          <p:cNvSpPr/>
          <p:nvPr/>
        </p:nvSpPr>
        <p:spPr>
          <a:xfrm>
            <a:off x="419100" y="3349526"/>
            <a:ext cx="9220200" cy="9525"/>
          </a:xfrm>
          <a:prstGeom prst="rect">
            <a:avLst/>
          </a:prstGeom>
          <a:solidFill>
            <a:srgbClr val="E3DCD3"/>
          </a:solidFill>
          <a:ln/>
        </p:spPr>
        <p:txBody>
          <a:bodyPr/>
          <a:lstStyle/>
          <a:p>
            <a:endParaRPr lang="en-US"/>
          </a:p>
        </p:txBody>
      </p:sp>
      <p:sp>
        <p:nvSpPr>
          <p:cNvPr id="33" name="Shape 32"/>
          <p:cNvSpPr/>
          <p:nvPr/>
        </p:nvSpPr>
        <p:spPr>
          <a:xfrm>
            <a:off x="419100" y="2654945"/>
            <a:ext cx="708571" cy="209550"/>
          </a:xfrm>
          <a:prstGeom prst="rect">
            <a:avLst/>
          </a:prstGeom>
          <a:solidFill>
            <a:srgbClr val="1B1A1A"/>
          </a:solidFill>
          <a:ln/>
        </p:spPr>
        <p:txBody>
          <a:bodyPr/>
          <a:lstStyle/>
          <a:p>
            <a:endParaRPr lang="en-US"/>
          </a:p>
        </p:txBody>
      </p:sp>
      <p:sp>
        <p:nvSpPr>
          <p:cNvPr id="34" name="Text 33"/>
          <p:cNvSpPr txBox="1"/>
          <p:nvPr/>
        </p:nvSpPr>
        <p:spPr>
          <a:xfrm>
            <a:off x="504825" y="2697807"/>
            <a:ext cx="59427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JULY 2026</a:t>
            </a:r>
            <a:endParaRPr lang="en-US" sz="638" dirty="0"/>
          </a:p>
        </p:txBody>
      </p:sp>
      <p:pic>
        <p:nvPicPr>
          <p:cNvPr id="35" name="Icon" descr="/tmp/claude-0/-home-claude-about/4bef2f41-4227-5ff7-ab18-11ac74cd9797/scratchpad/pptx/ex/media/12a88f390be7.png"/>
          <p:cNvPicPr>
            <a:picLocks noChangeAspect="1"/>
          </p:cNvPicPr>
          <p:nvPr/>
        </p:nvPicPr>
        <p:blipFill>
          <a:blip r:embed="rId3"/>
          <a:stretch>
            <a:fillRect/>
          </a:stretch>
        </p:blipFill>
        <p:spPr>
          <a:xfrm>
            <a:off x="419100" y="2940695"/>
            <a:ext cx="133350" cy="133350"/>
          </a:xfrm>
          <a:prstGeom prst="rect">
            <a:avLst/>
          </a:prstGeom>
        </p:spPr>
      </p:pic>
      <p:sp>
        <p:nvSpPr>
          <p:cNvPr id="36" name="Text 35"/>
          <p:cNvSpPr txBox="1"/>
          <p:nvPr/>
        </p:nvSpPr>
        <p:spPr>
          <a:xfrm>
            <a:off x="619125" y="2933551"/>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37" name="Shape 36"/>
          <p:cNvSpPr/>
          <p:nvPr/>
        </p:nvSpPr>
        <p:spPr>
          <a:xfrm>
            <a:off x="1543050" y="2554932"/>
            <a:ext cx="1905000" cy="285750"/>
          </a:xfrm>
          <a:prstGeom prst="rect">
            <a:avLst/>
          </a:prstGeom>
          <a:solidFill>
            <a:srgbClr val="FAF7F3"/>
          </a:solidFill>
          <a:ln/>
        </p:spPr>
        <p:txBody>
          <a:bodyPr/>
          <a:lstStyle/>
          <a:p>
            <a:endParaRPr lang="en-US"/>
          </a:p>
        </p:txBody>
      </p:sp>
      <p:sp>
        <p:nvSpPr>
          <p:cNvPr id="38" name="Shape 37"/>
          <p:cNvSpPr/>
          <p:nvPr/>
        </p:nvSpPr>
        <p:spPr>
          <a:xfrm>
            <a:off x="1547813" y="2559695"/>
            <a:ext cx="1895475" cy="276225"/>
          </a:xfrm>
          <a:prstGeom prst="rect">
            <a:avLst/>
          </a:prstGeom>
          <a:ln w="9525">
            <a:solidFill>
              <a:srgbClr val="E3DCD3"/>
            </a:solidFill>
            <a:prstDash val="solid"/>
          </a:ln>
        </p:spPr>
        <p:txBody>
          <a:bodyPr/>
          <a:lstStyle/>
          <a:p>
            <a:endParaRPr lang="en-US"/>
          </a:p>
        </p:txBody>
      </p:sp>
      <p:sp>
        <p:nvSpPr>
          <p:cNvPr id="39" name="Text 38"/>
          <p:cNvSpPr txBox="1"/>
          <p:nvPr/>
        </p:nvSpPr>
        <p:spPr>
          <a:xfrm>
            <a:off x="2110234" y="2635895"/>
            <a:ext cx="77048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SEARAY FOODS</a:t>
            </a:r>
            <a:endParaRPr lang="en-US" sz="765" dirty="0"/>
          </a:p>
        </p:txBody>
      </p:sp>
      <p:sp>
        <p:nvSpPr>
          <p:cNvPr id="40" name="Text 39"/>
          <p:cNvSpPr txBox="1"/>
          <p:nvPr/>
        </p:nvSpPr>
        <p:spPr>
          <a:xfrm>
            <a:off x="1543050" y="2840682"/>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41" name="Shape 40"/>
          <p:cNvSpPr/>
          <p:nvPr/>
        </p:nvSpPr>
        <p:spPr>
          <a:xfrm>
            <a:off x="1543050" y="2974032"/>
            <a:ext cx="1905000" cy="285750"/>
          </a:xfrm>
          <a:prstGeom prst="rect">
            <a:avLst/>
          </a:prstGeom>
          <a:solidFill>
            <a:srgbClr val="FFFFFF"/>
          </a:solidFill>
          <a:ln/>
        </p:spPr>
        <p:txBody>
          <a:bodyPr/>
          <a:lstStyle/>
          <a:p>
            <a:endParaRPr lang="en-US"/>
          </a:p>
        </p:txBody>
      </p:sp>
      <p:sp>
        <p:nvSpPr>
          <p:cNvPr id="42" name="Shape 41"/>
          <p:cNvSpPr/>
          <p:nvPr/>
        </p:nvSpPr>
        <p:spPr>
          <a:xfrm>
            <a:off x="1547813" y="2978795"/>
            <a:ext cx="1895475" cy="276225"/>
          </a:xfrm>
          <a:prstGeom prst="rect">
            <a:avLst/>
          </a:prstGeom>
          <a:ln w="9525">
            <a:solidFill>
              <a:srgbClr val="C3BDB6"/>
            </a:solidFill>
            <a:prstDash val="solid"/>
          </a:ln>
        </p:spPr>
        <p:txBody>
          <a:bodyPr/>
          <a:lstStyle/>
          <a:p>
            <a:endParaRPr lang="en-US"/>
          </a:p>
        </p:txBody>
      </p:sp>
      <p:sp>
        <p:nvSpPr>
          <p:cNvPr id="43" name="Text 42"/>
          <p:cNvSpPr txBox="1"/>
          <p:nvPr/>
        </p:nvSpPr>
        <p:spPr>
          <a:xfrm>
            <a:off x="2236589" y="3054995"/>
            <a:ext cx="517922"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HF FOODS</a:t>
            </a:r>
            <a:endParaRPr lang="en-US" sz="765" dirty="0"/>
          </a:p>
        </p:txBody>
      </p:sp>
      <p:sp>
        <p:nvSpPr>
          <p:cNvPr id="44" name="Text 43"/>
          <p:cNvSpPr txBox="1"/>
          <p:nvPr/>
        </p:nvSpPr>
        <p:spPr>
          <a:xfrm>
            <a:off x="3581400" y="2539692"/>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HF Foods agreed to acquire Searay Foods, a distributor of frozen specialty seafood, expected the purchase to close in the third quarter and stated the price as a multiple of projected adjusted EBITDA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HF Foods and Searay Foods</a:t>
            </a:r>
            <a:r>
              <a:rPr lang="en-US" sz="795" kern="0" spc="15" dirty="0">
                <a:solidFill>
                  <a:srgbClr val="333231"/>
                </a:solidFill>
                <a:latin typeface="Quicksand" pitchFamily="34" charset="0"/>
              </a:rPr>
              <a:t>).</a:t>
            </a:r>
            <a:endParaRPr lang="en-US" sz="795" dirty="0"/>
          </a:p>
        </p:txBody>
      </p:sp>
      <p:sp>
        <p:nvSpPr>
          <p:cNvPr id="45" name="Text 44"/>
          <p:cNvSpPr txBox="1"/>
          <p:nvPr/>
        </p:nvSpPr>
        <p:spPr>
          <a:xfrm>
            <a:off x="6362700" y="281210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C$47.9M</a:t>
            </a:r>
            <a:endParaRPr lang="en-US" sz="1200" dirty="0"/>
          </a:p>
        </p:txBody>
      </p:sp>
      <p:sp>
        <p:nvSpPr>
          <p:cNvPr id="46" name="Text 45"/>
          <p:cNvSpPr txBox="1"/>
          <p:nvPr/>
        </p:nvSpPr>
        <p:spPr>
          <a:xfrm>
            <a:off x="7562850" y="2835920"/>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47" name="Text 46"/>
          <p:cNvSpPr txBox="1"/>
          <p:nvPr/>
        </p:nvSpPr>
        <p:spPr>
          <a:xfrm>
            <a:off x="8572500" y="2647801"/>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5.0x</a:t>
            </a:r>
            <a:endParaRPr lang="en-US" sz="1200" dirty="0"/>
          </a:p>
        </p:txBody>
      </p:sp>
      <p:sp>
        <p:nvSpPr>
          <p:cNvPr id="48" name="Text 47"/>
          <p:cNvSpPr txBox="1"/>
          <p:nvPr/>
        </p:nvSpPr>
        <p:spPr>
          <a:xfrm>
            <a:off x="8572500" y="2835920"/>
            <a:ext cx="1081088" cy="328613"/>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projected 2025 adjusted EBITDA, as stated by HF Foods</a:t>
            </a:r>
            <a:endParaRPr lang="en-US" sz="645" dirty="0"/>
          </a:p>
        </p:txBody>
      </p:sp>
      <p:sp>
        <p:nvSpPr>
          <p:cNvPr id="49" name="Shape 48"/>
          <p:cNvSpPr/>
          <p:nvPr/>
        </p:nvSpPr>
        <p:spPr>
          <a:xfrm>
            <a:off x="419100" y="4243239"/>
            <a:ext cx="9220200" cy="9525"/>
          </a:xfrm>
          <a:prstGeom prst="rect">
            <a:avLst/>
          </a:prstGeom>
          <a:solidFill>
            <a:srgbClr val="E3DCD3"/>
          </a:solidFill>
          <a:ln/>
        </p:spPr>
        <p:txBody>
          <a:bodyPr/>
          <a:lstStyle/>
          <a:p>
            <a:endParaRPr lang="en-US"/>
          </a:p>
        </p:txBody>
      </p:sp>
      <p:sp>
        <p:nvSpPr>
          <p:cNvPr id="50" name="Shape 49"/>
          <p:cNvSpPr/>
          <p:nvPr/>
        </p:nvSpPr>
        <p:spPr>
          <a:xfrm>
            <a:off x="419100" y="3548658"/>
            <a:ext cx="708571" cy="209550"/>
          </a:xfrm>
          <a:prstGeom prst="rect">
            <a:avLst/>
          </a:prstGeom>
          <a:solidFill>
            <a:srgbClr val="1B1A1A"/>
          </a:solidFill>
          <a:ln/>
        </p:spPr>
        <p:txBody>
          <a:bodyPr/>
          <a:lstStyle/>
          <a:p>
            <a:endParaRPr lang="en-US"/>
          </a:p>
        </p:txBody>
      </p:sp>
      <p:sp>
        <p:nvSpPr>
          <p:cNvPr id="51" name="Text 50"/>
          <p:cNvSpPr txBox="1"/>
          <p:nvPr/>
        </p:nvSpPr>
        <p:spPr>
          <a:xfrm>
            <a:off x="504825" y="3591520"/>
            <a:ext cx="59427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JULY 2026</a:t>
            </a:r>
            <a:endParaRPr lang="en-US" sz="638" dirty="0"/>
          </a:p>
        </p:txBody>
      </p:sp>
      <p:pic>
        <p:nvPicPr>
          <p:cNvPr id="52" name="Icon" descr="/tmp/claude-0/-home-claude-about/4bef2f41-4227-5ff7-ab18-11ac74cd9797/scratchpad/pptx/ex/media/12a88f390be7.png"/>
          <p:cNvPicPr>
            <a:picLocks noChangeAspect="1"/>
          </p:cNvPicPr>
          <p:nvPr/>
        </p:nvPicPr>
        <p:blipFill>
          <a:blip r:embed="rId3"/>
          <a:stretch>
            <a:fillRect/>
          </a:stretch>
        </p:blipFill>
        <p:spPr>
          <a:xfrm>
            <a:off x="419100" y="3834408"/>
            <a:ext cx="133350" cy="133350"/>
          </a:xfrm>
          <a:prstGeom prst="rect">
            <a:avLst/>
          </a:prstGeom>
        </p:spPr>
      </p:pic>
      <p:sp>
        <p:nvSpPr>
          <p:cNvPr id="53" name="Text 52"/>
          <p:cNvSpPr txBox="1"/>
          <p:nvPr/>
        </p:nvSpPr>
        <p:spPr>
          <a:xfrm>
            <a:off x="619125" y="3827264"/>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54" name="Shape 53"/>
          <p:cNvSpPr/>
          <p:nvPr/>
        </p:nvSpPr>
        <p:spPr>
          <a:xfrm>
            <a:off x="1543050" y="3448645"/>
            <a:ext cx="1905000" cy="285750"/>
          </a:xfrm>
          <a:prstGeom prst="rect">
            <a:avLst/>
          </a:prstGeom>
          <a:solidFill>
            <a:srgbClr val="FAF7F3"/>
          </a:solidFill>
          <a:ln/>
        </p:spPr>
        <p:txBody>
          <a:bodyPr/>
          <a:lstStyle/>
          <a:p>
            <a:endParaRPr lang="en-US"/>
          </a:p>
        </p:txBody>
      </p:sp>
      <p:sp>
        <p:nvSpPr>
          <p:cNvPr id="55" name="Shape 54"/>
          <p:cNvSpPr/>
          <p:nvPr/>
        </p:nvSpPr>
        <p:spPr>
          <a:xfrm>
            <a:off x="1547813" y="3453408"/>
            <a:ext cx="1895475" cy="276225"/>
          </a:xfrm>
          <a:prstGeom prst="rect">
            <a:avLst/>
          </a:prstGeom>
          <a:ln w="9525">
            <a:solidFill>
              <a:srgbClr val="E3DCD3"/>
            </a:solidFill>
            <a:prstDash val="solid"/>
          </a:ln>
        </p:spPr>
        <p:txBody>
          <a:bodyPr/>
          <a:lstStyle/>
          <a:p>
            <a:endParaRPr lang="en-US"/>
          </a:p>
        </p:txBody>
      </p:sp>
      <p:sp>
        <p:nvSpPr>
          <p:cNvPr id="56" name="Text 55"/>
          <p:cNvSpPr txBox="1"/>
          <p:nvPr/>
        </p:nvSpPr>
        <p:spPr>
          <a:xfrm>
            <a:off x="2205782" y="3529608"/>
            <a:ext cx="57953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COPRA INC.</a:t>
            </a:r>
            <a:endParaRPr lang="en-US" sz="765" dirty="0"/>
          </a:p>
        </p:txBody>
      </p:sp>
      <p:sp>
        <p:nvSpPr>
          <p:cNvPr id="57" name="Text 56"/>
          <p:cNvSpPr txBox="1"/>
          <p:nvPr/>
        </p:nvSpPr>
        <p:spPr>
          <a:xfrm>
            <a:off x="1543050" y="3734395"/>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58" name="Shape 57"/>
          <p:cNvSpPr/>
          <p:nvPr/>
        </p:nvSpPr>
        <p:spPr>
          <a:xfrm>
            <a:off x="1543050" y="3867745"/>
            <a:ext cx="1905000" cy="285750"/>
          </a:xfrm>
          <a:prstGeom prst="rect">
            <a:avLst/>
          </a:prstGeom>
          <a:solidFill>
            <a:srgbClr val="FFFFFF"/>
          </a:solidFill>
          <a:ln/>
        </p:spPr>
        <p:txBody>
          <a:bodyPr/>
          <a:lstStyle/>
          <a:p>
            <a:endParaRPr lang="en-US"/>
          </a:p>
        </p:txBody>
      </p:sp>
      <p:sp>
        <p:nvSpPr>
          <p:cNvPr id="59" name="Shape 58"/>
          <p:cNvSpPr/>
          <p:nvPr/>
        </p:nvSpPr>
        <p:spPr>
          <a:xfrm>
            <a:off x="1547813" y="3872508"/>
            <a:ext cx="1895475" cy="276225"/>
          </a:xfrm>
          <a:prstGeom prst="rect">
            <a:avLst/>
          </a:prstGeom>
          <a:ln w="9525">
            <a:solidFill>
              <a:srgbClr val="C3BDB6"/>
            </a:solidFill>
            <a:prstDash val="solid"/>
          </a:ln>
        </p:spPr>
        <p:txBody>
          <a:bodyPr/>
          <a:lstStyle/>
          <a:p>
            <a:endParaRPr lang="en-US"/>
          </a:p>
        </p:txBody>
      </p:sp>
      <p:sp>
        <p:nvSpPr>
          <p:cNvPr id="60" name="Text 59"/>
          <p:cNvSpPr txBox="1"/>
          <p:nvPr/>
        </p:nvSpPr>
        <p:spPr>
          <a:xfrm>
            <a:off x="2220813" y="3948708"/>
            <a:ext cx="54947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VITA COCO</a:t>
            </a:r>
            <a:endParaRPr lang="en-US" sz="765" dirty="0"/>
          </a:p>
        </p:txBody>
      </p:sp>
      <p:sp>
        <p:nvSpPr>
          <p:cNvPr id="61" name="Text 60"/>
          <p:cNvSpPr txBox="1"/>
          <p:nvPr/>
        </p:nvSpPr>
        <p:spPr>
          <a:xfrm>
            <a:off x="3581400" y="3578215"/>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Vita Coco acquired Copra, a privately held producer of frozen organic coconut water and coconut meat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Vita Coco and Copra</a:t>
            </a:r>
            <a:r>
              <a:rPr lang="en-US" sz="795" kern="0" spc="15" dirty="0">
                <a:solidFill>
                  <a:srgbClr val="333231"/>
                </a:solidFill>
                <a:latin typeface="Quicksand" pitchFamily="34" charset="0"/>
              </a:rPr>
              <a:t>).</a:t>
            </a:r>
            <a:endParaRPr lang="en-US" sz="795" dirty="0"/>
          </a:p>
        </p:txBody>
      </p:sp>
      <p:sp>
        <p:nvSpPr>
          <p:cNvPr id="62" name="Text 61"/>
          <p:cNvSpPr txBox="1"/>
          <p:nvPr/>
        </p:nvSpPr>
        <p:spPr>
          <a:xfrm>
            <a:off x="6362700" y="3705820"/>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$175M</a:t>
            </a:r>
            <a:endParaRPr lang="en-US" sz="1200" dirty="0"/>
          </a:p>
        </p:txBody>
      </p:sp>
      <p:sp>
        <p:nvSpPr>
          <p:cNvPr id="63" name="Text 62"/>
          <p:cNvSpPr txBox="1"/>
          <p:nvPr/>
        </p:nvSpPr>
        <p:spPr>
          <a:xfrm>
            <a:off x="7562850" y="3729633"/>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4" name="Text 63"/>
          <p:cNvSpPr txBox="1"/>
          <p:nvPr/>
        </p:nvSpPr>
        <p:spPr>
          <a:xfrm>
            <a:off x="85725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5" name="Shape 64"/>
          <p:cNvSpPr/>
          <p:nvPr/>
        </p:nvSpPr>
        <p:spPr>
          <a:xfrm>
            <a:off x="419100" y="5136952"/>
            <a:ext cx="9220200" cy="9525"/>
          </a:xfrm>
          <a:prstGeom prst="rect">
            <a:avLst/>
          </a:prstGeom>
          <a:solidFill>
            <a:srgbClr val="E3DCD3"/>
          </a:solidFill>
          <a:ln/>
        </p:spPr>
        <p:txBody>
          <a:bodyPr/>
          <a:lstStyle/>
          <a:p>
            <a:endParaRPr lang="en-US"/>
          </a:p>
        </p:txBody>
      </p:sp>
      <p:sp>
        <p:nvSpPr>
          <p:cNvPr id="66" name="Shape 65"/>
          <p:cNvSpPr/>
          <p:nvPr/>
        </p:nvSpPr>
        <p:spPr>
          <a:xfrm>
            <a:off x="419100" y="4387602"/>
            <a:ext cx="657523" cy="209550"/>
          </a:xfrm>
          <a:prstGeom prst="rect">
            <a:avLst/>
          </a:prstGeom>
          <a:solidFill>
            <a:srgbClr val="1B1A1A"/>
          </a:solidFill>
          <a:ln/>
        </p:spPr>
        <p:txBody>
          <a:bodyPr/>
          <a:lstStyle/>
          <a:p>
            <a:endParaRPr lang="en-US"/>
          </a:p>
        </p:txBody>
      </p:sp>
      <p:sp>
        <p:nvSpPr>
          <p:cNvPr id="67" name="Text 66"/>
          <p:cNvSpPr txBox="1"/>
          <p:nvPr/>
        </p:nvSpPr>
        <p:spPr>
          <a:xfrm>
            <a:off x="504825" y="4430464"/>
            <a:ext cx="54322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JAN 2026</a:t>
            </a:r>
            <a:endParaRPr lang="en-US" sz="638" dirty="0"/>
          </a:p>
        </p:txBody>
      </p:sp>
      <p:pic>
        <p:nvPicPr>
          <p:cNvPr id="68" name="Icon" descr="/tmp/claude-0/-home-claude-about/4bef2f41-4227-5ff7-ab18-11ac74cd9797/scratchpad/pptx/ex/media/850c46659f16.png"/>
          <p:cNvPicPr>
            <a:picLocks noChangeAspect="1"/>
          </p:cNvPicPr>
          <p:nvPr/>
        </p:nvPicPr>
        <p:blipFill>
          <a:blip r:embed="rId7"/>
          <a:stretch>
            <a:fillRect/>
          </a:stretch>
        </p:blipFill>
        <p:spPr>
          <a:xfrm>
            <a:off x="419100" y="4673352"/>
            <a:ext cx="133350" cy="133350"/>
          </a:xfrm>
          <a:prstGeom prst="rect">
            <a:avLst/>
          </a:prstGeom>
        </p:spPr>
      </p:pic>
      <p:sp>
        <p:nvSpPr>
          <p:cNvPr id="69" name="Text 68"/>
          <p:cNvSpPr txBox="1"/>
          <p:nvPr/>
        </p:nvSpPr>
        <p:spPr>
          <a:xfrm>
            <a:off x="619125" y="4666208"/>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70" name="Shape 69"/>
          <p:cNvSpPr/>
          <p:nvPr/>
        </p:nvSpPr>
        <p:spPr>
          <a:xfrm>
            <a:off x="1543050" y="4342358"/>
            <a:ext cx="1905000" cy="285750"/>
          </a:xfrm>
          <a:prstGeom prst="rect">
            <a:avLst/>
          </a:prstGeom>
          <a:solidFill>
            <a:srgbClr val="FAF7F3"/>
          </a:solidFill>
          <a:ln/>
        </p:spPr>
        <p:txBody>
          <a:bodyPr/>
          <a:lstStyle/>
          <a:p>
            <a:endParaRPr lang="en-US"/>
          </a:p>
        </p:txBody>
      </p:sp>
      <p:sp>
        <p:nvSpPr>
          <p:cNvPr id="71" name="Shape 70"/>
          <p:cNvSpPr/>
          <p:nvPr/>
        </p:nvSpPr>
        <p:spPr>
          <a:xfrm>
            <a:off x="1547813" y="4347121"/>
            <a:ext cx="1895475" cy="276225"/>
          </a:xfrm>
          <a:prstGeom prst="rect">
            <a:avLst/>
          </a:prstGeom>
          <a:ln w="9525">
            <a:solidFill>
              <a:srgbClr val="E3DCD3"/>
            </a:solidFill>
            <a:prstDash val="solid"/>
          </a:ln>
        </p:spPr>
        <p:txBody>
          <a:bodyPr/>
          <a:lstStyle/>
          <a:p>
            <a:endParaRPr lang="en-US"/>
          </a:p>
        </p:txBody>
      </p:sp>
      <p:sp>
        <p:nvSpPr>
          <p:cNvPr id="72" name="Text 71"/>
          <p:cNvSpPr txBox="1"/>
          <p:nvPr/>
        </p:nvSpPr>
        <p:spPr>
          <a:xfrm>
            <a:off x="2032546" y="4423321"/>
            <a:ext cx="925860"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GOJO INDUSTRIES</a:t>
            </a:r>
            <a:endParaRPr lang="en-US" sz="765" dirty="0"/>
          </a:p>
        </p:txBody>
      </p:sp>
      <p:sp>
        <p:nvSpPr>
          <p:cNvPr id="73" name="Text 72"/>
          <p:cNvSpPr txBox="1"/>
          <p:nvPr/>
        </p:nvSpPr>
        <p:spPr>
          <a:xfrm>
            <a:off x="1543050" y="4628108"/>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74" name="Shape 73"/>
          <p:cNvSpPr/>
          <p:nvPr/>
        </p:nvSpPr>
        <p:spPr>
          <a:xfrm>
            <a:off x="1543050" y="4761458"/>
            <a:ext cx="1905000" cy="285750"/>
          </a:xfrm>
          <a:prstGeom prst="rect">
            <a:avLst/>
          </a:prstGeom>
          <a:solidFill>
            <a:srgbClr val="FFFFFF"/>
          </a:solidFill>
          <a:ln/>
        </p:spPr>
        <p:txBody>
          <a:bodyPr/>
          <a:lstStyle/>
          <a:p>
            <a:endParaRPr lang="en-US"/>
          </a:p>
        </p:txBody>
      </p:sp>
      <p:sp>
        <p:nvSpPr>
          <p:cNvPr id="75" name="Shape 74"/>
          <p:cNvSpPr/>
          <p:nvPr/>
        </p:nvSpPr>
        <p:spPr>
          <a:xfrm>
            <a:off x="1547813" y="4766221"/>
            <a:ext cx="1895475" cy="276225"/>
          </a:xfrm>
          <a:prstGeom prst="rect">
            <a:avLst/>
          </a:prstGeom>
          <a:ln w="9525">
            <a:solidFill>
              <a:srgbClr val="C3BDB6"/>
            </a:solidFill>
            <a:prstDash val="solid"/>
          </a:ln>
        </p:spPr>
        <p:txBody>
          <a:bodyPr/>
          <a:lstStyle/>
          <a:p>
            <a:endParaRPr lang="en-US"/>
          </a:p>
        </p:txBody>
      </p:sp>
      <p:sp>
        <p:nvSpPr>
          <p:cNvPr id="76" name="Text 75"/>
          <p:cNvSpPr txBox="1"/>
          <p:nvPr/>
        </p:nvSpPr>
        <p:spPr>
          <a:xfrm>
            <a:off x="2287191" y="4842421"/>
            <a:ext cx="416570"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CLOROX</a:t>
            </a:r>
            <a:endParaRPr lang="en-US" sz="765" dirty="0"/>
          </a:p>
        </p:txBody>
      </p:sp>
      <p:sp>
        <p:nvSpPr>
          <p:cNvPr id="77" name="Text 76"/>
          <p:cNvSpPr txBox="1"/>
          <p:nvPr/>
        </p:nvSpPr>
        <p:spPr>
          <a:xfrm>
            <a:off x="3581400" y="4471928"/>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Clorox bought GOJO Industries, the maker of Purell, which had been family-led in Akron, Ohio, since its founding in 1946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Clorox and GOJO Industries</a:t>
            </a:r>
            <a:r>
              <a:rPr lang="en-US" sz="795" kern="0" spc="15" dirty="0">
                <a:solidFill>
                  <a:srgbClr val="333231"/>
                </a:solidFill>
                <a:latin typeface="Quicksand" pitchFamily="34" charset="0"/>
              </a:rPr>
              <a:t>).</a:t>
            </a:r>
            <a:endParaRPr lang="en-US" sz="795" dirty="0"/>
          </a:p>
        </p:txBody>
      </p:sp>
      <p:sp>
        <p:nvSpPr>
          <p:cNvPr id="78" name="Text 77"/>
          <p:cNvSpPr txBox="1"/>
          <p:nvPr/>
        </p:nvSpPr>
        <p:spPr>
          <a:xfrm>
            <a:off x="6362700" y="4599533"/>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$2.25B</a:t>
            </a:r>
            <a:endParaRPr lang="en-US" sz="1200" dirty="0"/>
          </a:p>
        </p:txBody>
      </p:sp>
      <p:sp>
        <p:nvSpPr>
          <p:cNvPr id="79" name="Text 78"/>
          <p:cNvSpPr txBox="1"/>
          <p:nvPr/>
        </p:nvSpPr>
        <p:spPr>
          <a:xfrm>
            <a:off x="7562850" y="4623346"/>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81" name="Shape 80"/>
          <p:cNvSpPr/>
          <p:nvPr/>
        </p:nvSpPr>
        <p:spPr>
          <a:xfrm>
            <a:off x="419100" y="6030664"/>
            <a:ext cx="9220200" cy="9525"/>
          </a:xfrm>
          <a:prstGeom prst="rect">
            <a:avLst/>
          </a:prstGeom>
          <a:solidFill>
            <a:srgbClr val="E3DCD3"/>
          </a:solidFill>
          <a:ln/>
        </p:spPr>
        <p:txBody>
          <a:bodyPr/>
          <a:lstStyle/>
          <a:p>
            <a:endParaRPr lang="en-US"/>
          </a:p>
        </p:txBody>
      </p:sp>
      <p:sp>
        <p:nvSpPr>
          <p:cNvPr id="82" name="Shape 81"/>
          <p:cNvSpPr/>
          <p:nvPr/>
        </p:nvSpPr>
        <p:spPr>
          <a:xfrm>
            <a:off x="419100" y="5281315"/>
            <a:ext cx="676424" cy="209550"/>
          </a:xfrm>
          <a:prstGeom prst="rect">
            <a:avLst/>
          </a:prstGeom>
          <a:solidFill>
            <a:srgbClr val="1B1A1A"/>
          </a:solidFill>
          <a:ln/>
        </p:spPr>
        <p:txBody>
          <a:bodyPr/>
          <a:lstStyle/>
          <a:p>
            <a:endParaRPr lang="en-US"/>
          </a:p>
        </p:txBody>
      </p:sp>
      <p:sp>
        <p:nvSpPr>
          <p:cNvPr id="83" name="Text 82"/>
          <p:cNvSpPr txBox="1"/>
          <p:nvPr/>
        </p:nvSpPr>
        <p:spPr>
          <a:xfrm>
            <a:off x="504825" y="532417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84" name="Icon" descr="/tmp/claude-0/-home-claude-about/4bef2f41-4227-5ff7-ab18-11ac74cd9797/scratchpad/pptx/ex/media/850c46659f16.png"/>
          <p:cNvPicPr>
            <a:picLocks noChangeAspect="1"/>
          </p:cNvPicPr>
          <p:nvPr/>
        </p:nvPicPr>
        <p:blipFill>
          <a:blip r:embed="rId7"/>
          <a:stretch>
            <a:fillRect/>
          </a:stretch>
        </p:blipFill>
        <p:spPr>
          <a:xfrm>
            <a:off x="419100" y="5567065"/>
            <a:ext cx="133350" cy="133350"/>
          </a:xfrm>
          <a:prstGeom prst="rect">
            <a:avLst/>
          </a:prstGeom>
        </p:spPr>
      </p:pic>
      <p:sp>
        <p:nvSpPr>
          <p:cNvPr id="85" name="Text 84"/>
          <p:cNvSpPr txBox="1"/>
          <p:nvPr/>
        </p:nvSpPr>
        <p:spPr>
          <a:xfrm>
            <a:off x="619125" y="5559921"/>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86" name="Shape 85"/>
          <p:cNvSpPr/>
          <p:nvPr/>
        </p:nvSpPr>
        <p:spPr>
          <a:xfrm>
            <a:off x="1543050" y="5178921"/>
            <a:ext cx="1905000" cy="342900"/>
          </a:xfrm>
          <a:prstGeom prst="rect">
            <a:avLst/>
          </a:prstGeom>
          <a:solidFill>
            <a:srgbClr val="FAF7F3"/>
          </a:solidFill>
          <a:ln/>
        </p:spPr>
        <p:txBody>
          <a:bodyPr/>
          <a:lstStyle/>
          <a:p>
            <a:endParaRPr lang="en-US"/>
          </a:p>
        </p:txBody>
      </p:sp>
      <p:sp>
        <p:nvSpPr>
          <p:cNvPr id="87" name="Shape 86"/>
          <p:cNvSpPr/>
          <p:nvPr/>
        </p:nvSpPr>
        <p:spPr>
          <a:xfrm>
            <a:off x="1547813" y="5183684"/>
            <a:ext cx="1895475" cy="333375"/>
          </a:xfrm>
          <a:prstGeom prst="rect">
            <a:avLst/>
          </a:prstGeom>
          <a:ln w="9525">
            <a:solidFill>
              <a:srgbClr val="E3DCD3"/>
            </a:solidFill>
            <a:prstDash val="solid"/>
          </a:ln>
        </p:spPr>
        <p:txBody>
          <a:bodyPr/>
          <a:lstStyle/>
          <a:p>
            <a:endParaRPr lang="en-US"/>
          </a:p>
        </p:txBody>
      </p:sp>
      <p:sp>
        <p:nvSpPr>
          <p:cNvPr id="88" name="Text 87"/>
          <p:cNvSpPr txBox="1"/>
          <p:nvPr/>
        </p:nvSpPr>
        <p:spPr>
          <a:xfrm>
            <a:off x="1621631" y="5226546"/>
            <a:ext cx="1747838" cy="247650"/>
          </a:xfrm>
          <a:prstGeom prst="rect">
            <a:avLst/>
          </a:prstGeom>
          <a:noFill/>
          <a:ln/>
        </p:spPr>
        <p:txBody>
          <a:bodyPr wrap="square" lIns="0" tIns="0" rIns="0" bIns="0" rtlCol="0" anchor="t"/>
          <a:lstStyle/>
          <a:p>
            <a:pPr marL="0" indent="0" algn="ctr">
              <a:lnSpc>
                <a:spcPts val="975"/>
              </a:lnSpc>
              <a:buNone/>
            </a:pPr>
            <a:r>
              <a:rPr lang="en-US" sz="765" b="1" kern="0" spc="38" dirty="0">
                <a:solidFill>
                  <a:srgbClr val="1B1A1A"/>
                </a:solidFill>
                <a:latin typeface="Quicksand" pitchFamily="34" charset="0"/>
              </a:rPr>
              <a:t>BREATHE RIGHT, DIMETAPP AND ANBESOL</a:t>
            </a:r>
            <a:endParaRPr lang="en-US" sz="765" dirty="0"/>
          </a:p>
        </p:txBody>
      </p:sp>
      <p:sp>
        <p:nvSpPr>
          <p:cNvPr id="89" name="Text 88"/>
          <p:cNvSpPr txBox="1"/>
          <p:nvPr/>
        </p:nvSpPr>
        <p:spPr>
          <a:xfrm>
            <a:off x="1543050" y="552182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90" name="Shape 89"/>
          <p:cNvSpPr/>
          <p:nvPr/>
        </p:nvSpPr>
        <p:spPr>
          <a:xfrm>
            <a:off x="1543050" y="5655171"/>
            <a:ext cx="1905000" cy="342900"/>
          </a:xfrm>
          <a:prstGeom prst="rect">
            <a:avLst/>
          </a:prstGeom>
          <a:solidFill>
            <a:srgbClr val="FFFFFF"/>
          </a:solidFill>
          <a:ln/>
        </p:spPr>
        <p:txBody>
          <a:bodyPr/>
          <a:lstStyle/>
          <a:p>
            <a:endParaRPr lang="en-US"/>
          </a:p>
        </p:txBody>
      </p:sp>
      <p:sp>
        <p:nvSpPr>
          <p:cNvPr id="91" name="Shape 90"/>
          <p:cNvSpPr/>
          <p:nvPr/>
        </p:nvSpPr>
        <p:spPr>
          <a:xfrm>
            <a:off x="1547813" y="5659934"/>
            <a:ext cx="1895475" cy="333375"/>
          </a:xfrm>
          <a:prstGeom prst="rect">
            <a:avLst/>
          </a:prstGeom>
          <a:ln w="9525">
            <a:solidFill>
              <a:srgbClr val="C3BDB6"/>
            </a:solidFill>
            <a:prstDash val="solid"/>
          </a:ln>
        </p:spPr>
        <p:txBody>
          <a:bodyPr/>
          <a:lstStyle/>
          <a:p>
            <a:endParaRPr lang="en-US"/>
          </a:p>
        </p:txBody>
      </p:sp>
      <p:sp>
        <p:nvSpPr>
          <p:cNvPr id="92" name="Text 91"/>
          <p:cNvSpPr txBox="1"/>
          <p:nvPr/>
        </p:nvSpPr>
        <p:spPr>
          <a:xfrm>
            <a:off x="1621631" y="5702796"/>
            <a:ext cx="1747838" cy="247650"/>
          </a:xfrm>
          <a:prstGeom prst="rect">
            <a:avLst/>
          </a:prstGeom>
          <a:noFill/>
          <a:ln/>
        </p:spPr>
        <p:txBody>
          <a:bodyPr wrap="square" lIns="0" tIns="0" rIns="0" bIns="0" rtlCol="0" anchor="t"/>
          <a:lstStyle/>
          <a:p>
            <a:pPr marL="0" indent="0" algn="ctr">
              <a:lnSpc>
                <a:spcPts val="975"/>
              </a:lnSpc>
              <a:buNone/>
            </a:pPr>
            <a:r>
              <a:rPr lang="en-US" sz="765" b="1" kern="0" spc="38" dirty="0">
                <a:solidFill>
                  <a:srgbClr val="1B1A1A"/>
                </a:solidFill>
                <a:latin typeface="Quicksand" pitchFamily="34" charset="0"/>
              </a:rPr>
              <a:t>PRESTIGE CONSUMER HEALTHCARE</a:t>
            </a:r>
            <a:endParaRPr lang="en-US" sz="765" dirty="0"/>
          </a:p>
        </p:txBody>
      </p:sp>
      <p:sp>
        <p:nvSpPr>
          <p:cNvPr id="93" name="Text 92"/>
          <p:cNvSpPr txBox="1"/>
          <p:nvPr/>
        </p:nvSpPr>
        <p:spPr>
          <a:xfrm>
            <a:off x="3581400" y="5293162"/>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Prestige agreed to buy Breathe Right and other over-the-counter health brands, described the model as asset-light and stated the price as a multiple of EBITDA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Prestige Consumer Healthcare</a:t>
            </a:r>
            <a:r>
              <a:rPr lang="en-US" sz="795" kern="0" spc="15" dirty="0">
                <a:solidFill>
                  <a:srgbClr val="333231"/>
                </a:solidFill>
                <a:latin typeface="Quicksand" pitchFamily="34" charset="0"/>
              </a:rPr>
              <a:t>).</a:t>
            </a:r>
            <a:endParaRPr lang="en-US" sz="795" dirty="0"/>
          </a:p>
        </p:txBody>
      </p:sp>
      <p:sp>
        <p:nvSpPr>
          <p:cNvPr id="94" name="Text 93"/>
          <p:cNvSpPr txBox="1"/>
          <p:nvPr/>
        </p:nvSpPr>
        <p:spPr>
          <a:xfrm>
            <a:off x="6362700" y="5493246"/>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$1.045B</a:t>
            </a:r>
            <a:endParaRPr lang="en-US" sz="1200" dirty="0"/>
          </a:p>
        </p:txBody>
      </p:sp>
      <p:sp>
        <p:nvSpPr>
          <p:cNvPr id="95" name="Text 94"/>
          <p:cNvSpPr txBox="1"/>
          <p:nvPr/>
        </p:nvSpPr>
        <p:spPr>
          <a:xfrm>
            <a:off x="7562850" y="5517059"/>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96" name="Text 95"/>
          <p:cNvSpPr txBox="1"/>
          <p:nvPr/>
        </p:nvSpPr>
        <p:spPr>
          <a:xfrm>
            <a:off x="8572500" y="538370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11.0x</a:t>
            </a:r>
            <a:endParaRPr lang="en-US" sz="1200" dirty="0"/>
          </a:p>
        </p:txBody>
      </p:sp>
      <p:sp>
        <p:nvSpPr>
          <p:cNvPr id="97" name="Text 96"/>
          <p:cNvSpPr txBox="1"/>
          <p:nvPr/>
        </p:nvSpPr>
        <p:spPr>
          <a:xfrm>
            <a:off x="8572500" y="5571827"/>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EBITDA, as stated by Prestige</a:t>
            </a:r>
            <a:endParaRPr lang="en-US" sz="645" dirty="0"/>
          </a:p>
        </p:txBody>
      </p:sp>
      <p:sp>
        <p:nvSpPr>
          <p:cNvPr id="98" name="Shape 97"/>
          <p:cNvSpPr/>
          <p:nvPr/>
        </p:nvSpPr>
        <p:spPr>
          <a:xfrm>
            <a:off x="419100" y="6924377"/>
            <a:ext cx="9220200" cy="9525"/>
          </a:xfrm>
          <a:prstGeom prst="rect">
            <a:avLst/>
          </a:prstGeom>
          <a:solidFill>
            <a:srgbClr val="E3DCD3"/>
          </a:solidFill>
          <a:ln/>
        </p:spPr>
        <p:txBody>
          <a:bodyPr/>
          <a:lstStyle/>
          <a:p>
            <a:endParaRPr lang="en-US"/>
          </a:p>
        </p:txBody>
      </p:sp>
      <p:sp>
        <p:nvSpPr>
          <p:cNvPr id="99" name="Shape 98"/>
          <p:cNvSpPr/>
          <p:nvPr/>
        </p:nvSpPr>
        <p:spPr>
          <a:xfrm>
            <a:off x="419100" y="6175028"/>
            <a:ext cx="657523" cy="209550"/>
          </a:xfrm>
          <a:prstGeom prst="rect">
            <a:avLst/>
          </a:prstGeom>
          <a:solidFill>
            <a:srgbClr val="1B1A1A"/>
          </a:solidFill>
          <a:ln/>
        </p:spPr>
        <p:txBody>
          <a:bodyPr/>
          <a:lstStyle/>
          <a:p>
            <a:endParaRPr lang="en-US"/>
          </a:p>
        </p:txBody>
      </p:sp>
      <p:sp>
        <p:nvSpPr>
          <p:cNvPr id="100" name="Text 99"/>
          <p:cNvSpPr txBox="1"/>
          <p:nvPr/>
        </p:nvSpPr>
        <p:spPr>
          <a:xfrm>
            <a:off x="504825" y="6217890"/>
            <a:ext cx="54322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JAN 2026</a:t>
            </a:r>
            <a:endParaRPr lang="en-US" sz="638" dirty="0"/>
          </a:p>
        </p:txBody>
      </p:sp>
      <p:pic>
        <p:nvPicPr>
          <p:cNvPr id="101" name="Icon" descr="/tmp/claude-0/-home-claude-about/4bef2f41-4227-5ff7-ab18-11ac74cd9797/scratchpad/pptx/ex/media/850c46659f16.png"/>
          <p:cNvPicPr>
            <a:picLocks noChangeAspect="1"/>
          </p:cNvPicPr>
          <p:nvPr/>
        </p:nvPicPr>
        <p:blipFill>
          <a:blip r:embed="rId7"/>
          <a:stretch>
            <a:fillRect/>
          </a:stretch>
        </p:blipFill>
        <p:spPr>
          <a:xfrm>
            <a:off x="419100" y="6460778"/>
            <a:ext cx="133350" cy="133350"/>
          </a:xfrm>
          <a:prstGeom prst="rect">
            <a:avLst/>
          </a:prstGeom>
        </p:spPr>
      </p:pic>
      <p:sp>
        <p:nvSpPr>
          <p:cNvPr id="102" name="Text 101"/>
          <p:cNvSpPr txBox="1"/>
          <p:nvPr/>
        </p:nvSpPr>
        <p:spPr>
          <a:xfrm>
            <a:off x="619125" y="6453634"/>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103" name="Shape 102"/>
          <p:cNvSpPr/>
          <p:nvPr/>
        </p:nvSpPr>
        <p:spPr>
          <a:xfrm>
            <a:off x="1543050" y="6129784"/>
            <a:ext cx="1905000" cy="285750"/>
          </a:xfrm>
          <a:prstGeom prst="rect">
            <a:avLst/>
          </a:prstGeom>
          <a:solidFill>
            <a:srgbClr val="FAF7F3"/>
          </a:solidFill>
          <a:ln/>
        </p:spPr>
        <p:txBody>
          <a:bodyPr/>
          <a:lstStyle/>
          <a:p>
            <a:endParaRPr lang="en-US"/>
          </a:p>
        </p:txBody>
      </p:sp>
      <p:sp>
        <p:nvSpPr>
          <p:cNvPr id="104" name="Shape 103"/>
          <p:cNvSpPr/>
          <p:nvPr/>
        </p:nvSpPr>
        <p:spPr>
          <a:xfrm>
            <a:off x="1547813" y="6134546"/>
            <a:ext cx="1895475" cy="276225"/>
          </a:xfrm>
          <a:prstGeom prst="rect">
            <a:avLst/>
          </a:prstGeom>
          <a:ln w="9525">
            <a:solidFill>
              <a:srgbClr val="E3DCD3"/>
            </a:solidFill>
            <a:prstDash val="solid"/>
          </a:ln>
        </p:spPr>
        <p:txBody>
          <a:bodyPr/>
          <a:lstStyle/>
          <a:p>
            <a:endParaRPr lang="en-US"/>
          </a:p>
        </p:txBody>
      </p:sp>
      <p:sp>
        <p:nvSpPr>
          <p:cNvPr id="105" name="Text 104"/>
          <p:cNvSpPr txBox="1"/>
          <p:nvPr/>
        </p:nvSpPr>
        <p:spPr>
          <a:xfrm>
            <a:off x="2248198" y="6210746"/>
            <a:ext cx="49455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MY MEDIC</a:t>
            </a:r>
            <a:endParaRPr lang="en-US" sz="765" dirty="0"/>
          </a:p>
        </p:txBody>
      </p:sp>
      <p:sp>
        <p:nvSpPr>
          <p:cNvPr id="106" name="Text 105"/>
          <p:cNvSpPr txBox="1"/>
          <p:nvPr/>
        </p:nvSpPr>
        <p:spPr>
          <a:xfrm>
            <a:off x="1543050" y="6415534"/>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107" name="Shape 106"/>
          <p:cNvSpPr/>
          <p:nvPr/>
        </p:nvSpPr>
        <p:spPr>
          <a:xfrm>
            <a:off x="1543050" y="6548884"/>
            <a:ext cx="1905000" cy="285750"/>
          </a:xfrm>
          <a:prstGeom prst="rect">
            <a:avLst/>
          </a:prstGeom>
          <a:solidFill>
            <a:srgbClr val="FFFFFF"/>
          </a:solidFill>
          <a:ln/>
        </p:spPr>
        <p:txBody>
          <a:bodyPr/>
          <a:lstStyle/>
          <a:p>
            <a:endParaRPr lang="en-US"/>
          </a:p>
        </p:txBody>
      </p:sp>
      <p:sp>
        <p:nvSpPr>
          <p:cNvPr id="108" name="Shape 107"/>
          <p:cNvSpPr/>
          <p:nvPr/>
        </p:nvSpPr>
        <p:spPr>
          <a:xfrm>
            <a:off x="1547813" y="6553646"/>
            <a:ext cx="1895475" cy="276225"/>
          </a:xfrm>
          <a:prstGeom prst="rect">
            <a:avLst/>
          </a:prstGeom>
          <a:ln w="9525">
            <a:solidFill>
              <a:srgbClr val="C3BDB6"/>
            </a:solidFill>
            <a:prstDash val="solid"/>
          </a:ln>
        </p:spPr>
        <p:txBody>
          <a:bodyPr/>
          <a:lstStyle/>
          <a:p>
            <a:endParaRPr lang="en-US"/>
          </a:p>
        </p:txBody>
      </p:sp>
      <p:sp>
        <p:nvSpPr>
          <p:cNvPr id="109" name="Text 108"/>
          <p:cNvSpPr txBox="1"/>
          <p:nvPr/>
        </p:nvSpPr>
        <p:spPr>
          <a:xfrm>
            <a:off x="2151013" y="6629846"/>
            <a:ext cx="68907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ACME UNITED</a:t>
            </a:r>
            <a:endParaRPr lang="en-US" sz="765" dirty="0"/>
          </a:p>
        </p:txBody>
      </p:sp>
      <p:sp>
        <p:nvSpPr>
          <p:cNvPr id="110" name="Text 109"/>
          <p:cNvSpPr txBox="1"/>
          <p:nvPr/>
        </p:nvSpPr>
        <p:spPr>
          <a:xfrm>
            <a:off x="3581400" y="6186874"/>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Acme United bought My Medic, a maker of first-aid kits sold almost entirely direct to consumers, with about $19 million of revenue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Acme United and My Medic</a:t>
            </a:r>
            <a:r>
              <a:rPr lang="en-US" sz="795" kern="0" spc="15" dirty="0">
                <a:solidFill>
                  <a:srgbClr val="333231"/>
                </a:solidFill>
                <a:latin typeface="Quicksand" pitchFamily="34" charset="0"/>
              </a:rPr>
              <a:t>).</a:t>
            </a:r>
            <a:endParaRPr lang="en-US" sz="795" dirty="0"/>
          </a:p>
        </p:txBody>
      </p:sp>
      <p:sp>
        <p:nvSpPr>
          <p:cNvPr id="111" name="Text 110"/>
          <p:cNvSpPr txBox="1"/>
          <p:nvPr/>
        </p:nvSpPr>
        <p:spPr>
          <a:xfrm>
            <a:off x="6362700" y="638695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$18.7M</a:t>
            </a:r>
            <a:endParaRPr lang="en-US" sz="1200" dirty="0"/>
          </a:p>
        </p:txBody>
      </p:sp>
      <p:sp>
        <p:nvSpPr>
          <p:cNvPr id="112" name="Text 111"/>
          <p:cNvSpPr txBox="1"/>
          <p:nvPr/>
        </p:nvSpPr>
        <p:spPr>
          <a:xfrm>
            <a:off x="7562850" y="6277421"/>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1.0x</a:t>
            </a:r>
            <a:endParaRPr lang="en-US" sz="1200" dirty="0"/>
          </a:p>
        </p:txBody>
      </p:sp>
      <p:sp>
        <p:nvSpPr>
          <p:cNvPr id="113" name="Text 112"/>
          <p:cNvSpPr txBox="1"/>
          <p:nvPr/>
        </p:nvSpPr>
        <p:spPr>
          <a:xfrm>
            <a:off x="7562850" y="6465540"/>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114" name="Text 113"/>
          <p:cNvSpPr txBox="1"/>
          <p:nvPr/>
        </p:nvSpPr>
        <p:spPr>
          <a:xfrm>
            <a:off x="8572500" y="6410771"/>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15" name="Shape 114"/>
          <p:cNvSpPr/>
          <p:nvPr/>
        </p:nvSpPr>
        <p:spPr>
          <a:xfrm>
            <a:off x="419100" y="7029450"/>
            <a:ext cx="9220200" cy="9525"/>
          </a:xfrm>
          <a:prstGeom prst="rect">
            <a:avLst/>
          </a:prstGeom>
          <a:solidFill>
            <a:srgbClr val="E3DCD3"/>
          </a:solidFill>
          <a:ln/>
        </p:spPr>
        <p:txBody>
          <a:bodyPr/>
          <a:lstStyle/>
          <a:p>
            <a:endParaRPr lang="en-US"/>
          </a:p>
        </p:txBody>
      </p:sp>
      <p:pic>
        <p:nvPicPr>
          <p:cNvPr id="116" name="Benchmark International" descr="Benchmark International"/>
          <p:cNvPicPr>
            <a:picLocks noChangeAspect="1"/>
          </p:cNvPicPr>
          <p:nvPr/>
        </p:nvPicPr>
        <p:blipFill>
          <a:blip r:embed="rId11"/>
          <a:stretch>
            <a:fillRect/>
          </a:stretch>
        </p:blipFill>
        <p:spPr>
          <a:xfrm>
            <a:off x="419100" y="7143750"/>
            <a:ext cx="914400" cy="171450"/>
          </a:xfrm>
          <a:prstGeom prst="rect">
            <a:avLst/>
          </a:prstGeom>
        </p:spPr>
      </p:pic>
      <p:sp>
        <p:nvSpPr>
          <p:cNvPr id="117" name="Text 116"/>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Values and multiples are as stated by the acquirer or reported in the linked source. Value to revenue is our calculation where marked. Company names are the property of their owners and are used for identification. Transactions advised by Benchmark International appear on page 10.</a:t>
            </a:r>
            <a:endParaRPr lang="en-US" sz="675" dirty="0"/>
          </a:p>
        </p:txBody>
      </p:sp>
      <p:sp>
        <p:nvSpPr>
          <p:cNvPr id="118" name="Text 117"/>
          <p:cNvSpPr txBox="1"/>
          <p:nvPr/>
        </p:nvSpPr>
        <p:spPr>
          <a:xfrm>
            <a:off x="9495979" y="7162800"/>
            <a:ext cx="200471"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08</a:t>
            </a:r>
            <a:endParaRPr lang="en-US" sz="713" dirty="0"/>
          </a:p>
        </p:txBody>
      </p:sp>
      <p:sp>
        <p:nvSpPr>
          <p:cNvPr id="120" name="Text 111">
            <a:extLst>
              <a:ext uri="{FF2B5EF4-FFF2-40B4-BE49-F238E27FC236}">
                <a16:creationId xmlns:a16="http://schemas.microsoft.com/office/drawing/2014/main" id="{EB2A2808-3D67-ACD5-1803-8F95F69AF12C}"/>
              </a:ext>
            </a:extLst>
          </p:cNvPr>
          <p:cNvSpPr txBox="1"/>
          <p:nvPr/>
        </p:nvSpPr>
        <p:spPr>
          <a:xfrm>
            <a:off x="7548562" y="1920925"/>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0.9x</a:t>
            </a:r>
            <a:endParaRPr lang="en-US" sz="1200" dirty="0"/>
          </a:p>
        </p:txBody>
      </p:sp>
      <p:sp>
        <p:nvSpPr>
          <p:cNvPr id="122" name="Text 112">
            <a:extLst>
              <a:ext uri="{FF2B5EF4-FFF2-40B4-BE49-F238E27FC236}">
                <a16:creationId xmlns:a16="http://schemas.microsoft.com/office/drawing/2014/main" id="{B38E39E5-1561-B5B8-CF11-7923C19355F7}"/>
              </a:ext>
            </a:extLst>
          </p:cNvPr>
          <p:cNvSpPr txBox="1"/>
          <p:nvPr/>
        </p:nvSpPr>
        <p:spPr>
          <a:xfrm>
            <a:off x="7548562" y="2136874"/>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126" name="Text 95">
            <a:extLst>
              <a:ext uri="{FF2B5EF4-FFF2-40B4-BE49-F238E27FC236}">
                <a16:creationId xmlns:a16="http://schemas.microsoft.com/office/drawing/2014/main" id="{38C6BD14-A45C-7D35-3956-2C71542E2A3B}"/>
              </a:ext>
            </a:extLst>
          </p:cNvPr>
          <p:cNvSpPr txBox="1"/>
          <p:nvPr/>
        </p:nvSpPr>
        <p:spPr>
          <a:xfrm>
            <a:off x="8586788" y="1868133"/>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10.7x</a:t>
            </a:r>
            <a:endParaRPr lang="en-US" sz="1200" dirty="0"/>
          </a:p>
        </p:txBody>
      </p:sp>
      <p:sp>
        <p:nvSpPr>
          <p:cNvPr id="130" name="Text 47">
            <a:extLst>
              <a:ext uri="{FF2B5EF4-FFF2-40B4-BE49-F238E27FC236}">
                <a16:creationId xmlns:a16="http://schemas.microsoft.com/office/drawing/2014/main" id="{F5F49B92-BC53-FA58-7F1E-8A5156809B71}"/>
              </a:ext>
            </a:extLst>
          </p:cNvPr>
          <p:cNvSpPr txBox="1"/>
          <p:nvPr/>
        </p:nvSpPr>
        <p:spPr>
          <a:xfrm>
            <a:off x="8586788" y="2055370"/>
            <a:ext cx="1081088" cy="328613"/>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projected CY2026 adjusted EBITDA, as stated by Hormel</a:t>
            </a:r>
            <a:endParaRPr lang="en-US" sz="645" dirty="0"/>
          </a:p>
        </p:txBody>
      </p:sp>
      <p:sp>
        <p:nvSpPr>
          <p:cNvPr id="132" name="Text 46">
            <a:extLst>
              <a:ext uri="{FF2B5EF4-FFF2-40B4-BE49-F238E27FC236}">
                <a16:creationId xmlns:a16="http://schemas.microsoft.com/office/drawing/2014/main" id="{02AAF960-55E7-8AA9-F823-101E9BB4AF0D}"/>
              </a:ext>
            </a:extLst>
          </p:cNvPr>
          <p:cNvSpPr txBox="1"/>
          <p:nvPr/>
        </p:nvSpPr>
        <p:spPr>
          <a:xfrm>
            <a:off x="8601076" y="4509418"/>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11.9x</a:t>
            </a:r>
            <a:endParaRPr lang="en-US" sz="1200" dirty="0"/>
          </a:p>
        </p:txBody>
      </p:sp>
      <p:sp>
        <p:nvSpPr>
          <p:cNvPr id="134" name="Text 96">
            <a:extLst>
              <a:ext uri="{FF2B5EF4-FFF2-40B4-BE49-F238E27FC236}">
                <a16:creationId xmlns:a16="http://schemas.microsoft.com/office/drawing/2014/main" id="{F3B08B04-CF25-C1EE-E9E8-1EE9B37184DE}"/>
              </a:ext>
            </a:extLst>
          </p:cNvPr>
          <p:cNvSpPr txBox="1"/>
          <p:nvPr/>
        </p:nvSpPr>
        <p:spPr>
          <a:xfrm>
            <a:off x="8601076" y="4744417"/>
            <a:ext cx="1081088" cy="383009"/>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adjusted EBITDA net of anticipated tax benefits, as stated by Clorox</a:t>
            </a:r>
            <a:endParaRPr lang="en-US" sz="64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Select Recent Consumer Transactions (Continued)</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Buyers in foodservice and consumer services paid for store networks, subscription members and recurring customer contracts.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552575"/>
            <a:ext cx="9220200" cy="19050"/>
          </a:xfrm>
          <a:prstGeom prst="rect">
            <a:avLst/>
          </a:prstGeom>
          <a:solidFill>
            <a:srgbClr val="B68757"/>
          </a:solidFill>
          <a:ln/>
        </p:spPr>
        <p:txBody>
          <a:bodyPr/>
          <a:lstStyle/>
          <a:p>
            <a:endParaRPr lang="en-US"/>
          </a:p>
        </p:txBody>
      </p:sp>
      <p:sp>
        <p:nvSpPr>
          <p:cNvPr id="10" name="Text 9"/>
          <p:cNvSpPr txBox="1"/>
          <p:nvPr/>
        </p:nvSpPr>
        <p:spPr>
          <a:xfrm>
            <a:off x="419100" y="1238250"/>
            <a:ext cx="9906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ANNOUNCED</a:t>
            </a:r>
            <a:endParaRPr lang="en-US" sz="638" dirty="0"/>
          </a:p>
        </p:txBody>
      </p:sp>
      <p:sp>
        <p:nvSpPr>
          <p:cNvPr id="11" name="Text 10"/>
          <p:cNvSpPr txBox="1"/>
          <p:nvPr/>
        </p:nvSpPr>
        <p:spPr>
          <a:xfrm>
            <a:off x="1543050" y="1238250"/>
            <a:ext cx="19050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TARGET AND ACQUIRER</a:t>
            </a:r>
            <a:endParaRPr lang="en-US" sz="638" dirty="0"/>
          </a:p>
        </p:txBody>
      </p:sp>
      <p:sp>
        <p:nvSpPr>
          <p:cNvPr id="12" name="Text 11"/>
          <p:cNvSpPr txBox="1"/>
          <p:nvPr/>
        </p:nvSpPr>
        <p:spPr>
          <a:xfrm>
            <a:off x="3581400" y="1238250"/>
            <a:ext cx="264795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BUSINESS AND TERMS</a:t>
            </a:r>
            <a:endParaRPr lang="en-US" sz="638" dirty="0"/>
          </a:p>
        </p:txBody>
      </p:sp>
      <p:sp>
        <p:nvSpPr>
          <p:cNvPr id="13" name="Text 12"/>
          <p:cNvSpPr txBox="1"/>
          <p:nvPr/>
        </p:nvSpPr>
        <p:spPr>
          <a:xfrm>
            <a:off x="6362700" y="1238250"/>
            <a:ext cx="10668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STATED VALUE</a:t>
            </a:r>
            <a:endParaRPr lang="en-US" sz="638" dirty="0"/>
          </a:p>
        </p:txBody>
      </p:sp>
      <p:sp>
        <p:nvSpPr>
          <p:cNvPr id="14" name="Text 13"/>
          <p:cNvSpPr txBox="1"/>
          <p:nvPr/>
        </p:nvSpPr>
        <p:spPr>
          <a:xfrm>
            <a:off x="7562850" y="1238250"/>
            <a:ext cx="8905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REVENUE</a:t>
            </a:r>
            <a:endParaRPr lang="en-US" sz="638" dirty="0"/>
          </a:p>
        </p:txBody>
      </p:sp>
      <p:sp>
        <p:nvSpPr>
          <p:cNvPr id="15" name="Text 14"/>
          <p:cNvSpPr txBox="1"/>
          <p:nvPr/>
        </p:nvSpPr>
        <p:spPr>
          <a:xfrm>
            <a:off x="8572500" y="1238250"/>
            <a:ext cx="10810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EARNINGS</a:t>
            </a:r>
            <a:endParaRPr lang="en-US" sz="638" dirty="0"/>
          </a:p>
        </p:txBody>
      </p:sp>
      <p:sp>
        <p:nvSpPr>
          <p:cNvPr id="16" name="Shape 15"/>
          <p:cNvSpPr/>
          <p:nvPr/>
        </p:nvSpPr>
        <p:spPr>
          <a:xfrm>
            <a:off x="419100" y="2455813"/>
            <a:ext cx="9220200" cy="9525"/>
          </a:xfrm>
          <a:prstGeom prst="rect">
            <a:avLst/>
          </a:prstGeom>
          <a:solidFill>
            <a:srgbClr val="E3DCD3"/>
          </a:solidFill>
          <a:ln/>
        </p:spPr>
        <p:txBody>
          <a:bodyPr/>
          <a:lstStyle/>
          <a:p>
            <a:endParaRPr lang="en-US"/>
          </a:p>
        </p:txBody>
      </p:sp>
      <p:sp>
        <p:nvSpPr>
          <p:cNvPr id="17" name="Shape 16"/>
          <p:cNvSpPr/>
          <p:nvPr/>
        </p:nvSpPr>
        <p:spPr>
          <a:xfrm>
            <a:off x="419100" y="1761232"/>
            <a:ext cx="676424" cy="209550"/>
          </a:xfrm>
          <a:prstGeom prst="rect">
            <a:avLst/>
          </a:prstGeom>
          <a:solidFill>
            <a:srgbClr val="1B1A1A"/>
          </a:solidFill>
          <a:ln/>
        </p:spPr>
        <p:txBody>
          <a:bodyPr/>
          <a:lstStyle/>
          <a:p>
            <a:endParaRPr lang="en-US"/>
          </a:p>
        </p:txBody>
      </p:sp>
      <p:sp>
        <p:nvSpPr>
          <p:cNvPr id="18" name="Text 17"/>
          <p:cNvSpPr txBox="1"/>
          <p:nvPr/>
        </p:nvSpPr>
        <p:spPr>
          <a:xfrm>
            <a:off x="504825" y="1804095"/>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19" name="Icon" descr="/tmp/claude-0/-home-claude-about/4bef2f41-4227-5ff7-ab18-11ac74cd9797/scratchpad/pptx/ex/media/2fc6f7a740ba.png"/>
          <p:cNvPicPr>
            <a:picLocks noChangeAspect="1"/>
          </p:cNvPicPr>
          <p:nvPr/>
        </p:nvPicPr>
        <p:blipFill>
          <a:blip r:embed="rId3"/>
          <a:stretch>
            <a:fillRect/>
          </a:stretch>
        </p:blipFill>
        <p:spPr>
          <a:xfrm>
            <a:off x="419100" y="2046982"/>
            <a:ext cx="133350" cy="133350"/>
          </a:xfrm>
          <a:prstGeom prst="rect">
            <a:avLst/>
          </a:prstGeom>
        </p:spPr>
      </p:pic>
      <p:sp>
        <p:nvSpPr>
          <p:cNvPr id="20" name="Text 19"/>
          <p:cNvSpPr txBox="1"/>
          <p:nvPr/>
        </p:nvSpPr>
        <p:spPr>
          <a:xfrm>
            <a:off x="619125" y="2039838"/>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21" name="Shape 20"/>
          <p:cNvSpPr/>
          <p:nvPr/>
        </p:nvSpPr>
        <p:spPr>
          <a:xfrm>
            <a:off x="1543050" y="1661220"/>
            <a:ext cx="1905000" cy="285750"/>
          </a:xfrm>
          <a:prstGeom prst="rect">
            <a:avLst/>
          </a:prstGeom>
          <a:solidFill>
            <a:srgbClr val="FAF7F3"/>
          </a:solidFill>
          <a:ln/>
        </p:spPr>
        <p:txBody>
          <a:bodyPr/>
          <a:lstStyle/>
          <a:p>
            <a:endParaRPr lang="en-US"/>
          </a:p>
        </p:txBody>
      </p:sp>
      <p:sp>
        <p:nvSpPr>
          <p:cNvPr id="22" name="Shape 21"/>
          <p:cNvSpPr/>
          <p:nvPr/>
        </p:nvSpPr>
        <p:spPr>
          <a:xfrm>
            <a:off x="1547813" y="1665982"/>
            <a:ext cx="1895475" cy="276225"/>
          </a:xfrm>
          <a:prstGeom prst="rect">
            <a:avLst/>
          </a:prstGeom>
          <a:ln w="9525">
            <a:solidFill>
              <a:srgbClr val="E3DCD3"/>
            </a:solidFill>
            <a:prstDash val="solid"/>
          </a:ln>
        </p:spPr>
        <p:txBody>
          <a:bodyPr/>
          <a:lstStyle/>
          <a:p>
            <a:endParaRPr lang="en-US"/>
          </a:p>
        </p:txBody>
      </p:sp>
      <p:sp>
        <p:nvSpPr>
          <p:cNvPr id="23" name="Text 22"/>
          <p:cNvSpPr txBox="1"/>
          <p:nvPr/>
        </p:nvSpPr>
        <p:spPr>
          <a:xfrm>
            <a:off x="1790402" y="1742182"/>
            <a:ext cx="1410295"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JETRO RESTAURANT DEPOT</a:t>
            </a:r>
            <a:endParaRPr lang="en-US" sz="765" dirty="0"/>
          </a:p>
        </p:txBody>
      </p:sp>
      <p:sp>
        <p:nvSpPr>
          <p:cNvPr id="24" name="Text 23"/>
          <p:cNvSpPr txBox="1"/>
          <p:nvPr/>
        </p:nvSpPr>
        <p:spPr>
          <a:xfrm>
            <a:off x="1543050" y="1946970"/>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25" name="Shape 24"/>
          <p:cNvSpPr/>
          <p:nvPr/>
        </p:nvSpPr>
        <p:spPr>
          <a:xfrm>
            <a:off x="1543050" y="2080320"/>
            <a:ext cx="1905000" cy="285750"/>
          </a:xfrm>
          <a:prstGeom prst="rect">
            <a:avLst/>
          </a:prstGeom>
          <a:solidFill>
            <a:srgbClr val="FFFFFF"/>
          </a:solidFill>
          <a:ln/>
        </p:spPr>
        <p:txBody>
          <a:bodyPr/>
          <a:lstStyle/>
          <a:p>
            <a:endParaRPr lang="en-US"/>
          </a:p>
        </p:txBody>
      </p:sp>
      <p:sp>
        <p:nvSpPr>
          <p:cNvPr id="26" name="Shape 25"/>
          <p:cNvSpPr/>
          <p:nvPr/>
        </p:nvSpPr>
        <p:spPr>
          <a:xfrm>
            <a:off x="1547813" y="2085082"/>
            <a:ext cx="1895475" cy="276225"/>
          </a:xfrm>
          <a:prstGeom prst="rect">
            <a:avLst/>
          </a:prstGeom>
          <a:ln w="9525">
            <a:solidFill>
              <a:srgbClr val="C3BDB6"/>
            </a:solidFill>
            <a:prstDash val="solid"/>
          </a:ln>
        </p:spPr>
        <p:txBody>
          <a:bodyPr/>
          <a:lstStyle/>
          <a:p>
            <a:endParaRPr lang="en-US"/>
          </a:p>
        </p:txBody>
      </p:sp>
      <p:sp>
        <p:nvSpPr>
          <p:cNvPr id="27" name="Text 26"/>
          <p:cNvSpPr txBox="1"/>
          <p:nvPr/>
        </p:nvSpPr>
        <p:spPr>
          <a:xfrm>
            <a:off x="2331393" y="2161282"/>
            <a:ext cx="32816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SYSCO</a:t>
            </a:r>
            <a:endParaRPr lang="en-US" sz="765" dirty="0"/>
          </a:p>
        </p:txBody>
      </p:sp>
      <p:sp>
        <p:nvSpPr>
          <p:cNvPr id="28" name="Text 27"/>
          <p:cNvSpPr txBox="1"/>
          <p:nvPr/>
        </p:nvSpPr>
        <p:spPr>
          <a:xfrm>
            <a:off x="3581400" y="1645980"/>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Sysco agreed to acquire Jetro Restaurant Depot and its 166 cash-and-carry warehouse stores, and it expects to close by the first calendar quarter of 2027, though members of Congress have </a:t>
            </a:r>
            <a:r>
              <a:rPr lang="en-US" sz="79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asked the FTC to investigate</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Sysco and Jetro Restaurant Depot</a:t>
            </a:r>
            <a:r>
              <a:rPr lang="en-US" sz="795" kern="0" spc="15" dirty="0">
                <a:solidFill>
                  <a:srgbClr val="333231"/>
                </a:solidFill>
                <a:latin typeface="Quicksand" pitchFamily="34" charset="0"/>
              </a:rPr>
              <a:t>).</a:t>
            </a:r>
            <a:endParaRPr lang="en-US" sz="795" dirty="0"/>
          </a:p>
        </p:txBody>
      </p:sp>
      <p:sp>
        <p:nvSpPr>
          <p:cNvPr id="29" name="Text 28"/>
          <p:cNvSpPr txBox="1"/>
          <p:nvPr/>
        </p:nvSpPr>
        <p:spPr>
          <a:xfrm>
            <a:off x="6362700" y="1863626"/>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$29.1B</a:t>
            </a:r>
            <a:endParaRPr lang="en-US" sz="1200" dirty="0"/>
          </a:p>
        </p:txBody>
      </p:sp>
      <p:sp>
        <p:nvSpPr>
          <p:cNvPr id="30" name="Text 29"/>
          <p:cNvSpPr txBox="1"/>
          <p:nvPr/>
        </p:nvSpPr>
        <p:spPr>
          <a:xfrm>
            <a:off x="6362700" y="2051745"/>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31" name="Text 30"/>
          <p:cNvSpPr txBox="1"/>
          <p:nvPr/>
        </p:nvSpPr>
        <p:spPr>
          <a:xfrm>
            <a:off x="7562850" y="1942207"/>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32" name="Text 31"/>
          <p:cNvSpPr txBox="1"/>
          <p:nvPr/>
        </p:nvSpPr>
        <p:spPr>
          <a:xfrm>
            <a:off x="8572500" y="180885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14.6x</a:t>
            </a:r>
            <a:endParaRPr lang="en-US" sz="1200" dirty="0"/>
          </a:p>
        </p:txBody>
      </p:sp>
      <p:sp>
        <p:nvSpPr>
          <p:cNvPr id="33" name="Text 32"/>
          <p:cNvSpPr txBox="1"/>
          <p:nvPr/>
        </p:nvSpPr>
        <p:spPr>
          <a:xfrm>
            <a:off x="8572500" y="1996976"/>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2025 operating income, as stated by Sysco</a:t>
            </a:r>
            <a:endParaRPr lang="en-US" sz="645" dirty="0"/>
          </a:p>
        </p:txBody>
      </p:sp>
      <p:sp>
        <p:nvSpPr>
          <p:cNvPr id="34" name="Shape 33"/>
          <p:cNvSpPr/>
          <p:nvPr/>
        </p:nvSpPr>
        <p:spPr>
          <a:xfrm>
            <a:off x="419100" y="3349526"/>
            <a:ext cx="9220200" cy="9525"/>
          </a:xfrm>
          <a:prstGeom prst="rect">
            <a:avLst/>
          </a:prstGeom>
          <a:solidFill>
            <a:srgbClr val="E3DCD3"/>
          </a:solidFill>
          <a:ln/>
        </p:spPr>
        <p:txBody>
          <a:bodyPr/>
          <a:lstStyle/>
          <a:p>
            <a:endParaRPr lang="en-US"/>
          </a:p>
        </p:txBody>
      </p:sp>
      <p:sp>
        <p:nvSpPr>
          <p:cNvPr id="35" name="Shape 34"/>
          <p:cNvSpPr/>
          <p:nvPr/>
        </p:nvSpPr>
        <p:spPr>
          <a:xfrm>
            <a:off x="419100" y="2654945"/>
            <a:ext cx="676424" cy="209550"/>
          </a:xfrm>
          <a:prstGeom prst="rect">
            <a:avLst/>
          </a:prstGeom>
          <a:solidFill>
            <a:srgbClr val="1B1A1A"/>
          </a:solidFill>
          <a:ln/>
        </p:spPr>
        <p:txBody>
          <a:bodyPr/>
          <a:lstStyle/>
          <a:p>
            <a:endParaRPr lang="en-US"/>
          </a:p>
        </p:txBody>
      </p:sp>
      <p:sp>
        <p:nvSpPr>
          <p:cNvPr id="36" name="Text 35"/>
          <p:cNvSpPr txBox="1"/>
          <p:nvPr/>
        </p:nvSpPr>
        <p:spPr>
          <a:xfrm>
            <a:off x="504825" y="269780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37" name="Icon" descr="/tmp/claude-0/-home-claude-about/4bef2f41-4227-5ff7-ab18-11ac74cd9797/scratchpad/pptx/ex/media/2fc6f7a740ba.png"/>
          <p:cNvPicPr>
            <a:picLocks noChangeAspect="1"/>
          </p:cNvPicPr>
          <p:nvPr/>
        </p:nvPicPr>
        <p:blipFill>
          <a:blip r:embed="rId3"/>
          <a:stretch>
            <a:fillRect/>
          </a:stretch>
        </p:blipFill>
        <p:spPr>
          <a:xfrm>
            <a:off x="419100" y="2940695"/>
            <a:ext cx="133350" cy="133350"/>
          </a:xfrm>
          <a:prstGeom prst="rect">
            <a:avLst/>
          </a:prstGeom>
        </p:spPr>
      </p:pic>
      <p:sp>
        <p:nvSpPr>
          <p:cNvPr id="38" name="Text 37"/>
          <p:cNvSpPr txBox="1"/>
          <p:nvPr/>
        </p:nvSpPr>
        <p:spPr>
          <a:xfrm>
            <a:off x="619125" y="2933551"/>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39" name="Shape 38"/>
          <p:cNvSpPr/>
          <p:nvPr/>
        </p:nvSpPr>
        <p:spPr>
          <a:xfrm>
            <a:off x="1543050" y="2533501"/>
            <a:ext cx="1905000" cy="285750"/>
          </a:xfrm>
          <a:prstGeom prst="rect">
            <a:avLst/>
          </a:prstGeom>
          <a:solidFill>
            <a:srgbClr val="FAF7F3"/>
          </a:solidFill>
          <a:ln/>
        </p:spPr>
        <p:txBody>
          <a:bodyPr/>
          <a:lstStyle/>
          <a:p>
            <a:endParaRPr lang="en-US"/>
          </a:p>
        </p:txBody>
      </p:sp>
      <p:sp>
        <p:nvSpPr>
          <p:cNvPr id="40" name="Shape 39"/>
          <p:cNvSpPr/>
          <p:nvPr/>
        </p:nvSpPr>
        <p:spPr>
          <a:xfrm>
            <a:off x="1547813" y="2538264"/>
            <a:ext cx="1895475" cy="276225"/>
          </a:xfrm>
          <a:prstGeom prst="rect">
            <a:avLst/>
          </a:prstGeom>
          <a:ln w="9525">
            <a:solidFill>
              <a:srgbClr val="E3DCD3"/>
            </a:solidFill>
            <a:prstDash val="solid"/>
          </a:ln>
        </p:spPr>
        <p:txBody>
          <a:bodyPr/>
          <a:lstStyle/>
          <a:p>
            <a:endParaRPr lang="en-US"/>
          </a:p>
        </p:txBody>
      </p:sp>
      <p:sp>
        <p:nvSpPr>
          <p:cNvPr id="41" name="Text 40"/>
          <p:cNvSpPr txBox="1"/>
          <p:nvPr/>
        </p:nvSpPr>
        <p:spPr>
          <a:xfrm>
            <a:off x="1949797" y="2614464"/>
            <a:ext cx="109135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FEDERAL INDUSTRIES</a:t>
            </a:r>
            <a:endParaRPr lang="en-US" sz="765" dirty="0"/>
          </a:p>
        </p:txBody>
      </p:sp>
      <p:sp>
        <p:nvSpPr>
          <p:cNvPr id="42" name="Text 41"/>
          <p:cNvSpPr txBox="1"/>
          <p:nvPr/>
        </p:nvSpPr>
        <p:spPr>
          <a:xfrm>
            <a:off x="1543050" y="281925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43" name="Shape 42"/>
          <p:cNvSpPr/>
          <p:nvPr/>
        </p:nvSpPr>
        <p:spPr>
          <a:xfrm>
            <a:off x="1543050" y="2952601"/>
            <a:ext cx="1905000" cy="328613"/>
          </a:xfrm>
          <a:prstGeom prst="rect">
            <a:avLst/>
          </a:prstGeom>
          <a:solidFill>
            <a:srgbClr val="FFFFFF"/>
          </a:solidFill>
          <a:ln/>
        </p:spPr>
        <p:txBody>
          <a:bodyPr/>
          <a:lstStyle/>
          <a:p>
            <a:endParaRPr lang="en-US"/>
          </a:p>
        </p:txBody>
      </p:sp>
      <p:sp>
        <p:nvSpPr>
          <p:cNvPr id="44" name="Shape 43"/>
          <p:cNvSpPr/>
          <p:nvPr/>
        </p:nvSpPr>
        <p:spPr>
          <a:xfrm>
            <a:off x="1547813" y="2957364"/>
            <a:ext cx="1895475" cy="319088"/>
          </a:xfrm>
          <a:prstGeom prst="rect">
            <a:avLst/>
          </a:prstGeom>
          <a:ln w="9525">
            <a:solidFill>
              <a:srgbClr val="C3BDB6"/>
            </a:solidFill>
            <a:prstDash val="solid"/>
          </a:ln>
        </p:spPr>
        <p:txBody>
          <a:bodyPr/>
          <a:lstStyle/>
          <a:p>
            <a:endParaRPr lang="en-US"/>
          </a:p>
        </p:txBody>
      </p:sp>
      <p:sp>
        <p:nvSpPr>
          <p:cNvPr id="45" name="Text 44"/>
          <p:cNvSpPr txBox="1"/>
          <p:nvPr/>
        </p:nvSpPr>
        <p:spPr>
          <a:xfrm>
            <a:off x="2283470" y="3000226"/>
            <a:ext cx="424011"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AERITEK</a:t>
            </a:r>
            <a:endParaRPr lang="en-US" sz="765" dirty="0"/>
          </a:p>
        </p:txBody>
      </p:sp>
      <p:sp>
        <p:nvSpPr>
          <p:cNvPr id="46" name="Text 45"/>
          <p:cNvSpPr txBox="1"/>
          <p:nvPr/>
        </p:nvSpPr>
        <p:spPr>
          <a:xfrm>
            <a:off x="2166342" y="3121670"/>
            <a:ext cx="658267" cy="109538"/>
          </a:xfrm>
          <a:prstGeom prst="rect">
            <a:avLst/>
          </a:prstGeom>
          <a:noFill/>
          <a:ln/>
        </p:spPr>
        <p:txBody>
          <a:bodyPr wrap="none" lIns="0" tIns="0" rIns="0" bIns="0" rtlCol="0" anchor="t"/>
          <a:lstStyle/>
          <a:p>
            <a:pPr marL="0" indent="0" algn="ctr">
              <a:lnSpc>
                <a:spcPts val="863"/>
              </a:lnSpc>
              <a:buNone/>
            </a:pPr>
            <a:r>
              <a:rPr lang="en-US" sz="645" kern="0" spc="15" dirty="0">
                <a:solidFill>
                  <a:srgbClr val="6F6A66"/>
                </a:solidFill>
                <a:latin typeface="Quicksand" pitchFamily="34" charset="0"/>
              </a:rPr>
              <a:t>Mill Point Capital</a:t>
            </a:r>
            <a:endParaRPr lang="en-US" sz="645" dirty="0"/>
          </a:p>
        </p:txBody>
      </p:sp>
      <p:sp>
        <p:nvSpPr>
          <p:cNvPr id="47" name="Text 46"/>
          <p:cNvSpPr txBox="1"/>
          <p:nvPr/>
        </p:nvSpPr>
        <p:spPr>
          <a:xfrm>
            <a:off x="3581400" y="2612023"/>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AeriTek bought Federal Industries, a Wisconsin maker of food display cases with $35.7 million of fiscal 2025 revenue, in a carve-out from Standex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Standex on Federal Industries</a:t>
            </a:r>
            <a:r>
              <a:rPr lang="en-US" sz="795" kern="0" spc="15" dirty="0">
                <a:solidFill>
                  <a:srgbClr val="333231"/>
                </a:solidFill>
                <a:latin typeface="Quicksand" pitchFamily="34" charset="0"/>
              </a:rPr>
              <a:t>).</a:t>
            </a:r>
            <a:endParaRPr lang="en-US" sz="795" dirty="0"/>
          </a:p>
        </p:txBody>
      </p:sp>
      <p:sp>
        <p:nvSpPr>
          <p:cNvPr id="48" name="Text 47"/>
          <p:cNvSpPr txBox="1"/>
          <p:nvPr/>
        </p:nvSpPr>
        <p:spPr>
          <a:xfrm>
            <a:off x="6362700" y="275733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$70M</a:t>
            </a:r>
            <a:endParaRPr lang="en-US" sz="1200" dirty="0"/>
          </a:p>
        </p:txBody>
      </p:sp>
      <p:sp>
        <p:nvSpPr>
          <p:cNvPr id="49" name="Text 48"/>
          <p:cNvSpPr txBox="1"/>
          <p:nvPr/>
        </p:nvSpPr>
        <p:spPr>
          <a:xfrm>
            <a:off x="6362700" y="2945457"/>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50" name="Text 49"/>
          <p:cNvSpPr txBox="1"/>
          <p:nvPr/>
        </p:nvSpPr>
        <p:spPr>
          <a:xfrm>
            <a:off x="7562850" y="2702570"/>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2.0x</a:t>
            </a:r>
            <a:endParaRPr lang="en-US" sz="1200" dirty="0"/>
          </a:p>
        </p:txBody>
      </p:sp>
      <p:sp>
        <p:nvSpPr>
          <p:cNvPr id="51" name="Text 50"/>
          <p:cNvSpPr txBox="1"/>
          <p:nvPr/>
        </p:nvSpPr>
        <p:spPr>
          <a:xfrm>
            <a:off x="7562850" y="2890689"/>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52" name="Text 51"/>
          <p:cNvSpPr txBox="1"/>
          <p:nvPr/>
        </p:nvSpPr>
        <p:spPr>
          <a:xfrm>
            <a:off x="8572500" y="2835920"/>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53" name="Shape 52"/>
          <p:cNvSpPr/>
          <p:nvPr/>
        </p:nvSpPr>
        <p:spPr>
          <a:xfrm>
            <a:off x="419100" y="4243239"/>
            <a:ext cx="9220200" cy="9525"/>
          </a:xfrm>
          <a:prstGeom prst="rect">
            <a:avLst/>
          </a:prstGeom>
          <a:solidFill>
            <a:srgbClr val="E3DCD3"/>
          </a:solidFill>
          <a:ln/>
        </p:spPr>
        <p:txBody>
          <a:bodyPr/>
          <a:lstStyle/>
          <a:p>
            <a:endParaRPr lang="en-US"/>
          </a:p>
        </p:txBody>
      </p:sp>
      <p:sp>
        <p:nvSpPr>
          <p:cNvPr id="54" name="Shape 53"/>
          <p:cNvSpPr/>
          <p:nvPr/>
        </p:nvSpPr>
        <p:spPr>
          <a:xfrm>
            <a:off x="419100" y="3548658"/>
            <a:ext cx="658862" cy="209550"/>
          </a:xfrm>
          <a:prstGeom prst="rect">
            <a:avLst/>
          </a:prstGeom>
          <a:solidFill>
            <a:srgbClr val="1B1A1A"/>
          </a:solidFill>
          <a:ln/>
        </p:spPr>
        <p:txBody>
          <a:bodyPr/>
          <a:lstStyle/>
          <a:p>
            <a:endParaRPr lang="en-US"/>
          </a:p>
        </p:txBody>
      </p:sp>
      <p:sp>
        <p:nvSpPr>
          <p:cNvPr id="55" name="Text 54"/>
          <p:cNvSpPr txBox="1"/>
          <p:nvPr/>
        </p:nvSpPr>
        <p:spPr>
          <a:xfrm>
            <a:off x="504825" y="3591520"/>
            <a:ext cx="544562"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APR 2026</a:t>
            </a:r>
            <a:endParaRPr lang="en-US" sz="638" dirty="0"/>
          </a:p>
        </p:txBody>
      </p:sp>
      <p:pic>
        <p:nvPicPr>
          <p:cNvPr id="56" name="Icon" descr="/tmp/claude-0/-home-claude-about/4bef2f41-4227-5ff7-ab18-11ac74cd9797/scratchpad/pptx/ex/media/2fc6f7a740ba.png"/>
          <p:cNvPicPr>
            <a:picLocks noChangeAspect="1"/>
          </p:cNvPicPr>
          <p:nvPr/>
        </p:nvPicPr>
        <p:blipFill>
          <a:blip r:embed="rId3"/>
          <a:stretch>
            <a:fillRect/>
          </a:stretch>
        </p:blipFill>
        <p:spPr>
          <a:xfrm>
            <a:off x="419100" y="3834408"/>
            <a:ext cx="133350" cy="133350"/>
          </a:xfrm>
          <a:prstGeom prst="rect">
            <a:avLst/>
          </a:prstGeom>
        </p:spPr>
      </p:pic>
      <p:sp>
        <p:nvSpPr>
          <p:cNvPr id="57" name="Text 56"/>
          <p:cNvSpPr txBox="1"/>
          <p:nvPr/>
        </p:nvSpPr>
        <p:spPr>
          <a:xfrm>
            <a:off x="619125" y="3827264"/>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58" name="Shape 57"/>
          <p:cNvSpPr/>
          <p:nvPr/>
        </p:nvSpPr>
        <p:spPr>
          <a:xfrm>
            <a:off x="1543050" y="3448645"/>
            <a:ext cx="1905000" cy="285750"/>
          </a:xfrm>
          <a:prstGeom prst="rect">
            <a:avLst/>
          </a:prstGeom>
          <a:solidFill>
            <a:srgbClr val="FAF7F3"/>
          </a:solidFill>
          <a:ln/>
        </p:spPr>
        <p:txBody>
          <a:bodyPr/>
          <a:lstStyle/>
          <a:p>
            <a:endParaRPr lang="en-US"/>
          </a:p>
        </p:txBody>
      </p:sp>
      <p:sp>
        <p:nvSpPr>
          <p:cNvPr id="59" name="Shape 58"/>
          <p:cNvSpPr/>
          <p:nvPr/>
        </p:nvSpPr>
        <p:spPr>
          <a:xfrm>
            <a:off x="1547813" y="3453408"/>
            <a:ext cx="1895475" cy="276225"/>
          </a:xfrm>
          <a:prstGeom prst="rect">
            <a:avLst/>
          </a:prstGeom>
          <a:ln w="9525">
            <a:solidFill>
              <a:srgbClr val="E3DCD3"/>
            </a:solidFill>
            <a:prstDash val="solid"/>
          </a:ln>
        </p:spPr>
        <p:txBody>
          <a:bodyPr/>
          <a:lstStyle/>
          <a:p>
            <a:endParaRPr lang="en-US"/>
          </a:p>
        </p:txBody>
      </p:sp>
      <p:sp>
        <p:nvSpPr>
          <p:cNvPr id="60" name="Text 59"/>
          <p:cNvSpPr txBox="1"/>
          <p:nvPr/>
        </p:nvSpPr>
        <p:spPr>
          <a:xfrm>
            <a:off x="2292102" y="3529608"/>
            <a:ext cx="40674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BRESCO</a:t>
            </a:r>
            <a:endParaRPr lang="en-US" sz="765" dirty="0"/>
          </a:p>
        </p:txBody>
      </p:sp>
      <p:sp>
        <p:nvSpPr>
          <p:cNvPr id="61" name="Text 60"/>
          <p:cNvSpPr txBox="1"/>
          <p:nvPr/>
        </p:nvSpPr>
        <p:spPr>
          <a:xfrm>
            <a:off x="1543050" y="3734395"/>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62" name="Shape 61"/>
          <p:cNvSpPr/>
          <p:nvPr/>
        </p:nvSpPr>
        <p:spPr>
          <a:xfrm>
            <a:off x="1543050" y="3867745"/>
            <a:ext cx="1905000" cy="285750"/>
          </a:xfrm>
          <a:prstGeom prst="rect">
            <a:avLst/>
          </a:prstGeom>
          <a:solidFill>
            <a:srgbClr val="FFFFFF"/>
          </a:solidFill>
          <a:ln/>
        </p:spPr>
        <p:txBody>
          <a:bodyPr/>
          <a:lstStyle/>
          <a:p>
            <a:endParaRPr lang="en-US"/>
          </a:p>
        </p:txBody>
      </p:sp>
      <p:sp>
        <p:nvSpPr>
          <p:cNvPr id="63" name="Shape 62"/>
          <p:cNvSpPr/>
          <p:nvPr/>
        </p:nvSpPr>
        <p:spPr>
          <a:xfrm>
            <a:off x="1547813" y="3872508"/>
            <a:ext cx="1895475" cy="276225"/>
          </a:xfrm>
          <a:prstGeom prst="rect">
            <a:avLst/>
          </a:prstGeom>
          <a:ln w="9525">
            <a:solidFill>
              <a:srgbClr val="C3BDB6"/>
            </a:solidFill>
            <a:prstDash val="solid"/>
          </a:ln>
        </p:spPr>
        <p:txBody>
          <a:bodyPr/>
          <a:lstStyle/>
          <a:p>
            <a:endParaRPr lang="en-US"/>
          </a:p>
        </p:txBody>
      </p:sp>
      <p:sp>
        <p:nvSpPr>
          <p:cNvPr id="64" name="Text 63"/>
          <p:cNvSpPr txBox="1"/>
          <p:nvPr/>
        </p:nvSpPr>
        <p:spPr>
          <a:xfrm>
            <a:off x="1893838" y="3948708"/>
            <a:ext cx="120342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SINGER EQUIPMENT CO.</a:t>
            </a:r>
            <a:endParaRPr lang="en-US" sz="765" dirty="0"/>
          </a:p>
        </p:txBody>
      </p:sp>
      <p:sp>
        <p:nvSpPr>
          <p:cNvPr id="65" name="Text 64"/>
          <p:cNvSpPr txBox="1"/>
          <p:nvPr/>
        </p:nvSpPr>
        <p:spPr>
          <a:xfrm>
            <a:off x="3581400" y="3433405"/>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Singer acquired Bresco, a family-led foodservice equipment and supplies dealer in Birmingham, Alabama, with $39.3 million of 2025 sales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Singer Equipment and Bresco</a:t>
            </a:r>
            <a:r>
              <a:rPr lang="en-US" sz="795" kern="0" spc="15" dirty="0">
                <a:solidFill>
                  <a:srgbClr val="333231"/>
                </a:solidFill>
                <a:latin typeface="Quicksand" pitchFamily="34" charset="0"/>
              </a:rPr>
              <a:t>). Dealer acquirers rarely disclose price.</a:t>
            </a:r>
            <a:endParaRPr lang="en-US" sz="795" dirty="0"/>
          </a:p>
        </p:txBody>
      </p:sp>
      <p:sp>
        <p:nvSpPr>
          <p:cNvPr id="66" name="Text 65"/>
          <p:cNvSpPr txBox="1"/>
          <p:nvPr/>
        </p:nvSpPr>
        <p:spPr>
          <a:xfrm>
            <a:off x="63627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7" name="Text 66"/>
          <p:cNvSpPr txBox="1"/>
          <p:nvPr/>
        </p:nvSpPr>
        <p:spPr>
          <a:xfrm>
            <a:off x="7562850" y="3729633"/>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8" name="Text 67"/>
          <p:cNvSpPr txBox="1"/>
          <p:nvPr/>
        </p:nvSpPr>
        <p:spPr>
          <a:xfrm>
            <a:off x="85725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9" name="Shape 68"/>
          <p:cNvSpPr/>
          <p:nvPr/>
        </p:nvSpPr>
        <p:spPr>
          <a:xfrm>
            <a:off x="419100" y="5136952"/>
            <a:ext cx="9220200" cy="9525"/>
          </a:xfrm>
          <a:prstGeom prst="rect">
            <a:avLst/>
          </a:prstGeom>
          <a:solidFill>
            <a:srgbClr val="E3DCD3"/>
          </a:solidFill>
          <a:ln/>
        </p:spPr>
        <p:txBody>
          <a:bodyPr/>
          <a:lstStyle/>
          <a:p>
            <a:endParaRPr lang="en-US"/>
          </a:p>
        </p:txBody>
      </p:sp>
      <p:sp>
        <p:nvSpPr>
          <p:cNvPr id="70" name="Shape 69"/>
          <p:cNvSpPr/>
          <p:nvPr/>
        </p:nvSpPr>
        <p:spPr>
          <a:xfrm>
            <a:off x="419100" y="4387602"/>
            <a:ext cx="647551" cy="209550"/>
          </a:xfrm>
          <a:prstGeom prst="rect">
            <a:avLst/>
          </a:prstGeom>
          <a:solidFill>
            <a:srgbClr val="1B1A1A"/>
          </a:solidFill>
          <a:ln/>
        </p:spPr>
        <p:txBody>
          <a:bodyPr/>
          <a:lstStyle/>
          <a:p>
            <a:endParaRPr lang="en-US"/>
          </a:p>
        </p:txBody>
      </p:sp>
      <p:sp>
        <p:nvSpPr>
          <p:cNvPr id="71" name="Text 70"/>
          <p:cNvSpPr txBox="1"/>
          <p:nvPr/>
        </p:nvSpPr>
        <p:spPr>
          <a:xfrm>
            <a:off x="504825" y="4430464"/>
            <a:ext cx="53325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FEB 2026</a:t>
            </a:r>
            <a:endParaRPr lang="en-US" sz="638" dirty="0"/>
          </a:p>
        </p:txBody>
      </p:sp>
      <p:pic>
        <p:nvPicPr>
          <p:cNvPr id="72" name="Icon" descr="/tmp/claude-0/-home-claude-about/4bef2f41-4227-5ff7-ab18-11ac74cd9797/scratchpad/pptx/ex/media/151feb1fc16e.png"/>
          <p:cNvPicPr>
            <a:picLocks noChangeAspect="1"/>
          </p:cNvPicPr>
          <p:nvPr/>
        </p:nvPicPr>
        <p:blipFill>
          <a:blip r:embed="rId8"/>
          <a:stretch>
            <a:fillRect/>
          </a:stretch>
        </p:blipFill>
        <p:spPr>
          <a:xfrm>
            <a:off x="419100" y="4673352"/>
            <a:ext cx="133350" cy="133350"/>
          </a:xfrm>
          <a:prstGeom prst="rect">
            <a:avLst/>
          </a:prstGeom>
        </p:spPr>
      </p:pic>
      <p:sp>
        <p:nvSpPr>
          <p:cNvPr id="73" name="Text 72"/>
          <p:cNvSpPr txBox="1"/>
          <p:nvPr/>
        </p:nvSpPr>
        <p:spPr>
          <a:xfrm>
            <a:off x="619125" y="4666208"/>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74" name="Shape 73"/>
          <p:cNvSpPr/>
          <p:nvPr/>
        </p:nvSpPr>
        <p:spPr>
          <a:xfrm>
            <a:off x="1543050" y="4342358"/>
            <a:ext cx="1905000" cy="285750"/>
          </a:xfrm>
          <a:prstGeom prst="rect">
            <a:avLst/>
          </a:prstGeom>
          <a:solidFill>
            <a:srgbClr val="FAF7F3"/>
          </a:solidFill>
          <a:ln/>
        </p:spPr>
        <p:txBody>
          <a:bodyPr/>
          <a:lstStyle/>
          <a:p>
            <a:endParaRPr lang="en-US"/>
          </a:p>
        </p:txBody>
      </p:sp>
      <p:sp>
        <p:nvSpPr>
          <p:cNvPr id="75" name="Shape 74"/>
          <p:cNvSpPr/>
          <p:nvPr/>
        </p:nvSpPr>
        <p:spPr>
          <a:xfrm>
            <a:off x="1547813" y="4347121"/>
            <a:ext cx="1895475" cy="276225"/>
          </a:xfrm>
          <a:prstGeom prst="rect">
            <a:avLst/>
          </a:prstGeom>
          <a:ln w="9525">
            <a:solidFill>
              <a:srgbClr val="E3DCD3"/>
            </a:solidFill>
            <a:prstDash val="solid"/>
          </a:ln>
        </p:spPr>
        <p:txBody>
          <a:bodyPr/>
          <a:lstStyle/>
          <a:p>
            <a:endParaRPr lang="en-US"/>
          </a:p>
        </p:txBody>
      </p:sp>
      <p:sp>
        <p:nvSpPr>
          <p:cNvPr id="76" name="Text 75"/>
          <p:cNvSpPr txBox="1"/>
          <p:nvPr/>
        </p:nvSpPr>
        <p:spPr>
          <a:xfrm>
            <a:off x="2024807" y="4423321"/>
            <a:ext cx="94148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MISTER CAR WASH</a:t>
            </a:r>
            <a:endParaRPr lang="en-US" sz="765" dirty="0"/>
          </a:p>
        </p:txBody>
      </p:sp>
      <p:sp>
        <p:nvSpPr>
          <p:cNvPr id="77" name="Text 76"/>
          <p:cNvSpPr txBox="1"/>
          <p:nvPr/>
        </p:nvSpPr>
        <p:spPr>
          <a:xfrm>
            <a:off x="1543050" y="4628108"/>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78" name="Shape 77"/>
          <p:cNvSpPr/>
          <p:nvPr/>
        </p:nvSpPr>
        <p:spPr>
          <a:xfrm>
            <a:off x="1543050" y="4761458"/>
            <a:ext cx="1905000" cy="285750"/>
          </a:xfrm>
          <a:prstGeom prst="rect">
            <a:avLst/>
          </a:prstGeom>
          <a:solidFill>
            <a:srgbClr val="FFFFFF"/>
          </a:solidFill>
          <a:ln/>
        </p:spPr>
        <p:txBody>
          <a:bodyPr/>
          <a:lstStyle/>
          <a:p>
            <a:endParaRPr lang="en-US"/>
          </a:p>
        </p:txBody>
      </p:sp>
      <p:sp>
        <p:nvSpPr>
          <p:cNvPr id="79" name="Shape 78"/>
          <p:cNvSpPr/>
          <p:nvPr/>
        </p:nvSpPr>
        <p:spPr>
          <a:xfrm>
            <a:off x="1547813" y="4766221"/>
            <a:ext cx="1895475" cy="276225"/>
          </a:xfrm>
          <a:prstGeom prst="rect">
            <a:avLst/>
          </a:prstGeom>
          <a:ln w="9525">
            <a:solidFill>
              <a:srgbClr val="C3BDB6"/>
            </a:solidFill>
            <a:prstDash val="solid"/>
          </a:ln>
        </p:spPr>
        <p:txBody>
          <a:bodyPr/>
          <a:lstStyle/>
          <a:p>
            <a:endParaRPr lang="en-US"/>
          </a:p>
        </p:txBody>
      </p:sp>
      <p:sp>
        <p:nvSpPr>
          <p:cNvPr id="80" name="Text 79"/>
          <p:cNvSpPr txBox="1"/>
          <p:nvPr/>
        </p:nvSpPr>
        <p:spPr>
          <a:xfrm>
            <a:off x="1731318" y="4842421"/>
            <a:ext cx="152831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LEONARD GREEN &amp; PARTNERS</a:t>
            </a:r>
            <a:endParaRPr lang="en-US" sz="765" dirty="0"/>
          </a:p>
        </p:txBody>
      </p:sp>
      <p:sp>
        <p:nvSpPr>
          <p:cNvPr id="81" name="Text 80"/>
          <p:cNvSpPr txBox="1"/>
          <p:nvPr/>
        </p:nvSpPr>
        <p:spPr>
          <a:xfrm>
            <a:off x="3581400" y="4254639"/>
            <a:ext cx="2662238"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Leonard Green agreed in February to take Mister Car Wash private at $7.00 per share and completed the purchase on May 19, when the company had about 550 locations and about 2.5 million subscription members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Mister Car Wash and Leonard Green</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Mister Car Wash results</a:t>
            </a:r>
            <a:r>
              <a:rPr lang="en-US" sz="795" kern="0" spc="15" dirty="0">
                <a:solidFill>
                  <a:srgbClr val="333231"/>
                </a:solidFill>
                <a:latin typeface="Quicksand" pitchFamily="34" charset="0"/>
              </a:rPr>
              <a:t>).</a:t>
            </a:r>
            <a:endParaRPr lang="en-US" sz="795" dirty="0"/>
          </a:p>
        </p:txBody>
      </p:sp>
      <p:sp>
        <p:nvSpPr>
          <p:cNvPr id="82" name="Text 81"/>
          <p:cNvSpPr txBox="1"/>
          <p:nvPr/>
        </p:nvSpPr>
        <p:spPr>
          <a:xfrm>
            <a:off x="6362700" y="4486184"/>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$3.1B</a:t>
            </a:r>
            <a:endParaRPr lang="en-US" sz="1200" dirty="0"/>
          </a:p>
        </p:txBody>
      </p:sp>
      <p:sp>
        <p:nvSpPr>
          <p:cNvPr id="83" name="Text 82"/>
          <p:cNvSpPr txBox="1"/>
          <p:nvPr/>
        </p:nvSpPr>
        <p:spPr>
          <a:xfrm>
            <a:off x="6362700" y="4732883"/>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86" name="Shape 85"/>
          <p:cNvSpPr/>
          <p:nvPr/>
        </p:nvSpPr>
        <p:spPr>
          <a:xfrm>
            <a:off x="419100" y="6030664"/>
            <a:ext cx="9220200" cy="9525"/>
          </a:xfrm>
          <a:prstGeom prst="rect">
            <a:avLst/>
          </a:prstGeom>
          <a:solidFill>
            <a:srgbClr val="E3DCD3"/>
          </a:solidFill>
          <a:ln/>
        </p:spPr>
        <p:txBody>
          <a:bodyPr/>
          <a:lstStyle/>
          <a:p>
            <a:endParaRPr lang="en-US"/>
          </a:p>
        </p:txBody>
      </p:sp>
      <p:sp>
        <p:nvSpPr>
          <p:cNvPr id="87" name="Shape 86"/>
          <p:cNvSpPr/>
          <p:nvPr/>
        </p:nvSpPr>
        <p:spPr>
          <a:xfrm>
            <a:off x="419100" y="5281315"/>
            <a:ext cx="676424" cy="209550"/>
          </a:xfrm>
          <a:prstGeom prst="rect">
            <a:avLst/>
          </a:prstGeom>
          <a:solidFill>
            <a:srgbClr val="1B1A1A"/>
          </a:solidFill>
          <a:ln/>
        </p:spPr>
        <p:txBody>
          <a:bodyPr/>
          <a:lstStyle/>
          <a:p>
            <a:endParaRPr lang="en-US"/>
          </a:p>
        </p:txBody>
      </p:sp>
      <p:sp>
        <p:nvSpPr>
          <p:cNvPr id="88" name="Text 87"/>
          <p:cNvSpPr txBox="1"/>
          <p:nvPr/>
        </p:nvSpPr>
        <p:spPr>
          <a:xfrm>
            <a:off x="504825" y="532417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89" name="Icon" descr="/tmp/claude-0/-home-claude-about/4bef2f41-4227-5ff7-ab18-11ac74cd9797/scratchpad/pptx/ex/media/151feb1fc16e.png"/>
          <p:cNvPicPr>
            <a:picLocks noChangeAspect="1"/>
          </p:cNvPicPr>
          <p:nvPr/>
        </p:nvPicPr>
        <p:blipFill>
          <a:blip r:embed="rId8"/>
          <a:stretch>
            <a:fillRect/>
          </a:stretch>
        </p:blipFill>
        <p:spPr>
          <a:xfrm>
            <a:off x="419100" y="5567065"/>
            <a:ext cx="133350" cy="133350"/>
          </a:xfrm>
          <a:prstGeom prst="rect">
            <a:avLst/>
          </a:prstGeom>
        </p:spPr>
      </p:pic>
      <p:sp>
        <p:nvSpPr>
          <p:cNvPr id="90" name="Text 89"/>
          <p:cNvSpPr txBox="1"/>
          <p:nvPr/>
        </p:nvSpPr>
        <p:spPr>
          <a:xfrm>
            <a:off x="619125" y="5559921"/>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91" name="Shape 90"/>
          <p:cNvSpPr/>
          <p:nvPr/>
        </p:nvSpPr>
        <p:spPr>
          <a:xfrm>
            <a:off x="1543050" y="5236071"/>
            <a:ext cx="1905000" cy="285750"/>
          </a:xfrm>
          <a:prstGeom prst="rect">
            <a:avLst/>
          </a:prstGeom>
          <a:solidFill>
            <a:srgbClr val="FAF7F3"/>
          </a:solidFill>
          <a:ln/>
        </p:spPr>
        <p:txBody>
          <a:bodyPr/>
          <a:lstStyle/>
          <a:p>
            <a:endParaRPr lang="en-US"/>
          </a:p>
        </p:txBody>
      </p:sp>
      <p:sp>
        <p:nvSpPr>
          <p:cNvPr id="92" name="Shape 91"/>
          <p:cNvSpPr/>
          <p:nvPr/>
        </p:nvSpPr>
        <p:spPr>
          <a:xfrm>
            <a:off x="1547813" y="5240834"/>
            <a:ext cx="1895475" cy="276225"/>
          </a:xfrm>
          <a:prstGeom prst="rect">
            <a:avLst/>
          </a:prstGeom>
          <a:ln w="9525">
            <a:solidFill>
              <a:srgbClr val="E3DCD3"/>
            </a:solidFill>
            <a:prstDash val="solid"/>
          </a:ln>
        </p:spPr>
        <p:txBody>
          <a:bodyPr/>
          <a:lstStyle/>
          <a:p>
            <a:endParaRPr lang="en-US"/>
          </a:p>
        </p:txBody>
      </p:sp>
      <p:sp>
        <p:nvSpPr>
          <p:cNvPr id="93" name="Text 92"/>
          <p:cNvSpPr txBox="1"/>
          <p:nvPr/>
        </p:nvSpPr>
        <p:spPr>
          <a:xfrm>
            <a:off x="1924943" y="5317034"/>
            <a:ext cx="114121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GUILD GARAGE GROUP</a:t>
            </a:r>
            <a:endParaRPr lang="en-US" sz="765" dirty="0"/>
          </a:p>
        </p:txBody>
      </p:sp>
      <p:sp>
        <p:nvSpPr>
          <p:cNvPr id="94" name="Text 93"/>
          <p:cNvSpPr txBox="1"/>
          <p:nvPr/>
        </p:nvSpPr>
        <p:spPr>
          <a:xfrm>
            <a:off x="1543050" y="552182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95" name="Shape 94"/>
          <p:cNvSpPr/>
          <p:nvPr/>
        </p:nvSpPr>
        <p:spPr>
          <a:xfrm>
            <a:off x="1543050" y="5655171"/>
            <a:ext cx="1905000" cy="285750"/>
          </a:xfrm>
          <a:prstGeom prst="rect">
            <a:avLst/>
          </a:prstGeom>
          <a:solidFill>
            <a:srgbClr val="FFFFFF"/>
          </a:solidFill>
          <a:ln/>
        </p:spPr>
        <p:txBody>
          <a:bodyPr/>
          <a:lstStyle/>
          <a:p>
            <a:endParaRPr lang="en-US"/>
          </a:p>
        </p:txBody>
      </p:sp>
      <p:sp>
        <p:nvSpPr>
          <p:cNvPr id="96" name="Shape 95"/>
          <p:cNvSpPr/>
          <p:nvPr/>
        </p:nvSpPr>
        <p:spPr>
          <a:xfrm>
            <a:off x="1547813" y="5659934"/>
            <a:ext cx="1895475" cy="276225"/>
          </a:xfrm>
          <a:prstGeom prst="rect">
            <a:avLst/>
          </a:prstGeom>
          <a:ln w="9525">
            <a:solidFill>
              <a:srgbClr val="C3BDB6"/>
            </a:solidFill>
            <a:prstDash val="solid"/>
          </a:ln>
        </p:spPr>
        <p:txBody>
          <a:bodyPr/>
          <a:lstStyle/>
          <a:p>
            <a:endParaRPr lang="en-US"/>
          </a:p>
        </p:txBody>
      </p:sp>
      <p:sp>
        <p:nvSpPr>
          <p:cNvPr id="97" name="Text 96"/>
          <p:cNvSpPr txBox="1"/>
          <p:nvPr/>
        </p:nvSpPr>
        <p:spPr>
          <a:xfrm>
            <a:off x="2037904" y="5736134"/>
            <a:ext cx="91529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OAK HILL CAPITAL</a:t>
            </a:r>
            <a:endParaRPr lang="en-US" sz="765" dirty="0"/>
          </a:p>
        </p:txBody>
      </p:sp>
      <p:sp>
        <p:nvSpPr>
          <p:cNvPr id="98" name="Text 97"/>
          <p:cNvSpPr txBox="1"/>
          <p:nvPr/>
        </p:nvSpPr>
        <p:spPr>
          <a:xfrm>
            <a:off x="3581400" y="5148352"/>
            <a:ext cx="2662238"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Oak Hill agreed to buy Guild Garage Group, a two-year-old platform assembled from nearly 30 garage door companies, which reportedly generates revenue above $300 million and EBITDA close to $50 million, at a price PitchBook News </a:t>
            </a:r>
            <a:r>
              <a:rPr lang="en-US" sz="79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described as 16 times EBITDA</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Oak Hill and Guild Garage Group</a:t>
            </a:r>
            <a:r>
              <a:rPr lang="en-US" sz="795" kern="0" spc="15" dirty="0">
                <a:solidFill>
                  <a:srgbClr val="333231"/>
                </a:solidFill>
                <a:latin typeface="Quicksand" pitchFamily="34" charset="0"/>
              </a:rPr>
              <a:t>).</a:t>
            </a:r>
            <a:endParaRPr lang="en-US" sz="795" dirty="0"/>
          </a:p>
        </p:txBody>
      </p:sp>
      <p:sp>
        <p:nvSpPr>
          <p:cNvPr id="99" name="Text 98"/>
          <p:cNvSpPr txBox="1"/>
          <p:nvPr/>
        </p:nvSpPr>
        <p:spPr>
          <a:xfrm>
            <a:off x="6362700" y="543847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$800M+</a:t>
            </a:r>
            <a:endParaRPr lang="en-US" sz="1200" dirty="0"/>
          </a:p>
        </p:txBody>
      </p:sp>
      <p:sp>
        <p:nvSpPr>
          <p:cNvPr id="100" name="Text 99"/>
          <p:cNvSpPr txBox="1"/>
          <p:nvPr/>
        </p:nvSpPr>
        <p:spPr>
          <a:xfrm>
            <a:off x="6362700" y="5626596"/>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as reported</a:t>
            </a:r>
            <a:endParaRPr lang="en-US" sz="645" dirty="0"/>
          </a:p>
        </p:txBody>
      </p:sp>
      <p:sp>
        <p:nvSpPr>
          <p:cNvPr id="101" name="Text 100"/>
          <p:cNvSpPr txBox="1"/>
          <p:nvPr/>
        </p:nvSpPr>
        <p:spPr>
          <a:xfrm>
            <a:off x="7562850" y="5517059"/>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02" name="Text 101"/>
          <p:cNvSpPr txBox="1"/>
          <p:nvPr/>
        </p:nvSpPr>
        <p:spPr>
          <a:xfrm>
            <a:off x="8572500" y="538370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16x</a:t>
            </a:r>
            <a:endParaRPr lang="en-US" sz="1200" dirty="0"/>
          </a:p>
        </p:txBody>
      </p:sp>
      <p:sp>
        <p:nvSpPr>
          <p:cNvPr id="103" name="Text 102"/>
          <p:cNvSpPr txBox="1"/>
          <p:nvPr/>
        </p:nvSpPr>
        <p:spPr>
          <a:xfrm>
            <a:off x="8572500" y="5571827"/>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EBITDA, as described by PitchBook News</a:t>
            </a:r>
            <a:endParaRPr lang="en-US" sz="645" dirty="0"/>
          </a:p>
        </p:txBody>
      </p:sp>
      <p:sp>
        <p:nvSpPr>
          <p:cNvPr id="104" name="Shape 103"/>
          <p:cNvSpPr/>
          <p:nvPr/>
        </p:nvSpPr>
        <p:spPr>
          <a:xfrm>
            <a:off x="419100" y="6924377"/>
            <a:ext cx="9220200" cy="9525"/>
          </a:xfrm>
          <a:prstGeom prst="rect">
            <a:avLst/>
          </a:prstGeom>
          <a:solidFill>
            <a:srgbClr val="E3DCD3"/>
          </a:solidFill>
          <a:ln/>
        </p:spPr>
        <p:txBody>
          <a:bodyPr/>
          <a:lstStyle/>
          <a:p>
            <a:endParaRPr lang="en-US"/>
          </a:p>
        </p:txBody>
      </p:sp>
      <p:sp>
        <p:nvSpPr>
          <p:cNvPr id="105" name="Shape 104"/>
          <p:cNvSpPr/>
          <p:nvPr/>
        </p:nvSpPr>
        <p:spPr>
          <a:xfrm>
            <a:off x="419100" y="6175028"/>
            <a:ext cx="658862" cy="209550"/>
          </a:xfrm>
          <a:prstGeom prst="rect">
            <a:avLst/>
          </a:prstGeom>
          <a:solidFill>
            <a:srgbClr val="1B1A1A"/>
          </a:solidFill>
          <a:ln/>
        </p:spPr>
        <p:txBody>
          <a:bodyPr/>
          <a:lstStyle/>
          <a:p>
            <a:endParaRPr lang="en-US"/>
          </a:p>
        </p:txBody>
      </p:sp>
      <p:sp>
        <p:nvSpPr>
          <p:cNvPr id="106" name="Text 105"/>
          <p:cNvSpPr txBox="1"/>
          <p:nvPr/>
        </p:nvSpPr>
        <p:spPr>
          <a:xfrm>
            <a:off x="504825" y="6217890"/>
            <a:ext cx="544562"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APR 2026</a:t>
            </a:r>
            <a:endParaRPr lang="en-US" sz="638" dirty="0"/>
          </a:p>
        </p:txBody>
      </p:sp>
      <p:pic>
        <p:nvPicPr>
          <p:cNvPr id="107" name="Icon" descr="/tmp/claude-0/-home-claude-about/4bef2f41-4227-5ff7-ab18-11ac74cd9797/scratchpad/pptx/ex/media/151feb1fc16e.png"/>
          <p:cNvPicPr>
            <a:picLocks noChangeAspect="1"/>
          </p:cNvPicPr>
          <p:nvPr/>
        </p:nvPicPr>
        <p:blipFill>
          <a:blip r:embed="rId8"/>
          <a:stretch>
            <a:fillRect/>
          </a:stretch>
        </p:blipFill>
        <p:spPr>
          <a:xfrm>
            <a:off x="419100" y="6460778"/>
            <a:ext cx="133350" cy="133350"/>
          </a:xfrm>
          <a:prstGeom prst="rect">
            <a:avLst/>
          </a:prstGeom>
        </p:spPr>
      </p:pic>
      <p:sp>
        <p:nvSpPr>
          <p:cNvPr id="108" name="Text 107"/>
          <p:cNvSpPr txBox="1"/>
          <p:nvPr/>
        </p:nvSpPr>
        <p:spPr>
          <a:xfrm>
            <a:off x="619125" y="6453634"/>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109" name="Shape 108"/>
          <p:cNvSpPr/>
          <p:nvPr/>
        </p:nvSpPr>
        <p:spPr>
          <a:xfrm>
            <a:off x="1543050" y="6129784"/>
            <a:ext cx="1905000" cy="285750"/>
          </a:xfrm>
          <a:prstGeom prst="rect">
            <a:avLst/>
          </a:prstGeom>
          <a:solidFill>
            <a:srgbClr val="FAF7F3"/>
          </a:solidFill>
          <a:ln/>
        </p:spPr>
        <p:txBody>
          <a:bodyPr/>
          <a:lstStyle/>
          <a:p>
            <a:endParaRPr lang="en-US"/>
          </a:p>
        </p:txBody>
      </p:sp>
      <p:sp>
        <p:nvSpPr>
          <p:cNvPr id="110" name="Shape 109"/>
          <p:cNvSpPr/>
          <p:nvPr/>
        </p:nvSpPr>
        <p:spPr>
          <a:xfrm>
            <a:off x="1547813" y="6134546"/>
            <a:ext cx="1895475" cy="276225"/>
          </a:xfrm>
          <a:prstGeom prst="rect">
            <a:avLst/>
          </a:prstGeom>
          <a:ln w="9525">
            <a:solidFill>
              <a:srgbClr val="E3DCD3"/>
            </a:solidFill>
            <a:prstDash val="solid"/>
          </a:ln>
        </p:spPr>
        <p:txBody>
          <a:bodyPr/>
          <a:lstStyle/>
          <a:p>
            <a:endParaRPr lang="en-US"/>
          </a:p>
        </p:txBody>
      </p:sp>
      <p:sp>
        <p:nvSpPr>
          <p:cNvPr id="111" name="Text 110"/>
          <p:cNvSpPr txBox="1"/>
          <p:nvPr/>
        </p:nvSpPr>
        <p:spPr>
          <a:xfrm>
            <a:off x="1909911" y="6210746"/>
            <a:ext cx="1171129"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ROMEX PEST CONTROL</a:t>
            </a:r>
            <a:endParaRPr lang="en-US" sz="765" dirty="0"/>
          </a:p>
        </p:txBody>
      </p:sp>
      <p:sp>
        <p:nvSpPr>
          <p:cNvPr id="112" name="Text 111"/>
          <p:cNvSpPr txBox="1"/>
          <p:nvPr/>
        </p:nvSpPr>
        <p:spPr>
          <a:xfrm>
            <a:off x="1543050" y="6415534"/>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113" name="Shape 112"/>
          <p:cNvSpPr/>
          <p:nvPr/>
        </p:nvSpPr>
        <p:spPr>
          <a:xfrm>
            <a:off x="1543050" y="6548884"/>
            <a:ext cx="1905000" cy="285750"/>
          </a:xfrm>
          <a:prstGeom prst="rect">
            <a:avLst/>
          </a:prstGeom>
          <a:solidFill>
            <a:srgbClr val="FFFFFF"/>
          </a:solidFill>
          <a:ln/>
        </p:spPr>
        <p:txBody>
          <a:bodyPr/>
          <a:lstStyle/>
          <a:p>
            <a:endParaRPr lang="en-US"/>
          </a:p>
        </p:txBody>
      </p:sp>
      <p:sp>
        <p:nvSpPr>
          <p:cNvPr id="114" name="Shape 113"/>
          <p:cNvSpPr/>
          <p:nvPr/>
        </p:nvSpPr>
        <p:spPr>
          <a:xfrm>
            <a:off x="1547813" y="6553646"/>
            <a:ext cx="1895475" cy="276225"/>
          </a:xfrm>
          <a:prstGeom prst="rect">
            <a:avLst/>
          </a:prstGeom>
          <a:ln w="9525">
            <a:solidFill>
              <a:srgbClr val="C3BDB6"/>
            </a:solidFill>
            <a:prstDash val="solid"/>
          </a:ln>
        </p:spPr>
        <p:txBody>
          <a:bodyPr/>
          <a:lstStyle/>
          <a:p>
            <a:endParaRPr lang="en-US"/>
          </a:p>
        </p:txBody>
      </p:sp>
      <p:sp>
        <p:nvSpPr>
          <p:cNvPr id="115" name="Text 114"/>
          <p:cNvSpPr txBox="1"/>
          <p:nvPr/>
        </p:nvSpPr>
        <p:spPr>
          <a:xfrm>
            <a:off x="2276624" y="6629846"/>
            <a:ext cx="43770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ROLLINS</a:t>
            </a:r>
            <a:endParaRPr lang="en-US" sz="765" dirty="0"/>
          </a:p>
        </p:txBody>
      </p:sp>
      <p:sp>
        <p:nvSpPr>
          <p:cNvPr id="116" name="Text 115"/>
          <p:cNvSpPr txBox="1"/>
          <p:nvPr/>
        </p:nvSpPr>
        <p:spPr>
          <a:xfrm>
            <a:off x="3581400" y="6186874"/>
            <a:ext cx="2662238" cy="579209"/>
          </a:xfrm>
          <a:prstGeom prst="rect">
            <a:avLst/>
          </a:prstGeom>
          <a:noFill/>
          <a:ln/>
        </p:spPr>
        <p:txBody>
          <a:bodyPr wrap="square" lIns="0" tIns="0" rIns="0" bIns="0" rtlCol="0" anchor="t"/>
          <a:lstStyle/>
          <a:p>
            <a:pPr>
              <a:lnSpc>
                <a:spcPts val="1140"/>
              </a:lnSpc>
            </a:pPr>
            <a:r>
              <a:rPr lang="en-US" sz="795" kern="0" spc="15" dirty="0">
                <a:solidFill>
                  <a:srgbClr val="333231"/>
                </a:solidFill>
                <a:latin typeface="Quicksand" pitchFamily="34" charset="0"/>
              </a:rPr>
              <a:t>Rollins acquired Romex Pest Control, a Utah company founded in 2016, and allocated about 89% of the price to customer contracts and goodwill (</a:t>
            </a:r>
            <a:r>
              <a:rPr lang="en-US" sz="795"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Rollins and Romex Pest Control</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Rollins quarterly filing</a:t>
            </a:r>
            <a:r>
              <a:rPr lang="en-US" sz="795" u="sng" kern="0" spc="15" dirty="0">
                <a:solidFill>
                  <a:srgbClr val="8C6239"/>
                </a:solidFill>
                <a:latin typeface="Quicksand" pitchFamily="34" charset="0"/>
              </a:rPr>
              <a:t>;</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PCT Top 100).</a:t>
            </a:r>
            <a:r>
              <a:rPr lang="en-US" sz="795" u="sng" kern="0" spc="15" dirty="0">
                <a:solidFill>
                  <a:srgbClr val="8C6239"/>
                </a:solidFill>
                <a:latin typeface="Quicksand" pitchFamily="34" charset="0"/>
              </a:rPr>
              <a:t/>
            </a:r>
          </a:p>
          <a:p>
            <a:pPr>
              <a:lnSpc>
                <a:spcPts val="1140"/>
              </a:lnSpc>
            </a:pPr>
            <a:endParaRPr lang="en-US" sz="795" dirty="0"/>
          </a:p>
        </p:txBody>
      </p:sp>
      <p:sp>
        <p:nvSpPr>
          <p:cNvPr id="117" name="Text 116"/>
          <p:cNvSpPr txBox="1"/>
          <p:nvPr/>
        </p:nvSpPr>
        <p:spPr>
          <a:xfrm>
            <a:off x="6362700" y="638695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$95.7M</a:t>
            </a:r>
            <a:endParaRPr lang="en-US" sz="1200" dirty="0"/>
          </a:p>
        </p:txBody>
      </p:sp>
      <p:sp>
        <p:nvSpPr>
          <p:cNvPr id="118" name="Text 117"/>
          <p:cNvSpPr txBox="1"/>
          <p:nvPr/>
        </p:nvSpPr>
        <p:spPr>
          <a:xfrm>
            <a:off x="7436936" y="6489799"/>
            <a:ext cx="1016502" cy="344835"/>
          </a:xfrm>
          <a:prstGeom prst="rect">
            <a:avLst/>
          </a:prstGeom>
          <a:noFill/>
          <a:ln/>
        </p:spPr>
        <p:txBody>
          <a:bodyPr wrap="none" lIns="0" tIns="0" rIns="0" bIns="0" rtlCol="0" anchor="t"/>
          <a:lstStyle/>
          <a:p>
            <a:pPr marL="0" indent="0" algn="l">
              <a:lnSpc>
                <a:spcPts val="1050"/>
              </a:lnSpc>
              <a:buNone/>
            </a:pPr>
            <a:r>
              <a:rPr lang="en-US" sz="650" kern="0" spc="15" dirty="0">
                <a:solidFill>
                  <a:srgbClr val="6F6A66"/>
                </a:solidFill>
                <a:latin typeface="Quicksand" pitchFamily="34" charset="0"/>
              </a:rPr>
              <a:t>Calculated from</a:t>
            </a:r>
          </a:p>
          <a:p>
            <a:pPr marL="0" indent="0" algn="l">
              <a:buNone/>
            </a:pPr>
            <a:r>
              <a:rPr lang="en-US" sz="650" kern="0" spc="15" dirty="0">
                <a:solidFill>
                  <a:srgbClr val="6F6A66"/>
                </a:solidFill>
                <a:latin typeface="Quicksand" pitchFamily="34" charset="0"/>
              </a:rPr>
              <a:t> PCT Top 100 </a:t>
            </a:r>
          </a:p>
          <a:p>
            <a:pPr marL="0" indent="0" algn="l">
              <a:lnSpc>
                <a:spcPts val="1050"/>
              </a:lnSpc>
              <a:buNone/>
            </a:pPr>
            <a:r>
              <a:rPr lang="en-US" sz="650" kern="0" spc="15" dirty="0">
                <a:solidFill>
                  <a:srgbClr val="6F6A66"/>
                </a:solidFill>
                <a:latin typeface="Quicksand" pitchFamily="34" charset="0"/>
              </a:rPr>
              <a:t>2025 revenue </a:t>
            </a:r>
            <a:endParaRPr lang="en-US" sz="650" dirty="0"/>
          </a:p>
        </p:txBody>
      </p:sp>
      <p:sp>
        <p:nvSpPr>
          <p:cNvPr id="119" name="Text 118"/>
          <p:cNvSpPr txBox="1"/>
          <p:nvPr/>
        </p:nvSpPr>
        <p:spPr>
          <a:xfrm>
            <a:off x="8572500" y="6410771"/>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20" name="Shape 119"/>
          <p:cNvSpPr/>
          <p:nvPr/>
        </p:nvSpPr>
        <p:spPr>
          <a:xfrm>
            <a:off x="419100" y="7029450"/>
            <a:ext cx="9220200" cy="9525"/>
          </a:xfrm>
          <a:prstGeom prst="rect">
            <a:avLst/>
          </a:prstGeom>
          <a:solidFill>
            <a:srgbClr val="E3DCD3"/>
          </a:solidFill>
          <a:ln/>
        </p:spPr>
        <p:txBody>
          <a:bodyPr/>
          <a:lstStyle/>
          <a:p>
            <a:endParaRPr lang="en-US"/>
          </a:p>
        </p:txBody>
      </p:sp>
      <p:pic>
        <p:nvPicPr>
          <p:cNvPr id="121" name="Benchmark International" descr="Benchmark International"/>
          <p:cNvPicPr>
            <a:picLocks noChangeAspect="1"/>
          </p:cNvPicPr>
          <p:nvPr/>
        </p:nvPicPr>
        <p:blipFill>
          <a:blip r:embed="rId16"/>
          <a:stretch>
            <a:fillRect/>
          </a:stretch>
        </p:blipFill>
        <p:spPr>
          <a:xfrm>
            <a:off x="419100" y="7143750"/>
            <a:ext cx="914400" cy="171450"/>
          </a:xfrm>
          <a:prstGeom prst="rect">
            <a:avLst/>
          </a:prstGeom>
        </p:spPr>
      </p:pic>
      <p:sp>
        <p:nvSpPr>
          <p:cNvPr id="122" name="Text 12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Values and multiples are as stated by the acquirer or reported in the linked source. Value to revenue is our calculation where marked. Three transactions are shown for each of the four segments on pages 8 and 9.</a:t>
            </a:r>
            <a:endParaRPr lang="en-US" sz="675" dirty="0"/>
          </a:p>
        </p:txBody>
      </p:sp>
      <p:sp>
        <p:nvSpPr>
          <p:cNvPr id="123" name="Text 122"/>
          <p:cNvSpPr txBox="1"/>
          <p:nvPr/>
        </p:nvSpPr>
        <p:spPr>
          <a:xfrm>
            <a:off x="9494193" y="7162800"/>
            <a:ext cx="20225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09</a:t>
            </a:r>
            <a:endParaRPr lang="en-US" sz="713" dirty="0"/>
          </a:p>
        </p:txBody>
      </p:sp>
      <p:sp>
        <p:nvSpPr>
          <p:cNvPr id="125" name="Text 49">
            <a:extLst>
              <a:ext uri="{FF2B5EF4-FFF2-40B4-BE49-F238E27FC236}">
                <a16:creationId xmlns:a16="http://schemas.microsoft.com/office/drawing/2014/main" id="{7E27E061-5DAD-ADBA-A27B-47574D10E230}"/>
              </a:ext>
            </a:extLst>
          </p:cNvPr>
          <p:cNvSpPr txBox="1"/>
          <p:nvPr/>
        </p:nvSpPr>
        <p:spPr>
          <a:xfrm>
            <a:off x="7562850" y="4423321"/>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 2.9x</a:t>
            </a:r>
            <a:endParaRPr lang="en-US" sz="1200" dirty="0"/>
          </a:p>
        </p:txBody>
      </p:sp>
      <p:sp>
        <p:nvSpPr>
          <p:cNvPr id="127" name="Text 49">
            <a:extLst>
              <a:ext uri="{FF2B5EF4-FFF2-40B4-BE49-F238E27FC236}">
                <a16:creationId xmlns:a16="http://schemas.microsoft.com/office/drawing/2014/main" id="{A9103F5A-1547-B76B-4EB8-D98AB885361D}"/>
              </a:ext>
            </a:extLst>
          </p:cNvPr>
          <p:cNvSpPr txBox="1"/>
          <p:nvPr/>
        </p:nvSpPr>
        <p:spPr>
          <a:xfrm>
            <a:off x="8617893" y="4432846"/>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8.9x</a:t>
            </a:r>
            <a:endParaRPr lang="en-US" sz="1200" dirty="0"/>
          </a:p>
        </p:txBody>
      </p:sp>
      <p:sp>
        <p:nvSpPr>
          <p:cNvPr id="129" name="Text 50">
            <a:extLst>
              <a:ext uri="{FF2B5EF4-FFF2-40B4-BE49-F238E27FC236}">
                <a16:creationId xmlns:a16="http://schemas.microsoft.com/office/drawing/2014/main" id="{D92E3EB5-FE41-2FE7-2609-ADDA6615CD43}"/>
              </a:ext>
            </a:extLst>
          </p:cNvPr>
          <p:cNvSpPr txBox="1"/>
          <p:nvPr/>
        </p:nvSpPr>
        <p:spPr>
          <a:xfrm>
            <a:off x="7548562" y="4730130"/>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full-year 2025 Mister Car Wash financials </a:t>
            </a:r>
            <a:endParaRPr lang="en-US" sz="645" dirty="0"/>
          </a:p>
        </p:txBody>
      </p:sp>
      <p:sp>
        <p:nvSpPr>
          <p:cNvPr id="131" name="Text 50">
            <a:extLst>
              <a:ext uri="{FF2B5EF4-FFF2-40B4-BE49-F238E27FC236}">
                <a16:creationId xmlns:a16="http://schemas.microsoft.com/office/drawing/2014/main" id="{A25E990E-61F7-303E-C042-8C713585CE7B}"/>
              </a:ext>
            </a:extLst>
          </p:cNvPr>
          <p:cNvSpPr txBox="1"/>
          <p:nvPr/>
        </p:nvSpPr>
        <p:spPr>
          <a:xfrm>
            <a:off x="8513935" y="4720633"/>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full-year 2025 Mister Car Wash financials </a:t>
            </a:r>
            <a:endParaRPr lang="en-US" sz="645" dirty="0"/>
          </a:p>
        </p:txBody>
      </p:sp>
      <p:sp>
        <p:nvSpPr>
          <p:cNvPr id="133" name="Text 49">
            <a:extLst>
              <a:ext uri="{FF2B5EF4-FFF2-40B4-BE49-F238E27FC236}">
                <a16:creationId xmlns:a16="http://schemas.microsoft.com/office/drawing/2014/main" id="{D7CCE355-F9C3-4509-8E99-DF2CC9F75F67}"/>
              </a:ext>
            </a:extLst>
          </p:cNvPr>
          <p:cNvSpPr txBox="1"/>
          <p:nvPr/>
        </p:nvSpPr>
        <p:spPr>
          <a:xfrm>
            <a:off x="7577138" y="6289328"/>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2.7x</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Benchmark International’s Consumer Transactions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Consumer services and retail is the most active segment, and operating companies and platforms bought just over half of the named companies.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1619250" cy="5695950"/>
          </a:xfrm>
          <a:prstGeom prst="rect">
            <a:avLst/>
          </a:prstGeom>
          <a:solidFill>
            <a:srgbClr val="1B1A1A"/>
          </a:solidFill>
          <a:ln/>
        </p:spPr>
        <p:txBody>
          <a:bodyPr/>
          <a:lstStyle/>
          <a:p>
            <a:endParaRPr lang="en-US"/>
          </a:p>
        </p:txBody>
      </p:sp>
      <p:sp>
        <p:nvSpPr>
          <p:cNvPr id="10" name="Text 9"/>
          <p:cNvSpPr txBox="1"/>
          <p:nvPr/>
        </p:nvSpPr>
        <p:spPr>
          <a:xfrm>
            <a:off x="590550" y="1443038"/>
            <a:ext cx="129063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D3AE84"/>
                </a:solidFill>
                <a:latin typeface="Quicksand" pitchFamily="34" charset="0"/>
              </a:rPr>
              <a:t>SINCE JANUARY 2025</a:t>
            </a:r>
            <a:endParaRPr lang="en-US" sz="675" dirty="0"/>
          </a:p>
        </p:txBody>
      </p:sp>
      <p:sp>
        <p:nvSpPr>
          <p:cNvPr id="11" name="Text 10"/>
          <p:cNvSpPr txBox="1"/>
          <p:nvPr/>
        </p:nvSpPr>
        <p:spPr>
          <a:xfrm>
            <a:off x="590550" y="1847850"/>
            <a:ext cx="1276350"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32</a:t>
            </a:r>
            <a:endParaRPr lang="en-US" sz="3000" dirty="0"/>
          </a:p>
        </p:txBody>
      </p:sp>
      <p:sp>
        <p:nvSpPr>
          <p:cNvPr id="12" name="Text 11"/>
          <p:cNvSpPr txBox="1"/>
          <p:nvPr/>
        </p:nvSpPr>
        <p:spPr>
          <a:xfrm>
            <a:off x="590550" y="2259806"/>
            <a:ext cx="1290638" cy="442913"/>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consumer transactions closed in the four segments</a:t>
            </a:r>
            <a:endParaRPr lang="en-US" sz="795" dirty="0"/>
          </a:p>
        </p:txBody>
      </p:sp>
      <p:sp>
        <p:nvSpPr>
          <p:cNvPr id="13" name="Shape 12"/>
          <p:cNvSpPr/>
          <p:nvPr/>
        </p:nvSpPr>
        <p:spPr>
          <a:xfrm>
            <a:off x="590550" y="2862263"/>
            <a:ext cx="1276350" cy="9525"/>
          </a:xfrm>
          <a:prstGeom prst="rect">
            <a:avLst/>
          </a:prstGeom>
          <a:solidFill>
            <a:srgbClr val="D3AE84">
              <a:alpha val="30000"/>
            </a:srgbClr>
          </a:solidFill>
          <a:ln/>
        </p:spPr>
        <p:txBody>
          <a:bodyPr/>
          <a:lstStyle/>
          <a:p>
            <a:endParaRPr lang="en-US"/>
          </a:p>
        </p:txBody>
      </p:sp>
      <p:sp>
        <p:nvSpPr>
          <p:cNvPr id="14" name="Text 13"/>
          <p:cNvSpPr txBox="1"/>
          <p:nvPr/>
        </p:nvSpPr>
        <p:spPr>
          <a:xfrm>
            <a:off x="590550" y="3005138"/>
            <a:ext cx="1276350"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110</a:t>
            </a:r>
            <a:endParaRPr lang="en-US" sz="3000" dirty="0"/>
          </a:p>
        </p:txBody>
      </p:sp>
      <p:sp>
        <p:nvSpPr>
          <p:cNvPr id="15" name="Text 14"/>
          <p:cNvSpPr txBox="1"/>
          <p:nvPr/>
        </p:nvSpPr>
        <p:spPr>
          <a:xfrm>
            <a:off x="590550" y="3417094"/>
            <a:ext cx="1290638" cy="442913"/>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consumer engagements in progress as of October 1, 2026</a:t>
            </a:r>
            <a:endParaRPr lang="en-US" sz="795" dirty="0"/>
          </a:p>
        </p:txBody>
      </p:sp>
      <p:sp>
        <p:nvSpPr>
          <p:cNvPr id="16" name="Shape 15"/>
          <p:cNvSpPr/>
          <p:nvPr/>
        </p:nvSpPr>
        <p:spPr>
          <a:xfrm>
            <a:off x="590550" y="4019550"/>
            <a:ext cx="1276350" cy="9525"/>
          </a:xfrm>
          <a:prstGeom prst="rect">
            <a:avLst/>
          </a:prstGeom>
          <a:solidFill>
            <a:srgbClr val="D3AE84">
              <a:alpha val="30000"/>
            </a:srgbClr>
          </a:solidFill>
          <a:ln/>
        </p:spPr>
        <p:txBody>
          <a:bodyPr/>
          <a:lstStyle/>
          <a:p>
            <a:endParaRPr lang="en-US"/>
          </a:p>
        </p:txBody>
      </p:sp>
      <p:sp>
        <p:nvSpPr>
          <p:cNvPr id="17" name="Text 16"/>
          <p:cNvSpPr txBox="1"/>
          <p:nvPr/>
        </p:nvSpPr>
        <p:spPr>
          <a:xfrm>
            <a:off x="590550" y="4162425"/>
            <a:ext cx="1302693"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9 of 17</a:t>
            </a:r>
            <a:endParaRPr lang="en-US" sz="3000" dirty="0"/>
          </a:p>
        </p:txBody>
      </p:sp>
      <p:sp>
        <p:nvSpPr>
          <p:cNvPr id="18" name="Text 17"/>
          <p:cNvSpPr txBox="1"/>
          <p:nvPr/>
        </p:nvSpPr>
        <p:spPr>
          <a:xfrm>
            <a:off x="590550" y="4574381"/>
            <a:ext cx="1290638" cy="590550"/>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named acquirers were operating companies or platforms adding to an existing business</a:t>
            </a:r>
            <a:endParaRPr lang="en-US" sz="795" dirty="0"/>
          </a:p>
        </p:txBody>
      </p:sp>
      <p:sp>
        <p:nvSpPr>
          <p:cNvPr id="19" name="Shape 18"/>
          <p:cNvSpPr/>
          <p:nvPr/>
        </p:nvSpPr>
        <p:spPr>
          <a:xfrm>
            <a:off x="590550" y="5781675"/>
            <a:ext cx="1276350" cy="9525"/>
          </a:xfrm>
          <a:prstGeom prst="rect">
            <a:avLst/>
          </a:prstGeom>
          <a:solidFill>
            <a:srgbClr val="D3AE84">
              <a:alpha val="30000"/>
            </a:srgbClr>
          </a:solidFill>
          <a:ln/>
        </p:spPr>
        <p:txBody>
          <a:bodyPr/>
          <a:lstStyle/>
          <a:p>
            <a:endParaRPr lang="en-US"/>
          </a:p>
        </p:txBody>
      </p:sp>
      <p:sp>
        <p:nvSpPr>
          <p:cNvPr id="20" name="Text 19"/>
          <p:cNvSpPr txBox="1"/>
          <p:nvPr/>
        </p:nvSpPr>
        <p:spPr>
          <a:xfrm>
            <a:off x="590550" y="5924550"/>
            <a:ext cx="1290638" cy="800100"/>
          </a:xfrm>
          <a:prstGeom prst="rect">
            <a:avLst/>
          </a:prstGeom>
          <a:noFill/>
          <a:ln/>
        </p:spPr>
        <p:txBody>
          <a:bodyPr wrap="square" lIns="0" tIns="0" rIns="0" bIns="0" rtlCol="0" anchor="t"/>
          <a:lstStyle/>
          <a:p>
            <a:pPr marL="0" indent="0" algn="l">
              <a:lnSpc>
                <a:spcPts val="1050"/>
              </a:lnSpc>
              <a:buNone/>
            </a:pPr>
            <a:r>
              <a:rPr lang="en-US" sz="720" kern="0" spc="15" dirty="0">
                <a:solidFill>
                  <a:srgbClr val="E8E2DA"/>
                </a:solidFill>
                <a:latin typeface="Quicksand" pitchFamily="34" charset="0"/>
              </a:rPr>
              <a:t>Ranked the leading privately owned sell-side M&amp;A advisor in the world in PitchBook’s Q2 2026 Global League Tables (</a:t>
            </a:r>
            <a:r>
              <a:rPr lang="en-US" sz="720" u="sng" kern="0" spc="15" dirty="0">
                <a:solidFill>
                  <a:srgbClr val="D3AE84"/>
                </a:solidFill>
                <a:latin typeface="Quicksand" pitchFamily="34" charset="0"/>
                <a:hlinkClick r:id="rId3">
                  <a:extLst>
                    <a:ext uri="{A12FA001-AC4F-418D-AE19-62706E023703}">
                      <ahyp:hlinkClr xmlns:ahyp="http://schemas.microsoft.com/office/drawing/2018/hyperlinkcolor" val="tx"/>
                    </a:ext>
                  </a:extLst>
                </a:hlinkClick>
              </a:rPr>
              <a:t>Benchmark International</a:t>
            </a:r>
            <a:r>
              <a:rPr lang="en-US" sz="720" kern="0" spc="15" dirty="0">
                <a:solidFill>
                  <a:srgbClr val="E8E2DA"/>
                </a:solidFill>
                <a:latin typeface="Quicksand" pitchFamily="34" charset="0"/>
              </a:rPr>
              <a:t>).</a:t>
            </a:r>
            <a:endParaRPr lang="en-US" sz="720" dirty="0"/>
          </a:p>
        </p:txBody>
      </p:sp>
      <p:sp>
        <p:nvSpPr>
          <p:cNvPr id="21" name="Text 20"/>
          <p:cNvSpPr txBox="1"/>
          <p:nvPr/>
        </p:nvSpPr>
        <p:spPr>
          <a:xfrm>
            <a:off x="2190750" y="1233488"/>
            <a:ext cx="19050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BY SEGMENT</a:t>
            </a:r>
            <a:endParaRPr lang="en-US" sz="675" dirty="0"/>
          </a:p>
        </p:txBody>
      </p:sp>
      <p:sp>
        <p:nvSpPr>
          <p:cNvPr id="22" name="Text 21"/>
          <p:cNvSpPr txBox="1"/>
          <p:nvPr/>
        </p:nvSpPr>
        <p:spPr>
          <a:xfrm>
            <a:off x="2314575" y="1419225"/>
            <a:ext cx="347067"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Closed</a:t>
            </a:r>
            <a:endParaRPr lang="en-US" sz="705" dirty="0"/>
          </a:p>
        </p:txBody>
      </p:sp>
      <p:sp>
        <p:nvSpPr>
          <p:cNvPr id="23" name="Shape 22"/>
          <p:cNvSpPr/>
          <p:nvPr/>
        </p:nvSpPr>
        <p:spPr>
          <a:xfrm>
            <a:off x="2190750" y="1438275"/>
            <a:ext cx="85725" cy="85725"/>
          </a:xfrm>
          <a:prstGeom prst="rect">
            <a:avLst/>
          </a:prstGeom>
          <a:solidFill>
            <a:srgbClr val="B68757"/>
          </a:solidFill>
          <a:ln/>
        </p:spPr>
        <p:txBody>
          <a:bodyPr/>
          <a:lstStyle/>
          <a:p>
            <a:endParaRPr lang="en-US"/>
          </a:p>
        </p:txBody>
      </p:sp>
      <p:sp>
        <p:nvSpPr>
          <p:cNvPr id="24" name="Text 23"/>
          <p:cNvSpPr txBox="1"/>
          <p:nvPr/>
        </p:nvSpPr>
        <p:spPr>
          <a:xfrm>
            <a:off x="2871192" y="1419225"/>
            <a:ext cx="53935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In progress</a:t>
            </a:r>
            <a:endParaRPr lang="en-US" sz="705" dirty="0"/>
          </a:p>
        </p:txBody>
      </p:sp>
      <p:sp>
        <p:nvSpPr>
          <p:cNvPr id="25" name="Shape 24"/>
          <p:cNvSpPr/>
          <p:nvPr/>
        </p:nvSpPr>
        <p:spPr>
          <a:xfrm>
            <a:off x="2747367" y="1438275"/>
            <a:ext cx="85725" cy="85725"/>
          </a:xfrm>
          <a:prstGeom prst="rect">
            <a:avLst/>
          </a:prstGeom>
          <a:solidFill>
            <a:srgbClr val="C3BDB6"/>
          </a:solidFill>
          <a:ln/>
        </p:spPr>
        <p:txBody>
          <a:bodyPr/>
          <a:lstStyle/>
          <a:p>
            <a:endParaRPr lang="en-US"/>
          </a:p>
        </p:txBody>
      </p:sp>
      <p:sp>
        <p:nvSpPr>
          <p:cNvPr id="26" name="Shape 25"/>
          <p:cNvSpPr/>
          <p:nvPr/>
        </p:nvSpPr>
        <p:spPr>
          <a:xfrm>
            <a:off x="2190750" y="1600200"/>
            <a:ext cx="1905000" cy="9525"/>
          </a:xfrm>
          <a:prstGeom prst="rect">
            <a:avLst/>
          </a:prstGeom>
          <a:solidFill>
            <a:srgbClr val="E3DCD3"/>
          </a:solidFill>
          <a:ln/>
        </p:spPr>
        <p:txBody>
          <a:bodyPr/>
          <a:lstStyle/>
          <a:p>
            <a:endParaRPr lang="en-US"/>
          </a:p>
        </p:txBody>
      </p:sp>
      <p:pic>
        <p:nvPicPr>
          <p:cNvPr id="27" name="Icon" descr="/tmp/claude-0/-home-claude-about/4bef2f41-4227-5ff7-ab18-11ac74cd9797/scratchpad/pptx/ex/media/12a88f390be7.png"/>
          <p:cNvPicPr>
            <a:picLocks noChangeAspect="1"/>
          </p:cNvPicPr>
          <p:nvPr/>
        </p:nvPicPr>
        <p:blipFill>
          <a:blip r:embed="rId4"/>
          <a:stretch>
            <a:fillRect/>
          </a:stretch>
        </p:blipFill>
        <p:spPr>
          <a:xfrm>
            <a:off x="2190750" y="1883569"/>
            <a:ext cx="133350" cy="133350"/>
          </a:xfrm>
          <a:prstGeom prst="rect">
            <a:avLst/>
          </a:prstGeom>
        </p:spPr>
      </p:pic>
      <p:sp>
        <p:nvSpPr>
          <p:cNvPr id="28" name="Text 27"/>
          <p:cNvSpPr txBox="1"/>
          <p:nvPr/>
        </p:nvSpPr>
        <p:spPr>
          <a:xfrm>
            <a:off x="2390775" y="1878806"/>
            <a:ext cx="910828"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Food &amp; Beverage</a:t>
            </a:r>
            <a:endParaRPr lang="en-US" sz="780" dirty="0"/>
          </a:p>
        </p:txBody>
      </p:sp>
      <p:sp>
        <p:nvSpPr>
          <p:cNvPr id="29" name="Shape 28"/>
          <p:cNvSpPr/>
          <p:nvPr/>
        </p:nvSpPr>
        <p:spPr>
          <a:xfrm>
            <a:off x="2190750" y="2083594"/>
            <a:ext cx="86618" cy="104775"/>
          </a:xfrm>
          <a:prstGeom prst="rect">
            <a:avLst/>
          </a:prstGeom>
          <a:solidFill>
            <a:srgbClr val="B68757"/>
          </a:solidFill>
          <a:ln/>
        </p:spPr>
        <p:txBody>
          <a:bodyPr/>
          <a:lstStyle/>
          <a:p>
            <a:endParaRPr lang="en-US"/>
          </a:p>
        </p:txBody>
      </p:sp>
      <p:sp>
        <p:nvSpPr>
          <p:cNvPr id="30" name="Text 29"/>
          <p:cNvSpPr txBox="1"/>
          <p:nvPr/>
        </p:nvSpPr>
        <p:spPr>
          <a:xfrm>
            <a:off x="2334518" y="2078831"/>
            <a:ext cx="117872"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4</a:t>
            </a:r>
            <a:endParaRPr lang="en-US" sz="788" dirty="0"/>
          </a:p>
        </p:txBody>
      </p:sp>
      <p:sp>
        <p:nvSpPr>
          <p:cNvPr id="31" name="Shape 30"/>
          <p:cNvSpPr/>
          <p:nvPr/>
        </p:nvSpPr>
        <p:spPr>
          <a:xfrm>
            <a:off x="2190750" y="2226469"/>
            <a:ext cx="584746" cy="104775"/>
          </a:xfrm>
          <a:prstGeom prst="rect">
            <a:avLst/>
          </a:prstGeom>
          <a:solidFill>
            <a:srgbClr val="C3BDB6"/>
          </a:solidFill>
          <a:ln/>
        </p:spPr>
        <p:txBody>
          <a:bodyPr/>
          <a:lstStyle/>
          <a:p>
            <a:endParaRPr lang="en-US"/>
          </a:p>
        </p:txBody>
      </p:sp>
      <p:sp>
        <p:nvSpPr>
          <p:cNvPr id="32" name="Text 31"/>
          <p:cNvSpPr txBox="1"/>
          <p:nvPr/>
        </p:nvSpPr>
        <p:spPr>
          <a:xfrm>
            <a:off x="2832646" y="2221706"/>
            <a:ext cx="17278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27</a:t>
            </a:r>
            <a:endParaRPr lang="en-US" sz="788" dirty="0"/>
          </a:p>
        </p:txBody>
      </p:sp>
      <p:sp>
        <p:nvSpPr>
          <p:cNvPr id="33" name="Shape 32"/>
          <p:cNvSpPr/>
          <p:nvPr/>
        </p:nvSpPr>
        <p:spPr>
          <a:xfrm>
            <a:off x="2190750" y="2605088"/>
            <a:ext cx="1905000" cy="9525"/>
          </a:xfrm>
          <a:prstGeom prst="rect">
            <a:avLst/>
          </a:prstGeom>
          <a:solidFill>
            <a:srgbClr val="E3DCD3"/>
          </a:solidFill>
          <a:ln/>
        </p:spPr>
        <p:txBody>
          <a:bodyPr/>
          <a:lstStyle/>
          <a:p>
            <a:endParaRPr lang="en-US"/>
          </a:p>
        </p:txBody>
      </p:sp>
      <p:pic>
        <p:nvPicPr>
          <p:cNvPr id="34" name="Icon" descr="/tmp/claude-0/-home-claude-about/4bef2f41-4227-5ff7-ab18-11ac74cd9797/scratchpad/pptx/ex/media/850c46659f16.png"/>
          <p:cNvPicPr>
            <a:picLocks noChangeAspect="1"/>
          </p:cNvPicPr>
          <p:nvPr/>
        </p:nvPicPr>
        <p:blipFill>
          <a:blip r:embed="rId5"/>
          <a:stretch>
            <a:fillRect/>
          </a:stretch>
        </p:blipFill>
        <p:spPr>
          <a:xfrm>
            <a:off x="2190750" y="2888456"/>
            <a:ext cx="133350" cy="133350"/>
          </a:xfrm>
          <a:prstGeom prst="rect">
            <a:avLst/>
          </a:prstGeom>
        </p:spPr>
      </p:pic>
      <p:sp>
        <p:nvSpPr>
          <p:cNvPr id="35" name="Text 34"/>
          <p:cNvSpPr txBox="1"/>
          <p:nvPr/>
        </p:nvSpPr>
        <p:spPr>
          <a:xfrm>
            <a:off x="2390775" y="2883694"/>
            <a:ext cx="1504504"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Consumer Brands &amp; Products</a:t>
            </a:r>
            <a:endParaRPr lang="en-US" sz="780" dirty="0"/>
          </a:p>
        </p:txBody>
      </p:sp>
      <p:sp>
        <p:nvSpPr>
          <p:cNvPr id="36" name="Shape 35"/>
          <p:cNvSpPr/>
          <p:nvPr/>
        </p:nvSpPr>
        <p:spPr>
          <a:xfrm>
            <a:off x="2190750" y="3088481"/>
            <a:ext cx="42863" cy="104775"/>
          </a:xfrm>
          <a:prstGeom prst="rect">
            <a:avLst/>
          </a:prstGeom>
          <a:solidFill>
            <a:srgbClr val="B68757"/>
          </a:solidFill>
          <a:ln/>
        </p:spPr>
        <p:txBody>
          <a:bodyPr/>
          <a:lstStyle/>
          <a:p>
            <a:endParaRPr lang="en-US"/>
          </a:p>
        </p:txBody>
      </p:sp>
      <p:sp>
        <p:nvSpPr>
          <p:cNvPr id="37" name="Text 36"/>
          <p:cNvSpPr txBox="1"/>
          <p:nvPr/>
        </p:nvSpPr>
        <p:spPr>
          <a:xfrm>
            <a:off x="2290763" y="3083719"/>
            <a:ext cx="116086"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2</a:t>
            </a:r>
            <a:endParaRPr lang="en-US" sz="788" dirty="0"/>
          </a:p>
        </p:txBody>
      </p:sp>
      <p:sp>
        <p:nvSpPr>
          <p:cNvPr id="38" name="Shape 37"/>
          <p:cNvSpPr/>
          <p:nvPr/>
        </p:nvSpPr>
        <p:spPr>
          <a:xfrm>
            <a:off x="2190750" y="3231356"/>
            <a:ext cx="260003" cy="104775"/>
          </a:xfrm>
          <a:prstGeom prst="rect">
            <a:avLst/>
          </a:prstGeom>
          <a:solidFill>
            <a:srgbClr val="C3BDB6"/>
          </a:solidFill>
          <a:ln/>
        </p:spPr>
        <p:txBody>
          <a:bodyPr/>
          <a:lstStyle/>
          <a:p>
            <a:endParaRPr lang="en-US"/>
          </a:p>
        </p:txBody>
      </p:sp>
      <p:sp>
        <p:nvSpPr>
          <p:cNvPr id="39" name="Text 38"/>
          <p:cNvSpPr txBox="1"/>
          <p:nvPr/>
        </p:nvSpPr>
        <p:spPr>
          <a:xfrm>
            <a:off x="2507903" y="3226594"/>
            <a:ext cx="156865"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12</a:t>
            </a:r>
            <a:endParaRPr lang="en-US" sz="788" dirty="0"/>
          </a:p>
        </p:txBody>
      </p:sp>
      <p:sp>
        <p:nvSpPr>
          <p:cNvPr id="40" name="Shape 39"/>
          <p:cNvSpPr/>
          <p:nvPr/>
        </p:nvSpPr>
        <p:spPr>
          <a:xfrm>
            <a:off x="2190750" y="3609975"/>
            <a:ext cx="1905000" cy="9525"/>
          </a:xfrm>
          <a:prstGeom prst="rect">
            <a:avLst/>
          </a:prstGeom>
          <a:solidFill>
            <a:srgbClr val="E3DCD3"/>
          </a:solidFill>
          <a:ln/>
        </p:spPr>
        <p:txBody>
          <a:bodyPr/>
          <a:lstStyle/>
          <a:p>
            <a:endParaRPr lang="en-US"/>
          </a:p>
        </p:txBody>
      </p:sp>
      <p:pic>
        <p:nvPicPr>
          <p:cNvPr id="41" name="Icon" descr="/tmp/claude-0/-home-claude-about/4bef2f41-4227-5ff7-ab18-11ac74cd9797/scratchpad/pptx/ex/media/2fc6f7a740ba.png"/>
          <p:cNvPicPr>
            <a:picLocks noChangeAspect="1"/>
          </p:cNvPicPr>
          <p:nvPr/>
        </p:nvPicPr>
        <p:blipFill>
          <a:blip r:embed="rId6"/>
          <a:stretch>
            <a:fillRect/>
          </a:stretch>
        </p:blipFill>
        <p:spPr>
          <a:xfrm>
            <a:off x="2190750" y="3893344"/>
            <a:ext cx="133350" cy="133350"/>
          </a:xfrm>
          <a:prstGeom prst="rect">
            <a:avLst/>
          </a:prstGeom>
        </p:spPr>
      </p:pic>
      <p:sp>
        <p:nvSpPr>
          <p:cNvPr id="42" name="Text 41"/>
          <p:cNvSpPr txBox="1"/>
          <p:nvPr/>
        </p:nvSpPr>
        <p:spPr>
          <a:xfrm>
            <a:off x="2390775" y="3888581"/>
            <a:ext cx="1368475"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Foodservice &amp; Distribution</a:t>
            </a:r>
            <a:endParaRPr lang="en-US" sz="780" dirty="0"/>
          </a:p>
        </p:txBody>
      </p:sp>
      <p:sp>
        <p:nvSpPr>
          <p:cNvPr id="43" name="Shape 42"/>
          <p:cNvSpPr/>
          <p:nvPr/>
        </p:nvSpPr>
        <p:spPr>
          <a:xfrm>
            <a:off x="2190750" y="4093369"/>
            <a:ext cx="129480" cy="104775"/>
          </a:xfrm>
          <a:prstGeom prst="rect">
            <a:avLst/>
          </a:prstGeom>
          <a:solidFill>
            <a:srgbClr val="B68757"/>
          </a:solidFill>
          <a:ln/>
        </p:spPr>
        <p:txBody>
          <a:bodyPr/>
          <a:lstStyle/>
          <a:p>
            <a:endParaRPr lang="en-US"/>
          </a:p>
        </p:txBody>
      </p:sp>
      <p:sp>
        <p:nvSpPr>
          <p:cNvPr id="44" name="Text 43"/>
          <p:cNvSpPr txBox="1"/>
          <p:nvPr/>
        </p:nvSpPr>
        <p:spPr>
          <a:xfrm>
            <a:off x="2377380" y="4088606"/>
            <a:ext cx="11444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6</a:t>
            </a:r>
            <a:endParaRPr lang="en-US" sz="788" dirty="0"/>
          </a:p>
        </p:txBody>
      </p:sp>
      <p:sp>
        <p:nvSpPr>
          <p:cNvPr id="45" name="Shape 44"/>
          <p:cNvSpPr/>
          <p:nvPr/>
        </p:nvSpPr>
        <p:spPr>
          <a:xfrm>
            <a:off x="2190750" y="4236244"/>
            <a:ext cx="108496" cy="104775"/>
          </a:xfrm>
          <a:prstGeom prst="rect">
            <a:avLst/>
          </a:prstGeom>
          <a:solidFill>
            <a:srgbClr val="C3BDB6"/>
          </a:solidFill>
          <a:ln/>
        </p:spPr>
        <p:txBody>
          <a:bodyPr/>
          <a:lstStyle/>
          <a:p>
            <a:endParaRPr lang="en-US"/>
          </a:p>
        </p:txBody>
      </p:sp>
      <p:sp>
        <p:nvSpPr>
          <p:cNvPr id="46" name="Text 45"/>
          <p:cNvSpPr txBox="1"/>
          <p:nvPr/>
        </p:nvSpPr>
        <p:spPr>
          <a:xfrm>
            <a:off x="2356396" y="4231481"/>
            <a:ext cx="116681"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5</a:t>
            </a:r>
            <a:endParaRPr lang="en-US" sz="788" dirty="0"/>
          </a:p>
        </p:txBody>
      </p:sp>
      <p:sp>
        <p:nvSpPr>
          <p:cNvPr id="47" name="Shape 46"/>
          <p:cNvSpPr/>
          <p:nvPr/>
        </p:nvSpPr>
        <p:spPr>
          <a:xfrm>
            <a:off x="2190750" y="4614863"/>
            <a:ext cx="1905000" cy="9525"/>
          </a:xfrm>
          <a:prstGeom prst="rect">
            <a:avLst/>
          </a:prstGeom>
          <a:solidFill>
            <a:srgbClr val="E3DCD3"/>
          </a:solidFill>
          <a:ln/>
        </p:spPr>
        <p:txBody>
          <a:bodyPr/>
          <a:lstStyle/>
          <a:p>
            <a:endParaRPr lang="en-US"/>
          </a:p>
        </p:txBody>
      </p:sp>
      <p:pic>
        <p:nvPicPr>
          <p:cNvPr id="48" name="Icon" descr="/tmp/claude-0/-home-claude-about/4bef2f41-4227-5ff7-ab18-11ac74cd9797/scratchpad/pptx/ex/media/151feb1fc16e.png"/>
          <p:cNvPicPr>
            <a:picLocks noChangeAspect="1"/>
          </p:cNvPicPr>
          <p:nvPr/>
        </p:nvPicPr>
        <p:blipFill>
          <a:blip r:embed="rId7"/>
          <a:stretch>
            <a:fillRect/>
          </a:stretch>
        </p:blipFill>
        <p:spPr>
          <a:xfrm>
            <a:off x="2190750" y="4898231"/>
            <a:ext cx="133350" cy="133350"/>
          </a:xfrm>
          <a:prstGeom prst="rect">
            <a:avLst/>
          </a:prstGeom>
        </p:spPr>
      </p:pic>
      <p:sp>
        <p:nvSpPr>
          <p:cNvPr id="49" name="Text 48"/>
          <p:cNvSpPr txBox="1"/>
          <p:nvPr/>
        </p:nvSpPr>
        <p:spPr>
          <a:xfrm>
            <a:off x="2390775" y="4893469"/>
            <a:ext cx="1421755"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Consumer Services &amp; Retail</a:t>
            </a:r>
            <a:endParaRPr lang="en-US" sz="780" dirty="0"/>
          </a:p>
        </p:txBody>
      </p:sp>
      <p:sp>
        <p:nvSpPr>
          <p:cNvPr id="50" name="Shape 49"/>
          <p:cNvSpPr/>
          <p:nvPr/>
        </p:nvSpPr>
        <p:spPr>
          <a:xfrm>
            <a:off x="2190750" y="5098256"/>
            <a:ext cx="433388" cy="104775"/>
          </a:xfrm>
          <a:prstGeom prst="rect">
            <a:avLst/>
          </a:prstGeom>
          <a:solidFill>
            <a:srgbClr val="B68757"/>
          </a:solidFill>
          <a:ln/>
        </p:spPr>
        <p:txBody>
          <a:bodyPr/>
          <a:lstStyle/>
          <a:p>
            <a:endParaRPr lang="en-US"/>
          </a:p>
        </p:txBody>
      </p:sp>
      <p:sp>
        <p:nvSpPr>
          <p:cNvPr id="51" name="Text 50"/>
          <p:cNvSpPr txBox="1"/>
          <p:nvPr/>
        </p:nvSpPr>
        <p:spPr>
          <a:xfrm>
            <a:off x="2681288" y="5093494"/>
            <a:ext cx="179338"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20</a:t>
            </a:r>
            <a:endParaRPr lang="en-US" sz="788" dirty="0"/>
          </a:p>
        </p:txBody>
      </p:sp>
      <p:sp>
        <p:nvSpPr>
          <p:cNvPr id="52" name="Shape 51"/>
          <p:cNvSpPr/>
          <p:nvPr/>
        </p:nvSpPr>
        <p:spPr>
          <a:xfrm>
            <a:off x="2190750" y="5241131"/>
            <a:ext cx="1428750" cy="104775"/>
          </a:xfrm>
          <a:prstGeom prst="rect">
            <a:avLst/>
          </a:prstGeom>
          <a:solidFill>
            <a:srgbClr val="C3BDB6"/>
          </a:solidFill>
          <a:ln/>
        </p:spPr>
        <p:txBody>
          <a:bodyPr/>
          <a:lstStyle/>
          <a:p>
            <a:endParaRPr lang="en-US"/>
          </a:p>
        </p:txBody>
      </p:sp>
      <p:sp>
        <p:nvSpPr>
          <p:cNvPr id="53" name="Text 52"/>
          <p:cNvSpPr txBox="1"/>
          <p:nvPr/>
        </p:nvSpPr>
        <p:spPr>
          <a:xfrm>
            <a:off x="3676650" y="5236369"/>
            <a:ext cx="17159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66</a:t>
            </a:r>
            <a:endParaRPr lang="en-US" sz="788" dirty="0"/>
          </a:p>
        </p:txBody>
      </p:sp>
      <p:sp>
        <p:nvSpPr>
          <p:cNvPr id="54" name="Shape 53"/>
          <p:cNvSpPr/>
          <p:nvPr/>
        </p:nvSpPr>
        <p:spPr>
          <a:xfrm>
            <a:off x="2190750" y="5619750"/>
            <a:ext cx="1905000" cy="9525"/>
          </a:xfrm>
          <a:prstGeom prst="rect">
            <a:avLst/>
          </a:prstGeom>
          <a:solidFill>
            <a:srgbClr val="E3DCD3"/>
          </a:solidFill>
          <a:ln/>
        </p:spPr>
        <p:txBody>
          <a:bodyPr/>
          <a:lstStyle/>
          <a:p>
            <a:endParaRPr lang="en-US"/>
          </a:p>
        </p:txBody>
      </p:sp>
      <p:sp>
        <p:nvSpPr>
          <p:cNvPr id="55" name="Text 54"/>
          <p:cNvSpPr txBox="1"/>
          <p:nvPr/>
        </p:nvSpPr>
        <p:spPr>
          <a:xfrm>
            <a:off x="2190750" y="5719763"/>
            <a:ext cx="191928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8C6239"/>
                </a:solidFill>
                <a:latin typeface="Quicksand" pitchFamily="34" charset="0"/>
              </a:rPr>
              <a:t>WHO BOUGHT THE 17 NAMED COMPANIES</a:t>
            </a:r>
            <a:endParaRPr lang="en-US" sz="675" dirty="0"/>
          </a:p>
        </p:txBody>
      </p:sp>
      <p:sp>
        <p:nvSpPr>
          <p:cNvPr id="56" name="Shape 55"/>
          <p:cNvSpPr/>
          <p:nvPr/>
        </p:nvSpPr>
        <p:spPr>
          <a:xfrm>
            <a:off x="2190750" y="6057900"/>
            <a:ext cx="988368" cy="114300"/>
          </a:xfrm>
          <a:prstGeom prst="rect">
            <a:avLst/>
          </a:prstGeom>
          <a:solidFill>
            <a:srgbClr val="B68757"/>
          </a:solidFill>
          <a:ln/>
        </p:spPr>
        <p:txBody>
          <a:bodyPr/>
          <a:lstStyle/>
          <a:p>
            <a:endParaRPr lang="en-US"/>
          </a:p>
        </p:txBody>
      </p:sp>
      <p:sp>
        <p:nvSpPr>
          <p:cNvPr id="57" name="Shape 56"/>
          <p:cNvSpPr/>
          <p:nvPr/>
        </p:nvSpPr>
        <p:spPr>
          <a:xfrm>
            <a:off x="3198168" y="6057900"/>
            <a:ext cx="658862" cy="114300"/>
          </a:xfrm>
          <a:prstGeom prst="rect">
            <a:avLst/>
          </a:prstGeom>
          <a:solidFill>
            <a:srgbClr val="1B1A1A"/>
          </a:solidFill>
          <a:ln/>
        </p:spPr>
        <p:txBody>
          <a:bodyPr/>
          <a:lstStyle/>
          <a:p>
            <a:endParaRPr lang="en-US"/>
          </a:p>
        </p:txBody>
      </p:sp>
      <p:sp>
        <p:nvSpPr>
          <p:cNvPr id="58" name="Shape 57"/>
          <p:cNvSpPr/>
          <p:nvPr/>
        </p:nvSpPr>
        <p:spPr>
          <a:xfrm>
            <a:off x="3876080" y="6057900"/>
            <a:ext cx="219670" cy="114300"/>
          </a:xfrm>
          <a:prstGeom prst="rect">
            <a:avLst/>
          </a:prstGeom>
          <a:solidFill>
            <a:srgbClr val="C3BDB6"/>
          </a:solidFill>
          <a:ln/>
        </p:spPr>
        <p:txBody>
          <a:bodyPr/>
          <a:lstStyle/>
          <a:p>
            <a:endParaRPr lang="en-US"/>
          </a:p>
        </p:txBody>
      </p:sp>
      <p:sp>
        <p:nvSpPr>
          <p:cNvPr id="59" name="Shape 58"/>
          <p:cNvSpPr/>
          <p:nvPr/>
        </p:nvSpPr>
        <p:spPr>
          <a:xfrm>
            <a:off x="2190750" y="6238875"/>
            <a:ext cx="85725" cy="85725"/>
          </a:xfrm>
          <a:prstGeom prst="rect">
            <a:avLst/>
          </a:prstGeom>
          <a:solidFill>
            <a:srgbClr val="B68757"/>
          </a:solidFill>
          <a:ln/>
        </p:spPr>
        <p:txBody>
          <a:bodyPr/>
          <a:lstStyle/>
          <a:p>
            <a:endParaRPr lang="en-US"/>
          </a:p>
        </p:txBody>
      </p:sp>
      <p:sp>
        <p:nvSpPr>
          <p:cNvPr id="60" name="Text 59"/>
          <p:cNvSpPr txBox="1"/>
          <p:nvPr/>
        </p:nvSpPr>
        <p:spPr>
          <a:xfrm>
            <a:off x="2333625" y="6212681"/>
            <a:ext cx="1665387" cy="238125"/>
          </a:xfrm>
          <a:prstGeom prst="rect">
            <a:avLst/>
          </a:prstGeom>
          <a:noFill/>
          <a:ln/>
        </p:spPr>
        <p:txBody>
          <a:bodyPr wrap="square" lIns="0" tIns="0" rIns="0" bIns="0" rtlCol="0" anchor="t"/>
          <a:lstStyle/>
          <a:p>
            <a:pPr marL="0" indent="0" algn="l">
              <a:lnSpc>
                <a:spcPts val="938"/>
              </a:lnSpc>
              <a:buNone/>
            </a:pPr>
            <a:r>
              <a:rPr lang="en-US" sz="690" kern="0" spc="15" dirty="0">
                <a:solidFill>
                  <a:srgbClr val="333231"/>
                </a:solidFill>
                <a:latin typeface="Quicksand" pitchFamily="34" charset="0"/>
              </a:rPr>
              <a:t>Operating companies and platforms adding to an existing business</a:t>
            </a:r>
            <a:endParaRPr lang="en-US" sz="690" dirty="0"/>
          </a:p>
        </p:txBody>
      </p:sp>
      <p:sp>
        <p:nvSpPr>
          <p:cNvPr id="61" name="Text 60"/>
          <p:cNvSpPr txBox="1"/>
          <p:nvPr/>
        </p:nvSpPr>
        <p:spPr>
          <a:xfrm>
            <a:off x="4041874" y="6215063"/>
            <a:ext cx="111026"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9</a:t>
            </a:r>
            <a:endParaRPr lang="en-US" sz="720" dirty="0"/>
          </a:p>
        </p:txBody>
      </p:sp>
      <p:sp>
        <p:nvSpPr>
          <p:cNvPr id="62" name="Shape 61"/>
          <p:cNvSpPr/>
          <p:nvPr/>
        </p:nvSpPr>
        <p:spPr>
          <a:xfrm>
            <a:off x="2190750" y="6515100"/>
            <a:ext cx="85725" cy="85725"/>
          </a:xfrm>
          <a:prstGeom prst="rect">
            <a:avLst/>
          </a:prstGeom>
          <a:solidFill>
            <a:srgbClr val="1B1A1A"/>
          </a:solidFill>
          <a:ln/>
        </p:spPr>
        <p:txBody>
          <a:bodyPr/>
          <a:lstStyle/>
          <a:p>
            <a:endParaRPr lang="en-US"/>
          </a:p>
        </p:txBody>
      </p:sp>
      <p:sp>
        <p:nvSpPr>
          <p:cNvPr id="63" name="Text 62"/>
          <p:cNvSpPr txBox="1"/>
          <p:nvPr/>
        </p:nvSpPr>
        <p:spPr>
          <a:xfrm>
            <a:off x="2333625" y="6488906"/>
            <a:ext cx="1666726" cy="238125"/>
          </a:xfrm>
          <a:prstGeom prst="rect">
            <a:avLst/>
          </a:prstGeom>
          <a:noFill/>
          <a:ln/>
        </p:spPr>
        <p:txBody>
          <a:bodyPr wrap="square" lIns="0" tIns="0" rIns="0" bIns="0" rtlCol="0" anchor="t"/>
          <a:lstStyle/>
          <a:p>
            <a:pPr marL="0" indent="0" algn="l">
              <a:lnSpc>
                <a:spcPts val="938"/>
              </a:lnSpc>
              <a:buNone/>
            </a:pPr>
            <a:r>
              <a:rPr lang="en-US" sz="690" kern="0" spc="15" dirty="0">
                <a:solidFill>
                  <a:srgbClr val="333231"/>
                </a:solidFill>
                <a:latin typeface="Quicksand" pitchFamily="34" charset="0"/>
              </a:rPr>
              <a:t>Private equity and private investment firms</a:t>
            </a:r>
            <a:endParaRPr lang="en-US" sz="690" dirty="0"/>
          </a:p>
        </p:txBody>
      </p:sp>
      <p:sp>
        <p:nvSpPr>
          <p:cNvPr id="64" name="Text 63"/>
          <p:cNvSpPr txBox="1"/>
          <p:nvPr/>
        </p:nvSpPr>
        <p:spPr>
          <a:xfrm>
            <a:off x="4043214" y="6491288"/>
            <a:ext cx="109686"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6</a:t>
            </a:r>
            <a:endParaRPr lang="en-US" sz="720" dirty="0"/>
          </a:p>
        </p:txBody>
      </p:sp>
      <p:sp>
        <p:nvSpPr>
          <p:cNvPr id="65" name="Shape 64"/>
          <p:cNvSpPr/>
          <p:nvPr/>
        </p:nvSpPr>
        <p:spPr>
          <a:xfrm>
            <a:off x="2190750" y="6791325"/>
            <a:ext cx="85725" cy="85725"/>
          </a:xfrm>
          <a:prstGeom prst="rect">
            <a:avLst/>
          </a:prstGeom>
          <a:solidFill>
            <a:srgbClr val="C3BDB6"/>
          </a:solidFill>
          <a:ln/>
        </p:spPr>
        <p:txBody>
          <a:bodyPr/>
          <a:lstStyle/>
          <a:p>
            <a:endParaRPr lang="en-US"/>
          </a:p>
        </p:txBody>
      </p:sp>
      <p:sp>
        <p:nvSpPr>
          <p:cNvPr id="66" name="Text 65"/>
          <p:cNvSpPr txBox="1"/>
          <p:nvPr/>
        </p:nvSpPr>
        <p:spPr>
          <a:xfrm>
            <a:off x="2333625" y="6765131"/>
            <a:ext cx="1705273" cy="119063"/>
          </a:xfrm>
          <a:prstGeom prst="rect">
            <a:avLst/>
          </a:prstGeom>
          <a:noFill/>
          <a:ln/>
        </p:spPr>
        <p:txBody>
          <a:bodyPr wrap="none" lIns="0" tIns="0" rIns="0" bIns="0" rtlCol="0" anchor="t"/>
          <a:lstStyle/>
          <a:p>
            <a:pPr marL="0" indent="0" algn="l">
              <a:lnSpc>
                <a:spcPts val="938"/>
              </a:lnSpc>
              <a:buNone/>
            </a:pPr>
            <a:r>
              <a:rPr lang="en-US" sz="690" kern="0" spc="15" dirty="0">
                <a:solidFill>
                  <a:srgbClr val="333231"/>
                </a:solidFill>
                <a:latin typeface="Quicksand" pitchFamily="34" charset="0"/>
              </a:rPr>
              <a:t>Individual and entrepreneur-led buyers</a:t>
            </a:r>
            <a:endParaRPr lang="en-US" sz="690" dirty="0"/>
          </a:p>
        </p:txBody>
      </p:sp>
      <p:sp>
        <p:nvSpPr>
          <p:cNvPr id="67" name="Text 66"/>
          <p:cNvSpPr txBox="1"/>
          <p:nvPr/>
        </p:nvSpPr>
        <p:spPr>
          <a:xfrm>
            <a:off x="4041725" y="6767513"/>
            <a:ext cx="111175"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2</a:t>
            </a:r>
            <a:endParaRPr lang="en-US" sz="720" dirty="0"/>
          </a:p>
        </p:txBody>
      </p:sp>
      <p:sp>
        <p:nvSpPr>
          <p:cNvPr id="68" name="Text 67"/>
          <p:cNvSpPr txBox="1"/>
          <p:nvPr/>
        </p:nvSpPr>
        <p:spPr>
          <a:xfrm>
            <a:off x="4248150" y="1233488"/>
            <a:ext cx="539115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ANNOUNCED ENGAGEMENTS, BY MONTH OF ANNOUNCEMENT</a:t>
            </a:r>
            <a:endParaRPr lang="en-US" sz="675" dirty="0"/>
          </a:p>
        </p:txBody>
      </p:sp>
      <p:sp>
        <p:nvSpPr>
          <p:cNvPr id="69" name="Shape 68"/>
          <p:cNvSpPr/>
          <p:nvPr/>
        </p:nvSpPr>
        <p:spPr>
          <a:xfrm>
            <a:off x="4248150" y="1438275"/>
            <a:ext cx="1746200" cy="860375"/>
          </a:xfrm>
          <a:prstGeom prst="rect">
            <a:avLst/>
          </a:prstGeom>
          <a:solidFill>
            <a:srgbClr val="FAF7F3"/>
          </a:solidFill>
          <a:ln/>
        </p:spPr>
        <p:txBody>
          <a:bodyPr/>
          <a:lstStyle/>
          <a:p>
            <a:endParaRPr lang="en-US"/>
          </a:p>
        </p:txBody>
      </p:sp>
      <p:sp>
        <p:nvSpPr>
          <p:cNvPr id="70" name="Shape 69"/>
          <p:cNvSpPr/>
          <p:nvPr/>
        </p:nvSpPr>
        <p:spPr>
          <a:xfrm>
            <a:off x="4248150" y="1438275"/>
            <a:ext cx="1746200" cy="19050"/>
          </a:xfrm>
          <a:prstGeom prst="rect">
            <a:avLst/>
          </a:prstGeom>
          <a:solidFill>
            <a:srgbClr val="B68757"/>
          </a:solidFill>
          <a:ln/>
        </p:spPr>
        <p:txBody>
          <a:bodyPr/>
          <a:lstStyle/>
          <a:p>
            <a:endParaRPr lang="en-US"/>
          </a:p>
        </p:txBody>
      </p:sp>
      <p:sp>
        <p:nvSpPr>
          <p:cNvPr id="71" name="Text 70">
            <a:hlinkClick r:id="rId8"/>
          </p:cNvPr>
          <p:cNvSpPr txBox="1"/>
          <p:nvPr/>
        </p:nvSpPr>
        <p:spPr>
          <a:xfrm>
            <a:off x="4343400" y="1458516"/>
            <a:ext cx="51092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SEPT 2026</a:t>
            </a:r>
            <a:endParaRPr lang="en-US" sz="555" dirty="0"/>
          </a:p>
        </p:txBody>
      </p:sp>
      <p:sp>
        <p:nvSpPr>
          <p:cNvPr id="72" name="Text 71">
            <a:hlinkClick r:id="rId8"/>
          </p:cNvPr>
          <p:cNvSpPr txBox="1"/>
          <p:nvPr/>
        </p:nvSpPr>
        <p:spPr>
          <a:xfrm>
            <a:off x="4840039" y="1458516"/>
            <a:ext cx="1059061"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73" name="Text 72">
            <a:hlinkClick r:id="rId8"/>
          </p:cNvPr>
          <p:cNvSpPr txBox="1"/>
          <p:nvPr/>
        </p:nvSpPr>
        <p:spPr>
          <a:xfrm>
            <a:off x="4343400" y="16847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GILCO RESTORATION</a:t>
            </a:r>
            <a:endParaRPr lang="en-US" sz="780" dirty="0"/>
          </a:p>
        </p:txBody>
      </p:sp>
      <p:sp>
        <p:nvSpPr>
          <p:cNvPr id="74" name="Text 73">
            <a:hlinkClick r:id="rId8"/>
          </p:cNvPr>
          <p:cNvSpPr txBox="1"/>
          <p:nvPr/>
        </p:nvSpPr>
        <p:spPr>
          <a:xfrm>
            <a:off x="4343400" y="18047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Fire and water damage restoration, Williamsburg, VA</a:t>
            </a:r>
            <a:endParaRPr lang="en-US" sz="660" dirty="0"/>
          </a:p>
        </p:txBody>
      </p:sp>
      <p:sp>
        <p:nvSpPr>
          <p:cNvPr id="75" name="Text 74">
            <a:hlinkClick r:id="rId8"/>
          </p:cNvPr>
          <p:cNvSpPr txBox="1"/>
          <p:nvPr/>
        </p:nvSpPr>
        <p:spPr>
          <a:xfrm>
            <a:off x="4343400" y="20475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Thomasville Restoration</a:t>
            </a:r>
            <a:endParaRPr lang="en-US" sz="555" dirty="0"/>
          </a:p>
        </p:txBody>
      </p:sp>
      <p:sp>
        <p:nvSpPr>
          <p:cNvPr id="76" name="Shape 75"/>
          <p:cNvSpPr/>
          <p:nvPr/>
        </p:nvSpPr>
        <p:spPr>
          <a:xfrm>
            <a:off x="6070550" y="1438275"/>
            <a:ext cx="1746200" cy="860375"/>
          </a:xfrm>
          <a:prstGeom prst="rect">
            <a:avLst/>
          </a:prstGeom>
          <a:solidFill>
            <a:srgbClr val="FAF7F3"/>
          </a:solidFill>
          <a:ln/>
        </p:spPr>
        <p:txBody>
          <a:bodyPr/>
          <a:lstStyle/>
          <a:p>
            <a:endParaRPr lang="en-US"/>
          </a:p>
        </p:txBody>
      </p:sp>
      <p:sp>
        <p:nvSpPr>
          <p:cNvPr id="77" name="Shape 76"/>
          <p:cNvSpPr/>
          <p:nvPr/>
        </p:nvSpPr>
        <p:spPr>
          <a:xfrm>
            <a:off x="6070550" y="1438275"/>
            <a:ext cx="1746200" cy="19050"/>
          </a:xfrm>
          <a:prstGeom prst="rect">
            <a:avLst/>
          </a:prstGeom>
          <a:solidFill>
            <a:srgbClr val="B68757"/>
          </a:solidFill>
          <a:ln/>
        </p:spPr>
        <p:txBody>
          <a:bodyPr/>
          <a:lstStyle/>
          <a:p>
            <a:endParaRPr lang="en-US"/>
          </a:p>
        </p:txBody>
      </p:sp>
      <p:sp>
        <p:nvSpPr>
          <p:cNvPr id="78" name="Text 77">
            <a:hlinkClick r:id="rId9"/>
          </p:cNvPr>
          <p:cNvSpPr txBox="1"/>
          <p:nvPr/>
        </p:nvSpPr>
        <p:spPr>
          <a:xfrm>
            <a:off x="6165800" y="1458516"/>
            <a:ext cx="51092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SEPT 2026</a:t>
            </a:r>
            <a:endParaRPr lang="en-US" sz="555" dirty="0"/>
          </a:p>
        </p:txBody>
      </p:sp>
      <p:sp>
        <p:nvSpPr>
          <p:cNvPr id="79" name="Text 78">
            <a:hlinkClick r:id="rId9"/>
          </p:cNvPr>
          <p:cNvSpPr txBox="1"/>
          <p:nvPr/>
        </p:nvSpPr>
        <p:spPr>
          <a:xfrm>
            <a:off x="6662440" y="1458516"/>
            <a:ext cx="1059061"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80" name="Text 79">
            <a:hlinkClick r:id="rId9"/>
          </p:cNvPr>
          <p:cNvSpPr txBox="1"/>
          <p:nvPr/>
        </p:nvSpPr>
        <p:spPr>
          <a:xfrm>
            <a:off x="6165800" y="16847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EDISON MARTIAL ARTS</a:t>
            </a:r>
            <a:endParaRPr lang="en-US" sz="780" dirty="0"/>
          </a:p>
        </p:txBody>
      </p:sp>
      <p:sp>
        <p:nvSpPr>
          <p:cNvPr id="81" name="Text 80">
            <a:hlinkClick r:id="rId9"/>
          </p:cNvPr>
          <p:cNvSpPr txBox="1"/>
          <p:nvPr/>
        </p:nvSpPr>
        <p:spPr>
          <a:xfrm>
            <a:off x="6165800" y="18047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Six martial arts academies, New Jersey</a:t>
            </a:r>
            <a:endParaRPr lang="en-US" sz="660" dirty="0"/>
          </a:p>
        </p:txBody>
      </p:sp>
      <p:sp>
        <p:nvSpPr>
          <p:cNvPr id="82" name="Text 81">
            <a:hlinkClick r:id="rId9"/>
          </p:cNvPr>
          <p:cNvSpPr txBox="1"/>
          <p:nvPr/>
        </p:nvSpPr>
        <p:spPr>
          <a:xfrm>
            <a:off x="6165800" y="20475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Elevate Youth Development</a:t>
            </a:r>
            <a:endParaRPr lang="en-US" sz="555" dirty="0"/>
          </a:p>
        </p:txBody>
      </p:sp>
      <p:sp>
        <p:nvSpPr>
          <p:cNvPr id="83" name="Shape 82"/>
          <p:cNvSpPr/>
          <p:nvPr/>
        </p:nvSpPr>
        <p:spPr>
          <a:xfrm>
            <a:off x="7892951" y="1438275"/>
            <a:ext cx="1746200" cy="860375"/>
          </a:xfrm>
          <a:prstGeom prst="rect">
            <a:avLst/>
          </a:prstGeom>
          <a:solidFill>
            <a:srgbClr val="FAF7F3"/>
          </a:solidFill>
          <a:ln/>
        </p:spPr>
        <p:txBody>
          <a:bodyPr/>
          <a:lstStyle/>
          <a:p>
            <a:endParaRPr lang="en-US"/>
          </a:p>
        </p:txBody>
      </p:sp>
      <p:sp>
        <p:nvSpPr>
          <p:cNvPr id="84" name="Shape 83"/>
          <p:cNvSpPr/>
          <p:nvPr/>
        </p:nvSpPr>
        <p:spPr>
          <a:xfrm>
            <a:off x="7892951" y="1438275"/>
            <a:ext cx="1746200" cy="19050"/>
          </a:xfrm>
          <a:prstGeom prst="rect">
            <a:avLst/>
          </a:prstGeom>
          <a:solidFill>
            <a:srgbClr val="B68757"/>
          </a:solidFill>
          <a:ln/>
        </p:spPr>
        <p:txBody>
          <a:bodyPr/>
          <a:lstStyle/>
          <a:p>
            <a:endParaRPr lang="en-US"/>
          </a:p>
        </p:txBody>
      </p:sp>
      <p:sp>
        <p:nvSpPr>
          <p:cNvPr id="85" name="Text 84">
            <a:hlinkClick r:id="rId10"/>
          </p:cNvPr>
          <p:cNvSpPr txBox="1"/>
          <p:nvPr/>
        </p:nvSpPr>
        <p:spPr>
          <a:xfrm>
            <a:off x="7988201" y="1515517"/>
            <a:ext cx="507802"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JULY 2026</a:t>
            </a:r>
            <a:endParaRPr lang="en-US" sz="555" dirty="0"/>
          </a:p>
        </p:txBody>
      </p:sp>
      <p:sp>
        <p:nvSpPr>
          <p:cNvPr id="86" name="Text 85">
            <a:hlinkClick r:id="rId10"/>
          </p:cNvPr>
          <p:cNvSpPr txBox="1"/>
          <p:nvPr/>
        </p:nvSpPr>
        <p:spPr>
          <a:xfrm>
            <a:off x="8481715" y="1515517"/>
            <a:ext cx="1062186"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BRANDS &amp; PRODUCTS</a:t>
            </a:r>
            <a:endParaRPr lang="en-US" sz="555" dirty="0"/>
          </a:p>
        </p:txBody>
      </p:sp>
      <p:sp>
        <p:nvSpPr>
          <p:cNvPr id="87" name="Text 86">
            <a:hlinkClick r:id="rId10"/>
          </p:cNvPr>
          <p:cNvSpPr txBox="1"/>
          <p:nvPr/>
        </p:nvSpPr>
        <p:spPr>
          <a:xfrm>
            <a:off x="7988201" y="17417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PROJECT ENERGY SAVERS</a:t>
            </a:r>
            <a:endParaRPr lang="en-US" sz="780" dirty="0"/>
          </a:p>
        </p:txBody>
      </p:sp>
      <p:sp>
        <p:nvSpPr>
          <p:cNvPr id="88" name="Text 87">
            <a:hlinkClick r:id="rId10"/>
          </p:cNvPr>
          <p:cNvSpPr txBox="1"/>
          <p:nvPr/>
        </p:nvSpPr>
        <p:spPr>
          <a:xfrm>
            <a:off x="7988201" y="18617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Educational and community outreach materials</a:t>
            </a:r>
            <a:endParaRPr lang="en-US" sz="660" dirty="0"/>
          </a:p>
        </p:txBody>
      </p:sp>
      <p:sp>
        <p:nvSpPr>
          <p:cNvPr id="89" name="Text 88">
            <a:hlinkClick r:id="rId10"/>
          </p:cNvPr>
          <p:cNvSpPr txBox="1"/>
          <p:nvPr/>
        </p:nvSpPr>
        <p:spPr>
          <a:xfrm>
            <a:off x="7988201" y="21045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WRS Group</a:t>
            </a:r>
            <a:endParaRPr lang="en-US" sz="555" dirty="0"/>
          </a:p>
        </p:txBody>
      </p:sp>
      <p:sp>
        <p:nvSpPr>
          <p:cNvPr id="90" name="Shape 89"/>
          <p:cNvSpPr/>
          <p:nvPr/>
        </p:nvSpPr>
        <p:spPr>
          <a:xfrm>
            <a:off x="4248150" y="2365325"/>
            <a:ext cx="1746200" cy="860375"/>
          </a:xfrm>
          <a:prstGeom prst="rect">
            <a:avLst/>
          </a:prstGeom>
          <a:solidFill>
            <a:srgbClr val="FAF7F3"/>
          </a:solidFill>
          <a:ln/>
        </p:spPr>
        <p:txBody>
          <a:bodyPr/>
          <a:lstStyle/>
          <a:p>
            <a:endParaRPr lang="en-US"/>
          </a:p>
        </p:txBody>
      </p:sp>
      <p:sp>
        <p:nvSpPr>
          <p:cNvPr id="91" name="Shape 90"/>
          <p:cNvSpPr/>
          <p:nvPr/>
        </p:nvSpPr>
        <p:spPr>
          <a:xfrm>
            <a:off x="4248150" y="2365325"/>
            <a:ext cx="1746200" cy="19050"/>
          </a:xfrm>
          <a:prstGeom prst="rect">
            <a:avLst/>
          </a:prstGeom>
          <a:solidFill>
            <a:srgbClr val="B68757"/>
          </a:solidFill>
          <a:ln/>
        </p:spPr>
        <p:txBody>
          <a:bodyPr/>
          <a:lstStyle/>
          <a:p>
            <a:endParaRPr lang="en-US"/>
          </a:p>
        </p:txBody>
      </p:sp>
      <p:sp>
        <p:nvSpPr>
          <p:cNvPr id="92" name="Text 91">
            <a:hlinkClick r:id="rId11"/>
          </p:cNvPr>
          <p:cNvSpPr txBox="1"/>
          <p:nvPr/>
        </p:nvSpPr>
        <p:spPr>
          <a:xfrm>
            <a:off x="4343400" y="2442567"/>
            <a:ext cx="522536"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2026</a:t>
            </a:r>
            <a:endParaRPr lang="en-US" sz="555" dirty="0"/>
          </a:p>
        </p:txBody>
      </p:sp>
      <p:sp>
        <p:nvSpPr>
          <p:cNvPr id="93" name="Text 92">
            <a:hlinkClick r:id="rId11"/>
          </p:cNvPr>
          <p:cNvSpPr txBox="1"/>
          <p:nvPr/>
        </p:nvSpPr>
        <p:spPr>
          <a:xfrm>
            <a:off x="4851648" y="2442567"/>
            <a:ext cx="1047452"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94" name="Text 93">
            <a:hlinkClick r:id="rId11"/>
          </p:cNvPr>
          <p:cNvSpPr txBox="1"/>
          <p:nvPr/>
        </p:nvSpPr>
        <p:spPr>
          <a:xfrm>
            <a:off x="4343400" y="26687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KITTLESON LANDSCAPE</a:t>
            </a:r>
            <a:endParaRPr lang="en-US" sz="780" dirty="0"/>
          </a:p>
        </p:txBody>
      </p:sp>
      <p:sp>
        <p:nvSpPr>
          <p:cNvPr id="95" name="Text 94">
            <a:hlinkClick r:id="rId11"/>
          </p:cNvPr>
          <p:cNvSpPr txBox="1"/>
          <p:nvPr/>
        </p:nvSpPr>
        <p:spPr>
          <a:xfrm>
            <a:off x="4343400" y="27888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Landscape design and installation, Madison, WI area</a:t>
            </a:r>
            <a:endParaRPr lang="en-US" sz="660" dirty="0"/>
          </a:p>
        </p:txBody>
      </p:sp>
      <p:sp>
        <p:nvSpPr>
          <p:cNvPr id="96" name="Text 95">
            <a:hlinkClick r:id="rId11"/>
          </p:cNvPr>
          <p:cNvSpPr txBox="1"/>
          <p:nvPr/>
        </p:nvSpPr>
        <p:spPr>
          <a:xfrm>
            <a:off x="4343400" y="30316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Lancaster Group</a:t>
            </a:r>
            <a:endParaRPr lang="en-US" sz="555" dirty="0"/>
          </a:p>
        </p:txBody>
      </p:sp>
      <p:sp>
        <p:nvSpPr>
          <p:cNvPr id="97" name="Shape 96"/>
          <p:cNvSpPr/>
          <p:nvPr/>
        </p:nvSpPr>
        <p:spPr>
          <a:xfrm>
            <a:off x="6070550" y="2365325"/>
            <a:ext cx="1746200" cy="860375"/>
          </a:xfrm>
          <a:prstGeom prst="rect">
            <a:avLst/>
          </a:prstGeom>
          <a:solidFill>
            <a:srgbClr val="FAF7F3"/>
          </a:solidFill>
          <a:ln/>
        </p:spPr>
        <p:txBody>
          <a:bodyPr/>
          <a:lstStyle/>
          <a:p>
            <a:endParaRPr lang="en-US"/>
          </a:p>
        </p:txBody>
      </p:sp>
      <p:sp>
        <p:nvSpPr>
          <p:cNvPr id="98" name="Shape 97"/>
          <p:cNvSpPr/>
          <p:nvPr/>
        </p:nvSpPr>
        <p:spPr>
          <a:xfrm>
            <a:off x="6070550" y="2365325"/>
            <a:ext cx="1746200" cy="19050"/>
          </a:xfrm>
          <a:prstGeom prst="rect">
            <a:avLst/>
          </a:prstGeom>
          <a:solidFill>
            <a:srgbClr val="B68757"/>
          </a:solidFill>
          <a:ln/>
        </p:spPr>
        <p:txBody>
          <a:bodyPr/>
          <a:lstStyle/>
          <a:p>
            <a:endParaRPr lang="en-US"/>
          </a:p>
        </p:txBody>
      </p:sp>
      <p:sp>
        <p:nvSpPr>
          <p:cNvPr id="99" name="Text 98">
            <a:hlinkClick r:id="rId12"/>
          </p:cNvPr>
          <p:cNvSpPr txBox="1"/>
          <p:nvPr/>
        </p:nvSpPr>
        <p:spPr>
          <a:xfrm>
            <a:off x="6165800" y="2442567"/>
            <a:ext cx="522536"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2026</a:t>
            </a:r>
            <a:endParaRPr lang="en-US" sz="555" dirty="0"/>
          </a:p>
        </p:txBody>
      </p:sp>
      <p:sp>
        <p:nvSpPr>
          <p:cNvPr id="100" name="Text 99">
            <a:hlinkClick r:id="rId12"/>
          </p:cNvPr>
          <p:cNvSpPr txBox="1"/>
          <p:nvPr/>
        </p:nvSpPr>
        <p:spPr>
          <a:xfrm>
            <a:off x="6674048" y="2442567"/>
            <a:ext cx="1047452"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01" name="Text 100">
            <a:hlinkClick r:id="rId12"/>
          </p:cNvPr>
          <p:cNvSpPr txBox="1"/>
          <p:nvPr/>
        </p:nvSpPr>
        <p:spPr>
          <a:xfrm>
            <a:off x="6165800" y="26687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JAGIMO CORPORATION</a:t>
            </a:r>
            <a:endParaRPr lang="en-US" sz="780" dirty="0"/>
          </a:p>
        </p:txBody>
      </p:sp>
      <p:sp>
        <p:nvSpPr>
          <p:cNvPr id="102" name="Text 101">
            <a:hlinkClick r:id="rId12"/>
          </p:cNvPr>
          <p:cNvSpPr txBox="1"/>
          <p:nvPr/>
        </p:nvSpPr>
        <p:spPr>
          <a:xfrm>
            <a:off x="6165800" y="27888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Landscape construction and maintenance, Fortuna, CA</a:t>
            </a:r>
            <a:endParaRPr lang="en-US" sz="660" dirty="0"/>
          </a:p>
        </p:txBody>
      </p:sp>
      <p:sp>
        <p:nvSpPr>
          <p:cNvPr id="103" name="Text 102">
            <a:hlinkClick r:id="rId12"/>
          </p:cNvPr>
          <p:cNvSpPr txBox="1"/>
          <p:nvPr/>
        </p:nvSpPr>
        <p:spPr>
          <a:xfrm>
            <a:off x="6165800" y="30316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Castleford Group</a:t>
            </a:r>
            <a:endParaRPr lang="en-US" sz="555" dirty="0"/>
          </a:p>
        </p:txBody>
      </p:sp>
      <p:sp>
        <p:nvSpPr>
          <p:cNvPr id="104" name="Shape 103"/>
          <p:cNvSpPr/>
          <p:nvPr/>
        </p:nvSpPr>
        <p:spPr>
          <a:xfrm>
            <a:off x="7892951" y="2365325"/>
            <a:ext cx="1746200" cy="860375"/>
          </a:xfrm>
          <a:prstGeom prst="rect">
            <a:avLst/>
          </a:prstGeom>
          <a:solidFill>
            <a:srgbClr val="FAF7F3"/>
          </a:solidFill>
          <a:ln/>
        </p:spPr>
        <p:txBody>
          <a:bodyPr/>
          <a:lstStyle/>
          <a:p>
            <a:endParaRPr lang="en-US"/>
          </a:p>
        </p:txBody>
      </p:sp>
      <p:sp>
        <p:nvSpPr>
          <p:cNvPr id="105" name="Shape 104"/>
          <p:cNvSpPr/>
          <p:nvPr/>
        </p:nvSpPr>
        <p:spPr>
          <a:xfrm>
            <a:off x="7892951" y="2365325"/>
            <a:ext cx="1746200" cy="19050"/>
          </a:xfrm>
          <a:prstGeom prst="rect">
            <a:avLst/>
          </a:prstGeom>
          <a:solidFill>
            <a:srgbClr val="B68757"/>
          </a:solidFill>
          <a:ln/>
        </p:spPr>
        <p:txBody>
          <a:bodyPr/>
          <a:lstStyle/>
          <a:p>
            <a:endParaRPr lang="en-US"/>
          </a:p>
        </p:txBody>
      </p:sp>
      <p:sp>
        <p:nvSpPr>
          <p:cNvPr id="106" name="Text 105">
            <a:hlinkClick r:id="rId13"/>
          </p:cNvPr>
          <p:cNvSpPr txBox="1"/>
          <p:nvPr/>
        </p:nvSpPr>
        <p:spPr>
          <a:xfrm>
            <a:off x="7988201" y="2385566"/>
            <a:ext cx="481608"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2026</a:t>
            </a:r>
            <a:endParaRPr lang="en-US" sz="555" dirty="0"/>
          </a:p>
        </p:txBody>
      </p:sp>
      <p:sp>
        <p:nvSpPr>
          <p:cNvPr id="107" name="Text 106">
            <a:hlinkClick r:id="rId13"/>
          </p:cNvPr>
          <p:cNvSpPr txBox="1"/>
          <p:nvPr/>
        </p:nvSpPr>
        <p:spPr>
          <a:xfrm>
            <a:off x="8455521" y="2385566"/>
            <a:ext cx="1088380"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08" name="Text 107">
            <a:hlinkClick r:id="rId13"/>
          </p:cNvPr>
          <p:cNvSpPr txBox="1"/>
          <p:nvPr/>
        </p:nvSpPr>
        <p:spPr>
          <a:xfrm>
            <a:off x="7988201" y="26117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TELMARK SALES SOLUTIONS</a:t>
            </a:r>
            <a:endParaRPr lang="en-US" sz="780" dirty="0"/>
          </a:p>
        </p:txBody>
      </p:sp>
      <p:sp>
        <p:nvSpPr>
          <p:cNvPr id="109" name="Text 108">
            <a:hlinkClick r:id="rId13"/>
          </p:cNvPr>
          <p:cNvSpPr txBox="1"/>
          <p:nvPr/>
        </p:nvSpPr>
        <p:spPr>
          <a:xfrm>
            <a:off x="7988201" y="27318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Sales and marketing brokerage for packaged goods</a:t>
            </a:r>
            <a:endParaRPr lang="en-US" sz="660" dirty="0"/>
          </a:p>
        </p:txBody>
      </p:sp>
      <p:sp>
        <p:nvSpPr>
          <p:cNvPr id="110" name="Text 109">
            <a:hlinkClick r:id="rId13"/>
          </p:cNvPr>
          <p:cNvSpPr txBox="1"/>
          <p:nvPr/>
        </p:nvSpPr>
        <p:spPr>
          <a:xfrm>
            <a:off x="7988201" y="297462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Market Performance Group</a:t>
            </a:r>
            <a:endParaRPr lang="en-US" sz="555" dirty="0"/>
          </a:p>
        </p:txBody>
      </p:sp>
      <p:sp>
        <p:nvSpPr>
          <p:cNvPr id="111" name="Shape 110"/>
          <p:cNvSpPr/>
          <p:nvPr/>
        </p:nvSpPr>
        <p:spPr>
          <a:xfrm>
            <a:off x="4248150" y="3292376"/>
            <a:ext cx="1746200" cy="860524"/>
          </a:xfrm>
          <a:prstGeom prst="rect">
            <a:avLst/>
          </a:prstGeom>
          <a:solidFill>
            <a:srgbClr val="FAF7F3"/>
          </a:solidFill>
          <a:ln/>
        </p:spPr>
        <p:txBody>
          <a:bodyPr/>
          <a:lstStyle/>
          <a:p>
            <a:endParaRPr lang="en-US"/>
          </a:p>
        </p:txBody>
      </p:sp>
      <p:sp>
        <p:nvSpPr>
          <p:cNvPr id="112" name="Shape 111"/>
          <p:cNvSpPr/>
          <p:nvPr/>
        </p:nvSpPr>
        <p:spPr>
          <a:xfrm>
            <a:off x="4248150" y="3292376"/>
            <a:ext cx="1746200" cy="19050"/>
          </a:xfrm>
          <a:prstGeom prst="rect">
            <a:avLst/>
          </a:prstGeom>
          <a:solidFill>
            <a:srgbClr val="B68757"/>
          </a:solidFill>
          <a:ln/>
        </p:spPr>
        <p:txBody>
          <a:bodyPr/>
          <a:lstStyle/>
          <a:p>
            <a:endParaRPr lang="en-US"/>
          </a:p>
        </p:txBody>
      </p:sp>
      <p:sp>
        <p:nvSpPr>
          <p:cNvPr id="113" name="Text 112">
            <a:hlinkClick r:id="rId14"/>
          </p:cNvPr>
          <p:cNvSpPr txBox="1"/>
          <p:nvPr/>
        </p:nvSpPr>
        <p:spPr>
          <a:xfrm>
            <a:off x="4343400" y="3369766"/>
            <a:ext cx="481608"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2026</a:t>
            </a:r>
            <a:endParaRPr lang="en-US" sz="555" dirty="0"/>
          </a:p>
        </p:txBody>
      </p:sp>
      <p:sp>
        <p:nvSpPr>
          <p:cNvPr id="114" name="Text 113">
            <a:hlinkClick r:id="rId14"/>
          </p:cNvPr>
          <p:cNvSpPr txBox="1"/>
          <p:nvPr/>
        </p:nvSpPr>
        <p:spPr>
          <a:xfrm>
            <a:off x="4810720" y="3369766"/>
            <a:ext cx="1088380"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15" name="Text 114">
            <a:hlinkClick r:id="rId14"/>
          </p:cNvPr>
          <p:cNvSpPr txBox="1"/>
          <p:nvPr/>
        </p:nvSpPr>
        <p:spPr>
          <a:xfrm>
            <a:off x="4343400" y="35959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STEPFAR INVESTMENTS</a:t>
            </a:r>
            <a:endParaRPr lang="en-US" sz="780" dirty="0"/>
          </a:p>
        </p:txBody>
      </p:sp>
      <p:sp>
        <p:nvSpPr>
          <p:cNvPr id="116" name="Text 115">
            <a:hlinkClick r:id="rId14"/>
          </p:cNvPr>
          <p:cNvSpPr txBox="1"/>
          <p:nvPr/>
        </p:nvSpPr>
        <p:spPr>
          <a:xfrm>
            <a:off x="4343400" y="37160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Two collision repair centers, Permian Basin, TX</a:t>
            </a:r>
            <a:endParaRPr lang="en-US" sz="660" dirty="0"/>
          </a:p>
        </p:txBody>
      </p:sp>
      <p:sp>
        <p:nvSpPr>
          <p:cNvPr id="117" name="Text 116">
            <a:hlinkClick r:id="rId14"/>
          </p:cNvPr>
          <p:cNvSpPr txBox="1"/>
          <p:nvPr/>
        </p:nvSpPr>
        <p:spPr>
          <a:xfrm>
            <a:off x="4343400" y="3958828"/>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Classic Collision</a:t>
            </a:r>
            <a:endParaRPr lang="en-US" sz="555" dirty="0"/>
          </a:p>
        </p:txBody>
      </p:sp>
      <p:sp>
        <p:nvSpPr>
          <p:cNvPr id="118" name="Shape 117"/>
          <p:cNvSpPr/>
          <p:nvPr/>
        </p:nvSpPr>
        <p:spPr>
          <a:xfrm>
            <a:off x="6070550" y="3292376"/>
            <a:ext cx="1746200" cy="860524"/>
          </a:xfrm>
          <a:prstGeom prst="rect">
            <a:avLst/>
          </a:prstGeom>
          <a:solidFill>
            <a:srgbClr val="FAF7F3"/>
          </a:solidFill>
          <a:ln/>
        </p:spPr>
        <p:txBody>
          <a:bodyPr/>
          <a:lstStyle/>
          <a:p>
            <a:endParaRPr lang="en-US"/>
          </a:p>
        </p:txBody>
      </p:sp>
      <p:sp>
        <p:nvSpPr>
          <p:cNvPr id="119" name="Shape 118"/>
          <p:cNvSpPr/>
          <p:nvPr/>
        </p:nvSpPr>
        <p:spPr>
          <a:xfrm>
            <a:off x="6070550" y="3292376"/>
            <a:ext cx="1746200" cy="19050"/>
          </a:xfrm>
          <a:prstGeom prst="rect">
            <a:avLst/>
          </a:prstGeom>
          <a:solidFill>
            <a:srgbClr val="B68757"/>
          </a:solidFill>
          <a:ln/>
        </p:spPr>
        <p:txBody>
          <a:bodyPr/>
          <a:lstStyle/>
          <a:p>
            <a:endParaRPr lang="en-US"/>
          </a:p>
        </p:txBody>
      </p:sp>
      <p:sp>
        <p:nvSpPr>
          <p:cNvPr id="120" name="Text 119">
            <a:hlinkClick r:id="rId15"/>
          </p:cNvPr>
          <p:cNvSpPr txBox="1"/>
          <p:nvPr/>
        </p:nvSpPr>
        <p:spPr>
          <a:xfrm>
            <a:off x="6165800" y="3312616"/>
            <a:ext cx="456605"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FEB 2026</a:t>
            </a:r>
            <a:endParaRPr lang="en-US" sz="555" dirty="0"/>
          </a:p>
        </p:txBody>
      </p:sp>
      <p:sp>
        <p:nvSpPr>
          <p:cNvPr id="121" name="Text 120">
            <a:hlinkClick r:id="rId15"/>
          </p:cNvPr>
          <p:cNvSpPr txBox="1"/>
          <p:nvPr/>
        </p:nvSpPr>
        <p:spPr>
          <a:xfrm>
            <a:off x="6608118" y="3312616"/>
            <a:ext cx="1113383"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22" name="Text 121">
            <a:hlinkClick r:id="rId15"/>
          </p:cNvPr>
          <p:cNvSpPr txBox="1"/>
          <p:nvPr/>
        </p:nvSpPr>
        <p:spPr>
          <a:xfrm>
            <a:off x="6165800" y="353883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M&amp;M ROOFING</a:t>
            </a:r>
            <a:endParaRPr lang="en-US" sz="780" dirty="0"/>
          </a:p>
        </p:txBody>
      </p:sp>
      <p:sp>
        <p:nvSpPr>
          <p:cNvPr id="123" name="Text 122">
            <a:hlinkClick r:id="rId15"/>
          </p:cNvPr>
          <p:cNvSpPr txBox="1"/>
          <p:nvPr/>
        </p:nvSpPr>
        <p:spPr>
          <a:xfrm>
            <a:off x="6165800" y="365885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Family-owned residential roofing since 1983, Texas</a:t>
            </a:r>
            <a:endParaRPr lang="en-US" sz="660" dirty="0"/>
          </a:p>
        </p:txBody>
      </p:sp>
      <p:sp>
        <p:nvSpPr>
          <p:cNvPr id="124" name="Text 123">
            <a:hlinkClick r:id="rId15"/>
          </p:cNvPr>
          <p:cNvSpPr txBox="1"/>
          <p:nvPr/>
        </p:nvSpPr>
        <p:spPr>
          <a:xfrm>
            <a:off x="6165800" y="390167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Allied Roofing Partners</a:t>
            </a:r>
            <a:endParaRPr lang="en-US" sz="555" dirty="0"/>
          </a:p>
        </p:txBody>
      </p:sp>
      <p:sp>
        <p:nvSpPr>
          <p:cNvPr id="125" name="Shape 124"/>
          <p:cNvSpPr/>
          <p:nvPr/>
        </p:nvSpPr>
        <p:spPr>
          <a:xfrm>
            <a:off x="7892951" y="3292376"/>
            <a:ext cx="1746200" cy="860524"/>
          </a:xfrm>
          <a:prstGeom prst="rect">
            <a:avLst/>
          </a:prstGeom>
          <a:solidFill>
            <a:srgbClr val="FAF7F3"/>
          </a:solidFill>
          <a:ln/>
        </p:spPr>
        <p:txBody>
          <a:bodyPr/>
          <a:lstStyle/>
          <a:p>
            <a:endParaRPr lang="en-US"/>
          </a:p>
        </p:txBody>
      </p:sp>
      <p:sp>
        <p:nvSpPr>
          <p:cNvPr id="126" name="Shape 125"/>
          <p:cNvSpPr/>
          <p:nvPr/>
        </p:nvSpPr>
        <p:spPr>
          <a:xfrm>
            <a:off x="7892951" y="3292376"/>
            <a:ext cx="1746200" cy="19050"/>
          </a:xfrm>
          <a:prstGeom prst="rect">
            <a:avLst/>
          </a:prstGeom>
          <a:solidFill>
            <a:srgbClr val="B68757"/>
          </a:solidFill>
          <a:ln/>
        </p:spPr>
        <p:txBody>
          <a:bodyPr/>
          <a:lstStyle/>
          <a:p>
            <a:endParaRPr lang="en-US"/>
          </a:p>
        </p:txBody>
      </p:sp>
      <p:sp>
        <p:nvSpPr>
          <p:cNvPr id="127" name="Text 126">
            <a:hlinkClick r:id="rId16"/>
          </p:cNvPr>
          <p:cNvSpPr txBox="1"/>
          <p:nvPr/>
        </p:nvSpPr>
        <p:spPr>
          <a:xfrm>
            <a:off x="7988201" y="3419773"/>
            <a:ext cx="46523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JAN 2026</a:t>
            </a:r>
            <a:endParaRPr lang="en-US" sz="555" dirty="0"/>
          </a:p>
        </p:txBody>
      </p:sp>
      <p:sp>
        <p:nvSpPr>
          <p:cNvPr id="128" name="Text 127">
            <a:hlinkClick r:id="rId16"/>
          </p:cNvPr>
          <p:cNvSpPr txBox="1"/>
          <p:nvPr/>
        </p:nvSpPr>
        <p:spPr>
          <a:xfrm>
            <a:off x="8730258" y="3419773"/>
            <a:ext cx="813643" cy="100013"/>
          </a:xfrm>
          <a:prstGeom prst="rect">
            <a:avLst/>
          </a:prstGeom>
          <a:noFill/>
          <a:ln/>
        </p:spPr>
        <p:txBody>
          <a:bodyPr wrap="none" lIns="0" tIns="0" rIns="0" bIns="0" rtlCol="0" anchor="t"/>
          <a:lstStyle/>
          <a:p>
            <a:pPr marL="0" indent="0" algn="r">
              <a:lnSpc>
                <a:spcPts val="788"/>
              </a:lnSpc>
              <a:buNone/>
            </a:pPr>
            <a:r>
              <a:rPr lang="en-US" sz="555" b="1" kern="0" spc="90" dirty="0">
                <a:solidFill>
                  <a:srgbClr val="8C6239"/>
                </a:solidFill>
                <a:latin typeface="Quicksand" pitchFamily="34" charset="0"/>
              </a:rPr>
              <a:t>FOOD &amp; BEVERAGE</a:t>
            </a:r>
            <a:endParaRPr lang="en-US" sz="555" dirty="0"/>
          </a:p>
        </p:txBody>
      </p:sp>
      <p:sp>
        <p:nvSpPr>
          <p:cNvPr id="129" name="Text 128">
            <a:hlinkClick r:id="rId16"/>
          </p:cNvPr>
          <p:cNvSpPr txBox="1"/>
          <p:nvPr/>
        </p:nvSpPr>
        <p:spPr>
          <a:xfrm>
            <a:off x="7988201" y="3545979"/>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FORMULATION TECHNOLOGY</a:t>
            </a:r>
            <a:endParaRPr lang="en-US" sz="780" dirty="0"/>
          </a:p>
        </p:txBody>
      </p:sp>
      <p:sp>
        <p:nvSpPr>
          <p:cNvPr id="130" name="Text 129">
            <a:hlinkClick r:id="rId16"/>
          </p:cNvPr>
          <p:cNvSpPr txBox="1"/>
          <p:nvPr/>
        </p:nvSpPr>
        <p:spPr>
          <a:xfrm>
            <a:off x="7988201" y="3665994"/>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Contract manufacturer of supplements, Oakdale, CA</a:t>
            </a:r>
            <a:endParaRPr lang="en-US" sz="660" dirty="0"/>
          </a:p>
        </p:txBody>
      </p:sp>
      <p:sp>
        <p:nvSpPr>
          <p:cNvPr id="131" name="Text 130">
            <a:hlinkClick r:id="rId16"/>
          </p:cNvPr>
          <p:cNvSpPr txBox="1"/>
          <p:nvPr/>
        </p:nvSpPr>
        <p:spPr>
          <a:xfrm>
            <a:off x="7988201" y="3908822"/>
            <a:ext cx="1567607"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AAVIN Private Equity</a:t>
            </a:r>
            <a:endParaRPr lang="en-US" sz="555" dirty="0"/>
          </a:p>
        </p:txBody>
      </p:sp>
      <p:sp>
        <p:nvSpPr>
          <p:cNvPr id="132" name="Shape 131"/>
          <p:cNvSpPr/>
          <p:nvPr/>
        </p:nvSpPr>
        <p:spPr>
          <a:xfrm>
            <a:off x="4248150" y="4219575"/>
            <a:ext cx="1746200" cy="860375"/>
          </a:xfrm>
          <a:prstGeom prst="rect">
            <a:avLst/>
          </a:prstGeom>
          <a:solidFill>
            <a:srgbClr val="FAF7F3"/>
          </a:solidFill>
          <a:ln/>
        </p:spPr>
        <p:txBody>
          <a:bodyPr/>
          <a:lstStyle/>
          <a:p>
            <a:endParaRPr lang="en-US"/>
          </a:p>
        </p:txBody>
      </p:sp>
      <p:sp>
        <p:nvSpPr>
          <p:cNvPr id="133" name="Shape 132"/>
          <p:cNvSpPr/>
          <p:nvPr/>
        </p:nvSpPr>
        <p:spPr>
          <a:xfrm>
            <a:off x="4248150" y="4219575"/>
            <a:ext cx="1746200" cy="19050"/>
          </a:xfrm>
          <a:prstGeom prst="rect">
            <a:avLst/>
          </a:prstGeom>
          <a:solidFill>
            <a:srgbClr val="B68757"/>
          </a:solidFill>
          <a:ln/>
        </p:spPr>
        <p:txBody>
          <a:bodyPr/>
          <a:lstStyle/>
          <a:p>
            <a:endParaRPr lang="en-US"/>
          </a:p>
        </p:txBody>
      </p:sp>
      <p:sp>
        <p:nvSpPr>
          <p:cNvPr id="134" name="Text 133">
            <a:hlinkClick r:id="rId17"/>
          </p:cNvPr>
          <p:cNvSpPr txBox="1"/>
          <p:nvPr/>
        </p:nvSpPr>
        <p:spPr>
          <a:xfrm>
            <a:off x="4343400" y="4296817"/>
            <a:ext cx="46702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DEC 2025</a:t>
            </a:r>
            <a:endParaRPr lang="en-US" sz="555" dirty="0"/>
          </a:p>
        </p:txBody>
      </p:sp>
      <p:sp>
        <p:nvSpPr>
          <p:cNvPr id="135" name="Text 134">
            <a:hlinkClick r:id="rId17"/>
          </p:cNvPr>
          <p:cNvSpPr txBox="1"/>
          <p:nvPr/>
        </p:nvSpPr>
        <p:spPr>
          <a:xfrm>
            <a:off x="4796135" y="4296817"/>
            <a:ext cx="110296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BRANDS &amp; PRODUCTS</a:t>
            </a:r>
            <a:endParaRPr lang="en-US" sz="555" dirty="0"/>
          </a:p>
        </p:txBody>
      </p:sp>
      <p:sp>
        <p:nvSpPr>
          <p:cNvPr id="136" name="Text 135">
            <a:hlinkClick r:id="rId17"/>
          </p:cNvPr>
          <p:cNvSpPr txBox="1"/>
          <p:nvPr/>
        </p:nvSpPr>
        <p:spPr>
          <a:xfrm>
            <a:off x="4343400" y="45230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AROCAM</a:t>
            </a:r>
            <a:endParaRPr lang="en-US" sz="780" dirty="0"/>
          </a:p>
        </p:txBody>
      </p:sp>
      <p:sp>
        <p:nvSpPr>
          <p:cNvPr id="137" name="Text 136">
            <a:hlinkClick r:id="rId17"/>
          </p:cNvPr>
          <p:cNvSpPr txBox="1"/>
          <p:nvPr/>
        </p:nvSpPr>
        <p:spPr>
          <a:xfrm>
            <a:off x="4343400" y="46430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Customized youth sports apparel, Taunton, MA</a:t>
            </a:r>
            <a:endParaRPr lang="en-US" sz="660" dirty="0"/>
          </a:p>
        </p:txBody>
      </p:sp>
      <p:sp>
        <p:nvSpPr>
          <p:cNvPr id="138" name="Text 137">
            <a:hlinkClick r:id="rId17"/>
          </p:cNvPr>
          <p:cNvSpPr txBox="1"/>
          <p:nvPr/>
        </p:nvSpPr>
        <p:spPr>
          <a:xfrm>
            <a:off x="4343400" y="48858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Innova Capital</a:t>
            </a:r>
            <a:endParaRPr lang="en-US" sz="555" dirty="0"/>
          </a:p>
        </p:txBody>
      </p:sp>
      <p:sp>
        <p:nvSpPr>
          <p:cNvPr id="139" name="Shape 138"/>
          <p:cNvSpPr/>
          <p:nvPr/>
        </p:nvSpPr>
        <p:spPr>
          <a:xfrm>
            <a:off x="6070550" y="4219575"/>
            <a:ext cx="1746200" cy="860375"/>
          </a:xfrm>
          <a:prstGeom prst="rect">
            <a:avLst/>
          </a:prstGeom>
          <a:solidFill>
            <a:srgbClr val="FAF7F3"/>
          </a:solidFill>
          <a:ln/>
        </p:spPr>
        <p:txBody>
          <a:bodyPr/>
          <a:lstStyle/>
          <a:p>
            <a:endParaRPr lang="en-US"/>
          </a:p>
        </p:txBody>
      </p:sp>
      <p:sp>
        <p:nvSpPr>
          <p:cNvPr id="140" name="Shape 139"/>
          <p:cNvSpPr/>
          <p:nvPr/>
        </p:nvSpPr>
        <p:spPr>
          <a:xfrm>
            <a:off x="6070550" y="4219575"/>
            <a:ext cx="1746200" cy="19050"/>
          </a:xfrm>
          <a:prstGeom prst="rect">
            <a:avLst/>
          </a:prstGeom>
          <a:solidFill>
            <a:srgbClr val="B68757"/>
          </a:solidFill>
          <a:ln/>
        </p:spPr>
        <p:txBody>
          <a:bodyPr/>
          <a:lstStyle/>
          <a:p>
            <a:endParaRPr lang="en-US"/>
          </a:p>
        </p:txBody>
      </p:sp>
      <p:sp>
        <p:nvSpPr>
          <p:cNvPr id="141" name="Text 140">
            <a:hlinkClick r:id="rId18"/>
          </p:cNvPr>
          <p:cNvSpPr txBox="1"/>
          <p:nvPr/>
        </p:nvSpPr>
        <p:spPr>
          <a:xfrm>
            <a:off x="6165800" y="4296817"/>
            <a:ext cx="46702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DEC 2025</a:t>
            </a:r>
            <a:endParaRPr lang="en-US" sz="555" dirty="0"/>
          </a:p>
        </p:txBody>
      </p:sp>
      <p:sp>
        <p:nvSpPr>
          <p:cNvPr id="142" name="Text 141">
            <a:hlinkClick r:id="rId18"/>
          </p:cNvPr>
          <p:cNvSpPr txBox="1"/>
          <p:nvPr/>
        </p:nvSpPr>
        <p:spPr>
          <a:xfrm>
            <a:off x="6618536" y="4296817"/>
            <a:ext cx="110296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43" name="Text 142">
            <a:hlinkClick r:id="rId18"/>
          </p:cNvPr>
          <p:cNvSpPr txBox="1"/>
          <p:nvPr/>
        </p:nvSpPr>
        <p:spPr>
          <a:xfrm>
            <a:off x="6165800" y="45230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STIRLING FOOD SYSTEMS</a:t>
            </a:r>
            <a:endParaRPr lang="en-US" sz="780" dirty="0"/>
          </a:p>
        </p:txBody>
      </p:sp>
      <p:sp>
        <p:nvSpPr>
          <p:cNvPr id="144" name="Text 143">
            <a:hlinkClick r:id="rId18"/>
          </p:cNvPr>
          <p:cNvSpPr txBox="1"/>
          <p:nvPr/>
        </p:nvSpPr>
        <p:spPr>
          <a:xfrm>
            <a:off x="6165800" y="46430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Bulk cooking oil distribution and collection, Ocala, FL</a:t>
            </a:r>
            <a:endParaRPr lang="en-US" sz="660" dirty="0"/>
          </a:p>
        </p:txBody>
      </p:sp>
      <p:sp>
        <p:nvSpPr>
          <p:cNvPr id="145" name="Text 144">
            <a:hlinkClick r:id="rId18"/>
          </p:cNvPr>
          <p:cNvSpPr txBox="1"/>
          <p:nvPr/>
        </p:nvSpPr>
        <p:spPr>
          <a:xfrm>
            <a:off x="6165800" y="48858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GreaseCycle</a:t>
            </a:r>
            <a:endParaRPr lang="en-US" sz="555" dirty="0"/>
          </a:p>
        </p:txBody>
      </p:sp>
      <p:sp>
        <p:nvSpPr>
          <p:cNvPr id="146" name="Shape 145"/>
          <p:cNvSpPr/>
          <p:nvPr/>
        </p:nvSpPr>
        <p:spPr>
          <a:xfrm>
            <a:off x="7892951" y="4219575"/>
            <a:ext cx="1746200" cy="860375"/>
          </a:xfrm>
          <a:prstGeom prst="rect">
            <a:avLst/>
          </a:prstGeom>
          <a:solidFill>
            <a:srgbClr val="FAF7F3"/>
          </a:solidFill>
          <a:ln/>
        </p:spPr>
        <p:txBody>
          <a:bodyPr/>
          <a:lstStyle/>
          <a:p>
            <a:endParaRPr lang="en-US"/>
          </a:p>
        </p:txBody>
      </p:sp>
      <p:sp>
        <p:nvSpPr>
          <p:cNvPr id="147" name="Shape 146"/>
          <p:cNvSpPr/>
          <p:nvPr/>
        </p:nvSpPr>
        <p:spPr>
          <a:xfrm>
            <a:off x="7892951" y="4219575"/>
            <a:ext cx="1746200" cy="19050"/>
          </a:xfrm>
          <a:prstGeom prst="rect">
            <a:avLst/>
          </a:prstGeom>
          <a:solidFill>
            <a:srgbClr val="B68757"/>
          </a:solidFill>
          <a:ln/>
        </p:spPr>
        <p:txBody>
          <a:bodyPr/>
          <a:lstStyle/>
          <a:p>
            <a:endParaRPr lang="en-US"/>
          </a:p>
        </p:txBody>
      </p:sp>
      <p:sp>
        <p:nvSpPr>
          <p:cNvPr id="148" name="Text 147">
            <a:hlinkClick r:id="rId19"/>
          </p:cNvPr>
          <p:cNvSpPr txBox="1"/>
          <p:nvPr/>
        </p:nvSpPr>
        <p:spPr>
          <a:xfrm>
            <a:off x="7988201" y="4239816"/>
            <a:ext cx="509439"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JULY 2025</a:t>
            </a:r>
            <a:endParaRPr lang="en-US" sz="555" dirty="0"/>
          </a:p>
        </p:txBody>
      </p:sp>
      <p:sp>
        <p:nvSpPr>
          <p:cNvPr id="149" name="Text 148">
            <a:hlinkClick r:id="rId19"/>
          </p:cNvPr>
          <p:cNvSpPr txBox="1"/>
          <p:nvPr/>
        </p:nvSpPr>
        <p:spPr>
          <a:xfrm>
            <a:off x="8483352" y="4239816"/>
            <a:ext cx="1060549"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50" name="Text 149">
            <a:hlinkClick r:id="rId19"/>
          </p:cNvPr>
          <p:cNvSpPr txBox="1"/>
          <p:nvPr/>
        </p:nvSpPr>
        <p:spPr>
          <a:xfrm>
            <a:off x="7988201" y="44660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AFFORDABLE GARAGE DOOR</a:t>
            </a:r>
            <a:endParaRPr lang="en-US" sz="780" dirty="0"/>
          </a:p>
        </p:txBody>
      </p:sp>
      <p:sp>
        <p:nvSpPr>
          <p:cNvPr id="151" name="Text 150">
            <a:hlinkClick r:id="rId19"/>
          </p:cNvPr>
          <p:cNvSpPr txBox="1"/>
          <p:nvPr/>
        </p:nvSpPr>
        <p:spPr>
          <a:xfrm>
            <a:off x="7988201" y="45860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Garage door sales, installation and repair, IN and IL</a:t>
            </a:r>
            <a:endParaRPr lang="en-US" sz="660" dirty="0"/>
          </a:p>
        </p:txBody>
      </p:sp>
      <p:sp>
        <p:nvSpPr>
          <p:cNvPr id="152" name="Text 151">
            <a:hlinkClick r:id="rId19"/>
          </p:cNvPr>
          <p:cNvSpPr txBox="1"/>
          <p:nvPr/>
        </p:nvSpPr>
        <p:spPr>
          <a:xfrm>
            <a:off x="7988201" y="48288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A.S.A.P. Garage Door Repair</a:t>
            </a:r>
            <a:endParaRPr lang="en-US" sz="555" dirty="0"/>
          </a:p>
        </p:txBody>
      </p:sp>
      <p:sp>
        <p:nvSpPr>
          <p:cNvPr id="153" name="Shape 152"/>
          <p:cNvSpPr/>
          <p:nvPr/>
        </p:nvSpPr>
        <p:spPr>
          <a:xfrm>
            <a:off x="4248150" y="5146625"/>
            <a:ext cx="1746200" cy="860375"/>
          </a:xfrm>
          <a:prstGeom prst="rect">
            <a:avLst/>
          </a:prstGeom>
          <a:solidFill>
            <a:srgbClr val="FAF7F3"/>
          </a:solidFill>
          <a:ln/>
        </p:spPr>
        <p:txBody>
          <a:bodyPr/>
          <a:lstStyle/>
          <a:p>
            <a:endParaRPr lang="en-US"/>
          </a:p>
        </p:txBody>
      </p:sp>
      <p:sp>
        <p:nvSpPr>
          <p:cNvPr id="154" name="Shape 153"/>
          <p:cNvSpPr/>
          <p:nvPr/>
        </p:nvSpPr>
        <p:spPr>
          <a:xfrm>
            <a:off x="4248150" y="5146625"/>
            <a:ext cx="1746200" cy="19050"/>
          </a:xfrm>
          <a:prstGeom prst="rect">
            <a:avLst/>
          </a:prstGeom>
          <a:solidFill>
            <a:srgbClr val="B68757"/>
          </a:solidFill>
          <a:ln/>
        </p:spPr>
        <p:txBody>
          <a:bodyPr/>
          <a:lstStyle/>
          <a:p>
            <a:endParaRPr lang="en-US"/>
          </a:p>
        </p:txBody>
      </p:sp>
      <p:sp>
        <p:nvSpPr>
          <p:cNvPr id="155" name="Text 154">
            <a:hlinkClick r:id="rId20"/>
          </p:cNvPr>
          <p:cNvSpPr txBox="1"/>
          <p:nvPr/>
        </p:nvSpPr>
        <p:spPr>
          <a:xfrm>
            <a:off x="4343400" y="5223867"/>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56" name="Text 155">
            <a:hlinkClick r:id="rId20"/>
          </p:cNvPr>
          <p:cNvSpPr txBox="1"/>
          <p:nvPr/>
        </p:nvSpPr>
        <p:spPr>
          <a:xfrm>
            <a:off x="4853285" y="5223867"/>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57" name="Text 156">
            <a:hlinkClick r:id="rId20"/>
          </p:cNvPr>
          <p:cNvSpPr txBox="1"/>
          <p:nvPr/>
        </p:nvSpPr>
        <p:spPr>
          <a:xfrm>
            <a:off x="4343400" y="54500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GSM WINGS</a:t>
            </a:r>
            <a:endParaRPr lang="en-US" sz="780" dirty="0"/>
          </a:p>
        </p:txBody>
      </p:sp>
      <p:sp>
        <p:nvSpPr>
          <p:cNvPr id="158" name="Text 157">
            <a:hlinkClick r:id="rId20"/>
          </p:cNvPr>
          <p:cNvSpPr txBox="1"/>
          <p:nvPr/>
        </p:nvSpPr>
        <p:spPr>
          <a:xfrm>
            <a:off x="4343400" y="55701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Sports bar and grill restaurant group, Texas</a:t>
            </a:r>
            <a:endParaRPr lang="en-US" sz="660" dirty="0"/>
          </a:p>
        </p:txBody>
      </p:sp>
      <p:sp>
        <p:nvSpPr>
          <p:cNvPr id="159" name="Text 158">
            <a:hlinkClick r:id="rId20"/>
          </p:cNvPr>
          <p:cNvSpPr txBox="1"/>
          <p:nvPr/>
        </p:nvSpPr>
        <p:spPr>
          <a:xfrm>
            <a:off x="4343400" y="58129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GPC Investments</a:t>
            </a:r>
            <a:endParaRPr lang="en-US" sz="555" dirty="0"/>
          </a:p>
        </p:txBody>
      </p:sp>
      <p:sp>
        <p:nvSpPr>
          <p:cNvPr id="160" name="Shape 159"/>
          <p:cNvSpPr/>
          <p:nvPr/>
        </p:nvSpPr>
        <p:spPr>
          <a:xfrm>
            <a:off x="6070550" y="5146625"/>
            <a:ext cx="1746200" cy="860375"/>
          </a:xfrm>
          <a:prstGeom prst="rect">
            <a:avLst/>
          </a:prstGeom>
          <a:solidFill>
            <a:srgbClr val="FAF7F3"/>
          </a:solidFill>
          <a:ln/>
        </p:spPr>
        <p:txBody>
          <a:bodyPr/>
          <a:lstStyle/>
          <a:p>
            <a:endParaRPr lang="en-US"/>
          </a:p>
        </p:txBody>
      </p:sp>
      <p:sp>
        <p:nvSpPr>
          <p:cNvPr id="161" name="Shape 160"/>
          <p:cNvSpPr/>
          <p:nvPr/>
        </p:nvSpPr>
        <p:spPr>
          <a:xfrm>
            <a:off x="6070550" y="5146625"/>
            <a:ext cx="1746200" cy="19050"/>
          </a:xfrm>
          <a:prstGeom prst="rect">
            <a:avLst/>
          </a:prstGeom>
          <a:solidFill>
            <a:srgbClr val="B68757"/>
          </a:solidFill>
          <a:ln/>
        </p:spPr>
        <p:txBody>
          <a:bodyPr/>
          <a:lstStyle/>
          <a:p>
            <a:endParaRPr lang="en-US"/>
          </a:p>
        </p:txBody>
      </p:sp>
      <p:sp>
        <p:nvSpPr>
          <p:cNvPr id="162" name="Text 161">
            <a:hlinkClick r:id="rId21"/>
          </p:cNvPr>
          <p:cNvSpPr txBox="1"/>
          <p:nvPr/>
        </p:nvSpPr>
        <p:spPr>
          <a:xfrm>
            <a:off x="6165800" y="5223867"/>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63" name="Text 162">
            <a:hlinkClick r:id="rId21"/>
          </p:cNvPr>
          <p:cNvSpPr txBox="1"/>
          <p:nvPr/>
        </p:nvSpPr>
        <p:spPr>
          <a:xfrm>
            <a:off x="6675686" y="5223867"/>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64" name="Text 163">
            <a:hlinkClick r:id="rId21"/>
          </p:cNvPr>
          <p:cNvSpPr txBox="1"/>
          <p:nvPr/>
        </p:nvSpPr>
        <p:spPr>
          <a:xfrm>
            <a:off x="6165800" y="54500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SOUTHERN POOL DESIGNS</a:t>
            </a:r>
            <a:endParaRPr lang="en-US" sz="780" dirty="0"/>
          </a:p>
        </p:txBody>
      </p:sp>
      <p:sp>
        <p:nvSpPr>
          <p:cNvPr id="165" name="Text 164">
            <a:hlinkClick r:id="rId21"/>
          </p:cNvPr>
          <p:cNvSpPr txBox="1"/>
          <p:nvPr/>
        </p:nvSpPr>
        <p:spPr>
          <a:xfrm>
            <a:off x="6165800" y="55701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Custom pool design and construction, Central Florida</a:t>
            </a:r>
            <a:endParaRPr lang="en-US" sz="660" dirty="0"/>
          </a:p>
        </p:txBody>
      </p:sp>
      <p:sp>
        <p:nvSpPr>
          <p:cNvPr id="166" name="Text 165">
            <a:hlinkClick r:id="rId21"/>
          </p:cNvPr>
          <p:cNvSpPr txBox="1"/>
          <p:nvPr/>
        </p:nvSpPr>
        <p:spPr>
          <a:xfrm>
            <a:off x="6165800" y="5812929"/>
            <a:ext cx="1608386"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an individual investor</a:t>
            </a:r>
            <a:endParaRPr lang="en-US" sz="555" dirty="0"/>
          </a:p>
        </p:txBody>
      </p:sp>
      <p:sp>
        <p:nvSpPr>
          <p:cNvPr id="167" name="Shape 166"/>
          <p:cNvSpPr/>
          <p:nvPr/>
        </p:nvSpPr>
        <p:spPr>
          <a:xfrm>
            <a:off x="7892951" y="5146625"/>
            <a:ext cx="1746200" cy="860375"/>
          </a:xfrm>
          <a:prstGeom prst="rect">
            <a:avLst/>
          </a:prstGeom>
          <a:solidFill>
            <a:srgbClr val="FAF7F3"/>
          </a:solidFill>
          <a:ln/>
        </p:spPr>
        <p:txBody>
          <a:bodyPr/>
          <a:lstStyle/>
          <a:p>
            <a:endParaRPr lang="en-US"/>
          </a:p>
        </p:txBody>
      </p:sp>
      <p:sp>
        <p:nvSpPr>
          <p:cNvPr id="168" name="Shape 167"/>
          <p:cNvSpPr/>
          <p:nvPr/>
        </p:nvSpPr>
        <p:spPr>
          <a:xfrm>
            <a:off x="7892951" y="5146625"/>
            <a:ext cx="1746200" cy="19050"/>
          </a:xfrm>
          <a:prstGeom prst="rect">
            <a:avLst/>
          </a:prstGeom>
          <a:solidFill>
            <a:srgbClr val="B68757"/>
          </a:solidFill>
          <a:ln/>
        </p:spPr>
        <p:txBody>
          <a:bodyPr/>
          <a:lstStyle/>
          <a:p>
            <a:endParaRPr lang="en-US"/>
          </a:p>
        </p:txBody>
      </p:sp>
      <p:sp>
        <p:nvSpPr>
          <p:cNvPr id="169" name="Text 168">
            <a:hlinkClick r:id="rId22"/>
          </p:cNvPr>
          <p:cNvSpPr txBox="1"/>
          <p:nvPr/>
        </p:nvSpPr>
        <p:spPr>
          <a:xfrm>
            <a:off x="7988201" y="5166866"/>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70" name="Text 169">
            <a:hlinkClick r:id="rId22"/>
          </p:cNvPr>
          <p:cNvSpPr txBox="1"/>
          <p:nvPr/>
        </p:nvSpPr>
        <p:spPr>
          <a:xfrm>
            <a:off x="8498086" y="5166866"/>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71" name="Text 170">
            <a:hlinkClick r:id="rId22"/>
          </p:cNvPr>
          <p:cNvSpPr txBox="1"/>
          <p:nvPr/>
        </p:nvSpPr>
        <p:spPr>
          <a:xfrm>
            <a:off x="7988201" y="53930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SMART BUFFET WARE</a:t>
            </a:r>
            <a:endParaRPr lang="en-US" sz="780" dirty="0"/>
          </a:p>
        </p:txBody>
      </p:sp>
      <p:sp>
        <p:nvSpPr>
          <p:cNvPr id="172" name="Text 171">
            <a:hlinkClick r:id="rId22"/>
          </p:cNvPr>
          <p:cNvSpPr txBox="1"/>
          <p:nvPr/>
        </p:nvSpPr>
        <p:spPr>
          <a:xfrm>
            <a:off x="7988201" y="55131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Buffet and food presentation equipment, Daphne, AL</a:t>
            </a:r>
            <a:endParaRPr lang="en-US" sz="660" dirty="0"/>
          </a:p>
        </p:txBody>
      </p:sp>
      <p:sp>
        <p:nvSpPr>
          <p:cNvPr id="173" name="Text 172">
            <a:hlinkClick r:id="rId22"/>
          </p:cNvPr>
          <p:cNvSpPr txBox="1"/>
          <p:nvPr/>
        </p:nvSpPr>
        <p:spPr>
          <a:xfrm>
            <a:off x="7988201" y="575592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Front of House Worldwide</a:t>
            </a:r>
            <a:endParaRPr lang="en-US" sz="555" dirty="0"/>
          </a:p>
        </p:txBody>
      </p:sp>
      <p:sp>
        <p:nvSpPr>
          <p:cNvPr id="174" name="Shape 173"/>
          <p:cNvSpPr/>
          <p:nvPr/>
        </p:nvSpPr>
        <p:spPr>
          <a:xfrm>
            <a:off x="4248150" y="6073676"/>
            <a:ext cx="1746200" cy="860524"/>
          </a:xfrm>
          <a:prstGeom prst="rect">
            <a:avLst/>
          </a:prstGeom>
          <a:solidFill>
            <a:srgbClr val="FAF7F3"/>
          </a:solidFill>
          <a:ln/>
        </p:spPr>
        <p:txBody>
          <a:bodyPr/>
          <a:lstStyle/>
          <a:p>
            <a:endParaRPr lang="en-US"/>
          </a:p>
        </p:txBody>
      </p:sp>
      <p:sp>
        <p:nvSpPr>
          <p:cNvPr id="175" name="Shape 174"/>
          <p:cNvSpPr/>
          <p:nvPr/>
        </p:nvSpPr>
        <p:spPr>
          <a:xfrm>
            <a:off x="4248150" y="6073676"/>
            <a:ext cx="1746200" cy="19050"/>
          </a:xfrm>
          <a:prstGeom prst="rect">
            <a:avLst/>
          </a:prstGeom>
          <a:solidFill>
            <a:srgbClr val="B68757"/>
          </a:solidFill>
          <a:ln/>
        </p:spPr>
        <p:txBody>
          <a:bodyPr/>
          <a:lstStyle/>
          <a:p>
            <a:endParaRPr lang="en-US"/>
          </a:p>
        </p:txBody>
      </p:sp>
      <p:sp>
        <p:nvSpPr>
          <p:cNvPr id="176" name="Text 175">
            <a:hlinkClick r:id="rId23"/>
          </p:cNvPr>
          <p:cNvSpPr txBox="1"/>
          <p:nvPr/>
        </p:nvSpPr>
        <p:spPr>
          <a:xfrm>
            <a:off x="4343400" y="6201073"/>
            <a:ext cx="483245"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2025</a:t>
            </a:r>
            <a:endParaRPr lang="en-US" sz="555" dirty="0"/>
          </a:p>
        </p:txBody>
      </p:sp>
      <p:sp>
        <p:nvSpPr>
          <p:cNvPr id="177" name="Text 176">
            <a:hlinkClick r:id="rId23"/>
          </p:cNvPr>
          <p:cNvSpPr txBox="1"/>
          <p:nvPr/>
        </p:nvSpPr>
        <p:spPr>
          <a:xfrm>
            <a:off x="5085457" y="6201073"/>
            <a:ext cx="813643" cy="100013"/>
          </a:xfrm>
          <a:prstGeom prst="rect">
            <a:avLst/>
          </a:prstGeom>
          <a:noFill/>
          <a:ln/>
        </p:spPr>
        <p:txBody>
          <a:bodyPr wrap="none" lIns="0" tIns="0" rIns="0" bIns="0" rtlCol="0" anchor="t"/>
          <a:lstStyle/>
          <a:p>
            <a:pPr marL="0" indent="0" algn="r">
              <a:lnSpc>
                <a:spcPts val="788"/>
              </a:lnSpc>
              <a:buNone/>
            </a:pPr>
            <a:r>
              <a:rPr lang="en-US" sz="555" b="1" kern="0" spc="90" dirty="0">
                <a:solidFill>
                  <a:srgbClr val="8C6239"/>
                </a:solidFill>
                <a:latin typeface="Quicksand" pitchFamily="34" charset="0"/>
              </a:rPr>
              <a:t>FOOD &amp; BEVERAGE</a:t>
            </a:r>
            <a:endParaRPr lang="en-US" sz="555" dirty="0"/>
          </a:p>
        </p:txBody>
      </p:sp>
      <p:sp>
        <p:nvSpPr>
          <p:cNvPr id="178" name="Text 177">
            <a:hlinkClick r:id="rId23"/>
          </p:cNvPr>
          <p:cNvSpPr txBox="1"/>
          <p:nvPr/>
        </p:nvSpPr>
        <p:spPr>
          <a:xfrm>
            <a:off x="4343400" y="6327279"/>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NOVA SEAFOOD</a:t>
            </a:r>
            <a:endParaRPr lang="en-US" sz="780" dirty="0"/>
          </a:p>
        </p:txBody>
      </p:sp>
      <p:sp>
        <p:nvSpPr>
          <p:cNvPr id="179" name="Text 178">
            <a:hlinkClick r:id="rId23"/>
          </p:cNvPr>
          <p:cNvSpPr txBox="1"/>
          <p:nvPr/>
        </p:nvSpPr>
        <p:spPr>
          <a:xfrm>
            <a:off x="4343400" y="6447294"/>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Seafood importer, processor and distributor, Portland, ME</a:t>
            </a:r>
            <a:endParaRPr lang="en-US" sz="660" dirty="0"/>
          </a:p>
        </p:txBody>
      </p:sp>
      <p:sp>
        <p:nvSpPr>
          <p:cNvPr id="180" name="Text 179">
            <a:hlinkClick r:id="rId23"/>
          </p:cNvPr>
          <p:cNvSpPr txBox="1"/>
          <p:nvPr/>
        </p:nvSpPr>
        <p:spPr>
          <a:xfrm>
            <a:off x="4343400" y="6690122"/>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Highwood Harbor</a:t>
            </a:r>
            <a:endParaRPr lang="en-US" sz="555" dirty="0"/>
          </a:p>
        </p:txBody>
      </p:sp>
      <p:sp>
        <p:nvSpPr>
          <p:cNvPr id="181" name="Shape 180"/>
          <p:cNvSpPr/>
          <p:nvPr/>
        </p:nvSpPr>
        <p:spPr>
          <a:xfrm>
            <a:off x="6070550" y="6073676"/>
            <a:ext cx="1746200" cy="860524"/>
          </a:xfrm>
          <a:prstGeom prst="rect">
            <a:avLst/>
          </a:prstGeom>
          <a:solidFill>
            <a:srgbClr val="FAF7F3"/>
          </a:solidFill>
          <a:ln/>
        </p:spPr>
        <p:txBody>
          <a:bodyPr/>
          <a:lstStyle/>
          <a:p>
            <a:endParaRPr lang="en-US"/>
          </a:p>
        </p:txBody>
      </p:sp>
      <p:sp>
        <p:nvSpPr>
          <p:cNvPr id="182" name="Shape 181"/>
          <p:cNvSpPr/>
          <p:nvPr/>
        </p:nvSpPr>
        <p:spPr>
          <a:xfrm>
            <a:off x="6070550" y="6073676"/>
            <a:ext cx="1746200" cy="19050"/>
          </a:xfrm>
          <a:prstGeom prst="rect">
            <a:avLst/>
          </a:prstGeom>
          <a:solidFill>
            <a:srgbClr val="B68757"/>
          </a:solidFill>
          <a:ln/>
        </p:spPr>
        <p:txBody>
          <a:bodyPr/>
          <a:lstStyle/>
          <a:p>
            <a:endParaRPr lang="en-US"/>
          </a:p>
        </p:txBody>
      </p:sp>
      <p:sp>
        <p:nvSpPr>
          <p:cNvPr id="183" name="Text 182">
            <a:hlinkClick r:id="rId24"/>
          </p:cNvPr>
          <p:cNvSpPr txBox="1"/>
          <p:nvPr/>
        </p:nvSpPr>
        <p:spPr>
          <a:xfrm>
            <a:off x="6165800" y="6151066"/>
            <a:ext cx="458242"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FEB 2025</a:t>
            </a:r>
            <a:endParaRPr lang="en-US" sz="555" dirty="0"/>
          </a:p>
        </p:txBody>
      </p:sp>
      <p:sp>
        <p:nvSpPr>
          <p:cNvPr id="184" name="Text 183">
            <a:hlinkClick r:id="rId24"/>
          </p:cNvPr>
          <p:cNvSpPr txBox="1"/>
          <p:nvPr/>
        </p:nvSpPr>
        <p:spPr>
          <a:xfrm>
            <a:off x="6609755" y="6151066"/>
            <a:ext cx="1111746"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85" name="Text 184">
            <a:hlinkClick r:id="rId24"/>
          </p:cNvPr>
          <p:cNvSpPr txBox="1"/>
          <p:nvPr/>
        </p:nvSpPr>
        <p:spPr>
          <a:xfrm>
            <a:off x="6165800" y="63772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PALM COAST SALES</a:t>
            </a:r>
            <a:endParaRPr lang="en-US" sz="780" dirty="0"/>
          </a:p>
        </p:txBody>
      </p:sp>
      <p:sp>
        <p:nvSpPr>
          <p:cNvPr id="186" name="Text 185">
            <a:hlinkClick r:id="rId24"/>
          </p:cNvPr>
          <p:cNvSpPr txBox="1"/>
          <p:nvPr/>
        </p:nvSpPr>
        <p:spPr>
          <a:xfrm>
            <a:off x="6165800" y="64973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Distributor of premium grills and outdoor kitchens, Jupiter, FL</a:t>
            </a:r>
            <a:endParaRPr lang="en-US" sz="660" dirty="0"/>
          </a:p>
        </p:txBody>
      </p:sp>
      <p:sp>
        <p:nvSpPr>
          <p:cNvPr id="187" name="Text 186">
            <a:hlinkClick r:id="rId24"/>
          </p:cNvPr>
          <p:cNvSpPr txBox="1"/>
          <p:nvPr/>
        </p:nvSpPr>
        <p:spPr>
          <a:xfrm>
            <a:off x="6165800" y="6740128"/>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Fourshore Partners</a:t>
            </a:r>
            <a:endParaRPr lang="en-US" sz="555" dirty="0"/>
          </a:p>
        </p:txBody>
      </p:sp>
      <p:sp>
        <p:nvSpPr>
          <p:cNvPr id="188" name="Shape 187"/>
          <p:cNvSpPr/>
          <p:nvPr/>
        </p:nvSpPr>
        <p:spPr>
          <a:xfrm>
            <a:off x="7892951" y="6073676"/>
            <a:ext cx="1746200" cy="860524"/>
          </a:xfrm>
          <a:prstGeom prst="rect">
            <a:avLst/>
          </a:prstGeom>
          <a:solidFill>
            <a:srgbClr val="1B1A1A"/>
          </a:solidFill>
          <a:ln/>
        </p:spPr>
        <p:txBody>
          <a:bodyPr/>
          <a:lstStyle/>
          <a:p>
            <a:endParaRPr lang="en-US"/>
          </a:p>
        </p:txBody>
      </p:sp>
      <p:sp>
        <p:nvSpPr>
          <p:cNvPr id="189" name="Text 188"/>
          <p:cNvSpPr txBox="1"/>
          <p:nvPr/>
        </p:nvSpPr>
        <p:spPr>
          <a:xfrm>
            <a:off x="7988201" y="6280100"/>
            <a:ext cx="1569988" cy="442913"/>
          </a:xfrm>
          <a:prstGeom prst="rect">
            <a:avLst/>
          </a:prstGeom>
          <a:noFill/>
          <a:ln/>
        </p:spPr>
        <p:txBody>
          <a:bodyPr wrap="square" lIns="0" tIns="0" rIns="0" bIns="0" rtlCol="0" anchor="t"/>
          <a:lstStyle/>
          <a:p>
            <a:pPr marL="0" indent="0" algn="l">
              <a:lnSpc>
                <a:spcPts val="1163"/>
              </a:lnSpc>
              <a:buNone/>
            </a:pPr>
            <a:r>
              <a:rPr lang="en-US" sz="863" i="1" kern="0" spc="15" dirty="0">
                <a:solidFill>
                  <a:srgbClr val="FFFFFF"/>
                </a:solidFill>
                <a:latin typeface="Newsreader Medium" pitchFamily="34" charset="0"/>
              </a:rPr>
              <a:t>Fifteen further consumer transactions closed in the period are not named.</a:t>
            </a:r>
            <a:endParaRPr lang="en-US" sz="863" dirty="0"/>
          </a:p>
        </p:txBody>
      </p:sp>
      <p:sp>
        <p:nvSpPr>
          <p:cNvPr id="190" name="Shape 189"/>
          <p:cNvSpPr/>
          <p:nvPr/>
        </p:nvSpPr>
        <p:spPr>
          <a:xfrm>
            <a:off x="419100" y="7029450"/>
            <a:ext cx="9220200" cy="9525"/>
          </a:xfrm>
          <a:prstGeom prst="rect">
            <a:avLst/>
          </a:prstGeom>
          <a:solidFill>
            <a:srgbClr val="E3DCD3"/>
          </a:solidFill>
          <a:ln/>
        </p:spPr>
        <p:txBody>
          <a:bodyPr/>
          <a:lstStyle/>
          <a:p>
            <a:endParaRPr lang="en-US"/>
          </a:p>
        </p:txBody>
      </p:sp>
      <p:pic>
        <p:nvPicPr>
          <p:cNvPr id="191" name="Benchmark International" descr="Benchmark International"/>
          <p:cNvPicPr>
            <a:picLocks noChangeAspect="1"/>
          </p:cNvPicPr>
          <p:nvPr/>
        </p:nvPicPr>
        <p:blipFill>
          <a:blip r:embed="rId25"/>
          <a:stretch>
            <a:fillRect/>
          </a:stretch>
        </p:blipFill>
        <p:spPr>
          <a:xfrm>
            <a:off x="419100" y="7143750"/>
            <a:ext cx="914400" cy="171450"/>
          </a:xfrm>
          <a:prstGeom prst="rect">
            <a:avLst/>
          </a:prstGeom>
        </p:spPr>
      </p:pic>
      <p:sp>
        <p:nvSpPr>
          <p:cNvPr id="192" name="Text 19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Each tile links to the announcement on benchmarkintl.com, and Benchmark International advised the seller in each. Counts are from Benchmark International’s transaction records for January 1, 2025 through September 30, 2026; engagements in progress are shown in aggregate only.</a:t>
            </a:r>
            <a:endParaRPr lang="en-US" sz="675" dirty="0"/>
          </a:p>
        </p:txBody>
      </p:sp>
      <p:sp>
        <p:nvSpPr>
          <p:cNvPr id="193" name="Text 192"/>
          <p:cNvSpPr txBox="1"/>
          <p:nvPr/>
        </p:nvSpPr>
        <p:spPr>
          <a:xfrm>
            <a:off x="9510415" y="7162800"/>
            <a:ext cx="186035"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10</a:t>
            </a:r>
            <a:endParaRPr lang="en-US" sz="713"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Who Is Buying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Founder- and family-owned consumer businesses draw bids from operating companies, sponsor-backed platforms and first-time investors in a category.</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984450" cy="2790825"/>
          </a:xfrm>
          <a:prstGeom prst="rect">
            <a:avLst/>
          </a:prstGeom>
          <a:solidFill>
            <a:srgbClr val="FAF7F3"/>
          </a:solidFill>
          <a:ln/>
        </p:spPr>
        <p:txBody>
          <a:bodyPr/>
          <a:lstStyle/>
          <a:p>
            <a:endParaRPr lang="en-US"/>
          </a:p>
        </p:txBody>
      </p:sp>
      <p:sp>
        <p:nvSpPr>
          <p:cNvPr id="10" name="Shape 9"/>
          <p:cNvSpPr/>
          <p:nvPr/>
        </p:nvSpPr>
        <p:spPr>
          <a:xfrm>
            <a:off x="419100" y="1238250"/>
            <a:ext cx="2984450" cy="28575"/>
          </a:xfrm>
          <a:prstGeom prst="rect">
            <a:avLst/>
          </a:prstGeom>
          <a:solidFill>
            <a:srgbClr val="B68757"/>
          </a:solidFill>
          <a:ln/>
        </p:spPr>
        <p:txBody>
          <a:bodyPr/>
          <a:lstStyle/>
          <a:p>
            <a:endParaRPr lang="en-US"/>
          </a:p>
        </p:txBody>
      </p:sp>
      <p:sp>
        <p:nvSpPr>
          <p:cNvPr id="11" name="Dot 10"/>
          <p:cNvSpPr/>
          <p:nvPr/>
        </p:nvSpPr>
        <p:spPr>
          <a:xfrm>
            <a:off x="561975" y="1362075"/>
            <a:ext cx="304800" cy="304800"/>
          </a:xfrm>
          <a:prstGeom prst="ellipse">
            <a:avLst/>
          </a:prstGeom>
          <a:solidFill>
            <a:srgbClr val="1B1A1A"/>
          </a:solidFill>
          <a:ln/>
        </p:spPr>
        <p:txBody>
          <a:bodyPr/>
          <a:lstStyle/>
          <a:p>
            <a:endParaRPr lang="en-US"/>
          </a:p>
        </p:txBody>
      </p:sp>
      <p:pic>
        <p:nvPicPr>
          <p:cNvPr id="12" name="Icon" descr="/tmp/claude-0/-home-claude-about/4bef2f41-4227-5ff7-ab18-11ac74cd9797/scratchpad/pptx/ex/media/def9bdf75f56.png"/>
          <p:cNvPicPr>
            <a:picLocks noChangeAspect="1"/>
          </p:cNvPicPr>
          <p:nvPr/>
        </p:nvPicPr>
        <p:blipFill>
          <a:blip r:embed="rId3"/>
          <a:stretch>
            <a:fillRect/>
          </a:stretch>
        </p:blipFill>
        <p:spPr>
          <a:xfrm>
            <a:off x="633413" y="1433513"/>
            <a:ext cx="161925" cy="161925"/>
          </a:xfrm>
          <a:prstGeom prst="rect">
            <a:avLst/>
          </a:prstGeom>
        </p:spPr>
      </p:pic>
      <p:sp>
        <p:nvSpPr>
          <p:cNvPr id="13" name="Text 12"/>
          <p:cNvSpPr txBox="1"/>
          <p:nvPr/>
        </p:nvSpPr>
        <p:spPr>
          <a:xfrm>
            <a:off x="962025" y="1438275"/>
            <a:ext cx="2053530" cy="147638"/>
          </a:xfrm>
          <a:prstGeom prst="rect">
            <a:avLst/>
          </a:prstGeom>
          <a:noFill/>
          <a:ln/>
        </p:spPr>
        <p:txBody>
          <a:bodyPr wrap="none" lIns="0" tIns="0" rIns="0" bIns="0" rtlCol="0" anchor="t"/>
          <a:lstStyle/>
          <a:p>
            <a:pPr marL="0" indent="0" algn="l">
              <a:lnSpc>
                <a:spcPts val="1163"/>
              </a:lnSpc>
              <a:buNone/>
            </a:pPr>
            <a:r>
              <a:rPr lang="en-US" sz="915" b="1" kern="0" spc="15" dirty="0">
                <a:solidFill>
                  <a:srgbClr val="1B1A1A"/>
                </a:solidFill>
                <a:latin typeface="Quicksand" pitchFamily="34" charset="0"/>
              </a:rPr>
              <a:t>Public and large private strategics</a:t>
            </a:r>
            <a:endParaRPr lang="en-US" sz="915" dirty="0"/>
          </a:p>
        </p:txBody>
      </p:sp>
      <p:sp>
        <p:nvSpPr>
          <p:cNvPr id="14" name="Text 13"/>
          <p:cNvSpPr txBox="1"/>
          <p:nvPr/>
        </p:nvSpPr>
        <p:spPr>
          <a:xfrm>
            <a:off x="561975" y="1716881"/>
            <a:ext cx="2712988"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Buying brands, capacity and distribution to fill category gaps faster than they could build them.</a:t>
            </a:r>
            <a:endParaRPr lang="en-US" sz="765" dirty="0"/>
          </a:p>
        </p:txBody>
      </p:sp>
      <p:sp>
        <p:nvSpPr>
          <p:cNvPr id="15" name="Text 14"/>
          <p:cNvSpPr txBox="1"/>
          <p:nvPr/>
        </p:nvSpPr>
        <p:spPr>
          <a:xfrm>
            <a:off x="561975" y="2052637"/>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6" name="Shape 15"/>
          <p:cNvSpPr/>
          <p:nvPr/>
        </p:nvSpPr>
        <p:spPr>
          <a:xfrm>
            <a:off x="561975" y="2214563"/>
            <a:ext cx="851595" cy="161925"/>
          </a:xfrm>
          <a:prstGeom prst="rect">
            <a:avLst/>
          </a:prstGeom>
          <a:solidFill>
            <a:srgbClr val="FFFFFF"/>
          </a:solidFill>
          <a:ln/>
        </p:spPr>
        <p:txBody>
          <a:bodyPr/>
          <a:lstStyle/>
          <a:p>
            <a:endParaRPr lang="en-US"/>
          </a:p>
        </p:txBody>
      </p:sp>
      <p:sp>
        <p:nvSpPr>
          <p:cNvPr id="17" name="Shape 16"/>
          <p:cNvSpPr/>
          <p:nvPr/>
        </p:nvSpPr>
        <p:spPr>
          <a:xfrm>
            <a:off x="566738" y="2219325"/>
            <a:ext cx="842070" cy="152400"/>
          </a:xfrm>
          <a:prstGeom prst="rect">
            <a:avLst/>
          </a:prstGeom>
          <a:ln w="9525">
            <a:solidFill>
              <a:srgbClr val="C3BDB6"/>
            </a:solidFill>
            <a:prstDash val="solid"/>
          </a:ln>
        </p:spPr>
        <p:txBody>
          <a:bodyPr/>
          <a:lstStyle/>
          <a:p>
            <a:endParaRPr lang="en-US"/>
          </a:p>
        </p:txBody>
      </p:sp>
      <p:sp>
        <p:nvSpPr>
          <p:cNvPr id="18" name="Text 17"/>
          <p:cNvSpPr txBox="1"/>
          <p:nvPr/>
        </p:nvSpPr>
        <p:spPr>
          <a:xfrm>
            <a:off x="628650" y="2233613"/>
            <a:ext cx="77539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Procter &amp; Gamble</a:t>
            </a:r>
            <a:endParaRPr lang="en-US" sz="660" dirty="0"/>
          </a:p>
        </p:txBody>
      </p:sp>
      <p:sp>
        <p:nvSpPr>
          <p:cNvPr id="19" name="Shape 18"/>
          <p:cNvSpPr/>
          <p:nvPr/>
        </p:nvSpPr>
        <p:spPr>
          <a:xfrm>
            <a:off x="1451670" y="2214563"/>
            <a:ext cx="431155" cy="161925"/>
          </a:xfrm>
          <a:prstGeom prst="rect">
            <a:avLst/>
          </a:prstGeom>
          <a:solidFill>
            <a:srgbClr val="FFFFFF"/>
          </a:solidFill>
          <a:ln/>
        </p:spPr>
        <p:txBody>
          <a:bodyPr/>
          <a:lstStyle/>
          <a:p>
            <a:endParaRPr lang="en-US"/>
          </a:p>
        </p:txBody>
      </p:sp>
      <p:sp>
        <p:nvSpPr>
          <p:cNvPr id="20" name="Shape 19"/>
          <p:cNvSpPr/>
          <p:nvPr/>
        </p:nvSpPr>
        <p:spPr>
          <a:xfrm>
            <a:off x="1456432" y="2219325"/>
            <a:ext cx="421630" cy="152400"/>
          </a:xfrm>
          <a:prstGeom prst="rect">
            <a:avLst/>
          </a:prstGeom>
          <a:ln w="9525">
            <a:solidFill>
              <a:srgbClr val="C3BDB6"/>
            </a:solidFill>
            <a:prstDash val="solid"/>
          </a:ln>
        </p:spPr>
        <p:txBody>
          <a:bodyPr/>
          <a:lstStyle/>
          <a:p>
            <a:endParaRPr lang="en-US"/>
          </a:p>
        </p:txBody>
      </p:sp>
      <p:sp>
        <p:nvSpPr>
          <p:cNvPr id="21" name="Text 20"/>
          <p:cNvSpPr txBox="1"/>
          <p:nvPr/>
        </p:nvSpPr>
        <p:spPr>
          <a:xfrm>
            <a:off x="1518345" y="2233613"/>
            <a:ext cx="35495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Hormel</a:t>
            </a:r>
            <a:endParaRPr lang="en-US" sz="660" dirty="0"/>
          </a:p>
        </p:txBody>
      </p:sp>
      <p:sp>
        <p:nvSpPr>
          <p:cNvPr id="22" name="Shape 21"/>
          <p:cNvSpPr/>
          <p:nvPr/>
        </p:nvSpPr>
        <p:spPr>
          <a:xfrm>
            <a:off x="1920925" y="2214563"/>
            <a:ext cx="389334" cy="161925"/>
          </a:xfrm>
          <a:prstGeom prst="rect">
            <a:avLst/>
          </a:prstGeom>
          <a:solidFill>
            <a:srgbClr val="FFFFFF"/>
          </a:solidFill>
          <a:ln/>
        </p:spPr>
        <p:txBody>
          <a:bodyPr/>
          <a:lstStyle/>
          <a:p>
            <a:endParaRPr lang="en-US"/>
          </a:p>
        </p:txBody>
      </p:sp>
      <p:sp>
        <p:nvSpPr>
          <p:cNvPr id="23" name="Shape 22"/>
          <p:cNvSpPr/>
          <p:nvPr/>
        </p:nvSpPr>
        <p:spPr>
          <a:xfrm>
            <a:off x="1925687" y="2219325"/>
            <a:ext cx="379809" cy="152400"/>
          </a:xfrm>
          <a:prstGeom prst="rect">
            <a:avLst/>
          </a:prstGeom>
          <a:ln w="9525">
            <a:solidFill>
              <a:srgbClr val="C3BDB6"/>
            </a:solidFill>
            <a:prstDash val="solid"/>
          </a:ln>
        </p:spPr>
        <p:txBody>
          <a:bodyPr/>
          <a:lstStyle/>
          <a:p>
            <a:endParaRPr lang="en-US"/>
          </a:p>
        </p:txBody>
      </p:sp>
      <p:sp>
        <p:nvSpPr>
          <p:cNvPr id="24" name="Text 23"/>
          <p:cNvSpPr txBox="1"/>
          <p:nvPr/>
        </p:nvSpPr>
        <p:spPr>
          <a:xfrm>
            <a:off x="1987600" y="2233613"/>
            <a:ext cx="31313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Clorox</a:t>
            </a:r>
            <a:endParaRPr lang="en-US" sz="660" dirty="0"/>
          </a:p>
        </p:txBody>
      </p:sp>
      <p:sp>
        <p:nvSpPr>
          <p:cNvPr id="25" name="Shape 24"/>
          <p:cNvSpPr/>
          <p:nvPr/>
        </p:nvSpPr>
        <p:spPr>
          <a:xfrm>
            <a:off x="2348359" y="2214563"/>
            <a:ext cx="410617" cy="161925"/>
          </a:xfrm>
          <a:prstGeom prst="rect">
            <a:avLst/>
          </a:prstGeom>
          <a:solidFill>
            <a:srgbClr val="FFFFFF"/>
          </a:solidFill>
          <a:ln/>
        </p:spPr>
        <p:txBody>
          <a:bodyPr/>
          <a:lstStyle/>
          <a:p>
            <a:endParaRPr lang="en-US"/>
          </a:p>
        </p:txBody>
      </p:sp>
      <p:sp>
        <p:nvSpPr>
          <p:cNvPr id="26" name="Shape 25"/>
          <p:cNvSpPr/>
          <p:nvPr/>
        </p:nvSpPr>
        <p:spPr>
          <a:xfrm>
            <a:off x="2353121" y="2219325"/>
            <a:ext cx="401092" cy="152400"/>
          </a:xfrm>
          <a:prstGeom prst="rect">
            <a:avLst/>
          </a:prstGeom>
          <a:ln w="9525">
            <a:solidFill>
              <a:srgbClr val="C3BDB6"/>
            </a:solidFill>
            <a:prstDash val="solid"/>
          </a:ln>
        </p:spPr>
        <p:txBody>
          <a:bodyPr/>
          <a:lstStyle/>
          <a:p>
            <a:endParaRPr lang="en-US"/>
          </a:p>
        </p:txBody>
      </p:sp>
      <p:sp>
        <p:nvSpPr>
          <p:cNvPr id="27" name="Text 26"/>
          <p:cNvSpPr txBox="1"/>
          <p:nvPr/>
        </p:nvSpPr>
        <p:spPr>
          <a:xfrm>
            <a:off x="2415034" y="2233613"/>
            <a:ext cx="3344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Henkel</a:t>
            </a:r>
            <a:endParaRPr lang="en-US" sz="660" dirty="0"/>
          </a:p>
        </p:txBody>
      </p:sp>
      <p:sp>
        <p:nvSpPr>
          <p:cNvPr id="28" name="Shape 27"/>
          <p:cNvSpPr/>
          <p:nvPr/>
        </p:nvSpPr>
        <p:spPr>
          <a:xfrm>
            <a:off x="561975" y="2428875"/>
            <a:ext cx="1161901" cy="161925"/>
          </a:xfrm>
          <a:prstGeom prst="rect">
            <a:avLst/>
          </a:prstGeom>
          <a:solidFill>
            <a:srgbClr val="FFFFFF"/>
          </a:solidFill>
          <a:ln/>
        </p:spPr>
        <p:txBody>
          <a:bodyPr/>
          <a:lstStyle/>
          <a:p>
            <a:endParaRPr lang="en-US"/>
          </a:p>
        </p:txBody>
      </p:sp>
      <p:sp>
        <p:nvSpPr>
          <p:cNvPr id="29" name="Shape 28"/>
          <p:cNvSpPr/>
          <p:nvPr/>
        </p:nvSpPr>
        <p:spPr>
          <a:xfrm>
            <a:off x="566738" y="2433638"/>
            <a:ext cx="1152376" cy="152400"/>
          </a:xfrm>
          <a:prstGeom prst="rect">
            <a:avLst/>
          </a:prstGeom>
          <a:ln w="9525">
            <a:solidFill>
              <a:srgbClr val="C3BDB6"/>
            </a:solidFill>
            <a:prstDash val="solid"/>
          </a:ln>
        </p:spPr>
        <p:txBody>
          <a:bodyPr/>
          <a:lstStyle/>
          <a:p>
            <a:endParaRPr lang="en-US"/>
          </a:p>
        </p:txBody>
      </p:sp>
      <p:sp>
        <p:nvSpPr>
          <p:cNvPr id="30" name="Text 29"/>
          <p:cNvSpPr txBox="1"/>
          <p:nvPr/>
        </p:nvSpPr>
        <p:spPr>
          <a:xfrm>
            <a:off x="628650" y="2447925"/>
            <a:ext cx="108570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Performance Food Group</a:t>
            </a:r>
            <a:endParaRPr lang="en-US" sz="660" dirty="0"/>
          </a:p>
        </p:txBody>
      </p:sp>
      <p:sp>
        <p:nvSpPr>
          <p:cNvPr id="31" name="Shape 30"/>
          <p:cNvSpPr/>
          <p:nvPr/>
        </p:nvSpPr>
        <p:spPr>
          <a:xfrm>
            <a:off x="1761976" y="2428875"/>
            <a:ext cx="397222" cy="161925"/>
          </a:xfrm>
          <a:prstGeom prst="rect">
            <a:avLst/>
          </a:prstGeom>
          <a:solidFill>
            <a:srgbClr val="FFFFFF"/>
          </a:solidFill>
          <a:ln/>
        </p:spPr>
        <p:txBody>
          <a:bodyPr/>
          <a:lstStyle/>
          <a:p>
            <a:endParaRPr lang="en-US"/>
          </a:p>
        </p:txBody>
      </p:sp>
      <p:sp>
        <p:nvSpPr>
          <p:cNvPr id="32" name="Shape 31"/>
          <p:cNvSpPr/>
          <p:nvPr/>
        </p:nvSpPr>
        <p:spPr>
          <a:xfrm>
            <a:off x="1766739" y="2433638"/>
            <a:ext cx="387697" cy="152400"/>
          </a:xfrm>
          <a:prstGeom prst="rect">
            <a:avLst/>
          </a:prstGeom>
          <a:ln w="9525">
            <a:solidFill>
              <a:srgbClr val="C3BDB6"/>
            </a:solidFill>
            <a:prstDash val="solid"/>
          </a:ln>
        </p:spPr>
        <p:txBody>
          <a:bodyPr/>
          <a:lstStyle/>
          <a:p>
            <a:endParaRPr lang="en-US"/>
          </a:p>
        </p:txBody>
      </p:sp>
      <p:sp>
        <p:nvSpPr>
          <p:cNvPr id="33" name="Text 32"/>
          <p:cNvSpPr txBox="1"/>
          <p:nvPr/>
        </p:nvSpPr>
        <p:spPr>
          <a:xfrm>
            <a:off x="1828651" y="2447925"/>
            <a:ext cx="32102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Rollins</a:t>
            </a:r>
            <a:endParaRPr lang="en-US" sz="660" dirty="0"/>
          </a:p>
        </p:txBody>
      </p:sp>
      <p:sp>
        <p:nvSpPr>
          <p:cNvPr id="34" name="Shape 33"/>
          <p:cNvSpPr/>
          <p:nvPr/>
        </p:nvSpPr>
        <p:spPr>
          <a:xfrm>
            <a:off x="2197298" y="2428875"/>
            <a:ext cx="616148" cy="161925"/>
          </a:xfrm>
          <a:prstGeom prst="rect">
            <a:avLst/>
          </a:prstGeom>
          <a:solidFill>
            <a:srgbClr val="FFFFFF"/>
          </a:solidFill>
          <a:ln/>
        </p:spPr>
        <p:txBody>
          <a:bodyPr/>
          <a:lstStyle/>
          <a:p>
            <a:endParaRPr lang="en-US"/>
          </a:p>
        </p:txBody>
      </p:sp>
      <p:sp>
        <p:nvSpPr>
          <p:cNvPr id="35" name="Shape 34"/>
          <p:cNvSpPr/>
          <p:nvPr/>
        </p:nvSpPr>
        <p:spPr>
          <a:xfrm>
            <a:off x="2202061" y="2433638"/>
            <a:ext cx="606623" cy="152400"/>
          </a:xfrm>
          <a:prstGeom prst="rect">
            <a:avLst/>
          </a:prstGeom>
          <a:ln w="9525">
            <a:solidFill>
              <a:srgbClr val="C3BDB6"/>
            </a:solidFill>
            <a:prstDash val="solid"/>
          </a:ln>
        </p:spPr>
        <p:txBody>
          <a:bodyPr/>
          <a:lstStyle/>
          <a:p>
            <a:endParaRPr lang="en-US"/>
          </a:p>
        </p:txBody>
      </p:sp>
      <p:sp>
        <p:nvSpPr>
          <p:cNvPr id="36" name="Text 35"/>
          <p:cNvSpPr txBox="1"/>
          <p:nvPr/>
        </p:nvSpPr>
        <p:spPr>
          <a:xfrm>
            <a:off x="2263973" y="2447925"/>
            <a:ext cx="5399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Boyd Group</a:t>
            </a:r>
            <a:endParaRPr lang="en-US" sz="660" dirty="0"/>
          </a:p>
        </p:txBody>
      </p:sp>
      <p:sp>
        <p:nvSpPr>
          <p:cNvPr id="37" name="Text 36"/>
          <p:cNvSpPr txBox="1"/>
          <p:nvPr/>
        </p:nvSpPr>
        <p:spPr>
          <a:xfrm>
            <a:off x="561975" y="2643188"/>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38" name="Shape 37"/>
          <p:cNvSpPr/>
          <p:nvPr/>
        </p:nvSpPr>
        <p:spPr>
          <a:xfrm>
            <a:off x="561975" y="2814638"/>
            <a:ext cx="725388" cy="142875"/>
          </a:xfrm>
          <a:prstGeom prst="rect">
            <a:avLst/>
          </a:prstGeom>
          <a:solidFill>
            <a:srgbClr val="1B1A1A"/>
          </a:solidFill>
          <a:ln/>
        </p:spPr>
        <p:txBody>
          <a:bodyPr/>
          <a:lstStyle/>
          <a:p>
            <a:endParaRPr lang="en-US"/>
          </a:p>
        </p:txBody>
      </p:sp>
      <p:sp>
        <p:nvSpPr>
          <p:cNvPr id="39" name="Text 38"/>
          <p:cNvSpPr txBox="1"/>
          <p:nvPr/>
        </p:nvSpPr>
        <p:spPr>
          <a:xfrm>
            <a:off x="619125" y="2824163"/>
            <a:ext cx="6682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Burris Logistics</a:t>
            </a:r>
            <a:endParaRPr lang="en-US" sz="660" dirty="0"/>
          </a:p>
        </p:txBody>
      </p:sp>
      <p:sp>
        <p:nvSpPr>
          <p:cNvPr id="40" name="Shape 39"/>
          <p:cNvSpPr/>
          <p:nvPr/>
        </p:nvSpPr>
        <p:spPr>
          <a:xfrm>
            <a:off x="3536900" y="1238250"/>
            <a:ext cx="2984450" cy="2790825"/>
          </a:xfrm>
          <a:prstGeom prst="rect">
            <a:avLst/>
          </a:prstGeom>
          <a:solidFill>
            <a:srgbClr val="FAF7F3"/>
          </a:solidFill>
          <a:ln/>
        </p:spPr>
        <p:txBody>
          <a:bodyPr/>
          <a:lstStyle/>
          <a:p>
            <a:endParaRPr lang="en-US"/>
          </a:p>
        </p:txBody>
      </p:sp>
      <p:sp>
        <p:nvSpPr>
          <p:cNvPr id="41" name="Shape 40"/>
          <p:cNvSpPr/>
          <p:nvPr/>
        </p:nvSpPr>
        <p:spPr>
          <a:xfrm>
            <a:off x="3536900" y="1238250"/>
            <a:ext cx="2984450" cy="28575"/>
          </a:xfrm>
          <a:prstGeom prst="rect">
            <a:avLst/>
          </a:prstGeom>
          <a:solidFill>
            <a:srgbClr val="B68757"/>
          </a:solidFill>
          <a:ln/>
        </p:spPr>
        <p:txBody>
          <a:bodyPr/>
          <a:lstStyle/>
          <a:p>
            <a:endParaRPr lang="en-US"/>
          </a:p>
        </p:txBody>
      </p:sp>
      <p:sp>
        <p:nvSpPr>
          <p:cNvPr id="42" name="Dot 41"/>
          <p:cNvSpPr/>
          <p:nvPr/>
        </p:nvSpPr>
        <p:spPr>
          <a:xfrm>
            <a:off x="3679775" y="1362075"/>
            <a:ext cx="304800" cy="304800"/>
          </a:xfrm>
          <a:prstGeom prst="ellipse">
            <a:avLst/>
          </a:prstGeom>
          <a:solidFill>
            <a:srgbClr val="1B1A1A"/>
          </a:solidFill>
          <a:ln/>
        </p:spPr>
        <p:txBody>
          <a:bodyPr/>
          <a:lstStyle/>
          <a:p>
            <a:endParaRPr lang="en-US"/>
          </a:p>
        </p:txBody>
      </p:sp>
      <p:pic>
        <p:nvPicPr>
          <p:cNvPr id="43" name="Icon" descr="/tmp/claude-0/-home-claude-about/4bef2f41-4227-5ff7-ab18-11ac74cd9797/scratchpad/pptx/ex/media/14deaec9fcb9.png"/>
          <p:cNvPicPr>
            <a:picLocks noChangeAspect="1"/>
          </p:cNvPicPr>
          <p:nvPr/>
        </p:nvPicPr>
        <p:blipFill>
          <a:blip r:embed="rId4"/>
          <a:stretch>
            <a:fillRect/>
          </a:stretch>
        </p:blipFill>
        <p:spPr>
          <a:xfrm>
            <a:off x="3751213" y="1433513"/>
            <a:ext cx="161925" cy="161925"/>
          </a:xfrm>
          <a:prstGeom prst="rect">
            <a:avLst/>
          </a:prstGeom>
        </p:spPr>
      </p:pic>
      <p:sp>
        <p:nvSpPr>
          <p:cNvPr id="44" name="Text 43"/>
          <p:cNvSpPr txBox="1"/>
          <p:nvPr/>
        </p:nvSpPr>
        <p:spPr>
          <a:xfrm>
            <a:off x="4079825" y="1364456"/>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Family-owned, regional and specialist strategics</a:t>
            </a:r>
            <a:endParaRPr lang="en-US" sz="915" dirty="0"/>
          </a:p>
        </p:txBody>
      </p:sp>
      <p:sp>
        <p:nvSpPr>
          <p:cNvPr id="45" name="Text 44"/>
          <p:cNvSpPr txBox="1"/>
          <p:nvPr/>
        </p:nvSpPr>
        <p:spPr>
          <a:xfrm>
            <a:off x="3679775" y="1716881"/>
            <a:ext cx="2712988"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Operating companies that fund purchases from cash flow and are less sensitive to the cost of debt than a sponsor financing a new platform.</a:t>
            </a:r>
            <a:endParaRPr lang="en-US" sz="765" dirty="0"/>
          </a:p>
        </p:txBody>
      </p:sp>
      <p:sp>
        <p:nvSpPr>
          <p:cNvPr id="46" name="Text 45"/>
          <p:cNvSpPr txBox="1"/>
          <p:nvPr/>
        </p:nvSpPr>
        <p:spPr>
          <a:xfrm>
            <a:off x="3679775" y="219075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47" name="Shape 46"/>
          <p:cNvSpPr/>
          <p:nvPr/>
        </p:nvSpPr>
        <p:spPr>
          <a:xfrm>
            <a:off x="3679775" y="2352675"/>
            <a:ext cx="689670" cy="161925"/>
          </a:xfrm>
          <a:prstGeom prst="rect">
            <a:avLst/>
          </a:prstGeom>
          <a:solidFill>
            <a:srgbClr val="FFFFFF"/>
          </a:solidFill>
          <a:ln/>
        </p:spPr>
        <p:txBody>
          <a:bodyPr/>
          <a:lstStyle/>
          <a:p>
            <a:endParaRPr lang="en-US"/>
          </a:p>
        </p:txBody>
      </p:sp>
      <p:sp>
        <p:nvSpPr>
          <p:cNvPr id="48" name="Shape 47"/>
          <p:cNvSpPr/>
          <p:nvPr/>
        </p:nvSpPr>
        <p:spPr>
          <a:xfrm>
            <a:off x="3684538" y="2357438"/>
            <a:ext cx="680145" cy="152400"/>
          </a:xfrm>
          <a:prstGeom prst="rect">
            <a:avLst/>
          </a:prstGeom>
          <a:ln w="9525">
            <a:solidFill>
              <a:srgbClr val="C3BDB6"/>
            </a:solidFill>
            <a:prstDash val="solid"/>
          </a:ln>
        </p:spPr>
        <p:txBody>
          <a:bodyPr/>
          <a:lstStyle/>
          <a:p>
            <a:endParaRPr lang="en-US"/>
          </a:p>
        </p:txBody>
      </p:sp>
      <p:sp>
        <p:nvSpPr>
          <p:cNvPr id="49" name="Text 48"/>
          <p:cNvSpPr txBox="1"/>
          <p:nvPr/>
        </p:nvSpPr>
        <p:spPr>
          <a:xfrm>
            <a:off x="3746450" y="2371725"/>
            <a:ext cx="61347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Rich Products</a:t>
            </a:r>
            <a:endParaRPr lang="en-US" sz="660" dirty="0"/>
          </a:p>
        </p:txBody>
      </p:sp>
      <p:sp>
        <p:nvSpPr>
          <p:cNvPr id="50" name="Shape 49"/>
          <p:cNvSpPr/>
          <p:nvPr/>
        </p:nvSpPr>
        <p:spPr>
          <a:xfrm>
            <a:off x="4407545" y="2352675"/>
            <a:ext cx="502444" cy="161925"/>
          </a:xfrm>
          <a:prstGeom prst="rect">
            <a:avLst/>
          </a:prstGeom>
          <a:solidFill>
            <a:srgbClr val="FFFFFF"/>
          </a:solidFill>
          <a:ln/>
        </p:spPr>
        <p:txBody>
          <a:bodyPr/>
          <a:lstStyle/>
          <a:p>
            <a:endParaRPr lang="en-US"/>
          </a:p>
        </p:txBody>
      </p:sp>
      <p:sp>
        <p:nvSpPr>
          <p:cNvPr id="51" name="Shape 50"/>
          <p:cNvSpPr/>
          <p:nvPr/>
        </p:nvSpPr>
        <p:spPr>
          <a:xfrm>
            <a:off x="4412307" y="2357438"/>
            <a:ext cx="492919" cy="152400"/>
          </a:xfrm>
          <a:prstGeom prst="rect">
            <a:avLst/>
          </a:prstGeom>
          <a:ln w="9525">
            <a:solidFill>
              <a:srgbClr val="C3BDB6"/>
            </a:solidFill>
            <a:prstDash val="solid"/>
          </a:ln>
        </p:spPr>
        <p:txBody>
          <a:bodyPr/>
          <a:lstStyle/>
          <a:p>
            <a:endParaRPr lang="en-US"/>
          </a:p>
        </p:txBody>
      </p:sp>
      <p:sp>
        <p:nvSpPr>
          <p:cNvPr id="52" name="Text 51"/>
          <p:cNvSpPr txBox="1"/>
          <p:nvPr/>
        </p:nvSpPr>
        <p:spPr>
          <a:xfrm>
            <a:off x="4474220" y="2371725"/>
            <a:ext cx="42624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Sargento</a:t>
            </a:r>
            <a:endParaRPr lang="en-US" sz="660" dirty="0"/>
          </a:p>
        </p:txBody>
      </p:sp>
      <p:sp>
        <p:nvSpPr>
          <p:cNvPr id="53" name="Shape 52"/>
          <p:cNvSpPr/>
          <p:nvPr/>
        </p:nvSpPr>
        <p:spPr>
          <a:xfrm>
            <a:off x="4948089" y="2352675"/>
            <a:ext cx="683716" cy="161925"/>
          </a:xfrm>
          <a:prstGeom prst="rect">
            <a:avLst/>
          </a:prstGeom>
          <a:solidFill>
            <a:srgbClr val="FFFFFF"/>
          </a:solidFill>
          <a:ln/>
        </p:spPr>
        <p:txBody>
          <a:bodyPr/>
          <a:lstStyle/>
          <a:p>
            <a:endParaRPr lang="en-US"/>
          </a:p>
        </p:txBody>
      </p:sp>
      <p:sp>
        <p:nvSpPr>
          <p:cNvPr id="54" name="Shape 53"/>
          <p:cNvSpPr/>
          <p:nvPr/>
        </p:nvSpPr>
        <p:spPr>
          <a:xfrm>
            <a:off x="4952851" y="2357438"/>
            <a:ext cx="674191" cy="152400"/>
          </a:xfrm>
          <a:prstGeom prst="rect">
            <a:avLst/>
          </a:prstGeom>
          <a:ln w="9525">
            <a:solidFill>
              <a:srgbClr val="C3BDB6"/>
            </a:solidFill>
            <a:prstDash val="solid"/>
          </a:ln>
        </p:spPr>
        <p:txBody>
          <a:bodyPr/>
          <a:lstStyle/>
          <a:p>
            <a:endParaRPr lang="en-US"/>
          </a:p>
        </p:txBody>
      </p:sp>
      <p:sp>
        <p:nvSpPr>
          <p:cNvPr id="55" name="Text 54"/>
          <p:cNvSpPr txBox="1"/>
          <p:nvPr/>
        </p:nvSpPr>
        <p:spPr>
          <a:xfrm>
            <a:off x="5014764" y="2371725"/>
            <a:ext cx="60751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C.H. Guenther</a:t>
            </a:r>
            <a:endParaRPr lang="en-US" sz="660" dirty="0"/>
          </a:p>
        </p:txBody>
      </p:sp>
      <p:sp>
        <p:nvSpPr>
          <p:cNvPr id="56" name="Shape 55"/>
          <p:cNvSpPr/>
          <p:nvPr/>
        </p:nvSpPr>
        <p:spPr>
          <a:xfrm>
            <a:off x="5669905" y="2352675"/>
            <a:ext cx="668685" cy="161925"/>
          </a:xfrm>
          <a:prstGeom prst="rect">
            <a:avLst/>
          </a:prstGeom>
          <a:solidFill>
            <a:srgbClr val="FFFFFF"/>
          </a:solidFill>
          <a:ln/>
        </p:spPr>
        <p:txBody>
          <a:bodyPr/>
          <a:lstStyle/>
          <a:p>
            <a:endParaRPr lang="en-US"/>
          </a:p>
        </p:txBody>
      </p:sp>
      <p:sp>
        <p:nvSpPr>
          <p:cNvPr id="57" name="Shape 56"/>
          <p:cNvSpPr/>
          <p:nvPr/>
        </p:nvSpPr>
        <p:spPr>
          <a:xfrm>
            <a:off x="5674668" y="2357438"/>
            <a:ext cx="659160" cy="152400"/>
          </a:xfrm>
          <a:prstGeom prst="rect">
            <a:avLst/>
          </a:prstGeom>
          <a:ln w="9525">
            <a:solidFill>
              <a:srgbClr val="C3BDB6"/>
            </a:solidFill>
            <a:prstDash val="solid"/>
          </a:ln>
        </p:spPr>
        <p:txBody>
          <a:bodyPr/>
          <a:lstStyle/>
          <a:p>
            <a:endParaRPr lang="en-US"/>
          </a:p>
        </p:txBody>
      </p:sp>
      <p:sp>
        <p:nvSpPr>
          <p:cNvPr id="58" name="Text 57"/>
          <p:cNvSpPr txBox="1"/>
          <p:nvPr/>
        </p:nvSpPr>
        <p:spPr>
          <a:xfrm>
            <a:off x="5736580" y="2371725"/>
            <a:ext cx="59248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Wasserstrom</a:t>
            </a:r>
            <a:endParaRPr lang="en-US" sz="660" dirty="0"/>
          </a:p>
        </p:txBody>
      </p:sp>
      <p:sp>
        <p:nvSpPr>
          <p:cNvPr id="59" name="Shape 58"/>
          <p:cNvSpPr/>
          <p:nvPr/>
        </p:nvSpPr>
        <p:spPr>
          <a:xfrm>
            <a:off x="3679775" y="2566988"/>
            <a:ext cx="750094" cy="161925"/>
          </a:xfrm>
          <a:prstGeom prst="rect">
            <a:avLst/>
          </a:prstGeom>
          <a:solidFill>
            <a:srgbClr val="FFFFFF"/>
          </a:solidFill>
          <a:ln/>
        </p:spPr>
        <p:txBody>
          <a:bodyPr/>
          <a:lstStyle/>
          <a:p>
            <a:endParaRPr lang="en-US"/>
          </a:p>
        </p:txBody>
      </p:sp>
      <p:sp>
        <p:nvSpPr>
          <p:cNvPr id="60" name="Shape 59"/>
          <p:cNvSpPr/>
          <p:nvPr/>
        </p:nvSpPr>
        <p:spPr>
          <a:xfrm>
            <a:off x="3684538" y="2571750"/>
            <a:ext cx="740569" cy="152400"/>
          </a:xfrm>
          <a:prstGeom prst="rect">
            <a:avLst/>
          </a:prstGeom>
          <a:ln w="9525">
            <a:solidFill>
              <a:srgbClr val="C3BDB6"/>
            </a:solidFill>
            <a:prstDash val="solid"/>
          </a:ln>
        </p:spPr>
        <p:txBody>
          <a:bodyPr/>
          <a:lstStyle/>
          <a:p>
            <a:endParaRPr lang="en-US"/>
          </a:p>
        </p:txBody>
      </p:sp>
      <p:sp>
        <p:nvSpPr>
          <p:cNvPr id="61" name="Text 60"/>
          <p:cNvSpPr txBox="1"/>
          <p:nvPr/>
        </p:nvSpPr>
        <p:spPr>
          <a:xfrm>
            <a:off x="3746450" y="2586038"/>
            <a:ext cx="67389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Carmela Foods</a:t>
            </a:r>
            <a:endParaRPr lang="en-US" sz="660" dirty="0"/>
          </a:p>
        </p:txBody>
      </p:sp>
      <p:sp>
        <p:nvSpPr>
          <p:cNvPr id="62" name="Shape 61"/>
          <p:cNvSpPr/>
          <p:nvPr/>
        </p:nvSpPr>
        <p:spPr>
          <a:xfrm>
            <a:off x="4467969" y="2566988"/>
            <a:ext cx="558850" cy="161925"/>
          </a:xfrm>
          <a:prstGeom prst="rect">
            <a:avLst/>
          </a:prstGeom>
          <a:solidFill>
            <a:srgbClr val="FFFFFF"/>
          </a:solidFill>
          <a:ln/>
        </p:spPr>
        <p:txBody>
          <a:bodyPr/>
          <a:lstStyle/>
          <a:p>
            <a:endParaRPr lang="en-US"/>
          </a:p>
        </p:txBody>
      </p:sp>
      <p:sp>
        <p:nvSpPr>
          <p:cNvPr id="63" name="Shape 62"/>
          <p:cNvSpPr/>
          <p:nvPr/>
        </p:nvSpPr>
        <p:spPr>
          <a:xfrm>
            <a:off x="4472732" y="2571750"/>
            <a:ext cx="549325" cy="152400"/>
          </a:xfrm>
          <a:prstGeom prst="rect">
            <a:avLst/>
          </a:prstGeom>
          <a:ln w="9525">
            <a:solidFill>
              <a:srgbClr val="C3BDB6"/>
            </a:solidFill>
            <a:prstDash val="solid"/>
          </a:ln>
        </p:spPr>
        <p:txBody>
          <a:bodyPr/>
          <a:lstStyle/>
          <a:p>
            <a:endParaRPr lang="en-US"/>
          </a:p>
        </p:txBody>
      </p:sp>
      <p:sp>
        <p:nvSpPr>
          <p:cNvPr id="64" name="Text 63"/>
          <p:cNvSpPr txBox="1"/>
          <p:nvPr/>
        </p:nvSpPr>
        <p:spPr>
          <a:xfrm>
            <a:off x="4534644" y="2586038"/>
            <a:ext cx="48265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Bay Crane</a:t>
            </a:r>
            <a:endParaRPr lang="en-US" sz="660" dirty="0"/>
          </a:p>
        </p:txBody>
      </p:sp>
      <p:sp>
        <p:nvSpPr>
          <p:cNvPr id="65" name="Text 64"/>
          <p:cNvSpPr txBox="1"/>
          <p:nvPr/>
        </p:nvSpPr>
        <p:spPr>
          <a:xfrm>
            <a:off x="3679775" y="278130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66" name="Shape 65"/>
          <p:cNvSpPr/>
          <p:nvPr/>
        </p:nvSpPr>
        <p:spPr>
          <a:xfrm>
            <a:off x="3679775" y="2952750"/>
            <a:ext cx="1170087" cy="142875"/>
          </a:xfrm>
          <a:prstGeom prst="rect">
            <a:avLst/>
          </a:prstGeom>
          <a:solidFill>
            <a:srgbClr val="1B1A1A"/>
          </a:solidFill>
          <a:ln/>
        </p:spPr>
        <p:txBody>
          <a:bodyPr/>
          <a:lstStyle/>
          <a:p>
            <a:endParaRPr lang="en-US"/>
          </a:p>
        </p:txBody>
      </p:sp>
      <p:sp>
        <p:nvSpPr>
          <p:cNvPr id="67" name="Text 66"/>
          <p:cNvSpPr txBox="1"/>
          <p:nvPr/>
        </p:nvSpPr>
        <p:spPr>
          <a:xfrm>
            <a:off x="3736925" y="2962275"/>
            <a:ext cx="111293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Front of House Worldwide</a:t>
            </a:r>
            <a:endParaRPr lang="en-US" sz="660" dirty="0"/>
          </a:p>
        </p:txBody>
      </p:sp>
      <p:sp>
        <p:nvSpPr>
          <p:cNvPr id="68" name="Shape 67"/>
          <p:cNvSpPr/>
          <p:nvPr/>
        </p:nvSpPr>
        <p:spPr>
          <a:xfrm>
            <a:off x="4887962" y="2952750"/>
            <a:ext cx="620167" cy="142875"/>
          </a:xfrm>
          <a:prstGeom prst="rect">
            <a:avLst/>
          </a:prstGeom>
          <a:solidFill>
            <a:srgbClr val="1B1A1A"/>
          </a:solidFill>
          <a:ln/>
        </p:spPr>
        <p:txBody>
          <a:bodyPr/>
          <a:lstStyle/>
          <a:p>
            <a:endParaRPr lang="en-US"/>
          </a:p>
        </p:txBody>
      </p:sp>
      <p:sp>
        <p:nvSpPr>
          <p:cNvPr id="69" name="Text 68"/>
          <p:cNvSpPr txBox="1"/>
          <p:nvPr/>
        </p:nvSpPr>
        <p:spPr>
          <a:xfrm>
            <a:off x="4945112" y="2962275"/>
            <a:ext cx="5630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GreaseCycle</a:t>
            </a:r>
            <a:endParaRPr lang="en-US" sz="660" dirty="0"/>
          </a:p>
        </p:txBody>
      </p:sp>
      <p:sp>
        <p:nvSpPr>
          <p:cNvPr id="70" name="Shape 69"/>
          <p:cNvSpPr/>
          <p:nvPr/>
        </p:nvSpPr>
        <p:spPr>
          <a:xfrm>
            <a:off x="5546229" y="2952750"/>
            <a:ext cx="602456" cy="142875"/>
          </a:xfrm>
          <a:prstGeom prst="rect">
            <a:avLst/>
          </a:prstGeom>
          <a:solidFill>
            <a:srgbClr val="1B1A1A"/>
          </a:solidFill>
          <a:ln/>
        </p:spPr>
        <p:txBody>
          <a:bodyPr/>
          <a:lstStyle/>
          <a:p>
            <a:endParaRPr lang="en-US"/>
          </a:p>
        </p:txBody>
      </p:sp>
      <p:sp>
        <p:nvSpPr>
          <p:cNvPr id="71" name="Text 70"/>
          <p:cNvSpPr txBox="1"/>
          <p:nvPr/>
        </p:nvSpPr>
        <p:spPr>
          <a:xfrm>
            <a:off x="5603379" y="2962275"/>
            <a:ext cx="54530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Hart &amp; Price</a:t>
            </a:r>
            <a:endParaRPr lang="en-US" sz="660" dirty="0"/>
          </a:p>
        </p:txBody>
      </p:sp>
      <p:sp>
        <p:nvSpPr>
          <p:cNvPr id="72" name="Shape 71"/>
          <p:cNvSpPr/>
          <p:nvPr/>
        </p:nvSpPr>
        <p:spPr>
          <a:xfrm>
            <a:off x="3679775" y="3157538"/>
            <a:ext cx="745182" cy="142875"/>
          </a:xfrm>
          <a:prstGeom prst="rect">
            <a:avLst/>
          </a:prstGeom>
          <a:solidFill>
            <a:srgbClr val="1B1A1A"/>
          </a:solidFill>
          <a:ln/>
        </p:spPr>
        <p:txBody>
          <a:bodyPr/>
          <a:lstStyle/>
          <a:p>
            <a:endParaRPr lang="en-US"/>
          </a:p>
        </p:txBody>
      </p:sp>
      <p:sp>
        <p:nvSpPr>
          <p:cNvPr id="73" name="Text 72"/>
          <p:cNvSpPr txBox="1"/>
          <p:nvPr/>
        </p:nvSpPr>
        <p:spPr>
          <a:xfrm>
            <a:off x="3736925" y="3167063"/>
            <a:ext cx="68803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Forever Cheese</a:t>
            </a:r>
            <a:endParaRPr lang="en-US" sz="660" dirty="0"/>
          </a:p>
        </p:txBody>
      </p:sp>
      <p:sp>
        <p:nvSpPr>
          <p:cNvPr id="74" name="Shape 73"/>
          <p:cNvSpPr/>
          <p:nvPr/>
        </p:nvSpPr>
        <p:spPr>
          <a:xfrm>
            <a:off x="4463058" y="3157538"/>
            <a:ext cx="669131" cy="142875"/>
          </a:xfrm>
          <a:prstGeom prst="rect">
            <a:avLst/>
          </a:prstGeom>
          <a:solidFill>
            <a:srgbClr val="1B1A1A"/>
          </a:solidFill>
          <a:ln/>
        </p:spPr>
        <p:txBody>
          <a:bodyPr/>
          <a:lstStyle/>
          <a:p>
            <a:endParaRPr lang="en-US"/>
          </a:p>
        </p:txBody>
      </p:sp>
      <p:sp>
        <p:nvSpPr>
          <p:cNvPr id="75" name="Text 74"/>
          <p:cNvSpPr txBox="1"/>
          <p:nvPr/>
        </p:nvSpPr>
        <p:spPr>
          <a:xfrm>
            <a:off x="4520208" y="3167063"/>
            <a:ext cx="61198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Ruscan Chem</a:t>
            </a:r>
            <a:endParaRPr lang="en-US" sz="660" dirty="0"/>
          </a:p>
        </p:txBody>
      </p:sp>
      <p:sp>
        <p:nvSpPr>
          <p:cNvPr id="76" name="Shape 75"/>
          <p:cNvSpPr/>
          <p:nvPr/>
        </p:nvSpPr>
        <p:spPr>
          <a:xfrm>
            <a:off x="5170289" y="3157538"/>
            <a:ext cx="576263" cy="142875"/>
          </a:xfrm>
          <a:prstGeom prst="rect">
            <a:avLst/>
          </a:prstGeom>
          <a:solidFill>
            <a:srgbClr val="1B1A1A"/>
          </a:solidFill>
          <a:ln/>
        </p:spPr>
        <p:txBody>
          <a:bodyPr/>
          <a:lstStyle/>
          <a:p>
            <a:endParaRPr lang="en-US"/>
          </a:p>
        </p:txBody>
      </p:sp>
      <p:sp>
        <p:nvSpPr>
          <p:cNvPr id="77" name="Text 76"/>
          <p:cNvSpPr txBox="1"/>
          <p:nvPr/>
        </p:nvSpPr>
        <p:spPr>
          <a:xfrm>
            <a:off x="5227439" y="3167063"/>
            <a:ext cx="51911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WRS Group</a:t>
            </a:r>
            <a:endParaRPr lang="en-US" sz="660" dirty="0"/>
          </a:p>
        </p:txBody>
      </p:sp>
      <p:sp>
        <p:nvSpPr>
          <p:cNvPr id="78" name="Shape 77"/>
          <p:cNvSpPr/>
          <p:nvPr/>
        </p:nvSpPr>
        <p:spPr>
          <a:xfrm>
            <a:off x="6654701" y="1238250"/>
            <a:ext cx="2984599" cy="2790825"/>
          </a:xfrm>
          <a:prstGeom prst="rect">
            <a:avLst/>
          </a:prstGeom>
          <a:solidFill>
            <a:srgbClr val="FAF7F3"/>
          </a:solidFill>
          <a:ln/>
        </p:spPr>
        <p:txBody>
          <a:bodyPr/>
          <a:lstStyle/>
          <a:p>
            <a:endParaRPr lang="en-US"/>
          </a:p>
        </p:txBody>
      </p:sp>
      <p:sp>
        <p:nvSpPr>
          <p:cNvPr id="79" name="Shape 78"/>
          <p:cNvSpPr/>
          <p:nvPr/>
        </p:nvSpPr>
        <p:spPr>
          <a:xfrm>
            <a:off x="6654701" y="1238250"/>
            <a:ext cx="2984599" cy="28575"/>
          </a:xfrm>
          <a:prstGeom prst="rect">
            <a:avLst/>
          </a:prstGeom>
          <a:solidFill>
            <a:srgbClr val="B68757"/>
          </a:solidFill>
          <a:ln/>
        </p:spPr>
        <p:txBody>
          <a:bodyPr/>
          <a:lstStyle/>
          <a:p>
            <a:endParaRPr lang="en-US"/>
          </a:p>
        </p:txBody>
      </p:sp>
      <p:sp>
        <p:nvSpPr>
          <p:cNvPr id="80" name="Dot 79"/>
          <p:cNvSpPr/>
          <p:nvPr/>
        </p:nvSpPr>
        <p:spPr>
          <a:xfrm>
            <a:off x="6797576" y="1362075"/>
            <a:ext cx="304800" cy="304800"/>
          </a:xfrm>
          <a:prstGeom prst="ellipse">
            <a:avLst/>
          </a:prstGeom>
          <a:solidFill>
            <a:srgbClr val="1B1A1A"/>
          </a:solidFill>
          <a:ln/>
        </p:spPr>
        <p:txBody>
          <a:bodyPr/>
          <a:lstStyle/>
          <a:p>
            <a:endParaRPr lang="en-US"/>
          </a:p>
        </p:txBody>
      </p:sp>
      <p:pic>
        <p:nvPicPr>
          <p:cNvPr id="81" name="Icon" descr="/tmp/claude-0/-home-claude-about/4bef2f41-4227-5ff7-ab18-11ac74cd9797/scratchpad/pptx/ex/media/0f959ca30c29.png"/>
          <p:cNvPicPr>
            <a:picLocks noChangeAspect="1"/>
          </p:cNvPicPr>
          <p:nvPr/>
        </p:nvPicPr>
        <p:blipFill>
          <a:blip r:embed="rId5"/>
          <a:stretch>
            <a:fillRect/>
          </a:stretch>
        </p:blipFill>
        <p:spPr>
          <a:xfrm>
            <a:off x="6869013" y="1433513"/>
            <a:ext cx="161925" cy="161925"/>
          </a:xfrm>
          <a:prstGeom prst="rect">
            <a:avLst/>
          </a:prstGeom>
        </p:spPr>
      </p:pic>
      <p:sp>
        <p:nvSpPr>
          <p:cNvPr id="82" name="Text 81"/>
          <p:cNvSpPr txBox="1"/>
          <p:nvPr/>
        </p:nvSpPr>
        <p:spPr>
          <a:xfrm>
            <a:off x="7197626" y="1364456"/>
            <a:ext cx="2313087"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Consolidators and platforms making add-on acquisitions</a:t>
            </a:r>
            <a:endParaRPr lang="en-US" sz="915" dirty="0"/>
          </a:p>
        </p:txBody>
      </p:sp>
      <p:sp>
        <p:nvSpPr>
          <p:cNvPr id="83" name="Text 82"/>
          <p:cNvSpPr txBox="1"/>
          <p:nvPr/>
        </p:nvSpPr>
        <p:spPr>
          <a:xfrm>
            <a:off x="6797576" y="1716881"/>
            <a:ext cx="2713137"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Sponsor-backed operating platforms that buy local operators a few locations or routes at a time.</a:t>
            </a:r>
            <a:endParaRPr lang="en-US" sz="765" dirty="0"/>
          </a:p>
        </p:txBody>
      </p:sp>
      <p:sp>
        <p:nvSpPr>
          <p:cNvPr id="84" name="Text 83"/>
          <p:cNvSpPr txBox="1"/>
          <p:nvPr/>
        </p:nvSpPr>
        <p:spPr>
          <a:xfrm>
            <a:off x="6797576" y="2052637"/>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85" name="Shape 84"/>
          <p:cNvSpPr/>
          <p:nvPr/>
        </p:nvSpPr>
        <p:spPr>
          <a:xfrm>
            <a:off x="6797576" y="2214563"/>
            <a:ext cx="606772" cy="161925"/>
          </a:xfrm>
          <a:prstGeom prst="rect">
            <a:avLst/>
          </a:prstGeom>
          <a:solidFill>
            <a:srgbClr val="FFFFFF"/>
          </a:solidFill>
          <a:ln/>
        </p:spPr>
        <p:txBody>
          <a:bodyPr/>
          <a:lstStyle/>
          <a:p>
            <a:endParaRPr lang="en-US"/>
          </a:p>
        </p:txBody>
      </p:sp>
      <p:sp>
        <p:nvSpPr>
          <p:cNvPr id="86" name="Shape 85"/>
          <p:cNvSpPr/>
          <p:nvPr/>
        </p:nvSpPr>
        <p:spPr>
          <a:xfrm>
            <a:off x="6802338" y="2219325"/>
            <a:ext cx="597247" cy="152400"/>
          </a:xfrm>
          <a:prstGeom prst="rect">
            <a:avLst/>
          </a:prstGeom>
          <a:ln w="9525">
            <a:solidFill>
              <a:srgbClr val="C3BDB6"/>
            </a:solidFill>
            <a:prstDash val="solid"/>
          </a:ln>
        </p:spPr>
        <p:txBody>
          <a:bodyPr/>
          <a:lstStyle/>
          <a:p>
            <a:endParaRPr lang="en-US"/>
          </a:p>
        </p:txBody>
      </p:sp>
      <p:sp>
        <p:nvSpPr>
          <p:cNvPr id="87" name="Text 86"/>
          <p:cNvSpPr txBox="1"/>
          <p:nvPr/>
        </p:nvSpPr>
        <p:spPr>
          <a:xfrm>
            <a:off x="6864251" y="2233613"/>
            <a:ext cx="53057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Rise Baking</a:t>
            </a:r>
            <a:endParaRPr lang="en-US" sz="660" dirty="0"/>
          </a:p>
        </p:txBody>
      </p:sp>
      <p:sp>
        <p:nvSpPr>
          <p:cNvPr id="88" name="Shape 87"/>
          <p:cNvSpPr/>
          <p:nvPr/>
        </p:nvSpPr>
        <p:spPr>
          <a:xfrm>
            <a:off x="7442448" y="2214563"/>
            <a:ext cx="1378148" cy="161925"/>
          </a:xfrm>
          <a:prstGeom prst="rect">
            <a:avLst/>
          </a:prstGeom>
          <a:solidFill>
            <a:srgbClr val="FFFFFF"/>
          </a:solidFill>
          <a:ln/>
        </p:spPr>
        <p:txBody>
          <a:bodyPr/>
          <a:lstStyle/>
          <a:p>
            <a:endParaRPr lang="en-US"/>
          </a:p>
        </p:txBody>
      </p:sp>
      <p:sp>
        <p:nvSpPr>
          <p:cNvPr id="89" name="Shape 88"/>
          <p:cNvSpPr/>
          <p:nvPr/>
        </p:nvSpPr>
        <p:spPr>
          <a:xfrm>
            <a:off x="7447211" y="2219325"/>
            <a:ext cx="1368623" cy="152400"/>
          </a:xfrm>
          <a:prstGeom prst="rect">
            <a:avLst/>
          </a:prstGeom>
          <a:ln w="9525">
            <a:solidFill>
              <a:srgbClr val="C3BDB6"/>
            </a:solidFill>
            <a:prstDash val="solid"/>
          </a:ln>
        </p:spPr>
        <p:txBody>
          <a:bodyPr/>
          <a:lstStyle/>
          <a:p>
            <a:endParaRPr lang="en-US"/>
          </a:p>
        </p:txBody>
      </p:sp>
      <p:sp>
        <p:nvSpPr>
          <p:cNvPr id="90" name="Text 89"/>
          <p:cNvSpPr txBox="1"/>
          <p:nvPr/>
        </p:nvSpPr>
        <p:spPr>
          <a:xfrm>
            <a:off x="7509123" y="2233613"/>
            <a:ext cx="13019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Western Smokehouse Partners</a:t>
            </a:r>
            <a:endParaRPr lang="en-US" sz="660" dirty="0"/>
          </a:p>
        </p:txBody>
      </p:sp>
      <p:sp>
        <p:nvSpPr>
          <p:cNvPr id="91" name="Shape 90"/>
          <p:cNvSpPr/>
          <p:nvPr/>
        </p:nvSpPr>
        <p:spPr>
          <a:xfrm>
            <a:off x="6797576" y="2428875"/>
            <a:ext cx="622548" cy="161925"/>
          </a:xfrm>
          <a:prstGeom prst="rect">
            <a:avLst/>
          </a:prstGeom>
          <a:solidFill>
            <a:srgbClr val="FFFFFF"/>
          </a:solidFill>
          <a:ln/>
        </p:spPr>
        <p:txBody>
          <a:bodyPr/>
          <a:lstStyle/>
          <a:p>
            <a:endParaRPr lang="en-US"/>
          </a:p>
        </p:txBody>
      </p:sp>
      <p:sp>
        <p:nvSpPr>
          <p:cNvPr id="92" name="Shape 91"/>
          <p:cNvSpPr/>
          <p:nvPr/>
        </p:nvSpPr>
        <p:spPr>
          <a:xfrm>
            <a:off x="6802338" y="2433638"/>
            <a:ext cx="613023" cy="152400"/>
          </a:xfrm>
          <a:prstGeom prst="rect">
            <a:avLst/>
          </a:prstGeom>
          <a:ln w="9525">
            <a:solidFill>
              <a:srgbClr val="C3BDB6"/>
            </a:solidFill>
            <a:prstDash val="solid"/>
          </a:ln>
        </p:spPr>
        <p:txBody>
          <a:bodyPr/>
          <a:lstStyle/>
          <a:p>
            <a:endParaRPr lang="en-US"/>
          </a:p>
        </p:txBody>
      </p:sp>
      <p:sp>
        <p:nvSpPr>
          <p:cNvPr id="93" name="Text 92"/>
          <p:cNvSpPr txBox="1"/>
          <p:nvPr/>
        </p:nvSpPr>
        <p:spPr>
          <a:xfrm>
            <a:off x="6864251" y="2447925"/>
            <a:ext cx="5463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El Car Wash</a:t>
            </a:r>
            <a:endParaRPr lang="en-US" sz="660" dirty="0"/>
          </a:p>
        </p:txBody>
      </p:sp>
      <p:sp>
        <p:nvSpPr>
          <p:cNvPr id="94" name="Shape 93"/>
          <p:cNvSpPr/>
          <p:nvPr/>
        </p:nvSpPr>
        <p:spPr>
          <a:xfrm>
            <a:off x="7458224" y="2428875"/>
            <a:ext cx="977057" cy="161925"/>
          </a:xfrm>
          <a:prstGeom prst="rect">
            <a:avLst/>
          </a:prstGeom>
          <a:solidFill>
            <a:srgbClr val="FFFFFF"/>
          </a:solidFill>
          <a:ln/>
        </p:spPr>
        <p:txBody>
          <a:bodyPr/>
          <a:lstStyle/>
          <a:p>
            <a:endParaRPr lang="en-US"/>
          </a:p>
        </p:txBody>
      </p:sp>
      <p:sp>
        <p:nvSpPr>
          <p:cNvPr id="95" name="Shape 94"/>
          <p:cNvSpPr/>
          <p:nvPr/>
        </p:nvSpPr>
        <p:spPr>
          <a:xfrm>
            <a:off x="7462986" y="2433638"/>
            <a:ext cx="967532" cy="152400"/>
          </a:xfrm>
          <a:prstGeom prst="rect">
            <a:avLst/>
          </a:prstGeom>
          <a:ln w="9525">
            <a:solidFill>
              <a:srgbClr val="C3BDB6"/>
            </a:solidFill>
            <a:prstDash val="solid"/>
          </a:ln>
        </p:spPr>
        <p:txBody>
          <a:bodyPr/>
          <a:lstStyle/>
          <a:p>
            <a:endParaRPr lang="en-US"/>
          </a:p>
        </p:txBody>
      </p:sp>
      <p:sp>
        <p:nvSpPr>
          <p:cNvPr id="96" name="Text 95"/>
          <p:cNvSpPr txBox="1"/>
          <p:nvPr/>
        </p:nvSpPr>
        <p:spPr>
          <a:xfrm>
            <a:off x="7524899" y="2447925"/>
            <a:ext cx="90085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Tidal Wave Auto Spa</a:t>
            </a:r>
            <a:endParaRPr lang="en-US" sz="660" dirty="0"/>
          </a:p>
        </p:txBody>
      </p:sp>
      <p:sp>
        <p:nvSpPr>
          <p:cNvPr id="97" name="Shape 96"/>
          <p:cNvSpPr/>
          <p:nvPr/>
        </p:nvSpPr>
        <p:spPr>
          <a:xfrm>
            <a:off x="8473380" y="2428875"/>
            <a:ext cx="419844" cy="161925"/>
          </a:xfrm>
          <a:prstGeom prst="rect">
            <a:avLst/>
          </a:prstGeom>
          <a:solidFill>
            <a:srgbClr val="FFFFFF"/>
          </a:solidFill>
          <a:ln/>
        </p:spPr>
        <p:txBody>
          <a:bodyPr/>
          <a:lstStyle/>
          <a:p>
            <a:endParaRPr lang="en-US"/>
          </a:p>
        </p:txBody>
      </p:sp>
      <p:sp>
        <p:nvSpPr>
          <p:cNvPr id="98" name="Shape 97"/>
          <p:cNvSpPr/>
          <p:nvPr/>
        </p:nvSpPr>
        <p:spPr>
          <a:xfrm>
            <a:off x="8478143" y="2433638"/>
            <a:ext cx="410319" cy="152400"/>
          </a:xfrm>
          <a:prstGeom prst="rect">
            <a:avLst/>
          </a:prstGeom>
          <a:ln w="9525">
            <a:solidFill>
              <a:srgbClr val="C3BDB6"/>
            </a:solidFill>
            <a:prstDash val="solid"/>
          </a:ln>
        </p:spPr>
        <p:txBody>
          <a:bodyPr/>
          <a:lstStyle/>
          <a:p>
            <a:endParaRPr lang="en-US"/>
          </a:p>
        </p:txBody>
      </p:sp>
      <p:sp>
        <p:nvSpPr>
          <p:cNvPr id="99" name="Text 98"/>
          <p:cNvSpPr txBox="1"/>
          <p:nvPr/>
        </p:nvSpPr>
        <p:spPr>
          <a:xfrm>
            <a:off x="8540055" y="2447925"/>
            <a:ext cx="34364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Caliber</a:t>
            </a:r>
            <a:endParaRPr lang="en-US" sz="660" dirty="0"/>
          </a:p>
        </p:txBody>
      </p:sp>
      <p:sp>
        <p:nvSpPr>
          <p:cNvPr id="100" name="Shape 99"/>
          <p:cNvSpPr/>
          <p:nvPr/>
        </p:nvSpPr>
        <p:spPr>
          <a:xfrm>
            <a:off x="6797576" y="2643188"/>
            <a:ext cx="850255" cy="161925"/>
          </a:xfrm>
          <a:prstGeom prst="rect">
            <a:avLst/>
          </a:prstGeom>
          <a:solidFill>
            <a:srgbClr val="FFFFFF"/>
          </a:solidFill>
          <a:ln/>
        </p:spPr>
        <p:txBody>
          <a:bodyPr/>
          <a:lstStyle/>
          <a:p>
            <a:endParaRPr lang="en-US"/>
          </a:p>
        </p:txBody>
      </p:sp>
      <p:sp>
        <p:nvSpPr>
          <p:cNvPr id="101" name="Shape 100"/>
          <p:cNvSpPr/>
          <p:nvPr/>
        </p:nvSpPr>
        <p:spPr>
          <a:xfrm>
            <a:off x="6802338" y="2647950"/>
            <a:ext cx="840730" cy="152400"/>
          </a:xfrm>
          <a:prstGeom prst="rect">
            <a:avLst/>
          </a:prstGeom>
          <a:ln w="9525">
            <a:solidFill>
              <a:srgbClr val="C3BDB6"/>
            </a:solidFill>
            <a:prstDash val="solid"/>
          </a:ln>
        </p:spPr>
        <p:txBody>
          <a:bodyPr/>
          <a:lstStyle/>
          <a:p>
            <a:endParaRPr lang="en-US"/>
          </a:p>
        </p:txBody>
      </p:sp>
      <p:sp>
        <p:nvSpPr>
          <p:cNvPr id="102" name="Text 101"/>
          <p:cNvSpPr txBox="1"/>
          <p:nvPr/>
        </p:nvSpPr>
        <p:spPr>
          <a:xfrm>
            <a:off x="6864251" y="2662238"/>
            <a:ext cx="77405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Ridgeline Roofing</a:t>
            </a:r>
            <a:endParaRPr lang="en-US" sz="660" dirty="0"/>
          </a:p>
        </p:txBody>
      </p:sp>
      <p:sp>
        <p:nvSpPr>
          <p:cNvPr id="103" name="Shape 102"/>
          <p:cNvSpPr/>
          <p:nvPr/>
        </p:nvSpPr>
        <p:spPr>
          <a:xfrm>
            <a:off x="7685931" y="2643188"/>
            <a:ext cx="674489" cy="161925"/>
          </a:xfrm>
          <a:prstGeom prst="rect">
            <a:avLst/>
          </a:prstGeom>
          <a:solidFill>
            <a:srgbClr val="FFFFFF"/>
          </a:solidFill>
          <a:ln/>
        </p:spPr>
        <p:txBody>
          <a:bodyPr/>
          <a:lstStyle/>
          <a:p>
            <a:endParaRPr lang="en-US"/>
          </a:p>
        </p:txBody>
      </p:sp>
      <p:sp>
        <p:nvSpPr>
          <p:cNvPr id="104" name="Shape 103"/>
          <p:cNvSpPr/>
          <p:nvPr/>
        </p:nvSpPr>
        <p:spPr>
          <a:xfrm>
            <a:off x="7690693" y="2647950"/>
            <a:ext cx="664964" cy="152400"/>
          </a:xfrm>
          <a:prstGeom prst="rect">
            <a:avLst/>
          </a:prstGeom>
          <a:ln w="9525">
            <a:solidFill>
              <a:srgbClr val="C3BDB6"/>
            </a:solidFill>
            <a:prstDash val="solid"/>
          </a:ln>
        </p:spPr>
        <p:txBody>
          <a:bodyPr/>
          <a:lstStyle/>
          <a:p>
            <a:endParaRPr lang="en-US"/>
          </a:p>
        </p:txBody>
      </p:sp>
      <p:sp>
        <p:nvSpPr>
          <p:cNvPr id="105" name="Text 104"/>
          <p:cNvSpPr txBox="1"/>
          <p:nvPr/>
        </p:nvSpPr>
        <p:spPr>
          <a:xfrm>
            <a:off x="7752606" y="2662238"/>
            <a:ext cx="59828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SPS PoolCare</a:t>
            </a:r>
            <a:endParaRPr lang="en-US" sz="660" dirty="0"/>
          </a:p>
        </p:txBody>
      </p:sp>
      <p:sp>
        <p:nvSpPr>
          <p:cNvPr id="106" name="Shape 105"/>
          <p:cNvSpPr/>
          <p:nvPr/>
        </p:nvSpPr>
        <p:spPr>
          <a:xfrm>
            <a:off x="6797576" y="2857500"/>
            <a:ext cx="1319659" cy="161925"/>
          </a:xfrm>
          <a:prstGeom prst="rect">
            <a:avLst/>
          </a:prstGeom>
          <a:solidFill>
            <a:srgbClr val="FFFFFF"/>
          </a:solidFill>
          <a:ln/>
        </p:spPr>
        <p:txBody>
          <a:bodyPr/>
          <a:lstStyle/>
          <a:p>
            <a:endParaRPr lang="en-US"/>
          </a:p>
        </p:txBody>
      </p:sp>
      <p:sp>
        <p:nvSpPr>
          <p:cNvPr id="107" name="Shape 106"/>
          <p:cNvSpPr/>
          <p:nvPr/>
        </p:nvSpPr>
        <p:spPr>
          <a:xfrm>
            <a:off x="6802338" y="2862263"/>
            <a:ext cx="1310134" cy="152400"/>
          </a:xfrm>
          <a:prstGeom prst="rect">
            <a:avLst/>
          </a:prstGeom>
          <a:ln w="9525">
            <a:solidFill>
              <a:srgbClr val="C3BDB6"/>
            </a:solidFill>
            <a:prstDash val="solid"/>
          </a:ln>
        </p:spPr>
        <p:txBody>
          <a:bodyPr/>
          <a:lstStyle/>
          <a:p>
            <a:endParaRPr lang="en-US"/>
          </a:p>
        </p:txBody>
      </p:sp>
      <p:sp>
        <p:nvSpPr>
          <p:cNvPr id="108" name="Text 107"/>
          <p:cNvSpPr txBox="1"/>
          <p:nvPr/>
        </p:nvSpPr>
        <p:spPr>
          <a:xfrm>
            <a:off x="6864251" y="2876550"/>
            <a:ext cx="124345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Five Star Breaktime Solutions</a:t>
            </a:r>
            <a:endParaRPr lang="en-US" sz="660" dirty="0"/>
          </a:p>
        </p:txBody>
      </p:sp>
      <p:sp>
        <p:nvSpPr>
          <p:cNvPr id="109" name="Text 108"/>
          <p:cNvSpPr txBox="1"/>
          <p:nvPr/>
        </p:nvSpPr>
        <p:spPr>
          <a:xfrm>
            <a:off x="6797576" y="3071813"/>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10" name="Shape 109"/>
          <p:cNvSpPr/>
          <p:nvPr/>
        </p:nvSpPr>
        <p:spPr>
          <a:xfrm>
            <a:off x="6797576" y="3243263"/>
            <a:ext cx="752326" cy="142875"/>
          </a:xfrm>
          <a:prstGeom prst="rect">
            <a:avLst/>
          </a:prstGeom>
          <a:solidFill>
            <a:srgbClr val="1B1A1A"/>
          </a:solidFill>
          <a:ln/>
        </p:spPr>
        <p:txBody>
          <a:bodyPr/>
          <a:lstStyle/>
          <a:p>
            <a:endParaRPr lang="en-US"/>
          </a:p>
        </p:txBody>
      </p:sp>
      <p:sp>
        <p:nvSpPr>
          <p:cNvPr id="111" name="Text 110"/>
          <p:cNvSpPr txBox="1"/>
          <p:nvPr/>
        </p:nvSpPr>
        <p:spPr>
          <a:xfrm>
            <a:off x="6854726" y="3252788"/>
            <a:ext cx="69517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Classic Collision</a:t>
            </a:r>
            <a:endParaRPr lang="en-US" sz="660" dirty="0"/>
          </a:p>
        </p:txBody>
      </p:sp>
      <p:sp>
        <p:nvSpPr>
          <p:cNvPr id="112" name="Shape 111"/>
          <p:cNvSpPr/>
          <p:nvPr/>
        </p:nvSpPr>
        <p:spPr>
          <a:xfrm>
            <a:off x="7588002" y="3243263"/>
            <a:ext cx="1231553" cy="142875"/>
          </a:xfrm>
          <a:prstGeom prst="rect">
            <a:avLst/>
          </a:prstGeom>
          <a:solidFill>
            <a:srgbClr val="1B1A1A"/>
          </a:solidFill>
          <a:ln/>
        </p:spPr>
        <p:txBody>
          <a:bodyPr/>
          <a:lstStyle/>
          <a:p>
            <a:endParaRPr lang="en-US"/>
          </a:p>
        </p:txBody>
      </p:sp>
      <p:sp>
        <p:nvSpPr>
          <p:cNvPr id="113" name="Text 112"/>
          <p:cNvSpPr txBox="1"/>
          <p:nvPr/>
        </p:nvSpPr>
        <p:spPr>
          <a:xfrm>
            <a:off x="7645152" y="3252788"/>
            <a:ext cx="117440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A.S.A.P. Garage Door Repair</a:t>
            </a:r>
            <a:endParaRPr lang="en-US" sz="660" dirty="0"/>
          </a:p>
        </p:txBody>
      </p:sp>
      <p:sp>
        <p:nvSpPr>
          <p:cNvPr id="114" name="Shape 113"/>
          <p:cNvSpPr/>
          <p:nvPr/>
        </p:nvSpPr>
        <p:spPr>
          <a:xfrm>
            <a:off x="6797576" y="3448050"/>
            <a:ext cx="1046857" cy="142875"/>
          </a:xfrm>
          <a:prstGeom prst="rect">
            <a:avLst/>
          </a:prstGeom>
          <a:solidFill>
            <a:srgbClr val="1B1A1A"/>
          </a:solidFill>
          <a:ln/>
        </p:spPr>
        <p:txBody>
          <a:bodyPr/>
          <a:lstStyle/>
          <a:p>
            <a:endParaRPr lang="en-US"/>
          </a:p>
        </p:txBody>
      </p:sp>
      <p:sp>
        <p:nvSpPr>
          <p:cNvPr id="115" name="Text 114"/>
          <p:cNvSpPr txBox="1"/>
          <p:nvPr/>
        </p:nvSpPr>
        <p:spPr>
          <a:xfrm>
            <a:off x="6854726" y="3457575"/>
            <a:ext cx="98970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Allied Roofing Partners</a:t>
            </a:r>
            <a:endParaRPr lang="en-US" sz="660" dirty="0"/>
          </a:p>
        </p:txBody>
      </p:sp>
      <p:sp>
        <p:nvSpPr>
          <p:cNvPr id="116" name="Shape 115"/>
          <p:cNvSpPr/>
          <p:nvPr/>
        </p:nvSpPr>
        <p:spPr>
          <a:xfrm>
            <a:off x="7882533" y="3448050"/>
            <a:ext cx="1092101" cy="142875"/>
          </a:xfrm>
          <a:prstGeom prst="rect">
            <a:avLst/>
          </a:prstGeom>
          <a:solidFill>
            <a:srgbClr val="1B1A1A"/>
          </a:solidFill>
          <a:ln/>
        </p:spPr>
        <p:txBody>
          <a:bodyPr/>
          <a:lstStyle/>
          <a:p>
            <a:endParaRPr lang="en-US"/>
          </a:p>
        </p:txBody>
      </p:sp>
      <p:sp>
        <p:nvSpPr>
          <p:cNvPr id="117" name="Text 116"/>
          <p:cNvSpPr txBox="1"/>
          <p:nvPr/>
        </p:nvSpPr>
        <p:spPr>
          <a:xfrm>
            <a:off x="7939683" y="3457575"/>
            <a:ext cx="103495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Thomasville Restoration</a:t>
            </a:r>
            <a:endParaRPr lang="en-US" sz="660" dirty="0"/>
          </a:p>
        </p:txBody>
      </p:sp>
      <p:sp>
        <p:nvSpPr>
          <p:cNvPr id="118" name="Shape 117"/>
          <p:cNvSpPr/>
          <p:nvPr/>
        </p:nvSpPr>
        <p:spPr>
          <a:xfrm>
            <a:off x="6797576" y="3652838"/>
            <a:ext cx="1228130" cy="142875"/>
          </a:xfrm>
          <a:prstGeom prst="rect">
            <a:avLst/>
          </a:prstGeom>
          <a:solidFill>
            <a:srgbClr val="1B1A1A"/>
          </a:solidFill>
          <a:ln/>
        </p:spPr>
        <p:txBody>
          <a:bodyPr/>
          <a:lstStyle/>
          <a:p>
            <a:endParaRPr lang="en-US"/>
          </a:p>
        </p:txBody>
      </p:sp>
      <p:sp>
        <p:nvSpPr>
          <p:cNvPr id="119" name="Text 118"/>
          <p:cNvSpPr txBox="1"/>
          <p:nvPr/>
        </p:nvSpPr>
        <p:spPr>
          <a:xfrm>
            <a:off x="6854726" y="3662362"/>
            <a:ext cx="117098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Elevate Youth Development</a:t>
            </a:r>
            <a:endParaRPr lang="en-US" sz="660" dirty="0"/>
          </a:p>
        </p:txBody>
      </p:sp>
      <p:sp>
        <p:nvSpPr>
          <p:cNvPr id="120" name="Shape 119"/>
          <p:cNvSpPr/>
          <p:nvPr/>
        </p:nvSpPr>
        <p:spPr>
          <a:xfrm>
            <a:off x="8063805" y="3652838"/>
            <a:ext cx="1219646" cy="142875"/>
          </a:xfrm>
          <a:prstGeom prst="rect">
            <a:avLst/>
          </a:prstGeom>
          <a:solidFill>
            <a:srgbClr val="1B1A1A"/>
          </a:solidFill>
          <a:ln/>
        </p:spPr>
        <p:txBody>
          <a:bodyPr/>
          <a:lstStyle/>
          <a:p>
            <a:endParaRPr lang="en-US"/>
          </a:p>
        </p:txBody>
      </p:sp>
      <p:sp>
        <p:nvSpPr>
          <p:cNvPr id="121" name="Text 120"/>
          <p:cNvSpPr txBox="1"/>
          <p:nvPr/>
        </p:nvSpPr>
        <p:spPr>
          <a:xfrm>
            <a:off x="8120955" y="3662362"/>
            <a:ext cx="116249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Market Performance Group</a:t>
            </a:r>
            <a:endParaRPr lang="en-US" sz="660" dirty="0"/>
          </a:p>
        </p:txBody>
      </p:sp>
      <p:sp>
        <p:nvSpPr>
          <p:cNvPr id="122" name="Shape 121"/>
          <p:cNvSpPr/>
          <p:nvPr/>
        </p:nvSpPr>
        <p:spPr>
          <a:xfrm>
            <a:off x="6797576" y="3857625"/>
            <a:ext cx="1358652" cy="142875"/>
          </a:xfrm>
          <a:prstGeom prst="rect">
            <a:avLst/>
          </a:prstGeom>
          <a:solidFill>
            <a:srgbClr val="1B1A1A"/>
          </a:solidFill>
          <a:ln/>
        </p:spPr>
        <p:txBody>
          <a:bodyPr/>
          <a:lstStyle/>
          <a:p>
            <a:endParaRPr lang="en-US"/>
          </a:p>
        </p:txBody>
      </p:sp>
      <p:sp>
        <p:nvSpPr>
          <p:cNvPr id="123" name="Text 122"/>
          <p:cNvSpPr txBox="1"/>
          <p:nvPr/>
        </p:nvSpPr>
        <p:spPr>
          <a:xfrm>
            <a:off x="6854726" y="3867150"/>
            <a:ext cx="130150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Diversified Foodservice Supply</a:t>
            </a:r>
            <a:endParaRPr lang="en-US" sz="660" dirty="0"/>
          </a:p>
        </p:txBody>
      </p:sp>
      <p:sp>
        <p:nvSpPr>
          <p:cNvPr id="124" name="Shape 123"/>
          <p:cNvSpPr/>
          <p:nvPr/>
        </p:nvSpPr>
        <p:spPr>
          <a:xfrm>
            <a:off x="419100" y="4143375"/>
            <a:ext cx="2984450" cy="2790825"/>
          </a:xfrm>
          <a:prstGeom prst="rect">
            <a:avLst/>
          </a:prstGeom>
          <a:solidFill>
            <a:srgbClr val="FAF7F3"/>
          </a:solidFill>
          <a:ln/>
        </p:spPr>
        <p:txBody>
          <a:bodyPr/>
          <a:lstStyle/>
          <a:p>
            <a:endParaRPr lang="en-US"/>
          </a:p>
        </p:txBody>
      </p:sp>
      <p:sp>
        <p:nvSpPr>
          <p:cNvPr id="125" name="Shape 124"/>
          <p:cNvSpPr/>
          <p:nvPr/>
        </p:nvSpPr>
        <p:spPr>
          <a:xfrm>
            <a:off x="419100" y="4143375"/>
            <a:ext cx="2984450" cy="28575"/>
          </a:xfrm>
          <a:prstGeom prst="rect">
            <a:avLst/>
          </a:prstGeom>
          <a:solidFill>
            <a:srgbClr val="B68757"/>
          </a:solidFill>
          <a:ln/>
        </p:spPr>
        <p:txBody>
          <a:bodyPr/>
          <a:lstStyle/>
          <a:p>
            <a:endParaRPr lang="en-US"/>
          </a:p>
        </p:txBody>
      </p:sp>
      <p:sp>
        <p:nvSpPr>
          <p:cNvPr id="126" name="Dot 125"/>
          <p:cNvSpPr/>
          <p:nvPr/>
        </p:nvSpPr>
        <p:spPr>
          <a:xfrm>
            <a:off x="561975" y="4267200"/>
            <a:ext cx="304800" cy="304800"/>
          </a:xfrm>
          <a:prstGeom prst="ellipse">
            <a:avLst/>
          </a:prstGeom>
          <a:solidFill>
            <a:srgbClr val="1B1A1A"/>
          </a:solidFill>
          <a:ln/>
        </p:spPr>
        <p:txBody>
          <a:bodyPr/>
          <a:lstStyle/>
          <a:p>
            <a:endParaRPr lang="en-US"/>
          </a:p>
        </p:txBody>
      </p:sp>
      <p:pic>
        <p:nvPicPr>
          <p:cNvPr id="127" name="Icon" descr="/tmp/claude-0/-home-claude-about/4bef2f41-4227-5ff7-ab18-11ac74cd9797/scratchpad/pptx/ex/media/d991b288196b.png"/>
          <p:cNvPicPr>
            <a:picLocks noChangeAspect="1"/>
          </p:cNvPicPr>
          <p:nvPr/>
        </p:nvPicPr>
        <p:blipFill>
          <a:blip r:embed="rId6"/>
          <a:stretch>
            <a:fillRect/>
          </a:stretch>
        </p:blipFill>
        <p:spPr>
          <a:xfrm>
            <a:off x="633413" y="4338638"/>
            <a:ext cx="161925" cy="161925"/>
          </a:xfrm>
          <a:prstGeom prst="rect">
            <a:avLst/>
          </a:prstGeom>
        </p:spPr>
      </p:pic>
      <p:sp>
        <p:nvSpPr>
          <p:cNvPr id="128" name="Text 127"/>
          <p:cNvSpPr txBox="1"/>
          <p:nvPr/>
        </p:nvSpPr>
        <p:spPr>
          <a:xfrm>
            <a:off x="962025" y="4269581"/>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Private equity firms and family offices investing directly</a:t>
            </a:r>
            <a:endParaRPr lang="en-US" sz="915" dirty="0"/>
          </a:p>
        </p:txBody>
      </p:sp>
      <p:sp>
        <p:nvSpPr>
          <p:cNvPr id="129" name="Text 128"/>
          <p:cNvSpPr txBox="1"/>
          <p:nvPr/>
        </p:nvSpPr>
        <p:spPr>
          <a:xfrm>
            <a:off x="561975" y="4622006"/>
            <a:ext cx="2712988"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Investors making a first purchase in a category. Founders or families kept a stake at Salt &amp; Stone, Tapatio and Nugredient Solutions.</a:t>
            </a:r>
            <a:endParaRPr lang="en-US" sz="765" dirty="0"/>
          </a:p>
        </p:txBody>
      </p:sp>
      <p:sp>
        <p:nvSpPr>
          <p:cNvPr id="130" name="Text 129"/>
          <p:cNvSpPr txBox="1"/>
          <p:nvPr/>
        </p:nvSpPr>
        <p:spPr>
          <a:xfrm>
            <a:off x="561975" y="5095875"/>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31" name="Shape 130"/>
          <p:cNvSpPr/>
          <p:nvPr/>
        </p:nvSpPr>
        <p:spPr>
          <a:xfrm>
            <a:off x="561975" y="5257800"/>
            <a:ext cx="959048" cy="161925"/>
          </a:xfrm>
          <a:prstGeom prst="rect">
            <a:avLst/>
          </a:prstGeom>
          <a:solidFill>
            <a:srgbClr val="FFFFFF"/>
          </a:solidFill>
          <a:ln/>
        </p:spPr>
        <p:txBody>
          <a:bodyPr/>
          <a:lstStyle/>
          <a:p>
            <a:endParaRPr lang="en-US"/>
          </a:p>
        </p:txBody>
      </p:sp>
      <p:sp>
        <p:nvSpPr>
          <p:cNvPr id="132" name="Shape 131"/>
          <p:cNvSpPr/>
          <p:nvPr/>
        </p:nvSpPr>
        <p:spPr>
          <a:xfrm>
            <a:off x="566738" y="5262563"/>
            <a:ext cx="949523" cy="152400"/>
          </a:xfrm>
          <a:prstGeom prst="rect">
            <a:avLst/>
          </a:prstGeom>
          <a:ln w="9525">
            <a:solidFill>
              <a:srgbClr val="C3BDB6"/>
            </a:solidFill>
            <a:prstDash val="solid"/>
          </a:ln>
        </p:spPr>
        <p:txBody>
          <a:bodyPr/>
          <a:lstStyle/>
          <a:p>
            <a:endParaRPr lang="en-US"/>
          </a:p>
        </p:txBody>
      </p:sp>
      <p:sp>
        <p:nvSpPr>
          <p:cNvPr id="133" name="Text 132"/>
          <p:cNvSpPr txBox="1"/>
          <p:nvPr/>
        </p:nvSpPr>
        <p:spPr>
          <a:xfrm>
            <a:off x="628650" y="5276850"/>
            <a:ext cx="8828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Advent International</a:t>
            </a:r>
            <a:endParaRPr lang="en-US" sz="660" dirty="0"/>
          </a:p>
        </p:txBody>
      </p:sp>
      <p:sp>
        <p:nvSpPr>
          <p:cNvPr id="134" name="Shape 133"/>
          <p:cNvSpPr/>
          <p:nvPr/>
        </p:nvSpPr>
        <p:spPr>
          <a:xfrm>
            <a:off x="1559123" y="5257800"/>
            <a:ext cx="1100138" cy="161925"/>
          </a:xfrm>
          <a:prstGeom prst="rect">
            <a:avLst/>
          </a:prstGeom>
          <a:solidFill>
            <a:srgbClr val="FFFFFF"/>
          </a:solidFill>
          <a:ln/>
        </p:spPr>
        <p:txBody>
          <a:bodyPr/>
          <a:lstStyle/>
          <a:p>
            <a:endParaRPr lang="en-US"/>
          </a:p>
        </p:txBody>
      </p:sp>
      <p:sp>
        <p:nvSpPr>
          <p:cNvPr id="135" name="Shape 134"/>
          <p:cNvSpPr/>
          <p:nvPr/>
        </p:nvSpPr>
        <p:spPr>
          <a:xfrm>
            <a:off x="1563886" y="5262563"/>
            <a:ext cx="1090613" cy="152400"/>
          </a:xfrm>
          <a:prstGeom prst="rect">
            <a:avLst/>
          </a:prstGeom>
          <a:ln w="9525">
            <a:solidFill>
              <a:srgbClr val="C3BDB6"/>
            </a:solidFill>
            <a:prstDash val="solid"/>
          </a:ln>
        </p:spPr>
        <p:txBody>
          <a:bodyPr/>
          <a:lstStyle/>
          <a:p>
            <a:endParaRPr lang="en-US"/>
          </a:p>
        </p:txBody>
      </p:sp>
      <p:sp>
        <p:nvSpPr>
          <p:cNvPr id="136" name="Text 135"/>
          <p:cNvSpPr txBox="1"/>
          <p:nvPr/>
        </p:nvSpPr>
        <p:spPr>
          <a:xfrm>
            <a:off x="1625798" y="5276850"/>
            <a:ext cx="10239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TSG Consumer Partners</a:t>
            </a:r>
            <a:endParaRPr lang="en-US" sz="660" dirty="0"/>
          </a:p>
        </p:txBody>
      </p:sp>
      <p:sp>
        <p:nvSpPr>
          <p:cNvPr id="137" name="Shape 136"/>
          <p:cNvSpPr/>
          <p:nvPr/>
        </p:nvSpPr>
        <p:spPr>
          <a:xfrm>
            <a:off x="561975" y="5472113"/>
            <a:ext cx="617190" cy="161925"/>
          </a:xfrm>
          <a:prstGeom prst="rect">
            <a:avLst/>
          </a:prstGeom>
          <a:solidFill>
            <a:srgbClr val="FFFFFF"/>
          </a:solidFill>
          <a:ln/>
        </p:spPr>
        <p:txBody>
          <a:bodyPr/>
          <a:lstStyle/>
          <a:p>
            <a:endParaRPr lang="en-US"/>
          </a:p>
        </p:txBody>
      </p:sp>
      <p:sp>
        <p:nvSpPr>
          <p:cNvPr id="138" name="Shape 137"/>
          <p:cNvSpPr/>
          <p:nvPr/>
        </p:nvSpPr>
        <p:spPr>
          <a:xfrm>
            <a:off x="566738" y="5476875"/>
            <a:ext cx="607665" cy="152400"/>
          </a:xfrm>
          <a:prstGeom prst="rect">
            <a:avLst/>
          </a:prstGeom>
          <a:ln w="9525">
            <a:solidFill>
              <a:srgbClr val="C3BDB6"/>
            </a:solidFill>
            <a:prstDash val="solid"/>
          </a:ln>
        </p:spPr>
        <p:txBody>
          <a:bodyPr/>
          <a:lstStyle/>
          <a:p>
            <a:endParaRPr lang="en-US"/>
          </a:p>
        </p:txBody>
      </p:sp>
      <p:sp>
        <p:nvSpPr>
          <p:cNvPr id="139" name="Text 138"/>
          <p:cNvSpPr txBox="1"/>
          <p:nvPr/>
        </p:nvSpPr>
        <p:spPr>
          <a:xfrm>
            <a:off x="628650" y="5491163"/>
            <a:ext cx="54099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TowerBrook</a:t>
            </a:r>
            <a:endParaRPr lang="en-US" sz="660" dirty="0"/>
          </a:p>
        </p:txBody>
      </p:sp>
      <p:sp>
        <p:nvSpPr>
          <p:cNvPr id="140" name="Shape 139"/>
          <p:cNvSpPr/>
          <p:nvPr/>
        </p:nvSpPr>
        <p:spPr>
          <a:xfrm>
            <a:off x="1217265" y="5472113"/>
            <a:ext cx="852934" cy="161925"/>
          </a:xfrm>
          <a:prstGeom prst="rect">
            <a:avLst/>
          </a:prstGeom>
          <a:solidFill>
            <a:srgbClr val="FFFFFF"/>
          </a:solidFill>
          <a:ln/>
        </p:spPr>
        <p:txBody>
          <a:bodyPr/>
          <a:lstStyle/>
          <a:p>
            <a:endParaRPr lang="en-US"/>
          </a:p>
        </p:txBody>
      </p:sp>
      <p:sp>
        <p:nvSpPr>
          <p:cNvPr id="141" name="Shape 140"/>
          <p:cNvSpPr/>
          <p:nvPr/>
        </p:nvSpPr>
        <p:spPr>
          <a:xfrm>
            <a:off x="1222028" y="5476875"/>
            <a:ext cx="843409" cy="152400"/>
          </a:xfrm>
          <a:prstGeom prst="rect">
            <a:avLst/>
          </a:prstGeom>
          <a:ln w="9525">
            <a:solidFill>
              <a:srgbClr val="C3BDB6"/>
            </a:solidFill>
            <a:prstDash val="solid"/>
          </a:ln>
        </p:spPr>
        <p:txBody>
          <a:bodyPr/>
          <a:lstStyle/>
          <a:p>
            <a:endParaRPr lang="en-US"/>
          </a:p>
        </p:txBody>
      </p:sp>
      <p:sp>
        <p:nvSpPr>
          <p:cNvPr id="142" name="Text 141"/>
          <p:cNvSpPr txBox="1"/>
          <p:nvPr/>
        </p:nvSpPr>
        <p:spPr>
          <a:xfrm>
            <a:off x="1283940" y="5491163"/>
            <a:ext cx="77673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Acon Investments</a:t>
            </a:r>
            <a:endParaRPr lang="en-US" sz="660" dirty="0"/>
          </a:p>
        </p:txBody>
      </p:sp>
      <p:sp>
        <p:nvSpPr>
          <p:cNvPr id="143" name="Shape 142"/>
          <p:cNvSpPr/>
          <p:nvPr/>
        </p:nvSpPr>
        <p:spPr>
          <a:xfrm>
            <a:off x="2108299" y="5472113"/>
            <a:ext cx="947737" cy="161925"/>
          </a:xfrm>
          <a:prstGeom prst="rect">
            <a:avLst/>
          </a:prstGeom>
          <a:solidFill>
            <a:srgbClr val="FFFFFF"/>
          </a:solidFill>
          <a:ln/>
        </p:spPr>
        <p:txBody>
          <a:bodyPr/>
          <a:lstStyle/>
          <a:p>
            <a:endParaRPr lang="en-US"/>
          </a:p>
        </p:txBody>
      </p:sp>
      <p:sp>
        <p:nvSpPr>
          <p:cNvPr id="144" name="Shape 143"/>
          <p:cNvSpPr/>
          <p:nvPr/>
        </p:nvSpPr>
        <p:spPr>
          <a:xfrm>
            <a:off x="2113062" y="5476875"/>
            <a:ext cx="938213" cy="152400"/>
          </a:xfrm>
          <a:prstGeom prst="rect">
            <a:avLst/>
          </a:prstGeom>
          <a:ln w="9525">
            <a:solidFill>
              <a:srgbClr val="C3BDB6"/>
            </a:solidFill>
            <a:prstDash val="solid"/>
          </a:ln>
        </p:spPr>
        <p:txBody>
          <a:bodyPr/>
          <a:lstStyle/>
          <a:p>
            <a:endParaRPr lang="en-US"/>
          </a:p>
        </p:txBody>
      </p:sp>
      <p:sp>
        <p:nvSpPr>
          <p:cNvPr id="145" name="Text 144"/>
          <p:cNvSpPr txBox="1"/>
          <p:nvPr/>
        </p:nvSpPr>
        <p:spPr>
          <a:xfrm>
            <a:off x="2174974" y="5491163"/>
            <a:ext cx="8715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Highlander Partners</a:t>
            </a:r>
            <a:endParaRPr lang="en-US" sz="660" dirty="0"/>
          </a:p>
        </p:txBody>
      </p:sp>
      <p:sp>
        <p:nvSpPr>
          <p:cNvPr id="146" name="Shape 145"/>
          <p:cNvSpPr/>
          <p:nvPr/>
        </p:nvSpPr>
        <p:spPr>
          <a:xfrm>
            <a:off x="561975" y="5686425"/>
            <a:ext cx="1182737" cy="161925"/>
          </a:xfrm>
          <a:prstGeom prst="rect">
            <a:avLst/>
          </a:prstGeom>
          <a:solidFill>
            <a:srgbClr val="FFFFFF"/>
          </a:solidFill>
          <a:ln/>
        </p:spPr>
        <p:txBody>
          <a:bodyPr/>
          <a:lstStyle/>
          <a:p>
            <a:endParaRPr lang="en-US"/>
          </a:p>
        </p:txBody>
      </p:sp>
      <p:sp>
        <p:nvSpPr>
          <p:cNvPr id="147" name="Shape 146"/>
          <p:cNvSpPr/>
          <p:nvPr/>
        </p:nvSpPr>
        <p:spPr>
          <a:xfrm>
            <a:off x="566738" y="5691188"/>
            <a:ext cx="1173212" cy="152400"/>
          </a:xfrm>
          <a:prstGeom prst="rect">
            <a:avLst/>
          </a:prstGeom>
          <a:ln w="9525">
            <a:solidFill>
              <a:srgbClr val="C3BDB6"/>
            </a:solidFill>
            <a:prstDash val="solid"/>
          </a:ln>
        </p:spPr>
        <p:txBody>
          <a:bodyPr/>
          <a:lstStyle/>
          <a:p>
            <a:endParaRPr lang="en-US"/>
          </a:p>
        </p:txBody>
      </p:sp>
      <p:sp>
        <p:nvSpPr>
          <p:cNvPr id="148" name="Text 147"/>
          <p:cNvSpPr txBox="1"/>
          <p:nvPr/>
        </p:nvSpPr>
        <p:spPr>
          <a:xfrm>
            <a:off x="628650" y="5705475"/>
            <a:ext cx="110653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Guardian Capital Partners</a:t>
            </a:r>
            <a:endParaRPr lang="en-US" sz="660" dirty="0"/>
          </a:p>
        </p:txBody>
      </p:sp>
      <p:sp>
        <p:nvSpPr>
          <p:cNvPr id="149" name="Shape 148"/>
          <p:cNvSpPr/>
          <p:nvPr/>
        </p:nvSpPr>
        <p:spPr>
          <a:xfrm>
            <a:off x="561975" y="5900738"/>
            <a:ext cx="1484858" cy="161925"/>
          </a:xfrm>
          <a:prstGeom prst="rect">
            <a:avLst/>
          </a:prstGeom>
          <a:solidFill>
            <a:srgbClr val="FFFFFF"/>
          </a:solidFill>
          <a:ln/>
        </p:spPr>
        <p:txBody>
          <a:bodyPr/>
          <a:lstStyle/>
          <a:p>
            <a:endParaRPr lang="en-US"/>
          </a:p>
        </p:txBody>
      </p:sp>
      <p:sp>
        <p:nvSpPr>
          <p:cNvPr id="150" name="Shape 149"/>
          <p:cNvSpPr/>
          <p:nvPr/>
        </p:nvSpPr>
        <p:spPr>
          <a:xfrm>
            <a:off x="566738" y="5905500"/>
            <a:ext cx="1475333" cy="152400"/>
          </a:xfrm>
          <a:prstGeom prst="rect">
            <a:avLst/>
          </a:prstGeom>
          <a:ln w="9525">
            <a:solidFill>
              <a:srgbClr val="C3BDB6"/>
            </a:solidFill>
            <a:prstDash val="solid"/>
          </a:ln>
        </p:spPr>
        <p:txBody>
          <a:bodyPr/>
          <a:lstStyle/>
          <a:p>
            <a:endParaRPr lang="en-US"/>
          </a:p>
        </p:txBody>
      </p:sp>
      <p:sp>
        <p:nvSpPr>
          <p:cNvPr id="151" name="Text 150"/>
          <p:cNvSpPr txBox="1"/>
          <p:nvPr/>
        </p:nvSpPr>
        <p:spPr>
          <a:xfrm>
            <a:off x="628650" y="5919788"/>
            <a:ext cx="140865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SouthWorth Capital Management</a:t>
            </a:r>
            <a:endParaRPr lang="en-US" sz="660" dirty="0"/>
          </a:p>
        </p:txBody>
      </p:sp>
      <p:sp>
        <p:nvSpPr>
          <p:cNvPr id="152" name="Text 151"/>
          <p:cNvSpPr txBox="1"/>
          <p:nvPr/>
        </p:nvSpPr>
        <p:spPr>
          <a:xfrm>
            <a:off x="561975" y="611505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53" name="Shape 152"/>
          <p:cNvSpPr/>
          <p:nvPr/>
        </p:nvSpPr>
        <p:spPr>
          <a:xfrm>
            <a:off x="561975" y="6286500"/>
            <a:ext cx="946547" cy="142875"/>
          </a:xfrm>
          <a:prstGeom prst="rect">
            <a:avLst/>
          </a:prstGeom>
          <a:solidFill>
            <a:srgbClr val="1B1A1A"/>
          </a:solidFill>
          <a:ln/>
        </p:spPr>
        <p:txBody>
          <a:bodyPr/>
          <a:lstStyle/>
          <a:p>
            <a:endParaRPr lang="en-US"/>
          </a:p>
        </p:txBody>
      </p:sp>
      <p:sp>
        <p:nvSpPr>
          <p:cNvPr id="154" name="Text 153"/>
          <p:cNvSpPr txBox="1"/>
          <p:nvPr/>
        </p:nvSpPr>
        <p:spPr>
          <a:xfrm>
            <a:off x="619125" y="6296025"/>
            <a:ext cx="88939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AAVIN Private Equity</a:t>
            </a:r>
            <a:endParaRPr lang="en-US" sz="660" dirty="0"/>
          </a:p>
        </p:txBody>
      </p:sp>
      <p:sp>
        <p:nvSpPr>
          <p:cNvPr id="155" name="Shape 154"/>
          <p:cNvSpPr/>
          <p:nvPr/>
        </p:nvSpPr>
        <p:spPr>
          <a:xfrm>
            <a:off x="1546622" y="6286500"/>
            <a:ext cx="699492" cy="142875"/>
          </a:xfrm>
          <a:prstGeom prst="rect">
            <a:avLst/>
          </a:prstGeom>
          <a:solidFill>
            <a:srgbClr val="1B1A1A"/>
          </a:solidFill>
          <a:ln/>
        </p:spPr>
        <p:txBody>
          <a:bodyPr/>
          <a:lstStyle/>
          <a:p>
            <a:endParaRPr lang="en-US"/>
          </a:p>
        </p:txBody>
      </p:sp>
      <p:sp>
        <p:nvSpPr>
          <p:cNvPr id="156" name="Text 155"/>
          <p:cNvSpPr txBox="1"/>
          <p:nvPr/>
        </p:nvSpPr>
        <p:spPr>
          <a:xfrm>
            <a:off x="1603772" y="6296025"/>
            <a:ext cx="64234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Innova Capital</a:t>
            </a:r>
            <a:endParaRPr lang="en-US" sz="660" dirty="0"/>
          </a:p>
        </p:txBody>
      </p:sp>
      <p:sp>
        <p:nvSpPr>
          <p:cNvPr id="157" name="Shape 156"/>
          <p:cNvSpPr/>
          <p:nvPr/>
        </p:nvSpPr>
        <p:spPr>
          <a:xfrm>
            <a:off x="2284214" y="6286500"/>
            <a:ext cx="788343" cy="142875"/>
          </a:xfrm>
          <a:prstGeom prst="rect">
            <a:avLst/>
          </a:prstGeom>
          <a:solidFill>
            <a:srgbClr val="1B1A1A"/>
          </a:solidFill>
          <a:ln/>
        </p:spPr>
        <p:txBody>
          <a:bodyPr/>
          <a:lstStyle/>
          <a:p>
            <a:endParaRPr lang="en-US"/>
          </a:p>
        </p:txBody>
      </p:sp>
      <p:sp>
        <p:nvSpPr>
          <p:cNvPr id="158" name="Text 157"/>
          <p:cNvSpPr txBox="1"/>
          <p:nvPr/>
        </p:nvSpPr>
        <p:spPr>
          <a:xfrm>
            <a:off x="2341364" y="6296025"/>
            <a:ext cx="73119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Lancaster Group</a:t>
            </a:r>
            <a:endParaRPr lang="en-US" sz="660" dirty="0"/>
          </a:p>
        </p:txBody>
      </p:sp>
      <p:sp>
        <p:nvSpPr>
          <p:cNvPr id="159" name="Shape 158"/>
          <p:cNvSpPr/>
          <p:nvPr/>
        </p:nvSpPr>
        <p:spPr>
          <a:xfrm>
            <a:off x="561975" y="6491288"/>
            <a:ext cx="803225" cy="142875"/>
          </a:xfrm>
          <a:prstGeom prst="rect">
            <a:avLst/>
          </a:prstGeom>
          <a:solidFill>
            <a:srgbClr val="1B1A1A"/>
          </a:solidFill>
          <a:ln/>
        </p:spPr>
        <p:txBody>
          <a:bodyPr/>
          <a:lstStyle/>
          <a:p>
            <a:endParaRPr lang="en-US"/>
          </a:p>
        </p:txBody>
      </p:sp>
      <p:sp>
        <p:nvSpPr>
          <p:cNvPr id="160" name="Text 159"/>
          <p:cNvSpPr txBox="1"/>
          <p:nvPr/>
        </p:nvSpPr>
        <p:spPr>
          <a:xfrm>
            <a:off x="619125" y="6500813"/>
            <a:ext cx="74607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Castleford Group</a:t>
            </a:r>
            <a:endParaRPr lang="en-US" sz="660" dirty="0"/>
          </a:p>
        </p:txBody>
      </p:sp>
      <p:sp>
        <p:nvSpPr>
          <p:cNvPr id="161" name="Shape 160"/>
          <p:cNvSpPr/>
          <p:nvPr/>
        </p:nvSpPr>
        <p:spPr>
          <a:xfrm>
            <a:off x="1403300" y="6491288"/>
            <a:ext cx="891778" cy="142875"/>
          </a:xfrm>
          <a:prstGeom prst="rect">
            <a:avLst/>
          </a:prstGeom>
          <a:solidFill>
            <a:srgbClr val="1B1A1A"/>
          </a:solidFill>
          <a:ln/>
        </p:spPr>
        <p:txBody>
          <a:bodyPr/>
          <a:lstStyle/>
          <a:p>
            <a:endParaRPr lang="en-US"/>
          </a:p>
        </p:txBody>
      </p:sp>
      <p:sp>
        <p:nvSpPr>
          <p:cNvPr id="162" name="Text 161"/>
          <p:cNvSpPr txBox="1"/>
          <p:nvPr/>
        </p:nvSpPr>
        <p:spPr>
          <a:xfrm>
            <a:off x="1460450" y="6500813"/>
            <a:ext cx="83462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Fourshore Partners</a:t>
            </a:r>
            <a:endParaRPr lang="en-US" sz="660" dirty="0"/>
          </a:p>
        </p:txBody>
      </p:sp>
      <p:sp>
        <p:nvSpPr>
          <p:cNvPr id="163" name="Shape 162"/>
          <p:cNvSpPr/>
          <p:nvPr/>
        </p:nvSpPr>
        <p:spPr>
          <a:xfrm>
            <a:off x="2333179" y="6491288"/>
            <a:ext cx="798165" cy="142875"/>
          </a:xfrm>
          <a:prstGeom prst="rect">
            <a:avLst/>
          </a:prstGeom>
          <a:solidFill>
            <a:srgbClr val="1B1A1A"/>
          </a:solidFill>
          <a:ln/>
        </p:spPr>
        <p:txBody>
          <a:bodyPr/>
          <a:lstStyle/>
          <a:p>
            <a:endParaRPr lang="en-US"/>
          </a:p>
        </p:txBody>
      </p:sp>
      <p:sp>
        <p:nvSpPr>
          <p:cNvPr id="164" name="Text 163"/>
          <p:cNvSpPr txBox="1"/>
          <p:nvPr/>
        </p:nvSpPr>
        <p:spPr>
          <a:xfrm>
            <a:off x="2390329" y="6500813"/>
            <a:ext cx="74101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GPC Investments</a:t>
            </a:r>
            <a:endParaRPr lang="en-US" sz="660" dirty="0"/>
          </a:p>
        </p:txBody>
      </p:sp>
      <p:sp>
        <p:nvSpPr>
          <p:cNvPr id="165" name="Shape 164"/>
          <p:cNvSpPr/>
          <p:nvPr/>
        </p:nvSpPr>
        <p:spPr>
          <a:xfrm>
            <a:off x="561975" y="6696075"/>
            <a:ext cx="977652" cy="142875"/>
          </a:xfrm>
          <a:prstGeom prst="rect">
            <a:avLst/>
          </a:prstGeom>
          <a:solidFill>
            <a:srgbClr val="1B1A1A"/>
          </a:solidFill>
          <a:ln/>
        </p:spPr>
        <p:txBody>
          <a:bodyPr/>
          <a:lstStyle/>
          <a:p>
            <a:endParaRPr lang="en-US"/>
          </a:p>
        </p:txBody>
      </p:sp>
      <p:sp>
        <p:nvSpPr>
          <p:cNvPr id="166" name="Text 165"/>
          <p:cNvSpPr txBox="1"/>
          <p:nvPr/>
        </p:nvSpPr>
        <p:spPr>
          <a:xfrm>
            <a:off x="619125" y="6705600"/>
            <a:ext cx="92050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Austin Circle Partners</a:t>
            </a:r>
            <a:endParaRPr lang="en-US" sz="660" dirty="0"/>
          </a:p>
        </p:txBody>
      </p:sp>
      <p:sp>
        <p:nvSpPr>
          <p:cNvPr id="167" name="Shape 166"/>
          <p:cNvSpPr/>
          <p:nvPr/>
        </p:nvSpPr>
        <p:spPr>
          <a:xfrm>
            <a:off x="1577727" y="6696075"/>
            <a:ext cx="1122759" cy="142875"/>
          </a:xfrm>
          <a:prstGeom prst="rect">
            <a:avLst/>
          </a:prstGeom>
          <a:solidFill>
            <a:srgbClr val="1B1A1A"/>
          </a:solidFill>
          <a:ln/>
        </p:spPr>
        <p:txBody>
          <a:bodyPr/>
          <a:lstStyle/>
          <a:p>
            <a:endParaRPr lang="en-US"/>
          </a:p>
        </p:txBody>
      </p:sp>
      <p:sp>
        <p:nvSpPr>
          <p:cNvPr id="168" name="Text 167"/>
          <p:cNvSpPr txBox="1"/>
          <p:nvPr/>
        </p:nvSpPr>
        <p:spPr>
          <a:xfrm>
            <a:off x="1634877" y="6705600"/>
            <a:ext cx="106560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Longwater Opportunities</a:t>
            </a:r>
            <a:endParaRPr lang="en-US" sz="660" dirty="0"/>
          </a:p>
        </p:txBody>
      </p:sp>
      <p:sp>
        <p:nvSpPr>
          <p:cNvPr id="169" name="Shape 168"/>
          <p:cNvSpPr/>
          <p:nvPr/>
        </p:nvSpPr>
        <p:spPr>
          <a:xfrm>
            <a:off x="3536900" y="4143375"/>
            <a:ext cx="2984450" cy="2790825"/>
          </a:xfrm>
          <a:prstGeom prst="rect">
            <a:avLst/>
          </a:prstGeom>
          <a:solidFill>
            <a:srgbClr val="FAF7F3"/>
          </a:solidFill>
          <a:ln/>
        </p:spPr>
        <p:txBody>
          <a:bodyPr/>
          <a:lstStyle/>
          <a:p>
            <a:endParaRPr lang="en-US"/>
          </a:p>
        </p:txBody>
      </p:sp>
      <p:sp>
        <p:nvSpPr>
          <p:cNvPr id="170" name="Shape 169"/>
          <p:cNvSpPr/>
          <p:nvPr/>
        </p:nvSpPr>
        <p:spPr>
          <a:xfrm>
            <a:off x="3536900" y="4143375"/>
            <a:ext cx="2984450" cy="28575"/>
          </a:xfrm>
          <a:prstGeom prst="rect">
            <a:avLst/>
          </a:prstGeom>
          <a:solidFill>
            <a:srgbClr val="B68757"/>
          </a:solidFill>
          <a:ln/>
        </p:spPr>
        <p:txBody>
          <a:bodyPr/>
          <a:lstStyle/>
          <a:p>
            <a:endParaRPr lang="en-US"/>
          </a:p>
        </p:txBody>
      </p:sp>
      <p:sp>
        <p:nvSpPr>
          <p:cNvPr id="171" name="Dot 170"/>
          <p:cNvSpPr/>
          <p:nvPr/>
        </p:nvSpPr>
        <p:spPr>
          <a:xfrm>
            <a:off x="3679775" y="4267200"/>
            <a:ext cx="304800" cy="304800"/>
          </a:xfrm>
          <a:prstGeom prst="ellipse">
            <a:avLst/>
          </a:prstGeom>
          <a:solidFill>
            <a:srgbClr val="1B1A1A"/>
          </a:solidFill>
          <a:ln/>
        </p:spPr>
        <p:txBody>
          <a:bodyPr/>
          <a:lstStyle/>
          <a:p>
            <a:endParaRPr lang="en-US"/>
          </a:p>
        </p:txBody>
      </p:sp>
      <p:pic>
        <p:nvPicPr>
          <p:cNvPr id="172" name="Icon" descr="/tmp/claude-0/-home-claude-about/4bef2f41-4227-5ff7-ab18-11ac74cd9797/scratchpad/pptx/ex/media/42bdc7a43577.png"/>
          <p:cNvPicPr>
            <a:picLocks noChangeAspect="1"/>
          </p:cNvPicPr>
          <p:nvPr/>
        </p:nvPicPr>
        <p:blipFill>
          <a:blip r:embed="rId7"/>
          <a:stretch>
            <a:fillRect/>
          </a:stretch>
        </p:blipFill>
        <p:spPr>
          <a:xfrm>
            <a:off x="3751213" y="4338638"/>
            <a:ext cx="161925" cy="161925"/>
          </a:xfrm>
          <a:prstGeom prst="rect">
            <a:avLst/>
          </a:prstGeom>
        </p:spPr>
      </p:pic>
      <p:sp>
        <p:nvSpPr>
          <p:cNvPr id="173" name="Text 172"/>
          <p:cNvSpPr txBox="1"/>
          <p:nvPr/>
        </p:nvSpPr>
        <p:spPr>
          <a:xfrm>
            <a:off x="4079825" y="4269581"/>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Foreign strategics entering the United States</a:t>
            </a:r>
            <a:endParaRPr lang="en-US" sz="915" dirty="0"/>
          </a:p>
        </p:txBody>
      </p:sp>
      <p:sp>
        <p:nvSpPr>
          <p:cNvPr id="174" name="Text 173"/>
          <p:cNvSpPr txBox="1"/>
          <p:nvPr/>
        </p:nvSpPr>
        <p:spPr>
          <a:xfrm>
            <a:off x="3679775" y="4622006"/>
            <a:ext cx="2712988"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European strategics using acquisitions to enter the United States, as Europastry did through Highland Baking.</a:t>
            </a:r>
            <a:endParaRPr lang="en-US" sz="765" dirty="0"/>
          </a:p>
        </p:txBody>
      </p:sp>
      <p:sp>
        <p:nvSpPr>
          <p:cNvPr id="175" name="Text 174"/>
          <p:cNvSpPr txBox="1"/>
          <p:nvPr/>
        </p:nvSpPr>
        <p:spPr>
          <a:xfrm>
            <a:off x="3679775" y="4957763"/>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76" name="Shape 175"/>
          <p:cNvSpPr/>
          <p:nvPr/>
        </p:nvSpPr>
        <p:spPr>
          <a:xfrm>
            <a:off x="3679775" y="5119688"/>
            <a:ext cx="556171" cy="161925"/>
          </a:xfrm>
          <a:prstGeom prst="rect">
            <a:avLst/>
          </a:prstGeom>
          <a:solidFill>
            <a:srgbClr val="FFFFFF"/>
          </a:solidFill>
          <a:ln/>
        </p:spPr>
        <p:txBody>
          <a:bodyPr/>
          <a:lstStyle/>
          <a:p>
            <a:endParaRPr lang="en-US"/>
          </a:p>
        </p:txBody>
      </p:sp>
      <p:sp>
        <p:nvSpPr>
          <p:cNvPr id="177" name="Shape 176"/>
          <p:cNvSpPr/>
          <p:nvPr/>
        </p:nvSpPr>
        <p:spPr>
          <a:xfrm>
            <a:off x="3684538" y="5124450"/>
            <a:ext cx="546646" cy="152400"/>
          </a:xfrm>
          <a:prstGeom prst="rect">
            <a:avLst/>
          </a:prstGeom>
          <a:ln w="9525">
            <a:solidFill>
              <a:srgbClr val="C3BDB6"/>
            </a:solidFill>
            <a:prstDash val="solid"/>
          </a:ln>
        </p:spPr>
        <p:txBody>
          <a:bodyPr/>
          <a:lstStyle/>
          <a:p>
            <a:endParaRPr lang="en-US"/>
          </a:p>
        </p:txBody>
      </p:sp>
      <p:sp>
        <p:nvSpPr>
          <p:cNvPr id="178" name="Text 177"/>
          <p:cNvSpPr txBox="1"/>
          <p:nvPr/>
        </p:nvSpPr>
        <p:spPr>
          <a:xfrm>
            <a:off x="3746450" y="5138738"/>
            <a:ext cx="47997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Intersnack</a:t>
            </a:r>
            <a:endParaRPr lang="en-US" sz="660" dirty="0"/>
          </a:p>
        </p:txBody>
      </p:sp>
      <p:sp>
        <p:nvSpPr>
          <p:cNvPr id="179" name="Shape 178"/>
          <p:cNvSpPr/>
          <p:nvPr/>
        </p:nvSpPr>
        <p:spPr>
          <a:xfrm>
            <a:off x="4274046" y="5119688"/>
            <a:ext cx="577007" cy="161925"/>
          </a:xfrm>
          <a:prstGeom prst="rect">
            <a:avLst/>
          </a:prstGeom>
          <a:solidFill>
            <a:srgbClr val="FFFFFF"/>
          </a:solidFill>
          <a:ln/>
        </p:spPr>
        <p:txBody>
          <a:bodyPr/>
          <a:lstStyle/>
          <a:p>
            <a:endParaRPr lang="en-US"/>
          </a:p>
        </p:txBody>
      </p:sp>
      <p:sp>
        <p:nvSpPr>
          <p:cNvPr id="180" name="Shape 179"/>
          <p:cNvSpPr/>
          <p:nvPr/>
        </p:nvSpPr>
        <p:spPr>
          <a:xfrm>
            <a:off x="4278809" y="5124450"/>
            <a:ext cx="567482" cy="152400"/>
          </a:xfrm>
          <a:prstGeom prst="rect">
            <a:avLst/>
          </a:prstGeom>
          <a:ln w="9525">
            <a:solidFill>
              <a:srgbClr val="C3BDB6"/>
            </a:solidFill>
            <a:prstDash val="solid"/>
          </a:ln>
        </p:spPr>
        <p:txBody>
          <a:bodyPr/>
          <a:lstStyle/>
          <a:p>
            <a:endParaRPr lang="en-US"/>
          </a:p>
        </p:txBody>
      </p:sp>
      <p:sp>
        <p:nvSpPr>
          <p:cNvPr id="181" name="Text 180"/>
          <p:cNvSpPr txBox="1"/>
          <p:nvPr/>
        </p:nvSpPr>
        <p:spPr>
          <a:xfrm>
            <a:off x="4340721" y="5138738"/>
            <a:ext cx="50080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Europastry</a:t>
            </a:r>
            <a:endParaRPr lang="en-US" sz="660" dirty="0"/>
          </a:p>
        </p:txBody>
      </p:sp>
      <p:sp>
        <p:nvSpPr>
          <p:cNvPr id="182" name="Shape 181"/>
          <p:cNvSpPr/>
          <p:nvPr/>
        </p:nvSpPr>
        <p:spPr>
          <a:xfrm>
            <a:off x="4889153" y="5119688"/>
            <a:ext cx="378916" cy="161925"/>
          </a:xfrm>
          <a:prstGeom prst="rect">
            <a:avLst/>
          </a:prstGeom>
          <a:solidFill>
            <a:srgbClr val="FFFFFF"/>
          </a:solidFill>
          <a:ln/>
        </p:spPr>
        <p:txBody>
          <a:bodyPr/>
          <a:lstStyle/>
          <a:p>
            <a:endParaRPr lang="en-US"/>
          </a:p>
        </p:txBody>
      </p:sp>
      <p:sp>
        <p:nvSpPr>
          <p:cNvPr id="183" name="Shape 182"/>
          <p:cNvSpPr/>
          <p:nvPr/>
        </p:nvSpPr>
        <p:spPr>
          <a:xfrm>
            <a:off x="4893915" y="5124450"/>
            <a:ext cx="369391" cy="152400"/>
          </a:xfrm>
          <a:prstGeom prst="rect">
            <a:avLst/>
          </a:prstGeom>
          <a:ln w="9525">
            <a:solidFill>
              <a:srgbClr val="C3BDB6"/>
            </a:solidFill>
            <a:prstDash val="solid"/>
          </a:ln>
        </p:spPr>
        <p:txBody>
          <a:bodyPr/>
          <a:lstStyle/>
          <a:p>
            <a:endParaRPr lang="en-US"/>
          </a:p>
        </p:txBody>
      </p:sp>
      <p:sp>
        <p:nvSpPr>
          <p:cNvPr id="184" name="Text 183"/>
          <p:cNvSpPr txBox="1"/>
          <p:nvPr/>
        </p:nvSpPr>
        <p:spPr>
          <a:xfrm>
            <a:off x="4955828" y="5138738"/>
            <a:ext cx="30271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Solina</a:t>
            </a:r>
            <a:endParaRPr lang="en-US" sz="660" dirty="0"/>
          </a:p>
        </p:txBody>
      </p:sp>
      <p:sp>
        <p:nvSpPr>
          <p:cNvPr id="185" name="Shape 184"/>
          <p:cNvSpPr/>
          <p:nvPr/>
        </p:nvSpPr>
        <p:spPr>
          <a:xfrm>
            <a:off x="6654701" y="4143375"/>
            <a:ext cx="2984599" cy="2790825"/>
          </a:xfrm>
          <a:prstGeom prst="rect">
            <a:avLst/>
          </a:prstGeom>
          <a:solidFill>
            <a:srgbClr val="FAF7F3"/>
          </a:solidFill>
          <a:ln/>
        </p:spPr>
        <p:txBody>
          <a:bodyPr/>
          <a:lstStyle/>
          <a:p>
            <a:endParaRPr lang="en-US"/>
          </a:p>
        </p:txBody>
      </p:sp>
      <p:sp>
        <p:nvSpPr>
          <p:cNvPr id="186" name="Shape 185"/>
          <p:cNvSpPr/>
          <p:nvPr/>
        </p:nvSpPr>
        <p:spPr>
          <a:xfrm>
            <a:off x="6654701" y="4143375"/>
            <a:ext cx="2984599" cy="28575"/>
          </a:xfrm>
          <a:prstGeom prst="rect">
            <a:avLst/>
          </a:prstGeom>
          <a:solidFill>
            <a:srgbClr val="B68757"/>
          </a:solidFill>
          <a:ln/>
        </p:spPr>
        <p:txBody>
          <a:bodyPr/>
          <a:lstStyle/>
          <a:p>
            <a:endParaRPr lang="en-US"/>
          </a:p>
        </p:txBody>
      </p:sp>
      <p:sp>
        <p:nvSpPr>
          <p:cNvPr id="187" name="Dot 186"/>
          <p:cNvSpPr/>
          <p:nvPr/>
        </p:nvSpPr>
        <p:spPr>
          <a:xfrm>
            <a:off x="6797576" y="4267200"/>
            <a:ext cx="304800" cy="304800"/>
          </a:xfrm>
          <a:prstGeom prst="ellipse">
            <a:avLst/>
          </a:prstGeom>
          <a:solidFill>
            <a:srgbClr val="1B1A1A"/>
          </a:solidFill>
          <a:ln/>
        </p:spPr>
        <p:txBody>
          <a:bodyPr/>
          <a:lstStyle/>
          <a:p>
            <a:endParaRPr lang="en-US"/>
          </a:p>
        </p:txBody>
      </p:sp>
      <p:pic>
        <p:nvPicPr>
          <p:cNvPr id="188" name="Icon" descr="/tmp/claude-0/-home-claude-about/4bef2f41-4227-5ff7-ab18-11ac74cd9797/scratchpad/pptx/ex/media/f6957116ab71.png"/>
          <p:cNvPicPr>
            <a:picLocks noChangeAspect="1"/>
          </p:cNvPicPr>
          <p:nvPr/>
        </p:nvPicPr>
        <p:blipFill>
          <a:blip r:embed="rId8"/>
          <a:stretch>
            <a:fillRect/>
          </a:stretch>
        </p:blipFill>
        <p:spPr>
          <a:xfrm>
            <a:off x="6869013" y="4338638"/>
            <a:ext cx="161925" cy="161925"/>
          </a:xfrm>
          <a:prstGeom prst="rect">
            <a:avLst/>
          </a:prstGeom>
        </p:spPr>
      </p:pic>
      <p:sp>
        <p:nvSpPr>
          <p:cNvPr id="189" name="Text 188"/>
          <p:cNvSpPr txBox="1"/>
          <p:nvPr/>
        </p:nvSpPr>
        <p:spPr>
          <a:xfrm>
            <a:off x="7197626" y="4269581"/>
            <a:ext cx="2313087"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Brand-management firms and individual buyers</a:t>
            </a:r>
            <a:endParaRPr lang="en-US" sz="915" dirty="0"/>
          </a:p>
        </p:txBody>
      </p:sp>
      <p:sp>
        <p:nvSpPr>
          <p:cNvPr id="190" name="Text 189"/>
          <p:cNvSpPr txBox="1"/>
          <p:nvPr/>
        </p:nvSpPr>
        <p:spPr>
          <a:xfrm>
            <a:off x="6797576" y="4622006"/>
            <a:ext cx="2713137"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Brand-management firms are a further buyer group for apparel and heritage names. Two Benchmark International clients were acquired by individual or entrepreneur-led buyers.</a:t>
            </a:r>
            <a:endParaRPr lang="en-US" sz="765" dirty="0"/>
          </a:p>
        </p:txBody>
      </p:sp>
      <p:sp>
        <p:nvSpPr>
          <p:cNvPr id="191" name="Text 190"/>
          <p:cNvSpPr txBox="1"/>
          <p:nvPr/>
        </p:nvSpPr>
        <p:spPr>
          <a:xfrm>
            <a:off x="6797576" y="5233988"/>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92" name="Shape 191"/>
          <p:cNvSpPr/>
          <p:nvPr/>
        </p:nvSpPr>
        <p:spPr>
          <a:xfrm>
            <a:off x="6797576" y="5395913"/>
            <a:ext cx="1096417" cy="161925"/>
          </a:xfrm>
          <a:prstGeom prst="rect">
            <a:avLst/>
          </a:prstGeom>
          <a:solidFill>
            <a:srgbClr val="FFFFFF"/>
          </a:solidFill>
          <a:ln/>
        </p:spPr>
        <p:txBody>
          <a:bodyPr/>
          <a:lstStyle/>
          <a:p>
            <a:endParaRPr lang="en-US"/>
          </a:p>
        </p:txBody>
      </p:sp>
      <p:sp>
        <p:nvSpPr>
          <p:cNvPr id="193" name="Shape 192"/>
          <p:cNvSpPr/>
          <p:nvPr/>
        </p:nvSpPr>
        <p:spPr>
          <a:xfrm>
            <a:off x="6802338" y="5400675"/>
            <a:ext cx="1086892" cy="152400"/>
          </a:xfrm>
          <a:prstGeom prst="rect">
            <a:avLst/>
          </a:prstGeom>
          <a:ln w="9525">
            <a:solidFill>
              <a:srgbClr val="C3BDB6"/>
            </a:solidFill>
            <a:prstDash val="solid"/>
          </a:ln>
        </p:spPr>
        <p:txBody>
          <a:bodyPr/>
          <a:lstStyle/>
          <a:p>
            <a:endParaRPr lang="en-US"/>
          </a:p>
        </p:txBody>
      </p:sp>
      <p:sp>
        <p:nvSpPr>
          <p:cNvPr id="194" name="Text 193"/>
          <p:cNvSpPr txBox="1"/>
          <p:nvPr/>
        </p:nvSpPr>
        <p:spPr>
          <a:xfrm>
            <a:off x="6864251" y="5414963"/>
            <a:ext cx="10202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Authentic Brands Group</a:t>
            </a:r>
            <a:endParaRPr lang="en-US" sz="660" dirty="0"/>
          </a:p>
        </p:txBody>
      </p:sp>
      <p:sp>
        <p:nvSpPr>
          <p:cNvPr id="195" name="Shape 194"/>
          <p:cNvSpPr/>
          <p:nvPr/>
        </p:nvSpPr>
        <p:spPr>
          <a:xfrm>
            <a:off x="7932093" y="5395913"/>
            <a:ext cx="614660" cy="161925"/>
          </a:xfrm>
          <a:prstGeom prst="rect">
            <a:avLst/>
          </a:prstGeom>
          <a:solidFill>
            <a:srgbClr val="FFFFFF"/>
          </a:solidFill>
          <a:ln/>
        </p:spPr>
        <p:txBody>
          <a:bodyPr/>
          <a:lstStyle/>
          <a:p>
            <a:endParaRPr lang="en-US"/>
          </a:p>
        </p:txBody>
      </p:sp>
      <p:sp>
        <p:nvSpPr>
          <p:cNvPr id="196" name="Shape 195"/>
          <p:cNvSpPr/>
          <p:nvPr/>
        </p:nvSpPr>
        <p:spPr>
          <a:xfrm>
            <a:off x="7936855" y="5400675"/>
            <a:ext cx="605135" cy="152400"/>
          </a:xfrm>
          <a:prstGeom prst="rect">
            <a:avLst/>
          </a:prstGeom>
          <a:ln w="9525">
            <a:solidFill>
              <a:srgbClr val="C3BDB6"/>
            </a:solidFill>
            <a:prstDash val="solid"/>
          </a:ln>
        </p:spPr>
        <p:txBody>
          <a:bodyPr/>
          <a:lstStyle/>
          <a:p>
            <a:endParaRPr lang="en-US"/>
          </a:p>
        </p:txBody>
      </p:sp>
      <p:sp>
        <p:nvSpPr>
          <p:cNvPr id="197" name="Text 196"/>
          <p:cNvSpPr txBox="1"/>
          <p:nvPr/>
        </p:nvSpPr>
        <p:spPr>
          <a:xfrm>
            <a:off x="7998768" y="5414963"/>
            <a:ext cx="53846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WHP Global</a:t>
            </a:r>
            <a:endParaRPr lang="en-US" sz="660" dirty="0"/>
          </a:p>
        </p:txBody>
      </p:sp>
      <p:sp>
        <p:nvSpPr>
          <p:cNvPr id="198" name="Text 197"/>
          <p:cNvSpPr txBox="1"/>
          <p:nvPr/>
        </p:nvSpPr>
        <p:spPr>
          <a:xfrm>
            <a:off x="6797576" y="5610225"/>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99" name="Shape 198"/>
          <p:cNvSpPr/>
          <p:nvPr/>
        </p:nvSpPr>
        <p:spPr>
          <a:xfrm>
            <a:off x="6797576" y="5781675"/>
            <a:ext cx="835968" cy="142875"/>
          </a:xfrm>
          <a:prstGeom prst="rect">
            <a:avLst/>
          </a:prstGeom>
          <a:solidFill>
            <a:srgbClr val="1B1A1A"/>
          </a:solidFill>
          <a:ln/>
        </p:spPr>
        <p:txBody>
          <a:bodyPr/>
          <a:lstStyle/>
          <a:p>
            <a:endParaRPr lang="en-US"/>
          </a:p>
        </p:txBody>
      </p:sp>
      <p:sp>
        <p:nvSpPr>
          <p:cNvPr id="200" name="Text 199"/>
          <p:cNvSpPr txBox="1"/>
          <p:nvPr/>
        </p:nvSpPr>
        <p:spPr>
          <a:xfrm>
            <a:off x="6854726" y="5791200"/>
            <a:ext cx="77881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Highwood Harbor</a:t>
            </a:r>
            <a:endParaRPr lang="en-US" sz="660" dirty="0"/>
          </a:p>
        </p:txBody>
      </p:sp>
      <p:sp>
        <p:nvSpPr>
          <p:cNvPr id="201" name="Shape 200"/>
          <p:cNvSpPr/>
          <p:nvPr/>
        </p:nvSpPr>
        <p:spPr>
          <a:xfrm>
            <a:off x="6797576" y="5986463"/>
            <a:ext cx="2529929" cy="142875"/>
          </a:xfrm>
          <a:prstGeom prst="rect">
            <a:avLst/>
          </a:prstGeom>
          <a:solidFill>
            <a:srgbClr val="1B1A1A"/>
          </a:solidFill>
          <a:ln/>
        </p:spPr>
        <p:txBody>
          <a:bodyPr/>
          <a:lstStyle/>
          <a:p>
            <a:endParaRPr lang="en-US"/>
          </a:p>
        </p:txBody>
      </p:sp>
      <p:sp>
        <p:nvSpPr>
          <p:cNvPr id="202" name="Text 201"/>
          <p:cNvSpPr txBox="1"/>
          <p:nvPr/>
        </p:nvSpPr>
        <p:spPr>
          <a:xfrm>
            <a:off x="6854726" y="5995988"/>
            <a:ext cx="24727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The individual investor who acquired Southern Pool Designs</a:t>
            </a:r>
            <a:endParaRPr lang="en-US" sz="660" dirty="0"/>
          </a:p>
        </p:txBody>
      </p:sp>
      <p:sp>
        <p:nvSpPr>
          <p:cNvPr id="203" name="Shape 202"/>
          <p:cNvSpPr/>
          <p:nvPr/>
        </p:nvSpPr>
        <p:spPr>
          <a:xfrm>
            <a:off x="419100" y="7029450"/>
            <a:ext cx="9220200" cy="9525"/>
          </a:xfrm>
          <a:prstGeom prst="rect">
            <a:avLst/>
          </a:prstGeom>
          <a:solidFill>
            <a:srgbClr val="E3DCD3"/>
          </a:solidFill>
          <a:ln/>
        </p:spPr>
        <p:txBody>
          <a:bodyPr/>
          <a:lstStyle/>
          <a:p>
            <a:endParaRPr lang="en-US"/>
          </a:p>
        </p:txBody>
      </p:sp>
      <p:pic>
        <p:nvPicPr>
          <p:cNvPr id="204" name="Benchmark International" descr="Benchmark International"/>
          <p:cNvPicPr>
            <a:picLocks noChangeAspect="1"/>
          </p:cNvPicPr>
          <p:nvPr/>
        </p:nvPicPr>
        <p:blipFill>
          <a:blip r:embed="rId9"/>
          <a:stretch>
            <a:fillRect/>
          </a:stretch>
        </p:blipFill>
        <p:spPr>
          <a:xfrm>
            <a:off x="419100" y="7143750"/>
            <a:ext cx="914400" cy="171450"/>
          </a:xfrm>
          <a:prstGeom prst="rect">
            <a:avLst/>
          </a:prstGeom>
        </p:spPr>
      </p:pic>
      <p:sp>
        <p:nvSpPr>
          <p:cNvPr id="205" name="Text 204"/>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Buyers listed as active are those named in the 2026 transactions covered in the Q4 2026 Consumer report. Acquirers of Benchmark International clients are from announcements on benchmarkintl.com, including earlier engagements. Private equity holds $1.3 trillion of uncommitted capital and about 32,000 unsold portfolio companies (</a:t>
            </a:r>
            <a:r>
              <a:rPr lang="en-US" sz="67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Bain</a:t>
            </a:r>
            <a:r>
              <a:rPr lang="en-US" sz="675" kern="0" spc="15" dirty="0">
                <a:solidFill>
                  <a:srgbClr val="6F6A66"/>
                </a:solidFill>
                <a:latin typeface="Quicksand" pitchFamily="34" charset="0"/>
              </a:rPr>
              <a:t>).</a:t>
            </a:r>
            <a:endParaRPr lang="en-US" sz="675" dirty="0"/>
          </a:p>
        </p:txBody>
      </p:sp>
      <p:sp>
        <p:nvSpPr>
          <p:cNvPr id="206" name="Text 205"/>
          <p:cNvSpPr txBox="1"/>
          <p:nvPr/>
        </p:nvSpPr>
        <p:spPr>
          <a:xfrm>
            <a:off x="9530655" y="7162800"/>
            <a:ext cx="165795"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11</a:t>
            </a:r>
            <a:endParaRPr lang="en-US" sz="713"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Market Performance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Packaged food shares have fallen about a third in a year, and earnings rose most at foodservice distributors and consumer services companies.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4533900" cy="4895850"/>
          </a:xfrm>
          <a:prstGeom prst="rect">
            <a:avLst/>
          </a:prstGeom>
          <a:solidFill>
            <a:srgbClr val="FAF7F3"/>
          </a:solidFill>
          <a:ln/>
        </p:spPr>
        <p:txBody>
          <a:bodyPr/>
          <a:lstStyle/>
          <a:p>
            <a:endParaRPr lang="en-US"/>
          </a:p>
        </p:txBody>
      </p:sp>
      <p:sp>
        <p:nvSpPr>
          <p:cNvPr id="10" name="Shape 9"/>
          <p:cNvSpPr/>
          <p:nvPr/>
        </p:nvSpPr>
        <p:spPr>
          <a:xfrm>
            <a:off x="419100" y="1238250"/>
            <a:ext cx="4533900" cy="28575"/>
          </a:xfrm>
          <a:prstGeom prst="rect">
            <a:avLst/>
          </a:prstGeom>
          <a:solidFill>
            <a:srgbClr val="B68757"/>
          </a:solidFill>
          <a:ln/>
        </p:spPr>
        <p:txBody>
          <a:bodyPr/>
          <a:lstStyle/>
          <a:p>
            <a:endParaRPr lang="en-US"/>
          </a:p>
        </p:txBody>
      </p:sp>
      <p:sp>
        <p:nvSpPr>
          <p:cNvPr id="11" name="Text 10"/>
          <p:cNvSpPr txBox="1"/>
          <p:nvPr/>
        </p:nvSpPr>
        <p:spPr>
          <a:xfrm>
            <a:off x="590550" y="1385888"/>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change in share price over 52 weeks</a:t>
            </a:r>
            <a:endParaRPr lang="en-US" sz="938" dirty="0"/>
          </a:p>
        </p:txBody>
      </p:sp>
      <p:sp>
        <p:nvSpPr>
          <p:cNvPr id="12" name="Text 11"/>
          <p:cNvSpPr txBox="1"/>
          <p:nvPr/>
        </p:nvSpPr>
        <p:spPr>
          <a:xfrm>
            <a:off x="590550" y="1552575"/>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Share prices dated October 2 to October 7, 2026, against a year earlier</a:t>
            </a:r>
            <a:endParaRPr lang="en-US" sz="705" dirty="0"/>
          </a:p>
        </p:txBody>
      </p:sp>
      <p:sp>
        <p:nvSpPr>
          <p:cNvPr id="13" name="Text 12"/>
          <p:cNvSpPr txBox="1"/>
          <p:nvPr/>
        </p:nvSpPr>
        <p:spPr>
          <a:xfrm>
            <a:off x="590550" y="178593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4" name="Text 13"/>
          <p:cNvSpPr txBox="1"/>
          <p:nvPr/>
        </p:nvSpPr>
        <p:spPr>
          <a:xfrm>
            <a:off x="590550" y="2081212"/>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5" name="Shape 14"/>
          <p:cNvSpPr/>
          <p:nvPr/>
        </p:nvSpPr>
        <p:spPr>
          <a:xfrm>
            <a:off x="3710880" y="1971675"/>
            <a:ext cx="9525" cy="352425"/>
          </a:xfrm>
          <a:prstGeom prst="rect">
            <a:avLst/>
          </a:prstGeom>
          <a:solidFill>
            <a:srgbClr val="C3BDB6"/>
          </a:solidFill>
          <a:ln/>
        </p:spPr>
        <p:txBody>
          <a:bodyPr/>
          <a:lstStyle/>
          <a:p>
            <a:endParaRPr lang="en-US"/>
          </a:p>
        </p:txBody>
      </p:sp>
      <p:sp>
        <p:nvSpPr>
          <p:cNvPr id="16" name="Shape 15"/>
          <p:cNvSpPr/>
          <p:nvPr/>
        </p:nvSpPr>
        <p:spPr>
          <a:xfrm>
            <a:off x="2665958" y="2085975"/>
            <a:ext cx="1045815" cy="114300"/>
          </a:xfrm>
          <a:prstGeom prst="rect">
            <a:avLst/>
          </a:prstGeom>
          <a:solidFill>
            <a:srgbClr val="B68757"/>
          </a:solidFill>
          <a:ln/>
        </p:spPr>
        <p:txBody>
          <a:bodyPr/>
          <a:lstStyle/>
          <a:p>
            <a:endParaRPr lang="en-US"/>
          </a:p>
        </p:txBody>
      </p:sp>
      <p:sp>
        <p:nvSpPr>
          <p:cNvPr id="17" name="Text 16"/>
          <p:cNvSpPr txBox="1"/>
          <p:nvPr/>
        </p:nvSpPr>
        <p:spPr>
          <a:xfrm>
            <a:off x="2257127" y="2062163"/>
            <a:ext cx="40898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−30.9%</a:t>
            </a:r>
            <a:endParaRPr lang="en-US" sz="788" dirty="0"/>
          </a:p>
        </p:txBody>
      </p:sp>
      <p:sp>
        <p:nvSpPr>
          <p:cNvPr id="18" name="Text 17"/>
          <p:cNvSpPr txBox="1"/>
          <p:nvPr/>
        </p:nvSpPr>
        <p:spPr>
          <a:xfrm>
            <a:off x="590550" y="24336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9" name="Shape 18"/>
          <p:cNvSpPr/>
          <p:nvPr/>
        </p:nvSpPr>
        <p:spPr>
          <a:xfrm>
            <a:off x="3710880" y="2324100"/>
            <a:ext cx="9525" cy="352425"/>
          </a:xfrm>
          <a:prstGeom prst="rect">
            <a:avLst/>
          </a:prstGeom>
          <a:solidFill>
            <a:srgbClr val="C3BDB6"/>
          </a:solidFill>
          <a:ln/>
        </p:spPr>
        <p:txBody>
          <a:bodyPr/>
          <a:lstStyle/>
          <a:p>
            <a:endParaRPr lang="en-US"/>
          </a:p>
        </p:txBody>
      </p:sp>
      <p:sp>
        <p:nvSpPr>
          <p:cNvPr id="20" name="Shape 19"/>
          <p:cNvSpPr/>
          <p:nvPr/>
        </p:nvSpPr>
        <p:spPr>
          <a:xfrm>
            <a:off x="2430661" y="2438400"/>
            <a:ext cx="1281113" cy="114300"/>
          </a:xfrm>
          <a:prstGeom prst="rect">
            <a:avLst/>
          </a:prstGeom>
          <a:solidFill>
            <a:srgbClr val="B68757"/>
          </a:solidFill>
          <a:ln/>
        </p:spPr>
        <p:txBody>
          <a:bodyPr/>
          <a:lstStyle/>
          <a:p>
            <a:endParaRPr lang="en-US"/>
          </a:p>
        </p:txBody>
      </p:sp>
      <p:sp>
        <p:nvSpPr>
          <p:cNvPr id="21" name="Text 20"/>
          <p:cNvSpPr txBox="1"/>
          <p:nvPr/>
        </p:nvSpPr>
        <p:spPr>
          <a:xfrm>
            <a:off x="2035373" y="2414588"/>
            <a:ext cx="3954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−37.9%</a:t>
            </a:r>
            <a:endParaRPr lang="en-US" sz="788" dirty="0"/>
          </a:p>
        </p:txBody>
      </p:sp>
      <p:sp>
        <p:nvSpPr>
          <p:cNvPr id="22" name="Text 21"/>
          <p:cNvSpPr txBox="1"/>
          <p:nvPr/>
        </p:nvSpPr>
        <p:spPr>
          <a:xfrm>
            <a:off x="590550" y="27860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23" name="Shape 22"/>
          <p:cNvSpPr/>
          <p:nvPr/>
        </p:nvSpPr>
        <p:spPr>
          <a:xfrm>
            <a:off x="3710880" y="2676525"/>
            <a:ext cx="9525" cy="352425"/>
          </a:xfrm>
          <a:prstGeom prst="rect">
            <a:avLst/>
          </a:prstGeom>
          <a:solidFill>
            <a:srgbClr val="C3BDB6"/>
          </a:solidFill>
          <a:ln/>
        </p:spPr>
        <p:txBody>
          <a:bodyPr/>
          <a:lstStyle/>
          <a:p>
            <a:endParaRPr lang="en-US"/>
          </a:p>
        </p:txBody>
      </p:sp>
      <p:sp>
        <p:nvSpPr>
          <p:cNvPr id="24" name="Shape 23"/>
          <p:cNvSpPr/>
          <p:nvPr/>
        </p:nvSpPr>
        <p:spPr>
          <a:xfrm>
            <a:off x="3710880" y="2790825"/>
            <a:ext cx="179933" cy="114300"/>
          </a:xfrm>
          <a:prstGeom prst="rect">
            <a:avLst/>
          </a:prstGeom>
          <a:solidFill>
            <a:srgbClr val="B68757"/>
          </a:solidFill>
          <a:ln/>
        </p:spPr>
        <p:txBody>
          <a:bodyPr/>
          <a:lstStyle/>
          <a:p>
            <a:endParaRPr lang="en-US"/>
          </a:p>
        </p:txBody>
      </p:sp>
      <p:sp>
        <p:nvSpPr>
          <p:cNvPr id="25" name="Text 24"/>
          <p:cNvSpPr txBox="1"/>
          <p:nvPr/>
        </p:nvSpPr>
        <p:spPr>
          <a:xfrm>
            <a:off x="3948112" y="2767013"/>
            <a:ext cx="33843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+5.3%</a:t>
            </a:r>
            <a:endParaRPr lang="en-US" sz="788" dirty="0"/>
          </a:p>
        </p:txBody>
      </p:sp>
      <p:sp>
        <p:nvSpPr>
          <p:cNvPr id="26" name="Text 25"/>
          <p:cNvSpPr txBox="1"/>
          <p:nvPr/>
        </p:nvSpPr>
        <p:spPr>
          <a:xfrm>
            <a:off x="590550" y="310038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27" name="Text 26"/>
          <p:cNvSpPr txBox="1"/>
          <p:nvPr/>
        </p:nvSpPr>
        <p:spPr>
          <a:xfrm>
            <a:off x="590550" y="33956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28" name="Shape 27"/>
          <p:cNvSpPr/>
          <p:nvPr/>
        </p:nvSpPr>
        <p:spPr>
          <a:xfrm>
            <a:off x="3710880" y="3286125"/>
            <a:ext cx="9525" cy="352425"/>
          </a:xfrm>
          <a:prstGeom prst="rect">
            <a:avLst/>
          </a:prstGeom>
          <a:solidFill>
            <a:srgbClr val="C3BDB6"/>
          </a:solidFill>
          <a:ln/>
        </p:spPr>
        <p:txBody>
          <a:bodyPr/>
          <a:lstStyle/>
          <a:p>
            <a:endParaRPr lang="en-US"/>
          </a:p>
        </p:txBody>
      </p:sp>
      <p:sp>
        <p:nvSpPr>
          <p:cNvPr id="29" name="Shape 28"/>
          <p:cNvSpPr/>
          <p:nvPr/>
        </p:nvSpPr>
        <p:spPr>
          <a:xfrm>
            <a:off x="3710880" y="3400425"/>
            <a:ext cx="92273" cy="114300"/>
          </a:xfrm>
          <a:prstGeom prst="rect">
            <a:avLst/>
          </a:prstGeom>
          <a:solidFill>
            <a:srgbClr val="B68757"/>
          </a:solidFill>
          <a:ln/>
        </p:spPr>
        <p:txBody>
          <a:bodyPr/>
          <a:lstStyle/>
          <a:p>
            <a:endParaRPr lang="en-US"/>
          </a:p>
        </p:txBody>
      </p:sp>
      <p:sp>
        <p:nvSpPr>
          <p:cNvPr id="30" name="Text 29"/>
          <p:cNvSpPr txBox="1"/>
          <p:nvPr/>
        </p:nvSpPr>
        <p:spPr>
          <a:xfrm>
            <a:off x="3860453" y="3376613"/>
            <a:ext cx="3429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+2.7%</a:t>
            </a:r>
            <a:endParaRPr lang="en-US" sz="788" dirty="0"/>
          </a:p>
        </p:txBody>
      </p:sp>
      <p:sp>
        <p:nvSpPr>
          <p:cNvPr id="31" name="Text 30"/>
          <p:cNvSpPr txBox="1"/>
          <p:nvPr/>
        </p:nvSpPr>
        <p:spPr>
          <a:xfrm>
            <a:off x="590550" y="3748087"/>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32" name="Shape 31"/>
          <p:cNvSpPr/>
          <p:nvPr/>
        </p:nvSpPr>
        <p:spPr>
          <a:xfrm>
            <a:off x="3710880" y="3638550"/>
            <a:ext cx="9525" cy="352425"/>
          </a:xfrm>
          <a:prstGeom prst="rect">
            <a:avLst/>
          </a:prstGeom>
          <a:solidFill>
            <a:srgbClr val="C3BDB6"/>
          </a:solidFill>
          <a:ln/>
        </p:spPr>
        <p:txBody>
          <a:bodyPr/>
          <a:lstStyle/>
          <a:p>
            <a:endParaRPr lang="en-US"/>
          </a:p>
        </p:txBody>
      </p:sp>
      <p:sp>
        <p:nvSpPr>
          <p:cNvPr id="33" name="Shape 32"/>
          <p:cNvSpPr/>
          <p:nvPr/>
        </p:nvSpPr>
        <p:spPr>
          <a:xfrm>
            <a:off x="3710880" y="3752850"/>
            <a:ext cx="385763" cy="114300"/>
          </a:xfrm>
          <a:prstGeom prst="rect">
            <a:avLst/>
          </a:prstGeom>
          <a:solidFill>
            <a:srgbClr val="B68757"/>
          </a:solidFill>
          <a:ln/>
        </p:spPr>
        <p:txBody>
          <a:bodyPr/>
          <a:lstStyle/>
          <a:p>
            <a:endParaRPr lang="en-US"/>
          </a:p>
        </p:txBody>
      </p:sp>
      <p:sp>
        <p:nvSpPr>
          <p:cNvPr id="34" name="Text 33"/>
          <p:cNvSpPr txBox="1"/>
          <p:nvPr/>
        </p:nvSpPr>
        <p:spPr>
          <a:xfrm>
            <a:off x="4153793" y="3729038"/>
            <a:ext cx="36254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+11.4%</a:t>
            </a:r>
            <a:endParaRPr lang="en-US" sz="788" dirty="0"/>
          </a:p>
        </p:txBody>
      </p:sp>
      <p:sp>
        <p:nvSpPr>
          <p:cNvPr id="35" name="Text 34"/>
          <p:cNvSpPr txBox="1"/>
          <p:nvPr/>
        </p:nvSpPr>
        <p:spPr>
          <a:xfrm>
            <a:off x="590550" y="4062412"/>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36" name="Text 35"/>
          <p:cNvSpPr txBox="1"/>
          <p:nvPr/>
        </p:nvSpPr>
        <p:spPr>
          <a:xfrm>
            <a:off x="590550" y="43576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37" name="Shape 36"/>
          <p:cNvSpPr/>
          <p:nvPr/>
        </p:nvSpPr>
        <p:spPr>
          <a:xfrm>
            <a:off x="3710880" y="4248150"/>
            <a:ext cx="9525" cy="352425"/>
          </a:xfrm>
          <a:prstGeom prst="rect">
            <a:avLst/>
          </a:prstGeom>
          <a:solidFill>
            <a:srgbClr val="C3BDB6"/>
          </a:solidFill>
          <a:ln/>
        </p:spPr>
        <p:txBody>
          <a:bodyPr/>
          <a:lstStyle/>
          <a:p>
            <a:endParaRPr lang="en-US"/>
          </a:p>
        </p:txBody>
      </p:sp>
      <p:sp>
        <p:nvSpPr>
          <p:cNvPr id="38" name="Shape 37"/>
          <p:cNvSpPr/>
          <p:nvPr/>
        </p:nvSpPr>
        <p:spPr>
          <a:xfrm>
            <a:off x="3710880" y="4362450"/>
            <a:ext cx="38100" cy="114300"/>
          </a:xfrm>
          <a:prstGeom prst="rect">
            <a:avLst/>
          </a:prstGeom>
          <a:solidFill>
            <a:srgbClr val="B68757"/>
          </a:solidFill>
          <a:ln/>
        </p:spPr>
        <p:txBody>
          <a:bodyPr/>
          <a:lstStyle/>
          <a:p>
            <a:endParaRPr lang="en-US"/>
          </a:p>
        </p:txBody>
      </p:sp>
      <p:sp>
        <p:nvSpPr>
          <p:cNvPr id="39" name="Text 38"/>
          <p:cNvSpPr txBox="1"/>
          <p:nvPr/>
        </p:nvSpPr>
        <p:spPr>
          <a:xfrm>
            <a:off x="3806130" y="4338638"/>
            <a:ext cx="29988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a:t>
            </a:r>
            <a:endParaRPr lang="en-US" sz="788" dirty="0"/>
          </a:p>
        </p:txBody>
      </p:sp>
      <p:sp>
        <p:nvSpPr>
          <p:cNvPr id="40" name="Text 39"/>
          <p:cNvSpPr txBox="1"/>
          <p:nvPr/>
        </p:nvSpPr>
        <p:spPr>
          <a:xfrm>
            <a:off x="590550" y="4672013"/>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41" name="Text 40"/>
          <p:cNvSpPr txBox="1"/>
          <p:nvPr/>
        </p:nvSpPr>
        <p:spPr>
          <a:xfrm>
            <a:off x="590550" y="49672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42" name="Shape 41"/>
          <p:cNvSpPr/>
          <p:nvPr/>
        </p:nvSpPr>
        <p:spPr>
          <a:xfrm>
            <a:off x="3710880" y="4857750"/>
            <a:ext cx="9525" cy="352425"/>
          </a:xfrm>
          <a:prstGeom prst="rect">
            <a:avLst/>
          </a:prstGeom>
          <a:solidFill>
            <a:srgbClr val="C3BDB6"/>
          </a:solidFill>
          <a:ln/>
        </p:spPr>
        <p:txBody>
          <a:bodyPr/>
          <a:lstStyle/>
          <a:p>
            <a:endParaRPr lang="en-US"/>
          </a:p>
        </p:txBody>
      </p:sp>
      <p:sp>
        <p:nvSpPr>
          <p:cNvPr id="43" name="Shape 42"/>
          <p:cNvSpPr/>
          <p:nvPr/>
        </p:nvSpPr>
        <p:spPr>
          <a:xfrm>
            <a:off x="3316486" y="4972050"/>
            <a:ext cx="395288" cy="114300"/>
          </a:xfrm>
          <a:prstGeom prst="rect">
            <a:avLst/>
          </a:prstGeom>
          <a:solidFill>
            <a:srgbClr val="B68757"/>
          </a:solidFill>
          <a:ln/>
        </p:spPr>
        <p:txBody>
          <a:bodyPr/>
          <a:lstStyle/>
          <a:p>
            <a:endParaRPr lang="en-US"/>
          </a:p>
        </p:txBody>
      </p:sp>
      <p:sp>
        <p:nvSpPr>
          <p:cNvPr id="44" name="Text 43"/>
          <p:cNvSpPr txBox="1"/>
          <p:nvPr/>
        </p:nvSpPr>
        <p:spPr>
          <a:xfrm>
            <a:off x="2950815" y="4948238"/>
            <a:ext cx="36582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−11.7%</a:t>
            </a:r>
            <a:endParaRPr lang="en-US" sz="788" dirty="0"/>
          </a:p>
        </p:txBody>
      </p:sp>
      <p:sp>
        <p:nvSpPr>
          <p:cNvPr id="45" name="Text 44"/>
          <p:cNvSpPr txBox="1"/>
          <p:nvPr/>
        </p:nvSpPr>
        <p:spPr>
          <a:xfrm>
            <a:off x="590550" y="531971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46" name="Shape 45"/>
          <p:cNvSpPr/>
          <p:nvPr/>
        </p:nvSpPr>
        <p:spPr>
          <a:xfrm>
            <a:off x="3710880" y="5210175"/>
            <a:ext cx="9525" cy="352425"/>
          </a:xfrm>
          <a:prstGeom prst="rect">
            <a:avLst/>
          </a:prstGeom>
          <a:solidFill>
            <a:srgbClr val="C3BDB6"/>
          </a:solidFill>
          <a:ln/>
        </p:spPr>
        <p:txBody>
          <a:bodyPr/>
          <a:lstStyle/>
          <a:p>
            <a:endParaRPr lang="en-US"/>
          </a:p>
        </p:txBody>
      </p:sp>
      <p:sp>
        <p:nvSpPr>
          <p:cNvPr id="47" name="Shape 46"/>
          <p:cNvSpPr/>
          <p:nvPr/>
        </p:nvSpPr>
        <p:spPr>
          <a:xfrm>
            <a:off x="2869853" y="5324475"/>
            <a:ext cx="841028" cy="114300"/>
          </a:xfrm>
          <a:prstGeom prst="rect">
            <a:avLst/>
          </a:prstGeom>
          <a:solidFill>
            <a:srgbClr val="B68757"/>
          </a:solidFill>
          <a:ln/>
        </p:spPr>
        <p:txBody>
          <a:bodyPr/>
          <a:lstStyle/>
          <a:p>
            <a:endParaRPr lang="en-US"/>
          </a:p>
        </p:txBody>
      </p:sp>
      <p:sp>
        <p:nvSpPr>
          <p:cNvPr id="48" name="Text 47"/>
          <p:cNvSpPr txBox="1"/>
          <p:nvPr/>
        </p:nvSpPr>
        <p:spPr>
          <a:xfrm>
            <a:off x="2460427" y="5300663"/>
            <a:ext cx="40957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−24.9%</a:t>
            </a:r>
            <a:endParaRPr lang="en-US" sz="788" dirty="0"/>
          </a:p>
        </p:txBody>
      </p:sp>
      <p:sp>
        <p:nvSpPr>
          <p:cNvPr id="49" name="Text 48"/>
          <p:cNvSpPr txBox="1"/>
          <p:nvPr/>
        </p:nvSpPr>
        <p:spPr>
          <a:xfrm>
            <a:off x="590550" y="56721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50" name="Shape 49"/>
          <p:cNvSpPr/>
          <p:nvPr/>
        </p:nvSpPr>
        <p:spPr>
          <a:xfrm>
            <a:off x="3710880" y="5562600"/>
            <a:ext cx="9525" cy="352425"/>
          </a:xfrm>
          <a:prstGeom prst="rect">
            <a:avLst/>
          </a:prstGeom>
          <a:solidFill>
            <a:srgbClr val="C3BDB6"/>
          </a:solidFill>
          <a:ln/>
        </p:spPr>
        <p:txBody>
          <a:bodyPr/>
          <a:lstStyle/>
          <a:p>
            <a:endParaRPr lang="en-US"/>
          </a:p>
        </p:txBody>
      </p:sp>
      <p:sp>
        <p:nvSpPr>
          <p:cNvPr id="51" name="Shape 50"/>
          <p:cNvSpPr/>
          <p:nvPr/>
        </p:nvSpPr>
        <p:spPr>
          <a:xfrm>
            <a:off x="3710880" y="5676900"/>
            <a:ext cx="153293" cy="114300"/>
          </a:xfrm>
          <a:prstGeom prst="rect">
            <a:avLst/>
          </a:prstGeom>
          <a:solidFill>
            <a:srgbClr val="B68757"/>
          </a:solidFill>
          <a:ln/>
        </p:spPr>
        <p:txBody>
          <a:bodyPr/>
          <a:lstStyle/>
          <a:p>
            <a:endParaRPr lang="en-US"/>
          </a:p>
        </p:txBody>
      </p:sp>
      <p:sp>
        <p:nvSpPr>
          <p:cNvPr id="52" name="Text 51"/>
          <p:cNvSpPr txBox="1"/>
          <p:nvPr/>
        </p:nvSpPr>
        <p:spPr>
          <a:xfrm>
            <a:off x="3922365" y="5653088"/>
            <a:ext cx="34751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+4.5%</a:t>
            </a:r>
            <a:endParaRPr lang="en-US" sz="788" dirty="0"/>
          </a:p>
        </p:txBody>
      </p:sp>
      <p:sp>
        <p:nvSpPr>
          <p:cNvPr id="53" name="Shape 52"/>
          <p:cNvSpPr/>
          <p:nvPr/>
        </p:nvSpPr>
        <p:spPr>
          <a:xfrm>
            <a:off x="5105400" y="1238250"/>
            <a:ext cx="4533900" cy="4895850"/>
          </a:xfrm>
          <a:prstGeom prst="rect">
            <a:avLst/>
          </a:prstGeom>
          <a:solidFill>
            <a:srgbClr val="FAF7F3"/>
          </a:solidFill>
          <a:ln/>
        </p:spPr>
        <p:txBody>
          <a:bodyPr/>
          <a:lstStyle/>
          <a:p>
            <a:endParaRPr lang="en-US"/>
          </a:p>
        </p:txBody>
      </p:sp>
      <p:sp>
        <p:nvSpPr>
          <p:cNvPr id="54" name="Shape 53"/>
          <p:cNvSpPr/>
          <p:nvPr/>
        </p:nvSpPr>
        <p:spPr>
          <a:xfrm>
            <a:off x="5105400" y="1238250"/>
            <a:ext cx="4533900" cy="28575"/>
          </a:xfrm>
          <a:prstGeom prst="rect">
            <a:avLst/>
          </a:prstGeom>
          <a:solidFill>
            <a:srgbClr val="B68757"/>
          </a:solidFill>
          <a:ln/>
        </p:spPr>
        <p:txBody>
          <a:bodyPr/>
          <a:lstStyle/>
          <a:p>
            <a:endParaRPr lang="en-US"/>
          </a:p>
        </p:txBody>
      </p:sp>
      <p:sp>
        <p:nvSpPr>
          <p:cNvPr id="55" name="Text 54"/>
          <p:cNvSpPr txBox="1"/>
          <p:nvPr/>
        </p:nvSpPr>
        <p:spPr>
          <a:xfrm>
            <a:off x="5276850" y="1385888"/>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change in EBITDA, latest fiscal year</a:t>
            </a:r>
            <a:endParaRPr lang="en-US" sz="938" dirty="0"/>
          </a:p>
        </p:txBody>
      </p:sp>
      <p:sp>
        <p:nvSpPr>
          <p:cNvPr id="56" name="Text 55"/>
          <p:cNvSpPr txBox="1"/>
          <p:nvPr/>
        </p:nvSpPr>
        <p:spPr>
          <a:xfrm>
            <a:off x="5276850" y="1552575"/>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Reported EBITDA for the latest fiscal year against the year before</a:t>
            </a:r>
            <a:endParaRPr lang="en-US" sz="705" dirty="0"/>
          </a:p>
        </p:txBody>
      </p:sp>
      <p:sp>
        <p:nvSpPr>
          <p:cNvPr id="57" name="Text 56"/>
          <p:cNvSpPr txBox="1"/>
          <p:nvPr/>
        </p:nvSpPr>
        <p:spPr>
          <a:xfrm>
            <a:off x="5276850" y="178593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58" name="Text 57"/>
          <p:cNvSpPr txBox="1"/>
          <p:nvPr/>
        </p:nvSpPr>
        <p:spPr>
          <a:xfrm>
            <a:off x="5276850" y="2081212"/>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59" name="Shape 58"/>
          <p:cNvSpPr/>
          <p:nvPr/>
        </p:nvSpPr>
        <p:spPr>
          <a:xfrm>
            <a:off x="7991475" y="1971675"/>
            <a:ext cx="9525" cy="352425"/>
          </a:xfrm>
          <a:prstGeom prst="rect">
            <a:avLst/>
          </a:prstGeom>
          <a:solidFill>
            <a:srgbClr val="C3BDB6"/>
          </a:solidFill>
          <a:ln/>
        </p:spPr>
        <p:txBody>
          <a:bodyPr/>
          <a:lstStyle/>
          <a:p>
            <a:endParaRPr lang="en-US"/>
          </a:p>
        </p:txBody>
      </p:sp>
      <p:sp>
        <p:nvSpPr>
          <p:cNvPr id="60" name="Shape 59"/>
          <p:cNvSpPr/>
          <p:nvPr/>
        </p:nvSpPr>
        <p:spPr>
          <a:xfrm>
            <a:off x="7155061" y="2085975"/>
            <a:ext cx="836265" cy="114300"/>
          </a:xfrm>
          <a:prstGeom prst="rect">
            <a:avLst/>
          </a:prstGeom>
          <a:solidFill>
            <a:srgbClr val="B68757"/>
          </a:solidFill>
          <a:ln/>
        </p:spPr>
        <p:txBody>
          <a:bodyPr/>
          <a:lstStyle/>
          <a:p>
            <a:endParaRPr lang="en-US"/>
          </a:p>
        </p:txBody>
      </p:sp>
      <p:sp>
        <p:nvSpPr>
          <p:cNvPr id="61" name="Text 60"/>
          <p:cNvSpPr txBox="1"/>
          <p:nvPr/>
        </p:nvSpPr>
        <p:spPr>
          <a:xfrm>
            <a:off x="6810375" y="2062163"/>
            <a:ext cx="34483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−11.1%</a:t>
            </a:r>
            <a:endParaRPr lang="en-US" sz="788" dirty="0"/>
          </a:p>
        </p:txBody>
      </p:sp>
      <p:sp>
        <p:nvSpPr>
          <p:cNvPr id="62" name="Text 61"/>
          <p:cNvSpPr txBox="1"/>
          <p:nvPr/>
        </p:nvSpPr>
        <p:spPr>
          <a:xfrm>
            <a:off x="5276850" y="24336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63" name="Shape 62"/>
          <p:cNvSpPr/>
          <p:nvPr/>
        </p:nvSpPr>
        <p:spPr>
          <a:xfrm>
            <a:off x="7991475" y="2324100"/>
            <a:ext cx="9525" cy="352425"/>
          </a:xfrm>
          <a:prstGeom prst="rect">
            <a:avLst/>
          </a:prstGeom>
          <a:solidFill>
            <a:srgbClr val="C3BDB6"/>
          </a:solidFill>
          <a:ln/>
        </p:spPr>
        <p:txBody>
          <a:bodyPr/>
          <a:lstStyle/>
          <a:p>
            <a:endParaRPr lang="en-US"/>
          </a:p>
        </p:txBody>
      </p:sp>
      <p:sp>
        <p:nvSpPr>
          <p:cNvPr id="64" name="Shape 63"/>
          <p:cNvSpPr/>
          <p:nvPr/>
        </p:nvSpPr>
        <p:spPr>
          <a:xfrm>
            <a:off x="7094190" y="2438400"/>
            <a:ext cx="897136" cy="114300"/>
          </a:xfrm>
          <a:prstGeom prst="rect">
            <a:avLst/>
          </a:prstGeom>
          <a:solidFill>
            <a:srgbClr val="B68757"/>
          </a:solidFill>
          <a:ln/>
        </p:spPr>
        <p:txBody>
          <a:bodyPr/>
          <a:lstStyle/>
          <a:p>
            <a:endParaRPr lang="en-US"/>
          </a:p>
        </p:txBody>
      </p:sp>
      <p:sp>
        <p:nvSpPr>
          <p:cNvPr id="65" name="Text 64"/>
          <p:cNvSpPr txBox="1"/>
          <p:nvPr/>
        </p:nvSpPr>
        <p:spPr>
          <a:xfrm>
            <a:off x="6726585" y="2414588"/>
            <a:ext cx="36775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−11.9%</a:t>
            </a:r>
            <a:endParaRPr lang="en-US" sz="788" dirty="0"/>
          </a:p>
        </p:txBody>
      </p:sp>
      <p:sp>
        <p:nvSpPr>
          <p:cNvPr id="66" name="Text 65"/>
          <p:cNvSpPr txBox="1"/>
          <p:nvPr/>
        </p:nvSpPr>
        <p:spPr>
          <a:xfrm>
            <a:off x="5276850" y="27860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67" name="Shape 66"/>
          <p:cNvSpPr/>
          <p:nvPr/>
        </p:nvSpPr>
        <p:spPr>
          <a:xfrm>
            <a:off x="7991475" y="2676525"/>
            <a:ext cx="9525" cy="352425"/>
          </a:xfrm>
          <a:prstGeom prst="rect">
            <a:avLst/>
          </a:prstGeom>
          <a:solidFill>
            <a:srgbClr val="C3BDB6"/>
          </a:solidFill>
          <a:ln/>
        </p:spPr>
        <p:txBody>
          <a:bodyPr/>
          <a:lstStyle/>
          <a:p>
            <a:endParaRPr lang="en-US"/>
          </a:p>
        </p:txBody>
      </p:sp>
      <p:sp>
        <p:nvSpPr>
          <p:cNvPr id="68" name="Shape 67"/>
          <p:cNvSpPr/>
          <p:nvPr/>
        </p:nvSpPr>
        <p:spPr>
          <a:xfrm>
            <a:off x="7991475" y="2790825"/>
            <a:ext cx="482798" cy="114300"/>
          </a:xfrm>
          <a:prstGeom prst="rect">
            <a:avLst/>
          </a:prstGeom>
          <a:solidFill>
            <a:srgbClr val="B68757"/>
          </a:solidFill>
          <a:ln/>
        </p:spPr>
        <p:txBody>
          <a:bodyPr/>
          <a:lstStyle/>
          <a:p>
            <a:endParaRPr lang="en-US"/>
          </a:p>
        </p:txBody>
      </p:sp>
      <p:sp>
        <p:nvSpPr>
          <p:cNvPr id="69" name="Text 68"/>
          <p:cNvSpPr txBox="1"/>
          <p:nvPr/>
        </p:nvSpPr>
        <p:spPr>
          <a:xfrm>
            <a:off x="8531423" y="2767013"/>
            <a:ext cx="34215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+6.4%</a:t>
            </a:r>
            <a:endParaRPr lang="en-US" sz="788" dirty="0"/>
          </a:p>
        </p:txBody>
      </p:sp>
      <p:sp>
        <p:nvSpPr>
          <p:cNvPr id="70" name="Text 69"/>
          <p:cNvSpPr txBox="1"/>
          <p:nvPr/>
        </p:nvSpPr>
        <p:spPr>
          <a:xfrm>
            <a:off x="5276850" y="310038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71" name="Text 70"/>
          <p:cNvSpPr txBox="1"/>
          <p:nvPr/>
        </p:nvSpPr>
        <p:spPr>
          <a:xfrm>
            <a:off x="5276850" y="33956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72" name="Shape 71"/>
          <p:cNvSpPr/>
          <p:nvPr/>
        </p:nvSpPr>
        <p:spPr>
          <a:xfrm>
            <a:off x="7991475" y="3286125"/>
            <a:ext cx="9525" cy="352425"/>
          </a:xfrm>
          <a:prstGeom prst="rect">
            <a:avLst/>
          </a:prstGeom>
          <a:solidFill>
            <a:srgbClr val="C3BDB6"/>
          </a:solidFill>
          <a:ln/>
        </p:spPr>
        <p:txBody>
          <a:bodyPr/>
          <a:lstStyle/>
          <a:p>
            <a:endParaRPr lang="en-US"/>
          </a:p>
        </p:txBody>
      </p:sp>
      <p:sp>
        <p:nvSpPr>
          <p:cNvPr id="73" name="Shape 72"/>
          <p:cNvSpPr/>
          <p:nvPr/>
        </p:nvSpPr>
        <p:spPr>
          <a:xfrm>
            <a:off x="7991475" y="3400425"/>
            <a:ext cx="56108" cy="114300"/>
          </a:xfrm>
          <a:prstGeom prst="rect">
            <a:avLst/>
          </a:prstGeom>
          <a:solidFill>
            <a:srgbClr val="B68757"/>
          </a:solidFill>
          <a:ln/>
        </p:spPr>
        <p:txBody>
          <a:bodyPr/>
          <a:lstStyle/>
          <a:p>
            <a:endParaRPr lang="en-US"/>
          </a:p>
        </p:txBody>
      </p:sp>
      <p:sp>
        <p:nvSpPr>
          <p:cNvPr id="74" name="Text 73"/>
          <p:cNvSpPr txBox="1"/>
          <p:nvPr/>
        </p:nvSpPr>
        <p:spPr>
          <a:xfrm>
            <a:off x="8104733" y="3376613"/>
            <a:ext cx="34736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+0.7%</a:t>
            </a:r>
            <a:endParaRPr lang="en-US" sz="788" dirty="0"/>
          </a:p>
        </p:txBody>
      </p:sp>
      <p:sp>
        <p:nvSpPr>
          <p:cNvPr id="75" name="Text 74"/>
          <p:cNvSpPr txBox="1"/>
          <p:nvPr/>
        </p:nvSpPr>
        <p:spPr>
          <a:xfrm>
            <a:off x="5276850" y="3748087"/>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76" name="Shape 75"/>
          <p:cNvSpPr/>
          <p:nvPr/>
        </p:nvSpPr>
        <p:spPr>
          <a:xfrm>
            <a:off x="7991475" y="3638550"/>
            <a:ext cx="9525" cy="352425"/>
          </a:xfrm>
          <a:prstGeom prst="rect">
            <a:avLst/>
          </a:prstGeom>
          <a:solidFill>
            <a:srgbClr val="C3BDB6"/>
          </a:solidFill>
          <a:ln/>
        </p:spPr>
        <p:txBody>
          <a:bodyPr/>
          <a:lstStyle/>
          <a:p>
            <a:endParaRPr lang="en-US"/>
          </a:p>
        </p:txBody>
      </p:sp>
      <p:sp>
        <p:nvSpPr>
          <p:cNvPr id="77" name="Shape 76"/>
          <p:cNvSpPr/>
          <p:nvPr/>
        </p:nvSpPr>
        <p:spPr>
          <a:xfrm>
            <a:off x="7464623" y="3752850"/>
            <a:ext cx="526703" cy="114300"/>
          </a:xfrm>
          <a:prstGeom prst="rect">
            <a:avLst/>
          </a:prstGeom>
          <a:solidFill>
            <a:srgbClr val="B68757"/>
          </a:solidFill>
          <a:ln/>
        </p:spPr>
        <p:txBody>
          <a:bodyPr/>
          <a:lstStyle/>
          <a:p>
            <a:endParaRPr lang="en-US"/>
          </a:p>
        </p:txBody>
      </p:sp>
      <p:sp>
        <p:nvSpPr>
          <p:cNvPr id="78" name="Text 77"/>
          <p:cNvSpPr txBox="1"/>
          <p:nvPr/>
        </p:nvSpPr>
        <p:spPr>
          <a:xfrm>
            <a:off x="7120235" y="3729038"/>
            <a:ext cx="34453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−7.0%</a:t>
            </a:r>
            <a:endParaRPr lang="en-US" sz="788" dirty="0"/>
          </a:p>
        </p:txBody>
      </p:sp>
      <p:sp>
        <p:nvSpPr>
          <p:cNvPr id="79" name="Text 78"/>
          <p:cNvSpPr txBox="1"/>
          <p:nvPr/>
        </p:nvSpPr>
        <p:spPr>
          <a:xfrm>
            <a:off x="5276850" y="4062412"/>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80" name="Text 79"/>
          <p:cNvSpPr txBox="1"/>
          <p:nvPr/>
        </p:nvSpPr>
        <p:spPr>
          <a:xfrm>
            <a:off x="5276850" y="43576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81" name="Shape 80"/>
          <p:cNvSpPr/>
          <p:nvPr/>
        </p:nvSpPr>
        <p:spPr>
          <a:xfrm>
            <a:off x="7991475" y="4248150"/>
            <a:ext cx="9525" cy="352425"/>
          </a:xfrm>
          <a:prstGeom prst="rect">
            <a:avLst/>
          </a:prstGeom>
          <a:solidFill>
            <a:srgbClr val="C3BDB6"/>
          </a:solidFill>
          <a:ln/>
        </p:spPr>
        <p:txBody>
          <a:bodyPr/>
          <a:lstStyle/>
          <a:p>
            <a:endParaRPr lang="en-US"/>
          </a:p>
        </p:txBody>
      </p:sp>
      <p:sp>
        <p:nvSpPr>
          <p:cNvPr id="82" name="Shape 81"/>
          <p:cNvSpPr/>
          <p:nvPr/>
        </p:nvSpPr>
        <p:spPr>
          <a:xfrm>
            <a:off x="7991475" y="4362450"/>
            <a:ext cx="769590" cy="114300"/>
          </a:xfrm>
          <a:prstGeom prst="rect">
            <a:avLst/>
          </a:prstGeom>
          <a:solidFill>
            <a:srgbClr val="B68757"/>
          </a:solidFill>
          <a:ln/>
        </p:spPr>
        <p:txBody>
          <a:bodyPr/>
          <a:lstStyle/>
          <a:p>
            <a:endParaRPr lang="en-US"/>
          </a:p>
        </p:txBody>
      </p:sp>
      <p:sp>
        <p:nvSpPr>
          <p:cNvPr id="83" name="Text 82"/>
          <p:cNvSpPr txBox="1"/>
          <p:nvPr/>
        </p:nvSpPr>
        <p:spPr>
          <a:xfrm>
            <a:off x="8818215" y="4338638"/>
            <a:ext cx="38620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+10.2%</a:t>
            </a:r>
            <a:endParaRPr lang="en-US" sz="788" dirty="0"/>
          </a:p>
        </p:txBody>
      </p:sp>
      <p:sp>
        <p:nvSpPr>
          <p:cNvPr id="84" name="Text 83"/>
          <p:cNvSpPr txBox="1"/>
          <p:nvPr/>
        </p:nvSpPr>
        <p:spPr>
          <a:xfrm>
            <a:off x="5276850" y="4672013"/>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85" name="Text 84"/>
          <p:cNvSpPr txBox="1"/>
          <p:nvPr/>
        </p:nvSpPr>
        <p:spPr>
          <a:xfrm>
            <a:off x="5276850" y="49672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86" name="Shape 85"/>
          <p:cNvSpPr/>
          <p:nvPr/>
        </p:nvSpPr>
        <p:spPr>
          <a:xfrm>
            <a:off x="7991475" y="4857750"/>
            <a:ext cx="9525" cy="352425"/>
          </a:xfrm>
          <a:prstGeom prst="rect">
            <a:avLst/>
          </a:prstGeom>
          <a:solidFill>
            <a:srgbClr val="C3BDB6"/>
          </a:solidFill>
          <a:ln/>
        </p:spPr>
        <p:txBody>
          <a:bodyPr/>
          <a:lstStyle/>
          <a:p>
            <a:endParaRPr lang="en-US"/>
          </a:p>
        </p:txBody>
      </p:sp>
      <p:sp>
        <p:nvSpPr>
          <p:cNvPr id="87" name="Shape 86"/>
          <p:cNvSpPr/>
          <p:nvPr/>
        </p:nvSpPr>
        <p:spPr>
          <a:xfrm>
            <a:off x="7991475" y="4972050"/>
            <a:ext cx="474315" cy="114300"/>
          </a:xfrm>
          <a:prstGeom prst="rect">
            <a:avLst/>
          </a:prstGeom>
          <a:solidFill>
            <a:srgbClr val="B68757"/>
          </a:solidFill>
          <a:ln/>
        </p:spPr>
        <p:txBody>
          <a:bodyPr/>
          <a:lstStyle/>
          <a:p>
            <a:endParaRPr lang="en-US"/>
          </a:p>
        </p:txBody>
      </p:sp>
      <p:sp>
        <p:nvSpPr>
          <p:cNvPr id="88" name="Text 87"/>
          <p:cNvSpPr txBox="1"/>
          <p:nvPr/>
        </p:nvSpPr>
        <p:spPr>
          <a:xfrm>
            <a:off x="8522940" y="4948238"/>
            <a:ext cx="340072"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+6.3%</a:t>
            </a:r>
            <a:endParaRPr lang="en-US" sz="788" dirty="0"/>
          </a:p>
        </p:txBody>
      </p:sp>
      <p:sp>
        <p:nvSpPr>
          <p:cNvPr id="89" name="Text 88"/>
          <p:cNvSpPr txBox="1"/>
          <p:nvPr/>
        </p:nvSpPr>
        <p:spPr>
          <a:xfrm>
            <a:off x="5276850" y="531971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90" name="Shape 89"/>
          <p:cNvSpPr/>
          <p:nvPr/>
        </p:nvSpPr>
        <p:spPr>
          <a:xfrm>
            <a:off x="7991475" y="5210175"/>
            <a:ext cx="9525" cy="352425"/>
          </a:xfrm>
          <a:prstGeom prst="rect">
            <a:avLst/>
          </a:prstGeom>
          <a:solidFill>
            <a:srgbClr val="C3BDB6"/>
          </a:solidFill>
          <a:ln/>
        </p:spPr>
        <p:txBody>
          <a:bodyPr/>
          <a:lstStyle/>
          <a:p>
            <a:endParaRPr lang="en-US"/>
          </a:p>
        </p:txBody>
      </p:sp>
      <p:sp>
        <p:nvSpPr>
          <p:cNvPr id="91" name="Shape 90"/>
          <p:cNvSpPr/>
          <p:nvPr/>
        </p:nvSpPr>
        <p:spPr>
          <a:xfrm>
            <a:off x="7991475" y="5324475"/>
            <a:ext cx="820043" cy="114300"/>
          </a:xfrm>
          <a:prstGeom prst="rect">
            <a:avLst/>
          </a:prstGeom>
          <a:solidFill>
            <a:srgbClr val="B68757"/>
          </a:solidFill>
          <a:ln/>
        </p:spPr>
        <p:txBody>
          <a:bodyPr/>
          <a:lstStyle/>
          <a:p>
            <a:endParaRPr lang="en-US"/>
          </a:p>
        </p:txBody>
      </p:sp>
      <p:sp>
        <p:nvSpPr>
          <p:cNvPr id="92" name="Text 91"/>
          <p:cNvSpPr txBox="1"/>
          <p:nvPr/>
        </p:nvSpPr>
        <p:spPr>
          <a:xfrm>
            <a:off x="8868668" y="5300663"/>
            <a:ext cx="38412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+10.8%</a:t>
            </a:r>
            <a:endParaRPr lang="en-US" sz="788" dirty="0"/>
          </a:p>
        </p:txBody>
      </p:sp>
      <p:sp>
        <p:nvSpPr>
          <p:cNvPr id="93" name="Text 92"/>
          <p:cNvSpPr txBox="1"/>
          <p:nvPr/>
        </p:nvSpPr>
        <p:spPr>
          <a:xfrm>
            <a:off x="5276850" y="56721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94" name="Shape 93"/>
          <p:cNvSpPr/>
          <p:nvPr/>
        </p:nvSpPr>
        <p:spPr>
          <a:xfrm>
            <a:off x="7991475" y="5562600"/>
            <a:ext cx="9525" cy="352425"/>
          </a:xfrm>
          <a:prstGeom prst="rect">
            <a:avLst/>
          </a:prstGeom>
          <a:solidFill>
            <a:srgbClr val="C3BDB6"/>
          </a:solidFill>
          <a:ln/>
        </p:spPr>
        <p:txBody>
          <a:bodyPr/>
          <a:lstStyle/>
          <a:p>
            <a:endParaRPr lang="en-US"/>
          </a:p>
        </p:txBody>
      </p:sp>
      <p:sp>
        <p:nvSpPr>
          <p:cNvPr id="95" name="Shape 94"/>
          <p:cNvSpPr/>
          <p:nvPr/>
        </p:nvSpPr>
        <p:spPr>
          <a:xfrm>
            <a:off x="7991475" y="5676900"/>
            <a:ext cx="265658" cy="114300"/>
          </a:xfrm>
          <a:prstGeom prst="rect">
            <a:avLst/>
          </a:prstGeom>
          <a:solidFill>
            <a:srgbClr val="B68757"/>
          </a:solidFill>
          <a:ln/>
        </p:spPr>
        <p:txBody>
          <a:bodyPr/>
          <a:lstStyle/>
          <a:p>
            <a:endParaRPr lang="en-US"/>
          </a:p>
        </p:txBody>
      </p:sp>
      <p:sp>
        <p:nvSpPr>
          <p:cNvPr id="96" name="Text 95"/>
          <p:cNvSpPr txBox="1"/>
          <p:nvPr/>
        </p:nvSpPr>
        <p:spPr>
          <a:xfrm>
            <a:off x="8314283" y="5653088"/>
            <a:ext cx="34245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+3.5%</a:t>
            </a:r>
            <a:endParaRPr lang="en-US" sz="788" dirty="0"/>
          </a:p>
        </p:txBody>
      </p:sp>
      <p:sp>
        <p:nvSpPr>
          <p:cNvPr id="97" name="Shape 96"/>
          <p:cNvSpPr/>
          <p:nvPr/>
        </p:nvSpPr>
        <p:spPr>
          <a:xfrm>
            <a:off x="419100" y="6248400"/>
            <a:ext cx="9220200" cy="685800"/>
          </a:xfrm>
          <a:prstGeom prst="rect">
            <a:avLst/>
          </a:prstGeom>
          <a:solidFill>
            <a:srgbClr val="1B1A1A"/>
          </a:solidFill>
          <a:ln/>
        </p:spPr>
        <p:txBody>
          <a:bodyPr/>
          <a:lstStyle/>
          <a:p>
            <a:endParaRPr lang="en-US"/>
          </a:p>
        </p:txBody>
      </p:sp>
      <p:sp>
        <p:nvSpPr>
          <p:cNvPr id="98" name="Text 97"/>
          <p:cNvSpPr txBox="1"/>
          <p:nvPr/>
        </p:nvSpPr>
        <p:spPr>
          <a:xfrm>
            <a:off x="609600" y="6386513"/>
            <a:ext cx="1004887" cy="400050"/>
          </a:xfrm>
          <a:prstGeom prst="rect">
            <a:avLst/>
          </a:prstGeom>
          <a:noFill/>
          <a:ln/>
        </p:spPr>
        <p:txBody>
          <a:bodyPr wrap="square" lIns="0" tIns="0" rIns="0" bIns="0" rtlCol="0" anchor="t"/>
          <a:lstStyle/>
          <a:p>
            <a:pPr marL="0" indent="0" algn="l">
              <a:lnSpc>
                <a:spcPts val="1050"/>
              </a:lnSpc>
              <a:buNone/>
            </a:pPr>
            <a:r>
              <a:rPr lang="en-US" sz="675" b="1" kern="0" spc="165" dirty="0">
                <a:solidFill>
                  <a:srgbClr val="D3AE84"/>
                </a:solidFill>
                <a:latin typeface="Quicksand" pitchFamily="34" charset="0"/>
              </a:rPr>
              <a:t>WHAT THE MARKET IS PRICING</a:t>
            </a:r>
            <a:endParaRPr lang="en-US" sz="675" dirty="0"/>
          </a:p>
        </p:txBody>
      </p:sp>
      <p:sp>
        <p:nvSpPr>
          <p:cNvPr id="99" name="Shape 98"/>
          <p:cNvSpPr/>
          <p:nvPr/>
        </p:nvSpPr>
        <p:spPr>
          <a:xfrm>
            <a:off x="1771650" y="6343650"/>
            <a:ext cx="9525" cy="495300"/>
          </a:xfrm>
          <a:prstGeom prst="rect">
            <a:avLst/>
          </a:prstGeom>
          <a:solidFill>
            <a:srgbClr val="FFFFFF">
              <a:alpha val="20000"/>
            </a:srgbClr>
          </a:solidFill>
          <a:ln/>
        </p:spPr>
        <p:txBody>
          <a:bodyPr/>
          <a:lstStyle/>
          <a:p>
            <a:endParaRPr lang="en-US"/>
          </a:p>
        </p:txBody>
      </p:sp>
      <p:sp>
        <p:nvSpPr>
          <p:cNvPr id="100" name="Text 99"/>
          <p:cNvSpPr txBox="1"/>
          <p:nvPr/>
        </p:nvSpPr>
        <p:spPr>
          <a:xfrm>
            <a:off x="1952625" y="6343650"/>
            <a:ext cx="2155924"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34 of 57</a:t>
            </a:r>
            <a:endParaRPr lang="en-US" sz="1650" dirty="0"/>
          </a:p>
        </p:txBody>
      </p:sp>
      <p:sp>
        <p:nvSpPr>
          <p:cNvPr id="101" name="Text 100"/>
          <p:cNvSpPr txBox="1"/>
          <p:nvPr/>
        </p:nvSpPr>
        <p:spPr>
          <a:xfrm>
            <a:off x="1952625" y="6591300"/>
            <a:ext cx="2170212"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listed consumer companies trade below their share price of a year ago</a:t>
            </a:r>
            <a:endParaRPr lang="en-US" sz="705" dirty="0"/>
          </a:p>
        </p:txBody>
      </p:sp>
      <p:sp>
        <p:nvSpPr>
          <p:cNvPr id="102" name="Shape 101"/>
          <p:cNvSpPr/>
          <p:nvPr/>
        </p:nvSpPr>
        <p:spPr>
          <a:xfrm>
            <a:off x="4279999" y="6343650"/>
            <a:ext cx="9525" cy="495300"/>
          </a:xfrm>
          <a:prstGeom prst="rect">
            <a:avLst/>
          </a:prstGeom>
          <a:solidFill>
            <a:srgbClr val="FFFFFF">
              <a:alpha val="20000"/>
            </a:srgbClr>
          </a:solidFill>
          <a:ln/>
        </p:spPr>
        <p:txBody>
          <a:bodyPr/>
          <a:lstStyle/>
          <a:p>
            <a:endParaRPr lang="en-US"/>
          </a:p>
        </p:txBody>
      </p:sp>
      <p:sp>
        <p:nvSpPr>
          <p:cNvPr id="103" name="Text 102"/>
          <p:cNvSpPr txBox="1"/>
          <p:nvPr/>
        </p:nvSpPr>
        <p:spPr>
          <a:xfrm>
            <a:off x="4460974" y="6343650"/>
            <a:ext cx="2479328"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11.5x</a:t>
            </a:r>
            <a:endParaRPr lang="en-US" sz="1650" dirty="0"/>
          </a:p>
        </p:txBody>
      </p:sp>
      <p:sp>
        <p:nvSpPr>
          <p:cNvPr id="104" name="Text 103"/>
          <p:cNvSpPr txBox="1"/>
          <p:nvPr/>
        </p:nvSpPr>
        <p:spPr>
          <a:xfrm>
            <a:off x="4460974" y="6591300"/>
            <a:ext cx="2493615"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median enterprise value to trailing EBITDA today, against 14.5x a year ago</a:t>
            </a:r>
            <a:endParaRPr lang="en-US" sz="705" dirty="0"/>
          </a:p>
        </p:txBody>
      </p:sp>
      <p:sp>
        <p:nvSpPr>
          <p:cNvPr id="105" name="Shape 104"/>
          <p:cNvSpPr/>
          <p:nvPr/>
        </p:nvSpPr>
        <p:spPr>
          <a:xfrm>
            <a:off x="7111752" y="6343650"/>
            <a:ext cx="9525" cy="495300"/>
          </a:xfrm>
          <a:prstGeom prst="rect">
            <a:avLst/>
          </a:prstGeom>
          <a:solidFill>
            <a:srgbClr val="FFFFFF">
              <a:alpha val="20000"/>
            </a:srgbClr>
          </a:solidFill>
          <a:ln/>
        </p:spPr>
        <p:txBody>
          <a:bodyPr/>
          <a:lstStyle/>
          <a:p>
            <a:endParaRPr lang="en-US"/>
          </a:p>
        </p:txBody>
      </p:sp>
      <p:sp>
        <p:nvSpPr>
          <p:cNvPr id="106" name="Text 105"/>
          <p:cNvSpPr txBox="1"/>
          <p:nvPr/>
        </p:nvSpPr>
        <p:spPr>
          <a:xfrm>
            <a:off x="7292727" y="6343650"/>
            <a:ext cx="2155924"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9 of 9</a:t>
            </a:r>
            <a:endParaRPr lang="en-US" sz="1650" dirty="0"/>
          </a:p>
        </p:txBody>
      </p:sp>
      <p:sp>
        <p:nvSpPr>
          <p:cNvPr id="107" name="Text 106"/>
          <p:cNvSpPr txBox="1"/>
          <p:nvPr/>
        </p:nvSpPr>
        <p:spPr>
          <a:xfrm>
            <a:off x="7292727" y="6591300"/>
            <a:ext cx="2170212"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peer groups carry a lower median multiple of EBITDA than a year ago</a:t>
            </a:r>
            <a:endParaRPr lang="en-US" sz="705" dirty="0"/>
          </a:p>
        </p:txBody>
      </p:sp>
      <p:sp>
        <p:nvSpPr>
          <p:cNvPr id="108" name="Shape 107"/>
          <p:cNvSpPr/>
          <p:nvPr/>
        </p:nvSpPr>
        <p:spPr>
          <a:xfrm>
            <a:off x="419100" y="7029450"/>
            <a:ext cx="9220200" cy="9525"/>
          </a:xfrm>
          <a:prstGeom prst="rect">
            <a:avLst/>
          </a:prstGeom>
          <a:solidFill>
            <a:srgbClr val="E3DCD3"/>
          </a:solidFill>
          <a:ln/>
        </p:spPr>
        <p:txBody>
          <a:bodyPr/>
          <a:lstStyle/>
          <a:p>
            <a:endParaRPr lang="en-US"/>
          </a:p>
        </p:txBody>
      </p:sp>
      <p:pic>
        <p:nvPicPr>
          <p:cNvPr id="109"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10" name="Text 10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of 57 listed companies in nine peer groups, shown on pages 15 to 17. 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EBITDA is as reported. The snacks median sits between Hershey, down 18%, and three smaller companies down 58% to 78%. Multiples cover the 55 companies with comparable readings on both dates.</a:t>
            </a:r>
            <a:endParaRPr lang="en-US" sz="675" dirty="0"/>
          </a:p>
        </p:txBody>
      </p:sp>
      <p:sp>
        <p:nvSpPr>
          <p:cNvPr id="111" name="Text 110"/>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12</a:t>
            </a:r>
            <a:endParaRPr lang="en-US" sz="713"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Revenue Growth Trends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Snack, restaurant and consumer services companies grew fastest in their latest fiscal year, and packaged food revenue has declined three years running.</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4533900" cy="2781300"/>
          </a:xfrm>
          <a:prstGeom prst="rect">
            <a:avLst/>
          </a:prstGeom>
          <a:solidFill>
            <a:srgbClr val="FAF7F3"/>
          </a:solidFill>
          <a:ln/>
        </p:spPr>
        <p:txBody>
          <a:bodyPr/>
          <a:lstStyle/>
          <a:p>
            <a:endParaRPr lang="en-US"/>
          </a:p>
        </p:txBody>
      </p:sp>
      <p:sp>
        <p:nvSpPr>
          <p:cNvPr id="10" name="Shape 9"/>
          <p:cNvSpPr/>
          <p:nvPr/>
        </p:nvSpPr>
        <p:spPr>
          <a:xfrm>
            <a:off x="419100" y="1238250"/>
            <a:ext cx="4533900" cy="28575"/>
          </a:xfrm>
          <a:prstGeom prst="rect">
            <a:avLst/>
          </a:prstGeom>
          <a:solidFill>
            <a:srgbClr val="B68757"/>
          </a:solidFill>
          <a:ln/>
        </p:spPr>
        <p:txBody>
          <a:bodyPr/>
          <a:lstStyle/>
          <a:p>
            <a:endParaRPr lang="en-US"/>
          </a:p>
        </p:txBody>
      </p:sp>
      <p:sp>
        <p:nvSpPr>
          <p:cNvPr id="11" name="Text 10"/>
          <p:cNvSpPr txBox="1"/>
          <p:nvPr/>
        </p:nvSpPr>
        <p:spPr>
          <a:xfrm>
            <a:off x="590550" y="137636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Food &amp; Beverage</a:t>
            </a:r>
            <a:endParaRPr lang="en-US" sz="938" dirty="0"/>
          </a:p>
        </p:txBody>
      </p:sp>
      <p:sp>
        <p:nvSpPr>
          <p:cNvPr id="12" name="Text 11"/>
          <p:cNvSpPr txBox="1"/>
          <p:nvPr/>
        </p:nvSpPr>
        <p:spPr>
          <a:xfrm>
            <a:off x="590550" y="154305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13" name="Text 12"/>
          <p:cNvSpPr txBox="1"/>
          <p:nvPr/>
        </p:nvSpPr>
        <p:spPr>
          <a:xfrm>
            <a:off x="714375" y="1700213"/>
            <a:ext cx="875258"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Packaged food (8)</a:t>
            </a:r>
            <a:endParaRPr lang="en-US" sz="720" dirty="0"/>
          </a:p>
        </p:txBody>
      </p:sp>
      <p:sp>
        <p:nvSpPr>
          <p:cNvPr id="14" name="Dot 13"/>
          <p:cNvSpPr/>
          <p:nvPr/>
        </p:nvSpPr>
        <p:spPr>
          <a:xfrm>
            <a:off x="590550" y="1728788"/>
            <a:ext cx="76200" cy="76200"/>
          </a:xfrm>
          <a:prstGeom prst="ellipse">
            <a:avLst/>
          </a:prstGeom>
          <a:solidFill>
            <a:srgbClr val="1B1A1A"/>
          </a:solidFill>
          <a:ln/>
        </p:spPr>
        <p:txBody>
          <a:bodyPr/>
          <a:lstStyle/>
          <a:p>
            <a:endParaRPr lang="en-US"/>
          </a:p>
        </p:txBody>
      </p:sp>
      <p:sp>
        <p:nvSpPr>
          <p:cNvPr id="15" name="Text 14"/>
          <p:cNvSpPr txBox="1"/>
          <p:nvPr/>
        </p:nvSpPr>
        <p:spPr>
          <a:xfrm>
            <a:off x="1818233" y="1700213"/>
            <a:ext cx="516880"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Snacks (6)</a:t>
            </a:r>
            <a:endParaRPr lang="en-US" sz="720" dirty="0"/>
          </a:p>
        </p:txBody>
      </p:sp>
      <p:sp>
        <p:nvSpPr>
          <p:cNvPr id="16" name="Shape 15"/>
          <p:cNvSpPr/>
          <p:nvPr/>
        </p:nvSpPr>
        <p:spPr>
          <a:xfrm>
            <a:off x="1694408" y="1728788"/>
            <a:ext cx="76200" cy="76200"/>
          </a:xfrm>
          <a:prstGeom prst="rect">
            <a:avLst/>
          </a:prstGeom>
          <a:solidFill>
            <a:srgbClr val="B68757"/>
          </a:solidFill>
          <a:ln/>
        </p:spPr>
        <p:txBody>
          <a:bodyPr/>
          <a:lstStyle/>
          <a:p>
            <a:endParaRPr lang="en-US"/>
          </a:p>
        </p:txBody>
      </p:sp>
      <p:sp>
        <p:nvSpPr>
          <p:cNvPr id="17" name="Text 16"/>
          <p:cNvSpPr txBox="1"/>
          <p:nvPr/>
        </p:nvSpPr>
        <p:spPr>
          <a:xfrm>
            <a:off x="2563713" y="1700213"/>
            <a:ext cx="673745"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Beverages (6)</a:t>
            </a:r>
            <a:endParaRPr lang="en-US" sz="720" dirty="0"/>
          </a:p>
        </p:txBody>
      </p:sp>
      <p:sp>
        <p:nvSpPr>
          <p:cNvPr id="18" name="Shape 17"/>
          <p:cNvSpPr/>
          <p:nvPr/>
        </p:nvSpPr>
        <p:spPr>
          <a:xfrm rot="2700000">
            <a:off x="2439888" y="1728788"/>
            <a:ext cx="76200" cy="76200"/>
          </a:xfrm>
          <a:prstGeom prst="rect">
            <a:avLst/>
          </a:prstGeom>
          <a:solidFill>
            <a:srgbClr val="8F8880"/>
          </a:solidFill>
          <a:ln/>
        </p:spPr>
        <p:txBody>
          <a:bodyPr/>
          <a:lstStyle/>
          <a:p>
            <a:endParaRPr lang="en-US"/>
          </a:p>
        </p:txBody>
      </p:sp>
      <p:sp>
        <p:nvSpPr>
          <p:cNvPr id="19" name="Chart shading"/>
          <p:cNvSpPr/>
          <p:nvPr/>
        </p:nvSpPr>
        <p:spPr>
          <a:xfrm>
            <a:off x="3238500" y="1962150"/>
            <a:ext cx="1543050" cy="1990725"/>
          </a:xfrm>
          <a:prstGeom prst="rect">
            <a:avLst/>
          </a:prstGeom>
          <a:solidFill>
            <a:srgbClr val="F1EBE2"/>
          </a:solidFill>
          <a:ln/>
        </p:spPr>
        <p:txBody>
          <a:bodyPr/>
          <a:lstStyle/>
          <a:p>
            <a:endParaRPr lang="en-US"/>
          </a:p>
        </p:txBody>
      </p:sp>
      <p:sp>
        <p:nvSpPr>
          <p:cNvPr id="20" name="Chart rule"/>
          <p:cNvSpPr/>
          <p:nvPr/>
        </p:nvSpPr>
        <p:spPr>
          <a:xfrm>
            <a:off x="914400" y="2983230"/>
            <a:ext cx="3867150" cy="0"/>
          </a:xfrm>
          <a:prstGeom prst="line">
            <a:avLst/>
          </a:prstGeom>
          <a:noFill/>
          <a:ln w="9525">
            <a:solidFill>
              <a:srgbClr val="C3BDB6"/>
            </a:solidFill>
            <a:prstDash val="solid"/>
          </a:ln>
        </p:spPr>
        <p:txBody>
          <a:bodyPr/>
          <a:lstStyle/>
          <a:p>
            <a:endParaRPr lang="en-US"/>
          </a:p>
        </p:txBody>
      </p:sp>
      <p:sp>
        <p:nvSpPr>
          <p:cNvPr id="21" name="Chart rule"/>
          <p:cNvSpPr/>
          <p:nvPr/>
        </p:nvSpPr>
        <p:spPr>
          <a:xfrm>
            <a:off x="914400" y="2576513"/>
            <a:ext cx="3867150" cy="0"/>
          </a:xfrm>
          <a:prstGeom prst="line">
            <a:avLst/>
          </a:prstGeom>
          <a:noFill/>
          <a:ln w="9525">
            <a:solidFill>
              <a:srgbClr val="E3DCD3"/>
            </a:solidFill>
            <a:prstDash val="solid"/>
          </a:ln>
        </p:spPr>
        <p:txBody>
          <a:bodyPr/>
          <a:lstStyle/>
          <a:p>
            <a:endParaRPr lang="en-US"/>
          </a:p>
        </p:txBody>
      </p:sp>
      <p:sp>
        <p:nvSpPr>
          <p:cNvPr id="22" name="Chart rule"/>
          <p:cNvSpPr/>
          <p:nvPr/>
        </p:nvSpPr>
        <p:spPr>
          <a:xfrm>
            <a:off x="914400" y="2169795"/>
            <a:ext cx="3867150" cy="0"/>
          </a:xfrm>
          <a:prstGeom prst="line">
            <a:avLst/>
          </a:prstGeom>
          <a:noFill/>
          <a:ln w="9525">
            <a:solidFill>
              <a:srgbClr val="E3DCD3"/>
            </a:solidFill>
            <a:prstDash val="solid"/>
          </a:ln>
        </p:spPr>
        <p:txBody>
          <a:bodyPr/>
          <a:lstStyle/>
          <a:p>
            <a:endParaRPr lang="en-US"/>
          </a:p>
        </p:txBody>
      </p:sp>
      <p:sp>
        <p:nvSpPr>
          <p:cNvPr id="23" name="Chart rule"/>
          <p:cNvSpPr/>
          <p:nvPr/>
        </p:nvSpPr>
        <p:spPr>
          <a:xfrm>
            <a:off x="590550" y="3467100"/>
            <a:ext cx="4191000" cy="0"/>
          </a:xfrm>
          <a:prstGeom prst="line">
            <a:avLst/>
          </a:prstGeom>
          <a:noFill/>
          <a:ln w="9525">
            <a:solidFill>
              <a:srgbClr val="C3BDB6"/>
            </a:solidFill>
            <a:prstDash val="solid"/>
          </a:ln>
        </p:spPr>
        <p:txBody>
          <a:bodyPr/>
          <a:lstStyle/>
          <a:p>
            <a:endParaRPr lang="en-US"/>
          </a:p>
        </p:txBody>
      </p:sp>
      <p:pic>
        <p:nvPicPr>
          <p:cNvPr id="24" name="Chart key markers" descr="/tmp/claude-0/-home-claude-about/4bef2f41-4227-5ff7-ab18-11ac74cd9797/scratchpad/pptx/ex/media/7aca1844d531.png"/>
          <p:cNvPicPr>
            <a:picLocks noChangeAspect="1"/>
          </p:cNvPicPr>
          <p:nvPr/>
        </p:nvPicPr>
        <p:blipFill>
          <a:blip r:embed="rId3"/>
          <a:stretch>
            <a:fillRect/>
          </a:stretch>
        </p:blipFill>
        <p:spPr>
          <a:xfrm>
            <a:off x="590550" y="1885950"/>
            <a:ext cx="4191000" cy="2066925"/>
          </a:xfrm>
          <a:prstGeom prst="rect">
            <a:avLst/>
          </a:prstGeom>
        </p:spPr>
      </p:pic>
      <p:graphicFrame>
        <p:nvGraphicFramePr>
          <p:cNvPr id="25" name="Revenue growth chart 1"/>
          <p:cNvGraphicFramePr/>
          <p:nvPr/>
        </p:nvGraphicFramePr>
        <p:xfrm>
          <a:off x="723900" y="1962150"/>
          <a:ext cx="4191000" cy="1228725"/>
        </p:xfrm>
        <a:graphic>
          <a:graphicData uri="http://schemas.openxmlformats.org/drawingml/2006/chart">
            <c:chart xmlns:c="http://schemas.openxmlformats.org/drawingml/2006/chart" xmlns:r="http://schemas.openxmlformats.org/officeDocument/2006/relationships" r:id="rId4"/>
          </a:graphicData>
        </a:graphic>
      </p:graphicFrame>
      <p:sp>
        <p:nvSpPr>
          <p:cNvPr id="26" name="Text 25"/>
          <p:cNvSpPr txBox="1"/>
          <p:nvPr/>
        </p:nvSpPr>
        <p:spPr>
          <a:xfrm>
            <a:off x="170855" y="2927866"/>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27" name="Text 26"/>
          <p:cNvSpPr txBox="1"/>
          <p:nvPr/>
        </p:nvSpPr>
        <p:spPr>
          <a:xfrm>
            <a:off x="174873" y="2521148"/>
            <a:ext cx="68420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5%</a:t>
            </a:r>
            <a:endParaRPr lang="en-US" sz="638" dirty="0"/>
          </a:p>
        </p:txBody>
      </p:sp>
      <p:sp>
        <p:nvSpPr>
          <p:cNvPr id="28" name="Text 27"/>
          <p:cNvSpPr txBox="1"/>
          <p:nvPr/>
        </p:nvSpPr>
        <p:spPr>
          <a:xfrm>
            <a:off x="139005" y="2114431"/>
            <a:ext cx="72011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10%</a:t>
            </a:r>
            <a:endParaRPr lang="en-US" sz="638" dirty="0"/>
          </a:p>
        </p:txBody>
      </p:sp>
      <p:sp>
        <p:nvSpPr>
          <p:cNvPr id="29" name="Text 28"/>
          <p:cNvSpPr txBox="1"/>
          <p:nvPr/>
        </p:nvSpPr>
        <p:spPr>
          <a:xfrm>
            <a:off x="563314" y="331589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30" name="Text 29"/>
          <p:cNvSpPr txBox="1"/>
          <p:nvPr/>
        </p:nvSpPr>
        <p:spPr>
          <a:xfrm>
            <a:off x="1494755" y="331589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31" name="Text 30"/>
          <p:cNvSpPr txBox="1"/>
          <p:nvPr/>
        </p:nvSpPr>
        <p:spPr>
          <a:xfrm>
            <a:off x="2170807" y="331589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32" name="Text 31"/>
          <p:cNvSpPr txBox="1"/>
          <p:nvPr/>
        </p:nvSpPr>
        <p:spPr>
          <a:xfrm>
            <a:off x="3034531" y="331589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33" name="Text 32"/>
          <p:cNvSpPr txBox="1"/>
          <p:nvPr/>
        </p:nvSpPr>
        <p:spPr>
          <a:xfrm>
            <a:off x="3929732" y="331589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34" name="Text 33"/>
          <p:cNvSpPr txBox="1"/>
          <p:nvPr/>
        </p:nvSpPr>
        <p:spPr>
          <a:xfrm>
            <a:off x="725835" y="3501628"/>
            <a:ext cx="835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5" name="Text 34"/>
          <p:cNvSpPr txBox="1"/>
          <p:nvPr/>
        </p:nvSpPr>
        <p:spPr>
          <a:xfrm>
            <a:off x="1564035" y="3501628"/>
            <a:ext cx="835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6" name="Text 35"/>
          <p:cNvSpPr txBox="1"/>
          <p:nvPr/>
        </p:nvSpPr>
        <p:spPr>
          <a:xfrm>
            <a:off x="2401714" y="3501628"/>
            <a:ext cx="83668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−0.7%</a:t>
            </a:r>
            <a:endParaRPr lang="en-US" sz="705" dirty="0"/>
          </a:p>
        </p:txBody>
      </p:sp>
      <p:sp>
        <p:nvSpPr>
          <p:cNvPr id="37" name="Text 36"/>
          <p:cNvSpPr txBox="1"/>
          <p:nvPr/>
        </p:nvSpPr>
        <p:spPr>
          <a:xfrm>
            <a:off x="3252341" y="3501628"/>
            <a:ext cx="81194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−1.3%</a:t>
            </a:r>
            <a:endParaRPr lang="en-US" sz="705" dirty="0"/>
          </a:p>
        </p:txBody>
      </p:sp>
      <p:sp>
        <p:nvSpPr>
          <p:cNvPr id="38" name="Text 37"/>
          <p:cNvSpPr txBox="1"/>
          <p:nvPr/>
        </p:nvSpPr>
        <p:spPr>
          <a:xfrm>
            <a:off x="4080495" y="3501628"/>
            <a:ext cx="83195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9" name="Text 38"/>
          <p:cNvSpPr txBox="1"/>
          <p:nvPr/>
        </p:nvSpPr>
        <p:spPr>
          <a:xfrm>
            <a:off x="710654" y="3644503"/>
            <a:ext cx="86599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+10.8%</a:t>
            </a:r>
            <a:endParaRPr lang="en-US" sz="705" dirty="0"/>
          </a:p>
        </p:txBody>
      </p:sp>
      <p:sp>
        <p:nvSpPr>
          <p:cNvPr id="40" name="Text 39"/>
          <p:cNvSpPr txBox="1"/>
          <p:nvPr/>
        </p:nvSpPr>
        <p:spPr>
          <a:xfrm>
            <a:off x="1565597" y="3644503"/>
            <a:ext cx="83248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+4.2%</a:t>
            </a:r>
            <a:endParaRPr lang="en-US" sz="705" dirty="0"/>
          </a:p>
        </p:txBody>
      </p:sp>
      <p:sp>
        <p:nvSpPr>
          <p:cNvPr id="41" name="Text 40"/>
          <p:cNvSpPr txBox="1"/>
          <p:nvPr/>
        </p:nvSpPr>
        <p:spPr>
          <a:xfrm>
            <a:off x="2409230" y="3644503"/>
            <a:ext cx="82175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+7.4%</a:t>
            </a:r>
            <a:endParaRPr lang="en-US" sz="705" dirty="0"/>
          </a:p>
        </p:txBody>
      </p:sp>
      <p:sp>
        <p:nvSpPr>
          <p:cNvPr id="42" name="Text 41"/>
          <p:cNvSpPr txBox="1"/>
          <p:nvPr/>
        </p:nvSpPr>
        <p:spPr>
          <a:xfrm>
            <a:off x="3243783" y="3644503"/>
            <a:ext cx="8289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+2.8%</a:t>
            </a:r>
            <a:endParaRPr lang="en-US" sz="705" dirty="0"/>
          </a:p>
        </p:txBody>
      </p:sp>
      <p:sp>
        <p:nvSpPr>
          <p:cNvPr id="43" name="Text 42"/>
          <p:cNvSpPr txBox="1"/>
          <p:nvPr/>
        </p:nvSpPr>
        <p:spPr>
          <a:xfrm>
            <a:off x="4091880" y="3644503"/>
            <a:ext cx="80926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+1.8%</a:t>
            </a:r>
            <a:endParaRPr lang="en-US" sz="705" dirty="0"/>
          </a:p>
        </p:txBody>
      </p:sp>
      <p:sp>
        <p:nvSpPr>
          <p:cNvPr id="44" name="Text 43"/>
          <p:cNvSpPr txBox="1"/>
          <p:nvPr/>
        </p:nvSpPr>
        <p:spPr>
          <a:xfrm>
            <a:off x="739304" y="3787378"/>
            <a:ext cx="80881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+6.1%</a:t>
            </a:r>
            <a:endParaRPr lang="en-US" sz="705" dirty="0"/>
          </a:p>
        </p:txBody>
      </p:sp>
      <p:sp>
        <p:nvSpPr>
          <p:cNvPr id="45" name="Text 44"/>
          <p:cNvSpPr txBox="1"/>
          <p:nvPr/>
        </p:nvSpPr>
        <p:spPr>
          <a:xfrm>
            <a:off x="1566490" y="3787378"/>
            <a:ext cx="83070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+2.9%</a:t>
            </a:r>
            <a:endParaRPr lang="en-US" sz="705" dirty="0"/>
          </a:p>
        </p:txBody>
      </p:sp>
      <p:sp>
        <p:nvSpPr>
          <p:cNvPr id="46" name="Text 45"/>
          <p:cNvSpPr txBox="1"/>
          <p:nvPr/>
        </p:nvSpPr>
        <p:spPr>
          <a:xfrm>
            <a:off x="2406179" y="3787378"/>
            <a:ext cx="827838"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+5.2%</a:t>
            </a:r>
            <a:endParaRPr lang="en-US" sz="705" dirty="0"/>
          </a:p>
        </p:txBody>
      </p:sp>
      <p:sp>
        <p:nvSpPr>
          <p:cNvPr id="47" name="Text 46"/>
          <p:cNvSpPr txBox="1"/>
          <p:nvPr/>
        </p:nvSpPr>
        <p:spPr>
          <a:xfrm>
            <a:off x="3235821" y="3787378"/>
            <a:ext cx="84492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+11.3%</a:t>
            </a:r>
            <a:endParaRPr lang="en-US" sz="705" dirty="0"/>
          </a:p>
        </p:txBody>
      </p:sp>
      <p:sp>
        <p:nvSpPr>
          <p:cNvPr id="48" name="Text 47"/>
          <p:cNvSpPr txBox="1"/>
          <p:nvPr/>
        </p:nvSpPr>
        <p:spPr>
          <a:xfrm>
            <a:off x="4083248" y="3787378"/>
            <a:ext cx="82640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+5.6%</a:t>
            </a:r>
            <a:endParaRPr lang="en-US" sz="705" dirty="0"/>
          </a:p>
        </p:txBody>
      </p:sp>
      <p:sp>
        <p:nvSpPr>
          <p:cNvPr id="49" name="Shape 48"/>
          <p:cNvSpPr/>
          <p:nvPr/>
        </p:nvSpPr>
        <p:spPr>
          <a:xfrm>
            <a:off x="5105400" y="1238250"/>
            <a:ext cx="4533900" cy="2781300"/>
          </a:xfrm>
          <a:prstGeom prst="rect">
            <a:avLst/>
          </a:prstGeom>
          <a:solidFill>
            <a:srgbClr val="FAF7F3"/>
          </a:solidFill>
          <a:ln/>
        </p:spPr>
        <p:txBody>
          <a:bodyPr/>
          <a:lstStyle/>
          <a:p>
            <a:endParaRPr lang="en-US"/>
          </a:p>
        </p:txBody>
      </p:sp>
      <p:sp>
        <p:nvSpPr>
          <p:cNvPr id="50" name="Shape 49"/>
          <p:cNvSpPr/>
          <p:nvPr/>
        </p:nvSpPr>
        <p:spPr>
          <a:xfrm>
            <a:off x="5105400" y="1238250"/>
            <a:ext cx="4533900" cy="28575"/>
          </a:xfrm>
          <a:prstGeom prst="rect">
            <a:avLst/>
          </a:prstGeom>
          <a:solidFill>
            <a:srgbClr val="B68757"/>
          </a:solidFill>
          <a:ln/>
        </p:spPr>
        <p:txBody>
          <a:bodyPr/>
          <a:lstStyle/>
          <a:p>
            <a:endParaRPr lang="en-US"/>
          </a:p>
        </p:txBody>
      </p:sp>
      <p:sp>
        <p:nvSpPr>
          <p:cNvPr id="51" name="Text 50"/>
          <p:cNvSpPr txBox="1"/>
          <p:nvPr/>
        </p:nvSpPr>
        <p:spPr>
          <a:xfrm>
            <a:off x="5276850" y="137636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Consumer Brands &amp; Products</a:t>
            </a:r>
            <a:endParaRPr lang="en-US" sz="938" dirty="0"/>
          </a:p>
        </p:txBody>
      </p:sp>
      <p:sp>
        <p:nvSpPr>
          <p:cNvPr id="52" name="Text 51"/>
          <p:cNvSpPr txBox="1"/>
          <p:nvPr/>
        </p:nvSpPr>
        <p:spPr>
          <a:xfrm>
            <a:off x="5276850" y="154305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53" name="Text 52"/>
          <p:cNvSpPr txBox="1"/>
          <p:nvPr/>
        </p:nvSpPr>
        <p:spPr>
          <a:xfrm>
            <a:off x="5400675" y="1700213"/>
            <a:ext cx="1398836"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Household &amp; personal care (6)</a:t>
            </a:r>
            <a:endParaRPr lang="en-US" sz="720" dirty="0"/>
          </a:p>
        </p:txBody>
      </p:sp>
      <p:sp>
        <p:nvSpPr>
          <p:cNvPr id="54" name="Dot 53"/>
          <p:cNvSpPr/>
          <p:nvPr/>
        </p:nvSpPr>
        <p:spPr>
          <a:xfrm>
            <a:off x="5276850" y="1728788"/>
            <a:ext cx="76200" cy="76200"/>
          </a:xfrm>
          <a:prstGeom prst="ellipse">
            <a:avLst/>
          </a:prstGeom>
          <a:solidFill>
            <a:srgbClr val="1B1A1A"/>
          </a:solidFill>
          <a:ln/>
        </p:spPr>
        <p:txBody>
          <a:bodyPr/>
          <a:lstStyle/>
          <a:p>
            <a:endParaRPr lang="en-US"/>
          </a:p>
        </p:txBody>
      </p:sp>
      <p:sp>
        <p:nvSpPr>
          <p:cNvPr id="55" name="Text 54"/>
          <p:cNvSpPr txBox="1"/>
          <p:nvPr/>
        </p:nvSpPr>
        <p:spPr>
          <a:xfrm>
            <a:off x="7028111" y="1700213"/>
            <a:ext cx="1259532"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Durables, outdoor &amp; pet (6)</a:t>
            </a:r>
            <a:endParaRPr lang="en-US" sz="720" dirty="0"/>
          </a:p>
        </p:txBody>
      </p:sp>
      <p:sp>
        <p:nvSpPr>
          <p:cNvPr id="56" name="Shape 55"/>
          <p:cNvSpPr/>
          <p:nvPr/>
        </p:nvSpPr>
        <p:spPr>
          <a:xfrm>
            <a:off x="6904286" y="1728788"/>
            <a:ext cx="76200" cy="76200"/>
          </a:xfrm>
          <a:prstGeom prst="rect">
            <a:avLst/>
          </a:prstGeom>
          <a:solidFill>
            <a:srgbClr val="B68757"/>
          </a:solidFill>
          <a:ln/>
        </p:spPr>
        <p:txBody>
          <a:bodyPr/>
          <a:lstStyle/>
          <a:p>
            <a:endParaRPr lang="en-US"/>
          </a:p>
        </p:txBody>
      </p:sp>
      <p:sp>
        <p:nvSpPr>
          <p:cNvPr id="57" name="Chart shading"/>
          <p:cNvSpPr/>
          <p:nvPr/>
        </p:nvSpPr>
        <p:spPr>
          <a:xfrm>
            <a:off x="7924800" y="1962150"/>
            <a:ext cx="1543050" cy="1990725"/>
          </a:xfrm>
          <a:prstGeom prst="rect">
            <a:avLst/>
          </a:prstGeom>
          <a:solidFill>
            <a:srgbClr val="F1EBE2"/>
          </a:solidFill>
          <a:ln/>
        </p:spPr>
        <p:txBody>
          <a:bodyPr/>
          <a:lstStyle/>
          <a:p>
            <a:endParaRPr lang="en-US"/>
          </a:p>
        </p:txBody>
      </p:sp>
      <p:sp>
        <p:nvSpPr>
          <p:cNvPr id="58" name="Chart rule"/>
          <p:cNvSpPr/>
          <p:nvPr/>
        </p:nvSpPr>
        <p:spPr>
          <a:xfrm>
            <a:off x="5600700" y="3239453"/>
            <a:ext cx="3867150" cy="0"/>
          </a:xfrm>
          <a:prstGeom prst="line">
            <a:avLst/>
          </a:prstGeom>
          <a:noFill/>
          <a:ln w="9525">
            <a:solidFill>
              <a:srgbClr val="E3DCD3"/>
            </a:solidFill>
            <a:prstDash val="solid"/>
          </a:ln>
        </p:spPr>
        <p:txBody>
          <a:bodyPr/>
          <a:lstStyle/>
          <a:p>
            <a:endParaRPr lang="en-US"/>
          </a:p>
        </p:txBody>
      </p:sp>
      <p:sp>
        <p:nvSpPr>
          <p:cNvPr id="59" name="Chart rule"/>
          <p:cNvSpPr/>
          <p:nvPr/>
        </p:nvSpPr>
        <p:spPr>
          <a:xfrm>
            <a:off x="5600700" y="2991803"/>
            <a:ext cx="3867150" cy="0"/>
          </a:xfrm>
          <a:prstGeom prst="line">
            <a:avLst/>
          </a:prstGeom>
          <a:noFill/>
          <a:ln w="9525">
            <a:solidFill>
              <a:srgbClr val="E3DCD3"/>
            </a:solidFill>
            <a:prstDash val="solid"/>
          </a:ln>
        </p:spPr>
        <p:txBody>
          <a:bodyPr/>
          <a:lstStyle/>
          <a:p>
            <a:endParaRPr lang="en-US"/>
          </a:p>
        </p:txBody>
      </p:sp>
      <p:sp>
        <p:nvSpPr>
          <p:cNvPr id="60" name="Chart rule"/>
          <p:cNvSpPr/>
          <p:nvPr/>
        </p:nvSpPr>
        <p:spPr>
          <a:xfrm>
            <a:off x="5600700" y="2744153"/>
            <a:ext cx="3867150" cy="0"/>
          </a:xfrm>
          <a:prstGeom prst="line">
            <a:avLst/>
          </a:prstGeom>
          <a:noFill/>
          <a:ln w="9525">
            <a:solidFill>
              <a:srgbClr val="C3BDB6"/>
            </a:solidFill>
            <a:prstDash val="solid"/>
          </a:ln>
        </p:spPr>
        <p:txBody>
          <a:bodyPr/>
          <a:lstStyle/>
          <a:p>
            <a:endParaRPr lang="en-US"/>
          </a:p>
        </p:txBody>
      </p:sp>
      <p:sp>
        <p:nvSpPr>
          <p:cNvPr id="61" name="Chart rule"/>
          <p:cNvSpPr/>
          <p:nvPr/>
        </p:nvSpPr>
        <p:spPr>
          <a:xfrm>
            <a:off x="5600700" y="2496503"/>
            <a:ext cx="3867150" cy="0"/>
          </a:xfrm>
          <a:prstGeom prst="line">
            <a:avLst/>
          </a:prstGeom>
          <a:noFill/>
          <a:ln w="9525">
            <a:solidFill>
              <a:srgbClr val="E3DCD3"/>
            </a:solidFill>
            <a:prstDash val="solid"/>
          </a:ln>
        </p:spPr>
        <p:txBody>
          <a:bodyPr/>
          <a:lstStyle/>
          <a:p>
            <a:endParaRPr lang="en-US"/>
          </a:p>
        </p:txBody>
      </p:sp>
      <p:sp>
        <p:nvSpPr>
          <p:cNvPr id="62" name="Chart rule"/>
          <p:cNvSpPr/>
          <p:nvPr/>
        </p:nvSpPr>
        <p:spPr>
          <a:xfrm>
            <a:off x="5600700" y="2247900"/>
            <a:ext cx="3867150" cy="0"/>
          </a:xfrm>
          <a:prstGeom prst="line">
            <a:avLst/>
          </a:prstGeom>
          <a:noFill/>
          <a:ln w="9525">
            <a:solidFill>
              <a:srgbClr val="E3DCD3"/>
            </a:solidFill>
            <a:prstDash val="solid"/>
          </a:ln>
        </p:spPr>
        <p:txBody>
          <a:bodyPr/>
          <a:lstStyle/>
          <a:p>
            <a:endParaRPr lang="en-US"/>
          </a:p>
        </p:txBody>
      </p:sp>
      <p:sp>
        <p:nvSpPr>
          <p:cNvPr id="63" name="Chart rule"/>
          <p:cNvSpPr/>
          <p:nvPr/>
        </p:nvSpPr>
        <p:spPr>
          <a:xfrm>
            <a:off x="5600700" y="2000250"/>
            <a:ext cx="3867150" cy="0"/>
          </a:xfrm>
          <a:prstGeom prst="line">
            <a:avLst/>
          </a:prstGeom>
          <a:noFill/>
          <a:ln w="9525">
            <a:solidFill>
              <a:srgbClr val="E3DCD3"/>
            </a:solidFill>
            <a:prstDash val="solid"/>
          </a:ln>
        </p:spPr>
        <p:txBody>
          <a:bodyPr/>
          <a:lstStyle/>
          <a:p>
            <a:endParaRPr lang="en-US"/>
          </a:p>
        </p:txBody>
      </p:sp>
      <p:sp>
        <p:nvSpPr>
          <p:cNvPr id="64" name="Chart rule"/>
          <p:cNvSpPr/>
          <p:nvPr/>
        </p:nvSpPr>
        <p:spPr>
          <a:xfrm>
            <a:off x="5276850" y="3609975"/>
            <a:ext cx="4191000" cy="0"/>
          </a:xfrm>
          <a:prstGeom prst="line">
            <a:avLst/>
          </a:prstGeom>
          <a:noFill/>
          <a:ln w="9525">
            <a:solidFill>
              <a:srgbClr val="C3BDB6"/>
            </a:solidFill>
            <a:prstDash val="solid"/>
          </a:ln>
        </p:spPr>
        <p:txBody>
          <a:bodyPr/>
          <a:lstStyle/>
          <a:p>
            <a:endParaRPr lang="en-US"/>
          </a:p>
        </p:txBody>
      </p:sp>
      <p:pic>
        <p:nvPicPr>
          <p:cNvPr id="65" name="Chart key markers" descr="/tmp/claude-0/-home-claude-about/4bef2f41-4227-5ff7-ab18-11ac74cd9797/scratchpad/pptx/ex/media/f160cce94675.png"/>
          <p:cNvPicPr>
            <a:picLocks noChangeAspect="1"/>
          </p:cNvPicPr>
          <p:nvPr/>
        </p:nvPicPr>
        <p:blipFill>
          <a:blip r:embed="rId5"/>
          <a:stretch>
            <a:fillRect/>
          </a:stretch>
        </p:blipFill>
        <p:spPr>
          <a:xfrm>
            <a:off x="5276850" y="1885950"/>
            <a:ext cx="4191000" cy="2066925"/>
          </a:xfrm>
          <a:prstGeom prst="rect">
            <a:avLst/>
          </a:prstGeom>
        </p:spPr>
      </p:pic>
      <p:graphicFrame>
        <p:nvGraphicFramePr>
          <p:cNvPr id="66" name="Revenue growth chart 2"/>
          <p:cNvGraphicFramePr/>
          <p:nvPr/>
        </p:nvGraphicFramePr>
        <p:xfrm>
          <a:off x="5410200" y="1962150"/>
          <a:ext cx="4191000" cy="1371600"/>
        </p:xfrm>
        <a:graphic>
          <a:graphicData uri="http://schemas.openxmlformats.org/drawingml/2006/chart">
            <c:chart xmlns:c="http://schemas.openxmlformats.org/drawingml/2006/chart" xmlns:r="http://schemas.openxmlformats.org/officeDocument/2006/relationships" r:id="rId6"/>
          </a:graphicData>
        </a:graphic>
      </p:graphicFrame>
      <p:sp>
        <p:nvSpPr>
          <p:cNvPr id="67" name="Text 66"/>
          <p:cNvSpPr txBox="1"/>
          <p:nvPr/>
        </p:nvSpPr>
        <p:spPr>
          <a:xfrm>
            <a:off x="4829175" y="3184088"/>
            <a:ext cx="71622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68" name="Text 67"/>
          <p:cNvSpPr txBox="1"/>
          <p:nvPr/>
        </p:nvSpPr>
        <p:spPr>
          <a:xfrm>
            <a:off x="4826943" y="2936438"/>
            <a:ext cx="71841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69" name="Text 68"/>
          <p:cNvSpPr txBox="1"/>
          <p:nvPr/>
        </p:nvSpPr>
        <p:spPr>
          <a:xfrm>
            <a:off x="4857155" y="2688788"/>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70" name="Text 69"/>
          <p:cNvSpPr txBox="1"/>
          <p:nvPr/>
        </p:nvSpPr>
        <p:spPr>
          <a:xfrm>
            <a:off x="4860429" y="2441138"/>
            <a:ext cx="68493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71" name="Text 70"/>
          <p:cNvSpPr txBox="1"/>
          <p:nvPr/>
        </p:nvSpPr>
        <p:spPr>
          <a:xfrm>
            <a:off x="4862661" y="2192536"/>
            <a:ext cx="68274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72" name="Text 71"/>
          <p:cNvSpPr txBox="1"/>
          <p:nvPr/>
        </p:nvSpPr>
        <p:spPr>
          <a:xfrm>
            <a:off x="4861768" y="1944886"/>
            <a:ext cx="683639"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6%</a:t>
            </a:r>
            <a:endParaRPr lang="en-US" sz="638" dirty="0"/>
          </a:p>
        </p:txBody>
      </p:sp>
      <p:sp>
        <p:nvSpPr>
          <p:cNvPr id="73" name="Text 72"/>
          <p:cNvSpPr txBox="1"/>
          <p:nvPr/>
        </p:nvSpPr>
        <p:spPr>
          <a:xfrm>
            <a:off x="5249614" y="3458766"/>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74" name="Text 73"/>
          <p:cNvSpPr txBox="1"/>
          <p:nvPr/>
        </p:nvSpPr>
        <p:spPr>
          <a:xfrm>
            <a:off x="6181055" y="3458766"/>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75" name="Text 74"/>
          <p:cNvSpPr txBox="1"/>
          <p:nvPr/>
        </p:nvSpPr>
        <p:spPr>
          <a:xfrm>
            <a:off x="6857107" y="3458766"/>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76" name="Text 75"/>
          <p:cNvSpPr txBox="1"/>
          <p:nvPr/>
        </p:nvSpPr>
        <p:spPr>
          <a:xfrm>
            <a:off x="7720831" y="3458766"/>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77" name="Text 76"/>
          <p:cNvSpPr txBox="1"/>
          <p:nvPr/>
        </p:nvSpPr>
        <p:spPr>
          <a:xfrm>
            <a:off x="8616032" y="3458766"/>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78" name="Text 77"/>
          <p:cNvSpPr txBox="1"/>
          <p:nvPr/>
        </p:nvSpPr>
        <p:spPr>
          <a:xfrm>
            <a:off x="5416525" y="3644503"/>
            <a:ext cx="82685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+5.4%</a:t>
            </a:r>
            <a:endParaRPr lang="en-US" sz="705" dirty="0"/>
          </a:p>
        </p:txBody>
      </p:sp>
      <p:sp>
        <p:nvSpPr>
          <p:cNvPr id="79" name="Text 78"/>
          <p:cNvSpPr txBox="1"/>
          <p:nvPr/>
        </p:nvSpPr>
        <p:spPr>
          <a:xfrm>
            <a:off x="6263580" y="3644503"/>
            <a:ext cx="80926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+1.8%</a:t>
            </a:r>
            <a:endParaRPr lang="en-US" sz="705" dirty="0"/>
          </a:p>
        </p:txBody>
      </p:sp>
      <p:sp>
        <p:nvSpPr>
          <p:cNvPr id="80" name="Text 79"/>
          <p:cNvSpPr txBox="1"/>
          <p:nvPr/>
        </p:nvSpPr>
        <p:spPr>
          <a:xfrm>
            <a:off x="7091511" y="3644503"/>
            <a:ext cx="82980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+2.4%</a:t>
            </a:r>
            <a:endParaRPr lang="en-US" sz="705" dirty="0"/>
          </a:p>
        </p:txBody>
      </p:sp>
      <p:sp>
        <p:nvSpPr>
          <p:cNvPr id="81" name="Text 80"/>
          <p:cNvSpPr txBox="1"/>
          <p:nvPr/>
        </p:nvSpPr>
        <p:spPr>
          <a:xfrm>
            <a:off x="7929190" y="3644503"/>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+4.7%</a:t>
            </a:r>
            <a:endParaRPr lang="en-US" sz="705" dirty="0"/>
          </a:p>
        </p:txBody>
      </p:sp>
      <p:sp>
        <p:nvSpPr>
          <p:cNvPr id="82" name="Text 81"/>
          <p:cNvSpPr txBox="1"/>
          <p:nvPr/>
        </p:nvSpPr>
        <p:spPr>
          <a:xfrm>
            <a:off x="8769697" y="3644503"/>
            <a:ext cx="82614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+3.7%</a:t>
            </a:r>
            <a:endParaRPr lang="en-US" sz="705" dirty="0"/>
          </a:p>
        </p:txBody>
      </p:sp>
      <p:sp>
        <p:nvSpPr>
          <p:cNvPr id="83" name="Text 82"/>
          <p:cNvSpPr txBox="1"/>
          <p:nvPr/>
        </p:nvSpPr>
        <p:spPr>
          <a:xfrm>
            <a:off x="5415111" y="3787378"/>
            <a:ext cx="82971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−3.8%</a:t>
            </a:r>
            <a:endParaRPr lang="en-US" sz="705" dirty="0"/>
          </a:p>
        </p:txBody>
      </p:sp>
      <p:sp>
        <p:nvSpPr>
          <p:cNvPr id="84" name="Text 83"/>
          <p:cNvSpPr txBox="1"/>
          <p:nvPr/>
        </p:nvSpPr>
        <p:spPr>
          <a:xfrm>
            <a:off x="6249814" y="3787378"/>
            <a:ext cx="83668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−0.7%</a:t>
            </a:r>
            <a:endParaRPr lang="en-US" sz="705" dirty="0"/>
          </a:p>
        </p:txBody>
      </p:sp>
      <p:sp>
        <p:nvSpPr>
          <p:cNvPr id="85" name="Text 84"/>
          <p:cNvSpPr txBox="1"/>
          <p:nvPr/>
        </p:nvSpPr>
        <p:spPr>
          <a:xfrm>
            <a:off x="7091288" y="3787378"/>
            <a:ext cx="83016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86" name="Text 85"/>
          <p:cNvSpPr txBox="1"/>
          <p:nvPr/>
        </p:nvSpPr>
        <p:spPr>
          <a:xfrm>
            <a:off x="7939087" y="3787378"/>
            <a:ext cx="81104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+1.9%</a:t>
            </a:r>
            <a:endParaRPr lang="en-US" sz="705" dirty="0"/>
          </a:p>
        </p:txBody>
      </p:sp>
      <p:sp>
        <p:nvSpPr>
          <p:cNvPr id="87" name="Text 86"/>
          <p:cNvSpPr txBox="1"/>
          <p:nvPr/>
        </p:nvSpPr>
        <p:spPr>
          <a:xfrm>
            <a:off x="8767390" y="3787378"/>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+2.9%</a:t>
            </a:r>
            <a:endParaRPr lang="en-US" sz="705" dirty="0"/>
          </a:p>
        </p:txBody>
      </p:sp>
      <p:sp>
        <p:nvSpPr>
          <p:cNvPr id="88" name="Shape 87"/>
          <p:cNvSpPr/>
          <p:nvPr/>
        </p:nvSpPr>
        <p:spPr>
          <a:xfrm>
            <a:off x="419100" y="4152900"/>
            <a:ext cx="4533900" cy="2781300"/>
          </a:xfrm>
          <a:prstGeom prst="rect">
            <a:avLst/>
          </a:prstGeom>
          <a:solidFill>
            <a:srgbClr val="FAF7F3"/>
          </a:solidFill>
          <a:ln/>
        </p:spPr>
        <p:txBody>
          <a:bodyPr/>
          <a:lstStyle/>
          <a:p>
            <a:endParaRPr lang="en-US"/>
          </a:p>
        </p:txBody>
      </p:sp>
      <p:sp>
        <p:nvSpPr>
          <p:cNvPr id="89" name="Shape 88"/>
          <p:cNvSpPr/>
          <p:nvPr/>
        </p:nvSpPr>
        <p:spPr>
          <a:xfrm>
            <a:off x="419100" y="4152900"/>
            <a:ext cx="4533900" cy="28575"/>
          </a:xfrm>
          <a:prstGeom prst="rect">
            <a:avLst/>
          </a:prstGeom>
          <a:solidFill>
            <a:srgbClr val="B68757"/>
          </a:solidFill>
          <a:ln/>
        </p:spPr>
        <p:txBody>
          <a:bodyPr/>
          <a:lstStyle/>
          <a:p>
            <a:endParaRPr lang="en-US"/>
          </a:p>
        </p:txBody>
      </p:sp>
      <p:sp>
        <p:nvSpPr>
          <p:cNvPr id="90" name="Text 89"/>
          <p:cNvSpPr txBox="1"/>
          <p:nvPr/>
        </p:nvSpPr>
        <p:spPr>
          <a:xfrm>
            <a:off x="590550" y="429101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Foodservice &amp; Distribution</a:t>
            </a:r>
            <a:endParaRPr lang="en-US" sz="938" dirty="0"/>
          </a:p>
        </p:txBody>
      </p:sp>
      <p:sp>
        <p:nvSpPr>
          <p:cNvPr id="91" name="Text 90"/>
          <p:cNvSpPr txBox="1"/>
          <p:nvPr/>
        </p:nvSpPr>
        <p:spPr>
          <a:xfrm>
            <a:off x="590550" y="445770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92" name="Text 91"/>
          <p:cNvSpPr txBox="1"/>
          <p:nvPr/>
        </p:nvSpPr>
        <p:spPr>
          <a:xfrm>
            <a:off x="714375" y="4614863"/>
            <a:ext cx="1265188"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Foodservice distribution (5)</a:t>
            </a:r>
            <a:endParaRPr lang="en-US" sz="720" dirty="0"/>
          </a:p>
        </p:txBody>
      </p:sp>
      <p:sp>
        <p:nvSpPr>
          <p:cNvPr id="93" name="Dot 92"/>
          <p:cNvSpPr/>
          <p:nvPr/>
        </p:nvSpPr>
        <p:spPr>
          <a:xfrm>
            <a:off x="590550" y="4643438"/>
            <a:ext cx="76200" cy="76200"/>
          </a:xfrm>
          <a:prstGeom prst="ellipse">
            <a:avLst/>
          </a:prstGeom>
          <a:solidFill>
            <a:srgbClr val="1B1A1A"/>
          </a:solidFill>
          <a:ln/>
        </p:spPr>
        <p:txBody>
          <a:bodyPr/>
          <a:lstStyle/>
          <a:p>
            <a:endParaRPr lang="en-US"/>
          </a:p>
        </p:txBody>
      </p:sp>
      <p:sp>
        <p:nvSpPr>
          <p:cNvPr id="94" name="Chart shading"/>
          <p:cNvSpPr/>
          <p:nvPr/>
        </p:nvSpPr>
        <p:spPr>
          <a:xfrm>
            <a:off x="3238500" y="4876800"/>
            <a:ext cx="1543050" cy="1990725"/>
          </a:xfrm>
          <a:prstGeom prst="rect">
            <a:avLst/>
          </a:prstGeom>
          <a:solidFill>
            <a:srgbClr val="F1EBE2"/>
          </a:solidFill>
          <a:ln/>
        </p:spPr>
        <p:txBody>
          <a:bodyPr/>
          <a:lstStyle/>
          <a:p>
            <a:endParaRPr lang="en-US"/>
          </a:p>
        </p:txBody>
      </p:sp>
      <p:sp>
        <p:nvSpPr>
          <p:cNvPr id="95" name="Chart rule"/>
          <p:cNvSpPr/>
          <p:nvPr/>
        </p:nvSpPr>
        <p:spPr>
          <a:xfrm>
            <a:off x="914400" y="6265545"/>
            <a:ext cx="3867150" cy="0"/>
          </a:xfrm>
          <a:prstGeom prst="line">
            <a:avLst/>
          </a:prstGeom>
          <a:noFill/>
          <a:ln w="9525">
            <a:solidFill>
              <a:srgbClr val="C3BDB6"/>
            </a:solidFill>
            <a:prstDash val="solid"/>
          </a:ln>
        </p:spPr>
        <p:txBody>
          <a:bodyPr/>
          <a:lstStyle/>
          <a:p>
            <a:endParaRPr lang="en-US"/>
          </a:p>
        </p:txBody>
      </p:sp>
      <p:sp>
        <p:nvSpPr>
          <p:cNvPr id="96" name="Chart rule"/>
          <p:cNvSpPr/>
          <p:nvPr/>
        </p:nvSpPr>
        <p:spPr>
          <a:xfrm>
            <a:off x="914400" y="5870257"/>
            <a:ext cx="3867150" cy="0"/>
          </a:xfrm>
          <a:prstGeom prst="line">
            <a:avLst/>
          </a:prstGeom>
          <a:noFill/>
          <a:ln w="9525">
            <a:solidFill>
              <a:srgbClr val="E3DCD3"/>
            </a:solidFill>
            <a:prstDash val="solid"/>
          </a:ln>
        </p:spPr>
        <p:txBody>
          <a:bodyPr/>
          <a:lstStyle/>
          <a:p>
            <a:endParaRPr lang="en-US"/>
          </a:p>
        </p:txBody>
      </p:sp>
      <p:sp>
        <p:nvSpPr>
          <p:cNvPr id="97" name="Chart rule"/>
          <p:cNvSpPr/>
          <p:nvPr/>
        </p:nvSpPr>
        <p:spPr>
          <a:xfrm>
            <a:off x="914400" y="5475923"/>
            <a:ext cx="3867150" cy="0"/>
          </a:xfrm>
          <a:prstGeom prst="line">
            <a:avLst/>
          </a:prstGeom>
          <a:noFill/>
          <a:ln w="9525">
            <a:solidFill>
              <a:srgbClr val="E3DCD3"/>
            </a:solidFill>
            <a:prstDash val="solid"/>
          </a:ln>
        </p:spPr>
        <p:txBody>
          <a:bodyPr/>
          <a:lstStyle/>
          <a:p>
            <a:endParaRPr lang="en-US"/>
          </a:p>
        </p:txBody>
      </p:sp>
      <p:sp>
        <p:nvSpPr>
          <p:cNvPr id="98" name="Chart rule"/>
          <p:cNvSpPr/>
          <p:nvPr/>
        </p:nvSpPr>
        <p:spPr>
          <a:xfrm>
            <a:off x="914400" y="5081588"/>
            <a:ext cx="3867150" cy="0"/>
          </a:xfrm>
          <a:prstGeom prst="line">
            <a:avLst/>
          </a:prstGeom>
          <a:noFill/>
          <a:ln w="9525">
            <a:solidFill>
              <a:srgbClr val="E3DCD3"/>
            </a:solidFill>
            <a:prstDash val="solid"/>
          </a:ln>
        </p:spPr>
        <p:txBody>
          <a:bodyPr/>
          <a:lstStyle/>
          <a:p>
            <a:endParaRPr lang="en-US"/>
          </a:p>
        </p:txBody>
      </p:sp>
      <p:sp>
        <p:nvSpPr>
          <p:cNvPr id="99" name="Chart rule"/>
          <p:cNvSpPr/>
          <p:nvPr/>
        </p:nvSpPr>
        <p:spPr>
          <a:xfrm>
            <a:off x="590550" y="6667500"/>
            <a:ext cx="4191000" cy="0"/>
          </a:xfrm>
          <a:prstGeom prst="line">
            <a:avLst/>
          </a:prstGeom>
          <a:noFill/>
          <a:ln w="9525">
            <a:solidFill>
              <a:srgbClr val="C3BDB6"/>
            </a:solidFill>
            <a:prstDash val="solid"/>
          </a:ln>
        </p:spPr>
        <p:txBody>
          <a:bodyPr/>
          <a:lstStyle/>
          <a:p>
            <a:endParaRPr lang="en-US"/>
          </a:p>
        </p:txBody>
      </p:sp>
      <p:pic>
        <p:nvPicPr>
          <p:cNvPr id="100" name="Chart key markers" descr="/tmp/claude-0/-home-claude-about/4bef2f41-4227-5ff7-ab18-11ac74cd9797/scratchpad/pptx/ex/media/7520079976eb.png"/>
          <p:cNvPicPr>
            <a:picLocks noChangeAspect="1"/>
          </p:cNvPicPr>
          <p:nvPr/>
        </p:nvPicPr>
        <p:blipFill>
          <a:blip r:embed="rId7"/>
          <a:stretch>
            <a:fillRect/>
          </a:stretch>
        </p:blipFill>
        <p:spPr>
          <a:xfrm>
            <a:off x="590550" y="4800600"/>
            <a:ext cx="4191000" cy="2066925"/>
          </a:xfrm>
          <a:prstGeom prst="rect">
            <a:avLst/>
          </a:prstGeom>
        </p:spPr>
      </p:pic>
      <p:graphicFrame>
        <p:nvGraphicFramePr>
          <p:cNvPr id="101" name="Revenue growth chart 3"/>
          <p:cNvGraphicFramePr/>
          <p:nvPr/>
        </p:nvGraphicFramePr>
        <p:xfrm>
          <a:off x="723900" y="4876800"/>
          <a:ext cx="4191000" cy="1514475"/>
        </p:xfrm>
        <a:graphic>
          <a:graphicData uri="http://schemas.openxmlformats.org/drawingml/2006/chart">
            <c:chart xmlns:c="http://schemas.openxmlformats.org/drawingml/2006/chart" xmlns:r="http://schemas.openxmlformats.org/officeDocument/2006/relationships" r:id="rId8"/>
          </a:graphicData>
        </a:graphic>
      </p:graphicFrame>
      <p:sp>
        <p:nvSpPr>
          <p:cNvPr id="102" name="Text 101"/>
          <p:cNvSpPr txBox="1"/>
          <p:nvPr/>
        </p:nvSpPr>
        <p:spPr>
          <a:xfrm>
            <a:off x="170855" y="6210181"/>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103" name="Text 102"/>
          <p:cNvSpPr txBox="1"/>
          <p:nvPr/>
        </p:nvSpPr>
        <p:spPr>
          <a:xfrm>
            <a:off x="174129" y="5814893"/>
            <a:ext cx="68493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104" name="Text 103"/>
          <p:cNvSpPr txBox="1"/>
          <p:nvPr/>
        </p:nvSpPr>
        <p:spPr>
          <a:xfrm>
            <a:off x="176361" y="5420559"/>
            <a:ext cx="68274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105" name="Text 104"/>
          <p:cNvSpPr txBox="1"/>
          <p:nvPr/>
        </p:nvSpPr>
        <p:spPr>
          <a:xfrm>
            <a:off x="175468" y="5026223"/>
            <a:ext cx="68363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6%</a:t>
            </a:r>
            <a:endParaRPr lang="en-US" sz="638" dirty="0"/>
          </a:p>
        </p:txBody>
      </p:sp>
      <p:sp>
        <p:nvSpPr>
          <p:cNvPr id="106" name="Text 105"/>
          <p:cNvSpPr txBox="1"/>
          <p:nvPr/>
        </p:nvSpPr>
        <p:spPr>
          <a:xfrm>
            <a:off x="563314" y="651629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107" name="Text 106"/>
          <p:cNvSpPr txBox="1"/>
          <p:nvPr/>
        </p:nvSpPr>
        <p:spPr>
          <a:xfrm>
            <a:off x="1494755" y="651629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108" name="Text 107"/>
          <p:cNvSpPr txBox="1"/>
          <p:nvPr/>
        </p:nvSpPr>
        <p:spPr>
          <a:xfrm>
            <a:off x="2170807" y="651629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109" name="Text 108"/>
          <p:cNvSpPr txBox="1"/>
          <p:nvPr/>
        </p:nvSpPr>
        <p:spPr>
          <a:xfrm>
            <a:off x="3034531" y="651629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110" name="Text 109"/>
          <p:cNvSpPr txBox="1"/>
          <p:nvPr/>
        </p:nvSpPr>
        <p:spPr>
          <a:xfrm>
            <a:off x="3929732" y="651629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111" name="Text 110"/>
          <p:cNvSpPr txBox="1"/>
          <p:nvPr/>
        </p:nvSpPr>
        <p:spPr>
          <a:xfrm>
            <a:off x="731118" y="6702028"/>
            <a:ext cx="82507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+3.3%</a:t>
            </a:r>
            <a:endParaRPr lang="en-US" sz="705" dirty="0"/>
          </a:p>
        </p:txBody>
      </p:sp>
      <p:sp>
        <p:nvSpPr>
          <p:cNvPr id="112" name="Text 111"/>
          <p:cNvSpPr txBox="1"/>
          <p:nvPr/>
        </p:nvSpPr>
        <p:spPr>
          <a:xfrm>
            <a:off x="1567681" y="6702028"/>
            <a:ext cx="82837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+6.4%</a:t>
            </a:r>
            <a:endParaRPr lang="en-US" sz="705" dirty="0"/>
          </a:p>
        </p:txBody>
      </p:sp>
      <p:sp>
        <p:nvSpPr>
          <p:cNvPr id="113" name="Text 112"/>
          <p:cNvSpPr txBox="1"/>
          <p:nvPr/>
        </p:nvSpPr>
        <p:spPr>
          <a:xfrm>
            <a:off x="2414141" y="6702028"/>
            <a:ext cx="81194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+4.1%</a:t>
            </a:r>
            <a:endParaRPr lang="en-US" sz="705" dirty="0"/>
          </a:p>
        </p:txBody>
      </p:sp>
      <p:sp>
        <p:nvSpPr>
          <p:cNvPr id="114" name="Text 113"/>
          <p:cNvSpPr txBox="1"/>
          <p:nvPr/>
        </p:nvSpPr>
        <p:spPr>
          <a:xfrm>
            <a:off x="3253904" y="6702028"/>
            <a:ext cx="80881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+6.1%</a:t>
            </a:r>
            <a:endParaRPr lang="en-US" sz="705" dirty="0"/>
          </a:p>
        </p:txBody>
      </p:sp>
      <p:sp>
        <p:nvSpPr>
          <p:cNvPr id="115" name="Text 114"/>
          <p:cNvSpPr txBox="1"/>
          <p:nvPr/>
        </p:nvSpPr>
        <p:spPr>
          <a:xfrm>
            <a:off x="4081983" y="6702028"/>
            <a:ext cx="8289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+2.8%</a:t>
            </a:r>
            <a:endParaRPr lang="en-US" sz="705" dirty="0"/>
          </a:p>
        </p:txBody>
      </p:sp>
      <p:sp>
        <p:nvSpPr>
          <p:cNvPr id="116" name="Shape 115"/>
          <p:cNvSpPr/>
          <p:nvPr/>
        </p:nvSpPr>
        <p:spPr>
          <a:xfrm>
            <a:off x="5105400" y="4152900"/>
            <a:ext cx="4533900" cy="2781300"/>
          </a:xfrm>
          <a:prstGeom prst="rect">
            <a:avLst/>
          </a:prstGeom>
          <a:solidFill>
            <a:srgbClr val="FAF7F3"/>
          </a:solidFill>
          <a:ln/>
        </p:spPr>
        <p:txBody>
          <a:bodyPr/>
          <a:lstStyle/>
          <a:p>
            <a:endParaRPr lang="en-US"/>
          </a:p>
        </p:txBody>
      </p:sp>
      <p:sp>
        <p:nvSpPr>
          <p:cNvPr id="117" name="Shape 116"/>
          <p:cNvSpPr/>
          <p:nvPr/>
        </p:nvSpPr>
        <p:spPr>
          <a:xfrm>
            <a:off x="5105400" y="4152900"/>
            <a:ext cx="4533900" cy="28575"/>
          </a:xfrm>
          <a:prstGeom prst="rect">
            <a:avLst/>
          </a:prstGeom>
          <a:solidFill>
            <a:srgbClr val="B68757"/>
          </a:solidFill>
          <a:ln/>
        </p:spPr>
        <p:txBody>
          <a:bodyPr/>
          <a:lstStyle/>
          <a:p>
            <a:endParaRPr lang="en-US"/>
          </a:p>
        </p:txBody>
      </p:sp>
      <p:sp>
        <p:nvSpPr>
          <p:cNvPr id="118" name="Text 117"/>
          <p:cNvSpPr txBox="1"/>
          <p:nvPr/>
        </p:nvSpPr>
        <p:spPr>
          <a:xfrm>
            <a:off x="5276850" y="429101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Consumer Services &amp; Retail</a:t>
            </a:r>
            <a:endParaRPr lang="en-US" sz="938" dirty="0"/>
          </a:p>
        </p:txBody>
      </p:sp>
      <p:sp>
        <p:nvSpPr>
          <p:cNvPr id="119" name="Text 118"/>
          <p:cNvSpPr txBox="1"/>
          <p:nvPr/>
        </p:nvSpPr>
        <p:spPr>
          <a:xfrm>
            <a:off x="5276850" y="445770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120" name="Text 119"/>
          <p:cNvSpPr txBox="1"/>
          <p:nvPr/>
        </p:nvSpPr>
        <p:spPr>
          <a:xfrm>
            <a:off x="5400675" y="4614863"/>
            <a:ext cx="738932"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Restaurants (6)</a:t>
            </a:r>
            <a:endParaRPr lang="en-US" sz="720" dirty="0"/>
          </a:p>
        </p:txBody>
      </p:sp>
      <p:sp>
        <p:nvSpPr>
          <p:cNvPr id="121" name="Dot 120"/>
          <p:cNvSpPr/>
          <p:nvPr/>
        </p:nvSpPr>
        <p:spPr>
          <a:xfrm>
            <a:off x="5276850" y="4643438"/>
            <a:ext cx="76200" cy="76200"/>
          </a:xfrm>
          <a:prstGeom prst="ellipse">
            <a:avLst/>
          </a:prstGeom>
          <a:solidFill>
            <a:srgbClr val="1B1A1A"/>
          </a:solidFill>
          <a:ln/>
        </p:spPr>
        <p:txBody>
          <a:bodyPr/>
          <a:lstStyle/>
          <a:p>
            <a:endParaRPr lang="en-US"/>
          </a:p>
        </p:txBody>
      </p:sp>
      <p:sp>
        <p:nvSpPr>
          <p:cNvPr id="122" name="Text 121"/>
          <p:cNvSpPr txBox="1"/>
          <p:nvPr/>
        </p:nvSpPr>
        <p:spPr>
          <a:xfrm>
            <a:off x="6368207" y="4614863"/>
            <a:ext cx="1038969"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Consumer services (7)</a:t>
            </a:r>
            <a:endParaRPr lang="en-US" sz="720" dirty="0"/>
          </a:p>
        </p:txBody>
      </p:sp>
      <p:sp>
        <p:nvSpPr>
          <p:cNvPr id="123" name="Shape 122"/>
          <p:cNvSpPr/>
          <p:nvPr/>
        </p:nvSpPr>
        <p:spPr>
          <a:xfrm>
            <a:off x="6244382" y="4643438"/>
            <a:ext cx="76200" cy="76200"/>
          </a:xfrm>
          <a:prstGeom prst="rect">
            <a:avLst/>
          </a:prstGeom>
          <a:solidFill>
            <a:srgbClr val="B68757"/>
          </a:solidFill>
          <a:ln/>
        </p:spPr>
        <p:txBody>
          <a:bodyPr/>
          <a:lstStyle/>
          <a:p>
            <a:endParaRPr lang="en-US"/>
          </a:p>
        </p:txBody>
      </p:sp>
      <p:sp>
        <p:nvSpPr>
          <p:cNvPr id="124" name="Text 123"/>
          <p:cNvSpPr txBox="1"/>
          <p:nvPr/>
        </p:nvSpPr>
        <p:spPr>
          <a:xfrm>
            <a:off x="7635776" y="4614863"/>
            <a:ext cx="458093"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Retail (6)</a:t>
            </a:r>
            <a:endParaRPr lang="en-US" sz="720" dirty="0"/>
          </a:p>
        </p:txBody>
      </p:sp>
      <p:sp>
        <p:nvSpPr>
          <p:cNvPr id="125" name="Shape 124"/>
          <p:cNvSpPr/>
          <p:nvPr/>
        </p:nvSpPr>
        <p:spPr>
          <a:xfrm rot="2700000">
            <a:off x="7511951" y="4643438"/>
            <a:ext cx="76200" cy="76200"/>
          </a:xfrm>
          <a:prstGeom prst="rect">
            <a:avLst/>
          </a:prstGeom>
          <a:solidFill>
            <a:srgbClr val="8F8880"/>
          </a:solidFill>
          <a:ln/>
        </p:spPr>
        <p:txBody>
          <a:bodyPr/>
          <a:lstStyle/>
          <a:p>
            <a:endParaRPr lang="en-US"/>
          </a:p>
        </p:txBody>
      </p:sp>
      <p:sp>
        <p:nvSpPr>
          <p:cNvPr id="126" name="Chart shading"/>
          <p:cNvSpPr/>
          <p:nvPr/>
        </p:nvSpPr>
        <p:spPr>
          <a:xfrm>
            <a:off x="7924800" y="4876800"/>
            <a:ext cx="1543050" cy="1990725"/>
          </a:xfrm>
          <a:prstGeom prst="rect">
            <a:avLst/>
          </a:prstGeom>
          <a:solidFill>
            <a:srgbClr val="F1EBE2"/>
          </a:solidFill>
          <a:ln/>
        </p:spPr>
        <p:txBody>
          <a:bodyPr/>
          <a:lstStyle/>
          <a:p>
            <a:endParaRPr lang="en-US"/>
          </a:p>
        </p:txBody>
      </p:sp>
      <p:sp>
        <p:nvSpPr>
          <p:cNvPr id="127" name="Chart rule"/>
          <p:cNvSpPr/>
          <p:nvPr/>
        </p:nvSpPr>
        <p:spPr>
          <a:xfrm>
            <a:off x="5600700" y="6002655"/>
            <a:ext cx="3867150" cy="0"/>
          </a:xfrm>
          <a:prstGeom prst="line">
            <a:avLst/>
          </a:prstGeom>
          <a:noFill/>
          <a:ln w="9525">
            <a:solidFill>
              <a:srgbClr val="C3BDB6"/>
            </a:solidFill>
            <a:prstDash val="solid"/>
          </a:ln>
        </p:spPr>
        <p:txBody>
          <a:bodyPr/>
          <a:lstStyle/>
          <a:p>
            <a:endParaRPr lang="en-US"/>
          </a:p>
        </p:txBody>
      </p:sp>
      <p:sp>
        <p:nvSpPr>
          <p:cNvPr id="128" name="Chart rule"/>
          <p:cNvSpPr/>
          <p:nvPr/>
        </p:nvSpPr>
        <p:spPr>
          <a:xfrm>
            <a:off x="5600700" y="5635943"/>
            <a:ext cx="3867150" cy="0"/>
          </a:xfrm>
          <a:prstGeom prst="line">
            <a:avLst/>
          </a:prstGeom>
          <a:noFill/>
          <a:ln w="9525">
            <a:solidFill>
              <a:srgbClr val="E3DCD3"/>
            </a:solidFill>
            <a:prstDash val="solid"/>
          </a:ln>
        </p:spPr>
        <p:txBody>
          <a:bodyPr/>
          <a:lstStyle/>
          <a:p>
            <a:endParaRPr lang="en-US"/>
          </a:p>
        </p:txBody>
      </p:sp>
      <p:sp>
        <p:nvSpPr>
          <p:cNvPr id="129" name="Chart rule"/>
          <p:cNvSpPr/>
          <p:nvPr/>
        </p:nvSpPr>
        <p:spPr>
          <a:xfrm>
            <a:off x="5600700" y="5269230"/>
            <a:ext cx="3867150" cy="0"/>
          </a:xfrm>
          <a:prstGeom prst="line">
            <a:avLst/>
          </a:prstGeom>
          <a:noFill/>
          <a:ln w="9525">
            <a:solidFill>
              <a:srgbClr val="E3DCD3"/>
            </a:solidFill>
            <a:prstDash val="solid"/>
          </a:ln>
        </p:spPr>
        <p:txBody>
          <a:bodyPr/>
          <a:lstStyle/>
          <a:p>
            <a:endParaRPr lang="en-US"/>
          </a:p>
        </p:txBody>
      </p:sp>
      <p:sp>
        <p:nvSpPr>
          <p:cNvPr id="130" name="Chart rule"/>
          <p:cNvSpPr/>
          <p:nvPr/>
        </p:nvSpPr>
        <p:spPr>
          <a:xfrm>
            <a:off x="5600700" y="4902518"/>
            <a:ext cx="3867150" cy="0"/>
          </a:xfrm>
          <a:prstGeom prst="line">
            <a:avLst/>
          </a:prstGeom>
          <a:noFill/>
          <a:ln w="9525">
            <a:solidFill>
              <a:srgbClr val="E3DCD3"/>
            </a:solidFill>
            <a:prstDash val="solid"/>
          </a:ln>
        </p:spPr>
        <p:txBody>
          <a:bodyPr/>
          <a:lstStyle/>
          <a:p>
            <a:endParaRPr lang="en-US"/>
          </a:p>
        </p:txBody>
      </p:sp>
      <p:sp>
        <p:nvSpPr>
          <p:cNvPr id="131" name="Chart rule"/>
          <p:cNvSpPr/>
          <p:nvPr/>
        </p:nvSpPr>
        <p:spPr>
          <a:xfrm>
            <a:off x="5276850" y="6381750"/>
            <a:ext cx="4191000" cy="0"/>
          </a:xfrm>
          <a:prstGeom prst="line">
            <a:avLst/>
          </a:prstGeom>
          <a:noFill/>
          <a:ln w="9525">
            <a:solidFill>
              <a:srgbClr val="C3BDB6"/>
            </a:solidFill>
            <a:prstDash val="solid"/>
          </a:ln>
        </p:spPr>
        <p:txBody>
          <a:bodyPr/>
          <a:lstStyle/>
          <a:p>
            <a:endParaRPr lang="en-US"/>
          </a:p>
        </p:txBody>
      </p:sp>
      <p:pic>
        <p:nvPicPr>
          <p:cNvPr id="132" name="Chart key markers" descr="/tmp/claude-0/-home-claude-about/4bef2f41-4227-5ff7-ab18-11ac74cd9797/scratchpad/pptx/ex/media/7aca1844d531.png"/>
          <p:cNvPicPr>
            <a:picLocks noChangeAspect="1"/>
          </p:cNvPicPr>
          <p:nvPr/>
        </p:nvPicPr>
        <p:blipFill>
          <a:blip r:embed="rId3"/>
          <a:stretch>
            <a:fillRect/>
          </a:stretch>
        </p:blipFill>
        <p:spPr>
          <a:xfrm>
            <a:off x="5276850" y="4800600"/>
            <a:ext cx="4191000" cy="2066925"/>
          </a:xfrm>
          <a:prstGeom prst="rect">
            <a:avLst/>
          </a:prstGeom>
        </p:spPr>
      </p:pic>
      <p:graphicFrame>
        <p:nvGraphicFramePr>
          <p:cNvPr id="133" name="Revenue growth chart 4"/>
          <p:cNvGraphicFramePr/>
          <p:nvPr/>
        </p:nvGraphicFramePr>
        <p:xfrm>
          <a:off x="5410200" y="4876800"/>
          <a:ext cx="4191000" cy="1228725"/>
        </p:xfrm>
        <a:graphic>
          <a:graphicData uri="http://schemas.openxmlformats.org/drawingml/2006/chart">
            <c:chart xmlns:c="http://schemas.openxmlformats.org/drawingml/2006/chart" xmlns:r="http://schemas.openxmlformats.org/officeDocument/2006/relationships" r:id="rId9"/>
          </a:graphicData>
        </a:graphic>
      </p:graphicFrame>
      <p:sp>
        <p:nvSpPr>
          <p:cNvPr id="134" name="Text 133"/>
          <p:cNvSpPr txBox="1"/>
          <p:nvPr/>
        </p:nvSpPr>
        <p:spPr>
          <a:xfrm>
            <a:off x="4857155" y="5947291"/>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135" name="Text 134"/>
          <p:cNvSpPr txBox="1"/>
          <p:nvPr/>
        </p:nvSpPr>
        <p:spPr>
          <a:xfrm>
            <a:off x="4861173" y="5580579"/>
            <a:ext cx="68420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5%</a:t>
            </a:r>
            <a:endParaRPr lang="en-US" sz="638" dirty="0"/>
          </a:p>
        </p:txBody>
      </p:sp>
      <p:sp>
        <p:nvSpPr>
          <p:cNvPr id="136" name="Text 135"/>
          <p:cNvSpPr txBox="1"/>
          <p:nvPr/>
        </p:nvSpPr>
        <p:spPr>
          <a:xfrm>
            <a:off x="4825305" y="5213866"/>
            <a:ext cx="72011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10%</a:t>
            </a:r>
            <a:endParaRPr lang="en-US" sz="638" dirty="0"/>
          </a:p>
        </p:txBody>
      </p:sp>
      <p:sp>
        <p:nvSpPr>
          <p:cNvPr id="137" name="Text 136"/>
          <p:cNvSpPr txBox="1"/>
          <p:nvPr/>
        </p:nvSpPr>
        <p:spPr>
          <a:xfrm>
            <a:off x="4829324" y="4847154"/>
            <a:ext cx="716067"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15%</a:t>
            </a:r>
            <a:endParaRPr lang="en-US" sz="638" dirty="0"/>
          </a:p>
        </p:txBody>
      </p:sp>
      <p:sp>
        <p:nvSpPr>
          <p:cNvPr id="138" name="Text 137"/>
          <p:cNvSpPr txBox="1"/>
          <p:nvPr/>
        </p:nvSpPr>
        <p:spPr>
          <a:xfrm>
            <a:off x="5249614" y="623054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139" name="Text 138"/>
          <p:cNvSpPr txBox="1"/>
          <p:nvPr/>
        </p:nvSpPr>
        <p:spPr>
          <a:xfrm>
            <a:off x="6181055" y="623054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140" name="Text 139"/>
          <p:cNvSpPr txBox="1"/>
          <p:nvPr/>
        </p:nvSpPr>
        <p:spPr>
          <a:xfrm>
            <a:off x="6857107" y="623054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141" name="Text 140"/>
          <p:cNvSpPr txBox="1"/>
          <p:nvPr/>
        </p:nvSpPr>
        <p:spPr>
          <a:xfrm>
            <a:off x="7720831" y="623054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142" name="Text 141"/>
          <p:cNvSpPr txBox="1"/>
          <p:nvPr/>
        </p:nvSpPr>
        <p:spPr>
          <a:xfrm>
            <a:off x="8616032" y="623054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143" name="Text 142"/>
          <p:cNvSpPr txBox="1"/>
          <p:nvPr/>
        </p:nvSpPr>
        <p:spPr>
          <a:xfrm>
            <a:off x="5417865" y="6416278"/>
            <a:ext cx="82426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+9.3%</a:t>
            </a:r>
            <a:endParaRPr lang="en-US" sz="705" dirty="0"/>
          </a:p>
        </p:txBody>
      </p:sp>
      <p:sp>
        <p:nvSpPr>
          <p:cNvPr id="144" name="Text 143"/>
          <p:cNvSpPr txBox="1"/>
          <p:nvPr/>
        </p:nvSpPr>
        <p:spPr>
          <a:xfrm>
            <a:off x="6235675" y="6416278"/>
            <a:ext cx="8650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+10.3%</a:t>
            </a:r>
            <a:endParaRPr lang="en-US" sz="705" dirty="0"/>
          </a:p>
        </p:txBody>
      </p:sp>
      <p:sp>
        <p:nvSpPr>
          <p:cNvPr id="145" name="Text 144"/>
          <p:cNvSpPr txBox="1"/>
          <p:nvPr/>
        </p:nvSpPr>
        <p:spPr>
          <a:xfrm>
            <a:off x="7092404" y="6416278"/>
            <a:ext cx="82793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+6.6%</a:t>
            </a:r>
            <a:endParaRPr lang="en-US" sz="705" dirty="0"/>
          </a:p>
        </p:txBody>
      </p:sp>
      <p:sp>
        <p:nvSpPr>
          <p:cNvPr id="146" name="Text 145"/>
          <p:cNvSpPr txBox="1"/>
          <p:nvPr/>
        </p:nvSpPr>
        <p:spPr>
          <a:xfrm>
            <a:off x="7929563" y="6416278"/>
            <a:ext cx="82998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+6.5%</a:t>
            </a:r>
            <a:endParaRPr lang="en-US" sz="705" dirty="0"/>
          </a:p>
        </p:txBody>
      </p:sp>
      <p:sp>
        <p:nvSpPr>
          <p:cNvPr id="147" name="Text 146"/>
          <p:cNvSpPr txBox="1"/>
          <p:nvPr/>
        </p:nvSpPr>
        <p:spPr>
          <a:xfrm>
            <a:off x="8767465" y="6416278"/>
            <a:ext cx="830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+4.8%</a:t>
            </a:r>
            <a:endParaRPr lang="en-US" sz="705" dirty="0"/>
          </a:p>
        </p:txBody>
      </p:sp>
      <p:sp>
        <p:nvSpPr>
          <p:cNvPr id="148" name="Text 147"/>
          <p:cNvSpPr txBox="1"/>
          <p:nvPr/>
        </p:nvSpPr>
        <p:spPr>
          <a:xfrm>
            <a:off x="5395168" y="6559153"/>
            <a:ext cx="86956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+14.0%</a:t>
            </a:r>
            <a:endParaRPr lang="en-US" sz="705" dirty="0"/>
          </a:p>
        </p:txBody>
      </p:sp>
      <p:sp>
        <p:nvSpPr>
          <p:cNvPr id="149" name="Text 148"/>
          <p:cNvSpPr txBox="1"/>
          <p:nvPr/>
        </p:nvSpPr>
        <p:spPr>
          <a:xfrm>
            <a:off x="6251897" y="6559153"/>
            <a:ext cx="83248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+4.2%</a:t>
            </a:r>
            <a:endParaRPr lang="en-US" sz="705" dirty="0"/>
          </a:p>
        </p:txBody>
      </p:sp>
      <p:sp>
        <p:nvSpPr>
          <p:cNvPr id="150" name="Text 149"/>
          <p:cNvSpPr txBox="1"/>
          <p:nvPr/>
        </p:nvSpPr>
        <p:spPr>
          <a:xfrm>
            <a:off x="7093148" y="6559153"/>
            <a:ext cx="82650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+6.3%</a:t>
            </a:r>
            <a:endParaRPr lang="en-US" sz="705" dirty="0"/>
          </a:p>
        </p:txBody>
      </p:sp>
      <p:sp>
        <p:nvSpPr>
          <p:cNvPr id="151" name="Text 150"/>
          <p:cNvSpPr txBox="1"/>
          <p:nvPr/>
        </p:nvSpPr>
        <p:spPr>
          <a:xfrm>
            <a:off x="7930976" y="6559153"/>
            <a:ext cx="82712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+8.7%</a:t>
            </a:r>
            <a:endParaRPr lang="en-US" sz="705" dirty="0"/>
          </a:p>
        </p:txBody>
      </p:sp>
      <p:sp>
        <p:nvSpPr>
          <p:cNvPr id="152" name="Text 151"/>
          <p:cNvSpPr txBox="1"/>
          <p:nvPr/>
        </p:nvSpPr>
        <p:spPr>
          <a:xfrm>
            <a:off x="8768804" y="6559153"/>
            <a:ext cx="82792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+8.4%</a:t>
            </a:r>
            <a:endParaRPr lang="en-US" sz="705" dirty="0"/>
          </a:p>
        </p:txBody>
      </p:sp>
      <p:sp>
        <p:nvSpPr>
          <p:cNvPr id="153" name="Text 152"/>
          <p:cNvSpPr txBox="1"/>
          <p:nvPr/>
        </p:nvSpPr>
        <p:spPr>
          <a:xfrm>
            <a:off x="5415111" y="6702028"/>
            <a:ext cx="82980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+2.4%</a:t>
            </a:r>
            <a:endParaRPr lang="en-US" sz="705" dirty="0"/>
          </a:p>
        </p:txBody>
      </p:sp>
      <p:sp>
        <p:nvSpPr>
          <p:cNvPr id="154" name="Text 153"/>
          <p:cNvSpPr txBox="1"/>
          <p:nvPr/>
        </p:nvSpPr>
        <p:spPr>
          <a:xfrm>
            <a:off x="6254948" y="6702028"/>
            <a:ext cx="82650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155" name="Text 154"/>
          <p:cNvSpPr txBox="1"/>
          <p:nvPr/>
        </p:nvSpPr>
        <p:spPr>
          <a:xfrm>
            <a:off x="7089800" y="6702028"/>
            <a:ext cx="8331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+4.5%</a:t>
            </a:r>
            <a:endParaRPr lang="en-US" sz="705" dirty="0"/>
          </a:p>
        </p:txBody>
      </p:sp>
      <p:sp>
        <p:nvSpPr>
          <p:cNvPr id="156" name="Text 155"/>
          <p:cNvSpPr txBox="1"/>
          <p:nvPr/>
        </p:nvSpPr>
        <p:spPr>
          <a:xfrm>
            <a:off x="7929190" y="6702028"/>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+4.7%</a:t>
            </a:r>
            <a:endParaRPr lang="en-US" sz="705" dirty="0"/>
          </a:p>
        </p:txBody>
      </p:sp>
      <p:sp>
        <p:nvSpPr>
          <p:cNvPr id="157" name="Text 156"/>
          <p:cNvSpPr txBox="1"/>
          <p:nvPr/>
        </p:nvSpPr>
        <p:spPr>
          <a:xfrm>
            <a:off x="8776841" y="6702028"/>
            <a:ext cx="81194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+4.1%</a:t>
            </a:r>
            <a:endParaRPr lang="en-US" sz="705" dirty="0"/>
          </a:p>
        </p:txBody>
      </p:sp>
      <p:sp>
        <p:nvSpPr>
          <p:cNvPr id="158" name="Shape 157"/>
          <p:cNvSpPr/>
          <p:nvPr/>
        </p:nvSpPr>
        <p:spPr>
          <a:xfrm>
            <a:off x="419100" y="7029450"/>
            <a:ext cx="9220200" cy="9525"/>
          </a:xfrm>
          <a:prstGeom prst="rect">
            <a:avLst/>
          </a:prstGeom>
          <a:solidFill>
            <a:srgbClr val="E3DCD3"/>
          </a:solidFill>
          <a:ln/>
        </p:spPr>
        <p:txBody>
          <a:bodyPr/>
          <a:lstStyle/>
          <a:p>
            <a:endParaRPr lang="en-US"/>
          </a:p>
        </p:txBody>
      </p:sp>
      <p:pic>
        <p:nvPicPr>
          <p:cNvPr id="159" name="Benchmark International" descr="Benchmark International"/>
          <p:cNvPicPr>
            <a:picLocks noChangeAspect="1"/>
          </p:cNvPicPr>
          <p:nvPr/>
        </p:nvPicPr>
        <p:blipFill>
          <a:blip r:embed="rId10"/>
          <a:stretch>
            <a:fillRect/>
          </a:stretch>
        </p:blipFill>
        <p:spPr>
          <a:xfrm>
            <a:off x="419100" y="7143750"/>
            <a:ext cx="914400" cy="171450"/>
          </a:xfrm>
          <a:prstGeom prst="rect">
            <a:avLst/>
          </a:prstGeom>
        </p:spPr>
      </p:pic>
      <p:sp>
        <p:nvSpPr>
          <p:cNvPr id="160" name="Text 15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of fiscal-year revenue growth, including acquisitions, with the number of companies in parentheses. Shaded years are analyst consensus, and the rows under each chart give the plotted values in the order of the key. Middleby is left out because its revenue was restated for a spin-off. Source: </a:t>
            </a:r>
            <a:r>
              <a:rPr lang="en-US" sz="67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a:t>
            </a:r>
            <a:endParaRPr lang="en-US" sz="675" dirty="0"/>
          </a:p>
        </p:txBody>
      </p:sp>
      <p:sp>
        <p:nvSpPr>
          <p:cNvPr id="161" name="Text 160"/>
          <p:cNvSpPr txBox="1"/>
          <p:nvPr/>
        </p:nvSpPr>
        <p:spPr>
          <a:xfrm>
            <a:off x="9517261" y="7162800"/>
            <a:ext cx="17918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13</a:t>
            </a:r>
            <a:endParaRPr lang="en-US" sz="713"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Valuation Metrics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The median multiple of EBITDA is lower than a year ago in every peer group, and packaged food companies trade near eight times.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984450" cy="4762500"/>
          </a:xfrm>
          <a:prstGeom prst="rect">
            <a:avLst/>
          </a:prstGeom>
          <a:solidFill>
            <a:srgbClr val="FAF7F3"/>
          </a:solidFill>
          <a:ln/>
        </p:spPr>
        <p:txBody>
          <a:bodyPr/>
          <a:lstStyle/>
          <a:p>
            <a:endParaRPr lang="en-US"/>
          </a:p>
        </p:txBody>
      </p:sp>
      <p:sp>
        <p:nvSpPr>
          <p:cNvPr id="10" name="Shape 9"/>
          <p:cNvSpPr/>
          <p:nvPr/>
        </p:nvSpPr>
        <p:spPr>
          <a:xfrm>
            <a:off x="419100" y="1238250"/>
            <a:ext cx="2984450" cy="28575"/>
          </a:xfrm>
          <a:prstGeom prst="rect">
            <a:avLst/>
          </a:prstGeom>
          <a:solidFill>
            <a:srgbClr val="B68757"/>
          </a:solidFill>
          <a:ln/>
        </p:spPr>
        <p:txBody>
          <a:bodyPr/>
          <a:lstStyle/>
          <a:p>
            <a:endParaRPr lang="en-US"/>
          </a:p>
        </p:txBody>
      </p:sp>
      <p:sp>
        <p:nvSpPr>
          <p:cNvPr id="11" name="Text 10"/>
          <p:cNvSpPr txBox="1"/>
          <p:nvPr/>
        </p:nvSpPr>
        <p:spPr>
          <a:xfrm>
            <a:off x="571500" y="1385888"/>
            <a:ext cx="267965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enterprise value to revenue</a:t>
            </a:r>
            <a:endParaRPr lang="en-US" sz="938" dirty="0"/>
          </a:p>
        </p:txBody>
      </p:sp>
      <p:sp>
        <p:nvSpPr>
          <p:cNvPr id="12" name="Text 11"/>
          <p:cNvSpPr txBox="1"/>
          <p:nvPr/>
        </p:nvSpPr>
        <p:spPr>
          <a:xfrm>
            <a:off x="571500" y="1552575"/>
            <a:ext cx="267965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Trailing twelve months</a:t>
            </a:r>
            <a:endParaRPr lang="en-US" sz="705" dirty="0"/>
          </a:p>
        </p:txBody>
      </p:sp>
      <p:sp>
        <p:nvSpPr>
          <p:cNvPr id="13" name="Text 12"/>
          <p:cNvSpPr txBox="1"/>
          <p:nvPr/>
        </p:nvSpPr>
        <p:spPr>
          <a:xfrm>
            <a:off x="571500" y="174783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4" name="Text 13"/>
          <p:cNvSpPr txBox="1"/>
          <p:nvPr/>
        </p:nvSpPr>
        <p:spPr>
          <a:xfrm>
            <a:off x="571500"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5" name="Shape 14"/>
          <p:cNvSpPr/>
          <p:nvPr/>
        </p:nvSpPr>
        <p:spPr>
          <a:xfrm>
            <a:off x="1771650" y="1933575"/>
            <a:ext cx="9525" cy="314325"/>
          </a:xfrm>
          <a:prstGeom prst="rect">
            <a:avLst/>
          </a:prstGeom>
          <a:solidFill>
            <a:srgbClr val="C3BDB6"/>
          </a:solidFill>
          <a:ln/>
        </p:spPr>
        <p:txBody>
          <a:bodyPr/>
          <a:lstStyle/>
          <a:p>
            <a:endParaRPr lang="en-US"/>
          </a:p>
        </p:txBody>
      </p:sp>
      <p:sp>
        <p:nvSpPr>
          <p:cNvPr id="16" name="Shape 15"/>
          <p:cNvSpPr/>
          <p:nvPr/>
        </p:nvSpPr>
        <p:spPr>
          <a:xfrm>
            <a:off x="1771650" y="2028825"/>
            <a:ext cx="320873" cy="114300"/>
          </a:xfrm>
          <a:prstGeom prst="rect">
            <a:avLst/>
          </a:prstGeom>
          <a:solidFill>
            <a:srgbClr val="B68757"/>
          </a:solidFill>
          <a:ln/>
        </p:spPr>
        <p:txBody>
          <a:bodyPr/>
          <a:lstStyle/>
          <a:p>
            <a:endParaRPr lang="en-US"/>
          </a:p>
        </p:txBody>
      </p:sp>
      <p:sp>
        <p:nvSpPr>
          <p:cNvPr id="17" name="Text 16"/>
          <p:cNvSpPr txBox="1"/>
          <p:nvPr/>
        </p:nvSpPr>
        <p:spPr>
          <a:xfrm>
            <a:off x="2149673" y="2005013"/>
            <a:ext cx="2350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1.5x</a:t>
            </a:r>
            <a:endParaRPr lang="en-US" sz="788" dirty="0"/>
          </a:p>
        </p:txBody>
      </p:sp>
      <p:sp>
        <p:nvSpPr>
          <p:cNvPr id="18" name="Text 17"/>
          <p:cNvSpPr txBox="1"/>
          <p:nvPr/>
        </p:nvSpPr>
        <p:spPr>
          <a:xfrm>
            <a:off x="571500"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9" name="Shape 18"/>
          <p:cNvSpPr/>
          <p:nvPr/>
        </p:nvSpPr>
        <p:spPr>
          <a:xfrm>
            <a:off x="1771650" y="2247900"/>
            <a:ext cx="9525" cy="314325"/>
          </a:xfrm>
          <a:prstGeom prst="rect">
            <a:avLst/>
          </a:prstGeom>
          <a:solidFill>
            <a:srgbClr val="C3BDB6"/>
          </a:solidFill>
          <a:ln/>
        </p:spPr>
        <p:txBody>
          <a:bodyPr/>
          <a:lstStyle/>
          <a:p>
            <a:endParaRPr lang="en-US"/>
          </a:p>
        </p:txBody>
      </p:sp>
      <p:sp>
        <p:nvSpPr>
          <p:cNvPr id="20" name="Shape 19"/>
          <p:cNvSpPr/>
          <p:nvPr/>
        </p:nvSpPr>
        <p:spPr>
          <a:xfrm>
            <a:off x="1771650" y="2343150"/>
            <a:ext cx="319088" cy="114300"/>
          </a:xfrm>
          <a:prstGeom prst="rect">
            <a:avLst/>
          </a:prstGeom>
          <a:solidFill>
            <a:srgbClr val="B68757"/>
          </a:solidFill>
          <a:ln/>
        </p:spPr>
        <p:txBody>
          <a:bodyPr/>
          <a:lstStyle/>
          <a:p>
            <a:endParaRPr lang="en-US"/>
          </a:p>
        </p:txBody>
      </p:sp>
      <p:sp>
        <p:nvSpPr>
          <p:cNvPr id="21" name="Text 20"/>
          <p:cNvSpPr txBox="1"/>
          <p:nvPr/>
        </p:nvSpPr>
        <p:spPr>
          <a:xfrm>
            <a:off x="2147888" y="2319338"/>
            <a:ext cx="2350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1.5x</a:t>
            </a:r>
            <a:endParaRPr lang="en-US" sz="788" dirty="0"/>
          </a:p>
        </p:txBody>
      </p:sp>
      <p:sp>
        <p:nvSpPr>
          <p:cNvPr id="22" name="Text 21"/>
          <p:cNvSpPr txBox="1"/>
          <p:nvPr/>
        </p:nvSpPr>
        <p:spPr>
          <a:xfrm>
            <a:off x="571500"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23" name="Shape 22"/>
          <p:cNvSpPr/>
          <p:nvPr/>
        </p:nvSpPr>
        <p:spPr>
          <a:xfrm>
            <a:off x="1771650" y="2562225"/>
            <a:ext cx="9525" cy="314325"/>
          </a:xfrm>
          <a:prstGeom prst="rect">
            <a:avLst/>
          </a:prstGeom>
          <a:solidFill>
            <a:srgbClr val="C3BDB6"/>
          </a:solidFill>
          <a:ln/>
        </p:spPr>
        <p:txBody>
          <a:bodyPr/>
          <a:lstStyle/>
          <a:p>
            <a:endParaRPr lang="en-US"/>
          </a:p>
        </p:txBody>
      </p:sp>
      <p:sp>
        <p:nvSpPr>
          <p:cNvPr id="24" name="Shape 23"/>
          <p:cNvSpPr/>
          <p:nvPr/>
        </p:nvSpPr>
        <p:spPr>
          <a:xfrm>
            <a:off x="1771650" y="2657475"/>
            <a:ext cx="708571" cy="114300"/>
          </a:xfrm>
          <a:prstGeom prst="rect">
            <a:avLst/>
          </a:prstGeom>
          <a:solidFill>
            <a:srgbClr val="B68757"/>
          </a:solidFill>
          <a:ln/>
        </p:spPr>
        <p:txBody>
          <a:bodyPr/>
          <a:lstStyle/>
          <a:p>
            <a:endParaRPr lang="en-US"/>
          </a:p>
        </p:txBody>
      </p:sp>
      <p:sp>
        <p:nvSpPr>
          <p:cNvPr id="25" name="Text 24"/>
          <p:cNvSpPr txBox="1"/>
          <p:nvPr/>
        </p:nvSpPr>
        <p:spPr>
          <a:xfrm>
            <a:off x="2537371" y="2633663"/>
            <a:ext cx="24586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3.3x</a:t>
            </a:r>
            <a:endParaRPr lang="en-US" sz="788" dirty="0"/>
          </a:p>
        </p:txBody>
      </p:sp>
      <p:sp>
        <p:nvSpPr>
          <p:cNvPr id="26" name="Text 25"/>
          <p:cNvSpPr txBox="1"/>
          <p:nvPr/>
        </p:nvSpPr>
        <p:spPr>
          <a:xfrm>
            <a:off x="571500" y="290988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27" name="Text 26"/>
          <p:cNvSpPr txBox="1"/>
          <p:nvPr/>
        </p:nvSpPr>
        <p:spPr>
          <a:xfrm>
            <a:off x="571500"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28" name="Shape 27"/>
          <p:cNvSpPr/>
          <p:nvPr/>
        </p:nvSpPr>
        <p:spPr>
          <a:xfrm>
            <a:off x="1771650" y="3095625"/>
            <a:ext cx="9525" cy="314325"/>
          </a:xfrm>
          <a:prstGeom prst="rect">
            <a:avLst/>
          </a:prstGeom>
          <a:solidFill>
            <a:srgbClr val="C3BDB6"/>
          </a:solidFill>
          <a:ln/>
        </p:spPr>
        <p:txBody>
          <a:bodyPr/>
          <a:lstStyle/>
          <a:p>
            <a:endParaRPr lang="en-US"/>
          </a:p>
        </p:txBody>
      </p:sp>
      <p:sp>
        <p:nvSpPr>
          <p:cNvPr id="29" name="Shape 28"/>
          <p:cNvSpPr/>
          <p:nvPr/>
        </p:nvSpPr>
        <p:spPr>
          <a:xfrm>
            <a:off x="1771650" y="3190875"/>
            <a:ext cx="794296" cy="114300"/>
          </a:xfrm>
          <a:prstGeom prst="rect">
            <a:avLst/>
          </a:prstGeom>
          <a:solidFill>
            <a:srgbClr val="B68757"/>
          </a:solidFill>
          <a:ln/>
        </p:spPr>
        <p:txBody>
          <a:bodyPr/>
          <a:lstStyle/>
          <a:p>
            <a:endParaRPr lang="en-US"/>
          </a:p>
        </p:txBody>
      </p:sp>
      <p:sp>
        <p:nvSpPr>
          <p:cNvPr id="30" name="Text 29"/>
          <p:cNvSpPr txBox="1"/>
          <p:nvPr/>
        </p:nvSpPr>
        <p:spPr>
          <a:xfrm>
            <a:off x="2623096" y="3167063"/>
            <a:ext cx="24705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3.7x</a:t>
            </a:r>
            <a:endParaRPr lang="en-US" sz="788" dirty="0"/>
          </a:p>
        </p:txBody>
      </p:sp>
      <p:sp>
        <p:nvSpPr>
          <p:cNvPr id="31" name="Text 30"/>
          <p:cNvSpPr txBox="1"/>
          <p:nvPr/>
        </p:nvSpPr>
        <p:spPr>
          <a:xfrm>
            <a:off x="571500"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32" name="Shape 31"/>
          <p:cNvSpPr/>
          <p:nvPr/>
        </p:nvSpPr>
        <p:spPr>
          <a:xfrm>
            <a:off x="1771650" y="3409950"/>
            <a:ext cx="9525" cy="314325"/>
          </a:xfrm>
          <a:prstGeom prst="rect">
            <a:avLst/>
          </a:prstGeom>
          <a:solidFill>
            <a:srgbClr val="C3BDB6"/>
          </a:solidFill>
          <a:ln/>
        </p:spPr>
        <p:txBody>
          <a:bodyPr/>
          <a:lstStyle/>
          <a:p>
            <a:endParaRPr lang="en-US"/>
          </a:p>
        </p:txBody>
      </p:sp>
      <p:sp>
        <p:nvSpPr>
          <p:cNvPr id="33" name="Shape 32"/>
          <p:cNvSpPr/>
          <p:nvPr/>
        </p:nvSpPr>
        <p:spPr>
          <a:xfrm>
            <a:off x="1771650" y="3505200"/>
            <a:ext cx="231428" cy="114300"/>
          </a:xfrm>
          <a:prstGeom prst="rect">
            <a:avLst/>
          </a:prstGeom>
          <a:solidFill>
            <a:srgbClr val="B68757"/>
          </a:solidFill>
          <a:ln/>
        </p:spPr>
        <p:txBody>
          <a:bodyPr/>
          <a:lstStyle/>
          <a:p>
            <a:endParaRPr lang="en-US"/>
          </a:p>
        </p:txBody>
      </p:sp>
      <p:sp>
        <p:nvSpPr>
          <p:cNvPr id="34" name="Text 33"/>
          <p:cNvSpPr txBox="1"/>
          <p:nvPr/>
        </p:nvSpPr>
        <p:spPr>
          <a:xfrm>
            <a:off x="2060228" y="3481388"/>
            <a:ext cx="2113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1.1x</a:t>
            </a:r>
            <a:endParaRPr lang="en-US" sz="788" dirty="0"/>
          </a:p>
        </p:txBody>
      </p:sp>
      <p:sp>
        <p:nvSpPr>
          <p:cNvPr id="35" name="Text 34"/>
          <p:cNvSpPr txBox="1"/>
          <p:nvPr/>
        </p:nvSpPr>
        <p:spPr>
          <a:xfrm>
            <a:off x="571500" y="37576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36" name="Text 35"/>
          <p:cNvSpPr txBox="1"/>
          <p:nvPr/>
        </p:nvSpPr>
        <p:spPr>
          <a:xfrm>
            <a:off x="571500"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37" name="Shape 36"/>
          <p:cNvSpPr/>
          <p:nvPr/>
        </p:nvSpPr>
        <p:spPr>
          <a:xfrm>
            <a:off x="1771650" y="3943350"/>
            <a:ext cx="9525" cy="314325"/>
          </a:xfrm>
          <a:prstGeom prst="rect">
            <a:avLst/>
          </a:prstGeom>
          <a:solidFill>
            <a:srgbClr val="C3BDB6"/>
          </a:solidFill>
          <a:ln/>
        </p:spPr>
        <p:txBody>
          <a:bodyPr/>
          <a:lstStyle/>
          <a:p>
            <a:endParaRPr lang="en-US"/>
          </a:p>
        </p:txBody>
      </p:sp>
      <p:sp>
        <p:nvSpPr>
          <p:cNvPr id="38" name="Shape 37"/>
          <p:cNvSpPr/>
          <p:nvPr/>
        </p:nvSpPr>
        <p:spPr>
          <a:xfrm>
            <a:off x="1771650" y="4038600"/>
            <a:ext cx="136178" cy="114300"/>
          </a:xfrm>
          <a:prstGeom prst="rect">
            <a:avLst/>
          </a:prstGeom>
          <a:solidFill>
            <a:srgbClr val="B68757"/>
          </a:solidFill>
          <a:ln/>
        </p:spPr>
        <p:txBody>
          <a:bodyPr/>
          <a:lstStyle/>
          <a:p>
            <a:endParaRPr lang="en-US"/>
          </a:p>
        </p:txBody>
      </p:sp>
      <p:sp>
        <p:nvSpPr>
          <p:cNvPr id="39" name="Text 38"/>
          <p:cNvSpPr txBox="1"/>
          <p:nvPr/>
        </p:nvSpPr>
        <p:spPr>
          <a:xfrm>
            <a:off x="1964978" y="4014788"/>
            <a:ext cx="25524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0.6x</a:t>
            </a:r>
            <a:endParaRPr lang="en-US" sz="788" dirty="0"/>
          </a:p>
        </p:txBody>
      </p:sp>
      <p:sp>
        <p:nvSpPr>
          <p:cNvPr id="40" name="Text 39"/>
          <p:cNvSpPr txBox="1"/>
          <p:nvPr/>
        </p:nvSpPr>
        <p:spPr>
          <a:xfrm>
            <a:off x="571500" y="42910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41" name="Text 40"/>
          <p:cNvSpPr txBox="1"/>
          <p:nvPr/>
        </p:nvSpPr>
        <p:spPr>
          <a:xfrm>
            <a:off x="571500"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42" name="Shape 41"/>
          <p:cNvSpPr/>
          <p:nvPr/>
        </p:nvSpPr>
        <p:spPr>
          <a:xfrm>
            <a:off x="1771650" y="4476750"/>
            <a:ext cx="9525" cy="314325"/>
          </a:xfrm>
          <a:prstGeom prst="rect">
            <a:avLst/>
          </a:prstGeom>
          <a:solidFill>
            <a:srgbClr val="C3BDB6"/>
          </a:solidFill>
          <a:ln/>
        </p:spPr>
        <p:txBody>
          <a:bodyPr/>
          <a:lstStyle/>
          <a:p>
            <a:endParaRPr lang="en-US"/>
          </a:p>
        </p:txBody>
      </p:sp>
      <p:sp>
        <p:nvSpPr>
          <p:cNvPr id="43" name="Shape 42"/>
          <p:cNvSpPr/>
          <p:nvPr/>
        </p:nvSpPr>
        <p:spPr>
          <a:xfrm>
            <a:off x="1771650" y="4572000"/>
            <a:ext cx="576263" cy="114300"/>
          </a:xfrm>
          <a:prstGeom prst="rect">
            <a:avLst/>
          </a:prstGeom>
          <a:solidFill>
            <a:srgbClr val="B68757"/>
          </a:solidFill>
          <a:ln/>
        </p:spPr>
        <p:txBody>
          <a:bodyPr/>
          <a:lstStyle/>
          <a:p>
            <a:endParaRPr lang="en-US"/>
          </a:p>
        </p:txBody>
      </p:sp>
      <p:sp>
        <p:nvSpPr>
          <p:cNvPr id="44" name="Text 43"/>
          <p:cNvSpPr txBox="1"/>
          <p:nvPr/>
        </p:nvSpPr>
        <p:spPr>
          <a:xfrm>
            <a:off x="2405063" y="4548188"/>
            <a:ext cx="25032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2.7x</a:t>
            </a:r>
            <a:endParaRPr lang="en-US" sz="788" dirty="0"/>
          </a:p>
        </p:txBody>
      </p:sp>
      <p:sp>
        <p:nvSpPr>
          <p:cNvPr id="45" name="Text 44"/>
          <p:cNvSpPr txBox="1"/>
          <p:nvPr/>
        </p:nvSpPr>
        <p:spPr>
          <a:xfrm>
            <a:off x="571500"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46" name="Shape 45"/>
          <p:cNvSpPr/>
          <p:nvPr/>
        </p:nvSpPr>
        <p:spPr>
          <a:xfrm>
            <a:off x="1771650" y="4791075"/>
            <a:ext cx="9525" cy="314325"/>
          </a:xfrm>
          <a:prstGeom prst="rect">
            <a:avLst/>
          </a:prstGeom>
          <a:solidFill>
            <a:srgbClr val="C3BDB6"/>
          </a:solidFill>
          <a:ln/>
        </p:spPr>
        <p:txBody>
          <a:bodyPr/>
          <a:lstStyle/>
          <a:p>
            <a:endParaRPr lang="en-US"/>
          </a:p>
        </p:txBody>
      </p:sp>
      <p:sp>
        <p:nvSpPr>
          <p:cNvPr id="47" name="Shape 46"/>
          <p:cNvSpPr/>
          <p:nvPr/>
        </p:nvSpPr>
        <p:spPr>
          <a:xfrm>
            <a:off x="1771650" y="4886325"/>
            <a:ext cx="771525" cy="114300"/>
          </a:xfrm>
          <a:prstGeom prst="rect">
            <a:avLst/>
          </a:prstGeom>
          <a:solidFill>
            <a:srgbClr val="B68757"/>
          </a:solidFill>
          <a:ln/>
        </p:spPr>
        <p:txBody>
          <a:bodyPr/>
          <a:lstStyle/>
          <a:p>
            <a:endParaRPr lang="en-US"/>
          </a:p>
        </p:txBody>
      </p:sp>
      <p:sp>
        <p:nvSpPr>
          <p:cNvPr id="48" name="Text 47"/>
          <p:cNvSpPr txBox="1"/>
          <p:nvPr/>
        </p:nvSpPr>
        <p:spPr>
          <a:xfrm>
            <a:off x="2600325" y="4862513"/>
            <a:ext cx="24750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3.6x</a:t>
            </a:r>
            <a:endParaRPr lang="en-US" sz="788" dirty="0"/>
          </a:p>
        </p:txBody>
      </p:sp>
      <p:sp>
        <p:nvSpPr>
          <p:cNvPr id="49" name="Text 48"/>
          <p:cNvSpPr txBox="1"/>
          <p:nvPr/>
        </p:nvSpPr>
        <p:spPr>
          <a:xfrm>
            <a:off x="571500"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50" name="Shape 49"/>
          <p:cNvSpPr/>
          <p:nvPr/>
        </p:nvSpPr>
        <p:spPr>
          <a:xfrm>
            <a:off x="1771650" y="5105400"/>
            <a:ext cx="9525" cy="314325"/>
          </a:xfrm>
          <a:prstGeom prst="rect">
            <a:avLst/>
          </a:prstGeom>
          <a:solidFill>
            <a:srgbClr val="C3BDB6"/>
          </a:solidFill>
          <a:ln/>
        </p:spPr>
        <p:txBody>
          <a:bodyPr/>
          <a:lstStyle/>
          <a:p>
            <a:endParaRPr lang="en-US"/>
          </a:p>
        </p:txBody>
      </p:sp>
      <p:sp>
        <p:nvSpPr>
          <p:cNvPr id="51" name="Shape 50"/>
          <p:cNvSpPr/>
          <p:nvPr/>
        </p:nvSpPr>
        <p:spPr>
          <a:xfrm>
            <a:off x="1771650" y="5200650"/>
            <a:ext cx="238125" cy="114300"/>
          </a:xfrm>
          <a:prstGeom prst="rect">
            <a:avLst/>
          </a:prstGeom>
          <a:solidFill>
            <a:srgbClr val="B68757"/>
          </a:solidFill>
          <a:ln/>
        </p:spPr>
        <p:txBody>
          <a:bodyPr/>
          <a:lstStyle/>
          <a:p>
            <a:endParaRPr lang="en-US"/>
          </a:p>
        </p:txBody>
      </p:sp>
      <p:sp>
        <p:nvSpPr>
          <p:cNvPr id="52" name="Text 51"/>
          <p:cNvSpPr txBox="1"/>
          <p:nvPr/>
        </p:nvSpPr>
        <p:spPr>
          <a:xfrm>
            <a:off x="2066925" y="5176838"/>
            <a:ext cx="2113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1.1x</a:t>
            </a:r>
            <a:endParaRPr lang="en-US" sz="788" dirty="0"/>
          </a:p>
        </p:txBody>
      </p:sp>
      <p:sp>
        <p:nvSpPr>
          <p:cNvPr id="53" name="Shape 52"/>
          <p:cNvSpPr/>
          <p:nvPr/>
        </p:nvSpPr>
        <p:spPr>
          <a:xfrm>
            <a:off x="3536900" y="1238250"/>
            <a:ext cx="2984450" cy="4762500"/>
          </a:xfrm>
          <a:prstGeom prst="rect">
            <a:avLst/>
          </a:prstGeom>
          <a:solidFill>
            <a:srgbClr val="FAF7F3"/>
          </a:solidFill>
          <a:ln/>
        </p:spPr>
        <p:txBody>
          <a:bodyPr/>
          <a:lstStyle/>
          <a:p>
            <a:endParaRPr lang="en-US"/>
          </a:p>
        </p:txBody>
      </p:sp>
      <p:sp>
        <p:nvSpPr>
          <p:cNvPr id="54" name="Shape 53"/>
          <p:cNvSpPr/>
          <p:nvPr/>
        </p:nvSpPr>
        <p:spPr>
          <a:xfrm>
            <a:off x="3536900" y="1238250"/>
            <a:ext cx="2984450" cy="28575"/>
          </a:xfrm>
          <a:prstGeom prst="rect">
            <a:avLst/>
          </a:prstGeom>
          <a:solidFill>
            <a:srgbClr val="B68757"/>
          </a:solidFill>
          <a:ln/>
        </p:spPr>
        <p:txBody>
          <a:bodyPr/>
          <a:lstStyle/>
          <a:p>
            <a:endParaRPr lang="en-US"/>
          </a:p>
        </p:txBody>
      </p:sp>
      <p:sp>
        <p:nvSpPr>
          <p:cNvPr id="55" name="Text 54"/>
          <p:cNvSpPr txBox="1"/>
          <p:nvPr/>
        </p:nvSpPr>
        <p:spPr>
          <a:xfrm>
            <a:off x="3689300" y="1385888"/>
            <a:ext cx="267965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enterprise value to EBITDA</a:t>
            </a:r>
            <a:endParaRPr lang="en-US" sz="938" dirty="0"/>
          </a:p>
        </p:txBody>
      </p:sp>
      <p:sp>
        <p:nvSpPr>
          <p:cNvPr id="56" name="Text 55"/>
          <p:cNvSpPr txBox="1"/>
          <p:nvPr/>
        </p:nvSpPr>
        <p:spPr>
          <a:xfrm>
            <a:off x="3684538" y="1552575"/>
            <a:ext cx="268441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Trailing twelve months</a:t>
            </a:r>
            <a:endParaRPr lang="en-US" sz="705" dirty="0"/>
          </a:p>
        </p:txBody>
      </p:sp>
      <p:sp>
        <p:nvSpPr>
          <p:cNvPr id="57" name="Text 56"/>
          <p:cNvSpPr txBox="1"/>
          <p:nvPr/>
        </p:nvSpPr>
        <p:spPr>
          <a:xfrm>
            <a:off x="4765328" y="1552575"/>
            <a:ext cx="160362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A year ago</a:t>
            </a:r>
            <a:endParaRPr lang="en-US" sz="705" dirty="0"/>
          </a:p>
        </p:txBody>
      </p:sp>
      <p:sp>
        <p:nvSpPr>
          <p:cNvPr id="58" name="Shape 57"/>
          <p:cNvSpPr/>
          <p:nvPr/>
        </p:nvSpPr>
        <p:spPr>
          <a:xfrm>
            <a:off x="4703415" y="1562100"/>
            <a:ext cx="19050" cy="104775"/>
          </a:xfrm>
          <a:prstGeom prst="rect">
            <a:avLst/>
          </a:prstGeom>
          <a:solidFill>
            <a:srgbClr val="1B1A1A"/>
          </a:solidFill>
          <a:ln/>
        </p:spPr>
        <p:txBody>
          <a:bodyPr/>
          <a:lstStyle/>
          <a:p>
            <a:endParaRPr lang="en-US"/>
          </a:p>
        </p:txBody>
      </p:sp>
      <p:sp>
        <p:nvSpPr>
          <p:cNvPr id="59" name="Text 58"/>
          <p:cNvSpPr txBox="1"/>
          <p:nvPr/>
        </p:nvSpPr>
        <p:spPr>
          <a:xfrm>
            <a:off x="3689300" y="174783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60" name="Text 59"/>
          <p:cNvSpPr txBox="1"/>
          <p:nvPr/>
        </p:nvSpPr>
        <p:spPr>
          <a:xfrm>
            <a:off x="3689300"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61" name="Shape 60"/>
          <p:cNvSpPr/>
          <p:nvPr/>
        </p:nvSpPr>
        <p:spPr>
          <a:xfrm>
            <a:off x="4889450" y="1933575"/>
            <a:ext cx="9525" cy="314325"/>
          </a:xfrm>
          <a:prstGeom prst="rect">
            <a:avLst/>
          </a:prstGeom>
          <a:solidFill>
            <a:srgbClr val="C3BDB6"/>
          </a:solidFill>
          <a:ln/>
        </p:spPr>
        <p:txBody>
          <a:bodyPr/>
          <a:lstStyle/>
          <a:p>
            <a:endParaRPr lang="en-US"/>
          </a:p>
        </p:txBody>
      </p:sp>
      <p:sp>
        <p:nvSpPr>
          <p:cNvPr id="62" name="Shape 61"/>
          <p:cNvSpPr/>
          <p:nvPr/>
        </p:nvSpPr>
        <p:spPr>
          <a:xfrm>
            <a:off x="4889450" y="2028825"/>
            <a:ext cx="356146" cy="114300"/>
          </a:xfrm>
          <a:prstGeom prst="rect">
            <a:avLst/>
          </a:prstGeom>
          <a:solidFill>
            <a:srgbClr val="B68757"/>
          </a:solidFill>
          <a:ln/>
        </p:spPr>
        <p:txBody>
          <a:bodyPr/>
          <a:lstStyle/>
          <a:p>
            <a:endParaRPr lang="en-US"/>
          </a:p>
        </p:txBody>
      </p:sp>
      <p:sp>
        <p:nvSpPr>
          <p:cNvPr id="63" name="Shape 62"/>
          <p:cNvSpPr/>
          <p:nvPr/>
        </p:nvSpPr>
        <p:spPr>
          <a:xfrm>
            <a:off x="5299025" y="1990725"/>
            <a:ext cx="19050" cy="190500"/>
          </a:xfrm>
          <a:prstGeom prst="rect">
            <a:avLst/>
          </a:prstGeom>
          <a:solidFill>
            <a:srgbClr val="1B1A1A"/>
          </a:solidFill>
          <a:ln/>
        </p:spPr>
        <p:txBody>
          <a:bodyPr/>
          <a:lstStyle/>
          <a:p>
            <a:endParaRPr lang="en-US"/>
          </a:p>
        </p:txBody>
      </p:sp>
      <p:sp>
        <p:nvSpPr>
          <p:cNvPr id="64" name="Text 63"/>
          <p:cNvSpPr txBox="1"/>
          <p:nvPr/>
        </p:nvSpPr>
        <p:spPr>
          <a:xfrm>
            <a:off x="5365700" y="2005013"/>
            <a:ext cx="25018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8.2x</a:t>
            </a:r>
            <a:endParaRPr lang="en-US" sz="788" dirty="0"/>
          </a:p>
        </p:txBody>
      </p:sp>
      <p:sp>
        <p:nvSpPr>
          <p:cNvPr id="65" name="Text 64"/>
          <p:cNvSpPr txBox="1"/>
          <p:nvPr/>
        </p:nvSpPr>
        <p:spPr>
          <a:xfrm>
            <a:off x="3689300"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66" name="Shape 65"/>
          <p:cNvSpPr/>
          <p:nvPr/>
        </p:nvSpPr>
        <p:spPr>
          <a:xfrm>
            <a:off x="4889450" y="2247900"/>
            <a:ext cx="9525" cy="314325"/>
          </a:xfrm>
          <a:prstGeom prst="rect">
            <a:avLst/>
          </a:prstGeom>
          <a:solidFill>
            <a:srgbClr val="C3BDB6"/>
          </a:solidFill>
          <a:ln/>
        </p:spPr>
        <p:txBody>
          <a:bodyPr/>
          <a:lstStyle/>
          <a:p>
            <a:endParaRPr lang="en-US"/>
          </a:p>
        </p:txBody>
      </p:sp>
      <p:sp>
        <p:nvSpPr>
          <p:cNvPr id="67" name="Shape 66"/>
          <p:cNvSpPr/>
          <p:nvPr/>
        </p:nvSpPr>
        <p:spPr>
          <a:xfrm>
            <a:off x="4889450" y="2343150"/>
            <a:ext cx="593378" cy="114300"/>
          </a:xfrm>
          <a:prstGeom prst="rect">
            <a:avLst/>
          </a:prstGeom>
          <a:solidFill>
            <a:srgbClr val="B68757"/>
          </a:solidFill>
          <a:ln/>
        </p:spPr>
        <p:txBody>
          <a:bodyPr/>
          <a:lstStyle/>
          <a:p>
            <a:endParaRPr lang="en-US"/>
          </a:p>
        </p:txBody>
      </p:sp>
      <p:sp>
        <p:nvSpPr>
          <p:cNvPr id="68" name="Shape 67"/>
          <p:cNvSpPr/>
          <p:nvPr/>
        </p:nvSpPr>
        <p:spPr>
          <a:xfrm>
            <a:off x="5640884" y="2305050"/>
            <a:ext cx="19050" cy="190500"/>
          </a:xfrm>
          <a:prstGeom prst="rect">
            <a:avLst/>
          </a:prstGeom>
          <a:solidFill>
            <a:srgbClr val="1B1A1A"/>
          </a:solidFill>
          <a:ln/>
        </p:spPr>
        <p:txBody>
          <a:bodyPr/>
          <a:lstStyle/>
          <a:p>
            <a:endParaRPr lang="en-US"/>
          </a:p>
        </p:txBody>
      </p:sp>
      <p:sp>
        <p:nvSpPr>
          <p:cNvPr id="69" name="Text 68"/>
          <p:cNvSpPr txBox="1"/>
          <p:nvPr/>
        </p:nvSpPr>
        <p:spPr>
          <a:xfrm>
            <a:off x="5707559" y="2319338"/>
            <a:ext cx="28783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13.7x</a:t>
            </a:r>
            <a:endParaRPr lang="en-US" sz="788" dirty="0"/>
          </a:p>
        </p:txBody>
      </p:sp>
      <p:sp>
        <p:nvSpPr>
          <p:cNvPr id="70" name="Text 69"/>
          <p:cNvSpPr txBox="1"/>
          <p:nvPr/>
        </p:nvSpPr>
        <p:spPr>
          <a:xfrm>
            <a:off x="3689300"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71" name="Shape 70"/>
          <p:cNvSpPr/>
          <p:nvPr/>
        </p:nvSpPr>
        <p:spPr>
          <a:xfrm>
            <a:off x="4889450" y="2562225"/>
            <a:ext cx="9525" cy="314325"/>
          </a:xfrm>
          <a:prstGeom prst="rect">
            <a:avLst/>
          </a:prstGeom>
          <a:solidFill>
            <a:srgbClr val="C3BDB6"/>
          </a:solidFill>
          <a:ln/>
        </p:spPr>
        <p:txBody>
          <a:bodyPr/>
          <a:lstStyle/>
          <a:p>
            <a:endParaRPr lang="en-US"/>
          </a:p>
        </p:txBody>
      </p:sp>
      <p:sp>
        <p:nvSpPr>
          <p:cNvPr id="72" name="Shape 71"/>
          <p:cNvSpPr/>
          <p:nvPr/>
        </p:nvSpPr>
        <p:spPr>
          <a:xfrm>
            <a:off x="4889450" y="2657475"/>
            <a:ext cx="484733" cy="114300"/>
          </a:xfrm>
          <a:prstGeom prst="rect">
            <a:avLst/>
          </a:prstGeom>
          <a:solidFill>
            <a:srgbClr val="B68757"/>
          </a:solidFill>
          <a:ln/>
        </p:spPr>
        <p:txBody>
          <a:bodyPr/>
          <a:lstStyle/>
          <a:p>
            <a:endParaRPr lang="en-US"/>
          </a:p>
        </p:txBody>
      </p:sp>
      <p:sp>
        <p:nvSpPr>
          <p:cNvPr id="73" name="Shape 72"/>
          <p:cNvSpPr/>
          <p:nvPr/>
        </p:nvSpPr>
        <p:spPr>
          <a:xfrm>
            <a:off x="5729436" y="2619375"/>
            <a:ext cx="19050" cy="190500"/>
          </a:xfrm>
          <a:prstGeom prst="rect">
            <a:avLst/>
          </a:prstGeom>
          <a:solidFill>
            <a:srgbClr val="1B1A1A"/>
          </a:solidFill>
          <a:ln/>
        </p:spPr>
        <p:txBody>
          <a:bodyPr/>
          <a:lstStyle/>
          <a:p>
            <a:endParaRPr lang="en-US"/>
          </a:p>
        </p:txBody>
      </p:sp>
      <p:sp>
        <p:nvSpPr>
          <p:cNvPr id="74" name="Text 73"/>
          <p:cNvSpPr txBox="1"/>
          <p:nvPr/>
        </p:nvSpPr>
        <p:spPr>
          <a:xfrm>
            <a:off x="5796111" y="2633663"/>
            <a:ext cx="27503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11.2x</a:t>
            </a:r>
            <a:endParaRPr lang="en-US" sz="788" dirty="0"/>
          </a:p>
        </p:txBody>
      </p:sp>
      <p:sp>
        <p:nvSpPr>
          <p:cNvPr id="75" name="Text 74"/>
          <p:cNvSpPr txBox="1"/>
          <p:nvPr/>
        </p:nvSpPr>
        <p:spPr>
          <a:xfrm>
            <a:off x="3689300" y="290988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76" name="Text 75"/>
          <p:cNvSpPr txBox="1"/>
          <p:nvPr/>
        </p:nvSpPr>
        <p:spPr>
          <a:xfrm>
            <a:off x="3689300"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77" name="Shape 76"/>
          <p:cNvSpPr/>
          <p:nvPr/>
        </p:nvSpPr>
        <p:spPr>
          <a:xfrm>
            <a:off x="4889450" y="3095625"/>
            <a:ext cx="9525" cy="314325"/>
          </a:xfrm>
          <a:prstGeom prst="rect">
            <a:avLst/>
          </a:prstGeom>
          <a:solidFill>
            <a:srgbClr val="C3BDB6"/>
          </a:solidFill>
          <a:ln/>
        </p:spPr>
        <p:txBody>
          <a:bodyPr/>
          <a:lstStyle/>
          <a:p>
            <a:endParaRPr lang="en-US"/>
          </a:p>
        </p:txBody>
      </p:sp>
      <p:sp>
        <p:nvSpPr>
          <p:cNvPr id="78" name="Shape 77"/>
          <p:cNvSpPr/>
          <p:nvPr/>
        </p:nvSpPr>
        <p:spPr>
          <a:xfrm>
            <a:off x="4889450" y="3190875"/>
            <a:ext cx="673298" cy="114300"/>
          </a:xfrm>
          <a:prstGeom prst="rect">
            <a:avLst/>
          </a:prstGeom>
          <a:solidFill>
            <a:srgbClr val="B68757"/>
          </a:solidFill>
          <a:ln/>
        </p:spPr>
        <p:txBody>
          <a:bodyPr/>
          <a:lstStyle/>
          <a:p>
            <a:endParaRPr lang="en-US"/>
          </a:p>
        </p:txBody>
      </p:sp>
      <p:sp>
        <p:nvSpPr>
          <p:cNvPr id="79" name="Shape 78"/>
          <p:cNvSpPr/>
          <p:nvPr/>
        </p:nvSpPr>
        <p:spPr>
          <a:xfrm>
            <a:off x="5584775" y="3152775"/>
            <a:ext cx="19050" cy="190500"/>
          </a:xfrm>
          <a:prstGeom prst="rect">
            <a:avLst/>
          </a:prstGeom>
          <a:solidFill>
            <a:srgbClr val="1B1A1A"/>
          </a:solidFill>
          <a:ln/>
        </p:spPr>
        <p:txBody>
          <a:bodyPr/>
          <a:lstStyle/>
          <a:p>
            <a:endParaRPr lang="en-US"/>
          </a:p>
        </p:txBody>
      </p:sp>
      <p:sp>
        <p:nvSpPr>
          <p:cNvPr id="80" name="Text 79"/>
          <p:cNvSpPr txBox="1"/>
          <p:nvPr/>
        </p:nvSpPr>
        <p:spPr>
          <a:xfrm>
            <a:off x="5651450" y="3167063"/>
            <a:ext cx="28813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15.6x</a:t>
            </a:r>
            <a:endParaRPr lang="en-US" sz="788" dirty="0"/>
          </a:p>
        </p:txBody>
      </p:sp>
      <p:sp>
        <p:nvSpPr>
          <p:cNvPr id="81" name="Text 80"/>
          <p:cNvSpPr txBox="1"/>
          <p:nvPr/>
        </p:nvSpPr>
        <p:spPr>
          <a:xfrm>
            <a:off x="3689300"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82" name="Shape 81"/>
          <p:cNvSpPr/>
          <p:nvPr/>
        </p:nvSpPr>
        <p:spPr>
          <a:xfrm>
            <a:off x="4889450" y="3409950"/>
            <a:ext cx="9525" cy="314325"/>
          </a:xfrm>
          <a:prstGeom prst="rect">
            <a:avLst/>
          </a:prstGeom>
          <a:solidFill>
            <a:srgbClr val="C3BDB6"/>
          </a:solidFill>
          <a:ln/>
        </p:spPr>
        <p:txBody>
          <a:bodyPr/>
          <a:lstStyle/>
          <a:p>
            <a:endParaRPr lang="en-US"/>
          </a:p>
        </p:txBody>
      </p:sp>
      <p:sp>
        <p:nvSpPr>
          <p:cNvPr id="83" name="Shape 82"/>
          <p:cNvSpPr/>
          <p:nvPr/>
        </p:nvSpPr>
        <p:spPr>
          <a:xfrm>
            <a:off x="4889450" y="3505200"/>
            <a:ext cx="384721" cy="114300"/>
          </a:xfrm>
          <a:prstGeom prst="rect">
            <a:avLst/>
          </a:prstGeom>
          <a:solidFill>
            <a:srgbClr val="B68757"/>
          </a:solidFill>
          <a:ln/>
        </p:spPr>
        <p:txBody>
          <a:bodyPr/>
          <a:lstStyle/>
          <a:p>
            <a:endParaRPr lang="en-US"/>
          </a:p>
        </p:txBody>
      </p:sp>
      <p:sp>
        <p:nvSpPr>
          <p:cNvPr id="84" name="Shape 83"/>
          <p:cNvSpPr/>
          <p:nvPr/>
        </p:nvSpPr>
        <p:spPr>
          <a:xfrm>
            <a:off x="5299025" y="3467100"/>
            <a:ext cx="19050" cy="190500"/>
          </a:xfrm>
          <a:prstGeom prst="rect">
            <a:avLst/>
          </a:prstGeom>
          <a:solidFill>
            <a:srgbClr val="1B1A1A"/>
          </a:solidFill>
          <a:ln/>
        </p:spPr>
        <p:txBody>
          <a:bodyPr/>
          <a:lstStyle/>
          <a:p>
            <a:endParaRPr lang="en-US"/>
          </a:p>
        </p:txBody>
      </p:sp>
      <p:sp>
        <p:nvSpPr>
          <p:cNvPr id="85" name="Text 84"/>
          <p:cNvSpPr txBox="1"/>
          <p:nvPr/>
        </p:nvSpPr>
        <p:spPr>
          <a:xfrm>
            <a:off x="5365700" y="3481388"/>
            <a:ext cx="25003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8.9x</a:t>
            </a:r>
            <a:endParaRPr lang="en-US" sz="788" dirty="0"/>
          </a:p>
        </p:txBody>
      </p:sp>
      <p:sp>
        <p:nvSpPr>
          <p:cNvPr id="86" name="Text 85"/>
          <p:cNvSpPr txBox="1"/>
          <p:nvPr/>
        </p:nvSpPr>
        <p:spPr>
          <a:xfrm>
            <a:off x="3689300" y="37576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87" name="Text 86"/>
          <p:cNvSpPr txBox="1"/>
          <p:nvPr/>
        </p:nvSpPr>
        <p:spPr>
          <a:xfrm>
            <a:off x="3689300"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88" name="Shape 87"/>
          <p:cNvSpPr/>
          <p:nvPr/>
        </p:nvSpPr>
        <p:spPr>
          <a:xfrm>
            <a:off x="4889450" y="3943350"/>
            <a:ext cx="9525" cy="314325"/>
          </a:xfrm>
          <a:prstGeom prst="rect">
            <a:avLst/>
          </a:prstGeom>
          <a:solidFill>
            <a:srgbClr val="C3BDB6"/>
          </a:solidFill>
          <a:ln/>
        </p:spPr>
        <p:txBody>
          <a:bodyPr/>
          <a:lstStyle/>
          <a:p>
            <a:endParaRPr lang="en-US"/>
          </a:p>
        </p:txBody>
      </p:sp>
      <p:sp>
        <p:nvSpPr>
          <p:cNvPr id="89" name="Shape 88"/>
          <p:cNvSpPr/>
          <p:nvPr/>
        </p:nvSpPr>
        <p:spPr>
          <a:xfrm>
            <a:off x="4889450" y="4038600"/>
            <a:ext cx="530423" cy="114300"/>
          </a:xfrm>
          <a:prstGeom prst="rect">
            <a:avLst/>
          </a:prstGeom>
          <a:solidFill>
            <a:srgbClr val="B68757"/>
          </a:solidFill>
          <a:ln/>
        </p:spPr>
        <p:txBody>
          <a:bodyPr/>
          <a:lstStyle/>
          <a:p>
            <a:endParaRPr lang="en-US"/>
          </a:p>
        </p:txBody>
      </p:sp>
      <p:sp>
        <p:nvSpPr>
          <p:cNvPr id="90" name="Shape 89"/>
          <p:cNvSpPr/>
          <p:nvPr/>
        </p:nvSpPr>
        <p:spPr>
          <a:xfrm>
            <a:off x="5488484" y="4000500"/>
            <a:ext cx="19050" cy="190500"/>
          </a:xfrm>
          <a:prstGeom prst="rect">
            <a:avLst/>
          </a:prstGeom>
          <a:solidFill>
            <a:srgbClr val="1B1A1A"/>
          </a:solidFill>
          <a:ln/>
        </p:spPr>
        <p:txBody>
          <a:bodyPr/>
          <a:lstStyle/>
          <a:p>
            <a:endParaRPr lang="en-US"/>
          </a:p>
        </p:txBody>
      </p:sp>
      <p:sp>
        <p:nvSpPr>
          <p:cNvPr id="91" name="Text 90"/>
          <p:cNvSpPr txBox="1"/>
          <p:nvPr/>
        </p:nvSpPr>
        <p:spPr>
          <a:xfrm>
            <a:off x="5555159" y="4014788"/>
            <a:ext cx="28991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12.3x</a:t>
            </a:r>
            <a:endParaRPr lang="en-US" sz="788" dirty="0"/>
          </a:p>
        </p:txBody>
      </p:sp>
      <p:sp>
        <p:nvSpPr>
          <p:cNvPr id="92" name="Text 91"/>
          <p:cNvSpPr txBox="1"/>
          <p:nvPr/>
        </p:nvSpPr>
        <p:spPr>
          <a:xfrm>
            <a:off x="3689300" y="42910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93" name="Text 92"/>
          <p:cNvSpPr txBox="1"/>
          <p:nvPr/>
        </p:nvSpPr>
        <p:spPr>
          <a:xfrm>
            <a:off x="3689300"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94" name="Shape 93"/>
          <p:cNvSpPr/>
          <p:nvPr/>
        </p:nvSpPr>
        <p:spPr>
          <a:xfrm>
            <a:off x="4889450" y="4476750"/>
            <a:ext cx="9525" cy="314325"/>
          </a:xfrm>
          <a:prstGeom prst="rect">
            <a:avLst/>
          </a:prstGeom>
          <a:solidFill>
            <a:srgbClr val="C3BDB6"/>
          </a:solidFill>
          <a:ln/>
        </p:spPr>
        <p:txBody>
          <a:bodyPr/>
          <a:lstStyle/>
          <a:p>
            <a:endParaRPr lang="en-US"/>
          </a:p>
        </p:txBody>
      </p:sp>
      <p:sp>
        <p:nvSpPr>
          <p:cNvPr id="95" name="Shape 94"/>
          <p:cNvSpPr/>
          <p:nvPr/>
        </p:nvSpPr>
        <p:spPr>
          <a:xfrm>
            <a:off x="4889450" y="4572000"/>
            <a:ext cx="632371" cy="114300"/>
          </a:xfrm>
          <a:prstGeom prst="rect">
            <a:avLst/>
          </a:prstGeom>
          <a:solidFill>
            <a:srgbClr val="B68757"/>
          </a:solidFill>
          <a:ln/>
        </p:spPr>
        <p:txBody>
          <a:bodyPr/>
          <a:lstStyle/>
          <a:p>
            <a:endParaRPr lang="en-US"/>
          </a:p>
        </p:txBody>
      </p:sp>
      <p:sp>
        <p:nvSpPr>
          <p:cNvPr id="96" name="Shape 95"/>
          <p:cNvSpPr/>
          <p:nvPr/>
        </p:nvSpPr>
        <p:spPr>
          <a:xfrm>
            <a:off x="5644753" y="4533900"/>
            <a:ext cx="19050" cy="190500"/>
          </a:xfrm>
          <a:prstGeom prst="rect">
            <a:avLst/>
          </a:prstGeom>
          <a:solidFill>
            <a:srgbClr val="1B1A1A"/>
          </a:solidFill>
          <a:ln/>
        </p:spPr>
        <p:txBody>
          <a:bodyPr/>
          <a:lstStyle/>
          <a:p>
            <a:endParaRPr lang="en-US"/>
          </a:p>
        </p:txBody>
      </p:sp>
      <p:sp>
        <p:nvSpPr>
          <p:cNvPr id="97" name="Text 96"/>
          <p:cNvSpPr txBox="1"/>
          <p:nvPr/>
        </p:nvSpPr>
        <p:spPr>
          <a:xfrm>
            <a:off x="5711428" y="4548188"/>
            <a:ext cx="29334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14.6x</a:t>
            </a:r>
            <a:endParaRPr lang="en-US" sz="788" dirty="0"/>
          </a:p>
        </p:txBody>
      </p:sp>
      <p:sp>
        <p:nvSpPr>
          <p:cNvPr id="98" name="Text 97"/>
          <p:cNvSpPr txBox="1"/>
          <p:nvPr/>
        </p:nvSpPr>
        <p:spPr>
          <a:xfrm>
            <a:off x="3689300"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99" name="Shape 98"/>
          <p:cNvSpPr/>
          <p:nvPr/>
        </p:nvSpPr>
        <p:spPr>
          <a:xfrm>
            <a:off x="4889450" y="4791075"/>
            <a:ext cx="9525" cy="314325"/>
          </a:xfrm>
          <a:prstGeom prst="rect">
            <a:avLst/>
          </a:prstGeom>
          <a:solidFill>
            <a:srgbClr val="C3BDB6"/>
          </a:solidFill>
          <a:ln/>
        </p:spPr>
        <p:txBody>
          <a:bodyPr/>
          <a:lstStyle/>
          <a:p>
            <a:endParaRPr lang="en-US"/>
          </a:p>
        </p:txBody>
      </p:sp>
      <p:sp>
        <p:nvSpPr>
          <p:cNvPr id="100" name="Shape 99"/>
          <p:cNvSpPr/>
          <p:nvPr/>
        </p:nvSpPr>
        <p:spPr>
          <a:xfrm>
            <a:off x="4889450" y="4886325"/>
            <a:ext cx="508546" cy="114300"/>
          </a:xfrm>
          <a:prstGeom prst="rect">
            <a:avLst/>
          </a:prstGeom>
          <a:solidFill>
            <a:srgbClr val="B68757"/>
          </a:solidFill>
          <a:ln/>
        </p:spPr>
        <p:txBody>
          <a:bodyPr/>
          <a:lstStyle/>
          <a:p>
            <a:endParaRPr lang="en-US"/>
          </a:p>
        </p:txBody>
      </p:sp>
      <p:sp>
        <p:nvSpPr>
          <p:cNvPr id="101" name="Shape 100"/>
          <p:cNvSpPr/>
          <p:nvPr/>
        </p:nvSpPr>
        <p:spPr>
          <a:xfrm>
            <a:off x="5601891" y="4848225"/>
            <a:ext cx="19050" cy="190500"/>
          </a:xfrm>
          <a:prstGeom prst="rect">
            <a:avLst/>
          </a:prstGeom>
          <a:solidFill>
            <a:srgbClr val="1B1A1A"/>
          </a:solidFill>
          <a:ln/>
        </p:spPr>
        <p:txBody>
          <a:bodyPr/>
          <a:lstStyle/>
          <a:p>
            <a:endParaRPr lang="en-US"/>
          </a:p>
        </p:txBody>
      </p:sp>
      <p:sp>
        <p:nvSpPr>
          <p:cNvPr id="102" name="Text 101"/>
          <p:cNvSpPr txBox="1"/>
          <p:nvPr/>
        </p:nvSpPr>
        <p:spPr>
          <a:xfrm>
            <a:off x="5668566" y="4862513"/>
            <a:ext cx="27295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11.8x</a:t>
            </a:r>
            <a:endParaRPr lang="en-US" sz="788" dirty="0"/>
          </a:p>
        </p:txBody>
      </p:sp>
      <p:sp>
        <p:nvSpPr>
          <p:cNvPr id="103" name="Text 102"/>
          <p:cNvSpPr txBox="1"/>
          <p:nvPr/>
        </p:nvSpPr>
        <p:spPr>
          <a:xfrm>
            <a:off x="3689300"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104" name="Shape 103"/>
          <p:cNvSpPr/>
          <p:nvPr/>
        </p:nvSpPr>
        <p:spPr>
          <a:xfrm>
            <a:off x="4889450" y="5105400"/>
            <a:ext cx="9525" cy="314325"/>
          </a:xfrm>
          <a:prstGeom prst="rect">
            <a:avLst/>
          </a:prstGeom>
          <a:solidFill>
            <a:srgbClr val="C3BDB6"/>
          </a:solidFill>
          <a:ln/>
        </p:spPr>
        <p:txBody>
          <a:bodyPr/>
          <a:lstStyle/>
          <a:p>
            <a:endParaRPr lang="en-US"/>
          </a:p>
        </p:txBody>
      </p:sp>
      <p:sp>
        <p:nvSpPr>
          <p:cNvPr id="105" name="Shape 104"/>
          <p:cNvSpPr/>
          <p:nvPr/>
        </p:nvSpPr>
        <p:spPr>
          <a:xfrm>
            <a:off x="4889450" y="5200650"/>
            <a:ext cx="512415" cy="114300"/>
          </a:xfrm>
          <a:prstGeom prst="rect">
            <a:avLst/>
          </a:prstGeom>
          <a:solidFill>
            <a:srgbClr val="B68757"/>
          </a:solidFill>
          <a:ln/>
        </p:spPr>
        <p:txBody>
          <a:bodyPr/>
          <a:lstStyle/>
          <a:p>
            <a:endParaRPr lang="en-US"/>
          </a:p>
        </p:txBody>
      </p:sp>
      <p:sp>
        <p:nvSpPr>
          <p:cNvPr id="106" name="Shape 105"/>
          <p:cNvSpPr/>
          <p:nvPr/>
        </p:nvSpPr>
        <p:spPr>
          <a:xfrm>
            <a:off x="5521821" y="5162550"/>
            <a:ext cx="19050" cy="190500"/>
          </a:xfrm>
          <a:prstGeom prst="rect">
            <a:avLst/>
          </a:prstGeom>
          <a:solidFill>
            <a:srgbClr val="1B1A1A"/>
          </a:solidFill>
          <a:ln/>
        </p:spPr>
        <p:txBody>
          <a:bodyPr/>
          <a:lstStyle/>
          <a:p>
            <a:endParaRPr lang="en-US"/>
          </a:p>
        </p:txBody>
      </p:sp>
      <p:sp>
        <p:nvSpPr>
          <p:cNvPr id="107" name="Text 106"/>
          <p:cNvSpPr txBox="1"/>
          <p:nvPr/>
        </p:nvSpPr>
        <p:spPr>
          <a:xfrm>
            <a:off x="5588496" y="5176838"/>
            <a:ext cx="27295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11.8x</a:t>
            </a:r>
            <a:endParaRPr lang="en-US" sz="788" dirty="0"/>
          </a:p>
        </p:txBody>
      </p:sp>
      <p:sp>
        <p:nvSpPr>
          <p:cNvPr id="108" name="Shape 107"/>
          <p:cNvSpPr/>
          <p:nvPr/>
        </p:nvSpPr>
        <p:spPr>
          <a:xfrm>
            <a:off x="6654701" y="1238250"/>
            <a:ext cx="2984599" cy="4762500"/>
          </a:xfrm>
          <a:prstGeom prst="rect">
            <a:avLst/>
          </a:prstGeom>
          <a:solidFill>
            <a:srgbClr val="FAF7F3"/>
          </a:solidFill>
          <a:ln/>
        </p:spPr>
        <p:txBody>
          <a:bodyPr/>
          <a:lstStyle/>
          <a:p>
            <a:endParaRPr lang="en-US"/>
          </a:p>
        </p:txBody>
      </p:sp>
      <p:sp>
        <p:nvSpPr>
          <p:cNvPr id="109" name="Shape 108"/>
          <p:cNvSpPr/>
          <p:nvPr/>
        </p:nvSpPr>
        <p:spPr>
          <a:xfrm>
            <a:off x="6654701" y="1238250"/>
            <a:ext cx="2984599" cy="28575"/>
          </a:xfrm>
          <a:prstGeom prst="rect">
            <a:avLst/>
          </a:prstGeom>
          <a:solidFill>
            <a:srgbClr val="B68757"/>
          </a:solidFill>
          <a:ln/>
        </p:spPr>
        <p:txBody>
          <a:bodyPr/>
          <a:lstStyle/>
          <a:p>
            <a:endParaRPr lang="en-US"/>
          </a:p>
        </p:txBody>
      </p:sp>
      <p:sp>
        <p:nvSpPr>
          <p:cNvPr id="110" name="Text 109"/>
          <p:cNvSpPr txBox="1"/>
          <p:nvPr/>
        </p:nvSpPr>
        <p:spPr>
          <a:xfrm>
            <a:off x="6807101" y="1385888"/>
            <a:ext cx="2679799"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forward price to earnings</a:t>
            </a:r>
            <a:endParaRPr lang="en-US" sz="938" dirty="0"/>
          </a:p>
        </p:txBody>
      </p:sp>
      <p:sp>
        <p:nvSpPr>
          <p:cNvPr id="111" name="Text 110"/>
          <p:cNvSpPr txBox="1"/>
          <p:nvPr/>
        </p:nvSpPr>
        <p:spPr>
          <a:xfrm>
            <a:off x="6807101" y="1552575"/>
            <a:ext cx="2679799"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Share price to consensus earnings for the next year</a:t>
            </a:r>
            <a:endParaRPr lang="en-US" sz="705" dirty="0"/>
          </a:p>
        </p:txBody>
      </p:sp>
      <p:sp>
        <p:nvSpPr>
          <p:cNvPr id="112" name="Text 111"/>
          <p:cNvSpPr txBox="1"/>
          <p:nvPr/>
        </p:nvSpPr>
        <p:spPr>
          <a:xfrm>
            <a:off x="6807101" y="1747838"/>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13" name="Text 112"/>
          <p:cNvSpPr txBox="1"/>
          <p:nvPr/>
        </p:nvSpPr>
        <p:spPr>
          <a:xfrm>
            <a:off x="6807101"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14" name="Shape 113"/>
          <p:cNvSpPr/>
          <p:nvPr/>
        </p:nvSpPr>
        <p:spPr>
          <a:xfrm>
            <a:off x="8007251" y="1933575"/>
            <a:ext cx="9525" cy="314325"/>
          </a:xfrm>
          <a:prstGeom prst="rect">
            <a:avLst/>
          </a:prstGeom>
          <a:solidFill>
            <a:srgbClr val="C3BDB6"/>
          </a:solidFill>
          <a:ln/>
        </p:spPr>
        <p:txBody>
          <a:bodyPr/>
          <a:lstStyle/>
          <a:p>
            <a:endParaRPr lang="en-US"/>
          </a:p>
        </p:txBody>
      </p:sp>
      <p:sp>
        <p:nvSpPr>
          <p:cNvPr id="115" name="Shape 114"/>
          <p:cNvSpPr/>
          <p:nvPr/>
        </p:nvSpPr>
        <p:spPr>
          <a:xfrm>
            <a:off x="8007251" y="2028825"/>
            <a:ext cx="390525" cy="114300"/>
          </a:xfrm>
          <a:prstGeom prst="rect">
            <a:avLst/>
          </a:prstGeom>
          <a:solidFill>
            <a:srgbClr val="B68757"/>
          </a:solidFill>
          <a:ln/>
        </p:spPr>
        <p:txBody>
          <a:bodyPr/>
          <a:lstStyle/>
          <a:p>
            <a:endParaRPr lang="en-US"/>
          </a:p>
        </p:txBody>
      </p:sp>
      <p:sp>
        <p:nvSpPr>
          <p:cNvPr id="116" name="Text 115"/>
          <p:cNvSpPr txBox="1"/>
          <p:nvPr/>
        </p:nvSpPr>
        <p:spPr>
          <a:xfrm>
            <a:off x="8454926" y="2005013"/>
            <a:ext cx="25211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11.1x</a:t>
            </a:r>
            <a:endParaRPr lang="en-US" sz="788" dirty="0"/>
          </a:p>
        </p:txBody>
      </p:sp>
      <p:sp>
        <p:nvSpPr>
          <p:cNvPr id="117" name="Text 116"/>
          <p:cNvSpPr txBox="1"/>
          <p:nvPr/>
        </p:nvSpPr>
        <p:spPr>
          <a:xfrm>
            <a:off x="6807101"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18" name="Shape 117"/>
          <p:cNvSpPr/>
          <p:nvPr/>
        </p:nvSpPr>
        <p:spPr>
          <a:xfrm>
            <a:off x="8007251" y="2247900"/>
            <a:ext cx="9525" cy="314325"/>
          </a:xfrm>
          <a:prstGeom prst="rect">
            <a:avLst/>
          </a:prstGeom>
          <a:solidFill>
            <a:srgbClr val="C3BDB6"/>
          </a:solidFill>
          <a:ln/>
        </p:spPr>
        <p:txBody>
          <a:bodyPr/>
          <a:lstStyle/>
          <a:p>
            <a:endParaRPr lang="en-US"/>
          </a:p>
        </p:txBody>
      </p:sp>
      <p:sp>
        <p:nvSpPr>
          <p:cNvPr id="119" name="Shape 118"/>
          <p:cNvSpPr/>
          <p:nvPr/>
        </p:nvSpPr>
        <p:spPr>
          <a:xfrm>
            <a:off x="8007251" y="2343150"/>
            <a:ext cx="608558" cy="114300"/>
          </a:xfrm>
          <a:prstGeom prst="rect">
            <a:avLst/>
          </a:prstGeom>
          <a:solidFill>
            <a:srgbClr val="B68757"/>
          </a:solidFill>
          <a:ln/>
        </p:spPr>
        <p:txBody>
          <a:bodyPr/>
          <a:lstStyle/>
          <a:p>
            <a:endParaRPr lang="en-US"/>
          </a:p>
        </p:txBody>
      </p:sp>
      <p:sp>
        <p:nvSpPr>
          <p:cNvPr id="120" name="Text 119"/>
          <p:cNvSpPr txBox="1"/>
          <p:nvPr/>
        </p:nvSpPr>
        <p:spPr>
          <a:xfrm>
            <a:off x="8672959" y="2319338"/>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17.3x</a:t>
            </a:r>
            <a:endParaRPr lang="en-US" sz="788" dirty="0"/>
          </a:p>
        </p:txBody>
      </p:sp>
      <p:sp>
        <p:nvSpPr>
          <p:cNvPr id="121" name="Text 120"/>
          <p:cNvSpPr txBox="1"/>
          <p:nvPr/>
        </p:nvSpPr>
        <p:spPr>
          <a:xfrm>
            <a:off x="6807101"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122" name="Shape 121"/>
          <p:cNvSpPr/>
          <p:nvPr/>
        </p:nvSpPr>
        <p:spPr>
          <a:xfrm>
            <a:off x="8007251" y="2562225"/>
            <a:ext cx="9525" cy="314325"/>
          </a:xfrm>
          <a:prstGeom prst="rect">
            <a:avLst/>
          </a:prstGeom>
          <a:solidFill>
            <a:srgbClr val="C3BDB6"/>
          </a:solidFill>
          <a:ln/>
        </p:spPr>
        <p:txBody>
          <a:bodyPr/>
          <a:lstStyle/>
          <a:p>
            <a:endParaRPr lang="en-US"/>
          </a:p>
        </p:txBody>
      </p:sp>
      <p:sp>
        <p:nvSpPr>
          <p:cNvPr id="123" name="Shape 122"/>
          <p:cNvSpPr/>
          <p:nvPr/>
        </p:nvSpPr>
        <p:spPr>
          <a:xfrm>
            <a:off x="8007251" y="2657475"/>
            <a:ext cx="606623" cy="114300"/>
          </a:xfrm>
          <a:prstGeom prst="rect">
            <a:avLst/>
          </a:prstGeom>
          <a:solidFill>
            <a:srgbClr val="B68757"/>
          </a:solidFill>
          <a:ln/>
        </p:spPr>
        <p:txBody>
          <a:bodyPr/>
          <a:lstStyle/>
          <a:p>
            <a:endParaRPr lang="en-US"/>
          </a:p>
        </p:txBody>
      </p:sp>
      <p:sp>
        <p:nvSpPr>
          <p:cNvPr id="124" name="Text 123"/>
          <p:cNvSpPr txBox="1"/>
          <p:nvPr/>
        </p:nvSpPr>
        <p:spPr>
          <a:xfrm>
            <a:off x="8671024" y="2633663"/>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17.3x</a:t>
            </a:r>
            <a:endParaRPr lang="en-US" sz="788" dirty="0"/>
          </a:p>
        </p:txBody>
      </p:sp>
      <p:sp>
        <p:nvSpPr>
          <p:cNvPr id="125" name="Text 124"/>
          <p:cNvSpPr txBox="1"/>
          <p:nvPr/>
        </p:nvSpPr>
        <p:spPr>
          <a:xfrm>
            <a:off x="6807101" y="2909888"/>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126" name="Text 125"/>
          <p:cNvSpPr txBox="1"/>
          <p:nvPr/>
        </p:nvSpPr>
        <p:spPr>
          <a:xfrm>
            <a:off x="6807101"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127" name="Shape 126"/>
          <p:cNvSpPr/>
          <p:nvPr/>
        </p:nvSpPr>
        <p:spPr>
          <a:xfrm>
            <a:off x="8007251" y="3095625"/>
            <a:ext cx="9525" cy="314325"/>
          </a:xfrm>
          <a:prstGeom prst="rect">
            <a:avLst/>
          </a:prstGeom>
          <a:solidFill>
            <a:srgbClr val="C3BDB6"/>
          </a:solidFill>
          <a:ln/>
        </p:spPr>
        <p:txBody>
          <a:bodyPr/>
          <a:lstStyle/>
          <a:p>
            <a:endParaRPr lang="en-US"/>
          </a:p>
        </p:txBody>
      </p:sp>
      <p:sp>
        <p:nvSpPr>
          <p:cNvPr id="128" name="Shape 127"/>
          <p:cNvSpPr/>
          <p:nvPr/>
        </p:nvSpPr>
        <p:spPr>
          <a:xfrm>
            <a:off x="8007251" y="3190875"/>
            <a:ext cx="810518" cy="114300"/>
          </a:xfrm>
          <a:prstGeom prst="rect">
            <a:avLst/>
          </a:prstGeom>
          <a:solidFill>
            <a:srgbClr val="B68757"/>
          </a:solidFill>
          <a:ln/>
        </p:spPr>
        <p:txBody>
          <a:bodyPr/>
          <a:lstStyle/>
          <a:p>
            <a:endParaRPr lang="en-US"/>
          </a:p>
        </p:txBody>
      </p:sp>
      <p:sp>
        <p:nvSpPr>
          <p:cNvPr id="129" name="Text 128"/>
          <p:cNvSpPr txBox="1"/>
          <p:nvPr/>
        </p:nvSpPr>
        <p:spPr>
          <a:xfrm>
            <a:off x="8874919" y="3167063"/>
            <a:ext cx="28485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23.1x</a:t>
            </a:r>
            <a:endParaRPr lang="en-US" sz="788" dirty="0"/>
          </a:p>
        </p:txBody>
      </p:sp>
      <p:sp>
        <p:nvSpPr>
          <p:cNvPr id="130" name="Text 129"/>
          <p:cNvSpPr txBox="1"/>
          <p:nvPr/>
        </p:nvSpPr>
        <p:spPr>
          <a:xfrm>
            <a:off x="6807101"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131" name="Shape 130"/>
          <p:cNvSpPr/>
          <p:nvPr/>
        </p:nvSpPr>
        <p:spPr>
          <a:xfrm>
            <a:off x="8007251" y="3409950"/>
            <a:ext cx="9525" cy="314325"/>
          </a:xfrm>
          <a:prstGeom prst="rect">
            <a:avLst/>
          </a:prstGeom>
          <a:solidFill>
            <a:srgbClr val="C3BDB6"/>
          </a:solidFill>
          <a:ln/>
        </p:spPr>
        <p:txBody>
          <a:bodyPr/>
          <a:lstStyle/>
          <a:p>
            <a:endParaRPr lang="en-US"/>
          </a:p>
        </p:txBody>
      </p:sp>
      <p:sp>
        <p:nvSpPr>
          <p:cNvPr id="132" name="Shape 131"/>
          <p:cNvSpPr/>
          <p:nvPr/>
        </p:nvSpPr>
        <p:spPr>
          <a:xfrm>
            <a:off x="8007251" y="3505200"/>
            <a:ext cx="443805" cy="114300"/>
          </a:xfrm>
          <a:prstGeom prst="rect">
            <a:avLst/>
          </a:prstGeom>
          <a:solidFill>
            <a:srgbClr val="B68757"/>
          </a:solidFill>
          <a:ln/>
        </p:spPr>
        <p:txBody>
          <a:bodyPr/>
          <a:lstStyle/>
          <a:p>
            <a:endParaRPr lang="en-US"/>
          </a:p>
        </p:txBody>
      </p:sp>
      <p:sp>
        <p:nvSpPr>
          <p:cNvPr id="133" name="Text 132"/>
          <p:cNvSpPr txBox="1"/>
          <p:nvPr/>
        </p:nvSpPr>
        <p:spPr>
          <a:xfrm>
            <a:off x="8508206" y="3481388"/>
            <a:ext cx="291108"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12.7x</a:t>
            </a:r>
            <a:endParaRPr lang="en-US" sz="788" dirty="0"/>
          </a:p>
        </p:txBody>
      </p:sp>
      <p:sp>
        <p:nvSpPr>
          <p:cNvPr id="134" name="Text 133"/>
          <p:cNvSpPr txBox="1"/>
          <p:nvPr/>
        </p:nvSpPr>
        <p:spPr>
          <a:xfrm>
            <a:off x="6807101" y="3757613"/>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135" name="Text 134"/>
          <p:cNvSpPr txBox="1"/>
          <p:nvPr/>
        </p:nvSpPr>
        <p:spPr>
          <a:xfrm>
            <a:off x="6807101"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136" name="Shape 135"/>
          <p:cNvSpPr/>
          <p:nvPr/>
        </p:nvSpPr>
        <p:spPr>
          <a:xfrm>
            <a:off x="8007251" y="3943350"/>
            <a:ext cx="9525" cy="314325"/>
          </a:xfrm>
          <a:prstGeom prst="rect">
            <a:avLst/>
          </a:prstGeom>
          <a:solidFill>
            <a:srgbClr val="C3BDB6"/>
          </a:solidFill>
          <a:ln/>
        </p:spPr>
        <p:txBody>
          <a:bodyPr/>
          <a:lstStyle/>
          <a:p>
            <a:endParaRPr lang="en-US"/>
          </a:p>
        </p:txBody>
      </p:sp>
      <p:sp>
        <p:nvSpPr>
          <p:cNvPr id="137" name="Shape 136"/>
          <p:cNvSpPr/>
          <p:nvPr/>
        </p:nvSpPr>
        <p:spPr>
          <a:xfrm>
            <a:off x="8007251" y="4038600"/>
            <a:ext cx="558998" cy="114300"/>
          </a:xfrm>
          <a:prstGeom prst="rect">
            <a:avLst/>
          </a:prstGeom>
          <a:solidFill>
            <a:srgbClr val="B68757"/>
          </a:solidFill>
          <a:ln/>
        </p:spPr>
        <p:txBody>
          <a:bodyPr/>
          <a:lstStyle/>
          <a:p>
            <a:endParaRPr lang="en-US"/>
          </a:p>
        </p:txBody>
      </p:sp>
      <p:sp>
        <p:nvSpPr>
          <p:cNvPr id="138" name="Text 137"/>
          <p:cNvSpPr txBox="1"/>
          <p:nvPr/>
        </p:nvSpPr>
        <p:spPr>
          <a:xfrm>
            <a:off x="8623399" y="4014788"/>
            <a:ext cx="28962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15.9x</a:t>
            </a:r>
            <a:endParaRPr lang="en-US" sz="788" dirty="0"/>
          </a:p>
        </p:txBody>
      </p:sp>
      <p:sp>
        <p:nvSpPr>
          <p:cNvPr id="139" name="Text 138"/>
          <p:cNvSpPr txBox="1"/>
          <p:nvPr/>
        </p:nvSpPr>
        <p:spPr>
          <a:xfrm>
            <a:off x="6807101" y="4291013"/>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140" name="Text 139"/>
          <p:cNvSpPr txBox="1"/>
          <p:nvPr/>
        </p:nvSpPr>
        <p:spPr>
          <a:xfrm>
            <a:off x="6807101"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141" name="Shape 140"/>
          <p:cNvSpPr/>
          <p:nvPr/>
        </p:nvSpPr>
        <p:spPr>
          <a:xfrm>
            <a:off x="8007251" y="4476750"/>
            <a:ext cx="9525" cy="314325"/>
          </a:xfrm>
          <a:prstGeom prst="rect">
            <a:avLst/>
          </a:prstGeom>
          <a:solidFill>
            <a:srgbClr val="C3BDB6"/>
          </a:solidFill>
          <a:ln/>
        </p:spPr>
        <p:txBody>
          <a:bodyPr/>
          <a:lstStyle/>
          <a:p>
            <a:endParaRPr lang="en-US"/>
          </a:p>
        </p:txBody>
      </p:sp>
      <p:sp>
        <p:nvSpPr>
          <p:cNvPr id="142" name="Shape 141"/>
          <p:cNvSpPr/>
          <p:nvPr/>
        </p:nvSpPr>
        <p:spPr>
          <a:xfrm>
            <a:off x="8007251" y="4572000"/>
            <a:ext cx="617190" cy="114300"/>
          </a:xfrm>
          <a:prstGeom prst="rect">
            <a:avLst/>
          </a:prstGeom>
          <a:solidFill>
            <a:srgbClr val="B68757"/>
          </a:solidFill>
          <a:ln/>
        </p:spPr>
        <p:txBody>
          <a:bodyPr/>
          <a:lstStyle/>
          <a:p>
            <a:endParaRPr lang="en-US"/>
          </a:p>
        </p:txBody>
      </p:sp>
      <p:sp>
        <p:nvSpPr>
          <p:cNvPr id="143" name="Text 142"/>
          <p:cNvSpPr txBox="1"/>
          <p:nvPr/>
        </p:nvSpPr>
        <p:spPr>
          <a:xfrm>
            <a:off x="8681591" y="4548188"/>
            <a:ext cx="28247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17.6x</a:t>
            </a:r>
            <a:endParaRPr lang="en-US" sz="788" dirty="0"/>
          </a:p>
        </p:txBody>
      </p:sp>
      <p:sp>
        <p:nvSpPr>
          <p:cNvPr id="144" name="Text 143"/>
          <p:cNvSpPr txBox="1"/>
          <p:nvPr/>
        </p:nvSpPr>
        <p:spPr>
          <a:xfrm>
            <a:off x="6807101"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145" name="Shape 144"/>
          <p:cNvSpPr/>
          <p:nvPr/>
        </p:nvSpPr>
        <p:spPr>
          <a:xfrm>
            <a:off x="8007251" y="4791075"/>
            <a:ext cx="9525" cy="314325"/>
          </a:xfrm>
          <a:prstGeom prst="rect">
            <a:avLst/>
          </a:prstGeom>
          <a:solidFill>
            <a:srgbClr val="C3BDB6"/>
          </a:solidFill>
          <a:ln/>
        </p:spPr>
        <p:txBody>
          <a:bodyPr/>
          <a:lstStyle/>
          <a:p>
            <a:endParaRPr lang="en-US"/>
          </a:p>
        </p:txBody>
      </p:sp>
      <p:sp>
        <p:nvSpPr>
          <p:cNvPr id="146" name="Shape 145"/>
          <p:cNvSpPr/>
          <p:nvPr/>
        </p:nvSpPr>
        <p:spPr>
          <a:xfrm>
            <a:off x="8007251" y="4886325"/>
            <a:ext cx="608558" cy="114300"/>
          </a:xfrm>
          <a:prstGeom prst="rect">
            <a:avLst/>
          </a:prstGeom>
          <a:solidFill>
            <a:srgbClr val="B68757"/>
          </a:solidFill>
          <a:ln/>
        </p:spPr>
        <p:txBody>
          <a:bodyPr/>
          <a:lstStyle/>
          <a:p>
            <a:endParaRPr lang="en-US"/>
          </a:p>
        </p:txBody>
      </p:sp>
      <p:sp>
        <p:nvSpPr>
          <p:cNvPr id="147" name="Text 146"/>
          <p:cNvSpPr txBox="1"/>
          <p:nvPr/>
        </p:nvSpPr>
        <p:spPr>
          <a:xfrm>
            <a:off x="8672959" y="4862513"/>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17.3x</a:t>
            </a:r>
            <a:endParaRPr lang="en-US" sz="788" dirty="0"/>
          </a:p>
        </p:txBody>
      </p:sp>
      <p:sp>
        <p:nvSpPr>
          <p:cNvPr id="148" name="Text 147"/>
          <p:cNvSpPr txBox="1"/>
          <p:nvPr/>
        </p:nvSpPr>
        <p:spPr>
          <a:xfrm>
            <a:off x="6807101"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149" name="Shape 148"/>
          <p:cNvSpPr/>
          <p:nvPr/>
        </p:nvSpPr>
        <p:spPr>
          <a:xfrm>
            <a:off x="8007251" y="5105400"/>
            <a:ext cx="9525" cy="314325"/>
          </a:xfrm>
          <a:prstGeom prst="rect">
            <a:avLst/>
          </a:prstGeom>
          <a:solidFill>
            <a:srgbClr val="C3BDB6"/>
          </a:solidFill>
          <a:ln/>
        </p:spPr>
        <p:txBody>
          <a:bodyPr/>
          <a:lstStyle/>
          <a:p>
            <a:endParaRPr lang="en-US"/>
          </a:p>
        </p:txBody>
      </p:sp>
      <p:sp>
        <p:nvSpPr>
          <p:cNvPr id="150" name="Shape 149"/>
          <p:cNvSpPr/>
          <p:nvPr/>
        </p:nvSpPr>
        <p:spPr>
          <a:xfrm>
            <a:off x="8007251" y="5200650"/>
            <a:ext cx="579983" cy="114300"/>
          </a:xfrm>
          <a:prstGeom prst="rect">
            <a:avLst/>
          </a:prstGeom>
          <a:solidFill>
            <a:srgbClr val="B68757"/>
          </a:solidFill>
          <a:ln/>
        </p:spPr>
        <p:txBody>
          <a:bodyPr/>
          <a:lstStyle/>
          <a:p>
            <a:endParaRPr lang="en-US"/>
          </a:p>
        </p:txBody>
      </p:sp>
      <p:sp>
        <p:nvSpPr>
          <p:cNvPr id="151" name="Text 150"/>
          <p:cNvSpPr txBox="1"/>
          <p:nvPr/>
        </p:nvSpPr>
        <p:spPr>
          <a:xfrm>
            <a:off x="8644384" y="5176838"/>
            <a:ext cx="29215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16.5x</a:t>
            </a:r>
            <a:endParaRPr lang="en-US" sz="788" dirty="0"/>
          </a:p>
        </p:txBody>
      </p:sp>
      <p:sp>
        <p:nvSpPr>
          <p:cNvPr id="152" name="Shape 151"/>
          <p:cNvSpPr/>
          <p:nvPr/>
        </p:nvSpPr>
        <p:spPr>
          <a:xfrm>
            <a:off x="419100" y="6115050"/>
            <a:ext cx="9220200" cy="819150"/>
          </a:xfrm>
          <a:prstGeom prst="rect">
            <a:avLst/>
          </a:prstGeom>
          <a:solidFill>
            <a:srgbClr val="1B1A1A"/>
          </a:solidFill>
          <a:ln/>
        </p:spPr>
        <p:txBody>
          <a:bodyPr/>
          <a:lstStyle/>
          <a:p>
            <a:endParaRPr lang="en-US"/>
          </a:p>
        </p:txBody>
      </p:sp>
      <p:sp>
        <p:nvSpPr>
          <p:cNvPr id="153" name="Text 152"/>
          <p:cNvSpPr txBox="1"/>
          <p:nvPr/>
        </p:nvSpPr>
        <p:spPr>
          <a:xfrm>
            <a:off x="609600" y="6319838"/>
            <a:ext cx="1004887" cy="400050"/>
          </a:xfrm>
          <a:prstGeom prst="rect">
            <a:avLst/>
          </a:prstGeom>
          <a:noFill/>
          <a:ln/>
        </p:spPr>
        <p:txBody>
          <a:bodyPr wrap="square" lIns="0" tIns="0" rIns="0" bIns="0" rtlCol="0" anchor="t"/>
          <a:lstStyle/>
          <a:p>
            <a:pPr marL="0" indent="0" algn="l">
              <a:lnSpc>
                <a:spcPts val="1050"/>
              </a:lnSpc>
              <a:buNone/>
            </a:pPr>
            <a:r>
              <a:rPr lang="en-US" sz="675" b="1" kern="0" spc="165" dirty="0">
                <a:solidFill>
                  <a:srgbClr val="D3AE84"/>
                </a:solidFill>
                <a:latin typeface="Quicksand" pitchFamily="34" charset="0"/>
              </a:rPr>
              <a:t>DISCLOSED DEAL MULTIPLES SINCE 2025</a:t>
            </a:r>
            <a:endParaRPr lang="en-US" sz="675" dirty="0"/>
          </a:p>
        </p:txBody>
      </p:sp>
      <p:sp>
        <p:nvSpPr>
          <p:cNvPr id="154" name="Shape 153"/>
          <p:cNvSpPr/>
          <p:nvPr/>
        </p:nvSpPr>
        <p:spPr>
          <a:xfrm>
            <a:off x="1771650" y="6276975"/>
            <a:ext cx="9525" cy="495300"/>
          </a:xfrm>
          <a:prstGeom prst="rect">
            <a:avLst/>
          </a:prstGeom>
          <a:solidFill>
            <a:srgbClr val="FFFFFF">
              <a:alpha val="20000"/>
            </a:srgbClr>
          </a:solidFill>
          <a:ln/>
        </p:spPr>
        <p:txBody>
          <a:bodyPr/>
          <a:lstStyle/>
          <a:p>
            <a:endParaRPr lang="en-US"/>
          </a:p>
        </p:txBody>
      </p:sp>
      <p:sp>
        <p:nvSpPr>
          <p:cNvPr id="155" name="Text 154"/>
          <p:cNvSpPr txBox="1"/>
          <p:nvPr/>
        </p:nvSpPr>
        <p:spPr>
          <a:xfrm>
            <a:off x="1952625" y="6276975"/>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14.3x</a:t>
            </a:r>
            <a:endParaRPr lang="en-US" sz="1650" dirty="0"/>
          </a:p>
        </p:txBody>
      </p:sp>
      <p:sp>
        <p:nvSpPr>
          <p:cNvPr id="156" name="Text 155"/>
          <p:cNvSpPr txBox="1"/>
          <p:nvPr/>
        </p:nvSpPr>
        <p:spPr>
          <a:xfrm>
            <a:off x="1952625" y="6524625"/>
            <a:ext cx="1207740"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trailing adjusted EBITDA: Kimberly-Clark for </a:t>
            </a:r>
            <a:r>
              <a:rPr lang="en-US" sz="705" u="sng" kern="0" spc="15" dirty="0">
                <a:solidFill>
                  <a:srgbClr val="D3AE84"/>
                </a:solidFill>
                <a:latin typeface="Quicksand" pitchFamily="34" charset="0"/>
                <a:hlinkClick r:id="rId3">
                  <a:extLst>
                    <a:ext uri="{A12FA001-AC4F-418D-AE19-62706E023703}">
                      <ahyp:hlinkClr xmlns:ahyp="http://schemas.microsoft.com/office/drawing/2018/hyperlinkcolor" val="tx"/>
                    </a:ext>
                  </a:extLst>
                </a:hlinkClick>
              </a:rPr>
              <a:t>Kenvue</a:t>
            </a:r>
            <a:endParaRPr lang="en-US" sz="705" dirty="0"/>
          </a:p>
        </p:txBody>
      </p:sp>
      <p:sp>
        <p:nvSpPr>
          <p:cNvPr id="157" name="Shape 156"/>
          <p:cNvSpPr/>
          <p:nvPr/>
        </p:nvSpPr>
        <p:spPr>
          <a:xfrm>
            <a:off x="3317528" y="6215063"/>
            <a:ext cx="9525" cy="619125"/>
          </a:xfrm>
          <a:prstGeom prst="rect">
            <a:avLst/>
          </a:prstGeom>
          <a:solidFill>
            <a:srgbClr val="FFFFFF">
              <a:alpha val="20000"/>
            </a:srgbClr>
          </a:solidFill>
          <a:ln/>
        </p:spPr>
        <p:txBody>
          <a:bodyPr/>
          <a:lstStyle/>
          <a:p>
            <a:endParaRPr lang="en-US"/>
          </a:p>
        </p:txBody>
      </p:sp>
      <p:sp>
        <p:nvSpPr>
          <p:cNvPr id="158" name="Text 157"/>
          <p:cNvSpPr txBox="1"/>
          <p:nvPr/>
        </p:nvSpPr>
        <p:spPr>
          <a:xfrm>
            <a:off x="3498503" y="6215063"/>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14.6x</a:t>
            </a:r>
            <a:endParaRPr lang="en-US" sz="1650" dirty="0"/>
          </a:p>
        </p:txBody>
      </p:sp>
      <p:sp>
        <p:nvSpPr>
          <p:cNvPr id="159" name="Text 158"/>
          <p:cNvSpPr txBox="1"/>
          <p:nvPr/>
        </p:nvSpPr>
        <p:spPr>
          <a:xfrm>
            <a:off x="3498503" y="6462713"/>
            <a:ext cx="1207740"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2025 operating income: Sysco for </a:t>
            </a:r>
            <a:r>
              <a:rPr lang="en-US" sz="705" u="sng" kern="0" spc="15" dirty="0">
                <a:solidFill>
                  <a:srgbClr val="D3AE84"/>
                </a:solidFill>
                <a:latin typeface="Quicksand" pitchFamily="34" charset="0"/>
                <a:hlinkClick r:id="rId4">
                  <a:extLst>
                    <a:ext uri="{A12FA001-AC4F-418D-AE19-62706E023703}">
                      <ahyp:hlinkClr xmlns:ahyp="http://schemas.microsoft.com/office/drawing/2018/hyperlinkcolor" val="tx"/>
                    </a:ext>
                  </a:extLst>
                </a:hlinkClick>
              </a:rPr>
              <a:t>Jetro Restaurant Depot</a:t>
            </a:r>
            <a:endParaRPr lang="en-US" sz="705" dirty="0"/>
          </a:p>
        </p:txBody>
      </p:sp>
      <p:sp>
        <p:nvSpPr>
          <p:cNvPr id="160" name="Shape 159"/>
          <p:cNvSpPr/>
          <p:nvPr/>
        </p:nvSpPr>
        <p:spPr>
          <a:xfrm>
            <a:off x="4863405" y="6215063"/>
            <a:ext cx="9525" cy="619125"/>
          </a:xfrm>
          <a:prstGeom prst="rect">
            <a:avLst/>
          </a:prstGeom>
          <a:solidFill>
            <a:srgbClr val="FFFFFF">
              <a:alpha val="20000"/>
            </a:srgbClr>
          </a:solidFill>
          <a:ln/>
        </p:spPr>
        <p:txBody>
          <a:bodyPr/>
          <a:lstStyle/>
          <a:p>
            <a:endParaRPr lang="en-US"/>
          </a:p>
        </p:txBody>
      </p:sp>
      <p:sp>
        <p:nvSpPr>
          <p:cNvPr id="161" name="Text 160"/>
          <p:cNvSpPr txBox="1"/>
          <p:nvPr/>
        </p:nvSpPr>
        <p:spPr>
          <a:xfrm>
            <a:off x="5044380" y="6215063"/>
            <a:ext cx="143217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12.7x</a:t>
            </a:r>
            <a:endParaRPr lang="en-US" sz="1650" dirty="0"/>
          </a:p>
        </p:txBody>
      </p:sp>
      <p:sp>
        <p:nvSpPr>
          <p:cNvPr id="162" name="Text 161"/>
          <p:cNvSpPr txBox="1"/>
          <p:nvPr/>
        </p:nvSpPr>
        <p:spPr>
          <a:xfrm>
            <a:off x="5044380" y="6462713"/>
            <a:ext cx="1446461"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trailing EBITDA before the earn-out: Church &amp; Dwight for </a:t>
            </a:r>
            <a:r>
              <a:rPr lang="en-US" sz="705" u="sng" kern="0" spc="15" dirty="0">
                <a:solidFill>
                  <a:srgbClr val="D3AE84"/>
                </a:solidFill>
                <a:latin typeface="Quicksand" pitchFamily="34" charset="0"/>
                <a:hlinkClick r:id="rId5">
                  <a:extLst>
                    <a:ext uri="{A12FA001-AC4F-418D-AE19-62706E023703}">
                      <ahyp:hlinkClr xmlns:ahyp="http://schemas.microsoft.com/office/drawing/2018/hyperlinkcolor" val="tx"/>
                    </a:ext>
                  </a:extLst>
                </a:hlinkClick>
              </a:rPr>
              <a:t>Touchland</a:t>
            </a:r>
            <a:r>
              <a:rPr lang="en-US" sz="705" kern="0" spc="15" dirty="0">
                <a:solidFill>
                  <a:srgbClr val="E8E2DA"/>
                </a:solidFill>
                <a:latin typeface="Quicksand" pitchFamily="34" charset="0"/>
              </a:rPr>
              <a:t>, calculated</a:t>
            </a:r>
            <a:endParaRPr lang="en-US" sz="705" dirty="0"/>
          </a:p>
        </p:txBody>
      </p:sp>
      <p:sp>
        <p:nvSpPr>
          <p:cNvPr id="163" name="Shape 162"/>
          <p:cNvSpPr/>
          <p:nvPr/>
        </p:nvSpPr>
        <p:spPr>
          <a:xfrm>
            <a:off x="6648004" y="6215063"/>
            <a:ext cx="9525" cy="619125"/>
          </a:xfrm>
          <a:prstGeom prst="rect">
            <a:avLst/>
          </a:prstGeom>
          <a:solidFill>
            <a:srgbClr val="FFFFFF">
              <a:alpha val="20000"/>
            </a:srgbClr>
          </a:solidFill>
          <a:ln/>
        </p:spPr>
        <p:txBody>
          <a:bodyPr/>
          <a:lstStyle/>
          <a:p>
            <a:endParaRPr lang="en-US"/>
          </a:p>
        </p:txBody>
      </p:sp>
      <p:sp>
        <p:nvSpPr>
          <p:cNvPr id="164" name="Text 163"/>
          <p:cNvSpPr txBox="1"/>
          <p:nvPr/>
        </p:nvSpPr>
        <p:spPr>
          <a:xfrm>
            <a:off x="6828979" y="6215063"/>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11.0x</a:t>
            </a:r>
            <a:endParaRPr lang="en-US" sz="1650" dirty="0"/>
          </a:p>
        </p:txBody>
      </p:sp>
      <p:sp>
        <p:nvSpPr>
          <p:cNvPr id="165" name="Text 164"/>
          <p:cNvSpPr txBox="1"/>
          <p:nvPr/>
        </p:nvSpPr>
        <p:spPr>
          <a:xfrm>
            <a:off x="6828979" y="6462713"/>
            <a:ext cx="1207740"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EBITDA: Prestige for </a:t>
            </a:r>
            <a:r>
              <a:rPr lang="en-US" sz="705" u="sng" kern="0" spc="15" dirty="0">
                <a:solidFill>
                  <a:srgbClr val="D3AE84"/>
                </a:solidFill>
                <a:latin typeface="Quicksand" pitchFamily="34" charset="0"/>
                <a:hlinkClick r:id="rId6">
                  <a:extLst>
                    <a:ext uri="{A12FA001-AC4F-418D-AE19-62706E023703}">
                      <ahyp:hlinkClr xmlns:ahyp="http://schemas.microsoft.com/office/drawing/2018/hyperlinkcolor" val="tx"/>
                    </a:ext>
                  </a:extLst>
                </a:hlinkClick>
              </a:rPr>
              <a:t>Breathe Right and other brands</a:t>
            </a:r>
            <a:endParaRPr lang="en-US" sz="705" dirty="0"/>
          </a:p>
        </p:txBody>
      </p:sp>
      <p:sp>
        <p:nvSpPr>
          <p:cNvPr id="166" name="Shape 165"/>
          <p:cNvSpPr/>
          <p:nvPr/>
        </p:nvSpPr>
        <p:spPr>
          <a:xfrm>
            <a:off x="8193881" y="6276975"/>
            <a:ext cx="9525" cy="495300"/>
          </a:xfrm>
          <a:prstGeom prst="rect">
            <a:avLst/>
          </a:prstGeom>
          <a:solidFill>
            <a:srgbClr val="FFFFFF">
              <a:alpha val="20000"/>
            </a:srgbClr>
          </a:solidFill>
          <a:ln/>
        </p:spPr>
        <p:txBody>
          <a:bodyPr/>
          <a:lstStyle/>
          <a:p>
            <a:endParaRPr lang="en-US"/>
          </a:p>
        </p:txBody>
      </p:sp>
      <p:sp>
        <p:nvSpPr>
          <p:cNvPr id="167" name="Text 166"/>
          <p:cNvSpPr txBox="1"/>
          <p:nvPr/>
        </p:nvSpPr>
        <p:spPr>
          <a:xfrm>
            <a:off x="8374856" y="6276975"/>
            <a:ext cx="107409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5.0x</a:t>
            </a:r>
            <a:endParaRPr lang="en-US" sz="1650" dirty="0"/>
          </a:p>
        </p:txBody>
      </p:sp>
      <p:sp>
        <p:nvSpPr>
          <p:cNvPr id="168" name="Text 167"/>
          <p:cNvSpPr txBox="1"/>
          <p:nvPr/>
        </p:nvSpPr>
        <p:spPr>
          <a:xfrm>
            <a:off x="8374856" y="6524625"/>
            <a:ext cx="1088380"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projected EBITDA: HF Foods for </a:t>
            </a:r>
            <a:r>
              <a:rPr lang="en-US" sz="705" u="sng" kern="0" spc="15" dirty="0">
                <a:solidFill>
                  <a:srgbClr val="D3AE84"/>
                </a:solidFill>
                <a:latin typeface="Quicksand" pitchFamily="34" charset="0"/>
                <a:hlinkClick r:id="rId7">
                  <a:extLst>
                    <a:ext uri="{A12FA001-AC4F-418D-AE19-62706E023703}">
                      <ahyp:hlinkClr xmlns:ahyp="http://schemas.microsoft.com/office/drawing/2018/hyperlinkcolor" val="tx"/>
                    </a:ext>
                  </a:extLst>
                </a:hlinkClick>
              </a:rPr>
              <a:t>Searay Foods</a:t>
            </a:r>
            <a:endParaRPr lang="en-US" sz="705" dirty="0"/>
          </a:p>
        </p:txBody>
      </p:sp>
      <p:sp>
        <p:nvSpPr>
          <p:cNvPr id="169" name="Shape 168"/>
          <p:cNvSpPr/>
          <p:nvPr/>
        </p:nvSpPr>
        <p:spPr>
          <a:xfrm>
            <a:off x="419100" y="7029450"/>
            <a:ext cx="9220200" cy="9525"/>
          </a:xfrm>
          <a:prstGeom prst="rect">
            <a:avLst/>
          </a:prstGeom>
          <a:solidFill>
            <a:srgbClr val="E3DCD3"/>
          </a:solidFill>
          <a:ln/>
        </p:spPr>
        <p:txBody>
          <a:bodyPr/>
          <a:lstStyle/>
          <a:p>
            <a:endParaRPr lang="en-US"/>
          </a:p>
        </p:txBody>
      </p:sp>
      <p:pic>
        <p:nvPicPr>
          <p:cNvPr id="170" name="Benchmark International" descr="Benchmark International"/>
          <p:cNvPicPr>
            <a:picLocks noChangeAspect="1"/>
          </p:cNvPicPr>
          <p:nvPr/>
        </p:nvPicPr>
        <p:blipFill>
          <a:blip r:embed="rId8"/>
          <a:stretch>
            <a:fillRect/>
          </a:stretch>
        </p:blipFill>
        <p:spPr>
          <a:xfrm>
            <a:off x="419100" y="7143750"/>
            <a:ext cx="914400" cy="171450"/>
          </a:xfrm>
          <a:prstGeom prst="rect">
            <a:avLst/>
          </a:prstGeom>
        </p:spPr>
      </p:pic>
      <p:sp>
        <p:nvSpPr>
          <p:cNvPr id="171" name="Text 170"/>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by peer group, which can move with one or two companies in a group of six. Source: </a:t>
            </a:r>
            <a:r>
              <a:rPr lang="en-US" sz="67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Multiples use reported EBITDA. The year-ago multiple is the reading four quarter-ends earlier, between late August and November 2025. Deal multiples are as stated by each acquirer on its own basis.</a:t>
            </a:r>
            <a:endParaRPr lang="en-US" sz="675" dirty="0"/>
          </a:p>
        </p:txBody>
      </p:sp>
      <p:sp>
        <p:nvSpPr>
          <p:cNvPr id="172" name="Text 171"/>
          <p:cNvSpPr txBox="1"/>
          <p:nvPr/>
        </p:nvSpPr>
        <p:spPr>
          <a:xfrm>
            <a:off x="9512647" y="7162800"/>
            <a:ext cx="183803"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14</a:t>
            </a:r>
            <a:endParaRPr lang="en-US" sz="713"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Food and Beverage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Packaged food companies trade at a median 8.2 times EBITDA. Keurig Dr Pepper’s figures include JDE Peet’s, and Utz has agreed to be acquired by Intersnack.</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6"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6249"/>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PACKAGED FOOD</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195709">
                <a:tc>
                  <a:txBody>
                    <a:bodyPr/>
                    <a:lstStyle/>
                    <a:p>
                      <a:pPr marL="0" indent="0" algn="l">
                        <a:lnSpc>
                          <a:spcPts val="900"/>
                        </a:lnSpc>
                        <a:buNone/>
                      </a:pPr>
                      <a:r>
                        <a:rPr lang="en-US" sz="750" kern="0" spc="15" dirty="0">
                          <a:solidFill>
                            <a:srgbClr val="1B1A1A"/>
                          </a:solidFill>
                          <a:latin typeface="Quicksand SemiBold" pitchFamily="34" charset="0"/>
                        </a:rPr>
                        <a:t>General Mills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GIS</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−36.3%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195709">
                <a:tc>
                  <a:txBody>
                    <a:bodyPr/>
                    <a:lstStyle/>
                    <a:p>
                      <a:pPr marL="0" indent="0" algn="l">
                        <a:lnSpc>
                          <a:spcPts val="900"/>
                        </a:lnSpc>
                        <a:buNone/>
                      </a:pPr>
                      <a:r>
                        <a:rPr lang="en-US" sz="750" kern="0" spc="15" dirty="0">
                          <a:solidFill>
                            <a:srgbClr val="1B1A1A"/>
                          </a:solidFill>
                          <a:latin typeface="Quicksand SemiBold" pitchFamily="34" charset="0"/>
                        </a:rPr>
                        <a:t>Conagra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CAG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195709">
                <a:tc>
                  <a:txBody>
                    <a:bodyPr/>
                    <a:lstStyle/>
                    <a:p>
                      <a:pPr marL="0" indent="0" algn="l">
                        <a:lnSpc>
                          <a:spcPts val="900"/>
                        </a:lnSpc>
                        <a:buNone/>
                      </a:pPr>
                      <a:r>
                        <a:rPr lang="en-US" sz="750" kern="0" spc="15" dirty="0">
                          <a:solidFill>
                            <a:srgbClr val="1B1A1A"/>
                          </a:solidFill>
                          <a:latin typeface="Quicksand SemiBold" pitchFamily="34" charset="0"/>
                        </a:rPr>
                        <a:t>Kraft Heinz</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KHC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195709">
                <a:tc>
                  <a:txBody>
                    <a:bodyPr/>
                    <a:lstStyle/>
                    <a:p>
                      <a:pPr marL="0" indent="0" algn="l">
                        <a:lnSpc>
                          <a:spcPts val="900"/>
                        </a:lnSpc>
                        <a:buNone/>
                      </a:pPr>
                      <a:r>
                        <a:rPr lang="en-US" sz="750" kern="0" spc="15" dirty="0">
                          <a:solidFill>
                            <a:srgbClr val="1B1A1A"/>
                          </a:solidFill>
                          <a:latin typeface="Quicksand SemiBold" pitchFamily="34" charset="0"/>
                        </a:rPr>
                        <a:t>Campbell's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CPB</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195709">
                <a:tc>
                  <a:txBody>
                    <a:bodyPr/>
                    <a:lstStyle/>
                    <a:p>
                      <a:pPr marL="0" indent="0" algn="l">
                        <a:lnSpc>
                          <a:spcPts val="900"/>
                        </a:lnSpc>
                        <a:buNone/>
                      </a:pPr>
                      <a:r>
                        <a:rPr lang="en-US" sz="750" kern="0" spc="15" dirty="0">
                          <a:solidFill>
                            <a:srgbClr val="1B1A1A"/>
                          </a:solidFill>
                          <a:latin typeface="Quicksand SemiBold" pitchFamily="34" charset="0"/>
                        </a:rPr>
                        <a:t>J.M. Smucker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SJM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195709">
                <a:tc>
                  <a:txBody>
                    <a:bodyPr/>
                    <a:lstStyle/>
                    <a:p>
                      <a:pPr marL="0" indent="0" algn="l">
                        <a:lnSpc>
                          <a:spcPts val="900"/>
                        </a:lnSpc>
                        <a:buNone/>
                      </a:pPr>
                      <a:r>
                        <a:rPr lang="en-US" sz="750" kern="0" spc="15" dirty="0">
                          <a:solidFill>
                            <a:srgbClr val="1B1A1A"/>
                          </a:solidFill>
                          <a:latin typeface="Quicksand SemiBold" pitchFamily="34" charset="0"/>
                        </a:rPr>
                        <a:t>Hormel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HRL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195709">
                <a:tc>
                  <a:txBody>
                    <a:bodyPr/>
                    <a:lstStyle/>
                    <a:p>
                      <a:pPr marL="0" indent="0" algn="l">
                        <a:lnSpc>
                          <a:spcPts val="900"/>
                        </a:lnSpc>
                        <a:buNone/>
                      </a:pPr>
                      <a:r>
                        <a:rPr lang="en-US" sz="750" kern="0" spc="15" dirty="0">
                          <a:solidFill>
                            <a:srgbClr val="1B1A1A"/>
                          </a:solidFill>
                          <a:latin typeface="Quicksand SemiBold" pitchFamily="34" charset="0"/>
                        </a:rPr>
                        <a:t>McCormick</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MKC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8"/>
                  </a:ext>
                </a:extLst>
              </a:tr>
              <a:tr h="195709">
                <a:tc>
                  <a:txBody>
                    <a:bodyPr/>
                    <a:lstStyle/>
                    <a:p>
                      <a:pPr marL="0" indent="0" algn="l">
                        <a:lnSpc>
                          <a:spcPts val="900"/>
                        </a:lnSpc>
                        <a:buNone/>
                      </a:pPr>
                      <a:r>
                        <a:rPr lang="en-US" sz="750" kern="0" spc="15" dirty="0">
                          <a:solidFill>
                            <a:srgbClr val="1B1A1A"/>
                          </a:solidFill>
                          <a:latin typeface="Quicksand SemiBold" pitchFamily="34" charset="0"/>
                        </a:rPr>
                        <a:t>Post Holdings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POST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9"/>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−30.9%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8.2x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0"/>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SNACKS AND BETTER-FOR-YOU</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1"/>
                  </a:ext>
                </a:extLst>
              </a:tr>
              <a:tr h="195709">
                <a:tc>
                  <a:txBody>
                    <a:bodyPr/>
                    <a:lstStyle/>
                    <a:p>
                      <a:pPr marL="0" indent="0" algn="l">
                        <a:lnSpc>
                          <a:spcPts val="900"/>
                        </a:lnSpc>
                        <a:buNone/>
                      </a:pPr>
                      <a:r>
                        <a:rPr lang="en-US" sz="750" kern="0" spc="15" dirty="0">
                          <a:solidFill>
                            <a:srgbClr val="1B1A1A"/>
                          </a:solidFill>
                          <a:latin typeface="Quicksand SemiBold" pitchFamily="34" charset="0"/>
                        </a:rPr>
                        <a:t>Mondelez</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MDLZ</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96.4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195709">
                <a:tc>
                  <a:txBody>
                    <a:bodyPr/>
                    <a:lstStyle/>
                    <a:p>
                      <a:pPr marL="0" indent="0" algn="l">
                        <a:lnSpc>
                          <a:spcPts val="900"/>
                        </a:lnSpc>
                        <a:buNone/>
                      </a:pPr>
                      <a:r>
                        <a:rPr lang="en-US" sz="750" kern="0" spc="15" dirty="0">
                          <a:solidFill>
                            <a:srgbClr val="1B1A1A"/>
                          </a:solidFill>
                          <a:latin typeface="Quicksand SemiBold" pitchFamily="34" charset="0"/>
                        </a:rPr>
                        <a:t>Hershey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HSY</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195709">
                <a:tc>
                  <a:txBody>
                    <a:bodyPr/>
                    <a:lstStyle/>
                    <a:p>
                      <a:pPr marL="0" indent="0" algn="l">
                        <a:lnSpc>
                          <a:spcPts val="900"/>
                        </a:lnSpc>
                        <a:buNone/>
                      </a:pPr>
                      <a:r>
                        <a:rPr lang="en-US" sz="750" kern="0" spc="15" dirty="0">
                          <a:solidFill>
                            <a:srgbClr val="1B1A1A"/>
                          </a:solidFill>
                          <a:latin typeface="Quicksand SemiBold" pitchFamily="34" charset="0"/>
                        </a:rPr>
                        <a:t>Utz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UTZ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195709">
                <a:tc>
                  <a:txBody>
                    <a:bodyPr/>
                    <a:lstStyle/>
                    <a:p>
                      <a:pPr marL="0" indent="0" algn="l">
                        <a:lnSpc>
                          <a:spcPts val="900"/>
                        </a:lnSpc>
                        <a:buNone/>
                      </a:pPr>
                      <a:r>
                        <a:rPr lang="en-US" sz="750" kern="0" spc="15" dirty="0">
                          <a:solidFill>
                            <a:srgbClr val="1B1A1A"/>
                          </a:solidFill>
                          <a:latin typeface="Quicksand SemiBold" pitchFamily="34" charset="0"/>
                        </a:rPr>
                        <a:t>BellRing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BRBR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195709">
                <a:tc>
                  <a:txBody>
                    <a:bodyPr/>
                    <a:lstStyle/>
                    <a:p>
                      <a:pPr marL="0" indent="0" algn="l">
                        <a:lnSpc>
                          <a:spcPts val="900"/>
                        </a:lnSpc>
                        <a:buNone/>
                      </a:pPr>
                      <a:r>
                        <a:rPr lang="en-US" sz="750" kern="0" spc="15" dirty="0">
                          <a:solidFill>
                            <a:srgbClr val="1B1A1A"/>
                          </a:solidFill>
                          <a:latin typeface="Quicksand SemiBold" pitchFamily="34" charset="0"/>
                        </a:rPr>
                        <a:t>Simply Good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SMPL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6"/>
                  </a:ext>
                </a:extLst>
              </a:tr>
              <a:tr h="195709">
                <a:tc>
                  <a:txBody>
                    <a:bodyPr/>
                    <a:lstStyle/>
                    <a:p>
                      <a:pPr marL="0" indent="0" algn="l">
                        <a:lnSpc>
                          <a:spcPts val="900"/>
                        </a:lnSpc>
                        <a:buNone/>
                      </a:pPr>
                      <a:r>
                        <a:rPr lang="en-US" sz="750" kern="0" spc="15" dirty="0">
                          <a:solidFill>
                            <a:srgbClr val="1B1A1A"/>
                          </a:solidFill>
                          <a:latin typeface="Quicksand SemiBold" pitchFamily="34" charset="0"/>
                        </a:rPr>
                        <a:t>Vital Farms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VITL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n.a.</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7"/>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8"/>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BEVERAGES</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9"/>
                  </a:ext>
                </a:extLst>
              </a:tr>
              <a:tr h="195709">
                <a:tc>
                  <a:txBody>
                    <a:bodyPr/>
                    <a:lstStyle/>
                    <a:p>
                      <a:pPr marL="0" indent="0" algn="l">
                        <a:lnSpc>
                          <a:spcPts val="900"/>
                        </a:lnSpc>
                        <a:buNone/>
                      </a:pPr>
                      <a:r>
                        <a:rPr lang="en-US" sz="750" kern="0" spc="15" dirty="0">
                          <a:solidFill>
                            <a:srgbClr val="1B1A1A"/>
                          </a:solidFill>
                          <a:latin typeface="Quicksand SemiBold" pitchFamily="34" charset="0"/>
                        </a:rPr>
                        <a:t>Coca-Cola</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KO</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370.9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398.8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195709">
                <a:tc>
                  <a:txBody>
                    <a:bodyPr/>
                    <a:lstStyle/>
                    <a:p>
                      <a:pPr marL="0" indent="0" algn="l">
                        <a:lnSpc>
                          <a:spcPts val="900"/>
                        </a:lnSpc>
                        <a:buNone/>
                      </a:pPr>
                      <a:r>
                        <a:rPr lang="en-US" sz="750" kern="0" spc="15" dirty="0">
                          <a:solidFill>
                            <a:srgbClr val="1B1A1A"/>
                          </a:solidFill>
                          <a:latin typeface="Quicksand SemiBold" pitchFamily="34" charset="0"/>
                        </a:rPr>
                        <a:t>PepsiCo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PEP</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195709">
                <a:tc>
                  <a:txBody>
                    <a:bodyPr/>
                    <a:lstStyle/>
                    <a:p>
                      <a:pPr marL="0" indent="0" algn="l">
                        <a:lnSpc>
                          <a:spcPts val="900"/>
                        </a:lnSpc>
                        <a:buNone/>
                      </a:pPr>
                      <a:r>
                        <a:rPr lang="en-US" sz="750" kern="0" spc="15" dirty="0">
                          <a:solidFill>
                            <a:srgbClr val="1B1A1A"/>
                          </a:solidFill>
                          <a:latin typeface="Quicksand SemiBold" pitchFamily="34" charset="0"/>
                        </a:rPr>
                        <a:t>Keurig Dr Pepper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KDP</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+58.5%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195709">
                <a:tc>
                  <a:txBody>
                    <a:bodyPr/>
                    <a:lstStyle/>
                    <a:p>
                      <a:pPr marL="0" indent="0" algn="l">
                        <a:lnSpc>
                          <a:spcPts val="900"/>
                        </a:lnSpc>
                        <a:buNone/>
                      </a:pPr>
                      <a:r>
                        <a:rPr lang="en-US" sz="750" kern="0" spc="15" dirty="0">
                          <a:solidFill>
                            <a:srgbClr val="1B1A1A"/>
                          </a:solidFill>
                          <a:latin typeface="Quicksand SemiBold" pitchFamily="34" charset="0"/>
                        </a:rPr>
                        <a:t>Monster Beverage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MNST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195709">
                <a:tc>
                  <a:txBody>
                    <a:bodyPr/>
                    <a:lstStyle/>
                    <a:p>
                      <a:pPr marL="0" indent="0" algn="l">
                        <a:lnSpc>
                          <a:spcPts val="900"/>
                        </a:lnSpc>
                        <a:buNone/>
                      </a:pPr>
                      <a:r>
                        <a:rPr lang="en-US" sz="750" kern="0" spc="15" dirty="0">
                          <a:solidFill>
                            <a:srgbClr val="1B1A1A"/>
                          </a:solidFill>
                          <a:latin typeface="Quicksand SemiBold" pitchFamily="34" charset="0"/>
                        </a:rPr>
                        <a:t>Celsius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CELH</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4"/>
                  </a:ext>
                </a:extLst>
              </a:tr>
              <a:tr h="195709">
                <a:tc>
                  <a:txBody>
                    <a:bodyPr/>
                    <a:lstStyle/>
                    <a:p>
                      <a:pPr marL="0" indent="0" algn="l">
                        <a:lnSpc>
                          <a:spcPts val="900"/>
                        </a:lnSpc>
                        <a:buNone/>
                      </a:pPr>
                      <a:r>
                        <a:rPr lang="en-US" sz="750" kern="0" spc="15" dirty="0">
                          <a:solidFill>
                            <a:srgbClr val="1B1A1A"/>
                          </a:solidFill>
                          <a:latin typeface="Quicksand SemiBold" pitchFamily="34" charset="0"/>
                        </a:rPr>
                        <a:t>Constellation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STZ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5"/>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6"/>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Multiples and margins use reported trailing EBITDA. n.m. marks a figure that is not comparable and is left out of the median; n.a. is not available. Year-ago multiples are four quarter-ends earlier, and multiple medians use companies with both readings.</a:t>
            </a:r>
            <a:endParaRPr lang="en-US" sz="675" dirty="0"/>
          </a:p>
        </p:txBody>
      </p:sp>
      <p:sp>
        <p:nvSpPr>
          <p:cNvPr id="13" name="Text 12"/>
          <p:cNvSpPr txBox="1"/>
          <p:nvPr/>
        </p:nvSpPr>
        <p:spPr>
          <a:xfrm>
            <a:off x="9513838" y="7162800"/>
            <a:ext cx="18261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15</a:t>
            </a:r>
            <a:endParaRPr lang="en-US" sz="713"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Consumer Brands and Foodservice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Household and personal care companies hold the highest multiples of the nine groups. Middleby’s figures reflect the July spin-off of its food processing business.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7"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7282"/>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HOUSEHOLD AND PERSONAL CARE</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211782">
                <a:tc>
                  <a:txBody>
                    <a:bodyPr/>
                    <a:lstStyle/>
                    <a:p>
                      <a:pPr marL="0" indent="0" algn="l">
                        <a:lnSpc>
                          <a:spcPts val="900"/>
                        </a:lnSpc>
                        <a:buNone/>
                      </a:pPr>
                      <a:r>
                        <a:rPr lang="en-US" sz="750" kern="0" spc="15" dirty="0">
                          <a:solidFill>
                            <a:srgbClr val="1B1A1A"/>
                          </a:solidFill>
                          <a:latin typeface="Quicksand SemiBold" pitchFamily="34" charset="0"/>
                        </a:rPr>
                        <a:t>Procter &amp; Gamble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PG</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346.6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371.7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11782">
                <a:tc>
                  <a:txBody>
                    <a:bodyPr/>
                    <a:lstStyle/>
                    <a:p>
                      <a:pPr marL="0" indent="0" algn="l">
                        <a:lnSpc>
                          <a:spcPts val="900"/>
                        </a:lnSpc>
                        <a:buNone/>
                      </a:pPr>
                      <a:r>
                        <a:rPr lang="en-US" sz="750" kern="0" spc="15" dirty="0">
                          <a:solidFill>
                            <a:srgbClr val="1B1A1A"/>
                          </a:solidFill>
                          <a:latin typeface="Quicksand SemiBold" pitchFamily="34" charset="0"/>
                        </a:rPr>
                        <a:t>Colgate-Palmolive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211782">
                <a:tc>
                  <a:txBody>
                    <a:bodyPr/>
                    <a:lstStyle/>
                    <a:p>
                      <a:pPr marL="0" indent="0" algn="l">
                        <a:lnSpc>
                          <a:spcPts val="900"/>
                        </a:lnSpc>
                        <a:buNone/>
                      </a:pPr>
                      <a:r>
                        <a:rPr lang="en-US" sz="750" kern="0" spc="15" dirty="0">
                          <a:solidFill>
                            <a:srgbClr val="1B1A1A"/>
                          </a:solidFill>
                          <a:latin typeface="Quicksand SemiBold" pitchFamily="34" charset="0"/>
                        </a:rPr>
                        <a:t>Church &amp; Dwight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CHD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211782">
                <a:tc>
                  <a:txBody>
                    <a:bodyPr/>
                    <a:lstStyle/>
                    <a:p>
                      <a:pPr marL="0" indent="0" algn="l">
                        <a:lnSpc>
                          <a:spcPts val="900"/>
                        </a:lnSpc>
                        <a:buNone/>
                      </a:pPr>
                      <a:r>
                        <a:rPr lang="en-US" sz="750" kern="0" spc="15" dirty="0">
                          <a:solidFill>
                            <a:srgbClr val="1B1A1A"/>
                          </a:solidFill>
                          <a:latin typeface="Quicksand SemiBold" pitchFamily="34" charset="0"/>
                        </a:rPr>
                        <a:t>Clorox</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CLX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211782">
                <a:tc>
                  <a:txBody>
                    <a:bodyPr/>
                    <a:lstStyle/>
                    <a:p>
                      <a:pPr marL="0" indent="0" algn="l">
                        <a:lnSpc>
                          <a:spcPts val="900"/>
                        </a:lnSpc>
                        <a:buNone/>
                      </a:pPr>
                      <a:r>
                        <a:rPr lang="en-US" sz="750" kern="0" spc="15" dirty="0">
                          <a:solidFill>
                            <a:srgbClr val="1B1A1A"/>
                          </a:solidFill>
                          <a:latin typeface="Quicksand SemiBold" pitchFamily="34" charset="0"/>
                        </a:rPr>
                        <a:t>Estee Lauder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211782">
                <a:tc>
                  <a:txBody>
                    <a:bodyPr/>
                    <a:lstStyle/>
                    <a:p>
                      <a:pPr marL="0" indent="0" algn="l">
                        <a:lnSpc>
                          <a:spcPts val="900"/>
                        </a:lnSpc>
                        <a:buNone/>
                      </a:pPr>
                      <a:r>
                        <a:rPr lang="en-US" sz="750" kern="0" spc="15" dirty="0">
                          <a:solidFill>
                            <a:srgbClr val="1B1A1A"/>
                          </a:solidFill>
                          <a:latin typeface="Quicksand SemiBold" pitchFamily="34" charset="0"/>
                        </a:rPr>
                        <a:t>e.l.f. Beauty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ELF</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3.68x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08"/>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DURABLES, OUTDOOR AND PET</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9"/>
                  </a:ext>
                </a:extLst>
              </a:tr>
              <a:tr h="211782">
                <a:tc>
                  <a:txBody>
                    <a:bodyPr/>
                    <a:lstStyle/>
                    <a:p>
                      <a:pPr marL="0" indent="0" algn="l">
                        <a:lnSpc>
                          <a:spcPts val="900"/>
                        </a:lnSpc>
                        <a:buNone/>
                      </a:pPr>
                      <a:r>
                        <a:rPr lang="en-US" sz="750" kern="0" spc="15" dirty="0">
                          <a:solidFill>
                            <a:srgbClr val="1B1A1A"/>
                          </a:solidFill>
                          <a:latin typeface="Quicksand SemiBold" pitchFamily="34" charset="0"/>
                        </a:rPr>
                        <a:t>Central Garden &amp; Pet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CENT</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0"/>
                  </a:ext>
                </a:extLst>
              </a:tr>
              <a:tr h="211782">
                <a:tc>
                  <a:txBody>
                    <a:bodyPr/>
                    <a:lstStyle/>
                    <a:p>
                      <a:pPr marL="0" indent="0" algn="l">
                        <a:lnSpc>
                          <a:spcPts val="900"/>
                        </a:lnSpc>
                        <a:buNone/>
                      </a:pPr>
                      <a:r>
                        <a:rPr lang="en-US" sz="750" kern="0" spc="15" dirty="0">
                          <a:solidFill>
                            <a:srgbClr val="1B1A1A"/>
                          </a:solidFill>
                          <a:latin typeface="Quicksand SemiBold" pitchFamily="34" charset="0"/>
                        </a:rPr>
                        <a:t>Spectrum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SPB</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1"/>
                  </a:ext>
                </a:extLst>
              </a:tr>
              <a:tr h="211782">
                <a:tc>
                  <a:txBody>
                    <a:bodyPr/>
                    <a:lstStyle/>
                    <a:p>
                      <a:pPr marL="0" indent="0" algn="l">
                        <a:lnSpc>
                          <a:spcPts val="900"/>
                        </a:lnSpc>
                        <a:buNone/>
                      </a:pPr>
                      <a:r>
                        <a:rPr lang="en-US" sz="750" kern="0" spc="15" dirty="0">
                          <a:solidFill>
                            <a:srgbClr val="1B1A1A"/>
                          </a:solidFill>
                          <a:latin typeface="Quicksand SemiBold" pitchFamily="34" charset="0"/>
                        </a:rPr>
                        <a:t>YETI</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YETI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211782">
                <a:tc>
                  <a:txBody>
                    <a:bodyPr/>
                    <a:lstStyle/>
                    <a:p>
                      <a:pPr marL="0" indent="0" algn="l">
                        <a:lnSpc>
                          <a:spcPts val="900"/>
                        </a:lnSpc>
                        <a:buNone/>
                      </a:pPr>
                      <a:r>
                        <a:rPr lang="en-US" sz="750" kern="0" spc="15" dirty="0">
                          <a:solidFill>
                            <a:srgbClr val="1B1A1A"/>
                          </a:solidFill>
                          <a:latin typeface="Quicksand SemiBold" pitchFamily="34" charset="0"/>
                        </a:rPr>
                        <a:t>Mattel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MAT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211782">
                <a:tc>
                  <a:txBody>
                    <a:bodyPr/>
                    <a:lstStyle/>
                    <a:p>
                      <a:pPr marL="0" indent="0" algn="l">
                        <a:lnSpc>
                          <a:spcPts val="900"/>
                        </a:lnSpc>
                        <a:buNone/>
                      </a:pPr>
                      <a:r>
                        <a:rPr lang="en-US" sz="750" kern="0" spc="15" dirty="0">
                          <a:solidFill>
                            <a:srgbClr val="1B1A1A"/>
                          </a:solidFill>
                          <a:latin typeface="Quicksand SemiBold" pitchFamily="34" charset="0"/>
                        </a:rPr>
                        <a:t>Newell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NWL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211782">
                <a:tc>
                  <a:txBody>
                    <a:bodyPr/>
                    <a:lstStyle/>
                    <a:p>
                      <a:pPr marL="0" indent="0" algn="l">
                        <a:lnSpc>
                          <a:spcPts val="900"/>
                        </a:lnSpc>
                        <a:buNone/>
                      </a:pPr>
                      <a:r>
                        <a:rPr lang="en-US" sz="750" kern="0" spc="15" dirty="0">
                          <a:solidFill>
                            <a:srgbClr val="1B1A1A"/>
                          </a:solidFill>
                          <a:latin typeface="Quicksand SemiBold" pitchFamily="34" charset="0"/>
                        </a:rPr>
                        <a:t>Traeger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COOK</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0.14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1.07x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8.9x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6"/>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FOODSERVICE DISTRIBUTION AND EQUIPMENT</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7"/>
                  </a:ext>
                </a:extLst>
              </a:tr>
              <a:tr h="211782">
                <a:tc>
                  <a:txBody>
                    <a:bodyPr/>
                    <a:lstStyle/>
                    <a:p>
                      <a:pPr marL="0" indent="0" algn="l">
                        <a:lnSpc>
                          <a:spcPts val="900"/>
                        </a:lnSpc>
                        <a:buNone/>
                      </a:pPr>
                      <a:r>
                        <a:rPr lang="en-US" sz="750" kern="0" spc="15" dirty="0">
                          <a:solidFill>
                            <a:srgbClr val="1B1A1A"/>
                          </a:solidFill>
                          <a:latin typeface="Quicksand SemiBold" pitchFamily="34" charset="0"/>
                        </a:rPr>
                        <a:t>Sysco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SYY</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8"/>
                  </a:ext>
                </a:extLst>
              </a:tr>
              <a:tr h="211782">
                <a:tc>
                  <a:txBody>
                    <a:bodyPr/>
                    <a:lstStyle/>
                    <a:p>
                      <a:pPr marL="0" indent="0" algn="l">
                        <a:lnSpc>
                          <a:spcPts val="900"/>
                        </a:lnSpc>
                        <a:buNone/>
                      </a:pPr>
                      <a:r>
                        <a:rPr lang="en-US" sz="750" kern="0" spc="15" dirty="0">
                          <a:solidFill>
                            <a:srgbClr val="1B1A1A"/>
                          </a:solidFill>
                          <a:latin typeface="Quicksand SemiBold" pitchFamily="34" charset="0"/>
                        </a:rPr>
                        <a:t>US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USFD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9"/>
                  </a:ext>
                </a:extLst>
              </a:tr>
              <a:tr h="211782">
                <a:tc>
                  <a:txBody>
                    <a:bodyPr/>
                    <a:lstStyle/>
                    <a:p>
                      <a:pPr marL="0" indent="0" algn="l">
                        <a:lnSpc>
                          <a:spcPts val="900"/>
                        </a:lnSpc>
                        <a:buNone/>
                      </a:pPr>
                      <a:r>
                        <a:rPr lang="en-US" sz="750" kern="0" spc="15" dirty="0">
                          <a:solidFill>
                            <a:srgbClr val="1B1A1A"/>
                          </a:solidFill>
                          <a:latin typeface="Quicksand SemiBold" pitchFamily="34" charset="0"/>
                        </a:rPr>
                        <a:t>Performance Food Group</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PFGC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211782">
                <a:tc>
                  <a:txBody>
                    <a:bodyPr/>
                    <a:lstStyle/>
                    <a:p>
                      <a:pPr marL="0" indent="0" algn="l">
                        <a:lnSpc>
                          <a:spcPts val="900"/>
                        </a:lnSpc>
                        <a:buNone/>
                      </a:pPr>
                      <a:r>
                        <a:rPr lang="en-US" sz="750" kern="0" spc="15" dirty="0">
                          <a:solidFill>
                            <a:srgbClr val="1B1A1A"/>
                          </a:solidFill>
                          <a:latin typeface="Quicksand SemiBold" pitchFamily="34" charset="0"/>
                        </a:rPr>
                        <a:t>Chefs' Warehouse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CHEF</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211782">
                <a:tc>
                  <a:txBody>
                    <a:bodyPr/>
                    <a:lstStyle/>
                    <a:p>
                      <a:pPr marL="0" indent="0" algn="l">
                        <a:lnSpc>
                          <a:spcPts val="900"/>
                        </a:lnSpc>
                        <a:buNone/>
                      </a:pPr>
                      <a:r>
                        <a:rPr lang="en-US" sz="750" kern="0" spc="15" dirty="0">
                          <a:solidFill>
                            <a:srgbClr val="1B1A1A"/>
                          </a:solidFill>
                          <a:latin typeface="Quicksand SemiBold" pitchFamily="34" charset="0"/>
                        </a:rPr>
                        <a:t>United Natural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UNFI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211782">
                <a:tc>
                  <a:txBody>
                    <a:bodyPr/>
                    <a:lstStyle/>
                    <a:p>
                      <a:pPr marL="0" indent="0" algn="l">
                        <a:lnSpc>
                          <a:spcPts val="900"/>
                        </a:lnSpc>
                        <a:buNone/>
                      </a:pPr>
                      <a:r>
                        <a:rPr lang="en-US" sz="750" kern="0" spc="15" dirty="0">
                          <a:solidFill>
                            <a:srgbClr val="1B1A1A"/>
                          </a:solidFill>
                          <a:latin typeface="Quicksand SemiBold" pitchFamily="34" charset="0"/>
                        </a:rPr>
                        <a:t>Middleby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MIDD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4"/>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Multiples and margins use reported trailing EBITDA. n.m. marks a figure that is not comparable and is left out of the median; n.a. is not available. Year-ago multiples are four quarter-ends earlier, and multiple medians use companies with both readings.</a:t>
            </a:r>
            <a:endParaRPr lang="en-US" sz="675" dirty="0"/>
          </a:p>
        </p:txBody>
      </p:sp>
      <p:sp>
        <p:nvSpPr>
          <p:cNvPr id="13" name="Text 12"/>
          <p:cNvSpPr txBox="1"/>
          <p:nvPr/>
        </p:nvSpPr>
        <p:spPr>
          <a:xfrm>
            <a:off x="9515921" y="7162800"/>
            <a:ext cx="18052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16</a:t>
            </a:r>
            <a:endParaRPr lang="en-US" sz="713"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Restaurants, Services and Retail</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Rollins, Planet Fitness and Boyd Group shares have each fallen by about half in a year while their revenue kept growing.</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8"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7141"/>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RESTAURANTS</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203448">
                <a:tc>
                  <a:txBody>
                    <a:bodyPr/>
                    <a:lstStyle/>
                    <a:p>
                      <a:pPr marL="0" indent="0" algn="l">
                        <a:lnSpc>
                          <a:spcPts val="900"/>
                        </a:lnSpc>
                        <a:buNone/>
                      </a:pPr>
                      <a:r>
                        <a:rPr lang="en-US" sz="750" kern="0" spc="15" dirty="0">
                          <a:solidFill>
                            <a:srgbClr val="1B1A1A"/>
                          </a:solidFill>
                          <a:latin typeface="Quicksand SemiBold" pitchFamily="34" charset="0"/>
                        </a:rPr>
                        <a:t>Darden Restaurants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DRI</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3448">
                <a:tc>
                  <a:txBody>
                    <a:bodyPr/>
                    <a:lstStyle/>
                    <a:p>
                      <a:pPr marL="0" indent="0" algn="l">
                        <a:lnSpc>
                          <a:spcPts val="900"/>
                        </a:lnSpc>
                        <a:buNone/>
                      </a:pPr>
                      <a:r>
                        <a:rPr lang="en-US" sz="750" kern="0" spc="15" dirty="0">
                          <a:solidFill>
                            <a:srgbClr val="1B1A1A"/>
                          </a:solidFill>
                          <a:latin typeface="Quicksand SemiBold" pitchFamily="34" charset="0"/>
                        </a:rPr>
                        <a:t>Texas Roadhouse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TXRH</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203448">
                <a:tc>
                  <a:txBody>
                    <a:bodyPr/>
                    <a:lstStyle/>
                    <a:p>
                      <a:pPr marL="0" indent="0" algn="l">
                        <a:lnSpc>
                          <a:spcPts val="900"/>
                        </a:lnSpc>
                        <a:buNone/>
                      </a:pPr>
                      <a:r>
                        <a:rPr lang="en-US" sz="750" kern="0" spc="15" dirty="0">
                          <a:solidFill>
                            <a:srgbClr val="1B1A1A"/>
                          </a:solidFill>
                          <a:latin typeface="Quicksand SemiBold" pitchFamily="34" charset="0"/>
                        </a:rPr>
                        <a:t>Chipotle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CMG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203448">
                <a:tc>
                  <a:txBody>
                    <a:bodyPr/>
                    <a:lstStyle/>
                    <a:p>
                      <a:pPr marL="0" indent="0" algn="l">
                        <a:lnSpc>
                          <a:spcPts val="900"/>
                        </a:lnSpc>
                        <a:buNone/>
                      </a:pPr>
                      <a:r>
                        <a:rPr lang="en-US" sz="750" kern="0" spc="15" dirty="0">
                          <a:solidFill>
                            <a:srgbClr val="1B1A1A"/>
                          </a:solidFill>
                          <a:latin typeface="Quicksand SemiBold" pitchFamily="34" charset="0"/>
                        </a:rPr>
                        <a:t>McDonald's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MCD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203448">
                <a:tc>
                  <a:txBody>
                    <a:bodyPr/>
                    <a:lstStyle/>
                    <a:p>
                      <a:pPr marL="0" indent="0" algn="l">
                        <a:lnSpc>
                          <a:spcPts val="900"/>
                        </a:lnSpc>
                        <a:buNone/>
                      </a:pPr>
                      <a:r>
                        <a:rPr lang="en-US" sz="750" kern="0" spc="15" dirty="0">
                          <a:solidFill>
                            <a:srgbClr val="1B1A1A"/>
                          </a:solidFill>
                          <a:latin typeface="Quicksand SemiBold" pitchFamily="34" charset="0"/>
                        </a:rPr>
                        <a:t>Domino's Pizza</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DPZ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203448">
                <a:tc>
                  <a:txBody>
                    <a:bodyPr/>
                    <a:lstStyle/>
                    <a:p>
                      <a:pPr marL="0" indent="0" algn="l">
                        <a:lnSpc>
                          <a:spcPts val="900"/>
                        </a:lnSpc>
                        <a:buNone/>
                      </a:pPr>
                      <a:r>
                        <a:rPr lang="en-US" sz="750" kern="0" spc="15" dirty="0">
                          <a:solidFill>
                            <a:srgbClr val="1B1A1A"/>
                          </a:solidFill>
                          <a:latin typeface="Quicksand SemiBold" pitchFamily="34" charset="0"/>
                        </a:rPr>
                        <a:t>Brinker International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EAT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2.67x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08"/>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CONSUMER AND ROUTE-BASED SERVICES</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9"/>
                  </a:ext>
                </a:extLst>
              </a:tr>
              <a:tr h="203448">
                <a:tc>
                  <a:txBody>
                    <a:bodyPr/>
                    <a:lstStyle/>
                    <a:p>
                      <a:pPr marL="0" indent="0" algn="l">
                        <a:lnSpc>
                          <a:spcPts val="900"/>
                        </a:lnSpc>
                        <a:buNone/>
                      </a:pPr>
                      <a:r>
                        <a:rPr lang="en-US" sz="750" kern="0" spc="15" dirty="0">
                          <a:solidFill>
                            <a:srgbClr val="1B1A1A"/>
                          </a:solidFill>
                          <a:latin typeface="Quicksand SemiBold" pitchFamily="34" charset="0"/>
                        </a:rPr>
                        <a:t>Rollins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ROL</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4.00x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34.8x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0"/>
                  </a:ext>
                </a:extLst>
              </a:tr>
              <a:tr h="203448">
                <a:tc>
                  <a:txBody>
                    <a:bodyPr/>
                    <a:lstStyle/>
                    <a:p>
                      <a:pPr marL="0" indent="0" algn="l">
                        <a:lnSpc>
                          <a:spcPts val="900"/>
                        </a:lnSpc>
                        <a:buNone/>
                      </a:pPr>
                      <a:r>
                        <a:rPr lang="en-US" sz="750" kern="0" spc="15" dirty="0">
                          <a:solidFill>
                            <a:srgbClr val="1B1A1A"/>
                          </a:solidFill>
                          <a:latin typeface="Quicksand SemiBold" pitchFamily="34" charset="0"/>
                        </a:rPr>
                        <a:t>Frontdoor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FTDR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1"/>
                  </a:ext>
                </a:extLst>
              </a:tr>
              <a:tr h="203448">
                <a:tc>
                  <a:txBody>
                    <a:bodyPr/>
                    <a:lstStyle/>
                    <a:p>
                      <a:pPr marL="0" indent="0" algn="l">
                        <a:lnSpc>
                          <a:spcPts val="900"/>
                        </a:lnSpc>
                        <a:buNone/>
                      </a:pPr>
                      <a:r>
                        <a:rPr lang="en-US" sz="750" kern="0" spc="15" dirty="0">
                          <a:solidFill>
                            <a:srgbClr val="1B1A1A"/>
                          </a:solidFill>
                          <a:latin typeface="Quicksand SemiBold" pitchFamily="34" charset="0"/>
                        </a:rPr>
                        <a:t>Driven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DRVN</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203448">
                <a:tc>
                  <a:txBody>
                    <a:bodyPr/>
                    <a:lstStyle/>
                    <a:p>
                      <a:pPr marL="0" indent="0" algn="l">
                        <a:lnSpc>
                          <a:spcPts val="900"/>
                        </a:lnSpc>
                        <a:buNone/>
                      </a:pPr>
                      <a:r>
                        <a:rPr lang="en-US" sz="750" kern="0" spc="15" dirty="0">
                          <a:solidFill>
                            <a:srgbClr val="1B1A1A"/>
                          </a:solidFill>
                          <a:latin typeface="Quicksand SemiBold" pitchFamily="34" charset="0"/>
                        </a:rPr>
                        <a:t>United Rentals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URI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4.90x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203448">
                <a:tc>
                  <a:txBody>
                    <a:bodyPr/>
                    <a:lstStyle/>
                    <a:p>
                      <a:pPr marL="0" indent="0" algn="l">
                        <a:lnSpc>
                          <a:spcPts val="900"/>
                        </a:lnSpc>
                        <a:buNone/>
                      </a:pPr>
                      <a:r>
                        <a:rPr lang="en-US" sz="750" kern="0" spc="15" dirty="0">
                          <a:solidFill>
                            <a:srgbClr val="1B1A1A"/>
                          </a:solidFill>
                          <a:latin typeface="Quicksand SemiBold" pitchFamily="34" charset="0"/>
                        </a:rPr>
                        <a:t>Planet Fitness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PLNT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203448">
                <a:tc>
                  <a:txBody>
                    <a:bodyPr/>
                    <a:lstStyle/>
                    <a:p>
                      <a:pPr marL="0" indent="0" algn="l">
                        <a:lnSpc>
                          <a:spcPts val="900"/>
                        </a:lnSpc>
                        <a:buNone/>
                      </a:pPr>
                      <a:r>
                        <a:rPr lang="en-US" sz="750" kern="0" spc="15" dirty="0">
                          <a:solidFill>
                            <a:srgbClr val="1B1A1A"/>
                          </a:solidFill>
                          <a:latin typeface="Quicksand SemiBold" pitchFamily="34" charset="0"/>
                        </a:rPr>
                        <a:t>Service Corporation Intl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SCI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203448">
                <a:tc>
                  <a:txBody>
                    <a:bodyPr/>
                    <a:lstStyle/>
                    <a:p>
                      <a:pPr marL="0" indent="0" algn="l">
                        <a:lnSpc>
                          <a:spcPts val="900"/>
                        </a:lnSpc>
                        <a:buNone/>
                      </a:pPr>
                      <a:r>
                        <a:rPr lang="en-US" sz="750" kern="0" spc="15" dirty="0">
                          <a:solidFill>
                            <a:srgbClr val="1B1A1A"/>
                          </a:solidFill>
                          <a:latin typeface="Quicksand SemiBold" pitchFamily="34" charset="0"/>
                        </a:rPr>
                        <a:t>Boyd Group Services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BGSI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6"/>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+8.7%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7"/>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RETAIL</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8"/>
                  </a:ext>
                </a:extLst>
              </a:tr>
              <a:tr h="203448">
                <a:tc>
                  <a:txBody>
                    <a:bodyPr/>
                    <a:lstStyle/>
                    <a:p>
                      <a:pPr marL="0" indent="0" algn="l">
                        <a:lnSpc>
                          <a:spcPts val="900"/>
                        </a:lnSpc>
                        <a:buNone/>
                      </a:pPr>
                      <a:r>
                        <a:rPr lang="en-US" sz="750" kern="0" spc="15" dirty="0">
                          <a:solidFill>
                            <a:srgbClr val="1B1A1A"/>
                          </a:solidFill>
                          <a:latin typeface="Quicksand SemiBold" pitchFamily="34" charset="0"/>
                        </a:rPr>
                        <a:t>Walmart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WMT</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858.3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921.9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9"/>
                  </a:ext>
                </a:extLst>
              </a:tr>
              <a:tr h="203448">
                <a:tc>
                  <a:txBody>
                    <a:bodyPr/>
                    <a:lstStyle/>
                    <a:p>
                      <a:pPr marL="0" indent="0" algn="l">
                        <a:lnSpc>
                          <a:spcPts val="900"/>
                        </a:lnSpc>
                        <a:buNone/>
                      </a:pPr>
                      <a:r>
                        <a:rPr lang="en-US" sz="750" kern="0" spc="15" dirty="0">
                          <a:solidFill>
                            <a:srgbClr val="1B1A1A"/>
                          </a:solidFill>
                          <a:latin typeface="Quicksand SemiBold" pitchFamily="34" charset="0"/>
                        </a:rPr>
                        <a:t>Costco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COST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419.0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203448">
                <a:tc>
                  <a:txBody>
                    <a:bodyPr/>
                    <a:lstStyle/>
                    <a:p>
                      <a:pPr marL="0" indent="0" algn="l">
                        <a:lnSpc>
                          <a:spcPts val="900"/>
                        </a:lnSpc>
                        <a:buNone/>
                      </a:pPr>
                      <a:r>
                        <a:rPr lang="en-US" sz="750" kern="0" spc="15" dirty="0">
                          <a:solidFill>
                            <a:srgbClr val="1B1A1A"/>
                          </a:solidFill>
                          <a:latin typeface="Quicksand SemiBold" pitchFamily="34" charset="0"/>
                        </a:rPr>
                        <a:t>Target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TGT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203448">
                <a:tc>
                  <a:txBody>
                    <a:bodyPr/>
                    <a:lstStyle/>
                    <a:p>
                      <a:pPr marL="0" indent="0" algn="l">
                        <a:lnSpc>
                          <a:spcPts val="900"/>
                        </a:lnSpc>
                        <a:buNone/>
                      </a:pPr>
                      <a:r>
                        <a:rPr lang="en-US" sz="750" kern="0" spc="15" dirty="0">
                          <a:solidFill>
                            <a:srgbClr val="1B1A1A"/>
                          </a:solidFill>
                          <a:latin typeface="Quicksand SemiBold" pitchFamily="34" charset="0"/>
                        </a:rPr>
                        <a:t>Kroger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203448">
                <a:tc>
                  <a:txBody>
                    <a:bodyPr/>
                    <a:lstStyle/>
                    <a:p>
                      <a:pPr marL="0" indent="0" algn="l">
                        <a:lnSpc>
                          <a:spcPts val="900"/>
                        </a:lnSpc>
                        <a:buNone/>
                      </a:pPr>
                      <a:r>
                        <a:rPr lang="en-US" sz="750" kern="0" spc="15" dirty="0">
                          <a:solidFill>
                            <a:srgbClr val="1B1A1A"/>
                          </a:solidFill>
                          <a:latin typeface="Quicksand SemiBold" pitchFamily="34" charset="0"/>
                        </a:rPr>
                        <a:t>Dollar General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203448">
                <a:tc>
                  <a:txBody>
                    <a:bodyPr/>
                    <a:lstStyle/>
                    <a:p>
                      <a:pPr marL="0" indent="0" algn="l">
                        <a:lnSpc>
                          <a:spcPts val="900"/>
                        </a:lnSpc>
                        <a:buNone/>
                      </a:pPr>
                      <a:r>
                        <a:rPr lang="en-US" sz="750" kern="0" spc="15" dirty="0">
                          <a:solidFill>
                            <a:srgbClr val="1B1A1A"/>
                          </a:solidFill>
                          <a:latin typeface="Quicksand SemiBold" pitchFamily="34" charset="0"/>
                        </a:rPr>
                        <a:t>Tractor Supply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TSCO</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4"/>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5"/>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Multiples and margins use reported trailing EBITDA. n.m. marks a figure that is not comparable and is left out of the median; n.a. is not available. Year-ago multiples are four quarter-ends earlier, and multiple medians use companies with both readings.</a:t>
            </a:r>
            <a:endParaRPr lang="en-US" sz="675" dirty="0"/>
          </a:p>
        </p:txBody>
      </p:sp>
      <p:sp>
        <p:nvSpPr>
          <p:cNvPr id="13" name="Text 12"/>
          <p:cNvSpPr txBox="1"/>
          <p:nvPr/>
        </p:nvSpPr>
        <p:spPr>
          <a:xfrm>
            <a:off x="9516219" y="7162800"/>
            <a:ext cx="180231"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17</a:t>
            </a:r>
            <a:endParaRPr lang="en-US" sz="713"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Demand and Cost Indicators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Spending is rising in dollars while sentiment falls, food manufacturers’ selling prices are flat and diesel costs two thirds more than a year ago.</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19325" cy="2790825"/>
          </a:xfrm>
          <a:prstGeom prst="rect">
            <a:avLst/>
          </a:prstGeom>
          <a:solidFill>
            <a:srgbClr val="FAF7F3"/>
          </a:solidFill>
          <a:ln/>
        </p:spPr>
        <p:txBody>
          <a:bodyPr/>
          <a:lstStyle/>
          <a:p>
            <a:endParaRPr lang="en-US"/>
          </a:p>
        </p:txBody>
      </p:sp>
      <p:sp>
        <p:nvSpPr>
          <p:cNvPr id="10" name="Shape 9"/>
          <p:cNvSpPr/>
          <p:nvPr/>
        </p:nvSpPr>
        <p:spPr>
          <a:xfrm>
            <a:off x="419100" y="1238250"/>
            <a:ext cx="2219325" cy="28575"/>
          </a:xfrm>
          <a:prstGeom prst="rect">
            <a:avLst/>
          </a:prstGeom>
          <a:solidFill>
            <a:srgbClr val="B68757"/>
          </a:solidFill>
          <a:ln/>
        </p:spPr>
        <p:txBody>
          <a:bodyPr/>
          <a:lstStyle/>
          <a:p>
            <a:endParaRPr lang="en-US"/>
          </a:p>
        </p:txBody>
      </p:sp>
      <p:sp>
        <p:nvSpPr>
          <p:cNvPr id="11" name="Text 10"/>
          <p:cNvSpPr txBox="1"/>
          <p:nvPr/>
        </p:nvSpPr>
        <p:spPr>
          <a:xfrm>
            <a:off x="542925"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Retail and food services sales</a:t>
            </a:r>
            <a:endParaRPr lang="en-US" sz="855" dirty="0"/>
          </a:p>
        </p:txBody>
      </p:sp>
      <p:sp>
        <p:nvSpPr>
          <p:cNvPr id="12" name="Text 11"/>
          <p:cNvSpPr txBox="1"/>
          <p:nvPr/>
        </p:nvSpPr>
        <p:spPr>
          <a:xfrm>
            <a:off x="542925" y="1509713"/>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Monthly, seasonally adjusted, US Census Bureau</a:t>
            </a:r>
            <a:endParaRPr lang="en-US" sz="645" dirty="0"/>
          </a:p>
        </p:txBody>
      </p:sp>
      <p:sp>
        <p:nvSpPr>
          <p:cNvPr id="13" name="Text 12"/>
          <p:cNvSpPr txBox="1"/>
          <p:nvPr/>
        </p:nvSpPr>
        <p:spPr>
          <a:xfrm>
            <a:off x="542925" y="1804988"/>
            <a:ext cx="1020961"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$773.9B</a:t>
            </a:r>
            <a:endParaRPr lang="en-US" sz="1875" dirty="0"/>
          </a:p>
        </p:txBody>
      </p:sp>
      <p:sp>
        <p:nvSpPr>
          <p:cNvPr id="14" name="Text 13"/>
          <p:cNvSpPr txBox="1"/>
          <p:nvPr/>
        </p:nvSpPr>
        <p:spPr>
          <a:xfrm>
            <a:off x="542925" y="2071688"/>
            <a:ext cx="96381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5" name="Text 14"/>
          <p:cNvSpPr txBox="1"/>
          <p:nvPr/>
        </p:nvSpPr>
        <p:spPr>
          <a:xfrm>
            <a:off x="1946077"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+6.0%</a:t>
            </a:r>
            <a:endParaRPr lang="en-US" sz="900" dirty="0"/>
          </a:p>
        </p:txBody>
      </p:sp>
      <p:sp>
        <p:nvSpPr>
          <p:cNvPr id="16" name="Text 15"/>
          <p:cNvSpPr txBox="1"/>
          <p:nvPr/>
        </p:nvSpPr>
        <p:spPr>
          <a:xfrm>
            <a:off x="1946077"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7" name="Chart rule"/>
          <p:cNvSpPr/>
          <p:nvPr/>
        </p:nvSpPr>
        <p:spPr>
          <a:xfrm>
            <a:off x="561975" y="3448050"/>
            <a:ext cx="1857375" cy="0"/>
          </a:xfrm>
          <a:prstGeom prst="line">
            <a:avLst/>
          </a:prstGeom>
          <a:noFill/>
          <a:ln w="9525">
            <a:solidFill>
              <a:srgbClr val="C3BDB6"/>
            </a:solidFill>
            <a:prstDash val="solid"/>
          </a:ln>
        </p:spPr>
        <p:txBody>
          <a:bodyPr/>
          <a:lstStyle/>
          <a:p>
            <a:endParaRPr lang="en-US"/>
          </a:p>
        </p:txBody>
      </p:sp>
      <p:sp>
        <p:nvSpPr>
          <p:cNvPr id="18" name="Chart rule"/>
          <p:cNvSpPr/>
          <p:nvPr/>
        </p:nvSpPr>
        <p:spPr>
          <a:xfrm>
            <a:off x="894398" y="2324100"/>
            <a:ext cx="0" cy="1123950"/>
          </a:xfrm>
          <a:prstGeom prst="line">
            <a:avLst/>
          </a:prstGeom>
          <a:noFill/>
          <a:ln w="9525">
            <a:solidFill>
              <a:srgbClr val="E3DCD3"/>
            </a:solidFill>
            <a:prstDash val="solid"/>
          </a:ln>
        </p:spPr>
        <p:txBody>
          <a:bodyPr/>
          <a:lstStyle/>
          <a:p>
            <a:endParaRPr lang="en-US"/>
          </a:p>
        </p:txBody>
      </p:sp>
      <p:sp>
        <p:nvSpPr>
          <p:cNvPr id="19" name="Chart rule"/>
          <p:cNvSpPr/>
          <p:nvPr/>
        </p:nvSpPr>
        <p:spPr>
          <a:xfrm>
            <a:off x="1227773" y="2324100"/>
            <a:ext cx="0" cy="1123950"/>
          </a:xfrm>
          <a:prstGeom prst="line">
            <a:avLst/>
          </a:prstGeom>
          <a:noFill/>
          <a:ln w="9525">
            <a:solidFill>
              <a:srgbClr val="E3DCD3"/>
            </a:solidFill>
            <a:prstDash val="solid"/>
          </a:ln>
        </p:spPr>
        <p:txBody>
          <a:bodyPr/>
          <a:lstStyle/>
          <a:p>
            <a:endParaRPr lang="en-US"/>
          </a:p>
        </p:txBody>
      </p:sp>
      <p:sp>
        <p:nvSpPr>
          <p:cNvPr id="20" name="Chart rule"/>
          <p:cNvSpPr/>
          <p:nvPr/>
        </p:nvSpPr>
        <p:spPr>
          <a:xfrm>
            <a:off x="1560195" y="2324100"/>
            <a:ext cx="0" cy="1123950"/>
          </a:xfrm>
          <a:prstGeom prst="line">
            <a:avLst/>
          </a:prstGeom>
          <a:noFill/>
          <a:ln w="9525">
            <a:solidFill>
              <a:srgbClr val="E3DCD3"/>
            </a:solidFill>
            <a:prstDash val="solid"/>
          </a:ln>
        </p:spPr>
        <p:txBody>
          <a:bodyPr/>
          <a:lstStyle/>
          <a:p>
            <a:endParaRPr lang="en-US"/>
          </a:p>
        </p:txBody>
      </p:sp>
      <p:sp>
        <p:nvSpPr>
          <p:cNvPr id="21" name="Chart rule"/>
          <p:cNvSpPr/>
          <p:nvPr/>
        </p:nvSpPr>
        <p:spPr>
          <a:xfrm>
            <a:off x="1892618" y="2324100"/>
            <a:ext cx="0" cy="1123950"/>
          </a:xfrm>
          <a:prstGeom prst="line">
            <a:avLst/>
          </a:prstGeom>
          <a:noFill/>
          <a:ln w="9525">
            <a:solidFill>
              <a:srgbClr val="E3DCD3"/>
            </a:solidFill>
            <a:prstDash val="solid"/>
          </a:ln>
        </p:spPr>
        <p:txBody>
          <a:bodyPr/>
          <a:lstStyle/>
          <a:p>
            <a:endParaRPr lang="en-US"/>
          </a:p>
        </p:txBody>
      </p:sp>
      <p:sp>
        <p:nvSpPr>
          <p:cNvPr id="22" name="Chart rule"/>
          <p:cNvSpPr/>
          <p:nvPr/>
        </p:nvSpPr>
        <p:spPr>
          <a:xfrm>
            <a:off x="2225040" y="2324100"/>
            <a:ext cx="0" cy="1123950"/>
          </a:xfrm>
          <a:prstGeom prst="line">
            <a:avLst/>
          </a:prstGeom>
          <a:noFill/>
          <a:ln w="9525">
            <a:solidFill>
              <a:srgbClr val="E3DCD3"/>
            </a:solidFill>
            <a:prstDash val="solid"/>
          </a:ln>
        </p:spPr>
        <p:txBody>
          <a:bodyPr/>
          <a:lstStyle/>
          <a:p>
            <a:endParaRPr lang="en-US"/>
          </a:p>
        </p:txBody>
      </p:sp>
      <p:graphicFrame>
        <p:nvGraphicFramePr>
          <p:cNvPr id="23" name="Indicator chart 1"/>
          <p:cNvGraphicFramePr/>
          <p:nvPr/>
        </p:nvGraphicFramePr>
        <p:xfrm>
          <a:off x="548114" y="2324100"/>
          <a:ext cx="1885097" cy="1123950"/>
        </p:xfrm>
        <a:graphic>
          <a:graphicData uri="http://schemas.openxmlformats.org/drawingml/2006/chart">
            <c:chart xmlns:c="http://schemas.openxmlformats.org/drawingml/2006/chart" xmlns:r="http://schemas.openxmlformats.org/officeDocument/2006/relationships" r:id="rId3"/>
          </a:graphicData>
        </a:graphic>
      </p:graphicFrame>
      <p:sp>
        <p:nvSpPr>
          <p:cNvPr id="24" name="Text 23"/>
          <p:cNvSpPr txBox="1"/>
          <p:nvPr/>
        </p:nvSpPr>
        <p:spPr>
          <a:xfrm>
            <a:off x="913448"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25" name="Text 24"/>
          <p:cNvSpPr txBox="1"/>
          <p:nvPr/>
        </p:nvSpPr>
        <p:spPr>
          <a:xfrm>
            <a:off x="1246822"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26" name="Text 25"/>
          <p:cNvSpPr txBox="1"/>
          <p:nvPr/>
        </p:nvSpPr>
        <p:spPr>
          <a:xfrm>
            <a:off x="1579245"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27" name="Text 26"/>
          <p:cNvSpPr txBox="1"/>
          <p:nvPr/>
        </p:nvSpPr>
        <p:spPr>
          <a:xfrm>
            <a:off x="1911667"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28" name="Text 27"/>
          <p:cNvSpPr txBox="1"/>
          <p:nvPr/>
        </p:nvSpPr>
        <p:spPr>
          <a:xfrm>
            <a:off x="2244090"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29" name="Text 28"/>
          <p:cNvSpPr txBox="1"/>
          <p:nvPr/>
        </p:nvSpPr>
        <p:spPr>
          <a:xfrm>
            <a:off x="542925"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FRED, series MRTSSM44X72USS</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Census advance release</a:t>
            </a:r>
            <a:endParaRPr lang="en-US" sz="630" dirty="0"/>
          </a:p>
        </p:txBody>
      </p:sp>
      <p:sp>
        <p:nvSpPr>
          <p:cNvPr id="30" name="Shape 29"/>
          <p:cNvSpPr/>
          <p:nvPr/>
        </p:nvSpPr>
        <p:spPr>
          <a:xfrm>
            <a:off x="2752725" y="1238250"/>
            <a:ext cx="2219325" cy="2790825"/>
          </a:xfrm>
          <a:prstGeom prst="rect">
            <a:avLst/>
          </a:prstGeom>
          <a:solidFill>
            <a:srgbClr val="FAF7F3"/>
          </a:solidFill>
          <a:ln/>
        </p:spPr>
        <p:txBody>
          <a:bodyPr/>
          <a:lstStyle/>
          <a:p>
            <a:endParaRPr lang="en-US"/>
          </a:p>
        </p:txBody>
      </p:sp>
      <p:sp>
        <p:nvSpPr>
          <p:cNvPr id="31" name="Shape 30"/>
          <p:cNvSpPr/>
          <p:nvPr/>
        </p:nvSpPr>
        <p:spPr>
          <a:xfrm>
            <a:off x="2752725" y="1238250"/>
            <a:ext cx="2219325" cy="28575"/>
          </a:xfrm>
          <a:prstGeom prst="rect">
            <a:avLst/>
          </a:prstGeom>
          <a:solidFill>
            <a:srgbClr val="B68757"/>
          </a:solidFill>
          <a:ln/>
        </p:spPr>
        <p:txBody>
          <a:bodyPr/>
          <a:lstStyle/>
          <a:p>
            <a:endParaRPr lang="en-US"/>
          </a:p>
        </p:txBody>
      </p:sp>
      <p:sp>
        <p:nvSpPr>
          <p:cNvPr id="32" name="Text 31"/>
          <p:cNvSpPr txBox="1"/>
          <p:nvPr/>
        </p:nvSpPr>
        <p:spPr>
          <a:xfrm>
            <a:off x="2876550" y="1366838"/>
            <a:ext cx="1985963" cy="285750"/>
          </a:xfrm>
          <a:prstGeom prst="rect">
            <a:avLst/>
          </a:prstGeom>
          <a:noFill/>
          <a:ln/>
        </p:spPr>
        <p:txBody>
          <a:bodyPr wrap="square" lIns="0" tIns="0" rIns="0" bIns="0" rtlCol="0" anchor="t"/>
          <a:lstStyle/>
          <a:p>
            <a:pPr marL="0" indent="0" algn="l">
              <a:lnSpc>
                <a:spcPts val="1125"/>
              </a:lnSpc>
              <a:buNone/>
            </a:pPr>
            <a:r>
              <a:rPr lang="en-US" sz="855" b="1" kern="0" spc="15" dirty="0">
                <a:solidFill>
                  <a:srgbClr val="1B1A1A"/>
                </a:solidFill>
                <a:latin typeface="Quicksand" pitchFamily="34" charset="0"/>
              </a:rPr>
              <a:t>Food services and drinking places sales</a:t>
            </a:r>
            <a:endParaRPr lang="en-US" sz="855" dirty="0"/>
          </a:p>
        </p:txBody>
      </p:sp>
      <p:sp>
        <p:nvSpPr>
          <p:cNvPr id="33" name="Text 32"/>
          <p:cNvSpPr txBox="1"/>
          <p:nvPr/>
        </p:nvSpPr>
        <p:spPr>
          <a:xfrm>
            <a:off x="2876550" y="1652588"/>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Monthly, seasonally adjusted, US Census Bureau</a:t>
            </a:r>
            <a:endParaRPr lang="en-US" sz="645" dirty="0"/>
          </a:p>
        </p:txBody>
      </p:sp>
      <p:sp>
        <p:nvSpPr>
          <p:cNvPr id="34" name="Text 33"/>
          <p:cNvSpPr txBox="1"/>
          <p:nvPr/>
        </p:nvSpPr>
        <p:spPr>
          <a:xfrm>
            <a:off x="2876550" y="1928813"/>
            <a:ext cx="1020961"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$105.1B</a:t>
            </a:r>
            <a:endParaRPr lang="en-US" sz="1875" dirty="0"/>
          </a:p>
        </p:txBody>
      </p:sp>
      <p:sp>
        <p:nvSpPr>
          <p:cNvPr id="35" name="Text 34"/>
          <p:cNvSpPr txBox="1"/>
          <p:nvPr/>
        </p:nvSpPr>
        <p:spPr>
          <a:xfrm>
            <a:off x="2876550" y="2195513"/>
            <a:ext cx="96381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36" name="Text 35"/>
          <p:cNvSpPr txBox="1"/>
          <p:nvPr/>
        </p:nvSpPr>
        <p:spPr>
          <a:xfrm>
            <a:off x="4279702" y="20431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+5.8%</a:t>
            </a:r>
            <a:endParaRPr lang="en-US" sz="900" dirty="0"/>
          </a:p>
        </p:txBody>
      </p:sp>
      <p:sp>
        <p:nvSpPr>
          <p:cNvPr id="37" name="Text 36"/>
          <p:cNvSpPr txBox="1"/>
          <p:nvPr/>
        </p:nvSpPr>
        <p:spPr>
          <a:xfrm>
            <a:off x="4279702" y="21955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38" name="Chart rule"/>
          <p:cNvSpPr/>
          <p:nvPr/>
        </p:nvSpPr>
        <p:spPr>
          <a:xfrm>
            <a:off x="2895600" y="3571875"/>
            <a:ext cx="1857375" cy="0"/>
          </a:xfrm>
          <a:prstGeom prst="line">
            <a:avLst/>
          </a:prstGeom>
          <a:noFill/>
          <a:ln w="9525">
            <a:solidFill>
              <a:srgbClr val="C3BDB6"/>
            </a:solidFill>
            <a:prstDash val="solid"/>
          </a:ln>
        </p:spPr>
        <p:txBody>
          <a:bodyPr/>
          <a:lstStyle/>
          <a:p>
            <a:endParaRPr lang="en-US"/>
          </a:p>
        </p:txBody>
      </p:sp>
      <p:sp>
        <p:nvSpPr>
          <p:cNvPr id="39" name="Chart rule"/>
          <p:cNvSpPr/>
          <p:nvPr/>
        </p:nvSpPr>
        <p:spPr>
          <a:xfrm>
            <a:off x="3228022" y="2447925"/>
            <a:ext cx="0" cy="1123950"/>
          </a:xfrm>
          <a:prstGeom prst="line">
            <a:avLst/>
          </a:prstGeom>
          <a:noFill/>
          <a:ln w="9525">
            <a:solidFill>
              <a:srgbClr val="E3DCD3"/>
            </a:solidFill>
            <a:prstDash val="solid"/>
          </a:ln>
        </p:spPr>
        <p:txBody>
          <a:bodyPr/>
          <a:lstStyle/>
          <a:p>
            <a:endParaRPr lang="en-US"/>
          </a:p>
        </p:txBody>
      </p:sp>
      <p:sp>
        <p:nvSpPr>
          <p:cNvPr id="40" name="Chart rule"/>
          <p:cNvSpPr/>
          <p:nvPr/>
        </p:nvSpPr>
        <p:spPr>
          <a:xfrm>
            <a:off x="3561398" y="2447925"/>
            <a:ext cx="0" cy="1123950"/>
          </a:xfrm>
          <a:prstGeom prst="line">
            <a:avLst/>
          </a:prstGeom>
          <a:noFill/>
          <a:ln w="9525">
            <a:solidFill>
              <a:srgbClr val="E3DCD3"/>
            </a:solidFill>
            <a:prstDash val="solid"/>
          </a:ln>
        </p:spPr>
        <p:txBody>
          <a:bodyPr/>
          <a:lstStyle/>
          <a:p>
            <a:endParaRPr lang="en-US"/>
          </a:p>
        </p:txBody>
      </p:sp>
      <p:sp>
        <p:nvSpPr>
          <p:cNvPr id="41" name="Chart rule"/>
          <p:cNvSpPr/>
          <p:nvPr/>
        </p:nvSpPr>
        <p:spPr>
          <a:xfrm>
            <a:off x="3893820" y="2447925"/>
            <a:ext cx="0" cy="1123950"/>
          </a:xfrm>
          <a:prstGeom prst="line">
            <a:avLst/>
          </a:prstGeom>
          <a:noFill/>
          <a:ln w="9525">
            <a:solidFill>
              <a:srgbClr val="E3DCD3"/>
            </a:solidFill>
            <a:prstDash val="solid"/>
          </a:ln>
        </p:spPr>
        <p:txBody>
          <a:bodyPr/>
          <a:lstStyle/>
          <a:p>
            <a:endParaRPr lang="en-US"/>
          </a:p>
        </p:txBody>
      </p:sp>
      <p:sp>
        <p:nvSpPr>
          <p:cNvPr id="42" name="Chart rule"/>
          <p:cNvSpPr/>
          <p:nvPr/>
        </p:nvSpPr>
        <p:spPr>
          <a:xfrm>
            <a:off x="4226243" y="2447925"/>
            <a:ext cx="0" cy="1123950"/>
          </a:xfrm>
          <a:prstGeom prst="line">
            <a:avLst/>
          </a:prstGeom>
          <a:noFill/>
          <a:ln w="9525">
            <a:solidFill>
              <a:srgbClr val="E3DCD3"/>
            </a:solidFill>
            <a:prstDash val="solid"/>
          </a:ln>
        </p:spPr>
        <p:txBody>
          <a:bodyPr/>
          <a:lstStyle/>
          <a:p>
            <a:endParaRPr lang="en-US"/>
          </a:p>
        </p:txBody>
      </p:sp>
      <p:sp>
        <p:nvSpPr>
          <p:cNvPr id="43" name="Chart rule"/>
          <p:cNvSpPr/>
          <p:nvPr/>
        </p:nvSpPr>
        <p:spPr>
          <a:xfrm>
            <a:off x="4558665" y="2447925"/>
            <a:ext cx="0" cy="1123950"/>
          </a:xfrm>
          <a:prstGeom prst="line">
            <a:avLst/>
          </a:prstGeom>
          <a:noFill/>
          <a:ln w="9525">
            <a:solidFill>
              <a:srgbClr val="E3DCD3"/>
            </a:solidFill>
            <a:prstDash val="solid"/>
          </a:ln>
        </p:spPr>
        <p:txBody>
          <a:bodyPr/>
          <a:lstStyle/>
          <a:p>
            <a:endParaRPr lang="en-US"/>
          </a:p>
        </p:txBody>
      </p:sp>
      <p:graphicFrame>
        <p:nvGraphicFramePr>
          <p:cNvPr id="44" name="Indicator chart 2"/>
          <p:cNvGraphicFramePr/>
          <p:nvPr/>
        </p:nvGraphicFramePr>
        <p:xfrm>
          <a:off x="2881739" y="2447925"/>
          <a:ext cx="1885097" cy="1123950"/>
        </p:xfrm>
        <a:graphic>
          <a:graphicData uri="http://schemas.openxmlformats.org/drawingml/2006/chart">
            <c:chart xmlns:c="http://schemas.openxmlformats.org/drawingml/2006/chart" xmlns:r="http://schemas.openxmlformats.org/officeDocument/2006/relationships" r:id="rId6"/>
          </a:graphicData>
        </a:graphic>
      </p:graphicFrame>
      <p:sp>
        <p:nvSpPr>
          <p:cNvPr id="45" name="Text 44"/>
          <p:cNvSpPr txBox="1"/>
          <p:nvPr/>
        </p:nvSpPr>
        <p:spPr>
          <a:xfrm>
            <a:off x="3247072" y="36099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46" name="Text 45"/>
          <p:cNvSpPr txBox="1"/>
          <p:nvPr/>
        </p:nvSpPr>
        <p:spPr>
          <a:xfrm>
            <a:off x="3580447" y="36099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47" name="Text 46"/>
          <p:cNvSpPr txBox="1"/>
          <p:nvPr/>
        </p:nvSpPr>
        <p:spPr>
          <a:xfrm>
            <a:off x="3912870" y="36099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48" name="Text 47"/>
          <p:cNvSpPr txBox="1"/>
          <p:nvPr/>
        </p:nvSpPr>
        <p:spPr>
          <a:xfrm>
            <a:off x="4245293" y="36099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49" name="Text 48"/>
          <p:cNvSpPr txBox="1"/>
          <p:nvPr/>
        </p:nvSpPr>
        <p:spPr>
          <a:xfrm>
            <a:off x="4577715" y="36099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50" name="Text 49"/>
          <p:cNvSpPr txBox="1"/>
          <p:nvPr/>
        </p:nvSpPr>
        <p:spPr>
          <a:xfrm>
            <a:off x="2876550"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FRED, series MRTSSM722USS</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Census advance release</a:t>
            </a:r>
            <a:endParaRPr lang="en-US" sz="630" dirty="0"/>
          </a:p>
        </p:txBody>
      </p:sp>
      <p:sp>
        <p:nvSpPr>
          <p:cNvPr id="51" name="Shape 50"/>
          <p:cNvSpPr/>
          <p:nvPr/>
        </p:nvSpPr>
        <p:spPr>
          <a:xfrm>
            <a:off x="5086350" y="1238250"/>
            <a:ext cx="2219325" cy="2790825"/>
          </a:xfrm>
          <a:prstGeom prst="rect">
            <a:avLst/>
          </a:prstGeom>
          <a:solidFill>
            <a:srgbClr val="FAF7F3"/>
          </a:solidFill>
          <a:ln/>
        </p:spPr>
        <p:txBody>
          <a:bodyPr/>
          <a:lstStyle/>
          <a:p>
            <a:endParaRPr lang="en-US"/>
          </a:p>
        </p:txBody>
      </p:sp>
      <p:sp>
        <p:nvSpPr>
          <p:cNvPr id="52" name="Shape 51"/>
          <p:cNvSpPr/>
          <p:nvPr/>
        </p:nvSpPr>
        <p:spPr>
          <a:xfrm>
            <a:off x="5086350" y="1238250"/>
            <a:ext cx="2219325" cy="28575"/>
          </a:xfrm>
          <a:prstGeom prst="rect">
            <a:avLst/>
          </a:prstGeom>
          <a:solidFill>
            <a:srgbClr val="B68757"/>
          </a:solidFill>
          <a:ln/>
        </p:spPr>
        <p:txBody>
          <a:bodyPr/>
          <a:lstStyle/>
          <a:p>
            <a:endParaRPr lang="en-US"/>
          </a:p>
        </p:txBody>
      </p:sp>
      <p:sp>
        <p:nvSpPr>
          <p:cNvPr id="53" name="Text 52"/>
          <p:cNvSpPr txBox="1"/>
          <p:nvPr/>
        </p:nvSpPr>
        <p:spPr>
          <a:xfrm>
            <a:off x="5210175"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E-commerce share of retail sales</a:t>
            </a:r>
            <a:endParaRPr lang="en-US" sz="855" dirty="0"/>
          </a:p>
        </p:txBody>
      </p:sp>
      <p:sp>
        <p:nvSpPr>
          <p:cNvPr id="54" name="Text 53"/>
          <p:cNvSpPr txBox="1"/>
          <p:nvPr/>
        </p:nvSpPr>
        <p:spPr>
          <a:xfrm>
            <a:off x="5210175" y="1509713"/>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Quarterly, seasonally adjusted, US Census Bureau</a:t>
            </a:r>
            <a:endParaRPr lang="en-US" sz="645" dirty="0"/>
          </a:p>
        </p:txBody>
      </p:sp>
      <p:sp>
        <p:nvSpPr>
          <p:cNvPr id="55" name="Text 54"/>
          <p:cNvSpPr txBox="1"/>
          <p:nvPr/>
        </p:nvSpPr>
        <p:spPr>
          <a:xfrm>
            <a:off x="5210175" y="1804988"/>
            <a:ext cx="761554"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17.1%</a:t>
            </a:r>
            <a:endParaRPr lang="en-US" sz="1875" dirty="0"/>
          </a:p>
        </p:txBody>
      </p:sp>
      <p:sp>
        <p:nvSpPr>
          <p:cNvPr id="56" name="Text 55"/>
          <p:cNvSpPr txBox="1"/>
          <p:nvPr/>
        </p:nvSpPr>
        <p:spPr>
          <a:xfrm>
            <a:off x="5210175" y="2071688"/>
            <a:ext cx="70440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Q2 2026</a:t>
            </a:r>
            <a:endParaRPr lang="en-US" sz="660" dirty="0"/>
          </a:p>
        </p:txBody>
      </p:sp>
      <p:sp>
        <p:nvSpPr>
          <p:cNvPr id="57" name="Text 56"/>
          <p:cNvSpPr txBox="1"/>
          <p:nvPr/>
        </p:nvSpPr>
        <p:spPr>
          <a:xfrm>
            <a:off x="6613327"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+0.8 pts</a:t>
            </a:r>
            <a:endParaRPr lang="en-US" sz="900" dirty="0"/>
          </a:p>
        </p:txBody>
      </p:sp>
      <p:sp>
        <p:nvSpPr>
          <p:cNvPr id="58" name="Text 57"/>
          <p:cNvSpPr txBox="1"/>
          <p:nvPr/>
        </p:nvSpPr>
        <p:spPr>
          <a:xfrm>
            <a:off x="6613327"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59" name="Chart rule"/>
          <p:cNvSpPr/>
          <p:nvPr/>
        </p:nvSpPr>
        <p:spPr>
          <a:xfrm>
            <a:off x="5229225" y="3448050"/>
            <a:ext cx="1857375" cy="0"/>
          </a:xfrm>
          <a:prstGeom prst="line">
            <a:avLst/>
          </a:prstGeom>
          <a:noFill/>
          <a:ln w="9525">
            <a:solidFill>
              <a:srgbClr val="C3BDB6"/>
            </a:solidFill>
            <a:prstDash val="solid"/>
          </a:ln>
        </p:spPr>
        <p:txBody>
          <a:bodyPr/>
          <a:lstStyle/>
          <a:p>
            <a:endParaRPr lang="en-US"/>
          </a:p>
        </p:txBody>
      </p:sp>
      <p:sp>
        <p:nvSpPr>
          <p:cNvPr id="60" name="Chart rule"/>
          <p:cNvSpPr/>
          <p:nvPr/>
        </p:nvSpPr>
        <p:spPr>
          <a:xfrm>
            <a:off x="5582603" y="2324100"/>
            <a:ext cx="0" cy="1123950"/>
          </a:xfrm>
          <a:prstGeom prst="line">
            <a:avLst/>
          </a:prstGeom>
          <a:noFill/>
          <a:ln w="9525">
            <a:solidFill>
              <a:srgbClr val="E3DCD3"/>
            </a:solidFill>
            <a:prstDash val="solid"/>
          </a:ln>
        </p:spPr>
        <p:txBody>
          <a:bodyPr/>
          <a:lstStyle/>
          <a:p>
            <a:endParaRPr lang="en-US"/>
          </a:p>
        </p:txBody>
      </p:sp>
      <p:sp>
        <p:nvSpPr>
          <p:cNvPr id="61" name="Chart rule"/>
          <p:cNvSpPr/>
          <p:nvPr/>
        </p:nvSpPr>
        <p:spPr>
          <a:xfrm>
            <a:off x="5936933" y="2324100"/>
            <a:ext cx="0" cy="1123950"/>
          </a:xfrm>
          <a:prstGeom prst="line">
            <a:avLst/>
          </a:prstGeom>
          <a:noFill/>
          <a:ln w="9525">
            <a:solidFill>
              <a:srgbClr val="E3DCD3"/>
            </a:solidFill>
            <a:prstDash val="solid"/>
          </a:ln>
        </p:spPr>
        <p:txBody>
          <a:bodyPr/>
          <a:lstStyle/>
          <a:p>
            <a:endParaRPr lang="en-US"/>
          </a:p>
        </p:txBody>
      </p:sp>
      <p:sp>
        <p:nvSpPr>
          <p:cNvPr id="62" name="Chart rule"/>
          <p:cNvSpPr/>
          <p:nvPr/>
        </p:nvSpPr>
        <p:spPr>
          <a:xfrm>
            <a:off x="6290310" y="2324100"/>
            <a:ext cx="0" cy="1123950"/>
          </a:xfrm>
          <a:prstGeom prst="line">
            <a:avLst/>
          </a:prstGeom>
          <a:noFill/>
          <a:ln w="9525">
            <a:solidFill>
              <a:srgbClr val="E3DCD3"/>
            </a:solidFill>
            <a:prstDash val="solid"/>
          </a:ln>
        </p:spPr>
        <p:txBody>
          <a:bodyPr/>
          <a:lstStyle/>
          <a:p>
            <a:endParaRPr lang="en-US"/>
          </a:p>
        </p:txBody>
      </p:sp>
      <p:sp>
        <p:nvSpPr>
          <p:cNvPr id="63" name="Chart rule"/>
          <p:cNvSpPr/>
          <p:nvPr/>
        </p:nvSpPr>
        <p:spPr>
          <a:xfrm>
            <a:off x="6644640" y="2324100"/>
            <a:ext cx="0" cy="1123950"/>
          </a:xfrm>
          <a:prstGeom prst="line">
            <a:avLst/>
          </a:prstGeom>
          <a:noFill/>
          <a:ln w="9525">
            <a:solidFill>
              <a:srgbClr val="E3DCD3"/>
            </a:solidFill>
            <a:prstDash val="solid"/>
          </a:ln>
        </p:spPr>
        <p:txBody>
          <a:bodyPr/>
          <a:lstStyle/>
          <a:p>
            <a:endParaRPr lang="en-US"/>
          </a:p>
        </p:txBody>
      </p:sp>
      <p:sp>
        <p:nvSpPr>
          <p:cNvPr id="64" name="Chart rule"/>
          <p:cNvSpPr/>
          <p:nvPr/>
        </p:nvSpPr>
        <p:spPr>
          <a:xfrm>
            <a:off x="6998018" y="2324100"/>
            <a:ext cx="0" cy="1123950"/>
          </a:xfrm>
          <a:prstGeom prst="line">
            <a:avLst/>
          </a:prstGeom>
          <a:noFill/>
          <a:ln w="9525">
            <a:solidFill>
              <a:srgbClr val="E3DCD3"/>
            </a:solidFill>
            <a:prstDash val="solid"/>
          </a:ln>
        </p:spPr>
        <p:txBody>
          <a:bodyPr/>
          <a:lstStyle/>
          <a:p>
            <a:endParaRPr lang="en-US"/>
          </a:p>
        </p:txBody>
      </p:sp>
      <p:graphicFrame>
        <p:nvGraphicFramePr>
          <p:cNvPr id="65" name="Indicator chart 3"/>
          <p:cNvGraphicFramePr/>
          <p:nvPr/>
        </p:nvGraphicFramePr>
        <p:xfrm>
          <a:off x="5185002" y="2324100"/>
          <a:ext cx="1945821" cy="1123950"/>
        </p:xfrm>
        <a:graphic>
          <a:graphicData uri="http://schemas.openxmlformats.org/drawingml/2006/chart">
            <c:chart xmlns:c="http://schemas.openxmlformats.org/drawingml/2006/chart" xmlns:r="http://schemas.openxmlformats.org/officeDocument/2006/relationships" r:id="rId8"/>
          </a:graphicData>
        </a:graphic>
      </p:graphicFrame>
      <p:sp>
        <p:nvSpPr>
          <p:cNvPr id="66" name="Text 65"/>
          <p:cNvSpPr txBox="1"/>
          <p:nvPr/>
        </p:nvSpPr>
        <p:spPr>
          <a:xfrm>
            <a:off x="5601652"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67" name="Text 66"/>
          <p:cNvSpPr txBox="1"/>
          <p:nvPr/>
        </p:nvSpPr>
        <p:spPr>
          <a:xfrm>
            <a:off x="5955982"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68" name="Text 67"/>
          <p:cNvSpPr txBox="1"/>
          <p:nvPr/>
        </p:nvSpPr>
        <p:spPr>
          <a:xfrm>
            <a:off x="6309360"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69" name="Text 68"/>
          <p:cNvSpPr txBox="1"/>
          <p:nvPr/>
        </p:nvSpPr>
        <p:spPr>
          <a:xfrm>
            <a:off x="6663690"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70" name="Text 69"/>
          <p:cNvSpPr txBox="1"/>
          <p:nvPr/>
        </p:nvSpPr>
        <p:spPr>
          <a:xfrm>
            <a:off x="5210175" y="3838575"/>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FRED, series ECOMPCTSA</a:t>
            </a:r>
            <a:endParaRPr lang="en-US" sz="630" dirty="0"/>
          </a:p>
        </p:txBody>
      </p:sp>
      <p:sp>
        <p:nvSpPr>
          <p:cNvPr id="71" name="Shape 70"/>
          <p:cNvSpPr/>
          <p:nvPr/>
        </p:nvSpPr>
        <p:spPr>
          <a:xfrm>
            <a:off x="7419975" y="1238250"/>
            <a:ext cx="2219325" cy="2790825"/>
          </a:xfrm>
          <a:prstGeom prst="rect">
            <a:avLst/>
          </a:prstGeom>
          <a:solidFill>
            <a:srgbClr val="FAF7F3"/>
          </a:solidFill>
          <a:ln/>
        </p:spPr>
        <p:txBody>
          <a:bodyPr/>
          <a:lstStyle/>
          <a:p>
            <a:endParaRPr lang="en-US"/>
          </a:p>
        </p:txBody>
      </p:sp>
      <p:sp>
        <p:nvSpPr>
          <p:cNvPr id="72" name="Shape 71"/>
          <p:cNvSpPr/>
          <p:nvPr/>
        </p:nvSpPr>
        <p:spPr>
          <a:xfrm>
            <a:off x="7419975" y="1238250"/>
            <a:ext cx="2219325" cy="28575"/>
          </a:xfrm>
          <a:prstGeom prst="rect">
            <a:avLst/>
          </a:prstGeom>
          <a:solidFill>
            <a:srgbClr val="B68757"/>
          </a:solidFill>
          <a:ln/>
        </p:spPr>
        <p:txBody>
          <a:bodyPr/>
          <a:lstStyle/>
          <a:p>
            <a:endParaRPr lang="en-US"/>
          </a:p>
        </p:txBody>
      </p:sp>
      <p:sp>
        <p:nvSpPr>
          <p:cNvPr id="73" name="Text 72"/>
          <p:cNvSpPr txBox="1"/>
          <p:nvPr/>
        </p:nvSpPr>
        <p:spPr>
          <a:xfrm>
            <a:off x="7543800"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Consumer sentiment</a:t>
            </a:r>
            <a:endParaRPr lang="en-US" sz="855" dirty="0"/>
          </a:p>
        </p:txBody>
      </p:sp>
      <p:sp>
        <p:nvSpPr>
          <p:cNvPr id="74" name="Text 73"/>
          <p:cNvSpPr txBox="1"/>
          <p:nvPr/>
        </p:nvSpPr>
        <p:spPr>
          <a:xfrm>
            <a:off x="7543800" y="1509713"/>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University of Michigan index, monthly</a:t>
            </a:r>
            <a:endParaRPr lang="en-US" sz="645" dirty="0"/>
          </a:p>
        </p:txBody>
      </p:sp>
      <p:sp>
        <p:nvSpPr>
          <p:cNvPr id="75" name="Text 74"/>
          <p:cNvSpPr txBox="1"/>
          <p:nvPr/>
        </p:nvSpPr>
        <p:spPr>
          <a:xfrm>
            <a:off x="7543800" y="1804988"/>
            <a:ext cx="56018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48.1</a:t>
            </a:r>
            <a:endParaRPr lang="en-US" sz="1875" dirty="0"/>
          </a:p>
        </p:txBody>
      </p:sp>
      <p:sp>
        <p:nvSpPr>
          <p:cNvPr id="76" name="Text 75"/>
          <p:cNvSpPr txBox="1"/>
          <p:nvPr/>
        </p:nvSpPr>
        <p:spPr>
          <a:xfrm>
            <a:off x="7543800" y="2071688"/>
            <a:ext cx="50303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77" name="Text 76"/>
          <p:cNvSpPr txBox="1"/>
          <p:nvPr/>
        </p:nvSpPr>
        <p:spPr>
          <a:xfrm>
            <a:off x="8946952"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−7.0 pts</a:t>
            </a:r>
            <a:endParaRPr lang="en-US" sz="900" dirty="0"/>
          </a:p>
        </p:txBody>
      </p:sp>
      <p:sp>
        <p:nvSpPr>
          <p:cNvPr id="78" name="Text 77"/>
          <p:cNvSpPr txBox="1"/>
          <p:nvPr/>
        </p:nvSpPr>
        <p:spPr>
          <a:xfrm>
            <a:off x="8946952"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79" name="Chart rule"/>
          <p:cNvSpPr/>
          <p:nvPr/>
        </p:nvSpPr>
        <p:spPr>
          <a:xfrm>
            <a:off x="7562850" y="3448050"/>
            <a:ext cx="1857375" cy="0"/>
          </a:xfrm>
          <a:prstGeom prst="line">
            <a:avLst/>
          </a:prstGeom>
          <a:noFill/>
          <a:ln w="9525">
            <a:solidFill>
              <a:srgbClr val="C3BDB6"/>
            </a:solidFill>
            <a:prstDash val="solid"/>
          </a:ln>
        </p:spPr>
        <p:txBody>
          <a:bodyPr/>
          <a:lstStyle/>
          <a:p>
            <a:endParaRPr lang="en-US"/>
          </a:p>
        </p:txBody>
      </p:sp>
      <p:sp>
        <p:nvSpPr>
          <p:cNvPr id="80" name="Chart rule"/>
          <p:cNvSpPr/>
          <p:nvPr/>
        </p:nvSpPr>
        <p:spPr>
          <a:xfrm>
            <a:off x="7890510" y="2324100"/>
            <a:ext cx="0" cy="1123950"/>
          </a:xfrm>
          <a:prstGeom prst="line">
            <a:avLst/>
          </a:prstGeom>
          <a:noFill/>
          <a:ln w="9525">
            <a:solidFill>
              <a:srgbClr val="E3DCD3"/>
            </a:solidFill>
            <a:prstDash val="solid"/>
          </a:ln>
        </p:spPr>
        <p:txBody>
          <a:bodyPr/>
          <a:lstStyle/>
          <a:p>
            <a:endParaRPr lang="en-US"/>
          </a:p>
        </p:txBody>
      </p:sp>
      <p:sp>
        <p:nvSpPr>
          <p:cNvPr id="81" name="Chart rule"/>
          <p:cNvSpPr/>
          <p:nvPr/>
        </p:nvSpPr>
        <p:spPr>
          <a:xfrm>
            <a:off x="8218170" y="2324100"/>
            <a:ext cx="0" cy="1123950"/>
          </a:xfrm>
          <a:prstGeom prst="line">
            <a:avLst/>
          </a:prstGeom>
          <a:noFill/>
          <a:ln w="9525">
            <a:solidFill>
              <a:srgbClr val="E3DCD3"/>
            </a:solidFill>
            <a:prstDash val="solid"/>
          </a:ln>
        </p:spPr>
        <p:txBody>
          <a:bodyPr/>
          <a:lstStyle/>
          <a:p>
            <a:endParaRPr lang="en-US"/>
          </a:p>
        </p:txBody>
      </p:sp>
      <p:sp>
        <p:nvSpPr>
          <p:cNvPr id="82" name="Chart rule"/>
          <p:cNvSpPr/>
          <p:nvPr/>
        </p:nvSpPr>
        <p:spPr>
          <a:xfrm>
            <a:off x="8545830" y="2324100"/>
            <a:ext cx="0" cy="1123950"/>
          </a:xfrm>
          <a:prstGeom prst="line">
            <a:avLst/>
          </a:prstGeom>
          <a:noFill/>
          <a:ln w="9525">
            <a:solidFill>
              <a:srgbClr val="E3DCD3"/>
            </a:solidFill>
            <a:prstDash val="solid"/>
          </a:ln>
        </p:spPr>
        <p:txBody>
          <a:bodyPr/>
          <a:lstStyle/>
          <a:p>
            <a:endParaRPr lang="en-US"/>
          </a:p>
        </p:txBody>
      </p:sp>
      <p:sp>
        <p:nvSpPr>
          <p:cNvPr id="83" name="Chart rule"/>
          <p:cNvSpPr/>
          <p:nvPr/>
        </p:nvSpPr>
        <p:spPr>
          <a:xfrm>
            <a:off x="8873490" y="2324100"/>
            <a:ext cx="0" cy="1123950"/>
          </a:xfrm>
          <a:prstGeom prst="line">
            <a:avLst/>
          </a:prstGeom>
          <a:noFill/>
          <a:ln w="9525">
            <a:solidFill>
              <a:srgbClr val="E3DCD3"/>
            </a:solidFill>
            <a:prstDash val="solid"/>
          </a:ln>
        </p:spPr>
        <p:txBody>
          <a:bodyPr/>
          <a:lstStyle/>
          <a:p>
            <a:endParaRPr lang="en-US"/>
          </a:p>
        </p:txBody>
      </p:sp>
      <p:sp>
        <p:nvSpPr>
          <p:cNvPr id="84" name="Chart rule"/>
          <p:cNvSpPr/>
          <p:nvPr/>
        </p:nvSpPr>
        <p:spPr>
          <a:xfrm>
            <a:off x="9202103" y="2324100"/>
            <a:ext cx="0" cy="1123950"/>
          </a:xfrm>
          <a:prstGeom prst="line">
            <a:avLst/>
          </a:prstGeom>
          <a:noFill/>
          <a:ln w="9525">
            <a:solidFill>
              <a:srgbClr val="E3DCD3"/>
            </a:solidFill>
            <a:prstDash val="solid"/>
          </a:ln>
        </p:spPr>
        <p:txBody>
          <a:bodyPr/>
          <a:lstStyle/>
          <a:p>
            <a:endParaRPr lang="en-US"/>
          </a:p>
        </p:txBody>
      </p:sp>
      <p:graphicFrame>
        <p:nvGraphicFramePr>
          <p:cNvPr id="85" name="Indicator chart 4"/>
          <p:cNvGraphicFramePr/>
          <p:nvPr/>
        </p:nvGraphicFramePr>
        <p:xfrm>
          <a:off x="7549193" y="2324100"/>
          <a:ext cx="1884689" cy="1123950"/>
        </p:xfrm>
        <a:graphic>
          <a:graphicData uri="http://schemas.openxmlformats.org/drawingml/2006/chart">
            <c:chart xmlns:c="http://schemas.openxmlformats.org/drawingml/2006/chart" xmlns:r="http://schemas.openxmlformats.org/officeDocument/2006/relationships" r:id="rId10"/>
          </a:graphicData>
        </a:graphic>
      </p:graphicFrame>
      <p:sp>
        <p:nvSpPr>
          <p:cNvPr id="86" name="Text 85"/>
          <p:cNvSpPr txBox="1"/>
          <p:nvPr/>
        </p:nvSpPr>
        <p:spPr>
          <a:xfrm>
            <a:off x="7909560"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87" name="Text 86"/>
          <p:cNvSpPr txBox="1"/>
          <p:nvPr/>
        </p:nvSpPr>
        <p:spPr>
          <a:xfrm>
            <a:off x="8237220"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88" name="Text 87"/>
          <p:cNvSpPr txBox="1"/>
          <p:nvPr/>
        </p:nvSpPr>
        <p:spPr>
          <a:xfrm>
            <a:off x="8564880"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89" name="Text 88"/>
          <p:cNvSpPr txBox="1"/>
          <p:nvPr/>
        </p:nvSpPr>
        <p:spPr>
          <a:xfrm>
            <a:off x="8892540"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90" name="Text 89"/>
          <p:cNvSpPr txBox="1"/>
          <p:nvPr/>
        </p:nvSpPr>
        <p:spPr>
          <a:xfrm>
            <a:off x="9221152"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91" name="Text 90"/>
          <p:cNvSpPr txBox="1"/>
          <p:nvPr/>
        </p:nvSpPr>
        <p:spPr>
          <a:xfrm>
            <a:off x="7543800"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FRED, series UMCSENT</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Surveys of Consumers</a:t>
            </a:r>
            <a:endParaRPr lang="en-US" sz="630" dirty="0"/>
          </a:p>
        </p:txBody>
      </p:sp>
      <p:sp>
        <p:nvSpPr>
          <p:cNvPr id="92" name="Shape 91"/>
          <p:cNvSpPr/>
          <p:nvPr/>
        </p:nvSpPr>
        <p:spPr>
          <a:xfrm>
            <a:off x="419100" y="4143375"/>
            <a:ext cx="2219325" cy="2790825"/>
          </a:xfrm>
          <a:prstGeom prst="rect">
            <a:avLst/>
          </a:prstGeom>
          <a:solidFill>
            <a:srgbClr val="FAF7F3"/>
          </a:solidFill>
          <a:ln/>
        </p:spPr>
        <p:txBody>
          <a:bodyPr/>
          <a:lstStyle/>
          <a:p>
            <a:endParaRPr lang="en-US"/>
          </a:p>
        </p:txBody>
      </p:sp>
      <p:sp>
        <p:nvSpPr>
          <p:cNvPr id="93" name="Shape 92"/>
          <p:cNvSpPr/>
          <p:nvPr/>
        </p:nvSpPr>
        <p:spPr>
          <a:xfrm>
            <a:off x="419100" y="4143375"/>
            <a:ext cx="2219325" cy="28575"/>
          </a:xfrm>
          <a:prstGeom prst="rect">
            <a:avLst/>
          </a:prstGeom>
          <a:solidFill>
            <a:srgbClr val="B68757"/>
          </a:solidFill>
          <a:ln/>
        </p:spPr>
        <p:txBody>
          <a:bodyPr/>
          <a:lstStyle/>
          <a:p>
            <a:endParaRPr lang="en-US"/>
          </a:p>
        </p:txBody>
      </p:sp>
      <p:sp>
        <p:nvSpPr>
          <p:cNvPr id="94" name="Text 93"/>
          <p:cNvSpPr txBox="1"/>
          <p:nvPr/>
        </p:nvSpPr>
        <p:spPr>
          <a:xfrm>
            <a:off x="542925"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Food at home prices</a:t>
            </a:r>
            <a:endParaRPr lang="en-US" sz="855" dirty="0"/>
          </a:p>
        </p:txBody>
      </p:sp>
      <p:sp>
        <p:nvSpPr>
          <p:cNvPr id="95" name="Text 94"/>
          <p:cNvSpPr txBox="1"/>
          <p:nvPr/>
        </p:nvSpPr>
        <p:spPr>
          <a:xfrm>
            <a:off x="542925"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Consumer price index, seasonally adjusted, 1982–84 = 100</a:t>
            </a:r>
            <a:endParaRPr lang="en-US" sz="645" dirty="0"/>
          </a:p>
        </p:txBody>
      </p:sp>
      <p:sp>
        <p:nvSpPr>
          <p:cNvPr id="96" name="Text 95"/>
          <p:cNvSpPr txBox="1"/>
          <p:nvPr/>
        </p:nvSpPr>
        <p:spPr>
          <a:xfrm>
            <a:off x="542925"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321.3</a:t>
            </a:r>
            <a:endParaRPr lang="en-US" sz="1875" dirty="0"/>
          </a:p>
        </p:txBody>
      </p:sp>
      <p:sp>
        <p:nvSpPr>
          <p:cNvPr id="97" name="Text 96"/>
          <p:cNvSpPr txBox="1"/>
          <p:nvPr/>
        </p:nvSpPr>
        <p:spPr>
          <a:xfrm>
            <a:off x="542925"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98" name="Text 97"/>
          <p:cNvSpPr txBox="1"/>
          <p:nvPr/>
        </p:nvSpPr>
        <p:spPr>
          <a:xfrm>
            <a:off x="1946077"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+2.1%</a:t>
            </a:r>
            <a:endParaRPr lang="en-US" sz="900" dirty="0"/>
          </a:p>
        </p:txBody>
      </p:sp>
      <p:sp>
        <p:nvSpPr>
          <p:cNvPr id="99" name="Text 98"/>
          <p:cNvSpPr txBox="1"/>
          <p:nvPr/>
        </p:nvSpPr>
        <p:spPr>
          <a:xfrm>
            <a:off x="1946077"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00" name="Chart rule"/>
          <p:cNvSpPr/>
          <p:nvPr/>
        </p:nvSpPr>
        <p:spPr>
          <a:xfrm>
            <a:off x="561975" y="6353175"/>
            <a:ext cx="1857375" cy="0"/>
          </a:xfrm>
          <a:prstGeom prst="line">
            <a:avLst/>
          </a:prstGeom>
          <a:noFill/>
          <a:ln w="9525">
            <a:solidFill>
              <a:srgbClr val="C3BDB6"/>
            </a:solidFill>
            <a:prstDash val="solid"/>
          </a:ln>
        </p:spPr>
        <p:txBody>
          <a:bodyPr/>
          <a:lstStyle/>
          <a:p>
            <a:endParaRPr lang="en-US"/>
          </a:p>
        </p:txBody>
      </p:sp>
      <p:sp>
        <p:nvSpPr>
          <p:cNvPr id="101" name="Chart rule"/>
          <p:cNvSpPr/>
          <p:nvPr/>
        </p:nvSpPr>
        <p:spPr>
          <a:xfrm>
            <a:off x="900113" y="5229225"/>
            <a:ext cx="0" cy="1123950"/>
          </a:xfrm>
          <a:prstGeom prst="line">
            <a:avLst/>
          </a:prstGeom>
          <a:noFill/>
          <a:ln w="9525">
            <a:solidFill>
              <a:srgbClr val="E3DCD3"/>
            </a:solidFill>
            <a:prstDash val="solid"/>
          </a:ln>
        </p:spPr>
        <p:txBody>
          <a:bodyPr/>
          <a:lstStyle/>
          <a:p>
            <a:endParaRPr lang="en-US"/>
          </a:p>
        </p:txBody>
      </p:sp>
      <p:sp>
        <p:nvSpPr>
          <p:cNvPr id="102" name="Chart rule"/>
          <p:cNvSpPr/>
          <p:nvPr/>
        </p:nvSpPr>
        <p:spPr>
          <a:xfrm>
            <a:off x="1237298" y="5229225"/>
            <a:ext cx="0" cy="1123950"/>
          </a:xfrm>
          <a:prstGeom prst="line">
            <a:avLst/>
          </a:prstGeom>
          <a:noFill/>
          <a:ln w="9525">
            <a:solidFill>
              <a:srgbClr val="E3DCD3"/>
            </a:solidFill>
            <a:prstDash val="solid"/>
          </a:ln>
        </p:spPr>
        <p:txBody>
          <a:bodyPr/>
          <a:lstStyle/>
          <a:p>
            <a:endParaRPr lang="en-US"/>
          </a:p>
        </p:txBody>
      </p:sp>
      <p:sp>
        <p:nvSpPr>
          <p:cNvPr id="103" name="Chart rule"/>
          <p:cNvSpPr/>
          <p:nvPr/>
        </p:nvSpPr>
        <p:spPr>
          <a:xfrm>
            <a:off x="1575435" y="5229225"/>
            <a:ext cx="0" cy="1123950"/>
          </a:xfrm>
          <a:prstGeom prst="line">
            <a:avLst/>
          </a:prstGeom>
          <a:noFill/>
          <a:ln w="9525">
            <a:solidFill>
              <a:srgbClr val="E3DCD3"/>
            </a:solidFill>
            <a:prstDash val="solid"/>
          </a:ln>
        </p:spPr>
        <p:txBody>
          <a:bodyPr/>
          <a:lstStyle/>
          <a:p>
            <a:endParaRPr lang="en-US"/>
          </a:p>
        </p:txBody>
      </p:sp>
      <p:sp>
        <p:nvSpPr>
          <p:cNvPr id="104" name="Chart rule"/>
          <p:cNvSpPr/>
          <p:nvPr/>
        </p:nvSpPr>
        <p:spPr>
          <a:xfrm>
            <a:off x="1912620" y="5229225"/>
            <a:ext cx="0" cy="1123950"/>
          </a:xfrm>
          <a:prstGeom prst="line">
            <a:avLst/>
          </a:prstGeom>
          <a:noFill/>
          <a:ln w="9525">
            <a:solidFill>
              <a:srgbClr val="E3DCD3"/>
            </a:solidFill>
            <a:prstDash val="solid"/>
          </a:ln>
        </p:spPr>
        <p:txBody>
          <a:bodyPr/>
          <a:lstStyle/>
          <a:p>
            <a:endParaRPr lang="en-US"/>
          </a:p>
        </p:txBody>
      </p:sp>
      <p:sp>
        <p:nvSpPr>
          <p:cNvPr id="105" name="Chart rule"/>
          <p:cNvSpPr/>
          <p:nvPr/>
        </p:nvSpPr>
        <p:spPr>
          <a:xfrm>
            <a:off x="2222183" y="5229225"/>
            <a:ext cx="0" cy="1123950"/>
          </a:xfrm>
          <a:prstGeom prst="line">
            <a:avLst/>
          </a:prstGeom>
          <a:noFill/>
          <a:ln w="9525">
            <a:solidFill>
              <a:srgbClr val="E3DCD3"/>
            </a:solidFill>
            <a:prstDash val="solid"/>
          </a:ln>
        </p:spPr>
        <p:txBody>
          <a:bodyPr/>
          <a:lstStyle/>
          <a:p>
            <a:endParaRPr lang="en-US"/>
          </a:p>
        </p:txBody>
      </p:sp>
      <p:graphicFrame>
        <p:nvGraphicFramePr>
          <p:cNvPr id="106" name="Indicator chart 5"/>
          <p:cNvGraphicFramePr/>
          <p:nvPr/>
        </p:nvGraphicFramePr>
        <p:xfrm>
          <a:off x="547904" y="5229225"/>
          <a:ext cx="1885517" cy="1123950"/>
        </p:xfrm>
        <a:graphic>
          <a:graphicData uri="http://schemas.openxmlformats.org/drawingml/2006/chart">
            <c:chart xmlns:c="http://schemas.openxmlformats.org/drawingml/2006/chart" xmlns:r="http://schemas.openxmlformats.org/officeDocument/2006/relationships" r:id="rId13"/>
          </a:graphicData>
        </a:graphic>
      </p:graphicFrame>
      <p:sp>
        <p:nvSpPr>
          <p:cNvPr id="107" name="Text 106"/>
          <p:cNvSpPr txBox="1"/>
          <p:nvPr/>
        </p:nvSpPr>
        <p:spPr>
          <a:xfrm>
            <a:off x="919162"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08" name="Text 107"/>
          <p:cNvSpPr txBox="1"/>
          <p:nvPr/>
        </p:nvSpPr>
        <p:spPr>
          <a:xfrm>
            <a:off x="1256347"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09" name="Text 108"/>
          <p:cNvSpPr txBox="1"/>
          <p:nvPr/>
        </p:nvSpPr>
        <p:spPr>
          <a:xfrm>
            <a:off x="1594485"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10" name="Text 109"/>
          <p:cNvSpPr txBox="1"/>
          <p:nvPr/>
        </p:nvSpPr>
        <p:spPr>
          <a:xfrm>
            <a:off x="1931670"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11" name="Text 110"/>
          <p:cNvSpPr txBox="1"/>
          <p:nvPr/>
        </p:nvSpPr>
        <p:spPr>
          <a:xfrm>
            <a:off x="2241233"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12" name="Text 111"/>
          <p:cNvSpPr txBox="1"/>
          <p:nvPr/>
        </p:nvSpPr>
        <p:spPr>
          <a:xfrm>
            <a:off x="542925"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FRED, series CUSR0000SAF11</a:t>
            </a:r>
            <a:endParaRPr lang="en-US" sz="630" dirty="0"/>
          </a:p>
        </p:txBody>
      </p:sp>
      <p:sp>
        <p:nvSpPr>
          <p:cNvPr id="113" name="Shape 112"/>
          <p:cNvSpPr/>
          <p:nvPr/>
        </p:nvSpPr>
        <p:spPr>
          <a:xfrm>
            <a:off x="2752725" y="4143375"/>
            <a:ext cx="2219325" cy="2790825"/>
          </a:xfrm>
          <a:prstGeom prst="rect">
            <a:avLst/>
          </a:prstGeom>
          <a:solidFill>
            <a:srgbClr val="FAF7F3"/>
          </a:solidFill>
          <a:ln/>
        </p:spPr>
        <p:txBody>
          <a:bodyPr/>
          <a:lstStyle/>
          <a:p>
            <a:endParaRPr lang="en-US"/>
          </a:p>
        </p:txBody>
      </p:sp>
      <p:sp>
        <p:nvSpPr>
          <p:cNvPr id="114" name="Shape 113"/>
          <p:cNvSpPr/>
          <p:nvPr/>
        </p:nvSpPr>
        <p:spPr>
          <a:xfrm>
            <a:off x="2752725" y="4143375"/>
            <a:ext cx="2219325" cy="28575"/>
          </a:xfrm>
          <a:prstGeom prst="rect">
            <a:avLst/>
          </a:prstGeom>
          <a:solidFill>
            <a:srgbClr val="B68757"/>
          </a:solidFill>
          <a:ln/>
        </p:spPr>
        <p:txBody>
          <a:bodyPr/>
          <a:lstStyle/>
          <a:p>
            <a:endParaRPr lang="en-US"/>
          </a:p>
        </p:txBody>
      </p:sp>
      <p:sp>
        <p:nvSpPr>
          <p:cNvPr id="115" name="Text 114"/>
          <p:cNvSpPr txBox="1"/>
          <p:nvPr/>
        </p:nvSpPr>
        <p:spPr>
          <a:xfrm>
            <a:off x="2876550"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Food away from home prices</a:t>
            </a:r>
            <a:endParaRPr lang="en-US" sz="855" dirty="0"/>
          </a:p>
        </p:txBody>
      </p:sp>
      <p:sp>
        <p:nvSpPr>
          <p:cNvPr id="116" name="Text 115"/>
          <p:cNvSpPr txBox="1"/>
          <p:nvPr/>
        </p:nvSpPr>
        <p:spPr>
          <a:xfrm>
            <a:off x="2876550"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Consumer price index, seasonally adjusted, 1982–84 = 100</a:t>
            </a:r>
            <a:endParaRPr lang="en-US" sz="645" dirty="0"/>
          </a:p>
        </p:txBody>
      </p:sp>
      <p:sp>
        <p:nvSpPr>
          <p:cNvPr id="117" name="Text 116"/>
          <p:cNvSpPr txBox="1"/>
          <p:nvPr/>
        </p:nvSpPr>
        <p:spPr>
          <a:xfrm>
            <a:off x="2876550"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397.9</a:t>
            </a:r>
            <a:endParaRPr lang="en-US" sz="1875" dirty="0"/>
          </a:p>
        </p:txBody>
      </p:sp>
      <p:sp>
        <p:nvSpPr>
          <p:cNvPr id="118" name="Text 117"/>
          <p:cNvSpPr txBox="1"/>
          <p:nvPr/>
        </p:nvSpPr>
        <p:spPr>
          <a:xfrm>
            <a:off x="2876550"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19" name="Text 118"/>
          <p:cNvSpPr txBox="1"/>
          <p:nvPr/>
        </p:nvSpPr>
        <p:spPr>
          <a:xfrm>
            <a:off x="4279702"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+3.4%</a:t>
            </a:r>
            <a:endParaRPr lang="en-US" sz="900" dirty="0"/>
          </a:p>
        </p:txBody>
      </p:sp>
      <p:sp>
        <p:nvSpPr>
          <p:cNvPr id="120" name="Text 119"/>
          <p:cNvSpPr txBox="1"/>
          <p:nvPr/>
        </p:nvSpPr>
        <p:spPr>
          <a:xfrm>
            <a:off x="4279702"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21" name="Chart rule"/>
          <p:cNvSpPr/>
          <p:nvPr/>
        </p:nvSpPr>
        <p:spPr>
          <a:xfrm>
            <a:off x="2895600" y="6353175"/>
            <a:ext cx="1857375" cy="0"/>
          </a:xfrm>
          <a:prstGeom prst="line">
            <a:avLst/>
          </a:prstGeom>
          <a:noFill/>
          <a:ln w="9525">
            <a:solidFill>
              <a:srgbClr val="C3BDB6"/>
            </a:solidFill>
            <a:prstDash val="solid"/>
          </a:ln>
        </p:spPr>
        <p:txBody>
          <a:bodyPr/>
          <a:lstStyle/>
          <a:p>
            <a:endParaRPr lang="en-US"/>
          </a:p>
        </p:txBody>
      </p:sp>
      <p:sp>
        <p:nvSpPr>
          <p:cNvPr id="122" name="Chart rule"/>
          <p:cNvSpPr/>
          <p:nvPr/>
        </p:nvSpPr>
        <p:spPr>
          <a:xfrm>
            <a:off x="3233738" y="5229225"/>
            <a:ext cx="0" cy="1123950"/>
          </a:xfrm>
          <a:prstGeom prst="line">
            <a:avLst/>
          </a:prstGeom>
          <a:noFill/>
          <a:ln w="9525">
            <a:solidFill>
              <a:srgbClr val="E3DCD3"/>
            </a:solidFill>
            <a:prstDash val="solid"/>
          </a:ln>
        </p:spPr>
        <p:txBody>
          <a:bodyPr/>
          <a:lstStyle/>
          <a:p>
            <a:endParaRPr lang="en-US"/>
          </a:p>
        </p:txBody>
      </p:sp>
      <p:sp>
        <p:nvSpPr>
          <p:cNvPr id="123" name="Chart rule"/>
          <p:cNvSpPr/>
          <p:nvPr/>
        </p:nvSpPr>
        <p:spPr>
          <a:xfrm>
            <a:off x="3570922" y="5229225"/>
            <a:ext cx="0" cy="1123950"/>
          </a:xfrm>
          <a:prstGeom prst="line">
            <a:avLst/>
          </a:prstGeom>
          <a:noFill/>
          <a:ln w="9525">
            <a:solidFill>
              <a:srgbClr val="E3DCD3"/>
            </a:solidFill>
            <a:prstDash val="solid"/>
          </a:ln>
        </p:spPr>
        <p:txBody>
          <a:bodyPr/>
          <a:lstStyle/>
          <a:p>
            <a:endParaRPr lang="en-US"/>
          </a:p>
        </p:txBody>
      </p:sp>
      <p:sp>
        <p:nvSpPr>
          <p:cNvPr id="124" name="Chart rule"/>
          <p:cNvSpPr/>
          <p:nvPr/>
        </p:nvSpPr>
        <p:spPr>
          <a:xfrm>
            <a:off x="3909060" y="5229225"/>
            <a:ext cx="0" cy="1123950"/>
          </a:xfrm>
          <a:prstGeom prst="line">
            <a:avLst/>
          </a:prstGeom>
          <a:noFill/>
          <a:ln w="9525">
            <a:solidFill>
              <a:srgbClr val="E3DCD3"/>
            </a:solidFill>
            <a:prstDash val="solid"/>
          </a:ln>
        </p:spPr>
        <p:txBody>
          <a:bodyPr/>
          <a:lstStyle/>
          <a:p>
            <a:endParaRPr lang="en-US"/>
          </a:p>
        </p:txBody>
      </p:sp>
      <p:sp>
        <p:nvSpPr>
          <p:cNvPr id="125" name="Chart rule"/>
          <p:cNvSpPr/>
          <p:nvPr/>
        </p:nvSpPr>
        <p:spPr>
          <a:xfrm>
            <a:off x="4246245" y="5229225"/>
            <a:ext cx="0" cy="1123950"/>
          </a:xfrm>
          <a:prstGeom prst="line">
            <a:avLst/>
          </a:prstGeom>
          <a:noFill/>
          <a:ln w="9525">
            <a:solidFill>
              <a:srgbClr val="E3DCD3"/>
            </a:solidFill>
            <a:prstDash val="solid"/>
          </a:ln>
        </p:spPr>
        <p:txBody>
          <a:bodyPr/>
          <a:lstStyle/>
          <a:p>
            <a:endParaRPr lang="en-US"/>
          </a:p>
        </p:txBody>
      </p:sp>
      <p:sp>
        <p:nvSpPr>
          <p:cNvPr id="126" name="Chart rule"/>
          <p:cNvSpPr/>
          <p:nvPr/>
        </p:nvSpPr>
        <p:spPr>
          <a:xfrm>
            <a:off x="4555808" y="5229225"/>
            <a:ext cx="0" cy="1123950"/>
          </a:xfrm>
          <a:prstGeom prst="line">
            <a:avLst/>
          </a:prstGeom>
          <a:noFill/>
          <a:ln w="9525">
            <a:solidFill>
              <a:srgbClr val="E3DCD3"/>
            </a:solidFill>
            <a:prstDash val="solid"/>
          </a:ln>
        </p:spPr>
        <p:txBody>
          <a:bodyPr/>
          <a:lstStyle/>
          <a:p>
            <a:endParaRPr lang="en-US"/>
          </a:p>
        </p:txBody>
      </p:sp>
      <p:graphicFrame>
        <p:nvGraphicFramePr>
          <p:cNvPr id="127" name="Indicator chart 6"/>
          <p:cNvGraphicFramePr/>
          <p:nvPr/>
        </p:nvGraphicFramePr>
        <p:xfrm>
          <a:off x="2881529" y="5229225"/>
          <a:ext cx="1885517" cy="1123950"/>
        </p:xfrm>
        <a:graphic>
          <a:graphicData uri="http://schemas.openxmlformats.org/drawingml/2006/chart">
            <c:chart xmlns:c="http://schemas.openxmlformats.org/drawingml/2006/chart" xmlns:r="http://schemas.openxmlformats.org/officeDocument/2006/relationships" r:id="rId15"/>
          </a:graphicData>
        </a:graphic>
      </p:graphicFrame>
      <p:sp>
        <p:nvSpPr>
          <p:cNvPr id="128" name="Text 127"/>
          <p:cNvSpPr txBox="1"/>
          <p:nvPr/>
        </p:nvSpPr>
        <p:spPr>
          <a:xfrm>
            <a:off x="3252788"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29" name="Text 128"/>
          <p:cNvSpPr txBox="1"/>
          <p:nvPr/>
        </p:nvSpPr>
        <p:spPr>
          <a:xfrm>
            <a:off x="3589972"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30" name="Text 129"/>
          <p:cNvSpPr txBox="1"/>
          <p:nvPr/>
        </p:nvSpPr>
        <p:spPr>
          <a:xfrm>
            <a:off x="3928110"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31" name="Text 130"/>
          <p:cNvSpPr txBox="1"/>
          <p:nvPr/>
        </p:nvSpPr>
        <p:spPr>
          <a:xfrm>
            <a:off x="4265295"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32" name="Text 131"/>
          <p:cNvSpPr txBox="1"/>
          <p:nvPr/>
        </p:nvSpPr>
        <p:spPr>
          <a:xfrm>
            <a:off x="4574857"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33" name="Text 132"/>
          <p:cNvSpPr txBox="1"/>
          <p:nvPr/>
        </p:nvSpPr>
        <p:spPr>
          <a:xfrm>
            <a:off x="2876550"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FRED, series CUSR0000SEFV</a:t>
            </a:r>
            <a:endParaRPr lang="en-US" sz="630" dirty="0"/>
          </a:p>
        </p:txBody>
      </p:sp>
      <p:sp>
        <p:nvSpPr>
          <p:cNvPr id="134" name="Shape 133"/>
          <p:cNvSpPr/>
          <p:nvPr/>
        </p:nvSpPr>
        <p:spPr>
          <a:xfrm>
            <a:off x="5086350" y="4143375"/>
            <a:ext cx="2219325" cy="2790825"/>
          </a:xfrm>
          <a:prstGeom prst="rect">
            <a:avLst/>
          </a:prstGeom>
          <a:solidFill>
            <a:srgbClr val="FAF7F3"/>
          </a:solidFill>
          <a:ln/>
        </p:spPr>
        <p:txBody>
          <a:bodyPr/>
          <a:lstStyle/>
          <a:p>
            <a:endParaRPr lang="en-US"/>
          </a:p>
        </p:txBody>
      </p:sp>
      <p:sp>
        <p:nvSpPr>
          <p:cNvPr id="135" name="Shape 134"/>
          <p:cNvSpPr/>
          <p:nvPr/>
        </p:nvSpPr>
        <p:spPr>
          <a:xfrm>
            <a:off x="5086350" y="4143375"/>
            <a:ext cx="2219325" cy="28575"/>
          </a:xfrm>
          <a:prstGeom prst="rect">
            <a:avLst/>
          </a:prstGeom>
          <a:solidFill>
            <a:srgbClr val="B68757"/>
          </a:solidFill>
          <a:ln/>
        </p:spPr>
        <p:txBody>
          <a:bodyPr/>
          <a:lstStyle/>
          <a:p>
            <a:endParaRPr lang="en-US"/>
          </a:p>
        </p:txBody>
      </p:sp>
      <p:sp>
        <p:nvSpPr>
          <p:cNvPr id="136" name="Text 135"/>
          <p:cNvSpPr txBox="1"/>
          <p:nvPr/>
        </p:nvSpPr>
        <p:spPr>
          <a:xfrm>
            <a:off x="5210175" y="4271963"/>
            <a:ext cx="1985963" cy="285750"/>
          </a:xfrm>
          <a:prstGeom prst="rect">
            <a:avLst/>
          </a:prstGeom>
          <a:noFill/>
          <a:ln/>
        </p:spPr>
        <p:txBody>
          <a:bodyPr wrap="square" lIns="0" tIns="0" rIns="0" bIns="0" rtlCol="0" anchor="t"/>
          <a:lstStyle/>
          <a:p>
            <a:pPr marL="0" indent="0" algn="l">
              <a:lnSpc>
                <a:spcPts val="1125"/>
              </a:lnSpc>
              <a:buNone/>
            </a:pPr>
            <a:r>
              <a:rPr lang="en-US" sz="855" b="1" kern="0" spc="15" dirty="0">
                <a:solidFill>
                  <a:srgbClr val="1B1A1A"/>
                </a:solidFill>
                <a:latin typeface="Quicksand" pitchFamily="34" charset="0"/>
              </a:rPr>
              <a:t>Food manufacturing producer prices</a:t>
            </a:r>
            <a:endParaRPr lang="en-US" sz="855" dirty="0"/>
          </a:p>
        </p:txBody>
      </p:sp>
      <p:sp>
        <p:nvSpPr>
          <p:cNvPr id="137" name="Text 136"/>
          <p:cNvSpPr txBox="1"/>
          <p:nvPr/>
        </p:nvSpPr>
        <p:spPr>
          <a:xfrm>
            <a:off x="5210175" y="4557713"/>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Producer price index, Dec 1984 = 100, Bureau of Labor Statistics</a:t>
            </a:r>
            <a:endParaRPr lang="en-US" sz="645" dirty="0"/>
          </a:p>
        </p:txBody>
      </p:sp>
      <p:sp>
        <p:nvSpPr>
          <p:cNvPr id="138" name="Text 137"/>
          <p:cNvSpPr txBox="1"/>
          <p:nvPr/>
        </p:nvSpPr>
        <p:spPr>
          <a:xfrm>
            <a:off x="5210175" y="4852988"/>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273.0</a:t>
            </a:r>
            <a:endParaRPr lang="en-US" sz="1875" dirty="0"/>
          </a:p>
        </p:txBody>
      </p:sp>
      <p:sp>
        <p:nvSpPr>
          <p:cNvPr id="139" name="Text 138"/>
          <p:cNvSpPr txBox="1"/>
          <p:nvPr/>
        </p:nvSpPr>
        <p:spPr>
          <a:xfrm>
            <a:off x="5210175" y="5119688"/>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40" name="Text 139"/>
          <p:cNvSpPr txBox="1"/>
          <p:nvPr/>
        </p:nvSpPr>
        <p:spPr>
          <a:xfrm>
            <a:off x="6613327" y="4967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+0.1%</a:t>
            </a:r>
            <a:endParaRPr lang="en-US" sz="900" dirty="0"/>
          </a:p>
        </p:txBody>
      </p:sp>
      <p:sp>
        <p:nvSpPr>
          <p:cNvPr id="141" name="Text 140"/>
          <p:cNvSpPr txBox="1"/>
          <p:nvPr/>
        </p:nvSpPr>
        <p:spPr>
          <a:xfrm>
            <a:off x="6613327" y="5119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42" name="Chart rule"/>
          <p:cNvSpPr/>
          <p:nvPr/>
        </p:nvSpPr>
        <p:spPr>
          <a:xfrm>
            <a:off x="5229225" y="6496050"/>
            <a:ext cx="1857375" cy="0"/>
          </a:xfrm>
          <a:prstGeom prst="line">
            <a:avLst/>
          </a:prstGeom>
          <a:noFill/>
          <a:ln w="9525">
            <a:solidFill>
              <a:srgbClr val="C3BDB6"/>
            </a:solidFill>
            <a:prstDash val="solid"/>
          </a:ln>
        </p:spPr>
        <p:txBody>
          <a:bodyPr/>
          <a:lstStyle/>
          <a:p>
            <a:endParaRPr lang="en-US"/>
          </a:p>
        </p:txBody>
      </p:sp>
      <p:sp>
        <p:nvSpPr>
          <p:cNvPr id="143" name="Chart rule"/>
          <p:cNvSpPr/>
          <p:nvPr/>
        </p:nvSpPr>
        <p:spPr>
          <a:xfrm>
            <a:off x="5561648" y="5372100"/>
            <a:ext cx="0" cy="1123950"/>
          </a:xfrm>
          <a:prstGeom prst="line">
            <a:avLst/>
          </a:prstGeom>
          <a:noFill/>
          <a:ln w="9525">
            <a:solidFill>
              <a:srgbClr val="E3DCD3"/>
            </a:solidFill>
            <a:prstDash val="solid"/>
          </a:ln>
        </p:spPr>
        <p:txBody>
          <a:bodyPr/>
          <a:lstStyle/>
          <a:p>
            <a:endParaRPr lang="en-US"/>
          </a:p>
        </p:txBody>
      </p:sp>
      <p:sp>
        <p:nvSpPr>
          <p:cNvPr id="144" name="Chart rule"/>
          <p:cNvSpPr/>
          <p:nvPr/>
        </p:nvSpPr>
        <p:spPr>
          <a:xfrm>
            <a:off x="5895022" y="5372100"/>
            <a:ext cx="0" cy="1123950"/>
          </a:xfrm>
          <a:prstGeom prst="line">
            <a:avLst/>
          </a:prstGeom>
          <a:noFill/>
          <a:ln w="9525">
            <a:solidFill>
              <a:srgbClr val="E3DCD3"/>
            </a:solidFill>
            <a:prstDash val="solid"/>
          </a:ln>
        </p:spPr>
        <p:txBody>
          <a:bodyPr/>
          <a:lstStyle/>
          <a:p>
            <a:endParaRPr lang="en-US"/>
          </a:p>
        </p:txBody>
      </p:sp>
      <p:sp>
        <p:nvSpPr>
          <p:cNvPr id="145" name="Chart rule"/>
          <p:cNvSpPr/>
          <p:nvPr/>
        </p:nvSpPr>
        <p:spPr>
          <a:xfrm>
            <a:off x="6227445" y="5372100"/>
            <a:ext cx="0" cy="1123950"/>
          </a:xfrm>
          <a:prstGeom prst="line">
            <a:avLst/>
          </a:prstGeom>
          <a:noFill/>
          <a:ln w="9525">
            <a:solidFill>
              <a:srgbClr val="E3DCD3"/>
            </a:solidFill>
            <a:prstDash val="solid"/>
          </a:ln>
        </p:spPr>
        <p:txBody>
          <a:bodyPr/>
          <a:lstStyle/>
          <a:p>
            <a:endParaRPr lang="en-US"/>
          </a:p>
        </p:txBody>
      </p:sp>
      <p:sp>
        <p:nvSpPr>
          <p:cNvPr id="146" name="Chart rule"/>
          <p:cNvSpPr/>
          <p:nvPr/>
        </p:nvSpPr>
        <p:spPr>
          <a:xfrm>
            <a:off x="6559868" y="5372100"/>
            <a:ext cx="0" cy="1123950"/>
          </a:xfrm>
          <a:prstGeom prst="line">
            <a:avLst/>
          </a:prstGeom>
          <a:noFill/>
          <a:ln w="9525">
            <a:solidFill>
              <a:srgbClr val="E3DCD3"/>
            </a:solidFill>
            <a:prstDash val="solid"/>
          </a:ln>
        </p:spPr>
        <p:txBody>
          <a:bodyPr/>
          <a:lstStyle/>
          <a:p>
            <a:endParaRPr lang="en-US"/>
          </a:p>
        </p:txBody>
      </p:sp>
      <p:sp>
        <p:nvSpPr>
          <p:cNvPr id="147" name="Chart rule"/>
          <p:cNvSpPr/>
          <p:nvPr/>
        </p:nvSpPr>
        <p:spPr>
          <a:xfrm>
            <a:off x="6892290" y="5372100"/>
            <a:ext cx="0" cy="1123950"/>
          </a:xfrm>
          <a:prstGeom prst="line">
            <a:avLst/>
          </a:prstGeom>
          <a:noFill/>
          <a:ln w="9525">
            <a:solidFill>
              <a:srgbClr val="E3DCD3"/>
            </a:solidFill>
            <a:prstDash val="solid"/>
          </a:ln>
        </p:spPr>
        <p:txBody>
          <a:bodyPr/>
          <a:lstStyle/>
          <a:p>
            <a:endParaRPr lang="en-US"/>
          </a:p>
        </p:txBody>
      </p:sp>
      <p:graphicFrame>
        <p:nvGraphicFramePr>
          <p:cNvPr id="148" name="Indicator chart 7"/>
          <p:cNvGraphicFramePr/>
          <p:nvPr/>
        </p:nvGraphicFramePr>
        <p:xfrm>
          <a:off x="5215364" y="5372100"/>
          <a:ext cx="1885097" cy="1123950"/>
        </p:xfrm>
        <a:graphic>
          <a:graphicData uri="http://schemas.openxmlformats.org/drawingml/2006/chart">
            <c:chart xmlns:c="http://schemas.openxmlformats.org/drawingml/2006/chart" xmlns:r="http://schemas.openxmlformats.org/officeDocument/2006/relationships" r:id="rId17"/>
          </a:graphicData>
        </a:graphic>
      </p:graphicFrame>
      <p:sp>
        <p:nvSpPr>
          <p:cNvPr id="149" name="Text 148"/>
          <p:cNvSpPr txBox="1"/>
          <p:nvPr/>
        </p:nvSpPr>
        <p:spPr>
          <a:xfrm>
            <a:off x="5580698" y="6534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50" name="Text 149"/>
          <p:cNvSpPr txBox="1"/>
          <p:nvPr/>
        </p:nvSpPr>
        <p:spPr>
          <a:xfrm>
            <a:off x="5914073" y="6534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51" name="Text 150"/>
          <p:cNvSpPr txBox="1"/>
          <p:nvPr/>
        </p:nvSpPr>
        <p:spPr>
          <a:xfrm>
            <a:off x="6246495" y="6534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52" name="Text 151"/>
          <p:cNvSpPr txBox="1"/>
          <p:nvPr/>
        </p:nvSpPr>
        <p:spPr>
          <a:xfrm>
            <a:off x="6578918" y="6534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53" name="Text 152"/>
          <p:cNvSpPr txBox="1"/>
          <p:nvPr/>
        </p:nvSpPr>
        <p:spPr>
          <a:xfrm>
            <a:off x="6911340" y="6534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54" name="Text 153"/>
          <p:cNvSpPr txBox="1"/>
          <p:nvPr/>
        </p:nvSpPr>
        <p:spPr>
          <a:xfrm>
            <a:off x="5210175"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FRED, series PCU311311</a:t>
            </a:r>
            <a:endParaRPr lang="en-US" sz="630" dirty="0"/>
          </a:p>
        </p:txBody>
      </p:sp>
      <p:sp>
        <p:nvSpPr>
          <p:cNvPr id="155" name="Shape 154"/>
          <p:cNvSpPr/>
          <p:nvPr/>
        </p:nvSpPr>
        <p:spPr>
          <a:xfrm>
            <a:off x="7419975" y="4143375"/>
            <a:ext cx="2219325" cy="2790825"/>
          </a:xfrm>
          <a:prstGeom prst="rect">
            <a:avLst/>
          </a:prstGeom>
          <a:solidFill>
            <a:srgbClr val="FAF7F3"/>
          </a:solidFill>
          <a:ln/>
        </p:spPr>
        <p:txBody>
          <a:bodyPr/>
          <a:lstStyle/>
          <a:p>
            <a:endParaRPr lang="en-US"/>
          </a:p>
        </p:txBody>
      </p:sp>
      <p:sp>
        <p:nvSpPr>
          <p:cNvPr id="156" name="Shape 155"/>
          <p:cNvSpPr/>
          <p:nvPr/>
        </p:nvSpPr>
        <p:spPr>
          <a:xfrm>
            <a:off x="7419975" y="4143375"/>
            <a:ext cx="2219325" cy="28575"/>
          </a:xfrm>
          <a:prstGeom prst="rect">
            <a:avLst/>
          </a:prstGeom>
          <a:solidFill>
            <a:srgbClr val="B68757"/>
          </a:solidFill>
          <a:ln/>
        </p:spPr>
        <p:txBody>
          <a:bodyPr/>
          <a:lstStyle/>
          <a:p>
            <a:endParaRPr lang="en-US"/>
          </a:p>
        </p:txBody>
      </p:sp>
      <p:sp>
        <p:nvSpPr>
          <p:cNvPr id="157" name="Text 156"/>
          <p:cNvSpPr txBox="1"/>
          <p:nvPr/>
        </p:nvSpPr>
        <p:spPr>
          <a:xfrm>
            <a:off x="7543800"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Diesel price</a:t>
            </a:r>
            <a:endParaRPr lang="en-US" sz="855" dirty="0"/>
          </a:p>
        </p:txBody>
      </p:sp>
      <p:sp>
        <p:nvSpPr>
          <p:cNvPr id="158" name="Text 157"/>
          <p:cNvSpPr txBox="1"/>
          <p:nvPr/>
        </p:nvSpPr>
        <p:spPr>
          <a:xfrm>
            <a:off x="7543800"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US on-highway retail price per gallon, monthly average</a:t>
            </a:r>
            <a:endParaRPr lang="en-US" sz="645" dirty="0"/>
          </a:p>
        </p:txBody>
      </p:sp>
      <p:sp>
        <p:nvSpPr>
          <p:cNvPr id="159" name="Text 158"/>
          <p:cNvSpPr txBox="1"/>
          <p:nvPr/>
        </p:nvSpPr>
        <p:spPr>
          <a:xfrm>
            <a:off x="7543800"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$6.29</a:t>
            </a:r>
            <a:endParaRPr lang="en-US" sz="1875" dirty="0"/>
          </a:p>
        </p:txBody>
      </p:sp>
      <p:sp>
        <p:nvSpPr>
          <p:cNvPr id="160" name="Text 159"/>
          <p:cNvSpPr txBox="1"/>
          <p:nvPr/>
        </p:nvSpPr>
        <p:spPr>
          <a:xfrm>
            <a:off x="7543800"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161" name="Text 160"/>
          <p:cNvSpPr txBox="1"/>
          <p:nvPr/>
        </p:nvSpPr>
        <p:spPr>
          <a:xfrm>
            <a:off x="8946952"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+67.8%</a:t>
            </a:r>
            <a:endParaRPr lang="en-US" sz="900" dirty="0"/>
          </a:p>
        </p:txBody>
      </p:sp>
      <p:sp>
        <p:nvSpPr>
          <p:cNvPr id="162" name="Text 161"/>
          <p:cNvSpPr txBox="1"/>
          <p:nvPr/>
        </p:nvSpPr>
        <p:spPr>
          <a:xfrm>
            <a:off x="8946952"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63" name="Chart rule"/>
          <p:cNvSpPr/>
          <p:nvPr/>
        </p:nvSpPr>
        <p:spPr>
          <a:xfrm>
            <a:off x="7562850" y="6353175"/>
            <a:ext cx="1857375" cy="0"/>
          </a:xfrm>
          <a:prstGeom prst="line">
            <a:avLst/>
          </a:prstGeom>
          <a:noFill/>
          <a:ln w="9525">
            <a:solidFill>
              <a:srgbClr val="C3BDB6"/>
            </a:solidFill>
            <a:prstDash val="solid"/>
          </a:ln>
        </p:spPr>
        <p:txBody>
          <a:bodyPr/>
          <a:lstStyle/>
          <a:p>
            <a:endParaRPr lang="en-US"/>
          </a:p>
        </p:txBody>
      </p:sp>
      <p:sp>
        <p:nvSpPr>
          <p:cNvPr id="164" name="Chart rule"/>
          <p:cNvSpPr/>
          <p:nvPr/>
        </p:nvSpPr>
        <p:spPr>
          <a:xfrm>
            <a:off x="7890510" y="5229225"/>
            <a:ext cx="0" cy="1123950"/>
          </a:xfrm>
          <a:prstGeom prst="line">
            <a:avLst/>
          </a:prstGeom>
          <a:noFill/>
          <a:ln w="9525">
            <a:solidFill>
              <a:srgbClr val="E3DCD3"/>
            </a:solidFill>
            <a:prstDash val="solid"/>
          </a:ln>
        </p:spPr>
        <p:txBody>
          <a:bodyPr/>
          <a:lstStyle/>
          <a:p>
            <a:endParaRPr lang="en-US"/>
          </a:p>
        </p:txBody>
      </p:sp>
      <p:sp>
        <p:nvSpPr>
          <p:cNvPr id="165" name="Chart rule"/>
          <p:cNvSpPr/>
          <p:nvPr/>
        </p:nvSpPr>
        <p:spPr>
          <a:xfrm>
            <a:off x="8218170" y="5229225"/>
            <a:ext cx="0" cy="1123950"/>
          </a:xfrm>
          <a:prstGeom prst="line">
            <a:avLst/>
          </a:prstGeom>
          <a:noFill/>
          <a:ln w="9525">
            <a:solidFill>
              <a:srgbClr val="E3DCD3"/>
            </a:solidFill>
            <a:prstDash val="solid"/>
          </a:ln>
        </p:spPr>
        <p:txBody>
          <a:bodyPr/>
          <a:lstStyle/>
          <a:p>
            <a:endParaRPr lang="en-US"/>
          </a:p>
        </p:txBody>
      </p:sp>
      <p:sp>
        <p:nvSpPr>
          <p:cNvPr id="166" name="Chart rule"/>
          <p:cNvSpPr/>
          <p:nvPr/>
        </p:nvSpPr>
        <p:spPr>
          <a:xfrm>
            <a:off x="8545830" y="5229225"/>
            <a:ext cx="0" cy="1123950"/>
          </a:xfrm>
          <a:prstGeom prst="line">
            <a:avLst/>
          </a:prstGeom>
          <a:noFill/>
          <a:ln w="9525">
            <a:solidFill>
              <a:srgbClr val="E3DCD3"/>
            </a:solidFill>
            <a:prstDash val="solid"/>
          </a:ln>
        </p:spPr>
        <p:txBody>
          <a:bodyPr/>
          <a:lstStyle/>
          <a:p>
            <a:endParaRPr lang="en-US"/>
          </a:p>
        </p:txBody>
      </p:sp>
      <p:sp>
        <p:nvSpPr>
          <p:cNvPr id="167" name="Chart rule"/>
          <p:cNvSpPr/>
          <p:nvPr/>
        </p:nvSpPr>
        <p:spPr>
          <a:xfrm>
            <a:off x="8873490" y="5229225"/>
            <a:ext cx="0" cy="1123950"/>
          </a:xfrm>
          <a:prstGeom prst="line">
            <a:avLst/>
          </a:prstGeom>
          <a:noFill/>
          <a:ln w="9525">
            <a:solidFill>
              <a:srgbClr val="E3DCD3"/>
            </a:solidFill>
            <a:prstDash val="solid"/>
          </a:ln>
        </p:spPr>
        <p:txBody>
          <a:bodyPr/>
          <a:lstStyle/>
          <a:p>
            <a:endParaRPr lang="en-US"/>
          </a:p>
        </p:txBody>
      </p:sp>
      <p:sp>
        <p:nvSpPr>
          <p:cNvPr id="168" name="Chart rule"/>
          <p:cNvSpPr/>
          <p:nvPr/>
        </p:nvSpPr>
        <p:spPr>
          <a:xfrm>
            <a:off x="9202103" y="5229225"/>
            <a:ext cx="0" cy="1123950"/>
          </a:xfrm>
          <a:prstGeom prst="line">
            <a:avLst/>
          </a:prstGeom>
          <a:noFill/>
          <a:ln w="9525">
            <a:solidFill>
              <a:srgbClr val="E3DCD3"/>
            </a:solidFill>
            <a:prstDash val="solid"/>
          </a:ln>
        </p:spPr>
        <p:txBody>
          <a:bodyPr/>
          <a:lstStyle/>
          <a:p>
            <a:endParaRPr lang="en-US"/>
          </a:p>
        </p:txBody>
      </p:sp>
      <p:graphicFrame>
        <p:nvGraphicFramePr>
          <p:cNvPr id="169" name="Indicator chart 8"/>
          <p:cNvGraphicFramePr/>
          <p:nvPr/>
        </p:nvGraphicFramePr>
        <p:xfrm>
          <a:off x="7549193" y="5229225"/>
          <a:ext cx="1884689" cy="1123950"/>
        </p:xfrm>
        <a:graphic>
          <a:graphicData uri="http://schemas.openxmlformats.org/drawingml/2006/chart">
            <c:chart xmlns:c="http://schemas.openxmlformats.org/drawingml/2006/chart" xmlns:r="http://schemas.openxmlformats.org/officeDocument/2006/relationships" r:id="rId19"/>
          </a:graphicData>
        </a:graphic>
      </p:graphicFrame>
      <p:sp>
        <p:nvSpPr>
          <p:cNvPr id="170" name="Text 169"/>
          <p:cNvSpPr txBox="1"/>
          <p:nvPr/>
        </p:nvSpPr>
        <p:spPr>
          <a:xfrm>
            <a:off x="7909560"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71" name="Text 170"/>
          <p:cNvSpPr txBox="1"/>
          <p:nvPr/>
        </p:nvSpPr>
        <p:spPr>
          <a:xfrm>
            <a:off x="8237220"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72" name="Text 171"/>
          <p:cNvSpPr txBox="1"/>
          <p:nvPr/>
        </p:nvSpPr>
        <p:spPr>
          <a:xfrm>
            <a:off x="8564880"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73" name="Text 172"/>
          <p:cNvSpPr txBox="1"/>
          <p:nvPr/>
        </p:nvSpPr>
        <p:spPr>
          <a:xfrm>
            <a:off x="8892540"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74" name="Text 173"/>
          <p:cNvSpPr txBox="1"/>
          <p:nvPr/>
        </p:nvSpPr>
        <p:spPr>
          <a:xfrm>
            <a:off x="9221152"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75" name="Text 174"/>
          <p:cNvSpPr txBox="1"/>
          <p:nvPr/>
        </p:nvSpPr>
        <p:spPr>
          <a:xfrm>
            <a:off x="7543800"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FRED, series GASDESM</a:t>
            </a:r>
            <a:endParaRPr lang="en-US" sz="630" dirty="0"/>
          </a:p>
        </p:txBody>
      </p:sp>
      <p:sp>
        <p:nvSpPr>
          <p:cNvPr id="176" name="Shape 175"/>
          <p:cNvSpPr/>
          <p:nvPr/>
        </p:nvSpPr>
        <p:spPr>
          <a:xfrm>
            <a:off x="419100" y="7029450"/>
            <a:ext cx="9220200" cy="9525"/>
          </a:xfrm>
          <a:prstGeom prst="rect">
            <a:avLst/>
          </a:prstGeom>
          <a:solidFill>
            <a:srgbClr val="E3DCD3"/>
          </a:solidFill>
          <a:ln/>
        </p:spPr>
        <p:txBody>
          <a:bodyPr/>
          <a:lstStyle/>
          <a:p>
            <a:endParaRPr lang="en-US"/>
          </a:p>
        </p:txBody>
      </p:sp>
      <p:pic>
        <p:nvPicPr>
          <p:cNvPr id="177" name="Benchmark International" descr="Benchmark International"/>
          <p:cNvPicPr>
            <a:picLocks noChangeAspect="1"/>
          </p:cNvPicPr>
          <p:nvPr/>
        </p:nvPicPr>
        <p:blipFill>
          <a:blip r:embed="rId21"/>
          <a:stretch>
            <a:fillRect/>
          </a:stretch>
        </p:blipFill>
        <p:spPr>
          <a:xfrm>
            <a:off x="419100" y="7143750"/>
            <a:ext cx="914400" cy="171450"/>
          </a:xfrm>
          <a:prstGeom prst="rect">
            <a:avLst/>
          </a:prstGeom>
        </p:spPr>
      </p:pic>
      <p:sp>
        <p:nvSpPr>
          <p:cNvPr id="178" name="Text 17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Each series runs from January 2021. August retail figures are the Census advance estimate, and September sentiment is from the Surveys of Consumers. The consumer price series have no October 2025 reading, and the unadjusted food-at-home increase reported for August is 2.2%.</a:t>
            </a:r>
            <a:endParaRPr lang="en-US" sz="675" dirty="0"/>
          </a:p>
        </p:txBody>
      </p:sp>
      <p:sp>
        <p:nvSpPr>
          <p:cNvPr id="179" name="Text 178"/>
          <p:cNvSpPr txBox="1"/>
          <p:nvPr/>
        </p:nvSpPr>
        <p:spPr>
          <a:xfrm>
            <a:off x="9516368" y="7162800"/>
            <a:ext cx="18008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18</a:t>
            </a:r>
            <a:endParaRPr lang="en-US" sz="713"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descr="/tmp/claude-0/-home-claude-about/4bef2f41-4227-5ff7-ab18-11ac74cd9797/scratchpad/pptx/ex/media/1eecee506727.jpg"/>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team meeting around a conference table" descr="A team meeting around a conference table"/>
          <p:cNvPicPr>
            <a:picLocks noChangeAspect="1"/>
          </p:cNvPicPr>
          <p:nvPr/>
        </p:nvPicPr>
        <p:blipFill>
          <a:blip r:embed="rId4"/>
          <a:stretch>
            <a:fillRect/>
          </a:stretch>
        </p:blipFill>
        <p:spPr>
          <a:xfrm>
            <a:off x="5676900" y="0"/>
            <a:ext cx="4381500" cy="7772400"/>
          </a:xfrm>
          <a:prstGeom prst="rect">
            <a:avLst/>
          </a:prstGeom>
        </p:spPr>
      </p:pic>
      <p:pic>
        <p:nvPicPr>
          <p:cNvPr id="5" name="Shade" descr="/tmp/claude-0/-home-claude-about/4bef2f41-4227-5ff7-ab18-11ac74cd9797/scratchpad/pptx/ex/media/b967cc30ffa5.png"/>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SECTOR BRIEF  |  Q4 2026</a:t>
            </a:r>
            <a:endParaRPr lang="en-US" sz="675" dirty="0"/>
          </a:p>
        </p:txBody>
      </p:sp>
      <p:sp>
        <p:nvSpPr>
          <p:cNvPr id="8" name="Text 7"/>
          <p:cNvSpPr txBox="1"/>
          <p:nvPr/>
        </p:nvSpPr>
        <p:spPr>
          <a:xfrm>
            <a:off x="571500" y="1428750"/>
            <a:ext cx="1334393"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03</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Connect With Us</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Benchmark International's Middle Market team represents owners of privately held companies with $50 million to $500 million of total enterprise value in sales, recapitalizations and growth partnerships. The first step is a confidential conversation about your goals, your company and your options, with no pressure and no commitment.</a:t>
            </a:r>
            <a:endParaRPr lang="en-US" sz="1013" dirty="0"/>
          </a:p>
        </p:txBody>
      </p:sp>
      <p:sp>
        <p:nvSpPr>
          <p:cNvPr id="12" name="Shape 11"/>
          <p:cNvSpPr/>
          <p:nvPr/>
        </p:nvSpPr>
        <p:spPr>
          <a:xfrm>
            <a:off x="609600" y="6410325"/>
            <a:ext cx="4476750" cy="9525"/>
          </a:xfrm>
          <a:prstGeom prst="rect">
            <a:avLst/>
          </a:prstGeom>
          <a:solidFill>
            <a:srgbClr val="D3AE84">
              <a:alpha val="28000"/>
            </a:srgbClr>
          </a:solidFill>
          <a:ln/>
        </p:spPr>
        <p:txBody>
          <a:bodyPr/>
          <a:lstStyle/>
          <a:p>
            <a:endParaRPr lang="en-US"/>
          </a:p>
        </p:txBody>
      </p:sp>
      <p:sp>
        <p:nvSpPr>
          <p:cNvPr id="13" name="Shape 12"/>
          <p:cNvSpPr/>
          <p:nvPr/>
        </p:nvSpPr>
        <p:spPr>
          <a:xfrm>
            <a:off x="609600" y="5295900"/>
            <a:ext cx="4476750" cy="9525"/>
          </a:xfrm>
          <a:prstGeom prst="rect">
            <a:avLst/>
          </a:prstGeom>
          <a:solidFill>
            <a:srgbClr val="D3AE84">
              <a:alpha val="28000"/>
            </a:srgbClr>
          </a:solidFill>
          <a:ln/>
        </p:spPr>
        <p:txBody>
          <a:bodyPr/>
          <a:lstStyle/>
          <a:p>
            <a:endParaRPr lang="en-US"/>
          </a:p>
        </p:txBody>
      </p:sp>
      <p:sp>
        <p:nvSpPr>
          <p:cNvPr id="14" name="Text 13"/>
          <p:cNvSpPr txBox="1"/>
          <p:nvPr/>
        </p:nvSpPr>
        <p:spPr>
          <a:xfrm>
            <a:off x="609600" y="54006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20</a:t>
            </a:r>
            <a:endParaRPr lang="en-US" sz="825" dirty="0"/>
          </a:p>
        </p:txBody>
      </p:sp>
      <p:sp>
        <p:nvSpPr>
          <p:cNvPr id="15" name="Text 14"/>
          <p:cNvSpPr txBox="1"/>
          <p:nvPr/>
        </p:nvSpPr>
        <p:spPr>
          <a:xfrm>
            <a:off x="971550" y="5386388"/>
            <a:ext cx="139809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Connect with our team</a:t>
            </a:r>
            <a:endParaRPr lang="en-US" sz="975" dirty="0"/>
          </a:p>
        </p:txBody>
      </p:sp>
      <p:sp>
        <p:nvSpPr>
          <p:cNvPr id="16" name="Shape 15"/>
          <p:cNvSpPr/>
          <p:nvPr/>
        </p:nvSpPr>
        <p:spPr>
          <a:xfrm>
            <a:off x="609600" y="5667375"/>
            <a:ext cx="4476750" cy="9525"/>
          </a:xfrm>
          <a:prstGeom prst="rect">
            <a:avLst/>
          </a:prstGeom>
          <a:solidFill>
            <a:srgbClr val="D3AE84">
              <a:alpha val="28000"/>
            </a:srgbClr>
          </a:solidFill>
          <a:ln/>
        </p:spPr>
        <p:txBody>
          <a:bodyPr/>
          <a:lstStyle/>
          <a:p>
            <a:endParaRPr lang="en-US"/>
          </a:p>
        </p:txBody>
      </p:sp>
      <p:sp>
        <p:nvSpPr>
          <p:cNvPr id="17" name="Text 16"/>
          <p:cNvSpPr txBox="1"/>
          <p:nvPr/>
        </p:nvSpPr>
        <p:spPr>
          <a:xfrm>
            <a:off x="609600" y="577215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21</a:t>
            </a:r>
            <a:endParaRPr lang="en-US" sz="825" dirty="0"/>
          </a:p>
        </p:txBody>
      </p:sp>
      <p:sp>
        <p:nvSpPr>
          <p:cNvPr id="18" name="Text 17"/>
          <p:cNvSpPr txBox="1"/>
          <p:nvPr/>
        </p:nvSpPr>
        <p:spPr>
          <a:xfrm>
            <a:off x="971550" y="5757863"/>
            <a:ext cx="1330226"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Important disclosures</a:t>
            </a:r>
            <a:endParaRPr lang="en-US" sz="975" dirty="0"/>
          </a:p>
        </p:txBody>
      </p:sp>
      <p:sp>
        <p:nvSpPr>
          <p:cNvPr id="19" name="Shape 18"/>
          <p:cNvSpPr/>
          <p:nvPr/>
        </p:nvSpPr>
        <p:spPr>
          <a:xfrm>
            <a:off x="609600" y="6038850"/>
            <a:ext cx="4476750" cy="9525"/>
          </a:xfrm>
          <a:prstGeom prst="rect">
            <a:avLst/>
          </a:prstGeom>
          <a:solidFill>
            <a:srgbClr val="D3AE84">
              <a:alpha val="28000"/>
            </a:srgbClr>
          </a:solidFill>
          <a:ln/>
        </p:spPr>
        <p:txBody>
          <a:bodyPr/>
          <a:lstStyle/>
          <a:p>
            <a:endParaRPr lang="en-US"/>
          </a:p>
        </p:txBody>
      </p:sp>
      <p:sp>
        <p:nvSpPr>
          <p:cNvPr id="20" name="Text 19"/>
          <p:cNvSpPr txBox="1"/>
          <p:nvPr/>
        </p:nvSpPr>
        <p:spPr>
          <a:xfrm>
            <a:off x="609600" y="614362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22</a:t>
            </a:r>
            <a:endParaRPr lang="en-US" sz="825" dirty="0"/>
          </a:p>
        </p:txBody>
      </p:sp>
      <p:sp>
        <p:nvSpPr>
          <p:cNvPr id="21" name="Text 20"/>
          <p:cNvSpPr txBox="1"/>
          <p:nvPr/>
        </p:nvSpPr>
        <p:spPr>
          <a:xfrm>
            <a:off x="971550" y="6129338"/>
            <a:ext cx="522536"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Sources</a:t>
            </a:r>
            <a:endParaRPr lang="en-US" sz="975" dirty="0"/>
          </a:p>
        </p:txBody>
      </p:sp>
      <p:pic>
        <p:nvPicPr>
          <p:cNvPr id="22"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3" name="Text 22"/>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Connect With Our Team</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A first conversation is confidential and carries no obligation.</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Text 8"/>
          <p:cNvSpPr txBox="1"/>
          <p:nvPr/>
        </p:nvSpPr>
        <p:spPr>
          <a:xfrm>
            <a:off x="419100" y="1233488"/>
            <a:ext cx="62865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CONFIDENTIAL. NO PRESSURE. NO COMMITMENTS.</a:t>
            </a:r>
            <a:endParaRPr lang="en-US" sz="675" dirty="0"/>
          </a:p>
        </p:txBody>
      </p:sp>
      <p:sp>
        <p:nvSpPr>
          <p:cNvPr id="10" name="Text 9"/>
          <p:cNvSpPr txBox="1"/>
          <p:nvPr/>
        </p:nvSpPr>
        <p:spPr>
          <a:xfrm>
            <a:off x="419100" y="1447800"/>
            <a:ext cx="6286500" cy="400050"/>
          </a:xfrm>
          <a:prstGeom prst="rect">
            <a:avLst/>
          </a:prstGeom>
          <a:noFill/>
          <a:ln/>
        </p:spPr>
        <p:txBody>
          <a:bodyPr wrap="none" lIns="0" tIns="0" rIns="0" bIns="0" rtlCol="0" anchor="t"/>
          <a:lstStyle/>
          <a:p>
            <a:pPr marL="0" indent="0" algn="l">
              <a:lnSpc>
                <a:spcPts val="3150"/>
              </a:lnSpc>
              <a:buNone/>
            </a:pPr>
            <a:r>
              <a:rPr lang="en-US" sz="2700" kern="0" spc="15" dirty="0">
                <a:solidFill>
                  <a:srgbClr val="1B1A1A"/>
                </a:solidFill>
                <a:latin typeface="Newsreader SemiBold" pitchFamily="34" charset="0"/>
              </a:rPr>
              <a:t>It all starts with a conversation.</a:t>
            </a:r>
            <a:endParaRPr lang="en-US" sz="2700" dirty="0"/>
          </a:p>
        </p:txBody>
      </p:sp>
      <p:sp>
        <p:nvSpPr>
          <p:cNvPr id="11" name="Text 10"/>
          <p:cNvSpPr txBox="1"/>
          <p:nvPr/>
        </p:nvSpPr>
        <p:spPr>
          <a:xfrm>
            <a:off x="419100" y="1955006"/>
            <a:ext cx="5743575" cy="928688"/>
          </a:xfrm>
          <a:prstGeom prst="rect">
            <a:avLst/>
          </a:prstGeom>
          <a:noFill/>
          <a:ln/>
        </p:spPr>
        <p:txBody>
          <a:bodyPr wrap="square" lIns="0" tIns="0" rIns="0" bIns="0" rtlCol="0" anchor="t"/>
          <a:lstStyle/>
          <a:p>
            <a:pPr marL="0" indent="0" algn="l">
              <a:lnSpc>
                <a:spcPts val="1463"/>
              </a:lnSpc>
              <a:buNone/>
            </a:pPr>
            <a:r>
              <a:rPr lang="en-US" sz="938" kern="0" spc="15" dirty="0">
                <a:solidFill>
                  <a:srgbClr val="333231"/>
                </a:solidFill>
                <a:latin typeface="Quicksand" pitchFamily="34" charset="0"/>
              </a:rPr>
              <a:t>Owners considering a sale, a recapitalization or a growth partnership in any of the four consumer segments, and the accountants, attorneys and wealth advisors who work with them, are welcome to call or write. Every engagement is led by the Middle Market team and backed by Benchmark International’s global network of strategic acquirers, private equity groups, family offices and independent sponsors.</a:t>
            </a:r>
            <a:endParaRPr lang="en-US" sz="938" dirty="0"/>
          </a:p>
        </p:txBody>
      </p:sp>
      <p:sp>
        <p:nvSpPr>
          <p:cNvPr id="12" name="Shape 11"/>
          <p:cNvSpPr/>
          <p:nvPr/>
        </p:nvSpPr>
        <p:spPr>
          <a:xfrm>
            <a:off x="419100" y="3062288"/>
            <a:ext cx="3086100" cy="1076325"/>
          </a:xfrm>
          <a:prstGeom prst="rect">
            <a:avLst/>
          </a:prstGeom>
          <a:solidFill>
            <a:srgbClr val="FAF7F3"/>
          </a:solidFill>
          <a:ln/>
        </p:spPr>
        <p:txBody>
          <a:bodyPr/>
          <a:lstStyle/>
          <a:p>
            <a:endParaRPr lang="en-US"/>
          </a:p>
        </p:txBody>
      </p:sp>
      <p:sp>
        <p:nvSpPr>
          <p:cNvPr id="13" name="Shape 12"/>
          <p:cNvSpPr/>
          <p:nvPr/>
        </p:nvSpPr>
        <p:spPr>
          <a:xfrm>
            <a:off x="419100" y="3062288"/>
            <a:ext cx="3086100" cy="28575"/>
          </a:xfrm>
          <a:prstGeom prst="rect">
            <a:avLst/>
          </a:prstGeom>
          <a:solidFill>
            <a:srgbClr val="B68757"/>
          </a:solidFill>
          <a:ln/>
        </p:spPr>
        <p:txBody>
          <a:bodyPr/>
          <a:lstStyle/>
          <a:p>
            <a:endParaRPr lang="en-US"/>
          </a:p>
        </p:txBody>
      </p:sp>
      <p:pic>
        <p:nvPicPr>
          <p:cNvPr id="14" name="Jared Hardin" descr="Jared Hardin"/>
          <p:cNvPicPr>
            <a:picLocks noChangeAspect="1"/>
          </p:cNvPicPr>
          <p:nvPr/>
        </p:nvPicPr>
        <p:blipFill>
          <a:blip r:embed="rId3"/>
          <a:stretch>
            <a:fillRect/>
          </a:stretch>
        </p:blipFill>
        <p:spPr>
          <a:xfrm>
            <a:off x="590550" y="3224213"/>
            <a:ext cx="781050" cy="781050"/>
          </a:xfrm>
          <a:prstGeom prst="ellipse">
            <a:avLst/>
          </a:prstGeom>
        </p:spPr>
      </p:pic>
      <p:sp>
        <p:nvSpPr>
          <p:cNvPr id="15" name="Text 14"/>
          <p:cNvSpPr txBox="1"/>
          <p:nvPr/>
        </p:nvSpPr>
        <p:spPr>
          <a:xfrm>
            <a:off x="1524000" y="3233738"/>
            <a:ext cx="1496318"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Jared Hardin</a:t>
            </a:r>
            <a:endParaRPr lang="en-US" sz="1500" dirty="0"/>
          </a:p>
        </p:txBody>
      </p:sp>
      <p:sp>
        <p:nvSpPr>
          <p:cNvPr id="16" name="Text 15"/>
          <p:cNvSpPr txBox="1"/>
          <p:nvPr/>
        </p:nvSpPr>
        <p:spPr>
          <a:xfrm>
            <a:off x="1524000" y="3490913"/>
            <a:ext cx="1496318"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MANAGING DIRECTOR</a:t>
            </a:r>
            <a:endParaRPr lang="en-US" sz="638" dirty="0"/>
          </a:p>
        </p:txBody>
      </p:sp>
      <p:sp>
        <p:nvSpPr>
          <p:cNvPr id="17" name="Text 16"/>
          <p:cNvSpPr txBox="1"/>
          <p:nvPr/>
        </p:nvSpPr>
        <p:spPr>
          <a:xfrm>
            <a:off x="1524000" y="3667125"/>
            <a:ext cx="1510605" cy="323850"/>
          </a:xfrm>
          <a:prstGeom prst="rect">
            <a:avLst/>
          </a:prstGeom>
          <a:noFill/>
          <a:ln/>
        </p:spPr>
        <p:txBody>
          <a:bodyPr wrap="square" lIns="0" tIns="0" rIns="0" bIns="0" rtlCol="0" anchor="t"/>
          <a:lstStyle/>
          <a:p>
            <a:pPr marL="0" indent="0" algn="l">
              <a:lnSpc>
                <a:spcPts val="1275"/>
              </a:lnSpc>
              <a:buNone/>
            </a:pPr>
            <a:r>
              <a:rPr lang="en-US" sz="863"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813-771-6675</a:t>
            </a:r>
            <a:endParaRPr lang="en-US" sz="863" dirty="0"/>
          </a:p>
          <a:p>
            <a:pPr marL="0" indent="0" algn="l">
              <a:lnSpc>
                <a:spcPts val="1275"/>
              </a:lnSpc>
              <a:buNone/>
            </a:pPr>
            <a:r>
              <a:rPr lang="en-US" sz="863"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j.hardin@benchmarkintl.com</a:t>
            </a:r>
            <a:endParaRPr lang="en-US" sz="863" dirty="0"/>
          </a:p>
        </p:txBody>
      </p:sp>
      <p:sp>
        <p:nvSpPr>
          <p:cNvPr id="18" name="Shape 17"/>
          <p:cNvSpPr/>
          <p:nvPr/>
        </p:nvSpPr>
        <p:spPr>
          <a:xfrm>
            <a:off x="3619500" y="3062288"/>
            <a:ext cx="3086100" cy="1076325"/>
          </a:xfrm>
          <a:prstGeom prst="rect">
            <a:avLst/>
          </a:prstGeom>
          <a:solidFill>
            <a:srgbClr val="FAF7F3"/>
          </a:solidFill>
          <a:ln/>
        </p:spPr>
        <p:txBody>
          <a:bodyPr/>
          <a:lstStyle/>
          <a:p>
            <a:endParaRPr lang="en-US"/>
          </a:p>
        </p:txBody>
      </p:sp>
      <p:sp>
        <p:nvSpPr>
          <p:cNvPr id="19" name="Shape 18"/>
          <p:cNvSpPr/>
          <p:nvPr/>
        </p:nvSpPr>
        <p:spPr>
          <a:xfrm>
            <a:off x="3619500" y="3062288"/>
            <a:ext cx="3086100" cy="28575"/>
          </a:xfrm>
          <a:prstGeom prst="rect">
            <a:avLst/>
          </a:prstGeom>
          <a:solidFill>
            <a:srgbClr val="B68757"/>
          </a:solidFill>
          <a:ln/>
        </p:spPr>
        <p:txBody>
          <a:bodyPr/>
          <a:lstStyle/>
          <a:p>
            <a:endParaRPr lang="en-US"/>
          </a:p>
        </p:txBody>
      </p:sp>
      <p:pic>
        <p:nvPicPr>
          <p:cNvPr id="20" name="Jordan Houtz" descr="Jordan Houtz"/>
          <p:cNvPicPr>
            <a:picLocks noChangeAspect="1"/>
          </p:cNvPicPr>
          <p:nvPr/>
        </p:nvPicPr>
        <p:blipFill>
          <a:blip r:embed="rId6"/>
          <a:stretch>
            <a:fillRect/>
          </a:stretch>
        </p:blipFill>
        <p:spPr>
          <a:xfrm>
            <a:off x="3790950" y="3224213"/>
            <a:ext cx="781050" cy="781050"/>
          </a:xfrm>
          <a:prstGeom prst="ellipse">
            <a:avLst/>
          </a:prstGeom>
        </p:spPr>
      </p:pic>
      <p:sp>
        <p:nvSpPr>
          <p:cNvPr id="21" name="Text 20"/>
          <p:cNvSpPr txBox="1"/>
          <p:nvPr/>
        </p:nvSpPr>
        <p:spPr>
          <a:xfrm>
            <a:off x="4724400" y="3324225"/>
            <a:ext cx="1748284"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Jordan Houtz</a:t>
            </a:r>
            <a:endParaRPr lang="en-US" sz="1500" dirty="0"/>
          </a:p>
        </p:txBody>
      </p:sp>
      <p:sp>
        <p:nvSpPr>
          <p:cNvPr id="22" name="Text 21"/>
          <p:cNvSpPr txBox="1"/>
          <p:nvPr/>
        </p:nvSpPr>
        <p:spPr>
          <a:xfrm>
            <a:off x="4724400" y="3581400"/>
            <a:ext cx="1748284"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MANAGING DIRECTOR</a:t>
            </a:r>
            <a:endParaRPr lang="en-US" sz="638" dirty="0"/>
          </a:p>
        </p:txBody>
      </p:sp>
      <p:sp>
        <p:nvSpPr>
          <p:cNvPr id="23" name="Text 22"/>
          <p:cNvSpPr txBox="1"/>
          <p:nvPr/>
        </p:nvSpPr>
        <p:spPr>
          <a:xfrm>
            <a:off x="4724400" y="3752850"/>
            <a:ext cx="1805434" cy="142875"/>
          </a:xfrm>
          <a:prstGeom prst="rect">
            <a:avLst/>
          </a:prstGeom>
          <a:noFill/>
          <a:ln/>
        </p:spPr>
        <p:txBody>
          <a:bodyPr wrap="none" lIns="0" tIns="0" rIns="0" bIns="0" rtlCol="0" anchor="t"/>
          <a:lstStyle/>
          <a:p>
            <a:pPr marL="0" indent="0" algn="l">
              <a:lnSpc>
                <a:spcPts val="1125"/>
              </a:lnSpc>
              <a:buNone/>
            </a:pPr>
            <a:r>
              <a:rPr lang="en-US" sz="788" kern="0" spc="15" dirty="0">
                <a:solidFill>
                  <a:srgbClr val="6F6A66"/>
                </a:solidFill>
                <a:latin typeface="Quicksand" pitchFamily="34" charset="0"/>
              </a:rPr>
              <a:t/>
            </a:r>
            <a:endParaRPr lang="en-US" sz="788" dirty="0"/>
          </a:p>
        </p:txBody>
      </p:sp>
      <p:sp>
        <p:nvSpPr>
          <p:cNvPr id="24" name="Shape 23"/>
          <p:cNvSpPr/>
          <p:nvPr/>
        </p:nvSpPr>
        <p:spPr>
          <a:xfrm>
            <a:off x="419100" y="4252913"/>
            <a:ext cx="3086100" cy="1076325"/>
          </a:xfrm>
          <a:prstGeom prst="rect">
            <a:avLst/>
          </a:prstGeom>
          <a:solidFill>
            <a:srgbClr val="FAF7F3"/>
          </a:solidFill>
          <a:ln/>
        </p:spPr>
        <p:txBody>
          <a:bodyPr/>
          <a:lstStyle/>
          <a:p>
            <a:endParaRPr lang="en-US"/>
          </a:p>
        </p:txBody>
      </p:sp>
      <p:sp>
        <p:nvSpPr>
          <p:cNvPr id="25" name="Shape 24"/>
          <p:cNvSpPr/>
          <p:nvPr/>
        </p:nvSpPr>
        <p:spPr>
          <a:xfrm>
            <a:off x="419100" y="4252913"/>
            <a:ext cx="3086100" cy="28575"/>
          </a:xfrm>
          <a:prstGeom prst="rect">
            <a:avLst/>
          </a:prstGeom>
          <a:solidFill>
            <a:srgbClr val="B68757"/>
          </a:solidFill>
          <a:ln/>
        </p:spPr>
        <p:txBody>
          <a:bodyPr/>
          <a:lstStyle/>
          <a:p>
            <a:endParaRPr lang="en-US"/>
          </a:p>
        </p:txBody>
      </p:sp>
      <p:pic>
        <p:nvPicPr>
          <p:cNvPr id="26" name="Alex Zykov" descr="Alex Zykov"/>
          <p:cNvPicPr>
            <a:picLocks noChangeAspect="1"/>
          </p:cNvPicPr>
          <p:nvPr/>
        </p:nvPicPr>
        <p:blipFill>
          <a:blip r:embed="rId7"/>
          <a:stretch>
            <a:fillRect/>
          </a:stretch>
        </p:blipFill>
        <p:spPr>
          <a:xfrm>
            <a:off x="590550" y="4414838"/>
            <a:ext cx="781050" cy="781050"/>
          </a:xfrm>
          <a:prstGeom prst="ellipse">
            <a:avLst/>
          </a:prstGeom>
        </p:spPr>
      </p:pic>
      <p:sp>
        <p:nvSpPr>
          <p:cNvPr id="27" name="Text 26"/>
          <p:cNvSpPr txBox="1"/>
          <p:nvPr/>
        </p:nvSpPr>
        <p:spPr>
          <a:xfrm>
            <a:off x="1524000" y="4443413"/>
            <a:ext cx="1809750"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Alex Zykov</a:t>
            </a:r>
            <a:endParaRPr lang="en-US" sz="1500" dirty="0"/>
          </a:p>
        </p:txBody>
      </p:sp>
      <p:sp>
        <p:nvSpPr>
          <p:cNvPr id="28" name="Text 27"/>
          <p:cNvSpPr txBox="1"/>
          <p:nvPr/>
        </p:nvSpPr>
        <p:spPr>
          <a:xfrm>
            <a:off x="1524000" y="4700588"/>
            <a:ext cx="1809750"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TRANSACTION DIRECTOR</a:t>
            </a:r>
            <a:endParaRPr lang="en-US" sz="638" dirty="0"/>
          </a:p>
        </p:txBody>
      </p:sp>
      <p:sp>
        <p:nvSpPr>
          <p:cNvPr id="29" name="Text 28"/>
          <p:cNvSpPr txBox="1"/>
          <p:nvPr/>
        </p:nvSpPr>
        <p:spPr>
          <a:xfrm>
            <a:off x="1524000" y="4872038"/>
            <a:ext cx="1824038" cy="285750"/>
          </a:xfrm>
          <a:prstGeom prst="rect">
            <a:avLst/>
          </a:prstGeom>
          <a:noFill/>
          <a:ln/>
        </p:spPr>
        <p:txBody>
          <a:bodyPr wrap="square" lIns="0" tIns="0" rIns="0" bIns="0" rtlCol="0" anchor="t"/>
          <a:lstStyle/>
          <a:p>
            <a:pPr marL="0" indent="0" algn="l">
              <a:lnSpc>
                <a:spcPts val="1125"/>
              </a:lnSpc>
              <a:buNone/>
            </a:pPr>
            <a:r>
              <a:rPr lang="en-US" sz="788" kern="0" spc="15" dirty="0">
                <a:solidFill>
                  <a:srgbClr val="6F6A66"/>
                </a:solidFill>
                <a:latin typeface="Quicksand" pitchFamily="34" charset="0"/>
              </a:rPr>
              <a:t>Leads execution from onboarding through signing and closing</a:t>
            </a:r>
            <a:endParaRPr lang="en-US" sz="788" dirty="0"/>
          </a:p>
        </p:txBody>
      </p:sp>
      <p:sp>
        <p:nvSpPr>
          <p:cNvPr id="30" name="Shape 29"/>
          <p:cNvSpPr/>
          <p:nvPr/>
        </p:nvSpPr>
        <p:spPr>
          <a:xfrm>
            <a:off x="3619500" y="4252913"/>
            <a:ext cx="3086100" cy="1076325"/>
          </a:xfrm>
          <a:prstGeom prst="rect">
            <a:avLst/>
          </a:prstGeom>
          <a:solidFill>
            <a:srgbClr val="FAF7F3"/>
          </a:solidFill>
          <a:ln/>
        </p:spPr>
        <p:txBody>
          <a:bodyPr/>
          <a:lstStyle/>
          <a:p>
            <a:endParaRPr lang="en-US"/>
          </a:p>
        </p:txBody>
      </p:sp>
      <p:sp>
        <p:nvSpPr>
          <p:cNvPr id="31" name="Shape 30"/>
          <p:cNvSpPr/>
          <p:nvPr/>
        </p:nvSpPr>
        <p:spPr>
          <a:xfrm>
            <a:off x="3619500" y="4252913"/>
            <a:ext cx="3086100" cy="28575"/>
          </a:xfrm>
          <a:prstGeom prst="rect">
            <a:avLst/>
          </a:prstGeom>
          <a:solidFill>
            <a:srgbClr val="B68757"/>
          </a:solidFill>
          <a:ln/>
        </p:spPr>
        <p:txBody>
          <a:bodyPr/>
          <a:lstStyle/>
          <a:p>
            <a:endParaRPr lang="en-US"/>
          </a:p>
        </p:txBody>
      </p:sp>
      <p:pic>
        <p:nvPicPr>
          <p:cNvPr id="32" name="Shannon Hess" descr="Shannon Hess"/>
          <p:cNvPicPr>
            <a:picLocks noChangeAspect="1"/>
          </p:cNvPicPr>
          <p:nvPr/>
        </p:nvPicPr>
        <p:blipFill>
          <a:blip r:embed="rId8"/>
          <a:stretch>
            <a:fillRect/>
          </a:stretch>
        </p:blipFill>
        <p:spPr>
          <a:xfrm>
            <a:off x="3790950" y="4414838"/>
            <a:ext cx="781050" cy="781050"/>
          </a:xfrm>
          <a:prstGeom prst="ellipse">
            <a:avLst/>
          </a:prstGeom>
        </p:spPr>
      </p:pic>
      <p:sp>
        <p:nvSpPr>
          <p:cNvPr id="33" name="Text 32"/>
          <p:cNvSpPr txBox="1"/>
          <p:nvPr/>
        </p:nvSpPr>
        <p:spPr>
          <a:xfrm>
            <a:off x="4724400" y="4443413"/>
            <a:ext cx="1809750"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Shannon Hess</a:t>
            </a:r>
            <a:endParaRPr lang="en-US" sz="1500" dirty="0"/>
          </a:p>
        </p:txBody>
      </p:sp>
      <p:sp>
        <p:nvSpPr>
          <p:cNvPr id="34" name="Text 33"/>
          <p:cNvSpPr txBox="1"/>
          <p:nvPr/>
        </p:nvSpPr>
        <p:spPr>
          <a:xfrm>
            <a:off x="4724400" y="4700588"/>
            <a:ext cx="1809750"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CLIENT ENGAGEMENT DIRECTOR</a:t>
            </a:r>
            <a:endParaRPr lang="en-US" sz="638" dirty="0"/>
          </a:p>
        </p:txBody>
      </p:sp>
      <p:sp>
        <p:nvSpPr>
          <p:cNvPr id="35" name="Text 34"/>
          <p:cNvSpPr txBox="1"/>
          <p:nvPr/>
        </p:nvSpPr>
        <p:spPr>
          <a:xfrm>
            <a:off x="4724400" y="4872038"/>
            <a:ext cx="1824038" cy="285750"/>
          </a:xfrm>
          <a:prstGeom prst="rect">
            <a:avLst/>
          </a:prstGeom>
          <a:noFill/>
          <a:ln/>
        </p:spPr>
        <p:txBody>
          <a:bodyPr wrap="square" lIns="0" tIns="0" rIns="0" bIns="0" rtlCol="0" anchor="t"/>
          <a:lstStyle/>
          <a:p>
            <a:pPr marL="0" indent="0" algn="l">
              <a:lnSpc>
                <a:spcPts val="1125"/>
              </a:lnSpc>
              <a:buNone/>
            </a:pPr>
            <a:r>
              <a:rPr lang="en-US" sz="788" kern="0" spc="15" dirty="0">
                <a:solidFill>
                  <a:srgbClr val="6F6A66"/>
                </a:solidFill>
                <a:latin typeface="Quicksand" pitchFamily="34" charset="0"/>
              </a:rPr>
              <a:t>An additional point of contact for owners considering an engagement</a:t>
            </a:r>
            <a:endParaRPr lang="en-US" sz="788" dirty="0"/>
          </a:p>
        </p:txBody>
      </p:sp>
      <p:sp>
        <p:nvSpPr>
          <p:cNvPr id="36" name="Shape 35"/>
          <p:cNvSpPr/>
          <p:nvPr/>
        </p:nvSpPr>
        <p:spPr>
          <a:xfrm>
            <a:off x="419100" y="5500688"/>
            <a:ext cx="1981200" cy="9525"/>
          </a:xfrm>
          <a:prstGeom prst="rect">
            <a:avLst/>
          </a:prstGeom>
          <a:solidFill>
            <a:srgbClr val="E3DCD3"/>
          </a:solidFill>
          <a:ln/>
        </p:spPr>
        <p:txBody>
          <a:bodyPr/>
          <a:lstStyle/>
          <a:p>
            <a:endParaRPr lang="en-US"/>
          </a:p>
        </p:txBody>
      </p:sp>
      <p:sp>
        <p:nvSpPr>
          <p:cNvPr id="37" name="Text 36"/>
          <p:cNvSpPr txBox="1"/>
          <p:nvPr/>
        </p:nvSpPr>
        <p:spPr>
          <a:xfrm>
            <a:off x="419100" y="5600700"/>
            <a:ext cx="222200"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01</a:t>
            </a:r>
            <a:endParaRPr lang="en-US" sz="1350" dirty="0"/>
          </a:p>
        </p:txBody>
      </p:sp>
      <p:sp>
        <p:nvSpPr>
          <p:cNvPr id="38" name="Text 37"/>
          <p:cNvSpPr txBox="1"/>
          <p:nvPr/>
        </p:nvSpPr>
        <p:spPr>
          <a:xfrm>
            <a:off x="679400" y="5600700"/>
            <a:ext cx="1720900"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Share a few details</a:t>
            </a:r>
            <a:endParaRPr lang="en-US" sz="863" dirty="0"/>
          </a:p>
        </p:txBody>
      </p:sp>
      <p:sp>
        <p:nvSpPr>
          <p:cNvPr id="39" name="Text 38"/>
          <p:cNvSpPr txBox="1"/>
          <p:nvPr/>
        </p:nvSpPr>
        <p:spPr>
          <a:xfrm>
            <a:off x="679400" y="5769769"/>
            <a:ext cx="1735187"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Tell us about your company and what you are considering. Everything you share is held in strict confidence.</a:t>
            </a:r>
            <a:endParaRPr lang="en-US" sz="765" dirty="0"/>
          </a:p>
        </p:txBody>
      </p:sp>
      <p:sp>
        <p:nvSpPr>
          <p:cNvPr id="40" name="Shape 39"/>
          <p:cNvSpPr/>
          <p:nvPr/>
        </p:nvSpPr>
        <p:spPr>
          <a:xfrm>
            <a:off x="2571750" y="5500688"/>
            <a:ext cx="1981200" cy="9525"/>
          </a:xfrm>
          <a:prstGeom prst="rect">
            <a:avLst/>
          </a:prstGeom>
          <a:solidFill>
            <a:srgbClr val="E3DCD3"/>
          </a:solidFill>
          <a:ln/>
        </p:spPr>
        <p:txBody>
          <a:bodyPr/>
          <a:lstStyle/>
          <a:p>
            <a:endParaRPr lang="en-US"/>
          </a:p>
        </p:txBody>
      </p:sp>
      <p:sp>
        <p:nvSpPr>
          <p:cNvPr id="41" name="Text 40"/>
          <p:cNvSpPr txBox="1"/>
          <p:nvPr/>
        </p:nvSpPr>
        <p:spPr>
          <a:xfrm>
            <a:off x="2571750" y="5600700"/>
            <a:ext cx="253752"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02</a:t>
            </a:r>
            <a:endParaRPr lang="en-US" sz="1350" dirty="0"/>
          </a:p>
        </p:txBody>
      </p:sp>
      <p:sp>
        <p:nvSpPr>
          <p:cNvPr id="42" name="Text 41"/>
          <p:cNvSpPr txBox="1"/>
          <p:nvPr/>
        </p:nvSpPr>
        <p:spPr>
          <a:xfrm>
            <a:off x="2863602" y="5600700"/>
            <a:ext cx="1695748"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Talk with a Managing Director</a:t>
            </a:r>
            <a:endParaRPr lang="en-US" sz="863" dirty="0"/>
          </a:p>
        </p:txBody>
      </p:sp>
      <p:sp>
        <p:nvSpPr>
          <p:cNvPr id="43" name="Text 42"/>
          <p:cNvSpPr txBox="1"/>
          <p:nvPr/>
        </p:nvSpPr>
        <p:spPr>
          <a:xfrm>
            <a:off x="2863602" y="5769769"/>
            <a:ext cx="1703636"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A senior member of the team will set up a private conversation at a time that suits you.</a:t>
            </a:r>
            <a:endParaRPr lang="en-US" sz="765" dirty="0"/>
          </a:p>
        </p:txBody>
      </p:sp>
      <p:sp>
        <p:nvSpPr>
          <p:cNvPr id="44" name="Shape 43"/>
          <p:cNvSpPr/>
          <p:nvPr/>
        </p:nvSpPr>
        <p:spPr>
          <a:xfrm>
            <a:off x="4724400" y="5500688"/>
            <a:ext cx="1981200" cy="9525"/>
          </a:xfrm>
          <a:prstGeom prst="rect">
            <a:avLst/>
          </a:prstGeom>
          <a:solidFill>
            <a:srgbClr val="E3DCD3"/>
          </a:solidFill>
          <a:ln/>
        </p:spPr>
        <p:txBody>
          <a:bodyPr/>
          <a:lstStyle/>
          <a:p>
            <a:endParaRPr lang="en-US"/>
          </a:p>
        </p:txBody>
      </p:sp>
      <p:sp>
        <p:nvSpPr>
          <p:cNvPr id="45" name="Text 44"/>
          <p:cNvSpPr txBox="1"/>
          <p:nvPr/>
        </p:nvSpPr>
        <p:spPr>
          <a:xfrm>
            <a:off x="4724400" y="5600700"/>
            <a:ext cx="246906"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03</a:t>
            </a:r>
            <a:endParaRPr lang="en-US" sz="1350" dirty="0"/>
          </a:p>
        </p:txBody>
      </p:sp>
      <p:sp>
        <p:nvSpPr>
          <p:cNvPr id="46" name="Text 45"/>
          <p:cNvSpPr txBox="1"/>
          <p:nvPr/>
        </p:nvSpPr>
        <p:spPr>
          <a:xfrm>
            <a:off x="5009406" y="5600700"/>
            <a:ext cx="1696194"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See your options clearly</a:t>
            </a:r>
            <a:endParaRPr lang="en-US" sz="863" dirty="0"/>
          </a:p>
        </p:txBody>
      </p:sp>
      <p:sp>
        <p:nvSpPr>
          <p:cNvPr id="47" name="Text 46"/>
          <p:cNvSpPr txBox="1"/>
          <p:nvPr/>
        </p:nvSpPr>
        <p:spPr>
          <a:xfrm>
            <a:off x="5009406" y="5769769"/>
            <a:ext cx="1710482"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Understand the paths available, from a partial recapitalization to a full sale, and what each could mean for you.</a:t>
            </a:r>
            <a:endParaRPr lang="en-US" sz="765" dirty="0"/>
          </a:p>
        </p:txBody>
      </p:sp>
      <p:sp>
        <p:nvSpPr>
          <p:cNvPr id="48" name="Shape 47"/>
          <p:cNvSpPr/>
          <p:nvPr/>
        </p:nvSpPr>
        <p:spPr>
          <a:xfrm>
            <a:off x="419100" y="6581775"/>
            <a:ext cx="2121396" cy="352425"/>
          </a:xfrm>
          <a:prstGeom prst="rect">
            <a:avLst/>
          </a:prstGeom>
          <a:solidFill>
            <a:srgbClr val="B68757"/>
          </a:solidFill>
          <a:ln/>
        </p:spPr>
        <p:txBody>
          <a:bodyPr/>
          <a:lstStyle/>
          <a:p>
            <a:endParaRPr lang="en-US"/>
          </a:p>
        </p:txBody>
      </p:sp>
      <p:sp>
        <p:nvSpPr>
          <p:cNvPr id="49" name="Text 48">
            <a:hlinkClick r:id="rId5"/>
          </p:cNvPr>
          <p:cNvSpPr txBox="1"/>
          <p:nvPr/>
        </p:nvSpPr>
        <p:spPr>
          <a:xfrm>
            <a:off x="609600" y="6691313"/>
            <a:ext cx="1797546" cy="123825"/>
          </a:xfrm>
          <a:prstGeom prst="rect">
            <a:avLst/>
          </a:prstGeom>
          <a:noFill/>
          <a:ln/>
        </p:spPr>
        <p:txBody>
          <a:bodyPr wrap="none" lIns="0" tIns="0" rIns="0" bIns="0" rtlCol="0" anchor="t"/>
          <a:lstStyle/>
          <a:p>
            <a:pPr marL="0" indent="0" algn="l">
              <a:lnSpc>
                <a:spcPts val="975"/>
              </a:lnSpc>
              <a:buNone/>
            </a:pPr>
            <a:r>
              <a:rPr lang="en-US" sz="713" b="1" kern="0" spc="165" dirty="0">
                <a:solidFill>
                  <a:srgbClr val="FFFFFF"/>
                </a:solidFill>
                <a:latin typeface="Quicksand" pitchFamily="34" charset="0"/>
              </a:rPr>
              <a:t>SCHEDULE A CONVERSATION</a:t>
            </a:r>
            <a:endParaRPr lang="en-US" sz="713" dirty="0"/>
          </a:p>
        </p:txBody>
      </p:sp>
      <p:sp>
        <p:nvSpPr>
          <p:cNvPr id="50" name="Shape 49"/>
          <p:cNvSpPr/>
          <p:nvPr/>
        </p:nvSpPr>
        <p:spPr>
          <a:xfrm>
            <a:off x="2659559" y="6586538"/>
            <a:ext cx="3126730" cy="342900"/>
          </a:xfrm>
          <a:prstGeom prst="rect">
            <a:avLst/>
          </a:prstGeom>
          <a:ln w="9525">
            <a:solidFill>
              <a:srgbClr val="1B1A1A"/>
            </a:solidFill>
            <a:prstDash val="solid"/>
          </a:ln>
        </p:spPr>
        <p:txBody>
          <a:bodyPr/>
          <a:lstStyle/>
          <a:p>
            <a:endParaRPr lang="en-US"/>
          </a:p>
        </p:txBody>
      </p:sp>
      <p:sp>
        <p:nvSpPr>
          <p:cNvPr id="51" name="Text 50">
            <a:hlinkClick r:id="rId9"/>
          </p:cNvPr>
          <p:cNvSpPr txBox="1"/>
          <p:nvPr/>
        </p:nvSpPr>
        <p:spPr>
          <a:xfrm>
            <a:off x="2854821" y="6686550"/>
            <a:ext cx="2793355" cy="123825"/>
          </a:xfrm>
          <a:prstGeom prst="rect">
            <a:avLst/>
          </a:prstGeom>
          <a:noFill/>
          <a:ln/>
        </p:spPr>
        <p:txBody>
          <a:bodyPr wrap="none" lIns="0" tIns="0" rIns="0" bIns="0" rtlCol="0" anchor="t"/>
          <a:lstStyle/>
          <a:p>
            <a:pPr marL="0" indent="0" algn="l">
              <a:lnSpc>
                <a:spcPts val="975"/>
              </a:lnSpc>
              <a:buNone/>
            </a:pPr>
            <a:r>
              <a:rPr lang="en-US" sz="713" b="1" kern="0" spc="165" dirty="0">
                <a:solidFill>
                  <a:srgbClr val="1B1A1A"/>
                </a:solidFill>
                <a:latin typeface="Quicksand" pitchFamily="34" charset="0"/>
              </a:rPr>
              <a:t>READ THE FULL Q4 2026 CONSUMER REPORT</a:t>
            </a:r>
            <a:endParaRPr lang="en-US" sz="713" dirty="0"/>
          </a:p>
        </p:txBody>
      </p:sp>
      <p:sp>
        <p:nvSpPr>
          <p:cNvPr id="52" name="Shape 51"/>
          <p:cNvSpPr/>
          <p:nvPr/>
        </p:nvSpPr>
        <p:spPr>
          <a:xfrm>
            <a:off x="6915150" y="1238250"/>
            <a:ext cx="2724150" cy="5695950"/>
          </a:xfrm>
          <a:prstGeom prst="rect">
            <a:avLst/>
          </a:prstGeom>
          <a:solidFill>
            <a:srgbClr val="1B1A1A"/>
          </a:solidFill>
          <a:ln/>
        </p:spPr>
        <p:txBody>
          <a:bodyPr/>
          <a:lstStyle/>
          <a:p>
            <a:endParaRPr lang="en-US"/>
          </a:p>
        </p:txBody>
      </p:sp>
      <p:pic>
        <p:nvPicPr>
          <p:cNvPr id="53" name="Benchmark International" descr="Benchmark International"/>
          <p:cNvPicPr>
            <a:picLocks noChangeAspect="1"/>
          </p:cNvPicPr>
          <p:nvPr/>
        </p:nvPicPr>
        <p:blipFill>
          <a:blip r:embed="rId10"/>
          <a:stretch>
            <a:fillRect/>
          </a:stretch>
        </p:blipFill>
        <p:spPr>
          <a:xfrm>
            <a:off x="7143750" y="1485900"/>
            <a:ext cx="1638300" cy="304800"/>
          </a:xfrm>
          <a:prstGeom prst="rect">
            <a:avLst/>
          </a:prstGeom>
        </p:spPr>
      </p:pic>
      <p:sp>
        <p:nvSpPr>
          <p:cNvPr id="54" name="Text 53"/>
          <p:cNvSpPr txBox="1"/>
          <p:nvPr/>
        </p:nvSpPr>
        <p:spPr>
          <a:xfrm>
            <a:off x="7143750" y="1866900"/>
            <a:ext cx="2266950" cy="123825"/>
          </a:xfrm>
          <a:prstGeom prst="rect">
            <a:avLst/>
          </a:prstGeom>
          <a:noFill/>
          <a:ln/>
        </p:spPr>
        <p:txBody>
          <a:bodyPr wrap="none" lIns="0" tIns="0" rIns="0" bIns="0" rtlCol="0" anchor="t"/>
          <a:lstStyle/>
          <a:p>
            <a:pPr marL="0" indent="0" algn="l">
              <a:lnSpc>
                <a:spcPts val="975"/>
              </a:lnSpc>
              <a:buNone/>
            </a:pPr>
            <a:r>
              <a:rPr lang="en-US" sz="638" b="1" kern="0" spc="195" dirty="0">
                <a:solidFill>
                  <a:srgbClr val="D3AE84"/>
                </a:solidFill>
                <a:latin typeface="Quicksand" pitchFamily="34" charset="0"/>
              </a:rPr>
              <a:t>MIDDLE MARKET</a:t>
            </a:r>
            <a:endParaRPr lang="en-US" sz="638" dirty="0"/>
          </a:p>
        </p:txBody>
      </p:sp>
      <p:sp>
        <p:nvSpPr>
          <p:cNvPr id="55" name="Text 54"/>
          <p:cNvSpPr txBox="1"/>
          <p:nvPr/>
        </p:nvSpPr>
        <p:spPr>
          <a:xfrm>
            <a:off x="7143750" y="2162175"/>
            <a:ext cx="1057275" cy="285750"/>
          </a:xfrm>
          <a:prstGeom prst="rect">
            <a:avLst/>
          </a:prstGeom>
          <a:noFill/>
          <a:ln/>
        </p:spPr>
        <p:txBody>
          <a:bodyPr wrap="none" lIns="0" tIns="0" rIns="0" bIns="0" rtlCol="0" anchor="t"/>
          <a:lstStyle/>
          <a:p>
            <a:pPr marL="0" indent="0" algn="l">
              <a:lnSpc>
                <a:spcPts val="2250"/>
              </a:lnSpc>
              <a:buNone/>
            </a:pPr>
            <a:r>
              <a:rPr lang="en-US" sz="1950" kern="0" spc="15" dirty="0">
                <a:solidFill>
                  <a:srgbClr val="D3AE84"/>
                </a:solidFill>
                <a:latin typeface="Newsreader SemiBold" pitchFamily="34" charset="0"/>
              </a:rPr>
              <a:t>#1</a:t>
            </a:r>
            <a:endParaRPr lang="en-US" sz="1950" dirty="0"/>
          </a:p>
        </p:txBody>
      </p:sp>
      <p:sp>
        <p:nvSpPr>
          <p:cNvPr id="56" name="Text 55"/>
          <p:cNvSpPr txBox="1"/>
          <p:nvPr/>
        </p:nvSpPr>
        <p:spPr>
          <a:xfrm>
            <a:off x="7143750" y="2447925"/>
            <a:ext cx="1071563"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Privately owned sell-side M&amp;A advisor worldwide</a:t>
            </a:r>
            <a:endParaRPr lang="en-US" sz="705" dirty="0"/>
          </a:p>
        </p:txBody>
      </p:sp>
      <p:sp>
        <p:nvSpPr>
          <p:cNvPr id="57" name="Text 56"/>
          <p:cNvSpPr txBox="1"/>
          <p:nvPr/>
        </p:nvSpPr>
        <p:spPr>
          <a:xfrm>
            <a:off x="8353425" y="2162175"/>
            <a:ext cx="1057275" cy="285750"/>
          </a:xfrm>
          <a:prstGeom prst="rect">
            <a:avLst/>
          </a:prstGeom>
          <a:noFill/>
          <a:ln/>
        </p:spPr>
        <p:txBody>
          <a:bodyPr wrap="none" lIns="0" tIns="0" rIns="0" bIns="0" rtlCol="0" anchor="t"/>
          <a:lstStyle/>
          <a:p>
            <a:pPr marL="0" indent="0" algn="l">
              <a:lnSpc>
                <a:spcPts val="2250"/>
              </a:lnSpc>
              <a:buNone/>
            </a:pPr>
            <a:r>
              <a:rPr lang="en-US" sz="1950" kern="0" spc="15" dirty="0">
                <a:solidFill>
                  <a:srgbClr val="D3AE84"/>
                </a:solidFill>
                <a:latin typeface="Newsreader SemiBold" pitchFamily="34" charset="0"/>
              </a:rPr>
              <a:t>15</a:t>
            </a:r>
            <a:endParaRPr lang="en-US" sz="1950" dirty="0"/>
          </a:p>
        </p:txBody>
      </p:sp>
      <p:sp>
        <p:nvSpPr>
          <p:cNvPr id="58" name="Text 57"/>
          <p:cNvSpPr txBox="1"/>
          <p:nvPr/>
        </p:nvSpPr>
        <p:spPr>
          <a:xfrm>
            <a:off x="8353425" y="2447925"/>
            <a:ext cx="1071563"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Global offices across the Americas, Europe and Africa</a:t>
            </a:r>
            <a:endParaRPr lang="en-US" sz="705" dirty="0"/>
          </a:p>
        </p:txBody>
      </p:sp>
      <p:sp>
        <p:nvSpPr>
          <p:cNvPr id="59" name="Text 58"/>
          <p:cNvSpPr txBox="1"/>
          <p:nvPr/>
        </p:nvSpPr>
        <p:spPr>
          <a:xfrm>
            <a:off x="7143750" y="2952750"/>
            <a:ext cx="2266950" cy="285750"/>
          </a:xfrm>
          <a:prstGeom prst="rect">
            <a:avLst/>
          </a:prstGeom>
          <a:noFill/>
          <a:ln/>
        </p:spPr>
        <p:txBody>
          <a:bodyPr wrap="none" lIns="0" tIns="0" rIns="0" bIns="0" rtlCol="0" anchor="t"/>
          <a:lstStyle/>
          <a:p>
            <a:pPr marL="0" indent="0" algn="l">
              <a:lnSpc>
                <a:spcPts val="2250"/>
              </a:lnSpc>
              <a:buNone/>
            </a:pPr>
            <a:r>
              <a:rPr lang="en-US" sz="1800" kern="0" spc="15" dirty="0">
                <a:solidFill>
                  <a:srgbClr val="D3AE84"/>
                </a:solidFill>
                <a:latin typeface="Newsreader SemiBold" pitchFamily="34" charset="0"/>
              </a:rPr>
              <a:t>$50M to $500M</a:t>
            </a:r>
            <a:endParaRPr lang="en-US" sz="1800" dirty="0"/>
          </a:p>
        </p:txBody>
      </p:sp>
      <p:sp>
        <p:nvSpPr>
          <p:cNvPr id="60" name="Text 59"/>
          <p:cNvSpPr txBox="1"/>
          <p:nvPr/>
        </p:nvSpPr>
        <p:spPr>
          <a:xfrm>
            <a:off x="7143750" y="3238500"/>
            <a:ext cx="226695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E8E2DA"/>
                </a:solidFill>
                <a:latin typeface="Quicksand" pitchFamily="34" charset="0"/>
              </a:rPr>
              <a:t>Total enterprise value range the team serves</a:t>
            </a:r>
            <a:endParaRPr lang="en-US" sz="705" dirty="0"/>
          </a:p>
        </p:txBody>
      </p:sp>
      <p:sp>
        <p:nvSpPr>
          <p:cNvPr id="61" name="Shape 60"/>
          <p:cNvSpPr/>
          <p:nvPr/>
        </p:nvSpPr>
        <p:spPr>
          <a:xfrm>
            <a:off x="7143750" y="3514725"/>
            <a:ext cx="2266950" cy="9525"/>
          </a:xfrm>
          <a:prstGeom prst="rect">
            <a:avLst/>
          </a:prstGeom>
          <a:solidFill>
            <a:srgbClr val="D3AE84">
              <a:alpha val="30000"/>
            </a:srgbClr>
          </a:solidFill>
          <a:ln/>
        </p:spPr>
        <p:txBody>
          <a:bodyPr/>
          <a:lstStyle/>
          <a:p>
            <a:endParaRPr lang="en-US"/>
          </a:p>
        </p:txBody>
      </p:sp>
      <p:sp>
        <p:nvSpPr>
          <p:cNvPr id="62" name="Text 61"/>
          <p:cNvSpPr txBox="1"/>
          <p:nvPr/>
        </p:nvSpPr>
        <p:spPr>
          <a:xfrm>
            <a:off x="7143750" y="3638550"/>
            <a:ext cx="2266950" cy="123825"/>
          </a:xfrm>
          <a:prstGeom prst="rect">
            <a:avLst/>
          </a:prstGeom>
          <a:noFill/>
          <a:ln/>
        </p:spPr>
        <p:txBody>
          <a:bodyPr wrap="none" lIns="0" tIns="0" rIns="0" bIns="0" rtlCol="0" anchor="t"/>
          <a:lstStyle/>
          <a:p>
            <a:pPr marL="0" indent="0" algn="l">
              <a:lnSpc>
                <a:spcPts val="975"/>
              </a:lnSpc>
              <a:buNone/>
            </a:pPr>
            <a:r>
              <a:rPr lang="en-US" sz="638" b="1" kern="0" spc="165" dirty="0">
                <a:solidFill>
                  <a:srgbClr val="D3AE84"/>
                </a:solidFill>
                <a:latin typeface="Quicksand" pitchFamily="34" charset="0"/>
              </a:rPr>
              <a:t>CONSUMER COVERAGE</a:t>
            </a:r>
            <a:endParaRPr lang="en-US" sz="638" dirty="0"/>
          </a:p>
        </p:txBody>
      </p:sp>
      <p:pic>
        <p:nvPicPr>
          <p:cNvPr id="63" name="Icon" descr="/tmp/claude-0/-home-claude-about/4bef2f41-4227-5ff7-ab18-11ac74cd9797/scratchpad/pptx/ex/media/a5844c0bd0eb.png"/>
          <p:cNvPicPr>
            <a:picLocks noChangeAspect="1"/>
          </p:cNvPicPr>
          <p:nvPr/>
        </p:nvPicPr>
        <p:blipFill>
          <a:blip r:embed="rId11"/>
          <a:stretch>
            <a:fillRect/>
          </a:stretch>
        </p:blipFill>
        <p:spPr>
          <a:xfrm>
            <a:off x="7143750" y="3848100"/>
            <a:ext cx="142875" cy="142875"/>
          </a:xfrm>
          <a:prstGeom prst="rect">
            <a:avLst/>
          </a:prstGeom>
        </p:spPr>
      </p:pic>
      <p:sp>
        <p:nvSpPr>
          <p:cNvPr id="64" name="Text 63"/>
          <p:cNvSpPr txBox="1"/>
          <p:nvPr/>
        </p:nvSpPr>
        <p:spPr>
          <a:xfrm>
            <a:off x="7372350" y="3852863"/>
            <a:ext cx="912316"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Food &amp; Beverage</a:t>
            </a:r>
            <a:endParaRPr lang="en-US" sz="810" dirty="0"/>
          </a:p>
        </p:txBody>
      </p:sp>
      <p:pic>
        <p:nvPicPr>
          <p:cNvPr id="65" name="Icon" descr="/tmp/claude-0/-home-claude-about/4bef2f41-4227-5ff7-ab18-11ac74cd9797/scratchpad/pptx/ex/media/267c0dc43ff0.png"/>
          <p:cNvPicPr>
            <a:picLocks noChangeAspect="1"/>
          </p:cNvPicPr>
          <p:nvPr/>
        </p:nvPicPr>
        <p:blipFill>
          <a:blip r:embed="rId12"/>
          <a:stretch>
            <a:fillRect/>
          </a:stretch>
        </p:blipFill>
        <p:spPr>
          <a:xfrm>
            <a:off x="7143750" y="4086225"/>
            <a:ext cx="142875" cy="142875"/>
          </a:xfrm>
          <a:prstGeom prst="rect">
            <a:avLst/>
          </a:prstGeom>
        </p:spPr>
      </p:pic>
      <p:sp>
        <p:nvSpPr>
          <p:cNvPr id="66" name="Text 65"/>
          <p:cNvSpPr txBox="1"/>
          <p:nvPr/>
        </p:nvSpPr>
        <p:spPr>
          <a:xfrm>
            <a:off x="7372350" y="4090987"/>
            <a:ext cx="1507034"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Consumer Brands &amp; Products</a:t>
            </a:r>
            <a:endParaRPr lang="en-US" sz="810" dirty="0"/>
          </a:p>
        </p:txBody>
      </p:sp>
      <p:pic>
        <p:nvPicPr>
          <p:cNvPr id="67" name="Icon" descr="/tmp/claude-0/-home-claude-about/4bef2f41-4227-5ff7-ab18-11ac74cd9797/scratchpad/pptx/ex/media/df6e3233e72f.png"/>
          <p:cNvPicPr>
            <a:picLocks noChangeAspect="1"/>
          </p:cNvPicPr>
          <p:nvPr/>
        </p:nvPicPr>
        <p:blipFill>
          <a:blip r:embed="rId13"/>
          <a:stretch>
            <a:fillRect/>
          </a:stretch>
        </p:blipFill>
        <p:spPr>
          <a:xfrm>
            <a:off x="7143750" y="4324350"/>
            <a:ext cx="142875" cy="142875"/>
          </a:xfrm>
          <a:prstGeom prst="rect">
            <a:avLst/>
          </a:prstGeom>
        </p:spPr>
      </p:pic>
      <p:sp>
        <p:nvSpPr>
          <p:cNvPr id="68" name="Text 67"/>
          <p:cNvSpPr txBox="1"/>
          <p:nvPr/>
        </p:nvSpPr>
        <p:spPr>
          <a:xfrm>
            <a:off x="7372350" y="4329113"/>
            <a:ext cx="1354782"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Foodservice &amp; Distribution</a:t>
            </a:r>
            <a:endParaRPr lang="en-US" sz="810" dirty="0"/>
          </a:p>
        </p:txBody>
      </p:sp>
      <p:pic>
        <p:nvPicPr>
          <p:cNvPr id="69" name="Icon" descr="/tmp/claude-0/-home-claude-about/4bef2f41-4227-5ff7-ab18-11ac74cd9797/scratchpad/pptx/ex/media/b26f2f7508a0.png"/>
          <p:cNvPicPr>
            <a:picLocks noChangeAspect="1"/>
          </p:cNvPicPr>
          <p:nvPr/>
        </p:nvPicPr>
        <p:blipFill>
          <a:blip r:embed="rId14"/>
          <a:stretch>
            <a:fillRect/>
          </a:stretch>
        </p:blipFill>
        <p:spPr>
          <a:xfrm>
            <a:off x="7143750" y="4562475"/>
            <a:ext cx="142875" cy="142875"/>
          </a:xfrm>
          <a:prstGeom prst="rect">
            <a:avLst/>
          </a:prstGeom>
        </p:spPr>
      </p:pic>
      <p:sp>
        <p:nvSpPr>
          <p:cNvPr id="70" name="Text 69"/>
          <p:cNvSpPr txBox="1"/>
          <p:nvPr/>
        </p:nvSpPr>
        <p:spPr>
          <a:xfrm>
            <a:off x="7372350" y="4567238"/>
            <a:ext cx="1413718"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Consumer Services &amp; Retail</a:t>
            </a:r>
            <a:endParaRPr lang="en-US" sz="810" dirty="0"/>
          </a:p>
        </p:txBody>
      </p:sp>
      <p:sp>
        <p:nvSpPr>
          <p:cNvPr id="71" name="Shape 70"/>
          <p:cNvSpPr/>
          <p:nvPr/>
        </p:nvSpPr>
        <p:spPr>
          <a:xfrm>
            <a:off x="7143750" y="5391150"/>
            <a:ext cx="2266950" cy="9525"/>
          </a:xfrm>
          <a:prstGeom prst="rect">
            <a:avLst/>
          </a:prstGeom>
          <a:solidFill>
            <a:srgbClr val="D3AE84">
              <a:alpha val="30000"/>
            </a:srgbClr>
          </a:solidFill>
          <a:ln/>
        </p:spPr>
        <p:txBody>
          <a:bodyPr/>
          <a:lstStyle/>
          <a:p>
            <a:endParaRPr lang="en-US"/>
          </a:p>
        </p:txBody>
      </p:sp>
      <p:sp>
        <p:nvSpPr>
          <p:cNvPr id="72" name="Text 71"/>
          <p:cNvSpPr txBox="1"/>
          <p:nvPr/>
        </p:nvSpPr>
        <p:spPr>
          <a:xfrm>
            <a:off x="7143750" y="5514975"/>
            <a:ext cx="2266950" cy="123825"/>
          </a:xfrm>
          <a:prstGeom prst="rect">
            <a:avLst/>
          </a:prstGeom>
          <a:noFill/>
          <a:ln/>
        </p:spPr>
        <p:txBody>
          <a:bodyPr wrap="none" lIns="0" tIns="0" rIns="0" bIns="0" rtlCol="0" anchor="t"/>
          <a:lstStyle/>
          <a:p>
            <a:pPr marL="0" indent="0" algn="l">
              <a:lnSpc>
                <a:spcPts val="975"/>
              </a:lnSpc>
              <a:buNone/>
            </a:pPr>
            <a:r>
              <a:rPr lang="en-US" sz="638" b="1" kern="0" spc="165" dirty="0">
                <a:solidFill>
                  <a:srgbClr val="D3AE84"/>
                </a:solidFill>
                <a:latin typeface="Quicksand" pitchFamily="34" charset="0"/>
              </a:rPr>
              <a:t>AMERICAS HEADQUARTERS</a:t>
            </a:r>
            <a:endParaRPr lang="en-US" sz="638" dirty="0"/>
          </a:p>
        </p:txBody>
      </p:sp>
      <p:sp>
        <p:nvSpPr>
          <p:cNvPr id="73" name="Text 72"/>
          <p:cNvSpPr txBox="1"/>
          <p:nvPr/>
        </p:nvSpPr>
        <p:spPr>
          <a:xfrm>
            <a:off x="7143750" y="5676900"/>
            <a:ext cx="2281238" cy="428625"/>
          </a:xfrm>
          <a:prstGeom prst="rect">
            <a:avLst/>
          </a:prstGeom>
          <a:noFill/>
          <a:ln/>
        </p:spPr>
        <p:txBody>
          <a:bodyPr wrap="square" lIns="0" tIns="0" rIns="0" bIns="0" rtlCol="0" anchor="t"/>
          <a:lstStyle/>
          <a:p>
            <a:pPr marL="0" indent="0" algn="l">
              <a:lnSpc>
                <a:spcPts val="1125"/>
              </a:lnSpc>
              <a:buNone/>
            </a:pPr>
            <a:r>
              <a:rPr lang="en-US" sz="780" kern="0" spc="15" dirty="0">
                <a:solidFill>
                  <a:srgbClr val="E8E2DA"/>
                </a:solidFill>
                <a:latin typeface="Quicksand" pitchFamily="34" charset="0"/>
              </a:rPr>
              <a:t>4030 West Boy Scout Blvd., Suite 500</a:t>
            </a:r>
            <a:endParaRPr lang="en-US" sz="780" dirty="0"/>
          </a:p>
          <a:p>
            <a:pPr marL="0" indent="0" algn="l">
              <a:lnSpc>
                <a:spcPts val="1125"/>
              </a:lnSpc>
              <a:buNone/>
            </a:pPr>
            <a:r>
              <a:rPr lang="en-US" sz="780" kern="0" spc="15" dirty="0">
                <a:solidFill>
                  <a:srgbClr val="E8E2DA"/>
                </a:solidFill>
                <a:latin typeface="Quicksand" pitchFamily="34" charset="0"/>
              </a:rPr>
              <a:t>Tampa, FL 33607</a:t>
            </a:r>
            <a:endParaRPr lang="en-US" sz="780" dirty="0"/>
          </a:p>
          <a:p>
            <a:pPr marL="0" indent="0" algn="l">
              <a:lnSpc>
                <a:spcPts val="1125"/>
              </a:lnSpc>
              <a:buNone/>
            </a:pPr>
            <a:r>
              <a:rPr lang="en-US" sz="780" kern="0" spc="15" dirty="0">
                <a:solidFill>
                  <a:srgbClr val="E8E2DA"/>
                </a:solidFill>
                <a:latin typeface="Quicksand" pitchFamily="34" charset="0"/>
              </a:rPr>
              <a:t>+1 813 898 2350</a:t>
            </a:r>
            <a:endParaRPr lang="en-US" sz="780" dirty="0"/>
          </a:p>
        </p:txBody>
      </p:sp>
      <p:sp>
        <p:nvSpPr>
          <p:cNvPr id="74" name="Text 73"/>
          <p:cNvSpPr txBox="1"/>
          <p:nvPr/>
        </p:nvSpPr>
        <p:spPr>
          <a:xfrm>
            <a:off x="7143750" y="6169819"/>
            <a:ext cx="2281238" cy="514350"/>
          </a:xfrm>
          <a:prstGeom prst="rect">
            <a:avLst/>
          </a:prstGeom>
          <a:noFill/>
          <a:ln/>
        </p:spPr>
        <p:txBody>
          <a:bodyPr wrap="square" lIns="0" tIns="0" rIns="0" bIns="0" rtlCol="0" anchor="t"/>
          <a:lstStyle/>
          <a:p>
            <a:pPr marL="0" indent="0" algn="l">
              <a:lnSpc>
                <a:spcPts val="1013"/>
              </a:lnSpc>
              <a:buNone/>
            </a:pPr>
            <a:r>
              <a:rPr lang="en-US" sz="705" b="1" kern="0" spc="15" dirty="0">
                <a:solidFill>
                  <a:srgbClr val="E8E2DA"/>
                </a:solidFill>
                <a:latin typeface="Quicksand" pitchFamily="34" charset="0"/>
              </a:rPr>
              <a:t>Europe</a:t>
            </a:r>
            <a:r>
              <a:rPr lang="en-US" sz="705" kern="0" spc="15" dirty="0">
                <a:solidFill>
                  <a:srgbClr val="C9C2B8"/>
                </a:solidFill>
                <a:latin typeface="Quicksand" pitchFamily="34" charset="0"/>
              </a:rPr>
              <a:t>  One New Bailey, 4 Stanley St., Manchester, M3 5JL</a:t>
            </a:r>
            <a:endParaRPr lang="en-US" sz="705" dirty="0"/>
          </a:p>
          <a:p>
            <a:pPr marL="0" indent="0" algn="l">
              <a:lnSpc>
                <a:spcPts val="1013"/>
              </a:lnSpc>
              <a:buNone/>
            </a:pPr>
            <a:r>
              <a:rPr lang="en-US" sz="705" b="1" kern="0" spc="15" dirty="0">
                <a:solidFill>
                  <a:srgbClr val="E8E2DA"/>
                </a:solidFill>
                <a:latin typeface="Quicksand" pitchFamily="34" charset="0"/>
              </a:rPr>
              <a:t>Africa</a:t>
            </a:r>
            <a:r>
              <a:rPr lang="en-US" sz="705" kern="0" spc="15" dirty="0">
                <a:solidFill>
                  <a:srgbClr val="C9C2B8"/>
                </a:solidFill>
                <a:latin typeface="Quicksand" pitchFamily="34" charset="0"/>
              </a:rPr>
              <a:t>  Airport Office Park, Freight Rd., Cape Town Airport, 7525</a:t>
            </a:r>
            <a:endParaRPr lang="en-US" sz="705" dirty="0"/>
          </a:p>
        </p:txBody>
      </p:sp>
      <p:sp>
        <p:nvSpPr>
          <p:cNvPr id="75" name="Shape 74"/>
          <p:cNvSpPr/>
          <p:nvPr/>
        </p:nvSpPr>
        <p:spPr>
          <a:xfrm>
            <a:off x="419100" y="7029450"/>
            <a:ext cx="9220200" cy="9525"/>
          </a:xfrm>
          <a:prstGeom prst="rect">
            <a:avLst/>
          </a:prstGeom>
          <a:solidFill>
            <a:srgbClr val="E3DCD3"/>
          </a:solidFill>
          <a:ln/>
        </p:spPr>
        <p:txBody>
          <a:bodyPr/>
          <a:lstStyle/>
          <a:p>
            <a:endParaRPr lang="en-US"/>
          </a:p>
        </p:txBody>
      </p:sp>
      <p:pic>
        <p:nvPicPr>
          <p:cNvPr id="76" name="Benchmark International" descr="Benchmark International"/>
          <p:cNvPicPr>
            <a:picLocks noChangeAspect="1"/>
          </p:cNvPicPr>
          <p:nvPr/>
        </p:nvPicPr>
        <p:blipFill>
          <a:blip r:embed="rId15"/>
          <a:stretch>
            <a:fillRect/>
          </a:stretch>
        </p:blipFill>
        <p:spPr>
          <a:xfrm>
            <a:off x="419100" y="7143750"/>
            <a:ext cx="914400" cy="171450"/>
          </a:xfrm>
          <a:prstGeom prst="rect">
            <a:avLst/>
          </a:prstGeom>
        </p:spPr>
      </p:pic>
      <p:sp>
        <p:nvSpPr>
          <p:cNvPr id="77" name="Text 76"/>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Ranking based on PitchBook’s Q2 2026 Global League Tables, as published at </a:t>
            </a:r>
            <a:r>
              <a:rPr lang="en-US" sz="67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benchmarkintl.com</a:t>
            </a:r>
            <a:r>
              <a:rPr lang="en-US" sz="675" kern="0" spc="15" dirty="0">
                <a:solidFill>
                  <a:srgbClr val="6F6A66"/>
                </a:solidFill>
                <a:latin typeface="Quicksand" pitchFamily="34" charset="0"/>
              </a:rPr>
              <a:t>. Team as listed on the Middle Market site in October 2026.</a:t>
            </a:r>
            <a:endParaRPr lang="en-US" sz="675" dirty="0"/>
          </a:p>
        </p:txBody>
      </p:sp>
      <p:sp>
        <p:nvSpPr>
          <p:cNvPr id="78" name="Text 77"/>
          <p:cNvSpPr txBox="1"/>
          <p:nvPr/>
        </p:nvSpPr>
        <p:spPr>
          <a:xfrm>
            <a:off x="9494044" y="7162800"/>
            <a:ext cx="202406"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20</a:t>
            </a:r>
            <a:endParaRPr lang="en-US" sz="713"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Important Disclosures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These disclosures apply to this brief and to the Middle Market sector reports.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Disclosures text"/>
          <p:cNvSpPr txBox="1"/>
          <p:nvPr/>
        </p:nvSpPr>
        <p:spPr>
          <a:xfrm>
            <a:off x="419100" y="1238250"/>
            <a:ext cx="9277350" cy="4246959"/>
          </a:xfrm>
          <a:prstGeom prst="rect">
            <a:avLst/>
          </a:prstGeom>
          <a:noFill/>
          <a:ln/>
        </p:spPr>
        <p:txBody>
          <a:bodyPr wrap="square" lIns="0" tIns="0" rIns="0" bIns="0" numCol="2" spcCol="342900" rtlCol="0" anchor="t"/>
          <a:lstStyle/>
          <a:p>
            <a:pPr marL="0" indent="0" algn="l">
              <a:lnSpc>
                <a:spcPts val="1290"/>
              </a:lnSpc>
              <a:spcAft>
                <a:spcPts val="825"/>
              </a:spcAft>
              <a:buNone/>
            </a:pPr>
            <a:r>
              <a:rPr lang="en-US" sz="855" kern="0" spc="15" dirty="0">
                <a:solidFill>
                  <a:srgbClr val="333231"/>
                </a:solidFill>
                <a:latin typeface="Quicksand" pitchFamily="34" charset="0"/>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Company names, logos and trademarks referenced in this material are the property of their respective owners and are used for identification only. Their use does not imply any affiliation with or endorsement by those owners.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p>
        </p:txBody>
      </p:sp>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Information in this brief is as of October 7, 2026 unless stated otherwise.</a:t>
            </a:r>
            <a:endParaRPr lang="en-US" sz="675" dirty="0"/>
          </a:p>
        </p:txBody>
      </p:sp>
      <p:sp>
        <p:nvSpPr>
          <p:cNvPr id="13"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21</a:t>
            </a:r>
            <a:endParaRPr lang="en-US" sz="713"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Sources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Every figure in this brief links to the page it came from, and the same links are collected here by section.</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Disclosures text"/>
          <p:cNvSpPr txBox="1"/>
          <p:nvPr/>
        </p:nvSpPr>
        <p:spPr>
          <a:xfrm>
            <a:off x="419100" y="1238250"/>
            <a:ext cx="9277350" cy="5695950"/>
          </a:xfrm>
          <a:prstGeom prst="rect">
            <a:avLst/>
          </a:prstGeom>
          <a:noFill/>
          <a:ln/>
        </p:spPr>
        <p:txBody>
          <a:bodyPr wrap="square" lIns="0" tIns="0" rIns="0" bIns="0" numCol="4" spcCol="190500" rtlCol="0" anchor="t"/>
          <a:lstStyle/>
          <a:p>
            <a:pPr marL="0" indent="0" algn="l">
              <a:lnSpc>
                <a:spcPts val="923"/>
              </a:lnSpc>
              <a:buNone/>
            </a:pPr>
            <a:r>
              <a:rPr lang="en-US" sz="668" u="sng" kern="0" spc="15" dirty="0">
                <a:solidFill>
                  <a:srgbClr val="8C6239"/>
                </a:solidFill>
                <a:latin typeface="Quicksand" pitchFamily="34" charset="0"/>
                <a:hlinkClick r:id="rId3">
                  <a:extLst>
                    <a:ext uri="{A12FA001-AC4F-418D-AE19-62706E023703}">
                      <ahyp:hlinkClr xmlns:ahyp="http://schemas.microsoft.com/office/drawing/2018/hyperlinkcolor" val="tx"/>
                    </a:ext>
                  </a:extLst>
                </a:hlinkClick>
              </a:rPr>
              <a:t>Hershey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Church &amp; Dwight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General Mills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Private Label Manufacturers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plma.com</a:t>
            </a:r>
            <a:endParaRPr lang="en-US" sz="668" dirty="0"/>
          </a:p>
          <a:p>
            <a:pPr marL="0" indent="0" algn="l">
              <a:lnSpc>
                <a:spcPts val="923"/>
              </a:lnSpc>
              <a:buNone/>
            </a:pPr>
            <a:r>
              <a:rPr lang="en-US" sz="668"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Census Bureau</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census.gov</a:t>
            </a:r>
            <a:endParaRPr lang="en-US" sz="668" dirty="0"/>
          </a:p>
          <a:p>
            <a:pPr marL="0" indent="0" algn="l">
              <a:lnSpc>
                <a:spcPts val="923"/>
              </a:lnSpc>
              <a:buNone/>
            </a:pPr>
            <a:r>
              <a:rPr lang="en-US" sz="668"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Walmart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YETI</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Kimberly-Clark and Kenvue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McCormick and Unilever's food business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Sysco and Jetro Restaurant Depot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investors.sysco.com</a:t>
            </a:r>
            <a:endParaRPr lang="en-US" sz="668" dirty="0"/>
          </a:p>
          <a:p>
            <a:pPr marL="0" indent="0" algn="l">
              <a:lnSpc>
                <a:spcPts val="923"/>
              </a:lnSpc>
              <a:buNone/>
            </a:pPr>
            <a:r>
              <a:rPr lang="en-US" sz="668"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Keurig Dr Pepper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Middleby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PitchBook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pitchbook.brightspotcdn.com</a:t>
            </a:r>
            <a:endParaRPr lang="en-US" sz="668" dirty="0"/>
          </a:p>
          <a:p>
            <a:pPr marL="0" indent="0" algn="l">
              <a:lnSpc>
                <a:spcPts val="923"/>
              </a:lnSpc>
              <a:buNone/>
            </a:pPr>
            <a:r>
              <a:rPr lang="en-US" sz="668"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Boyd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Tidal Wave Auto Spa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newswire.com</a:t>
            </a:r>
            <a:endParaRPr lang="en-US" sz="668" dirty="0"/>
          </a:p>
          <a:p>
            <a:pPr marL="0" indent="0" algn="l">
              <a:lnSpc>
                <a:spcPts val="923"/>
              </a:lnSpc>
              <a:buNone/>
            </a:pPr>
            <a:r>
              <a:rPr lang="en-US" sz="668"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SPS PoolCare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prnewswire.com</a:t>
            </a:r>
            <a:endParaRPr lang="en-US" sz="668" dirty="0"/>
          </a:p>
          <a:p>
            <a:pPr marL="0" indent="0" algn="l">
              <a:lnSpc>
                <a:spcPts val="923"/>
              </a:lnSpc>
              <a:buNone/>
            </a:pPr>
            <a:r>
              <a:rPr lang="en-US" sz="668" u="sng" kern="0" spc="15" dirty="0">
                <a:solidFill>
                  <a:srgbClr val="8C6239"/>
                </a:solidFill>
                <a:latin typeface="Quicksand" pitchFamily="34" charset="0"/>
                <a:hlinkClick r:id="rId19">
                  <a:extLst>
                    <a:ext uri="{A12FA001-AC4F-418D-AE19-62706E023703}">
                      <ahyp:hlinkClr xmlns:ahyp="http://schemas.microsoft.com/office/drawing/2018/hyperlinkcolor" val="tx"/>
                    </a:ext>
                  </a:extLst>
                </a:hlinkClick>
              </a:rPr>
              <a:t>Supreme Court, Learning Resources v. Trump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supremecourt.gov</a:t>
            </a:r>
            <a:endParaRPr lang="en-US" sz="668" dirty="0"/>
          </a:p>
          <a:p>
            <a:pPr marL="0" indent="0" algn="l">
              <a:lnSpc>
                <a:spcPts val="923"/>
              </a:lnSpc>
              <a:buNone/>
            </a:pPr>
            <a:r>
              <a:rPr lang="en-US" sz="668"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Wiley Rein on the Section 301 tariffs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wiley.law</a:t>
            </a:r>
            <a:endParaRPr lang="en-US" sz="668" dirty="0"/>
          </a:p>
          <a:p>
            <a:pPr marL="0" indent="0" algn="l">
              <a:lnSpc>
                <a:spcPts val="923"/>
              </a:lnSpc>
              <a:buNone/>
            </a:pPr>
            <a:r>
              <a:rPr lang="en-US" sz="668"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Section 232 furniture duty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info.expeditors.com</a:t>
            </a:r>
            <a:endParaRPr lang="en-US" sz="668" dirty="0"/>
          </a:p>
          <a:p>
            <a:pPr marL="0" indent="0" algn="l">
              <a:lnSpc>
                <a:spcPts val="923"/>
              </a:lnSpc>
              <a:buNone/>
            </a:pPr>
            <a:r>
              <a:rPr lang="en-US" sz="668" u="sng" kern="0" spc="15" dirty="0">
                <a:solidFill>
                  <a:srgbClr val="8C6239"/>
                </a:solidFill>
                <a:latin typeface="Quicksand" pitchFamily="34" charset="0"/>
                <a:hlinkClick r:id="rId22">
                  <a:extLst>
                    <a:ext uri="{A12FA001-AC4F-418D-AE19-62706E023703}">
                      <ahyp:hlinkClr xmlns:ahyp="http://schemas.microsoft.com/office/drawing/2018/hyperlinkcolor" val="tx"/>
                    </a:ext>
                  </a:extLst>
                </a:hlinkClick>
              </a:rPr>
              <a:t>De minimis suspension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strtrade.com</a:t>
            </a:r>
            <a:endParaRPr lang="en-US" sz="668" dirty="0"/>
          </a:p>
          <a:p>
            <a:pPr marL="0" indent="0" algn="l">
              <a:lnSpc>
                <a:spcPts val="923"/>
              </a:lnSpc>
              <a:buNone/>
            </a:pPr>
            <a:r>
              <a:rPr lang="en-US" sz="668" u="sng" kern="0" spc="15" dirty="0">
                <a:solidFill>
                  <a:srgbClr val="8C6239"/>
                </a:solidFill>
                <a:latin typeface="Quicksand" pitchFamily="34" charset="0"/>
                <a:hlinkClick r:id="rId23">
                  <a:extLst>
                    <a:ext uri="{A12FA001-AC4F-418D-AE19-62706E023703}">
                      <ahyp:hlinkClr xmlns:ahyp="http://schemas.microsoft.com/office/drawing/2018/hyperlinkcolor" val="tx"/>
                    </a:ext>
                  </a:extLst>
                </a:hlinkClick>
              </a:rPr>
              <a:t>FRED: Diesel price (GASDESM)</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24">
                  <a:extLst>
                    <a:ext uri="{A12FA001-AC4F-418D-AE19-62706E023703}">
                      <ahyp:hlinkClr xmlns:ahyp="http://schemas.microsoft.com/office/drawing/2018/hyperlinkcolor" val="tx"/>
                    </a:ext>
                  </a:extLst>
                </a:hlinkClick>
              </a:rPr>
              <a:t>EIA Short-Term Energy Outlook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eia.gov</a:t>
            </a:r>
            <a:endParaRPr lang="en-US" sz="668" dirty="0"/>
          </a:p>
          <a:p>
            <a:pPr marL="0" indent="0" algn="l">
              <a:lnSpc>
                <a:spcPts val="923"/>
              </a:lnSpc>
              <a:buNone/>
            </a:pPr>
            <a:r>
              <a:rPr lang="en-US" sz="668" u="sng" kern="0" spc="15" dirty="0">
                <a:solidFill>
                  <a:srgbClr val="8C6239"/>
                </a:solidFill>
                <a:latin typeface="Quicksand" pitchFamily="34" charset="0"/>
                <a:hlinkClick r:id="rId25">
                  <a:extLst>
                    <a:ext uri="{A12FA001-AC4F-418D-AE19-62706E023703}">
                      <ahyp:hlinkClr xmlns:ahyp="http://schemas.microsoft.com/office/drawing/2018/hyperlinkcolor" val="tx"/>
                    </a:ext>
                  </a:extLst>
                </a:hlinkClick>
              </a:rPr>
              <a:t>Federal Reserve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federalreserve.gov</a:t>
            </a:r>
            <a:endParaRPr lang="en-US" sz="668" dirty="0"/>
          </a:p>
          <a:p>
            <a:pPr marL="0" indent="0" algn="l">
              <a:lnSpc>
                <a:spcPts val="923"/>
              </a:lnSpc>
              <a:buNone/>
            </a:pPr>
            <a:r>
              <a:rPr lang="en-US" sz="668" u="sng" kern="0" spc="15" dirty="0">
                <a:solidFill>
                  <a:srgbClr val="8C6239"/>
                </a:solidFill>
                <a:latin typeface="Quicksand" pitchFamily="34" charset="0"/>
                <a:hlinkClick r:id="rId26">
                  <a:extLst>
                    <a:ext uri="{A12FA001-AC4F-418D-AE19-62706E023703}">
                      <ahyp:hlinkClr xmlns:ahyp="http://schemas.microsoft.com/office/drawing/2018/hyperlinkcolor" val="tx"/>
                    </a:ext>
                  </a:extLst>
                </a:hlinkClick>
              </a:rPr>
              <a:t>Federal Reserve projections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federalreserve.gov</a:t>
            </a:r>
            <a:endParaRPr lang="en-US" sz="668" dirty="0"/>
          </a:p>
          <a:p>
            <a:pPr marL="0" indent="0" algn="l">
              <a:lnSpc>
                <a:spcPts val="923"/>
              </a:lnSpc>
              <a:buNone/>
            </a:pPr>
            <a:r>
              <a:rPr lang="en-US" sz="668" u="sng" kern="0" spc="15" dirty="0">
                <a:solidFill>
                  <a:srgbClr val="8C6239"/>
                </a:solidFill>
                <a:latin typeface="Quicksand" pitchFamily="34" charset="0"/>
                <a:hlinkClick r:id="rId27">
                  <a:extLst>
                    <a:ext uri="{A12FA001-AC4F-418D-AE19-62706E023703}">
                      <ahyp:hlinkClr xmlns:ahyp="http://schemas.microsoft.com/office/drawing/2018/hyperlinkcolor" val="tx"/>
                    </a:ext>
                  </a:extLst>
                </a:hlinkClick>
              </a:rPr>
              <a:t>Fasken on the SRS Acquiom study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fasken.com</a:t>
            </a:r>
            <a:endParaRPr lang="en-US" sz="668" dirty="0"/>
          </a:p>
          <a:p>
            <a:pPr marL="0" indent="0" algn="l">
              <a:lnSpc>
                <a:spcPts val="923"/>
              </a:lnSpc>
              <a:buNone/>
            </a:pPr>
            <a:r>
              <a:rPr lang="en-US" sz="668" u="sng" kern="0" spc="15" dirty="0">
                <a:solidFill>
                  <a:srgbClr val="8C6239"/>
                </a:solidFill>
                <a:latin typeface="Quicksand" pitchFamily="34" charset="0"/>
                <a:hlinkClick r:id="rId28">
                  <a:extLst>
                    <a:ext uri="{A12FA001-AC4F-418D-AE19-62706E023703}">
                      <ahyp:hlinkClr xmlns:ahyp="http://schemas.microsoft.com/office/drawing/2018/hyperlinkcolor" val="tx"/>
                    </a:ext>
                  </a:extLst>
                </a:hlinkClick>
              </a:rPr>
              <a:t>YETI on tariff refunds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sgbonline.com</a:t>
            </a:r>
            <a:endParaRPr lang="en-US" sz="668" dirty="0"/>
          </a:p>
          <a:p>
            <a:pPr marL="0" indent="0" algn="l">
              <a:lnSpc>
                <a:spcPts val="923"/>
              </a:lnSpc>
              <a:buNone/>
            </a:pPr>
            <a:r>
              <a:rPr lang="en-US" sz="668" u="sng" kern="0" spc="15" dirty="0">
                <a:solidFill>
                  <a:srgbClr val="8C6239"/>
                </a:solidFill>
                <a:latin typeface="Quicksand" pitchFamily="34" charset="0"/>
                <a:hlinkClick r:id="rId29">
                  <a:extLst>
                    <a:ext uri="{A12FA001-AC4F-418D-AE19-62706E023703}">
                      <ahyp:hlinkClr xmlns:ahyp="http://schemas.microsoft.com/office/drawing/2018/hyperlinkcolor" val="tx"/>
                    </a:ext>
                  </a:extLst>
                </a:hlinkClick>
              </a:rPr>
              <a:t>NAFEM member survey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nafem.org</a:t>
            </a:r>
            <a:endParaRPr lang="en-US" sz="668" dirty="0"/>
          </a:p>
          <a:p>
            <a:pPr marL="0" indent="0" algn="l">
              <a:lnSpc>
                <a:spcPts val="923"/>
              </a:lnSpc>
              <a:buNone/>
            </a:pPr>
            <a:r>
              <a:rPr lang="en-US" sz="668" u="sng" kern="0" spc="15" dirty="0">
                <a:solidFill>
                  <a:srgbClr val="8C6239"/>
                </a:solidFill>
                <a:latin typeface="Quicksand" pitchFamily="34" charset="0"/>
                <a:hlinkClick r:id="rId30">
                  <a:extLst>
                    <a:ext uri="{A12FA001-AC4F-418D-AE19-62706E023703}">
                      <ahyp:hlinkClr xmlns:ahyp="http://schemas.microsoft.com/office/drawing/2018/hyperlinkcolor" val="tx"/>
                    </a:ext>
                  </a:extLst>
                </a:hlinkClick>
              </a:rPr>
              <a:t>General Mills first-quarter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investors.generalmills.com</a:t>
            </a:r>
            <a:endParaRPr lang="en-US" sz="668" dirty="0"/>
          </a:p>
          <a:p>
            <a:pPr marL="0" indent="0" algn="l">
              <a:lnSpc>
                <a:spcPts val="923"/>
              </a:lnSpc>
              <a:buNone/>
            </a:pPr>
            <a:r>
              <a:rPr lang="en-US" sz="668" u="sng" kern="0" spc="15" dirty="0">
                <a:solidFill>
                  <a:srgbClr val="8C6239"/>
                </a:solidFill>
                <a:latin typeface="Quicksand" pitchFamily="34" charset="0"/>
                <a:hlinkClick r:id="rId31">
                  <a:extLst>
                    <a:ext uri="{A12FA001-AC4F-418D-AE19-62706E023703}">
                      <ahyp:hlinkClr xmlns:ahyp="http://schemas.microsoft.com/office/drawing/2018/hyperlinkcolor" val="tx"/>
                    </a:ext>
                  </a:extLst>
                </a:hlinkClick>
              </a:rPr>
              <a:t>Conagra first-quarter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32">
                  <a:extLst>
                    <a:ext uri="{A12FA001-AC4F-418D-AE19-62706E023703}">
                      <ahyp:hlinkClr xmlns:ahyp="http://schemas.microsoft.com/office/drawing/2018/hyperlinkcolor" val="tx"/>
                    </a:ext>
                  </a:extLst>
                </a:hlinkClick>
              </a:rPr>
              <a:t>Procter &amp; Gamble and Thorne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nutraingredients.com</a:t>
            </a:r>
            <a:endParaRPr lang="en-US" sz="668" dirty="0"/>
          </a:p>
          <a:p>
            <a:pPr marL="0" indent="0" algn="l">
              <a:lnSpc>
                <a:spcPts val="923"/>
              </a:lnSpc>
              <a:buNone/>
            </a:pPr>
            <a:r>
              <a:rPr lang="en-US" sz="668" u="sng" kern="0" spc="15" dirty="0">
                <a:solidFill>
                  <a:srgbClr val="8C6239"/>
                </a:solidFill>
                <a:latin typeface="Quicksand" pitchFamily="34" charset="0"/>
                <a:hlinkClick r:id="rId33">
                  <a:extLst>
                    <a:ext uri="{A12FA001-AC4F-418D-AE19-62706E023703}">
                      <ahyp:hlinkClr xmlns:ahyp="http://schemas.microsoft.com/office/drawing/2018/hyperlinkcolor" val="tx"/>
                    </a:ext>
                  </a:extLst>
                </a:hlinkClick>
              </a:rPr>
              <a:t>US Foods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34">
                  <a:extLst>
                    <a:ext uri="{A12FA001-AC4F-418D-AE19-62706E023703}">
                      <ahyp:hlinkClr xmlns:ahyp="http://schemas.microsoft.com/office/drawing/2018/hyperlinkcolor" val="tx"/>
                    </a:ext>
                  </a:extLst>
                </a:hlinkClick>
              </a:rPr>
              <a:t>Performance Food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35">
                  <a:extLst>
                    <a:ext uri="{A12FA001-AC4F-418D-AE19-62706E023703}">
                      <ahyp:hlinkClr xmlns:ahyp="http://schemas.microsoft.com/office/drawing/2018/hyperlinkcolor" val="tx"/>
                    </a:ext>
                  </a:extLst>
                </a:hlinkClick>
              </a:rPr>
              <a:t>Circana on beauty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circana.com</a:t>
            </a:r>
            <a:endParaRPr lang="en-US" sz="668" dirty="0"/>
          </a:p>
          <a:p>
            <a:pPr marL="0" indent="0" algn="l">
              <a:lnSpc>
                <a:spcPts val="923"/>
              </a:lnSpc>
              <a:buNone/>
            </a:pPr>
            <a:r>
              <a:rPr lang="en-US" sz="668" u="sng" kern="0" spc="15" dirty="0">
                <a:solidFill>
                  <a:srgbClr val="8C6239"/>
                </a:solidFill>
                <a:latin typeface="Quicksand" pitchFamily="34" charset="0"/>
                <a:hlinkClick r:id="rId36">
                  <a:extLst>
                    <a:ext uri="{A12FA001-AC4F-418D-AE19-62706E023703}">
                      <ahyp:hlinkClr xmlns:ahyp="http://schemas.microsoft.com/office/drawing/2018/hyperlinkcolor" val="tx"/>
                    </a:ext>
                  </a:extLst>
                </a:hlinkClick>
              </a:rPr>
              <a:t>American Pet Products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americanpetproducts.org</a:t>
            </a:r>
            <a:endParaRPr lang="en-US" sz="668" dirty="0"/>
          </a:p>
          <a:p>
            <a:pPr marL="0" indent="0" algn="l">
              <a:lnSpc>
                <a:spcPts val="923"/>
              </a:lnSpc>
              <a:buNone/>
            </a:pPr>
            <a:r>
              <a:rPr lang="en-US" sz="668" u="sng" kern="0" spc="15" dirty="0">
                <a:solidFill>
                  <a:srgbClr val="8C6239"/>
                </a:solidFill>
                <a:latin typeface="Quicksand" pitchFamily="34" charset="0"/>
                <a:hlinkClick r:id="rId37">
                  <a:extLst>
                    <a:ext uri="{A12FA001-AC4F-418D-AE19-62706E023703}">
                      <ahyp:hlinkClr xmlns:ahyp="http://schemas.microsoft.com/office/drawing/2018/hyperlinkcolor" val="tx"/>
                    </a:ext>
                  </a:extLst>
                </a:hlinkClick>
              </a:rPr>
              <a:t>Circana all-retail read</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chainstoreage.com</a:t>
            </a:r>
            <a:endParaRPr lang="en-US" sz="668" dirty="0"/>
          </a:p>
          <a:p>
            <a:pPr marL="0" indent="0" algn="l">
              <a:lnSpc>
                <a:spcPts val="923"/>
              </a:lnSpc>
              <a:buNone/>
            </a:pPr>
            <a:r>
              <a:rPr lang="en-US" sz="668" u="sng" kern="0" spc="15" dirty="0">
                <a:solidFill>
                  <a:srgbClr val="8C6239"/>
                </a:solidFill>
                <a:latin typeface="Quicksand" pitchFamily="34" charset="0"/>
                <a:hlinkClick r:id="rId38">
                  <a:extLst>
                    <a:ext uri="{A12FA001-AC4F-418D-AE19-62706E023703}">
                      <ahyp:hlinkClr xmlns:ahyp="http://schemas.microsoft.com/office/drawing/2018/hyperlinkcolor" val="tx"/>
                    </a:ext>
                  </a:extLst>
                </a:hlinkClick>
              </a:rPr>
              <a:t>CalRecycle, SB 54</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calrecycle.ca.gov</a:t>
            </a:r>
            <a:endParaRPr lang="en-US" sz="668" dirty="0"/>
          </a:p>
          <a:p>
            <a:pPr marL="0" indent="0" algn="l">
              <a:lnSpc>
                <a:spcPts val="923"/>
              </a:lnSpc>
              <a:buNone/>
            </a:pPr>
            <a:r>
              <a:rPr lang="en-US" sz="668" u="sng" kern="0" spc="15" dirty="0">
                <a:solidFill>
                  <a:srgbClr val="8C6239"/>
                </a:solidFill>
                <a:latin typeface="Quicksand" pitchFamily="34" charset="0"/>
                <a:hlinkClick r:id="rId39">
                  <a:extLst>
                    <a:ext uri="{A12FA001-AC4F-418D-AE19-62706E023703}">
                      <ahyp:hlinkClr xmlns:ahyp="http://schemas.microsoft.com/office/drawing/2018/hyperlinkcolor" val="tx"/>
                    </a:ext>
                  </a:extLst>
                </a:hlinkClick>
              </a:rPr>
              <a:t>MAFSI Business Barometer, Q2 2026</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fesmag.com</a:t>
            </a:r>
            <a:endParaRPr lang="en-US" sz="668" dirty="0"/>
          </a:p>
          <a:p>
            <a:pPr marL="0" indent="0" algn="l">
              <a:lnSpc>
                <a:spcPts val="923"/>
              </a:lnSpc>
              <a:buNone/>
            </a:pPr>
            <a:r>
              <a:rPr lang="en-US" sz="668" u="sng" kern="0" spc="15" dirty="0">
                <a:solidFill>
                  <a:srgbClr val="8C6239"/>
                </a:solidFill>
                <a:latin typeface="Quicksand" pitchFamily="34" charset="0"/>
                <a:hlinkClick r:id="rId40">
                  <a:extLst>
                    <a:ext uri="{A12FA001-AC4F-418D-AE19-62706E023703}">
                      <ahyp:hlinkClr xmlns:ahyp="http://schemas.microsoft.com/office/drawing/2018/hyperlinkcolor" val="tx"/>
                    </a:ext>
                  </a:extLst>
                </a:hlinkClick>
              </a:rPr>
              <a:t>Meritage Hospitality Group filing</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nrn.com</a:t>
            </a:r>
            <a:endParaRPr lang="en-US" sz="668" dirty="0"/>
          </a:p>
          <a:p>
            <a:pPr marL="0" indent="0" algn="l">
              <a:lnSpc>
                <a:spcPts val="923"/>
              </a:lnSpc>
              <a:buNone/>
            </a:pPr>
            <a:r>
              <a:rPr lang="en-US" sz="668" u="sng" kern="0" spc="15" dirty="0">
                <a:solidFill>
                  <a:srgbClr val="8C6239"/>
                </a:solidFill>
                <a:latin typeface="Quicksand" pitchFamily="34" charset="0"/>
                <a:hlinkClick r:id="rId41">
                  <a:extLst>
                    <a:ext uri="{A12FA001-AC4F-418D-AE19-62706E023703}">
                      <ahyp:hlinkClr xmlns:ahyp="http://schemas.microsoft.com/office/drawing/2018/hyperlinkcolor" val="tx"/>
                    </a:ext>
                  </a:extLst>
                </a:hlinkClick>
              </a:rPr>
              <a:t>Parts Town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fermag.com</a:t>
            </a:r>
            <a:endParaRPr lang="en-US" sz="668" dirty="0"/>
          </a:p>
          <a:p>
            <a:pPr marL="0" indent="0" algn="l">
              <a:lnSpc>
                <a:spcPts val="923"/>
              </a:lnSpc>
              <a:buNone/>
            </a:pPr>
            <a:r>
              <a:rPr lang="en-US" sz="668" u="sng" kern="0" spc="15" dirty="0">
                <a:solidFill>
                  <a:srgbClr val="8C6239"/>
                </a:solidFill>
                <a:latin typeface="Quicksand" pitchFamily="34" charset="0"/>
                <a:hlinkClick r:id="rId42">
                  <a:extLst>
                    <a:ext uri="{A12FA001-AC4F-418D-AE19-62706E023703}">
                      <ahyp:hlinkClr xmlns:ahyp="http://schemas.microsoft.com/office/drawing/2018/hyperlinkcolor" val="tx"/>
                    </a:ext>
                  </a:extLst>
                </a:hlinkClick>
              </a:rPr>
              <a:t>Easy Ice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fermag.com</a:t>
            </a:r>
            <a:endParaRPr lang="en-US" sz="668" dirty="0"/>
          </a:p>
          <a:p>
            <a:pPr marL="0" indent="0" algn="l">
              <a:lnSpc>
                <a:spcPts val="923"/>
              </a:lnSpc>
              <a:buNone/>
            </a:pPr>
            <a:r>
              <a:rPr lang="en-US" sz="668" u="sng" kern="0" spc="15" dirty="0">
                <a:solidFill>
                  <a:srgbClr val="8C6239"/>
                </a:solidFill>
                <a:latin typeface="Quicksand" pitchFamily="34" charset="0"/>
                <a:hlinkClick r:id="rId43">
                  <a:extLst>
                    <a:ext uri="{A12FA001-AC4F-418D-AE19-62706E023703}">
                      <ahyp:hlinkClr xmlns:ahyp="http://schemas.microsoft.com/office/drawing/2018/hyperlinkcolor" val="tx"/>
                    </a:ext>
                  </a:extLst>
                </a:hlinkClick>
              </a:rPr>
              <a:t>Mister Car Wash and Leonard Green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placera.se</a:t>
            </a:r>
            <a:endParaRPr lang="en-US" sz="668" dirty="0"/>
          </a:p>
          <a:p>
            <a:pPr marL="0" indent="0" algn="l">
              <a:lnSpc>
                <a:spcPts val="923"/>
              </a:lnSpc>
              <a:buNone/>
            </a:pPr>
            <a:r>
              <a:rPr lang="en-US" sz="668" u="sng" kern="0" spc="15" dirty="0">
                <a:solidFill>
                  <a:srgbClr val="8C6239"/>
                </a:solidFill>
                <a:latin typeface="Quicksand" pitchFamily="34" charset="0"/>
                <a:hlinkClick r:id="rId44">
                  <a:extLst>
                    <a:ext uri="{A12FA001-AC4F-418D-AE19-62706E023703}">
                      <ahyp:hlinkClr xmlns:ahyp="http://schemas.microsoft.com/office/drawing/2018/hyperlinkcolor" val="tx"/>
                    </a:ext>
                  </a:extLst>
                </a:hlinkClick>
              </a:rPr>
              <a:t>Blackstone and Champions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45">
                  <a:extLst>
                    <a:ext uri="{A12FA001-AC4F-418D-AE19-62706E023703}">
                      <ahyp:hlinkClr xmlns:ahyp="http://schemas.microsoft.com/office/drawing/2018/hyperlinkcolor" val="tx"/>
                    </a:ext>
                  </a:extLst>
                </a:hlinkClick>
              </a:rPr>
              <a:t>Classic Collision and Kendrick Paint &amp; Body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fenderbender.com</a:t>
            </a:r>
            <a:endParaRPr lang="en-US" sz="668" dirty="0"/>
          </a:p>
          <a:p>
            <a:pPr marL="0" indent="0" algn="l">
              <a:lnSpc>
                <a:spcPts val="923"/>
              </a:lnSpc>
              <a:buNone/>
            </a:pPr>
            <a:r>
              <a:rPr lang="en-US" sz="668" u="sng" kern="0" spc="15" dirty="0">
                <a:solidFill>
                  <a:srgbClr val="8C6239"/>
                </a:solidFill>
                <a:latin typeface="Quicksand" pitchFamily="34" charset="0"/>
                <a:hlinkClick r:id="rId46">
                  <a:extLst>
                    <a:ext uri="{A12FA001-AC4F-418D-AE19-62706E023703}">
                      <ahyp:hlinkClr xmlns:ahyp="http://schemas.microsoft.com/office/drawing/2018/hyperlinkcolor" val="tx"/>
                    </a:ext>
                  </a:extLst>
                </a:hlinkClick>
              </a:rPr>
              <a:t>Harvard Joint Center for Housing Studies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jchs.harvard.edu</a:t>
            </a:r>
            <a:endParaRPr lang="en-US" sz="668" dirty="0"/>
          </a:p>
          <a:p>
            <a:pPr marL="0" indent="0" algn="l">
              <a:lnSpc>
                <a:spcPts val="923"/>
              </a:lnSpc>
              <a:buNone/>
            </a:pPr>
            <a:r>
              <a:rPr lang="en-US" sz="668" u="sng" kern="0" spc="15" dirty="0">
                <a:solidFill>
                  <a:srgbClr val="8C6239"/>
                </a:solidFill>
                <a:latin typeface="Quicksand" pitchFamily="34" charset="0"/>
                <a:hlinkClick r:id="rId47">
                  <a:extLst>
                    <a:ext uri="{A12FA001-AC4F-418D-AE19-62706E023703}">
                      <ahyp:hlinkClr xmlns:ahyp="http://schemas.microsoft.com/office/drawing/2018/hyperlinkcolor" val="tx"/>
                    </a:ext>
                  </a:extLst>
                </a:hlinkClick>
              </a:rPr>
              <a:t>National Restaurant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restaurant.org</a:t>
            </a:r>
            <a:endParaRPr lang="en-US" sz="668" dirty="0"/>
          </a:p>
          <a:p>
            <a:pPr marL="0" indent="0" algn="l">
              <a:lnSpc>
                <a:spcPts val="923"/>
              </a:lnSpc>
              <a:buNone/>
            </a:pPr>
            <a:r>
              <a:rPr lang="en-US" sz="668" u="sng" kern="0" spc="15" dirty="0">
                <a:solidFill>
                  <a:srgbClr val="8C6239"/>
                </a:solidFill>
                <a:latin typeface="Quicksand" pitchFamily="34" charset="0"/>
                <a:hlinkClick r:id="rId48">
                  <a:extLst>
                    <a:ext uri="{A12FA001-AC4F-418D-AE19-62706E023703}">
                      <ahyp:hlinkClr xmlns:ahyp="http://schemas.microsoft.com/office/drawing/2018/hyperlinkcolor" val="tx"/>
                    </a:ext>
                  </a:extLst>
                </a:hlinkClick>
              </a:rPr>
              <a:t>USDA Food Price Outlook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ers.usda.gov</a:t>
            </a:r>
            <a:endParaRPr lang="en-US" sz="668" dirty="0"/>
          </a:p>
          <a:p>
            <a:pPr marL="0" indent="0" algn="l">
              <a:lnSpc>
                <a:spcPts val="923"/>
              </a:lnSpc>
              <a:buNone/>
            </a:pPr>
            <a:r>
              <a:rPr lang="en-US" sz="668" u="sng" kern="0" spc="15" dirty="0">
                <a:solidFill>
                  <a:srgbClr val="8C6239"/>
                </a:solidFill>
                <a:latin typeface="Quicksand" pitchFamily="34" charset="0"/>
                <a:hlinkClick r:id="rId49">
                  <a:extLst>
                    <a:ext uri="{A12FA001-AC4F-418D-AE19-62706E023703}">
                      <ahyp:hlinkClr xmlns:ahyp="http://schemas.microsoft.com/office/drawing/2018/hyperlinkcolor" val="tx"/>
                    </a:ext>
                  </a:extLst>
                </a:hlinkClick>
              </a:rPr>
              <a:t>National Restaurant Association, Restaurant Performance Index</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restaurant.org</a:t>
            </a:r>
            <a:endParaRPr lang="en-US" sz="668" dirty="0"/>
          </a:p>
          <a:p>
            <a:pPr marL="0" indent="0" algn="l">
              <a:lnSpc>
                <a:spcPts val="923"/>
              </a:lnSpc>
              <a:buNone/>
            </a:pPr>
            <a:r>
              <a:rPr lang="en-US" sz="668" u="sng" kern="0" spc="15" dirty="0">
                <a:solidFill>
                  <a:srgbClr val="8C6239"/>
                </a:solidFill>
                <a:latin typeface="Quicksand" pitchFamily="34" charset="0"/>
                <a:hlinkClick r:id="rId50">
                  <a:extLst>
                    <a:ext uri="{A12FA001-AC4F-418D-AE19-62706E023703}">
                      <ahyp:hlinkClr xmlns:ahyp="http://schemas.microsoft.com/office/drawing/2018/hyperlinkcolor" val="tx"/>
                    </a:ext>
                  </a:extLst>
                </a:hlinkClick>
              </a:rPr>
              <a:t>Deloitte holiday retail forecast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deloitte.com</a:t>
            </a:r>
            <a:endParaRPr lang="en-US" sz="668" dirty="0"/>
          </a:p>
          <a:p>
            <a:pPr marL="0" indent="0" algn="l">
              <a:lnSpc>
                <a:spcPts val="923"/>
              </a:lnSpc>
              <a:buNone/>
            </a:pPr>
            <a:r>
              <a:rPr lang="en-US" sz="668" u="sng" kern="0" spc="15" dirty="0">
                <a:solidFill>
                  <a:srgbClr val="8C6239"/>
                </a:solidFill>
                <a:latin typeface="Quicksand" pitchFamily="34" charset="0"/>
                <a:hlinkClick r:id="rId51">
                  <a:extLst>
                    <a:ext uri="{A12FA001-AC4F-418D-AE19-62706E023703}">
                      <ahyp:hlinkClr xmlns:ahyp="http://schemas.microsoft.com/office/drawing/2018/hyperlinkcolor" val="tx"/>
                    </a:ext>
                  </a:extLst>
                </a:hlinkClick>
              </a:rPr>
              <a:t>Hormel and Brakebush Brothers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52">
                  <a:extLst>
                    <a:ext uri="{A12FA001-AC4F-418D-AE19-62706E023703}">
                      <ahyp:hlinkClr xmlns:ahyp="http://schemas.microsoft.com/office/drawing/2018/hyperlinkcolor" val="tx"/>
                    </a:ext>
                  </a:extLst>
                </a:hlinkClick>
              </a:rPr>
              <a:t>HF Foods and Searay Foods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53">
                  <a:extLst>
                    <a:ext uri="{A12FA001-AC4F-418D-AE19-62706E023703}">
                      <ahyp:hlinkClr xmlns:ahyp="http://schemas.microsoft.com/office/drawing/2018/hyperlinkcolor" val="tx"/>
                    </a:ext>
                  </a:extLst>
                </a:hlinkClick>
              </a:rPr>
              <a:t>Vita Coco and Copra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54">
                  <a:extLst>
                    <a:ext uri="{A12FA001-AC4F-418D-AE19-62706E023703}">
                      <ahyp:hlinkClr xmlns:ahyp="http://schemas.microsoft.com/office/drawing/2018/hyperlinkcolor" val="tx"/>
                    </a:ext>
                  </a:extLst>
                </a:hlinkClick>
              </a:rPr>
              <a:t>Clorox and GOJO Industries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wysu.org</a:t>
            </a:r>
            <a:endParaRPr lang="en-US" sz="668" dirty="0"/>
          </a:p>
          <a:p>
            <a:pPr marL="0" indent="0" algn="l">
              <a:lnSpc>
                <a:spcPts val="923"/>
              </a:lnSpc>
              <a:buNone/>
            </a:pPr>
            <a:r>
              <a:rPr lang="en-US" sz="668" u="sng" kern="0" spc="15" dirty="0">
                <a:solidFill>
                  <a:srgbClr val="8C6239"/>
                </a:solidFill>
                <a:latin typeface="Quicksand" pitchFamily="34" charset="0"/>
                <a:hlinkClick r:id="rId55">
                  <a:extLst>
                    <a:ext uri="{A12FA001-AC4F-418D-AE19-62706E023703}">
                      <ahyp:hlinkClr xmlns:ahyp="http://schemas.microsoft.com/office/drawing/2018/hyperlinkcolor" val="tx"/>
                    </a:ext>
                  </a:extLst>
                </a:hlinkClick>
              </a:rPr>
              <a:t>Prestige Consumer Healthcare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ir.prestigebrands.com</a:t>
            </a:r>
            <a:endParaRPr lang="en-US" sz="668" dirty="0"/>
          </a:p>
          <a:p>
            <a:pPr marL="0" indent="0" algn="l">
              <a:lnSpc>
                <a:spcPts val="923"/>
              </a:lnSpc>
              <a:buNone/>
            </a:pPr>
            <a:r>
              <a:rPr lang="en-US" sz="668" u="sng" kern="0" spc="15" dirty="0">
                <a:solidFill>
                  <a:srgbClr val="8C6239"/>
                </a:solidFill>
                <a:latin typeface="Quicksand" pitchFamily="34" charset="0"/>
                <a:hlinkClick r:id="rId56">
                  <a:extLst>
                    <a:ext uri="{A12FA001-AC4F-418D-AE19-62706E023703}">
                      <ahyp:hlinkClr xmlns:ahyp="http://schemas.microsoft.com/office/drawing/2018/hyperlinkcolor" val="tx"/>
                    </a:ext>
                  </a:extLst>
                </a:hlinkClick>
              </a:rPr>
              <a:t>Acme United and My Medic</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57">
                  <a:extLst>
                    <a:ext uri="{A12FA001-AC4F-418D-AE19-62706E023703}">
                      <ahyp:hlinkClr xmlns:ahyp="http://schemas.microsoft.com/office/drawing/2018/hyperlinkcolor" val="tx"/>
                    </a:ext>
                  </a:extLst>
                </a:hlinkClick>
              </a:rPr>
              <a:t>Request for FTC review of Sysco and Jetro</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agri-pulse.com</a:t>
            </a:r>
            <a:endParaRPr lang="en-US" sz="668" dirty="0"/>
          </a:p>
          <a:p>
            <a:pPr marL="0" indent="0" algn="l">
              <a:lnSpc>
                <a:spcPts val="923"/>
              </a:lnSpc>
              <a:buNone/>
            </a:pPr>
            <a:r>
              <a:rPr lang="en-US" sz="668" u="sng" kern="0" spc="15" dirty="0">
                <a:solidFill>
                  <a:srgbClr val="8C6239"/>
                </a:solidFill>
                <a:latin typeface="Quicksand" pitchFamily="34" charset="0"/>
                <a:hlinkClick r:id="rId58">
                  <a:extLst>
                    <a:ext uri="{A12FA001-AC4F-418D-AE19-62706E023703}">
                      <ahyp:hlinkClr xmlns:ahyp="http://schemas.microsoft.com/office/drawing/2018/hyperlinkcolor" val="tx"/>
                    </a:ext>
                  </a:extLst>
                </a:hlinkClick>
              </a:rPr>
              <a:t>Standex on Federal Industries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ir.standex.com</a:t>
            </a:r>
            <a:endParaRPr lang="en-US" sz="668" dirty="0"/>
          </a:p>
          <a:p>
            <a:pPr marL="0" indent="0" algn="l">
              <a:lnSpc>
                <a:spcPts val="923"/>
              </a:lnSpc>
              <a:buNone/>
            </a:pPr>
            <a:r>
              <a:rPr lang="en-US" sz="668" u="sng" kern="0" spc="15" dirty="0">
                <a:solidFill>
                  <a:srgbClr val="8C6239"/>
                </a:solidFill>
                <a:latin typeface="Quicksand" pitchFamily="34" charset="0"/>
                <a:hlinkClick r:id="rId59">
                  <a:extLst>
                    <a:ext uri="{A12FA001-AC4F-418D-AE19-62706E023703}">
                      <ahyp:hlinkClr xmlns:ahyp="http://schemas.microsoft.com/office/drawing/2018/hyperlinkcolor" val="tx"/>
                    </a:ext>
                  </a:extLst>
                </a:hlinkClick>
              </a:rPr>
              <a:t>Singer Equipment and Bresco</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fesmag.com</a:t>
            </a:r>
            <a:endParaRPr lang="en-US" sz="668" dirty="0"/>
          </a:p>
          <a:p>
            <a:pPr marL="0" indent="0" algn="l">
              <a:lnSpc>
                <a:spcPts val="923"/>
              </a:lnSpc>
              <a:buNone/>
            </a:pPr>
            <a:r>
              <a:rPr lang="en-US" sz="668" u="sng" kern="0" spc="15" dirty="0">
                <a:solidFill>
                  <a:srgbClr val="8C6239"/>
                </a:solidFill>
                <a:latin typeface="Quicksand" pitchFamily="34" charset="0"/>
                <a:hlinkClick r:id="rId60">
                  <a:extLst>
                    <a:ext uri="{A12FA001-AC4F-418D-AE19-62706E023703}">
                      <ahyp:hlinkClr xmlns:ahyp="http://schemas.microsoft.com/office/drawing/2018/hyperlinkcolor" val="tx"/>
                    </a:ext>
                  </a:extLst>
                </a:hlinkClick>
              </a:rPr>
              <a:t>Mister Car Wash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app.edgar.tools</a:t>
            </a:r>
            <a:endParaRPr lang="en-US" sz="668" dirty="0"/>
          </a:p>
          <a:p>
            <a:pPr marL="0" indent="0" algn="l">
              <a:lnSpc>
                <a:spcPts val="923"/>
              </a:lnSpc>
              <a:buNone/>
            </a:pPr>
            <a:r>
              <a:rPr lang="en-US" sz="668" u="sng" kern="0" spc="15" dirty="0">
                <a:solidFill>
                  <a:srgbClr val="8C6239"/>
                </a:solidFill>
                <a:latin typeface="Quicksand" pitchFamily="34" charset="0"/>
                <a:hlinkClick r:id="rId61">
                  <a:extLst>
                    <a:ext uri="{A12FA001-AC4F-418D-AE19-62706E023703}">
                      <ahyp:hlinkClr xmlns:ahyp="http://schemas.microsoft.com/office/drawing/2018/hyperlinkcolor" val="tx"/>
                    </a:ext>
                  </a:extLst>
                </a:hlinkClick>
              </a:rPr>
              <a:t>PitchBook News on Guild Garage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62">
                  <a:extLst>
                    <a:ext uri="{A12FA001-AC4F-418D-AE19-62706E023703}">
                      <ahyp:hlinkClr xmlns:ahyp="http://schemas.microsoft.com/office/drawing/2018/hyperlinkcolor" val="tx"/>
                    </a:ext>
                  </a:extLst>
                </a:hlinkClick>
              </a:rPr>
              <a:t>Oak Hill and Guild Garage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privateequitywire.co.uk</a:t>
            </a:r>
            <a:endParaRPr lang="en-US" sz="668" dirty="0"/>
          </a:p>
          <a:p>
            <a:pPr marL="0" indent="0" algn="l">
              <a:lnSpc>
                <a:spcPts val="923"/>
              </a:lnSpc>
              <a:buNone/>
            </a:pPr>
            <a:r>
              <a:rPr lang="en-US" sz="668" u="sng" kern="0" spc="15" dirty="0">
                <a:solidFill>
                  <a:srgbClr val="8C6239"/>
                </a:solidFill>
                <a:latin typeface="Quicksand" pitchFamily="34" charset="0"/>
                <a:hlinkClick r:id="rId63">
                  <a:extLst>
                    <a:ext uri="{A12FA001-AC4F-418D-AE19-62706E023703}">
                      <ahyp:hlinkClr xmlns:ahyp="http://schemas.microsoft.com/office/drawing/2018/hyperlinkcolor" val="tx"/>
                    </a:ext>
                  </a:extLst>
                </a:hlinkClick>
              </a:rPr>
              <a:t>Rollins and Romex Pest Control</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rollins.com</a:t>
            </a:r>
            <a:endParaRPr lang="en-US" sz="668" dirty="0"/>
          </a:p>
          <a:p>
            <a:pPr marL="0" indent="0" algn="l">
              <a:lnSpc>
                <a:spcPts val="923"/>
              </a:lnSpc>
              <a:buNone/>
            </a:pPr>
            <a:r>
              <a:rPr lang="en-US" sz="668" u="sng" kern="0" spc="15" dirty="0">
                <a:solidFill>
                  <a:srgbClr val="8C6239"/>
                </a:solidFill>
                <a:latin typeface="Quicksand" pitchFamily="34" charset="0"/>
                <a:hlinkClick r:id="rId64">
                  <a:extLst>
                    <a:ext uri="{A12FA001-AC4F-418D-AE19-62706E023703}">
                      <ahyp:hlinkClr xmlns:ahyp="http://schemas.microsoft.com/office/drawing/2018/hyperlinkcolor" val="tx"/>
                    </a:ext>
                  </a:extLst>
                </a:hlinkClick>
              </a:rPr>
              <a:t>Rollins quarterly filing</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65">
                  <a:extLst>
                    <a:ext uri="{A12FA001-AC4F-418D-AE19-62706E023703}">
                      <ahyp:hlinkClr xmlns:ahyp="http://schemas.microsoft.com/office/drawing/2018/hyperlinkcolor" val="tx"/>
                    </a:ext>
                  </a:extLst>
                </a:hlinkClick>
              </a:rPr>
              <a:t>Gilco Restoration and Thomasville Restoration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6">
                  <a:extLst>
                    <a:ext uri="{A12FA001-AC4F-418D-AE19-62706E023703}">
                      <ahyp:hlinkClr xmlns:ahyp="http://schemas.microsoft.com/office/drawing/2018/hyperlinkcolor" val="tx"/>
                    </a:ext>
                  </a:extLst>
                </a:hlinkClick>
              </a:rPr>
              <a:t>Edison Martial Arts and Elevate Youth Development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7">
                  <a:extLst>
                    <a:ext uri="{A12FA001-AC4F-418D-AE19-62706E023703}">
                      <ahyp:hlinkClr xmlns:ahyp="http://schemas.microsoft.com/office/drawing/2018/hyperlinkcolor" val="tx"/>
                    </a:ext>
                  </a:extLst>
                </a:hlinkClick>
              </a:rPr>
              <a:t>Project Energy Savers and WRS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8">
                  <a:extLst>
                    <a:ext uri="{A12FA001-AC4F-418D-AE19-62706E023703}">
                      <ahyp:hlinkClr xmlns:ahyp="http://schemas.microsoft.com/office/drawing/2018/hyperlinkcolor" val="tx"/>
                    </a:ext>
                  </a:extLst>
                </a:hlinkClick>
              </a:rPr>
              <a:t>Kittleson Landscape and Lancaster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9">
                  <a:extLst>
                    <a:ext uri="{A12FA001-AC4F-418D-AE19-62706E023703}">
                      <ahyp:hlinkClr xmlns:ahyp="http://schemas.microsoft.com/office/drawing/2018/hyperlinkcolor" val="tx"/>
                    </a:ext>
                  </a:extLst>
                </a:hlinkClick>
              </a:rPr>
              <a:t>Jagimo Corporation and Castleford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0">
                  <a:extLst>
                    <a:ext uri="{A12FA001-AC4F-418D-AE19-62706E023703}">
                      <ahyp:hlinkClr xmlns:ahyp="http://schemas.microsoft.com/office/drawing/2018/hyperlinkcolor" val="tx"/>
                    </a:ext>
                  </a:extLst>
                </a:hlinkClick>
              </a:rPr>
              <a:t>Telmark Sales Solutions and Market Performance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1">
                  <a:extLst>
                    <a:ext uri="{A12FA001-AC4F-418D-AE19-62706E023703}">
                      <ahyp:hlinkClr xmlns:ahyp="http://schemas.microsoft.com/office/drawing/2018/hyperlinkcolor" val="tx"/>
                    </a:ext>
                  </a:extLst>
                </a:hlinkClick>
              </a:rPr>
              <a:t>Stepfar Investments and Classic Collision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2">
                  <a:extLst>
                    <a:ext uri="{A12FA001-AC4F-418D-AE19-62706E023703}">
                      <ahyp:hlinkClr xmlns:ahyp="http://schemas.microsoft.com/office/drawing/2018/hyperlinkcolor" val="tx"/>
                    </a:ext>
                  </a:extLst>
                </a:hlinkClick>
              </a:rPr>
              <a:t>M&amp;M Roofing and Allied Roofing Partners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3">
                  <a:extLst>
                    <a:ext uri="{A12FA001-AC4F-418D-AE19-62706E023703}">
                      <ahyp:hlinkClr xmlns:ahyp="http://schemas.microsoft.com/office/drawing/2018/hyperlinkcolor" val="tx"/>
                    </a:ext>
                  </a:extLst>
                </a:hlinkClick>
              </a:rPr>
              <a:t>Formulation Technology and AAVIN Private Equity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4">
                  <a:extLst>
                    <a:ext uri="{A12FA001-AC4F-418D-AE19-62706E023703}">
                      <ahyp:hlinkClr xmlns:ahyp="http://schemas.microsoft.com/office/drawing/2018/hyperlinkcolor" val="tx"/>
                    </a:ext>
                  </a:extLst>
                </a:hlinkClick>
              </a:rPr>
              <a:t>Arocam and Innova Capital</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5">
                  <a:extLst>
                    <a:ext uri="{A12FA001-AC4F-418D-AE19-62706E023703}">
                      <ahyp:hlinkClr xmlns:ahyp="http://schemas.microsoft.com/office/drawing/2018/hyperlinkcolor" val="tx"/>
                    </a:ext>
                  </a:extLst>
                </a:hlinkClick>
              </a:rPr>
              <a:t>Stirling Food Systems and GreaseCycle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6">
                  <a:extLst>
                    <a:ext uri="{A12FA001-AC4F-418D-AE19-62706E023703}">
                      <ahyp:hlinkClr xmlns:ahyp="http://schemas.microsoft.com/office/drawing/2018/hyperlinkcolor" val="tx"/>
                    </a:ext>
                  </a:extLst>
                </a:hlinkClick>
              </a:rPr>
              <a:t>Affordable Garage Door and A.S.A.P. Garage Door Repair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7">
                  <a:extLst>
                    <a:ext uri="{A12FA001-AC4F-418D-AE19-62706E023703}">
                      <ahyp:hlinkClr xmlns:ahyp="http://schemas.microsoft.com/office/drawing/2018/hyperlinkcolor" val="tx"/>
                    </a:ext>
                  </a:extLst>
                </a:hlinkClick>
              </a:rPr>
              <a:t>GSM Wings and GPC Investments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8">
                  <a:extLst>
                    <a:ext uri="{A12FA001-AC4F-418D-AE19-62706E023703}">
                      <ahyp:hlinkClr xmlns:ahyp="http://schemas.microsoft.com/office/drawing/2018/hyperlinkcolor" val="tx"/>
                    </a:ext>
                  </a:extLst>
                </a:hlinkClick>
              </a:rPr>
              <a:t>Southern Pool Designs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9">
                  <a:extLst>
                    <a:ext uri="{A12FA001-AC4F-418D-AE19-62706E023703}">
                      <ahyp:hlinkClr xmlns:ahyp="http://schemas.microsoft.com/office/drawing/2018/hyperlinkcolor" val="tx"/>
                    </a:ext>
                  </a:extLst>
                </a:hlinkClick>
              </a:rPr>
              <a:t>Smart Buffet Ware and Front of House Worldwide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0">
                  <a:extLst>
                    <a:ext uri="{A12FA001-AC4F-418D-AE19-62706E023703}">
                      <ahyp:hlinkClr xmlns:ahyp="http://schemas.microsoft.com/office/drawing/2018/hyperlinkcolor" val="tx"/>
                    </a:ext>
                  </a:extLst>
                </a:hlinkClick>
              </a:rPr>
              <a:t>Nova Seafood and Highwood Harbor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1">
                  <a:extLst>
                    <a:ext uri="{A12FA001-AC4F-418D-AE19-62706E023703}">
                      <ahyp:hlinkClr xmlns:ahyp="http://schemas.microsoft.com/office/drawing/2018/hyperlinkcolor" val="tx"/>
                    </a:ext>
                  </a:extLst>
                </a:hlinkClick>
              </a:rPr>
              <a:t>Palm Coast Sales and Fourshore Partners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2">
                  <a:extLst>
                    <a:ext uri="{A12FA001-AC4F-418D-AE19-62706E023703}">
                      <ahyp:hlinkClr xmlns:ahyp="http://schemas.microsoft.com/office/drawing/2018/hyperlinkcolor" val="tx"/>
                    </a:ext>
                  </a:extLst>
                </a:hlinkClick>
              </a:rPr>
              <a:t>Benchmark International, Our Success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3">
                  <a:extLst>
                    <a:ext uri="{A12FA001-AC4F-418D-AE19-62706E023703}">
                      <ahyp:hlinkClr xmlns:ahyp="http://schemas.microsoft.com/office/drawing/2018/hyperlinkcolor" val="tx"/>
                    </a:ext>
                  </a:extLst>
                </a:hlinkClick>
              </a:rPr>
              <a:t>Bain 2026 private equity report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bain.com</a:t>
            </a:r>
            <a:endParaRPr lang="en-US" sz="668" dirty="0"/>
          </a:p>
          <a:p>
            <a:pPr marL="0" indent="0" algn="l">
              <a:lnSpc>
                <a:spcPts val="923"/>
              </a:lnSpc>
              <a:buNone/>
            </a:pPr>
            <a:r>
              <a:rPr lang="en-US" sz="668" u="sng" kern="0" spc="15" dirty="0">
                <a:solidFill>
                  <a:srgbClr val="8C6239"/>
                </a:solidFill>
                <a:latin typeface="Quicksand" pitchFamily="34" charset="0"/>
                <a:hlinkClick r:id="rId84">
                  <a:extLst>
                    <a:ext uri="{A12FA001-AC4F-418D-AE19-62706E023703}">
                      <ahyp:hlinkClr xmlns:ahyp="http://schemas.microsoft.com/office/drawing/2018/hyperlinkcolor" val="tx"/>
                    </a:ext>
                  </a:extLst>
                </a:hlinkClick>
              </a:rPr>
              <a:t>StockAnalysis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stockanalysis.com</a:t>
            </a:r>
            <a:endParaRPr lang="en-US" sz="668" dirty="0"/>
          </a:p>
          <a:p>
            <a:pPr marL="0" indent="0" algn="l">
              <a:lnSpc>
                <a:spcPts val="923"/>
              </a:lnSpc>
              <a:buNone/>
            </a:pPr>
            <a:r>
              <a:rPr lang="en-US" sz="668" u="sng" kern="0" spc="15" dirty="0">
                <a:solidFill>
                  <a:srgbClr val="8C6239"/>
                </a:solidFill>
                <a:latin typeface="Quicksand" pitchFamily="34" charset="0"/>
                <a:hlinkClick r:id="rId85">
                  <a:extLst>
                    <a:ext uri="{A12FA001-AC4F-418D-AE19-62706E023703}">
                      <ahyp:hlinkClr xmlns:ahyp="http://schemas.microsoft.com/office/drawing/2018/hyperlinkcolor" val="tx"/>
                    </a:ext>
                  </a:extLst>
                </a:hlinkClick>
              </a:rPr>
              <a:t>Church &amp; Dwight and Touchland</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businesswire.com</a:t>
            </a:r>
            <a:endParaRPr lang="en-US" sz="668" dirty="0"/>
          </a:p>
          <a:p>
            <a:pPr marL="0" indent="0" algn="l">
              <a:lnSpc>
                <a:spcPts val="923"/>
              </a:lnSpc>
              <a:buNone/>
            </a:pPr>
            <a:r>
              <a:rPr lang="en-US" sz="668" u="sng" kern="0" spc="15" dirty="0">
                <a:solidFill>
                  <a:srgbClr val="8C6239"/>
                </a:solidFill>
                <a:latin typeface="Quicksand" pitchFamily="34" charset="0"/>
                <a:hlinkClick r:id="rId86">
                  <a:extLst>
                    <a:ext uri="{A12FA001-AC4F-418D-AE19-62706E023703}">
                      <ahyp:hlinkClr xmlns:ahyp="http://schemas.microsoft.com/office/drawing/2018/hyperlinkcolor" val="tx"/>
                    </a:ext>
                  </a:extLst>
                </a:hlinkClick>
              </a:rPr>
              <a:t>FRED: Retail and food services sales (MRTSSM44X72USS)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87">
                  <a:extLst>
                    <a:ext uri="{A12FA001-AC4F-418D-AE19-62706E023703}">
                      <ahyp:hlinkClr xmlns:ahyp="http://schemas.microsoft.com/office/drawing/2018/hyperlinkcolor" val="tx"/>
                    </a:ext>
                  </a:extLst>
                </a:hlinkClick>
              </a:rPr>
              <a:t>Census advance release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census.gov</a:t>
            </a:r>
            <a:endParaRPr lang="en-US" sz="668" dirty="0"/>
          </a:p>
          <a:p>
            <a:pPr marL="0" indent="0" algn="l">
              <a:lnSpc>
                <a:spcPts val="923"/>
              </a:lnSpc>
              <a:buNone/>
            </a:pPr>
            <a:r>
              <a:rPr lang="en-US" sz="668" u="sng" kern="0" spc="15" dirty="0">
                <a:solidFill>
                  <a:srgbClr val="8C6239"/>
                </a:solidFill>
                <a:latin typeface="Quicksand" pitchFamily="34" charset="0"/>
                <a:hlinkClick r:id="rId88">
                  <a:extLst>
                    <a:ext uri="{A12FA001-AC4F-418D-AE19-62706E023703}">
                      <ahyp:hlinkClr xmlns:ahyp="http://schemas.microsoft.com/office/drawing/2018/hyperlinkcolor" val="tx"/>
                    </a:ext>
                  </a:extLst>
                </a:hlinkClick>
              </a:rPr>
              <a:t>FRED: Food services and drinking places sales (MRTSSM722USS)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89">
                  <a:extLst>
                    <a:ext uri="{A12FA001-AC4F-418D-AE19-62706E023703}">
                      <ahyp:hlinkClr xmlns:ahyp="http://schemas.microsoft.com/office/drawing/2018/hyperlinkcolor" val="tx"/>
                    </a:ext>
                  </a:extLst>
                </a:hlinkClick>
              </a:rPr>
              <a:t>FRED: E-commerce share of retail sales (ECOMPCTSA)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0">
                  <a:extLst>
                    <a:ext uri="{A12FA001-AC4F-418D-AE19-62706E023703}">
                      <ahyp:hlinkClr xmlns:ahyp="http://schemas.microsoft.com/office/drawing/2018/hyperlinkcolor" val="tx"/>
                    </a:ext>
                  </a:extLst>
                </a:hlinkClick>
              </a:rPr>
              <a:t>FRED: Consumer sentiment (UMCSENT)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1">
                  <a:extLst>
                    <a:ext uri="{A12FA001-AC4F-418D-AE19-62706E023703}">
                      <ahyp:hlinkClr xmlns:ahyp="http://schemas.microsoft.com/office/drawing/2018/hyperlinkcolor" val="tx"/>
                    </a:ext>
                  </a:extLst>
                </a:hlinkClick>
              </a:rPr>
              <a:t>Surveys of Consumers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sca.isr.umich.edu</a:t>
            </a:r>
            <a:endParaRPr lang="en-US" sz="668" dirty="0"/>
          </a:p>
          <a:p>
            <a:pPr marL="0" indent="0" algn="l">
              <a:lnSpc>
                <a:spcPts val="923"/>
              </a:lnSpc>
              <a:buNone/>
            </a:pPr>
            <a:r>
              <a:rPr lang="en-US" sz="668" u="sng" kern="0" spc="15" dirty="0">
                <a:solidFill>
                  <a:srgbClr val="8C6239"/>
                </a:solidFill>
                <a:latin typeface="Quicksand" pitchFamily="34" charset="0"/>
                <a:hlinkClick r:id="rId92">
                  <a:extLst>
                    <a:ext uri="{A12FA001-AC4F-418D-AE19-62706E023703}">
                      <ahyp:hlinkClr xmlns:ahyp="http://schemas.microsoft.com/office/drawing/2018/hyperlinkcolor" val="tx"/>
                    </a:ext>
                  </a:extLst>
                </a:hlinkClick>
              </a:rPr>
              <a:t>FRED: Food at home prices (CUSR0000SAF11)</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3">
                  <a:extLst>
                    <a:ext uri="{A12FA001-AC4F-418D-AE19-62706E023703}">
                      <ahyp:hlinkClr xmlns:ahyp="http://schemas.microsoft.com/office/drawing/2018/hyperlinkcolor" val="tx"/>
                    </a:ext>
                  </a:extLst>
                </a:hlinkClick>
              </a:rPr>
              <a:t>FRED: Food away from home prices (CUSR0000SEFV)</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4">
                  <a:extLst>
                    <a:ext uri="{A12FA001-AC4F-418D-AE19-62706E023703}">
                      <ahyp:hlinkClr xmlns:ahyp="http://schemas.microsoft.com/office/drawing/2018/hyperlinkcolor" val="tx"/>
                    </a:ext>
                  </a:extLst>
                </a:hlinkClick>
              </a:rPr>
              <a:t>FRED: Food manufacturing producer prices (PCU311311)</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p>
          <a:p>
            <a:pPr>
              <a:lnSpc>
                <a:spcPts val="923"/>
              </a:lnSpc>
            </a:pPr>
            <a:r>
              <a:rPr lang="en-US" sz="700" u="sng" kern="0" spc="15" dirty="0">
                <a:solidFill>
                  <a:srgbClr val="8C6239"/>
                </a:solidFill>
                <a:latin typeface="Quicksand" pitchFamily="34" charset="0"/>
                <a:hlinkClick r:id="rId95">
                  <a:extLst>
                    <a:ext uri="{A12FA001-AC4F-418D-AE19-62706E023703}">
                      <ahyp:hlinkClr xmlns:ahyp="http://schemas.microsoft.com/office/drawing/2018/hyperlinkcolor" val="tx"/>
                    </a:ext>
                  </a:extLst>
                </a:hlinkClick>
              </a:rPr>
              <a:t>Hormel and </a:t>
            </a:r>
            <a:r>
              <a:rPr lang="en-US" sz="700" u="sng" kern="0" spc="15" dirty="0" err="1">
                <a:solidFill>
                  <a:srgbClr val="8C6239"/>
                </a:solidFill>
                <a:latin typeface="Quicksand" pitchFamily="34" charset="0"/>
                <a:hlinkClick r:id="rId95">
                  <a:extLst>
                    <a:ext uri="{A12FA001-AC4F-418D-AE19-62706E023703}">
                      <ahyp:hlinkClr xmlns:ahyp="http://schemas.microsoft.com/office/drawing/2018/hyperlinkcolor" val="tx"/>
                    </a:ext>
                  </a:extLst>
                </a:hlinkClick>
              </a:rPr>
              <a:t>Brakebush</a:t>
            </a:r>
            <a:r>
              <a:rPr lang="en-US" sz="700" u="sng" kern="0" spc="15" dirty="0">
                <a:solidFill>
                  <a:srgbClr val="8C6239"/>
                </a:solidFill>
                <a:latin typeface="Quicksand" pitchFamily="34" charset="0"/>
                <a:hlinkClick r:id="rId95">
                  <a:extLst>
                    <a:ext uri="{A12FA001-AC4F-418D-AE19-62706E023703}">
                      <ahyp:hlinkClr xmlns:ahyp="http://schemas.microsoft.com/office/drawing/2018/hyperlinkcolor" val="tx"/>
                    </a:ext>
                  </a:extLst>
                </a:hlinkClick>
              </a:rPr>
              <a:t> Brothers</a:t>
            </a:r>
            <a:endParaRPr lang="en-US" sz="700" u="sng" kern="0" spc="15" dirty="0">
              <a:solidFill>
                <a:srgbClr val="8C6239"/>
              </a:solidFill>
              <a:latin typeface="Quicksand" pitchFamily="34" charset="0"/>
            </a:endParaRPr>
          </a:p>
          <a:p>
            <a:pPr>
              <a:lnSpc>
                <a:spcPts val="923"/>
              </a:lnSpc>
            </a:pPr>
            <a:r>
              <a:rPr lang="en-US" sz="700" kern="0" spc="15" dirty="0">
                <a:solidFill>
                  <a:srgbClr val="333231"/>
                </a:solidFill>
                <a:latin typeface="Quicksand" pitchFamily="34" charset="0"/>
              </a:rPr>
              <a:t>hormelfoods.com</a:t>
            </a:r>
            <a:endParaRPr lang="en-US" sz="668" kern="0" spc="15" dirty="0">
              <a:solidFill>
                <a:srgbClr val="6F6A66"/>
              </a:solidFill>
              <a:latin typeface="Quicksand" pitchFamily="34" charset="0"/>
            </a:endParaRPr>
          </a:p>
          <a:p>
            <a:pPr>
              <a:lnSpc>
                <a:spcPts val="923"/>
              </a:lnSpc>
            </a:pPr>
            <a:r>
              <a:rPr lang="en-US" sz="668" u="sng" kern="0" spc="15" dirty="0">
                <a:solidFill>
                  <a:srgbClr val="8C6239"/>
                </a:solidFill>
                <a:latin typeface="Quicksand" pitchFamily="34" charset="0"/>
                <a:hlinkClick r:id="rId96">
                  <a:extLst>
                    <a:ext uri="{A12FA001-AC4F-418D-AE19-62706E023703}">
                      <ahyp:hlinkClr xmlns:ahyp="http://schemas.microsoft.com/office/drawing/2018/hyperlinkcolor" val="tx"/>
                    </a:ext>
                  </a:extLst>
                </a:hlinkClick>
              </a:rPr>
              <a:t>Clorox and GOJO Industries</a:t>
            </a:r>
            <a:r>
              <a:rPr lang="en-US" sz="668" u="sng" kern="0" spc="15" dirty="0">
                <a:solidFill>
                  <a:srgbClr val="8C6239"/>
                </a:solidFill>
                <a:latin typeface="Quicksand" pitchFamily="34" charset="0"/>
              </a:rPr>
              <a:t> </a:t>
            </a:r>
            <a:r>
              <a:rPr lang="en-US" sz="700" kern="0" spc="15" dirty="0">
                <a:solidFill>
                  <a:srgbClr val="333231"/>
                </a:solidFill>
                <a:latin typeface="Quicksand" pitchFamily="34" charset="0"/>
              </a:rPr>
              <a:t>clorox.com</a:t>
            </a:r>
          </a:p>
          <a:p>
            <a:pPr>
              <a:lnSpc>
                <a:spcPts val="923"/>
              </a:lnSpc>
            </a:pPr>
            <a:r>
              <a:rPr lang="en-US" sz="668" u="sng" kern="0" spc="15" dirty="0">
                <a:solidFill>
                  <a:srgbClr val="8C6239"/>
                </a:solidFill>
                <a:latin typeface="Quicksand" pitchFamily="34" charset="0"/>
                <a:hlinkClick r:id="rId97">
                  <a:extLst>
                    <a:ext uri="{A12FA001-AC4F-418D-AE19-62706E023703}">
                      <ahyp:hlinkClr xmlns:ahyp="http://schemas.microsoft.com/office/drawing/2018/hyperlinkcolor" val="tx"/>
                    </a:ext>
                  </a:extLst>
                </a:hlinkClick>
              </a:rPr>
              <a:t>Mister Car Wash SEC</a:t>
            </a:r>
            <a:r>
              <a:rPr lang="en-US" sz="668" kern="0" spc="15" dirty="0">
                <a:solidFill>
                  <a:srgbClr val="8C6239"/>
                </a:solidFill>
                <a:latin typeface="Quicksand" pitchFamily="34" charset="0"/>
              </a:rPr>
              <a:t> </a:t>
            </a:r>
            <a:r>
              <a:rPr lang="en-US" sz="700" kern="0" spc="15" dirty="0">
                <a:solidFill>
                  <a:srgbClr val="333231"/>
                </a:solidFill>
                <a:latin typeface="Quicksand" pitchFamily="34" charset="0"/>
              </a:rPr>
              <a:t>sec.gov</a:t>
            </a:r>
          </a:p>
          <a:p>
            <a:pPr>
              <a:lnSpc>
                <a:spcPts val="923"/>
              </a:lnSpc>
            </a:pPr>
            <a:r>
              <a:rPr lang="en-US" sz="700" u="sng" kern="0" spc="15" dirty="0">
                <a:solidFill>
                  <a:srgbClr val="8C6239"/>
                </a:solidFill>
                <a:latin typeface="Quicksand" pitchFamily="34" charset="0"/>
                <a:hlinkClick r:id="rId98">
                  <a:extLst>
                    <a:ext uri="{A12FA001-AC4F-418D-AE19-62706E023703}">
                      <ahyp:hlinkClr xmlns:ahyp="http://schemas.microsoft.com/office/drawing/2018/hyperlinkcolor" val="tx"/>
                    </a:ext>
                  </a:extLst>
                </a:hlinkClick>
              </a:rPr>
              <a:t>PCT Top 100</a:t>
            </a:r>
            <a:r>
              <a:rPr lang="en-US" sz="700" kern="0" spc="15" dirty="0">
                <a:solidFill>
                  <a:srgbClr val="8C6239"/>
                </a:solidFill>
                <a:latin typeface="Quicksand" pitchFamily="34" charset="0"/>
              </a:rPr>
              <a:t>  </a:t>
            </a:r>
            <a:r>
              <a:rPr lang="en-US" sz="700" kern="0" spc="15" dirty="0">
                <a:solidFill>
                  <a:srgbClr val="333231"/>
                </a:solidFill>
                <a:latin typeface="Quicksand" pitchFamily="34" charset="0"/>
              </a:rPr>
              <a:t>pctonline.com</a:t>
            </a:r>
          </a:p>
          <a:p>
            <a:pPr>
              <a:lnSpc>
                <a:spcPts val="923"/>
              </a:lnSpc>
            </a:pPr>
            <a:endParaRPr lang="en-US" sz="700" kern="0" spc="15" dirty="0">
              <a:solidFill>
                <a:srgbClr val="333231"/>
              </a:solidFill>
              <a:latin typeface="Quicksand" pitchFamily="34" charset="0"/>
            </a:endParaRPr>
          </a:p>
          <a:p>
            <a:pPr>
              <a:lnSpc>
                <a:spcPts val="923"/>
              </a:lnSpc>
            </a:pPr>
            <a:endParaRPr lang="en-US" sz="668" dirty="0"/>
          </a:p>
          <a:p>
            <a:pPr marL="0" indent="0" algn="l">
              <a:lnSpc>
                <a:spcPts val="923"/>
              </a:lnSpc>
              <a:buNone/>
            </a:pPr>
            <a:r>
              <a:rPr lang="en-US" sz="675" b="1" kern="0" spc="15" dirty="0">
                <a:solidFill>
                  <a:srgbClr val="1B1A1A"/>
                </a:solidFill>
                <a:latin typeface="Quicksand" pitchFamily="34" charset="0"/>
              </a:rPr>
              <a:t>How the figures were gathered.</a:t>
            </a:r>
            <a:r>
              <a:rPr lang="en-US" sz="675" kern="0" spc="15" dirty="0">
                <a:solidFill>
                  <a:srgbClr val="333231"/>
                </a:solidFill>
                <a:latin typeface="Quicksand" pitchFamily="34" charset="0"/>
              </a:rPr>
              <a:t> Listed-company figures are from StockAnalysis and use reported results. Index series are from FRED, the US Census Bureau and the University of Michigan. Benchmark International figures are from the firm’s transaction records as of October 1, 2026. No investment bank is used as a source. Subscription and registration sources that would add depth, including GF Data, PitchBook, S&amp;P Capital IQ and Circana, are listed in a separate one-page companion.</a:t>
            </a:r>
            <a:endParaRPr lang="en-US" sz="668" dirty="0"/>
          </a:p>
        </p:txBody>
      </p:sp>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99"/>
          <a:stretch>
            <a:fillRect/>
          </a:stretch>
        </p:blipFill>
        <p:spPr>
          <a:xfrm>
            <a:off x="419100" y="7143750"/>
            <a:ext cx="914400" cy="171450"/>
          </a:xfrm>
          <a:prstGeom prst="rect">
            <a:avLst/>
          </a:prstGeom>
        </p:spPr>
      </p:pic>
      <p:sp>
        <p:nvSpPr>
          <p:cNvPr id="12" name="Text 11"/>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Figures were gathered from these sources between October 2 and October 7, 2026. The full Q4 2026 Consumer report carries the longer source list behind the four segment chapters.</a:t>
            </a:r>
            <a:endParaRPr lang="en-US" sz="675" dirty="0"/>
          </a:p>
        </p:txBody>
      </p:sp>
      <p:sp>
        <p:nvSpPr>
          <p:cNvPr id="13" name="Text 12"/>
          <p:cNvSpPr txBox="1"/>
          <p:nvPr/>
        </p:nvSpPr>
        <p:spPr>
          <a:xfrm>
            <a:off x="9498211" y="7162800"/>
            <a:ext cx="19823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22</a:t>
            </a:r>
            <a:endParaRPr lang="en-US" sz="713"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ewsreader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Quicksand Medium"/>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TotalTime>
  <Words>10588</Words>
  <Application>Microsoft Office PowerPoint</Application>
  <PresentationFormat>Custom</PresentationFormat>
  <Paragraphs>1967</Paragraphs>
  <Slides>22</Slides>
  <Notes>22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vt:i4>
      </vt:variant>
    </vt:vector>
  </HeadingPairs>
  <TitlesOfParts>
    <vt:vector size="30" baseType="lpstr">
      <vt:lpstr>Arial</vt:lpstr>
      <vt:lpstr>Cinzel</vt:lpstr>
      <vt:lpstr>Newsreader Medium</vt:lpstr>
      <vt:lpstr>Newsreader SemiBold</vt:lpstr>
      <vt:lpstr>Quicksand</vt:lpstr>
      <vt:lpstr>Quicksand Medium</vt:lpstr>
      <vt:lpstr>Quicksand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Consumer Q4 2026 Sector Brief</dc:title>
  <dc:subject>Consumer quarterly sector brief, Q4 2026</dc:subject>
  <dc:creator>Benchmark International</dc:creator>
  <cp:lastModifiedBy>Jason Lisiak</cp:lastModifiedBy>
  <cp:revision>4</cp:revision>
  <dcterms:created xsi:type="dcterms:W3CDTF">2026-10-12T17:07:31Z</dcterms:created>
  <dcterms:modified xsi:type="dcterms:W3CDTF">2026-10-14T16:35:51Z</dcterms:modified>
</cp:coreProperties>
</file>