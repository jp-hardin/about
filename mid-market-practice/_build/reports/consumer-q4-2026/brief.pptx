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0058400" cy="7772400"/>
  <p:notesSz cx="7772400" cy="10058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748C3D61-DA49-4B17-A97B-D1008B8D6E92}">
          <p14:sldIdLst>
            <p14:sldId id="256"/>
          </p14:sldIdLst>
        </p14:section>
        <p14:section name="Insights" id="{1403C3D4-3916-A9F3-20FD-5E617E9D9A2C}">
          <p14:sldIdLst>
            <p14:sldId id="257"/>
            <p14:sldId id="258"/>
            <p14:sldId id="259"/>
            <p14:sldId id="260"/>
            <p14:sldId id="261"/>
          </p14:sldIdLst>
        </p14:section>
        <p14:section name="Sector Activity" id="{7E2FC109-A562-1178-AF4A-363ED1828842}">
          <p14:sldIdLst>
            <p14:sldId id="262"/>
            <p14:sldId id="263"/>
            <p14:sldId id="264"/>
            <p14:sldId id="265"/>
            <p14:sldId id="266"/>
            <p14:sldId id="267"/>
            <p14:sldId id="268"/>
            <p14:sldId id="269"/>
            <p14:sldId id="270"/>
            <p14:sldId id="271"/>
            <p14:sldId id="272"/>
            <p14:sldId id="273"/>
          </p14:sldIdLst>
        </p14:section>
        <p14:section name="Connect With Us" id="{945E0551-7368-7241-40B9-5BCAD131584B}">
          <p14:sldIdLst>
            <p14:sldId id="274"/>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3" d="100"/>
          <a:sy n="103" d="100"/>
        </p:scale>
        <p:origin x="1068"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
          <c:y val="0"/>
          <c:w val="1"/>
          <c:h val="1"/>
        </c:manualLayout>
      </c:layout>
      <c:lineChart>
        <c:grouping val="standard"/>
        <c:varyColors val="0"/>
        <c:ser>
          <c:idx val="0"/>
          <c:order val="0"/>
          <c:tx>
            <c:strRef>
              <c:f>Sheet1!$B$1</c:f>
              <c:strCache>
                <c:ptCount val="1"/>
                <c:pt idx="0">
                  <c:v>Packaged food</c:v>
                </c:pt>
              </c:strCache>
            </c:strRef>
          </c:tx>
          <c:spPr>
            <a:ln w="19050" cap="flat">
              <a:solidFill>
                <a:srgbClr val="1B1A1A"/>
              </a:solidFill>
              <a:prstDash val="solid"/>
              <a:round/>
            </a:ln>
            <a:effectLst/>
          </c:spPr>
          <c:marker>
            <c:symbol val="circle"/>
            <c:size val="5"/>
            <c:spPr>
              <a:solidFill>
                <a:srgbClr val="1B1A1A"/>
              </a:solidFill>
              <a:ln w="11430" cap="flat">
                <a:solidFill>
                  <a:srgbClr val="FAF7F3"/>
                </a:solidFill>
                <a:prstDash val="solid"/>
                <a:round/>
              </a:ln>
              <a:effectLst/>
            </c:spPr>
          </c:marker>
          <c:dPt>
            <c:idx val="3"/>
            <c:bubble3D val="0"/>
            <c:spPr>
              <a:ln w="19050" cap="flat">
                <a:solidFill>
                  <a:srgbClr val="1B1A1A"/>
                </a:solidFill>
                <a:prstDash val="dash"/>
                <a:round/>
              </a:ln>
            </c:spPr>
            <c:extLst>
              <c:ext xmlns:c16="http://schemas.microsoft.com/office/drawing/2014/chart" uri="{C3380CC4-5D6E-409C-BE32-E72D297353CC}">
                <c16:uniqueId val="{00000001-4D19-4DD2-A509-C5DA49F37D91}"/>
              </c:ext>
            </c:extLst>
          </c:dPt>
          <c:dPt>
            <c:idx val="4"/>
            <c:bubble3D val="0"/>
            <c:spPr>
              <a:ln w="19050" cap="flat">
                <a:solidFill>
                  <a:srgbClr val="1B1A1A"/>
                </a:solidFill>
                <a:prstDash val="dash"/>
                <a:round/>
              </a:ln>
            </c:spPr>
            <c:extLst>
              <c:ext xmlns:c16="http://schemas.microsoft.com/office/drawing/2014/chart" uri="{C3380CC4-5D6E-409C-BE32-E72D297353CC}">
                <c16:uniqueId val="{00000003-4D19-4DD2-A509-C5DA49F37D91}"/>
              </c:ext>
            </c:extLst>
          </c:dPt>
          <c:cat>
            <c:strRef>
              <c:f>Sheet1!$A$2:$A$6</c:f>
              <c:strCache>
                <c:ptCount val="5"/>
                <c:pt idx="0">
                  <c:v>Two years ago</c:v>
                </c:pt>
                <c:pt idx="1">
                  <c:v>Prior year</c:v>
                </c:pt>
                <c:pt idx="2">
                  <c:v>Latest fiscal year</c:v>
                </c:pt>
                <c:pt idx="3">
                  <c:v>Current year est.</c:v>
                </c:pt>
                <c:pt idx="4">
                  <c:v>Next year est.</c:v>
                </c:pt>
              </c:strCache>
            </c:strRef>
          </c:cat>
          <c:val>
            <c:numRef>
              <c:f>Sheet1!$B$2:$B$6</c:f>
              <c:numCache>
                <c:formatCode>General</c:formatCode>
                <c:ptCount val="5"/>
                <c:pt idx="0">
                  <c:v>-0.3</c:v>
                </c:pt>
                <c:pt idx="1">
                  <c:v>-0.32</c:v>
                </c:pt>
                <c:pt idx="2">
                  <c:v>-0.65</c:v>
                </c:pt>
                <c:pt idx="3">
                  <c:v>-1.2949999999999999</c:v>
                </c:pt>
                <c:pt idx="4">
                  <c:v>0.26</c:v>
                </c:pt>
              </c:numCache>
            </c:numRef>
          </c:val>
          <c:smooth val="0"/>
          <c:extLst>
            <c:ext xmlns:c16="http://schemas.microsoft.com/office/drawing/2014/chart" uri="{C3380CC4-5D6E-409C-BE32-E72D297353CC}">
              <c16:uniqueId val="{00000004-4D19-4DD2-A509-C5DA49F37D91}"/>
            </c:ext>
          </c:extLst>
        </c:ser>
        <c:ser>
          <c:idx val="1"/>
          <c:order val="1"/>
          <c:tx>
            <c:strRef>
              <c:f>Sheet1!$C$1</c:f>
              <c:strCache>
                <c:ptCount val="1"/>
                <c:pt idx="0">
                  <c:v>Snacks</c:v>
                </c:pt>
              </c:strCache>
            </c:strRef>
          </c:tx>
          <c:spPr>
            <a:ln w="19050" cap="flat">
              <a:solidFill>
                <a:srgbClr val="B68757"/>
              </a:solidFill>
              <a:prstDash val="solid"/>
              <a:round/>
            </a:ln>
            <a:effectLst/>
          </c:spPr>
          <c:marker>
            <c:symbol val="square"/>
            <c:size val="5"/>
            <c:spPr>
              <a:solidFill>
                <a:srgbClr val="B68757"/>
              </a:solidFill>
              <a:ln w="11430" cap="flat">
                <a:solidFill>
                  <a:srgbClr val="FAF7F3"/>
                </a:solidFill>
                <a:prstDash val="solid"/>
                <a:round/>
              </a:ln>
              <a:effectLst/>
            </c:spPr>
          </c:marker>
          <c:dPt>
            <c:idx val="3"/>
            <c:bubble3D val="0"/>
            <c:spPr>
              <a:ln w="19050" cap="flat">
                <a:solidFill>
                  <a:srgbClr val="B68757"/>
                </a:solidFill>
                <a:prstDash val="dash"/>
                <a:round/>
              </a:ln>
            </c:spPr>
            <c:extLst>
              <c:ext xmlns:c16="http://schemas.microsoft.com/office/drawing/2014/chart" uri="{C3380CC4-5D6E-409C-BE32-E72D297353CC}">
                <c16:uniqueId val="{00000006-4D19-4DD2-A509-C5DA49F37D91}"/>
              </c:ext>
            </c:extLst>
          </c:dPt>
          <c:dPt>
            <c:idx val="4"/>
            <c:bubble3D val="0"/>
            <c:spPr>
              <a:ln w="19050" cap="flat">
                <a:solidFill>
                  <a:srgbClr val="B68757"/>
                </a:solidFill>
                <a:prstDash val="dash"/>
                <a:round/>
              </a:ln>
            </c:spPr>
            <c:extLst>
              <c:ext xmlns:c16="http://schemas.microsoft.com/office/drawing/2014/chart" uri="{C3380CC4-5D6E-409C-BE32-E72D297353CC}">
                <c16:uniqueId val="{00000008-4D19-4DD2-A509-C5DA49F37D91}"/>
              </c:ext>
            </c:extLst>
          </c:dPt>
          <c:cat>
            <c:strRef>
              <c:f>Sheet1!$A$2:$A$6</c:f>
              <c:strCache>
                <c:ptCount val="5"/>
                <c:pt idx="0">
                  <c:v>Two years ago</c:v>
                </c:pt>
                <c:pt idx="1">
                  <c:v>Prior year</c:v>
                </c:pt>
                <c:pt idx="2">
                  <c:v>Latest fiscal year</c:v>
                </c:pt>
                <c:pt idx="3">
                  <c:v>Current year est.</c:v>
                </c:pt>
                <c:pt idx="4">
                  <c:v>Next year est.</c:v>
                </c:pt>
              </c:strCache>
            </c:strRef>
          </c:cat>
          <c:val>
            <c:numRef>
              <c:f>Sheet1!$C$2:$C$6</c:f>
              <c:numCache>
                <c:formatCode>General</c:formatCode>
                <c:ptCount val="5"/>
                <c:pt idx="0">
                  <c:v>10.754999999999999</c:v>
                </c:pt>
                <c:pt idx="1">
                  <c:v>4.1550000000000002</c:v>
                </c:pt>
                <c:pt idx="2">
                  <c:v>7.3650000000000002</c:v>
                </c:pt>
                <c:pt idx="3">
                  <c:v>2.75</c:v>
                </c:pt>
                <c:pt idx="4">
                  <c:v>1.81</c:v>
                </c:pt>
              </c:numCache>
            </c:numRef>
          </c:val>
          <c:smooth val="0"/>
          <c:extLst>
            <c:ext xmlns:c16="http://schemas.microsoft.com/office/drawing/2014/chart" uri="{C3380CC4-5D6E-409C-BE32-E72D297353CC}">
              <c16:uniqueId val="{00000009-4D19-4DD2-A509-C5DA49F37D91}"/>
            </c:ext>
          </c:extLst>
        </c:ser>
        <c:ser>
          <c:idx val="2"/>
          <c:order val="2"/>
          <c:tx>
            <c:strRef>
              <c:f>Sheet1!$D$1</c:f>
              <c:strCache>
                <c:ptCount val="1"/>
                <c:pt idx="0">
                  <c:v>Beverages</c:v>
                </c:pt>
              </c:strCache>
            </c:strRef>
          </c:tx>
          <c:spPr>
            <a:ln w="19050" cap="flat">
              <a:solidFill>
                <a:srgbClr val="8F8880"/>
              </a:solidFill>
              <a:prstDash val="solid"/>
              <a:round/>
            </a:ln>
            <a:effectLst/>
          </c:spPr>
          <c:marker>
            <c:symbol val="diamond"/>
            <c:size val="6"/>
            <c:spPr>
              <a:solidFill>
                <a:srgbClr val="8F8880"/>
              </a:solidFill>
              <a:ln w="11430" cap="flat">
                <a:solidFill>
                  <a:srgbClr val="FAF7F3"/>
                </a:solidFill>
                <a:prstDash val="solid"/>
                <a:round/>
              </a:ln>
              <a:effectLst/>
            </c:spPr>
          </c:marker>
          <c:dPt>
            <c:idx val="3"/>
            <c:bubble3D val="0"/>
            <c:spPr>
              <a:ln w="19050" cap="flat">
                <a:solidFill>
                  <a:srgbClr val="8F8880"/>
                </a:solidFill>
                <a:prstDash val="dash"/>
                <a:round/>
              </a:ln>
            </c:spPr>
            <c:extLst>
              <c:ext xmlns:c16="http://schemas.microsoft.com/office/drawing/2014/chart" uri="{C3380CC4-5D6E-409C-BE32-E72D297353CC}">
                <c16:uniqueId val="{0000000B-4D19-4DD2-A509-C5DA49F37D91}"/>
              </c:ext>
            </c:extLst>
          </c:dPt>
          <c:dPt>
            <c:idx val="4"/>
            <c:bubble3D val="0"/>
            <c:spPr>
              <a:ln w="19050" cap="flat">
                <a:solidFill>
                  <a:srgbClr val="8F8880"/>
                </a:solidFill>
                <a:prstDash val="dash"/>
                <a:round/>
              </a:ln>
            </c:spPr>
            <c:extLst>
              <c:ext xmlns:c16="http://schemas.microsoft.com/office/drawing/2014/chart" uri="{C3380CC4-5D6E-409C-BE32-E72D297353CC}">
                <c16:uniqueId val="{0000000D-4D19-4DD2-A509-C5DA49F37D91}"/>
              </c:ext>
            </c:extLst>
          </c:dPt>
          <c:cat>
            <c:strRef>
              <c:f>Sheet1!$A$2:$A$6</c:f>
              <c:strCache>
                <c:ptCount val="5"/>
                <c:pt idx="0">
                  <c:v>Two years ago</c:v>
                </c:pt>
                <c:pt idx="1">
                  <c:v>Prior year</c:v>
                </c:pt>
                <c:pt idx="2">
                  <c:v>Latest fiscal year</c:v>
                </c:pt>
                <c:pt idx="3">
                  <c:v>Current year est.</c:v>
                </c:pt>
                <c:pt idx="4">
                  <c:v>Next year est.</c:v>
                </c:pt>
              </c:strCache>
            </c:strRef>
          </c:cat>
          <c:val>
            <c:numRef>
              <c:f>Sheet1!$D$2:$D$6</c:f>
              <c:numCache>
                <c:formatCode>General</c:formatCode>
                <c:ptCount val="5"/>
                <c:pt idx="0">
                  <c:v>6.1400000000000006</c:v>
                </c:pt>
                <c:pt idx="1">
                  <c:v>2.855</c:v>
                </c:pt>
                <c:pt idx="2">
                  <c:v>5.2050000000000001</c:v>
                </c:pt>
                <c:pt idx="3">
                  <c:v>11.299999999999999</c:v>
                </c:pt>
                <c:pt idx="4">
                  <c:v>5.64</c:v>
                </c:pt>
              </c:numCache>
            </c:numRef>
          </c:val>
          <c:smooth val="0"/>
          <c:extLst>
            <c:ext xmlns:c16="http://schemas.microsoft.com/office/drawing/2014/chart" uri="{C3380CC4-5D6E-409C-BE32-E72D297353CC}">
              <c16:uniqueId val="{0000000E-4D19-4DD2-A509-C5DA49F37D91}"/>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1"/>
        <c:axPos val="b"/>
        <c:numFmt formatCode="General" sourceLinked="1"/>
        <c:majorTickMark val="out"/>
        <c:minorTickMark val="none"/>
        <c:tickLblPos val="low"/>
        <c:crossAx val="2094734552"/>
        <c:crosses val="autoZero"/>
        <c:auto val="1"/>
        <c:lblAlgn val="ctr"/>
        <c:lblOffset val="100"/>
        <c:noMultiLvlLbl val="1"/>
      </c:catAx>
      <c:valAx>
        <c:axId val="2094734552"/>
        <c:scaling>
          <c:orientation val="minMax"/>
          <c:max val="12.5595"/>
          <c:min val="-2.5545"/>
        </c:scaling>
        <c:delete val="1"/>
        <c:axPos val="l"/>
        <c:numFmt formatCode="General" sourceLinked="0"/>
        <c:majorTickMark val="out"/>
        <c:minorTickMark val="none"/>
        <c:tickLblPos val="nextTo"/>
        <c:crossAx val="2094734554"/>
        <c:crosses val="autoZero"/>
        <c:crossBetween val="between"/>
      </c:valAx>
      <c:spPr>
        <a:solidFill>
          <a:srgbClr val="FFFFFF">
            <a:alpha val="0"/>
          </a:srgbClr>
        </a:solid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
          <c:y val="0"/>
          <c:w val="1"/>
          <c:h val="1"/>
        </c:manualLayout>
      </c:layout>
      <c:lineChart>
        <c:grouping val="standard"/>
        <c:varyColors val="0"/>
        <c:ser>
          <c:idx val="0"/>
          <c:order val="0"/>
          <c:tx>
            <c:strRef>
              <c:f>Sheet1!$B$1</c:f>
              <c:strCache>
                <c:ptCount val="1"/>
                <c:pt idx="0">
                  <c:v>Household &amp; personal care</c:v>
                </c:pt>
              </c:strCache>
            </c:strRef>
          </c:tx>
          <c:spPr>
            <a:ln w="19050" cap="flat">
              <a:solidFill>
                <a:srgbClr val="1B1A1A"/>
              </a:solidFill>
              <a:prstDash val="solid"/>
              <a:round/>
            </a:ln>
            <a:effectLst/>
          </c:spPr>
          <c:marker>
            <c:symbol val="circle"/>
            <c:size val="5"/>
            <c:spPr>
              <a:solidFill>
                <a:srgbClr val="1B1A1A"/>
              </a:solidFill>
              <a:ln w="11430" cap="flat">
                <a:solidFill>
                  <a:srgbClr val="FAF7F3"/>
                </a:solidFill>
                <a:prstDash val="solid"/>
                <a:round/>
              </a:ln>
              <a:effectLst/>
            </c:spPr>
          </c:marker>
          <c:dPt>
            <c:idx val="3"/>
            <c:bubble3D val="0"/>
            <c:spPr>
              <a:ln w="19050" cap="flat">
                <a:solidFill>
                  <a:srgbClr val="1B1A1A"/>
                </a:solidFill>
                <a:prstDash val="dash"/>
                <a:round/>
              </a:ln>
            </c:spPr>
            <c:extLst>
              <c:ext xmlns:c16="http://schemas.microsoft.com/office/drawing/2014/chart" uri="{C3380CC4-5D6E-409C-BE32-E72D297353CC}">
                <c16:uniqueId val="{00000001-FC91-4CF2-9FEF-7FDB0F4318B3}"/>
              </c:ext>
            </c:extLst>
          </c:dPt>
          <c:dPt>
            <c:idx val="4"/>
            <c:bubble3D val="0"/>
            <c:spPr>
              <a:ln w="19050" cap="flat">
                <a:solidFill>
                  <a:srgbClr val="1B1A1A"/>
                </a:solidFill>
                <a:prstDash val="dash"/>
                <a:round/>
              </a:ln>
            </c:spPr>
            <c:extLst>
              <c:ext xmlns:c16="http://schemas.microsoft.com/office/drawing/2014/chart" uri="{C3380CC4-5D6E-409C-BE32-E72D297353CC}">
                <c16:uniqueId val="{00000003-FC91-4CF2-9FEF-7FDB0F4318B3}"/>
              </c:ext>
            </c:extLst>
          </c:dPt>
          <c:cat>
            <c:strRef>
              <c:f>Sheet1!$A$2:$A$6</c:f>
              <c:strCache>
                <c:ptCount val="5"/>
                <c:pt idx="0">
                  <c:v>Two years ago</c:v>
                </c:pt>
                <c:pt idx="1">
                  <c:v>Prior year</c:v>
                </c:pt>
                <c:pt idx="2">
                  <c:v>Latest fiscal year</c:v>
                </c:pt>
                <c:pt idx="3">
                  <c:v>Current year est.</c:v>
                </c:pt>
                <c:pt idx="4">
                  <c:v>Next year est.</c:v>
                </c:pt>
              </c:strCache>
            </c:strRef>
          </c:cat>
          <c:val>
            <c:numRef>
              <c:f>Sheet1!$B$2:$B$6</c:f>
              <c:numCache>
                <c:formatCode>General</c:formatCode>
                <c:ptCount val="5"/>
                <c:pt idx="0">
                  <c:v>5.3849999999999998</c:v>
                </c:pt>
                <c:pt idx="1">
                  <c:v>1.8</c:v>
                </c:pt>
                <c:pt idx="2">
                  <c:v>2.415</c:v>
                </c:pt>
                <c:pt idx="3">
                  <c:v>4.7349999999999994</c:v>
                </c:pt>
                <c:pt idx="4">
                  <c:v>3.6849999999999996</c:v>
                </c:pt>
              </c:numCache>
            </c:numRef>
          </c:val>
          <c:smooth val="0"/>
          <c:extLst>
            <c:ext xmlns:c16="http://schemas.microsoft.com/office/drawing/2014/chart" uri="{C3380CC4-5D6E-409C-BE32-E72D297353CC}">
              <c16:uniqueId val="{00000004-FC91-4CF2-9FEF-7FDB0F4318B3}"/>
            </c:ext>
          </c:extLst>
        </c:ser>
        <c:ser>
          <c:idx val="1"/>
          <c:order val="1"/>
          <c:tx>
            <c:strRef>
              <c:f>Sheet1!$C$1</c:f>
              <c:strCache>
                <c:ptCount val="1"/>
                <c:pt idx="0">
                  <c:v>Durables, outdoor &amp; pet</c:v>
                </c:pt>
              </c:strCache>
            </c:strRef>
          </c:tx>
          <c:spPr>
            <a:ln w="19050" cap="flat">
              <a:solidFill>
                <a:srgbClr val="B68757"/>
              </a:solidFill>
              <a:prstDash val="solid"/>
              <a:round/>
            </a:ln>
            <a:effectLst/>
          </c:spPr>
          <c:marker>
            <c:symbol val="square"/>
            <c:size val="5"/>
            <c:spPr>
              <a:solidFill>
                <a:srgbClr val="B68757"/>
              </a:solidFill>
              <a:ln w="11430" cap="flat">
                <a:solidFill>
                  <a:srgbClr val="FAF7F3"/>
                </a:solidFill>
                <a:prstDash val="solid"/>
                <a:round/>
              </a:ln>
              <a:effectLst/>
            </c:spPr>
          </c:marker>
          <c:dPt>
            <c:idx val="3"/>
            <c:bubble3D val="0"/>
            <c:spPr>
              <a:ln w="19050" cap="flat">
                <a:solidFill>
                  <a:srgbClr val="B68757"/>
                </a:solidFill>
                <a:prstDash val="dash"/>
                <a:round/>
              </a:ln>
            </c:spPr>
            <c:extLst>
              <c:ext xmlns:c16="http://schemas.microsoft.com/office/drawing/2014/chart" uri="{C3380CC4-5D6E-409C-BE32-E72D297353CC}">
                <c16:uniqueId val="{00000006-FC91-4CF2-9FEF-7FDB0F4318B3}"/>
              </c:ext>
            </c:extLst>
          </c:dPt>
          <c:dPt>
            <c:idx val="4"/>
            <c:bubble3D val="0"/>
            <c:spPr>
              <a:ln w="19050" cap="flat">
                <a:solidFill>
                  <a:srgbClr val="B68757"/>
                </a:solidFill>
                <a:prstDash val="dash"/>
                <a:round/>
              </a:ln>
            </c:spPr>
            <c:extLst>
              <c:ext xmlns:c16="http://schemas.microsoft.com/office/drawing/2014/chart" uri="{C3380CC4-5D6E-409C-BE32-E72D297353CC}">
                <c16:uniqueId val="{00000008-FC91-4CF2-9FEF-7FDB0F4318B3}"/>
              </c:ext>
            </c:extLst>
          </c:dPt>
          <c:cat>
            <c:strRef>
              <c:f>Sheet1!$A$2:$A$6</c:f>
              <c:strCache>
                <c:ptCount val="5"/>
                <c:pt idx="0">
                  <c:v>Two years ago</c:v>
                </c:pt>
                <c:pt idx="1">
                  <c:v>Prior year</c:v>
                </c:pt>
                <c:pt idx="2">
                  <c:v>Latest fiscal year</c:v>
                </c:pt>
                <c:pt idx="3">
                  <c:v>Current year est.</c:v>
                </c:pt>
                <c:pt idx="4">
                  <c:v>Next year est.</c:v>
                </c:pt>
              </c:strCache>
            </c:strRef>
          </c:cat>
          <c:val>
            <c:numRef>
              <c:f>Sheet1!$C$2:$C$6</c:f>
              <c:numCache>
                <c:formatCode>General</c:formatCode>
                <c:ptCount val="5"/>
                <c:pt idx="0">
                  <c:v>-3.835</c:v>
                </c:pt>
                <c:pt idx="1">
                  <c:v>-0.71499999999999997</c:v>
                </c:pt>
                <c:pt idx="2">
                  <c:v>-3.6050000000000004</c:v>
                </c:pt>
                <c:pt idx="3">
                  <c:v>1.915</c:v>
                </c:pt>
                <c:pt idx="4">
                  <c:v>2.9000000000000004</c:v>
                </c:pt>
              </c:numCache>
            </c:numRef>
          </c:val>
          <c:smooth val="0"/>
          <c:extLst>
            <c:ext xmlns:c16="http://schemas.microsoft.com/office/drawing/2014/chart" uri="{C3380CC4-5D6E-409C-BE32-E72D297353CC}">
              <c16:uniqueId val="{00000009-FC91-4CF2-9FEF-7FDB0F4318B3}"/>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1"/>
        <c:axPos val="b"/>
        <c:numFmt formatCode="General" sourceLinked="1"/>
        <c:majorTickMark val="out"/>
        <c:minorTickMark val="none"/>
        <c:tickLblPos val="low"/>
        <c:crossAx val="2094734552"/>
        <c:crosses val="autoZero"/>
        <c:auto val="1"/>
        <c:lblAlgn val="ctr"/>
        <c:lblOffset val="100"/>
        <c:noMultiLvlLbl val="1"/>
      </c:catAx>
      <c:valAx>
        <c:axId val="2094734552"/>
        <c:scaling>
          <c:orientation val="minMax"/>
          <c:max val="6.3069999999999995"/>
          <c:min val="-4.7569999999999997"/>
        </c:scaling>
        <c:delete val="1"/>
        <c:axPos val="l"/>
        <c:numFmt formatCode="General" sourceLinked="0"/>
        <c:majorTickMark val="out"/>
        <c:minorTickMark val="none"/>
        <c:tickLblPos val="nextTo"/>
        <c:crossAx val="2094734554"/>
        <c:crosses val="autoZero"/>
        <c:crossBetween val="between"/>
      </c:valAx>
      <c:spPr>
        <a:solidFill>
          <a:srgbClr val="FFFFFF">
            <a:alpha val="0"/>
          </a:srgbClr>
        </a:solid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
          <c:y val="0"/>
          <c:w val="1"/>
          <c:h val="1"/>
        </c:manualLayout>
      </c:layout>
      <c:lineChart>
        <c:grouping val="standard"/>
        <c:varyColors val="0"/>
        <c:ser>
          <c:idx val="0"/>
          <c:order val="0"/>
          <c:tx>
            <c:strRef>
              <c:f>Sheet1!$B$1</c:f>
              <c:strCache>
                <c:ptCount val="1"/>
                <c:pt idx="0">
                  <c:v>Foodservice distribution</c:v>
                </c:pt>
              </c:strCache>
            </c:strRef>
          </c:tx>
          <c:spPr>
            <a:ln w="19050" cap="flat">
              <a:solidFill>
                <a:srgbClr val="1B1A1A"/>
              </a:solidFill>
              <a:prstDash val="solid"/>
              <a:round/>
            </a:ln>
            <a:effectLst/>
          </c:spPr>
          <c:marker>
            <c:symbol val="circle"/>
            <c:size val="5"/>
            <c:spPr>
              <a:solidFill>
                <a:srgbClr val="1B1A1A"/>
              </a:solidFill>
              <a:ln w="11430" cap="flat">
                <a:solidFill>
                  <a:srgbClr val="FAF7F3"/>
                </a:solidFill>
                <a:prstDash val="solid"/>
                <a:round/>
              </a:ln>
              <a:effectLst/>
            </c:spPr>
          </c:marker>
          <c:dPt>
            <c:idx val="3"/>
            <c:bubble3D val="0"/>
            <c:spPr>
              <a:ln w="19050" cap="flat">
                <a:solidFill>
                  <a:srgbClr val="1B1A1A"/>
                </a:solidFill>
                <a:prstDash val="dash"/>
                <a:round/>
              </a:ln>
            </c:spPr>
            <c:extLst>
              <c:ext xmlns:c16="http://schemas.microsoft.com/office/drawing/2014/chart" uri="{C3380CC4-5D6E-409C-BE32-E72D297353CC}">
                <c16:uniqueId val="{00000001-9428-4BF2-917E-8F6BC49E8617}"/>
              </c:ext>
            </c:extLst>
          </c:dPt>
          <c:dPt>
            <c:idx val="4"/>
            <c:bubble3D val="0"/>
            <c:spPr>
              <a:ln w="19050" cap="flat">
                <a:solidFill>
                  <a:srgbClr val="1B1A1A"/>
                </a:solidFill>
                <a:prstDash val="dash"/>
                <a:round/>
              </a:ln>
            </c:spPr>
            <c:extLst>
              <c:ext xmlns:c16="http://schemas.microsoft.com/office/drawing/2014/chart" uri="{C3380CC4-5D6E-409C-BE32-E72D297353CC}">
                <c16:uniqueId val="{00000003-9428-4BF2-917E-8F6BC49E8617}"/>
              </c:ext>
            </c:extLst>
          </c:dPt>
          <c:cat>
            <c:strRef>
              <c:f>Sheet1!$A$2:$A$6</c:f>
              <c:strCache>
                <c:ptCount val="5"/>
                <c:pt idx="0">
                  <c:v>Two years ago</c:v>
                </c:pt>
                <c:pt idx="1">
                  <c:v>Prior year</c:v>
                </c:pt>
                <c:pt idx="2">
                  <c:v>Latest fiscal year</c:v>
                </c:pt>
                <c:pt idx="3">
                  <c:v>Current year est.</c:v>
                </c:pt>
                <c:pt idx="4">
                  <c:v>Next year est.</c:v>
                </c:pt>
              </c:strCache>
            </c:strRef>
          </c:cat>
          <c:val>
            <c:numRef>
              <c:f>Sheet1!$B$2:$B$6</c:f>
              <c:numCache>
                <c:formatCode>General</c:formatCode>
                <c:ptCount val="5"/>
                <c:pt idx="0">
                  <c:v>3.3</c:v>
                </c:pt>
                <c:pt idx="1">
                  <c:v>6.4</c:v>
                </c:pt>
                <c:pt idx="2">
                  <c:v>4.08</c:v>
                </c:pt>
                <c:pt idx="3">
                  <c:v>6.08</c:v>
                </c:pt>
                <c:pt idx="4">
                  <c:v>2.79</c:v>
                </c:pt>
              </c:numCache>
            </c:numRef>
          </c:val>
          <c:smooth val="0"/>
          <c:extLst>
            <c:ext xmlns:c16="http://schemas.microsoft.com/office/drawing/2014/chart" uri="{C3380CC4-5D6E-409C-BE32-E72D297353CC}">
              <c16:uniqueId val="{00000004-9428-4BF2-917E-8F6BC49E8617}"/>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1"/>
        <c:axPos val="b"/>
        <c:numFmt formatCode="General" sourceLinked="1"/>
        <c:majorTickMark val="out"/>
        <c:minorTickMark val="none"/>
        <c:tickLblPos val="low"/>
        <c:crossAx val="2094734552"/>
        <c:crosses val="autoZero"/>
        <c:auto val="1"/>
        <c:lblAlgn val="ctr"/>
        <c:lblOffset val="100"/>
        <c:noMultiLvlLbl val="1"/>
      </c:catAx>
      <c:valAx>
        <c:axId val="2094734552"/>
        <c:scaling>
          <c:orientation val="minMax"/>
          <c:max val="7.0400000000000009"/>
          <c:min val="-0.64000000000000012"/>
        </c:scaling>
        <c:delete val="1"/>
        <c:axPos val="l"/>
        <c:numFmt formatCode="General" sourceLinked="0"/>
        <c:majorTickMark val="out"/>
        <c:minorTickMark val="none"/>
        <c:tickLblPos val="nextTo"/>
        <c:crossAx val="2094734554"/>
        <c:crosses val="autoZero"/>
        <c:crossBetween val="between"/>
      </c:valAx>
      <c:spPr>
        <a:solidFill>
          <a:srgbClr val="FFFFFF">
            <a:alpha val="0"/>
          </a:srgbClr>
        </a:solid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
          <c:y val="0"/>
          <c:w val="1"/>
          <c:h val="1"/>
        </c:manualLayout>
      </c:layout>
      <c:lineChart>
        <c:grouping val="standard"/>
        <c:varyColors val="0"/>
        <c:ser>
          <c:idx val="0"/>
          <c:order val="0"/>
          <c:tx>
            <c:strRef>
              <c:f>Sheet1!$B$1</c:f>
              <c:strCache>
                <c:ptCount val="1"/>
                <c:pt idx="0">
                  <c:v>Restaurants</c:v>
                </c:pt>
              </c:strCache>
            </c:strRef>
          </c:tx>
          <c:spPr>
            <a:ln w="19050" cap="flat">
              <a:solidFill>
                <a:srgbClr val="1B1A1A"/>
              </a:solidFill>
              <a:prstDash val="solid"/>
              <a:round/>
            </a:ln>
            <a:effectLst/>
          </c:spPr>
          <c:marker>
            <c:symbol val="circle"/>
            <c:size val="5"/>
            <c:spPr>
              <a:solidFill>
                <a:srgbClr val="1B1A1A"/>
              </a:solidFill>
              <a:ln w="11430" cap="flat">
                <a:solidFill>
                  <a:srgbClr val="FAF7F3"/>
                </a:solidFill>
                <a:prstDash val="solid"/>
                <a:round/>
              </a:ln>
              <a:effectLst/>
            </c:spPr>
          </c:marker>
          <c:dPt>
            <c:idx val="3"/>
            <c:bubble3D val="0"/>
            <c:spPr>
              <a:ln w="19050" cap="flat">
                <a:solidFill>
                  <a:srgbClr val="1B1A1A"/>
                </a:solidFill>
                <a:prstDash val="dash"/>
                <a:round/>
              </a:ln>
            </c:spPr>
            <c:extLst>
              <c:ext xmlns:c16="http://schemas.microsoft.com/office/drawing/2014/chart" uri="{C3380CC4-5D6E-409C-BE32-E72D297353CC}">
                <c16:uniqueId val="{00000001-E258-48A1-BF8C-F6D266B51939}"/>
              </c:ext>
            </c:extLst>
          </c:dPt>
          <c:dPt>
            <c:idx val="4"/>
            <c:bubble3D val="0"/>
            <c:spPr>
              <a:ln w="19050" cap="flat">
                <a:solidFill>
                  <a:srgbClr val="1B1A1A"/>
                </a:solidFill>
                <a:prstDash val="dash"/>
                <a:round/>
              </a:ln>
            </c:spPr>
            <c:extLst>
              <c:ext xmlns:c16="http://schemas.microsoft.com/office/drawing/2014/chart" uri="{C3380CC4-5D6E-409C-BE32-E72D297353CC}">
                <c16:uniqueId val="{00000003-E258-48A1-BF8C-F6D266B51939}"/>
              </c:ext>
            </c:extLst>
          </c:dPt>
          <c:cat>
            <c:strRef>
              <c:f>Sheet1!$A$2:$A$6</c:f>
              <c:strCache>
                <c:ptCount val="5"/>
                <c:pt idx="0">
                  <c:v>Two years ago</c:v>
                </c:pt>
                <c:pt idx="1">
                  <c:v>Prior year</c:v>
                </c:pt>
                <c:pt idx="2">
                  <c:v>Latest fiscal year</c:v>
                </c:pt>
                <c:pt idx="3">
                  <c:v>Current year est.</c:v>
                </c:pt>
                <c:pt idx="4">
                  <c:v>Next year est.</c:v>
                </c:pt>
              </c:strCache>
            </c:strRef>
          </c:cat>
          <c:val>
            <c:numRef>
              <c:f>Sheet1!$B$2:$B$6</c:f>
              <c:numCache>
                <c:formatCode>General</c:formatCode>
                <c:ptCount val="5"/>
                <c:pt idx="0">
                  <c:v>9.2850000000000001</c:v>
                </c:pt>
                <c:pt idx="1">
                  <c:v>10.32</c:v>
                </c:pt>
                <c:pt idx="2">
                  <c:v>6.6349999999999998</c:v>
                </c:pt>
                <c:pt idx="3">
                  <c:v>6.51</c:v>
                </c:pt>
                <c:pt idx="4">
                  <c:v>4.75</c:v>
                </c:pt>
              </c:numCache>
            </c:numRef>
          </c:val>
          <c:smooth val="0"/>
          <c:extLst>
            <c:ext xmlns:c16="http://schemas.microsoft.com/office/drawing/2014/chart" uri="{C3380CC4-5D6E-409C-BE32-E72D297353CC}">
              <c16:uniqueId val="{00000004-E258-48A1-BF8C-F6D266B51939}"/>
            </c:ext>
          </c:extLst>
        </c:ser>
        <c:ser>
          <c:idx val="1"/>
          <c:order val="1"/>
          <c:tx>
            <c:strRef>
              <c:f>Sheet1!$C$1</c:f>
              <c:strCache>
                <c:ptCount val="1"/>
                <c:pt idx="0">
                  <c:v>Consumer services</c:v>
                </c:pt>
              </c:strCache>
            </c:strRef>
          </c:tx>
          <c:spPr>
            <a:ln w="19050" cap="flat">
              <a:solidFill>
                <a:srgbClr val="B68757"/>
              </a:solidFill>
              <a:prstDash val="solid"/>
              <a:round/>
            </a:ln>
            <a:effectLst/>
          </c:spPr>
          <c:marker>
            <c:symbol val="square"/>
            <c:size val="5"/>
            <c:spPr>
              <a:solidFill>
                <a:srgbClr val="B68757"/>
              </a:solidFill>
              <a:ln w="11430" cap="flat">
                <a:solidFill>
                  <a:srgbClr val="FAF7F3"/>
                </a:solidFill>
                <a:prstDash val="solid"/>
                <a:round/>
              </a:ln>
              <a:effectLst/>
            </c:spPr>
          </c:marker>
          <c:dPt>
            <c:idx val="3"/>
            <c:bubble3D val="0"/>
            <c:spPr>
              <a:ln w="19050" cap="flat">
                <a:solidFill>
                  <a:srgbClr val="B68757"/>
                </a:solidFill>
                <a:prstDash val="dash"/>
                <a:round/>
              </a:ln>
            </c:spPr>
            <c:extLst>
              <c:ext xmlns:c16="http://schemas.microsoft.com/office/drawing/2014/chart" uri="{C3380CC4-5D6E-409C-BE32-E72D297353CC}">
                <c16:uniqueId val="{00000006-E258-48A1-BF8C-F6D266B51939}"/>
              </c:ext>
            </c:extLst>
          </c:dPt>
          <c:dPt>
            <c:idx val="4"/>
            <c:bubble3D val="0"/>
            <c:spPr>
              <a:ln w="19050" cap="flat">
                <a:solidFill>
                  <a:srgbClr val="B68757"/>
                </a:solidFill>
                <a:prstDash val="dash"/>
                <a:round/>
              </a:ln>
            </c:spPr>
            <c:extLst>
              <c:ext xmlns:c16="http://schemas.microsoft.com/office/drawing/2014/chart" uri="{C3380CC4-5D6E-409C-BE32-E72D297353CC}">
                <c16:uniqueId val="{00000008-E258-48A1-BF8C-F6D266B51939}"/>
              </c:ext>
            </c:extLst>
          </c:dPt>
          <c:cat>
            <c:strRef>
              <c:f>Sheet1!$A$2:$A$6</c:f>
              <c:strCache>
                <c:ptCount val="5"/>
                <c:pt idx="0">
                  <c:v>Two years ago</c:v>
                </c:pt>
                <c:pt idx="1">
                  <c:v>Prior year</c:v>
                </c:pt>
                <c:pt idx="2">
                  <c:v>Latest fiscal year</c:v>
                </c:pt>
                <c:pt idx="3">
                  <c:v>Current year est.</c:v>
                </c:pt>
                <c:pt idx="4">
                  <c:v>Next year est.</c:v>
                </c:pt>
              </c:strCache>
            </c:strRef>
          </c:cat>
          <c:val>
            <c:numRef>
              <c:f>Sheet1!$C$2:$C$6</c:f>
              <c:numCache>
                <c:formatCode>General</c:formatCode>
                <c:ptCount val="5"/>
                <c:pt idx="0">
                  <c:v>13.95</c:v>
                </c:pt>
                <c:pt idx="1">
                  <c:v>4.22</c:v>
                </c:pt>
                <c:pt idx="2">
                  <c:v>6.28</c:v>
                </c:pt>
                <c:pt idx="3">
                  <c:v>8.66</c:v>
                </c:pt>
                <c:pt idx="4">
                  <c:v>8.43</c:v>
                </c:pt>
              </c:numCache>
            </c:numRef>
          </c:val>
          <c:smooth val="0"/>
          <c:extLst>
            <c:ext xmlns:c16="http://schemas.microsoft.com/office/drawing/2014/chart" uri="{C3380CC4-5D6E-409C-BE32-E72D297353CC}">
              <c16:uniqueId val="{00000009-E258-48A1-BF8C-F6D266B51939}"/>
            </c:ext>
          </c:extLst>
        </c:ser>
        <c:ser>
          <c:idx val="2"/>
          <c:order val="2"/>
          <c:tx>
            <c:strRef>
              <c:f>Sheet1!$D$1</c:f>
              <c:strCache>
                <c:ptCount val="1"/>
                <c:pt idx="0">
                  <c:v>Retail</c:v>
                </c:pt>
              </c:strCache>
            </c:strRef>
          </c:tx>
          <c:spPr>
            <a:ln w="19050" cap="flat">
              <a:solidFill>
                <a:srgbClr val="8F8880"/>
              </a:solidFill>
              <a:prstDash val="solid"/>
              <a:round/>
            </a:ln>
            <a:effectLst/>
          </c:spPr>
          <c:marker>
            <c:symbol val="diamond"/>
            <c:size val="6"/>
            <c:spPr>
              <a:solidFill>
                <a:srgbClr val="8F8880"/>
              </a:solidFill>
              <a:ln w="11430" cap="flat">
                <a:solidFill>
                  <a:srgbClr val="FAF7F3"/>
                </a:solidFill>
                <a:prstDash val="solid"/>
                <a:round/>
              </a:ln>
              <a:effectLst/>
            </c:spPr>
          </c:marker>
          <c:dPt>
            <c:idx val="3"/>
            <c:bubble3D val="0"/>
            <c:spPr>
              <a:ln w="19050" cap="flat">
                <a:solidFill>
                  <a:srgbClr val="8F8880"/>
                </a:solidFill>
                <a:prstDash val="dash"/>
                <a:round/>
              </a:ln>
            </c:spPr>
            <c:extLst>
              <c:ext xmlns:c16="http://schemas.microsoft.com/office/drawing/2014/chart" uri="{C3380CC4-5D6E-409C-BE32-E72D297353CC}">
                <c16:uniqueId val="{0000000B-E258-48A1-BF8C-F6D266B51939}"/>
              </c:ext>
            </c:extLst>
          </c:dPt>
          <c:dPt>
            <c:idx val="4"/>
            <c:bubble3D val="0"/>
            <c:spPr>
              <a:ln w="19050" cap="flat">
                <a:solidFill>
                  <a:srgbClr val="8F8880"/>
                </a:solidFill>
                <a:prstDash val="dash"/>
                <a:round/>
              </a:ln>
            </c:spPr>
            <c:extLst>
              <c:ext xmlns:c16="http://schemas.microsoft.com/office/drawing/2014/chart" uri="{C3380CC4-5D6E-409C-BE32-E72D297353CC}">
                <c16:uniqueId val="{0000000D-E258-48A1-BF8C-F6D266B51939}"/>
              </c:ext>
            </c:extLst>
          </c:dPt>
          <c:cat>
            <c:strRef>
              <c:f>Sheet1!$A$2:$A$6</c:f>
              <c:strCache>
                <c:ptCount val="5"/>
                <c:pt idx="0">
                  <c:v>Two years ago</c:v>
                </c:pt>
                <c:pt idx="1">
                  <c:v>Prior year</c:v>
                </c:pt>
                <c:pt idx="2">
                  <c:v>Latest fiscal year</c:v>
                </c:pt>
                <c:pt idx="3">
                  <c:v>Current year est.</c:v>
                </c:pt>
                <c:pt idx="4">
                  <c:v>Next year est.</c:v>
                </c:pt>
              </c:strCache>
            </c:strRef>
          </c:cat>
          <c:val>
            <c:numRef>
              <c:f>Sheet1!$D$2:$D$6</c:f>
              <c:numCache>
                <c:formatCode>General</c:formatCode>
                <c:ptCount val="5"/>
                <c:pt idx="0">
                  <c:v>2.3550000000000004</c:v>
                </c:pt>
                <c:pt idx="1">
                  <c:v>3.605</c:v>
                </c:pt>
                <c:pt idx="2">
                  <c:v>4.5149999999999997</c:v>
                </c:pt>
                <c:pt idx="3">
                  <c:v>4.72</c:v>
                </c:pt>
                <c:pt idx="4">
                  <c:v>4.085</c:v>
                </c:pt>
              </c:numCache>
            </c:numRef>
          </c:val>
          <c:smooth val="0"/>
          <c:extLst>
            <c:ext xmlns:c16="http://schemas.microsoft.com/office/drawing/2014/chart" uri="{C3380CC4-5D6E-409C-BE32-E72D297353CC}">
              <c16:uniqueId val="{0000000E-E258-48A1-BF8C-F6D266B51939}"/>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1"/>
        <c:axPos val="b"/>
        <c:numFmt formatCode="General" sourceLinked="1"/>
        <c:majorTickMark val="out"/>
        <c:minorTickMark val="none"/>
        <c:tickLblPos val="low"/>
        <c:crossAx val="2094734552"/>
        <c:crosses val="autoZero"/>
        <c:auto val="1"/>
        <c:lblAlgn val="ctr"/>
        <c:lblOffset val="100"/>
        <c:noMultiLvlLbl val="1"/>
      </c:catAx>
      <c:valAx>
        <c:axId val="2094734552"/>
        <c:scaling>
          <c:orientation val="minMax"/>
          <c:max val="15.344999999999999"/>
          <c:min val="-1.395"/>
        </c:scaling>
        <c:delete val="1"/>
        <c:axPos val="l"/>
        <c:numFmt formatCode="General" sourceLinked="0"/>
        <c:majorTickMark val="out"/>
        <c:minorTickMark val="none"/>
        <c:tickLblPos val="nextTo"/>
        <c:crossAx val="2094734554"/>
        <c:crosses val="autoZero"/>
        <c:crossBetween val="between"/>
      </c:valAx>
      <c:spPr>
        <a:solidFill>
          <a:srgbClr val="FFFFFF">
            <a:alpha val="0"/>
          </a:srgbClr>
        </a:solid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
          <c:y val="0"/>
          <c:w val="1"/>
          <c:h val="1"/>
        </c:manualLayout>
      </c:layout>
      <c:lineChart>
        <c:grouping val="standard"/>
        <c:varyColors val="0"/>
        <c:ser>
          <c:idx val="0"/>
          <c:order val="0"/>
          <c:tx>
            <c:strRef>
              <c:f>Sheet1!$B$1</c:f>
              <c:strCache>
                <c:ptCount val="1"/>
                <c:pt idx="0">
                  <c:v>Retail and food services sales ($M)</c:v>
                </c:pt>
              </c:strCache>
            </c:strRef>
          </c:tx>
          <c:spPr>
            <a:ln w="17145" cap="flat">
              <a:solidFill>
                <a:srgbClr val="8C6239"/>
              </a:solidFill>
              <a:prstDash val="solid"/>
              <a:round/>
            </a:ln>
            <a:effectLst/>
          </c:spPr>
          <c:marker>
            <c:symbol val="none"/>
          </c:marker>
          <c:dPt>
            <c:idx val="67"/>
            <c:marker>
              <c:symbol val="circle"/>
              <c:size val="5"/>
              <c:spPr>
                <a:solidFill>
                  <a:srgbClr val="B68757"/>
                </a:solidFill>
                <a:ln>
                  <a:noFill/>
                </a:ln>
              </c:spPr>
            </c:marker>
            <c:bubble3D val="0"/>
            <c:extLst>
              <c:ext xmlns:c16="http://schemas.microsoft.com/office/drawing/2014/chart" uri="{C3380CC4-5D6E-409C-BE32-E72D297353CC}">
                <c16:uniqueId val="{00000000-336E-45AD-A24E-DB8A53C33644}"/>
              </c:ext>
            </c:extLst>
          </c:dPt>
          <c:cat>
            <c:strRef>
              <c:f>Sheet1!$A$2:$A$69</c:f>
              <c:strCache>
                <c:ptCount val="68"/>
                <c:pt idx="0">
                  <c:v>2021-01</c:v>
                </c:pt>
                <c:pt idx="1">
                  <c:v>2021-02</c:v>
                </c:pt>
                <c:pt idx="2">
                  <c:v>2021-03</c:v>
                </c:pt>
                <c:pt idx="3">
                  <c:v>2021-04</c:v>
                </c:pt>
                <c:pt idx="4">
                  <c:v>2021-05</c:v>
                </c:pt>
                <c:pt idx="5">
                  <c:v>2021-06</c:v>
                </c:pt>
                <c:pt idx="6">
                  <c:v>2021-07</c:v>
                </c:pt>
                <c:pt idx="7">
                  <c:v>2021-08</c:v>
                </c:pt>
                <c:pt idx="8">
                  <c:v>2021-09</c:v>
                </c:pt>
                <c:pt idx="9">
                  <c:v>2021-10</c:v>
                </c:pt>
                <c:pt idx="10">
                  <c:v>2021-11</c:v>
                </c:pt>
                <c:pt idx="11">
                  <c:v>2021-12</c:v>
                </c:pt>
                <c:pt idx="12">
                  <c:v>2022-01</c:v>
                </c:pt>
                <c:pt idx="13">
                  <c:v>2022-02</c:v>
                </c:pt>
                <c:pt idx="14">
                  <c:v>2022-03</c:v>
                </c:pt>
                <c:pt idx="15">
                  <c:v>2022-04</c:v>
                </c:pt>
                <c:pt idx="16">
                  <c:v>2022-05</c:v>
                </c:pt>
                <c:pt idx="17">
                  <c:v>2022-06</c:v>
                </c:pt>
                <c:pt idx="18">
                  <c:v>2022-07</c:v>
                </c:pt>
                <c:pt idx="19">
                  <c:v>2022-08</c:v>
                </c:pt>
                <c:pt idx="20">
                  <c:v>2022-09</c:v>
                </c:pt>
                <c:pt idx="21">
                  <c:v>2022-10</c:v>
                </c:pt>
                <c:pt idx="22">
                  <c:v>2022-11</c:v>
                </c:pt>
                <c:pt idx="23">
                  <c:v>2022-12</c:v>
                </c:pt>
                <c:pt idx="24">
                  <c:v>2023-01</c:v>
                </c:pt>
                <c:pt idx="25">
                  <c:v>2023-02</c:v>
                </c:pt>
                <c:pt idx="26">
                  <c:v>2023-03</c:v>
                </c:pt>
                <c:pt idx="27">
                  <c:v>2023-04</c:v>
                </c:pt>
                <c:pt idx="28">
                  <c:v>2023-05</c:v>
                </c:pt>
                <c:pt idx="29">
                  <c:v>2023-06</c:v>
                </c:pt>
                <c:pt idx="30">
                  <c:v>2023-07</c:v>
                </c:pt>
                <c:pt idx="31">
                  <c:v>2023-08</c:v>
                </c:pt>
                <c:pt idx="32">
                  <c:v>2023-09</c:v>
                </c:pt>
                <c:pt idx="33">
                  <c:v>2023-10</c:v>
                </c:pt>
                <c:pt idx="34">
                  <c:v>2023-11</c:v>
                </c:pt>
                <c:pt idx="35">
                  <c:v>2023-12</c:v>
                </c:pt>
                <c:pt idx="36">
                  <c:v>2024-01</c:v>
                </c:pt>
                <c:pt idx="37">
                  <c:v>2024-02</c:v>
                </c:pt>
                <c:pt idx="38">
                  <c:v>2024-03</c:v>
                </c:pt>
                <c:pt idx="39">
                  <c:v>2024-04</c:v>
                </c:pt>
                <c:pt idx="40">
                  <c:v>2024-05</c:v>
                </c:pt>
                <c:pt idx="41">
                  <c:v>2024-06</c:v>
                </c:pt>
                <c:pt idx="42">
                  <c:v>2024-07</c:v>
                </c:pt>
                <c:pt idx="43">
                  <c:v>2024-08</c:v>
                </c:pt>
                <c:pt idx="44">
                  <c:v>2024-09</c:v>
                </c:pt>
                <c:pt idx="45">
                  <c:v>2024-10</c:v>
                </c:pt>
                <c:pt idx="46">
                  <c:v>2024-11</c:v>
                </c:pt>
                <c:pt idx="47">
                  <c:v>2024-12</c:v>
                </c:pt>
                <c:pt idx="48">
                  <c:v>2025-01</c:v>
                </c:pt>
                <c:pt idx="49">
                  <c:v>2025-02</c:v>
                </c:pt>
                <c:pt idx="50">
                  <c:v>2025-03</c:v>
                </c:pt>
                <c:pt idx="51">
                  <c:v>2025-04</c:v>
                </c:pt>
                <c:pt idx="52">
                  <c:v>2025-05</c:v>
                </c:pt>
                <c:pt idx="53">
                  <c:v>2025-06</c:v>
                </c:pt>
                <c:pt idx="54">
                  <c:v>2025-07</c:v>
                </c:pt>
                <c:pt idx="55">
                  <c:v>2025-08</c:v>
                </c:pt>
                <c:pt idx="56">
                  <c:v>2025-09</c:v>
                </c:pt>
                <c:pt idx="57">
                  <c:v>2025-10</c:v>
                </c:pt>
                <c:pt idx="58">
                  <c:v>2025-11</c:v>
                </c:pt>
                <c:pt idx="59">
                  <c:v>2025-12</c:v>
                </c:pt>
                <c:pt idx="60">
                  <c:v>2026-01</c:v>
                </c:pt>
                <c:pt idx="61">
                  <c:v>2026-02</c:v>
                </c:pt>
                <c:pt idx="62">
                  <c:v>2026-03</c:v>
                </c:pt>
                <c:pt idx="63">
                  <c:v>2026-04</c:v>
                </c:pt>
                <c:pt idx="64">
                  <c:v>2026-05</c:v>
                </c:pt>
                <c:pt idx="65">
                  <c:v>2026-06</c:v>
                </c:pt>
                <c:pt idx="66">
                  <c:v>2026-07</c:v>
                </c:pt>
                <c:pt idx="67">
                  <c:v>2026-08</c:v>
                </c:pt>
              </c:strCache>
            </c:strRef>
          </c:cat>
          <c:val>
            <c:numRef>
              <c:f>Sheet1!$B$2:$B$69</c:f>
              <c:numCache>
                <c:formatCode>General</c:formatCode>
                <c:ptCount val="68"/>
                <c:pt idx="0">
                  <c:v>559230</c:v>
                </c:pt>
                <c:pt idx="1">
                  <c:v>544891</c:v>
                </c:pt>
                <c:pt idx="2">
                  <c:v>603581</c:v>
                </c:pt>
                <c:pt idx="3">
                  <c:v>608961</c:v>
                </c:pt>
                <c:pt idx="4">
                  <c:v>605282</c:v>
                </c:pt>
                <c:pt idx="5">
                  <c:v>611950</c:v>
                </c:pt>
                <c:pt idx="6">
                  <c:v>601817</c:v>
                </c:pt>
                <c:pt idx="7">
                  <c:v>605533</c:v>
                </c:pt>
                <c:pt idx="8">
                  <c:v>609671</c:v>
                </c:pt>
                <c:pt idx="9">
                  <c:v>618573</c:v>
                </c:pt>
                <c:pt idx="10">
                  <c:v>624874</c:v>
                </c:pt>
                <c:pt idx="11">
                  <c:v>619938</c:v>
                </c:pt>
                <c:pt idx="12">
                  <c:v>631509</c:v>
                </c:pt>
                <c:pt idx="13">
                  <c:v>638101</c:v>
                </c:pt>
                <c:pt idx="14">
                  <c:v>651027</c:v>
                </c:pt>
                <c:pt idx="15">
                  <c:v>660194</c:v>
                </c:pt>
                <c:pt idx="16">
                  <c:v>659847</c:v>
                </c:pt>
                <c:pt idx="17">
                  <c:v>666113</c:v>
                </c:pt>
                <c:pt idx="18">
                  <c:v>659550</c:v>
                </c:pt>
                <c:pt idx="19">
                  <c:v>663566</c:v>
                </c:pt>
                <c:pt idx="20">
                  <c:v>661854</c:v>
                </c:pt>
                <c:pt idx="21">
                  <c:v>668671</c:v>
                </c:pt>
                <c:pt idx="22">
                  <c:v>659458</c:v>
                </c:pt>
                <c:pt idx="23">
                  <c:v>651763</c:v>
                </c:pt>
                <c:pt idx="24">
                  <c:v>680253</c:v>
                </c:pt>
                <c:pt idx="25">
                  <c:v>672152</c:v>
                </c:pt>
                <c:pt idx="26">
                  <c:v>665071</c:v>
                </c:pt>
                <c:pt idx="27">
                  <c:v>670494</c:v>
                </c:pt>
                <c:pt idx="28">
                  <c:v>673902</c:v>
                </c:pt>
                <c:pt idx="29">
                  <c:v>677117</c:v>
                </c:pt>
                <c:pt idx="30">
                  <c:v>678424</c:v>
                </c:pt>
                <c:pt idx="31">
                  <c:v>684755</c:v>
                </c:pt>
                <c:pt idx="32">
                  <c:v>689403</c:v>
                </c:pt>
                <c:pt idx="33">
                  <c:v>686148</c:v>
                </c:pt>
                <c:pt idx="34">
                  <c:v>685328</c:v>
                </c:pt>
                <c:pt idx="35">
                  <c:v>686277</c:v>
                </c:pt>
                <c:pt idx="36">
                  <c:v>680456</c:v>
                </c:pt>
                <c:pt idx="37">
                  <c:v>685280</c:v>
                </c:pt>
                <c:pt idx="38">
                  <c:v>687641</c:v>
                </c:pt>
                <c:pt idx="39">
                  <c:v>687602</c:v>
                </c:pt>
                <c:pt idx="40">
                  <c:v>692774</c:v>
                </c:pt>
                <c:pt idx="41">
                  <c:v>692449</c:v>
                </c:pt>
                <c:pt idx="42">
                  <c:v>698835</c:v>
                </c:pt>
                <c:pt idx="43">
                  <c:v>697039</c:v>
                </c:pt>
                <c:pt idx="44">
                  <c:v>703055</c:v>
                </c:pt>
                <c:pt idx="45">
                  <c:v>708290</c:v>
                </c:pt>
                <c:pt idx="46">
                  <c:v>711853</c:v>
                </c:pt>
                <c:pt idx="47">
                  <c:v>717265</c:v>
                </c:pt>
                <c:pt idx="48">
                  <c:v>711260</c:v>
                </c:pt>
                <c:pt idx="49">
                  <c:v>711575</c:v>
                </c:pt>
                <c:pt idx="50">
                  <c:v>723339</c:v>
                </c:pt>
                <c:pt idx="51">
                  <c:v>722442</c:v>
                </c:pt>
                <c:pt idx="52">
                  <c:v>714513</c:v>
                </c:pt>
                <c:pt idx="53">
                  <c:v>719484</c:v>
                </c:pt>
                <c:pt idx="54">
                  <c:v>727837</c:v>
                </c:pt>
                <c:pt idx="55">
                  <c:v>730037</c:v>
                </c:pt>
                <c:pt idx="56">
                  <c:v>732192</c:v>
                </c:pt>
                <c:pt idx="57">
                  <c:v>731051</c:v>
                </c:pt>
                <c:pt idx="58">
                  <c:v>734718</c:v>
                </c:pt>
                <c:pt idx="59">
                  <c:v>734717</c:v>
                </c:pt>
                <c:pt idx="60">
                  <c:v>734503</c:v>
                </c:pt>
                <c:pt idx="61">
                  <c:v>741278</c:v>
                </c:pt>
                <c:pt idx="62">
                  <c:v>754013</c:v>
                </c:pt>
                <c:pt idx="63">
                  <c:v>759097</c:v>
                </c:pt>
                <c:pt idx="64">
                  <c:v>766192</c:v>
                </c:pt>
                <c:pt idx="65">
                  <c:v>768587</c:v>
                </c:pt>
                <c:pt idx="66">
                  <c:v>764462</c:v>
                </c:pt>
                <c:pt idx="67">
                  <c:v>773947</c:v>
                </c:pt>
              </c:numCache>
            </c:numRef>
          </c:val>
          <c:smooth val="0"/>
          <c:extLst>
            <c:ext xmlns:c16="http://schemas.microsoft.com/office/drawing/2014/chart" uri="{C3380CC4-5D6E-409C-BE32-E72D297353CC}">
              <c16:uniqueId val="{00000001-336E-45AD-A24E-DB8A53C33644}"/>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1"/>
        <c:axPos val="b"/>
        <c:numFmt formatCode="General" sourceLinked="1"/>
        <c:majorTickMark val="out"/>
        <c:minorTickMark val="none"/>
        <c:tickLblPos val="low"/>
        <c:crossAx val="2094734552"/>
        <c:crosses val="autoZero"/>
        <c:auto val="1"/>
        <c:lblAlgn val="ctr"/>
        <c:lblOffset val="100"/>
        <c:noMultiLvlLbl val="1"/>
      </c:catAx>
      <c:valAx>
        <c:axId val="2094734552"/>
        <c:scaling>
          <c:orientation val="minMax"/>
          <c:max val="792271.48"/>
          <c:min val="526566.52"/>
        </c:scaling>
        <c:delete val="1"/>
        <c:axPos val="l"/>
        <c:numFmt formatCode="General" sourceLinked="0"/>
        <c:majorTickMark val="out"/>
        <c:minorTickMark val="none"/>
        <c:tickLblPos val="nextTo"/>
        <c:crossAx val="2094734554"/>
        <c:crosses val="autoZero"/>
        <c:crossBetween val="between"/>
      </c:valAx>
      <c:spPr>
        <a:solidFill>
          <a:srgbClr val="FFFFFF">
            <a:alpha val="0"/>
          </a:srgbClr>
        </a:solid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
          <c:y val="0"/>
          <c:w val="1"/>
          <c:h val="1"/>
        </c:manualLayout>
      </c:layout>
      <c:lineChart>
        <c:grouping val="standard"/>
        <c:varyColors val="0"/>
        <c:ser>
          <c:idx val="0"/>
          <c:order val="0"/>
          <c:tx>
            <c:strRef>
              <c:f>Sheet1!$B$1</c:f>
              <c:strCache>
                <c:ptCount val="1"/>
                <c:pt idx="0">
                  <c:v>Food services and drinking places sales ($M)</c:v>
                </c:pt>
              </c:strCache>
            </c:strRef>
          </c:tx>
          <c:spPr>
            <a:ln w="17145" cap="flat">
              <a:solidFill>
                <a:srgbClr val="8C6239"/>
              </a:solidFill>
              <a:prstDash val="solid"/>
              <a:round/>
            </a:ln>
            <a:effectLst/>
          </c:spPr>
          <c:marker>
            <c:symbol val="none"/>
          </c:marker>
          <c:dPt>
            <c:idx val="67"/>
            <c:marker>
              <c:symbol val="circle"/>
              <c:size val="5"/>
              <c:spPr>
                <a:solidFill>
                  <a:srgbClr val="B68757"/>
                </a:solidFill>
                <a:ln>
                  <a:noFill/>
                </a:ln>
              </c:spPr>
            </c:marker>
            <c:bubble3D val="0"/>
            <c:extLst>
              <c:ext xmlns:c16="http://schemas.microsoft.com/office/drawing/2014/chart" uri="{C3380CC4-5D6E-409C-BE32-E72D297353CC}">
                <c16:uniqueId val="{00000000-B496-446F-AFEA-793F9FD71850}"/>
              </c:ext>
            </c:extLst>
          </c:dPt>
          <c:cat>
            <c:strRef>
              <c:f>Sheet1!$A$2:$A$69</c:f>
              <c:strCache>
                <c:ptCount val="68"/>
                <c:pt idx="0">
                  <c:v>2021-01</c:v>
                </c:pt>
                <c:pt idx="1">
                  <c:v>2021-02</c:v>
                </c:pt>
                <c:pt idx="2">
                  <c:v>2021-03</c:v>
                </c:pt>
                <c:pt idx="3">
                  <c:v>2021-04</c:v>
                </c:pt>
                <c:pt idx="4">
                  <c:v>2021-05</c:v>
                </c:pt>
                <c:pt idx="5">
                  <c:v>2021-06</c:v>
                </c:pt>
                <c:pt idx="6">
                  <c:v>2021-07</c:v>
                </c:pt>
                <c:pt idx="7">
                  <c:v>2021-08</c:v>
                </c:pt>
                <c:pt idx="8">
                  <c:v>2021-09</c:v>
                </c:pt>
                <c:pt idx="9">
                  <c:v>2021-10</c:v>
                </c:pt>
                <c:pt idx="10">
                  <c:v>2021-11</c:v>
                </c:pt>
                <c:pt idx="11">
                  <c:v>2021-12</c:v>
                </c:pt>
                <c:pt idx="12">
                  <c:v>2022-01</c:v>
                </c:pt>
                <c:pt idx="13">
                  <c:v>2022-02</c:v>
                </c:pt>
                <c:pt idx="14">
                  <c:v>2022-03</c:v>
                </c:pt>
                <c:pt idx="15">
                  <c:v>2022-04</c:v>
                </c:pt>
                <c:pt idx="16">
                  <c:v>2022-05</c:v>
                </c:pt>
                <c:pt idx="17">
                  <c:v>2022-06</c:v>
                </c:pt>
                <c:pt idx="18">
                  <c:v>2022-07</c:v>
                </c:pt>
                <c:pt idx="19">
                  <c:v>2022-08</c:v>
                </c:pt>
                <c:pt idx="20">
                  <c:v>2022-09</c:v>
                </c:pt>
                <c:pt idx="21">
                  <c:v>2022-10</c:v>
                </c:pt>
                <c:pt idx="22">
                  <c:v>2022-11</c:v>
                </c:pt>
                <c:pt idx="23">
                  <c:v>2022-12</c:v>
                </c:pt>
                <c:pt idx="24">
                  <c:v>2023-01</c:v>
                </c:pt>
                <c:pt idx="25">
                  <c:v>2023-02</c:v>
                </c:pt>
                <c:pt idx="26">
                  <c:v>2023-03</c:v>
                </c:pt>
                <c:pt idx="27">
                  <c:v>2023-04</c:v>
                </c:pt>
                <c:pt idx="28">
                  <c:v>2023-05</c:v>
                </c:pt>
                <c:pt idx="29">
                  <c:v>2023-06</c:v>
                </c:pt>
                <c:pt idx="30">
                  <c:v>2023-07</c:v>
                </c:pt>
                <c:pt idx="31">
                  <c:v>2023-08</c:v>
                </c:pt>
                <c:pt idx="32">
                  <c:v>2023-09</c:v>
                </c:pt>
                <c:pt idx="33">
                  <c:v>2023-10</c:v>
                </c:pt>
                <c:pt idx="34">
                  <c:v>2023-11</c:v>
                </c:pt>
                <c:pt idx="35">
                  <c:v>2023-12</c:v>
                </c:pt>
                <c:pt idx="36">
                  <c:v>2024-01</c:v>
                </c:pt>
                <c:pt idx="37">
                  <c:v>2024-02</c:v>
                </c:pt>
                <c:pt idx="38">
                  <c:v>2024-03</c:v>
                </c:pt>
                <c:pt idx="39">
                  <c:v>2024-04</c:v>
                </c:pt>
                <c:pt idx="40">
                  <c:v>2024-05</c:v>
                </c:pt>
                <c:pt idx="41">
                  <c:v>2024-06</c:v>
                </c:pt>
                <c:pt idx="42">
                  <c:v>2024-07</c:v>
                </c:pt>
                <c:pt idx="43">
                  <c:v>2024-08</c:v>
                </c:pt>
                <c:pt idx="44">
                  <c:v>2024-09</c:v>
                </c:pt>
                <c:pt idx="45">
                  <c:v>2024-10</c:v>
                </c:pt>
                <c:pt idx="46">
                  <c:v>2024-11</c:v>
                </c:pt>
                <c:pt idx="47">
                  <c:v>2024-12</c:v>
                </c:pt>
                <c:pt idx="48">
                  <c:v>2025-01</c:v>
                </c:pt>
                <c:pt idx="49">
                  <c:v>2025-02</c:v>
                </c:pt>
                <c:pt idx="50">
                  <c:v>2025-03</c:v>
                </c:pt>
                <c:pt idx="51">
                  <c:v>2025-04</c:v>
                </c:pt>
                <c:pt idx="52">
                  <c:v>2025-05</c:v>
                </c:pt>
                <c:pt idx="53">
                  <c:v>2025-06</c:v>
                </c:pt>
                <c:pt idx="54">
                  <c:v>2025-07</c:v>
                </c:pt>
                <c:pt idx="55">
                  <c:v>2025-08</c:v>
                </c:pt>
                <c:pt idx="56">
                  <c:v>2025-09</c:v>
                </c:pt>
                <c:pt idx="57">
                  <c:v>2025-10</c:v>
                </c:pt>
                <c:pt idx="58">
                  <c:v>2025-11</c:v>
                </c:pt>
                <c:pt idx="59">
                  <c:v>2025-12</c:v>
                </c:pt>
                <c:pt idx="60">
                  <c:v>2026-01</c:v>
                </c:pt>
                <c:pt idx="61">
                  <c:v>2026-02</c:v>
                </c:pt>
                <c:pt idx="62">
                  <c:v>2026-03</c:v>
                </c:pt>
                <c:pt idx="63">
                  <c:v>2026-04</c:v>
                </c:pt>
                <c:pt idx="64">
                  <c:v>2026-05</c:v>
                </c:pt>
                <c:pt idx="65">
                  <c:v>2026-06</c:v>
                </c:pt>
                <c:pt idx="66">
                  <c:v>2026-07</c:v>
                </c:pt>
                <c:pt idx="67">
                  <c:v>2026-08</c:v>
                </c:pt>
              </c:strCache>
            </c:strRef>
          </c:cat>
          <c:val>
            <c:numRef>
              <c:f>Sheet1!$B$2:$B$69</c:f>
              <c:numCache>
                <c:formatCode>General</c:formatCode>
                <c:ptCount val="68"/>
                <c:pt idx="0">
                  <c:v>57626</c:v>
                </c:pt>
                <c:pt idx="1">
                  <c:v>56086</c:v>
                </c:pt>
                <c:pt idx="2">
                  <c:v>63974</c:v>
                </c:pt>
                <c:pt idx="3">
                  <c:v>66762</c:v>
                </c:pt>
                <c:pt idx="4">
                  <c:v>68693</c:v>
                </c:pt>
                <c:pt idx="5">
                  <c:v>71798</c:v>
                </c:pt>
                <c:pt idx="6">
                  <c:v>73217</c:v>
                </c:pt>
                <c:pt idx="7">
                  <c:v>73056</c:v>
                </c:pt>
                <c:pt idx="8">
                  <c:v>73020</c:v>
                </c:pt>
                <c:pt idx="9">
                  <c:v>73212</c:v>
                </c:pt>
                <c:pt idx="10">
                  <c:v>73792</c:v>
                </c:pt>
                <c:pt idx="11">
                  <c:v>72661</c:v>
                </c:pt>
                <c:pt idx="12">
                  <c:v>71252</c:v>
                </c:pt>
                <c:pt idx="13">
                  <c:v>74324</c:v>
                </c:pt>
                <c:pt idx="14">
                  <c:v>76542</c:v>
                </c:pt>
                <c:pt idx="15">
                  <c:v>79251</c:v>
                </c:pt>
                <c:pt idx="16">
                  <c:v>80003</c:v>
                </c:pt>
                <c:pt idx="17">
                  <c:v>80557</c:v>
                </c:pt>
                <c:pt idx="18">
                  <c:v>80283</c:v>
                </c:pt>
                <c:pt idx="19">
                  <c:v>82370</c:v>
                </c:pt>
                <c:pt idx="20">
                  <c:v>82408</c:v>
                </c:pt>
                <c:pt idx="21">
                  <c:v>83665</c:v>
                </c:pt>
                <c:pt idx="22">
                  <c:v>83102</c:v>
                </c:pt>
                <c:pt idx="23">
                  <c:v>82644</c:v>
                </c:pt>
                <c:pt idx="24">
                  <c:v>88289</c:v>
                </c:pt>
                <c:pt idx="25">
                  <c:v>85987</c:v>
                </c:pt>
                <c:pt idx="26">
                  <c:v>86259</c:v>
                </c:pt>
                <c:pt idx="27">
                  <c:v>86620</c:v>
                </c:pt>
                <c:pt idx="28">
                  <c:v>87616</c:v>
                </c:pt>
                <c:pt idx="29">
                  <c:v>88447</c:v>
                </c:pt>
                <c:pt idx="30">
                  <c:v>89167</c:v>
                </c:pt>
                <c:pt idx="31">
                  <c:v>89564</c:v>
                </c:pt>
                <c:pt idx="32">
                  <c:v>90447</c:v>
                </c:pt>
                <c:pt idx="33">
                  <c:v>90631</c:v>
                </c:pt>
                <c:pt idx="34">
                  <c:v>91761</c:v>
                </c:pt>
                <c:pt idx="35">
                  <c:v>92021</c:v>
                </c:pt>
                <c:pt idx="36">
                  <c:v>91512</c:v>
                </c:pt>
                <c:pt idx="37">
                  <c:v>92074</c:v>
                </c:pt>
                <c:pt idx="38">
                  <c:v>91672</c:v>
                </c:pt>
                <c:pt idx="39">
                  <c:v>91926</c:v>
                </c:pt>
                <c:pt idx="40">
                  <c:v>92402</c:v>
                </c:pt>
                <c:pt idx="41">
                  <c:v>92470</c:v>
                </c:pt>
                <c:pt idx="42">
                  <c:v>93021</c:v>
                </c:pt>
                <c:pt idx="43">
                  <c:v>93438</c:v>
                </c:pt>
                <c:pt idx="44">
                  <c:v>94281</c:v>
                </c:pt>
                <c:pt idx="45">
                  <c:v>95518</c:v>
                </c:pt>
                <c:pt idx="46">
                  <c:v>95509</c:v>
                </c:pt>
                <c:pt idx="47">
                  <c:v>95552</c:v>
                </c:pt>
                <c:pt idx="48">
                  <c:v>96115</c:v>
                </c:pt>
                <c:pt idx="49">
                  <c:v>94939</c:v>
                </c:pt>
                <c:pt idx="50">
                  <c:v>97919</c:v>
                </c:pt>
                <c:pt idx="51">
                  <c:v>98170</c:v>
                </c:pt>
                <c:pt idx="52">
                  <c:v>97973</c:v>
                </c:pt>
                <c:pt idx="53">
                  <c:v>98693</c:v>
                </c:pt>
                <c:pt idx="54">
                  <c:v>98691</c:v>
                </c:pt>
                <c:pt idx="55">
                  <c:v>99267</c:v>
                </c:pt>
                <c:pt idx="56">
                  <c:v>99797</c:v>
                </c:pt>
                <c:pt idx="57">
                  <c:v>99705</c:v>
                </c:pt>
                <c:pt idx="58">
                  <c:v>100241</c:v>
                </c:pt>
                <c:pt idx="59">
                  <c:v>99887</c:v>
                </c:pt>
                <c:pt idx="60">
                  <c:v>99554</c:v>
                </c:pt>
                <c:pt idx="61">
                  <c:v>100240</c:v>
                </c:pt>
                <c:pt idx="62">
                  <c:v>100241</c:v>
                </c:pt>
                <c:pt idx="63">
                  <c:v>101267</c:v>
                </c:pt>
                <c:pt idx="64">
                  <c:v>102588</c:v>
                </c:pt>
                <c:pt idx="65">
                  <c:v>103340</c:v>
                </c:pt>
                <c:pt idx="66">
                  <c:v>103824</c:v>
                </c:pt>
                <c:pt idx="67">
                  <c:v>105070</c:v>
                </c:pt>
              </c:numCache>
            </c:numRef>
          </c:val>
          <c:smooth val="0"/>
          <c:extLst>
            <c:ext xmlns:c16="http://schemas.microsoft.com/office/drawing/2014/chart" uri="{C3380CC4-5D6E-409C-BE32-E72D297353CC}">
              <c16:uniqueId val="{00000001-B496-446F-AFEA-793F9FD71850}"/>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1"/>
        <c:axPos val="b"/>
        <c:numFmt formatCode="General" sourceLinked="1"/>
        <c:majorTickMark val="out"/>
        <c:minorTickMark val="none"/>
        <c:tickLblPos val="low"/>
        <c:crossAx val="2094734552"/>
        <c:crosses val="autoZero"/>
        <c:auto val="1"/>
        <c:lblAlgn val="ctr"/>
        <c:lblOffset val="100"/>
        <c:noMultiLvlLbl val="1"/>
      </c:catAx>
      <c:valAx>
        <c:axId val="2094734552"/>
        <c:scaling>
          <c:orientation val="minMax"/>
          <c:max val="108988.72"/>
          <c:min val="52167.28"/>
        </c:scaling>
        <c:delete val="1"/>
        <c:axPos val="l"/>
        <c:numFmt formatCode="General" sourceLinked="0"/>
        <c:majorTickMark val="out"/>
        <c:minorTickMark val="none"/>
        <c:tickLblPos val="nextTo"/>
        <c:crossAx val="2094734554"/>
        <c:crosses val="autoZero"/>
        <c:crossBetween val="between"/>
      </c:valAx>
      <c:spPr>
        <a:solidFill>
          <a:srgbClr val="FFFFFF">
            <a:alpha val="0"/>
          </a:srgbClr>
        </a:solidFill>
        <a:ln>
          <a:noFill/>
        </a:ln>
        <a:effectLst/>
      </c:spPr>
    </c:plotArea>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
          <c:y val="0"/>
          <c:w val="1"/>
          <c:h val="1"/>
        </c:manualLayout>
      </c:layout>
      <c:lineChart>
        <c:grouping val="standard"/>
        <c:varyColors val="0"/>
        <c:ser>
          <c:idx val="0"/>
          <c:order val="0"/>
          <c:tx>
            <c:strRef>
              <c:f>Sheet1!$B$1</c:f>
              <c:strCache>
                <c:ptCount val="1"/>
                <c:pt idx="0">
                  <c:v>E-commerce share of retail sales (%)</c:v>
                </c:pt>
              </c:strCache>
            </c:strRef>
          </c:tx>
          <c:spPr>
            <a:ln w="17145" cap="flat">
              <a:solidFill>
                <a:srgbClr val="8C6239"/>
              </a:solidFill>
              <a:prstDash val="solid"/>
              <a:round/>
            </a:ln>
            <a:effectLst/>
          </c:spPr>
          <c:marker>
            <c:symbol val="none"/>
          </c:marker>
          <c:dPt>
            <c:idx val="21"/>
            <c:marker>
              <c:symbol val="circle"/>
              <c:size val="5"/>
              <c:spPr>
                <a:solidFill>
                  <a:srgbClr val="B68757"/>
                </a:solidFill>
                <a:ln>
                  <a:noFill/>
                </a:ln>
              </c:spPr>
            </c:marker>
            <c:bubble3D val="0"/>
            <c:extLst>
              <c:ext xmlns:c16="http://schemas.microsoft.com/office/drawing/2014/chart" uri="{C3380CC4-5D6E-409C-BE32-E72D297353CC}">
                <c16:uniqueId val="{00000000-BE32-4619-9290-D5A2D92E24B3}"/>
              </c:ext>
            </c:extLst>
          </c:dPt>
          <c:cat>
            <c:strRef>
              <c:f>Sheet1!$A$2:$A$23</c:f>
              <c:strCache>
                <c:ptCount val="22"/>
                <c:pt idx="0">
                  <c:v>2021-01</c:v>
                </c:pt>
                <c:pt idx="1">
                  <c:v>2021-04</c:v>
                </c:pt>
                <c:pt idx="2">
                  <c:v>2021-07</c:v>
                </c:pt>
                <c:pt idx="3">
                  <c:v>2021-10</c:v>
                </c:pt>
                <c:pt idx="4">
                  <c:v>2022-01</c:v>
                </c:pt>
                <c:pt idx="5">
                  <c:v>2022-04</c:v>
                </c:pt>
                <c:pt idx="6">
                  <c:v>2022-07</c:v>
                </c:pt>
                <c:pt idx="7">
                  <c:v>2022-10</c:v>
                </c:pt>
                <c:pt idx="8">
                  <c:v>2023-01</c:v>
                </c:pt>
                <c:pt idx="9">
                  <c:v>2023-04</c:v>
                </c:pt>
                <c:pt idx="10">
                  <c:v>2023-07</c:v>
                </c:pt>
                <c:pt idx="11">
                  <c:v>2023-10</c:v>
                </c:pt>
                <c:pt idx="12">
                  <c:v>2024-01</c:v>
                </c:pt>
                <c:pt idx="13">
                  <c:v>2024-04</c:v>
                </c:pt>
                <c:pt idx="14">
                  <c:v>2024-07</c:v>
                </c:pt>
                <c:pt idx="15">
                  <c:v>2024-10</c:v>
                </c:pt>
                <c:pt idx="16">
                  <c:v>2025-01</c:v>
                </c:pt>
                <c:pt idx="17">
                  <c:v>2025-04</c:v>
                </c:pt>
                <c:pt idx="18">
                  <c:v>2025-07</c:v>
                </c:pt>
                <c:pt idx="19">
                  <c:v>2025-10</c:v>
                </c:pt>
                <c:pt idx="20">
                  <c:v>2026-01</c:v>
                </c:pt>
                <c:pt idx="21">
                  <c:v>2026-04</c:v>
                </c:pt>
              </c:strCache>
            </c:strRef>
          </c:cat>
          <c:val>
            <c:numRef>
              <c:f>Sheet1!$B$2:$B$23</c:f>
              <c:numCache>
                <c:formatCode>General</c:formatCode>
                <c:ptCount val="22"/>
                <c:pt idx="0">
                  <c:v>14.9</c:v>
                </c:pt>
                <c:pt idx="1">
                  <c:v>14.6</c:v>
                </c:pt>
                <c:pt idx="2">
                  <c:v>14.5</c:v>
                </c:pt>
                <c:pt idx="3">
                  <c:v>14.6</c:v>
                </c:pt>
                <c:pt idx="4">
                  <c:v>14.4</c:v>
                </c:pt>
                <c:pt idx="5">
                  <c:v>14.2</c:v>
                </c:pt>
                <c:pt idx="6">
                  <c:v>14.5</c:v>
                </c:pt>
                <c:pt idx="7">
                  <c:v>14.6</c:v>
                </c:pt>
                <c:pt idx="8">
                  <c:v>15</c:v>
                </c:pt>
                <c:pt idx="9">
                  <c:v>15.3</c:v>
                </c:pt>
                <c:pt idx="10">
                  <c:v>15.4</c:v>
                </c:pt>
                <c:pt idx="11">
                  <c:v>15.5</c:v>
                </c:pt>
                <c:pt idx="12">
                  <c:v>15.9</c:v>
                </c:pt>
                <c:pt idx="13">
                  <c:v>16.100000000000001</c:v>
                </c:pt>
                <c:pt idx="14">
                  <c:v>16.2</c:v>
                </c:pt>
                <c:pt idx="15">
                  <c:v>16.2</c:v>
                </c:pt>
                <c:pt idx="16">
                  <c:v>16</c:v>
                </c:pt>
                <c:pt idx="17">
                  <c:v>16.3</c:v>
                </c:pt>
                <c:pt idx="18">
                  <c:v>16.399999999999999</c:v>
                </c:pt>
                <c:pt idx="19">
                  <c:v>16.7</c:v>
                </c:pt>
                <c:pt idx="20">
                  <c:v>17</c:v>
                </c:pt>
                <c:pt idx="21">
                  <c:v>17.100000000000001</c:v>
                </c:pt>
              </c:numCache>
            </c:numRef>
          </c:val>
          <c:smooth val="0"/>
          <c:extLst>
            <c:ext xmlns:c16="http://schemas.microsoft.com/office/drawing/2014/chart" uri="{C3380CC4-5D6E-409C-BE32-E72D297353CC}">
              <c16:uniqueId val="{00000001-BE32-4619-9290-D5A2D92E24B3}"/>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1"/>
        <c:axPos val="b"/>
        <c:numFmt formatCode="General" sourceLinked="1"/>
        <c:majorTickMark val="out"/>
        <c:minorTickMark val="none"/>
        <c:tickLblPos val="low"/>
        <c:crossAx val="2094734552"/>
        <c:crosses val="autoZero"/>
        <c:auto val="1"/>
        <c:lblAlgn val="ctr"/>
        <c:lblOffset val="100"/>
        <c:noMultiLvlLbl val="1"/>
      </c:catAx>
      <c:valAx>
        <c:axId val="2094734552"/>
        <c:scaling>
          <c:orientation val="minMax"/>
          <c:max val="17.332000000000001"/>
          <c:min val="13.968"/>
        </c:scaling>
        <c:delete val="1"/>
        <c:axPos val="l"/>
        <c:numFmt formatCode="General" sourceLinked="0"/>
        <c:majorTickMark val="out"/>
        <c:minorTickMark val="none"/>
        <c:tickLblPos val="nextTo"/>
        <c:crossAx val="2094734554"/>
        <c:crosses val="autoZero"/>
        <c:crossBetween val="between"/>
      </c:valAx>
      <c:spPr>
        <a:solidFill>
          <a:srgbClr val="FFFFFF">
            <a:alpha val="0"/>
          </a:srgbClr>
        </a:solidFill>
        <a:ln>
          <a:noFill/>
        </a:ln>
        <a:effectLst/>
      </c:spPr>
    </c:plotArea>
    <c:plotVisOnly val="1"/>
    <c:dispBlanksAs val="span"/>
    <c:showDLblsOverMax val="1"/>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
          <c:y val="0"/>
          <c:w val="1"/>
          <c:h val="1"/>
        </c:manualLayout>
      </c:layout>
      <c:lineChart>
        <c:grouping val="standard"/>
        <c:varyColors val="0"/>
        <c:ser>
          <c:idx val="0"/>
          <c:order val="0"/>
          <c:tx>
            <c:strRef>
              <c:f>Sheet1!$B$1</c:f>
              <c:strCache>
                <c:ptCount val="1"/>
                <c:pt idx="0">
                  <c:v>Consumer sentiment</c:v>
                </c:pt>
              </c:strCache>
            </c:strRef>
          </c:tx>
          <c:spPr>
            <a:ln w="17145" cap="flat">
              <a:solidFill>
                <a:srgbClr val="8C6239"/>
              </a:solidFill>
              <a:prstDash val="solid"/>
              <a:round/>
            </a:ln>
            <a:effectLst/>
          </c:spPr>
          <c:marker>
            <c:symbol val="none"/>
          </c:marker>
          <c:dPt>
            <c:idx val="68"/>
            <c:marker>
              <c:symbol val="circle"/>
              <c:size val="5"/>
              <c:spPr>
                <a:solidFill>
                  <a:srgbClr val="B68757"/>
                </a:solidFill>
                <a:ln>
                  <a:noFill/>
                </a:ln>
              </c:spPr>
            </c:marker>
            <c:bubble3D val="0"/>
            <c:extLst>
              <c:ext xmlns:c16="http://schemas.microsoft.com/office/drawing/2014/chart" uri="{C3380CC4-5D6E-409C-BE32-E72D297353CC}">
                <c16:uniqueId val="{00000000-8BBB-4DE6-9F13-C0539A7E7A04}"/>
              </c:ext>
            </c:extLst>
          </c:dPt>
          <c:cat>
            <c:strRef>
              <c:f>Sheet1!$A$2:$A$70</c:f>
              <c:strCache>
                <c:ptCount val="69"/>
                <c:pt idx="0">
                  <c:v>2021-01</c:v>
                </c:pt>
                <c:pt idx="1">
                  <c:v>2021-02</c:v>
                </c:pt>
                <c:pt idx="2">
                  <c:v>2021-03</c:v>
                </c:pt>
                <c:pt idx="3">
                  <c:v>2021-04</c:v>
                </c:pt>
                <c:pt idx="4">
                  <c:v>2021-05</c:v>
                </c:pt>
                <c:pt idx="5">
                  <c:v>2021-06</c:v>
                </c:pt>
                <c:pt idx="6">
                  <c:v>2021-07</c:v>
                </c:pt>
                <c:pt idx="7">
                  <c:v>2021-08</c:v>
                </c:pt>
                <c:pt idx="8">
                  <c:v>2021-09</c:v>
                </c:pt>
                <c:pt idx="9">
                  <c:v>2021-10</c:v>
                </c:pt>
                <c:pt idx="10">
                  <c:v>2021-11</c:v>
                </c:pt>
                <c:pt idx="11">
                  <c:v>2021-12</c:v>
                </c:pt>
                <c:pt idx="12">
                  <c:v>2022-01</c:v>
                </c:pt>
                <c:pt idx="13">
                  <c:v>2022-02</c:v>
                </c:pt>
                <c:pt idx="14">
                  <c:v>2022-03</c:v>
                </c:pt>
                <c:pt idx="15">
                  <c:v>2022-04</c:v>
                </c:pt>
                <c:pt idx="16">
                  <c:v>2022-05</c:v>
                </c:pt>
                <c:pt idx="17">
                  <c:v>2022-06</c:v>
                </c:pt>
                <c:pt idx="18">
                  <c:v>2022-07</c:v>
                </c:pt>
                <c:pt idx="19">
                  <c:v>2022-08</c:v>
                </c:pt>
                <c:pt idx="20">
                  <c:v>2022-09</c:v>
                </c:pt>
                <c:pt idx="21">
                  <c:v>2022-10</c:v>
                </c:pt>
                <c:pt idx="22">
                  <c:v>2022-11</c:v>
                </c:pt>
                <c:pt idx="23">
                  <c:v>2022-12</c:v>
                </c:pt>
                <c:pt idx="24">
                  <c:v>2023-01</c:v>
                </c:pt>
                <c:pt idx="25">
                  <c:v>2023-02</c:v>
                </c:pt>
                <c:pt idx="26">
                  <c:v>2023-03</c:v>
                </c:pt>
                <c:pt idx="27">
                  <c:v>2023-04</c:v>
                </c:pt>
                <c:pt idx="28">
                  <c:v>2023-05</c:v>
                </c:pt>
                <c:pt idx="29">
                  <c:v>2023-06</c:v>
                </c:pt>
                <c:pt idx="30">
                  <c:v>2023-07</c:v>
                </c:pt>
                <c:pt idx="31">
                  <c:v>2023-08</c:v>
                </c:pt>
                <c:pt idx="32">
                  <c:v>2023-09</c:v>
                </c:pt>
                <c:pt idx="33">
                  <c:v>2023-10</c:v>
                </c:pt>
                <c:pt idx="34">
                  <c:v>2023-11</c:v>
                </c:pt>
                <c:pt idx="35">
                  <c:v>2023-12</c:v>
                </c:pt>
                <c:pt idx="36">
                  <c:v>2024-01</c:v>
                </c:pt>
                <c:pt idx="37">
                  <c:v>2024-02</c:v>
                </c:pt>
                <c:pt idx="38">
                  <c:v>2024-03</c:v>
                </c:pt>
                <c:pt idx="39">
                  <c:v>2024-04</c:v>
                </c:pt>
                <c:pt idx="40">
                  <c:v>2024-05</c:v>
                </c:pt>
                <c:pt idx="41">
                  <c:v>2024-06</c:v>
                </c:pt>
                <c:pt idx="42">
                  <c:v>2024-07</c:v>
                </c:pt>
                <c:pt idx="43">
                  <c:v>2024-08</c:v>
                </c:pt>
                <c:pt idx="44">
                  <c:v>2024-09</c:v>
                </c:pt>
                <c:pt idx="45">
                  <c:v>2024-10</c:v>
                </c:pt>
                <c:pt idx="46">
                  <c:v>2024-11</c:v>
                </c:pt>
                <c:pt idx="47">
                  <c:v>2024-12</c:v>
                </c:pt>
                <c:pt idx="48">
                  <c:v>2025-01</c:v>
                </c:pt>
                <c:pt idx="49">
                  <c:v>2025-02</c:v>
                </c:pt>
                <c:pt idx="50">
                  <c:v>2025-03</c:v>
                </c:pt>
                <c:pt idx="51">
                  <c:v>2025-04</c:v>
                </c:pt>
                <c:pt idx="52">
                  <c:v>2025-05</c:v>
                </c:pt>
                <c:pt idx="53">
                  <c:v>2025-06</c:v>
                </c:pt>
                <c:pt idx="54">
                  <c:v>2025-07</c:v>
                </c:pt>
                <c:pt idx="55">
                  <c:v>2025-08</c:v>
                </c:pt>
                <c:pt idx="56">
                  <c:v>2025-09</c:v>
                </c:pt>
                <c:pt idx="57">
                  <c:v>2025-10</c:v>
                </c:pt>
                <c:pt idx="58">
                  <c:v>2025-11</c:v>
                </c:pt>
                <c:pt idx="59">
                  <c:v>2025-12</c:v>
                </c:pt>
                <c:pt idx="60">
                  <c:v>2026-01</c:v>
                </c:pt>
                <c:pt idx="61">
                  <c:v>2026-02</c:v>
                </c:pt>
                <c:pt idx="62">
                  <c:v>2026-03</c:v>
                </c:pt>
                <c:pt idx="63">
                  <c:v>2026-04</c:v>
                </c:pt>
                <c:pt idx="64">
                  <c:v>2026-05</c:v>
                </c:pt>
                <c:pt idx="65">
                  <c:v>2026-06</c:v>
                </c:pt>
                <c:pt idx="66">
                  <c:v>2026-07</c:v>
                </c:pt>
                <c:pt idx="67">
                  <c:v>2026-08</c:v>
                </c:pt>
                <c:pt idx="68">
                  <c:v>2026-09</c:v>
                </c:pt>
              </c:strCache>
            </c:strRef>
          </c:cat>
          <c:val>
            <c:numRef>
              <c:f>Sheet1!$B$2:$B$70</c:f>
              <c:numCache>
                <c:formatCode>General</c:formatCode>
                <c:ptCount val="69"/>
                <c:pt idx="0">
                  <c:v>79</c:v>
                </c:pt>
                <c:pt idx="1">
                  <c:v>76.8</c:v>
                </c:pt>
                <c:pt idx="2">
                  <c:v>84.9</c:v>
                </c:pt>
                <c:pt idx="3">
                  <c:v>88.3</c:v>
                </c:pt>
                <c:pt idx="4">
                  <c:v>82.9</c:v>
                </c:pt>
                <c:pt idx="5">
                  <c:v>85.5</c:v>
                </c:pt>
                <c:pt idx="6">
                  <c:v>81.2</c:v>
                </c:pt>
                <c:pt idx="7">
                  <c:v>70.3</c:v>
                </c:pt>
                <c:pt idx="8">
                  <c:v>72.8</c:v>
                </c:pt>
                <c:pt idx="9">
                  <c:v>71.7</c:v>
                </c:pt>
                <c:pt idx="10">
                  <c:v>67.400000000000006</c:v>
                </c:pt>
                <c:pt idx="11">
                  <c:v>70.599999999999994</c:v>
                </c:pt>
                <c:pt idx="12">
                  <c:v>67.2</c:v>
                </c:pt>
                <c:pt idx="13">
                  <c:v>62.8</c:v>
                </c:pt>
                <c:pt idx="14">
                  <c:v>59.4</c:v>
                </c:pt>
                <c:pt idx="15">
                  <c:v>65.2</c:v>
                </c:pt>
                <c:pt idx="16">
                  <c:v>58.4</c:v>
                </c:pt>
                <c:pt idx="17">
                  <c:v>50</c:v>
                </c:pt>
                <c:pt idx="18">
                  <c:v>51.5</c:v>
                </c:pt>
                <c:pt idx="19">
                  <c:v>58.2</c:v>
                </c:pt>
                <c:pt idx="20">
                  <c:v>58.6</c:v>
                </c:pt>
                <c:pt idx="21">
                  <c:v>59.9</c:v>
                </c:pt>
                <c:pt idx="22">
                  <c:v>56.7</c:v>
                </c:pt>
                <c:pt idx="23">
                  <c:v>59.8</c:v>
                </c:pt>
                <c:pt idx="24">
                  <c:v>64.900000000000006</c:v>
                </c:pt>
                <c:pt idx="25">
                  <c:v>66.900000000000006</c:v>
                </c:pt>
                <c:pt idx="26">
                  <c:v>62</c:v>
                </c:pt>
                <c:pt idx="27">
                  <c:v>63.7</c:v>
                </c:pt>
                <c:pt idx="28">
                  <c:v>59</c:v>
                </c:pt>
                <c:pt idx="29">
                  <c:v>64.2</c:v>
                </c:pt>
                <c:pt idx="30">
                  <c:v>71.5</c:v>
                </c:pt>
                <c:pt idx="31">
                  <c:v>69.400000000000006</c:v>
                </c:pt>
                <c:pt idx="32">
                  <c:v>67.8</c:v>
                </c:pt>
                <c:pt idx="33">
                  <c:v>63.8</c:v>
                </c:pt>
                <c:pt idx="34">
                  <c:v>61.3</c:v>
                </c:pt>
                <c:pt idx="35">
                  <c:v>69.7</c:v>
                </c:pt>
                <c:pt idx="36">
                  <c:v>79</c:v>
                </c:pt>
                <c:pt idx="37">
                  <c:v>76.900000000000006</c:v>
                </c:pt>
                <c:pt idx="38">
                  <c:v>79.400000000000006</c:v>
                </c:pt>
                <c:pt idx="39">
                  <c:v>77.2</c:v>
                </c:pt>
                <c:pt idx="40">
                  <c:v>69.099999999999994</c:v>
                </c:pt>
                <c:pt idx="41">
                  <c:v>68.2</c:v>
                </c:pt>
                <c:pt idx="42">
                  <c:v>66.400000000000006</c:v>
                </c:pt>
                <c:pt idx="43">
                  <c:v>67.900000000000006</c:v>
                </c:pt>
                <c:pt idx="44">
                  <c:v>70.099999999999994</c:v>
                </c:pt>
                <c:pt idx="45">
                  <c:v>70.5</c:v>
                </c:pt>
                <c:pt idx="46">
                  <c:v>71.8</c:v>
                </c:pt>
                <c:pt idx="47">
                  <c:v>74</c:v>
                </c:pt>
                <c:pt idx="48">
                  <c:v>71.7</c:v>
                </c:pt>
                <c:pt idx="49">
                  <c:v>64.7</c:v>
                </c:pt>
                <c:pt idx="50">
                  <c:v>57</c:v>
                </c:pt>
                <c:pt idx="51">
                  <c:v>52.2</c:v>
                </c:pt>
                <c:pt idx="52">
                  <c:v>52.2</c:v>
                </c:pt>
                <c:pt idx="53">
                  <c:v>60.7</c:v>
                </c:pt>
                <c:pt idx="54">
                  <c:v>61.7</c:v>
                </c:pt>
                <c:pt idx="55">
                  <c:v>58.2</c:v>
                </c:pt>
                <c:pt idx="56">
                  <c:v>55.1</c:v>
                </c:pt>
                <c:pt idx="57">
                  <c:v>53.6</c:v>
                </c:pt>
                <c:pt idx="58">
                  <c:v>51</c:v>
                </c:pt>
                <c:pt idx="59">
                  <c:v>52.9</c:v>
                </c:pt>
                <c:pt idx="60">
                  <c:v>56.4</c:v>
                </c:pt>
                <c:pt idx="61">
                  <c:v>56.6</c:v>
                </c:pt>
                <c:pt idx="62">
                  <c:v>53.3</c:v>
                </c:pt>
                <c:pt idx="63">
                  <c:v>49.8</c:v>
                </c:pt>
                <c:pt idx="64">
                  <c:v>44.8</c:v>
                </c:pt>
                <c:pt idx="65">
                  <c:v>49.5</c:v>
                </c:pt>
                <c:pt idx="66">
                  <c:v>55.2</c:v>
                </c:pt>
                <c:pt idx="67">
                  <c:v>51.7</c:v>
                </c:pt>
                <c:pt idx="68">
                  <c:v>48.1</c:v>
                </c:pt>
              </c:numCache>
            </c:numRef>
          </c:val>
          <c:smooth val="0"/>
          <c:extLst>
            <c:ext xmlns:c16="http://schemas.microsoft.com/office/drawing/2014/chart" uri="{C3380CC4-5D6E-409C-BE32-E72D297353CC}">
              <c16:uniqueId val="{00000001-8BBB-4DE6-9F13-C0539A7E7A04}"/>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1"/>
        <c:axPos val="b"/>
        <c:numFmt formatCode="General" sourceLinked="1"/>
        <c:majorTickMark val="out"/>
        <c:minorTickMark val="none"/>
        <c:tickLblPos val="low"/>
        <c:crossAx val="2094734552"/>
        <c:crosses val="autoZero"/>
        <c:auto val="1"/>
        <c:lblAlgn val="ctr"/>
        <c:lblOffset val="100"/>
        <c:noMultiLvlLbl val="1"/>
      </c:catAx>
      <c:valAx>
        <c:axId val="2094734552"/>
        <c:scaling>
          <c:orientation val="minMax"/>
          <c:max val="91.78"/>
          <c:min val="41.32"/>
        </c:scaling>
        <c:delete val="1"/>
        <c:axPos val="l"/>
        <c:numFmt formatCode="General" sourceLinked="0"/>
        <c:majorTickMark val="out"/>
        <c:minorTickMark val="none"/>
        <c:tickLblPos val="nextTo"/>
        <c:crossAx val="2094734554"/>
        <c:crosses val="autoZero"/>
        <c:crossBetween val="between"/>
      </c:valAx>
      <c:spPr>
        <a:solidFill>
          <a:srgbClr val="FFFFFF">
            <a:alpha val="0"/>
          </a:srgbClr>
        </a:solidFill>
        <a:ln>
          <a:noFill/>
        </a:ln>
        <a:effectLst/>
      </c:spPr>
    </c:plotArea>
    <c:plotVisOnly val="1"/>
    <c:dispBlanksAs val="span"/>
    <c:showDLblsOverMax val="1"/>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
          <c:y val="0"/>
          <c:w val="1"/>
          <c:h val="1"/>
        </c:manualLayout>
      </c:layout>
      <c:lineChart>
        <c:grouping val="standard"/>
        <c:varyColors val="0"/>
        <c:ser>
          <c:idx val="0"/>
          <c:order val="0"/>
          <c:tx>
            <c:strRef>
              <c:f>Sheet1!$B$1</c:f>
              <c:strCache>
                <c:ptCount val="1"/>
                <c:pt idx="0">
                  <c:v>Food at home CPI</c:v>
                </c:pt>
              </c:strCache>
            </c:strRef>
          </c:tx>
          <c:spPr>
            <a:ln w="17145" cap="flat">
              <a:solidFill>
                <a:srgbClr val="8C6239"/>
              </a:solidFill>
              <a:prstDash val="solid"/>
              <a:round/>
            </a:ln>
            <a:effectLst/>
          </c:spPr>
          <c:marker>
            <c:symbol val="none"/>
          </c:marker>
          <c:dPt>
            <c:idx val="66"/>
            <c:marker>
              <c:symbol val="circle"/>
              <c:size val="5"/>
              <c:spPr>
                <a:solidFill>
                  <a:srgbClr val="B68757"/>
                </a:solidFill>
                <a:ln>
                  <a:noFill/>
                </a:ln>
              </c:spPr>
            </c:marker>
            <c:bubble3D val="0"/>
            <c:extLst>
              <c:ext xmlns:c16="http://schemas.microsoft.com/office/drawing/2014/chart" uri="{C3380CC4-5D6E-409C-BE32-E72D297353CC}">
                <c16:uniqueId val="{00000000-4354-437B-BAD7-C3D39750ECB1}"/>
              </c:ext>
            </c:extLst>
          </c:dPt>
          <c:cat>
            <c:strRef>
              <c:f>Sheet1!$A$2:$A$68</c:f>
              <c:strCache>
                <c:ptCount val="67"/>
                <c:pt idx="0">
                  <c:v>2021-01</c:v>
                </c:pt>
                <c:pt idx="1">
                  <c:v>2021-02</c:v>
                </c:pt>
                <c:pt idx="2">
                  <c:v>2021-03</c:v>
                </c:pt>
                <c:pt idx="3">
                  <c:v>2021-04</c:v>
                </c:pt>
                <c:pt idx="4">
                  <c:v>2021-05</c:v>
                </c:pt>
                <c:pt idx="5">
                  <c:v>2021-06</c:v>
                </c:pt>
                <c:pt idx="6">
                  <c:v>2021-07</c:v>
                </c:pt>
                <c:pt idx="7">
                  <c:v>2021-08</c:v>
                </c:pt>
                <c:pt idx="8">
                  <c:v>2021-09</c:v>
                </c:pt>
                <c:pt idx="9">
                  <c:v>2021-10</c:v>
                </c:pt>
                <c:pt idx="10">
                  <c:v>2021-11</c:v>
                </c:pt>
                <c:pt idx="11">
                  <c:v>2021-12</c:v>
                </c:pt>
                <c:pt idx="12">
                  <c:v>2022-01</c:v>
                </c:pt>
                <c:pt idx="13">
                  <c:v>2022-02</c:v>
                </c:pt>
                <c:pt idx="14">
                  <c:v>2022-03</c:v>
                </c:pt>
                <c:pt idx="15">
                  <c:v>2022-04</c:v>
                </c:pt>
                <c:pt idx="16">
                  <c:v>2022-05</c:v>
                </c:pt>
                <c:pt idx="17">
                  <c:v>2022-06</c:v>
                </c:pt>
                <c:pt idx="18">
                  <c:v>2022-07</c:v>
                </c:pt>
                <c:pt idx="19">
                  <c:v>2022-08</c:v>
                </c:pt>
                <c:pt idx="20">
                  <c:v>2022-09</c:v>
                </c:pt>
                <c:pt idx="21">
                  <c:v>2022-10</c:v>
                </c:pt>
                <c:pt idx="22">
                  <c:v>2022-11</c:v>
                </c:pt>
                <c:pt idx="23">
                  <c:v>2022-12</c:v>
                </c:pt>
                <c:pt idx="24">
                  <c:v>2023-01</c:v>
                </c:pt>
                <c:pt idx="25">
                  <c:v>2023-02</c:v>
                </c:pt>
                <c:pt idx="26">
                  <c:v>2023-03</c:v>
                </c:pt>
                <c:pt idx="27">
                  <c:v>2023-04</c:v>
                </c:pt>
                <c:pt idx="28">
                  <c:v>2023-05</c:v>
                </c:pt>
                <c:pt idx="29">
                  <c:v>2023-06</c:v>
                </c:pt>
                <c:pt idx="30">
                  <c:v>2023-07</c:v>
                </c:pt>
                <c:pt idx="31">
                  <c:v>2023-08</c:v>
                </c:pt>
                <c:pt idx="32">
                  <c:v>2023-09</c:v>
                </c:pt>
                <c:pt idx="33">
                  <c:v>2023-10</c:v>
                </c:pt>
                <c:pt idx="34">
                  <c:v>2023-11</c:v>
                </c:pt>
                <c:pt idx="35">
                  <c:v>2023-12</c:v>
                </c:pt>
                <c:pt idx="36">
                  <c:v>2024-01</c:v>
                </c:pt>
                <c:pt idx="37">
                  <c:v>2024-02</c:v>
                </c:pt>
                <c:pt idx="38">
                  <c:v>2024-03</c:v>
                </c:pt>
                <c:pt idx="39">
                  <c:v>2024-04</c:v>
                </c:pt>
                <c:pt idx="40">
                  <c:v>2024-05</c:v>
                </c:pt>
                <c:pt idx="41">
                  <c:v>2024-06</c:v>
                </c:pt>
                <c:pt idx="42">
                  <c:v>2024-07</c:v>
                </c:pt>
                <c:pt idx="43">
                  <c:v>2024-08</c:v>
                </c:pt>
                <c:pt idx="44">
                  <c:v>2024-09</c:v>
                </c:pt>
                <c:pt idx="45">
                  <c:v>2024-10</c:v>
                </c:pt>
                <c:pt idx="46">
                  <c:v>2024-11</c:v>
                </c:pt>
                <c:pt idx="47">
                  <c:v>2024-12</c:v>
                </c:pt>
                <c:pt idx="48">
                  <c:v>2025-01</c:v>
                </c:pt>
                <c:pt idx="49">
                  <c:v>2025-02</c:v>
                </c:pt>
                <c:pt idx="50">
                  <c:v>2025-03</c:v>
                </c:pt>
                <c:pt idx="51">
                  <c:v>2025-04</c:v>
                </c:pt>
                <c:pt idx="52">
                  <c:v>2025-05</c:v>
                </c:pt>
                <c:pt idx="53">
                  <c:v>2025-06</c:v>
                </c:pt>
                <c:pt idx="54">
                  <c:v>2025-07</c:v>
                </c:pt>
                <c:pt idx="55">
                  <c:v>2025-08</c:v>
                </c:pt>
                <c:pt idx="56">
                  <c:v>2025-09</c:v>
                </c:pt>
                <c:pt idx="57">
                  <c:v>2025-11</c:v>
                </c:pt>
                <c:pt idx="58">
                  <c:v>2025-12</c:v>
                </c:pt>
                <c:pt idx="59">
                  <c:v>2026-01</c:v>
                </c:pt>
                <c:pt idx="60">
                  <c:v>2026-02</c:v>
                </c:pt>
                <c:pt idx="61">
                  <c:v>2026-03</c:v>
                </c:pt>
                <c:pt idx="62">
                  <c:v>2026-04</c:v>
                </c:pt>
                <c:pt idx="63">
                  <c:v>2026-05</c:v>
                </c:pt>
                <c:pt idx="64">
                  <c:v>2026-06</c:v>
                </c:pt>
                <c:pt idx="65">
                  <c:v>2026-07</c:v>
                </c:pt>
                <c:pt idx="66">
                  <c:v>2026-08</c:v>
                </c:pt>
              </c:strCache>
            </c:strRef>
          </c:cat>
          <c:val>
            <c:numRef>
              <c:f>Sheet1!$B$2:$B$68</c:f>
              <c:numCache>
                <c:formatCode>General</c:formatCode>
                <c:ptCount val="67"/>
                <c:pt idx="0">
                  <c:v>252.541</c:v>
                </c:pt>
                <c:pt idx="1">
                  <c:v>252.822</c:v>
                </c:pt>
                <c:pt idx="2">
                  <c:v>252.93299999999999</c:v>
                </c:pt>
                <c:pt idx="3">
                  <c:v>254.125</c:v>
                </c:pt>
                <c:pt idx="4">
                  <c:v>255.04300000000001</c:v>
                </c:pt>
                <c:pt idx="5">
                  <c:v>257.05799999999999</c:v>
                </c:pt>
                <c:pt idx="6">
                  <c:v>258.49099999999999</c:v>
                </c:pt>
                <c:pt idx="7">
                  <c:v>259.613</c:v>
                </c:pt>
                <c:pt idx="8">
                  <c:v>262.459</c:v>
                </c:pt>
                <c:pt idx="9">
                  <c:v>265.084</c:v>
                </c:pt>
                <c:pt idx="10">
                  <c:v>267.47300000000001</c:v>
                </c:pt>
                <c:pt idx="11">
                  <c:v>268.98500000000001</c:v>
                </c:pt>
                <c:pt idx="12">
                  <c:v>271.17599999999999</c:v>
                </c:pt>
                <c:pt idx="13">
                  <c:v>274.72800000000001</c:v>
                </c:pt>
                <c:pt idx="14">
                  <c:v>278.33300000000003</c:v>
                </c:pt>
                <c:pt idx="15">
                  <c:v>281.59300000000002</c:v>
                </c:pt>
                <c:pt idx="16">
                  <c:v>285.52199999999999</c:v>
                </c:pt>
                <c:pt idx="17">
                  <c:v>288.56799999999998</c:v>
                </c:pt>
                <c:pt idx="18">
                  <c:v>292.45499999999998</c:v>
                </c:pt>
                <c:pt idx="19">
                  <c:v>294.88400000000001</c:v>
                </c:pt>
                <c:pt idx="20">
                  <c:v>296.40300000000002</c:v>
                </c:pt>
                <c:pt idx="21">
                  <c:v>297.96600000000001</c:v>
                </c:pt>
                <c:pt idx="22">
                  <c:v>299.44900000000001</c:v>
                </c:pt>
                <c:pt idx="23">
                  <c:v>300.57600000000002</c:v>
                </c:pt>
                <c:pt idx="24">
                  <c:v>301.67599999999999</c:v>
                </c:pt>
                <c:pt idx="25">
                  <c:v>302.44400000000002</c:v>
                </c:pt>
                <c:pt idx="26">
                  <c:v>301.46699999999998</c:v>
                </c:pt>
                <c:pt idx="27">
                  <c:v>301.81099999999998</c:v>
                </c:pt>
                <c:pt idx="28">
                  <c:v>302.18400000000003</c:v>
                </c:pt>
                <c:pt idx="29">
                  <c:v>302.05700000000002</c:v>
                </c:pt>
                <c:pt idx="30">
                  <c:v>302.98399999999998</c:v>
                </c:pt>
                <c:pt idx="31">
                  <c:v>303.63099999999997</c:v>
                </c:pt>
                <c:pt idx="32">
                  <c:v>303.44900000000001</c:v>
                </c:pt>
                <c:pt idx="33">
                  <c:v>304.36599999999999</c:v>
                </c:pt>
                <c:pt idx="34">
                  <c:v>304.33199999999999</c:v>
                </c:pt>
                <c:pt idx="35">
                  <c:v>304.505</c:v>
                </c:pt>
                <c:pt idx="36">
                  <c:v>305.18700000000001</c:v>
                </c:pt>
                <c:pt idx="37">
                  <c:v>305.43200000000002</c:v>
                </c:pt>
                <c:pt idx="38">
                  <c:v>305.01</c:v>
                </c:pt>
                <c:pt idx="39">
                  <c:v>305.35399999999998</c:v>
                </c:pt>
                <c:pt idx="40">
                  <c:v>305.41399999999999</c:v>
                </c:pt>
                <c:pt idx="41">
                  <c:v>305.58199999999999</c:v>
                </c:pt>
                <c:pt idx="42">
                  <c:v>306.28500000000003</c:v>
                </c:pt>
                <c:pt idx="43">
                  <c:v>306.399</c:v>
                </c:pt>
                <c:pt idx="44">
                  <c:v>307.25799999999998</c:v>
                </c:pt>
                <c:pt idx="45">
                  <c:v>307.86700000000002</c:v>
                </c:pt>
                <c:pt idx="46">
                  <c:v>309.09300000000002</c:v>
                </c:pt>
                <c:pt idx="47">
                  <c:v>309.767</c:v>
                </c:pt>
                <c:pt idx="48">
                  <c:v>310.81700000000001</c:v>
                </c:pt>
                <c:pt idx="49">
                  <c:v>310.95499999999998</c:v>
                </c:pt>
                <c:pt idx="50">
                  <c:v>312.154</c:v>
                </c:pt>
                <c:pt idx="51">
                  <c:v>311.44</c:v>
                </c:pt>
                <c:pt idx="52">
                  <c:v>312.29599999999999</c:v>
                </c:pt>
                <c:pt idx="53">
                  <c:v>312.98200000000003</c:v>
                </c:pt>
                <c:pt idx="54">
                  <c:v>313.03500000000003</c:v>
                </c:pt>
                <c:pt idx="55">
                  <c:v>314.64699999999999</c:v>
                </c:pt>
                <c:pt idx="56">
                  <c:v>315.54000000000002</c:v>
                </c:pt>
                <c:pt idx="57">
                  <c:v>315</c:v>
                </c:pt>
                <c:pt idx="58">
                  <c:v>316.98200000000003</c:v>
                </c:pt>
                <c:pt idx="59">
                  <c:v>317.589</c:v>
                </c:pt>
                <c:pt idx="60">
                  <c:v>318.98500000000001</c:v>
                </c:pt>
                <c:pt idx="61">
                  <c:v>318.46199999999999</c:v>
                </c:pt>
                <c:pt idx="62">
                  <c:v>320.63299999999998</c:v>
                </c:pt>
                <c:pt idx="63">
                  <c:v>320.83600000000001</c:v>
                </c:pt>
                <c:pt idx="64">
                  <c:v>321.44600000000003</c:v>
                </c:pt>
                <c:pt idx="65">
                  <c:v>321.21600000000001</c:v>
                </c:pt>
                <c:pt idx="66">
                  <c:v>321.33499999999998</c:v>
                </c:pt>
              </c:numCache>
            </c:numRef>
          </c:val>
          <c:smooth val="0"/>
          <c:extLst>
            <c:ext xmlns:c16="http://schemas.microsoft.com/office/drawing/2014/chart" uri="{C3380CC4-5D6E-409C-BE32-E72D297353CC}">
              <c16:uniqueId val="{00000001-4354-437B-BAD7-C3D39750ECB1}"/>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1"/>
        <c:axPos val="b"/>
        <c:numFmt formatCode="General" sourceLinked="1"/>
        <c:majorTickMark val="out"/>
        <c:minorTickMark val="none"/>
        <c:tickLblPos val="low"/>
        <c:crossAx val="2094734552"/>
        <c:crosses val="autoZero"/>
        <c:auto val="1"/>
        <c:lblAlgn val="ctr"/>
        <c:lblOffset val="100"/>
        <c:noMultiLvlLbl val="1"/>
      </c:catAx>
      <c:valAx>
        <c:axId val="2094734552"/>
        <c:scaling>
          <c:orientation val="minMax"/>
          <c:max val="326.95840000000004"/>
          <c:min val="247.02859999999998"/>
        </c:scaling>
        <c:delete val="1"/>
        <c:axPos val="l"/>
        <c:numFmt formatCode="General" sourceLinked="0"/>
        <c:majorTickMark val="out"/>
        <c:minorTickMark val="none"/>
        <c:tickLblPos val="nextTo"/>
        <c:crossAx val="2094734554"/>
        <c:crosses val="autoZero"/>
        <c:crossBetween val="between"/>
      </c:valAx>
      <c:spPr>
        <a:solidFill>
          <a:srgbClr val="FFFFFF">
            <a:alpha val="0"/>
          </a:srgbClr>
        </a:solidFill>
        <a:ln>
          <a:noFill/>
        </a:ln>
        <a:effectLst/>
      </c:spPr>
    </c:plotArea>
    <c:plotVisOnly val="1"/>
    <c:dispBlanksAs val="span"/>
    <c:showDLblsOverMax val="1"/>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
          <c:y val="0"/>
          <c:w val="1"/>
          <c:h val="1"/>
        </c:manualLayout>
      </c:layout>
      <c:lineChart>
        <c:grouping val="standard"/>
        <c:varyColors val="0"/>
        <c:ser>
          <c:idx val="0"/>
          <c:order val="0"/>
          <c:tx>
            <c:strRef>
              <c:f>Sheet1!$B$1</c:f>
              <c:strCache>
                <c:ptCount val="1"/>
                <c:pt idx="0">
                  <c:v>Food away from home CPI</c:v>
                </c:pt>
              </c:strCache>
            </c:strRef>
          </c:tx>
          <c:spPr>
            <a:ln w="17145" cap="flat">
              <a:solidFill>
                <a:srgbClr val="8C6239"/>
              </a:solidFill>
              <a:prstDash val="solid"/>
              <a:round/>
            </a:ln>
            <a:effectLst/>
          </c:spPr>
          <c:marker>
            <c:symbol val="none"/>
          </c:marker>
          <c:dPt>
            <c:idx val="66"/>
            <c:marker>
              <c:symbol val="circle"/>
              <c:size val="5"/>
              <c:spPr>
                <a:solidFill>
                  <a:srgbClr val="B68757"/>
                </a:solidFill>
                <a:ln>
                  <a:noFill/>
                </a:ln>
              </c:spPr>
            </c:marker>
            <c:bubble3D val="0"/>
            <c:extLst>
              <c:ext xmlns:c16="http://schemas.microsoft.com/office/drawing/2014/chart" uri="{C3380CC4-5D6E-409C-BE32-E72D297353CC}">
                <c16:uniqueId val="{00000000-08A7-42D4-926D-282346940126}"/>
              </c:ext>
            </c:extLst>
          </c:dPt>
          <c:cat>
            <c:strRef>
              <c:f>Sheet1!$A$2:$A$68</c:f>
              <c:strCache>
                <c:ptCount val="67"/>
                <c:pt idx="0">
                  <c:v>2021-01</c:v>
                </c:pt>
                <c:pt idx="1">
                  <c:v>2021-02</c:v>
                </c:pt>
                <c:pt idx="2">
                  <c:v>2021-03</c:v>
                </c:pt>
                <c:pt idx="3">
                  <c:v>2021-04</c:v>
                </c:pt>
                <c:pt idx="4">
                  <c:v>2021-05</c:v>
                </c:pt>
                <c:pt idx="5">
                  <c:v>2021-06</c:v>
                </c:pt>
                <c:pt idx="6">
                  <c:v>2021-07</c:v>
                </c:pt>
                <c:pt idx="7">
                  <c:v>2021-08</c:v>
                </c:pt>
                <c:pt idx="8">
                  <c:v>2021-09</c:v>
                </c:pt>
                <c:pt idx="9">
                  <c:v>2021-10</c:v>
                </c:pt>
                <c:pt idx="10">
                  <c:v>2021-11</c:v>
                </c:pt>
                <c:pt idx="11">
                  <c:v>2021-12</c:v>
                </c:pt>
                <c:pt idx="12">
                  <c:v>2022-01</c:v>
                </c:pt>
                <c:pt idx="13">
                  <c:v>2022-02</c:v>
                </c:pt>
                <c:pt idx="14">
                  <c:v>2022-03</c:v>
                </c:pt>
                <c:pt idx="15">
                  <c:v>2022-04</c:v>
                </c:pt>
                <c:pt idx="16">
                  <c:v>2022-05</c:v>
                </c:pt>
                <c:pt idx="17">
                  <c:v>2022-06</c:v>
                </c:pt>
                <c:pt idx="18">
                  <c:v>2022-07</c:v>
                </c:pt>
                <c:pt idx="19">
                  <c:v>2022-08</c:v>
                </c:pt>
                <c:pt idx="20">
                  <c:v>2022-09</c:v>
                </c:pt>
                <c:pt idx="21">
                  <c:v>2022-10</c:v>
                </c:pt>
                <c:pt idx="22">
                  <c:v>2022-11</c:v>
                </c:pt>
                <c:pt idx="23">
                  <c:v>2022-12</c:v>
                </c:pt>
                <c:pt idx="24">
                  <c:v>2023-01</c:v>
                </c:pt>
                <c:pt idx="25">
                  <c:v>2023-02</c:v>
                </c:pt>
                <c:pt idx="26">
                  <c:v>2023-03</c:v>
                </c:pt>
                <c:pt idx="27">
                  <c:v>2023-04</c:v>
                </c:pt>
                <c:pt idx="28">
                  <c:v>2023-05</c:v>
                </c:pt>
                <c:pt idx="29">
                  <c:v>2023-06</c:v>
                </c:pt>
                <c:pt idx="30">
                  <c:v>2023-07</c:v>
                </c:pt>
                <c:pt idx="31">
                  <c:v>2023-08</c:v>
                </c:pt>
                <c:pt idx="32">
                  <c:v>2023-09</c:v>
                </c:pt>
                <c:pt idx="33">
                  <c:v>2023-10</c:v>
                </c:pt>
                <c:pt idx="34">
                  <c:v>2023-11</c:v>
                </c:pt>
                <c:pt idx="35">
                  <c:v>2023-12</c:v>
                </c:pt>
                <c:pt idx="36">
                  <c:v>2024-01</c:v>
                </c:pt>
                <c:pt idx="37">
                  <c:v>2024-02</c:v>
                </c:pt>
                <c:pt idx="38">
                  <c:v>2024-03</c:v>
                </c:pt>
                <c:pt idx="39">
                  <c:v>2024-04</c:v>
                </c:pt>
                <c:pt idx="40">
                  <c:v>2024-05</c:v>
                </c:pt>
                <c:pt idx="41">
                  <c:v>2024-06</c:v>
                </c:pt>
                <c:pt idx="42">
                  <c:v>2024-07</c:v>
                </c:pt>
                <c:pt idx="43">
                  <c:v>2024-08</c:v>
                </c:pt>
                <c:pt idx="44">
                  <c:v>2024-09</c:v>
                </c:pt>
                <c:pt idx="45">
                  <c:v>2024-10</c:v>
                </c:pt>
                <c:pt idx="46">
                  <c:v>2024-11</c:v>
                </c:pt>
                <c:pt idx="47">
                  <c:v>2024-12</c:v>
                </c:pt>
                <c:pt idx="48">
                  <c:v>2025-01</c:v>
                </c:pt>
                <c:pt idx="49">
                  <c:v>2025-02</c:v>
                </c:pt>
                <c:pt idx="50">
                  <c:v>2025-03</c:v>
                </c:pt>
                <c:pt idx="51">
                  <c:v>2025-04</c:v>
                </c:pt>
                <c:pt idx="52">
                  <c:v>2025-05</c:v>
                </c:pt>
                <c:pt idx="53">
                  <c:v>2025-06</c:v>
                </c:pt>
                <c:pt idx="54">
                  <c:v>2025-07</c:v>
                </c:pt>
                <c:pt idx="55">
                  <c:v>2025-08</c:v>
                </c:pt>
                <c:pt idx="56">
                  <c:v>2025-09</c:v>
                </c:pt>
                <c:pt idx="57">
                  <c:v>2025-11</c:v>
                </c:pt>
                <c:pt idx="58">
                  <c:v>2025-12</c:v>
                </c:pt>
                <c:pt idx="59">
                  <c:v>2026-01</c:v>
                </c:pt>
                <c:pt idx="60">
                  <c:v>2026-02</c:v>
                </c:pt>
                <c:pt idx="61">
                  <c:v>2026-03</c:v>
                </c:pt>
                <c:pt idx="62">
                  <c:v>2026-04</c:v>
                </c:pt>
                <c:pt idx="63">
                  <c:v>2026-05</c:v>
                </c:pt>
                <c:pt idx="64">
                  <c:v>2026-06</c:v>
                </c:pt>
                <c:pt idx="65">
                  <c:v>2026-07</c:v>
                </c:pt>
                <c:pt idx="66">
                  <c:v>2026-08</c:v>
                </c:pt>
              </c:strCache>
            </c:strRef>
          </c:cat>
          <c:val>
            <c:numRef>
              <c:f>Sheet1!$B$2:$B$68</c:f>
              <c:numCache>
                <c:formatCode>General</c:formatCode>
                <c:ptCount val="67"/>
                <c:pt idx="0">
                  <c:v>300.38200000000001</c:v>
                </c:pt>
                <c:pt idx="1">
                  <c:v>300.54000000000002</c:v>
                </c:pt>
                <c:pt idx="2">
                  <c:v>300.89699999999999</c:v>
                </c:pt>
                <c:pt idx="3">
                  <c:v>301.81900000000002</c:v>
                </c:pt>
                <c:pt idx="4">
                  <c:v>303.48099999999999</c:v>
                </c:pt>
                <c:pt idx="5">
                  <c:v>305.63400000000001</c:v>
                </c:pt>
                <c:pt idx="6">
                  <c:v>308.02300000000002</c:v>
                </c:pt>
                <c:pt idx="7">
                  <c:v>309.33600000000001</c:v>
                </c:pt>
                <c:pt idx="8">
                  <c:v>310.99599999999998</c:v>
                </c:pt>
                <c:pt idx="9">
                  <c:v>313.59199999999998</c:v>
                </c:pt>
                <c:pt idx="10">
                  <c:v>315.48099999999999</c:v>
                </c:pt>
                <c:pt idx="11">
                  <c:v>317.37200000000001</c:v>
                </c:pt>
                <c:pt idx="12">
                  <c:v>319.471</c:v>
                </c:pt>
                <c:pt idx="13">
                  <c:v>320.88</c:v>
                </c:pt>
                <c:pt idx="14">
                  <c:v>321.68900000000002</c:v>
                </c:pt>
                <c:pt idx="15">
                  <c:v>323.55900000000003</c:v>
                </c:pt>
                <c:pt idx="16">
                  <c:v>325.952</c:v>
                </c:pt>
                <c:pt idx="17">
                  <c:v>329.03300000000002</c:v>
                </c:pt>
                <c:pt idx="18">
                  <c:v>331.34199999999998</c:v>
                </c:pt>
                <c:pt idx="19">
                  <c:v>334.21199999999999</c:v>
                </c:pt>
                <c:pt idx="20">
                  <c:v>337.36900000000003</c:v>
                </c:pt>
                <c:pt idx="21">
                  <c:v>340.53199999999998</c:v>
                </c:pt>
                <c:pt idx="22">
                  <c:v>342.26600000000002</c:v>
                </c:pt>
                <c:pt idx="23">
                  <c:v>343.55900000000003</c:v>
                </c:pt>
                <c:pt idx="24">
                  <c:v>345.67700000000002</c:v>
                </c:pt>
                <c:pt idx="25">
                  <c:v>347.86900000000003</c:v>
                </c:pt>
                <c:pt idx="26">
                  <c:v>349.94400000000002</c:v>
                </c:pt>
                <c:pt idx="27">
                  <c:v>351.23700000000002</c:v>
                </c:pt>
                <c:pt idx="28">
                  <c:v>352.892</c:v>
                </c:pt>
                <c:pt idx="29">
                  <c:v>354.245</c:v>
                </c:pt>
                <c:pt idx="30">
                  <c:v>354.86200000000002</c:v>
                </c:pt>
                <c:pt idx="31">
                  <c:v>356.08300000000003</c:v>
                </c:pt>
                <c:pt idx="32">
                  <c:v>357.488</c:v>
                </c:pt>
                <c:pt idx="33">
                  <c:v>358.82400000000001</c:v>
                </c:pt>
                <c:pt idx="34">
                  <c:v>360.38299999999998</c:v>
                </c:pt>
                <c:pt idx="35">
                  <c:v>361.56400000000002</c:v>
                </c:pt>
                <c:pt idx="36">
                  <c:v>363.24900000000002</c:v>
                </c:pt>
                <c:pt idx="37">
                  <c:v>363.596</c:v>
                </c:pt>
                <c:pt idx="38">
                  <c:v>364.54599999999999</c:v>
                </c:pt>
                <c:pt idx="39">
                  <c:v>365.81299999999999</c:v>
                </c:pt>
                <c:pt idx="40">
                  <c:v>367.09899999999999</c:v>
                </c:pt>
                <c:pt idx="41">
                  <c:v>368.61599999999999</c:v>
                </c:pt>
                <c:pt idx="42">
                  <c:v>369.38299999999998</c:v>
                </c:pt>
                <c:pt idx="43">
                  <c:v>370.34800000000001</c:v>
                </c:pt>
                <c:pt idx="44">
                  <c:v>371.60399999999998</c:v>
                </c:pt>
                <c:pt idx="45">
                  <c:v>372.48599999999999</c:v>
                </c:pt>
                <c:pt idx="46">
                  <c:v>373.53</c:v>
                </c:pt>
                <c:pt idx="47">
                  <c:v>374.64400000000001</c:v>
                </c:pt>
                <c:pt idx="48">
                  <c:v>375.53199999999998</c:v>
                </c:pt>
                <c:pt idx="49">
                  <c:v>376.99099999999999</c:v>
                </c:pt>
                <c:pt idx="50">
                  <c:v>378.363</c:v>
                </c:pt>
                <c:pt idx="51">
                  <c:v>380.03899999999999</c:v>
                </c:pt>
                <c:pt idx="52">
                  <c:v>381.22800000000001</c:v>
                </c:pt>
                <c:pt idx="53">
                  <c:v>382.75</c:v>
                </c:pt>
                <c:pt idx="54">
                  <c:v>383.80799999999999</c:v>
                </c:pt>
                <c:pt idx="55">
                  <c:v>384.90899999999999</c:v>
                </c:pt>
                <c:pt idx="56">
                  <c:v>385.45100000000002</c:v>
                </c:pt>
                <c:pt idx="57">
                  <c:v>387.202</c:v>
                </c:pt>
                <c:pt idx="58">
                  <c:v>389.88900000000001</c:v>
                </c:pt>
                <c:pt idx="59">
                  <c:v>390.471</c:v>
                </c:pt>
                <c:pt idx="60">
                  <c:v>391.70600000000002</c:v>
                </c:pt>
                <c:pt idx="61">
                  <c:v>392.65199999999999</c:v>
                </c:pt>
                <c:pt idx="62">
                  <c:v>393.54599999999999</c:v>
                </c:pt>
                <c:pt idx="63">
                  <c:v>394.72800000000001</c:v>
                </c:pt>
                <c:pt idx="64">
                  <c:v>395.63299999999998</c:v>
                </c:pt>
                <c:pt idx="65">
                  <c:v>396.85899999999998</c:v>
                </c:pt>
                <c:pt idx="66">
                  <c:v>397.86799999999999</c:v>
                </c:pt>
              </c:numCache>
            </c:numRef>
          </c:val>
          <c:smooth val="0"/>
          <c:extLst>
            <c:ext xmlns:c16="http://schemas.microsoft.com/office/drawing/2014/chart" uri="{C3380CC4-5D6E-409C-BE32-E72D297353CC}">
              <c16:uniqueId val="{00000001-08A7-42D4-926D-282346940126}"/>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1"/>
        <c:axPos val="b"/>
        <c:numFmt formatCode="General" sourceLinked="1"/>
        <c:majorTickMark val="out"/>
        <c:minorTickMark val="none"/>
        <c:tickLblPos val="low"/>
        <c:crossAx val="2094734552"/>
        <c:crosses val="autoZero"/>
        <c:auto val="1"/>
        <c:lblAlgn val="ctr"/>
        <c:lblOffset val="100"/>
        <c:noMultiLvlLbl val="1"/>
      </c:catAx>
      <c:valAx>
        <c:axId val="2094734552"/>
        <c:scaling>
          <c:orientation val="minMax"/>
          <c:max val="405.66687999999999"/>
          <c:min val="292.58312000000001"/>
        </c:scaling>
        <c:delete val="1"/>
        <c:axPos val="l"/>
        <c:numFmt formatCode="General" sourceLinked="0"/>
        <c:majorTickMark val="out"/>
        <c:minorTickMark val="none"/>
        <c:tickLblPos val="nextTo"/>
        <c:crossAx val="2094734554"/>
        <c:crosses val="autoZero"/>
        <c:crossBetween val="between"/>
      </c:valAx>
      <c:spPr>
        <a:solidFill>
          <a:srgbClr val="FFFFFF">
            <a:alpha val="0"/>
          </a:srgbClr>
        </a:solidFill>
        <a:ln>
          <a:noFill/>
        </a:ln>
        <a:effectLst/>
      </c:spPr>
    </c:plotArea>
    <c:plotVisOnly val="1"/>
    <c:dispBlanksAs val="span"/>
    <c:showDLblsOverMax val="1"/>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
          <c:y val="0"/>
          <c:w val="1"/>
          <c:h val="1"/>
        </c:manualLayout>
      </c:layout>
      <c:lineChart>
        <c:grouping val="standard"/>
        <c:varyColors val="0"/>
        <c:ser>
          <c:idx val="0"/>
          <c:order val="0"/>
          <c:tx>
            <c:strRef>
              <c:f>Sheet1!$B$1</c:f>
              <c:strCache>
                <c:ptCount val="1"/>
                <c:pt idx="0">
                  <c:v>Food manufacturing PPI</c:v>
                </c:pt>
              </c:strCache>
            </c:strRef>
          </c:tx>
          <c:spPr>
            <a:ln w="17145" cap="flat">
              <a:solidFill>
                <a:srgbClr val="8C6239"/>
              </a:solidFill>
              <a:prstDash val="solid"/>
              <a:round/>
            </a:ln>
            <a:effectLst/>
          </c:spPr>
          <c:marker>
            <c:symbol val="none"/>
          </c:marker>
          <c:dPt>
            <c:idx val="67"/>
            <c:marker>
              <c:symbol val="circle"/>
              <c:size val="5"/>
              <c:spPr>
                <a:solidFill>
                  <a:srgbClr val="B68757"/>
                </a:solidFill>
                <a:ln>
                  <a:noFill/>
                </a:ln>
              </c:spPr>
            </c:marker>
            <c:bubble3D val="0"/>
            <c:extLst>
              <c:ext xmlns:c16="http://schemas.microsoft.com/office/drawing/2014/chart" uri="{C3380CC4-5D6E-409C-BE32-E72D297353CC}">
                <c16:uniqueId val="{00000000-C760-4023-BC2D-3333CC57C087}"/>
              </c:ext>
            </c:extLst>
          </c:dPt>
          <c:cat>
            <c:strRef>
              <c:f>Sheet1!$A$2:$A$69</c:f>
              <c:strCache>
                <c:ptCount val="68"/>
                <c:pt idx="0">
                  <c:v>2021-01</c:v>
                </c:pt>
                <c:pt idx="1">
                  <c:v>2021-02</c:v>
                </c:pt>
                <c:pt idx="2">
                  <c:v>2021-03</c:v>
                </c:pt>
                <c:pt idx="3">
                  <c:v>2021-04</c:v>
                </c:pt>
                <c:pt idx="4">
                  <c:v>2021-05</c:v>
                </c:pt>
                <c:pt idx="5">
                  <c:v>2021-06</c:v>
                </c:pt>
                <c:pt idx="6">
                  <c:v>2021-07</c:v>
                </c:pt>
                <c:pt idx="7">
                  <c:v>2021-08</c:v>
                </c:pt>
                <c:pt idx="8">
                  <c:v>2021-09</c:v>
                </c:pt>
                <c:pt idx="9">
                  <c:v>2021-10</c:v>
                </c:pt>
                <c:pt idx="10">
                  <c:v>2021-11</c:v>
                </c:pt>
                <c:pt idx="11">
                  <c:v>2021-12</c:v>
                </c:pt>
                <c:pt idx="12">
                  <c:v>2022-01</c:v>
                </c:pt>
                <c:pt idx="13">
                  <c:v>2022-02</c:v>
                </c:pt>
                <c:pt idx="14">
                  <c:v>2022-03</c:v>
                </c:pt>
                <c:pt idx="15">
                  <c:v>2022-04</c:v>
                </c:pt>
                <c:pt idx="16">
                  <c:v>2022-05</c:v>
                </c:pt>
                <c:pt idx="17">
                  <c:v>2022-06</c:v>
                </c:pt>
                <c:pt idx="18">
                  <c:v>2022-07</c:v>
                </c:pt>
                <c:pt idx="19">
                  <c:v>2022-08</c:v>
                </c:pt>
                <c:pt idx="20">
                  <c:v>2022-09</c:v>
                </c:pt>
                <c:pt idx="21">
                  <c:v>2022-10</c:v>
                </c:pt>
                <c:pt idx="22">
                  <c:v>2022-11</c:v>
                </c:pt>
                <c:pt idx="23">
                  <c:v>2022-12</c:v>
                </c:pt>
                <c:pt idx="24">
                  <c:v>2023-01</c:v>
                </c:pt>
                <c:pt idx="25">
                  <c:v>2023-02</c:v>
                </c:pt>
                <c:pt idx="26">
                  <c:v>2023-03</c:v>
                </c:pt>
                <c:pt idx="27">
                  <c:v>2023-04</c:v>
                </c:pt>
                <c:pt idx="28">
                  <c:v>2023-05</c:v>
                </c:pt>
                <c:pt idx="29">
                  <c:v>2023-06</c:v>
                </c:pt>
                <c:pt idx="30">
                  <c:v>2023-07</c:v>
                </c:pt>
                <c:pt idx="31">
                  <c:v>2023-08</c:v>
                </c:pt>
                <c:pt idx="32">
                  <c:v>2023-09</c:v>
                </c:pt>
                <c:pt idx="33">
                  <c:v>2023-10</c:v>
                </c:pt>
                <c:pt idx="34">
                  <c:v>2023-11</c:v>
                </c:pt>
                <c:pt idx="35">
                  <c:v>2023-12</c:v>
                </c:pt>
                <c:pt idx="36">
                  <c:v>2024-01</c:v>
                </c:pt>
                <c:pt idx="37">
                  <c:v>2024-02</c:v>
                </c:pt>
                <c:pt idx="38">
                  <c:v>2024-03</c:v>
                </c:pt>
                <c:pt idx="39">
                  <c:v>2024-04</c:v>
                </c:pt>
                <c:pt idx="40">
                  <c:v>2024-05</c:v>
                </c:pt>
                <c:pt idx="41">
                  <c:v>2024-06</c:v>
                </c:pt>
                <c:pt idx="42">
                  <c:v>2024-07</c:v>
                </c:pt>
                <c:pt idx="43">
                  <c:v>2024-08</c:v>
                </c:pt>
                <c:pt idx="44">
                  <c:v>2024-09</c:v>
                </c:pt>
                <c:pt idx="45">
                  <c:v>2024-10</c:v>
                </c:pt>
                <c:pt idx="46">
                  <c:v>2024-11</c:v>
                </c:pt>
                <c:pt idx="47">
                  <c:v>2024-12</c:v>
                </c:pt>
                <c:pt idx="48">
                  <c:v>2025-01</c:v>
                </c:pt>
                <c:pt idx="49">
                  <c:v>2025-02</c:v>
                </c:pt>
                <c:pt idx="50">
                  <c:v>2025-03</c:v>
                </c:pt>
                <c:pt idx="51">
                  <c:v>2025-04</c:v>
                </c:pt>
                <c:pt idx="52">
                  <c:v>2025-05</c:v>
                </c:pt>
                <c:pt idx="53">
                  <c:v>2025-06</c:v>
                </c:pt>
                <c:pt idx="54">
                  <c:v>2025-07</c:v>
                </c:pt>
                <c:pt idx="55">
                  <c:v>2025-08</c:v>
                </c:pt>
                <c:pt idx="56">
                  <c:v>2025-09</c:v>
                </c:pt>
                <c:pt idx="57">
                  <c:v>2025-10</c:v>
                </c:pt>
                <c:pt idx="58">
                  <c:v>2025-11</c:v>
                </c:pt>
                <c:pt idx="59">
                  <c:v>2025-12</c:v>
                </c:pt>
                <c:pt idx="60">
                  <c:v>2026-01</c:v>
                </c:pt>
                <c:pt idx="61">
                  <c:v>2026-02</c:v>
                </c:pt>
                <c:pt idx="62">
                  <c:v>2026-03</c:v>
                </c:pt>
                <c:pt idx="63">
                  <c:v>2026-04</c:v>
                </c:pt>
                <c:pt idx="64">
                  <c:v>2026-05</c:v>
                </c:pt>
                <c:pt idx="65">
                  <c:v>2026-06</c:v>
                </c:pt>
                <c:pt idx="66">
                  <c:v>2026-07</c:v>
                </c:pt>
                <c:pt idx="67">
                  <c:v>2026-08</c:v>
                </c:pt>
              </c:strCache>
            </c:strRef>
          </c:cat>
          <c:val>
            <c:numRef>
              <c:f>Sheet1!$B$2:$B$69</c:f>
              <c:numCache>
                <c:formatCode>General</c:formatCode>
                <c:ptCount val="68"/>
                <c:pt idx="0">
                  <c:v>205</c:v>
                </c:pt>
                <c:pt idx="1">
                  <c:v>208.6</c:v>
                </c:pt>
                <c:pt idx="2">
                  <c:v>211.8</c:v>
                </c:pt>
                <c:pt idx="3">
                  <c:v>217.7</c:v>
                </c:pt>
                <c:pt idx="4">
                  <c:v>223.9</c:v>
                </c:pt>
                <c:pt idx="5">
                  <c:v>228.9</c:v>
                </c:pt>
                <c:pt idx="6">
                  <c:v>225.33500000000001</c:v>
                </c:pt>
                <c:pt idx="7">
                  <c:v>229.18799999999999</c:v>
                </c:pt>
                <c:pt idx="8">
                  <c:v>231.88900000000001</c:v>
                </c:pt>
                <c:pt idx="9">
                  <c:v>229.35499999999999</c:v>
                </c:pt>
                <c:pt idx="10">
                  <c:v>229.49299999999999</c:v>
                </c:pt>
                <c:pt idx="11">
                  <c:v>229.61699999999999</c:v>
                </c:pt>
                <c:pt idx="12">
                  <c:v>234.274</c:v>
                </c:pt>
                <c:pt idx="13">
                  <c:v>238.77500000000001</c:v>
                </c:pt>
                <c:pt idx="14">
                  <c:v>242.416</c:v>
                </c:pt>
                <c:pt idx="15">
                  <c:v>249.12200000000001</c:v>
                </c:pt>
                <c:pt idx="16">
                  <c:v>253.63499999999999</c:v>
                </c:pt>
                <c:pt idx="17">
                  <c:v>256.04000000000002</c:v>
                </c:pt>
                <c:pt idx="18">
                  <c:v>256.59500000000003</c:v>
                </c:pt>
                <c:pt idx="19">
                  <c:v>256.45400000000001</c:v>
                </c:pt>
                <c:pt idx="20">
                  <c:v>255.916</c:v>
                </c:pt>
                <c:pt idx="21">
                  <c:v>254.03200000000001</c:v>
                </c:pt>
                <c:pt idx="22">
                  <c:v>256.04899999999998</c:v>
                </c:pt>
                <c:pt idx="23">
                  <c:v>254.15899999999999</c:v>
                </c:pt>
                <c:pt idx="24">
                  <c:v>255.18799999999999</c:v>
                </c:pt>
                <c:pt idx="25">
                  <c:v>252.191</c:v>
                </c:pt>
                <c:pt idx="26">
                  <c:v>254.26599999999999</c:v>
                </c:pt>
                <c:pt idx="27">
                  <c:v>253.399</c:v>
                </c:pt>
                <c:pt idx="28">
                  <c:v>253.93799999999999</c:v>
                </c:pt>
                <c:pt idx="29">
                  <c:v>253.42500000000001</c:v>
                </c:pt>
                <c:pt idx="30">
                  <c:v>253.273</c:v>
                </c:pt>
                <c:pt idx="31">
                  <c:v>254.48500000000001</c:v>
                </c:pt>
                <c:pt idx="32">
                  <c:v>255.774</c:v>
                </c:pt>
                <c:pt idx="33">
                  <c:v>255.30199999999999</c:v>
                </c:pt>
                <c:pt idx="34">
                  <c:v>252.88300000000001</c:v>
                </c:pt>
                <c:pt idx="35">
                  <c:v>253.71299999999999</c:v>
                </c:pt>
                <c:pt idx="36">
                  <c:v>251.917</c:v>
                </c:pt>
                <c:pt idx="37">
                  <c:v>253.27699999999999</c:v>
                </c:pt>
                <c:pt idx="38">
                  <c:v>255.44499999999999</c:v>
                </c:pt>
                <c:pt idx="39">
                  <c:v>256.52300000000002</c:v>
                </c:pt>
                <c:pt idx="40">
                  <c:v>257.21800000000002</c:v>
                </c:pt>
                <c:pt idx="41">
                  <c:v>259.03100000000001</c:v>
                </c:pt>
                <c:pt idx="42">
                  <c:v>260.37900000000002</c:v>
                </c:pt>
                <c:pt idx="43">
                  <c:v>260.13900000000001</c:v>
                </c:pt>
                <c:pt idx="44">
                  <c:v>261.71499999999997</c:v>
                </c:pt>
                <c:pt idx="45">
                  <c:v>260.666</c:v>
                </c:pt>
                <c:pt idx="46">
                  <c:v>262.17099999999999</c:v>
                </c:pt>
                <c:pt idx="47">
                  <c:v>262.04899999999998</c:v>
                </c:pt>
                <c:pt idx="48">
                  <c:v>263.053</c:v>
                </c:pt>
                <c:pt idx="49">
                  <c:v>265.89600000000002</c:v>
                </c:pt>
                <c:pt idx="50">
                  <c:v>265.96199999999999</c:v>
                </c:pt>
                <c:pt idx="51">
                  <c:v>267.10899999999998</c:v>
                </c:pt>
                <c:pt idx="52">
                  <c:v>268.649</c:v>
                </c:pt>
                <c:pt idx="53">
                  <c:v>270.291</c:v>
                </c:pt>
                <c:pt idx="54">
                  <c:v>270.83199999999999</c:v>
                </c:pt>
                <c:pt idx="55">
                  <c:v>272.79199999999997</c:v>
                </c:pt>
                <c:pt idx="56">
                  <c:v>274.55099999999999</c:v>
                </c:pt>
                <c:pt idx="57">
                  <c:v>269.91199999999998</c:v>
                </c:pt>
                <c:pt idx="58">
                  <c:v>269.21600000000001</c:v>
                </c:pt>
                <c:pt idx="59">
                  <c:v>267.56400000000002</c:v>
                </c:pt>
                <c:pt idx="60">
                  <c:v>267.47500000000002</c:v>
                </c:pt>
                <c:pt idx="61">
                  <c:v>268.096</c:v>
                </c:pt>
                <c:pt idx="62">
                  <c:v>269.95699999999999</c:v>
                </c:pt>
                <c:pt idx="63">
                  <c:v>272.149</c:v>
                </c:pt>
                <c:pt idx="64">
                  <c:v>273.589</c:v>
                </c:pt>
                <c:pt idx="65">
                  <c:v>274.923</c:v>
                </c:pt>
                <c:pt idx="66">
                  <c:v>273.66000000000003</c:v>
                </c:pt>
                <c:pt idx="67">
                  <c:v>273.02800000000002</c:v>
                </c:pt>
              </c:numCache>
            </c:numRef>
          </c:val>
          <c:smooth val="0"/>
          <c:extLst>
            <c:ext xmlns:c16="http://schemas.microsoft.com/office/drawing/2014/chart" uri="{C3380CC4-5D6E-409C-BE32-E72D297353CC}">
              <c16:uniqueId val="{00000001-C760-4023-BC2D-3333CC57C087}"/>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1"/>
        <c:axPos val="b"/>
        <c:numFmt formatCode="General" sourceLinked="1"/>
        <c:majorTickMark val="out"/>
        <c:minorTickMark val="none"/>
        <c:tickLblPos val="low"/>
        <c:crossAx val="2094734552"/>
        <c:crosses val="autoZero"/>
        <c:auto val="1"/>
        <c:lblAlgn val="ctr"/>
        <c:lblOffset val="100"/>
        <c:noMultiLvlLbl val="1"/>
      </c:catAx>
      <c:valAx>
        <c:axId val="2094734552"/>
        <c:scaling>
          <c:orientation val="minMax"/>
          <c:max val="280.51684"/>
          <c:min val="199.40616"/>
        </c:scaling>
        <c:delete val="1"/>
        <c:axPos val="l"/>
        <c:numFmt formatCode="General" sourceLinked="0"/>
        <c:majorTickMark val="out"/>
        <c:minorTickMark val="none"/>
        <c:tickLblPos val="nextTo"/>
        <c:crossAx val="2094734554"/>
        <c:crosses val="autoZero"/>
        <c:crossBetween val="between"/>
      </c:valAx>
      <c:spPr>
        <a:solidFill>
          <a:srgbClr val="FFFFFF">
            <a:alpha val="0"/>
          </a:srgbClr>
        </a:solidFill>
        <a:ln>
          <a:noFill/>
        </a:ln>
        <a:effectLst/>
      </c:spPr>
    </c:plotArea>
    <c:plotVisOnly val="1"/>
    <c:dispBlanksAs val="span"/>
    <c:showDLblsOverMax val="1"/>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
          <c:y val="0"/>
          <c:w val="1"/>
          <c:h val="1"/>
        </c:manualLayout>
      </c:layout>
      <c:lineChart>
        <c:grouping val="standard"/>
        <c:varyColors val="0"/>
        <c:ser>
          <c:idx val="0"/>
          <c:order val="0"/>
          <c:tx>
            <c:strRef>
              <c:f>Sheet1!$B$1</c:f>
              <c:strCache>
                <c:ptCount val="1"/>
                <c:pt idx="0">
                  <c:v>Diesel price ($/gal)</c:v>
                </c:pt>
              </c:strCache>
            </c:strRef>
          </c:tx>
          <c:spPr>
            <a:ln w="17145" cap="flat">
              <a:solidFill>
                <a:srgbClr val="8C6239"/>
              </a:solidFill>
              <a:prstDash val="solid"/>
              <a:round/>
            </a:ln>
            <a:effectLst/>
          </c:spPr>
          <c:marker>
            <c:symbol val="none"/>
          </c:marker>
          <c:dPt>
            <c:idx val="68"/>
            <c:marker>
              <c:symbol val="circle"/>
              <c:size val="5"/>
              <c:spPr>
                <a:solidFill>
                  <a:srgbClr val="B68757"/>
                </a:solidFill>
                <a:ln>
                  <a:noFill/>
                </a:ln>
              </c:spPr>
            </c:marker>
            <c:bubble3D val="0"/>
            <c:extLst>
              <c:ext xmlns:c16="http://schemas.microsoft.com/office/drawing/2014/chart" uri="{C3380CC4-5D6E-409C-BE32-E72D297353CC}">
                <c16:uniqueId val="{00000000-FFF8-406D-975D-55A56323DC9C}"/>
              </c:ext>
            </c:extLst>
          </c:dPt>
          <c:cat>
            <c:strRef>
              <c:f>Sheet1!$A$2:$A$70</c:f>
              <c:strCache>
                <c:ptCount val="69"/>
                <c:pt idx="0">
                  <c:v>2021-01</c:v>
                </c:pt>
                <c:pt idx="1">
                  <c:v>2021-02</c:v>
                </c:pt>
                <c:pt idx="2">
                  <c:v>2021-03</c:v>
                </c:pt>
                <c:pt idx="3">
                  <c:v>2021-04</c:v>
                </c:pt>
                <c:pt idx="4">
                  <c:v>2021-05</c:v>
                </c:pt>
                <c:pt idx="5">
                  <c:v>2021-06</c:v>
                </c:pt>
                <c:pt idx="6">
                  <c:v>2021-07</c:v>
                </c:pt>
                <c:pt idx="7">
                  <c:v>2021-08</c:v>
                </c:pt>
                <c:pt idx="8">
                  <c:v>2021-09</c:v>
                </c:pt>
                <c:pt idx="9">
                  <c:v>2021-10</c:v>
                </c:pt>
                <c:pt idx="10">
                  <c:v>2021-11</c:v>
                </c:pt>
                <c:pt idx="11">
                  <c:v>2021-12</c:v>
                </c:pt>
                <c:pt idx="12">
                  <c:v>2022-01</c:v>
                </c:pt>
                <c:pt idx="13">
                  <c:v>2022-02</c:v>
                </c:pt>
                <c:pt idx="14">
                  <c:v>2022-03</c:v>
                </c:pt>
                <c:pt idx="15">
                  <c:v>2022-04</c:v>
                </c:pt>
                <c:pt idx="16">
                  <c:v>2022-05</c:v>
                </c:pt>
                <c:pt idx="17">
                  <c:v>2022-06</c:v>
                </c:pt>
                <c:pt idx="18">
                  <c:v>2022-07</c:v>
                </c:pt>
                <c:pt idx="19">
                  <c:v>2022-08</c:v>
                </c:pt>
                <c:pt idx="20">
                  <c:v>2022-09</c:v>
                </c:pt>
                <c:pt idx="21">
                  <c:v>2022-10</c:v>
                </c:pt>
                <c:pt idx="22">
                  <c:v>2022-11</c:v>
                </c:pt>
                <c:pt idx="23">
                  <c:v>2022-12</c:v>
                </c:pt>
                <c:pt idx="24">
                  <c:v>2023-01</c:v>
                </c:pt>
                <c:pt idx="25">
                  <c:v>2023-02</c:v>
                </c:pt>
                <c:pt idx="26">
                  <c:v>2023-03</c:v>
                </c:pt>
                <c:pt idx="27">
                  <c:v>2023-04</c:v>
                </c:pt>
                <c:pt idx="28">
                  <c:v>2023-05</c:v>
                </c:pt>
                <c:pt idx="29">
                  <c:v>2023-06</c:v>
                </c:pt>
                <c:pt idx="30">
                  <c:v>2023-07</c:v>
                </c:pt>
                <c:pt idx="31">
                  <c:v>2023-08</c:v>
                </c:pt>
                <c:pt idx="32">
                  <c:v>2023-09</c:v>
                </c:pt>
                <c:pt idx="33">
                  <c:v>2023-10</c:v>
                </c:pt>
                <c:pt idx="34">
                  <c:v>2023-11</c:v>
                </c:pt>
                <c:pt idx="35">
                  <c:v>2023-12</c:v>
                </c:pt>
                <c:pt idx="36">
                  <c:v>2024-01</c:v>
                </c:pt>
                <c:pt idx="37">
                  <c:v>2024-02</c:v>
                </c:pt>
                <c:pt idx="38">
                  <c:v>2024-03</c:v>
                </c:pt>
                <c:pt idx="39">
                  <c:v>2024-04</c:v>
                </c:pt>
                <c:pt idx="40">
                  <c:v>2024-05</c:v>
                </c:pt>
                <c:pt idx="41">
                  <c:v>2024-06</c:v>
                </c:pt>
                <c:pt idx="42">
                  <c:v>2024-07</c:v>
                </c:pt>
                <c:pt idx="43">
                  <c:v>2024-08</c:v>
                </c:pt>
                <c:pt idx="44">
                  <c:v>2024-09</c:v>
                </c:pt>
                <c:pt idx="45">
                  <c:v>2024-10</c:v>
                </c:pt>
                <c:pt idx="46">
                  <c:v>2024-11</c:v>
                </c:pt>
                <c:pt idx="47">
                  <c:v>2024-12</c:v>
                </c:pt>
                <c:pt idx="48">
                  <c:v>2025-01</c:v>
                </c:pt>
                <c:pt idx="49">
                  <c:v>2025-02</c:v>
                </c:pt>
                <c:pt idx="50">
                  <c:v>2025-03</c:v>
                </c:pt>
                <c:pt idx="51">
                  <c:v>2025-04</c:v>
                </c:pt>
                <c:pt idx="52">
                  <c:v>2025-05</c:v>
                </c:pt>
                <c:pt idx="53">
                  <c:v>2025-06</c:v>
                </c:pt>
                <c:pt idx="54">
                  <c:v>2025-07</c:v>
                </c:pt>
                <c:pt idx="55">
                  <c:v>2025-08</c:v>
                </c:pt>
                <c:pt idx="56">
                  <c:v>2025-09</c:v>
                </c:pt>
                <c:pt idx="57">
                  <c:v>2025-10</c:v>
                </c:pt>
                <c:pt idx="58">
                  <c:v>2025-11</c:v>
                </c:pt>
                <c:pt idx="59">
                  <c:v>2025-12</c:v>
                </c:pt>
                <c:pt idx="60">
                  <c:v>2026-01</c:v>
                </c:pt>
                <c:pt idx="61">
                  <c:v>2026-02</c:v>
                </c:pt>
                <c:pt idx="62">
                  <c:v>2026-03</c:v>
                </c:pt>
                <c:pt idx="63">
                  <c:v>2026-04</c:v>
                </c:pt>
                <c:pt idx="64">
                  <c:v>2026-05</c:v>
                </c:pt>
                <c:pt idx="65">
                  <c:v>2026-06</c:v>
                </c:pt>
                <c:pt idx="66">
                  <c:v>2026-07</c:v>
                </c:pt>
                <c:pt idx="67">
                  <c:v>2026-08</c:v>
                </c:pt>
                <c:pt idx="68">
                  <c:v>2026-09</c:v>
                </c:pt>
              </c:strCache>
            </c:strRef>
          </c:cat>
          <c:val>
            <c:numRef>
              <c:f>Sheet1!$B$2:$B$70</c:f>
              <c:numCache>
                <c:formatCode>General</c:formatCode>
                <c:ptCount val="69"/>
                <c:pt idx="0">
                  <c:v>2.681</c:v>
                </c:pt>
                <c:pt idx="1">
                  <c:v>2.847</c:v>
                </c:pt>
                <c:pt idx="2">
                  <c:v>3.1520000000000001</c:v>
                </c:pt>
                <c:pt idx="3">
                  <c:v>3.13</c:v>
                </c:pt>
                <c:pt idx="4">
                  <c:v>3.2170000000000001</c:v>
                </c:pt>
                <c:pt idx="5">
                  <c:v>3.2869999999999999</c:v>
                </c:pt>
                <c:pt idx="6">
                  <c:v>3.339</c:v>
                </c:pt>
                <c:pt idx="7">
                  <c:v>3.35</c:v>
                </c:pt>
                <c:pt idx="8">
                  <c:v>3.3839999999999999</c:v>
                </c:pt>
                <c:pt idx="9">
                  <c:v>3.6120000000000001</c:v>
                </c:pt>
                <c:pt idx="10">
                  <c:v>3.7269999999999999</c:v>
                </c:pt>
                <c:pt idx="11">
                  <c:v>3.641</c:v>
                </c:pt>
                <c:pt idx="12">
                  <c:v>3.7240000000000002</c:v>
                </c:pt>
                <c:pt idx="13">
                  <c:v>4.032</c:v>
                </c:pt>
                <c:pt idx="14">
                  <c:v>5.1050000000000004</c:v>
                </c:pt>
                <c:pt idx="15">
                  <c:v>5.12</c:v>
                </c:pt>
                <c:pt idx="16">
                  <c:v>5.5709999999999997</c:v>
                </c:pt>
                <c:pt idx="17">
                  <c:v>5.7539999999999996</c:v>
                </c:pt>
                <c:pt idx="18">
                  <c:v>5.4859999999999998</c:v>
                </c:pt>
                <c:pt idx="19">
                  <c:v>5.0129999999999999</c:v>
                </c:pt>
                <c:pt idx="20">
                  <c:v>4.9930000000000003</c:v>
                </c:pt>
                <c:pt idx="21">
                  <c:v>5.2110000000000003</c:v>
                </c:pt>
                <c:pt idx="22">
                  <c:v>5.2549999999999999</c:v>
                </c:pt>
                <c:pt idx="23">
                  <c:v>4.7140000000000004</c:v>
                </c:pt>
                <c:pt idx="24">
                  <c:v>4.5759999999999996</c:v>
                </c:pt>
                <c:pt idx="25">
                  <c:v>4.4130000000000003</c:v>
                </c:pt>
                <c:pt idx="26">
                  <c:v>4.2110000000000003</c:v>
                </c:pt>
                <c:pt idx="27">
                  <c:v>4.0990000000000002</c:v>
                </c:pt>
                <c:pt idx="28">
                  <c:v>3.915</c:v>
                </c:pt>
                <c:pt idx="29">
                  <c:v>3.802</c:v>
                </c:pt>
                <c:pt idx="30">
                  <c:v>3.8820000000000001</c:v>
                </c:pt>
                <c:pt idx="31">
                  <c:v>4.37</c:v>
                </c:pt>
                <c:pt idx="32">
                  <c:v>4.5629999999999997</c:v>
                </c:pt>
                <c:pt idx="33">
                  <c:v>4.5069999999999997</c:v>
                </c:pt>
                <c:pt idx="34">
                  <c:v>4.2539999999999996</c:v>
                </c:pt>
                <c:pt idx="35">
                  <c:v>3.972</c:v>
                </c:pt>
                <c:pt idx="36">
                  <c:v>3.8540000000000001</c:v>
                </c:pt>
                <c:pt idx="37">
                  <c:v>4.0439999999999996</c:v>
                </c:pt>
                <c:pt idx="38">
                  <c:v>4.0220000000000002</c:v>
                </c:pt>
                <c:pt idx="39">
                  <c:v>4.0019999999999998</c:v>
                </c:pt>
                <c:pt idx="40">
                  <c:v>3.8220000000000001</c:v>
                </c:pt>
                <c:pt idx="41">
                  <c:v>3.722</c:v>
                </c:pt>
                <c:pt idx="42">
                  <c:v>3.81</c:v>
                </c:pt>
                <c:pt idx="43">
                  <c:v>3.7</c:v>
                </c:pt>
                <c:pt idx="44">
                  <c:v>3.5579999999999998</c:v>
                </c:pt>
                <c:pt idx="45">
                  <c:v>3.585</c:v>
                </c:pt>
                <c:pt idx="46">
                  <c:v>3.5219999999999998</c:v>
                </c:pt>
                <c:pt idx="47">
                  <c:v>3.4940000000000002</c:v>
                </c:pt>
                <c:pt idx="48">
                  <c:v>3.6339999999999999</c:v>
                </c:pt>
                <c:pt idx="49">
                  <c:v>3.6749999999999998</c:v>
                </c:pt>
                <c:pt idx="50">
                  <c:v>3.585</c:v>
                </c:pt>
                <c:pt idx="51">
                  <c:v>3.5670000000000002</c:v>
                </c:pt>
                <c:pt idx="52">
                  <c:v>3.4990000000000001</c:v>
                </c:pt>
                <c:pt idx="53">
                  <c:v>3.5990000000000002</c:v>
                </c:pt>
                <c:pt idx="54">
                  <c:v>3.7789999999999999</c:v>
                </c:pt>
                <c:pt idx="55">
                  <c:v>3.7440000000000002</c:v>
                </c:pt>
                <c:pt idx="56">
                  <c:v>3.7480000000000002</c:v>
                </c:pt>
                <c:pt idx="57">
                  <c:v>3.6789999999999998</c:v>
                </c:pt>
                <c:pt idx="58">
                  <c:v>3.8220000000000001</c:v>
                </c:pt>
                <c:pt idx="59">
                  <c:v>3.6150000000000002</c:v>
                </c:pt>
                <c:pt idx="60">
                  <c:v>3.5230000000000001</c:v>
                </c:pt>
                <c:pt idx="61">
                  <c:v>3.722</c:v>
                </c:pt>
                <c:pt idx="62">
                  <c:v>4.9210000000000003</c:v>
                </c:pt>
                <c:pt idx="63">
                  <c:v>5.5010000000000003</c:v>
                </c:pt>
                <c:pt idx="64">
                  <c:v>5.6</c:v>
                </c:pt>
                <c:pt idx="65">
                  <c:v>5.024</c:v>
                </c:pt>
                <c:pt idx="66">
                  <c:v>4.9550000000000001</c:v>
                </c:pt>
                <c:pt idx="67">
                  <c:v>5.4619999999999997</c:v>
                </c:pt>
                <c:pt idx="68">
                  <c:v>6.2910000000000004</c:v>
                </c:pt>
              </c:numCache>
            </c:numRef>
          </c:val>
          <c:smooth val="0"/>
          <c:extLst>
            <c:ext xmlns:c16="http://schemas.microsoft.com/office/drawing/2014/chart" uri="{C3380CC4-5D6E-409C-BE32-E72D297353CC}">
              <c16:uniqueId val="{00000001-FFF8-406D-975D-55A56323DC9C}"/>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1"/>
        <c:axPos val="b"/>
        <c:numFmt formatCode="General" sourceLinked="1"/>
        <c:majorTickMark val="out"/>
        <c:minorTickMark val="none"/>
        <c:tickLblPos val="low"/>
        <c:crossAx val="2094734552"/>
        <c:crosses val="autoZero"/>
        <c:auto val="1"/>
        <c:lblAlgn val="ctr"/>
        <c:lblOffset val="100"/>
        <c:noMultiLvlLbl val="1"/>
      </c:catAx>
      <c:valAx>
        <c:axId val="2094734552"/>
        <c:scaling>
          <c:orientation val="minMax"/>
          <c:max val="6.5798000000000005"/>
          <c:min val="2.3921999999999999"/>
        </c:scaling>
        <c:delete val="1"/>
        <c:axPos val="l"/>
        <c:numFmt formatCode="General" sourceLinked="0"/>
        <c:majorTickMark val="out"/>
        <c:minorTickMark val="none"/>
        <c:tickLblPos val="nextTo"/>
        <c:crossAx val="2094734554"/>
        <c:crosses val="autoZero"/>
        <c:crossBetween val="between"/>
      </c:valAx>
      <c:spPr>
        <a:solidFill>
          <a:srgbClr val="FFFFFF">
            <a:alpha val="0"/>
          </a:srgbClr>
        </a:solid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601468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1: Cover. Converted from the Consumer Q4 2026 Sector Brief design canvas (October 7, 2026 version).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2: Insights. Converted from the Consumer Q4 2026 Sector Brief design canvas (October 7, 2026 version).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3: Happening in Consumer Right Now. Converted from the Consumer Q4 2026 Sector Brief design canvas (October 7, 2026 version).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4: Tariffs, Fuel and Financing. Converted from the Consumer Q4 2026 Sector Brief design canvas (October 7, 2026 version).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5: Perspectives on Four Consumer Segments. Converted from the Consumer Q4 2026 Sector Brief design canvas (October 7, 2026 version).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6: What We're Reading. Converted from the Consumer Q4 2026 Sector Brief design canvas (October 7, 2026 version).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7: Sector Activity. Converted from the Consumer Q4 2026 Sector Brief design canvas (October 7, 2026 version).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8: Select Recent Consumer Transactions (1 of 2). Converted from the Consumer Q4 2026 Sector Brief design canvas (October 7, 2026 version).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9: Select Recent Consumer Transactions (2 of 2). Converted from the Consumer Q4 2026 Sector Brief design canvas (October 7, 2026 version).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10: Benchmark International's Consumer Transactions. Converted from the Consumer Q4 2026 Sector Brief design canvas (October 7, 2026 version).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11: Who Is Buying. Converted from the Consumer Q4 2026 Sector Brief design canvas (October 7, 2026 version).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12: Public Company Market Performance. Converted from the Consumer Q4 2026 Sector Brief design canvas (October 7, 2026 version).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13: Revenue Growth Trends. Converted from the Consumer Q4 2026 Sector Brief design canvas (October 7, 2026 version).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14: Public Company Valuation Metrics. Converted from the Consumer Q4 2026 Sector Brief design canvas (October 7, 2026 version).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15: Public Company Metrics: Food and Beverage. Converted from the Consumer Q4 2026 Sector Brief design canvas (October 7, 2026 version).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16: Public Company Metrics: Consumer Brands and Foodservice. Converted from the Consumer Q4 2026 Sector Brief design canvas (October 7, 2026 version).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17: Public Company Metrics: Restaurants, Services and Retail. Converted from the Consumer Q4 2026 Sector Brief design canvas (October 7, 2026 version).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18: Demand and Cost Indicators. Converted from the Consumer Q4 2026 Sector Brief design canvas (October 7, 2026 version).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19: Connect With Us. Converted from the Consumer Q4 2026 Sector Brief design canvas (October 7, 2026 version).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20: Connect With Our Team. Converted from the Consumer Q4 2026 Sector Brief design canvas (October 7, 2026 version).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21: Important Disclosures. Converted from the Consumer Q4 2026 Sector Brief design canvas (October 7, 2026 version).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22: Sources. Converted from the Consumer Q4 2026 Sector Brief design canvas (October 7, 2026 version).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jp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10.png"/><Relationship Id="rId4" Type="http://schemas.openxmlformats.org/officeDocument/2006/relationships/image" Target="../media/image9.jpg"/></Relationships>
</file>

<file path=ppt/slides/_rels/slide3.xml.rels><?xml version="1.0" encoding="UTF-8" standalone="yes"?>
<Relationships xmlns="http://schemas.openxmlformats.org/package/2006/relationships"><Relationship Id="rId8" Type="http://schemas.openxmlformats.org/officeDocument/2006/relationships/hyperlink" Target="https://plma.com/article/store-brands-continue-gains-unit-sales-and-shares" TargetMode="External"/><Relationship Id="rId13" Type="http://schemas.openxmlformats.org/officeDocument/2006/relationships/image" Target="../media/image14.png"/><Relationship Id="rId18" Type="http://schemas.openxmlformats.org/officeDocument/2006/relationships/hyperlink" Target="https://www.sec.gov/Archives/edgar/data/0000769520/000076952026000044/middex991er-q22026.htm" TargetMode="External"/><Relationship Id="rId3" Type="http://schemas.openxmlformats.org/officeDocument/2006/relationships/image" Target="../media/image11.jpg"/><Relationship Id="rId21" Type="http://schemas.openxmlformats.org/officeDocument/2006/relationships/hyperlink" Target="https://www.sec.gov/Archives/edgar/data/0002091467/000119312526345758/d135444dex994.htm" TargetMode="External"/><Relationship Id="rId7" Type="http://schemas.openxmlformats.org/officeDocument/2006/relationships/hyperlink" Target="https://www.sec.gov/Archives/edgar/data/0000040704/000162828026063141/a20260923ex99.htm" TargetMode="External"/><Relationship Id="rId12" Type="http://schemas.openxmlformats.org/officeDocument/2006/relationships/hyperlink" Target="https://www.sec.gov/Archives/edgar/data/0001670592/000167059226000039/yeti-20260813xex991pressre.htm" TargetMode="External"/><Relationship Id="rId17" Type="http://schemas.openxmlformats.org/officeDocument/2006/relationships/hyperlink" Target="https://www.sec.gov/Archives/edgar/data/0001418135/000141813526000048/ex991-keurigdrpepperreport.htm" TargetMode="External"/><Relationship Id="rId2" Type="http://schemas.openxmlformats.org/officeDocument/2006/relationships/notesSlide" Target="../notesSlides/notesSlide3.xml"/><Relationship Id="rId16" Type="http://schemas.openxmlformats.org/officeDocument/2006/relationships/hyperlink" Target="https://investors.sysco.com/annual-reports-and-sec-filings/news-releases/2026/03-30-2026-113036743" TargetMode="External"/><Relationship Id="rId20" Type="http://schemas.openxmlformats.org/officeDocument/2006/relationships/hyperlink" Target="https://pitchbook.brightspotcdn.com/40/42/bbeb88094080abaea3d7c87530b8/q2-2026-us-pe-breakdown.pdf" TargetMode="External"/><Relationship Id="rId1" Type="http://schemas.openxmlformats.org/officeDocument/2006/relationships/slideLayout" Target="../slideLayouts/slideLayout1.xml"/><Relationship Id="rId6" Type="http://schemas.openxmlformats.org/officeDocument/2006/relationships/hyperlink" Target="https://www.sec.gov/Archives/edgar/data/0000313927/000119312526326749/chd-ex99_1.htm" TargetMode="External"/><Relationship Id="rId11" Type="http://schemas.openxmlformats.org/officeDocument/2006/relationships/hyperlink" Target="https://www.sec.gov/Archives/edgar/data/0000104169/000010416926000145/earningsreleasefy27q2.htm" TargetMode="External"/><Relationship Id="rId24" Type="http://schemas.openxmlformats.org/officeDocument/2006/relationships/image" Target="../media/image16.png"/><Relationship Id="rId5" Type="http://schemas.openxmlformats.org/officeDocument/2006/relationships/hyperlink" Target="https://www.sec.gov/Archives/edgar/data/0000047111/000162828026050769/exhibit991_2026xq2.htm" TargetMode="External"/><Relationship Id="rId15" Type="http://schemas.openxmlformats.org/officeDocument/2006/relationships/hyperlink" Target="https://www.foodbusinessnews.net/articles/30071-mccormick-to-acquire-unilevers-food-business" TargetMode="External"/><Relationship Id="rId23" Type="http://schemas.openxmlformats.org/officeDocument/2006/relationships/hyperlink" Target="https://www.prnewswire.com/news-releases/nations-largest-pool-service-company-sps-poolcare-acquires-leading-pe-backed-competitor-302669059.html" TargetMode="External"/><Relationship Id="rId10" Type="http://schemas.openxmlformats.org/officeDocument/2006/relationships/hyperlink" Target="https://www.census.gov/retail/mrts/www/data/pdf/ec_current.pdf" TargetMode="External"/><Relationship Id="rId19" Type="http://schemas.openxmlformats.org/officeDocument/2006/relationships/image" Target="../media/image15.png"/><Relationship Id="rId4" Type="http://schemas.openxmlformats.org/officeDocument/2006/relationships/image" Target="../media/image12.png"/><Relationship Id="rId9" Type="http://schemas.openxmlformats.org/officeDocument/2006/relationships/image" Target="../media/image13.png"/><Relationship Id="rId14" Type="http://schemas.openxmlformats.org/officeDocument/2006/relationships/hyperlink" Target="https://www.sec.gov/Archives/edgar/data/55785/000110465925105220/tm2530027d1_ex99-1.htm" TargetMode="External"/><Relationship Id="rId22" Type="http://schemas.openxmlformats.org/officeDocument/2006/relationships/hyperlink" Target="https://www.newswire.com/news/tidal-wave-auto-spa-acquires-and-rebrands-six-locations-in-georgia-and-22863356" TargetMode="External"/></Relationships>
</file>

<file path=ppt/slides/_rels/slide4.xml.rels><?xml version="1.0" encoding="UTF-8" standalone="yes"?>
<Relationships xmlns="http://schemas.openxmlformats.org/package/2006/relationships"><Relationship Id="rId8" Type="http://schemas.openxmlformats.org/officeDocument/2006/relationships/hyperlink" Target="https://www.wiley.law/alert-New-Forced-Labor-Tariffs-Imposed-on-60-US-Trading-Partners" TargetMode="External"/><Relationship Id="rId13" Type="http://schemas.openxmlformats.org/officeDocument/2006/relationships/hyperlink" Target="https://www.eia.gov/outlooks/steo/" TargetMode="External"/><Relationship Id="rId18" Type="http://schemas.openxmlformats.org/officeDocument/2006/relationships/hyperlink" Target="https://www.fasken.com/en/knowledge/2026/05/private-ma-deal-trends-to-watch-key-takeaways-from-srs-acquioms-2026-study" TargetMode="External"/><Relationship Id="rId3" Type="http://schemas.openxmlformats.org/officeDocument/2006/relationships/hyperlink" Target="https://sgbonline.com/yeti-boosts-fy-eps-outlook-after-q2-earnings-beat-sales-climb-9-percent/" TargetMode="External"/><Relationship Id="rId7" Type="http://schemas.openxmlformats.org/officeDocument/2006/relationships/hyperlink" Target="https://www.supremecourt.gov/opinions/25pdf/24-1287_4gcj.pdf" TargetMode="External"/><Relationship Id="rId12" Type="http://schemas.openxmlformats.org/officeDocument/2006/relationships/hyperlink" Target="https://fred.stlouisfed.org/series/GASDESM" TargetMode="External"/><Relationship Id="rId17" Type="http://schemas.openxmlformats.org/officeDocument/2006/relationships/hyperlink" Target="https://pitchbook.brightspotcdn.com/40/42/bbeb88094080abaea3d7c87530b8/q2-2026-us-pe-breakdown.pdf" TargetMode="External"/><Relationship Id="rId2" Type="http://schemas.openxmlformats.org/officeDocument/2006/relationships/notesSlide" Target="../notesSlides/notesSlide4.xml"/><Relationship Id="rId16" Type="http://schemas.openxmlformats.org/officeDocument/2006/relationships/hyperlink" Target="https://www.federalreserve.gov/monetarypolicy/fomcprojtabl20260916.htm" TargetMode="External"/><Relationship Id="rId20" Type="http://schemas.openxmlformats.org/officeDocument/2006/relationships/image" Target="../media/image16.png"/><Relationship Id="rId1" Type="http://schemas.openxmlformats.org/officeDocument/2006/relationships/slideLayout" Target="../slideLayouts/slideLayout1.xml"/><Relationship Id="rId6" Type="http://schemas.openxmlformats.org/officeDocument/2006/relationships/image" Target="../media/image17.png"/><Relationship Id="rId11" Type="http://schemas.openxmlformats.org/officeDocument/2006/relationships/image" Target="../media/image18.png"/><Relationship Id="rId5" Type="http://schemas.openxmlformats.org/officeDocument/2006/relationships/hyperlink" Target="https://nafem.org/2026/03/11/advocacy-issues-survey-pressure-is-the-new-normal/" TargetMode="External"/><Relationship Id="rId15" Type="http://schemas.openxmlformats.org/officeDocument/2006/relationships/hyperlink" Target="https://www.federalreserve.gov/newsevents/pressreleases/monetary20260916a.htm" TargetMode="External"/><Relationship Id="rId10" Type="http://schemas.openxmlformats.org/officeDocument/2006/relationships/hyperlink" Target="https://www.strtrade.com/trade-news-resources/str-trade-report/trade-report/february/de-minimis-suspension-remains-in-place" TargetMode="External"/><Relationship Id="rId19" Type="http://schemas.openxmlformats.org/officeDocument/2006/relationships/image" Target="../media/image20.jpg"/><Relationship Id="rId4" Type="http://schemas.openxmlformats.org/officeDocument/2006/relationships/hyperlink" Target="https://www.sec.gov/Archives/edgar/data/0000104169/000010416926000145/earningsreleasefy27q2.htm" TargetMode="External"/><Relationship Id="rId9" Type="http://schemas.openxmlformats.org/officeDocument/2006/relationships/hyperlink" Target="https://info.expeditors.com/newsflash/white-house-delays-increase-of-section-232-tariffs-on-furniture-and-cabinets" TargetMode="External"/><Relationship Id="rId14" Type="http://schemas.openxmlformats.org/officeDocument/2006/relationships/image" Target="../media/image19.png"/></Relationships>
</file>

<file path=ppt/slides/_rels/slide5.xml.rels><?xml version="1.0" encoding="UTF-8" standalone="yes"?>
<Relationships xmlns="http://schemas.openxmlformats.org/package/2006/relationships"><Relationship Id="rId8" Type="http://schemas.openxmlformats.org/officeDocument/2006/relationships/hyperlink" Target="https://www.sec.gov/Archives/edgar/data/0001665918/000166591826000043/usfd06272026ex991.htm" TargetMode="External"/><Relationship Id="rId13" Type="http://schemas.openxmlformats.org/officeDocument/2006/relationships/hyperlink" Target="https://americanpetproducts.org/news/u.s.-pet-industry-reaches-158-billion-in-2025-poised-for-continued-growth-in-2026" TargetMode="External"/><Relationship Id="rId18" Type="http://schemas.openxmlformats.org/officeDocument/2006/relationships/hyperlink" Target="https://fesmag.com/topics/the-latest-news/23859-equipment-and-supplies-sales-post-modest-growth-in-q2" TargetMode="External"/><Relationship Id="rId26" Type="http://schemas.openxmlformats.org/officeDocument/2006/relationships/hyperlink" Target="https://www.fenderbender.com/news/latest-news/news/55336744/classic-collision-kendrick-paint-body-bought-by-classic-collision" TargetMode="External"/><Relationship Id="rId3" Type="http://schemas.openxmlformats.org/officeDocument/2006/relationships/image" Target="../media/image21.jpg"/><Relationship Id="rId21" Type="http://schemas.openxmlformats.org/officeDocument/2006/relationships/hyperlink" Target="https://www.fermag.com/articles/easy-ice-strengthens-footprint-with-acquisition/" TargetMode="External"/><Relationship Id="rId7" Type="http://schemas.openxmlformats.org/officeDocument/2006/relationships/hyperlink" Target="https://www.nutraingredients.com/Article/2026/08/04/pg-to-acquire-thorne-in-premium-wellness-play/" TargetMode="External"/><Relationship Id="rId12" Type="http://schemas.openxmlformats.org/officeDocument/2006/relationships/hyperlink" Target="https://www.circana.com/post/us-beauty-industry-posts-solid-first-half-growth-as-fragrance-and-skincare-lead-across-prestige-and" TargetMode="External"/><Relationship Id="rId17" Type="http://schemas.openxmlformats.org/officeDocument/2006/relationships/image" Target="../media/image26.png"/><Relationship Id="rId25" Type="http://schemas.openxmlformats.org/officeDocument/2006/relationships/hyperlink" Target="https://finance.yahoo.com/news/blackstone-expands-essential-home-services-221544542.html" TargetMode="External"/><Relationship Id="rId2" Type="http://schemas.openxmlformats.org/officeDocument/2006/relationships/notesSlide" Target="../notesSlides/notesSlide5.xml"/><Relationship Id="rId16" Type="http://schemas.openxmlformats.org/officeDocument/2006/relationships/image" Target="../media/image25.jpg"/><Relationship Id="rId20" Type="http://schemas.openxmlformats.org/officeDocument/2006/relationships/hyperlink" Target="https://www.fermag.com/articles/parts-town-gains-tech-with-acquisition-of-86-repairs/" TargetMode="External"/><Relationship Id="rId29" Type="http://schemas.openxmlformats.org/officeDocument/2006/relationships/hyperlink" Target="https://plma.com/article/store-brands-continue-gains-unit-sales-and-shares" TargetMode="External"/><Relationship Id="rId1" Type="http://schemas.openxmlformats.org/officeDocument/2006/relationships/slideLayout" Target="../slideLayouts/slideLayout1.xml"/><Relationship Id="rId6" Type="http://schemas.openxmlformats.org/officeDocument/2006/relationships/hyperlink" Target="https://www.foodbusinessnews.net/articles/31105-conagra-reviews-brand-portfolio-in-turnaround-push" TargetMode="External"/><Relationship Id="rId11" Type="http://schemas.openxmlformats.org/officeDocument/2006/relationships/image" Target="../media/image24.png"/><Relationship Id="rId24" Type="http://schemas.openxmlformats.org/officeDocument/2006/relationships/hyperlink" Target="https://www.placera.se/pressmeddelanden/mister-car-wash-mister-car-wash-announces-completion-of-take-private-by-leonard-green-partners-20260519" TargetMode="External"/><Relationship Id="rId5" Type="http://schemas.openxmlformats.org/officeDocument/2006/relationships/hyperlink" Target="https://investors.generalmills.com/press-releases/press-release-details/2026/General-Mills-Reports-Fiscal-2027-First-quarter-Results-and-Reaffirms-Full-year-Outlook/default.aspx" TargetMode="External"/><Relationship Id="rId15" Type="http://schemas.openxmlformats.org/officeDocument/2006/relationships/hyperlink" Target="https://calrecycle.ca.gov/packaging/packaging-epr/" TargetMode="External"/><Relationship Id="rId23" Type="http://schemas.openxmlformats.org/officeDocument/2006/relationships/image" Target="../media/image28.png"/><Relationship Id="rId28" Type="http://schemas.openxmlformats.org/officeDocument/2006/relationships/image" Target="../media/image16.png"/><Relationship Id="rId10" Type="http://schemas.openxmlformats.org/officeDocument/2006/relationships/image" Target="../media/image23.jpg"/><Relationship Id="rId19" Type="http://schemas.openxmlformats.org/officeDocument/2006/relationships/hyperlink" Target="https://www.nrn.com/restaurant-franchising/giant-wendy-s-franchisee-meritage-hospitality-group-files-for-bankruptcy" TargetMode="External"/><Relationship Id="rId4" Type="http://schemas.openxmlformats.org/officeDocument/2006/relationships/image" Target="../media/image22.png"/><Relationship Id="rId9" Type="http://schemas.openxmlformats.org/officeDocument/2006/relationships/hyperlink" Target="https://www.sec.gov/Archives/edgar/data/0001618673/000119312526345718/pfgc-ex99_1.htm" TargetMode="External"/><Relationship Id="rId14" Type="http://schemas.openxmlformats.org/officeDocument/2006/relationships/hyperlink" Target="https://chainstoreage.com/circana-retail-spending-remained-resilient-june-heres-what-drove-it" TargetMode="External"/><Relationship Id="rId22" Type="http://schemas.openxmlformats.org/officeDocument/2006/relationships/image" Target="../media/image27.jpg"/><Relationship Id="rId27" Type="http://schemas.openxmlformats.org/officeDocument/2006/relationships/hyperlink" Target="https://www.jchs.harvard.edu/press-releases/remodeling-spending-poised-further-slowdown" TargetMode="External"/><Relationship Id="rId30" Type="http://schemas.openxmlformats.org/officeDocument/2006/relationships/hyperlink" Target="https://restaurant.org/research-and-media/media/press-releases/persistent-cost-increases-and-enduring-demand-will-shape-the-restaurant-industry-in-2026/" TargetMode="External"/></Relationships>
</file>

<file path=ppt/slides/_rels/slide6.xml.rels><?xml version="1.0" encoding="UTF-8" standalone="yes"?>
<Relationships xmlns="http://schemas.openxmlformats.org/package/2006/relationships"><Relationship Id="rId8" Type="http://schemas.openxmlformats.org/officeDocument/2006/relationships/hyperlink" Target="https://www.deloitte.com/us/en/about/press-room/deloitte-forecasts-holiday-retail-sales.html" TargetMode="External"/><Relationship Id="rId3" Type="http://schemas.openxmlformats.org/officeDocument/2006/relationships/image" Target="../media/image29.jpg"/><Relationship Id="rId7" Type="http://schemas.openxmlformats.org/officeDocument/2006/relationships/hyperlink" Target="https://restaurant.org/NRA/media/Research/RPI/2024/RPI-August-2026.pdf"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hyperlink" Target="https://plma.com/article/store-brands-continue-gains-unit-sales-and-shares" TargetMode="External"/><Relationship Id="rId5" Type="http://schemas.openxmlformats.org/officeDocument/2006/relationships/hyperlink" Target="https://www.ers.usda.gov/data-products/food-price-outlook/summary-findings" TargetMode="External"/><Relationship Id="rId4" Type="http://schemas.openxmlformats.org/officeDocument/2006/relationships/image" Target="../media/image30.png"/><Relationship Id="rId9"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10.png"/><Relationship Id="rId4" Type="http://schemas.openxmlformats.org/officeDocument/2006/relationships/image" Target="../media/image31.jpg"/></Relationships>
</file>

<file path=ppt/slides/_rels/slide8.xml.rels><?xml version="1.0" encoding="UTF-8" standalone="yes"?>
<Relationships xmlns="http://schemas.openxmlformats.org/package/2006/relationships"><Relationship Id="rId8" Type="http://schemas.openxmlformats.org/officeDocument/2006/relationships/hyperlink" Target="https://investors.thecloroxcompany.com/news/news-details/2026/Clorox-Announces-Acquisition-of-GOJO-Industries-Makers-of-Purell-Market-Leader-in-Skin-Health-and-Hygiene/" TargetMode="External"/><Relationship Id="rId3" Type="http://schemas.openxmlformats.org/officeDocument/2006/relationships/image" Target="../media/image32.png"/><Relationship Id="rId7" Type="http://schemas.openxmlformats.org/officeDocument/2006/relationships/image" Target="../media/image33.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hyperlink" Target="https://www.foodbusinessnews.net/articles/30721-the-vita-coco-co-acquires-copra-inc" TargetMode="External"/><Relationship Id="rId11" Type="http://schemas.openxmlformats.org/officeDocument/2006/relationships/image" Target="../media/image16.png"/><Relationship Id="rId5" Type="http://schemas.openxmlformats.org/officeDocument/2006/relationships/hyperlink" Target="https://finance.yahoo.com/markets/stocks/articles/hf-foods-group-acquire-searay-123000612.html" TargetMode="External"/><Relationship Id="rId10" Type="http://schemas.openxmlformats.org/officeDocument/2006/relationships/hyperlink" Target="https://www.sec.gov/Archives/edgar/data/2098/000119312526019610/acu-ex99_1.htm" TargetMode="External"/><Relationship Id="rId4" Type="http://schemas.openxmlformats.org/officeDocument/2006/relationships/hyperlink" Target="https://s204.q4cdn.com/636391999/files/content_files/Hormel-Foods-Announces-Definitive-Agreement-to-Acquire-Brakebush_-Supplemental-Slides-vFinal.pdf" TargetMode="External"/><Relationship Id="rId9" Type="http://schemas.openxmlformats.org/officeDocument/2006/relationships/hyperlink" Target="https://ir.prestigebrands.com/news-releases/news-release-details/prestige-consumer-healthcare-announces-agreement-acquire-breathe" TargetMode="External"/></Relationships>
</file>

<file path=ppt/slides/_rels/slide9.xml.rels><?xml version="1.0" encoding="UTF-8" standalone="yes"?>
<Relationships xmlns="http://schemas.openxmlformats.org/package/2006/relationships"><Relationship Id="rId8" Type="http://schemas.openxmlformats.org/officeDocument/2006/relationships/image" Target="../media/image35.png"/><Relationship Id="rId13" Type="http://schemas.openxmlformats.org/officeDocument/2006/relationships/hyperlink" Target="https://rollins.com/investors/press-releases/detail/429/rollins-acquires-romex-pest-control" TargetMode="External"/><Relationship Id="rId3" Type="http://schemas.openxmlformats.org/officeDocument/2006/relationships/image" Target="../media/image34.png"/><Relationship Id="rId7" Type="http://schemas.openxmlformats.org/officeDocument/2006/relationships/hyperlink" Target="https://fesmag.com/topics/the-latest-news/23508-singer-buys-bresco" TargetMode="External"/><Relationship Id="rId12" Type="http://schemas.openxmlformats.org/officeDocument/2006/relationships/hyperlink" Target="https://www.privateequitywire.co.uk/oak-hill-capital-to-acquire-guild-garage-group/" TargetMode="External"/><Relationship Id="rId2" Type="http://schemas.openxmlformats.org/officeDocument/2006/relationships/notesSlide" Target="../notesSlides/notesSlide9.xml"/><Relationship Id="rId16" Type="http://schemas.openxmlformats.org/officeDocument/2006/relationships/image" Target="../media/image16.png"/><Relationship Id="rId1" Type="http://schemas.openxmlformats.org/officeDocument/2006/relationships/slideLayout" Target="../slideLayouts/slideLayout1.xml"/><Relationship Id="rId6" Type="http://schemas.openxmlformats.org/officeDocument/2006/relationships/hyperlink" Target="https://ir.standex.com/2026-03-09-STANDEX-ANNOUNCES-DIVESTITURE-OF-FEDERAL-INDUSTRIES-TO-AERITEK" TargetMode="External"/><Relationship Id="rId11" Type="http://schemas.openxmlformats.org/officeDocument/2006/relationships/hyperlink" Target="https://finance.yahoo.com/markets/stocks/articles/pe-hopes-garage-door-roll-193930270.html" TargetMode="External"/><Relationship Id="rId5" Type="http://schemas.openxmlformats.org/officeDocument/2006/relationships/hyperlink" Target="https://investors.sysco.com/annual-reports-and-sec-filings/news-releases/2026/03-30-2026-113036743" TargetMode="External"/><Relationship Id="rId15" Type="http://schemas.openxmlformats.org/officeDocument/2006/relationships/hyperlink" Target="https://giecdn.blob.core.windows.net/fileuploads/document/2026/05/11/2026-top-100-poster.pdf" TargetMode="External"/><Relationship Id="rId10" Type="http://schemas.openxmlformats.org/officeDocument/2006/relationships/hyperlink" Target="https://www.sec.gov/Archives/edgar/data/1853513/000119312526056047/d113732dex991.htm" TargetMode="External"/><Relationship Id="rId4" Type="http://schemas.openxmlformats.org/officeDocument/2006/relationships/hyperlink" Target="https://www.agri-pulse.com/articles/25180-democrats-call-for-investigation-into-sysco-acquisition" TargetMode="External"/><Relationship Id="rId9" Type="http://schemas.openxmlformats.org/officeDocument/2006/relationships/hyperlink" Target="https://www.prnewswire.com/news-releases/mister-car-wash-announces-completion-of-take-private-by-leonard-green--partners-302776284.html" TargetMode="External"/><Relationship Id="rId14" Type="http://schemas.openxmlformats.org/officeDocument/2006/relationships/hyperlink" Target="https://www.sec.gov/Archives/edgar/data/0000084839/000008483926000040/rol-20260630.htm" TargetMode="External"/></Relationships>
</file>

<file path=ppt/slides/_rels/slide10.xml.rels><?xml version="1.0" encoding="UTF-8" standalone="yes"?>
<Relationships xmlns="http://schemas.openxmlformats.org/package/2006/relationships"><Relationship Id="rId8" Type="http://schemas.openxmlformats.org/officeDocument/2006/relationships/hyperlink" Target="https://www.benchmarkintl.com/insights/completed-transactions/benchmark-international-successfully-facilitated-the-transaction-between-gilco-restoration-inc-and-thomasville-restoration/" TargetMode="External"/><Relationship Id="rId13" Type="http://schemas.openxmlformats.org/officeDocument/2006/relationships/hyperlink" Target="https://www.benchmarkintl.com/insights/completed-transactions/benchmark-international-successfully-facilitated-the-transaction-between-telmark-sales-solutions-inc-and-market-performance-group/" TargetMode="External"/><Relationship Id="rId18" Type="http://schemas.openxmlformats.org/officeDocument/2006/relationships/hyperlink" Target="https://www.benchmarkintl.com/insights/completed-transactions/benchmark-international-successfully-facilitated-a-transaction-between-stirling-food-systems-inc-and-greasecycle-llc/" TargetMode="External"/><Relationship Id="rId3" Type="http://schemas.openxmlformats.org/officeDocument/2006/relationships/hyperlink" Target="https://www.benchmarkintl.com/about/our-success/" TargetMode="External"/><Relationship Id="rId21" Type="http://schemas.openxmlformats.org/officeDocument/2006/relationships/hyperlink" Target="https://www.benchmarkintl.com/insights/completed-transactions/benchmark-international-successfully-facilitated-the-transaction-between-southern-pool-designs-inc-and-an-individual-investor/" TargetMode="External"/><Relationship Id="rId7" Type="http://schemas.openxmlformats.org/officeDocument/2006/relationships/image" Target="../media/image35.png"/><Relationship Id="rId12" Type="http://schemas.openxmlformats.org/officeDocument/2006/relationships/hyperlink" Target="https://www.benchmarkintl.com/insights/completed-transactions/benchmark-international-successfully-facilitated-the-transaction-between-jagimo-corporation-inc-and-castleford-group/" TargetMode="External"/><Relationship Id="rId17" Type="http://schemas.openxmlformats.org/officeDocument/2006/relationships/hyperlink" Target="https://www.benchmarkintl.com/insights/completed-transactions/benchmark-international-successfully-facilitated-the-transaction-between-arocam-inc-and-innova-capital/" TargetMode="External"/><Relationship Id="rId25" Type="http://schemas.openxmlformats.org/officeDocument/2006/relationships/image" Target="../media/image16.png"/><Relationship Id="rId2" Type="http://schemas.openxmlformats.org/officeDocument/2006/relationships/notesSlide" Target="../notesSlides/notesSlide10.xml"/><Relationship Id="rId16" Type="http://schemas.openxmlformats.org/officeDocument/2006/relationships/hyperlink" Target="https://www.benchmarkintl.com/insights/completed-transactions/benchmark-international-successfully-facilitated-the-transaction-between-formulation-technology-incorporated-and-aavin-private-equity/" TargetMode="External"/><Relationship Id="rId20" Type="http://schemas.openxmlformats.org/officeDocument/2006/relationships/hyperlink" Target="https://www.benchmarkintl.com/insights/completed-transactions/benchmark-international-successfully-facilitated-the-transaction-between-gsm-wings-llc-and-gpc-investments/" TargetMode="External"/><Relationship Id="rId1" Type="http://schemas.openxmlformats.org/officeDocument/2006/relationships/slideLayout" Target="../slideLayouts/slideLayout1.xml"/><Relationship Id="rId6" Type="http://schemas.openxmlformats.org/officeDocument/2006/relationships/image" Target="../media/image34.png"/><Relationship Id="rId11" Type="http://schemas.openxmlformats.org/officeDocument/2006/relationships/hyperlink" Target="https://www.benchmarkintl.com/insights/completed-transactions/benchmark-international-successfully-facilitated-the-transaction-between-kittleson-landscape-inc-and-lancaster-group-llc/" TargetMode="External"/><Relationship Id="rId24" Type="http://schemas.openxmlformats.org/officeDocument/2006/relationships/hyperlink" Target="https://www.benchmarkintl.com/insights/featured-content/benchmark-international-successfully-facilitated-the-transaction-between-palm-coast-sales-inc-and-fourshore-partners/" TargetMode="External"/><Relationship Id="rId5" Type="http://schemas.openxmlformats.org/officeDocument/2006/relationships/image" Target="../media/image33.png"/><Relationship Id="rId15" Type="http://schemas.openxmlformats.org/officeDocument/2006/relationships/hyperlink" Target="https://www.benchmarkintl.com/insights/completed-transactions/benchmark-international-successfully-facilitated-the-transaction-between-mm-roofing-co-and-allied-roofing-partners/" TargetMode="External"/><Relationship Id="rId23" Type="http://schemas.openxmlformats.org/officeDocument/2006/relationships/hyperlink" Target="https://www.benchmarkintl.com/insights/completed-transactions/benchmark-international-successfully-facilitated-the-transaction-between-nova-seafood-ltd-and-highwood-harbor-llc/" TargetMode="External"/><Relationship Id="rId10" Type="http://schemas.openxmlformats.org/officeDocument/2006/relationships/hyperlink" Target="https://www.benchmarkintl.com/insights/completed-transactions/benchmark-international-successfully-facilitated-the-transaction-between-wrs-group-ltd-and-project-energy-savers-inc/" TargetMode="External"/><Relationship Id="rId19" Type="http://schemas.openxmlformats.org/officeDocument/2006/relationships/hyperlink" Target="https://www.benchmarkintl.com/insights/completed-transactions/benchmark-international-successfully-facilitated-the-transaction-between-affordable-garage-doors-inc-and-asap-garage-door-repair/" TargetMode="External"/><Relationship Id="rId4" Type="http://schemas.openxmlformats.org/officeDocument/2006/relationships/image" Target="../media/image32.png"/><Relationship Id="rId9" Type="http://schemas.openxmlformats.org/officeDocument/2006/relationships/hyperlink" Target="https://www.benchmarkintl.com/insights/completed-transactions/benchmark-international-successfully-facilitated-the-transaction-between-edison-martial-arts-llc-and-elevate-youth-development/" TargetMode="External"/><Relationship Id="rId14" Type="http://schemas.openxmlformats.org/officeDocument/2006/relationships/hyperlink" Target="https://www.benchmarkintl.com/insights/completed-transactions/benchmark-international-successfully-facilitated-the-transaction-between-stepfar-investments-llc-and-classic-collision-llc/" TargetMode="External"/><Relationship Id="rId22" Type="http://schemas.openxmlformats.org/officeDocument/2006/relationships/hyperlink" Target="https://www.benchmarkintl.com/insights/completed-transactions/benchmark-international-successfully-facilitated-the-transaction-between-smart-buffet-ware-llc-and-front-of-house-worldwide/" TargetMode="External"/></Relationships>
</file>

<file path=ppt/slides/_rels/slide11.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39.png"/><Relationship Id="rId5" Type="http://schemas.openxmlformats.org/officeDocument/2006/relationships/image" Target="../media/image38.png"/><Relationship Id="rId10" Type="http://schemas.openxmlformats.org/officeDocument/2006/relationships/hyperlink" Target="https://www.bain.com/insights/outlook-gaining-traction-global-private-equity-report-2026/" TargetMode="External"/><Relationship Id="rId4" Type="http://schemas.openxmlformats.org/officeDocument/2006/relationships/image" Target="../media/image37.png"/><Relationship Id="rId9"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hyperlink" Target="https://stockanalysis.com/" TargetMode="External"/></Relationships>
</file>

<file path=ppt/slides/_rels/slide13.xml.rels><?xml version="1.0" encoding="UTF-8" standalone="yes"?>
<Relationships xmlns="http://schemas.openxmlformats.org/package/2006/relationships"><Relationship Id="rId8" Type="http://schemas.openxmlformats.org/officeDocument/2006/relationships/chart" Target="../charts/chart3.xml"/><Relationship Id="rId3" Type="http://schemas.openxmlformats.org/officeDocument/2006/relationships/image" Target="../media/image42.png"/><Relationship Id="rId7" Type="http://schemas.openxmlformats.org/officeDocument/2006/relationships/image" Target="../media/image44.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chart" Target="../charts/chart2.xml"/><Relationship Id="rId11" Type="http://schemas.openxmlformats.org/officeDocument/2006/relationships/hyperlink" Target="https://stockanalysis.com/" TargetMode="External"/><Relationship Id="rId5" Type="http://schemas.openxmlformats.org/officeDocument/2006/relationships/image" Target="../media/image43.png"/><Relationship Id="rId10" Type="http://schemas.openxmlformats.org/officeDocument/2006/relationships/image" Target="../media/image16.png"/><Relationship Id="rId4" Type="http://schemas.openxmlformats.org/officeDocument/2006/relationships/chart" Target="../charts/chart1.xml"/><Relationship Id="rId9" Type="http://schemas.openxmlformats.org/officeDocument/2006/relationships/chart" Target="../charts/chart4.xml"/></Relationships>
</file>

<file path=ppt/slides/_rels/slide14.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hyperlink" Target="https://www.sec.gov/Archives/edgar/data/55785/000110465925105220/tm2530027d1_ex99-1.htm" TargetMode="External"/><Relationship Id="rId7" Type="http://schemas.openxmlformats.org/officeDocument/2006/relationships/hyperlink" Target="https://finance.yahoo.com/markets/stocks/articles/hf-foods-group-acquire-searay-123000612.html"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hyperlink" Target="https://ir.prestigebrands.com/news-releases/news-release-details/prestige-consumer-healthcare-announces-agreement-acquire-breathe" TargetMode="External"/><Relationship Id="rId5" Type="http://schemas.openxmlformats.org/officeDocument/2006/relationships/hyperlink" Target="https://www.businesswire.com/news/home/20250512684279/en/Church-Dwight-to-Acquire-the-Touchland-Brand-for-$700-million-Plus-Earn-out" TargetMode="External"/><Relationship Id="rId4" Type="http://schemas.openxmlformats.org/officeDocument/2006/relationships/hyperlink" Target="https://investors.sysco.com/annual-reports-and-sec-filings/news-releases/2026/03-30-2026-113036743" TargetMode="External"/><Relationship Id="rId9" Type="http://schemas.openxmlformats.org/officeDocument/2006/relationships/hyperlink" Target="https://stockanalysis.com/"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hyperlink" Target="https://stockanalysis.com/"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hyperlink" Target="https://stockanalysis.com/"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hyperlink" Target="https://stockanalysis.com/" TargetMode="External"/></Relationships>
</file>

<file path=ppt/slides/_rels/slide18.xml.rels><?xml version="1.0" encoding="UTF-8" standalone="yes"?>
<Relationships xmlns="http://schemas.openxmlformats.org/package/2006/relationships"><Relationship Id="rId8" Type="http://schemas.openxmlformats.org/officeDocument/2006/relationships/chart" Target="../charts/chart7.xml"/><Relationship Id="rId13" Type="http://schemas.openxmlformats.org/officeDocument/2006/relationships/chart" Target="../charts/chart9.xml"/><Relationship Id="rId18" Type="http://schemas.openxmlformats.org/officeDocument/2006/relationships/hyperlink" Target="https://fred.stlouisfed.org/series/PCU311311" TargetMode="External"/><Relationship Id="rId3" Type="http://schemas.openxmlformats.org/officeDocument/2006/relationships/chart" Target="../charts/chart5.xml"/><Relationship Id="rId21" Type="http://schemas.openxmlformats.org/officeDocument/2006/relationships/image" Target="../media/image16.png"/><Relationship Id="rId7" Type="http://schemas.openxmlformats.org/officeDocument/2006/relationships/hyperlink" Target="https://fred.stlouisfed.org/series/MRTSSM722USS" TargetMode="External"/><Relationship Id="rId12" Type="http://schemas.openxmlformats.org/officeDocument/2006/relationships/hyperlink" Target="https://www.sca.isr.umich.edu/" TargetMode="External"/><Relationship Id="rId17" Type="http://schemas.openxmlformats.org/officeDocument/2006/relationships/chart" Target="../charts/chart11.xml"/><Relationship Id="rId2" Type="http://schemas.openxmlformats.org/officeDocument/2006/relationships/notesSlide" Target="../notesSlides/notesSlide18.xml"/><Relationship Id="rId16" Type="http://schemas.openxmlformats.org/officeDocument/2006/relationships/hyperlink" Target="https://fred.stlouisfed.org/series/CUSR0000SEFV" TargetMode="External"/><Relationship Id="rId20" Type="http://schemas.openxmlformats.org/officeDocument/2006/relationships/hyperlink" Target="https://fred.stlouisfed.org/series/GASDESM" TargetMode="External"/><Relationship Id="rId1" Type="http://schemas.openxmlformats.org/officeDocument/2006/relationships/slideLayout" Target="../slideLayouts/slideLayout1.xml"/><Relationship Id="rId6" Type="http://schemas.openxmlformats.org/officeDocument/2006/relationships/chart" Target="../charts/chart6.xml"/><Relationship Id="rId11" Type="http://schemas.openxmlformats.org/officeDocument/2006/relationships/hyperlink" Target="https://fred.stlouisfed.org/series/UMCSENT" TargetMode="External"/><Relationship Id="rId5" Type="http://schemas.openxmlformats.org/officeDocument/2006/relationships/hyperlink" Target="https://www.census.gov/retail/marts/www/marts_current.pdf" TargetMode="External"/><Relationship Id="rId15" Type="http://schemas.openxmlformats.org/officeDocument/2006/relationships/chart" Target="../charts/chart10.xml"/><Relationship Id="rId10" Type="http://schemas.openxmlformats.org/officeDocument/2006/relationships/chart" Target="../charts/chart8.xml"/><Relationship Id="rId19" Type="http://schemas.openxmlformats.org/officeDocument/2006/relationships/chart" Target="../charts/chart12.xml"/><Relationship Id="rId4" Type="http://schemas.openxmlformats.org/officeDocument/2006/relationships/hyperlink" Target="https://fred.stlouisfed.org/series/MRTSSM44X72USS" TargetMode="External"/><Relationship Id="rId9" Type="http://schemas.openxmlformats.org/officeDocument/2006/relationships/hyperlink" Target="https://fred.stlouisfed.org/series/ECOMPCTSA" TargetMode="External"/><Relationship Id="rId14" Type="http://schemas.openxmlformats.org/officeDocument/2006/relationships/hyperlink" Target="https://fred.stlouisfed.org/series/CUSR0000SAF11"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10.png"/><Relationship Id="rId4" Type="http://schemas.openxmlformats.org/officeDocument/2006/relationships/image" Target="../media/image45.jpg"/></Relationships>
</file>

<file path=ppt/slides/_rels/slide20.xml.rels><?xml version="1.0" encoding="UTF-8" standalone="yes"?>
<Relationships xmlns="http://schemas.openxmlformats.org/package/2006/relationships"><Relationship Id="rId8" Type="http://schemas.openxmlformats.org/officeDocument/2006/relationships/image" Target="../media/image49.jpg"/><Relationship Id="rId13" Type="http://schemas.openxmlformats.org/officeDocument/2006/relationships/image" Target="../media/image6.png"/><Relationship Id="rId3" Type="http://schemas.openxmlformats.org/officeDocument/2006/relationships/image" Target="../media/image46.jpg"/><Relationship Id="rId7" Type="http://schemas.openxmlformats.org/officeDocument/2006/relationships/image" Target="../media/image48.jpg"/><Relationship Id="rId12" Type="http://schemas.openxmlformats.org/officeDocument/2006/relationships/image" Target="../media/image5.png"/><Relationship Id="rId2" Type="http://schemas.openxmlformats.org/officeDocument/2006/relationships/notesSlide" Target="../notesSlides/notesSlide20.xml"/><Relationship Id="rId16" Type="http://schemas.openxmlformats.org/officeDocument/2006/relationships/hyperlink" Target="https://www.benchmarkintl.com/about/our-success/" TargetMode="External"/><Relationship Id="rId1" Type="http://schemas.openxmlformats.org/officeDocument/2006/relationships/slideLayout" Target="../slideLayouts/slideLayout1.xml"/><Relationship Id="rId6" Type="http://schemas.openxmlformats.org/officeDocument/2006/relationships/image" Target="../media/image47.jpg"/><Relationship Id="rId11" Type="http://schemas.openxmlformats.org/officeDocument/2006/relationships/image" Target="../media/image4.png"/><Relationship Id="rId5" Type="http://schemas.openxmlformats.org/officeDocument/2006/relationships/hyperlink" Target="mailto:j.hardin@benchmarkintl.com" TargetMode="External"/><Relationship Id="rId15" Type="http://schemas.openxmlformats.org/officeDocument/2006/relationships/image" Target="../media/image16.png"/><Relationship Id="rId10" Type="http://schemas.openxmlformats.org/officeDocument/2006/relationships/image" Target="../media/image50.png"/><Relationship Id="rId4" Type="http://schemas.openxmlformats.org/officeDocument/2006/relationships/hyperlink" Target="tel:8137716675" TargetMode="External"/><Relationship Id="rId9" Type="http://schemas.openxmlformats.org/officeDocument/2006/relationships/hyperlink" Target="https://jp-hardin.github.io/about/mid-market-practice/insights/consumer-industry-report-q4-2026.html" TargetMode="External"/><Relationship Id="rId14" Type="http://schemas.openxmlformats.org/officeDocument/2006/relationships/image" Target="../media/image7.png"/></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6" Type="http://schemas.openxmlformats.org/officeDocument/2006/relationships/hyperlink" Target="https://www.federalreserve.gov/monetarypolicy/fomcprojtabl20260916.htm" TargetMode="External"/><Relationship Id="rId21" Type="http://schemas.openxmlformats.org/officeDocument/2006/relationships/hyperlink" Target="https://info.expeditors.com/newsflash/white-house-delays-increase-of-section-232-tariffs-on-furniture-and-cabinets" TargetMode="External"/><Relationship Id="rId42" Type="http://schemas.openxmlformats.org/officeDocument/2006/relationships/hyperlink" Target="https://www.fermag.com/articles/easy-ice-strengthens-footprint-with-acquisition/" TargetMode="External"/><Relationship Id="rId47" Type="http://schemas.openxmlformats.org/officeDocument/2006/relationships/hyperlink" Target="https://restaurant.org/research-and-media/media/press-releases/persistent-cost-increases-and-enduring-demand-will-shape-the-restaurant-industry-in-2026/" TargetMode="External"/><Relationship Id="rId63" Type="http://schemas.openxmlformats.org/officeDocument/2006/relationships/hyperlink" Target="https://rollins.com/investors/press-releases/detail/429/rollins-acquires-romex-pest-control" TargetMode="External"/><Relationship Id="rId68" Type="http://schemas.openxmlformats.org/officeDocument/2006/relationships/hyperlink" Target="https://www.benchmarkintl.com/insights/completed-transactions/benchmark-international-successfully-facilitated-the-transaction-between-kittleson-landscape-inc-and-lancaster-group-llc/" TargetMode="External"/><Relationship Id="rId84" Type="http://schemas.openxmlformats.org/officeDocument/2006/relationships/hyperlink" Target="https://stockanalysis.com/" TargetMode="External"/><Relationship Id="rId89" Type="http://schemas.openxmlformats.org/officeDocument/2006/relationships/hyperlink" Target="https://fred.stlouisfed.org/series/ECOMPCTSA" TargetMode="External"/><Relationship Id="rId16" Type="http://schemas.openxmlformats.org/officeDocument/2006/relationships/hyperlink" Target="https://www.sec.gov/Archives/edgar/data/0002091467/000119312526345758/d135444dex994.htm" TargetMode="External"/><Relationship Id="rId11" Type="http://schemas.openxmlformats.org/officeDocument/2006/relationships/hyperlink" Target="https://www.foodbusinessnews.net/articles/30071-mccormick-to-acquire-unilevers-food-business" TargetMode="External"/><Relationship Id="rId32" Type="http://schemas.openxmlformats.org/officeDocument/2006/relationships/hyperlink" Target="https://www.nutraingredients.com/Article/2026/08/04/pg-to-acquire-thorne-in-premium-wellness-play/" TargetMode="External"/><Relationship Id="rId37" Type="http://schemas.openxmlformats.org/officeDocument/2006/relationships/hyperlink" Target="https://chainstoreage.com/circana-retail-spending-remained-resilient-june-heres-what-drove-it" TargetMode="External"/><Relationship Id="rId53" Type="http://schemas.openxmlformats.org/officeDocument/2006/relationships/hyperlink" Target="https://www.foodbusinessnews.net/articles/30721-the-vita-coco-co-acquires-copra-inc" TargetMode="External"/><Relationship Id="rId58" Type="http://schemas.openxmlformats.org/officeDocument/2006/relationships/hyperlink" Target="https://ir.standex.com/2026-03-09-STANDEX-ANNOUNCES-DIVESTITURE-OF-FEDERAL-INDUSTRIES-TO-AERITEK" TargetMode="External"/><Relationship Id="rId74" Type="http://schemas.openxmlformats.org/officeDocument/2006/relationships/hyperlink" Target="https://www.benchmarkintl.com/insights/completed-transactions/benchmark-international-successfully-facilitated-the-transaction-between-arocam-inc-and-innova-capital/" TargetMode="External"/><Relationship Id="rId79" Type="http://schemas.openxmlformats.org/officeDocument/2006/relationships/hyperlink" Target="https://www.benchmarkintl.com/insights/completed-transactions/benchmark-international-successfully-facilitated-the-transaction-between-smart-buffet-ware-llc-and-front-of-house-worldwide/" TargetMode="External"/><Relationship Id="rId5" Type="http://schemas.openxmlformats.org/officeDocument/2006/relationships/hyperlink" Target="https://www.sec.gov/Archives/edgar/data/0000040704/000162828026063141/a20260923ex99.htm" TargetMode="External"/><Relationship Id="rId90" Type="http://schemas.openxmlformats.org/officeDocument/2006/relationships/hyperlink" Target="https://fred.stlouisfed.org/series/UMCSENT" TargetMode="External"/><Relationship Id="rId95" Type="http://schemas.openxmlformats.org/officeDocument/2006/relationships/hyperlink" Target="https://s204.q4cdn.com/636391999/files/content_files/Hormel-Foods-Announces-Definitive-Agreement-to-Acquire-Brakebush_-Supplemental-Slides-vFinal.pdf" TargetMode="External"/><Relationship Id="rId22" Type="http://schemas.openxmlformats.org/officeDocument/2006/relationships/hyperlink" Target="https://www.strtrade.com/trade-news-resources/str-trade-report/trade-report/february/de-minimis-suspension-remains-in-place" TargetMode="External"/><Relationship Id="rId27" Type="http://schemas.openxmlformats.org/officeDocument/2006/relationships/hyperlink" Target="https://www.fasken.com/en/knowledge/2026/05/private-ma-deal-trends-to-watch-key-takeaways-from-srs-acquioms-2026-study" TargetMode="External"/><Relationship Id="rId43" Type="http://schemas.openxmlformats.org/officeDocument/2006/relationships/hyperlink" Target="https://www.placera.se/pressmeddelanden/mister-car-wash-mister-car-wash-announces-completion-of-take-private-by-leonard-green-partners-20260519" TargetMode="External"/><Relationship Id="rId48" Type="http://schemas.openxmlformats.org/officeDocument/2006/relationships/hyperlink" Target="https://www.ers.usda.gov/data-products/food-price-outlook/summary-findings" TargetMode="External"/><Relationship Id="rId64" Type="http://schemas.openxmlformats.org/officeDocument/2006/relationships/hyperlink" Target="https://www.sec.gov/Archives/edgar/data/0000084839/000008483926000040/rol-20260630.htm" TargetMode="External"/><Relationship Id="rId69" Type="http://schemas.openxmlformats.org/officeDocument/2006/relationships/hyperlink" Target="https://www.benchmarkintl.com/insights/completed-transactions/benchmark-international-successfully-facilitated-the-transaction-between-jagimo-corporation-inc-and-castleford-group/" TargetMode="External"/><Relationship Id="rId80" Type="http://schemas.openxmlformats.org/officeDocument/2006/relationships/hyperlink" Target="https://www.benchmarkintl.com/insights/completed-transactions/benchmark-international-successfully-facilitated-the-transaction-between-nova-seafood-ltd-and-highwood-harbor-llc/" TargetMode="External"/><Relationship Id="rId85" Type="http://schemas.openxmlformats.org/officeDocument/2006/relationships/hyperlink" Target="https://www.businesswire.com/news/home/20250512684279/en/Church-Dwight-to-Acquire-the-Touchland-Brand-for-$700-million-Plus-Earn-out" TargetMode="External"/><Relationship Id="rId3" Type="http://schemas.openxmlformats.org/officeDocument/2006/relationships/hyperlink" Target="https://www.sec.gov/Archives/edgar/data/0000047111/000162828026050769/exhibit991_2026xq2.htm" TargetMode="External"/><Relationship Id="rId12" Type="http://schemas.openxmlformats.org/officeDocument/2006/relationships/hyperlink" Target="https://investors.sysco.com/annual-reports-and-sec-filings/news-releases/2026/03-30-2026-113036743" TargetMode="External"/><Relationship Id="rId17" Type="http://schemas.openxmlformats.org/officeDocument/2006/relationships/hyperlink" Target="https://www.newswire.com/news/tidal-wave-auto-spa-acquires-and-rebrands-six-locations-in-georgia-and-22863356" TargetMode="External"/><Relationship Id="rId25" Type="http://schemas.openxmlformats.org/officeDocument/2006/relationships/hyperlink" Target="https://www.federalreserve.gov/newsevents/pressreleases/monetary20260916a.htm" TargetMode="External"/><Relationship Id="rId33" Type="http://schemas.openxmlformats.org/officeDocument/2006/relationships/hyperlink" Target="https://www.sec.gov/Archives/edgar/data/0001665918/000166591826000043/usfd06272026ex991.htm" TargetMode="External"/><Relationship Id="rId38" Type="http://schemas.openxmlformats.org/officeDocument/2006/relationships/hyperlink" Target="https://calrecycle.ca.gov/packaging/packaging-epr/" TargetMode="External"/><Relationship Id="rId46" Type="http://schemas.openxmlformats.org/officeDocument/2006/relationships/hyperlink" Target="https://www.jchs.harvard.edu/press-releases/remodeling-spending-poised-further-slowdown" TargetMode="External"/><Relationship Id="rId59" Type="http://schemas.openxmlformats.org/officeDocument/2006/relationships/hyperlink" Target="https://fesmag.com/topics/the-latest-news/23508-singer-buys-bresco" TargetMode="External"/><Relationship Id="rId67" Type="http://schemas.openxmlformats.org/officeDocument/2006/relationships/hyperlink" Target="https://www.benchmarkintl.com/insights/completed-transactions/benchmark-international-successfully-facilitated-the-transaction-between-wrs-group-ltd-and-project-energy-savers-inc/" TargetMode="External"/><Relationship Id="rId20" Type="http://schemas.openxmlformats.org/officeDocument/2006/relationships/hyperlink" Target="https://www.wiley.law/alert-New-Forced-Labor-Tariffs-Imposed-on-60-US-Trading-Partners" TargetMode="External"/><Relationship Id="rId41" Type="http://schemas.openxmlformats.org/officeDocument/2006/relationships/hyperlink" Target="https://www.fermag.com/articles/parts-town-gains-tech-with-acquisition-of-86-repairs/" TargetMode="External"/><Relationship Id="rId54" Type="http://schemas.openxmlformats.org/officeDocument/2006/relationships/hyperlink" Target="https://wysu.org/ohio-news/2026-01-23/clorox-acquires-akron-based-gojo-for-2-25b-says-purell-manufacturer-will-remain-in-ohio" TargetMode="External"/><Relationship Id="rId62" Type="http://schemas.openxmlformats.org/officeDocument/2006/relationships/hyperlink" Target="https://www.privateequitywire.co.uk/oak-hill-capital-to-acquire-guild-garage-group/" TargetMode="External"/><Relationship Id="rId70" Type="http://schemas.openxmlformats.org/officeDocument/2006/relationships/hyperlink" Target="https://www.benchmarkintl.com/insights/completed-transactions/benchmark-international-successfully-facilitated-the-transaction-between-telmark-sales-solutions-inc-and-market-performance-group/" TargetMode="External"/><Relationship Id="rId75" Type="http://schemas.openxmlformats.org/officeDocument/2006/relationships/hyperlink" Target="https://www.benchmarkintl.com/insights/completed-transactions/benchmark-international-successfully-facilitated-a-transaction-between-stirling-food-systems-inc-and-greasecycle-llc/" TargetMode="External"/><Relationship Id="rId83" Type="http://schemas.openxmlformats.org/officeDocument/2006/relationships/hyperlink" Target="https://www.bain.com/insights/outlook-gaining-traction-global-private-equity-report-2026/" TargetMode="External"/><Relationship Id="rId88" Type="http://schemas.openxmlformats.org/officeDocument/2006/relationships/hyperlink" Target="https://fred.stlouisfed.org/series/MRTSSM722USS" TargetMode="External"/><Relationship Id="rId91" Type="http://schemas.openxmlformats.org/officeDocument/2006/relationships/hyperlink" Target="https://www.sca.isr.umich.edu/" TargetMode="External"/><Relationship Id="rId96" Type="http://schemas.openxmlformats.org/officeDocument/2006/relationships/hyperlink" Target="https://investors.thecloroxcompany.com/news/news-details/2026/Clorox-Announces-Acquisition-of-GOJO-Industries-Makers-of-Purell-Market-Leader-in-Skin-Health-and-Hygiene/" TargetMode="External"/><Relationship Id="rId1" Type="http://schemas.openxmlformats.org/officeDocument/2006/relationships/slideLayout" Target="../slideLayouts/slideLayout1.xml"/><Relationship Id="rId6" Type="http://schemas.openxmlformats.org/officeDocument/2006/relationships/hyperlink" Target="https://plma.com/article/store-brands-continue-gains-unit-sales-and-shares" TargetMode="External"/><Relationship Id="rId15" Type="http://schemas.openxmlformats.org/officeDocument/2006/relationships/hyperlink" Target="https://pitchbook.brightspotcdn.com/40/42/bbeb88094080abaea3d7c87530b8/q2-2026-us-pe-breakdown.pdf" TargetMode="External"/><Relationship Id="rId23" Type="http://schemas.openxmlformats.org/officeDocument/2006/relationships/hyperlink" Target="https://fred.stlouisfed.org/series/GASDESM" TargetMode="External"/><Relationship Id="rId28" Type="http://schemas.openxmlformats.org/officeDocument/2006/relationships/hyperlink" Target="https://sgbonline.com/yeti-boosts-fy-eps-outlook-after-q2-earnings-beat-sales-climb-9-percent/" TargetMode="External"/><Relationship Id="rId36" Type="http://schemas.openxmlformats.org/officeDocument/2006/relationships/hyperlink" Target="https://americanpetproducts.org/news/u.s.-pet-industry-reaches-158-billion-in-2025-poised-for-continued-growth-in-2026" TargetMode="External"/><Relationship Id="rId49" Type="http://schemas.openxmlformats.org/officeDocument/2006/relationships/hyperlink" Target="https://restaurant.org/NRA/media/Research/RPI/2024/RPI-August-2026.pdf" TargetMode="External"/><Relationship Id="rId57" Type="http://schemas.openxmlformats.org/officeDocument/2006/relationships/hyperlink" Target="https://www.agri-pulse.com/articles/25180-democrats-call-for-investigation-into-sysco-acquisition" TargetMode="External"/><Relationship Id="rId10" Type="http://schemas.openxmlformats.org/officeDocument/2006/relationships/hyperlink" Target="https://www.sec.gov/Archives/edgar/data/55785/000110465925105220/tm2530027d1_ex99-1.htm" TargetMode="External"/><Relationship Id="rId31" Type="http://schemas.openxmlformats.org/officeDocument/2006/relationships/hyperlink" Target="https://www.foodbusinessnews.net/articles/31105-conagra-reviews-brand-portfolio-in-turnaround-push" TargetMode="External"/><Relationship Id="rId44" Type="http://schemas.openxmlformats.org/officeDocument/2006/relationships/hyperlink" Target="https://finance.yahoo.com/news/blackstone-expands-essential-home-services-221544542.html" TargetMode="External"/><Relationship Id="rId52" Type="http://schemas.openxmlformats.org/officeDocument/2006/relationships/hyperlink" Target="https://finance.yahoo.com/markets/stocks/articles/hf-foods-group-acquire-searay-123000612.html" TargetMode="External"/><Relationship Id="rId60" Type="http://schemas.openxmlformats.org/officeDocument/2006/relationships/hyperlink" Target="https://app.edgar.tools/filing/1853513/0001193125-26-191483/mcw-ex99_1.htm" TargetMode="External"/><Relationship Id="rId65" Type="http://schemas.openxmlformats.org/officeDocument/2006/relationships/hyperlink" Target="https://www.benchmarkintl.com/insights/completed-transactions/benchmark-international-successfully-facilitated-the-transaction-between-gilco-restoration-inc-and-thomasville-restoration/" TargetMode="External"/><Relationship Id="rId73" Type="http://schemas.openxmlformats.org/officeDocument/2006/relationships/hyperlink" Target="https://www.benchmarkintl.com/insights/completed-transactions/benchmark-international-successfully-facilitated-the-transaction-between-formulation-technology-incorporated-and-aavin-private-equity/" TargetMode="External"/><Relationship Id="rId78" Type="http://schemas.openxmlformats.org/officeDocument/2006/relationships/hyperlink" Target="https://www.benchmarkintl.com/insights/completed-transactions/benchmark-international-successfully-facilitated-the-transaction-between-southern-pool-designs-inc-and-an-individual-investor/" TargetMode="External"/><Relationship Id="rId81" Type="http://schemas.openxmlformats.org/officeDocument/2006/relationships/hyperlink" Target="https://www.benchmarkintl.com/insights/featured-content/benchmark-international-successfully-facilitated-the-transaction-between-palm-coast-sales-inc-and-fourshore-partners/" TargetMode="External"/><Relationship Id="rId86" Type="http://schemas.openxmlformats.org/officeDocument/2006/relationships/hyperlink" Target="https://fred.stlouisfed.org/series/MRTSSM44X72USS" TargetMode="External"/><Relationship Id="rId94" Type="http://schemas.openxmlformats.org/officeDocument/2006/relationships/hyperlink" Target="https://fred.stlouisfed.org/series/PCU311311" TargetMode="External"/><Relationship Id="rId99" Type="http://schemas.openxmlformats.org/officeDocument/2006/relationships/image" Target="../media/image16.png"/><Relationship Id="rId4" Type="http://schemas.openxmlformats.org/officeDocument/2006/relationships/hyperlink" Target="https://www.sec.gov/Archives/edgar/data/0000313927/000119312526326749/chd-ex99_1.htm" TargetMode="External"/><Relationship Id="rId9" Type="http://schemas.openxmlformats.org/officeDocument/2006/relationships/hyperlink" Target="https://www.sec.gov/Archives/edgar/data/0001670592/000167059226000039/yeti-20260813xex991pressre.htm" TargetMode="External"/><Relationship Id="rId13" Type="http://schemas.openxmlformats.org/officeDocument/2006/relationships/hyperlink" Target="https://www.sec.gov/Archives/edgar/data/0001418135/000141813526000048/ex991-keurigdrpepperreport.htm" TargetMode="External"/><Relationship Id="rId18" Type="http://schemas.openxmlformats.org/officeDocument/2006/relationships/hyperlink" Target="https://www.prnewswire.com/news-releases/nations-largest-pool-service-company-sps-poolcare-acquires-leading-pe-backed-competitor-302669059.html" TargetMode="External"/><Relationship Id="rId39" Type="http://schemas.openxmlformats.org/officeDocument/2006/relationships/hyperlink" Target="https://fesmag.com/topics/the-latest-news/23859-equipment-and-supplies-sales-post-modest-growth-in-q2" TargetMode="External"/><Relationship Id="rId34" Type="http://schemas.openxmlformats.org/officeDocument/2006/relationships/hyperlink" Target="https://www.sec.gov/Archives/edgar/data/0001618673/000119312526345718/pfgc-ex99_1.htm" TargetMode="External"/><Relationship Id="rId50" Type="http://schemas.openxmlformats.org/officeDocument/2006/relationships/hyperlink" Target="https://www.deloitte.com/us/en/about/press-room/deloitte-forecasts-holiday-retail-sales.html" TargetMode="External"/><Relationship Id="rId55" Type="http://schemas.openxmlformats.org/officeDocument/2006/relationships/hyperlink" Target="https://ir.prestigebrands.com/news-releases/news-release-details/prestige-consumer-healthcare-announces-agreement-acquire-breathe" TargetMode="External"/><Relationship Id="rId76" Type="http://schemas.openxmlformats.org/officeDocument/2006/relationships/hyperlink" Target="https://www.benchmarkintl.com/insights/completed-transactions/benchmark-international-successfully-facilitated-the-transaction-between-affordable-garage-doors-inc-and-asap-garage-door-repair/" TargetMode="External"/><Relationship Id="rId97" Type="http://schemas.openxmlformats.org/officeDocument/2006/relationships/hyperlink" Target="https://www.sec.gov/Archives/edgar/data/1853513/000119312526056047/d113732dex991.htm" TargetMode="External"/><Relationship Id="rId7" Type="http://schemas.openxmlformats.org/officeDocument/2006/relationships/hyperlink" Target="https://www.census.gov/retail/mrts/www/data/pdf/ec_current.pdf" TargetMode="External"/><Relationship Id="rId71" Type="http://schemas.openxmlformats.org/officeDocument/2006/relationships/hyperlink" Target="https://www.benchmarkintl.com/insights/completed-transactions/benchmark-international-successfully-facilitated-the-transaction-between-stepfar-investments-llc-and-classic-collision-llc/" TargetMode="External"/><Relationship Id="rId92" Type="http://schemas.openxmlformats.org/officeDocument/2006/relationships/hyperlink" Target="https://fred.stlouisfed.org/series/CUSR0000SAF11" TargetMode="External"/><Relationship Id="rId2" Type="http://schemas.openxmlformats.org/officeDocument/2006/relationships/notesSlide" Target="../notesSlides/notesSlide22.xml"/><Relationship Id="rId29" Type="http://schemas.openxmlformats.org/officeDocument/2006/relationships/hyperlink" Target="https://nafem.org/2026/03/11/advocacy-issues-survey-pressure-is-the-new-normal/" TargetMode="External"/><Relationship Id="rId24" Type="http://schemas.openxmlformats.org/officeDocument/2006/relationships/hyperlink" Target="https://www.eia.gov/outlooks/steo/" TargetMode="External"/><Relationship Id="rId40" Type="http://schemas.openxmlformats.org/officeDocument/2006/relationships/hyperlink" Target="https://www.nrn.com/restaurant-franchising/giant-wendy-s-franchisee-meritage-hospitality-group-files-for-bankruptcy" TargetMode="External"/><Relationship Id="rId45" Type="http://schemas.openxmlformats.org/officeDocument/2006/relationships/hyperlink" Target="https://www.fenderbender.com/news/latest-news/news/55336744/classic-collision-kendrick-paint-body-bought-by-classic-collision" TargetMode="External"/><Relationship Id="rId66" Type="http://schemas.openxmlformats.org/officeDocument/2006/relationships/hyperlink" Target="https://www.benchmarkintl.com/insights/completed-transactions/benchmark-international-successfully-facilitated-the-transaction-between-edison-martial-arts-llc-and-elevate-youth-development/" TargetMode="External"/><Relationship Id="rId87" Type="http://schemas.openxmlformats.org/officeDocument/2006/relationships/hyperlink" Target="https://www.census.gov/retail/marts/www/marts_current.pdf" TargetMode="External"/><Relationship Id="rId61" Type="http://schemas.openxmlformats.org/officeDocument/2006/relationships/hyperlink" Target="https://finance.yahoo.com/markets/stocks/articles/pe-hopes-garage-door-roll-193930270.html" TargetMode="External"/><Relationship Id="rId82" Type="http://schemas.openxmlformats.org/officeDocument/2006/relationships/hyperlink" Target="https://www.benchmarkintl.com/about/our-success/" TargetMode="External"/><Relationship Id="rId19" Type="http://schemas.openxmlformats.org/officeDocument/2006/relationships/hyperlink" Target="https://www.supremecourt.gov/opinions/25pdf/24-1287_4gcj.pdf" TargetMode="External"/><Relationship Id="rId14" Type="http://schemas.openxmlformats.org/officeDocument/2006/relationships/hyperlink" Target="https://www.sec.gov/Archives/edgar/data/0000769520/000076952026000044/middex991er-q22026.htm" TargetMode="External"/><Relationship Id="rId30" Type="http://schemas.openxmlformats.org/officeDocument/2006/relationships/hyperlink" Target="https://investors.generalmills.com/press-releases/press-release-details/2026/General-Mills-Reports-Fiscal-2027-First-quarter-Results-and-Reaffirms-Full-year-Outlook/default.aspx" TargetMode="External"/><Relationship Id="rId35" Type="http://schemas.openxmlformats.org/officeDocument/2006/relationships/hyperlink" Target="https://www.circana.com/post/us-beauty-industry-posts-solid-first-half-growth-as-fragrance-and-skincare-lead-across-prestige-and" TargetMode="External"/><Relationship Id="rId56" Type="http://schemas.openxmlformats.org/officeDocument/2006/relationships/hyperlink" Target="https://www.sec.gov/Archives/edgar/data/2098/000119312526019610/acu-ex99_1.htm" TargetMode="External"/><Relationship Id="rId77" Type="http://schemas.openxmlformats.org/officeDocument/2006/relationships/hyperlink" Target="https://www.benchmarkintl.com/insights/completed-transactions/benchmark-international-successfully-facilitated-the-transaction-between-gsm-wings-llc-and-gpc-investments/" TargetMode="External"/><Relationship Id="rId8" Type="http://schemas.openxmlformats.org/officeDocument/2006/relationships/hyperlink" Target="https://www.sec.gov/Archives/edgar/data/0000104169/000010416926000145/earningsreleasefy27q2.htm" TargetMode="External"/><Relationship Id="rId51" Type="http://schemas.openxmlformats.org/officeDocument/2006/relationships/hyperlink" Target="https://www.foodbusinessnews.net/articles/31098-hormel-foods-to-acquire-brakebush-brothers" TargetMode="External"/><Relationship Id="rId72" Type="http://schemas.openxmlformats.org/officeDocument/2006/relationships/hyperlink" Target="https://www.benchmarkintl.com/insights/completed-transactions/benchmark-international-successfully-facilitated-the-transaction-between-mm-roofing-co-and-allied-roofing-partners/" TargetMode="External"/><Relationship Id="rId93" Type="http://schemas.openxmlformats.org/officeDocument/2006/relationships/hyperlink" Target="https://fred.stlouisfed.org/series/CUSR0000SEFV" TargetMode="External"/><Relationship Id="rId98" Type="http://schemas.openxmlformats.org/officeDocument/2006/relationships/hyperlink" Target="https://giecdn.blob.core.windows.net/fileuploads/document/2026/05/11/2026-top-100-poster.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1"/>
          <p:cNvSpPr/>
          <p:nvPr/>
        </p:nvSpPr>
        <p:spPr>
          <a:xfrm>
            <a:off x="0" y="0"/>
            <a:ext cx="10058400" cy="7772400"/>
          </a:xfrm>
          <a:prstGeom prst="rect">
            <a:avLst/>
          </a:prstGeom>
          <a:solidFill>
            <a:srgbClr val="1B1A1A"/>
          </a:solidFill>
          <a:ln/>
        </p:spPr>
        <p:txBody>
          <a:bodyPr/>
          <a:lstStyle/>
          <a:p>
            <a:endParaRPr lang="en-US"/>
          </a:p>
        </p:txBody>
      </p:sp>
      <p:pic>
        <p:nvPicPr>
          <p:cNvPr id="3" name="Loaves of bread on bakery racks" descr="Loaves of bread on bakery racks"/>
          <p:cNvPicPr>
            <a:picLocks noChangeAspect="1"/>
          </p:cNvPicPr>
          <p:nvPr/>
        </p:nvPicPr>
        <p:blipFill>
          <a:blip r:embed="rId3"/>
          <a:stretch>
            <a:fillRect/>
          </a:stretch>
        </p:blipFill>
        <p:spPr>
          <a:xfrm>
            <a:off x="0" y="0"/>
            <a:ext cx="10058400" cy="7772400"/>
          </a:xfrm>
          <a:prstGeom prst="rect">
            <a:avLst/>
          </a:prstGeom>
        </p:spPr>
      </p:pic>
      <p:pic>
        <p:nvPicPr>
          <p:cNvPr id="4" name="Shade" descr="/tmp/claude-0/-home-claude-about/4bef2f41-4227-5ff7-ab18-11ac74cd9797/scratchpad/pptx/ex/media/bbebf5d44e0c.png"/>
          <p:cNvPicPr>
            <a:picLocks noChangeAspect="1"/>
          </p:cNvPicPr>
          <p:nvPr/>
        </p:nvPicPr>
        <p:blipFill>
          <a:blip r:embed="rId4"/>
          <a:stretch>
            <a:fillRect/>
          </a:stretch>
        </p:blipFill>
        <p:spPr>
          <a:xfrm>
            <a:off x="0" y="0"/>
            <a:ext cx="10058400" cy="7772400"/>
          </a:xfrm>
          <a:prstGeom prst="rect">
            <a:avLst/>
          </a:prstGeom>
        </p:spPr>
      </p:pic>
      <p:sp>
        <p:nvSpPr>
          <p:cNvPr id="5" name="Shape 4"/>
          <p:cNvSpPr/>
          <p:nvPr/>
        </p:nvSpPr>
        <p:spPr>
          <a:xfrm>
            <a:off x="0" y="0"/>
            <a:ext cx="57150" cy="7772400"/>
          </a:xfrm>
          <a:prstGeom prst="rect">
            <a:avLst/>
          </a:prstGeom>
          <a:solidFill>
            <a:srgbClr val="B68757"/>
          </a:solidFill>
          <a:ln/>
        </p:spPr>
        <p:txBody>
          <a:bodyPr/>
          <a:lstStyle/>
          <a:p>
            <a:endParaRPr lang="en-US"/>
          </a:p>
        </p:txBody>
      </p:sp>
      <p:pic>
        <p:nvPicPr>
          <p:cNvPr id="6" name="Benchmark International" descr="Benchmark International"/>
          <p:cNvPicPr>
            <a:picLocks noChangeAspect="1"/>
          </p:cNvPicPr>
          <p:nvPr/>
        </p:nvPicPr>
        <p:blipFill>
          <a:blip r:embed="rId5"/>
          <a:stretch>
            <a:fillRect/>
          </a:stretch>
        </p:blipFill>
        <p:spPr>
          <a:xfrm>
            <a:off x="609600" y="571500"/>
            <a:ext cx="2438400" cy="457200"/>
          </a:xfrm>
          <a:prstGeom prst="rect">
            <a:avLst/>
          </a:prstGeom>
        </p:spPr>
      </p:pic>
      <p:sp>
        <p:nvSpPr>
          <p:cNvPr id="7" name="Text 6"/>
          <p:cNvSpPr txBox="1"/>
          <p:nvPr/>
        </p:nvSpPr>
        <p:spPr>
          <a:xfrm>
            <a:off x="609600" y="1157288"/>
            <a:ext cx="2313087" cy="133350"/>
          </a:xfrm>
          <a:prstGeom prst="rect">
            <a:avLst/>
          </a:prstGeom>
          <a:noFill/>
          <a:ln/>
        </p:spPr>
        <p:txBody>
          <a:bodyPr wrap="none" lIns="0" tIns="0" rIns="0" bIns="0" rtlCol="0" anchor="t"/>
          <a:lstStyle/>
          <a:p>
            <a:pPr marL="0" indent="0" algn="l">
              <a:lnSpc>
                <a:spcPts val="1050"/>
              </a:lnSpc>
              <a:buNone/>
            </a:pPr>
            <a:r>
              <a:rPr lang="en-US" sz="750" b="1" kern="0" spc="255" dirty="0">
                <a:solidFill>
                  <a:srgbClr val="D3AE84"/>
                </a:solidFill>
                <a:latin typeface="Quicksand" pitchFamily="34" charset="0"/>
              </a:rPr>
              <a:t>BENCHMARK CAPITAL MARKETS</a:t>
            </a:r>
            <a:endParaRPr lang="en-US" sz="750" dirty="0"/>
          </a:p>
        </p:txBody>
      </p:sp>
      <p:sp>
        <p:nvSpPr>
          <p:cNvPr id="8" name="Text 7"/>
          <p:cNvSpPr txBox="1"/>
          <p:nvPr/>
        </p:nvSpPr>
        <p:spPr>
          <a:xfrm>
            <a:off x="609600" y="2247900"/>
            <a:ext cx="3000375" cy="152400"/>
          </a:xfrm>
          <a:prstGeom prst="rect">
            <a:avLst/>
          </a:prstGeom>
          <a:noFill/>
          <a:ln/>
        </p:spPr>
        <p:txBody>
          <a:bodyPr wrap="none" lIns="0" tIns="0" rIns="0" bIns="0" rtlCol="0" anchor="t"/>
          <a:lstStyle/>
          <a:p>
            <a:pPr marL="0" indent="0" algn="l">
              <a:lnSpc>
                <a:spcPts val="1200"/>
              </a:lnSpc>
              <a:buNone/>
            </a:pPr>
            <a:r>
              <a:rPr lang="en-US" sz="825" b="1" kern="0" spc="240" dirty="0">
                <a:solidFill>
                  <a:srgbClr val="D3AE84"/>
                </a:solidFill>
                <a:latin typeface="Quicksand" pitchFamily="34" charset="0"/>
              </a:rPr>
              <a:t>QUARTERLY SECTOR BRIEF  |  Q4 2026</a:t>
            </a:r>
            <a:endParaRPr lang="en-US" sz="825" dirty="0"/>
          </a:p>
        </p:txBody>
      </p:sp>
      <p:sp>
        <p:nvSpPr>
          <p:cNvPr id="9" name="Text 8"/>
          <p:cNvSpPr txBox="1"/>
          <p:nvPr/>
        </p:nvSpPr>
        <p:spPr>
          <a:xfrm>
            <a:off x="571500" y="2490788"/>
            <a:ext cx="4842421" cy="876300"/>
          </a:xfrm>
          <a:prstGeom prst="rect">
            <a:avLst/>
          </a:prstGeom>
          <a:noFill/>
          <a:ln/>
        </p:spPr>
        <p:txBody>
          <a:bodyPr wrap="none" lIns="0" tIns="0" rIns="0" bIns="0" rtlCol="0" anchor="t"/>
          <a:lstStyle/>
          <a:p>
            <a:pPr marL="0" indent="0" algn="l">
              <a:lnSpc>
                <a:spcPts val="6900"/>
              </a:lnSpc>
              <a:buNone/>
            </a:pPr>
            <a:r>
              <a:rPr lang="en-US" sz="6150" kern="0" spc="225" dirty="0">
                <a:solidFill>
                  <a:srgbClr val="FFFFFF"/>
                </a:solidFill>
                <a:latin typeface="Cinzel" pitchFamily="34" charset="0"/>
              </a:rPr>
              <a:t>CONSUMER</a:t>
            </a:r>
            <a:endParaRPr lang="en-US" sz="6150" dirty="0"/>
          </a:p>
        </p:txBody>
      </p:sp>
      <p:sp>
        <p:nvSpPr>
          <p:cNvPr id="10" name="Shape 9"/>
          <p:cNvSpPr/>
          <p:nvPr/>
        </p:nvSpPr>
        <p:spPr>
          <a:xfrm>
            <a:off x="609600" y="3486150"/>
            <a:ext cx="685800" cy="28575"/>
          </a:xfrm>
          <a:prstGeom prst="rect">
            <a:avLst/>
          </a:prstGeom>
          <a:solidFill>
            <a:srgbClr val="B68757"/>
          </a:solidFill>
          <a:ln/>
        </p:spPr>
        <p:txBody>
          <a:bodyPr/>
          <a:lstStyle/>
          <a:p>
            <a:endParaRPr lang="en-US"/>
          </a:p>
        </p:txBody>
      </p:sp>
      <p:sp>
        <p:nvSpPr>
          <p:cNvPr id="11" name="Text 10"/>
          <p:cNvSpPr txBox="1"/>
          <p:nvPr/>
        </p:nvSpPr>
        <p:spPr>
          <a:xfrm>
            <a:off x="609600" y="3729038"/>
            <a:ext cx="4977765" cy="1104900"/>
          </a:xfrm>
          <a:prstGeom prst="rect">
            <a:avLst/>
          </a:prstGeom>
          <a:noFill/>
          <a:ln/>
        </p:spPr>
        <p:txBody>
          <a:bodyPr wrap="square" lIns="0" tIns="0" rIns="0" bIns="0" rtlCol="0" anchor="t"/>
          <a:lstStyle/>
          <a:p>
            <a:pPr marL="0" indent="0" algn="l">
              <a:lnSpc>
                <a:spcPts val="2175"/>
              </a:lnSpc>
              <a:buNone/>
            </a:pPr>
            <a:r>
              <a:rPr lang="en-US" sz="1500" i="1" kern="0" spc="15" dirty="0">
                <a:solidFill>
                  <a:srgbClr val="F4EFE8"/>
                </a:solidFill>
                <a:latin typeface="Newsreader Medium" pitchFamily="34" charset="0"/>
              </a:rPr>
              <a:t>Strategic and financial buyers stayed active across consumer through the third quarter, and they are paying for brands and operators that have held price and volume while the cost of financing a purchase rises.</a:t>
            </a:r>
            <a:endParaRPr lang="en-US" sz="1500" dirty="0"/>
          </a:p>
        </p:txBody>
      </p:sp>
      <p:pic>
        <p:nvPicPr>
          <p:cNvPr id="12" name="Icon" descr="/tmp/claude-0/-home-claude-about/4bef2f41-4227-5ff7-ab18-11ac74cd9797/scratchpad/pptx/ex/media/a5844c0bd0eb.png"/>
          <p:cNvPicPr>
            <a:picLocks noChangeAspect="1"/>
          </p:cNvPicPr>
          <p:nvPr/>
        </p:nvPicPr>
        <p:blipFill>
          <a:blip r:embed="rId6"/>
          <a:stretch>
            <a:fillRect/>
          </a:stretch>
        </p:blipFill>
        <p:spPr>
          <a:xfrm>
            <a:off x="609600" y="5567363"/>
            <a:ext cx="142875" cy="142875"/>
          </a:xfrm>
          <a:prstGeom prst="rect">
            <a:avLst/>
          </a:prstGeom>
        </p:spPr>
      </p:pic>
      <p:sp>
        <p:nvSpPr>
          <p:cNvPr id="13" name="Text 12"/>
          <p:cNvSpPr txBox="1"/>
          <p:nvPr/>
        </p:nvSpPr>
        <p:spPr>
          <a:xfrm>
            <a:off x="838200" y="5557838"/>
            <a:ext cx="966192" cy="152400"/>
          </a:xfrm>
          <a:prstGeom prst="rect">
            <a:avLst/>
          </a:prstGeom>
          <a:noFill/>
          <a:ln/>
        </p:spPr>
        <p:txBody>
          <a:bodyPr wrap="none" lIns="0" tIns="0" rIns="0" bIns="0" rtlCol="0" anchor="t"/>
          <a:lstStyle/>
          <a:p>
            <a:pPr marL="0" indent="0" algn="l">
              <a:lnSpc>
                <a:spcPts val="1200"/>
              </a:lnSpc>
              <a:buNone/>
            </a:pPr>
            <a:r>
              <a:rPr lang="en-US" sz="863" kern="0" spc="15" dirty="0">
                <a:solidFill>
                  <a:srgbClr val="E8E2DA"/>
                </a:solidFill>
                <a:latin typeface="Quicksand" pitchFamily="34" charset="0"/>
              </a:rPr>
              <a:t>Food &amp; Beverage</a:t>
            </a:r>
            <a:endParaRPr lang="en-US" sz="863" dirty="0"/>
          </a:p>
        </p:txBody>
      </p:sp>
      <p:pic>
        <p:nvPicPr>
          <p:cNvPr id="14" name="Icon" descr="/tmp/claude-0/-home-claude-about/4bef2f41-4227-5ff7-ab18-11ac74cd9797/scratchpad/pptx/ex/media/267c0dc43ff0.png"/>
          <p:cNvPicPr>
            <a:picLocks noChangeAspect="1"/>
          </p:cNvPicPr>
          <p:nvPr/>
        </p:nvPicPr>
        <p:blipFill>
          <a:blip r:embed="rId7"/>
          <a:stretch>
            <a:fillRect/>
          </a:stretch>
        </p:blipFill>
        <p:spPr>
          <a:xfrm>
            <a:off x="609600" y="5786438"/>
            <a:ext cx="142875" cy="142875"/>
          </a:xfrm>
          <a:prstGeom prst="rect">
            <a:avLst/>
          </a:prstGeom>
        </p:spPr>
      </p:pic>
      <p:sp>
        <p:nvSpPr>
          <p:cNvPr id="15" name="Text 14"/>
          <p:cNvSpPr txBox="1"/>
          <p:nvPr/>
        </p:nvSpPr>
        <p:spPr>
          <a:xfrm>
            <a:off x="838200" y="5776913"/>
            <a:ext cx="1598265" cy="152400"/>
          </a:xfrm>
          <a:prstGeom prst="rect">
            <a:avLst/>
          </a:prstGeom>
          <a:noFill/>
          <a:ln/>
        </p:spPr>
        <p:txBody>
          <a:bodyPr wrap="none" lIns="0" tIns="0" rIns="0" bIns="0" rtlCol="0" anchor="t"/>
          <a:lstStyle/>
          <a:p>
            <a:pPr marL="0" indent="0" algn="l">
              <a:lnSpc>
                <a:spcPts val="1200"/>
              </a:lnSpc>
              <a:buNone/>
            </a:pPr>
            <a:r>
              <a:rPr lang="en-US" sz="863" kern="0" spc="15" dirty="0">
                <a:solidFill>
                  <a:srgbClr val="E8E2DA"/>
                </a:solidFill>
                <a:latin typeface="Quicksand" pitchFamily="34" charset="0"/>
              </a:rPr>
              <a:t>Consumer Brands &amp; Products</a:t>
            </a:r>
            <a:endParaRPr lang="en-US" sz="863" dirty="0"/>
          </a:p>
        </p:txBody>
      </p:sp>
      <p:pic>
        <p:nvPicPr>
          <p:cNvPr id="16" name="Icon" descr="/tmp/claude-0/-home-claude-about/4bef2f41-4227-5ff7-ab18-11ac74cd9797/scratchpad/pptx/ex/media/df6e3233e72f.png"/>
          <p:cNvPicPr>
            <a:picLocks noChangeAspect="1"/>
          </p:cNvPicPr>
          <p:nvPr/>
        </p:nvPicPr>
        <p:blipFill>
          <a:blip r:embed="rId8"/>
          <a:stretch>
            <a:fillRect/>
          </a:stretch>
        </p:blipFill>
        <p:spPr>
          <a:xfrm>
            <a:off x="609600" y="6005513"/>
            <a:ext cx="142875" cy="142875"/>
          </a:xfrm>
          <a:prstGeom prst="rect">
            <a:avLst/>
          </a:prstGeom>
        </p:spPr>
      </p:pic>
      <p:sp>
        <p:nvSpPr>
          <p:cNvPr id="17" name="Text 16"/>
          <p:cNvSpPr txBox="1"/>
          <p:nvPr/>
        </p:nvSpPr>
        <p:spPr>
          <a:xfrm>
            <a:off x="838200" y="5995988"/>
            <a:ext cx="1436043" cy="152400"/>
          </a:xfrm>
          <a:prstGeom prst="rect">
            <a:avLst/>
          </a:prstGeom>
          <a:noFill/>
          <a:ln/>
        </p:spPr>
        <p:txBody>
          <a:bodyPr wrap="none" lIns="0" tIns="0" rIns="0" bIns="0" rtlCol="0" anchor="t"/>
          <a:lstStyle/>
          <a:p>
            <a:pPr marL="0" indent="0" algn="l">
              <a:lnSpc>
                <a:spcPts val="1200"/>
              </a:lnSpc>
              <a:buNone/>
            </a:pPr>
            <a:r>
              <a:rPr lang="en-US" sz="863" kern="0" spc="15" dirty="0">
                <a:solidFill>
                  <a:srgbClr val="E8E2DA"/>
                </a:solidFill>
                <a:latin typeface="Quicksand" pitchFamily="34" charset="0"/>
              </a:rPr>
              <a:t>Foodservice &amp; Distribution</a:t>
            </a:r>
            <a:endParaRPr lang="en-US" sz="863" dirty="0"/>
          </a:p>
        </p:txBody>
      </p:sp>
      <p:pic>
        <p:nvPicPr>
          <p:cNvPr id="18" name="Icon" descr="/tmp/claude-0/-home-claude-about/4bef2f41-4227-5ff7-ab18-11ac74cd9797/scratchpad/pptx/ex/media/b26f2f7508a0.png"/>
          <p:cNvPicPr>
            <a:picLocks noChangeAspect="1"/>
          </p:cNvPicPr>
          <p:nvPr/>
        </p:nvPicPr>
        <p:blipFill>
          <a:blip r:embed="rId9"/>
          <a:stretch>
            <a:fillRect/>
          </a:stretch>
        </p:blipFill>
        <p:spPr>
          <a:xfrm>
            <a:off x="609600" y="6224588"/>
            <a:ext cx="142875" cy="142875"/>
          </a:xfrm>
          <a:prstGeom prst="rect">
            <a:avLst/>
          </a:prstGeom>
        </p:spPr>
      </p:pic>
      <p:sp>
        <p:nvSpPr>
          <p:cNvPr id="19" name="Text 18"/>
          <p:cNvSpPr txBox="1"/>
          <p:nvPr/>
        </p:nvSpPr>
        <p:spPr>
          <a:xfrm>
            <a:off x="838200" y="6215063"/>
            <a:ext cx="1498848" cy="152400"/>
          </a:xfrm>
          <a:prstGeom prst="rect">
            <a:avLst/>
          </a:prstGeom>
          <a:noFill/>
          <a:ln/>
        </p:spPr>
        <p:txBody>
          <a:bodyPr wrap="none" lIns="0" tIns="0" rIns="0" bIns="0" rtlCol="0" anchor="t"/>
          <a:lstStyle/>
          <a:p>
            <a:pPr marL="0" indent="0" algn="l">
              <a:lnSpc>
                <a:spcPts val="1200"/>
              </a:lnSpc>
              <a:buNone/>
            </a:pPr>
            <a:r>
              <a:rPr lang="en-US" sz="863" kern="0" spc="15" dirty="0">
                <a:solidFill>
                  <a:srgbClr val="E8E2DA"/>
                </a:solidFill>
                <a:latin typeface="Quicksand" pitchFamily="34" charset="0"/>
              </a:rPr>
              <a:t>Consumer Services &amp; Retail</a:t>
            </a:r>
            <a:endParaRPr lang="en-US" sz="863" dirty="0"/>
          </a:p>
        </p:txBody>
      </p:sp>
      <p:sp>
        <p:nvSpPr>
          <p:cNvPr id="20" name="Text 19"/>
          <p:cNvSpPr txBox="1"/>
          <p:nvPr/>
        </p:nvSpPr>
        <p:spPr>
          <a:xfrm>
            <a:off x="609600" y="7067550"/>
            <a:ext cx="2825502" cy="161925"/>
          </a:xfrm>
          <a:prstGeom prst="rect">
            <a:avLst/>
          </a:prstGeom>
          <a:noFill/>
          <a:ln/>
        </p:spPr>
        <p:txBody>
          <a:bodyPr wrap="none" lIns="0" tIns="0" rIns="0" bIns="0" rtlCol="0" anchor="t"/>
          <a:lstStyle/>
          <a:p>
            <a:pPr marL="0" indent="0" algn="l">
              <a:lnSpc>
                <a:spcPts val="1275"/>
              </a:lnSpc>
              <a:buNone/>
            </a:pPr>
            <a:r>
              <a:rPr lang="en-US" sz="863" kern="0" spc="45" dirty="0">
                <a:solidFill>
                  <a:srgbClr val="D9D2C8"/>
                </a:solidFill>
                <a:latin typeface="Quicksand" pitchFamily="34" charset="0"/>
              </a:rPr>
              <a:t>October 2026  |  Jared Hardin, Managing Director</a:t>
            </a:r>
            <a:endParaRPr lang="en-US" sz="863" dirty="0"/>
          </a:p>
        </p:txBody>
      </p:sp>
      <p:sp>
        <p:nvSpPr>
          <p:cNvPr id="21" name="Shape 20"/>
          <p:cNvSpPr/>
          <p:nvPr/>
        </p:nvSpPr>
        <p:spPr>
          <a:xfrm>
            <a:off x="6096000" y="4305300"/>
            <a:ext cx="3543300" cy="3152775"/>
          </a:xfrm>
          <a:prstGeom prst="rect">
            <a:avLst/>
          </a:prstGeom>
          <a:solidFill>
            <a:srgbClr val="1B1A1A">
              <a:alpha val="80000"/>
            </a:srgbClr>
          </a:solidFill>
          <a:ln/>
        </p:spPr>
        <p:txBody>
          <a:bodyPr/>
          <a:lstStyle/>
          <a:p>
            <a:endParaRPr lang="en-US"/>
          </a:p>
        </p:txBody>
      </p:sp>
      <p:sp>
        <p:nvSpPr>
          <p:cNvPr id="22" name="Shape 21"/>
          <p:cNvSpPr/>
          <p:nvPr/>
        </p:nvSpPr>
        <p:spPr>
          <a:xfrm>
            <a:off x="6096000" y="4305300"/>
            <a:ext cx="3543300" cy="28575"/>
          </a:xfrm>
          <a:prstGeom prst="rect">
            <a:avLst/>
          </a:prstGeom>
          <a:solidFill>
            <a:srgbClr val="B68757"/>
          </a:solidFill>
          <a:ln/>
        </p:spPr>
        <p:txBody>
          <a:bodyPr/>
          <a:lstStyle/>
          <a:p>
            <a:endParaRPr lang="en-US"/>
          </a:p>
        </p:txBody>
      </p:sp>
      <p:sp>
        <p:nvSpPr>
          <p:cNvPr id="23" name="Text 22"/>
          <p:cNvSpPr txBox="1"/>
          <p:nvPr/>
        </p:nvSpPr>
        <p:spPr>
          <a:xfrm>
            <a:off x="6343650" y="4538663"/>
            <a:ext cx="3048000" cy="133350"/>
          </a:xfrm>
          <a:prstGeom prst="rect">
            <a:avLst/>
          </a:prstGeom>
          <a:noFill/>
          <a:ln/>
        </p:spPr>
        <p:txBody>
          <a:bodyPr wrap="none" lIns="0" tIns="0" rIns="0" bIns="0" rtlCol="0" anchor="t"/>
          <a:lstStyle/>
          <a:p>
            <a:pPr marL="0" indent="0" algn="l">
              <a:lnSpc>
                <a:spcPts val="1050"/>
              </a:lnSpc>
              <a:buNone/>
            </a:pPr>
            <a:r>
              <a:rPr lang="en-US" sz="750" b="1" kern="0" spc="225" dirty="0">
                <a:solidFill>
                  <a:srgbClr val="D3AE84"/>
                </a:solidFill>
                <a:latin typeface="Quicksand" pitchFamily="34" charset="0"/>
              </a:rPr>
              <a:t>WHAT’S INCLUDED</a:t>
            </a:r>
            <a:endParaRPr lang="en-US" sz="750" dirty="0"/>
          </a:p>
        </p:txBody>
      </p:sp>
      <p:sp>
        <p:nvSpPr>
          <p:cNvPr id="24" name="Shape 23"/>
          <p:cNvSpPr/>
          <p:nvPr/>
        </p:nvSpPr>
        <p:spPr>
          <a:xfrm>
            <a:off x="6343650" y="4791075"/>
            <a:ext cx="3048000" cy="9525"/>
          </a:xfrm>
          <a:prstGeom prst="rect">
            <a:avLst/>
          </a:prstGeom>
          <a:solidFill>
            <a:srgbClr val="D3AE84">
              <a:alpha val="35000"/>
            </a:srgbClr>
          </a:solidFill>
          <a:ln/>
        </p:spPr>
        <p:txBody>
          <a:bodyPr/>
          <a:lstStyle/>
          <a:p>
            <a:endParaRPr lang="en-US"/>
          </a:p>
        </p:txBody>
      </p:sp>
      <p:sp>
        <p:nvSpPr>
          <p:cNvPr id="25" name="Text 24"/>
          <p:cNvSpPr txBox="1"/>
          <p:nvPr/>
        </p:nvSpPr>
        <p:spPr>
          <a:xfrm>
            <a:off x="6343650" y="4919663"/>
            <a:ext cx="342900" cy="247650"/>
          </a:xfrm>
          <a:prstGeom prst="rect">
            <a:avLst/>
          </a:prstGeom>
          <a:noFill/>
          <a:ln/>
        </p:spPr>
        <p:txBody>
          <a:bodyPr wrap="none" lIns="0" tIns="0" rIns="0" bIns="0" rtlCol="0" anchor="t"/>
          <a:lstStyle/>
          <a:p>
            <a:pPr marL="0" indent="0" algn="l">
              <a:lnSpc>
                <a:spcPts val="1950"/>
              </a:lnSpc>
              <a:buNone/>
            </a:pPr>
            <a:r>
              <a:rPr lang="en-US" sz="1650" kern="0" spc="15" dirty="0">
                <a:solidFill>
                  <a:srgbClr val="D3AE84"/>
                </a:solidFill>
                <a:latin typeface="Cinzel" pitchFamily="34" charset="0"/>
              </a:rPr>
              <a:t>01</a:t>
            </a:r>
            <a:endParaRPr lang="en-US" sz="1650" dirty="0"/>
          </a:p>
        </p:txBody>
      </p:sp>
      <p:sp>
        <p:nvSpPr>
          <p:cNvPr id="26" name="Text 25"/>
          <p:cNvSpPr txBox="1"/>
          <p:nvPr/>
        </p:nvSpPr>
        <p:spPr>
          <a:xfrm>
            <a:off x="6838950" y="4919663"/>
            <a:ext cx="2552700" cy="219075"/>
          </a:xfrm>
          <a:prstGeom prst="rect">
            <a:avLst/>
          </a:prstGeom>
          <a:noFill/>
          <a:ln/>
        </p:spPr>
        <p:txBody>
          <a:bodyPr wrap="none" lIns="0" tIns="0" rIns="0" bIns="0" rtlCol="0" anchor="t"/>
          <a:lstStyle/>
          <a:p>
            <a:pPr marL="0" indent="0" algn="l">
              <a:lnSpc>
                <a:spcPts val="1725"/>
              </a:lnSpc>
              <a:buNone/>
            </a:pPr>
            <a:r>
              <a:rPr lang="en-US" sz="1350" kern="0" spc="15" dirty="0">
                <a:solidFill>
                  <a:srgbClr val="FFFFFF"/>
                </a:solidFill>
                <a:latin typeface="Newsreader SemiBold" pitchFamily="34" charset="0"/>
              </a:rPr>
              <a:t>Insights</a:t>
            </a:r>
            <a:endParaRPr lang="en-US" sz="1350" dirty="0"/>
          </a:p>
        </p:txBody>
      </p:sp>
      <p:sp>
        <p:nvSpPr>
          <p:cNvPr id="27" name="Text 26"/>
          <p:cNvSpPr txBox="1"/>
          <p:nvPr/>
        </p:nvSpPr>
        <p:spPr>
          <a:xfrm>
            <a:off x="6838950" y="5162550"/>
            <a:ext cx="2566988" cy="457200"/>
          </a:xfrm>
          <a:prstGeom prst="rect">
            <a:avLst/>
          </a:prstGeom>
          <a:noFill/>
          <a:ln/>
        </p:spPr>
        <p:txBody>
          <a:bodyPr wrap="square" lIns="0" tIns="0" rIns="0" bIns="0" rtlCol="0" anchor="t"/>
          <a:lstStyle/>
          <a:p>
            <a:pPr marL="0" indent="0" algn="l">
              <a:lnSpc>
                <a:spcPts val="1200"/>
              </a:lnSpc>
              <a:buNone/>
            </a:pPr>
            <a:r>
              <a:rPr lang="en-US" sz="825" kern="0" spc="15" dirty="0">
                <a:solidFill>
                  <a:srgbClr val="D9D2C8"/>
                </a:solidFill>
                <a:latin typeface="Quicksand" pitchFamily="34" charset="0"/>
              </a:rPr>
              <a:t>What is happening in consumer right now, three costs buyers are repricing, perspectives on four segments and what we are reading</a:t>
            </a:r>
            <a:endParaRPr lang="en-US" sz="825" dirty="0"/>
          </a:p>
        </p:txBody>
      </p:sp>
      <p:sp>
        <p:nvSpPr>
          <p:cNvPr id="28" name="Shape 27"/>
          <p:cNvSpPr/>
          <p:nvPr/>
        </p:nvSpPr>
        <p:spPr>
          <a:xfrm>
            <a:off x="6343650" y="5743575"/>
            <a:ext cx="3048000" cy="9525"/>
          </a:xfrm>
          <a:prstGeom prst="rect">
            <a:avLst/>
          </a:prstGeom>
          <a:solidFill>
            <a:srgbClr val="D3AE84">
              <a:alpha val="35000"/>
            </a:srgbClr>
          </a:solidFill>
          <a:ln/>
        </p:spPr>
        <p:txBody>
          <a:bodyPr/>
          <a:lstStyle/>
          <a:p>
            <a:endParaRPr lang="en-US"/>
          </a:p>
        </p:txBody>
      </p:sp>
      <p:sp>
        <p:nvSpPr>
          <p:cNvPr id="29" name="Text 28"/>
          <p:cNvSpPr txBox="1"/>
          <p:nvPr/>
        </p:nvSpPr>
        <p:spPr>
          <a:xfrm>
            <a:off x="6343650" y="5872163"/>
            <a:ext cx="342900" cy="247650"/>
          </a:xfrm>
          <a:prstGeom prst="rect">
            <a:avLst/>
          </a:prstGeom>
          <a:noFill/>
          <a:ln/>
        </p:spPr>
        <p:txBody>
          <a:bodyPr wrap="none" lIns="0" tIns="0" rIns="0" bIns="0" rtlCol="0" anchor="t"/>
          <a:lstStyle/>
          <a:p>
            <a:pPr marL="0" indent="0" algn="l">
              <a:lnSpc>
                <a:spcPts val="1950"/>
              </a:lnSpc>
              <a:buNone/>
            </a:pPr>
            <a:r>
              <a:rPr lang="en-US" sz="1650" kern="0" spc="15" dirty="0">
                <a:solidFill>
                  <a:srgbClr val="D3AE84"/>
                </a:solidFill>
                <a:latin typeface="Cinzel" pitchFamily="34" charset="0"/>
              </a:rPr>
              <a:t>02</a:t>
            </a:r>
            <a:endParaRPr lang="en-US" sz="1650" dirty="0"/>
          </a:p>
        </p:txBody>
      </p:sp>
      <p:sp>
        <p:nvSpPr>
          <p:cNvPr id="30" name="Text 29"/>
          <p:cNvSpPr txBox="1"/>
          <p:nvPr/>
        </p:nvSpPr>
        <p:spPr>
          <a:xfrm>
            <a:off x="6838950" y="5872163"/>
            <a:ext cx="2552700" cy="219075"/>
          </a:xfrm>
          <a:prstGeom prst="rect">
            <a:avLst/>
          </a:prstGeom>
          <a:noFill/>
          <a:ln/>
        </p:spPr>
        <p:txBody>
          <a:bodyPr wrap="none" lIns="0" tIns="0" rIns="0" bIns="0" rtlCol="0" anchor="t"/>
          <a:lstStyle/>
          <a:p>
            <a:pPr marL="0" indent="0" algn="l">
              <a:lnSpc>
                <a:spcPts val="1725"/>
              </a:lnSpc>
              <a:buNone/>
            </a:pPr>
            <a:r>
              <a:rPr lang="en-US" sz="1350" kern="0" spc="15" dirty="0">
                <a:solidFill>
                  <a:srgbClr val="FFFFFF"/>
                </a:solidFill>
                <a:latin typeface="Newsreader SemiBold" pitchFamily="34" charset="0"/>
              </a:rPr>
              <a:t>Sector Activity</a:t>
            </a:r>
            <a:endParaRPr lang="en-US" sz="1350" dirty="0"/>
          </a:p>
        </p:txBody>
      </p:sp>
      <p:sp>
        <p:nvSpPr>
          <p:cNvPr id="31" name="Text 30"/>
          <p:cNvSpPr txBox="1"/>
          <p:nvPr/>
        </p:nvSpPr>
        <p:spPr>
          <a:xfrm>
            <a:off x="6838950" y="6115050"/>
            <a:ext cx="2566988" cy="457200"/>
          </a:xfrm>
          <a:prstGeom prst="rect">
            <a:avLst/>
          </a:prstGeom>
          <a:noFill/>
          <a:ln/>
        </p:spPr>
        <p:txBody>
          <a:bodyPr wrap="square" lIns="0" tIns="0" rIns="0" bIns="0" rtlCol="0" anchor="t"/>
          <a:lstStyle/>
          <a:p>
            <a:pPr marL="0" indent="0" algn="l">
              <a:lnSpc>
                <a:spcPts val="1200"/>
              </a:lnSpc>
              <a:buNone/>
            </a:pPr>
            <a:r>
              <a:rPr lang="en-US" sz="825" kern="0" spc="15" dirty="0">
                <a:solidFill>
                  <a:srgbClr val="D9D2C8"/>
                </a:solidFill>
                <a:latin typeface="Quicksand" pitchFamily="34" charset="0"/>
              </a:rPr>
              <a:t>Recent transactions, the buyer landscape, public company performance and valuation, and demand and cost indicators</a:t>
            </a:r>
            <a:endParaRPr lang="en-US" sz="825" dirty="0"/>
          </a:p>
        </p:txBody>
      </p:sp>
      <p:sp>
        <p:nvSpPr>
          <p:cNvPr id="32" name="Shape 31"/>
          <p:cNvSpPr/>
          <p:nvPr/>
        </p:nvSpPr>
        <p:spPr>
          <a:xfrm>
            <a:off x="6343650" y="6696075"/>
            <a:ext cx="3048000" cy="9525"/>
          </a:xfrm>
          <a:prstGeom prst="rect">
            <a:avLst/>
          </a:prstGeom>
          <a:solidFill>
            <a:srgbClr val="D3AE84">
              <a:alpha val="35000"/>
            </a:srgbClr>
          </a:solidFill>
          <a:ln/>
        </p:spPr>
        <p:txBody>
          <a:bodyPr/>
          <a:lstStyle/>
          <a:p>
            <a:endParaRPr lang="en-US"/>
          </a:p>
        </p:txBody>
      </p:sp>
      <p:sp>
        <p:nvSpPr>
          <p:cNvPr id="33" name="Text 32"/>
          <p:cNvSpPr txBox="1"/>
          <p:nvPr/>
        </p:nvSpPr>
        <p:spPr>
          <a:xfrm>
            <a:off x="6343650" y="6824663"/>
            <a:ext cx="342900" cy="247650"/>
          </a:xfrm>
          <a:prstGeom prst="rect">
            <a:avLst/>
          </a:prstGeom>
          <a:noFill/>
          <a:ln/>
        </p:spPr>
        <p:txBody>
          <a:bodyPr wrap="none" lIns="0" tIns="0" rIns="0" bIns="0" rtlCol="0" anchor="t"/>
          <a:lstStyle/>
          <a:p>
            <a:pPr marL="0" indent="0" algn="l">
              <a:lnSpc>
                <a:spcPts val="1950"/>
              </a:lnSpc>
              <a:buNone/>
            </a:pPr>
            <a:r>
              <a:rPr lang="en-US" sz="1650" kern="0" spc="15" dirty="0">
                <a:solidFill>
                  <a:srgbClr val="D3AE84"/>
                </a:solidFill>
                <a:latin typeface="Cinzel" pitchFamily="34" charset="0"/>
              </a:rPr>
              <a:t>03</a:t>
            </a:r>
            <a:endParaRPr lang="en-US" sz="1650" dirty="0"/>
          </a:p>
        </p:txBody>
      </p:sp>
      <p:sp>
        <p:nvSpPr>
          <p:cNvPr id="34" name="Text 33"/>
          <p:cNvSpPr txBox="1"/>
          <p:nvPr/>
        </p:nvSpPr>
        <p:spPr>
          <a:xfrm>
            <a:off x="6838950" y="6824663"/>
            <a:ext cx="2430810" cy="219075"/>
          </a:xfrm>
          <a:prstGeom prst="rect">
            <a:avLst/>
          </a:prstGeom>
          <a:noFill/>
          <a:ln/>
        </p:spPr>
        <p:txBody>
          <a:bodyPr wrap="none" lIns="0" tIns="0" rIns="0" bIns="0" rtlCol="0" anchor="t"/>
          <a:lstStyle/>
          <a:p>
            <a:pPr marL="0" indent="0" algn="l">
              <a:lnSpc>
                <a:spcPts val="1725"/>
              </a:lnSpc>
              <a:buNone/>
            </a:pPr>
            <a:r>
              <a:rPr lang="en-US" sz="1350" kern="0" spc="15" dirty="0">
                <a:solidFill>
                  <a:srgbClr val="FFFFFF"/>
                </a:solidFill>
                <a:latin typeface="Newsreader SemiBold" pitchFamily="34" charset="0"/>
              </a:rPr>
              <a:t>Connect With Us</a:t>
            </a:r>
            <a:endParaRPr lang="en-US" sz="1350" dirty="0"/>
          </a:p>
        </p:txBody>
      </p:sp>
      <p:sp>
        <p:nvSpPr>
          <p:cNvPr id="35" name="Text 34"/>
          <p:cNvSpPr txBox="1"/>
          <p:nvPr/>
        </p:nvSpPr>
        <p:spPr>
          <a:xfrm>
            <a:off x="6838950" y="7067550"/>
            <a:ext cx="2487960" cy="152400"/>
          </a:xfrm>
          <a:prstGeom prst="rect">
            <a:avLst/>
          </a:prstGeom>
          <a:noFill/>
          <a:ln/>
        </p:spPr>
        <p:txBody>
          <a:bodyPr wrap="none" lIns="0" tIns="0" rIns="0" bIns="0" rtlCol="0" anchor="t"/>
          <a:lstStyle/>
          <a:p>
            <a:pPr marL="0" indent="0" algn="l">
              <a:lnSpc>
                <a:spcPts val="1200"/>
              </a:lnSpc>
              <a:buNone/>
            </a:pPr>
            <a:r>
              <a:rPr lang="en-US" sz="825" kern="0" spc="15" dirty="0">
                <a:solidFill>
                  <a:srgbClr val="D9D2C8"/>
                </a:solidFill>
                <a:latin typeface="Quicksand" pitchFamily="34" charset="0"/>
              </a:rPr>
              <a:t>The Benchmark Capital Markets consumer team</a:t>
            </a:r>
            <a:endParaRPr lang="en-US" sz="82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1"/>
          <p:cNvSpPr/>
          <p:nvPr/>
        </p:nvSpPr>
        <p:spPr>
          <a:xfrm>
            <a:off x="0" y="0"/>
            <a:ext cx="10058400" cy="7772400"/>
          </a:xfrm>
          <a:prstGeom prst="rect">
            <a:avLst/>
          </a:prstGeom>
          <a:solidFill>
            <a:srgbClr val="1B1A1A"/>
          </a:solidFill>
          <a:ln/>
        </p:spPr>
        <p:txBody>
          <a:bodyPr/>
          <a:lstStyle/>
          <a:p>
            <a:endParaRPr lang="en-US"/>
          </a:p>
        </p:txBody>
      </p:sp>
      <p:pic>
        <p:nvPicPr>
          <p:cNvPr id="3" name="Image" descr="/tmp/claude-0/-home-claude-about/4bef2f41-4227-5ff7-ab18-11ac74cd9797/scratchpad/pptx/ex/media/1eecee506727.jpg"/>
          <p:cNvPicPr>
            <a:picLocks noChangeAspect="1"/>
          </p:cNvPicPr>
          <p:nvPr/>
        </p:nvPicPr>
        <p:blipFill>
          <a:blip r:embed="rId3">
            <a:alphaModFix amt="40000"/>
          </a:blip>
          <a:stretch>
            <a:fillRect/>
          </a:stretch>
        </p:blipFill>
        <p:spPr>
          <a:xfrm>
            <a:off x="0" y="0"/>
            <a:ext cx="9725025" cy="7772400"/>
          </a:xfrm>
          <a:prstGeom prst="rect">
            <a:avLst/>
          </a:prstGeom>
        </p:spPr>
      </p:pic>
      <p:pic>
        <p:nvPicPr>
          <p:cNvPr id="4" name="A shopper carrying bags on a city street" descr="A shopper carrying bags on a city street"/>
          <p:cNvPicPr>
            <a:picLocks noChangeAspect="1"/>
          </p:cNvPicPr>
          <p:nvPr/>
        </p:nvPicPr>
        <p:blipFill>
          <a:blip r:embed="rId4"/>
          <a:stretch>
            <a:fillRect/>
          </a:stretch>
        </p:blipFill>
        <p:spPr>
          <a:xfrm>
            <a:off x="5676900" y="0"/>
            <a:ext cx="4381500" cy="7772400"/>
          </a:xfrm>
          <a:prstGeom prst="rect">
            <a:avLst/>
          </a:prstGeom>
        </p:spPr>
      </p:pic>
      <p:pic>
        <p:nvPicPr>
          <p:cNvPr id="5" name="Shade" descr="/tmp/claude-0/-home-claude-about/4bef2f41-4227-5ff7-ab18-11ac74cd9797/scratchpad/pptx/ex/media/b967cc30ffa5.png"/>
          <p:cNvPicPr>
            <a:picLocks noChangeAspect="1"/>
          </p:cNvPicPr>
          <p:nvPr/>
        </p:nvPicPr>
        <p:blipFill>
          <a:blip r:embed="rId5"/>
          <a:stretch>
            <a:fillRect/>
          </a:stretch>
        </p:blipFill>
        <p:spPr>
          <a:xfrm>
            <a:off x="5676900" y="0"/>
            <a:ext cx="4381500" cy="7772400"/>
          </a:xfrm>
          <a:prstGeom prst="rect">
            <a:avLst/>
          </a:prstGeom>
        </p:spPr>
      </p:pic>
      <p:sp>
        <p:nvSpPr>
          <p:cNvPr id="6" name="Shape 5"/>
          <p:cNvSpPr/>
          <p:nvPr/>
        </p:nvSpPr>
        <p:spPr>
          <a:xfrm>
            <a:off x="5619750" y="0"/>
            <a:ext cx="57150" cy="7772400"/>
          </a:xfrm>
          <a:prstGeom prst="rect">
            <a:avLst/>
          </a:prstGeom>
          <a:solidFill>
            <a:srgbClr val="B68757"/>
          </a:solidFill>
          <a:ln/>
        </p:spPr>
        <p:txBody>
          <a:bodyPr/>
          <a:lstStyle/>
          <a:p>
            <a:endParaRPr lang="en-US"/>
          </a:p>
        </p:txBody>
      </p:sp>
      <p:sp>
        <p:nvSpPr>
          <p:cNvPr id="7" name="Text 6"/>
          <p:cNvSpPr txBox="1"/>
          <p:nvPr/>
        </p:nvSpPr>
        <p:spPr>
          <a:xfrm>
            <a:off x="609600" y="604838"/>
            <a:ext cx="3370213" cy="133350"/>
          </a:xfrm>
          <a:prstGeom prst="rect">
            <a:avLst/>
          </a:prstGeom>
          <a:noFill/>
          <a:ln/>
        </p:spPr>
        <p:txBody>
          <a:bodyPr wrap="none" lIns="0" tIns="0" rIns="0" bIns="0" rtlCol="0" anchor="t"/>
          <a:lstStyle/>
          <a:p>
            <a:pPr marL="0" indent="0" algn="l">
              <a:lnSpc>
                <a:spcPts val="1050"/>
              </a:lnSpc>
              <a:buNone/>
            </a:pPr>
            <a:r>
              <a:rPr lang="en-US" sz="675" b="1" kern="0" spc="195" dirty="0">
                <a:solidFill>
                  <a:srgbClr val="D3AE84"/>
                </a:solidFill>
                <a:latin typeface="Quicksand" pitchFamily="34" charset="0"/>
              </a:rPr>
              <a:t>CONSUMER  |  QUARTERLY SECTOR BRIEF  |  Q4 2026</a:t>
            </a:r>
            <a:endParaRPr lang="en-US" sz="675" dirty="0"/>
          </a:p>
        </p:txBody>
      </p:sp>
      <p:sp>
        <p:nvSpPr>
          <p:cNvPr id="8" name="Text 7"/>
          <p:cNvSpPr txBox="1"/>
          <p:nvPr/>
        </p:nvSpPr>
        <p:spPr>
          <a:xfrm>
            <a:off x="571500" y="1428750"/>
            <a:ext cx="1169789" cy="1143000"/>
          </a:xfrm>
          <a:prstGeom prst="rect">
            <a:avLst/>
          </a:prstGeom>
          <a:noFill/>
          <a:ln/>
        </p:spPr>
        <p:txBody>
          <a:bodyPr wrap="none" lIns="0" tIns="0" rIns="0" bIns="0" rtlCol="0" anchor="t"/>
          <a:lstStyle/>
          <a:p>
            <a:pPr marL="0" indent="0" algn="l">
              <a:lnSpc>
                <a:spcPts val="9000"/>
              </a:lnSpc>
              <a:buNone/>
            </a:pPr>
            <a:r>
              <a:rPr lang="en-US" sz="9000" kern="0" spc="150" dirty="0">
                <a:solidFill>
                  <a:srgbClr val="B68757"/>
                </a:solidFill>
                <a:latin typeface="Cinzel" pitchFamily="34" charset="0"/>
              </a:rPr>
              <a:t>01</a:t>
            </a:r>
            <a:endParaRPr lang="en-US" sz="9000" dirty="0"/>
          </a:p>
        </p:txBody>
      </p:sp>
      <p:sp>
        <p:nvSpPr>
          <p:cNvPr id="9" name="Text 8"/>
          <p:cNvSpPr txBox="1"/>
          <p:nvPr/>
        </p:nvSpPr>
        <p:spPr>
          <a:xfrm>
            <a:off x="609600" y="2724150"/>
            <a:ext cx="4572000" cy="571500"/>
          </a:xfrm>
          <a:prstGeom prst="rect">
            <a:avLst/>
          </a:prstGeom>
          <a:noFill/>
          <a:ln/>
        </p:spPr>
        <p:txBody>
          <a:bodyPr wrap="none" lIns="0" tIns="0" rIns="0" bIns="0" rtlCol="0" anchor="t"/>
          <a:lstStyle/>
          <a:p>
            <a:pPr marL="0" indent="0" algn="l">
              <a:lnSpc>
                <a:spcPts val="4500"/>
              </a:lnSpc>
              <a:buNone/>
            </a:pPr>
            <a:r>
              <a:rPr lang="en-US" sz="4050" kern="0" spc="15" dirty="0">
                <a:solidFill>
                  <a:srgbClr val="FFFFFF"/>
                </a:solidFill>
                <a:latin typeface="Newsreader SemiBold" pitchFamily="34" charset="0"/>
              </a:rPr>
              <a:t>Insights</a:t>
            </a:r>
            <a:endParaRPr lang="en-US" sz="4050" dirty="0"/>
          </a:p>
        </p:txBody>
      </p:sp>
      <p:sp>
        <p:nvSpPr>
          <p:cNvPr id="10" name="Shape 9"/>
          <p:cNvSpPr/>
          <p:nvPr/>
        </p:nvSpPr>
        <p:spPr>
          <a:xfrm>
            <a:off x="609600" y="3486150"/>
            <a:ext cx="609600" cy="19050"/>
          </a:xfrm>
          <a:prstGeom prst="rect">
            <a:avLst/>
          </a:prstGeom>
          <a:solidFill>
            <a:srgbClr val="B68757"/>
          </a:solidFill>
          <a:ln/>
        </p:spPr>
        <p:txBody>
          <a:bodyPr/>
          <a:lstStyle/>
          <a:p>
            <a:endParaRPr lang="en-US"/>
          </a:p>
        </p:txBody>
      </p:sp>
      <p:sp>
        <p:nvSpPr>
          <p:cNvPr id="11" name="Text 10"/>
          <p:cNvSpPr txBox="1"/>
          <p:nvPr/>
        </p:nvSpPr>
        <p:spPr>
          <a:xfrm>
            <a:off x="609600" y="3733800"/>
            <a:ext cx="4499134" cy="1000125"/>
          </a:xfrm>
          <a:prstGeom prst="rect">
            <a:avLst/>
          </a:prstGeom>
          <a:noFill/>
          <a:ln/>
        </p:spPr>
        <p:txBody>
          <a:bodyPr wrap="square" lIns="0" tIns="0" rIns="0" bIns="0" rtlCol="0" anchor="t"/>
          <a:lstStyle/>
          <a:p>
            <a:pPr marL="0" indent="0" algn="l">
              <a:lnSpc>
                <a:spcPts val="1575"/>
              </a:lnSpc>
              <a:buNone/>
            </a:pPr>
            <a:r>
              <a:rPr lang="en-US" sz="1013" kern="0" spc="15" dirty="0">
                <a:solidFill>
                  <a:srgbClr val="E8E2DA"/>
                </a:solidFill>
                <a:latin typeface="Quicksand" pitchFamily="34" charset="0"/>
              </a:rPr>
              <a:t>Buyers of consumer businesses are paying for brands that have held price and volume, for companies that sell through more than one channel and for operators with room to add distribution or locations. They have stayed active while tariffs, fuel and interest rates have each changed what a buyer treats as normal earnings.</a:t>
            </a:r>
            <a:endParaRPr lang="en-US" sz="1013" dirty="0"/>
          </a:p>
        </p:txBody>
      </p:sp>
      <p:sp>
        <p:nvSpPr>
          <p:cNvPr id="12" name="Shape 11"/>
          <p:cNvSpPr/>
          <p:nvPr/>
        </p:nvSpPr>
        <p:spPr>
          <a:xfrm>
            <a:off x="609600" y="6781800"/>
            <a:ext cx="4476750" cy="9525"/>
          </a:xfrm>
          <a:prstGeom prst="rect">
            <a:avLst/>
          </a:prstGeom>
          <a:solidFill>
            <a:srgbClr val="D3AE84">
              <a:alpha val="28000"/>
            </a:srgbClr>
          </a:solidFill>
          <a:ln/>
        </p:spPr>
        <p:txBody>
          <a:bodyPr/>
          <a:lstStyle/>
          <a:p>
            <a:endParaRPr lang="en-US"/>
          </a:p>
        </p:txBody>
      </p:sp>
      <p:sp>
        <p:nvSpPr>
          <p:cNvPr id="13" name="Shape 12"/>
          <p:cNvSpPr/>
          <p:nvPr/>
        </p:nvSpPr>
        <p:spPr>
          <a:xfrm>
            <a:off x="609600" y="5295900"/>
            <a:ext cx="4476750" cy="9525"/>
          </a:xfrm>
          <a:prstGeom prst="rect">
            <a:avLst/>
          </a:prstGeom>
          <a:solidFill>
            <a:srgbClr val="D3AE84">
              <a:alpha val="28000"/>
            </a:srgbClr>
          </a:solidFill>
          <a:ln/>
        </p:spPr>
        <p:txBody>
          <a:bodyPr/>
          <a:lstStyle/>
          <a:p>
            <a:endParaRPr lang="en-US"/>
          </a:p>
        </p:txBody>
      </p:sp>
      <p:sp>
        <p:nvSpPr>
          <p:cNvPr id="14" name="Text 13"/>
          <p:cNvSpPr txBox="1"/>
          <p:nvPr/>
        </p:nvSpPr>
        <p:spPr>
          <a:xfrm>
            <a:off x="609600" y="5400675"/>
            <a:ext cx="247650" cy="180975"/>
          </a:xfrm>
          <a:prstGeom prst="rect">
            <a:avLst/>
          </a:prstGeom>
          <a:noFill/>
          <a:ln/>
        </p:spPr>
        <p:txBody>
          <a:bodyPr wrap="none" lIns="0" tIns="0" rIns="0" bIns="0" rtlCol="0" anchor="t"/>
          <a:lstStyle/>
          <a:p>
            <a:pPr marL="0" indent="0" algn="l">
              <a:lnSpc>
                <a:spcPts val="1425"/>
              </a:lnSpc>
              <a:buNone/>
            </a:pPr>
            <a:r>
              <a:rPr lang="en-US" sz="825" kern="0" spc="105" dirty="0">
                <a:solidFill>
                  <a:srgbClr val="D3AE84"/>
                </a:solidFill>
                <a:latin typeface="Cinzel" pitchFamily="34" charset="0"/>
              </a:rPr>
              <a:t>03</a:t>
            </a:r>
            <a:endParaRPr lang="en-US" sz="825" dirty="0"/>
          </a:p>
        </p:txBody>
      </p:sp>
      <p:sp>
        <p:nvSpPr>
          <p:cNvPr id="15" name="Text 14"/>
          <p:cNvSpPr txBox="1"/>
          <p:nvPr/>
        </p:nvSpPr>
        <p:spPr>
          <a:xfrm>
            <a:off x="971550" y="5386388"/>
            <a:ext cx="2053530" cy="180975"/>
          </a:xfrm>
          <a:prstGeom prst="rect">
            <a:avLst/>
          </a:prstGeom>
          <a:noFill/>
          <a:ln/>
        </p:spPr>
        <p:txBody>
          <a:bodyPr wrap="none" lIns="0" tIns="0" rIns="0" bIns="0" rtlCol="0" anchor="t"/>
          <a:lstStyle/>
          <a:p>
            <a:pPr marL="0" indent="0" algn="l">
              <a:lnSpc>
                <a:spcPts val="1425"/>
              </a:lnSpc>
              <a:buNone/>
            </a:pPr>
            <a:r>
              <a:rPr lang="en-US" sz="975" kern="0" spc="15" dirty="0">
                <a:solidFill>
                  <a:srgbClr val="F4EFE8"/>
                </a:solidFill>
                <a:latin typeface="Quicksand" pitchFamily="34" charset="0"/>
              </a:rPr>
              <a:t>Happening in consumer right now</a:t>
            </a:r>
            <a:endParaRPr lang="en-US" sz="975" dirty="0"/>
          </a:p>
        </p:txBody>
      </p:sp>
      <p:sp>
        <p:nvSpPr>
          <p:cNvPr id="16" name="Shape 15"/>
          <p:cNvSpPr/>
          <p:nvPr/>
        </p:nvSpPr>
        <p:spPr>
          <a:xfrm>
            <a:off x="609600" y="5667375"/>
            <a:ext cx="4476750" cy="9525"/>
          </a:xfrm>
          <a:prstGeom prst="rect">
            <a:avLst/>
          </a:prstGeom>
          <a:solidFill>
            <a:srgbClr val="D3AE84">
              <a:alpha val="28000"/>
            </a:srgbClr>
          </a:solidFill>
          <a:ln/>
        </p:spPr>
        <p:txBody>
          <a:bodyPr/>
          <a:lstStyle/>
          <a:p>
            <a:endParaRPr lang="en-US"/>
          </a:p>
        </p:txBody>
      </p:sp>
      <p:sp>
        <p:nvSpPr>
          <p:cNvPr id="17" name="Text 16"/>
          <p:cNvSpPr txBox="1"/>
          <p:nvPr/>
        </p:nvSpPr>
        <p:spPr>
          <a:xfrm>
            <a:off x="609600" y="5772150"/>
            <a:ext cx="247650" cy="180975"/>
          </a:xfrm>
          <a:prstGeom prst="rect">
            <a:avLst/>
          </a:prstGeom>
          <a:noFill/>
          <a:ln/>
        </p:spPr>
        <p:txBody>
          <a:bodyPr wrap="none" lIns="0" tIns="0" rIns="0" bIns="0" rtlCol="0" anchor="t"/>
          <a:lstStyle/>
          <a:p>
            <a:pPr marL="0" indent="0" algn="l">
              <a:lnSpc>
                <a:spcPts val="1425"/>
              </a:lnSpc>
              <a:buNone/>
            </a:pPr>
            <a:r>
              <a:rPr lang="en-US" sz="825" kern="0" spc="105" dirty="0">
                <a:solidFill>
                  <a:srgbClr val="D3AE84"/>
                </a:solidFill>
                <a:latin typeface="Cinzel" pitchFamily="34" charset="0"/>
              </a:rPr>
              <a:t>04</a:t>
            </a:r>
            <a:endParaRPr lang="en-US" sz="825" dirty="0"/>
          </a:p>
        </p:txBody>
      </p:sp>
      <p:sp>
        <p:nvSpPr>
          <p:cNvPr id="18" name="Text 17"/>
          <p:cNvSpPr txBox="1"/>
          <p:nvPr/>
        </p:nvSpPr>
        <p:spPr>
          <a:xfrm>
            <a:off x="971550" y="5757863"/>
            <a:ext cx="3494931" cy="180975"/>
          </a:xfrm>
          <a:prstGeom prst="rect">
            <a:avLst/>
          </a:prstGeom>
          <a:noFill/>
          <a:ln/>
        </p:spPr>
        <p:txBody>
          <a:bodyPr wrap="none" lIns="0" tIns="0" rIns="0" bIns="0" rtlCol="0" anchor="t"/>
          <a:lstStyle/>
          <a:p>
            <a:pPr marL="0" indent="0" algn="l">
              <a:lnSpc>
                <a:spcPts val="1425"/>
              </a:lnSpc>
              <a:buNone/>
            </a:pPr>
            <a:r>
              <a:rPr lang="en-US" sz="975" kern="0" spc="15" dirty="0">
                <a:solidFill>
                  <a:srgbClr val="F4EFE8"/>
                </a:solidFill>
                <a:latin typeface="Quicksand" pitchFamily="34" charset="0"/>
              </a:rPr>
              <a:t>Tariffs, fuel and financing: three costs buyers are repricing</a:t>
            </a:r>
            <a:endParaRPr lang="en-US" sz="975" dirty="0"/>
          </a:p>
        </p:txBody>
      </p:sp>
      <p:sp>
        <p:nvSpPr>
          <p:cNvPr id="19" name="Shape 18"/>
          <p:cNvSpPr/>
          <p:nvPr/>
        </p:nvSpPr>
        <p:spPr>
          <a:xfrm>
            <a:off x="609600" y="6038850"/>
            <a:ext cx="4476750" cy="9525"/>
          </a:xfrm>
          <a:prstGeom prst="rect">
            <a:avLst/>
          </a:prstGeom>
          <a:solidFill>
            <a:srgbClr val="D3AE84">
              <a:alpha val="28000"/>
            </a:srgbClr>
          </a:solidFill>
          <a:ln/>
        </p:spPr>
        <p:txBody>
          <a:bodyPr/>
          <a:lstStyle/>
          <a:p>
            <a:endParaRPr lang="en-US"/>
          </a:p>
        </p:txBody>
      </p:sp>
      <p:sp>
        <p:nvSpPr>
          <p:cNvPr id="20" name="Text 19"/>
          <p:cNvSpPr txBox="1"/>
          <p:nvPr/>
        </p:nvSpPr>
        <p:spPr>
          <a:xfrm>
            <a:off x="609600" y="6143625"/>
            <a:ext cx="247650" cy="180975"/>
          </a:xfrm>
          <a:prstGeom prst="rect">
            <a:avLst/>
          </a:prstGeom>
          <a:noFill/>
          <a:ln/>
        </p:spPr>
        <p:txBody>
          <a:bodyPr wrap="none" lIns="0" tIns="0" rIns="0" bIns="0" rtlCol="0" anchor="t"/>
          <a:lstStyle/>
          <a:p>
            <a:pPr marL="0" indent="0" algn="l">
              <a:lnSpc>
                <a:spcPts val="1425"/>
              </a:lnSpc>
              <a:buNone/>
            </a:pPr>
            <a:r>
              <a:rPr lang="en-US" sz="825" kern="0" spc="105" dirty="0">
                <a:solidFill>
                  <a:srgbClr val="D3AE84"/>
                </a:solidFill>
                <a:latin typeface="Cinzel" pitchFamily="34" charset="0"/>
              </a:rPr>
              <a:t>05</a:t>
            </a:r>
            <a:endParaRPr lang="en-US" sz="825" dirty="0"/>
          </a:p>
        </p:txBody>
      </p:sp>
      <p:sp>
        <p:nvSpPr>
          <p:cNvPr id="21" name="Text 20"/>
          <p:cNvSpPr txBox="1"/>
          <p:nvPr/>
        </p:nvSpPr>
        <p:spPr>
          <a:xfrm>
            <a:off x="971550" y="6129338"/>
            <a:ext cx="2494211" cy="180975"/>
          </a:xfrm>
          <a:prstGeom prst="rect">
            <a:avLst/>
          </a:prstGeom>
          <a:noFill/>
          <a:ln/>
        </p:spPr>
        <p:txBody>
          <a:bodyPr wrap="none" lIns="0" tIns="0" rIns="0" bIns="0" rtlCol="0" anchor="t"/>
          <a:lstStyle/>
          <a:p>
            <a:pPr marL="0" indent="0" algn="l">
              <a:lnSpc>
                <a:spcPts val="1425"/>
              </a:lnSpc>
              <a:buNone/>
            </a:pPr>
            <a:r>
              <a:rPr lang="en-US" sz="975" kern="0" spc="15" dirty="0">
                <a:solidFill>
                  <a:srgbClr val="F4EFE8"/>
                </a:solidFill>
                <a:latin typeface="Quicksand" pitchFamily="34" charset="0"/>
              </a:rPr>
              <a:t>Perspectives on four consumer segments</a:t>
            </a:r>
            <a:endParaRPr lang="en-US" sz="975" dirty="0"/>
          </a:p>
        </p:txBody>
      </p:sp>
      <p:sp>
        <p:nvSpPr>
          <p:cNvPr id="22" name="Shape 21"/>
          <p:cNvSpPr/>
          <p:nvPr/>
        </p:nvSpPr>
        <p:spPr>
          <a:xfrm>
            <a:off x="609600" y="6410325"/>
            <a:ext cx="4476750" cy="9525"/>
          </a:xfrm>
          <a:prstGeom prst="rect">
            <a:avLst/>
          </a:prstGeom>
          <a:solidFill>
            <a:srgbClr val="D3AE84">
              <a:alpha val="28000"/>
            </a:srgbClr>
          </a:solidFill>
          <a:ln/>
        </p:spPr>
        <p:txBody>
          <a:bodyPr/>
          <a:lstStyle/>
          <a:p>
            <a:endParaRPr lang="en-US"/>
          </a:p>
        </p:txBody>
      </p:sp>
      <p:sp>
        <p:nvSpPr>
          <p:cNvPr id="23" name="Text 22"/>
          <p:cNvSpPr txBox="1"/>
          <p:nvPr/>
        </p:nvSpPr>
        <p:spPr>
          <a:xfrm>
            <a:off x="609600" y="6515100"/>
            <a:ext cx="247650" cy="180975"/>
          </a:xfrm>
          <a:prstGeom prst="rect">
            <a:avLst/>
          </a:prstGeom>
          <a:noFill/>
          <a:ln/>
        </p:spPr>
        <p:txBody>
          <a:bodyPr wrap="none" lIns="0" tIns="0" rIns="0" bIns="0" rtlCol="0" anchor="t"/>
          <a:lstStyle/>
          <a:p>
            <a:pPr marL="0" indent="0" algn="l">
              <a:lnSpc>
                <a:spcPts val="1425"/>
              </a:lnSpc>
              <a:buNone/>
            </a:pPr>
            <a:r>
              <a:rPr lang="en-US" sz="825" kern="0" spc="105" dirty="0">
                <a:solidFill>
                  <a:srgbClr val="D3AE84"/>
                </a:solidFill>
                <a:latin typeface="Cinzel" pitchFamily="34" charset="0"/>
              </a:rPr>
              <a:t>06</a:t>
            </a:r>
            <a:endParaRPr lang="en-US" sz="825" dirty="0"/>
          </a:p>
        </p:txBody>
      </p:sp>
      <p:sp>
        <p:nvSpPr>
          <p:cNvPr id="24" name="Text 23"/>
          <p:cNvSpPr txBox="1"/>
          <p:nvPr/>
        </p:nvSpPr>
        <p:spPr>
          <a:xfrm>
            <a:off x="971550" y="6500813"/>
            <a:ext cx="1208931" cy="180975"/>
          </a:xfrm>
          <a:prstGeom prst="rect">
            <a:avLst/>
          </a:prstGeom>
          <a:noFill/>
          <a:ln/>
        </p:spPr>
        <p:txBody>
          <a:bodyPr wrap="none" lIns="0" tIns="0" rIns="0" bIns="0" rtlCol="0" anchor="t"/>
          <a:lstStyle/>
          <a:p>
            <a:pPr marL="0" indent="0" algn="l">
              <a:lnSpc>
                <a:spcPts val="1425"/>
              </a:lnSpc>
              <a:buNone/>
            </a:pPr>
            <a:r>
              <a:rPr lang="en-US" sz="975" kern="0" spc="15" dirty="0">
                <a:solidFill>
                  <a:srgbClr val="F4EFE8"/>
                </a:solidFill>
                <a:latin typeface="Quicksand" pitchFamily="34" charset="0"/>
              </a:rPr>
              <a:t>What we’re reading</a:t>
            </a:r>
            <a:endParaRPr lang="en-US" sz="975" dirty="0"/>
          </a:p>
        </p:txBody>
      </p:sp>
      <p:pic>
        <p:nvPicPr>
          <p:cNvPr id="25" name="Benchmark International" descr="Benchmark International"/>
          <p:cNvPicPr>
            <a:picLocks noChangeAspect="1"/>
          </p:cNvPicPr>
          <p:nvPr/>
        </p:nvPicPr>
        <p:blipFill>
          <a:blip r:embed="rId6"/>
          <a:stretch>
            <a:fillRect/>
          </a:stretch>
        </p:blipFill>
        <p:spPr>
          <a:xfrm>
            <a:off x="609600" y="7029450"/>
            <a:ext cx="1428750" cy="266700"/>
          </a:xfrm>
          <a:prstGeom prst="rect">
            <a:avLst/>
          </a:prstGeom>
        </p:spPr>
      </p:pic>
      <p:sp>
        <p:nvSpPr>
          <p:cNvPr id="26" name="Text 25"/>
          <p:cNvSpPr txBox="1"/>
          <p:nvPr/>
        </p:nvSpPr>
        <p:spPr>
          <a:xfrm>
            <a:off x="2209800" y="7091363"/>
            <a:ext cx="1858119" cy="133350"/>
          </a:xfrm>
          <a:prstGeom prst="rect">
            <a:avLst/>
          </a:prstGeom>
          <a:noFill/>
          <a:ln/>
        </p:spPr>
        <p:txBody>
          <a:bodyPr wrap="none" lIns="0" tIns="0" rIns="0" bIns="0" rtlCol="0" anchor="t"/>
          <a:lstStyle/>
          <a:p>
            <a:pPr marL="0" indent="0" algn="l">
              <a:lnSpc>
                <a:spcPts val="1050"/>
              </a:lnSpc>
              <a:buNone/>
            </a:pPr>
            <a:r>
              <a:rPr lang="en-US" sz="638" b="1" kern="0" spc="180" dirty="0">
                <a:solidFill>
                  <a:srgbClr val="D3AE84"/>
                </a:solidFill>
                <a:latin typeface="Quicksand" pitchFamily="34" charset="0"/>
              </a:rPr>
              <a:t>BENCHMARK CAPITAL MARKETS</a:t>
            </a:r>
            <a:endParaRPr lang="en-US" sz="638"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1"/>
          <p:cNvSpPr/>
          <p:nvPr/>
        </p:nvSpPr>
        <p:spPr>
          <a:xfrm>
            <a:off x="0" y="0"/>
            <a:ext cx="10058400" cy="7772400"/>
          </a:xfrm>
          <a:prstGeom prst="rect">
            <a:avLst/>
          </a:prstGeom>
          <a:solidFill>
            <a:srgbClr val="FFFFFF"/>
          </a:solidFill>
          <a:ln/>
        </p:spPr>
        <p:txBody>
          <a:bodyPr/>
          <a:lstStyle/>
          <a:p>
            <a:endParaRPr lang="en-US"/>
          </a:p>
        </p:txBody>
      </p:sp>
      <p:sp>
        <p:nvSpPr>
          <p:cNvPr id="3" name="Shape 2"/>
          <p:cNvSpPr/>
          <p:nvPr/>
        </p:nvSpPr>
        <p:spPr>
          <a:xfrm>
            <a:off x="0" y="0"/>
            <a:ext cx="57150" cy="7772400"/>
          </a:xfrm>
          <a:prstGeom prst="rect">
            <a:avLst/>
          </a:prstGeom>
          <a:solidFill>
            <a:srgbClr val="B68757"/>
          </a:solidFill>
          <a:ln/>
        </p:spPr>
        <p:txBody>
          <a:bodyPr/>
          <a:lstStyle/>
          <a:p>
            <a:endParaRPr lang="en-US"/>
          </a:p>
        </p:txBody>
      </p:sp>
      <p:sp>
        <p:nvSpPr>
          <p:cNvPr id="4" name="Text 3"/>
          <p:cNvSpPr txBox="1"/>
          <p:nvPr/>
        </p:nvSpPr>
        <p:spPr>
          <a:xfrm>
            <a:off x="419100" y="376238"/>
            <a:ext cx="2618929" cy="133350"/>
          </a:xfrm>
          <a:prstGeom prst="rect">
            <a:avLst/>
          </a:prstGeom>
          <a:noFill/>
          <a:ln/>
        </p:spPr>
        <p:txBody>
          <a:bodyPr wrap="none" lIns="0" tIns="0" rIns="0" bIns="0" rtlCol="0" anchor="t"/>
          <a:lstStyle/>
          <a:p>
            <a:pPr marL="0" indent="0" algn="l">
              <a:lnSpc>
                <a:spcPts val="1050"/>
              </a:lnSpc>
              <a:buNone/>
            </a:pPr>
            <a:r>
              <a:rPr lang="en-US" sz="675" b="1" kern="0" spc="195" dirty="0">
                <a:solidFill>
                  <a:srgbClr val="8C6239"/>
                </a:solidFill>
                <a:latin typeface="Quicksand" pitchFamily="34" charset="0"/>
              </a:rPr>
              <a:t>CONSUMER  |  QUARTERLY SECTOR BRIEF</a:t>
            </a:r>
            <a:endParaRPr lang="en-US" sz="675" dirty="0"/>
          </a:p>
        </p:txBody>
      </p:sp>
      <p:sp>
        <p:nvSpPr>
          <p:cNvPr id="5" name="Text 4"/>
          <p:cNvSpPr txBox="1"/>
          <p:nvPr/>
        </p:nvSpPr>
        <p:spPr>
          <a:xfrm>
            <a:off x="9112597" y="381000"/>
            <a:ext cx="583853" cy="171450"/>
          </a:xfrm>
          <a:prstGeom prst="rect">
            <a:avLst/>
          </a:prstGeom>
          <a:noFill/>
          <a:ln/>
        </p:spPr>
        <p:txBody>
          <a:bodyPr wrap="none" lIns="0" tIns="0" rIns="0" bIns="0" rtlCol="0" anchor="t"/>
          <a:lstStyle/>
          <a:p>
            <a:pPr marL="0" indent="0" algn="l">
              <a:lnSpc>
                <a:spcPts val="1350"/>
              </a:lnSpc>
              <a:buNone/>
            </a:pPr>
            <a:r>
              <a:rPr lang="en-US" sz="900" kern="0" spc="90" dirty="0">
                <a:solidFill>
                  <a:srgbClr val="6F6A66"/>
                </a:solidFill>
                <a:latin typeface="Cinzel" pitchFamily="34" charset="0"/>
              </a:rPr>
              <a:t>Q4 2026</a:t>
            </a:r>
            <a:endParaRPr lang="en-US" sz="900" dirty="0"/>
          </a:p>
        </p:txBody>
      </p:sp>
      <p:sp>
        <p:nvSpPr>
          <p:cNvPr id="6" name="Text 5"/>
          <p:cNvSpPr txBox="1"/>
          <p:nvPr/>
        </p:nvSpPr>
        <p:spPr>
          <a:xfrm>
            <a:off x="419100" y="519113"/>
            <a:ext cx="9220200" cy="323850"/>
          </a:xfrm>
          <a:prstGeom prst="rect">
            <a:avLst/>
          </a:prstGeom>
          <a:noFill/>
          <a:ln/>
        </p:spPr>
        <p:txBody>
          <a:bodyPr wrap="none" lIns="0" tIns="0" rIns="0" bIns="0" rtlCol="0" anchor="t"/>
          <a:lstStyle/>
          <a:p>
            <a:pPr marL="0" indent="0" algn="l">
              <a:lnSpc>
                <a:spcPts val="2550"/>
              </a:lnSpc>
              <a:buNone/>
            </a:pPr>
            <a:r>
              <a:rPr lang="en-US" sz="2025" kern="0" spc="15" dirty="0">
                <a:solidFill>
                  <a:srgbClr val="1B1A1A"/>
                </a:solidFill>
                <a:latin typeface="Newsreader SemiBold" pitchFamily="34" charset="0"/>
              </a:rPr>
              <a:t>Happening in Consumer Right Now</a:t>
            </a:r>
            <a:endParaRPr lang="en-US" sz="2025" dirty="0"/>
          </a:p>
        </p:txBody>
      </p:sp>
      <p:sp>
        <p:nvSpPr>
          <p:cNvPr id="7" name="Text 6"/>
          <p:cNvSpPr txBox="1"/>
          <p:nvPr/>
        </p:nvSpPr>
        <p:spPr>
          <a:xfrm>
            <a:off x="419100" y="883444"/>
            <a:ext cx="9220200" cy="176213"/>
          </a:xfrm>
          <a:prstGeom prst="rect">
            <a:avLst/>
          </a:prstGeom>
          <a:noFill/>
          <a:ln/>
        </p:spPr>
        <p:txBody>
          <a:bodyPr wrap="none" lIns="0" tIns="0" rIns="0" bIns="0" rtlCol="0" anchor="t"/>
          <a:lstStyle/>
          <a:p>
            <a:pPr marL="0" indent="0" algn="l">
              <a:lnSpc>
                <a:spcPts val="1388"/>
              </a:lnSpc>
              <a:buNone/>
            </a:pPr>
            <a:r>
              <a:rPr lang="en-US" sz="938" kern="0" spc="15" dirty="0">
                <a:solidFill>
                  <a:srgbClr val="6F6A66"/>
                </a:solidFill>
                <a:latin typeface="Quicksand" pitchFamily="34" charset="0"/>
              </a:rPr>
              <a:t>Four developments shaping the market, each with what the management of a listed company said about it in its latest results.</a:t>
            </a:r>
            <a:endParaRPr lang="en-US" sz="938" dirty="0"/>
          </a:p>
        </p:txBody>
      </p:sp>
      <p:sp>
        <p:nvSpPr>
          <p:cNvPr id="8" name="Shape 7"/>
          <p:cNvSpPr/>
          <p:nvPr/>
        </p:nvSpPr>
        <p:spPr>
          <a:xfrm>
            <a:off x="419100" y="1143000"/>
            <a:ext cx="9220200" cy="9525"/>
          </a:xfrm>
          <a:prstGeom prst="rect">
            <a:avLst/>
          </a:prstGeom>
          <a:solidFill>
            <a:srgbClr val="E3DCD3"/>
          </a:solidFill>
          <a:ln/>
        </p:spPr>
        <p:txBody>
          <a:bodyPr/>
          <a:lstStyle/>
          <a:p>
            <a:endParaRPr lang="en-US"/>
          </a:p>
        </p:txBody>
      </p:sp>
      <p:sp>
        <p:nvSpPr>
          <p:cNvPr id="9" name="Shape 8"/>
          <p:cNvSpPr/>
          <p:nvPr/>
        </p:nvSpPr>
        <p:spPr>
          <a:xfrm>
            <a:off x="419100" y="1238250"/>
            <a:ext cx="2247900" cy="5695950"/>
          </a:xfrm>
          <a:prstGeom prst="rect">
            <a:avLst/>
          </a:prstGeom>
          <a:solidFill>
            <a:srgbClr val="1B1A1A"/>
          </a:solidFill>
          <a:ln/>
        </p:spPr>
        <p:txBody>
          <a:bodyPr/>
          <a:lstStyle/>
          <a:p>
            <a:endParaRPr lang="en-US"/>
          </a:p>
        </p:txBody>
      </p:sp>
      <p:pic>
        <p:nvPicPr>
          <p:cNvPr id="10" name="Fresh produce on a market stall" descr="Fresh produce on a market stall"/>
          <p:cNvPicPr>
            <a:picLocks noChangeAspect="1"/>
          </p:cNvPicPr>
          <p:nvPr/>
        </p:nvPicPr>
        <p:blipFill>
          <a:blip r:embed="rId3"/>
          <a:stretch>
            <a:fillRect/>
          </a:stretch>
        </p:blipFill>
        <p:spPr>
          <a:xfrm>
            <a:off x="419100" y="1238250"/>
            <a:ext cx="2247900" cy="2495550"/>
          </a:xfrm>
          <a:prstGeom prst="rect">
            <a:avLst/>
          </a:prstGeom>
        </p:spPr>
      </p:pic>
      <p:sp>
        <p:nvSpPr>
          <p:cNvPr id="11" name="Shape 10"/>
          <p:cNvSpPr/>
          <p:nvPr/>
        </p:nvSpPr>
        <p:spPr>
          <a:xfrm>
            <a:off x="419100" y="3705225"/>
            <a:ext cx="2247900" cy="28575"/>
          </a:xfrm>
          <a:prstGeom prst="rect">
            <a:avLst/>
          </a:prstGeom>
          <a:solidFill>
            <a:srgbClr val="B68757"/>
          </a:solidFill>
          <a:ln/>
        </p:spPr>
        <p:txBody>
          <a:bodyPr/>
          <a:lstStyle/>
          <a:p>
            <a:endParaRPr lang="en-US"/>
          </a:p>
        </p:txBody>
      </p:sp>
      <p:sp>
        <p:nvSpPr>
          <p:cNvPr id="12" name="Text 11"/>
          <p:cNvSpPr txBox="1"/>
          <p:nvPr/>
        </p:nvSpPr>
        <p:spPr>
          <a:xfrm>
            <a:off x="628650" y="3938588"/>
            <a:ext cx="1852910" cy="133350"/>
          </a:xfrm>
          <a:prstGeom prst="rect">
            <a:avLst/>
          </a:prstGeom>
          <a:noFill/>
          <a:ln/>
        </p:spPr>
        <p:txBody>
          <a:bodyPr wrap="none" lIns="0" tIns="0" rIns="0" bIns="0" rtlCol="0" anchor="t"/>
          <a:lstStyle/>
          <a:p>
            <a:pPr marL="0" indent="0" algn="l">
              <a:lnSpc>
                <a:spcPts val="1050"/>
              </a:lnSpc>
              <a:buNone/>
            </a:pPr>
            <a:r>
              <a:rPr lang="en-US" sz="675" b="1" kern="0" spc="180" dirty="0">
                <a:solidFill>
                  <a:srgbClr val="D3AE84"/>
                </a:solidFill>
                <a:latin typeface="Quicksand" pitchFamily="34" charset="0"/>
              </a:rPr>
              <a:t>WHAT IT MEANS FOR OWNERS</a:t>
            </a:r>
            <a:endParaRPr lang="en-US" sz="675" dirty="0"/>
          </a:p>
        </p:txBody>
      </p:sp>
      <p:sp>
        <p:nvSpPr>
          <p:cNvPr id="13" name="Text 12"/>
          <p:cNvSpPr txBox="1"/>
          <p:nvPr/>
        </p:nvSpPr>
        <p:spPr>
          <a:xfrm>
            <a:off x="628650" y="4186238"/>
            <a:ext cx="1843088" cy="1533525"/>
          </a:xfrm>
          <a:prstGeom prst="rect">
            <a:avLst/>
          </a:prstGeom>
          <a:noFill/>
          <a:ln/>
        </p:spPr>
        <p:txBody>
          <a:bodyPr wrap="square" lIns="0" tIns="0" rIns="0" bIns="0" rtlCol="0" anchor="t"/>
          <a:lstStyle/>
          <a:p>
            <a:pPr marL="0" indent="0" algn="l">
              <a:lnSpc>
                <a:spcPts val="1725"/>
              </a:lnSpc>
              <a:buNone/>
            </a:pPr>
            <a:r>
              <a:rPr lang="en-US" sz="1200" i="1" kern="0" spc="15" dirty="0">
                <a:solidFill>
                  <a:srgbClr val="FFFFFF"/>
                </a:solidFill>
                <a:latin typeface="Newsreader Medium" pitchFamily="34" charset="0"/>
              </a:rPr>
              <a:t>Buyers are paying for brands and operators that have held price and volume, that sell through more than one channel and that have room to add distribution or locations.</a:t>
            </a:r>
            <a:endParaRPr lang="en-US" sz="1200" dirty="0"/>
          </a:p>
        </p:txBody>
      </p:sp>
      <p:sp>
        <p:nvSpPr>
          <p:cNvPr id="14" name="Text 13"/>
          <p:cNvSpPr txBox="1"/>
          <p:nvPr/>
        </p:nvSpPr>
        <p:spPr>
          <a:xfrm>
            <a:off x="628650" y="5855494"/>
            <a:ext cx="1843088" cy="942975"/>
          </a:xfrm>
          <a:prstGeom prst="rect">
            <a:avLst/>
          </a:prstGeom>
          <a:noFill/>
          <a:ln/>
        </p:spPr>
        <p:txBody>
          <a:bodyPr wrap="square" lIns="0" tIns="0" rIns="0" bIns="0" rtlCol="0" anchor="t"/>
          <a:lstStyle/>
          <a:p>
            <a:pPr marL="0" indent="0" algn="l">
              <a:lnSpc>
                <a:spcPts val="1238"/>
              </a:lnSpc>
              <a:buNone/>
            </a:pPr>
            <a:r>
              <a:rPr lang="en-US" sz="825" kern="0" spc="15" dirty="0">
                <a:solidFill>
                  <a:srgbClr val="E8E2DA"/>
                </a:solidFill>
                <a:latin typeface="Quicksand" pitchFamily="34" charset="0"/>
              </a:rPr>
              <a:t>An owner who can show price increases by product or service line, with unit volume and customer retention beside them, gives a buyer the evidence that supports a higher valuation.</a:t>
            </a:r>
            <a:endParaRPr lang="en-US" sz="825" dirty="0"/>
          </a:p>
        </p:txBody>
      </p:sp>
      <p:sp>
        <p:nvSpPr>
          <p:cNvPr id="15" name="Dot 14"/>
          <p:cNvSpPr/>
          <p:nvPr/>
        </p:nvSpPr>
        <p:spPr>
          <a:xfrm>
            <a:off x="2876550" y="1756172"/>
            <a:ext cx="381000" cy="381000"/>
          </a:xfrm>
          <a:prstGeom prst="ellipse">
            <a:avLst/>
          </a:prstGeom>
          <a:solidFill>
            <a:srgbClr val="1B1A1A"/>
          </a:solidFill>
          <a:ln/>
        </p:spPr>
        <p:txBody>
          <a:bodyPr/>
          <a:lstStyle/>
          <a:p>
            <a:endParaRPr lang="en-US"/>
          </a:p>
        </p:txBody>
      </p:sp>
      <p:pic>
        <p:nvPicPr>
          <p:cNvPr id="16" name="Icon" descr="/tmp/claude-0/-home-claude-about/4bef2f41-4227-5ff7-ab18-11ac74cd9797/scratchpad/pptx/ex/media/1a2bb4c623c9.png"/>
          <p:cNvPicPr>
            <a:picLocks noChangeAspect="1"/>
          </p:cNvPicPr>
          <p:nvPr/>
        </p:nvPicPr>
        <p:blipFill>
          <a:blip r:embed="rId4"/>
          <a:stretch>
            <a:fillRect/>
          </a:stretch>
        </p:blipFill>
        <p:spPr>
          <a:xfrm>
            <a:off x="2971800" y="1851422"/>
            <a:ext cx="190500" cy="190500"/>
          </a:xfrm>
          <a:prstGeom prst="rect">
            <a:avLst/>
          </a:prstGeom>
        </p:spPr>
      </p:pic>
      <p:sp>
        <p:nvSpPr>
          <p:cNvPr id="17" name="Text 16"/>
          <p:cNvSpPr txBox="1"/>
          <p:nvPr/>
        </p:nvSpPr>
        <p:spPr>
          <a:xfrm>
            <a:off x="3409950" y="1484561"/>
            <a:ext cx="3886200" cy="171450"/>
          </a:xfrm>
          <a:prstGeom prst="rect">
            <a:avLst/>
          </a:prstGeom>
          <a:noFill/>
          <a:ln/>
        </p:spPr>
        <p:txBody>
          <a:bodyPr wrap="none" lIns="0" tIns="0" rIns="0" bIns="0" rtlCol="0" anchor="t"/>
          <a:lstStyle/>
          <a:p>
            <a:pPr marL="0" indent="0" algn="l">
              <a:lnSpc>
                <a:spcPts val="1350"/>
              </a:lnSpc>
              <a:buNone/>
            </a:pPr>
            <a:r>
              <a:rPr lang="en-US" sz="975" b="1" kern="0" spc="15" dirty="0">
                <a:solidFill>
                  <a:srgbClr val="1B1A1A"/>
                </a:solidFill>
                <a:latin typeface="Quicksand" pitchFamily="34" charset="0"/>
              </a:rPr>
              <a:t>Brands are being sorted by whether volume follows price</a:t>
            </a:r>
            <a:endParaRPr lang="en-US" sz="975" dirty="0"/>
          </a:p>
        </p:txBody>
      </p:sp>
      <p:sp>
        <p:nvSpPr>
          <p:cNvPr id="18" name="Text 17"/>
          <p:cNvSpPr txBox="1"/>
          <p:nvPr/>
        </p:nvSpPr>
        <p:spPr>
          <a:xfrm>
            <a:off x="3409950" y="1678871"/>
            <a:ext cx="3905631" cy="724019"/>
          </a:xfrm>
          <a:prstGeom prst="rect">
            <a:avLst/>
          </a:prstGeom>
          <a:noFill/>
          <a:ln/>
        </p:spPr>
        <p:txBody>
          <a:bodyPr wrap="square" lIns="0" tIns="0" rIns="0" bIns="0" rtlCol="0" anchor="t"/>
          <a:lstStyle/>
          <a:p>
            <a:pPr marL="0" indent="0" algn="l">
              <a:lnSpc>
                <a:spcPts val="1140"/>
              </a:lnSpc>
              <a:buNone/>
            </a:pPr>
            <a:r>
              <a:rPr lang="en-US" sz="795" kern="0" spc="15" dirty="0">
                <a:solidFill>
                  <a:srgbClr val="333231"/>
                </a:solidFill>
                <a:latin typeface="Quicksand" pitchFamily="34" charset="0"/>
              </a:rPr>
              <a:t>Hershey’s organic sales rose 3.6% in the second quarter on about 12 points of price and an 8-point decline in volume, while Church &amp; Dwight grew organic sales 5.8% with volume up 4.3% (</a:t>
            </a:r>
            <a:r>
              <a:rPr lang="en-US" sz="795" u="sng" kern="0" spc="15" dirty="0">
                <a:solidFill>
                  <a:srgbClr val="8C6239"/>
                </a:solidFill>
                <a:latin typeface="Quicksand" pitchFamily="34" charset="0"/>
                <a:hlinkClick r:id="rId5">
                  <a:extLst>
                    <a:ext uri="{A12FA001-AC4F-418D-AE19-62706E023703}">
                      <ahyp:hlinkClr xmlns:ahyp="http://schemas.microsoft.com/office/drawing/2018/hyperlinkcolor" val="tx"/>
                    </a:ext>
                  </a:extLst>
                </a:hlinkClick>
              </a:rPr>
              <a:t>Hershey</a:t>
            </a:r>
            <a:r>
              <a:rPr lang="en-US" sz="795" kern="0" spc="15" dirty="0">
                <a:solidFill>
                  <a:srgbClr val="333231"/>
                </a:solidFill>
                <a:latin typeface="Quicksand" pitchFamily="34" charset="0"/>
              </a:rPr>
              <a:t>; </a:t>
            </a:r>
            <a:r>
              <a:rPr lang="en-US" sz="795" u="sng" kern="0" spc="15" dirty="0">
                <a:solidFill>
                  <a:srgbClr val="8C6239"/>
                </a:solidFill>
                <a:latin typeface="Quicksand" pitchFamily="34" charset="0"/>
                <a:hlinkClick r:id="rId6">
                  <a:extLst>
                    <a:ext uri="{A12FA001-AC4F-418D-AE19-62706E023703}">
                      <ahyp:hlinkClr xmlns:ahyp="http://schemas.microsoft.com/office/drawing/2018/hyperlinkcolor" val="tx"/>
                    </a:ext>
                  </a:extLst>
                </a:hlinkClick>
              </a:rPr>
              <a:t>Church &amp; Dwight</a:t>
            </a:r>
            <a:r>
              <a:rPr lang="en-US" sz="795" kern="0" spc="15" dirty="0">
                <a:solidFill>
                  <a:srgbClr val="333231"/>
                </a:solidFill>
                <a:latin typeface="Quicksand" pitchFamily="34" charset="0"/>
              </a:rPr>
              <a:t>). General Mills reported flat organic sales with volume down a point, and store brands reached a record 23.8% of units sold in the first half (</a:t>
            </a:r>
            <a:r>
              <a:rPr lang="en-US" sz="795" u="sng" kern="0" spc="15" dirty="0">
                <a:solidFill>
                  <a:srgbClr val="8C6239"/>
                </a:solidFill>
                <a:latin typeface="Quicksand" pitchFamily="34" charset="0"/>
                <a:hlinkClick r:id="rId7">
                  <a:extLst>
                    <a:ext uri="{A12FA001-AC4F-418D-AE19-62706E023703}">
                      <ahyp:hlinkClr xmlns:ahyp="http://schemas.microsoft.com/office/drawing/2018/hyperlinkcolor" val="tx"/>
                    </a:ext>
                  </a:extLst>
                </a:hlinkClick>
              </a:rPr>
              <a:t>General Mills</a:t>
            </a:r>
            <a:r>
              <a:rPr lang="en-US" sz="795" kern="0" spc="15" dirty="0">
                <a:solidFill>
                  <a:srgbClr val="333231"/>
                </a:solidFill>
                <a:latin typeface="Quicksand" pitchFamily="34" charset="0"/>
              </a:rPr>
              <a:t>; </a:t>
            </a:r>
            <a:r>
              <a:rPr lang="en-US" sz="795" u="sng" kern="0" spc="15" dirty="0">
                <a:solidFill>
                  <a:srgbClr val="8C6239"/>
                </a:solidFill>
                <a:latin typeface="Quicksand" pitchFamily="34" charset="0"/>
                <a:hlinkClick r:id="rId8">
                  <a:extLst>
                    <a:ext uri="{A12FA001-AC4F-418D-AE19-62706E023703}">
                      <ahyp:hlinkClr xmlns:ahyp="http://schemas.microsoft.com/office/drawing/2018/hyperlinkcolor" val="tx"/>
                    </a:ext>
                  </a:extLst>
                </a:hlinkClick>
              </a:rPr>
              <a:t>PLMA</a:t>
            </a:r>
            <a:r>
              <a:rPr lang="en-US" sz="795" kern="0" spc="15" dirty="0">
                <a:solidFill>
                  <a:srgbClr val="333231"/>
                </a:solidFill>
                <a:latin typeface="Quicksand" pitchFamily="34" charset="0"/>
              </a:rPr>
              <a:t>).</a:t>
            </a:r>
            <a:endParaRPr lang="en-US" sz="795" dirty="0"/>
          </a:p>
        </p:txBody>
      </p:sp>
      <p:sp>
        <p:nvSpPr>
          <p:cNvPr id="19" name="Shape 18"/>
          <p:cNvSpPr/>
          <p:nvPr/>
        </p:nvSpPr>
        <p:spPr>
          <a:xfrm>
            <a:off x="7448550" y="1410891"/>
            <a:ext cx="19050" cy="1071563"/>
          </a:xfrm>
          <a:prstGeom prst="rect">
            <a:avLst/>
          </a:prstGeom>
          <a:solidFill>
            <a:srgbClr val="B68757"/>
          </a:solidFill>
          <a:ln/>
        </p:spPr>
        <p:txBody>
          <a:bodyPr/>
          <a:lstStyle/>
          <a:p>
            <a:endParaRPr lang="en-US"/>
          </a:p>
        </p:txBody>
      </p:sp>
      <p:sp>
        <p:nvSpPr>
          <p:cNvPr id="20" name="Text 19"/>
          <p:cNvSpPr txBox="1"/>
          <p:nvPr/>
        </p:nvSpPr>
        <p:spPr>
          <a:xfrm>
            <a:off x="7600950" y="1408509"/>
            <a:ext cx="2052637" cy="785813"/>
          </a:xfrm>
          <a:prstGeom prst="rect">
            <a:avLst/>
          </a:prstGeom>
          <a:noFill/>
          <a:ln/>
        </p:spPr>
        <p:txBody>
          <a:bodyPr wrap="square" lIns="0" tIns="0" rIns="0" bIns="0" rtlCol="0" anchor="t"/>
          <a:lstStyle/>
          <a:p>
            <a:pPr marL="0" indent="0" algn="l">
              <a:lnSpc>
                <a:spcPts val="1238"/>
              </a:lnSpc>
              <a:buNone/>
            </a:pPr>
            <a:r>
              <a:rPr lang="en-US" sz="900" i="1" kern="0" spc="15" dirty="0">
                <a:solidFill>
                  <a:srgbClr val="1B1A1A"/>
                </a:solidFill>
                <a:latin typeface="Newsreader Medium" pitchFamily="34" charset="0"/>
              </a:rPr>
              <a:t>“Our power brands continued to perform exceptionally well in a challenging macroeconomic environment, driving a second straight quarter of industry-leading organic sales growth.”</a:t>
            </a:r>
            <a:endParaRPr lang="en-US" sz="900" dirty="0"/>
          </a:p>
        </p:txBody>
      </p:sp>
      <p:sp>
        <p:nvSpPr>
          <p:cNvPr id="21" name="Text 20"/>
          <p:cNvSpPr txBox="1"/>
          <p:nvPr/>
        </p:nvSpPr>
        <p:spPr>
          <a:xfrm>
            <a:off x="7600950" y="2237184"/>
            <a:ext cx="2052637" cy="238125"/>
          </a:xfrm>
          <a:prstGeom prst="rect">
            <a:avLst/>
          </a:prstGeom>
          <a:noFill/>
          <a:ln/>
        </p:spPr>
        <p:txBody>
          <a:bodyPr wrap="square" lIns="0" tIns="0" rIns="0" bIns="0" rtlCol="0" anchor="t"/>
          <a:lstStyle/>
          <a:p>
            <a:pPr marL="0" indent="0" algn="l">
              <a:lnSpc>
                <a:spcPts val="938"/>
              </a:lnSpc>
              <a:buNone/>
            </a:pPr>
            <a:r>
              <a:rPr lang="en-US" sz="660" kern="0" spc="15" dirty="0">
                <a:solidFill>
                  <a:srgbClr val="6F6A66"/>
                </a:solidFill>
                <a:latin typeface="Quicksand" pitchFamily="34" charset="0"/>
              </a:rPr>
              <a:t>Rick Dierker, Chief Executive Officer, Church &amp; Dwight</a:t>
            </a:r>
            <a:endParaRPr lang="en-US" sz="660" dirty="0"/>
          </a:p>
        </p:txBody>
      </p:sp>
      <p:sp>
        <p:nvSpPr>
          <p:cNvPr id="22" name="Shape 21"/>
          <p:cNvSpPr/>
          <p:nvPr/>
        </p:nvSpPr>
        <p:spPr>
          <a:xfrm>
            <a:off x="2876550" y="2655094"/>
            <a:ext cx="6762750" cy="9525"/>
          </a:xfrm>
          <a:prstGeom prst="rect">
            <a:avLst/>
          </a:prstGeom>
          <a:solidFill>
            <a:srgbClr val="E3DCD3"/>
          </a:solidFill>
          <a:ln/>
        </p:spPr>
        <p:txBody>
          <a:bodyPr/>
          <a:lstStyle/>
          <a:p>
            <a:endParaRPr lang="en-US"/>
          </a:p>
        </p:txBody>
      </p:sp>
      <p:sp>
        <p:nvSpPr>
          <p:cNvPr id="23" name="Dot 22"/>
          <p:cNvSpPr/>
          <p:nvPr/>
        </p:nvSpPr>
        <p:spPr>
          <a:xfrm>
            <a:off x="2876550" y="3182541"/>
            <a:ext cx="381000" cy="381000"/>
          </a:xfrm>
          <a:prstGeom prst="ellipse">
            <a:avLst/>
          </a:prstGeom>
          <a:solidFill>
            <a:srgbClr val="1B1A1A"/>
          </a:solidFill>
          <a:ln/>
        </p:spPr>
        <p:txBody>
          <a:bodyPr/>
          <a:lstStyle/>
          <a:p>
            <a:endParaRPr lang="en-US"/>
          </a:p>
        </p:txBody>
      </p:sp>
      <p:pic>
        <p:nvPicPr>
          <p:cNvPr id="24" name="Icon" descr="/tmp/claude-0/-home-claude-about/4bef2f41-4227-5ff7-ab18-11ac74cd9797/scratchpad/pptx/ex/media/c842de1b9991.png"/>
          <p:cNvPicPr>
            <a:picLocks noChangeAspect="1"/>
          </p:cNvPicPr>
          <p:nvPr/>
        </p:nvPicPr>
        <p:blipFill>
          <a:blip r:embed="rId9"/>
          <a:stretch>
            <a:fillRect/>
          </a:stretch>
        </p:blipFill>
        <p:spPr>
          <a:xfrm>
            <a:off x="2971800" y="3277791"/>
            <a:ext cx="190500" cy="190500"/>
          </a:xfrm>
          <a:prstGeom prst="rect">
            <a:avLst/>
          </a:prstGeom>
        </p:spPr>
      </p:pic>
      <p:sp>
        <p:nvSpPr>
          <p:cNvPr id="25" name="Text 24"/>
          <p:cNvSpPr txBox="1"/>
          <p:nvPr/>
        </p:nvSpPr>
        <p:spPr>
          <a:xfrm>
            <a:off x="3409950" y="2910929"/>
            <a:ext cx="3886200" cy="171450"/>
          </a:xfrm>
          <a:prstGeom prst="rect">
            <a:avLst/>
          </a:prstGeom>
          <a:noFill/>
          <a:ln/>
        </p:spPr>
        <p:txBody>
          <a:bodyPr wrap="none" lIns="0" tIns="0" rIns="0" bIns="0" rtlCol="0" anchor="t"/>
          <a:lstStyle/>
          <a:p>
            <a:pPr marL="0" indent="0" algn="l">
              <a:lnSpc>
                <a:spcPts val="1350"/>
              </a:lnSpc>
              <a:buNone/>
            </a:pPr>
            <a:r>
              <a:rPr lang="en-US" sz="975" b="1" kern="0" spc="15" dirty="0">
                <a:solidFill>
                  <a:srgbClr val="1B1A1A"/>
                </a:solidFill>
                <a:latin typeface="Quicksand" pitchFamily="34" charset="0"/>
              </a:rPr>
              <a:t>Growth is arriving through more than one channel</a:t>
            </a:r>
            <a:endParaRPr lang="en-US" sz="975" dirty="0"/>
          </a:p>
        </p:txBody>
      </p:sp>
      <p:sp>
        <p:nvSpPr>
          <p:cNvPr id="26" name="Text 25"/>
          <p:cNvSpPr txBox="1"/>
          <p:nvPr/>
        </p:nvSpPr>
        <p:spPr>
          <a:xfrm>
            <a:off x="3409950" y="3105239"/>
            <a:ext cx="3905631" cy="724019"/>
          </a:xfrm>
          <a:prstGeom prst="rect">
            <a:avLst/>
          </a:prstGeom>
          <a:noFill/>
          <a:ln/>
        </p:spPr>
        <p:txBody>
          <a:bodyPr wrap="square" lIns="0" tIns="0" rIns="0" bIns="0" rtlCol="0" anchor="t"/>
          <a:lstStyle/>
          <a:p>
            <a:pPr marL="0" indent="0" algn="l">
              <a:lnSpc>
                <a:spcPts val="1140"/>
              </a:lnSpc>
              <a:buNone/>
            </a:pPr>
            <a:r>
              <a:rPr lang="en-US" sz="795" kern="0" spc="15" dirty="0">
                <a:solidFill>
                  <a:srgbClr val="333231"/>
                </a:solidFill>
                <a:latin typeface="Quicksand" pitchFamily="34" charset="0"/>
              </a:rPr>
              <a:t>E-commerce reached $340.2 billion in the second quarter, or 17.1% of retail sales, and Walmart’s global e-commerce sales grew 23% in its July quarter (</a:t>
            </a:r>
            <a:r>
              <a:rPr lang="en-US" sz="795" u="sng" kern="0" spc="15" dirty="0">
                <a:solidFill>
                  <a:srgbClr val="8C6239"/>
                </a:solidFill>
                <a:latin typeface="Quicksand" pitchFamily="34" charset="0"/>
                <a:hlinkClick r:id="rId10">
                  <a:extLst>
                    <a:ext uri="{A12FA001-AC4F-418D-AE19-62706E023703}">
                      <ahyp:hlinkClr xmlns:ahyp="http://schemas.microsoft.com/office/drawing/2018/hyperlinkcolor" val="tx"/>
                    </a:ext>
                  </a:extLst>
                </a:hlinkClick>
              </a:rPr>
              <a:t>Census Bureau</a:t>
            </a:r>
            <a:r>
              <a:rPr lang="en-US" sz="795" kern="0" spc="15" dirty="0">
                <a:solidFill>
                  <a:srgbClr val="333231"/>
                </a:solidFill>
                <a:latin typeface="Quicksand" pitchFamily="34" charset="0"/>
              </a:rPr>
              <a:t>; </a:t>
            </a:r>
            <a:r>
              <a:rPr lang="en-US" sz="795" u="sng" kern="0" spc="15" dirty="0">
                <a:solidFill>
                  <a:srgbClr val="8C6239"/>
                </a:solidFill>
                <a:latin typeface="Quicksand" pitchFamily="34" charset="0"/>
                <a:hlinkClick r:id="rId11">
                  <a:extLst>
                    <a:ext uri="{A12FA001-AC4F-418D-AE19-62706E023703}">
                      <ahyp:hlinkClr xmlns:ahyp="http://schemas.microsoft.com/office/drawing/2018/hyperlinkcolor" val="tx"/>
                    </a:ext>
                  </a:extLst>
                </a:hlinkClick>
              </a:rPr>
              <a:t>Walmart</a:t>
            </a:r>
            <a:r>
              <a:rPr lang="en-US" sz="795" kern="0" spc="15" dirty="0">
                <a:solidFill>
                  <a:srgbClr val="333231"/>
                </a:solidFill>
                <a:latin typeface="Quicksand" pitchFamily="34" charset="0"/>
              </a:rPr>
              <a:t>). YETI grew wholesale sales 10% and direct-to-consumer sales 7% in its second quarter, and General Mills’ foodservice business grew organic sales 4% while the company’s total organic sales were flat (</a:t>
            </a:r>
            <a:r>
              <a:rPr lang="en-US" sz="795" u="sng" kern="0" spc="15" dirty="0">
                <a:solidFill>
                  <a:srgbClr val="8C6239"/>
                </a:solidFill>
                <a:latin typeface="Quicksand" pitchFamily="34" charset="0"/>
                <a:hlinkClick r:id="rId12">
                  <a:extLst>
                    <a:ext uri="{A12FA001-AC4F-418D-AE19-62706E023703}">
                      <ahyp:hlinkClr xmlns:ahyp="http://schemas.microsoft.com/office/drawing/2018/hyperlinkcolor" val="tx"/>
                    </a:ext>
                  </a:extLst>
                </a:hlinkClick>
              </a:rPr>
              <a:t>YETI</a:t>
            </a:r>
            <a:r>
              <a:rPr lang="en-US" sz="795" kern="0" spc="15" dirty="0">
                <a:solidFill>
                  <a:srgbClr val="333231"/>
                </a:solidFill>
                <a:latin typeface="Quicksand" pitchFamily="34" charset="0"/>
              </a:rPr>
              <a:t>; </a:t>
            </a:r>
            <a:r>
              <a:rPr lang="en-US" sz="795" u="sng" kern="0" spc="15" dirty="0">
                <a:solidFill>
                  <a:srgbClr val="8C6239"/>
                </a:solidFill>
                <a:latin typeface="Quicksand" pitchFamily="34" charset="0"/>
                <a:hlinkClick r:id="rId7">
                  <a:extLst>
                    <a:ext uri="{A12FA001-AC4F-418D-AE19-62706E023703}">
                      <ahyp:hlinkClr xmlns:ahyp="http://schemas.microsoft.com/office/drawing/2018/hyperlinkcolor" val="tx"/>
                    </a:ext>
                  </a:extLst>
                </a:hlinkClick>
              </a:rPr>
              <a:t>General Mills</a:t>
            </a:r>
            <a:r>
              <a:rPr lang="en-US" sz="795" kern="0" spc="15" dirty="0">
                <a:solidFill>
                  <a:srgbClr val="333231"/>
                </a:solidFill>
                <a:latin typeface="Quicksand" pitchFamily="34" charset="0"/>
              </a:rPr>
              <a:t>).</a:t>
            </a:r>
            <a:endParaRPr lang="en-US" sz="795" dirty="0"/>
          </a:p>
        </p:txBody>
      </p:sp>
      <p:sp>
        <p:nvSpPr>
          <p:cNvPr id="27" name="Shape 26"/>
          <p:cNvSpPr/>
          <p:nvPr/>
        </p:nvSpPr>
        <p:spPr>
          <a:xfrm>
            <a:off x="7448550" y="2837259"/>
            <a:ext cx="19050" cy="1071563"/>
          </a:xfrm>
          <a:prstGeom prst="rect">
            <a:avLst/>
          </a:prstGeom>
          <a:solidFill>
            <a:srgbClr val="B68757"/>
          </a:solidFill>
          <a:ln/>
        </p:spPr>
        <p:txBody>
          <a:bodyPr/>
          <a:lstStyle/>
          <a:p>
            <a:endParaRPr lang="en-US"/>
          </a:p>
        </p:txBody>
      </p:sp>
      <p:sp>
        <p:nvSpPr>
          <p:cNvPr id="28" name="Text 27"/>
          <p:cNvSpPr txBox="1"/>
          <p:nvPr/>
        </p:nvSpPr>
        <p:spPr>
          <a:xfrm>
            <a:off x="7600950" y="2834878"/>
            <a:ext cx="2052637" cy="785813"/>
          </a:xfrm>
          <a:prstGeom prst="rect">
            <a:avLst/>
          </a:prstGeom>
          <a:noFill/>
          <a:ln/>
        </p:spPr>
        <p:txBody>
          <a:bodyPr wrap="square" lIns="0" tIns="0" rIns="0" bIns="0" rtlCol="0" anchor="t"/>
          <a:lstStyle/>
          <a:p>
            <a:pPr marL="0" indent="0" algn="l">
              <a:lnSpc>
                <a:spcPts val="1238"/>
              </a:lnSpc>
              <a:buNone/>
            </a:pPr>
            <a:r>
              <a:rPr lang="en-US" sz="900" i="1" kern="0" spc="15" dirty="0">
                <a:solidFill>
                  <a:srgbClr val="1B1A1A"/>
                </a:solidFill>
                <a:latin typeface="Newsreader Medium" pitchFamily="34" charset="0"/>
              </a:rPr>
              <a:t>“We also saw continued progress across our omni-channel model, including strong wholesale sell-through, healthy DTC demand and improving trends in Corporate Sales.”</a:t>
            </a:r>
            <a:endParaRPr lang="en-US" sz="900" dirty="0"/>
          </a:p>
        </p:txBody>
      </p:sp>
      <p:sp>
        <p:nvSpPr>
          <p:cNvPr id="29" name="Text 28"/>
          <p:cNvSpPr txBox="1"/>
          <p:nvPr/>
        </p:nvSpPr>
        <p:spPr>
          <a:xfrm>
            <a:off x="7600950" y="3663553"/>
            <a:ext cx="2052637" cy="238125"/>
          </a:xfrm>
          <a:prstGeom prst="rect">
            <a:avLst/>
          </a:prstGeom>
          <a:noFill/>
          <a:ln/>
        </p:spPr>
        <p:txBody>
          <a:bodyPr wrap="square" lIns="0" tIns="0" rIns="0" bIns="0" rtlCol="0" anchor="t"/>
          <a:lstStyle/>
          <a:p>
            <a:pPr marL="0" indent="0" algn="l">
              <a:lnSpc>
                <a:spcPts val="938"/>
              </a:lnSpc>
              <a:buNone/>
            </a:pPr>
            <a:r>
              <a:rPr lang="en-US" sz="660" kern="0" spc="15" dirty="0">
                <a:solidFill>
                  <a:srgbClr val="6F6A66"/>
                </a:solidFill>
                <a:latin typeface="Quicksand" pitchFamily="34" charset="0"/>
              </a:rPr>
              <a:t>Matt Reintjes, Chair of the Board and Chief Executive Officer, YETI</a:t>
            </a:r>
            <a:endParaRPr lang="en-US" sz="660" dirty="0"/>
          </a:p>
        </p:txBody>
      </p:sp>
      <p:sp>
        <p:nvSpPr>
          <p:cNvPr id="30" name="Shape 29"/>
          <p:cNvSpPr/>
          <p:nvPr/>
        </p:nvSpPr>
        <p:spPr>
          <a:xfrm>
            <a:off x="2876550" y="4081463"/>
            <a:ext cx="6762750" cy="9525"/>
          </a:xfrm>
          <a:prstGeom prst="rect">
            <a:avLst/>
          </a:prstGeom>
          <a:solidFill>
            <a:srgbClr val="E3DCD3"/>
          </a:solidFill>
          <a:ln/>
        </p:spPr>
        <p:txBody>
          <a:bodyPr/>
          <a:lstStyle/>
          <a:p>
            <a:endParaRPr lang="en-US"/>
          </a:p>
        </p:txBody>
      </p:sp>
      <p:sp>
        <p:nvSpPr>
          <p:cNvPr id="31" name="Dot 30"/>
          <p:cNvSpPr/>
          <p:nvPr/>
        </p:nvSpPr>
        <p:spPr>
          <a:xfrm>
            <a:off x="2876550" y="4608909"/>
            <a:ext cx="381000" cy="381000"/>
          </a:xfrm>
          <a:prstGeom prst="ellipse">
            <a:avLst/>
          </a:prstGeom>
          <a:solidFill>
            <a:srgbClr val="1B1A1A"/>
          </a:solidFill>
          <a:ln/>
        </p:spPr>
        <p:txBody>
          <a:bodyPr/>
          <a:lstStyle/>
          <a:p>
            <a:endParaRPr lang="en-US"/>
          </a:p>
        </p:txBody>
      </p:sp>
      <p:pic>
        <p:nvPicPr>
          <p:cNvPr id="32" name="Icon" descr="/tmp/claude-0/-home-claude-about/4bef2f41-4227-5ff7-ab18-11ac74cd9797/scratchpad/pptx/ex/media/7f896b401a11.png"/>
          <p:cNvPicPr>
            <a:picLocks noChangeAspect="1"/>
          </p:cNvPicPr>
          <p:nvPr/>
        </p:nvPicPr>
        <p:blipFill>
          <a:blip r:embed="rId13"/>
          <a:stretch>
            <a:fillRect/>
          </a:stretch>
        </p:blipFill>
        <p:spPr>
          <a:xfrm>
            <a:off x="2971800" y="4704159"/>
            <a:ext cx="190500" cy="190500"/>
          </a:xfrm>
          <a:prstGeom prst="rect">
            <a:avLst/>
          </a:prstGeom>
        </p:spPr>
      </p:pic>
      <p:sp>
        <p:nvSpPr>
          <p:cNvPr id="33" name="Text 32"/>
          <p:cNvSpPr txBox="1"/>
          <p:nvPr/>
        </p:nvSpPr>
        <p:spPr>
          <a:xfrm>
            <a:off x="3409950" y="4192488"/>
            <a:ext cx="3886200" cy="171450"/>
          </a:xfrm>
          <a:prstGeom prst="rect">
            <a:avLst/>
          </a:prstGeom>
          <a:noFill/>
          <a:ln/>
        </p:spPr>
        <p:txBody>
          <a:bodyPr wrap="none" lIns="0" tIns="0" rIns="0" bIns="0" rtlCol="0" anchor="t"/>
          <a:lstStyle/>
          <a:p>
            <a:pPr marL="0" indent="0" algn="l">
              <a:lnSpc>
                <a:spcPts val="1350"/>
              </a:lnSpc>
              <a:buNone/>
            </a:pPr>
            <a:r>
              <a:rPr lang="en-US" sz="975" b="1" kern="0" spc="15" dirty="0">
                <a:solidFill>
                  <a:srgbClr val="1B1A1A"/>
                </a:solidFill>
                <a:latin typeface="Quicksand" pitchFamily="34" charset="0"/>
              </a:rPr>
              <a:t>Strategic acquirers are reshaping portfolios at scale</a:t>
            </a:r>
            <a:endParaRPr lang="en-US" sz="975" dirty="0"/>
          </a:p>
        </p:txBody>
      </p:sp>
      <p:sp>
        <p:nvSpPr>
          <p:cNvPr id="34" name="Text 33"/>
          <p:cNvSpPr txBox="1"/>
          <p:nvPr/>
        </p:nvSpPr>
        <p:spPr>
          <a:xfrm>
            <a:off x="3409950" y="4386798"/>
            <a:ext cx="3905631" cy="1013639"/>
          </a:xfrm>
          <a:prstGeom prst="rect">
            <a:avLst/>
          </a:prstGeom>
          <a:noFill/>
          <a:ln/>
        </p:spPr>
        <p:txBody>
          <a:bodyPr wrap="square" lIns="0" tIns="0" rIns="0" bIns="0" rtlCol="0" anchor="t"/>
          <a:lstStyle/>
          <a:p>
            <a:pPr marL="0" indent="0" algn="l">
              <a:lnSpc>
                <a:spcPts val="1140"/>
              </a:lnSpc>
              <a:buNone/>
            </a:pPr>
            <a:r>
              <a:rPr lang="en-US" sz="795" kern="0" spc="15" dirty="0">
                <a:solidFill>
                  <a:srgbClr val="333231"/>
                </a:solidFill>
                <a:latin typeface="Quicksand" pitchFamily="34" charset="0"/>
              </a:rPr>
              <a:t>Kimberly-Clark, McCormick and Sysco have committed more than $120 billion to three transactions since November 2025 (</a:t>
            </a:r>
            <a:r>
              <a:rPr lang="en-US" sz="795" u="sng" kern="0" spc="15" dirty="0">
                <a:solidFill>
                  <a:srgbClr val="8C6239"/>
                </a:solidFill>
                <a:latin typeface="Quicksand" pitchFamily="34" charset="0"/>
                <a:hlinkClick r:id="rId14">
                  <a:extLst>
                    <a:ext uri="{A12FA001-AC4F-418D-AE19-62706E023703}">
                      <ahyp:hlinkClr xmlns:ahyp="http://schemas.microsoft.com/office/drawing/2018/hyperlinkcolor" val="tx"/>
                    </a:ext>
                  </a:extLst>
                </a:hlinkClick>
              </a:rPr>
              <a:t>Kenvue</a:t>
            </a:r>
            <a:r>
              <a:rPr lang="en-US" sz="795" kern="0" spc="15" dirty="0">
                <a:solidFill>
                  <a:srgbClr val="333231"/>
                </a:solidFill>
                <a:latin typeface="Quicksand" pitchFamily="34" charset="0"/>
              </a:rPr>
              <a:t>; </a:t>
            </a:r>
            <a:r>
              <a:rPr lang="en-US" sz="795" u="sng" kern="0" spc="15" dirty="0">
                <a:solidFill>
                  <a:srgbClr val="8C6239"/>
                </a:solidFill>
                <a:latin typeface="Quicksand" pitchFamily="34" charset="0"/>
                <a:hlinkClick r:id="rId15">
                  <a:extLst>
                    <a:ext uri="{A12FA001-AC4F-418D-AE19-62706E023703}">
                      <ahyp:hlinkClr xmlns:ahyp="http://schemas.microsoft.com/office/drawing/2018/hyperlinkcolor" val="tx"/>
                    </a:ext>
                  </a:extLst>
                </a:hlinkClick>
              </a:rPr>
              <a:t>Unilever’s food business</a:t>
            </a:r>
            <a:r>
              <a:rPr lang="en-US" sz="795" kern="0" spc="15" dirty="0">
                <a:solidFill>
                  <a:srgbClr val="333231"/>
                </a:solidFill>
                <a:latin typeface="Quicksand" pitchFamily="34" charset="0"/>
              </a:rPr>
              <a:t>; </a:t>
            </a:r>
            <a:r>
              <a:rPr lang="en-US" sz="795" u="sng" kern="0" spc="15" dirty="0">
                <a:solidFill>
                  <a:srgbClr val="8C6239"/>
                </a:solidFill>
                <a:latin typeface="Quicksand" pitchFamily="34" charset="0"/>
                <a:hlinkClick r:id="rId16">
                  <a:extLst>
                    <a:ext uri="{A12FA001-AC4F-418D-AE19-62706E023703}">
                      <ahyp:hlinkClr xmlns:ahyp="http://schemas.microsoft.com/office/drawing/2018/hyperlinkcolor" val="tx"/>
                    </a:ext>
                  </a:extLst>
                </a:hlinkClick>
              </a:rPr>
              <a:t>Jetro Restaurant Depot</a:t>
            </a:r>
            <a:r>
              <a:rPr lang="en-US" sz="795" kern="0" spc="15" dirty="0">
                <a:solidFill>
                  <a:srgbClr val="333231"/>
                </a:solidFill>
                <a:latin typeface="Quicksand" pitchFamily="34" charset="0"/>
              </a:rPr>
              <a:t>). The largest companies are also selling and separating businesses: General Mills completed the sale of its Brazil business on September 2, Keurig Dr Pepper is preparing to separate in early 2027, and Middleby spun off its food processing business in July (</a:t>
            </a:r>
            <a:r>
              <a:rPr lang="en-US" sz="795" u="sng" kern="0" spc="15" dirty="0">
                <a:solidFill>
                  <a:srgbClr val="8C6239"/>
                </a:solidFill>
                <a:latin typeface="Quicksand" pitchFamily="34" charset="0"/>
                <a:hlinkClick r:id="rId7">
                  <a:extLst>
                    <a:ext uri="{A12FA001-AC4F-418D-AE19-62706E023703}">
                      <ahyp:hlinkClr xmlns:ahyp="http://schemas.microsoft.com/office/drawing/2018/hyperlinkcolor" val="tx"/>
                    </a:ext>
                  </a:extLst>
                </a:hlinkClick>
              </a:rPr>
              <a:t>General Mills</a:t>
            </a:r>
            <a:r>
              <a:rPr lang="en-US" sz="795" kern="0" spc="15" dirty="0">
                <a:solidFill>
                  <a:srgbClr val="333231"/>
                </a:solidFill>
                <a:latin typeface="Quicksand" pitchFamily="34" charset="0"/>
              </a:rPr>
              <a:t>; </a:t>
            </a:r>
            <a:r>
              <a:rPr lang="en-US" sz="795" u="sng" kern="0" spc="15" dirty="0">
                <a:solidFill>
                  <a:srgbClr val="8C6239"/>
                </a:solidFill>
                <a:latin typeface="Quicksand" pitchFamily="34" charset="0"/>
                <a:hlinkClick r:id="rId17">
                  <a:extLst>
                    <a:ext uri="{A12FA001-AC4F-418D-AE19-62706E023703}">
                      <ahyp:hlinkClr xmlns:ahyp="http://schemas.microsoft.com/office/drawing/2018/hyperlinkcolor" val="tx"/>
                    </a:ext>
                  </a:extLst>
                </a:hlinkClick>
              </a:rPr>
              <a:t>Keurig Dr Pepper</a:t>
            </a:r>
            <a:r>
              <a:rPr lang="en-US" sz="795" kern="0" spc="15" dirty="0">
                <a:solidFill>
                  <a:srgbClr val="333231"/>
                </a:solidFill>
                <a:latin typeface="Quicksand" pitchFamily="34" charset="0"/>
              </a:rPr>
              <a:t>; </a:t>
            </a:r>
            <a:r>
              <a:rPr lang="en-US" sz="795" u="sng" kern="0" spc="15" dirty="0">
                <a:solidFill>
                  <a:srgbClr val="8C6239"/>
                </a:solidFill>
                <a:latin typeface="Quicksand" pitchFamily="34" charset="0"/>
                <a:hlinkClick r:id="rId18">
                  <a:extLst>
                    <a:ext uri="{A12FA001-AC4F-418D-AE19-62706E023703}">
                      <ahyp:hlinkClr xmlns:ahyp="http://schemas.microsoft.com/office/drawing/2018/hyperlinkcolor" val="tx"/>
                    </a:ext>
                  </a:extLst>
                </a:hlinkClick>
              </a:rPr>
              <a:t>Middleby</a:t>
            </a:r>
            <a:r>
              <a:rPr lang="en-US" sz="795" kern="0" spc="15" dirty="0">
                <a:solidFill>
                  <a:srgbClr val="333231"/>
                </a:solidFill>
                <a:latin typeface="Quicksand" pitchFamily="34" charset="0"/>
              </a:rPr>
              <a:t>).</a:t>
            </a:r>
            <a:endParaRPr lang="en-US" sz="795" dirty="0"/>
          </a:p>
        </p:txBody>
      </p:sp>
      <p:sp>
        <p:nvSpPr>
          <p:cNvPr id="35" name="Shape 34"/>
          <p:cNvSpPr/>
          <p:nvPr/>
        </p:nvSpPr>
        <p:spPr>
          <a:xfrm>
            <a:off x="7448550" y="4263628"/>
            <a:ext cx="19050" cy="1071563"/>
          </a:xfrm>
          <a:prstGeom prst="rect">
            <a:avLst/>
          </a:prstGeom>
          <a:solidFill>
            <a:srgbClr val="B68757"/>
          </a:solidFill>
          <a:ln/>
        </p:spPr>
        <p:txBody>
          <a:bodyPr/>
          <a:lstStyle/>
          <a:p>
            <a:endParaRPr lang="en-US"/>
          </a:p>
        </p:txBody>
      </p:sp>
      <p:sp>
        <p:nvSpPr>
          <p:cNvPr id="36" name="Text 35"/>
          <p:cNvSpPr txBox="1"/>
          <p:nvPr/>
        </p:nvSpPr>
        <p:spPr>
          <a:xfrm>
            <a:off x="7600950" y="4261247"/>
            <a:ext cx="2052637" cy="785813"/>
          </a:xfrm>
          <a:prstGeom prst="rect">
            <a:avLst/>
          </a:prstGeom>
          <a:noFill/>
          <a:ln/>
        </p:spPr>
        <p:txBody>
          <a:bodyPr wrap="square" lIns="0" tIns="0" rIns="0" bIns="0" rtlCol="0" anchor="t"/>
          <a:lstStyle/>
          <a:p>
            <a:pPr marL="0" indent="0" algn="l">
              <a:lnSpc>
                <a:spcPts val="1238"/>
              </a:lnSpc>
              <a:buNone/>
            </a:pPr>
            <a:r>
              <a:rPr lang="en-US" sz="900" i="1" kern="0" spc="15" dirty="0">
                <a:solidFill>
                  <a:srgbClr val="1B1A1A"/>
                </a:solidFill>
                <a:latin typeface="Newsreader Medium" pitchFamily="34" charset="0"/>
              </a:rPr>
              <a:t>“We remain confident in the strategic benefits of the proposed combination with Unilever Foods and have made substantial progress on integration planning.”</a:t>
            </a:r>
            <a:endParaRPr lang="en-US" sz="900" dirty="0"/>
          </a:p>
        </p:txBody>
      </p:sp>
      <p:sp>
        <p:nvSpPr>
          <p:cNvPr id="37" name="Text 36"/>
          <p:cNvSpPr txBox="1"/>
          <p:nvPr/>
        </p:nvSpPr>
        <p:spPr>
          <a:xfrm>
            <a:off x="7600950" y="5089922"/>
            <a:ext cx="2052637" cy="238125"/>
          </a:xfrm>
          <a:prstGeom prst="rect">
            <a:avLst/>
          </a:prstGeom>
          <a:noFill/>
          <a:ln/>
        </p:spPr>
        <p:txBody>
          <a:bodyPr wrap="square" lIns="0" tIns="0" rIns="0" bIns="0" rtlCol="0" anchor="t"/>
          <a:lstStyle/>
          <a:p>
            <a:pPr marL="0" indent="0" algn="l">
              <a:lnSpc>
                <a:spcPts val="938"/>
              </a:lnSpc>
              <a:buNone/>
            </a:pPr>
            <a:r>
              <a:rPr lang="en-US" sz="660" kern="0" spc="15" dirty="0">
                <a:solidFill>
                  <a:srgbClr val="6F6A66"/>
                </a:solidFill>
                <a:latin typeface="Quicksand" pitchFamily="34" charset="0"/>
              </a:rPr>
              <a:t>Brendan M. Foley, Chairman, President and CEO, McCormick</a:t>
            </a:r>
            <a:endParaRPr lang="en-US" sz="660" dirty="0"/>
          </a:p>
        </p:txBody>
      </p:sp>
      <p:sp>
        <p:nvSpPr>
          <p:cNvPr id="38" name="Shape 37"/>
          <p:cNvSpPr/>
          <p:nvPr/>
        </p:nvSpPr>
        <p:spPr>
          <a:xfrm>
            <a:off x="2876550" y="5507831"/>
            <a:ext cx="6762750" cy="9525"/>
          </a:xfrm>
          <a:prstGeom prst="rect">
            <a:avLst/>
          </a:prstGeom>
          <a:solidFill>
            <a:srgbClr val="E3DCD3"/>
          </a:solidFill>
          <a:ln/>
        </p:spPr>
        <p:txBody>
          <a:bodyPr/>
          <a:lstStyle/>
          <a:p>
            <a:endParaRPr lang="en-US"/>
          </a:p>
        </p:txBody>
      </p:sp>
      <p:sp>
        <p:nvSpPr>
          <p:cNvPr id="39" name="Dot 38"/>
          <p:cNvSpPr/>
          <p:nvPr/>
        </p:nvSpPr>
        <p:spPr>
          <a:xfrm>
            <a:off x="2876550" y="6035278"/>
            <a:ext cx="381000" cy="381000"/>
          </a:xfrm>
          <a:prstGeom prst="ellipse">
            <a:avLst/>
          </a:prstGeom>
          <a:solidFill>
            <a:srgbClr val="1B1A1A"/>
          </a:solidFill>
          <a:ln/>
        </p:spPr>
        <p:txBody>
          <a:bodyPr/>
          <a:lstStyle/>
          <a:p>
            <a:endParaRPr lang="en-US"/>
          </a:p>
        </p:txBody>
      </p:sp>
      <p:pic>
        <p:nvPicPr>
          <p:cNvPr id="40" name="Icon" descr="/tmp/claude-0/-home-claude-about/4bef2f41-4227-5ff7-ab18-11ac74cd9797/scratchpad/pptx/ex/media/824067d0c0ab.png"/>
          <p:cNvPicPr>
            <a:picLocks noChangeAspect="1"/>
          </p:cNvPicPr>
          <p:nvPr/>
        </p:nvPicPr>
        <p:blipFill>
          <a:blip r:embed="rId19"/>
          <a:stretch>
            <a:fillRect/>
          </a:stretch>
        </p:blipFill>
        <p:spPr>
          <a:xfrm>
            <a:off x="2971800" y="6130528"/>
            <a:ext cx="190500" cy="190500"/>
          </a:xfrm>
          <a:prstGeom prst="rect">
            <a:avLst/>
          </a:prstGeom>
        </p:spPr>
      </p:pic>
      <p:sp>
        <p:nvSpPr>
          <p:cNvPr id="41" name="Text 40"/>
          <p:cNvSpPr txBox="1"/>
          <p:nvPr/>
        </p:nvSpPr>
        <p:spPr>
          <a:xfrm>
            <a:off x="3409950" y="5691336"/>
            <a:ext cx="3886200" cy="171450"/>
          </a:xfrm>
          <a:prstGeom prst="rect">
            <a:avLst/>
          </a:prstGeom>
          <a:noFill/>
          <a:ln/>
        </p:spPr>
        <p:txBody>
          <a:bodyPr wrap="none" lIns="0" tIns="0" rIns="0" bIns="0" rtlCol="0" anchor="t"/>
          <a:lstStyle/>
          <a:p>
            <a:pPr marL="0" indent="0" algn="l">
              <a:lnSpc>
                <a:spcPts val="1350"/>
              </a:lnSpc>
              <a:buNone/>
            </a:pPr>
            <a:r>
              <a:rPr lang="en-US" sz="975" b="1" kern="0" spc="15" dirty="0">
                <a:solidFill>
                  <a:srgbClr val="1B1A1A"/>
                </a:solidFill>
                <a:latin typeface="Quicksand" pitchFamily="34" charset="0"/>
              </a:rPr>
              <a:t>Multi-site platforms keep adding locations</a:t>
            </a:r>
            <a:endParaRPr lang="en-US" sz="975" dirty="0"/>
          </a:p>
        </p:txBody>
      </p:sp>
      <p:sp>
        <p:nvSpPr>
          <p:cNvPr id="42" name="Text 41"/>
          <p:cNvSpPr txBox="1"/>
          <p:nvPr/>
        </p:nvSpPr>
        <p:spPr>
          <a:xfrm>
            <a:off x="3409950" y="5885646"/>
            <a:ext cx="3905631" cy="868829"/>
          </a:xfrm>
          <a:prstGeom prst="rect">
            <a:avLst/>
          </a:prstGeom>
          <a:noFill/>
          <a:ln/>
        </p:spPr>
        <p:txBody>
          <a:bodyPr wrap="square" lIns="0" tIns="0" rIns="0" bIns="0" rtlCol="0" anchor="t"/>
          <a:lstStyle/>
          <a:p>
            <a:pPr marL="0" indent="0" algn="l">
              <a:lnSpc>
                <a:spcPts val="1140"/>
              </a:lnSpc>
              <a:buNone/>
            </a:pPr>
            <a:r>
              <a:rPr lang="en-US" sz="795" kern="0" spc="15" dirty="0">
                <a:solidFill>
                  <a:srgbClr val="333231"/>
                </a:solidFill>
                <a:latin typeface="Quicksand" pitchFamily="34" charset="0"/>
              </a:rPr>
              <a:t>Add-on acquisitions made up about 75% of US private equity buyouts in the second quarter (</a:t>
            </a:r>
            <a:r>
              <a:rPr lang="en-US" sz="795" u="sng" kern="0" spc="15" dirty="0">
                <a:solidFill>
                  <a:srgbClr val="8C6239"/>
                </a:solidFill>
                <a:latin typeface="Quicksand" pitchFamily="34" charset="0"/>
                <a:hlinkClick r:id="rId20">
                  <a:extLst>
                    <a:ext uri="{A12FA001-AC4F-418D-AE19-62706E023703}">
                      <ahyp:hlinkClr xmlns:ahyp="http://schemas.microsoft.com/office/drawing/2018/hyperlinkcolor" val="tx"/>
                    </a:ext>
                  </a:extLst>
                </a:hlinkClick>
              </a:rPr>
              <a:t>PitchBook</a:t>
            </a:r>
            <a:r>
              <a:rPr lang="en-US" sz="795" kern="0" spc="15" dirty="0">
                <a:solidFill>
                  <a:srgbClr val="333231"/>
                </a:solidFill>
                <a:latin typeface="Quicksand" pitchFamily="34" charset="0"/>
              </a:rPr>
              <a:t>). Boyd Group’s second-quarter sales rose 29.9%, mostly from new locations that include the 258 Joe Hudson’s collision centers it bought in January, Tidal Wave Auto Spa reached 332 car wash locations in September, and SPS PoolCare had completed 191 acquisitions since 2021 by January (</a:t>
            </a:r>
            <a:r>
              <a:rPr lang="en-US" sz="795" u="sng" kern="0" spc="15" dirty="0">
                <a:solidFill>
                  <a:srgbClr val="8C6239"/>
                </a:solidFill>
                <a:latin typeface="Quicksand" pitchFamily="34" charset="0"/>
                <a:hlinkClick r:id="rId21">
                  <a:extLst>
                    <a:ext uri="{A12FA001-AC4F-418D-AE19-62706E023703}">
                      <ahyp:hlinkClr xmlns:ahyp="http://schemas.microsoft.com/office/drawing/2018/hyperlinkcolor" val="tx"/>
                    </a:ext>
                  </a:extLst>
                </a:hlinkClick>
              </a:rPr>
              <a:t>Boyd Group</a:t>
            </a:r>
            <a:r>
              <a:rPr lang="en-US" sz="795" kern="0" spc="15" dirty="0">
                <a:solidFill>
                  <a:srgbClr val="333231"/>
                </a:solidFill>
                <a:latin typeface="Quicksand" pitchFamily="34" charset="0"/>
              </a:rPr>
              <a:t>; </a:t>
            </a:r>
            <a:r>
              <a:rPr lang="en-US" sz="795" u="sng" kern="0" spc="15" dirty="0">
                <a:solidFill>
                  <a:srgbClr val="8C6239"/>
                </a:solidFill>
                <a:latin typeface="Quicksand" pitchFamily="34" charset="0"/>
                <a:hlinkClick r:id="rId22">
                  <a:extLst>
                    <a:ext uri="{A12FA001-AC4F-418D-AE19-62706E023703}">
                      <ahyp:hlinkClr xmlns:ahyp="http://schemas.microsoft.com/office/drawing/2018/hyperlinkcolor" val="tx"/>
                    </a:ext>
                  </a:extLst>
                </a:hlinkClick>
              </a:rPr>
              <a:t>Tidal Wave Auto Spa</a:t>
            </a:r>
            <a:r>
              <a:rPr lang="en-US" sz="795" kern="0" spc="15" dirty="0">
                <a:solidFill>
                  <a:srgbClr val="333231"/>
                </a:solidFill>
                <a:latin typeface="Quicksand" pitchFamily="34" charset="0"/>
              </a:rPr>
              <a:t>; </a:t>
            </a:r>
            <a:r>
              <a:rPr lang="en-US" sz="795" u="sng" kern="0" spc="15" dirty="0">
                <a:solidFill>
                  <a:srgbClr val="8C6239"/>
                </a:solidFill>
                <a:latin typeface="Quicksand" pitchFamily="34" charset="0"/>
                <a:hlinkClick r:id="rId23">
                  <a:extLst>
                    <a:ext uri="{A12FA001-AC4F-418D-AE19-62706E023703}">
                      <ahyp:hlinkClr xmlns:ahyp="http://schemas.microsoft.com/office/drawing/2018/hyperlinkcolor" val="tx"/>
                    </a:ext>
                  </a:extLst>
                </a:hlinkClick>
              </a:rPr>
              <a:t>SPS PoolCare</a:t>
            </a:r>
            <a:r>
              <a:rPr lang="en-US" sz="795" kern="0" spc="15" dirty="0">
                <a:solidFill>
                  <a:srgbClr val="333231"/>
                </a:solidFill>
                <a:latin typeface="Quicksand" pitchFamily="34" charset="0"/>
              </a:rPr>
              <a:t>).</a:t>
            </a:r>
            <a:endParaRPr lang="en-US" sz="795" dirty="0"/>
          </a:p>
        </p:txBody>
      </p:sp>
      <p:sp>
        <p:nvSpPr>
          <p:cNvPr id="43" name="Shape 42"/>
          <p:cNvSpPr/>
          <p:nvPr/>
        </p:nvSpPr>
        <p:spPr>
          <a:xfrm>
            <a:off x="7448550" y="5749528"/>
            <a:ext cx="19050" cy="952500"/>
          </a:xfrm>
          <a:prstGeom prst="rect">
            <a:avLst/>
          </a:prstGeom>
          <a:solidFill>
            <a:srgbClr val="B68757"/>
          </a:solidFill>
          <a:ln/>
        </p:spPr>
        <p:txBody>
          <a:bodyPr/>
          <a:lstStyle/>
          <a:p>
            <a:endParaRPr lang="en-US"/>
          </a:p>
        </p:txBody>
      </p:sp>
      <p:sp>
        <p:nvSpPr>
          <p:cNvPr id="44" name="Text 43"/>
          <p:cNvSpPr txBox="1"/>
          <p:nvPr/>
        </p:nvSpPr>
        <p:spPr>
          <a:xfrm>
            <a:off x="7600950" y="5747147"/>
            <a:ext cx="2052637" cy="785813"/>
          </a:xfrm>
          <a:prstGeom prst="rect">
            <a:avLst/>
          </a:prstGeom>
          <a:noFill/>
          <a:ln/>
        </p:spPr>
        <p:txBody>
          <a:bodyPr wrap="square" lIns="0" tIns="0" rIns="0" bIns="0" rtlCol="0" anchor="t"/>
          <a:lstStyle/>
          <a:p>
            <a:pPr marL="0" indent="0" algn="l">
              <a:lnSpc>
                <a:spcPts val="1238"/>
              </a:lnSpc>
              <a:buNone/>
            </a:pPr>
            <a:r>
              <a:rPr lang="en-US" sz="900" i="1" kern="0" spc="15" dirty="0">
                <a:solidFill>
                  <a:srgbClr val="1B1A1A"/>
                </a:solidFill>
                <a:latin typeface="Newsreader Medium" pitchFamily="34" charset="0"/>
              </a:rPr>
              <a:t>“We also successfully completed the conversion of Joe Hudson’s 258 locations during the quarter, accelerating synergy realization, which contributed to the strength in our profitability.”</a:t>
            </a:r>
            <a:endParaRPr lang="en-US" sz="900" dirty="0"/>
          </a:p>
        </p:txBody>
      </p:sp>
      <p:sp>
        <p:nvSpPr>
          <p:cNvPr id="45" name="Text 44"/>
          <p:cNvSpPr txBox="1"/>
          <p:nvPr/>
        </p:nvSpPr>
        <p:spPr>
          <a:xfrm>
            <a:off x="7600950" y="6575822"/>
            <a:ext cx="2038350" cy="119063"/>
          </a:xfrm>
          <a:prstGeom prst="rect">
            <a:avLst/>
          </a:prstGeom>
          <a:noFill/>
          <a:ln/>
        </p:spPr>
        <p:txBody>
          <a:bodyPr wrap="none" lIns="0" tIns="0" rIns="0" bIns="0" rtlCol="0" anchor="t"/>
          <a:lstStyle/>
          <a:p>
            <a:pPr marL="0" indent="0" algn="l">
              <a:lnSpc>
                <a:spcPts val="938"/>
              </a:lnSpc>
              <a:buNone/>
            </a:pPr>
            <a:r>
              <a:rPr lang="en-US" sz="660" kern="0" spc="15" dirty="0">
                <a:solidFill>
                  <a:srgbClr val="6F6A66"/>
                </a:solidFill>
                <a:latin typeface="Quicksand" pitchFamily="34" charset="0"/>
              </a:rPr>
              <a:t>Brian Kaner, President &amp; CEO, Boyd Group</a:t>
            </a:r>
            <a:endParaRPr lang="en-US" sz="660" dirty="0"/>
          </a:p>
        </p:txBody>
      </p:sp>
      <p:sp>
        <p:nvSpPr>
          <p:cNvPr id="46" name="Shape 45"/>
          <p:cNvSpPr/>
          <p:nvPr/>
        </p:nvSpPr>
        <p:spPr>
          <a:xfrm>
            <a:off x="419100" y="7029450"/>
            <a:ext cx="9220200" cy="9525"/>
          </a:xfrm>
          <a:prstGeom prst="rect">
            <a:avLst/>
          </a:prstGeom>
          <a:solidFill>
            <a:srgbClr val="E3DCD3"/>
          </a:solidFill>
          <a:ln/>
        </p:spPr>
        <p:txBody>
          <a:bodyPr/>
          <a:lstStyle/>
          <a:p>
            <a:endParaRPr lang="en-US"/>
          </a:p>
        </p:txBody>
      </p:sp>
      <p:pic>
        <p:nvPicPr>
          <p:cNvPr id="47" name="Benchmark International" descr="Benchmark International"/>
          <p:cNvPicPr>
            <a:picLocks noChangeAspect="1"/>
          </p:cNvPicPr>
          <p:nvPr/>
        </p:nvPicPr>
        <p:blipFill>
          <a:blip r:embed="rId24"/>
          <a:stretch>
            <a:fillRect/>
          </a:stretch>
        </p:blipFill>
        <p:spPr>
          <a:xfrm>
            <a:off x="419100" y="7143750"/>
            <a:ext cx="914400" cy="171450"/>
          </a:xfrm>
          <a:prstGeom prst="rect">
            <a:avLst/>
          </a:prstGeom>
        </p:spPr>
      </p:pic>
      <p:sp>
        <p:nvSpPr>
          <p:cNvPr id="48" name="Text 47"/>
          <p:cNvSpPr txBox="1"/>
          <p:nvPr/>
        </p:nvSpPr>
        <p:spPr>
          <a:xfrm>
            <a:off x="1543050" y="7098506"/>
            <a:ext cx="7658100" cy="238125"/>
          </a:xfrm>
          <a:prstGeom prst="rect">
            <a:avLst/>
          </a:prstGeom>
          <a:noFill/>
          <a:ln/>
        </p:spPr>
        <p:txBody>
          <a:bodyPr wrap="square" lIns="0" tIns="0" rIns="0" bIns="0" rtlCol="0" anchor="t"/>
          <a:lstStyle/>
          <a:p>
            <a:pPr marL="0" indent="0" algn="l">
              <a:lnSpc>
                <a:spcPts val="938"/>
              </a:lnSpc>
              <a:buNone/>
            </a:pPr>
            <a:r>
              <a:rPr lang="en-US" sz="675" kern="0" spc="15" dirty="0">
                <a:solidFill>
                  <a:srgbClr val="6F6A66"/>
                </a:solidFill>
                <a:latin typeface="Quicksand" pitchFamily="34" charset="0"/>
              </a:rPr>
              <a:t>Company figures and quotations are from quarterly earnings releases filed between July 30 and October 1, 2026, and quotations are reproduced as published. Store brand share is Circana data for the six months to June 14, 2026. Platform location and acquisition counts are from the linked announcements.</a:t>
            </a:r>
            <a:endParaRPr lang="en-US" sz="675" dirty="0"/>
          </a:p>
        </p:txBody>
      </p:sp>
      <p:sp>
        <p:nvSpPr>
          <p:cNvPr id="49" name="Text 48"/>
          <p:cNvSpPr txBox="1"/>
          <p:nvPr/>
        </p:nvSpPr>
        <p:spPr>
          <a:xfrm>
            <a:off x="9497020" y="7162800"/>
            <a:ext cx="199430" cy="133350"/>
          </a:xfrm>
          <a:prstGeom prst="rect">
            <a:avLst/>
          </a:prstGeom>
          <a:noFill/>
          <a:ln/>
        </p:spPr>
        <p:txBody>
          <a:bodyPr wrap="none" lIns="0" tIns="0" rIns="0" bIns="0" rtlCol="0" anchor="t"/>
          <a:lstStyle/>
          <a:p>
            <a:pPr marL="0" indent="0" algn="l">
              <a:lnSpc>
                <a:spcPts val="1050"/>
              </a:lnSpc>
              <a:buNone/>
            </a:pPr>
            <a:r>
              <a:rPr lang="en-US" sz="713" b="1" kern="0" spc="150" dirty="0">
                <a:solidFill>
                  <a:srgbClr val="1B1A1A"/>
                </a:solidFill>
                <a:latin typeface="Quicksand" pitchFamily="34" charset="0"/>
              </a:rPr>
              <a:t>03</a:t>
            </a:r>
            <a:endParaRPr lang="en-US" sz="713"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1"/>
          <p:cNvSpPr/>
          <p:nvPr/>
        </p:nvSpPr>
        <p:spPr>
          <a:xfrm>
            <a:off x="0" y="0"/>
            <a:ext cx="10058400" cy="7772400"/>
          </a:xfrm>
          <a:prstGeom prst="rect">
            <a:avLst/>
          </a:prstGeom>
          <a:solidFill>
            <a:srgbClr val="FFFFFF"/>
          </a:solidFill>
          <a:ln/>
        </p:spPr>
        <p:txBody>
          <a:bodyPr/>
          <a:lstStyle/>
          <a:p>
            <a:endParaRPr lang="en-US"/>
          </a:p>
        </p:txBody>
      </p:sp>
      <p:sp>
        <p:nvSpPr>
          <p:cNvPr id="3" name="Shape 2"/>
          <p:cNvSpPr/>
          <p:nvPr/>
        </p:nvSpPr>
        <p:spPr>
          <a:xfrm>
            <a:off x="0" y="0"/>
            <a:ext cx="57150" cy="7772400"/>
          </a:xfrm>
          <a:prstGeom prst="rect">
            <a:avLst/>
          </a:prstGeom>
          <a:solidFill>
            <a:srgbClr val="B68757"/>
          </a:solidFill>
          <a:ln/>
        </p:spPr>
        <p:txBody>
          <a:bodyPr/>
          <a:lstStyle/>
          <a:p>
            <a:endParaRPr lang="en-US"/>
          </a:p>
        </p:txBody>
      </p:sp>
      <p:sp>
        <p:nvSpPr>
          <p:cNvPr id="4" name="Text 3"/>
          <p:cNvSpPr txBox="1"/>
          <p:nvPr/>
        </p:nvSpPr>
        <p:spPr>
          <a:xfrm>
            <a:off x="419100" y="376238"/>
            <a:ext cx="2618929" cy="133350"/>
          </a:xfrm>
          <a:prstGeom prst="rect">
            <a:avLst/>
          </a:prstGeom>
          <a:noFill/>
          <a:ln/>
        </p:spPr>
        <p:txBody>
          <a:bodyPr wrap="none" lIns="0" tIns="0" rIns="0" bIns="0" rtlCol="0" anchor="t"/>
          <a:lstStyle/>
          <a:p>
            <a:pPr marL="0" indent="0" algn="l">
              <a:lnSpc>
                <a:spcPts val="1050"/>
              </a:lnSpc>
              <a:buNone/>
            </a:pPr>
            <a:r>
              <a:rPr lang="en-US" sz="675" b="1" kern="0" spc="195" dirty="0">
                <a:solidFill>
                  <a:srgbClr val="8C6239"/>
                </a:solidFill>
                <a:latin typeface="Quicksand" pitchFamily="34" charset="0"/>
              </a:rPr>
              <a:t>CONSUMER  |  QUARTERLY SECTOR BRIEF</a:t>
            </a:r>
            <a:endParaRPr lang="en-US" sz="675" dirty="0"/>
          </a:p>
        </p:txBody>
      </p:sp>
      <p:sp>
        <p:nvSpPr>
          <p:cNvPr id="5" name="Text 4"/>
          <p:cNvSpPr txBox="1"/>
          <p:nvPr/>
        </p:nvSpPr>
        <p:spPr>
          <a:xfrm>
            <a:off x="9112597" y="381000"/>
            <a:ext cx="583853" cy="171450"/>
          </a:xfrm>
          <a:prstGeom prst="rect">
            <a:avLst/>
          </a:prstGeom>
          <a:noFill/>
          <a:ln/>
        </p:spPr>
        <p:txBody>
          <a:bodyPr wrap="none" lIns="0" tIns="0" rIns="0" bIns="0" rtlCol="0" anchor="t"/>
          <a:lstStyle/>
          <a:p>
            <a:pPr marL="0" indent="0" algn="l">
              <a:lnSpc>
                <a:spcPts val="1350"/>
              </a:lnSpc>
              <a:buNone/>
            </a:pPr>
            <a:r>
              <a:rPr lang="en-US" sz="900" kern="0" spc="90" dirty="0">
                <a:solidFill>
                  <a:srgbClr val="6F6A66"/>
                </a:solidFill>
                <a:latin typeface="Cinzel" pitchFamily="34" charset="0"/>
              </a:rPr>
              <a:t>Q4 2026</a:t>
            </a:r>
            <a:endParaRPr lang="en-US" sz="900" dirty="0"/>
          </a:p>
        </p:txBody>
      </p:sp>
      <p:sp>
        <p:nvSpPr>
          <p:cNvPr id="6" name="Text 5"/>
          <p:cNvSpPr txBox="1"/>
          <p:nvPr/>
        </p:nvSpPr>
        <p:spPr>
          <a:xfrm>
            <a:off x="419100" y="519113"/>
            <a:ext cx="9220200" cy="323850"/>
          </a:xfrm>
          <a:prstGeom prst="rect">
            <a:avLst/>
          </a:prstGeom>
          <a:noFill/>
          <a:ln/>
        </p:spPr>
        <p:txBody>
          <a:bodyPr wrap="none" lIns="0" tIns="0" rIns="0" bIns="0" rtlCol="0" anchor="t"/>
          <a:lstStyle/>
          <a:p>
            <a:pPr marL="0" indent="0" algn="l">
              <a:lnSpc>
                <a:spcPts val="2550"/>
              </a:lnSpc>
              <a:buNone/>
            </a:pPr>
            <a:r>
              <a:rPr lang="en-US" sz="2025" kern="0" spc="15" dirty="0">
                <a:solidFill>
                  <a:srgbClr val="1B1A1A"/>
                </a:solidFill>
                <a:latin typeface="Newsreader SemiBold" pitchFamily="34" charset="0"/>
              </a:rPr>
              <a:t>Tariffs, Fuel and Financing: Three Costs Buyers Are Repricing</a:t>
            </a:r>
            <a:endParaRPr lang="en-US" sz="2025" dirty="0"/>
          </a:p>
        </p:txBody>
      </p:sp>
      <p:sp>
        <p:nvSpPr>
          <p:cNvPr id="7" name="Text 6"/>
          <p:cNvSpPr txBox="1"/>
          <p:nvPr/>
        </p:nvSpPr>
        <p:spPr>
          <a:xfrm>
            <a:off x="419100" y="883444"/>
            <a:ext cx="9220200" cy="176213"/>
          </a:xfrm>
          <a:prstGeom prst="rect">
            <a:avLst/>
          </a:prstGeom>
          <a:noFill/>
          <a:ln/>
        </p:spPr>
        <p:txBody>
          <a:bodyPr wrap="none" lIns="0" tIns="0" rIns="0" bIns="0" rtlCol="0" anchor="t"/>
          <a:lstStyle/>
          <a:p>
            <a:pPr marL="0" indent="0" algn="l">
              <a:lnSpc>
                <a:spcPts val="1388"/>
              </a:lnSpc>
              <a:buNone/>
            </a:pPr>
            <a:r>
              <a:rPr lang="en-US" sz="938" kern="0" spc="15" dirty="0">
                <a:solidFill>
                  <a:srgbClr val="6F6A66"/>
                </a:solidFill>
                <a:latin typeface="Quicksand" pitchFamily="34" charset="0"/>
              </a:rPr>
              <a:t>Tariffs, fuel and interest rates have each moved in the past year, and each changes what a buyer will treat as normal earnings.</a:t>
            </a:r>
            <a:endParaRPr lang="en-US" sz="938" dirty="0"/>
          </a:p>
        </p:txBody>
      </p:sp>
      <p:sp>
        <p:nvSpPr>
          <p:cNvPr id="8" name="Shape 7"/>
          <p:cNvSpPr/>
          <p:nvPr/>
        </p:nvSpPr>
        <p:spPr>
          <a:xfrm>
            <a:off x="419100" y="1143000"/>
            <a:ext cx="9220200" cy="9525"/>
          </a:xfrm>
          <a:prstGeom prst="rect">
            <a:avLst/>
          </a:prstGeom>
          <a:solidFill>
            <a:srgbClr val="E3DCD3"/>
          </a:solidFill>
          <a:ln/>
        </p:spPr>
        <p:txBody>
          <a:bodyPr/>
          <a:lstStyle/>
          <a:p>
            <a:endParaRPr lang="en-US"/>
          </a:p>
        </p:txBody>
      </p:sp>
      <p:sp>
        <p:nvSpPr>
          <p:cNvPr id="9" name="Text 8"/>
          <p:cNvSpPr txBox="1"/>
          <p:nvPr/>
        </p:nvSpPr>
        <p:spPr>
          <a:xfrm>
            <a:off x="419100" y="1234440"/>
            <a:ext cx="2395538" cy="1356152"/>
          </a:xfrm>
          <a:prstGeom prst="rect">
            <a:avLst/>
          </a:prstGeom>
          <a:noFill/>
          <a:ln/>
        </p:spPr>
        <p:txBody>
          <a:bodyPr wrap="square" lIns="0" tIns="0" rIns="0" bIns="0" rtlCol="0" anchor="t"/>
          <a:lstStyle/>
          <a:p>
            <a:pPr marL="0" indent="0" algn="l">
              <a:lnSpc>
                <a:spcPts val="1335"/>
              </a:lnSpc>
              <a:buNone/>
            </a:pPr>
            <a:r>
              <a:rPr lang="en-US" sz="885" kern="0" spc="15" dirty="0">
                <a:solidFill>
                  <a:srgbClr val="333231"/>
                </a:solidFill>
                <a:latin typeface="Quicksand" pitchFamily="34" charset="0"/>
              </a:rPr>
              <a:t>A consumer company that reaches the market in the next year will present earnings that passed through three tariff regimes, a fuel shock and the first increase in the federal funds rate since 2023. Buyers are rebuilding each of those costs period by period before they settle on the earnings they will pay for.</a:t>
            </a:r>
            <a:endParaRPr lang="en-US" sz="885" dirty="0"/>
          </a:p>
        </p:txBody>
      </p:sp>
      <p:sp>
        <p:nvSpPr>
          <p:cNvPr id="10" name="Text 9"/>
          <p:cNvSpPr txBox="1"/>
          <p:nvPr/>
        </p:nvSpPr>
        <p:spPr>
          <a:xfrm>
            <a:off x="419100" y="2704862"/>
            <a:ext cx="2395538" cy="1695182"/>
          </a:xfrm>
          <a:prstGeom prst="rect">
            <a:avLst/>
          </a:prstGeom>
          <a:noFill/>
          <a:ln/>
        </p:spPr>
        <p:txBody>
          <a:bodyPr wrap="square" lIns="0" tIns="0" rIns="0" bIns="0" rtlCol="0" anchor="t"/>
          <a:lstStyle/>
          <a:p>
            <a:pPr marL="0" indent="0" algn="l">
              <a:lnSpc>
                <a:spcPts val="1335"/>
              </a:lnSpc>
              <a:buNone/>
            </a:pPr>
            <a:r>
              <a:rPr lang="en-US" sz="885" kern="0" spc="15" dirty="0">
                <a:solidFill>
                  <a:srgbClr val="333231"/>
                </a:solidFill>
                <a:latin typeface="Quicksand" pitchFamily="34" charset="0"/>
              </a:rPr>
              <a:t>The effect differs from one company to the next. YETI recorded </a:t>
            </a:r>
            <a:r>
              <a:rPr lang="en-US" sz="885" u="sng" kern="0" spc="15" dirty="0">
                <a:solidFill>
                  <a:srgbClr val="8C6239"/>
                </a:solidFill>
                <a:latin typeface="Quicksand" pitchFamily="34" charset="0"/>
                <a:hlinkClick r:id="rId3">
                  <a:extLst>
                    <a:ext uri="{A12FA001-AC4F-418D-AE19-62706E023703}">
                      <ahyp:hlinkClr xmlns:ahyp="http://schemas.microsoft.com/office/drawing/2018/hyperlinkcolor" val="tx"/>
                    </a:ext>
                  </a:extLst>
                </a:hlinkClick>
              </a:rPr>
              <a:t>a $45.6 million net benefit</a:t>
            </a:r>
            <a:r>
              <a:rPr lang="en-US" sz="885" kern="0" spc="15" dirty="0">
                <a:solidFill>
                  <a:srgbClr val="333231"/>
                </a:solidFill>
                <a:latin typeface="Quicksand" pitchFamily="34" charset="0"/>
              </a:rPr>
              <a:t> from tariff refunds in its second quarter and Walmart said it </a:t>
            </a:r>
            <a:r>
              <a:rPr lang="en-US" sz="885" u="sng" kern="0" spc="15" dirty="0">
                <a:solidFill>
                  <a:srgbClr val="8C6239"/>
                </a:solidFill>
                <a:latin typeface="Quicksand" pitchFamily="34" charset="0"/>
                <a:hlinkClick r:id="rId4">
                  <a:extLst>
                    <a:ext uri="{A12FA001-AC4F-418D-AE19-62706E023703}">
                      <ahyp:hlinkClr xmlns:ahyp="http://schemas.microsoft.com/office/drawing/2018/hyperlinkcolor" val="tx"/>
                    </a:ext>
                  </a:extLst>
                </a:hlinkClick>
              </a:rPr>
              <a:t>reinvested its refunds into price</a:t>
            </a:r>
            <a:r>
              <a:rPr lang="en-US" sz="885" kern="0" spc="15" dirty="0">
                <a:solidFill>
                  <a:srgbClr val="333231"/>
                </a:solidFill>
                <a:latin typeface="Quicksand" pitchFamily="34" charset="0"/>
              </a:rPr>
              <a:t>, while </a:t>
            </a:r>
            <a:r>
              <a:rPr lang="en-US" sz="885" u="sng" kern="0" spc="15" dirty="0">
                <a:solidFill>
                  <a:srgbClr val="8C6239"/>
                </a:solidFill>
                <a:latin typeface="Quicksand" pitchFamily="34" charset="0"/>
                <a:hlinkClick r:id="rId5">
                  <a:extLst>
                    <a:ext uri="{A12FA001-AC4F-418D-AE19-62706E023703}">
                      <ahyp:hlinkClr xmlns:ahyp="http://schemas.microsoft.com/office/drawing/2018/hyperlinkcolor" val="tx"/>
                    </a:ext>
                  </a:extLst>
                </a:hlinkClick>
              </a:rPr>
              <a:t>91% of the foodservice equipment manufacturers</a:t>
            </a:r>
            <a:r>
              <a:rPr lang="en-US" sz="885" kern="0" spc="15" dirty="0">
                <a:solidFill>
                  <a:srgbClr val="333231"/>
                </a:solidFill>
                <a:latin typeface="Quicksand" pitchFamily="34" charset="0"/>
              </a:rPr>
              <a:t> surveyed by their trade association reported negative effects from tariffs and 78% said they were passing the cost on to customers.</a:t>
            </a:r>
            <a:endParaRPr lang="en-US" sz="885" dirty="0"/>
          </a:p>
        </p:txBody>
      </p:sp>
      <p:sp>
        <p:nvSpPr>
          <p:cNvPr id="11" name="Shape 10"/>
          <p:cNvSpPr/>
          <p:nvPr/>
        </p:nvSpPr>
        <p:spPr>
          <a:xfrm>
            <a:off x="419100" y="5600700"/>
            <a:ext cx="28575" cy="1333500"/>
          </a:xfrm>
          <a:prstGeom prst="rect">
            <a:avLst/>
          </a:prstGeom>
          <a:solidFill>
            <a:srgbClr val="B68757"/>
          </a:solidFill>
          <a:ln/>
        </p:spPr>
        <p:txBody>
          <a:bodyPr/>
          <a:lstStyle/>
          <a:p>
            <a:endParaRPr lang="en-US"/>
          </a:p>
        </p:txBody>
      </p:sp>
      <p:sp>
        <p:nvSpPr>
          <p:cNvPr id="12" name="Text 11"/>
          <p:cNvSpPr txBox="1"/>
          <p:nvPr/>
        </p:nvSpPr>
        <p:spPr>
          <a:xfrm>
            <a:off x="600075" y="5734050"/>
            <a:ext cx="2214563" cy="1200150"/>
          </a:xfrm>
          <a:prstGeom prst="rect">
            <a:avLst/>
          </a:prstGeom>
          <a:noFill/>
          <a:ln/>
        </p:spPr>
        <p:txBody>
          <a:bodyPr wrap="square" lIns="0" tIns="0" rIns="0" bIns="0" rtlCol="0" anchor="t"/>
          <a:lstStyle/>
          <a:p>
            <a:pPr marL="0" indent="0" algn="l">
              <a:lnSpc>
                <a:spcPts val="1575"/>
              </a:lnSpc>
              <a:buNone/>
            </a:pPr>
            <a:r>
              <a:rPr lang="en-US" sz="1088" i="1" kern="0" spc="15" dirty="0">
                <a:solidFill>
                  <a:srgbClr val="1B1A1A"/>
                </a:solidFill>
                <a:latin typeface="Newsreader Medium" pitchFamily="34" charset="0"/>
              </a:rPr>
              <a:t>An owner who can hand a buyer landed cost by period, fuel recovery by contract and a clear account of how the business is financed shortens diligence and protects the earnings figure the price is built on.</a:t>
            </a:r>
            <a:endParaRPr lang="en-US" sz="1088" dirty="0"/>
          </a:p>
        </p:txBody>
      </p:sp>
      <p:sp>
        <p:nvSpPr>
          <p:cNvPr id="13" name="Text 12"/>
          <p:cNvSpPr txBox="1"/>
          <p:nvPr/>
        </p:nvSpPr>
        <p:spPr>
          <a:xfrm>
            <a:off x="3009900" y="1233488"/>
            <a:ext cx="4305300" cy="133350"/>
          </a:xfrm>
          <a:prstGeom prst="rect">
            <a:avLst/>
          </a:prstGeom>
          <a:noFill/>
          <a:ln/>
        </p:spPr>
        <p:txBody>
          <a:bodyPr wrap="none" lIns="0" tIns="0" rIns="0" bIns="0" rtlCol="0" anchor="t"/>
          <a:lstStyle/>
          <a:p>
            <a:pPr marL="0" indent="0" algn="l">
              <a:lnSpc>
                <a:spcPts val="1050"/>
              </a:lnSpc>
              <a:buNone/>
            </a:pPr>
            <a:r>
              <a:rPr lang="en-US" sz="675" b="1" kern="0" spc="180" dirty="0">
                <a:solidFill>
                  <a:srgbClr val="8C6239"/>
                </a:solidFill>
                <a:latin typeface="Quicksand" pitchFamily="34" charset="0"/>
              </a:rPr>
              <a:t>WHAT BUYERS ARE REBUILDING</a:t>
            </a:r>
            <a:endParaRPr lang="en-US" sz="675" dirty="0"/>
          </a:p>
        </p:txBody>
      </p:sp>
      <p:sp>
        <p:nvSpPr>
          <p:cNvPr id="14" name="Shape 13"/>
          <p:cNvSpPr/>
          <p:nvPr/>
        </p:nvSpPr>
        <p:spPr>
          <a:xfrm>
            <a:off x="3009900" y="1438275"/>
            <a:ext cx="4305300" cy="9525"/>
          </a:xfrm>
          <a:prstGeom prst="rect">
            <a:avLst/>
          </a:prstGeom>
          <a:solidFill>
            <a:srgbClr val="E3DCD3"/>
          </a:solidFill>
          <a:ln/>
        </p:spPr>
        <p:txBody>
          <a:bodyPr/>
          <a:lstStyle/>
          <a:p>
            <a:endParaRPr lang="en-US"/>
          </a:p>
        </p:txBody>
      </p:sp>
      <p:sp>
        <p:nvSpPr>
          <p:cNvPr id="15" name="Text 14"/>
          <p:cNvSpPr txBox="1"/>
          <p:nvPr/>
        </p:nvSpPr>
        <p:spPr>
          <a:xfrm>
            <a:off x="3009900" y="1533525"/>
            <a:ext cx="419100" cy="266700"/>
          </a:xfrm>
          <a:prstGeom prst="rect">
            <a:avLst/>
          </a:prstGeom>
          <a:noFill/>
          <a:ln/>
        </p:spPr>
        <p:txBody>
          <a:bodyPr wrap="none" lIns="0" tIns="0" rIns="0" bIns="0" rtlCol="0" anchor="t"/>
          <a:lstStyle/>
          <a:p>
            <a:pPr marL="0" indent="0" algn="l">
              <a:lnSpc>
                <a:spcPts val="2100"/>
              </a:lnSpc>
              <a:buNone/>
            </a:pPr>
            <a:r>
              <a:rPr lang="en-US" sz="1800" kern="0" spc="15" dirty="0">
                <a:solidFill>
                  <a:srgbClr val="B68757"/>
                </a:solidFill>
                <a:latin typeface="Cinzel" pitchFamily="34" charset="0"/>
              </a:rPr>
              <a:t>01</a:t>
            </a:r>
            <a:endParaRPr lang="en-US" sz="1800" dirty="0"/>
          </a:p>
        </p:txBody>
      </p:sp>
      <p:sp>
        <p:nvSpPr>
          <p:cNvPr id="16" name="Dot 15"/>
          <p:cNvSpPr/>
          <p:nvPr/>
        </p:nvSpPr>
        <p:spPr>
          <a:xfrm>
            <a:off x="3009900" y="1876425"/>
            <a:ext cx="285750" cy="285750"/>
          </a:xfrm>
          <a:prstGeom prst="ellipse">
            <a:avLst/>
          </a:prstGeom>
          <a:solidFill>
            <a:srgbClr val="1B1A1A"/>
          </a:solidFill>
          <a:ln/>
        </p:spPr>
        <p:txBody>
          <a:bodyPr/>
          <a:lstStyle/>
          <a:p>
            <a:endParaRPr lang="en-US"/>
          </a:p>
        </p:txBody>
      </p:sp>
      <p:pic>
        <p:nvPicPr>
          <p:cNvPr id="17" name="Icon" descr="/tmp/claude-0/-home-claude-about/4bef2f41-4227-5ff7-ab18-11ac74cd9797/scratchpad/pptx/ex/media/0ff2b76e92bb.png"/>
          <p:cNvPicPr>
            <a:picLocks noChangeAspect="1"/>
          </p:cNvPicPr>
          <p:nvPr/>
        </p:nvPicPr>
        <p:blipFill>
          <a:blip r:embed="rId6"/>
          <a:stretch>
            <a:fillRect/>
          </a:stretch>
        </p:blipFill>
        <p:spPr>
          <a:xfrm>
            <a:off x="3076575" y="1943100"/>
            <a:ext cx="152400" cy="152400"/>
          </a:xfrm>
          <a:prstGeom prst="rect">
            <a:avLst/>
          </a:prstGeom>
        </p:spPr>
      </p:pic>
      <p:sp>
        <p:nvSpPr>
          <p:cNvPr id="18" name="Text 17"/>
          <p:cNvSpPr txBox="1"/>
          <p:nvPr/>
        </p:nvSpPr>
        <p:spPr>
          <a:xfrm>
            <a:off x="3562350" y="1528763"/>
            <a:ext cx="3752850" cy="209550"/>
          </a:xfrm>
          <a:prstGeom prst="rect">
            <a:avLst/>
          </a:prstGeom>
          <a:noFill/>
          <a:ln/>
        </p:spPr>
        <p:txBody>
          <a:bodyPr wrap="none" lIns="0" tIns="0" rIns="0" bIns="0" rtlCol="0" anchor="t"/>
          <a:lstStyle/>
          <a:p>
            <a:pPr marL="0" indent="0" algn="l">
              <a:lnSpc>
                <a:spcPts val="1650"/>
              </a:lnSpc>
              <a:buNone/>
            </a:pPr>
            <a:r>
              <a:rPr lang="en-US" sz="1275" kern="0" spc="15" dirty="0">
                <a:solidFill>
                  <a:srgbClr val="1B1A1A"/>
                </a:solidFill>
                <a:latin typeface="Newsreader SemiBold" pitchFamily="34" charset="0"/>
              </a:rPr>
              <a:t>Tariffs</a:t>
            </a:r>
            <a:endParaRPr lang="en-US" sz="1275" dirty="0"/>
          </a:p>
        </p:txBody>
      </p:sp>
      <p:sp>
        <p:nvSpPr>
          <p:cNvPr id="19" name="Text 18"/>
          <p:cNvSpPr txBox="1"/>
          <p:nvPr/>
        </p:nvSpPr>
        <p:spPr>
          <a:xfrm>
            <a:off x="3562350" y="1775460"/>
            <a:ext cx="3771614" cy="868829"/>
          </a:xfrm>
          <a:prstGeom prst="rect">
            <a:avLst/>
          </a:prstGeom>
          <a:noFill/>
          <a:ln/>
        </p:spPr>
        <p:txBody>
          <a:bodyPr wrap="square" lIns="0" tIns="0" rIns="0" bIns="0" rtlCol="0" anchor="t"/>
          <a:lstStyle/>
          <a:p>
            <a:pPr marL="0" indent="0" algn="l">
              <a:lnSpc>
                <a:spcPts val="1140"/>
              </a:lnSpc>
              <a:buNone/>
            </a:pPr>
            <a:r>
              <a:rPr lang="en-US" sz="795" kern="0" spc="15" dirty="0">
                <a:solidFill>
                  <a:srgbClr val="333231"/>
                </a:solidFill>
                <a:latin typeface="Quicksand" pitchFamily="34" charset="0"/>
              </a:rPr>
              <a:t>The Supreme Court held on February 20 that the International Emergency Economic Powers Act </a:t>
            </a:r>
            <a:r>
              <a:rPr lang="en-US" sz="795" u="sng" kern="0" spc="15" dirty="0">
                <a:solidFill>
                  <a:srgbClr val="8C6239"/>
                </a:solidFill>
                <a:latin typeface="Quicksand" pitchFamily="34" charset="0"/>
                <a:hlinkClick r:id="rId7">
                  <a:extLst>
                    <a:ext uri="{A12FA001-AC4F-418D-AE19-62706E023703}">
                      <ahyp:hlinkClr xmlns:ahyp="http://schemas.microsoft.com/office/drawing/2018/hyperlinkcolor" val="tx"/>
                    </a:ext>
                  </a:extLst>
                </a:hlinkClick>
              </a:rPr>
              <a:t>does not authorize tariffs</a:t>
            </a:r>
            <a:r>
              <a:rPr lang="en-US" sz="795" kern="0" spc="15" dirty="0">
                <a:solidFill>
                  <a:srgbClr val="333231"/>
                </a:solidFill>
                <a:latin typeface="Quicksand" pitchFamily="34" charset="0"/>
              </a:rPr>
              <a:t>, a temporary 10% tariff followed, and since July 24 </a:t>
            </a:r>
            <a:r>
              <a:rPr lang="en-US" sz="795" u="sng" kern="0" spc="15" dirty="0">
                <a:solidFill>
                  <a:srgbClr val="8C6239"/>
                </a:solidFill>
                <a:latin typeface="Quicksand" pitchFamily="34" charset="0"/>
                <a:hlinkClick r:id="rId8">
                  <a:extLst>
                    <a:ext uri="{A12FA001-AC4F-418D-AE19-62706E023703}">
                      <ahyp:hlinkClr xmlns:ahyp="http://schemas.microsoft.com/office/drawing/2018/hyperlinkcolor" val="tx"/>
                    </a:ext>
                  </a:extLst>
                </a:hlinkClick>
              </a:rPr>
              <a:t>Section 301 tariffs of 10% to 12.5%</a:t>
            </a:r>
            <a:r>
              <a:rPr lang="en-US" sz="795" kern="0" spc="15" dirty="0">
                <a:solidFill>
                  <a:srgbClr val="333231"/>
                </a:solidFill>
                <a:latin typeface="Quicksand" pitchFamily="34" charset="0"/>
              </a:rPr>
              <a:t> apply to 60 trading partners. Section 232 duties stayed in place, including </a:t>
            </a:r>
            <a:r>
              <a:rPr lang="en-US" sz="795" u="sng" kern="0" spc="15" dirty="0">
                <a:solidFill>
                  <a:srgbClr val="8C6239"/>
                </a:solidFill>
                <a:latin typeface="Quicksand" pitchFamily="34" charset="0"/>
                <a:hlinkClick r:id="rId9">
                  <a:extLst>
                    <a:ext uri="{A12FA001-AC4F-418D-AE19-62706E023703}">
                      <ahyp:hlinkClr xmlns:ahyp="http://schemas.microsoft.com/office/drawing/2018/hyperlinkcolor" val="tx"/>
                    </a:ext>
                  </a:extLst>
                </a:hlinkClick>
              </a:rPr>
              <a:t>25% on upholstered furniture</a:t>
            </a:r>
            <a:r>
              <a:rPr lang="en-US" sz="795" kern="0" spc="15" dirty="0">
                <a:solidFill>
                  <a:srgbClr val="333231"/>
                </a:solidFill>
                <a:latin typeface="Quicksand" pitchFamily="34" charset="0"/>
              </a:rPr>
              <a:t>, and duty-free treatment for parcels under $800 </a:t>
            </a:r>
            <a:r>
              <a:rPr lang="en-US" sz="795" u="sng" kern="0" spc="15" dirty="0">
                <a:solidFill>
                  <a:srgbClr val="8C6239"/>
                </a:solidFill>
                <a:latin typeface="Quicksand" pitchFamily="34" charset="0"/>
                <a:hlinkClick r:id="rId10">
                  <a:extLst>
                    <a:ext uri="{A12FA001-AC4F-418D-AE19-62706E023703}">
                      <ahyp:hlinkClr xmlns:ahyp="http://schemas.microsoft.com/office/drawing/2018/hyperlinkcolor" val="tx"/>
                    </a:ext>
                  </a:extLst>
                </a:hlinkClick>
              </a:rPr>
              <a:t>remains suspended</a:t>
            </a:r>
            <a:r>
              <a:rPr lang="en-US" sz="795" kern="0" spc="15" dirty="0">
                <a:solidFill>
                  <a:srgbClr val="333231"/>
                </a:solidFill>
                <a:latin typeface="Quicksand" pitchFamily="34" charset="0"/>
              </a:rPr>
              <a:t>.</a:t>
            </a:r>
            <a:endParaRPr lang="en-US" sz="795" dirty="0"/>
          </a:p>
        </p:txBody>
      </p:sp>
      <p:sp>
        <p:nvSpPr>
          <p:cNvPr id="20" name="Shape 19"/>
          <p:cNvSpPr/>
          <p:nvPr/>
        </p:nvSpPr>
        <p:spPr>
          <a:xfrm>
            <a:off x="3562350" y="2707184"/>
            <a:ext cx="3752850" cy="501104"/>
          </a:xfrm>
          <a:prstGeom prst="rect">
            <a:avLst/>
          </a:prstGeom>
          <a:solidFill>
            <a:srgbClr val="FAF7F3"/>
          </a:solidFill>
          <a:ln/>
        </p:spPr>
        <p:txBody>
          <a:bodyPr/>
          <a:lstStyle/>
          <a:p>
            <a:endParaRPr lang="en-US"/>
          </a:p>
        </p:txBody>
      </p:sp>
      <p:sp>
        <p:nvSpPr>
          <p:cNvPr id="21" name="Text 20"/>
          <p:cNvSpPr txBox="1"/>
          <p:nvPr/>
        </p:nvSpPr>
        <p:spPr>
          <a:xfrm>
            <a:off x="3657600" y="2749094"/>
            <a:ext cx="3580162" cy="405825"/>
          </a:xfrm>
          <a:prstGeom prst="rect">
            <a:avLst/>
          </a:prstGeom>
          <a:noFill/>
          <a:ln/>
        </p:spPr>
        <p:txBody>
          <a:bodyPr wrap="square" lIns="0" tIns="0" rIns="0" bIns="0" rtlCol="0" anchor="t"/>
          <a:lstStyle/>
          <a:p>
            <a:pPr marL="0" indent="0" algn="l">
              <a:lnSpc>
                <a:spcPts val="1065"/>
              </a:lnSpc>
              <a:buNone/>
            </a:pPr>
            <a:r>
              <a:rPr lang="en-US" sz="630" b="1" kern="0" spc="90" dirty="0">
                <a:solidFill>
                  <a:srgbClr val="8C6239"/>
                </a:solidFill>
                <a:latin typeface="Quicksand" pitchFamily="34" charset="0"/>
              </a:rPr>
              <a:t>WHAT BUYERS ASK FOR</a:t>
            </a:r>
            <a:r>
              <a:rPr lang="en-US" sz="765" kern="0" spc="15" dirty="0">
                <a:solidFill>
                  <a:srgbClr val="333231"/>
                </a:solidFill>
                <a:latin typeface="Quicksand" pitchFamily="34" charset="0"/>
              </a:rPr>
              <a:t>  Landed cost under each regime, the status of any refund claim and the sourcing alternatives the company has already qualified.</a:t>
            </a:r>
            <a:endParaRPr lang="en-US" sz="630" dirty="0"/>
          </a:p>
        </p:txBody>
      </p:sp>
      <p:sp>
        <p:nvSpPr>
          <p:cNvPr id="22" name="Shape 21"/>
          <p:cNvSpPr/>
          <p:nvPr/>
        </p:nvSpPr>
        <p:spPr>
          <a:xfrm>
            <a:off x="3009900" y="3284488"/>
            <a:ext cx="4305300" cy="9525"/>
          </a:xfrm>
          <a:prstGeom prst="rect">
            <a:avLst/>
          </a:prstGeom>
          <a:solidFill>
            <a:srgbClr val="E3DCD3"/>
          </a:solidFill>
          <a:ln/>
        </p:spPr>
        <p:txBody>
          <a:bodyPr/>
          <a:lstStyle/>
          <a:p>
            <a:endParaRPr lang="en-US"/>
          </a:p>
        </p:txBody>
      </p:sp>
      <p:sp>
        <p:nvSpPr>
          <p:cNvPr id="23" name="Text 22"/>
          <p:cNvSpPr txBox="1"/>
          <p:nvPr/>
        </p:nvSpPr>
        <p:spPr>
          <a:xfrm>
            <a:off x="3009900" y="3379738"/>
            <a:ext cx="419100" cy="266700"/>
          </a:xfrm>
          <a:prstGeom prst="rect">
            <a:avLst/>
          </a:prstGeom>
          <a:noFill/>
          <a:ln/>
        </p:spPr>
        <p:txBody>
          <a:bodyPr wrap="none" lIns="0" tIns="0" rIns="0" bIns="0" rtlCol="0" anchor="t"/>
          <a:lstStyle/>
          <a:p>
            <a:pPr marL="0" indent="0" algn="l">
              <a:lnSpc>
                <a:spcPts val="2100"/>
              </a:lnSpc>
              <a:buNone/>
            </a:pPr>
            <a:r>
              <a:rPr lang="en-US" sz="1800" kern="0" spc="15" dirty="0">
                <a:solidFill>
                  <a:srgbClr val="B68757"/>
                </a:solidFill>
                <a:latin typeface="Cinzel" pitchFamily="34" charset="0"/>
              </a:rPr>
              <a:t>02</a:t>
            </a:r>
            <a:endParaRPr lang="en-US" sz="1800" dirty="0"/>
          </a:p>
        </p:txBody>
      </p:sp>
      <p:sp>
        <p:nvSpPr>
          <p:cNvPr id="24" name="Dot 23"/>
          <p:cNvSpPr/>
          <p:nvPr/>
        </p:nvSpPr>
        <p:spPr>
          <a:xfrm>
            <a:off x="3009900" y="3722638"/>
            <a:ext cx="285750" cy="285750"/>
          </a:xfrm>
          <a:prstGeom prst="ellipse">
            <a:avLst/>
          </a:prstGeom>
          <a:solidFill>
            <a:srgbClr val="1B1A1A"/>
          </a:solidFill>
          <a:ln/>
        </p:spPr>
        <p:txBody>
          <a:bodyPr/>
          <a:lstStyle/>
          <a:p>
            <a:endParaRPr lang="en-US"/>
          </a:p>
        </p:txBody>
      </p:sp>
      <p:pic>
        <p:nvPicPr>
          <p:cNvPr id="25" name="Icon" descr="/tmp/claude-0/-home-claude-about/4bef2f41-4227-5ff7-ab18-11ac74cd9797/scratchpad/pptx/ex/media/0a88f65df2d4.png"/>
          <p:cNvPicPr>
            <a:picLocks noChangeAspect="1"/>
          </p:cNvPicPr>
          <p:nvPr/>
        </p:nvPicPr>
        <p:blipFill>
          <a:blip r:embed="rId11"/>
          <a:stretch>
            <a:fillRect/>
          </a:stretch>
        </p:blipFill>
        <p:spPr>
          <a:xfrm>
            <a:off x="3076575" y="3789313"/>
            <a:ext cx="152400" cy="152400"/>
          </a:xfrm>
          <a:prstGeom prst="rect">
            <a:avLst/>
          </a:prstGeom>
        </p:spPr>
      </p:pic>
      <p:sp>
        <p:nvSpPr>
          <p:cNvPr id="26" name="Text 25"/>
          <p:cNvSpPr txBox="1"/>
          <p:nvPr/>
        </p:nvSpPr>
        <p:spPr>
          <a:xfrm>
            <a:off x="3562350" y="3374975"/>
            <a:ext cx="3752850" cy="209550"/>
          </a:xfrm>
          <a:prstGeom prst="rect">
            <a:avLst/>
          </a:prstGeom>
          <a:noFill/>
          <a:ln/>
        </p:spPr>
        <p:txBody>
          <a:bodyPr wrap="none" lIns="0" tIns="0" rIns="0" bIns="0" rtlCol="0" anchor="t"/>
          <a:lstStyle/>
          <a:p>
            <a:pPr marL="0" indent="0" algn="l">
              <a:lnSpc>
                <a:spcPts val="1650"/>
              </a:lnSpc>
              <a:buNone/>
            </a:pPr>
            <a:r>
              <a:rPr lang="en-US" sz="1275" kern="0" spc="15" dirty="0">
                <a:solidFill>
                  <a:srgbClr val="1B1A1A"/>
                </a:solidFill>
                <a:latin typeface="Newsreader SemiBold" pitchFamily="34" charset="0"/>
              </a:rPr>
              <a:t>Fuel</a:t>
            </a:r>
            <a:endParaRPr lang="en-US" sz="1275" dirty="0"/>
          </a:p>
        </p:txBody>
      </p:sp>
      <p:sp>
        <p:nvSpPr>
          <p:cNvPr id="27" name="Text 26"/>
          <p:cNvSpPr txBox="1"/>
          <p:nvPr/>
        </p:nvSpPr>
        <p:spPr>
          <a:xfrm>
            <a:off x="3562350" y="3621673"/>
            <a:ext cx="3771614" cy="724019"/>
          </a:xfrm>
          <a:prstGeom prst="rect">
            <a:avLst/>
          </a:prstGeom>
          <a:noFill/>
          <a:ln/>
        </p:spPr>
        <p:txBody>
          <a:bodyPr wrap="square" lIns="0" tIns="0" rIns="0" bIns="0" rtlCol="0" anchor="t"/>
          <a:lstStyle/>
          <a:p>
            <a:pPr marL="0" indent="0" algn="l">
              <a:lnSpc>
                <a:spcPts val="1140"/>
              </a:lnSpc>
              <a:buNone/>
            </a:pPr>
            <a:r>
              <a:rPr lang="en-US" sz="795" kern="0" spc="15" dirty="0">
                <a:solidFill>
                  <a:srgbClr val="333231"/>
                </a:solidFill>
                <a:latin typeface="Quicksand" pitchFamily="34" charset="0"/>
              </a:rPr>
              <a:t>On-highway diesel averaged $6.29 a gallon in September against $3.75 a year earlier (</a:t>
            </a:r>
            <a:r>
              <a:rPr lang="en-US" sz="795" u="sng" kern="0" spc="15" dirty="0">
                <a:solidFill>
                  <a:srgbClr val="8C6239"/>
                </a:solidFill>
                <a:latin typeface="Quicksand" pitchFamily="34" charset="0"/>
                <a:hlinkClick r:id="rId12">
                  <a:extLst>
                    <a:ext uri="{A12FA001-AC4F-418D-AE19-62706E023703}">
                      <ahyp:hlinkClr xmlns:ahyp="http://schemas.microsoft.com/office/drawing/2018/hyperlinkcolor" val="tx"/>
                    </a:ext>
                  </a:extLst>
                </a:hlinkClick>
              </a:rPr>
              <a:t>FRED</a:t>
            </a:r>
            <a:r>
              <a:rPr lang="en-US" sz="795" kern="0" spc="15" dirty="0">
                <a:solidFill>
                  <a:srgbClr val="333231"/>
                </a:solidFill>
                <a:latin typeface="Quicksand" pitchFamily="34" charset="0"/>
              </a:rPr>
              <a:t>). The Energy Information Administration’s October outlook expects retail diesel to average </a:t>
            </a:r>
            <a:r>
              <a:rPr lang="en-US" sz="795" u="sng" kern="0" spc="15" dirty="0">
                <a:solidFill>
                  <a:srgbClr val="8C6239"/>
                </a:solidFill>
                <a:latin typeface="Quicksand" pitchFamily="34" charset="0"/>
                <a:hlinkClick r:id="rId13">
                  <a:extLst>
                    <a:ext uri="{A12FA001-AC4F-418D-AE19-62706E023703}">
                      <ahyp:hlinkClr xmlns:ahyp="http://schemas.microsoft.com/office/drawing/2018/hyperlinkcolor" val="tx"/>
                    </a:ext>
                  </a:extLst>
                </a:hlinkClick>
              </a:rPr>
              <a:t>about $4.50 next year</a:t>
            </a:r>
            <a:r>
              <a:rPr lang="en-US" sz="795" kern="0" spc="15" dirty="0">
                <a:solidFill>
                  <a:srgbClr val="333231"/>
                </a:solidFill>
                <a:latin typeface="Quicksand" pitchFamily="34" charset="0"/>
              </a:rPr>
              <a:t>, which would still be well above the price distributors and route-based service companies paid a year ago.</a:t>
            </a:r>
            <a:endParaRPr lang="en-US" sz="795" dirty="0"/>
          </a:p>
        </p:txBody>
      </p:sp>
      <p:sp>
        <p:nvSpPr>
          <p:cNvPr id="28" name="Shape 27"/>
          <p:cNvSpPr/>
          <p:nvPr/>
        </p:nvSpPr>
        <p:spPr>
          <a:xfrm>
            <a:off x="3562350" y="4408587"/>
            <a:ext cx="3752850" cy="501104"/>
          </a:xfrm>
          <a:prstGeom prst="rect">
            <a:avLst/>
          </a:prstGeom>
          <a:solidFill>
            <a:srgbClr val="FAF7F3"/>
          </a:solidFill>
          <a:ln/>
        </p:spPr>
        <p:txBody>
          <a:bodyPr/>
          <a:lstStyle/>
          <a:p>
            <a:endParaRPr lang="en-US"/>
          </a:p>
        </p:txBody>
      </p:sp>
      <p:sp>
        <p:nvSpPr>
          <p:cNvPr id="29" name="Text 28"/>
          <p:cNvSpPr txBox="1"/>
          <p:nvPr/>
        </p:nvSpPr>
        <p:spPr>
          <a:xfrm>
            <a:off x="3657600" y="4450497"/>
            <a:ext cx="3580162" cy="405825"/>
          </a:xfrm>
          <a:prstGeom prst="rect">
            <a:avLst/>
          </a:prstGeom>
          <a:noFill/>
          <a:ln/>
        </p:spPr>
        <p:txBody>
          <a:bodyPr wrap="square" lIns="0" tIns="0" rIns="0" bIns="0" rtlCol="0" anchor="t"/>
          <a:lstStyle/>
          <a:p>
            <a:pPr marL="0" indent="0" algn="l">
              <a:lnSpc>
                <a:spcPts val="1065"/>
              </a:lnSpc>
              <a:buNone/>
            </a:pPr>
            <a:r>
              <a:rPr lang="en-US" sz="630" b="1" kern="0" spc="90" dirty="0">
                <a:solidFill>
                  <a:srgbClr val="8C6239"/>
                </a:solidFill>
                <a:latin typeface="Quicksand" pitchFamily="34" charset="0"/>
              </a:rPr>
              <a:t>WHAT BUYERS ASK FOR</a:t>
            </a:r>
            <a:r>
              <a:rPr lang="en-US" sz="765" kern="0" spc="15" dirty="0">
                <a:solidFill>
                  <a:srgbClr val="333231"/>
                </a:solidFill>
                <a:latin typeface="Quicksand" pitchFamily="34" charset="0"/>
              </a:rPr>
              <a:t>  Which customer contracts carry fuel surcharges or cost escalators, how quickly they reset and how much of the increase the company has recovered.</a:t>
            </a:r>
            <a:endParaRPr lang="en-US" sz="630" dirty="0"/>
          </a:p>
        </p:txBody>
      </p:sp>
      <p:sp>
        <p:nvSpPr>
          <p:cNvPr id="30" name="Shape 29"/>
          <p:cNvSpPr/>
          <p:nvPr/>
        </p:nvSpPr>
        <p:spPr>
          <a:xfrm>
            <a:off x="3009900" y="4985891"/>
            <a:ext cx="4305300" cy="9525"/>
          </a:xfrm>
          <a:prstGeom prst="rect">
            <a:avLst/>
          </a:prstGeom>
          <a:solidFill>
            <a:srgbClr val="E3DCD3"/>
          </a:solidFill>
          <a:ln/>
        </p:spPr>
        <p:txBody>
          <a:bodyPr/>
          <a:lstStyle/>
          <a:p>
            <a:endParaRPr lang="en-US"/>
          </a:p>
        </p:txBody>
      </p:sp>
      <p:sp>
        <p:nvSpPr>
          <p:cNvPr id="31" name="Text 30"/>
          <p:cNvSpPr txBox="1"/>
          <p:nvPr/>
        </p:nvSpPr>
        <p:spPr>
          <a:xfrm>
            <a:off x="3009900" y="5081141"/>
            <a:ext cx="419100" cy="266700"/>
          </a:xfrm>
          <a:prstGeom prst="rect">
            <a:avLst/>
          </a:prstGeom>
          <a:noFill/>
          <a:ln/>
        </p:spPr>
        <p:txBody>
          <a:bodyPr wrap="none" lIns="0" tIns="0" rIns="0" bIns="0" rtlCol="0" anchor="t"/>
          <a:lstStyle/>
          <a:p>
            <a:pPr marL="0" indent="0" algn="l">
              <a:lnSpc>
                <a:spcPts val="2100"/>
              </a:lnSpc>
              <a:buNone/>
            </a:pPr>
            <a:r>
              <a:rPr lang="en-US" sz="1800" kern="0" spc="15" dirty="0">
                <a:solidFill>
                  <a:srgbClr val="B68757"/>
                </a:solidFill>
                <a:latin typeface="Cinzel" pitchFamily="34" charset="0"/>
              </a:rPr>
              <a:t>03</a:t>
            </a:r>
            <a:endParaRPr lang="en-US" sz="1800" dirty="0"/>
          </a:p>
        </p:txBody>
      </p:sp>
      <p:sp>
        <p:nvSpPr>
          <p:cNvPr id="32" name="Dot 31"/>
          <p:cNvSpPr/>
          <p:nvPr/>
        </p:nvSpPr>
        <p:spPr>
          <a:xfrm>
            <a:off x="3009900" y="5424041"/>
            <a:ext cx="285750" cy="285750"/>
          </a:xfrm>
          <a:prstGeom prst="ellipse">
            <a:avLst/>
          </a:prstGeom>
          <a:solidFill>
            <a:srgbClr val="1B1A1A"/>
          </a:solidFill>
          <a:ln/>
        </p:spPr>
        <p:txBody>
          <a:bodyPr/>
          <a:lstStyle/>
          <a:p>
            <a:endParaRPr lang="en-US"/>
          </a:p>
        </p:txBody>
      </p:sp>
      <p:pic>
        <p:nvPicPr>
          <p:cNvPr id="33" name="Icon" descr="/tmp/claude-0/-home-claude-about/4bef2f41-4227-5ff7-ab18-11ac74cd9797/scratchpad/pptx/ex/media/e559ea1bcf7b.png"/>
          <p:cNvPicPr>
            <a:picLocks noChangeAspect="1"/>
          </p:cNvPicPr>
          <p:nvPr/>
        </p:nvPicPr>
        <p:blipFill>
          <a:blip r:embed="rId14"/>
          <a:stretch>
            <a:fillRect/>
          </a:stretch>
        </p:blipFill>
        <p:spPr>
          <a:xfrm>
            <a:off x="3076575" y="5490716"/>
            <a:ext cx="152400" cy="152400"/>
          </a:xfrm>
          <a:prstGeom prst="rect">
            <a:avLst/>
          </a:prstGeom>
        </p:spPr>
      </p:pic>
      <p:sp>
        <p:nvSpPr>
          <p:cNvPr id="34" name="Text 33"/>
          <p:cNvSpPr txBox="1"/>
          <p:nvPr/>
        </p:nvSpPr>
        <p:spPr>
          <a:xfrm>
            <a:off x="3562350" y="5076379"/>
            <a:ext cx="3752850" cy="209550"/>
          </a:xfrm>
          <a:prstGeom prst="rect">
            <a:avLst/>
          </a:prstGeom>
          <a:noFill/>
          <a:ln/>
        </p:spPr>
        <p:txBody>
          <a:bodyPr wrap="none" lIns="0" tIns="0" rIns="0" bIns="0" rtlCol="0" anchor="t"/>
          <a:lstStyle/>
          <a:p>
            <a:pPr marL="0" indent="0" algn="l">
              <a:lnSpc>
                <a:spcPts val="1650"/>
              </a:lnSpc>
              <a:buNone/>
            </a:pPr>
            <a:r>
              <a:rPr lang="en-US" sz="1275" kern="0" spc="15" dirty="0">
                <a:solidFill>
                  <a:srgbClr val="1B1A1A"/>
                </a:solidFill>
                <a:latin typeface="Newsreader SemiBold" pitchFamily="34" charset="0"/>
              </a:rPr>
              <a:t>Financing</a:t>
            </a:r>
            <a:endParaRPr lang="en-US" sz="1275" dirty="0"/>
          </a:p>
        </p:txBody>
      </p:sp>
      <p:sp>
        <p:nvSpPr>
          <p:cNvPr id="35" name="Text 34"/>
          <p:cNvSpPr txBox="1"/>
          <p:nvPr/>
        </p:nvSpPr>
        <p:spPr>
          <a:xfrm>
            <a:off x="3562350" y="5323076"/>
            <a:ext cx="3771614" cy="868829"/>
          </a:xfrm>
          <a:prstGeom prst="rect">
            <a:avLst/>
          </a:prstGeom>
          <a:noFill/>
          <a:ln/>
        </p:spPr>
        <p:txBody>
          <a:bodyPr wrap="square" lIns="0" tIns="0" rIns="0" bIns="0" rtlCol="0" anchor="t"/>
          <a:lstStyle/>
          <a:p>
            <a:pPr marL="0" indent="0" algn="l">
              <a:lnSpc>
                <a:spcPts val="1140"/>
              </a:lnSpc>
              <a:buNone/>
            </a:pPr>
            <a:r>
              <a:rPr lang="en-US" sz="795" kern="0" spc="15" dirty="0">
                <a:solidFill>
                  <a:srgbClr val="333231"/>
                </a:solidFill>
                <a:latin typeface="Quicksand" pitchFamily="34" charset="0"/>
              </a:rPr>
              <a:t>The Federal Reserve </a:t>
            </a:r>
            <a:r>
              <a:rPr lang="en-US" sz="795" u="sng" kern="0" spc="15" dirty="0">
                <a:solidFill>
                  <a:srgbClr val="8C6239"/>
                </a:solidFill>
                <a:latin typeface="Quicksand" pitchFamily="34" charset="0"/>
                <a:hlinkClick r:id="rId15">
                  <a:extLst>
                    <a:ext uri="{A12FA001-AC4F-418D-AE19-62706E023703}">
                      <ahyp:hlinkClr xmlns:ahyp="http://schemas.microsoft.com/office/drawing/2018/hyperlinkcolor" val="tx"/>
                    </a:ext>
                  </a:extLst>
                </a:hlinkClick>
              </a:rPr>
              <a:t>raised its target range</a:t>
            </a:r>
            <a:r>
              <a:rPr lang="en-US" sz="795" kern="0" spc="15" dirty="0">
                <a:solidFill>
                  <a:srgbClr val="333231"/>
                </a:solidFill>
                <a:latin typeface="Quicksand" pitchFamily="34" charset="0"/>
              </a:rPr>
              <a:t> to 3.75% to 4.00% on September 16 and projects a policy rate of </a:t>
            </a:r>
            <a:r>
              <a:rPr lang="en-US" sz="795" u="sng" kern="0" spc="15" dirty="0">
                <a:solidFill>
                  <a:srgbClr val="8C6239"/>
                </a:solidFill>
                <a:latin typeface="Quicksand" pitchFamily="34" charset="0"/>
                <a:hlinkClick r:id="rId16">
                  <a:extLst>
                    <a:ext uri="{A12FA001-AC4F-418D-AE19-62706E023703}">
                      <ahyp:hlinkClr xmlns:ahyp="http://schemas.microsoft.com/office/drawing/2018/hyperlinkcolor" val="tx"/>
                    </a:ext>
                  </a:extLst>
                </a:hlinkClick>
              </a:rPr>
              <a:t>4.1% at the end of 2026 and 2027</a:t>
            </a:r>
            <a:r>
              <a:rPr lang="en-US" sz="795" kern="0" spc="15" dirty="0">
                <a:solidFill>
                  <a:srgbClr val="333231"/>
                </a:solidFill>
                <a:latin typeface="Quicksand" pitchFamily="34" charset="0"/>
              </a:rPr>
              <a:t>. Spreads on direct loans for buyouts </a:t>
            </a:r>
            <a:r>
              <a:rPr lang="en-US" sz="795" u="sng" kern="0" spc="15" dirty="0">
                <a:solidFill>
                  <a:srgbClr val="8C6239"/>
                </a:solidFill>
                <a:latin typeface="Quicksand" pitchFamily="34" charset="0"/>
                <a:hlinkClick r:id="rId17">
                  <a:extLst>
                    <a:ext uri="{A12FA001-AC4F-418D-AE19-62706E023703}">
                      <ahyp:hlinkClr xmlns:ahyp="http://schemas.microsoft.com/office/drawing/2018/hyperlinkcolor" val="tx"/>
                    </a:ext>
                  </a:extLst>
                </a:hlinkClick>
              </a:rPr>
              <a:t>widened by roughly 25 to 50 basis points</a:t>
            </a:r>
            <a:r>
              <a:rPr lang="en-US" sz="795" kern="0" spc="15" dirty="0">
                <a:solidFill>
                  <a:srgbClr val="333231"/>
                </a:solidFill>
                <a:latin typeface="Quicksand" pitchFamily="34" charset="0"/>
              </a:rPr>
              <a:t> in the second quarter, and earn-outs appeared in 24% of 2025 transactions with a median equal to 34% of the closing payment (</a:t>
            </a:r>
            <a:r>
              <a:rPr lang="en-US" sz="795" u="sng" kern="0" spc="15" dirty="0">
                <a:solidFill>
                  <a:srgbClr val="8C6239"/>
                </a:solidFill>
                <a:latin typeface="Quicksand" pitchFamily="34" charset="0"/>
                <a:hlinkClick r:id="rId18">
                  <a:extLst>
                    <a:ext uri="{A12FA001-AC4F-418D-AE19-62706E023703}">
                      <ahyp:hlinkClr xmlns:ahyp="http://schemas.microsoft.com/office/drawing/2018/hyperlinkcolor" val="tx"/>
                    </a:ext>
                  </a:extLst>
                </a:hlinkClick>
              </a:rPr>
              <a:t>SRS Acquiom study, as summarized by Fasken</a:t>
            </a:r>
            <a:r>
              <a:rPr lang="en-US" sz="795" kern="0" spc="15" dirty="0">
                <a:solidFill>
                  <a:srgbClr val="333231"/>
                </a:solidFill>
                <a:latin typeface="Quicksand" pitchFamily="34" charset="0"/>
              </a:rPr>
              <a:t>).</a:t>
            </a:r>
            <a:endParaRPr lang="en-US" sz="795" dirty="0"/>
          </a:p>
        </p:txBody>
      </p:sp>
      <p:sp>
        <p:nvSpPr>
          <p:cNvPr id="36" name="Shape 35"/>
          <p:cNvSpPr/>
          <p:nvPr/>
        </p:nvSpPr>
        <p:spPr>
          <a:xfrm>
            <a:off x="3562350" y="6254800"/>
            <a:ext cx="3752850" cy="365820"/>
          </a:xfrm>
          <a:prstGeom prst="rect">
            <a:avLst/>
          </a:prstGeom>
          <a:solidFill>
            <a:srgbClr val="FAF7F3"/>
          </a:solidFill>
          <a:ln/>
        </p:spPr>
        <p:txBody>
          <a:bodyPr/>
          <a:lstStyle/>
          <a:p>
            <a:endParaRPr lang="en-US"/>
          </a:p>
        </p:txBody>
      </p:sp>
      <p:sp>
        <p:nvSpPr>
          <p:cNvPr id="37" name="Text 36"/>
          <p:cNvSpPr txBox="1"/>
          <p:nvPr/>
        </p:nvSpPr>
        <p:spPr>
          <a:xfrm>
            <a:off x="3657600" y="6296710"/>
            <a:ext cx="3580162" cy="270540"/>
          </a:xfrm>
          <a:prstGeom prst="rect">
            <a:avLst/>
          </a:prstGeom>
          <a:noFill/>
          <a:ln/>
        </p:spPr>
        <p:txBody>
          <a:bodyPr wrap="square" lIns="0" tIns="0" rIns="0" bIns="0" rtlCol="0" anchor="t"/>
          <a:lstStyle/>
          <a:p>
            <a:pPr marL="0" indent="0" algn="l">
              <a:lnSpc>
                <a:spcPts val="1065"/>
              </a:lnSpc>
              <a:buNone/>
            </a:pPr>
            <a:r>
              <a:rPr lang="en-US" sz="630" b="1" kern="0" spc="90" dirty="0">
                <a:solidFill>
                  <a:srgbClr val="8C6239"/>
                </a:solidFill>
                <a:latin typeface="Quicksand" pitchFamily="34" charset="0"/>
              </a:rPr>
              <a:t>WHAT BUYERS ASK FOR</a:t>
            </a:r>
            <a:r>
              <a:rPr lang="en-US" sz="765" kern="0" spc="15" dirty="0">
                <a:solidFill>
                  <a:srgbClr val="333231"/>
                </a:solidFill>
                <a:latin typeface="Quicksand" pitchFamily="34" charset="0"/>
              </a:rPr>
              <a:t>  How much of the price is paid in cash at closing, how much is contingent and how much is rolled into the buyer’s equity.</a:t>
            </a:r>
            <a:endParaRPr lang="en-US" sz="630" dirty="0"/>
          </a:p>
        </p:txBody>
      </p:sp>
      <p:sp>
        <p:nvSpPr>
          <p:cNvPr id="38" name="Shape 37"/>
          <p:cNvSpPr/>
          <p:nvPr/>
        </p:nvSpPr>
        <p:spPr>
          <a:xfrm>
            <a:off x="7524750" y="1238250"/>
            <a:ext cx="2114550" cy="5695950"/>
          </a:xfrm>
          <a:prstGeom prst="rect">
            <a:avLst/>
          </a:prstGeom>
          <a:solidFill>
            <a:srgbClr val="1B1A1A"/>
          </a:solidFill>
          <a:ln/>
        </p:spPr>
        <p:txBody>
          <a:bodyPr/>
          <a:lstStyle/>
          <a:p>
            <a:endParaRPr lang="en-US"/>
          </a:p>
        </p:txBody>
      </p:sp>
      <p:pic>
        <p:nvPicPr>
          <p:cNvPr id="39" name="A customer paying at a card terminal" descr="A customer paying at a card terminal"/>
          <p:cNvPicPr>
            <a:picLocks noChangeAspect="1"/>
          </p:cNvPicPr>
          <p:nvPr/>
        </p:nvPicPr>
        <p:blipFill>
          <a:blip r:embed="rId19"/>
          <a:stretch>
            <a:fillRect/>
          </a:stretch>
        </p:blipFill>
        <p:spPr>
          <a:xfrm>
            <a:off x="7524750" y="1238250"/>
            <a:ext cx="2114550" cy="1143000"/>
          </a:xfrm>
          <a:prstGeom prst="rect">
            <a:avLst/>
          </a:prstGeom>
        </p:spPr>
      </p:pic>
      <p:sp>
        <p:nvSpPr>
          <p:cNvPr id="40" name="Shape 39"/>
          <p:cNvSpPr/>
          <p:nvPr/>
        </p:nvSpPr>
        <p:spPr>
          <a:xfrm>
            <a:off x="7524750" y="2352675"/>
            <a:ext cx="2114550" cy="28575"/>
          </a:xfrm>
          <a:prstGeom prst="rect">
            <a:avLst/>
          </a:prstGeom>
          <a:solidFill>
            <a:srgbClr val="B68757"/>
          </a:solidFill>
          <a:ln/>
        </p:spPr>
        <p:txBody>
          <a:bodyPr/>
          <a:lstStyle/>
          <a:p>
            <a:endParaRPr lang="en-US"/>
          </a:p>
        </p:txBody>
      </p:sp>
      <p:sp>
        <p:nvSpPr>
          <p:cNvPr id="41" name="Text 40"/>
          <p:cNvSpPr txBox="1"/>
          <p:nvPr/>
        </p:nvSpPr>
        <p:spPr>
          <a:xfrm>
            <a:off x="7715250" y="2509838"/>
            <a:ext cx="1747838" cy="266700"/>
          </a:xfrm>
          <a:prstGeom prst="rect">
            <a:avLst/>
          </a:prstGeom>
          <a:noFill/>
          <a:ln/>
        </p:spPr>
        <p:txBody>
          <a:bodyPr wrap="square" lIns="0" tIns="0" rIns="0" bIns="0" rtlCol="0" anchor="t"/>
          <a:lstStyle/>
          <a:p>
            <a:pPr marL="0" indent="0" algn="l">
              <a:lnSpc>
                <a:spcPts val="1050"/>
              </a:lnSpc>
              <a:buNone/>
            </a:pPr>
            <a:r>
              <a:rPr lang="en-US" sz="675" b="1" kern="0" spc="180" dirty="0">
                <a:solidFill>
                  <a:srgbClr val="D3AE84"/>
                </a:solidFill>
                <a:latin typeface="Quicksand" pitchFamily="34" charset="0"/>
              </a:rPr>
              <a:t>THE REPRICING IN FOUR FIGURES</a:t>
            </a:r>
            <a:endParaRPr lang="en-US" sz="675" dirty="0"/>
          </a:p>
        </p:txBody>
      </p:sp>
      <p:sp>
        <p:nvSpPr>
          <p:cNvPr id="42" name="Shape 41"/>
          <p:cNvSpPr/>
          <p:nvPr/>
        </p:nvSpPr>
        <p:spPr>
          <a:xfrm>
            <a:off x="7715250" y="2838450"/>
            <a:ext cx="1733550" cy="9525"/>
          </a:xfrm>
          <a:prstGeom prst="rect">
            <a:avLst/>
          </a:prstGeom>
          <a:solidFill>
            <a:srgbClr val="D3AE84">
              <a:alpha val="30000"/>
            </a:srgbClr>
          </a:solidFill>
          <a:ln/>
        </p:spPr>
        <p:txBody>
          <a:bodyPr/>
          <a:lstStyle/>
          <a:p>
            <a:endParaRPr lang="en-US"/>
          </a:p>
        </p:txBody>
      </p:sp>
      <p:sp>
        <p:nvSpPr>
          <p:cNvPr id="43" name="Text 42"/>
          <p:cNvSpPr txBox="1"/>
          <p:nvPr/>
        </p:nvSpPr>
        <p:spPr>
          <a:xfrm>
            <a:off x="7715250" y="2933700"/>
            <a:ext cx="1733550" cy="257175"/>
          </a:xfrm>
          <a:prstGeom prst="rect">
            <a:avLst/>
          </a:prstGeom>
          <a:noFill/>
          <a:ln/>
        </p:spPr>
        <p:txBody>
          <a:bodyPr wrap="none" lIns="0" tIns="0" rIns="0" bIns="0" rtlCol="0" anchor="t"/>
          <a:lstStyle/>
          <a:p>
            <a:pPr marL="0" indent="0" algn="l">
              <a:lnSpc>
                <a:spcPts val="2025"/>
              </a:lnSpc>
              <a:buNone/>
            </a:pPr>
            <a:r>
              <a:rPr lang="en-US" sz="1725" kern="0" spc="15" dirty="0">
                <a:solidFill>
                  <a:srgbClr val="D3AE84"/>
                </a:solidFill>
                <a:latin typeface="Newsreader SemiBold" pitchFamily="34" charset="0"/>
              </a:rPr>
              <a:t>12.5%</a:t>
            </a:r>
            <a:endParaRPr lang="en-US" sz="1725" dirty="0"/>
          </a:p>
        </p:txBody>
      </p:sp>
      <p:sp>
        <p:nvSpPr>
          <p:cNvPr id="44" name="Text 43"/>
          <p:cNvSpPr txBox="1"/>
          <p:nvPr/>
        </p:nvSpPr>
        <p:spPr>
          <a:xfrm>
            <a:off x="7715250" y="3193256"/>
            <a:ext cx="1747838" cy="257175"/>
          </a:xfrm>
          <a:prstGeom prst="rect">
            <a:avLst/>
          </a:prstGeom>
          <a:noFill/>
          <a:ln/>
        </p:spPr>
        <p:txBody>
          <a:bodyPr wrap="square" lIns="0" tIns="0" rIns="0" bIns="0" rtlCol="0" anchor="t"/>
          <a:lstStyle/>
          <a:p>
            <a:pPr marL="0" indent="0" algn="l">
              <a:lnSpc>
                <a:spcPts val="1013"/>
              </a:lnSpc>
              <a:buNone/>
            </a:pPr>
            <a:r>
              <a:rPr lang="en-US" sz="720" kern="0" spc="15" dirty="0">
                <a:solidFill>
                  <a:srgbClr val="E8E2DA"/>
                </a:solidFill>
                <a:latin typeface="Quicksand" pitchFamily="34" charset="0"/>
              </a:rPr>
              <a:t>Section 301 tariff on goods from China and Vietnam since July 24</a:t>
            </a:r>
            <a:endParaRPr lang="en-US" sz="720" dirty="0"/>
          </a:p>
        </p:txBody>
      </p:sp>
      <p:sp>
        <p:nvSpPr>
          <p:cNvPr id="45" name="Shape 44"/>
          <p:cNvSpPr/>
          <p:nvPr/>
        </p:nvSpPr>
        <p:spPr>
          <a:xfrm>
            <a:off x="7715250" y="3543300"/>
            <a:ext cx="1733550" cy="9525"/>
          </a:xfrm>
          <a:prstGeom prst="rect">
            <a:avLst/>
          </a:prstGeom>
          <a:solidFill>
            <a:srgbClr val="D3AE84">
              <a:alpha val="30000"/>
            </a:srgbClr>
          </a:solidFill>
          <a:ln/>
        </p:spPr>
        <p:txBody>
          <a:bodyPr/>
          <a:lstStyle/>
          <a:p>
            <a:endParaRPr lang="en-US"/>
          </a:p>
        </p:txBody>
      </p:sp>
      <p:sp>
        <p:nvSpPr>
          <p:cNvPr id="46" name="Text 45"/>
          <p:cNvSpPr txBox="1"/>
          <p:nvPr/>
        </p:nvSpPr>
        <p:spPr>
          <a:xfrm>
            <a:off x="7715250" y="3638550"/>
            <a:ext cx="1733550" cy="257175"/>
          </a:xfrm>
          <a:prstGeom prst="rect">
            <a:avLst/>
          </a:prstGeom>
          <a:noFill/>
          <a:ln/>
        </p:spPr>
        <p:txBody>
          <a:bodyPr wrap="none" lIns="0" tIns="0" rIns="0" bIns="0" rtlCol="0" anchor="t"/>
          <a:lstStyle/>
          <a:p>
            <a:pPr marL="0" indent="0" algn="l">
              <a:lnSpc>
                <a:spcPts val="2025"/>
              </a:lnSpc>
              <a:buNone/>
            </a:pPr>
            <a:r>
              <a:rPr lang="en-US" sz="1725" kern="0" spc="15" dirty="0">
                <a:solidFill>
                  <a:srgbClr val="D3AE84"/>
                </a:solidFill>
                <a:latin typeface="Newsreader SemiBold" pitchFamily="34" charset="0"/>
              </a:rPr>
              <a:t>$6.29</a:t>
            </a:r>
            <a:endParaRPr lang="en-US" sz="1725" dirty="0"/>
          </a:p>
        </p:txBody>
      </p:sp>
      <p:sp>
        <p:nvSpPr>
          <p:cNvPr id="47" name="Text 46"/>
          <p:cNvSpPr txBox="1"/>
          <p:nvPr/>
        </p:nvSpPr>
        <p:spPr>
          <a:xfrm>
            <a:off x="7715250" y="3898106"/>
            <a:ext cx="1747838" cy="257175"/>
          </a:xfrm>
          <a:prstGeom prst="rect">
            <a:avLst/>
          </a:prstGeom>
          <a:noFill/>
          <a:ln/>
        </p:spPr>
        <p:txBody>
          <a:bodyPr wrap="square" lIns="0" tIns="0" rIns="0" bIns="0" rtlCol="0" anchor="t"/>
          <a:lstStyle/>
          <a:p>
            <a:pPr marL="0" indent="0" algn="l">
              <a:lnSpc>
                <a:spcPts val="1013"/>
              </a:lnSpc>
              <a:buNone/>
            </a:pPr>
            <a:r>
              <a:rPr lang="en-US" sz="720" kern="0" spc="15" dirty="0">
                <a:solidFill>
                  <a:srgbClr val="E8E2DA"/>
                </a:solidFill>
                <a:latin typeface="Quicksand" pitchFamily="34" charset="0"/>
              </a:rPr>
              <a:t>Diesel per gallon, September average, against $3.75 a year earlier</a:t>
            </a:r>
            <a:endParaRPr lang="en-US" sz="720" dirty="0"/>
          </a:p>
        </p:txBody>
      </p:sp>
      <p:sp>
        <p:nvSpPr>
          <p:cNvPr id="48" name="Shape 47"/>
          <p:cNvSpPr/>
          <p:nvPr/>
        </p:nvSpPr>
        <p:spPr>
          <a:xfrm>
            <a:off x="7715250" y="4248150"/>
            <a:ext cx="1733550" cy="9525"/>
          </a:xfrm>
          <a:prstGeom prst="rect">
            <a:avLst/>
          </a:prstGeom>
          <a:solidFill>
            <a:srgbClr val="D3AE84">
              <a:alpha val="30000"/>
            </a:srgbClr>
          </a:solidFill>
          <a:ln/>
        </p:spPr>
        <p:txBody>
          <a:bodyPr/>
          <a:lstStyle/>
          <a:p>
            <a:endParaRPr lang="en-US"/>
          </a:p>
        </p:txBody>
      </p:sp>
      <p:sp>
        <p:nvSpPr>
          <p:cNvPr id="49" name="Text 48"/>
          <p:cNvSpPr txBox="1"/>
          <p:nvPr/>
        </p:nvSpPr>
        <p:spPr>
          <a:xfrm>
            <a:off x="7715250" y="4343400"/>
            <a:ext cx="1733550" cy="257175"/>
          </a:xfrm>
          <a:prstGeom prst="rect">
            <a:avLst/>
          </a:prstGeom>
          <a:noFill/>
          <a:ln/>
        </p:spPr>
        <p:txBody>
          <a:bodyPr wrap="none" lIns="0" tIns="0" rIns="0" bIns="0" rtlCol="0" anchor="t"/>
          <a:lstStyle/>
          <a:p>
            <a:pPr marL="0" indent="0" algn="l">
              <a:lnSpc>
                <a:spcPts val="2025"/>
              </a:lnSpc>
              <a:buNone/>
            </a:pPr>
            <a:r>
              <a:rPr lang="en-US" sz="1725" kern="0" spc="15" dirty="0">
                <a:solidFill>
                  <a:srgbClr val="D3AE84"/>
                </a:solidFill>
                <a:latin typeface="Newsreader SemiBold" pitchFamily="34" charset="0"/>
              </a:rPr>
              <a:t>3.75% to 4.00%</a:t>
            </a:r>
            <a:endParaRPr lang="en-US" sz="1725" dirty="0"/>
          </a:p>
        </p:txBody>
      </p:sp>
      <p:sp>
        <p:nvSpPr>
          <p:cNvPr id="50" name="Text 49"/>
          <p:cNvSpPr txBox="1"/>
          <p:nvPr/>
        </p:nvSpPr>
        <p:spPr>
          <a:xfrm>
            <a:off x="7715250" y="4602956"/>
            <a:ext cx="1747838" cy="257175"/>
          </a:xfrm>
          <a:prstGeom prst="rect">
            <a:avLst/>
          </a:prstGeom>
          <a:noFill/>
          <a:ln/>
        </p:spPr>
        <p:txBody>
          <a:bodyPr wrap="square" lIns="0" tIns="0" rIns="0" bIns="0" rtlCol="0" anchor="t"/>
          <a:lstStyle/>
          <a:p>
            <a:pPr marL="0" indent="0" algn="l">
              <a:lnSpc>
                <a:spcPts val="1013"/>
              </a:lnSpc>
              <a:buNone/>
            </a:pPr>
            <a:r>
              <a:rPr lang="en-US" sz="720" kern="0" spc="15" dirty="0">
                <a:solidFill>
                  <a:srgbClr val="E8E2DA"/>
                </a:solidFill>
                <a:latin typeface="Quicksand" pitchFamily="34" charset="0"/>
              </a:rPr>
              <a:t>Federal funds target range after the September 16 increase</a:t>
            </a:r>
            <a:endParaRPr lang="en-US" sz="720" dirty="0"/>
          </a:p>
        </p:txBody>
      </p:sp>
      <p:sp>
        <p:nvSpPr>
          <p:cNvPr id="51" name="Shape 50"/>
          <p:cNvSpPr/>
          <p:nvPr/>
        </p:nvSpPr>
        <p:spPr>
          <a:xfrm>
            <a:off x="7715250" y="4953000"/>
            <a:ext cx="1733550" cy="9525"/>
          </a:xfrm>
          <a:prstGeom prst="rect">
            <a:avLst/>
          </a:prstGeom>
          <a:solidFill>
            <a:srgbClr val="D3AE84">
              <a:alpha val="30000"/>
            </a:srgbClr>
          </a:solidFill>
          <a:ln/>
        </p:spPr>
        <p:txBody>
          <a:bodyPr/>
          <a:lstStyle/>
          <a:p>
            <a:endParaRPr lang="en-US"/>
          </a:p>
        </p:txBody>
      </p:sp>
      <p:sp>
        <p:nvSpPr>
          <p:cNvPr id="52" name="Text 51"/>
          <p:cNvSpPr txBox="1"/>
          <p:nvPr/>
        </p:nvSpPr>
        <p:spPr>
          <a:xfrm>
            <a:off x="7715250" y="5048250"/>
            <a:ext cx="1733550" cy="257175"/>
          </a:xfrm>
          <a:prstGeom prst="rect">
            <a:avLst/>
          </a:prstGeom>
          <a:noFill/>
          <a:ln/>
        </p:spPr>
        <p:txBody>
          <a:bodyPr wrap="none" lIns="0" tIns="0" rIns="0" bIns="0" rtlCol="0" anchor="t"/>
          <a:lstStyle/>
          <a:p>
            <a:pPr marL="0" indent="0" algn="l">
              <a:lnSpc>
                <a:spcPts val="2025"/>
              </a:lnSpc>
              <a:buNone/>
            </a:pPr>
            <a:r>
              <a:rPr lang="en-US" sz="1725" kern="0" spc="15" dirty="0">
                <a:solidFill>
                  <a:srgbClr val="D3AE84"/>
                </a:solidFill>
                <a:latin typeface="Newsreader SemiBold" pitchFamily="34" charset="0"/>
              </a:rPr>
              <a:t>24%</a:t>
            </a:r>
            <a:endParaRPr lang="en-US" sz="1725" dirty="0"/>
          </a:p>
        </p:txBody>
      </p:sp>
      <p:sp>
        <p:nvSpPr>
          <p:cNvPr id="53" name="Text 52"/>
          <p:cNvSpPr txBox="1"/>
          <p:nvPr/>
        </p:nvSpPr>
        <p:spPr>
          <a:xfrm>
            <a:off x="7715250" y="5307806"/>
            <a:ext cx="1747838" cy="257175"/>
          </a:xfrm>
          <a:prstGeom prst="rect">
            <a:avLst/>
          </a:prstGeom>
          <a:noFill/>
          <a:ln/>
        </p:spPr>
        <p:txBody>
          <a:bodyPr wrap="square" lIns="0" tIns="0" rIns="0" bIns="0" rtlCol="0" anchor="t"/>
          <a:lstStyle/>
          <a:p>
            <a:pPr marL="0" indent="0" algn="l">
              <a:lnSpc>
                <a:spcPts val="1013"/>
              </a:lnSpc>
              <a:buNone/>
            </a:pPr>
            <a:r>
              <a:rPr lang="en-US" sz="720" kern="0" spc="15" dirty="0">
                <a:solidFill>
                  <a:srgbClr val="E8E2DA"/>
                </a:solidFill>
                <a:latin typeface="Quicksand" pitchFamily="34" charset="0"/>
              </a:rPr>
              <a:t>Share of 2025 transactions that included an earn-out</a:t>
            </a:r>
            <a:endParaRPr lang="en-US" sz="720" dirty="0"/>
          </a:p>
        </p:txBody>
      </p:sp>
      <p:sp>
        <p:nvSpPr>
          <p:cNvPr id="54" name="Shape 53"/>
          <p:cNvSpPr/>
          <p:nvPr/>
        </p:nvSpPr>
        <p:spPr>
          <a:xfrm>
            <a:off x="7715250" y="5657850"/>
            <a:ext cx="1733550" cy="9525"/>
          </a:xfrm>
          <a:prstGeom prst="rect">
            <a:avLst/>
          </a:prstGeom>
          <a:solidFill>
            <a:srgbClr val="D3AE84">
              <a:alpha val="30000"/>
            </a:srgbClr>
          </a:solidFill>
          <a:ln/>
        </p:spPr>
        <p:txBody>
          <a:bodyPr/>
          <a:lstStyle/>
          <a:p>
            <a:endParaRPr lang="en-US"/>
          </a:p>
        </p:txBody>
      </p:sp>
      <p:sp>
        <p:nvSpPr>
          <p:cNvPr id="55" name="Text 54"/>
          <p:cNvSpPr txBox="1"/>
          <p:nvPr/>
        </p:nvSpPr>
        <p:spPr>
          <a:xfrm>
            <a:off x="7715250" y="5774531"/>
            <a:ext cx="1747838" cy="666750"/>
          </a:xfrm>
          <a:prstGeom prst="rect">
            <a:avLst/>
          </a:prstGeom>
          <a:noFill/>
          <a:ln/>
        </p:spPr>
        <p:txBody>
          <a:bodyPr wrap="square" lIns="0" tIns="0" rIns="0" bIns="0" rtlCol="0" anchor="t"/>
          <a:lstStyle/>
          <a:p>
            <a:pPr marL="0" indent="0" algn="l">
              <a:lnSpc>
                <a:spcPts val="1313"/>
              </a:lnSpc>
              <a:buNone/>
            </a:pPr>
            <a:r>
              <a:rPr lang="en-US" sz="938" i="1" kern="0" spc="15" dirty="0">
                <a:solidFill>
                  <a:srgbClr val="FFFFFF"/>
                </a:solidFill>
                <a:latin typeface="Newsreader Medium" pitchFamily="34" charset="0"/>
              </a:rPr>
              <a:t>Buyers who finance with debt carry the higher rate into their models, which favors sellers whose earnings are growing.</a:t>
            </a:r>
            <a:endParaRPr lang="en-US" sz="938" dirty="0"/>
          </a:p>
        </p:txBody>
      </p:sp>
      <p:sp>
        <p:nvSpPr>
          <p:cNvPr id="56" name="Shape 55"/>
          <p:cNvSpPr/>
          <p:nvPr/>
        </p:nvSpPr>
        <p:spPr>
          <a:xfrm>
            <a:off x="419100" y="7029450"/>
            <a:ext cx="9220200" cy="9525"/>
          </a:xfrm>
          <a:prstGeom prst="rect">
            <a:avLst/>
          </a:prstGeom>
          <a:solidFill>
            <a:srgbClr val="E3DCD3"/>
          </a:solidFill>
          <a:ln/>
        </p:spPr>
        <p:txBody>
          <a:bodyPr/>
          <a:lstStyle/>
          <a:p>
            <a:endParaRPr lang="en-US"/>
          </a:p>
        </p:txBody>
      </p:sp>
      <p:pic>
        <p:nvPicPr>
          <p:cNvPr id="57" name="Benchmark International" descr="Benchmark International"/>
          <p:cNvPicPr>
            <a:picLocks noChangeAspect="1"/>
          </p:cNvPicPr>
          <p:nvPr/>
        </p:nvPicPr>
        <p:blipFill>
          <a:blip r:embed="rId20"/>
          <a:stretch>
            <a:fillRect/>
          </a:stretch>
        </p:blipFill>
        <p:spPr>
          <a:xfrm>
            <a:off x="419100" y="7143750"/>
            <a:ext cx="914400" cy="171450"/>
          </a:xfrm>
          <a:prstGeom prst="rect">
            <a:avLst/>
          </a:prstGeom>
        </p:spPr>
      </p:pic>
      <p:sp>
        <p:nvSpPr>
          <p:cNvPr id="58" name="Text 57"/>
          <p:cNvSpPr txBox="1"/>
          <p:nvPr/>
        </p:nvSpPr>
        <p:spPr>
          <a:xfrm>
            <a:off x="1543050" y="7098506"/>
            <a:ext cx="7658100" cy="238125"/>
          </a:xfrm>
          <a:prstGeom prst="rect">
            <a:avLst/>
          </a:prstGeom>
          <a:noFill/>
          <a:ln/>
        </p:spPr>
        <p:txBody>
          <a:bodyPr wrap="square" lIns="0" tIns="0" rIns="0" bIns="0" rtlCol="0" anchor="t"/>
          <a:lstStyle/>
          <a:p>
            <a:pPr marL="0" indent="0" algn="l">
              <a:lnSpc>
                <a:spcPts val="938"/>
              </a:lnSpc>
              <a:buNone/>
            </a:pPr>
            <a:r>
              <a:rPr lang="en-US" sz="675" kern="0" spc="15" dirty="0">
                <a:solidFill>
                  <a:srgbClr val="6F6A66"/>
                </a:solidFill>
                <a:latin typeface="Quicksand" pitchFamily="34" charset="0"/>
              </a:rPr>
              <a:t>Tariff rates are as described in the linked sources. Diesel is the monthly average US on-highway retail price published by the Energy Information Administration. Earn-out figures are from the SRS Acquiom 2026 deal terms study of 2025 transactions.</a:t>
            </a:r>
            <a:endParaRPr lang="en-US" sz="675" dirty="0"/>
          </a:p>
        </p:txBody>
      </p:sp>
      <p:sp>
        <p:nvSpPr>
          <p:cNvPr id="59" name="Text 58"/>
          <p:cNvSpPr txBox="1"/>
          <p:nvPr/>
        </p:nvSpPr>
        <p:spPr>
          <a:xfrm>
            <a:off x="9492407" y="7162800"/>
            <a:ext cx="204043" cy="133350"/>
          </a:xfrm>
          <a:prstGeom prst="rect">
            <a:avLst/>
          </a:prstGeom>
          <a:noFill/>
          <a:ln/>
        </p:spPr>
        <p:txBody>
          <a:bodyPr wrap="none" lIns="0" tIns="0" rIns="0" bIns="0" rtlCol="0" anchor="t"/>
          <a:lstStyle/>
          <a:p>
            <a:pPr marL="0" indent="0" algn="l">
              <a:lnSpc>
                <a:spcPts val="1050"/>
              </a:lnSpc>
              <a:buNone/>
            </a:pPr>
            <a:r>
              <a:rPr lang="en-US" sz="713" b="1" kern="0" spc="150" dirty="0">
                <a:solidFill>
                  <a:srgbClr val="1B1A1A"/>
                </a:solidFill>
                <a:latin typeface="Quicksand" pitchFamily="34" charset="0"/>
              </a:rPr>
              <a:t>04</a:t>
            </a:r>
            <a:endParaRPr lang="en-US" sz="713"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1"/>
          <p:cNvSpPr/>
          <p:nvPr/>
        </p:nvSpPr>
        <p:spPr>
          <a:xfrm>
            <a:off x="0" y="0"/>
            <a:ext cx="10058400" cy="7772400"/>
          </a:xfrm>
          <a:prstGeom prst="rect">
            <a:avLst/>
          </a:prstGeom>
          <a:solidFill>
            <a:srgbClr val="FFFFFF"/>
          </a:solidFill>
          <a:ln/>
        </p:spPr>
        <p:txBody>
          <a:bodyPr/>
          <a:lstStyle/>
          <a:p>
            <a:endParaRPr lang="en-US"/>
          </a:p>
        </p:txBody>
      </p:sp>
      <p:sp>
        <p:nvSpPr>
          <p:cNvPr id="3" name="Shape 2"/>
          <p:cNvSpPr/>
          <p:nvPr/>
        </p:nvSpPr>
        <p:spPr>
          <a:xfrm>
            <a:off x="0" y="0"/>
            <a:ext cx="57150" cy="7772400"/>
          </a:xfrm>
          <a:prstGeom prst="rect">
            <a:avLst/>
          </a:prstGeom>
          <a:solidFill>
            <a:srgbClr val="B68757"/>
          </a:solidFill>
          <a:ln/>
        </p:spPr>
        <p:txBody>
          <a:bodyPr/>
          <a:lstStyle/>
          <a:p>
            <a:endParaRPr lang="en-US"/>
          </a:p>
        </p:txBody>
      </p:sp>
      <p:sp>
        <p:nvSpPr>
          <p:cNvPr id="4" name="Text 3"/>
          <p:cNvSpPr txBox="1"/>
          <p:nvPr/>
        </p:nvSpPr>
        <p:spPr>
          <a:xfrm>
            <a:off x="419100" y="376238"/>
            <a:ext cx="2618929" cy="133350"/>
          </a:xfrm>
          <a:prstGeom prst="rect">
            <a:avLst/>
          </a:prstGeom>
          <a:noFill/>
          <a:ln/>
        </p:spPr>
        <p:txBody>
          <a:bodyPr wrap="none" lIns="0" tIns="0" rIns="0" bIns="0" rtlCol="0" anchor="t"/>
          <a:lstStyle/>
          <a:p>
            <a:pPr marL="0" indent="0" algn="l">
              <a:lnSpc>
                <a:spcPts val="1050"/>
              </a:lnSpc>
              <a:buNone/>
            </a:pPr>
            <a:r>
              <a:rPr lang="en-US" sz="675" b="1" kern="0" spc="195" dirty="0">
                <a:solidFill>
                  <a:srgbClr val="8C6239"/>
                </a:solidFill>
                <a:latin typeface="Quicksand" pitchFamily="34" charset="0"/>
              </a:rPr>
              <a:t>CONSUMER  |  QUARTERLY SECTOR BRIEF</a:t>
            </a:r>
            <a:endParaRPr lang="en-US" sz="675" dirty="0"/>
          </a:p>
        </p:txBody>
      </p:sp>
      <p:sp>
        <p:nvSpPr>
          <p:cNvPr id="5" name="Text 4"/>
          <p:cNvSpPr txBox="1"/>
          <p:nvPr/>
        </p:nvSpPr>
        <p:spPr>
          <a:xfrm>
            <a:off x="9112597" y="381000"/>
            <a:ext cx="583853" cy="171450"/>
          </a:xfrm>
          <a:prstGeom prst="rect">
            <a:avLst/>
          </a:prstGeom>
          <a:noFill/>
          <a:ln/>
        </p:spPr>
        <p:txBody>
          <a:bodyPr wrap="none" lIns="0" tIns="0" rIns="0" bIns="0" rtlCol="0" anchor="t"/>
          <a:lstStyle/>
          <a:p>
            <a:pPr marL="0" indent="0" algn="l">
              <a:lnSpc>
                <a:spcPts val="1350"/>
              </a:lnSpc>
              <a:buNone/>
            </a:pPr>
            <a:r>
              <a:rPr lang="en-US" sz="900" kern="0" spc="90" dirty="0">
                <a:solidFill>
                  <a:srgbClr val="6F6A66"/>
                </a:solidFill>
                <a:latin typeface="Cinzel" pitchFamily="34" charset="0"/>
              </a:rPr>
              <a:t>Q4 2026</a:t>
            </a:r>
            <a:endParaRPr lang="en-US" sz="900" dirty="0"/>
          </a:p>
        </p:txBody>
      </p:sp>
      <p:sp>
        <p:nvSpPr>
          <p:cNvPr id="6" name="Text 5"/>
          <p:cNvSpPr txBox="1"/>
          <p:nvPr/>
        </p:nvSpPr>
        <p:spPr>
          <a:xfrm>
            <a:off x="419100" y="519113"/>
            <a:ext cx="9220200" cy="323850"/>
          </a:xfrm>
          <a:prstGeom prst="rect">
            <a:avLst/>
          </a:prstGeom>
          <a:noFill/>
          <a:ln/>
        </p:spPr>
        <p:txBody>
          <a:bodyPr wrap="none" lIns="0" tIns="0" rIns="0" bIns="0" rtlCol="0" anchor="t"/>
          <a:lstStyle/>
          <a:p>
            <a:pPr marL="0" indent="0" algn="l">
              <a:lnSpc>
                <a:spcPts val="2550"/>
              </a:lnSpc>
              <a:buNone/>
            </a:pPr>
            <a:r>
              <a:rPr lang="en-US" sz="2025" kern="0" spc="15" dirty="0">
                <a:solidFill>
                  <a:srgbClr val="1B1A1A"/>
                </a:solidFill>
                <a:latin typeface="Newsreader SemiBold" pitchFamily="34" charset="0"/>
              </a:rPr>
              <a:t>Perspectives on Four Consumer Segments</a:t>
            </a:r>
            <a:endParaRPr lang="en-US" sz="2025" dirty="0"/>
          </a:p>
        </p:txBody>
      </p:sp>
      <p:sp>
        <p:nvSpPr>
          <p:cNvPr id="7" name="Text 6"/>
          <p:cNvSpPr txBox="1"/>
          <p:nvPr/>
        </p:nvSpPr>
        <p:spPr>
          <a:xfrm>
            <a:off x="419100" y="883444"/>
            <a:ext cx="9220200" cy="176213"/>
          </a:xfrm>
          <a:prstGeom prst="rect">
            <a:avLst/>
          </a:prstGeom>
          <a:noFill/>
          <a:ln/>
        </p:spPr>
        <p:txBody>
          <a:bodyPr wrap="none" lIns="0" tIns="0" rIns="0" bIns="0" rtlCol="0" anchor="t"/>
          <a:lstStyle/>
          <a:p>
            <a:pPr marL="0" indent="0" algn="l">
              <a:lnSpc>
                <a:spcPts val="1388"/>
              </a:lnSpc>
              <a:buNone/>
            </a:pPr>
            <a:r>
              <a:rPr lang="en-US" sz="938" kern="0" spc="15" dirty="0">
                <a:solidFill>
                  <a:srgbClr val="6F6A66"/>
                </a:solidFill>
                <a:latin typeface="Quicksand" pitchFamily="34" charset="0"/>
              </a:rPr>
              <a:t>What is moving demand, and who is buying, in each of the segments the consumer practice covers.</a:t>
            </a:r>
            <a:endParaRPr lang="en-US" sz="938" dirty="0"/>
          </a:p>
        </p:txBody>
      </p:sp>
      <p:sp>
        <p:nvSpPr>
          <p:cNvPr id="8" name="Shape 7"/>
          <p:cNvSpPr/>
          <p:nvPr/>
        </p:nvSpPr>
        <p:spPr>
          <a:xfrm>
            <a:off x="419100" y="1143000"/>
            <a:ext cx="9220200" cy="9525"/>
          </a:xfrm>
          <a:prstGeom prst="rect">
            <a:avLst/>
          </a:prstGeom>
          <a:solidFill>
            <a:srgbClr val="E3DCD3"/>
          </a:solidFill>
          <a:ln/>
        </p:spPr>
        <p:txBody>
          <a:bodyPr/>
          <a:lstStyle/>
          <a:p>
            <a:endParaRPr lang="en-US"/>
          </a:p>
        </p:txBody>
      </p:sp>
      <p:sp>
        <p:nvSpPr>
          <p:cNvPr id="9" name="Shape 8"/>
          <p:cNvSpPr/>
          <p:nvPr/>
        </p:nvSpPr>
        <p:spPr>
          <a:xfrm>
            <a:off x="419100" y="1238250"/>
            <a:ext cx="2205038" cy="5695950"/>
          </a:xfrm>
          <a:prstGeom prst="rect">
            <a:avLst/>
          </a:prstGeom>
          <a:solidFill>
            <a:srgbClr val="FAF7F3"/>
          </a:solidFill>
          <a:ln/>
        </p:spPr>
        <p:txBody>
          <a:bodyPr/>
          <a:lstStyle/>
          <a:p>
            <a:endParaRPr lang="en-US"/>
          </a:p>
        </p:txBody>
      </p:sp>
      <p:sp>
        <p:nvSpPr>
          <p:cNvPr id="10" name="Shape 9"/>
          <p:cNvSpPr/>
          <p:nvPr/>
        </p:nvSpPr>
        <p:spPr>
          <a:xfrm>
            <a:off x="419100" y="1238250"/>
            <a:ext cx="2205038" cy="28575"/>
          </a:xfrm>
          <a:prstGeom prst="rect">
            <a:avLst/>
          </a:prstGeom>
          <a:solidFill>
            <a:srgbClr val="B68757"/>
          </a:solidFill>
          <a:ln/>
        </p:spPr>
        <p:txBody>
          <a:bodyPr/>
          <a:lstStyle/>
          <a:p>
            <a:endParaRPr lang="en-US"/>
          </a:p>
        </p:txBody>
      </p:sp>
      <p:pic>
        <p:nvPicPr>
          <p:cNvPr id="11" name="Loaves of artisan bread" descr="Loaves of artisan bread"/>
          <p:cNvPicPr>
            <a:picLocks noChangeAspect="1"/>
          </p:cNvPicPr>
          <p:nvPr/>
        </p:nvPicPr>
        <p:blipFill>
          <a:blip r:embed="rId3"/>
          <a:stretch>
            <a:fillRect/>
          </a:stretch>
        </p:blipFill>
        <p:spPr>
          <a:xfrm>
            <a:off x="419100" y="1266825"/>
            <a:ext cx="2205038" cy="609600"/>
          </a:xfrm>
          <a:prstGeom prst="rect">
            <a:avLst/>
          </a:prstGeom>
        </p:spPr>
      </p:pic>
      <p:sp>
        <p:nvSpPr>
          <p:cNvPr id="12" name="Dot 11"/>
          <p:cNvSpPr/>
          <p:nvPr/>
        </p:nvSpPr>
        <p:spPr>
          <a:xfrm>
            <a:off x="552450" y="1981200"/>
            <a:ext cx="285750" cy="285750"/>
          </a:xfrm>
          <a:prstGeom prst="ellipse">
            <a:avLst/>
          </a:prstGeom>
          <a:solidFill>
            <a:srgbClr val="1B1A1A"/>
          </a:solidFill>
          <a:ln/>
        </p:spPr>
        <p:txBody>
          <a:bodyPr/>
          <a:lstStyle/>
          <a:p>
            <a:endParaRPr lang="en-US"/>
          </a:p>
        </p:txBody>
      </p:sp>
      <p:pic>
        <p:nvPicPr>
          <p:cNvPr id="13" name="Icon" descr="/tmp/claude-0/-home-claude-about/4bef2f41-4227-5ff7-ab18-11ac74cd9797/scratchpad/pptx/ex/media/57a13b492294.png"/>
          <p:cNvPicPr>
            <a:picLocks noChangeAspect="1"/>
          </p:cNvPicPr>
          <p:nvPr/>
        </p:nvPicPr>
        <p:blipFill>
          <a:blip r:embed="rId4"/>
          <a:stretch>
            <a:fillRect/>
          </a:stretch>
        </p:blipFill>
        <p:spPr>
          <a:xfrm>
            <a:off x="619125" y="2047875"/>
            <a:ext cx="152400" cy="152400"/>
          </a:xfrm>
          <a:prstGeom prst="rect">
            <a:avLst/>
          </a:prstGeom>
        </p:spPr>
      </p:pic>
      <p:sp>
        <p:nvSpPr>
          <p:cNvPr id="14" name="Text 13"/>
          <p:cNvSpPr txBox="1"/>
          <p:nvPr/>
        </p:nvSpPr>
        <p:spPr>
          <a:xfrm>
            <a:off x="923925" y="2047875"/>
            <a:ext cx="1078260" cy="152400"/>
          </a:xfrm>
          <a:prstGeom prst="rect">
            <a:avLst/>
          </a:prstGeom>
          <a:noFill/>
          <a:ln/>
        </p:spPr>
        <p:txBody>
          <a:bodyPr wrap="none" lIns="0" tIns="0" rIns="0" bIns="0" rtlCol="0" anchor="t"/>
          <a:lstStyle/>
          <a:p>
            <a:pPr marL="0" indent="0" algn="l">
              <a:lnSpc>
                <a:spcPts val="1200"/>
              </a:lnSpc>
              <a:buNone/>
            </a:pPr>
            <a:r>
              <a:rPr lang="en-US" sz="938" b="1" kern="0" spc="15" dirty="0">
                <a:solidFill>
                  <a:srgbClr val="1B1A1A"/>
                </a:solidFill>
                <a:latin typeface="Quicksand" pitchFamily="34" charset="0"/>
              </a:rPr>
              <a:t>Food &amp; Beverage</a:t>
            </a:r>
            <a:endParaRPr lang="en-US" sz="938" dirty="0"/>
          </a:p>
        </p:txBody>
      </p:sp>
      <p:sp>
        <p:nvSpPr>
          <p:cNvPr id="15" name="Text 14"/>
          <p:cNvSpPr txBox="1"/>
          <p:nvPr/>
        </p:nvSpPr>
        <p:spPr>
          <a:xfrm>
            <a:off x="552450" y="2347913"/>
            <a:ext cx="817066" cy="285750"/>
          </a:xfrm>
          <a:prstGeom prst="rect">
            <a:avLst/>
          </a:prstGeom>
          <a:noFill/>
          <a:ln/>
        </p:spPr>
        <p:txBody>
          <a:bodyPr wrap="none" lIns="0" tIns="0" rIns="0" bIns="0" rtlCol="0" anchor="t"/>
          <a:lstStyle/>
          <a:p>
            <a:pPr marL="0" indent="0" algn="l">
              <a:lnSpc>
                <a:spcPts val="2250"/>
              </a:lnSpc>
              <a:buNone/>
            </a:pPr>
            <a:r>
              <a:rPr lang="en-US" sz="2025" kern="0" spc="15" dirty="0">
                <a:solidFill>
                  <a:srgbClr val="8C6239"/>
                </a:solidFill>
                <a:latin typeface="Newsreader SemiBold" pitchFamily="34" charset="0"/>
              </a:rPr>
              <a:t>23.8%</a:t>
            </a:r>
            <a:endParaRPr lang="en-US" sz="2025" dirty="0"/>
          </a:p>
        </p:txBody>
      </p:sp>
      <p:sp>
        <p:nvSpPr>
          <p:cNvPr id="16" name="Text 15"/>
          <p:cNvSpPr txBox="1"/>
          <p:nvPr/>
        </p:nvSpPr>
        <p:spPr>
          <a:xfrm>
            <a:off x="1407616" y="2459831"/>
            <a:ext cx="1097459" cy="357188"/>
          </a:xfrm>
          <a:prstGeom prst="rect">
            <a:avLst/>
          </a:prstGeom>
          <a:noFill/>
          <a:ln/>
        </p:spPr>
        <p:txBody>
          <a:bodyPr wrap="square" lIns="0" tIns="0" rIns="0" bIns="0" rtlCol="0" anchor="t"/>
          <a:lstStyle/>
          <a:p>
            <a:pPr marL="0" indent="0" algn="l">
              <a:lnSpc>
                <a:spcPts val="938"/>
              </a:lnSpc>
              <a:buNone/>
            </a:pPr>
            <a:r>
              <a:rPr lang="en-US" sz="675" kern="0" spc="15" dirty="0">
                <a:solidFill>
                  <a:srgbClr val="6F6A66"/>
                </a:solidFill>
                <a:latin typeface="Quicksand" pitchFamily="34" charset="0"/>
              </a:rPr>
              <a:t>Store brand share of units sold in the first half of 2026</a:t>
            </a:r>
            <a:endParaRPr lang="en-US" sz="675" dirty="0"/>
          </a:p>
        </p:txBody>
      </p:sp>
      <p:sp>
        <p:nvSpPr>
          <p:cNvPr id="17" name="Shape 16"/>
          <p:cNvSpPr/>
          <p:nvPr/>
        </p:nvSpPr>
        <p:spPr>
          <a:xfrm>
            <a:off x="552450" y="2871788"/>
            <a:ext cx="1938337" cy="9525"/>
          </a:xfrm>
          <a:prstGeom prst="rect">
            <a:avLst/>
          </a:prstGeom>
          <a:solidFill>
            <a:srgbClr val="E3DCD3"/>
          </a:solidFill>
          <a:ln/>
        </p:spPr>
        <p:txBody>
          <a:bodyPr/>
          <a:lstStyle/>
          <a:p>
            <a:endParaRPr lang="en-US"/>
          </a:p>
        </p:txBody>
      </p:sp>
      <p:sp>
        <p:nvSpPr>
          <p:cNvPr id="18" name="Shape 17"/>
          <p:cNvSpPr/>
          <p:nvPr/>
        </p:nvSpPr>
        <p:spPr>
          <a:xfrm>
            <a:off x="552450" y="3014663"/>
            <a:ext cx="47625" cy="47625"/>
          </a:xfrm>
          <a:prstGeom prst="rect">
            <a:avLst/>
          </a:prstGeom>
          <a:solidFill>
            <a:srgbClr val="B68757"/>
          </a:solidFill>
          <a:ln/>
        </p:spPr>
        <p:txBody>
          <a:bodyPr/>
          <a:lstStyle/>
          <a:p>
            <a:endParaRPr lang="en-US"/>
          </a:p>
        </p:txBody>
      </p:sp>
      <p:sp>
        <p:nvSpPr>
          <p:cNvPr id="19" name="Text 18"/>
          <p:cNvSpPr txBox="1"/>
          <p:nvPr/>
        </p:nvSpPr>
        <p:spPr>
          <a:xfrm>
            <a:off x="676275" y="2960846"/>
            <a:ext cx="1828800" cy="680918"/>
          </a:xfrm>
          <a:prstGeom prst="rect">
            <a:avLst/>
          </a:prstGeom>
          <a:noFill/>
          <a:ln/>
        </p:spPr>
        <p:txBody>
          <a:bodyPr wrap="square" lIns="0" tIns="0" rIns="0" bIns="0" rtlCol="0" anchor="t"/>
          <a:lstStyle/>
          <a:p>
            <a:pPr marL="0" indent="0" algn="l">
              <a:lnSpc>
                <a:spcPts val="1073"/>
              </a:lnSpc>
              <a:buNone/>
            </a:pPr>
            <a:r>
              <a:rPr lang="en-US" sz="757" kern="0" spc="15" dirty="0">
                <a:solidFill>
                  <a:srgbClr val="333231"/>
                </a:solidFill>
                <a:latin typeface="Quicksand" pitchFamily="34" charset="0"/>
              </a:rPr>
              <a:t>The largest packaged food companies report flat or falling volume, and they are selling slow brands and buying growth and capacity from smaller companies (</a:t>
            </a:r>
            <a:r>
              <a:rPr lang="en-US" sz="757" u="sng" kern="0" spc="15" dirty="0">
                <a:solidFill>
                  <a:srgbClr val="8C6239"/>
                </a:solidFill>
                <a:latin typeface="Quicksand" pitchFamily="34" charset="0"/>
                <a:hlinkClick r:id="rId5">
                  <a:extLst>
                    <a:ext uri="{A12FA001-AC4F-418D-AE19-62706E023703}">
                      <ahyp:hlinkClr xmlns:ahyp="http://schemas.microsoft.com/office/drawing/2018/hyperlinkcolor" val="tx"/>
                    </a:ext>
                  </a:extLst>
                </a:hlinkClick>
              </a:rPr>
              <a:t>General Mills</a:t>
            </a:r>
            <a:r>
              <a:rPr lang="en-US" sz="757" kern="0" spc="15" dirty="0">
                <a:solidFill>
                  <a:srgbClr val="333231"/>
                </a:solidFill>
                <a:latin typeface="Quicksand" pitchFamily="34" charset="0"/>
              </a:rPr>
              <a:t>; </a:t>
            </a:r>
            <a:r>
              <a:rPr lang="en-US" sz="757" u="sng" kern="0" spc="15" dirty="0">
                <a:solidFill>
                  <a:srgbClr val="8C6239"/>
                </a:solidFill>
                <a:latin typeface="Quicksand" pitchFamily="34" charset="0"/>
                <a:hlinkClick r:id="rId6">
                  <a:extLst>
                    <a:ext uri="{A12FA001-AC4F-418D-AE19-62706E023703}">
                      <ahyp:hlinkClr xmlns:ahyp="http://schemas.microsoft.com/office/drawing/2018/hyperlinkcolor" val="tx"/>
                    </a:ext>
                  </a:extLst>
                </a:hlinkClick>
              </a:rPr>
              <a:t>Conagra</a:t>
            </a:r>
            <a:r>
              <a:rPr lang="en-US" sz="757" kern="0" spc="15" dirty="0">
                <a:solidFill>
                  <a:srgbClr val="333231"/>
                </a:solidFill>
                <a:latin typeface="Quicksand" pitchFamily="34" charset="0"/>
              </a:rPr>
              <a:t>).</a:t>
            </a:r>
            <a:endParaRPr lang="en-US" sz="757" dirty="0"/>
          </a:p>
        </p:txBody>
      </p:sp>
      <p:sp>
        <p:nvSpPr>
          <p:cNvPr id="20" name="Shape 19"/>
          <p:cNvSpPr/>
          <p:nvPr/>
        </p:nvSpPr>
        <p:spPr>
          <a:xfrm>
            <a:off x="552450" y="3762226"/>
            <a:ext cx="47625" cy="47625"/>
          </a:xfrm>
          <a:prstGeom prst="rect">
            <a:avLst/>
          </a:prstGeom>
          <a:solidFill>
            <a:srgbClr val="B68757"/>
          </a:solidFill>
          <a:ln/>
        </p:spPr>
        <p:txBody>
          <a:bodyPr/>
          <a:lstStyle/>
          <a:p>
            <a:endParaRPr lang="en-US"/>
          </a:p>
        </p:txBody>
      </p:sp>
      <p:sp>
        <p:nvSpPr>
          <p:cNvPr id="21" name="Text 20"/>
          <p:cNvSpPr txBox="1"/>
          <p:nvPr/>
        </p:nvSpPr>
        <p:spPr>
          <a:xfrm>
            <a:off x="676275" y="3708410"/>
            <a:ext cx="1828800" cy="680918"/>
          </a:xfrm>
          <a:prstGeom prst="rect">
            <a:avLst/>
          </a:prstGeom>
          <a:noFill/>
          <a:ln/>
        </p:spPr>
        <p:txBody>
          <a:bodyPr wrap="square" lIns="0" tIns="0" rIns="0" bIns="0" rtlCol="0" anchor="t"/>
          <a:lstStyle/>
          <a:p>
            <a:pPr marL="0" indent="0" algn="l">
              <a:lnSpc>
                <a:spcPts val="1073"/>
              </a:lnSpc>
              <a:buNone/>
            </a:pPr>
            <a:r>
              <a:rPr lang="en-US" sz="757" kern="0" spc="15" dirty="0">
                <a:solidFill>
                  <a:srgbClr val="333231"/>
                </a:solidFill>
                <a:latin typeface="Quicksand" pitchFamily="34" charset="0"/>
              </a:rPr>
              <a:t>Growth is in protein, zero-sugar beverages, supplements and foodservice, and Procter &amp; Gamble agreed to buy Thorne in a deal </a:t>
            </a:r>
            <a:r>
              <a:rPr lang="en-US" sz="757" u="sng" kern="0" spc="15" dirty="0">
                <a:solidFill>
                  <a:srgbClr val="8C6239"/>
                </a:solidFill>
                <a:latin typeface="Quicksand" pitchFamily="34" charset="0"/>
                <a:hlinkClick r:id="rId7">
                  <a:extLst>
                    <a:ext uri="{A12FA001-AC4F-418D-AE19-62706E023703}">
                      <ahyp:hlinkClr xmlns:ahyp="http://schemas.microsoft.com/office/drawing/2018/hyperlinkcolor" val="tx"/>
                    </a:ext>
                  </a:extLst>
                </a:hlinkClick>
              </a:rPr>
              <a:t>reportedly valued at $3.8 billion</a:t>
            </a:r>
            <a:r>
              <a:rPr lang="en-US" sz="757" kern="0" spc="15" dirty="0">
                <a:solidFill>
                  <a:srgbClr val="333231"/>
                </a:solidFill>
                <a:latin typeface="Quicksand" pitchFamily="34" charset="0"/>
              </a:rPr>
              <a:t>.</a:t>
            </a:r>
            <a:endParaRPr lang="en-US" sz="757" dirty="0"/>
          </a:p>
        </p:txBody>
      </p:sp>
      <p:sp>
        <p:nvSpPr>
          <p:cNvPr id="22" name="Shape 21"/>
          <p:cNvSpPr/>
          <p:nvPr/>
        </p:nvSpPr>
        <p:spPr>
          <a:xfrm>
            <a:off x="552450" y="4509790"/>
            <a:ext cx="47625" cy="47625"/>
          </a:xfrm>
          <a:prstGeom prst="rect">
            <a:avLst/>
          </a:prstGeom>
          <a:solidFill>
            <a:srgbClr val="B68757"/>
          </a:solidFill>
          <a:ln/>
        </p:spPr>
        <p:txBody>
          <a:bodyPr/>
          <a:lstStyle/>
          <a:p>
            <a:endParaRPr lang="en-US"/>
          </a:p>
        </p:txBody>
      </p:sp>
      <p:sp>
        <p:nvSpPr>
          <p:cNvPr id="23" name="Text 22"/>
          <p:cNvSpPr txBox="1"/>
          <p:nvPr/>
        </p:nvSpPr>
        <p:spPr>
          <a:xfrm>
            <a:off x="676275" y="4455974"/>
            <a:ext cx="1828800" cy="680918"/>
          </a:xfrm>
          <a:prstGeom prst="rect">
            <a:avLst/>
          </a:prstGeom>
          <a:noFill/>
          <a:ln/>
        </p:spPr>
        <p:txBody>
          <a:bodyPr wrap="square" lIns="0" tIns="0" rIns="0" bIns="0" rtlCol="0" anchor="t"/>
          <a:lstStyle/>
          <a:p>
            <a:pPr marL="0" indent="0" algn="l">
              <a:lnSpc>
                <a:spcPts val="1073"/>
              </a:lnSpc>
              <a:buNone/>
            </a:pPr>
            <a:r>
              <a:rPr lang="en-US" sz="757" kern="0" spc="15" dirty="0">
                <a:solidFill>
                  <a:srgbClr val="333231"/>
                </a:solidFill>
                <a:latin typeface="Quicksand" pitchFamily="34" charset="0"/>
              </a:rPr>
              <a:t>National distributors are growing case volume with independent restaurants, up 5.1% at </a:t>
            </a:r>
            <a:r>
              <a:rPr lang="en-US" sz="757" u="sng" kern="0" spc="15" dirty="0">
                <a:solidFill>
                  <a:srgbClr val="8C6239"/>
                </a:solidFill>
                <a:latin typeface="Quicksand" pitchFamily="34" charset="0"/>
                <a:hlinkClick r:id="rId8">
                  <a:extLst>
                    <a:ext uri="{A12FA001-AC4F-418D-AE19-62706E023703}">
                      <ahyp:hlinkClr xmlns:ahyp="http://schemas.microsoft.com/office/drawing/2018/hyperlinkcolor" val="tx"/>
                    </a:ext>
                  </a:extLst>
                </a:hlinkClick>
              </a:rPr>
              <a:t>US Foods</a:t>
            </a:r>
            <a:r>
              <a:rPr lang="en-US" sz="757" kern="0" spc="15" dirty="0">
                <a:solidFill>
                  <a:srgbClr val="333231"/>
                </a:solidFill>
                <a:latin typeface="Quicksand" pitchFamily="34" charset="0"/>
              </a:rPr>
              <a:t> and 5.8% organically at </a:t>
            </a:r>
            <a:r>
              <a:rPr lang="en-US" sz="757" u="sng" kern="0" spc="15" dirty="0">
                <a:solidFill>
                  <a:srgbClr val="8C6239"/>
                </a:solidFill>
                <a:latin typeface="Quicksand" pitchFamily="34" charset="0"/>
                <a:hlinkClick r:id="rId9">
                  <a:extLst>
                    <a:ext uri="{A12FA001-AC4F-418D-AE19-62706E023703}">
                      <ahyp:hlinkClr xmlns:ahyp="http://schemas.microsoft.com/office/drawing/2018/hyperlinkcolor" val="tx"/>
                    </a:ext>
                  </a:extLst>
                </a:hlinkClick>
              </a:rPr>
              <a:t>Performance Food Group</a:t>
            </a:r>
            <a:r>
              <a:rPr lang="en-US" sz="757" kern="0" spc="15" dirty="0">
                <a:solidFill>
                  <a:srgbClr val="333231"/>
                </a:solidFill>
                <a:latin typeface="Quicksand" pitchFamily="34" charset="0"/>
              </a:rPr>
              <a:t>.</a:t>
            </a:r>
            <a:endParaRPr lang="en-US" sz="757" dirty="0"/>
          </a:p>
        </p:txBody>
      </p:sp>
      <p:sp>
        <p:nvSpPr>
          <p:cNvPr id="24" name="Text 23"/>
          <p:cNvSpPr txBox="1"/>
          <p:nvPr/>
        </p:nvSpPr>
        <p:spPr>
          <a:xfrm>
            <a:off x="552450" y="5276999"/>
            <a:ext cx="1938337" cy="114300"/>
          </a:xfrm>
          <a:prstGeom prst="rect">
            <a:avLst/>
          </a:prstGeom>
          <a:noFill/>
          <a:ln/>
        </p:spPr>
        <p:txBody>
          <a:bodyPr wrap="none" lIns="0" tIns="0" rIns="0" bIns="0" rtlCol="0" anchor="t"/>
          <a:lstStyle/>
          <a:p>
            <a:pPr marL="0" indent="0" algn="l">
              <a:lnSpc>
                <a:spcPts val="900"/>
              </a:lnSpc>
              <a:buNone/>
            </a:pPr>
            <a:r>
              <a:rPr lang="en-US" sz="615" b="1" kern="0" spc="135" dirty="0">
                <a:solidFill>
                  <a:srgbClr val="8C6239"/>
                </a:solidFill>
                <a:latin typeface="Quicksand" pitchFamily="34" charset="0"/>
              </a:rPr>
              <a:t>WHO IS BUYING</a:t>
            </a:r>
            <a:endParaRPr lang="en-US" sz="615" dirty="0"/>
          </a:p>
        </p:txBody>
      </p:sp>
      <p:sp>
        <p:nvSpPr>
          <p:cNvPr id="25" name="Text 24"/>
          <p:cNvSpPr txBox="1"/>
          <p:nvPr/>
        </p:nvSpPr>
        <p:spPr>
          <a:xfrm>
            <a:off x="552450" y="5411301"/>
            <a:ext cx="1952625" cy="657106"/>
          </a:xfrm>
          <a:prstGeom prst="rect">
            <a:avLst/>
          </a:prstGeom>
          <a:noFill/>
          <a:ln/>
        </p:spPr>
        <p:txBody>
          <a:bodyPr wrap="square" lIns="0" tIns="0" rIns="0" bIns="0" rtlCol="0" anchor="t"/>
          <a:lstStyle/>
          <a:p>
            <a:pPr marL="0" indent="0" algn="l">
              <a:lnSpc>
                <a:spcPts val="1035"/>
              </a:lnSpc>
              <a:buNone/>
            </a:pPr>
            <a:r>
              <a:rPr lang="en-US" sz="735" kern="0" spc="15" dirty="0">
                <a:solidFill>
                  <a:srgbClr val="333231"/>
                </a:solidFill>
                <a:latin typeface="Quicksand" pitchFamily="34" charset="0"/>
              </a:rPr>
              <a:t>Family-owned strategics such as Rich Products, Sargento and C.H. Guenther, bakery consolidators, private equity platforms and European strategics entering the United States.</a:t>
            </a:r>
            <a:endParaRPr lang="en-US" sz="735" dirty="0"/>
          </a:p>
        </p:txBody>
      </p:sp>
      <p:sp>
        <p:nvSpPr>
          <p:cNvPr id="26" name="Shape 25"/>
          <p:cNvSpPr/>
          <p:nvPr/>
        </p:nvSpPr>
        <p:spPr>
          <a:xfrm>
            <a:off x="552450" y="6162675"/>
            <a:ext cx="1938337" cy="666750"/>
          </a:xfrm>
          <a:prstGeom prst="rect">
            <a:avLst/>
          </a:prstGeom>
          <a:solidFill>
            <a:srgbClr val="1B1A1A"/>
          </a:solidFill>
          <a:ln/>
        </p:spPr>
        <p:txBody>
          <a:bodyPr/>
          <a:lstStyle/>
          <a:p>
            <a:endParaRPr lang="en-US"/>
          </a:p>
        </p:txBody>
      </p:sp>
      <p:sp>
        <p:nvSpPr>
          <p:cNvPr id="27" name="Text 26"/>
          <p:cNvSpPr txBox="1"/>
          <p:nvPr/>
        </p:nvSpPr>
        <p:spPr>
          <a:xfrm>
            <a:off x="666750" y="6224588"/>
            <a:ext cx="1709738" cy="104775"/>
          </a:xfrm>
          <a:prstGeom prst="rect">
            <a:avLst/>
          </a:prstGeom>
          <a:noFill/>
          <a:ln/>
        </p:spPr>
        <p:txBody>
          <a:bodyPr wrap="none" lIns="0" tIns="0" rIns="0" bIns="0" rtlCol="0" anchor="t"/>
          <a:lstStyle/>
          <a:p>
            <a:pPr marL="0" indent="0" algn="l">
              <a:lnSpc>
                <a:spcPts val="825"/>
              </a:lnSpc>
              <a:buNone/>
            </a:pPr>
            <a:r>
              <a:rPr lang="en-US" sz="585" b="1" kern="0" spc="135" dirty="0">
                <a:solidFill>
                  <a:srgbClr val="D3AE84"/>
                </a:solidFill>
                <a:latin typeface="Quicksand" pitchFamily="34" charset="0"/>
              </a:rPr>
              <a:t>BENCHMARK INTERNATIONAL</a:t>
            </a:r>
            <a:endParaRPr lang="en-US" sz="585" dirty="0"/>
          </a:p>
        </p:txBody>
      </p:sp>
      <p:sp>
        <p:nvSpPr>
          <p:cNvPr id="28" name="Text 27"/>
          <p:cNvSpPr txBox="1"/>
          <p:nvPr/>
        </p:nvSpPr>
        <p:spPr>
          <a:xfrm>
            <a:off x="666750" y="6348413"/>
            <a:ext cx="228600" cy="200025"/>
          </a:xfrm>
          <a:prstGeom prst="rect">
            <a:avLst/>
          </a:prstGeom>
          <a:noFill/>
          <a:ln/>
        </p:spPr>
        <p:txBody>
          <a:bodyPr wrap="none" lIns="0" tIns="0" rIns="0" bIns="0" rtlCol="0" anchor="t"/>
          <a:lstStyle/>
          <a:p>
            <a:pPr marL="0" indent="0" algn="l">
              <a:lnSpc>
                <a:spcPts val="1575"/>
              </a:lnSpc>
              <a:buNone/>
            </a:pPr>
            <a:r>
              <a:rPr lang="en-US" sz="1350" kern="0" spc="15" dirty="0">
                <a:solidFill>
                  <a:srgbClr val="D3AE84"/>
                </a:solidFill>
                <a:latin typeface="Newsreader SemiBold" pitchFamily="34" charset="0"/>
              </a:rPr>
              <a:t>4</a:t>
            </a:r>
            <a:endParaRPr lang="en-US" sz="1350" dirty="0"/>
          </a:p>
        </p:txBody>
      </p:sp>
      <p:sp>
        <p:nvSpPr>
          <p:cNvPr id="29" name="Text 28"/>
          <p:cNvSpPr txBox="1"/>
          <p:nvPr/>
        </p:nvSpPr>
        <p:spPr>
          <a:xfrm>
            <a:off x="962025" y="6396038"/>
            <a:ext cx="1179165" cy="114300"/>
          </a:xfrm>
          <a:prstGeom prst="rect">
            <a:avLst/>
          </a:prstGeom>
          <a:noFill/>
          <a:ln/>
        </p:spPr>
        <p:txBody>
          <a:bodyPr wrap="none" lIns="0" tIns="0" rIns="0" bIns="0" rtlCol="0" anchor="t"/>
          <a:lstStyle/>
          <a:p>
            <a:pPr marL="0" indent="0" algn="l">
              <a:lnSpc>
                <a:spcPts val="900"/>
              </a:lnSpc>
              <a:buNone/>
            </a:pPr>
            <a:r>
              <a:rPr lang="en-US" sz="690" kern="0" spc="15" dirty="0">
                <a:solidFill>
                  <a:srgbClr val="E8E2DA"/>
                </a:solidFill>
                <a:latin typeface="Quicksand" pitchFamily="34" charset="0"/>
              </a:rPr>
              <a:t>closed since January 2025</a:t>
            </a:r>
            <a:endParaRPr lang="en-US" sz="690" dirty="0"/>
          </a:p>
        </p:txBody>
      </p:sp>
      <p:sp>
        <p:nvSpPr>
          <p:cNvPr id="30" name="Text 29"/>
          <p:cNvSpPr txBox="1"/>
          <p:nvPr/>
        </p:nvSpPr>
        <p:spPr>
          <a:xfrm>
            <a:off x="666750" y="6548438"/>
            <a:ext cx="270570" cy="200025"/>
          </a:xfrm>
          <a:prstGeom prst="rect">
            <a:avLst/>
          </a:prstGeom>
          <a:noFill/>
          <a:ln/>
        </p:spPr>
        <p:txBody>
          <a:bodyPr wrap="none" lIns="0" tIns="0" rIns="0" bIns="0" rtlCol="0" anchor="t"/>
          <a:lstStyle/>
          <a:p>
            <a:pPr marL="0" indent="0" algn="l">
              <a:lnSpc>
                <a:spcPts val="1575"/>
              </a:lnSpc>
              <a:buNone/>
            </a:pPr>
            <a:r>
              <a:rPr lang="en-US" sz="1350" kern="0" spc="15" dirty="0">
                <a:solidFill>
                  <a:srgbClr val="D3AE84"/>
                </a:solidFill>
                <a:latin typeface="Newsreader SemiBold" pitchFamily="34" charset="0"/>
              </a:rPr>
              <a:t>27</a:t>
            </a:r>
            <a:endParaRPr lang="en-US" sz="1350" dirty="0"/>
          </a:p>
        </p:txBody>
      </p:sp>
      <p:sp>
        <p:nvSpPr>
          <p:cNvPr id="31" name="Text 30"/>
          <p:cNvSpPr txBox="1"/>
          <p:nvPr/>
        </p:nvSpPr>
        <p:spPr>
          <a:xfrm>
            <a:off x="962025" y="6596063"/>
            <a:ext cx="807541" cy="114300"/>
          </a:xfrm>
          <a:prstGeom prst="rect">
            <a:avLst/>
          </a:prstGeom>
          <a:noFill/>
          <a:ln/>
        </p:spPr>
        <p:txBody>
          <a:bodyPr wrap="none" lIns="0" tIns="0" rIns="0" bIns="0" rtlCol="0" anchor="t"/>
          <a:lstStyle/>
          <a:p>
            <a:pPr marL="0" indent="0" algn="l">
              <a:lnSpc>
                <a:spcPts val="900"/>
              </a:lnSpc>
              <a:buNone/>
            </a:pPr>
            <a:r>
              <a:rPr lang="en-US" sz="690" kern="0" spc="15" dirty="0">
                <a:solidFill>
                  <a:srgbClr val="E8E2DA"/>
                </a:solidFill>
                <a:latin typeface="Quicksand" pitchFamily="34" charset="0"/>
              </a:rPr>
              <a:t>live engagements</a:t>
            </a:r>
            <a:endParaRPr lang="en-US" sz="690" dirty="0"/>
          </a:p>
        </p:txBody>
      </p:sp>
      <p:sp>
        <p:nvSpPr>
          <p:cNvPr id="32" name="Shape 31"/>
          <p:cNvSpPr/>
          <p:nvPr/>
        </p:nvSpPr>
        <p:spPr>
          <a:xfrm>
            <a:off x="2757488" y="1238250"/>
            <a:ext cx="2205038" cy="5695950"/>
          </a:xfrm>
          <a:prstGeom prst="rect">
            <a:avLst/>
          </a:prstGeom>
          <a:solidFill>
            <a:srgbClr val="FAF7F3"/>
          </a:solidFill>
          <a:ln/>
        </p:spPr>
        <p:txBody>
          <a:bodyPr/>
          <a:lstStyle/>
          <a:p>
            <a:endParaRPr lang="en-US"/>
          </a:p>
        </p:txBody>
      </p:sp>
      <p:sp>
        <p:nvSpPr>
          <p:cNvPr id="33" name="Shape 32"/>
          <p:cNvSpPr/>
          <p:nvPr/>
        </p:nvSpPr>
        <p:spPr>
          <a:xfrm>
            <a:off x="2757488" y="1238250"/>
            <a:ext cx="2205038" cy="28575"/>
          </a:xfrm>
          <a:prstGeom prst="rect">
            <a:avLst/>
          </a:prstGeom>
          <a:solidFill>
            <a:srgbClr val="B68757"/>
          </a:solidFill>
          <a:ln/>
        </p:spPr>
        <p:txBody>
          <a:bodyPr/>
          <a:lstStyle/>
          <a:p>
            <a:endParaRPr lang="en-US"/>
          </a:p>
        </p:txBody>
      </p:sp>
      <p:pic>
        <p:nvPicPr>
          <p:cNvPr id="34" name="Cosmetics on a retail display" descr="Cosmetics on a retail display"/>
          <p:cNvPicPr>
            <a:picLocks noChangeAspect="1"/>
          </p:cNvPicPr>
          <p:nvPr/>
        </p:nvPicPr>
        <p:blipFill>
          <a:blip r:embed="rId10"/>
          <a:stretch>
            <a:fillRect/>
          </a:stretch>
        </p:blipFill>
        <p:spPr>
          <a:xfrm>
            <a:off x="2757488" y="1266825"/>
            <a:ext cx="2205038" cy="609600"/>
          </a:xfrm>
          <a:prstGeom prst="rect">
            <a:avLst/>
          </a:prstGeom>
        </p:spPr>
      </p:pic>
      <p:sp>
        <p:nvSpPr>
          <p:cNvPr id="35" name="Dot 34"/>
          <p:cNvSpPr/>
          <p:nvPr/>
        </p:nvSpPr>
        <p:spPr>
          <a:xfrm>
            <a:off x="2890838" y="1990725"/>
            <a:ext cx="285750" cy="285750"/>
          </a:xfrm>
          <a:prstGeom prst="ellipse">
            <a:avLst/>
          </a:prstGeom>
          <a:solidFill>
            <a:srgbClr val="1B1A1A"/>
          </a:solidFill>
          <a:ln/>
        </p:spPr>
        <p:txBody>
          <a:bodyPr/>
          <a:lstStyle/>
          <a:p>
            <a:endParaRPr lang="en-US"/>
          </a:p>
        </p:txBody>
      </p:sp>
      <p:pic>
        <p:nvPicPr>
          <p:cNvPr id="36" name="Icon" descr="/tmp/claude-0/-home-claude-about/4bef2f41-4227-5ff7-ab18-11ac74cd9797/scratchpad/pptx/ex/media/60d9d56b60f3.png"/>
          <p:cNvPicPr>
            <a:picLocks noChangeAspect="1"/>
          </p:cNvPicPr>
          <p:nvPr/>
        </p:nvPicPr>
        <p:blipFill>
          <a:blip r:embed="rId11"/>
          <a:stretch>
            <a:fillRect/>
          </a:stretch>
        </p:blipFill>
        <p:spPr>
          <a:xfrm>
            <a:off x="2957513" y="2057400"/>
            <a:ext cx="152400" cy="152400"/>
          </a:xfrm>
          <a:prstGeom prst="rect">
            <a:avLst/>
          </a:prstGeom>
        </p:spPr>
      </p:pic>
      <p:sp>
        <p:nvSpPr>
          <p:cNvPr id="37" name="Text 36"/>
          <p:cNvSpPr txBox="1"/>
          <p:nvPr/>
        </p:nvSpPr>
        <p:spPr>
          <a:xfrm>
            <a:off x="3262313" y="1981200"/>
            <a:ext cx="1581150" cy="304800"/>
          </a:xfrm>
          <a:prstGeom prst="rect">
            <a:avLst/>
          </a:prstGeom>
          <a:noFill/>
          <a:ln/>
        </p:spPr>
        <p:txBody>
          <a:bodyPr wrap="square" lIns="0" tIns="0" rIns="0" bIns="0" rtlCol="0" anchor="t"/>
          <a:lstStyle/>
          <a:p>
            <a:pPr marL="0" indent="0" algn="l">
              <a:lnSpc>
                <a:spcPts val="1200"/>
              </a:lnSpc>
              <a:buNone/>
            </a:pPr>
            <a:r>
              <a:rPr lang="en-US" sz="938" b="1" kern="0" spc="15" dirty="0">
                <a:solidFill>
                  <a:srgbClr val="1B1A1A"/>
                </a:solidFill>
                <a:latin typeface="Quicksand" pitchFamily="34" charset="0"/>
              </a:rPr>
              <a:t>Consumer Brands &amp; Products</a:t>
            </a:r>
            <a:endParaRPr lang="en-US" sz="938" dirty="0"/>
          </a:p>
        </p:txBody>
      </p:sp>
      <p:sp>
        <p:nvSpPr>
          <p:cNvPr id="38" name="Text 37"/>
          <p:cNvSpPr txBox="1"/>
          <p:nvPr/>
        </p:nvSpPr>
        <p:spPr>
          <a:xfrm>
            <a:off x="2890838" y="2366963"/>
            <a:ext cx="433536" cy="285750"/>
          </a:xfrm>
          <a:prstGeom prst="rect">
            <a:avLst/>
          </a:prstGeom>
          <a:noFill/>
          <a:ln/>
        </p:spPr>
        <p:txBody>
          <a:bodyPr wrap="none" lIns="0" tIns="0" rIns="0" bIns="0" rtlCol="0" anchor="t"/>
          <a:lstStyle/>
          <a:p>
            <a:pPr marL="0" indent="0" algn="l">
              <a:lnSpc>
                <a:spcPts val="2250"/>
              </a:lnSpc>
              <a:buNone/>
            </a:pPr>
            <a:r>
              <a:rPr lang="en-US" sz="2025" kern="0" spc="15" dirty="0">
                <a:solidFill>
                  <a:srgbClr val="8C6239"/>
                </a:solidFill>
                <a:latin typeface="Newsreader SemiBold" pitchFamily="34" charset="0"/>
              </a:rPr>
              <a:t>7%</a:t>
            </a:r>
            <a:endParaRPr lang="en-US" sz="2025" dirty="0"/>
          </a:p>
        </p:txBody>
      </p:sp>
      <p:sp>
        <p:nvSpPr>
          <p:cNvPr id="39" name="Text 38"/>
          <p:cNvSpPr txBox="1"/>
          <p:nvPr/>
        </p:nvSpPr>
        <p:spPr>
          <a:xfrm>
            <a:off x="3362474" y="2478881"/>
            <a:ext cx="1480989" cy="357188"/>
          </a:xfrm>
          <a:prstGeom prst="rect">
            <a:avLst/>
          </a:prstGeom>
          <a:noFill/>
          <a:ln/>
        </p:spPr>
        <p:txBody>
          <a:bodyPr wrap="square" lIns="0" tIns="0" rIns="0" bIns="0" rtlCol="0" anchor="t"/>
          <a:lstStyle/>
          <a:p>
            <a:pPr marL="0" indent="0" algn="l">
              <a:lnSpc>
                <a:spcPts val="938"/>
              </a:lnSpc>
              <a:buNone/>
            </a:pPr>
            <a:r>
              <a:rPr lang="en-US" sz="675" kern="0" spc="15" dirty="0">
                <a:solidFill>
                  <a:srgbClr val="6F6A66"/>
                </a:solidFill>
                <a:latin typeface="Quicksand" pitchFamily="34" charset="0"/>
              </a:rPr>
              <a:t>Growth in both prestige and mass beauty sales in the first half of 2026</a:t>
            </a:r>
            <a:endParaRPr lang="en-US" sz="675" dirty="0"/>
          </a:p>
        </p:txBody>
      </p:sp>
      <p:sp>
        <p:nvSpPr>
          <p:cNvPr id="40" name="Shape 39"/>
          <p:cNvSpPr/>
          <p:nvPr/>
        </p:nvSpPr>
        <p:spPr>
          <a:xfrm>
            <a:off x="2890838" y="2890838"/>
            <a:ext cx="1938337" cy="9525"/>
          </a:xfrm>
          <a:prstGeom prst="rect">
            <a:avLst/>
          </a:prstGeom>
          <a:solidFill>
            <a:srgbClr val="E3DCD3"/>
          </a:solidFill>
          <a:ln/>
        </p:spPr>
        <p:txBody>
          <a:bodyPr/>
          <a:lstStyle/>
          <a:p>
            <a:endParaRPr lang="en-US"/>
          </a:p>
        </p:txBody>
      </p:sp>
      <p:sp>
        <p:nvSpPr>
          <p:cNvPr id="41" name="Shape 40"/>
          <p:cNvSpPr/>
          <p:nvPr/>
        </p:nvSpPr>
        <p:spPr>
          <a:xfrm>
            <a:off x="2890838" y="3033713"/>
            <a:ext cx="47625" cy="47625"/>
          </a:xfrm>
          <a:prstGeom prst="rect">
            <a:avLst/>
          </a:prstGeom>
          <a:solidFill>
            <a:srgbClr val="B68757"/>
          </a:solidFill>
          <a:ln/>
        </p:spPr>
        <p:txBody>
          <a:bodyPr/>
          <a:lstStyle/>
          <a:p>
            <a:endParaRPr lang="en-US"/>
          </a:p>
        </p:txBody>
      </p:sp>
      <p:sp>
        <p:nvSpPr>
          <p:cNvPr id="42" name="Text 41"/>
          <p:cNvSpPr txBox="1"/>
          <p:nvPr/>
        </p:nvSpPr>
        <p:spPr>
          <a:xfrm>
            <a:off x="3014663" y="2979896"/>
            <a:ext cx="1828800" cy="817096"/>
          </a:xfrm>
          <a:prstGeom prst="rect">
            <a:avLst/>
          </a:prstGeom>
          <a:noFill/>
          <a:ln/>
        </p:spPr>
        <p:txBody>
          <a:bodyPr wrap="square" lIns="0" tIns="0" rIns="0" bIns="0" rtlCol="0" anchor="t"/>
          <a:lstStyle/>
          <a:p>
            <a:pPr marL="0" indent="0" algn="l">
              <a:lnSpc>
                <a:spcPts val="1073"/>
              </a:lnSpc>
              <a:buNone/>
            </a:pPr>
            <a:r>
              <a:rPr lang="en-US" sz="757" kern="0" spc="15" dirty="0">
                <a:solidFill>
                  <a:srgbClr val="333231"/>
                </a:solidFill>
                <a:latin typeface="Quicksand" pitchFamily="34" charset="0"/>
              </a:rPr>
              <a:t>Beauty, personal care, over-the-counter health and pet products drew a large share of this year’s brand acquisitions, and beauty and pet spending are still growing (</a:t>
            </a:r>
            <a:r>
              <a:rPr lang="en-US" sz="757" u="sng" kern="0" spc="15" dirty="0">
                <a:solidFill>
                  <a:srgbClr val="8C6239"/>
                </a:solidFill>
                <a:latin typeface="Quicksand" pitchFamily="34" charset="0"/>
                <a:hlinkClick r:id="rId12">
                  <a:extLst>
                    <a:ext uri="{A12FA001-AC4F-418D-AE19-62706E023703}">
                      <ahyp:hlinkClr xmlns:ahyp="http://schemas.microsoft.com/office/drawing/2018/hyperlinkcolor" val="tx"/>
                    </a:ext>
                  </a:extLst>
                </a:hlinkClick>
              </a:rPr>
              <a:t>Circana</a:t>
            </a:r>
            <a:r>
              <a:rPr lang="en-US" sz="757" kern="0" spc="15" dirty="0">
                <a:solidFill>
                  <a:srgbClr val="333231"/>
                </a:solidFill>
                <a:latin typeface="Quicksand" pitchFamily="34" charset="0"/>
              </a:rPr>
              <a:t>; </a:t>
            </a:r>
            <a:r>
              <a:rPr lang="en-US" sz="757" u="sng" kern="0" spc="15" dirty="0">
                <a:solidFill>
                  <a:srgbClr val="8C6239"/>
                </a:solidFill>
                <a:latin typeface="Quicksand" pitchFamily="34" charset="0"/>
                <a:hlinkClick r:id="rId13">
                  <a:extLst>
                    <a:ext uri="{A12FA001-AC4F-418D-AE19-62706E023703}">
                      <ahyp:hlinkClr xmlns:ahyp="http://schemas.microsoft.com/office/drawing/2018/hyperlinkcolor" val="tx"/>
                    </a:ext>
                  </a:extLst>
                </a:hlinkClick>
              </a:rPr>
              <a:t>American Pet Products Association</a:t>
            </a:r>
            <a:r>
              <a:rPr lang="en-US" sz="757" kern="0" spc="15" dirty="0">
                <a:solidFill>
                  <a:srgbClr val="333231"/>
                </a:solidFill>
                <a:latin typeface="Quicksand" pitchFamily="34" charset="0"/>
              </a:rPr>
              <a:t>).</a:t>
            </a:r>
            <a:endParaRPr lang="en-US" sz="757" dirty="0"/>
          </a:p>
        </p:txBody>
      </p:sp>
      <p:sp>
        <p:nvSpPr>
          <p:cNvPr id="43" name="Shape 42"/>
          <p:cNvSpPr/>
          <p:nvPr/>
        </p:nvSpPr>
        <p:spPr>
          <a:xfrm>
            <a:off x="2890838" y="3917454"/>
            <a:ext cx="47625" cy="47625"/>
          </a:xfrm>
          <a:prstGeom prst="rect">
            <a:avLst/>
          </a:prstGeom>
          <a:solidFill>
            <a:srgbClr val="B68757"/>
          </a:solidFill>
          <a:ln/>
        </p:spPr>
        <p:txBody>
          <a:bodyPr/>
          <a:lstStyle/>
          <a:p>
            <a:endParaRPr lang="en-US"/>
          </a:p>
        </p:txBody>
      </p:sp>
      <p:sp>
        <p:nvSpPr>
          <p:cNvPr id="44" name="Text 43"/>
          <p:cNvSpPr txBox="1"/>
          <p:nvPr/>
        </p:nvSpPr>
        <p:spPr>
          <a:xfrm>
            <a:off x="3014663" y="3863638"/>
            <a:ext cx="1828800" cy="544741"/>
          </a:xfrm>
          <a:prstGeom prst="rect">
            <a:avLst/>
          </a:prstGeom>
          <a:noFill/>
          <a:ln/>
        </p:spPr>
        <p:txBody>
          <a:bodyPr wrap="square" lIns="0" tIns="0" rIns="0" bIns="0" rtlCol="0" anchor="t"/>
          <a:lstStyle/>
          <a:p>
            <a:pPr marL="0" indent="0" algn="l">
              <a:lnSpc>
                <a:spcPts val="1073"/>
              </a:lnSpc>
              <a:buNone/>
            </a:pPr>
            <a:r>
              <a:rPr lang="en-US" sz="757" kern="0" spc="15" dirty="0">
                <a:solidFill>
                  <a:srgbClr val="333231"/>
                </a:solidFill>
                <a:latin typeface="Quicksand" pitchFamily="34" charset="0"/>
              </a:rPr>
              <a:t>Dollar growth overstates unit demand: non-edible packaged goods rose 3.1% in dollars and fell 2.2% in units in June (</a:t>
            </a:r>
            <a:r>
              <a:rPr lang="en-US" sz="757" u="sng" kern="0" spc="15" dirty="0">
                <a:solidFill>
                  <a:srgbClr val="8C6239"/>
                </a:solidFill>
                <a:latin typeface="Quicksand" pitchFamily="34" charset="0"/>
                <a:hlinkClick r:id="rId14">
                  <a:extLst>
                    <a:ext uri="{A12FA001-AC4F-418D-AE19-62706E023703}">
                      <ahyp:hlinkClr xmlns:ahyp="http://schemas.microsoft.com/office/drawing/2018/hyperlinkcolor" val="tx"/>
                    </a:ext>
                  </a:extLst>
                </a:hlinkClick>
              </a:rPr>
              <a:t>Circana</a:t>
            </a:r>
            <a:r>
              <a:rPr lang="en-US" sz="757" kern="0" spc="15" dirty="0">
                <a:solidFill>
                  <a:srgbClr val="333231"/>
                </a:solidFill>
                <a:latin typeface="Quicksand" pitchFamily="34" charset="0"/>
              </a:rPr>
              <a:t>).</a:t>
            </a:r>
            <a:endParaRPr lang="en-US" sz="757" dirty="0"/>
          </a:p>
        </p:txBody>
      </p:sp>
      <p:sp>
        <p:nvSpPr>
          <p:cNvPr id="45" name="Shape 44"/>
          <p:cNvSpPr/>
          <p:nvPr/>
        </p:nvSpPr>
        <p:spPr>
          <a:xfrm>
            <a:off x="2890838" y="4528840"/>
            <a:ext cx="47625" cy="47625"/>
          </a:xfrm>
          <a:prstGeom prst="rect">
            <a:avLst/>
          </a:prstGeom>
          <a:solidFill>
            <a:srgbClr val="B68757"/>
          </a:solidFill>
          <a:ln/>
        </p:spPr>
        <p:txBody>
          <a:bodyPr/>
          <a:lstStyle/>
          <a:p>
            <a:endParaRPr lang="en-US"/>
          </a:p>
        </p:txBody>
      </p:sp>
      <p:sp>
        <p:nvSpPr>
          <p:cNvPr id="46" name="Text 45"/>
          <p:cNvSpPr txBox="1"/>
          <p:nvPr/>
        </p:nvSpPr>
        <p:spPr>
          <a:xfrm>
            <a:off x="3014663" y="4475024"/>
            <a:ext cx="1828800" cy="544741"/>
          </a:xfrm>
          <a:prstGeom prst="rect">
            <a:avLst/>
          </a:prstGeom>
          <a:noFill/>
          <a:ln/>
        </p:spPr>
        <p:txBody>
          <a:bodyPr wrap="square" lIns="0" tIns="0" rIns="0" bIns="0" rtlCol="0" anchor="t"/>
          <a:lstStyle/>
          <a:p>
            <a:pPr marL="0" indent="0" algn="l">
              <a:lnSpc>
                <a:spcPts val="1073"/>
              </a:lnSpc>
              <a:buNone/>
            </a:pPr>
            <a:r>
              <a:rPr lang="en-US" sz="757" kern="0" spc="15" dirty="0">
                <a:solidFill>
                  <a:srgbClr val="333231"/>
                </a:solidFill>
                <a:latin typeface="Quicksand" pitchFamily="34" charset="0"/>
              </a:rPr>
              <a:t>Importers have carried three tariff regimes since April 2025, and packaging producer-responsibility rules </a:t>
            </a:r>
            <a:r>
              <a:rPr lang="en-US" sz="757" u="sng" kern="0" spc="15" dirty="0">
                <a:solidFill>
                  <a:srgbClr val="8C6239"/>
                </a:solidFill>
                <a:latin typeface="Quicksand" pitchFamily="34" charset="0"/>
                <a:hlinkClick r:id="rId15">
                  <a:extLst>
                    <a:ext uri="{A12FA001-AC4F-418D-AE19-62706E023703}">
                      <ahyp:hlinkClr xmlns:ahyp="http://schemas.microsoft.com/office/drawing/2018/hyperlinkcolor" val="tx"/>
                    </a:ext>
                  </a:extLst>
                </a:hlinkClick>
              </a:rPr>
              <a:t>took effect in California</a:t>
            </a:r>
            <a:r>
              <a:rPr lang="en-US" sz="757" kern="0" spc="15" dirty="0">
                <a:solidFill>
                  <a:srgbClr val="333231"/>
                </a:solidFill>
                <a:latin typeface="Quicksand" pitchFamily="34" charset="0"/>
              </a:rPr>
              <a:t> on May 1.</a:t>
            </a:r>
            <a:endParaRPr lang="en-US" sz="757" dirty="0"/>
          </a:p>
        </p:txBody>
      </p:sp>
      <p:sp>
        <p:nvSpPr>
          <p:cNvPr id="47" name="Text 46"/>
          <p:cNvSpPr txBox="1"/>
          <p:nvPr/>
        </p:nvSpPr>
        <p:spPr>
          <a:xfrm>
            <a:off x="2890838" y="5276999"/>
            <a:ext cx="1938337" cy="114300"/>
          </a:xfrm>
          <a:prstGeom prst="rect">
            <a:avLst/>
          </a:prstGeom>
          <a:noFill/>
          <a:ln/>
        </p:spPr>
        <p:txBody>
          <a:bodyPr wrap="none" lIns="0" tIns="0" rIns="0" bIns="0" rtlCol="0" anchor="t"/>
          <a:lstStyle/>
          <a:p>
            <a:pPr marL="0" indent="0" algn="l">
              <a:lnSpc>
                <a:spcPts val="900"/>
              </a:lnSpc>
              <a:buNone/>
            </a:pPr>
            <a:r>
              <a:rPr lang="en-US" sz="615" b="1" kern="0" spc="135" dirty="0">
                <a:solidFill>
                  <a:srgbClr val="8C6239"/>
                </a:solidFill>
                <a:latin typeface="Quicksand" pitchFamily="34" charset="0"/>
              </a:rPr>
              <a:t>WHO IS BUYING</a:t>
            </a:r>
            <a:endParaRPr lang="en-US" sz="615" dirty="0"/>
          </a:p>
        </p:txBody>
      </p:sp>
      <p:sp>
        <p:nvSpPr>
          <p:cNvPr id="48" name="Text 47"/>
          <p:cNvSpPr txBox="1"/>
          <p:nvPr/>
        </p:nvSpPr>
        <p:spPr>
          <a:xfrm>
            <a:off x="2890838" y="5411301"/>
            <a:ext cx="1952625" cy="657106"/>
          </a:xfrm>
          <a:prstGeom prst="rect">
            <a:avLst/>
          </a:prstGeom>
          <a:noFill/>
          <a:ln/>
        </p:spPr>
        <p:txBody>
          <a:bodyPr wrap="square" lIns="0" tIns="0" rIns="0" bIns="0" rtlCol="0" anchor="t"/>
          <a:lstStyle/>
          <a:p>
            <a:pPr marL="0" indent="0" algn="l">
              <a:lnSpc>
                <a:spcPts val="1035"/>
              </a:lnSpc>
              <a:buNone/>
            </a:pPr>
            <a:r>
              <a:rPr lang="en-US" sz="735" kern="0" spc="15" dirty="0">
                <a:solidFill>
                  <a:srgbClr val="333231"/>
                </a:solidFill>
                <a:latin typeface="Quicksand" pitchFamily="34" charset="0"/>
              </a:rPr>
              <a:t>Strategics such as Procter &amp; Gamble, Clorox and Henkel, consumer private equity firms such as Advent, TSG and TowerBrook, and brand-management firms.</a:t>
            </a:r>
            <a:endParaRPr lang="en-US" sz="735" dirty="0"/>
          </a:p>
        </p:txBody>
      </p:sp>
      <p:sp>
        <p:nvSpPr>
          <p:cNvPr id="49" name="Shape 48"/>
          <p:cNvSpPr/>
          <p:nvPr/>
        </p:nvSpPr>
        <p:spPr>
          <a:xfrm>
            <a:off x="2890838" y="6162675"/>
            <a:ext cx="1938337" cy="666750"/>
          </a:xfrm>
          <a:prstGeom prst="rect">
            <a:avLst/>
          </a:prstGeom>
          <a:solidFill>
            <a:srgbClr val="1B1A1A"/>
          </a:solidFill>
          <a:ln/>
        </p:spPr>
        <p:txBody>
          <a:bodyPr/>
          <a:lstStyle/>
          <a:p>
            <a:endParaRPr lang="en-US"/>
          </a:p>
        </p:txBody>
      </p:sp>
      <p:sp>
        <p:nvSpPr>
          <p:cNvPr id="50" name="Text 49"/>
          <p:cNvSpPr txBox="1"/>
          <p:nvPr/>
        </p:nvSpPr>
        <p:spPr>
          <a:xfrm>
            <a:off x="3005138" y="6224588"/>
            <a:ext cx="1709738" cy="104775"/>
          </a:xfrm>
          <a:prstGeom prst="rect">
            <a:avLst/>
          </a:prstGeom>
          <a:noFill/>
          <a:ln/>
        </p:spPr>
        <p:txBody>
          <a:bodyPr wrap="none" lIns="0" tIns="0" rIns="0" bIns="0" rtlCol="0" anchor="t"/>
          <a:lstStyle/>
          <a:p>
            <a:pPr marL="0" indent="0" algn="l">
              <a:lnSpc>
                <a:spcPts val="825"/>
              </a:lnSpc>
              <a:buNone/>
            </a:pPr>
            <a:r>
              <a:rPr lang="en-US" sz="585" b="1" kern="0" spc="135" dirty="0">
                <a:solidFill>
                  <a:srgbClr val="D3AE84"/>
                </a:solidFill>
                <a:latin typeface="Quicksand" pitchFamily="34" charset="0"/>
              </a:rPr>
              <a:t>BENCHMARK INTERNATIONAL</a:t>
            </a:r>
            <a:endParaRPr lang="en-US" sz="585" dirty="0"/>
          </a:p>
        </p:txBody>
      </p:sp>
      <p:sp>
        <p:nvSpPr>
          <p:cNvPr id="51" name="Text 50"/>
          <p:cNvSpPr txBox="1"/>
          <p:nvPr/>
        </p:nvSpPr>
        <p:spPr>
          <a:xfrm>
            <a:off x="3005138" y="6348413"/>
            <a:ext cx="228600" cy="200025"/>
          </a:xfrm>
          <a:prstGeom prst="rect">
            <a:avLst/>
          </a:prstGeom>
          <a:noFill/>
          <a:ln/>
        </p:spPr>
        <p:txBody>
          <a:bodyPr wrap="none" lIns="0" tIns="0" rIns="0" bIns="0" rtlCol="0" anchor="t"/>
          <a:lstStyle/>
          <a:p>
            <a:pPr marL="0" indent="0" algn="l">
              <a:lnSpc>
                <a:spcPts val="1575"/>
              </a:lnSpc>
              <a:buNone/>
            </a:pPr>
            <a:r>
              <a:rPr lang="en-US" sz="1350" kern="0" spc="15" dirty="0">
                <a:solidFill>
                  <a:srgbClr val="D3AE84"/>
                </a:solidFill>
                <a:latin typeface="Newsreader SemiBold" pitchFamily="34" charset="0"/>
              </a:rPr>
              <a:t>2</a:t>
            </a:r>
            <a:endParaRPr lang="en-US" sz="1350" dirty="0"/>
          </a:p>
        </p:txBody>
      </p:sp>
      <p:sp>
        <p:nvSpPr>
          <p:cNvPr id="52" name="Text 51"/>
          <p:cNvSpPr txBox="1"/>
          <p:nvPr/>
        </p:nvSpPr>
        <p:spPr>
          <a:xfrm>
            <a:off x="3300413" y="6396038"/>
            <a:ext cx="1179165" cy="114300"/>
          </a:xfrm>
          <a:prstGeom prst="rect">
            <a:avLst/>
          </a:prstGeom>
          <a:noFill/>
          <a:ln/>
        </p:spPr>
        <p:txBody>
          <a:bodyPr wrap="none" lIns="0" tIns="0" rIns="0" bIns="0" rtlCol="0" anchor="t"/>
          <a:lstStyle/>
          <a:p>
            <a:pPr marL="0" indent="0" algn="l">
              <a:lnSpc>
                <a:spcPts val="900"/>
              </a:lnSpc>
              <a:buNone/>
            </a:pPr>
            <a:r>
              <a:rPr lang="en-US" sz="690" kern="0" spc="15" dirty="0">
                <a:solidFill>
                  <a:srgbClr val="E8E2DA"/>
                </a:solidFill>
                <a:latin typeface="Quicksand" pitchFamily="34" charset="0"/>
              </a:rPr>
              <a:t>closed since January 2025</a:t>
            </a:r>
            <a:endParaRPr lang="en-US" sz="690" dirty="0"/>
          </a:p>
        </p:txBody>
      </p:sp>
      <p:sp>
        <p:nvSpPr>
          <p:cNvPr id="53" name="Text 52"/>
          <p:cNvSpPr txBox="1"/>
          <p:nvPr/>
        </p:nvSpPr>
        <p:spPr>
          <a:xfrm>
            <a:off x="3005138" y="6548438"/>
            <a:ext cx="270570" cy="200025"/>
          </a:xfrm>
          <a:prstGeom prst="rect">
            <a:avLst/>
          </a:prstGeom>
          <a:noFill/>
          <a:ln/>
        </p:spPr>
        <p:txBody>
          <a:bodyPr wrap="none" lIns="0" tIns="0" rIns="0" bIns="0" rtlCol="0" anchor="t"/>
          <a:lstStyle/>
          <a:p>
            <a:pPr marL="0" indent="0" algn="l">
              <a:lnSpc>
                <a:spcPts val="1575"/>
              </a:lnSpc>
              <a:buNone/>
            </a:pPr>
            <a:r>
              <a:rPr lang="en-US" sz="1350" kern="0" spc="15" dirty="0">
                <a:solidFill>
                  <a:srgbClr val="D3AE84"/>
                </a:solidFill>
                <a:latin typeface="Newsreader SemiBold" pitchFamily="34" charset="0"/>
              </a:rPr>
              <a:t>12</a:t>
            </a:r>
            <a:endParaRPr lang="en-US" sz="1350" dirty="0"/>
          </a:p>
        </p:txBody>
      </p:sp>
      <p:sp>
        <p:nvSpPr>
          <p:cNvPr id="54" name="Text 53"/>
          <p:cNvSpPr txBox="1"/>
          <p:nvPr/>
        </p:nvSpPr>
        <p:spPr>
          <a:xfrm>
            <a:off x="3300413" y="6596063"/>
            <a:ext cx="807541" cy="114300"/>
          </a:xfrm>
          <a:prstGeom prst="rect">
            <a:avLst/>
          </a:prstGeom>
          <a:noFill/>
          <a:ln/>
        </p:spPr>
        <p:txBody>
          <a:bodyPr wrap="none" lIns="0" tIns="0" rIns="0" bIns="0" rtlCol="0" anchor="t"/>
          <a:lstStyle/>
          <a:p>
            <a:pPr marL="0" indent="0" algn="l">
              <a:lnSpc>
                <a:spcPts val="900"/>
              </a:lnSpc>
              <a:buNone/>
            </a:pPr>
            <a:r>
              <a:rPr lang="en-US" sz="690" kern="0" spc="15" dirty="0">
                <a:solidFill>
                  <a:srgbClr val="E8E2DA"/>
                </a:solidFill>
                <a:latin typeface="Quicksand" pitchFamily="34" charset="0"/>
              </a:rPr>
              <a:t>live engagements</a:t>
            </a:r>
            <a:endParaRPr lang="en-US" sz="690" dirty="0"/>
          </a:p>
        </p:txBody>
      </p:sp>
      <p:sp>
        <p:nvSpPr>
          <p:cNvPr id="55" name="Shape 54"/>
          <p:cNvSpPr/>
          <p:nvPr/>
        </p:nvSpPr>
        <p:spPr>
          <a:xfrm>
            <a:off x="5095875" y="1238250"/>
            <a:ext cx="2205038" cy="5695950"/>
          </a:xfrm>
          <a:prstGeom prst="rect">
            <a:avLst/>
          </a:prstGeom>
          <a:solidFill>
            <a:srgbClr val="FAF7F3"/>
          </a:solidFill>
          <a:ln/>
        </p:spPr>
        <p:txBody>
          <a:bodyPr/>
          <a:lstStyle/>
          <a:p>
            <a:endParaRPr lang="en-US"/>
          </a:p>
        </p:txBody>
      </p:sp>
      <p:sp>
        <p:nvSpPr>
          <p:cNvPr id="56" name="Shape 55"/>
          <p:cNvSpPr/>
          <p:nvPr/>
        </p:nvSpPr>
        <p:spPr>
          <a:xfrm>
            <a:off x="5095875" y="1238250"/>
            <a:ext cx="2205038" cy="28575"/>
          </a:xfrm>
          <a:prstGeom prst="rect">
            <a:avLst/>
          </a:prstGeom>
          <a:solidFill>
            <a:srgbClr val="B68757"/>
          </a:solidFill>
          <a:ln/>
        </p:spPr>
        <p:txBody>
          <a:bodyPr/>
          <a:lstStyle/>
          <a:p>
            <a:endParaRPr lang="en-US"/>
          </a:p>
        </p:txBody>
      </p:sp>
      <p:pic>
        <p:nvPicPr>
          <p:cNvPr id="57" name="Glassware hanging above a bar" descr="Glassware hanging above a bar"/>
          <p:cNvPicPr>
            <a:picLocks noChangeAspect="1"/>
          </p:cNvPicPr>
          <p:nvPr/>
        </p:nvPicPr>
        <p:blipFill>
          <a:blip r:embed="rId16"/>
          <a:stretch>
            <a:fillRect/>
          </a:stretch>
        </p:blipFill>
        <p:spPr>
          <a:xfrm>
            <a:off x="5095875" y="1266825"/>
            <a:ext cx="2205038" cy="609600"/>
          </a:xfrm>
          <a:prstGeom prst="rect">
            <a:avLst/>
          </a:prstGeom>
        </p:spPr>
      </p:pic>
      <p:sp>
        <p:nvSpPr>
          <p:cNvPr id="58" name="Dot 57"/>
          <p:cNvSpPr/>
          <p:nvPr/>
        </p:nvSpPr>
        <p:spPr>
          <a:xfrm>
            <a:off x="5229225" y="1990725"/>
            <a:ext cx="285750" cy="285750"/>
          </a:xfrm>
          <a:prstGeom prst="ellipse">
            <a:avLst/>
          </a:prstGeom>
          <a:solidFill>
            <a:srgbClr val="1B1A1A"/>
          </a:solidFill>
          <a:ln/>
        </p:spPr>
        <p:txBody>
          <a:bodyPr/>
          <a:lstStyle/>
          <a:p>
            <a:endParaRPr lang="en-US"/>
          </a:p>
        </p:txBody>
      </p:sp>
      <p:pic>
        <p:nvPicPr>
          <p:cNvPr id="59" name="Icon" descr="/tmp/claude-0/-home-claude-about/4bef2f41-4227-5ff7-ab18-11ac74cd9797/scratchpad/pptx/ex/media/d87eae45b167.png"/>
          <p:cNvPicPr>
            <a:picLocks noChangeAspect="1"/>
          </p:cNvPicPr>
          <p:nvPr/>
        </p:nvPicPr>
        <p:blipFill>
          <a:blip r:embed="rId17"/>
          <a:stretch>
            <a:fillRect/>
          </a:stretch>
        </p:blipFill>
        <p:spPr>
          <a:xfrm>
            <a:off x="5295900" y="2057400"/>
            <a:ext cx="152400" cy="152400"/>
          </a:xfrm>
          <a:prstGeom prst="rect">
            <a:avLst/>
          </a:prstGeom>
        </p:spPr>
      </p:pic>
      <p:sp>
        <p:nvSpPr>
          <p:cNvPr id="60" name="Text 59"/>
          <p:cNvSpPr txBox="1"/>
          <p:nvPr/>
        </p:nvSpPr>
        <p:spPr>
          <a:xfrm>
            <a:off x="5600700" y="1981200"/>
            <a:ext cx="1581150" cy="304800"/>
          </a:xfrm>
          <a:prstGeom prst="rect">
            <a:avLst/>
          </a:prstGeom>
          <a:noFill/>
          <a:ln/>
        </p:spPr>
        <p:txBody>
          <a:bodyPr wrap="square" lIns="0" tIns="0" rIns="0" bIns="0" rtlCol="0" anchor="t"/>
          <a:lstStyle/>
          <a:p>
            <a:pPr marL="0" indent="0" algn="l">
              <a:lnSpc>
                <a:spcPts val="1200"/>
              </a:lnSpc>
              <a:buNone/>
            </a:pPr>
            <a:r>
              <a:rPr lang="en-US" sz="938" b="1" kern="0" spc="15" dirty="0">
                <a:solidFill>
                  <a:srgbClr val="1B1A1A"/>
                </a:solidFill>
                <a:latin typeface="Quicksand" pitchFamily="34" charset="0"/>
              </a:rPr>
              <a:t>Foodservice &amp; Distribution</a:t>
            </a:r>
            <a:endParaRPr lang="en-US" sz="938" dirty="0"/>
          </a:p>
        </p:txBody>
      </p:sp>
      <p:sp>
        <p:nvSpPr>
          <p:cNvPr id="61" name="Text 60"/>
          <p:cNvSpPr txBox="1"/>
          <p:nvPr/>
        </p:nvSpPr>
        <p:spPr>
          <a:xfrm>
            <a:off x="5229225" y="2366963"/>
            <a:ext cx="940594" cy="285750"/>
          </a:xfrm>
          <a:prstGeom prst="rect">
            <a:avLst/>
          </a:prstGeom>
          <a:noFill/>
          <a:ln/>
        </p:spPr>
        <p:txBody>
          <a:bodyPr wrap="none" lIns="0" tIns="0" rIns="0" bIns="0" rtlCol="0" anchor="t"/>
          <a:lstStyle/>
          <a:p>
            <a:pPr marL="0" indent="0" algn="l">
              <a:lnSpc>
                <a:spcPts val="2250"/>
              </a:lnSpc>
              <a:buNone/>
            </a:pPr>
            <a:r>
              <a:rPr lang="en-US" sz="2025" kern="0" spc="15" dirty="0">
                <a:solidFill>
                  <a:srgbClr val="8C6239"/>
                </a:solidFill>
                <a:latin typeface="Newsreader SemiBold" pitchFamily="34" charset="0"/>
              </a:rPr>
              <a:t>$1.55T</a:t>
            </a:r>
            <a:endParaRPr lang="en-US" sz="2025" dirty="0"/>
          </a:p>
        </p:txBody>
      </p:sp>
      <p:sp>
        <p:nvSpPr>
          <p:cNvPr id="62" name="Text 61"/>
          <p:cNvSpPr txBox="1"/>
          <p:nvPr/>
        </p:nvSpPr>
        <p:spPr>
          <a:xfrm>
            <a:off x="6207919" y="2478881"/>
            <a:ext cx="973931" cy="357188"/>
          </a:xfrm>
          <a:prstGeom prst="rect">
            <a:avLst/>
          </a:prstGeom>
          <a:noFill/>
          <a:ln/>
        </p:spPr>
        <p:txBody>
          <a:bodyPr wrap="square" lIns="0" tIns="0" rIns="0" bIns="0" rtlCol="0" anchor="t"/>
          <a:lstStyle/>
          <a:p>
            <a:pPr marL="0" indent="0" algn="l">
              <a:lnSpc>
                <a:spcPts val="938"/>
              </a:lnSpc>
              <a:buNone/>
            </a:pPr>
            <a:r>
              <a:rPr lang="en-US" sz="675" kern="0" spc="15" dirty="0">
                <a:solidFill>
                  <a:srgbClr val="6F6A66"/>
                </a:solidFill>
                <a:latin typeface="Quicksand" pitchFamily="34" charset="0"/>
              </a:rPr>
              <a:t>Restaurant and foodservice sales forecast for 2026</a:t>
            </a:r>
            <a:endParaRPr lang="en-US" sz="675" dirty="0"/>
          </a:p>
        </p:txBody>
      </p:sp>
      <p:sp>
        <p:nvSpPr>
          <p:cNvPr id="63" name="Shape 62"/>
          <p:cNvSpPr/>
          <p:nvPr/>
        </p:nvSpPr>
        <p:spPr>
          <a:xfrm>
            <a:off x="5229225" y="2890838"/>
            <a:ext cx="1938337" cy="9525"/>
          </a:xfrm>
          <a:prstGeom prst="rect">
            <a:avLst/>
          </a:prstGeom>
          <a:solidFill>
            <a:srgbClr val="E3DCD3"/>
          </a:solidFill>
          <a:ln/>
        </p:spPr>
        <p:txBody>
          <a:bodyPr/>
          <a:lstStyle/>
          <a:p>
            <a:endParaRPr lang="en-US"/>
          </a:p>
        </p:txBody>
      </p:sp>
      <p:sp>
        <p:nvSpPr>
          <p:cNvPr id="64" name="Shape 63"/>
          <p:cNvSpPr/>
          <p:nvPr/>
        </p:nvSpPr>
        <p:spPr>
          <a:xfrm>
            <a:off x="5229225" y="3033713"/>
            <a:ext cx="47625" cy="47625"/>
          </a:xfrm>
          <a:prstGeom prst="rect">
            <a:avLst/>
          </a:prstGeom>
          <a:solidFill>
            <a:srgbClr val="B68757"/>
          </a:solidFill>
          <a:ln/>
        </p:spPr>
        <p:txBody>
          <a:bodyPr/>
          <a:lstStyle/>
          <a:p>
            <a:endParaRPr lang="en-US"/>
          </a:p>
        </p:txBody>
      </p:sp>
      <p:sp>
        <p:nvSpPr>
          <p:cNvPr id="65" name="Text 64"/>
          <p:cNvSpPr txBox="1"/>
          <p:nvPr/>
        </p:nvSpPr>
        <p:spPr>
          <a:xfrm>
            <a:off x="5353050" y="2979896"/>
            <a:ext cx="1828800" cy="817096"/>
          </a:xfrm>
          <a:prstGeom prst="rect">
            <a:avLst/>
          </a:prstGeom>
          <a:noFill/>
          <a:ln/>
        </p:spPr>
        <p:txBody>
          <a:bodyPr wrap="square" lIns="0" tIns="0" rIns="0" bIns="0" rtlCol="0" anchor="t"/>
          <a:lstStyle/>
          <a:p>
            <a:pPr marL="0" indent="0" algn="l">
              <a:lnSpc>
                <a:spcPts val="1073"/>
              </a:lnSpc>
              <a:buNone/>
            </a:pPr>
            <a:r>
              <a:rPr lang="en-US" sz="757" kern="0" spc="15" dirty="0">
                <a:solidFill>
                  <a:srgbClr val="333231"/>
                </a:solidFill>
                <a:latin typeface="Quicksand" pitchFamily="34" charset="0"/>
              </a:rPr>
              <a:t>Operators are spending carefully: sales of equipment and supplies through manufacturers’ agents </a:t>
            </a:r>
            <a:r>
              <a:rPr lang="en-US" sz="757" u="sng" kern="0" spc="15" dirty="0">
                <a:solidFill>
                  <a:srgbClr val="8C6239"/>
                </a:solidFill>
                <a:latin typeface="Quicksand" pitchFamily="34" charset="0"/>
                <a:hlinkClick r:id="rId18">
                  <a:extLst>
                    <a:ext uri="{A12FA001-AC4F-418D-AE19-62706E023703}">
                      <ahyp:hlinkClr xmlns:ahyp="http://schemas.microsoft.com/office/drawing/2018/hyperlinkcolor" val="tx"/>
                    </a:ext>
                  </a:extLst>
                </a:hlinkClick>
              </a:rPr>
              <a:t>rose 2.0%</a:t>
            </a:r>
            <a:r>
              <a:rPr lang="en-US" sz="757" kern="0" spc="15" dirty="0">
                <a:solidFill>
                  <a:srgbClr val="333231"/>
                </a:solidFill>
                <a:latin typeface="Quicksand" pitchFamily="34" charset="0"/>
              </a:rPr>
              <a:t> in the second quarter, and the share of agents reporting more quoting fell to 33%.</a:t>
            </a:r>
            <a:endParaRPr lang="en-US" sz="757" dirty="0"/>
          </a:p>
        </p:txBody>
      </p:sp>
      <p:sp>
        <p:nvSpPr>
          <p:cNvPr id="66" name="Shape 65"/>
          <p:cNvSpPr/>
          <p:nvPr/>
        </p:nvSpPr>
        <p:spPr>
          <a:xfrm>
            <a:off x="5229225" y="3917454"/>
            <a:ext cx="47625" cy="47625"/>
          </a:xfrm>
          <a:prstGeom prst="rect">
            <a:avLst/>
          </a:prstGeom>
          <a:solidFill>
            <a:srgbClr val="B68757"/>
          </a:solidFill>
          <a:ln/>
        </p:spPr>
        <p:txBody>
          <a:bodyPr/>
          <a:lstStyle/>
          <a:p>
            <a:endParaRPr lang="en-US"/>
          </a:p>
        </p:txBody>
      </p:sp>
      <p:sp>
        <p:nvSpPr>
          <p:cNvPr id="67" name="Text 66"/>
          <p:cNvSpPr txBox="1"/>
          <p:nvPr/>
        </p:nvSpPr>
        <p:spPr>
          <a:xfrm>
            <a:off x="5353050" y="3863638"/>
            <a:ext cx="1828800" cy="680918"/>
          </a:xfrm>
          <a:prstGeom prst="rect">
            <a:avLst/>
          </a:prstGeom>
          <a:noFill/>
          <a:ln/>
        </p:spPr>
        <p:txBody>
          <a:bodyPr wrap="square" lIns="0" tIns="0" rIns="0" bIns="0" rtlCol="0" anchor="t"/>
          <a:lstStyle/>
          <a:p>
            <a:pPr marL="0" indent="0" algn="l">
              <a:lnSpc>
                <a:spcPts val="1073"/>
              </a:lnSpc>
              <a:buNone/>
            </a:pPr>
            <a:r>
              <a:rPr lang="en-US" sz="757" kern="0" spc="15" dirty="0">
                <a:solidFill>
                  <a:srgbClr val="333231"/>
                </a:solidFill>
                <a:latin typeface="Quicksand" pitchFamily="34" charset="0"/>
              </a:rPr>
              <a:t>Franchisee distress is the credit risk in the channel. A 314-unit Wendy’s franchisee </a:t>
            </a:r>
            <a:r>
              <a:rPr lang="en-US" sz="757" u="sng" kern="0" spc="15" dirty="0">
                <a:solidFill>
                  <a:srgbClr val="8C6239"/>
                </a:solidFill>
                <a:latin typeface="Quicksand" pitchFamily="34" charset="0"/>
                <a:hlinkClick r:id="rId19">
                  <a:extLst>
                    <a:ext uri="{A12FA001-AC4F-418D-AE19-62706E023703}">
                      <ahyp:hlinkClr xmlns:ahyp="http://schemas.microsoft.com/office/drawing/2018/hyperlinkcolor" val="tx"/>
                    </a:ext>
                  </a:extLst>
                </a:hlinkClick>
              </a:rPr>
              <a:t>filed for Chapter 11 in September</a:t>
            </a:r>
            <a:r>
              <a:rPr lang="en-US" sz="757" kern="0" spc="15" dirty="0">
                <a:solidFill>
                  <a:srgbClr val="333231"/>
                </a:solidFill>
                <a:latin typeface="Quicksand" pitchFamily="34" charset="0"/>
              </a:rPr>
              <a:t> after store-level EBITDA fell 48%.</a:t>
            </a:r>
            <a:endParaRPr lang="en-US" sz="757" dirty="0"/>
          </a:p>
        </p:txBody>
      </p:sp>
      <p:sp>
        <p:nvSpPr>
          <p:cNvPr id="68" name="Shape 67"/>
          <p:cNvSpPr/>
          <p:nvPr/>
        </p:nvSpPr>
        <p:spPr>
          <a:xfrm>
            <a:off x="5229225" y="4665018"/>
            <a:ext cx="47625" cy="47625"/>
          </a:xfrm>
          <a:prstGeom prst="rect">
            <a:avLst/>
          </a:prstGeom>
          <a:solidFill>
            <a:srgbClr val="B68757"/>
          </a:solidFill>
          <a:ln/>
        </p:spPr>
        <p:txBody>
          <a:bodyPr/>
          <a:lstStyle/>
          <a:p>
            <a:endParaRPr lang="en-US"/>
          </a:p>
        </p:txBody>
      </p:sp>
      <p:sp>
        <p:nvSpPr>
          <p:cNvPr id="69" name="Text 68"/>
          <p:cNvSpPr txBox="1"/>
          <p:nvPr/>
        </p:nvSpPr>
        <p:spPr>
          <a:xfrm>
            <a:off x="5353050" y="4611201"/>
            <a:ext cx="1828800" cy="408563"/>
          </a:xfrm>
          <a:prstGeom prst="rect">
            <a:avLst/>
          </a:prstGeom>
          <a:noFill/>
          <a:ln/>
        </p:spPr>
        <p:txBody>
          <a:bodyPr wrap="square" lIns="0" tIns="0" rIns="0" bIns="0" rtlCol="0" anchor="t"/>
          <a:lstStyle/>
          <a:p>
            <a:pPr marL="0" indent="0" algn="l">
              <a:lnSpc>
                <a:spcPts val="1073"/>
              </a:lnSpc>
              <a:buNone/>
            </a:pPr>
            <a:r>
              <a:rPr lang="en-US" sz="757" kern="0" spc="15" dirty="0">
                <a:solidFill>
                  <a:srgbClr val="333231"/>
                </a:solidFill>
                <a:latin typeface="Quicksand" pitchFamily="34" charset="0"/>
              </a:rPr>
              <a:t>Parts, repair, ice and refreshment route businesses changed hands all year (</a:t>
            </a:r>
            <a:r>
              <a:rPr lang="en-US" sz="757" u="sng" kern="0" spc="15" dirty="0">
                <a:solidFill>
                  <a:srgbClr val="8C6239"/>
                </a:solidFill>
                <a:latin typeface="Quicksand" pitchFamily="34" charset="0"/>
                <a:hlinkClick r:id="rId20">
                  <a:extLst>
                    <a:ext uri="{A12FA001-AC4F-418D-AE19-62706E023703}">
                      <ahyp:hlinkClr xmlns:ahyp="http://schemas.microsoft.com/office/drawing/2018/hyperlinkcolor" val="tx"/>
                    </a:ext>
                  </a:extLst>
                </a:hlinkClick>
              </a:rPr>
              <a:t>Parts Town</a:t>
            </a:r>
            <a:r>
              <a:rPr lang="en-US" sz="757" kern="0" spc="15" dirty="0">
                <a:solidFill>
                  <a:srgbClr val="333231"/>
                </a:solidFill>
                <a:latin typeface="Quicksand" pitchFamily="34" charset="0"/>
              </a:rPr>
              <a:t>; </a:t>
            </a:r>
            <a:r>
              <a:rPr lang="en-US" sz="757" u="sng" kern="0" spc="15" dirty="0">
                <a:solidFill>
                  <a:srgbClr val="8C6239"/>
                </a:solidFill>
                <a:latin typeface="Quicksand" pitchFamily="34" charset="0"/>
                <a:hlinkClick r:id="rId21">
                  <a:extLst>
                    <a:ext uri="{A12FA001-AC4F-418D-AE19-62706E023703}">
                      <ahyp:hlinkClr xmlns:ahyp="http://schemas.microsoft.com/office/drawing/2018/hyperlinkcolor" val="tx"/>
                    </a:ext>
                  </a:extLst>
                </a:hlinkClick>
              </a:rPr>
              <a:t>Easy Ice</a:t>
            </a:r>
            <a:r>
              <a:rPr lang="en-US" sz="757" kern="0" spc="15" dirty="0">
                <a:solidFill>
                  <a:srgbClr val="333231"/>
                </a:solidFill>
                <a:latin typeface="Quicksand" pitchFamily="34" charset="0"/>
              </a:rPr>
              <a:t>).</a:t>
            </a:r>
            <a:endParaRPr lang="en-US" sz="757" dirty="0"/>
          </a:p>
        </p:txBody>
      </p:sp>
      <p:sp>
        <p:nvSpPr>
          <p:cNvPr id="70" name="Text 69"/>
          <p:cNvSpPr txBox="1"/>
          <p:nvPr/>
        </p:nvSpPr>
        <p:spPr>
          <a:xfrm>
            <a:off x="5229225" y="5276999"/>
            <a:ext cx="1938337" cy="114300"/>
          </a:xfrm>
          <a:prstGeom prst="rect">
            <a:avLst/>
          </a:prstGeom>
          <a:noFill/>
          <a:ln/>
        </p:spPr>
        <p:txBody>
          <a:bodyPr wrap="none" lIns="0" tIns="0" rIns="0" bIns="0" rtlCol="0" anchor="t"/>
          <a:lstStyle/>
          <a:p>
            <a:pPr marL="0" indent="0" algn="l">
              <a:lnSpc>
                <a:spcPts val="900"/>
              </a:lnSpc>
              <a:buNone/>
            </a:pPr>
            <a:r>
              <a:rPr lang="en-US" sz="615" b="1" kern="0" spc="135" dirty="0">
                <a:solidFill>
                  <a:srgbClr val="8C6239"/>
                </a:solidFill>
                <a:latin typeface="Quicksand" pitchFamily="34" charset="0"/>
              </a:rPr>
              <a:t>WHO IS BUYING</a:t>
            </a:r>
            <a:endParaRPr lang="en-US" sz="615" dirty="0"/>
          </a:p>
        </p:txBody>
      </p:sp>
      <p:sp>
        <p:nvSpPr>
          <p:cNvPr id="71" name="Text 70"/>
          <p:cNvSpPr txBox="1"/>
          <p:nvPr/>
        </p:nvSpPr>
        <p:spPr>
          <a:xfrm>
            <a:off x="5229225" y="5411301"/>
            <a:ext cx="1952625" cy="657106"/>
          </a:xfrm>
          <a:prstGeom prst="rect">
            <a:avLst/>
          </a:prstGeom>
          <a:noFill/>
          <a:ln/>
        </p:spPr>
        <p:txBody>
          <a:bodyPr wrap="square" lIns="0" tIns="0" rIns="0" bIns="0" rtlCol="0" anchor="t"/>
          <a:lstStyle/>
          <a:p>
            <a:pPr marL="0" indent="0" algn="l">
              <a:lnSpc>
                <a:spcPts val="1035"/>
              </a:lnSpc>
              <a:buNone/>
            </a:pPr>
            <a:r>
              <a:rPr lang="en-US" sz="735" kern="0" spc="15" dirty="0">
                <a:solidFill>
                  <a:srgbClr val="333231"/>
                </a:solidFill>
                <a:latin typeface="Quicksand" pitchFamily="34" charset="0"/>
              </a:rPr>
              <a:t>Strategic dealers such as Singer and Wasserstrom, parts and service platforms such as Parts Town and Tech24, and route platforms such as Five Star Breaktime Solutions.</a:t>
            </a:r>
            <a:endParaRPr lang="en-US" sz="735" dirty="0"/>
          </a:p>
        </p:txBody>
      </p:sp>
      <p:sp>
        <p:nvSpPr>
          <p:cNvPr id="72" name="Shape 71"/>
          <p:cNvSpPr/>
          <p:nvPr/>
        </p:nvSpPr>
        <p:spPr>
          <a:xfrm>
            <a:off x="5229225" y="6162675"/>
            <a:ext cx="1938337" cy="666750"/>
          </a:xfrm>
          <a:prstGeom prst="rect">
            <a:avLst/>
          </a:prstGeom>
          <a:solidFill>
            <a:srgbClr val="1B1A1A"/>
          </a:solidFill>
          <a:ln/>
        </p:spPr>
        <p:txBody>
          <a:bodyPr/>
          <a:lstStyle/>
          <a:p>
            <a:endParaRPr lang="en-US"/>
          </a:p>
        </p:txBody>
      </p:sp>
      <p:sp>
        <p:nvSpPr>
          <p:cNvPr id="73" name="Text 72"/>
          <p:cNvSpPr txBox="1"/>
          <p:nvPr/>
        </p:nvSpPr>
        <p:spPr>
          <a:xfrm>
            <a:off x="5343525" y="6224588"/>
            <a:ext cx="1709738" cy="104775"/>
          </a:xfrm>
          <a:prstGeom prst="rect">
            <a:avLst/>
          </a:prstGeom>
          <a:noFill/>
          <a:ln/>
        </p:spPr>
        <p:txBody>
          <a:bodyPr wrap="none" lIns="0" tIns="0" rIns="0" bIns="0" rtlCol="0" anchor="t"/>
          <a:lstStyle/>
          <a:p>
            <a:pPr marL="0" indent="0" algn="l">
              <a:lnSpc>
                <a:spcPts val="825"/>
              </a:lnSpc>
              <a:buNone/>
            </a:pPr>
            <a:r>
              <a:rPr lang="en-US" sz="585" b="1" kern="0" spc="135" dirty="0">
                <a:solidFill>
                  <a:srgbClr val="D3AE84"/>
                </a:solidFill>
                <a:latin typeface="Quicksand" pitchFamily="34" charset="0"/>
              </a:rPr>
              <a:t>BENCHMARK INTERNATIONAL</a:t>
            </a:r>
            <a:endParaRPr lang="en-US" sz="585" dirty="0"/>
          </a:p>
        </p:txBody>
      </p:sp>
      <p:sp>
        <p:nvSpPr>
          <p:cNvPr id="74" name="Text 73"/>
          <p:cNvSpPr txBox="1"/>
          <p:nvPr/>
        </p:nvSpPr>
        <p:spPr>
          <a:xfrm>
            <a:off x="5343525" y="6348413"/>
            <a:ext cx="228600" cy="200025"/>
          </a:xfrm>
          <a:prstGeom prst="rect">
            <a:avLst/>
          </a:prstGeom>
          <a:noFill/>
          <a:ln/>
        </p:spPr>
        <p:txBody>
          <a:bodyPr wrap="none" lIns="0" tIns="0" rIns="0" bIns="0" rtlCol="0" anchor="t"/>
          <a:lstStyle/>
          <a:p>
            <a:pPr marL="0" indent="0" algn="l">
              <a:lnSpc>
                <a:spcPts val="1575"/>
              </a:lnSpc>
              <a:buNone/>
            </a:pPr>
            <a:r>
              <a:rPr lang="en-US" sz="1350" kern="0" spc="15" dirty="0">
                <a:solidFill>
                  <a:srgbClr val="D3AE84"/>
                </a:solidFill>
                <a:latin typeface="Newsreader SemiBold" pitchFamily="34" charset="0"/>
              </a:rPr>
              <a:t>6</a:t>
            </a:r>
            <a:endParaRPr lang="en-US" sz="1350" dirty="0"/>
          </a:p>
        </p:txBody>
      </p:sp>
      <p:sp>
        <p:nvSpPr>
          <p:cNvPr id="75" name="Text 74"/>
          <p:cNvSpPr txBox="1"/>
          <p:nvPr/>
        </p:nvSpPr>
        <p:spPr>
          <a:xfrm>
            <a:off x="5638800" y="6396038"/>
            <a:ext cx="1179165" cy="114300"/>
          </a:xfrm>
          <a:prstGeom prst="rect">
            <a:avLst/>
          </a:prstGeom>
          <a:noFill/>
          <a:ln/>
        </p:spPr>
        <p:txBody>
          <a:bodyPr wrap="none" lIns="0" tIns="0" rIns="0" bIns="0" rtlCol="0" anchor="t"/>
          <a:lstStyle/>
          <a:p>
            <a:pPr marL="0" indent="0" algn="l">
              <a:lnSpc>
                <a:spcPts val="900"/>
              </a:lnSpc>
              <a:buNone/>
            </a:pPr>
            <a:r>
              <a:rPr lang="en-US" sz="690" kern="0" spc="15" dirty="0">
                <a:solidFill>
                  <a:srgbClr val="E8E2DA"/>
                </a:solidFill>
                <a:latin typeface="Quicksand" pitchFamily="34" charset="0"/>
              </a:rPr>
              <a:t>closed since January 2025</a:t>
            </a:r>
            <a:endParaRPr lang="en-US" sz="690" dirty="0"/>
          </a:p>
        </p:txBody>
      </p:sp>
      <p:sp>
        <p:nvSpPr>
          <p:cNvPr id="76" name="Text 75"/>
          <p:cNvSpPr txBox="1"/>
          <p:nvPr/>
        </p:nvSpPr>
        <p:spPr>
          <a:xfrm>
            <a:off x="5343525" y="6548438"/>
            <a:ext cx="228600" cy="200025"/>
          </a:xfrm>
          <a:prstGeom prst="rect">
            <a:avLst/>
          </a:prstGeom>
          <a:noFill/>
          <a:ln/>
        </p:spPr>
        <p:txBody>
          <a:bodyPr wrap="none" lIns="0" tIns="0" rIns="0" bIns="0" rtlCol="0" anchor="t"/>
          <a:lstStyle/>
          <a:p>
            <a:pPr marL="0" indent="0" algn="l">
              <a:lnSpc>
                <a:spcPts val="1575"/>
              </a:lnSpc>
              <a:buNone/>
            </a:pPr>
            <a:r>
              <a:rPr lang="en-US" sz="1350" kern="0" spc="15" dirty="0">
                <a:solidFill>
                  <a:srgbClr val="D3AE84"/>
                </a:solidFill>
                <a:latin typeface="Newsreader SemiBold" pitchFamily="34" charset="0"/>
              </a:rPr>
              <a:t>5</a:t>
            </a:r>
            <a:endParaRPr lang="en-US" sz="1350" dirty="0"/>
          </a:p>
        </p:txBody>
      </p:sp>
      <p:sp>
        <p:nvSpPr>
          <p:cNvPr id="77" name="Text 76"/>
          <p:cNvSpPr txBox="1"/>
          <p:nvPr/>
        </p:nvSpPr>
        <p:spPr>
          <a:xfrm>
            <a:off x="5638800" y="6596063"/>
            <a:ext cx="807541" cy="114300"/>
          </a:xfrm>
          <a:prstGeom prst="rect">
            <a:avLst/>
          </a:prstGeom>
          <a:noFill/>
          <a:ln/>
        </p:spPr>
        <p:txBody>
          <a:bodyPr wrap="none" lIns="0" tIns="0" rIns="0" bIns="0" rtlCol="0" anchor="t"/>
          <a:lstStyle/>
          <a:p>
            <a:pPr marL="0" indent="0" algn="l">
              <a:lnSpc>
                <a:spcPts val="900"/>
              </a:lnSpc>
              <a:buNone/>
            </a:pPr>
            <a:r>
              <a:rPr lang="en-US" sz="690" kern="0" spc="15" dirty="0">
                <a:solidFill>
                  <a:srgbClr val="E8E2DA"/>
                </a:solidFill>
                <a:latin typeface="Quicksand" pitchFamily="34" charset="0"/>
              </a:rPr>
              <a:t>live engagements</a:t>
            </a:r>
            <a:endParaRPr lang="en-US" sz="690" dirty="0"/>
          </a:p>
        </p:txBody>
      </p:sp>
      <p:sp>
        <p:nvSpPr>
          <p:cNvPr id="78" name="Shape 77"/>
          <p:cNvSpPr/>
          <p:nvPr/>
        </p:nvSpPr>
        <p:spPr>
          <a:xfrm>
            <a:off x="7434263" y="1238250"/>
            <a:ext cx="2205038" cy="5695950"/>
          </a:xfrm>
          <a:prstGeom prst="rect">
            <a:avLst/>
          </a:prstGeom>
          <a:solidFill>
            <a:srgbClr val="FAF7F3"/>
          </a:solidFill>
          <a:ln/>
        </p:spPr>
        <p:txBody>
          <a:bodyPr/>
          <a:lstStyle/>
          <a:p>
            <a:endParaRPr lang="en-US"/>
          </a:p>
        </p:txBody>
      </p:sp>
      <p:sp>
        <p:nvSpPr>
          <p:cNvPr id="79" name="Shape 78"/>
          <p:cNvSpPr/>
          <p:nvPr/>
        </p:nvSpPr>
        <p:spPr>
          <a:xfrm>
            <a:off x="7434263" y="1238250"/>
            <a:ext cx="2205038" cy="28575"/>
          </a:xfrm>
          <a:prstGeom prst="rect">
            <a:avLst/>
          </a:prstGeom>
          <a:solidFill>
            <a:srgbClr val="B68757"/>
          </a:solidFill>
          <a:ln/>
        </p:spPr>
        <p:txBody>
          <a:bodyPr/>
          <a:lstStyle/>
          <a:p>
            <a:endParaRPr lang="en-US"/>
          </a:p>
        </p:txBody>
      </p:sp>
      <p:pic>
        <p:nvPicPr>
          <p:cNvPr id="80" name="A glass-roofed shopping arcade" descr="A glass-roofed shopping arcade"/>
          <p:cNvPicPr>
            <a:picLocks noChangeAspect="1"/>
          </p:cNvPicPr>
          <p:nvPr/>
        </p:nvPicPr>
        <p:blipFill>
          <a:blip r:embed="rId22"/>
          <a:stretch>
            <a:fillRect/>
          </a:stretch>
        </p:blipFill>
        <p:spPr>
          <a:xfrm>
            <a:off x="7434263" y="1266825"/>
            <a:ext cx="2205038" cy="609600"/>
          </a:xfrm>
          <a:prstGeom prst="rect">
            <a:avLst/>
          </a:prstGeom>
        </p:spPr>
      </p:pic>
      <p:sp>
        <p:nvSpPr>
          <p:cNvPr id="81" name="Dot 80"/>
          <p:cNvSpPr/>
          <p:nvPr/>
        </p:nvSpPr>
        <p:spPr>
          <a:xfrm>
            <a:off x="7567612" y="1990725"/>
            <a:ext cx="285750" cy="285750"/>
          </a:xfrm>
          <a:prstGeom prst="ellipse">
            <a:avLst/>
          </a:prstGeom>
          <a:solidFill>
            <a:srgbClr val="1B1A1A"/>
          </a:solidFill>
          <a:ln/>
        </p:spPr>
        <p:txBody>
          <a:bodyPr/>
          <a:lstStyle/>
          <a:p>
            <a:endParaRPr lang="en-US"/>
          </a:p>
        </p:txBody>
      </p:sp>
      <p:pic>
        <p:nvPicPr>
          <p:cNvPr id="82" name="Icon" descr="/tmp/claude-0/-home-claude-about/4bef2f41-4227-5ff7-ab18-11ac74cd9797/scratchpad/pptx/ex/media/84e7bc3cb1b6.png"/>
          <p:cNvPicPr>
            <a:picLocks noChangeAspect="1"/>
          </p:cNvPicPr>
          <p:nvPr/>
        </p:nvPicPr>
        <p:blipFill>
          <a:blip r:embed="rId23"/>
          <a:stretch>
            <a:fillRect/>
          </a:stretch>
        </p:blipFill>
        <p:spPr>
          <a:xfrm>
            <a:off x="7634288" y="2057400"/>
            <a:ext cx="152400" cy="152400"/>
          </a:xfrm>
          <a:prstGeom prst="rect">
            <a:avLst/>
          </a:prstGeom>
        </p:spPr>
      </p:pic>
      <p:sp>
        <p:nvSpPr>
          <p:cNvPr id="83" name="Text 82"/>
          <p:cNvSpPr txBox="1"/>
          <p:nvPr/>
        </p:nvSpPr>
        <p:spPr>
          <a:xfrm>
            <a:off x="7939087" y="1981200"/>
            <a:ext cx="1581150" cy="304800"/>
          </a:xfrm>
          <a:prstGeom prst="rect">
            <a:avLst/>
          </a:prstGeom>
          <a:noFill/>
          <a:ln/>
        </p:spPr>
        <p:txBody>
          <a:bodyPr wrap="square" lIns="0" tIns="0" rIns="0" bIns="0" rtlCol="0" anchor="t"/>
          <a:lstStyle/>
          <a:p>
            <a:pPr marL="0" indent="0" algn="l">
              <a:lnSpc>
                <a:spcPts val="1200"/>
              </a:lnSpc>
              <a:buNone/>
            </a:pPr>
            <a:r>
              <a:rPr lang="en-US" sz="938" b="1" kern="0" spc="15" dirty="0">
                <a:solidFill>
                  <a:srgbClr val="1B1A1A"/>
                </a:solidFill>
                <a:latin typeface="Quicksand" pitchFamily="34" charset="0"/>
              </a:rPr>
              <a:t>Consumer Services &amp; Retail</a:t>
            </a:r>
            <a:endParaRPr lang="en-US" sz="938" dirty="0"/>
          </a:p>
        </p:txBody>
      </p:sp>
      <p:sp>
        <p:nvSpPr>
          <p:cNvPr id="84" name="Text 83"/>
          <p:cNvSpPr txBox="1"/>
          <p:nvPr/>
        </p:nvSpPr>
        <p:spPr>
          <a:xfrm>
            <a:off x="7567612" y="2366963"/>
            <a:ext cx="778818" cy="285750"/>
          </a:xfrm>
          <a:prstGeom prst="rect">
            <a:avLst/>
          </a:prstGeom>
          <a:noFill/>
          <a:ln/>
        </p:spPr>
        <p:txBody>
          <a:bodyPr wrap="none" lIns="0" tIns="0" rIns="0" bIns="0" rtlCol="0" anchor="t"/>
          <a:lstStyle/>
          <a:p>
            <a:pPr marL="0" indent="0" algn="l">
              <a:lnSpc>
                <a:spcPts val="2250"/>
              </a:lnSpc>
              <a:buNone/>
            </a:pPr>
            <a:r>
              <a:rPr lang="en-US" sz="2025" kern="0" spc="15" dirty="0">
                <a:solidFill>
                  <a:srgbClr val="8C6239"/>
                </a:solidFill>
                <a:latin typeface="Newsreader SemiBold" pitchFamily="34" charset="0"/>
              </a:rPr>
              <a:t>$3.1B</a:t>
            </a:r>
            <a:endParaRPr lang="en-US" sz="2025" dirty="0"/>
          </a:p>
        </p:txBody>
      </p:sp>
      <p:sp>
        <p:nvSpPr>
          <p:cNvPr id="85" name="Text 84"/>
          <p:cNvSpPr txBox="1"/>
          <p:nvPr/>
        </p:nvSpPr>
        <p:spPr>
          <a:xfrm>
            <a:off x="8384530" y="2478881"/>
            <a:ext cx="1135707" cy="357188"/>
          </a:xfrm>
          <a:prstGeom prst="rect">
            <a:avLst/>
          </a:prstGeom>
          <a:noFill/>
          <a:ln/>
        </p:spPr>
        <p:txBody>
          <a:bodyPr wrap="square" lIns="0" tIns="0" rIns="0" bIns="0" rtlCol="0" anchor="t"/>
          <a:lstStyle/>
          <a:p>
            <a:pPr marL="0" indent="0" algn="l">
              <a:lnSpc>
                <a:spcPts val="938"/>
              </a:lnSpc>
              <a:buNone/>
            </a:pPr>
            <a:r>
              <a:rPr lang="en-US" sz="675" kern="0" spc="15" dirty="0">
                <a:solidFill>
                  <a:srgbClr val="6F6A66"/>
                </a:solidFill>
                <a:latin typeface="Quicksand" pitchFamily="34" charset="0"/>
              </a:rPr>
              <a:t>Enterprise value of the Mister Car Wash take-private completed in May</a:t>
            </a:r>
            <a:endParaRPr lang="en-US" sz="675" dirty="0"/>
          </a:p>
        </p:txBody>
      </p:sp>
      <p:sp>
        <p:nvSpPr>
          <p:cNvPr id="86" name="Shape 85"/>
          <p:cNvSpPr/>
          <p:nvPr/>
        </p:nvSpPr>
        <p:spPr>
          <a:xfrm>
            <a:off x="7567612" y="2890838"/>
            <a:ext cx="1938337" cy="9525"/>
          </a:xfrm>
          <a:prstGeom prst="rect">
            <a:avLst/>
          </a:prstGeom>
          <a:solidFill>
            <a:srgbClr val="E3DCD3"/>
          </a:solidFill>
          <a:ln/>
        </p:spPr>
        <p:txBody>
          <a:bodyPr/>
          <a:lstStyle/>
          <a:p>
            <a:endParaRPr lang="en-US"/>
          </a:p>
        </p:txBody>
      </p:sp>
      <p:sp>
        <p:nvSpPr>
          <p:cNvPr id="87" name="Shape 86"/>
          <p:cNvSpPr/>
          <p:nvPr/>
        </p:nvSpPr>
        <p:spPr>
          <a:xfrm>
            <a:off x="7567612" y="3033713"/>
            <a:ext cx="47625" cy="47625"/>
          </a:xfrm>
          <a:prstGeom prst="rect">
            <a:avLst/>
          </a:prstGeom>
          <a:solidFill>
            <a:srgbClr val="B68757"/>
          </a:solidFill>
          <a:ln/>
        </p:spPr>
        <p:txBody>
          <a:bodyPr/>
          <a:lstStyle/>
          <a:p>
            <a:endParaRPr lang="en-US"/>
          </a:p>
        </p:txBody>
      </p:sp>
      <p:sp>
        <p:nvSpPr>
          <p:cNvPr id="88" name="Text 87"/>
          <p:cNvSpPr txBox="1"/>
          <p:nvPr/>
        </p:nvSpPr>
        <p:spPr>
          <a:xfrm>
            <a:off x="7691438" y="2979896"/>
            <a:ext cx="1828800" cy="680918"/>
          </a:xfrm>
          <a:prstGeom prst="rect">
            <a:avLst/>
          </a:prstGeom>
          <a:noFill/>
          <a:ln/>
        </p:spPr>
        <p:txBody>
          <a:bodyPr wrap="square" lIns="0" tIns="0" rIns="0" bIns="0" rtlCol="0" anchor="t"/>
          <a:lstStyle/>
          <a:p>
            <a:pPr marL="0" indent="0" algn="l">
              <a:lnSpc>
                <a:spcPts val="1073"/>
              </a:lnSpc>
              <a:buNone/>
            </a:pPr>
            <a:r>
              <a:rPr lang="en-US" sz="757" kern="0" spc="15" dirty="0">
                <a:solidFill>
                  <a:srgbClr val="333231"/>
                </a:solidFill>
                <a:latin typeface="Quicksand" pitchFamily="34" charset="0"/>
              </a:rPr>
              <a:t>Sponsors paid for scale: Leonard Green took </a:t>
            </a:r>
            <a:r>
              <a:rPr lang="en-US" sz="757" u="sng" kern="0" spc="15" dirty="0">
                <a:solidFill>
                  <a:srgbClr val="8C6239"/>
                </a:solidFill>
                <a:latin typeface="Quicksand" pitchFamily="34" charset="0"/>
                <a:hlinkClick r:id="rId24">
                  <a:extLst>
                    <a:ext uri="{A12FA001-AC4F-418D-AE19-62706E023703}">
                      <ahyp:hlinkClr xmlns:ahyp="http://schemas.microsoft.com/office/drawing/2018/hyperlinkcolor" val="tx"/>
                    </a:ext>
                  </a:extLst>
                </a:hlinkClick>
              </a:rPr>
              <a:t>Mister Car Wash</a:t>
            </a:r>
            <a:r>
              <a:rPr lang="en-US" sz="757" kern="0" spc="15" dirty="0">
                <a:solidFill>
                  <a:srgbClr val="333231"/>
                </a:solidFill>
                <a:latin typeface="Quicksand" pitchFamily="34" charset="0"/>
              </a:rPr>
              <a:t> private and Blackstone agreed to buy </a:t>
            </a:r>
            <a:r>
              <a:rPr lang="en-US" sz="757" u="sng" kern="0" spc="15" dirty="0">
                <a:solidFill>
                  <a:srgbClr val="8C6239"/>
                </a:solidFill>
                <a:latin typeface="Quicksand" pitchFamily="34" charset="0"/>
                <a:hlinkClick r:id="rId25">
                  <a:extLst>
                    <a:ext uri="{A12FA001-AC4F-418D-AE19-62706E023703}">
                      <ahyp:hlinkClr xmlns:ahyp="http://schemas.microsoft.com/office/drawing/2018/hyperlinkcolor" val="tx"/>
                    </a:ext>
                  </a:extLst>
                </a:hlinkClick>
              </a:rPr>
              <a:t>Champions Group</a:t>
            </a:r>
            <a:r>
              <a:rPr lang="en-US" sz="757" kern="0" spc="15" dirty="0">
                <a:solidFill>
                  <a:srgbClr val="333231"/>
                </a:solidFill>
                <a:latin typeface="Quicksand" pitchFamily="34" charset="0"/>
              </a:rPr>
              <a:t> for about $2.5 billion.</a:t>
            </a:r>
            <a:endParaRPr lang="en-US" sz="757" dirty="0"/>
          </a:p>
        </p:txBody>
      </p:sp>
      <p:sp>
        <p:nvSpPr>
          <p:cNvPr id="89" name="Shape 88"/>
          <p:cNvSpPr/>
          <p:nvPr/>
        </p:nvSpPr>
        <p:spPr>
          <a:xfrm>
            <a:off x="7567612" y="3781276"/>
            <a:ext cx="47625" cy="47625"/>
          </a:xfrm>
          <a:prstGeom prst="rect">
            <a:avLst/>
          </a:prstGeom>
          <a:solidFill>
            <a:srgbClr val="B68757"/>
          </a:solidFill>
          <a:ln/>
        </p:spPr>
        <p:txBody>
          <a:bodyPr/>
          <a:lstStyle/>
          <a:p>
            <a:endParaRPr lang="en-US"/>
          </a:p>
        </p:txBody>
      </p:sp>
      <p:sp>
        <p:nvSpPr>
          <p:cNvPr id="90" name="Text 89"/>
          <p:cNvSpPr txBox="1"/>
          <p:nvPr/>
        </p:nvSpPr>
        <p:spPr>
          <a:xfrm>
            <a:off x="7691438" y="3727460"/>
            <a:ext cx="1828800" cy="680918"/>
          </a:xfrm>
          <a:prstGeom prst="rect">
            <a:avLst/>
          </a:prstGeom>
          <a:noFill/>
          <a:ln/>
        </p:spPr>
        <p:txBody>
          <a:bodyPr wrap="square" lIns="0" tIns="0" rIns="0" bIns="0" rtlCol="0" anchor="t"/>
          <a:lstStyle/>
          <a:p>
            <a:pPr marL="0" indent="0" algn="l">
              <a:lnSpc>
                <a:spcPts val="1073"/>
              </a:lnSpc>
              <a:buNone/>
            </a:pPr>
            <a:r>
              <a:rPr lang="en-US" sz="757" kern="0" spc="15" dirty="0">
                <a:solidFill>
                  <a:srgbClr val="333231"/>
                </a:solidFill>
                <a:latin typeface="Quicksand" pitchFamily="34" charset="0"/>
              </a:rPr>
              <a:t>Platforms buy family-owned operators a few locations at a time, as when Classic Collision </a:t>
            </a:r>
            <a:r>
              <a:rPr lang="en-US" sz="757" u="sng" kern="0" spc="15" dirty="0">
                <a:solidFill>
                  <a:srgbClr val="8C6239"/>
                </a:solidFill>
                <a:latin typeface="Quicksand" pitchFamily="34" charset="0"/>
                <a:hlinkClick r:id="rId26">
                  <a:extLst>
                    <a:ext uri="{A12FA001-AC4F-418D-AE19-62706E023703}">
                      <ahyp:hlinkClr xmlns:ahyp="http://schemas.microsoft.com/office/drawing/2018/hyperlinkcolor" val="tx"/>
                    </a:ext>
                  </a:extLst>
                </a:hlinkClick>
              </a:rPr>
              <a:t>bought Kendrick Paint &amp; Body</a:t>
            </a:r>
            <a:r>
              <a:rPr lang="en-US" sz="757" kern="0" spc="15" dirty="0">
                <a:solidFill>
                  <a:srgbClr val="333231"/>
                </a:solidFill>
                <a:latin typeface="Quicksand" pitchFamily="34" charset="0"/>
              </a:rPr>
              <a:t>, a nine-location business family-owned since 1952.</a:t>
            </a:r>
            <a:endParaRPr lang="en-US" sz="757" dirty="0"/>
          </a:p>
        </p:txBody>
      </p:sp>
      <p:sp>
        <p:nvSpPr>
          <p:cNvPr id="91" name="Shape 90"/>
          <p:cNvSpPr/>
          <p:nvPr/>
        </p:nvSpPr>
        <p:spPr>
          <a:xfrm>
            <a:off x="7567612" y="4528840"/>
            <a:ext cx="47625" cy="47625"/>
          </a:xfrm>
          <a:prstGeom prst="rect">
            <a:avLst/>
          </a:prstGeom>
          <a:solidFill>
            <a:srgbClr val="B68757"/>
          </a:solidFill>
          <a:ln/>
        </p:spPr>
        <p:txBody>
          <a:bodyPr/>
          <a:lstStyle/>
          <a:p>
            <a:endParaRPr lang="en-US"/>
          </a:p>
        </p:txBody>
      </p:sp>
      <p:sp>
        <p:nvSpPr>
          <p:cNvPr id="92" name="Text 91"/>
          <p:cNvSpPr txBox="1"/>
          <p:nvPr/>
        </p:nvSpPr>
        <p:spPr>
          <a:xfrm>
            <a:off x="7691438" y="4475024"/>
            <a:ext cx="1828800" cy="680918"/>
          </a:xfrm>
          <a:prstGeom prst="rect">
            <a:avLst/>
          </a:prstGeom>
          <a:noFill/>
          <a:ln/>
        </p:spPr>
        <p:txBody>
          <a:bodyPr wrap="square" lIns="0" tIns="0" rIns="0" bIns="0" rtlCol="0" anchor="t"/>
          <a:lstStyle/>
          <a:p>
            <a:pPr marL="0" indent="0" algn="l">
              <a:lnSpc>
                <a:spcPts val="1073"/>
              </a:lnSpc>
              <a:buNone/>
            </a:pPr>
            <a:r>
              <a:rPr lang="en-US" sz="757" kern="0" spc="15" dirty="0">
                <a:solidFill>
                  <a:srgbClr val="333231"/>
                </a:solidFill>
                <a:latin typeface="Quicksand" pitchFamily="34" charset="0"/>
              </a:rPr>
              <a:t>Housing-linked demand softened through the summer, and growth in home improvement spending is projected to slow to </a:t>
            </a:r>
            <a:r>
              <a:rPr lang="en-US" sz="757" u="sng" kern="0" spc="15" dirty="0">
                <a:solidFill>
                  <a:srgbClr val="8C6239"/>
                </a:solidFill>
                <a:latin typeface="Quicksand" pitchFamily="34" charset="0"/>
                <a:hlinkClick r:id="rId27">
                  <a:extLst>
                    <a:ext uri="{A12FA001-AC4F-418D-AE19-62706E023703}">
                      <ahyp:hlinkClr xmlns:ahyp="http://schemas.microsoft.com/office/drawing/2018/hyperlinkcolor" val="tx"/>
                    </a:ext>
                  </a:extLst>
                </a:hlinkClick>
              </a:rPr>
              <a:t>0.5% by the second quarter of 2027</a:t>
            </a:r>
            <a:r>
              <a:rPr lang="en-US" sz="757" kern="0" spc="15" dirty="0">
                <a:solidFill>
                  <a:srgbClr val="333231"/>
                </a:solidFill>
                <a:latin typeface="Quicksand" pitchFamily="34" charset="0"/>
              </a:rPr>
              <a:t>.</a:t>
            </a:r>
            <a:endParaRPr lang="en-US" sz="757" dirty="0"/>
          </a:p>
        </p:txBody>
      </p:sp>
      <p:sp>
        <p:nvSpPr>
          <p:cNvPr id="93" name="Text 92"/>
          <p:cNvSpPr txBox="1"/>
          <p:nvPr/>
        </p:nvSpPr>
        <p:spPr>
          <a:xfrm>
            <a:off x="7567612" y="5408414"/>
            <a:ext cx="1938337" cy="114300"/>
          </a:xfrm>
          <a:prstGeom prst="rect">
            <a:avLst/>
          </a:prstGeom>
          <a:noFill/>
          <a:ln/>
        </p:spPr>
        <p:txBody>
          <a:bodyPr wrap="none" lIns="0" tIns="0" rIns="0" bIns="0" rtlCol="0" anchor="t"/>
          <a:lstStyle/>
          <a:p>
            <a:pPr marL="0" indent="0" algn="l">
              <a:lnSpc>
                <a:spcPts val="900"/>
              </a:lnSpc>
              <a:buNone/>
            </a:pPr>
            <a:r>
              <a:rPr lang="en-US" sz="615" b="1" kern="0" spc="135" dirty="0">
                <a:solidFill>
                  <a:srgbClr val="8C6239"/>
                </a:solidFill>
                <a:latin typeface="Quicksand" pitchFamily="34" charset="0"/>
              </a:rPr>
              <a:t>WHO IS BUYING</a:t>
            </a:r>
            <a:endParaRPr lang="en-US" sz="615" dirty="0"/>
          </a:p>
        </p:txBody>
      </p:sp>
      <p:sp>
        <p:nvSpPr>
          <p:cNvPr id="94" name="Text 93"/>
          <p:cNvSpPr txBox="1"/>
          <p:nvPr/>
        </p:nvSpPr>
        <p:spPr>
          <a:xfrm>
            <a:off x="7567612" y="5542717"/>
            <a:ext cx="1952625" cy="525691"/>
          </a:xfrm>
          <a:prstGeom prst="rect">
            <a:avLst/>
          </a:prstGeom>
          <a:noFill/>
          <a:ln/>
        </p:spPr>
        <p:txBody>
          <a:bodyPr wrap="square" lIns="0" tIns="0" rIns="0" bIns="0" rtlCol="0" anchor="t"/>
          <a:lstStyle/>
          <a:p>
            <a:pPr marL="0" indent="0" algn="l">
              <a:lnSpc>
                <a:spcPts val="1035"/>
              </a:lnSpc>
              <a:buNone/>
            </a:pPr>
            <a:r>
              <a:rPr lang="en-US" sz="735" kern="0" spc="15" dirty="0">
                <a:solidFill>
                  <a:srgbClr val="333231"/>
                </a:solidFill>
                <a:latin typeface="Quicksand" pitchFamily="34" charset="0"/>
              </a:rPr>
              <a:t>Sponsor-backed platforms in car wash, collision, roofing, pool and garage door service, public acquirers such as Rollins and Boyd Group, and regional strategics.</a:t>
            </a:r>
            <a:endParaRPr lang="en-US" sz="735" dirty="0"/>
          </a:p>
        </p:txBody>
      </p:sp>
      <p:sp>
        <p:nvSpPr>
          <p:cNvPr id="95" name="Shape 94"/>
          <p:cNvSpPr/>
          <p:nvPr/>
        </p:nvSpPr>
        <p:spPr>
          <a:xfrm>
            <a:off x="7567612" y="6162675"/>
            <a:ext cx="1938337" cy="666750"/>
          </a:xfrm>
          <a:prstGeom prst="rect">
            <a:avLst/>
          </a:prstGeom>
          <a:solidFill>
            <a:srgbClr val="1B1A1A"/>
          </a:solidFill>
          <a:ln/>
        </p:spPr>
        <p:txBody>
          <a:bodyPr/>
          <a:lstStyle/>
          <a:p>
            <a:endParaRPr lang="en-US"/>
          </a:p>
        </p:txBody>
      </p:sp>
      <p:sp>
        <p:nvSpPr>
          <p:cNvPr id="96" name="Text 95"/>
          <p:cNvSpPr txBox="1"/>
          <p:nvPr/>
        </p:nvSpPr>
        <p:spPr>
          <a:xfrm>
            <a:off x="7681912" y="6224588"/>
            <a:ext cx="1709738" cy="104775"/>
          </a:xfrm>
          <a:prstGeom prst="rect">
            <a:avLst/>
          </a:prstGeom>
          <a:noFill/>
          <a:ln/>
        </p:spPr>
        <p:txBody>
          <a:bodyPr wrap="none" lIns="0" tIns="0" rIns="0" bIns="0" rtlCol="0" anchor="t"/>
          <a:lstStyle/>
          <a:p>
            <a:pPr marL="0" indent="0" algn="l">
              <a:lnSpc>
                <a:spcPts val="825"/>
              </a:lnSpc>
              <a:buNone/>
            </a:pPr>
            <a:r>
              <a:rPr lang="en-US" sz="585" b="1" kern="0" spc="135" dirty="0">
                <a:solidFill>
                  <a:srgbClr val="D3AE84"/>
                </a:solidFill>
                <a:latin typeface="Quicksand" pitchFamily="34" charset="0"/>
              </a:rPr>
              <a:t>BENCHMARK INTERNATIONAL</a:t>
            </a:r>
            <a:endParaRPr lang="en-US" sz="585" dirty="0"/>
          </a:p>
        </p:txBody>
      </p:sp>
      <p:sp>
        <p:nvSpPr>
          <p:cNvPr id="97" name="Text 96"/>
          <p:cNvSpPr txBox="1"/>
          <p:nvPr/>
        </p:nvSpPr>
        <p:spPr>
          <a:xfrm>
            <a:off x="7681912" y="6348413"/>
            <a:ext cx="270570" cy="200025"/>
          </a:xfrm>
          <a:prstGeom prst="rect">
            <a:avLst/>
          </a:prstGeom>
          <a:noFill/>
          <a:ln/>
        </p:spPr>
        <p:txBody>
          <a:bodyPr wrap="none" lIns="0" tIns="0" rIns="0" bIns="0" rtlCol="0" anchor="t"/>
          <a:lstStyle/>
          <a:p>
            <a:pPr marL="0" indent="0" algn="l">
              <a:lnSpc>
                <a:spcPts val="1575"/>
              </a:lnSpc>
              <a:buNone/>
            </a:pPr>
            <a:r>
              <a:rPr lang="en-US" sz="1350" kern="0" spc="15" dirty="0">
                <a:solidFill>
                  <a:srgbClr val="D3AE84"/>
                </a:solidFill>
                <a:latin typeface="Newsreader SemiBold" pitchFamily="34" charset="0"/>
              </a:rPr>
              <a:t>20</a:t>
            </a:r>
            <a:endParaRPr lang="en-US" sz="1350" dirty="0"/>
          </a:p>
        </p:txBody>
      </p:sp>
      <p:sp>
        <p:nvSpPr>
          <p:cNvPr id="98" name="Text 97"/>
          <p:cNvSpPr txBox="1"/>
          <p:nvPr/>
        </p:nvSpPr>
        <p:spPr>
          <a:xfrm>
            <a:off x="7977188" y="6396038"/>
            <a:ext cx="1179165" cy="114300"/>
          </a:xfrm>
          <a:prstGeom prst="rect">
            <a:avLst/>
          </a:prstGeom>
          <a:noFill/>
          <a:ln/>
        </p:spPr>
        <p:txBody>
          <a:bodyPr wrap="none" lIns="0" tIns="0" rIns="0" bIns="0" rtlCol="0" anchor="t"/>
          <a:lstStyle/>
          <a:p>
            <a:pPr marL="0" indent="0" algn="l">
              <a:lnSpc>
                <a:spcPts val="900"/>
              </a:lnSpc>
              <a:buNone/>
            </a:pPr>
            <a:r>
              <a:rPr lang="en-US" sz="690" kern="0" spc="15" dirty="0">
                <a:solidFill>
                  <a:srgbClr val="E8E2DA"/>
                </a:solidFill>
                <a:latin typeface="Quicksand" pitchFamily="34" charset="0"/>
              </a:rPr>
              <a:t>closed since January 2025</a:t>
            </a:r>
            <a:endParaRPr lang="en-US" sz="690" dirty="0"/>
          </a:p>
        </p:txBody>
      </p:sp>
      <p:sp>
        <p:nvSpPr>
          <p:cNvPr id="99" name="Text 98"/>
          <p:cNvSpPr txBox="1"/>
          <p:nvPr/>
        </p:nvSpPr>
        <p:spPr>
          <a:xfrm>
            <a:off x="7681912" y="6548438"/>
            <a:ext cx="270570" cy="200025"/>
          </a:xfrm>
          <a:prstGeom prst="rect">
            <a:avLst/>
          </a:prstGeom>
          <a:noFill/>
          <a:ln/>
        </p:spPr>
        <p:txBody>
          <a:bodyPr wrap="none" lIns="0" tIns="0" rIns="0" bIns="0" rtlCol="0" anchor="t"/>
          <a:lstStyle/>
          <a:p>
            <a:pPr marL="0" indent="0" algn="l">
              <a:lnSpc>
                <a:spcPts val="1575"/>
              </a:lnSpc>
              <a:buNone/>
            </a:pPr>
            <a:r>
              <a:rPr lang="en-US" sz="1350" kern="0" spc="15" dirty="0">
                <a:solidFill>
                  <a:srgbClr val="D3AE84"/>
                </a:solidFill>
                <a:latin typeface="Newsreader SemiBold" pitchFamily="34" charset="0"/>
              </a:rPr>
              <a:t>66</a:t>
            </a:r>
            <a:endParaRPr lang="en-US" sz="1350" dirty="0"/>
          </a:p>
        </p:txBody>
      </p:sp>
      <p:sp>
        <p:nvSpPr>
          <p:cNvPr id="100" name="Text 99"/>
          <p:cNvSpPr txBox="1"/>
          <p:nvPr/>
        </p:nvSpPr>
        <p:spPr>
          <a:xfrm>
            <a:off x="7977188" y="6596063"/>
            <a:ext cx="807541" cy="114300"/>
          </a:xfrm>
          <a:prstGeom prst="rect">
            <a:avLst/>
          </a:prstGeom>
          <a:noFill/>
          <a:ln/>
        </p:spPr>
        <p:txBody>
          <a:bodyPr wrap="none" lIns="0" tIns="0" rIns="0" bIns="0" rtlCol="0" anchor="t"/>
          <a:lstStyle/>
          <a:p>
            <a:pPr marL="0" indent="0" algn="l">
              <a:lnSpc>
                <a:spcPts val="900"/>
              </a:lnSpc>
              <a:buNone/>
            </a:pPr>
            <a:r>
              <a:rPr lang="en-US" sz="690" kern="0" spc="15" dirty="0">
                <a:solidFill>
                  <a:srgbClr val="E8E2DA"/>
                </a:solidFill>
                <a:latin typeface="Quicksand" pitchFamily="34" charset="0"/>
              </a:rPr>
              <a:t>live engagements</a:t>
            </a:r>
            <a:endParaRPr lang="en-US" sz="690" dirty="0"/>
          </a:p>
        </p:txBody>
      </p:sp>
      <p:sp>
        <p:nvSpPr>
          <p:cNvPr id="101" name="Shape 100"/>
          <p:cNvSpPr/>
          <p:nvPr/>
        </p:nvSpPr>
        <p:spPr>
          <a:xfrm>
            <a:off x="419100" y="7029450"/>
            <a:ext cx="9220200" cy="9525"/>
          </a:xfrm>
          <a:prstGeom prst="rect">
            <a:avLst/>
          </a:prstGeom>
          <a:solidFill>
            <a:srgbClr val="E3DCD3"/>
          </a:solidFill>
          <a:ln/>
        </p:spPr>
        <p:txBody>
          <a:bodyPr/>
          <a:lstStyle/>
          <a:p>
            <a:endParaRPr lang="en-US"/>
          </a:p>
        </p:txBody>
      </p:sp>
      <p:pic>
        <p:nvPicPr>
          <p:cNvPr id="102" name="Benchmark International" descr="Benchmark International"/>
          <p:cNvPicPr>
            <a:picLocks noChangeAspect="1"/>
          </p:cNvPicPr>
          <p:nvPr/>
        </p:nvPicPr>
        <p:blipFill>
          <a:blip r:embed="rId28"/>
          <a:stretch>
            <a:fillRect/>
          </a:stretch>
        </p:blipFill>
        <p:spPr>
          <a:xfrm>
            <a:off x="419100" y="7143750"/>
            <a:ext cx="914400" cy="171450"/>
          </a:xfrm>
          <a:prstGeom prst="rect">
            <a:avLst/>
          </a:prstGeom>
        </p:spPr>
      </p:pic>
      <p:sp>
        <p:nvSpPr>
          <p:cNvPr id="103" name="Text 102"/>
          <p:cNvSpPr txBox="1"/>
          <p:nvPr/>
        </p:nvSpPr>
        <p:spPr>
          <a:xfrm>
            <a:off x="1543050" y="7098506"/>
            <a:ext cx="7658100" cy="238125"/>
          </a:xfrm>
          <a:prstGeom prst="rect">
            <a:avLst/>
          </a:prstGeom>
          <a:noFill/>
          <a:ln/>
        </p:spPr>
        <p:txBody>
          <a:bodyPr wrap="square" lIns="0" tIns="0" rIns="0" bIns="0" rtlCol="0" anchor="t"/>
          <a:lstStyle/>
          <a:p>
            <a:pPr marL="0" indent="0" algn="l">
              <a:lnSpc>
                <a:spcPts val="938"/>
              </a:lnSpc>
              <a:buNone/>
            </a:pPr>
            <a:r>
              <a:rPr lang="en-US" sz="675" kern="0" spc="15" dirty="0">
                <a:solidFill>
                  <a:srgbClr val="6F6A66"/>
                </a:solidFill>
                <a:latin typeface="Quicksand" pitchFamily="34" charset="0"/>
              </a:rPr>
              <a:t>Benchmark International counts are from the firm’s transaction records as of October 1, 2026. Store brand share is from the </a:t>
            </a:r>
            <a:r>
              <a:rPr lang="en-US" sz="675" u="sng" kern="0" spc="15" dirty="0">
                <a:solidFill>
                  <a:srgbClr val="8C6239"/>
                </a:solidFill>
                <a:latin typeface="Quicksand" pitchFamily="34" charset="0"/>
                <a:hlinkClick r:id="rId29">
                  <a:extLst>
                    <a:ext uri="{A12FA001-AC4F-418D-AE19-62706E023703}">
                      <ahyp:hlinkClr xmlns:ahyp="http://schemas.microsoft.com/office/drawing/2018/hyperlinkcolor" val="tx"/>
                    </a:ext>
                  </a:extLst>
                </a:hlinkClick>
              </a:rPr>
              <a:t>Private Label Manufacturers Association</a:t>
            </a:r>
            <a:r>
              <a:rPr lang="en-US" sz="675" kern="0" spc="15" dirty="0">
                <a:solidFill>
                  <a:srgbClr val="6F6A66"/>
                </a:solidFill>
                <a:latin typeface="Quicksand" pitchFamily="34" charset="0"/>
              </a:rPr>
              <a:t>, the restaurant sales forecast from the </a:t>
            </a:r>
            <a:r>
              <a:rPr lang="en-US" sz="675" u="sng" kern="0" spc="15" dirty="0">
                <a:solidFill>
                  <a:srgbClr val="8C6239"/>
                </a:solidFill>
                <a:latin typeface="Quicksand" pitchFamily="34" charset="0"/>
                <a:hlinkClick r:id="rId30">
                  <a:extLst>
                    <a:ext uri="{A12FA001-AC4F-418D-AE19-62706E023703}">
                      <ahyp:hlinkClr xmlns:ahyp="http://schemas.microsoft.com/office/drawing/2018/hyperlinkcolor" val="tx"/>
                    </a:ext>
                  </a:extLst>
                </a:hlinkClick>
              </a:rPr>
              <a:t>National Restaurant Association</a:t>
            </a:r>
            <a:r>
              <a:rPr lang="en-US" sz="675" kern="0" spc="15" dirty="0">
                <a:solidFill>
                  <a:srgbClr val="6F6A66"/>
                </a:solidFill>
                <a:latin typeface="Quicksand" pitchFamily="34" charset="0"/>
              </a:rPr>
              <a:t> and beauty sales from </a:t>
            </a:r>
            <a:r>
              <a:rPr lang="en-US" sz="675" u="sng" kern="0" spc="15" dirty="0">
                <a:solidFill>
                  <a:srgbClr val="8C6239"/>
                </a:solidFill>
                <a:latin typeface="Quicksand" pitchFamily="34" charset="0"/>
                <a:hlinkClick r:id="rId12">
                  <a:extLst>
                    <a:ext uri="{A12FA001-AC4F-418D-AE19-62706E023703}">
                      <ahyp:hlinkClr xmlns:ahyp="http://schemas.microsoft.com/office/drawing/2018/hyperlinkcolor" val="tx"/>
                    </a:ext>
                  </a:extLst>
                </a:hlinkClick>
              </a:rPr>
              <a:t>Circana</a:t>
            </a:r>
            <a:r>
              <a:rPr lang="en-US" sz="675" kern="0" spc="15" dirty="0">
                <a:solidFill>
                  <a:srgbClr val="6F6A66"/>
                </a:solidFill>
                <a:latin typeface="Quicksand" pitchFamily="34" charset="0"/>
              </a:rPr>
              <a:t>.</a:t>
            </a:r>
            <a:endParaRPr lang="en-US" sz="675" dirty="0"/>
          </a:p>
        </p:txBody>
      </p:sp>
      <p:sp>
        <p:nvSpPr>
          <p:cNvPr id="104" name="Text 103"/>
          <p:cNvSpPr txBox="1"/>
          <p:nvPr/>
        </p:nvSpPr>
        <p:spPr>
          <a:xfrm>
            <a:off x="9493448" y="7162800"/>
            <a:ext cx="203002" cy="133350"/>
          </a:xfrm>
          <a:prstGeom prst="rect">
            <a:avLst/>
          </a:prstGeom>
          <a:noFill/>
          <a:ln/>
        </p:spPr>
        <p:txBody>
          <a:bodyPr wrap="none" lIns="0" tIns="0" rIns="0" bIns="0" rtlCol="0" anchor="t"/>
          <a:lstStyle/>
          <a:p>
            <a:pPr marL="0" indent="0" algn="l">
              <a:lnSpc>
                <a:spcPts val="1050"/>
              </a:lnSpc>
              <a:buNone/>
            </a:pPr>
            <a:r>
              <a:rPr lang="en-US" sz="713" b="1" kern="0" spc="150" dirty="0">
                <a:solidFill>
                  <a:srgbClr val="1B1A1A"/>
                </a:solidFill>
                <a:latin typeface="Quicksand" pitchFamily="34" charset="0"/>
              </a:rPr>
              <a:t>05</a:t>
            </a:r>
            <a:endParaRPr lang="en-US" sz="713"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1"/>
          <p:cNvSpPr/>
          <p:nvPr/>
        </p:nvSpPr>
        <p:spPr>
          <a:xfrm>
            <a:off x="0" y="0"/>
            <a:ext cx="10058400" cy="7772400"/>
          </a:xfrm>
          <a:prstGeom prst="rect">
            <a:avLst/>
          </a:prstGeom>
          <a:solidFill>
            <a:srgbClr val="FFFFFF"/>
          </a:solidFill>
          <a:ln/>
        </p:spPr>
        <p:txBody>
          <a:bodyPr/>
          <a:lstStyle/>
          <a:p>
            <a:endParaRPr lang="en-US"/>
          </a:p>
        </p:txBody>
      </p:sp>
      <p:sp>
        <p:nvSpPr>
          <p:cNvPr id="3" name="Shape 2"/>
          <p:cNvSpPr/>
          <p:nvPr/>
        </p:nvSpPr>
        <p:spPr>
          <a:xfrm>
            <a:off x="0" y="0"/>
            <a:ext cx="57150" cy="7772400"/>
          </a:xfrm>
          <a:prstGeom prst="rect">
            <a:avLst/>
          </a:prstGeom>
          <a:solidFill>
            <a:srgbClr val="B68757"/>
          </a:solidFill>
          <a:ln/>
        </p:spPr>
        <p:txBody>
          <a:bodyPr/>
          <a:lstStyle/>
          <a:p>
            <a:endParaRPr lang="en-US"/>
          </a:p>
        </p:txBody>
      </p:sp>
      <p:sp>
        <p:nvSpPr>
          <p:cNvPr id="4" name="Text 3"/>
          <p:cNvSpPr txBox="1"/>
          <p:nvPr/>
        </p:nvSpPr>
        <p:spPr>
          <a:xfrm>
            <a:off x="419100" y="376238"/>
            <a:ext cx="2618929" cy="133350"/>
          </a:xfrm>
          <a:prstGeom prst="rect">
            <a:avLst/>
          </a:prstGeom>
          <a:noFill/>
          <a:ln/>
        </p:spPr>
        <p:txBody>
          <a:bodyPr wrap="none" lIns="0" tIns="0" rIns="0" bIns="0" rtlCol="0" anchor="t"/>
          <a:lstStyle/>
          <a:p>
            <a:pPr marL="0" indent="0" algn="l">
              <a:lnSpc>
                <a:spcPts val="1050"/>
              </a:lnSpc>
              <a:buNone/>
            </a:pPr>
            <a:r>
              <a:rPr lang="en-US" sz="675" b="1" kern="0" spc="195" dirty="0">
                <a:solidFill>
                  <a:srgbClr val="8C6239"/>
                </a:solidFill>
                <a:latin typeface="Quicksand" pitchFamily="34" charset="0"/>
              </a:rPr>
              <a:t>CONSUMER  |  QUARTERLY SECTOR BRIEF</a:t>
            </a:r>
            <a:endParaRPr lang="en-US" sz="675" dirty="0"/>
          </a:p>
        </p:txBody>
      </p:sp>
      <p:sp>
        <p:nvSpPr>
          <p:cNvPr id="5" name="Text 4"/>
          <p:cNvSpPr txBox="1"/>
          <p:nvPr/>
        </p:nvSpPr>
        <p:spPr>
          <a:xfrm>
            <a:off x="9112597" y="381000"/>
            <a:ext cx="583853" cy="171450"/>
          </a:xfrm>
          <a:prstGeom prst="rect">
            <a:avLst/>
          </a:prstGeom>
          <a:noFill/>
          <a:ln/>
        </p:spPr>
        <p:txBody>
          <a:bodyPr wrap="none" lIns="0" tIns="0" rIns="0" bIns="0" rtlCol="0" anchor="t"/>
          <a:lstStyle/>
          <a:p>
            <a:pPr marL="0" indent="0" algn="l">
              <a:lnSpc>
                <a:spcPts val="1350"/>
              </a:lnSpc>
              <a:buNone/>
            </a:pPr>
            <a:r>
              <a:rPr lang="en-US" sz="900" kern="0" spc="90" dirty="0">
                <a:solidFill>
                  <a:srgbClr val="6F6A66"/>
                </a:solidFill>
                <a:latin typeface="Cinzel" pitchFamily="34" charset="0"/>
              </a:rPr>
              <a:t>Q4 2026</a:t>
            </a:r>
            <a:endParaRPr lang="en-US" sz="900" dirty="0"/>
          </a:p>
        </p:txBody>
      </p:sp>
      <p:sp>
        <p:nvSpPr>
          <p:cNvPr id="6" name="Text 5"/>
          <p:cNvSpPr txBox="1"/>
          <p:nvPr/>
        </p:nvSpPr>
        <p:spPr>
          <a:xfrm>
            <a:off x="419100" y="519113"/>
            <a:ext cx="9220200" cy="323850"/>
          </a:xfrm>
          <a:prstGeom prst="rect">
            <a:avLst/>
          </a:prstGeom>
          <a:noFill/>
          <a:ln/>
        </p:spPr>
        <p:txBody>
          <a:bodyPr wrap="none" lIns="0" tIns="0" rIns="0" bIns="0" rtlCol="0" anchor="t"/>
          <a:lstStyle/>
          <a:p>
            <a:pPr marL="0" indent="0" algn="l">
              <a:lnSpc>
                <a:spcPts val="2550"/>
              </a:lnSpc>
              <a:buNone/>
            </a:pPr>
            <a:r>
              <a:rPr lang="en-US" sz="2025" kern="0" spc="15" dirty="0">
                <a:solidFill>
                  <a:srgbClr val="1B1A1A"/>
                </a:solidFill>
                <a:latin typeface="Newsreader SemiBold" pitchFamily="34" charset="0"/>
              </a:rPr>
              <a:t>What We’re Reading</a:t>
            </a:r>
            <a:endParaRPr lang="en-US" sz="2025" dirty="0"/>
          </a:p>
        </p:txBody>
      </p:sp>
      <p:sp>
        <p:nvSpPr>
          <p:cNvPr id="7" name="Text 6"/>
          <p:cNvSpPr txBox="1"/>
          <p:nvPr/>
        </p:nvSpPr>
        <p:spPr>
          <a:xfrm>
            <a:off x="419100" y="883444"/>
            <a:ext cx="9220200" cy="176213"/>
          </a:xfrm>
          <a:prstGeom prst="rect">
            <a:avLst/>
          </a:prstGeom>
          <a:noFill/>
          <a:ln/>
        </p:spPr>
        <p:txBody>
          <a:bodyPr wrap="none" lIns="0" tIns="0" rIns="0" bIns="0" rtlCol="0" anchor="t"/>
          <a:lstStyle/>
          <a:p>
            <a:pPr marL="0" indent="0" algn="l">
              <a:lnSpc>
                <a:spcPts val="1388"/>
              </a:lnSpc>
              <a:buNone/>
            </a:pPr>
            <a:r>
              <a:rPr lang="en-US" sz="938" kern="0" spc="15" dirty="0">
                <a:solidFill>
                  <a:srgbClr val="6F6A66"/>
                </a:solidFill>
                <a:latin typeface="Quicksand" pitchFamily="34" charset="0"/>
              </a:rPr>
              <a:t>Primary sources and industry releases from the third quarter.</a:t>
            </a:r>
            <a:endParaRPr lang="en-US" sz="938" dirty="0"/>
          </a:p>
        </p:txBody>
      </p:sp>
      <p:sp>
        <p:nvSpPr>
          <p:cNvPr id="8" name="Shape 7"/>
          <p:cNvSpPr/>
          <p:nvPr/>
        </p:nvSpPr>
        <p:spPr>
          <a:xfrm>
            <a:off x="419100" y="1143000"/>
            <a:ext cx="9220200" cy="9525"/>
          </a:xfrm>
          <a:prstGeom prst="rect">
            <a:avLst/>
          </a:prstGeom>
          <a:solidFill>
            <a:srgbClr val="E3DCD3"/>
          </a:solidFill>
          <a:ln/>
        </p:spPr>
        <p:txBody>
          <a:bodyPr/>
          <a:lstStyle/>
          <a:p>
            <a:endParaRPr lang="en-US"/>
          </a:p>
        </p:txBody>
      </p:sp>
      <p:sp>
        <p:nvSpPr>
          <p:cNvPr id="9" name="Shape 8"/>
          <p:cNvSpPr/>
          <p:nvPr/>
        </p:nvSpPr>
        <p:spPr>
          <a:xfrm>
            <a:off x="419100" y="1238250"/>
            <a:ext cx="1809750" cy="5695950"/>
          </a:xfrm>
          <a:prstGeom prst="rect">
            <a:avLst/>
          </a:prstGeom>
          <a:solidFill>
            <a:srgbClr val="1B1A1A"/>
          </a:solidFill>
          <a:ln/>
        </p:spPr>
        <p:txBody>
          <a:bodyPr/>
          <a:lstStyle/>
          <a:p>
            <a:endParaRPr lang="en-US"/>
          </a:p>
        </p:txBody>
      </p:sp>
      <p:pic>
        <p:nvPicPr>
          <p:cNvPr id="10" name="Roasted coffee beans in a roaster" descr="Roasted coffee beans in a roaster"/>
          <p:cNvPicPr>
            <a:picLocks noChangeAspect="1"/>
          </p:cNvPicPr>
          <p:nvPr/>
        </p:nvPicPr>
        <p:blipFill>
          <a:blip r:embed="rId3"/>
          <a:stretch>
            <a:fillRect/>
          </a:stretch>
        </p:blipFill>
        <p:spPr>
          <a:xfrm>
            <a:off x="419100" y="1238250"/>
            <a:ext cx="1809750" cy="1809750"/>
          </a:xfrm>
          <a:prstGeom prst="rect">
            <a:avLst/>
          </a:prstGeom>
        </p:spPr>
      </p:pic>
      <p:sp>
        <p:nvSpPr>
          <p:cNvPr id="11" name="Shape 10"/>
          <p:cNvSpPr/>
          <p:nvPr/>
        </p:nvSpPr>
        <p:spPr>
          <a:xfrm>
            <a:off x="419100" y="3019425"/>
            <a:ext cx="1809750" cy="28575"/>
          </a:xfrm>
          <a:prstGeom prst="rect">
            <a:avLst/>
          </a:prstGeom>
          <a:solidFill>
            <a:srgbClr val="B68757"/>
          </a:solidFill>
          <a:ln/>
        </p:spPr>
        <p:txBody>
          <a:bodyPr/>
          <a:lstStyle/>
          <a:p>
            <a:endParaRPr lang="en-US"/>
          </a:p>
        </p:txBody>
      </p:sp>
      <p:pic>
        <p:nvPicPr>
          <p:cNvPr id="12" name="Icon" descr="/tmp/claude-0/-home-claude-about/4bef2f41-4227-5ff7-ab18-11ac74cd9797/scratchpad/pptx/ex/media/236f278cd0c9.png"/>
          <p:cNvPicPr>
            <a:picLocks noChangeAspect="1"/>
          </p:cNvPicPr>
          <p:nvPr/>
        </p:nvPicPr>
        <p:blipFill>
          <a:blip r:embed="rId4"/>
          <a:stretch>
            <a:fillRect/>
          </a:stretch>
        </p:blipFill>
        <p:spPr>
          <a:xfrm>
            <a:off x="609600" y="3276600"/>
            <a:ext cx="323850" cy="323850"/>
          </a:xfrm>
          <a:prstGeom prst="rect">
            <a:avLst/>
          </a:prstGeom>
        </p:spPr>
      </p:pic>
      <p:sp>
        <p:nvSpPr>
          <p:cNvPr id="13" name="Text 12"/>
          <p:cNvSpPr txBox="1"/>
          <p:nvPr/>
        </p:nvSpPr>
        <p:spPr>
          <a:xfrm>
            <a:off x="609600" y="3752850"/>
            <a:ext cx="1443038" cy="942975"/>
          </a:xfrm>
          <a:prstGeom prst="rect">
            <a:avLst/>
          </a:prstGeom>
          <a:noFill/>
          <a:ln/>
        </p:spPr>
        <p:txBody>
          <a:bodyPr wrap="square" lIns="0" tIns="0" rIns="0" bIns="0" rtlCol="0" anchor="t"/>
          <a:lstStyle/>
          <a:p>
            <a:pPr marL="0" indent="0" algn="l">
              <a:lnSpc>
                <a:spcPts val="2475"/>
              </a:lnSpc>
              <a:buNone/>
            </a:pPr>
            <a:r>
              <a:rPr lang="en-US" sz="2025" kern="0" spc="15" dirty="0">
                <a:solidFill>
                  <a:srgbClr val="FFFFFF"/>
                </a:solidFill>
                <a:latin typeface="Newsreader SemiBold" pitchFamily="34" charset="0"/>
              </a:rPr>
              <a:t>Four pieces from the quarter</a:t>
            </a:r>
            <a:endParaRPr lang="en-US" sz="2025" dirty="0"/>
          </a:p>
        </p:txBody>
      </p:sp>
      <p:sp>
        <p:nvSpPr>
          <p:cNvPr id="14" name="Shape 13"/>
          <p:cNvSpPr/>
          <p:nvPr/>
        </p:nvSpPr>
        <p:spPr>
          <a:xfrm>
            <a:off x="609600" y="4867275"/>
            <a:ext cx="533400" cy="19050"/>
          </a:xfrm>
          <a:prstGeom prst="rect">
            <a:avLst/>
          </a:prstGeom>
          <a:solidFill>
            <a:srgbClr val="B68757"/>
          </a:solidFill>
          <a:ln/>
        </p:spPr>
        <p:txBody>
          <a:bodyPr/>
          <a:lstStyle/>
          <a:p>
            <a:endParaRPr lang="en-US"/>
          </a:p>
        </p:txBody>
      </p:sp>
      <p:sp>
        <p:nvSpPr>
          <p:cNvPr id="15" name="Text 14"/>
          <p:cNvSpPr txBox="1"/>
          <p:nvPr/>
        </p:nvSpPr>
        <p:spPr>
          <a:xfrm>
            <a:off x="609600" y="5057775"/>
            <a:ext cx="1443038" cy="1266825"/>
          </a:xfrm>
          <a:prstGeom prst="rect">
            <a:avLst/>
          </a:prstGeom>
          <a:noFill/>
          <a:ln/>
        </p:spPr>
        <p:txBody>
          <a:bodyPr wrap="square" lIns="0" tIns="0" rIns="0" bIns="0" rtlCol="0" anchor="t"/>
          <a:lstStyle/>
          <a:p>
            <a:pPr marL="0" indent="0" algn="l">
              <a:lnSpc>
                <a:spcPts val="1425"/>
              </a:lnSpc>
              <a:buNone/>
            </a:pPr>
            <a:r>
              <a:rPr lang="en-US" sz="900" kern="0" spc="15" dirty="0">
                <a:solidFill>
                  <a:srgbClr val="E8E2DA"/>
                </a:solidFill>
                <a:latin typeface="Quicksand" pitchFamily="34" charset="0"/>
              </a:rPr>
              <a:t>Each bears on how consumer businesses are valued and sold, and each is shown with the passage we marked and the reason it matters to an owner.</a:t>
            </a:r>
            <a:endParaRPr lang="en-US" sz="900" dirty="0"/>
          </a:p>
        </p:txBody>
      </p:sp>
      <p:sp>
        <p:nvSpPr>
          <p:cNvPr id="16" name="Shape 15"/>
          <p:cNvSpPr/>
          <p:nvPr/>
        </p:nvSpPr>
        <p:spPr>
          <a:xfrm>
            <a:off x="2400300" y="1238250"/>
            <a:ext cx="3543300" cy="2771775"/>
          </a:xfrm>
          <a:prstGeom prst="rect">
            <a:avLst/>
          </a:prstGeom>
          <a:solidFill>
            <a:srgbClr val="FAF7F3"/>
          </a:solidFill>
          <a:ln/>
        </p:spPr>
        <p:txBody>
          <a:bodyPr/>
          <a:lstStyle/>
          <a:p>
            <a:endParaRPr lang="en-US"/>
          </a:p>
        </p:txBody>
      </p:sp>
      <p:sp>
        <p:nvSpPr>
          <p:cNvPr id="17" name="Shape 16"/>
          <p:cNvSpPr/>
          <p:nvPr/>
        </p:nvSpPr>
        <p:spPr>
          <a:xfrm>
            <a:off x="2400300" y="1238250"/>
            <a:ext cx="3543300" cy="28575"/>
          </a:xfrm>
          <a:prstGeom prst="rect">
            <a:avLst/>
          </a:prstGeom>
          <a:solidFill>
            <a:srgbClr val="B68757"/>
          </a:solidFill>
          <a:ln/>
        </p:spPr>
        <p:txBody>
          <a:bodyPr/>
          <a:lstStyle/>
          <a:p>
            <a:endParaRPr lang="en-US"/>
          </a:p>
        </p:txBody>
      </p:sp>
      <p:sp>
        <p:nvSpPr>
          <p:cNvPr id="18" name="Text 17"/>
          <p:cNvSpPr txBox="1"/>
          <p:nvPr/>
        </p:nvSpPr>
        <p:spPr>
          <a:xfrm>
            <a:off x="2552700" y="1390650"/>
            <a:ext cx="2064841" cy="123825"/>
          </a:xfrm>
          <a:prstGeom prst="rect">
            <a:avLst/>
          </a:prstGeom>
          <a:noFill/>
          <a:ln/>
        </p:spPr>
        <p:txBody>
          <a:bodyPr wrap="none" lIns="0" tIns="0" rIns="0" bIns="0" rtlCol="0" anchor="t"/>
          <a:lstStyle/>
          <a:p>
            <a:pPr marL="0" indent="0" algn="l">
              <a:lnSpc>
                <a:spcPts val="975"/>
              </a:lnSpc>
              <a:buNone/>
            </a:pPr>
            <a:r>
              <a:rPr lang="en-US" sz="638" b="1" kern="0" spc="150" dirty="0">
                <a:solidFill>
                  <a:srgbClr val="8C6239"/>
                </a:solidFill>
                <a:latin typeface="Quicksand" pitchFamily="34" charset="0"/>
              </a:rPr>
              <a:t>USDA ECONOMIC RESEARCH SERVICE</a:t>
            </a:r>
            <a:endParaRPr lang="en-US" sz="638" dirty="0"/>
          </a:p>
        </p:txBody>
      </p:sp>
      <p:sp>
        <p:nvSpPr>
          <p:cNvPr id="19" name="Text 18"/>
          <p:cNvSpPr txBox="1"/>
          <p:nvPr/>
        </p:nvSpPr>
        <p:spPr>
          <a:xfrm>
            <a:off x="4926211" y="1385888"/>
            <a:ext cx="922139" cy="123825"/>
          </a:xfrm>
          <a:prstGeom prst="rect">
            <a:avLst/>
          </a:prstGeom>
          <a:noFill/>
          <a:ln/>
        </p:spPr>
        <p:txBody>
          <a:bodyPr wrap="none" lIns="0" tIns="0" rIns="0" bIns="0" rtlCol="0" anchor="t"/>
          <a:lstStyle/>
          <a:p>
            <a:pPr marL="0" indent="0" algn="l">
              <a:lnSpc>
                <a:spcPts val="975"/>
              </a:lnSpc>
              <a:buNone/>
            </a:pPr>
            <a:r>
              <a:rPr lang="en-US" sz="713" kern="0" spc="15" dirty="0">
                <a:solidFill>
                  <a:srgbClr val="6F6A66"/>
                </a:solidFill>
                <a:latin typeface="Quicksand" pitchFamily="34" charset="0"/>
              </a:rPr>
              <a:t>September 25, 2026</a:t>
            </a:r>
            <a:endParaRPr lang="en-US" sz="713" dirty="0"/>
          </a:p>
        </p:txBody>
      </p:sp>
      <p:sp>
        <p:nvSpPr>
          <p:cNvPr id="20" name="Text 19"/>
          <p:cNvSpPr txBox="1"/>
          <p:nvPr/>
        </p:nvSpPr>
        <p:spPr>
          <a:xfrm>
            <a:off x="2552700" y="1578769"/>
            <a:ext cx="3238500" cy="185738"/>
          </a:xfrm>
          <a:prstGeom prst="rect">
            <a:avLst/>
          </a:prstGeom>
          <a:noFill/>
          <a:ln/>
        </p:spPr>
        <p:txBody>
          <a:bodyPr wrap="none" lIns="0" tIns="0" rIns="0" bIns="0" rtlCol="0" anchor="t"/>
          <a:lstStyle/>
          <a:p>
            <a:pPr marL="0" indent="0" algn="l">
              <a:lnSpc>
                <a:spcPts val="1463"/>
              </a:lnSpc>
              <a:buNone/>
            </a:pPr>
            <a:r>
              <a:rPr lang="en-US" sz="1125" kern="0" spc="15" dirty="0">
                <a:solidFill>
                  <a:srgbClr val="1B1A1A"/>
                </a:solidFill>
                <a:latin typeface="Newsreader SemiBold" pitchFamily="34" charset="0"/>
              </a:rPr>
              <a:t>Food Price Outlook: Summary Findings</a:t>
            </a:r>
            <a:endParaRPr lang="en-US" sz="1125" dirty="0"/>
          </a:p>
        </p:txBody>
      </p:sp>
      <p:sp>
        <p:nvSpPr>
          <p:cNvPr id="21" name="Shape 20"/>
          <p:cNvSpPr/>
          <p:nvPr/>
        </p:nvSpPr>
        <p:spPr>
          <a:xfrm>
            <a:off x="2552700" y="1862138"/>
            <a:ext cx="19050" cy="495300"/>
          </a:xfrm>
          <a:prstGeom prst="rect">
            <a:avLst/>
          </a:prstGeom>
          <a:solidFill>
            <a:srgbClr val="B68757"/>
          </a:solidFill>
          <a:ln/>
        </p:spPr>
        <p:txBody>
          <a:bodyPr/>
          <a:lstStyle/>
          <a:p>
            <a:endParaRPr lang="en-US"/>
          </a:p>
        </p:txBody>
      </p:sp>
      <p:sp>
        <p:nvSpPr>
          <p:cNvPr id="22" name="Text 21"/>
          <p:cNvSpPr txBox="1"/>
          <p:nvPr/>
        </p:nvSpPr>
        <p:spPr>
          <a:xfrm>
            <a:off x="2686050" y="1854994"/>
            <a:ext cx="3120676" cy="333375"/>
          </a:xfrm>
          <a:prstGeom prst="rect">
            <a:avLst/>
          </a:prstGeom>
          <a:noFill/>
          <a:ln/>
        </p:spPr>
        <p:txBody>
          <a:bodyPr wrap="square" lIns="0" tIns="0" rIns="0" bIns="0" rtlCol="0" anchor="t"/>
          <a:lstStyle/>
          <a:p>
            <a:pPr marL="0" indent="0" algn="l">
              <a:lnSpc>
                <a:spcPts val="1313"/>
              </a:lnSpc>
              <a:buNone/>
            </a:pPr>
            <a:r>
              <a:rPr lang="en-US" sz="938" i="1" kern="0" spc="15" dirty="0">
                <a:solidFill>
                  <a:srgbClr val="2A2928"/>
                </a:solidFill>
                <a:latin typeface="Newsreader Medium" pitchFamily="34" charset="0"/>
              </a:rPr>
              <a:t>“In 2026, prices for all food are forecast to increase 2.9 percent, with a forecast interval of 2.5 to 3.2 percent.”</a:t>
            </a:r>
            <a:endParaRPr lang="en-US" sz="938" dirty="0"/>
          </a:p>
        </p:txBody>
      </p:sp>
      <p:sp>
        <p:nvSpPr>
          <p:cNvPr id="23" name="Text 22"/>
          <p:cNvSpPr txBox="1"/>
          <p:nvPr/>
        </p:nvSpPr>
        <p:spPr>
          <a:xfrm>
            <a:off x="2686050" y="2224088"/>
            <a:ext cx="3105150" cy="133350"/>
          </a:xfrm>
          <a:prstGeom prst="rect">
            <a:avLst/>
          </a:prstGeom>
          <a:noFill/>
          <a:ln/>
        </p:spPr>
        <p:txBody>
          <a:bodyPr wrap="none" lIns="0" tIns="0" rIns="0" bIns="0" rtlCol="0" anchor="t"/>
          <a:lstStyle/>
          <a:p>
            <a:pPr marL="0" indent="0" algn="l">
              <a:lnSpc>
                <a:spcPts val="1050"/>
              </a:lnSpc>
              <a:buNone/>
            </a:pPr>
            <a:r>
              <a:rPr lang="en-US" sz="713" kern="0" spc="15" dirty="0">
                <a:solidFill>
                  <a:srgbClr val="6F6A66"/>
                </a:solidFill>
                <a:latin typeface="Quicksand" pitchFamily="34" charset="0"/>
              </a:rPr>
              <a:t>USDA Economic Research Service, Food Price Outlook</a:t>
            </a:r>
            <a:endParaRPr lang="en-US" sz="713" dirty="0"/>
          </a:p>
        </p:txBody>
      </p:sp>
      <p:sp>
        <p:nvSpPr>
          <p:cNvPr id="24" name="Text 23"/>
          <p:cNvSpPr txBox="1"/>
          <p:nvPr/>
        </p:nvSpPr>
        <p:spPr>
          <a:xfrm>
            <a:off x="2552700" y="2836069"/>
            <a:ext cx="3254692" cy="738188"/>
          </a:xfrm>
          <a:prstGeom prst="rect">
            <a:avLst/>
          </a:prstGeom>
          <a:noFill/>
          <a:ln/>
        </p:spPr>
        <p:txBody>
          <a:bodyPr wrap="square" lIns="0" tIns="0" rIns="0" bIns="0" rtlCol="0" anchor="t"/>
          <a:lstStyle/>
          <a:p>
            <a:pPr marL="0" indent="0" algn="l">
              <a:lnSpc>
                <a:spcPts val="1163"/>
              </a:lnSpc>
              <a:buNone/>
            </a:pPr>
            <a:r>
              <a:rPr lang="en-US" sz="788" b="1" kern="0" spc="15" dirty="0">
                <a:solidFill>
                  <a:srgbClr val="1B1A1A"/>
                </a:solidFill>
                <a:latin typeface="Quicksand" pitchFamily="34" charset="0"/>
              </a:rPr>
              <a:t>Key takeaway.</a:t>
            </a:r>
            <a:r>
              <a:rPr lang="en-US" sz="788" kern="0" spc="15" dirty="0">
                <a:solidFill>
                  <a:srgbClr val="333231"/>
                </a:solidFill>
                <a:latin typeface="Quicksand" pitchFamily="34" charset="0"/>
              </a:rPr>
              <a:t> Food-at-home prices are forecast to rise 2.4% and food-away-from-home prices 3.5%, with beef and veal up 9.4% and eggs down 29.4%. Input costs are moving in different directions by category, which is why buyers ask for price and cost history by product line.</a:t>
            </a:r>
            <a:endParaRPr lang="en-US" sz="788" dirty="0"/>
          </a:p>
        </p:txBody>
      </p:sp>
      <p:sp>
        <p:nvSpPr>
          <p:cNvPr id="25" name="Shape 24"/>
          <p:cNvSpPr/>
          <p:nvPr/>
        </p:nvSpPr>
        <p:spPr>
          <a:xfrm>
            <a:off x="2552700" y="3657600"/>
            <a:ext cx="904875" cy="228600"/>
          </a:xfrm>
          <a:prstGeom prst="rect">
            <a:avLst/>
          </a:prstGeom>
          <a:solidFill>
            <a:srgbClr val="1B1A1A"/>
          </a:solidFill>
          <a:ln/>
        </p:spPr>
        <p:txBody>
          <a:bodyPr/>
          <a:lstStyle/>
          <a:p>
            <a:endParaRPr lang="en-US"/>
          </a:p>
        </p:txBody>
      </p:sp>
      <p:sp>
        <p:nvSpPr>
          <p:cNvPr id="26" name="Text 25">
            <a:hlinkClick r:id="rId5"/>
          </p:cNvPr>
          <p:cNvSpPr txBox="1"/>
          <p:nvPr/>
        </p:nvSpPr>
        <p:spPr>
          <a:xfrm>
            <a:off x="2686050" y="3709988"/>
            <a:ext cx="695325" cy="114300"/>
          </a:xfrm>
          <a:prstGeom prst="rect">
            <a:avLst/>
          </a:prstGeom>
          <a:noFill/>
          <a:ln/>
        </p:spPr>
        <p:txBody>
          <a:bodyPr wrap="none" lIns="0" tIns="0" rIns="0" bIns="0" rtlCol="0" anchor="t"/>
          <a:lstStyle/>
          <a:p>
            <a:pPr marL="0" indent="0" algn="l">
              <a:lnSpc>
                <a:spcPts val="900"/>
              </a:lnSpc>
              <a:buNone/>
            </a:pPr>
            <a:r>
              <a:rPr lang="en-US" sz="675" b="1" kern="0" spc="150" dirty="0">
                <a:solidFill>
                  <a:srgbClr val="FFFFFF"/>
                </a:solidFill>
                <a:latin typeface="Quicksand" pitchFamily="34" charset="0"/>
              </a:rPr>
              <a:t>READ HERE</a:t>
            </a:r>
            <a:endParaRPr lang="en-US" sz="675" dirty="0"/>
          </a:p>
        </p:txBody>
      </p:sp>
      <p:sp>
        <p:nvSpPr>
          <p:cNvPr id="27" name="Shape 26"/>
          <p:cNvSpPr/>
          <p:nvPr/>
        </p:nvSpPr>
        <p:spPr>
          <a:xfrm>
            <a:off x="6096000" y="1238250"/>
            <a:ext cx="3543300" cy="2771775"/>
          </a:xfrm>
          <a:prstGeom prst="rect">
            <a:avLst/>
          </a:prstGeom>
          <a:solidFill>
            <a:srgbClr val="FAF7F3"/>
          </a:solidFill>
          <a:ln/>
        </p:spPr>
        <p:txBody>
          <a:bodyPr/>
          <a:lstStyle/>
          <a:p>
            <a:endParaRPr lang="en-US"/>
          </a:p>
        </p:txBody>
      </p:sp>
      <p:sp>
        <p:nvSpPr>
          <p:cNvPr id="28" name="Shape 27"/>
          <p:cNvSpPr/>
          <p:nvPr/>
        </p:nvSpPr>
        <p:spPr>
          <a:xfrm>
            <a:off x="6096000" y="1238250"/>
            <a:ext cx="3543300" cy="28575"/>
          </a:xfrm>
          <a:prstGeom prst="rect">
            <a:avLst/>
          </a:prstGeom>
          <a:solidFill>
            <a:srgbClr val="B68757"/>
          </a:solidFill>
          <a:ln/>
        </p:spPr>
        <p:txBody>
          <a:bodyPr/>
          <a:lstStyle/>
          <a:p>
            <a:endParaRPr lang="en-US"/>
          </a:p>
        </p:txBody>
      </p:sp>
      <p:sp>
        <p:nvSpPr>
          <p:cNvPr id="29" name="Text 28"/>
          <p:cNvSpPr txBox="1"/>
          <p:nvPr/>
        </p:nvSpPr>
        <p:spPr>
          <a:xfrm>
            <a:off x="6248400" y="1390650"/>
            <a:ext cx="2651522" cy="123825"/>
          </a:xfrm>
          <a:prstGeom prst="rect">
            <a:avLst/>
          </a:prstGeom>
          <a:noFill/>
          <a:ln/>
        </p:spPr>
        <p:txBody>
          <a:bodyPr wrap="none" lIns="0" tIns="0" rIns="0" bIns="0" rtlCol="0" anchor="t"/>
          <a:lstStyle/>
          <a:p>
            <a:pPr marL="0" indent="0" algn="l">
              <a:lnSpc>
                <a:spcPts val="975"/>
              </a:lnSpc>
              <a:buNone/>
            </a:pPr>
            <a:r>
              <a:rPr lang="en-US" sz="638" b="1" kern="0" spc="150" dirty="0">
                <a:solidFill>
                  <a:srgbClr val="8C6239"/>
                </a:solidFill>
                <a:latin typeface="Quicksand" pitchFamily="34" charset="0"/>
              </a:rPr>
              <a:t>PRIVATE LABEL MANUFACTURERS ASSOCIATION</a:t>
            </a:r>
            <a:endParaRPr lang="en-US" sz="638" dirty="0"/>
          </a:p>
        </p:txBody>
      </p:sp>
      <p:sp>
        <p:nvSpPr>
          <p:cNvPr id="30" name="Text 29"/>
          <p:cNvSpPr txBox="1"/>
          <p:nvPr/>
        </p:nvSpPr>
        <p:spPr>
          <a:xfrm>
            <a:off x="8971211" y="1385888"/>
            <a:ext cx="572839" cy="123825"/>
          </a:xfrm>
          <a:prstGeom prst="rect">
            <a:avLst/>
          </a:prstGeom>
          <a:noFill/>
          <a:ln/>
        </p:spPr>
        <p:txBody>
          <a:bodyPr wrap="none" lIns="0" tIns="0" rIns="0" bIns="0" rtlCol="0" anchor="t"/>
          <a:lstStyle/>
          <a:p>
            <a:pPr marL="0" indent="0" algn="l">
              <a:lnSpc>
                <a:spcPts val="975"/>
              </a:lnSpc>
              <a:buNone/>
            </a:pPr>
            <a:r>
              <a:rPr lang="en-US" sz="713" kern="0" spc="15" dirty="0">
                <a:solidFill>
                  <a:srgbClr val="6F6A66"/>
                </a:solidFill>
                <a:latin typeface="Quicksand" pitchFamily="34" charset="0"/>
              </a:rPr>
              <a:t>July 8, 2026</a:t>
            </a:r>
            <a:endParaRPr lang="en-US" sz="713" dirty="0"/>
          </a:p>
        </p:txBody>
      </p:sp>
      <p:sp>
        <p:nvSpPr>
          <p:cNvPr id="31" name="Text 30"/>
          <p:cNvSpPr txBox="1"/>
          <p:nvPr/>
        </p:nvSpPr>
        <p:spPr>
          <a:xfrm>
            <a:off x="6248400" y="1578769"/>
            <a:ext cx="3254692" cy="371475"/>
          </a:xfrm>
          <a:prstGeom prst="rect">
            <a:avLst/>
          </a:prstGeom>
          <a:noFill/>
          <a:ln/>
        </p:spPr>
        <p:txBody>
          <a:bodyPr wrap="square" lIns="0" tIns="0" rIns="0" bIns="0" rtlCol="0" anchor="t"/>
          <a:lstStyle/>
          <a:p>
            <a:pPr marL="0" indent="0" algn="l">
              <a:lnSpc>
                <a:spcPts val="1463"/>
              </a:lnSpc>
              <a:buNone/>
            </a:pPr>
            <a:r>
              <a:rPr lang="en-US" sz="1125" kern="0" spc="15" dirty="0">
                <a:solidFill>
                  <a:srgbClr val="1B1A1A"/>
                </a:solidFill>
                <a:latin typeface="Newsreader SemiBold" pitchFamily="34" charset="0"/>
              </a:rPr>
              <a:t>Store Brands Continue Gains in Unit Sales and Shares</a:t>
            </a:r>
            <a:endParaRPr lang="en-US" sz="1125" dirty="0"/>
          </a:p>
        </p:txBody>
      </p:sp>
      <p:sp>
        <p:nvSpPr>
          <p:cNvPr id="32" name="Shape 31"/>
          <p:cNvSpPr/>
          <p:nvPr/>
        </p:nvSpPr>
        <p:spPr>
          <a:xfrm>
            <a:off x="6248400" y="2047875"/>
            <a:ext cx="19050" cy="495300"/>
          </a:xfrm>
          <a:prstGeom prst="rect">
            <a:avLst/>
          </a:prstGeom>
          <a:solidFill>
            <a:srgbClr val="B68757"/>
          </a:solidFill>
          <a:ln/>
        </p:spPr>
        <p:txBody>
          <a:bodyPr/>
          <a:lstStyle/>
          <a:p>
            <a:endParaRPr lang="en-US"/>
          </a:p>
        </p:txBody>
      </p:sp>
      <p:sp>
        <p:nvSpPr>
          <p:cNvPr id="33" name="Text 32"/>
          <p:cNvSpPr txBox="1"/>
          <p:nvPr/>
        </p:nvSpPr>
        <p:spPr>
          <a:xfrm>
            <a:off x="6381750" y="2040731"/>
            <a:ext cx="3120676" cy="333375"/>
          </a:xfrm>
          <a:prstGeom prst="rect">
            <a:avLst/>
          </a:prstGeom>
          <a:noFill/>
          <a:ln/>
        </p:spPr>
        <p:txBody>
          <a:bodyPr wrap="square" lIns="0" tIns="0" rIns="0" bIns="0" rtlCol="0" anchor="t"/>
          <a:lstStyle/>
          <a:p>
            <a:pPr marL="0" indent="0" algn="l">
              <a:lnSpc>
                <a:spcPts val="1313"/>
              </a:lnSpc>
              <a:buNone/>
            </a:pPr>
            <a:r>
              <a:rPr lang="en-US" sz="938" i="1" kern="0" spc="15" dirty="0">
                <a:solidFill>
                  <a:srgbClr val="2A2928"/>
                </a:solidFill>
                <a:latin typeface="Newsreader Medium" pitchFamily="34" charset="0"/>
              </a:rPr>
              <a:t>“The disconnect between unit sales and dollar sales reflects, in part, fluctuating national brand pricing.”</a:t>
            </a:r>
            <a:endParaRPr lang="en-US" sz="938" dirty="0"/>
          </a:p>
        </p:txBody>
      </p:sp>
      <p:sp>
        <p:nvSpPr>
          <p:cNvPr id="34" name="Text 33"/>
          <p:cNvSpPr txBox="1"/>
          <p:nvPr/>
        </p:nvSpPr>
        <p:spPr>
          <a:xfrm>
            <a:off x="6381750" y="2409825"/>
            <a:ext cx="3105150" cy="133350"/>
          </a:xfrm>
          <a:prstGeom prst="rect">
            <a:avLst/>
          </a:prstGeom>
          <a:noFill/>
          <a:ln/>
        </p:spPr>
        <p:txBody>
          <a:bodyPr wrap="none" lIns="0" tIns="0" rIns="0" bIns="0" rtlCol="0" anchor="t"/>
          <a:lstStyle/>
          <a:p>
            <a:pPr marL="0" indent="0" algn="l">
              <a:lnSpc>
                <a:spcPts val="1050"/>
              </a:lnSpc>
              <a:buNone/>
            </a:pPr>
            <a:r>
              <a:rPr lang="en-US" sz="713" kern="0" spc="15" dirty="0">
                <a:solidFill>
                  <a:srgbClr val="6F6A66"/>
                </a:solidFill>
                <a:latin typeface="Quicksand" pitchFamily="34" charset="0"/>
              </a:rPr>
              <a:t>Peggy Davies, President, Private Label Manufacturers Association</a:t>
            </a:r>
            <a:endParaRPr lang="en-US" sz="713" dirty="0"/>
          </a:p>
        </p:txBody>
      </p:sp>
      <p:sp>
        <p:nvSpPr>
          <p:cNvPr id="35" name="Text 34"/>
          <p:cNvSpPr txBox="1"/>
          <p:nvPr/>
        </p:nvSpPr>
        <p:spPr>
          <a:xfrm>
            <a:off x="6248400" y="2983706"/>
            <a:ext cx="3254692" cy="590550"/>
          </a:xfrm>
          <a:prstGeom prst="rect">
            <a:avLst/>
          </a:prstGeom>
          <a:noFill/>
          <a:ln/>
        </p:spPr>
        <p:txBody>
          <a:bodyPr wrap="square" lIns="0" tIns="0" rIns="0" bIns="0" rtlCol="0" anchor="t"/>
          <a:lstStyle/>
          <a:p>
            <a:pPr marL="0" indent="0" algn="l">
              <a:lnSpc>
                <a:spcPts val="1163"/>
              </a:lnSpc>
              <a:buNone/>
            </a:pPr>
            <a:r>
              <a:rPr lang="en-US" sz="788" b="1" kern="0" spc="15" dirty="0">
                <a:solidFill>
                  <a:srgbClr val="1B1A1A"/>
                </a:solidFill>
                <a:latin typeface="Quicksand" pitchFamily="34" charset="0"/>
              </a:rPr>
              <a:t>Key takeaway.</a:t>
            </a:r>
            <a:r>
              <a:rPr lang="en-US" sz="788" kern="0" spc="15" dirty="0">
                <a:solidFill>
                  <a:srgbClr val="333231"/>
                </a:solidFill>
                <a:latin typeface="Quicksand" pitchFamily="34" charset="0"/>
              </a:rPr>
              <a:t> Store brand unit share reached a record 23.8% in the six months to mid-June, while store brand dollar sales were flat and national brand dollars rose 2.2%. Buyers pay for brands that hold unit volume while they raise price.</a:t>
            </a:r>
            <a:endParaRPr lang="en-US" sz="788" dirty="0"/>
          </a:p>
        </p:txBody>
      </p:sp>
      <p:sp>
        <p:nvSpPr>
          <p:cNvPr id="36" name="Shape 35"/>
          <p:cNvSpPr/>
          <p:nvPr/>
        </p:nvSpPr>
        <p:spPr>
          <a:xfrm>
            <a:off x="6248400" y="3657600"/>
            <a:ext cx="904875" cy="228600"/>
          </a:xfrm>
          <a:prstGeom prst="rect">
            <a:avLst/>
          </a:prstGeom>
          <a:solidFill>
            <a:srgbClr val="1B1A1A"/>
          </a:solidFill>
          <a:ln/>
        </p:spPr>
        <p:txBody>
          <a:bodyPr/>
          <a:lstStyle/>
          <a:p>
            <a:endParaRPr lang="en-US"/>
          </a:p>
        </p:txBody>
      </p:sp>
      <p:sp>
        <p:nvSpPr>
          <p:cNvPr id="37" name="Text 36">
            <a:hlinkClick r:id="rId6"/>
          </p:cNvPr>
          <p:cNvSpPr txBox="1"/>
          <p:nvPr/>
        </p:nvSpPr>
        <p:spPr>
          <a:xfrm>
            <a:off x="6381750" y="3709988"/>
            <a:ext cx="695325" cy="114300"/>
          </a:xfrm>
          <a:prstGeom prst="rect">
            <a:avLst/>
          </a:prstGeom>
          <a:noFill/>
          <a:ln/>
        </p:spPr>
        <p:txBody>
          <a:bodyPr wrap="none" lIns="0" tIns="0" rIns="0" bIns="0" rtlCol="0" anchor="t"/>
          <a:lstStyle/>
          <a:p>
            <a:pPr marL="0" indent="0" algn="l">
              <a:lnSpc>
                <a:spcPts val="900"/>
              </a:lnSpc>
              <a:buNone/>
            </a:pPr>
            <a:r>
              <a:rPr lang="en-US" sz="675" b="1" kern="0" spc="150" dirty="0">
                <a:solidFill>
                  <a:srgbClr val="FFFFFF"/>
                </a:solidFill>
                <a:latin typeface="Quicksand" pitchFamily="34" charset="0"/>
              </a:rPr>
              <a:t>READ HERE</a:t>
            </a:r>
            <a:endParaRPr lang="en-US" sz="675" dirty="0"/>
          </a:p>
        </p:txBody>
      </p:sp>
      <p:sp>
        <p:nvSpPr>
          <p:cNvPr id="38" name="Shape 37"/>
          <p:cNvSpPr/>
          <p:nvPr/>
        </p:nvSpPr>
        <p:spPr>
          <a:xfrm>
            <a:off x="2400300" y="4162425"/>
            <a:ext cx="3543300" cy="2771775"/>
          </a:xfrm>
          <a:prstGeom prst="rect">
            <a:avLst/>
          </a:prstGeom>
          <a:solidFill>
            <a:srgbClr val="FAF7F3"/>
          </a:solidFill>
          <a:ln/>
        </p:spPr>
        <p:txBody>
          <a:bodyPr/>
          <a:lstStyle/>
          <a:p>
            <a:endParaRPr lang="en-US"/>
          </a:p>
        </p:txBody>
      </p:sp>
      <p:sp>
        <p:nvSpPr>
          <p:cNvPr id="39" name="Shape 38"/>
          <p:cNvSpPr/>
          <p:nvPr/>
        </p:nvSpPr>
        <p:spPr>
          <a:xfrm>
            <a:off x="2400300" y="4162425"/>
            <a:ext cx="3543300" cy="28575"/>
          </a:xfrm>
          <a:prstGeom prst="rect">
            <a:avLst/>
          </a:prstGeom>
          <a:solidFill>
            <a:srgbClr val="B68757"/>
          </a:solidFill>
          <a:ln/>
        </p:spPr>
        <p:txBody>
          <a:bodyPr/>
          <a:lstStyle/>
          <a:p>
            <a:endParaRPr lang="en-US"/>
          </a:p>
        </p:txBody>
      </p:sp>
      <p:sp>
        <p:nvSpPr>
          <p:cNvPr id="40" name="Text 39"/>
          <p:cNvSpPr txBox="1"/>
          <p:nvPr/>
        </p:nvSpPr>
        <p:spPr>
          <a:xfrm>
            <a:off x="2552700" y="4314825"/>
            <a:ext cx="2138363" cy="123825"/>
          </a:xfrm>
          <a:prstGeom prst="rect">
            <a:avLst/>
          </a:prstGeom>
          <a:noFill/>
          <a:ln/>
        </p:spPr>
        <p:txBody>
          <a:bodyPr wrap="none" lIns="0" tIns="0" rIns="0" bIns="0" rtlCol="0" anchor="t"/>
          <a:lstStyle/>
          <a:p>
            <a:pPr marL="0" indent="0" algn="l">
              <a:lnSpc>
                <a:spcPts val="975"/>
              </a:lnSpc>
              <a:buNone/>
            </a:pPr>
            <a:r>
              <a:rPr lang="en-US" sz="638" b="1" kern="0" spc="150" dirty="0">
                <a:solidFill>
                  <a:srgbClr val="8C6239"/>
                </a:solidFill>
                <a:latin typeface="Quicksand" pitchFamily="34" charset="0"/>
              </a:rPr>
              <a:t>NATIONAL RESTAURANT ASSOCIATION</a:t>
            </a:r>
            <a:endParaRPr lang="en-US" sz="638" dirty="0"/>
          </a:p>
        </p:txBody>
      </p:sp>
      <p:sp>
        <p:nvSpPr>
          <p:cNvPr id="41" name="Text 40"/>
          <p:cNvSpPr txBox="1"/>
          <p:nvPr/>
        </p:nvSpPr>
        <p:spPr>
          <a:xfrm>
            <a:off x="4924276" y="4310063"/>
            <a:ext cx="924074" cy="123825"/>
          </a:xfrm>
          <a:prstGeom prst="rect">
            <a:avLst/>
          </a:prstGeom>
          <a:noFill/>
          <a:ln/>
        </p:spPr>
        <p:txBody>
          <a:bodyPr wrap="none" lIns="0" tIns="0" rIns="0" bIns="0" rtlCol="0" anchor="t"/>
          <a:lstStyle/>
          <a:p>
            <a:pPr marL="0" indent="0" algn="l">
              <a:lnSpc>
                <a:spcPts val="975"/>
              </a:lnSpc>
              <a:buNone/>
            </a:pPr>
            <a:r>
              <a:rPr lang="en-US" sz="713" kern="0" spc="15" dirty="0">
                <a:solidFill>
                  <a:srgbClr val="6F6A66"/>
                </a:solidFill>
                <a:latin typeface="Quicksand" pitchFamily="34" charset="0"/>
              </a:rPr>
              <a:t>September 30, 2026</a:t>
            </a:r>
            <a:endParaRPr lang="en-US" sz="713" dirty="0"/>
          </a:p>
        </p:txBody>
      </p:sp>
      <p:sp>
        <p:nvSpPr>
          <p:cNvPr id="42" name="Text 41"/>
          <p:cNvSpPr txBox="1"/>
          <p:nvPr/>
        </p:nvSpPr>
        <p:spPr>
          <a:xfrm>
            <a:off x="2552700" y="4502944"/>
            <a:ext cx="3238500" cy="185738"/>
          </a:xfrm>
          <a:prstGeom prst="rect">
            <a:avLst/>
          </a:prstGeom>
          <a:noFill/>
          <a:ln/>
        </p:spPr>
        <p:txBody>
          <a:bodyPr wrap="none" lIns="0" tIns="0" rIns="0" bIns="0" rtlCol="0" anchor="t"/>
          <a:lstStyle/>
          <a:p>
            <a:pPr marL="0" indent="0" algn="l">
              <a:lnSpc>
                <a:spcPts val="1463"/>
              </a:lnSpc>
              <a:buNone/>
            </a:pPr>
            <a:r>
              <a:rPr lang="en-US" sz="1125" kern="0" spc="15" dirty="0">
                <a:solidFill>
                  <a:srgbClr val="1B1A1A"/>
                </a:solidFill>
                <a:latin typeface="Newsreader SemiBold" pitchFamily="34" charset="0"/>
              </a:rPr>
              <a:t>Restaurant Performance Index: August 2026</a:t>
            </a:r>
            <a:endParaRPr lang="en-US" sz="1125" dirty="0"/>
          </a:p>
        </p:txBody>
      </p:sp>
      <p:sp>
        <p:nvSpPr>
          <p:cNvPr id="43" name="Shape 42"/>
          <p:cNvSpPr/>
          <p:nvPr/>
        </p:nvSpPr>
        <p:spPr>
          <a:xfrm>
            <a:off x="2552700" y="4786313"/>
            <a:ext cx="19050" cy="828675"/>
          </a:xfrm>
          <a:prstGeom prst="rect">
            <a:avLst/>
          </a:prstGeom>
          <a:solidFill>
            <a:srgbClr val="B68757"/>
          </a:solidFill>
          <a:ln/>
        </p:spPr>
        <p:txBody>
          <a:bodyPr/>
          <a:lstStyle/>
          <a:p>
            <a:endParaRPr lang="en-US"/>
          </a:p>
        </p:txBody>
      </p:sp>
      <p:sp>
        <p:nvSpPr>
          <p:cNvPr id="44" name="Text 43"/>
          <p:cNvSpPr txBox="1"/>
          <p:nvPr/>
        </p:nvSpPr>
        <p:spPr>
          <a:xfrm>
            <a:off x="2686050" y="4779169"/>
            <a:ext cx="3120676" cy="666750"/>
          </a:xfrm>
          <a:prstGeom prst="rect">
            <a:avLst/>
          </a:prstGeom>
          <a:noFill/>
          <a:ln/>
        </p:spPr>
        <p:txBody>
          <a:bodyPr wrap="square" lIns="0" tIns="0" rIns="0" bIns="0" rtlCol="0" anchor="t"/>
          <a:lstStyle/>
          <a:p>
            <a:pPr marL="0" indent="0" algn="l">
              <a:lnSpc>
                <a:spcPts val="1313"/>
              </a:lnSpc>
              <a:buNone/>
            </a:pPr>
            <a:r>
              <a:rPr lang="en-US" sz="938" i="1" kern="0" spc="15" dirty="0">
                <a:solidFill>
                  <a:srgbClr val="2A2928"/>
                </a:solidFill>
                <a:latin typeface="Newsreader Medium" pitchFamily="34" charset="0"/>
              </a:rPr>
              <a:t>“The National Restaurant Association’s Restaurant Performance Index (RPI) rose for the fourth consecutive month in August, largely because of improvements in both same-store sales and customer traffic levels.”</a:t>
            </a:r>
            <a:endParaRPr lang="en-US" sz="938" dirty="0"/>
          </a:p>
        </p:txBody>
      </p:sp>
      <p:sp>
        <p:nvSpPr>
          <p:cNvPr id="45" name="Text 44"/>
          <p:cNvSpPr txBox="1"/>
          <p:nvPr/>
        </p:nvSpPr>
        <p:spPr>
          <a:xfrm>
            <a:off x="2686050" y="5481638"/>
            <a:ext cx="3105150" cy="133350"/>
          </a:xfrm>
          <a:prstGeom prst="rect">
            <a:avLst/>
          </a:prstGeom>
          <a:noFill/>
          <a:ln/>
        </p:spPr>
        <p:txBody>
          <a:bodyPr wrap="none" lIns="0" tIns="0" rIns="0" bIns="0" rtlCol="0" anchor="t"/>
          <a:lstStyle/>
          <a:p>
            <a:pPr marL="0" indent="0" algn="l">
              <a:lnSpc>
                <a:spcPts val="1050"/>
              </a:lnSpc>
              <a:buNone/>
            </a:pPr>
            <a:r>
              <a:rPr lang="en-US" sz="713" kern="0" spc="15" dirty="0">
                <a:solidFill>
                  <a:srgbClr val="6F6A66"/>
                </a:solidFill>
                <a:latin typeface="Quicksand" pitchFamily="34" charset="0"/>
              </a:rPr>
              <a:t>National Restaurant Association, Restaurant Performance Index</a:t>
            </a:r>
            <a:endParaRPr lang="en-US" sz="713" dirty="0"/>
          </a:p>
        </p:txBody>
      </p:sp>
      <p:sp>
        <p:nvSpPr>
          <p:cNvPr id="46" name="Text 45"/>
          <p:cNvSpPr txBox="1"/>
          <p:nvPr/>
        </p:nvSpPr>
        <p:spPr>
          <a:xfrm>
            <a:off x="2552700" y="5907881"/>
            <a:ext cx="3254692" cy="590550"/>
          </a:xfrm>
          <a:prstGeom prst="rect">
            <a:avLst/>
          </a:prstGeom>
          <a:noFill/>
          <a:ln/>
        </p:spPr>
        <p:txBody>
          <a:bodyPr wrap="square" lIns="0" tIns="0" rIns="0" bIns="0" rtlCol="0" anchor="t"/>
          <a:lstStyle/>
          <a:p>
            <a:pPr marL="0" indent="0" algn="l">
              <a:lnSpc>
                <a:spcPts val="1163"/>
              </a:lnSpc>
              <a:buNone/>
            </a:pPr>
            <a:r>
              <a:rPr lang="en-US" sz="788" b="1" kern="0" spc="15" dirty="0">
                <a:solidFill>
                  <a:srgbClr val="1B1A1A"/>
                </a:solidFill>
                <a:latin typeface="Quicksand" pitchFamily="34" charset="0"/>
              </a:rPr>
              <a:t>Key takeaway.</a:t>
            </a:r>
            <a:r>
              <a:rPr lang="en-US" sz="788" kern="0" spc="15" dirty="0">
                <a:solidFill>
                  <a:srgbClr val="333231"/>
                </a:solidFill>
                <a:latin typeface="Quicksand" pitchFamily="34" charset="0"/>
              </a:rPr>
              <a:t> The index stood at 100.6, with 51% of operators reporting higher same-store sales than a year earlier and 46% still reporting lower traffic. Distributors and equipment dealers that sell to restaurants are valued partly on the health of those customers.</a:t>
            </a:r>
            <a:endParaRPr lang="en-US" sz="788" dirty="0"/>
          </a:p>
        </p:txBody>
      </p:sp>
      <p:sp>
        <p:nvSpPr>
          <p:cNvPr id="47" name="Shape 46"/>
          <p:cNvSpPr/>
          <p:nvPr/>
        </p:nvSpPr>
        <p:spPr>
          <a:xfrm>
            <a:off x="2552700" y="6581775"/>
            <a:ext cx="904875" cy="228600"/>
          </a:xfrm>
          <a:prstGeom prst="rect">
            <a:avLst/>
          </a:prstGeom>
          <a:solidFill>
            <a:srgbClr val="1B1A1A"/>
          </a:solidFill>
          <a:ln/>
        </p:spPr>
        <p:txBody>
          <a:bodyPr/>
          <a:lstStyle/>
          <a:p>
            <a:endParaRPr lang="en-US"/>
          </a:p>
        </p:txBody>
      </p:sp>
      <p:sp>
        <p:nvSpPr>
          <p:cNvPr id="48" name="Text 47">
            <a:hlinkClick r:id="rId7"/>
          </p:cNvPr>
          <p:cNvSpPr txBox="1"/>
          <p:nvPr/>
        </p:nvSpPr>
        <p:spPr>
          <a:xfrm>
            <a:off x="2686050" y="6634163"/>
            <a:ext cx="695325" cy="114300"/>
          </a:xfrm>
          <a:prstGeom prst="rect">
            <a:avLst/>
          </a:prstGeom>
          <a:noFill/>
          <a:ln/>
        </p:spPr>
        <p:txBody>
          <a:bodyPr wrap="none" lIns="0" tIns="0" rIns="0" bIns="0" rtlCol="0" anchor="t"/>
          <a:lstStyle/>
          <a:p>
            <a:pPr marL="0" indent="0" algn="l">
              <a:lnSpc>
                <a:spcPts val="900"/>
              </a:lnSpc>
              <a:buNone/>
            </a:pPr>
            <a:r>
              <a:rPr lang="en-US" sz="675" b="1" kern="0" spc="150" dirty="0">
                <a:solidFill>
                  <a:srgbClr val="FFFFFF"/>
                </a:solidFill>
                <a:latin typeface="Quicksand" pitchFamily="34" charset="0"/>
              </a:rPr>
              <a:t>READ HERE</a:t>
            </a:r>
            <a:endParaRPr lang="en-US" sz="675" dirty="0"/>
          </a:p>
        </p:txBody>
      </p:sp>
      <p:sp>
        <p:nvSpPr>
          <p:cNvPr id="49" name="Shape 48"/>
          <p:cNvSpPr/>
          <p:nvPr/>
        </p:nvSpPr>
        <p:spPr>
          <a:xfrm>
            <a:off x="6096000" y="4162425"/>
            <a:ext cx="3543300" cy="2771775"/>
          </a:xfrm>
          <a:prstGeom prst="rect">
            <a:avLst/>
          </a:prstGeom>
          <a:solidFill>
            <a:srgbClr val="FAF7F3"/>
          </a:solidFill>
          <a:ln/>
        </p:spPr>
        <p:txBody>
          <a:bodyPr/>
          <a:lstStyle/>
          <a:p>
            <a:endParaRPr lang="en-US"/>
          </a:p>
        </p:txBody>
      </p:sp>
      <p:sp>
        <p:nvSpPr>
          <p:cNvPr id="50" name="Shape 49"/>
          <p:cNvSpPr/>
          <p:nvPr/>
        </p:nvSpPr>
        <p:spPr>
          <a:xfrm>
            <a:off x="6096000" y="4162425"/>
            <a:ext cx="3543300" cy="28575"/>
          </a:xfrm>
          <a:prstGeom prst="rect">
            <a:avLst/>
          </a:prstGeom>
          <a:solidFill>
            <a:srgbClr val="B68757"/>
          </a:solidFill>
          <a:ln/>
        </p:spPr>
        <p:txBody>
          <a:bodyPr/>
          <a:lstStyle/>
          <a:p>
            <a:endParaRPr lang="en-US"/>
          </a:p>
        </p:txBody>
      </p:sp>
      <p:sp>
        <p:nvSpPr>
          <p:cNvPr id="51" name="Text 50"/>
          <p:cNvSpPr txBox="1"/>
          <p:nvPr/>
        </p:nvSpPr>
        <p:spPr>
          <a:xfrm>
            <a:off x="6248400" y="4314825"/>
            <a:ext cx="592336" cy="123825"/>
          </a:xfrm>
          <a:prstGeom prst="rect">
            <a:avLst/>
          </a:prstGeom>
          <a:noFill/>
          <a:ln/>
        </p:spPr>
        <p:txBody>
          <a:bodyPr wrap="none" lIns="0" tIns="0" rIns="0" bIns="0" rtlCol="0" anchor="t"/>
          <a:lstStyle/>
          <a:p>
            <a:pPr marL="0" indent="0" algn="l">
              <a:lnSpc>
                <a:spcPts val="975"/>
              </a:lnSpc>
              <a:buNone/>
            </a:pPr>
            <a:r>
              <a:rPr lang="en-US" sz="638" b="1" kern="0" spc="150" dirty="0">
                <a:solidFill>
                  <a:srgbClr val="8C6239"/>
                </a:solidFill>
                <a:latin typeface="Quicksand" pitchFamily="34" charset="0"/>
              </a:rPr>
              <a:t>DELOITTE</a:t>
            </a:r>
            <a:endParaRPr lang="en-US" sz="638" dirty="0"/>
          </a:p>
        </p:txBody>
      </p:sp>
      <p:sp>
        <p:nvSpPr>
          <p:cNvPr id="52" name="Text 51"/>
          <p:cNvSpPr txBox="1"/>
          <p:nvPr/>
        </p:nvSpPr>
        <p:spPr>
          <a:xfrm>
            <a:off x="8633966" y="4310063"/>
            <a:ext cx="910084" cy="123825"/>
          </a:xfrm>
          <a:prstGeom prst="rect">
            <a:avLst/>
          </a:prstGeom>
          <a:noFill/>
          <a:ln/>
        </p:spPr>
        <p:txBody>
          <a:bodyPr wrap="none" lIns="0" tIns="0" rIns="0" bIns="0" rtlCol="0" anchor="t"/>
          <a:lstStyle/>
          <a:p>
            <a:pPr marL="0" indent="0" algn="l">
              <a:lnSpc>
                <a:spcPts val="975"/>
              </a:lnSpc>
              <a:buNone/>
            </a:pPr>
            <a:r>
              <a:rPr lang="en-US" sz="713" kern="0" spc="15" dirty="0">
                <a:solidFill>
                  <a:srgbClr val="6F6A66"/>
                </a:solidFill>
                <a:latin typeface="Quicksand" pitchFamily="34" charset="0"/>
              </a:rPr>
              <a:t>September 10, 2026</a:t>
            </a:r>
            <a:endParaRPr lang="en-US" sz="713" dirty="0"/>
          </a:p>
        </p:txBody>
      </p:sp>
      <p:sp>
        <p:nvSpPr>
          <p:cNvPr id="53" name="Text 52"/>
          <p:cNvSpPr txBox="1"/>
          <p:nvPr/>
        </p:nvSpPr>
        <p:spPr>
          <a:xfrm>
            <a:off x="6248400" y="4502944"/>
            <a:ext cx="3254692" cy="371475"/>
          </a:xfrm>
          <a:prstGeom prst="rect">
            <a:avLst/>
          </a:prstGeom>
          <a:noFill/>
          <a:ln/>
        </p:spPr>
        <p:txBody>
          <a:bodyPr wrap="square" lIns="0" tIns="0" rIns="0" bIns="0" rtlCol="0" anchor="t"/>
          <a:lstStyle/>
          <a:p>
            <a:pPr marL="0" indent="0" algn="l">
              <a:lnSpc>
                <a:spcPts val="1463"/>
              </a:lnSpc>
              <a:buNone/>
            </a:pPr>
            <a:r>
              <a:rPr lang="en-US" sz="1125" kern="0" spc="15" dirty="0">
                <a:solidFill>
                  <a:srgbClr val="1B1A1A"/>
                </a:solidFill>
                <a:latin typeface="Newsreader SemiBold" pitchFamily="34" charset="0"/>
              </a:rPr>
              <a:t>Deloitte Forecasts Holiday Retail Sales to Reach $1.70 Trillion to $1.71 Trillion</a:t>
            </a:r>
            <a:endParaRPr lang="en-US" sz="1125" dirty="0"/>
          </a:p>
        </p:txBody>
      </p:sp>
      <p:sp>
        <p:nvSpPr>
          <p:cNvPr id="54" name="Shape 53"/>
          <p:cNvSpPr/>
          <p:nvPr/>
        </p:nvSpPr>
        <p:spPr>
          <a:xfrm>
            <a:off x="6248400" y="4972050"/>
            <a:ext cx="19050" cy="962025"/>
          </a:xfrm>
          <a:prstGeom prst="rect">
            <a:avLst/>
          </a:prstGeom>
          <a:solidFill>
            <a:srgbClr val="B68757"/>
          </a:solidFill>
          <a:ln/>
        </p:spPr>
        <p:txBody>
          <a:bodyPr/>
          <a:lstStyle/>
          <a:p>
            <a:endParaRPr lang="en-US"/>
          </a:p>
        </p:txBody>
      </p:sp>
      <p:sp>
        <p:nvSpPr>
          <p:cNvPr id="55" name="Text 54"/>
          <p:cNvSpPr txBox="1"/>
          <p:nvPr/>
        </p:nvSpPr>
        <p:spPr>
          <a:xfrm>
            <a:off x="6381750" y="4964906"/>
            <a:ext cx="3120676" cy="666750"/>
          </a:xfrm>
          <a:prstGeom prst="rect">
            <a:avLst/>
          </a:prstGeom>
          <a:noFill/>
          <a:ln/>
        </p:spPr>
        <p:txBody>
          <a:bodyPr wrap="square" lIns="0" tIns="0" rIns="0" bIns="0" rtlCol="0" anchor="t"/>
          <a:lstStyle/>
          <a:p>
            <a:pPr marL="0" indent="0" algn="l">
              <a:lnSpc>
                <a:spcPts val="1313"/>
              </a:lnSpc>
              <a:buNone/>
            </a:pPr>
            <a:r>
              <a:rPr lang="en-US" sz="938" i="1" kern="0" spc="15" dirty="0">
                <a:solidFill>
                  <a:srgbClr val="2A2928"/>
                </a:solidFill>
                <a:latin typeface="Newsreader Medium" pitchFamily="34" charset="0"/>
              </a:rPr>
              <a:t>“As they look to get more out of their dollars, we continue to see value-seeking behaviors across income levels, including switching among brands and retailers and using promotions to manage spending.”</a:t>
            </a:r>
            <a:endParaRPr lang="en-US" sz="938" dirty="0"/>
          </a:p>
        </p:txBody>
      </p:sp>
      <p:sp>
        <p:nvSpPr>
          <p:cNvPr id="56" name="Text 55"/>
          <p:cNvSpPr txBox="1"/>
          <p:nvPr/>
        </p:nvSpPr>
        <p:spPr>
          <a:xfrm>
            <a:off x="6381750" y="5667375"/>
            <a:ext cx="3120676" cy="266700"/>
          </a:xfrm>
          <a:prstGeom prst="rect">
            <a:avLst/>
          </a:prstGeom>
          <a:noFill/>
          <a:ln/>
        </p:spPr>
        <p:txBody>
          <a:bodyPr wrap="square" lIns="0" tIns="0" rIns="0" bIns="0" rtlCol="0" anchor="t"/>
          <a:lstStyle/>
          <a:p>
            <a:pPr marL="0" indent="0" algn="l">
              <a:lnSpc>
                <a:spcPts val="1050"/>
              </a:lnSpc>
              <a:buNone/>
            </a:pPr>
            <a:r>
              <a:rPr lang="en-US" sz="713" kern="0" spc="15" dirty="0">
                <a:solidFill>
                  <a:srgbClr val="6F6A66"/>
                </a:solidFill>
                <a:latin typeface="Quicksand" pitchFamily="34" charset="0"/>
              </a:rPr>
              <a:t>Natalie Martini, vice chair, Deloitte, and US retail and consumer products leader</a:t>
            </a:r>
            <a:endParaRPr lang="en-US" sz="713" dirty="0"/>
          </a:p>
        </p:txBody>
      </p:sp>
      <p:sp>
        <p:nvSpPr>
          <p:cNvPr id="57" name="Text 56"/>
          <p:cNvSpPr txBox="1"/>
          <p:nvPr/>
        </p:nvSpPr>
        <p:spPr>
          <a:xfrm>
            <a:off x="6248400" y="5984081"/>
            <a:ext cx="3254692" cy="590550"/>
          </a:xfrm>
          <a:prstGeom prst="rect">
            <a:avLst/>
          </a:prstGeom>
          <a:noFill/>
          <a:ln/>
        </p:spPr>
        <p:txBody>
          <a:bodyPr wrap="square" lIns="0" tIns="0" rIns="0" bIns="0" rtlCol="0" anchor="t"/>
          <a:lstStyle/>
          <a:p>
            <a:pPr marL="0" indent="0" algn="l">
              <a:lnSpc>
                <a:spcPts val="1163"/>
              </a:lnSpc>
              <a:buNone/>
            </a:pPr>
            <a:r>
              <a:rPr lang="en-US" sz="788" b="1" kern="0" spc="15" dirty="0">
                <a:solidFill>
                  <a:srgbClr val="1B1A1A"/>
                </a:solidFill>
                <a:latin typeface="Quicksand" pitchFamily="34" charset="0"/>
              </a:rPr>
              <a:t>Key takeaway.</a:t>
            </a:r>
            <a:r>
              <a:rPr lang="en-US" sz="788" kern="0" spc="15" dirty="0">
                <a:solidFill>
                  <a:srgbClr val="333231"/>
                </a:solidFill>
                <a:latin typeface="Quicksand" pitchFamily="34" charset="0"/>
              </a:rPr>
              <a:t> Holiday sales are forecast to rise 4.0% to 4.8% and e-commerce sales 7.5% to 8.4%. Online sales growing at nearly twice the pace of the total keeps channel mix in front of every buyer of a consumer brand.</a:t>
            </a:r>
            <a:endParaRPr lang="en-US" sz="788" dirty="0"/>
          </a:p>
        </p:txBody>
      </p:sp>
      <p:sp>
        <p:nvSpPr>
          <p:cNvPr id="58" name="Shape 57"/>
          <p:cNvSpPr/>
          <p:nvPr/>
        </p:nvSpPr>
        <p:spPr>
          <a:xfrm>
            <a:off x="6248400" y="6657975"/>
            <a:ext cx="904875" cy="228600"/>
          </a:xfrm>
          <a:prstGeom prst="rect">
            <a:avLst/>
          </a:prstGeom>
          <a:solidFill>
            <a:srgbClr val="1B1A1A"/>
          </a:solidFill>
          <a:ln/>
        </p:spPr>
        <p:txBody>
          <a:bodyPr/>
          <a:lstStyle/>
          <a:p>
            <a:endParaRPr lang="en-US"/>
          </a:p>
        </p:txBody>
      </p:sp>
      <p:sp>
        <p:nvSpPr>
          <p:cNvPr id="59" name="Text 58">
            <a:hlinkClick r:id="rId8"/>
          </p:cNvPr>
          <p:cNvSpPr txBox="1"/>
          <p:nvPr/>
        </p:nvSpPr>
        <p:spPr>
          <a:xfrm>
            <a:off x="6381750" y="6710363"/>
            <a:ext cx="695325" cy="114300"/>
          </a:xfrm>
          <a:prstGeom prst="rect">
            <a:avLst/>
          </a:prstGeom>
          <a:noFill/>
          <a:ln/>
        </p:spPr>
        <p:txBody>
          <a:bodyPr wrap="none" lIns="0" tIns="0" rIns="0" bIns="0" rtlCol="0" anchor="t"/>
          <a:lstStyle/>
          <a:p>
            <a:pPr marL="0" indent="0" algn="l">
              <a:lnSpc>
                <a:spcPts val="900"/>
              </a:lnSpc>
              <a:buNone/>
            </a:pPr>
            <a:r>
              <a:rPr lang="en-US" sz="675" b="1" kern="0" spc="150" dirty="0">
                <a:solidFill>
                  <a:srgbClr val="FFFFFF"/>
                </a:solidFill>
                <a:latin typeface="Quicksand" pitchFamily="34" charset="0"/>
              </a:rPr>
              <a:t>READ HERE</a:t>
            </a:r>
            <a:endParaRPr lang="en-US" sz="675" dirty="0"/>
          </a:p>
        </p:txBody>
      </p:sp>
      <p:sp>
        <p:nvSpPr>
          <p:cNvPr id="60" name="Shape 59"/>
          <p:cNvSpPr/>
          <p:nvPr/>
        </p:nvSpPr>
        <p:spPr>
          <a:xfrm>
            <a:off x="419100" y="7029450"/>
            <a:ext cx="9220200" cy="9525"/>
          </a:xfrm>
          <a:prstGeom prst="rect">
            <a:avLst/>
          </a:prstGeom>
          <a:solidFill>
            <a:srgbClr val="E3DCD3"/>
          </a:solidFill>
          <a:ln/>
        </p:spPr>
        <p:txBody>
          <a:bodyPr/>
          <a:lstStyle/>
          <a:p>
            <a:endParaRPr lang="en-US"/>
          </a:p>
        </p:txBody>
      </p:sp>
      <p:pic>
        <p:nvPicPr>
          <p:cNvPr id="61" name="Benchmark International" descr="Benchmark International"/>
          <p:cNvPicPr>
            <a:picLocks noChangeAspect="1"/>
          </p:cNvPicPr>
          <p:nvPr/>
        </p:nvPicPr>
        <p:blipFill>
          <a:blip r:embed="rId9"/>
          <a:stretch>
            <a:fillRect/>
          </a:stretch>
        </p:blipFill>
        <p:spPr>
          <a:xfrm>
            <a:off x="419100" y="7143750"/>
            <a:ext cx="914400" cy="171450"/>
          </a:xfrm>
          <a:prstGeom prst="rect">
            <a:avLst/>
          </a:prstGeom>
        </p:spPr>
      </p:pic>
      <p:sp>
        <p:nvSpPr>
          <p:cNvPr id="62" name="Text 61"/>
          <p:cNvSpPr txBox="1"/>
          <p:nvPr/>
        </p:nvSpPr>
        <p:spPr>
          <a:xfrm>
            <a:off x="1543050" y="7098506"/>
            <a:ext cx="7658100" cy="238125"/>
          </a:xfrm>
          <a:prstGeom prst="rect">
            <a:avLst/>
          </a:prstGeom>
          <a:noFill/>
          <a:ln/>
        </p:spPr>
        <p:txBody>
          <a:bodyPr wrap="square" lIns="0" tIns="0" rIns="0" bIns="0" rtlCol="0" anchor="t"/>
          <a:lstStyle/>
          <a:p>
            <a:pPr marL="0" indent="0" algn="l">
              <a:lnSpc>
                <a:spcPts val="938"/>
              </a:lnSpc>
              <a:buNone/>
            </a:pPr>
            <a:r>
              <a:rPr lang="en-US" sz="675" kern="0" spc="15" dirty="0">
                <a:solidFill>
                  <a:srgbClr val="6F6A66"/>
                </a:solidFill>
                <a:latin typeface="Quicksand" pitchFamily="34" charset="0"/>
              </a:rPr>
              <a:t>Quotations are reproduced as published. Store brand figures are Circana data for the six months ending June 14, 2026. The Deloitte forecast covers November 2026 through January 2027.</a:t>
            </a:r>
            <a:endParaRPr lang="en-US" sz="675" dirty="0"/>
          </a:p>
        </p:txBody>
      </p:sp>
      <p:sp>
        <p:nvSpPr>
          <p:cNvPr id="63" name="Text 62"/>
          <p:cNvSpPr txBox="1"/>
          <p:nvPr/>
        </p:nvSpPr>
        <p:spPr>
          <a:xfrm>
            <a:off x="9495532" y="7162800"/>
            <a:ext cx="200918" cy="133350"/>
          </a:xfrm>
          <a:prstGeom prst="rect">
            <a:avLst/>
          </a:prstGeom>
          <a:noFill/>
          <a:ln/>
        </p:spPr>
        <p:txBody>
          <a:bodyPr wrap="none" lIns="0" tIns="0" rIns="0" bIns="0" rtlCol="0" anchor="t"/>
          <a:lstStyle/>
          <a:p>
            <a:pPr marL="0" indent="0" algn="l">
              <a:lnSpc>
                <a:spcPts val="1050"/>
              </a:lnSpc>
              <a:buNone/>
            </a:pPr>
            <a:r>
              <a:rPr lang="en-US" sz="713" b="1" kern="0" spc="150" dirty="0">
                <a:solidFill>
                  <a:srgbClr val="1B1A1A"/>
                </a:solidFill>
                <a:latin typeface="Quicksand" pitchFamily="34" charset="0"/>
              </a:rPr>
              <a:t>06</a:t>
            </a:r>
            <a:endParaRPr lang="en-US" sz="713"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1"/>
          <p:cNvSpPr/>
          <p:nvPr/>
        </p:nvSpPr>
        <p:spPr>
          <a:xfrm>
            <a:off x="0" y="0"/>
            <a:ext cx="10058400" cy="7772400"/>
          </a:xfrm>
          <a:prstGeom prst="rect">
            <a:avLst/>
          </a:prstGeom>
          <a:solidFill>
            <a:srgbClr val="1B1A1A"/>
          </a:solidFill>
          <a:ln/>
        </p:spPr>
        <p:txBody>
          <a:bodyPr/>
          <a:lstStyle/>
          <a:p>
            <a:endParaRPr lang="en-US"/>
          </a:p>
        </p:txBody>
      </p:sp>
      <p:pic>
        <p:nvPicPr>
          <p:cNvPr id="3" name="Image" descr="/tmp/claude-0/-home-claude-about/4bef2f41-4227-5ff7-ab18-11ac74cd9797/scratchpad/pptx/ex/media/1eecee506727.jpg"/>
          <p:cNvPicPr>
            <a:picLocks noChangeAspect="1"/>
          </p:cNvPicPr>
          <p:nvPr/>
        </p:nvPicPr>
        <p:blipFill>
          <a:blip r:embed="rId3">
            <a:alphaModFix amt="40000"/>
          </a:blip>
          <a:stretch>
            <a:fillRect/>
          </a:stretch>
        </p:blipFill>
        <p:spPr>
          <a:xfrm>
            <a:off x="0" y="0"/>
            <a:ext cx="9725025" cy="7772400"/>
          </a:xfrm>
          <a:prstGeom prst="rect">
            <a:avLst/>
          </a:prstGeom>
        </p:spPr>
      </p:pic>
      <p:pic>
        <p:nvPicPr>
          <p:cNvPr id="4" name="A glass-roofed shopping arcade" descr="A glass-roofed shopping arcade"/>
          <p:cNvPicPr>
            <a:picLocks noChangeAspect="1"/>
          </p:cNvPicPr>
          <p:nvPr/>
        </p:nvPicPr>
        <p:blipFill>
          <a:blip r:embed="rId4"/>
          <a:stretch>
            <a:fillRect/>
          </a:stretch>
        </p:blipFill>
        <p:spPr>
          <a:xfrm>
            <a:off x="5676900" y="0"/>
            <a:ext cx="4381500" cy="7772400"/>
          </a:xfrm>
          <a:prstGeom prst="rect">
            <a:avLst/>
          </a:prstGeom>
        </p:spPr>
      </p:pic>
      <p:pic>
        <p:nvPicPr>
          <p:cNvPr id="5" name="Shade" descr="/tmp/claude-0/-home-claude-about/4bef2f41-4227-5ff7-ab18-11ac74cd9797/scratchpad/pptx/ex/media/b967cc30ffa5.png"/>
          <p:cNvPicPr>
            <a:picLocks noChangeAspect="1"/>
          </p:cNvPicPr>
          <p:nvPr/>
        </p:nvPicPr>
        <p:blipFill>
          <a:blip r:embed="rId5"/>
          <a:stretch>
            <a:fillRect/>
          </a:stretch>
        </p:blipFill>
        <p:spPr>
          <a:xfrm>
            <a:off x="5676900" y="0"/>
            <a:ext cx="4381500" cy="7772400"/>
          </a:xfrm>
          <a:prstGeom prst="rect">
            <a:avLst/>
          </a:prstGeom>
        </p:spPr>
      </p:pic>
      <p:sp>
        <p:nvSpPr>
          <p:cNvPr id="6" name="Shape 5"/>
          <p:cNvSpPr/>
          <p:nvPr/>
        </p:nvSpPr>
        <p:spPr>
          <a:xfrm>
            <a:off x="5619750" y="0"/>
            <a:ext cx="57150" cy="7772400"/>
          </a:xfrm>
          <a:prstGeom prst="rect">
            <a:avLst/>
          </a:prstGeom>
          <a:solidFill>
            <a:srgbClr val="B68757"/>
          </a:solidFill>
          <a:ln/>
        </p:spPr>
        <p:txBody>
          <a:bodyPr/>
          <a:lstStyle/>
          <a:p>
            <a:endParaRPr lang="en-US"/>
          </a:p>
        </p:txBody>
      </p:sp>
      <p:sp>
        <p:nvSpPr>
          <p:cNvPr id="7" name="Text 6"/>
          <p:cNvSpPr txBox="1"/>
          <p:nvPr/>
        </p:nvSpPr>
        <p:spPr>
          <a:xfrm>
            <a:off x="609600" y="604838"/>
            <a:ext cx="3370213" cy="133350"/>
          </a:xfrm>
          <a:prstGeom prst="rect">
            <a:avLst/>
          </a:prstGeom>
          <a:noFill/>
          <a:ln/>
        </p:spPr>
        <p:txBody>
          <a:bodyPr wrap="none" lIns="0" tIns="0" rIns="0" bIns="0" rtlCol="0" anchor="t"/>
          <a:lstStyle/>
          <a:p>
            <a:pPr marL="0" indent="0" algn="l">
              <a:lnSpc>
                <a:spcPts val="1050"/>
              </a:lnSpc>
              <a:buNone/>
            </a:pPr>
            <a:r>
              <a:rPr lang="en-US" sz="675" b="1" kern="0" spc="195" dirty="0">
                <a:solidFill>
                  <a:srgbClr val="D3AE84"/>
                </a:solidFill>
                <a:latin typeface="Quicksand" pitchFamily="34" charset="0"/>
              </a:rPr>
              <a:t>CONSUMER  |  QUARTERLY SECTOR BRIEF  |  Q4 2026</a:t>
            </a:r>
            <a:endParaRPr lang="en-US" sz="675" dirty="0"/>
          </a:p>
        </p:txBody>
      </p:sp>
      <p:sp>
        <p:nvSpPr>
          <p:cNvPr id="8" name="Text 7"/>
          <p:cNvSpPr txBox="1"/>
          <p:nvPr/>
        </p:nvSpPr>
        <p:spPr>
          <a:xfrm>
            <a:off x="571500" y="1428750"/>
            <a:ext cx="1380083" cy="1143000"/>
          </a:xfrm>
          <a:prstGeom prst="rect">
            <a:avLst/>
          </a:prstGeom>
          <a:noFill/>
          <a:ln/>
        </p:spPr>
        <p:txBody>
          <a:bodyPr wrap="none" lIns="0" tIns="0" rIns="0" bIns="0" rtlCol="0" anchor="t"/>
          <a:lstStyle/>
          <a:p>
            <a:pPr marL="0" indent="0" algn="l">
              <a:lnSpc>
                <a:spcPts val="9000"/>
              </a:lnSpc>
              <a:buNone/>
            </a:pPr>
            <a:r>
              <a:rPr lang="en-US" sz="9000" kern="0" spc="150" dirty="0">
                <a:solidFill>
                  <a:srgbClr val="B68757"/>
                </a:solidFill>
                <a:latin typeface="Cinzel" pitchFamily="34" charset="0"/>
              </a:rPr>
              <a:t>02</a:t>
            </a:r>
            <a:endParaRPr lang="en-US" sz="9000" dirty="0"/>
          </a:p>
        </p:txBody>
      </p:sp>
      <p:sp>
        <p:nvSpPr>
          <p:cNvPr id="9" name="Text 8"/>
          <p:cNvSpPr txBox="1"/>
          <p:nvPr/>
        </p:nvSpPr>
        <p:spPr>
          <a:xfrm>
            <a:off x="609600" y="2724150"/>
            <a:ext cx="4572000" cy="571500"/>
          </a:xfrm>
          <a:prstGeom prst="rect">
            <a:avLst/>
          </a:prstGeom>
          <a:noFill/>
          <a:ln/>
        </p:spPr>
        <p:txBody>
          <a:bodyPr wrap="none" lIns="0" tIns="0" rIns="0" bIns="0" rtlCol="0" anchor="t"/>
          <a:lstStyle/>
          <a:p>
            <a:pPr marL="0" indent="0" algn="l">
              <a:lnSpc>
                <a:spcPts val="4500"/>
              </a:lnSpc>
              <a:buNone/>
            </a:pPr>
            <a:r>
              <a:rPr lang="en-US" sz="4050" kern="0" spc="15" dirty="0">
                <a:solidFill>
                  <a:srgbClr val="FFFFFF"/>
                </a:solidFill>
                <a:latin typeface="Newsreader SemiBold" pitchFamily="34" charset="0"/>
              </a:rPr>
              <a:t>Sector Activity</a:t>
            </a:r>
            <a:endParaRPr lang="en-US" sz="4050" dirty="0"/>
          </a:p>
        </p:txBody>
      </p:sp>
      <p:sp>
        <p:nvSpPr>
          <p:cNvPr id="10" name="Shape 9"/>
          <p:cNvSpPr/>
          <p:nvPr/>
        </p:nvSpPr>
        <p:spPr>
          <a:xfrm>
            <a:off x="609600" y="3486150"/>
            <a:ext cx="609600" cy="19050"/>
          </a:xfrm>
          <a:prstGeom prst="rect">
            <a:avLst/>
          </a:prstGeom>
          <a:solidFill>
            <a:srgbClr val="B68757"/>
          </a:solidFill>
          <a:ln/>
        </p:spPr>
        <p:txBody>
          <a:bodyPr/>
          <a:lstStyle/>
          <a:p>
            <a:endParaRPr lang="en-US"/>
          </a:p>
        </p:txBody>
      </p:sp>
      <p:sp>
        <p:nvSpPr>
          <p:cNvPr id="11" name="Text 10"/>
          <p:cNvSpPr txBox="1"/>
          <p:nvPr/>
        </p:nvSpPr>
        <p:spPr>
          <a:xfrm>
            <a:off x="609600" y="3733800"/>
            <a:ext cx="4499134" cy="1000125"/>
          </a:xfrm>
          <a:prstGeom prst="rect">
            <a:avLst/>
          </a:prstGeom>
          <a:noFill/>
          <a:ln/>
        </p:spPr>
        <p:txBody>
          <a:bodyPr wrap="square" lIns="0" tIns="0" rIns="0" bIns="0" rtlCol="0" anchor="t"/>
          <a:lstStyle/>
          <a:p>
            <a:pPr marL="0" indent="0" algn="l">
              <a:lnSpc>
                <a:spcPts val="1575"/>
              </a:lnSpc>
              <a:buNone/>
            </a:pPr>
            <a:r>
              <a:rPr lang="en-US" sz="1013" kern="0" spc="15" dirty="0">
                <a:solidFill>
                  <a:srgbClr val="E8E2DA"/>
                </a:solidFill>
                <a:latin typeface="Quicksand" pitchFamily="34" charset="0"/>
              </a:rPr>
              <a:t>Strategic acquirers have committed more than $120 billion to three consumer transactions since November 2025, and sponsor-backed platforms are buying family-owned operators a few locations at a time. Listed consumer companies trade at lower multiples of earnings than a year ago in every peer group we track.</a:t>
            </a:r>
            <a:endParaRPr lang="en-US" sz="1013" dirty="0"/>
          </a:p>
        </p:txBody>
      </p:sp>
      <p:sp>
        <p:nvSpPr>
          <p:cNvPr id="12" name="Shape 11"/>
          <p:cNvSpPr/>
          <p:nvPr/>
        </p:nvSpPr>
        <p:spPr>
          <a:xfrm>
            <a:off x="609600" y="7153275"/>
            <a:ext cx="4476750" cy="9525"/>
          </a:xfrm>
          <a:prstGeom prst="rect">
            <a:avLst/>
          </a:prstGeom>
          <a:solidFill>
            <a:srgbClr val="D3AE84">
              <a:alpha val="28000"/>
            </a:srgbClr>
          </a:solidFill>
          <a:ln/>
        </p:spPr>
        <p:txBody>
          <a:bodyPr/>
          <a:lstStyle/>
          <a:p>
            <a:endParaRPr lang="en-US"/>
          </a:p>
        </p:txBody>
      </p:sp>
      <p:sp>
        <p:nvSpPr>
          <p:cNvPr id="13" name="Shape 12"/>
          <p:cNvSpPr/>
          <p:nvPr/>
        </p:nvSpPr>
        <p:spPr>
          <a:xfrm>
            <a:off x="609600" y="5295900"/>
            <a:ext cx="4476750" cy="9525"/>
          </a:xfrm>
          <a:prstGeom prst="rect">
            <a:avLst/>
          </a:prstGeom>
          <a:solidFill>
            <a:srgbClr val="D3AE84">
              <a:alpha val="28000"/>
            </a:srgbClr>
          </a:solidFill>
          <a:ln/>
        </p:spPr>
        <p:txBody>
          <a:bodyPr/>
          <a:lstStyle/>
          <a:p>
            <a:endParaRPr lang="en-US"/>
          </a:p>
        </p:txBody>
      </p:sp>
      <p:sp>
        <p:nvSpPr>
          <p:cNvPr id="14" name="Text 13"/>
          <p:cNvSpPr txBox="1"/>
          <p:nvPr/>
        </p:nvSpPr>
        <p:spPr>
          <a:xfrm>
            <a:off x="609600" y="5400675"/>
            <a:ext cx="247650" cy="180975"/>
          </a:xfrm>
          <a:prstGeom prst="rect">
            <a:avLst/>
          </a:prstGeom>
          <a:noFill/>
          <a:ln/>
        </p:spPr>
        <p:txBody>
          <a:bodyPr wrap="none" lIns="0" tIns="0" rIns="0" bIns="0" rtlCol="0" anchor="t"/>
          <a:lstStyle/>
          <a:p>
            <a:pPr marL="0" indent="0" algn="l">
              <a:lnSpc>
                <a:spcPts val="1425"/>
              </a:lnSpc>
              <a:buNone/>
            </a:pPr>
            <a:r>
              <a:rPr lang="en-US" sz="825" kern="0" spc="105" dirty="0">
                <a:solidFill>
                  <a:srgbClr val="D3AE84"/>
                </a:solidFill>
                <a:latin typeface="Cinzel" pitchFamily="34" charset="0"/>
              </a:rPr>
              <a:t>08</a:t>
            </a:r>
            <a:endParaRPr lang="en-US" sz="825" dirty="0"/>
          </a:p>
        </p:txBody>
      </p:sp>
      <p:sp>
        <p:nvSpPr>
          <p:cNvPr id="15" name="Text 14"/>
          <p:cNvSpPr txBox="1"/>
          <p:nvPr/>
        </p:nvSpPr>
        <p:spPr>
          <a:xfrm>
            <a:off x="971550" y="5386388"/>
            <a:ext cx="2206228" cy="180975"/>
          </a:xfrm>
          <a:prstGeom prst="rect">
            <a:avLst/>
          </a:prstGeom>
          <a:noFill/>
          <a:ln/>
        </p:spPr>
        <p:txBody>
          <a:bodyPr wrap="none" lIns="0" tIns="0" rIns="0" bIns="0" rtlCol="0" anchor="t"/>
          <a:lstStyle/>
          <a:p>
            <a:pPr marL="0" indent="0" algn="l">
              <a:lnSpc>
                <a:spcPts val="1425"/>
              </a:lnSpc>
              <a:buNone/>
            </a:pPr>
            <a:r>
              <a:rPr lang="en-US" sz="975" kern="0" spc="15" dirty="0">
                <a:solidFill>
                  <a:srgbClr val="F4EFE8"/>
                </a:solidFill>
                <a:latin typeface="Quicksand" pitchFamily="34" charset="0"/>
              </a:rPr>
              <a:t>Select recent consumer transactions</a:t>
            </a:r>
            <a:endParaRPr lang="en-US" sz="975" dirty="0"/>
          </a:p>
        </p:txBody>
      </p:sp>
      <p:sp>
        <p:nvSpPr>
          <p:cNvPr id="16" name="Shape 15"/>
          <p:cNvSpPr/>
          <p:nvPr/>
        </p:nvSpPr>
        <p:spPr>
          <a:xfrm>
            <a:off x="609600" y="5667375"/>
            <a:ext cx="4476750" cy="9525"/>
          </a:xfrm>
          <a:prstGeom prst="rect">
            <a:avLst/>
          </a:prstGeom>
          <a:solidFill>
            <a:srgbClr val="D3AE84">
              <a:alpha val="28000"/>
            </a:srgbClr>
          </a:solidFill>
          <a:ln/>
        </p:spPr>
        <p:txBody>
          <a:bodyPr/>
          <a:lstStyle/>
          <a:p>
            <a:endParaRPr lang="en-US"/>
          </a:p>
        </p:txBody>
      </p:sp>
      <p:sp>
        <p:nvSpPr>
          <p:cNvPr id="17" name="Text 16"/>
          <p:cNvSpPr txBox="1"/>
          <p:nvPr/>
        </p:nvSpPr>
        <p:spPr>
          <a:xfrm>
            <a:off x="609600" y="5772150"/>
            <a:ext cx="247650" cy="180975"/>
          </a:xfrm>
          <a:prstGeom prst="rect">
            <a:avLst/>
          </a:prstGeom>
          <a:noFill/>
          <a:ln/>
        </p:spPr>
        <p:txBody>
          <a:bodyPr wrap="none" lIns="0" tIns="0" rIns="0" bIns="0" rtlCol="0" anchor="t"/>
          <a:lstStyle/>
          <a:p>
            <a:pPr marL="0" indent="0" algn="l">
              <a:lnSpc>
                <a:spcPts val="1425"/>
              </a:lnSpc>
              <a:buNone/>
            </a:pPr>
            <a:r>
              <a:rPr lang="en-US" sz="825" kern="0" spc="105" dirty="0">
                <a:solidFill>
                  <a:srgbClr val="D3AE84"/>
                </a:solidFill>
                <a:latin typeface="Cinzel" pitchFamily="34" charset="0"/>
              </a:rPr>
              <a:t>10</a:t>
            </a:r>
            <a:endParaRPr lang="en-US" sz="825" dirty="0"/>
          </a:p>
        </p:txBody>
      </p:sp>
      <p:sp>
        <p:nvSpPr>
          <p:cNvPr id="18" name="Text 17"/>
          <p:cNvSpPr txBox="1"/>
          <p:nvPr/>
        </p:nvSpPr>
        <p:spPr>
          <a:xfrm>
            <a:off x="971550" y="5757863"/>
            <a:ext cx="2990701" cy="180975"/>
          </a:xfrm>
          <a:prstGeom prst="rect">
            <a:avLst/>
          </a:prstGeom>
          <a:noFill/>
          <a:ln/>
        </p:spPr>
        <p:txBody>
          <a:bodyPr wrap="none" lIns="0" tIns="0" rIns="0" bIns="0" rtlCol="0" anchor="t"/>
          <a:lstStyle/>
          <a:p>
            <a:pPr marL="0" indent="0" algn="l">
              <a:lnSpc>
                <a:spcPts val="1425"/>
              </a:lnSpc>
              <a:buNone/>
            </a:pPr>
            <a:r>
              <a:rPr lang="en-US" sz="975" kern="0" spc="15" dirty="0">
                <a:solidFill>
                  <a:srgbClr val="F4EFE8"/>
                </a:solidFill>
                <a:latin typeface="Quicksand" pitchFamily="34" charset="0"/>
              </a:rPr>
              <a:t>Benchmark International’s consumer transactions</a:t>
            </a:r>
            <a:endParaRPr lang="en-US" sz="975" dirty="0"/>
          </a:p>
        </p:txBody>
      </p:sp>
      <p:sp>
        <p:nvSpPr>
          <p:cNvPr id="19" name="Shape 18"/>
          <p:cNvSpPr/>
          <p:nvPr/>
        </p:nvSpPr>
        <p:spPr>
          <a:xfrm>
            <a:off x="609600" y="6038850"/>
            <a:ext cx="4476750" cy="9525"/>
          </a:xfrm>
          <a:prstGeom prst="rect">
            <a:avLst/>
          </a:prstGeom>
          <a:solidFill>
            <a:srgbClr val="D3AE84">
              <a:alpha val="28000"/>
            </a:srgbClr>
          </a:solidFill>
          <a:ln/>
        </p:spPr>
        <p:txBody>
          <a:bodyPr/>
          <a:lstStyle/>
          <a:p>
            <a:endParaRPr lang="en-US"/>
          </a:p>
        </p:txBody>
      </p:sp>
      <p:sp>
        <p:nvSpPr>
          <p:cNvPr id="20" name="Text 19"/>
          <p:cNvSpPr txBox="1"/>
          <p:nvPr/>
        </p:nvSpPr>
        <p:spPr>
          <a:xfrm>
            <a:off x="609600" y="6143625"/>
            <a:ext cx="247650" cy="180975"/>
          </a:xfrm>
          <a:prstGeom prst="rect">
            <a:avLst/>
          </a:prstGeom>
          <a:noFill/>
          <a:ln/>
        </p:spPr>
        <p:txBody>
          <a:bodyPr wrap="none" lIns="0" tIns="0" rIns="0" bIns="0" rtlCol="0" anchor="t"/>
          <a:lstStyle/>
          <a:p>
            <a:pPr marL="0" indent="0" algn="l">
              <a:lnSpc>
                <a:spcPts val="1425"/>
              </a:lnSpc>
              <a:buNone/>
            </a:pPr>
            <a:r>
              <a:rPr lang="en-US" sz="825" kern="0" spc="105" dirty="0">
                <a:solidFill>
                  <a:srgbClr val="D3AE84"/>
                </a:solidFill>
                <a:latin typeface="Cinzel" pitchFamily="34" charset="0"/>
              </a:rPr>
              <a:t>11</a:t>
            </a:r>
            <a:endParaRPr lang="en-US" sz="825" dirty="0"/>
          </a:p>
        </p:txBody>
      </p:sp>
      <p:sp>
        <p:nvSpPr>
          <p:cNvPr id="21" name="Text 20"/>
          <p:cNvSpPr txBox="1"/>
          <p:nvPr/>
        </p:nvSpPr>
        <p:spPr>
          <a:xfrm>
            <a:off x="971550" y="6129338"/>
            <a:ext cx="890141" cy="180975"/>
          </a:xfrm>
          <a:prstGeom prst="rect">
            <a:avLst/>
          </a:prstGeom>
          <a:noFill/>
          <a:ln/>
        </p:spPr>
        <p:txBody>
          <a:bodyPr wrap="none" lIns="0" tIns="0" rIns="0" bIns="0" rtlCol="0" anchor="t"/>
          <a:lstStyle/>
          <a:p>
            <a:pPr marL="0" indent="0" algn="l">
              <a:lnSpc>
                <a:spcPts val="1425"/>
              </a:lnSpc>
              <a:buNone/>
            </a:pPr>
            <a:r>
              <a:rPr lang="en-US" sz="975" kern="0" spc="15" dirty="0">
                <a:solidFill>
                  <a:srgbClr val="F4EFE8"/>
                </a:solidFill>
                <a:latin typeface="Quicksand" pitchFamily="34" charset="0"/>
              </a:rPr>
              <a:t>Who is buying</a:t>
            </a:r>
            <a:endParaRPr lang="en-US" sz="975" dirty="0"/>
          </a:p>
        </p:txBody>
      </p:sp>
      <p:sp>
        <p:nvSpPr>
          <p:cNvPr id="22" name="Shape 21"/>
          <p:cNvSpPr/>
          <p:nvPr/>
        </p:nvSpPr>
        <p:spPr>
          <a:xfrm>
            <a:off x="609600" y="6410325"/>
            <a:ext cx="4476750" cy="9525"/>
          </a:xfrm>
          <a:prstGeom prst="rect">
            <a:avLst/>
          </a:prstGeom>
          <a:solidFill>
            <a:srgbClr val="D3AE84">
              <a:alpha val="28000"/>
            </a:srgbClr>
          </a:solidFill>
          <a:ln/>
        </p:spPr>
        <p:txBody>
          <a:bodyPr/>
          <a:lstStyle/>
          <a:p>
            <a:endParaRPr lang="en-US"/>
          </a:p>
        </p:txBody>
      </p:sp>
      <p:sp>
        <p:nvSpPr>
          <p:cNvPr id="23" name="Text 22"/>
          <p:cNvSpPr txBox="1"/>
          <p:nvPr/>
        </p:nvSpPr>
        <p:spPr>
          <a:xfrm>
            <a:off x="609600" y="6515100"/>
            <a:ext cx="247650" cy="180975"/>
          </a:xfrm>
          <a:prstGeom prst="rect">
            <a:avLst/>
          </a:prstGeom>
          <a:noFill/>
          <a:ln/>
        </p:spPr>
        <p:txBody>
          <a:bodyPr wrap="none" lIns="0" tIns="0" rIns="0" bIns="0" rtlCol="0" anchor="t"/>
          <a:lstStyle/>
          <a:p>
            <a:pPr marL="0" indent="0" algn="l">
              <a:lnSpc>
                <a:spcPts val="1425"/>
              </a:lnSpc>
              <a:buNone/>
            </a:pPr>
            <a:r>
              <a:rPr lang="en-US" sz="825" kern="0" spc="105" dirty="0">
                <a:solidFill>
                  <a:srgbClr val="D3AE84"/>
                </a:solidFill>
                <a:latin typeface="Cinzel" pitchFamily="34" charset="0"/>
              </a:rPr>
              <a:t>12</a:t>
            </a:r>
            <a:endParaRPr lang="en-US" sz="825" dirty="0"/>
          </a:p>
        </p:txBody>
      </p:sp>
      <p:sp>
        <p:nvSpPr>
          <p:cNvPr id="24" name="Text 23"/>
          <p:cNvSpPr txBox="1"/>
          <p:nvPr/>
        </p:nvSpPr>
        <p:spPr>
          <a:xfrm>
            <a:off x="971550" y="6500813"/>
            <a:ext cx="2648545" cy="180975"/>
          </a:xfrm>
          <a:prstGeom prst="rect">
            <a:avLst/>
          </a:prstGeom>
          <a:noFill/>
          <a:ln/>
        </p:spPr>
        <p:txBody>
          <a:bodyPr wrap="none" lIns="0" tIns="0" rIns="0" bIns="0" rtlCol="0" anchor="t"/>
          <a:lstStyle/>
          <a:p>
            <a:pPr marL="0" indent="0" algn="l">
              <a:lnSpc>
                <a:spcPts val="1425"/>
              </a:lnSpc>
              <a:buNone/>
            </a:pPr>
            <a:r>
              <a:rPr lang="en-US" sz="975" kern="0" spc="15" dirty="0">
                <a:solidFill>
                  <a:srgbClr val="F4EFE8"/>
                </a:solidFill>
                <a:latin typeface="Quicksand" pitchFamily="34" charset="0"/>
              </a:rPr>
              <a:t>Public company performance and valuation</a:t>
            </a:r>
            <a:endParaRPr lang="en-US" sz="975" dirty="0"/>
          </a:p>
        </p:txBody>
      </p:sp>
      <p:sp>
        <p:nvSpPr>
          <p:cNvPr id="25" name="Shape 24"/>
          <p:cNvSpPr/>
          <p:nvPr/>
        </p:nvSpPr>
        <p:spPr>
          <a:xfrm>
            <a:off x="609600" y="6781800"/>
            <a:ext cx="4476750" cy="9525"/>
          </a:xfrm>
          <a:prstGeom prst="rect">
            <a:avLst/>
          </a:prstGeom>
          <a:solidFill>
            <a:srgbClr val="D3AE84">
              <a:alpha val="28000"/>
            </a:srgbClr>
          </a:solidFill>
          <a:ln/>
        </p:spPr>
        <p:txBody>
          <a:bodyPr/>
          <a:lstStyle/>
          <a:p>
            <a:endParaRPr lang="en-US"/>
          </a:p>
        </p:txBody>
      </p:sp>
      <p:sp>
        <p:nvSpPr>
          <p:cNvPr id="26" name="Text 25"/>
          <p:cNvSpPr txBox="1"/>
          <p:nvPr/>
        </p:nvSpPr>
        <p:spPr>
          <a:xfrm>
            <a:off x="609600" y="6886575"/>
            <a:ext cx="247650" cy="180975"/>
          </a:xfrm>
          <a:prstGeom prst="rect">
            <a:avLst/>
          </a:prstGeom>
          <a:noFill/>
          <a:ln/>
        </p:spPr>
        <p:txBody>
          <a:bodyPr wrap="none" lIns="0" tIns="0" rIns="0" bIns="0" rtlCol="0" anchor="t"/>
          <a:lstStyle/>
          <a:p>
            <a:pPr marL="0" indent="0" algn="l">
              <a:lnSpc>
                <a:spcPts val="1425"/>
              </a:lnSpc>
              <a:buNone/>
            </a:pPr>
            <a:r>
              <a:rPr lang="en-US" sz="825" kern="0" spc="105" dirty="0">
                <a:solidFill>
                  <a:srgbClr val="D3AE84"/>
                </a:solidFill>
                <a:latin typeface="Cinzel" pitchFamily="34" charset="0"/>
              </a:rPr>
              <a:t>18</a:t>
            </a:r>
            <a:endParaRPr lang="en-US" sz="825" dirty="0"/>
          </a:p>
        </p:txBody>
      </p:sp>
      <p:sp>
        <p:nvSpPr>
          <p:cNvPr id="27" name="Text 26"/>
          <p:cNvSpPr txBox="1"/>
          <p:nvPr/>
        </p:nvSpPr>
        <p:spPr>
          <a:xfrm>
            <a:off x="971550" y="6872288"/>
            <a:ext cx="1724025" cy="180975"/>
          </a:xfrm>
          <a:prstGeom prst="rect">
            <a:avLst/>
          </a:prstGeom>
          <a:noFill/>
          <a:ln/>
        </p:spPr>
        <p:txBody>
          <a:bodyPr wrap="none" lIns="0" tIns="0" rIns="0" bIns="0" rtlCol="0" anchor="t"/>
          <a:lstStyle/>
          <a:p>
            <a:pPr marL="0" indent="0" algn="l">
              <a:lnSpc>
                <a:spcPts val="1425"/>
              </a:lnSpc>
              <a:buNone/>
            </a:pPr>
            <a:r>
              <a:rPr lang="en-US" sz="975" kern="0" spc="15" dirty="0">
                <a:solidFill>
                  <a:srgbClr val="F4EFE8"/>
                </a:solidFill>
                <a:latin typeface="Quicksand" pitchFamily="34" charset="0"/>
              </a:rPr>
              <a:t>Demand and cost indicators</a:t>
            </a:r>
            <a:endParaRPr lang="en-US" sz="975" dirty="0"/>
          </a:p>
        </p:txBody>
      </p:sp>
      <p:pic>
        <p:nvPicPr>
          <p:cNvPr id="28" name="Benchmark International" descr="Benchmark International"/>
          <p:cNvPicPr>
            <a:picLocks noChangeAspect="1"/>
          </p:cNvPicPr>
          <p:nvPr/>
        </p:nvPicPr>
        <p:blipFill>
          <a:blip r:embed="rId6"/>
          <a:stretch>
            <a:fillRect/>
          </a:stretch>
        </p:blipFill>
        <p:spPr>
          <a:xfrm>
            <a:off x="609600" y="7029450"/>
            <a:ext cx="1428750" cy="266700"/>
          </a:xfrm>
          <a:prstGeom prst="rect">
            <a:avLst/>
          </a:prstGeom>
        </p:spPr>
      </p:pic>
      <p:sp>
        <p:nvSpPr>
          <p:cNvPr id="29" name="Text 28"/>
          <p:cNvSpPr txBox="1"/>
          <p:nvPr/>
        </p:nvSpPr>
        <p:spPr>
          <a:xfrm>
            <a:off x="2209800" y="7091363"/>
            <a:ext cx="1858119" cy="133350"/>
          </a:xfrm>
          <a:prstGeom prst="rect">
            <a:avLst/>
          </a:prstGeom>
          <a:noFill/>
          <a:ln/>
        </p:spPr>
        <p:txBody>
          <a:bodyPr wrap="none" lIns="0" tIns="0" rIns="0" bIns="0" rtlCol="0" anchor="t"/>
          <a:lstStyle/>
          <a:p>
            <a:pPr marL="0" indent="0" algn="l">
              <a:lnSpc>
                <a:spcPts val="1050"/>
              </a:lnSpc>
              <a:buNone/>
            </a:pPr>
            <a:r>
              <a:rPr lang="en-US" sz="638" b="1" kern="0" spc="180" dirty="0">
                <a:solidFill>
                  <a:srgbClr val="D3AE84"/>
                </a:solidFill>
                <a:latin typeface="Quicksand" pitchFamily="34" charset="0"/>
              </a:rPr>
              <a:t>BENCHMARK CAPITAL MARKETS</a:t>
            </a:r>
            <a:endParaRPr lang="en-US" sz="638"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1"/>
          <p:cNvSpPr/>
          <p:nvPr/>
        </p:nvSpPr>
        <p:spPr>
          <a:xfrm>
            <a:off x="0" y="0"/>
            <a:ext cx="10058400" cy="7772400"/>
          </a:xfrm>
          <a:prstGeom prst="rect">
            <a:avLst/>
          </a:prstGeom>
          <a:solidFill>
            <a:srgbClr val="FFFFFF"/>
          </a:solidFill>
          <a:ln/>
        </p:spPr>
        <p:txBody>
          <a:bodyPr/>
          <a:lstStyle/>
          <a:p>
            <a:endParaRPr lang="en-US"/>
          </a:p>
        </p:txBody>
      </p:sp>
      <p:sp>
        <p:nvSpPr>
          <p:cNvPr id="3" name="Shape 2"/>
          <p:cNvSpPr/>
          <p:nvPr/>
        </p:nvSpPr>
        <p:spPr>
          <a:xfrm>
            <a:off x="0" y="0"/>
            <a:ext cx="57150" cy="7772400"/>
          </a:xfrm>
          <a:prstGeom prst="rect">
            <a:avLst/>
          </a:prstGeom>
          <a:solidFill>
            <a:srgbClr val="B68757"/>
          </a:solidFill>
          <a:ln/>
        </p:spPr>
        <p:txBody>
          <a:bodyPr/>
          <a:lstStyle/>
          <a:p>
            <a:endParaRPr lang="en-US"/>
          </a:p>
        </p:txBody>
      </p:sp>
      <p:sp>
        <p:nvSpPr>
          <p:cNvPr id="4" name="Text 3"/>
          <p:cNvSpPr txBox="1"/>
          <p:nvPr/>
        </p:nvSpPr>
        <p:spPr>
          <a:xfrm>
            <a:off x="419100" y="376238"/>
            <a:ext cx="2618929" cy="133350"/>
          </a:xfrm>
          <a:prstGeom prst="rect">
            <a:avLst/>
          </a:prstGeom>
          <a:noFill/>
          <a:ln/>
        </p:spPr>
        <p:txBody>
          <a:bodyPr wrap="none" lIns="0" tIns="0" rIns="0" bIns="0" rtlCol="0" anchor="t"/>
          <a:lstStyle/>
          <a:p>
            <a:pPr marL="0" indent="0" algn="l">
              <a:lnSpc>
                <a:spcPts val="1050"/>
              </a:lnSpc>
              <a:buNone/>
            </a:pPr>
            <a:r>
              <a:rPr lang="en-US" sz="675" b="1" kern="0" spc="195" dirty="0">
                <a:solidFill>
                  <a:srgbClr val="8C6239"/>
                </a:solidFill>
                <a:latin typeface="Quicksand" pitchFamily="34" charset="0"/>
              </a:rPr>
              <a:t>CONSUMER  |  QUARTERLY SECTOR BRIEF</a:t>
            </a:r>
            <a:endParaRPr lang="en-US" sz="675" dirty="0"/>
          </a:p>
        </p:txBody>
      </p:sp>
      <p:sp>
        <p:nvSpPr>
          <p:cNvPr id="5" name="Text 4"/>
          <p:cNvSpPr txBox="1"/>
          <p:nvPr/>
        </p:nvSpPr>
        <p:spPr>
          <a:xfrm>
            <a:off x="9112597" y="381000"/>
            <a:ext cx="583853" cy="171450"/>
          </a:xfrm>
          <a:prstGeom prst="rect">
            <a:avLst/>
          </a:prstGeom>
          <a:noFill/>
          <a:ln/>
        </p:spPr>
        <p:txBody>
          <a:bodyPr wrap="none" lIns="0" tIns="0" rIns="0" bIns="0" rtlCol="0" anchor="t"/>
          <a:lstStyle/>
          <a:p>
            <a:pPr marL="0" indent="0" algn="l">
              <a:lnSpc>
                <a:spcPts val="1350"/>
              </a:lnSpc>
              <a:buNone/>
            </a:pPr>
            <a:r>
              <a:rPr lang="en-US" sz="900" kern="0" spc="90" dirty="0">
                <a:solidFill>
                  <a:srgbClr val="6F6A66"/>
                </a:solidFill>
                <a:latin typeface="Cinzel" pitchFamily="34" charset="0"/>
              </a:rPr>
              <a:t>Q4 2026</a:t>
            </a:r>
            <a:endParaRPr lang="en-US" sz="900" dirty="0"/>
          </a:p>
        </p:txBody>
      </p:sp>
      <p:sp>
        <p:nvSpPr>
          <p:cNvPr id="6" name="Text 5"/>
          <p:cNvSpPr txBox="1"/>
          <p:nvPr/>
        </p:nvSpPr>
        <p:spPr>
          <a:xfrm>
            <a:off x="419100" y="519113"/>
            <a:ext cx="9220200" cy="323850"/>
          </a:xfrm>
          <a:prstGeom prst="rect">
            <a:avLst/>
          </a:prstGeom>
          <a:noFill/>
          <a:ln/>
        </p:spPr>
        <p:txBody>
          <a:bodyPr wrap="none" lIns="0" tIns="0" rIns="0" bIns="0" rtlCol="0" anchor="t"/>
          <a:lstStyle/>
          <a:p>
            <a:pPr marL="0" indent="0" algn="l">
              <a:lnSpc>
                <a:spcPts val="2550"/>
              </a:lnSpc>
              <a:buNone/>
            </a:pPr>
            <a:r>
              <a:rPr lang="en-US" sz="2025" kern="0" spc="15" dirty="0">
                <a:solidFill>
                  <a:srgbClr val="1B1A1A"/>
                </a:solidFill>
                <a:latin typeface="Newsreader SemiBold" pitchFamily="34" charset="0"/>
              </a:rPr>
              <a:t>Select Recent Consumer Transactions</a:t>
            </a:r>
            <a:endParaRPr lang="en-US" sz="2025" dirty="0"/>
          </a:p>
        </p:txBody>
      </p:sp>
      <p:sp>
        <p:nvSpPr>
          <p:cNvPr id="7" name="Text 6"/>
          <p:cNvSpPr txBox="1"/>
          <p:nvPr/>
        </p:nvSpPr>
        <p:spPr>
          <a:xfrm>
            <a:off x="419100" y="883444"/>
            <a:ext cx="9220200" cy="176213"/>
          </a:xfrm>
          <a:prstGeom prst="rect">
            <a:avLst/>
          </a:prstGeom>
          <a:noFill/>
          <a:ln/>
        </p:spPr>
        <p:txBody>
          <a:bodyPr wrap="none" lIns="0" tIns="0" rIns="0" bIns="0" rtlCol="0" anchor="t"/>
          <a:lstStyle/>
          <a:p>
            <a:pPr marL="0" indent="0" algn="l">
              <a:lnSpc>
                <a:spcPts val="1388"/>
              </a:lnSpc>
              <a:buNone/>
            </a:pPr>
            <a:r>
              <a:rPr lang="en-US" sz="938" kern="0" spc="15" dirty="0">
                <a:solidFill>
                  <a:srgbClr val="6F6A66"/>
                </a:solidFill>
                <a:latin typeface="Quicksand" pitchFamily="34" charset="0"/>
              </a:rPr>
              <a:t>Acquirers disclosed a price in most of these transactions and a multiple of earnings in only a few.</a:t>
            </a:r>
            <a:endParaRPr lang="en-US" sz="938" dirty="0"/>
          </a:p>
        </p:txBody>
      </p:sp>
      <p:sp>
        <p:nvSpPr>
          <p:cNvPr id="8" name="Shape 7"/>
          <p:cNvSpPr/>
          <p:nvPr/>
        </p:nvSpPr>
        <p:spPr>
          <a:xfrm>
            <a:off x="419100" y="1143000"/>
            <a:ext cx="9220200" cy="9525"/>
          </a:xfrm>
          <a:prstGeom prst="rect">
            <a:avLst/>
          </a:prstGeom>
          <a:solidFill>
            <a:srgbClr val="E3DCD3"/>
          </a:solidFill>
          <a:ln/>
        </p:spPr>
        <p:txBody>
          <a:bodyPr/>
          <a:lstStyle/>
          <a:p>
            <a:endParaRPr lang="en-US"/>
          </a:p>
        </p:txBody>
      </p:sp>
      <p:sp>
        <p:nvSpPr>
          <p:cNvPr id="9" name="Shape 8"/>
          <p:cNvSpPr/>
          <p:nvPr/>
        </p:nvSpPr>
        <p:spPr>
          <a:xfrm>
            <a:off x="419100" y="1552575"/>
            <a:ext cx="9220200" cy="19050"/>
          </a:xfrm>
          <a:prstGeom prst="rect">
            <a:avLst/>
          </a:prstGeom>
          <a:solidFill>
            <a:srgbClr val="B68757"/>
          </a:solidFill>
          <a:ln/>
        </p:spPr>
        <p:txBody>
          <a:bodyPr/>
          <a:lstStyle/>
          <a:p>
            <a:endParaRPr lang="en-US"/>
          </a:p>
        </p:txBody>
      </p:sp>
      <p:sp>
        <p:nvSpPr>
          <p:cNvPr id="10" name="Text 9"/>
          <p:cNvSpPr txBox="1"/>
          <p:nvPr/>
        </p:nvSpPr>
        <p:spPr>
          <a:xfrm>
            <a:off x="419100" y="1238250"/>
            <a:ext cx="990600" cy="123825"/>
          </a:xfrm>
          <a:prstGeom prst="rect">
            <a:avLst/>
          </a:prstGeom>
          <a:noFill/>
          <a:ln/>
        </p:spPr>
        <p:txBody>
          <a:bodyPr wrap="none" lIns="0" tIns="0" rIns="0" bIns="0" rtlCol="0" anchor="t"/>
          <a:lstStyle/>
          <a:p>
            <a:pPr marL="0" indent="0" algn="l">
              <a:lnSpc>
                <a:spcPts val="975"/>
              </a:lnSpc>
              <a:buNone/>
            </a:pPr>
            <a:r>
              <a:rPr lang="en-US" sz="638" b="1" kern="0" spc="150" dirty="0">
                <a:solidFill>
                  <a:srgbClr val="1B1A1A"/>
                </a:solidFill>
                <a:latin typeface="Quicksand" pitchFamily="34" charset="0"/>
              </a:rPr>
              <a:t>ANNOUNCED</a:t>
            </a:r>
            <a:endParaRPr lang="en-US" sz="638" dirty="0"/>
          </a:p>
        </p:txBody>
      </p:sp>
      <p:sp>
        <p:nvSpPr>
          <p:cNvPr id="11" name="Text 10"/>
          <p:cNvSpPr txBox="1"/>
          <p:nvPr/>
        </p:nvSpPr>
        <p:spPr>
          <a:xfrm>
            <a:off x="1543050" y="1238250"/>
            <a:ext cx="1905000" cy="123825"/>
          </a:xfrm>
          <a:prstGeom prst="rect">
            <a:avLst/>
          </a:prstGeom>
          <a:noFill/>
          <a:ln/>
        </p:spPr>
        <p:txBody>
          <a:bodyPr wrap="none" lIns="0" tIns="0" rIns="0" bIns="0" rtlCol="0" anchor="t"/>
          <a:lstStyle/>
          <a:p>
            <a:pPr marL="0" indent="0" algn="l">
              <a:lnSpc>
                <a:spcPts val="975"/>
              </a:lnSpc>
              <a:buNone/>
            </a:pPr>
            <a:r>
              <a:rPr lang="en-US" sz="638" b="1" kern="0" spc="150" dirty="0">
                <a:solidFill>
                  <a:srgbClr val="1B1A1A"/>
                </a:solidFill>
                <a:latin typeface="Quicksand" pitchFamily="34" charset="0"/>
              </a:rPr>
              <a:t>TARGET AND ACQUIRER</a:t>
            </a:r>
            <a:endParaRPr lang="en-US" sz="638" dirty="0"/>
          </a:p>
        </p:txBody>
      </p:sp>
      <p:sp>
        <p:nvSpPr>
          <p:cNvPr id="12" name="Text 11"/>
          <p:cNvSpPr txBox="1"/>
          <p:nvPr/>
        </p:nvSpPr>
        <p:spPr>
          <a:xfrm>
            <a:off x="3581400" y="1238250"/>
            <a:ext cx="2647950" cy="123825"/>
          </a:xfrm>
          <a:prstGeom prst="rect">
            <a:avLst/>
          </a:prstGeom>
          <a:noFill/>
          <a:ln/>
        </p:spPr>
        <p:txBody>
          <a:bodyPr wrap="none" lIns="0" tIns="0" rIns="0" bIns="0" rtlCol="0" anchor="t"/>
          <a:lstStyle/>
          <a:p>
            <a:pPr marL="0" indent="0" algn="l">
              <a:lnSpc>
                <a:spcPts val="975"/>
              </a:lnSpc>
              <a:buNone/>
            </a:pPr>
            <a:r>
              <a:rPr lang="en-US" sz="638" b="1" kern="0" spc="150" dirty="0">
                <a:solidFill>
                  <a:srgbClr val="1B1A1A"/>
                </a:solidFill>
                <a:latin typeface="Quicksand" pitchFamily="34" charset="0"/>
              </a:rPr>
              <a:t>BUSINESS AND TERMS</a:t>
            </a:r>
            <a:endParaRPr lang="en-US" sz="638" dirty="0"/>
          </a:p>
        </p:txBody>
      </p:sp>
      <p:sp>
        <p:nvSpPr>
          <p:cNvPr id="13" name="Text 12"/>
          <p:cNvSpPr txBox="1"/>
          <p:nvPr/>
        </p:nvSpPr>
        <p:spPr>
          <a:xfrm>
            <a:off x="6362700" y="1238250"/>
            <a:ext cx="1066800" cy="123825"/>
          </a:xfrm>
          <a:prstGeom prst="rect">
            <a:avLst/>
          </a:prstGeom>
          <a:noFill/>
          <a:ln/>
        </p:spPr>
        <p:txBody>
          <a:bodyPr wrap="none" lIns="0" tIns="0" rIns="0" bIns="0" rtlCol="0" anchor="t"/>
          <a:lstStyle/>
          <a:p>
            <a:pPr marL="0" indent="0" algn="l">
              <a:lnSpc>
                <a:spcPts val="975"/>
              </a:lnSpc>
              <a:buNone/>
            </a:pPr>
            <a:r>
              <a:rPr lang="en-US" sz="638" b="1" kern="0" spc="150" dirty="0">
                <a:solidFill>
                  <a:srgbClr val="1B1A1A"/>
                </a:solidFill>
                <a:latin typeface="Quicksand" pitchFamily="34" charset="0"/>
              </a:rPr>
              <a:t>STATED VALUE</a:t>
            </a:r>
            <a:endParaRPr lang="en-US" sz="638" dirty="0"/>
          </a:p>
        </p:txBody>
      </p:sp>
      <p:sp>
        <p:nvSpPr>
          <p:cNvPr id="14" name="Text 13"/>
          <p:cNvSpPr txBox="1"/>
          <p:nvPr/>
        </p:nvSpPr>
        <p:spPr>
          <a:xfrm>
            <a:off x="7562850" y="1238250"/>
            <a:ext cx="890588" cy="247650"/>
          </a:xfrm>
          <a:prstGeom prst="rect">
            <a:avLst/>
          </a:prstGeom>
          <a:noFill/>
          <a:ln/>
        </p:spPr>
        <p:txBody>
          <a:bodyPr wrap="square" lIns="0" tIns="0" rIns="0" bIns="0" rtlCol="0" anchor="t"/>
          <a:lstStyle/>
          <a:p>
            <a:pPr marL="0" indent="0" algn="l">
              <a:lnSpc>
                <a:spcPts val="975"/>
              </a:lnSpc>
              <a:buNone/>
            </a:pPr>
            <a:r>
              <a:rPr lang="en-US" sz="638" b="1" kern="0" spc="150" dirty="0">
                <a:solidFill>
                  <a:srgbClr val="1B1A1A"/>
                </a:solidFill>
                <a:latin typeface="Quicksand" pitchFamily="34" charset="0"/>
              </a:rPr>
              <a:t>VALUE TO REVENUE</a:t>
            </a:r>
            <a:endParaRPr lang="en-US" sz="638" dirty="0"/>
          </a:p>
        </p:txBody>
      </p:sp>
      <p:sp>
        <p:nvSpPr>
          <p:cNvPr id="15" name="Text 14"/>
          <p:cNvSpPr txBox="1"/>
          <p:nvPr/>
        </p:nvSpPr>
        <p:spPr>
          <a:xfrm>
            <a:off x="8572500" y="1238250"/>
            <a:ext cx="1081088" cy="247650"/>
          </a:xfrm>
          <a:prstGeom prst="rect">
            <a:avLst/>
          </a:prstGeom>
          <a:noFill/>
          <a:ln/>
        </p:spPr>
        <p:txBody>
          <a:bodyPr wrap="square" lIns="0" tIns="0" rIns="0" bIns="0" rtlCol="0" anchor="t"/>
          <a:lstStyle/>
          <a:p>
            <a:pPr marL="0" indent="0" algn="l">
              <a:lnSpc>
                <a:spcPts val="975"/>
              </a:lnSpc>
              <a:buNone/>
            </a:pPr>
            <a:r>
              <a:rPr lang="en-US" sz="638" b="1" kern="0" spc="150" dirty="0">
                <a:solidFill>
                  <a:srgbClr val="1B1A1A"/>
                </a:solidFill>
                <a:latin typeface="Quicksand" pitchFamily="34" charset="0"/>
              </a:rPr>
              <a:t>VALUE TO EARNINGS</a:t>
            </a:r>
            <a:endParaRPr lang="en-US" sz="638" dirty="0"/>
          </a:p>
        </p:txBody>
      </p:sp>
      <p:sp>
        <p:nvSpPr>
          <p:cNvPr id="16" name="Shape 15"/>
          <p:cNvSpPr/>
          <p:nvPr/>
        </p:nvSpPr>
        <p:spPr>
          <a:xfrm>
            <a:off x="419100" y="2455813"/>
            <a:ext cx="9220200" cy="9525"/>
          </a:xfrm>
          <a:prstGeom prst="rect">
            <a:avLst/>
          </a:prstGeom>
          <a:solidFill>
            <a:srgbClr val="E3DCD3"/>
          </a:solidFill>
          <a:ln/>
        </p:spPr>
        <p:txBody>
          <a:bodyPr/>
          <a:lstStyle/>
          <a:p>
            <a:endParaRPr lang="en-US"/>
          </a:p>
        </p:txBody>
      </p:sp>
      <p:sp>
        <p:nvSpPr>
          <p:cNvPr id="17" name="Shape 16"/>
          <p:cNvSpPr/>
          <p:nvPr/>
        </p:nvSpPr>
        <p:spPr>
          <a:xfrm>
            <a:off x="419100" y="1761232"/>
            <a:ext cx="712143" cy="209550"/>
          </a:xfrm>
          <a:prstGeom prst="rect">
            <a:avLst/>
          </a:prstGeom>
          <a:solidFill>
            <a:srgbClr val="1B1A1A"/>
          </a:solidFill>
          <a:ln/>
        </p:spPr>
        <p:txBody>
          <a:bodyPr/>
          <a:lstStyle/>
          <a:p>
            <a:endParaRPr lang="en-US"/>
          </a:p>
        </p:txBody>
      </p:sp>
      <p:sp>
        <p:nvSpPr>
          <p:cNvPr id="18" name="Text 17"/>
          <p:cNvSpPr txBox="1"/>
          <p:nvPr/>
        </p:nvSpPr>
        <p:spPr>
          <a:xfrm>
            <a:off x="504825" y="1804095"/>
            <a:ext cx="597843" cy="114300"/>
          </a:xfrm>
          <a:prstGeom prst="rect">
            <a:avLst/>
          </a:prstGeom>
          <a:noFill/>
          <a:ln/>
        </p:spPr>
        <p:txBody>
          <a:bodyPr wrap="none" lIns="0" tIns="0" rIns="0" bIns="0" rtlCol="0" anchor="t"/>
          <a:lstStyle/>
          <a:p>
            <a:pPr marL="0" indent="0" algn="l">
              <a:lnSpc>
                <a:spcPts val="900"/>
              </a:lnSpc>
              <a:buNone/>
            </a:pPr>
            <a:r>
              <a:rPr lang="en-US" sz="638" b="1" kern="0" spc="120" dirty="0">
                <a:solidFill>
                  <a:srgbClr val="D3AE84"/>
                </a:solidFill>
                <a:latin typeface="Quicksand" pitchFamily="34" charset="0"/>
              </a:rPr>
              <a:t>SEPT 2026</a:t>
            </a:r>
            <a:endParaRPr lang="en-US" sz="638" dirty="0"/>
          </a:p>
        </p:txBody>
      </p:sp>
      <p:pic>
        <p:nvPicPr>
          <p:cNvPr id="19" name="Icon" descr="/tmp/claude-0/-home-claude-about/4bef2f41-4227-5ff7-ab18-11ac74cd9797/scratchpad/pptx/ex/media/12a88f390be7.png"/>
          <p:cNvPicPr>
            <a:picLocks noChangeAspect="1"/>
          </p:cNvPicPr>
          <p:nvPr/>
        </p:nvPicPr>
        <p:blipFill>
          <a:blip r:embed="rId3"/>
          <a:stretch>
            <a:fillRect/>
          </a:stretch>
        </p:blipFill>
        <p:spPr>
          <a:xfrm>
            <a:off x="419100" y="2046982"/>
            <a:ext cx="133350" cy="133350"/>
          </a:xfrm>
          <a:prstGeom prst="rect">
            <a:avLst/>
          </a:prstGeom>
        </p:spPr>
      </p:pic>
      <p:sp>
        <p:nvSpPr>
          <p:cNvPr id="20" name="Text 19"/>
          <p:cNvSpPr txBox="1"/>
          <p:nvPr/>
        </p:nvSpPr>
        <p:spPr>
          <a:xfrm>
            <a:off x="619125" y="2039838"/>
            <a:ext cx="804863" cy="219075"/>
          </a:xfrm>
          <a:prstGeom prst="rect">
            <a:avLst/>
          </a:prstGeom>
          <a:noFill/>
          <a:ln/>
        </p:spPr>
        <p:txBody>
          <a:bodyPr wrap="square" lIns="0" tIns="0" rIns="0" bIns="0" rtlCol="0" anchor="t"/>
          <a:lstStyle/>
          <a:p>
            <a:pPr marL="0" indent="0" algn="l">
              <a:lnSpc>
                <a:spcPts val="863"/>
              </a:lnSpc>
              <a:buNone/>
            </a:pPr>
            <a:r>
              <a:rPr lang="en-US" sz="615" b="1" kern="0" spc="75" dirty="0">
                <a:solidFill>
                  <a:srgbClr val="8C6239"/>
                </a:solidFill>
                <a:latin typeface="Quicksand" pitchFamily="34" charset="0"/>
              </a:rPr>
              <a:t>FOOD &amp; BEVERAGE</a:t>
            </a:r>
            <a:endParaRPr lang="en-US" sz="615" dirty="0"/>
          </a:p>
        </p:txBody>
      </p:sp>
      <p:sp>
        <p:nvSpPr>
          <p:cNvPr id="21" name="Shape 20"/>
          <p:cNvSpPr/>
          <p:nvPr/>
        </p:nvSpPr>
        <p:spPr>
          <a:xfrm>
            <a:off x="1543050" y="1661220"/>
            <a:ext cx="1905000" cy="285750"/>
          </a:xfrm>
          <a:prstGeom prst="rect">
            <a:avLst/>
          </a:prstGeom>
          <a:solidFill>
            <a:srgbClr val="FAF7F3"/>
          </a:solidFill>
          <a:ln/>
        </p:spPr>
        <p:txBody>
          <a:bodyPr/>
          <a:lstStyle/>
          <a:p>
            <a:endParaRPr lang="en-US"/>
          </a:p>
        </p:txBody>
      </p:sp>
      <p:sp>
        <p:nvSpPr>
          <p:cNvPr id="22" name="Shape 21"/>
          <p:cNvSpPr/>
          <p:nvPr/>
        </p:nvSpPr>
        <p:spPr>
          <a:xfrm>
            <a:off x="1547813" y="1665982"/>
            <a:ext cx="1895475" cy="276225"/>
          </a:xfrm>
          <a:prstGeom prst="rect">
            <a:avLst/>
          </a:prstGeom>
          <a:ln w="9525">
            <a:solidFill>
              <a:srgbClr val="E3DCD3"/>
            </a:solidFill>
            <a:prstDash val="solid"/>
          </a:ln>
        </p:spPr>
        <p:txBody>
          <a:bodyPr/>
          <a:lstStyle/>
          <a:p>
            <a:endParaRPr lang="en-US"/>
          </a:p>
        </p:txBody>
      </p:sp>
      <p:sp>
        <p:nvSpPr>
          <p:cNvPr id="23" name="Text 22"/>
          <p:cNvSpPr txBox="1"/>
          <p:nvPr/>
        </p:nvSpPr>
        <p:spPr>
          <a:xfrm>
            <a:off x="1898303" y="1742182"/>
            <a:ext cx="1194495" cy="123825"/>
          </a:xfrm>
          <a:prstGeom prst="rect">
            <a:avLst/>
          </a:prstGeom>
          <a:noFill/>
          <a:ln/>
        </p:spPr>
        <p:txBody>
          <a:bodyPr wrap="none" lIns="0" tIns="0" rIns="0" bIns="0" rtlCol="0" anchor="t"/>
          <a:lstStyle/>
          <a:p>
            <a:pPr marL="0" indent="0" algn="ctr">
              <a:lnSpc>
                <a:spcPts val="975"/>
              </a:lnSpc>
              <a:buNone/>
            </a:pPr>
            <a:r>
              <a:rPr lang="en-US" sz="765" b="1" kern="0" spc="38" dirty="0">
                <a:solidFill>
                  <a:srgbClr val="1B1A1A"/>
                </a:solidFill>
                <a:latin typeface="Quicksand" pitchFamily="34" charset="0"/>
              </a:rPr>
              <a:t>BRAKEBUSH BROTHERS</a:t>
            </a:r>
            <a:endParaRPr lang="en-US" sz="765" dirty="0"/>
          </a:p>
        </p:txBody>
      </p:sp>
      <p:sp>
        <p:nvSpPr>
          <p:cNvPr id="24" name="Text 23"/>
          <p:cNvSpPr txBox="1"/>
          <p:nvPr/>
        </p:nvSpPr>
        <p:spPr>
          <a:xfrm>
            <a:off x="1543050" y="1946970"/>
            <a:ext cx="1905000" cy="133350"/>
          </a:xfrm>
          <a:prstGeom prst="rect">
            <a:avLst/>
          </a:prstGeom>
          <a:noFill/>
          <a:ln/>
        </p:spPr>
        <p:txBody>
          <a:bodyPr wrap="none" lIns="0" tIns="0" rIns="0" bIns="0" rtlCol="0" anchor="t"/>
          <a:lstStyle/>
          <a:p>
            <a:pPr marL="0" indent="0" algn="ctr">
              <a:lnSpc>
                <a:spcPts val="1050"/>
              </a:lnSpc>
              <a:buNone/>
            </a:pPr>
            <a:r>
              <a:rPr lang="en-US" sz="600" kern="0" spc="105" dirty="0">
                <a:solidFill>
                  <a:srgbClr val="6F6A66"/>
                </a:solidFill>
                <a:latin typeface="Quicksand" pitchFamily="34" charset="0"/>
              </a:rPr>
              <a:t>ACQUIRED BY</a:t>
            </a:r>
            <a:endParaRPr lang="en-US" sz="600" dirty="0"/>
          </a:p>
        </p:txBody>
      </p:sp>
      <p:sp>
        <p:nvSpPr>
          <p:cNvPr id="25" name="Shape 24"/>
          <p:cNvSpPr/>
          <p:nvPr/>
        </p:nvSpPr>
        <p:spPr>
          <a:xfrm>
            <a:off x="1543050" y="2080320"/>
            <a:ext cx="1905000" cy="285750"/>
          </a:xfrm>
          <a:prstGeom prst="rect">
            <a:avLst/>
          </a:prstGeom>
          <a:solidFill>
            <a:srgbClr val="FFFFFF"/>
          </a:solidFill>
          <a:ln/>
        </p:spPr>
        <p:txBody>
          <a:bodyPr/>
          <a:lstStyle/>
          <a:p>
            <a:endParaRPr lang="en-US"/>
          </a:p>
        </p:txBody>
      </p:sp>
      <p:sp>
        <p:nvSpPr>
          <p:cNvPr id="26" name="Shape 25"/>
          <p:cNvSpPr/>
          <p:nvPr/>
        </p:nvSpPr>
        <p:spPr>
          <a:xfrm>
            <a:off x="1547813" y="2085082"/>
            <a:ext cx="1895475" cy="276225"/>
          </a:xfrm>
          <a:prstGeom prst="rect">
            <a:avLst/>
          </a:prstGeom>
          <a:ln w="9525">
            <a:solidFill>
              <a:srgbClr val="C3BDB6"/>
            </a:solidFill>
            <a:prstDash val="solid"/>
          </a:ln>
        </p:spPr>
        <p:txBody>
          <a:bodyPr/>
          <a:lstStyle/>
          <a:p>
            <a:endParaRPr lang="en-US"/>
          </a:p>
        </p:txBody>
      </p:sp>
      <p:sp>
        <p:nvSpPr>
          <p:cNvPr id="27" name="Text 26"/>
          <p:cNvSpPr txBox="1"/>
          <p:nvPr/>
        </p:nvSpPr>
        <p:spPr>
          <a:xfrm>
            <a:off x="2089398" y="2161282"/>
            <a:ext cx="812304" cy="123825"/>
          </a:xfrm>
          <a:prstGeom prst="rect">
            <a:avLst/>
          </a:prstGeom>
          <a:noFill/>
          <a:ln/>
        </p:spPr>
        <p:txBody>
          <a:bodyPr wrap="none" lIns="0" tIns="0" rIns="0" bIns="0" rtlCol="0" anchor="t"/>
          <a:lstStyle/>
          <a:p>
            <a:pPr marL="0" indent="0" algn="ctr">
              <a:lnSpc>
                <a:spcPts val="975"/>
              </a:lnSpc>
              <a:buNone/>
            </a:pPr>
            <a:r>
              <a:rPr lang="en-US" sz="765" b="1" kern="0" spc="38" dirty="0">
                <a:solidFill>
                  <a:srgbClr val="1B1A1A"/>
                </a:solidFill>
                <a:latin typeface="Quicksand" pitchFamily="34" charset="0"/>
              </a:rPr>
              <a:t>HORMEL FOODS</a:t>
            </a:r>
            <a:endParaRPr lang="en-US" sz="765" dirty="0"/>
          </a:p>
        </p:txBody>
      </p:sp>
      <p:sp>
        <p:nvSpPr>
          <p:cNvPr id="28" name="Text 27"/>
          <p:cNvSpPr txBox="1"/>
          <p:nvPr/>
        </p:nvSpPr>
        <p:spPr>
          <a:xfrm>
            <a:off x="3581400" y="1790789"/>
            <a:ext cx="2662238" cy="434400"/>
          </a:xfrm>
          <a:prstGeom prst="rect">
            <a:avLst/>
          </a:prstGeom>
          <a:noFill/>
          <a:ln/>
        </p:spPr>
        <p:txBody>
          <a:bodyPr wrap="square" lIns="0" tIns="0" rIns="0" bIns="0" rtlCol="0" anchor="t"/>
          <a:lstStyle/>
          <a:p>
            <a:pPr marL="0" indent="0" algn="l">
              <a:lnSpc>
                <a:spcPts val="1140"/>
              </a:lnSpc>
              <a:buNone/>
            </a:pPr>
            <a:r>
              <a:rPr lang="en-US" sz="795" kern="0" spc="15" dirty="0">
                <a:solidFill>
                  <a:srgbClr val="333231"/>
                </a:solidFill>
                <a:latin typeface="Quicksand" pitchFamily="34" charset="0"/>
              </a:rPr>
              <a:t>Hormel agreed on September 30 to acquire Brakebush Brothers, a producer of prepared chicken (</a:t>
            </a:r>
            <a:r>
              <a:rPr lang="en-US" sz="795" u="sng" kern="0" spc="15" dirty="0">
                <a:solidFill>
                  <a:srgbClr val="8C6239"/>
                </a:solidFill>
                <a:latin typeface="Quicksand" pitchFamily="34" charset="0"/>
                <a:hlinkClick r:id="rId4">
                  <a:extLst>
                    <a:ext uri="{A12FA001-AC4F-418D-AE19-62706E023703}">
                      <ahyp:hlinkClr xmlns:ahyp="http://schemas.microsoft.com/office/drawing/2018/hyperlinkcolor" val="tx"/>
                    </a:ext>
                  </a:extLst>
                </a:hlinkClick>
              </a:rPr>
              <a:t>Hormel and Brakebush Brothers</a:t>
            </a:r>
            <a:r>
              <a:rPr lang="en-US" sz="795" kern="0" spc="15" dirty="0">
                <a:solidFill>
                  <a:srgbClr val="333231"/>
                </a:solidFill>
                <a:latin typeface="Quicksand" pitchFamily="34" charset="0"/>
              </a:rPr>
              <a:t>).</a:t>
            </a:r>
            <a:endParaRPr lang="en-US" sz="795" dirty="0"/>
          </a:p>
        </p:txBody>
      </p:sp>
      <p:sp>
        <p:nvSpPr>
          <p:cNvPr id="29" name="Text 28"/>
          <p:cNvSpPr txBox="1"/>
          <p:nvPr/>
        </p:nvSpPr>
        <p:spPr>
          <a:xfrm>
            <a:off x="6362700" y="1918395"/>
            <a:ext cx="1066800" cy="190500"/>
          </a:xfrm>
          <a:prstGeom prst="rect">
            <a:avLst/>
          </a:prstGeom>
          <a:noFill/>
          <a:ln/>
        </p:spPr>
        <p:txBody>
          <a:bodyPr wrap="none" lIns="0" tIns="0" rIns="0" bIns="0" rtlCol="0" anchor="t"/>
          <a:lstStyle/>
          <a:p>
            <a:pPr marL="0" indent="0" algn="l">
              <a:lnSpc>
                <a:spcPts val="1500"/>
              </a:lnSpc>
              <a:buNone/>
            </a:pPr>
            <a:r>
              <a:rPr lang="en-US" sz="1200" kern="0" spc="15" dirty="0">
                <a:solidFill>
                  <a:srgbClr val="8C6239"/>
                </a:solidFill>
                <a:latin typeface="Newsreader SemiBold" pitchFamily="34" charset="0"/>
              </a:rPr>
              <a:t>About $1.06B</a:t>
            </a:r>
            <a:endParaRPr lang="en-US" sz="1200" dirty="0"/>
          </a:p>
        </p:txBody>
      </p:sp>
      <p:sp>
        <p:nvSpPr>
          <p:cNvPr id="32" name="Shape 31"/>
          <p:cNvSpPr/>
          <p:nvPr/>
        </p:nvSpPr>
        <p:spPr>
          <a:xfrm>
            <a:off x="419100" y="3349526"/>
            <a:ext cx="9220200" cy="9525"/>
          </a:xfrm>
          <a:prstGeom prst="rect">
            <a:avLst/>
          </a:prstGeom>
          <a:solidFill>
            <a:srgbClr val="E3DCD3"/>
          </a:solidFill>
          <a:ln/>
        </p:spPr>
        <p:txBody>
          <a:bodyPr/>
          <a:lstStyle/>
          <a:p>
            <a:endParaRPr lang="en-US"/>
          </a:p>
        </p:txBody>
      </p:sp>
      <p:sp>
        <p:nvSpPr>
          <p:cNvPr id="33" name="Shape 32"/>
          <p:cNvSpPr/>
          <p:nvPr/>
        </p:nvSpPr>
        <p:spPr>
          <a:xfrm>
            <a:off x="419100" y="2654945"/>
            <a:ext cx="708571" cy="209550"/>
          </a:xfrm>
          <a:prstGeom prst="rect">
            <a:avLst/>
          </a:prstGeom>
          <a:solidFill>
            <a:srgbClr val="1B1A1A"/>
          </a:solidFill>
          <a:ln/>
        </p:spPr>
        <p:txBody>
          <a:bodyPr/>
          <a:lstStyle/>
          <a:p>
            <a:endParaRPr lang="en-US"/>
          </a:p>
        </p:txBody>
      </p:sp>
      <p:sp>
        <p:nvSpPr>
          <p:cNvPr id="34" name="Text 33"/>
          <p:cNvSpPr txBox="1"/>
          <p:nvPr/>
        </p:nvSpPr>
        <p:spPr>
          <a:xfrm>
            <a:off x="504825" y="2697807"/>
            <a:ext cx="594271" cy="114300"/>
          </a:xfrm>
          <a:prstGeom prst="rect">
            <a:avLst/>
          </a:prstGeom>
          <a:noFill/>
          <a:ln/>
        </p:spPr>
        <p:txBody>
          <a:bodyPr wrap="none" lIns="0" tIns="0" rIns="0" bIns="0" rtlCol="0" anchor="t"/>
          <a:lstStyle/>
          <a:p>
            <a:pPr marL="0" indent="0" algn="l">
              <a:lnSpc>
                <a:spcPts val="900"/>
              </a:lnSpc>
              <a:buNone/>
            </a:pPr>
            <a:r>
              <a:rPr lang="en-US" sz="638" b="1" kern="0" spc="120" dirty="0">
                <a:solidFill>
                  <a:srgbClr val="D3AE84"/>
                </a:solidFill>
                <a:latin typeface="Quicksand" pitchFamily="34" charset="0"/>
              </a:rPr>
              <a:t>JULY 2026</a:t>
            </a:r>
            <a:endParaRPr lang="en-US" sz="638" dirty="0"/>
          </a:p>
        </p:txBody>
      </p:sp>
      <p:pic>
        <p:nvPicPr>
          <p:cNvPr id="35" name="Icon" descr="/tmp/claude-0/-home-claude-about/4bef2f41-4227-5ff7-ab18-11ac74cd9797/scratchpad/pptx/ex/media/12a88f390be7.png"/>
          <p:cNvPicPr>
            <a:picLocks noChangeAspect="1"/>
          </p:cNvPicPr>
          <p:nvPr/>
        </p:nvPicPr>
        <p:blipFill>
          <a:blip r:embed="rId3"/>
          <a:stretch>
            <a:fillRect/>
          </a:stretch>
        </p:blipFill>
        <p:spPr>
          <a:xfrm>
            <a:off x="419100" y="2940695"/>
            <a:ext cx="133350" cy="133350"/>
          </a:xfrm>
          <a:prstGeom prst="rect">
            <a:avLst/>
          </a:prstGeom>
        </p:spPr>
      </p:pic>
      <p:sp>
        <p:nvSpPr>
          <p:cNvPr id="36" name="Text 35"/>
          <p:cNvSpPr txBox="1"/>
          <p:nvPr/>
        </p:nvSpPr>
        <p:spPr>
          <a:xfrm>
            <a:off x="619125" y="2933551"/>
            <a:ext cx="804863" cy="219075"/>
          </a:xfrm>
          <a:prstGeom prst="rect">
            <a:avLst/>
          </a:prstGeom>
          <a:noFill/>
          <a:ln/>
        </p:spPr>
        <p:txBody>
          <a:bodyPr wrap="square" lIns="0" tIns="0" rIns="0" bIns="0" rtlCol="0" anchor="t"/>
          <a:lstStyle/>
          <a:p>
            <a:pPr marL="0" indent="0" algn="l">
              <a:lnSpc>
                <a:spcPts val="863"/>
              </a:lnSpc>
              <a:buNone/>
            </a:pPr>
            <a:r>
              <a:rPr lang="en-US" sz="615" b="1" kern="0" spc="75" dirty="0">
                <a:solidFill>
                  <a:srgbClr val="8C6239"/>
                </a:solidFill>
                <a:latin typeface="Quicksand" pitchFamily="34" charset="0"/>
              </a:rPr>
              <a:t>FOOD &amp; BEVERAGE</a:t>
            </a:r>
            <a:endParaRPr lang="en-US" sz="615" dirty="0"/>
          </a:p>
        </p:txBody>
      </p:sp>
      <p:sp>
        <p:nvSpPr>
          <p:cNvPr id="37" name="Shape 36"/>
          <p:cNvSpPr/>
          <p:nvPr/>
        </p:nvSpPr>
        <p:spPr>
          <a:xfrm>
            <a:off x="1543050" y="2554932"/>
            <a:ext cx="1905000" cy="285750"/>
          </a:xfrm>
          <a:prstGeom prst="rect">
            <a:avLst/>
          </a:prstGeom>
          <a:solidFill>
            <a:srgbClr val="FAF7F3"/>
          </a:solidFill>
          <a:ln/>
        </p:spPr>
        <p:txBody>
          <a:bodyPr/>
          <a:lstStyle/>
          <a:p>
            <a:endParaRPr lang="en-US"/>
          </a:p>
        </p:txBody>
      </p:sp>
      <p:sp>
        <p:nvSpPr>
          <p:cNvPr id="38" name="Shape 37"/>
          <p:cNvSpPr/>
          <p:nvPr/>
        </p:nvSpPr>
        <p:spPr>
          <a:xfrm>
            <a:off x="1547813" y="2559695"/>
            <a:ext cx="1895475" cy="276225"/>
          </a:xfrm>
          <a:prstGeom prst="rect">
            <a:avLst/>
          </a:prstGeom>
          <a:ln w="9525">
            <a:solidFill>
              <a:srgbClr val="E3DCD3"/>
            </a:solidFill>
            <a:prstDash val="solid"/>
          </a:ln>
        </p:spPr>
        <p:txBody>
          <a:bodyPr/>
          <a:lstStyle/>
          <a:p>
            <a:endParaRPr lang="en-US"/>
          </a:p>
        </p:txBody>
      </p:sp>
      <p:sp>
        <p:nvSpPr>
          <p:cNvPr id="39" name="Text 38"/>
          <p:cNvSpPr txBox="1"/>
          <p:nvPr/>
        </p:nvSpPr>
        <p:spPr>
          <a:xfrm>
            <a:off x="2110234" y="2635895"/>
            <a:ext cx="770483" cy="123825"/>
          </a:xfrm>
          <a:prstGeom prst="rect">
            <a:avLst/>
          </a:prstGeom>
          <a:noFill/>
          <a:ln/>
        </p:spPr>
        <p:txBody>
          <a:bodyPr wrap="none" lIns="0" tIns="0" rIns="0" bIns="0" rtlCol="0" anchor="t"/>
          <a:lstStyle/>
          <a:p>
            <a:pPr marL="0" indent="0" algn="ctr">
              <a:lnSpc>
                <a:spcPts val="975"/>
              </a:lnSpc>
              <a:buNone/>
            </a:pPr>
            <a:r>
              <a:rPr lang="en-US" sz="765" b="1" kern="0" spc="38" dirty="0">
                <a:solidFill>
                  <a:srgbClr val="1B1A1A"/>
                </a:solidFill>
                <a:latin typeface="Quicksand" pitchFamily="34" charset="0"/>
              </a:rPr>
              <a:t>SEARAY FOODS</a:t>
            </a:r>
            <a:endParaRPr lang="en-US" sz="765" dirty="0"/>
          </a:p>
        </p:txBody>
      </p:sp>
      <p:sp>
        <p:nvSpPr>
          <p:cNvPr id="40" name="Text 39"/>
          <p:cNvSpPr txBox="1"/>
          <p:nvPr/>
        </p:nvSpPr>
        <p:spPr>
          <a:xfrm>
            <a:off x="1543050" y="2840682"/>
            <a:ext cx="1905000" cy="133350"/>
          </a:xfrm>
          <a:prstGeom prst="rect">
            <a:avLst/>
          </a:prstGeom>
          <a:noFill/>
          <a:ln/>
        </p:spPr>
        <p:txBody>
          <a:bodyPr wrap="none" lIns="0" tIns="0" rIns="0" bIns="0" rtlCol="0" anchor="t"/>
          <a:lstStyle/>
          <a:p>
            <a:pPr marL="0" indent="0" algn="ctr">
              <a:lnSpc>
                <a:spcPts val="1050"/>
              </a:lnSpc>
              <a:buNone/>
            </a:pPr>
            <a:r>
              <a:rPr lang="en-US" sz="600" kern="0" spc="105" dirty="0">
                <a:solidFill>
                  <a:srgbClr val="6F6A66"/>
                </a:solidFill>
                <a:latin typeface="Quicksand" pitchFamily="34" charset="0"/>
              </a:rPr>
              <a:t>ACQUIRED BY</a:t>
            </a:r>
            <a:endParaRPr lang="en-US" sz="600" dirty="0"/>
          </a:p>
        </p:txBody>
      </p:sp>
      <p:sp>
        <p:nvSpPr>
          <p:cNvPr id="41" name="Shape 40"/>
          <p:cNvSpPr/>
          <p:nvPr/>
        </p:nvSpPr>
        <p:spPr>
          <a:xfrm>
            <a:off x="1543050" y="2974032"/>
            <a:ext cx="1905000" cy="285750"/>
          </a:xfrm>
          <a:prstGeom prst="rect">
            <a:avLst/>
          </a:prstGeom>
          <a:solidFill>
            <a:srgbClr val="FFFFFF"/>
          </a:solidFill>
          <a:ln/>
        </p:spPr>
        <p:txBody>
          <a:bodyPr/>
          <a:lstStyle/>
          <a:p>
            <a:endParaRPr lang="en-US"/>
          </a:p>
        </p:txBody>
      </p:sp>
      <p:sp>
        <p:nvSpPr>
          <p:cNvPr id="42" name="Shape 41"/>
          <p:cNvSpPr/>
          <p:nvPr/>
        </p:nvSpPr>
        <p:spPr>
          <a:xfrm>
            <a:off x="1547813" y="2978795"/>
            <a:ext cx="1895475" cy="276225"/>
          </a:xfrm>
          <a:prstGeom prst="rect">
            <a:avLst/>
          </a:prstGeom>
          <a:ln w="9525">
            <a:solidFill>
              <a:srgbClr val="C3BDB6"/>
            </a:solidFill>
            <a:prstDash val="solid"/>
          </a:ln>
        </p:spPr>
        <p:txBody>
          <a:bodyPr/>
          <a:lstStyle/>
          <a:p>
            <a:endParaRPr lang="en-US"/>
          </a:p>
        </p:txBody>
      </p:sp>
      <p:sp>
        <p:nvSpPr>
          <p:cNvPr id="43" name="Text 42"/>
          <p:cNvSpPr txBox="1"/>
          <p:nvPr/>
        </p:nvSpPr>
        <p:spPr>
          <a:xfrm>
            <a:off x="2236589" y="3054995"/>
            <a:ext cx="517922" cy="123825"/>
          </a:xfrm>
          <a:prstGeom prst="rect">
            <a:avLst/>
          </a:prstGeom>
          <a:noFill/>
          <a:ln/>
        </p:spPr>
        <p:txBody>
          <a:bodyPr wrap="none" lIns="0" tIns="0" rIns="0" bIns="0" rtlCol="0" anchor="t"/>
          <a:lstStyle/>
          <a:p>
            <a:pPr marL="0" indent="0" algn="ctr">
              <a:lnSpc>
                <a:spcPts val="975"/>
              </a:lnSpc>
              <a:buNone/>
            </a:pPr>
            <a:r>
              <a:rPr lang="en-US" sz="765" b="1" kern="0" spc="38" dirty="0">
                <a:solidFill>
                  <a:srgbClr val="1B1A1A"/>
                </a:solidFill>
                <a:latin typeface="Quicksand" pitchFamily="34" charset="0"/>
              </a:rPr>
              <a:t>HF FOODS</a:t>
            </a:r>
            <a:endParaRPr lang="en-US" sz="765" dirty="0"/>
          </a:p>
        </p:txBody>
      </p:sp>
      <p:sp>
        <p:nvSpPr>
          <p:cNvPr id="44" name="Text 43"/>
          <p:cNvSpPr txBox="1"/>
          <p:nvPr/>
        </p:nvSpPr>
        <p:spPr>
          <a:xfrm>
            <a:off x="3581400" y="2539692"/>
            <a:ext cx="2662238" cy="724019"/>
          </a:xfrm>
          <a:prstGeom prst="rect">
            <a:avLst/>
          </a:prstGeom>
          <a:noFill/>
          <a:ln/>
        </p:spPr>
        <p:txBody>
          <a:bodyPr wrap="square" lIns="0" tIns="0" rIns="0" bIns="0" rtlCol="0" anchor="t"/>
          <a:lstStyle/>
          <a:p>
            <a:pPr marL="0" indent="0" algn="l">
              <a:lnSpc>
                <a:spcPts val="1140"/>
              </a:lnSpc>
              <a:buNone/>
            </a:pPr>
            <a:r>
              <a:rPr lang="en-US" sz="795" kern="0" spc="15" dirty="0">
                <a:solidFill>
                  <a:srgbClr val="333231"/>
                </a:solidFill>
                <a:latin typeface="Quicksand" pitchFamily="34" charset="0"/>
              </a:rPr>
              <a:t>HF Foods agreed to acquire Searay Foods, a distributor of frozen specialty seafood, expected the purchase to close in the third quarter and stated the price as a multiple of projected adjusted EBITDA (</a:t>
            </a:r>
            <a:r>
              <a:rPr lang="en-US" sz="795" u="sng" kern="0" spc="15" dirty="0">
                <a:solidFill>
                  <a:srgbClr val="8C6239"/>
                </a:solidFill>
                <a:latin typeface="Quicksand" pitchFamily="34" charset="0"/>
                <a:hlinkClick r:id="rId5">
                  <a:extLst>
                    <a:ext uri="{A12FA001-AC4F-418D-AE19-62706E023703}">
                      <ahyp:hlinkClr xmlns:ahyp="http://schemas.microsoft.com/office/drawing/2018/hyperlinkcolor" val="tx"/>
                    </a:ext>
                  </a:extLst>
                </a:hlinkClick>
              </a:rPr>
              <a:t>HF Foods and Searay Foods</a:t>
            </a:r>
            <a:r>
              <a:rPr lang="en-US" sz="795" kern="0" spc="15" dirty="0">
                <a:solidFill>
                  <a:srgbClr val="333231"/>
                </a:solidFill>
                <a:latin typeface="Quicksand" pitchFamily="34" charset="0"/>
              </a:rPr>
              <a:t>).</a:t>
            </a:r>
            <a:endParaRPr lang="en-US" sz="795" dirty="0"/>
          </a:p>
        </p:txBody>
      </p:sp>
      <p:sp>
        <p:nvSpPr>
          <p:cNvPr id="45" name="Text 44"/>
          <p:cNvSpPr txBox="1"/>
          <p:nvPr/>
        </p:nvSpPr>
        <p:spPr>
          <a:xfrm>
            <a:off x="6362700" y="2812107"/>
            <a:ext cx="1066800" cy="190500"/>
          </a:xfrm>
          <a:prstGeom prst="rect">
            <a:avLst/>
          </a:prstGeom>
          <a:noFill/>
          <a:ln/>
        </p:spPr>
        <p:txBody>
          <a:bodyPr wrap="none" lIns="0" tIns="0" rIns="0" bIns="0" rtlCol="0" anchor="t"/>
          <a:lstStyle/>
          <a:p>
            <a:pPr marL="0" indent="0" algn="l">
              <a:lnSpc>
                <a:spcPts val="1500"/>
              </a:lnSpc>
              <a:buNone/>
            </a:pPr>
            <a:r>
              <a:rPr lang="en-US" sz="1200" kern="0" spc="15" dirty="0">
                <a:solidFill>
                  <a:srgbClr val="8C6239"/>
                </a:solidFill>
                <a:latin typeface="Newsreader SemiBold" pitchFamily="34" charset="0"/>
              </a:rPr>
              <a:t>C$47.9M</a:t>
            </a:r>
            <a:endParaRPr lang="en-US" sz="1200" dirty="0"/>
          </a:p>
        </p:txBody>
      </p:sp>
      <p:sp>
        <p:nvSpPr>
          <p:cNvPr id="46" name="Text 45"/>
          <p:cNvSpPr txBox="1"/>
          <p:nvPr/>
        </p:nvSpPr>
        <p:spPr>
          <a:xfrm>
            <a:off x="7562850" y="2835920"/>
            <a:ext cx="876300" cy="133350"/>
          </a:xfrm>
          <a:prstGeom prst="rect">
            <a:avLst/>
          </a:prstGeom>
          <a:noFill/>
          <a:ln/>
        </p:spPr>
        <p:txBody>
          <a:bodyPr wrap="none" lIns="0" tIns="0" rIns="0" bIns="0" rtlCol="0" anchor="t"/>
          <a:lstStyle/>
          <a:p>
            <a:pPr marL="0" indent="0" algn="l">
              <a:lnSpc>
                <a:spcPts val="1050"/>
              </a:lnSpc>
              <a:buNone/>
            </a:pPr>
            <a:r>
              <a:rPr lang="en-US" sz="780" kern="0" spc="15" dirty="0">
                <a:solidFill>
                  <a:srgbClr val="6F6A66"/>
                </a:solidFill>
                <a:latin typeface="Quicksand" pitchFamily="34" charset="0"/>
              </a:rPr>
              <a:t>Not disclosed</a:t>
            </a:r>
            <a:endParaRPr lang="en-US" sz="780" dirty="0"/>
          </a:p>
        </p:txBody>
      </p:sp>
      <p:sp>
        <p:nvSpPr>
          <p:cNvPr id="47" name="Text 46"/>
          <p:cNvSpPr txBox="1"/>
          <p:nvPr/>
        </p:nvSpPr>
        <p:spPr>
          <a:xfrm>
            <a:off x="8572500" y="2647801"/>
            <a:ext cx="1066800" cy="190500"/>
          </a:xfrm>
          <a:prstGeom prst="rect">
            <a:avLst/>
          </a:prstGeom>
          <a:noFill/>
          <a:ln/>
        </p:spPr>
        <p:txBody>
          <a:bodyPr wrap="none" lIns="0" tIns="0" rIns="0" bIns="0" rtlCol="0" anchor="t"/>
          <a:lstStyle/>
          <a:p>
            <a:pPr marL="0" indent="0" algn="l">
              <a:lnSpc>
                <a:spcPts val="1500"/>
              </a:lnSpc>
              <a:buNone/>
            </a:pPr>
            <a:r>
              <a:rPr lang="en-US" sz="1200" kern="0" spc="15" dirty="0">
                <a:solidFill>
                  <a:srgbClr val="8C6239"/>
                </a:solidFill>
                <a:latin typeface="Newsreader SemiBold" pitchFamily="34" charset="0"/>
              </a:rPr>
              <a:t>5.0x</a:t>
            </a:r>
            <a:endParaRPr lang="en-US" sz="1200" dirty="0"/>
          </a:p>
        </p:txBody>
      </p:sp>
      <p:sp>
        <p:nvSpPr>
          <p:cNvPr id="48" name="Text 47"/>
          <p:cNvSpPr txBox="1"/>
          <p:nvPr/>
        </p:nvSpPr>
        <p:spPr>
          <a:xfrm>
            <a:off x="8572500" y="2835920"/>
            <a:ext cx="1081088" cy="328613"/>
          </a:xfrm>
          <a:prstGeom prst="rect">
            <a:avLst/>
          </a:prstGeom>
          <a:noFill/>
          <a:ln/>
        </p:spPr>
        <p:txBody>
          <a:bodyPr wrap="square" lIns="0" tIns="0" rIns="0" bIns="0" rtlCol="0" anchor="t"/>
          <a:lstStyle/>
          <a:p>
            <a:pPr marL="0" indent="0" algn="l">
              <a:lnSpc>
                <a:spcPts val="863"/>
              </a:lnSpc>
              <a:buNone/>
            </a:pPr>
            <a:r>
              <a:rPr lang="en-US" sz="645" kern="0" spc="15" dirty="0">
                <a:solidFill>
                  <a:srgbClr val="6F6A66"/>
                </a:solidFill>
                <a:latin typeface="Quicksand" pitchFamily="34" charset="0"/>
              </a:rPr>
              <a:t>projected 2025 adjusted EBITDA, as stated by HF Foods</a:t>
            </a:r>
            <a:endParaRPr lang="en-US" sz="645" dirty="0"/>
          </a:p>
        </p:txBody>
      </p:sp>
      <p:sp>
        <p:nvSpPr>
          <p:cNvPr id="49" name="Shape 48"/>
          <p:cNvSpPr/>
          <p:nvPr/>
        </p:nvSpPr>
        <p:spPr>
          <a:xfrm>
            <a:off x="419100" y="4243239"/>
            <a:ext cx="9220200" cy="9525"/>
          </a:xfrm>
          <a:prstGeom prst="rect">
            <a:avLst/>
          </a:prstGeom>
          <a:solidFill>
            <a:srgbClr val="E3DCD3"/>
          </a:solidFill>
          <a:ln/>
        </p:spPr>
        <p:txBody>
          <a:bodyPr/>
          <a:lstStyle/>
          <a:p>
            <a:endParaRPr lang="en-US"/>
          </a:p>
        </p:txBody>
      </p:sp>
      <p:sp>
        <p:nvSpPr>
          <p:cNvPr id="50" name="Shape 49"/>
          <p:cNvSpPr/>
          <p:nvPr/>
        </p:nvSpPr>
        <p:spPr>
          <a:xfrm>
            <a:off x="419100" y="3548658"/>
            <a:ext cx="708571" cy="209550"/>
          </a:xfrm>
          <a:prstGeom prst="rect">
            <a:avLst/>
          </a:prstGeom>
          <a:solidFill>
            <a:srgbClr val="1B1A1A"/>
          </a:solidFill>
          <a:ln/>
        </p:spPr>
        <p:txBody>
          <a:bodyPr/>
          <a:lstStyle/>
          <a:p>
            <a:endParaRPr lang="en-US"/>
          </a:p>
        </p:txBody>
      </p:sp>
      <p:sp>
        <p:nvSpPr>
          <p:cNvPr id="51" name="Text 50"/>
          <p:cNvSpPr txBox="1"/>
          <p:nvPr/>
        </p:nvSpPr>
        <p:spPr>
          <a:xfrm>
            <a:off x="504825" y="3591520"/>
            <a:ext cx="594271" cy="114300"/>
          </a:xfrm>
          <a:prstGeom prst="rect">
            <a:avLst/>
          </a:prstGeom>
          <a:noFill/>
          <a:ln/>
        </p:spPr>
        <p:txBody>
          <a:bodyPr wrap="none" lIns="0" tIns="0" rIns="0" bIns="0" rtlCol="0" anchor="t"/>
          <a:lstStyle/>
          <a:p>
            <a:pPr marL="0" indent="0" algn="l">
              <a:lnSpc>
                <a:spcPts val="900"/>
              </a:lnSpc>
              <a:buNone/>
            </a:pPr>
            <a:r>
              <a:rPr lang="en-US" sz="638" b="1" kern="0" spc="120" dirty="0">
                <a:solidFill>
                  <a:srgbClr val="D3AE84"/>
                </a:solidFill>
                <a:latin typeface="Quicksand" pitchFamily="34" charset="0"/>
              </a:rPr>
              <a:t>JULY 2026</a:t>
            </a:r>
            <a:endParaRPr lang="en-US" sz="638" dirty="0"/>
          </a:p>
        </p:txBody>
      </p:sp>
      <p:pic>
        <p:nvPicPr>
          <p:cNvPr id="52" name="Icon" descr="/tmp/claude-0/-home-claude-about/4bef2f41-4227-5ff7-ab18-11ac74cd9797/scratchpad/pptx/ex/media/12a88f390be7.png"/>
          <p:cNvPicPr>
            <a:picLocks noChangeAspect="1"/>
          </p:cNvPicPr>
          <p:nvPr/>
        </p:nvPicPr>
        <p:blipFill>
          <a:blip r:embed="rId3"/>
          <a:stretch>
            <a:fillRect/>
          </a:stretch>
        </p:blipFill>
        <p:spPr>
          <a:xfrm>
            <a:off x="419100" y="3834408"/>
            <a:ext cx="133350" cy="133350"/>
          </a:xfrm>
          <a:prstGeom prst="rect">
            <a:avLst/>
          </a:prstGeom>
        </p:spPr>
      </p:pic>
      <p:sp>
        <p:nvSpPr>
          <p:cNvPr id="53" name="Text 52"/>
          <p:cNvSpPr txBox="1"/>
          <p:nvPr/>
        </p:nvSpPr>
        <p:spPr>
          <a:xfrm>
            <a:off x="619125" y="3827264"/>
            <a:ext cx="804863" cy="219075"/>
          </a:xfrm>
          <a:prstGeom prst="rect">
            <a:avLst/>
          </a:prstGeom>
          <a:noFill/>
          <a:ln/>
        </p:spPr>
        <p:txBody>
          <a:bodyPr wrap="square" lIns="0" tIns="0" rIns="0" bIns="0" rtlCol="0" anchor="t"/>
          <a:lstStyle/>
          <a:p>
            <a:pPr marL="0" indent="0" algn="l">
              <a:lnSpc>
                <a:spcPts val="863"/>
              </a:lnSpc>
              <a:buNone/>
            </a:pPr>
            <a:r>
              <a:rPr lang="en-US" sz="615" b="1" kern="0" spc="75" dirty="0">
                <a:solidFill>
                  <a:srgbClr val="8C6239"/>
                </a:solidFill>
                <a:latin typeface="Quicksand" pitchFamily="34" charset="0"/>
              </a:rPr>
              <a:t>FOOD &amp; BEVERAGE</a:t>
            </a:r>
            <a:endParaRPr lang="en-US" sz="615" dirty="0"/>
          </a:p>
        </p:txBody>
      </p:sp>
      <p:sp>
        <p:nvSpPr>
          <p:cNvPr id="54" name="Shape 53"/>
          <p:cNvSpPr/>
          <p:nvPr/>
        </p:nvSpPr>
        <p:spPr>
          <a:xfrm>
            <a:off x="1543050" y="3448645"/>
            <a:ext cx="1905000" cy="285750"/>
          </a:xfrm>
          <a:prstGeom prst="rect">
            <a:avLst/>
          </a:prstGeom>
          <a:solidFill>
            <a:srgbClr val="FAF7F3"/>
          </a:solidFill>
          <a:ln/>
        </p:spPr>
        <p:txBody>
          <a:bodyPr/>
          <a:lstStyle/>
          <a:p>
            <a:endParaRPr lang="en-US"/>
          </a:p>
        </p:txBody>
      </p:sp>
      <p:sp>
        <p:nvSpPr>
          <p:cNvPr id="55" name="Shape 54"/>
          <p:cNvSpPr/>
          <p:nvPr/>
        </p:nvSpPr>
        <p:spPr>
          <a:xfrm>
            <a:off x="1547813" y="3453408"/>
            <a:ext cx="1895475" cy="276225"/>
          </a:xfrm>
          <a:prstGeom prst="rect">
            <a:avLst/>
          </a:prstGeom>
          <a:ln w="9525">
            <a:solidFill>
              <a:srgbClr val="E3DCD3"/>
            </a:solidFill>
            <a:prstDash val="solid"/>
          </a:ln>
        </p:spPr>
        <p:txBody>
          <a:bodyPr/>
          <a:lstStyle/>
          <a:p>
            <a:endParaRPr lang="en-US"/>
          </a:p>
        </p:txBody>
      </p:sp>
      <p:sp>
        <p:nvSpPr>
          <p:cNvPr id="56" name="Text 55"/>
          <p:cNvSpPr txBox="1"/>
          <p:nvPr/>
        </p:nvSpPr>
        <p:spPr>
          <a:xfrm>
            <a:off x="2205782" y="3529608"/>
            <a:ext cx="579537" cy="123825"/>
          </a:xfrm>
          <a:prstGeom prst="rect">
            <a:avLst/>
          </a:prstGeom>
          <a:noFill/>
          <a:ln/>
        </p:spPr>
        <p:txBody>
          <a:bodyPr wrap="none" lIns="0" tIns="0" rIns="0" bIns="0" rtlCol="0" anchor="t"/>
          <a:lstStyle/>
          <a:p>
            <a:pPr marL="0" indent="0" algn="ctr">
              <a:lnSpc>
                <a:spcPts val="975"/>
              </a:lnSpc>
              <a:buNone/>
            </a:pPr>
            <a:r>
              <a:rPr lang="en-US" sz="765" b="1" kern="0" spc="38" dirty="0">
                <a:solidFill>
                  <a:srgbClr val="1B1A1A"/>
                </a:solidFill>
                <a:latin typeface="Quicksand" pitchFamily="34" charset="0"/>
              </a:rPr>
              <a:t>COPRA INC.</a:t>
            </a:r>
            <a:endParaRPr lang="en-US" sz="765" dirty="0"/>
          </a:p>
        </p:txBody>
      </p:sp>
      <p:sp>
        <p:nvSpPr>
          <p:cNvPr id="57" name="Text 56"/>
          <p:cNvSpPr txBox="1"/>
          <p:nvPr/>
        </p:nvSpPr>
        <p:spPr>
          <a:xfrm>
            <a:off x="1543050" y="3734395"/>
            <a:ext cx="1905000" cy="133350"/>
          </a:xfrm>
          <a:prstGeom prst="rect">
            <a:avLst/>
          </a:prstGeom>
          <a:noFill/>
          <a:ln/>
        </p:spPr>
        <p:txBody>
          <a:bodyPr wrap="none" lIns="0" tIns="0" rIns="0" bIns="0" rtlCol="0" anchor="t"/>
          <a:lstStyle/>
          <a:p>
            <a:pPr marL="0" indent="0" algn="ctr">
              <a:lnSpc>
                <a:spcPts val="1050"/>
              </a:lnSpc>
              <a:buNone/>
            </a:pPr>
            <a:r>
              <a:rPr lang="en-US" sz="600" kern="0" spc="105" dirty="0">
                <a:solidFill>
                  <a:srgbClr val="6F6A66"/>
                </a:solidFill>
                <a:latin typeface="Quicksand" pitchFamily="34" charset="0"/>
              </a:rPr>
              <a:t>ACQUIRED BY</a:t>
            </a:r>
            <a:endParaRPr lang="en-US" sz="600" dirty="0"/>
          </a:p>
        </p:txBody>
      </p:sp>
      <p:sp>
        <p:nvSpPr>
          <p:cNvPr id="58" name="Shape 57"/>
          <p:cNvSpPr/>
          <p:nvPr/>
        </p:nvSpPr>
        <p:spPr>
          <a:xfrm>
            <a:off x="1543050" y="3867745"/>
            <a:ext cx="1905000" cy="285750"/>
          </a:xfrm>
          <a:prstGeom prst="rect">
            <a:avLst/>
          </a:prstGeom>
          <a:solidFill>
            <a:srgbClr val="FFFFFF"/>
          </a:solidFill>
          <a:ln/>
        </p:spPr>
        <p:txBody>
          <a:bodyPr/>
          <a:lstStyle/>
          <a:p>
            <a:endParaRPr lang="en-US"/>
          </a:p>
        </p:txBody>
      </p:sp>
      <p:sp>
        <p:nvSpPr>
          <p:cNvPr id="59" name="Shape 58"/>
          <p:cNvSpPr/>
          <p:nvPr/>
        </p:nvSpPr>
        <p:spPr>
          <a:xfrm>
            <a:off x="1547813" y="3872508"/>
            <a:ext cx="1895475" cy="276225"/>
          </a:xfrm>
          <a:prstGeom prst="rect">
            <a:avLst/>
          </a:prstGeom>
          <a:ln w="9525">
            <a:solidFill>
              <a:srgbClr val="C3BDB6"/>
            </a:solidFill>
            <a:prstDash val="solid"/>
          </a:ln>
        </p:spPr>
        <p:txBody>
          <a:bodyPr/>
          <a:lstStyle/>
          <a:p>
            <a:endParaRPr lang="en-US"/>
          </a:p>
        </p:txBody>
      </p:sp>
      <p:sp>
        <p:nvSpPr>
          <p:cNvPr id="60" name="Text 59"/>
          <p:cNvSpPr txBox="1"/>
          <p:nvPr/>
        </p:nvSpPr>
        <p:spPr>
          <a:xfrm>
            <a:off x="2220813" y="3948708"/>
            <a:ext cx="549473" cy="123825"/>
          </a:xfrm>
          <a:prstGeom prst="rect">
            <a:avLst/>
          </a:prstGeom>
          <a:noFill/>
          <a:ln/>
        </p:spPr>
        <p:txBody>
          <a:bodyPr wrap="none" lIns="0" tIns="0" rIns="0" bIns="0" rtlCol="0" anchor="t"/>
          <a:lstStyle/>
          <a:p>
            <a:pPr marL="0" indent="0" algn="ctr">
              <a:lnSpc>
                <a:spcPts val="975"/>
              </a:lnSpc>
              <a:buNone/>
            </a:pPr>
            <a:r>
              <a:rPr lang="en-US" sz="765" b="1" kern="0" spc="38" dirty="0">
                <a:solidFill>
                  <a:srgbClr val="1B1A1A"/>
                </a:solidFill>
                <a:latin typeface="Quicksand" pitchFamily="34" charset="0"/>
              </a:rPr>
              <a:t>VITA COCO</a:t>
            </a:r>
            <a:endParaRPr lang="en-US" sz="765" dirty="0"/>
          </a:p>
        </p:txBody>
      </p:sp>
      <p:sp>
        <p:nvSpPr>
          <p:cNvPr id="61" name="Text 60"/>
          <p:cNvSpPr txBox="1"/>
          <p:nvPr/>
        </p:nvSpPr>
        <p:spPr>
          <a:xfrm>
            <a:off x="3581400" y="3578215"/>
            <a:ext cx="2662238" cy="434400"/>
          </a:xfrm>
          <a:prstGeom prst="rect">
            <a:avLst/>
          </a:prstGeom>
          <a:noFill/>
          <a:ln/>
        </p:spPr>
        <p:txBody>
          <a:bodyPr wrap="square" lIns="0" tIns="0" rIns="0" bIns="0" rtlCol="0" anchor="t"/>
          <a:lstStyle/>
          <a:p>
            <a:pPr marL="0" indent="0" algn="l">
              <a:lnSpc>
                <a:spcPts val="1140"/>
              </a:lnSpc>
              <a:buNone/>
            </a:pPr>
            <a:r>
              <a:rPr lang="en-US" sz="795" kern="0" spc="15" dirty="0">
                <a:solidFill>
                  <a:srgbClr val="333231"/>
                </a:solidFill>
                <a:latin typeface="Quicksand" pitchFamily="34" charset="0"/>
              </a:rPr>
              <a:t>Vita Coco acquired Copra, a privately held producer of frozen organic coconut water and coconut meat (</a:t>
            </a:r>
            <a:r>
              <a:rPr lang="en-US" sz="795" u="sng" kern="0" spc="15" dirty="0">
                <a:solidFill>
                  <a:srgbClr val="8C6239"/>
                </a:solidFill>
                <a:latin typeface="Quicksand" pitchFamily="34" charset="0"/>
                <a:hlinkClick r:id="rId6">
                  <a:extLst>
                    <a:ext uri="{A12FA001-AC4F-418D-AE19-62706E023703}">
                      <ahyp:hlinkClr xmlns:ahyp="http://schemas.microsoft.com/office/drawing/2018/hyperlinkcolor" val="tx"/>
                    </a:ext>
                  </a:extLst>
                </a:hlinkClick>
              </a:rPr>
              <a:t>Vita Coco and Copra</a:t>
            </a:r>
            <a:r>
              <a:rPr lang="en-US" sz="795" kern="0" spc="15" dirty="0">
                <a:solidFill>
                  <a:srgbClr val="333231"/>
                </a:solidFill>
                <a:latin typeface="Quicksand" pitchFamily="34" charset="0"/>
              </a:rPr>
              <a:t>).</a:t>
            </a:r>
            <a:endParaRPr lang="en-US" sz="795" dirty="0"/>
          </a:p>
        </p:txBody>
      </p:sp>
      <p:sp>
        <p:nvSpPr>
          <p:cNvPr id="62" name="Text 61"/>
          <p:cNvSpPr txBox="1"/>
          <p:nvPr/>
        </p:nvSpPr>
        <p:spPr>
          <a:xfrm>
            <a:off x="6362700" y="3705820"/>
            <a:ext cx="1066800" cy="190500"/>
          </a:xfrm>
          <a:prstGeom prst="rect">
            <a:avLst/>
          </a:prstGeom>
          <a:noFill/>
          <a:ln/>
        </p:spPr>
        <p:txBody>
          <a:bodyPr wrap="none" lIns="0" tIns="0" rIns="0" bIns="0" rtlCol="0" anchor="t"/>
          <a:lstStyle/>
          <a:p>
            <a:pPr marL="0" indent="0" algn="l">
              <a:lnSpc>
                <a:spcPts val="1500"/>
              </a:lnSpc>
              <a:buNone/>
            </a:pPr>
            <a:r>
              <a:rPr lang="en-US" sz="1200" kern="0" spc="15" dirty="0">
                <a:solidFill>
                  <a:srgbClr val="8C6239"/>
                </a:solidFill>
                <a:latin typeface="Newsreader SemiBold" pitchFamily="34" charset="0"/>
              </a:rPr>
              <a:t>$175M</a:t>
            </a:r>
            <a:endParaRPr lang="en-US" sz="1200" dirty="0"/>
          </a:p>
        </p:txBody>
      </p:sp>
      <p:sp>
        <p:nvSpPr>
          <p:cNvPr id="63" name="Text 62"/>
          <p:cNvSpPr txBox="1"/>
          <p:nvPr/>
        </p:nvSpPr>
        <p:spPr>
          <a:xfrm>
            <a:off x="7562850" y="3729633"/>
            <a:ext cx="876300" cy="133350"/>
          </a:xfrm>
          <a:prstGeom prst="rect">
            <a:avLst/>
          </a:prstGeom>
          <a:noFill/>
          <a:ln/>
        </p:spPr>
        <p:txBody>
          <a:bodyPr wrap="none" lIns="0" tIns="0" rIns="0" bIns="0" rtlCol="0" anchor="t"/>
          <a:lstStyle/>
          <a:p>
            <a:pPr marL="0" indent="0" algn="l">
              <a:lnSpc>
                <a:spcPts val="1050"/>
              </a:lnSpc>
              <a:buNone/>
            </a:pPr>
            <a:r>
              <a:rPr lang="en-US" sz="780" kern="0" spc="15" dirty="0">
                <a:solidFill>
                  <a:srgbClr val="6F6A66"/>
                </a:solidFill>
                <a:latin typeface="Quicksand" pitchFamily="34" charset="0"/>
              </a:rPr>
              <a:t>Not disclosed</a:t>
            </a:r>
            <a:endParaRPr lang="en-US" sz="780" dirty="0"/>
          </a:p>
        </p:txBody>
      </p:sp>
      <p:sp>
        <p:nvSpPr>
          <p:cNvPr id="64" name="Text 63"/>
          <p:cNvSpPr txBox="1"/>
          <p:nvPr/>
        </p:nvSpPr>
        <p:spPr>
          <a:xfrm>
            <a:off x="8572500" y="3729633"/>
            <a:ext cx="1066800" cy="133350"/>
          </a:xfrm>
          <a:prstGeom prst="rect">
            <a:avLst/>
          </a:prstGeom>
          <a:noFill/>
          <a:ln/>
        </p:spPr>
        <p:txBody>
          <a:bodyPr wrap="none" lIns="0" tIns="0" rIns="0" bIns="0" rtlCol="0" anchor="t"/>
          <a:lstStyle/>
          <a:p>
            <a:pPr marL="0" indent="0" algn="l">
              <a:lnSpc>
                <a:spcPts val="1050"/>
              </a:lnSpc>
              <a:buNone/>
            </a:pPr>
            <a:r>
              <a:rPr lang="en-US" sz="780" kern="0" spc="15" dirty="0">
                <a:solidFill>
                  <a:srgbClr val="6F6A66"/>
                </a:solidFill>
                <a:latin typeface="Quicksand" pitchFamily="34" charset="0"/>
              </a:rPr>
              <a:t>Not disclosed</a:t>
            </a:r>
            <a:endParaRPr lang="en-US" sz="780" dirty="0"/>
          </a:p>
        </p:txBody>
      </p:sp>
      <p:sp>
        <p:nvSpPr>
          <p:cNvPr id="65" name="Shape 64"/>
          <p:cNvSpPr/>
          <p:nvPr/>
        </p:nvSpPr>
        <p:spPr>
          <a:xfrm>
            <a:off x="419100" y="5136952"/>
            <a:ext cx="9220200" cy="9525"/>
          </a:xfrm>
          <a:prstGeom prst="rect">
            <a:avLst/>
          </a:prstGeom>
          <a:solidFill>
            <a:srgbClr val="E3DCD3"/>
          </a:solidFill>
          <a:ln/>
        </p:spPr>
        <p:txBody>
          <a:bodyPr/>
          <a:lstStyle/>
          <a:p>
            <a:endParaRPr lang="en-US"/>
          </a:p>
        </p:txBody>
      </p:sp>
      <p:sp>
        <p:nvSpPr>
          <p:cNvPr id="66" name="Shape 65"/>
          <p:cNvSpPr/>
          <p:nvPr/>
        </p:nvSpPr>
        <p:spPr>
          <a:xfrm>
            <a:off x="419100" y="4387602"/>
            <a:ext cx="657523" cy="209550"/>
          </a:xfrm>
          <a:prstGeom prst="rect">
            <a:avLst/>
          </a:prstGeom>
          <a:solidFill>
            <a:srgbClr val="1B1A1A"/>
          </a:solidFill>
          <a:ln/>
        </p:spPr>
        <p:txBody>
          <a:bodyPr/>
          <a:lstStyle/>
          <a:p>
            <a:endParaRPr lang="en-US"/>
          </a:p>
        </p:txBody>
      </p:sp>
      <p:sp>
        <p:nvSpPr>
          <p:cNvPr id="67" name="Text 66"/>
          <p:cNvSpPr txBox="1"/>
          <p:nvPr/>
        </p:nvSpPr>
        <p:spPr>
          <a:xfrm>
            <a:off x="504825" y="4430464"/>
            <a:ext cx="543223" cy="114300"/>
          </a:xfrm>
          <a:prstGeom prst="rect">
            <a:avLst/>
          </a:prstGeom>
          <a:noFill/>
          <a:ln/>
        </p:spPr>
        <p:txBody>
          <a:bodyPr wrap="none" lIns="0" tIns="0" rIns="0" bIns="0" rtlCol="0" anchor="t"/>
          <a:lstStyle/>
          <a:p>
            <a:pPr marL="0" indent="0" algn="l">
              <a:lnSpc>
                <a:spcPts val="900"/>
              </a:lnSpc>
              <a:buNone/>
            </a:pPr>
            <a:r>
              <a:rPr lang="en-US" sz="638" b="1" kern="0" spc="120" dirty="0">
                <a:solidFill>
                  <a:srgbClr val="D3AE84"/>
                </a:solidFill>
                <a:latin typeface="Quicksand" pitchFamily="34" charset="0"/>
              </a:rPr>
              <a:t>JAN 2026</a:t>
            </a:r>
            <a:endParaRPr lang="en-US" sz="638" dirty="0"/>
          </a:p>
        </p:txBody>
      </p:sp>
      <p:pic>
        <p:nvPicPr>
          <p:cNvPr id="68" name="Icon" descr="/tmp/claude-0/-home-claude-about/4bef2f41-4227-5ff7-ab18-11ac74cd9797/scratchpad/pptx/ex/media/850c46659f16.png"/>
          <p:cNvPicPr>
            <a:picLocks noChangeAspect="1"/>
          </p:cNvPicPr>
          <p:nvPr/>
        </p:nvPicPr>
        <p:blipFill>
          <a:blip r:embed="rId7"/>
          <a:stretch>
            <a:fillRect/>
          </a:stretch>
        </p:blipFill>
        <p:spPr>
          <a:xfrm>
            <a:off x="419100" y="4673352"/>
            <a:ext cx="133350" cy="133350"/>
          </a:xfrm>
          <a:prstGeom prst="rect">
            <a:avLst/>
          </a:prstGeom>
        </p:spPr>
      </p:pic>
      <p:sp>
        <p:nvSpPr>
          <p:cNvPr id="69" name="Text 68"/>
          <p:cNvSpPr txBox="1"/>
          <p:nvPr/>
        </p:nvSpPr>
        <p:spPr>
          <a:xfrm>
            <a:off x="619125" y="4666208"/>
            <a:ext cx="804863" cy="328613"/>
          </a:xfrm>
          <a:prstGeom prst="rect">
            <a:avLst/>
          </a:prstGeom>
          <a:noFill/>
          <a:ln/>
        </p:spPr>
        <p:txBody>
          <a:bodyPr wrap="square" lIns="0" tIns="0" rIns="0" bIns="0" rtlCol="0" anchor="t"/>
          <a:lstStyle/>
          <a:p>
            <a:pPr marL="0" indent="0" algn="l">
              <a:lnSpc>
                <a:spcPts val="863"/>
              </a:lnSpc>
              <a:buNone/>
            </a:pPr>
            <a:r>
              <a:rPr lang="en-US" sz="615" b="1" kern="0" spc="75" dirty="0">
                <a:solidFill>
                  <a:srgbClr val="8C6239"/>
                </a:solidFill>
                <a:latin typeface="Quicksand" pitchFamily="34" charset="0"/>
              </a:rPr>
              <a:t>CONSUMER BRANDS &amp; PRODUCTS</a:t>
            </a:r>
            <a:endParaRPr lang="en-US" sz="615" dirty="0"/>
          </a:p>
        </p:txBody>
      </p:sp>
      <p:sp>
        <p:nvSpPr>
          <p:cNvPr id="70" name="Shape 69"/>
          <p:cNvSpPr/>
          <p:nvPr/>
        </p:nvSpPr>
        <p:spPr>
          <a:xfrm>
            <a:off x="1543050" y="4342358"/>
            <a:ext cx="1905000" cy="285750"/>
          </a:xfrm>
          <a:prstGeom prst="rect">
            <a:avLst/>
          </a:prstGeom>
          <a:solidFill>
            <a:srgbClr val="FAF7F3"/>
          </a:solidFill>
          <a:ln/>
        </p:spPr>
        <p:txBody>
          <a:bodyPr/>
          <a:lstStyle/>
          <a:p>
            <a:endParaRPr lang="en-US"/>
          </a:p>
        </p:txBody>
      </p:sp>
      <p:sp>
        <p:nvSpPr>
          <p:cNvPr id="71" name="Shape 70"/>
          <p:cNvSpPr/>
          <p:nvPr/>
        </p:nvSpPr>
        <p:spPr>
          <a:xfrm>
            <a:off x="1547813" y="4347121"/>
            <a:ext cx="1895475" cy="276225"/>
          </a:xfrm>
          <a:prstGeom prst="rect">
            <a:avLst/>
          </a:prstGeom>
          <a:ln w="9525">
            <a:solidFill>
              <a:srgbClr val="E3DCD3"/>
            </a:solidFill>
            <a:prstDash val="solid"/>
          </a:ln>
        </p:spPr>
        <p:txBody>
          <a:bodyPr/>
          <a:lstStyle/>
          <a:p>
            <a:endParaRPr lang="en-US"/>
          </a:p>
        </p:txBody>
      </p:sp>
      <p:sp>
        <p:nvSpPr>
          <p:cNvPr id="72" name="Text 71"/>
          <p:cNvSpPr txBox="1"/>
          <p:nvPr/>
        </p:nvSpPr>
        <p:spPr>
          <a:xfrm>
            <a:off x="2032546" y="4423321"/>
            <a:ext cx="925860" cy="123825"/>
          </a:xfrm>
          <a:prstGeom prst="rect">
            <a:avLst/>
          </a:prstGeom>
          <a:noFill/>
          <a:ln/>
        </p:spPr>
        <p:txBody>
          <a:bodyPr wrap="none" lIns="0" tIns="0" rIns="0" bIns="0" rtlCol="0" anchor="t"/>
          <a:lstStyle/>
          <a:p>
            <a:pPr marL="0" indent="0" algn="ctr">
              <a:lnSpc>
                <a:spcPts val="975"/>
              </a:lnSpc>
              <a:buNone/>
            </a:pPr>
            <a:r>
              <a:rPr lang="en-US" sz="765" b="1" kern="0" spc="38" dirty="0">
                <a:solidFill>
                  <a:srgbClr val="1B1A1A"/>
                </a:solidFill>
                <a:latin typeface="Quicksand" pitchFamily="34" charset="0"/>
              </a:rPr>
              <a:t>GOJO INDUSTRIES</a:t>
            </a:r>
            <a:endParaRPr lang="en-US" sz="765" dirty="0"/>
          </a:p>
        </p:txBody>
      </p:sp>
      <p:sp>
        <p:nvSpPr>
          <p:cNvPr id="73" name="Text 72"/>
          <p:cNvSpPr txBox="1"/>
          <p:nvPr/>
        </p:nvSpPr>
        <p:spPr>
          <a:xfrm>
            <a:off x="1543050" y="4628108"/>
            <a:ext cx="1905000" cy="133350"/>
          </a:xfrm>
          <a:prstGeom prst="rect">
            <a:avLst/>
          </a:prstGeom>
          <a:noFill/>
          <a:ln/>
        </p:spPr>
        <p:txBody>
          <a:bodyPr wrap="none" lIns="0" tIns="0" rIns="0" bIns="0" rtlCol="0" anchor="t"/>
          <a:lstStyle/>
          <a:p>
            <a:pPr marL="0" indent="0" algn="ctr">
              <a:lnSpc>
                <a:spcPts val="1050"/>
              </a:lnSpc>
              <a:buNone/>
            </a:pPr>
            <a:r>
              <a:rPr lang="en-US" sz="600" kern="0" spc="105" dirty="0">
                <a:solidFill>
                  <a:srgbClr val="6F6A66"/>
                </a:solidFill>
                <a:latin typeface="Quicksand" pitchFamily="34" charset="0"/>
              </a:rPr>
              <a:t>ACQUIRED BY</a:t>
            </a:r>
            <a:endParaRPr lang="en-US" sz="600" dirty="0"/>
          </a:p>
        </p:txBody>
      </p:sp>
      <p:sp>
        <p:nvSpPr>
          <p:cNvPr id="74" name="Shape 73"/>
          <p:cNvSpPr/>
          <p:nvPr/>
        </p:nvSpPr>
        <p:spPr>
          <a:xfrm>
            <a:off x="1543050" y="4761458"/>
            <a:ext cx="1905000" cy="285750"/>
          </a:xfrm>
          <a:prstGeom prst="rect">
            <a:avLst/>
          </a:prstGeom>
          <a:solidFill>
            <a:srgbClr val="FFFFFF"/>
          </a:solidFill>
          <a:ln/>
        </p:spPr>
        <p:txBody>
          <a:bodyPr/>
          <a:lstStyle/>
          <a:p>
            <a:endParaRPr lang="en-US"/>
          </a:p>
        </p:txBody>
      </p:sp>
      <p:sp>
        <p:nvSpPr>
          <p:cNvPr id="75" name="Shape 74"/>
          <p:cNvSpPr/>
          <p:nvPr/>
        </p:nvSpPr>
        <p:spPr>
          <a:xfrm>
            <a:off x="1547813" y="4766221"/>
            <a:ext cx="1895475" cy="276225"/>
          </a:xfrm>
          <a:prstGeom prst="rect">
            <a:avLst/>
          </a:prstGeom>
          <a:ln w="9525">
            <a:solidFill>
              <a:srgbClr val="C3BDB6"/>
            </a:solidFill>
            <a:prstDash val="solid"/>
          </a:ln>
        </p:spPr>
        <p:txBody>
          <a:bodyPr/>
          <a:lstStyle/>
          <a:p>
            <a:endParaRPr lang="en-US"/>
          </a:p>
        </p:txBody>
      </p:sp>
      <p:sp>
        <p:nvSpPr>
          <p:cNvPr id="76" name="Text 75"/>
          <p:cNvSpPr txBox="1"/>
          <p:nvPr/>
        </p:nvSpPr>
        <p:spPr>
          <a:xfrm>
            <a:off x="2287191" y="4842421"/>
            <a:ext cx="416570" cy="123825"/>
          </a:xfrm>
          <a:prstGeom prst="rect">
            <a:avLst/>
          </a:prstGeom>
          <a:noFill/>
          <a:ln/>
        </p:spPr>
        <p:txBody>
          <a:bodyPr wrap="none" lIns="0" tIns="0" rIns="0" bIns="0" rtlCol="0" anchor="t"/>
          <a:lstStyle/>
          <a:p>
            <a:pPr marL="0" indent="0" algn="ctr">
              <a:lnSpc>
                <a:spcPts val="975"/>
              </a:lnSpc>
              <a:buNone/>
            </a:pPr>
            <a:r>
              <a:rPr lang="en-US" sz="765" b="1" kern="0" spc="38" dirty="0">
                <a:solidFill>
                  <a:srgbClr val="1B1A1A"/>
                </a:solidFill>
                <a:latin typeface="Quicksand" pitchFamily="34" charset="0"/>
              </a:rPr>
              <a:t>CLOROX</a:t>
            </a:r>
            <a:endParaRPr lang="en-US" sz="765" dirty="0"/>
          </a:p>
        </p:txBody>
      </p:sp>
      <p:sp>
        <p:nvSpPr>
          <p:cNvPr id="77" name="Text 76"/>
          <p:cNvSpPr txBox="1"/>
          <p:nvPr/>
        </p:nvSpPr>
        <p:spPr>
          <a:xfrm>
            <a:off x="3581400" y="4471928"/>
            <a:ext cx="2662238" cy="434400"/>
          </a:xfrm>
          <a:prstGeom prst="rect">
            <a:avLst/>
          </a:prstGeom>
          <a:noFill/>
          <a:ln/>
        </p:spPr>
        <p:txBody>
          <a:bodyPr wrap="square" lIns="0" tIns="0" rIns="0" bIns="0" rtlCol="0" anchor="t"/>
          <a:lstStyle/>
          <a:p>
            <a:pPr marL="0" indent="0" algn="l">
              <a:lnSpc>
                <a:spcPts val="1140"/>
              </a:lnSpc>
              <a:buNone/>
            </a:pPr>
            <a:r>
              <a:rPr lang="en-US" sz="795" kern="0" spc="15" dirty="0">
                <a:solidFill>
                  <a:srgbClr val="333231"/>
                </a:solidFill>
                <a:latin typeface="Quicksand" pitchFamily="34" charset="0"/>
              </a:rPr>
              <a:t>Clorox bought GOJO Industries, the maker of Purell, which had been family-led in Akron, Ohio since its founding in 1946 (</a:t>
            </a:r>
            <a:r>
              <a:rPr lang="en-US" sz="795" u="sng" kern="0" spc="15" dirty="0">
                <a:solidFill>
                  <a:srgbClr val="8C6239"/>
                </a:solidFill>
                <a:latin typeface="Quicksand" pitchFamily="34" charset="0"/>
                <a:hlinkClick r:id="rId8">
                  <a:extLst>
                    <a:ext uri="{A12FA001-AC4F-418D-AE19-62706E023703}">
                      <ahyp:hlinkClr xmlns:ahyp="http://schemas.microsoft.com/office/drawing/2018/hyperlinkcolor" val="tx"/>
                    </a:ext>
                  </a:extLst>
                </a:hlinkClick>
              </a:rPr>
              <a:t>Clorox and GOJO Industries</a:t>
            </a:r>
            <a:r>
              <a:rPr lang="en-US" sz="795" kern="0" spc="15" dirty="0">
                <a:solidFill>
                  <a:srgbClr val="333231"/>
                </a:solidFill>
                <a:latin typeface="Quicksand" pitchFamily="34" charset="0"/>
              </a:rPr>
              <a:t>).</a:t>
            </a:r>
            <a:endParaRPr lang="en-US" sz="795" dirty="0"/>
          </a:p>
        </p:txBody>
      </p:sp>
      <p:sp>
        <p:nvSpPr>
          <p:cNvPr id="78" name="Text 77"/>
          <p:cNvSpPr txBox="1"/>
          <p:nvPr/>
        </p:nvSpPr>
        <p:spPr>
          <a:xfrm>
            <a:off x="6362700" y="4599533"/>
            <a:ext cx="1066800" cy="190500"/>
          </a:xfrm>
          <a:prstGeom prst="rect">
            <a:avLst/>
          </a:prstGeom>
          <a:noFill/>
          <a:ln/>
        </p:spPr>
        <p:txBody>
          <a:bodyPr wrap="none" lIns="0" tIns="0" rIns="0" bIns="0" rtlCol="0" anchor="t"/>
          <a:lstStyle/>
          <a:p>
            <a:pPr marL="0" indent="0" algn="l">
              <a:lnSpc>
                <a:spcPts val="1500"/>
              </a:lnSpc>
              <a:buNone/>
            </a:pPr>
            <a:r>
              <a:rPr lang="en-US" sz="1200" kern="0" spc="15" dirty="0">
                <a:solidFill>
                  <a:srgbClr val="8C6239"/>
                </a:solidFill>
                <a:latin typeface="Newsreader SemiBold" pitchFamily="34" charset="0"/>
              </a:rPr>
              <a:t>$2.25B</a:t>
            </a:r>
            <a:endParaRPr lang="en-US" sz="1200" dirty="0"/>
          </a:p>
        </p:txBody>
      </p:sp>
      <p:sp>
        <p:nvSpPr>
          <p:cNvPr id="79" name="Text 78"/>
          <p:cNvSpPr txBox="1"/>
          <p:nvPr/>
        </p:nvSpPr>
        <p:spPr>
          <a:xfrm>
            <a:off x="7562850" y="4623346"/>
            <a:ext cx="876300" cy="133350"/>
          </a:xfrm>
          <a:prstGeom prst="rect">
            <a:avLst/>
          </a:prstGeom>
          <a:noFill/>
          <a:ln/>
        </p:spPr>
        <p:txBody>
          <a:bodyPr wrap="none" lIns="0" tIns="0" rIns="0" bIns="0" rtlCol="0" anchor="t"/>
          <a:lstStyle/>
          <a:p>
            <a:pPr marL="0" indent="0" algn="l">
              <a:lnSpc>
                <a:spcPts val="1050"/>
              </a:lnSpc>
              <a:buNone/>
            </a:pPr>
            <a:r>
              <a:rPr lang="en-US" sz="780" kern="0" spc="15" dirty="0">
                <a:solidFill>
                  <a:srgbClr val="6F6A66"/>
                </a:solidFill>
                <a:latin typeface="Quicksand" pitchFamily="34" charset="0"/>
              </a:rPr>
              <a:t>Not disclosed</a:t>
            </a:r>
            <a:endParaRPr lang="en-US" sz="780" dirty="0"/>
          </a:p>
        </p:txBody>
      </p:sp>
      <p:sp>
        <p:nvSpPr>
          <p:cNvPr id="81" name="Shape 80"/>
          <p:cNvSpPr/>
          <p:nvPr/>
        </p:nvSpPr>
        <p:spPr>
          <a:xfrm>
            <a:off x="419100" y="6030664"/>
            <a:ext cx="9220200" cy="9525"/>
          </a:xfrm>
          <a:prstGeom prst="rect">
            <a:avLst/>
          </a:prstGeom>
          <a:solidFill>
            <a:srgbClr val="E3DCD3"/>
          </a:solidFill>
          <a:ln/>
        </p:spPr>
        <p:txBody>
          <a:bodyPr/>
          <a:lstStyle/>
          <a:p>
            <a:endParaRPr lang="en-US"/>
          </a:p>
        </p:txBody>
      </p:sp>
      <p:sp>
        <p:nvSpPr>
          <p:cNvPr id="82" name="Shape 81"/>
          <p:cNvSpPr/>
          <p:nvPr/>
        </p:nvSpPr>
        <p:spPr>
          <a:xfrm>
            <a:off x="419100" y="5281315"/>
            <a:ext cx="676424" cy="209550"/>
          </a:xfrm>
          <a:prstGeom prst="rect">
            <a:avLst/>
          </a:prstGeom>
          <a:solidFill>
            <a:srgbClr val="1B1A1A"/>
          </a:solidFill>
          <a:ln/>
        </p:spPr>
        <p:txBody>
          <a:bodyPr/>
          <a:lstStyle/>
          <a:p>
            <a:endParaRPr lang="en-US"/>
          </a:p>
        </p:txBody>
      </p:sp>
      <p:sp>
        <p:nvSpPr>
          <p:cNvPr id="83" name="Text 82"/>
          <p:cNvSpPr txBox="1"/>
          <p:nvPr/>
        </p:nvSpPr>
        <p:spPr>
          <a:xfrm>
            <a:off x="504825" y="5324177"/>
            <a:ext cx="562124" cy="114300"/>
          </a:xfrm>
          <a:prstGeom prst="rect">
            <a:avLst/>
          </a:prstGeom>
          <a:noFill/>
          <a:ln/>
        </p:spPr>
        <p:txBody>
          <a:bodyPr wrap="none" lIns="0" tIns="0" rIns="0" bIns="0" rtlCol="0" anchor="t"/>
          <a:lstStyle/>
          <a:p>
            <a:pPr marL="0" indent="0" algn="l">
              <a:lnSpc>
                <a:spcPts val="900"/>
              </a:lnSpc>
              <a:buNone/>
            </a:pPr>
            <a:r>
              <a:rPr lang="en-US" sz="638" b="1" kern="0" spc="120" dirty="0">
                <a:solidFill>
                  <a:srgbClr val="D3AE84"/>
                </a:solidFill>
                <a:latin typeface="Quicksand" pitchFamily="34" charset="0"/>
              </a:rPr>
              <a:t>MAR 2026</a:t>
            </a:r>
            <a:endParaRPr lang="en-US" sz="638" dirty="0"/>
          </a:p>
        </p:txBody>
      </p:sp>
      <p:pic>
        <p:nvPicPr>
          <p:cNvPr id="84" name="Icon" descr="/tmp/claude-0/-home-claude-about/4bef2f41-4227-5ff7-ab18-11ac74cd9797/scratchpad/pptx/ex/media/850c46659f16.png"/>
          <p:cNvPicPr>
            <a:picLocks noChangeAspect="1"/>
          </p:cNvPicPr>
          <p:nvPr/>
        </p:nvPicPr>
        <p:blipFill>
          <a:blip r:embed="rId7"/>
          <a:stretch>
            <a:fillRect/>
          </a:stretch>
        </p:blipFill>
        <p:spPr>
          <a:xfrm>
            <a:off x="419100" y="5567065"/>
            <a:ext cx="133350" cy="133350"/>
          </a:xfrm>
          <a:prstGeom prst="rect">
            <a:avLst/>
          </a:prstGeom>
        </p:spPr>
      </p:pic>
      <p:sp>
        <p:nvSpPr>
          <p:cNvPr id="85" name="Text 84"/>
          <p:cNvSpPr txBox="1"/>
          <p:nvPr/>
        </p:nvSpPr>
        <p:spPr>
          <a:xfrm>
            <a:off x="619125" y="5559921"/>
            <a:ext cx="804863" cy="328613"/>
          </a:xfrm>
          <a:prstGeom prst="rect">
            <a:avLst/>
          </a:prstGeom>
          <a:noFill/>
          <a:ln/>
        </p:spPr>
        <p:txBody>
          <a:bodyPr wrap="square" lIns="0" tIns="0" rIns="0" bIns="0" rtlCol="0" anchor="t"/>
          <a:lstStyle/>
          <a:p>
            <a:pPr marL="0" indent="0" algn="l">
              <a:lnSpc>
                <a:spcPts val="863"/>
              </a:lnSpc>
              <a:buNone/>
            </a:pPr>
            <a:r>
              <a:rPr lang="en-US" sz="615" b="1" kern="0" spc="75" dirty="0">
                <a:solidFill>
                  <a:srgbClr val="8C6239"/>
                </a:solidFill>
                <a:latin typeface="Quicksand" pitchFamily="34" charset="0"/>
              </a:rPr>
              <a:t>CONSUMER BRANDS &amp; PRODUCTS</a:t>
            </a:r>
            <a:endParaRPr lang="en-US" sz="615" dirty="0"/>
          </a:p>
        </p:txBody>
      </p:sp>
      <p:sp>
        <p:nvSpPr>
          <p:cNvPr id="86" name="Shape 85"/>
          <p:cNvSpPr/>
          <p:nvPr/>
        </p:nvSpPr>
        <p:spPr>
          <a:xfrm>
            <a:off x="1543050" y="5178921"/>
            <a:ext cx="1905000" cy="342900"/>
          </a:xfrm>
          <a:prstGeom prst="rect">
            <a:avLst/>
          </a:prstGeom>
          <a:solidFill>
            <a:srgbClr val="FAF7F3"/>
          </a:solidFill>
          <a:ln/>
        </p:spPr>
        <p:txBody>
          <a:bodyPr/>
          <a:lstStyle/>
          <a:p>
            <a:endParaRPr lang="en-US"/>
          </a:p>
        </p:txBody>
      </p:sp>
      <p:sp>
        <p:nvSpPr>
          <p:cNvPr id="87" name="Shape 86"/>
          <p:cNvSpPr/>
          <p:nvPr/>
        </p:nvSpPr>
        <p:spPr>
          <a:xfrm>
            <a:off x="1547813" y="5183684"/>
            <a:ext cx="1895475" cy="333375"/>
          </a:xfrm>
          <a:prstGeom prst="rect">
            <a:avLst/>
          </a:prstGeom>
          <a:ln w="9525">
            <a:solidFill>
              <a:srgbClr val="E3DCD3"/>
            </a:solidFill>
            <a:prstDash val="solid"/>
          </a:ln>
        </p:spPr>
        <p:txBody>
          <a:bodyPr/>
          <a:lstStyle/>
          <a:p>
            <a:endParaRPr lang="en-US"/>
          </a:p>
        </p:txBody>
      </p:sp>
      <p:sp>
        <p:nvSpPr>
          <p:cNvPr id="88" name="Text 87"/>
          <p:cNvSpPr txBox="1"/>
          <p:nvPr/>
        </p:nvSpPr>
        <p:spPr>
          <a:xfrm>
            <a:off x="1621631" y="5226546"/>
            <a:ext cx="1747838" cy="247650"/>
          </a:xfrm>
          <a:prstGeom prst="rect">
            <a:avLst/>
          </a:prstGeom>
          <a:noFill/>
          <a:ln/>
        </p:spPr>
        <p:txBody>
          <a:bodyPr wrap="square" lIns="0" tIns="0" rIns="0" bIns="0" rtlCol="0" anchor="t"/>
          <a:lstStyle/>
          <a:p>
            <a:pPr marL="0" indent="0" algn="ctr">
              <a:lnSpc>
                <a:spcPts val="975"/>
              </a:lnSpc>
              <a:buNone/>
            </a:pPr>
            <a:r>
              <a:rPr lang="en-US" sz="765" b="1" kern="0" spc="38" dirty="0">
                <a:solidFill>
                  <a:srgbClr val="1B1A1A"/>
                </a:solidFill>
                <a:latin typeface="Quicksand" pitchFamily="34" charset="0"/>
              </a:rPr>
              <a:t>BREATHE RIGHT, DIMETAPP AND ANBESOL</a:t>
            </a:r>
            <a:endParaRPr lang="en-US" sz="765" dirty="0"/>
          </a:p>
        </p:txBody>
      </p:sp>
      <p:sp>
        <p:nvSpPr>
          <p:cNvPr id="89" name="Text 88"/>
          <p:cNvSpPr txBox="1"/>
          <p:nvPr/>
        </p:nvSpPr>
        <p:spPr>
          <a:xfrm>
            <a:off x="1543050" y="5521821"/>
            <a:ext cx="1905000" cy="133350"/>
          </a:xfrm>
          <a:prstGeom prst="rect">
            <a:avLst/>
          </a:prstGeom>
          <a:noFill/>
          <a:ln/>
        </p:spPr>
        <p:txBody>
          <a:bodyPr wrap="none" lIns="0" tIns="0" rIns="0" bIns="0" rtlCol="0" anchor="t"/>
          <a:lstStyle/>
          <a:p>
            <a:pPr marL="0" indent="0" algn="ctr">
              <a:lnSpc>
                <a:spcPts val="1050"/>
              </a:lnSpc>
              <a:buNone/>
            </a:pPr>
            <a:r>
              <a:rPr lang="en-US" sz="600" kern="0" spc="105" dirty="0">
                <a:solidFill>
                  <a:srgbClr val="6F6A66"/>
                </a:solidFill>
                <a:latin typeface="Quicksand" pitchFamily="34" charset="0"/>
              </a:rPr>
              <a:t>ACQUIRED BY</a:t>
            </a:r>
            <a:endParaRPr lang="en-US" sz="600" dirty="0"/>
          </a:p>
        </p:txBody>
      </p:sp>
      <p:sp>
        <p:nvSpPr>
          <p:cNvPr id="90" name="Shape 89"/>
          <p:cNvSpPr/>
          <p:nvPr/>
        </p:nvSpPr>
        <p:spPr>
          <a:xfrm>
            <a:off x="1543050" y="5655171"/>
            <a:ext cx="1905000" cy="342900"/>
          </a:xfrm>
          <a:prstGeom prst="rect">
            <a:avLst/>
          </a:prstGeom>
          <a:solidFill>
            <a:srgbClr val="FFFFFF"/>
          </a:solidFill>
          <a:ln/>
        </p:spPr>
        <p:txBody>
          <a:bodyPr/>
          <a:lstStyle/>
          <a:p>
            <a:endParaRPr lang="en-US"/>
          </a:p>
        </p:txBody>
      </p:sp>
      <p:sp>
        <p:nvSpPr>
          <p:cNvPr id="91" name="Shape 90"/>
          <p:cNvSpPr/>
          <p:nvPr/>
        </p:nvSpPr>
        <p:spPr>
          <a:xfrm>
            <a:off x="1547813" y="5659934"/>
            <a:ext cx="1895475" cy="333375"/>
          </a:xfrm>
          <a:prstGeom prst="rect">
            <a:avLst/>
          </a:prstGeom>
          <a:ln w="9525">
            <a:solidFill>
              <a:srgbClr val="C3BDB6"/>
            </a:solidFill>
            <a:prstDash val="solid"/>
          </a:ln>
        </p:spPr>
        <p:txBody>
          <a:bodyPr/>
          <a:lstStyle/>
          <a:p>
            <a:endParaRPr lang="en-US"/>
          </a:p>
        </p:txBody>
      </p:sp>
      <p:sp>
        <p:nvSpPr>
          <p:cNvPr id="92" name="Text 91"/>
          <p:cNvSpPr txBox="1"/>
          <p:nvPr/>
        </p:nvSpPr>
        <p:spPr>
          <a:xfrm>
            <a:off x="1621631" y="5702796"/>
            <a:ext cx="1747838" cy="247650"/>
          </a:xfrm>
          <a:prstGeom prst="rect">
            <a:avLst/>
          </a:prstGeom>
          <a:noFill/>
          <a:ln/>
        </p:spPr>
        <p:txBody>
          <a:bodyPr wrap="square" lIns="0" tIns="0" rIns="0" bIns="0" rtlCol="0" anchor="t"/>
          <a:lstStyle/>
          <a:p>
            <a:pPr marL="0" indent="0" algn="ctr">
              <a:lnSpc>
                <a:spcPts val="975"/>
              </a:lnSpc>
              <a:buNone/>
            </a:pPr>
            <a:r>
              <a:rPr lang="en-US" sz="765" b="1" kern="0" spc="38" dirty="0">
                <a:solidFill>
                  <a:srgbClr val="1B1A1A"/>
                </a:solidFill>
                <a:latin typeface="Quicksand" pitchFamily="34" charset="0"/>
              </a:rPr>
              <a:t>PRESTIGE CONSUMER HEALTHCARE</a:t>
            </a:r>
            <a:endParaRPr lang="en-US" sz="765" dirty="0"/>
          </a:p>
        </p:txBody>
      </p:sp>
      <p:sp>
        <p:nvSpPr>
          <p:cNvPr id="93" name="Text 92"/>
          <p:cNvSpPr txBox="1"/>
          <p:nvPr/>
        </p:nvSpPr>
        <p:spPr>
          <a:xfrm>
            <a:off x="3581400" y="5293162"/>
            <a:ext cx="2662238" cy="579209"/>
          </a:xfrm>
          <a:prstGeom prst="rect">
            <a:avLst/>
          </a:prstGeom>
          <a:noFill/>
          <a:ln/>
        </p:spPr>
        <p:txBody>
          <a:bodyPr wrap="square" lIns="0" tIns="0" rIns="0" bIns="0" rtlCol="0" anchor="t"/>
          <a:lstStyle/>
          <a:p>
            <a:pPr marL="0" indent="0" algn="l">
              <a:lnSpc>
                <a:spcPts val="1140"/>
              </a:lnSpc>
              <a:buNone/>
            </a:pPr>
            <a:r>
              <a:rPr lang="en-US" sz="795" kern="0" spc="15" dirty="0">
                <a:solidFill>
                  <a:srgbClr val="333231"/>
                </a:solidFill>
                <a:latin typeface="Quicksand" pitchFamily="34" charset="0"/>
              </a:rPr>
              <a:t>Prestige agreed to buy Breathe Right and other over-the-counter health brands, described the model as asset-light and stated the price as a multiple of EBITDA (</a:t>
            </a:r>
            <a:r>
              <a:rPr lang="en-US" sz="795" u="sng" kern="0" spc="15" dirty="0">
                <a:solidFill>
                  <a:srgbClr val="8C6239"/>
                </a:solidFill>
                <a:latin typeface="Quicksand" pitchFamily="34" charset="0"/>
                <a:hlinkClick r:id="rId9">
                  <a:extLst>
                    <a:ext uri="{A12FA001-AC4F-418D-AE19-62706E023703}">
                      <ahyp:hlinkClr xmlns:ahyp="http://schemas.microsoft.com/office/drawing/2018/hyperlinkcolor" val="tx"/>
                    </a:ext>
                  </a:extLst>
                </a:hlinkClick>
              </a:rPr>
              <a:t>Prestige Consumer Healthcare</a:t>
            </a:r>
            <a:r>
              <a:rPr lang="en-US" sz="795" kern="0" spc="15" dirty="0">
                <a:solidFill>
                  <a:srgbClr val="333231"/>
                </a:solidFill>
                <a:latin typeface="Quicksand" pitchFamily="34" charset="0"/>
              </a:rPr>
              <a:t>).</a:t>
            </a:r>
            <a:endParaRPr lang="en-US" sz="795" dirty="0"/>
          </a:p>
        </p:txBody>
      </p:sp>
      <p:sp>
        <p:nvSpPr>
          <p:cNvPr id="94" name="Text 93"/>
          <p:cNvSpPr txBox="1"/>
          <p:nvPr/>
        </p:nvSpPr>
        <p:spPr>
          <a:xfrm>
            <a:off x="6362700" y="5493246"/>
            <a:ext cx="1066800" cy="190500"/>
          </a:xfrm>
          <a:prstGeom prst="rect">
            <a:avLst/>
          </a:prstGeom>
          <a:noFill/>
          <a:ln/>
        </p:spPr>
        <p:txBody>
          <a:bodyPr wrap="none" lIns="0" tIns="0" rIns="0" bIns="0" rtlCol="0" anchor="t"/>
          <a:lstStyle/>
          <a:p>
            <a:pPr marL="0" indent="0" algn="l">
              <a:lnSpc>
                <a:spcPts val="1500"/>
              </a:lnSpc>
              <a:buNone/>
            </a:pPr>
            <a:r>
              <a:rPr lang="en-US" sz="1200" kern="0" spc="15" dirty="0">
                <a:solidFill>
                  <a:srgbClr val="8C6239"/>
                </a:solidFill>
                <a:latin typeface="Newsreader SemiBold" pitchFamily="34" charset="0"/>
              </a:rPr>
              <a:t>$1.045B</a:t>
            </a:r>
            <a:endParaRPr lang="en-US" sz="1200" dirty="0"/>
          </a:p>
        </p:txBody>
      </p:sp>
      <p:sp>
        <p:nvSpPr>
          <p:cNvPr id="95" name="Text 94"/>
          <p:cNvSpPr txBox="1"/>
          <p:nvPr/>
        </p:nvSpPr>
        <p:spPr>
          <a:xfrm>
            <a:off x="7562850" y="5517059"/>
            <a:ext cx="876300" cy="133350"/>
          </a:xfrm>
          <a:prstGeom prst="rect">
            <a:avLst/>
          </a:prstGeom>
          <a:noFill/>
          <a:ln/>
        </p:spPr>
        <p:txBody>
          <a:bodyPr wrap="none" lIns="0" tIns="0" rIns="0" bIns="0" rtlCol="0" anchor="t"/>
          <a:lstStyle/>
          <a:p>
            <a:pPr marL="0" indent="0" algn="l">
              <a:lnSpc>
                <a:spcPts val="1050"/>
              </a:lnSpc>
              <a:buNone/>
            </a:pPr>
            <a:r>
              <a:rPr lang="en-US" sz="780" kern="0" spc="15" dirty="0">
                <a:solidFill>
                  <a:srgbClr val="6F6A66"/>
                </a:solidFill>
                <a:latin typeface="Quicksand" pitchFamily="34" charset="0"/>
              </a:rPr>
              <a:t>Not disclosed</a:t>
            </a:r>
            <a:endParaRPr lang="en-US" sz="780" dirty="0"/>
          </a:p>
        </p:txBody>
      </p:sp>
      <p:sp>
        <p:nvSpPr>
          <p:cNvPr id="96" name="Text 95"/>
          <p:cNvSpPr txBox="1"/>
          <p:nvPr/>
        </p:nvSpPr>
        <p:spPr>
          <a:xfrm>
            <a:off x="8572500" y="5383709"/>
            <a:ext cx="1066800" cy="190500"/>
          </a:xfrm>
          <a:prstGeom prst="rect">
            <a:avLst/>
          </a:prstGeom>
          <a:noFill/>
          <a:ln/>
        </p:spPr>
        <p:txBody>
          <a:bodyPr wrap="none" lIns="0" tIns="0" rIns="0" bIns="0" rtlCol="0" anchor="t"/>
          <a:lstStyle/>
          <a:p>
            <a:pPr marL="0" indent="0" algn="l">
              <a:lnSpc>
                <a:spcPts val="1500"/>
              </a:lnSpc>
              <a:buNone/>
            </a:pPr>
            <a:r>
              <a:rPr lang="en-US" sz="1200" kern="0" spc="15" dirty="0">
                <a:solidFill>
                  <a:srgbClr val="8C6239"/>
                </a:solidFill>
                <a:latin typeface="Newsreader SemiBold" pitchFamily="34" charset="0"/>
              </a:rPr>
              <a:t>11.0x</a:t>
            </a:r>
            <a:endParaRPr lang="en-US" sz="1200" dirty="0"/>
          </a:p>
        </p:txBody>
      </p:sp>
      <p:sp>
        <p:nvSpPr>
          <p:cNvPr id="97" name="Text 96"/>
          <p:cNvSpPr txBox="1"/>
          <p:nvPr/>
        </p:nvSpPr>
        <p:spPr>
          <a:xfrm>
            <a:off x="8572500" y="5571827"/>
            <a:ext cx="1081088" cy="219075"/>
          </a:xfrm>
          <a:prstGeom prst="rect">
            <a:avLst/>
          </a:prstGeom>
          <a:noFill/>
          <a:ln/>
        </p:spPr>
        <p:txBody>
          <a:bodyPr wrap="square" lIns="0" tIns="0" rIns="0" bIns="0" rtlCol="0" anchor="t"/>
          <a:lstStyle/>
          <a:p>
            <a:pPr marL="0" indent="0" algn="l">
              <a:lnSpc>
                <a:spcPts val="863"/>
              </a:lnSpc>
              <a:buNone/>
            </a:pPr>
            <a:r>
              <a:rPr lang="en-US" sz="645" kern="0" spc="15" dirty="0">
                <a:solidFill>
                  <a:srgbClr val="6F6A66"/>
                </a:solidFill>
                <a:latin typeface="Quicksand" pitchFamily="34" charset="0"/>
              </a:rPr>
              <a:t>EBITDA, as stated by Prestige</a:t>
            </a:r>
            <a:endParaRPr lang="en-US" sz="645" dirty="0"/>
          </a:p>
        </p:txBody>
      </p:sp>
      <p:sp>
        <p:nvSpPr>
          <p:cNvPr id="98" name="Shape 97"/>
          <p:cNvSpPr/>
          <p:nvPr/>
        </p:nvSpPr>
        <p:spPr>
          <a:xfrm>
            <a:off x="419100" y="6924377"/>
            <a:ext cx="9220200" cy="9525"/>
          </a:xfrm>
          <a:prstGeom prst="rect">
            <a:avLst/>
          </a:prstGeom>
          <a:solidFill>
            <a:srgbClr val="E3DCD3"/>
          </a:solidFill>
          <a:ln/>
        </p:spPr>
        <p:txBody>
          <a:bodyPr/>
          <a:lstStyle/>
          <a:p>
            <a:endParaRPr lang="en-US"/>
          </a:p>
        </p:txBody>
      </p:sp>
      <p:sp>
        <p:nvSpPr>
          <p:cNvPr id="99" name="Shape 98"/>
          <p:cNvSpPr/>
          <p:nvPr/>
        </p:nvSpPr>
        <p:spPr>
          <a:xfrm>
            <a:off x="419100" y="6175028"/>
            <a:ext cx="657523" cy="209550"/>
          </a:xfrm>
          <a:prstGeom prst="rect">
            <a:avLst/>
          </a:prstGeom>
          <a:solidFill>
            <a:srgbClr val="1B1A1A"/>
          </a:solidFill>
          <a:ln/>
        </p:spPr>
        <p:txBody>
          <a:bodyPr/>
          <a:lstStyle/>
          <a:p>
            <a:endParaRPr lang="en-US"/>
          </a:p>
        </p:txBody>
      </p:sp>
      <p:sp>
        <p:nvSpPr>
          <p:cNvPr id="100" name="Text 99"/>
          <p:cNvSpPr txBox="1"/>
          <p:nvPr/>
        </p:nvSpPr>
        <p:spPr>
          <a:xfrm>
            <a:off x="504825" y="6217890"/>
            <a:ext cx="543223" cy="114300"/>
          </a:xfrm>
          <a:prstGeom prst="rect">
            <a:avLst/>
          </a:prstGeom>
          <a:noFill/>
          <a:ln/>
        </p:spPr>
        <p:txBody>
          <a:bodyPr wrap="none" lIns="0" tIns="0" rIns="0" bIns="0" rtlCol="0" anchor="t"/>
          <a:lstStyle/>
          <a:p>
            <a:pPr marL="0" indent="0" algn="l">
              <a:lnSpc>
                <a:spcPts val="900"/>
              </a:lnSpc>
              <a:buNone/>
            </a:pPr>
            <a:r>
              <a:rPr lang="en-US" sz="638" b="1" kern="0" spc="120" dirty="0">
                <a:solidFill>
                  <a:srgbClr val="D3AE84"/>
                </a:solidFill>
                <a:latin typeface="Quicksand" pitchFamily="34" charset="0"/>
              </a:rPr>
              <a:t>JAN 2026</a:t>
            </a:r>
            <a:endParaRPr lang="en-US" sz="638" dirty="0"/>
          </a:p>
        </p:txBody>
      </p:sp>
      <p:pic>
        <p:nvPicPr>
          <p:cNvPr id="101" name="Icon" descr="/tmp/claude-0/-home-claude-about/4bef2f41-4227-5ff7-ab18-11ac74cd9797/scratchpad/pptx/ex/media/850c46659f16.png"/>
          <p:cNvPicPr>
            <a:picLocks noChangeAspect="1"/>
          </p:cNvPicPr>
          <p:nvPr/>
        </p:nvPicPr>
        <p:blipFill>
          <a:blip r:embed="rId7"/>
          <a:stretch>
            <a:fillRect/>
          </a:stretch>
        </p:blipFill>
        <p:spPr>
          <a:xfrm>
            <a:off x="419100" y="6460778"/>
            <a:ext cx="133350" cy="133350"/>
          </a:xfrm>
          <a:prstGeom prst="rect">
            <a:avLst/>
          </a:prstGeom>
        </p:spPr>
      </p:pic>
      <p:sp>
        <p:nvSpPr>
          <p:cNvPr id="102" name="Text 101"/>
          <p:cNvSpPr txBox="1"/>
          <p:nvPr/>
        </p:nvSpPr>
        <p:spPr>
          <a:xfrm>
            <a:off x="619125" y="6453634"/>
            <a:ext cx="804863" cy="328613"/>
          </a:xfrm>
          <a:prstGeom prst="rect">
            <a:avLst/>
          </a:prstGeom>
          <a:noFill/>
          <a:ln/>
        </p:spPr>
        <p:txBody>
          <a:bodyPr wrap="square" lIns="0" tIns="0" rIns="0" bIns="0" rtlCol="0" anchor="t"/>
          <a:lstStyle/>
          <a:p>
            <a:pPr marL="0" indent="0" algn="l">
              <a:lnSpc>
                <a:spcPts val="863"/>
              </a:lnSpc>
              <a:buNone/>
            </a:pPr>
            <a:r>
              <a:rPr lang="en-US" sz="615" b="1" kern="0" spc="75" dirty="0">
                <a:solidFill>
                  <a:srgbClr val="8C6239"/>
                </a:solidFill>
                <a:latin typeface="Quicksand" pitchFamily="34" charset="0"/>
              </a:rPr>
              <a:t>CONSUMER BRANDS &amp; PRODUCTS</a:t>
            </a:r>
            <a:endParaRPr lang="en-US" sz="615" dirty="0"/>
          </a:p>
        </p:txBody>
      </p:sp>
      <p:sp>
        <p:nvSpPr>
          <p:cNvPr id="103" name="Shape 102"/>
          <p:cNvSpPr/>
          <p:nvPr/>
        </p:nvSpPr>
        <p:spPr>
          <a:xfrm>
            <a:off x="1543050" y="6129784"/>
            <a:ext cx="1905000" cy="285750"/>
          </a:xfrm>
          <a:prstGeom prst="rect">
            <a:avLst/>
          </a:prstGeom>
          <a:solidFill>
            <a:srgbClr val="FAF7F3"/>
          </a:solidFill>
          <a:ln/>
        </p:spPr>
        <p:txBody>
          <a:bodyPr/>
          <a:lstStyle/>
          <a:p>
            <a:endParaRPr lang="en-US"/>
          </a:p>
        </p:txBody>
      </p:sp>
      <p:sp>
        <p:nvSpPr>
          <p:cNvPr id="104" name="Shape 103"/>
          <p:cNvSpPr/>
          <p:nvPr/>
        </p:nvSpPr>
        <p:spPr>
          <a:xfrm>
            <a:off x="1547813" y="6134546"/>
            <a:ext cx="1895475" cy="276225"/>
          </a:xfrm>
          <a:prstGeom prst="rect">
            <a:avLst/>
          </a:prstGeom>
          <a:ln w="9525">
            <a:solidFill>
              <a:srgbClr val="E3DCD3"/>
            </a:solidFill>
            <a:prstDash val="solid"/>
          </a:ln>
        </p:spPr>
        <p:txBody>
          <a:bodyPr/>
          <a:lstStyle/>
          <a:p>
            <a:endParaRPr lang="en-US"/>
          </a:p>
        </p:txBody>
      </p:sp>
      <p:sp>
        <p:nvSpPr>
          <p:cNvPr id="105" name="Text 104"/>
          <p:cNvSpPr txBox="1"/>
          <p:nvPr/>
        </p:nvSpPr>
        <p:spPr>
          <a:xfrm>
            <a:off x="2248198" y="6210746"/>
            <a:ext cx="494556" cy="123825"/>
          </a:xfrm>
          <a:prstGeom prst="rect">
            <a:avLst/>
          </a:prstGeom>
          <a:noFill/>
          <a:ln/>
        </p:spPr>
        <p:txBody>
          <a:bodyPr wrap="none" lIns="0" tIns="0" rIns="0" bIns="0" rtlCol="0" anchor="t"/>
          <a:lstStyle/>
          <a:p>
            <a:pPr marL="0" indent="0" algn="ctr">
              <a:lnSpc>
                <a:spcPts val="975"/>
              </a:lnSpc>
              <a:buNone/>
            </a:pPr>
            <a:r>
              <a:rPr lang="en-US" sz="765" b="1" kern="0" spc="38" dirty="0">
                <a:solidFill>
                  <a:srgbClr val="1B1A1A"/>
                </a:solidFill>
                <a:latin typeface="Quicksand" pitchFamily="34" charset="0"/>
              </a:rPr>
              <a:t>MY MEDIC</a:t>
            </a:r>
            <a:endParaRPr lang="en-US" sz="765" dirty="0"/>
          </a:p>
        </p:txBody>
      </p:sp>
      <p:sp>
        <p:nvSpPr>
          <p:cNvPr id="106" name="Text 105"/>
          <p:cNvSpPr txBox="1"/>
          <p:nvPr/>
        </p:nvSpPr>
        <p:spPr>
          <a:xfrm>
            <a:off x="1543050" y="6415534"/>
            <a:ext cx="1905000" cy="133350"/>
          </a:xfrm>
          <a:prstGeom prst="rect">
            <a:avLst/>
          </a:prstGeom>
          <a:noFill/>
          <a:ln/>
        </p:spPr>
        <p:txBody>
          <a:bodyPr wrap="none" lIns="0" tIns="0" rIns="0" bIns="0" rtlCol="0" anchor="t"/>
          <a:lstStyle/>
          <a:p>
            <a:pPr marL="0" indent="0" algn="ctr">
              <a:lnSpc>
                <a:spcPts val="1050"/>
              </a:lnSpc>
              <a:buNone/>
            </a:pPr>
            <a:r>
              <a:rPr lang="en-US" sz="600" kern="0" spc="105" dirty="0">
                <a:solidFill>
                  <a:srgbClr val="6F6A66"/>
                </a:solidFill>
                <a:latin typeface="Quicksand" pitchFamily="34" charset="0"/>
              </a:rPr>
              <a:t>ACQUIRED BY</a:t>
            </a:r>
            <a:endParaRPr lang="en-US" sz="600" dirty="0"/>
          </a:p>
        </p:txBody>
      </p:sp>
      <p:sp>
        <p:nvSpPr>
          <p:cNvPr id="107" name="Shape 106"/>
          <p:cNvSpPr/>
          <p:nvPr/>
        </p:nvSpPr>
        <p:spPr>
          <a:xfrm>
            <a:off x="1543050" y="6548884"/>
            <a:ext cx="1905000" cy="285750"/>
          </a:xfrm>
          <a:prstGeom prst="rect">
            <a:avLst/>
          </a:prstGeom>
          <a:solidFill>
            <a:srgbClr val="FFFFFF"/>
          </a:solidFill>
          <a:ln/>
        </p:spPr>
        <p:txBody>
          <a:bodyPr/>
          <a:lstStyle/>
          <a:p>
            <a:endParaRPr lang="en-US"/>
          </a:p>
        </p:txBody>
      </p:sp>
      <p:sp>
        <p:nvSpPr>
          <p:cNvPr id="108" name="Shape 107"/>
          <p:cNvSpPr/>
          <p:nvPr/>
        </p:nvSpPr>
        <p:spPr>
          <a:xfrm>
            <a:off x="1547813" y="6553646"/>
            <a:ext cx="1895475" cy="276225"/>
          </a:xfrm>
          <a:prstGeom prst="rect">
            <a:avLst/>
          </a:prstGeom>
          <a:ln w="9525">
            <a:solidFill>
              <a:srgbClr val="C3BDB6"/>
            </a:solidFill>
            <a:prstDash val="solid"/>
          </a:ln>
        </p:spPr>
        <p:txBody>
          <a:bodyPr/>
          <a:lstStyle/>
          <a:p>
            <a:endParaRPr lang="en-US"/>
          </a:p>
        </p:txBody>
      </p:sp>
      <p:sp>
        <p:nvSpPr>
          <p:cNvPr id="109" name="Text 108"/>
          <p:cNvSpPr txBox="1"/>
          <p:nvPr/>
        </p:nvSpPr>
        <p:spPr>
          <a:xfrm>
            <a:off x="2151013" y="6629846"/>
            <a:ext cx="689074" cy="123825"/>
          </a:xfrm>
          <a:prstGeom prst="rect">
            <a:avLst/>
          </a:prstGeom>
          <a:noFill/>
          <a:ln/>
        </p:spPr>
        <p:txBody>
          <a:bodyPr wrap="none" lIns="0" tIns="0" rIns="0" bIns="0" rtlCol="0" anchor="t"/>
          <a:lstStyle/>
          <a:p>
            <a:pPr marL="0" indent="0" algn="ctr">
              <a:lnSpc>
                <a:spcPts val="975"/>
              </a:lnSpc>
              <a:buNone/>
            </a:pPr>
            <a:r>
              <a:rPr lang="en-US" sz="765" b="1" kern="0" spc="38" dirty="0">
                <a:solidFill>
                  <a:srgbClr val="1B1A1A"/>
                </a:solidFill>
                <a:latin typeface="Quicksand" pitchFamily="34" charset="0"/>
              </a:rPr>
              <a:t>ACME UNITED</a:t>
            </a:r>
            <a:endParaRPr lang="en-US" sz="765" dirty="0"/>
          </a:p>
        </p:txBody>
      </p:sp>
      <p:sp>
        <p:nvSpPr>
          <p:cNvPr id="110" name="Text 109"/>
          <p:cNvSpPr txBox="1"/>
          <p:nvPr/>
        </p:nvSpPr>
        <p:spPr>
          <a:xfrm>
            <a:off x="3581400" y="6186874"/>
            <a:ext cx="2662238" cy="579209"/>
          </a:xfrm>
          <a:prstGeom prst="rect">
            <a:avLst/>
          </a:prstGeom>
          <a:noFill/>
          <a:ln/>
        </p:spPr>
        <p:txBody>
          <a:bodyPr wrap="square" lIns="0" tIns="0" rIns="0" bIns="0" rtlCol="0" anchor="t"/>
          <a:lstStyle/>
          <a:p>
            <a:pPr marL="0" indent="0" algn="l">
              <a:lnSpc>
                <a:spcPts val="1140"/>
              </a:lnSpc>
              <a:buNone/>
            </a:pPr>
            <a:r>
              <a:rPr lang="en-US" sz="795" kern="0" spc="15" dirty="0">
                <a:solidFill>
                  <a:srgbClr val="333231"/>
                </a:solidFill>
                <a:latin typeface="Quicksand" pitchFamily="34" charset="0"/>
              </a:rPr>
              <a:t>Acme United bought My Medic, a maker of first-aid kits sold almost entirely direct to consumers, with about $19 million of revenue (</a:t>
            </a:r>
            <a:r>
              <a:rPr lang="en-US" sz="795" u="sng" kern="0" spc="15" dirty="0">
                <a:solidFill>
                  <a:srgbClr val="8C6239"/>
                </a:solidFill>
                <a:latin typeface="Quicksand" pitchFamily="34" charset="0"/>
                <a:hlinkClick r:id="rId10">
                  <a:extLst>
                    <a:ext uri="{A12FA001-AC4F-418D-AE19-62706E023703}">
                      <ahyp:hlinkClr xmlns:ahyp="http://schemas.microsoft.com/office/drawing/2018/hyperlinkcolor" val="tx"/>
                    </a:ext>
                  </a:extLst>
                </a:hlinkClick>
              </a:rPr>
              <a:t>Acme United and My Medic</a:t>
            </a:r>
            <a:r>
              <a:rPr lang="en-US" sz="795" kern="0" spc="15" dirty="0">
                <a:solidFill>
                  <a:srgbClr val="333231"/>
                </a:solidFill>
                <a:latin typeface="Quicksand" pitchFamily="34" charset="0"/>
              </a:rPr>
              <a:t>).</a:t>
            </a:r>
            <a:endParaRPr lang="en-US" sz="795" dirty="0"/>
          </a:p>
        </p:txBody>
      </p:sp>
      <p:sp>
        <p:nvSpPr>
          <p:cNvPr id="111" name="Text 110"/>
          <p:cNvSpPr txBox="1"/>
          <p:nvPr/>
        </p:nvSpPr>
        <p:spPr>
          <a:xfrm>
            <a:off x="6362700" y="6386959"/>
            <a:ext cx="1066800" cy="190500"/>
          </a:xfrm>
          <a:prstGeom prst="rect">
            <a:avLst/>
          </a:prstGeom>
          <a:noFill/>
          <a:ln/>
        </p:spPr>
        <p:txBody>
          <a:bodyPr wrap="none" lIns="0" tIns="0" rIns="0" bIns="0" rtlCol="0" anchor="t"/>
          <a:lstStyle/>
          <a:p>
            <a:pPr marL="0" indent="0" algn="l">
              <a:lnSpc>
                <a:spcPts val="1500"/>
              </a:lnSpc>
              <a:buNone/>
            </a:pPr>
            <a:r>
              <a:rPr lang="en-US" sz="1200" kern="0" spc="15" dirty="0">
                <a:solidFill>
                  <a:srgbClr val="8C6239"/>
                </a:solidFill>
                <a:latin typeface="Newsreader SemiBold" pitchFamily="34" charset="0"/>
              </a:rPr>
              <a:t>$18.7M</a:t>
            </a:r>
            <a:endParaRPr lang="en-US" sz="1200" dirty="0"/>
          </a:p>
        </p:txBody>
      </p:sp>
      <p:sp>
        <p:nvSpPr>
          <p:cNvPr id="112" name="Text 111"/>
          <p:cNvSpPr txBox="1"/>
          <p:nvPr/>
        </p:nvSpPr>
        <p:spPr>
          <a:xfrm>
            <a:off x="7562850" y="6277421"/>
            <a:ext cx="876300" cy="190500"/>
          </a:xfrm>
          <a:prstGeom prst="rect">
            <a:avLst/>
          </a:prstGeom>
          <a:noFill/>
          <a:ln/>
        </p:spPr>
        <p:txBody>
          <a:bodyPr wrap="none" lIns="0" tIns="0" rIns="0" bIns="0" rtlCol="0" anchor="t"/>
          <a:lstStyle/>
          <a:p>
            <a:pPr marL="0" indent="0" algn="l">
              <a:lnSpc>
                <a:spcPts val="1500"/>
              </a:lnSpc>
              <a:buNone/>
            </a:pPr>
            <a:r>
              <a:rPr lang="en-US" sz="1200" kern="0" spc="15" dirty="0">
                <a:solidFill>
                  <a:srgbClr val="8C6239"/>
                </a:solidFill>
                <a:latin typeface="Newsreader SemiBold" pitchFamily="34" charset="0"/>
              </a:rPr>
              <a:t>About 1.0x</a:t>
            </a:r>
            <a:endParaRPr lang="en-US" sz="1200" dirty="0"/>
          </a:p>
        </p:txBody>
      </p:sp>
      <p:sp>
        <p:nvSpPr>
          <p:cNvPr id="113" name="Text 112"/>
          <p:cNvSpPr txBox="1"/>
          <p:nvPr/>
        </p:nvSpPr>
        <p:spPr>
          <a:xfrm>
            <a:off x="7562850" y="6465540"/>
            <a:ext cx="890588" cy="219075"/>
          </a:xfrm>
          <a:prstGeom prst="rect">
            <a:avLst/>
          </a:prstGeom>
          <a:noFill/>
          <a:ln/>
        </p:spPr>
        <p:txBody>
          <a:bodyPr wrap="square" lIns="0" tIns="0" rIns="0" bIns="0" rtlCol="0" anchor="t"/>
          <a:lstStyle/>
          <a:p>
            <a:pPr marL="0" indent="0" algn="l">
              <a:lnSpc>
                <a:spcPts val="863"/>
              </a:lnSpc>
              <a:buNone/>
            </a:pPr>
            <a:r>
              <a:rPr lang="en-US" sz="645" kern="0" spc="15" dirty="0">
                <a:solidFill>
                  <a:srgbClr val="6F6A66"/>
                </a:solidFill>
                <a:latin typeface="Quicksand" pitchFamily="34" charset="0"/>
              </a:rPr>
              <a:t>calculated from the stated figures</a:t>
            </a:r>
            <a:endParaRPr lang="en-US" sz="645" dirty="0"/>
          </a:p>
        </p:txBody>
      </p:sp>
      <p:sp>
        <p:nvSpPr>
          <p:cNvPr id="114" name="Text 113"/>
          <p:cNvSpPr txBox="1"/>
          <p:nvPr/>
        </p:nvSpPr>
        <p:spPr>
          <a:xfrm>
            <a:off x="8572500" y="6410771"/>
            <a:ext cx="1066800" cy="133350"/>
          </a:xfrm>
          <a:prstGeom prst="rect">
            <a:avLst/>
          </a:prstGeom>
          <a:noFill/>
          <a:ln/>
        </p:spPr>
        <p:txBody>
          <a:bodyPr wrap="none" lIns="0" tIns="0" rIns="0" bIns="0" rtlCol="0" anchor="t"/>
          <a:lstStyle/>
          <a:p>
            <a:pPr marL="0" indent="0" algn="l">
              <a:lnSpc>
                <a:spcPts val="1050"/>
              </a:lnSpc>
              <a:buNone/>
            </a:pPr>
            <a:r>
              <a:rPr lang="en-US" sz="780" kern="0" spc="15" dirty="0">
                <a:solidFill>
                  <a:srgbClr val="6F6A66"/>
                </a:solidFill>
                <a:latin typeface="Quicksand" pitchFamily="34" charset="0"/>
              </a:rPr>
              <a:t>Not disclosed</a:t>
            </a:r>
            <a:endParaRPr lang="en-US" sz="780" dirty="0"/>
          </a:p>
        </p:txBody>
      </p:sp>
      <p:sp>
        <p:nvSpPr>
          <p:cNvPr id="115" name="Shape 114"/>
          <p:cNvSpPr/>
          <p:nvPr/>
        </p:nvSpPr>
        <p:spPr>
          <a:xfrm>
            <a:off x="419100" y="7029450"/>
            <a:ext cx="9220200" cy="9525"/>
          </a:xfrm>
          <a:prstGeom prst="rect">
            <a:avLst/>
          </a:prstGeom>
          <a:solidFill>
            <a:srgbClr val="E3DCD3"/>
          </a:solidFill>
          <a:ln/>
        </p:spPr>
        <p:txBody>
          <a:bodyPr/>
          <a:lstStyle/>
          <a:p>
            <a:endParaRPr lang="en-US"/>
          </a:p>
        </p:txBody>
      </p:sp>
      <p:pic>
        <p:nvPicPr>
          <p:cNvPr id="116" name="Benchmark International" descr="Benchmark International"/>
          <p:cNvPicPr>
            <a:picLocks noChangeAspect="1"/>
          </p:cNvPicPr>
          <p:nvPr/>
        </p:nvPicPr>
        <p:blipFill>
          <a:blip r:embed="rId11"/>
          <a:stretch>
            <a:fillRect/>
          </a:stretch>
        </p:blipFill>
        <p:spPr>
          <a:xfrm>
            <a:off x="419100" y="7143750"/>
            <a:ext cx="914400" cy="171450"/>
          </a:xfrm>
          <a:prstGeom prst="rect">
            <a:avLst/>
          </a:prstGeom>
        </p:spPr>
      </p:pic>
      <p:sp>
        <p:nvSpPr>
          <p:cNvPr id="117" name="Text 116"/>
          <p:cNvSpPr txBox="1"/>
          <p:nvPr/>
        </p:nvSpPr>
        <p:spPr>
          <a:xfrm>
            <a:off x="1543050" y="7098506"/>
            <a:ext cx="7658100" cy="238125"/>
          </a:xfrm>
          <a:prstGeom prst="rect">
            <a:avLst/>
          </a:prstGeom>
          <a:noFill/>
          <a:ln/>
        </p:spPr>
        <p:txBody>
          <a:bodyPr wrap="square" lIns="0" tIns="0" rIns="0" bIns="0" rtlCol="0" anchor="t"/>
          <a:lstStyle/>
          <a:p>
            <a:pPr marL="0" indent="0" algn="l">
              <a:lnSpc>
                <a:spcPts val="938"/>
              </a:lnSpc>
              <a:buNone/>
            </a:pPr>
            <a:r>
              <a:rPr lang="en-US" sz="675" kern="0" spc="15" dirty="0">
                <a:solidFill>
                  <a:srgbClr val="6F6A66"/>
                </a:solidFill>
                <a:latin typeface="Quicksand" pitchFamily="34" charset="0"/>
              </a:rPr>
              <a:t>Values and multiples are as stated by the acquirer or reported in the linked source. Value to revenue is our calculation where marked. Company names are the property of their owners and are used for identification. Transactions advised by Benchmark International appear on page 10.</a:t>
            </a:r>
            <a:endParaRPr lang="en-US" sz="675" dirty="0"/>
          </a:p>
        </p:txBody>
      </p:sp>
      <p:sp>
        <p:nvSpPr>
          <p:cNvPr id="118" name="Text 117"/>
          <p:cNvSpPr txBox="1"/>
          <p:nvPr/>
        </p:nvSpPr>
        <p:spPr>
          <a:xfrm>
            <a:off x="9495979" y="7162800"/>
            <a:ext cx="200471" cy="133350"/>
          </a:xfrm>
          <a:prstGeom prst="rect">
            <a:avLst/>
          </a:prstGeom>
          <a:noFill/>
          <a:ln/>
        </p:spPr>
        <p:txBody>
          <a:bodyPr wrap="none" lIns="0" tIns="0" rIns="0" bIns="0" rtlCol="0" anchor="t"/>
          <a:lstStyle/>
          <a:p>
            <a:pPr marL="0" indent="0" algn="l">
              <a:lnSpc>
                <a:spcPts val="1050"/>
              </a:lnSpc>
              <a:buNone/>
            </a:pPr>
            <a:r>
              <a:rPr lang="en-US" sz="713" b="1" kern="0" spc="150" dirty="0">
                <a:solidFill>
                  <a:srgbClr val="1B1A1A"/>
                </a:solidFill>
                <a:latin typeface="Quicksand" pitchFamily="34" charset="0"/>
              </a:rPr>
              <a:t>08</a:t>
            </a:r>
            <a:endParaRPr lang="en-US" sz="713" dirty="0"/>
          </a:p>
        </p:txBody>
      </p:sp>
      <p:sp>
        <p:nvSpPr>
          <p:cNvPr id="120" name="Text 111">
            <a:extLst>
              <a:ext uri="{FF2B5EF4-FFF2-40B4-BE49-F238E27FC236}">
                <a16:creationId xmlns:a16="http://schemas.microsoft.com/office/drawing/2014/main" id="{EB2A2808-3D67-ACD5-1803-8F95F69AF12C}"/>
              </a:ext>
            </a:extLst>
          </p:cNvPr>
          <p:cNvSpPr txBox="1"/>
          <p:nvPr/>
        </p:nvSpPr>
        <p:spPr>
          <a:xfrm>
            <a:off x="7548562" y="1920925"/>
            <a:ext cx="876300" cy="190500"/>
          </a:xfrm>
          <a:prstGeom prst="rect">
            <a:avLst/>
          </a:prstGeom>
          <a:noFill/>
          <a:ln/>
        </p:spPr>
        <p:txBody>
          <a:bodyPr wrap="none" lIns="0" tIns="0" rIns="0" bIns="0" rtlCol="0" anchor="t"/>
          <a:lstStyle/>
          <a:p>
            <a:pPr marL="0" indent="0" algn="l">
              <a:lnSpc>
                <a:spcPts val="1500"/>
              </a:lnSpc>
              <a:buNone/>
            </a:pPr>
            <a:r>
              <a:rPr lang="en-US" sz="1200" kern="0" spc="15" dirty="0">
                <a:solidFill>
                  <a:srgbClr val="8C6239"/>
                </a:solidFill>
                <a:latin typeface="Newsreader SemiBold" pitchFamily="34" charset="0"/>
              </a:rPr>
              <a:t>About 0.9x</a:t>
            </a:r>
            <a:endParaRPr lang="en-US" sz="1200" dirty="0"/>
          </a:p>
        </p:txBody>
      </p:sp>
      <p:sp>
        <p:nvSpPr>
          <p:cNvPr id="122" name="Text 112">
            <a:extLst>
              <a:ext uri="{FF2B5EF4-FFF2-40B4-BE49-F238E27FC236}">
                <a16:creationId xmlns:a16="http://schemas.microsoft.com/office/drawing/2014/main" id="{B38E39E5-1561-B5B8-CF11-7923C19355F7}"/>
              </a:ext>
            </a:extLst>
          </p:cNvPr>
          <p:cNvSpPr txBox="1"/>
          <p:nvPr/>
        </p:nvSpPr>
        <p:spPr>
          <a:xfrm>
            <a:off x="7548562" y="2136874"/>
            <a:ext cx="890588" cy="219075"/>
          </a:xfrm>
          <a:prstGeom prst="rect">
            <a:avLst/>
          </a:prstGeom>
          <a:noFill/>
          <a:ln/>
        </p:spPr>
        <p:txBody>
          <a:bodyPr wrap="square" lIns="0" tIns="0" rIns="0" bIns="0" rtlCol="0" anchor="t"/>
          <a:lstStyle/>
          <a:p>
            <a:pPr marL="0" indent="0" algn="l">
              <a:lnSpc>
                <a:spcPts val="863"/>
              </a:lnSpc>
              <a:buNone/>
            </a:pPr>
            <a:r>
              <a:rPr lang="en-US" sz="645" kern="0" spc="15" dirty="0">
                <a:solidFill>
                  <a:srgbClr val="6F6A66"/>
                </a:solidFill>
                <a:latin typeface="Quicksand" pitchFamily="34" charset="0"/>
              </a:rPr>
              <a:t>calculated from the stated figures</a:t>
            </a:r>
            <a:endParaRPr lang="en-US" sz="645" dirty="0"/>
          </a:p>
        </p:txBody>
      </p:sp>
      <p:sp>
        <p:nvSpPr>
          <p:cNvPr id="126" name="Text 95">
            <a:extLst>
              <a:ext uri="{FF2B5EF4-FFF2-40B4-BE49-F238E27FC236}">
                <a16:creationId xmlns:a16="http://schemas.microsoft.com/office/drawing/2014/main" id="{38C6BD14-A45C-7D35-3956-2C71542E2A3B}"/>
              </a:ext>
            </a:extLst>
          </p:cNvPr>
          <p:cNvSpPr txBox="1"/>
          <p:nvPr/>
        </p:nvSpPr>
        <p:spPr>
          <a:xfrm>
            <a:off x="8586788" y="1868133"/>
            <a:ext cx="1066800" cy="190500"/>
          </a:xfrm>
          <a:prstGeom prst="rect">
            <a:avLst/>
          </a:prstGeom>
          <a:noFill/>
          <a:ln/>
        </p:spPr>
        <p:txBody>
          <a:bodyPr wrap="none" lIns="0" tIns="0" rIns="0" bIns="0" rtlCol="0" anchor="t"/>
          <a:lstStyle/>
          <a:p>
            <a:pPr marL="0" indent="0" algn="l">
              <a:lnSpc>
                <a:spcPts val="1500"/>
              </a:lnSpc>
              <a:buNone/>
            </a:pPr>
            <a:r>
              <a:rPr lang="en-US" sz="1200" kern="0" spc="15" dirty="0">
                <a:solidFill>
                  <a:srgbClr val="8C6239"/>
                </a:solidFill>
                <a:latin typeface="Newsreader SemiBold" pitchFamily="34" charset="0"/>
              </a:rPr>
              <a:t>10.7x</a:t>
            </a:r>
            <a:endParaRPr lang="en-US" sz="1200" dirty="0"/>
          </a:p>
        </p:txBody>
      </p:sp>
      <p:sp>
        <p:nvSpPr>
          <p:cNvPr id="130" name="Text 47">
            <a:extLst>
              <a:ext uri="{FF2B5EF4-FFF2-40B4-BE49-F238E27FC236}">
                <a16:creationId xmlns:a16="http://schemas.microsoft.com/office/drawing/2014/main" id="{F5F49B92-BC53-FA58-7F1E-8A5156809B71}"/>
              </a:ext>
            </a:extLst>
          </p:cNvPr>
          <p:cNvSpPr txBox="1"/>
          <p:nvPr/>
        </p:nvSpPr>
        <p:spPr>
          <a:xfrm>
            <a:off x="8586788" y="2055370"/>
            <a:ext cx="1081088" cy="328613"/>
          </a:xfrm>
          <a:prstGeom prst="rect">
            <a:avLst/>
          </a:prstGeom>
          <a:noFill/>
          <a:ln/>
        </p:spPr>
        <p:txBody>
          <a:bodyPr wrap="square" lIns="0" tIns="0" rIns="0" bIns="0" rtlCol="0" anchor="t"/>
          <a:lstStyle/>
          <a:p>
            <a:pPr marL="0" indent="0" algn="l">
              <a:lnSpc>
                <a:spcPts val="863"/>
              </a:lnSpc>
              <a:buNone/>
            </a:pPr>
            <a:r>
              <a:rPr lang="en-US" sz="645" kern="0" spc="15" dirty="0">
                <a:solidFill>
                  <a:srgbClr val="6F6A66"/>
                </a:solidFill>
                <a:latin typeface="Quicksand" pitchFamily="34" charset="0"/>
              </a:rPr>
              <a:t>projected CY2026  adjusted EBITDA, as stated by Hormel</a:t>
            </a:r>
            <a:endParaRPr lang="en-US" sz="645" dirty="0"/>
          </a:p>
        </p:txBody>
      </p:sp>
      <p:sp>
        <p:nvSpPr>
          <p:cNvPr id="132" name="Text 46">
            <a:extLst>
              <a:ext uri="{FF2B5EF4-FFF2-40B4-BE49-F238E27FC236}">
                <a16:creationId xmlns:a16="http://schemas.microsoft.com/office/drawing/2014/main" id="{02AAF960-55E7-8AA9-F823-101E9BB4AF0D}"/>
              </a:ext>
            </a:extLst>
          </p:cNvPr>
          <p:cNvSpPr txBox="1"/>
          <p:nvPr/>
        </p:nvSpPr>
        <p:spPr>
          <a:xfrm>
            <a:off x="8601076" y="4509418"/>
            <a:ext cx="1066800" cy="190500"/>
          </a:xfrm>
          <a:prstGeom prst="rect">
            <a:avLst/>
          </a:prstGeom>
          <a:noFill/>
          <a:ln/>
        </p:spPr>
        <p:txBody>
          <a:bodyPr wrap="none" lIns="0" tIns="0" rIns="0" bIns="0" rtlCol="0" anchor="t"/>
          <a:lstStyle/>
          <a:p>
            <a:pPr marL="0" indent="0" algn="l">
              <a:lnSpc>
                <a:spcPts val="1500"/>
              </a:lnSpc>
              <a:buNone/>
            </a:pPr>
            <a:r>
              <a:rPr lang="en-US" sz="1200" kern="0" spc="15" dirty="0">
                <a:solidFill>
                  <a:srgbClr val="8C6239"/>
                </a:solidFill>
                <a:latin typeface="Newsreader SemiBold" pitchFamily="34" charset="0"/>
              </a:rPr>
              <a:t>11.9x</a:t>
            </a:r>
            <a:endParaRPr lang="en-US" sz="1200" dirty="0"/>
          </a:p>
        </p:txBody>
      </p:sp>
      <p:sp>
        <p:nvSpPr>
          <p:cNvPr id="134" name="Text 96">
            <a:extLst>
              <a:ext uri="{FF2B5EF4-FFF2-40B4-BE49-F238E27FC236}">
                <a16:creationId xmlns:a16="http://schemas.microsoft.com/office/drawing/2014/main" id="{F3B08B04-CF25-C1EE-E9E8-1EE9B37184DE}"/>
              </a:ext>
            </a:extLst>
          </p:cNvPr>
          <p:cNvSpPr txBox="1"/>
          <p:nvPr/>
        </p:nvSpPr>
        <p:spPr>
          <a:xfrm>
            <a:off x="8601076" y="4744417"/>
            <a:ext cx="1081088" cy="383009"/>
          </a:xfrm>
          <a:prstGeom prst="rect">
            <a:avLst/>
          </a:prstGeom>
          <a:noFill/>
          <a:ln/>
        </p:spPr>
        <p:txBody>
          <a:bodyPr wrap="square" lIns="0" tIns="0" rIns="0" bIns="0" rtlCol="0" anchor="t"/>
          <a:lstStyle/>
          <a:p>
            <a:pPr marL="0" indent="0" algn="l">
              <a:lnSpc>
                <a:spcPts val="863"/>
              </a:lnSpc>
              <a:buNone/>
            </a:pPr>
            <a:r>
              <a:rPr lang="en-US" sz="645" kern="0" spc="15" dirty="0">
                <a:solidFill>
                  <a:srgbClr val="6F6A66"/>
                </a:solidFill>
                <a:latin typeface="Quicksand" pitchFamily="34" charset="0"/>
              </a:rPr>
              <a:t>Adjusted EBITDA net of anticipated tax benefits, as stated by Clorox</a:t>
            </a:r>
            <a:endParaRPr lang="en-US" sz="64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1"/>
          <p:cNvSpPr/>
          <p:nvPr/>
        </p:nvSpPr>
        <p:spPr>
          <a:xfrm>
            <a:off x="0" y="0"/>
            <a:ext cx="10058400" cy="7772400"/>
          </a:xfrm>
          <a:prstGeom prst="rect">
            <a:avLst/>
          </a:prstGeom>
          <a:solidFill>
            <a:srgbClr val="FFFFFF"/>
          </a:solidFill>
          <a:ln/>
        </p:spPr>
        <p:txBody>
          <a:bodyPr/>
          <a:lstStyle/>
          <a:p>
            <a:endParaRPr lang="en-US"/>
          </a:p>
        </p:txBody>
      </p:sp>
      <p:sp>
        <p:nvSpPr>
          <p:cNvPr id="3" name="Shape 2"/>
          <p:cNvSpPr/>
          <p:nvPr/>
        </p:nvSpPr>
        <p:spPr>
          <a:xfrm>
            <a:off x="0" y="0"/>
            <a:ext cx="57150" cy="7772400"/>
          </a:xfrm>
          <a:prstGeom prst="rect">
            <a:avLst/>
          </a:prstGeom>
          <a:solidFill>
            <a:srgbClr val="B68757"/>
          </a:solidFill>
          <a:ln/>
        </p:spPr>
        <p:txBody>
          <a:bodyPr/>
          <a:lstStyle/>
          <a:p>
            <a:endParaRPr lang="en-US"/>
          </a:p>
        </p:txBody>
      </p:sp>
      <p:sp>
        <p:nvSpPr>
          <p:cNvPr id="4" name="Text 3"/>
          <p:cNvSpPr txBox="1"/>
          <p:nvPr/>
        </p:nvSpPr>
        <p:spPr>
          <a:xfrm>
            <a:off x="419100" y="376238"/>
            <a:ext cx="2618929" cy="133350"/>
          </a:xfrm>
          <a:prstGeom prst="rect">
            <a:avLst/>
          </a:prstGeom>
          <a:noFill/>
          <a:ln/>
        </p:spPr>
        <p:txBody>
          <a:bodyPr wrap="none" lIns="0" tIns="0" rIns="0" bIns="0" rtlCol="0" anchor="t"/>
          <a:lstStyle/>
          <a:p>
            <a:pPr marL="0" indent="0" algn="l">
              <a:lnSpc>
                <a:spcPts val="1050"/>
              </a:lnSpc>
              <a:buNone/>
            </a:pPr>
            <a:r>
              <a:rPr lang="en-US" sz="675" b="1" kern="0" spc="195" dirty="0">
                <a:solidFill>
                  <a:srgbClr val="8C6239"/>
                </a:solidFill>
                <a:latin typeface="Quicksand" pitchFamily="34" charset="0"/>
              </a:rPr>
              <a:t>CONSUMER  |  QUARTERLY SECTOR BRIEF</a:t>
            </a:r>
            <a:endParaRPr lang="en-US" sz="675" dirty="0"/>
          </a:p>
        </p:txBody>
      </p:sp>
      <p:sp>
        <p:nvSpPr>
          <p:cNvPr id="5" name="Text 4"/>
          <p:cNvSpPr txBox="1"/>
          <p:nvPr/>
        </p:nvSpPr>
        <p:spPr>
          <a:xfrm>
            <a:off x="9112597" y="381000"/>
            <a:ext cx="583853" cy="171450"/>
          </a:xfrm>
          <a:prstGeom prst="rect">
            <a:avLst/>
          </a:prstGeom>
          <a:noFill/>
          <a:ln/>
        </p:spPr>
        <p:txBody>
          <a:bodyPr wrap="none" lIns="0" tIns="0" rIns="0" bIns="0" rtlCol="0" anchor="t"/>
          <a:lstStyle/>
          <a:p>
            <a:pPr marL="0" indent="0" algn="l">
              <a:lnSpc>
                <a:spcPts val="1350"/>
              </a:lnSpc>
              <a:buNone/>
            </a:pPr>
            <a:r>
              <a:rPr lang="en-US" sz="900" kern="0" spc="90" dirty="0">
                <a:solidFill>
                  <a:srgbClr val="6F6A66"/>
                </a:solidFill>
                <a:latin typeface="Cinzel" pitchFamily="34" charset="0"/>
              </a:rPr>
              <a:t>Q4 2026</a:t>
            </a:r>
            <a:endParaRPr lang="en-US" sz="900" dirty="0"/>
          </a:p>
        </p:txBody>
      </p:sp>
      <p:sp>
        <p:nvSpPr>
          <p:cNvPr id="6" name="Text 5"/>
          <p:cNvSpPr txBox="1"/>
          <p:nvPr/>
        </p:nvSpPr>
        <p:spPr>
          <a:xfrm>
            <a:off x="419100" y="519113"/>
            <a:ext cx="9220200" cy="323850"/>
          </a:xfrm>
          <a:prstGeom prst="rect">
            <a:avLst/>
          </a:prstGeom>
          <a:noFill/>
          <a:ln/>
        </p:spPr>
        <p:txBody>
          <a:bodyPr wrap="none" lIns="0" tIns="0" rIns="0" bIns="0" rtlCol="0" anchor="t"/>
          <a:lstStyle/>
          <a:p>
            <a:pPr marL="0" indent="0" algn="l">
              <a:lnSpc>
                <a:spcPts val="2550"/>
              </a:lnSpc>
              <a:buNone/>
            </a:pPr>
            <a:r>
              <a:rPr lang="en-US" sz="2025" kern="0" spc="15" dirty="0">
                <a:solidFill>
                  <a:srgbClr val="1B1A1A"/>
                </a:solidFill>
                <a:latin typeface="Newsreader SemiBold" pitchFamily="34" charset="0"/>
              </a:rPr>
              <a:t>Select Recent Consumer Transactions (Continued)</a:t>
            </a:r>
            <a:endParaRPr lang="en-US" sz="2025" dirty="0"/>
          </a:p>
        </p:txBody>
      </p:sp>
      <p:sp>
        <p:nvSpPr>
          <p:cNvPr id="7" name="Text 6"/>
          <p:cNvSpPr txBox="1"/>
          <p:nvPr/>
        </p:nvSpPr>
        <p:spPr>
          <a:xfrm>
            <a:off x="419100" y="883444"/>
            <a:ext cx="9220200" cy="176213"/>
          </a:xfrm>
          <a:prstGeom prst="rect">
            <a:avLst/>
          </a:prstGeom>
          <a:noFill/>
          <a:ln/>
        </p:spPr>
        <p:txBody>
          <a:bodyPr wrap="none" lIns="0" tIns="0" rIns="0" bIns="0" rtlCol="0" anchor="t"/>
          <a:lstStyle/>
          <a:p>
            <a:pPr marL="0" indent="0" algn="l">
              <a:lnSpc>
                <a:spcPts val="1388"/>
              </a:lnSpc>
              <a:buNone/>
            </a:pPr>
            <a:r>
              <a:rPr lang="en-US" sz="938" kern="0" spc="15" dirty="0">
                <a:solidFill>
                  <a:srgbClr val="6F6A66"/>
                </a:solidFill>
                <a:latin typeface="Quicksand" pitchFamily="34" charset="0"/>
              </a:rPr>
              <a:t>Buyers in foodservice and consumer services paid for store networks, subscription members and recurring customer contracts.</a:t>
            </a:r>
            <a:endParaRPr lang="en-US" sz="938" dirty="0"/>
          </a:p>
        </p:txBody>
      </p:sp>
      <p:sp>
        <p:nvSpPr>
          <p:cNvPr id="8" name="Shape 7"/>
          <p:cNvSpPr/>
          <p:nvPr/>
        </p:nvSpPr>
        <p:spPr>
          <a:xfrm>
            <a:off x="419100" y="1143000"/>
            <a:ext cx="9220200" cy="9525"/>
          </a:xfrm>
          <a:prstGeom prst="rect">
            <a:avLst/>
          </a:prstGeom>
          <a:solidFill>
            <a:srgbClr val="E3DCD3"/>
          </a:solidFill>
          <a:ln/>
        </p:spPr>
        <p:txBody>
          <a:bodyPr/>
          <a:lstStyle/>
          <a:p>
            <a:endParaRPr lang="en-US"/>
          </a:p>
        </p:txBody>
      </p:sp>
      <p:sp>
        <p:nvSpPr>
          <p:cNvPr id="9" name="Shape 8"/>
          <p:cNvSpPr/>
          <p:nvPr/>
        </p:nvSpPr>
        <p:spPr>
          <a:xfrm>
            <a:off x="419100" y="1552575"/>
            <a:ext cx="9220200" cy="19050"/>
          </a:xfrm>
          <a:prstGeom prst="rect">
            <a:avLst/>
          </a:prstGeom>
          <a:solidFill>
            <a:srgbClr val="B68757"/>
          </a:solidFill>
          <a:ln/>
        </p:spPr>
        <p:txBody>
          <a:bodyPr/>
          <a:lstStyle/>
          <a:p>
            <a:endParaRPr lang="en-US"/>
          </a:p>
        </p:txBody>
      </p:sp>
      <p:sp>
        <p:nvSpPr>
          <p:cNvPr id="10" name="Text 9"/>
          <p:cNvSpPr txBox="1"/>
          <p:nvPr/>
        </p:nvSpPr>
        <p:spPr>
          <a:xfrm>
            <a:off x="419100" y="1238250"/>
            <a:ext cx="990600" cy="123825"/>
          </a:xfrm>
          <a:prstGeom prst="rect">
            <a:avLst/>
          </a:prstGeom>
          <a:noFill/>
          <a:ln/>
        </p:spPr>
        <p:txBody>
          <a:bodyPr wrap="none" lIns="0" tIns="0" rIns="0" bIns="0" rtlCol="0" anchor="t"/>
          <a:lstStyle/>
          <a:p>
            <a:pPr marL="0" indent="0" algn="l">
              <a:lnSpc>
                <a:spcPts val="975"/>
              </a:lnSpc>
              <a:buNone/>
            </a:pPr>
            <a:r>
              <a:rPr lang="en-US" sz="638" b="1" kern="0" spc="150" dirty="0">
                <a:solidFill>
                  <a:srgbClr val="1B1A1A"/>
                </a:solidFill>
                <a:latin typeface="Quicksand" pitchFamily="34" charset="0"/>
              </a:rPr>
              <a:t>ANNOUNCED</a:t>
            </a:r>
            <a:endParaRPr lang="en-US" sz="638" dirty="0"/>
          </a:p>
        </p:txBody>
      </p:sp>
      <p:sp>
        <p:nvSpPr>
          <p:cNvPr id="11" name="Text 10"/>
          <p:cNvSpPr txBox="1"/>
          <p:nvPr/>
        </p:nvSpPr>
        <p:spPr>
          <a:xfrm>
            <a:off x="1543050" y="1238250"/>
            <a:ext cx="1905000" cy="123825"/>
          </a:xfrm>
          <a:prstGeom prst="rect">
            <a:avLst/>
          </a:prstGeom>
          <a:noFill/>
          <a:ln/>
        </p:spPr>
        <p:txBody>
          <a:bodyPr wrap="none" lIns="0" tIns="0" rIns="0" bIns="0" rtlCol="0" anchor="t"/>
          <a:lstStyle/>
          <a:p>
            <a:pPr marL="0" indent="0" algn="l">
              <a:lnSpc>
                <a:spcPts val="975"/>
              </a:lnSpc>
              <a:buNone/>
            </a:pPr>
            <a:r>
              <a:rPr lang="en-US" sz="638" b="1" kern="0" spc="150" dirty="0">
                <a:solidFill>
                  <a:srgbClr val="1B1A1A"/>
                </a:solidFill>
                <a:latin typeface="Quicksand" pitchFamily="34" charset="0"/>
              </a:rPr>
              <a:t>TARGET AND ACQUIRER</a:t>
            </a:r>
            <a:endParaRPr lang="en-US" sz="638" dirty="0"/>
          </a:p>
        </p:txBody>
      </p:sp>
      <p:sp>
        <p:nvSpPr>
          <p:cNvPr id="12" name="Text 11"/>
          <p:cNvSpPr txBox="1"/>
          <p:nvPr/>
        </p:nvSpPr>
        <p:spPr>
          <a:xfrm>
            <a:off x="3581400" y="1238250"/>
            <a:ext cx="2647950" cy="123825"/>
          </a:xfrm>
          <a:prstGeom prst="rect">
            <a:avLst/>
          </a:prstGeom>
          <a:noFill/>
          <a:ln/>
        </p:spPr>
        <p:txBody>
          <a:bodyPr wrap="none" lIns="0" tIns="0" rIns="0" bIns="0" rtlCol="0" anchor="t"/>
          <a:lstStyle/>
          <a:p>
            <a:pPr marL="0" indent="0" algn="l">
              <a:lnSpc>
                <a:spcPts val="975"/>
              </a:lnSpc>
              <a:buNone/>
            </a:pPr>
            <a:r>
              <a:rPr lang="en-US" sz="638" b="1" kern="0" spc="150" dirty="0">
                <a:solidFill>
                  <a:srgbClr val="1B1A1A"/>
                </a:solidFill>
                <a:latin typeface="Quicksand" pitchFamily="34" charset="0"/>
              </a:rPr>
              <a:t>BUSINESS AND TERMS</a:t>
            </a:r>
            <a:endParaRPr lang="en-US" sz="638" dirty="0"/>
          </a:p>
        </p:txBody>
      </p:sp>
      <p:sp>
        <p:nvSpPr>
          <p:cNvPr id="13" name="Text 12"/>
          <p:cNvSpPr txBox="1"/>
          <p:nvPr/>
        </p:nvSpPr>
        <p:spPr>
          <a:xfrm>
            <a:off x="6362700" y="1238250"/>
            <a:ext cx="1066800" cy="123825"/>
          </a:xfrm>
          <a:prstGeom prst="rect">
            <a:avLst/>
          </a:prstGeom>
          <a:noFill/>
          <a:ln/>
        </p:spPr>
        <p:txBody>
          <a:bodyPr wrap="none" lIns="0" tIns="0" rIns="0" bIns="0" rtlCol="0" anchor="t"/>
          <a:lstStyle/>
          <a:p>
            <a:pPr marL="0" indent="0" algn="l">
              <a:lnSpc>
                <a:spcPts val="975"/>
              </a:lnSpc>
              <a:buNone/>
            </a:pPr>
            <a:r>
              <a:rPr lang="en-US" sz="638" b="1" kern="0" spc="150" dirty="0">
                <a:solidFill>
                  <a:srgbClr val="1B1A1A"/>
                </a:solidFill>
                <a:latin typeface="Quicksand" pitchFamily="34" charset="0"/>
              </a:rPr>
              <a:t>STATED VALUE</a:t>
            </a:r>
            <a:endParaRPr lang="en-US" sz="638" dirty="0"/>
          </a:p>
        </p:txBody>
      </p:sp>
      <p:sp>
        <p:nvSpPr>
          <p:cNvPr id="14" name="Text 13"/>
          <p:cNvSpPr txBox="1"/>
          <p:nvPr/>
        </p:nvSpPr>
        <p:spPr>
          <a:xfrm>
            <a:off x="7562850" y="1238250"/>
            <a:ext cx="890588" cy="247650"/>
          </a:xfrm>
          <a:prstGeom prst="rect">
            <a:avLst/>
          </a:prstGeom>
          <a:noFill/>
          <a:ln/>
        </p:spPr>
        <p:txBody>
          <a:bodyPr wrap="square" lIns="0" tIns="0" rIns="0" bIns="0" rtlCol="0" anchor="t"/>
          <a:lstStyle/>
          <a:p>
            <a:pPr marL="0" indent="0" algn="l">
              <a:lnSpc>
                <a:spcPts val="975"/>
              </a:lnSpc>
              <a:buNone/>
            </a:pPr>
            <a:r>
              <a:rPr lang="en-US" sz="638" b="1" kern="0" spc="150" dirty="0">
                <a:solidFill>
                  <a:srgbClr val="1B1A1A"/>
                </a:solidFill>
                <a:latin typeface="Quicksand" pitchFamily="34" charset="0"/>
              </a:rPr>
              <a:t>VALUE TO REVENUE</a:t>
            </a:r>
            <a:endParaRPr lang="en-US" sz="638" dirty="0"/>
          </a:p>
        </p:txBody>
      </p:sp>
      <p:sp>
        <p:nvSpPr>
          <p:cNvPr id="15" name="Text 14"/>
          <p:cNvSpPr txBox="1"/>
          <p:nvPr/>
        </p:nvSpPr>
        <p:spPr>
          <a:xfrm>
            <a:off x="8572500" y="1238250"/>
            <a:ext cx="1081088" cy="247650"/>
          </a:xfrm>
          <a:prstGeom prst="rect">
            <a:avLst/>
          </a:prstGeom>
          <a:noFill/>
          <a:ln/>
        </p:spPr>
        <p:txBody>
          <a:bodyPr wrap="square" lIns="0" tIns="0" rIns="0" bIns="0" rtlCol="0" anchor="t"/>
          <a:lstStyle/>
          <a:p>
            <a:pPr marL="0" indent="0" algn="l">
              <a:lnSpc>
                <a:spcPts val="975"/>
              </a:lnSpc>
              <a:buNone/>
            </a:pPr>
            <a:r>
              <a:rPr lang="en-US" sz="638" b="1" kern="0" spc="150" dirty="0">
                <a:solidFill>
                  <a:srgbClr val="1B1A1A"/>
                </a:solidFill>
                <a:latin typeface="Quicksand" pitchFamily="34" charset="0"/>
              </a:rPr>
              <a:t>VALUE TO EARNINGS</a:t>
            </a:r>
            <a:endParaRPr lang="en-US" sz="638" dirty="0"/>
          </a:p>
        </p:txBody>
      </p:sp>
      <p:sp>
        <p:nvSpPr>
          <p:cNvPr id="16" name="Shape 15"/>
          <p:cNvSpPr/>
          <p:nvPr/>
        </p:nvSpPr>
        <p:spPr>
          <a:xfrm>
            <a:off x="419100" y="2455813"/>
            <a:ext cx="9220200" cy="9525"/>
          </a:xfrm>
          <a:prstGeom prst="rect">
            <a:avLst/>
          </a:prstGeom>
          <a:solidFill>
            <a:srgbClr val="E3DCD3"/>
          </a:solidFill>
          <a:ln/>
        </p:spPr>
        <p:txBody>
          <a:bodyPr/>
          <a:lstStyle/>
          <a:p>
            <a:endParaRPr lang="en-US"/>
          </a:p>
        </p:txBody>
      </p:sp>
      <p:sp>
        <p:nvSpPr>
          <p:cNvPr id="17" name="Shape 16"/>
          <p:cNvSpPr/>
          <p:nvPr/>
        </p:nvSpPr>
        <p:spPr>
          <a:xfrm>
            <a:off x="419100" y="1761232"/>
            <a:ext cx="676424" cy="209550"/>
          </a:xfrm>
          <a:prstGeom prst="rect">
            <a:avLst/>
          </a:prstGeom>
          <a:solidFill>
            <a:srgbClr val="1B1A1A"/>
          </a:solidFill>
          <a:ln/>
        </p:spPr>
        <p:txBody>
          <a:bodyPr/>
          <a:lstStyle/>
          <a:p>
            <a:endParaRPr lang="en-US"/>
          </a:p>
        </p:txBody>
      </p:sp>
      <p:sp>
        <p:nvSpPr>
          <p:cNvPr id="18" name="Text 17"/>
          <p:cNvSpPr txBox="1"/>
          <p:nvPr/>
        </p:nvSpPr>
        <p:spPr>
          <a:xfrm>
            <a:off x="504825" y="1804095"/>
            <a:ext cx="562124" cy="114300"/>
          </a:xfrm>
          <a:prstGeom prst="rect">
            <a:avLst/>
          </a:prstGeom>
          <a:noFill/>
          <a:ln/>
        </p:spPr>
        <p:txBody>
          <a:bodyPr wrap="none" lIns="0" tIns="0" rIns="0" bIns="0" rtlCol="0" anchor="t"/>
          <a:lstStyle/>
          <a:p>
            <a:pPr marL="0" indent="0" algn="l">
              <a:lnSpc>
                <a:spcPts val="900"/>
              </a:lnSpc>
              <a:buNone/>
            </a:pPr>
            <a:r>
              <a:rPr lang="en-US" sz="638" b="1" kern="0" spc="120" dirty="0">
                <a:solidFill>
                  <a:srgbClr val="D3AE84"/>
                </a:solidFill>
                <a:latin typeface="Quicksand" pitchFamily="34" charset="0"/>
              </a:rPr>
              <a:t>MAR 2026</a:t>
            </a:r>
            <a:endParaRPr lang="en-US" sz="638" dirty="0"/>
          </a:p>
        </p:txBody>
      </p:sp>
      <p:pic>
        <p:nvPicPr>
          <p:cNvPr id="19" name="Icon" descr="/tmp/claude-0/-home-claude-about/4bef2f41-4227-5ff7-ab18-11ac74cd9797/scratchpad/pptx/ex/media/2fc6f7a740ba.png"/>
          <p:cNvPicPr>
            <a:picLocks noChangeAspect="1"/>
          </p:cNvPicPr>
          <p:nvPr/>
        </p:nvPicPr>
        <p:blipFill>
          <a:blip r:embed="rId3"/>
          <a:stretch>
            <a:fillRect/>
          </a:stretch>
        </p:blipFill>
        <p:spPr>
          <a:xfrm>
            <a:off x="419100" y="2046982"/>
            <a:ext cx="133350" cy="133350"/>
          </a:xfrm>
          <a:prstGeom prst="rect">
            <a:avLst/>
          </a:prstGeom>
        </p:spPr>
      </p:pic>
      <p:sp>
        <p:nvSpPr>
          <p:cNvPr id="20" name="Text 19"/>
          <p:cNvSpPr txBox="1"/>
          <p:nvPr/>
        </p:nvSpPr>
        <p:spPr>
          <a:xfrm>
            <a:off x="619125" y="2039838"/>
            <a:ext cx="804863" cy="219075"/>
          </a:xfrm>
          <a:prstGeom prst="rect">
            <a:avLst/>
          </a:prstGeom>
          <a:noFill/>
          <a:ln/>
        </p:spPr>
        <p:txBody>
          <a:bodyPr wrap="square" lIns="0" tIns="0" rIns="0" bIns="0" rtlCol="0" anchor="t"/>
          <a:lstStyle/>
          <a:p>
            <a:pPr marL="0" indent="0" algn="l">
              <a:lnSpc>
                <a:spcPts val="863"/>
              </a:lnSpc>
              <a:buNone/>
            </a:pPr>
            <a:r>
              <a:rPr lang="en-US" sz="615" b="1" kern="0" spc="75" dirty="0">
                <a:solidFill>
                  <a:srgbClr val="8C6239"/>
                </a:solidFill>
                <a:latin typeface="Quicksand" pitchFamily="34" charset="0"/>
              </a:rPr>
              <a:t>FOODSERVICE &amp; DISTRIBUTION</a:t>
            </a:r>
            <a:endParaRPr lang="en-US" sz="615" dirty="0"/>
          </a:p>
        </p:txBody>
      </p:sp>
      <p:sp>
        <p:nvSpPr>
          <p:cNvPr id="21" name="Shape 20"/>
          <p:cNvSpPr/>
          <p:nvPr/>
        </p:nvSpPr>
        <p:spPr>
          <a:xfrm>
            <a:off x="1543050" y="1661220"/>
            <a:ext cx="1905000" cy="285750"/>
          </a:xfrm>
          <a:prstGeom prst="rect">
            <a:avLst/>
          </a:prstGeom>
          <a:solidFill>
            <a:srgbClr val="FAF7F3"/>
          </a:solidFill>
          <a:ln/>
        </p:spPr>
        <p:txBody>
          <a:bodyPr/>
          <a:lstStyle/>
          <a:p>
            <a:endParaRPr lang="en-US"/>
          </a:p>
        </p:txBody>
      </p:sp>
      <p:sp>
        <p:nvSpPr>
          <p:cNvPr id="22" name="Shape 21"/>
          <p:cNvSpPr/>
          <p:nvPr/>
        </p:nvSpPr>
        <p:spPr>
          <a:xfrm>
            <a:off x="1547813" y="1665982"/>
            <a:ext cx="1895475" cy="276225"/>
          </a:xfrm>
          <a:prstGeom prst="rect">
            <a:avLst/>
          </a:prstGeom>
          <a:ln w="9525">
            <a:solidFill>
              <a:srgbClr val="E3DCD3"/>
            </a:solidFill>
            <a:prstDash val="solid"/>
          </a:ln>
        </p:spPr>
        <p:txBody>
          <a:bodyPr/>
          <a:lstStyle/>
          <a:p>
            <a:endParaRPr lang="en-US"/>
          </a:p>
        </p:txBody>
      </p:sp>
      <p:sp>
        <p:nvSpPr>
          <p:cNvPr id="23" name="Text 22"/>
          <p:cNvSpPr txBox="1"/>
          <p:nvPr/>
        </p:nvSpPr>
        <p:spPr>
          <a:xfrm>
            <a:off x="1790402" y="1742182"/>
            <a:ext cx="1410295" cy="123825"/>
          </a:xfrm>
          <a:prstGeom prst="rect">
            <a:avLst/>
          </a:prstGeom>
          <a:noFill/>
          <a:ln/>
        </p:spPr>
        <p:txBody>
          <a:bodyPr wrap="none" lIns="0" tIns="0" rIns="0" bIns="0" rtlCol="0" anchor="t"/>
          <a:lstStyle/>
          <a:p>
            <a:pPr marL="0" indent="0" algn="ctr">
              <a:lnSpc>
                <a:spcPts val="975"/>
              </a:lnSpc>
              <a:buNone/>
            </a:pPr>
            <a:r>
              <a:rPr lang="en-US" sz="765" b="1" kern="0" spc="38" dirty="0">
                <a:solidFill>
                  <a:srgbClr val="1B1A1A"/>
                </a:solidFill>
                <a:latin typeface="Quicksand" pitchFamily="34" charset="0"/>
              </a:rPr>
              <a:t>JETRO RESTAURANT DEPOT</a:t>
            </a:r>
            <a:endParaRPr lang="en-US" sz="765" dirty="0"/>
          </a:p>
        </p:txBody>
      </p:sp>
      <p:sp>
        <p:nvSpPr>
          <p:cNvPr id="24" name="Text 23"/>
          <p:cNvSpPr txBox="1"/>
          <p:nvPr/>
        </p:nvSpPr>
        <p:spPr>
          <a:xfrm>
            <a:off x="1543050" y="1946970"/>
            <a:ext cx="1905000" cy="133350"/>
          </a:xfrm>
          <a:prstGeom prst="rect">
            <a:avLst/>
          </a:prstGeom>
          <a:noFill/>
          <a:ln/>
        </p:spPr>
        <p:txBody>
          <a:bodyPr wrap="none" lIns="0" tIns="0" rIns="0" bIns="0" rtlCol="0" anchor="t"/>
          <a:lstStyle/>
          <a:p>
            <a:pPr marL="0" indent="0" algn="ctr">
              <a:lnSpc>
                <a:spcPts val="1050"/>
              </a:lnSpc>
              <a:buNone/>
            </a:pPr>
            <a:r>
              <a:rPr lang="en-US" sz="600" kern="0" spc="105" dirty="0">
                <a:solidFill>
                  <a:srgbClr val="6F6A66"/>
                </a:solidFill>
                <a:latin typeface="Quicksand" pitchFamily="34" charset="0"/>
              </a:rPr>
              <a:t>ACQUIRED BY</a:t>
            </a:r>
            <a:endParaRPr lang="en-US" sz="600" dirty="0"/>
          </a:p>
        </p:txBody>
      </p:sp>
      <p:sp>
        <p:nvSpPr>
          <p:cNvPr id="25" name="Shape 24"/>
          <p:cNvSpPr/>
          <p:nvPr/>
        </p:nvSpPr>
        <p:spPr>
          <a:xfrm>
            <a:off x="1543050" y="2080320"/>
            <a:ext cx="1905000" cy="285750"/>
          </a:xfrm>
          <a:prstGeom prst="rect">
            <a:avLst/>
          </a:prstGeom>
          <a:solidFill>
            <a:srgbClr val="FFFFFF"/>
          </a:solidFill>
          <a:ln/>
        </p:spPr>
        <p:txBody>
          <a:bodyPr/>
          <a:lstStyle/>
          <a:p>
            <a:endParaRPr lang="en-US"/>
          </a:p>
        </p:txBody>
      </p:sp>
      <p:sp>
        <p:nvSpPr>
          <p:cNvPr id="26" name="Shape 25"/>
          <p:cNvSpPr/>
          <p:nvPr/>
        </p:nvSpPr>
        <p:spPr>
          <a:xfrm>
            <a:off x="1547813" y="2085082"/>
            <a:ext cx="1895475" cy="276225"/>
          </a:xfrm>
          <a:prstGeom prst="rect">
            <a:avLst/>
          </a:prstGeom>
          <a:ln w="9525">
            <a:solidFill>
              <a:srgbClr val="C3BDB6"/>
            </a:solidFill>
            <a:prstDash val="solid"/>
          </a:ln>
        </p:spPr>
        <p:txBody>
          <a:bodyPr/>
          <a:lstStyle/>
          <a:p>
            <a:endParaRPr lang="en-US"/>
          </a:p>
        </p:txBody>
      </p:sp>
      <p:sp>
        <p:nvSpPr>
          <p:cNvPr id="27" name="Text 26"/>
          <p:cNvSpPr txBox="1"/>
          <p:nvPr/>
        </p:nvSpPr>
        <p:spPr>
          <a:xfrm>
            <a:off x="2331393" y="2161282"/>
            <a:ext cx="328166" cy="123825"/>
          </a:xfrm>
          <a:prstGeom prst="rect">
            <a:avLst/>
          </a:prstGeom>
          <a:noFill/>
          <a:ln/>
        </p:spPr>
        <p:txBody>
          <a:bodyPr wrap="none" lIns="0" tIns="0" rIns="0" bIns="0" rtlCol="0" anchor="t"/>
          <a:lstStyle/>
          <a:p>
            <a:pPr marL="0" indent="0" algn="ctr">
              <a:lnSpc>
                <a:spcPts val="975"/>
              </a:lnSpc>
              <a:buNone/>
            </a:pPr>
            <a:r>
              <a:rPr lang="en-US" sz="765" b="1" kern="0" spc="38" dirty="0">
                <a:solidFill>
                  <a:srgbClr val="1B1A1A"/>
                </a:solidFill>
                <a:latin typeface="Quicksand" pitchFamily="34" charset="0"/>
              </a:rPr>
              <a:t>SYSCO</a:t>
            </a:r>
            <a:endParaRPr lang="en-US" sz="765" dirty="0"/>
          </a:p>
        </p:txBody>
      </p:sp>
      <p:sp>
        <p:nvSpPr>
          <p:cNvPr id="28" name="Text 27"/>
          <p:cNvSpPr txBox="1"/>
          <p:nvPr/>
        </p:nvSpPr>
        <p:spPr>
          <a:xfrm>
            <a:off x="3581400" y="1645980"/>
            <a:ext cx="2662238" cy="724019"/>
          </a:xfrm>
          <a:prstGeom prst="rect">
            <a:avLst/>
          </a:prstGeom>
          <a:noFill/>
          <a:ln/>
        </p:spPr>
        <p:txBody>
          <a:bodyPr wrap="square" lIns="0" tIns="0" rIns="0" bIns="0" rtlCol="0" anchor="t"/>
          <a:lstStyle/>
          <a:p>
            <a:pPr marL="0" indent="0" algn="l">
              <a:lnSpc>
                <a:spcPts val="1140"/>
              </a:lnSpc>
              <a:buNone/>
            </a:pPr>
            <a:r>
              <a:rPr lang="en-US" sz="795" kern="0" spc="15" dirty="0">
                <a:solidFill>
                  <a:srgbClr val="333231"/>
                </a:solidFill>
                <a:latin typeface="Quicksand" pitchFamily="34" charset="0"/>
              </a:rPr>
              <a:t>Sysco agreed to acquire Jetro Restaurant Depot and its 166 cash-and-carry warehouse stores, and it expects to close by the first calendar quarter of 2027 while members of Congress have </a:t>
            </a:r>
            <a:r>
              <a:rPr lang="en-US" sz="795" u="sng" kern="0" spc="15" dirty="0">
                <a:solidFill>
                  <a:srgbClr val="8C6239"/>
                </a:solidFill>
                <a:latin typeface="Quicksand" pitchFamily="34" charset="0"/>
                <a:hlinkClick r:id="rId4">
                  <a:extLst>
                    <a:ext uri="{A12FA001-AC4F-418D-AE19-62706E023703}">
                      <ahyp:hlinkClr xmlns:ahyp="http://schemas.microsoft.com/office/drawing/2018/hyperlinkcolor" val="tx"/>
                    </a:ext>
                  </a:extLst>
                </a:hlinkClick>
              </a:rPr>
              <a:t>asked the FTC to investigate</a:t>
            </a:r>
            <a:r>
              <a:rPr lang="en-US" sz="795" kern="0" spc="15" dirty="0">
                <a:solidFill>
                  <a:srgbClr val="333231"/>
                </a:solidFill>
                <a:latin typeface="Quicksand" pitchFamily="34" charset="0"/>
              </a:rPr>
              <a:t> (</a:t>
            </a:r>
            <a:r>
              <a:rPr lang="en-US" sz="795" u="sng" kern="0" spc="15" dirty="0">
                <a:solidFill>
                  <a:srgbClr val="8C6239"/>
                </a:solidFill>
                <a:latin typeface="Quicksand" pitchFamily="34" charset="0"/>
                <a:hlinkClick r:id="rId5">
                  <a:extLst>
                    <a:ext uri="{A12FA001-AC4F-418D-AE19-62706E023703}">
                      <ahyp:hlinkClr xmlns:ahyp="http://schemas.microsoft.com/office/drawing/2018/hyperlinkcolor" val="tx"/>
                    </a:ext>
                  </a:extLst>
                </a:hlinkClick>
              </a:rPr>
              <a:t>Sysco and Jetro Restaurant Depot</a:t>
            </a:r>
            <a:r>
              <a:rPr lang="en-US" sz="795" kern="0" spc="15" dirty="0">
                <a:solidFill>
                  <a:srgbClr val="333231"/>
                </a:solidFill>
                <a:latin typeface="Quicksand" pitchFamily="34" charset="0"/>
              </a:rPr>
              <a:t>).</a:t>
            </a:r>
            <a:endParaRPr lang="en-US" sz="795" dirty="0"/>
          </a:p>
        </p:txBody>
      </p:sp>
      <p:sp>
        <p:nvSpPr>
          <p:cNvPr id="29" name="Text 28"/>
          <p:cNvSpPr txBox="1"/>
          <p:nvPr/>
        </p:nvSpPr>
        <p:spPr>
          <a:xfrm>
            <a:off x="6362700" y="1863626"/>
            <a:ext cx="1066800" cy="190500"/>
          </a:xfrm>
          <a:prstGeom prst="rect">
            <a:avLst/>
          </a:prstGeom>
          <a:noFill/>
          <a:ln/>
        </p:spPr>
        <p:txBody>
          <a:bodyPr wrap="none" lIns="0" tIns="0" rIns="0" bIns="0" rtlCol="0" anchor="t"/>
          <a:lstStyle/>
          <a:p>
            <a:pPr marL="0" indent="0" algn="l">
              <a:lnSpc>
                <a:spcPts val="1500"/>
              </a:lnSpc>
              <a:buNone/>
            </a:pPr>
            <a:r>
              <a:rPr lang="en-US" sz="1200" kern="0" spc="15" dirty="0">
                <a:solidFill>
                  <a:srgbClr val="8C6239"/>
                </a:solidFill>
                <a:latin typeface="Newsreader SemiBold" pitchFamily="34" charset="0"/>
              </a:rPr>
              <a:t>About $29.1B</a:t>
            </a:r>
            <a:endParaRPr lang="en-US" sz="1200" dirty="0"/>
          </a:p>
        </p:txBody>
      </p:sp>
      <p:sp>
        <p:nvSpPr>
          <p:cNvPr id="30" name="Text 29"/>
          <p:cNvSpPr txBox="1"/>
          <p:nvPr/>
        </p:nvSpPr>
        <p:spPr>
          <a:xfrm>
            <a:off x="6362700" y="2051745"/>
            <a:ext cx="1066800" cy="109538"/>
          </a:xfrm>
          <a:prstGeom prst="rect">
            <a:avLst/>
          </a:prstGeom>
          <a:noFill/>
          <a:ln/>
        </p:spPr>
        <p:txBody>
          <a:bodyPr wrap="none" lIns="0" tIns="0" rIns="0" bIns="0" rtlCol="0" anchor="t"/>
          <a:lstStyle/>
          <a:p>
            <a:pPr marL="0" indent="0" algn="l">
              <a:lnSpc>
                <a:spcPts val="863"/>
              </a:lnSpc>
              <a:buNone/>
            </a:pPr>
            <a:r>
              <a:rPr lang="en-US" sz="645" kern="0" spc="15" dirty="0">
                <a:solidFill>
                  <a:srgbClr val="6F6A66"/>
                </a:solidFill>
                <a:latin typeface="Quicksand" pitchFamily="34" charset="0"/>
              </a:rPr>
              <a:t>enterprise value</a:t>
            </a:r>
            <a:endParaRPr lang="en-US" sz="645" dirty="0"/>
          </a:p>
        </p:txBody>
      </p:sp>
      <p:sp>
        <p:nvSpPr>
          <p:cNvPr id="31" name="Text 30"/>
          <p:cNvSpPr txBox="1"/>
          <p:nvPr/>
        </p:nvSpPr>
        <p:spPr>
          <a:xfrm>
            <a:off x="7562850" y="1942207"/>
            <a:ext cx="876300" cy="133350"/>
          </a:xfrm>
          <a:prstGeom prst="rect">
            <a:avLst/>
          </a:prstGeom>
          <a:noFill/>
          <a:ln/>
        </p:spPr>
        <p:txBody>
          <a:bodyPr wrap="none" lIns="0" tIns="0" rIns="0" bIns="0" rtlCol="0" anchor="t"/>
          <a:lstStyle/>
          <a:p>
            <a:pPr marL="0" indent="0" algn="l">
              <a:lnSpc>
                <a:spcPts val="1050"/>
              </a:lnSpc>
              <a:buNone/>
            </a:pPr>
            <a:r>
              <a:rPr lang="en-US" sz="780" kern="0" spc="15" dirty="0">
                <a:solidFill>
                  <a:srgbClr val="6F6A66"/>
                </a:solidFill>
                <a:latin typeface="Quicksand" pitchFamily="34" charset="0"/>
              </a:rPr>
              <a:t>Not disclosed</a:t>
            </a:r>
            <a:endParaRPr lang="en-US" sz="780" dirty="0"/>
          </a:p>
        </p:txBody>
      </p:sp>
      <p:sp>
        <p:nvSpPr>
          <p:cNvPr id="32" name="Text 31"/>
          <p:cNvSpPr txBox="1"/>
          <p:nvPr/>
        </p:nvSpPr>
        <p:spPr>
          <a:xfrm>
            <a:off x="8572500" y="1808857"/>
            <a:ext cx="1066800" cy="190500"/>
          </a:xfrm>
          <a:prstGeom prst="rect">
            <a:avLst/>
          </a:prstGeom>
          <a:noFill/>
          <a:ln/>
        </p:spPr>
        <p:txBody>
          <a:bodyPr wrap="none" lIns="0" tIns="0" rIns="0" bIns="0" rtlCol="0" anchor="t"/>
          <a:lstStyle/>
          <a:p>
            <a:pPr marL="0" indent="0" algn="l">
              <a:lnSpc>
                <a:spcPts val="1500"/>
              </a:lnSpc>
              <a:buNone/>
            </a:pPr>
            <a:r>
              <a:rPr lang="en-US" sz="1200" kern="0" spc="15" dirty="0">
                <a:solidFill>
                  <a:srgbClr val="8C6239"/>
                </a:solidFill>
                <a:latin typeface="Newsreader SemiBold" pitchFamily="34" charset="0"/>
              </a:rPr>
              <a:t>14.6x</a:t>
            </a:r>
            <a:endParaRPr lang="en-US" sz="1200" dirty="0"/>
          </a:p>
        </p:txBody>
      </p:sp>
      <p:sp>
        <p:nvSpPr>
          <p:cNvPr id="33" name="Text 32"/>
          <p:cNvSpPr txBox="1"/>
          <p:nvPr/>
        </p:nvSpPr>
        <p:spPr>
          <a:xfrm>
            <a:off x="8572500" y="1996976"/>
            <a:ext cx="1081088" cy="219075"/>
          </a:xfrm>
          <a:prstGeom prst="rect">
            <a:avLst/>
          </a:prstGeom>
          <a:noFill/>
          <a:ln/>
        </p:spPr>
        <p:txBody>
          <a:bodyPr wrap="square" lIns="0" tIns="0" rIns="0" bIns="0" rtlCol="0" anchor="t"/>
          <a:lstStyle/>
          <a:p>
            <a:pPr marL="0" indent="0" algn="l">
              <a:lnSpc>
                <a:spcPts val="863"/>
              </a:lnSpc>
              <a:buNone/>
            </a:pPr>
            <a:r>
              <a:rPr lang="en-US" sz="645" kern="0" spc="15" dirty="0">
                <a:solidFill>
                  <a:srgbClr val="6F6A66"/>
                </a:solidFill>
                <a:latin typeface="Quicksand" pitchFamily="34" charset="0"/>
              </a:rPr>
              <a:t>2025 operating income, as stated by Sysco</a:t>
            </a:r>
            <a:endParaRPr lang="en-US" sz="645" dirty="0"/>
          </a:p>
        </p:txBody>
      </p:sp>
      <p:sp>
        <p:nvSpPr>
          <p:cNvPr id="34" name="Shape 33"/>
          <p:cNvSpPr/>
          <p:nvPr/>
        </p:nvSpPr>
        <p:spPr>
          <a:xfrm>
            <a:off x="419100" y="3349526"/>
            <a:ext cx="9220200" cy="9525"/>
          </a:xfrm>
          <a:prstGeom prst="rect">
            <a:avLst/>
          </a:prstGeom>
          <a:solidFill>
            <a:srgbClr val="E3DCD3"/>
          </a:solidFill>
          <a:ln/>
        </p:spPr>
        <p:txBody>
          <a:bodyPr/>
          <a:lstStyle/>
          <a:p>
            <a:endParaRPr lang="en-US"/>
          </a:p>
        </p:txBody>
      </p:sp>
      <p:sp>
        <p:nvSpPr>
          <p:cNvPr id="35" name="Shape 34"/>
          <p:cNvSpPr/>
          <p:nvPr/>
        </p:nvSpPr>
        <p:spPr>
          <a:xfrm>
            <a:off x="419100" y="2654945"/>
            <a:ext cx="676424" cy="209550"/>
          </a:xfrm>
          <a:prstGeom prst="rect">
            <a:avLst/>
          </a:prstGeom>
          <a:solidFill>
            <a:srgbClr val="1B1A1A"/>
          </a:solidFill>
          <a:ln/>
        </p:spPr>
        <p:txBody>
          <a:bodyPr/>
          <a:lstStyle/>
          <a:p>
            <a:endParaRPr lang="en-US"/>
          </a:p>
        </p:txBody>
      </p:sp>
      <p:sp>
        <p:nvSpPr>
          <p:cNvPr id="36" name="Text 35"/>
          <p:cNvSpPr txBox="1"/>
          <p:nvPr/>
        </p:nvSpPr>
        <p:spPr>
          <a:xfrm>
            <a:off x="504825" y="2697807"/>
            <a:ext cx="562124" cy="114300"/>
          </a:xfrm>
          <a:prstGeom prst="rect">
            <a:avLst/>
          </a:prstGeom>
          <a:noFill/>
          <a:ln/>
        </p:spPr>
        <p:txBody>
          <a:bodyPr wrap="none" lIns="0" tIns="0" rIns="0" bIns="0" rtlCol="0" anchor="t"/>
          <a:lstStyle/>
          <a:p>
            <a:pPr marL="0" indent="0" algn="l">
              <a:lnSpc>
                <a:spcPts val="900"/>
              </a:lnSpc>
              <a:buNone/>
            </a:pPr>
            <a:r>
              <a:rPr lang="en-US" sz="638" b="1" kern="0" spc="120" dirty="0">
                <a:solidFill>
                  <a:srgbClr val="D3AE84"/>
                </a:solidFill>
                <a:latin typeface="Quicksand" pitchFamily="34" charset="0"/>
              </a:rPr>
              <a:t>MAR 2026</a:t>
            </a:r>
            <a:endParaRPr lang="en-US" sz="638" dirty="0"/>
          </a:p>
        </p:txBody>
      </p:sp>
      <p:pic>
        <p:nvPicPr>
          <p:cNvPr id="37" name="Icon" descr="/tmp/claude-0/-home-claude-about/4bef2f41-4227-5ff7-ab18-11ac74cd9797/scratchpad/pptx/ex/media/2fc6f7a740ba.png"/>
          <p:cNvPicPr>
            <a:picLocks noChangeAspect="1"/>
          </p:cNvPicPr>
          <p:nvPr/>
        </p:nvPicPr>
        <p:blipFill>
          <a:blip r:embed="rId3"/>
          <a:stretch>
            <a:fillRect/>
          </a:stretch>
        </p:blipFill>
        <p:spPr>
          <a:xfrm>
            <a:off x="419100" y="2940695"/>
            <a:ext cx="133350" cy="133350"/>
          </a:xfrm>
          <a:prstGeom prst="rect">
            <a:avLst/>
          </a:prstGeom>
        </p:spPr>
      </p:pic>
      <p:sp>
        <p:nvSpPr>
          <p:cNvPr id="38" name="Text 37"/>
          <p:cNvSpPr txBox="1"/>
          <p:nvPr/>
        </p:nvSpPr>
        <p:spPr>
          <a:xfrm>
            <a:off x="619125" y="2933551"/>
            <a:ext cx="804863" cy="219075"/>
          </a:xfrm>
          <a:prstGeom prst="rect">
            <a:avLst/>
          </a:prstGeom>
          <a:noFill/>
          <a:ln/>
        </p:spPr>
        <p:txBody>
          <a:bodyPr wrap="square" lIns="0" tIns="0" rIns="0" bIns="0" rtlCol="0" anchor="t"/>
          <a:lstStyle/>
          <a:p>
            <a:pPr marL="0" indent="0" algn="l">
              <a:lnSpc>
                <a:spcPts val="863"/>
              </a:lnSpc>
              <a:buNone/>
            </a:pPr>
            <a:r>
              <a:rPr lang="en-US" sz="615" b="1" kern="0" spc="75" dirty="0">
                <a:solidFill>
                  <a:srgbClr val="8C6239"/>
                </a:solidFill>
                <a:latin typeface="Quicksand" pitchFamily="34" charset="0"/>
              </a:rPr>
              <a:t>FOODSERVICE &amp; DISTRIBUTION</a:t>
            </a:r>
            <a:endParaRPr lang="en-US" sz="615" dirty="0"/>
          </a:p>
        </p:txBody>
      </p:sp>
      <p:sp>
        <p:nvSpPr>
          <p:cNvPr id="39" name="Shape 38"/>
          <p:cNvSpPr/>
          <p:nvPr/>
        </p:nvSpPr>
        <p:spPr>
          <a:xfrm>
            <a:off x="1543050" y="2533501"/>
            <a:ext cx="1905000" cy="285750"/>
          </a:xfrm>
          <a:prstGeom prst="rect">
            <a:avLst/>
          </a:prstGeom>
          <a:solidFill>
            <a:srgbClr val="FAF7F3"/>
          </a:solidFill>
          <a:ln/>
        </p:spPr>
        <p:txBody>
          <a:bodyPr/>
          <a:lstStyle/>
          <a:p>
            <a:endParaRPr lang="en-US"/>
          </a:p>
        </p:txBody>
      </p:sp>
      <p:sp>
        <p:nvSpPr>
          <p:cNvPr id="40" name="Shape 39"/>
          <p:cNvSpPr/>
          <p:nvPr/>
        </p:nvSpPr>
        <p:spPr>
          <a:xfrm>
            <a:off x="1547813" y="2538264"/>
            <a:ext cx="1895475" cy="276225"/>
          </a:xfrm>
          <a:prstGeom prst="rect">
            <a:avLst/>
          </a:prstGeom>
          <a:ln w="9525">
            <a:solidFill>
              <a:srgbClr val="E3DCD3"/>
            </a:solidFill>
            <a:prstDash val="solid"/>
          </a:ln>
        </p:spPr>
        <p:txBody>
          <a:bodyPr/>
          <a:lstStyle/>
          <a:p>
            <a:endParaRPr lang="en-US"/>
          </a:p>
        </p:txBody>
      </p:sp>
      <p:sp>
        <p:nvSpPr>
          <p:cNvPr id="41" name="Text 40"/>
          <p:cNvSpPr txBox="1"/>
          <p:nvPr/>
        </p:nvSpPr>
        <p:spPr>
          <a:xfrm>
            <a:off x="1949797" y="2614464"/>
            <a:ext cx="1091357" cy="123825"/>
          </a:xfrm>
          <a:prstGeom prst="rect">
            <a:avLst/>
          </a:prstGeom>
          <a:noFill/>
          <a:ln/>
        </p:spPr>
        <p:txBody>
          <a:bodyPr wrap="none" lIns="0" tIns="0" rIns="0" bIns="0" rtlCol="0" anchor="t"/>
          <a:lstStyle/>
          <a:p>
            <a:pPr marL="0" indent="0" algn="ctr">
              <a:lnSpc>
                <a:spcPts val="975"/>
              </a:lnSpc>
              <a:buNone/>
            </a:pPr>
            <a:r>
              <a:rPr lang="en-US" sz="765" b="1" kern="0" spc="38" dirty="0">
                <a:solidFill>
                  <a:srgbClr val="1B1A1A"/>
                </a:solidFill>
                <a:latin typeface="Quicksand" pitchFamily="34" charset="0"/>
              </a:rPr>
              <a:t>FEDERAL INDUSTRIES</a:t>
            </a:r>
            <a:endParaRPr lang="en-US" sz="765" dirty="0"/>
          </a:p>
        </p:txBody>
      </p:sp>
      <p:sp>
        <p:nvSpPr>
          <p:cNvPr id="42" name="Text 41"/>
          <p:cNvSpPr txBox="1"/>
          <p:nvPr/>
        </p:nvSpPr>
        <p:spPr>
          <a:xfrm>
            <a:off x="1543050" y="2819251"/>
            <a:ext cx="1905000" cy="133350"/>
          </a:xfrm>
          <a:prstGeom prst="rect">
            <a:avLst/>
          </a:prstGeom>
          <a:noFill/>
          <a:ln/>
        </p:spPr>
        <p:txBody>
          <a:bodyPr wrap="none" lIns="0" tIns="0" rIns="0" bIns="0" rtlCol="0" anchor="t"/>
          <a:lstStyle/>
          <a:p>
            <a:pPr marL="0" indent="0" algn="ctr">
              <a:lnSpc>
                <a:spcPts val="1050"/>
              </a:lnSpc>
              <a:buNone/>
            </a:pPr>
            <a:r>
              <a:rPr lang="en-US" sz="600" kern="0" spc="105" dirty="0">
                <a:solidFill>
                  <a:srgbClr val="6F6A66"/>
                </a:solidFill>
                <a:latin typeface="Quicksand" pitchFamily="34" charset="0"/>
              </a:rPr>
              <a:t>ACQUIRED BY</a:t>
            </a:r>
            <a:endParaRPr lang="en-US" sz="600" dirty="0"/>
          </a:p>
        </p:txBody>
      </p:sp>
      <p:sp>
        <p:nvSpPr>
          <p:cNvPr id="43" name="Shape 42"/>
          <p:cNvSpPr/>
          <p:nvPr/>
        </p:nvSpPr>
        <p:spPr>
          <a:xfrm>
            <a:off x="1543050" y="2952601"/>
            <a:ext cx="1905000" cy="328613"/>
          </a:xfrm>
          <a:prstGeom prst="rect">
            <a:avLst/>
          </a:prstGeom>
          <a:solidFill>
            <a:srgbClr val="FFFFFF"/>
          </a:solidFill>
          <a:ln/>
        </p:spPr>
        <p:txBody>
          <a:bodyPr/>
          <a:lstStyle/>
          <a:p>
            <a:endParaRPr lang="en-US"/>
          </a:p>
        </p:txBody>
      </p:sp>
      <p:sp>
        <p:nvSpPr>
          <p:cNvPr id="44" name="Shape 43"/>
          <p:cNvSpPr/>
          <p:nvPr/>
        </p:nvSpPr>
        <p:spPr>
          <a:xfrm>
            <a:off x="1547813" y="2957364"/>
            <a:ext cx="1895475" cy="319088"/>
          </a:xfrm>
          <a:prstGeom prst="rect">
            <a:avLst/>
          </a:prstGeom>
          <a:ln w="9525">
            <a:solidFill>
              <a:srgbClr val="C3BDB6"/>
            </a:solidFill>
            <a:prstDash val="solid"/>
          </a:ln>
        </p:spPr>
        <p:txBody>
          <a:bodyPr/>
          <a:lstStyle/>
          <a:p>
            <a:endParaRPr lang="en-US"/>
          </a:p>
        </p:txBody>
      </p:sp>
      <p:sp>
        <p:nvSpPr>
          <p:cNvPr id="45" name="Text 44"/>
          <p:cNvSpPr txBox="1"/>
          <p:nvPr/>
        </p:nvSpPr>
        <p:spPr>
          <a:xfrm>
            <a:off x="2283470" y="3000226"/>
            <a:ext cx="424011" cy="123825"/>
          </a:xfrm>
          <a:prstGeom prst="rect">
            <a:avLst/>
          </a:prstGeom>
          <a:noFill/>
          <a:ln/>
        </p:spPr>
        <p:txBody>
          <a:bodyPr wrap="none" lIns="0" tIns="0" rIns="0" bIns="0" rtlCol="0" anchor="t"/>
          <a:lstStyle/>
          <a:p>
            <a:pPr marL="0" indent="0" algn="ctr">
              <a:lnSpc>
                <a:spcPts val="975"/>
              </a:lnSpc>
              <a:buNone/>
            </a:pPr>
            <a:r>
              <a:rPr lang="en-US" sz="765" b="1" kern="0" spc="38" dirty="0">
                <a:solidFill>
                  <a:srgbClr val="1B1A1A"/>
                </a:solidFill>
                <a:latin typeface="Quicksand" pitchFamily="34" charset="0"/>
              </a:rPr>
              <a:t>AERITEK</a:t>
            </a:r>
            <a:endParaRPr lang="en-US" sz="765" dirty="0"/>
          </a:p>
        </p:txBody>
      </p:sp>
      <p:sp>
        <p:nvSpPr>
          <p:cNvPr id="46" name="Text 45"/>
          <p:cNvSpPr txBox="1"/>
          <p:nvPr/>
        </p:nvSpPr>
        <p:spPr>
          <a:xfrm>
            <a:off x="2166342" y="3121670"/>
            <a:ext cx="658267" cy="109538"/>
          </a:xfrm>
          <a:prstGeom prst="rect">
            <a:avLst/>
          </a:prstGeom>
          <a:noFill/>
          <a:ln/>
        </p:spPr>
        <p:txBody>
          <a:bodyPr wrap="none" lIns="0" tIns="0" rIns="0" bIns="0" rtlCol="0" anchor="t"/>
          <a:lstStyle/>
          <a:p>
            <a:pPr marL="0" indent="0" algn="ctr">
              <a:lnSpc>
                <a:spcPts val="863"/>
              </a:lnSpc>
              <a:buNone/>
            </a:pPr>
            <a:r>
              <a:rPr lang="en-US" sz="645" kern="0" spc="15" dirty="0">
                <a:solidFill>
                  <a:srgbClr val="6F6A66"/>
                </a:solidFill>
                <a:latin typeface="Quicksand" pitchFamily="34" charset="0"/>
              </a:rPr>
              <a:t>Mill Point Capital</a:t>
            </a:r>
            <a:endParaRPr lang="en-US" sz="645" dirty="0"/>
          </a:p>
        </p:txBody>
      </p:sp>
      <p:sp>
        <p:nvSpPr>
          <p:cNvPr id="47" name="Text 46"/>
          <p:cNvSpPr txBox="1"/>
          <p:nvPr/>
        </p:nvSpPr>
        <p:spPr>
          <a:xfrm>
            <a:off x="3581400" y="2612023"/>
            <a:ext cx="2662238" cy="579209"/>
          </a:xfrm>
          <a:prstGeom prst="rect">
            <a:avLst/>
          </a:prstGeom>
          <a:noFill/>
          <a:ln/>
        </p:spPr>
        <p:txBody>
          <a:bodyPr wrap="square" lIns="0" tIns="0" rIns="0" bIns="0" rtlCol="0" anchor="t"/>
          <a:lstStyle/>
          <a:p>
            <a:pPr marL="0" indent="0" algn="l">
              <a:lnSpc>
                <a:spcPts val="1140"/>
              </a:lnSpc>
              <a:buNone/>
            </a:pPr>
            <a:r>
              <a:rPr lang="en-US" sz="795" kern="0" spc="15" dirty="0">
                <a:solidFill>
                  <a:srgbClr val="333231"/>
                </a:solidFill>
                <a:latin typeface="Quicksand" pitchFamily="34" charset="0"/>
              </a:rPr>
              <a:t>AeriTek bought Federal Industries, a Wisconsin maker of food display cases with $35.7 million of fiscal 2025 revenue, in a carve-out from Standex (</a:t>
            </a:r>
            <a:r>
              <a:rPr lang="en-US" sz="795" u="sng" kern="0" spc="15" dirty="0">
                <a:solidFill>
                  <a:srgbClr val="8C6239"/>
                </a:solidFill>
                <a:latin typeface="Quicksand" pitchFamily="34" charset="0"/>
                <a:hlinkClick r:id="rId6">
                  <a:extLst>
                    <a:ext uri="{A12FA001-AC4F-418D-AE19-62706E023703}">
                      <ahyp:hlinkClr xmlns:ahyp="http://schemas.microsoft.com/office/drawing/2018/hyperlinkcolor" val="tx"/>
                    </a:ext>
                  </a:extLst>
                </a:hlinkClick>
              </a:rPr>
              <a:t>Standex on Federal Industries</a:t>
            </a:r>
            <a:r>
              <a:rPr lang="en-US" sz="795" kern="0" spc="15" dirty="0">
                <a:solidFill>
                  <a:srgbClr val="333231"/>
                </a:solidFill>
                <a:latin typeface="Quicksand" pitchFamily="34" charset="0"/>
              </a:rPr>
              <a:t>).</a:t>
            </a:r>
            <a:endParaRPr lang="en-US" sz="795" dirty="0"/>
          </a:p>
        </p:txBody>
      </p:sp>
      <p:sp>
        <p:nvSpPr>
          <p:cNvPr id="48" name="Text 47"/>
          <p:cNvSpPr txBox="1"/>
          <p:nvPr/>
        </p:nvSpPr>
        <p:spPr>
          <a:xfrm>
            <a:off x="6362700" y="2757339"/>
            <a:ext cx="1066800" cy="190500"/>
          </a:xfrm>
          <a:prstGeom prst="rect">
            <a:avLst/>
          </a:prstGeom>
          <a:noFill/>
          <a:ln/>
        </p:spPr>
        <p:txBody>
          <a:bodyPr wrap="none" lIns="0" tIns="0" rIns="0" bIns="0" rtlCol="0" anchor="t"/>
          <a:lstStyle/>
          <a:p>
            <a:pPr marL="0" indent="0" algn="l">
              <a:lnSpc>
                <a:spcPts val="1500"/>
              </a:lnSpc>
              <a:buNone/>
            </a:pPr>
            <a:r>
              <a:rPr lang="en-US" sz="1200" kern="0" spc="15" dirty="0">
                <a:solidFill>
                  <a:srgbClr val="8C6239"/>
                </a:solidFill>
                <a:latin typeface="Newsreader SemiBold" pitchFamily="34" charset="0"/>
              </a:rPr>
              <a:t>About $70M</a:t>
            </a:r>
            <a:endParaRPr lang="en-US" sz="1200" dirty="0"/>
          </a:p>
        </p:txBody>
      </p:sp>
      <p:sp>
        <p:nvSpPr>
          <p:cNvPr id="49" name="Text 48"/>
          <p:cNvSpPr txBox="1"/>
          <p:nvPr/>
        </p:nvSpPr>
        <p:spPr>
          <a:xfrm>
            <a:off x="6362700" y="2945457"/>
            <a:ext cx="1066800" cy="109538"/>
          </a:xfrm>
          <a:prstGeom prst="rect">
            <a:avLst/>
          </a:prstGeom>
          <a:noFill/>
          <a:ln/>
        </p:spPr>
        <p:txBody>
          <a:bodyPr wrap="none" lIns="0" tIns="0" rIns="0" bIns="0" rtlCol="0" anchor="t"/>
          <a:lstStyle/>
          <a:p>
            <a:pPr marL="0" indent="0" algn="l">
              <a:lnSpc>
                <a:spcPts val="863"/>
              </a:lnSpc>
              <a:buNone/>
            </a:pPr>
            <a:r>
              <a:rPr lang="en-US" sz="645" kern="0" spc="15" dirty="0">
                <a:solidFill>
                  <a:srgbClr val="6F6A66"/>
                </a:solidFill>
                <a:latin typeface="Quicksand" pitchFamily="34" charset="0"/>
              </a:rPr>
              <a:t>enterprise value</a:t>
            </a:r>
            <a:endParaRPr lang="en-US" sz="645" dirty="0"/>
          </a:p>
        </p:txBody>
      </p:sp>
      <p:sp>
        <p:nvSpPr>
          <p:cNvPr id="50" name="Text 49"/>
          <p:cNvSpPr txBox="1"/>
          <p:nvPr/>
        </p:nvSpPr>
        <p:spPr>
          <a:xfrm>
            <a:off x="7562850" y="2702570"/>
            <a:ext cx="876300" cy="190500"/>
          </a:xfrm>
          <a:prstGeom prst="rect">
            <a:avLst/>
          </a:prstGeom>
          <a:noFill/>
          <a:ln/>
        </p:spPr>
        <p:txBody>
          <a:bodyPr wrap="none" lIns="0" tIns="0" rIns="0" bIns="0" rtlCol="0" anchor="t"/>
          <a:lstStyle/>
          <a:p>
            <a:pPr marL="0" indent="0" algn="l">
              <a:lnSpc>
                <a:spcPts val="1500"/>
              </a:lnSpc>
              <a:buNone/>
            </a:pPr>
            <a:r>
              <a:rPr lang="en-US" sz="1200" kern="0" spc="15" dirty="0">
                <a:solidFill>
                  <a:srgbClr val="8C6239"/>
                </a:solidFill>
                <a:latin typeface="Newsreader SemiBold" pitchFamily="34" charset="0"/>
              </a:rPr>
              <a:t>About 2.0x</a:t>
            </a:r>
            <a:endParaRPr lang="en-US" sz="1200" dirty="0"/>
          </a:p>
        </p:txBody>
      </p:sp>
      <p:sp>
        <p:nvSpPr>
          <p:cNvPr id="51" name="Text 50"/>
          <p:cNvSpPr txBox="1"/>
          <p:nvPr/>
        </p:nvSpPr>
        <p:spPr>
          <a:xfrm>
            <a:off x="7562850" y="2890689"/>
            <a:ext cx="890588" cy="219075"/>
          </a:xfrm>
          <a:prstGeom prst="rect">
            <a:avLst/>
          </a:prstGeom>
          <a:noFill/>
          <a:ln/>
        </p:spPr>
        <p:txBody>
          <a:bodyPr wrap="square" lIns="0" tIns="0" rIns="0" bIns="0" rtlCol="0" anchor="t"/>
          <a:lstStyle/>
          <a:p>
            <a:pPr marL="0" indent="0" algn="l">
              <a:lnSpc>
                <a:spcPts val="863"/>
              </a:lnSpc>
              <a:buNone/>
            </a:pPr>
            <a:r>
              <a:rPr lang="en-US" sz="645" kern="0" spc="15" dirty="0">
                <a:solidFill>
                  <a:srgbClr val="6F6A66"/>
                </a:solidFill>
                <a:latin typeface="Quicksand" pitchFamily="34" charset="0"/>
              </a:rPr>
              <a:t>calculated from the stated figures</a:t>
            </a:r>
            <a:endParaRPr lang="en-US" sz="645" dirty="0"/>
          </a:p>
        </p:txBody>
      </p:sp>
      <p:sp>
        <p:nvSpPr>
          <p:cNvPr id="52" name="Text 51"/>
          <p:cNvSpPr txBox="1"/>
          <p:nvPr/>
        </p:nvSpPr>
        <p:spPr>
          <a:xfrm>
            <a:off x="8572500" y="2835920"/>
            <a:ext cx="1066800" cy="133350"/>
          </a:xfrm>
          <a:prstGeom prst="rect">
            <a:avLst/>
          </a:prstGeom>
          <a:noFill/>
          <a:ln/>
        </p:spPr>
        <p:txBody>
          <a:bodyPr wrap="none" lIns="0" tIns="0" rIns="0" bIns="0" rtlCol="0" anchor="t"/>
          <a:lstStyle/>
          <a:p>
            <a:pPr marL="0" indent="0" algn="l">
              <a:lnSpc>
                <a:spcPts val="1050"/>
              </a:lnSpc>
              <a:buNone/>
            </a:pPr>
            <a:r>
              <a:rPr lang="en-US" sz="780" kern="0" spc="15" dirty="0">
                <a:solidFill>
                  <a:srgbClr val="6F6A66"/>
                </a:solidFill>
                <a:latin typeface="Quicksand" pitchFamily="34" charset="0"/>
              </a:rPr>
              <a:t>Not disclosed</a:t>
            </a:r>
            <a:endParaRPr lang="en-US" sz="780" dirty="0"/>
          </a:p>
        </p:txBody>
      </p:sp>
      <p:sp>
        <p:nvSpPr>
          <p:cNvPr id="53" name="Shape 52"/>
          <p:cNvSpPr/>
          <p:nvPr/>
        </p:nvSpPr>
        <p:spPr>
          <a:xfrm>
            <a:off x="419100" y="4243239"/>
            <a:ext cx="9220200" cy="9525"/>
          </a:xfrm>
          <a:prstGeom prst="rect">
            <a:avLst/>
          </a:prstGeom>
          <a:solidFill>
            <a:srgbClr val="E3DCD3"/>
          </a:solidFill>
          <a:ln/>
        </p:spPr>
        <p:txBody>
          <a:bodyPr/>
          <a:lstStyle/>
          <a:p>
            <a:endParaRPr lang="en-US"/>
          </a:p>
        </p:txBody>
      </p:sp>
      <p:sp>
        <p:nvSpPr>
          <p:cNvPr id="54" name="Shape 53"/>
          <p:cNvSpPr/>
          <p:nvPr/>
        </p:nvSpPr>
        <p:spPr>
          <a:xfrm>
            <a:off x="419100" y="3548658"/>
            <a:ext cx="658862" cy="209550"/>
          </a:xfrm>
          <a:prstGeom prst="rect">
            <a:avLst/>
          </a:prstGeom>
          <a:solidFill>
            <a:srgbClr val="1B1A1A"/>
          </a:solidFill>
          <a:ln/>
        </p:spPr>
        <p:txBody>
          <a:bodyPr/>
          <a:lstStyle/>
          <a:p>
            <a:endParaRPr lang="en-US"/>
          </a:p>
        </p:txBody>
      </p:sp>
      <p:sp>
        <p:nvSpPr>
          <p:cNvPr id="55" name="Text 54"/>
          <p:cNvSpPr txBox="1"/>
          <p:nvPr/>
        </p:nvSpPr>
        <p:spPr>
          <a:xfrm>
            <a:off x="504825" y="3591520"/>
            <a:ext cx="544562" cy="114300"/>
          </a:xfrm>
          <a:prstGeom prst="rect">
            <a:avLst/>
          </a:prstGeom>
          <a:noFill/>
          <a:ln/>
        </p:spPr>
        <p:txBody>
          <a:bodyPr wrap="none" lIns="0" tIns="0" rIns="0" bIns="0" rtlCol="0" anchor="t"/>
          <a:lstStyle/>
          <a:p>
            <a:pPr marL="0" indent="0" algn="l">
              <a:lnSpc>
                <a:spcPts val="900"/>
              </a:lnSpc>
              <a:buNone/>
            </a:pPr>
            <a:r>
              <a:rPr lang="en-US" sz="638" b="1" kern="0" spc="120" dirty="0">
                <a:solidFill>
                  <a:srgbClr val="D3AE84"/>
                </a:solidFill>
                <a:latin typeface="Quicksand" pitchFamily="34" charset="0"/>
              </a:rPr>
              <a:t>APR 2026</a:t>
            </a:r>
            <a:endParaRPr lang="en-US" sz="638" dirty="0"/>
          </a:p>
        </p:txBody>
      </p:sp>
      <p:pic>
        <p:nvPicPr>
          <p:cNvPr id="56" name="Icon" descr="/tmp/claude-0/-home-claude-about/4bef2f41-4227-5ff7-ab18-11ac74cd9797/scratchpad/pptx/ex/media/2fc6f7a740ba.png"/>
          <p:cNvPicPr>
            <a:picLocks noChangeAspect="1"/>
          </p:cNvPicPr>
          <p:nvPr/>
        </p:nvPicPr>
        <p:blipFill>
          <a:blip r:embed="rId3"/>
          <a:stretch>
            <a:fillRect/>
          </a:stretch>
        </p:blipFill>
        <p:spPr>
          <a:xfrm>
            <a:off x="419100" y="3834408"/>
            <a:ext cx="133350" cy="133350"/>
          </a:xfrm>
          <a:prstGeom prst="rect">
            <a:avLst/>
          </a:prstGeom>
        </p:spPr>
      </p:pic>
      <p:sp>
        <p:nvSpPr>
          <p:cNvPr id="57" name="Text 56"/>
          <p:cNvSpPr txBox="1"/>
          <p:nvPr/>
        </p:nvSpPr>
        <p:spPr>
          <a:xfrm>
            <a:off x="619125" y="3827264"/>
            <a:ext cx="804863" cy="219075"/>
          </a:xfrm>
          <a:prstGeom prst="rect">
            <a:avLst/>
          </a:prstGeom>
          <a:noFill/>
          <a:ln/>
        </p:spPr>
        <p:txBody>
          <a:bodyPr wrap="square" lIns="0" tIns="0" rIns="0" bIns="0" rtlCol="0" anchor="t"/>
          <a:lstStyle/>
          <a:p>
            <a:pPr marL="0" indent="0" algn="l">
              <a:lnSpc>
                <a:spcPts val="863"/>
              </a:lnSpc>
              <a:buNone/>
            </a:pPr>
            <a:r>
              <a:rPr lang="en-US" sz="615" b="1" kern="0" spc="75" dirty="0">
                <a:solidFill>
                  <a:srgbClr val="8C6239"/>
                </a:solidFill>
                <a:latin typeface="Quicksand" pitchFamily="34" charset="0"/>
              </a:rPr>
              <a:t>FOODSERVICE &amp; DISTRIBUTION</a:t>
            </a:r>
            <a:endParaRPr lang="en-US" sz="615" dirty="0"/>
          </a:p>
        </p:txBody>
      </p:sp>
      <p:sp>
        <p:nvSpPr>
          <p:cNvPr id="58" name="Shape 57"/>
          <p:cNvSpPr/>
          <p:nvPr/>
        </p:nvSpPr>
        <p:spPr>
          <a:xfrm>
            <a:off x="1543050" y="3448645"/>
            <a:ext cx="1905000" cy="285750"/>
          </a:xfrm>
          <a:prstGeom prst="rect">
            <a:avLst/>
          </a:prstGeom>
          <a:solidFill>
            <a:srgbClr val="FAF7F3"/>
          </a:solidFill>
          <a:ln/>
        </p:spPr>
        <p:txBody>
          <a:bodyPr/>
          <a:lstStyle/>
          <a:p>
            <a:endParaRPr lang="en-US"/>
          </a:p>
        </p:txBody>
      </p:sp>
      <p:sp>
        <p:nvSpPr>
          <p:cNvPr id="59" name="Shape 58"/>
          <p:cNvSpPr/>
          <p:nvPr/>
        </p:nvSpPr>
        <p:spPr>
          <a:xfrm>
            <a:off x="1547813" y="3453408"/>
            <a:ext cx="1895475" cy="276225"/>
          </a:xfrm>
          <a:prstGeom prst="rect">
            <a:avLst/>
          </a:prstGeom>
          <a:ln w="9525">
            <a:solidFill>
              <a:srgbClr val="E3DCD3"/>
            </a:solidFill>
            <a:prstDash val="solid"/>
          </a:ln>
        </p:spPr>
        <p:txBody>
          <a:bodyPr/>
          <a:lstStyle/>
          <a:p>
            <a:endParaRPr lang="en-US"/>
          </a:p>
        </p:txBody>
      </p:sp>
      <p:sp>
        <p:nvSpPr>
          <p:cNvPr id="60" name="Text 59"/>
          <p:cNvSpPr txBox="1"/>
          <p:nvPr/>
        </p:nvSpPr>
        <p:spPr>
          <a:xfrm>
            <a:off x="2292102" y="3529608"/>
            <a:ext cx="406747" cy="123825"/>
          </a:xfrm>
          <a:prstGeom prst="rect">
            <a:avLst/>
          </a:prstGeom>
          <a:noFill/>
          <a:ln/>
        </p:spPr>
        <p:txBody>
          <a:bodyPr wrap="none" lIns="0" tIns="0" rIns="0" bIns="0" rtlCol="0" anchor="t"/>
          <a:lstStyle/>
          <a:p>
            <a:pPr marL="0" indent="0" algn="ctr">
              <a:lnSpc>
                <a:spcPts val="975"/>
              </a:lnSpc>
              <a:buNone/>
            </a:pPr>
            <a:r>
              <a:rPr lang="en-US" sz="765" b="1" kern="0" spc="38" dirty="0">
                <a:solidFill>
                  <a:srgbClr val="1B1A1A"/>
                </a:solidFill>
                <a:latin typeface="Quicksand" pitchFamily="34" charset="0"/>
              </a:rPr>
              <a:t>BRESCO</a:t>
            </a:r>
            <a:endParaRPr lang="en-US" sz="765" dirty="0"/>
          </a:p>
        </p:txBody>
      </p:sp>
      <p:sp>
        <p:nvSpPr>
          <p:cNvPr id="61" name="Text 60"/>
          <p:cNvSpPr txBox="1"/>
          <p:nvPr/>
        </p:nvSpPr>
        <p:spPr>
          <a:xfrm>
            <a:off x="1543050" y="3734395"/>
            <a:ext cx="1905000" cy="133350"/>
          </a:xfrm>
          <a:prstGeom prst="rect">
            <a:avLst/>
          </a:prstGeom>
          <a:noFill/>
          <a:ln/>
        </p:spPr>
        <p:txBody>
          <a:bodyPr wrap="none" lIns="0" tIns="0" rIns="0" bIns="0" rtlCol="0" anchor="t"/>
          <a:lstStyle/>
          <a:p>
            <a:pPr marL="0" indent="0" algn="ctr">
              <a:lnSpc>
                <a:spcPts val="1050"/>
              </a:lnSpc>
              <a:buNone/>
            </a:pPr>
            <a:r>
              <a:rPr lang="en-US" sz="600" kern="0" spc="105" dirty="0">
                <a:solidFill>
                  <a:srgbClr val="6F6A66"/>
                </a:solidFill>
                <a:latin typeface="Quicksand" pitchFamily="34" charset="0"/>
              </a:rPr>
              <a:t>ACQUIRED BY</a:t>
            </a:r>
            <a:endParaRPr lang="en-US" sz="600" dirty="0"/>
          </a:p>
        </p:txBody>
      </p:sp>
      <p:sp>
        <p:nvSpPr>
          <p:cNvPr id="62" name="Shape 61"/>
          <p:cNvSpPr/>
          <p:nvPr/>
        </p:nvSpPr>
        <p:spPr>
          <a:xfrm>
            <a:off x="1543050" y="3867745"/>
            <a:ext cx="1905000" cy="285750"/>
          </a:xfrm>
          <a:prstGeom prst="rect">
            <a:avLst/>
          </a:prstGeom>
          <a:solidFill>
            <a:srgbClr val="FFFFFF"/>
          </a:solidFill>
          <a:ln/>
        </p:spPr>
        <p:txBody>
          <a:bodyPr/>
          <a:lstStyle/>
          <a:p>
            <a:endParaRPr lang="en-US"/>
          </a:p>
        </p:txBody>
      </p:sp>
      <p:sp>
        <p:nvSpPr>
          <p:cNvPr id="63" name="Shape 62"/>
          <p:cNvSpPr/>
          <p:nvPr/>
        </p:nvSpPr>
        <p:spPr>
          <a:xfrm>
            <a:off x="1547813" y="3872508"/>
            <a:ext cx="1895475" cy="276225"/>
          </a:xfrm>
          <a:prstGeom prst="rect">
            <a:avLst/>
          </a:prstGeom>
          <a:ln w="9525">
            <a:solidFill>
              <a:srgbClr val="C3BDB6"/>
            </a:solidFill>
            <a:prstDash val="solid"/>
          </a:ln>
        </p:spPr>
        <p:txBody>
          <a:bodyPr/>
          <a:lstStyle/>
          <a:p>
            <a:endParaRPr lang="en-US"/>
          </a:p>
        </p:txBody>
      </p:sp>
      <p:sp>
        <p:nvSpPr>
          <p:cNvPr id="64" name="Text 63"/>
          <p:cNvSpPr txBox="1"/>
          <p:nvPr/>
        </p:nvSpPr>
        <p:spPr>
          <a:xfrm>
            <a:off x="1893838" y="3948708"/>
            <a:ext cx="1203424" cy="123825"/>
          </a:xfrm>
          <a:prstGeom prst="rect">
            <a:avLst/>
          </a:prstGeom>
          <a:noFill/>
          <a:ln/>
        </p:spPr>
        <p:txBody>
          <a:bodyPr wrap="none" lIns="0" tIns="0" rIns="0" bIns="0" rtlCol="0" anchor="t"/>
          <a:lstStyle/>
          <a:p>
            <a:pPr marL="0" indent="0" algn="ctr">
              <a:lnSpc>
                <a:spcPts val="975"/>
              </a:lnSpc>
              <a:buNone/>
            </a:pPr>
            <a:r>
              <a:rPr lang="en-US" sz="765" b="1" kern="0" spc="38" dirty="0">
                <a:solidFill>
                  <a:srgbClr val="1B1A1A"/>
                </a:solidFill>
                <a:latin typeface="Quicksand" pitchFamily="34" charset="0"/>
              </a:rPr>
              <a:t>SINGER EQUIPMENT CO.</a:t>
            </a:r>
            <a:endParaRPr lang="en-US" sz="765" dirty="0"/>
          </a:p>
        </p:txBody>
      </p:sp>
      <p:sp>
        <p:nvSpPr>
          <p:cNvPr id="65" name="Text 64"/>
          <p:cNvSpPr txBox="1"/>
          <p:nvPr/>
        </p:nvSpPr>
        <p:spPr>
          <a:xfrm>
            <a:off x="3581400" y="3433405"/>
            <a:ext cx="2662238" cy="724019"/>
          </a:xfrm>
          <a:prstGeom prst="rect">
            <a:avLst/>
          </a:prstGeom>
          <a:noFill/>
          <a:ln/>
        </p:spPr>
        <p:txBody>
          <a:bodyPr wrap="square" lIns="0" tIns="0" rIns="0" bIns="0" rtlCol="0" anchor="t"/>
          <a:lstStyle/>
          <a:p>
            <a:pPr marL="0" indent="0" algn="l">
              <a:lnSpc>
                <a:spcPts val="1140"/>
              </a:lnSpc>
              <a:buNone/>
            </a:pPr>
            <a:r>
              <a:rPr lang="en-US" sz="795" kern="0" spc="15" dirty="0">
                <a:solidFill>
                  <a:srgbClr val="333231"/>
                </a:solidFill>
                <a:latin typeface="Quicksand" pitchFamily="34" charset="0"/>
              </a:rPr>
              <a:t>Singer acquired Bresco, a family-led foodservice equipment and supplies dealer in Birmingham, Alabama with $39.3 million of 2025 sales (</a:t>
            </a:r>
            <a:r>
              <a:rPr lang="en-US" sz="795" u="sng" kern="0" spc="15" dirty="0">
                <a:solidFill>
                  <a:srgbClr val="8C6239"/>
                </a:solidFill>
                <a:latin typeface="Quicksand" pitchFamily="34" charset="0"/>
                <a:hlinkClick r:id="rId7">
                  <a:extLst>
                    <a:ext uri="{A12FA001-AC4F-418D-AE19-62706E023703}">
                      <ahyp:hlinkClr xmlns:ahyp="http://schemas.microsoft.com/office/drawing/2018/hyperlinkcolor" val="tx"/>
                    </a:ext>
                  </a:extLst>
                </a:hlinkClick>
              </a:rPr>
              <a:t>Singer Equipment and Bresco</a:t>
            </a:r>
            <a:r>
              <a:rPr lang="en-US" sz="795" kern="0" spc="15" dirty="0">
                <a:solidFill>
                  <a:srgbClr val="333231"/>
                </a:solidFill>
                <a:latin typeface="Quicksand" pitchFamily="34" charset="0"/>
              </a:rPr>
              <a:t>). Dealer acquirers rarely disclose price.</a:t>
            </a:r>
            <a:endParaRPr lang="en-US" sz="795" dirty="0"/>
          </a:p>
        </p:txBody>
      </p:sp>
      <p:sp>
        <p:nvSpPr>
          <p:cNvPr id="66" name="Text 65"/>
          <p:cNvSpPr txBox="1"/>
          <p:nvPr/>
        </p:nvSpPr>
        <p:spPr>
          <a:xfrm>
            <a:off x="6362700" y="3729633"/>
            <a:ext cx="1066800" cy="133350"/>
          </a:xfrm>
          <a:prstGeom prst="rect">
            <a:avLst/>
          </a:prstGeom>
          <a:noFill/>
          <a:ln/>
        </p:spPr>
        <p:txBody>
          <a:bodyPr wrap="none" lIns="0" tIns="0" rIns="0" bIns="0" rtlCol="0" anchor="t"/>
          <a:lstStyle/>
          <a:p>
            <a:pPr marL="0" indent="0" algn="l">
              <a:lnSpc>
                <a:spcPts val="1050"/>
              </a:lnSpc>
              <a:buNone/>
            </a:pPr>
            <a:r>
              <a:rPr lang="en-US" sz="780" kern="0" spc="15" dirty="0">
                <a:solidFill>
                  <a:srgbClr val="6F6A66"/>
                </a:solidFill>
                <a:latin typeface="Quicksand" pitchFamily="34" charset="0"/>
              </a:rPr>
              <a:t>Not disclosed</a:t>
            </a:r>
            <a:endParaRPr lang="en-US" sz="780" dirty="0"/>
          </a:p>
        </p:txBody>
      </p:sp>
      <p:sp>
        <p:nvSpPr>
          <p:cNvPr id="67" name="Text 66"/>
          <p:cNvSpPr txBox="1"/>
          <p:nvPr/>
        </p:nvSpPr>
        <p:spPr>
          <a:xfrm>
            <a:off x="7562850" y="3729633"/>
            <a:ext cx="876300" cy="133350"/>
          </a:xfrm>
          <a:prstGeom prst="rect">
            <a:avLst/>
          </a:prstGeom>
          <a:noFill/>
          <a:ln/>
        </p:spPr>
        <p:txBody>
          <a:bodyPr wrap="none" lIns="0" tIns="0" rIns="0" bIns="0" rtlCol="0" anchor="t"/>
          <a:lstStyle/>
          <a:p>
            <a:pPr marL="0" indent="0" algn="l">
              <a:lnSpc>
                <a:spcPts val="1050"/>
              </a:lnSpc>
              <a:buNone/>
            </a:pPr>
            <a:r>
              <a:rPr lang="en-US" sz="780" kern="0" spc="15" dirty="0">
                <a:solidFill>
                  <a:srgbClr val="6F6A66"/>
                </a:solidFill>
                <a:latin typeface="Quicksand" pitchFamily="34" charset="0"/>
              </a:rPr>
              <a:t>Not disclosed</a:t>
            </a:r>
            <a:endParaRPr lang="en-US" sz="780" dirty="0"/>
          </a:p>
        </p:txBody>
      </p:sp>
      <p:sp>
        <p:nvSpPr>
          <p:cNvPr id="68" name="Text 67"/>
          <p:cNvSpPr txBox="1"/>
          <p:nvPr/>
        </p:nvSpPr>
        <p:spPr>
          <a:xfrm>
            <a:off x="8572500" y="3729633"/>
            <a:ext cx="1066800" cy="133350"/>
          </a:xfrm>
          <a:prstGeom prst="rect">
            <a:avLst/>
          </a:prstGeom>
          <a:noFill/>
          <a:ln/>
        </p:spPr>
        <p:txBody>
          <a:bodyPr wrap="none" lIns="0" tIns="0" rIns="0" bIns="0" rtlCol="0" anchor="t"/>
          <a:lstStyle/>
          <a:p>
            <a:pPr marL="0" indent="0" algn="l">
              <a:lnSpc>
                <a:spcPts val="1050"/>
              </a:lnSpc>
              <a:buNone/>
            </a:pPr>
            <a:r>
              <a:rPr lang="en-US" sz="780" kern="0" spc="15" dirty="0">
                <a:solidFill>
                  <a:srgbClr val="6F6A66"/>
                </a:solidFill>
                <a:latin typeface="Quicksand" pitchFamily="34" charset="0"/>
              </a:rPr>
              <a:t>Not disclosed</a:t>
            </a:r>
            <a:endParaRPr lang="en-US" sz="780" dirty="0"/>
          </a:p>
        </p:txBody>
      </p:sp>
      <p:sp>
        <p:nvSpPr>
          <p:cNvPr id="69" name="Shape 68"/>
          <p:cNvSpPr/>
          <p:nvPr/>
        </p:nvSpPr>
        <p:spPr>
          <a:xfrm>
            <a:off x="419100" y="5136952"/>
            <a:ext cx="9220200" cy="9525"/>
          </a:xfrm>
          <a:prstGeom prst="rect">
            <a:avLst/>
          </a:prstGeom>
          <a:solidFill>
            <a:srgbClr val="E3DCD3"/>
          </a:solidFill>
          <a:ln/>
        </p:spPr>
        <p:txBody>
          <a:bodyPr/>
          <a:lstStyle/>
          <a:p>
            <a:endParaRPr lang="en-US"/>
          </a:p>
        </p:txBody>
      </p:sp>
      <p:sp>
        <p:nvSpPr>
          <p:cNvPr id="70" name="Shape 69"/>
          <p:cNvSpPr/>
          <p:nvPr/>
        </p:nvSpPr>
        <p:spPr>
          <a:xfrm>
            <a:off x="419100" y="4387602"/>
            <a:ext cx="647551" cy="209550"/>
          </a:xfrm>
          <a:prstGeom prst="rect">
            <a:avLst/>
          </a:prstGeom>
          <a:solidFill>
            <a:srgbClr val="1B1A1A"/>
          </a:solidFill>
          <a:ln/>
        </p:spPr>
        <p:txBody>
          <a:bodyPr/>
          <a:lstStyle/>
          <a:p>
            <a:endParaRPr lang="en-US"/>
          </a:p>
        </p:txBody>
      </p:sp>
      <p:sp>
        <p:nvSpPr>
          <p:cNvPr id="71" name="Text 70"/>
          <p:cNvSpPr txBox="1"/>
          <p:nvPr/>
        </p:nvSpPr>
        <p:spPr>
          <a:xfrm>
            <a:off x="504825" y="4430464"/>
            <a:ext cx="533251" cy="114300"/>
          </a:xfrm>
          <a:prstGeom prst="rect">
            <a:avLst/>
          </a:prstGeom>
          <a:noFill/>
          <a:ln/>
        </p:spPr>
        <p:txBody>
          <a:bodyPr wrap="none" lIns="0" tIns="0" rIns="0" bIns="0" rtlCol="0" anchor="t"/>
          <a:lstStyle/>
          <a:p>
            <a:pPr marL="0" indent="0" algn="l">
              <a:lnSpc>
                <a:spcPts val="900"/>
              </a:lnSpc>
              <a:buNone/>
            </a:pPr>
            <a:r>
              <a:rPr lang="en-US" sz="638" b="1" kern="0" spc="120" dirty="0">
                <a:solidFill>
                  <a:srgbClr val="D3AE84"/>
                </a:solidFill>
                <a:latin typeface="Quicksand" pitchFamily="34" charset="0"/>
              </a:rPr>
              <a:t>FEB 2026</a:t>
            </a:r>
            <a:endParaRPr lang="en-US" sz="638" dirty="0"/>
          </a:p>
        </p:txBody>
      </p:sp>
      <p:pic>
        <p:nvPicPr>
          <p:cNvPr id="72" name="Icon" descr="/tmp/claude-0/-home-claude-about/4bef2f41-4227-5ff7-ab18-11ac74cd9797/scratchpad/pptx/ex/media/151feb1fc16e.png"/>
          <p:cNvPicPr>
            <a:picLocks noChangeAspect="1"/>
          </p:cNvPicPr>
          <p:nvPr/>
        </p:nvPicPr>
        <p:blipFill>
          <a:blip r:embed="rId8"/>
          <a:stretch>
            <a:fillRect/>
          </a:stretch>
        </p:blipFill>
        <p:spPr>
          <a:xfrm>
            <a:off x="419100" y="4673352"/>
            <a:ext cx="133350" cy="133350"/>
          </a:xfrm>
          <a:prstGeom prst="rect">
            <a:avLst/>
          </a:prstGeom>
        </p:spPr>
      </p:pic>
      <p:sp>
        <p:nvSpPr>
          <p:cNvPr id="73" name="Text 72"/>
          <p:cNvSpPr txBox="1"/>
          <p:nvPr/>
        </p:nvSpPr>
        <p:spPr>
          <a:xfrm>
            <a:off x="619125" y="4666208"/>
            <a:ext cx="804863" cy="328613"/>
          </a:xfrm>
          <a:prstGeom prst="rect">
            <a:avLst/>
          </a:prstGeom>
          <a:noFill/>
          <a:ln/>
        </p:spPr>
        <p:txBody>
          <a:bodyPr wrap="square" lIns="0" tIns="0" rIns="0" bIns="0" rtlCol="0" anchor="t"/>
          <a:lstStyle/>
          <a:p>
            <a:pPr marL="0" indent="0" algn="l">
              <a:lnSpc>
                <a:spcPts val="863"/>
              </a:lnSpc>
              <a:buNone/>
            </a:pPr>
            <a:r>
              <a:rPr lang="en-US" sz="615" b="1" kern="0" spc="75" dirty="0">
                <a:solidFill>
                  <a:srgbClr val="8C6239"/>
                </a:solidFill>
                <a:latin typeface="Quicksand" pitchFamily="34" charset="0"/>
              </a:rPr>
              <a:t>CONSUMER SERVICES &amp; RETAIL</a:t>
            </a:r>
            <a:endParaRPr lang="en-US" sz="615" dirty="0"/>
          </a:p>
        </p:txBody>
      </p:sp>
      <p:sp>
        <p:nvSpPr>
          <p:cNvPr id="74" name="Shape 73"/>
          <p:cNvSpPr/>
          <p:nvPr/>
        </p:nvSpPr>
        <p:spPr>
          <a:xfrm>
            <a:off x="1543050" y="4342358"/>
            <a:ext cx="1905000" cy="285750"/>
          </a:xfrm>
          <a:prstGeom prst="rect">
            <a:avLst/>
          </a:prstGeom>
          <a:solidFill>
            <a:srgbClr val="FAF7F3"/>
          </a:solidFill>
          <a:ln/>
        </p:spPr>
        <p:txBody>
          <a:bodyPr/>
          <a:lstStyle/>
          <a:p>
            <a:endParaRPr lang="en-US"/>
          </a:p>
        </p:txBody>
      </p:sp>
      <p:sp>
        <p:nvSpPr>
          <p:cNvPr id="75" name="Shape 74"/>
          <p:cNvSpPr/>
          <p:nvPr/>
        </p:nvSpPr>
        <p:spPr>
          <a:xfrm>
            <a:off x="1547813" y="4347121"/>
            <a:ext cx="1895475" cy="276225"/>
          </a:xfrm>
          <a:prstGeom prst="rect">
            <a:avLst/>
          </a:prstGeom>
          <a:ln w="9525">
            <a:solidFill>
              <a:srgbClr val="E3DCD3"/>
            </a:solidFill>
            <a:prstDash val="solid"/>
          </a:ln>
        </p:spPr>
        <p:txBody>
          <a:bodyPr/>
          <a:lstStyle/>
          <a:p>
            <a:endParaRPr lang="en-US"/>
          </a:p>
        </p:txBody>
      </p:sp>
      <p:sp>
        <p:nvSpPr>
          <p:cNvPr id="76" name="Text 75"/>
          <p:cNvSpPr txBox="1"/>
          <p:nvPr/>
        </p:nvSpPr>
        <p:spPr>
          <a:xfrm>
            <a:off x="2024807" y="4423321"/>
            <a:ext cx="941487" cy="123825"/>
          </a:xfrm>
          <a:prstGeom prst="rect">
            <a:avLst/>
          </a:prstGeom>
          <a:noFill/>
          <a:ln/>
        </p:spPr>
        <p:txBody>
          <a:bodyPr wrap="none" lIns="0" tIns="0" rIns="0" bIns="0" rtlCol="0" anchor="t"/>
          <a:lstStyle/>
          <a:p>
            <a:pPr marL="0" indent="0" algn="ctr">
              <a:lnSpc>
                <a:spcPts val="975"/>
              </a:lnSpc>
              <a:buNone/>
            </a:pPr>
            <a:r>
              <a:rPr lang="en-US" sz="765" b="1" kern="0" spc="38" dirty="0">
                <a:solidFill>
                  <a:srgbClr val="1B1A1A"/>
                </a:solidFill>
                <a:latin typeface="Quicksand" pitchFamily="34" charset="0"/>
              </a:rPr>
              <a:t>MISTER CAR WASH</a:t>
            </a:r>
            <a:endParaRPr lang="en-US" sz="765" dirty="0"/>
          </a:p>
        </p:txBody>
      </p:sp>
      <p:sp>
        <p:nvSpPr>
          <p:cNvPr id="77" name="Text 76"/>
          <p:cNvSpPr txBox="1"/>
          <p:nvPr/>
        </p:nvSpPr>
        <p:spPr>
          <a:xfrm>
            <a:off x="1543050" y="4628108"/>
            <a:ext cx="1905000" cy="133350"/>
          </a:xfrm>
          <a:prstGeom prst="rect">
            <a:avLst/>
          </a:prstGeom>
          <a:noFill/>
          <a:ln/>
        </p:spPr>
        <p:txBody>
          <a:bodyPr wrap="none" lIns="0" tIns="0" rIns="0" bIns="0" rtlCol="0" anchor="t"/>
          <a:lstStyle/>
          <a:p>
            <a:pPr marL="0" indent="0" algn="ctr">
              <a:lnSpc>
                <a:spcPts val="1050"/>
              </a:lnSpc>
              <a:buNone/>
            </a:pPr>
            <a:r>
              <a:rPr lang="en-US" sz="600" kern="0" spc="105" dirty="0">
                <a:solidFill>
                  <a:srgbClr val="6F6A66"/>
                </a:solidFill>
                <a:latin typeface="Quicksand" pitchFamily="34" charset="0"/>
              </a:rPr>
              <a:t>ACQUIRED BY</a:t>
            </a:r>
            <a:endParaRPr lang="en-US" sz="600" dirty="0"/>
          </a:p>
        </p:txBody>
      </p:sp>
      <p:sp>
        <p:nvSpPr>
          <p:cNvPr id="78" name="Shape 77"/>
          <p:cNvSpPr/>
          <p:nvPr/>
        </p:nvSpPr>
        <p:spPr>
          <a:xfrm>
            <a:off x="1543050" y="4761458"/>
            <a:ext cx="1905000" cy="285750"/>
          </a:xfrm>
          <a:prstGeom prst="rect">
            <a:avLst/>
          </a:prstGeom>
          <a:solidFill>
            <a:srgbClr val="FFFFFF"/>
          </a:solidFill>
          <a:ln/>
        </p:spPr>
        <p:txBody>
          <a:bodyPr/>
          <a:lstStyle/>
          <a:p>
            <a:endParaRPr lang="en-US"/>
          </a:p>
        </p:txBody>
      </p:sp>
      <p:sp>
        <p:nvSpPr>
          <p:cNvPr id="79" name="Shape 78"/>
          <p:cNvSpPr/>
          <p:nvPr/>
        </p:nvSpPr>
        <p:spPr>
          <a:xfrm>
            <a:off x="1547813" y="4766221"/>
            <a:ext cx="1895475" cy="276225"/>
          </a:xfrm>
          <a:prstGeom prst="rect">
            <a:avLst/>
          </a:prstGeom>
          <a:ln w="9525">
            <a:solidFill>
              <a:srgbClr val="C3BDB6"/>
            </a:solidFill>
            <a:prstDash val="solid"/>
          </a:ln>
        </p:spPr>
        <p:txBody>
          <a:bodyPr/>
          <a:lstStyle/>
          <a:p>
            <a:endParaRPr lang="en-US"/>
          </a:p>
        </p:txBody>
      </p:sp>
      <p:sp>
        <p:nvSpPr>
          <p:cNvPr id="80" name="Text 79"/>
          <p:cNvSpPr txBox="1"/>
          <p:nvPr/>
        </p:nvSpPr>
        <p:spPr>
          <a:xfrm>
            <a:off x="1731318" y="4842421"/>
            <a:ext cx="1528316" cy="123825"/>
          </a:xfrm>
          <a:prstGeom prst="rect">
            <a:avLst/>
          </a:prstGeom>
          <a:noFill/>
          <a:ln/>
        </p:spPr>
        <p:txBody>
          <a:bodyPr wrap="none" lIns="0" tIns="0" rIns="0" bIns="0" rtlCol="0" anchor="t"/>
          <a:lstStyle/>
          <a:p>
            <a:pPr marL="0" indent="0" algn="ctr">
              <a:lnSpc>
                <a:spcPts val="975"/>
              </a:lnSpc>
              <a:buNone/>
            </a:pPr>
            <a:r>
              <a:rPr lang="en-US" sz="765" b="1" kern="0" spc="38" dirty="0">
                <a:solidFill>
                  <a:srgbClr val="1B1A1A"/>
                </a:solidFill>
                <a:latin typeface="Quicksand" pitchFamily="34" charset="0"/>
              </a:rPr>
              <a:t>LEONARD GREEN &amp; PARTNERS</a:t>
            </a:r>
            <a:endParaRPr lang="en-US" sz="765" dirty="0"/>
          </a:p>
        </p:txBody>
      </p:sp>
      <p:sp>
        <p:nvSpPr>
          <p:cNvPr id="81" name="Text 80"/>
          <p:cNvSpPr txBox="1"/>
          <p:nvPr/>
        </p:nvSpPr>
        <p:spPr>
          <a:xfrm>
            <a:off x="3581400" y="4254639"/>
            <a:ext cx="2662238" cy="868829"/>
          </a:xfrm>
          <a:prstGeom prst="rect">
            <a:avLst/>
          </a:prstGeom>
          <a:noFill/>
          <a:ln/>
        </p:spPr>
        <p:txBody>
          <a:bodyPr wrap="square" lIns="0" tIns="0" rIns="0" bIns="0" rtlCol="0" anchor="t"/>
          <a:lstStyle/>
          <a:p>
            <a:pPr marL="0" indent="0" algn="l">
              <a:lnSpc>
                <a:spcPts val="1140"/>
              </a:lnSpc>
              <a:buNone/>
            </a:pPr>
            <a:r>
              <a:rPr lang="en-US" sz="795" kern="0" spc="15" dirty="0">
                <a:solidFill>
                  <a:srgbClr val="333231"/>
                </a:solidFill>
                <a:latin typeface="Quicksand" pitchFamily="34" charset="0"/>
              </a:rPr>
              <a:t>Leonard Green agreed in February to take Mister Car Wash private at $7.00 per share and completed the purchase on May 19, when the company had about 550 locations and about 2.5 million subscription members (</a:t>
            </a:r>
            <a:r>
              <a:rPr lang="en-US" sz="795" u="sng" kern="0" spc="15" dirty="0">
                <a:solidFill>
                  <a:srgbClr val="8C6239"/>
                </a:solidFill>
                <a:latin typeface="Quicksand" pitchFamily="34" charset="0"/>
                <a:hlinkClick r:id="rId9">
                  <a:extLst>
                    <a:ext uri="{A12FA001-AC4F-418D-AE19-62706E023703}">
                      <ahyp:hlinkClr xmlns:ahyp="http://schemas.microsoft.com/office/drawing/2018/hyperlinkcolor" val="tx"/>
                    </a:ext>
                  </a:extLst>
                </a:hlinkClick>
              </a:rPr>
              <a:t>Mister Car Wash and Leonard Green</a:t>
            </a:r>
            <a:r>
              <a:rPr lang="en-US" sz="795" kern="0" spc="15" dirty="0">
                <a:solidFill>
                  <a:srgbClr val="333231"/>
                </a:solidFill>
                <a:latin typeface="Quicksand" pitchFamily="34" charset="0"/>
              </a:rPr>
              <a:t>; </a:t>
            </a:r>
            <a:r>
              <a:rPr lang="en-US" sz="795" u="sng" kern="0" spc="15" dirty="0">
                <a:solidFill>
                  <a:srgbClr val="8C6239"/>
                </a:solidFill>
                <a:latin typeface="Quicksand" pitchFamily="34" charset="0"/>
                <a:hlinkClick r:id="rId10">
                  <a:extLst>
                    <a:ext uri="{A12FA001-AC4F-418D-AE19-62706E023703}">
                      <ahyp:hlinkClr xmlns:ahyp="http://schemas.microsoft.com/office/drawing/2018/hyperlinkcolor" val="tx"/>
                    </a:ext>
                  </a:extLst>
                </a:hlinkClick>
              </a:rPr>
              <a:t>Mister Car Wash results</a:t>
            </a:r>
            <a:r>
              <a:rPr lang="en-US" sz="795" kern="0" spc="15" dirty="0">
                <a:solidFill>
                  <a:srgbClr val="333231"/>
                </a:solidFill>
                <a:latin typeface="Quicksand" pitchFamily="34" charset="0"/>
              </a:rPr>
              <a:t>).</a:t>
            </a:r>
            <a:endParaRPr lang="en-US" sz="795" dirty="0"/>
          </a:p>
        </p:txBody>
      </p:sp>
      <p:sp>
        <p:nvSpPr>
          <p:cNvPr id="82" name="Text 81"/>
          <p:cNvSpPr txBox="1"/>
          <p:nvPr/>
        </p:nvSpPr>
        <p:spPr>
          <a:xfrm>
            <a:off x="6362700" y="4486184"/>
            <a:ext cx="1066800" cy="190500"/>
          </a:xfrm>
          <a:prstGeom prst="rect">
            <a:avLst/>
          </a:prstGeom>
          <a:noFill/>
          <a:ln/>
        </p:spPr>
        <p:txBody>
          <a:bodyPr wrap="none" lIns="0" tIns="0" rIns="0" bIns="0" rtlCol="0" anchor="t"/>
          <a:lstStyle/>
          <a:p>
            <a:pPr marL="0" indent="0" algn="l">
              <a:lnSpc>
                <a:spcPts val="1500"/>
              </a:lnSpc>
              <a:buNone/>
            </a:pPr>
            <a:r>
              <a:rPr lang="en-US" sz="1200" kern="0" spc="15" dirty="0">
                <a:solidFill>
                  <a:srgbClr val="8C6239"/>
                </a:solidFill>
                <a:latin typeface="Newsreader SemiBold" pitchFamily="34" charset="0"/>
              </a:rPr>
              <a:t>$3.1B</a:t>
            </a:r>
            <a:endParaRPr lang="en-US" sz="1200" dirty="0"/>
          </a:p>
        </p:txBody>
      </p:sp>
      <p:sp>
        <p:nvSpPr>
          <p:cNvPr id="83" name="Text 82"/>
          <p:cNvSpPr txBox="1"/>
          <p:nvPr/>
        </p:nvSpPr>
        <p:spPr>
          <a:xfrm>
            <a:off x="6362700" y="4732883"/>
            <a:ext cx="1066800" cy="109538"/>
          </a:xfrm>
          <a:prstGeom prst="rect">
            <a:avLst/>
          </a:prstGeom>
          <a:noFill/>
          <a:ln/>
        </p:spPr>
        <p:txBody>
          <a:bodyPr wrap="none" lIns="0" tIns="0" rIns="0" bIns="0" rtlCol="0" anchor="t"/>
          <a:lstStyle/>
          <a:p>
            <a:pPr marL="0" indent="0" algn="l">
              <a:lnSpc>
                <a:spcPts val="863"/>
              </a:lnSpc>
              <a:buNone/>
            </a:pPr>
            <a:r>
              <a:rPr lang="en-US" sz="645" kern="0" spc="15" dirty="0">
                <a:solidFill>
                  <a:srgbClr val="6F6A66"/>
                </a:solidFill>
                <a:latin typeface="Quicksand" pitchFamily="34" charset="0"/>
              </a:rPr>
              <a:t>enterprise value</a:t>
            </a:r>
            <a:endParaRPr lang="en-US" sz="645" dirty="0"/>
          </a:p>
        </p:txBody>
      </p:sp>
      <p:sp>
        <p:nvSpPr>
          <p:cNvPr id="86" name="Shape 85"/>
          <p:cNvSpPr/>
          <p:nvPr/>
        </p:nvSpPr>
        <p:spPr>
          <a:xfrm>
            <a:off x="419100" y="6030664"/>
            <a:ext cx="9220200" cy="9525"/>
          </a:xfrm>
          <a:prstGeom prst="rect">
            <a:avLst/>
          </a:prstGeom>
          <a:solidFill>
            <a:srgbClr val="E3DCD3"/>
          </a:solidFill>
          <a:ln/>
        </p:spPr>
        <p:txBody>
          <a:bodyPr/>
          <a:lstStyle/>
          <a:p>
            <a:endParaRPr lang="en-US"/>
          </a:p>
        </p:txBody>
      </p:sp>
      <p:sp>
        <p:nvSpPr>
          <p:cNvPr id="87" name="Shape 86"/>
          <p:cNvSpPr/>
          <p:nvPr/>
        </p:nvSpPr>
        <p:spPr>
          <a:xfrm>
            <a:off x="419100" y="5281315"/>
            <a:ext cx="676424" cy="209550"/>
          </a:xfrm>
          <a:prstGeom prst="rect">
            <a:avLst/>
          </a:prstGeom>
          <a:solidFill>
            <a:srgbClr val="1B1A1A"/>
          </a:solidFill>
          <a:ln/>
        </p:spPr>
        <p:txBody>
          <a:bodyPr/>
          <a:lstStyle/>
          <a:p>
            <a:endParaRPr lang="en-US"/>
          </a:p>
        </p:txBody>
      </p:sp>
      <p:sp>
        <p:nvSpPr>
          <p:cNvPr id="88" name="Text 87"/>
          <p:cNvSpPr txBox="1"/>
          <p:nvPr/>
        </p:nvSpPr>
        <p:spPr>
          <a:xfrm>
            <a:off x="504825" y="5324177"/>
            <a:ext cx="562124" cy="114300"/>
          </a:xfrm>
          <a:prstGeom prst="rect">
            <a:avLst/>
          </a:prstGeom>
          <a:noFill/>
          <a:ln/>
        </p:spPr>
        <p:txBody>
          <a:bodyPr wrap="none" lIns="0" tIns="0" rIns="0" bIns="0" rtlCol="0" anchor="t"/>
          <a:lstStyle/>
          <a:p>
            <a:pPr marL="0" indent="0" algn="l">
              <a:lnSpc>
                <a:spcPts val="900"/>
              </a:lnSpc>
              <a:buNone/>
            </a:pPr>
            <a:r>
              <a:rPr lang="en-US" sz="638" b="1" kern="0" spc="120" dirty="0">
                <a:solidFill>
                  <a:srgbClr val="D3AE84"/>
                </a:solidFill>
                <a:latin typeface="Quicksand" pitchFamily="34" charset="0"/>
              </a:rPr>
              <a:t>MAR 2026</a:t>
            </a:r>
            <a:endParaRPr lang="en-US" sz="638" dirty="0"/>
          </a:p>
        </p:txBody>
      </p:sp>
      <p:pic>
        <p:nvPicPr>
          <p:cNvPr id="89" name="Icon" descr="/tmp/claude-0/-home-claude-about/4bef2f41-4227-5ff7-ab18-11ac74cd9797/scratchpad/pptx/ex/media/151feb1fc16e.png"/>
          <p:cNvPicPr>
            <a:picLocks noChangeAspect="1"/>
          </p:cNvPicPr>
          <p:nvPr/>
        </p:nvPicPr>
        <p:blipFill>
          <a:blip r:embed="rId8"/>
          <a:stretch>
            <a:fillRect/>
          </a:stretch>
        </p:blipFill>
        <p:spPr>
          <a:xfrm>
            <a:off x="419100" y="5567065"/>
            <a:ext cx="133350" cy="133350"/>
          </a:xfrm>
          <a:prstGeom prst="rect">
            <a:avLst/>
          </a:prstGeom>
        </p:spPr>
      </p:pic>
      <p:sp>
        <p:nvSpPr>
          <p:cNvPr id="90" name="Text 89"/>
          <p:cNvSpPr txBox="1"/>
          <p:nvPr/>
        </p:nvSpPr>
        <p:spPr>
          <a:xfrm>
            <a:off x="619125" y="5559921"/>
            <a:ext cx="804863" cy="328613"/>
          </a:xfrm>
          <a:prstGeom prst="rect">
            <a:avLst/>
          </a:prstGeom>
          <a:noFill/>
          <a:ln/>
        </p:spPr>
        <p:txBody>
          <a:bodyPr wrap="square" lIns="0" tIns="0" rIns="0" bIns="0" rtlCol="0" anchor="t"/>
          <a:lstStyle/>
          <a:p>
            <a:pPr marL="0" indent="0" algn="l">
              <a:lnSpc>
                <a:spcPts val="863"/>
              </a:lnSpc>
              <a:buNone/>
            </a:pPr>
            <a:r>
              <a:rPr lang="en-US" sz="615" b="1" kern="0" spc="75" dirty="0">
                <a:solidFill>
                  <a:srgbClr val="8C6239"/>
                </a:solidFill>
                <a:latin typeface="Quicksand" pitchFamily="34" charset="0"/>
              </a:rPr>
              <a:t>CONSUMER SERVICES &amp; RETAIL</a:t>
            </a:r>
            <a:endParaRPr lang="en-US" sz="615" dirty="0"/>
          </a:p>
        </p:txBody>
      </p:sp>
      <p:sp>
        <p:nvSpPr>
          <p:cNvPr id="91" name="Shape 90"/>
          <p:cNvSpPr/>
          <p:nvPr/>
        </p:nvSpPr>
        <p:spPr>
          <a:xfrm>
            <a:off x="1543050" y="5236071"/>
            <a:ext cx="1905000" cy="285750"/>
          </a:xfrm>
          <a:prstGeom prst="rect">
            <a:avLst/>
          </a:prstGeom>
          <a:solidFill>
            <a:srgbClr val="FAF7F3"/>
          </a:solidFill>
          <a:ln/>
        </p:spPr>
        <p:txBody>
          <a:bodyPr/>
          <a:lstStyle/>
          <a:p>
            <a:endParaRPr lang="en-US"/>
          </a:p>
        </p:txBody>
      </p:sp>
      <p:sp>
        <p:nvSpPr>
          <p:cNvPr id="92" name="Shape 91"/>
          <p:cNvSpPr/>
          <p:nvPr/>
        </p:nvSpPr>
        <p:spPr>
          <a:xfrm>
            <a:off x="1547813" y="5240834"/>
            <a:ext cx="1895475" cy="276225"/>
          </a:xfrm>
          <a:prstGeom prst="rect">
            <a:avLst/>
          </a:prstGeom>
          <a:ln w="9525">
            <a:solidFill>
              <a:srgbClr val="E3DCD3"/>
            </a:solidFill>
            <a:prstDash val="solid"/>
          </a:ln>
        </p:spPr>
        <p:txBody>
          <a:bodyPr/>
          <a:lstStyle/>
          <a:p>
            <a:endParaRPr lang="en-US"/>
          </a:p>
        </p:txBody>
      </p:sp>
      <p:sp>
        <p:nvSpPr>
          <p:cNvPr id="93" name="Text 92"/>
          <p:cNvSpPr txBox="1"/>
          <p:nvPr/>
        </p:nvSpPr>
        <p:spPr>
          <a:xfrm>
            <a:off x="1924943" y="5317034"/>
            <a:ext cx="1141214" cy="123825"/>
          </a:xfrm>
          <a:prstGeom prst="rect">
            <a:avLst/>
          </a:prstGeom>
          <a:noFill/>
          <a:ln/>
        </p:spPr>
        <p:txBody>
          <a:bodyPr wrap="none" lIns="0" tIns="0" rIns="0" bIns="0" rtlCol="0" anchor="t"/>
          <a:lstStyle/>
          <a:p>
            <a:pPr marL="0" indent="0" algn="ctr">
              <a:lnSpc>
                <a:spcPts val="975"/>
              </a:lnSpc>
              <a:buNone/>
            </a:pPr>
            <a:r>
              <a:rPr lang="en-US" sz="765" b="1" kern="0" spc="38" dirty="0">
                <a:solidFill>
                  <a:srgbClr val="1B1A1A"/>
                </a:solidFill>
                <a:latin typeface="Quicksand" pitchFamily="34" charset="0"/>
              </a:rPr>
              <a:t>GUILD GARAGE GROUP</a:t>
            </a:r>
            <a:endParaRPr lang="en-US" sz="765" dirty="0"/>
          </a:p>
        </p:txBody>
      </p:sp>
      <p:sp>
        <p:nvSpPr>
          <p:cNvPr id="94" name="Text 93"/>
          <p:cNvSpPr txBox="1"/>
          <p:nvPr/>
        </p:nvSpPr>
        <p:spPr>
          <a:xfrm>
            <a:off x="1543050" y="5521821"/>
            <a:ext cx="1905000" cy="133350"/>
          </a:xfrm>
          <a:prstGeom prst="rect">
            <a:avLst/>
          </a:prstGeom>
          <a:noFill/>
          <a:ln/>
        </p:spPr>
        <p:txBody>
          <a:bodyPr wrap="none" lIns="0" tIns="0" rIns="0" bIns="0" rtlCol="0" anchor="t"/>
          <a:lstStyle/>
          <a:p>
            <a:pPr marL="0" indent="0" algn="ctr">
              <a:lnSpc>
                <a:spcPts val="1050"/>
              </a:lnSpc>
              <a:buNone/>
            </a:pPr>
            <a:r>
              <a:rPr lang="en-US" sz="600" kern="0" spc="105" dirty="0">
                <a:solidFill>
                  <a:srgbClr val="6F6A66"/>
                </a:solidFill>
                <a:latin typeface="Quicksand" pitchFamily="34" charset="0"/>
              </a:rPr>
              <a:t>ACQUIRED BY</a:t>
            </a:r>
            <a:endParaRPr lang="en-US" sz="600" dirty="0"/>
          </a:p>
        </p:txBody>
      </p:sp>
      <p:sp>
        <p:nvSpPr>
          <p:cNvPr id="95" name="Shape 94"/>
          <p:cNvSpPr/>
          <p:nvPr/>
        </p:nvSpPr>
        <p:spPr>
          <a:xfrm>
            <a:off x="1543050" y="5655171"/>
            <a:ext cx="1905000" cy="285750"/>
          </a:xfrm>
          <a:prstGeom prst="rect">
            <a:avLst/>
          </a:prstGeom>
          <a:solidFill>
            <a:srgbClr val="FFFFFF"/>
          </a:solidFill>
          <a:ln/>
        </p:spPr>
        <p:txBody>
          <a:bodyPr/>
          <a:lstStyle/>
          <a:p>
            <a:endParaRPr lang="en-US"/>
          </a:p>
        </p:txBody>
      </p:sp>
      <p:sp>
        <p:nvSpPr>
          <p:cNvPr id="96" name="Shape 95"/>
          <p:cNvSpPr/>
          <p:nvPr/>
        </p:nvSpPr>
        <p:spPr>
          <a:xfrm>
            <a:off x="1547813" y="5659934"/>
            <a:ext cx="1895475" cy="276225"/>
          </a:xfrm>
          <a:prstGeom prst="rect">
            <a:avLst/>
          </a:prstGeom>
          <a:ln w="9525">
            <a:solidFill>
              <a:srgbClr val="C3BDB6"/>
            </a:solidFill>
            <a:prstDash val="solid"/>
          </a:ln>
        </p:spPr>
        <p:txBody>
          <a:bodyPr/>
          <a:lstStyle/>
          <a:p>
            <a:endParaRPr lang="en-US"/>
          </a:p>
        </p:txBody>
      </p:sp>
      <p:sp>
        <p:nvSpPr>
          <p:cNvPr id="97" name="Text 96"/>
          <p:cNvSpPr txBox="1"/>
          <p:nvPr/>
        </p:nvSpPr>
        <p:spPr>
          <a:xfrm>
            <a:off x="2037904" y="5736134"/>
            <a:ext cx="915293" cy="123825"/>
          </a:xfrm>
          <a:prstGeom prst="rect">
            <a:avLst/>
          </a:prstGeom>
          <a:noFill/>
          <a:ln/>
        </p:spPr>
        <p:txBody>
          <a:bodyPr wrap="none" lIns="0" tIns="0" rIns="0" bIns="0" rtlCol="0" anchor="t"/>
          <a:lstStyle/>
          <a:p>
            <a:pPr marL="0" indent="0" algn="ctr">
              <a:lnSpc>
                <a:spcPts val="975"/>
              </a:lnSpc>
              <a:buNone/>
            </a:pPr>
            <a:r>
              <a:rPr lang="en-US" sz="765" b="1" kern="0" spc="38" dirty="0">
                <a:solidFill>
                  <a:srgbClr val="1B1A1A"/>
                </a:solidFill>
                <a:latin typeface="Quicksand" pitchFamily="34" charset="0"/>
              </a:rPr>
              <a:t>OAK HILL CAPITAL</a:t>
            </a:r>
            <a:endParaRPr lang="en-US" sz="765" dirty="0"/>
          </a:p>
        </p:txBody>
      </p:sp>
      <p:sp>
        <p:nvSpPr>
          <p:cNvPr id="98" name="Text 97"/>
          <p:cNvSpPr txBox="1"/>
          <p:nvPr/>
        </p:nvSpPr>
        <p:spPr>
          <a:xfrm>
            <a:off x="3581400" y="5148352"/>
            <a:ext cx="2662238" cy="868829"/>
          </a:xfrm>
          <a:prstGeom prst="rect">
            <a:avLst/>
          </a:prstGeom>
          <a:noFill/>
          <a:ln/>
        </p:spPr>
        <p:txBody>
          <a:bodyPr wrap="square" lIns="0" tIns="0" rIns="0" bIns="0" rtlCol="0" anchor="t"/>
          <a:lstStyle/>
          <a:p>
            <a:pPr marL="0" indent="0" algn="l">
              <a:lnSpc>
                <a:spcPts val="1140"/>
              </a:lnSpc>
              <a:buNone/>
            </a:pPr>
            <a:r>
              <a:rPr lang="en-US" sz="795" kern="0" spc="15" dirty="0">
                <a:solidFill>
                  <a:srgbClr val="333231"/>
                </a:solidFill>
                <a:latin typeface="Quicksand" pitchFamily="34" charset="0"/>
              </a:rPr>
              <a:t>Oak Hill agreed to buy Guild Garage Group, a two-year-old platform assembled from nearly 30 garage door companies, which reportedly generates revenue above $300 million and EBITDA close to $50 million, at a price PitchBook News </a:t>
            </a:r>
            <a:r>
              <a:rPr lang="en-US" sz="795" u="sng" kern="0" spc="15" dirty="0">
                <a:solidFill>
                  <a:srgbClr val="8C6239"/>
                </a:solidFill>
                <a:latin typeface="Quicksand" pitchFamily="34" charset="0"/>
                <a:hlinkClick r:id="rId11">
                  <a:extLst>
                    <a:ext uri="{A12FA001-AC4F-418D-AE19-62706E023703}">
                      <ahyp:hlinkClr xmlns:ahyp="http://schemas.microsoft.com/office/drawing/2018/hyperlinkcolor" val="tx"/>
                    </a:ext>
                  </a:extLst>
                </a:hlinkClick>
              </a:rPr>
              <a:t>described as 16 times EBITDA</a:t>
            </a:r>
            <a:r>
              <a:rPr lang="en-US" sz="795" kern="0" spc="15" dirty="0">
                <a:solidFill>
                  <a:srgbClr val="333231"/>
                </a:solidFill>
                <a:latin typeface="Quicksand" pitchFamily="34" charset="0"/>
              </a:rPr>
              <a:t> (</a:t>
            </a:r>
            <a:r>
              <a:rPr lang="en-US" sz="795" u="sng" kern="0" spc="15" dirty="0">
                <a:solidFill>
                  <a:srgbClr val="8C6239"/>
                </a:solidFill>
                <a:latin typeface="Quicksand" pitchFamily="34" charset="0"/>
                <a:hlinkClick r:id="rId12">
                  <a:extLst>
                    <a:ext uri="{A12FA001-AC4F-418D-AE19-62706E023703}">
                      <ahyp:hlinkClr xmlns:ahyp="http://schemas.microsoft.com/office/drawing/2018/hyperlinkcolor" val="tx"/>
                    </a:ext>
                  </a:extLst>
                </a:hlinkClick>
              </a:rPr>
              <a:t>Oak Hill and Guild Garage Group</a:t>
            </a:r>
            <a:r>
              <a:rPr lang="en-US" sz="795" kern="0" spc="15" dirty="0">
                <a:solidFill>
                  <a:srgbClr val="333231"/>
                </a:solidFill>
                <a:latin typeface="Quicksand" pitchFamily="34" charset="0"/>
              </a:rPr>
              <a:t>).</a:t>
            </a:r>
            <a:endParaRPr lang="en-US" sz="795" dirty="0"/>
          </a:p>
        </p:txBody>
      </p:sp>
      <p:sp>
        <p:nvSpPr>
          <p:cNvPr id="99" name="Text 98"/>
          <p:cNvSpPr txBox="1"/>
          <p:nvPr/>
        </p:nvSpPr>
        <p:spPr>
          <a:xfrm>
            <a:off x="6362700" y="5438477"/>
            <a:ext cx="1066800" cy="190500"/>
          </a:xfrm>
          <a:prstGeom prst="rect">
            <a:avLst/>
          </a:prstGeom>
          <a:noFill/>
          <a:ln/>
        </p:spPr>
        <p:txBody>
          <a:bodyPr wrap="none" lIns="0" tIns="0" rIns="0" bIns="0" rtlCol="0" anchor="t"/>
          <a:lstStyle/>
          <a:p>
            <a:pPr marL="0" indent="0" algn="l">
              <a:lnSpc>
                <a:spcPts val="1500"/>
              </a:lnSpc>
              <a:buNone/>
            </a:pPr>
            <a:r>
              <a:rPr lang="en-US" sz="1200" kern="0" spc="15" dirty="0">
                <a:solidFill>
                  <a:srgbClr val="8C6239"/>
                </a:solidFill>
                <a:latin typeface="Newsreader SemiBold" pitchFamily="34" charset="0"/>
              </a:rPr>
              <a:t>$800M+</a:t>
            </a:r>
            <a:endParaRPr lang="en-US" sz="1200" dirty="0"/>
          </a:p>
        </p:txBody>
      </p:sp>
      <p:sp>
        <p:nvSpPr>
          <p:cNvPr id="100" name="Text 99"/>
          <p:cNvSpPr txBox="1"/>
          <p:nvPr/>
        </p:nvSpPr>
        <p:spPr>
          <a:xfrm>
            <a:off x="6362700" y="5626596"/>
            <a:ext cx="1066800" cy="109538"/>
          </a:xfrm>
          <a:prstGeom prst="rect">
            <a:avLst/>
          </a:prstGeom>
          <a:noFill/>
          <a:ln/>
        </p:spPr>
        <p:txBody>
          <a:bodyPr wrap="none" lIns="0" tIns="0" rIns="0" bIns="0" rtlCol="0" anchor="t"/>
          <a:lstStyle/>
          <a:p>
            <a:pPr marL="0" indent="0" algn="l">
              <a:lnSpc>
                <a:spcPts val="863"/>
              </a:lnSpc>
              <a:buNone/>
            </a:pPr>
            <a:r>
              <a:rPr lang="en-US" sz="645" kern="0" spc="15" dirty="0">
                <a:solidFill>
                  <a:srgbClr val="6F6A66"/>
                </a:solidFill>
                <a:latin typeface="Quicksand" pitchFamily="34" charset="0"/>
              </a:rPr>
              <a:t>as reported</a:t>
            </a:r>
            <a:endParaRPr lang="en-US" sz="645" dirty="0"/>
          </a:p>
        </p:txBody>
      </p:sp>
      <p:sp>
        <p:nvSpPr>
          <p:cNvPr id="101" name="Text 100"/>
          <p:cNvSpPr txBox="1"/>
          <p:nvPr/>
        </p:nvSpPr>
        <p:spPr>
          <a:xfrm>
            <a:off x="7562850" y="5517059"/>
            <a:ext cx="876300" cy="133350"/>
          </a:xfrm>
          <a:prstGeom prst="rect">
            <a:avLst/>
          </a:prstGeom>
          <a:noFill/>
          <a:ln/>
        </p:spPr>
        <p:txBody>
          <a:bodyPr wrap="none" lIns="0" tIns="0" rIns="0" bIns="0" rtlCol="0" anchor="t"/>
          <a:lstStyle/>
          <a:p>
            <a:pPr marL="0" indent="0" algn="l">
              <a:lnSpc>
                <a:spcPts val="1050"/>
              </a:lnSpc>
              <a:buNone/>
            </a:pPr>
            <a:r>
              <a:rPr lang="en-US" sz="780" kern="0" spc="15" dirty="0">
                <a:solidFill>
                  <a:srgbClr val="6F6A66"/>
                </a:solidFill>
                <a:latin typeface="Quicksand" pitchFamily="34" charset="0"/>
              </a:rPr>
              <a:t>Not disclosed</a:t>
            </a:r>
            <a:endParaRPr lang="en-US" sz="780" dirty="0"/>
          </a:p>
        </p:txBody>
      </p:sp>
      <p:sp>
        <p:nvSpPr>
          <p:cNvPr id="102" name="Text 101"/>
          <p:cNvSpPr txBox="1"/>
          <p:nvPr/>
        </p:nvSpPr>
        <p:spPr>
          <a:xfrm>
            <a:off x="8572500" y="5383709"/>
            <a:ext cx="1066800" cy="190500"/>
          </a:xfrm>
          <a:prstGeom prst="rect">
            <a:avLst/>
          </a:prstGeom>
          <a:noFill/>
          <a:ln/>
        </p:spPr>
        <p:txBody>
          <a:bodyPr wrap="none" lIns="0" tIns="0" rIns="0" bIns="0" rtlCol="0" anchor="t"/>
          <a:lstStyle/>
          <a:p>
            <a:pPr marL="0" indent="0" algn="l">
              <a:lnSpc>
                <a:spcPts val="1500"/>
              </a:lnSpc>
              <a:buNone/>
            </a:pPr>
            <a:r>
              <a:rPr lang="en-US" sz="1200" kern="0" spc="15" dirty="0">
                <a:solidFill>
                  <a:srgbClr val="8C6239"/>
                </a:solidFill>
                <a:latin typeface="Newsreader SemiBold" pitchFamily="34" charset="0"/>
              </a:rPr>
              <a:t>16x</a:t>
            </a:r>
            <a:endParaRPr lang="en-US" sz="1200" dirty="0"/>
          </a:p>
        </p:txBody>
      </p:sp>
      <p:sp>
        <p:nvSpPr>
          <p:cNvPr id="103" name="Text 102"/>
          <p:cNvSpPr txBox="1"/>
          <p:nvPr/>
        </p:nvSpPr>
        <p:spPr>
          <a:xfrm>
            <a:off x="8572500" y="5571827"/>
            <a:ext cx="1081088" cy="219075"/>
          </a:xfrm>
          <a:prstGeom prst="rect">
            <a:avLst/>
          </a:prstGeom>
          <a:noFill/>
          <a:ln/>
        </p:spPr>
        <p:txBody>
          <a:bodyPr wrap="square" lIns="0" tIns="0" rIns="0" bIns="0" rtlCol="0" anchor="t"/>
          <a:lstStyle/>
          <a:p>
            <a:pPr marL="0" indent="0" algn="l">
              <a:lnSpc>
                <a:spcPts val="863"/>
              </a:lnSpc>
              <a:buNone/>
            </a:pPr>
            <a:r>
              <a:rPr lang="en-US" sz="645" kern="0" spc="15" dirty="0">
                <a:solidFill>
                  <a:srgbClr val="6F6A66"/>
                </a:solidFill>
                <a:latin typeface="Quicksand" pitchFamily="34" charset="0"/>
              </a:rPr>
              <a:t>EBITDA, as described by PitchBook News</a:t>
            </a:r>
            <a:endParaRPr lang="en-US" sz="645" dirty="0"/>
          </a:p>
        </p:txBody>
      </p:sp>
      <p:sp>
        <p:nvSpPr>
          <p:cNvPr id="104" name="Shape 103"/>
          <p:cNvSpPr/>
          <p:nvPr/>
        </p:nvSpPr>
        <p:spPr>
          <a:xfrm>
            <a:off x="419100" y="6924377"/>
            <a:ext cx="9220200" cy="9525"/>
          </a:xfrm>
          <a:prstGeom prst="rect">
            <a:avLst/>
          </a:prstGeom>
          <a:solidFill>
            <a:srgbClr val="E3DCD3"/>
          </a:solidFill>
          <a:ln/>
        </p:spPr>
        <p:txBody>
          <a:bodyPr/>
          <a:lstStyle/>
          <a:p>
            <a:endParaRPr lang="en-US"/>
          </a:p>
        </p:txBody>
      </p:sp>
      <p:sp>
        <p:nvSpPr>
          <p:cNvPr id="105" name="Shape 104"/>
          <p:cNvSpPr/>
          <p:nvPr/>
        </p:nvSpPr>
        <p:spPr>
          <a:xfrm>
            <a:off x="419100" y="6175028"/>
            <a:ext cx="658862" cy="209550"/>
          </a:xfrm>
          <a:prstGeom prst="rect">
            <a:avLst/>
          </a:prstGeom>
          <a:solidFill>
            <a:srgbClr val="1B1A1A"/>
          </a:solidFill>
          <a:ln/>
        </p:spPr>
        <p:txBody>
          <a:bodyPr/>
          <a:lstStyle/>
          <a:p>
            <a:endParaRPr lang="en-US"/>
          </a:p>
        </p:txBody>
      </p:sp>
      <p:sp>
        <p:nvSpPr>
          <p:cNvPr id="106" name="Text 105"/>
          <p:cNvSpPr txBox="1"/>
          <p:nvPr/>
        </p:nvSpPr>
        <p:spPr>
          <a:xfrm>
            <a:off x="504825" y="6217890"/>
            <a:ext cx="544562" cy="114300"/>
          </a:xfrm>
          <a:prstGeom prst="rect">
            <a:avLst/>
          </a:prstGeom>
          <a:noFill/>
          <a:ln/>
        </p:spPr>
        <p:txBody>
          <a:bodyPr wrap="none" lIns="0" tIns="0" rIns="0" bIns="0" rtlCol="0" anchor="t"/>
          <a:lstStyle/>
          <a:p>
            <a:pPr marL="0" indent="0" algn="l">
              <a:lnSpc>
                <a:spcPts val="900"/>
              </a:lnSpc>
              <a:buNone/>
            </a:pPr>
            <a:r>
              <a:rPr lang="en-US" sz="638" b="1" kern="0" spc="120" dirty="0">
                <a:solidFill>
                  <a:srgbClr val="D3AE84"/>
                </a:solidFill>
                <a:latin typeface="Quicksand" pitchFamily="34" charset="0"/>
              </a:rPr>
              <a:t>APR 2026</a:t>
            </a:r>
            <a:endParaRPr lang="en-US" sz="638" dirty="0"/>
          </a:p>
        </p:txBody>
      </p:sp>
      <p:pic>
        <p:nvPicPr>
          <p:cNvPr id="107" name="Icon" descr="/tmp/claude-0/-home-claude-about/4bef2f41-4227-5ff7-ab18-11ac74cd9797/scratchpad/pptx/ex/media/151feb1fc16e.png"/>
          <p:cNvPicPr>
            <a:picLocks noChangeAspect="1"/>
          </p:cNvPicPr>
          <p:nvPr/>
        </p:nvPicPr>
        <p:blipFill>
          <a:blip r:embed="rId8"/>
          <a:stretch>
            <a:fillRect/>
          </a:stretch>
        </p:blipFill>
        <p:spPr>
          <a:xfrm>
            <a:off x="419100" y="6460778"/>
            <a:ext cx="133350" cy="133350"/>
          </a:xfrm>
          <a:prstGeom prst="rect">
            <a:avLst/>
          </a:prstGeom>
        </p:spPr>
      </p:pic>
      <p:sp>
        <p:nvSpPr>
          <p:cNvPr id="108" name="Text 107"/>
          <p:cNvSpPr txBox="1"/>
          <p:nvPr/>
        </p:nvSpPr>
        <p:spPr>
          <a:xfrm>
            <a:off x="619125" y="6453634"/>
            <a:ext cx="804863" cy="328613"/>
          </a:xfrm>
          <a:prstGeom prst="rect">
            <a:avLst/>
          </a:prstGeom>
          <a:noFill/>
          <a:ln/>
        </p:spPr>
        <p:txBody>
          <a:bodyPr wrap="square" lIns="0" tIns="0" rIns="0" bIns="0" rtlCol="0" anchor="t"/>
          <a:lstStyle/>
          <a:p>
            <a:pPr marL="0" indent="0" algn="l">
              <a:lnSpc>
                <a:spcPts val="863"/>
              </a:lnSpc>
              <a:buNone/>
            </a:pPr>
            <a:r>
              <a:rPr lang="en-US" sz="615" b="1" kern="0" spc="75" dirty="0">
                <a:solidFill>
                  <a:srgbClr val="8C6239"/>
                </a:solidFill>
                <a:latin typeface="Quicksand" pitchFamily="34" charset="0"/>
              </a:rPr>
              <a:t>CONSUMER SERVICES &amp; RETAIL</a:t>
            </a:r>
            <a:endParaRPr lang="en-US" sz="615" dirty="0"/>
          </a:p>
        </p:txBody>
      </p:sp>
      <p:sp>
        <p:nvSpPr>
          <p:cNvPr id="109" name="Shape 108"/>
          <p:cNvSpPr/>
          <p:nvPr/>
        </p:nvSpPr>
        <p:spPr>
          <a:xfrm>
            <a:off x="1543050" y="6129784"/>
            <a:ext cx="1905000" cy="285750"/>
          </a:xfrm>
          <a:prstGeom prst="rect">
            <a:avLst/>
          </a:prstGeom>
          <a:solidFill>
            <a:srgbClr val="FAF7F3"/>
          </a:solidFill>
          <a:ln/>
        </p:spPr>
        <p:txBody>
          <a:bodyPr/>
          <a:lstStyle/>
          <a:p>
            <a:endParaRPr lang="en-US"/>
          </a:p>
        </p:txBody>
      </p:sp>
      <p:sp>
        <p:nvSpPr>
          <p:cNvPr id="110" name="Shape 109"/>
          <p:cNvSpPr/>
          <p:nvPr/>
        </p:nvSpPr>
        <p:spPr>
          <a:xfrm>
            <a:off x="1547813" y="6134546"/>
            <a:ext cx="1895475" cy="276225"/>
          </a:xfrm>
          <a:prstGeom prst="rect">
            <a:avLst/>
          </a:prstGeom>
          <a:ln w="9525">
            <a:solidFill>
              <a:srgbClr val="E3DCD3"/>
            </a:solidFill>
            <a:prstDash val="solid"/>
          </a:ln>
        </p:spPr>
        <p:txBody>
          <a:bodyPr/>
          <a:lstStyle/>
          <a:p>
            <a:endParaRPr lang="en-US"/>
          </a:p>
        </p:txBody>
      </p:sp>
      <p:sp>
        <p:nvSpPr>
          <p:cNvPr id="111" name="Text 110"/>
          <p:cNvSpPr txBox="1"/>
          <p:nvPr/>
        </p:nvSpPr>
        <p:spPr>
          <a:xfrm>
            <a:off x="1909911" y="6210746"/>
            <a:ext cx="1171129" cy="123825"/>
          </a:xfrm>
          <a:prstGeom prst="rect">
            <a:avLst/>
          </a:prstGeom>
          <a:noFill/>
          <a:ln/>
        </p:spPr>
        <p:txBody>
          <a:bodyPr wrap="none" lIns="0" tIns="0" rIns="0" bIns="0" rtlCol="0" anchor="t"/>
          <a:lstStyle/>
          <a:p>
            <a:pPr marL="0" indent="0" algn="ctr">
              <a:lnSpc>
                <a:spcPts val="975"/>
              </a:lnSpc>
              <a:buNone/>
            </a:pPr>
            <a:r>
              <a:rPr lang="en-US" sz="765" b="1" kern="0" spc="38" dirty="0">
                <a:solidFill>
                  <a:srgbClr val="1B1A1A"/>
                </a:solidFill>
                <a:latin typeface="Quicksand" pitchFamily="34" charset="0"/>
              </a:rPr>
              <a:t>ROMEX PEST CONTROL</a:t>
            </a:r>
            <a:endParaRPr lang="en-US" sz="765" dirty="0"/>
          </a:p>
        </p:txBody>
      </p:sp>
      <p:sp>
        <p:nvSpPr>
          <p:cNvPr id="112" name="Text 111"/>
          <p:cNvSpPr txBox="1"/>
          <p:nvPr/>
        </p:nvSpPr>
        <p:spPr>
          <a:xfrm>
            <a:off x="1543050" y="6415534"/>
            <a:ext cx="1905000" cy="133350"/>
          </a:xfrm>
          <a:prstGeom prst="rect">
            <a:avLst/>
          </a:prstGeom>
          <a:noFill/>
          <a:ln/>
        </p:spPr>
        <p:txBody>
          <a:bodyPr wrap="none" lIns="0" tIns="0" rIns="0" bIns="0" rtlCol="0" anchor="t"/>
          <a:lstStyle/>
          <a:p>
            <a:pPr marL="0" indent="0" algn="ctr">
              <a:lnSpc>
                <a:spcPts val="1050"/>
              </a:lnSpc>
              <a:buNone/>
            </a:pPr>
            <a:r>
              <a:rPr lang="en-US" sz="600" kern="0" spc="105" dirty="0">
                <a:solidFill>
                  <a:srgbClr val="6F6A66"/>
                </a:solidFill>
                <a:latin typeface="Quicksand" pitchFamily="34" charset="0"/>
              </a:rPr>
              <a:t>ACQUIRED BY</a:t>
            </a:r>
            <a:endParaRPr lang="en-US" sz="600" dirty="0"/>
          </a:p>
        </p:txBody>
      </p:sp>
      <p:sp>
        <p:nvSpPr>
          <p:cNvPr id="113" name="Shape 112"/>
          <p:cNvSpPr/>
          <p:nvPr/>
        </p:nvSpPr>
        <p:spPr>
          <a:xfrm>
            <a:off x="1543050" y="6548884"/>
            <a:ext cx="1905000" cy="285750"/>
          </a:xfrm>
          <a:prstGeom prst="rect">
            <a:avLst/>
          </a:prstGeom>
          <a:solidFill>
            <a:srgbClr val="FFFFFF"/>
          </a:solidFill>
          <a:ln/>
        </p:spPr>
        <p:txBody>
          <a:bodyPr/>
          <a:lstStyle/>
          <a:p>
            <a:endParaRPr lang="en-US"/>
          </a:p>
        </p:txBody>
      </p:sp>
      <p:sp>
        <p:nvSpPr>
          <p:cNvPr id="114" name="Shape 113"/>
          <p:cNvSpPr/>
          <p:nvPr/>
        </p:nvSpPr>
        <p:spPr>
          <a:xfrm>
            <a:off x="1547813" y="6553646"/>
            <a:ext cx="1895475" cy="276225"/>
          </a:xfrm>
          <a:prstGeom prst="rect">
            <a:avLst/>
          </a:prstGeom>
          <a:ln w="9525">
            <a:solidFill>
              <a:srgbClr val="C3BDB6"/>
            </a:solidFill>
            <a:prstDash val="solid"/>
          </a:ln>
        </p:spPr>
        <p:txBody>
          <a:bodyPr/>
          <a:lstStyle/>
          <a:p>
            <a:endParaRPr lang="en-US"/>
          </a:p>
        </p:txBody>
      </p:sp>
      <p:sp>
        <p:nvSpPr>
          <p:cNvPr id="115" name="Text 114"/>
          <p:cNvSpPr txBox="1"/>
          <p:nvPr/>
        </p:nvSpPr>
        <p:spPr>
          <a:xfrm>
            <a:off x="2276624" y="6629846"/>
            <a:ext cx="437704" cy="123825"/>
          </a:xfrm>
          <a:prstGeom prst="rect">
            <a:avLst/>
          </a:prstGeom>
          <a:noFill/>
          <a:ln/>
        </p:spPr>
        <p:txBody>
          <a:bodyPr wrap="none" lIns="0" tIns="0" rIns="0" bIns="0" rtlCol="0" anchor="t"/>
          <a:lstStyle/>
          <a:p>
            <a:pPr marL="0" indent="0" algn="ctr">
              <a:lnSpc>
                <a:spcPts val="975"/>
              </a:lnSpc>
              <a:buNone/>
            </a:pPr>
            <a:r>
              <a:rPr lang="en-US" sz="765" b="1" kern="0" spc="38" dirty="0">
                <a:solidFill>
                  <a:srgbClr val="1B1A1A"/>
                </a:solidFill>
                <a:latin typeface="Quicksand" pitchFamily="34" charset="0"/>
              </a:rPr>
              <a:t>ROLLINS</a:t>
            </a:r>
            <a:endParaRPr lang="en-US" sz="765" dirty="0"/>
          </a:p>
        </p:txBody>
      </p:sp>
      <p:sp>
        <p:nvSpPr>
          <p:cNvPr id="116" name="Text 115"/>
          <p:cNvSpPr txBox="1"/>
          <p:nvPr/>
        </p:nvSpPr>
        <p:spPr>
          <a:xfrm>
            <a:off x="3581400" y="6186874"/>
            <a:ext cx="2662238" cy="579209"/>
          </a:xfrm>
          <a:prstGeom prst="rect">
            <a:avLst/>
          </a:prstGeom>
          <a:noFill/>
          <a:ln/>
        </p:spPr>
        <p:txBody>
          <a:bodyPr wrap="square" lIns="0" tIns="0" rIns="0" bIns="0" rtlCol="0" anchor="t"/>
          <a:lstStyle/>
          <a:p>
            <a:pPr>
              <a:lnSpc>
                <a:spcPts val="1140"/>
              </a:lnSpc>
            </a:pPr>
            <a:r>
              <a:rPr lang="en-US" sz="795" kern="0" spc="15" dirty="0">
                <a:solidFill>
                  <a:srgbClr val="333231"/>
                </a:solidFill>
                <a:latin typeface="Quicksand" pitchFamily="34" charset="0"/>
              </a:rPr>
              <a:t>Rollins acquired Romex Pest Control, a Utah company founded in 2016, and allocated about 89% of the price to customer contracts and goodwill (</a:t>
            </a:r>
            <a:r>
              <a:rPr lang="en-US" sz="795" u="sng" kern="0" spc="15" dirty="0">
                <a:solidFill>
                  <a:srgbClr val="8C6239"/>
                </a:solidFill>
                <a:latin typeface="Quicksand" pitchFamily="34" charset="0"/>
                <a:hlinkClick r:id="rId13">
                  <a:extLst>
                    <a:ext uri="{A12FA001-AC4F-418D-AE19-62706E023703}">
                      <ahyp:hlinkClr xmlns:ahyp="http://schemas.microsoft.com/office/drawing/2018/hyperlinkcolor" val="tx"/>
                    </a:ext>
                  </a:extLst>
                </a:hlinkClick>
              </a:rPr>
              <a:t>Rollins and Romex Pest Control</a:t>
            </a:r>
            <a:r>
              <a:rPr lang="en-US" sz="795" kern="0" spc="15" dirty="0">
                <a:solidFill>
                  <a:srgbClr val="333231"/>
                </a:solidFill>
                <a:latin typeface="Quicksand" pitchFamily="34" charset="0"/>
              </a:rPr>
              <a:t>; </a:t>
            </a:r>
            <a:r>
              <a:rPr lang="en-US" sz="795" u="sng" kern="0" spc="15" dirty="0">
                <a:solidFill>
                  <a:srgbClr val="8C6239"/>
                </a:solidFill>
                <a:latin typeface="Quicksand" pitchFamily="34" charset="0"/>
                <a:hlinkClick r:id="rId14">
                  <a:extLst>
                    <a:ext uri="{A12FA001-AC4F-418D-AE19-62706E023703}">
                      <ahyp:hlinkClr xmlns:ahyp="http://schemas.microsoft.com/office/drawing/2018/hyperlinkcolor" val="tx"/>
                    </a:ext>
                  </a:extLst>
                </a:hlinkClick>
              </a:rPr>
              <a:t>Rollins quarterly filing</a:t>
            </a:r>
            <a:r>
              <a:rPr lang="en-US" sz="795" u="sng" kern="0" spc="15" dirty="0">
                <a:solidFill>
                  <a:srgbClr val="8C6239"/>
                </a:solidFill>
                <a:latin typeface="Quicksand" pitchFamily="34" charset="0"/>
              </a:rPr>
              <a:t>;</a:t>
            </a:r>
            <a:r>
              <a:rPr lang="en-US" sz="795" kern="0" spc="15" dirty="0">
                <a:solidFill>
                  <a:srgbClr val="333231"/>
                </a:solidFill>
                <a:latin typeface="Quicksand" pitchFamily="34" charset="0"/>
              </a:rPr>
              <a:t> </a:t>
            </a:r>
            <a:r>
              <a:rPr lang="en-US" sz="795" u="sng" kern="0" spc="15" dirty="0">
                <a:solidFill>
                  <a:srgbClr val="8C6239"/>
                </a:solidFill>
                <a:latin typeface="Quicksand" pitchFamily="34" charset="0"/>
                <a:hlinkClick r:id="rId15">
                  <a:extLst>
                    <a:ext uri="{A12FA001-AC4F-418D-AE19-62706E023703}">
                      <ahyp:hlinkClr xmlns:ahyp="http://schemas.microsoft.com/office/drawing/2018/hyperlinkcolor" val="tx"/>
                    </a:ext>
                  </a:extLst>
                </a:hlinkClick>
              </a:rPr>
              <a:t>PCT Top 100</a:t>
            </a:r>
            <a:r>
              <a:rPr lang="en-US" sz="795" u="sng" kern="0" spc="15" dirty="0">
                <a:solidFill>
                  <a:srgbClr val="8C6239"/>
                </a:solidFill>
                <a:latin typeface="Quicksand" pitchFamily="34" charset="0"/>
              </a:rPr>
              <a:t>)</a:t>
            </a:r>
          </a:p>
          <a:p>
            <a:pPr>
              <a:lnSpc>
                <a:spcPts val="1140"/>
              </a:lnSpc>
            </a:pPr>
            <a:endParaRPr lang="en-US" sz="795" dirty="0"/>
          </a:p>
        </p:txBody>
      </p:sp>
      <p:sp>
        <p:nvSpPr>
          <p:cNvPr id="117" name="Text 116"/>
          <p:cNvSpPr txBox="1"/>
          <p:nvPr/>
        </p:nvSpPr>
        <p:spPr>
          <a:xfrm>
            <a:off x="6362700" y="6386959"/>
            <a:ext cx="1066800" cy="190500"/>
          </a:xfrm>
          <a:prstGeom prst="rect">
            <a:avLst/>
          </a:prstGeom>
          <a:noFill/>
          <a:ln/>
        </p:spPr>
        <p:txBody>
          <a:bodyPr wrap="none" lIns="0" tIns="0" rIns="0" bIns="0" rtlCol="0" anchor="t"/>
          <a:lstStyle/>
          <a:p>
            <a:pPr marL="0" indent="0" algn="l">
              <a:lnSpc>
                <a:spcPts val="1500"/>
              </a:lnSpc>
              <a:buNone/>
            </a:pPr>
            <a:r>
              <a:rPr lang="en-US" sz="1200" kern="0" spc="15" dirty="0">
                <a:solidFill>
                  <a:srgbClr val="8C6239"/>
                </a:solidFill>
                <a:latin typeface="Newsreader SemiBold" pitchFamily="34" charset="0"/>
              </a:rPr>
              <a:t>$95.7M</a:t>
            </a:r>
            <a:endParaRPr lang="en-US" sz="1200" dirty="0"/>
          </a:p>
        </p:txBody>
      </p:sp>
      <p:sp>
        <p:nvSpPr>
          <p:cNvPr id="118" name="Text 117"/>
          <p:cNvSpPr txBox="1"/>
          <p:nvPr/>
        </p:nvSpPr>
        <p:spPr>
          <a:xfrm>
            <a:off x="7436936" y="6489799"/>
            <a:ext cx="1016502" cy="344835"/>
          </a:xfrm>
          <a:prstGeom prst="rect">
            <a:avLst/>
          </a:prstGeom>
          <a:noFill/>
          <a:ln/>
        </p:spPr>
        <p:txBody>
          <a:bodyPr wrap="none" lIns="0" tIns="0" rIns="0" bIns="0" rtlCol="0" anchor="t"/>
          <a:lstStyle/>
          <a:p>
            <a:pPr marL="0" indent="0" algn="l">
              <a:lnSpc>
                <a:spcPts val="1050"/>
              </a:lnSpc>
              <a:buNone/>
            </a:pPr>
            <a:r>
              <a:rPr lang="en-US" sz="650" kern="0" spc="15" dirty="0">
                <a:solidFill>
                  <a:srgbClr val="6F6A66"/>
                </a:solidFill>
                <a:latin typeface="Quicksand" pitchFamily="34" charset="0"/>
              </a:rPr>
              <a:t>Calculated from</a:t>
            </a:r>
          </a:p>
          <a:p>
            <a:pPr marL="0" indent="0" algn="l">
              <a:buNone/>
            </a:pPr>
            <a:r>
              <a:rPr lang="en-US" sz="650" kern="0" spc="15" dirty="0">
                <a:solidFill>
                  <a:srgbClr val="6F6A66"/>
                </a:solidFill>
                <a:latin typeface="Quicksand" pitchFamily="34" charset="0"/>
              </a:rPr>
              <a:t> PCT top 100 </a:t>
            </a:r>
          </a:p>
          <a:p>
            <a:pPr marL="0" indent="0" algn="l">
              <a:lnSpc>
                <a:spcPts val="1050"/>
              </a:lnSpc>
              <a:buNone/>
            </a:pPr>
            <a:r>
              <a:rPr lang="en-US" sz="650" kern="0" spc="15" dirty="0">
                <a:solidFill>
                  <a:srgbClr val="6F6A66"/>
                </a:solidFill>
                <a:latin typeface="Quicksand" pitchFamily="34" charset="0"/>
              </a:rPr>
              <a:t>revenues 2025 </a:t>
            </a:r>
            <a:endParaRPr lang="en-US" sz="650" dirty="0"/>
          </a:p>
        </p:txBody>
      </p:sp>
      <p:sp>
        <p:nvSpPr>
          <p:cNvPr id="119" name="Text 118"/>
          <p:cNvSpPr txBox="1"/>
          <p:nvPr/>
        </p:nvSpPr>
        <p:spPr>
          <a:xfrm>
            <a:off x="8572500" y="6410771"/>
            <a:ext cx="1066800" cy="133350"/>
          </a:xfrm>
          <a:prstGeom prst="rect">
            <a:avLst/>
          </a:prstGeom>
          <a:noFill/>
          <a:ln/>
        </p:spPr>
        <p:txBody>
          <a:bodyPr wrap="none" lIns="0" tIns="0" rIns="0" bIns="0" rtlCol="0" anchor="t"/>
          <a:lstStyle/>
          <a:p>
            <a:pPr marL="0" indent="0" algn="l">
              <a:lnSpc>
                <a:spcPts val="1050"/>
              </a:lnSpc>
              <a:buNone/>
            </a:pPr>
            <a:r>
              <a:rPr lang="en-US" sz="780" kern="0" spc="15" dirty="0">
                <a:solidFill>
                  <a:srgbClr val="6F6A66"/>
                </a:solidFill>
                <a:latin typeface="Quicksand" pitchFamily="34" charset="0"/>
              </a:rPr>
              <a:t>Not disclosed</a:t>
            </a:r>
            <a:endParaRPr lang="en-US" sz="780" dirty="0"/>
          </a:p>
        </p:txBody>
      </p:sp>
      <p:sp>
        <p:nvSpPr>
          <p:cNvPr id="120" name="Shape 119"/>
          <p:cNvSpPr/>
          <p:nvPr/>
        </p:nvSpPr>
        <p:spPr>
          <a:xfrm>
            <a:off x="419100" y="7029450"/>
            <a:ext cx="9220200" cy="9525"/>
          </a:xfrm>
          <a:prstGeom prst="rect">
            <a:avLst/>
          </a:prstGeom>
          <a:solidFill>
            <a:srgbClr val="E3DCD3"/>
          </a:solidFill>
          <a:ln/>
        </p:spPr>
        <p:txBody>
          <a:bodyPr/>
          <a:lstStyle/>
          <a:p>
            <a:endParaRPr lang="en-US"/>
          </a:p>
        </p:txBody>
      </p:sp>
      <p:pic>
        <p:nvPicPr>
          <p:cNvPr id="121" name="Benchmark International" descr="Benchmark International"/>
          <p:cNvPicPr>
            <a:picLocks noChangeAspect="1"/>
          </p:cNvPicPr>
          <p:nvPr/>
        </p:nvPicPr>
        <p:blipFill>
          <a:blip r:embed="rId16"/>
          <a:stretch>
            <a:fillRect/>
          </a:stretch>
        </p:blipFill>
        <p:spPr>
          <a:xfrm>
            <a:off x="419100" y="7143750"/>
            <a:ext cx="914400" cy="171450"/>
          </a:xfrm>
          <a:prstGeom prst="rect">
            <a:avLst/>
          </a:prstGeom>
        </p:spPr>
      </p:pic>
      <p:sp>
        <p:nvSpPr>
          <p:cNvPr id="122" name="Text 121"/>
          <p:cNvSpPr txBox="1"/>
          <p:nvPr/>
        </p:nvSpPr>
        <p:spPr>
          <a:xfrm>
            <a:off x="1543050" y="7098506"/>
            <a:ext cx="7658100" cy="238125"/>
          </a:xfrm>
          <a:prstGeom prst="rect">
            <a:avLst/>
          </a:prstGeom>
          <a:noFill/>
          <a:ln/>
        </p:spPr>
        <p:txBody>
          <a:bodyPr wrap="square" lIns="0" tIns="0" rIns="0" bIns="0" rtlCol="0" anchor="t"/>
          <a:lstStyle/>
          <a:p>
            <a:pPr marL="0" indent="0" algn="l">
              <a:lnSpc>
                <a:spcPts val="938"/>
              </a:lnSpc>
              <a:buNone/>
            </a:pPr>
            <a:r>
              <a:rPr lang="en-US" sz="675" kern="0" spc="15" dirty="0">
                <a:solidFill>
                  <a:srgbClr val="6F6A66"/>
                </a:solidFill>
                <a:latin typeface="Quicksand" pitchFamily="34" charset="0"/>
              </a:rPr>
              <a:t>Values and multiples are as stated by the acquirer or reported in the linked source. Value to revenue is our calculation where marked. Three transactions are shown for each of the four segments on pages 08 and 09.</a:t>
            </a:r>
            <a:endParaRPr lang="en-US" sz="675" dirty="0"/>
          </a:p>
        </p:txBody>
      </p:sp>
      <p:sp>
        <p:nvSpPr>
          <p:cNvPr id="123" name="Text 122"/>
          <p:cNvSpPr txBox="1"/>
          <p:nvPr/>
        </p:nvSpPr>
        <p:spPr>
          <a:xfrm>
            <a:off x="9494193" y="7162800"/>
            <a:ext cx="202257" cy="133350"/>
          </a:xfrm>
          <a:prstGeom prst="rect">
            <a:avLst/>
          </a:prstGeom>
          <a:noFill/>
          <a:ln/>
        </p:spPr>
        <p:txBody>
          <a:bodyPr wrap="none" lIns="0" tIns="0" rIns="0" bIns="0" rtlCol="0" anchor="t"/>
          <a:lstStyle/>
          <a:p>
            <a:pPr marL="0" indent="0" algn="l">
              <a:lnSpc>
                <a:spcPts val="1050"/>
              </a:lnSpc>
              <a:buNone/>
            </a:pPr>
            <a:r>
              <a:rPr lang="en-US" sz="713" b="1" kern="0" spc="150" dirty="0">
                <a:solidFill>
                  <a:srgbClr val="1B1A1A"/>
                </a:solidFill>
                <a:latin typeface="Quicksand" pitchFamily="34" charset="0"/>
              </a:rPr>
              <a:t>09</a:t>
            </a:r>
            <a:endParaRPr lang="en-US" sz="713" dirty="0"/>
          </a:p>
        </p:txBody>
      </p:sp>
      <p:sp>
        <p:nvSpPr>
          <p:cNvPr id="125" name="Text 49">
            <a:extLst>
              <a:ext uri="{FF2B5EF4-FFF2-40B4-BE49-F238E27FC236}">
                <a16:creationId xmlns:a16="http://schemas.microsoft.com/office/drawing/2014/main" id="{7E27E061-5DAD-ADBA-A27B-47574D10E230}"/>
              </a:ext>
            </a:extLst>
          </p:cNvPr>
          <p:cNvSpPr txBox="1"/>
          <p:nvPr/>
        </p:nvSpPr>
        <p:spPr>
          <a:xfrm>
            <a:off x="7562850" y="4423321"/>
            <a:ext cx="876300" cy="190500"/>
          </a:xfrm>
          <a:prstGeom prst="rect">
            <a:avLst/>
          </a:prstGeom>
          <a:noFill/>
          <a:ln/>
        </p:spPr>
        <p:txBody>
          <a:bodyPr wrap="none" lIns="0" tIns="0" rIns="0" bIns="0" rtlCol="0" anchor="t"/>
          <a:lstStyle/>
          <a:p>
            <a:pPr marL="0" indent="0" algn="l">
              <a:lnSpc>
                <a:spcPts val="1500"/>
              </a:lnSpc>
              <a:buNone/>
            </a:pPr>
            <a:r>
              <a:rPr lang="en-US" sz="1200" kern="0" spc="15" dirty="0">
                <a:solidFill>
                  <a:srgbClr val="8C6239"/>
                </a:solidFill>
                <a:latin typeface="Newsreader SemiBold" pitchFamily="34" charset="0"/>
              </a:rPr>
              <a:t> 2.9x</a:t>
            </a:r>
            <a:endParaRPr lang="en-US" sz="1200" dirty="0"/>
          </a:p>
        </p:txBody>
      </p:sp>
      <p:sp>
        <p:nvSpPr>
          <p:cNvPr id="127" name="Text 49">
            <a:extLst>
              <a:ext uri="{FF2B5EF4-FFF2-40B4-BE49-F238E27FC236}">
                <a16:creationId xmlns:a16="http://schemas.microsoft.com/office/drawing/2014/main" id="{A9103F5A-1547-B76B-4EB8-D98AB885361D}"/>
              </a:ext>
            </a:extLst>
          </p:cNvPr>
          <p:cNvSpPr txBox="1"/>
          <p:nvPr/>
        </p:nvSpPr>
        <p:spPr>
          <a:xfrm>
            <a:off x="8617893" y="4432846"/>
            <a:ext cx="876300" cy="190500"/>
          </a:xfrm>
          <a:prstGeom prst="rect">
            <a:avLst/>
          </a:prstGeom>
          <a:noFill/>
          <a:ln/>
        </p:spPr>
        <p:txBody>
          <a:bodyPr wrap="none" lIns="0" tIns="0" rIns="0" bIns="0" rtlCol="0" anchor="t"/>
          <a:lstStyle/>
          <a:p>
            <a:pPr marL="0" indent="0" algn="l">
              <a:lnSpc>
                <a:spcPts val="1500"/>
              </a:lnSpc>
              <a:buNone/>
            </a:pPr>
            <a:r>
              <a:rPr lang="en-US" sz="1200" kern="0" spc="15" dirty="0">
                <a:solidFill>
                  <a:srgbClr val="8C6239"/>
                </a:solidFill>
                <a:latin typeface="Newsreader SemiBold" pitchFamily="34" charset="0"/>
              </a:rPr>
              <a:t>8.9x</a:t>
            </a:r>
            <a:endParaRPr lang="en-US" sz="1200" dirty="0"/>
          </a:p>
        </p:txBody>
      </p:sp>
      <p:sp>
        <p:nvSpPr>
          <p:cNvPr id="129" name="Text 50">
            <a:extLst>
              <a:ext uri="{FF2B5EF4-FFF2-40B4-BE49-F238E27FC236}">
                <a16:creationId xmlns:a16="http://schemas.microsoft.com/office/drawing/2014/main" id="{D92E3EB5-FE41-2FE7-2609-ADDA6615CD43}"/>
              </a:ext>
            </a:extLst>
          </p:cNvPr>
          <p:cNvSpPr txBox="1"/>
          <p:nvPr/>
        </p:nvSpPr>
        <p:spPr>
          <a:xfrm>
            <a:off x="7548562" y="4730130"/>
            <a:ext cx="890588" cy="219075"/>
          </a:xfrm>
          <a:prstGeom prst="rect">
            <a:avLst/>
          </a:prstGeom>
          <a:noFill/>
          <a:ln/>
        </p:spPr>
        <p:txBody>
          <a:bodyPr wrap="square" lIns="0" tIns="0" rIns="0" bIns="0" rtlCol="0" anchor="t"/>
          <a:lstStyle/>
          <a:p>
            <a:pPr marL="0" indent="0" algn="l">
              <a:lnSpc>
                <a:spcPts val="863"/>
              </a:lnSpc>
              <a:buNone/>
            </a:pPr>
            <a:r>
              <a:rPr lang="en-US" sz="645" kern="0" spc="15" dirty="0">
                <a:solidFill>
                  <a:srgbClr val="6F6A66"/>
                </a:solidFill>
                <a:latin typeface="Quicksand" pitchFamily="34" charset="0"/>
              </a:rPr>
              <a:t>Calculated from full year 2025 Mister Car Wash financials </a:t>
            </a:r>
            <a:endParaRPr lang="en-US" sz="645" dirty="0"/>
          </a:p>
        </p:txBody>
      </p:sp>
      <p:sp>
        <p:nvSpPr>
          <p:cNvPr id="131" name="Text 50">
            <a:extLst>
              <a:ext uri="{FF2B5EF4-FFF2-40B4-BE49-F238E27FC236}">
                <a16:creationId xmlns:a16="http://schemas.microsoft.com/office/drawing/2014/main" id="{A25E990E-61F7-303E-C042-8C713585CE7B}"/>
              </a:ext>
            </a:extLst>
          </p:cNvPr>
          <p:cNvSpPr txBox="1"/>
          <p:nvPr/>
        </p:nvSpPr>
        <p:spPr>
          <a:xfrm>
            <a:off x="8513935" y="4720633"/>
            <a:ext cx="890588" cy="219075"/>
          </a:xfrm>
          <a:prstGeom prst="rect">
            <a:avLst/>
          </a:prstGeom>
          <a:noFill/>
          <a:ln/>
        </p:spPr>
        <p:txBody>
          <a:bodyPr wrap="square" lIns="0" tIns="0" rIns="0" bIns="0" rtlCol="0" anchor="t"/>
          <a:lstStyle/>
          <a:p>
            <a:pPr marL="0" indent="0" algn="l">
              <a:lnSpc>
                <a:spcPts val="863"/>
              </a:lnSpc>
              <a:buNone/>
            </a:pPr>
            <a:r>
              <a:rPr lang="en-US" sz="645" kern="0" spc="15" dirty="0">
                <a:solidFill>
                  <a:srgbClr val="6F6A66"/>
                </a:solidFill>
                <a:latin typeface="Quicksand" pitchFamily="34" charset="0"/>
              </a:rPr>
              <a:t>Calculated from full year 2025 Mister Car Wash financials </a:t>
            </a:r>
            <a:endParaRPr lang="en-US" sz="645" dirty="0"/>
          </a:p>
        </p:txBody>
      </p:sp>
      <p:sp>
        <p:nvSpPr>
          <p:cNvPr id="133" name="Text 49">
            <a:extLst>
              <a:ext uri="{FF2B5EF4-FFF2-40B4-BE49-F238E27FC236}">
                <a16:creationId xmlns:a16="http://schemas.microsoft.com/office/drawing/2014/main" id="{D7CCE355-F9C3-4509-8E99-DF2CC9F75F67}"/>
              </a:ext>
            </a:extLst>
          </p:cNvPr>
          <p:cNvSpPr txBox="1"/>
          <p:nvPr/>
        </p:nvSpPr>
        <p:spPr>
          <a:xfrm>
            <a:off x="7577138" y="6289328"/>
            <a:ext cx="876300" cy="190500"/>
          </a:xfrm>
          <a:prstGeom prst="rect">
            <a:avLst/>
          </a:prstGeom>
          <a:noFill/>
          <a:ln/>
        </p:spPr>
        <p:txBody>
          <a:bodyPr wrap="none" lIns="0" tIns="0" rIns="0" bIns="0" rtlCol="0" anchor="t"/>
          <a:lstStyle/>
          <a:p>
            <a:pPr marL="0" indent="0" algn="l">
              <a:lnSpc>
                <a:spcPts val="1500"/>
              </a:lnSpc>
              <a:buNone/>
            </a:pPr>
            <a:r>
              <a:rPr lang="en-US" sz="1200" kern="0" spc="15" dirty="0">
                <a:solidFill>
                  <a:srgbClr val="8C6239"/>
                </a:solidFill>
                <a:latin typeface="Newsreader SemiBold" pitchFamily="34" charset="0"/>
              </a:rPr>
              <a:t>2.7x</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1"/>
          <p:cNvSpPr/>
          <p:nvPr/>
        </p:nvSpPr>
        <p:spPr>
          <a:xfrm>
            <a:off x="0" y="0"/>
            <a:ext cx="10058400" cy="7772400"/>
          </a:xfrm>
          <a:prstGeom prst="rect">
            <a:avLst/>
          </a:prstGeom>
          <a:solidFill>
            <a:srgbClr val="FFFFFF"/>
          </a:solidFill>
          <a:ln/>
        </p:spPr>
        <p:txBody>
          <a:bodyPr/>
          <a:lstStyle/>
          <a:p>
            <a:endParaRPr lang="en-US"/>
          </a:p>
        </p:txBody>
      </p:sp>
      <p:sp>
        <p:nvSpPr>
          <p:cNvPr id="3" name="Shape 2"/>
          <p:cNvSpPr/>
          <p:nvPr/>
        </p:nvSpPr>
        <p:spPr>
          <a:xfrm>
            <a:off x="0" y="0"/>
            <a:ext cx="57150" cy="7772400"/>
          </a:xfrm>
          <a:prstGeom prst="rect">
            <a:avLst/>
          </a:prstGeom>
          <a:solidFill>
            <a:srgbClr val="B68757"/>
          </a:solidFill>
          <a:ln/>
        </p:spPr>
        <p:txBody>
          <a:bodyPr/>
          <a:lstStyle/>
          <a:p>
            <a:endParaRPr lang="en-US"/>
          </a:p>
        </p:txBody>
      </p:sp>
      <p:sp>
        <p:nvSpPr>
          <p:cNvPr id="4" name="Text 3"/>
          <p:cNvSpPr txBox="1"/>
          <p:nvPr/>
        </p:nvSpPr>
        <p:spPr>
          <a:xfrm>
            <a:off x="419100" y="376238"/>
            <a:ext cx="2618929" cy="133350"/>
          </a:xfrm>
          <a:prstGeom prst="rect">
            <a:avLst/>
          </a:prstGeom>
          <a:noFill/>
          <a:ln/>
        </p:spPr>
        <p:txBody>
          <a:bodyPr wrap="none" lIns="0" tIns="0" rIns="0" bIns="0" rtlCol="0" anchor="t"/>
          <a:lstStyle/>
          <a:p>
            <a:pPr marL="0" indent="0" algn="l">
              <a:lnSpc>
                <a:spcPts val="1050"/>
              </a:lnSpc>
              <a:buNone/>
            </a:pPr>
            <a:r>
              <a:rPr lang="en-US" sz="675" b="1" kern="0" spc="195" dirty="0">
                <a:solidFill>
                  <a:srgbClr val="8C6239"/>
                </a:solidFill>
                <a:latin typeface="Quicksand" pitchFamily="34" charset="0"/>
              </a:rPr>
              <a:t>CONSUMER  |  QUARTERLY SECTOR BRIEF</a:t>
            </a:r>
            <a:endParaRPr lang="en-US" sz="675" dirty="0"/>
          </a:p>
        </p:txBody>
      </p:sp>
      <p:sp>
        <p:nvSpPr>
          <p:cNvPr id="5" name="Text 4"/>
          <p:cNvSpPr txBox="1"/>
          <p:nvPr/>
        </p:nvSpPr>
        <p:spPr>
          <a:xfrm>
            <a:off x="9112597" y="381000"/>
            <a:ext cx="583853" cy="171450"/>
          </a:xfrm>
          <a:prstGeom prst="rect">
            <a:avLst/>
          </a:prstGeom>
          <a:noFill/>
          <a:ln/>
        </p:spPr>
        <p:txBody>
          <a:bodyPr wrap="none" lIns="0" tIns="0" rIns="0" bIns="0" rtlCol="0" anchor="t"/>
          <a:lstStyle/>
          <a:p>
            <a:pPr marL="0" indent="0" algn="l">
              <a:lnSpc>
                <a:spcPts val="1350"/>
              </a:lnSpc>
              <a:buNone/>
            </a:pPr>
            <a:r>
              <a:rPr lang="en-US" sz="900" kern="0" spc="90" dirty="0">
                <a:solidFill>
                  <a:srgbClr val="6F6A66"/>
                </a:solidFill>
                <a:latin typeface="Cinzel" pitchFamily="34" charset="0"/>
              </a:rPr>
              <a:t>Q4 2026</a:t>
            </a:r>
            <a:endParaRPr lang="en-US" sz="900" dirty="0"/>
          </a:p>
        </p:txBody>
      </p:sp>
      <p:sp>
        <p:nvSpPr>
          <p:cNvPr id="6" name="Text 5"/>
          <p:cNvSpPr txBox="1"/>
          <p:nvPr/>
        </p:nvSpPr>
        <p:spPr>
          <a:xfrm>
            <a:off x="419100" y="519113"/>
            <a:ext cx="9220200" cy="323850"/>
          </a:xfrm>
          <a:prstGeom prst="rect">
            <a:avLst/>
          </a:prstGeom>
          <a:noFill/>
          <a:ln/>
        </p:spPr>
        <p:txBody>
          <a:bodyPr wrap="none" lIns="0" tIns="0" rIns="0" bIns="0" rtlCol="0" anchor="t"/>
          <a:lstStyle/>
          <a:p>
            <a:pPr marL="0" indent="0" algn="l">
              <a:lnSpc>
                <a:spcPts val="2550"/>
              </a:lnSpc>
              <a:buNone/>
            </a:pPr>
            <a:r>
              <a:rPr lang="en-US" sz="2025" kern="0" spc="15" dirty="0">
                <a:solidFill>
                  <a:srgbClr val="1B1A1A"/>
                </a:solidFill>
                <a:latin typeface="Newsreader SemiBold" pitchFamily="34" charset="0"/>
              </a:rPr>
              <a:t>Benchmark International’s Consumer Transactions</a:t>
            </a:r>
            <a:endParaRPr lang="en-US" sz="2025" dirty="0"/>
          </a:p>
        </p:txBody>
      </p:sp>
      <p:sp>
        <p:nvSpPr>
          <p:cNvPr id="7" name="Text 6"/>
          <p:cNvSpPr txBox="1"/>
          <p:nvPr/>
        </p:nvSpPr>
        <p:spPr>
          <a:xfrm>
            <a:off x="419100" y="883444"/>
            <a:ext cx="9220200" cy="176213"/>
          </a:xfrm>
          <a:prstGeom prst="rect">
            <a:avLst/>
          </a:prstGeom>
          <a:noFill/>
          <a:ln/>
        </p:spPr>
        <p:txBody>
          <a:bodyPr wrap="none" lIns="0" tIns="0" rIns="0" bIns="0" rtlCol="0" anchor="t"/>
          <a:lstStyle/>
          <a:p>
            <a:pPr marL="0" indent="0" algn="l">
              <a:lnSpc>
                <a:spcPts val="1388"/>
              </a:lnSpc>
              <a:buNone/>
            </a:pPr>
            <a:r>
              <a:rPr lang="en-US" sz="938" kern="0" spc="15" dirty="0">
                <a:solidFill>
                  <a:srgbClr val="6F6A66"/>
                </a:solidFill>
                <a:latin typeface="Quicksand" pitchFamily="34" charset="0"/>
              </a:rPr>
              <a:t>Consumer services and retail is the most active segment, and operating companies and platforms bought just over half of the named companies.</a:t>
            </a:r>
            <a:endParaRPr lang="en-US" sz="938" dirty="0"/>
          </a:p>
        </p:txBody>
      </p:sp>
      <p:sp>
        <p:nvSpPr>
          <p:cNvPr id="8" name="Shape 7"/>
          <p:cNvSpPr/>
          <p:nvPr/>
        </p:nvSpPr>
        <p:spPr>
          <a:xfrm>
            <a:off x="419100" y="1143000"/>
            <a:ext cx="9220200" cy="9525"/>
          </a:xfrm>
          <a:prstGeom prst="rect">
            <a:avLst/>
          </a:prstGeom>
          <a:solidFill>
            <a:srgbClr val="E3DCD3"/>
          </a:solidFill>
          <a:ln/>
        </p:spPr>
        <p:txBody>
          <a:bodyPr/>
          <a:lstStyle/>
          <a:p>
            <a:endParaRPr lang="en-US"/>
          </a:p>
        </p:txBody>
      </p:sp>
      <p:sp>
        <p:nvSpPr>
          <p:cNvPr id="9" name="Shape 8"/>
          <p:cNvSpPr/>
          <p:nvPr/>
        </p:nvSpPr>
        <p:spPr>
          <a:xfrm>
            <a:off x="419100" y="1238250"/>
            <a:ext cx="1619250" cy="5695950"/>
          </a:xfrm>
          <a:prstGeom prst="rect">
            <a:avLst/>
          </a:prstGeom>
          <a:solidFill>
            <a:srgbClr val="1B1A1A"/>
          </a:solidFill>
          <a:ln/>
        </p:spPr>
        <p:txBody>
          <a:bodyPr/>
          <a:lstStyle/>
          <a:p>
            <a:endParaRPr lang="en-US"/>
          </a:p>
        </p:txBody>
      </p:sp>
      <p:sp>
        <p:nvSpPr>
          <p:cNvPr id="10" name="Text 9"/>
          <p:cNvSpPr txBox="1"/>
          <p:nvPr/>
        </p:nvSpPr>
        <p:spPr>
          <a:xfrm>
            <a:off x="590550" y="1443038"/>
            <a:ext cx="1290638" cy="266700"/>
          </a:xfrm>
          <a:prstGeom prst="rect">
            <a:avLst/>
          </a:prstGeom>
          <a:noFill/>
          <a:ln/>
        </p:spPr>
        <p:txBody>
          <a:bodyPr wrap="square" lIns="0" tIns="0" rIns="0" bIns="0" rtlCol="0" anchor="t"/>
          <a:lstStyle/>
          <a:p>
            <a:pPr marL="0" indent="0" algn="l">
              <a:lnSpc>
                <a:spcPts val="1050"/>
              </a:lnSpc>
              <a:buNone/>
            </a:pPr>
            <a:r>
              <a:rPr lang="en-US" sz="675" b="1" kern="0" spc="180" dirty="0">
                <a:solidFill>
                  <a:srgbClr val="D3AE84"/>
                </a:solidFill>
                <a:latin typeface="Quicksand" pitchFamily="34" charset="0"/>
              </a:rPr>
              <a:t>SINCE JANUARY 2025</a:t>
            </a:r>
            <a:endParaRPr lang="en-US" sz="675" dirty="0"/>
          </a:p>
        </p:txBody>
      </p:sp>
      <p:sp>
        <p:nvSpPr>
          <p:cNvPr id="11" name="Text 10"/>
          <p:cNvSpPr txBox="1"/>
          <p:nvPr/>
        </p:nvSpPr>
        <p:spPr>
          <a:xfrm>
            <a:off x="590550" y="1847850"/>
            <a:ext cx="1276350" cy="419100"/>
          </a:xfrm>
          <a:prstGeom prst="rect">
            <a:avLst/>
          </a:prstGeom>
          <a:noFill/>
          <a:ln/>
        </p:spPr>
        <p:txBody>
          <a:bodyPr wrap="none" lIns="0" tIns="0" rIns="0" bIns="0" rtlCol="0" anchor="t"/>
          <a:lstStyle/>
          <a:p>
            <a:pPr marL="0" indent="0" algn="l">
              <a:lnSpc>
                <a:spcPts val="3300"/>
              </a:lnSpc>
              <a:buNone/>
            </a:pPr>
            <a:r>
              <a:rPr lang="en-US" sz="3000" kern="0" spc="15" dirty="0">
                <a:solidFill>
                  <a:srgbClr val="D3AE84"/>
                </a:solidFill>
                <a:latin typeface="Newsreader SemiBold" pitchFamily="34" charset="0"/>
              </a:rPr>
              <a:t>32</a:t>
            </a:r>
            <a:endParaRPr lang="en-US" sz="3000" dirty="0"/>
          </a:p>
        </p:txBody>
      </p:sp>
      <p:sp>
        <p:nvSpPr>
          <p:cNvPr id="12" name="Text 11"/>
          <p:cNvSpPr txBox="1"/>
          <p:nvPr/>
        </p:nvSpPr>
        <p:spPr>
          <a:xfrm>
            <a:off x="590550" y="2259806"/>
            <a:ext cx="1290638" cy="442913"/>
          </a:xfrm>
          <a:prstGeom prst="rect">
            <a:avLst/>
          </a:prstGeom>
          <a:noFill/>
          <a:ln/>
        </p:spPr>
        <p:txBody>
          <a:bodyPr wrap="square" lIns="0" tIns="0" rIns="0" bIns="0" rtlCol="0" anchor="t"/>
          <a:lstStyle/>
          <a:p>
            <a:pPr marL="0" indent="0" algn="l">
              <a:lnSpc>
                <a:spcPts val="1163"/>
              </a:lnSpc>
              <a:buNone/>
            </a:pPr>
            <a:r>
              <a:rPr lang="en-US" sz="795" kern="0" spc="15" dirty="0">
                <a:solidFill>
                  <a:srgbClr val="E8E2DA"/>
                </a:solidFill>
                <a:latin typeface="Quicksand" pitchFamily="34" charset="0"/>
              </a:rPr>
              <a:t>consumer transactions closed in the four segments</a:t>
            </a:r>
            <a:endParaRPr lang="en-US" sz="795" dirty="0"/>
          </a:p>
        </p:txBody>
      </p:sp>
      <p:sp>
        <p:nvSpPr>
          <p:cNvPr id="13" name="Shape 12"/>
          <p:cNvSpPr/>
          <p:nvPr/>
        </p:nvSpPr>
        <p:spPr>
          <a:xfrm>
            <a:off x="590550" y="2862263"/>
            <a:ext cx="1276350" cy="9525"/>
          </a:xfrm>
          <a:prstGeom prst="rect">
            <a:avLst/>
          </a:prstGeom>
          <a:solidFill>
            <a:srgbClr val="D3AE84">
              <a:alpha val="30000"/>
            </a:srgbClr>
          </a:solidFill>
          <a:ln/>
        </p:spPr>
        <p:txBody>
          <a:bodyPr/>
          <a:lstStyle/>
          <a:p>
            <a:endParaRPr lang="en-US"/>
          </a:p>
        </p:txBody>
      </p:sp>
      <p:sp>
        <p:nvSpPr>
          <p:cNvPr id="14" name="Text 13"/>
          <p:cNvSpPr txBox="1"/>
          <p:nvPr/>
        </p:nvSpPr>
        <p:spPr>
          <a:xfrm>
            <a:off x="590550" y="3005138"/>
            <a:ext cx="1276350" cy="419100"/>
          </a:xfrm>
          <a:prstGeom prst="rect">
            <a:avLst/>
          </a:prstGeom>
          <a:noFill/>
          <a:ln/>
        </p:spPr>
        <p:txBody>
          <a:bodyPr wrap="none" lIns="0" tIns="0" rIns="0" bIns="0" rtlCol="0" anchor="t"/>
          <a:lstStyle/>
          <a:p>
            <a:pPr marL="0" indent="0" algn="l">
              <a:lnSpc>
                <a:spcPts val="3300"/>
              </a:lnSpc>
              <a:buNone/>
            </a:pPr>
            <a:r>
              <a:rPr lang="en-US" sz="3000" kern="0" spc="15" dirty="0">
                <a:solidFill>
                  <a:srgbClr val="D3AE84"/>
                </a:solidFill>
                <a:latin typeface="Newsreader SemiBold" pitchFamily="34" charset="0"/>
              </a:rPr>
              <a:t>110</a:t>
            </a:r>
            <a:endParaRPr lang="en-US" sz="3000" dirty="0"/>
          </a:p>
        </p:txBody>
      </p:sp>
      <p:sp>
        <p:nvSpPr>
          <p:cNvPr id="15" name="Text 14"/>
          <p:cNvSpPr txBox="1"/>
          <p:nvPr/>
        </p:nvSpPr>
        <p:spPr>
          <a:xfrm>
            <a:off x="590550" y="3417094"/>
            <a:ext cx="1290638" cy="442913"/>
          </a:xfrm>
          <a:prstGeom prst="rect">
            <a:avLst/>
          </a:prstGeom>
          <a:noFill/>
          <a:ln/>
        </p:spPr>
        <p:txBody>
          <a:bodyPr wrap="square" lIns="0" tIns="0" rIns="0" bIns="0" rtlCol="0" anchor="t"/>
          <a:lstStyle/>
          <a:p>
            <a:pPr marL="0" indent="0" algn="l">
              <a:lnSpc>
                <a:spcPts val="1163"/>
              </a:lnSpc>
              <a:buNone/>
            </a:pPr>
            <a:r>
              <a:rPr lang="en-US" sz="795" kern="0" spc="15" dirty="0">
                <a:solidFill>
                  <a:srgbClr val="E8E2DA"/>
                </a:solidFill>
                <a:latin typeface="Quicksand" pitchFamily="34" charset="0"/>
              </a:rPr>
              <a:t>consumer engagements in progress as of October 1, 2026</a:t>
            </a:r>
            <a:endParaRPr lang="en-US" sz="795" dirty="0"/>
          </a:p>
        </p:txBody>
      </p:sp>
      <p:sp>
        <p:nvSpPr>
          <p:cNvPr id="16" name="Shape 15"/>
          <p:cNvSpPr/>
          <p:nvPr/>
        </p:nvSpPr>
        <p:spPr>
          <a:xfrm>
            <a:off x="590550" y="4019550"/>
            <a:ext cx="1276350" cy="9525"/>
          </a:xfrm>
          <a:prstGeom prst="rect">
            <a:avLst/>
          </a:prstGeom>
          <a:solidFill>
            <a:srgbClr val="D3AE84">
              <a:alpha val="30000"/>
            </a:srgbClr>
          </a:solidFill>
          <a:ln/>
        </p:spPr>
        <p:txBody>
          <a:bodyPr/>
          <a:lstStyle/>
          <a:p>
            <a:endParaRPr lang="en-US"/>
          </a:p>
        </p:txBody>
      </p:sp>
      <p:sp>
        <p:nvSpPr>
          <p:cNvPr id="17" name="Text 16"/>
          <p:cNvSpPr txBox="1"/>
          <p:nvPr/>
        </p:nvSpPr>
        <p:spPr>
          <a:xfrm>
            <a:off x="590550" y="4162425"/>
            <a:ext cx="1302693" cy="419100"/>
          </a:xfrm>
          <a:prstGeom prst="rect">
            <a:avLst/>
          </a:prstGeom>
          <a:noFill/>
          <a:ln/>
        </p:spPr>
        <p:txBody>
          <a:bodyPr wrap="none" lIns="0" tIns="0" rIns="0" bIns="0" rtlCol="0" anchor="t"/>
          <a:lstStyle/>
          <a:p>
            <a:pPr marL="0" indent="0" algn="l">
              <a:lnSpc>
                <a:spcPts val="3300"/>
              </a:lnSpc>
              <a:buNone/>
            </a:pPr>
            <a:r>
              <a:rPr lang="en-US" sz="3000" kern="0" spc="15" dirty="0">
                <a:solidFill>
                  <a:srgbClr val="D3AE84"/>
                </a:solidFill>
                <a:latin typeface="Newsreader SemiBold" pitchFamily="34" charset="0"/>
              </a:rPr>
              <a:t>9 of 17</a:t>
            </a:r>
            <a:endParaRPr lang="en-US" sz="3000" dirty="0"/>
          </a:p>
        </p:txBody>
      </p:sp>
      <p:sp>
        <p:nvSpPr>
          <p:cNvPr id="18" name="Text 17"/>
          <p:cNvSpPr txBox="1"/>
          <p:nvPr/>
        </p:nvSpPr>
        <p:spPr>
          <a:xfrm>
            <a:off x="590550" y="4574381"/>
            <a:ext cx="1290638" cy="590550"/>
          </a:xfrm>
          <a:prstGeom prst="rect">
            <a:avLst/>
          </a:prstGeom>
          <a:noFill/>
          <a:ln/>
        </p:spPr>
        <p:txBody>
          <a:bodyPr wrap="square" lIns="0" tIns="0" rIns="0" bIns="0" rtlCol="0" anchor="t"/>
          <a:lstStyle/>
          <a:p>
            <a:pPr marL="0" indent="0" algn="l">
              <a:lnSpc>
                <a:spcPts val="1163"/>
              </a:lnSpc>
              <a:buNone/>
            </a:pPr>
            <a:r>
              <a:rPr lang="en-US" sz="795" kern="0" spc="15" dirty="0">
                <a:solidFill>
                  <a:srgbClr val="E8E2DA"/>
                </a:solidFill>
                <a:latin typeface="Quicksand" pitchFamily="34" charset="0"/>
              </a:rPr>
              <a:t>named acquirers were operating companies or platforms adding to an existing business</a:t>
            </a:r>
            <a:endParaRPr lang="en-US" sz="795" dirty="0"/>
          </a:p>
        </p:txBody>
      </p:sp>
      <p:sp>
        <p:nvSpPr>
          <p:cNvPr id="19" name="Shape 18"/>
          <p:cNvSpPr/>
          <p:nvPr/>
        </p:nvSpPr>
        <p:spPr>
          <a:xfrm>
            <a:off x="590550" y="5781675"/>
            <a:ext cx="1276350" cy="9525"/>
          </a:xfrm>
          <a:prstGeom prst="rect">
            <a:avLst/>
          </a:prstGeom>
          <a:solidFill>
            <a:srgbClr val="D3AE84">
              <a:alpha val="30000"/>
            </a:srgbClr>
          </a:solidFill>
          <a:ln/>
        </p:spPr>
        <p:txBody>
          <a:bodyPr/>
          <a:lstStyle/>
          <a:p>
            <a:endParaRPr lang="en-US"/>
          </a:p>
        </p:txBody>
      </p:sp>
      <p:sp>
        <p:nvSpPr>
          <p:cNvPr id="20" name="Text 19"/>
          <p:cNvSpPr txBox="1"/>
          <p:nvPr/>
        </p:nvSpPr>
        <p:spPr>
          <a:xfrm>
            <a:off x="590550" y="5924550"/>
            <a:ext cx="1290638" cy="800100"/>
          </a:xfrm>
          <a:prstGeom prst="rect">
            <a:avLst/>
          </a:prstGeom>
          <a:noFill/>
          <a:ln/>
        </p:spPr>
        <p:txBody>
          <a:bodyPr wrap="square" lIns="0" tIns="0" rIns="0" bIns="0" rtlCol="0" anchor="t"/>
          <a:lstStyle/>
          <a:p>
            <a:pPr marL="0" indent="0" algn="l">
              <a:lnSpc>
                <a:spcPts val="1050"/>
              </a:lnSpc>
              <a:buNone/>
            </a:pPr>
            <a:r>
              <a:rPr lang="en-US" sz="720" kern="0" spc="15" dirty="0">
                <a:solidFill>
                  <a:srgbClr val="E8E2DA"/>
                </a:solidFill>
                <a:latin typeface="Quicksand" pitchFamily="34" charset="0"/>
              </a:rPr>
              <a:t>Ranked the leading privately owned sell-side M&amp;A advisor in the world in PitchBook’s Q2 2026 Global League Tables (</a:t>
            </a:r>
            <a:r>
              <a:rPr lang="en-US" sz="720" u="sng" kern="0" spc="15" dirty="0">
                <a:solidFill>
                  <a:srgbClr val="D3AE84"/>
                </a:solidFill>
                <a:latin typeface="Quicksand" pitchFamily="34" charset="0"/>
                <a:hlinkClick r:id="rId3">
                  <a:extLst>
                    <a:ext uri="{A12FA001-AC4F-418D-AE19-62706E023703}">
                      <ahyp:hlinkClr xmlns:ahyp="http://schemas.microsoft.com/office/drawing/2018/hyperlinkcolor" val="tx"/>
                    </a:ext>
                  </a:extLst>
                </a:hlinkClick>
              </a:rPr>
              <a:t>Benchmark International</a:t>
            </a:r>
            <a:r>
              <a:rPr lang="en-US" sz="720" kern="0" spc="15" dirty="0">
                <a:solidFill>
                  <a:srgbClr val="E8E2DA"/>
                </a:solidFill>
                <a:latin typeface="Quicksand" pitchFamily="34" charset="0"/>
              </a:rPr>
              <a:t>).</a:t>
            </a:r>
            <a:endParaRPr lang="en-US" sz="720" dirty="0"/>
          </a:p>
        </p:txBody>
      </p:sp>
      <p:sp>
        <p:nvSpPr>
          <p:cNvPr id="21" name="Text 20"/>
          <p:cNvSpPr txBox="1"/>
          <p:nvPr/>
        </p:nvSpPr>
        <p:spPr>
          <a:xfrm>
            <a:off x="2190750" y="1233488"/>
            <a:ext cx="1905000" cy="133350"/>
          </a:xfrm>
          <a:prstGeom prst="rect">
            <a:avLst/>
          </a:prstGeom>
          <a:noFill/>
          <a:ln/>
        </p:spPr>
        <p:txBody>
          <a:bodyPr wrap="none" lIns="0" tIns="0" rIns="0" bIns="0" rtlCol="0" anchor="t"/>
          <a:lstStyle/>
          <a:p>
            <a:pPr marL="0" indent="0" algn="l">
              <a:lnSpc>
                <a:spcPts val="1050"/>
              </a:lnSpc>
              <a:buNone/>
            </a:pPr>
            <a:r>
              <a:rPr lang="en-US" sz="675" b="1" kern="0" spc="180" dirty="0">
                <a:solidFill>
                  <a:srgbClr val="8C6239"/>
                </a:solidFill>
                <a:latin typeface="Quicksand" pitchFamily="34" charset="0"/>
              </a:rPr>
              <a:t>BY SEGMENT</a:t>
            </a:r>
            <a:endParaRPr lang="en-US" sz="675" dirty="0"/>
          </a:p>
        </p:txBody>
      </p:sp>
      <p:sp>
        <p:nvSpPr>
          <p:cNvPr id="22" name="Text 21"/>
          <p:cNvSpPr txBox="1"/>
          <p:nvPr/>
        </p:nvSpPr>
        <p:spPr>
          <a:xfrm>
            <a:off x="2314575" y="1419225"/>
            <a:ext cx="347067" cy="123825"/>
          </a:xfrm>
          <a:prstGeom prst="rect">
            <a:avLst/>
          </a:prstGeom>
          <a:noFill/>
          <a:ln/>
        </p:spPr>
        <p:txBody>
          <a:bodyPr wrap="none" lIns="0" tIns="0" rIns="0" bIns="0" rtlCol="0" anchor="t"/>
          <a:lstStyle/>
          <a:p>
            <a:pPr marL="0" indent="0" algn="l">
              <a:lnSpc>
                <a:spcPts val="975"/>
              </a:lnSpc>
              <a:buNone/>
            </a:pPr>
            <a:r>
              <a:rPr lang="en-US" sz="705" kern="0" spc="15" dirty="0">
                <a:solidFill>
                  <a:srgbClr val="6F6A66"/>
                </a:solidFill>
                <a:latin typeface="Quicksand" pitchFamily="34" charset="0"/>
              </a:rPr>
              <a:t>Closed</a:t>
            </a:r>
            <a:endParaRPr lang="en-US" sz="705" dirty="0"/>
          </a:p>
        </p:txBody>
      </p:sp>
      <p:sp>
        <p:nvSpPr>
          <p:cNvPr id="23" name="Shape 22"/>
          <p:cNvSpPr/>
          <p:nvPr/>
        </p:nvSpPr>
        <p:spPr>
          <a:xfrm>
            <a:off x="2190750" y="1438275"/>
            <a:ext cx="85725" cy="85725"/>
          </a:xfrm>
          <a:prstGeom prst="rect">
            <a:avLst/>
          </a:prstGeom>
          <a:solidFill>
            <a:srgbClr val="B68757"/>
          </a:solidFill>
          <a:ln/>
        </p:spPr>
        <p:txBody>
          <a:bodyPr/>
          <a:lstStyle/>
          <a:p>
            <a:endParaRPr lang="en-US"/>
          </a:p>
        </p:txBody>
      </p:sp>
      <p:sp>
        <p:nvSpPr>
          <p:cNvPr id="24" name="Text 23"/>
          <p:cNvSpPr txBox="1"/>
          <p:nvPr/>
        </p:nvSpPr>
        <p:spPr>
          <a:xfrm>
            <a:off x="2871192" y="1419225"/>
            <a:ext cx="539353" cy="123825"/>
          </a:xfrm>
          <a:prstGeom prst="rect">
            <a:avLst/>
          </a:prstGeom>
          <a:noFill/>
          <a:ln/>
        </p:spPr>
        <p:txBody>
          <a:bodyPr wrap="none" lIns="0" tIns="0" rIns="0" bIns="0" rtlCol="0" anchor="t"/>
          <a:lstStyle/>
          <a:p>
            <a:pPr marL="0" indent="0" algn="l">
              <a:lnSpc>
                <a:spcPts val="975"/>
              </a:lnSpc>
              <a:buNone/>
            </a:pPr>
            <a:r>
              <a:rPr lang="en-US" sz="705" kern="0" spc="15" dirty="0">
                <a:solidFill>
                  <a:srgbClr val="6F6A66"/>
                </a:solidFill>
                <a:latin typeface="Quicksand" pitchFamily="34" charset="0"/>
              </a:rPr>
              <a:t>In progress</a:t>
            </a:r>
            <a:endParaRPr lang="en-US" sz="705" dirty="0"/>
          </a:p>
        </p:txBody>
      </p:sp>
      <p:sp>
        <p:nvSpPr>
          <p:cNvPr id="25" name="Shape 24"/>
          <p:cNvSpPr/>
          <p:nvPr/>
        </p:nvSpPr>
        <p:spPr>
          <a:xfrm>
            <a:off x="2747367" y="1438275"/>
            <a:ext cx="85725" cy="85725"/>
          </a:xfrm>
          <a:prstGeom prst="rect">
            <a:avLst/>
          </a:prstGeom>
          <a:solidFill>
            <a:srgbClr val="C3BDB6"/>
          </a:solidFill>
          <a:ln/>
        </p:spPr>
        <p:txBody>
          <a:bodyPr/>
          <a:lstStyle/>
          <a:p>
            <a:endParaRPr lang="en-US"/>
          </a:p>
        </p:txBody>
      </p:sp>
      <p:sp>
        <p:nvSpPr>
          <p:cNvPr id="26" name="Shape 25"/>
          <p:cNvSpPr/>
          <p:nvPr/>
        </p:nvSpPr>
        <p:spPr>
          <a:xfrm>
            <a:off x="2190750" y="1600200"/>
            <a:ext cx="1905000" cy="9525"/>
          </a:xfrm>
          <a:prstGeom prst="rect">
            <a:avLst/>
          </a:prstGeom>
          <a:solidFill>
            <a:srgbClr val="E3DCD3"/>
          </a:solidFill>
          <a:ln/>
        </p:spPr>
        <p:txBody>
          <a:bodyPr/>
          <a:lstStyle/>
          <a:p>
            <a:endParaRPr lang="en-US"/>
          </a:p>
        </p:txBody>
      </p:sp>
      <p:pic>
        <p:nvPicPr>
          <p:cNvPr id="27" name="Icon" descr="/tmp/claude-0/-home-claude-about/4bef2f41-4227-5ff7-ab18-11ac74cd9797/scratchpad/pptx/ex/media/12a88f390be7.png"/>
          <p:cNvPicPr>
            <a:picLocks noChangeAspect="1"/>
          </p:cNvPicPr>
          <p:nvPr/>
        </p:nvPicPr>
        <p:blipFill>
          <a:blip r:embed="rId4"/>
          <a:stretch>
            <a:fillRect/>
          </a:stretch>
        </p:blipFill>
        <p:spPr>
          <a:xfrm>
            <a:off x="2190750" y="1883569"/>
            <a:ext cx="133350" cy="133350"/>
          </a:xfrm>
          <a:prstGeom prst="rect">
            <a:avLst/>
          </a:prstGeom>
        </p:spPr>
      </p:pic>
      <p:sp>
        <p:nvSpPr>
          <p:cNvPr id="28" name="Text 27"/>
          <p:cNvSpPr txBox="1"/>
          <p:nvPr/>
        </p:nvSpPr>
        <p:spPr>
          <a:xfrm>
            <a:off x="2390775" y="1878806"/>
            <a:ext cx="910828" cy="133350"/>
          </a:xfrm>
          <a:prstGeom prst="rect">
            <a:avLst/>
          </a:prstGeom>
          <a:noFill/>
          <a:ln/>
        </p:spPr>
        <p:txBody>
          <a:bodyPr wrap="none" lIns="0" tIns="0" rIns="0" bIns="0" rtlCol="0" anchor="t"/>
          <a:lstStyle/>
          <a:p>
            <a:pPr marL="0" indent="0" algn="l">
              <a:lnSpc>
                <a:spcPts val="1050"/>
              </a:lnSpc>
              <a:buNone/>
            </a:pPr>
            <a:r>
              <a:rPr lang="en-US" sz="780" b="1" kern="0" spc="15" dirty="0">
                <a:solidFill>
                  <a:srgbClr val="1B1A1A"/>
                </a:solidFill>
                <a:latin typeface="Quicksand" pitchFamily="34" charset="0"/>
              </a:rPr>
              <a:t>Food &amp; Beverage</a:t>
            </a:r>
            <a:endParaRPr lang="en-US" sz="780" dirty="0"/>
          </a:p>
        </p:txBody>
      </p:sp>
      <p:sp>
        <p:nvSpPr>
          <p:cNvPr id="29" name="Shape 28"/>
          <p:cNvSpPr/>
          <p:nvPr/>
        </p:nvSpPr>
        <p:spPr>
          <a:xfrm>
            <a:off x="2190750" y="2083594"/>
            <a:ext cx="86618" cy="104775"/>
          </a:xfrm>
          <a:prstGeom prst="rect">
            <a:avLst/>
          </a:prstGeom>
          <a:solidFill>
            <a:srgbClr val="B68757"/>
          </a:solidFill>
          <a:ln/>
        </p:spPr>
        <p:txBody>
          <a:bodyPr/>
          <a:lstStyle/>
          <a:p>
            <a:endParaRPr lang="en-US"/>
          </a:p>
        </p:txBody>
      </p:sp>
      <p:sp>
        <p:nvSpPr>
          <p:cNvPr id="30" name="Text 29"/>
          <p:cNvSpPr txBox="1"/>
          <p:nvPr/>
        </p:nvSpPr>
        <p:spPr>
          <a:xfrm>
            <a:off x="2334518" y="2078831"/>
            <a:ext cx="117872" cy="104775"/>
          </a:xfrm>
          <a:prstGeom prst="rect">
            <a:avLst/>
          </a:prstGeom>
          <a:noFill/>
          <a:ln/>
        </p:spPr>
        <p:txBody>
          <a:bodyPr wrap="none" lIns="0" tIns="0" rIns="0" bIns="0" rtlCol="0" anchor="t"/>
          <a:lstStyle/>
          <a:p>
            <a:pPr marL="0" indent="0" algn="l">
              <a:lnSpc>
                <a:spcPts val="825"/>
              </a:lnSpc>
              <a:buNone/>
            </a:pPr>
            <a:r>
              <a:rPr lang="en-US" sz="788" b="1" kern="0" spc="15" dirty="0">
                <a:solidFill>
                  <a:srgbClr val="1B1A1A"/>
                </a:solidFill>
                <a:latin typeface="Quicksand" pitchFamily="34" charset="0"/>
              </a:rPr>
              <a:t>4</a:t>
            </a:r>
            <a:endParaRPr lang="en-US" sz="788" dirty="0"/>
          </a:p>
        </p:txBody>
      </p:sp>
      <p:sp>
        <p:nvSpPr>
          <p:cNvPr id="31" name="Shape 30"/>
          <p:cNvSpPr/>
          <p:nvPr/>
        </p:nvSpPr>
        <p:spPr>
          <a:xfrm>
            <a:off x="2190750" y="2226469"/>
            <a:ext cx="584746" cy="104775"/>
          </a:xfrm>
          <a:prstGeom prst="rect">
            <a:avLst/>
          </a:prstGeom>
          <a:solidFill>
            <a:srgbClr val="C3BDB6"/>
          </a:solidFill>
          <a:ln/>
        </p:spPr>
        <p:txBody>
          <a:bodyPr/>
          <a:lstStyle/>
          <a:p>
            <a:endParaRPr lang="en-US"/>
          </a:p>
        </p:txBody>
      </p:sp>
      <p:sp>
        <p:nvSpPr>
          <p:cNvPr id="32" name="Text 31"/>
          <p:cNvSpPr txBox="1"/>
          <p:nvPr/>
        </p:nvSpPr>
        <p:spPr>
          <a:xfrm>
            <a:off x="2832646" y="2221706"/>
            <a:ext cx="172789" cy="104775"/>
          </a:xfrm>
          <a:prstGeom prst="rect">
            <a:avLst/>
          </a:prstGeom>
          <a:noFill/>
          <a:ln/>
        </p:spPr>
        <p:txBody>
          <a:bodyPr wrap="none" lIns="0" tIns="0" rIns="0" bIns="0" rtlCol="0" anchor="t"/>
          <a:lstStyle/>
          <a:p>
            <a:pPr marL="0" indent="0" algn="l">
              <a:lnSpc>
                <a:spcPts val="825"/>
              </a:lnSpc>
              <a:buNone/>
            </a:pPr>
            <a:r>
              <a:rPr lang="en-US" sz="788" b="1" kern="0" spc="15" dirty="0">
                <a:solidFill>
                  <a:srgbClr val="6F6A66"/>
                </a:solidFill>
                <a:latin typeface="Quicksand" pitchFamily="34" charset="0"/>
              </a:rPr>
              <a:t>27</a:t>
            </a:r>
            <a:endParaRPr lang="en-US" sz="788" dirty="0"/>
          </a:p>
        </p:txBody>
      </p:sp>
      <p:sp>
        <p:nvSpPr>
          <p:cNvPr id="33" name="Shape 32"/>
          <p:cNvSpPr/>
          <p:nvPr/>
        </p:nvSpPr>
        <p:spPr>
          <a:xfrm>
            <a:off x="2190750" y="2605088"/>
            <a:ext cx="1905000" cy="9525"/>
          </a:xfrm>
          <a:prstGeom prst="rect">
            <a:avLst/>
          </a:prstGeom>
          <a:solidFill>
            <a:srgbClr val="E3DCD3"/>
          </a:solidFill>
          <a:ln/>
        </p:spPr>
        <p:txBody>
          <a:bodyPr/>
          <a:lstStyle/>
          <a:p>
            <a:endParaRPr lang="en-US"/>
          </a:p>
        </p:txBody>
      </p:sp>
      <p:pic>
        <p:nvPicPr>
          <p:cNvPr id="34" name="Icon" descr="/tmp/claude-0/-home-claude-about/4bef2f41-4227-5ff7-ab18-11ac74cd9797/scratchpad/pptx/ex/media/850c46659f16.png"/>
          <p:cNvPicPr>
            <a:picLocks noChangeAspect="1"/>
          </p:cNvPicPr>
          <p:nvPr/>
        </p:nvPicPr>
        <p:blipFill>
          <a:blip r:embed="rId5"/>
          <a:stretch>
            <a:fillRect/>
          </a:stretch>
        </p:blipFill>
        <p:spPr>
          <a:xfrm>
            <a:off x="2190750" y="2888456"/>
            <a:ext cx="133350" cy="133350"/>
          </a:xfrm>
          <a:prstGeom prst="rect">
            <a:avLst/>
          </a:prstGeom>
        </p:spPr>
      </p:pic>
      <p:sp>
        <p:nvSpPr>
          <p:cNvPr id="35" name="Text 34"/>
          <p:cNvSpPr txBox="1"/>
          <p:nvPr/>
        </p:nvSpPr>
        <p:spPr>
          <a:xfrm>
            <a:off x="2390775" y="2883694"/>
            <a:ext cx="1504504" cy="133350"/>
          </a:xfrm>
          <a:prstGeom prst="rect">
            <a:avLst/>
          </a:prstGeom>
          <a:noFill/>
          <a:ln/>
        </p:spPr>
        <p:txBody>
          <a:bodyPr wrap="none" lIns="0" tIns="0" rIns="0" bIns="0" rtlCol="0" anchor="t"/>
          <a:lstStyle/>
          <a:p>
            <a:pPr marL="0" indent="0" algn="l">
              <a:lnSpc>
                <a:spcPts val="1050"/>
              </a:lnSpc>
              <a:buNone/>
            </a:pPr>
            <a:r>
              <a:rPr lang="en-US" sz="780" b="1" kern="0" spc="15" dirty="0">
                <a:solidFill>
                  <a:srgbClr val="1B1A1A"/>
                </a:solidFill>
                <a:latin typeface="Quicksand" pitchFamily="34" charset="0"/>
              </a:rPr>
              <a:t>Consumer Brands &amp; Products</a:t>
            </a:r>
            <a:endParaRPr lang="en-US" sz="780" dirty="0"/>
          </a:p>
        </p:txBody>
      </p:sp>
      <p:sp>
        <p:nvSpPr>
          <p:cNvPr id="36" name="Shape 35"/>
          <p:cNvSpPr/>
          <p:nvPr/>
        </p:nvSpPr>
        <p:spPr>
          <a:xfrm>
            <a:off x="2190750" y="3088481"/>
            <a:ext cx="42863" cy="104775"/>
          </a:xfrm>
          <a:prstGeom prst="rect">
            <a:avLst/>
          </a:prstGeom>
          <a:solidFill>
            <a:srgbClr val="B68757"/>
          </a:solidFill>
          <a:ln/>
        </p:spPr>
        <p:txBody>
          <a:bodyPr/>
          <a:lstStyle/>
          <a:p>
            <a:endParaRPr lang="en-US"/>
          </a:p>
        </p:txBody>
      </p:sp>
      <p:sp>
        <p:nvSpPr>
          <p:cNvPr id="37" name="Text 36"/>
          <p:cNvSpPr txBox="1"/>
          <p:nvPr/>
        </p:nvSpPr>
        <p:spPr>
          <a:xfrm>
            <a:off x="2290763" y="3083719"/>
            <a:ext cx="116086" cy="104775"/>
          </a:xfrm>
          <a:prstGeom prst="rect">
            <a:avLst/>
          </a:prstGeom>
          <a:noFill/>
          <a:ln/>
        </p:spPr>
        <p:txBody>
          <a:bodyPr wrap="none" lIns="0" tIns="0" rIns="0" bIns="0" rtlCol="0" anchor="t"/>
          <a:lstStyle/>
          <a:p>
            <a:pPr marL="0" indent="0" algn="l">
              <a:lnSpc>
                <a:spcPts val="825"/>
              </a:lnSpc>
              <a:buNone/>
            </a:pPr>
            <a:r>
              <a:rPr lang="en-US" sz="788" b="1" kern="0" spc="15" dirty="0">
                <a:solidFill>
                  <a:srgbClr val="1B1A1A"/>
                </a:solidFill>
                <a:latin typeface="Quicksand" pitchFamily="34" charset="0"/>
              </a:rPr>
              <a:t>2</a:t>
            </a:r>
            <a:endParaRPr lang="en-US" sz="788" dirty="0"/>
          </a:p>
        </p:txBody>
      </p:sp>
      <p:sp>
        <p:nvSpPr>
          <p:cNvPr id="38" name="Shape 37"/>
          <p:cNvSpPr/>
          <p:nvPr/>
        </p:nvSpPr>
        <p:spPr>
          <a:xfrm>
            <a:off x="2190750" y="3231356"/>
            <a:ext cx="260003" cy="104775"/>
          </a:xfrm>
          <a:prstGeom prst="rect">
            <a:avLst/>
          </a:prstGeom>
          <a:solidFill>
            <a:srgbClr val="C3BDB6"/>
          </a:solidFill>
          <a:ln/>
        </p:spPr>
        <p:txBody>
          <a:bodyPr/>
          <a:lstStyle/>
          <a:p>
            <a:endParaRPr lang="en-US"/>
          </a:p>
        </p:txBody>
      </p:sp>
      <p:sp>
        <p:nvSpPr>
          <p:cNvPr id="39" name="Text 38"/>
          <p:cNvSpPr txBox="1"/>
          <p:nvPr/>
        </p:nvSpPr>
        <p:spPr>
          <a:xfrm>
            <a:off x="2507903" y="3226594"/>
            <a:ext cx="156865" cy="104775"/>
          </a:xfrm>
          <a:prstGeom prst="rect">
            <a:avLst/>
          </a:prstGeom>
          <a:noFill/>
          <a:ln/>
        </p:spPr>
        <p:txBody>
          <a:bodyPr wrap="none" lIns="0" tIns="0" rIns="0" bIns="0" rtlCol="0" anchor="t"/>
          <a:lstStyle/>
          <a:p>
            <a:pPr marL="0" indent="0" algn="l">
              <a:lnSpc>
                <a:spcPts val="825"/>
              </a:lnSpc>
              <a:buNone/>
            </a:pPr>
            <a:r>
              <a:rPr lang="en-US" sz="788" b="1" kern="0" spc="15" dirty="0">
                <a:solidFill>
                  <a:srgbClr val="6F6A66"/>
                </a:solidFill>
                <a:latin typeface="Quicksand" pitchFamily="34" charset="0"/>
              </a:rPr>
              <a:t>12</a:t>
            </a:r>
            <a:endParaRPr lang="en-US" sz="788" dirty="0"/>
          </a:p>
        </p:txBody>
      </p:sp>
      <p:sp>
        <p:nvSpPr>
          <p:cNvPr id="40" name="Shape 39"/>
          <p:cNvSpPr/>
          <p:nvPr/>
        </p:nvSpPr>
        <p:spPr>
          <a:xfrm>
            <a:off x="2190750" y="3609975"/>
            <a:ext cx="1905000" cy="9525"/>
          </a:xfrm>
          <a:prstGeom prst="rect">
            <a:avLst/>
          </a:prstGeom>
          <a:solidFill>
            <a:srgbClr val="E3DCD3"/>
          </a:solidFill>
          <a:ln/>
        </p:spPr>
        <p:txBody>
          <a:bodyPr/>
          <a:lstStyle/>
          <a:p>
            <a:endParaRPr lang="en-US"/>
          </a:p>
        </p:txBody>
      </p:sp>
      <p:pic>
        <p:nvPicPr>
          <p:cNvPr id="41" name="Icon" descr="/tmp/claude-0/-home-claude-about/4bef2f41-4227-5ff7-ab18-11ac74cd9797/scratchpad/pptx/ex/media/2fc6f7a740ba.png"/>
          <p:cNvPicPr>
            <a:picLocks noChangeAspect="1"/>
          </p:cNvPicPr>
          <p:nvPr/>
        </p:nvPicPr>
        <p:blipFill>
          <a:blip r:embed="rId6"/>
          <a:stretch>
            <a:fillRect/>
          </a:stretch>
        </p:blipFill>
        <p:spPr>
          <a:xfrm>
            <a:off x="2190750" y="3893344"/>
            <a:ext cx="133350" cy="133350"/>
          </a:xfrm>
          <a:prstGeom prst="rect">
            <a:avLst/>
          </a:prstGeom>
        </p:spPr>
      </p:pic>
      <p:sp>
        <p:nvSpPr>
          <p:cNvPr id="42" name="Text 41"/>
          <p:cNvSpPr txBox="1"/>
          <p:nvPr/>
        </p:nvSpPr>
        <p:spPr>
          <a:xfrm>
            <a:off x="2390775" y="3888581"/>
            <a:ext cx="1368475" cy="133350"/>
          </a:xfrm>
          <a:prstGeom prst="rect">
            <a:avLst/>
          </a:prstGeom>
          <a:noFill/>
          <a:ln/>
        </p:spPr>
        <p:txBody>
          <a:bodyPr wrap="none" lIns="0" tIns="0" rIns="0" bIns="0" rtlCol="0" anchor="t"/>
          <a:lstStyle/>
          <a:p>
            <a:pPr marL="0" indent="0" algn="l">
              <a:lnSpc>
                <a:spcPts val="1050"/>
              </a:lnSpc>
              <a:buNone/>
            </a:pPr>
            <a:r>
              <a:rPr lang="en-US" sz="780" b="1" kern="0" spc="15" dirty="0">
                <a:solidFill>
                  <a:srgbClr val="1B1A1A"/>
                </a:solidFill>
                <a:latin typeface="Quicksand" pitchFamily="34" charset="0"/>
              </a:rPr>
              <a:t>Foodservice &amp; Distribution</a:t>
            </a:r>
            <a:endParaRPr lang="en-US" sz="780" dirty="0"/>
          </a:p>
        </p:txBody>
      </p:sp>
      <p:sp>
        <p:nvSpPr>
          <p:cNvPr id="43" name="Shape 42"/>
          <p:cNvSpPr/>
          <p:nvPr/>
        </p:nvSpPr>
        <p:spPr>
          <a:xfrm>
            <a:off x="2190750" y="4093369"/>
            <a:ext cx="129480" cy="104775"/>
          </a:xfrm>
          <a:prstGeom prst="rect">
            <a:avLst/>
          </a:prstGeom>
          <a:solidFill>
            <a:srgbClr val="B68757"/>
          </a:solidFill>
          <a:ln/>
        </p:spPr>
        <p:txBody>
          <a:bodyPr/>
          <a:lstStyle/>
          <a:p>
            <a:endParaRPr lang="en-US"/>
          </a:p>
        </p:txBody>
      </p:sp>
      <p:sp>
        <p:nvSpPr>
          <p:cNvPr id="44" name="Text 43"/>
          <p:cNvSpPr txBox="1"/>
          <p:nvPr/>
        </p:nvSpPr>
        <p:spPr>
          <a:xfrm>
            <a:off x="2377380" y="4088606"/>
            <a:ext cx="114449" cy="104775"/>
          </a:xfrm>
          <a:prstGeom prst="rect">
            <a:avLst/>
          </a:prstGeom>
          <a:noFill/>
          <a:ln/>
        </p:spPr>
        <p:txBody>
          <a:bodyPr wrap="none" lIns="0" tIns="0" rIns="0" bIns="0" rtlCol="0" anchor="t"/>
          <a:lstStyle/>
          <a:p>
            <a:pPr marL="0" indent="0" algn="l">
              <a:lnSpc>
                <a:spcPts val="825"/>
              </a:lnSpc>
              <a:buNone/>
            </a:pPr>
            <a:r>
              <a:rPr lang="en-US" sz="788" b="1" kern="0" spc="15" dirty="0">
                <a:solidFill>
                  <a:srgbClr val="1B1A1A"/>
                </a:solidFill>
                <a:latin typeface="Quicksand" pitchFamily="34" charset="0"/>
              </a:rPr>
              <a:t>6</a:t>
            </a:r>
            <a:endParaRPr lang="en-US" sz="788" dirty="0"/>
          </a:p>
        </p:txBody>
      </p:sp>
      <p:sp>
        <p:nvSpPr>
          <p:cNvPr id="45" name="Shape 44"/>
          <p:cNvSpPr/>
          <p:nvPr/>
        </p:nvSpPr>
        <p:spPr>
          <a:xfrm>
            <a:off x="2190750" y="4236244"/>
            <a:ext cx="108496" cy="104775"/>
          </a:xfrm>
          <a:prstGeom prst="rect">
            <a:avLst/>
          </a:prstGeom>
          <a:solidFill>
            <a:srgbClr val="C3BDB6"/>
          </a:solidFill>
          <a:ln/>
        </p:spPr>
        <p:txBody>
          <a:bodyPr/>
          <a:lstStyle/>
          <a:p>
            <a:endParaRPr lang="en-US"/>
          </a:p>
        </p:txBody>
      </p:sp>
      <p:sp>
        <p:nvSpPr>
          <p:cNvPr id="46" name="Text 45"/>
          <p:cNvSpPr txBox="1"/>
          <p:nvPr/>
        </p:nvSpPr>
        <p:spPr>
          <a:xfrm>
            <a:off x="2356396" y="4231481"/>
            <a:ext cx="116681" cy="104775"/>
          </a:xfrm>
          <a:prstGeom prst="rect">
            <a:avLst/>
          </a:prstGeom>
          <a:noFill/>
          <a:ln/>
        </p:spPr>
        <p:txBody>
          <a:bodyPr wrap="none" lIns="0" tIns="0" rIns="0" bIns="0" rtlCol="0" anchor="t"/>
          <a:lstStyle/>
          <a:p>
            <a:pPr marL="0" indent="0" algn="l">
              <a:lnSpc>
                <a:spcPts val="825"/>
              </a:lnSpc>
              <a:buNone/>
            </a:pPr>
            <a:r>
              <a:rPr lang="en-US" sz="788" b="1" kern="0" spc="15" dirty="0">
                <a:solidFill>
                  <a:srgbClr val="6F6A66"/>
                </a:solidFill>
                <a:latin typeface="Quicksand" pitchFamily="34" charset="0"/>
              </a:rPr>
              <a:t>5</a:t>
            </a:r>
            <a:endParaRPr lang="en-US" sz="788" dirty="0"/>
          </a:p>
        </p:txBody>
      </p:sp>
      <p:sp>
        <p:nvSpPr>
          <p:cNvPr id="47" name="Shape 46"/>
          <p:cNvSpPr/>
          <p:nvPr/>
        </p:nvSpPr>
        <p:spPr>
          <a:xfrm>
            <a:off x="2190750" y="4614863"/>
            <a:ext cx="1905000" cy="9525"/>
          </a:xfrm>
          <a:prstGeom prst="rect">
            <a:avLst/>
          </a:prstGeom>
          <a:solidFill>
            <a:srgbClr val="E3DCD3"/>
          </a:solidFill>
          <a:ln/>
        </p:spPr>
        <p:txBody>
          <a:bodyPr/>
          <a:lstStyle/>
          <a:p>
            <a:endParaRPr lang="en-US"/>
          </a:p>
        </p:txBody>
      </p:sp>
      <p:pic>
        <p:nvPicPr>
          <p:cNvPr id="48" name="Icon" descr="/tmp/claude-0/-home-claude-about/4bef2f41-4227-5ff7-ab18-11ac74cd9797/scratchpad/pptx/ex/media/151feb1fc16e.png"/>
          <p:cNvPicPr>
            <a:picLocks noChangeAspect="1"/>
          </p:cNvPicPr>
          <p:nvPr/>
        </p:nvPicPr>
        <p:blipFill>
          <a:blip r:embed="rId7"/>
          <a:stretch>
            <a:fillRect/>
          </a:stretch>
        </p:blipFill>
        <p:spPr>
          <a:xfrm>
            <a:off x="2190750" y="4898231"/>
            <a:ext cx="133350" cy="133350"/>
          </a:xfrm>
          <a:prstGeom prst="rect">
            <a:avLst/>
          </a:prstGeom>
        </p:spPr>
      </p:pic>
      <p:sp>
        <p:nvSpPr>
          <p:cNvPr id="49" name="Text 48"/>
          <p:cNvSpPr txBox="1"/>
          <p:nvPr/>
        </p:nvSpPr>
        <p:spPr>
          <a:xfrm>
            <a:off x="2390775" y="4893469"/>
            <a:ext cx="1421755" cy="133350"/>
          </a:xfrm>
          <a:prstGeom prst="rect">
            <a:avLst/>
          </a:prstGeom>
          <a:noFill/>
          <a:ln/>
        </p:spPr>
        <p:txBody>
          <a:bodyPr wrap="none" lIns="0" tIns="0" rIns="0" bIns="0" rtlCol="0" anchor="t"/>
          <a:lstStyle/>
          <a:p>
            <a:pPr marL="0" indent="0" algn="l">
              <a:lnSpc>
                <a:spcPts val="1050"/>
              </a:lnSpc>
              <a:buNone/>
            </a:pPr>
            <a:r>
              <a:rPr lang="en-US" sz="780" b="1" kern="0" spc="15" dirty="0">
                <a:solidFill>
                  <a:srgbClr val="1B1A1A"/>
                </a:solidFill>
                <a:latin typeface="Quicksand" pitchFamily="34" charset="0"/>
              </a:rPr>
              <a:t>Consumer Services &amp; Retail</a:t>
            </a:r>
            <a:endParaRPr lang="en-US" sz="780" dirty="0"/>
          </a:p>
        </p:txBody>
      </p:sp>
      <p:sp>
        <p:nvSpPr>
          <p:cNvPr id="50" name="Shape 49"/>
          <p:cNvSpPr/>
          <p:nvPr/>
        </p:nvSpPr>
        <p:spPr>
          <a:xfrm>
            <a:off x="2190750" y="5098256"/>
            <a:ext cx="433388" cy="104775"/>
          </a:xfrm>
          <a:prstGeom prst="rect">
            <a:avLst/>
          </a:prstGeom>
          <a:solidFill>
            <a:srgbClr val="B68757"/>
          </a:solidFill>
          <a:ln/>
        </p:spPr>
        <p:txBody>
          <a:bodyPr/>
          <a:lstStyle/>
          <a:p>
            <a:endParaRPr lang="en-US"/>
          </a:p>
        </p:txBody>
      </p:sp>
      <p:sp>
        <p:nvSpPr>
          <p:cNvPr id="51" name="Text 50"/>
          <p:cNvSpPr txBox="1"/>
          <p:nvPr/>
        </p:nvSpPr>
        <p:spPr>
          <a:xfrm>
            <a:off x="2681288" y="5093494"/>
            <a:ext cx="179338" cy="104775"/>
          </a:xfrm>
          <a:prstGeom prst="rect">
            <a:avLst/>
          </a:prstGeom>
          <a:noFill/>
          <a:ln/>
        </p:spPr>
        <p:txBody>
          <a:bodyPr wrap="none" lIns="0" tIns="0" rIns="0" bIns="0" rtlCol="0" anchor="t"/>
          <a:lstStyle/>
          <a:p>
            <a:pPr marL="0" indent="0" algn="l">
              <a:lnSpc>
                <a:spcPts val="825"/>
              </a:lnSpc>
              <a:buNone/>
            </a:pPr>
            <a:r>
              <a:rPr lang="en-US" sz="788" b="1" kern="0" spc="15" dirty="0">
                <a:solidFill>
                  <a:srgbClr val="1B1A1A"/>
                </a:solidFill>
                <a:latin typeface="Quicksand" pitchFamily="34" charset="0"/>
              </a:rPr>
              <a:t>20</a:t>
            </a:r>
            <a:endParaRPr lang="en-US" sz="788" dirty="0"/>
          </a:p>
        </p:txBody>
      </p:sp>
      <p:sp>
        <p:nvSpPr>
          <p:cNvPr id="52" name="Shape 51"/>
          <p:cNvSpPr/>
          <p:nvPr/>
        </p:nvSpPr>
        <p:spPr>
          <a:xfrm>
            <a:off x="2190750" y="5241131"/>
            <a:ext cx="1428750" cy="104775"/>
          </a:xfrm>
          <a:prstGeom prst="rect">
            <a:avLst/>
          </a:prstGeom>
          <a:solidFill>
            <a:srgbClr val="C3BDB6"/>
          </a:solidFill>
          <a:ln/>
        </p:spPr>
        <p:txBody>
          <a:bodyPr/>
          <a:lstStyle/>
          <a:p>
            <a:endParaRPr lang="en-US"/>
          </a:p>
        </p:txBody>
      </p:sp>
      <p:sp>
        <p:nvSpPr>
          <p:cNvPr id="53" name="Text 52"/>
          <p:cNvSpPr txBox="1"/>
          <p:nvPr/>
        </p:nvSpPr>
        <p:spPr>
          <a:xfrm>
            <a:off x="3676650" y="5236369"/>
            <a:ext cx="171599" cy="104775"/>
          </a:xfrm>
          <a:prstGeom prst="rect">
            <a:avLst/>
          </a:prstGeom>
          <a:noFill/>
          <a:ln/>
        </p:spPr>
        <p:txBody>
          <a:bodyPr wrap="none" lIns="0" tIns="0" rIns="0" bIns="0" rtlCol="0" anchor="t"/>
          <a:lstStyle/>
          <a:p>
            <a:pPr marL="0" indent="0" algn="l">
              <a:lnSpc>
                <a:spcPts val="825"/>
              </a:lnSpc>
              <a:buNone/>
            </a:pPr>
            <a:r>
              <a:rPr lang="en-US" sz="788" b="1" kern="0" spc="15" dirty="0">
                <a:solidFill>
                  <a:srgbClr val="6F6A66"/>
                </a:solidFill>
                <a:latin typeface="Quicksand" pitchFamily="34" charset="0"/>
              </a:rPr>
              <a:t>66</a:t>
            </a:r>
            <a:endParaRPr lang="en-US" sz="788" dirty="0"/>
          </a:p>
        </p:txBody>
      </p:sp>
      <p:sp>
        <p:nvSpPr>
          <p:cNvPr id="54" name="Shape 53"/>
          <p:cNvSpPr/>
          <p:nvPr/>
        </p:nvSpPr>
        <p:spPr>
          <a:xfrm>
            <a:off x="2190750" y="5619750"/>
            <a:ext cx="1905000" cy="9525"/>
          </a:xfrm>
          <a:prstGeom prst="rect">
            <a:avLst/>
          </a:prstGeom>
          <a:solidFill>
            <a:srgbClr val="E3DCD3"/>
          </a:solidFill>
          <a:ln/>
        </p:spPr>
        <p:txBody>
          <a:bodyPr/>
          <a:lstStyle/>
          <a:p>
            <a:endParaRPr lang="en-US"/>
          </a:p>
        </p:txBody>
      </p:sp>
      <p:sp>
        <p:nvSpPr>
          <p:cNvPr id="55" name="Text 54"/>
          <p:cNvSpPr txBox="1"/>
          <p:nvPr/>
        </p:nvSpPr>
        <p:spPr>
          <a:xfrm>
            <a:off x="2190750" y="5719763"/>
            <a:ext cx="1919288" cy="266700"/>
          </a:xfrm>
          <a:prstGeom prst="rect">
            <a:avLst/>
          </a:prstGeom>
          <a:noFill/>
          <a:ln/>
        </p:spPr>
        <p:txBody>
          <a:bodyPr wrap="square" lIns="0" tIns="0" rIns="0" bIns="0" rtlCol="0" anchor="t"/>
          <a:lstStyle/>
          <a:p>
            <a:pPr marL="0" indent="0" algn="l">
              <a:lnSpc>
                <a:spcPts val="1050"/>
              </a:lnSpc>
              <a:buNone/>
            </a:pPr>
            <a:r>
              <a:rPr lang="en-US" sz="675" b="1" kern="0" spc="180" dirty="0">
                <a:solidFill>
                  <a:srgbClr val="8C6239"/>
                </a:solidFill>
                <a:latin typeface="Quicksand" pitchFamily="34" charset="0"/>
              </a:rPr>
              <a:t>WHO BOUGHT THE 17 NAMED COMPANIES</a:t>
            </a:r>
            <a:endParaRPr lang="en-US" sz="675" dirty="0"/>
          </a:p>
        </p:txBody>
      </p:sp>
      <p:sp>
        <p:nvSpPr>
          <p:cNvPr id="56" name="Shape 55"/>
          <p:cNvSpPr/>
          <p:nvPr/>
        </p:nvSpPr>
        <p:spPr>
          <a:xfrm>
            <a:off x="2190750" y="6057900"/>
            <a:ext cx="988368" cy="114300"/>
          </a:xfrm>
          <a:prstGeom prst="rect">
            <a:avLst/>
          </a:prstGeom>
          <a:solidFill>
            <a:srgbClr val="B68757"/>
          </a:solidFill>
          <a:ln/>
        </p:spPr>
        <p:txBody>
          <a:bodyPr/>
          <a:lstStyle/>
          <a:p>
            <a:endParaRPr lang="en-US"/>
          </a:p>
        </p:txBody>
      </p:sp>
      <p:sp>
        <p:nvSpPr>
          <p:cNvPr id="57" name="Shape 56"/>
          <p:cNvSpPr/>
          <p:nvPr/>
        </p:nvSpPr>
        <p:spPr>
          <a:xfrm>
            <a:off x="3198168" y="6057900"/>
            <a:ext cx="658862" cy="114300"/>
          </a:xfrm>
          <a:prstGeom prst="rect">
            <a:avLst/>
          </a:prstGeom>
          <a:solidFill>
            <a:srgbClr val="1B1A1A"/>
          </a:solidFill>
          <a:ln/>
        </p:spPr>
        <p:txBody>
          <a:bodyPr/>
          <a:lstStyle/>
          <a:p>
            <a:endParaRPr lang="en-US"/>
          </a:p>
        </p:txBody>
      </p:sp>
      <p:sp>
        <p:nvSpPr>
          <p:cNvPr id="58" name="Shape 57"/>
          <p:cNvSpPr/>
          <p:nvPr/>
        </p:nvSpPr>
        <p:spPr>
          <a:xfrm>
            <a:off x="3876080" y="6057900"/>
            <a:ext cx="219670" cy="114300"/>
          </a:xfrm>
          <a:prstGeom prst="rect">
            <a:avLst/>
          </a:prstGeom>
          <a:solidFill>
            <a:srgbClr val="C3BDB6"/>
          </a:solidFill>
          <a:ln/>
        </p:spPr>
        <p:txBody>
          <a:bodyPr/>
          <a:lstStyle/>
          <a:p>
            <a:endParaRPr lang="en-US"/>
          </a:p>
        </p:txBody>
      </p:sp>
      <p:sp>
        <p:nvSpPr>
          <p:cNvPr id="59" name="Shape 58"/>
          <p:cNvSpPr/>
          <p:nvPr/>
        </p:nvSpPr>
        <p:spPr>
          <a:xfrm>
            <a:off x="2190750" y="6238875"/>
            <a:ext cx="85725" cy="85725"/>
          </a:xfrm>
          <a:prstGeom prst="rect">
            <a:avLst/>
          </a:prstGeom>
          <a:solidFill>
            <a:srgbClr val="B68757"/>
          </a:solidFill>
          <a:ln/>
        </p:spPr>
        <p:txBody>
          <a:bodyPr/>
          <a:lstStyle/>
          <a:p>
            <a:endParaRPr lang="en-US"/>
          </a:p>
        </p:txBody>
      </p:sp>
      <p:sp>
        <p:nvSpPr>
          <p:cNvPr id="60" name="Text 59"/>
          <p:cNvSpPr txBox="1"/>
          <p:nvPr/>
        </p:nvSpPr>
        <p:spPr>
          <a:xfrm>
            <a:off x="2333625" y="6212681"/>
            <a:ext cx="1665387" cy="238125"/>
          </a:xfrm>
          <a:prstGeom prst="rect">
            <a:avLst/>
          </a:prstGeom>
          <a:noFill/>
          <a:ln/>
        </p:spPr>
        <p:txBody>
          <a:bodyPr wrap="square" lIns="0" tIns="0" rIns="0" bIns="0" rtlCol="0" anchor="t"/>
          <a:lstStyle/>
          <a:p>
            <a:pPr marL="0" indent="0" algn="l">
              <a:lnSpc>
                <a:spcPts val="938"/>
              </a:lnSpc>
              <a:buNone/>
            </a:pPr>
            <a:r>
              <a:rPr lang="en-US" sz="690" kern="0" spc="15" dirty="0">
                <a:solidFill>
                  <a:srgbClr val="333231"/>
                </a:solidFill>
                <a:latin typeface="Quicksand" pitchFamily="34" charset="0"/>
              </a:rPr>
              <a:t>Operating companies and platforms adding to an existing business</a:t>
            </a:r>
            <a:endParaRPr lang="en-US" sz="690" dirty="0"/>
          </a:p>
        </p:txBody>
      </p:sp>
      <p:sp>
        <p:nvSpPr>
          <p:cNvPr id="61" name="Text 60"/>
          <p:cNvSpPr txBox="1"/>
          <p:nvPr/>
        </p:nvSpPr>
        <p:spPr>
          <a:xfrm>
            <a:off x="4041874" y="6215063"/>
            <a:ext cx="111026" cy="161925"/>
          </a:xfrm>
          <a:prstGeom prst="rect">
            <a:avLst/>
          </a:prstGeom>
          <a:noFill/>
          <a:ln/>
        </p:spPr>
        <p:txBody>
          <a:bodyPr wrap="none" lIns="0" tIns="0" rIns="0" bIns="0" rtlCol="0" anchor="t"/>
          <a:lstStyle/>
          <a:p>
            <a:pPr marL="0" indent="0" algn="l">
              <a:lnSpc>
                <a:spcPts val="1275"/>
              </a:lnSpc>
              <a:buNone/>
            </a:pPr>
            <a:r>
              <a:rPr lang="en-US" sz="720" b="1" kern="0" spc="15" dirty="0">
                <a:solidFill>
                  <a:srgbClr val="1B1A1A"/>
                </a:solidFill>
                <a:latin typeface="Quicksand" pitchFamily="34" charset="0"/>
              </a:rPr>
              <a:t>9</a:t>
            </a:r>
            <a:endParaRPr lang="en-US" sz="720" dirty="0"/>
          </a:p>
        </p:txBody>
      </p:sp>
      <p:sp>
        <p:nvSpPr>
          <p:cNvPr id="62" name="Shape 61"/>
          <p:cNvSpPr/>
          <p:nvPr/>
        </p:nvSpPr>
        <p:spPr>
          <a:xfrm>
            <a:off x="2190750" y="6515100"/>
            <a:ext cx="85725" cy="85725"/>
          </a:xfrm>
          <a:prstGeom prst="rect">
            <a:avLst/>
          </a:prstGeom>
          <a:solidFill>
            <a:srgbClr val="1B1A1A"/>
          </a:solidFill>
          <a:ln/>
        </p:spPr>
        <p:txBody>
          <a:bodyPr/>
          <a:lstStyle/>
          <a:p>
            <a:endParaRPr lang="en-US"/>
          </a:p>
        </p:txBody>
      </p:sp>
      <p:sp>
        <p:nvSpPr>
          <p:cNvPr id="63" name="Text 62"/>
          <p:cNvSpPr txBox="1"/>
          <p:nvPr/>
        </p:nvSpPr>
        <p:spPr>
          <a:xfrm>
            <a:off x="2333625" y="6488906"/>
            <a:ext cx="1666726" cy="238125"/>
          </a:xfrm>
          <a:prstGeom prst="rect">
            <a:avLst/>
          </a:prstGeom>
          <a:noFill/>
          <a:ln/>
        </p:spPr>
        <p:txBody>
          <a:bodyPr wrap="square" lIns="0" tIns="0" rIns="0" bIns="0" rtlCol="0" anchor="t"/>
          <a:lstStyle/>
          <a:p>
            <a:pPr marL="0" indent="0" algn="l">
              <a:lnSpc>
                <a:spcPts val="938"/>
              </a:lnSpc>
              <a:buNone/>
            </a:pPr>
            <a:r>
              <a:rPr lang="en-US" sz="690" kern="0" spc="15" dirty="0">
                <a:solidFill>
                  <a:srgbClr val="333231"/>
                </a:solidFill>
                <a:latin typeface="Quicksand" pitchFamily="34" charset="0"/>
              </a:rPr>
              <a:t>Private equity and private investment firms</a:t>
            </a:r>
            <a:endParaRPr lang="en-US" sz="690" dirty="0"/>
          </a:p>
        </p:txBody>
      </p:sp>
      <p:sp>
        <p:nvSpPr>
          <p:cNvPr id="64" name="Text 63"/>
          <p:cNvSpPr txBox="1"/>
          <p:nvPr/>
        </p:nvSpPr>
        <p:spPr>
          <a:xfrm>
            <a:off x="4043214" y="6491288"/>
            <a:ext cx="109686" cy="161925"/>
          </a:xfrm>
          <a:prstGeom prst="rect">
            <a:avLst/>
          </a:prstGeom>
          <a:noFill/>
          <a:ln/>
        </p:spPr>
        <p:txBody>
          <a:bodyPr wrap="none" lIns="0" tIns="0" rIns="0" bIns="0" rtlCol="0" anchor="t"/>
          <a:lstStyle/>
          <a:p>
            <a:pPr marL="0" indent="0" algn="l">
              <a:lnSpc>
                <a:spcPts val="1275"/>
              </a:lnSpc>
              <a:buNone/>
            </a:pPr>
            <a:r>
              <a:rPr lang="en-US" sz="720" b="1" kern="0" spc="15" dirty="0">
                <a:solidFill>
                  <a:srgbClr val="1B1A1A"/>
                </a:solidFill>
                <a:latin typeface="Quicksand" pitchFamily="34" charset="0"/>
              </a:rPr>
              <a:t>6</a:t>
            </a:r>
            <a:endParaRPr lang="en-US" sz="720" dirty="0"/>
          </a:p>
        </p:txBody>
      </p:sp>
      <p:sp>
        <p:nvSpPr>
          <p:cNvPr id="65" name="Shape 64"/>
          <p:cNvSpPr/>
          <p:nvPr/>
        </p:nvSpPr>
        <p:spPr>
          <a:xfrm>
            <a:off x="2190750" y="6791325"/>
            <a:ext cx="85725" cy="85725"/>
          </a:xfrm>
          <a:prstGeom prst="rect">
            <a:avLst/>
          </a:prstGeom>
          <a:solidFill>
            <a:srgbClr val="C3BDB6"/>
          </a:solidFill>
          <a:ln/>
        </p:spPr>
        <p:txBody>
          <a:bodyPr/>
          <a:lstStyle/>
          <a:p>
            <a:endParaRPr lang="en-US"/>
          </a:p>
        </p:txBody>
      </p:sp>
      <p:sp>
        <p:nvSpPr>
          <p:cNvPr id="66" name="Text 65"/>
          <p:cNvSpPr txBox="1"/>
          <p:nvPr/>
        </p:nvSpPr>
        <p:spPr>
          <a:xfrm>
            <a:off x="2333625" y="6765131"/>
            <a:ext cx="1705273" cy="119063"/>
          </a:xfrm>
          <a:prstGeom prst="rect">
            <a:avLst/>
          </a:prstGeom>
          <a:noFill/>
          <a:ln/>
        </p:spPr>
        <p:txBody>
          <a:bodyPr wrap="none" lIns="0" tIns="0" rIns="0" bIns="0" rtlCol="0" anchor="t"/>
          <a:lstStyle/>
          <a:p>
            <a:pPr marL="0" indent="0" algn="l">
              <a:lnSpc>
                <a:spcPts val="938"/>
              </a:lnSpc>
              <a:buNone/>
            </a:pPr>
            <a:r>
              <a:rPr lang="en-US" sz="690" kern="0" spc="15" dirty="0">
                <a:solidFill>
                  <a:srgbClr val="333231"/>
                </a:solidFill>
                <a:latin typeface="Quicksand" pitchFamily="34" charset="0"/>
              </a:rPr>
              <a:t>Individual and entrepreneur-led buyers</a:t>
            </a:r>
            <a:endParaRPr lang="en-US" sz="690" dirty="0"/>
          </a:p>
        </p:txBody>
      </p:sp>
      <p:sp>
        <p:nvSpPr>
          <p:cNvPr id="67" name="Text 66"/>
          <p:cNvSpPr txBox="1"/>
          <p:nvPr/>
        </p:nvSpPr>
        <p:spPr>
          <a:xfrm>
            <a:off x="4041725" y="6767513"/>
            <a:ext cx="111175" cy="161925"/>
          </a:xfrm>
          <a:prstGeom prst="rect">
            <a:avLst/>
          </a:prstGeom>
          <a:noFill/>
          <a:ln/>
        </p:spPr>
        <p:txBody>
          <a:bodyPr wrap="none" lIns="0" tIns="0" rIns="0" bIns="0" rtlCol="0" anchor="t"/>
          <a:lstStyle/>
          <a:p>
            <a:pPr marL="0" indent="0" algn="l">
              <a:lnSpc>
                <a:spcPts val="1275"/>
              </a:lnSpc>
              <a:buNone/>
            </a:pPr>
            <a:r>
              <a:rPr lang="en-US" sz="720" b="1" kern="0" spc="15" dirty="0">
                <a:solidFill>
                  <a:srgbClr val="1B1A1A"/>
                </a:solidFill>
                <a:latin typeface="Quicksand" pitchFamily="34" charset="0"/>
              </a:rPr>
              <a:t>2</a:t>
            </a:r>
            <a:endParaRPr lang="en-US" sz="720" dirty="0"/>
          </a:p>
        </p:txBody>
      </p:sp>
      <p:sp>
        <p:nvSpPr>
          <p:cNvPr id="68" name="Text 67"/>
          <p:cNvSpPr txBox="1"/>
          <p:nvPr/>
        </p:nvSpPr>
        <p:spPr>
          <a:xfrm>
            <a:off x="4248150" y="1233488"/>
            <a:ext cx="5391150" cy="133350"/>
          </a:xfrm>
          <a:prstGeom prst="rect">
            <a:avLst/>
          </a:prstGeom>
          <a:noFill/>
          <a:ln/>
        </p:spPr>
        <p:txBody>
          <a:bodyPr wrap="none" lIns="0" tIns="0" rIns="0" bIns="0" rtlCol="0" anchor="t"/>
          <a:lstStyle/>
          <a:p>
            <a:pPr marL="0" indent="0" algn="l">
              <a:lnSpc>
                <a:spcPts val="1050"/>
              </a:lnSpc>
              <a:buNone/>
            </a:pPr>
            <a:r>
              <a:rPr lang="en-US" sz="675" b="1" kern="0" spc="180" dirty="0">
                <a:solidFill>
                  <a:srgbClr val="8C6239"/>
                </a:solidFill>
                <a:latin typeface="Quicksand" pitchFamily="34" charset="0"/>
              </a:rPr>
              <a:t>ANNOUNCED ENGAGEMENTS, BY MONTH OF ANNOUNCEMENT</a:t>
            </a:r>
            <a:endParaRPr lang="en-US" sz="675" dirty="0"/>
          </a:p>
        </p:txBody>
      </p:sp>
      <p:sp>
        <p:nvSpPr>
          <p:cNvPr id="69" name="Shape 68"/>
          <p:cNvSpPr/>
          <p:nvPr/>
        </p:nvSpPr>
        <p:spPr>
          <a:xfrm>
            <a:off x="4248150" y="1438275"/>
            <a:ext cx="1746200" cy="860375"/>
          </a:xfrm>
          <a:prstGeom prst="rect">
            <a:avLst/>
          </a:prstGeom>
          <a:solidFill>
            <a:srgbClr val="FAF7F3"/>
          </a:solidFill>
          <a:ln/>
        </p:spPr>
        <p:txBody>
          <a:bodyPr/>
          <a:lstStyle/>
          <a:p>
            <a:endParaRPr lang="en-US"/>
          </a:p>
        </p:txBody>
      </p:sp>
      <p:sp>
        <p:nvSpPr>
          <p:cNvPr id="70" name="Shape 69"/>
          <p:cNvSpPr/>
          <p:nvPr/>
        </p:nvSpPr>
        <p:spPr>
          <a:xfrm>
            <a:off x="4248150" y="1438275"/>
            <a:ext cx="1746200" cy="19050"/>
          </a:xfrm>
          <a:prstGeom prst="rect">
            <a:avLst/>
          </a:prstGeom>
          <a:solidFill>
            <a:srgbClr val="B68757"/>
          </a:solidFill>
          <a:ln/>
        </p:spPr>
        <p:txBody>
          <a:bodyPr/>
          <a:lstStyle/>
          <a:p>
            <a:endParaRPr lang="en-US"/>
          </a:p>
        </p:txBody>
      </p:sp>
      <p:sp>
        <p:nvSpPr>
          <p:cNvPr id="71" name="Text 70">
            <a:hlinkClick r:id="rId8"/>
          </p:cNvPr>
          <p:cNvSpPr txBox="1"/>
          <p:nvPr/>
        </p:nvSpPr>
        <p:spPr>
          <a:xfrm>
            <a:off x="4343400" y="1458516"/>
            <a:ext cx="510927" cy="100013"/>
          </a:xfrm>
          <a:prstGeom prst="rect">
            <a:avLst/>
          </a:prstGeom>
          <a:noFill/>
          <a:ln/>
        </p:spPr>
        <p:txBody>
          <a:bodyPr wrap="none" lIns="0" tIns="0" rIns="0" bIns="0" rtlCol="0" anchor="t"/>
          <a:lstStyle/>
          <a:p>
            <a:pPr marL="0" indent="0" algn="l">
              <a:lnSpc>
                <a:spcPts val="788"/>
              </a:lnSpc>
              <a:buNone/>
            </a:pPr>
            <a:r>
              <a:rPr lang="en-US" sz="555" b="1" kern="0" spc="90" dirty="0">
                <a:solidFill>
                  <a:srgbClr val="8C6239"/>
                </a:solidFill>
                <a:latin typeface="Quicksand" pitchFamily="34" charset="0"/>
              </a:rPr>
              <a:t>SEPT 2026</a:t>
            </a:r>
            <a:endParaRPr lang="en-US" sz="555" dirty="0"/>
          </a:p>
        </p:txBody>
      </p:sp>
      <p:sp>
        <p:nvSpPr>
          <p:cNvPr id="72" name="Text 71">
            <a:hlinkClick r:id="rId8"/>
          </p:cNvPr>
          <p:cNvSpPr txBox="1"/>
          <p:nvPr/>
        </p:nvSpPr>
        <p:spPr>
          <a:xfrm>
            <a:off x="4840039" y="1458516"/>
            <a:ext cx="1059061" cy="200025"/>
          </a:xfrm>
          <a:prstGeom prst="rect">
            <a:avLst/>
          </a:prstGeom>
          <a:noFill/>
          <a:ln/>
        </p:spPr>
        <p:txBody>
          <a:bodyPr wrap="square" lIns="0" tIns="0" rIns="0" bIns="0" rtlCol="0" anchor="t"/>
          <a:lstStyle/>
          <a:p>
            <a:pPr marL="0" indent="0" algn="r">
              <a:lnSpc>
                <a:spcPts val="788"/>
              </a:lnSpc>
              <a:buNone/>
            </a:pPr>
            <a:r>
              <a:rPr lang="en-US" sz="555" b="1" kern="0" spc="90" dirty="0">
                <a:solidFill>
                  <a:srgbClr val="8C6239"/>
                </a:solidFill>
                <a:latin typeface="Quicksand" pitchFamily="34" charset="0"/>
              </a:rPr>
              <a:t>CONSUMER SERVICES &amp; RETAIL</a:t>
            </a:r>
            <a:endParaRPr lang="en-US" sz="555" dirty="0"/>
          </a:p>
        </p:txBody>
      </p:sp>
      <p:sp>
        <p:nvSpPr>
          <p:cNvPr id="73" name="Text 72">
            <a:hlinkClick r:id="rId8"/>
          </p:cNvPr>
          <p:cNvSpPr txBox="1"/>
          <p:nvPr/>
        </p:nvSpPr>
        <p:spPr>
          <a:xfrm>
            <a:off x="4343400" y="1684734"/>
            <a:ext cx="1555700" cy="123825"/>
          </a:xfrm>
          <a:prstGeom prst="rect">
            <a:avLst/>
          </a:prstGeom>
          <a:noFill/>
          <a:ln/>
        </p:spPr>
        <p:txBody>
          <a:bodyPr wrap="none" lIns="0" tIns="0" rIns="0" bIns="0" rtlCol="0" anchor="t"/>
          <a:lstStyle/>
          <a:p>
            <a:pPr marL="0" indent="0" algn="l">
              <a:lnSpc>
                <a:spcPts val="975"/>
              </a:lnSpc>
              <a:buNone/>
            </a:pPr>
            <a:r>
              <a:rPr lang="en-US" sz="780" b="1" kern="0" spc="22" dirty="0">
                <a:solidFill>
                  <a:srgbClr val="1B1A1A"/>
                </a:solidFill>
                <a:latin typeface="Quicksand" pitchFamily="34" charset="0"/>
              </a:rPr>
              <a:t>GILCO RESTORATION</a:t>
            </a:r>
            <a:endParaRPr lang="en-US" sz="780" dirty="0"/>
          </a:p>
        </p:txBody>
      </p:sp>
      <p:sp>
        <p:nvSpPr>
          <p:cNvPr id="74" name="Text 73">
            <a:hlinkClick r:id="rId8"/>
          </p:cNvPr>
          <p:cNvSpPr txBox="1"/>
          <p:nvPr/>
        </p:nvSpPr>
        <p:spPr>
          <a:xfrm>
            <a:off x="4343400" y="1804749"/>
            <a:ext cx="1569988" cy="224760"/>
          </a:xfrm>
          <a:prstGeom prst="rect">
            <a:avLst/>
          </a:prstGeom>
          <a:noFill/>
          <a:ln/>
        </p:spPr>
        <p:txBody>
          <a:bodyPr wrap="square" lIns="0" tIns="0" rIns="0" bIns="0" rtlCol="0" anchor="t"/>
          <a:lstStyle/>
          <a:p>
            <a:pPr marL="0" indent="0" algn="l">
              <a:lnSpc>
                <a:spcPts val="885"/>
              </a:lnSpc>
              <a:buNone/>
            </a:pPr>
            <a:r>
              <a:rPr lang="en-US" sz="660" kern="0" spc="15" dirty="0">
                <a:solidFill>
                  <a:srgbClr val="6F6A66"/>
                </a:solidFill>
                <a:latin typeface="Quicksand" pitchFamily="34" charset="0"/>
              </a:rPr>
              <a:t>Fire and water damage restoration, Williamsburg, VA</a:t>
            </a:r>
            <a:endParaRPr lang="en-US" sz="660" dirty="0"/>
          </a:p>
        </p:txBody>
      </p:sp>
      <p:sp>
        <p:nvSpPr>
          <p:cNvPr id="75" name="Text 74">
            <a:hlinkClick r:id="rId8"/>
          </p:cNvPr>
          <p:cNvSpPr txBox="1"/>
          <p:nvPr/>
        </p:nvSpPr>
        <p:spPr>
          <a:xfrm>
            <a:off x="4343400" y="2047577"/>
            <a:ext cx="1569988" cy="238125"/>
          </a:xfrm>
          <a:prstGeom prst="rect">
            <a:avLst/>
          </a:prstGeom>
          <a:noFill/>
          <a:ln/>
        </p:spPr>
        <p:txBody>
          <a:bodyPr wrap="square" lIns="0" tIns="0" rIns="0" bIns="0" rtlCol="0" anchor="t"/>
          <a:lstStyle/>
          <a:p>
            <a:pPr marL="0" indent="0" algn="l">
              <a:lnSpc>
                <a:spcPts val="900"/>
              </a:lnSpc>
              <a:buNone/>
            </a:pPr>
            <a:r>
              <a:rPr lang="en-US" sz="555" kern="0" spc="90" dirty="0">
                <a:solidFill>
                  <a:srgbClr val="6F6A66"/>
                </a:solidFill>
                <a:latin typeface="Quicksand" pitchFamily="34" charset="0"/>
              </a:rPr>
              <a:t>ACQUIRED BY</a:t>
            </a:r>
            <a:r>
              <a:rPr lang="en-US" sz="690" kern="0" spc="15" dirty="0">
                <a:solidFill>
                  <a:srgbClr val="333231"/>
                </a:solidFill>
                <a:latin typeface="Quicksand" pitchFamily="34" charset="0"/>
              </a:rPr>
              <a:t> </a:t>
            </a:r>
            <a:r>
              <a:rPr lang="en-US" sz="690" b="1" kern="0" spc="15" dirty="0">
                <a:solidFill>
                  <a:srgbClr val="1B1A1A"/>
                </a:solidFill>
                <a:latin typeface="Quicksand" pitchFamily="34" charset="0"/>
              </a:rPr>
              <a:t>Thomasville Restoration</a:t>
            </a:r>
            <a:endParaRPr lang="en-US" sz="555" dirty="0"/>
          </a:p>
        </p:txBody>
      </p:sp>
      <p:sp>
        <p:nvSpPr>
          <p:cNvPr id="76" name="Shape 75"/>
          <p:cNvSpPr/>
          <p:nvPr/>
        </p:nvSpPr>
        <p:spPr>
          <a:xfrm>
            <a:off x="6070550" y="1438275"/>
            <a:ext cx="1746200" cy="860375"/>
          </a:xfrm>
          <a:prstGeom prst="rect">
            <a:avLst/>
          </a:prstGeom>
          <a:solidFill>
            <a:srgbClr val="FAF7F3"/>
          </a:solidFill>
          <a:ln/>
        </p:spPr>
        <p:txBody>
          <a:bodyPr/>
          <a:lstStyle/>
          <a:p>
            <a:endParaRPr lang="en-US"/>
          </a:p>
        </p:txBody>
      </p:sp>
      <p:sp>
        <p:nvSpPr>
          <p:cNvPr id="77" name="Shape 76"/>
          <p:cNvSpPr/>
          <p:nvPr/>
        </p:nvSpPr>
        <p:spPr>
          <a:xfrm>
            <a:off x="6070550" y="1438275"/>
            <a:ext cx="1746200" cy="19050"/>
          </a:xfrm>
          <a:prstGeom prst="rect">
            <a:avLst/>
          </a:prstGeom>
          <a:solidFill>
            <a:srgbClr val="B68757"/>
          </a:solidFill>
          <a:ln/>
        </p:spPr>
        <p:txBody>
          <a:bodyPr/>
          <a:lstStyle/>
          <a:p>
            <a:endParaRPr lang="en-US"/>
          </a:p>
        </p:txBody>
      </p:sp>
      <p:sp>
        <p:nvSpPr>
          <p:cNvPr id="78" name="Text 77">
            <a:hlinkClick r:id="rId9"/>
          </p:cNvPr>
          <p:cNvSpPr txBox="1"/>
          <p:nvPr/>
        </p:nvSpPr>
        <p:spPr>
          <a:xfrm>
            <a:off x="6165800" y="1458516"/>
            <a:ext cx="510927" cy="100013"/>
          </a:xfrm>
          <a:prstGeom prst="rect">
            <a:avLst/>
          </a:prstGeom>
          <a:noFill/>
          <a:ln/>
        </p:spPr>
        <p:txBody>
          <a:bodyPr wrap="none" lIns="0" tIns="0" rIns="0" bIns="0" rtlCol="0" anchor="t"/>
          <a:lstStyle/>
          <a:p>
            <a:pPr marL="0" indent="0" algn="l">
              <a:lnSpc>
                <a:spcPts val="788"/>
              </a:lnSpc>
              <a:buNone/>
            </a:pPr>
            <a:r>
              <a:rPr lang="en-US" sz="555" b="1" kern="0" spc="90" dirty="0">
                <a:solidFill>
                  <a:srgbClr val="8C6239"/>
                </a:solidFill>
                <a:latin typeface="Quicksand" pitchFamily="34" charset="0"/>
              </a:rPr>
              <a:t>SEPT 2026</a:t>
            </a:r>
            <a:endParaRPr lang="en-US" sz="555" dirty="0"/>
          </a:p>
        </p:txBody>
      </p:sp>
      <p:sp>
        <p:nvSpPr>
          <p:cNvPr id="79" name="Text 78">
            <a:hlinkClick r:id="rId9"/>
          </p:cNvPr>
          <p:cNvSpPr txBox="1"/>
          <p:nvPr/>
        </p:nvSpPr>
        <p:spPr>
          <a:xfrm>
            <a:off x="6662440" y="1458516"/>
            <a:ext cx="1059061" cy="200025"/>
          </a:xfrm>
          <a:prstGeom prst="rect">
            <a:avLst/>
          </a:prstGeom>
          <a:noFill/>
          <a:ln/>
        </p:spPr>
        <p:txBody>
          <a:bodyPr wrap="square" lIns="0" tIns="0" rIns="0" bIns="0" rtlCol="0" anchor="t"/>
          <a:lstStyle/>
          <a:p>
            <a:pPr marL="0" indent="0" algn="r">
              <a:lnSpc>
                <a:spcPts val="788"/>
              </a:lnSpc>
              <a:buNone/>
            </a:pPr>
            <a:r>
              <a:rPr lang="en-US" sz="555" b="1" kern="0" spc="90" dirty="0">
                <a:solidFill>
                  <a:srgbClr val="8C6239"/>
                </a:solidFill>
                <a:latin typeface="Quicksand" pitchFamily="34" charset="0"/>
              </a:rPr>
              <a:t>CONSUMER SERVICES &amp; RETAIL</a:t>
            </a:r>
            <a:endParaRPr lang="en-US" sz="555" dirty="0"/>
          </a:p>
        </p:txBody>
      </p:sp>
      <p:sp>
        <p:nvSpPr>
          <p:cNvPr id="80" name="Text 79">
            <a:hlinkClick r:id="rId9"/>
          </p:cNvPr>
          <p:cNvSpPr txBox="1"/>
          <p:nvPr/>
        </p:nvSpPr>
        <p:spPr>
          <a:xfrm>
            <a:off x="6165800" y="1684734"/>
            <a:ext cx="1555700" cy="123825"/>
          </a:xfrm>
          <a:prstGeom prst="rect">
            <a:avLst/>
          </a:prstGeom>
          <a:noFill/>
          <a:ln/>
        </p:spPr>
        <p:txBody>
          <a:bodyPr wrap="none" lIns="0" tIns="0" rIns="0" bIns="0" rtlCol="0" anchor="t"/>
          <a:lstStyle/>
          <a:p>
            <a:pPr marL="0" indent="0" algn="l">
              <a:lnSpc>
                <a:spcPts val="975"/>
              </a:lnSpc>
              <a:buNone/>
            </a:pPr>
            <a:r>
              <a:rPr lang="en-US" sz="780" b="1" kern="0" spc="22" dirty="0">
                <a:solidFill>
                  <a:srgbClr val="1B1A1A"/>
                </a:solidFill>
                <a:latin typeface="Quicksand" pitchFamily="34" charset="0"/>
              </a:rPr>
              <a:t>EDISON MARTIAL ARTS</a:t>
            </a:r>
            <a:endParaRPr lang="en-US" sz="780" dirty="0"/>
          </a:p>
        </p:txBody>
      </p:sp>
      <p:sp>
        <p:nvSpPr>
          <p:cNvPr id="81" name="Text 80">
            <a:hlinkClick r:id="rId9"/>
          </p:cNvPr>
          <p:cNvSpPr txBox="1"/>
          <p:nvPr/>
        </p:nvSpPr>
        <p:spPr>
          <a:xfrm>
            <a:off x="6165800" y="1804749"/>
            <a:ext cx="1569988" cy="224760"/>
          </a:xfrm>
          <a:prstGeom prst="rect">
            <a:avLst/>
          </a:prstGeom>
          <a:noFill/>
          <a:ln/>
        </p:spPr>
        <p:txBody>
          <a:bodyPr wrap="square" lIns="0" tIns="0" rIns="0" bIns="0" rtlCol="0" anchor="t"/>
          <a:lstStyle/>
          <a:p>
            <a:pPr marL="0" indent="0" algn="l">
              <a:lnSpc>
                <a:spcPts val="885"/>
              </a:lnSpc>
              <a:buNone/>
            </a:pPr>
            <a:r>
              <a:rPr lang="en-US" sz="660" kern="0" spc="15" dirty="0">
                <a:solidFill>
                  <a:srgbClr val="6F6A66"/>
                </a:solidFill>
                <a:latin typeface="Quicksand" pitchFamily="34" charset="0"/>
              </a:rPr>
              <a:t>Six martial arts academies, New Jersey</a:t>
            </a:r>
            <a:endParaRPr lang="en-US" sz="660" dirty="0"/>
          </a:p>
        </p:txBody>
      </p:sp>
      <p:sp>
        <p:nvSpPr>
          <p:cNvPr id="82" name="Text 81">
            <a:hlinkClick r:id="rId9"/>
          </p:cNvPr>
          <p:cNvSpPr txBox="1"/>
          <p:nvPr/>
        </p:nvSpPr>
        <p:spPr>
          <a:xfrm>
            <a:off x="6165800" y="2047577"/>
            <a:ext cx="1569988" cy="238125"/>
          </a:xfrm>
          <a:prstGeom prst="rect">
            <a:avLst/>
          </a:prstGeom>
          <a:noFill/>
          <a:ln/>
        </p:spPr>
        <p:txBody>
          <a:bodyPr wrap="square" lIns="0" tIns="0" rIns="0" bIns="0" rtlCol="0" anchor="t"/>
          <a:lstStyle/>
          <a:p>
            <a:pPr marL="0" indent="0" algn="l">
              <a:lnSpc>
                <a:spcPts val="900"/>
              </a:lnSpc>
              <a:buNone/>
            </a:pPr>
            <a:r>
              <a:rPr lang="en-US" sz="555" kern="0" spc="90" dirty="0">
                <a:solidFill>
                  <a:srgbClr val="6F6A66"/>
                </a:solidFill>
                <a:latin typeface="Quicksand" pitchFamily="34" charset="0"/>
              </a:rPr>
              <a:t>ACQUIRED BY</a:t>
            </a:r>
            <a:r>
              <a:rPr lang="en-US" sz="690" kern="0" spc="15" dirty="0">
                <a:solidFill>
                  <a:srgbClr val="333231"/>
                </a:solidFill>
                <a:latin typeface="Quicksand" pitchFamily="34" charset="0"/>
              </a:rPr>
              <a:t> </a:t>
            </a:r>
            <a:r>
              <a:rPr lang="en-US" sz="690" b="1" kern="0" spc="15" dirty="0">
                <a:solidFill>
                  <a:srgbClr val="1B1A1A"/>
                </a:solidFill>
                <a:latin typeface="Quicksand" pitchFamily="34" charset="0"/>
              </a:rPr>
              <a:t>Elevate Youth Development</a:t>
            </a:r>
            <a:endParaRPr lang="en-US" sz="555" dirty="0"/>
          </a:p>
        </p:txBody>
      </p:sp>
      <p:sp>
        <p:nvSpPr>
          <p:cNvPr id="83" name="Shape 82"/>
          <p:cNvSpPr/>
          <p:nvPr/>
        </p:nvSpPr>
        <p:spPr>
          <a:xfrm>
            <a:off x="7892951" y="1438275"/>
            <a:ext cx="1746200" cy="860375"/>
          </a:xfrm>
          <a:prstGeom prst="rect">
            <a:avLst/>
          </a:prstGeom>
          <a:solidFill>
            <a:srgbClr val="FAF7F3"/>
          </a:solidFill>
          <a:ln/>
        </p:spPr>
        <p:txBody>
          <a:bodyPr/>
          <a:lstStyle/>
          <a:p>
            <a:endParaRPr lang="en-US"/>
          </a:p>
        </p:txBody>
      </p:sp>
      <p:sp>
        <p:nvSpPr>
          <p:cNvPr id="84" name="Shape 83"/>
          <p:cNvSpPr/>
          <p:nvPr/>
        </p:nvSpPr>
        <p:spPr>
          <a:xfrm>
            <a:off x="7892951" y="1438275"/>
            <a:ext cx="1746200" cy="19050"/>
          </a:xfrm>
          <a:prstGeom prst="rect">
            <a:avLst/>
          </a:prstGeom>
          <a:solidFill>
            <a:srgbClr val="B68757"/>
          </a:solidFill>
          <a:ln/>
        </p:spPr>
        <p:txBody>
          <a:bodyPr/>
          <a:lstStyle/>
          <a:p>
            <a:endParaRPr lang="en-US"/>
          </a:p>
        </p:txBody>
      </p:sp>
      <p:sp>
        <p:nvSpPr>
          <p:cNvPr id="85" name="Text 84">
            <a:hlinkClick r:id="rId10"/>
          </p:cNvPr>
          <p:cNvSpPr txBox="1"/>
          <p:nvPr/>
        </p:nvSpPr>
        <p:spPr>
          <a:xfrm>
            <a:off x="7988201" y="1515517"/>
            <a:ext cx="507802" cy="100013"/>
          </a:xfrm>
          <a:prstGeom prst="rect">
            <a:avLst/>
          </a:prstGeom>
          <a:noFill/>
          <a:ln/>
        </p:spPr>
        <p:txBody>
          <a:bodyPr wrap="none" lIns="0" tIns="0" rIns="0" bIns="0" rtlCol="0" anchor="t"/>
          <a:lstStyle/>
          <a:p>
            <a:pPr marL="0" indent="0" algn="l">
              <a:lnSpc>
                <a:spcPts val="788"/>
              </a:lnSpc>
              <a:buNone/>
            </a:pPr>
            <a:r>
              <a:rPr lang="en-US" sz="555" b="1" kern="0" spc="90" dirty="0">
                <a:solidFill>
                  <a:srgbClr val="8C6239"/>
                </a:solidFill>
                <a:latin typeface="Quicksand" pitchFamily="34" charset="0"/>
              </a:rPr>
              <a:t>JULY 2026</a:t>
            </a:r>
            <a:endParaRPr lang="en-US" sz="555" dirty="0"/>
          </a:p>
        </p:txBody>
      </p:sp>
      <p:sp>
        <p:nvSpPr>
          <p:cNvPr id="86" name="Text 85">
            <a:hlinkClick r:id="rId10"/>
          </p:cNvPr>
          <p:cNvSpPr txBox="1"/>
          <p:nvPr/>
        </p:nvSpPr>
        <p:spPr>
          <a:xfrm>
            <a:off x="8481715" y="1515517"/>
            <a:ext cx="1062186" cy="200025"/>
          </a:xfrm>
          <a:prstGeom prst="rect">
            <a:avLst/>
          </a:prstGeom>
          <a:noFill/>
          <a:ln/>
        </p:spPr>
        <p:txBody>
          <a:bodyPr wrap="square" lIns="0" tIns="0" rIns="0" bIns="0" rtlCol="0" anchor="t"/>
          <a:lstStyle/>
          <a:p>
            <a:pPr marL="0" indent="0" algn="r">
              <a:lnSpc>
                <a:spcPts val="788"/>
              </a:lnSpc>
              <a:buNone/>
            </a:pPr>
            <a:r>
              <a:rPr lang="en-US" sz="555" b="1" kern="0" spc="90" dirty="0">
                <a:solidFill>
                  <a:srgbClr val="8C6239"/>
                </a:solidFill>
                <a:latin typeface="Quicksand" pitchFamily="34" charset="0"/>
              </a:rPr>
              <a:t>CONSUMER BRANDS &amp; PRODUCTS</a:t>
            </a:r>
            <a:endParaRPr lang="en-US" sz="555" dirty="0"/>
          </a:p>
        </p:txBody>
      </p:sp>
      <p:sp>
        <p:nvSpPr>
          <p:cNvPr id="87" name="Text 86">
            <a:hlinkClick r:id="rId10"/>
          </p:cNvPr>
          <p:cNvSpPr txBox="1"/>
          <p:nvPr/>
        </p:nvSpPr>
        <p:spPr>
          <a:xfrm>
            <a:off x="7988201" y="1741736"/>
            <a:ext cx="1555700" cy="123825"/>
          </a:xfrm>
          <a:prstGeom prst="rect">
            <a:avLst/>
          </a:prstGeom>
          <a:noFill/>
          <a:ln/>
        </p:spPr>
        <p:txBody>
          <a:bodyPr wrap="none" lIns="0" tIns="0" rIns="0" bIns="0" rtlCol="0" anchor="t"/>
          <a:lstStyle/>
          <a:p>
            <a:pPr marL="0" indent="0" algn="l">
              <a:lnSpc>
                <a:spcPts val="975"/>
              </a:lnSpc>
              <a:buNone/>
            </a:pPr>
            <a:r>
              <a:rPr lang="en-US" sz="780" b="1" kern="0" spc="22" dirty="0">
                <a:solidFill>
                  <a:srgbClr val="1B1A1A"/>
                </a:solidFill>
                <a:latin typeface="Quicksand" pitchFamily="34" charset="0"/>
              </a:rPr>
              <a:t>PROJECT ENERGY SAVERS</a:t>
            </a:r>
            <a:endParaRPr lang="en-US" sz="780" dirty="0"/>
          </a:p>
        </p:txBody>
      </p:sp>
      <p:sp>
        <p:nvSpPr>
          <p:cNvPr id="88" name="Text 87">
            <a:hlinkClick r:id="rId10"/>
          </p:cNvPr>
          <p:cNvSpPr txBox="1"/>
          <p:nvPr/>
        </p:nvSpPr>
        <p:spPr>
          <a:xfrm>
            <a:off x="7988201" y="1861751"/>
            <a:ext cx="1569988" cy="224760"/>
          </a:xfrm>
          <a:prstGeom prst="rect">
            <a:avLst/>
          </a:prstGeom>
          <a:noFill/>
          <a:ln/>
        </p:spPr>
        <p:txBody>
          <a:bodyPr wrap="square" lIns="0" tIns="0" rIns="0" bIns="0" rtlCol="0" anchor="t"/>
          <a:lstStyle/>
          <a:p>
            <a:pPr marL="0" indent="0" algn="l">
              <a:lnSpc>
                <a:spcPts val="885"/>
              </a:lnSpc>
              <a:buNone/>
            </a:pPr>
            <a:r>
              <a:rPr lang="en-US" sz="660" kern="0" spc="15" dirty="0">
                <a:solidFill>
                  <a:srgbClr val="6F6A66"/>
                </a:solidFill>
                <a:latin typeface="Quicksand" pitchFamily="34" charset="0"/>
              </a:rPr>
              <a:t>Educational and community outreach materials</a:t>
            </a:r>
            <a:endParaRPr lang="en-US" sz="660" dirty="0"/>
          </a:p>
        </p:txBody>
      </p:sp>
      <p:sp>
        <p:nvSpPr>
          <p:cNvPr id="89" name="Text 88">
            <a:hlinkClick r:id="rId10"/>
          </p:cNvPr>
          <p:cNvSpPr txBox="1"/>
          <p:nvPr/>
        </p:nvSpPr>
        <p:spPr>
          <a:xfrm>
            <a:off x="7988201" y="2104579"/>
            <a:ext cx="1555700" cy="114300"/>
          </a:xfrm>
          <a:prstGeom prst="rect">
            <a:avLst/>
          </a:prstGeom>
          <a:noFill/>
          <a:ln/>
        </p:spPr>
        <p:txBody>
          <a:bodyPr wrap="none" lIns="0" tIns="0" rIns="0" bIns="0" rtlCol="0" anchor="t"/>
          <a:lstStyle/>
          <a:p>
            <a:pPr marL="0" indent="0" algn="l">
              <a:lnSpc>
                <a:spcPts val="900"/>
              </a:lnSpc>
              <a:buNone/>
            </a:pPr>
            <a:r>
              <a:rPr lang="en-US" sz="555" kern="0" spc="90" dirty="0">
                <a:solidFill>
                  <a:srgbClr val="6F6A66"/>
                </a:solidFill>
                <a:latin typeface="Quicksand" pitchFamily="34" charset="0"/>
              </a:rPr>
              <a:t>ACQUIRED BY</a:t>
            </a:r>
            <a:r>
              <a:rPr lang="en-US" sz="690" kern="0" spc="15" dirty="0">
                <a:solidFill>
                  <a:srgbClr val="333231"/>
                </a:solidFill>
                <a:latin typeface="Quicksand" pitchFamily="34" charset="0"/>
              </a:rPr>
              <a:t> </a:t>
            </a:r>
            <a:r>
              <a:rPr lang="en-US" sz="690" b="1" kern="0" spc="15" dirty="0">
                <a:solidFill>
                  <a:srgbClr val="1B1A1A"/>
                </a:solidFill>
                <a:latin typeface="Quicksand" pitchFamily="34" charset="0"/>
              </a:rPr>
              <a:t>WRS Group</a:t>
            </a:r>
            <a:endParaRPr lang="en-US" sz="555" dirty="0"/>
          </a:p>
        </p:txBody>
      </p:sp>
      <p:sp>
        <p:nvSpPr>
          <p:cNvPr id="90" name="Shape 89"/>
          <p:cNvSpPr/>
          <p:nvPr/>
        </p:nvSpPr>
        <p:spPr>
          <a:xfrm>
            <a:off x="4248150" y="2365325"/>
            <a:ext cx="1746200" cy="860375"/>
          </a:xfrm>
          <a:prstGeom prst="rect">
            <a:avLst/>
          </a:prstGeom>
          <a:solidFill>
            <a:srgbClr val="FAF7F3"/>
          </a:solidFill>
          <a:ln/>
        </p:spPr>
        <p:txBody>
          <a:bodyPr/>
          <a:lstStyle/>
          <a:p>
            <a:endParaRPr lang="en-US"/>
          </a:p>
        </p:txBody>
      </p:sp>
      <p:sp>
        <p:nvSpPr>
          <p:cNvPr id="91" name="Shape 90"/>
          <p:cNvSpPr/>
          <p:nvPr/>
        </p:nvSpPr>
        <p:spPr>
          <a:xfrm>
            <a:off x="4248150" y="2365325"/>
            <a:ext cx="1746200" cy="19050"/>
          </a:xfrm>
          <a:prstGeom prst="rect">
            <a:avLst/>
          </a:prstGeom>
          <a:solidFill>
            <a:srgbClr val="B68757"/>
          </a:solidFill>
          <a:ln/>
        </p:spPr>
        <p:txBody>
          <a:bodyPr/>
          <a:lstStyle/>
          <a:p>
            <a:endParaRPr lang="en-US"/>
          </a:p>
        </p:txBody>
      </p:sp>
      <p:sp>
        <p:nvSpPr>
          <p:cNvPr id="92" name="Text 91">
            <a:hlinkClick r:id="rId11"/>
          </p:cNvPr>
          <p:cNvSpPr txBox="1"/>
          <p:nvPr/>
        </p:nvSpPr>
        <p:spPr>
          <a:xfrm>
            <a:off x="4343400" y="2442567"/>
            <a:ext cx="522536" cy="100013"/>
          </a:xfrm>
          <a:prstGeom prst="rect">
            <a:avLst/>
          </a:prstGeom>
          <a:noFill/>
          <a:ln/>
        </p:spPr>
        <p:txBody>
          <a:bodyPr wrap="none" lIns="0" tIns="0" rIns="0" bIns="0" rtlCol="0" anchor="t"/>
          <a:lstStyle/>
          <a:p>
            <a:pPr marL="0" indent="0" algn="l">
              <a:lnSpc>
                <a:spcPts val="788"/>
              </a:lnSpc>
              <a:buNone/>
            </a:pPr>
            <a:r>
              <a:rPr lang="en-US" sz="555" b="1" kern="0" spc="90" dirty="0">
                <a:solidFill>
                  <a:srgbClr val="8C6239"/>
                </a:solidFill>
                <a:latin typeface="Quicksand" pitchFamily="34" charset="0"/>
              </a:rPr>
              <a:t>JUNE 2026</a:t>
            </a:r>
            <a:endParaRPr lang="en-US" sz="555" dirty="0"/>
          </a:p>
        </p:txBody>
      </p:sp>
      <p:sp>
        <p:nvSpPr>
          <p:cNvPr id="93" name="Text 92">
            <a:hlinkClick r:id="rId11"/>
          </p:cNvPr>
          <p:cNvSpPr txBox="1"/>
          <p:nvPr/>
        </p:nvSpPr>
        <p:spPr>
          <a:xfrm>
            <a:off x="4851648" y="2442567"/>
            <a:ext cx="1047452" cy="200025"/>
          </a:xfrm>
          <a:prstGeom prst="rect">
            <a:avLst/>
          </a:prstGeom>
          <a:noFill/>
          <a:ln/>
        </p:spPr>
        <p:txBody>
          <a:bodyPr wrap="square" lIns="0" tIns="0" rIns="0" bIns="0" rtlCol="0" anchor="t"/>
          <a:lstStyle/>
          <a:p>
            <a:pPr marL="0" indent="0" algn="r">
              <a:lnSpc>
                <a:spcPts val="788"/>
              </a:lnSpc>
              <a:buNone/>
            </a:pPr>
            <a:r>
              <a:rPr lang="en-US" sz="555" b="1" kern="0" spc="90" dirty="0">
                <a:solidFill>
                  <a:srgbClr val="8C6239"/>
                </a:solidFill>
                <a:latin typeface="Quicksand" pitchFamily="34" charset="0"/>
              </a:rPr>
              <a:t>CONSUMER SERVICES &amp; RETAIL</a:t>
            </a:r>
            <a:endParaRPr lang="en-US" sz="555" dirty="0"/>
          </a:p>
        </p:txBody>
      </p:sp>
      <p:sp>
        <p:nvSpPr>
          <p:cNvPr id="94" name="Text 93">
            <a:hlinkClick r:id="rId11"/>
          </p:cNvPr>
          <p:cNvSpPr txBox="1"/>
          <p:nvPr/>
        </p:nvSpPr>
        <p:spPr>
          <a:xfrm>
            <a:off x="4343400" y="2668786"/>
            <a:ext cx="1555700" cy="123825"/>
          </a:xfrm>
          <a:prstGeom prst="rect">
            <a:avLst/>
          </a:prstGeom>
          <a:noFill/>
          <a:ln/>
        </p:spPr>
        <p:txBody>
          <a:bodyPr wrap="none" lIns="0" tIns="0" rIns="0" bIns="0" rtlCol="0" anchor="t"/>
          <a:lstStyle/>
          <a:p>
            <a:pPr marL="0" indent="0" algn="l">
              <a:lnSpc>
                <a:spcPts val="975"/>
              </a:lnSpc>
              <a:buNone/>
            </a:pPr>
            <a:r>
              <a:rPr lang="en-US" sz="780" b="1" kern="0" spc="22" dirty="0">
                <a:solidFill>
                  <a:srgbClr val="1B1A1A"/>
                </a:solidFill>
                <a:latin typeface="Quicksand" pitchFamily="34" charset="0"/>
              </a:rPr>
              <a:t>KITTLESON LANDSCAPE</a:t>
            </a:r>
            <a:endParaRPr lang="en-US" sz="780" dirty="0"/>
          </a:p>
        </p:txBody>
      </p:sp>
      <p:sp>
        <p:nvSpPr>
          <p:cNvPr id="95" name="Text 94">
            <a:hlinkClick r:id="rId11"/>
          </p:cNvPr>
          <p:cNvSpPr txBox="1"/>
          <p:nvPr/>
        </p:nvSpPr>
        <p:spPr>
          <a:xfrm>
            <a:off x="4343400" y="2788801"/>
            <a:ext cx="1569988" cy="224760"/>
          </a:xfrm>
          <a:prstGeom prst="rect">
            <a:avLst/>
          </a:prstGeom>
          <a:noFill/>
          <a:ln/>
        </p:spPr>
        <p:txBody>
          <a:bodyPr wrap="square" lIns="0" tIns="0" rIns="0" bIns="0" rtlCol="0" anchor="t"/>
          <a:lstStyle/>
          <a:p>
            <a:pPr marL="0" indent="0" algn="l">
              <a:lnSpc>
                <a:spcPts val="885"/>
              </a:lnSpc>
              <a:buNone/>
            </a:pPr>
            <a:r>
              <a:rPr lang="en-US" sz="660" kern="0" spc="15" dirty="0">
                <a:solidFill>
                  <a:srgbClr val="6F6A66"/>
                </a:solidFill>
                <a:latin typeface="Quicksand" pitchFamily="34" charset="0"/>
              </a:rPr>
              <a:t>Landscape design and installation, Madison, WI area</a:t>
            </a:r>
            <a:endParaRPr lang="en-US" sz="660" dirty="0"/>
          </a:p>
        </p:txBody>
      </p:sp>
      <p:sp>
        <p:nvSpPr>
          <p:cNvPr id="96" name="Text 95">
            <a:hlinkClick r:id="rId11"/>
          </p:cNvPr>
          <p:cNvSpPr txBox="1"/>
          <p:nvPr/>
        </p:nvSpPr>
        <p:spPr>
          <a:xfrm>
            <a:off x="4343400" y="3031629"/>
            <a:ext cx="1555700" cy="114300"/>
          </a:xfrm>
          <a:prstGeom prst="rect">
            <a:avLst/>
          </a:prstGeom>
          <a:noFill/>
          <a:ln/>
        </p:spPr>
        <p:txBody>
          <a:bodyPr wrap="none" lIns="0" tIns="0" rIns="0" bIns="0" rtlCol="0" anchor="t"/>
          <a:lstStyle/>
          <a:p>
            <a:pPr marL="0" indent="0" algn="l">
              <a:lnSpc>
                <a:spcPts val="900"/>
              </a:lnSpc>
              <a:buNone/>
            </a:pPr>
            <a:r>
              <a:rPr lang="en-US" sz="555" kern="0" spc="90" dirty="0">
                <a:solidFill>
                  <a:srgbClr val="6F6A66"/>
                </a:solidFill>
                <a:latin typeface="Quicksand" pitchFamily="34" charset="0"/>
              </a:rPr>
              <a:t>ACQUIRED BY</a:t>
            </a:r>
            <a:r>
              <a:rPr lang="en-US" sz="690" kern="0" spc="15" dirty="0">
                <a:solidFill>
                  <a:srgbClr val="333231"/>
                </a:solidFill>
                <a:latin typeface="Quicksand" pitchFamily="34" charset="0"/>
              </a:rPr>
              <a:t> </a:t>
            </a:r>
            <a:r>
              <a:rPr lang="en-US" sz="690" b="1" kern="0" spc="15" dirty="0">
                <a:solidFill>
                  <a:srgbClr val="1B1A1A"/>
                </a:solidFill>
                <a:latin typeface="Quicksand" pitchFamily="34" charset="0"/>
              </a:rPr>
              <a:t>Lancaster Group</a:t>
            </a:r>
            <a:endParaRPr lang="en-US" sz="555" dirty="0"/>
          </a:p>
        </p:txBody>
      </p:sp>
      <p:sp>
        <p:nvSpPr>
          <p:cNvPr id="97" name="Shape 96"/>
          <p:cNvSpPr/>
          <p:nvPr/>
        </p:nvSpPr>
        <p:spPr>
          <a:xfrm>
            <a:off x="6070550" y="2365325"/>
            <a:ext cx="1746200" cy="860375"/>
          </a:xfrm>
          <a:prstGeom prst="rect">
            <a:avLst/>
          </a:prstGeom>
          <a:solidFill>
            <a:srgbClr val="FAF7F3"/>
          </a:solidFill>
          <a:ln/>
        </p:spPr>
        <p:txBody>
          <a:bodyPr/>
          <a:lstStyle/>
          <a:p>
            <a:endParaRPr lang="en-US"/>
          </a:p>
        </p:txBody>
      </p:sp>
      <p:sp>
        <p:nvSpPr>
          <p:cNvPr id="98" name="Shape 97"/>
          <p:cNvSpPr/>
          <p:nvPr/>
        </p:nvSpPr>
        <p:spPr>
          <a:xfrm>
            <a:off x="6070550" y="2365325"/>
            <a:ext cx="1746200" cy="19050"/>
          </a:xfrm>
          <a:prstGeom prst="rect">
            <a:avLst/>
          </a:prstGeom>
          <a:solidFill>
            <a:srgbClr val="B68757"/>
          </a:solidFill>
          <a:ln/>
        </p:spPr>
        <p:txBody>
          <a:bodyPr/>
          <a:lstStyle/>
          <a:p>
            <a:endParaRPr lang="en-US"/>
          </a:p>
        </p:txBody>
      </p:sp>
      <p:sp>
        <p:nvSpPr>
          <p:cNvPr id="99" name="Text 98">
            <a:hlinkClick r:id="rId12"/>
          </p:cNvPr>
          <p:cNvSpPr txBox="1"/>
          <p:nvPr/>
        </p:nvSpPr>
        <p:spPr>
          <a:xfrm>
            <a:off x="6165800" y="2442567"/>
            <a:ext cx="522536" cy="100013"/>
          </a:xfrm>
          <a:prstGeom prst="rect">
            <a:avLst/>
          </a:prstGeom>
          <a:noFill/>
          <a:ln/>
        </p:spPr>
        <p:txBody>
          <a:bodyPr wrap="none" lIns="0" tIns="0" rIns="0" bIns="0" rtlCol="0" anchor="t"/>
          <a:lstStyle/>
          <a:p>
            <a:pPr marL="0" indent="0" algn="l">
              <a:lnSpc>
                <a:spcPts val="788"/>
              </a:lnSpc>
              <a:buNone/>
            </a:pPr>
            <a:r>
              <a:rPr lang="en-US" sz="555" b="1" kern="0" spc="90" dirty="0">
                <a:solidFill>
                  <a:srgbClr val="8C6239"/>
                </a:solidFill>
                <a:latin typeface="Quicksand" pitchFamily="34" charset="0"/>
              </a:rPr>
              <a:t>JUNE 2026</a:t>
            </a:r>
            <a:endParaRPr lang="en-US" sz="555" dirty="0"/>
          </a:p>
        </p:txBody>
      </p:sp>
      <p:sp>
        <p:nvSpPr>
          <p:cNvPr id="100" name="Text 99">
            <a:hlinkClick r:id="rId12"/>
          </p:cNvPr>
          <p:cNvSpPr txBox="1"/>
          <p:nvPr/>
        </p:nvSpPr>
        <p:spPr>
          <a:xfrm>
            <a:off x="6674048" y="2442567"/>
            <a:ext cx="1047452" cy="200025"/>
          </a:xfrm>
          <a:prstGeom prst="rect">
            <a:avLst/>
          </a:prstGeom>
          <a:noFill/>
          <a:ln/>
        </p:spPr>
        <p:txBody>
          <a:bodyPr wrap="square" lIns="0" tIns="0" rIns="0" bIns="0" rtlCol="0" anchor="t"/>
          <a:lstStyle/>
          <a:p>
            <a:pPr marL="0" indent="0" algn="r">
              <a:lnSpc>
                <a:spcPts val="788"/>
              </a:lnSpc>
              <a:buNone/>
            </a:pPr>
            <a:r>
              <a:rPr lang="en-US" sz="555" b="1" kern="0" spc="90" dirty="0">
                <a:solidFill>
                  <a:srgbClr val="8C6239"/>
                </a:solidFill>
                <a:latin typeface="Quicksand" pitchFamily="34" charset="0"/>
              </a:rPr>
              <a:t>CONSUMER SERVICES &amp; RETAIL</a:t>
            </a:r>
            <a:endParaRPr lang="en-US" sz="555" dirty="0"/>
          </a:p>
        </p:txBody>
      </p:sp>
      <p:sp>
        <p:nvSpPr>
          <p:cNvPr id="101" name="Text 100">
            <a:hlinkClick r:id="rId12"/>
          </p:cNvPr>
          <p:cNvSpPr txBox="1"/>
          <p:nvPr/>
        </p:nvSpPr>
        <p:spPr>
          <a:xfrm>
            <a:off x="6165800" y="2668786"/>
            <a:ext cx="1555700" cy="123825"/>
          </a:xfrm>
          <a:prstGeom prst="rect">
            <a:avLst/>
          </a:prstGeom>
          <a:noFill/>
          <a:ln/>
        </p:spPr>
        <p:txBody>
          <a:bodyPr wrap="none" lIns="0" tIns="0" rIns="0" bIns="0" rtlCol="0" anchor="t"/>
          <a:lstStyle/>
          <a:p>
            <a:pPr marL="0" indent="0" algn="l">
              <a:lnSpc>
                <a:spcPts val="975"/>
              </a:lnSpc>
              <a:buNone/>
            </a:pPr>
            <a:r>
              <a:rPr lang="en-US" sz="780" b="1" kern="0" spc="22" dirty="0">
                <a:solidFill>
                  <a:srgbClr val="1B1A1A"/>
                </a:solidFill>
                <a:latin typeface="Quicksand" pitchFamily="34" charset="0"/>
              </a:rPr>
              <a:t>JAGIMO CORPORATION</a:t>
            </a:r>
            <a:endParaRPr lang="en-US" sz="780" dirty="0"/>
          </a:p>
        </p:txBody>
      </p:sp>
      <p:sp>
        <p:nvSpPr>
          <p:cNvPr id="102" name="Text 101">
            <a:hlinkClick r:id="rId12"/>
          </p:cNvPr>
          <p:cNvSpPr txBox="1"/>
          <p:nvPr/>
        </p:nvSpPr>
        <p:spPr>
          <a:xfrm>
            <a:off x="6165800" y="2788801"/>
            <a:ext cx="1569988" cy="224760"/>
          </a:xfrm>
          <a:prstGeom prst="rect">
            <a:avLst/>
          </a:prstGeom>
          <a:noFill/>
          <a:ln/>
        </p:spPr>
        <p:txBody>
          <a:bodyPr wrap="square" lIns="0" tIns="0" rIns="0" bIns="0" rtlCol="0" anchor="t"/>
          <a:lstStyle/>
          <a:p>
            <a:pPr marL="0" indent="0" algn="l">
              <a:lnSpc>
                <a:spcPts val="885"/>
              </a:lnSpc>
              <a:buNone/>
            </a:pPr>
            <a:r>
              <a:rPr lang="en-US" sz="660" kern="0" spc="15" dirty="0">
                <a:solidFill>
                  <a:srgbClr val="6F6A66"/>
                </a:solidFill>
                <a:latin typeface="Quicksand" pitchFamily="34" charset="0"/>
              </a:rPr>
              <a:t>Landscape construction and maintenance, Fortuna, CA</a:t>
            </a:r>
            <a:endParaRPr lang="en-US" sz="660" dirty="0"/>
          </a:p>
        </p:txBody>
      </p:sp>
      <p:sp>
        <p:nvSpPr>
          <p:cNvPr id="103" name="Text 102">
            <a:hlinkClick r:id="rId12"/>
          </p:cNvPr>
          <p:cNvSpPr txBox="1"/>
          <p:nvPr/>
        </p:nvSpPr>
        <p:spPr>
          <a:xfrm>
            <a:off x="6165800" y="3031629"/>
            <a:ext cx="1555700" cy="114300"/>
          </a:xfrm>
          <a:prstGeom prst="rect">
            <a:avLst/>
          </a:prstGeom>
          <a:noFill/>
          <a:ln/>
        </p:spPr>
        <p:txBody>
          <a:bodyPr wrap="none" lIns="0" tIns="0" rIns="0" bIns="0" rtlCol="0" anchor="t"/>
          <a:lstStyle/>
          <a:p>
            <a:pPr marL="0" indent="0" algn="l">
              <a:lnSpc>
                <a:spcPts val="900"/>
              </a:lnSpc>
              <a:buNone/>
            </a:pPr>
            <a:r>
              <a:rPr lang="en-US" sz="555" kern="0" spc="90" dirty="0">
                <a:solidFill>
                  <a:srgbClr val="6F6A66"/>
                </a:solidFill>
                <a:latin typeface="Quicksand" pitchFamily="34" charset="0"/>
              </a:rPr>
              <a:t>ACQUIRED BY</a:t>
            </a:r>
            <a:r>
              <a:rPr lang="en-US" sz="690" kern="0" spc="15" dirty="0">
                <a:solidFill>
                  <a:srgbClr val="333231"/>
                </a:solidFill>
                <a:latin typeface="Quicksand" pitchFamily="34" charset="0"/>
              </a:rPr>
              <a:t> </a:t>
            </a:r>
            <a:r>
              <a:rPr lang="en-US" sz="690" b="1" kern="0" spc="15" dirty="0">
                <a:solidFill>
                  <a:srgbClr val="1B1A1A"/>
                </a:solidFill>
                <a:latin typeface="Quicksand" pitchFamily="34" charset="0"/>
              </a:rPr>
              <a:t>Castleford Group</a:t>
            </a:r>
            <a:endParaRPr lang="en-US" sz="555" dirty="0"/>
          </a:p>
        </p:txBody>
      </p:sp>
      <p:sp>
        <p:nvSpPr>
          <p:cNvPr id="104" name="Shape 103"/>
          <p:cNvSpPr/>
          <p:nvPr/>
        </p:nvSpPr>
        <p:spPr>
          <a:xfrm>
            <a:off x="7892951" y="2365325"/>
            <a:ext cx="1746200" cy="860375"/>
          </a:xfrm>
          <a:prstGeom prst="rect">
            <a:avLst/>
          </a:prstGeom>
          <a:solidFill>
            <a:srgbClr val="FAF7F3"/>
          </a:solidFill>
          <a:ln/>
        </p:spPr>
        <p:txBody>
          <a:bodyPr/>
          <a:lstStyle/>
          <a:p>
            <a:endParaRPr lang="en-US"/>
          </a:p>
        </p:txBody>
      </p:sp>
      <p:sp>
        <p:nvSpPr>
          <p:cNvPr id="105" name="Shape 104"/>
          <p:cNvSpPr/>
          <p:nvPr/>
        </p:nvSpPr>
        <p:spPr>
          <a:xfrm>
            <a:off x="7892951" y="2365325"/>
            <a:ext cx="1746200" cy="19050"/>
          </a:xfrm>
          <a:prstGeom prst="rect">
            <a:avLst/>
          </a:prstGeom>
          <a:solidFill>
            <a:srgbClr val="B68757"/>
          </a:solidFill>
          <a:ln/>
        </p:spPr>
        <p:txBody>
          <a:bodyPr/>
          <a:lstStyle/>
          <a:p>
            <a:endParaRPr lang="en-US"/>
          </a:p>
        </p:txBody>
      </p:sp>
      <p:sp>
        <p:nvSpPr>
          <p:cNvPr id="106" name="Text 105">
            <a:hlinkClick r:id="rId13"/>
          </p:cNvPr>
          <p:cNvSpPr txBox="1"/>
          <p:nvPr/>
        </p:nvSpPr>
        <p:spPr>
          <a:xfrm>
            <a:off x="7988201" y="2385566"/>
            <a:ext cx="481608" cy="100013"/>
          </a:xfrm>
          <a:prstGeom prst="rect">
            <a:avLst/>
          </a:prstGeom>
          <a:noFill/>
          <a:ln/>
        </p:spPr>
        <p:txBody>
          <a:bodyPr wrap="none" lIns="0" tIns="0" rIns="0" bIns="0" rtlCol="0" anchor="t"/>
          <a:lstStyle/>
          <a:p>
            <a:pPr marL="0" indent="0" algn="l">
              <a:lnSpc>
                <a:spcPts val="788"/>
              </a:lnSpc>
              <a:buNone/>
            </a:pPr>
            <a:r>
              <a:rPr lang="en-US" sz="555" b="1" kern="0" spc="90" dirty="0">
                <a:solidFill>
                  <a:srgbClr val="8C6239"/>
                </a:solidFill>
                <a:latin typeface="Quicksand" pitchFamily="34" charset="0"/>
              </a:rPr>
              <a:t>MAR 2026</a:t>
            </a:r>
            <a:endParaRPr lang="en-US" sz="555" dirty="0"/>
          </a:p>
        </p:txBody>
      </p:sp>
      <p:sp>
        <p:nvSpPr>
          <p:cNvPr id="107" name="Text 106">
            <a:hlinkClick r:id="rId13"/>
          </p:cNvPr>
          <p:cNvSpPr txBox="1"/>
          <p:nvPr/>
        </p:nvSpPr>
        <p:spPr>
          <a:xfrm>
            <a:off x="8455521" y="2385566"/>
            <a:ext cx="1088380" cy="200025"/>
          </a:xfrm>
          <a:prstGeom prst="rect">
            <a:avLst/>
          </a:prstGeom>
          <a:noFill/>
          <a:ln/>
        </p:spPr>
        <p:txBody>
          <a:bodyPr wrap="square" lIns="0" tIns="0" rIns="0" bIns="0" rtlCol="0" anchor="t"/>
          <a:lstStyle/>
          <a:p>
            <a:pPr marL="0" indent="0" algn="r">
              <a:lnSpc>
                <a:spcPts val="788"/>
              </a:lnSpc>
              <a:buNone/>
            </a:pPr>
            <a:r>
              <a:rPr lang="en-US" sz="555" b="1" kern="0" spc="90" dirty="0">
                <a:solidFill>
                  <a:srgbClr val="8C6239"/>
                </a:solidFill>
                <a:latin typeface="Quicksand" pitchFamily="34" charset="0"/>
              </a:rPr>
              <a:t>FOODSERVICE &amp; DISTRIBUTION</a:t>
            </a:r>
            <a:endParaRPr lang="en-US" sz="555" dirty="0"/>
          </a:p>
        </p:txBody>
      </p:sp>
      <p:sp>
        <p:nvSpPr>
          <p:cNvPr id="108" name="Text 107">
            <a:hlinkClick r:id="rId13"/>
          </p:cNvPr>
          <p:cNvSpPr txBox="1"/>
          <p:nvPr/>
        </p:nvSpPr>
        <p:spPr>
          <a:xfrm>
            <a:off x="7988201" y="2611785"/>
            <a:ext cx="1555700" cy="123825"/>
          </a:xfrm>
          <a:prstGeom prst="rect">
            <a:avLst/>
          </a:prstGeom>
          <a:noFill/>
          <a:ln/>
        </p:spPr>
        <p:txBody>
          <a:bodyPr wrap="none" lIns="0" tIns="0" rIns="0" bIns="0" rtlCol="0" anchor="t"/>
          <a:lstStyle/>
          <a:p>
            <a:pPr marL="0" indent="0" algn="l">
              <a:lnSpc>
                <a:spcPts val="975"/>
              </a:lnSpc>
              <a:buNone/>
            </a:pPr>
            <a:r>
              <a:rPr lang="en-US" sz="780" b="1" kern="0" spc="22" dirty="0">
                <a:solidFill>
                  <a:srgbClr val="1B1A1A"/>
                </a:solidFill>
                <a:latin typeface="Quicksand" pitchFamily="34" charset="0"/>
              </a:rPr>
              <a:t>TELMARK SALES SOLUTIONS</a:t>
            </a:r>
            <a:endParaRPr lang="en-US" sz="780" dirty="0"/>
          </a:p>
        </p:txBody>
      </p:sp>
      <p:sp>
        <p:nvSpPr>
          <p:cNvPr id="109" name="Text 108">
            <a:hlinkClick r:id="rId13"/>
          </p:cNvPr>
          <p:cNvSpPr txBox="1"/>
          <p:nvPr/>
        </p:nvSpPr>
        <p:spPr>
          <a:xfrm>
            <a:off x="7988201" y="2731800"/>
            <a:ext cx="1569988" cy="224760"/>
          </a:xfrm>
          <a:prstGeom prst="rect">
            <a:avLst/>
          </a:prstGeom>
          <a:noFill/>
          <a:ln/>
        </p:spPr>
        <p:txBody>
          <a:bodyPr wrap="square" lIns="0" tIns="0" rIns="0" bIns="0" rtlCol="0" anchor="t"/>
          <a:lstStyle/>
          <a:p>
            <a:pPr marL="0" indent="0" algn="l">
              <a:lnSpc>
                <a:spcPts val="885"/>
              </a:lnSpc>
              <a:buNone/>
            </a:pPr>
            <a:r>
              <a:rPr lang="en-US" sz="660" kern="0" spc="15" dirty="0">
                <a:solidFill>
                  <a:srgbClr val="6F6A66"/>
                </a:solidFill>
                <a:latin typeface="Quicksand" pitchFamily="34" charset="0"/>
              </a:rPr>
              <a:t>Sales and marketing brokerage for packaged goods</a:t>
            </a:r>
            <a:endParaRPr lang="en-US" sz="660" dirty="0"/>
          </a:p>
        </p:txBody>
      </p:sp>
      <p:sp>
        <p:nvSpPr>
          <p:cNvPr id="110" name="Text 109">
            <a:hlinkClick r:id="rId13"/>
          </p:cNvPr>
          <p:cNvSpPr txBox="1"/>
          <p:nvPr/>
        </p:nvSpPr>
        <p:spPr>
          <a:xfrm>
            <a:off x="7988201" y="2974628"/>
            <a:ext cx="1569988" cy="238125"/>
          </a:xfrm>
          <a:prstGeom prst="rect">
            <a:avLst/>
          </a:prstGeom>
          <a:noFill/>
          <a:ln/>
        </p:spPr>
        <p:txBody>
          <a:bodyPr wrap="square" lIns="0" tIns="0" rIns="0" bIns="0" rtlCol="0" anchor="t"/>
          <a:lstStyle/>
          <a:p>
            <a:pPr marL="0" indent="0" algn="l">
              <a:lnSpc>
                <a:spcPts val="900"/>
              </a:lnSpc>
              <a:buNone/>
            </a:pPr>
            <a:r>
              <a:rPr lang="en-US" sz="555" kern="0" spc="90" dirty="0">
                <a:solidFill>
                  <a:srgbClr val="6F6A66"/>
                </a:solidFill>
                <a:latin typeface="Quicksand" pitchFamily="34" charset="0"/>
              </a:rPr>
              <a:t>ACQUIRED BY</a:t>
            </a:r>
            <a:r>
              <a:rPr lang="en-US" sz="690" kern="0" spc="15" dirty="0">
                <a:solidFill>
                  <a:srgbClr val="333231"/>
                </a:solidFill>
                <a:latin typeface="Quicksand" pitchFamily="34" charset="0"/>
              </a:rPr>
              <a:t> </a:t>
            </a:r>
            <a:r>
              <a:rPr lang="en-US" sz="690" b="1" kern="0" spc="15" dirty="0">
                <a:solidFill>
                  <a:srgbClr val="1B1A1A"/>
                </a:solidFill>
                <a:latin typeface="Quicksand" pitchFamily="34" charset="0"/>
              </a:rPr>
              <a:t>Market Performance Group</a:t>
            </a:r>
            <a:endParaRPr lang="en-US" sz="555" dirty="0"/>
          </a:p>
        </p:txBody>
      </p:sp>
      <p:sp>
        <p:nvSpPr>
          <p:cNvPr id="111" name="Shape 110"/>
          <p:cNvSpPr/>
          <p:nvPr/>
        </p:nvSpPr>
        <p:spPr>
          <a:xfrm>
            <a:off x="4248150" y="3292376"/>
            <a:ext cx="1746200" cy="860524"/>
          </a:xfrm>
          <a:prstGeom prst="rect">
            <a:avLst/>
          </a:prstGeom>
          <a:solidFill>
            <a:srgbClr val="FAF7F3"/>
          </a:solidFill>
          <a:ln/>
        </p:spPr>
        <p:txBody>
          <a:bodyPr/>
          <a:lstStyle/>
          <a:p>
            <a:endParaRPr lang="en-US"/>
          </a:p>
        </p:txBody>
      </p:sp>
      <p:sp>
        <p:nvSpPr>
          <p:cNvPr id="112" name="Shape 111"/>
          <p:cNvSpPr/>
          <p:nvPr/>
        </p:nvSpPr>
        <p:spPr>
          <a:xfrm>
            <a:off x="4248150" y="3292376"/>
            <a:ext cx="1746200" cy="19050"/>
          </a:xfrm>
          <a:prstGeom prst="rect">
            <a:avLst/>
          </a:prstGeom>
          <a:solidFill>
            <a:srgbClr val="B68757"/>
          </a:solidFill>
          <a:ln/>
        </p:spPr>
        <p:txBody>
          <a:bodyPr/>
          <a:lstStyle/>
          <a:p>
            <a:endParaRPr lang="en-US"/>
          </a:p>
        </p:txBody>
      </p:sp>
      <p:sp>
        <p:nvSpPr>
          <p:cNvPr id="113" name="Text 112">
            <a:hlinkClick r:id="rId14"/>
          </p:cNvPr>
          <p:cNvSpPr txBox="1"/>
          <p:nvPr/>
        </p:nvSpPr>
        <p:spPr>
          <a:xfrm>
            <a:off x="4343400" y="3369766"/>
            <a:ext cx="481608" cy="100013"/>
          </a:xfrm>
          <a:prstGeom prst="rect">
            <a:avLst/>
          </a:prstGeom>
          <a:noFill/>
          <a:ln/>
        </p:spPr>
        <p:txBody>
          <a:bodyPr wrap="none" lIns="0" tIns="0" rIns="0" bIns="0" rtlCol="0" anchor="t"/>
          <a:lstStyle/>
          <a:p>
            <a:pPr marL="0" indent="0" algn="l">
              <a:lnSpc>
                <a:spcPts val="788"/>
              </a:lnSpc>
              <a:buNone/>
            </a:pPr>
            <a:r>
              <a:rPr lang="en-US" sz="555" b="1" kern="0" spc="90" dirty="0">
                <a:solidFill>
                  <a:srgbClr val="8C6239"/>
                </a:solidFill>
                <a:latin typeface="Quicksand" pitchFamily="34" charset="0"/>
              </a:rPr>
              <a:t>MAR 2026</a:t>
            </a:r>
            <a:endParaRPr lang="en-US" sz="555" dirty="0"/>
          </a:p>
        </p:txBody>
      </p:sp>
      <p:sp>
        <p:nvSpPr>
          <p:cNvPr id="114" name="Text 113">
            <a:hlinkClick r:id="rId14"/>
          </p:cNvPr>
          <p:cNvSpPr txBox="1"/>
          <p:nvPr/>
        </p:nvSpPr>
        <p:spPr>
          <a:xfrm>
            <a:off x="4810720" y="3369766"/>
            <a:ext cx="1088380" cy="200025"/>
          </a:xfrm>
          <a:prstGeom prst="rect">
            <a:avLst/>
          </a:prstGeom>
          <a:noFill/>
          <a:ln/>
        </p:spPr>
        <p:txBody>
          <a:bodyPr wrap="square" lIns="0" tIns="0" rIns="0" bIns="0" rtlCol="0" anchor="t"/>
          <a:lstStyle/>
          <a:p>
            <a:pPr marL="0" indent="0" algn="r">
              <a:lnSpc>
                <a:spcPts val="788"/>
              </a:lnSpc>
              <a:buNone/>
            </a:pPr>
            <a:r>
              <a:rPr lang="en-US" sz="555" b="1" kern="0" spc="90" dirty="0">
                <a:solidFill>
                  <a:srgbClr val="8C6239"/>
                </a:solidFill>
                <a:latin typeface="Quicksand" pitchFamily="34" charset="0"/>
              </a:rPr>
              <a:t>CONSUMER SERVICES &amp; RETAIL</a:t>
            </a:r>
            <a:endParaRPr lang="en-US" sz="555" dirty="0"/>
          </a:p>
        </p:txBody>
      </p:sp>
      <p:sp>
        <p:nvSpPr>
          <p:cNvPr id="115" name="Text 114">
            <a:hlinkClick r:id="rId14"/>
          </p:cNvPr>
          <p:cNvSpPr txBox="1"/>
          <p:nvPr/>
        </p:nvSpPr>
        <p:spPr>
          <a:xfrm>
            <a:off x="4343400" y="3595985"/>
            <a:ext cx="1555700" cy="123825"/>
          </a:xfrm>
          <a:prstGeom prst="rect">
            <a:avLst/>
          </a:prstGeom>
          <a:noFill/>
          <a:ln/>
        </p:spPr>
        <p:txBody>
          <a:bodyPr wrap="none" lIns="0" tIns="0" rIns="0" bIns="0" rtlCol="0" anchor="t"/>
          <a:lstStyle/>
          <a:p>
            <a:pPr marL="0" indent="0" algn="l">
              <a:lnSpc>
                <a:spcPts val="975"/>
              </a:lnSpc>
              <a:buNone/>
            </a:pPr>
            <a:r>
              <a:rPr lang="en-US" sz="780" b="1" kern="0" spc="22" dirty="0">
                <a:solidFill>
                  <a:srgbClr val="1B1A1A"/>
                </a:solidFill>
                <a:latin typeface="Quicksand" pitchFamily="34" charset="0"/>
              </a:rPr>
              <a:t>STEPFAR INVESTMENTS</a:t>
            </a:r>
            <a:endParaRPr lang="en-US" sz="780" dirty="0"/>
          </a:p>
        </p:txBody>
      </p:sp>
      <p:sp>
        <p:nvSpPr>
          <p:cNvPr id="116" name="Text 115">
            <a:hlinkClick r:id="rId14"/>
          </p:cNvPr>
          <p:cNvSpPr txBox="1"/>
          <p:nvPr/>
        </p:nvSpPr>
        <p:spPr>
          <a:xfrm>
            <a:off x="4343400" y="3716000"/>
            <a:ext cx="1569988" cy="224760"/>
          </a:xfrm>
          <a:prstGeom prst="rect">
            <a:avLst/>
          </a:prstGeom>
          <a:noFill/>
          <a:ln/>
        </p:spPr>
        <p:txBody>
          <a:bodyPr wrap="square" lIns="0" tIns="0" rIns="0" bIns="0" rtlCol="0" anchor="t"/>
          <a:lstStyle/>
          <a:p>
            <a:pPr marL="0" indent="0" algn="l">
              <a:lnSpc>
                <a:spcPts val="885"/>
              </a:lnSpc>
              <a:buNone/>
            </a:pPr>
            <a:r>
              <a:rPr lang="en-US" sz="660" kern="0" spc="15" dirty="0">
                <a:solidFill>
                  <a:srgbClr val="6F6A66"/>
                </a:solidFill>
                <a:latin typeface="Quicksand" pitchFamily="34" charset="0"/>
              </a:rPr>
              <a:t>Two collision repair centers, Permian Basin, TX</a:t>
            </a:r>
            <a:endParaRPr lang="en-US" sz="660" dirty="0"/>
          </a:p>
        </p:txBody>
      </p:sp>
      <p:sp>
        <p:nvSpPr>
          <p:cNvPr id="117" name="Text 116">
            <a:hlinkClick r:id="rId14"/>
          </p:cNvPr>
          <p:cNvSpPr txBox="1"/>
          <p:nvPr/>
        </p:nvSpPr>
        <p:spPr>
          <a:xfrm>
            <a:off x="4343400" y="3958828"/>
            <a:ext cx="1555700" cy="114300"/>
          </a:xfrm>
          <a:prstGeom prst="rect">
            <a:avLst/>
          </a:prstGeom>
          <a:noFill/>
          <a:ln/>
        </p:spPr>
        <p:txBody>
          <a:bodyPr wrap="none" lIns="0" tIns="0" rIns="0" bIns="0" rtlCol="0" anchor="t"/>
          <a:lstStyle/>
          <a:p>
            <a:pPr marL="0" indent="0" algn="l">
              <a:lnSpc>
                <a:spcPts val="900"/>
              </a:lnSpc>
              <a:buNone/>
            </a:pPr>
            <a:r>
              <a:rPr lang="en-US" sz="555" kern="0" spc="90" dirty="0">
                <a:solidFill>
                  <a:srgbClr val="6F6A66"/>
                </a:solidFill>
                <a:latin typeface="Quicksand" pitchFamily="34" charset="0"/>
              </a:rPr>
              <a:t>ACQUIRED BY</a:t>
            </a:r>
            <a:r>
              <a:rPr lang="en-US" sz="690" kern="0" spc="15" dirty="0">
                <a:solidFill>
                  <a:srgbClr val="333231"/>
                </a:solidFill>
                <a:latin typeface="Quicksand" pitchFamily="34" charset="0"/>
              </a:rPr>
              <a:t> </a:t>
            </a:r>
            <a:r>
              <a:rPr lang="en-US" sz="690" b="1" kern="0" spc="15" dirty="0">
                <a:solidFill>
                  <a:srgbClr val="1B1A1A"/>
                </a:solidFill>
                <a:latin typeface="Quicksand" pitchFamily="34" charset="0"/>
              </a:rPr>
              <a:t>Classic Collision</a:t>
            </a:r>
            <a:endParaRPr lang="en-US" sz="555" dirty="0"/>
          </a:p>
        </p:txBody>
      </p:sp>
      <p:sp>
        <p:nvSpPr>
          <p:cNvPr id="118" name="Shape 117"/>
          <p:cNvSpPr/>
          <p:nvPr/>
        </p:nvSpPr>
        <p:spPr>
          <a:xfrm>
            <a:off x="6070550" y="3292376"/>
            <a:ext cx="1746200" cy="860524"/>
          </a:xfrm>
          <a:prstGeom prst="rect">
            <a:avLst/>
          </a:prstGeom>
          <a:solidFill>
            <a:srgbClr val="FAF7F3"/>
          </a:solidFill>
          <a:ln/>
        </p:spPr>
        <p:txBody>
          <a:bodyPr/>
          <a:lstStyle/>
          <a:p>
            <a:endParaRPr lang="en-US"/>
          </a:p>
        </p:txBody>
      </p:sp>
      <p:sp>
        <p:nvSpPr>
          <p:cNvPr id="119" name="Shape 118"/>
          <p:cNvSpPr/>
          <p:nvPr/>
        </p:nvSpPr>
        <p:spPr>
          <a:xfrm>
            <a:off x="6070550" y="3292376"/>
            <a:ext cx="1746200" cy="19050"/>
          </a:xfrm>
          <a:prstGeom prst="rect">
            <a:avLst/>
          </a:prstGeom>
          <a:solidFill>
            <a:srgbClr val="B68757"/>
          </a:solidFill>
          <a:ln/>
        </p:spPr>
        <p:txBody>
          <a:bodyPr/>
          <a:lstStyle/>
          <a:p>
            <a:endParaRPr lang="en-US"/>
          </a:p>
        </p:txBody>
      </p:sp>
      <p:sp>
        <p:nvSpPr>
          <p:cNvPr id="120" name="Text 119">
            <a:hlinkClick r:id="rId15"/>
          </p:cNvPr>
          <p:cNvSpPr txBox="1"/>
          <p:nvPr/>
        </p:nvSpPr>
        <p:spPr>
          <a:xfrm>
            <a:off x="6165800" y="3312616"/>
            <a:ext cx="456605" cy="100013"/>
          </a:xfrm>
          <a:prstGeom prst="rect">
            <a:avLst/>
          </a:prstGeom>
          <a:noFill/>
          <a:ln/>
        </p:spPr>
        <p:txBody>
          <a:bodyPr wrap="none" lIns="0" tIns="0" rIns="0" bIns="0" rtlCol="0" anchor="t"/>
          <a:lstStyle/>
          <a:p>
            <a:pPr marL="0" indent="0" algn="l">
              <a:lnSpc>
                <a:spcPts val="788"/>
              </a:lnSpc>
              <a:buNone/>
            </a:pPr>
            <a:r>
              <a:rPr lang="en-US" sz="555" b="1" kern="0" spc="90" dirty="0">
                <a:solidFill>
                  <a:srgbClr val="8C6239"/>
                </a:solidFill>
                <a:latin typeface="Quicksand" pitchFamily="34" charset="0"/>
              </a:rPr>
              <a:t>FEB 2026</a:t>
            </a:r>
            <a:endParaRPr lang="en-US" sz="555" dirty="0"/>
          </a:p>
        </p:txBody>
      </p:sp>
      <p:sp>
        <p:nvSpPr>
          <p:cNvPr id="121" name="Text 120">
            <a:hlinkClick r:id="rId15"/>
          </p:cNvPr>
          <p:cNvSpPr txBox="1"/>
          <p:nvPr/>
        </p:nvSpPr>
        <p:spPr>
          <a:xfrm>
            <a:off x="6608118" y="3312616"/>
            <a:ext cx="1113383" cy="200025"/>
          </a:xfrm>
          <a:prstGeom prst="rect">
            <a:avLst/>
          </a:prstGeom>
          <a:noFill/>
          <a:ln/>
        </p:spPr>
        <p:txBody>
          <a:bodyPr wrap="square" lIns="0" tIns="0" rIns="0" bIns="0" rtlCol="0" anchor="t"/>
          <a:lstStyle/>
          <a:p>
            <a:pPr marL="0" indent="0" algn="r">
              <a:lnSpc>
                <a:spcPts val="788"/>
              </a:lnSpc>
              <a:buNone/>
            </a:pPr>
            <a:r>
              <a:rPr lang="en-US" sz="555" b="1" kern="0" spc="90" dirty="0">
                <a:solidFill>
                  <a:srgbClr val="8C6239"/>
                </a:solidFill>
                <a:latin typeface="Quicksand" pitchFamily="34" charset="0"/>
              </a:rPr>
              <a:t>CONSUMER SERVICES &amp; RETAIL</a:t>
            </a:r>
            <a:endParaRPr lang="en-US" sz="555" dirty="0"/>
          </a:p>
        </p:txBody>
      </p:sp>
      <p:sp>
        <p:nvSpPr>
          <p:cNvPr id="122" name="Text 121">
            <a:hlinkClick r:id="rId15"/>
          </p:cNvPr>
          <p:cNvSpPr txBox="1"/>
          <p:nvPr/>
        </p:nvSpPr>
        <p:spPr>
          <a:xfrm>
            <a:off x="6165800" y="3538835"/>
            <a:ext cx="1555700" cy="123825"/>
          </a:xfrm>
          <a:prstGeom prst="rect">
            <a:avLst/>
          </a:prstGeom>
          <a:noFill/>
          <a:ln/>
        </p:spPr>
        <p:txBody>
          <a:bodyPr wrap="none" lIns="0" tIns="0" rIns="0" bIns="0" rtlCol="0" anchor="t"/>
          <a:lstStyle/>
          <a:p>
            <a:pPr marL="0" indent="0" algn="l">
              <a:lnSpc>
                <a:spcPts val="975"/>
              </a:lnSpc>
              <a:buNone/>
            </a:pPr>
            <a:r>
              <a:rPr lang="en-US" sz="780" b="1" kern="0" spc="22" dirty="0">
                <a:solidFill>
                  <a:srgbClr val="1B1A1A"/>
                </a:solidFill>
                <a:latin typeface="Quicksand" pitchFamily="34" charset="0"/>
              </a:rPr>
              <a:t>M&amp;M ROOFING</a:t>
            </a:r>
            <a:endParaRPr lang="en-US" sz="780" dirty="0"/>
          </a:p>
        </p:txBody>
      </p:sp>
      <p:sp>
        <p:nvSpPr>
          <p:cNvPr id="123" name="Text 122">
            <a:hlinkClick r:id="rId15"/>
          </p:cNvPr>
          <p:cNvSpPr txBox="1"/>
          <p:nvPr/>
        </p:nvSpPr>
        <p:spPr>
          <a:xfrm>
            <a:off x="6165800" y="3658850"/>
            <a:ext cx="1569988" cy="224760"/>
          </a:xfrm>
          <a:prstGeom prst="rect">
            <a:avLst/>
          </a:prstGeom>
          <a:noFill/>
          <a:ln/>
        </p:spPr>
        <p:txBody>
          <a:bodyPr wrap="square" lIns="0" tIns="0" rIns="0" bIns="0" rtlCol="0" anchor="t"/>
          <a:lstStyle/>
          <a:p>
            <a:pPr marL="0" indent="0" algn="l">
              <a:lnSpc>
                <a:spcPts val="885"/>
              </a:lnSpc>
              <a:buNone/>
            </a:pPr>
            <a:r>
              <a:rPr lang="en-US" sz="660" kern="0" spc="15" dirty="0">
                <a:solidFill>
                  <a:srgbClr val="6F6A66"/>
                </a:solidFill>
                <a:latin typeface="Quicksand" pitchFamily="34" charset="0"/>
              </a:rPr>
              <a:t>Family-owned residential roofing since 1983, Texas</a:t>
            </a:r>
            <a:endParaRPr lang="en-US" sz="660" dirty="0"/>
          </a:p>
        </p:txBody>
      </p:sp>
      <p:sp>
        <p:nvSpPr>
          <p:cNvPr id="124" name="Text 123">
            <a:hlinkClick r:id="rId15"/>
          </p:cNvPr>
          <p:cNvSpPr txBox="1"/>
          <p:nvPr/>
        </p:nvSpPr>
        <p:spPr>
          <a:xfrm>
            <a:off x="6165800" y="3901678"/>
            <a:ext cx="1569988" cy="238125"/>
          </a:xfrm>
          <a:prstGeom prst="rect">
            <a:avLst/>
          </a:prstGeom>
          <a:noFill/>
          <a:ln/>
        </p:spPr>
        <p:txBody>
          <a:bodyPr wrap="square" lIns="0" tIns="0" rIns="0" bIns="0" rtlCol="0" anchor="t"/>
          <a:lstStyle/>
          <a:p>
            <a:pPr marL="0" indent="0" algn="l">
              <a:lnSpc>
                <a:spcPts val="900"/>
              </a:lnSpc>
              <a:buNone/>
            </a:pPr>
            <a:r>
              <a:rPr lang="en-US" sz="555" kern="0" spc="90" dirty="0">
                <a:solidFill>
                  <a:srgbClr val="6F6A66"/>
                </a:solidFill>
                <a:latin typeface="Quicksand" pitchFamily="34" charset="0"/>
              </a:rPr>
              <a:t>ACQUIRED BY</a:t>
            </a:r>
            <a:r>
              <a:rPr lang="en-US" sz="690" kern="0" spc="15" dirty="0">
                <a:solidFill>
                  <a:srgbClr val="333231"/>
                </a:solidFill>
                <a:latin typeface="Quicksand" pitchFamily="34" charset="0"/>
              </a:rPr>
              <a:t> </a:t>
            </a:r>
            <a:r>
              <a:rPr lang="en-US" sz="690" b="1" kern="0" spc="15" dirty="0">
                <a:solidFill>
                  <a:srgbClr val="1B1A1A"/>
                </a:solidFill>
                <a:latin typeface="Quicksand" pitchFamily="34" charset="0"/>
              </a:rPr>
              <a:t>Allied Roofing Partners</a:t>
            </a:r>
            <a:endParaRPr lang="en-US" sz="555" dirty="0"/>
          </a:p>
        </p:txBody>
      </p:sp>
      <p:sp>
        <p:nvSpPr>
          <p:cNvPr id="125" name="Shape 124"/>
          <p:cNvSpPr/>
          <p:nvPr/>
        </p:nvSpPr>
        <p:spPr>
          <a:xfrm>
            <a:off x="7892951" y="3292376"/>
            <a:ext cx="1746200" cy="860524"/>
          </a:xfrm>
          <a:prstGeom prst="rect">
            <a:avLst/>
          </a:prstGeom>
          <a:solidFill>
            <a:srgbClr val="FAF7F3"/>
          </a:solidFill>
          <a:ln/>
        </p:spPr>
        <p:txBody>
          <a:bodyPr/>
          <a:lstStyle/>
          <a:p>
            <a:endParaRPr lang="en-US"/>
          </a:p>
        </p:txBody>
      </p:sp>
      <p:sp>
        <p:nvSpPr>
          <p:cNvPr id="126" name="Shape 125"/>
          <p:cNvSpPr/>
          <p:nvPr/>
        </p:nvSpPr>
        <p:spPr>
          <a:xfrm>
            <a:off x="7892951" y="3292376"/>
            <a:ext cx="1746200" cy="19050"/>
          </a:xfrm>
          <a:prstGeom prst="rect">
            <a:avLst/>
          </a:prstGeom>
          <a:solidFill>
            <a:srgbClr val="B68757"/>
          </a:solidFill>
          <a:ln/>
        </p:spPr>
        <p:txBody>
          <a:bodyPr/>
          <a:lstStyle/>
          <a:p>
            <a:endParaRPr lang="en-US"/>
          </a:p>
        </p:txBody>
      </p:sp>
      <p:sp>
        <p:nvSpPr>
          <p:cNvPr id="127" name="Text 126">
            <a:hlinkClick r:id="rId16"/>
          </p:cNvPr>
          <p:cNvSpPr txBox="1"/>
          <p:nvPr/>
        </p:nvSpPr>
        <p:spPr>
          <a:xfrm>
            <a:off x="7988201" y="3419773"/>
            <a:ext cx="465237" cy="100013"/>
          </a:xfrm>
          <a:prstGeom prst="rect">
            <a:avLst/>
          </a:prstGeom>
          <a:noFill/>
          <a:ln/>
        </p:spPr>
        <p:txBody>
          <a:bodyPr wrap="none" lIns="0" tIns="0" rIns="0" bIns="0" rtlCol="0" anchor="t"/>
          <a:lstStyle/>
          <a:p>
            <a:pPr marL="0" indent="0" algn="l">
              <a:lnSpc>
                <a:spcPts val="788"/>
              </a:lnSpc>
              <a:buNone/>
            </a:pPr>
            <a:r>
              <a:rPr lang="en-US" sz="555" b="1" kern="0" spc="90" dirty="0">
                <a:solidFill>
                  <a:srgbClr val="8C6239"/>
                </a:solidFill>
                <a:latin typeface="Quicksand" pitchFamily="34" charset="0"/>
              </a:rPr>
              <a:t>JAN 2026</a:t>
            </a:r>
            <a:endParaRPr lang="en-US" sz="555" dirty="0"/>
          </a:p>
        </p:txBody>
      </p:sp>
      <p:sp>
        <p:nvSpPr>
          <p:cNvPr id="128" name="Text 127">
            <a:hlinkClick r:id="rId16"/>
          </p:cNvPr>
          <p:cNvSpPr txBox="1"/>
          <p:nvPr/>
        </p:nvSpPr>
        <p:spPr>
          <a:xfrm>
            <a:off x="8730258" y="3419773"/>
            <a:ext cx="813643" cy="100013"/>
          </a:xfrm>
          <a:prstGeom prst="rect">
            <a:avLst/>
          </a:prstGeom>
          <a:noFill/>
          <a:ln/>
        </p:spPr>
        <p:txBody>
          <a:bodyPr wrap="none" lIns="0" tIns="0" rIns="0" bIns="0" rtlCol="0" anchor="t"/>
          <a:lstStyle/>
          <a:p>
            <a:pPr marL="0" indent="0" algn="r">
              <a:lnSpc>
                <a:spcPts val="788"/>
              </a:lnSpc>
              <a:buNone/>
            </a:pPr>
            <a:r>
              <a:rPr lang="en-US" sz="555" b="1" kern="0" spc="90" dirty="0">
                <a:solidFill>
                  <a:srgbClr val="8C6239"/>
                </a:solidFill>
                <a:latin typeface="Quicksand" pitchFamily="34" charset="0"/>
              </a:rPr>
              <a:t>FOOD &amp; BEVERAGE</a:t>
            </a:r>
            <a:endParaRPr lang="en-US" sz="555" dirty="0"/>
          </a:p>
        </p:txBody>
      </p:sp>
      <p:sp>
        <p:nvSpPr>
          <p:cNvPr id="129" name="Text 128">
            <a:hlinkClick r:id="rId16"/>
          </p:cNvPr>
          <p:cNvSpPr txBox="1"/>
          <p:nvPr/>
        </p:nvSpPr>
        <p:spPr>
          <a:xfrm>
            <a:off x="7988201" y="3545979"/>
            <a:ext cx="1555700" cy="123825"/>
          </a:xfrm>
          <a:prstGeom prst="rect">
            <a:avLst/>
          </a:prstGeom>
          <a:noFill/>
          <a:ln/>
        </p:spPr>
        <p:txBody>
          <a:bodyPr wrap="none" lIns="0" tIns="0" rIns="0" bIns="0" rtlCol="0" anchor="t"/>
          <a:lstStyle/>
          <a:p>
            <a:pPr marL="0" indent="0" algn="l">
              <a:lnSpc>
                <a:spcPts val="975"/>
              </a:lnSpc>
              <a:buNone/>
            </a:pPr>
            <a:r>
              <a:rPr lang="en-US" sz="780" b="1" kern="0" spc="22" dirty="0">
                <a:solidFill>
                  <a:srgbClr val="1B1A1A"/>
                </a:solidFill>
                <a:latin typeface="Quicksand" pitchFamily="34" charset="0"/>
              </a:rPr>
              <a:t>FORMULATION TECHNOLOGY</a:t>
            </a:r>
            <a:endParaRPr lang="en-US" sz="780" dirty="0"/>
          </a:p>
        </p:txBody>
      </p:sp>
      <p:sp>
        <p:nvSpPr>
          <p:cNvPr id="130" name="Text 129">
            <a:hlinkClick r:id="rId16"/>
          </p:cNvPr>
          <p:cNvSpPr txBox="1"/>
          <p:nvPr/>
        </p:nvSpPr>
        <p:spPr>
          <a:xfrm>
            <a:off x="7988201" y="3665994"/>
            <a:ext cx="1569988" cy="224760"/>
          </a:xfrm>
          <a:prstGeom prst="rect">
            <a:avLst/>
          </a:prstGeom>
          <a:noFill/>
          <a:ln/>
        </p:spPr>
        <p:txBody>
          <a:bodyPr wrap="square" lIns="0" tIns="0" rIns="0" bIns="0" rtlCol="0" anchor="t"/>
          <a:lstStyle/>
          <a:p>
            <a:pPr marL="0" indent="0" algn="l">
              <a:lnSpc>
                <a:spcPts val="885"/>
              </a:lnSpc>
              <a:buNone/>
            </a:pPr>
            <a:r>
              <a:rPr lang="en-US" sz="660" kern="0" spc="15" dirty="0">
                <a:solidFill>
                  <a:srgbClr val="6F6A66"/>
                </a:solidFill>
                <a:latin typeface="Quicksand" pitchFamily="34" charset="0"/>
              </a:rPr>
              <a:t>Contract manufacturer of supplements, Oakdale, CA</a:t>
            </a:r>
            <a:endParaRPr lang="en-US" sz="660" dirty="0"/>
          </a:p>
        </p:txBody>
      </p:sp>
      <p:sp>
        <p:nvSpPr>
          <p:cNvPr id="131" name="Text 130">
            <a:hlinkClick r:id="rId16"/>
          </p:cNvPr>
          <p:cNvSpPr txBox="1"/>
          <p:nvPr/>
        </p:nvSpPr>
        <p:spPr>
          <a:xfrm>
            <a:off x="7988201" y="3908822"/>
            <a:ext cx="1567607" cy="114300"/>
          </a:xfrm>
          <a:prstGeom prst="rect">
            <a:avLst/>
          </a:prstGeom>
          <a:noFill/>
          <a:ln/>
        </p:spPr>
        <p:txBody>
          <a:bodyPr wrap="none" lIns="0" tIns="0" rIns="0" bIns="0" rtlCol="0" anchor="t"/>
          <a:lstStyle/>
          <a:p>
            <a:pPr marL="0" indent="0" algn="l">
              <a:lnSpc>
                <a:spcPts val="900"/>
              </a:lnSpc>
              <a:buNone/>
            </a:pPr>
            <a:r>
              <a:rPr lang="en-US" sz="555" kern="0" spc="90" dirty="0">
                <a:solidFill>
                  <a:srgbClr val="6F6A66"/>
                </a:solidFill>
                <a:latin typeface="Quicksand" pitchFamily="34" charset="0"/>
              </a:rPr>
              <a:t>ACQUIRED BY</a:t>
            </a:r>
            <a:r>
              <a:rPr lang="en-US" sz="690" kern="0" spc="15" dirty="0">
                <a:solidFill>
                  <a:srgbClr val="333231"/>
                </a:solidFill>
                <a:latin typeface="Quicksand" pitchFamily="34" charset="0"/>
              </a:rPr>
              <a:t> </a:t>
            </a:r>
            <a:r>
              <a:rPr lang="en-US" sz="690" b="1" kern="0" spc="15" dirty="0">
                <a:solidFill>
                  <a:srgbClr val="1B1A1A"/>
                </a:solidFill>
                <a:latin typeface="Quicksand" pitchFamily="34" charset="0"/>
              </a:rPr>
              <a:t>AAVIN Private Equity</a:t>
            </a:r>
            <a:endParaRPr lang="en-US" sz="555" dirty="0"/>
          </a:p>
        </p:txBody>
      </p:sp>
      <p:sp>
        <p:nvSpPr>
          <p:cNvPr id="132" name="Shape 131"/>
          <p:cNvSpPr/>
          <p:nvPr/>
        </p:nvSpPr>
        <p:spPr>
          <a:xfrm>
            <a:off x="4248150" y="4219575"/>
            <a:ext cx="1746200" cy="860375"/>
          </a:xfrm>
          <a:prstGeom prst="rect">
            <a:avLst/>
          </a:prstGeom>
          <a:solidFill>
            <a:srgbClr val="FAF7F3"/>
          </a:solidFill>
          <a:ln/>
        </p:spPr>
        <p:txBody>
          <a:bodyPr/>
          <a:lstStyle/>
          <a:p>
            <a:endParaRPr lang="en-US"/>
          </a:p>
        </p:txBody>
      </p:sp>
      <p:sp>
        <p:nvSpPr>
          <p:cNvPr id="133" name="Shape 132"/>
          <p:cNvSpPr/>
          <p:nvPr/>
        </p:nvSpPr>
        <p:spPr>
          <a:xfrm>
            <a:off x="4248150" y="4219575"/>
            <a:ext cx="1746200" cy="19050"/>
          </a:xfrm>
          <a:prstGeom prst="rect">
            <a:avLst/>
          </a:prstGeom>
          <a:solidFill>
            <a:srgbClr val="B68757"/>
          </a:solidFill>
          <a:ln/>
        </p:spPr>
        <p:txBody>
          <a:bodyPr/>
          <a:lstStyle/>
          <a:p>
            <a:endParaRPr lang="en-US"/>
          </a:p>
        </p:txBody>
      </p:sp>
      <p:sp>
        <p:nvSpPr>
          <p:cNvPr id="134" name="Text 133">
            <a:hlinkClick r:id="rId17"/>
          </p:cNvPr>
          <p:cNvSpPr txBox="1"/>
          <p:nvPr/>
        </p:nvSpPr>
        <p:spPr>
          <a:xfrm>
            <a:off x="4343400" y="4296817"/>
            <a:ext cx="467023" cy="100013"/>
          </a:xfrm>
          <a:prstGeom prst="rect">
            <a:avLst/>
          </a:prstGeom>
          <a:noFill/>
          <a:ln/>
        </p:spPr>
        <p:txBody>
          <a:bodyPr wrap="none" lIns="0" tIns="0" rIns="0" bIns="0" rtlCol="0" anchor="t"/>
          <a:lstStyle/>
          <a:p>
            <a:pPr marL="0" indent="0" algn="l">
              <a:lnSpc>
                <a:spcPts val="788"/>
              </a:lnSpc>
              <a:buNone/>
            </a:pPr>
            <a:r>
              <a:rPr lang="en-US" sz="555" b="1" kern="0" spc="90" dirty="0">
                <a:solidFill>
                  <a:srgbClr val="8C6239"/>
                </a:solidFill>
                <a:latin typeface="Quicksand" pitchFamily="34" charset="0"/>
              </a:rPr>
              <a:t>DEC 2025</a:t>
            </a:r>
            <a:endParaRPr lang="en-US" sz="555" dirty="0"/>
          </a:p>
        </p:txBody>
      </p:sp>
      <p:sp>
        <p:nvSpPr>
          <p:cNvPr id="135" name="Text 134">
            <a:hlinkClick r:id="rId17"/>
          </p:cNvPr>
          <p:cNvSpPr txBox="1"/>
          <p:nvPr/>
        </p:nvSpPr>
        <p:spPr>
          <a:xfrm>
            <a:off x="4796135" y="4296817"/>
            <a:ext cx="1102965" cy="200025"/>
          </a:xfrm>
          <a:prstGeom prst="rect">
            <a:avLst/>
          </a:prstGeom>
          <a:noFill/>
          <a:ln/>
        </p:spPr>
        <p:txBody>
          <a:bodyPr wrap="square" lIns="0" tIns="0" rIns="0" bIns="0" rtlCol="0" anchor="t"/>
          <a:lstStyle/>
          <a:p>
            <a:pPr marL="0" indent="0" algn="r">
              <a:lnSpc>
                <a:spcPts val="788"/>
              </a:lnSpc>
              <a:buNone/>
            </a:pPr>
            <a:r>
              <a:rPr lang="en-US" sz="555" b="1" kern="0" spc="90" dirty="0">
                <a:solidFill>
                  <a:srgbClr val="8C6239"/>
                </a:solidFill>
                <a:latin typeface="Quicksand" pitchFamily="34" charset="0"/>
              </a:rPr>
              <a:t>CONSUMER BRANDS &amp; PRODUCTS</a:t>
            </a:r>
            <a:endParaRPr lang="en-US" sz="555" dirty="0"/>
          </a:p>
        </p:txBody>
      </p:sp>
      <p:sp>
        <p:nvSpPr>
          <p:cNvPr id="136" name="Text 135">
            <a:hlinkClick r:id="rId17"/>
          </p:cNvPr>
          <p:cNvSpPr txBox="1"/>
          <p:nvPr/>
        </p:nvSpPr>
        <p:spPr>
          <a:xfrm>
            <a:off x="4343400" y="4523036"/>
            <a:ext cx="1555700" cy="123825"/>
          </a:xfrm>
          <a:prstGeom prst="rect">
            <a:avLst/>
          </a:prstGeom>
          <a:noFill/>
          <a:ln/>
        </p:spPr>
        <p:txBody>
          <a:bodyPr wrap="none" lIns="0" tIns="0" rIns="0" bIns="0" rtlCol="0" anchor="t"/>
          <a:lstStyle/>
          <a:p>
            <a:pPr marL="0" indent="0" algn="l">
              <a:lnSpc>
                <a:spcPts val="975"/>
              </a:lnSpc>
              <a:buNone/>
            </a:pPr>
            <a:r>
              <a:rPr lang="en-US" sz="780" b="1" kern="0" spc="22" dirty="0">
                <a:solidFill>
                  <a:srgbClr val="1B1A1A"/>
                </a:solidFill>
                <a:latin typeface="Quicksand" pitchFamily="34" charset="0"/>
              </a:rPr>
              <a:t>AROCAM</a:t>
            </a:r>
            <a:endParaRPr lang="en-US" sz="780" dirty="0"/>
          </a:p>
        </p:txBody>
      </p:sp>
      <p:sp>
        <p:nvSpPr>
          <p:cNvPr id="137" name="Text 136">
            <a:hlinkClick r:id="rId17"/>
          </p:cNvPr>
          <p:cNvSpPr txBox="1"/>
          <p:nvPr/>
        </p:nvSpPr>
        <p:spPr>
          <a:xfrm>
            <a:off x="4343400" y="4643051"/>
            <a:ext cx="1569988" cy="224760"/>
          </a:xfrm>
          <a:prstGeom prst="rect">
            <a:avLst/>
          </a:prstGeom>
          <a:noFill/>
          <a:ln/>
        </p:spPr>
        <p:txBody>
          <a:bodyPr wrap="square" lIns="0" tIns="0" rIns="0" bIns="0" rtlCol="0" anchor="t"/>
          <a:lstStyle/>
          <a:p>
            <a:pPr marL="0" indent="0" algn="l">
              <a:lnSpc>
                <a:spcPts val="885"/>
              </a:lnSpc>
              <a:buNone/>
            </a:pPr>
            <a:r>
              <a:rPr lang="en-US" sz="660" kern="0" spc="15" dirty="0">
                <a:solidFill>
                  <a:srgbClr val="6F6A66"/>
                </a:solidFill>
                <a:latin typeface="Quicksand" pitchFamily="34" charset="0"/>
              </a:rPr>
              <a:t>Customized youth sports apparel, Taunton, MA</a:t>
            </a:r>
            <a:endParaRPr lang="en-US" sz="660" dirty="0"/>
          </a:p>
        </p:txBody>
      </p:sp>
      <p:sp>
        <p:nvSpPr>
          <p:cNvPr id="138" name="Text 137">
            <a:hlinkClick r:id="rId17"/>
          </p:cNvPr>
          <p:cNvSpPr txBox="1"/>
          <p:nvPr/>
        </p:nvSpPr>
        <p:spPr>
          <a:xfrm>
            <a:off x="4343400" y="4885879"/>
            <a:ext cx="1555700" cy="114300"/>
          </a:xfrm>
          <a:prstGeom prst="rect">
            <a:avLst/>
          </a:prstGeom>
          <a:noFill/>
          <a:ln/>
        </p:spPr>
        <p:txBody>
          <a:bodyPr wrap="none" lIns="0" tIns="0" rIns="0" bIns="0" rtlCol="0" anchor="t"/>
          <a:lstStyle/>
          <a:p>
            <a:pPr marL="0" indent="0" algn="l">
              <a:lnSpc>
                <a:spcPts val="900"/>
              </a:lnSpc>
              <a:buNone/>
            </a:pPr>
            <a:r>
              <a:rPr lang="en-US" sz="555" kern="0" spc="90" dirty="0">
                <a:solidFill>
                  <a:srgbClr val="6F6A66"/>
                </a:solidFill>
                <a:latin typeface="Quicksand" pitchFamily="34" charset="0"/>
              </a:rPr>
              <a:t>ACQUIRED BY</a:t>
            </a:r>
            <a:r>
              <a:rPr lang="en-US" sz="690" kern="0" spc="15" dirty="0">
                <a:solidFill>
                  <a:srgbClr val="333231"/>
                </a:solidFill>
                <a:latin typeface="Quicksand" pitchFamily="34" charset="0"/>
              </a:rPr>
              <a:t> </a:t>
            </a:r>
            <a:r>
              <a:rPr lang="en-US" sz="690" b="1" kern="0" spc="15" dirty="0">
                <a:solidFill>
                  <a:srgbClr val="1B1A1A"/>
                </a:solidFill>
                <a:latin typeface="Quicksand" pitchFamily="34" charset="0"/>
              </a:rPr>
              <a:t>Innova Capital</a:t>
            </a:r>
            <a:endParaRPr lang="en-US" sz="555" dirty="0"/>
          </a:p>
        </p:txBody>
      </p:sp>
      <p:sp>
        <p:nvSpPr>
          <p:cNvPr id="139" name="Shape 138"/>
          <p:cNvSpPr/>
          <p:nvPr/>
        </p:nvSpPr>
        <p:spPr>
          <a:xfrm>
            <a:off x="6070550" y="4219575"/>
            <a:ext cx="1746200" cy="860375"/>
          </a:xfrm>
          <a:prstGeom prst="rect">
            <a:avLst/>
          </a:prstGeom>
          <a:solidFill>
            <a:srgbClr val="FAF7F3"/>
          </a:solidFill>
          <a:ln/>
        </p:spPr>
        <p:txBody>
          <a:bodyPr/>
          <a:lstStyle/>
          <a:p>
            <a:endParaRPr lang="en-US"/>
          </a:p>
        </p:txBody>
      </p:sp>
      <p:sp>
        <p:nvSpPr>
          <p:cNvPr id="140" name="Shape 139"/>
          <p:cNvSpPr/>
          <p:nvPr/>
        </p:nvSpPr>
        <p:spPr>
          <a:xfrm>
            <a:off x="6070550" y="4219575"/>
            <a:ext cx="1746200" cy="19050"/>
          </a:xfrm>
          <a:prstGeom prst="rect">
            <a:avLst/>
          </a:prstGeom>
          <a:solidFill>
            <a:srgbClr val="B68757"/>
          </a:solidFill>
          <a:ln/>
        </p:spPr>
        <p:txBody>
          <a:bodyPr/>
          <a:lstStyle/>
          <a:p>
            <a:endParaRPr lang="en-US"/>
          </a:p>
        </p:txBody>
      </p:sp>
      <p:sp>
        <p:nvSpPr>
          <p:cNvPr id="141" name="Text 140">
            <a:hlinkClick r:id="rId18"/>
          </p:cNvPr>
          <p:cNvSpPr txBox="1"/>
          <p:nvPr/>
        </p:nvSpPr>
        <p:spPr>
          <a:xfrm>
            <a:off x="6165800" y="4296817"/>
            <a:ext cx="467023" cy="100013"/>
          </a:xfrm>
          <a:prstGeom prst="rect">
            <a:avLst/>
          </a:prstGeom>
          <a:noFill/>
          <a:ln/>
        </p:spPr>
        <p:txBody>
          <a:bodyPr wrap="none" lIns="0" tIns="0" rIns="0" bIns="0" rtlCol="0" anchor="t"/>
          <a:lstStyle/>
          <a:p>
            <a:pPr marL="0" indent="0" algn="l">
              <a:lnSpc>
                <a:spcPts val="788"/>
              </a:lnSpc>
              <a:buNone/>
            </a:pPr>
            <a:r>
              <a:rPr lang="en-US" sz="555" b="1" kern="0" spc="90" dirty="0">
                <a:solidFill>
                  <a:srgbClr val="8C6239"/>
                </a:solidFill>
                <a:latin typeface="Quicksand" pitchFamily="34" charset="0"/>
              </a:rPr>
              <a:t>DEC 2025</a:t>
            </a:r>
            <a:endParaRPr lang="en-US" sz="555" dirty="0"/>
          </a:p>
        </p:txBody>
      </p:sp>
      <p:sp>
        <p:nvSpPr>
          <p:cNvPr id="142" name="Text 141">
            <a:hlinkClick r:id="rId18"/>
          </p:cNvPr>
          <p:cNvSpPr txBox="1"/>
          <p:nvPr/>
        </p:nvSpPr>
        <p:spPr>
          <a:xfrm>
            <a:off x="6618536" y="4296817"/>
            <a:ext cx="1102965" cy="200025"/>
          </a:xfrm>
          <a:prstGeom prst="rect">
            <a:avLst/>
          </a:prstGeom>
          <a:noFill/>
          <a:ln/>
        </p:spPr>
        <p:txBody>
          <a:bodyPr wrap="square" lIns="0" tIns="0" rIns="0" bIns="0" rtlCol="0" anchor="t"/>
          <a:lstStyle/>
          <a:p>
            <a:pPr marL="0" indent="0" algn="r">
              <a:lnSpc>
                <a:spcPts val="788"/>
              </a:lnSpc>
              <a:buNone/>
            </a:pPr>
            <a:r>
              <a:rPr lang="en-US" sz="555" b="1" kern="0" spc="90" dirty="0">
                <a:solidFill>
                  <a:srgbClr val="8C6239"/>
                </a:solidFill>
                <a:latin typeface="Quicksand" pitchFamily="34" charset="0"/>
              </a:rPr>
              <a:t>FOODSERVICE &amp; DISTRIBUTION</a:t>
            </a:r>
            <a:endParaRPr lang="en-US" sz="555" dirty="0"/>
          </a:p>
        </p:txBody>
      </p:sp>
      <p:sp>
        <p:nvSpPr>
          <p:cNvPr id="143" name="Text 142">
            <a:hlinkClick r:id="rId18"/>
          </p:cNvPr>
          <p:cNvSpPr txBox="1"/>
          <p:nvPr/>
        </p:nvSpPr>
        <p:spPr>
          <a:xfrm>
            <a:off x="6165800" y="4523036"/>
            <a:ext cx="1555700" cy="123825"/>
          </a:xfrm>
          <a:prstGeom prst="rect">
            <a:avLst/>
          </a:prstGeom>
          <a:noFill/>
          <a:ln/>
        </p:spPr>
        <p:txBody>
          <a:bodyPr wrap="none" lIns="0" tIns="0" rIns="0" bIns="0" rtlCol="0" anchor="t"/>
          <a:lstStyle/>
          <a:p>
            <a:pPr marL="0" indent="0" algn="l">
              <a:lnSpc>
                <a:spcPts val="975"/>
              </a:lnSpc>
              <a:buNone/>
            </a:pPr>
            <a:r>
              <a:rPr lang="en-US" sz="780" b="1" kern="0" spc="22" dirty="0">
                <a:solidFill>
                  <a:srgbClr val="1B1A1A"/>
                </a:solidFill>
                <a:latin typeface="Quicksand" pitchFamily="34" charset="0"/>
              </a:rPr>
              <a:t>STIRLING FOOD SYSTEMS</a:t>
            </a:r>
            <a:endParaRPr lang="en-US" sz="780" dirty="0"/>
          </a:p>
        </p:txBody>
      </p:sp>
      <p:sp>
        <p:nvSpPr>
          <p:cNvPr id="144" name="Text 143">
            <a:hlinkClick r:id="rId18"/>
          </p:cNvPr>
          <p:cNvSpPr txBox="1"/>
          <p:nvPr/>
        </p:nvSpPr>
        <p:spPr>
          <a:xfrm>
            <a:off x="6165800" y="4643051"/>
            <a:ext cx="1569988" cy="224760"/>
          </a:xfrm>
          <a:prstGeom prst="rect">
            <a:avLst/>
          </a:prstGeom>
          <a:noFill/>
          <a:ln/>
        </p:spPr>
        <p:txBody>
          <a:bodyPr wrap="square" lIns="0" tIns="0" rIns="0" bIns="0" rtlCol="0" anchor="t"/>
          <a:lstStyle/>
          <a:p>
            <a:pPr marL="0" indent="0" algn="l">
              <a:lnSpc>
                <a:spcPts val="885"/>
              </a:lnSpc>
              <a:buNone/>
            </a:pPr>
            <a:r>
              <a:rPr lang="en-US" sz="660" kern="0" spc="15" dirty="0">
                <a:solidFill>
                  <a:srgbClr val="6F6A66"/>
                </a:solidFill>
                <a:latin typeface="Quicksand" pitchFamily="34" charset="0"/>
              </a:rPr>
              <a:t>Bulk cooking oil distribution and collection, Ocala, FL</a:t>
            </a:r>
            <a:endParaRPr lang="en-US" sz="660" dirty="0"/>
          </a:p>
        </p:txBody>
      </p:sp>
      <p:sp>
        <p:nvSpPr>
          <p:cNvPr id="145" name="Text 144">
            <a:hlinkClick r:id="rId18"/>
          </p:cNvPr>
          <p:cNvSpPr txBox="1"/>
          <p:nvPr/>
        </p:nvSpPr>
        <p:spPr>
          <a:xfrm>
            <a:off x="6165800" y="4885879"/>
            <a:ext cx="1555700" cy="114300"/>
          </a:xfrm>
          <a:prstGeom prst="rect">
            <a:avLst/>
          </a:prstGeom>
          <a:noFill/>
          <a:ln/>
        </p:spPr>
        <p:txBody>
          <a:bodyPr wrap="none" lIns="0" tIns="0" rIns="0" bIns="0" rtlCol="0" anchor="t"/>
          <a:lstStyle/>
          <a:p>
            <a:pPr marL="0" indent="0" algn="l">
              <a:lnSpc>
                <a:spcPts val="900"/>
              </a:lnSpc>
              <a:buNone/>
            </a:pPr>
            <a:r>
              <a:rPr lang="en-US" sz="555" kern="0" spc="90" dirty="0">
                <a:solidFill>
                  <a:srgbClr val="6F6A66"/>
                </a:solidFill>
                <a:latin typeface="Quicksand" pitchFamily="34" charset="0"/>
              </a:rPr>
              <a:t>ACQUIRED BY</a:t>
            </a:r>
            <a:r>
              <a:rPr lang="en-US" sz="690" kern="0" spc="15" dirty="0">
                <a:solidFill>
                  <a:srgbClr val="333231"/>
                </a:solidFill>
                <a:latin typeface="Quicksand" pitchFamily="34" charset="0"/>
              </a:rPr>
              <a:t> </a:t>
            </a:r>
            <a:r>
              <a:rPr lang="en-US" sz="690" b="1" kern="0" spc="15" dirty="0">
                <a:solidFill>
                  <a:srgbClr val="1B1A1A"/>
                </a:solidFill>
                <a:latin typeface="Quicksand" pitchFamily="34" charset="0"/>
              </a:rPr>
              <a:t>GreaseCycle</a:t>
            </a:r>
            <a:endParaRPr lang="en-US" sz="555" dirty="0"/>
          </a:p>
        </p:txBody>
      </p:sp>
      <p:sp>
        <p:nvSpPr>
          <p:cNvPr id="146" name="Shape 145"/>
          <p:cNvSpPr/>
          <p:nvPr/>
        </p:nvSpPr>
        <p:spPr>
          <a:xfrm>
            <a:off x="7892951" y="4219575"/>
            <a:ext cx="1746200" cy="860375"/>
          </a:xfrm>
          <a:prstGeom prst="rect">
            <a:avLst/>
          </a:prstGeom>
          <a:solidFill>
            <a:srgbClr val="FAF7F3"/>
          </a:solidFill>
          <a:ln/>
        </p:spPr>
        <p:txBody>
          <a:bodyPr/>
          <a:lstStyle/>
          <a:p>
            <a:endParaRPr lang="en-US"/>
          </a:p>
        </p:txBody>
      </p:sp>
      <p:sp>
        <p:nvSpPr>
          <p:cNvPr id="147" name="Shape 146"/>
          <p:cNvSpPr/>
          <p:nvPr/>
        </p:nvSpPr>
        <p:spPr>
          <a:xfrm>
            <a:off x="7892951" y="4219575"/>
            <a:ext cx="1746200" cy="19050"/>
          </a:xfrm>
          <a:prstGeom prst="rect">
            <a:avLst/>
          </a:prstGeom>
          <a:solidFill>
            <a:srgbClr val="B68757"/>
          </a:solidFill>
          <a:ln/>
        </p:spPr>
        <p:txBody>
          <a:bodyPr/>
          <a:lstStyle/>
          <a:p>
            <a:endParaRPr lang="en-US"/>
          </a:p>
        </p:txBody>
      </p:sp>
      <p:sp>
        <p:nvSpPr>
          <p:cNvPr id="148" name="Text 147">
            <a:hlinkClick r:id="rId19"/>
          </p:cNvPr>
          <p:cNvSpPr txBox="1"/>
          <p:nvPr/>
        </p:nvSpPr>
        <p:spPr>
          <a:xfrm>
            <a:off x="7988201" y="4239816"/>
            <a:ext cx="509439" cy="100013"/>
          </a:xfrm>
          <a:prstGeom prst="rect">
            <a:avLst/>
          </a:prstGeom>
          <a:noFill/>
          <a:ln/>
        </p:spPr>
        <p:txBody>
          <a:bodyPr wrap="none" lIns="0" tIns="0" rIns="0" bIns="0" rtlCol="0" anchor="t"/>
          <a:lstStyle/>
          <a:p>
            <a:pPr marL="0" indent="0" algn="l">
              <a:lnSpc>
                <a:spcPts val="788"/>
              </a:lnSpc>
              <a:buNone/>
            </a:pPr>
            <a:r>
              <a:rPr lang="en-US" sz="555" b="1" kern="0" spc="90" dirty="0">
                <a:solidFill>
                  <a:srgbClr val="8C6239"/>
                </a:solidFill>
                <a:latin typeface="Quicksand" pitchFamily="34" charset="0"/>
              </a:rPr>
              <a:t>JULY 2025</a:t>
            </a:r>
            <a:endParaRPr lang="en-US" sz="555" dirty="0"/>
          </a:p>
        </p:txBody>
      </p:sp>
      <p:sp>
        <p:nvSpPr>
          <p:cNvPr id="149" name="Text 148">
            <a:hlinkClick r:id="rId19"/>
          </p:cNvPr>
          <p:cNvSpPr txBox="1"/>
          <p:nvPr/>
        </p:nvSpPr>
        <p:spPr>
          <a:xfrm>
            <a:off x="8483352" y="4239816"/>
            <a:ext cx="1060549" cy="200025"/>
          </a:xfrm>
          <a:prstGeom prst="rect">
            <a:avLst/>
          </a:prstGeom>
          <a:noFill/>
          <a:ln/>
        </p:spPr>
        <p:txBody>
          <a:bodyPr wrap="square" lIns="0" tIns="0" rIns="0" bIns="0" rtlCol="0" anchor="t"/>
          <a:lstStyle/>
          <a:p>
            <a:pPr marL="0" indent="0" algn="r">
              <a:lnSpc>
                <a:spcPts val="788"/>
              </a:lnSpc>
              <a:buNone/>
            </a:pPr>
            <a:r>
              <a:rPr lang="en-US" sz="555" b="1" kern="0" spc="90" dirty="0">
                <a:solidFill>
                  <a:srgbClr val="8C6239"/>
                </a:solidFill>
                <a:latin typeface="Quicksand" pitchFamily="34" charset="0"/>
              </a:rPr>
              <a:t>CONSUMER SERVICES &amp; RETAIL</a:t>
            </a:r>
            <a:endParaRPr lang="en-US" sz="555" dirty="0"/>
          </a:p>
        </p:txBody>
      </p:sp>
      <p:sp>
        <p:nvSpPr>
          <p:cNvPr id="150" name="Text 149">
            <a:hlinkClick r:id="rId19"/>
          </p:cNvPr>
          <p:cNvSpPr txBox="1"/>
          <p:nvPr/>
        </p:nvSpPr>
        <p:spPr>
          <a:xfrm>
            <a:off x="7988201" y="4466034"/>
            <a:ext cx="1555700" cy="123825"/>
          </a:xfrm>
          <a:prstGeom prst="rect">
            <a:avLst/>
          </a:prstGeom>
          <a:noFill/>
          <a:ln/>
        </p:spPr>
        <p:txBody>
          <a:bodyPr wrap="none" lIns="0" tIns="0" rIns="0" bIns="0" rtlCol="0" anchor="t"/>
          <a:lstStyle/>
          <a:p>
            <a:pPr marL="0" indent="0" algn="l">
              <a:lnSpc>
                <a:spcPts val="975"/>
              </a:lnSpc>
              <a:buNone/>
            </a:pPr>
            <a:r>
              <a:rPr lang="en-US" sz="780" b="1" kern="0" spc="22" dirty="0">
                <a:solidFill>
                  <a:srgbClr val="1B1A1A"/>
                </a:solidFill>
                <a:latin typeface="Quicksand" pitchFamily="34" charset="0"/>
              </a:rPr>
              <a:t>AFFORDABLE GARAGE DOOR</a:t>
            </a:r>
            <a:endParaRPr lang="en-US" sz="780" dirty="0"/>
          </a:p>
        </p:txBody>
      </p:sp>
      <p:sp>
        <p:nvSpPr>
          <p:cNvPr id="151" name="Text 150">
            <a:hlinkClick r:id="rId19"/>
          </p:cNvPr>
          <p:cNvSpPr txBox="1"/>
          <p:nvPr/>
        </p:nvSpPr>
        <p:spPr>
          <a:xfrm>
            <a:off x="7988201" y="4586049"/>
            <a:ext cx="1569988" cy="224760"/>
          </a:xfrm>
          <a:prstGeom prst="rect">
            <a:avLst/>
          </a:prstGeom>
          <a:noFill/>
          <a:ln/>
        </p:spPr>
        <p:txBody>
          <a:bodyPr wrap="square" lIns="0" tIns="0" rIns="0" bIns="0" rtlCol="0" anchor="t"/>
          <a:lstStyle/>
          <a:p>
            <a:pPr marL="0" indent="0" algn="l">
              <a:lnSpc>
                <a:spcPts val="885"/>
              </a:lnSpc>
              <a:buNone/>
            </a:pPr>
            <a:r>
              <a:rPr lang="en-US" sz="660" kern="0" spc="15" dirty="0">
                <a:solidFill>
                  <a:srgbClr val="6F6A66"/>
                </a:solidFill>
                <a:latin typeface="Quicksand" pitchFamily="34" charset="0"/>
              </a:rPr>
              <a:t>Garage door sales, installation and repair, IN and IL</a:t>
            </a:r>
            <a:endParaRPr lang="en-US" sz="660" dirty="0"/>
          </a:p>
        </p:txBody>
      </p:sp>
      <p:sp>
        <p:nvSpPr>
          <p:cNvPr id="152" name="Text 151">
            <a:hlinkClick r:id="rId19"/>
          </p:cNvPr>
          <p:cNvSpPr txBox="1"/>
          <p:nvPr/>
        </p:nvSpPr>
        <p:spPr>
          <a:xfrm>
            <a:off x="7988201" y="4828877"/>
            <a:ext cx="1569988" cy="238125"/>
          </a:xfrm>
          <a:prstGeom prst="rect">
            <a:avLst/>
          </a:prstGeom>
          <a:noFill/>
          <a:ln/>
        </p:spPr>
        <p:txBody>
          <a:bodyPr wrap="square" lIns="0" tIns="0" rIns="0" bIns="0" rtlCol="0" anchor="t"/>
          <a:lstStyle/>
          <a:p>
            <a:pPr marL="0" indent="0" algn="l">
              <a:lnSpc>
                <a:spcPts val="900"/>
              </a:lnSpc>
              <a:buNone/>
            </a:pPr>
            <a:r>
              <a:rPr lang="en-US" sz="555" kern="0" spc="90" dirty="0">
                <a:solidFill>
                  <a:srgbClr val="6F6A66"/>
                </a:solidFill>
                <a:latin typeface="Quicksand" pitchFamily="34" charset="0"/>
              </a:rPr>
              <a:t>ACQUIRED BY</a:t>
            </a:r>
            <a:r>
              <a:rPr lang="en-US" sz="690" kern="0" spc="15" dirty="0">
                <a:solidFill>
                  <a:srgbClr val="333231"/>
                </a:solidFill>
                <a:latin typeface="Quicksand" pitchFamily="34" charset="0"/>
              </a:rPr>
              <a:t> </a:t>
            </a:r>
            <a:r>
              <a:rPr lang="en-US" sz="690" b="1" kern="0" spc="15" dirty="0">
                <a:solidFill>
                  <a:srgbClr val="1B1A1A"/>
                </a:solidFill>
                <a:latin typeface="Quicksand" pitchFamily="34" charset="0"/>
              </a:rPr>
              <a:t>A.S.A.P. Garage Door Repair</a:t>
            </a:r>
            <a:endParaRPr lang="en-US" sz="555" dirty="0"/>
          </a:p>
        </p:txBody>
      </p:sp>
      <p:sp>
        <p:nvSpPr>
          <p:cNvPr id="153" name="Shape 152"/>
          <p:cNvSpPr/>
          <p:nvPr/>
        </p:nvSpPr>
        <p:spPr>
          <a:xfrm>
            <a:off x="4248150" y="5146625"/>
            <a:ext cx="1746200" cy="860375"/>
          </a:xfrm>
          <a:prstGeom prst="rect">
            <a:avLst/>
          </a:prstGeom>
          <a:solidFill>
            <a:srgbClr val="FAF7F3"/>
          </a:solidFill>
          <a:ln/>
        </p:spPr>
        <p:txBody>
          <a:bodyPr/>
          <a:lstStyle/>
          <a:p>
            <a:endParaRPr lang="en-US"/>
          </a:p>
        </p:txBody>
      </p:sp>
      <p:sp>
        <p:nvSpPr>
          <p:cNvPr id="154" name="Shape 153"/>
          <p:cNvSpPr/>
          <p:nvPr/>
        </p:nvSpPr>
        <p:spPr>
          <a:xfrm>
            <a:off x="4248150" y="5146625"/>
            <a:ext cx="1746200" cy="19050"/>
          </a:xfrm>
          <a:prstGeom prst="rect">
            <a:avLst/>
          </a:prstGeom>
          <a:solidFill>
            <a:srgbClr val="B68757"/>
          </a:solidFill>
          <a:ln/>
        </p:spPr>
        <p:txBody>
          <a:bodyPr/>
          <a:lstStyle/>
          <a:p>
            <a:endParaRPr lang="en-US"/>
          </a:p>
        </p:txBody>
      </p:sp>
      <p:sp>
        <p:nvSpPr>
          <p:cNvPr id="155" name="Text 154">
            <a:hlinkClick r:id="rId20"/>
          </p:cNvPr>
          <p:cNvSpPr txBox="1"/>
          <p:nvPr/>
        </p:nvSpPr>
        <p:spPr>
          <a:xfrm>
            <a:off x="4343400" y="5223867"/>
            <a:ext cx="524173" cy="100013"/>
          </a:xfrm>
          <a:prstGeom prst="rect">
            <a:avLst/>
          </a:prstGeom>
          <a:noFill/>
          <a:ln/>
        </p:spPr>
        <p:txBody>
          <a:bodyPr wrap="none" lIns="0" tIns="0" rIns="0" bIns="0" rtlCol="0" anchor="t"/>
          <a:lstStyle/>
          <a:p>
            <a:pPr marL="0" indent="0" algn="l">
              <a:lnSpc>
                <a:spcPts val="788"/>
              </a:lnSpc>
              <a:buNone/>
            </a:pPr>
            <a:r>
              <a:rPr lang="en-US" sz="555" b="1" kern="0" spc="90" dirty="0">
                <a:solidFill>
                  <a:srgbClr val="8C6239"/>
                </a:solidFill>
                <a:latin typeface="Quicksand" pitchFamily="34" charset="0"/>
              </a:rPr>
              <a:t>JUNE 2025</a:t>
            </a:r>
            <a:endParaRPr lang="en-US" sz="555" dirty="0"/>
          </a:p>
        </p:txBody>
      </p:sp>
      <p:sp>
        <p:nvSpPr>
          <p:cNvPr id="156" name="Text 155">
            <a:hlinkClick r:id="rId20"/>
          </p:cNvPr>
          <p:cNvSpPr txBox="1"/>
          <p:nvPr/>
        </p:nvSpPr>
        <p:spPr>
          <a:xfrm>
            <a:off x="4853285" y="5223867"/>
            <a:ext cx="1045815" cy="200025"/>
          </a:xfrm>
          <a:prstGeom prst="rect">
            <a:avLst/>
          </a:prstGeom>
          <a:noFill/>
          <a:ln/>
        </p:spPr>
        <p:txBody>
          <a:bodyPr wrap="square" lIns="0" tIns="0" rIns="0" bIns="0" rtlCol="0" anchor="t"/>
          <a:lstStyle/>
          <a:p>
            <a:pPr marL="0" indent="0" algn="r">
              <a:lnSpc>
                <a:spcPts val="788"/>
              </a:lnSpc>
              <a:buNone/>
            </a:pPr>
            <a:r>
              <a:rPr lang="en-US" sz="555" b="1" kern="0" spc="90" dirty="0">
                <a:solidFill>
                  <a:srgbClr val="8C6239"/>
                </a:solidFill>
                <a:latin typeface="Quicksand" pitchFamily="34" charset="0"/>
              </a:rPr>
              <a:t>CONSUMER SERVICES &amp; RETAIL</a:t>
            </a:r>
            <a:endParaRPr lang="en-US" sz="555" dirty="0"/>
          </a:p>
        </p:txBody>
      </p:sp>
      <p:sp>
        <p:nvSpPr>
          <p:cNvPr id="157" name="Text 156">
            <a:hlinkClick r:id="rId20"/>
          </p:cNvPr>
          <p:cNvSpPr txBox="1"/>
          <p:nvPr/>
        </p:nvSpPr>
        <p:spPr>
          <a:xfrm>
            <a:off x="4343400" y="5450086"/>
            <a:ext cx="1555700" cy="123825"/>
          </a:xfrm>
          <a:prstGeom prst="rect">
            <a:avLst/>
          </a:prstGeom>
          <a:noFill/>
          <a:ln/>
        </p:spPr>
        <p:txBody>
          <a:bodyPr wrap="none" lIns="0" tIns="0" rIns="0" bIns="0" rtlCol="0" anchor="t"/>
          <a:lstStyle/>
          <a:p>
            <a:pPr marL="0" indent="0" algn="l">
              <a:lnSpc>
                <a:spcPts val="975"/>
              </a:lnSpc>
              <a:buNone/>
            </a:pPr>
            <a:r>
              <a:rPr lang="en-US" sz="780" b="1" kern="0" spc="22" dirty="0">
                <a:solidFill>
                  <a:srgbClr val="1B1A1A"/>
                </a:solidFill>
                <a:latin typeface="Quicksand" pitchFamily="34" charset="0"/>
              </a:rPr>
              <a:t>GSM WINGS</a:t>
            </a:r>
            <a:endParaRPr lang="en-US" sz="780" dirty="0"/>
          </a:p>
        </p:txBody>
      </p:sp>
      <p:sp>
        <p:nvSpPr>
          <p:cNvPr id="158" name="Text 157">
            <a:hlinkClick r:id="rId20"/>
          </p:cNvPr>
          <p:cNvSpPr txBox="1"/>
          <p:nvPr/>
        </p:nvSpPr>
        <p:spPr>
          <a:xfrm>
            <a:off x="4343400" y="5570101"/>
            <a:ext cx="1569988" cy="224760"/>
          </a:xfrm>
          <a:prstGeom prst="rect">
            <a:avLst/>
          </a:prstGeom>
          <a:noFill/>
          <a:ln/>
        </p:spPr>
        <p:txBody>
          <a:bodyPr wrap="square" lIns="0" tIns="0" rIns="0" bIns="0" rtlCol="0" anchor="t"/>
          <a:lstStyle/>
          <a:p>
            <a:pPr marL="0" indent="0" algn="l">
              <a:lnSpc>
                <a:spcPts val="885"/>
              </a:lnSpc>
              <a:buNone/>
            </a:pPr>
            <a:r>
              <a:rPr lang="en-US" sz="660" kern="0" spc="15" dirty="0">
                <a:solidFill>
                  <a:srgbClr val="6F6A66"/>
                </a:solidFill>
                <a:latin typeface="Quicksand" pitchFamily="34" charset="0"/>
              </a:rPr>
              <a:t>Sports bar and grill restaurant group, Texas</a:t>
            </a:r>
            <a:endParaRPr lang="en-US" sz="660" dirty="0"/>
          </a:p>
        </p:txBody>
      </p:sp>
      <p:sp>
        <p:nvSpPr>
          <p:cNvPr id="159" name="Text 158">
            <a:hlinkClick r:id="rId20"/>
          </p:cNvPr>
          <p:cNvSpPr txBox="1"/>
          <p:nvPr/>
        </p:nvSpPr>
        <p:spPr>
          <a:xfrm>
            <a:off x="4343400" y="5812929"/>
            <a:ext cx="1555700" cy="114300"/>
          </a:xfrm>
          <a:prstGeom prst="rect">
            <a:avLst/>
          </a:prstGeom>
          <a:noFill/>
          <a:ln/>
        </p:spPr>
        <p:txBody>
          <a:bodyPr wrap="none" lIns="0" tIns="0" rIns="0" bIns="0" rtlCol="0" anchor="t"/>
          <a:lstStyle/>
          <a:p>
            <a:pPr marL="0" indent="0" algn="l">
              <a:lnSpc>
                <a:spcPts val="900"/>
              </a:lnSpc>
              <a:buNone/>
            </a:pPr>
            <a:r>
              <a:rPr lang="en-US" sz="555" kern="0" spc="90" dirty="0">
                <a:solidFill>
                  <a:srgbClr val="6F6A66"/>
                </a:solidFill>
                <a:latin typeface="Quicksand" pitchFamily="34" charset="0"/>
              </a:rPr>
              <a:t>ACQUIRED BY</a:t>
            </a:r>
            <a:r>
              <a:rPr lang="en-US" sz="690" kern="0" spc="15" dirty="0">
                <a:solidFill>
                  <a:srgbClr val="333231"/>
                </a:solidFill>
                <a:latin typeface="Quicksand" pitchFamily="34" charset="0"/>
              </a:rPr>
              <a:t> </a:t>
            </a:r>
            <a:r>
              <a:rPr lang="en-US" sz="690" b="1" kern="0" spc="15" dirty="0">
                <a:solidFill>
                  <a:srgbClr val="1B1A1A"/>
                </a:solidFill>
                <a:latin typeface="Quicksand" pitchFamily="34" charset="0"/>
              </a:rPr>
              <a:t>GPC Investments</a:t>
            </a:r>
            <a:endParaRPr lang="en-US" sz="555" dirty="0"/>
          </a:p>
        </p:txBody>
      </p:sp>
      <p:sp>
        <p:nvSpPr>
          <p:cNvPr id="160" name="Shape 159"/>
          <p:cNvSpPr/>
          <p:nvPr/>
        </p:nvSpPr>
        <p:spPr>
          <a:xfrm>
            <a:off x="6070550" y="5146625"/>
            <a:ext cx="1746200" cy="860375"/>
          </a:xfrm>
          <a:prstGeom prst="rect">
            <a:avLst/>
          </a:prstGeom>
          <a:solidFill>
            <a:srgbClr val="FAF7F3"/>
          </a:solidFill>
          <a:ln/>
        </p:spPr>
        <p:txBody>
          <a:bodyPr/>
          <a:lstStyle/>
          <a:p>
            <a:endParaRPr lang="en-US"/>
          </a:p>
        </p:txBody>
      </p:sp>
      <p:sp>
        <p:nvSpPr>
          <p:cNvPr id="161" name="Shape 160"/>
          <p:cNvSpPr/>
          <p:nvPr/>
        </p:nvSpPr>
        <p:spPr>
          <a:xfrm>
            <a:off x="6070550" y="5146625"/>
            <a:ext cx="1746200" cy="19050"/>
          </a:xfrm>
          <a:prstGeom prst="rect">
            <a:avLst/>
          </a:prstGeom>
          <a:solidFill>
            <a:srgbClr val="B68757"/>
          </a:solidFill>
          <a:ln/>
        </p:spPr>
        <p:txBody>
          <a:bodyPr/>
          <a:lstStyle/>
          <a:p>
            <a:endParaRPr lang="en-US"/>
          </a:p>
        </p:txBody>
      </p:sp>
      <p:sp>
        <p:nvSpPr>
          <p:cNvPr id="162" name="Text 161">
            <a:hlinkClick r:id="rId21"/>
          </p:cNvPr>
          <p:cNvSpPr txBox="1"/>
          <p:nvPr/>
        </p:nvSpPr>
        <p:spPr>
          <a:xfrm>
            <a:off x="6165800" y="5223867"/>
            <a:ext cx="524173" cy="100013"/>
          </a:xfrm>
          <a:prstGeom prst="rect">
            <a:avLst/>
          </a:prstGeom>
          <a:noFill/>
          <a:ln/>
        </p:spPr>
        <p:txBody>
          <a:bodyPr wrap="none" lIns="0" tIns="0" rIns="0" bIns="0" rtlCol="0" anchor="t"/>
          <a:lstStyle/>
          <a:p>
            <a:pPr marL="0" indent="0" algn="l">
              <a:lnSpc>
                <a:spcPts val="788"/>
              </a:lnSpc>
              <a:buNone/>
            </a:pPr>
            <a:r>
              <a:rPr lang="en-US" sz="555" b="1" kern="0" spc="90" dirty="0">
                <a:solidFill>
                  <a:srgbClr val="8C6239"/>
                </a:solidFill>
                <a:latin typeface="Quicksand" pitchFamily="34" charset="0"/>
              </a:rPr>
              <a:t>JUNE 2025</a:t>
            </a:r>
            <a:endParaRPr lang="en-US" sz="555" dirty="0"/>
          </a:p>
        </p:txBody>
      </p:sp>
      <p:sp>
        <p:nvSpPr>
          <p:cNvPr id="163" name="Text 162">
            <a:hlinkClick r:id="rId21"/>
          </p:cNvPr>
          <p:cNvSpPr txBox="1"/>
          <p:nvPr/>
        </p:nvSpPr>
        <p:spPr>
          <a:xfrm>
            <a:off x="6675686" y="5223867"/>
            <a:ext cx="1045815" cy="200025"/>
          </a:xfrm>
          <a:prstGeom prst="rect">
            <a:avLst/>
          </a:prstGeom>
          <a:noFill/>
          <a:ln/>
        </p:spPr>
        <p:txBody>
          <a:bodyPr wrap="square" lIns="0" tIns="0" rIns="0" bIns="0" rtlCol="0" anchor="t"/>
          <a:lstStyle/>
          <a:p>
            <a:pPr marL="0" indent="0" algn="r">
              <a:lnSpc>
                <a:spcPts val="788"/>
              </a:lnSpc>
              <a:buNone/>
            </a:pPr>
            <a:r>
              <a:rPr lang="en-US" sz="555" b="1" kern="0" spc="90" dirty="0">
                <a:solidFill>
                  <a:srgbClr val="8C6239"/>
                </a:solidFill>
                <a:latin typeface="Quicksand" pitchFamily="34" charset="0"/>
              </a:rPr>
              <a:t>CONSUMER SERVICES &amp; RETAIL</a:t>
            </a:r>
            <a:endParaRPr lang="en-US" sz="555" dirty="0"/>
          </a:p>
        </p:txBody>
      </p:sp>
      <p:sp>
        <p:nvSpPr>
          <p:cNvPr id="164" name="Text 163">
            <a:hlinkClick r:id="rId21"/>
          </p:cNvPr>
          <p:cNvSpPr txBox="1"/>
          <p:nvPr/>
        </p:nvSpPr>
        <p:spPr>
          <a:xfrm>
            <a:off x="6165800" y="5450086"/>
            <a:ext cx="1555700" cy="123825"/>
          </a:xfrm>
          <a:prstGeom prst="rect">
            <a:avLst/>
          </a:prstGeom>
          <a:noFill/>
          <a:ln/>
        </p:spPr>
        <p:txBody>
          <a:bodyPr wrap="none" lIns="0" tIns="0" rIns="0" bIns="0" rtlCol="0" anchor="t"/>
          <a:lstStyle/>
          <a:p>
            <a:pPr marL="0" indent="0" algn="l">
              <a:lnSpc>
                <a:spcPts val="975"/>
              </a:lnSpc>
              <a:buNone/>
            </a:pPr>
            <a:r>
              <a:rPr lang="en-US" sz="780" b="1" kern="0" spc="22" dirty="0">
                <a:solidFill>
                  <a:srgbClr val="1B1A1A"/>
                </a:solidFill>
                <a:latin typeface="Quicksand" pitchFamily="34" charset="0"/>
              </a:rPr>
              <a:t>SOUTHERN POOL DESIGNS</a:t>
            </a:r>
            <a:endParaRPr lang="en-US" sz="780" dirty="0"/>
          </a:p>
        </p:txBody>
      </p:sp>
      <p:sp>
        <p:nvSpPr>
          <p:cNvPr id="165" name="Text 164">
            <a:hlinkClick r:id="rId21"/>
          </p:cNvPr>
          <p:cNvSpPr txBox="1"/>
          <p:nvPr/>
        </p:nvSpPr>
        <p:spPr>
          <a:xfrm>
            <a:off x="6165800" y="5570101"/>
            <a:ext cx="1569988" cy="224760"/>
          </a:xfrm>
          <a:prstGeom prst="rect">
            <a:avLst/>
          </a:prstGeom>
          <a:noFill/>
          <a:ln/>
        </p:spPr>
        <p:txBody>
          <a:bodyPr wrap="square" lIns="0" tIns="0" rIns="0" bIns="0" rtlCol="0" anchor="t"/>
          <a:lstStyle/>
          <a:p>
            <a:pPr marL="0" indent="0" algn="l">
              <a:lnSpc>
                <a:spcPts val="885"/>
              </a:lnSpc>
              <a:buNone/>
            </a:pPr>
            <a:r>
              <a:rPr lang="en-US" sz="660" kern="0" spc="15" dirty="0">
                <a:solidFill>
                  <a:srgbClr val="6F6A66"/>
                </a:solidFill>
                <a:latin typeface="Quicksand" pitchFamily="34" charset="0"/>
              </a:rPr>
              <a:t>Custom pool design and construction, Central Florida</a:t>
            </a:r>
            <a:endParaRPr lang="en-US" sz="660" dirty="0"/>
          </a:p>
        </p:txBody>
      </p:sp>
      <p:sp>
        <p:nvSpPr>
          <p:cNvPr id="166" name="Text 165">
            <a:hlinkClick r:id="rId21"/>
          </p:cNvPr>
          <p:cNvSpPr txBox="1"/>
          <p:nvPr/>
        </p:nvSpPr>
        <p:spPr>
          <a:xfrm>
            <a:off x="6165800" y="5812929"/>
            <a:ext cx="1608386" cy="114300"/>
          </a:xfrm>
          <a:prstGeom prst="rect">
            <a:avLst/>
          </a:prstGeom>
          <a:noFill/>
          <a:ln/>
        </p:spPr>
        <p:txBody>
          <a:bodyPr wrap="none" lIns="0" tIns="0" rIns="0" bIns="0" rtlCol="0" anchor="t"/>
          <a:lstStyle/>
          <a:p>
            <a:pPr marL="0" indent="0" algn="l">
              <a:lnSpc>
                <a:spcPts val="900"/>
              </a:lnSpc>
              <a:buNone/>
            </a:pPr>
            <a:r>
              <a:rPr lang="en-US" sz="555" kern="0" spc="90" dirty="0">
                <a:solidFill>
                  <a:srgbClr val="6F6A66"/>
                </a:solidFill>
                <a:latin typeface="Quicksand" pitchFamily="34" charset="0"/>
              </a:rPr>
              <a:t>ACQUIRED BY</a:t>
            </a:r>
            <a:r>
              <a:rPr lang="en-US" sz="690" kern="0" spc="15" dirty="0">
                <a:solidFill>
                  <a:srgbClr val="333231"/>
                </a:solidFill>
                <a:latin typeface="Quicksand" pitchFamily="34" charset="0"/>
              </a:rPr>
              <a:t> </a:t>
            </a:r>
            <a:r>
              <a:rPr lang="en-US" sz="690" b="1" kern="0" spc="15" dirty="0">
                <a:solidFill>
                  <a:srgbClr val="1B1A1A"/>
                </a:solidFill>
                <a:latin typeface="Quicksand" pitchFamily="34" charset="0"/>
              </a:rPr>
              <a:t>an individual investor</a:t>
            </a:r>
            <a:endParaRPr lang="en-US" sz="555" dirty="0"/>
          </a:p>
        </p:txBody>
      </p:sp>
      <p:sp>
        <p:nvSpPr>
          <p:cNvPr id="167" name="Shape 166"/>
          <p:cNvSpPr/>
          <p:nvPr/>
        </p:nvSpPr>
        <p:spPr>
          <a:xfrm>
            <a:off x="7892951" y="5146625"/>
            <a:ext cx="1746200" cy="860375"/>
          </a:xfrm>
          <a:prstGeom prst="rect">
            <a:avLst/>
          </a:prstGeom>
          <a:solidFill>
            <a:srgbClr val="FAF7F3"/>
          </a:solidFill>
          <a:ln/>
        </p:spPr>
        <p:txBody>
          <a:bodyPr/>
          <a:lstStyle/>
          <a:p>
            <a:endParaRPr lang="en-US"/>
          </a:p>
        </p:txBody>
      </p:sp>
      <p:sp>
        <p:nvSpPr>
          <p:cNvPr id="168" name="Shape 167"/>
          <p:cNvSpPr/>
          <p:nvPr/>
        </p:nvSpPr>
        <p:spPr>
          <a:xfrm>
            <a:off x="7892951" y="5146625"/>
            <a:ext cx="1746200" cy="19050"/>
          </a:xfrm>
          <a:prstGeom prst="rect">
            <a:avLst/>
          </a:prstGeom>
          <a:solidFill>
            <a:srgbClr val="B68757"/>
          </a:solidFill>
          <a:ln/>
        </p:spPr>
        <p:txBody>
          <a:bodyPr/>
          <a:lstStyle/>
          <a:p>
            <a:endParaRPr lang="en-US"/>
          </a:p>
        </p:txBody>
      </p:sp>
      <p:sp>
        <p:nvSpPr>
          <p:cNvPr id="169" name="Text 168">
            <a:hlinkClick r:id="rId22"/>
          </p:cNvPr>
          <p:cNvSpPr txBox="1"/>
          <p:nvPr/>
        </p:nvSpPr>
        <p:spPr>
          <a:xfrm>
            <a:off x="7988201" y="5166866"/>
            <a:ext cx="524173" cy="100013"/>
          </a:xfrm>
          <a:prstGeom prst="rect">
            <a:avLst/>
          </a:prstGeom>
          <a:noFill/>
          <a:ln/>
        </p:spPr>
        <p:txBody>
          <a:bodyPr wrap="none" lIns="0" tIns="0" rIns="0" bIns="0" rtlCol="0" anchor="t"/>
          <a:lstStyle/>
          <a:p>
            <a:pPr marL="0" indent="0" algn="l">
              <a:lnSpc>
                <a:spcPts val="788"/>
              </a:lnSpc>
              <a:buNone/>
            </a:pPr>
            <a:r>
              <a:rPr lang="en-US" sz="555" b="1" kern="0" spc="90" dirty="0">
                <a:solidFill>
                  <a:srgbClr val="8C6239"/>
                </a:solidFill>
                <a:latin typeface="Quicksand" pitchFamily="34" charset="0"/>
              </a:rPr>
              <a:t>JUNE 2025</a:t>
            </a:r>
            <a:endParaRPr lang="en-US" sz="555" dirty="0"/>
          </a:p>
        </p:txBody>
      </p:sp>
      <p:sp>
        <p:nvSpPr>
          <p:cNvPr id="170" name="Text 169">
            <a:hlinkClick r:id="rId22"/>
          </p:cNvPr>
          <p:cNvSpPr txBox="1"/>
          <p:nvPr/>
        </p:nvSpPr>
        <p:spPr>
          <a:xfrm>
            <a:off x="8498086" y="5166866"/>
            <a:ext cx="1045815" cy="200025"/>
          </a:xfrm>
          <a:prstGeom prst="rect">
            <a:avLst/>
          </a:prstGeom>
          <a:noFill/>
          <a:ln/>
        </p:spPr>
        <p:txBody>
          <a:bodyPr wrap="square" lIns="0" tIns="0" rIns="0" bIns="0" rtlCol="0" anchor="t"/>
          <a:lstStyle/>
          <a:p>
            <a:pPr marL="0" indent="0" algn="r">
              <a:lnSpc>
                <a:spcPts val="788"/>
              </a:lnSpc>
              <a:buNone/>
            </a:pPr>
            <a:r>
              <a:rPr lang="en-US" sz="555" b="1" kern="0" spc="90" dirty="0">
                <a:solidFill>
                  <a:srgbClr val="8C6239"/>
                </a:solidFill>
                <a:latin typeface="Quicksand" pitchFamily="34" charset="0"/>
              </a:rPr>
              <a:t>FOODSERVICE &amp; DISTRIBUTION</a:t>
            </a:r>
            <a:endParaRPr lang="en-US" sz="555" dirty="0"/>
          </a:p>
        </p:txBody>
      </p:sp>
      <p:sp>
        <p:nvSpPr>
          <p:cNvPr id="171" name="Text 170">
            <a:hlinkClick r:id="rId22"/>
          </p:cNvPr>
          <p:cNvSpPr txBox="1"/>
          <p:nvPr/>
        </p:nvSpPr>
        <p:spPr>
          <a:xfrm>
            <a:off x="7988201" y="5393085"/>
            <a:ext cx="1555700" cy="123825"/>
          </a:xfrm>
          <a:prstGeom prst="rect">
            <a:avLst/>
          </a:prstGeom>
          <a:noFill/>
          <a:ln/>
        </p:spPr>
        <p:txBody>
          <a:bodyPr wrap="none" lIns="0" tIns="0" rIns="0" bIns="0" rtlCol="0" anchor="t"/>
          <a:lstStyle/>
          <a:p>
            <a:pPr marL="0" indent="0" algn="l">
              <a:lnSpc>
                <a:spcPts val="975"/>
              </a:lnSpc>
              <a:buNone/>
            </a:pPr>
            <a:r>
              <a:rPr lang="en-US" sz="780" b="1" kern="0" spc="22" dirty="0">
                <a:solidFill>
                  <a:srgbClr val="1B1A1A"/>
                </a:solidFill>
                <a:latin typeface="Quicksand" pitchFamily="34" charset="0"/>
              </a:rPr>
              <a:t>SMART BUFFET WARE</a:t>
            </a:r>
            <a:endParaRPr lang="en-US" sz="780" dirty="0"/>
          </a:p>
        </p:txBody>
      </p:sp>
      <p:sp>
        <p:nvSpPr>
          <p:cNvPr id="172" name="Text 171">
            <a:hlinkClick r:id="rId22"/>
          </p:cNvPr>
          <p:cNvSpPr txBox="1"/>
          <p:nvPr/>
        </p:nvSpPr>
        <p:spPr>
          <a:xfrm>
            <a:off x="7988201" y="5513100"/>
            <a:ext cx="1569988" cy="224760"/>
          </a:xfrm>
          <a:prstGeom prst="rect">
            <a:avLst/>
          </a:prstGeom>
          <a:noFill/>
          <a:ln/>
        </p:spPr>
        <p:txBody>
          <a:bodyPr wrap="square" lIns="0" tIns="0" rIns="0" bIns="0" rtlCol="0" anchor="t"/>
          <a:lstStyle/>
          <a:p>
            <a:pPr marL="0" indent="0" algn="l">
              <a:lnSpc>
                <a:spcPts val="885"/>
              </a:lnSpc>
              <a:buNone/>
            </a:pPr>
            <a:r>
              <a:rPr lang="en-US" sz="660" kern="0" spc="15" dirty="0">
                <a:solidFill>
                  <a:srgbClr val="6F6A66"/>
                </a:solidFill>
                <a:latin typeface="Quicksand" pitchFamily="34" charset="0"/>
              </a:rPr>
              <a:t>Buffet and food presentation equipment, Daphne, AL</a:t>
            </a:r>
            <a:endParaRPr lang="en-US" sz="660" dirty="0"/>
          </a:p>
        </p:txBody>
      </p:sp>
      <p:sp>
        <p:nvSpPr>
          <p:cNvPr id="173" name="Text 172">
            <a:hlinkClick r:id="rId22"/>
          </p:cNvPr>
          <p:cNvSpPr txBox="1"/>
          <p:nvPr/>
        </p:nvSpPr>
        <p:spPr>
          <a:xfrm>
            <a:off x="7988201" y="5755928"/>
            <a:ext cx="1569988" cy="238125"/>
          </a:xfrm>
          <a:prstGeom prst="rect">
            <a:avLst/>
          </a:prstGeom>
          <a:noFill/>
          <a:ln/>
        </p:spPr>
        <p:txBody>
          <a:bodyPr wrap="square" lIns="0" tIns="0" rIns="0" bIns="0" rtlCol="0" anchor="t"/>
          <a:lstStyle/>
          <a:p>
            <a:pPr marL="0" indent="0" algn="l">
              <a:lnSpc>
                <a:spcPts val="900"/>
              </a:lnSpc>
              <a:buNone/>
            </a:pPr>
            <a:r>
              <a:rPr lang="en-US" sz="555" kern="0" spc="90" dirty="0">
                <a:solidFill>
                  <a:srgbClr val="6F6A66"/>
                </a:solidFill>
                <a:latin typeface="Quicksand" pitchFamily="34" charset="0"/>
              </a:rPr>
              <a:t>ACQUIRED BY</a:t>
            </a:r>
            <a:r>
              <a:rPr lang="en-US" sz="690" kern="0" spc="15" dirty="0">
                <a:solidFill>
                  <a:srgbClr val="333231"/>
                </a:solidFill>
                <a:latin typeface="Quicksand" pitchFamily="34" charset="0"/>
              </a:rPr>
              <a:t> </a:t>
            </a:r>
            <a:r>
              <a:rPr lang="en-US" sz="690" b="1" kern="0" spc="15" dirty="0">
                <a:solidFill>
                  <a:srgbClr val="1B1A1A"/>
                </a:solidFill>
                <a:latin typeface="Quicksand" pitchFamily="34" charset="0"/>
              </a:rPr>
              <a:t>Front of House Worldwide</a:t>
            </a:r>
            <a:endParaRPr lang="en-US" sz="555" dirty="0"/>
          </a:p>
        </p:txBody>
      </p:sp>
      <p:sp>
        <p:nvSpPr>
          <p:cNvPr id="174" name="Shape 173"/>
          <p:cNvSpPr/>
          <p:nvPr/>
        </p:nvSpPr>
        <p:spPr>
          <a:xfrm>
            <a:off x="4248150" y="6073676"/>
            <a:ext cx="1746200" cy="860524"/>
          </a:xfrm>
          <a:prstGeom prst="rect">
            <a:avLst/>
          </a:prstGeom>
          <a:solidFill>
            <a:srgbClr val="FAF7F3"/>
          </a:solidFill>
          <a:ln/>
        </p:spPr>
        <p:txBody>
          <a:bodyPr/>
          <a:lstStyle/>
          <a:p>
            <a:endParaRPr lang="en-US"/>
          </a:p>
        </p:txBody>
      </p:sp>
      <p:sp>
        <p:nvSpPr>
          <p:cNvPr id="175" name="Shape 174"/>
          <p:cNvSpPr/>
          <p:nvPr/>
        </p:nvSpPr>
        <p:spPr>
          <a:xfrm>
            <a:off x="4248150" y="6073676"/>
            <a:ext cx="1746200" cy="19050"/>
          </a:xfrm>
          <a:prstGeom prst="rect">
            <a:avLst/>
          </a:prstGeom>
          <a:solidFill>
            <a:srgbClr val="B68757"/>
          </a:solidFill>
          <a:ln/>
        </p:spPr>
        <p:txBody>
          <a:bodyPr/>
          <a:lstStyle/>
          <a:p>
            <a:endParaRPr lang="en-US"/>
          </a:p>
        </p:txBody>
      </p:sp>
      <p:sp>
        <p:nvSpPr>
          <p:cNvPr id="176" name="Text 175">
            <a:hlinkClick r:id="rId23"/>
          </p:cNvPr>
          <p:cNvSpPr txBox="1"/>
          <p:nvPr/>
        </p:nvSpPr>
        <p:spPr>
          <a:xfrm>
            <a:off x="4343400" y="6201073"/>
            <a:ext cx="483245" cy="100013"/>
          </a:xfrm>
          <a:prstGeom prst="rect">
            <a:avLst/>
          </a:prstGeom>
          <a:noFill/>
          <a:ln/>
        </p:spPr>
        <p:txBody>
          <a:bodyPr wrap="none" lIns="0" tIns="0" rIns="0" bIns="0" rtlCol="0" anchor="t"/>
          <a:lstStyle/>
          <a:p>
            <a:pPr marL="0" indent="0" algn="l">
              <a:lnSpc>
                <a:spcPts val="788"/>
              </a:lnSpc>
              <a:buNone/>
            </a:pPr>
            <a:r>
              <a:rPr lang="en-US" sz="555" b="1" kern="0" spc="90" dirty="0">
                <a:solidFill>
                  <a:srgbClr val="8C6239"/>
                </a:solidFill>
                <a:latin typeface="Quicksand" pitchFamily="34" charset="0"/>
              </a:rPr>
              <a:t>MAR 2025</a:t>
            </a:r>
            <a:endParaRPr lang="en-US" sz="555" dirty="0"/>
          </a:p>
        </p:txBody>
      </p:sp>
      <p:sp>
        <p:nvSpPr>
          <p:cNvPr id="177" name="Text 176">
            <a:hlinkClick r:id="rId23"/>
          </p:cNvPr>
          <p:cNvSpPr txBox="1"/>
          <p:nvPr/>
        </p:nvSpPr>
        <p:spPr>
          <a:xfrm>
            <a:off x="5085457" y="6201073"/>
            <a:ext cx="813643" cy="100013"/>
          </a:xfrm>
          <a:prstGeom prst="rect">
            <a:avLst/>
          </a:prstGeom>
          <a:noFill/>
          <a:ln/>
        </p:spPr>
        <p:txBody>
          <a:bodyPr wrap="none" lIns="0" tIns="0" rIns="0" bIns="0" rtlCol="0" anchor="t"/>
          <a:lstStyle/>
          <a:p>
            <a:pPr marL="0" indent="0" algn="r">
              <a:lnSpc>
                <a:spcPts val="788"/>
              </a:lnSpc>
              <a:buNone/>
            </a:pPr>
            <a:r>
              <a:rPr lang="en-US" sz="555" b="1" kern="0" spc="90" dirty="0">
                <a:solidFill>
                  <a:srgbClr val="8C6239"/>
                </a:solidFill>
                <a:latin typeface="Quicksand" pitchFamily="34" charset="0"/>
              </a:rPr>
              <a:t>FOOD &amp; BEVERAGE</a:t>
            </a:r>
            <a:endParaRPr lang="en-US" sz="555" dirty="0"/>
          </a:p>
        </p:txBody>
      </p:sp>
      <p:sp>
        <p:nvSpPr>
          <p:cNvPr id="178" name="Text 177">
            <a:hlinkClick r:id="rId23"/>
          </p:cNvPr>
          <p:cNvSpPr txBox="1"/>
          <p:nvPr/>
        </p:nvSpPr>
        <p:spPr>
          <a:xfrm>
            <a:off x="4343400" y="6327279"/>
            <a:ext cx="1555700" cy="123825"/>
          </a:xfrm>
          <a:prstGeom prst="rect">
            <a:avLst/>
          </a:prstGeom>
          <a:noFill/>
          <a:ln/>
        </p:spPr>
        <p:txBody>
          <a:bodyPr wrap="none" lIns="0" tIns="0" rIns="0" bIns="0" rtlCol="0" anchor="t"/>
          <a:lstStyle/>
          <a:p>
            <a:pPr marL="0" indent="0" algn="l">
              <a:lnSpc>
                <a:spcPts val="975"/>
              </a:lnSpc>
              <a:buNone/>
            </a:pPr>
            <a:r>
              <a:rPr lang="en-US" sz="780" b="1" kern="0" spc="22" dirty="0">
                <a:solidFill>
                  <a:srgbClr val="1B1A1A"/>
                </a:solidFill>
                <a:latin typeface="Quicksand" pitchFamily="34" charset="0"/>
              </a:rPr>
              <a:t>NOVA SEAFOOD</a:t>
            </a:r>
            <a:endParaRPr lang="en-US" sz="780" dirty="0"/>
          </a:p>
        </p:txBody>
      </p:sp>
      <p:sp>
        <p:nvSpPr>
          <p:cNvPr id="179" name="Text 178">
            <a:hlinkClick r:id="rId23"/>
          </p:cNvPr>
          <p:cNvSpPr txBox="1"/>
          <p:nvPr/>
        </p:nvSpPr>
        <p:spPr>
          <a:xfrm>
            <a:off x="4343400" y="6447294"/>
            <a:ext cx="1569988" cy="224760"/>
          </a:xfrm>
          <a:prstGeom prst="rect">
            <a:avLst/>
          </a:prstGeom>
          <a:noFill/>
          <a:ln/>
        </p:spPr>
        <p:txBody>
          <a:bodyPr wrap="square" lIns="0" tIns="0" rIns="0" bIns="0" rtlCol="0" anchor="t"/>
          <a:lstStyle/>
          <a:p>
            <a:pPr marL="0" indent="0" algn="l">
              <a:lnSpc>
                <a:spcPts val="885"/>
              </a:lnSpc>
              <a:buNone/>
            </a:pPr>
            <a:r>
              <a:rPr lang="en-US" sz="660" kern="0" spc="15" dirty="0">
                <a:solidFill>
                  <a:srgbClr val="6F6A66"/>
                </a:solidFill>
                <a:latin typeface="Quicksand" pitchFamily="34" charset="0"/>
              </a:rPr>
              <a:t>Seafood importer, processor and distributor, Portland, ME</a:t>
            </a:r>
            <a:endParaRPr lang="en-US" sz="660" dirty="0"/>
          </a:p>
        </p:txBody>
      </p:sp>
      <p:sp>
        <p:nvSpPr>
          <p:cNvPr id="180" name="Text 179">
            <a:hlinkClick r:id="rId23"/>
          </p:cNvPr>
          <p:cNvSpPr txBox="1"/>
          <p:nvPr/>
        </p:nvSpPr>
        <p:spPr>
          <a:xfrm>
            <a:off x="4343400" y="6690122"/>
            <a:ext cx="1555700" cy="114300"/>
          </a:xfrm>
          <a:prstGeom prst="rect">
            <a:avLst/>
          </a:prstGeom>
          <a:noFill/>
          <a:ln/>
        </p:spPr>
        <p:txBody>
          <a:bodyPr wrap="none" lIns="0" tIns="0" rIns="0" bIns="0" rtlCol="0" anchor="t"/>
          <a:lstStyle/>
          <a:p>
            <a:pPr marL="0" indent="0" algn="l">
              <a:lnSpc>
                <a:spcPts val="900"/>
              </a:lnSpc>
              <a:buNone/>
            </a:pPr>
            <a:r>
              <a:rPr lang="en-US" sz="555" kern="0" spc="90" dirty="0">
                <a:solidFill>
                  <a:srgbClr val="6F6A66"/>
                </a:solidFill>
                <a:latin typeface="Quicksand" pitchFamily="34" charset="0"/>
              </a:rPr>
              <a:t>ACQUIRED BY</a:t>
            </a:r>
            <a:r>
              <a:rPr lang="en-US" sz="690" kern="0" spc="15" dirty="0">
                <a:solidFill>
                  <a:srgbClr val="333231"/>
                </a:solidFill>
                <a:latin typeface="Quicksand" pitchFamily="34" charset="0"/>
              </a:rPr>
              <a:t> </a:t>
            </a:r>
            <a:r>
              <a:rPr lang="en-US" sz="690" b="1" kern="0" spc="15" dirty="0">
                <a:solidFill>
                  <a:srgbClr val="1B1A1A"/>
                </a:solidFill>
                <a:latin typeface="Quicksand" pitchFamily="34" charset="0"/>
              </a:rPr>
              <a:t>Highwood Harbor</a:t>
            </a:r>
            <a:endParaRPr lang="en-US" sz="555" dirty="0"/>
          </a:p>
        </p:txBody>
      </p:sp>
      <p:sp>
        <p:nvSpPr>
          <p:cNvPr id="181" name="Shape 180"/>
          <p:cNvSpPr/>
          <p:nvPr/>
        </p:nvSpPr>
        <p:spPr>
          <a:xfrm>
            <a:off x="6070550" y="6073676"/>
            <a:ext cx="1746200" cy="860524"/>
          </a:xfrm>
          <a:prstGeom prst="rect">
            <a:avLst/>
          </a:prstGeom>
          <a:solidFill>
            <a:srgbClr val="FAF7F3"/>
          </a:solidFill>
          <a:ln/>
        </p:spPr>
        <p:txBody>
          <a:bodyPr/>
          <a:lstStyle/>
          <a:p>
            <a:endParaRPr lang="en-US"/>
          </a:p>
        </p:txBody>
      </p:sp>
      <p:sp>
        <p:nvSpPr>
          <p:cNvPr id="182" name="Shape 181"/>
          <p:cNvSpPr/>
          <p:nvPr/>
        </p:nvSpPr>
        <p:spPr>
          <a:xfrm>
            <a:off x="6070550" y="6073676"/>
            <a:ext cx="1746200" cy="19050"/>
          </a:xfrm>
          <a:prstGeom prst="rect">
            <a:avLst/>
          </a:prstGeom>
          <a:solidFill>
            <a:srgbClr val="B68757"/>
          </a:solidFill>
          <a:ln/>
        </p:spPr>
        <p:txBody>
          <a:bodyPr/>
          <a:lstStyle/>
          <a:p>
            <a:endParaRPr lang="en-US"/>
          </a:p>
        </p:txBody>
      </p:sp>
      <p:sp>
        <p:nvSpPr>
          <p:cNvPr id="183" name="Text 182">
            <a:hlinkClick r:id="rId24"/>
          </p:cNvPr>
          <p:cNvSpPr txBox="1"/>
          <p:nvPr/>
        </p:nvSpPr>
        <p:spPr>
          <a:xfrm>
            <a:off x="6165800" y="6151066"/>
            <a:ext cx="458242" cy="100013"/>
          </a:xfrm>
          <a:prstGeom prst="rect">
            <a:avLst/>
          </a:prstGeom>
          <a:noFill/>
          <a:ln/>
        </p:spPr>
        <p:txBody>
          <a:bodyPr wrap="none" lIns="0" tIns="0" rIns="0" bIns="0" rtlCol="0" anchor="t"/>
          <a:lstStyle/>
          <a:p>
            <a:pPr marL="0" indent="0" algn="l">
              <a:lnSpc>
                <a:spcPts val="788"/>
              </a:lnSpc>
              <a:buNone/>
            </a:pPr>
            <a:r>
              <a:rPr lang="en-US" sz="555" b="1" kern="0" spc="90" dirty="0">
                <a:solidFill>
                  <a:srgbClr val="8C6239"/>
                </a:solidFill>
                <a:latin typeface="Quicksand" pitchFamily="34" charset="0"/>
              </a:rPr>
              <a:t>FEB 2025</a:t>
            </a:r>
            <a:endParaRPr lang="en-US" sz="555" dirty="0"/>
          </a:p>
        </p:txBody>
      </p:sp>
      <p:sp>
        <p:nvSpPr>
          <p:cNvPr id="184" name="Text 183">
            <a:hlinkClick r:id="rId24"/>
          </p:cNvPr>
          <p:cNvSpPr txBox="1"/>
          <p:nvPr/>
        </p:nvSpPr>
        <p:spPr>
          <a:xfrm>
            <a:off x="6609755" y="6151066"/>
            <a:ext cx="1111746" cy="200025"/>
          </a:xfrm>
          <a:prstGeom prst="rect">
            <a:avLst/>
          </a:prstGeom>
          <a:noFill/>
          <a:ln/>
        </p:spPr>
        <p:txBody>
          <a:bodyPr wrap="square" lIns="0" tIns="0" rIns="0" bIns="0" rtlCol="0" anchor="t"/>
          <a:lstStyle/>
          <a:p>
            <a:pPr marL="0" indent="0" algn="r">
              <a:lnSpc>
                <a:spcPts val="788"/>
              </a:lnSpc>
              <a:buNone/>
            </a:pPr>
            <a:r>
              <a:rPr lang="en-US" sz="555" b="1" kern="0" spc="90" dirty="0">
                <a:solidFill>
                  <a:srgbClr val="8C6239"/>
                </a:solidFill>
                <a:latin typeface="Quicksand" pitchFamily="34" charset="0"/>
              </a:rPr>
              <a:t>FOODSERVICE &amp; DISTRIBUTION</a:t>
            </a:r>
            <a:endParaRPr lang="en-US" sz="555" dirty="0"/>
          </a:p>
        </p:txBody>
      </p:sp>
      <p:sp>
        <p:nvSpPr>
          <p:cNvPr id="185" name="Text 184">
            <a:hlinkClick r:id="rId24"/>
          </p:cNvPr>
          <p:cNvSpPr txBox="1"/>
          <p:nvPr/>
        </p:nvSpPr>
        <p:spPr>
          <a:xfrm>
            <a:off x="6165800" y="6377285"/>
            <a:ext cx="1555700" cy="123825"/>
          </a:xfrm>
          <a:prstGeom prst="rect">
            <a:avLst/>
          </a:prstGeom>
          <a:noFill/>
          <a:ln/>
        </p:spPr>
        <p:txBody>
          <a:bodyPr wrap="none" lIns="0" tIns="0" rIns="0" bIns="0" rtlCol="0" anchor="t"/>
          <a:lstStyle/>
          <a:p>
            <a:pPr marL="0" indent="0" algn="l">
              <a:lnSpc>
                <a:spcPts val="975"/>
              </a:lnSpc>
              <a:buNone/>
            </a:pPr>
            <a:r>
              <a:rPr lang="en-US" sz="780" b="1" kern="0" spc="22" dirty="0">
                <a:solidFill>
                  <a:srgbClr val="1B1A1A"/>
                </a:solidFill>
                <a:latin typeface="Quicksand" pitchFamily="34" charset="0"/>
              </a:rPr>
              <a:t>PALM COAST SALES</a:t>
            </a:r>
            <a:endParaRPr lang="en-US" sz="780" dirty="0"/>
          </a:p>
        </p:txBody>
      </p:sp>
      <p:sp>
        <p:nvSpPr>
          <p:cNvPr id="186" name="Text 185">
            <a:hlinkClick r:id="rId24"/>
          </p:cNvPr>
          <p:cNvSpPr txBox="1"/>
          <p:nvPr/>
        </p:nvSpPr>
        <p:spPr>
          <a:xfrm>
            <a:off x="6165800" y="6497300"/>
            <a:ext cx="1569988" cy="224760"/>
          </a:xfrm>
          <a:prstGeom prst="rect">
            <a:avLst/>
          </a:prstGeom>
          <a:noFill/>
          <a:ln/>
        </p:spPr>
        <p:txBody>
          <a:bodyPr wrap="square" lIns="0" tIns="0" rIns="0" bIns="0" rtlCol="0" anchor="t"/>
          <a:lstStyle/>
          <a:p>
            <a:pPr marL="0" indent="0" algn="l">
              <a:lnSpc>
                <a:spcPts val="885"/>
              </a:lnSpc>
              <a:buNone/>
            </a:pPr>
            <a:r>
              <a:rPr lang="en-US" sz="660" kern="0" spc="15" dirty="0">
                <a:solidFill>
                  <a:srgbClr val="6F6A66"/>
                </a:solidFill>
                <a:latin typeface="Quicksand" pitchFamily="34" charset="0"/>
              </a:rPr>
              <a:t>Distributor of premium grills and outdoor kitchens, Jupiter, FL</a:t>
            </a:r>
            <a:endParaRPr lang="en-US" sz="660" dirty="0"/>
          </a:p>
        </p:txBody>
      </p:sp>
      <p:sp>
        <p:nvSpPr>
          <p:cNvPr id="187" name="Text 186">
            <a:hlinkClick r:id="rId24"/>
          </p:cNvPr>
          <p:cNvSpPr txBox="1"/>
          <p:nvPr/>
        </p:nvSpPr>
        <p:spPr>
          <a:xfrm>
            <a:off x="6165800" y="6740128"/>
            <a:ext cx="1555700" cy="114300"/>
          </a:xfrm>
          <a:prstGeom prst="rect">
            <a:avLst/>
          </a:prstGeom>
          <a:noFill/>
          <a:ln/>
        </p:spPr>
        <p:txBody>
          <a:bodyPr wrap="none" lIns="0" tIns="0" rIns="0" bIns="0" rtlCol="0" anchor="t"/>
          <a:lstStyle/>
          <a:p>
            <a:pPr marL="0" indent="0" algn="l">
              <a:lnSpc>
                <a:spcPts val="900"/>
              </a:lnSpc>
              <a:buNone/>
            </a:pPr>
            <a:r>
              <a:rPr lang="en-US" sz="555" kern="0" spc="90" dirty="0">
                <a:solidFill>
                  <a:srgbClr val="6F6A66"/>
                </a:solidFill>
                <a:latin typeface="Quicksand" pitchFamily="34" charset="0"/>
              </a:rPr>
              <a:t>ACQUIRED BY</a:t>
            </a:r>
            <a:r>
              <a:rPr lang="en-US" sz="690" kern="0" spc="15" dirty="0">
                <a:solidFill>
                  <a:srgbClr val="333231"/>
                </a:solidFill>
                <a:latin typeface="Quicksand" pitchFamily="34" charset="0"/>
              </a:rPr>
              <a:t> </a:t>
            </a:r>
            <a:r>
              <a:rPr lang="en-US" sz="690" b="1" kern="0" spc="15" dirty="0">
                <a:solidFill>
                  <a:srgbClr val="1B1A1A"/>
                </a:solidFill>
                <a:latin typeface="Quicksand" pitchFamily="34" charset="0"/>
              </a:rPr>
              <a:t>Fourshore Partners</a:t>
            </a:r>
            <a:endParaRPr lang="en-US" sz="555" dirty="0"/>
          </a:p>
        </p:txBody>
      </p:sp>
      <p:sp>
        <p:nvSpPr>
          <p:cNvPr id="188" name="Shape 187"/>
          <p:cNvSpPr/>
          <p:nvPr/>
        </p:nvSpPr>
        <p:spPr>
          <a:xfrm>
            <a:off x="7892951" y="6073676"/>
            <a:ext cx="1746200" cy="860524"/>
          </a:xfrm>
          <a:prstGeom prst="rect">
            <a:avLst/>
          </a:prstGeom>
          <a:solidFill>
            <a:srgbClr val="1B1A1A"/>
          </a:solidFill>
          <a:ln/>
        </p:spPr>
        <p:txBody>
          <a:bodyPr/>
          <a:lstStyle/>
          <a:p>
            <a:endParaRPr lang="en-US"/>
          </a:p>
        </p:txBody>
      </p:sp>
      <p:sp>
        <p:nvSpPr>
          <p:cNvPr id="189" name="Text 188"/>
          <p:cNvSpPr txBox="1"/>
          <p:nvPr/>
        </p:nvSpPr>
        <p:spPr>
          <a:xfrm>
            <a:off x="7988201" y="6280100"/>
            <a:ext cx="1569988" cy="442913"/>
          </a:xfrm>
          <a:prstGeom prst="rect">
            <a:avLst/>
          </a:prstGeom>
          <a:noFill/>
          <a:ln/>
        </p:spPr>
        <p:txBody>
          <a:bodyPr wrap="square" lIns="0" tIns="0" rIns="0" bIns="0" rtlCol="0" anchor="t"/>
          <a:lstStyle/>
          <a:p>
            <a:pPr marL="0" indent="0" algn="l">
              <a:lnSpc>
                <a:spcPts val="1163"/>
              </a:lnSpc>
              <a:buNone/>
            </a:pPr>
            <a:r>
              <a:rPr lang="en-US" sz="863" i="1" kern="0" spc="15" dirty="0">
                <a:solidFill>
                  <a:srgbClr val="FFFFFF"/>
                </a:solidFill>
                <a:latin typeface="Newsreader Medium" pitchFamily="34" charset="0"/>
              </a:rPr>
              <a:t>Fifteen further consumer transactions closed in the period are not named.</a:t>
            </a:r>
            <a:endParaRPr lang="en-US" sz="863" dirty="0"/>
          </a:p>
        </p:txBody>
      </p:sp>
      <p:sp>
        <p:nvSpPr>
          <p:cNvPr id="190" name="Shape 189"/>
          <p:cNvSpPr/>
          <p:nvPr/>
        </p:nvSpPr>
        <p:spPr>
          <a:xfrm>
            <a:off x="419100" y="7029450"/>
            <a:ext cx="9220200" cy="9525"/>
          </a:xfrm>
          <a:prstGeom prst="rect">
            <a:avLst/>
          </a:prstGeom>
          <a:solidFill>
            <a:srgbClr val="E3DCD3"/>
          </a:solidFill>
          <a:ln/>
        </p:spPr>
        <p:txBody>
          <a:bodyPr/>
          <a:lstStyle/>
          <a:p>
            <a:endParaRPr lang="en-US"/>
          </a:p>
        </p:txBody>
      </p:sp>
      <p:pic>
        <p:nvPicPr>
          <p:cNvPr id="191" name="Benchmark International" descr="Benchmark International"/>
          <p:cNvPicPr>
            <a:picLocks noChangeAspect="1"/>
          </p:cNvPicPr>
          <p:nvPr/>
        </p:nvPicPr>
        <p:blipFill>
          <a:blip r:embed="rId25"/>
          <a:stretch>
            <a:fillRect/>
          </a:stretch>
        </p:blipFill>
        <p:spPr>
          <a:xfrm>
            <a:off x="419100" y="7143750"/>
            <a:ext cx="914400" cy="171450"/>
          </a:xfrm>
          <a:prstGeom prst="rect">
            <a:avLst/>
          </a:prstGeom>
        </p:spPr>
      </p:pic>
      <p:sp>
        <p:nvSpPr>
          <p:cNvPr id="192" name="Text 191"/>
          <p:cNvSpPr txBox="1"/>
          <p:nvPr/>
        </p:nvSpPr>
        <p:spPr>
          <a:xfrm>
            <a:off x="1543050" y="7098506"/>
            <a:ext cx="7658100" cy="238125"/>
          </a:xfrm>
          <a:prstGeom prst="rect">
            <a:avLst/>
          </a:prstGeom>
          <a:noFill/>
          <a:ln/>
        </p:spPr>
        <p:txBody>
          <a:bodyPr wrap="square" lIns="0" tIns="0" rIns="0" bIns="0" rtlCol="0" anchor="t"/>
          <a:lstStyle/>
          <a:p>
            <a:pPr marL="0" indent="0" algn="l">
              <a:lnSpc>
                <a:spcPts val="938"/>
              </a:lnSpc>
              <a:buNone/>
            </a:pPr>
            <a:r>
              <a:rPr lang="en-US" sz="675" kern="0" spc="15" dirty="0">
                <a:solidFill>
                  <a:srgbClr val="6F6A66"/>
                </a:solidFill>
                <a:latin typeface="Quicksand" pitchFamily="34" charset="0"/>
              </a:rPr>
              <a:t>Each tile links to the announcement on benchmarkintl.com, and Benchmark International advised the seller in each. Counts are from Benchmark International’s transaction records for January 1, 2025 through September 30, 2026; engagements in progress are shown in aggregate only.</a:t>
            </a:r>
            <a:endParaRPr lang="en-US" sz="675" dirty="0"/>
          </a:p>
        </p:txBody>
      </p:sp>
      <p:sp>
        <p:nvSpPr>
          <p:cNvPr id="193" name="Text 192"/>
          <p:cNvSpPr txBox="1"/>
          <p:nvPr/>
        </p:nvSpPr>
        <p:spPr>
          <a:xfrm>
            <a:off x="9510415" y="7162800"/>
            <a:ext cx="186035" cy="133350"/>
          </a:xfrm>
          <a:prstGeom prst="rect">
            <a:avLst/>
          </a:prstGeom>
          <a:noFill/>
          <a:ln/>
        </p:spPr>
        <p:txBody>
          <a:bodyPr wrap="none" lIns="0" tIns="0" rIns="0" bIns="0" rtlCol="0" anchor="t"/>
          <a:lstStyle/>
          <a:p>
            <a:pPr marL="0" indent="0" algn="l">
              <a:lnSpc>
                <a:spcPts val="1050"/>
              </a:lnSpc>
              <a:buNone/>
            </a:pPr>
            <a:r>
              <a:rPr lang="en-US" sz="713" b="1" kern="0" spc="150" dirty="0">
                <a:solidFill>
                  <a:srgbClr val="1B1A1A"/>
                </a:solidFill>
                <a:latin typeface="Quicksand" pitchFamily="34" charset="0"/>
              </a:rPr>
              <a:t>10</a:t>
            </a:r>
            <a:endParaRPr lang="en-US" sz="713"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1"/>
          <p:cNvSpPr/>
          <p:nvPr/>
        </p:nvSpPr>
        <p:spPr>
          <a:xfrm>
            <a:off x="0" y="0"/>
            <a:ext cx="10058400" cy="7772400"/>
          </a:xfrm>
          <a:prstGeom prst="rect">
            <a:avLst/>
          </a:prstGeom>
          <a:solidFill>
            <a:srgbClr val="FFFFFF"/>
          </a:solidFill>
          <a:ln/>
        </p:spPr>
        <p:txBody>
          <a:bodyPr/>
          <a:lstStyle/>
          <a:p>
            <a:endParaRPr lang="en-US"/>
          </a:p>
        </p:txBody>
      </p:sp>
      <p:sp>
        <p:nvSpPr>
          <p:cNvPr id="3" name="Shape 2"/>
          <p:cNvSpPr/>
          <p:nvPr/>
        </p:nvSpPr>
        <p:spPr>
          <a:xfrm>
            <a:off x="0" y="0"/>
            <a:ext cx="57150" cy="7772400"/>
          </a:xfrm>
          <a:prstGeom prst="rect">
            <a:avLst/>
          </a:prstGeom>
          <a:solidFill>
            <a:srgbClr val="B68757"/>
          </a:solidFill>
          <a:ln/>
        </p:spPr>
        <p:txBody>
          <a:bodyPr/>
          <a:lstStyle/>
          <a:p>
            <a:endParaRPr lang="en-US"/>
          </a:p>
        </p:txBody>
      </p:sp>
      <p:sp>
        <p:nvSpPr>
          <p:cNvPr id="4" name="Text 3"/>
          <p:cNvSpPr txBox="1"/>
          <p:nvPr/>
        </p:nvSpPr>
        <p:spPr>
          <a:xfrm>
            <a:off x="419100" y="376238"/>
            <a:ext cx="2618929" cy="133350"/>
          </a:xfrm>
          <a:prstGeom prst="rect">
            <a:avLst/>
          </a:prstGeom>
          <a:noFill/>
          <a:ln/>
        </p:spPr>
        <p:txBody>
          <a:bodyPr wrap="none" lIns="0" tIns="0" rIns="0" bIns="0" rtlCol="0" anchor="t"/>
          <a:lstStyle/>
          <a:p>
            <a:pPr marL="0" indent="0" algn="l">
              <a:lnSpc>
                <a:spcPts val="1050"/>
              </a:lnSpc>
              <a:buNone/>
            </a:pPr>
            <a:r>
              <a:rPr lang="en-US" sz="675" b="1" kern="0" spc="195" dirty="0">
                <a:solidFill>
                  <a:srgbClr val="8C6239"/>
                </a:solidFill>
                <a:latin typeface="Quicksand" pitchFamily="34" charset="0"/>
              </a:rPr>
              <a:t>CONSUMER  |  QUARTERLY SECTOR BRIEF</a:t>
            </a:r>
            <a:endParaRPr lang="en-US" sz="675" dirty="0"/>
          </a:p>
        </p:txBody>
      </p:sp>
      <p:sp>
        <p:nvSpPr>
          <p:cNvPr id="5" name="Text 4"/>
          <p:cNvSpPr txBox="1"/>
          <p:nvPr/>
        </p:nvSpPr>
        <p:spPr>
          <a:xfrm>
            <a:off x="9112597" y="381000"/>
            <a:ext cx="583853" cy="171450"/>
          </a:xfrm>
          <a:prstGeom prst="rect">
            <a:avLst/>
          </a:prstGeom>
          <a:noFill/>
          <a:ln/>
        </p:spPr>
        <p:txBody>
          <a:bodyPr wrap="none" lIns="0" tIns="0" rIns="0" bIns="0" rtlCol="0" anchor="t"/>
          <a:lstStyle/>
          <a:p>
            <a:pPr marL="0" indent="0" algn="l">
              <a:lnSpc>
                <a:spcPts val="1350"/>
              </a:lnSpc>
              <a:buNone/>
            </a:pPr>
            <a:r>
              <a:rPr lang="en-US" sz="900" kern="0" spc="90" dirty="0">
                <a:solidFill>
                  <a:srgbClr val="6F6A66"/>
                </a:solidFill>
                <a:latin typeface="Cinzel" pitchFamily="34" charset="0"/>
              </a:rPr>
              <a:t>Q4 2026</a:t>
            </a:r>
            <a:endParaRPr lang="en-US" sz="900" dirty="0"/>
          </a:p>
        </p:txBody>
      </p:sp>
      <p:sp>
        <p:nvSpPr>
          <p:cNvPr id="6" name="Text 5"/>
          <p:cNvSpPr txBox="1"/>
          <p:nvPr/>
        </p:nvSpPr>
        <p:spPr>
          <a:xfrm>
            <a:off x="419100" y="519113"/>
            <a:ext cx="9220200" cy="323850"/>
          </a:xfrm>
          <a:prstGeom prst="rect">
            <a:avLst/>
          </a:prstGeom>
          <a:noFill/>
          <a:ln/>
        </p:spPr>
        <p:txBody>
          <a:bodyPr wrap="none" lIns="0" tIns="0" rIns="0" bIns="0" rtlCol="0" anchor="t"/>
          <a:lstStyle/>
          <a:p>
            <a:pPr marL="0" indent="0" algn="l">
              <a:lnSpc>
                <a:spcPts val="2550"/>
              </a:lnSpc>
              <a:buNone/>
            </a:pPr>
            <a:r>
              <a:rPr lang="en-US" sz="2025" kern="0" spc="15" dirty="0">
                <a:solidFill>
                  <a:srgbClr val="1B1A1A"/>
                </a:solidFill>
                <a:latin typeface="Newsreader SemiBold" pitchFamily="34" charset="0"/>
              </a:rPr>
              <a:t>Who Is Buying</a:t>
            </a:r>
            <a:endParaRPr lang="en-US" sz="2025" dirty="0"/>
          </a:p>
        </p:txBody>
      </p:sp>
      <p:sp>
        <p:nvSpPr>
          <p:cNvPr id="7" name="Text 6"/>
          <p:cNvSpPr txBox="1"/>
          <p:nvPr/>
        </p:nvSpPr>
        <p:spPr>
          <a:xfrm>
            <a:off x="419100" y="883444"/>
            <a:ext cx="9220200" cy="176213"/>
          </a:xfrm>
          <a:prstGeom prst="rect">
            <a:avLst/>
          </a:prstGeom>
          <a:noFill/>
          <a:ln/>
        </p:spPr>
        <p:txBody>
          <a:bodyPr wrap="none" lIns="0" tIns="0" rIns="0" bIns="0" rtlCol="0" anchor="t"/>
          <a:lstStyle/>
          <a:p>
            <a:pPr marL="0" indent="0" algn="l">
              <a:lnSpc>
                <a:spcPts val="1388"/>
              </a:lnSpc>
              <a:buNone/>
            </a:pPr>
            <a:r>
              <a:rPr lang="en-US" sz="938" kern="0" spc="15" dirty="0">
                <a:solidFill>
                  <a:srgbClr val="6F6A66"/>
                </a:solidFill>
                <a:latin typeface="Quicksand" pitchFamily="34" charset="0"/>
              </a:rPr>
              <a:t>Founder- and family-owned consumer businesses draw bids from operating companies, sponsor-backed platforms and first-time investors in a category.</a:t>
            </a:r>
            <a:endParaRPr lang="en-US" sz="938" dirty="0"/>
          </a:p>
        </p:txBody>
      </p:sp>
      <p:sp>
        <p:nvSpPr>
          <p:cNvPr id="8" name="Shape 7"/>
          <p:cNvSpPr/>
          <p:nvPr/>
        </p:nvSpPr>
        <p:spPr>
          <a:xfrm>
            <a:off x="419100" y="1143000"/>
            <a:ext cx="9220200" cy="9525"/>
          </a:xfrm>
          <a:prstGeom prst="rect">
            <a:avLst/>
          </a:prstGeom>
          <a:solidFill>
            <a:srgbClr val="E3DCD3"/>
          </a:solidFill>
          <a:ln/>
        </p:spPr>
        <p:txBody>
          <a:bodyPr/>
          <a:lstStyle/>
          <a:p>
            <a:endParaRPr lang="en-US"/>
          </a:p>
        </p:txBody>
      </p:sp>
      <p:sp>
        <p:nvSpPr>
          <p:cNvPr id="9" name="Shape 8"/>
          <p:cNvSpPr/>
          <p:nvPr/>
        </p:nvSpPr>
        <p:spPr>
          <a:xfrm>
            <a:off x="419100" y="1238250"/>
            <a:ext cx="2984450" cy="2790825"/>
          </a:xfrm>
          <a:prstGeom prst="rect">
            <a:avLst/>
          </a:prstGeom>
          <a:solidFill>
            <a:srgbClr val="FAF7F3"/>
          </a:solidFill>
          <a:ln/>
        </p:spPr>
        <p:txBody>
          <a:bodyPr/>
          <a:lstStyle/>
          <a:p>
            <a:endParaRPr lang="en-US"/>
          </a:p>
        </p:txBody>
      </p:sp>
      <p:sp>
        <p:nvSpPr>
          <p:cNvPr id="10" name="Shape 9"/>
          <p:cNvSpPr/>
          <p:nvPr/>
        </p:nvSpPr>
        <p:spPr>
          <a:xfrm>
            <a:off x="419100" y="1238250"/>
            <a:ext cx="2984450" cy="28575"/>
          </a:xfrm>
          <a:prstGeom prst="rect">
            <a:avLst/>
          </a:prstGeom>
          <a:solidFill>
            <a:srgbClr val="B68757"/>
          </a:solidFill>
          <a:ln/>
        </p:spPr>
        <p:txBody>
          <a:bodyPr/>
          <a:lstStyle/>
          <a:p>
            <a:endParaRPr lang="en-US"/>
          </a:p>
        </p:txBody>
      </p:sp>
      <p:sp>
        <p:nvSpPr>
          <p:cNvPr id="11" name="Dot 10"/>
          <p:cNvSpPr/>
          <p:nvPr/>
        </p:nvSpPr>
        <p:spPr>
          <a:xfrm>
            <a:off x="561975" y="1362075"/>
            <a:ext cx="304800" cy="304800"/>
          </a:xfrm>
          <a:prstGeom prst="ellipse">
            <a:avLst/>
          </a:prstGeom>
          <a:solidFill>
            <a:srgbClr val="1B1A1A"/>
          </a:solidFill>
          <a:ln/>
        </p:spPr>
        <p:txBody>
          <a:bodyPr/>
          <a:lstStyle/>
          <a:p>
            <a:endParaRPr lang="en-US"/>
          </a:p>
        </p:txBody>
      </p:sp>
      <p:pic>
        <p:nvPicPr>
          <p:cNvPr id="12" name="Icon" descr="/tmp/claude-0/-home-claude-about/4bef2f41-4227-5ff7-ab18-11ac74cd9797/scratchpad/pptx/ex/media/def9bdf75f56.png"/>
          <p:cNvPicPr>
            <a:picLocks noChangeAspect="1"/>
          </p:cNvPicPr>
          <p:nvPr/>
        </p:nvPicPr>
        <p:blipFill>
          <a:blip r:embed="rId3"/>
          <a:stretch>
            <a:fillRect/>
          </a:stretch>
        </p:blipFill>
        <p:spPr>
          <a:xfrm>
            <a:off x="633413" y="1433513"/>
            <a:ext cx="161925" cy="161925"/>
          </a:xfrm>
          <a:prstGeom prst="rect">
            <a:avLst/>
          </a:prstGeom>
        </p:spPr>
      </p:pic>
      <p:sp>
        <p:nvSpPr>
          <p:cNvPr id="13" name="Text 12"/>
          <p:cNvSpPr txBox="1"/>
          <p:nvPr/>
        </p:nvSpPr>
        <p:spPr>
          <a:xfrm>
            <a:off x="962025" y="1438275"/>
            <a:ext cx="2053530" cy="147638"/>
          </a:xfrm>
          <a:prstGeom prst="rect">
            <a:avLst/>
          </a:prstGeom>
          <a:noFill/>
          <a:ln/>
        </p:spPr>
        <p:txBody>
          <a:bodyPr wrap="none" lIns="0" tIns="0" rIns="0" bIns="0" rtlCol="0" anchor="t"/>
          <a:lstStyle/>
          <a:p>
            <a:pPr marL="0" indent="0" algn="l">
              <a:lnSpc>
                <a:spcPts val="1163"/>
              </a:lnSpc>
              <a:buNone/>
            </a:pPr>
            <a:r>
              <a:rPr lang="en-US" sz="915" b="1" kern="0" spc="15" dirty="0">
                <a:solidFill>
                  <a:srgbClr val="1B1A1A"/>
                </a:solidFill>
                <a:latin typeface="Quicksand" pitchFamily="34" charset="0"/>
              </a:rPr>
              <a:t>Public and large private strategics</a:t>
            </a:r>
            <a:endParaRPr lang="en-US" sz="915" dirty="0"/>
          </a:p>
        </p:txBody>
      </p:sp>
      <p:sp>
        <p:nvSpPr>
          <p:cNvPr id="14" name="Text 13"/>
          <p:cNvSpPr txBox="1"/>
          <p:nvPr/>
        </p:nvSpPr>
        <p:spPr>
          <a:xfrm>
            <a:off x="561975" y="1716881"/>
            <a:ext cx="2712988" cy="276225"/>
          </a:xfrm>
          <a:prstGeom prst="rect">
            <a:avLst/>
          </a:prstGeom>
          <a:noFill/>
          <a:ln/>
        </p:spPr>
        <p:txBody>
          <a:bodyPr wrap="square" lIns="0" tIns="0" rIns="0" bIns="0" rtlCol="0" anchor="t"/>
          <a:lstStyle/>
          <a:p>
            <a:pPr marL="0" indent="0" algn="l">
              <a:lnSpc>
                <a:spcPts val="1088"/>
              </a:lnSpc>
              <a:buNone/>
            </a:pPr>
            <a:r>
              <a:rPr lang="en-US" sz="765" kern="0" spc="15" dirty="0">
                <a:solidFill>
                  <a:srgbClr val="333231"/>
                </a:solidFill>
                <a:latin typeface="Quicksand" pitchFamily="34" charset="0"/>
              </a:rPr>
              <a:t>Buying brands, capacity and distribution to fill category gaps faster than they could build them.</a:t>
            </a:r>
            <a:endParaRPr lang="en-US" sz="765" dirty="0"/>
          </a:p>
        </p:txBody>
      </p:sp>
      <p:sp>
        <p:nvSpPr>
          <p:cNvPr id="15" name="Text 14"/>
          <p:cNvSpPr txBox="1"/>
          <p:nvPr/>
        </p:nvSpPr>
        <p:spPr>
          <a:xfrm>
            <a:off x="561975" y="2052637"/>
            <a:ext cx="2698700" cy="104775"/>
          </a:xfrm>
          <a:prstGeom prst="rect">
            <a:avLst/>
          </a:prstGeom>
          <a:noFill/>
          <a:ln/>
        </p:spPr>
        <p:txBody>
          <a:bodyPr wrap="none" lIns="0" tIns="0" rIns="0" bIns="0" rtlCol="0" anchor="t"/>
          <a:lstStyle/>
          <a:p>
            <a:pPr marL="0" indent="0" algn="l">
              <a:lnSpc>
                <a:spcPts val="825"/>
              </a:lnSpc>
              <a:buNone/>
            </a:pPr>
            <a:r>
              <a:rPr lang="en-US" sz="585" b="1" kern="0" spc="120" dirty="0">
                <a:solidFill>
                  <a:srgbClr val="8C6239"/>
                </a:solidFill>
                <a:latin typeface="Quicksand" pitchFamily="34" charset="0"/>
              </a:rPr>
              <a:t>ACTIVE IN THE 2026 MARKET</a:t>
            </a:r>
            <a:endParaRPr lang="en-US" sz="585" dirty="0"/>
          </a:p>
        </p:txBody>
      </p:sp>
      <p:sp>
        <p:nvSpPr>
          <p:cNvPr id="16" name="Shape 15"/>
          <p:cNvSpPr/>
          <p:nvPr/>
        </p:nvSpPr>
        <p:spPr>
          <a:xfrm>
            <a:off x="561975" y="2214563"/>
            <a:ext cx="851595" cy="161925"/>
          </a:xfrm>
          <a:prstGeom prst="rect">
            <a:avLst/>
          </a:prstGeom>
          <a:solidFill>
            <a:srgbClr val="FFFFFF"/>
          </a:solidFill>
          <a:ln/>
        </p:spPr>
        <p:txBody>
          <a:bodyPr/>
          <a:lstStyle/>
          <a:p>
            <a:endParaRPr lang="en-US"/>
          </a:p>
        </p:txBody>
      </p:sp>
      <p:sp>
        <p:nvSpPr>
          <p:cNvPr id="17" name="Shape 16"/>
          <p:cNvSpPr/>
          <p:nvPr/>
        </p:nvSpPr>
        <p:spPr>
          <a:xfrm>
            <a:off x="566738" y="2219325"/>
            <a:ext cx="842070" cy="152400"/>
          </a:xfrm>
          <a:prstGeom prst="rect">
            <a:avLst/>
          </a:prstGeom>
          <a:ln w="9525">
            <a:solidFill>
              <a:srgbClr val="C3BDB6"/>
            </a:solidFill>
            <a:prstDash val="solid"/>
          </a:ln>
        </p:spPr>
        <p:txBody>
          <a:bodyPr/>
          <a:lstStyle/>
          <a:p>
            <a:endParaRPr lang="en-US"/>
          </a:p>
        </p:txBody>
      </p:sp>
      <p:sp>
        <p:nvSpPr>
          <p:cNvPr id="18" name="Text 17"/>
          <p:cNvSpPr txBox="1"/>
          <p:nvPr/>
        </p:nvSpPr>
        <p:spPr>
          <a:xfrm>
            <a:off x="628650" y="2233613"/>
            <a:ext cx="775395" cy="114300"/>
          </a:xfrm>
          <a:prstGeom prst="rect">
            <a:avLst/>
          </a:prstGeom>
          <a:noFill/>
          <a:ln/>
        </p:spPr>
        <p:txBody>
          <a:bodyPr wrap="none" lIns="0" tIns="0" rIns="0" bIns="0" rtlCol="0" anchor="t"/>
          <a:lstStyle/>
          <a:p>
            <a:pPr marL="0" indent="0" algn="l">
              <a:lnSpc>
                <a:spcPts val="900"/>
              </a:lnSpc>
              <a:buNone/>
            </a:pPr>
            <a:r>
              <a:rPr lang="en-US" sz="660" kern="0" spc="15" dirty="0">
                <a:solidFill>
                  <a:srgbClr val="1B1A1A"/>
                </a:solidFill>
                <a:latin typeface="Quicksand" pitchFamily="34" charset="0"/>
              </a:rPr>
              <a:t>Procter &amp; Gamble</a:t>
            </a:r>
            <a:endParaRPr lang="en-US" sz="660" dirty="0"/>
          </a:p>
        </p:txBody>
      </p:sp>
      <p:sp>
        <p:nvSpPr>
          <p:cNvPr id="19" name="Shape 18"/>
          <p:cNvSpPr/>
          <p:nvPr/>
        </p:nvSpPr>
        <p:spPr>
          <a:xfrm>
            <a:off x="1451670" y="2214563"/>
            <a:ext cx="431155" cy="161925"/>
          </a:xfrm>
          <a:prstGeom prst="rect">
            <a:avLst/>
          </a:prstGeom>
          <a:solidFill>
            <a:srgbClr val="FFFFFF"/>
          </a:solidFill>
          <a:ln/>
        </p:spPr>
        <p:txBody>
          <a:bodyPr/>
          <a:lstStyle/>
          <a:p>
            <a:endParaRPr lang="en-US"/>
          </a:p>
        </p:txBody>
      </p:sp>
      <p:sp>
        <p:nvSpPr>
          <p:cNvPr id="20" name="Shape 19"/>
          <p:cNvSpPr/>
          <p:nvPr/>
        </p:nvSpPr>
        <p:spPr>
          <a:xfrm>
            <a:off x="1456432" y="2219325"/>
            <a:ext cx="421630" cy="152400"/>
          </a:xfrm>
          <a:prstGeom prst="rect">
            <a:avLst/>
          </a:prstGeom>
          <a:ln w="9525">
            <a:solidFill>
              <a:srgbClr val="C3BDB6"/>
            </a:solidFill>
            <a:prstDash val="solid"/>
          </a:ln>
        </p:spPr>
        <p:txBody>
          <a:bodyPr/>
          <a:lstStyle/>
          <a:p>
            <a:endParaRPr lang="en-US"/>
          </a:p>
        </p:txBody>
      </p:sp>
      <p:sp>
        <p:nvSpPr>
          <p:cNvPr id="21" name="Text 20"/>
          <p:cNvSpPr txBox="1"/>
          <p:nvPr/>
        </p:nvSpPr>
        <p:spPr>
          <a:xfrm>
            <a:off x="1518345" y="2233613"/>
            <a:ext cx="354955" cy="114300"/>
          </a:xfrm>
          <a:prstGeom prst="rect">
            <a:avLst/>
          </a:prstGeom>
          <a:noFill/>
          <a:ln/>
        </p:spPr>
        <p:txBody>
          <a:bodyPr wrap="none" lIns="0" tIns="0" rIns="0" bIns="0" rtlCol="0" anchor="t"/>
          <a:lstStyle/>
          <a:p>
            <a:pPr marL="0" indent="0" algn="l">
              <a:lnSpc>
                <a:spcPts val="900"/>
              </a:lnSpc>
              <a:buNone/>
            </a:pPr>
            <a:r>
              <a:rPr lang="en-US" sz="660" kern="0" spc="15" dirty="0">
                <a:solidFill>
                  <a:srgbClr val="1B1A1A"/>
                </a:solidFill>
                <a:latin typeface="Quicksand" pitchFamily="34" charset="0"/>
              </a:rPr>
              <a:t>Hormel</a:t>
            </a:r>
            <a:endParaRPr lang="en-US" sz="660" dirty="0"/>
          </a:p>
        </p:txBody>
      </p:sp>
      <p:sp>
        <p:nvSpPr>
          <p:cNvPr id="22" name="Shape 21"/>
          <p:cNvSpPr/>
          <p:nvPr/>
        </p:nvSpPr>
        <p:spPr>
          <a:xfrm>
            <a:off x="1920925" y="2214563"/>
            <a:ext cx="389334" cy="161925"/>
          </a:xfrm>
          <a:prstGeom prst="rect">
            <a:avLst/>
          </a:prstGeom>
          <a:solidFill>
            <a:srgbClr val="FFFFFF"/>
          </a:solidFill>
          <a:ln/>
        </p:spPr>
        <p:txBody>
          <a:bodyPr/>
          <a:lstStyle/>
          <a:p>
            <a:endParaRPr lang="en-US"/>
          </a:p>
        </p:txBody>
      </p:sp>
      <p:sp>
        <p:nvSpPr>
          <p:cNvPr id="23" name="Shape 22"/>
          <p:cNvSpPr/>
          <p:nvPr/>
        </p:nvSpPr>
        <p:spPr>
          <a:xfrm>
            <a:off x="1925687" y="2219325"/>
            <a:ext cx="379809" cy="152400"/>
          </a:xfrm>
          <a:prstGeom prst="rect">
            <a:avLst/>
          </a:prstGeom>
          <a:ln w="9525">
            <a:solidFill>
              <a:srgbClr val="C3BDB6"/>
            </a:solidFill>
            <a:prstDash val="solid"/>
          </a:ln>
        </p:spPr>
        <p:txBody>
          <a:bodyPr/>
          <a:lstStyle/>
          <a:p>
            <a:endParaRPr lang="en-US"/>
          </a:p>
        </p:txBody>
      </p:sp>
      <p:sp>
        <p:nvSpPr>
          <p:cNvPr id="24" name="Text 23"/>
          <p:cNvSpPr txBox="1"/>
          <p:nvPr/>
        </p:nvSpPr>
        <p:spPr>
          <a:xfrm>
            <a:off x="1987600" y="2233613"/>
            <a:ext cx="313134" cy="114300"/>
          </a:xfrm>
          <a:prstGeom prst="rect">
            <a:avLst/>
          </a:prstGeom>
          <a:noFill/>
          <a:ln/>
        </p:spPr>
        <p:txBody>
          <a:bodyPr wrap="none" lIns="0" tIns="0" rIns="0" bIns="0" rtlCol="0" anchor="t"/>
          <a:lstStyle/>
          <a:p>
            <a:pPr marL="0" indent="0" algn="l">
              <a:lnSpc>
                <a:spcPts val="900"/>
              </a:lnSpc>
              <a:buNone/>
            </a:pPr>
            <a:r>
              <a:rPr lang="en-US" sz="660" kern="0" spc="15" dirty="0">
                <a:solidFill>
                  <a:srgbClr val="1B1A1A"/>
                </a:solidFill>
                <a:latin typeface="Quicksand" pitchFamily="34" charset="0"/>
              </a:rPr>
              <a:t>Clorox</a:t>
            </a:r>
            <a:endParaRPr lang="en-US" sz="660" dirty="0"/>
          </a:p>
        </p:txBody>
      </p:sp>
      <p:sp>
        <p:nvSpPr>
          <p:cNvPr id="25" name="Shape 24"/>
          <p:cNvSpPr/>
          <p:nvPr/>
        </p:nvSpPr>
        <p:spPr>
          <a:xfrm>
            <a:off x="2348359" y="2214563"/>
            <a:ext cx="410617" cy="161925"/>
          </a:xfrm>
          <a:prstGeom prst="rect">
            <a:avLst/>
          </a:prstGeom>
          <a:solidFill>
            <a:srgbClr val="FFFFFF"/>
          </a:solidFill>
          <a:ln/>
        </p:spPr>
        <p:txBody>
          <a:bodyPr/>
          <a:lstStyle/>
          <a:p>
            <a:endParaRPr lang="en-US"/>
          </a:p>
        </p:txBody>
      </p:sp>
      <p:sp>
        <p:nvSpPr>
          <p:cNvPr id="26" name="Shape 25"/>
          <p:cNvSpPr/>
          <p:nvPr/>
        </p:nvSpPr>
        <p:spPr>
          <a:xfrm>
            <a:off x="2353121" y="2219325"/>
            <a:ext cx="401092" cy="152400"/>
          </a:xfrm>
          <a:prstGeom prst="rect">
            <a:avLst/>
          </a:prstGeom>
          <a:ln w="9525">
            <a:solidFill>
              <a:srgbClr val="C3BDB6"/>
            </a:solidFill>
            <a:prstDash val="solid"/>
          </a:ln>
        </p:spPr>
        <p:txBody>
          <a:bodyPr/>
          <a:lstStyle/>
          <a:p>
            <a:endParaRPr lang="en-US"/>
          </a:p>
        </p:txBody>
      </p:sp>
      <p:sp>
        <p:nvSpPr>
          <p:cNvPr id="27" name="Text 26"/>
          <p:cNvSpPr txBox="1"/>
          <p:nvPr/>
        </p:nvSpPr>
        <p:spPr>
          <a:xfrm>
            <a:off x="2415034" y="2233613"/>
            <a:ext cx="334417" cy="114300"/>
          </a:xfrm>
          <a:prstGeom prst="rect">
            <a:avLst/>
          </a:prstGeom>
          <a:noFill/>
          <a:ln/>
        </p:spPr>
        <p:txBody>
          <a:bodyPr wrap="none" lIns="0" tIns="0" rIns="0" bIns="0" rtlCol="0" anchor="t"/>
          <a:lstStyle/>
          <a:p>
            <a:pPr marL="0" indent="0" algn="l">
              <a:lnSpc>
                <a:spcPts val="900"/>
              </a:lnSpc>
              <a:buNone/>
            </a:pPr>
            <a:r>
              <a:rPr lang="en-US" sz="660" kern="0" spc="15" dirty="0">
                <a:solidFill>
                  <a:srgbClr val="1B1A1A"/>
                </a:solidFill>
                <a:latin typeface="Quicksand" pitchFamily="34" charset="0"/>
              </a:rPr>
              <a:t>Henkel</a:t>
            </a:r>
            <a:endParaRPr lang="en-US" sz="660" dirty="0"/>
          </a:p>
        </p:txBody>
      </p:sp>
      <p:sp>
        <p:nvSpPr>
          <p:cNvPr id="28" name="Shape 27"/>
          <p:cNvSpPr/>
          <p:nvPr/>
        </p:nvSpPr>
        <p:spPr>
          <a:xfrm>
            <a:off x="561975" y="2428875"/>
            <a:ext cx="1161901" cy="161925"/>
          </a:xfrm>
          <a:prstGeom prst="rect">
            <a:avLst/>
          </a:prstGeom>
          <a:solidFill>
            <a:srgbClr val="FFFFFF"/>
          </a:solidFill>
          <a:ln/>
        </p:spPr>
        <p:txBody>
          <a:bodyPr/>
          <a:lstStyle/>
          <a:p>
            <a:endParaRPr lang="en-US"/>
          </a:p>
        </p:txBody>
      </p:sp>
      <p:sp>
        <p:nvSpPr>
          <p:cNvPr id="29" name="Shape 28"/>
          <p:cNvSpPr/>
          <p:nvPr/>
        </p:nvSpPr>
        <p:spPr>
          <a:xfrm>
            <a:off x="566738" y="2433638"/>
            <a:ext cx="1152376" cy="152400"/>
          </a:xfrm>
          <a:prstGeom prst="rect">
            <a:avLst/>
          </a:prstGeom>
          <a:ln w="9525">
            <a:solidFill>
              <a:srgbClr val="C3BDB6"/>
            </a:solidFill>
            <a:prstDash val="solid"/>
          </a:ln>
        </p:spPr>
        <p:txBody>
          <a:bodyPr/>
          <a:lstStyle/>
          <a:p>
            <a:endParaRPr lang="en-US"/>
          </a:p>
        </p:txBody>
      </p:sp>
      <p:sp>
        <p:nvSpPr>
          <p:cNvPr id="30" name="Text 29"/>
          <p:cNvSpPr txBox="1"/>
          <p:nvPr/>
        </p:nvSpPr>
        <p:spPr>
          <a:xfrm>
            <a:off x="628650" y="2447925"/>
            <a:ext cx="1085701" cy="114300"/>
          </a:xfrm>
          <a:prstGeom prst="rect">
            <a:avLst/>
          </a:prstGeom>
          <a:noFill/>
          <a:ln/>
        </p:spPr>
        <p:txBody>
          <a:bodyPr wrap="none" lIns="0" tIns="0" rIns="0" bIns="0" rtlCol="0" anchor="t"/>
          <a:lstStyle/>
          <a:p>
            <a:pPr marL="0" indent="0" algn="l">
              <a:lnSpc>
                <a:spcPts val="900"/>
              </a:lnSpc>
              <a:buNone/>
            </a:pPr>
            <a:r>
              <a:rPr lang="en-US" sz="660" kern="0" spc="15" dirty="0">
                <a:solidFill>
                  <a:srgbClr val="1B1A1A"/>
                </a:solidFill>
                <a:latin typeface="Quicksand" pitchFamily="34" charset="0"/>
              </a:rPr>
              <a:t>Performance Food Group</a:t>
            </a:r>
            <a:endParaRPr lang="en-US" sz="660" dirty="0"/>
          </a:p>
        </p:txBody>
      </p:sp>
      <p:sp>
        <p:nvSpPr>
          <p:cNvPr id="31" name="Shape 30"/>
          <p:cNvSpPr/>
          <p:nvPr/>
        </p:nvSpPr>
        <p:spPr>
          <a:xfrm>
            <a:off x="1761976" y="2428875"/>
            <a:ext cx="397222" cy="161925"/>
          </a:xfrm>
          <a:prstGeom prst="rect">
            <a:avLst/>
          </a:prstGeom>
          <a:solidFill>
            <a:srgbClr val="FFFFFF"/>
          </a:solidFill>
          <a:ln/>
        </p:spPr>
        <p:txBody>
          <a:bodyPr/>
          <a:lstStyle/>
          <a:p>
            <a:endParaRPr lang="en-US"/>
          </a:p>
        </p:txBody>
      </p:sp>
      <p:sp>
        <p:nvSpPr>
          <p:cNvPr id="32" name="Shape 31"/>
          <p:cNvSpPr/>
          <p:nvPr/>
        </p:nvSpPr>
        <p:spPr>
          <a:xfrm>
            <a:off x="1766739" y="2433638"/>
            <a:ext cx="387697" cy="152400"/>
          </a:xfrm>
          <a:prstGeom prst="rect">
            <a:avLst/>
          </a:prstGeom>
          <a:ln w="9525">
            <a:solidFill>
              <a:srgbClr val="C3BDB6"/>
            </a:solidFill>
            <a:prstDash val="solid"/>
          </a:ln>
        </p:spPr>
        <p:txBody>
          <a:bodyPr/>
          <a:lstStyle/>
          <a:p>
            <a:endParaRPr lang="en-US"/>
          </a:p>
        </p:txBody>
      </p:sp>
      <p:sp>
        <p:nvSpPr>
          <p:cNvPr id="33" name="Text 32"/>
          <p:cNvSpPr txBox="1"/>
          <p:nvPr/>
        </p:nvSpPr>
        <p:spPr>
          <a:xfrm>
            <a:off x="1828651" y="2447925"/>
            <a:ext cx="321022" cy="114300"/>
          </a:xfrm>
          <a:prstGeom prst="rect">
            <a:avLst/>
          </a:prstGeom>
          <a:noFill/>
          <a:ln/>
        </p:spPr>
        <p:txBody>
          <a:bodyPr wrap="none" lIns="0" tIns="0" rIns="0" bIns="0" rtlCol="0" anchor="t"/>
          <a:lstStyle/>
          <a:p>
            <a:pPr marL="0" indent="0" algn="l">
              <a:lnSpc>
                <a:spcPts val="900"/>
              </a:lnSpc>
              <a:buNone/>
            </a:pPr>
            <a:r>
              <a:rPr lang="en-US" sz="660" kern="0" spc="15" dirty="0">
                <a:solidFill>
                  <a:srgbClr val="1B1A1A"/>
                </a:solidFill>
                <a:latin typeface="Quicksand" pitchFamily="34" charset="0"/>
              </a:rPr>
              <a:t>Rollins</a:t>
            </a:r>
            <a:endParaRPr lang="en-US" sz="660" dirty="0"/>
          </a:p>
        </p:txBody>
      </p:sp>
      <p:sp>
        <p:nvSpPr>
          <p:cNvPr id="34" name="Shape 33"/>
          <p:cNvSpPr/>
          <p:nvPr/>
        </p:nvSpPr>
        <p:spPr>
          <a:xfrm>
            <a:off x="2197298" y="2428875"/>
            <a:ext cx="616148" cy="161925"/>
          </a:xfrm>
          <a:prstGeom prst="rect">
            <a:avLst/>
          </a:prstGeom>
          <a:solidFill>
            <a:srgbClr val="FFFFFF"/>
          </a:solidFill>
          <a:ln/>
        </p:spPr>
        <p:txBody>
          <a:bodyPr/>
          <a:lstStyle/>
          <a:p>
            <a:endParaRPr lang="en-US"/>
          </a:p>
        </p:txBody>
      </p:sp>
      <p:sp>
        <p:nvSpPr>
          <p:cNvPr id="35" name="Shape 34"/>
          <p:cNvSpPr/>
          <p:nvPr/>
        </p:nvSpPr>
        <p:spPr>
          <a:xfrm>
            <a:off x="2202061" y="2433638"/>
            <a:ext cx="606623" cy="152400"/>
          </a:xfrm>
          <a:prstGeom prst="rect">
            <a:avLst/>
          </a:prstGeom>
          <a:ln w="9525">
            <a:solidFill>
              <a:srgbClr val="C3BDB6"/>
            </a:solidFill>
            <a:prstDash val="solid"/>
          </a:ln>
        </p:spPr>
        <p:txBody>
          <a:bodyPr/>
          <a:lstStyle/>
          <a:p>
            <a:endParaRPr lang="en-US"/>
          </a:p>
        </p:txBody>
      </p:sp>
      <p:sp>
        <p:nvSpPr>
          <p:cNvPr id="36" name="Text 35"/>
          <p:cNvSpPr txBox="1"/>
          <p:nvPr/>
        </p:nvSpPr>
        <p:spPr>
          <a:xfrm>
            <a:off x="2263973" y="2447925"/>
            <a:ext cx="539948" cy="114300"/>
          </a:xfrm>
          <a:prstGeom prst="rect">
            <a:avLst/>
          </a:prstGeom>
          <a:noFill/>
          <a:ln/>
        </p:spPr>
        <p:txBody>
          <a:bodyPr wrap="none" lIns="0" tIns="0" rIns="0" bIns="0" rtlCol="0" anchor="t"/>
          <a:lstStyle/>
          <a:p>
            <a:pPr marL="0" indent="0" algn="l">
              <a:lnSpc>
                <a:spcPts val="900"/>
              </a:lnSpc>
              <a:buNone/>
            </a:pPr>
            <a:r>
              <a:rPr lang="en-US" sz="660" kern="0" spc="15" dirty="0">
                <a:solidFill>
                  <a:srgbClr val="1B1A1A"/>
                </a:solidFill>
                <a:latin typeface="Quicksand" pitchFamily="34" charset="0"/>
              </a:rPr>
              <a:t>Boyd Group</a:t>
            </a:r>
            <a:endParaRPr lang="en-US" sz="660" dirty="0"/>
          </a:p>
        </p:txBody>
      </p:sp>
      <p:sp>
        <p:nvSpPr>
          <p:cNvPr id="37" name="Text 36"/>
          <p:cNvSpPr txBox="1"/>
          <p:nvPr/>
        </p:nvSpPr>
        <p:spPr>
          <a:xfrm>
            <a:off x="561975" y="2643188"/>
            <a:ext cx="2698700" cy="104775"/>
          </a:xfrm>
          <a:prstGeom prst="rect">
            <a:avLst/>
          </a:prstGeom>
          <a:noFill/>
          <a:ln/>
        </p:spPr>
        <p:txBody>
          <a:bodyPr wrap="none" lIns="0" tIns="0" rIns="0" bIns="0" rtlCol="0" anchor="t"/>
          <a:lstStyle/>
          <a:p>
            <a:pPr marL="0" indent="0" algn="l">
              <a:lnSpc>
                <a:spcPts val="825"/>
              </a:lnSpc>
              <a:buNone/>
            </a:pPr>
            <a:r>
              <a:rPr lang="en-US" sz="585" b="1" kern="0" spc="120" dirty="0">
                <a:solidFill>
                  <a:srgbClr val="8C6239"/>
                </a:solidFill>
                <a:latin typeface="Quicksand" pitchFamily="34" charset="0"/>
              </a:rPr>
              <a:t>ACQUIRERS OF BENCHMARK INTERNATIONAL CLIENTS</a:t>
            </a:r>
            <a:endParaRPr lang="en-US" sz="585" dirty="0"/>
          </a:p>
        </p:txBody>
      </p:sp>
      <p:sp>
        <p:nvSpPr>
          <p:cNvPr id="38" name="Shape 37"/>
          <p:cNvSpPr/>
          <p:nvPr/>
        </p:nvSpPr>
        <p:spPr>
          <a:xfrm>
            <a:off x="561975" y="2814638"/>
            <a:ext cx="725388" cy="142875"/>
          </a:xfrm>
          <a:prstGeom prst="rect">
            <a:avLst/>
          </a:prstGeom>
          <a:solidFill>
            <a:srgbClr val="1B1A1A"/>
          </a:solidFill>
          <a:ln/>
        </p:spPr>
        <p:txBody>
          <a:bodyPr/>
          <a:lstStyle/>
          <a:p>
            <a:endParaRPr lang="en-US"/>
          </a:p>
        </p:txBody>
      </p:sp>
      <p:sp>
        <p:nvSpPr>
          <p:cNvPr id="39" name="Text 38"/>
          <p:cNvSpPr txBox="1"/>
          <p:nvPr/>
        </p:nvSpPr>
        <p:spPr>
          <a:xfrm>
            <a:off x="619125" y="2824163"/>
            <a:ext cx="668238" cy="114300"/>
          </a:xfrm>
          <a:prstGeom prst="rect">
            <a:avLst/>
          </a:prstGeom>
          <a:noFill/>
          <a:ln/>
        </p:spPr>
        <p:txBody>
          <a:bodyPr wrap="none" lIns="0" tIns="0" rIns="0" bIns="0" rtlCol="0" anchor="t"/>
          <a:lstStyle/>
          <a:p>
            <a:pPr marL="0" indent="0" algn="l">
              <a:lnSpc>
                <a:spcPts val="900"/>
              </a:lnSpc>
              <a:buNone/>
            </a:pPr>
            <a:r>
              <a:rPr lang="en-US" sz="660" kern="0" spc="15" dirty="0">
                <a:solidFill>
                  <a:srgbClr val="FFFFFF"/>
                </a:solidFill>
                <a:latin typeface="Quicksand" pitchFamily="34" charset="0"/>
              </a:rPr>
              <a:t>Burris Logistics</a:t>
            </a:r>
            <a:endParaRPr lang="en-US" sz="660" dirty="0"/>
          </a:p>
        </p:txBody>
      </p:sp>
      <p:sp>
        <p:nvSpPr>
          <p:cNvPr id="40" name="Shape 39"/>
          <p:cNvSpPr/>
          <p:nvPr/>
        </p:nvSpPr>
        <p:spPr>
          <a:xfrm>
            <a:off x="3536900" y="1238250"/>
            <a:ext cx="2984450" cy="2790825"/>
          </a:xfrm>
          <a:prstGeom prst="rect">
            <a:avLst/>
          </a:prstGeom>
          <a:solidFill>
            <a:srgbClr val="FAF7F3"/>
          </a:solidFill>
          <a:ln/>
        </p:spPr>
        <p:txBody>
          <a:bodyPr/>
          <a:lstStyle/>
          <a:p>
            <a:endParaRPr lang="en-US"/>
          </a:p>
        </p:txBody>
      </p:sp>
      <p:sp>
        <p:nvSpPr>
          <p:cNvPr id="41" name="Shape 40"/>
          <p:cNvSpPr/>
          <p:nvPr/>
        </p:nvSpPr>
        <p:spPr>
          <a:xfrm>
            <a:off x="3536900" y="1238250"/>
            <a:ext cx="2984450" cy="28575"/>
          </a:xfrm>
          <a:prstGeom prst="rect">
            <a:avLst/>
          </a:prstGeom>
          <a:solidFill>
            <a:srgbClr val="B68757"/>
          </a:solidFill>
          <a:ln/>
        </p:spPr>
        <p:txBody>
          <a:bodyPr/>
          <a:lstStyle/>
          <a:p>
            <a:endParaRPr lang="en-US"/>
          </a:p>
        </p:txBody>
      </p:sp>
      <p:sp>
        <p:nvSpPr>
          <p:cNvPr id="42" name="Dot 41"/>
          <p:cNvSpPr/>
          <p:nvPr/>
        </p:nvSpPr>
        <p:spPr>
          <a:xfrm>
            <a:off x="3679775" y="1362075"/>
            <a:ext cx="304800" cy="304800"/>
          </a:xfrm>
          <a:prstGeom prst="ellipse">
            <a:avLst/>
          </a:prstGeom>
          <a:solidFill>
            <a:srgbClr val="1B1A1A"/>
          </a:solidFill>
          <a:ln/>
        </p:spPr>
        <p:txBody>
          <a:bodyPr/>
          <a:lstStyle/>
          <a:p>
            <a:endParaRPr lang="en-US"/>
          </a:p>
        </p:txBody>
      </p:sp>
      <p:pic>
        <p:nvPicPr>
          <p:cNvPr id="43" name="Icon" descr="/tmp/claude-0/-home-claude-about/4bef2f41-4227-5ff7-ab18-11ac74cd9797/scratchpad/pptx/ex/media/14deaec9fcb9.png"/>
          <p:cNvPicPr>
            <a:picLocks noChangeAspect="1"/>
          </p:cNvPicPr>
          <p:nvPr/>
        </p:nvPicPr>
        <p:blipFill>
          <a:blip r:embed="rId4"/>
          <a:stretch>
            <a:fillRect/>
          </a:stretch>
        </p:blipFill>
        <p:spPr>
          <a:xfrm>
            <a:off x="3751213" y="1433513"/>
            <a:ext cx="161925" cy="161925"/>
          </a:xfrm>
          <a:prstGeom prst="rect">
            <a:avLst/>
          </a:prstGeom>
        </p:spPr>
      </p:pic>
      <p:sp>
        <p:nvSpPr>
          <p:cNvPr id="44" name="Text 43"/>
          <p:cNvSpPr txBox="1"/>
          <p:nvPr/>
        </p:nvSpPr>
        <p:spPr>
          <a:xfrm>
            <a:off x="4079825" y="1364456"/>
            <a:ext cx="2312938" cy="295275"/>
          </a:xfrm>
          <a:prstGeom prst="rect">
            <a:avLst/>
          </a:prstGeom>
          <a:noFill/>
          <a:ln/>
        </p:spPr>
        <p:txBody>
          <a:bodyPr wrap="square" lIns="0" tIns="0" rIns="0" bIns="0" rtlCol="0" anchor="t"/>
          <a:lstStyle/>
          <a:p>
            <a:pPr marL="0" indent="0" algn="l">
              <a:lnSpc>
                <a:spcPts val="1163"/>
              </a:lnSpc>
              <a:buNone/>
            </a:pPr>
            <a:r>
              <a:rPr lang="en-US" sz="915" b="1" kern="0" spc="15" dirty="0">
                <a:solidFill>
                  <a:srgbClr val="1B1A1A"/>
                </a:solidFill>
                <a:latin typeface="Quicksand" pitchFamily="34" charset="0"/>
              </a:rPr>
              <a:t>Family-owned, regional and specialist strategics</a:t>
            </a:r>
            <a:endParaRPr lang="en-US" sz="915" dirty="0"/>
          </a:p>
        </p:txBody>
      </p:sp>
      <p:sp>
        <p:nvSpPr>
          <p:cNvPr id="45" name="Text 44"/>
          <p:cNvSpPr txBox="1"/>
          <p:nvPr/>
        </p:nvSpPr>
        <p:spPr>
          <a:xfrm>
            <a:off x="3679775" y="1716881"/>
            <a:ext cx="2712988" cy="414338"/>
          </a:xfrm>
          <a:prstGeom prst="rect">
            <a:avLst/>
          </a:prstGeom>
          <a:noFill/>
          <a:ln/>
        </p:spPr>
        <p:txBody>
          <a:bodyPr wrap="square" lIns="0" tIns="0" rIns="0" bIns="0" rtlCol="0" anchor="t"/>
          <a:lstStyle/>
          <a:p>
            <a:pPr marL="0" indent="0" algn="l">
              <a:lnSpc>
                <a:spcPts val="1088"/>
              </a:lnSpc>
              <a:buNone/>
            </a:pPr>
            <a:r>
              <a:rPr lang="en-US" sz="765" kern="0" spc="15" dirty="0">
                <a:solidFill>
                  <a:srgbClr val="333231"/>
                </a:solidFill>
                <a:latin typeface="Quicksand" pitchFamily="34" charset="0"/>
              </a:rPr>
              <a:t>Operating companies that fund purchases from cash flow and are less sensitive to the cost of debt than a sponsor financing a new platform.</a:t>
            </a:r>
            <a:endParaRPr lang="en-US" sz="765" dirty="0"/>
          </a:p>
        </p:txBody>
      </p:sp>
      <p:sp>
        <p:nvSpPr>
          <p:cNvPr id="46" name="Text 45"/>
          <p:cNvSpPr txBox="1"/>
          <p:nvPr/>
        </p:nvSpPr>
        <p:spPr>
          <a:xfrm>
            <a:off x="3679775" y="2190750"/>
            <a:ext cx="2698700" cy="104775"/>
          </a:xfrm>
          <a:prstGeom prst="rect">
            <a:avLst/>
          </a:prstGeom>
          <a:noFill/>
          <a:ln/>
        </p:spPr>
        <p:txBody>
          <a:bodyPr wrap="none" lIns="0" tIns="0" rIns="0" bIns="0" rtlCol="0" anchor="t"/>
          <a:lstStyle/>
          <a:p>
            <a:pPr marL="0" indent="0" algn="l">
              <a:lnSpc>
                <a:spcPts val="825"/>
              </a:lnSpc>
              <a:buNone/>
            </a:pPr>
            <a:r>
              <a:rPr lang="en-US" sz="585" b="1" kern="0" spc="120" dirty="0">
                <a:solidFill>
                  <a:srgbClr val="8C6239"/>
                </a:solidFill>
                <a:latin typeface="Quicksand" pitchFamily="34" charset="0"/>
              </a:rPr>
              <a:t>ACTIVE IN THE 2026 MARKET</a:t>
            </a:r>
            <a:endParaRPr lang="en-US" sz="585" dirty="0"/>
          </a:p>
        </p:txBody>
      </p:sp>
      <p:sp>
        <p:nvSpPr>
          <p:cNvPr id="47" name="Shape 46"/>
          <p:cNvSpPr/>
          <p:nvPr/>
        </p:nvSpPr>
        <p:spPr>
          <a:xfrm>
            <a:off x="3679775" y="2352675"/>
            <a:ext cx="689670" cy="161925"/>
          </a:xfrm>
          <a:prstGeom prst="rect">
            <a:avLst/>
          </a:prstGeom>
          <a:solidFill>
            <a:srgbClr val="FFFFFF"/>
          </a:solidFill>
          <a:ln/>
        </p:spPr>
        <p:txBody>
          <a:bodyPr/>
          <a:lstStyle/>
          <a:p>
            <a:endParaRPr lang="en-US"/>
          </a:p>
        </p:txBody>
      </p:sp>
      <p:sp>
        <p:nvSpPr>
          <p:cNvPr id="48" name="Shape 47"/>
          <p:cNvSpPr/>
          <p:nvPr/>
        </p:nvSpPr>
        <p:spPr>
          <a:xfrm>
            <a:off x="3684538" y="2357438"/>
            <a:ext cx="680145" cy="152400"/>
          </a:xfrm>
          <a:prstGeom prst="rect">
            <a:avLst/>
          </a:prstGeom>
          <a:ln w="9525">
            <a:solidFill>
              <a:srgbClr val="C3BDB6"/>
            </a:solidFill>
            <a:prstDash val="solid"/>
          </a:ln>
        </p:spPr>
        <p:txBody>
          <a:bodyPr/>
          <a:lstStyle/>
          <a:p>
            <a:endParaRPr lang="en-US"/>
          </a:p>
        </p:txBody>
      </p:sp>
      <p:sp>
        <p:nvSpPr>
          <p:cNvPr id="49" name="Text 48"/>
          <p:cNvSpPr txBox="1"/>
          <p:nvPr/>
        </p:nvSpPr>
        <p:spPr>
          <a:xfrm>
            <a:off x="3746450" y="2371725"/>
            <a:ext cx="613470" cy="114300"/>
          </a:xfrm>
          <a:prstGeom prst="rect">
            <a:avLst/>
          </a:prstGeom>
          <a:noFill/>
          <a:ln/>
        </p:spPr>
        <p:txBody>
          <a:bodyPr wrap="none" lIns="0" tIns="0" rIns="0" bIns="0" rtlCol="0" anchor="t"/>
          <a:lstStyle/>
          <a:p>
            <a:pPr marL="0" indent="0" algn="l">
              <a:lnSpc>
                <a:spcPts val="900"/>
              </a:lnSpc>
              <a:buNone/>
            </a:pPr>
            <a:r>
              <a:rPr lang="en-US" sz="660" kern="0" spc="15" dirty="0">
                <a:solidFill>
                  <a:srgbClr val="1B1A1A"/>
                </a:solidFill>
                <a:latin typeface="Quicksand" pitchFamily="34" charset="0"/>
              </a:rPr>
              <a:t>Rich Products</a:t>
            </a:r>
            <a:endParaRPr lang="en-US" sz="660" dirty="0"/>
          </a:p>
        </p:txBody>
      </p:sp>
      <p:sp>
        <p:nvSpPr>
          <p:cNvPr id="50" name="Shape 49"/>
          <p:cNvSpPr/>
          <p:nvPr/>
        </p:nvSpPr>
        <p:spPr>
          <a:xfrm>
            <a:off x="4407545" y="2352675"/>
            <a:ext cx="502444" cy="161925"/>
          </a:xfrm>
          <a:prstGeom prst="rect">
            <a:avLst/>
          </a:prstGeom>
          <a:solidFill>
            <a:srgbClr val="FFFFFF"/>
          </a:solidFill>
          <a:ln/>
        </p:spPr>
        <p:txBody>
          <a:bodyPr/>
          <a:lstStyle/>
          <a:p>
            <a:endParaRPr lang="en-US"/>
          </a:p>
        </p:txBody>
      </p:sp>
      <p:sp>
        <p:nvSpPr>
          <p:cNvPr id="51" name="Shape 50"/>
          <p:cNvSpPr/>
          <p:nvPr/>
        </p:nvSpPr>
        <p:spPr>
          <a:xfrm>
            <a:off x="4412307" y="2357438"/>
            <a:ext cx="492919" cy="152400"/>
          </a:xfrm>
          <a:prstGeom prst="rect">
            <a:avLst/>
          </a:prstGeom>
          <a:ln w="9525">
            <a:solidFill>
              <a:srgbClr val="C3BDB6"/>
            </a:solidFill>
            <a:prstDash val="solid"/>
          </a:ln>
        </p:spPr>
        <p:txBody>
          <a:bodyPr/>
          <a:lstStyle/>
          <a:p>
            <a:endParaRPr lang="en-US"/>
          </a:p>
        </p:txBody>
      </p:sp>
      <p:sp>
        <p:nvSpPr>
          <p:cNvPr id="52" name="Text 51"/>
          <p:cNvSpPr txBox="1"/>
          <p:nvPr/>
        </p:nvSpPr>
        <p:spPr>
          <a:xfrm>
            <a:off x="4474220" y="2371725"/>
            <a:ext cx="426244" cy="114300"/>
          </a:xfrm>
          <a:prstGeom prst="rect">
            <a:avLst/>
          </a:prstGeom>
          <a:noFill/>
          <a:ln/>
        </p:spPr>
        <p:txBody>
          <a:bodyPr wrap="none" lIns="0" tIns="0" rIns="0" bIns="0" rtlCol="0" anchor="t"/>
          <a:lstStyle/>
          <a:p>
            <a:pPr marL="0" indent="0" algn="l">
              <a:lnSpc>
                <a:spcPts val="900"/>
              </a:lnSpc>
              <a:buNone/>
            </a:pPr>
            <a:r>
              <a:rPr lang="en-US" sz="660" kern="0" spc="15" dirty="0">
                <a:solidFill>
                  <a:srgbClr val="1B1A1A"/>
                </a:solidFill>
                <a:latin typeface="Quicksand" pitchFamily="34" charset="0"/>
              </a:rPr>
              <a:t>Sargento</a:t>
            </a:r>
            <a:endParaRPr lang="en-US" sz="660" dirty="0"/>
          </a:p>
        </p:txBody>
      </p:sp>
      <p:sp>
        <p:nvSpPr>
          <p:cNvPr id="53" name="Shape 52"/>
          <p:cNvSpPr/>
          <p:nvPr/>
        </p:nvSpPr>
        <p:spPr>
          <a:xfrm>
            <a:off x="4948089" y="2352675"/>
            <a:ext cx="683716" cy="161925"/>
          </a:xfrm>
          <a:prstGeom prst="rect">
            <a:avLst/>
          </a:prstGeom>
          <a:solidFill>
            <a:srgbClr val="FFFFFF"/>
          </a:solidFill>
          <a:ln/>
        </p:spPr>
        <p:txBody>
          <a:bodyPr/>
          <a:lstStyle/>
          <a:p>
            <a:endParaRPr lang="en-US"/>
          </a:p>
        </p:txBody>
      </p:sp>
      <p:sp>
        <p:nvSpPr>
          <p:cNvPr id="54" name="Shape 53"/>
          <p:cNvSpPr/>
          <p:nvPr/>
        </p:nvSpPr>
        <p:spPr>
          <a:xfrm>
            <a:off x="4952851" y="2357438"/>
            <a:ext cx="674191" cy="152400"/>
          </a:xfrm>
          <a:prstGeom prst="rect">
            <a:avLst/>
          </a:prstGeom>
          <a:ln w="9525">
            <a:solidFill>
              <a:srgbClr val="C3BDB6"/>
            </a:solidFill>
            <a:prstDash val="solid"/>
          </a:ln>
        </p:spPr>
        <p:txBody>
          <a:bodyPr/>
          <a:lstStyle/>
          <a:p>
            <a:endParaRPr lang="en-US"/>
          </a:p>
        </p:txBody>
      </p:sp>
      <p:sp>
        <p:nvSpPr>
          <p:cNvPr id="55" name="Text 54"/>
          <p:cNvSpPr txBox="1"/>
          <p:nvPr/>
        </p:nvSpPr>
        <p:spPr>
          <a:xfrm>
            <a:off x="5014764" y="2371725"/>
            <a:ext cx="607516" cy="114300"/>
          </a:xfrm>
          <a:prstGeom prst="rect">
            <a:avLst/>
          </a:prstGeom>
          <a:noFill/>
          <a:ln/>
        </p:spPr>
        <p:txBody>
          <a:bodyPr wrap="none" lIns="0" tIns="0" rIns="0" bIns="0" rtlCol="0" anchor="t"/>
          <a:lstStyle/>
          <a:p>
            <a:pPr marL="0" indent="0" algn="l">
              <a:lnSpc>
                <a:spcPts val="900"/>
              </a:lnSpc>
              <a:buNone/>
            </a:pPr>
            <a:r>
              <a:rPr lang="en-US" sz="660" kern="0" spc="15" dirty="0">
                <a:solidFill>
                  <a:srgbClr val="1B1A1A"/>
                </a:solidFill>
                <a:latin typeface="Quicksand" pitchFamily="34" charset="0"/>
              </a:rPr>
              <a:t>C.H. Guenther</a:t>
            </a:r>
            <a:endParaRPr lang="en-US" sz="660" dirty="0"/>
          </a:p>
        </p:txBody>
      </p:sp>
      <p:sp>
        <p:nvSpPr>
          <p:cNvPr id="56" name="Shape 55"/>
          <p:cNvSpPr/>
          <p:nvPr/>
        </p:nvSpPr>
        <p:spPr>
          <a:xfrm>
            <a:off x="5669905" y="2352675"/>
            <a:ext cx="668685" cy="161925"/>
          </a:xfrm>
          <a:prstGeom prst="rect">
            <a:avLst/>
          </a:prstGeom>
          <a:solidFill>
            <a:srgbClr val="FFFFFF"/>
          </a:solidFill>
          <a:ln/>
        </p:spPr>
        <p:txBody>
          <a:bodyPr/>
          <a:lstStyle/>
          <a:p>
            <a:endParaRPr lang="en-US"/>
          </a:p>
        </p:txBody>
      </p:sp>
      <p:sp>
        <p:nvSpPr>
          <p:cNvPr id="57" name="Shape 56"/>
          <p:cNvSpPr/>
          <p:nvPr/>
        </p:nvSpPr>
        <p:spPr>
          <a:xfrm>
            <a:off x="5674668" y="2357438"/>
            <a:ext cx="659160" cy="152400"/>
          </a:xfrm>
          <a:prstGeom prst="rect">
            <a:avLst/>
          </a:prstGeom>
          <a:ln w="9525">
            <a:solidFill>
              <a:srgbClr val="C3BDB6"/>
            </a:solidFill>
            <a:prstDash val="solid"/>
          </a:ln>
        </p:spPr>
        <p:txBody>
          <a:bodyPr/>
          <a:lstStyle/>
          <a:p>
            <a:endParaRPr lang="en-US"/>
          </a:p>
        </p:txBody>
      </p:sp>
      <p:sp>
        <p:nvSpPr>
          <p:cNvPr id="58" name="Text 57"/>
          <p:cNvSpPr txBox="1"/>
          <p:nvPr/>
        </p:nvSpPr>
        <p:spPr>
          <a:xfrm>
            <a:off x="5736580" y="2371725"/>
            <a:ext cx="592485" cy="114300"/>
          </a:xfrm>
          <a:prstGeom prst="rect">
            <a:avLst/>
          </a:prstGeom>
          <a:noFill/>
          <a:ln/>
        </p:spPr>
        <p:txBody>
          <a:bodyPr wrap="none" lIns="0" tIns="0" rIns="0" bIns="0" rtlCol="0" anchor="t"/>
          <a:lstStyle/>
          <a:p>
            <a:pPr marL="0" indent="0" algn="l">
              <a:lnSpc>
                <a:spcPts val="900"/>
              </a:lnSpc>
              <a:buNone/>
            </a:pPr>
            <a:r>
              <a:rPr lang="en-US" sz="660" kern="0" spc="15" dirty="0">
                <a:solidFill>
                  <a:srgbClr val="1B1A1A"/>
                </a:solidFill>
                <a:latin typeface="Quicksand" pitchFamily="34" charset="0"/>
              </a:rPr>
              <a:t>Wasserstrom</a:t>
            </a:r>
            <a:endParaRPr lang="en-US" sz="660" dirty="0"/>
          </a:p>
        </p:txBody>
      </p:sp>
      <p:sp>
        <p:nvSpPr>
          <p:cNvPr id="59" name="Shape 58"/>
          <p:cNvSpPr/>
          <p:nvPr/>
        </p:nvSpPr>
        <p:spPr>
          <a:xfrm>
            <a:off x="3679775" y="2566988"/>
            <a:ext cx="750094" cy="161925"/>
          </a:xfrm>
          <a:prstGeom prst="rect">
            <a:avLst/>
          </a:prstGeom>
          <a:solidFill>
            <a:srgbClr val="FFFFFF"/>
          </a:solidFill>
          <a:ln/>
        </p:spPr>
        <p:txBody>
          <a:bodyPr/>
          <a:lstStyle/>
          <a:p>
            <a:endParaRPr lang="en-US"/>
          </a:p>
        </p:txBody>
      </p:sp>
      <p:sp>
        <p:nvSpPr>
          <p:cNvPr id="60" name="Shape 59"/>
          <p:cNvSpPr/>
          <p:nvPr/>
        </p:nvSpPr>
        <p:spPr>
          <a:xfrm>
            <a:off x="3684538" y="2571750"/>
            <a:ext cx="740569" cy="152400"/>
          </a:xfrm>
          <a:prstGeom prst="rect">
            <a:avLst/>
          </a:prstGeom>
          <a:ln w="9525">
            <a:solidFill>
              <a:srgbClr val="C3BDB6"/>
            </a:solidFill>
            <a:prstDash val="solid"/>
          </a:ln>
        </p:spPr>
        <p:txBody>
          <a:bodyPr/>
          <a:lstStyle/>
          <a:p>
            <a:endParaRPr lang="en-US"/>
          </a:p>
        </p:txBody>
      </p:sp>
      <p:sp>
        <p:nvSpPr>
          <p:cNvPr id="61" name="Text 60"/>
          <p:cNvSpPr txBox="1"/>
          <p:nvPr/>
        </p:nvSpPr>
        <p:spPr>
          <a:xfrm>
            <a:off x="3746450" y="2586038"/>
            <a:ext cx="673894" cy="114300"/>
          </a:xfrm>
          <a:prstGeom prst="rect">
            <a:avLst/>
          </a:prstGeom>
          <a:noFill/>
          <a:ln/>
        </p:spPr>
        <p:txBody>
          <a:bodyPr wrap="none" lIns="0" tIns="0" rIns="0" bIns="0" rtlCol="0" anchor="t"/>
          <a:lstStyle/>
          <a:p>
            <a:pPr marL="0" indent="0" algn="l">
              <a:lnSpc>
                <a:spcPts val="900"/>
              </a:lnSpc>
              <a:buNone/>
            </a:pPr>
            <a:r>
              <a:rPr lang="en-US" sz="660" kern="0" spc="15" dirty="0">
                <a:solidFill>
                  <a:srgbClr val="1B1A1A"/>
                </a:solidFill>
                <a:latin typeface="Quicksand" pitchFamily="34" charset="0"/>
              </a:rPr>
              <a:t>Carmela Foods</a:t>
            </a:r>
            <a:endParaRPr lang="en-US" sz="660" dirty="0"/>
          </a:p>
        </p:txBody>
      </p:sp>
      <p:sp>
        <p:nvSpPr>
          <p:cNvPr id="62" name="Shape 61"/>
          <p:cNvSpPr/>
          <p:nvPr/>
        </p:nvSpPr>
        <p:spPr>
          <a:xfrm>
            <a:off x="4467969" y="2566988"/>
            <a:ext cx="558850" cy="161925"/>
          </a:xfrm>
          <a:prstGeom prst="rect">
            <a:avLst/>
          </a:prstGeom>
          <a:solidFill>
            <a:srgbClr val="FFFFFF"/>
          </a:solidFill>
          <a:ln/>
        </p:spPr>
        <p:txBody>
          <a:bodyPr/>
          <a:lstStyle/>
          <a:p>
            <a:endParaRPr lang="en-US"/>
          </a:p>
        </p:txBody>
      </p:sp>
      <p:sp>
        <p:nvSpPr>
          <p:cNvPr id="63" name="Shape 62"/>
          <p:cNvSpPr/>
          <p:nvPr/>
        </p:nvSpPr>
        <p:spPr>
          <a:xfrm>
            <a:off x="4472732" y="2571750"/>
            <a:ext cx="549325" cy="152400"/>
          </a:xfrm>
          <a:prstGeom prst="rect">
            <a:avLst/>
          </a:prstGeom>
          <a:ln w="9525">
            <a:solidFill>
              <a:srgbClr val="C3BDB6"/>
            </a:solidFill>
            <a:prstDash val="solid"/>
          </a:ln>
        </p:spPr>
        <p:txBody>
          <a:bodyPr/>
          <a:lstStyle/>
          <a:p>
            <a:endParaRPr lang="en-US"/>
          </a:p>
        </p:txBody>
      </p:sp>
      <p:sp>
        <p:nvSpPr>
          <p:cNvPr id="64" name="Text 63"/>
          <p:cNvSpPr txBox="1"/>
          <p:nvPr/>
        </p:nvSpPr>
        <p:spPr>
          <a:xfrm>
            <a:off x="4534644" y="2586038"/>
            <a:ext cx="482650" cy="114300"/>
          </a:xfrm>
          <a:prstGeom prst="rect">
            <a:avLst/>
          </a:prstGeom>
          <a:noFill/>
          <a:ln/>
        </p:spPr>
        <p:txBody>
          <a:bodyPr wrap="none" lIns="0" tIns="0" rIns="0" bIns="0" rtlCol="0" anchor="t"/>
          <a:lstStyle/>
          <a:p>
            <a:pPr marL="0" indent="0" algn="l">
              <a:lnSpc>
                <a:spcPts val="900"/>
              </a:lnSpc>
              <a:buNone/>
            </a:pPr>
            <a:r>
              <a:rPr lang="en-US" sz="660" kern="0" spc="15" dirty="0">
                <a:solidFill>
                  <a:srgbClr val="1B1A1A"/>
                </a:solidFill>
                <a:latin typeface="Quicksand" pitchFamily="34" charset="0"/>
              </a:rPr>
              <a:t>Bay Crane</a:t>
            </a:r>
            <a:endParaRPr lang="en-US" sz="660" dirty="0"/>
          </a:p>
        </p:txBody>
      </p:sp>
      <p:sp>
        <p:nvSpPr>
          <p:cNvPr id="65" name="Text 64"/>
          <p:cNvSpPr txBox="1"/>
          <p:nvPr/>
        </p:nvSpPr>
        <p:spPr>
          <a:xfrm>
            <a:off x="3679775" y="2781300"/>
            <a:ext cx="2698700" cy="104775"/>
          </a:xfrm>
          <a:prstGeom prst="rect">
            <a:avLst/>
          </a:prstGeom>
          <a:noFill/>
          <a:ln/>
        </p:spPr>
        <p:txBody>
          <a:bodyPr wrap="none" lIns="0" tIns="0" rIns="0" bIns="0" rtlCol="0" anchor="t"/>
          <a:lstStyle/>
          <a:p>
            <a:pPr marL="0" indent="0" algn="l">
              <a:lnSpc>
                <a:spcPts val="825"/>
              </a:lnSpc>
              <a:buNone/>
            </a:pPr>
            <a:r>
              <a:rPr lang="en-US" sz="585" b="1" kern="0" spc="120" dirty="0">
                <a:solidFill>
                  <a:srgbClr val="8C6239"/>
                </a:solidFill>
                <a:latin typeface="Quicksand" pitchFamily="34" charset="0"/>
              </a:rPr>
              <a:t>ACQUIRERS OF BENCHMARK INTERNATIONAL CLIENTS</a:t>
            </a:r>
            <a:endParaRPr lang="en-US" sz="585" dirty="0"/>
          </a:p>
        </p:txBody>
      </p:sp>
      <p:sp>
        <p:nvSpPr>
          <p:cNvPr id="66" name="Shape 65"/>
          <p:cNvSpPr/>
          <p:nvPr/>
        </p:nvSpPr>
        <p:spPr>
          <a:xfrm>
            <a:off x="3679775" y="2952750"/>
            <a:ext cx="1170087" cy="142875"/>
          </a:xfrm>
          <a:prstGeom prst="rect">
            <a:avLst/>
          </a:prstGeom>
          <a:solidFill>
            <a:srgbClr val="1B1A1A"/>
          </a:solidFill>
          <a:ln/>
        </p:spPr>
        <p:txBody>
          <a:bodyPr/>
          <a:lstStyle/>
          <a:p>
            <a:endParaRPr lang="en-US"/>
          </a:p>
        </p:txBody>
      </p:sp>
      <p:sp>
        <p:nvSpPr>
          <p:cNvPr id="67" name="Text 66"/>
          <p:cNvSpPr txBox="1"/>
          <p:nvPr/>
        </p:nvSpPr>
        <p:spPr>
          <a:xfrm>
            <a:off x="3736925" y="2962275"/>
            <a:ext cx="1112937" cy="114300"/>
          </a:xfrm>
          <a:prstGeom prst="rect">
            <a:avLst/>
          </a:prstGeom>
          <a:noFill/>
          <a:ln/>
        </p:spPr>
        <p:txBody>
          <a:bodyPr wrap="none" lIns="0" tIns="0" rIns="0" bIns="0" rtlCol="0" anchor="t"/>
          <a:lstStyle/>
          <a:p>
            <a:pPr marL="0" indent="0" algn="l">
              <a:lnSpc>
                <a:spcPts val="900"/>
              </a:lnSpc>
              <a:buNone/>
            </a:pPr>
            <a:r>
              <a:rPr lang="en-US" sz="660" kern="0" spc="15" dirty="0">
                <a:solidFill>
                  <a:srgbClr val="FFFFFF"/>
                </a:solidFill>
                <a:latin typeface="Quicksand" pitchFamily="34" charset="0"/>
              </a:rPr>
              <a:t>Front of House Worldwide</a:t>
            </a:r>
            <a:endParaRPr lang="en-US" sz="660" dirty="0"/>
          </a:p>
        </p:txBody>
      </p:sp>
      <p:sp>
        <p:nvSpPr>
          <p:cNvPr id="68" name="Shape 67"/>
          <p:cNvSpPr/>
          <p:nvPr/>
        </p:nvSpPr>
        <p:spPr>
          <a:xfrm>
            <a:off x="4887962" y="2952750"/>
            <a:ext cx="620167" cy="142875"/>
          </a:xfrm>
          <a:prstGeom prst="rect">
            <a:avLst/>
          </a:prstGeom>
          <a:solidFill>
            <a:srgbClr val="1B1A1A"/>
          </a:solidFill>
          <a:ln/>
        </p:spPr>
        <p:txBody>
          <a:bodyPr/>
          <a:lstStyle/>
          <a:p>
            <a:endParaRPr lang="en-US"/>
          </a:p>
        </p:txBody>
      </p:sp>
      <p:sp>
        <p:nvSpPr>
          <p:cNvPr id="69" name="Text 68"/>
          <p:cNvSpPr txBox="1"/>
          <p:nvPr/>
        </p:nvSpPr>
        <p:spPr>
          <a:xfrm>
            <a:off x="4945112" y="2962275"/>
            <a:ext cx="563017" cy="114300"/>
          </a:xfrm>
          <a:prstGeom prst="rect">
            <a:avLst/>
          </a:prstGeom>
          <a:noFill/>
          <a:ln/>
        </p:spPr>
        <p:txBody>
          <a:bodyPr wrap="none" lIns="0" tIns="0" rIns="0" bIns="0" rtlCol="0" anchor="t"/>
          <a:lstStyle/>
          <a:p>
            <a:pPr marL="0" indent="0" algn="l">
              <a:lnSpc>
                <a:spcPts val="900"/>
              </a:lnSpc>
              <a:buNone/>
            </a:pPr>
            <a:r>
              <a:rPr lang="en-US" sz="660" kern="0" spc="15" dirty="0">
                <a:solidFill>
                  <a:srgbClr val="FFFFFF"/>
                </a:solidFill>
                <a:latin typeface="Quicksand" pitchFamily="34" charset="0"/>
              </a:rPr>
              <a:t>GreaseCycle</a:t>
            </a:r>
            <a:endParaRPr lang="en-US" sz="660" dirty="0"/>
          </a:p>
        </p:txBody>
      </p:sp>
      <p:sp>
        <p:nvSpPr>
          <p:cNvPr id="70" name="Shape 69"/>
          <p:cNvSpPr/>
          <p:nvPr/>
        </p:nvSpPr>
        <p:spPr>
          <a:xfrm>
            <a:off x="5546229" y="2952750"/>
            <a:ext cx="602456" cy="142875"/>
          </a:xfrm>
          <a:prstGeom prst="rect">
            <a:avLst/>
          </a:prstGeom>
          <a:solidFill>
            <a:srgbClr val="1B1A1A"/>
          </a:solidFill>
          <a:ln/>
        </p:spPr>
        <p:txBody>
          <a:bodyPr/>
          <a:lstStyle/>
          <a:p>
            <a:endParaRPr lang="en-US"/>
          </a:p>
        </p:txBody>
      </p:sp>
      <p:sp>
        <p:nvSpPr>
          <p:cNvPr id="71" name="Text 70"/>
          <p:cNvSpPr txBox="1"/>
          <p:nvPr/>
        </p:nvSpPr>
        <p:spPr>
          <a:xfrm>
            <a:off x="5603379" y="2962275"/>
            <a:ext cx="545306" cy="114300"/>
          </a:xfrm>
          <a:prstGeom prst="rect">
            <a:avLst/>
          </a:prstGeom>
          <a:noFill/>
          <a:ln/>
        </p:spPr>
        <p:txBody>
          <a:bodyPr wrap="none" lIns="0" tIns="0" rIns="0" bIns="0" rtlCol="0" anchor="t"/>
          <a:lstStyle/>
          <a:p>
            <a:pPr marL="0" indent="0" algn="l">
              <a:lnSpc>
                <a:spcPts val="900"/>
              </a:lnSpc>
              <a:buNone/>
            </a:pPr>
            <a:r>
              <a:rPr lang="en-US" sz="660" kern="0" spc="15" dirty="0">
                <a:solidFill>
                  <a:srgbClr val="FFFFFF"/>
                </a:solidFill>
                <a:latin typeface="Quicksand" pitchFamily="34" charset="0"/>
              </a:rPr>
              <a:t>Hart &amp; Price</a:t>
            </a:r>
            <a:endParaRPr lang="en-US" sz="660" dirty="0"/>
          </a:p>
        </p:txBody>
      </p:sp>
      <p:sp>
        <p:nvSpPr>
          <p:cNvPr id="72" name="Shape 71"/>
          <p:cNvSpPr/>
          <p:nvPr/>
        </p:nvSpPr>
        <p:spPr>
          <a:xfrm>
            <a:off x="3679775" y="3157538"/>
            <a:ext cx="745182" cy="142875"/>
          </a:xfrm>
          <a:prstGeom prst="rect">
            <a:avLst/>
          </a:prstGeom>
          <a:solidFill>
            <a:srgbClr val="1B1A1A"/>
          </a:solidFill>
          <a:ln/>
        </p:spPr>
        <p:txBody>
          <a:bodyPr/>
          <a:lstStyle/>
          <a:p>
            <a:endParaRPr lang="en-US"/>
          </a:p>
        </p:txBody>
      </p:sp>
      <p:sp>
        <p:nvSpPr>
          <p:cNvPr id="73" name="Text 72"/>
          <p:cNvSpPr txBox="1"/>
          <p:nvPr/>
        </p:nvSpPr>
        <p:spPr>
          <a:xfrm>
            <a:off x="3736925" y="3167063"/>
            <a:ext cx="688032" cy="114300"/>
          </a:xfrm>
          <a:prstGeom prst="rect">
            <a:avLst/>
          </a:prstGeom>
          <a:noFill/>
          <a:ln/>
        </p:spPr>
        <p:txBody>
          <a:bodyPr wrap="none" lIns="0" tIns="0" rIns="0" bIns="0" rtlCol="0" anchor="t"/>
          <a:lstStyle/>
          <a:p>
            <a:pPr marL="0" indent="0" algn="l">
              <a:lnSpc>
                <a:spcPts val="900"/>
              </a:lnSpc>
              <a:buNone/>
            </a:pPr>
            <a:r>
              <a:rPr lang="en-US" sz="660" kern="0" spc="15" dirty="0">
                <a:solidFill>
                  <a:srgbClr val="FFFFFF"/>
                </a:solidFill>
                <a:latin typeface="Quicksand" pitchFamily="34" charset="0"/>
              </a:rPr>
              <a:t>Forever Cheese</a:t>
            </a:r>
            <a:endParaRPr lang="en-US" sz="660" dirty="0"/>
          </a:p>
        </p:txBody>
      </p:sp>
      <p:sp>
        <p:nvSpPr>
          <p:cNvPr id="74" name="Shape 73"/>
          <p:cNvSpPr/>
          <p:nvPr/>
        </p:nvSpPr>
        <p:spPr>
          <a:xfrm>
            <a:off x="4463058" y="3157538"/>
            <a:ext cx="669131" cy="142875"/>
          </a:xfrm>
          <a:prstGeom prst="rect">
            <a:avLst/>
          </a:prstGeom>
          <a:solidFill>
            <a:srgbClr val="1B1A1A"/>
          </a:solidFill>
          <a:ln/>
        </p:spPr>
        <p:txBody>
          <a:bodyPr/>
          <a:lstStyle/>
          <a:p>
            <a:endParaRPr lang="en-US"/>
          </a:p>
        </p:txBody>
      </p:sp>
      <p:sp>
        <p:nvSpPr>
          <p:cNvPr id="75" name="Text 74"/>
          <p:cNvSpPr txBox="1"/>
          <p:nvPr/>
        </p:nvSpPr>
        <p:spPr>
          <a:xfrm>
            <a:off x="4520208" y="3167063"/>
            <a:ext cx="611981" cy="114300"/>
          </a:xfrm>
          <a:prstGeom prst="rect">
            <a:avLst/>
          </a:prstGeom>
          <a:noFill/>
          <a:ln/>
        </p:spPr>
        <p:txBody>
          <a:bodyPr wrap="none" lIns="0" tIns="0" rIns="0" bIns="0" rtlCol="0" anchor="t"/>
          <a:lstStyle/>
          <a:p>
            <a:pPr marL="0" indent="0" algn="l">
              <a:lnSpc>
                <a:spcPts val="900"/>
              </a:lnSpc>
              <a:buNone/>
            </a:pPr>
            <a:r>
              <a:rPr lang="en-US" sz="660" kern="0" spc="15" dirty="0">
                <a:solidFill>
                  <a:srgbClr val="FFFFFF"/>
                </a:solidFill>
                <a:latin typeface="Quicksand" pitchFamily="34" charset="0"/>
              </a:rPr>
              <a:t>Ruscan Chem</a:t>
            </a:r>
            <a:endParaRPr lang="en-US" sz="660" dirty="0"/>
          </a:p>
        </p:txBody>
      </p:sp>
      <p:sp>
        <p:nvSpPr>
          <p:cNvPr id="76" name="Shape 75"/>
          <p:cNvSpPr/>
          <p:nvPr/>
        </p:nvSpPr>
        <p:spPr>
          <a:xfrm>
            <a:off x="5170289" y="3157538"/>
            <a:ext cx="576263" cy="142875"/>
          </a:xfrm>
          <a:prstGeom prst="rect">
            <a:avLst/>
          </a:prstGeom>
          <a:solidFill>
            <a:srgbClr val="1B1A1A"/>
          </a:solidFill>
          <a:ln/>
        </p:spPr>
        <p:txBody>
          <a:bodyPr/>
          <a:lstStyle/>
          <a:p>
            <a:endParaRPr lang="en-US"/>
          </a:p>
        </p:txBody>
      </p:sp>
      <p:sp>
        <p:nvSpPr>
          <p:cNvPr id="77" name="Text 76"/>
          <p:cNvSpPr txBox="1"/>
          <p:nvPr/>
        </p:nvSpPr>
        <p:spPr>
          <a:xfrm>
            <a:off x="5227439" y="3167063"/>
            <a:ext cx="519113" cy="114300"/>
          </a:xfrm>
          <a:prstGeom prst="rect">
            <a:avLst/>
          </a:prstGeom>
          <a:noFill/>
          <a:ln/>
        </p:spPr>
        <p:txBody>
          <a:bodyPr wrap="none" lIns="0" tIns="0" rIns="0" bIns="0" rtlCol="0" anchor="t"/>
          <a:lstStyle/>
          <a:p>
            <a:pPr marL="0" indent="0" algn="l">
              <a:lnSpc>
                <a:spcPts val="900"/>
              </a:lnSpc>
              <a:buNone/>
            </a:pPr>
            <a:r>
              <a:rPr lang="en-US" sz="660" kern="0" spc="15" dirty="0">
                <a:solidFill>
                  <a:srgbClr val="FFFFFF"/>
                </a:solidFill>
                <a:latin typeface="Quicksand" pitchFamily="34" charset="0"/>
              </a:rPr>
              <a:t>WRS Group</a:t>
            </a:r>
            <a:endParaRPr lang="en-US" sz="660" dirty="0"/>
          </a:p>
        </p:txBody>
      </p:sp>
      <p:sp>
        <p:nvSpPr>
          <p:cNvPr id="78" name="Shape 77"/>
          <p:cNvSpPr/>
          <p:nvPr/>
        </p:nvSpPr>
        <p:spPr>
          <a:xfrm>
            <a:off x="6654701" y="1238250"/>
            <a:ext cx="2984599" cy="2790825"/>
          </a:xfrm>
          <a:prstGeom prst="rect">
            <a:avLst/>
          </a:prstGeom>
          <a:solidFill>
            <a:srgbClr val="FAF7F3"/>
          </a:solidFill>
          <a:ln/>
        </p:spPr>
        <p:txBody>
          <a:bodyPr/>
          <a:lstStyle/>
          <a:p>
            <a:endParaRPr lang="en-US"/>
          </a:p>
        </p:txBody>
      </p:sp>
      <p:sp>
        <p:nvSpPr>
          <p:cNvPr id="79" name="Shape 78"/>
          <p:cNvSpPr/>
          <p:nvPr/>
        </p:nvSpPr>
        <p:spPr>
          <a:xfrm>
            <a:off x="6654701" y="1238250"/>
            <a:ext cx="2984599" cy="28575"/>
          </a:xfrm>
          <a:prstGeom prst="rect">
            <a:avLst/>
          </a:prstGeom>
          <a:solidFill>
            <a:srgbClr val="B68757"/>
          </a:solidFill>
          <a:ln/>
        </p:spPr>
        <p:txBody>
          <a:bodyPr/>
          <a:lstStyle/>
          <a:p>
            <a:endParaRPr lang="en-US"/>
          </a:p>
        </p:txBody>
      </p:sp>
      <p:sp>
        <p:nvSpPr>
          <p:cNvPr id="80" name="Dot 79"/>
          <p:cNvSpPr/>
          <p:nvPr/>
        </p:nvSpPr>
        <p:spPr>
          <a:xfrm>
            <a:off x="6797576" y="1362075"/>
            <a:ext cx="304800" cy="304800"/>
          </a:xfrm>
          <a:prstGeom prst="ellipse">
            <a:avLst/>
          </a:prstGeom>
          <a:solidFill>
            <a:srgbClr val="1B1A1A"/>
          </a:solidFill>
          <a:ln/>
        </p:spPr>
        <p:txBody>
          <a:bodyPr/>
          <a:lstStyle/>
          <a:p>
            <a:endParaRPr lang="en-US"/>
          </a:p>
        </p:txBody>
      </p:sp>
      <p:pic>
        <p:nvPicPr>
          <p:cNvPr id="81" name="Icon" descr="/tmp/claude-0/-home-claude-about/4bef2f41-4227-5ff7-ab18-11ac74cd9797/scratchpad/pptx/ex/media/0f959ca30c29.png"/>
          <p:cNvPicPr>
            <a:picLocks noChangeAspect="1"/>
          </p:cNvPicPr>
          <p:nvPr/>
        </p:nvPicPr>
        <p:blipFill>
          <a:blip r:embed="rId5"/>
          <a:stretch>
            <a:fillRect/>
          </a:stretch>
        </p:blipFill>
        <p:spPr>
          <a:xfrm>
            <a:off x="6869013" y="1433513"/>
            <a:ext cx="161925" cy="161925"/>
          </a:xfrm>
          <a:prstGeom prst="rect">
            <a:avLst/>
          </a:prstGeom>
        </p:spPr>
      </p:pic>
      <p:sp>
        <p:nvSpPr>
          <p:cNvPr id="82" name="Text 81"/>
          <p:cNvSpPr txBox="1"/>
          <p:nvPr/>
        </p:nvSpPr>
        <p:spPr>
          <a:xfrm>
            <a:off x="7197626" y="1364456"/>
            <a:ext cx="2313087" cy="295275"/>
          </a:xfrm>
          <a:prstGeom prst="rect">
            <a:avLst/>
          </a:prstGeom>
          <a:noFill/>
          <a:ln/>
        </p:spPr>
        <p:txBody>
          <a:bodyPr wrap="square" lIns="0" tIns="0" rIns="0" bIns="0" rtlCol="0" anchor="t"/>
          <a:lstStyle/>
          <a:p>
            <a:pPr marL="0" indent="0" algn="l">
              <a:lnSpc>
                <a:spcPts val="1163"/>
              </a:lnSpc>
              <a:buNone/>
            </a:pPr>
            <a:r>
              <a:rPr lang="en-US" sz="915" b="1" kern="0" spc="15" dirty="0">
                <a:solidFill>
                  <a:srgbClr val="1B1A1A"/>
                </a:solidFill>
                <a:latin typeface="Quicksand" pitchFamily="34" charset="0"/>
              </a:rPr>
              <a:t>Consolidators and platforms making add-on acquisitions</a:t>
            </a:r>
            <a:endParaRPr lang="en-US" sz="915" dirty="0"/>
          </a:p>
        </p:txBody>
      </p:sp>
      <p:sp>
        <p:nvSpPr>
          <p:cNvPr id="83" name="Text 82"/>
          <p:cNvSpPr txBox="1"/>
          <p:nvPr/>
        </p:nvSpPr>
        <p:spPr>
          <a:xfrm>
            <a:off x="6797576" y="1716881"/>
            <a:ext cx="2713137" cy="276225"/>
          </a:xfrm>
          <a:prstGeom prst="rect">
            <a:avLst/>
          </a:prstGeom>
          <a:noFill/>
          <a:ln/>
        </p:spPr>
        <p:txBody>
          <a:bodyPr wrap="square" lIns="0" tIns="0" rIns="0" bIns="0" rtlCol="0" anchor="t"/>
          <a:lstStyle/>
          <a:p>
            <a:pPr marL="0" indent="0" algn="l">
              <a:lnSpc>
                <a:spcPts val="1088"/>
              </a:lnSpc>
              <a:buNone/>
            </a:pPr>
            <a:r>
              <a:rPr lang="en-US" sz="765" kern="0" spc="15" dirty="0">
                <a:solidFill>
                  <a:srgbClr val="333231"/>
                </a:solidFill>
                <a:latin typeface="Quicksand" pitchFamily="34" charset="0"/>
              </a:rPr>
              <a:t>Sponsor-backed operating platforms that buy local operators a few locations or routes at a time.</a:t>
            </a:r>
            <a:endParaRPr lang="en-US" sz="765" dirty="0"/>
          </a:p>
        </p:txBody>
      </p:sp>
      <p:sp>
        <p:nvSpPr>
          <p:cNvPr id="84" name="Text 83"/>
          <p:cNvSpPr txBox="1"/>
          <p:nvPr/>
        </p:nvSpPr>
        <p:spPr>
          <a:xfrm>
            <a:off x="6797576" y="2052637"/>
            <a:ext cx="2698849" cy="104775"/>
          </a:xfrm>
          <a:prstGeom prst="rect">
            <a:avLst/>
          </a:prstGeom>
          <a:noFill/>
          <a:ln/>
        </p:spPr>
        <p:txBody>
          <a:bodyPr wrap="none" lIns="0" tIns="0" rIns="0" bIns="0" rtlCol="0" anchor="t"/>
          <a:lstStyle/>
          <a:p>
            <a:pPr marL="0" indent="0" algn="l">
              <a:lnSpc>
                <a:spcPts val="825"/>
              </a:lnSpc>
              <a:buNone/>
            </a:pPr>
            <a:r>
              <a:rPr lang="en-US" sz="585" b="1" kern="0" spc="120" dirty="0">
                <a:solidFill>
                  <a:srgbClr val="8C6239"/>
                </a:solidFill>
                <a:latin typeface="Quicksand" pitchFamily="34" charset="0"/>
              </a:rPr>
              <a:t>ACTIVE IN THE 2026 MARKET</a:t>
            </a:r>
            <a:endParaRPr lang="en-US" sz="585" dirty="0"/>
          </a:p>
        </p:txBody>
      </p:sp>
      <p:sp>
        <p:nvSpPr>
          <p:cNvPr id="85" name="Shape 84"/>
          <p:cNvSpPr/>
          <p:nvPr/>
        </p:nvSpPr>
        <p:spPr>
          <a:xfrm>
            <a:off x="6797576" y="2214563"/>
            <a:ext cx="606772" cy="161925"/>
          </a:xfrm>
          <a:prstGeom prst="rect">
            <a:avLst/>
          </a:prstGeom>
          <a:solidFill>
            <a:srgbClr val="FFFFFF"/>
          </a:solidFill>
          <a:ln/>
        </p:spPr>
        <p:txBody>
          <a:bodyPr/>
          <a:lstStyle/>
          <a:p>
            <a:endParaRPr lang="en-US"/>
          </a:p>
        </p:txBody>
      </p:sp>
      <p:sp>
        <p:nvSpPr>
          <p:cNvPr id="86" name="Shape 85"/>
          <p:cNvSpPr/>
          <p:nvPr/>
        </p:nvSpPr>
        <p:spPr>
          <a:xfrm>
            <a:off x="6802338" y="2219325"/>
            <a:ext cx="597247" cy="152400"/>
          </a:xfrm>
          <a:prstGeom prst="rect">
            <a:avLst/>
          </a:prstGeom>
          <a:ln w="9525">
            <a:solidFill>
              <a:srgbClr val="C3BDB6"/>
            </a:solidFill>
            <a:prstDash val="solid"/>
          </a:ln>
        </p:spPr>
        <p:txBody>
          <a:bodyPr/>
          <a:lstStyle/>
          <a:p>
            <a:endParaRPr lang="en-US"/>
          </a:p>
        </p:txBody>
      </p:sp>
      <p:sp>
        <p:nvSpPr>
          <p:cNvPr id="87" name="Text 86"/>
          <p:cNvSpPr txBox="1"/>
          <p:nvPr/>
        </p:nvSpPr>
        <p:spPr>
          <a:xfrm>
            <a:off x="6864251" y="2233613"/>
            <a:ext cx="530572" cy="114300"/>
          </a:xfrm>
          <a:prstGeom prst="rect">
            <a:avLst/>
          </a:prstGeom>
          <a:noFill/>
          <a:ln/>
        </p:spPr>
        <p:txBody>
          <a:bodyPr wrap="none" lIns="0" tIns="0" rIns="0" bIns="0" rtlCol="0" anchor="t"/>
          <a:lstStyle/>
          <a:p>
            <a:pPr marL="0" indent="0" algn="l">
              <a:lnSpc>
                <a:spcPts val="900"/>
              </a:lnSpc>
              <a:buNone/>
            </a:pPr>
            <a:r>
              <a:rPr lang="en-US" sz="660" kern="0" spc="15" dirty="0">
                <a:solidFill>
                  <a:srgbClr val="1B1A1A"/>
                </a:solidFill>
                <a:latin typeface="Quicksand" pitchFamily="34" charset="0"/>
              </a:rPr>
              <a:t>Rise Baking</a:t>
            </a:r>
            <a:endParaRPr lang="en-US" sz="660" dirty="0"/>
          </a:p>
        </p:txBody>
      </p:sp>
      <p:sp>
        <p:nvSpPr>
          <p:cNvPr id="88" name="Shape 87"/>
          <p:cNvSpPr/>
          <p:nvPr/>
        </p:nvSpPr>
        <p:spPr>
          <a:xfrm>
            <a:off x="7442448" y="2214563"/>
            <a:ext cx="1378148" cy="161925"/>
          </a:xfrm>
          <a:prstGeom prst="rect">
            <a:avLst/>
          </a:prstGeom>
          <a:solidFill>
            <a:srgbClr val="FFFFFF"/>
          </a:solidFill>
          <a:ln/>
        </p:spPr>
        <p:txBody>
          <a:bodyPr/>
          <a:lstStyle/>
          <a:p>
            <a:endParaRPr lang="en-US"/>
          </a:p>
        </p:txBody>
      </p:sp>
      <p:sp>
        <p:nvSpPr>
          <p:cNvPr id="89" name="Shape 88"/>
          <p:cNvSpPr/>
          <p:nvPr/>
        </p:nvSpPr>
        <p:spPr>
          <a:xfrm>
            <a:off x="7447211" y="2219325"/>
            <a:ext cx="1368623" cy="152400"/>
          </a:xfrm>
          <a:prstGeom prst="rect">
            <a:avLst/>
          </a:prstGeom>
          <a:ln w="9525">
            <a:solidFill>
              <a:srgbClr val="C3BDB6"/>
            </a:solidFill>
            <a:prstDash val="solid"/>
          </a:ln>
        </p:spPr>
        <p:txBody>
          <a:bodyPr/>
          <a:lstStyle/>
          <a:p>
            <a:endParaRPr lang="en-US"/>
          </a:p>
        </p:txBody>
      </p:sp>
      <p:sp>
        <p:nvSpPr>
          <p:cNvPr id="90" name="Text 89"/>
          <p:cNvSpPr txBox="1"/>
          <p:nvPr/>
        </p:nvSpPr>
        <p:spPr>
          <a:xfrm>
            <a:off x="7509123" y="2233613"/>
            <a:ext cx="1301948" cy="114300"/>
          </a:xfrm>
          <a:prstGeom prst="rect">
            <a:avLst/>
          </a:prstGeom>
          <a:noFill/>
          <a:ln/>
        </p:spPr>
        <p:txBody>
          <a:bodyPr wrap="none" lIns="0" tIns="0" rIns="0" bIns="0" rtlCol="0" anchor="t"/>
          <a:lstStyle/>
          <a:p>
            <a:pPr marL="0" indent="0" algn="l">
              <a:lnSpc>
                <a:spcPts val="900"/>
              </a:lnSpc>
              <a:buNone/>
            </a:pPr>
            <a:r>
              <a:rPr lang="en-US" sz="660" kern="0" spc="15" dirty="0">
                <a:solidFill>
                  <a:srgbClr val="1B1A1A"/>
                </a:solidFill>
                <a:latin typeface="Quicksand" pitchFamily="34" charset="0"/>
              </a:rPr>
              <a:t>Western Smokehouse Partners</a:t>
            </a:r>
            <a:endParaRPr lang="en-US" sz="660" dirty="0"/>
          </a:p>
        </p:txBody>
      </p:sp>
      <p:sp>
        <p:nvSpPr>
          <p:cNvPr id="91" name="Shape 90"/>
          <p:cNvSpPr/>
          <p:nvPr/>
        </p:nvSpPr>
        <p:spPr>
          <a:xfrm>
            <a:off x="6797576" y="2428875"/>
            <a:ext cx="622548" cy="161925"/>
          </a:xfrm>
          <a:prstGeom prst="rect">
            <a:avLst/>
          </a:prstGeom>
          <a:solidFill>
            <a:srgbClr val="FFFFFF"/>
          </a:solidFill>
          <a:ln/>
        </p:spPr>
        <p:txBody>
          <a:bodyPr/>
          <a:lstStyle/>
          <a:p>
            <a:endParaRPr lang="en-US"/>
          </a:p>
        </p:txBody>
      </p:sp>
      <p:sp>
        <p:nvSpPr>
          <p:cNvPr id="92" name="Shape 91"/>
          <p:cNvSpPr/>
          <p:nvPr/>
        </p:nvSpPr>
        <p:spPr>
          <a:xfrm>
            <a:off x="6802338" y="2433638"/>
            <a:ext cx="613023" cy="152400"/>
          </a:xfrm>
          <a:prstGeom prst="rect">
            <a:avLst/>
          </a:prstGeom>
          <a:ln w="9525">
            <a:solidFill>
              <a:srgbClr val="C3BDB6"/>
            </a:solidFill>
            <a:prstDash val="solid"/>
          </a:ln>
        </p:spPr>
        <p:txBody>
          <a:bodyPr/>
          <a:lstStyle/>
          <a:p>
            <a:endParaRPr lang="en-US"/>
          </a:p>
        </p:txBody>
      </p:sp>
      <p:sp>
        <p:nvSpPr>
          <p:cNvPr id="93" name="Text 92"/>
          <p:cNvSpPr txBox="1"/>
          <p:nvPr/>
        </p:nvSpPr>
        <p:spPr>
          <a:xfrm>
            <a:off x="6864251" y="2447925"/>
            <a:ext cx="546348" cy="114300"/>
          </a:xfrm>
          <a:prstGeom prst="rect">
            <a:avLst/>
          </a:prstGeom>
          <a:noFill/>
          <a:ln/>
        </p:spPr>
        <p:txBody>
          <a:bodyPr wrap="none" lIns="0" tIns="0" rIns="0" bIns="0" rtlCol="0" anchor="t"/>
          <a:lstStyle/>
          <a:p>
            <a:pPr marL="0" indent="0" algn="l">
              <a:lnSpc>
                <a:spcPts val="900"/>
              </a:lnSpc>
              <a:buNone/>
            </a:pPr>
            <a:r>
              <a:rPr lang="en-US" sz="660" kern="0" spc="15" dirty="0">
                <a:solidFill>
                  <a:srgbClr val="1B1A1A"/>
                </a:solidFill>
                <a:latin typeface="Quicksand" pitchFamily="34" charset="0"/>
              </a:rPr>
              <a:t>El Car Wash</a:t>
            </a:r>
            <a:endParaRPr lang="en-US" sz="660" dirty="0"/>
          </a:p>
        </p:txBody>
      </p:sp>
      <p:sp>
        <p:nvSpPr>
          <p:cNvPr id="94" name="Shape 93"/>
          <p:cNvSpPr/>
          <p:nvPr/>
        </p:nvSpPr>
        <p:spPr>
          <a:xfrm>
            <a:off x="7458224" y="2428875"/>
            <a:ext cx="977057" cy="161925"/>
          </a:xfrm>
          <a:prstGeom prst="rect">
            <a:avLst/>
          </a:prstGeom>
          <a:solidFill>
            <a:srgbClr val="FFFFFF"/>
          </a:solidFill>
          <a:ln/>
        </p:spPr>
        <p:txBody>
          <a:bodyPr/>
          <a:lstStyle/>
          <a:p>
            <a:endParaRPr lang="en-US"/>
          </a:p>
        </p:txBody>
      </p:sp>
      <p:sp>
        <p:nvSpPr>
          <p:cNvPr id="95" name="Shape 94"/>
          <p:cNvSpPr/>
          <p:nvPr/>
        </p:nvSpPr>
        <p:spPr>
          <a:xfrm>
            <a:off x="7462986" y="2433638"/>
            <a:ext cx="967532" cy="152400"/>
          </a:xfrm>
          <a:prstGeom prst="rect">
            <a:avLst/>
          </a:prstGeom>
          <a:ln w="9525">
            <a:solidFill>
              <a:srgbClr val="C3BDB6"/>
            </a:solidFill>
            <a:prstDash val="solid"/>
          </a:ln>
        </p:spPr>
        <p:txBody>
          <a:bodyPr/>
          <a:lstStyle/>
          <a:p>
            <a:endParaRPr lang="en-US"/>
          </a:p>
        </p:txBody>
      </p:sp>
      <p:sp>
        <p:nvSpPr>
          <p:cNvPr id="96" name="Text 95"/>
          <p:cNvSpPr txBox="1"/>
          <p:nvPr/>
        </p:nvSpPr>
        <p:spPr>
          <a:xfrm>
            <a:off x="7524899" y="2447925"/>
            <a:ext cx="900857" cy="114300"/>
          </a:xfrm>
          <a:prstGeom prst="rect">
            <a:avLst/>
          </a:prstGeom>
          <a:noFill/>
          <a:ln/>
        </p:spPr>
        <p:txBody>
          <a:bodyPr wrap="none" lIns="0" tIns="0" rIns="0" bIns="0" rtlCol="0" anchor="t"/>
          <a:lstStyle/>
          <a:p>
            <a:pPr marL="0" indent="0" algn="l">
              <a:lnSpc>
                <a:spcPts val="900"/>
              </a:lnSpc>
              <a:buNone/>
            </a:pPr>
            <a:r>
              <a:rPr lang="en-US" sz="660" kern="0" spc="15" dirty="0">
                <a:solidFill>
                  <a:srgbClr val="1B1A1A"/>
                </a:solidFill>
                <a:latin typeface="Quicksand" pitchFamily="34" charset="0"/>
              </a:rPr>
              <a:t>Tidal Wave Auto Spa</a:t>
            </a:r>
            <a:endParaRPr lang="en-US" sz="660" dirty="0"/>
          </a:p>
        </p:txBody>
      </p:sp>
      <p:sp>
        <p:nvSpPr>
          <p:cNvPr id="97" name="Shape 96"/>
          <p:cNvSpPr/>
          <p:nvPr/>
        </p:nvSpPr>
        <p:spPr>
          <a:xfrm>
            <a:off x="8473380" y="2428875"/>
            <a:ext cx="419844" cy="161925"/>
          </a:xfrm>
          <a:prstGeom prst="rect">
            <a:avLst/>
          </a:prstGeom>
          <a:solidFill>
            <a:srgbClr val="FFFFFF"/>
          </a:solidFill>
          <a:ln/>
        </p:spPr>
        <p:txBody>
          <a:bodyPr/>
          <a:lstStyle/>
          <a:p>
            <a:endParaRPr lang="en-US"/>
          </a:p>
        </p:txBody>
      </p:sp>
      <p:sp>
        <p:nvSpPr>
          <p:cNvPr id="98" name="Shape 97"/>
          <p:cNvSpPr/>
          <p:nvPr/>
        </p:nvSpPr>
        <p:spPr>
          <a:xfrm>
            <a:off x="8478143" y="2433638"/>
            <a:ext cx="410319" cy="152400"/>
          </a:xfrm>
          <a:prstGeom prst="rect">
            <a:avLst/>
          </a:prstGeom>
          <a:ln w="9525">
            <a:solidFill>
              <a:srgbClr val="C3BDB6"/>
            </a:solidFill>
            <a:prstDash val="solid"/>
          </a:ln>
        </p:spPr>
        <p:txBody>
          <a:bodyPr/>
          <a:lstStyle/>
          <a:p>
            <a:endParaRPr lang="en-US"/>
          </a:p>
        </p:txBody>
      </p:sp>
      <p:sp>
        <p:nvSpPr>
          <p:cNvPr id="99" name="Text 98"/>
          <p:cNvSpPr txBox="1"/>
          <p:nvPr/>
        </p:nvSpPr>
        <p:spPr>
          <a:xfrm>
            <a:off x="8540055" y="2447925"/>
            <a:ext cx="343644" cy="114300"/>
          </a:xfrm>
          <a:prstGeom prst="rect">
            <a:avLst/>
          </a:prstGeom>
          <a:noFill/>
          <a:ln/>
        </p:spPr>
        <p:txBody>
          <a:bodyPr wrap="none" lIns="0" tIns="0" rIns="0" bIns="0" rtlCol="0" anchor="t"/>
          <a:lstStyle/>
          <a:p>
            <a:pPr marL="0" indent="0" algn="l">
              <a:lnSpc>
                <a:spcPts val="900"/>
              </a:lnSpc>
              <a:buNone/>
            </a:pPr>
            <a:r>
              <a:rPr lang="en-US" sz="660" kern="0" spc="15" dirty="0">
                <a:solidFill>
                  <a:srgbClr val="1B1A1A"/>
                </a:solidFill>
                <a:latin typeface="Quicksand" pitchFamily="34" charset="0"/>
              </a:rPr>
              <a:t>Caliber</a:t>
            </a:r>
            <a:endParaRPr lang="en-US" sz="660" dirty="0"/>
          </a:p>
        </p:txBody>
      </p:sp>
      <p:sp>
        <p:nvSpPr>
          <p:cNvPr id="100" name="Shape 99"/>
          <p:cNvSpPr/>
          <p:nvPr/>
        </p:nvSpPr>
        <p:spPr>
          <a:xfrm>
            <a:off x="6797576" y="2643188"/>
            <a:ext cx="850255" cy="161925"/>
          </a:xfrm>
          <a:prstGeom prst="rect">
            <a:avLst/>
          </a:prstGeom>
          <a:solidFill>
            <a:srgbClr val="FFFFFF"/>
          </a:solidFill>
          <a:ln/>
        </p:spPr>
        <p:txBody>
          <a:bodyPr/>
          <a:lstStyle/>
          <a:p>
            <a:endParaRPr lang="en-US"/>
          </a:p>
        </p:txBody>
      </p:sp>
      <p:sp>
        <p:nvSpPr>
          <p:cNvPr id="101" name="Shape 100"/>
          <p:cNvSpPr/>
          <p:nvPr/>
        </p:nvSpPr>
        <p:spPr>
          <a:xfrm>
            <a:off x="6802338" y="2647950"/>
            <a:ext cx="840730" cy="152400"/>
          </a:xfrm>
          <a:prstGeom prst="rect">
            <a:avLst/>
          </a:prstGeom>
          <a:ln w="9525">
            <a:solidFill>
              <a:srgbClr val="C3BDB6"/>
            </a:solidFill>
            <a:prstDash val="solid"/>
          </a:ln>
        </p:spPr>
        <p:txBody>
          <a:bodyPr/>
          <a:lstStyle/>
          <a:p>
            <a:endParaRPr lang="en-US"/>
          </a:p>
        </p:txBody>
      </p:sp>
      <p:sp>
        <p:nvSpPr>
          <p:cNvPr id="102" name="Text 101"/>
          <p:cNvSpPr txBox="1"/>
          <p:nvPr/>
        </p:nvSpPr>
        <p:spPr>
          <a:xfrm>
            <a:off x="6864251" y="2662238"/>
            <a:ext cx="774055" cy="114300"/>
          </a:xfrm>
          <a:prstGeom prst="rect">
            <a:avLst/>
          </a:prstGeom>
          <a:noFill/>
          <a:ln/>
        </p:spPr>
        <p:txBody>
          <a:bodyPr wrap="none" lIns="0" tIns="0" rIns="0" bIns="0" rtlCol="0" anchor="t"/>
          <a:lstStyle/>
          <a:p>
            <a:pPr marL="0" indent="0" algn="l">
              <a:lnSpc>
                <a:spcPts val="900"/>
              </a:lnSpc>
              <a:buNone/>
            </a:pPr>
            <a:r>
              <a:rPr lang="en-US" sz="660" kern="0" spc="15" dirty="0">
                <a:solidFill>
                  <a:srgbClr val="1B1A1A"/>
                </a:solidFill>
                <a:latin typeface="Quicksand" pitchFamily="34" charset="0"/>
              </a:rPr>
              <a:t>Ridgeline Roofing</a:t>
            </a:r>
            <a:endParaRPr lang="en-US" sz="660" dirty="0"/>
          </a:p>
        </p:txBody>
      </p:sp>
      <p:sp>
        <p:nvSpPr>
          <p:cNvPr id="103" name="Shape 102"/>
          <p:cNvSpPr/>
          <p:nvPr/>
        </p:nvSpPr>
        <p:spPr>
          <a:xfrm>
            <a:off x="7685931" y="2643188"/>
            <a:ext cx="674489" cy="161925"/>
          </a:xfrm>
          <a:prstGeom prst="rect">
            <a:avLst/>
          </a:prstGeom>
          <a:solidFill>
            <a:srgbClr val="FFFFFF"/>
          </a:solidFill>
          <a:ln/>
        </p:spPr>
        <p:txBody>
          <a:bodyPr/>
          <a:lstStyle/>
          <a:p>
            <a:endParaRPr lang="en-US"/>
          </a:p>
        </p:txBody>
      </p:sp>
      <p:sp>
        <p:nvSpPr>
          <p:cNvPr id="104" name="Shape 103"/>
          <p:cNvSpPr/>
          <p:nvPr/>
        </p:nvSpPr>
        <p:spPr>
          <a:xfrm>
            <a:off x="7690693" y="2647950"/>
            <a:ext cx="664964" cy="152400"/>
          </a:xfrm>
          <a:prstGeom prst="rect">
            <a:avLst/>
          </a:prstGeom>
          <a:ln w="9525">
            <a:solidFill>
              <a:srgbClr val="C3BDB6"/>
            </a:solidFill>
            <a:prstDash val="solid"/>
          </a:ln>
        </p:spPr>
        <p:txBody>
          <a:bodyPr/>
          <a:lstStyle/>
          <a:p>
            <a:endParaRPr lang="en-US"/>
          </a:p>
        </p:txBody>
      </p:sp>
      <p:sp>
        <p:nvSpPr>
          <p:cNvPr id="105" name="Text 104"/>
          <p:cNvSpPr txBox="1"/>
          <p:nvPr/>
        </p:nvSpPr>
        <p:spPr>
          <a:xfrm>
            <a:off x="7752606" y="2662238"/>
            <a:ext cx="598289" cy="114300"/>
          </a:xfrm>
          <a:prstGeom prst="rect">
            <a:avLst/>
          </a:prstGeom>
          <a:noFill/>
          <a:ln/>
        </p:spPr>
        <p:txBody>
          <a:bodyPr wrap="none" lIns="0" tIns="0" rIns="0" bIns="0" rtlCol="0" anchor="t"/>
          <a:lstStyle/>
          <a:p>
            <a:pPr marL="0" indent="0" algn="l">
              <a:lnSpc>
                <a:spcPts val="900"/>
              </a:lnSpc>
              <a:buNone/>
            </a:pPr>
            <a:r>
              <a:rPr lang="en-US" sz="660" kern="0" spc="15" dirty="0">
                <a:solidFill>
                  <a:srgbClr val="1B1A1A"/>
                </a:solidFill>
                <a:latin typeface="Quicksand" pitchFamily="34" charset="0"/>
              </a:rPr>
              <a:t>SPS PoolCare</a:t>
            </a:r>
            <a:endParaRPr lang="en-US" sz="660" dirty="0"/>
          </a:p>
        </p:txBody>
      </p:sp>
      <p:sp>
        <p:nvSpPr>
          <p:cNvPr id="106" name="Shape 105"/>
          <p:cNvSpPr/>
          <p:nvPr/>
        </p:nvSpPr>
        <p:spPr>
          <a:xfrm>
            <a:off x="6797576" y="2857500"/>
            <a:ext cx="1319659" cy="161925"/>
          </a:xfrm>
          <a:prstGeom prst="rect">
            <a:avLst/>
          </a:prstGeom>
          <a:solidFill>
            <a:srgbClr val="FFFFFF"/>
          </a:solidFill>
          <a:ln/>
        </p:spPr>
        <p:txBody>
          <a:bodyPr/>
          <a:lstStyle/>
          <a:p>
            <a:endParaRPr lang="en-US"/>
          </a:p>
        </p:txBody>
      </p:sp>
      <p:sp>
        <p:nvSpPr>
          <p:cNvPr id="107" name="Shape 106"/>
          <p:cNvSpPr/>
          <p:nvPr/>
        </p:nvSpPr>
        <p:spPr>
          <a:xfrm>
            <a:off x="6802338" y="2862263"/>
            <a:ext cx="1310134" cy="152400"/>
          </a:xfrm>
          <a:prstGeom prst="rect">
            <a:avLst/>
          </a:prstGeom>
          <a:ln w="9525">
            <a:solidFill>
              <a:srgbClr val="C3BDB6"/>
            </a:solidFill>
            <a:prstDash val="solid"/>
          </a:ln>
        </p:spPr>
        <p:txBody>
          <a:bodyPr/>
          <a:lstStyle/>
          <a:p>
            <a:endParaRPr lang="en-US"/>
          </a:p>
        </p:txBody>
      </p:sp>
      <p:sp>
        <p:nvSpPr>
          <p:cNvPr id="108" name="Text 107"/>
          <p:cNvSpPr txBox="1"/>
          <p:nvPr/>
        </p:nvSpPr>
        <p:spPr>
          <a:xfrm>
            <a:off x="6864251" y="2876550"/>
            <a:ext cx="1243459" cy="114300"/>
          </a:xfrm>
          <a:prstGeom prst="rect">
            <a:avLst/>
          </a:prstGeom>
          <a:noFill/>
          <a:ln/>
        </p:spPr>
        <p:txBody>
          <a:bodyPr wrap="none" lIns="0" tIns="0" rIns="0" bIns="0" rtlCol="0" anchor="t"/>
          <a:lstStyle/>
          <a:p>
            <a:pPr marL="0" indent="0" algn="l">
              <a:lnSpc>
                <a:spcPts val="900"/>
              </a:lnSpc>
              <a:buNone/>
            </a:pPr>
            <a:r>
              <a:rPr lang="en-US" sz="660" kern="0" spc="15" dirty="0">
                <a:solidFill>
                  <a:srgbClr val="1B1A1A"/>
                </a:solidFill>
                <a:latin typeface="Quicksand" pitchFamily="34" charset="0"/>
              </a:rPr>
              <a:t>Five Star Breaktime Solutions</a:t>
            </a:r>
            <a:endParaRPr lang="en-US" sz="660" dirty="0"/>
          </a:p>
        </p:txBody>
      </p:sp>
      <p:sp>
        <p:nvSpPr>
          <p:cNvPr id="109" name="Text 108"/>
          <p:cNvSpPr txBox="1"/>
          <p:nvPr/>
        </p:nvSpPr>
        <p:spPr>
          <a:xfrm>
            <a:off x="6797576" y="3071813"/>
            <a:ext cx="2698849" cy="104775"/>
          </a:xfrm>
          <a:prstGeom prst="rect">
            <a:avLst/>
          </a:prstGeom>
          <a:noFill/>
          <a:ln/>
        </p:spPr>
        <p:txBody>
          <a:bodyPr wrap="none" lIns="0" tIns="0" rIns="0" bIns="0" rtlCol="0" anchor="t"/>
          <a:lstStyle/>
          <a:p>
            <a:pPr marL="0" indent="0" algn="l">
              <a:lnSpc>
                <a:spcPts val="825"/>
              </a:lnSpc>
              <a:buNone/>
            </a:pPr>
            <a:r>
              <a:rPr lang="en-US" sz="585" b="1" kern="0" spc="120" dirty="0">
                <a:solidFill>
                  <a:srgbClr val="8C6239"/>
                </a:solidFill>
                <a:latin typeface="Quicksand" pitchFamily="34" charset="0"/>
              </a:rPr>
              <a:t>ACQUIRERS OF BENCHMARK INTERNATIONAL CLIENTS</a:t>
            </a:r>
            <a:endParaRPr lang="en-US" sz="585" dirty="0"/>
          </a:p>
        </p:txBody>
      </p:sp>
      <p:sp>
        <p:nvSpPr>
          <p:cNvPr id="110" name="Shape 109"/>
          <p:cNvSpPr/>
          <p:nvPr/>
        </p:nvSpPr>
        <p:spPr>
          <a:xfrm>
            <a:off x="6797576" y="3243263"/>
            <a:ext cx="752326" cy="142875"/>
          </a:xfrm>
          <a:prstGeom prst="rect">
            <a:avLst/>
          </a:prstGeom>
          <a:solidFill>
            <a:srgbClr val="1B1A1A"/>
          </a:solidFill>
          <a:ln/>
        </p:spPr>
        <p:txBody>
          <a:bodyPr/>
          <a:lstStyle/>
          <a:p>
            <a:endParaRPr lang="en-US"/>
          </a:p>
        </p:txBody>
      </p:sp>
      <p:sp>
        <p:nvSpPr>
          <p:cNvPr id="111" name="Text 110"/>
          <p:cNvSpPr txBox="1"/>
          <p:nvPr/>
        </p:nvSpPr>
        <p:spPr>
          <a:xfrm>
            <a:off x="6854726" y="3252788"/>
            <a:ext cx="695176" cy="114300"/>
          </a:xfrm>
          <a:prstGeom prst="rect">
            <a:avLst/>
          </a:prstGeom>
          <a:noFill/>
          <a:ln/>
        </p:spPr>
        <p:txBody>
          <a:bodyPr wrap="none" lIns="0" tIns="0" rIns="0" bIns="0" rtlCol="0" anchor="t"/>
          <a:lstStyle/>
          <a:p>
            <a:pPr marL="0" indent="0" algn="l">
              <a:lnSpc>
                <a:spcPts val="900"/>
              </a:lnSpc>
              <a:buNone/>
            </a:pPr>
            <a:r>
              <a:rPr lang="en-US" sz="660" kern="0" spc="15" dirty="0">
                <a:solidFill>
                  <a:srgbClr val="FFFFFF"/>
                </a:solidFill>
                <a:latin typeface="Quicksand" pitchFamily="34" charset="0"/>
              </a:rPr>
              <a:t>Classic Collision</a:t>
            </a:r>
            <a:endParaRPr lang="en-US" sz="660" dirty="0"/>
          </a:p>
        </p:txBody>
      </p:sp>
      <p:sp>
        <p:nvSpPr>
          <p:cNvPr id="112" name="Shape 111"/>
          <p:cNvSpPr/>
          <p:nvPr/>
        </p:nvSpPr>
        <p:spPr>
          <a:xfrm>
            <a:off x="7588002" y="3243263"/>
            <a:ext cx="1231553" cy="142875"/>
          </a:xfrm>
          <a:prstGeom prst="rect">
            <a:avLst/>
          </a:prstGeom>
          <a:solidFill>
            <a:srgbClr val="1B1A1A"/>
          </a:solidFill>
          <a:ln/>
        </p:spPr>
        <p:txBody>
          <a:bodyPr/>
          <a:lstStyle/>
          <a:p>
            <a:endParaRPr lang="en-US"/>
          </a:p>
        </p:txBody>
      </p:sp>
      <p:sp>
        <p:nvSpPr>
          <p:cNvPr id="113" name="Text 112"/>
          <p:cNvSpPr txBox="1"/>
          <p:nvPr/>
        </p:nvSpPr>
        <p:spPr>
          <a:xfrm>
            <a:off x="7645152" y="3252788"/>
            <a:ext cx="1174403" cy="114300"/>
          </a:xfrm>
          <a:prstGeom prst="rect">
            <a:avLst/>
          </a:prstGeom>
          <a:noFill/>
          <a:ln/>
        </p:spPr>
        <p:txBody>
          <a:bodyPr wrap="none" lIns="0" tIns="0" rIns="0" bIns="0" rtlCol="0" anchor="t"/>
          <a:lstStyle/>
          <a:p>
            <a:pPr marL="0" indent="0" algn="l">
              <a:lnSpc>
                <a:spcPts val="900"/>
              </a:lnSpc>
              <a:buNone/>
            </a:pPr>
            <a:r>
              <a:rPr lang="en-US" sz="660" kern="0" spc="15" dirty="0">
                <a:solidFill>
                  <a:srgbClr val="FFFFFF"/>
                </a:solidFill>
                <a:latin typeface="Quicksand" pitchFamily="34" charset="0"/>
              </a:rPr>
              <a:t>A.S.A.P. Garage Door Repair</a:t>
            </a:r>
            <a:endParaRPr lang="en-US" sz="660" dirty="0"/>
          </a:p>
        </p:txBody>
      </p:sp>
      <p:sp>
        <p:nvSpPr>
          <p:cNvPr id="114" name="Shape 113"/>
          <p:cNvSpPr/>
          <p:nvPr/>
        </p:nvSpPr>
        <p:spPr>
          <a:xfrm>
            <a:off x="6797576" y="3448050"/>
            <a:ext cx="1046857" cy="142875"/>
          </a:xfrm>
          <a:prstGeom prst="rect">
            <a:avLst/>
          </a:prstGeom>
          <a:solidFill>
            <a:srgbClr val="1B1A1A"/>
          </a:solidFill>
          <a:ln/>
        </p:spPr>
        <p:txBody>
          <a:bodyPr/>
          <a:lstStyle/>
          <a:p>
            <a:endParaRPr lang="en-US"/>
          </a:p>
        </p:txBody>
      </p:sp>
      <p:sp>
        <p:nvSpPr>
          <p:cNvPr id="115" name="Text 114"/>
          <p:cNvSpPr txBox="1"/>
          <p:nvPr/>
        </p:nvSpPr>
        <p:spPr>
          <a:xfrm>
            <a:off x="6854726" y="3457575"/>
            <a:ext cx="989707" cy="114300"/>
          </a:xfrm>
          <a:prstGeom prst="rect">
            <a:avLst/>
          </a:prstGeom>
          <a:noFill/>
          <a:ln/>
        </p:spPr>
        <p:txBody>
          <a:bodyPr wrap="none" lIns="0" tIns="0" rIns="0" bIns="0" rtlCol="0" anchor="t"/>
          <a:lstStyle/>
          <a:p>
            <a:pPr marL="0" indent="0" algn="l">
              <a:lnSpc>
                <a:spcPts val="900"/>
              </a:lnSpc>
              <a:buNone/>
            </a:pPr>
            <a:r>
              <a:rPr lang="en-US" sz="660" kern="0" spc="15" dirty="0">
                <a:solidFill>
                  <a:srgbClr val="FFFFFF"/>
                </a:solidFill>
                <a:latin typeface="Quicksand" pitchFamily="34" charset="0"/>
              </a:rPr>
              <a:t>Allied Roofing Partners</a:t>
            </a:r>
            <a:endParaRPr lang="en-US" sz="660" dirty="0"/>
          </a:p>
        </p:txBody>
      </p:sp>
      <p:sp>
        <p:nvSpPr>
          <p:cNvPr id="116" name="Shape 115"/>
          <p:cNvSpPr/>
          <p:nvPr/>
        </p:nvSpPr>
        <p:spPr>
          <a:xfrm>
            <a:off x="7882533" y="3448050"/>
            <a:ext cx="1092101" cy="142875"/>
          </a:xfrm>
          <a:prstGeom prst="rect">
            <a:avLst/>
          </a:prstGeom>
          <a:solidFill>
            <a:srgbClr val="1B1A1A"/>
          </a:solidFill>
          <a:ln/>
        </p:spPr>
        <p:txBody>
          <a:bodyPr/>
          <a:lstStyle/>
          <a:p>
            <a:endParaRPr lang="en-US"/>
          </a:p>
        </p:txBody>
      </p:sp>
      <p:sp>
        <p:nvSpPr>
          <p:cNvPr id="117" name="Text 116"/>
          <p:cNvSpPr txBox="1"/>
          <p:nvPr/>
        </p:nvSpPr>
        <p:spPr>
          <a:xfrm>
            <a:off x="7939683" y="3457575"/>
            <a:ext cx="1034951" cy="114300"/>
          </a:xfrm>
          <a:prstGeom prst="rect">
            <a:avLst/>
          </a:prstGeom>
          <a:noFill/>
          <a:ln/>
        </p:spPr>
        <p:txBody>
          <a:bodyPr wrap="none" lIns="0" tIns="0" rIns="0" bIns="0" rtlCol="0" anchor="t"/>
          <a:lstStyle/>
          <a:p>
            <a:pPr marL="0" indent="0" algn="l">
              <a:lnSpc>
                <a:spcPts val="900"/>
              </a:lnSpc>
              <a:buNone/>
            </a:pPr>
            <a:r>
              <a:rPr lang="en-US" sz="660" kern="0" spc="15" dirty="0">
                <a:solidFill>
                  <a:srgbClr val="FFFFFF"/>
                </a:solidFill>
                <a:latin typeface="Quicksand" pitchFamily="34" charset="0"/>
              </a:rPr>
              <a:t>Thomasville Restoration</a:t>
            </a:r>
            <a:endParaRPr lang="en-US" sz="660" dirty="0"/>
          </a:p>
        </p:txBody>
      </p:sp>
      <p:sp>
        <p:nvSpPr>
          <p:cNvPr id="118" name="Shape 117"/>
          <p:cNvSpPr/>
          <p:nvPr/>
        </p:nvSpPr>
        <p:spPr>
          <a:xfrm>
            <a:off x="6797576" y="3652838"/>
            <a:ext cx="1228130" cy="142875"/>
          </a:xfrm>
          <a:prstGeom prst="rect">
            <a:avLst/>
          </a:prstGeom>
          <a:solidFill>
            <a:srgbClr val="1B1A1A"/>
          </a:solidFill>
          <a:ln/>
        </p:spPr>
        <p:txBody>
          <a:bodyPr/>
          <a:lstStyle/>
          <a:p>
            <a:endParaRPr lang="en-US"/>
          </a:p>
        </p:txBody>
      </p:sp>
      <p:sp>
        <p:nvSpPr>
          <p:cNvPr id="119" name="Text 118"/>
          <p:cNvSpPr txBox="1"/>
          <p:nvPr/>
        </p:nvSpPr>
        <p:spPr>
          <a:xfrm>
            <a:off x="6854726" y="3662362"/>
            <a:ext cx="1170980" cy="114300"/>
          </a:xfrm>
          <a:prstGeom prst="rect">
            <a:avLst/>
          </a:prstGeom>
          <a:noFill/>
          <a:ln/>
        </p:spPr>
        <p:txBody>
          <a:bodyPr wrap="none" lIns="0" tIns="0" rIns="0" bIns="0" rtlCol="0" anchor="t"/>
          <a:lstStyle/>
          <a:p>
            <a:pPr marL="0" indent="0" algn="l">
              <a:lnSpc>
                <a:spcPts val="900"/>
              </a:lnSpc>
              <a:buNone/>
            </a:pPr>
            <a:r>
              <a:rPr lang="en-US" sz="660" kern="0" spc="15" dirty="0">
                <a:solidFill>
                  <a:srgbClr val="FFFFFF"/>
                </a:solidFill>
                <a:latin typeface="Quicksand" pitchFamily="34" charset="0"/>
              </a:rPr>
              <a:t>Elevate Youth Development</a:t>
            </a:r>
            <a:endParaRPr lang="en-US" sz="660" dirty="0"/>
          </a:p>
        </p:txBody>
      </p:sp>
      <p:sp>
        <p:nvSpPr>
          <p:cNvPr id="120" name="Shape 119"/>
          <p:cNvSpPr/>
          <p:nvPr/>
        </p:nvSpPr>
        <p:spPr>
          <a:xfrm>
            <a:off x="8063805" y="3652838"/>
            <a:ext cx="1219646" cy="142875"/>
          </a:xfrm>
          <a:prstGeom prst="rect">
            <a:avLst/>
          </a:prstGeom>
          <a:solidFill>
            <a:srgbClr val="1B1A1A"/>
          </a:solidFill>
          <a:ln/>
        </p:spPr>
        <p:txBody>
          <a:bodyPr/>
          <a:lstStyle/>
          <a:p>
            <a:endParaRPr lang="en-US"/>
          </a:p>
        </p:txBody>
      </p:sp>
      <p:sp>
        <p:nvSpPr>
          <p:cNvPr id="121" name="Text 120"/>
          <p:cNvSpPr txBox="1"/>
          <p:nvPr/>
        </p:nvSpPr>
        <p:spPr>
          <a:xfrm>
            <a:off x="8120955" y="3662362"/>
            <a:ext cx="1162496" cy="114300"/>
          </a:xfrm>
          <a:prstGeom prst="rect">
            <a:avLst/>
          </a:prstGeom>
          <a:noFill/>
          <a:ln/>
        </p:spPr>
        <p:txBody>
          <a:bodyPr wrap="none" lIns="0" tIns="0" rIns="0" bIns="0" rtlCol="0" anchor="t"/>
          <a:lstStyle/>
          <a:p>
            <a:pPr marL="0" indent="0" algn="l">
              <a:lnSpc>
                <a:spcPts val="900"/>
              </a:lnSpc>
              <a:buNone/>
            </a:pPr>
            <a:r>
              <a:rPr lang="en-US" sz="660" kern="0" spc="15" dirty="0">
                <a:solidFill>
                  <a:srgbClr val="FFFFFF"/>
                </a:solidFill>
                <a:latin typeface="Quicksand" pitchFamily="34" charset="0"/>
              </a:rPr>
              <a:t>Market Performance Group</a:t>
            </a:r>
            <a:endParaRPr lang="en-US" sz="660" dirty="0"/>
          </a:p>
        </p:txBody>
      </p:sp>
      <p:sp>
        <p:nvSpPr>
          <p:cNvPr id="122" name="Shape 121"/>
          <p:cNvSpPr/>
          <p:nvPr/>
        </p:nvSpPr>
        <p:spPr>
          <a:xfrm>
            <a:off x="6797576" y="3857625"/>
            <a:ext cx="1358652" cy="142875"/>
          </a:xfrm>
          <a:prstGeom prst="rect">
            <a:avLst/>
          </a:prstGeom>
          <a:solidFill>
            <a:srgbClr val="1B1A1A"/>
          </a:solidFill>
          <a:ln/>
        </p:spPr>
        <p:txBody>
          <a:bodyPr/>
          <a:lstStyle/>
          <a:p>
            <a:endParaRPr lang="en-US"/>
          </a:p>
        </p:txBody>
      </p:sp>
      <p:sp>
        <p:nvSpPr>
          <p:cNvPr id="123" name="Text 122"/>
          <p:cNvSpPr txBox="1"/>
          <p:nvPr/>
        </p:nvSpPr>
        <p:spPr>
          <a:xfrm>
            <a:off x="6854726" y="3867150"/>
            <a:ext cx="1301502" cy="114300"/>
          </a:xfrm>
          <a:prstGeom prst="rect">
            <a:avLst/>
          </a:prstGeom>
          <a:noFill/>
          <a:ln/>
        </p:spPr>
        <p:txBody>
          <a:bodyPr wrap="none" lIns="0" tIns="0" rIns="0" bIns="0" rtlCol="0" anchor="t"/>
          <a:lstStyle/>
          <a:p>
            <a:pPr marL="0" indent="0" algn="l">
              <a:lnSpc>
                <a:spcPts val="900"/>
              </a:lnSpc>
              <a:buNone/>
            </a:pPr>
            <a:r>
              <a:rPr lang="en-US" sz="660" kern="0" spc="15" dirty="0">
                <a:solidFill>
                  <a:srgbClr val="FFFFFF"/>
                </a:solidFill>
                <a:latin typeface="Quicksand" pitchFamily="34" charset="0"/>
              </a:rPr>
              <a:t>Diversified Foodservice Supply</a:t>
            </a:r>
            <a:endParaRPr lang="en-US" sz="660" dirty="0"/>
          </a:p>
        </p:txBody>
      </p:sp>
      <p:sp>
        <p:nvSpPr>
          <p:cNvPr id="124" name="Shape 123"/>
          <p:cNvSpPr/>
          <p:nvPr/>
        </p:nvSpPr>
        <p:spPr>
          <a:xfrm>
            <a:off x="419100" y="4143375"/>
            <a:ext cx="2984450" cy="2790825"/>
          </a:xfrm>
          <a:prstGeom prst="rect">
            <a:avLst/>
          </a:prstGeom>
          <a:solidFill>
            <a:srgbClr val="FAF7F3"/>
          </a:solidFill>
          <a:ln/>
        </p:spPr>
        <p:txBody>
          <a:bodyPr/>
          <a:lstStyle/>
          <a:p>
            <a:endParaRPr lang="en-US"/>
          </a:p>
        </p:txBody>
      </p:sp>
      <p:sp>
        <p:nvSpPr>
          <p:cNvPr id="125" name="Shape 124"/>
          <p:cNvSpPr/>
          <p:nvPr/>
        </p:nvSpPr>
        <p:spPr>
          <a:xfrm>
            <a:off x="419100" y="4143375"/>
            <a:ext cx="2984450" cy="28575"/>
          </a:xfrm>
          <a:prstGeom prst="rect">
            <a:avLst/>
          </a:prstGeom>
          <a:solidFill>
            <a:srgbClr val="B68757"/>
          </a:solidFill>
          <a:ln/>
        </p:spPr>
        <p:txBody>
          <a:bodyPr/>
          <a:lstStyle/>
          <a:p>
            <a:endParaRPr lang="en-US"/>
          </a:p>
        </p:txBody>
      </p:sp>
      <p:sp>
        <p:nvSpPr>
          <p:cNvPr id="126" name="Dot 125"/>
          <p:cNvSpPr/>
          <p:nvPr/>
        </p:nvSpPr>
        <p:spPr>
          <a:xfrm>
            <a:off x="561975" y="4267200"/>
            <a:ext cx="304800" cy="304800"/>
          </a:xfrm>
          <a:prstGeom prst="ellipse">
            <a:avLst/>
          </a:prstGeom>
          <a:solidFill>
            <a:srgbClr val="1B1A1A"/>
          </a:solidFill>
          <a:ln/>
        </p:spPr>
        <p:txBody>
          <a:bodyPr/>
          <a:lstStyle/>
          <a:p>
            <a:endParaRPr lang="en-US"/>
          </a:p>
        </p:txBody>
      </p:sp>
      <p:pic>
        <p:nvPicPr>
          <p:cNvPr id="127" name="Icon" descr="/tmp/claude-0/-home-claude-about/4bef2f41-4227-5ff7-ab18-11ac74cd9797/scratchpad/pptx/ex/media/d991b288196b.png"/>
          <p:cNvPicPr>
            <a:picLocks noChangeAspect="1"/>
          </p:cNvPicPr>
          <p:nvPr/>
        </p:nvPicPr>
        <p:blipFill>
          <a:blip r:embed="rId6"/>
          <a:stretch>
            <a:fillRect/>
          </a:stretch>
        </p:blipFill>
        <p:spPr>
          <a:xfrm>
            <a:off x="633413" y="4338638"/>
            <a:ext cx="161925" cy="161925"/>
          </a:xfrm>
          <a:prstGeom prst="rect">
            <a:avLst/>
          </a:prstGeom>
        </p:spPr>
      </p:pic>
      <p:sp>
        <p:nvSpPr>
          <p:cNvPr id="128" name="Text 127"/>
          <p:cNvSpPr txBox="1"/>
          <p:nvPr/>
        </p:nvSpPr>
        <p:spPr>
          <a:xfrm>
            <a:off x="962025" y="4269581"/>
            <a:ext cx="2312938" cy="295275"/>
          </a:xfrm>
          <a:prstGeom prst="rect">
            <a:avLst/>
          </a:prstGeom>
          <a:noFill/>
          <a:ln/>
        </p:spPr>
        <p:txBody>
          <a:bodyPr wrap="square" lIns="0" tIns="0" rIns="0" bIns="0" rtlCol="0" anchor="t"/>
          <a:lstStyle/>
          <a:p>
            <a:pPr marL="0" indent="0" algn="l">
              <a:lnSpc>
                <a:spcPts val="1163"/>
              </a:lnSpc>
              <a:buNone/>
            </a:pPr>
            <a:r>
              <a:rPr lang="en-US" sz="915" b="1" kern="0" spc="15" dirty="0">
                <a:solidFill>
                  <a:srgbClr val="1B1A1A"/>
                </a:solidFill>
                <a:latin typeface="Quicksand" pitchFamily="34" charset="0"/>
              </a:rPr>
              <a:t>Private equity firms and family offices investing directly</a:t>
            </a:r>
            <a:endParaRPr lang="en-US" sz="915" dirty="0"/>
          </a:p>
        </p:txBody>
      </p:sp>
      <p:sp>
        <p:nvSpPr>
          <p:cNvPr id="129" name="Text 128"/>
          <p:cNvSpPr txBox="1"/>
          <p:nvPr/>
        </p:nvSpPr>
        <p:spPr>
          <a:xfrm>
            <a:off x="561975" y="4622006"/>
            <a:ext cx="2712988" cy="414338"/>
          </a:xfrm>
          <a:prstGeom prst="rect">
            <a:avLst/>
          </a:prstGeom>
          <a:noFill/>
          <a:ln/>
        </p:spPr>
        <p:txBody>
          <a:bodyPr wrap="square" lIns="0" tIns="0" rIns="0" bIns="0" rtlCol="0" anchor="t"/>
          <a:lstStyle/>
          <a:p>
            <a:pPr marL="0" indent="0" algn="l">
              <a:lnSpc>
                <a:spcPts val="1088"/>
              </a:lnSpc>
              <a:buNone/>
            </a:pPr>
            <a:r>
              <a:rPr lang="en-US" sz="765" kern="0" spc="15" dirty="0">
                <a:solidFill>
                  <a:srgbClr val="333231"/>
                </a:solidFill>
                <a:latin typeface="Quicksand" pitchFamily="34" charset="0"/>
              </a:rPr>
              <a:t>Investors making a first purchase in a category. Founders or families kept a stake at Salt &amp; Stone, Tapatio and Nugredient Solutions.</a:t>
            </a:r>
            <a:endParaRPr lang="en-US" sz="765" dirty="0"/>
          </a:p>
        </p:txBody>
      </p:sp>
      <p:sp>
        <p:nvSpPr>
          <p:cNvPr id="130" name="Text 129"/>
          <p:cNvSpPr txBox="1"/>
          <p:nvPr/>
        </p:nvSpPr>
        <p:spPr>
          <a:xfrm>
            <a:off x="561975" y="5095875"/>
            <a:ext cx="2698700" cy="104775"/>
          </a:xfrm>
          <a:prstGeom prst="rect">
            <a:avLst/>
          </a:prstGeom>
          <a:noFill/>
          <a:ln/>
        </p:spPr>
        <p:txBody>
          <a:bodyPr wrap="none" lIns="0" tIns="0" rIns="0" bIns="0" rtlCol="0" anchor="t"/>
          <a:lstStyle/>
          <a:p>
            <a:pPr marL="0" indent="0" algn="l">
              <a:lnSpc>
                <a:spcPts val="825"/>
              </a:lnSpc>
              <a:buNone/>
            </a:pPr>
            <a:r>
              <a:rPr lang="en-US" sz="585" b="1" kern="0" spc="120" dirty="0">
                <a:solidFill>
                  <a:srgbClr val="8C6239"/>
                </a:solidFill>
                <a:latin typeface="Quicksand" pitchFamily="34" charset="0"/>
              </a:rPr>
              <a:t>ACTIVE IN THE 2026 MARKET</a:t>
            </a:r>
            <a:endParaRPr lang="en-US" sz="585" dirty="0"/>
          </a:p>
        </p:txBody>
      </p:sp>
      <p:sp>
        <p:nvSpPr>
          <p:cNvPr id="131" name="Shape 130"/>
          <p:cNvSpPr/>
          <p:nvPr/>
        </p:nvSpPr>
        <p:spPr>
          <a:xfrm>
            <a:off x="561975" y="5257800"/>
            <a:ext cx="959048" cy="161925"/>
          </a:xfrm>
          <a:prstGeom prst="rect">
            <a:avLst/>
          </a:prstGeom>
          <a:solidFill>
            <a:srgbClr val="FFFFFF"/>
          </a:solidFill>
          <a:ln/>
        </p:spPr>
        <p:txBody>
          <a:bodyPr/>
          <a:lstStyle/>
          <a:p>
            <a:endParaRPr lang="en-US"/>
          </a:p>
        </p:txBody>
      </p:sp>
      <p:sp>
        <p:nvSpPr>
          <p:cNvPr id="132" name="Shape 131"/>
          <p:cNvSpPr/>
          <p:nvPr/>
        </p:nvSpPr>
        <p:spPr>
          <a:xfrm>
            <a:off x="566738" y="5262563"/>
            <a:ext cx="949523" cy="152400"/>
          </a:xfrm>
          <a:prstGeom prst="rect">
            <a:avLst/>
          </a:prstGeom>
          <a:ln w="9525">
            <a:solidFill>
              <a:srgbClr val="C3BDB6"/>
            </a:solidFill>
            <a:prstDash val="solid"/>
          </a:ln>
        </p:spPr>
        <p:txBody>
          <a:bodyPr/>
          <a:lstStyle/>
          <a:p>
            <a:endParaRPr lang="en-US"/>
          </a:p>
        </p:txBody>
      </p:sp>
      <p:sp>
        <p:nvSpPr>
          <p:cNvPr id="133" name="Text 132"/>
          <p:cNvSpPr txBox="1"/>
          <p:nvPr/>
        </p:nvSpPr>
        <p:spPr>
          <a:xfrm>
            <a:off x="628650" y="5276850"/>
            <a:ext cx="882848" cy="114300"/>
          </a:xfrm>
          <a:prstGeom prst="rect">
            <a:avLst/>
          </a:prstGeom>
          <a:noFill/>
          <a:ln/>
        </p:spPr>
        <p:txBody>
          <a:bodyPr wrap="none" lIns="0" tIns="0" rIns="0" bIns="0" rtlCol="0" anchor="t"/>
          <a:lstStyle/>
          <a:p>
            <a:pPr marL="0" indent="0" algn="l">
              <a:lnSpc>
                <a:spcPts val="900"/>
              </a:lnSpc>
              <a:buNone/>
            </a:pPr>
            <a:r>
              <a:rPr lang="en-US" sz="660" kern="0" spc="15" dirty="0">
                <a:solidFill>
                  <a:srgbClr val="1B1A1A"/>
                </a:solidFill>
                <a:latin typeface="Quicksand" pitchFamily="34" charset="0"/>
              </a:rPr>
              <a:t>Advent International</a:t>
            </a:r>
            <a:endParaRPr lang="en-US" sz="660" dirty="0"/>
          </a:p>
        </p:txBody>
      </p:sp>
      <p:sp>
        <p:nvSpPr>
          <p:cNvPr id="134" name="Shape 133"/>
          <p:cNvSpPr/>
          <p:nvPr/>
        </p:nvSpPr>
        <p:spPr>
          <a:xfrm>
            <a:off x="1559123" y="5257800"/>
            <a:ext cx="1100138" cy="161925"/>
          </a:xfrm>
          <a:prstGeom prst="rect">
            <a:avLst/>
          </a:prstGeom>
          <a:solidFill>
            <a:srgbClr val="FFFFFF"/>
          </a:solidFill>
          <a:ln/>
        </p:spPr>
        <p:txBody>
          <a:bodyPr/>
          <a:lstStyle/>
          <a:p>
            <a:endParaRPr lang="en-US"/>
          </a:p>
        </p:txBody>
      </p:sp>
      <p:sp>
        <p:nvSpPr>
          <p:cNvPr id="135" name="Shape 134"/>
          <p:cNvSpPr/>
          <p:nvPr/>
        </p:nvSpPr>
        <p:spPr>
          <a:xfrm>
            <a:off x="1563886" y="5262563"/>
            <a:ext cx="1090613" cy="152400"/>
          </a:xfrm>
          <a:prstGeom prst="rect">
            <a:avLst/>
          </a:prstGeom>
          <a:ln w="9525">
            <a:solidFill>
              <a:srgbClr val="C3BDB6"/>
            </a:solidFill>
            <a:prstDash val="solid"/>
          </a:ln>
        </p:spPr>
        <p:txBody>
          <a:bodyPr/>
          <a:lstStyle/>
          <a:p>
            <a:endParaRPr lang="en-US"/>
          </a:p>
        </p:txBody>
      </p:sp>
      <p:sp>
        <p:nvSpPr>
          <p:cNvPr id="136" name="Text 135"/>
          <p:cNvSpPr txBox="1"/>
          <p:nvPr/>
        </p:nvSpPr>
        <p:spPr>
          <a:xfrm>
            <a:off x="1625798" y="5276850"/>
            <a:ext cx="1023938" cy="114300"/>
          </a:xfrm>
          <a:prstGeom prst="rect">
            <a:avLst/>
          </a:prstGeom>
          <a:noFill/>
          <a:ln/>
        </p:spPr>
        <p:txBody>
          <a:bodyPr wrap="none" lIns="0" tIns="0" rIns="0" bIns="0" rtlCol="0" anchor="t"/>
          <a:lstStyle/>
          <a:p>
            <a:pPr marL="0" indent="0" algn="l">
              <a:lnSpc>
                <a:spcPts val="900"/>
              </a:lnSpc>
              <a:buNone/>
            </a:pPr>
            <a:r>
              <a:rPr lang="en-US" sz="660" kern="0" spc="15" dirty="0">
                <a:solidFill>
                  <a:srgbClr val="1B1A1A"/>
                </a:solidFill>
                <a:latin typeface="Quicksand" pitchFamily="34" charset="0"/>
              </a:rPr>
              <a:t>TSG Consumer Partners</a:t>
            </a:r>
            <a:endParaRPr lang="en-US" sz="660" dirty="0"/>
          </a:p>
        </p:txBody>
      </p:sp>
      <p:sp>
        <p:nvSpPr>
          <p:cNvPr id="137" name="Shape 136"/>
          <p:cNvSpPr/>
          <p:nvPr/>
        </p:nvSpPr>
        <p:spPr>
          <a:xfrm>
            <a:off x="561975" y="5472113"/>
            <a:ext cx="617190" cy="161925"/>
          </a:xfrm>
          <a:prstGeom prst="rect">
            <a:avLst/>
          </a:prstGeom>
          <a:solidFill>
            <a:srgbClr val="FFFFFF"/>
          </a:solidFill>
          <a:ln/>
        </p:spPr>
        <p:txBody>
          <a:bodyPr/>
          <a:lstStyle/>
          <a:p>
            <a:endParaRPr lang="en-US"/>
          </a:p>
        </p:txBody>
      </p:sp>
      <p:sp>
        <p:nvSpPr>
          <p:cNvPr id="138" name="Shape 137"/>
          <p:cNvSpPr/>
          <p:nvPr/>
        </p:nvSpPr>
        <p:spPr>
          <a:xfrm>
            <a:off x="566738" y="5476875"/>
            <a:ext cx="607665" cy="152400"/>
          </a:xfrm>
          <a:prstGeom prst="rect">
            <a:avLst/>
          </a:prstGeom>
          <a:ln w="9525">
            <a:solidFill>
              <a:srgbClr val="C3BDB6"/>
            </a:solidFill>
            <a:prstDash val="solid"/>
          </a:ln>
        </p:spPr>
        <p:txBody>
          <a:bodyPr/>
          <a:lstStyle/>
          <a:p>
            <a:endParaRPr lang="en-US"/>
          </a:p>
        </p:txBody>
      </p:sp>
      <p:sp>
        <p:nvSpPr>
          <p:cNvPr id="139" name="Text 138"/>
          <p:cNvSpPr txBox="1"/>
          <p:nvPr/>
        </p:nvSpPr>
        <p:spPr>
          <a:xfrm>
            <a:off x="628650" y="5491163"/>
            <a:ext cx="540990" cy="114300"/>
          </a:xfrm>
          <a:prstGeom prst="rect">
            <a:avLst/>
          </a:prstGeom>
          <a:noFill/>
          <a:ln/>
        </p:spPr>
        <p:txBody>
          <a:bodyPr wrap="none" lIns="0" tIns="0" rIns="0" bIns="0" rtlCol="0" anchor="t"/>
          <a:lstStyle/>
          <a:p>
            <a:pPr marL="0" indent="0" algn="l">
              <a:lnSpc>
                <a:spcPts val="900"/>
              </a:lnSpc>
              <a:buNone/>
            </a:pPr>
            <a:r>
              <a:rPr lang="en-US" sz="660" kern="0" spc="15" dirty="0">
                <a:solidFill>
                  <a:srgbClr val="1B1A1A"/>
                </a:solidFill>
                <a:latin typeface="Quicksand" pitchFamily="34" charset="0"/>
              </a:rPr>
              <a:t>TowerBrook</a:t>
            </a:r>
            <a:endParaRPr lang="en-US" sz="660" dirty="0"/>
          </a:p>
        </p:txBody>
      </p:sp>
      <p:sp>
        <p:nvSpPr>
          <p:cNvPr id="140" name="Shape 139"/>
          <p:cNvSpPr/>
          <p:nvPr/>
        </p:nvSpPr>
        <p:spPr>
          <a:xfrm>
            <a:off x="1217265" y="5472113"/>
            <a:ext cx="852934" cy="161925"/>
          </a:xfrm>
          <a:prstGeom prst="rect">
            <a:avLst/>
          </a:prstGeom>
          <a:solidFill>
            <a:srgbClr val="FFFFFF"/>
          </a:solidFill>
          <a:ln/>
        </p:spPr>
        <p:txBody>
          <a:bodyPr/>
          <a:lstStyle/>
          <a:p>
            <a:endParaRPr lang="en-US"/>
          </a:p>
        </p:txBody>
      </p:sp>
      <p:sp>
        <p:nvSpPr>
          <p:cNvPr id="141" name="Shape 140"/>
          <p:cNvSpPr/>
          <p:nvPr/>
        </p:nvSpPr>
        <p:spPr>
          <a:xfrm>
            <a:off x="1222028" y="5476875"/>
            <a:ext cx="843409" cy="152400"/>
          </a:xfrm>
          <a:prstGeom prst="rect">
            <a:avLst/>
          </a:prstGeom>
          <a:ln w="9525">
            <a:solidFill>
              <a:srgbClr val="C3BDB6"/>
            </a:solidFill>
            <a:prstDash val="solid"/>
          </a:ln>
        </p:spPr>
        <p:txBody>
          <a:bodyPr/>
          <a:lstStyle/>
          <a:p>
            <a:endParaRPr lang="en-US"/>
          </a:p>
        </p:txBody>
      </p:sp>
      <p:sp>
        <p:nvSpPr>
          <p:cNvPr id="142" name="Text 141"/>
          <p:cNvSpPr txBox="1"/>
          <p:nvPr/>
        </p:nvSpPr>
        <p:spPr>
          <a:xfrm>
            <a:off x="1283940" y="5491163"/>
            <a:ext cx="776734" cy="114300"/>
          </a:xfrm>
          <a:prstGeom prst="rect">
            <a:avLst/>
          </a:prstGeom>
          <a:noFill/>
          <a:ln/>
        </p:spPr>
        <p:txBody>
          <a:bodyPr wrap="none" lIns="0" tIns="0" rIns="0" bIns="0" rtlCol="0" anchor="t"/>
          <a:lstStyle/>
          <a:p>
            <a:pPr marL="0" indent="0" algn="l">
              <a:lnSpc>
                <a:spcPts val="900"/>
              </a:lnSpc>
              <a:buNone/>
            </a:pPr>
            <a:r>
              <a:rPr lang="en-US" sz="660" kern="0" spc="15" dirty="0">
                <a:solidFill>
                  <a:srgbClr val="1B1A1A"/>
                </a:solidFill>
                <a:latin typeface="Quicksand" pitchFamily="34" charset="0"/>
              </a:rPr>
              <a:t>Acon Investments</a:t>
            </a:r>
            <a:endParaRPr lang="en-US" sz="660" dirty="0"/>
          </a:p>
        </p:txBody>
      </p:sp>
      <p:sp>
        <p:nvSpPr>
          <p:cNvPr id="143" name="Shape 142"/>
          <p:cNvSpPr/>
          <p:nvPr/>
        </p:nvSpPr>
        <p:spPr>
          <a:xfrm>
            <a:off x="2108299" y="5472113"/>
            <a:ext cx="947737" cy="161925"/>
          </a:xfrm>
          <a:prstGeom prst="rect">
            <a:avLst/>
          </a:prstGeom>
          <a:solidFill>
            <a:srgbClr val="FFFFFF"/>
          </a:solidFill>
          <a:ln/>
        </p:spPr>
        <p:txBody>
          <a:bodyPr/>
          <a:lstStyle/>
          <a:p>
            <a:endParaRPr lang="en-US"/>
          </a:p>
        </p:txBody>
      </p:sp>
      <p:sp>
        <p:nvSpPr>
          <p:cNvPr id="144" name="Shape 143"/>
          <p:cNvSpPr/>
          <p:nvPr/>
        </p:nvSpPr>
        <p:spPr>
          <a:xfrm>
            <a:off x="2113062" y="5476875"/>
            <a:ext cx="938213" cy="152400"/>
          </a:xfrm>
          <a:prstGeom prst="rect">
            <a:avLst/>
          </a:prstGeom>
          <a:ln w="9525">
            <a:solidFill>
              <a:srgbClr val="C3BDB6"/>
            </a:solidFill>
            <a:prstDash val="solid"/>
          </a:ln>
        </p:spPr>
        <p:txBody>
          <a:bodyPr/>
          <a:lstStyle/>
          <a:p>
            <a:endParaRPr lang="en-US"/>
          </a:p>
        </p:txBody>
      </p:sp>
      <p:sp>
        <p:nvSpPr>
          <p:cNvPr id="145" name="Text 144"/>
          <p:cNvSpPr txBox="1"/>
          <p:nvPr/>
        </p:nvSpPr>
        <p:spPr>
          <a:xfrm>
            <a:off x="2174974" y="5491163"/>
            <a:ext cx="871538" cy="114300"/>
          </a:xfrm>
          <a:prstGeom prst="rect">
            <a:avLst/>
          </a:prstGeom>
          <a:noFill/>
          <a:ln/>
        </p:spPr>
        <p:txBody>
          <a:bodyPr wrap="none" lIns="0" tIns="0" rIns="0" bIns="0" rtlCol="0" anchor="t"/>
          <a:lstStyle/>
          <a:p>
            <a:pPr marL="0" indent="0" algn="l">
              <a:lnSpc>
                <a:spcPts val="900"/>
              </a:lnSpc>
              <a:buNone/>
            </a:pPr>
            <a:r>
              <a:rPr lang="en-US" sz="660" kern="0" spc="15" dirty="0">
                <a:solidFill>
                  <a:srgbClr val="1B1A1A"/>
                </a:solidFill>
                <a:latin typeface="Quicksand" pitchFamily="34" charset="0"/>
              </a:rPr>
              <a:t>Highlander Partners</a:t>
            </a:r>
            <a:endParaRPr lang="en-US" sz="660" dirty="0"/>
          </a:p>
        </p:txBody>
      </p:sp>
      <p:sp>
        <p:nvSpPr>
          <p:cNvPr id="146" name="Shape 145"/>
          <p:cNvSpPr/>
          <p:nvPr/>
        </p:nvSpPr>
        <p:spPr>
          <a:xfrm>
            <a:off x="561975" y="5686425"/>
            <a:ext cx="1182737" cy="161925"/>
          </a:xfrm>
          <a:prstGeom prst="rect">
            <a:avLst/>
          </a:prstGeom>
          <a:solidFill>
            <a:srgbClr val="FFFFFF"/>
          </a:solidFill>
          <a:ln/>
        </p:spPr>
        <p:txBody>
          <a:bodyPr/>
          <a:lstStyle/>
          <a:p>
            <a:endParaRPr lang="en-US"/>
          </a:p>
        </p:txBody>
      </p:sp>
      <p:sp>
        <p:nvSpPr>
          <p:cNvPr id="147" name="Shape 146"/>
          <p:cNvSpPr/>
          <p:nvPr/>
        </p:nvSpPr>
        <p:spPr>
          <a:xfrm>
            <a:off x="566738" y="5691188"/>
            <a:ext cx="1173212" cy="152400"/>
          </a:xfrm>
          <a:prstGeom prst="rect">
            <a:avLst/>
          </a:prstGeom>
          <a:ln w="9525">
            <a:solidFill>
              <a:srgbClr val="C3BDB6"/>
            </a:solidFill>
            <a:prstDash val="solid"/>
          </a:ln>
        </p:spPr>
        <p:txBody>
          <a:bodyPr/>
          <a:lstStyle/>
          <a:p>
            <a:endParaRPr lang="en-US"/>
          </a:p>
        </p:txBody>
      </p:sp>
      <p:sp>
        <p:nvSpPr>
          <p:cNvPr id="148" name="Text 147"/>
          <p:cNvSpPr txBox="1"/>
          <p:nvPr/>
        </p:nvSpPr>
        <p:spPr>
          <a:xfrm>
            <a:off x="628650" y="5705475"/>
            <a:ext cx="1106537" cy="114300"/>
          </a:xfrm>
          <a:prstGeom prst="rect">
            <a:avLst/>
          </a:prstGeom>
          <a:noFill/>
          <a:ln/>
        </p:spPr>
        <p:txBody>
          <a:bodyPr wrap="none" lIns="0" tIns="0" rIns="0" bIns="0" rtlCol="0" anchor="t"/>
          <a:lstStyle/>
          <a:p>
            <a:pPr marL="0" indent="0" algn="l">
              <a:lnSpc>
                <a:spcPts val="900"/>
              </a:lnSpc>
              <a:buNone/>
            </a:pPr>
            <a:r>
              <a:rPr lang="en-US" sz="660" kern="0" spc="15" dirty="0">
                <a:solidFill>
                  <a:srgbClr val="1B1A1A"/>
                </a:solidFill>
                <a:latin typeface="Quicksand" pitchFamily="34" charset="0"/>
              </a:rPr>
              <a:t>Guardian Capital Partners</a:t>
            </a:r>
            <a:endParaRPr lang="en-US" sz="660" dirty="0"/>
          </a:p>
        </p:txBody>
      </p:sp>
      <p:sp>
        <p:nvSpPr>
          <p:cNvPr id="149" name="Shape 148"/>
          <p:cNvSpPr/>
          <p:nvPr/>
        </p:nvSpPr>
        <p:spPr>
          <a:xfrm>
            <a:off x="561975" y="5900738"/>
            <a:ext cx="1484858" cy="161925"/>
          </a:xfrm>
          <a:prstGeom prst="rect">
            <a:avLst/>
          </a:prstGeom>
          <a:solidFill>
            <a:srgbClr val="FFFFFF"/>
          </a:solidFill>
          <a:ln/>
        </p:spPr>
        <p:txBody>
          <a:bodyPr/>
          <a:lstStyle/>
          <a:p>
            <a:endParaRPr lang="en-US"/>
          </a:p>
        </p:txBody>
      </p:sp>
      <p:sp>
        <p:nvSpPr>
          <p:cNvPr id="150" name="Shape 149"/>
          <p:cNvSpPr/>
          <p:nvPr/>
        </p:nvSpPr>
        <p:spPr>
          <a:xfrm>
            <a:off x="566738" y="5905500"/>
            <a:ext cx="1475333" cy="152400"/>
          </a:xfrm>
          <a:prstGeom prst="rect">
            <a:avLst/>
          </a:prstGeom>
          <a:ln w="9525">
            <a:solidFill>
              <a:srgbClr val="C3BDB6"/>
            </a:solidFill>
            <a:prstDash val="solid"/>
          </a:ln>
        </p:spPr>
        <p:txBody>
          <a:bodyPr/>
          <a:lstStyle/>
          <a:p>
            <a:endParaRPr lang="en-US"/>
          </a:p>
        </p:txBody>
      </p:sp>
      <p:sp>
        <p:nvSpPr>
          <p:cNvPr id="151" name="Text 150"/>
          <p:cNvSpPr txBox="1"/>
          <p:nvPr/>
        </p:nvSpPr>
        <p:spPr>
          <a:xfrm>
            <a:off x="628650" y="5919788"/>
            <a:ext cx="1408658" cy="114300"/>
          </a:xfrm>
          <a:prstGeom prst="rect">
            <a:avLst/>
          </a:prstGeom>
          <a:noFill/>
          <a:ln/>
        </p:spPr>
        <p:txBody>
          <a:bodyPr wrap="none" lIns="0" tIns="0" rIns="0" bIns="0" rtlCol="0" anchor="t"/>
          <a:lstStyle/>
          <a:p>
            <a:pPr marL="0" indent="0" algn="l">
              <a:lnSpc>
                <a:spcPts val="900"/>
              </a:lnSpc>
              <a:buNone/>
            </a:pPr>
            <a:r>
              <a:rPr lang="en-US" sz="660" kern="0" spc="15" dirty="0">
                <a:solidFill>
                  <a:srgbClr val="1B1A1A"/>
                </a:solidFill>
                <a:latin typeface="Quicksand" pitchFamily="34" charset="0"/>
              </a:rPr>
              <a:t>SouthWorth Capital Management</a:t>
            </a:r>
            <a:endParaRPr lang="en-US" sz="660" dirty="0"/>
          </a:p>
        </p:txBody>
      </p:sp>
      <p:sp>
        <p:nvSpPr>
          <p:cNvPr id="152" name="Text 151"/>
          <p:cNvSpPr txBox="1"/>
          <p:nvPr/>
        </p:nvSpPr>
        <p:spPr>
          <a:xfrm>
            <a:off x="561975" y="6115050"/>
            <a:ext cx="2698700" cy="104775"/>
          </a:xfrm>
          <a:prstGeom prst="rect">
            <a:avLst/>
          </a:prstGeom>
          <a:noFill/>
          <a:ln/>
        </p:spPr>
        <p:txBody>
          <a:bodyPr wrap="none" lIns="0" tIns="0" rIns="0" bIns="0" rtlCol="0" anchor="t"/>
          <a:lstStyle/>
          <a:p>
            <a:pPr marL="0" indent="0" algn="l">
              <a:lnSpc>
                <a:spcPts val="825"/>
              </a:lnSpc>
              <a:buNone/>
            </a:pPr>
            <a:r>
              <a:rPr lang="en-US" sz="585" b="1" kern="0" spc="120" dirty="0">
                <a:solidFill>
                  <a:srgbClr val="8C6239"/>
                </a:solidFill>
                <a:latin typeface="Quicksand" pitchFamily="34" charset="0"/>
              </a:rPr>
              <a:t>ACQUIRERS OF BENCHMARK INTERNATIONAL CLIENTS</a:t>
            </a:r>
            <a:endParaRPr lang="en-US" sz="585" dirty="0"/>
          </a:p>
        </p:txBody>
      </p:sp>
      <p:sp>
        <p:nvSpPr>
          <p:cNvPr id="153" name="Shape 152"/>
          <p:cNvSpPr/>
          <p:nvPr/>
        </p:nvSpPr>
        <p:spPr>
          <a:xfrm>
            <a:off x="561975" y="6286500"/>
            <a:ext cx="946547" cy="142875"/>
          </a:xfrm>
          <a:prstGeom prst="rect">
            <a:avLst/>
          </a:prstGeom>
          <a:solidFill>
            <a:srgbClr val="1B1A1A"/>
          </a:solidFill>
          <a:ln/>
        </p:spPr>
        <p:txBody>
          <a:bodyPr/>
          <a:lstStyle/>
          <a:p>
            <a:endParaRPr lang="en-US"/>
          </a:p>
        </p:txBody>
      </p:sp>
      <p:sp>
        <p:nvSpPr>
          <p:cNvPr id="154" name="Text 153"/>
          <p:cNvSpPr txBox="1"/>
          <p:nvPr/>
        </p:nvSpPr>
        <p:spPr>
          <a:xfrm>
            <a:off x="619125" y="6296025"/>
            <a:ext cx="889397" cy="114300"/>
          </a:xfrm>
          <a:prstGeom prst="rect">
            <a:avLst/>
          </a:prstGeom>
          <a:noFill/>
          <a:ln/>
        </p:spPr>
        <p:txBody>
          <a:bodyPr wrap="none" lIns="0" tIns="0" rIns="0" bIns="0" rtlCol="0" anchor="t"/>
          <a:lstStyle/>
          <a:p>
            <a:pPr marL="0" indent="0" algn="l">
              <a:lnSpc>
                <a:spcPts val="900"/>
              </a:lnSpc>
              <a:buNone/>
            </a:pPr>
            <a:r>
              <a:rPr lang="en-US" sz="660" kern="0" spc="15" dirty="0">
                <a:solidFill>
                  <a:srgbClr val="FFFFFF"/>
                </a:solidFill>
                <a:latin typeface="Quicksand" pitchFamily="34" charset="0"/>
              </a:rPr>
              <a:t>AAVIN Private Equity</a:t>
            </a:r>
            <a:endParaRPr lang="en-US" sz="660" dirty="0"/>
          </a:p>
        </p:txBody>
      </p:sp>
      <p:sp>
        <p:nvSpPr>
          <p:cNvPr id="155" name="Shape 154"/>
          <p:cNvSpPr/>
          <p:nvPr/>
        </p:nvSpPr>
        <p:spPr>
          <a:xfrm>
            <a:off x="1546622" y="6286500"/>
            <a:ext cx="699492" cy="142875"/>
          </a:xfrm>
          <a:prstGeom prst="rect">
            <a:avLst/>
          </a:prstGeom>
          <a:solidFill>
            <a:srgbClr val="1B1A1A"/>
          </a:solidFill>
          <a:ln/>
        </p:spPr>
        <p:txBody>
          <a:bodyPr/>
          <a:lstStyle/>
          <a:p>
            <a:endParaRPr lang="en-US"/>
          </a:p>
        </p:txBody>
      </p:sp>
      <p:sp>
        <p:nvSpPr>
          <p:cNvPr id="156" name="Text 155"/>
          <p:cNvSpPr txBox="1"/>
          <p:nvPr/>
        </p:nvSpPr>
        <p:spPr>
          <a:xfrm>
            <a:off x="1603772" y="6296025"/>
            <a:ext cx="642342" cy="114300"/>
          </a:xfrm>
          <a:prstGeom prst="rect">
            <a:avLst/>
          </a:prstGeom>
          <a:noFill/>
          <a:ln/>
        </p:spPr>
        <p:txBody>
          <a:bodyPr wrap="none" lIns="0" tIns="0" rIns="0" bIns="0" rtlCol="0" anchor="t"/>
          <a:lstStyle/>
          <a:p>
            <a:pPr marL="0" indent="0" algn="l">
              <a:lnSpc>
                <a:spcPts val="900"/>
              </a:lnSpc>
              <a:buNone/>
            </a:pPr>
            <a:r>
              <a:rPr lang="en-US" sz="660" kern="0" spc="15" dirty="0">
                <a:solidFill>
                  <a:srgbClr val="FFFFFF"/>
                </a:solidFill>
                <a:latin typeface="Quicksand" pitchFamily="34" charset="0"/>
              </a:rPr>
              <a:t>Innova Capital</a:t>
            </a:r>
            <a:endParaRPr lang="en-US" sz="660" dirty="0"/>
          </a:p>
        </p:txBody>
      </p:sp>
      <p:sp>
        <p:nvSpPr>
          <p:cNvPr id="157" name="Shape 156"/>
          <p:cNvSpPr/>
          <p:nvPr/>
        </p:nvSpPr>
        <p:spPr>
          <a:xfrm>
            <a:off x="2284214" y="6286500"/>
            <a:ext cx="788343" cy="142875"/>
          </a:xfrm>
          <a:prstGeom prst="rect">
            <a:avLst/>
          </a:prstGeom>
          <a:solidFill>
            <a:srgbClr val="1B1A1A"/>
          </a:solidFill>
          <a:ln/>
        </p:spPr>
        <p:txBody>
          <a:bodyPr/>
          <a:lstStyle/>
          <a:p>
            <a:endParaRPr lang="en-US"/>
          </a:p>
        </p:txBody>
      </p:sp>
      <p:sp>
        <p:nvSpPr>
          <p:cNvPr id="158" name="Text 157"/>
          <p:cNvSpPr txBox="1"/>
          <p:nvPr/>
        </p:nvSpPr>
        <p:spPr>
          <a:xfrm>
            <a:off x="2341364" y="6296025"/>
            <a:ext cx="731193" cy="114300"/>
          </a:xfrm>
          <a:prstGeom prst="rect">
            <a:avLst/>
          </a:prstGeom>
          <a:noFill/>
          <a:ln/>
        </p:spPr>
        <p:txBody>
          <a:bodyPr wrap="none" lIns="0" tIns="0" rIns="0" bIns="0" rtlCol="0" anchor="t"/>
          <a:lstStyle/>
          <a:p>
            <a:pPr marL="0" indent="0" algn="l">
              <a:lnSpc>
                <a:spcPts val="900"/>
              </a:lnSpc>
              <a:buNone/>
            </a:pPr>
            <a:r>
              <a:rPr lang="en-US" sz="660" kern="0" spc="15" dirty="0">
                <a:solidFill>
                  <a:srgbClr val="FFFFFF"/>
                </a:solidFill>
                <a:latin typeface="Quicksand" pitchFamily="34" charset="0"/>
              </a:rPr>
              <a:t>Lancaster Group</a:t>
            </a:r>
            <a:endParaRPr lang="en-US" sz="660" dirty="0"/>
          </a:p>
        </p:txBody>
      </p:sp>
      <p:sp>
        <p:nvSpPr>
          <p:cNvPr id="159" name="Shape 158"/>
          <p:cNvSpPr/>
          <p:nvPr/>
        </p:nvSpPr>
        <p:spPr>
          <a:xfrm>
            <a:off x="561975" y="6491288"/>
            <a:ext cx="803225" cy="142875"/>
          </a:xfrm>
          <a:prstGeom prst="rect">
            <a:avLst/>
          </a:prstGeom>
          <a:solidFill>
            <a:srgbClr val="1B1A1A"/>
          </a:solidFill>
          <a:ln/>
        </p:spPr>
        <p:txBody>
          <a:bodyPr/>
          <a:lstStyle/>
          <a:p>
            <a:endParaRPr lang="en-US"/>
          </a:p>
        </p:txBody>
      </p:sp>
      <p:sp>
        <p:nvSpPr>
          <p:cNvPr id="160" name="Text 159"/>
          <p:cNvSpPr txBox="1"/>
          <p:nvPr/>
        </p:nvSpPr>
        <p:spPr>
          <a:xfrm>
            <a:off x="619125" y="6500813"/>
            <a:ext cx="746075" cy="114300"/>
          </a:xfrm>
          <a:prstGeom prst="rect">
            <a:avLst/>
          </a:prstGeom>
          <a:noFill/>
          <a:ln/>
        </p:spPr>
        <p:txBody>
          <a:bodyPr wrap="none" lIns="0" tIns="0" rIns="0" bIns="0" rtlCol="0" anchor="t"/>
          <a:lstStyle/>
          <a:p>
            <a:pPr marL="0" indent="0" algn="l">
              <a:lnSpc>
                <a:spcPts val="900"/>
              </a:lnSpc>
              <a:buNone/>
            </a:pPr>
            <a:r>
              <a:rPr lang="en-US" sz="660" kern="0" spc="15" dirty="0">
                <a:solidFill>
                  <a:srgbClr val="FFFFFF"/>
                </a:solidFill>
                <a:latin typeface="Quicksand" pitchFamily="34" charset="0"/>
              </a:rPr>
              <a:t>Castleford Group</a:t>
            </a:r>
            <a:endParaRPr lang="en-US" sz="660" dirty="0"/>
          </a:p>
        </p:txBody>
      </p:sp>
      <p:sp>
        <p:nvSpPr>
          <p:cNvPr id="161" name="Shape 160"/>
          <p:cNvSpPr/>
          <p:nvPr/>
        </p:nvSpPr>
        <p:spPr>
          <a:xfrm>
            <a:off x="1403300" y="6491288"/>
            <a:ext cx="891778" cy="142875"/>
          </a:xfrm>
          <a:prstGeom prst="rect">
            <a:avLst/>
          </a:prstGeom>
          <a:solidFill>
            <a:srgbClr val="1B1A1A"/>
          </a:solidFill>
          <a:ln/>
        </p:spPr>
        <p:txBody>
          <a:bodyPr/>
          <a:lstStyle/>
          <a:p>
            <a:endParaRPr lang="en-US"/>
          </a:p>
        </p:txBody>
      </p:sp>
      <p:sp>
        <p:nvSpPr>
          <p:cNvPr id="162" name="Text 161"/>
          <p:cNvSpPr txBox="1"/>
          <p:nvPr/>
        </p:nvSpPr>
        <p:spPr>
          <a:xfrm>
            <a:off x="1460450" y="6500813"/>
            <a:ext cx="834628" cy="114300"/>
          </a:xfrm>
          <a:prstGeom prst="rect">
            <a:avLst/>
          </a:prstGeom>
          <a:noFill/>
          <a:ln/>
        </p:spPr>
        <p:txBody>
          <a:bodyPr wrap="none" lIns="0" tIns="0" rIns="0" bIns="0" rtlCol="0" anchor="t"/>
          <a:lstStyle/>
          <a:p>
            <a:pPr marL="0" indent="0" algn="l">
              <a:lnSpc>
                <a:spcPts val="900"/>
              </a:lnSpc>
              <a:buNone/>
            </a:pPr>
            <a:r>
              <a:rPr lang="en-US" sz="660" kern="0" spc="15" dirty="0">
                <a:solidFill>
                  <a:srgbClr val="FFFFFF"/>
                </a:solidFill>
                <a:latin typeface="Quicksand" pitchFamily="34" charset="0"/>
              </a:rPr>
              <a:t>Fourshore Partners</a:t>
            </a:r>
            <a:endParaRPr lang="en-US" sz="660" dirty="0"/>
          </a:p>
        </p:txBody>
      </p:sp>
      <p:sp>
        <p:nvSpPr>
          <p:cNvPr id="163" name="Shape 162"/>
          <p:cNvSpPr/>
          <p:nvPr/>
        </p:nvSpPr>
        <p:spPr>
          <a:xfrm>
            <a:off x="2333179" y="6491288"/>
            <a:ext cx="798165" cy="142875"/>
          </a:xfrm>
          <a:prstGeom prst="rect">
            <a:avLst/>
          </a:prstGeom>
          <a:solidFill>
            <a:srgbClr val="1B1A1A"/>
          </a:solidFill>
          <a:ln/>
        </p:spPr>
        <p:txBody>
          <a:bodyPr/>
          <a:lstStyle/>
          <a:p>
            <a:endParaRPr lang="en-US"/>
          </a:p>
        </p:txBody>
      </p:sp>
      <p:sp>
        <p:nvSpPr>
          <p:cNvPr id="164" name="Text 163"/>
          <p:cNvSpPr txBox="1"/>
          <p:nvPr/>
        </p:nvSpPr>
        <p:spPr>
          <a:xfrm>
            <a:off x="2390329" y="6500813"/>
            <a:ext cx="741015" cy="114300"/>
          </a:xfrm>
          <a:prstGeom prst="rect">
            <a:avLst/>
          </a:prstGeom>
          <a:noFill/>
          <a:ln/>
        </p:spPr>
        <p:txBody>
          <a:bodyPr wrap="none" lIns="0" tIns="0" rIns="0" bIns="0" rtlCol="0" anchor="t"/>
          <a:lstStyle/>
          <a:p>
            <a:pPr marL="0" indent="0" algn="l">
              <a:lnSpc>
                <a:spcPts val="900"/>
              </a:lnSpc>
              <a:buNone/>
            </a:pPr>
            <a:r>
              <a:rPr lang="en-US" sz="660" kern="0" spc="15" dirty="0">
                <a:solidFill>
                  <a:srgbClr val="FFFFFF"/>
                </a:solidFill>
                <a:latin typeface="Quicksand" pitchFamily="34" charset="0"/>
              </a:rPr>
              <a:t>GPC Investments</a:t>
            </a:r>
            <a:endParaRPr lang="en-US" sz="660" dirty="0"/>
          </a:p>
        </p:txBody>
      </p:sp>
      <p:sp>
        <p:nvSpPr>
          <p:cNvPr id="165" name="Shape 164"/>
          <p:cNvSpPr/>
          <p:nvPr/>
        </p:nvSpPr>
        <p:spPr>
          <a:xfrm>
            <a:off x="561975" y="6696075"/>
            <a:ext cx="977652" cy="142875"/>
          </a:xfrm>
          <a:prstGeom prst="rect">
            <a:avLst/>
          </a:prstGeom>
          <a:solidFill>
            <a:srgbClr val="1B1A1A"/>
          </a:solidFill>
          <a:ln/>
        </p:spPr>
        <p:txBody>
          <a:bodyPr/>
          <a:lstStyle/>
          <a:p>
            <a:endParaRPr lang="en-US"/>
          </a:p>
        </p:txBody>
      </p:sp>
      <p:sp>
        <p:nvSpPr>
          <p:cNvPr id="166" name="Text 165"/>
          <p:cNvSpPr txBox="1"/>
          <p:nvPr/>
        </p:nvSpPr>
        <p:spPr>
          <a:xfrm>
            <a:off x="619125" y="6705600"/>
            <a:ext cx="920502" cy="114300"/>
          </a:xfrm>
          <a:prstGeom prst="rect">
            <a:avLst/>
          </a:prstGeom>
          <a:noFill/>
          <a:ln/>
        </p:spPr>
        <p:txBody>
          <a:bodyPr wrap="none" lIns="0" tIns="0" rIns="0" bIns="0" rtlCol="0" anchor="t"/>
          <a:lstStyle/>
          <a:p>
            <a:pPr marL="0" indent="0" algn="l">
              <a:lnSpc>
                <a:spcPts val="900"/>
              </a:lnSpc>
              <a:buNone/>
            </a:pPr>
            <a:r>
              <a:rPr lang="en-US" sz="660" kern="0" spc="15" dirty="0">
                <a:solidFill>
                  <a:srgbClr val="FFFFFF"/>
                </a:solidFill>
                <a:latin typeface="Quicksand" pitchFamily="34" charset="0"/>
              </a:rPr>
              <a:t>Austin Circle Partners</a:t>
            </a:r>
            <a:endParaRPr lang="en-US" sz="660" dirty="0"/>
          </a:p>
        </p:txBody>
      </p:sp>
      <p:sp>
        <p:nvSpPr>
          <p:cNvPr id="167" name="Shape 166"/>
          <p:cNvSpPr/>
          <p:nvPr/>
        </p:nvSpPr>
        <p:spPr>
          <a:xfrm>
            <a:off x="1577727" y="6696075"/>
            <a:ext cx="1122759" cy="142875"/>
          </a:xfrm>
          <a:prstGeom prst="rect">
            <a:avLst/>
          </a:prstGeom>
          <a:solidFill>
            <a:srgbClr val="1B1A1A"/>
          </a:solidFill>
          <a:ln/>
        </p:spPr>
        <p:txBody>
          <a:bodyPr/>
          <a:lstStyle/>
          <a:p>
            <a:endParaRPr lang="en-US"/>
          </a:p>
        </p:txBody>
      </p:sp>
      <p:sp>
        <p:nvSpPr>
          <p:cNvPr id="168" name="Text 167"/>
          <p:cNvSpPr txBox="1"/>
          <p:nvPr/>
        </p:nvSpPr>
        <p:spPr>
          <a:xfrm>
            <a:off x="1634877" y="6705600"/>
            <a:ext cx="1065609" cy="114300"/>
          </a:xfrm>
          <a:prstGeom prst="rect">
            <a:avLst/>
          </a:prstGeom>
          <a:noFill/>
          <a:ln/>
        </p:spPr>
        <p:txBody>
          <a:bodyPr wrap="none" lIns="0" tIns="0" rIns="0" bIns="0" rtlCol="0" anchor="t"/>
          <a:lstStyle/>
          <a:p>
            <a:pPr marL="0" indent="0" algn="l">
              <a:lnSpc>
                <a:spcPts val="900"/>
              </a:lnSpc>
              <a:buNone/>
            </a:pPr>
            <a:r>
              <a:rPr lang="en-US" sz="660" kern="0" spc="15" dirty="0">
                <a:solidFill>
                  <a:srgbClr val="FFFFFF"/>
                </a:solidFill>
                <a:latin typeface="Quicksand" pitchFamily="34" charset="0"/>
              </a:rPr>
              <a:t>Longwater Opportunities</a:t>
            </a:r>
            <a:endParaRPr lang="en-US" sz="660" dirty="0"/>
          </a:p>
        </p:txBody>
      </p:sp>
      <p:sp>
        <p:nvSpPr>
          <p:cNvPr id="169" name="Shape 168"/>
          <p:cNvSpPr/>
          <p:nvPr/>
        </p:nvSpPr>
        <p:spPr>
          <a:xfrm>
            <a:off x="3536900" y="4143375"/>
            <a:ext cx="2984450" cy="2790825"/>
          </a:xfrm>
          <a:prstGeom prst="rect">
            <a:avLst/>
          </a:prstGeom>
          <a:solidFill>
            <a:srgbClr val="FAF7F3"/>
          </a:solidFill>
          <a:ln/>
        </p:spPr>
        <p:txBody>
          <a:bodyPr/>
          <a:lstStyle/>
          <a:p>
            <a:endParaRPr lang="en-US"/>
          </a:p>
        </p:txBody>
      </p:sp>
      <p:sp>
        <p:nvSpPr>
          <p:cNvPr id="170" name="Shape 169"/>
          <p:cNvSpPr/>
          <p:nvPr/>
        </p:nvSpPr>
        <p:spPr>
          <a:xfrm>
            <a:off x="3536900" y="4143375"/>
            <a:ext cx="2984450" cy="28575"/>
          </a:xfrm>
          <a:prstGeom prst="rect">
            <a:avLst/>
          </a:prstGeom>
          <a:solidFill>
            <a:srgbClr val="B68757"/>
          </a:solidFill>
          <a:ln/>
        </p:spPr>
        <p:txBody>
          <a:bodyPr/>
          <a:lstStyle/>
          <a:p>
            <a:endParaRPr lang="en-US"/>
          </a:p>
        </p:txBody>
      </p:sp>
      <p:sp>
        <p:nvSpPr>
          <p:cNvPr id="171" name="Dot 170"/>
          <p:cNvSpPr/>
          <p:nvPr/>
        </p:nvSpPr>
        <p:spPr>
          <a:xfrm>
            <a:off x="3679775" y="4267200"/>
            <a:ext cx="304800" cy="304800"/>
          </a:xfrm>
          <a:prstGeom prst="ellipse">
            <a:avLst/>
          </a:prstGeom>
          <a:solidFill>
            <a:srgbClr val="1B1A1A"/>
          </a:solidFill>
          <a:ln/>
        </p:spPr>
        <p:txBody>
          <a:bodyPr/>
          <a:lstStyle/>
          <a:p>
            <a:endParaRPr lang="en-US"/>
          </a:p>
        </p:txBody>
      </p:sp>
      <p:pic>
        <p:nvPicPr>
          <p:cNvPr id="172" name="Icon" descr="/tmp/claude-0/-home-claude-about/4bef2f41-4227-5ff7-ab18-11ac74cd9797/scratchpad/pptx/ex/media/42bdc7a43577.png"/>
          <p:cNvPicPr>
            <a:picLocks noChangeAspect="1"/>
          </p:cNvPicPr>
          <p:nvPr/>
        </p:nvPicPr>
        <p:blipFill>
          <a:blip r:embed="rId7"/>
          <a:stretch>
            <a:fillRect/>
          </a:stretch>
        </p:blipFill>
        <p:spPr>
          <a:xfrm>
            <a:off x="3751213" y="4338638"/>
            <a:ext cx="161925" cy="161925"/>
          </a:xfrm>
          <a:prstGeom prst="rect">
            <a:avLst/>
          </a:prstGeom>
        </p:spPr>
      </p:pic>
      <p:sp>
        <p:nvSpPr>
          <p:cNvPr id="173" name="Text 172"/>
          <p:cNvSpPr txBox="1"/>
          <p:nvPr/>
        </p:nvSpPr>
        <p:spPr>
          <a:xfrm>
            <a:off x="4079825" y="4269581"/>
            <a:ext cx="2312938" cy="295275"/>
          </a:xfrm>
          <a:prstGeom prst="rect">
            <a:avLst/>
          </a:prstGeom>
          <a:noFill/>
          <a:ln/>
        </p:spPr>
        <p:txBody>
          <a:bodyPr wrap="square" lIns="0" tIns="0" rIns="0" bIns="0" rtlCol="0" anchor="t"/>
          <a:lstStyle/>
          <a:p>
            <a:pPr marL="0" indent="0" algn="l">
              <a:lnSpc>
                <a:spcPts val="1163"/>
              </a:lnSpc>
              <a:buNone/>
            </a:pPr>
            <a:r>
              <a:rPr lang="en-US" sz="915" b="1" kern="0" spc="15" dirty="0">
                <a:solidFill>
                  <a:srgbClr val="1B1A1A"/>
                </a:solidFill>
                <a:latin typeface="Quicksand" pitchFamily="34" charset="0"/>
              </a:rPr>
              <a:t>Foreign strategics entering the United States</a:t>
            </a:r>
            <a:endParaRPr lang="en-US" sz="915" dirty="0"/>
          </a:p>
        </p:txBody>
      </p:sp>
      <p:sp>
        <p:nvSpPr>
          <p:cNvPr id="174" name="Text 173"/>
          <p:cNvSpPr txBox="1"/>
          <p:nvPr/>
        </p:nvSpPr>
        <p:spPr>
          <a:xfrm>
            <a:off x="3679775" y="4622006"/>
            <a:ext cx="2712988" cy="276225"/>
          </a:xfrm>
          <a:prstGeom prst="rect">
            <a:avLst/>
          </a:prstGeom>
          <a:noFill/>
          <a:ln/>
        </p:spPr>
        <p:txBody>
          <a:bodyPr wrap="square" lIns="0" tIns="0" rIns="0" bIns="0" rtlCol="0" anchor="t"/>
          <a:lstStyle/>
          <a:p>
            <a:pPr marL="0" indent="0" algn="l">
              <a:lnSpc>
                <a:spcPts val="1088"/>
              </a:lnSpc>
              <a:buNone/>
            </a:pPr>
            <a:r>
              <a:rPr lang="en-US" sz="765" kern="0" spc="15" dirty="0">
                <a:solidFill>
                  <a:srgbClr val="333231"/>
                </a:solidFill>
                <a:latin typeface="Quicksand" pitchFamily="34" charset="0"/>
              </a:rPr>
              <a:t>European strategics using acquisitions to enter the United States, as Europastry did through Highland Baking.</a:t>
            </a:r>
            <a:endParaRPr lang="en-US" sz="765" dirty="0"/>
          </a:p>
        </p:txBody>
      </p:sp>
      <p:sp>
        <p:nvSpPr>
          <p:cNvPr id="175" name="Text 174"/>
          <p:cNvSpPr txBox="1"/>
          <p:nvPr/>
        </p:nvSpPr>
        <p:spPr>
          <a:xfrm>
            <a:off x="3679775" y="4957763"/>
            <a:ext cx="2698700" cy="104775"/>
          </a:xfrm>
          <a:prstGeom prst="rect">
            <a:avLst/>
          </a:prstGeom>
          <a:noFill/>
          <a:ln/>
        </p:spPr>
        <p:txBody>
          <a:bodyPr wrap="none" lIns="0" tIns="0" rIns="0" bIns="0" rtlCol="0" anchor="t"/>
          <a:lstStyle/>
          <a:p>
            <a:pPr marL="0" indent="0" algn="l">
              <a:lnSpc>
                <a:spcPts val="825"/>
              </a:lnSpc>
              <a:buNone/>
            </a:pPr>
            <a:r>
              <a:rPr lang="en-US" sz="585" b="1" kern="0" spc="120" dirty="0">
                <a:solidFill>
                  <a:srgbClr val="8C6239"/>
                </a:solidFill>
                <a:latin typeface="Quicksand" pitchFamily="34" charset="0"/>
              </a:rPr>
              <a:t>ACTIVE IN THE 2026 MARKET</a:t>
            </a:r>
            <a:endParaRPr lang="en-US" sz="585" dirty="0"/>
          </a:p>
        </p:txBody>
      </p:sp>
      <p:sp>
        <p:nvSpPr>
          <p:cNvPr id="176" name="Shape 175"/>
          <p:cNvSpPr/>
          <p:nvPr/>
        </p:nvSpPr>
        <p:spPr>
          <a:xfrm>
            <a:off x="3679775" y="5119688"/>
            <a:ext cx="556171" cy="161925"/>
          </a:xfrm>
          <a:prstGeom prst="rect">
            <a:avLst/>
          </a:prstGeom>
          <a:solidFill>
            <a:srgbClr val="FFFFFF"/>
          </a:solidFill>
          <a:ln/>
        </p:spPr>
        <p:txBody>
          <a:bodyPr/>
          <a:lstStyle/>
          <a:p>
            <a:endParaRPr lang="en-US"/>
          </a:p>
        </p:txBody>
      </p:sp>
      <p:sp>
        <p:nvSpPr>
          <p:cNvPr id="177" name="Shape 176"/>
          <p:cNvSpPr/>
          <p:nvPr/>
        </p:nvSpPr>
        <p:spPr>
          <a:xfrm>
            <a:off x="3684538" y="5124450"/>
            <a:ext cx="546646" cy="152400"/>
          </a:xfrm>
          <a:prstGeom prst="rect">
            <a:avLst/>
          </a:prstGeom>
          <a:ln w="9525">
            <a:solidFill>
              <a:srgbClr val="C3BDB6"/>
            </a:solidFill>
            <a:prstDash val="solid"/>
          </a:ln>
        </p:spPr>
        <p:txBody>
          <a:bodyPr/>
          <a:lstStyle/>
          <a:p>
            <a:endParaRPr lang="en-US"/>
          </a:p>
        </p:txBody>
      </p:sp>
      <p:sp>
        <p:nvSpPr>
          <p:cNvPr id="178" name="Text 177"/>
          <p:cNvSpPr txBox="1"/>
          <p:nvPr/>
        </p:nvSpPr>
        <p:spPr>
          <a:xfrm>
            <a:off x="3746450" y="5138738"/>
            <a:ext cx="479971" cy="114300"/>
          </a:xfrm>
          <a:prstGeom prst="rect">
            <a:avLst/>
          </a:prstGeom>
          <a:noFill/>
          <a:ln/>
        </p:spPr>
        <p:txBody>
          <a:bodyPr wrap="none" lIns="0" tIns="0" rIns="0" bIns="0" rtlCol="0" anchor="t"/>
          <a:lstStyle/>
          <a:p>
            <a:pPr marL="0" indent="0" algn="l">
              <a:lnSpc>
                <a:spcPts val="900"/>
              </a:lnSpc>
              <a:buNone/>
            </a:pPr>
            <a:r>
              <a:rPr lang="en-US" sz="660" kern="0" spc="15" dirty="0">
                <a:solidFill>
                  <a:srgbClr val="1B1A1A"/>
                </a:solidFill>
                <a:latin typeface="Quicksand" pitchFamily="34" charset="0"/>
              </a:rPr>
              <a:t>Intersnack</a:t>
            </a:r>
            <a:endParaRPr lang="en-US" sz="660" dirty="0"/>
          </a:p>
        </p:txBody>
      </p:sp>
      <p:sp>
        <p:nvSpPr>
          <p:cNvPr id="179" name="Shape 178"/>
          <p:cNvSpPr/>
          <p:nvPr/>
        </p:nvSpPr>
        <p:spPr>
          <a:xfrm>
            <a:off x="4274046" y="5119688"/>
            <a:ext cx="577007" cy="161925"/>
          </a:xfrm>
          <a:prstGeom prst="rect">
            <a:avLst/>
          </a:prstGeom>
          <a:solidFill>
            <a:srgbClr val="FFFFFF"/>
          </a:solidFill>
          <a:ln/>
        </p:spPr>
        <p:txBody>
          <a:bodyPr/>
          <a:lstStyle/>
          <a:p>
            <a:endParaRPr lang="en-US"/>
          </a:p>
        </p:txBody>
      </p:sp>
      <p:sp>
        <p:nvSpPr>
          <p:cNvPr id="180" name="Shape 179"/>
          <p:cNvSpPr/>
          <p:nvPr/>
        </p:nvSpPr>
        <p:spPr>
          <a:xfrm>
            <a:off x="4278809" y="5124450"/>
            <a:ext cx="567482" cy="152400"/>
          </a:xfrm>
          <a:prstGeom prst="rect">
            <a:avLst/>
          </a:prstGeom>
          <a:ln w="9525">
            <a:solidFill>
              <a:srgbClr val="C3BDB6"/>
            </a:solidFill>
            <a:prstDash val="solid"/>
          </a:ln>
        </p:spPr>
        <p:txBody>
          <a:bodyPr/>
          <a:lstStyle/>
          <a:p>
            <a:endParaRPr lang="en-US"/>
          </a:p>
        </p:txBody>
      </p:sp>
      <p:sp>
        <p:nvSpPr>
          <p:cNvPr id="181" name="Text 180"/>
          <p:cNvSpPr txBox="1"/>
          <p:nvPr/>
        </p:nvSpPr>
        <p:spPr>
          <a:xfrm>
            <a:off x="4340721" y="5138738"/>
            <a:ext cx="500807" cy="114300"/>
          </a:xfrm>
          <a:prstGeom prst="rect">
            <a:avLst/>
          </a:prstGeom>
          <a:noFill/>
          <a:ln/>
        </p:spPr>
        <p:txBody>
          <a:bodyPr wrap="none" lIns="0" tIns="0" rIns="0" bIns="0" rtlCol="0" anchor="t"/>
          <a:lstStyle/>
          <a:p>
            <a:pPr marL="0" indent="0" algn="l">
              <a:lnSpc>
                <a:spcPts val="900"/>
              </a:lnSpc>
              <a:buNone/>
            </a:pPr>
            <a:r>
              <a:rPr lang="en-US" sz="660" kern="0" spc="15" dirty="0">
                <a:solidFill>
                  <a:srgbClr val="1B1A1A"/>
                </a:solidFill>
                <a:latin typeface="Quicksand" pitchFamily="34" charset="0"/>
              </a:rPr>
              <a:t>Europastry</a:t>
            </a:r>
            <a:endParaRPr lang="en-US" sz="660" dirty="0"/>
          </a:p>
        </p:txBody>
      </p:sp>
      <p:sp>
        <p:nvSpPr>
          <p:cNvPr id="182" name="Shape 181"/>
          <p:cNvSpPr/>
          <p:nvPr/>
        </p:nvSpPr>
        <p:spPr>
          <a:xfrm>
            <a:off x="4889153" y="5119688"/>
            <a:ext cx="378916" cy="161925"/>
          </a:xfrm>
          <a:prstGeom prst="rect">
            <a:avLst/>
          </a:prstGeom>
          <a:solidFill>
            <a:srgbClr val="FFFFFF"/>
          </a:solidFill>
          <a:ln/>
        </p:spPr>
        <p:txBody>
          <a:bodyPr/>
          <a:lstStyle/>
          <a:p>
            <a:endParaRPr lang="en-US"/>
          </a:p>
        </p:txBody>
      </p:sp>
      <p:sp>
        <p:nvSpPr>
          <p:cNvPr id="183" name="Shape 182"/>
          <p:cNvSpPr/>
          <p:nvPr/>
        </p:nvSpPr>
        <p:spPr>
          <a:xfrm>
            <a:off x="4893915" y="5124450"/>
            <a:ext cx="369391" cy="152400"/>
          </a:xfrm>
          <a:prstGeom prst="rect">
            <a:avLst/>
          </a:prstGeom>
          <a:ln w="9525">
            <a:solidFill>
              <a:srgbClr val="C3BDB6"/>
            </a:solidFill>
            <a:prstDash val="solid"/>
          </a:ln>
        </p:spPr>
        <p:txBody>
          <a:bodyPr/>
          <a:lstStyle/>
          <a:p>
            <a:endParaRPr lang="en-US"/>
          </a:p>
        </p:txBody>
      </p:sp>
      <p:sp>
        <p:nvSpPr>
          <p:cNvPr id="184" name="Text 183"/>
          <p:cNvSpPr txBox="1"/>
          <p:nvPr/>
        </p:nvSpPr>
        <p:spPr>
          <a:xfrm>
            <a:off x="4955828" y="5138738"/>
            <a:ext cx="302716" cy="114300"/>
          </a:xfrm>
          <a:prstGeom prst="rect">
            <a:avLst/>
          </a:prstGeom>
          <a:noFill/>
          <a:ln/>
        </p:spPr>
        <p:txBody>
          <a:bodyPr wrap="none" lIns="0" tIns="0" rIns="0" bIns="0" rtlCol="0" anchor="t"/>
          <a:lstStyle/>
          <a:p>
            <a:pPr marL="0" indent="0" algn="l">
              <a:lnSpc>
                <a:spcPts val="900"/>
              </a:lnSpc>
              <a:buNone/>
            </a:pPr>
            <a:r>
              <a:rPr lang="en-US" sz="660" kern="0" spc="15" dirty="0">
                <a:solidFill>
                  <a:srgbClr val="1B1A1A"/>
                </a:solidFill>
                <a:latin typeface="Quicksand" pitchFamily="34" charset="0"/>
              </a:rPr>
              <a:t>Solina</a:t>
            </a:r>
            <a:endParaRPr lang="en-US" sz="660" dirty="0"/>
          </a:p>
        </p:txBody>
      </p:sp>
      <p:sp>
        <p:nvSpPr>
          <p:cNvPr id="185" name="Shape 184"/>
          <p:cNvSpPr/>
          <p:nvPr/>
        </p:nvSpPr>
        <p:spPr>
          <a:xfrm>
            <a:off x="6654701" y="4143375"/>
            <a:ext cx="2984599" cy="2790825"/>
          </a:xfrm>
          <a:prstGeom prst="rect">
            <a:avLst/>
          </a:prstGeom>
          <a:solidFill>
            <a:srgbClr val="FAF7F3"/>
          </a:solidFill>
          <a:ln/>
        </p:spPr>
        <p:txBody>
          <a:bodyPr/>
          <a:lstStyle/>
          <a:p>
            <a:endParaRPr lang="en-US"/>
          </a:p>
        </p:txBody>
      </p:sp>
      <p:sp>
        <p:nvSpPr>
          <p:cNvPr id="186" name="Shape 185"/>
          <p:cNvSpPr/>
          <p:nvPr/>
        </p:nvSpPr>
        <p:spPr>
          <a:xfrm>
            <a:off x="6654701" y="4143375"/>
            <a:ext cx="2984599" cy="28575"/>
          </a:xfrm>
          <a:prstGeom prst="rect">
            <a:avLst/>
          </a:prstGeom>
          <a:solidFill>
            <a:srgbClr val="B68757"/>
          </a:solidFill>
          <a:ln/>
        </p:spPr>
        <p:txBody>
          <a:bodyPr/>
          <a:lstStyle/>
          <a:p>
            <a:endParaRPr lang="en-US"/>
          </a:p>
        </p:txBody>
      </p:sp>
      <p:sp>
        <p:nvSpPr>
          <p:cNvPr id="187" name="Dot 186"/>
          <p:cNvSpPr/>
          <p:nvPr/>
        </p:nvSpPr>
        <p:spPr>
          <a:xfrm>
            <a:off x="6797576" y="4267200"/>
            <a:ext cx="304800" cy="304800"/>
          </a:xfrm>
          <a:prstGeom prst="ellipse">
            <a:avLst/>
          </a:prstGeom>
          <a:solidFill>
            <a:srgbClr val="1B1A1A"/>
          </a:solidFill>
          <a:ln/>
        </p:spPr>
        <p:txBody>
          <a:bodyPr/>
          <a:lstStyle/>
          <a:p>
            <a:endParaRPr lang="en-US"/>
          </a:p>
        </p:txBody>
      </p:sp>
      <p:pic>
        <p:nvPicPr>
          <p:cNvPr id="188" name="Icon" descr="/tmp/claude-0/-home-claude-about/4bef2f41-4227-5ff7-ab18-11ac74cd9797/scratchpad/pptx/ex/media/f6957116ab71.png"/>
          <p:cNvPicPr>
            <a:picLocks noChangeAspect="1"/>
          </p:cNvPicPr>
          <p:nvPr/>
        </p:nvPicPr>
        <p:blipFill>
          <a:blip r:embed="rId8"/>
          <a:stretch>
            <a:fillRect/>
          </a:stretch>
        </p:blipFill>
        <p:spPr>
          <a:xfrm>
            <a:off x="6869013" y="4338638"/>
            <a:ext cx="161925" cy="161925"/>
          </a:xfrm>
          <a:prstGeom prst="rect">
            <a:avLst/>
          </a:prstGeom>
        </p:spPr>
      </p:pic>
      <p:sp>
        <p:nvSpPr>
          <p:cNvPr id="189" name="Text 188"/>
          <p:cNvSpPr txBox="1"/>
          <p:nvPr/>
        </p:nvSpPr>
        <p:spPr>
          <a:xfrm>
            <a:off x="7197626" y="4269581"/>
            <a:ext cx="2313087" cy="295275"/>
          </a:xfrm>
          <a:prstGeom prst="rect">
            <a:avLst/>
          </a:prstGeom>
          <a:noFill/>
          <a:ln/>
        </p:spPr>
        <p:txBody>
          <a:bodyPr wrap="square" lIns="0" tIns="0" rIns="0" bIns="0" rtlCol="0" anchor="t"/>
          <a:lstStyle/>
          <a:p>
            <a:pPr marL="0" indent="0" algn="l">
              <a:lnSpc>
                <a:spcPts val="1163"/>
              </a:lnSpc>
              <a:buNone/>
            </a:pPr>
            <a:r>
              <a:rPr lang="en-US" sz="915" b="1" kern="0" spc="15" dirty="0">
                <a:solidFill>
                  <a:srgbClr val="1B1A1A"/>
                </a:solidFill>
                <a:latin typeface="Quicksand" pitchFamily="34" charset="0"/>
              </a:rPr>
              <a:t>Brand-management firms and individual buyers</a:t>
            </a:r>
            <a:endParaRPr lang="en-US" sz="915" dirty="0"/>
          </a:p>
        </p:txBody>
      </p:sp>
      <p:sp>
        <p:nvSpPr>
          <p:cNvPr id="190" name="Text 189"/>
          <p:cNvSpPr txBox="1"/>
          <p:nvPr/>
        </p:nvSpPr>
        <p:spPr>
          <a:xfrm>
            <a:off x="6797576" y="4622006"/>
            <a:ext cx="2713137" cy="552450"/>
          </a:xfrm>
          <a:prstGeom prst="rect">
            <a:avLst/>
          </a:prstGeom>
          <a:noFill/>
          <a:ln/>
        </p:spPr>
        <p:txBody>
          <a:bodyPr wrap="square" lIns="0" tIns="0" rIns="0" bIns="0" rtlCol="0" anchor="t"/>
          <a:lstStyle/>
          <a:p>
            <a:pPr marL="0" indent="0" algn="l">
              <a:lnSpc>
                <a:spcPts val="1088"/>
              </a:lnSpc>
              <a:buNone/>
            </a:pPr>
            <a:r>
              <a:rPr lang="en-US" sz="765" kern="0" spc="15" dirty="0">
                <a:solidFill>
                  <a:srgbClr val="333231"/>
                </a:solidFill>
                <a:latin typeface="Quicksand" pitchFamily="34" charset="0"/>
              </a:rPr>
              <a:t>Brand-management firms are a further buyer group for apparel and heritage names. Two Benchmark International clients were acquired by individual or entrepreneur-led buyers.</a:t>
            </a:r>
            <a:endParaRPr lang="en-US" sz="765" dirty="0"/>
          </a:p>
        </p:txBody>
      </p:sp>
      <p:sp>
        <p:nvSpPr>
          <p:cNvPr id="191" name="Text 190"/>
          <p:cNvSpPr txBox="1"/>
          <p:nvPr/>
        </p:nvSpPr>
        <p:spPr>
          <a:xfrm>
            <a:off x="6797576" y="5233988"/>
            <a:ext cx="2698849" cy="104775"/>
          </a:xfrm>
          <a:prstGeom prst="rect">
            <a:avLst/>
          </a:prstGeom>
          <a:noFill/>
          <a:ln/>
        </p:spPr>
        <p:txBody>
          <a:bodyPr wrap="none" lIns="0" tIns="0" rIns="0" bIns="0" rtlCol="0" anchor="t"/>
          <a:lstStyle/>
          <a:p>
            <a:pPr marL="0" indent="0" algn="l">
              <a:lnSpc>
                <a:spcPts val="825"/>
              </a:lnSpc>
              <a:buNone/>
            </a:pPr>
            <a:r>
              <a:rPr lang="en-US" sz="585" b="1" kern="0" spc="120" dirty="0">
                <a:solidFill>
                  <a:srgbClr val="8C6239"/>
                </a:solidFill>
                <a:latin typeface="Quicksand" pitchFamily="34" charset="0"/>
              </a:rPr>
              <a:t>ACTIVE IN THE 2026 MARKET</a:t>
            </a:r>
            <a:endParaRPr lang="en-US" sz="585" dirty="0"/>
          </a:p>
        </p:txBody>
      </p:sp>
      <p:sp>
        <p:nvSpPr>
          <p:cNvPr id="192" name="Shape 191"/>
          <p:cNvSpPr/>
          <p:nvPr/>
        </p:nvSpPr>
        <p:spPr>
          <a:xfrm>
            <a:off x="6797576" y="5395913"/>
            <a:ext cx="1096417" cy="161925"/>
          </a:xfrm>
          <a:prstGeom prst="rect">
            <a:avLst/>
          </a:prstGeom>
          <a:solidFill>
            <a:srgbClr val="FFFFFF"/>
          </a:solidFill>
          <a:ln/>
        </p:spPr>
        <p:txBody>
          <a:bodyPr/>
          <a:lstStyle/>
          <a:p>
            <a:endParaRPr lang="en-US"/>
          </a:p>
        </p:txBody>
      </p:sp>
      <p:sp>
        <p:nvSpPr>
          <p:cNvPr id="193" name="Shape 192"/>
          <p:cNvSpPr/>
          <p:nvPr/>
        </p:nvSpPr>
        <p:spPr>
          <a:xfrm>
            <a:off x="6802338" y="5400675"/>
            <a:ext cx="1086892" cy="152400"/>
          </a:xfrm>
          <a:prstGeom prst="rect">
            <a:avLst/>
          </a:prstGeom>
          <a:ln w="9525">
            <a:solidFill>
              <a:srgbClr val="C3BDB6"/>
            </a:solidFill>
            <a:prstDash val="solid"/>
          </a:ln>
        </p:spPr>
        <p:txBody>
          <a:bodyPr/>
          <a:lstStyle/>
          <a:p>
            <a:endParaRPr lang="en-US"/>
          </a:p>
        </p:txBody>
      </p:sp>
      <p:sp>
        <p:nvSpPr>
          <p:cNvPr id="194" name="Text 193"/>
          <p:cNvSpPr txBox="1"/>
          <p:nvPr/>
        </p:nvSpPr>
        <p:spPr>
          <a:xfrm>
            <a:off x="6864251" y="5414963"/>
            <a:ext cx="1020217" cy="114300"/>
          </a:xfrm>
          <a:prstGeom prst="rect">
            <a:avLst/>
          </a:prstGeom>
          <a:noFill/>
          <a:ln/>
        </p:spPr>
        <p:txBody>
          <a:bodyPr wrap="none" lIns="0" tIns="0" rIns="0" bIns="0" rtlCol="0" anchor="t"/>
          <a:lstStyle/>
          <a:p>
            <a:pPr marL="0" indent="0" algn="l">
              <a:lnSpc>
                <a:spcPts val="900"/>
              </a:lnSpc>
              <a:buNone/>
            </a:pPr>
            <a:r>
              <a:rPr lang="en-US" sz="660" kern="0" spc="15" dirty="0">
                <a:solidFill>
                  <a:srgbClr val="1B1A1A"/>
                </a:solidFill>
                <a:latin typeface="Quicksand" pitchFamily="34" charset="0"/>
              </a:rPr>
              <a:t>Authentic Brands Group</a:t>
            </a:r>
            <a:endParaRPr lang="en-US" sz="660" dirty="0"/>
          </a:p>
        </p:txBody>
      </p:sp>
      <p:sp>
        <p:nvSpPr>
          <p:cNvPr id="195" name="Shape 194"/>
          <p:cNvSpPr/>
          <p:nvPr/>
        </p:nvSpPr>
        <p:spPr>
          <a:xfrm>
            <a:off x="7932093" y="5395913"/>
            <a:ext cx="614660" cy="161925"/>
          </a:xfrm>
          <a:prstGeom prst="rect">
            <a:avLst/>
          </a:prstGeom>
          <a:solidFill>
            <a:srgbClr val="FFFFFF"/>
          </a:solidFill>
          <a:ln/>
        </p:spPr>
        <p:txBody>
          <a:bodyPr/>
          <a:lstStyle/>
          <a:p>
            <a:endParaRPr lang="en-US"/>
          </a:p>
        </p:txBody>
      </p:sp>
      <p:sp>
        <p:nvSpPr>
          <p:cNvPr id="196" name="Shape 195"/>
          <p:cNvSpPr/>
          <p:nvPr/>
        </p:nvSpPr>
        <p:spPr>
          <a:xfrm>
            <a:off x="7936855" y="5400675"/>
            <a:ext cx="605135" cy="152400"/>
          </a:xfrm>
          <a:prstGeom prst="rect">
            <a:avLst/>
          </a:prstGeom>
          <a:ln w="9525">
            <a:solidFill>
              <a:srgbClr val="C3BDB6"/>
            </a:solidFill>
            <a:prstDash val="solid"/>
          </a:ln>
        </p:spPr>
        <p:txBody>
          <a:bodyPr/>
          <a:lstStyle/>
          <a:p>
            <a:endParaRPr lang="en-US"/>
          </a:p>
        </p:txBody>
      </p:sp>
      <p:sp>
        <p:nvSpPr>
          <p:cNvPr id="197" name="Text 196"/>
          <p:cNvSpPr txBox="1"/>
          <p:nvPr/>
        </p:nvSpPr>
        <p:spPr>
          <a:xfrm>
            <a:off x="7998768" y="5414963"/>
            <a:ext cx="538460" cy="114300"/>
          </a:xfrm>
          <a:prstGeom prst="rect">
            <a:avLst/>
          </a:prstGeom>
          <a:noFill/>
          <a:ln/>
        </p:spPr>
        <p:txBody>
          <a:bodyPr wrap="none" lIns="0" tIns="0" rIns="0" bIns="0" rtlCol="0" anchor="t"/>
          <a:lstStyle/>
          <a:p>
            <a:pPr marL="0" indent="0" algn="l">
              <a:lnSpc>
                <a:spcPts val="900"/>
              </a:lnSpc>
              <a:buNone/>
            </a:pPr>
            <a:r>
              <a:rPr lang="en-US" sz="660" kern="0" spc="15" dirty="0">
                <a:solidFill>
                  <a:srgbClr val="1B1A1A"/>
                </a:solidFill>
                <a:latin typeface="Quicksand" pitchFamily="34" charset="0"/>
              </a:rPr>
              <a:t>WHP Global</a:t>
            </a:r>
            <a:endParaRPr lang="en-US" sz="660" dirty="0"/>
          </a:p>
        </p:txBody>
      </p:sp>
      <p:sp>
        <p:nvSpPr>
          <p:cNvPr id="198" name="Text 197"/>
          <p:cNvSpPr txBox="1"/>
          <p:nvPr/>
        </p:nvSpPr>
        <p:spPr>
          <a:xfrm>
            <a:off x="6797576" y="5610225"/>
            <a:ext cx="2698849" cy="104775"/>
          </a:xfrm>
          <a:prstGeom prst="rect">
            <a:avLst/>
          </a:prstGeom>
          <a:noFill/>
          <a:ln/>
        </p:spPr>
        <p:txBody>
          <a:bodyPr wrap="none" lIns="0" tIns="0" rIns="0" bIns="0" rtlCol="0" anchor="t"/>
          <a:lstStyle/>
          <a:p>
            <a:pPr marL="0" indent="0" algn="l">
              <a:lnSpc>
                <a:spcPts val="825"/>
              </a:lnSpc>
              <a:buNone/>
            </a:pPr>
            <a:r>
              <a:rPr lang="en-US" sz="585" b="1" kern="0" spc="120" dirty="0">
                <a:solidFill>
                  <a:srgbClr val="8C6239"/>
                </a:solidFill>
                <a:latin typeface="Quicksand" pitchFamily="34" charset="0"/>
              </a:rPr>
              <a:t>ACQUIRERS OF BENCHMARK INTERNATIONAL CLIENTS</a:t>
            </a:r>
            <a:endParaRPr lang="en-US" sz="585" dirty="0"/>
          </a:p>
        </p:txBody>
      </p:sp>
      <p:sp>
        <p:nvSpPr>
          <p:cNvPr id="199" name="Shape 198"/>
          <p:cNvSpPr/>
          <p:nvPr/>
        </p:nvSpPr>
        <p:spPr>
          <a:xfrm>
            <a:off x="6797576" y="5781675"/>
            <a:ext cx="835968" cy="142875"/>
          </a:xfrm>
          <a:prstGeom prst="rect">
            <a:avLst/>
          </a:prstGeom>
          <a:solidFill>
            <a:srgbClr val="1B1A1A"/>
          </a:solidFill>
          <a:ln/>
        </p:spPr>
        <p:txBody>
          <a:bodyPr/>
          <a:lstStyle/>
          <a:p>
            <a:endParaRPr lang="en-US"/>
          </a:p>
        </p:txBody>
      </p:sp>
      <p:sp>
        <p:nvSpPr>
          <p:cNvPr id="200" name="Text 199"/>
          <p:cNvSpPr txBox="1"/>
          <p:nvPr/>
        </p:nvSpPr>
        <p:spPr>
          <a:xfrm>
            <a:off x="6854726" y="5791200"/>
            <a:ext cx="778818" cy="114300"/>
          </a:xfrm>
          <a:prstGeom prst="rect">
            <a:avLst/>
          </a:prstGeom>
          <a:noFill/>
          <a:ln/>
        </p:spPr>
        <p:txBody>
          <a:bodyPr wrap="none" lIns="0" tIns="0" rIns="0" bIns="0" rtlCol="0" anchor="t"/>
          <a:lstStyle/>
          <a:p>
            <a:pPr marL="0" indent="0" algn="l">
              <a:lnSpc>
                <a:spcPts val="900"/>
              </a:lnSpc>
              <a:buNone/>
            </a:pPr>
            <a:r>
              <a:rPr lang="en-US" sz="660" kern="0" spc="15" dirty="0">
                <a:solidFill>
                  <a:srgbClr val="FFFFFF"/>
                </a:solidFill>
                <a:latin typeface="Quicksand" pitchFamily="34" charset="0"/>
              </a:rPr>
              <a:t>Highwood Harbor</a:t>
            </a:r>
            <a:endParaRPr lang="en-US" sz="660" dirty="0"/>
          </a:p>
        </p:txBody>
      </p:sp>
      <p:sp>
        <p:nvSpPr>
          <p:cNvPr id="201" name="Shape 200"/>
          <p:cNvSpPr/>
          <p:nvPr/>
        </p:nvSpPr>
        <p:spPr>
          <a:xfrm>
            <a:off x="6797576" y="5986463"/>
            <a:ext cx="2529929" cy="142875"/>
          </a:xfrm>
          <a:prstGeom prst="rect">
            <a:avLst/>
          </a:prstGeom>
          <a:solidFill>
            <a:srgbClr val="1B1A1A"/>
          </a:solidFill>
          <a:ln/>
        </p:spPr>
        <p:txBody>
          <a:bodyPr/>
          <a:lstStyle/>
          <a:p>
            <a:endParaRPr lang="en-US"/>
          </a:p>
        </p:txBody>
      </p:sp>
      <p:sp>
        <p:nvSpPr>
          <p:cNvPr id="202" name="Text 201"/>
          <p:cNvSpPr txBox="1"/>
          <p:nvPr/>
        </p:nvSpPr>
        <p:spPr>
          <a:xfrm>
            <a:off x="6854726" y="5995988"/>
            <a:ext cx="2472779" cy="114300"/>
          </a:xfrm>
          <a:prstGeom prst="rect">
            <a:avLst/>
          </a:prstGeom>
          <a:noFill/>
          <a:ln/>
        </p:spPr>
        <p:txBody>
          <a:bodyPr wrap="none" lIns="0" tIns="0" rIns="0" bIns="0" rtlCol="0" anchor="t"/>
          <a:lstStyle/>
          <a:p>
            <a:pPr marL="0" indent="0" algn="l">
              <a:lnSpc>
                <a:spcPts val="900"/>
              </a:lnSpc>
              <a:buNone/>
            </a:pPr>
            <a:r>
              <a:rPr lang="en-US" sz="660" kern="0" spc="15" dirty="0">
                <a:solidFill>
                  <a:srgbClr val="FFFFFF"/>
                </a:solidFill>
                <a:latin typeface="Quicksand" pitchFamily="34" charset="0"/>
              </a:rPr>
              <a:t>The individual investor who acquired Southern Pool Designs</a:t>
            </a:r>
            <a:endParaRPr lang="en-US" sz="660" dirty="0"/>
          </a:p>
        </p:txBody>
      </p:sp>
      <p:sp>
        <p:nvSpPr>
          <p:cNvPr id="203" name="Shape 202"/>
          <p:cNvSpPr/>
          <p:nvPr/>
        </p:nvSpPr>
        <p:spPr>
          <a:xfrm>
            <a:off x="419100" y="7029450"/>
            <a:ext cx="9220200" cy="9525"/>
          </a:xfrm>
          <a:prstGeom prst="rect">
            <a:avLst/>
          </a:prstGeom>
          <a:solidFill>
            <a:srgbClr val="E3DCD3"/>
          </a:solidFill>
          <a:ln/>
        </p:spPr>
        <p:txBody>
          <a:bodyPr/>
          <a:lstStyle/>
          <a:p>
            <a:endParaRPr lang="en-US"/>
          </a:p>
        </p:txBody>
      </p:sp>
      <p:pic>
        <p:nvPicPr>
          <p:cNvPr id="204" name="Benchmark International" descr="Benchmark International"/>
          <p:cNvPicPr>
            <a:picLocks noChangeAspect="1"/>
          </p:cNvPicPr>
          <p:nvPr/>
        </p:nvPicPr>
        <p:blipFill>
          <a:blip r:embed="rId9"/>
          <a:stretch>
            <a:fillRect/>
          </a:stretch>
        </p:blipFill>
        <p:spPr>
          <a:xfrm>
            <a:off x="419100" y="7143750"/>
            <a:ext cx="914400" cy="171450"/>
          </a:xfrm>
          <a:prstGeom prst="rect">
            <a:avLst/>
          </a:prstGeom>
        </p:spPr>
      </p:pic>
      <p:sp>
        <p:nvSpPr>
          <p:cNvPr id="205" name="Text 204"/>
          <p:cNvSpPr txBox="1"/>
          <p:nvPr/>
        </p:nvSpPr>
        <p:spPr>
          <a:xfrm>
            <a:off x="1543050" y="7098506"/>
            <a:ext cx="7658100" cy="238125"/>
          </a:xfrm>
          <a:prstGeom prst="rect">
            <a:avLst/>
          </a:prstGeom>
          <a:noFill/>
          <a:ln/>
        </p:spPr>
        <p:txBody>
          <a:bodyPr wrap="square" lIns="0" tIns="0" rIns="0" bIns="0" rtlCol="0" anchor="t"/>
          <a:lstStyle/>
          <a:p>
            <a:pPr marL="0" indent="0" algn="l">
              <a:lnSpc>
                <a:spcPts val="938"/>
              </a:lnSpc>
              <a:buNone/>
            </a:pPr>
            <a:r>
              <a:rPr lang="en-US" sz="675" kern="0" spc="15" dirty="0">
                <a:solidFill>
                  <a:srgbClr val="6F6A66"/>
                </a:solidFill>
                <a:latin typeface="Quicksand" pitchFamily="34" charset="0"/>
              </a:rPr>
              <a:t>Buyers listed as active are those named in the 2026 transactions covered in the Q4 2026 Consumer report. Acquirers of Benchmark International clients are from announcements on benchmarkintl.com, including earlier engagements. Private equity holds $1.3 trillion of uncommitted capital and about 32,000 unsold portfolio companies (</a:t>
            </a:r>
            <a:r>
              <a:rPr lang="en-US" sz="675" u="sng" kern="0" spc="15" dirty="0">
                <a:solidFill>
                  <a:srgbClr val="8C6239"/>
                </a:solidFill>
                <a:latin typeface="Quicksand" pitchFamily="34" charset="0"/>
                <a:hlinkClick r:id="rId10">
                  <a:extLst>
                    <a:ext uri="{A12FA001-AC4F-418D-AE19-62706E023703}">
                      <ahyp:hlinkClr xmlns:ahyp="http://schemas.microsoft.com/office/drawing/2018/hyperlinkcolor" val="tx"/>
                    </a:ext>
                  </a:extLst>
                </a:hlinkClick>
              </a:rPr>
              <a:t>Bain</a:t>
            </a:r>
            <a:r>
              <a:rPr lang="en-US" sz="675" kern="0" spc="15" dirty="0">
                <a:solidFill>
                  <a:srgbClr val="6F6A66"/>
                </a:solidFill>
                <a:latin typeface="Quicksand" pitchFamily="34" charset="0"/>
              </a:rPr>
              <a:t>).</a:t>
            </a:r>
            <a:endParaRPr lang="en-US" sz="675" dirty="0"/>
          </a:p>
        </p:txBody>
      </p:sp>
      <p:sp>
        <p:nvSpPr>
          <p:cNvPr id="206" name="Text 205"/>
          <p:cNvSpPr txBox="1"/>
          <p:nvPr/>
        </p:nvSpPr>
        <p:spPr>
          <a:xfrm>
            <a:off x="9530655" y="7162800"/>
            <a:ext cx="165795" cy="133350"/>
          </a:xfrm>
          <a:prstGeom prst="rect">
            <a:avLst/>
          </a:prstGeom>
          <a:noFill/>
          <a:ln/>
        </p:spPr>
        <p:txBody>
          <a:bodyPr wrap="none" lIns="0" tIns="0" rIns="0" bIns="0" rtlCol="0" anchor="t"/>
          <a:lstStyle/>
          <a:p>
            <a:pPr marL="0" indent="0" algn="l">
              <a:lnSpc>
                <a:spcPts val="1050"/>
              </a:lnSpc>
              <a:buNone/>
            </a:pPr>
            <a:r>
              <a:rPr lang="en-US" sz="713" b="1" kern="0" spc="150" dirty="0">
                <a:solidFill>
                  <a:srgbClr val="1B1A1A"/>
                </a:solidFill>
                <a:latin typeface="Quicksand" pitchFamily="34" charset="0"/>
              </a:rPr>
              <a:t>11</a:t>
            </a:r>
            <a:endParaRPr lang="en-US" sz="713"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1"/>
          <p:cNvSpPr/>
          <p:nvPr/>
        </p:nvSpPr>
        <p:spPr>
          <a:xfrm>
            <a:off x="0" y="0"/>
            <a:ext cx="10058400" cy="7772400"/>
          </a:xfrm>
          <a:prstGeom prst="rect">
            <a:avLst/>
          </a:prstGeom>
          <a:solidFill>
            <a:srgbClr val="FFFFFF"/>
          </a:solidFill>
          <a:ln/>
        </p:spPr>
        <p:txBody>
          <a:bodyPr/>
          <a:lstStyle/>
          <a:p>
            <a:endParaRPr lang="en-US"/>
          </a:p>
        </p:txBody>
      </p:sp>
      <p:sp>
        <p:nvSpPr>
          <p:cNvPr id="3" name="Shape 2"/>
          <p:cNvSpPr/>
          <p:nvPr/>
        </p:nvSpPr>
        <p:spPr>
          <a:xfrm>
            <a:off x="0" y="0"/>
            <a:ext cx="57150" cy="7772400"/>
          </a:xfrm>
          <a:prstGeom prst="rect">
            <a:avLst/>
          </a:prstGeom>
          <a:solidFill>
            <a:srgbClr val="B68757"/>
          </a:solidFill>
          <a:ln/>
        </p:spPr>
        <p:txBody>
          <a:bodyPr/>
          <a:lstStyle/>
          <a:p>
            <a:endParaRPr lang="en-US"/>
          </a:p>
        </p:txBody>
      </p:sp>
      <p:sp>
        <p:nvSpPr>
          <p:cNvPr id="4" name="Text 3"/>
          <p:cNvSpPr txBox="1"/>
          <p:nvPr/>
        </p:nvSpPr>
        <p:spPr>
          <a:xfrm>
            <a:off x="419100" y="376238"/>
            <a:ext cx="2618929" cy="133350"/>
          </a:xfrm>
          <a:prstGeom prst="rect">
            <a:avLst/>
          </a:prstGeom>
          <a:noFill/>
          <a:ln/>
        </p:spPr>
        <p:txBody>
          <a:bodyPr wrap="none" lIns="0" tIns="0" rIns="0" bIns="0" rtlCol="0" anchor="t"/>
          <a:lstStyle/>
          <a:p>
            <a:pPr marL="0" indent="0" algn="l">
              <a:lnSpc>
                <a:spcPts val="1050"/>
              </a:lnSpc>
              <a:buNone/>
            </a:pPr>
            <a:r>
              <a:rPr lang="en-US" sz="675" b="1" kern="0" spc="195" dirty="0">
                <a:solidFill>
                  <a:srgbClr val="8C6239"/>
                </a:solidFill>
                <a:latin typeface="Quicksand" pitchFamily="34" charset="0"/>
              </a:rPr>
              <a:t>CONSUMER  |  QUARTERLY SECTOR BRIEF</a:t>
            </a:r>
            <a:endParaRPr lang="en-US" sz="675" dirty="0"/>
          </a:p>
        </p:txBody>
      </p:sp>
      <p:sp>
        <p:nvSpPr>
          <p:cNvPr id="5" name="Text 4"/>
          <p:cNvSpPr txBox="1"/>
          <p:nvPr/>
        </p:nvSpPr>
        <p:spPr>
          <a:xfrm>
            <a:off x="9112597" y="381000"/>
            <a:ext cx="583853" cy="171450"/>
          </a:xfrm>
          <a:prstGeom prst="rect">
            <a:avLst/>
          </a:prstGeom>
          <a:noFill/>
          <a:ln/>
        </p:spPr>
        <p:txBody>
          <a:bodyPr wrap="none" lIns="0" tIns="0" rIns="0" bIns="0" rtlCol="0" anchor="t"/>
          <a:lstStyle/>
          <a:p>
            <a:pPr marL="0" indent="0" algn="l">
              <a:lnSpc>
                <a:spcPts val="1350"/>
              </a:lnSpc>
              <a:buNone/>
            </a:pPr>
            <a:r>
              <a:rPr lang="en-US" sz="900" kern="0" spc="90" dirty="0">
                <a:solidFill>
                  <a:srgbClr val="6F6A66"/>
                </a:solidFill>
                <a:latin typeface="Cinzel" pitchFamily="34" charset="0"/>
              </a:rPr>
              <a:t>Q4 2026</a:t>
            </a:r>
            <a:endParaRPr lang="en-US" sz="900" dirty="0"/>
          </a:p>
        </p:txBody>
      </p:sp>
      <p:sp>
        <p:nvSpPr>
          <p:cNvPr id="6" name="Text 5"/>
          <p:cNvSpPr txBox="1"/>
          <p:nvPr/>
        </p:nvSpPr>
        <p:spPr>
          <a:xfrm>
            <a:off x="419100" y="519113"/>
            <a:ext cx="9220200" cy="323850"/>
          </a:xfrm>
          <a:prstGeom prst="rect">
            <a:avLst/>
          </a:prstGeom>
          <a:noFill/>
          <a:ln/>
        </p:spPr>
        <p:txBody>
          <a:bodyPr wrap="none" lIns="0" tIns="0" rIns="0" bIns="0" rtlCol="0" anchor="t"/>
          <a:lstStyle/>
          <a:p>
            <a:pPr marL="0" indent="0" algn="l">
              <a:lnSpc>
                <a:spcPts val="2550"/>
              </a:lnSpc>
              <a:buNone/>
            </a:pPr>
            <a:r>
              <a:rPr lang="en-US" sz="2025" kern="0" spc="15" dirty="0">
                <a:solidFill>
                  <a:srgbClr val="1B1A1A"/>
                </a:solidFill>
                <a:latin typeface="Newsreader SemiBold" pitchFamily="34" charset="0"/>
              </a:rPr>
              <a:t>Public Company Market Performance</a:t>
            </a:r>
            <a:endParaRPr lang="en-US" sz="2025" dirty="0"/>
          </a:p>
        </p:txBody>
      </p:sp>
      <p:sp>
        <p:nvSpPr>
          <p:cNvPr id="7" name="Text 6"/>
          <p:cNvSpPr txBox="1"/>
          <p:nvPr/>
        </p:nvSpPr>
        <p:spPr>
          <a:xfrm>
            <a:off x="419100" y="883444"/>
            <a:ext cx="9220200" cy="176213"/>
          </a:xfrm>
          <a:prstGeom prst="rect">
            <a:avLst/>
          </a:prstGeom>
          <a:noFill/>
          <a:ln/>
        </p:spPr>
        <p:txBody>
          <a:bodyPr wrap="none" lIns="0" tIns="0" rIns="0" bIns="0" rtlCol="0" anchor="t"/>
          <a:lstStyle/>
          <a:p>
            <a:pPr marL="0" indent="0" algn="l">
              <a:lnSpc>
                <a:spcPts val="1388"/>
              </a:lnSpc>
              <a:buNone/>
            </a:pPr>
            <a:r>
              <a:rPr lang="en-US" sz="938" kern="0" spc="15" dirty="0">
                <a:solidFill>
                  <a:srgbClr val="6F6A66"/>
                </a:solidFill>
                <a:latin typeface="Quicksand" pitchFamily="34" charset="0"/>
              </a:rPr>
              <a:t>Packaged food shares have fallen about a third in a year, and earnings rose most at foodservice distributors and consumer services companies.</a:t>
            </a:r>
            <a:endParaRPr lang="en-US" sz="938" dirty="0"/>
          </a:p>
        </p:txBody>
      </p:sp>
      <p:sp>
        <p:nvSpPr>
          <p:cNvPr id="8" name="Shape 7"/>
          <p:cNvSpPr/>
          <p:nvPr/>
        </p:nvSpPr>
        <p:spPr>
          <a:xfrm>
            <a:off x="419100" y="1143000"/>
            <a:ext cx="9220200" cy="9525"/>
          </a:xfrm>
          <a:prstGeom prst="rect">
            <a:avLst/>
          </a:prstGeom>
          <a:solidFill>
            <a:srgbClr val="E3DCD3"/>
          </a:solidFill>
          <a:ln/>
        </p:spPr>
        <p:txBody>
          <a:bodyPr/>
          <a:lstStyle/>
          <a:p>
            <a:endParaRPr lang="en-US"/>
          </a:p>
        </p:txBody>
      </p:sp>
      <p:sp>
        <p:nvSpPr>
          <p:cNvPr id="9" name="Shape 8"/>
          <p:cNvSpPr/>
          <p:nvPr/>
        </p:nvSpPr>
        <p:spPr>
          <a:xfrm>
            <a:off x="419100" y="1238250"/>
            <a:ext cx="4533900" cy="4895850"/>
          </a:xfrm>
          <a:prstGeom prst="rect">
            <a:avLst/>
          </a:prstGeom>
          <a:solidFill>
            <a:srgbClr val="FAF7F3"/>
          </a:solidFill>
          <a:ln/>
        </p:spPr>
        <p:txBody>
          <a:bodyPr/>
          <a:lstStyle/>
          <a:p>
            <a:endParaRPr lang="en-US"/>
          </a:p>
        </p:txBody>
      </p:sp>
      <p:sp>
        <p:nvSpPr>
          <p:cNvPr id="10" name="Shape 9"/>
          <p:cNvSpPr/>
          <p:nvPr/>
        </p:nvSpPr>
        <p:spPr>
          <a:xfrm>
            <a:off x="419100" y="1238250"/>
            <a:ext cx="4533900" cy="28575"/>
          </a:xfrm>
          <a:prstGeom prst="rect">
            <a:avLst/>
          </a:prstGeom>
          <a:solidFill>
            <a:srgbClr val="B68757"/>
          </a:solidFill>
          <a:ln/>
        </p:spPr>
        <p:txBody>
          <a:bodyPr/>
          <a:lstStyle/>
          <a:p>
            <a:endParaRPr lang="en-US"/>
          </a:p>
        </p:txBody>
      </p:sp>
      <p:sp>
        <p:nvSpPr>
          <p:cNvPr id="11" name="Text 10"/>
          <p:cNvSpPr txBox="1"/>
          <p:nvPr/>
        </p:nvSpPr>
        <p:spPr>
          <a:xfrm>
            <a:off x="590550" y="1385888"/>
            <a:ext cx="4191000" cy="161925"/>
          </a:xfrm>
          <a:prstGeom prst="rect">
            <a:avLst/>
          </a:prstGeom>
          <a:noFill/>
          <a:ln/>
        </p:spPr>
        <p:txBody>
          <a:bodyPr wrap="none" lIns="0" tIns="0" rIns="0" bIns="0" rtlCol="0" anchor="t"/>
          <a:lstStyle/>
          <a:p>
            <a:pPr marL="0" indent="0" algn="l">
              <a:lnSpc>
                <a:spcPts val="1275"/>
              </a:lnSpc>
              <a:buNone/>
            </a:pPr>
            <a:r>
              <a:rPr lang="en-US" sz="938" b="1" kern="0" spc="15" dirty="0">
                <a:solidFill>
                  <a:srgbClr val="1B1A1A"/>
                </a:solidFill>
                <a:latin typeface="Quicksand" pitchFamily="34" charset="0"/>
              </a:rPr>
              <a:t>Median change in share price over 52 weeks</a:t>
            </a:r>
            <a:endParaRPr lang="en-US" sz="938" dirty="0"/>
          </a:p>
        </p:txBody>
      </p:sp>
      <p:sp>
        <p:nvSpPr>
          <p:cNvPr id="12" name="Text 11"/>
          <p:cNvSpPr txBox="1"/>
          <p:nvPr/>
        </p:nvSpPr>
        <p:spPr>
          <a:xfrm>
            <a:off x="590550" y="1552575"/>
            <a:ext cx="4191000" cy="123825"/>
          </a:xfrm>
          <a:prstGeom prst="rect">
            <a:avLst/>
          </a:prstGeom>
          <a:noFill/>
          <a:ln/>
        </p:spPr>
        <p:txBody>
          <a:bodyPr wrap="none" lIns="0" tIns="0" rIns="0" bIns="0" rtlCol="0" anchor="t"/>
          <a:lstStyle/>
          <a:p>
            <a:pPr marL="0" indent="0" algn="l">
              <a:lnSpc>
                <a:spcPts val="975"/>
              </a:lnSpc>
              <a:buNone/>
            </a:pPr>
            <a:r>
              <a:rPr lang="en-US" sz="705" kern="0" spc="15" dirty="0">
                <a:solidFill>
                  <a:srgbClr val="6F6A66"/>
                </a:solidFill>
                <a:latin typeface="Quicksand" pitchFamily="34" charset="0"/>
              </a:rPr>
              <a:t>Share prices dated October 2 to October 7, 2026, against a year earlier</a:t>
            </a:r>
            <a:endParaRPr lang="en-US" sz="705" dirty="0"/>
          </a:p>
        </p:txBody>
      </p:sp>
      <p:sp>
        <p:nvSpPr>
          <p:cNvPr id="13" name="Text 12"/>
          <p:cNvSpPr txBox="1"/>
          <p:nvPr/>
        </p:nvSpPr>
        <p:spPr>
          <a:xfrm>
            <a:off x="590550" y="1785938"/>
            <a:ext cx="4191000" cy="161925"/>
          </a:xfrm>
          <a:prstGeom prst="rect">
            <a:avLst/>
          </a:prstGeom>
          <a:noFill/>
          <a:ln/>
        </p:spPr>
        <p:txBody>
          <a:bodyPr wrap="none" lIns="0" tIns="0" rIns="0" bIns="0" rtlCol="0" anchor="t"/>
          <a:lstStyle/>
          <a:p>
            <a:pPr marL="0" indent="0" algn="l">
              <a:lnSpc>
                <a:spcPts val="1275"/>
              </a:lnSpc>
              <a:buNone/>
            </a:pPr>
            <a:r>
              <a:rPr lang="en-US" sz="615" b="1" kern="0" spc="135" dirty="0">
                <a:solidFill>
                  <a:srgbClr val="8C6239"/>
                </a:solidFill>
                <a:latin typeface="Quicksand" pitchFamily="34" charset="0"/>
              </a:rPr>
              <a:t>FOOD &amp; BEVERAGE</a:t>
            </a:r>
            <a:endParaRPr lang="en-US" sz="615" dirty="0"/>
          </a:p>
        </p:txBody>
      </p:sp>
      <p:sp>
        <p:nvSpPr>
          <p:cNvPr id="14" name="Text 13"/>
          <p:cNvSpPr txBox="1"/>
          <p:nvPr/>
        </p:nvSpPr>
        <p:spPr>
          <a:xfrm>
            <a:off x="590550" y="2081212"/>
            <a:ext cx="1428750" cy="123825"/>
          </a:xfrm>
          <a:prstGeom prst="rect">
            <a:avLst/>
          </a:prstGeom>
          <a:noFill/>
          <a:ln/>
        </p:spPr>
        <p:txBody>
          <a:bodyPr wrap="none" lIns="0" tIns="0" rIns="0" bIns="0" rtlCol="0" anchor="t"/>
          <a:lstStyle/>
          <a:p>
            <a:pPr marL="0" indent="0" algn="l">
              <a:lnSpc>
                <a:spcPts val="975"/>
              </a:lnSpc>
              <a:buNone/>
            </a:pPr>
            <a:r>
              <a:rPr lang="en-US" sz="795" kern="0" spc="15" dirty="0">
                <a:solidFill>
                  <a:srgbClr val="333231"/>
                </a:solidFill>
                <a:latin typeface="Quicksand SemiBold" pitchFamily="34" charset="0"/>
              </a:rPr>
              <a:t>Packaged food</a:t>
            </a:r>
            <a:endParaRPr lang="en-US" sz="795" dirty="0"/>
          </a:p>
        </p:txBody>
      </p:sp>
      <p:sp>
        <p:nvSpPr>
          <p:cNvPr id="15" name="Shape 14"/>
          <p:cNvSpPr/>
          <p:nvPr/>
        </p:nvSpPr>
        <p:spPr>
          <a:xfrm>
            <a:off x="3710880" y="1971675"/>
            <a:ext cx="9525" cy="352425"/>
          </a:xfrm>
          <a:prstGeom prst="rect">
            <a:avLst/>
          </a:prstGeom>
          <a:solidFill>
            <a:srgbClr val="C3BDB6"/>
          </a:solidFill>
          <a:ln/>
        </p:spPr>
        <p:txBody>
          <a:bodyPr/>
          <a:lstStyle/>
          <a:p>
            <a:endParaRPr lang="en-US"/>
          </a:p>
        </p:txBody>
      </p:sp>
      <p:sp>
        <p:nvSpPr>
          <p:cNvPr id="16" name="Shape 15"/>
          <p:cNvSpPr/>
          <p:nvPr/>
        </p:nvSpPr>
        <p:spPr>
          <a:xfrm>
            <a:off x="2665958" y="2085975"/>
            <a:ext cx="1045815" cy="114300"/>
          </a:xfrm>
          <a:prstGeom prst="rect">
            <a:avLst/>
          </a:prstGeom>
          <a:solidFill>
            <a:srgbClr val="B68757"/>
          </a:solidFill>
          <a:ln/>
        </p:spPr>
        <p:txBody>
          <a:bodyPr/>
          <a:lstStyle/>
          <a:p>
            <a:endParaRPr lang="en-US"/>
          </a:p>
        </p:txBody>
      </p:sp>
      <p:sp>
        <p:nvSpPr>
          <p:cNvPr id="17" name="Text 16"/>
          <p:cNvSpPr txBox="1"/>
          <p:nvPr/>
        </p:nvSpPr>
        <p:spPr>
          <a:xfrm>
            <a:off x="2257127" y="2062163"/>
            <a:ext cx="408980" cy="161925"/>
          </a:xfrm>
          <a:prstGeom prst="rect">
            <a:avLst/>
          </a:prstGeom>
          <a:noFill/>
          <a:ln/>
        </p:spPr>
        <p:txBody>
          <a:bodyPr wrap="none" lIns="0" tIns="0" rIns="0" bIns="0" rtlCol="0" anchor="t"/>
          <a:lstStyle/>
          <a:p>
            <a:pPr marL="0" indent="0" algn="l">
              <a:lnSpc>
                <a:spcPts val="1275"/>
              </a:lnSpc>
              <a:buNone/>
            </a:pPr>
            <a:r>
              <a:rPr lang="en-US" sz="788" b="1" kern="0" spc="15" dirty="0">
                <a:solidFill>
                  <a:srgbClr val="1B1A1A"/>
                </a:solidFill>
                <a:latin typeface="Quicksand" pitchFamily="34" charset="0"/>
              </a:rPr>
              <a:t>−30.9%</a:t>
            </a:r>
            <a:endParaRPr lang="en-US" sz="788" dirty="0"/>
          </a:p>
        </p:txBody>
      </p:sp>
      <p:sp>
        <p:nvSpPr>
          <p:cNvPr id="18" name="Text 17"/>
          <p:cNvSpPr txBox="1"/>
          <p:nvPr/>
        </p:nvSpPr>
        <p:spPr>
          <a:xfrm>
            <a:off x="590550" y="2433638"/>
            <a:ext cx="1428750" cy="123825"/>
          </a:xfrm>
          <a:prstGeom prst="rect">
            <a:avLst/>
          </a:prstGeom>
          <a:noFill/>
          <a:ln/>
        </p:spPr>
        <p:txBody>
          <a:bodyPr wrap="none" lIns="0" tIns="0" rIns="0" bIns="0" rtlCol="0" anchor="t"/>
          <a:lstStyle/>
          <a:p>
            <a:pPr marL="0" indent="0" algn="l">
              <a:lnSpc>
                <a:spcPts val="975"/>
              </a:lnSpc>
              <a:buNone/>
            </a:pPr>
            <a:r>
              <a:rPr lang="en-US" sz="795" kern="0" spc="15" dirty="0">
                <a:solidFill>
                  <a:srgbClr val="333231"/>
                </a:solidFill>
                <a:latin typeface="Quicksand SemiBold" pitchFamily="34" charset="0"/>
              </a:rPr>
              <a:t>Snacks</a:t>
            </a:r>
            <a:endParaRPr lang="en-US" sz="795" dirty="0"/>
          </a:p>
        </p:txBody>
      </p:sp>
      <p:sp>
        <p:nvSpPr>
          <p:cNvPr id="19" name="Shape 18"/>
          <p:cNvSpPr/>
          <p:nvPr/>
        </p:nvSpPr>
        <p:spPr>
          <a:xfrm>
            <a:off x="3710880" y="2324100"/>
            <a:ext cx="9525" cy="352425"/>
          </a:xfrm>
          <a:prstGeom prst="rect">
            <a:avLst/>
          </a:prstGeom>
          <a:solidFill>
            <a:srgbClr val="C3BDB6"/>
          </a:solidFill>
          <a:ln/>
        </p:spPr>
        <p:txBody>
          <a:bodyPr/>
          <a:lstStyle/>
          <a:p>
            <a:endParaRPr lang="en-US"/>
          </a:p>
        </p:txBody>
      </p:sp>
      <p:sp>
        <p:nvSpPr>
          <p:cNvPr id="20" name="Shape 19"/>
          <p:cNvSpPr/>
          <p:nvPr/>
        </p:nvSpPr>
        <p:spPr>
          <a:xfrm>
            <a:off x="2430661" y="2438400"/>
            <a:ext cx="1281113" cy="114300"/>
          </a:xfrm>
          <a:prstGeom prst="rect">
            <a:avLst/>
          </a:prstGeom>
          <a:solidFill>
            <a:srgbClr val="B68757"/>
          </a:solidFill>
          <a:ln/>
        </p:spPr>
        <p:txBody>
          <a:bodyPr/>
          <a:lstStyle/>
          <a:p>
            <a:endParaRPr lang="en-US"/>
          </a:p>
        </p:txBody>
      </p:sp>
      <p:sp>
        <p:nvSpPr>
          <p:cNvPr id="21" name="Text 20"/>
          <p:cNvSpPr txBox="1"/>
          <p:nvPr/>
        </p:nvSpPr>
        <p:spPr>
          <a:xfrm>
            <a:off x="2035373" y="2414588"/>
            <a:ext cx="395436" cy="161925"/>
          </a:xfrm>
          <a:prstGeom prst="rect">
            <a:avLst/>
          </a:prstGeom>
          <a:noFill/>
          <a:ln/>
        </p:spPr>
        <p:txBody>
          <a:bodyPr wrap="none" lIns="0" tIns="0" rIns="0" bIns="0" rtlCol="0" anchor="t"/>
          <a:lstStyle/>
          <a:p>
            <a:pPr marL="0" indent="0" algn="l">
              <a:lnSpc>
                <a:spcPts val="1275"/>
              </a:lnSpc>
              <a:buNone/>
            </a:pPr>
            <a:r>
              <a:rPr lang="en-US" sz="788" b="1" kern="0" spc="15" dirty="0">
                <a:solidFill>
                  <a:srgbClr val="1B1A1A"/>
                </a:solidFill>
                <a:latin typeface="Quicksand" pitchFamily="34" charset="0"/>
              </a:rPr>
              <a:t>−37.9%</a:t>
            </a:r>
            <a:endParaRPr lang="en-US" sz="788" dirty="0"/>
          </a:p>
        </p:txBody>
      </p:sp>
      <p:sp>
        <p:nvSpPr>
          <p:cNvPr id="22" name="Text 21"/>
          <p:cNvSpPr txBox="1"/>
          <p:nvPr/>
        </p:nvSpPr>
        <p:spPr>
          <a:xfrm>
            <a:off x="590550" y="2786063"/>
            <a:ext cx="1428750" cy="123825"/>
          </a:xfrm>
          <a:prstGeom prst="rect">
            <a:avLst/>
          </a:prstGeom>
          <a:noFill/>
          <a:ln/>
        </p:spPr>
        <p:txBody>
          <a:bodyPr wrap="none" lIns="0" tIns="0" rIns="0" bIns="0" rtlCol="0" anchor="t"/>
          <a:lstStyle/>
          <a:p>
            <a:pPr marL="0" indent="0" algn="l">
              <a:lnSpc>
                <a:spcPts val="975"/>
              </a:lnSpc>
              <a:buNone/>
            </a:pPr>
            <a:r>
              <a:rPr lang="en-US" sz="795" kern="0" spc="15" dirty="0">
                <a:solidFill>
                  <a:srgbClr val="333231"/>
                </a:solidFill>
                <a:latin typeface="Quicksand SemiBold" pitchFamily="34" charset="0"/>
              </a:rPr>
              <a:t>Beverages</a:t>
            </a:r>
            <a:endParaRPr lang="en-US" sz="795" dirty="0"/>
          </a:p>
        </p:txBody>
      </p:sp>
      <p:sp>
        <p:nvSpPr>
          <p:cNvPr id="23" name="Shape 22"/>
          <p:cNvSpPr/>
          <p:nvPr/>
        </p:nvSpPr>
        <p:spPr>
          <a:xfrm>
            <a:off x="3710880" y="2676525"/>
            <a:ext cx="9525" cy="352425"/>
          </a:xfrm>
          <a:prstGeom prst="rect">
            <a:avLst/>
          </a:prstGeom>
          <a:solidFill>
            <a:srgbClr val="C3BDB6"/>
          </a:solidFill>
          <a:ln/>
        </p:spPr>
        <p:txBody>
          <a:bodyPr/>
          <a:lstStyle/>
          <a:p>
            <a:endParaRPr lang="en-US"/>
          </a:p>
        </p:txBody>
      </p:sp>
      <p:sp>
        <p:nvSpPr>
          <p:cNvPr id="24" name="Shape 23"/>
          <p:cNvSpPr/>
          <p:nvPr/>
        </p:nvSpPr>
        <p:spPr>
          <a:xfrm>
            <a:off x="3710880" y="2790825"/>
            <a:ext cx="179933" cy="114300"/>
          </a:xfrm>
          <a:prstGeom prst="rect">
            <a:avLst/>
          </a:prstGeom>
          <a:solidFill>
            <a:srgbClr val="B68757"/>
          </a:solidFill>
          <a:ln/>
        </p:spPr>
        <p:txBody>
          <a:bodyPr/>
          <a:lstStyle/>
          <a:p>
            <a:endParaRPr lang="en-US"/>
          </a:p>
        </p:txBody>
      </p:sp>
      <p:sp>
        <p:nvSpPr>
          <p:cNvPr id="25" name="Text 24"/>
          <p:cNvSpPr txBox="1"/>
          <p:nvPr/>
        </p:nvSpPr>
        <p:spPr>
          <a:xfrm>
            <a:off x="3948112" y="2767013"/>
            <a:ext cx="338435" cy="161925"/>
          </a:xfrm>
          <a:prstGeom prst="rect">
            <a:avLst/>
          </a:prstGeom>
          <a:noFill/>
          <a:ln/>
        </p:spPr>
        <p:txBody>
          <a:bodyPr wrap="none" lIns="0" tIns="0" rIns="0" bIns="0" rtlCol="0" anchor="t"/>
          <a:lstStyle/>
          <a:p>
            <a:pPr marL="0" indent="0" algn="l">
              <a:lnSpc>
                <a:spcPts val="1275"/>
              </a:lnSpc>
              <a:buNone/>
            </a:pPr>
            <a:r>
              <a:rPr lang="en-US" sz="788" b="1" kern="0" spc="15" dirty="0">
                <a:solidFill>
                  <a:srgbClr val="1B1A1A"/>
                </a:solidFill>
                <a:latin typeface="Quicksand" pitchFamily="34" charset="0"/>
              </a:rPr>
              <a:t>+5.3%</a:t>
            </a:r>
            <a:endParaRPr lang="en-US" sz="788" dirty="0"/>
          </a:p>
        </p:txBody>
      </p:sp>
      <p:sp>
        <p:nvSpPr>
          <p:cNvPr id="26" name="Text 25"/>
          <p:cNvSpPr txBox="1"/>
          <p:nvPr/>
        </p:nvSpPr>
        <p:spPr>
          <a:xfrm>
            <a:off x="590550" y="3100388"/>
            <a:ext cx="4191000" cy="161925"/>
          </a:xfrm>
          <a:prstGeom prst="rect">
            <a:avLst/>
          </a:prstGeom>
          <a:noFill/>
          <a:ln/>
        </p:spPr>
        <p:txBody>
          <a:bodyPr wrap="none" lIns="0" tIns="0" rIns="0" bIns="0" rtlCol="0" anchor="t"/>
          <a:lstStyle/>
          <a:p>
            <a:pPr marL="0" indent="0" algn="l">
              <a:lnSpc>
                <a:spcPts val="1275"/>
              </a:lnSpc>
              <a:buNone/>
            </a:pPr>
            <a:r>
              <a:rPr lang="en-US" sz="615" b="1" kern="0" spc="135" dirty="0">
                <a:solidFill>
                  <a:srgbClr val="8C6239"/>
                </a:solidFill>
                <a:latin typeface="Quicksand" pitchFamily="34" charset="0"/>
              </a:rPr>
              <a:t>CONSUMER BRANDS &amp; PRODUCTS</a:t>
            </a:r>
            <a:endParaRPr lang="en-US" sz="615" dirty="0"/>
          </a:p>
        </p:txBody>
      </p:sp>
      <p:sp>
        <p:nvSpPr>
          <p:cNvPr id="27" name="Text 26"/>
          <p:cNvSpPr txBox="1"/>
          <p:nvPr/>
        </p:nvSpPr>
        <p:spPr>
          <a:xfrm>
            <a:off x="590550" y="3395663"/>
            <a:ext cx="1428750" cy="123825"/>
          </a:xfrm>
          <a:prstGeom prst="rect">
            <a:avLst/>
          </a:prstGeom>
          <a:noFill/>
          <a:ln/>
        </p:spPr>
        <p:txBody>
          <a:bodyPr wrap="none" lIns="0" tIns="0" rIns="0" bIns="0" rtlCol="0" anchor="t"/>
          <a:lstStyle/>
          <a:p>
            <a:pPr marL="0" indent="0" algn="l">
              <a:lnSpc>
                <a:spcPts val="975"/>
              </a:lnSpc>
              <a:buNone/>
            </a:pPr>
            <a:r>
              <a:rPr lang="en-US" sz="795" kern="0" spc="15" dirty="0">
                <a:solidFill>
                  <a:srgbClr val="333231"/>
                </a:solidFill>
                <a:latin typeface="Quicksand SemiBold" pitchFamily="34" charset="0"/>
              </a:rPr>
              <a:t>Household &amp; personal care</a:t>
            </a:r>
            <a:endParaRPr lang="en-US" sz="795" dirty="0"/>
          </a:p>
        </p:txBody>
      </p:sp>
      <p:sp>
        <p:nvSpPr>
          <p:cNvPr id="28" name="Shape 27"/>
          <p:cNvSpPr/>
          <p:nvPr/>
        </p:nvSpPr>
        <p:spPr>
          <a:xfrm>
            <a:off x="3710880" y="3286125"/>
            <a:ext cx="9525" cy="352425"/>
          </a:xfrm>
          <a:prstGeom prst="rect">
            <a:avLst/>
          </a:prstGeom>
          <a:solidFill>
            <a:srgbClr val="C3BDB6"/>
          </a:solidFill>
          <a:ln/>
        </p:spPr>
        <p:txBody>
          <a:bodyPr/>
          <a:lstStyle/>
          <a:p>
            <a:endParaRPr lang="en-US"/>
          </a:p>
        </p:txBody>
      </p:sp>
      <p:sp>
        <p:nvSpPr>
          <p:cNvPr id="29" name="Shape 28"/>
          <p:cNvSpPr/>
          <p:nvPr/>
        </p:nvSpPr>
        <p:spPr>
          <a:xfrm>
            <a:off x="3710880" y="3400425"/>
            <a:ext cx="92273" cy="114300"/>
          </a:xfrm>
          <a:prstGeom prst="rect">
            <a:avLst/>
          </a:prstGeom>
          <a:solidFill>
            <a:srgbClr val="B68757"/>
          </a:solidFill>
          <a:ln/>
        </p:spPr>
        <p:txBody>
          <a:bodyPr/>
          <a:lstStyle/>
          <a:p>
            <a:endParaRPr lang="en-US"/>
          </a:p>
        </p:txBody>
      </p:sp>
      <p:sp>
        <p:nvSpPr>
          <p:cNvPr id="30" name="Text 29"/>
          <p:cNvSpPr txBox="1"/>
          <p:nvPr/>
        </p:nvSpPr>
        <p:spPr>
          <a:xfrm>
            <a:off x="3860453" y="3376613"/>
            <a:ext cx="342900" cy="161925"/>
          </a:xfrm>
          <a:prstGeom prst="rect">
            <a:avLst/>
          </a:prstGeom>
          <a:noFill/>
          <a:ln/>
        </p:spPr>
        <p:txBody>
          <a:bodyPr wrap="none" lIns="0" tIns="0" rIns="0" bIns="0" rtlCol="0" anchor="t"/>
          <a:lstStyle/>
          <a:p>
            <a:pPr marL="0" indent="0" algn="l">
              <a:lnSpc>
                <a:spcPts val="1275"/>
              </a:lnSpc>
              <a:buNone/>
            </a:pPr>
            <a:r>
              <a:rPr lang="en-US" sz="788" b="1" kern="0" spc="15" dirty="0">
                <a:solidFill>
                  <a:srgbClr val="1B1A1A"/>
                </a:solidFill>
                <a:latin typeface="Quicksand" pitchFamily="34" charset="0"/>
              </a:rPr>
              <a:t>+2.7%</a:t>
            </a:r>
            <a:endParaRPr lang="en-US" sz="788" dirty="0"/>
          </a:p>
        </p:txBody>
      </p:sp>
      <p:sp>
        <p:nvSpPr>
          <p:cNvPr id="31" name="Text 30"/>
          <p:cNvSpPr txBox="1"/>
          <p:nvPr/>
        </p:nvSpPr>
        <p:spPr>
          <a:xfrm>
            <a:off x="590550" y="3748087"/>
            <a:ext cx="1428750" cy="123825"/>
          </a:xfrm>
          <a:prstGeom prst="rect">
            <a:avLst/>
          </a:prstGeom>
          <a:noFill/>
          <a:ln/>
        </p:spPr>
        <p:txBody>
          <a:bodyPr wrap="none" lIns="0" tIns="0" rIns="0" bIns="0" rtlCol="0" anchor="t"/>
          <a:lstStyle/>
          <a:p>
            <a:pPr marL="0" indent="0" algn="l">
              <a:lnSpc>
                <a:spcPts val="975"/>
              </a:lnSpc>
              <a:buNone/>
            </a:pPr>
            <a:r>
              <a:rPr lang="en-US" sz="795" kern="0" spc="15" dirty="0">
                <a:solidFill>
                  <a:srgbClr val="333231"/>
                </a:solidFill>
                <a:latin typeface="Quicksand SemiBold" pitchFamily="34" charset="0"/>
              </a:rPr>
              <a:t>Durables, outdoor &amp; pet</a:t>
            </a:r>
            <a:endParaRPr lang="en-US" sz="795" dirty="0"/>
          </a:p>
        </p:txBody>
      </p:sp>
      <p:sp>
        <p:nvSpPr>
          <p:cNvPr id="32" name="Shape 31"/>
          <p:cNvSpPr/>
          <p:nvPr/>
        </p:nvSpPr>
        <p:spPr>
          <a:xfrm>
            <a:off x="3710880" y="3638550"/>
            <a:ext cx="9525" cy="352425"/>
          </a:xfrm>
          <a:prstGeom prst="rect">
            <a:avLst/>
          </a:prstGeom>
          <a:solidFill>
            <a:srgbClr val="C3BDB6"/>
          </a:solidFill>
          <a:ln/>
        </p:spPr>
        <p:txBody>
          <a:bodyPr/>
          <a:lstStyle/>
          <a:p>
            <a:endParaRPr lang="en-US"/>
          </a:p>
        </p:txBody>
      </p:sp>
      <p:sp>
        <p:nvSpPr>
          <p:cNvPr id="33" name="Shape 32"/>
          <p:cNvSpPr/>
          <p:nvPr/>
        </p:nvSpPr>
        <p:spPr>
          <a:xfrm>
            <a:off x="3710880" y="3752850"/>
            <a:ext cx="385763" cy="114300"/>
          </a:xfrm>
          <a:prstGeom prst="rect">
            <a:avLst/>
          </a:prstGeom>
          <a:solidFill>
            <a:srgbClr val="B68757"/>
          </a:solidFill>
          <a:ln/>
        </p:spPr>
        <p:txBody>
          <a:bodyPr/>
          <a:lstStyle/>
          <a:p>
            <a:endParaRPr lang="en-US"/>
          </a:p>
        </p:txBody>
      </p:sp>
      <p:sp>
        <p:nvSpPr>
          <p:cNvPr id="34" name="Text 33"/>
          <p:cNvSpPr txBox="1"/>
          <p:nvPr/>
        </p:nvSpPr>
        <p:spPr>
          <a:xfrm>
            <a:off x="4153793" y="3729038"/>
            <a:ext cx="362545" cy="161925"/>
          </a:xfrm>
          <a:prstGeom prst="rect">
            <a:avLst/>
          </a:prstGeom>
          <a:noFill/>
          <a:ln/>
        </p:spPr>
        <p:txBody>
          <a:bodyPr wrap="none" lIns="0" tIns="0" rIns="0" bIns="0" rtlCol="0" anchor="t"/>
          <a:lstStyle/>
          <a:p>
            <a:pPr marL="0" indent="0" algn="l">
              <a:lnSpc>
                <a:spcPts val="1275"/>
              </a:lnSpc>
              <a:buNone/>
            </a:pPr>
            <a:r>
              <a:rPr lang="en-US" sz="788" b="1" kern="0" spc="15" dirty="0">
                <a:solidFill>
                  <a:srgbClr val="1B1A1A"/>
                </a:solidFill>
                <a:latin typeface="Quicksand" pitchFamily="34" charset="0"/>
              </a:rPr>
              <a:t>+11.4%</a:t>
            </a:r>
            <a:endParaRPr lang="en-US" sz="788" dirty="0"/>
          </a:p>
        </p:txBody>
      </p:sp>
      <p:sp>
        <p:nvSpPr>
          <p:cNvPr id="35" name="Text 34"/>
          <p:cNvSpPr txBox="1"/>
          <p:nvPr/>
        </p:nvSpPr>
        <p:spPr>
          <a:xfrm>
            <a:off x="590550" y="4062412"/>
            <a:ext cx="4191000" cy="161925"/>
          </a:xfrm>
          <a:prstGeom prst="rect">
            <a:avLst/>
          </a:prstGeom>
          <a:noFill/>
          <a:ln/>
        </p:spPr>
        <p:txBody>
          <a:bodyPr wrap="none" lIns="0" tIns="0" rIns="0" bIns="0" rtlCol="0" anchor="t"/>
          <a:lstStyle/>
          <a:p>
            <a:pPr marL="0" indent="0" algn="l">
              <a:lnSpc>
                <a:spcPts val="1275"/>
              </a:lnSpc>
              <a:buNone/>
            </a:pPr>
            <a:r>
              <a:rPr lang="en-US" sz="615" b="1" kern="0" spc="135" dirty="0">
                <a:solidFill>
                  <a:srgbClr val="8C6239"/>
                </a:solidFill>
                <a:latin typeface="Quicksand" pitchFamily="34" charset="0"/>
              </a:rPr>
              <a:t>FOODSERVICE &amp; DISTRIBUTION</a:t>
            </a:r>
            <a:endParaRPr lang="en-US" sz="615" dirty="0"/>
          </a:p>
        </p:txBody>
      </p:sp>
      <p:sp>
        <p:nvSpPr>
          <p:cNvPr id="36" name="Text 35"/>
          <p:cNvSpPr txBox="1"/>
          <p:nvPr/>
        </p:nvSpPr>
        <p:spPr>
          <a:xfrm>
            <a:off x="590550" y="4357688"/>
            <a:ext cx="1428750" cy="123825"/>
          </a:xfrm>
          <a:prstGeom prst="rect">
            <a:avLst/>
          </a:prstGeom>
          <a:noFill/>
          <a:ln/>
        </p:spPr>
        <p:txBody>
          <a:bodyPr wrap="none" lIns="0" tIns="0" rIns="0" bIns="0" rtlCol="0" anchor="t"/>
          <a:lstStyle/>
          <a:p>
            <a:pPr marL="0" indent="0" algn="l">
              <a:lnSpc>
                <a:spcPts val="975"/>
              </a:lnSpc>
              <a:buNone/>
            </a:pPr>
            <a:r>
              <a:rPr lang="en-US" sz="795" kern="0" spc="15" dirty="0">
                <a:solidFill>
                  <a:srgbClr val="333231"/>
                </a:solidFill>
                <a:latin typeface="Quicksand SemiBold" pitchFamily="34" charset="0"/>
              </a:rPr>
              <a:t>Foodservice distribution</a:t>
            </a:r>
            <a:endParaRPr lang="en-US" sz="795" dirty="0"/>
          </a:p>
        </p:txBody>
      </p:sp>
      <p:sp>
        <p:nvSpPr>
          <p:cNvPr id="37" name="Shape 36"/>
          <p:cNvSpPr/>
          <p:nvPr/>
        </p:nvSpPr>
        <p:spPr>
          <a:xfrm>
            <a:off x="3710880" y="4248150"/>
            <a:ext cx="9525" cy="352425"/>
          </a:xfrm>
          <a:prstGeom prst="rect">
            <a:avLst/>
          </a:prstGeom>
          <a:solidFill>
            <a:srgbClr val="C3BDB6"/>
          </a:solidFill>
          <a:ln/>
        </p:spPr>
        <p:txBody>
          <a:bodyPr/>
          <a:lstStyle/>
          <a:p>
            <a:endParaRPr lang="en-US"/>
          </a:p>
        </p:txBody>
      </p:sp>
      <p:sp>
        <p:nvSpPr>
          <p:cNvPr id="38" name="Shape 37"/>
          <p:cNvSpPr/>
          <p:nvPr/>
        </p:nvSpPr>
        <p:spPr>
          <a:xfrm>
            <a:off x="3710880" y="4362450"/>
            <a:ext cx="38100" cy="114300"/>
          </a:xfrm>
          <a:prstGeom prst="rect">
            <a:avLst/>
          </a:prstGeom>
          <a:solidFill>
            <a:srgbClr val="B68757"/>
          </a:solidFill>
          <a:ln/>
        </p:spPr>
        <p:txBody>
          <a:bodyPr/>
          <a:lstStyle/>
          <a:p>
            <a:endParaRPr lang="en-US"/>
          </a:p>
        </p:txBody>
      </p:sp>
      <p:sp>
        <p:nvSpPr>
          <p:cNvPr id="39" name="Text 38"/>
          <p:cNvSpPr txBox="1"/>
          <p:nvPr/>
        </p:nvSpPr>
        <p:spPr>
          <a:xfrm>
            <a:off x="3806130" y="4338638"/>
            <a:ext cx="299889" cy="161925"/>
          </a:xfrm>
          <a:prstGeom prst="rect">
            <a:avLst/>
          </a:prstGeom>
          <a:noFill/>
          <a:ln/>
        </p:spPr>
        <p:txBody>
          <a:bodyPr wrap="none" lIns="0" tIns="0" rIns="0" bIns="0" rtlCol="0" anchor="t"/>
          <a:lstStyle/>
          <a:p>
            <a:pPr marL="0" indent="0" algn="l">
              <a:lnSpc>
                <a:spcPts val="1275"/>
              </a:lnSpc>
              <a:buNone/>
            </a:pPr>
            <a:r>
              <a:rPr lang="en-US" sz="788" b="1" kern="0" spc="15" dirty="0">
                <a:solidFill>
                  <a:srgbClr val="1B1A1A"/>
                </a:solidFill>
                <a:latin typeface="Quicksand" pitchFamily="34" charset="0"/>
              </a:rPr>
              <a:t>+1.1%</a:t>
            </a:r>
            <a:endParaRPr lang="en-US" sz="788" dirty="0"/>
          </a:p>
        </p:txBody>
      </p:sp>
      <p:sp>
        <p:nvSpPr>
          <p:cNvPr id="40" name="Text 39"/>
          <p:cNvSpPr txBox="1"/>
          <p:nvPr/>
        </p:nvSpPr>
        <p:spPr>
          <a:xfrm>
            <a:off x="590550" y="4672013"/>
            <a:ext cx="4191000" cy="161925"/>
          </a:xfrm>
          <a:prstGeom prst="rect">
            <a:avLst/>
          </a:prstGeom>
          <a:noFill/>
          <a:ln/>
        </p:spPr>
        <p:txBody>
          <a:bodyPr wrap="none" lIns="0" tIns="0" rIns="0" bIns="0" rtlCol="0" anchor="t"/>
          <a:lstStyle/>
          <a:p>
            <a:pPr marL="0" indent="0" algn="l">
              <a:lnSpc>
                <a:spcPts val="1275"/>
              </a:lnSpc>
              <a:buNone/>
            </a:pPr>
            <a:r>
              <a:rPr lang="en-US" sz="615" b="1" kern="0" spc="135" dirty="0">
                <a:solidFill>
                  <a:srgbClr val="8C6239"/>
                </a:solidFill>
                <a:latin typeface="Quicksand" pitchFamily="34" charset="0"/>
              </a:rPr>
              <a:t>CONSUMER SERVICES &amp; RETAIL</a:t>
            </a:r>
            <a:endParaRPr lang="en-US" sz="615" dirty="0"/>
          </a:p>
        </p:txBody>
      </p:sp>
      <p:sp>
        <p:nvSpPr>
          <p:cNvPr id="41" name="Text 40"/>
          <p:cNvSpPr txBox="1"/>
          <p:nvPr/>
        </p:nvSpPr>
        <p:spPr>
          <a:xfrm>
            <a:off x="590550" y="4967288"/>
            <a:ext cx="1428750" cy="123825"/>
          </a:xfrm>
          <a:prstGeom prst="rect">
            <a:avLst/>
          </a:prstGeom>
          <a:noFill/>
          <a:ln/>
        </p:spPr>
        <p:txBody>
          <a:bodyPr wrap="none" lIns="0" tIns="0" rIns="0" bIns="0" rtlCol="0" anchor="t"/>
          <a:lstStyle/>
          <a:p>
            <a:pPr marL="0" indent="0" algn="l">
              <a:lnSpc>
                <a:spcPts val="975"/>
              </a:lnSpc>
              <a:buNone/>
            </a:pPr>
            <a:r>
              <a:rPr lang="en-US" sz="795" kern="0" spc="15" dirty="0">
                <a:solidFill>
                  <a:srgbClr val="333231"/>
                </a:solidFill>
                <a:latin typeface="Quicksand SemiBold" pitchFamily="34" charset="0"/>
              </a:rPr>
              <a:t>Restaurants</a:t>
            </a:r>
            <a:endParaRPr lang="en-US" sz="795" dirty="0"/>
          </a:p>
        </p:txBody>
      </p:sp>
      <p:sp>
        <p:nvSpPr>
          <p:cNvPr id="42" name="Shape 41"/>
          <p:cNvSpPr/>
          <p:nvPr/>
        </p:nvSpPr>
        <p:spPr>
          <a:xfrm>
            <a:off x="3710880" y="4857750"/>
            <a:ext cx="9525" cy="352425"/>
          </a:xfrm>
          <a:prstGeom prst="rect">
            <a:avLst/>
          </a:prstGeom>
          <a:solidFill>
            <a:srgbClr val="C3BDB6"/>
          </a:solidFill>
          <a:ln/>
        </p:spPr>
        <p:txBody>
          <a:bodyPr/>
          <a:lstStyle/>
          <a:p>
            <a:endParaRPr lang="en-US"/>
          </a:p>
        </p:txBody>
      </p:sp>
      <p:sp>
        <p:nvSpPr>
          <p:cNvPr id="43" name="Shape 42"/>
          <p:cNvSpPr/>
          <p:nvPr/>
        </p:nvSpPr>
        <p:spPr>
          <a:xfrm>
            <a:off x="3316486" y="4972050"/>
            <a:ext cx="395288" cy="114300"/>
          </a:xfrm>
          <a:prstGeom prst="rect">
            <a:avLst/>
          </a:prstGeom>
          <a:solidFill>
            <a:srgbClr val="B68757"/>
          </a:solidFill>
          <a:ln/>
        </p:spPr>
        <p:txBody>
          <a:bodyPr/>
          <a:lstStyle/>
          <a:p>
            <a:endParaRPr lang="en-US"/>
          </a:p>
        </p:txBody>
      </p:sp>
      <p:sp>
        <p:nvSpPr>
          <p:cNvPr id="44" name="Text 43"/>
          <p:cNvSpPr txBox="1"/>
          <p:nvPr/>
        </p:nvSpPr>
        <p:spPr>
          <a:xfrm>
            <a:off x="2950815" y="4948238"/>
            <a:ext cx="365820" cy="161925"/>
          </a:xfrm>
          <a:prstGeom prst="rect">
            <a:avLst/>
          </a:prstGeom>
          <a:noFill/>
          <a:ln/>
        </p:spPr>
        <p:txBody>
          <a:bodyPr wrap="none" lIns="0" tIns="0" rIns="0" bIns="0" rtlCol="0" anchor="t"/>
          <a:lstStyle/>
          <a:p>
            <a:pPr marL="0" indent="0" algn="l">
              <a:lnSpc>
                <a:spcPts val="1275"/>
              </a:lnSpc>
              <a:buNone/>
            </a:pPr>
            <a:r>
              <a:rPr lang="en-US" sz="788" b="1" kern="0" spc="15" dirty="0">
                <a:solidFill>
                  <a:srgbClr val="1B1A1A"/>
                </a:solidFill>
                <a:latin typeface="Quicksand" pitchFamily="34" charset="0"/>
              </a:rPr>
              <a:t>−11.7%</a:t>
            </a:r>
            <a:endParaRPr lang="en-US" sz="788" dirty="0"/>
          </a:p>
        </p:txBody>
      </p:sp>
      <p:sp>
        <p:nvSpPr>
          <p:cNvPr id="45" name="Text 44"/>
          <p:cNvSpPr txBox="1"/>
          <p:nvPr/>
        </p:nvSpPr>
        <p:spPr>
          <a:xfrm>
            <a:off x="590550" y="5319713"/>
            <a:ext cx="1428750" cy="123825"/>
          </a:xfrm>
          <a:prstGeom prst="rect">
            <a:avLst/>
          </a:prstGeom>
          <a:noFill/>
          <a:ln/>
        </p:spPr>
        <p:txBody>
          <a:bodyPr wrap="none" lIns="0" tIns="0" rIns="0" bIns="0" rtlCol="0" anchor="t"/>
          <a:lstStyle/>
          <a:p>
            <a:pPr marL="0" indent="0" algn="l">
              <a:lnSpc>
                <a:spcPts val="975"/>
              </a:lnSpc>
              <a:buNone/>
            </a:pPr>
            <a:r>
              <a:rPr lang="en-US" sz="795" kern="0" spc="15" dirty="0">
                <a:solidFill>
                  <a:srgbClr val="333231"/>
                </a:solidFill>
                <a:latin typeface="Quicksand SemiBold" pitchFamily="34" charset="0"/>
              </a:rPr>
              <a:t>Consumer services</a:t>
            </a:r>
            <a:endParaRPr lang="en-US" sz="795" dirty="0"/>
          </a:p>
        </p:txBody>
      </p:sp>
      <p:sp>
        <p:nvSpPr>
          <p:cNvPr id="46" name="Shape 45"/>
          <p:cNvSpPr/>
          <p:nvPr/>
        </p:nvSpPr>
        <p:spPr>
          <a:xfrm>
            <a:off x="3710880" y="5210175"/>
            <a:ext cx="9525" cy="352425"/>
          </a:xfrm>
          <a:prstGeom prst="rect">
            <a:avLst/>
          </a:prstGeom>
          <a:solidFill>
            <a:srgbClr val="C3BDB6"/>
          </a:solidFill>
          <a:ln/>
        </p:spPr>
        <p:txBody>
          <a:bodyPr/>
          <a:lstStyle/>
          <a:p>
            <a:endParaRPr lang="en-US"/>
          </a:p>
        </p:txBody>
      </p:sp>
      <p:sp>
        <p:nvSpPr>
          <p:cNvPr id="47" name="Shape 46"/>
          <p:cNvSpPr/>
          <p:nvPr/>
        </p:nvSpPr>
        <p:spPr>
          <a:xfrm>
            <a:off x="2869853" y="5324475"/>
            <a:ext cx="841028" cy="114300"/>
          </a:xfrm>
          <a:prstGeom prst="rect">
            <a:avLst/>
          </a:prstGeom>
          <a:solidFill>
            <a:srgbClr val="B68757"/>
          </a:solidFill>
          <a:ln/>
        </p:spPr>
        <p:txBody>
          <a:bodyPr/>
          <a:lstStyle/>
          <a:p>
            <a:endParaRPr lang="en-US"/>
          </a:p>
        </p:txBody>
      </p:sp>
      <p:sp>
        <p:nvSpPr>
          <p:cNvPr id="48" name="Text 47"/>
          <p:cNvSpPr txBox="1"/>
          <p:nvPr/>
        </p:nvSpPr>
        <p:spPr>
          <a:xfrm>
            <a:off x="2460427" y="5300663"/>
            <a:ext cx="409575" cy="161925"/>
          </a:xfrm>
          <a:prstGeom prst="rect">
            <a:avLst/>
          </a:prstGeom>
          <a:noFill/>
          <a:ln/>
        </p:spPr>
        <p:txBody>
          <a:bodyPr wrap="none" lIns="0" tIns="0" rIns="0" bIns="0" rtlCol="0" anchor="t"/>
          <a:lstStyle/>
          <a:p>
            <a:pPr marL="0" indent="0" algn="l">
              <a:lnSpc>
                <a:spcPts val="1275"/>
              </a:lnSpc>
              <a:buNone/>
            </a:pPr>
            <a:r>
              <a:rPr lang="en-US" sz="788" b="1" kern="0" spc="15" dirty="0">
                <a:solidFill>
                  <a:srgbClr val="1B1A1A"/>
                </a:solidFill>
                <a:latin typeface="Quicksand" pitchFamily="34" charset="0"/>
              </a:rPr>
              <a:t>−24.9%</a:t>
            </a:r>
            <a:endParaRPr lang="en-US" sz="788" dirty="0"/>
          </a:p>
        </p:txBody>
      </p:sp>
      <p:sp>
        <p:nvSpPr>
          <p:cNvPr id="49" name="Text 48"/>
          <p:cNvSpPr txBox="1"/>
          <p:nvPr/>
        </p:nvSpPr>
        <p:spPr>
          <a:xfrm>
            <a:off x="590550" y="5672138"/>
            <a:ext cx="1428750" cy="123825"/>
          </a:xfrm>
          <a:prstGeom prst="rect">
            <a:avLst/>
          </a:prstGeom>
          <a:noFill/>
          <a:ln/>
        </p:spPr>
        <p:txBody>
          <a:bodyPr wrap="none" lIns="0" tIns="0" rIns="0" bIns="0" rtlCol="0" anchor="t"/>
          <a:lstStyle/>
          <a:p>
            <a:pPr marL="0" indent="0" algn="l">
              <a:lnSpc>
                <a:spcPts val="975"/>
              </a:lnSpc>
              <a:buNone/>
            </a:pPr>
            <a:r>
              <a:rPr lang="en-US" sz="795" kern="0" spc="15" dirty="0">
                <a:solidFill>
                  <a:srgbClr val="333231"/>
                </a:solidFill>
                <a:latin typeface="Quicksand SemiBold" pitchFamily="34" charset="0"/>
              </a:rPr>
              <a:t>Retail</a:t>
            </a:r>
            <a:endParaRPr lang="en-US" sz="795" dirty="0"/>
          </a:p>
        </p:txBody>
      </p:sp>
      <p:sp>
        <p:nvSpPr>
          <p:cNvPr id="50" name="Shape 49"/>
          <p:cNvSpPr/>
          <p:nvPr/>
        </p:nvSpPr>
        <p:spPr>
          <a:xfrm>
            <a:off x="3710880" y="5562600"/>
            <a:ext cx="9525" cy="352425"/>
          </a:xfrm>
          <a:prstGeom prst="rect">
            <a:avLst/>
          </a:prstGeom>
          <a:solidFill>
            <a:srgbClr val="C3BDB6"/>
          </a:solidFill>
          <a:ln/>
        </p:spPr>
        <p:txBody>
          <a:bodyPr/>
          <a:lstStyle/>
          <a:p>
            <a:endParaRPr lang="en-US"/>
          </a:p>
        </p:txBody>
      </p:sp>
      <p:sp>
        <p:nvSpPr>
          <p:cNvPr id="51" name="Shape 50"/>
          <p:cNvSpPr/>
          <p:nvPr/>
        </p:nvSpPr>
        <p:spPr>
          <a:xfrm>
            <a:off x="3710880" y="5676900"/>
            <a:ext cx="153293" cy="114300"/>
          </a:xfrm>
          <a:prstGeom prst="rect">
            <a:avLst/>
          </a:prstGeom>
          <a:solidFill>
            <a:srgbClr val="B68757"/>
          </a:solidFill>
          <a:ln/>
        </p:spPr>
        <p:txBody>
          <a:bodyPr/>
          <a:lstStyle/>
          <a:p>
            <a:endParaRPr lang="en-US"/>
          </a:p>
        </p:txBody>
      </p:sp>
      <p:sp>
        <p:nvSpPr>
          <p:cNvPr id="52" name="Text 51"/>
          <p:cNvSpPr txBox="1"/>
          <p:nvPr/>
        </p:nvSpPr>
        <p:spPr>
          <a:xfrm>
            <a:off x="3922365" y="5653088"/>
            <a:ext cx="347514" cy="161925"/>
          </a:xfrm>
          <a:prstGeom prst="rect">
            <a:avLst/>
          </a:prstGeom>
          <a:noFill/>
          <a:ln/>
        </p:spPr>
        <p:txBody>
          <a:bodyPr wrap="none" lIns="0" tIns="0" rIns="0" bIns="0" rtlCol="0" anchor="t"/>
          <a:lstStyle/>
          <a:p>
            <a:pPr marL="0" indent="0" algn="l">
              <a:lnSpc>
                <a:spcPts val="1275"/>
              </a:lnSpc>
              <a:buNone/>
            </a:pPr>
            <a:r>
              <a:rPr lang="en-US" sz="788" b="1" kern="0" spc="15" dirty="0">
                <a:solidFill>
                  <a:srgbClr val="1B1A1A"/>
                </a:solidFill>
                <a:latin typeface="Quicksand" pitchFamily="34" charset="0"/>
              </a:rPr>
              <a:t>+4.5%</a:t>
            </a:r>
            <a:endParaRPr lang="en-US" sz="788" dirty="0"/>
          </a:p>
        </p:txBody>
      </p:sp>
      <p:sp>
        <p:nvSpPr>
          <p:cNvPr id="53" name="Shape 52"/>
          <p:cNvSpPr/>
          <p:nvPr/>
        </p:nvSpPr>
        <p:spPr>
          <a:xfrm>
            <a:off x="5105400" y="1238250"/>
            <a:ext cx="4533900" cy="4895850"/>
          </a:xfrm>
          <a:prstGeom prst="rect">
            <a:avLst/>
          </a:prstGeom>
          <a:solidFill>
            <a:srgbClr val="FAF7F3"/>
          </a:solidFill>
          <a:ln/>
        </p:spPr>
        <p:txBody>
          <a:bodyPr/>
          <a:lstStyle/>
          <a:p>
            <a:endParaRPr lang="en-US"/>
          </a:p>
        </p:txBody>
      </p:sp>
      <p:sp>
        <p:nvSpPr>
          <p:cNvPr id="54" name="Shape 53"/>
          <p:cNvSpPr/>
          <p:nvPr/>
        </p:nvSpPr>
        <p:spPr>
          <a:xfrm>
            <a:off x="5105400" y="1238250"/>
            <a:ext cx="4533900" cy="28575"/>
          </a:xfrm>
          <a:prstGeom prst="rect">
            <a:avLst/>
          </a:prstGeom>
          <a:solidFill>
            <a:srgbClr val="B68757"/>
          </a:solidFill>
          <a:ln/>
        </p:spPr>
        <p:txBody>
          <a:bodyPr/>
          <a:lstStyle/>
          <a:p>
            <a:endParaRPr lang="en-US"/>
          </a:p>
        </p:txBody>
      </p:sp>
      <p:sp>
        <p:nvSpPr>
          <p:cNvPr id="55" name="Text 54"/>
          <p:cNvSpPr txBox="1"/>
          <p:nvPr/>
        </p:nvSpPr>
        <p:spPr>
          <a:xfrm>
            <a:off x="5276850" y="1385888"/>
            <a:ext cx="4191000" cy="161925"/>
          </a:xfrm>
          <a:prstGeom prst="rect">
            <a:avLst/>
          </a:prstGeom>
          <a:noFill/>
          <a:ln/>
        </p:spPr>
        <p:txBody>
          <a:bodyPr wrap="none" lIns="0" tIns="0" rIns="0" bIns="0" rtlCol="0" anchor="t"/>
          <a:lstStyle/>
          <a:p>
            <a:pPr marL="0" indent="0" algn="l">
              <a:lnSpc>
                <a:spcPts val="1275"/>
              </a:lnSpc>
              <a:buNone/>
            </a:pPr>
            <a:r>
              <a:rPr lang="en-US" sz="938" b="1" kern="0" spc="15" dirty="0">
                <a:solidFill>
                  <a:srgbClr val="1B1A1A"/>
                </a:solidFill>
                <a:latin typeface="Quicksand" pitchFamily="34" charset="0"/>
              </a:rPr>
              <a:t>Median change in EBITDA, latest fiscal year</a:t>
            </a:r>
            <a:endParaRPr lang="en-US" sz="938" dirty="0"/>
          </a:p>
        </p:txBody>
      </p:sp>
      <p:sp>
        <p:nvSpPr>
          <p:cNvPr id="56" name="Text 55"/>
          <p:cNvSpPr txBox="1"/>
          <p:nvPr/>
        </p:nvSpPr>
        <p:spPr>
          <a:xfrm>
            <a:off x="5276850" y="1552575"/>
            <a:ext cx="4191000" cy="123825"/>
          </a:xfrm>
          <a:prstGeom prst="rect">
            <a:avLst/>
          </a:prstGeom>
          <a:noFill/>
          <a:ln/>
        </p:spPr>
        <p:txBody>
          <a:bodyPr wrap="none" lIns="0" tIns="0" rIns="0" bIns="0" rtlCol="0" anchor="t"/>
          <a:lstStyle/>
          <a:p>
            <a:pPr marL="0" indent="0" algn="l">
              <a:lnSpc>
                <a:spcPts val="975"/>
              </a:lnSpc>
              <a:buNone/>
            </a:pPr>
            <a:r>
              <a:rPr lang="en-US" sz="705" kern="0" spc="15" dirty="0">
                <a:solidFill>
                  <a:srgbClr val="6F6A66"/>
                </a:solidFill>
                <a:latin typeface="Quicksand" pitchFamily="34" charset="0"/>
              </a:rPr>
              <a:t>Reported EBITDA for the latest fiscal year against the year before</a:t>
            </a:r>
            <a:endParaRPr lang="en-US" sz="705" dirty="0"/>
          </a:p>
        </p:txBody>
      </p:sp>
      <p:sp>
        <p:nvSpPr>
          <p:cNvPr id="57" name="Text 56"/>
          <p:cNvSpPr txBox="1"/>
          <p:nvPr/>
        </p:nvSpPr>
        <p:spPr>
          <a:xfrm>
            <a:off x="5276850" y="1785938"/>
            <a:ext cx="4191000" cy="161925"/>
          </a:xfrm>
          <a:prstGeom prst="rect">
            <a:avLst/>
          </a:prstGeom>
          <a:noFill/>
          <a:ln/>
        </p:spPr>
        <p:txBody>
          <a:bodyPr wrap="none" lIns="0" tIns="0" rIns="0" bIns="0" rtlCol="0" anchor="t"/>
          <a:lstStyle/>
          <a:p>
            <a:pPr marL="0" indent="0" algn="l">
              <a:lnSpc>
                <a:spcPts val="1275"/>
              </a:lnSpc>
              <a:buNone/>
            </a:pPr>
            <a:r>
              <a:rPr lang="en-US" sz="615" b="1" kern="0" spc="135" dirty="0">
                <a:solidFill>
                  <a:srgbClr val="8C6239"/>
                </a:solidFill>
                <a:latin typeface="Quicksand" pitchFamily="34" charset="0"/>
              </a:rPr>
              <a:t>FOOD &amp; BEVERAGE</a:t>
            </a:r>
            <a:endParaRPr lang="en-US" sz="615" dirty="0"/>
          </a:p>
        </p:txBody>
      </p:sp>
      <p:sp>
        <p:nvSpPr>
          <p:cNvPr id="58" name="Text 57"/>
          <p:cNvSpPr txBox="1"/>
          <p:nvPr/>
        </p:nvSpPr>
        <p:spPr>
          <a:xfrm>
            <a:off x="5276850" y="2081212"/>
            <a:ext cx="1428750" cy="123825"/>
          </a:xfrm>
          <a:prstGeom prst="rect">
            <a:avLst/>
          </a:prstGeom>
          <a:noFill/>
          <a:ln/>
        </p:spPr>
        <p:txBody>
          <a:bodyPr wrap="none" lIns="0" tIns="0" rIns="0" bIns="0" rtlCol="0" anchor="t"/>
          <a:lstStyle/>
          <a:p>
            <a:pPr marL="0" indent="0" algn="l">
              <a:lnSpc>
                <a:spcPts val="975"/>
              </a:lnSpc>
              <a:buNone/>
            </a:pPr>
            <a:r>
              <a:rPr lang="en-US" sz="795" kern="0" spc="15" dirty="0">
                <a:solidFill>
                  <a:srgbClr val="333231"/>
                </a:solidFill>
                <a:latin typeface="Quicksand SemiBold" pitchFamily="34" charset="0"/>
              </a:rPr>
              <a:t>Packaged food</a:t>
            </a:r>
            <a:endParaRPr lang="en-US" sz="795" dirty="0"/>
          </a:p>
        </p:txBody>
      </p:sp>
      <p:sp>
        <p:nvSpPr>
          <p:cNvPr id="59" name="Shape 58"/>
          <p:cNvSpPr/>
          <p:nvPr/>
        </p:nvSpPr>
        <p:spPr>
          <a:xfrm>
            <a:off x="7991475" y="1971675"/>
            <a:ext cx="9525" cy="352425"/>
          </a:xfrm>
          <a:prstGeom prst="rect">
            <a:avLst/>
          </a:prstGeom>
          <a:solidFill>
            <a:srgbClr val="C3BDB6"/>
          </a:solidFill>
          <a:ln/>
        </p:spPr>
        <p:txBody>
          <a:bodyPr/>
          <a:lstStyle/>
          <a:p>
            <a:endParaRPr lang="en-US"/>
          </a:p>
        </p:txBody>
      </p:sp>
      <p:sp>
        <p:nvSpPr>
          <p:cNvPr id="60" name="Shape 59"/>
          <p:cNvSpPr/>
          <p:nvPr/>
        </p:nvSpPr>
        <p:spPr>
          <a:xfrm>
            <a:off x="7155061" y="2085975"/>
            <a:ext cx="836265" cy="114300"/>
          </a:xfrm>
          <a:prstGeom prst="rect">
            <a:avLst/>
          </a:prstGeom>
          <a:solidFill>
            <a:srgbClr val="B68757"/>
          </a:solidFill>
          <a:ln/>
        </p:spPr>
        <p:txBody>
          <a:bodyPr/>
          <a:lstStyle/>
          <a:p>
            <a:endParaRPr lang="en-US"/>
          </a:p>
        </p:txBody>
      </p:sp>
      <p:sp>
        <p:nvSpPr>
          <p:cNvPr id="61" name="Text 60"/>
          <p:cNvSpPr txBox="1"/>
          <p:nvPr/>
        </p:nvSpPr>
        <p:spPr>
          <a:xfrm>
            <a:off x="6810375" y="2062163"/>
            <a:ext cx="344835" cy="161925"/>
          </a:xfrm>
          <a:prstGeom prst="rect">
            <a:avLst/>
          </a:prstGeom>
          <a:noFill/>
          <a:ln/>
        </p:spPr>
        <p:txBody>
          <a:bodyPr wrap="none" lIns="0" tIns="0" rIns="0" bIns="0" rtlCol="0" anchor="t"/>
          <a:lstStyle/>
          <a:p>
            <a:pPr marL="0" indent="0" algn="l">
              <a:lnSpc>
                <a:spcPts val="1275"/>
              </a:lnSpc>
              <a:buNone/>
            </a:pPr>
            <a:r>
              <a:rPr lang="en-US" sz="788" b="1" kern="0" spc="15" dirty="0">
                <a:solidFill>
                  <a:srgbClr val="1B1A1A"/>
                </a:solidFill>
                <a:latin typeface="Quicksand" pitchFamily="34" charset="0"/>
              </a:rPr>
              <a:t>−11.1%</a:t>
            </a:r>
            <a:endParaRPr lang="en-US" sz="788" dirty="0"/>
          </a:p>
        </p:txBody>
      </p:sp>
      <p:sp>
        <p:nvSpPr>
          <p:cNvPr id="62" name="Text 61"/>
          <p:cNvSpPr txBox="1"/>
          <p:nvPr/>
        </p:nvSpPr>
        <p:spPr>
          <a:xfrm>
            <a:off x="5276850" y="2433638"/>
            <a:ext cx="1428750" cy="123825"/>
          </a:xfrm>
          <a:prstGeom prst="rect">
            <a:avLst/>
          </a:prstGeom>
          <a:noFill/>
          <a:ln/>
        </p:spPr>
        <p:txBody>
          <a:bodyPr wrap="none" lIns="0" tIns="0" rIns="0" bIns="0" rtlCol="0" anchor="t"/>
          <a:lstStyle/>
          <a:p>
            <a:pPr marL="0" indent="0" algn="l">
              <a:lnSpc>
                <a:spcPts val="975"/>
              </a:lnSpc>
              <a:buNone/>
            </a:pPr>
            <a:r>
              <a:rPr lang="en-US" sz="795" kern="0" spc="15" dirty="0">
                <a:solidFill>
                  <a:srgbClr val="333231"/>
                </a:solidFill>
                <a:latin typeface="Quicksand SemiBold" pitchFamily="34" charset="0"/>
              </a:rPr>
              <a:t>Snacks</a:t>
            </a:r>
            <a:endParaRPr lang="en-US" sz="795" dirty="0"/>
          </a:p>
        </p:txBody>
      </p:sp>
      <p:sp>
        <p:nvSpPr>
          <p:cNvPr id="63" name="Shape 62"/>
          <p:cNvSpPr/>
          <p:nvPr/>
        </p:nvSpPr>
        <p:spPr>
          <a:xfrm>
            <a:off x="7991475" y="2324100"/>
            <a:ext cx="9525" cy="352425"/>
          </a:xfrm>
          <a:prstGeom prst="rect">
            <a:avLst/>
          </a:prstGeom>
          <a:solidFill>
            <a:srgbClr val="C3BDB6"/>
          </a:solidFill>
          <a:ln/>
        </p:spPr>
        <p:txBody>
          <a:bodyPr/>
          <a:lstStyle/>
          <a:p>
            <a:endParaRPr lang="en-US"/>
          </a:p>
        </p:txBody>
      </p:sp>
      <p:sp>
        <p:nvSpPr>
          <p:cNvPr id="64" name="Shape 63"/>
          <p:cNvSpPr/>
          <p:nvPr/>
        </p:nvSpPr>
        <p:spPr>
          <a:xfrm>
            <a:off x="7094190" y="2438400"/>
            <a:ext cx="897136" cy="114300"/>
          </a:xfrm>
          <a:prstGeom prst="rect">
            <a:avLst/>
          </a:prstGeom>
          <a:solidFill>
            <a:srgbClr val="B68757"/>
          </a:solidFill>
          <a:ln/>
        </p:spPr>
        <p:txBody>
          <a:bodyPr/>
          <a:lstStyle/>
          <a:p>
            <a:endParaRPr lang="en-US"/>
          </a:p>
        </p:txBody>
      </p:sp>
      <p:sp>
        <p:nvSpPr>
          <p:cNvPr id="65" name="Text 64"/>
          <p:cNvSpPr txBox="1"/>
          <p:nvPr/>
        </p:nvSpPr>
        <p:spPr>
          <a:xfrm>
            <a:off x="6726585" y="2414588"/>
            <a:ext cx="367754" cy="161925"/>
          </a:xfrm>
          <a:prstGeom prst="rect">
            <a:avLst/>
          </a:prstGeom>
          <a:noFill/>
          <a:ln/>
        </p:spPr>
        <p:txBody>
          <a:bodyPr wrap="none" lIns="0" tIns="0" rIns="0" bIns="0" rtlCol="0" anchor="t"/>
          <a:lstStyle/>
          <a:p>
            <a:pPr marL="0" indent="0" algn="l">
              <a:lnSpc>
                <a:spcPts val="1275"/>
              </a:lnSpc>
              <a:buNone/>
            </a:pPr>
            <a:r>
              <a:rPr lang="en-US" sz="788" b="1" kern="0" spc="15" dirty="0">
                <a:solidFill>
                  <a:srgbClr val="1B1A1A"/>
                </a:solidFill>
                <a:latin typeface="Quicksand" pitchFamily="34" charset="0"/>
              </a:rPr>
              <a:t>−11.9%</a:t>
            </a:r>
            <a:endParaRPr lang="en-US" sz="788" dirty="0"/>
          </a:p>
        </p:txBody>
      </p:sp>
      <p:sp>
        <p:nvSpPr>
          <p:cNvPr id="66" name="Text 65"/>
          <p:cNvSpPr txBox="1"/>
          <p:nvPr/>
        </p:nvSpPr>
        <p:spPr>
          <a:xfrm>
            <a:off x="5276850" y="2786063"/>
            <a:ext cx="1428750" cy="123825"/>
          </a:xfrm>
          <a:prstGeom prst="rect">
            <a:avLst/>
          </a:prstGeom>
          <a:noFill/>
          <a:ln/>
        </p:spPr>
        <p:txBody>
          <a:bodyPr wrap="none" lIns="0" tIns="0" rIns="0" bIns="0" rtlCol="0" anchor="t"/>
          <a:lstStyle/>
          <a:p>
            <a:pPr marL="0" indent="0" algn="l">
              <a:lnSpc>
                <a:spcPts val="975"/>
              </a:lnSpc>
              <a:buNone/>
            </a:pPr>
            <a:r>
              <a:rPr lang="en-US" sz="795" kern="0" spc="15" dirty="0">
                <a:solidFill>
                  <a:srgbClr val="333231"/>
                </a:solidFill>
                <a:latin typeface="Quicksand SemiBold" pitchFamily="34" charset="0"/>
              </a:rPr>
              <a:t>Beverages</a:t>
            </a:r>
            <a:endParaRPr lang="en-US" sz="795" dirty="0"/>
          </a:p>
        </p:txBody>
      </p:sp>
      <p:sp>
        <p:nvSpPr>
          <p:cNvPr id="67" name="Shape 66"/>
          <p:cNvSpPr/>
          <p:nvPr/>
        </p:nvSpPr>
        <p:spPr>
          <a:xfrm>
            <a:off x="7991475" y="2676525"/>
            <a:ext cx="9525" cy="352425"/>
          </a:xfrm>
          <a:prstGeom prst="rect">
            <a:avLst/>
          </a:prstGeom>
          <a:solidFill>
            <a:srgbClr val="C3BDB6"/>
          </a:solidFill>
          <a:ln/>
        </p:spPr>
        <p:txBody>
          <a:bodyPr/>
          <a:lstStyle/>
          <a:p>
            <a:endParaRPr lang="en-US"/>
          </a:p>
        </p:txBody>
      </p:sp>
      <p:sp>
        <p:nvSpPr>
          <p:cNvPr id="68" name="Shape 67"/>
          <p:cNvSpPr/>
          <p:nvPr/>
        </p:nvSpPr>
        <p:spPr>
          <a:xfrm>
            <a:off x="7991475" y="2790825"/>
            <a:ext cx="482798" cy="114300"/>
          </a:xfrm>
          <a:prstGeom prst="rect">
            <a:avLst/>
          </a:prstGeom>
          <a:solidFill>
            <a:srgbClr val="B68757"/>
          </a:solidFill>
          <a:ln/>
        </p:spPr>
        <p:txBody>
          <a:bodyPr/>
          <a:lstStyle/>
          <a:p>
            <a:endParaRPr lang="en-US"/>
          </a:p>
        </p:txBody>
      </p:sp>
      <p:sp>
        <p:nvSpPr>
          <p:cNvPr id="69" name="Text 68"/>
          <p:cNvSpPr txBox="1"/>
          <p:nvPr/>
        </p:nvSpPr>
        <p:spPr>
          <a:xfrm>
            <a:off x="8531423" y="2767013"/>
            <a:ext cx="342156" cy="161925"/>
          </a:xfrm>
          <a:prstGeom prst="rect">
            <a:avLst/>
          </a:prstGeom>
          <a:noFill/>
          <a:ln/>
        </p:spPr>
        <p:txBody>
          <a:bodyPr wrap="none" lIns="0" tIns="0" rIns="0" bIns="0" rtlCol="0" anchor="t"/>
          <a:lstStyle/>
          <a:p>
            <a:pPr marL="0" indent="0" algn="l">
              <a:lnSpc>
                <a:spcPts val="1275"/>
              </a:lnSpc>
              <a:buNone/>
            </a:pPr>
            <a:r>
              <a:rPr lang="en-US" sz="788" b="1" kern="0" spc="15" dirty="0">
                <a:solidFill>
                  <a:srgbClr val="1B1A1A"/>
                </a:solidFill>
                <a:latin typeface="Quicksand" pitchFamily="34" charset="0"/>
              </a:rPr>
              <a:t>+6.4%</a:t>
            </a:r>
            <a:endParaRPr lang="en-US" sz="788" dirty="0"/>
          </a:p>
        </p:txBody>
      </p:sp>
      <p:sp>
        <p:nvSpPr>
          <p:cNvPr id="70" name="Text 69"/>
          <p:cNvSpPr txBox="1"/>
          <p:nvPr/>
        </p:nvSpPr>
        <p:spPr>
          <a:xfrm>
            <a:off x="5276850" y="3100388"/>
            <a:ext cx="4191000" cy="161925"/>
          </a:xfrm>
          <a:prstGeom prst="rect">
            <a:avLst/>
          </a:prstGeom>
          <a:noFill/>
          <a:ln/>
        </p:spPr>
        <p:txBody>
          <a:bodyPr wrap="none" lIns="0" tIns="0" rIns="0" bIns="0" rtlCol="0" anchor="t"/>
          <a:lstStyle/>
          <a:p>
            <a:pPr marL="0" indent="0" algn="l">
              <a:lnSpc>
                <a:spcPts val="1275"/>
              </a:lnSpc>
              <a:buNone/>
            </a:pPr>
            <a:r>
              <a:rPr lang="en-US" sz="615" b="1" kern="0" spc="135" dirty="0">
                <a:solidFill>
                  <a:srgbClr val="8C6239"/>
                </a:solidFill>
                <a:latin typeface="Quicksand" pitchFamily="34" charset="0"/>
              </a:rPr>
              <a:t>CONSUMER BRANDS &amp; PRODUCTS</a:t>
            </a:r>
            <a:endParaRPr lang="en-US" sz="615" dirty="0"/>
          </a:p>
        </p:txBody>
      </p:sp>
      <p:sp>
        <p:nvSpPr>
          <p:cNvPr id="71" name="Text 70"/>
          <p:cNvSpPr txBox="1"/>
          <p:nvPr/>
        </p:nvSpPr>
        <p:spPr>
          <a:xfrm>
            <a:off x="5276850" y="3395663"/>
            <a:ext cx="1428750" cy="123825"/>
          </a:xfrm>
          <a:prstGeom prst="rect">
            <a:avLst/>
          </a:prstGeom>
          <a:noFill/>
          <a:ln/>
        </p:spPr>
        <p:txBody>
          <a:bodyPr wrap="none" lIns="0" tIns="0" rIns="0" bIns="0" rtlCol="0" anchor="t"/>
          <a:lstStyle/>
          <a:p>
            <a:pPr marL="0" indent="0" algn="l">
              <a:lnSpc>
                <a:spcPts val="975"/>
              </a:lnSpc>
              <a:buNone/>
            </a:pPr>
            <a:r>
              <a:rPr lang="en-US" sz="795" kern="0" spc="15" dirty="0">
                <a:solidFill>
                  <a:srgbClr val="333231"/>
                </a:solidFill>
                <a:latin typeface="Quicksand SemiBold" pitchFamily="34" charset="0"/>
              </a:rPr>
              <a:t>Household &amp; personal care</a:t>
            </a:r>
            <a:endParaRPr lang="en-US" sz="795" dirty="0"/>
          </a:p>
        </p:txBody>
      </p:sp>
      <p:sp>
        <p:nvSpPr>
          <p:cNvPr id="72" name="Shape 71"/>
          <p:cNvSpPr/>
          <p:nvPr/>
        </p:nvSpPr>
        <p:spPr>
          <a:xfrm>
            <a:off x="7991475" y="3286125"/>
            <a:ext cx="9525" cy="352425"/>
          </a:xfrm>
          <a:prstGeom prst="rect">
            <a:avLst/>
          </a:prstGeom>
          <a:solidFill>
            <a:srgbClr val="C3BDB6"/>
          </a:solidFill>
          <a:ln/>
        </p:spPr>
        <p:txBody>
          <a:bodyPr/>
          <a:lstStyle/>
          <a:p>
            <a:endParaRPr lang="en-US"/>
          </a:p>
        </p:txBody>
      </p:sp>
      <p:sp>
        <p:nvSpPr>
          <p:cNvPr id="73" name="Shape 72"/>
          <p:cNvSpPr/>
          <p:nvPr/>
        </p:nvSpPr>
        <p:spPr>
          <a:xfrm>
            <a:off x="7991475" y="3400425"/>
            <a:ext cx="56108" cy="114300"/>
          </a:xfrm>
          <a:prstGeom prst="rect">
            <a:avLst/>
          </a:prstGeom>
          <a:solidFill>
            <a:srgbClr val="B68757"/>
          </a:solidFill>
          <a:ln/>
        </p:spPr>
        <p:txBody>
          <a:bodyPr/>
          <a:lstStyle/>
          <a:p>
            <a:endParaRPr lang="en-US"/>
          </a:p>
        </p:txBody>
      </p:sp>
      <p:sp>
        <p:nvSpPr>
          <p:cNvPr id="74" name="Text 73"/>
          <p:cNvSpPr txBox="1"/>
          <p:nvPr/>
        </p:nvSpPr>
        <p:spPr>
          <a:xfrm>
            <a:off x="8104733" y="3376613"/>
            <a:ext cx="347365" cy="161925"/>
          </a:xfrm>
          <a:prstGeom prst="rect">
            <a:avLst/>
          </a:prstGeom>
          <a:noFill/>
          <a:ln/>
        </p:spPr>
        <p:txBody>
          <a:bodyPr wrap="none" lIns="0" tIns="0" rIns="0" bIns="0" rtlCol="0" anchor="t"/>
          <a:lstStyle/>
          <a:p>
            <a:pPr marL="0" indent="0" algn="l">
              <a:lnSpc>
                <a:spcPts val="1275"/>
              </a:lnSpc>
              <a:buNone/>
            </a:pPr>
            <a:r>
              <a:rPr lang="en-US" sz="788" b="1" kern="0" spc="15" dirty="0">
                <a:solidFill>
                  <a:srgbClr val="1B1A1A"/>
                </a:solidFill>
                <a:latin typeface="Quicksand" pitchFamily="34" charset="0"/>
              </a:rPr>
              <a:t>+0.7%</a:t>
            </a:r>
            <a:endParaRPr lang="en-US" sz="788" dirty="0"/>
          </a:p>
        </p:txBody>
      </p:sp>
      <p:sp>
        <p:nvSpPr>
          <p:cNvPr id="75" name="Text 74"/>
          <p:cNvSpPr txBox="1"/>
          <p:nvPr/>
        </p:nvSpPr>
        <p:spPr>
          <a:xfrm>
            <a:off x="5276850" y="3748087"/>
            <a:ext cx="1428750" cy="123825"/>
          </a:xfrm>
          <a:prstGeom prst="rect">
            <a:avLst/>
          </a:prstGeom>
          <a:noFill/>
          <a:ln/>
        </p:spPr>
        <p:txBody>
          <a:bodyPr wrap="none" lIns="0" tIns="0" rIns="0" bIns="0" rtlCol="0" anchor="t"/>
          <a:lstStyle/>
          <a:p>
            <a:pPr marL="0" indent="0" algn="l">
              <a:lnSpc>
                <a:spcPts val="975"/>
              </a:lnSpc>
              <a:buNone/>
            </a:pPr>
            <a:r>
              <a:rPr lang="en-US" sz="795" kern="0" spc="15" dirty="0">
                <a:solidFill>
                  <a:srgbClr val="333231"/>
                </a:solidFill>
                <a:latin typeface="Quicksand SemiBold" pitchFamily="34" charset="0"/>
              </a:rPr>
              <a:t>Durables, outdoor &amp; pet</a:t>
            </a:r>
            <a:endParaRPr lang="en-US" sz="795" dirty="0"/>
          </a:p>
        </p:txBody>
      </p:sp>
      <p:sp>
        <p:nvSpPr>
          <p:cNvPr id="76" name="Shape 75"/>
          <p:cNvSpPr/>
          <p:nvPr/>
        </p:nvSpPr>
        <p:spPr>
          <a:xfrm>
            <a:off x="7991475" y="3638550"/>
            <a:ext cx="9525" cy="352425"/>
          </a:xfrm>
          <a:prstGeom prst="rect">
            <a:avLst/>
          </a:prstGeom>
          <a:solidFill>
            <a:srgbClr val="C3BDB6"/>
          </a:solidFill>
          <a:ln/>
        </p:spPr>
        <p:txBody>
          <a:bodyPr/>
          <a:lstStyle/>
          <a:p>
            <a:endParaRPr lang="en-US"/>
          </a:p>
        </p:txBody>
      </p:sp>
      <p:sp>
        <p:nvSpPr>
          <p:cNvPr id="77" name="Shape 76"/>
          <p:cNvSpPr/>
          <p:nvPr/>
        </p:nvSpPr>
        <p:spPr>
          <a:xfrm>
            <a:off x="7464623" y="3752850"/>
            <a:ext cx="526703" cy="114300"/>
          </a:xfrm>
          <a:prstGeom prst="rect">
            <a:avLst/>
          </a:prstGeom>
          <a:solidFill>
            <a:srgbClr val="B68757"/>
          </a:solidFill>
          <a:ln/>
        </p:spPr>
        <p:txBody>
          <a:bodyPr/>
          <a:lstStyle/>
          <a:p>
            <a:endParaRPr lang="en-US"/>
          </a:p>
        </p:txBody>
      </p:sp>
      <p:sp>
        <p:nvSpPr>
          <p:cNvPr id="78" name="Text 77"/>
          <p:cNvSpPr txBox="1"/>
          <p:nvPr/>
        </p:nvSpPr>
        <p:spPr>
          <a:xfrm>
            <a:off x="7120235" y="3729038"/>
            <a:ext cx="344537" cy="161925"/>
          </a:xfrm>
          <a:prstGeom prst="rect">
            <a:avLst/>
          </a:prstGeom>
          <a:noFill/>
          <a:ln/>
        </p:spPr>
        <p:txBody>
          <a:bodyPr wrap="none" lIns="0" tIns="0" rIns="0" bIns="0" rtlCol="0" anchor="t"/>
          <a:lstStyle/>
          <a:p>
            <a:pPr marL="0" indent="0" algn="l">
              <a:lnSpc>
                <a:spcPts val="1275"/>
              </a:lnSpc>
              <a:buNone/>
            </a:pPr>
            <a:r>
              <a:rPr lang="en-US" sz="788" b="1" kern="0" spc="15" dirty="0">
                <a:solidFill>
                  <a:srgbClr val="1B1A1A"/>
                </a:solidFill>
                <a:latin typeface="Quicksand" pitchFamily="34" charset="0"/>
              </a:rPr>
              <a:t>−7.0%</a:t>
            </a:r>
            <a:endParaRPr lang="en-US" sz="788" dirty="0"/>
          </a:p>
        </p:txBody>
      </p:sp>
      <p:sp>
        <p:nvSpPr>
          <p:cNvPr id="79" name="Text 78"/>
          <p:cNvSpPr txBox="1"/>
          <p:nvPr/>
        </p:nvSpPr>
        <p:spPr>
          <a:xfrm>
            <a:off x="5276850" y="4062412"/>
            <a:ext cx="4191000" cy="161925"/>
          </a:xfrm>
          <a:prstGeom prst="rect">
            <a:avLst/>
          </a:prstGeom>
          <a:noFill/>
          <a:ln/>
        </p:spPr>
        <p:txBody>
          <a:bodyPr wrap="none" lIns="0" tIns="0" rIns="0" bIns="0" rtlCol="0" anchor="t"/>
          <a:lstStyle/>
          <a:p>
            <a:pPr marL="0" indent="0" algn="l">
              <a:lnSpc>
                <a:spcPts val="1275"/>
              </a:lnSpc>
              <a:buNone/>
            </a:pPr>
            <a:r>
              <a:rPr lang="en-US" sz="615" b="1" kern="0" spc="135" dirty="0">
                <a:solidFill>
                  <a:srgbClr val="8C6239"/>
                </a:solidFill>
                <a:latin typeface="Quicksand" pitchFamily="34" charset="0"/>
              </a:rPr>
              <a:t>FOODSERVICE &amp; DISTRIBUTION</a:t>
            </a:r>
            <a:endParaRPr lang="en-US" sz="615" dirty="0"/>
          </a:p>
        </p:txBody>
      </p:sp>
      <p:sp>
        <p:nvSpPr>
          <p:cNvPr id="80" name="Text 79"/>
          <p:cNvSpPr txBox="1"/>
          <p:nvPr/>
        </p:nvSpPr>
        <p:spPr>
          <a:xfrm>
            <a:off x="5276850" y="4357688"/>
            <a:ext cx="1428750" cy="123825"/>
          </a:xfrm>
          <a:prstGeom prst="rect">
            <a:avLst/>
          </a:prstGeom>
          <a:noFill/>
          <a:ln/>
        </p:spPr>
        <p:txBody>
          <a:bodyPr wrap="none" lIns="0" tIns="0" rIns="0" bIns="0" rtlCol="0" anchor="t"/>
          <a:lstStyle/>
          <a:p>
            <a:pPr marL="0" indent="0" algn="l">
              <a:lnSpc>
                <a:spcPts val="975"/>
              </a:lnSpc>
              <a:buNone/>
            </a:pPr>
            <a:r>
              <a:rPr lang="en-US" sz="795" kern="0" spc="15" dirty="0">
                <a:solidFill>
                  <a:srgbClr val="333231"/>
                </a:solidFill>
                <a:latin typeface="Quicksand SemiBold" pitchFamily="34" charset="0"/>
              </a:rPr>
              <a:t>Foodservice distribution</a:t>
            </a:r>
            <a:endParaRPr lang="en-US" sz="795" dirty="0"/>
          </a:p>
        </p:txBody>
      </p:sp>
      <p:sp>
        <p:nvSpPr>
          <p:cNvPr id="81" name="Shape 80"/>
          <p:cNvSpPr/>
          <p:nvPr/>
        </p:nvSpPr>
        <p:spPr>
          <a:xfrm>
            <a:off x="7991475" y="4248150"/>
            <a:ext cx="9525" cy="352425"/>
          </a:xfrm>
          <a:prstGeom prst="rect">
            <a:avLst/>
          </a:prstGeom>
          <a:solidFill>
            <a:srgbClr val="C3BDB6"/>
          </a:solidFill>
          <a:ln/>
        </p:spPr>
        <p:txBody>
          <a:bodyPr/>
          <a:lstStyle/>
          <a:p>
            <a:endParaRPr lang="en-US"/>
          </a:p>
        </p:txBody>
      </p:sp>
      <p:sp>
        <p:nvSpPr>
          <p:cNvPr id="82" name="Shape 81"/>
          <p:cNvSpPr/>
          <p:nvPr/>
        </p:nvSpPr>
        <p:spPr>
          <a:xfrm>
            <a:off x="7991475" y="4362450"/>
            <a:ext cx="769590" cy="114300"/>
          </a:xfrm>
          <a:prstGeom prst="rect">
            <a:avLst/>
          </a:prstGeom>
          <a:solidFill>
            <a:srgbClr val="B68757"/>
          </a:solidFill>
          <a:ln/>
        </p:spPr>
        <p:txBody>
          <a:bodyPr/>
          <a:lstStyle/>
          <a:p>
            <a:endParaRPr lang="en-US"/>
          </a:p>
        </p:txBody>
      </p:sp>
      <p:sp>
        <p:nvSpPr>
          <p:cNvPr id="83" name="Text 82"/>
          <p:cNvSpPr txBox="1"/>
          <p:nvPr/>
        </p:nvSpPr>
        <p:spPr>
          <a:xfrm>
            <a:off x="8818215" y="4338638"/>
            <a:ext cx="386209" cy="161925"/>
          </a:xfrm>
          <a:prstGeom prst="rect">
            <a:avLst/>
          </a:prstGeom>
          <a:noFill/>
          <a:ln/>
        </p:spPr>
        <p:txBody>
          <a:bodyPr wrap="none" lIns="0" tIns="0" rIns="0" bIns="0" rtlCol="0" anchor="t"/>
          <a:lstStyle/>
          <a:p>
            <a:pPr marL="0" indent="0" algn="l">
              <a:lnSpc>
                <a:spcPts val="1275"/>
              </a:lnSpc>
              <a:buNone/>
            </a:pPr>
            <a:r>
              <a:rPr lang="en-US" sz="788" b="1" kern="0" spc="15" dirty="0">
                <a:solidFill>
                  <a:srgbClr val="1B1A1A"/>
                </a:solidFill>
                <a:latin typeface="Quicksand" pitchFamily="34" charset="0"/>
              </a:rPr>
              <a:t>+10.2%</a:t>
            </a:r>
            <a:endParaRPr lang="en-US" sz="788" dirty="0"/>
          </a:p>
        </p:txBody>
      </p:sp>
      <p:sp>
        <p:nvSpPr>
          <p:cNvPr id="84" name="Text 83"/>
          <p:cNvSpPr txBox="1"/>
          <p:nvPr/>
        </p:nvSpPr>
        <p:spPr>
          <a:xfrm>
            <a:off x="5276850" y="4672013"/>
            <a:ext cx="4191000" cy="161925"/>
          </a:xfrm>
          <a:prstGeom prst="rect">
            <a:avLst/>
          </a:prstGeom>
          <a:noFill/>
          <a:ln/>
        </p:spPr>
        <p:txBody>
          <a:bodyPr wrap="none" lIns="0" tIns="0" rIns="0" bIns="0" rtlCol="0" anchor="t"/>
          <a:lstStyle/>
          <a:p>
            <a:pPr marL="0" indent="0" algn="l">
              <a:lnSpc>
                <a:spcPts val="1275"/>
              </a:lnSpc>
              <a:buNone/>
            </a:pPr>
            <a:r>
              <a:rPr lang="en-US" sz="615" b="1" kern="0" spc="135" dirty="0">
                <a:solidFill>
                  <a:srgbClr val="8C6239"/>
                </a:solidFill>
                <a:latin typeface="Quicksand" pitchFamily="34" charset="0"/>
              </a:rPr>
              <a:t>CONSUMER SERVICES &amp; RETAIL</a:t>
            </a:r>
            <a:endParaRPr lang="en-US" sz="615" dirty="0"/>
          </a:p>
        </p:txBody>
      </p:sp>
      <p:sp>
        <p:nvSpPr>
          <p:cNvPr id="85" name="Text 84"/>
          <p:cNvSpPr txBox="1"/>
          <p:nvPr/>
        </p:nvSpPr>
        <p:spPr>
          <a:xfrm>
            <a:off x="5276850" y="4967288"/>
            <a:ext cx="1428750" cy="123825"/>
          </a:xfrm>
          <a:prstGeom prst="rect">
            <a:avLst/>
          </a:prstGeom>
          <a:noFill/>
          <a:ln/>
        </p:spPr>
        <p:txBody>
          <a:bodyPr wrap="none" lIns="0" tIns="0" rIns="0" bIns="0" rtlCol="0" anchor="t"/>
          <a:lstStyle/>
          <a:p>
            <a:pPr marL="0" indent="0" algn="l">
              <a:lnSpc>
                <a:spcPts val="975"/>
              </a:lnSpc>
              <a:buNone/>
            </a:pPr>
            <a:r>
              <a:rPr lang="en-US" sz="795" kern="0" spc="15" dirty="0">
                <a:solidFill>
                  <a:srgbClr val="333231"/>
                </a:solidFill>
                <a:latin typeface="Quicksand SemiBold" pitchFamily="34" charset="0"/>
              </a:rPr>
              <a:t>Restaurants</a:t>
            </a:r>
            <a:endParaRPr lang="en-US" sz="795" dirty="0"/>
          </a:p>
        </p:txBody>
      </p:sp>
      <p:sp>
        <p:nvSpPr>
          <p:cNvPr id="86" name="Shape 85"/>
          <p:cNvSpPr/>
          <p:nvPr/>
        </p:nvSpPr>
        <p:spPr>
          <a:xfrm>
            <a:off x="7991475" y="4857750"/>
            <a:ext cx="9525" cy="352425"/>
          </a:xfrm>
          <a:prstGeom prst="rect">
            <a:avLst/>
          </a:prstGeom>
          <a:solidFill>
            <a:srgbClr val="C3BDB6"/>
          </a:solidFill>
          <a:ln/>
        </p:spPr>
        <p:txBody>
          <a:bodyPr/>
          <a:lstStyle/>
          <a:p>
            <a:endParaRPr lang="en-US"/>
          </a:p>
        </p:txBody>
      </p:sp>
      <p:sp>
        <p:nvSpPr>
          <p:cNvPr id="87" name="Shape 86"/>
          <p:cNvSpPr/>
          <p:nvPr/>
        </p:nvSpPr>
        <p:spPr>
          <a:xfrm>
            <a:off x="7991475" y="4972050"/>
            <a:ext cx="474315" cy="114300"/>
          </a:xfrm>
          <a:prstGeom prst="rect">
            <a:avLst/>
          </a:prstGeom>
          <a:solidFill>
            <a:srgbClr val="B68757"/>
          </a:solidFill>
          <a:ln/>
        </p:spPr>
        <p:txBody>
          <a:bodyPr/>
          <a:lstStyle/>
          <a:p>
            <a:endParaRPr lang="en-US"/>
          </a:p>
        </p:txBody>
      </p:sp>
      <p:sp>
        <p:nvSpPr>
          <p:cNvPr id="88" name="Text 87"/>
          <p:cNvSpPr txBox="1"/>
          <p:nvPr/>
        </p:nvSpPr>
        <p:spPr>
          <a:xfrm>
            <a:off x="8522940" y="4948238"/>
            <a:ext cx="340072" cy="161925"/>
          </a:xfrm>
          <a:prstGeom prst="rect">
            <a:avLst/>
          </a:prstGeom>
          <a:noFill/>
          <a:ln/>
        </p:spPr>
        <p:txBody>
          <a:bodyPr wrap="none" lIns="0" tIns="0" rIns="0" bIns="0" rtlCol="0" anchor="t"/>
          <a:lstStyle/>
          <a:p>
            <a:pPr marL="0" indent="0" algn="l">
              <a:lnSpc>
                <a:spcPts val="1275"/>
              </a:lnSpc>
              <a:buNone/>
            </a:pPr>
            <a:r>
              <a:rPr lang="en-US" sz="788" b="1" kern="0" spc="15" dirty="0">
                <a:solidFill>
                  <a:srgbClr val="1B1A1A"/>
                </a:solidFill>
                <a:latin typeface="Quicksand" pitchFamily="34" charset="0"/>
              </a:rPr>
              <a:t>+6.3%</a:t>
            </a:r>
            <a:endParaRPr lang="en-US" sz="788" dirty="0"/>
          </a:p>
        </p:txBody>
      </p:sp>
      <p:sp>
        <p:nvSpPr>
          <p:cNvPr id="89" name="Text 88"/>
          <p:cNvSpPr txBox="1"/>
          <p:nvPr/>
        </p:nvSpPr>
        <p:spPr>
          <a:xfrm>
            <a:off x="5276850" y="5319713"/>
            <a:ext cx="1428750" cy="123825"/>
          </a:xfrm>
          <a:prstGeom prst="rect">
            <a:avLst/>
          </a:prstGeom>
          <a:noFill/>
          <a:ln/>
        </p:spPr>
        <p:txBody>
          <a:bodyPr wrap="none" lIns="0" tIns="0" rIns="0" bIns="0" rtlCol="0" anchor="t"/>
          <a:lstStyle/>
          <a:p>
            <a:pPr marL="0" indent="0" algn="l">
              <a:lnSpc>
                <a:spcPts val="975"/>
              </a:lnSpc>
              <a:buNone/>
            </a:pPr>
            <a:r>
              <a:rPr lang="en-US" sz="795" kern="0" spc="15" dirty="0">
                <a:solidFill>
                  <a:srgbClr val="333231"/>
                </a:solidFill>
                <a:latin typeface="Quicksand SemiBold" pitchFamily="34" charset="0"/>
              </a:rPr>
              <a:t>Consumer services</a:t>
            </a:r>
            <a:endParaRPr lang="en-US" sz="795" dirty="0"/>
          </a:p>
        </p:txBody>
      </p:sp>
      <p:sp>
        <p:nvSpPr>
          <p:cNvPr id="90" name="Shape 89"/>
          <p:cNvSpPr/>
          <p:nvPr/>
        </p:nvSpPr>
        <p:spPr>
          <a:xfrm>
            <a:off x="7991475" y="5210175"/>
            <a:ext cx="9525" cy="352425"/>
          </a:xfrm>
          <a:prstGeom prst="rect">
            <a:avLst/>
          </a:prstGeom>
          <a:solidFill>
            <a:srgbClr val="C3BDB6"/>
          </a:solidFill>
          <a:ln/>
        </p:spPr>
        <p:txBody>
          <a:bodyPr/>
          <a:lstStyle/>
          <a:p>
            <a:endParaRPr lang="en-US"/>
          </a:p>
        </p:txBody>
      </p:sp>
      <p:sp>
        <p:nvSpPr>
          <p:cNvPr id="91" name="Shape 90"/>
          <p:cNvSpPr/>
          <p:nvPr/>
        </p:nvSpPr>
        <p:spPr>
          <a:xfrm>
            <a:off x="7991475" y="5324475"/>
            <a:ext cx="820043" cy="114300"/>
          </a:xfrm>
          <a:prstGeom prst="rect">
            <a:avLst/>
          </a:prstGeom>
          <a:solidFill>
            <a:srgbClr val="B68757"/>
          </a:solidFill>
          <a:ln/>
        </p:spPr>
        <p:txBody>
          <a:bodyPr/>
          <a:lstStyle/>
          <a:p>
            <a:endParaRPr lang="en-US"/>
          </a:p>
        </p:txBody>
      </p:sp>
      <p:sp>
        <p:nvSpPr>
          <p:cNvPr id="92" name="Text 91"/>
          <p:cNvSpPr txBox="1"/>
          <p:nvPr/>
        </p:nvSpPr>
        <p:spPr>
          <a:xfrm>
            <a:off x="8868668" y="5300663"/>
            <a:ext cx="384125" cy="161925"/>
          </a:xfrm>
          <a:prstGeom prst="rect">
            <a:avLst/>
          </a:prstGeom>
          <a:noFill/>
          <a:ln/>
        </p:spPr>
        <p:txBody>
          <a:bodyPr wrap="none" lIns="0" tIns="0" rIns="0" bIns="0" rtlCol="0" anchor="t"/>
          <a:lstStyle/>
          <a:p>
            <a:pPr marL="0" indent="0" algn="l">
              <a:lnSpc>
                <a:spcPts val="1275"/>
              </a:lnSpc>
              <a:buNone/>
            </a:pPr>
            <a:r>
              <a:rPr lang="en-US" sz="788" b="1" kern="0" spc="15" dirty="0">
                <a:solidFill>
                  <a:srgbClr val="1B1A1A"/>
                </a:solidFill>
                <a:latin typeface="Quicksand" pitchFamily="34" charset="0"/>
              </a:rPr>
              <a:t>+10.8%</a:t>
            </a:r>
            <a:endParaRPr lang="en-US" sz="788" dirty="0"/>
          </a:p>
        </p:txBody>
      </p:sp>
      <p:sp>
        <p:nvSpPr>
          <p:cNvPr id="93" name="Text 92"/>
          <p:cNvSpPr txBox="1"/>
          <p:nvPr/>
        </p:nvSpPr>
        <p:spPr>
          <a:xfrm>
            <a:off x="5276850" y="5672138"/>
            <a:ext cx="1428750" cy="123825"/>
          </a:xfrm>
          <a:prstGeom prst="rect">
            <a:avLst/>
          </a:prstGeom>
          <a:noFill/>
          <a:ln/>
        </p:spPr>
        <p:txBody>
          <a:bodyPr wrap="none" lIns="0" tIns="0" rIns="0" bIns="0" rtlCol="0" anchor="t"/>
          <a:lstStyle/>
          <a:p>
            <a:pPr marL="0" indent="0" algn="l">
              <a:lnSpc>
                <a:spcPts val="975"/>
              </a:lnSpc>
              <a:buNone/>
            </a:pPr>
            <a:r>
              <a:rPr lang="en-US" sz="795" kern="0" spc="15" dirty="0">
                <a:solidFill>
                  <a:srgbClr val="333231"/>
                </a:solidFill>
                <a:latin typeface="Quicksand SemiBold" pitchFamily="34" charset="0"/>
              </a:rPr>
              <a:t>Retail</a:t>
            </a:r>
            <a:endParaRPr lang="en-US" sz="795" dirty="0"/>
          </a:p>
        </p:txBody>
      </p:sp>
      <p:sp>
        <p:nvSpPr>
          <p:cNvPr id="94" name="Shape 93"/>
          <p:cNvSpPr/>
          <p:nvPr/>
        </p:nvSpPr>
        <p:spPr>
          <a:xfrm>
            <a:off x="7991475" y="5562600"/>
            <a:ext cx="9525" cy="352425"/>
          </a:xfrm>
          <a:prstGeom prst="rect">
            <a:avLst/>
          </a:prstGeom>
          <a:solidFill>
            <a:srgbClr val="C3BDB6"/>
          </a:solidFill>
          <a:ln/>
        </p:spPr>
        <p:txBody>
          <a:bodyPr/>
          <a:lstStyle/>
          <a:p>
            <a:endParaRPr lang="en-US"/>
          </a:p>
        </p:txBody>
      </p:sp>
      <p:sp>
        <p:nvSpPr>
          <p:cNvPr id="95" name="Shape 94"/>
          <p:cNvSpPr/>
          <p:nvPr/>
        </p:nvSpPr>
        <p:spPr>
          <a:xfrm>
            <a:off x="7991475" y="5676900"/>
            <a:ext cx="265658" cy="114300"/>
          </a:xfrm>
          <a:prstGeom prst="rect">
            <a:avLst/>
          </a:prstGeom>
          <a:solidFill>
            <a:srgbClr val="B68757"/>
          </a:solidFill>
          <a:ln/>
        </p:spPr>
        <p:txBody>
          <a:bodyPr/>
          <a:lstStyle/>
          <a:p>
            <a:endParaRPr lang="en-US"/>
          </a:p>
        </p:txBody>
      </p:sp>
      <p:sp>
        <p:nvSpPr>
          <p:cNvPr id="96" name="Text 95"/>
          <p:cNvSpPr txBox="1"/>
          <p:nvPr/>
        </p:nvSpPr>
        <p:spPr>
          <a:xfrm>
            <a:off x="8314283" y="5653088"/>
            <a:ext cx="342454" cy="161925"/>
          </a:xfrm>
          <a:prstGeom prst="rect">
            <a:avLst/>
          </a:prstGeom>
          <a:noFill/>
          <a:ln/>
        </p:spPr>
        <p:txBody>
          <a:bodyPr wrap="none" lIns="0" tIns="0" rIns="0" bIns="0" rtlCol="0" anchor="t"/>
          <a:lstStyle/>
          <a:p>
            <a:pPr marL="0" indent="0" algn="l">
              <a:lnSpc>
                <a:spcPts val="1275"/>
              </a:lnSpc>
              <a:buNone/>
            </a:pPr>
            <a:r>
              <a:rPr lang="en-US" sz="788" b="1" kern="0" spc="15" dirty="0">
                <a:solidFill>
                  <a:srgbClr val="1B1A1A"/>
                </a:solidFill>
                <a:latin typeface="Quicksand" pitchFamily="34" charset="0"/>
              </a:rPr>
              <a:t>+3.5%</a:t>
            </a:r>
            <a:endParaRPr lang="en-US" sz="788" dirty="0"/>
          </a:p>
        </p:txBody>
      </p:sp>
      <p:sp>
        <p:nvSpPr>
          <p:cNvPr id="97" name="Shape 96"/>
          <p:cNvSpPr/>
          <p:nvPr/>
        </p:nvSpPr>
        <p:spPr>
          <a:xfrm>
            <a:off x="419100" y="6248400"/>
            <a:ext cx="9220200" cy="685800"/>
          </a:xfrm>
          <a:prstGeom prst="rect">
            <a:avLst/>
          </a:prstGeom>
          <a:solidFill>
            <a:srgbClr val="1B1A1A"/>
          </a:solidFill>
          <a:ln/>
        </p:spPr>
        <p:txBody>
          <a:bodyPr/>
          <a:lstStyle/>
          <a:p>
            <a:endParaRPr lang="en-US"/>
          </a:p>
        </p:txBody>
      </p:sp>
      <p:sp>
        <p:nvSpPr>
          <p:cNvPr id="98" name="Text 97"/>
          <p:cNvSpPr txBox="1"/>
          <p:nvPr/>
        </p:nvSpPr>
        <p:spPr>
          <a:xfrm>
            <a:off x="609600" y="6386513"/>
            <a:ext cx="1004887" cy="400050"/>
          </a:xfrm>
          <a:prstGeom prst="rect">
            <a:avLst/>
          </a:prstGeom>
          <a:noFill/>
          <a:ln/>
        </p:spPr>
        <p:txBody>
          <a:bodyPr wrap="square" lIns="0" tIns="0" rIns="0" bIns="0" rtlCol="0" anchor="t"/>
          <a:lstStyle/>
          <a:p>
            <a:pPr marL="0" indent="0" algn="l">
              <a:lnSpc>
                <a:spcPts val="1050"/>
              </a:lnSpc>
              <a:buNone/>
            </a:pPr>
            <a:r>
              <a:rPr lang="en-US" sz="675" b="1" kern="0" spc="165" dirty="0">
                <a:solidFill>
                  <a:srgbClr val="D3AE84"/>
                </a:solidFill>
                <a:latin typeface="Quicksand" pitchFamily="34" charset="0"/>
              </a:rPr>
              <a:t>WHAT THE MARKET IS PRICING</a:t>
            </a:r>
            <a:endParaRPr lang="en-US" sz="675" dirty="0"/>
          </a:p>
        </p:txBody>
      </p:sp>
      <p:sp>
        <p:nvSpPr>
          <p:cNvPr id="99" name="Shape 98"/>
          <p:cNvSpPr/>
          <p:nvPr/>
        </p:nvSpPr>
        <p:spPr>
          <a:xfrm>
            <a:off x="1771650" y="6343650"/>
            <a:ext cx="9525" cy="495300"/>
          </a:xfrm>
          <a:prstGeom prst="rect">
            <a:avLst/>
          </a:prstGeom>
          <a:solidFill>
            <a:srgbClr val="FFFFFF">
              <a:alpha val="20000"/>
            </a:srgbClr>
          </a:solidFill>
          <a:ln/>
        </p:spPr>
        <p:txBody>
          <a:bodyPr/>
          <a:lstStyle/>
          <a:p>
            <a:endParaRPr lang="en-US"/>
          </a:p>
        </p:txBody>
      </p:sp>
      <p:sp>
        <p:nvSpPr>
          <p:cNvPr id="100" name="Text 99"/>
          <p:cNvSpPr txBox="1"/>
          <p:nvPr/>
        </p:nvSpPr>
        <p:spPr>
          <a:xfrm>
            <a:off x="1952625" y="6343650"/>
            <a:ext cx="2155924" cy="247650"/>
          </a:xfrm>
          <a:prstGeom prst="rect">
            <a:avLst/>
          </a:prstGeom>
          <a:noFill/>
          <a:ln/>
        </p:spPr>
        <p:txBody>
          <a:bodyPr wrap="none" lIns="0" tIns="0" rIns="0" bIns="0" rtlCol="0" anchor="t"/>
          <a:lstStyle/>
          <a:p>
            <a:pPr marL="0" indent="0" algn="l">
              <a:lnSpc>
                <a:spcPts val="1950"/>
              </a:lnSpc>
              <a:buNone/>
            </a:pPr>
            <a:r>
              <a:rPr lang="en-US" sz="1650" kern="0" spc="15" dirty="0">
                <a:solidFill>
                  <a:srgbClr val="D3AE84"/>
                </a:solidFill>
                <a:latin typeface="Newsreader SemiBold" pitchFamily="34" charset="0"/>
              </a:rPr>
              <a:t>34 of 57</a:t>
            </a:r>
            <a:endParaRPr lang="en-US" sz="1650" dirty="0"/>
          </a:p>
        </p:txBody>
      </p:sp>
      <p:sp>
        <p:nvSpPr>
          <p:cNvPr id="101" name="Text 100"/>
          <p:cNvSpPr txBox="1"/>
          <p:nvPr/>
        </p:nvSpPr>
        <p:spPr>
          <a:xfrm>
            <a:off x="1952625" y="6591300"/>
            <a:ext cx="2170212" cy="247650"/>
          </a:xfrm>
          <a:prstGeom prst="rect">
            <a:avLst/>
          </a:prstGeom>
          <a:noFill/>
          <a:ln/>
        </p:spPr>
        <p:txBody>
          <a:bodyPr wrap="square" lIns="0" tIns="0" rIns="0" bIns="0" rtlCol="0" anchor="t"/>
          <a:lstStyle/>
          <a:p>
            <a:pPr marL="0" indent="0" algn="l">
              <a:lnSpc>
                <a:spcPts val="975"/>
              </a:lnSpc>
              <a:buNone/>
            </a:pPr>
            <a:r>
              <a:rPr lang="en-US" sz="705" kern="0" spc="15" dirty="0">
                <a:solidFill>
                  <a:srgbClr val="E8E2DA"/>
                </a:solidFill>
                <a:latin typeface="Quicksand" pitchFamily="34" charset="0"/>
              </a:rPr>
              <a:t>listed consumer companies trade below their share price of a year ago</a:t>
            </a:r>
            <a:endParaRPr lang="en-US" sz="705" dirty="0"/>
          </a:p>
        </p:txBody>
      </p:sp>
      <p:sp>
        <p:nvSpPr>
          <p:cNvPr id="102" name="Shape 101"/>
          <p:cNvSpPr/>
          <p:nvPr/>
        </p:nvSpPr>
        <p:spPr>
          <a:xfrm>
            <a:off x="4279999" y="6343650"/>
            <a:ext cx="9525" cy="495300"/>
          </a:xfrm>
          <a:prstGeom prst="rect">
            <a:avLst/>
          </a:prstGeom>
          <a:solidFill>
            <a:srgbClr val="FFFFFF">
              <a:alpha val="20000"/>
            </a:srgbClr>
          </a:solidFill>
          <a:ln/>
        </p:spPr>
        <p:txBody>
          <a:bodyPr/>
          <a:lstStyle/>
          <a:p>
            <a:endParaRPr lang="en-US"/>
          </a:p>
        </p:txBody>
      </p:sp>
      <p:sp>
        <p:nvSpPr>
          <p:cNvPr id="103" name="Text 102"/>
          <p:cNvSpPr txBox="1"/>
          <p:nvPr/>
        </p:nvSpPr>
        <p:spPr>
          <a:xfrm>
            <a:off x="4460974" y="6343650"/>
            <a:ext cx="2479328" cy="247650"/>
          </a:xfrm>
          <a:prstGeom prst="rect">
            <a:avLst/>
          </a:prstGeom>
          <a:noFill/>
          <a:ln/>
        </p:spPr>
        <p:txBody>
          <a:bodyPr wrap="none" lIns="0" tIns="0" rIns="0" bIns="0" rtlCol="0" anchor="t"/>
          <a:lstStyle/>
          <a:p>
            <a:pPr marL="0" indent="0" algn="l">
              <a:lnSpc>
                <a:spcPts val="1950"/>
              </a:lnSpc>
              <a:buNone/>
            </a:pPr>
            <a:r>
              <a:rPr lang="en-US" sz="1650" kern="0" spc="15" dirty="0">
                <a:solidFill>
                  <a:srgbClr val="D3AE84"/>
                </a:solidFill>
                <a:latin typeface="Newsreader SemiBold" pitchFamily="34" charset="0"/>
              </a:rPr>
              <a:t>11.5x</a:t>
            </a:r>
            <a:endParaRPr lang="en-US" sz="1650" dirty="0"/>
          </a:p>
        </p:txBody>
      </p:sp>
      <p:sp>
        <p:nvSpPr>
          <p:cNvPr id="104" name="Text 103"/>
          <p:cNvSpPr txBox="1"/>
          <p:nvPr/>
        </p:nvSpPr>
        <p:spPr>
          <a:xfrm>
            <a:off x="4460974" y="6591300"/>
            <a:ext cx="2493615" cy="247650"/>
          </a:xfrm>
          <a:prstGeom prst="rect">
            <a:avLst/>
          </a:prstGeom>
          <a:noFill/>
          <a:ln/>
        </p:spPr>
        <p:txBody>
          <a:bodyPr wrap="square" lIns="0" tIns="0" rIns="0" bIns="0" rtlCol="0" anchor="t"/>
          <a:lstStyle/>
          <a:p>
            <a:pPr marL="0" indent="0" algn="l">
              <a:lnSpc>
                <a:spcPts val="975"/>
              </a:lnSpc>
              <a:buNone/>
            </a:pPr>
            <a:r>
              <a:rPr lang="en-US" sz="705" kern="0" spc="15" dirty="0">
                <a:solidFill>
                  <a:srgbClr val="E8E2DA"/>
                </a:solidFill>
                <a:latin typeface="Quicksand" pitchFamily="34" charset="0"/>
              </a:rPr>
              <a:t>median enterprise value to trailing EBITDA today, against 14.5x a year ago</a:t>
            </a:r>
            <a:endParaRPr lang="en-US" sz="705" dirty="0"/>
          </a:p>
        </p:txBody>
      </p:sp>
      <p:sp>
        <p:nvSpPr>
          <p:cNvPr id="105" name="Shape 104"/>
          <p:cNvSpPr/>
          <p:nvPr/>
        </p:nvSpPr>
        <p:spPr>
          <a:xfrm>
            <a:off x="7111752" y="6343650"/>
            <a:ext cx="9525" cy="495300"/>
          </a:xfrm>
          <a:prstGeom prst="rect">
            <a:avLst/>
          </a:prstGeom>
          <a:solidFill>
            <a:srgbClr val="FFFFFF">
              <a:alpha val="20000"/>
            </a:srgbClr>
          </a:solidFill>
          <a:ln/>
        </p:spPr>
        <p:txBody>
          <a:bodyPr/>
          <a:lstStyle/>
          <a:p>
            <a:endParaRPr lang="en-US"/>
          </a:p>
        </p:txBody>
      </p:sp>
      <p:sp>
        <p:nvSpPr>
          <p:cNvPr id="106" name="Text 105"/>
          <p:cNvSpPr txBox="1"/>
          <p:nvPr/>
        </p:nvSpPr>
        <p:spPr>
          <a:xfrm>
            <a:off x="7292727" y="6343650"/>
            <a:ext cx="2155924" cy="247650"/>
          </a:xfrm>
          <a:prstGeom prst="rect">
            <a:avLst/>
          </a:prstGeom>
          <a:noFill/>
          <a:ln/>
        </p:spPr>
        <p:txBody>
          <a:bodyPr wrap="none" lIns="0" tIns="0" rIns="0" bIns="0" rtlCol="0" anchor="t"/>
          <a:lstStyle/>
          <a:p>
            <a:pPr marL="0" indent="0" algn="l">
              <a:lnSpc>
                <a:spcPts val="1950"/>
              </a:lnSpc>
              <a:buNone/>
            </a:pPr>
            <a:r>
              <a:rPr lang="en-US" sz="1650" kern="0" spc="15" dirty="0">
                <a:solidFill>
                  <a:srgbClr val="D3AE84"/>
                </a:solidFill>
                <a:latin typeface="Newsreader SemiBold" pitchFamily="34" charset="0"/>
              </a:rPr>
              <a:t>9 of 9</a:t>
            </a:r>
            <a:endParaRPr lang="en-US" sz="1650" dirty="0"/>
          </a:p>
        </p:txBody>
      </p:sp>
      <p:sp>
        <p:nvSpPr>
          <p:cNvPr id="107" name="Text 106"/>
          <p:cNvSpPr txBox="1"/>
          <p:nvPr/>
        </p:nvSpPr>
        <p:spPr>
          <a:xfrm>
            <a:off x="7292727" y="6591300"/>
            <a:ext cx="2170212" cy="247650"/>
          </a:xfrm>
          <a:prstGeom prst="rect">
            <a:avLst/>
          </a:prstGeom>
          <a:noFill/>
          <a:ln/>
        </p:spPr>
        <p:txBody>
          <a:bodyPr wrap="square" lIns="0" tIns="0" rIns="0" bIns="0" rtlCol="0" anchor="t"/>
          <a:lstStyle/>
          <a:p>
            <a:pPr marL="0" indent="0" algn="l">
              <a:lnSpc>
                <a:spcPts val="975"/>
              </a:lnSpc>
              <a:buNone/>
            </a:pPr>
            <a:r>
              <a:rPr lang="en-US" sz="705" kern="0" spc="15" dirty="0">
                <a:solidFill>
                  <a:srgbClr val="E8E2DA"/>
                </a:solidFill>
                <a:latin typeface="Quicksand" pitchFamily="34" charset="0"/>
              </a:rPr>
              <a:t>peer groups carry a lower median multiple of EBITDA than a year ago</a:t>
            </a:r>
            <a:endParaRPr lang="en-US" sz="705" dirty="0"/>
          </a:p>
        </p:txBody>
      </p:sp>
      <p:sp>
        <p:nvSpPr>
          <p:cNvPr id="108" name="Shape 107"/>
          <p:cNvSpPr/>
          <p:nvPr/>
        </p:nvSpPr>
        <p:spPr>
          <a:xfrm>
            <a:off x="419100" y="7029450"/>
            <a:ext cx="9220200" cy="9525"/>
          </a:xfrm>
          <a:prstGeom prst="rect">
            <a:avLst/>
          </a:prstGeom>
          <a:solidFill>
            <a:srgbClr val="E3DCD3"/>
          </a:solidFill>
          <a:ln/>
        </p:spPr>
        <p:txBody>
          <a:bodyPr/>
          <a:lstStyle/>
          <a:p>
            <a:endParaRPr lang="en-US"/>
          </a:p>
        </p:txBody>
      </p:sp>
      <p:pic>
        <p:nvPicPr>
          <p:cNvPr id="109" name="Benchmark International" descr="Benchmark International"/>
          <p:cNvPicPr>
            <a:picLocks noChangeAspect="1"/>
          </p:cNvPicPr>
          <p:nvPr/>
        </p:nvPicPr>
        <p:blipFill>
          <a:blip r:embed="rId3"/>
          <a:stretch>
            <a:fillRect/>
          </a:stretch>
        </p:blipFill>
        <p:spPr>
          <a:xfrm>
            <a:off x="419100" y="7143750"/>
            <a:ext cx="914400" cy="171450"/>
          </a:xfrm>
          <a:prstGeom prst="rect">
            <a:avLst/>
          </a:prstGeom>
        </p:spPr>
      </p:pic>
      <p:sp>
        <p:nvSpPr>
          <p:cNvPr id="110" name="Text 109"/>
          <p:cNvSpPr txBox="1"/>
          <p:nvPr/>
        </p:nvSpPr>
        <p:spPr>
          <a:xfrm>
            <a:off x="1543050" y="7098506"/>
            <a:ext cx="7658100" cy="238125"/>
          </a:xfrm>
          <a:prstGeom prst="rect">
            <a:avLst/>
          </a:prstGeom>
          <a:noFill/>
          <a:ln/>
        </p:spPr>
        <p:txBody>
          <a:bodyPr wrap="square" lIns="0" tIns="0" rIns="0" bIns="0" rtlCol="0" anchor="t"/>
          <a:lstStyle/>
          <a:p>
            <a:pPr marL="0" indent="0" algn="l">
              <a:lnSpc>
                <a:spcPts val="938"/>
              </a:lnSpc>
              <a:buNone/>
            </a:pPr>
            <a:r>
              <a:rPr lang="en-US" sz="675" kern="0" spc="15" dirty="0">
                <a:solidFill>
                  <a:srgbClr val="6F6A66"/>
                </a:solidFill>
                <a:latin typeface="Quicksand" pitchFamily="34" charset="0"/>
              </a:rPr>
              <a:t>Medians of 57 listed companies in nine peer groups, listed on pages 15 to 17. Source: </a:t>
            </a:r>
            <a:r>
              <a:rPr lang="en-US" sz="675" u="sng" kern="0" spc="15" dirty="0">
                <a:solidFill>
                  <a:srgbClr val="8C6239"/>
                </a:solidFill>
                <a:latin typeface="Quicksand" pitchFamily="34" charset="0"/>
                <a:hlinkClick r:id="rId4">
                  <a:extLst>
                    <a:ext uri="{A12FA001-AC4F-418D-AE19-62706E023703}">
                      <ahyp:hlinkClr xmlns:ahyp="http://schemas.microsoft.com/office/drawing/2018/hyperlinkcolor" val="tx"/>
                    </a:ext>
                  </a:extLst>
                </a:hlinkClick>
              </a:rPr>
              <a:t>StockAnalysis</a:t>
            </a:r>
            <a:r>
              <a:rPr lang="en-US" sz="675" kern="0" spc="15" dirty="0">
                <a:solidFill>
                  <a:srgbClr val="6F6A66"/>
                </a:solidFill>
                <a:latin typeface="Quicksand" pitchFamily="34" charset="0"/>
              </a:rPr>
              <a:t>, retrieved October 7, 2026. EBITDA is as reported. The snacks median sits between Hershey, down 18%, and three smaller companies down 58% to 78%. Multiples cover the 55 companies with comparable readings on both dates.</a:t>
            </a:r>
            <a:endParaRPr lang="en-US" sz="675" dirty="0"/>
          </a:p>
        </p:txBody>
      </p:sp>
      <p:sp>
        <p:nvSpPr>
          <p:cNvPr id="111" name="Text 110"/>
          <p:cNvSpPr txBox="1"/>
          <p:nvPr/>
        </p:nvSpPr>
        <p:spPr>
          <a:xfrm>
            <a:off x="9514433" y="7162800"/>
            <a:ext cx="182017" cy="133350"/>
          </a:xfrm>
          <a:prstGeom prst="rect">
            <a:avLst/>
          </a:prstGeom>
          <a:noFill/>
          <a:ln/>
        </p:spPr>
        <p:txBody>
          <a:bodyPr wrap="none" lIns="0" tIns="0" rIns="0" bIns="0" rtlCol="0" anchor="t"/>
          <a:lstStyle/>
          <a:p>
            <a:pPr marL="0" indent="0" algn="l">
              <a:lnSpc>
                <a:spcPts val="1050"/>
              </a:lnSpc>
              <a:buNone/>
            </a:pPr>
            <a:r>
              <a:rPr lang="en-US" sz="713" b="1" kern="0" spc="150" dirty="0">
                <a:solidFill>
                  <a:srgbClr val="1B1A1A"/>
                </a:solidFill>
                <a:latin typeface="Quicksand" pitchFamily="34" charset="0"/>
              </a:rPr>
              <a:t>12</a:t>
            </a:r>
            <a:endParaRPr lang="en-US" sz="713"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1"/>
          <p:cNvSpPr/>
          <p:nvPr/>
        </p:nvSpPr>
        <p:spPr>
          <a:xfrm>
            <a:off x="0" y="0"/>
            <a:ext cx="10058400" cy="7772400"/>
          </a:xfrm>
          <a:prstGeom prst="rect">
            <a:avLst/>
          </a:prstGeom>
          <a:solidFill>
            <a:srgbClr val="FFFFFF"/>
          </a:solidFill>
          <a:ln/>
        </p:spPr>
        <p:txBody>
          <a:bodyPr/>
          <a:lstStyle/>
          <a:p>
            <a:endParaRPr lang="en-US"/>
          </a:p>
        </p:txBody>
      </p:sp>
      <p:sp>
        <p:nvSpPr>
          <p:cNvPr id="3" name="Shape 2"/>
          <p:cNvSpPr/>
          <p:nvPr/>
        </p:nvSpPr>
        <p:spPr>
          <a:xfrm>
            <a:off x="0" y="0"/>
            <a:ext cx="57150" cy="7772400"/>
          </a:xfrm>
          <a:prstGeom prst="rect">
            <a:avLst/>
          </a:prstGeom>
          <a:solidFill>
            <a:srgbClr val="B68757"/>
          </a:solidFill>
          <a:ln/>
        </p:spPr>
        <p:txBody>
          <a:bodyPr/>
          <a:lstStyle/>
          <a:p>
            <a:endParaRPr lang="en-US"/>
          </a:p>
        </p:txBody>
      </p:sp>
      <p:sp>
        <p:nvSpPr>
          <p:cNvPr id="4" name="Text 3"/>
          <p:cNvSpPr txBox="1"/>
          <p:nvPr/>
        </p:nvSpPr>
        <p:spPr>
          <a:xfrm>
            <a:off x="419100" y="376238"/>
            <a:ext cx="2618929" cy="133350"/>
          </a:xfrm>
          <a:prstGeom prst="rect">
            <a:avLst/>
          </a:prstGeom>
          <a:noFill/>
          <a:ln/>
        </p:spPr>
        <p:txBody>
          <a:bodyPr wrap="none" lIns="0" tIns="0" rIns="0" bIns="0" rtlCol="0" anchor="t"/>
          <a:lstStyle/>
          <a:p>
            <a:pPr marL="0" indent="0" algn="l">
              <a:lnSpc>
                <a:spcPts val="1050"/>
              </a:lnSpc>
              <a:buNone/>
            </a:pPr>
            <a:r>
              <a:rPr lang="en-US" sz="675" b="1" kern="0" spc="195" dirty="0">
                <a:solidFill>
                  <a:srgbClr val="8C6239"/>
                </a:solidFill>
                <a:latin typeface="Quicksand" pitchFamily="34" charset="0"/>
              </a:rPr>
              <a:t>CONSUMER  |  QUARTERLY SECTOR BRIEF</a:t>
            </a:r>
            <a:endParaRPr lang="en-US" sz="675" dirty="0"/>
          </a:p>
        </p:txBody>
      </p:sp>
      <p:sp>
        <p:nvSpPr>
          <p:cNvPr id="5" name="Text 4"/>
          <p:cNvSpPr txBox="1"/>
          <p:nvPr/>
        </p:nvSpPr>
        <p:spPr>
          <a:xfrm>
            <a:off x="9112597" y="381000"/>
            <a:ext cx="583853" cy="171450"/>
          </a:xfrm>
          <a:prstGeom prst="rect">
            <a:avLst/>
          </a:prstGeom>
          <a:noFill/>
          <a:ln/>
        </p:spPr>
        <p:txBody>
          <a:bodyPr wrap="none" lIns="0" tIns="0" rIns="0" bIns="0" rtlCol="0" anchor="t"/>
          <a:lstStyle/>
          <a:p>
            <a:pPr marL="0" indent="0" algn="l">
              <a:lnSpc>
                <a:spcPts val="1350"/>
              </a:lnSpc>
              <a:buNone/>
            </a:pPr>
            <a:r>
              <a:rPr lang="en-US" sz="900" kern="0" spc="90" dirty="0">
                <a:solidFill>
                  <a:srgbClr val="6F6A66"/>
                </a:solidFill>
                <a:latin typeface="Cinzel" pitchFamily="34" charset="0"/>
              </a:rPr>
              <a:t>Q4 2026</a:t>
            </a:r>
            <a:endParaRPr lang="en-US" sz="900" dirty="0"/>
          </a:p>
        </p:txBody>
      </p:sp>
      <p:sp>
        <p:nvSpPr>
          <p:cNvPr id="6" name="Text 5"/>
          <p:cNvSpPr txBox="1"/>
          <p:nvPr/>
        </p:nvSpPr>
        <p:spPr>
          <a:xfrm>
            <a:off x="419100" y="519113"/>
            <a:ext cx="9220200" cy="323850"/>
          </a:xfrm>
          <a:prstGeom prst="rect">
            <a:avLst/>
          </a:prstGeom>
          <a:noFill/>
          <a:ln/>
        </p:spPr>
        <p:txBody>
          <a:bodyPr wrap="none" lIns="0" tIns="0" rIns="0" bIns="0" rtlCol="0" anchor="t"/>
          <a:lstStyle/>
          <a:p>
            <a:pPr marL="0" indent="0" algn="l">
              <a:lnSpc>
                <a:spcPts val="2550"/>
              </a:lnSpc>
              <a:buNone/>
            </a:pPr>
            <a:r>
              <a:rPr lang="en-US" sz="2025" kern="0" spc="15" dirty="0">
                <a:solidFill>
                  <a:srgbClr val="1B1A1A"/>
                </a:solidFill>
                <a:latin typeface="Newsreader SemiBold" pitchFamily="34" charset="0"/>
              </a:rPr>
              <a:t>Revenue Growth Trends</a:t>
            </a:r>
            <a:endParaRPr lang="en-US" sz="2025" dirty="0"/>
          </a:p>
        </p:txBody>
      </p:sp>
      <p:sp>
        <p:nvSpPr>
          <p:cNvPr id="7" name="Text 6"/>
          <p:cNvSpPr txBox="1"/>
          <p:nvPr/>
        </p:nvSpPr>
        <p:spPr>
          <a:xfrm>
            <a:off x="419100" y="883444"/>
            <a:ext cx="9220200" cy="176213"/>
          </a:xfrm>
          <a:prstGeom prst="rect">
            <a:avLst/>
          </a:prstGeom>
          <a:noFill/>
          <a:ln/>
        </p:spPr>
        <p:txBody>
          <a:bodyPr wrap="none" lIns="0" tIns="0" rIns="0" bIns="0" rtlCol="0" anchor="t"/>
          <a:lstStyle/>
          <a:p>
            <a:pPr marL="0" indent="0" algn="l">
              <a:lnSpc>
                <a:spcPts val="1388"/>
              </a:lnSpc>
              <a:buNone/>
            </a:pPr>
            <a:r>
              <a:rPr lang="en-US" sz="938" kern="0" spc="15" dirty="0">
                <a:solidFill>
                  <a:srgbClr val="6F6A66"/>
                </a:solidFill>
                <a:latin typeface="Quicksand" pitchFamily="34" charset="0"/>
              </a:rPr>
              <a:t>Snack, restaurant and consumer services companies grew fastest in their latest fiscal year, and packaged food revenue has declined three years running.</a:t>
            </a:r>
            <a:endParaRPr lang="en-US" sz="938" dirty="0"/>
          </a:p>
        </p:txBody>
      </p:sp>
      <p:sp>
        <p:nvSpPr>
          <p:cNvPr id="8" name="Shape 7"/>
          <p:cNvSpPr/>
          <p:nvPr/>
        </p:nvSpPr>
        <p:spPr>
          <a:xfrm>
            <a:off x="419100" y="1143000"/>
            <a:ext cx="9220200" cy="9525"/>
          </a:xfrm>
          <a:prstGeom prst="rect">
            <a:avLst/>
          </a:prstGeom>
          <a:solidFill>
            <a:srgbClr val="E3DCD3"/>
          </a:solidFill>
          <a:ln/>
        </p:spPr>
        <p:txBody>
          <a:bodyPr/>
          <a:lstStyle/>
          <a:p>
            <a:endParaRPr lang="en-US"/>
          </a:p>
        </p:txBody>
      </p:sp>
      <p:sp>
        <p:nvSpPr>
          <p:cNvPr id="9" name="Shape 8"/>
          <p:cNvSpPr/>
          <p:nvPr/>
        </p:nvSpPr>
        <p:spPr>
          <a:xfrm>
            <a:off x="419100" y="1238250"/>
            <a:ext cx="4533900" cy="2781300"/>
          </a:xfrm>
          <a:prstGeom prst="rect">
            <a:avLst/>
          </a:prstGeom>
          <a:solidFill>
            <a:srgbClr val="FAF7F3"/>
          </a:solidFill>
          <a:ln/>
        </p:spPr>
        <p:txBody>
          <a:bodyPr/>
          <a:lstStyle/>
          <a:p>
            <a:endParaRPr lang="en-US"/>
          </a:p>
        </p:txBody>
      </p:sp>
      <p:sp>
        <p:nvSpPr>
          <p:cNvPr id="10" name="Shape 9"/>
          <p:cNvSpPr/>
          <p:nvPr/>
        </p:nvSpPr>
        <p:spPr>
          <a:xfrm>
            <a:off x="419100" y="1238250"/>
            <a:ext cx="4533900" cy="28575"/>
          </a:xfrm>
          <a:prstGeom prst="rect">
            <a:avLst/>
          </a:prstGeom>
          <a:solidFill>
            <a:srgbClr val="B68757"/>
          </a:solidFill>
          <a:ln/>
        </p:spPr>
        <p:txBody>
          <a:bodyPr/>
          <a:lstStyle/>
          <a:p>
            <a:endParaRPr lang="en-US"/>
          </a:p>
        </p:txBody>
      </p:sp>
      <p:sp>
        <p:nvSpPr>
          <p:cNvPr id="11" name="Text 10"/>
          <p:cNvSpPr txBox="1"/>
          <p:nvPr/>
        </p:nvSpPr>
        <p:spPr>
          <a:xfrm>
            <a:off x="590550" y="1376363"/>
            <a:ext cx="4191000" cy="161925"/>
          </a:xfrm>
          <a:prstGeom prst="rect">
            <a:avLst/>
          </a:prstGeom>
          <a:noFill/>
          <a:ln/>
        </p:spPr>
        <p:txBody>
          <a:bodyPr wrap="none" lIns="0" tIns="0" rIns="0" bIns="0" rtlCol="0" anchor="t"/>
          <a:lstStyle/>
          <a:p>
            <a:pPr marL="0" indent="0" algn="l">
              <a:lnSpc>
                <a:spcPts val="1275"/>
              </a:lnSpc>
              <a:buNone/>
            </a:pPr>
            <a:r>
              <a:rPr lang="en-US" sz="938" b="1" kern="0" spc="15" dirty="0">
                <a:solidFill>
                  <a:srgbClr val="1B1A1A"/>
                </a:solidFill>
                <a:latin typeface="Quicksand" pitchFamily="34" charset="0"/>
              </a:rPr>
              <a:t>Food &amp; Beverage</a:t>
            </a:r>
            <a:endParaRPr lang="en-US" sz="938" dirty="0"/>
          </a:p>
        </p:txBody>
      </p:sp>
      <p:sp>
        <p:nvSpPr>
          <p:cNvPr id="12" name="Text 11"/>
          <p:cNvSpPr txBox="1"/>
          <p:nvPr/>
        </p:nvSpPr>
        <p:spPr>
          <a:xfrm>
            <a:off x="590550" y="1543050"/>
            <a:ext cx="4191000" cy="123825"/>
          </a:xfrm>
          <a:prstGeom prst="rect">
            <a:avLst/>
          </a:prstGeom>
          <a:noFill/>
          <a:ln/>
        </p:spPr>
        <p:txBody>
          <a:bodyPr wrap="none" lIns="0" tIns="0" rIns="0" bIns="0" rtlCol="0" anchor="t"/>
          <a:lstStyle/>
          <a:p>
            <a:pPr marL="0" indent="0" algn="l">
              <a:lnSpc>
                <a:spcPts val="975"/>
              </a:lnSpc>
              <a:buNone/>
            </a:pPr>
            <a:r>
              <a:rPr lang="en-US" sz="705" kern="0" spc="15" dirty="0">
                <a:solidFill>
                  <a:srgbClr val="6F6A66"/>
                </a:solidFill>
                <a:latin typeface="Quicksand" pitchFamily="34" charset="0"/>
              </a:rPr>
              <a:t>Median revenue growth of the listed peer group, by fiscal year</a:t>
            </a:r>
            <a:endParaRPr lang="en-US" sz="705" dirty="0"/>
          </a:p>
        </p:txBody>
      </p:sp>
      <p:sp>
        <p:nvSpPr>
          <p:cNvPr id="13" name="Text 12"/>
          <p:cNvSpPr txBox="1"/>
          <p:nvPr/>
        </p:nvSpPr>
        <p:spPr>
          <a:xfrm>
            <a:off x="714375" y="1700213"/>
            <a:ext cx="875258" cy="123825"/>
          </a:xfrm>
          <a:prstGeom prst="rect">
            <a:avLst/>
          </a:prstGeom>
          <a:noFill/>
          <a:ln/>
        </p:spPr>
        <p:txBody>
          <a:bodyPr wrap="none" lIns="0" tIns="0" rIns="0" bIns="0" rtlCol="0" anchor="t"/>
          <a:lstStyle/>
          <a:p>
            <a:pPr marL="0" indent="0" algn="l">
              <a:lnSpc>
                <a:spcPts val="975"/>
              </a:lnSpc>
              <a:buNone/>
            </a:pPr>
            <a:r>
              <a:rPr lang="en-US" sz="720" kern="0" spc="15" dirty="0">
                <a:solidFill>
                  <a:srgbClr val="333231"/>
                </a:solidFill>
                <a:latin typeface="Quicksand" pitchFamily="34" charset="0"/>
              </a:rPr>
              <a:t>Packaged food (8)</a:t>
            </a:r>
            <a:endParaRPr lang="en-US" sz="720" dirty="0"/>
          </a:p>
        </p:txBody>
      </p:sp>
      <p:sp>
        <p:nvSpPr>
          <p:cNvPr id="14" name="Dot 13"/>
          <p:cNvSpPr/>
          <p:nvPr/>
        </p:nvSpPr>
        <p:spPr>
          <a:xfrm>
            <a:off x="590550" y="1728788"/>
            <a:ext cx="76200" cy="76200"/>
          </a:xfrm>
          <a:prstGeom prst="ellipse">
            <a:avLst/>
          </a:prstGeom>
          <a:solidFill>
            <a:srgbClr val="1B1A1A"/>
          </a:solidFill>
          <a:ln/>
        </p:spPr>
        <p:txBody>
          <a:bodyPr/>
          <a:lstStyle/>
          <a:p>
            <a:endParaRPr lang="en-US"/>
          </a:p>
        </p:txBody>
      </p:sp>
      <p:sp>
        <p:nvSpPr>
          <p:cNvPr id="15" name="Text 14"/>
          <p:cNvSpPr txBox="1"/>
          <p:nvPr/>
        </p:nvSpPr>
        <p:spPr>
          <a:xfrm>
            <a:off x="1818233" y="1700213"/>
            <a:ext cx="516880" cy="123825"/>
          </a:xfrm>
          <a:prstGeom prst="rect">
            <a:avLst/>
          </a:prstGeom>
          <a:noFill/>
          <a:ln/>
        </p:spPr>
        <p:txBody>
          <a:bodyPr wrap="none" lIns="0" tIns="0" rIns="0" bIns="0" rtlCol="0" anchor="t"/>
          <a:lstStyle/>
          <a:p>
            <a:pPr marL="0" indent="0" algn="l">
              <a:lnSpc>
                <a:spcPts val="975"/>
              </a:lnSpc>
              <a:buNone/>
            </a:pPr>
            <a:r>
              <a:rPr lang="en-US" sz="720" kern="0" spc="15" dirty="0">
                <a:solidFill>
                  <a:srgbClr val="333231"/>
                </a:solidFill>
                <a:latin typeface="Quicksand" pitchFamily="34" charset="0"/>
              </a:rPr>
              <a:t>Snacks (6)</a:t>
            </a:r>
            <a:endParaRPr lang="en-US" sz="720" dirty="0"/>
          </a:p>
        </p:txBody>
      </p:sp>
      <p:sp>
        <p:nvSpPr>
          <p:cNvPr id="16" name="Shape 15"/>
          <p:cNvSpPr/>
          <p:nvPr/>
        </p:nvSpPr>
        <p:spPr>
          <a:xfrm>
            <a:off x="1694408" y="1728788"/>
            <a:ext cx="76200" cy="76200"/>
          </a:xfrm>
          <a:prstGeom prst="rect">
            <a:avLst/>
          </a:prstGeom>
          <a:solidFill>
            <a:srgbClr val="B68757"/>
          </a:solidFill>
          <a:ln/>
        </p:spPr>
        <p:txBody>
          <a:bodyPr/>
          <a:lstStyle/>
          <a:p>
            <a:endParaRPr lang="en-US"/>
          </a:p>
        </p:txBody>
      </p:sp>
      <p:sp>
        <p:nvSpPr>
          <p:cNvPr id="17" name="Text 16"/>
          <p:cNvSpPr txBox="1"/>
          <p:nvPr/>
        </p:nvSpPr>
        <p:spPr>
          <a:xfrm>
            <a:off x="2563713" y="1700213"/>
            <a:ext cx="673745" cy="123825"/>
          </a:xfrm>
          <a:prstGeom prst="rect">
            <a:avLst/>
          </a:prstGeom>
          <a:noFill/>
          <a:ln/>
        </p:spPr>
        <p:txBody>
          <a:bodyPr wrap="none" lIns="0" tIns="0" rIns="0" bIns="0" rtlCol="0" anchor="t"/>
          <a:lstStyle/>
          <a:p>
            <a:pPr marL="0" indent="0" algn="l">
              <a:lnSpc>
                <a:spcPts val="975"/>
              </a:lnSpc>
              <a:buNone/>
            </a:pPr>
            <a:r>
              <a:rPr lang="en-US" sz="720" kern="0" spc="15" dirty="0">
                <a:solidFill>
                  <a:srgbClr val="333231"/>
                </a:solidFill>
                <a:latin typeface="Quicksand" pitchFamily="34" charset="0"/>
              </a:rPr>
              <a:t>Beverages (6)</a:t>
            </a:r>
            <a:endParaRPr lang="en-US" sz="720" dirty="0"/>
          </a:p>
        </p:txBody>
      </p:sp>
      <p:sp>
        <p:nvSpPr>
          <p:cNvPr id="18" name="Shape 17"/>
          <p:cNvSpPr/>
          <p:nvPr/>
        </p:nvSpPr>
        <p:spPr>
          <a:xfrm rot="2700000">
            <a:off x="2439888" y="1728788"/>
            <a:ext cx="76200" cy="76200"/>
          </a:xfrm>
          <a:prstGeom prst="rect">
            <a:avLst/>
          </a:prstGeom>
          <a:solidFill>
            <a:srgbClr val="8F8880"/>
          </a:solidFill>
          <a:ln/>
        </p:spPr>
        <p:txBody>
          <a:bodyPr/>
          <a:lstStyle/>
          <a:p>
            <a:endParaRPr lang="en-US"/>
          </a:p>
        </p:txBody>
      </p:sp>
      <p:sp>
        <p:nvSpPr>
          <p:cNvPr id="19" name="Chart shading"/>
          <p:cNvSpPr/>
          <p:nvPr/>
        </p:nvSpPr>
        <p:spPr>
          <a:xfrm>
            <a:off x="3238500" y="1962150"/>
            <a:ext cx="1543050" cy="1990725"/>
          </a:xfrm>
          <a:prstGeom prst="rect">
            <a:avLst/>
          </a:prstGeom>
          <a:solidFill>
            <a:srgbClr val="F1EBE2"/>
          </a:solidFill>
          <a:ln/>
        </p:spPr>
        <p:txBody>
          <a:bodyPr/>
          <a:lstStyle/>
          <a:p>
            <a:endParaRPr lang="en-US"/>
          </a:p>
        </p:txBody>
      </p:sp>
      <p:sp>
        <p:nvSpPr>
          <p:cNvPr id="20" name="Chart rule"/>
          <p:cNvSpPr/>
          <p:nvPr/>
        </p:nvSpPr>
        <p:spPr>
          <a:xfrm>
            <a:off x="914400" y="2983230"/>
            <a:ext cx="3867150" cy="0"/>
          </a:xfrm>
          <a:prstGeom prst="line">
            <a:avLst/>
          </a:prstGeom>
          <a:noFill/>
          <a:ln w="9525">
            <a:solidFill>
              <a:srgbClr val="C3BDB6"/>
            </a:solidFill>
            <a:prstDash val="solid"/>
          </a:ln>
        </p:spPr>
        <p:txBody>
          <a:bodyPr/>
          <a:lstStyle/>
          <a:p>
            <a:endParaRPr lang="en-US"/>
          </a:p>
        </p:txBody>
      </p:sp>
      <p:sp>
        <p:nvSpPr>
          <p:cNvPr id="21" name="Chart rule"/>
          <p:cNvSpPr/>
          <p:nvPr/>
        </p:nvSpPr>
        <p:spPr>
          <a:xfrm>
            <a:off x="914400" y="2576513"/>
            <a:ext cx="3867150" cy="0"/>
          </a:xfrm>
          <a:prstGeom prst="line">
            <a:avLst/>
          </a:prstGeom>
          <a:noFill/>
          <a:ln w="9525">
            <a:solidFill>
              <a:srgbClr val="E3DCD3"/>
            </a:solidFill>
            <a:prstDash val="solid"/>
          </a:ln>
        </p:spPr>
        <p:txBody>
          <a:bodyPr/>
          <a:lstStyle/>
          <a:p>
            <a:endParaRPr lang="en-US"/>
          </a:p>
        </p:txBody>
      </p:sp>
      <p:sp>
        <p:nvSpPr>
          <p:cNvPr id="22" name="Chart rule"/>
          <p:cNvSpPr/>
          <p:nvPr/>
        </p:nvSpPr>
        <p:spPr>
          <a:xfrm>
            <a:off x="914400" y="2169795"/>
            <a:ext cx="3867150" cy="0"/>
          </a:xfrm>
          <a:prstGeom prst="line">
            <a:avLst/>
          </a:prstGeom>
          <a:noFill/>
          <a:ln w="9525">
            <a:solidFill>
              <a:srgbClr val="E3DCD3"/>
            </a:solidFill>
            <a:prstDash val="solid"/>
          </a:ln>
        </p:spPr>
        <p:txBody>
          <a:bodyPr/>
          <a:lstStyle/>
          <a:p>
            <a:endParaRPr lang="en-US"/>
          </a:p>
        </p:txBody>
      </p:sp>
      <p:sp>
        <p:nvSpPr>
          <p:cNvPr id="23" name="Chart rule"/>
          <p:cNvSpPr/>
          <p:nvPr/>
        </p:nvSpPr>
        <p:spPr>
          <a:xfrm>
            <a:off x="590550" y="3467100"/>
            <a:ext cx="4191000" cy="0"/>
          </a:xfrm>
          <a:prstGeom prst="line">
            <a:avLst/>
          </a:prstGeom>
          <a:noFill/>
          <a:ln w="9525">
            <a:solidFill>
              <a:srgbClr val="C3BDB6"/>
            </a:solidFill>
            <a:prstDash val="solid"/>
          </a:ln>
        </p:spPr>
        <p:txBody>
          <a:bodyPr/>
          <a:lstStyle/>
          <a:p>
            <a:endParaRPr lang="en-US"/>
          </a:p>
        </p:txBody>
      </p:sp>
      <p:pic>
        <p:nvPicPr>
          <p:cNvPr id="24" name="Chart key markers" descr="/tmp/claude-0/-home-claude-about/4bef2f41-4227-5ff7-ab18-11ac74cd9797/scratchpad/pptx/ex/media/7aca1844d531.png"/>
          <p:cNvPicPr>
            <a:picLocks noChangeAspect="1"/>
          </p:cNvPicPr>
          <p:nvPr/>
        </p:nvPicPr>
        <p:blipFill>
          <a:blip r:embed="rId3"/>
          <a:stretch>
            <a:fillRect/>
          </a:stretch>
        </p:blipFill>
        <p:spPr>
          <a:xfrm>
            <a:off x="590550" y="1885950"/>
            <a:ext cx="4191000" cy="2066925"/>
          </a:xfrm>
          <a:prstGeom prst="rect">
            <a:avLst/>
          </a:prstGeom>
        </p:spPr>
      </p:pic>
      <p:graphicFrame>
        <p:nvGraphicFramePr>
          <p:cNvPr id="25" name="Revenue growth chart 1"/>
          <p:cNvGraphicFramePr/>
          <p:nvPr/>
        </p:nvGraphicFramePr>
        <p:xfrm>
          <a:off x="723900" y="1962150"/>
          <a:ext cx="4191000" cy="1228725"/>
        </p:xfrm>
        <a:graphic>
          <a:graphicData uri="http://schemas.openxmlformats.org/drawingml/2006/chart">
            <c:chart xmlns:c="http://schemas.openxmlformats.org/drawingml/2006/chart" xmlns:r="http://schemas.openxmlformats.org/officeDocument/2006/relationships" r:id="rId4"/>
          </a:graphicData>
        </a:graphic>
      </p:graphicFrame>
      <p:sp>
        <p:nvSpPr>
          <p:cNvPr id="26" name="Text 25"/>
          <p:cNvSpPr txBox="1"/>
          <p:nvPr/>
        </p:nvSpPr>
        <p:spPr>
          <a:xfrm>
            <a:off x="170855" y="2927866"/>
            <a:ext cx="688253" cy="101203"/>
          </a:xfrm>
          <a:prstGeom prst="rect">
            <a:avLst/>
          </a:prstGeom>
          <a:noFill/>
          <a:ln/>
        </p:spPr>
        <p:txBody>
          <a:bodyPr wrap="none" lIns="0" tIns="0" rIns="0" bIns="0" rtlCol="0" anchor="t"/>
          <a:lstStyle/>
          <a:p>
            <a:pPr marL="0" indent="0" algn="r">
              <a:lnSpc>
                <a:spcPts val="797"/>
              </a:lnSpc>
              <a:buNone/>
            </a:pPr>
            <a:r>
              <a:rPr lang="en-US" sz="638" dirty="0">
                <a:solidFill>
                  <a:srgbClr val="6F6A66"/>
                </a:solidFill>
                <a:latin typeface="Quicksand" pitchFamily="34" charset="0"/>
              </a:rPr>
              <a:t>0%</a:t>
            </a:r>
            <a:endParaRPr lang="en-US" sz="638" dirty="0"/>
          </a:p>
        </p:txBody>
      </p:sp>
      <p:sp>
        <p:nvSpPr>
          <p:cNvPr id="27" name="Text 26"/>
          <p:cNvSpPr txBox="1"/>
          <p:nvPr/>
        </p:nvSpPr>
        <p:spPr>
          <a:xfrm>
            <a:off x="174873" y="2521148"/>
            <a:ext cx="684205" cy="101203"/>
          </a:xfrm>
          <a:prstGeom prst="rect">
            <a:avLst/>
          </a:prstGeom>
          <a:noFill/>
          <a:ln/>
        </p:spPr>
        <p:txBody>
          <a:bodyPr wrap="none" lIns="0" tIns="0" rIns="0" bIns="0" rtlCol="0" anchor="t"/>
          <a:lstStyle/>
          <a:p>
            <a:pPr marL="0" indent="0" algn="r">
              <a:lnSpc>
                <a:spcPts val="797"/>
              </a:lnSpc>
              <a:buNone/>
            </a:pPr>
            <a:r>
              <a:rPr lang="en-US" sz="638" dirty="0">
                <a:solidFill>
                  <a:srgbClr val="6F6A66"/>
                </a:solidFill>
                <a:latin typeface="Quicksand" pitchFamily="34" charset="0"/>
              </a:rPr>
              <a:t>5%</a:t>
            </a:r>
            <a:endParaRPr lang="en-US" sz="638" dirty="0"/>
          </a:p>
        </p:txBody>
      </p:sp>
      <p:sp>
        <p:nvSpPr>
          <p:cNvPr id="28" name="Text 27"/>
          <p:cNvSpPr txBox="1"/>
          <p:nvPr/>
        </p:nvSpPr>
        <p:spPr>
          <a:xfrm>
            <a:off x="139005" y="2114431"/>
            <a:ext cx="720115" cy="101203"/>
          </a:xfrm>
          <a:prstGeom prst="rect">
            <a:avLst/>
          </a:prstGeom>
          <a:noFill/>
          <a:ln/>
        </p:spPr>
        <p:txBody>
          <a:bodyPr wrap="none" lIns="0" tIns="0" rIns="0" bIns="0" rtlCol="0" anchor="t"/>
          <a:lstStyle/>
          <a:p>
            <a:pPr marL="0" indent="0" algn="r">
              <a:lnSpc>
                <a:spcPts val="797"/>
              </a:lnSpc>
              <a:buNone/>
            </a:pPr>
            <a:r>
              <a:rPr lang="en-US" sz="638" dirty="0">
                <a:solidFill>
                  <a:srgbClr val="6F6A66"/>
                </a:solidFill>
                <a:latin typeface="Quicksand" pitchFamily="34" charset="0"/>
              </a:rPr>
              <a:t>10%</a:t>
            </a:r>
            <a:endParaRPr lang="en-US" sz="638" dirty="0"/>
          </a:p>
        </p:txBody>
      </p:sp>
      <p:sp>
        <p:nvSpPr>
          <p:cNvPr id="29" name="Text 28"/>
          <p:cNvSpPr txBox="1"/>
          <p:nvPr/>
        </p:nvSpPr>
        <p:spPr>
          <a:xfrm>
            <a:off x="563314" y="3315891"/>
            <a:ext cx="1159371" cy="102394"/>
          </a:xfrm>
          <a:prstGeom prst="rect">
            <a:avLst/>
          </a:prstGeom>
          <a:noFill/>
          <a:ln/>
        </p:spPr>
        <p:txBody>
          <a:bodyPr wrap="none" lIns="0" tIns="0" rIns="0" bIns="0" rtlCol="0" anchor="t"/>
          <a:lstStyle/>
          <a:p>
            <a:pPr marL="0" indent="0" algn="ctr">
              <a:lnSpc>
                <a:spcPts val="806"/>
              </a:lnSpc>
              <a:buNone/>
            </a:pPr>
            <a:r>
              <a:rPr lang="en-US" sz="645" dirty="0">
                <a:solidFill>
                  <a:srgbClr val="6F6A66"/>
                </a:solidFill>
                <a:latin typeface="Quicksand Medium" pitchFamily="34" charset="0"/>
              </a:rPr>
              <a:t>Two years ago</a:t>
            </a:r>
            <a:endParaRPr lang="en-US" sz="645" dirty="0"/>
          </a:p>
        </p:txBody>
      </p:sp>
      <p:sp>
        <p:nvSpPr>
          <p:cNvPr id="30" name="Text 29"/>
          <p:cNvSpPr txBox="1"/>
          <p:nvPr/>
        </p:nvSpPr>
        <p:spPr>
          <a:xfrm>
            <a:off x="1494755" y="3315891"/>
            <a:ext cx="976188" cy="102394"/>
          </a:xfrm>
          <a:prstGeom prst="rect">
            <a:avLst/>
          </a:prstGeom>
          <a:noFill/>
          <a:ln/>
        </p:spPr>
        <p:txBody>
          <a:bodyPr wrap="none" lIns="0" tIns="0" rIns="0" bIns="0" rtlCol="0" anchor="t"/>
          <a:lstStyle/>
          <a:p>
            <a:pPr marL="0" indent="0" algn="ctr">
              <a:lnSpc>
                <a:spcPts val="806"/>
              </a:lnSpc>
              <a:buNone/>
            </a:pPr>
            <a:r>
              <a:rPr lang="en-US" sz="645" dirty="0">
                <a:solidFill>
                  <a:srgbClr val="6F6A66"/>
                </a:solidFill>
                <a:latin typeface="Quicksand Medium" pitchFamily="34" charset="0"/>
              </a:rPr>
              <a:t>Prior year</a:t>
            </a:r>
            <a:endParaRPr lang="en-US" sz="645" dirty="0"/>
          </a:p>
        </p:txBody>
      </p:sp>
      <p:sp>
        <p:nvSpPr>
          <p:cNvPr id="31" name="Text 30"/>
          <p:cNvSpPr txBox="1"/>
          <p:nvPr/>
        </p:nvSpPr>
        <p:spPr>
          <a:xfrm>
            <a:off x="2170807" y="3315891"/>
            <a:ext cx="1297814" cy="102394"/>
          </a:xfrm>
          <a:prstGeom prst="rect">
            <a:avLst/>
          </a:prstGeom>
          <a:noFill/>
          <a:ln/>
        </p:spPr>
        <p:txBody>
          <a:bodyPr wrap="none" lIns="0" tIns="0" rIns="0" bIns="0" rtlCol="0" anchor="t"/>
          <a:lstStyle/>
          <a:p>
            <a:pPr marL="0" indent="0" algn="ctr">
              <a:lnSpc>
                <a:spcPts val="806"/>
              </a:lnSpc>
              <a:buNone/>
            </a:pPr>
            <a:r>
              <a:rPr lang="en-US" sz="645" b="1" dirty="0">
                <a:solidFill>
                  <a:srgbClr val="1B1A1A"/>
                </a:solidFill>
                <a:latin typeface="Quicksand" pitchFamily="34" charset="0"/>
              </a:rPr>
              <a:t>Latest fiscal year</a:t>
            </a:r>
            <a:endParaRPr lang="en-US" sz="645" dirty="0"/>
          </a:p>
        </p:txBody>
      </p:sp>
      <p:sp>
        <p:nvSpPr>
          <p:cNvPr id="32" name="Text 31"/>
          <p:cNvSpPr txBox="1"/>
          <p:nvPr/>
        </p:nvSpPr>
        <p:spPr>
          <a:xfrm>
            <a:off x="3034531" y="3315891"/>
            <a:ext cx="1246571" cy="102394"/>
          </a:xfrm>
          <a:prstGeom prst="rect">
            <a:avLst/>
          </a:prstGeom>
          <a:noFill/>
          <a:ln/>
        </p:spPr>
        <p:txBody>
          <a:bodyPr wrap="none" lIns="0" tIns="0" rIns="0" bIns="0" rtlCol="0" anchor="t"/>
          <a:lstStyle/>
          <a:p>
            <a:pPr marL="0" indent="0" algn="ctr">
              <a:lnSpc>
                <a:spcPts val="806"/>
              </a:lnSpc>
              <a:buNone/>
            </a:pPr>
            <a:r>
              <a:rPr lang="en-US" sz="645" dirty="0">
                <a:solidFill>
                  <a:srgbClr val="6F6A66"/>
                </a:solidFill>
                <a:latin typeface="Quicksand Medium" pitchFamily="34" charset="0"/>
              </a:rPr>
              <a:t>Current year est.</a:t>
            </a:r>
            <a:endParaRPr lang="en-US" sz="645" dirty="0"/>
          </a:p>
        </p:txBody>
      </p:sp>
      <p:sp>
        <p:nvSpPr>
          <p:cNvPr id="33" name="Text 32"/>
          <p:cNvSpPr txBox="1"/>
          <p:nvPr/>
        </p:nvSpPr>
        <p:spPr>
          <a:xfrm>
            <a:off x="3929732" y="3315891"/>
            <a:ext cx="1132483" cy="102394"/>
          </a:xfrm>
          <a:prstGeom prst="rect">
            <a:avLst/>
          </a:prstGeom>
          <a:noFill/>
          <a:ln/>
        </p:spPr>
        <p:txBody>
          <a:bodyPr wrap="none" lIns="0" tIns="0" rIns="0" bIns="0" rtlCol="0" anchor="t"/>
          <a:lstStyle/>
          <a:p>
            <a:pPr marL="0" indent="0" algn="ctr">
              <a:lnSpc>
                <a:spcPts val="806"/>
              </a:lnSpc>
              <a:buNone/>
            </a:pPr>
            <a:r>
              <a:rPr lang="en-US" sz="645" dirty="0">
                <a:solidFill>
                  <a:srgbClr val="6F6A66"/>
                </a:solidFill>
                <a:latin typeface="Quicksand Medium" pitchFamily="34" charset="0"/>
              </a:rPr>
              <a:t>Next year est.</a:t>
            </a:r>
            <a:endParaRPr lang="en-US" sz="645" dirty="0"/>
          </a:p>
        </p:txBody>
      </p:sp>
      <p:sp>
        <p:nvSpPr>
          <p:cNvPr id="34" name="Text 33"/>
          <p:cNvSpPr txBox="1"/>
          <p:nvPr/>
        </p:nvSpPr>
        <p:spPr>
          <a:xfrm>
            <a:off x="725835" y="3501628"/>
            <a:ext cx="835612" cy="111919"/>
          </a:xfrm>
          <a:prstGeom prst="rect">
            <a:avLst/>
          </a:prstGeom>
          <a:noFill/>
          <a:ln/>
        </p:spPr>
        <p:txBody>
          <a:bodyPr wrap="none" lIns="0" tIns="0" rIns="0" bIns="0" rtlCol="0" anchor="t"/>
          <a:lstStyle/>
          <a:p>
            <a:pPr marL="0" indent="0" algn="ctr">
              <a:lnSpc>
                <a:spcPts val="881"/>
              </a:lnSpc>
              <a:buNone/>
            </a:pPr>
            <a:r>
              <a:rPr lang="en-US" sz="705" b="1" dirty="0">
                <a:solidFill>
                  <a:srgbClr val="1B1A1A"/>
                </a:solidFill>
                <a:latin typeface="Quicksand" pitchFamily="34" charset="0"/>
              </a:rPr>
              <a:t>−0.3%</a:t>
            </a:r>
            <a:endParaRPr lang="en-US" sz="705" dirty="0"/>
          </a:p>
        </p:txBody>
      </p:sp>
      <p:sp>
        <p:nvSpPr>
          <p:cNvPr id="35" name="Text 34"/>
          <p:cNvSpPr txBox="1"/>
          <p:nvPr/>
        </p:nvSpPr>
        <p:spPr>
          <a:xfrm>
            <a:off x="1564035" y="3501628"/>
            <a:ext cx="835612" cy="111919"/>
          </a:xfrm>
          <a:prstGeom prst="rect">
            <a:avLst/>
          </a:prstGeom>
          <a:noFill/>
          <a:ln/>
        </p:spPr>
        <p:txBody>
          <a:bodyPr wrap="none" lIns="0" tIns="0" rIns="0" bIns="0" rtlCol="0" anchor="t"/>
          <a:lstStyle/>
          <a:p>
            <a:pPr marL="0" indent="0" algn="ctr">
              <a:lnSpc>
                <a:spcPts val="881"/>
              </a:lnSpc>
              <a:buNone/>
            </a:pPr>
            <a:r>
              <a:rPr lang="en-US" sz="705" b="1" dirty="0">
                <a:solidFill>
                  <a:srgbClr val="1B1A1A"/>
                </a:solidFill>
                <a:latin typeface="Quicksand" pitchFamily="34" charset="0"/>
              </a:rPr>
              <a:t>−0.3%</a:t>
            </a:r>
            <a:endParaRPr lang="en-US" sz="705" dirty="0"/>
          </a:p>
        </p:txBody>
      </p:sp>
      <p:sp>
        <p:nvSpPr>
          <p:cNvPr id="36" name="Text 35"/>
          <p:cNvSpPr txBox="1"/>
          <p:nvPr/>
        </p:nvSpPr>
        <p:spPr>
          <a:xfrm>
            <a:off x="2401714" y="3501628"/>
            <a:ext cx="836684" cy="111919"/>
          </a:xfrm>
          <a:prstGeom prst="rect">
            <a:avLst/>
          </a:prstGeom>
          <a:noFill/>
          <a:ln/>
        </p:spPr>
        <p:txBody>
          <a:bodyPr wrap="none" lIns="0" tIns="0" rIns="0" bIns="0" rtlCol="0" anchor="t"/>
          <a:lstStyle/>
          <a:p>
            <a:pPr marL="0" indent="0" algn="ctr">
              <a:lnSpc>
                <a:spcPts val="881"/>
              </a:lnSpc>
              <a:buNone/>
            </a:pPr>
            <a:r>
              <a:rPr lang="en-US" sz="705" b="1" dirty="0">
                <a:solidFill>
                  <a:srgbClr val="1B1A1A"/>
                </a:solidFill>
                <a:latin typeface="Quicksand" pitchFamily="34" charset="0"/>
              </a:rPr>
              <a:t>−0.7%</a:t>
            </a:r>
            <a:endParaRPr lang="en-US" sz="705" dirty="0"/>
          </a:p>
        </p:txBody>
      </p:sp>
      <p:sp>
        <p:nvSpPr>
          <p:cNvPr id="37" name="Text 36"/>
          <p:cNvSpPr txBox="1"/>
          <p:nvPr/>
        </p:nvSpPr>
        <p:spPr>
          <a:xfrm>
            <a:off x="3252341" y="3501628"/>
            <a:ext cx="811942" cy="111919"/>
          </a:xfrm>
          <a:prstGeom prst="rect">
            <a:avLst/>
          </a:prstGeom>
          <a:noFill/>
          <a:ln/>
        </p:spPr>
        <p:txBody>
          <a:bodyPr wrap="none" lIns="0" tIns="0" rIns="0" bIns="0" rtlCol="0" anchor="t"/>
          <a:lstStyle/>
          <a:p>
            <a:pPr marL="0" indent="0" algn="ctr">
              <a:lnSpc>
                <a:spcPts val="881"/>
              </a:lnSpc>
              <a:buNone/>
            </a:pPr>
            <a:r>
              <a:rPr lang="en-US" sz="705" b="1" dirty="0">
                <a:solidFill>
                  <a:srgbClr val="1B1A1A"/>
                </a:solidFill>
                <a:latin typeface="Quicksand" pitchFamily="34" charset="0"/>
              </a:rPr>
              <a:t>−1.3%</a:t>
            </a:r>
            <a:endParaRPr lang="en-US" sz="705" dirty="0"/>
          </a:p>
        </p:txBody>
      </p:sp>
      <p:sp>
        <p:nvSpPr>
          <p:cNvPr id="38" name="Text 37"/>
          <p:cNvSpPr txBox="1"/>
          <p:nvPr/>
        </p:nvSpPr>
        <p:spPr>
          <a:xfrm>
            <a:off x="4080495" y="3501628"/>
            <a:ext cx="831951" cy="111919"/>
          </a:xfrm>
          <a:prstGeom prst="rect">
            <a:avLst/>
          </a:prstGeom>
          <a:noFill/>
          <a:ln/>
        </p:spPr>
        <p:txBody>
          <a:bodyPr wrap="none" lIns="0" tIns="0" rIns="0" bIns="0" rtlCol="0" anchor="t"/>
          <a:lstStyle/>
          <a:p>
            <a:pPr marL="0" indent="0" algn="ctr">
              <a:lnSpc>
                <a:spcPts val="881"/>
              </a:lnSpc>
              <a:buNone/>
            </a:pPr>
            <a:r>
              <a:rPr lang="en-US" sz="705" b="1" dirty="0">
                <a:solidFill>
                  <a:srgbClr val="1B1A1A"/>
                </a:solidFill>
                <a:latin typeface="Quicksand" pitchFamily="34" charset="0"/>
              </a:rPr>
              <a:t>+0.3%</a:t>
            </a:r>
            <a:endParaRPr lang="en-US" sz="705" dirty="0"/>
          </a:p>
        </p:txBody>
      </p:sp>
      <p:sp>
        <p:nvSpPr>
          <p:cNvPr id="39" name="Text 38"/>
          <p:cNvSpPr txBox="1"/>
          <p:nvPr/>
        </p:nvSpPr>
        <p:spPr>
          <a:xfrm>
            <a:off x="710654" y="3644503"/>
            <a:ext cx="865997" cy="111919"/>
          </a:xfrm>
          <a:prstGeom prst="rect">
            <a:avLst/>
          </a:prstGeom>
          <a:noFill/>
          <a:ln/>
        </p:spPr>
        <p:txBody>
          <a:bodyPr wrap="none" lIns="0" tIns="0" rIns="0" bIns="0" rtlCol="0" anchor="t"/>
          <a:lstStyle/>
          <a:p>
            <a:pPr marL="0" indent="0" algn="ctr">
              <a:lnSpc>
                <a:spcPts val="881"/>
              </a:lnSpc>
              <a:buNone/>
            </a:pPr>
            <a:r>
              <a:rPr lang="en-US" sz="705" b="1" dirty="0">
                <a:solidFill>
                  <a:srgbClr val="1B1A1A"/>
                </a:solidFill>
                <a:latin typeface="Quicksand" pitchFamily="34" charset="0"/>
              </a:rPr>
              <a:t>+10.8%</a:t>
            </a:r>
            <a:endParaRPr lang="en-US" sz="705" dirty="0"/>
          </a:p>
        </p:txBody>
      </p:sp>
      <p:sp>
        <p:nvSpPr>
          <p:cNvPr id="40" name="Text 39"/>
          <p:cNvSpPr txBox="1"/>
          <p:nvPr/>
        </p:nvSpPr>
        <p:spPr>
          <a:xfrm>
            <a:off x="1565597" y="3644503"/>
            <a:ext cx="832487" cy="111919"/>
          </a:xfrm>
          <a:prstGeom prst="rect">
            <a:avLst/>
          </a:prstGeom>
          <a:noFill/>
          <a:ln/>
        </p:spPr>
        <p:txBody>
          <a:bodyPr wrap="none" lIns="0" tIns="0" rIns="0" bIns="0" rtlCol="0" anchor="t"/>
          <a:lstStyle/>
          <a:p>
            <a:pPr marL="0" indent="0" algn="ctr">
              <a:lnSpc>
                <a:spcPts val="881"/>
              </a:lnSpc>
              <a:buNone/>
            </a:pPr>
            <a:r>
              <a:rPr lang="en-US" sz="705" b="1" dirty="0">
                <a:solidFill>
                  <a:srgbClr val="1B1A1A"/>
                </a:solidFill>
                <a:latin typeface="Quicksand" pitchFamily="34" charset="0"/>
              </a:rPr>
              <a:t>+4.2%</a:t>
            </a:r>
            <a:endParaRPr lang="en-US" sz="705" dirty="0"/>
          </a:p>
        </p:txBody>
      </p:sp>
      <p:sp>
        <p:nvSpPr>
          <p:cNvPr id="41" name="Text 40"/>
          <p:cNvSpPr txBox="1"/>
          <p:nvPr/>
        </p:nvSpPr>
        <p:spPr>
          <a:xfrm>
            <a:off x="2409230" y="3644503"/>
            <a:ext cx="821757" cy="111919"/>
          </a:xfrm>
          <a:prstGeom prst="rect">
            <a:avLst/>
          </a:prstGeom>
          <a:noFill/>
          <a:ln/>
        </p:spPr>
        <p:txBody>
          <a:bodyPr wrap="none" lIns="0" tIns="0" rIns="0" bIns="0" rtlCol="0" anchor="t"/>
          <a:lstStyle/>
          <a:p>
            <a:pPr marL="0" indent="0" algn="ctr">
              <a:lnSpc>
                <a:spcPts val="881"/>
              </a:lnSpc>
              <a:buNone/>
            </a:pPr>
            <a:r>
              <a:rPr lang="en-US" sz="705" b="1" dirty="0">
                <a:solidFill>
                  <a:srgbClr val="1B1A1A"/>
                </a:solidFill>
                <a:latin typeface="Quicksand" pitchFamily="34" charset="0"/>
              </a:rPr>
              <a:t>+7.4%</a:t>
            </a:r>
            <a:endParaRPr lang="en-US" sz="705" dirty="0"/>
          </a:p>
        </p:txBody>
      </p:sp>
      <p:sp>
        <p:nvSpPr>
          <p:cNvPr id="42" name="Text 41"/>
          <p:cNvSpPr txBox="1"/>
          <p:nvPr/>
        </p:nvSpPr>
        <p:spPr>
          <a:xfrm>
            <a:off x="3243783" y="3644503"/>
            <a:ext cx="828915" cy="111919"/>
          </a:xfrm>
          <a:prstGeom prst="rect">
            <a:avLst/>
          </a:prstGeom>
          <a:noFill/>
          <a:ln/>
        </p:spPr>
        <p:txBody>
          <a:bodyPr wrap="none" lIns="0" tIns="0" rIns="0" bIns="0" rtlCol="0" anchor="t"/>
          <a:lstStyle/>
          <a:p>
            <a:pPr marL="0" indent="0" algn="ctr">
              <a:lnSpc>
                <a:spcPts val="881"/>
              </a:lnSpc>
              <a:buNone/>
            </a:pPr>
            <a:r>
              <a:rPr lang="en-US" sz="705" b="1" dirty="0">
                <a:solidFill>
                  <a:srgbClr val="1B1A1A"/>
                </a:solidFill>
                <a:latin typeface="Quicksand" pitchFamily="34" charset="0"/>
              </a:rPr>
              <a:t>+2.8%</a:t>
            </a:r>
            <a:endParaRPr lang="en-US" sz="705" dirty="0"/>
          </a:p>
        </p:txBody>
      </p:sp>
      <p:sp>
        <p:nvSpPr>
          <p:cNvPr id="43" name="Text 42"/>
          <p:cNvSpPr txBox="1"/>
          <p:nvPr/>
        </p:nvSpPr>
        <p:spPr>
          <a:xfrm>
            <a:off x="4091880" y="3644503"/>
            <a:ext cx="809264" cy="111919"/>
          </a:xfrm>
          <a:prstGeom prst="rect">
            <a:avLst/>
          </a:prstGeom>
          <a:noFill/>
          <a:ln/>
        </p:spPr>
        <p:txBody>
          <a:bodyPr wrap="none" lIns="0" tIns="0" rIns="0" bIns="0" rtlCol="0" anchor="t"/>
          <a:lstStyle/>
          <a:p>
            <a:pPr marL="0" indent="0" algn="ctr">
              <a:lnSpc>
                <a:spcPts val="881"/>
              </a:lnSpc>
              <a:buNone/>
            </a:pPr>
            <a:r>
              <a:rPr lang="en-US" sz="705" b="1" dirty="0">
                <a:solidFill>
                  <a:srgbClr val="1B1A1A"/>
                </a:solidFill>
                <a:latin typeface="Quicksand" pitchFamily="34" charset="0"/>
              </a:rPr>
              <a:t>+1.8%</a:t>
            </a:r>
            <a:endParaRPr lang="en-US" sz="705" dirty="0"/>
          </a:p>
        </p:txBody>
      </p:sp>
      <p:sp>
        <p:nvSpPr>
          <p:cNvPr id="44" name="Text 43"/>
          <p:cNvSpPr txBox="1"/>
          <p:nvPr/>
        </p:nvSpPr>
        <p:spPr>
          <a:xfrm>
            <a:off x="739304" y="3787378"/>
            <a:ext cx="808816" cy="111919"/>
          </a:xfrm>
          <a:prstGeom prst="rect">
            <a:avLst/>
          </a:prstGeom>
          <a:noFill/>
          <a:ln/>
        </p:spPr>
        <p:txBody>
          <a:bodyPr wrap="none" lIns="0" tIns="0" rIns="0" bIns="0" rtlCol="0" anchor="t"/>
          <a:lstStyle/>
          <a:p>
            <a:pPr marL="0" indent="0" algn="ctr">
              <a:lnSpc>
                <a:spcPts val="881"/>
              </a:lnSpc>
              <a:buNone/>
            </a:pPr>
            <a:r>
              <a:rPr lang="en-US" sz="705" b="1" dirty="0">
                <a:solidFill>
                  <a:srgbClr val="1B1A1A"/>
                </a:solidFill>
                <a:latin typeface="Quicksand" pitchFamily="34" charset="0"/>
              </a:rPr>
              <a:t>+6.1%</a:t>
            </a:r>
            <a:endParaRPr lang="en-US" sz="705" dirty="0"/>
          </a:p>
        </p:txBody>
      </p:sp>
      <p:sp>
        <p:nvSpPr>
          <p:cNvPr id="45" name="Text 44"/>
          <p:cNvSpPr txBox="1"/>
          <p:nvPr/>
        </p:nvSpPr>
        <p:spPr>
          <a:xfrm>
            <a:off x="1566490" y="3787378"/>
            <a:ext cx="830701" cy="111919"/>
          </a:xfrm>
          <a:prstGeom prst="rect">
            <a:avLst/>
          </a:prstGeom>
          <a:noFill/>
          <a:ln/>
        </p:spPr>
        <p:txBody>
          <a:bodyPr wrap="none" lIns="0" tIns="0" rIns="0" bIns="0" rtlCol="0" anchor="t"/>
          <a:lstStyle/>
          <a:p>
            <a:pPr marL="0" indent="0" algn="ctr">
              <a:lnSpc>
                <a:spcPts val="881"/>
              </a:lnSpc>
              <a:buNone/>
            </a:pPr>
            <a:r>
              <a:rPr lang="en-US" sz="705" b="1" dirty="0">
                <a:solidFill>
                  <a:srgbClr val="1B1A1A"/>
                </a:solidFill>
                <a:latin typeface="Quicksand" pitchFamily="34" charset="0"/>
              </a:rPr>
              <a:t>+2.9%</a:t>
            </a:r>
            <a:endParaRPr lang="en-US" sz="705" dirty="0"/>
          </a:p>
        </p:txBody>
      </p:sp>
      <p:sp>
        <p:nvSpPr>
          <p:cNvPr id="46" name="Text 45"/>
          <p:cNvSpPr txBox="1"/>
          <p:nvPr/>
        </p:nvSpPr>
        <p:spPr>
          <a:xfrm>
            <a:off x="2406179" y="3787378"/>
            <a:ext cx="827838" cy="111919"/>
          </a:xfrm>
          <a:prstGeom prst="rect">
            <a:avLst/>
          </a:prstGeom>
          <a:noFill/>
          <a:ln/>
        </p:spPr>
        <p:txBody>
          <a:bodyPr wrap="none" lIns="0" tIns="0" rIns="0" bIns="0" rtlCol="0" anchor="t"/>
          <a:lstStyle/>
          <a:p>
            <a:pPr marL="0" indent="0" algn="ctr">
              <a:lnSpc>
                <a:spcPts val="881"/>
              </a:lnSpc>
              <a:buNone/>
            </a:pPr>
            <a:r>
              <a:rPr lang="en-US" sz="705" b="1" dirty="0">
                <a:solidFill>
                  <a:srgbClr val="1B1A1A"/>
                </a:solidFill>
                <a:latin typeface="Quicksand" pitchFamily="34" charset="0"/>
              </a:rPr>
              <a:t>+5.2%</a:t>
            </a:r>
            <a:endParaRPr lang="en-US" sz="705" dirty="0"/>
          </a:p>
        </p:txBody>
      </p:sp>
      <p:sp>
        <p:nvSpPr>
          <p:cNvPr id="47" name="Text 46"/>
          <p:cNvSpPr txBox="1"/>
          <p:nvPr/>
        </p:nvSpPr>
        <p:spPr>
          <a:xfrm>
            <a:off x="3235821" y="3787378"/>
            <a:ext cx="844923" cy="111919"/>
          </a:xfrm>
          <a:prstGeom prst="rect">
            <a:avLst/>
          </a:prstGeom>
          <a:noFill/>
          <a:ln/>
        </p:spPr>
        <p:txBody>
          <a:bodyPr wrap="none" lIns="0" tIns="0" rIns="0" bIns="0" rtlCol="0" anchor="t"/>
          <a:lstStyle/>
          <a:p>
            <a:pPr marL="0" indent="0" algn="ctr">
              <a:lnSpc>
                <a:spcPts val="881"/>
              </a:lnSpc>
              <a:buNone/>
            </a:pPr>
            <a:r>
              <a:rPr lang="en-US" sz="705" b="1" dirty="0">
                <a:solidFill>
                  <a:srgbClr val="1B1A1A"/>
                </a:solidFill>
                <a:latin typeface="Quicksand" pitchFamily="34" charset="0"/>
              </a:rPr>
              <a:t>+11.3%</a:t>
            </a:r>
            <a:endParaRPr lang="en-US" sz="705" dirty="0"/>
          </a:p>
        </p:txBody>
      </p:sp>
      <p:sp>
        <p:nvSpPr>
          <p:cNvPr id="48" name="Text 47"/>
          <p:cNvSpPr txBox="1"/>
          <p:nvPr/>
        </p:nvSpPr>
        <p:spPr>
          <a:xfrm>
            <a:off x="4083248" y="3787378"/>
            <a:ext cx="826409" cy="111919"/>
          </a:xfrm>
          <a:prstGeom prst="rect">
            <a:avLst/>
          </a:prstGeom>
          <a:noFill/>
          <a:ln/>
        </p:spPr>
        <p:txBody>
          <a:bodyPr wrap="none" lIns="0" tIns="0" rIns="0" bIns="0" rtlCol="0" anchor="t"/>
          <a:lstStyle/>
          <a:p>
            <a:pPr marL="0" indent="0" algn="ctr">
              <a:lnSpc>
                <a:spcPts val="881"/>
              </a:lnSpc>
              <a:buNone/>
            </a:pPr>
            <a:r>
              <a:rPr lang="en-US" sz="705" b="1" dirty="0">
                <a:solidFill>
                  <a:srgbClr val="1B1A1A"/>
                </a:solidFill>
                <a:latin typeface="Quicksand" pitchFamily="34" charset="0"/>
              </a:rPr>
              <a:t>+5.6%</a:t>
            </a:r>
            <a:endParaRPr lang="en-US" sz="705" dirty="0"/>
          </a:p>
        </p:txBody>
      </p:sp>
      <p:sp>
        <p:nvSpPr>
          <p:cNvPr id="49" name="Shape 48"/>
          <p:cNvSpPr/>
          <p:nvPr/>
        </p:nvSpPr>
        <p:spPr>
          <a:xfrm>
            <a:off x="5105400" y="1238250"/>
            <a:ext cx="4533900" cy="2781300"/>
          </a:xfrm>
          <a:prstGeom prst="rect">
            <a:avLst/>
          </a:prstGeom>
          <a:solidFill>
            <a:srgbClr val="FAF7F3"/>
          </a:solidFill>
          <a:ln/>
        </p:spPr>
        <p:txBody>
          <a:bodyPr/>
          <a:lstStyle/>
          <a:p>
            <a:endParaRPr lang="en-US"/>
          </a:p>
        </p:txBody>
      </p:sp>
      <p:sp>
        <p:nvSpPr>
          <p:cNvPr id="50" name="Shape 49"/>
          <p:cNvSpPr/>
          <p:nvPr/>
        </p:nvSpPr>
        <p:spPr>
          <a:xfrm>
            <a:off x="5105400" y="1238250"/>
            <a:ext cx="4533900" cy="28575"/>
          </a:xfrm>
          <a:prstGeom prst="rect">
            <a:avLst/>
          </a:prstGeom>
          <a:solidFill>
            <a:srgbClr val="B68757"/>
          </a:solidFill>
          <a:ln/>
        </p:spPr>
        <p:txBody>
          <a:bodyPr/>
          <a:lstStyle/>
          <a:p>
            <a:endParaRPr lang="en-US"/>
          </a:p>
        </p:txBody>
      </p:sp>
      <p:sp>
        <p:nvSpPr>
          <p:cNvPr id="51" name="Text 50"/>
          <p:cNvSpPr txBox="1"/>
          <p:nvPr/>
        </p:nvSpPr>
        <p:spPr>
          <a:xfrm>
            <a:off x="5276850" y="1376363"/>
            <a:ext cx="4191000" cy="161925"/>
          </a:xfrm>
          <a:prstGeom prst="rect">
            <a:avLst/>
          </a:prstGeom>
          <a:noFill/>
          <a:ln/>
        </p:spPr>
        <p:txBody>
          <a:bodyPr wrap="none" lIns="0" tIns="0" rIns="0" bIns="0" rtlCol="0" anchor="t"/>
          <a:lstStyle/>
          <a:p>
            <a:pPr marL="0" indent="0" algn="l">
              <a:lnSpc>
                <a:spcPts val="1275"/>
              </a:lnSpc>
              <a:buNone/>
            </a:pPr>
            <a:r>
              <a:rPr lang="en-US" sz="938" b="1" kern="0" spc="15" dirty="0">
                <a:solidFill>
                  <a:srgbClr val="1B1A1A"/>
                </a:solidFill>
                <a:latin typeface="Quicksand" pitchFamily="34" charset="0"/>
              </a:rPr>
              <a:t>Consumer Brands &amp; Products</a:t>
            </a:r>
            <a:endParaRPr lang="en-US" sz="938" dirty="0"/>
          </a:p>
        </p:txBody>
      </p:sp>
      <p:sp>
        <p:nvSpPr>
          <p:cNvPr id="52" name="Text 51"/>
          <p:cNvSpPr txBox="1"/>
          <p:nvPr/>
        </p:nvSpPr>
        <p:spPr>
          <a:xfrm>
            <a:off x="5276850" y="1543050"/>
            <a:ext cx="4191000" cy="123825"/>
          </a:xfrm>
          <a:prstGeom prst="rect">
            <a:avLst/>
          </a:prstGeom>
          <a:noFill/>
          <a:ln/>
        </p:spPr>
        <p:txBody>
          <a:bodyPr wrap="none" lIns="0" tIns="0" rIns="0" bIns="0" rtlCol="0" anchor="t"/>
          <a:lstStyle/>
          <a:p>
            <a:pPr marL="0" indent="0" algn="l">
              <a:lnSpc>
                <a:spcPts val="975"/>
              </a:lnSpc>
              <a:buNone/>
            </a:pPr>
            <a:r>
              <a:rPr lang="en-US" sz="705" kern="0" spc="15" dirty="0">
                <a:solidFill>
                  <a:srgbClr val="6F6A66"/>
                </a:solidFill>
                <a:latin typeface="Quicksand" pitchFamily="34" charset="0"/>
              </a:rPr>
              <a:t>Median revenue growth of the listed peer group, by fiscal year</a:t>
            </a:r>
            <a:endParaRPr lang="en-US" sz="705" dirty="0"/>
          </a:p>
        </p:txBody>
      </p:sp>
      <p:sp>
        <p:nvSpPr>
          <p:cNvPr id="53" name="Text 52"/>
          <p:cNvSpPr txBox="1"/>
          <p:nvPr/>
        </p:nvSpPr>
        <p:spPr>
          <a:xfrm>
            <a:off x="5400675" y="1700213"/>
            <a:ext cx="1398836" cy="123825"/>
          </a:xfrm>
          <a:prstGeom prst="rect">
            <a:avLst/>
          </a:prstGeom>
          <a:noFill/>
          <a:ln/>
        </p:spPr>
        <p:txBody>
          <a:bodyPr wrap="none" lIns="0" tIns="0" rIns="0" bIns="0" rtlCol="0" anchor="t"/>
          <a:lstStyle/>
          <a:p>
            <a:pPr marL="0" indent="0" algn="l">
              <a:lnSpc>
                <a:spcPts val="975"/>
              </a:lnSpc>
              <a:buNone/>
            </a:pPr>
            <a:r>
              <a:rPr lang="en-US" sz="720" kern="0" spc="15" dirty="0">
                <a:solidFill>
                  <a:srgbClr val="333231"/>
                </a:solidFill>
                <a:latin typeface="Quicksand" pitchFamily="34" charset="0"/>
              </a:rPr>
              <a:t>Household &amp; personal care (6)</a:t>
            </a:r>
            <a:endParaRPr lang="en-US" sz="720" dirty="0"/>
          </a:p>
        </p:txBody>
      </p:sp>
      <p:sp>
        <p:nvSpPr>
          <p:cNvPr id="54" name="Dot 53"/>
          <p:cNvSpPr/>
          <p:nvPr/>
        </p:nvSpPr>
        <p:spPr>
          <a:xfrm>
            <a:off x="5276850" y="1728788"/>
            <a:ext cx="76200" cy="76200"/>
          </a:xfrm>
          <a:prstGeom prst="ellipse">
            <a:avLst/>
          </a:prstGeom>
          <a:solidFill>
            <a:srgbClr val="1B1A1A"/>
          </a:solidFill>
          <a:ln/>
        </p:spPr>
        <p:txBody>
          <a:bodyPr/>
          <a:lstStyle/>
          <a:p>
            <a:endParaRPr lang="en-US"/>
          </a:p>
        </p:txBody>
      </p:sp>
      <p:sp>
        <p:nvSpPr>
          <p:cNvPr id="55" name="Text 54"/>
          <p:cNvSpPr txBox="1"/>
          <p:nvPr/>
        </p:nvSpPr>
        <p:spPr>
          <a:xfrm>
            <a:off x="7028111" y="1700213"/>
            <a:ext cx="1259532" cy="123825"/>
          </a:xfrm>
          <a:prstGeom prst="rect">
            <a:avLst/>
          </a:prstGeom>
          <a:noFill/>
          <a:ln/>
        </p:spPr>
        <p:txBody>
          <a:bodyPr wrap="none" lIns="0" tIns="0" rIns="0" bIns="0" rtlCol="0" anchor="t"/>
          <a:lstStyle/>
          <a:p>
            <a:pPr marL="0" indent="0" algn="l">
              <a:lnSpc>
                <a:spcPts val="975"/>
              </a:lnSpc>
              <a:buNone/>
            </a:pPr>
            <a:r>
              <a:rPr lang="en-US" sz="720" kern="0" spc="15" dirty="0">
                <a:solidFill>
                  <a:srgbClr val="333231"/>
                </a:solidFill>
                <a:latin typeface="Quicksand" pitchFamily="34" charset="0"/>
              </a:rPr>
              <a:t>Durables, outdoor &amp; pet (6)</a:t>
            </a:r>
            <a:endParaRPr lang="en-US" sz="720" dirty="0"/>
          </a:p>
        </p:txBody>
      </p:sp>
      <p:sp>
        <p:nvSpPr>
          <p:cNvPr id="56" name="Shape 55"/>
          <p:cNvSpPr/>
          <p:nvPr/>
        </p:nvSpPr>
        <p:spPr>
          <a:xfrm>
            <a:off x="6904286" y="1728788"/>
            <a:ext cx="76200" cy="76200"/>
          </a:xfrm>
          <a:prstGeom prst="rect">
            <a:avLst/>
          </a:prstGeom>
          <a:solidFill>
            <a:srgbClr val="B68757"/>
          </a:solidFill>
          <a:ln/>
        </p:spPr>
        <p:txBody>
          <a:bodyPr/>
          <a:lstStyle/>
          <a:p>
            <a:endParaRPr lang="en-US"/>
          </a:p>
        </p:txBody>
      </p:sp>
      <p:sp>
        <p:nvSpPr>
          <p:cNvPr id="57" name="Chart shading"/>
          <p:cNvSpPr/>
          <p:nvPr/>
        </p:nvSpPr>
        <p:spPr>
          <a:xfrm>
            <a:off x="7924800" y="1962150"/>
            <a:ext cx="1543050" cy="1990725"/>
          </a:xfrm>
          <a:prstGeom prst="rect">
            <a:avLst/>
          </a:prstGeom>
          <a:solidFill>
            <a:srgbClr val="F1EBE2"/>
          </a:solidFill>
          <a:ln/>
        </p:spPr>
        <p:txBody>
          <a:bodyPr/>
          <a:lstStyle/>
          <a:p>
            <a:endParaRPr lang="en-US"/>
          </a:p>
        </p:txBody>
      </p:sp>
      <p:sp>
        <p:nvSpPr>
          <p:cNvPr id="58" name="Chart rule"/>
          <p:cNvSpPr/>
          <p:nvPr/>
        </p:nvSpPr>
        <p:spPr>
          <a:xfrm>
            <a:off x="5600700" y="3239453"/>
            <a:ext cx="3867150" cy="0"/>
          </a:xfrm>
          <a:prstGeom prst="line">
            <a:avLst/>
          </a:prstGeom>
          <a:noFill/>
          <a:ln w="9525">
            <a:solidFill>
              <a:srgbClr val="E3DCD3"/>
            </a:solidFill>
            <a:prstDash val="solid"/>
          </a:ln>
        </p:spPr>
        <p:txBody>
          <a:bodyPr/>
          <a:lstStyle/>
          <a:p>
            <a:endParaRPr lang="en-US"/>
          </a:p>
        </p:txBody>
      </p:sp>
      <p:sp>
        <p:nvSpPr>
          <p:cNvPr id="59" name="Chart rule"/>
          <p:cNvSpPr/>
          <p:nvPr/>
        </p:nvSpPr>
        <p:spPr>
          <a:xfrm>
            <a:off x="5600700" y="2991803"/>
            <a:ext cx="3867150" cy="0"/>
          </a:xfrm>
          <a:prstGeom prst="line">
            <a:avLst/>
          </a:prstGeom>
          <a:noFill/>
          <a:ln w="9525">
            <a:solidFill>
              <a:srgbClr val="E3DCD3"/>
            </a:solidFill>
            <a:prstDash val="solid"/>
          </a:ln>
        </p:spPr>
        <p:txBody>
          <a:bodyPr/>
          <a:lstStyle/>
          <a:p>
            <a:endParaRPr lang="en-US"/>
          </a:p>
        </p:txBody>
      </p:sp>
      <p:sp>
        <p:nvSpPr>
          <p:cNvPr id="60" name="Chart rule"/>
          <p:cNvSpPr/>
          <p:nvPr/>
        </p:nvSpPr>
        <p:spPr>
          <a:xfrm>
            <a:off x="5600700" y="2744153"/>
            <a:ext cx="3867150" cy="0"/>
          </a:xfrm>
          <a:prstGeom prst="line">
            <a:avLst/>
          </a:prstGeom>
          <a:noFill/>
          <a:ln w="9525">
            <a:solidFill>
              <a:srgbClr val="C3BDB6"/>
            </a:solidFill>
            <a:prstDash val="solid"/>
          </a:ln>
        </p:spPr>
        <p:txBody>
          <a:bodyPr/>
          <a:lstStyle/>
          <a:p>
            <a:endParaRPr lang="en-US"/>
          </a:p>
        </p:txBody>
      </p:sp>
      <p:sp>
        <p:nvSpPr>
          <p:cNvPr id="61" name="Chart rule"/>
          <p:cNvSpPr/>
          <p:nvPr/>
        </p:nvSpPr>
        <p:spPr>
          <a:xfrm>
            <a:off x="5600700" y="2496503"/>
            <a:ext cx="3867150" cy="0"/>
          </a:xfrm>
          <a:prstGeom prst="line">
            <a:avLst/>
          </a:prstGeom>
          <a:noFill/>
          <a:ln w="9525">
            <a:solidFill>
              <a:srgbClr val="E3DCD3"/>
            </a:solidFill>
            <a:prstDash val="solid"/>
          </a:ln>
        </p:spPr>
        <p:txBody>
          <a:bodyPr/>
          <a:lstStyle/>
          <a:p>
            <a:endParaRPr lang="en-US"/>
          </a:p>
        </p:txBody>
      </p:sp>
      <p:sp>
        <p:nvSpPr>
          <p:cNvPr id="62" name="Chart rule"/>
          <p:cNvSpPr/>
          <p:nvPr/>
        </p:nvSpPr>
        <p:spPr>
          <a:xfrm>
            <a:off x="5600700" y="2247900"/>
            <a:ext cx="3867150" cy="0"/>
          </a:xfrm>
          <a:prstGeom prst="line">
            <a:avLst/>
          </a:prstGeom>
          <a:noFill/>
          <a:ln w="9525">
            <a:solidFill>
              <a:srgbClr val="E3DCD3"/>
            </a:solidFill>
            <a:prstDash val="solid"/>
          </a:ln>
        </p:spPr>
        <p:txBody>
          <a:bodyPr/>
          <a:lstStyle/>
          <a:p>
            <a:endParaRPr lang="en-US"/>
          </a:p>
        </p:txBody>
      </p:sp>
      <p:sp>
        <p:nvSpPr>
          <p:cNvPr id="63" name="Chart rule"/>
          <p:cNvSpPr/>
          <p:nvPr/>
        </p:nvSpPr>
        <p:spPr>
          <a:xfrm>
            <a:off x="5600700" y="2000250"/>
            <a:ext cx="3867150" cy="0"/>
          </a:xfrm>
          <a:prstGeom prst="line">
            <a:avLst/>
          </a:prstGeom>
          <a:noFill/>
          <a:ln w="9525">
            <a:solidFill>
              <a:srgbClr val="E3DCD3"/>
            </a:solidFill>
            <a:prstDash val="solid"/>
          </a:ln>
        </p:spPr>
        <p:txBody>
          <a:bodyPr/>
          <a:lstStyle/>
          <a:p>
            <a:endParaRPr lang="en-US"/>
          </a:p>
        </p:txBody>
      </p:sp>
      <p:sp>
        <p:nvSpPr>
          <p:cNvPr id="64" name="Chart rule"/>
          <p:cNvSpPr/>
          <p:nvPr/>
        </p:nvSpPr>
        <p:spPr>
          <a:xfrm>
            <a:off x="5276850" y="3609975"/>
            <a:ext cx="4191000" cy="0"/>
          </a:xfrm>
          <a:prstGeom prst="line">
            <a:avLst/>
          </a:prstGeom>
          <a:noFill/>
          <a:ln w="9525">
            <a:solidFill>
              <a:srgbClr val="C3BDB6"/>
            </a:solidFill>
            <a:prstDash val="solid"/>
          </a:ln>
        </p:spPr>
        <p:txBody>
          <a:bodyPr/>
          <a:lstStyle/>
          <a:p>
            <a:endParaRPr lang="en-US"/>
          </a:p>
        </p:txBody>
      </p:sp>
      <p:pic>
        <p:nvPicPr>
          <p:cNvPr id="65" name="Chart key markers" descr="/tmp/claude-0/-home-claude-about/4bef2f41-4227-5ff7-ab18-11ac74cd9797/scratchpad/pptx/ex/media/f160cce94675.png"/>
          <p:cNvPicPr>
            <a:picLocks noChangeAspect="1"/>
          </p:cNvPicPr>
          <p:nvPr/>
        </p:nvPicPr>
        <p:blipFill>
          <a:blip r:embed="rId5"/>
          <a:stretch>
            <a:fillRect/>
          </a:stretch>
        </p:blipFill>
        <p:spPr>
          <a:xfrm>
            <a:off x="5276850" y="1885950"/>
            <a:ext cx="4191000" cy="2066925"/>
          </a:xfrm>
          <a:prstGeom prst="rect">
            <a:avLst/>
          </a:prstGeom>
        </p:spPr>
      </p:pic>
      <p:graphicFrame>
        <p:nvGraphicFramePr>
          <p:cNvPr id="66" name="Revenue growth chart 2"/>
          <p:cNvGraphicFramePr/>
          <p:nvPr/>
        </p:nvGraphicFramePr>
        <p:xfrm>
          <a:off x="5410200" y="1962150"/>
          <a:ext cx="4191000" cy="1371600"/>
        </p:xfrm>
        <a:graphic>
          <a:graphicData uri="http://schemas.openxmlformats.org/drawingml/2006/chart">
            <c:chart xmlns:c="http://schemas.openxmlformats.org/drawingml/2006/chart" xmlns:r="http://schemas.openxmlformats.org/officeDocument/2006/relationships" r:id="rId6"/>
          </a:graphicData>
        </a:graphic>
      </p:graphicFrame>
      <p:sp>
        <p:nvSpPr>
          <p:cNvPr id="67" name="Text 66"/>
          <p:cNvSpPr txBox="1"/>
          <p:nvPr/>
        </p:nvSpPr>
        <p:spPr>
          <a:xfrm>
            <a:off x="4829175" y="3184088"/>
            <a:ext cx="716228" cy="101203"/>
          </a:xfrm>
          <a:prstGeom prst="rect">
            <a:avLst/>
          </a:prstGeom>
          <a:noFill/>
          <a:ln/>
        </p:spPr>
        <p:txBody>
          <a:bodyPr wrap="none" lIns="0" tIns="0" rIns="0" bIns="0" rtlCol="0" anchor="t"/>
          <a:lstStyle/>
          <a:p>
            <a:pPr marL="0" indent="0" algn="r">
              <a:lnSpc>
                <a:spcPts val="797"/>
              </a:lnSpc>
              <a:buNone/>
            </a:pPr>
            <a:r>
              <a:rPr lang="en-US" sz="638" dirty="0">
                <a:solidFill>
                  <a:srgbClr val="6F6A66"/>
                </a:solidFill>
                <a:latin typeface="Quicksand" pitchFamily="34" charset="0"/>
              </a:rPr>
              <a:t>-4%</a:t>
            </a:r>
            <a:endParaRPr lang="en-US" sz="638" dirty="0"/>
          </a:p>
        </p:txBody>
      </p:sp>
      <p:sp>
        <p:nvSpPr>
          <p:cNvPr id="68" name="Text 67"/>
          <p:cNvSpPr txBox="1"/>
          <p:nvPr/>
        </p:nvSpPr>
        <p:spPr>
          <a:xfrm>
            <a:off x="4826943" y="2936438"/>
            <a:ext cx="718414" cy="101203"/>
          </a:xfrm>
          <a:prstGeom prst="rect">
            <a:avLst/>
          </a:prstGeom>
          <a:noFill/>
          <a:ln/>
        </p:spPr>
        <p:txBody>
          <a:bodyPr wrap="none" lIns="0" tIns="0" rIns="0" bIns="0" rtlCol="0" anchor="t"/>
          <a:lstStyle/>
          <a:p>
            <a:pPr marL="0" indent="0" algn="r">
              <a:lnSpc>
                <a:spcPts val="797"/>
              </a:lnSpc>
              <a:buNone/>
            </a:pPr>
            <a:r>
              <a:rPr lang="en-US" sz="638" dirty="0">
                <a:solidFill>
                  <a:srgbClr val="6F6A66"/>
                </a:solidFill>
                <a:latin typeface="Quicksand" pitchFamily="34" charset="0"/>
              </a:rPr>
              <a:t>-2%</a:t>
            </a:r>
            <a:endParaRPr lang="en-US" sz="638" dirty="0"/>
          </a:p>
        </p:txBody>
      </p:sp>
      <p:sp>
        <p:nvSpPr>
          <p:cNvPr id="69" name="Text 68"/>
          <p:cNvSpPr txBox="1"/>
          <p:nvPr/>
        </p:nvSpPr>
        <p:spPr>
          <a:xfrm>
            <a:off x="4857155" y="2688788"/>
            <a:ext cx="688253" cy="101203"/>
          </a:xfrm>
          <a:prstGeom prst="rect">
            <a:avLst/>
          </a:prstGeom>
          <a:noFill/>
          <a:ln/>
        </p:spPr>
        <p:txBody>
          <a:bodyPr wrap="none" lIns="0" tIns="0" rIns="0" bIns="0" rtlCol="0" anchor="t"/>
          <a:lstStyle/>
          <a:p>
            <a:pPr marL="0" indent="0" algn="r">
              <a:lnSpc>
                <a:spcPts val="797"/>
              </a:lnSpc>
              <a:buNone/>
            </a:pPr>
            <a:r>
              <a:rPr lang="en-US" sz="638" dirty="0">
                <a:solidFill>
                  <a:srgbClr val="6F6A66"/>
                </a:solidFill>
                <a:latin typeface="Quicksand" pitchFamily="34" charset="0"/>
              </a:rPr>
              <a:t>0%</a:t>
            </a:r>
            <a:endParaRPr lang="en-US" sz="638" dirty="0"/>
          </a:p>
        </p:txBody>
      </p:sp>
      <p:sp>
        <p:nvSpPr>
          <p:cNvPr id="70" name="Text 69"/>
          <p:cNvSpPr txBox="1"/>
          <p:nvPr/>
        </p:nvSpPr>
        <p:spPr>
          <a:xfrm>
            <a:off x="4860429" y="2441138"/>
            <a:ext cx="684934" cy="101203"/>
          </a:xfrm>
          <a:prstGeom prst="rect">
            <a:avLst/>
          </a:prstGeom>
          <a:noFill/>
          <a:ln/>
        </p:spPr>
        <p:txBody>
          <a:bodyPr wrap="none" lIns="0" tIns="0" rIns="0" bIns="0" rtlCol="0" anchor="t"/>
          <a:lstStyle/>
          <a:p>
            <a:pPr marL="0" indent="0" algn="r">
              <a:lnSpc>
                <a:spcPts val="797"/>
              </a:lnSpc>
              <a:buNone/>
            </a:pPr>
            <a:r>
              <a:rPr lang="en-US" sz="638" dirty="0">
                <a:solidFill>
                  <a:srgbClr val="6F6A66"/>
                </a:solidFill>
                <a:latin typeface="Quicksand" pitchFamily="34" charset="0"/>
              </a:rPr>
              <a:t>2%</a:t>
            </a:r>
            <a:endParaRPr lang="en-US" sz="638" dirty="0"/>
          </a:p>
        </p:txBody>
      </p:sp>
      <p:sp>
        <p:nvSpPr>
          <p:cNvPr id="71" name="Text 70"/>
          <p:cNvSpPr txBox="1"/>
          <p:nvPr/>
        </p:nvSpPr>
        <p:spPr>
          <a:xfrm>
            <a:off x="4862661" y="2192536"/>
            <a:ext cx="682748" cy="101203"/>
          </a:xfrm>
          <a:prstGeom prst="rect">
            <a:avLst/>
          </a:prstGeom>
          <a:noFill/>
          <a:ln/>
        </p:spPr>
        <p:txBody>
          <a:bodyPr wrap="none" lIns="0" tIns="0" rIns="0" bIns="0" rtlCol="0" anchor="t"/>
          <a:lstStyle/>
          <a:p>
            <a:pPr marL="0" indent="0" algn="r">
              <a:lnSpc>
                <a:spcPts val="797"/>
              </a:lnSpc>
              <a:buNone/>
            </a:pPr>
            <a:r>
              <a:rPr lang="en-US" sz="638" dirty="0">
                <a:solidFill>
                  <a:srgbClr val="6F6A66"/>
                </a:solidFill>
                <a:latin typeface="Quicksand" pitchFamily="34" charset="0"/>
              </a:rPr>
              <a:t>4%</a:t>
            </a:r>
            <a:endParaRPr lang="en-US" sz="638" dirty="0"/>
          </a:p>
        </p:txBody>
      </p:sp>
      <p:sp>
        <p:nvSpPr>
          <p:cNvPr id="72" name="Text 71"/>
          <p:cNvSpPr txBox="1"/>
          <p:nvPr/>
        </p:nvSpPr>
        <p:spPr>
          <a:xfrm>
            <a:off x="4861768" y="1944886"/>
            <a:ext cx="683639" cy="101203"/>
          </a:xfrm>
          <a:prstGeom prst="rect">
            <a:avLst/>
          </a:prstGeom>
          <a:noFill/>
          <a:ln/>
        </p:spPr>
        <p:txBody>
          <a:bodyPr wrap="none" lIns="0" tIns="0" rIns="0" bIns="0" rtlCol="0" anchor="t"/>
          <a:lstStyle/>
          <a:p>
            <a:pPr marL="0" indent="0" algn="r">
              <a:lnSpc>
                <a:spcPts val="797"/>
              </a:lnSpc>
              <a:buNone/>
            </a:pPr>
            <a:r>
              <a:rPr lang="en-US" sz="638" dirty="0">
                <a:solidFill>
                  <a:srgbClr val="6F6A66"/>
                </a:solidFill>
                <a:latin typeface="Quicksand" pitchFamily="34" charset="0"/>
              </a:rPr>
              <a:t>6%</a:t>
            </a:r>
            <a:endParaRPr lang="en-US" sz="638" dirty="0"/>
          </a:p>
        </p:txBody>
      </p:sp>
      <p:sp>
        <p:nvSpPr>
          <p:cNvPr id="73" name="Text 72"/>
          <p:cNvSpPr txBox="1"/>
          <p:nvPr/>
        </p:nvSpPr>
        <p:spPr>
          <a:xfrm>
            <a:off x="5249614" y="3458766"/>
            <a:ext cx="1159371" cy="102394"/>
          </a:xfrm>
          <a:prstGeom prst="rect">
            <a:avLst/>
          </a:prstGeom>
          <a:noFill/>
          <a:ln/>
        </p:spPr>
        <p:txBody>
          <a:bodyPr wrap="none" lIns="0" tIns="0" rIns="0" bIns="0" rtlCol="0" anchor="t"/>
          <a:lstStyle/>
          <a:p>
            <a:pPr marL="0" indent="0" algn="ctr">
              <a:lnSpc>
                <a:spcPts val="806"/>
              </a:lnSpc>
              <a:buNone/>
            </a:pPr>
            <a:r>
              <a:rPr lang="en-US" sz="645" dirty="0">
                <a:solidFill>
                  <a:srgbClr val="6F6A66"/>
                </a:solidFill>
                <a:latin typeface="Quicksand Medium" pitchFamily="34" charset="0"/>
              </a:rPr>
              <a:t>Two years ago</a:t>
            </a:r>
            <a:endParaRPr lang="en-US" sz="645" dirty="0"/>
          </a:p>
        </p:txBody>
      </p:sp>
      <p:sp>
        <p:nvSpPr>
          <p:cNvPr id="74" name="Text 73"/>
          <p:cNvSpPr txBox="1"/>
          <p:nvPr/>
        </p:nvSpPr>
        <p:spPr>
          <a:xfrm>
            <a:off x="6181055" y="3458766"/>
            <a:ext cx="976188" cy="102394"/>
          </a:xfrm>
          <a:prstGeom prst="rect">
            <a:avLst/>
          </a:prstGeom>
          <a:noFill/>
          <a:ln/>
        </p:spPr>
        <p:txBody>
          <a:bodyPr wrap="none" lIns="0" tIns="0" rIns="0" bIns="0" rtlCol="0" anchor="t"/>
          <a:lstStyle/>
          <a:p>
            <a:pPr marL="0" indent="0" algn="ctr">
              <a:lnSpc>
                <a:spcPts val="806"/>
              </a:lnSpc>
              <a:buNone/>
            </a:pPr>
            <a:r>
              <a:rPr lang="en-US" sz="645" dirty="0">
                <a:solidFill>
                  <a:srgbClr val="6F6A66"/>
                </a:solidFill>
                <a:latin typeface="Quicksand Medium" pitchFamily="34" charset="0"/>
              </a:rPr>
              <a:t>Prior year</a:t>
            </a:r>
            <a:endParaRPr lang="en-US" sz="645" dirty="0"/>
          </a:p>
        </p:txBody>
      </p:sp>
      <p:sp>
        <p:nvSpPr>
          <p:cNvPr id="75" name="Text 74"/>
          <p:cNvSpPr txBox="1"/>
          <p:nvPr/>
        </p:nvSpPr>
        <p:spPr>
          <a:xfrm>
            <a:off x="6857107" y="3458766"/>
            <a:ext cx="1297814" cy="102394"/>
          </a:xfrm>
          <a:prstGeom prst="rect">
            <a:avLst/>
          </a:prstGeom>
          <a:noFill/>
          <a:ln/>
        </p:spPr>
        <p:txBody>
          <a:bodyPr wrap="none" lIns="0" tIns="0" rIns="0" bIns="0" rtlCol="0" anchor="t"/>
          <a:lstStyle/>
          <a:p>
            <a:pPr marL="0" indent="0" algn="ctr">
              <a:lnSpc>
                <a:spcPts val="806"/>
              </a:lnSpc>
              <a:buNone/>
            </a:pPr>
            <a:r>
              <a:rPr lang="en-US" sz="645" b="1" dirty="0">
                <a:solidFill>
                  <a:srgbClr val="1B1A1A"/>
                </a:solidFill>
                <a:latin typeface="Quicksand" pitchFamily="34" charset="0"/>
              </a:rPr>
              <a:t>Latest fiscal year</a:t>
            </a:r>
            <a:endParaRPr lang="en-US" sz="645" dirty="0"/>
          </a:p>
        </p:txBody>
      </p:sp>
      <p:sp>
        <p:nvSpPr>
          <p:cNvPr id="76" name="Text 75"/>
          <p:cNvSpPr txBox="1"/>
          <p:nvPr/>
        </p:nvSpPr>
        <p:spPr>
          <a:xfrm>
            <a:off x="7720831" y="3458766"/>
            <a:ext cx="1246571" cy="102394"/>
          </a:xfrm>
          <a:prstGeom prst="rect">
            <a:avLst/>
          </a:prstGeom>
          <a:noFill/>
          <a:ln/>
        </p:spPr>
        <p:txBody>
          <a:bodyPr wrap="none" lIns="0" tIns="0" rIns="0" bIns="0" rtlCol="0" anchor="t"/>
          <a:lstStyle/>
          <a:p>
            <a:pPr marL="0" indent="0" algn="ctr">
              <a:lnSpc>
                <a:spcPts val="806"/>
              </a:lnSpc>
              <a:buNone/>
            </a:pPr>
            <a:r>
              <a:rPr lang="en-US" sz="645" dirty="0">
                <a:solidFill>
                  <a:srgbClr val="6F6A66"/>
                </a:solidFill>
                <a:latin typeface="Quicksand Medium" pitchFamily="34" charset="0"/>
              </a:rPr>
              <a:t>Current year est.</a:t>
            </a:r>
            <a:endParaRPr lang="en-US" sz="645" dirty="0"/>
          </a:p>
        </p:txBody>
      </p:sp>
      <p:sp>
        <p:nvSpPr>
          <p:cNvPr id="77" name="Text 76"/>
          <p:cNvSpPr txBox="1"/>
          <p:nvPr/>
        </p:nvSpPr>
        <p:spPr>
          <a:xfrm>
            <a:off x="8616032" y="3458766"/>
            <a:ext cx="1132483" cy="102394"/>
          </a:xfrm>
          <a:prstGeom prst="rect">
            <a:avLst/>
          </a:prstGeom>
          <a:noFill/>
          <a:ln/>
        </p:spPr>
        <p:txBody>
          <a:bodyPr wrap="none" lIns="0" tIns="0" rIns="0" bIns="0" rtlCol="0" anchor="t"/>
          <a:lstStyle/>
          <a:p>
            <a:pPr marL="0" indent="0" algn="ctr">
              <a:lnSpc>
                <a:spcPts val="806"/>
              </a:lnSpc>
              <a:buNone/>
            </a:pPr>
            <a:r>
              <a:rPr lang="en-US" sz="645" dirty="0">
                <a:solidFill>
                  <a:srgbClr val="6F6A66"/>
                </a:solidFill>
                <a:latin typeface="Quicksand Medium" pitchFamily="34" charset="0"/>
              </a:rPr>
              <a:t>Next year est.</a:t>
            </a:r>
            <a:endParaRPr lang="en-US" sz="645" dirty="0"/>
          </a:p>
        </p:txBody>
      </p:sp>
      <p:sp>
        <p:nvSpPr>
          <p:cNvPr id="78" name="Text 77"/>
          <p:cNvSpPr txBox="1"/>
          <p:nvPr/>
        </p:nvSpPr>
        <p:spPr>
          <a:xfrm>
            <a:off x="5416525" y="3644503"/>
            <a:ext cx="826851" cy="111919"/>
          </a:xfrm>
          <a:prstGeom prst="rect">
            <a:avLst/>
          </a:prstGeom>
          <a:noFill/>
          <a:ln/>
        </p:spPr>
        <p:txBody>
          <a:bodyPr wrap="none" lIns="0" tIns="0" rIns="0" bIns="0" rtlCol="0" anchor="t"/>
          <a:lstStyle/>
          <a:p>
            <a:pPr marL="0" indent="0" algn="ctr">
              <a:lnSpc>
                <a:spcPts val="881"/>
              </a:lnSpc>
              <a:buNone/>
            </a:pPr>
            <a:r>
              <a:rPr lang="en-US" sz="705" b="1" dirty="0">
                <a:solidFill>
                  <a:srgbClr val="1B1A1A"/>
                </a:solidFill>
                <a:latin typeface="Quicksand" pitchFamily="34" charset="0"/>
              </a:rPr>
              <a:t>+5.4%</a:t>
            </a:r>
            <a:endParaRPr lang="en-US" sz="705" dirty="0"/>
          </a:p>
        </p:txBody>
      </p:sp>
      <p:sp>
        <p:nvSpPr>
          <p:cNvPr id="79" name="Text 78"/>
          <p:cNvSpPr txBox="1"/>
          <p:nvPr/>
        </p:nvSpPr>
        <p:spPr>
          <a:xfrm>
            <a:off x="6263580" y="3644503"/>
            <a:ext cx="809263" cy="111919"/>
          </a:xfrm>
          <a:prstGeom prst="rect">
            <a:avLst/>
          </a:prstGeom>
          <a:noFill/>
          <a:ln/>
        </p:spPr>
        <p:txBody>
          <a:bodyPr wrap="none" lIns="0" tIns="0" rIns="0" bIns="0" rtlCol="0" anchor="t"/>
          <a:lstStyle/>
          <a:p>
            <a:pPr marL="0" indent="0" algn="ctr">
              <a:lnSpc>
                <a:spcPts val="881"/>
              </a:lnSpc>
              <a:buNone/>
            </a:pPr>
            <a:r>
              <a:rPr lang="en-US" sz="705" b="1" dirty="0">
                <a:solidFill>
                  <a:srgbClr val="1B1A1A"/>
                </a:solidFill>
                <a:latin typeface="Quicksand" pitchFamily="34" charset="0"/>
              </a:rPr>
              <a:t>+1.8%</a:t>
            </a:r>
            <a:endParaRPr lang="en-US" sz="705" dirty="0"/>
          </a:p>
        </p:txBody>
      </p:sp>
      <p:sp>
        <p:nvSpPr>
          <p:cNvPr id="80" name="Text 79"/>
          <p:cNvSpPr txBox="1"/>
          <p:nvPr/>
        </p:nvSpPr>
        <p:spPr>
          <a:xfrm>
            <a:off x="7091511" y="3644503"/>
            <a:ext cx="829803" cy="111919"/>
          </a:xfrm>
          <a:prstGeom prst="rect">
            <a:avLst/>
          </a:prstGeom>
          <a:noFill/>
          <a:ln/>
        </p:spPr>
        <p:txBody>
          <a:bodyPr wrap="none" lIns="0" tIns="0" rIns="0" bIns="0" rtlCol="0" anchor="t"/>
          <a:lstStyle/>
          <a:p>
            <a:pPr marL="0" indent="0" algn="ctr">
              <a:lnSpc>
                <a:spcPts val="881"/>
              </a:lnSpc>
              <a:buNone/>
            </a:pPr>
            <a:r>
              <a:rPr lang="en-US" sz="705" b="1" dirty="0">
                <a:solidFill>
                  <a:srgbClr val="1B1A1A"/>
                </a:solidFill>
                <a:latin typeface="Quicksand" pitchFamily="34" charset="0"/>
              </a:rPr>
              <a:t>+2.4%</a:t>
            </a:r>
            <a:endParaRPr lang="en-US" sz="705" dirty="0"/>
          </a:p>
        </p:txBody>
      </p:sp>
      <p:sp>
        <p:nvSpPr>
          <p:cNvPr id="81" name="Text 80"/>
          <p:cNvSpPr txBox="1"/>
          <p:nvPr/>
        </p:nvSpPr>
        <p:spPr>
          <a:xfrm>
            <a:off x="7929190" y="3644503"/>
            <a:ext cx="830700" cy="111919"/>
          </a:xfrm>
          <a:prstGeom prst="rect">
            <a:avLst/>
          </a:prstGeom>
          <a:noFill/>
          <a:ln/>
        </p:spPr>
        <p:txBody>
          <a:bodyPr wrap="none" lIns="0" tIns="0" rIns="0" bIns="0" rtlCol="0" anchor="t"/>
          <a:lstStyle/>
          <a:p>
            <a:pPr marL="0" indent="0" algn="ctr">
              <a:lnSpc>
                <a:spcPts val="881"/>
              </a:lnSpc>
              <a:buNone/>
            </a:pPr>
            <a:r>
              <a:rPr lang="en-US" sz="705" b="1" dirty="0">
                <a:solidFill>
                  <a:srgbClr val="1B1A1A"/>
                </a:solidFill>
                <a:latin typeface="Quicksand" pitchFamily="34" charset="0"/>
              </a:rPr>
              <a:t>+4.7%</a:t>
            </a:r>
            <a:endParaRPr lang="en-US" sz="705" dirty="0"/>
          </a:p>
        </p:txBody>
      </p:sp>
      <p:sp>
        <p:nvSpPr>
          <p:cNvPr id="82" name="Text 81"/>
          <p:cNvSpPr txBox="1"/>
          <p:nvPr/>
        </p:nvSpPr>
        <p:spPr>
          <a:xfrm>
            <a:off x="8769697" y="3644503"/>
            <a:ext cx="826147" cy="111919"/>
          </a:xfrm>
          <a:prstGeom prst="rect">
            <a:avLst/>
          </a:prstGeom>
          <a:noFill/>
          <a:ln/>
        </p:spPr>
        <p:txBody>
          <a:bodyPr wrap="none" lIns="0" tIns="0" rIns="0" bIns="0" rtlCol="0" anchor="t"/>
          <a:lstStyle/>
          <a:p>
            <a:pPr marL="0" indent="0" algn="ctr">
              <a:lnSpc>
                <a:spcPts val="881"/>
              </a:lnSpc>
              <a:buNone/>
            </a:pPr>
            <a:r>
              <a:rPr lang="en-US" sz="705" b="1" dirty="0">
                <a:solidFill>
                  <a:srgbClr val="1B1A1A"/>
                </a:solidFill>
                <a:latin typeface="Quicksand" pitchFamily="34" charset="0"/>
              </a:rPr>
              <a:t>+3.7%</a:t>
            </a:r>
            <a:endParaRPr lang="en-US" sz="705" dirty="0"/>
          </a:p>
        </p:txBody>
      </p:sp>
      <p:sp>
        <p:nvSpPr>
          <p:cNvPr id="83" name="Text 82"/>
          <p:cNvSpPr txBox="1"/>
          <p:nvPr/>
        </p:nvSpPr>
        <p:spPr>
          <a:xfrm>
            <a:off x="5415111" y="3787378"/>
            <a:ext cx="829719" cy="111919"/>
          </a:xfrm>
          <a:prstGeom prst="rect">
            <a:avLst/>
          </a:prstGeom>
          <a:noFill/>
          <a:ln/>
        </p:spPr>
        <p:txBody>
          <a:bodyPr wrap="none" lIns="0" tIns="0" rIns="0" bIns="0" rtlCol="0" anchor="t"/>
          <a:lstStyle/>
          <a:p>
            <a:pPr marL="0" indent="0" algn="ctr">
              <a:lnSpc>
                <a:spcPts val="881"/>
              </a:lnSpc>
              <a:buNone/>
            </a:pPr>
            <a:r>
              <a:rPr lang="en-US" sz="705" b="1" dirty="0">
                <a:solidFill>
                  <a:srgbClr val="1B1A1A"/>
                </a:solidFill>
                <a:latin typeface="Quicksand" pitchFamily="34" charset="0"/>
              </a:rPr>
              <a:t>−3.8%</a:t>
            </a:r>
            <a:endParaRPr lang="en-US" sz="705" dirty="0"/>
          </a:p>
        </p:txBody>
      </p:sp>
      <p:sp>
        <p:nvSpPr>
          <p:cNvPr id="84" name="Text 83"/>
          <p:cNvSpPr txBox="1"/>
          <p:nvPr/>
        </p:nvSpPr>
        <p:spPr>
          <a:xfrm>
            <a:off x="6249814" y="3787378"/>
            <a:ext cx="836684" cy="111919"/>
          </a:xfrm>
          <a:prstGeom prst="rect">
            <a:avLst/>
          </a:prstGeom>
          <a:noFill/>
          <a:ln/>
        </p:spPr>
        <p:txBody>
          <a:bodyPr wrap="none" lIns="0" tIns="0" rIns="0" bIns="0" rtlCol="0" anchor="t"/>
          <a:lstStyle/>
          <a:p>
            <a:pPr marL="0" indent="0" algn="ctr">
              <a:lnSpc>
                <a:spcPts val="881"/>
              </a:lnSpc>
              <a:buNone/>
            </a:pPr>
            <a:r>
              <a:rPr lang="en-US" sz="705" b="1" dirty="0">
                <a:solidFill>
                  <a:srgbClr val="1B1A1A"/>
                </a:solidFill>
                <a:latin typeface="Quicksand" pitchFamily="34" charset="0"/>
              </a:rPr>
              <a:t>−0.7%</a:t>
            </a:r>
            <a:endParaRPr lang="en-US" sz="705" dirty="0"/>
          </a:p>
        </p:txBody>
      </p:sp>
      <p:sp>
        <p:nvSpPr>
          <p:cNvPr id="85" name="Text 84"/>
          <p:cNvSpPr txBox="1"/>
          <p:nvPr/>
        </p:nvSpPr>
        <p:spPr>
          <a:xfrm>
            <a:off x="7091288" y="3787378"/>
            <a:ext cx="830165" cy="111919"/>
          </a:xfrm>
          <a:prstGeom prst="rect">
            <a:avLst/>
          </a:prstGeom>
          <a:noFill/>
          <a:ln/>
        </p:spPr>
        <p:txBody>
          <a:bodyPr wrap="none" lIns="0" tIns="0" rIns="0" bIns="0" rtlCol="0" anchor="t"/>
          <a:lstStyle/>
          <a:p>
            <a:pPr marL="0" indent="0" algn="ctr">
              <a:lnSpc>
                <a:spcPts val="881"/>
              </a:lnSpc>
              <a:buNone/>
            </a:pPr>
            <a:r>
              <a:rPr lang="en-US" sz="705" b="1" dirty="0">
                <a:solidFill>
                  <a:srgbClr val="1B1A1A"/>
                </a:solidFill>
                <a:latin typeface="Quicksand" pitchFamily="34" charset="0"/>
              </a:rPr>
              <a:t>−3.6%</a:t>
            </a:r>
            <a:endParaRPr lang="en-US" sz="705" dirty="0"/>
          </a:p>
        </p:txBody>
      </p:sp>
      <p:sp>
        <p:nvSpPr>
          <p:cNvPr id="86" name="Text 85"/>
          <p:cNvSpPr txBox="1"/>
          <p:nvPr/>
        </p:nvSpPr>
        <p:spPr>
          <a:xfrm>
            <a:off x="7939087" y="3787378"/>
            <a:ext cx="811049" cy="111919"/>
          </a:xfrm>
          <a:prstGeom prst="rect">
            <a:avLst/>
          </a:prstGeom>
          <a:noFill/>
          <a:ln/>
        </p:spPr>
        <p:txBody>
          <a:bodyPr wrap="none" lIns="0" tIns="0" rIns="0" bIns="0" rtlCol="0" anchor="t"/>
          <a:lstStyle/>
          <a:p>
            <a:pPr marL="0" indent="0" algn="ctr">
              <a:lnSpc>
                <a:spcPts val="881"/>
              </a:lnSpc>
              <a:buNone/>
            </a:pPr>
            <a:r>
              <a:rPr lang="en-US" sz="705" b="1" dirty="0">
                <a:solidFill>
                  <a:srgbClr val="1B1A1A"/>
                </a:solidFill>
                <a:latin typeface="Quicksand" pitchFamily="34" charset="0"/>
              </a:rPr>
              <a:t>+1.9%</a:t>
            </a:r>
            <a:endParaRPr lang="en-US" sz="705" dirty="0"/>
          </a:p>
        </p:txBody>
      </p:sp>
      <p:sp>
        <p:nvSpPr>
          <p:cNvPr id="87" name="Text 86"/>
          <p:cNvSpPr txBox="1"/>
          <p:nvPr/>
        </p:nvSpPr>
        <p:spPr>
          <a:xfrm>
            <a:off x="8767390" y="3787378"/>
            <a:ext cx="830700" cy="111919"/>
          </a:xfrm>
          <a:prstGeom prst="rect">
            <a:avLst/>
          </a:prstGeom>
          <a:noFill/>
          <a:ln/>
        </p:spPr>
        <p:txBody>
          <a:bodyPr wrap="none" lIns="0" tIns="0" rIns="0" bIns="0" rtlCol="0" anchor="t"/>
          <a:lstStyle/>
          <a:p>
            <a:pPr marL="0" indent="0" algn="ctr">
              <a:lnSpc>
                <a:spcPts val="881"/>
              </a:lnSpc>
              <a:buNone/>
            </a:pPr>
            <a:r>
              <a:rPr lang="en-US" sz="705" b="1" dirty="0">
                <a:solidFill>
                  <a:srgbClr val="1B1A1A"/>
                </a:solidFill>
                <a:latin typeface="Quicksand" pitchFamily="34" charset="0"/>
              </a:rPr>
              <a:t>+2.9%</a:t>
            </a:r>
            <a:endParaRPr lang="en-US" sz="705" dirty="0"/>
          </a:p>
        </p:txBody>
      </p:sp>
      <p:sp>
        <p:nvSpPr>
          <p:cNvPr id="88" name="Shape 87"/>
          <p:cNvSpPr/>
          <p:nvPr/>
        </p:nvSpPr>
        <p:spPr>
          <a:xfrm>
            <a:off x="419100" y="4152900"/>
            <a:ext cx="4533900" cy="2781300"/>
          </a:xfrm>
          <a:prstGeom prst="rect">
            <a:avLst/>
          </a:prstGeom>
          <a:solidFill>
            <a:srgbClr val="FAF7F3"/>
          </a:solidFill>
          <a:ln/>
        </p:spPr>
        <p:txBody>
          <a:bodyPr/>
          <a:lstStyle/>
          <a:p>
            <a:endParaRPr lang="en-US"/>
          </a:p>
        </p:txBody>
      </p:sp>
      <p:sp>
        <p:nvSpPr>
          <p:cNvPr id="89" name="Shape 88"/>
          <p:cNvSpPr/>
          <p:nvPr/>
        </p:nvSpPr>
        <p:spPr>
          <a:xfrm>
            <a:off x="419100" y="4152900"/>
            <a:ext cx="4533900" cy="28575"/>
          </a:xfrm>
          <a:prstGeom prst="rect">
            <a:avLst/>
          </a:prstGeom>
          <a:solidFill>
            <a:srgbClr val="B68757"/>
          </a:solidFill>
          <a:ln/>
        </p:spPr>
        <p:txBody>
          <a:bodyPr/>
          <a:lstStyle/>
          <a:p>
            <a:endParaRPr lang="en-US"/>
          </a:p>
        </p:txBody>
      </p:sp>
      <p:sp>
        <p:nvSpPr>
          <p:cNvPr id="90" name="Text 89"/>
          <p:cNvSpPr txBox="1"/>
          <p:nvPr/>
        </p:nvSpPr>
        <p:spPr>
          <a:xfrm>
            <a:off x="590550" y="4291013"/>
            <a:ext cx="4191000" cy="161925"/>
          </a:xfrm>
          <a:prstGeom prst="rect">
            <a:avLst/>
          </a:prstGeom>
          <a:noFill/>
          <a:ln/>
        </p:spPr>
        <p:txBody>
          <a:bodyPr wrap="none" lIns="0" tIns="0" rIns="0" bIns="0" rtlCol="0" anchor="t"/>
          <a:lstStyle/>
          <a:p>
            <a:pPr marL="0" indent="0" algn="l">
              <a:lnSpc>
                <a:spcPts val="1275"/>
              </a:lnSpc>
              <a:buNone/>
            </a:pPr>
            <a:r>
              <a:rPr lang="en-US" sz="938" b="1" kern="0" spc="15" dirty="0">
                <a:solidFill>
                  <a:srgbClr val="1B1A1A"/>
                </a:solidFill>
                <a:latin typeface="Quicksand" pitchFamily="34" charset="0"/>
              </a:rPr>
              <a:t>Foodservice &amp; Distribution</a:t>
            </a:r>
            <a:endParaRPr lang="en-US" sz="938" dirty="0"/>
          </a:p>
        </p:txBody>
      </p:sp>
      <p:sp>
        <p:nvSpPr>
          <p:cNvPr id="91" name="Text 90"/>
          <p:cNvSpPr txBox="1"/>
          <p:nvPr/>
        </p:nvSpPr>
        <p:spPr>
          <a:xfrm>
            <a:off x="590550" y="4457700"/>
            <a:ext cx="4191000" cy="123825"/>
          </a:xfrm>
          <a:prstGeom prst="rect">
            <a:avLst/>
          </a:prstGeom>
          <a:noFill/>
          <a:ln/>
        </p:spPr>
        <p:txBody>
          <a:bodyPr wrap="none" lIns="0" tIns="0" rIns="0" bIns="0" rtlCol="0" anchor="t"/>
          <a:lstStyle/>
          <a:p>
            <a:pPr marL="0" indent="0" algn="l">
              <a:lnSpc>
                <a:spcPts val="975"/>
              </a:lnSpc>
              <a:buNone/>
            </a:pPr>
            <a:r>
              <a:rPr lang="en-US" sz="705" kern="0" spc="15" dirty="0">
                <a:solidFill>
                  <a:srgbClr val="6F6A66"/>
                </a:solidFill>
                <a:latin typeface="Quicksand" pitchFamily="34" charset="0"/>
              </a:rPr>
              <a:t>Median revenue growth of the listed peer group, by fiscal year</a:t>
            </a:r>
            <a:endParaRPr lang="en-US" sz="705" dirty="0"/>
          </a:p>
        </p:txBody>
      </p:sp>
      <p:sp>
        <p:nvSpPr>
          <p:cNvPr id="92" name="Text 91"/>
          <p:cNvSpPr txBox="1"/>
          <p:nvPr/>
        </p:nvSpPr>
        <p:spPr>
          <a:xfrm>
            <a:off x="714375" y="4614863"/>
            <a:ext cx="1265188" cy="123825"/>
          </a:xfrm>
          <a:prstGeom prst="rect">
            <a:avLst/>
          </a:prstGeom>
          <a:noFill/>
          <a:ln/>
        </p:spPr>
        <p:txBody>
          <a:bodyPr wrap="none" lIns="0" tIns="0" rIns="0" bIns="0" rtlCol="0" anchor="t"/>
          <a:lstStyle/>
          <a:p>
            <a:pPr marL="0" indent="0" algn="l">
              <a:lnSpc>
                <a:spcPts val="975"/>
              </a:lnSpc>
              <a:buNone/>
            </a:pPr>
            <a:r>
              <a:rPr lang="en-US" sz="720" kern="0" spc="15" dirty="0">
                <a:solidFill>
                  <a:srgbClr val="333231"/>
                </a:solidFill>
                <a:latin typeface="Quicksand" pitchFamily="34" charset="0"/>
              </a:rPr>
              <a:t>Foodservice distribution (5)</a:t>
            </a:r>
            <a:endParaRPr lang="en-US" sz="720" dirty="0"/>
          </a:p>
        </p:txBody>
      </p:sp>
      <p:sp>
        <p:nvSpPr>
          <p:cNvPr id="93" name="Dot 92"/>
          <p:cNvSpPr/>
          <p:nvPr/>
        </p:nvSpPr>
        <p:spPr>
          <a:xfrm>
            <a:off x="590550" y="4643438"/>
            <a:ext cx="76200" cy="76200"/>
          </a:xfrm>
          <a:prstGeom prst="ellipse">
            <a:avLst/>
          </a:prstGeom>
          <a:solidFill>
            <a:srgbClr val="1B1A1A"/>
          </a:solidFill>
          <a:ln/>
        </p:spPr>
        <p:txBody>
          <a:bodyPr/>
          <a:lstStyle/>
          <a:p>
            <a:endParaRPr lang="en-US"/>
          </a:p>
        </p:txBody>
      </p:sp>
      <p:sp>
        <p:nvSpPr>
          <p:cNvPr id="94" name="Chart shading"/>
          <p:cNvSpPr/>
          <p:nvPr/>
        </p:nvSpPr>
        <p:spPr>
          <a:xfrm>
            <a:off x="3238500" y="4876800"/>
            <a:ext cx="1543050" cy="1990725"/>
          </a:xfrm>
          <a:prstGeom prst="rect">
            <a:avLst/>
          </a:prstGeom>
          <a:solidFill>
            <a:srgbClr val="F1EBE2"/>
          </a:solidFill>
          <a:ln/>
        </p:spPr>
        <p:txBody>
          <a:bodyPr/>
          <a:lstStyle/>
          <a:p>
            <a:endParaRPr lang="en-US"/>
          </a:p>
        </p:txBody>
      </p:sp>
      <p:sp>
        <p:nvSpPr>
          <p:cNvPr id="95" name="Chart rule"/>
          <p:cNvSpPr/>
          <p:nvPr/>
        </p:nvSpPr>
        <p:spPr>
          <a:xfrm>
            <a:off x="914400" y="6265545"/>
            <a:ext cx="3867150" cy="0"/>
          </a:xfrm>
          <a:prstGeom prst="line">
            <a:avLst/>
          </a:prstGeom>
          <a:noFill/>
          <a:ln w="9525">
            <a:solidFill>
              <a:srgbClr val="C3BDB6"/>
            </a:solidFill>
            <a:prstDash val="solid"/>
          </a:ln>
        </p:spPr>
        <p:txBody>
          <a:bodyPr/>
          <a:lstStyle/>
          <a:p>
            <a:endParaRPr lang="en-US"/>
          </a:p>
        </p:txBody>
      </p:sp>
      <p:sp>
        <p:nvSpPr>
          <p:cNvPr id="96" name="Chart rule"/>
          <p:cNvSpPr/>
          <p:nvPr/>
        </p:nvSpPr>
        <p:spPr>
          <a:xfrm>
            <a:off x="914400" y="5870257"/>
            <a:ext cx="3867150" cy="0"/>
          </a:xfrm>
          <a:prstGeom prst="line">
            <a:avLst/>
          </a:prstGeom>
          <a:noFill/>
          <a:ln w="9525">
            <a:solidFill>
              <a:srgbClr val="E3DCD3"/>
            </a:solidFill>
            <a:prstDash val="solid"/>
          </a:ln>
        </p:spPr>
        <p:txBody>
          <a:bodyPr/>
          <a:lstStyle/>
          <a:p>
            <a:endParaRPr lang="en-US"/>
          </a:p>
        </p:txBody>
      </p:sp>
      <p:sp>
        <p:nvSpPr>
          <p:cNvPr id="97" name="Chart rule"/>
          <p:cNvSpPr/>
          <p:nvPr/>
        </p:nvSpPr>
        <p:spPr>
          <a:xfrm>
            <a:off x="914400" y="5475923"/>
            <a:ext cx="3867150" cy="0"/>
          </a:xfrm>
          <a:prstGeom prst="line">
            <a:avLst/>
          </a:prstGeom>
          <a:noFill/>
          <a:ln w="9525">
            <a:solidFill>
              <a:srgbClr val="E3DCD3"/>
            </a:solidFill>
            <a:prstDash val="solid"/>
          </a:ln>
        </p:spPr>
        <p:txBody>
          <a:bodyPr/>
          <a:lstStyle/>
          <a:p>
            <a:endParaRPr lang="en-US"/>
          </a:p>
        </p:txBody>
      </p:sp>
      <p:sp>
        <p:nvSpPr>
          <p:cNvPr id="98" name="Chart rule"/>
          <p:cNvSpPr/>
          <p:nvPr/>
        </p:nvSpPr>
        <p:spPr>
          <a:xfrm>
            <a:off x="914400" y="5081588"/>
            <a:ext cx="3867150" cy="0"/>
          </a:xfrm>
          <a:prstGeom prst="line">
            <a:avLst/>
          </a:prstGeom>
          <a:noFill/>
          <a:ln w="9525">
            <a:solidFill>
              <a:srgbClr val="E3DCD3"/>
            </a:solidFill>
            <a:prstDash val="solid"/>
          </a:ln>
        </p:spPr>
        <p:txBody>
          <a:bodyPr/>
          <a:lstStyle/>
          <a:p>
            <a:endParaRPr lang="en-US"/>
          </a:p>
        </p:txBody>
      </p:sp>
      <p:sp>
        <p:nvSpPr>
          <p:cNvPr id="99" name="Chart rule"/>
          <p:cNvSpPr/>
          <p:nvPr/>
        </p:nvSpPr>
        <p:spPr>
          <a:xfrm>
            <a:off x="590550" y="6667500"/>
            <a:ext cx="4191000" cy="0"/>
          </a:xfrm>
          <a:prstGeom prst="line">
            <a:avLst/>
          </a:prstGeom>
          <a:noFill/>
          <a:ln w="9525">
            <a:solidFill>
              <a:srgbClr val="C3BDB6"/>
            </a:solidFill>
            <a:prstDash val="solid"/>
          </a:ln>
        </p:spPr>
        <p:txBody>
          <a:bodyPr/>
          <a:lstStyle/>
          <a:p>
            <a:endParaRPr lang="en-US"/>
          </a:p>
        </p:txBody>
      </p:sp>
      <p:pic>
        <p:nvPicPr>
          <p:cNvPr id="100" name="Chart key markers" descr="/tmp/claude-0/-home-claude-about/4bef2f41-4227-5ff7-ab18-11ac74cd9797/scratchpad/pptx/ex/media/7520079976eb.png"/>
          <p:cNvPicPr>
            <a:picLocks noChangeAspect="1"/>
          </p:cNvPicPr>
          <p:nvPr/>
        </p:nvPicPr>
        <p:blipFill>
          <a:blip r:embed="rId7"/>
          <a:stretch>
            <a:fillRect/>
          </a:stretch>
        </p:blipFill>
        <p:spPr>
          <a:xfrm>
            <a:off x="590550" y="4800600"/>
            <a:ext cx="4191000" cy="2066925"/>
          </a:xfrm>
          <a:prstGeom prst="rect">
            <a:avLst/>
          </a:prstGeom>
        </p:spPr>
      </p:pic>
      <p:graphicFrame>
        <p:nvGraphicFramePr>
          <p:cNvPr id="101" name="Revenue growth chart 3"/>
          <p:cNvGraphicFramePr/>
          <p:nvPr/>
        </p:nvGraphicFramePr>
        <p:xfrm>
          <a:off x="723900" y="4876800"/>
          <a:ext cx="4191000" cy="1514475"/>
        </p:xfrm>
        <a:graphic>
          <a:graphicData uri="http://schemas.openxmlformats.org/drawingml/2006/chart">
            <c:chart xmlns:c="http://schemas.openxmlformats.org/drawingml/2006/chart" xmlns:r="http://schemas.openxmlformats.org/officeDocument/2006/relationships" r:id="rId8"/>
          </a:graphicData>
        </a:graphic>
      </p:graphicFrame>
      <p:sp>
        <p:nvSpPr>
          <p:cNvPr id="102" name="Text 101"/>
          <p:cNvSpPr txBox="1"/>
          <p:nvPr/>
        </p:nvSpPr>
        <p:spPr>
          <a:xfrm>
            <a:off x="170855" y="6210181"/>
            <a:ext cx="688253" cy="101203"/>
          </a:xfrm>
          <a:prstGeom prst="rect">
            <a:avLst/>
          </a:prstGeom>
          <a:noFill/>
          <a:ln/>
        </p:spPr>
        <p:txBody>
          <a:bodyPr wrap="none" lIns="0" tIns="0" rIns="0" bIns="0" rtlCol="0" anchor="t"/>
          <a:lstStyle/>
          <a:p>
            <a:pPr marL="0" indent="0" algn="r">
              <a:lnSpc>
                <a:spcPts val="797"/>
              </a:lnSpc>
              <a:buNone/>
            </a:pPr>
            <a:r>
              <a:rPr lang="en-US" sz="638" dirty="0">
                <a:solidFill>
                  <a:srgbClr val="6F6A66"/>
                </a:solidFill>
                <a:latin typeface="Quicksand" pitchFamily="34" charset="0"/>
              </a:rPr>
              <a:t>0%</a:t>
            </a:r>
            <a:endParaRPr lang="en-US" sz="638" dirty="0"/>
          </a:p>
        </p:txBody>
      </p:sp>
      <p:sp>
        <p:nvSpPr>
          <p:cNvPr id="103" name="Text 102"/>
          <p:cNvSpPr txBox="1"/>
          <p:nvPr/>
        </p:nvSpPr>
        <p:spPr>
          <a:xfrm>
            <a:off x="174129" y="5814893"/>
            <a:ext cx="684934" cy="101203"/>
          </a:xfrm>
          <a:prstGeom prst="rect">
            <a:avLst/>
          </a:prstGeom>
          <a:noFill/>
          <a:ln/>
        </p:spPr>
        <p:txBody>
          <a:bodyPr wrap="none" lIns="0" tIns="0" rIns="0" bIns="0" rtlCol="0" anchor="t"/>
          <a:lstStyle/>
          <a:p>
            <a:pPr marL="0" indent="0" algn="r">
              <a:lnSpc>
                <a:spcPts val="797"/>
              </a:lnSpc>
              <a:buNone/>
            </a:pPr>
            <a:r>
              <a:rPr lang="en-US" sz="638" dirty="0">
                <a:solidFill>
                  <a:srgbClr val="6F6A66"/>
                </a:solidFill>
                <a:latin typeface="Quicksand" pitchFamily="34" charset="0"/>
              </a:rPr>
              <a:t>2%</a:t>
            </a:r>
            <a:endParaRPr lang="en-US" sz="638" dirty="0"/>
          </a:p>
        </p:txBody>
      </p:sp>
      <p:sp>
        <p:nvSpPr>
          <p:cNvPr id="104" name="Text 103"/>
          <p:cNvSpPr txBox="1"/>
          <p:nvPr/>
        </p:nvSpPr>
        <p:spPr>
          <a:xfrm>
            <a:off x="176361" y="5420559"/>
            <a:ext cx="682748" cy="101203"/>
          </a:xfrm>
          <a:prstGeom prst="rect">
            <a:avLst/>
          </a:prstGeom>
          <a:noFill/>
          <a:ln/>
        </p:spPr>
        <p:txBody>
          <a:bodyPr wrap="none" lIns="0" tIns="0" rIns="0" bIns="0" rtlCol="0" anchor="t"/>
          <a:lstStyle/>
          <a:p>
            <a:pPr marL="0" indent="0" algn="r">
              <a:lnSpc>
                <a:spcPts val="797"/>
              </a:lnSpc>
              <a:buNone/>
            </a:pPr>
            <a:r>
              <a:rPr lang="en-US" sz="638" dirty="0">
                <a:solidFill>
                  <a:srgbClr val="6F6A66"/>
                </a:solidFill>
                <a:latin typeface="Quicksand" pitchFamily="34" charset="0"/>
              </a:rPr>
              <a:t>4%</a:t>
            </a:r>
            <a:endParaRPr lang="en-US" sz="638" dirty="0"/>
          </a:p>
        </p:txBody>
      </p:sp>
      <p:sp>
        <p:nvSpPr>
          <p:cNvPr id="105" name="Text 104"/>
          <p:cNvSpPr txBox="1"/>
          <p:nvPr/>
        </p:nvSpPr>
        <p:spPr>
          <a:xfrm>
            <a:off x="175468" y="5026223"/>
            <a:ext cx="683638" cy="101203"/>
          </a:xfrm>
          <a:prstGeom prst="rect">
            <a:avLst/>
          </a:prstGeom>
          <a:noFill/>
          <a:ln/>
        </p:spPr>
        <p:txBody>
          <a:bodyPr wrap="none" lIns="0" tIns="0" rIns="0" bIns="0" rtlCol="0" anchor="t"/>
          <a:lstStyle/>
          <a:p>
            <a:pPr marL="0" indent="0" algn="r">
              <a:lnSpc>
                <a:spcPts val="797"/>
              </a:lnSpc>
              <a:buNone/>
            </a:pPr>
            <a:r>
              <a:rPr lang="en-US" sz="638" dirty="0">
                <a:solidFill>
                  <a:srgbClr val="6F6A66"/>
                </a:solidFill>
                <a:latin typeface="Quicksand" pitchFamily="34" charset="0"/>
              </a:rPr>
              <a:t>6%</a:t>
            </a:r>
            <a:endParaRPr lang="en-US" sz="638" dirty="0"/>
          </a:p>
        </p:txBody>
      </p:sp>
      <p:sp>
        <p:nvSpPr>
          <p:cNvPr id="106" name="Text 105"/>
          <p:cNvSpPr txBox="1"/>
          <p:nvPr/>
        </p:nvSpPr>
        <p:spPr>
          <a:xfrm>
            <a:off x="563314" y="6516291"/>
            <a:ext cx="1159371" cy="102394"/>
          </a:xfrm>
          <a:prstGeom prst="rect">
            <a:avLst/>
          </a:prstGeom>
          <a:noFill/>
          <a:ln/>
        </p:spPr>
        <p:txBody>
          <a:bodyPr wrap="none" lIns="0" tIns="0" rIns="0" bIns="0" rtlCol="0" anchor="t"/>
          <a:lstStyle/>
          <a:p>
            <a:pPr marL="0" indent="0" algn="ctr">
              <a:lnSpc>
                <a:spcPts val="806"/>
              </a:lnSpc>
              <a:buNone/>
            </a:pPr>
            <a:r>
              <a:rPr lang="en-US" sz="645" dirty="0">
                <a:solidFill>
                  <a:srgbClr val="6F6A66"/>
                </a:solidFill>
                <a:latin typeface="Quicksand Medium" pitchFamily="34" charset="0"/>
              </a:rPr>
              <a:t>Two years ago</a:t>
            </a:r>
            <a:endParaRPr lang="en-US" sz="645" dirty="0"/>
          </a:p>
        </p:txBody>
      </p:sp>
      <p:sp>
        <p:nvSpPr>
          <p:cNvPr id="107" name="Text 106"/>
          <p:cNvSpPr txBox="1"/>
          <p:nvPr/>
        </p:nvSpPr>
        <p:spPr>
          <a:xfrm>
            <a:off x="1494755" y="6516291"/>
            <a:ext cx="976188" cy="102394"/>
          </a:xfrm>
          <a:prstGeom prst="rect">
            <a:avLst/>
          </a:prstGeom>
          <a:noFill/>
          <a:ln/>
        </p:spPr>
        <p:txBody>
          <a:bodyPr wrap="none" lIns="0" tIns="0" rIns="0" bIns="0" rtlCol="0" anchor="t"/>
          <a:lstStyle/>
          <a:p>
            <a:pPr marL="0" indent="0" algn="ctr">
              <a:lnSpc>
                <a:spcPts val="806"/>
              </a:lnSpc>
              <a:buNone/>
            </a:pPr>
            <a:r>
              <a:rPr lang="en-US" sz="645" dirty="0">
                <a:solidFill>
                  <a:srgbClr val="6F6A66"/>
                </a:solidFill>
                <a:latin typeface="Quicksand Medium" pitchFamily="34" charset="0"/>
              </a:rPr>
              <a:t>Prior year</a:t>
            </a:r>
            <a:endParaRPr lang="en-US" sz="645" dirty="0"/>
          </a:p>
        </p:txBody>
      </p:sp>
      <p:sp>
        <p:nvSpPr>
          <p:cNvPr id="108" name="Text 107"/>
          <p:cNvSpPr txBox="1"/>
          <p:nvPr/>
        </p:nvSpPr>
        <p:spPr>
          <a:xfrm>
            <a:off x="2170807" y="6516291"/>
            <a:ext cx="1297814" cy="102394"/>
          </a:xfrm>
          <a:prstGeom prst="rect">
            <a:avLst/>
          </a:prstGeom>
          <a:noFill/>
          <a:ln/>
        </p:spPr>
        <p:txBody>
          <a:bodyPr wrap="none" lIns="0" tIns="0" rIns="0" bIns="0" rtlCol="0" anchor="t"/>
          <a:lstStyle/>
          <a:p>
            <a:pPr marL="0" indent="0" algn="ctr">
              <a:lnSpc>
                <a:spcPts val="806"/>
              </a:lnSpc>
              <a:buNone/>
            </a:pPr>
            <a:r>
              <a:rPr lang="en-US" sz="645" b="1" dirty="0">
                <a:solidFill>
                  <a:srgbClr val="1B1A1A"/>
                </a:solidFill>
                <a:latin typeface="Quicksand" pitchFamily="34" charset="0"/>
              </a:rPr>
              <a:t>Latest fiscal year</a:t>
            </a:r>
            <a:endParaRPr lang="en-US" sz="645" dirty="0"/>
          </a:p>
        </p:txBody>
      </p:sp>
      <p:sp>
        <p:nvSpPr>
          <p:cNvPr id="109" name="Text 108"/>
          <p:cNvSpPr txBox="1"/>
          <p:nvPr/>
        </p:nvSpPr>
        <p:spPr>
          <a:xfrm>
            <a:off x="3034531" y="6516291"/>
            <a:ext cx="1246571" cy="102394"/>
          </a:xfrm>
          <a:prstGeom prst="rect">
            <a:avLst/>
          </a:prstGeom>
          <a:noFill/>
          <a:ln/>
        </p:spPr>
        <p:txBody>
          <a:bodyPr wrap="none" lIns="0" tIns="0" rIns="0" bIns="0" rtlCol="0" anchor="t"/>
          <a:lstStyle/>
          <a:p>
            <a:pPr marL="0" indent="0" algn="ctr">
              <a:lnSpc>
                <a:spcPts val="806"/>
              </a:lnSpc>
              <a:buNone/>
            </a:pPr>
            <a:r>
              <a:rPr lang="en-US" sz="645" dirty="0">
                <a:solidFill>
                  <a:srgbClr val="6F6A66"/>
                </a:solidFill>
                <a:latin typeface="Quicksand Medium" pitchFamily="34" charset="0"/>
              </a:rPr>
              <a:t>Current year est.</a:t>
            </a:r>
            <a:endParaRPr lang="en-US" sz="645" dirty="0"/>
          </a:p>
        </p:txBody>
      </p:sp>
      <p:sp>
        <p:nvSpPr>
          <p:cNvPr id="110" name="Text 109"/>
          <p:cNvSpPr txBox="1"/>
          <p:nvPr/>
        </p:nvSpPr>
        <p:spPr>
          <a:xfrm>
            <a:off x="3929732" y="6516291"/>
            <a:ext cx="1132483" cy="102394"/>
          </a:xfrm>
          <a:prstGeom prst="rect">
            <a:avLst/>
          </a:prstGeom>
          <a:noFill/>
          <a:ln/>
        </p:spPr>
        <p:txBody>
          <a:bodyPr wrap="none" lIns="0" tIns="0" rIns="0" bIns="0" rtlCol="0" anchor="t"/>
          <a:lstStyle/>
          <a:p>
            <a:pPr marL="0" indent="0" algn="ctr">
              <a:lnSpc>
                <a:spcPts val="806"/>
              </a:lnSpc>
              <a:buNone/>
            </a:pPr>
            <a:r>
              <a:rPr lang="en-US" sz="645" dirty="0">
                <a:solidFill>
                  <a:srgbClr val="6F6A66"/>
                </a:solidFill>
                <a:latin typeface="Quicksand Medium" pitchFamily="34" charset="0"/>
              </a:rPr>
              <a:t>Next year est.</a:t>
            </a:r>
            <a:endParaRPr lang="en-US" sz="645" dirty="0"/>
          </a:p>
        </p:txBody>
      </p:sp>
      <p:sp>
        <p:nvSpPr>
          <p:cNvPr id="111" name="Text 110"/>
          <p:cNvSpPr txBox="1"/>
          <p:nvPr/>
        </p:nvSpPr>
        <p:spPr>
          <a:xfrm>
            <a:off x="731118" y="6702028"/>
            <a:ext cx="825075" cy="111919"/>
          </a:xfrm>
          <a:prstGeom prst="rect">
            <a:avLst/>
          </a:prstGeom>
          <a:noFill/>
          <a:ln/>
        </p:spPr>
        <p:txBody>
          <a:bodyPr wrap="none" lIns="0" tIns="0" rIns="0" bIns="0" rtlCol="0" anchor="t"/>
          <a:lstStyle/>
          <a:p>
            <a:pPr marL="0" indent="0" algn="ctr">
              <a:lnSpc>
                <a:spcPts val="881"/>
              </a:lnSpc>
              <a:buNone/>
            </a:pPr>
            <a:r>
              <a:rPr lang="en-US" sz="705" b="1" dirty="0">
                <a:solidFill>
                  <a:srgbClr val="1B1A1A"/>
                </a:solidFill>
                <a:latin typeface="Quicksand" pitchFamily="34" charset="0"/>
              </a:rPr>
              <a:t>+3.3%</a:t>
            </a:r>
            <a:endParaRPr lang="en-US" sz="705" dirty="0"/>
          </a:p>
        </p:txBody>
      </p:sp>
      <p:sp>
        <p:nvSpPr>
          <p:cNvPr id="112" name="Text 111"/>
          <p:cNvSpPr txBox="1"/>
          <p:nvPr/>
        </p:nvSpPr>
        <p:spPr>
          <a:xfrm>
            <a:off x="1567681" y="6702028"/>
            <a:ext cx="828375" cy="111919"/>
          </a:xfrm>
          <a:prstGeom prst="rect">
            <a:avLst/>
          </a:prstGeom>
          <a:noFill/>
          <a:ln/>
        </p:spPr>
        <p:txBody>
          <a:bodyPr wrap="none" lIns="0" tIns="0" rIns="0" bIns="0" rtlCol="0" anchor="t"/>
          <a:lstStyle/>
          <a:p>
            <a:pPr marL="0" indent="0" algn="ctr">
              <a:lnSpc>
                <a:spcPts val="881"/>
              </a:lnSpc>
              <a:buNone/>
            </a:pPr>
            <a:r>
              <a:rPr lang="en-US" sz="705" b="1" dirty="0">
                <a:solidFill>
                  <a:srgbClr val="1B1A1A"/>
                </a:solidFill>
                <a:latin typeface="Quicksand" pitchFamily="34" charset="0"/>
              </a:rPr>
              <a:t>+6.4%</a:t>
            </a:r>
            <a:endParaRPr lang="en-US" sz="705" dirty="0"/>
          </a:p>
        </p:txBody>
      </p:sp>
      <p:sp>
        <p:nvSpPr>
          <p:cNvPr id="113" name="Text 112"/>
          <p:cNvSpPr txBox="1"/>
          <p:nvPr/>
        </p:nvSpPr>
        <p:spPr>
          <a:xfrm>
            <a:off x="2414141" y="6702028"/>
            <a:ext cx="811941" cy="111919"/>
          </a:xfrm>
          <a:prstGeom prst="rect">
            <a:avLst/>
          </a:prstGeom>
          <a:noFill/>
          <a:ln/>
        </p:spPr>
        <p:txBody>
          <a:bodyPr wrap="none" lIns="0" tIns="0" rIns="0" bIns="0" rtlCol="0" anchor="t"/>
          <a:lstStyle/>
          <a:p>
            <a:pPr marL="0" indent="0" algn="ctr">
              <a:lnSpc>
                <a:spcPts val="881"/>
              </a:lnSpc>
              <a:buNone/>
            </a:pPr>
            <a:r>
              <a:rPr lang="en-US" sz="705" b="1" dirty="0">
                <a:solidFill>
                  <a:srgbClr val="1B1A1A"/>
                </a:solidFill>
                <a:latin typeface="Quicksand" pitchFamily="34" charset="0"/>
              </a:rPr>
              <a:t>+4.1%</a:t>
            </a:r>
            <a:endParaRPr lang="en-US" sz="705" dirty="0"/>
          </a:p>
        </p:txBody>
      </p:sp>
      <p:sp>
        <p:nvSpPr>
          <p:cNvPr id="114" name="Text 113"/>
          <p:cNvSpPr txBox="1"/>
          <p:nvPr/>
        </p:nvSpPr>
        <p:spPr>
          <a:xfrm>
            <a:off x="3253904" y="6702028"/>
            <a:ext cx="808816" cy="111919"/>
          </a:xfrm>
          <a:prstGeom prst="rect">
            <a:avLst/>
          </a:prstGeom>
          <a:noFill/>
          <a:ln/>
        </p:spPr>
        <p:txBody>
          <a:bodyPr wrap="none" lIns="0" tIns="0" rIns="0" bIns="0" rtlCol="0" anchor="t"/>
          <a:lstStyle/>
          <a:p>
            <a:pPr marL="0" indent="0" algn="ctr">
              <a:lnSpc>
                <a:spcPts val="881"/>
              </a:lnSpc>
              <a:buNone/>
            </a:pPr>
            <a:r>
              <a:rPr lang="en-US" sz="705" b="1" dirty="0">
                <a:solidFill>
                  <a:srgbClr val="1B1A1A"/>
                </a:solidFill>
                <a:latin typeface="Quicksand" pitchFamily="34" charset="0"/>
              </a:rPr>
              <a:t>+6.1%</a:t>
            </a:r>
            <a:endParaRPr lang="en-US" sz="705" dirty="0"/>
          </a:p>
        </p:txBody>
      </p:sp>
      <p:sp>
        <p:nvSpPr>
          <p:cNvPr id="115" name="Text 114"/>
          <p:cNvSpPr txBox="1"/>
          <p:nvPr/>
        </p:nvSpPr>
        <p:spPr>
          <a:xfrm>
            <a:off x="4081983" y="6702028"/>
            <a:ext cx="828915" cy="111919"/>
          </a:xfrm>
          <a:prstGeom prst="rect">
            <a:avLst/>
          </a:prstGeom>
          <a:noFill/>
          <a:ln/>
        </p:spPr>
        <p:txBody>
          <a:bodyPr wrap="none" lIns="0" tIns="0" rIns="0" bIns="0" rtlCol="0" anchor="t"/>
          <a:lstStyle/>
          <a:p>
            <a:pPr marL="0" indent="0" algn="ctr">
              <a:lnSpc>
                <a:spcPts val="881"/>
              </a:lnSpc>
              <a:buNone/>
            </a:pPr>
            <a:r>
              <a:rPr lang="en-US" sz="705" b="1" dirty="0">
                <a:solidFill>
                  <a:srgbClr val="1B1A1A"/>
                </a:solidFill>
                <a:latin typeface="Quicksand" pitchFamily="34" charset="0"/>
              </a:rPr>
              <a:t>+2.8%</a:t>
            </a:r>
            <a:endParaRPr lang="en-US" sz="705" dirty="0"/>
          </a:p>
        </p:txBody>
      </p:sp>
      <p:sp>
        <p:nvSpPr>
          <p:cNvPr id="116" name="Shape 115"/>
          <p:cNvSpPr/>
          <p:nvPr/>
        </p:nvSpPr>
        <p:spPr>
          <a:xfrm>
            <a:off x="5105400" y="4152900"/>
            <a:ext cx="4533900" cy="2781300"/>
          </a:xfrm>
          <a:prstGeom prst="rect">
            <a:avLst/>
          </a:prstGeom>
          <a:solidFill>
            <a:srgbClr val="FAF7F3"/>
          </a:solidFill>
          <a:ln/>
        </p:spPr>
        <p:txBody>
          <a:bodyPr/>
          <a:lstStyle/>
          <a:p>
            <a:endParaRPr lang="en-US"/>
          </a:p>
        </p:txBody>
      </p:sp>
      <p:sp>
        <p:nvSpPr>
          <p:cNvPr id="117" name="Shape 116"/>
          <p:cNvSpPr/>
          <p:nvPr/>
        </p:nvSpPr>
        <p:spPr>
          <a:xfrm>
            <a:off x="5105400" y="4152900"/>
            <a:ext cx="4533900" cy="28575"/>
          </a:xfrm>
          <a:prstGeom prst="rect">
            <a:avLst/>
          </a:prstGeom>
          <a:solidFill>
            <a:srgbClr val="B68757"/>
          </a:solidFill>
          <a:ln/>
        </p:spPr>
        <p:txBody>
          <a:bodyPr/>
          <a:lstStyle/>
          <a:p>
            <a:endParaRPr lang="en-US"/>
          </a:p>
        </p:txBody>
      </p:sp>
      <p:sp>
        <p:nvSpPr>
          <p:cNvPr id="118" name="Text 117"/>
          <p:cNvSpPr txBox="1"/>
          <p:nvPr/>
        </p:nvSpPr>
        <p:spPr>
          <a:xfrm>
            <a:off x="5276850" y="4291013"/>
            <a:ext cx="4191000" cy="161925"/>
          </a:xfrm>
          <a:prstGeom prst="rect">
            <a:avLst/>
          </a:prstGeom>
          <a:noFill/>
          <a:ln/>
        </p:spPr>
        <p:txBody>
          <a:bodyPr wrap="none" lIns="0" tIns="0" rIns="0" bIns="0" rtlCol="0" anchor="t"/>
          <a:lstStyle/>
          <a:p>
            <a:pPr marL="0" indent="0" algn="l">
              <a:lnSpc>
                <a:spcPts val="1275"/>
              </a:lnSpc>
              <a:buNone/>
            </a:pPr>
            <a:r>
              <a:rPr lang="en-US" sz="938" b="1" kern="0" spc="15" dirty="0">
                <a:solidFill>
                  <a:srgbClr val="1B1A1A"/>
                </a:solidFill>
                <a:latin typeface="Quicksand" pitchFamily="34" charset="0"/>
              </a:rPr>
              <a:t>Consumer Services &amp; Retail</a:t>
            </a:r>
            <a:endParaRPr lang="en-US" sz="938" dirty="0"/>
          </a:p>
        </p:txBody>
      </p:sp>
      <p:sp>
        <p:nvSpPr>
          <p:cNvPr id="119" name="Text 118"/>
          <p:cNvSpPr txBox="1"/>
          <p:nvPr/>
        </p:nvSpPr>
        <p:spPr>
          <a:xfrm>
            <a:off x="5276850" y="4457700"/>
            <a:ext cx="4191000" cy="123825"/>
          </a:xfrm>
          <a:prstGeom prst="rect">
            <a:avLst/>
          </a:prstGeom>
          <a:noFill/>
          <a:ln/>
        </p:spPr>
        <p:txBody>
          <a:bodyPr wrap="none" lIns="0" tIns="0" rIns="0" bIns="0" rtlCol="0" anchor="t"/>
          <a:lstStyle/>
          <a:p>
            <a:pPr marL="0" indent="0" algn="l">
              <a:lnSpc>
                <a:spcPts val="975"/>
              </a:lnSpc>
              <a:buNone/>
            </a:pPr>
            <a:r>
              <a:rPr lang="en-US" sz="705" kern="0" spc="15" dirty="0">
                <a:solidFill>
                  <a:srgbClr val="6F6A66"/>
                </a:solidFill>
                <a:latin typeface="Quicksand" pitchFamily="34" charset="0"/>
              </a:rPr>
              <a:t>Median revenue growth of the listed peer group, by fiscal year</a:t>
            </a:r>
            <a:endParaRPr lang="en-US" sz="705" dirty="0"/>
          </a:p>
        </p:txBody>
      </p:sp>
      <p:sp>
        <p:nvSpPr>
          <p:cNvPr id="120" name="Text 119"/>
          <p:cNvSpPr txBox="1"/>
          <p:nvPr/>
        </p:nvSpPr>
        <p:spPr>
          <a:xfrm>
            <a:off x="5400675" y="4614863"/>
            <a:ext cx="738932" cy="123825"/>
          </a:xfrm>
          <a:prstGeom prst="rect">
            <a:avLst/>
          </a:prstGeom>
          <a:noFill/>
          <a:ln/>
        </p:spPr>
        <p:txBody>
          <a:bodyPr wrap="none" lIns="0" tIns="0" rIns="0" bIns="0" rtlCol="0" anchor="t"/>
          <a:lstStyle/>
          <a:p>
            <a:pPr marL="0" indent="0" algn="l">
              <a:lnSpc>
                <a:spcPts val="975"/>
              </a:lnSpc>
              <a:buNone/>
            </a:pPr>
            <a:r>
              <a:rPr lang="en-US" sz="720" kern="0" spc="15" dirty="0">
                <a:solidFill>
                  <a:srgbClr val="333231"/>
                </a:solidFill>
                <a:latin typeface="Quicksand" pitchFamily="34" charset="0"/>
              </a:rPr>
              <a:t>Restaurants (6)</a:t>
            </a:r>
            <a:endParaRPr lang="en-US" sz="720" dirty="0"/>
          </a:p>
        </p:txBody>
      </p:sp>
      <p:sp>
        <p:nvSpPr>
          <p:cNvPr id="121" name="Dot 120"/>
          <p:cNvSpPr/>
          <p:nvPr/>
        </p:nvSpPr>
        <p:spPr>
          <a:xfrm>
            <a:off x="5276850" y="4643438"/>
            <a:ext cx="76200" cy="76200"/>
          </a:xfrm>
          <a:prstGeom prst="ellipse">
            <a:avLst/>
          </a:prstGeom>
          <a:solidFill>
            <a:srgbClr val="1B1A1A"/>
          </a:solidFill>
          <a:ln/>
        </p:spPr>
        <p:txBody>
          <a:bodyPr/>
          <a:lstStyle/>
          <a:p>
            <a:endParaRPr lang="en-US"/>
          </a:p>
        </p:txBody>
      </p:sp>
      <p:sp>
        <p:nvSpPr>
          <p:cNvPr id="122" name="Text 121"/>
          <p:cNvSpPr txBox="1"/>
          <p:nvPr/>
        </p:nvSpPr>
        <p:spPr>
          <a:xfrm>
            <a:off x="6368207" y="4614863"/>
            <a:ext cx="1038969" cy="123825"/>
          </a:xfrm>
          <a:prstGeom prst="rect">
            <a:avLst/>
          </a:prstGeom>
          <a:noFill/>
          <a:ln/>
        </p:spPr>
        <p:txBody>
          <a:bodyPr wrap="none" lIns="0" tIns="0" rIns="0" bIns="0" rtlCol="0" anchor="t"/>
          <a:lstStyle/>
          <a:p>
            <a:pPr marL="0" indent="0" algn="l">
              <a:lnSpc>
                <a:spcPts val="975"/>
              </a:lnSpc>
              <a:buNone/>
            </a:pPr>
            <a:r>
              <a:rPr lang="en-US" sz="720" kern="0" spc="15" dirty="0">
                <a:solidFill>
                  <a:srgbClr val="333231"/>
                </a:solidFill>
                <a:latin typeface="Quicksand" pitchFamily="34" charset="0"/>
              </a:rPr>
              <a:t>Consumer services (7)</a:t>
            </a:r>
            <a:endParaRPr lang="en-US" sz="720" dirty="0"/>
          </a:p>
        </p:txBody>
      </p:sp>
      <p:sp>
        <p:nvSpPr>
          <p:cNvPr id="123" name="Shape 122"/>
          <p:cNvSpPr/>
          <p:nvPr/>
        </p:nvSpPr>
        <p:spPr>
          <a:xfrm>
            <a:off x="6244382" y="4643438"/>
            <a:ext cx="76200" cy="76200"/>
          </a:xfrm>
          <a:prstGeom prst="rect">
            <a:avLst/>
          </a:prstGeom>
          <a:solidFill>
            <a:srgbClr val="B68757"/>
          </a:solidFill>
          <a:ln/>
        </p:spPr>
        <p:txBody>
          <a:bodyPr/>
          <a:lstStyle/>
          <a:p>
            <a:endParaRPr lang="en-US"/>
          </a:p>
        </p:txBody>
      </p:sp>
      <p:sp>
        <p:nvSpPr>
          <p:cNvPr id="124" name="Text 123"/>
          <p:cNvSpPr txBox="1"/>
          <p:nvPr/>
        </p:nvSpPr>
        <p:spPr>
          <a:xfrm>
            <a:off x="7635776" y="4614863"/>
            <a:ext cx="458093" cy="123825"/>
          </a:xfrm>
          <a:prstGeom prst="rect">
            <a:avLst/>
          </a:prstGeom>
          <a:noFill/>
          <a:ln/>
        </p:spPr>
        <p:txBody>
          <a:bodyPr wrap="none" lIns="0" tIns="0" rIns="0" bIns="0" rtlCol="0" anchor="t"/>
          <a:lstStyle/>
          <a:p>
            <a:pPr marL="0" indent="0" algn="l">
              <a:lnSpc>
                <a:spcPts val="975"/>
              </a:lnSpc>
              <a:buNone/>
            </a:pPr>
            <a:r>
              <a:rPr lang="en-US" sz="720" kern="0" spc="15" dirty="0">
                <a:solidFill>
                  <a:srgbClr val="333231"/>
                </a:solidFill>
                <a:latin typeface="Quicksand" pitchFamily="34" charset="0"/>
              </a:rPr>
              <a:t>Retail (6)</a:t>
            </a:r>
            <a:endParaRPr lang="en-US" sz="720" dirty="0"/>
          </a:p>
        </p:txBody>
      </p:sp>
      <p:sp>
        <p:nvSpPr>
          <p:cNvPr id="125" name="Shape 124"/>
          <p:cNvSpPr/>
          <p:nvPr/>
        </p:nvSpPr>
        <p:spPr>
          <a:xfrm rot="2700000">
            <a:off x="7511951" y="4643438"/>
            <a:ext cx="76200" cy="76200"/>
          </a:xfrm>
          <a:prstGeom prst="rect">
            <a:avLst/>
          </a:prstGeom>
          <a:solidFill>
            <a:srgbClr val="8F8880"/>
          </a:solidFill>
          <a:ln/>
        </p:spPr>
        <p:txBody>
          <a:bodyPr/>
          <a:lstStyle/>
          <a:p>
            <a:endParaRPr lang="en-US"/>
          </a:p>
        </p:txBody>
      </p:sp>
      <p:sp>
        <p:nvSpPr>
          <p:cNvPr id="126" name="Chart shading"/>
          <p:cNvSpPr/>
          <p:nvPr/>
        </p:nvSpPr>
        <p:spPr>
          <a:xfrm>
            <a:off x="7924800" y="4876800"/>
            <a:ext cx="1543050" cy="1990725"/>
          </a:xfrm>
          <a:prstGeom prst="rect">
            <a:avLst/>
          </a:prstGeom>
          <a:solidFill>
            <a:srgbClr val="F1EBE2"/>
          </a:solidFill>
          <a:ln/>
        </p:spPr>
        <p:txBody>
          <a:bodyPr/>
          <a:lstStyle/>
          <a:p>
            <a:endParaRPr lang="en-US"/>
          </a:p>
        </p:txBody>
      </p:sp>
      <p:sp>
        <p:nvSpPr>
          <p:cNvPr id="127" name="Chart rule"/>
          <p:cNvSpPr/>
          <p:nvPr/>
        </p:nvSpPr>
        <p:spPr>
          <a:xfrm>
            <a:off x="5600700" y="6002655"/>
            <a:ext cx="3867150" cy="0"/>
          </a:xfrm>
          <a:prstGeom prst="line">
            <a:avLst/>
          </a:prstGeom>
          <a:noFill/>
          <a:ln w="9525">
            <a:solidFill>
              <a:srgbClr val="C3BDB6"/>
            </a:solidFill>
            <a:prstDash val="solid"/>
          </a:ln>
        </p:spPr>
        <p:txBody>
          <a:bodyPr/>
          <a:lstStyle/>
          <a:p>
            <a:endParaRPr lang="en-US"/>
          </a:p>
        </p:txBody>
      </p:sp>
      <p:sp>
        <p:nvSpPr>
          <p:cNvPr id="128" name="Chart rule"/>
          <p:cNvSpPr/>
          <p:nvPr/>
        </p:nvSpPr>
        <p:spPr>
          <a:xfrm>
            <a:off x="5600700" y="5635943"/>
            <a:ext cx="3867150" cy="0"/>
          </a:xfrm>
          <a:prstGeom prst="line">
            <a:avLst/>
          </a:prstGeom>
          <a:noFill/>
          <a:ln w="9525">
            <a:solidFill>
              <a:srgbClr val="E3DCD3"/>
            </a:solidFill>
            <a:prstDash val="solid"/>
          </a:ln>
        </p:spPr>
        <p:txBody>
          <a:bodyPr/>
          <a:lstStyle/>
          <a:p>
            <a:endParaRPr lang="en-US"/>
          </a:p>
        </p:txBody>
      </p:sp>
      <p:sp>
        <p:nvSpPr>
          <p:cNvPr id="129" name="Chart rule"/>
          <p:cNvSpPr/>
          <p:nvPr/>
        </p:nvSpPr>
        <p:spPr>
          <a:xfrm>
            <a:off x="5600700" y="5269230"/>
            <a:ext cx="3867150" cy="0"/>
          </a:xfrm>
          <a:prstGeom prst="line">
            <a:avLst/>
          </a:prstGeom>
          <a:noFill/>
          <a:ln w="9525">
            <a:solidFill>
              <a:srgbClr val="E3DCD3"/>
            </a:solidFill>
            <a:prstDash val="solid"/>
          </a:ln>
        </p:spPr>
        <p:txBody>
          <a:bodyPr/>
          <a:lstStyle/>
          <a:p>
            <a:endParaRPr lang="en-US"/>
          </a:p>
        </p:txBody>
      </p:sp>
      <p:sp>
        <p:nvSpPr>
          <p:cNvPr id="130" name="Chart rule"/>
          <p:cNvSpPr/>
          <p:nvPr/>
        </p:nvSpPr>
        <p:spPr>
          <a:xfrm>
            <a:off x="5600700" y="4902518"/>
            <a:ext cx="3867150" cy="0"/>
          </a:xfrm>
          <a:prstGeom prst="line">
            <a:avLst/>
          </a:prstGeom>
          <a:noFill/>
          <a:ln w="9525">
            <a:solidFill>
              <a:srgbClr val="E3DCD3"/>
            </a:solidFill>
            <a:prstDash val="solid"/>
          </a:ln>
        </p:spPr>
        <p:txBody>
          <a:bodyPr/>
          <a:lstStyle/>
          <a:p>
            <a:endParaRPr lang="en-US"/>
          </a:p>
        </p:txBody>
      </p:sp>
      <p:sp>
        <p:nvSpPr>
          <p:cNvPr id="131" name="Chart rule"/>
          <p:cNvSpPr/>
          <p:nvPr/>
        </p:nvSpPr>
        <p:spPr>
          <a:xfrm>
            <a:off x="5276850" y="6381750"/>
            <a:ext cx="4191000" cy="0"/>
          </a:xfrm>
          <a:prstGeom prst="line">
            <a:avLst/>
          </a:prstGeom>
          <a:noFill/>
          <a:ln w="9525">
            <a:solidFill>
              <a:srgbClr val="C3BDB6"/>
            </a:solidFill>
            <a:prstDash val="solid"/>
          </a:ln>
        </p:spPr>
        <p:txBody>
          <a:bodyPr/>
          <a:lstStyle/>
          <a:p>
            <a:endParaRPr lang="en-US"/>
          </a:p>
        </p:txBody>
      </p:sp>
      <p:pic>
        <p:nvPicPr>
          <p:cNvPr id="132" name="Chart key markers" descr="/tmp/claude-0/-home-claude-about/4bef2f41-4227-5ff7-ab18-11ac74cd9797/scratchpad/pptx/ex/media/7aca1844d531.png"/>
          <p:cNvPicPr>
            <a:picLocks noChangeAspect="1"/>
          </p:cNvPicPr>
          <p:nvPr/>
        </p:nvPicPr>
        <p:blipFill>
          <a:blip r:embed="rId3"/>
          <a:stretch>
            <a:fillRect/>
          </a:stretch>
        </p:blipFill>
        <p:spPr>
          <a:xfrm>
            <a:off x="5276850" y="4800600"/>
            <a:ext cx="4191000" cy="2066925"/>
          </a:xfrm>
          <a:prstGeom prst="rect">
            <a:avLst/>
          </a:prstGeom>
        </p:spPr>
      </p:pic>
      <p:graphicFrame>
        <p:nvGraphicFramePr>
          <p:cNvPr id="133" name="Revenue growth chart 4"/>
          <p:cNvGraphicFramePr/>
          <p:nvPr/>
        </p:nvGraphicFramePr>
        <p:xfrm>
          <a:off x="5410200" y="4876800"/>
          <a:ext cx="4191000" cy="1228725"/>
        </p:xfrm>
        <a:graphic>
          <a:graphicData uri="http://schemas.openxmlformats.org/drawingml/2006/chart">
            <c:chart xmlns:c="http://schemas.openxmlformats.org/drawingml/2006/chart" xmlns:r="http://schemas.openxmlformats.org/officeDocument/2006/relationships" r:id="rId9"/>
          </a:graphicData>
        </a:graphic>
      </p:graphicFrame>
      <p:sp>
        <p:nvSpPr>
          <p:cNvPr id="134" name="Text 133"/>
          <p:cNvSpPr txBox="1"/>
          <p:nvPr/>
        </p:nvSpPr>
        <p:spPr>
          <a:xfrm>
            <a:off x="4857155" y="5947291"/>
            <a:ext cx="688253" cy="101203"/>
          </a:xfrm>
          <a:prstGeom prst="rect">
            <a:avLst/>
          </a:prstGeom>
          <a:noFill/>
          <a:ln/>
        </p:spPr>
        <p:txBody>
          <a:bodyPr wrap="none" lIns="0" tIns="0" rIns="0" bIns="0" rtlCol="0" anchor="t"/>
          <a:lstStyle/>
          <a:p>
            <a:pPr marL="0" indent="0" algn="r">
              <a:lnSpc>
                <a:spcPts val="797"/>
              </a:lnSpc>
              <a:buNone/>
            </a:pPr>
            <a:r>
              <a:rPr lang="en-US" sz="638" dirty="0">
                <a:solidFill>
                  <a:srgbClr val="6F6A66"/>
                </a:solidFill>
                <a:latin typeface="Quicksand" pitchFamily="34" charset="0"/>
              </a:rPr>
              <a:t>0%</a:t>
            </a:r>
            <a:endParaRPr lang="en-US" sz="638" dirty="0"/>
          </a:p>
        </p:txBody>
      </p:sp>
      <p:sp>
        <p:nvSpPr>
          <p:cNvPr id="135" name="Text 134"/>
          <p:cNvSpPr txBox="1"/>
          <p:nvPr/>
        </p:nvSpPr>
        <p:spPr>
          <a:xfrm>
            <a:off x="4861173" y="5580579"/>
            <a:ext cx="684205" cy="101203"/>
          </a:xfrm>
          <a:prstGeom prst="rect">
            <a:avLst/>
          </a:prstGeom>
          <a:noFill/>
          <a:ln/>
        </p:spPr>
        <p:txBody>
          <a:bodyPr wrap="none" lIns="0" tIns="0" rIns="0" bIns="0" rtlCol="0" anchor="t"/>
          <a:lstStyle/>
          <a:p>
            <a:pPr marL="0" indent="0" algn="r">
              <a:lnSpc>
                <a:spcPts val="797"/>
              </a:lnSpc>
              <a:buNone/>
            </a:pPr>
            <a:r>
              <a:rPr lang="en-US" sz="638" dirty="0">
                <a:solidFill>
                  <a:srgbClr val="6F6A66"/>
                </a:solidFill>
                <a:latin typeface="Quicksand" pitchFamily="34" charset="0"/>
              </a:rPr>
              <a:t>5%</a:t>
            </a:r>
            <a:endParaRPr lang="en-US" sz="638" dirty="0"/>
          </a:p>
        </p:txBody>
      </p:sp>
      <p:sp>
        <p:nvSpPr>
          <p:cNvPr id="136" name="Text 135"/>
          <p:cNvSpPr txBox="1"/>
          <p:nvPr/>
        </p:nvSpPr>
        <p:spPr>
          <a:xfrm>
            <a:off x="4825305" y="5213866"/>
            <a:ext cx="720115" cy="101203"/>
          </a:xfrm>
          <a:prstGeom prst="rect">
            <a:avLst/>
          </a:prstGeom>
          <a:noFill/>
          <a:ln/>
        </p:spPr>
        <p:txBody>
          <a:bodyPr wrap="none" lIns="0" tIns="0" rIns="0" bIns="0" rtlCol="0" anchor="t"/>
          <a:lstStyle/>
          <a:p>
            <a:pPr marL="0" indent="0" algn="r">
              <a:lnSpc>
                <a:spcPts val="797"/>
              </a:lnSpc>
              <a:buNone/>
            </a:pPr>
            <a:r>
              <a:rPr lang="en-US" sz="638" dirty="0">
                <a:solidFill>
                  <a:srgbClr val="6F6A66"/>
                </a:solidFill>
                <a:latin typeface="Quicksand" pitchFamily="34" charset="0"/>
              </a:rPr>
              <a:t>10%</a:t>
            </a:r>
            <a:endParaRPr lang="en-US" sz="638" dirty="0"/>
          </a:p>
        </p:txBody>
      </p:sp>
      <p:sp>
        <p:nvSpPr>
          <p:cNvPr id="137" name="Text 136"/>
          <p:cNvSpPr txBox="1"/>
          <p:nvPr/>
        </p:nvSpPr>
        <p:spPr>
          <a:xfrm>
            <a:off x="4829324" y="4847154"/>
            <a:ext cx="716067" cy="101203"/>
          </a:xfrm>
          <a:prstGeom prst="rect">
            <a:avLst/>
          </a:prstGeom>
          <a:noFill/>
          <a:ln/>
        </p:spPr>
        <p:txBody>
          <a:bodyPr wrap="none" lIns="0" tIns="0" rIns="0" bIns="0" rtlCol="0" anchor="t"/>
          <a:lstStyle/>
          <a:p>
            <a:pPr marL="0" indent="0" algn="r">
              <a:lnSpc>
                <a:spcPts val="797"/>
              </a:lnSpc>
              <a:buNone/>
            </a:pPr>
            <a:r>
              <a:rPr lang="en-US" sz="638" dirty="0">
                <a:solidFill>
                  <a:srgbClr val="6F6A66"/>
                </a:solidFill>
                <a:latin typeface="Quicksand" pitchFamily="34" charset="0"/>
              </a:rPr>
              <a:t>15%</a:t>
            </a:r>
            <a:endParaRPr lang="en-US" sz="638" dirty="0"/>
          </a:p>
        </p:txBody>
      </p:sp>
      <p:sp>
        <p:nvSpPr>
          <p:cNvPr id="138" name="Text 137"/>
          <p:cNvSpPr txBox="1"/>
          <p:nvPr/>
        </p:nvSpPr>
        <p:spPr>
          <a:xfrm>
            <a:off x="5249614" y="6230541"/>
            <a:ext cx="1159371" cy="102394"/>
          </a:xfrm>
          <a:prstGeom prst="rect">
            <a:avLst/>
          </a:prstGeom>
          <a:noFill/>
          <a:ln/>
        </p:spPr>
        <p:txBody>
          <a:bodyPr wrap="none" lIns="0" tIns="0" rIns="0" bIns="0" rtlCol="0" anchor="t"/>
          <a:lstStyle/>
          <a:p>
            <a:pPr marL="0" indent="0" algn="ctr">
              <a:lnSpc>
                <a:spcPts val="806"/>
              </a:lnSpc>
              <a:buNone/>
            </a:pPr>
            <a:r>
              <a:rPr lang="en-US" sz="645" dirty="0">
                <a:solidFill>
                  <a:srgbClr val="6F6A66"/>
                </a:solidFill>
                <a:latin typeface="Quicksand Medium" pitchFamily="34" charset="0"/>
              </a:rPr>
              <a:t>Two years ago</a:t>
            </a:r>
            <a:endParaRPr lang="en-US" sz="645" dirty="0"/>
          </a:p>
        </p:txBody>
      </p:sp>
      <p:sp>
        <p:nvSpPr>
          <p:cNvPr id="139" name="Text 138"/>
          <p:cNvSpPr txBox="1"/>
          <p:nvPr/>
        </p:nvSpPr>
        <p:spPr>
          <a:xfrm>
            <a:off x="6181055" y="6230541"/>
            <a:ext cx="976188" cy="102394"/>
          </a:xfrm>
          <a:prstGeom prst="rect">
            <a:avLst/>
          </a:prstGeom>
          <a:noFill/>
          <a:ln/>
        </p:spPr>
        <p:txBody>
          <a:bodyPr wrap="none" lIns="0" tIns="0" rIns="0" bIns="0" rtlCol="0" anchor="t"/>
          <a:lstStyle/>
          <a:p>
            <a:pPr marL="0" indent="0" algn="ctr">
              <a:lnSpc>
                <a:spcPts val="806"/>
              </a:lnSpc>
              <a:buNone/>
            </a:pPr>
            <a:r>
              <a:rPr lang="en-US" sz="645" dirty="0">
                <a:solidFill>
                  <a:srgbClr val="6F6A66"/>
                </a:solidFill>
                <a:latin typeface="Quicksand Medium" pitchFamily="34" charset="0"/>
              </a:rPr>
              <a:t>Prior year</a:t>
            </a:r>
            <a:endParaRPr lang="en-US" sz="645" dirty="0"/>
          </a:p>
        </p:txBody>
      </p:sp>
      <p:sp>
        <p:nvSpPr>
          <p:cNvPr id="140" name="Text 139"/>
          <p:cNvSpPr txBox="1"/>
          <p:nvPr/>
        </p:nvSpPr>
        <p:spPr>
          <a:xfrm>
            <a:off x="6857107" y="6230541"/>
            <a:ext cx="1297814" cy="102394"/>
          </a:xfrm>
          <a:prstGeom prst="rect">
            <a:avLst/>
          </a:prstGeom>
          <a:noFill/>
          <a:ln/>
        </p:spPr>
        <p:txBody>
          <a:bodyPr wrap="none" lIns="0" tIns="0" rIns="0" bIns="0" rtlCol="0" anchor="t"/>
          <a:lstStyle/>
          <a:p>
            <a:pPr marL="0" indent="0" algn="ctr">
              <a:lnSpc>
                <a:spcPts val="806"/>
              </a:lnSpc>
              <a:buNone/>
            </a:pPr>
            <a:r>
              <a:rPr lang="en-US" sz="645" b="1" dirty="0">
                <a:solidFill>
                  <a:srgbClr val="1B1A1A"/>
                </a:solidFill>
                <a:latin typeface="Quicksand" pitchFamily="34" charset="0"/>
              </a:rPr>
              <a:t>Latest fiscal year</a:t>
            </a:r>
            <a:endParaRPr lang="en-US" sz="645" dirty="0"/>
          </a:p>
        </p:txBody>
      </p:sp>
      <p:sp>
        <p:nvSpPr>
          <p:cNvPr id="141" name="Text 140"/>
          <p:cNvSpPr txBox="1"/>
          <p:nvPr/>
        </p:nvSpPr>
        <p:spPr>
          <a:xfrm>
            <a:off x="7720831" y="6230541"/>
            <a:ext cx="1246571" cy="102394"/>
          </a:xfrm>
          <a:prstGeom prst="rect">
            <a:avLst/>
          </a:prstGeom>
          <a:noFill/>
          <a:ln/>
        </p:spPr>
        <p:txBody>
          <a:bodyPr wrap="none" lIns="0" tIns="0" rIns="0" bIns="0" rtlCol="0" anchor="t"/>
          <a:lstStyle/>
          <a:p>
            <a:pPr marL="0" indent="0" algn="ctr">
              <a:lnSpc>
                <a:spcPts val="806"/>
              </a:lnSpc>
              <a:buNone/>
            </a:pPr>
            <a:r>
              <a:rPr lang="en-US" sz="645" dirty="0">
                <a:solidFill>
                  <a:srgbClr val="6F6A66"/>
                </a:solidFill>
                <a:latin typeface="Quicksand Medium" pitchFamily="34" charset="0"/>
              </a:rPr>
              <a:t>Current year est.</a:t>
            </a:r>
            <a:endParaRPr lang="en-US" sz="645" dirty="0"/>
          </a:p>
        </p:txBody>
      </p:sp>
      <p:sp>
        <p:nvSpPr>
          <p:cNvPr id="142" name="Text 141"/>
          <p:cNvSpPr txBox="1"/>
          <p:nvPr/>
        </p:nvSpPr>
        <p:spPr>
          <a:xfrm>
            <a:off x="8616032" y="6230541"/>
            <a:ext cx="1132483" cy="102394"/>
          </a:xfrm>
          <a:prstGeom prst="rect">
            <a:avLst/>
          </a:prstGeom>
          <a:noFill/>
          <a:ln/>
        </p:spPr>
        <p:txBody>
          <a:bodyPr wrap="none" lIns="0" tIns="0" rIns="0" bIns="0" rtlCol="0" anchor="t"/>
          <a:lstStyle/>
          <a:p>
            <a:pPr marL="0" indent="0" algn="ctr">
              <a:lnSpc>
                <a:spcPts val="806"/>
              </a:lnSpc>
              <a:buNone/>
            </a:pPr>
            <a:r>
              <a:rPr lang="en-US" sz="645" dirty="0">
                <a:solidFill>
                  <a:srgbClr val="6F6A66"/>
                </a:solidFill>
                <a:latin typeface="Quicksand Medium" pitchFamily="34" charset="0"/>
              </a:rPr>
              <a:t>Next year est.</a:t>
            </a:r>
            <a:endParaRPr lang="en-US" sz="645" dirty="0"/>
          </a:p>
        </p:txBody>
      </p:sp>
      <p:sp>
        <p:nvSpPr>
          <p:cNvPr id="143" name="Text 142"/>
          <p:cNvSpPr txBox="1"/>
          <p:nvPr/>
        </p:nvSpPr>
        <p:spPr>
          <a:xfrm>
            <a:off x="5417865" y="6416278"/>
            <a:ext cx="824266" cy="111919"/>
          </a:xfrm>
          <a:prstGeom prst="rect">
            <a:avLst/>
          </a:prstGeom>
          <a:noFill/>
          <a:ln/>
        </p:spPr>
        <p:txBody>
          <a:bodyPr wrap="none" lIns="0" tIns="0" rIns="0" bIns="0" rtlCol="0" anchor="t"/>
          <a:lstStyle/>
          <a:p>
            <a:pPr marL="0" indent="0" algn="ctr">
              <a:lnSpc>
                <a:spcPts val="881"/>
              </a:lnSpc>
              <a:buNone/>
            </a:pPr>
            <a:r>
              <a:rPr lang="en-US" sz="705" b="1" dirty="0">
                <a:solidFill>
                  <a:srgbClr val="1B1A1A"/>
                </a:solidFill>
                <a:latin typeface="Quicksand" pitchFamily="34" charset="0"/>
              </a:rPr>
              <a:t>+9.3%</a:t>
            </a:r>
            <a:endParaRPr lang="en-US" sz="705" dirty="0"/>
          </a:p>
        </p:txBody>
      </p:sp>
      <p:sp>
        <p:nvSpPr>
          <p:cNvPr id="144" name="Text 143"/>
          <p:cNvSpPr txBox="1"/>
          <p:nvPr/>
        </p:nvSpPr>
        <p:spPr>
          <a:xfrm>
            <a:off x="6235675" y="6416278"/>
            <a:ext cx="865015" cy="111919"/>
          </a:xfrm>
          <a:prstGeom prst="rect">
            <a:avLst/>
          </a:prstGeom>
          <a:noFill/>
          <a:ln/>
        </p:spPr>
        <p:txBody>
          <a:bodyPr wrap="none" lIns="0" tIns="0" rIns="0" bIns="0" rtlCol="0" anchor="t"/>
          <a:lstStyle/>
          <a:p>
            <a:pPr marL="0" indent="0" algn="ctr">
              <a:lnSpc>
                <a:spcPts val="881"/>
              </a:lnSpc>
              <a:buNone/>
            </a:pPr>
            <a:r>
              <a:rPr lang="en-US" sz="705" b="1" dirty="0">
                <a:solidFill>
                  <a:srgbClr val="1B1A1A"/>
                </a:solidFill>
                <a:latin typeface="Quicksand" pitchFamily="34" charset="0"/>
              </a:rPr>
              <a:t>+10.3%</a:t>
            </a:r>
            <a:endParaRPr lang="en-US" sz="705" dirty="0"/>
          </a:p>
        </p:txBody>
      </p:sp>
      <p:sp>
        <p:nvSpPr>
          <p:cNvPr id="145" name="Text 144"/>
          <p:cNvSpPr txBox="1"/>
          <p:nvPr/>
        </p:nvSpPr>
        <p:spPr>
          <a:xfrm>
            <a:off x="7092404" y="6416278"/>
            <a:ext cx="827933" cy="111919"/>
          </a:xfrm>
          <a:prstGeom prst="rect">
            <a:avLst/>
          </a:prstGeom>
          <a:noFill/>
          <a:ln/>
        </p:spPr>
        <p:txBody>
          <a:bodyPr wrap="none" lIns="0" tIns="0" rIns="0" bIns="0" rtlCol="0" anchor="t"/>
          <a:lstStyle/>
          <a:p>
            <a:pPr marL="0" indent="0" algn="ctr">
              <a:lnSpc>
                <a:spcPts val="881"/>
              </a:lnSpc>
              <a:buNone/>
            </a:pPr>
            <a:r>
              <a:rPr lang="en-US" sz="705" b="1" dirty="0">
                <a:solidFill>
                  <a:srgbClr val="1B1A1A"/>
                </a:solidFill>
                <a:latin typeface="Quicksand" pitchFamily="34" charset="0"/>
              </a:rPr>
              <a:t>+6.6%</a:t>
            </a:r>
            <a:endParaRPr lang="en-US" sz="705" dirty="0"/>
          </a:p>
        </p:txBody>
      </p:sp>
      <p:sp>
        <p:nvSpPr>
          <p:cNvPr id="146" name="Text 145"/>
          <p:cNvSpPr txBox="1"/>
          <p:nvPr/>
        </p:nvSpPr>
        <p:spPr>
          <a:xfrm>
            <a:off x="7929563" y="6416278"/>
            <a:ext cx="829987" cy="111919"/>
          </a:xfrm>
          <a:prstGeom prst="rect">
            <a:avLst/>
          </a:prstGeom>
          <a:noFill/>
          <a:ln/>
        </p:spPr>
        <p:txBody>
          <a:bodyPr wrap="none" lIns="0" tIns="0" rIns="0" bIns="0" rtlCol="0" anchor="t"/>
          <a:lstStyle/>
          <a:p>
            <a:pPr marL="0" indent="0" algn="ctr">
              <a:lnSpc>
                <a:spcPts val="881"/>
              </a:lnSpc>
              <a:buNone/>
            </a:pPr>
            <a:r>
              <a:rPr lang="en-US" sz="705" b="1" dirty="0">
                <a:solidFill>
                  <a:srgbClr val="1B1A1A"/>
                </a:solidFill>
                <a:latin typeface="Quicksand" pitchFamily="34" charset="0"/>
              </a:rPr>
              <a:t>+6.5%</a:t>
            </a:r>
            <a:endParaRPr lang="en-US" sz="705" dirty="0"/>
          </a:p>
        </p:txBody>
      </p:sp>
      <p:sp>
        <p:nvSpPr>
          <p:cNvPr id="147" name="Text 146"/>
          <p:cNvSpPr txBox="1"/>
          <p:nvPr/>
        </p:nvSpPr>
        <p:spPr>
          <a:xfrm>
            <a:off x="8767465" y="6416278"/>
            <a:ext cx="830612" cy="111919"/>
          </a:xfrm>
          <a:prstGeom prst="rect">
            <a:avLst/>
          </a:prstGeom>
          <a:noFill/>
          <a:ln/>
        </p:spPr>
        <p:txBody>
          <a:bodyPr wrap="none" lIns="0" tIns="0" rIns="0" bIns="0" rtlCol="0" anchor="t"/>
          <a:lstStyle/>
          <a:p>
            <a:pPr marL="0" indent="0" algn="ctr">
              <a:lnSpc>
                <a:spcPts val="881"/>
              </a:lnSpc>
              <a:buNone/>
            </a:pPr>
            <a:r>
              <a:rPr lang="en-US" sz="705" b="1" dirty="0">
                <a:solidFill>
                  <a:srgbClr val="1B1A1A"/>
                </a:solidFill>
                <a:latin typeface="Quicksand" pitchFamily="34" charset="0"/>
              </a:rPr>
              <a:t>+4.8%</a:t>
            </a:r>
            <a:endParaRPr lang="en-US" sz="705" dirty="0"/>
          </a:p>
        </p:txBody>
      </p:sp>
      <p:sp>
        <p:nvSpPr>
          <p:cNvPr id="148" name="Text 147"/>
          <p:cNvSpPr txBox="1"/>
          <p:nvPr/>
        </p:nvSpPr>
        <p:spPr>
          <a:xfrm>
            <a:off x="5395168" y="6559153"/>
            <a:ext cx="869569" cy="111919"/>
          </a:xfrm>
          <a:prstGeom prst="rect">
            <a:avLst/>
          </a:prstGeom>
          <a:noFill/>
          <a:ln/>
        </p:spPr>
        <p:txBody>
          <a:bodyPr wrap="none" lIns="0" tIns="0" rIns="0" bIns="0" rtlCol="0" anchor="t"/>
          <a:lstStyle/>
          <a:p>
            <a:pPr marL="0" indent="0" algn="ctr">
              <a:lnSpc>
                <a:spcPts val="881"/>
              </a:lnSpc>
              <a:buNone/>
            </a:pPr>
            <a:r>
              <a:rPr lang="en-US" sz="705" b="1" dirty="0">
                <a:solidFill>
                  <a:srgbClr val="1B1A1A"/>
                </a:solidFill>
                <a:latin typeface="Quicksand" pitchFamily="34" charset="0"/>
              </a:rPr>
              <a:t>+14.0%</a:t>
            </a:r>
            <a:endParaRPr lang="en-US" sz="705" dirty="0"/>
          </a:p>
        </p:txBody>
      </p:sp>
      <p:sp>
        <p:nvSpPr>
          <p:cNvPr id="149" name="Text 148"/>
          <p:cNvSpPr txBox="1"/>
          <p:nvPr/>
        </p:nvSpPr>
        <p:spPr>
          <a:xfrm>
            <a:off x="6251897" y="6559153"/>
            <a:ext cx="832486" cy="111919"/>
          </a:xfrm>
          <a:prstGeom prst="rect">
            <a:avLst/>
          </a:prstGeom>
          <a:noFill/>
          <a:ln/>
        </p:spPr>
        <p:txBody>
          <a:bodyPr wrap="none" lIns="0" tIns="0" rIns="0" bIns="0" rtlCol="0" anchor="t"/>
          <a:lstStyle/>
          <a:p>
            <a:pPr marL="0" indent="0" algn="ctr">
              <a:lnSpc>
                <a:spcPts val="881"/>
              </a:lnSpc>
              <a:buNone/>
            </a:pPr>
            <a:r>
              <a:rPr lang="en-US" sz="705" b="1" dirty="0">
                <a:solidFill>
                  <a:srgbClr val="1B1A1A"/>
                </a:solidFill>
                <a:latin typeface="Quicksand" pitchFamily="34" charset="0"/>
              </a:rPr>
              <a:t>+4.2%</a:t>
            </a:r>
            <a:endParaRPr lang="en-US" sz="705" dirty="0"/>
          </a:p>
        </p:txBody>
      </p:sp>
      <p:sp>
        <p:nvSpPr>
          <p:cNvPr id="150" name="Text 149"/>
          <p:cNvSpPr txBox="1"/>
          <p:nvPr/>
        </p:nvSpPr>
        <p:spPr>
          <a:xfrm>
            <a:off x="7093148" y="6559153"/>
            <a:ext cx="826504" cy="111919"/>
          </a:xfrm>
          <a:prstGeom prst="rect">
            <a:avLst/>
          </a:prstGeom>
          <a:noFill/>
          <a:ln/>
        </p:spPr>
        <p:txBody>
          <a:bodyPr wrap="none" lIns="0" tIns="0" rIns="0" bIns="0" rtlCol="0" anchor="t"/>
          <a:lstStyle/>
          <a:p>
            <a:pPr marL="0" indent="0" algn="ctr">
              <a:lnSpc>
                <a:spcPts val="881"/>
              </a:lnSpc>
              <a:buNone/>
            </a:pPr>
            <a:r>
              <a:rPr lang="en-US" sz="705" b="1" dirty="0">
                <a:solidFill>
                  <a:srgbClr val="1B1A1A"/>
                </a:solidFill>
                <a:latin typeface="Quicksand" pitchFamily="34" charset="0"/>
              </a:rPr>
              <a:t>+6.3%</a:t>
            </a:r>
            <a:endParaRPr lang="en-US" sz="705" dirty="0"/>
          </a:p>
        </p:txBody>
      </p:sp>
      <p:sp>
        <p:nvSpPr>
          <p:cNvPr id="151" name="Text 150"/>
          <p:cNvSpPr txBox="1"/>
          <p:nvPr/>
        </p:nvSpPr>
        <p:spPr>
          <a:xfrm>
            <a:off x="7930976" y="6559153"/>
            <a:ext cx="827129" cy="111919"/>
          </a:xfrm>
          <a:prstGeom prst="rect">
            <a:avLst/>
          </a:prstGeom>
          <a:noFill/>
          <a:ln/>
        </p:spPr>
        <p:txBody>
          <a:bodyPr wrap="none" lIns="0" tIns="0" rIns="0" bIns="0" rtlCol="0" anchor="t"/>
          <a:lstStyle/>
          <a:p>
            <a:pPr marL="0" indent="0" algn="ctr">
              <a:lnSpc>
                <a:spcPts val="881"/>
              </a:lnSpc>
              <a:buNone/>
            </a:pPr>
            <a:r>
              <a:rPr lang="en-US" sz="705" b="1" dirty="0">
                <a:solidFill>
                  <a:srgbClr val="1B1A1A"/>
                </a:solidFill>
                <a:latin typeface="Quicksand" pitchFamily="34" charset="0"/>
              </a:rPr>
              <a:t>+8.7%</a:t>
            </a:r>
            <a:endParaRPr lang="en-US" sz="705" dirty="0"/>
          </a:p>
        </p:txBody>
      </p:sp>
      <p:sp>
        <p:nvSpPr>
          <p:cNvPr id="152" name="Text 151"/>
          <p:cNvSpPr txBox="1"/>
          <p:nvPr/>
        </p:nvSpPr>
        <p:spPr>
          <a:xfrm>
            <a:off x="8768804" y="6559153"/>
            <a:ext cx="827929" cy="111919"/>
          </a:xfrm>
          <a:prstGeom prst="rect">
            <a:avLst/>
          </a:prstGeom>
          <a:noFill/>
          <a:ln/>
        </p:spPr>
        <p:txBody>
          <a:bodyPr wrap="none" lIns="0" tIns="0" rIns="0" bIns="0" rtlCol="0" anchor="t"/>
          <a:lstStyle/>
          <a:p>
            <a:pPr marL="0" indent="0" algn="ctr">
              <a:lnSpc>
                <a:spcPts val="881"/>
              </a:lnSpc>
              <a:buNone/>
            </a:pPr>
            <a:r>
              <a:rPr lang="en-US" sz="705" b="1" dirty="0">
                <a:solidFill>
                  <a:srgbClr val="1B1A1A"/>
                </a:solidFill>
                <a:latin typeface="Quicksand" pitchFamily="34" charset="0"/>
              </a:rPr>
              <a:t>+8.4%</a:t>
            </a:r>
            <a:endParaRPr lang="en-US" sz="705" dirty="0"/>
          </a:p>
        </p:txBody>
      </p:sp>
      <p:sp>
        <p:nvSpPr>
          <p:cNvPr id="153" name="Text 152"/>
          <p:cNvSpPr txBox="1"/>
          <p:nvPr/>
        </p:nvSpPr>
        <p:spPr>
          <a:xfrm>
            <a:off x="5415111" y="6702028"/>
            <a:ext cx="829803" cy="111919"/>
          </a:xfrm>
          <a:prstGeom prst="rect">
            <a:avLst/>
          </a:prstGeom>
          <a:noFill/>
          <a:ln/>
        </p:spPr>
        <p:txBody>
          <a:bodyPr wrap="none" lIns="0" tIns="0" rIns="0" bIns="0" rtlCol="0" anchor="t"/>
          <a:lstStyle/>
          <a:p>
            <a:pPr marL="0" indent="0" algn="ctr">
              <a:lnSpc>
                <a:spcPts val="881"/>
              </a:lnSpc>
              <a:buNone/>
            </a:pPr>
            <a:r>
              <a:rPr lang="en-US" sz="705" b="1" dirty="0">
                <a:solidFill>
                  <a:srgbClr val="1B1A1A"/>
                </a:solidFill>
                <a:latin typeface="Quicksand" pitchFamily="34" charset="0"/>
              </a:rPr>
              <a:t>+2.4%</a:t>
            </a:r>
            <a:endParaRPr lang="en-US" sz="705" dirty="0"/>
          </a:p>
        </p:txBody>
      </p:sp>
      <p:sp>
        <p:nvSpPr>
          <p:cNvPr id="154" name="Text 153"/>
          <p:cNvSpPr txBox="1"/>
          <p:nvPr/>
        </p:nvSpPr>
        <p:spPr>
          <a:xfrm>
            <a:off x="6254948" y="6702028"/>
            <a:ext cx="826504" cy="111919"/>
          </a:xfrm>
          <a:prstGeom prst="rect">
            <a:avLst/>
          </a:prstGeom>
          <a:noFill/>
          <a:ln/>
        </p:spPr>
        <p:txBody>
          <a:bodyPr wrap="none" lIns="0" tIns="0" rIns="0" bIns="0" rtlCol="0" anchor="t"/>
          <a:lstStyle/>
          <a:p>
            <a:pPr marL="0" indent="0" algn="ctr">
              <a:lnSpc>
                <a:spcPts val="881"/>
              </a:lnSpc>
              <a:buNone/>
            </a:pPr>
            <a:r>
              <a:rPr lang="en-US" sz="705" b="1" dirty="0">
                <a:solidFill>
                  <a:srgbClr val="1B1A1A"/>
                </a:solidFill>
                <a:latin typeface="Quicksand" pitchFamily="34" charset="0"/>
              </a:rPr>
              <a:t>+3.6%</a:t>
            </a:r>
            <a:endParaRPr lang="en-US" sz="705" dirty="0"/>
          </a:p>
        </p:txBody>
      </p:sp>
      <p:sp>
        <p:nvSpPr>
          <p:cNvPr id="155" name="Text 154"/>
          <p:cNvSpPr txBox="1"/>
          <p:nvPr/>
        </p:nvSpPr>
        <p:spPr>
          <a:xfrm>
            <a:off x="7089800" y="6702028"/>
            <a:ext cx="833112" cy="111919"/>
          </a:xfrm>
          <a:prstGeom prst="rect">
            <a:avLst/>
          </a:prstGeom>
          <a:noFill/>
          <a:ln/>
        </p:spPr>
        <p:txBody>
          <a:bodyPr wrap="none" lIns="0" tIns="0" rIns="0" bIns="0" rtlCol="0" anchor="t"/>
          <a:lstStyle/>
          <a:p>
            <a:pPr marL="0" indent="0" algn="ctr">
              <a:lnSpc>
                <a:spcPts val="881"/>
              </a:lnSpc>
              <a:buNone/>
            </a:pPr>
            <a:r>
              <a:rPr lang="en-US" sz="705" b="1" dirty="0">
                <a:solidFill>
                  <a:srgbClr val="1B1A1A"/>
                </a:solidFill>
                <a:latin typeface="Quicksand" pitchFamily="34" charset="0"/>
              </a:rPr>
              <a:t>+4.5%</a:t>
            </a:r>
            <a:endParaRPr lang="en-US" sz="705" dirty="0"/>
          </a:p>
        </p:txBody>
      </p:sp>
      <p:sp>
        <p:nvSpPr>
          <p:cNvPr id="156" name="Text 155"/>
          <p:cNvSpPr txBox="1"/>
          <p:nvPr/>
        </p:nvSpPr>
        <p:spPr>
          <a:xfrm>
            <a:off x="7929190" y="6702028"/>
            <a:ext cx="830700" cy="111919"/>
          </a:xfrm>
          <a:prstGeom prst="rect">
            <a:avLst/>
          </a:prstGeom>
          <a:noFill/>
          <a:ln/>
        </p:spPr>
        <p:txBody>
          <a:bodyPr wrap="none" lIns="0" tIns="0" rIns="0" bIns="0" rtlCol="0" anchor="t"/>
          <a:lstStyle/>
          <a:p>
            <a:pPr marL="0" indent="0" algn="ctr">
              <a:lnSpc>
                <a:spcPts val="881"/>
              </a:lnSpc>
              <a:buNone/>
            </a:pPr>
            <a:r>
              <a:rPr lang="en-US" sz="705" b="1" dirty="0">
                <a:solidFill>
                  <a:srgbClr val="1B1A1A"/>
                </a:solidFill>
                <a:latin typeface="Quicksand" pitchFamily="34" charset="0"/>
              </a:rPr>
              <a:t>+4.7%</a:t>
            </a:r>
            <a:endParaRPr lang="en-US" sz="705" dirty="0"/>
          </a:p>
        </p:txBody>
      </p:sp>
      <p:sp>
        <p:nvSpPr>
          <p:cNvPr id="157" name="Text 156"/>
          <p:cNvSpPr txBox="1"/>
          <p:nvPr/>
        </p:nvSpPr>
        <p:spPr>
          <a:xfrm>
            <a:off x="8776841" y="6702028"/>
            <a:ext cx="811941" cy="111919"/>
          </a:xfrm>
          <a:prstGeom prst="rect">
            <a:avLst/>
          </a:prstGeom>
          <a:noFill/>
          <a:ln/>
        </p:spPr>
        <p:txBody>
          <a:bodyPr wrap="none" lIns="0" tIns="0" rIns="0" bIns="0" rtlCol="0" anchor="t"/>
          <a:lstStyle/>
          <a:p>
            <a:pPr marL="0" indent="0" algn="ctr">
              <a:lnSpc>
                <a:spcPts val="881"/>
              </a:lnSpc>
              <a:buNone/>
            </a:pPr>
            <a:r>
              <a:rPr lang="en-US" sz="705" b="1" dirty="0">
                <a:solidFill>
                  <a:srgbClr val="1B1A1A"/>
                </a:solidFill>
                <a:latin typeface="Quicksand" pitchFamily="34" charset="0"/>
              </a:rPr>
              <a:t>+4.1%</a:t>
            </a:r>
            <a:endParaRPr lang="en-US" sz="705" dirty="0"/>
          </a:p>
        </p:txBody>
      </p:sp>
      <p:sp>
        <p:nvSpPr>
          <p:cNvPr id="158" name="Shape 157"/>
          <p:cNvSpPr/>
          <p:nvPr/>
        </p:nvSpPr>
        <p:spPr>
          <a:xfrm>
            <a:off x="419100" y="7029450"/>
            <a:ext cx="9220200" cy="9525"/>
          </a:xfrm>
          <a:prstGeom prst="rect">
            <a:avLst/>
          </a:prstGeom>
          <a:solidFill>
            <a:srgbClr val="E3DCD3"/>
          </a:solidFill>
          <a:ln/>
        </p:spPr>
        <p:txBody>
          <a:bodyPr/>
          <a:lstStyle/>
          <a:p>
            <a:endParaRPr lang="en-US"/>
          </a:p>
        </p:txBody>
      </p:sp>
      <p:pic>
        <p:nvPicPr>
          <p:cNvPr id="159" name="Benchmark International" descr="Benchmark International"/>
          <p:cNvPicPr>
            <a:picLocks noChangeAspect="1"/>
          </p:cNvPicPr>
          <p:nvPr/>
        </p:nvPicPr>
        <p:blipFill>
          <a:blip r:embed="rId10"/>
          <a:stretch>
            <a:fillRect/>
          </a:stretch>
        </p:blipFill>
        <p:spPr>
          <a:xfrm>
            <a:off x="419100" y="7143750"/>
            <a:ext cx="914400" cy="171450"/>
          </a:xfrm>
          <a:prstGeom prst="rect">
            <a:avLst/>
          </a:prstGeom>
        </p:spPr>
      </p:pic>
      <p:sp>
        <p:nvSpPr>
          <p:cNvPr id="160" name="Text 159"/>
          <p:cNvSpPr txBox="1"/>
          <p:nvPr/>
        </p:nvSpPr>
        <p:spPr>
          <a:xfrm>
            <a:off x="1543050" y="7098506"/>
            <a:ext cx="7658100" cy="238125"/>
          </a:xfrm>
          <a:prstGeom prst="rect">
            <a:avLst/>
          </a:prstGeom>
          <a:noFill/>
          <a:ln/>
        </p:spPr>
        <p:txBody>
          <a:bodyPr wrap="square" lIns="0" tIns="0" rIns="0" bIns="0" rtlCol="0" anchor="t"/>
          <a:lstStyle/>
          <a:p>
            <a:pPr marL="0" indent="0" algn="l">
              <a:lnSpc>
                <a:spcPts val="938"/>
              </a:lnSpc>
              <a:buNone/>
            </a:pPr>
            <a:r>
              <a:rPr lang="en-US" sz="675" kern="0" spc="15" dirty="0">
                <a:solidFill>
                  <a:srgbClr val="6F6A66"/>
                </a:solidFill>
                <a:latin typeface="Quicksand" pitchFamily="34" charset="0"/>
              </a:rPr>
              <a:t>Medians of fiscal-year revenue growth, including acquisitions, with the number of companies in brackets. Shaded years are analyst consensus, and the rows under each chart give the plotted values in the order of the key. Middleby is left out because its revenue was restated for a spin-off. Source: </a:t>
            </a:r>
            <a:r>
              <a:rPr lang="en-US" sz="675" u="sng" kern="0" spc="15" dirty="0">
                <a:solidFill>
                  <a:srgbClr val="8C6239"/>
                </a:solidFill>
                <a:latin typeface="Quicksand" pitchFamily="34" charset="0"/>
                <a:hlinkClick r:id="rId11">
                  <a:extLst>
                    <a:ext uri="{A12FA001-AC4F-418D-AE19-62706E023703}">
                      <ahyp:hlinkClr xmlns:ahyp="http://schemas.microsoft.com/office/drawing/2018/hyperlinkcolor" val="tx"/>
                    </a:ext>
                  </a:extLst>
                </a:hlinkClick>
              </a:rPr>
              <a:t>StockAnalysis</a:t>
            </a:r>
            <a:r>
              <a:rPr lang="en-US" sz="675" kern="0" spc="15" dirty="0">
                <a:solidFill>
                  <a:srgbClr val="6F6A66"/>
                </a:solidFill>
                <a:latin typeface="Quicksand" pitchFamily="34" charset="0"/>
              </a:rPr>
              <a:t>, retrieved October 7, 2026.</a:t>
            </a:r>
            <a:endParaRPr lang="en-US" sz="675" dirty="0"/>
          </a:p>
        </p:txBody>
      </p:sp>
      <p:sp>
        <p:nvSpPr>
          <p:cNvPr id="161" name="Text 160"/>
          <p:cNvSpPr txBox="1"/>
          <p:nvPr/>
        </p:nvSpPr>
        <p:spPr>
          <a:xfrm>
            <a:off x="9517261" y="7162800"/>
            <a:ext cx="179189" cy="133350"/>
          </a:xfrm>
          <a:prstGeom prst="rect">
            <a:avLst/>
          </a:prstGeom>
          <a:noFill/>
          <a:ln/>
        </p:spPr>
        <p:txBody>
          <a:bodyPr wrap="none" lIns="0" tIns="0" rIns="0" bIns="0" rtlCol="0" anchor="t"/>
          <a:lstStyle/>
          <a:p>
            <a:pPr marL="0" indent="0" algn="l">
              <a:lnSpc>
                <a:spcPts val="1050"/>
              </a:lnSpc>
              <a:buNone/>
            </a:pPr>
            <a:r>
              <a:rPr lang="en-US" sz="713" b="1" kern="0" spc="150" dirty="0">
                <a:solidFill>
                  <a:srgbClr val="1B1A1A"/>
                </a:solidFill>
                <a:latin typeface="Quicksand" pitchFamily="34" charset="0"/>
              </a:rPr>
              <a:t>13</a:t>
            </a:r>
            <a:endParaRPr lang="en-US" sz="713"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1"/>
          <p:cNvSpPr/>
          <p:nvPr/>
        </p:nvSpPr>
        <p:spPr>
          <a:xfrm>
            <a:off x="0" y="0"/>
            <a:ext cx="10058400" cy="7772400"/>
          </a:xfrm>
          <a:prstGeom prst="rect">
            <a:avLst/>
          </a:prstGeom>
          <a:solidFill>
            <a:srgbClr val="FFFFFF"/>
          </a:solidFill>
          <a:ln/>
        </p:spPr>
        <p:txBody>
          <a:bodyPr/>
          <a:lstStyle/>
          <a:p>
            <a:endParaRPr lang="en-US"/>
          </a:p>
        </p:txBody>
      </p:sp>
      <p:sp>
        <p:nvSpPr>
          <p:cNvPr id="3" name="Shape 2"/>
          <p:cNvSpPr/>
          <p:nvPr/>
        </p:nvSpPr>
        <p:spPr>
          <a:xfrm>
            <a:off x="0" y="0"/>
            <a:ext cx="57150" cy="7772400"/>
          </a:xfrm>
          <a:prstGeom prst="rect">
            <a:avLst/>
          </a:prstGeom>
          <a:solidFill>
            <a:srgbClr val="B68757"/>
          </a:solidFill>
          <a:ln/>
        </p:spPr>
        <p:txBody>
          <a:bodyPr/>
          <a:lstStyle/>
          <a:p>
            <a:endParaRPr lang="en-US"/>
          </a:p>
        </p:txBody>
      </p:sp>
      <p:sp>
        <p:nvSpPr>
          <p:cNvPr id="4" name="Text 3"/>
          <p:cNvSpPr txBox="1"/>
          <p:nvPr/>
        </p:nvSpPr>
        <p:spPr>
          <a:xfrm>
            <a:off x="419100" y="376238"/>
            <a:ext cx="2618929" cy="133350"/>
          </a:xfrm>
          <a:prstGeom prst="rect">
            <a:avLst/>
          </a:prstGeom>
          <a:noFill/>
          <a:ln/>
        </p:spPr>
        <p:txBody>
          <a:bodyPr wrap="none" lIns="0" tIns="0" rIns="0" bIns="0" rtlCol="0" anchor="t"/>
          <a:lstStyle/>
          <a:p>
            <a:pPr marL="0" indent="0" algn="l">
              <a:lnSpc>
                <a:spcPts val="1050"/>
              </a:lnSpc>
              <a:buNone/>
            </a:pPr>
            <a:r>
              <a:rPr lang="en-US" sz="675" b="1" kern="0" spc="195" dirty="0">
                <a:solidFill>
                  <a:srgbClr val="8C6239"/>
                </a:solidFill>
                <a:latin typeface="Quicksand" pitchFamily="34" charset="0"/>
              </a:rPr>
              <a:t>CONSUMER  |  QUARTERLY SECTOR BRIEF</a:t>
            </a:r>
            <a:endParaRPr lang="en-US" sz="675" dirty="0"/>
          </a:p>
        </p:txBody>
      </p:sp>
      <p:sp>
        <p:nvSpPr>
          <p:cNvPr id="5" name="Text 4"/>
          <p:cNvSpPr txBox="1"/>
          <p:nvPr/>
        </p:nvSpPr>
        <p:spPr>
          <a:xfrm>
            <a:off x="9112597" y="381000"/>
            <a:ext cx="583853" cy="171450"/>
          </a:xfrm>
          <a:prstGeom prst="rect">
            <a:avLst/>
          </a:prstGeom>
          <a:noFill/>
          <a:ln/>
        </p:spPr>
        <p:txBody>
          <a:bodyPr wrap="none" lIns="0" tIns="0" rIns="0" bIns="0" rtlCol="0" anchor="t"/>
          <a:lstStyle/>
          <a:p>
            <a:pPr marL="0" indent="0" algn="l">
              <a:lnSpc>
                <a:spcPts val="1350"/>
              </a:lnSpc>
              <a:buNone/>
            </a:pPr>
            <a:r>
              <a:rPr lang="en-US" sz="900" kern="0" spc="90" dirty="0">
                <a:solidFill>
                  <a:srgbClr val="6F6A66"/>
                </a:solidFill>
                <a:latin typeface="Cinzel" pitchFamily="34" charset="0"/>
              </a:rPr>
              <a:t>Q4 2026</a:t>
            </a:r>
            <a:endParaRPr lang="en-US" sz="900" dirty="0"/>
          </a:p>
        </p:txBody>
      </p:sp>
      <p:sp>
        <p:nvSpPr>
          <p:cNvPr id="6" name="Text 5"/>
          <p:cNvSpPr txBox="1"/>
          <p:nvPr/>
        </p:nvSpPr>
        <p:spPr>
          <a:xfrm>
            <a:off x="419100" y="519113"/>
            <a:ext cx="9220200" cy="323850"/>
          </a:xfrm>
          <a:prstGeom prst="rect">
            <a:avLst/>
          </a:prstGeom>
          <a:noFill/>
          <a:ln/>
        </p:spPr>
        <p:txBody>
          <a:bodyPr wrap="none" lIns="0" tIns="0" rIns="0" bIns="0" rtlCol="0" anchor="t"/>
          <a:lstStyle/>
          <a:p>
            <a:pPr marL="0" indent="0" algn="l">
              <a:lnSpc>
                <a:spcPts val="2550"/>
              </a:lnSpc>
              <a:buNone/>
            </a:pPr>
            <a:r>
              <a:rPr lang="en-US" sz="2025" kern="0" spc="15" dirty="0">
                <a:solidFill>
                  <a:srgbClr val="1B1A1A"/>
                </a:solidFill>
                <a:latin typeface="Newsreader SemiBold" pitchFamily="34" charset="0"/>
              </a:rPr>
              <a:t>Public Company Valuation Metrics</a:t>
            </a:r>
            <a:endParaRPr lang="en-US" sz="2025" dirty="0"/>
          </a:p>
        </p:txBody>
      </p:sp>
      <p:sp>
        <p:nvSpPr>
          <p:cNvPr id="7" name="Text 6"/>
          <p:cNvSpPr txBox="1"/>
          <p:nvPr/>
        </p:nvSpPr>
        <p:spPr>
          <a:xfrm>
            <a:off x="419100" y="883444"/>
            <a:ext cx="9220200" cy="176213"/>
          </a:xfrm>
          <a:prstGeom prst="rect">
            <a:avLst/>
          </a:prstGeom>
          <a:noFill/>
          <a:ln/>
        </p:spPr>
        <p:txBody>
          <a:bodyPr wrap="none" lIns="0" tIns="0" rIns="0" bIns="0" rtlCol="0" anchor="t"/>
          <a:lstStyle/>
          <a:p>
            <a:pPr marL="0" indent="0" algn="l">
              <a:lnSpc>
                <a:spcPts val="1388"/>
              </a:lnSpc>
              <a:buNone/>
            </a:pPr>
            <a:r>
              <a:rPr lang="en-US" sz="938" kern="0" spc="15" dirty="0">
                <a:solidFill>
                  <a:srgbClr val="6F6A66"/>
                </a:solidFill>
                <a:latin typeface="Quicksand" pitchFamily="34" charset="0"/>
              </a:rPr>
              <a:t>The median multiple of EBITDA is lower than a year ago in every peer group, and packaged food companies trade near eight times.</a:t>
            </a:r>
            <a:endParaRPr lang="en-US" sz="938" dirty="0"/>
          </a:p>
        </p:txBody>
      </p:sp>
      <p:sp>
        <p:nvSpPr>
          <p:cNvPr id="8" name="Shape 7"/>
          <p:cNvSpPr/>
          <p:nvPr/>
        </p:nvSpPr>
        <p:spPr>
          <a:xfrm>
            <a:off x="419100" y="1143000"/>
            <a:ext cx="9220200" cy="9525"/>
          </a:xfrm>
          <a:prstGeom prst="rect">
            <a:avLst/>
          </a:prstGeom>
          <a:solidFill>
            <a:srgbClr val="E3DCD3"/>
          </a:solidFill>
          <a:ln/>
        </p:spPr>
        <p:txBody>
          <a:bodyPr/>
          <a:lstStyle/>
          <a:p>
            <a:endParaRPr lang="en-US"/>
          </a:p>
        </p:txBody>
      </p:sp>
      <p:sp>
        <p:nvSpPr>
          <p:cNvPr id="9" name="Shape 8"/>
          <p:cNvSpPr/>
          <p:nvPr/>
        </p:nvSpPr>
        <p:spPr>
          <a:xfrm>
            <a:off x="419100" y="1238250"/>
            <a:ext cx="2984450" cy="4762500"/>
          </a:xfrm>
          <a:prstGeom prst="rect">
            <a:avLst/>
          </a:prstGeom>
          <a:solidFill>
            <a:srgbClr val="FAF7F3"/>
          </a:solidFill>
          <a:ln/>
        </p:spPr>
        <p:txBody>
          <a:bodyPr/>
          <a:lstStyle/>
          <a:p>
            <a:endParaRPr lang="en-US"/>
          </a:p>
        </p:txBody>
      </p:sp>
      <p:sp>
        <p:nvSpPr>
          <p:cNvPr id="10" name="Shape 9"/>
          <p:cNvSpPr/>
          <p:nvPr/>
        </p:nvSpPr>
        <p:spPr>
          <a:xfrm>
            <a:off x="419100" y="1238250"/>
            <a:ext cx="2984450" cy="28575"/>
          </a:xfrm>
          <a:prstGeom prst="rect">
            <a:avLst/>
          </a:prstGeom>
          <a:solidFill>
            <a:srgbClr val="B68757"/>
          </a:solidFill>
          <a:ln/>
        </p:spPr>
        <p:txBody>
          <a:bodyPr/>
          <a:lstStyle/>
          <a:p>
            <a:endParaRPr lang="en-US"/>
          </a:p>
        </p:txBody>
      </p:sp>
      <p:sp>
        <p:nvSpPr>
          <p:cNvPr id="11" name="Text 10"/>
          <p:cNvSpPr txBox="1"/>
          <p:nvPr/>
        </p:nvSpPr>
        <p:spPr>
          <a:xfrm>
            <a:off x="571500" y="1385888"/>
            <a:ext cx="2679650" cy="161925"/>
          </a:xfrm>
          <a:prstGeom prst="rect">
            <a:avLst/>
          </a:prstGeom>
          <a:noFill/>
          <a:ln/>
        </p:spPr>
        <p:txBody>
          <a:bodyPr wrap="none" lIns="0" tIns="0" rIns="0" bIns="0" rtlCol="0" anchor="t"/>
          <a:lstStyle/>
          <a:p>
            <a:pPr marL="0" indent="0" algn="l">
              <a:lnSpc>
                <a:spcPts val="1275"/>
              </a:lnSpc>
              <a:buNone/>
            </a:pPr>
            <a:r>
              <a:rPr lang="en-US" sz="938" b="1" kern="0" spc="15" dirty="0">
                <a:solidFill>
                  <a:srgbClr val="1B1A1A"/>
                </a:solidFill>
                <a:latin typeface="Quicksand" pitchFamily="34" charset="0"/>
              </a:rPr>
              <a:t>Median enterprise value to revenue</a:t>
            </a:r>
            <a:endParaRPr lang="en-US" sz="938" dirty="0"/>
          </a:p>
        </p:txBody>
      </p:sp>
      <p:sp>
        <p:nvSpPr>
          <p:cNvPr id="12" name="Text 11"/>
          <p:cNvSpPr txBox="1"/>
          <p:nvPr/>
        </p:nvSpPr>
        <p:spPr>
          <a:xfrm>
            <a:off x="571500" y="1552575"/>
            <a:ext cx="2679650" cy="123825"/>
          </a:xfrm>
          <a:prstGeom prst="rect">
            <a:avLst/>
          </a:prstGeom>
          <a:noFill/>
          <a:ln/>
        </p:spPr>
        <p:txBody>
          <a:bodyPr wrap="none" lIns="0" tIns="0" rIns="0" bIns="0" rtlCol="0" anchor="t"/>
          <a:lstStyle/>
          <a:p>
            <a:pPr marL="0" indent="0" algn="l">
              <a:lnSpc>
                <a:spcPts val="975"/>
              </a:lnSpc>
              <a:buNone/>
            </a:pPr>
            <a:r>
              <a:rPr lang="en-US" sz="705" kern="0" spc="15" dirty="0">
                <a:solidFill>
                  <a:srgbClr val="6F6A66"/>
                </a:solidFill>
                <a:latin typeface="Quicksand" pitchFamily="34" charset="0"/>
              </a:rPr>
              <a:t>Trailing twelve months</a:t>
            </a:r>
            <a:endParaRPr lang="en-US" sz="705" dirty="0"/>
          </a:p>
        </p:txBody>
      </p:sp>
      <p:sp>
        <p:nvSpPr>
          <p:cNvPr id="13" name="Text 12"/>
          <p:cNvSpPr txBox="1"/>
          <p:nvPr/>
        </p:nvSpPr>
        <p:spPr>
          <a:xfrm>
            <a:off x="571500" y="1747838"/>
            <a:ext cx="2679650" cy="161925"/>
          </a:xfrm>
          <a:prstGeom prst="rect">
            <a:avLst/>
          </a:prstGeom>
          <a:noFill/>
          <a:ln/>
        </p:spPr>
        <p:txBody>
          <a:bodyPr wrap="none" lIns="0" tIns="0" rIns="0" bIns="0" rtlCol="0" anchor="t"/>
          <a:lstStyle/>
          <a:p>
            <a:pPr marL="0" indent="0" algn="l">
              <a:lnSpc>
                <a:spcPts val="1275"/>
              </a:lnSpc>
              <a:buNone/>
            </a:pPr>
            <a:r>
              <a:rPr lang="en-US" sz="615" b="1" kern="0" spc="135" dirty="0">
                <a:solidFill>
                  <a:srgbClr val="8C6239"/>
                </a:solidFill>
                <a:latin typeface="Quicksand" pitchFamily="34" charset="0"/>
              </a:rPr>
              <a:t>FOOD &amp; BEVERAGE</a:t>
            </a:r>
            <a:endParaRPr lang="en-US" sz="615" dirty="0"/>
          </a:p>
        </p:txBody>
      </p:sp>
      <p:sp>
        <p:nvSpPr>
          <p:cNvPr id="14" name="Text 13"/>
          <p:cNvSpPr txBox="1"/>
          <p:nvPr/>
        </p:nvSpPr>
        <p:spPr>
          <a:xfrm>
            <a:off x="571500" y="2024062"/>
            <a:ext cx="1200150" cy="123825"/>
          </a:xfrm>
          <a:prstGeom prst="rect">
            <a:avLst/>
          </a:prstGeom>
          <a:noFill/>
          <a:ln/>
        </p:spPr>
        <p:txBody>
          <a:bodyPr wrap="none" lIns="0" tIns="0" rIns="0" bIns="0" rtlCol="0" anchor="t"/>
          <a:lstStyle/>
          <a:p>
            <a:pPr marL="0" indent="0" algn="l">
              <a:lnSpc>
                <a:spcPts val="975"/>
              </a:lnSpc>
              <a:buNone/>
            </a:pPr>
            <a:r>
              <a:rPr lang="en-US" sz="795" kern="0" spc="15" dirty="0">
                <a:solidFill>
                  <a:srgbClr val="333231"/>
                </a:solidFill>
                <a:latin typeface="Quicksand SemiBold" pitchFamily="34" charset="0"/>
              </a:rPr>
              <a:t>Packaged food</a:t>
            </a:r>
            <a:endParaRPr lang="en-US" sz="795" dirty="0"/>
          </a:p>
        </p:txBody>
      </p:sp>
      <p:sp>
        <p:nvSpPr>
          <p:cNvPr id="15" name="Shape 14"/>
          <p:cNvSpPr/>
          <p:nvPr/>
        </p:nvSpPr>
        <p:spPr>
          <a:xfrm>
            <a:off x="1771650" y="1933575"/>
            <a:ext cx="9525" cy="314325"/>
          </a:xfrm>
          <a:prstGeom prst="rect">
            <a:avLst/>
          </a:prstGeom>
          <a:solidFill>
            <a:srgbClr val="C3BDB6"/>
          </a:solidFill>
          <a:ln/>
        </p:spPr>
        <p:txBody>
          <a:bodyPr/>
          <a:lstStyle/>
          <a:p>
            <a:endParaRPr lang="en-US"/>
          </a:p>
        </p:txBody>
      </p:sp>
      <p:sp>
        <p:nvSpPr>
          <p:cNvPr id="16" name="Shape 15"/>
          <p:cNvSpPr/>
          <p:nvPr/>
        </p:nvSpPr>
        <p:spPr>
          <a:xfrm>
            <a:off x="1771650" y="2028825"/>
            <a:ext cx="320873" cy="114300"/>
          </a:xfrm>
          <a:prstGeom prst="rect">
            <a:avLst/>
          </a:prstGeom>
          <a:solidFill>
            <a:srgbClr val="B68757"/>
          </a:solidFill>
          <a:ln/>
        </p:spPr>
        <p:txBody>
          <a:bodyPr/>
          <a:lstStyle/>
          <a:p>
            <a:endParaRPr lang="en-US"/>
          </a:p>
        </p:txBody>
      </p:sp>
      <p:sp>
        <p:nvSpPr>
          <p:cNvPr id="17" name="Text 16"/>
          <p:cNvSpPr txBox="1"/>
          <p:nvPr/>
        </p:nvSpPr>
        <p:spPr>
          <a:xfrm>
            <a:off x="2149673" y="2005013"/>
            <a:ext cx="235000" cy="161925"/>
          </a:xfrm>
          <a:prstGeom prst="rect">
            <a:avLst/>
          </a:prstGeom>
          <a:noFill/>
          <a:ln/>
        </p:spPr>
        <p:txBody>
          <a:bodyPr wrap="none" lIns="0" tIns="0" rIns="0" bIns="0" rtlCol="0" anchor="t"/>
          <a:lstStyle/>
          <a:p>
            <a:pPr marL="0" indent="0" algn="l">
              <a:lnSpc>
                <a:spcPts val="1275"/>
              </a:lnSpc>
              <a:buNone/>
            </a:pPr>
            <a:r>
              <a:rPr lang="en-US" sz="788" b="1" kern="0" spc="15" dirty="0">
                <a:solidFill>
                  <a:srgbClr val="1B1A1A"/>
                </a:solidFill>
                <a:latin typeface="Quicksand" pitchFamily="34" charset="0"/>
              </a:rPr>
              <a:t>1.5x</a:t>
            </a:r>
            <a:endParaRPr lang="en-US" sz="788" dirty="0"/>
          </a:p>
        </p:txBody>
      </p:sp>
      <p:sp>
        <p:nvSpPr>
          <p:cNvPr id="18" name="Text 17"/>
          <p:cNvSpPr txBox="1"/>
          <p:nvPr/>
        </p:nvSpPr>
        <p:spPr>
          <a:xfrm>
            <a:off x="571500" y="2338388"/>
            <a:ext cx="1200150" cy="123825"/>
          </a:xfrm>
          <a:prstGeom prst="rect">
            <a:avLst/>
          </a:prstGeom>
          <a:noFill/>
          <a:ln/>
        </p:spPr>
        <p:txBody>
          <a:bodyPr wrap="none" lIns="0" tIns="0" rIns="0" bIns="0" rtlCol="0" anchor="t"/>
          <a:lstStyle/>
          <a:p>
            <a:pPr marL="0" indent="0" algn="l">
              <a:lnSpc>
                <a:spcPts val="975"/>
              </a:lnSpc>
              <a:buNone/>
            </a:pPr>
            <a:r>
              <a:rPr lang="en-US" sz="795" kern="0" spc="15" dirty="0">
                <a:solidFill>
                  <a:srgbClr val="333231"/>
                </a:solidFill>
                <a:latin typeface="Quicksand SemiBold" pitchFamily="34" charset="0"/>
              </a:rPr>
              <a:t>Snacks</a:t>
            </a:r>
            <a:endParaRPr lang="en-US" sz="795" dirty="0"/>
          </a:p>
        </p:txBody>
      </p:sp>
      <p:sp>
        <p:nvSpPr>
          <p:cNvPr id="19" name="Shape 18"/>
          <p:cNvSpPr/>
          <p:nvPr/>
        </p:nvSpPr>
        <p:spPr>
          <a:xfrm>
            <a:off x="1771650" y="2247900"/>
            <a:ext cx="9525" cy="314325"/>
          </a:xfrm>
          <a:prstGeom prst="rect">
            <a:avLst/>
          </a:prstGeom>
          <a:solidFill>
            <a:srgbClr val="C3BDB6"/>
          </a:solidFill>
          <a:ln/>
        </p:spPr>
        <p:txBody>
          <a:bodyPr/>
          <a:lstStyle/>
          <a:p>
            <a:endParaRPr lang="en-US"/>
          </a:p>
        </p:txBody>
      </p:sp>
      <p:sp>
        <p:nvSpPr>
          <p:cNvPr id="20" name="Shape 19"/>
          <p:cNvSpPr/>
          <p:nvPr/>
        </p:nvSpPr>
        <p:spPr>
          <a:xfrm>
            <a:off x="1771650" y="2343150"/>
            <a:ext cx="319088" cy="114300"/>
          </a:xfrm>
          <a:prstGeom prst="rect">
            <a:avLst/>
          </a:prstGeom>
          <a:solidFill>
            <a:srgbClr val="B68757"/>
          </a:solidFill>
          <a:ln/>
        </p:spPr>
        <p:txBody>
          <a:bodyPr/>
          <a:lstStyle/>
          <a:p>
            <a:endParaRPr lang="en-US"/>
          </a:p>
        </p:txBody>
      </p:sp>
      <p:sp>
        <p:nvSpPr>
          <p:cNvPr id="21" name="Text 20"/>
          <p:cNvSpPr txBox="1"/>
          <p:nvPr/>
        </p:nvSpPr>
        <p:spPr>
          <a:xfrm>
            <a:off x="2147888" y="2319338"/>
            <a:ext cx="235000" cy="161925"/>
          </a:xfrm>
          <a:prstGeom prst="rect">
            <a:avLst/>
          </a:prstGeom>
          <a:noFill/>
          <a:ln/>
        </p:spPr>
        <p:txBody>
          <a:bodyPr wrap="none" lIns="0" tIns="0" rIns="0" bIns="0" rtlCol="0" anchor="t"/>
          <a:lstStyle/>
          <a:p>
            <a:pPr marL="0" indent="0" algn="l">
              <a:lnSpc>
                <a:spcPts val="1275"/>
              </a:lnSpc>
              <a:buNone/>
            </a:pPr>
            <a:r>
              <a:rPr lang="en-US" sz="788" b="1" kern="0" spc="15" dirty="0">
                <a:solidFill>
                  <a:srgbClr val="1B1A1A"/>
                </a:solidFill>
                <a:latin typeface="Quicksand" pitchFamily="34" charset="0"/>
              </a:rPr>
              <a:t>1.5x</a:t>
            </a:r>
            <a:endParaRPr lang="en-US" sz="788" dirty="0"/>
          </a:p>
        </p:txBody>
      </p:sp>
      <p:sp>
        <p:nvSpPr>
          <p:cNvPr id="22" name="Text 21"/>
          <p:cNvSpPr txBox="1"/>
          <p:nvPr/>
        </p:nvSpPr>
        <p:spPr>
          <a:xfrm>
            <a:off x="571500" y="2652713"/>
            <a:ext cx="1200150" cy="123825"/>
          </a:xfrm>
          <a:prstGeom prst="rect">
            <a:avLst/>
          </a:prstGeom>
          <a:noFill/>
          <a:ln/>
        </p:spPr>
        <p:txBody>
          <a:bodyPr wrap="none" lIns="0" tIns="0" rIns="0" bIns="0" rtlCol="0" anchor="t"/>
          <a:lstStyle/>
          <a:p>
            <a:pPr marL="0" indent="0" algn="l">
              <a:lnSpc>
                <a:spcPts val="975"/>
              </a:lnSpc>
              <a:buNone/>
            </a:pPr>
            <a:r>
              <a:rPr lang="en-US" sz="795" kern="0" spc="15" dirty="0">
                <a:solidFill>
                  <a:srgbClr val="333231"/>
                </a:solidFill>
                <a:latin typeface="Quicksand SemiBold" pitchFamily="34" charset="0"/>
              </a:rPr>
              <a:t>Beverages</a:t>
            </a:r>
            <a:endParaRPr lang="en-US" sz="795" dirty="0"/>
          </a:p>
        </p:txBody>
      </p:sp>
      <p:sp>
        <p:nvSpPr>
          <p:cNvPr id="23" name="Shape 22"/>
          <p:cNvSpPr/>
          <p:nvPr/>
        </p:nvSpPr>
        <p:spPr>
          <a:xfrm>
            <a:off x="1771650" y="2562225"/>
            <a:ext cx="9525" cy="314325"/>
          </a:xfrm>
          <a:prstGeom prst="rect">
            <a:avLst/>
          </a:prstGeom>
          <a:solidFill>
            <a:srgbClr val="C3BDB6"/>
          </a:solidFill>
          <a:ln/>
        </p:spPr>
        <p:txBody>
          <a:bodyPr/>
          <a:lstStyle/>
          <a:p>
            <a:endParaRPr lang="en-US"/>
          </a:p>
        </p:txBody>
      </p:sp>
      <p:sp>
        <p:nvSpPr>
          <p:cNvPr id="24" name="Shape 23"/>
          <p:cNvSpPr/>
          <p:nvPr/>
        </p:nvSpPr>
        <p:spPr>
          <a:xfrm>
            <a:off x="1771650" y="2657475"/>
            <a:ext cx="708571" cy="114300"/>
          </a:xfrm>
          <a:prstGeom prst="rect">
            <a:avLst/>
          </a:prstGeom>
          <a:solidFill>
            <a:srgbClr val="B68757"/>
          </a:solidFill>
          <a:ln/>
        </p:spPr>
        <p:txBody>
          <a:bodyPr/>
          <a:lstStyle/>
          <a:p>
            <a:endParaRPr lang="en-US"/>
          </a:p>
        </p:txBody>
      </p:sp>
      <p:sp>
        <p:nvSpPr>
          <p:cNvPr id="25" name="Text 24"/>
          <p:cNvSpPr txBox="1"/>
          <p:nvPr/>
        </p:nvSpPr>
        <p:spPr>
          <a:xfrm>
            <a:off x="2537371" y="2633663"/>
            <a:ext cx="245864" cy="161925"/>
          </a:xfrm>
          <a:prstGeom prst="rect">
            <a:avLst/>
          </a:prstGeom>
          <a:noFill/>
          <a:ln/>
        </p:spPr>
        <p:txBody>
          <a:bodyPr wrap="none" lIns="0" tIns="0" rIns="0" bIns="0" rtlCol="0" anchor="t"/>
          <a:lstStyle/>
          <a:p>
            <a:pPr marL="0" indent="0" algn="l">
              <a:lnSpc>
                <a:spcPts val="1275"/>
              </a:lnSpc>
              <a:buNone/>
            </a:pPr>
            <a:r>
              <a:rPr lang="en-US" sz="788" b="1" kern="0" spc="15" dirty="0">
                <a:solidFill>
                  <a:srgbClr val="1B1A1A"/>
                </a:solidFill>
                <a:latin typeface="Quicksand" pitchFamily="34" charset="0"/>
              </a:rPr>
              <a:t>3.3x</a:t>
            </a:r>
            <a:endParaRPr lang="en-US" sz="788" dirty="0"/>
          </a:p>
        </p:txBody>
      </p:sp>
      <p:sp>
        <p:nvSpPr>
          <p:cNvPr id="26" name="Text 25"/>
          <p:cNvSpPr txBox="1"/>
          <p:nvPr/>
        </p:nvSpPr>
        <p:spPr>
          <a:xfrm>
            <a:off x="571500" y="2909888"/>
            <a:ext cx="2679650" cy="161925"/>
          </a:xfrm>
          <a:prstGeom prst="rect">
            <a:avLst/>
          </a:prstGeom>
          <a:noFill/>
          <a:ln/>
        </p:spPr>
        <p:txBody>
          <a:bodyPr wrap="none" lIns="0" tIns="0" rIns="0" bIns="0" rtlCol="0" anchor="t"/>
          <a:lstStyle/>
          <a:p>
            <a:pPr marL="0" indent="0" algn="l">
              <a:lnSpc>
                <a:spcPts val="1275"/>
              </a:lnSpc>
              <a:buNone/>
            </a:pPr>
            <a:r>
              <a:rPr lang="en-US" sz="615" b="1" kern="0" spc="135" dirty="0">
                <a:solidFill>
                  <a:srgbClr val="8C6239"/>
                </a:solidFill>
                <a:latin typeface="Quicksand" pitchFamily="34" charset="0"/>
              </a:rPr>
              <a:t>CONSUMER BRANDS &amp; PRODUCTS</a:t>
            </a:r>
            <a:endParaRPr lang="en-US" sz="615" dirty="0"/>
          </a:p>
        </p:txBody>
      </p:sp>
      <p:sp>
        <p:nvSpPr>
          <p:cNvPr id="27" name="Text 26"/>
          <p:cNvSpPr txBox="1"/>
          <p:nvPr/>
        </p:nvSpPr>
        <p:spPr>
          <a:xfrm>
            <a:off x="571500" y="3124200"/>
            <a:ext cx="1214438" cy="247650"/>
          </a:xfrm>
          <a:prstGeom prst="rect">
            <a:avLst/>
          </a:prstGeom>
          <a:noFill/>
          <a:ln/>
        </p:spPr>
        <p:txBody>
          <a:bodyPr wrap="square" lIns="0" tIns="0" rIns="0" bIns="0" rtlCol="0" anchor="t"/>
          <a:lstStyle/>
          <a:p>
            <a:pPr marL="0" indent="0" algn="l">
              <a:lnSpc>
                <a:spcPts val="975"/>
              </a:lnSpc>
              <a:buNone/>
            </a:pPr>
            <a:r>
              <a:rPr lang="en-US" sz="795" kern="0" spc="15" dirty="0">
                <a:solidFill>
                  <a:srgbClr val="333231"/>
                </a:solidFill>
                <a:latin typeface="Quicksand SemiBold" pitchFamily="34" charset="0"/>
              </a:rPr>
              <a:t>Household &amp; personal care</a:t>
            </a:r>
            <a:endParaRPr lang="en-US" sz="795" dirty="0"/>
          </a:p>
        </p:txBody>
      </p:sp>
      <p:sp>
        <p:nvSpPr>
          <p:cNvPr id="28" name="Shape 27"/>
          <p:cNvSpPr/>
          <p:nvPr/>
        </p:nvSpPr>
        <p:spPr>
          <a:xfrm>
            <a:off x="1771650" y="3095625"/>
            <a:ext cx="9525" cy="314325"/>
          </a:xfrm>
          <a:prstGeom prst="rect">
            <a:avLst/>
          </a:prstGeom>
          <a:solidFill>
            <a:srgbClr val="C3BDB6"/>
          </a:solidFill>
          <a:ln/>
        </p:spPr>
        <p:txBody>
          <a:bodyPr/>
          <a:lstStyle/>
          <a:p>
            <a:endParaRPr lang="en-US"/>
          </a:p>
        </p:txBody>
      </p:sp>
      <p:sp>
        <p:nvSpPr>
          <p:cNvPr id="29" name="Shape 28"/>
          <p:cNvSpPr/>
          <p:nvPr/>
        </p:nvSpPr>
        <p:spPr>
          <a:xfrm>
            <a:off x="1771650" y="3190875"/>
            <a:ext cx="794296" cy="114300"/>
          </a:xfrm>
          <a:prstGeom prst="rect">
            <a:avLst/>
          </a:prstGeom>
          <a:solidFill>
            <a:srgbClr val="B68757"/>
          </a:solidFill>
          <a:ln/>
        </p:spPr>
        <p:txBody>
          <a:bodyPr/>
          <a:lstStyle/>
          <a:p>
            <a:endParaRPr lang="en-US"/>
          </a:p>
        </p:txBody>
      </p:sp>
      <p:sp>
        <p:nvSpPr>
          <p:cNvPr id="30" name="Text 29"/>
          <p:cNvSpPr txBox="1"/>
          <p:nvPr/>
        </p:nvSpPr>
        <p:spPr>
          <a:xfrm>
            <a:off x="2623096" y="3167063"/>
            <a:ext cx="247055" cy="161925"/>
          </a:xfrm>
          <a:prstGeom prst="rect">
            <a:avLst/>
          </a:prstGeom>
          <a:noFill/>
          <a:ln/>
        </p:spPr>
        <p:txBody>
          <a:bodyPr wrap="none" lIns="0" tIns="0" rIns="0" bIns="0" rtlCol="0" anchor="t"/>
          <a:lstStyle/>
          <a:p>
            <a:pPr marL="0" indent="0" algn="l">
              <a:lnSpc>
                <a:spcPts val="1275"/>
              </a:lnSpc>
              <a:buNone/>
            </a:pPr>
            <a:r>
              <a:rPr lang="en-US" sz="788" b="1" kern="0" spc="15" dirty="0">
                <a:solidFill>
                  <a:srgbClr val="1B1A1A"/>
                </a:solidFill>
                <a:latin typeface="Quicksand" pitchFamily="34" charset="0"/>
              </a:rPr>
              <a:t>3.7x</a:t>
            </a:r>
            <a:endParaRPr lang="en-US" sz="788" dirty="0"/>
          </a:p>
        </p:txBody>
      </p:sp>
      <p:sp>
        <p:nvSpPr>
          <p:cNvPr id="31" name="Text 30"/>
          <p:cNvSpPr txBox="1"/>
          <p:nvPr/>
        </p:nvSpPr>
        <p:spPr>
          <a:xfrm>
            <a:off x="571500" y="3438525"/>
            <a:ext cx="1214438" cy="247650"/>
          </a:xfrm>
          <a:prstGeom prst="rect">
            <a:avLst/>
          </a:prstGeom>
          <a:noFill/>
          <a:ln/>
        </p:spPr>
        <p:txBody>
          <a:bodyPr wrap="square" lIns="0" tIns="0" rIns="0" bIns="0" rtlCol="0" anchor="t"/>
          <a:lstStyle/>
          <a:p>
            <a:pPr marL="0" indent="0" algn="l">
              <a:lnSpc>
                <a:spcPts val="975"/>
              </a:lnSpc>
              <a:buNone/>
            </a:pPr>
            <a:r>
              <a:rPr lang="en-US" sz="795" kern="0" spc="15" dirty="0">
                <a:solidFill>
                  <a:srgbClr val="333231"/>
                </a:solidFill>
                <a:latin typeface="Quicksand SemiBold" pitchFamily="34" charset="0"/>
              </a:rPr>
              <a:t>Durables, outdoor &amp; pet</a:t>
            </a:r>
            <a:endParaRPr lang="en-US" sz="795" dirty="0"/>
          </a:p>
        </p:txBody>
      </p:sp>
      <p:sp>
        <p:nvSpPr>
          <p:cNvPr id="32" name="Shape 31"/>
          <p:cNvSpPr/>
          <p:nvPr/>
        </p:nvSpPr>
        <p:spPr>
          <a:xfrm>
            <a:off x="1771650" y="3409950"/>
            <a:ext cx="9525" cy="314325"/>
          </a:xfrm>
          <a:prstGeom prst="rect">
            <a:avLst/>
          </a:prstGeom>
          <a:solidFill>
            <a:srgbClr val="C3BDB6"/>
          </a:solidFill>
          <a:ln/>
        </p:spPr>
        <p:txBody>
          <a:bodyPr/>
          <a:lstStyle/>
          <a:p>
            <a:endParaRPr lang="en-US"/>
          </a:p>
        </p:txBody>
      </p:sp>
      <p:sp>
        <p:nvSpPr>
          <p:cNvPr id="33" name="Shape 32"/>
          <p:cNvSpPr/>
          <p:nvPr/>
        </p:nvSpPr>
        <p:spPr>
          <a:xfrm>
            <a:off x="1771650" y="3505200"/>
            <a:ext cx="231428" cy="114300"/>
          </a:xfrm>
          <a:prstGeom prst="rect">
            <a:avLst/>
          </a:prstGeom>
          <a:solidFill>
            <a:srgbClr val="B68757"/>
          </a:solidFill>
          <a:ln/>
        </p:spPr>
        <p:txBody>
          <a:bodyPr/>
          <a:lstStyle/>
          <a:p>
            <a:endParaRPr lang="en-US"/>
          </a:p>
        </p:txBody>
      </p:sp>
      <p:sp>
        <p:nvSpPr>
          <p:cNvPr id="34" name="Text 33"/>
          <p:cNvSpPr txBox="1"/>
          <p:nvPr/>
        </p:nvSpPr>
        <p:spPr>
          <a:xfrm>
            <a:off x="2060228" y="3481388"/>
            <a:ext cx="211336" cy="161925"/>
          </a:xfrm>
          <a:prstGeom prst="rect">
            <a:avLst/>
          </a:prstGeom>
          <a:noFill/>
          <a:ln/>
        </p:spPr>
        <p:txBody>
          <a:bodyPr wrap="none" lIns="0" tIns="0" rIns="0" bIns="0" rtlCol="0" anchor="t"/>
          <a:lstStyle/>
          <a:p>
            <a:pPr marL="0" indent="0" algn="l">
              <a:lnSpc>
                <a:spcPts val="1275"/>
              </a:lnSpc>
              <a:buNone/>
            </a:pPr>
            <a:r>
              <a:rPr lang="en-US" sz="788" b="1" kern="0" spc="15" dirty="0">
                <a:solidFill>
                  <a:srgbClr val="1B1A1A"/>
                </a:solidFill>
                <a:latin typeface="Quicksand" pitchFamily="34" charset="0"/>
              </a:rPr>
              <a:t>1.1x</a:t>
            </a:r>
            <a:endParaRPr lang="en-US" sz="788" dirty="0"/>
          </a:p>
        </p:txBody>
      </p:sp>
      <p:sp>
        <p:nvSpPr>
          <p:cNvPr id="35" name="Text 34"/>
          <p:cNvSpPr txBox="1"/>
          <p:nvPr/>
        </p:nvSpPr>
        <p:spPr>
          <a:xfrm>
            <a:off x="571500" y="3757613"/>
            <a:ext cx="2679650" cy="161925"/>
          </a:xfrm>
          <a:prstGeom prst="rect">
            <a:avLst/>
          </a:prstGeom>
          <a:noFill/>
          <a:ln/>
        </p:spPr>
        <p:txBody>
          <a:bodyPr wrap="none" lIns="0" tIns="0" rIns="0" bIns="0" rtlCol="0" anchor="t"/>
          <a:lstStyle/>
          <a:p>
            <a:pPr marL="0" indent="0" algn="l">
              <a:lnSpc>
                <a:spcPts val="1275"/>
              </a:lnSpc>
              <a:buNone/>
            </a:pPr>
            <a:r>
              <a:rPr lang="en-US" sz="615" b="1" kern="0" spc="135" dirty="0">
                <a:solidFill>
                  <a:srgbClr val="8C6239"/>
                </a:solidFill>
                <a:latin typeface="Quicksand" pitchFamily="34" charset="0"/>
              </a:rPr>
              <a:t>FOODSERVICE &amp; DISTRIBUTION</a:t>
            </a:r>
            <a:endParaRPr lang="en-US" sz="615" dirty="0"/>
          </a:p>
        </p:txBody>
      </p:sp>
      <p:sp>
        <p:nvSpPr>
          <p:cNvPr id="36" name="Text 35"/>
          <p:cNvSpPr txBox="1"/>
          <p:nvPr/>
        </p:nvSpPr>
        <p:spPr>
          <a:xfrm>
            <a:off x="571500" y="3971925"/>
            <a:ext cx="1214438" cy="247650"/>
          </a:xfrm>
          <a:prstGeom prst="rect">
            <a:avLst/>
          </a:prstGeom>
          <a:noFill/>
          <a:ln/>
        </p:spPr>
        <p:txBody>
          <a:bodyPr wrap="square" lIns="0" tIns="0" rIns="0" bIns="0" rtlCol="0" anchor="t"/>
          <a:lstStyle/>
          <a:p>
            <a:pPr marL="0" indent="0" algn="l">
              <a:lnSpc>
                <a:spcPts val="975"/>
              </a:lnSpc>
              <a:buNone/>
            </a:pPr>
            <a:r>
              <a:rPr lang="en-US" sz="795" kern="0" spc="15" dirty="0">
                <a:solidFill>
                  <a:srgbClr val="333231"/>
                </a:solidFill>
                <a:latin typeface="Quicksand SemiBold" pitchFamily="34" charset="0"/>
              </a:rPr>
              <a:t>Foodservice distribution</a:t>
            </a:r>
            <a:endParaRPr lang="en-US" sz="795" dirty="0"/>
          </a:p>
        </p:txBody>
      </p:sp>
      <p:sp>
        <p:nvSpPr>
          <p:cNvPr id="37" name="Shape 36"/>
          <p:cNvSpPr/>
          <p:nvPr/>
        </p:nvSpPr>
        <p:spPr>
          <a:xfrm>
            <a:off x="1771650" y="3943350"/>
            <a:ext cx="9525" cy="314325"/>
          </a:xfrm>
          <a:prstGeom prst="rect">
            <a:avLst/>
          </a:prstGeom>
          <a:solidFill>
            <a:srgbClr val="C3BDB6"/>
          </a:solidFill>
          <a:ln/>
        </p:spPr>
        <p:txBody>
          <a:bodyPr/>
          <a:lstStyle/>
          <a:p>
            <a:endParaRPr lang="en-US"/>
          </a:p>
        </p:txBody>
      </p:sp>
      <p:sp>
        <p:nvSpPr>
          <p:cNvPr id="38" name="Shape 37"/>
          <p:cNvSpPr/>
          <p:nvPr/>
        </p:nvSpPr>
        <p:spPr>
          <a:xfrm>
            <a:off x="1771650" y="4038600"/>
            <a:ext cx="136178" cy="114300"/>
          </a:xfrm>
          <a:prstGeom prst="rect">
            <a:avLst/>
          </a:prstGeom>
          <a:solidFill>
            <a:srgbClr val="B68757"/>
          </a:solidFill>
          <a:ln/>
        </p:spPr>
        <p:txBody>
          <a:bodyPr/>
          <a:lstStyle/>
          <a:p>
            <a:endParaRPr lang="en-US"/>
          </a:p>
        </p:txBody>
      </p:sp>
      <p:sp>
        <p:nvSpPr>
          <p:cNvPr id="39" name="Text 38"/>
          <p:cNvSpPr txBox="1"/>
          <p:nvPr/>
        </p:nvSpPr>
        <p:spPr>
          <a:xfrm>
            <a:off x="1964978" y="4014788"/>
            <a:ext cx="255240" cy="161925"/>
          </a:xfrm>
          <a:prstGeom prst="rect">
            <a:avLst/>
          </a:prstGeom>
          <a:noFill/>
          <a:ln/>
        </p:spPr>
        <p:txBody>
          <a:bodyPr wrap="none" lIns="0" tIns="0" rIns="0" bIns="0" rtlCol="0" anchor="t"/>
          <a:lstStyle/>
          <a:p>
            <a:pPr marL="0" indent="0" algn="l">
              <a:lnSpc>
                <a:spcPts val="1275"/>
              </a:lnSpc>
              <a:buNone/>
            </a:pPr>
            <a:r>
              <a:rPr lang="en-US" sz="788" b="1" kern="0" spc="15" dirty="0">
                <a:solidFill>
                  <a:srgbClr val="1B1A1A"/>
                </a:solidFill>
                <a:latin typeface="Quicksand" pitchFamily="34" charset="0"/>
              </a:rPr>
              <a:t>0.6x</a:t>
            </a:r>
            <a:endParaRPr lang="en-US" sz="788" dirty="0"/>
          </a:p>
        </p:txBody>
      </p:sp>
      <p:sp>
        <p:nvSpPr>
          <p:cNvPr id="40" name="Text 39"/>
          <p:cNvSpPr txBox="1"/>
          <p:nvPr/>
        </p:nvSpPr>
        <p:spPr>
          <a:xfrm>
            <a:off x="571500" y="4291013"/>
            <a:ext cx="2679650" cy="161925"/>
          </a:xfrm>
          <a:prstGeom prst="rect">
            <a:avLst/>
          </a:prstGeom>
          <a:noFill/>
          <a:ln/>
        </p:spPr>
        <p:txBody>
          <a:bodyPr wrap="none" lIns="0" tIns="0" rIns="0" bIns="0" rtlCol="0" anchor="t"/>
          <a:lstStyle/>
          <a:p>
            <a:pPr marL="0" indent="0" algn="l">
              <a:lnSpc>
                <a:spcPts val="1275"/>
              </a:lnSpc>
              <a:buNone/>
            </a:pPr>
            <a:r>
              <a:rPr lang="en-US" sz="615" b="1" kern="0" spc="135" dirty="0">
                <a:solidFill>
                  <a:srgbClr val="8C6239"/>
                </a:solidFill>
                <a:latin typeface="Quicksand" pitchFamily="34" charset="0"/>
              </a:rPr>
              <a:t>CONSUMER SERVICES &amp; RETAIL</a:t>
            </a:r>
            <a:endParaRPr lang="en-US" sz="615" dirty="0"/>
          </a:p>
        </p:txBody>
      </p:sp>
      <p:sp>
        <p:nvSpPr>
          <p:cNvPr id="41" name="Text 40"/>
          <p:cNvSpPr txBox="1"/>
          <p:nvPr/>
        </p:nvSpPr>
        <p:spPr>
          <a:xfrm>
            <a:off x="571500" y="4567238"/>
            <a:ext cx="1200150" cy="123825"/>
          </a:xfrm>
          <a:prstGeom prst="rect">
            <a:avLst/>
          </a:prstGeom>
          <a:noFill/>
          <a:ln/>
        </p:spPr>
        <p:txBody>
          <a:bodyPr wrap="none" lIns="0" tIns="0" rIns="0" bIns="0" rtlCol="0" anchor="t"/>
          <a:lstStyle/>
          <a:p>
            <a:pPr marL="0" indent="0" algn="l">
              <a:lnSpc>
                <a:spcPts val="975"/>
              </a:lnSpc>
              <a:buNone/>
            </a:pPr>
            <a:r>
              <a:rPr lang="en-US" sz="795" kern="0" spc="15" dirty="0">
                <a:solidFill>
                  <a:srgbClr val="333231"/>
                </a:solidFill>
                <a:latin typeface="Quicksand SemiBold" pitchFamily="34" charset="0"/>
              </a:rPr>
              <a:t>Restaurants</a:t>
            </a:r>
            <a:endParaRPr lang="en-US" sz="795" dirty="0"/>
          </a:p>
        </p:txBody>
      </p:sp>
      <p:sp>
        <p:nvSpPr>
          <p:cNvPr id="42" name="Shape 41"/>
          <p:cNvSpPr/>
          <p:nvPr/>
        </p:nvSpPr>
        <p:spPr>
          <a:xfrm>
            <a:off x="1771650" y="4476750"/>
            <a:ext cx="9525" cy="314325"/>
          </a:xfrm>
          <a:prstGeom prst="rect">
            <a:avLst/>
          </a:prstGeom>
          <a:solidFill>
            <a:srgbClr val="C3BDB6"/>
          </a:solidFill>
          <a:ln/>
        </p:spPr>
        <p:txBody>
          <a:bodyPr/>
          <a:lstStyle/>
          <a:p>
            <a:endParaRPr lang="en-US"/>
          </a:p>
        </p:txBody>
      </p:sp>
      <p:sp>
        <p:nvSpPr>
          <p:cNvPr id="43" name="Shape 42"/>
          <p:cNvSpPr/>
          <p:nvPr/>
        </p:nvSpPr>
        <p:spPr>
          <a:xfrm>
            <a:off x="1771650" y="4572000"/>
            <a:ext cx="576263" cy="114300"/>
          </a:xfrm>
          <a:prstGeom prst="rect">
            <a:avLst/>
          </a:prstGeom>
          <a:solidFill>
            <a:srgbClr val="B68757"/>
          </a:solidFill>
          <a:ln/>
        </p:spPr>
        <p:txBody>
          <a:bodyPr/>
          <a:lstStyle/>
          <a:p>
            <a:endParaRPr lang="en-US"/>
          </a:p>
        </p:txBody>
      </p:sp>
      <p:sp>
        <p:nvSpPr>
          <p:cNvPr id="44" name="Text 43"/>
          <p:cNvSpPr txBox="1"/>
          <p:nvPr/>
        </p:nvSpPr>
        <p:spPr>
          <a:xfrm>
            <a:off x="2405063" y="4548188"/>
            <a:ext cx="250329" cy="161925"/>
          </a:xfrm>
          <a:prstGeom prst="rect">
            <a:avLst/>
          </a:prstGeom>
          <a:noFill/>
          <a:ln/>
        </p:spPr>
        <p:txBody>
          <a:bodyPr wrap="none" lIns="0" tIns="0" rIns="0" bIns="0" rtlCol="0" anchor="t"/>
          <a:lstStyle/>
          <a:p>
            <a:pPr marL="0" indent="0" algn="l">
              <a:lnSpc>
                <a:spcPts val="1275"/>
              </a:lnSpc>
              <a:buNone/>
            </a:pPr>
            <a:r>
              <a:rPr lang="en-US" sz="788" b="1" kern="0" spc="15" dirty="0">
                <a:solidFill>
                  <a:srgbClr val="1B1A1A"/>
                </a:solidFill>
                <a:latin typeface="Quicksand" pitchFamily="34" charset="0"/>
              </a:rPr>
              <a:t>2.7x</a:t>
            </a:r>
            <a:endParaRPr lang="en-US" sz="788" dirty="0"/>
          </a:p>
        </p:txBody>
      </p:sp>
      <p:sp>
        <p:nvSpPr>
          <p:cNvPr id="45" name="Text 44"/>
          <p:cNvSpPr txBox="1"/>
          <p:nvPr/>
        </p:nvSpPr>
        <p:spPr>
          <a:xfrm>
            <a:off x="571500" y="4881563"/>
            <a:ext cx="1200150" cy="123825"/>
          </a:xfrm>
          <a:prstGeom prst="rect">
            <a:avLst/>
          </a:prstGeom>
          <a:noFill/>
          <a:ln/>
        </p:spPr>
        <p:txBody>
          <a:bodyPr wrap="none" lIns="0" tIns="0" rIns="0" bIns="0" rtlCol="0" anchor="t"/>
          <a:lstStyle/>
          <a:p>
            <a:pPr marL="0" indent="0" algn="l">
              <a:lnSpc>
                <a:spcPts val="975"/>
              </a:lnSpc>
              <a:buNone/>
            </a:pPr>
            <a:r>
              <a:rPr lang="en-US" sz="795" kern="0" spc="15" dirty="0">
                <a:solidFill>
                  <a:srgbClr val="333231"/>
                </a:solidFill>
                <a:latin typeface="Quicksand SemiBold" pitchFamily="34" charset="0"/>
              </a:rPr>
              <a:t>Consumer services</a:t>
            </a:r>
            <a:endParaRPr lang="en-US" sz="795" dirty="0"/>
          </a:p>
        </p:txBody>
      </p:sp>
      <p:sp>
        <p:nvSpPr>
          <p:cNvPr id="46" name="Shape 45"/>
          <p:cNvSpPr/>
          <p:nvPr/>
        </p:nvSpPr>
        <p:spPr>
          <a:xfrm>
            <a:off x="1771650" y="4791075"/>
            <a:ext cx="9525" cy="314325"/>
          </a:xfrm>
          <a:prstGeom prst="rect">
            <a:avLst/>
          </a:prstGeom>
          <a:solidFill>
            <a:srgbClr val="C3BDB6"/>
          </a:solidFill>
          <a:ln/>
        </p:spPr>
        <p:txBody>
          <a:bodyPr/>
          <a:lstStyle/>
          <a:p>
            <a:endParaRPr lang="en-US"/>
          </a:p>
        </p:txBody>
      </p:sp>
      <p:sp>
        <p:nvSpPr>
          <p:cNvPr id="47" name="Shape 46"/>
          <p:cNvSpPr/>
          <p:nvPr/>
        </p:nvSpPr>
        <p:spPr>
          <a:xfrm>
            <a:off x="1771650" y="4886325"/>
            <a:ext cx="771525" cy="114300"/>
          </a:xfrm>
          <a:prstGeom prst="rect">
            <a:avLst/>
          </a:prstGeom>
          <a:solidFill>
            <a:srgbClr val="B68757"/>
          </a:solidFill>
          <a:ln/>
        </p:spPr>
        <p:txBody>
          <a:bodyPr/>
          <a:lstStyle/>
          <a:p>
            <a:endParaRPr lang="en-US"/>
          </a:p>
        </p:txBody>
      </p:sp>
      <p:sp>
        <p:nvSpPr>
          <p:cNvPr id="48" name="Text 47"/>
          <p:cNvSpPr txBox="1"/>
          <p:nvPr/>
        </p:nvSpPr>
        <p:spPr>
          <a:xfrm>
            <a:off x="2600325" y="4862513"/>
            <a:ext cx="247501" cy="161925"/>
          </a:xfrm>
          <a:prstGeom prst="rect">
            <a:avLst/>
          </a:prstGeom>
          <a:noFill/>
          <a:ln/>
        </p:spPr>
        <p:txBody>
          <a:bodyPr wrap="none" lIns="0" tIns="0" rIns="0" bIns="0" rtlCol="0" anchor="t"/>
          <a:lstStyle/>
          <a:p>
            <a:pPr marL="0" indent="0" algn="l">
              <a:lnSpc>
                <a:spcPts val="1275"/>
              </a:lnSpc>
              <a:buNone/>
            </a:pPr>
            <a:r>
              <a:rPr lang="en-US" sz="788" b="1" kern="0" spc="15" dirty="0">
                <a:solidFill>
                  <a:srgbClr val="1B1A1A"/>
                </a:solidFill>
                <a:latin typeface="Quicksand" pitchFamily="34" charset="0"/>
              </a:rPr>
              <a:t>3.6x</a:t>
            </a:r>
            <a:endParaRPr lang="en-US" sz="788" dirty="0"/>
          </a:p>
        </p:txBody>
      </p:sp>
      <p:sp>
        <p:nvSpPr>
          <p:cNvPr id="49" name="Text 48"/>
          <p:cNvSpPr txBox="1"/>
          <p:nvPr/>
        </p:nvSpPr>
        <p:spPr>
          <a:xfrm>
            <a:off x="571500" y="5195888"/>
            <a:ext cx="1200150" cy="123825"/>
          </a:xfrm>
          <a:prstGeom prst="rect">
            <a:avLst/>
          </a:prstGeom>
          <a:noFill/>
          <a:ln/>
        </p:spPr>
        <p:txBody>
          <a:bodyPr wrap="none" lIns="0" tIns="0" rIns="0" bIns="0" rtlCol="0" anchor="t"/>
          <a:lstStyle/>
          <a:p>
            <a:pPr marL="0" indent="0" algn="l">
              <a:lnSpc>
                <a:spcPts val="975"/>
              </a:lnSpc>
              <a:buNone/>
            </a:pPr>
            <a:r>
              <a:rPr lang="en-US" sz="795" kern="0" spc="15" dirty="0">
                <a:solidFill>
                  <a:srgbClr val="333231"/>
                </a:solidFill>
                <a:latin typeface="Quicksand SemiBold" pitchFamily="34" charset="0"/>
              </a:rPr>
              <a:t>Retail</a:t>
            </a:r>
            <a:endParaRPr lang="en-US" sz="795" dirty="0"/>
          </a:p>
        </p:txBody>
      </p:sp>
      <p:sp>
        <p:nvSpPr>
          <p:cNvPr id="50" name="Shape 49"/>
          <p:cNvSpPr/>
          <p:nvPr/>
        </p:nvSpPr>
        <p:spPr>
          <a:xfrm>
            <a:off x="1771650" y="5105400"/>
            <a:ext cx="9525" cy="314325"/>
          </a:xfrm>
          <a:prstGeom prst="rect">
            <a:avLst/>
          </a:prstGeom>
          <a:solidFill>
            <a:srgbClr val="C3BDB6"/>
          </a:solidFill>
          <a:ln/>
        </p:spPr>
        <p:txBody>
          <a:bodyPr/>
          <a:lstStyle/>
          <a:p>
            <a:endParaRPr lang="en-US"/>
          </a:p>
        </p:txBody>
      </p:sp>
      <p:sp>
        <p:nvSpPr>
          <p:cNvPr id="51" name="Shape 50"/>
          <p:cNvSpPr/>
          <p:nvPr/>
        </p:nvSpPr>
        <p:spPr>
          <a:xfrm>
            <a:off x="1771650" y="5200650"/>
            <a:ext cx="238125" cy="114300"/>
          </a:xfrm>
          <a:prstGeom prst="rect">
            <a:avLst/>
          </a:prstGeom>
          <a:solidFill>
            <a:srgbClr val="B68757"/>
          </a:solidFill>
          <a:ln/>
        </p:spPr>
        <p:txBody>
          <a:bodyPr/>
          <a:lstStyle/>
          <a:p>
            <a:endParaRPr lang="en-US"/>
          </a:p>
        </p:txBody>
      </p:sp>
      <p:sp>
        <p:nvSpPr>
          <p:cNvPr id="52" name="Text 51"/>
          <p:cNvSpPr txBox="1"/>
          <p:nvPr/>
        </p:nvSpPr>
        <p:spPr>
          <a:xfrm>
            <a:off x="2066925" y="5176838"/>
            <a:ext cx="211336" cy="161925"/>
          </a:xfrm>
          <a:prstGeom prst="rect">
            <a:avLst/>
          </a:prstGeom>
          <a:noFill/>
          <a:ln/>
        </p:spPr>
        <p:txBody>
          <a:bodyPr wrap="none" lIns="0" tIns="0" rIns="0" bIns="0" rtlCol="0" anchor="t"/>
          <a:lstStyle/>
          <a:p>
            <a:pPr marL="0" indent="0" algn="l">
              <a:lnSpc>
                <a:spcPts val="1275"/>
              </a:lnSpc>
              <a:buNone/>
            </a:pPr>
            <a:r>
              <a:rPr lang="en-US" sz="788" b="1" kern="0" spc="15" dirty="0">
                <a:solidFill>
                  <a:srgbClr val="1B1A1A"/>
                </a:solidFill>
                <a:latin typeface="Quicksand" pitchFamily="34" charset="0"/>
              </a:rPr>
              <a:t>1.1x</a:t>
            </a:r>
            <a:endParaRPr lang="en-US" sz="788" dirty="0"/>
          </a:p>
        </p:txBody>
      </p:sp>
      <p:sp>
        <p:nvSpPr>
          <p:cNvPr id="53" name="Shape 52"/>
          <p:cNvSpPr/>
          <p:nvPr/>
        </p:nvSpPr>
        <p:spPr>
          <a:xfrm>
            <a:off x="3536900" y="1238250"/>
            <a:ext cx="2984450" cy="4762500"/>
          </a:xfrm>
          <a:prstGeom prst="rect">
            <a:avLst/>
          </a:prstGeom>
          <a:solidFill>
            <a:srgbClr val="FAF7F3"/>
          </a:solidFill>
          <a:ln/>
        </p:spPr>
        <p:txBody>
          <a:bodyPr/>
          <a:lstStyle/>
          <a:p>
            <a:endParaRPr lang="en-US"/>
          </a:p>
        </p:txBody>
      </p:sp>
      <p:sp>
        <p:nvSpPr>
          <p:cNvPr id="54" name="Shape 53"/>
          <p:cNvSpPr/>
          <p:nvPr/>
        </p:nvSpPr>
        <p:spPr>
          <a:xfrm>
            <a:off x="3536900" y="1238250"/>
            <a:ext cx="2984450" cy="28575"/>
          </a:xfrm>
          <a:prstGeom prst="rect">
            <a:avLst/>
          </a:prstGeom>
          <a:solidFill>
            <a:srgbClr val="B68757"/>
          </a:solidFill>
          <a:ln/>
        </p:spPr>
        <p:txBody>
          <a:bodyPr/>
          <a:lstStyle/>
          <a:p>
            <a:endParaRPr lang="en-US"/>
          </a:p>
        </p:txBody>
      </p:sp>
      <p:sp>
        <p:nvSpPr>
          <p:cNvPr id="55" name="Text 54"/>
          <p:cNvSpPr txBox="1"/>
          <p:nvPr/>
        </p:nvSpPr>
        <p:spPr>
          <a:xfrm>
            <a:off x="3689300" y="1385888"/>
            <a:ext cx="2679650" cy="161925"/>
          </a:xfrm>
          <a:prstGeom prst="rect">
            <a:avLst/>
          </a:prstGeom>
          <a:noFill/>
          <a:ln/>
        </p:spPr>
        <p:txBody>
          <a:bodyPr wrap="none" lIns="0" tIns="0" rIns="0" bIns="0" rtlCol="0" anchor="t"/>
          <a:lstStyle/>
          <a:p>
            <a:pPr marL="0" indent="0" algn="l">
              <a:lnSpc>
                <a:spcPts val="1275"/>
              </a:lnSpc>
              <a:buNone/>
            </a:pPr>
            <a:r>
              <a:rPr lang="en-US" sz="938" b="1" kern="0" spc="15" dirty="0">
                <a:solidFill>
                  <a:srgbClr val="1B1A1A"/>
                </a:solidFill>
                <a:latin typeface="Quicksand" pitchFamily="34" charset="0"/>
              </a:rPr>
              <a:t>Median enterprise value to EBITDA</a:t>
            </a:r>
            <a:endParaRPr lang="en-US" sz="938" dirty="0"/>
          </a:p>
        </p:txBody>
      </p:sp>
      <p:sp>
        <p:nvSpPr>
          <p:cNvPr id="56" name="Text 55"/>
          <p:cNvSpPr txBox="1"/>
          <p:nvPr/>
        </p:nvSpPr>
        <p:spPr>
          <a:xfrm>
            <a:off x="3684538" y="1552575"/>
            <a:ext cx="2684413" cy="123825"/>
          </a:xfrm>
          <a:prstGeom prst="rect">
            <a:avLst/>
          </a:prstGeom>
          <a:noFill/>
          <a:ln/>
        </p:spPr>
        <p:txBody>
          <a:bodyPr wrap="none" lIns="0" tIns="0" rIns="0" bIns="0" rtlCol="0" anchor="t"/>
          <a:lstStyle/>
          <a:p>
            <a:pPr marL="0" indent="0" algn="l">
              <a:lnSpc>
                <a:spcPts val="975"/>
              </a:lnSpc>
              <a:buNone/>
            </a:pPr>
            <a:r>
              <a:rPr lang="en-US" sz="705" kern="0" spc="15" dirty="0">
                <a:solidFill>
                  <a:srgbClr val="6F6A66"/>
                </a:solidFill>
                <a:latin typeface="Quicksand" pitchFamily="34" charset="0"/>
              </a:rPr>
              <a:t>Trailing twelve months.</a:t>
            </a:r>
            <a:endParaRPr lang="en-US" sz="705" dirty="0"/>
          </a:p>
        </p:txBody>
      </p:sp>
      <p:sp>
        <p:nvSpPr>
          <p:cNvPr id="57" name="Text 56"/>
          <p:cNvSpPr txBox="1"/>
          <p:nvPr/>
        </p:nvSpPr>
        <p:spPr>
          <a:xfrm>
            <a:off x="4765328" y="1552575"/>
            <a:ext cx="1603623" cy="123825"/>
          </a:xfrm>
          <a:prstGeom prst="rect">
            <a:avLst/>
          </a:prstGeom>
          <a:noFill/>
          <a:ln/>
        </p:spPr>
        <p:txBody>
          <a:bodyPr wrap="none" lIns="0" tIns="0" rIns="0" bIns="0" rtlCol="0" anchor="t"/>
          <a:lstStyle/>
          <a:p>
            <a:pPr marL="0" indent="0" algn="l">
              <a:lnSpc>
                <a:spcPts val="975"/>
              </a:lnSpc>
              <a:buNone/>
            </a:pPr>
            <a:r>
              <a:rPr lang="en-US" sz="705" kern="0" spc="15" dirty="0">
                <a:solidFill>
                  <a:srgbClr val="6F6A66"/>
                </a:solidFill>
                <a:latin typeface="Quicksand" pitchFamily="34" charset="0"/>
              </a:rPr>
              <a:t>A year ago</a:t>
            </a:r>
            <a:endParaRPr lang="en-US" sz="705" dirty="0"/>
          </a:p>
        </p:txBody>
      </p:sp>
      <p:sp>
        <p:nvSpPr>
          <p:cNvPr id="58" name="Shape 57"/>
          <p:cNvSpPr/>
          <p:nvPr/>
        </p:nvSpPr>
        <p:spPr>
          <a:xfrm>
            <a:off x="4703415" y="1562100"/>
            <a:ext cx="19050" cy="104775"/>
          </a:xfrm>
          <a:prstGeom prst="rect">
            <a:avLst/>
          </a:prstGeom>
          <a:solidFill>
            <a:srgbClr val="1B1A1A"/>
          </a:solidFill>
          <a:ln/>
        </p:spPr>
        <p:txBody>
          <a:bodyPr/>
          <a:lstStyle/>
          <a:p>
            <a:endParaRPr lang="en-US"/>
          </a:p>
        </p:txBody>
      </p:sp>
      <p:sp>
        <p:nvSpPr>
          <p:cNvPr id="59" name="Text 58"/>
          <p:cNvSpPr txBox="1"/>
          <p:nvPr/>
        </p:nvSpPr>
        <p:spPr>
          <a:xfrm>
            <a:off x="3689300" y="1747838"/>
            <a:ext cx="2679650" cy="161925"/>
          </a:xfrm>
          <a:prstGeom prst="rect">
            <a:avLst/>
          </a:prstGeom>
          <a:noFill/>
          <a:ln/>
        </p:spPr>
        <p:txBody>
          <a:bodyPr wrap="none" lIns="0" tIns="0" rIns="0" bIns="0" rtlCol="0" anchor="t"/>
          <a:lstStyle/>
          <a:p>
            <a:pPr marL="0" indent="0" algn="l">
              <a:lnSpc>
                <a:spcPts val="1275"/>
              </a:lnSpc>
              <a:buNone/>
            </a:pPr>
            <a:r>
              <a:rPr lang="en-US" sz="615" b="1" kern="0" spc="135" dirty="0">
                <a:solidFill>
                  <a:srgbClr val="8C6239"/>
                </a:solidFill>
                <a:latin typeface="Quicksand" pitchFamily="34" charset="0"/>
              </a:rPr>
              <a:t>FOOD &amp; BEVERAGE</a:t>
            </a:r>
            <a:endParaRPr lang="en-US" sz="615" dirty="0"/>
          </a:p>
        </p:txBody>
      </p:sp>
      <p:sp>
        <p:nvSpPr>
          <p:cNvPr id="60" name="Text 59"/>
          <p:cNvSpPr txBox="1"/>
          <p:nvPr/>
        </p:nvSpPr>
        <p:spPr>
          <a:xfrm>
            <a:off x="3689300" y="2024062"/>
            <a:ext cx="1200150" cy="123825"/>
          </a:xfrm>
          <a:prstGeom prst="rect">
            <a:avLst/>
          </a:prstGeom>
          <a:noFill/>
          <a:ln/>
        </p:spPr>
        <p:txBody>
          <a:bodyPr wrap="none" lIns="0" tIns="0" rIns="0" bIns="0" rtlCol="0" anchor="t"/>
          <a:lstStyle/>
          <a:p>
            <a:pPr marL="0" indent="0" algn="l">
              <a:lnSpc>
                <a:spcPts val="975"/>
              </a:lnSpc>
              <a:buNone/>
            </a:pPr>
            <a:r>
              <a:rPr lang="en-US" sz="795" kern="0" spc="15" dirty="0">
                <a:solidFill>
                  <a:srgbClr val="333231"/>
                </a:solidFill>
                <a:latin typeface="Quicksand SemiBold" pitchFamily="34" charset="0"/>
              </a:rPr>
              <a:t>Packaged food</a:t>
            </a:r>
            <a:endParaRPr lang="en-US" sz="795" dirty="0"/>
          </a:p>
        </p:txBody>
      </p:sp>
      <p:sp>
        <p:nvSpPr>
          <p:cNvPr id="61" name="Shape 60"/>
          <p:cNvSpPr/>
          <p:nvPr/>
        </p:nvSpPr>
        <p:spPr>
          <a:xfrm>
            <a:off x="4889450" y="1933575"/>
            <a:ext cx="9525" cy="314325"/>
          </a:xfrm>
          <a:prstGeom prst="rect">
            <a:avLst/>
          </a:prstGeom>
          <a:solidFill>
            <a:srgbClr val="C3BDB6"/>
          </a:solidFill>
          <a:ln/>
        </p:spPr>
        <p:txBody>
          <a:bodyPr/>
          <a:lstStyle/>
          <a:p>
            <a:endParaRPr lang="en-US"/>
          </a:p>
        </p:txBody>
      </p:sp>
      <p:sp>
        <p:nvSpPr>
          <p:cNvPr id="62" name="Shape 61"/>
          <p:cNvSpPr/>
          <p:nvPr/>
        </p:nvSpPr>
        <p:spPr>
          <a:xfrm>
            <a:off x="4889450" y="2028825"/>
            <a:ext cx="356146" cy="114300"/>
          </a:xfrm>
          <a:prstGeom prst="rect">
            <a:avLst/>
          </a:prstGeom>
          <a:solidFill>
            <a:srgbClr val="B68757"/>
          </a:solidFill>
          <a:ln/>
        </p:spPr>
        <p:txBody>
          <a:bodyPr/>
          <a:lstStyle/>
          <a:p>
            <a:endParaRPr lang="en-US"/>
          </a:p>
        </p:txBody>
      </p:sp>
      <p:sp>
        <p:nvSpPr>
          <p:cNvPr id="63" name="Shape 62"/>
          <p:cNvSpPr/>
          <p:nvPr/>
        </p:nvSpPr>
        <p:spPr>
          <a:xfrm>
            <a:off x="5299025" y="1990725"/>
            <a:ext cx="19050" cy="190500"/>
          </a:xfrm>
          <a:prstGeom prst="rect">
            <a:avLst/>
          </a:prstGeom>
          <a:solidFill>
            <a:srgbClr val="1B1A1A"/>
          </a:solidFill>
          <a:ln/>
        </p:spPr>
        <p:txBody>
          <a:bodyPr/>
          <a:lstStyle/>
          <a:p>
            <a:endParaRPr lang="en-US"/>
          </a:p>
        </p:txBody>
      </p:sp>
      <p:sp>
        <p:nvSpPr>
          <p:cNvPr id="64" name="Text 63"/>
          <p:cNvSpPr txBox="1"/>
          <p:nvPr/>
        </p:nvSpPr>
        <p:spPr>
          <a:xfrm>
            <a:off x="5365700" y="2005013"/>
            <a:ext cx="250180" cy="161925"/>
          </a:xfrm>
          <a:prstGeom prst="rect">
            <a:avLst/>
          </a:prstGeom>
          <a:noFill/>
          <a:ln/>
        </p:spPr>
        <p:txBody>
          <a:bodyPr wrap="none" lIns="0" tIns="0" rIns="0" bIns="0" rtlCol="0" anchor="t"/>
          <a:lstStyle/>
          <a:p>
            <a:pPr marL="0" indent="0" algn="l">
              <a:lnSpc>
                <a:spcPts val="1275"/>
              </a:lnSpc>
              <a:buNone/>
            </a:pPr>
            <a:r>
              <a:rPr lang="en-US" sz="788" b="1" kern="0" spc="15" dirty="0">
                <a:solidFill>
                  <a:srgbClr val="1B1A1A"/>
                </a:solidFill>
                <a:latin typeface="Quicksand" pitchFamily="34" charset="0"/>
              </a:rPr>
              <a:t>8.2x</a:t>
            </a:r>
            <a:endParaRPr lang="en-US" sz="788" dirty="0"/>
          </a:p>
        </p:txBody>
      </p:sp>
      <p:sp>
        <p:nvSpPr>
          <p:cNvPr id="65" name="Text 64"/>
          <p:cNvSpPr txBox="1"/>
          <p:nvPr/>
        </p:nvSpPr>
        <p:spPr>
          <a:xfrm>
            <a:off x="3689300" y="2338388"/>
            <a:ext cx="1200150" cy="123825"/>
          </a:xfrm>
          <a:prstGeom prst="rect">
            <a:avLst/>
          </a:prstGeom>
          <a:noFill/>
          <a:ln/>
        </p:spPr>
        <p:txBody>
          <a:bodyPr wrap="none" lIns="0" tIns="0" rIns="0" bIns="0" rtlCol="0" anchor="t"/>
          <a:lstStyle/>
          <a:p>
            <a:pPr marL="0" indent="0" algn="l">
              <a:lnSpc>
                <a:spcPts val="975"/>
              </a:lnSpc>
              <a:buNone/>
            </a:pPr>
            <a:r>
              <a:rPr lang="en-US" sz="795" kern="0" spc="15" dirty="0">
                <a:solidFill>
                  <a:srgbClr val="333231"/>
                </a:solidFill>
                <a:latin typeface="Quicksand SemiBold" pitchFamily="34" charset="0"/>
              </a:rPr>
              <a:t>Snacks</a:t>
            </a:r>
            <a:endParaRPr lang="en-US" sz="795" dirty="0"/>
          </a:p>
        </p:txBody>
      </p:sp>
      <p:sp>
        <p:nvSpPr>
          <p:cNvPr id="66" name="Shape 65"/>
          <p:cNvSpPr/>
          <p:nvPr/>
        </p:nvSpPr>
        <p:spPr>
          <a:xfrm>
            <a:off x="4889450" y="2247900"/>
            <a:ext cx="9525" cy="314325"/>
          </a:xfrm>
          <a:prstGeom prst="rect">
            <a:avLst/>
          </a:prstGeom>
          <a:solidFill>
            <a:srgbClr val="C3BDB6"/>
          </a:solidFill>
          <a:ln/>
        </p:spPr>
        <p:txBody>
          <a:bodyPr/>
          <a:lstStyle/>
          <a:p>
            <a:endParaRPr lang="en-US"/>
          </a:p>
        </p:txBody>
      </p:sp>
      <p:sp>
        <p:nvSpPr>
          <p:cNvPr id="67" name="Shape 66"/>
          <p:cNvSpPr/>
          <p:nvPr/>
        </p:nvSpPr>
        <p:spPr>
          <a:xfrm>
            <a:off x="4889450" y="2343150"/>
            <a:ext cx="593378" cy="114300"/>
          </a:xfrm>
          <a:prstGeom prst="rect">
            <a:avLst/>
          </a:prstGeom>
          <a:solidFill>
            <a:srgbClr val="B68757"/>
          </a:solidFill>
          <a:ln/>
        </p:spPr>
        <p:txBody>
          <a:bodyPr/>
          <a:lstStyle/>
          <a:p>
            <a:endParaRPr lang="en-US"/>
          </a:p>
        </p:txBody>
      </p:sp>
      <p:sp>
        <p:nvSpPr>
          <p:cNvPr id="68" name="Shape 67"/>
          <p:cNvSpPr/>
          <p:nvPr/>
        </p:nvSpPr>
        <p:spPr>
          <a:xfrm>
            <a:off x="5640884" y="2305050"/>
            <a:ext cx="19050" cy="190500"/>
          </a:xfrm>
          <a:prstGeom prst="rect">
            <a:avLst/>
          </a:prstGeom>
          <a:solidFill>
            <a:srgbClr val="1B1A1A"/>
          </a:solidFill>
          <a:ln/>
        </p:spPr>
        <p:txBody>
          <a:bodyPr/>
          <a:lstStyle/>
          <a:p>
            <a:endParaRPr lang="en-US"/>
          </a:p>
        </p:txBody>
      </p:sp>
      <p:sp>
        <p:nvSpPr>
          <p:cNvPr id="69" name="Text 68"/>
          <p:cNvSpPr txBox="1"/>
          <p:nvPr/>
        </p:nvSpPr>
        <p:spPr>
          <a:xfrm>
            <a:off x="5707559" y="2319338"/>
            <a:ext cx="287834" cy="161925"/>
          </a:xfrm>
          <a:prstGeom prst="rect">
            <a:avLst/>
          </a:prstGeom>
          <a:noFill/>
          <a:ln/>
        </p:spPr>
        <p:txBody>
          <a:bodyPr wrap="none" lIns="0" tIns="0" rIns="0" bIns="0" rtlCol="0" anchor="t"/>
          <a:lstStyle/>
          <a:p>
            <a:pPr marL="0" indent="0" algn="l">
              <a:lnSpc>
                <a:spcPts val="1275"/>
              </a:lnSpc>
              <a:buNone/>
            </a:pPr>
            <a:r>
              <a:rPr lang="en-US" sz="788" b="1" kern="0" spc="15" dirty="0">
                <a:solidFill>
                  <a:srgbClr val="1B1A1A"/>
                </a:solidFill>
                <a:latin typeface="Quicksand" pitchFamily="34" charset="0"/>
              </a:rPr>
              <a:t>13.7x</a:t>
            </a:r>
            <a:endParaRPr lang="en-US" sz="788" dirty="0"/>
          </a:p>
        </p:txBody>
      </p:sp>
      <p:sp>
        <p:nvSpPr>
          <p:cNvPr id="70" name="Text 69"/>
          <p:cNvSpPr txBox="1"/>
          <p:nvPr/>
        </p:nvSpPr>
        <p:spPr>
          <a:xfrm>
            <a:off x="3689300" y="2652713"/>
            <a:ext cx="1200150" cy="123825"/>
          </a:xfrm>
          <a:prstGeom prst="rect">
            <a:avLst/>
          </a:prstGeom>
          <a:noFill/>
          <a:ln/>
        </p:spPr>
        <p:txBody>
          <a:bodyPr wrap="none" lIns="0" tIns="0" rIns="0" bIns="0" rtlCol="0" anchor="t"/>
          <a:lstStyle/>
          <a:p>
            <a:pPr marL="0" indent="0" algn="l">
              <a:lnSpc>
                <a:spcPts val="975"/>
              </a:lnSpc>
              <a:buNone/>
            </a:pPr>
            <a:r>
              <a:rPr lang="en-US" sz="795" kern="0" spc="15" dirty="0">
                <a:solidFill>
                  <a:srgbClr val="333231"/>
                </a:solidFill>
                <a:latin typeface="Quicksand SemiBold" pitchFamily="34" charset="0"/>
              </a:rPr>
              <a:t>Beverages</a:t>
            </a:r>
            <a:endParaRPr lang="en-US" sz="795" dirty="0"/>
          </a:p>
        </p:txBody>
      </p:sp>
      <p:sp>
        <p:nvSpPr>
          <p:cNvPr id="71" name="Shape 70"/>
          <p:cNvSpPr/>
          <p:nvPr/>
        </p:nvSpPr>
        <p:spPr>
          <a:xfrm>
            <a:off x="4889450" y="2562225"/>
            <a:ext cx="9525" cy="314325"/>
          </a:xfrm>
          <a:prstGeom prst="rect">
            <a:avLst/>
          </a:prstGeom>
          <a:solidFill>
            <a:srgbClr val="C3BDB6"/>
          </a:solidFill>
          <a:ln/>
        </p:spPr>
        <p:txBody>
          <a:bodyPr/>
          <a:lstStyle/>
          <a:p>
            <a:endParaRPr lang="en-US"/>
          </a:p>
        </p:txBody>
      </p:sp>
      <p:sp>
        <p:nvSpPr>
          <p:cNvPr id="72" name="Shape 71"/>
          <p:cNvSpPr/>
          <p:nvPr/>
        </p:nvSpPr>
        <p:spPr>
          <a:xfrm>
            <a:off x="4889450" y="2657475"/>
            <a:ext cx="484733" cy="114300"/>
          </a:xfrm>
          <a:prstGeom prst="rect">
            <a:avLst/>
          </a:prstGeom>
          <a:solidFill>
            <a:srgbClr val="B68757"/>
          </a:solidFill>
          <a:ln/>
        </p:spPr>
        <p:txBody>
          <a:bodyPr/>
          <a:lstStyle/>
          <a:p>
            <a:endParaRPr lang="en-US"/>
          </a:p>
        </p:txBody>
      </p:sp>
      <p:sp>
        <p:nvSpPr>
          <p:cNvPr id="73" name="Shape 72"/>
          <p:cNvSpPr/>
          <p:nvPr/>
        </p:nvSpPr>
        <p:spPr>
          <a:xfrm>
            <a:off x="5729436" y="2619375"/>
            <a:ext cx="19050" cy="190500"/>
          </a:xfrm>
          <a:prstGeom prst="rect">
            <a:avLst/>
          </a:prstGeom>
          <a:solidFill>
            <a:srgbClr val="1B1A1A"/>
          </a:solidFill>
          <a:ln/>
        </p:spPr>
        <p:txBody>
          <a:bodyPr/>
          <a:lstStyle/>
          <a:p>
            <a:endParaRPr lang="en-US"/>
          </a:p>
        </p:txBody>
      </p:sp>
      <p:sp>
        <p:nvSpPr>
          <p:cNvPr id="74" name="Text 73"/>
          <p:cNvSpPr txBox="1"/>
          <p:nvPr/>
        </p:nvSpPr>
        <p:spPr>
          <a:xfrm>
            <a:off x="5796111" y="2633663"/>
            <a:ext cx="275034" cy="161925"/>
          </a:xfrm>
          <a:prstGeom prst="rect">
            <a:avLst/>
          </a:prstGeom>
          <a:noFill/>
          <a:ln/>
        </p:spPr>
        <p:txBody>
          <a:bodyPr wrap="none" lIns="0" tIns="0" rIns="0" bIns="0" rtlCol="0" anchor="t"/>
          <a:lstStyle/>
          <a:p>
            <a:pPr marL="0" indent="0" algn="l">
              <a:lnSpc>
                <a:spcPts val="1275"/>
              </a:lnSpc>
              <a:buNone/>
            </a:pPr>
            <a:r>
              <a:rPr lang="en-US" sz="788" b="1" kern="0" spc="15" dirty="0">
                <a:solidFill>
                  <a:srgbClr val="1B1A1A"/>
                </a:solidFill>
                <a:latin typeface="Quicksand" pitchFamily="34" charset="0"/>
              </a:rPr>
              <a:t>11.2x</a:t>
            </a:r>
            <a:endParaRPr lang="en-US" sz="788" dirty="0"/>
          </a:p>
        </p:txBody>
      </p:sp>
      <p:sp>
        <p:nvSpPr>
          <p:cNvPr id="75" name="Text 74"/>
          <p:cNvSpPr txBox="1"/>
          <p:nvPr/>
        </p:nvSpPr>
        <p:spPr>
          <a:xfrm>
            <a:off x="3689300" y="2909888"/>
            <a:ext cx="2679650" cy="161925"/>
          </a:xfrm>
          <a:prstGeom prst="rect">
            <a:avLst/>
          </a:prstGeom>
          <a:noFill/>
          <a:ln/>
        </p:spPr>
        <p:txBody>
          <a:bodyPr wrap="none" lIns="0" tIns="0" rIns="0" bIns="0" rtlCol="0" anchor="t"/>
          <a:lstStyle/>
          <a:p>
            <a:pPr marL="0" indent="0" algn="l">
              <a:lnSpc>
                <a:spcPts val="1275"/>
              </a:lnSpc>
              <a:buNone/>
            </a:pPr>
            <a:r>
              <a:rPr lang="en-US" sz="615" b="1" kern="0" spc="135" dirty="0">
                <a:solidFill>
                  <a:srgbClr val="8C6239"/>
                </a:solidFill>
                <a:latin typeface="Quicksand" pitchFamily="34" charset="0"/>
              </a:rPr>
              <a:t>CONSUMER BRANDS &amp; PRODUCTS</a:t>
            </a:r>
            <a:endParaRPr lang="en-US" sz="615" dirty="0"/>
          </a:p>
        </p:txBody>
      </p:sp>
      <p:sp>
        <p:nvSpPr>
          <p:cNvPr id="76" name="Text 75"/>
          <p:cNvSpPr txBox="1"/>
          <p:nvPr/>
        </p:nvSpPr>
        <p:spPr>
          <a:xfrm>
            <a:off x="3689300" y="3124200"/>
            <a:ext cx="1214438" cy="247650"/>
          </a:xfrm>
          <a:prstGeom prst="rect">
            <a:avLst/>
          </a:prstGeom>
          <a:noFill/>
          <a:ln/>
        </p:spPr>
        <p:txBody>
          <a:bodyPr wrap="square" lIns="0" tIns="0" rIns="0" bIns="0" rtlCol="0" anchor="t"/>
          <a:lstStyle/>
          <a:p>
            <a:pPr marL="0" indent="0" algn="l">
              <a:lnSpc>
                <a:spcPts val="975"/>
              </a:lnSpc>
              <a:buNone/>
            </a:pPr>
            <a:r>
              <a:rPr lang="en-US" sz="795" kern="0" spc="15" dirty="0">
                <a:solidFill>
                  <a:srgbClr val="333231"/>
                </a:solidFill>
                <a:latin typeface="Quicksand SemiBold" pitchFamily="34" charset="0"/>
              </a:rPr>
              <a:t>Household &amp; personal care</a:t>
            </a:r>
            <a:endParaRPr lang="en-US" sz="795" dirty="0"/>
          </a:p>
        </p:txBody>
      </p:sp>
      <p:sp>
        <p:nvSpPr>
          <p:cNvPr id="77" name="Shape 76"/>
          <p:cNvSpPr/>
          <p:nvPr/>
        </p:nvSpPr>
        <p:spPr>
          <a:xfrm>
            <a:off x="4889450" y="3095625"/>
            <a:ext cx="9525" cy="314325"/>
          </a:xfrm>
          <a:prstGeom prst="rect">
            <a:avLst/>
          </a:prstGeom>
          <a:solidFill>
            <a:srgbClr val="C3BDB6"/>
          </a:solidFill>
          <a:ln/>
        </p:spPr>
        <p:txBody>
          <a:bodyPr/>
          <a:lstStyle/>
          <a:p>
            <a:endParaRPr lang="en-US"/>
          </a:p>
        </p:txBody>
      </p:sp>
      <p:sp>
        <p:nvSpPr>
          <p:cNvPr id="78" name="Shape 77"/>
          <p:cNvSpPr/>
          <p:nvPr/>
        </p:nvSpPr>
        <p:spPr>
          <a:xfrm>
            <a:off x="4889450" y="3190875"/>
            <a:ext cx="673298" cy="114300"/>
          </a:xfrm>
          <a:prstGeom prst="rect">
            <a:avLst/>
          </a:prstGeom>
          <a:solidFill>
            <a:srgbClr val="B68757"/>
          </a:solidFill>
          <a:ln/>
        </p:spPr>
        <p:txBody>
          <a:bodyPr/>
          <a:lstStyle/>
          <a:p>
            <a:endParaRPr lang="en-US"/>
          </a:p>
        </p:txBody>
      </p:sp>
      <p:sp>
        <p:nvSpPr>
          <p:cNvPr id="79" name="Shape 78"/>
          <p:cNvSpPr/>
          <p:nvPr/>
        </p:nvSpPr>
        <p:spPr>
          <a:xfrm>
            <a:off x="5584775" y="3152775"/>
            <a:ext cx="19050" cy="190500"/>
          </a:xfrm>
          <a:prstGeom prst="rect">
            <a:avLst/>
          </a:prstGeom>
          <a:solidFill>
            <a:srgbClr val="1B1A1A"/>
          </a:solidFill>
          <a:ln/>
        </p:spPr>
        <p:txBody>
          <a:bodyPr/>
          <a:lstStyle/>
          <a:p>
            <a:endParaRPr lang="en-US"/>
          </a:p>
        </p:txBody>
      </p:sp>
      <p:sp>
        <p:nvSpPr>
          <p:cNvPr id="80" name="Text 79"/>
          <p:cNvSpPr txBox="1"/>
          <p:nvPr/>
        </p:nvSpPr>
        <p:spPr>
          <a:xfrm>
            <a:off x="5651450" y="3167063"/>
            <a:ext cx="288131" cy="161925"/>
          </a:xfrm>
          <a:prstGeom prst="rect">
            <a:avLst/>
          </a:prstGeom>
          <a:noFill/>
          <a:ln/>
        </p:spPr>
        <p:txBody>
          <a:bodyPr wrap="none" lIns="0" tIns="0" rIns="0" bIns="0" rtlCol="0" anchor="t"/>
          <a:lstStyle/>
          <a:p>
            <a:pPr marL="0" indent="0" algn="l">
              <a:lnSpc>
                <a:spcPts val="1275"/>
              </a:lnSpc>
              <a:buNone/>
            </a:pPr>
            <a:r>
              <a:rPr lang="en-US" sz="788" b="1" kern="0" spc="15" dirty="0">
                <a:solidFill>
                  <a:srgbClr val="1B1A1A"/>
                </a:solidFill>
                <a:latin typeface="Quicksand" pitchFamily="34" charset="0"/>
              </a:rPr>
              <a:t>15.6x</a:t>
            </a:r>
            <a:endParaRPr lang="en-US" sz="788" dirty="0"/>
          </a:p>
        </p:txBody>
      </p:sp>
      <p:sp>
        <p:nvSpPr>
          <p:cNvPr id="81" name="Text 80"/>
          <p:cNvSpPr txBox="1"/>
          <p:nvPr/>
        </p:nvSpPr>
        <p:spPr>
          <a:xfrm>
            <a:off x="3689300" y="3438525"/>
            <a:ext cx="1214438" cy="247650"/>
          </a:xfrm>
          <a:prstGeom prst="rect">
            <a:avLst/>
          </a:prstGeom>
          <a:noFill/>
          <a:ln/>
        </p:spPr>
        <p:txBody>
          <a:bodyPr wrap="square" lIns="0" tIns="0" rIns="0" bIns="0" rtlCol="0" anchor="t"/>
          <a:lstStyle/>
          <a:p>
            <a:pPr marL="0" indent="0" algn="l">
              <a:lnSpc>
                <a:spcPts val="975"/>
              </a:lnSpc>
              <a:buNone/>
            </a:pPr>
            <a:r>
              <a:rPr lang="en-US" sz="795" kern="0" spc="15" dirty="0">
                <a:solidFill>
                  <a:srgbClr val="333231"/>
                </a:solidFill>
                <a:latin typeface="Quicksand SemiBold" pitchFamily="34" charset="0"/>
              </a:rPr>
              <a:t>Durables, outdoor &amp; pet</a:t>
            </a:r>
            <a:endParaRPr lang="en-US" sz="795" dirty="0"/>
          </a:p>
        </p:txBody>
      </p:sp>
      <p:sp>
        <p:nvSpPr>
          <p:cNvPr id="82" name="Shape 81"/>
          <p:cNvSpPr/>
          <p:nvPr/>
        </p:nvSpPr>
        <p:spPr>
          <a:xfrm>
            <a:off x="4889450" y="3409950"/>
            <a:ext cx="9525" cy="314325"/>
          </a:xfrm>
          <a:prstGeom prst="rect">
            <a:avLst/>
          </a:prstGeom>
          <a:solidFill>
            <a:srgbClr val="C3BDB6"/>
          </a:solidFill>
          <a:ln/>
        </p:spPr>
        <p:txBody>
          <a:bodyPr/>
          <a:lstStyle/>
          <a:p>
            <a:endParaRPr lang="en-US"/>
          </a:p>
        </p:txBody>
      </p:sp>
      <p:sp>
        <p:nvSpPr>
          <p:cNvPr id="83" name="Shape 82"/>
          <p:cNvSpPr/>
          <p:nvPr/>
        </p:nvSpPr>
        <p:spPr>
          <a:xfrm>
            <a:off x="4889450" y="3505200"/>
            <a:ext cx="384721" cy="114300"/>
          </a:xfrm>
          <a:prstGeom prst="rect">
            <a:avLst/>
          </a:prstGeom>
          <a:solidFill>
            <a:srgbClr val="B68757"/>
          </a:solidFill>
          <a:ln/>
        </p:spPr>
        <p:txBody>
          <a:bodyPr/>
          <a:lstStyle/>
          <a:p>
            <a:endParaRPr lang="en-US"/>
          </a:p>
        </p:txBody>
      </p:sp>
      <p:sp>
        <p:nvSpPr>
          <p:cNvPr id="84" name="Shape 83"/>
          <p:cNvSpPr/>
          <p:nvPr/>
        </p:nvSpPr>
        <p:spPr>
          <a:xfrm>
            <a:off x="5299025" y="3467100"/>
            <a:ext cx="19050" cy="190500"/>
          </a:xfrm>
          <a:prstGeom prst="rect">
            <a:avLst/>
          </a:prstGeom>
          <a:solidFill>
            <a:srgbClr val="1B1A1A"/>
          </a:solidFill>
          <a:ln/>
        </p:spPr>
        <p:txBody>
          <a:bodyPr/>
          <a:lstStyle/>
          <a:p>
            <a:endParaRPr lang="en-US"/>
          </a:p>
        </p:txBody>
      </p:sp>
      <p:sp>
        <p:nvSpPr>
          <p:cNvPr id="85" name="Text 84"/>
          <p:cNvSpPr txBox="1"/>
          <p:nvPr/>
        </p:nvSpPr>
        <p:spPr>
          <a:xfrm>
            <a:off x="5365700" y="3481388"/>
            <a:ext cx="250031" cy="161925"/>
          </a:xfrm>
          <a:prstGeom prst="rect">
            <a:avLst/>
          </a:prstGeom>
          <a:noFill/>
          <a:ln/>
        </p:spPr>
        <p:txBody>
          <a:bodyPr wrap="none" lIns="0" tIns="0" rIns="0" bIns="0" rtlCol="0" anchor="t"/>
          <a:lstStyle/>
          <a:p>
            <a:pPr marL="0" indent="0" algn="l">
              <a:lnSpc>
                <a:spcPts val="1275"/>
              </a:lnSpc>
              <a:buNone/>
            </a:pPr>
            <a:r>
              <a:rPr lang="en-US" sz="788" b="1" kern="0" spc="15" dirty="0">
                <a:solidFill>
                  <a:srgbClr val="1B1A1A"/>
                </a:solidFill>
                <a:latin typeface="Quicksand" pitchFamily="34" charset="0"/>
              </a:rPr>
              <a:t>8.9x</a:t>
            </a:r>
            <a:endParaRPr lang="en-US" sz="788" dirty="0"/>
          </a:p>
        </p:txBody>
      </p:sp>
      <p:sp>
        <p:nvSpPr>
          <p:cNvPr id="86" name="Text 85"/>
          <p:cNvSpPr txBox="1"/>
          <p:nvPr/>
        </p:nvSpPr>
        <p:spPr>
          <a:xfrm>
            <a:off x="3689300" y="3757613"/>
            <a:ext cx="2679650" cy="161925"/>
          </a:xfrm>
          <a:prstGeom prst="rect">
            <a:avLst/>
          </a:prstGeom>
          <a:noFill/>
          <a:ln/>
        </p:spPr>
        <p:txBody>
          <a:bodyPr wrap="none" lIns="0" tIns="0" rIns="0" bIns="0" rtlCol="0" anchor="t"/>
          <a:lstStyle/>
          <a:p>
            <a:pPr marL="0" indent="0" algn="l">
              <a:lnSpc>
                <a:spcPts val="1275"/>
              </a:lnSpc>
              <a:buNone/>
            </a:pPr>
            <a:r>
              <a:rPr lang="en-US" sz="615" b="1" kern="0" spc="135" dirty="0">
                <a:solidFill>
                  <a:srgbClr val="8C6239"/>
                </a:solidFill>
                <a:latin typeface="Quicksand" pitchFamily="34" charset="0"/>
              </a:rPr>
              <a:t>FOODSERVICE &amp; DISTRIBUTION</a:t>
            </a:r>
            <a:endParaRPr lang="en-US" sz="615" dirty="0"/>
          </a:p>
        </p:txBody>
      </p:sp>
      <p:sp>
        <p:nvSpPr>
          <p:cNvPr id="87" name="Text 86"/>
          <p:cNvSpPr txBox="1"/>
          <p:nvPr/>
        </p:nvSpPr>
        <p:spPr>
          <a:xfrm>
            <a:off x="3689300" y="3971925"/>
            <a:ext cx="1214438" cy="247650"/>
          </a:xfrm>
          <a:prstGeom prst="rect">
            <a:avLst/>
          </a:prstGeom>
          <a:noFill/>
          <a:ln/>
        </p:spPr>
        <p:txBody>
          <a:bodyPr wrap="square" lIns="0" tIns="0" rIns="0" bIns="0" rtlCol="0" anchor="t"/>
          <a:lstStyle/>
          <a:p>
            <a:pPr marL="0" indent="0" algn="l">
              <a:lnSpc>
                <a:spcPts val="975"/>
              </a:lnSpc>
              <a:buNone/>
            </a:pPr>
            <a:r>
              <a:rPr lang="en-US" sz="795" kern="0" spc="15" dirty="0">
                <a:solidFill>
                  <a:srgbClr val="333231"/>
                </a:solidFill>
                <a:latin typeface="Quicksand SemiBold" pitchFamily="34" charset="0"/>
              </a:rPr>
              <a:t>Foodservice distribution</a:t>
            </a:r>
            <a:endParaRPr lang="en-US" sz="795" dirty="0"/>
          </a:p>
        </p:txBody>
      </p:sp>
      <p:sp>
        <p:nvSpPr>
          <p:cNvPr id="88" name="Shape 87"/>
          <p:cNvSpPr/>
          <p:nvPr/>
        </p:nvSpPr>
        <p:spPr>
          <a:xfrm>
            <a:off x="4889450" y="3943350"/>
            <a:ext cx="9525" cy="314325"/>
          </a:xfrm>
          <a:prstGeom prst="rect">
            <a:avLst/>
          </a:prstGeom>
          <a:solidFill>
            <a:srgbClr val="C3BDB6"/>
          </a:solidFill>
          <a:ln/>
        </p:spPr>
        <p:txBody>
          <a:bodyPr/>
          <a:lstStyle/>
          <a:p>
            <a:endParaRPr lang="en-US"/>
          </a:p>
        </p:txBody>
      </p:sp>
      <p:sp>
        <p:nvSpPr>
          <p:cNvPr id="89" name="Shape 88"/>
          <p:cNvSpPr/>
          <p:nvPr/>
        </p:nvSpPr>
        <p:spPr>
          <a:xfrm>
            <a:off x="4889450" y="4038600"/>
            <a:ext cx="530423" cy="114300"/>
          </a:xfrm>
          <a:prstGeom prst="rect">
            <a:avLst/>
          </a:prstGeom>
          <a:solidFill>
            <a:srgbClr val="B68757"/>
          </a:solidFill>
          <a:ln/>
        </p:spPr>
        <p:txBody>
          <a:bodyPr/>
          <a:lstStyle/>
          <a:p>
            <a:endParaRPr lang="en-US"/>
          </a:p>
        </p:txBody>
      </p:sp>
      <p:sp>
        <p:nvSpPr>
          <p:cNvPr id="90" name="Shape 89"/>
          <p:cNvSpPr/>
          <p:nvPr/>
        </p:nvSpPr>
        <p:spPr>
          <a:xfrm>
            <a:off x="5488484" y="4000500"/>
            <a:ext cx="19050" cy="190500"/>
          </a:xfrm>
          <a:prstGeom prst="rect">
            <a:avLst/>
          </a:prstGeom>
          <a:solidFill>
            <a:srgbClr val="1B1A1A"/>
          </a:solidFill>
          <a:ln/>
        </p:spPr>
        <p:txBody>
          <a:bodyPr/>
          <a:lstStyle/>
          <a:p>
            <a:endParaRPr lang="en-US"/>
          </a:p>
        </p:txBody>
      </p:sp>
      <p:sp>
        <p:nvSpPr>
          <p:cNvPr id="91" name="Text 90"/>
          <p:cNvSpPr txBox="1"/>
          <p:nvPr/>
        </p:nvSpPr>
        <p:spPr>
          <a:xfrm>
            <a:off x="5555159" y="4014788"/>
            <a:ext cx="289917" cy="161925"/>
          </a:xfrm>
          <a:prstGeom prst="rect">
            <a:avLst/>
          </a:prstGeom>
          <a:noFill/>
          <a:ln/>
        </p:spPr>
        <p:txBody>
          <a:bodyPr wrap="none" lIns="0" tIns="0" rIns="0" bIns="0" rtlCol="0" anchor="t"/>
          <a:lstStyle/>
          <a:p>
            <a:pPr marL="0" indent="0" algn="l">
              <a:lnSpc>
                <a:spcPts val="1275"/>
              </a:lnSpc>
              <a:buNone/>
            </a:pPr>
            <a:r>
              <a:rPr lang="en-US" sz="788" b="1" kern="0" spc="15" dirty="0">
                <a:solidFill>
                  <a:srgbClr val="1B1A1A"/>
                </a:solidFill>
                <a:latin typeface="Quicksand" pitchFamily="34" charset="0"/>
              </a:rPr>
              <a:t>12.3x</a:t>
            </a:r>
            <a:endParaRPr lang="en-US" sz="788" dirty="0"/>
          </a:p>
        </p:txBody>
      </p:sp>
      <p:sp>
        <p:nvSpPr>
          <p:cNvPr id="92" name="Text 91"/>
          <p:cNvSpPr txBox="1"/>
          <p:nvPr/>
        </p:nvSpPr>
        <p:spPr>
          <a:xfrm>
            <a:off x="3689300" y="4291013"/>
            <a:ext cx="2679650" cy="161925"/>
          </a:xfrm>
          <a:prstGeom prst="rect">
            <a:avLst/>
          </a:prstGeom>
          <a:noFill/>
          <a:ln/>
        </p:spPr>
        <p:txBody>
          <a:bodyPr wrap="none" lIns="0" tIns="0" rIns="0" bIns="0" rtlCol="0" anchor="t"/>
          <a:lstStyle/>
          <a:p>
            <a:pPr marL="0" indent="0" algn="l">
              <a:lnSpc>
                <a:spcPts val="1275"/>
              </a:lnSpc>
              <a:buNone/>
            </a:pPr>
            <a:r>
              <a:rPr lang="en-US" sz="615" b="1" kern="0" spc="135" dirty="0">
                <a:solidFill>
                  <a:srgbClr val="8C6239"/>
                </a:solidFill>
                <a:latin typeface="Quicksand" pitchFamily="34" charset="0"/>
              </a:rPr>
              <a:t>CONSUMER SERVICES &amp; RETAIL</a:t>
            </a:r>
            <a:endParaRPr lang="en-US" sz="615" dirty="0"/>
          </a:p>
        </p:txBody>
      </p:sp>
      <p:sp>
        <p:nvSpPr>
          <p:cNvPr id="93" name="Text 92"/>
          <p:cNvSpPr txBox="1"/>
          <p:nvPr/>
        </p:nvSpPr>
        <p:spPr>
          <a:xfrm>
            <a:off x="3689300" y="4567238"/>
            <a:ext cx="1200150" cy="123825"/>
          </a:xfrm>
          <a:prstGeom prst="rect">
            <a:avLst/>
          </a:prstGeom>
          <a:noFill/>
          <a:ln/>
        </p:spPr>
        <p:txBody>
          <a:bodyPr wrap="none" lIns="0" tIns="0" rIns="0" bIns="0" rtlCol="0" anchor="t"/>
          <a:lstStyle/>
          <a:p>
            <a:pPr marL="0" indent="0" algn="l">
              <a:lnSpc>
                <a:spcPts val="975"/>
              </a:lnSpc>
              <a:buNone/>
            </a:pPr>
            <a:r>
              <a:rPr lang="en-US" sz="795" kern="0" spc="15" dirty="0">
                <a:solidFill>
                  <a:srgbClr val="333231"/>
                </a:solidFill>
                <a:latin typeface="Quicksand SemiBold" pitchFamily="34" charset="0"/>
              </a:rPr>
              <a:t>Restaurants</a:t>
            </a:r>
            <a:endParaRPr lang="en-US" sz="795" dirty="0"/>
          </a:p>
        </p:txBody>
      </p:sp>
      <p:sp>
        <p:nvSpPr>
          <p:cNvPr id="94" name="Shape 93"/>
          <p:cNvSpPr/>
          <p:nvPr/>
        </p:nvSpPr>
        <p:spPr>
          <a:xfrm>
            <a:off x="4889450" y="4476750"/>
            <a:ext cx="9525" cy="314325"/>
          </a:xfrm>
          <a:prstGeom prst="rect">
            <a:avLst/>
          </a:prstGeom>
          <a:solidFill>
            <a:srgbClr val="C3BDB6"/>
          </a:solidFill>
          <a:ln/>
        </p:spPr>
        <p:txBody>
          <a:bodyPr/>
          <a:lstStyle/>
          <a:p>
            <a:endParaRPr lang="en-US"/>
          </a:p>
        </p:txBody>
      </p:sp>
      <p:sp>
        <p:nvSpPr>
          <p:cNvPr id="95" name="Shape 94"/>
          <p:cNvSpPr/>
          <p:nvPr/>
        </p:nvSpPr>
        <p:spPr>
          <a:xfrm>
            <a:off x="4889450" y="4572000"/>
            <a:ext cx="632371" cy="114300"/>
          </a:xfrm>
          <a:prstGeom prst="rect">
            <a:avLst/>
          </a:prstGeom>
          <a:solidFill>
            <a:srgbClr val="B68757"/>
          </a:solidFill>
          <a:ln/>
        </p:spPr>
        <p:txBody>
          <a:bodyPr/>
          <a:lstStyle/>
          <a:p>
            <a:endParaRPr lang="en-US"/>
          </a:p>
        </p:txBody>
      </p:sp>
      <p:sp>
        <p:nvSpPr>
          <p:cNvPr id="96" name="Shape 95"/>
          <p:cNvSpPr/>
          <p:nvPr/>
        </p:nvSpPr>
        <p:spPr>
          <a:xfrm>
            <a:off x="5644753" y="4533900"/>
            <a:ext cx="19050" cy="190500"/>
          </a:xfrm>
          <a:prstGeom prst="rect">
            <a:avLst/>
          </a:prstGeom>
          <a:solidFill>
            <a:srgbClr val="1B1A1A"/>
          </a:solidFill>
          <a:ln/>
        </p:spPr>
        <p:txBody>
          <a:bodyPr/>
          <a:lstStyle/>
          <a:p>
            <a:endParaRPr lang="en-US"/>
          </a:p>
        </p:txBody>
      </p:sp>
      <p:sp>
        <p:nvSpPr>
          <p:cNvPr id="97" name="Text 96"/>
          <p:cNvSpPr txBox="1"/>
          <p:nvPr/>
        </p:nvSpPr>
        <p:spPr>
          <a:xfrm>
            <a:off x="5711428" y="4548188"/>
            <a:ext cx="293340" cy="161925"/>
          </a:xfrm>
          <a:prstGeom prst="rect">
            <a:avLst/>
          </a:prstGeom>
          <a:noFill/>
          <a:ln/>
        </p:spPr>
        <p:txBody>
          <a:bodyPr wrap="none" lIns="0" tIns="0" rIns="0" bIns="0" rtlCol="0" anchor="t"/>
          <a:lstStyle/>
          <a:p>
            <a:pPr marL="0" indent="0" algn="l">
              <a:lnSpc>
                <a:spcPts val="1275"/>
              </a:lnSpc>
              <a:buNone/>
            </a:pPr>
            <a:r>
              <a:rPr lang="en-US" sz="788" b="1" kern="0" spc="15" dirty="0">
                <a:solidFill>
                  <a:srgbClr val="1B1A1A"/>
                </a:solidFill>
                <a:latin typeface="Quicksand" pitchFamily="34" charset="0"/>
              </a:rPr>
              <a:t>14.6x</a:t>
            </a:r>
            <a:endParaRPr lang="en-US" sz="788" dirty="0"/>
          </a:p>
        </p:txBody>
      </p:sp>
      <p:sp>
        <p:nvSpPr>
          <p:cNvPr id="98" name="Text 97"/>
          <p:cNvSpPr txBox="1"/>
          <p:nvPr/>
        </p:nvSpPr>
        <p:spPr>
          <a:xfrm>
            <a:off x="3689300" y="4881563"/>
            <a:ext cx="1200150" cy="123825"/>
          </a:xfrm>
          <a:prstGeom prst="rect">
            <a:avLst/>
          </a:prstGeom>
          <a:noFill/>
          <a:ln/>
        </p:spPr>
        <p:txBody>
          <a:bodyPr wrap="none" lIns="0" tIns="0" rIns="0" bIns="0" rtlCol="0" anchor="t"/>
          <a:lstStyle/>
          <a:p>
            <a:pPr marL="0" indent="0" algn="l">
              <a:lnSpc>
                <a:spcPts val="975"/>
              </a:lnSpc>
              <a:buNone/>
            </a:pPr>
            <a:r>
              <a:rPr lang="en-US" sz="795" kern="0" spc="15" dirty="0">
                <a:solidFill>
                  <a:srgbClr val="333231"/>
                </a:solidFill>
                <a:latin typeface="Quicksand SemiBold" pitchFamily="34" charset="0"/>
              </a:rPr>
              <a:t>Consumer services</a:t>
            </a:r>
            <a:endParaRPr lang="en-US" sz="795" dirty="0"/>
          </a:p>
        </p:txBody>
      </p:sp>
      <p:sp>
        <p:nvSpPr>
          <p:cNvPr id="99" name="Shape 98"/>
          <p:cNvSpPr/>
          <p:nvPr/>
        </p:nvSpPr>
        <p:spPr>
          <a:xfrm>
            <a:off x="4889450" y="4791075"/>
            <a:ext cx="9525" cy="314325"/>
          </a:xfrm>
          <a:prstGeom prst="rect">
            <a:avLst/>
          </a:prstGeom>
          <a:solidFill>
            <a:srgbClr val="C3BDB6"/>
          </a:solidFill>
          <a:ln/>
        </p:spPr>
        <p:txBody>
          <a:bodyPr/>
          <a:lstStyle/>
          <a:p>
            <a:endParaRPr lang="en-US"/>
          </a:p>
        </p:txBody>
      </p:sp>
      <p:sp>
        <p:nvSpPr>
          <p:cNvPr id="100" name="Shape 99"/>
          <p:cNvSpPr/>
          <p:nvPr/>
        </p:nvSpPr>
        <p:spPr>
          <a:xfrm>
            <a:off x="4889450" y="4886325"/>
            <a:ext cx="508546" cy="114300"/>
          </a:xfrm>
          <a:prstGeom prst="rect">
            <a:avLst/>
          </a:prstGeom>
          <a:solidFill>
            <a:srgbClr val="B68757"/>
          </a:solidFill>
          <a:ln/>
        </p:spPr>
        <p:txBody>
          <a:bodyPr/>
          <a:lstStyle/>
          <a:p>
            <a:endParaRPr lang="en-US"/>
          </a:p>
        </p:txBody>
      </p:sp>
      <p:sp>
        <p:nvSpPr>
          <p:cNvPr id="101" name="Shape 100"/>
          <p:cNvSpPr/>
          <p:nvPr/>
        </p:nvSpPr>
        <p:spPr>
          <a:xfrm>
            <a:off x="5601891" y="4848225"/>
            <a:ext cx="19050" cy="190500"/>
          </a:xfrm>
          <a:prstGeom prst="rect">
            <a:avLst/>
          </a:prstGeom>
          <a:solidFill>
            <a:srgbClr val="1B1A1A"/>
          </a:solidFill>
          <a:ln/>
        </p:spPr>
        <p:txBody>
          <a:bodyPr/>
          <a:lstStyle/>
          <a:p>
            <a:endParaRPr lang="en-US"/>
          </a:p>
        </p:txBody>
      </p:sp>
      <p:sp>
        <p:nvSpPr>
          <p:cNvPr id="102" name="Text 101"/>
          <p:cNvSpPr txBox="1"/>
          <p:nvPr/>
        </p:nvSpPr>
        <p:spPr>
          <a:xfrm>
            <a:off x="5668566" y="4862513"/>
            <a:ext cx="272951" cy="161925"/>
          </a:xfrm>
          <a:prstGeom prst="rect">
            <a:avLst/>
          </a:prstGeom>
          <a:noFill/>
          <a:ln/>
        </p:spPr>
        <p:txBody>
          <a:bodyPr wrap="none" lIns="0" tIns="0" rIns="0" bIns="0" rtlCol="0" anchor="t"/>
          <a:lstStyle/>
          <a:p>
            <a:pPr marL="0" indent="0" algn="l">
              <a:lnSpc>
                <a:spcPts val="1275"/>
              </a:lnSpc>
              <a:buNone/>
            </a:pPr>
            <a:r>
              <a:rPr lang="en-US" sz="788" b="1" kern="0" spc="15" dirty="0">
                <a:solidFill>
                  <a:srgbClr val="1B1A1A"/>
                </a:solidFill>
                <a:latin typeface="Quicksand" pitchFamily="34" charset="0"/>
              </a:rPr>
              <a:t>11.8x</a:t>
            </a:r>
            <a:endParaRPr lang="en-US" sz="788" dirty="0"/>
          </a:p>
        </p:txBody>
      </p:sp>
      <p:sp>
        <p:nvSpPr>
          <p:cNvPr id="103" name="Text 102"/>
          <p:cNvSpPr txBox="1"/>
          <p:nvPr/>
        </p:nvSpPr>
        <p:spPr>
          <a:xfrm>
            <a:off x="3689300" y="5195888"/>
            <a:ext cx="1200150" cy="123825"/>
          </a:xfrm>
          <a:prstGeom prst="rect">
            <a:avLst/>
          </a:prstGeom>
          <a:noFill/>
          <a:ln/>
        </p:spPr>
        <p:txBody>
          <a:bodyPr wrap="none" lIns="0" tIns="0" rIns="0" bIns="0" rtlCol="0" anchor="t"/>
          <a:lstStyle/>
          <a:p>
            <a:pPr marL="0" indent="0" algn="l">
              <a:lnSpc>
                <a:spcPts val="975"/>
              </a:lnSpc>
              <a:buNone/>
            </a:pPr>
            <a:r>
              <a:rPr lang="en-US" sz="795" kern="0" spc="15" dirty="0">
                <a:solidFill>
                  <a:srgbClr val="333231"/>
                </a:solidFill>
                <a:latin typeface="Quicksand SemiBold" pitchFamily="34" charset="0"/>
              </a:rPr>
              <a:t>Retail</a:t>
            </a:r>
            <a:endParaRPr lang="en-US" sz="795" dirty="0"/>
          </a:p>
        </p:txBody>
      </p:sp>
      <p:sp>
        <p:nvSpPr>
          <p:cNvPr id="104" name="Shape 103"/>
          <p:cNvSpPr/>
          <p:nvPr/>
        </p:nvSpPr>
        <p:spPr>
          <a:xfrm>
            <a:off x="4889450" y="5105400"/>
            <a:ext cx="9525" cy="314325"/>
          </a:xfrm>
          <a:prstGeom prst="rect">
            <a:avLst/>
          </a:prstGeom>
          <a:solidFill>
            <a:srgbClr val="C3BDB6"/>
          </a:solidFill>
          <a:ln/>
        </p:spPr>
        <p:txBody>
          <a:bodyPr/>
          <a:lstStyle/>
          <a:p>
            <a:endParaRPr lang="en-US"/>
          </a:p>
        </p:txBody>
      </p:sp>
      <p:sp>
        <p:nvSpPr>
          <p:cNvPr id="105" name="Shape 104"/>
          <p:cNvSpPr/>
          <p:nvPr/>
        </p:nvSpPr>
        <p:spPr>
          <a:xfrm>
            <a:off x="4889450" y="5200650"/>
            <a:ext cx="512415" cy="114300"/>
          </a:xfrm>
          <a:prstGeom prst="rect">
            <a:avLst/>
          </a:prstGeom>
          <a:solidFill>
            <a:srgbClr val="B68757"/>
          </a:solidFill>
          <a:ln/>
        </p:spPr>
        <p:txBody>
          <a:bodyPr/>
          <a:lstStyle/>
          <a:p>
            <a:endParaRPr lang="en-US"/>
          </a:p>
        </p:txBody>
      </p:sp>
      <p:sp>
        <p:nvSpPr>
          <p:cNvPr id="106" name="Shape 105"/>
          <p:cNvSpPr/>
          <p:nvPr/>
        </p:nvSpPr>
        <p:spPr>
          <a:xfrm>
            <a:off x="5521821" y="5162550"/>
            <a:ext cx="19050" cy="190500"/>
          </a:xfrm>
          <a:prstGeom prst="rect">
            <a:avLst/>
          </a:prstGeom>
          <a:solidFill>
            <a:srgbClr val="1B1A1A"/>
          </a:solidFill>
          <a:ln/>
        </p:spPr>
        <p:txBody>
          <a:bodyPr/>
          <a:lstStyle/>
          <a:p>
            <a:endParaRPr lang="en-US"/>
          </a:p>
        </p:txBody>
      </p:sp>
      <p:sp>
        <p:nvSpPr>
          <p:cNvPr id="107" name="Text 106"/>
          <p:cNvSpPr txBox="1"/>
          <p:nvPr/>
        </p:nvSpPr>
        <p:spPr>
          <a:xfrm>
            <a:off x="5588496" y="5176838"/>
            <a:ext cx="272951" cy="161925"/>
          </a:xfrm>
          <a:prstGeom prst="rect">
            <a:avLst/>
          </a:prstGeom>
          <a:noFill/>
          <a:ln/>
        </p:spPr>
        <p:txBody>
          <a:bodyPr wrap="none" lIns="0" tIns="0" rIns="0" bIns="0" rtlCol="0" anchor="t"/>
          <a:lstStyle/>
          <a:p>
            <a:pPr marL="0" indent="0" algn="l">
              <a:lnSpc>
                <a:spcPts val="1275"/>
              </a:lnSpc>
              <a:buNone/>
            </a:pPr>
            <a:r>
              <a:rPr lang="en-US" sz="788" b="1" kern="0" spc="15" dirty="0">
                <a:solidFill>
                  <a:srgbClr val="1B1A1A"/>
                </a:solidFill>
                <a:latin typeface="Quicksand" pitchFamily="34" charset="0"/>
              </a:rPr>
              <a:t>11.8x</a:t>
            </a:r>
            <a:endParaRPr lang="en-US" sz="788" dirty="0"/>
          </a:p>
        </p:txBody>
      </p:sp>
      <p:sp>
        <p:nvSpPr>
          <p:cNvPr id="108" name="Shape 107"/>
          <p:cNvSpPr/>
          <p:nvPr/>
        </p:nvSpPr>
        <p:spPr>
          <a:xfrm>
            <a:off x="6654701" y="1238250"/>
            <a:ext cx="2984599" cy="4762500"/>
          </a:xfrm>
          <a:prstGeom prst="rect">
            <a:avLst/>
          </a:prstGeom>
          <a:solidFill>
            <a:srgbClr val="FAF7F3"/>
          </a:solidFill>
          <a:ln/>
        </p:spPr>
        <p:txBody>
          <a:bodyPr/>
          <a:lstStyle/>
          <a:p>
            <a:endParaRPr lang="en-US"/>
          </a:p>
        </p:txBody>
      </p:sp>
      <p:sp>
        <p:nvSpPr>
          <p:cNvPr id="109" name="Shape 108"/>
          <p:cNvSpPr/>
          <p:nvPr/>
        </p:nvSpPr>
        <p:spPr>
          <a:xfrm>
            <a:off x="6654701" y="1238250"/>
            <a:ext cx="2984599" cy="28575"/>
          </a:xfrm>
          <a:prstGeom prst="rect">
            <a:avLst/>
          </a:prstGeom>
          <a:solidFill>
            <a:srgbClr val="B68757"/>
          </a:solidFill>
          <a:ln/>
        </p:spPr>
        <p:txBody>
          <a:bodyPr/>
          <a:lstStyle/>
          <a:p>
            <a:endParaRPr lang="en-US"/>
          </a:p>
        </p:txBody>
      </p:sp>
      <p:sp>
        <p:nvSpPr>
          <p:cNvPr id="110" name="Text 109"/>
          <p:cNvSpPr txBox="1"/>
          <p:nvPr/>
        </p:nvSpPr>
        <p:spPr>
          <a:xfrm>
            <a:off x="6807101" y="1385888"/>
            <a:ext cx="2679799" cy="161925"/>
          </a:xfrm>
          <a:prstGeom prst="rect">
            <a:avLst/>
          </a:prstGeom>
          <a:noFill/>
          <a:ln/>
        </p:spPr>
        <p:txBody>
          <a:bodyPr wrap="none" lIns="0" tIns="0" rIns="0" bIns="0" rtlCol="0" anchor="t"/>
          <a:lstStyle/>
          <a:p>
            <a:pPr marL="0" indent="0" algn="l">
              <a:lnSpc>
                <a:spcPts val="1275"/>
              </a:lnSpc>
              <a:buNone/>
            </a:pPr>
            <a:r>
              <a:rPr lang="en-US" sz="938" b="1" kern="0" spc="15" dirty="0">
                <a:solidFill>
                  <a:srgbClr val="1B1A1A"/>
                </a:solidFill>
                <a:latin typeface="Quicksand" pitchFamily="34" charset="0"/>
              </a:rPr>
              <a:t>Median forward price to earnings</a:t>
            </a:r>
            <a:endParaRPr lang="en-US" sz="938" dirty="0"/>
          </a:p>
        </p:txBody>
      </p:sp>
      <p:sp>
        <p:nvSpPr>
          <p:cNvPr id="111" name="Text 110"/>
          <p:cNvSpPr txBox="1"/>
          <p:nvPr/>
        </p:nvSpPr>
        <p:spPr>
          <a:xfrm>
            <a:off x="6807101" y="1552575"/>
            <a:ext cx="2679799" cy="123825"/>
          </a:xfrm>
          <a:prstGeom prst="rect">
            <a:avLst/>
          </a:prstGeom>
          <a:noFill/>
          <a:ln/>
        </p:spPr>
        <p:txBody>
          <a:bodyPr wrap="none" lIns="0" tIns="0" rIns="0" bIns="0" rtlCol="0" anchor="t"/>
          <a:lstStyle/>
          <a:p>
            <a:pPr marL="0" indent="0" algn="l">
              <a:lnSpc>
                <a:spcPts val="975"/>
              </a:lnSpc>
              <a:buNone/>
            </a:pPr>
            <a:r>
              <a:rPr lang="en-US" sz="705" kern="0" spc="15" dirty="0">
                <a:solidFill>
                  <a:srgbClr val="6F6A66"/>
                </a:solidFill>
                <a:latin typeface="Quicksand" pitchFamily="34" charset="0"/>
              </a:rPr>
              <a:t>Share price to consensus earnings for the next year</a:t>
            </a:r>
            <a:endParaRPr lang="en-US" sz="705" dirty="0"/>
          </a:p>
        </p:txBody>
      </p:sp>
      <p:sp>
        <p:nvSpPr>
          <p:cNvPr id="112" name="Text 111"/>
          <p:cNvSpPr txBox="1"/>
          <p:nvPr/>
        </p:nvSpPr>
        <p:spPr>
          <a:xfrm>
            <a:off x="6807101" y="1747838"/>
            <a:ext cx="2679799" cy="161925"/>
          </a:xfrm>
          <a:prstGeom prst="rect">
            <a:avLst/>
          </a:prstGeom>
          <a:noFill/>
          <a:ln/>
        </p:spPr>
        <p:txBody>
          <a:bodyPr wrap="none" lIns="0" tIns="0" rIns="0" bIns="0" rtlCol="0" anchor="t"/>
          <a:lstStyle/>
          <a:p>
            <a:pPr marL="0" indent="0" algn="l">
              <a:lnSpc>
                <a:spcPts val="1275"/>
              </a:lnSpc>
              <a:buNone/>
            </a:pPr>
            <a:r>
              <a:rPr lang="en-US" sz="615" b="1" kern="0" spc="135" dirty="0">
                <a:solidFill>
                  <a:srgbClr val="8C6239"/>
                </a:solidFill>
                <a:latin typeface="Quicksand" pitchFamily="34" charset="0"/>
              </a:rPr>
              <a:t>FOOD &amp; BEVERAGE</a:t>
            </a:r>
            <a:endParaRPr lang="en-US" sz="615" dirty="0"/>
          </a:p>
        </p:txBody>
      </p:sp>
      <p:sp>
        <p:nvSpPr>
          <p:cNvPr id="113" name="Text 112"/>
          <p:cNvSpPr txBox="1"/>
          <p:nvPr/>
        </p:nvSpPr>
        <p:spPr>
          <a:xfrm>
            <a:off x="6807101" y="2024062"/>
            <a:ext cx="1200150" cy="123825"/>
          </a:xfrm>
          <a:prstGeom prst="rect">
            <a:avLst/>
          </a:prstGeom>
          <a:noFill/>
          <a:ln/>
        </p:spPr>
        <p:txBody>
          <a:bodyPr wrap="none" lIns="0" tIns="0" rIns="0" bIns="0" rtlCol="0" anchor="t"/>
          <a:lstStyle/>
          <a:p>
            <a:pPr marL="0" indent="0" algn="l">
              <a:lnSpc>
                <a:spcPts val="975"/>
              </a:lnSpc>
              <a:buNone/>
            </a:pPr>
            <a:r>
              <a:rPr lang="en-US" sz="795" kern="0" spc="15" dirty="0">
                <a:solidFill>
                  <a:srgbClr val="333231"/>
                </a:solidFill>
                <a:latin typeface="Quicksand SemiBold" pitchFamily="34" charset="0"/>
              </a:rPr>
              <a:t>Packaged food</a:t>
            </a:r>
            <a:endParaRPr lang="en-US" sz="795" dirty="0"/>
          </a:p>
        </p:txBody>
      </p:sp>
      <p:sp>
        <p:nvSpPr>
          <p:cNvPr id="114" name="Shape 113"/>
          <p:cNvSpPr/>
          <p:nvPr/>
        </p:nvSpPr>
        <p:spPr>
          <a:xfrm>
            <a:off x="8007251" y="1933575"/>
            <a:ext cx="9525" cy="314325"/>
          </a:xfrm>
          <a:prstGeom prst="rect">
            <a:avLst/>
          </a:prstGeom>
          <a:solidFill>
            <a:srgbClr val="C3BDB6"/>
          </a:solidFill>
          <a:ln/>
        </p:spPr>
        <p:txBody>
          <a:bodyPr/>
          <a:lstStyle/>
          <a:p>
            <a:endParaRPr lang="en-US"/>
          </a:p>
        </p:txBody>
      </p:sp>
      <p:sp>
        <p:nvSpPr>
          <p:cNvPr id="115" name="Shape 114"/>
          <p:cNvSpPr/>
          <p:nvPr/>
        </p:nvSpPr>
        <p:spPr>
          <a:xfrm>
            <a:off x="8007251" y="2028825"/>
            <a:ext cx="390525" cy="114300"/>
          </a:xfrm>
          <a:prstGeom prst="rect">
            <a:avLst/>
          </a:prstGeom>
          <a:solidFill>
            <a:srgbClr val="B68757"/>
          </a:solidFill>
          <a:ln/>
        </p:spPr>
        <p:txBody>
          <a:bodyPr/>
          <a:lstStyle/>
          <a:p>
            <a:endParaRPr lang="en-US"/>
          </a:p>
        </p:txBody>
      </p:sp>
      <p:sp>
        <p:nvSpPr>
          <p:cNvPr id="116" name="Text 115"/>
          <p:cNvSpPr txBox="1"/>
          <p:nvPr/>
        </p:nvSpPr>
        <p:spPr>
          <a:xfrm>
            <a:off x="8454926" y="2005013"/>
            <a:ext cx="252115" cy="161925"/>
          </a:xfrm>
          <a:prstGeom prst="rect">
            <a:avLst/>
          </a:prstGeom>
          <a:noFill/>
          <a:ln/>
        </p:spPr>
        <p:txBody>
          <a:bodyPr wrap="none" lIns="0" tIns="0" rIns="0" bIns="0" rtlCol="0" anchor="t"/>
          <a:lstStyle/>
          <a:p>
            <a:pPr marL="0" indent="0" algn="l">
              <a:lnSpc>
                <a:spcPts val="1275"/>
              </a:lnSpc>
              <a:buNone/>
            </a:pPr>
            <a:r>
              <a:rPr lang="en-US" sz="788" b="1" kern="0" spc="15" dirty="0">
                <a:solidFill>
                  <a:srgbClr val="1B1A1A"/>
                </a:solidFill>
                <a:latin typeface="Quicksand" pitchFamily="34" charset="0"/>
              </a:rPr>
              <a:t>11.1x</a:t>
            </a:r>
            <a:endParaRPr lang="en-US" sz="788" dirty="0"/>
          </a:p>
        </p:txBody>
      </p:sp>
      <p:sp>
        <p:nvSpPr>
          <p:cNvPr id="117" name="Text 116"/>
          <p:cNvSpPr txBox="1"/>
          <p:nvPr/>
        </p:nvSpPr>
        <p:spPr>
          <a:xfrm>
            <a:off x="6807101" y="2338388"/>
            <a:ext cx="1200150" cy="123825"/>
          </a:xfrm>
          <a:prstGeom prst="rect">
            <a:avLst/>
          </a:prstGeom>
          <a:noFill/>
          <a:ln/>
        </p:spPr>
        <p:txBody>
          <a:bodyPr wrap="none" lIns="0" tIns="0" rIns="0" bIns="0" rtlCol="0" anchor="t"/>
          <a:lstStyle/>
          <a:p>
            <a:pPr marL="0" indent="0" algn="l">
              <a:lnSpc>
                <a:spcPts val="975"/>
              </a:lnSpc>
              <a:buNone/>
            </a:pPr>
            <a:r>
              <a:rPr lang="en-US" sz="795" kern="0" spc="15" dirty="0">
                <a:solidFill>
                  <a:srgbClr val="333231"/>
                </a:solidFill>
                <a:latin typeface="Quicksand SemiBold" pitchFamily="34" charset="0"/>
              </a:rPr>
              <a:t>Snacks</a:t>
            </a:r>
            <a:endParaRPr lang="en-US" sz="795" dirty="0"/>
          </a:p>
        </p:txBody>
      </p:sp>
      <p:sp>
        <p:nvSpPr>
          <p:cNvPr id="118" name="Shape 117"/>
          <p:cNvSpPr/>
          <p:nvPr/>
        </p:nvSpPr>
        <p:spPr>
          <a:xfrm>
            <a:off x="8007251" y="2247900"/>
            <a:ext cx="9525" cy="314325"/>
          </a:xfrm>
          <a:prstGeom prst="rect">
            <a:avLst/>
          </a:prstGeom>
          <a:solidFill>
            <a:srgbClr val="C3BDB6"/>
          </a:solidFill>
          <a:ln/>
        </p:spPr>
        <p:txBody>
          <a:bodyPr/>
          <a:lstStyle/>
          <a:p>
            <a:endParaRPr lang="en-US"/>
          </a:p>
        </p:txBody>
      </p:sp>
      <p:sp>
        <p:nvSpPr>
          <p:cNvPr id="119" name="Shape 118"/>
          <p:cNvSpPr/>
          <p:nvPr/>
        </p:nvSpPr>
        <p:spPr>
          <a:xfrm>
            <a:off x="8007251" y="2343150"/>
            <a:ext cx="608558" cy="114300"/>
          </a:xfrm>
          <a:prstGeom prst="rect">
            <a:avLst/>
          </a:prstGeom>
          <a:solidFill>
            <a:srgbClr val="B68757"/>
          </a:solidFill>
          <a:ln/>
        </p:spPr>
        <p:txBody>
          <a:bodyPr/>
          <a:lstStyle/>
          <a:p>
            <a:endParaRPr lang="en-US"/>
          </a:p>
        </p:txBody>
      </p:sp>
      <p:sp>
        <p:nvSpPr>
          <p:cNvPr id="120" name="Text 119"/>
          <p:cNvSpPr txBox="1"/>
          <p:nvPr/>
        </p:nvSpPr>
        <p:spPr>
          <a:xfrm>
            <a:off x="8672959" y="2319338"/>
            <a:ext cx="280839" cy="161925"/>
          </a:xfrm>
          <a:prstGeom prst="rect">
            <a:avLst/>
          </a:prstGeom>
          <a:noFill/>
          <a:ln/>
        </p:spPr>
        <p:txBody>
          <a:bodyPr wrap="none" lIns="0" tIns="0" rIns="0" bIns="0" rtlCol="0" anchor="t"/>
          <a:lstStyle/>
          <a:p>
            <a:pPr marL="0" indent="0" algn="l">
              <a:lnSpc>
                <a:spcPts val="1275"/>
              </a:lnSpc>
              <a:buNone/>
            </a:pPr>
            <a:r>
              <a:rPr lang="en-US" sz="788" b="1" kern="0" spc="15" dirty="0">
                <a:solidFill>
                  <a:srgbClr val="1B1A1A"/>
                </a:solidFill>
                <a:latin typeface="Quicksand" pitchFamily="34" charset="0"/>
              </a:rPr>
              <a:t>17.3x</a:t>
            </a:r>
            <a:endParaRPr lang="en-US" sz="788" dirty="0"/>
          </a:p>
        </p:txBody>
      </p:sp>
      <p:sp>
        <p:nvSpPr>
          <p:cNvPr id="121" name="Text 120"/>
          <p:cNvSpPr txBox="1"/>
          <p:nvPr/>
        </p:nvSpPr>
        <p:spPr>
          <a:xfrm>
            <a:off x="6807101" y="2652713"/>
            <a:ext cx="1200150" cy="123825"/>
          </a:xfrm>
          <a:prstGeom prst="rect">
            <a:avLst/>
          </a:prstGeom>
          <a:noFill/>
          <a:ln/>
        </p:spPr>
        <p:txBody>
          <a:bodyPr wrap="none" lIns="0" tIns="0" rIns="0" bIns="0" rtlCol="0" anchor="t"/>
          <a:lstStyle/>
          <a:p>
            <a:pPr marL="0" indent="0" algn="l">
              <a:lnSpc>
                <a:spcPts val="975"/>
              </a:lnSpc>
              <a:buNone/>
            </a:pPr>
            <a:r>
              <a:rPr lang="en-US" sz="795" kern="0" spc="15" dirty="0">
                <a:solidFill>
                  <a:srgbClr val="333231"/>
                </a:solidFill>
                <a:latin typeface="Quicksand SemiBold" pitchFamily="34" charset="0"/>
              </a:rPr>
              <a:t>Beverages</a:t>
            </a:r>
            <a:endParaRPr lang="en-US" sz="795" dirty="0"/>
          </a:p>
        </p:txBody>
      </p:sp>
      <p:sp>
        <p:nvSpPr>
          <p:cNvPr id="122" name="Shape 121"/>
          <p:cNvSpPr/>
          <p:nvPr/>
        </p:nvSpPr>
        <p:spPr>
          <a:xfrm>
            <a:off x="8007251" y="2562225"/>
            <a:ext cx="9525" cy="314325"/>
          </a:xfrm>
          <a:prstGeom prst="rect">
            <a:avLst/>
          </a:prstGeom>
          <a:solidFill>
            <a:srgbClr val="C3BDB6"/>
          </a:solidFill>
          <a:ln/>
        </p:spPr>
        <p:txBody>
          <a:bodyPr/>
          <a:lstStyle/>
          <a:p>
            <a:endParaRPr lang="en-US"/>
          </a:p>
        </p:txBody>
      </p:sp>
      <p:sp>
        <p:nvSpPr>
          <p:cNvPr id="123" name="Shape 122"/>
          <p:cNvSpPr/>
          <p:nvPr/>
        </p:nvSpPr>
        <p:spPr>
          <a:xfrm>
            <a:off x="8007251" y="2657475"/>
            <a:ext cx="606623" cy="114300"/>
          </a:xfrm>
          <a:prstGeom prst="rect">
            <a:avLst/>
          </a:prstGeom>
          <a:solidFill>
            <a:srgbClr val="B68757"/>
          </a:solidFill>
          <a:ln/>
        </p:spPr>
        <p:txBody>
          <a:bodyPr/>
          <a:lstStyle/>
          <a:p>
            <a:endParaRPr lang="en-US"/>
          </a:p>
        </p:txBody>
      </p:sp>
      <p:sp>
        <p:nvSpPr>
          <p:cNvPr id="124" name="Text 123"/>
          <p:cNvSpPr txBox="1"/>
          <p:nvPr/>
        </p:nvSpPr>
        <p:spPr>
          <a:xfrm>
            <a:off x="8671024" y="2633663"/>
            <a:ext cx="280839" cy="161925"/>
          </a:xfrm>
          <a:prstGeom prst="rect">
            <a:avLst/>
          </a:prstGeom>
          <a:noFill/>
          <a:ln/>
        </p:spPr>
        <p:txBody>
          <a:bodyPr wrap="none" lIns="0" tIns="0" rIns="0" bIns="0" rtlCol="0" anchor="t"/>
          <a:lstStyle/>
          <a:p>
            <a:pPr marL="0" indent="0" algn="l">
              <a:lnSpc>
                <a:spcPts val="1275"/>
              </a:lnSpc>
              <a:buNone/>
            </a:pPr>
            <a:r>
              <a:rPr lang="en-US" sz="788" b="1" kern="0" spc="15" dirty="0">
                <a:solidFill>
                  <a:srgbClr val="1B1A1A"/>
                </a:solidFill>
                <a:latin typeface="Quicksand" pitchFamily="34" charset="0"/>
              </a:rPr>
              <a:t>17.3x</a:t>
            </a:r>
            <a:endParaRPr lang="en-US" sz="788" dirty="0"/>
          </a:p>
        </p:txBody>
      </p:sp>
      <p:sp>
        <p:nvSpPr>
          <p:cNvPr id="125" name="Text 124"/>
          <p:cNvSpPr txBox="1"/>
          <p:nvPr/>
        </p:nvSpPr>
        <p:spPr>
          <a:xfrm>
            <a:off x="6807101" y="2909888"/>
            <a:ext cx="2679799" cy="161925"/>
          </a:xfrm>
          <a:prstGeom prst="rect">
            <a:avLst/>
          </a:prstGeom>
          <a:noFill/>
          <a:ln/>
        </p:spPr>
        <p:txBody>
          <a:bodyPr wrap="none" lIns="0" tIns="0" rIns="0" bIns="0" rtlCol="0" anchor="t"/>
          <a:lstStyle/>
          <a:p>
            <a:pPr marL="0" indent="0" algn="l">
              <a:lnSpc>
                <a:spcPts val="1275"/>
              </a:lnSpc>
              <a:buNone/>
            </a:pPr>
            <a:r>
              <a:rPr lang="en-US" sz="615" b="1" kern="0" spc="135" dirty="0">
                <a:solidFill>
                  <a:srgbClr val="8C6239"/>
                </a:solidFill>
                <a:latin typeface="Quicksand" pitchFamily="34" charset="0"/>
              </a:rPr>
              <a:t>CONSUMER BRANDS &amp; PRODUCTS</a:t>
            </a:r>
            <a:endParaRPr lang="en-US" sz="615" dirty="0"/>
          </a:p>
        </p:txBody>
      </p:sp>
      <p:sp>
        <p:nvSpPr>
          <p:cNvPr id="126" name="Text 125"/>
          <p:cNvSpPr txBox="1"/>
          <p:nvPr/>
        </p:nvSpPr>
        <p:spPr>
          <a:xfrm>
            <a:off x="6807101" y="3124200"/>
            <a:ext cx="1214438" cy="247650"/>
          </a:xfrm>
          <a:prstGeom prst="rect">
            <a:avLst/>
          </a:prstGeom>
          <a:noFill/>
          <a:ln/>
        </p:spPr>
        <p:txBody>
          <a:bodyPr wrap="square" lIns="0" tIns="0" rIns="0" bIns="0" rtlCol="0" anchor="t"/>
          <a:lstStyle/>
          <a:p>
            <a:pPr marL="0" indent="0" algn="l">
              <a:lnSpc>
                <a:spcPts val="975"/>
              </a:lnSpc>
              <a:buNone/>
            </a:pPr>
            <a:r>
              <a:rPr lang="en-US" sz="795" kern="0" spc="15" dirty="0">
                <a:solidFill>
                  <a:srgbClr val="333231"/>
                </a:solidFill>
                <a:latin typeface="Quicksand SemiBold" pitchFamily="34" charset="0"/>
              </a:rPr>
              <a:t>Household &amp; personal care</a:t>
            </a:r>
            <a:endParaRPr lang="en-US" sz="795" dirty="0"/>
          </a:p>
        </p:txBody>
      </p:sp>
      <p:sp>
        <p:nvSpPr>
          <p:cNvPr id="127" name="Shape 126"/>
          <p:cNvSpPr/>
          <p:nvPr/>
        </p:nvSpPr>
        <p:spPr>
          <a:xfrm>
            <a:off x="8007251" y="3095625"/>
            <a:ext cx="9525" cy="314325"/>
          </a:xfrm>
          <a:prstGeom prst="rect">
            <a:avLst/>
          </a:prstGeom>
          <a:solidFill>
            <a:srgbClr val="C3BDB6"/>
          </a:solidFill>
          <a:ln/>
        </p:spPr>
        <p:txBody>
          <a:bodyPr/>
          <a:lstStyle/>
          <a:p>
            <a:endParaRPr lang="en-US"/>
          </a:p>
        </p:txBody>
      </p:sp>
      <p:sp>
        <p:nvSpPr>
          <p:cNvPr id="128" name="Shape 127"/>
          <p:cNvSpPr/>
          <p:nvPr/>
        </p:nvSpPr>
        <p:spPr>
          <a:xfrm>
            <a:off x="8007251" y="3190875"/>
            <a:ext cx="810518" cy="114300"/>
          </a:xfrm>
          <a:prstGeom prst="rect">
            <a:avLst/>
          </a:prstGeom>
          <a:solidFill>
            <a:srgbClr val="B68757"/>
          </a:solidFill>
          <a:ln/>
        </p:spPr>
        <p:txBody>
          <a:bodyPr/>
          <a:lstStyle/>
          <a:p>
            <a:endParaRPr lang="en-US"/>
          </a:p>
        </p:txBody>
      </p:sp>
      <p:sp>
        <p:nvSpPr>
          <p:cNvPr id="129" name="Text 128"/>
          <p:cNvSpPr txBox="1"/>
          <p:nvPr/>
        </p:nvSpPr>
        <p:spPr>
          <a:xfrm>
            <a:off x="8874919" y="3167063"/>
            <a:ext cx="284857" cy="161925"/>
          </a:xfrm>
          <a:prstGeom prst="rect">
            <a:avLst/>
          </a:prstGeom>
          <a:noFill/>
          <a:ln/>
        </p:spPr>
        <p:txBody>
          <a:bodyPr wrap="none" lIns="0" tIns="0" rIns="0" bIns="0" rtlCol="0" anchor="t"/>
          <a:lstStyle/>
          <a:p>
            <a:pPr marL="0" indent="0" algn="l">
              <a:lnSpc>
                <a:spcPts val="1275"/>
              </a:lnSpc>
              <a:buNone/>
            </a:pPr>
            <a:r>
              <a:rPr lang="en-US" sz="788" b="1" kern="0" spc="15" dirty="0">
                <a:solidFill>
                  <a:srgbClr val="1B1A1A"/>
                </a:solidFill>
                <a:latin typeface="Quicksand" pitchFamily="34" charset="0"/>
              </a:rPr>
              <a:t>23.1x</a:t>
            </a:r>
            <a:endParaRPr lang="en-US" sz="788" dirty="0"/>
          </a:p>
        </p:txBody>
      </p:sp>
      <p:sp>
        <p:nvSpPr>
          <p:cNvPr id="130" name="Text 129"/>
          <p:cNvSpPr txBox="1"/>
          <p:nvPr/>
        </p:nvSpPr>
        <p:spPr>
          <a:xfrm>
            <a:off x="6807101" y="3438525"/>
            <a:ext cx="1214438" cy="247650"/>
          </a:xfrm>
          <a:prstGeom prst="rect">
            <a:avLst/>
          </a:prstGeom>
          <a:noFill/>
          <a:ln/>
        </p:spPr>
        <p:txBody>
          <a:bodyPr wrap="square" lIns="0" tIns="0" rIns="0" bIns="0" rtlCol="0" anchor="t"/>
          <a:lstStyle/>
          <a:p>
            <a:pPr marL="0" indent="0" algn="l">
              <a:lnSpc>
                <a:spcPts val="975"/>
              </a:lnSpc>
              <a:buNone/>
            </a:pPr>
            <a:r>
              <a:rPr lang="en-US" sz="795" kern="0" spc="15" dirty="0">
                <a:solidFill>
                  <a:srgbClr val="333231"/>
                </a:solidFill>
                <a:latin typeface="Quicksand SemiBold" pitchFamily="34" charset="0"/>
              </a:rPr>
              <a:t>Durables, outdoor &amp; pet</a:t>
            </a:r>
            <a:endParaRPr lang="en-US" sz="795" dirty="0"/>
          </a:p>
        </p:txBody>
      </p:sp>
      <p:sp>
        <p:nvSpPr>
          <p:cNvPr id="131" name="Shape 130"/>
          <p:cNvSpPr/>
          <p:nvPr/>
        </p:nvSpPr>
        <p:spPr>
          <a:xfrm>
            <a:off x="8007251" y="3409950"/>
            <a:ext cx="9525" cy="314325"/>
          </a:xfrm>
          <a:prstGeom prst="rect">
            <a:avLst/>
          </a:prstGeom>
          <a:solidFill>
            <a:srgbClr val="C3BDB6"/>
          </a:solidFill>
          <a:ln/>
        </p:spPr>
        <p:txBody>
          <a:bodyPr/>
          <a:lstStyle/>
          <a:p>
            <a:endParaRPr lang="en-US"/>
          </a:p>
        </p:txBody>
      </p:sp>
      <p:sp>
        <p:nvSpPr>
          <p:cNvPr id="132" name="Shape 131"/>
          <p:cNvSpPr/>
          <p:nvPr/>
        </p:nvSpPr>
        <p:spPr>
          <a:xfrm>
            <a:off x="8007251" y="3505200"/>
            <a:ext cx="443805" cy="114300"/>
          </a:xfrm>
          <a:prstGeom prst="rect">
            <a:avLst/>
          </a:prstGeom>
          <a:solidFill>
            <a:srgbClr val="B68757"/>
          </a:solidFill>
          <a:ln/>
        </p:spPr>
        <p:txBody>
          <a:bodyPr/>
          <a:lstStyle/>
          <a:p>
            <a:endParaRPr lang="en-US"/>
          </a:p>
        </p:txBody>
      </p:sp>
      <p:sp>
        <p:nvSpPr>
          <p:cNvPr id="133" name="Text 132"/>
          <p:cNvSpPr txBox="1"/>
          <p:nvPr/>
        </p:nvSpPr>
        <p:spPr>
          <a:xfrm>
            <a:off x="8508206" y="3481388"/>
            <a:ext cx="291108" cy="161925"/>
          </a:xfrm>
          <a:prstGeom prst="rect">
            <a:avLst/>
          </a:prstGeom>
          <a:noFill/>
          <a:ln/>
        </p:spPr>
        <p:txBody>
          <a:bodyPr wrap="none" lIns="0" tIns="0" rIns="0" bIns="0" rtlCol="0" anchor="t"/>
          <a:lstStyle/>
          <a:p>
            <a:pPr marL="0" indent="0" algn="l">
              <a:lnSpc>
                <a:spcPts val="1275"/>
              </a:lnSpc>
              <a:buNone/>
            </a:pPr>
            <a:r>
              <a:rPr lang="en-US" sz="788" b="1" kern="0" spc="15" dirty="0">
                <a:solidFill>
                  <a:srgbClr val="1B1A1A"/>
                </a:solidFill>
                <a:latin typeface="Quicksand" pitchFamily="34" charset="0"/>
              </a:rPr>
              <a:t>12.7x</a:t>
            </a:r>
            <a:endParaRPr lang="en-US" sz="788" dirty="0"/>
          </a:p>
        </p:txBody>
      </p:sp>
      <p:sp>
        <p:nvSpPr>
          <p:cNvPr id="134" name="Text 133"/>
          <p:cNvSpPr txBox="1"/>
          <p:nvPr/>
        </p:nvSpPr>
        <p:spPr>
          <a:xfrm>
            <a:off x="6807101" y="3757613"/>
            <a:ext cx="2679799" cy="161925"/>
          </a:xfrm>
          <a:prstGeom prst="rect">
            <a:avLst/>
          </a:prstGeom>
          <a:noFill/>
          <a:ln/>
        </p:spPr>
        <p:txBody>
          <a:bodyPr wrap="none" lIns="0" tIns="0" rIns="0" bIns="0" rtlCol="0" anchor="t"/>
          <a:lstStyle/>
          <a:p>
            <a:pPr marL="0" indent="0" algn="l">
              <a:lnSpc>
                <a:spcPts val="1275"/>
              </a:lnSpc>
              <a:buNone/>
            </a:pPr>
            <a:r>
              <a:rPr lang="en-US" sz="615" b="1" kern="0" spc="135" dirty="0">
                <a:solidFill>
                  <a:srgbClr val="8C6239"/>
                </a:solidFill>
                <a:latin typeface="Quicksand" pitchFamily="34" charset="0"/>
              </a:rPr>
              <a:t>FOODSERVICE &amp; DISTRIBUTION</a:t>
            </a:r>
            <a:endParaRPr lang="en-US" sz="615" dirty="0"/>
          </a:p>
        </p:txBody>
      </p:sp>
      <p:sp>
        <p:nvSpPr>
          <p:cNvPr id="135" name="Text 134"/>
          <p:cNvSpPr txBox="1"/>
          <p:nvPr/>
        </p:nvSpPr>
        <p:spPr>
          <a:xfrm>
            <a:off x="6807101" y="3971925"/>
            <a:ext cx="1214438" cy="247650"/>
          </a:xfrm>
          <a:prstGeom prst="rect">
            <a:avLst/>
          </a:prstGeom>
          <a:noFill/>
          <a:ln/>
        </p:spPr>
        <p:txBody>
          <a:bodyPr wrap="square" lIns="0" tIns="0" rIns="0" bIns="0" rtlCol="0" anchor="t"/>
          <a:lstStyle/>
          <a:p>
            <a:pPr marL="0" indent="0" algn="l">
              <a:lnSpc>
                <a:spcPts val="975"/>
              </a:lnSpc>
              <a:buNone/>
            </a:pPr>
            <a:r>
              <a:rPr lang="en-US" sz="795" kern="0" spc="15" dirty="0">
                <a:solidFill>
                  <a:srgbClr val="333231"/>
                </a:solidFill>
                <a:latin typeface="Quicksand SemiBold" pitchFamily="34" charset="0"/>
              </a:rPr>
              <a:t>Foodservice distribution</a:t>
            </a:r>
            <a:endParaRPr lang="en-US" sz="795" dirty="0"/>
          </a:p>
        </p:txBody>
      </p:sp>
      <p:sp>
        <p:nvSpPr>
          <p:cNvPr id="136" name="Shape 135"/>
          <p:cNvSpPr/>
          <p:nvPr/>
        </p:nvSpPr>
        <p:spPr>
          <a:xfrm>
            <a:off x="8007251" y="3943350"/>
            <a:ext cx="9525" cy="314325"/>
          </a:xfrm>
          <a:prstGeom prst="rect">
            <a:avLst/>
          </a:prstGeom>
          <a:solidFill>
            <a:srgbClr val="C3BDB6"/>
          </a:solidFill>
          <a:ln/>
        </p:spPr>
        <p:txBody>
          <a:bodyPr/>
          <a:lstStyle/>
          <a:p>
            <a:endParaRPr lang="en-US"/>
          </a:p>
        </p:txBody>
      </p:sp>
      <p:sp>
        <p:nvSpPr>
          <p:cNvPr id="137" name="Shape 136"/>
          <p:cNvSpPr/>
          <p:nvPr/>
        </p:nvSpPr>
        <p:spPr>
          <a:xfrm>
            <a:off x="8007251" y="4038600"/>
            <a:ext cx="558998" cy="114300"/>
          </a:xfrm>
          <a:prstGeom prst="rect">
            <a:avLst/>
          </a:prstGeom>
          <a:solidFill>
            <a:srgbClr val="B68757"/>
          </a:solidFill>
          <a:ln/>
        </p:spPr>
        <p:txBody>
          <a:bodyPr/>
          <a:lstStyle/>
          <a:p>
            <a:endParaRPr lang="en-US"/>
          </a:p>
        </p:txBody>
      </p:sp>
      <p:sp>
        <p:nvSpPr>
          <p:cNvPr id="138" name="Text 137"/>
          <p:cNvSpPr txBox="1"/>
          <p:nvPr/>
        </p:nvSpPr>
        <p:spPr>
          <a:xfrm>
            <a:off x="8623399" y="4014788"/>
            <a:ext cx="289620" cy="161925"/>
          </a:xfrm>
          <a:prstGeom prst="rect">
            <a:avLst/>
          </a:prstGeom>
          <a:noFill/>
          <a:ln/>
        </p:spPr>
        <p:txBody>
          <a:bodyPr wrap="none" lIns="0" tIns="0" rIns="0" bIns="0" rtlCol="0" anchor="t"/>
          <a:lstStyle/>
          <a:p>
            <a:pPr marL="0" indent="0" algn="l">
              <a:lnSpc>
                <a:spcPts val="1275"/>
              </a:lnSpc>
              <a:buNone/>
            </a:pPr>
            <a:r>
              <a:rPr lang="en-US" sz="788" b="1" kern="0" spc="15" dirty="0">
                <a:solidFill>
                  <a:srgbClr val="1B1A1A"/>
                </a:solidFill>
                <a:latin typeface="Quicksand" pitchFamily="34" charset="0"/>
              </a:rPr>
              <a:t>15.9x</a:t>
            </a:r>
            <a:endParaRPr lang="en-US" sz="788" dirty="0"/>
          </a:p>
        </p:txBody>
      </p:sp>
      <p:sp>
        <p:nvSpPr>
          <p:cNvPr id="139" name="Text 138"/>
          <p:cNvSpPr txBox="1"/>
          <p:nvPr/>
        </p:nvSpPr>
        <p:spPr>
          <a:xfrm>
            <a:off x="6807101" y="4291013"/>
            <a:ext cx="2679799" cy="161925"/>
          </a:xfrm>
          <a:prstGeom prst="rect">
            <a:avLst/>
          </a:prstGeom>
          <a:noFill/>
          <a:ln/>
        </p:spPr>
        <p:txBody>
          <a:bodyPr wrap="none" lIns="0" tIns="0" rIns="0" bIns="0" rtlCol="0" anchor="t"/>
          <a:lstStyle/>
          <a:p>
            <a:pPr marL="0" indent="0" algn="l">
              <a:lnSpc>
                <a:spcPts val="1275"/>
              </a:lnSpc>
              <a:buNone/>
            </a:pPr>
            <a:r>
              <a:rPr lang="en-US" sz="615" b="1" kern="0" spc="135" dirty="0">
                <a:solidFill>
                  <a:srgbClr val="8C6239"/>
                </a:solidFill>
                <a:latin typeface="Quicksand" pitchFamily="34" charset="0"/>
              </a:rPr>
              <a:t>CONSUMER SERVICES &amp; RETAIL</a:t>
            </a:r>
            <a:endParaRPr lang="en-US" sz="615" dirty="0"/>
          </a:p>
        </p:txBody>
      </p:sp>
      <p:sp>
        <p:nvSpPr>
          <p:cNvPr id="140" name="Text 139"/>
          <p:cNvSpPr txBox="1"/>
          <p:nvPr/>
        </p:nvSpPr>
        <p:spPr>
          <a:xfrm>
            <a:off x="6807101" y="4567238"/>
            <a:ext cx="1200150" cy="123825"/>
          </a:xfrm>
          <a:prstGeom prst="rect">
            <a:avLst/>
          </a:prstGeom>
          <a:noFill/>
          <a:ln/>
        </p:spPr>
        <p:txBody>
          <a:bodyPr wrap="none" lIns="0" tIns="0" rIns="0" bIns="0" rtlCol="0" anchor="t"/>
          <a:lstStyle/>
          <a:p>
            <a:pPr marL="0" indent="0" algn="l">
              <a:lnSpc>
                <a:spcPts val="975"/>
              </a:lnSpc>
              <a:buNone/>
            </a:pPr>
            <a:r>
              <a:rPr lang="en-US" sz="795" kern="0" spc="15" dirty="0">
                <a:solidFill>
                  <a:srgbClr val="333231"/>
                </a:solidFill>
                <a:latin typeface="Quicksand SemiBold" pitchFamily="34" charset="0"/>
              </a:rPr>
              <a:t>Restaurants</a:t>
            </a:r>
            <a:endParaRPr lang="en-US" sz="795" dirty="0"/>
          </a:p>
        </p:txBody>
      </p:sp>
      <p:sp>
        <p:nvSpPr>
          <p:cNvPr id="141" name="Shape 140"/>
          <p:cNvSpPr/>
          <p:nvPr/>
        </p:nvSpPr>
        <p:spPr>
          <a:xfrm>
            <a:off x="8007251" y="4476750"/>
            <a:ext cx="9525" cy="314325"/>
          </a:xfrm>
          <a:prstGeom prst="rect">
            <a:avLst/>
          </a:prstGeom>
          <a:solidFill>
            <a:srgbClr val="C3BDB6"/>
          </a:solidFill>
          <a:ln/>
        </p:spPr>
        <p:txBody>
          <a:bodyPr/>
          <a:lstStyle/>
          <a:p>
            <a:endParaRPr lang="en-US"/>
          </a:p>
        </p:txBody>
      </p:sp>
      <p:sp>
        <p:nvSpPr>
          <p:cNvPr id="142" name="Shape 141"/>
          <p:cNvSpPr/>
          <p:nvPr/>
        </p:nvSpPr>
        <p:spPr>
          <a:xfrm>
            <a:off x="8007251" y="4572000"/>
            <a:ext cx="617190" cy="114300"/>
          </a:xfrm>
          <a:prstGeom prst="rect">
            <a:avLst/>
          </a:prstGeom>
          <a:solidFill>
            <a:srgbClr val="B68757"/>
          </a:solidFill>
          <a:ln/>
        </p:spPr>
        <p:txBody>
          <a:bodyPr/>
          <a:lstStyle/>
          <a:p>
            <a:endParaRPr lang="en-US"/>
          </a:p>
        </p:txBody>
      </p:sp>
      <p:sp>
        <p:nvSpPr>
          <p:cNvPr id="143" name="Text 142"/>
          <p:cNvSpPr txBox="1"/>
          <p:nvPr/>
        </p:nvSpPr>
        <p:spPr>
          <a:xfrm>
            <a:off x="8681591" y="4548188"/>
            <a:ext cx="282476" cy="161925"/>
          </a:xfrm>
          <a:prstGeom prst="rect">
            <a:avLst/>
          </a:prstGeom>
          <a:noFill/>
          <a:ln/>
        </p:spPr>
        <p:txBody>
          <a:bodyPr wrap="none" lIns="0" tIns="0" rIns="0" bIns="0" rtlCol="0" anchor="t"/>
          <a:lstStyle/>
          <a:p>
            <a:pPr marL="0" indent="0" algn="l">
              <a:lnSpc>
                <a:spcPts val="1275"/>
              </a:lnSpc>
              <a:buNone/>
            </a:pPr>
            <a:r>
              <a:rPr lang="en-US" sz="788" b="1" kern="0" spc="15" dirty="0">
                <a:solidFill>
                  <a:srgbClr val="1B1A1A"/>
                </a:solidFill>
                <a:latin typeface="Quicksand" pitchFamily="34" charset="0"/>
              </a:rPr>
              <a:t>17.6x</a:t>
            </a:r>
            <a:endParaRPr lang="en-US" sz="788" dirty="0"/>
          </a:p>
        </p:txBody>
      </p:sp>
      <p:sp>
        <p:nvSpPr>
          <p:cNvPr id="144" name="Text 143"/>
          <p:cNvSpPr txBox="1"/>
          <p:nvPr/>
        </p:nvSpPr>
        <p:spPr>
          <a:xfrm>
            <a:off x="6807101" y="4881563"/>
            <a:ext cx="1200150" cy="123825"/>
          </a:xfrm>
          <a:prstGeom prst="rect">
            <a:avLst/>
          </a:prstGeom>
          <a:noFill/>
          <a:ln/>
        </p:spPr>
        <p:txBody>
          <a:bodyPr wrap="none" lIns="0" tIns="0" rIns="0" bIns="0" rtlCol="0" anchor="t"/>
          <a:lstStyle/>
          <a:p>
            <a:pPr marL="0" indent="0" algn="l">
              <a:lnSpc>
                <a:spcPts val="975"/>
              </a:lnSpc>
              <a:buNone/>
            </a:pPr>
            <a:r>
              <a:rPr lang="en-US" sz="795" kern="0" spc="15" dirty="0">
                <a:solidFill>
                  <a:srgbClr val="333231"/>
                </a:solidFill>
                <a:latin typeface="Quicksand SemiBold" pitchFamily="34" charset="0"/>
              </a:rPr>
              <a:t>Consumer services</a:t>
            </a:r>
            <a:endParaRPr lang="en-US" sz="795" dirty="0"/>
          </a:p>
        </p:txBody>
      </p:sp>
      <p:sp>
        <p:nvSpPr>
          <p:cNvPr id="145" name="Shape 144"/>
          <p:cNvSpPr/>
          <p:nvPr/>
        </p:nvSpPr>
        <p:spPr>
          <a:xfrm>
            <a:off x="8007251" y="4791075"/>
            <a:ext cx="9525" cy="314325"/>
          </a:xfrm>
          <a:prstGeom prst="rect">
            <a:avLst/>
          </a:prstGeom>
          <a:solidFill>
            <a:srgbClr val="C3BDB6"/>
          </a:solidFill>
          <a:ln/>
        </p:spPr>
        <p:txBody>
          <a:bodyPr/>
          <a:lstStyle/>
          <a:p>
            <a:endParaRPr lang="en-US"/>
          </a:p>
        </p:txBody>
      </p:sp>
      <p:sp>
        <p:nvSpPr>
          <p:cNvPr id="146" name="Shape 145"/>
          <p:cNvSpPr/>
          <p:nvPr/>
        </p:nvSpPr>
        <p:spPr>
          <a:xfrm>
            <a:off x="8007251" y="4886325"/>
            <a:ext cx="608558" cy="114300"/>
          </a:xfrm>
          <a:prstGeom prst="rect">
            <a:avLst/>
          </a:prstGeom>
          <a:solidFill>
            <a:srgbClr val="B68757"/>
          </a:solidFill>
          <a:ln/>
        </p:spPr>
        <p:txBody>
          <a:bodyPr/>
          <a:lstStyle/>
          <a:p>
            <a:endParaRPr lang="en-US"/>
          </a:p>
        </p:txBody>
      </p:sp>
      <p:sp>
        <p:nvSpPr>
          <p:cNvPr id="147" name="Text 146"/>
          <p:cNvSpPr txBox="1"/>
          <p:nvPr/>
        </p:nvSpPr>
        <p:spPr>
          <a:xfrm>
            <a:off x="8672959" y="4862513"/>
            <a:ext cx="280839" cy="161925"/>
          </a:xfrm>
          <a:prstGeom prst="rect">
            <a:avLst/>
          </a:prstGeom>
          <a:noFill/>
          <a:ln/>
        </p:spPr>
        <p:txBody>
          <a:bodyPr wrap="none" lIns="0" tIns="0" rIns="0" bIns="0" rtlCol="0" anchor="t"/>
          <a:lstStyle/>
          <a:p>
            <a:pPr marL="0" indent="0" algn="l">
              <a:lnSpc>
                <a:spcPts val="1275"/>
              </a:lnSpc>
              <a:buNone/>
            </a:pPr>
            <a:r>
              <a:rPr lang="en-US" sz="788" b="1" kern="0" spc="15" dirty="0">
                <a:solidFill>
                  <a:srgbClr val="1B1A1A"/>
                </a:solidFill>
                <a:latin typeface="Quicksand" pitchFamily="34" charset="0"/>
              </a:rPr>
              <a:t>17.3x</a:t>
            </a:r>
            <a:endParaRPr lang="en-US" sz="788" dirty="0"/>
          </a:p>
        </p:txBody>
      </p:sp>
      <p:sp>
        <p:nvSpPr>
          <p:cNvPr id="148" name="Text 147"/>
          <p:cNvSpPr txBox="1"/>
          <p:nvPr/>
        </p:nvSpPr>
        <p:spPr>
          <a:xfrm>
            <a:off x="6807101" y="5195888"/>
            <a:ext cx="1200150" cy="123825"/>
          </a:xfrm>
          <a:prstGeom prst="rect">
            <a:avLst/>
          </a:prstGeom>
          <a:noFill/>
          <a:ln/>
        </p:spPr>
        <p:txBody>
          <a:bodyPr wrap="none" lIns="0" tIns="0" rIns="0" bIns="0" rtlCol="0" anchor="t"/>
          <a:lstStyle/>
          <a:p>
            <a:pPr marL="0" indent="0" algn="l">
              <a:lnSpc>
                <a:spcPts val="975"/>
              </a:lnSpc>
              <a:buNone/>
            </a:pPr>
            <a:r>
              <a:rPr lang="en-US" sz="795" kern="0" spc="15" dirty="0">
                <a:solidFill>
                  <a:srgbClr val="333231"/>
                </a:solidFill>
                <a:latin typeface="Quicksand SemiBold" pitchFamily="34" charset="0"/>
              </a:rPr>
              <a:t>Retail</a:t>
            </a:r>
            <a:endParaRPr lang="en-US" sz="795" dirty="0"/>
          </a:p>
        </p:txBody>
      </p:sp>
      <p:sp>
        <p:nvSpPr>
          <p:cNvPr id="149" name="Shape 148"/>
          <p:cNvSpPr/>
          <p:nvPr/>
        </p:nvSpPr>
        <p:spPr>
          <a:xfrm>
            <a:off x="8007251" y="5105400"/>
            <a:ext cx="9525" cy="314325"/>
          </a:xfrm>
          <a:prstGeom prst="rect">
            <a:avLst/>
          </a:prstGeom>
          <a:solidFill>
            <a:srgbClr val="C3BDB6"/>
          </a:solidFill>
          <a:ln/>
        </p:spPr>
        <p:txBody>
          <a:bodyPr/>
          <a:lstStyle/>
          <a:p>
            <a:endParaRPr lang="en-US"/>
          </a:p>
        </p:txBody>
      </p:sp>
      <p:sp>
        <p:nvSpPr>
          <p:cNvPr id="150" name="Shape 149"/>
          <p:cNvSpPr/>
          <p:nvPr/>
        </p:nvSpPr>
        <p:spPr>
          <a:xfrm>
            <a:off x="8007251" y="5200650"/>
            <a:ext cx="579983" cy="114300"/>
          </a:xfrm>
          <a:prstGeom prst="rect">
            <a:avLst/>
          </a:prstGeom>
          <a:solidFill>
            <a:srgbClr val="B68757"/>
          </a:solidFill>
          <a:ln/>
        </p:spPr>
        <p:txBody>
          <a:bodyPr/>
          <a:lstStyle/>
          <a:p>
            <a:endParaRPr lang="en-US"/>
          </a:p>
        </p:txBody>
      </p:sp>
      <p:sp>
        <p:nvSpPr>
          <p:cNvPr id="151" name="Text 150"/>
          <p:cNvSpPr txBox="1"/>
          <p:nvPr/>
        </p:nvSpPr>
        <p:spPr>
          <a:xfrm>
            <a:off x="8644384" y="5176838"/>
            <a:ext cx="292150" cy="161925"/>
          </a:xfrm>
          <a:prstGeom prst="rect">
            <a:avLst/>
          </a:prstGeom>
          <a:noFill/>
          <a:ln/>
        </p:spPr>
        <p:txBody>
          <a:bodyPr wrap="none" lIns="0" tIns="0" rIns="0" bIns="0" rtlCol="0" anchor="t"/>
          <a:lstStyle/>
          <a:p>
            <a:pPr marL="0" indent="0" algn="l">
              <a:lnSpc>
                <a:spcPts val="1275"/>
              </a:lnSpc>
              <a:buNone/>
            </a:pPr>
            <a:r>
              <a:rPr lang="en-US" sz="788" b="1" kern="0" spc="15" dirty="0">
                <a:solidFill>
                  <a:srgbClr val="1B1A1A"/>
                </a:solidFill>
                <a:latin typeface="Quicksand" pitchFamily="34" charset="0"/>
              </a:rPr>
              <a:t>16.5x</a:t>
            </a:r>
            <a:endParaRPr lang="en-US" sz="788" dirty="0"/>
          </a:p>
        </p:txBody>
      </p:sp>
      <p:sp>
        <p:nvSpPr>
          <p:cNvPr id="152" name="Shape 151"/>
          <p:cNvSpPr/>
          <p:nvPr/>
        </p:nvSpPr>
        <p:spPr>
          <a:xfrm>
            <a:off x="419100" y="6115050"/>
            <a:ext cx="9220200" cy="819150"/>
          </a:xfrm>
          <a:prstGeom prst="rect">
            <a:avLst/>
          </a:prstGeom>
          <a:solidFill>
            <a:srgbClr val="1B1A1A"/>
          </a:solidFill>
          <a:ln/>
        </p:spPr>
        <p:txBody>
          <a:bodyPr/>
          <a:lstStyle/>
          <a:p>
            <a:endParaRPr lang="en-US"/>
          </a:p>
        </p:txBody>
      </p:sp>
      <p:sp>
        <p:nvSpPr>
          <p:cNvPr id="153" name="Text 152"/>
          <p:cNvSpPr txBox="1"/>
          <p:nvPr/>
        </p:nvSpPr>
        <p:spPr>
          <a:xfrm>
            <a:off x="609600" y="6319838"/>
            <a:ext cx="1004887" cy="400050"/>
          </a:xfrm>
          <a:prstGeom prst="rect">
            <a:avLst/>
          </a:prstGeom>
          <a:noFill/>
          <a:ln/>
        </p:spPr>
        <p:txBody>
          <a:bodyPr wrap="square" lIns="0" tIns="0" rIns="0" bIns="0" rtlCol="0" anchor="t"/>
          <a:lstStyle/>
          <a:p>
            <a:pPr marL="0" indent="0" algn="l">
              <a:lnSpc>
                <a:spcPts val="1050"/>
              </a:lnSpc>
              <a:buNone/>
            </a:pPr>
            <a:r>
              <a:rPr lang="en-US" sz="675" b="1" kern="0" spc="165" dirty="0">
                <a:solidFill>
                  <a:srgbClr val="D3AE84"/>
                </a:solidFill>
                <a:latin typeface="Quicksand" pitchFamily="34" charset="0"/>
              </a:rPr>
              <a:t>DISCLOSED DEAL MULTIPLES SINCE 2025</a:t>
            </a:r>
            <a:endParaRPr lang="en-US" sz="675" dirty="0"/>
          </a:p>
        </p:txBody>
      </p:sp>
      <p:sp>
        <p:nvSpPr>
          <p:cNvPr id="154" name="Shape 153"/>
          <p:cNvSpPr/>
          <p:nvPr/>
        </p:nvSpPr>
        <p:spPr>
          <a:xfrm>
            <a:off x="1771650" y="6276975"/>
            <a:ext cx="9525" cy="495300"/>
          </a:xfrm>
          <a:prstGeom prst="rect">
            <a:avLst/>
          </a:prstGeom>
          <a:solidFill>
            <a:srgbClr val="FFFFFF">
              <a:alpha val="20000"/>
            </a:srgbClr>
          </a:solidFill>
          <a:ln/>
        </p:spPr>
        <p:txBody>
          <a:bodyPr/>
          <a:lstStyle/>
          <a:p>
            <a:endParaRPr lang="en-US"/>
          </a:p>
        </p:txBody>
      </p:sp>
      <p:sp>
        <p:nvSpPr>
          <p:cNvPr id="155" name="Text 154"/>
          <p:cNvSpPr txBox="1"/>
          <p:nvPr/>
        </p:nvSpPr>
        <p:spPr>
          <a:xfrm>
            <a:off x="1952625" y="6276975"/>
            <a:ext cx="1193453" cy="247650"/>
          </a:xfrm>
          <a:prstGeom prst="rect">
            <a:avLst/>
          </a:prstGeom>
          <a:noFill/>
          <a:ln/>
        </p:spPr>
        <p:txBody>
          <a:bodyPr wrap="none" lIns="0" tIns="0" rIns="0" bIns="0" rtlCol="0" anchor="t"/>
          <a:lstStyle/>
          <a:p>
            <a:pPr marL="0" indent="0" algn="l">
              <a:lnSpc>
                <a:spcPts val="1950"/>
              </a:lnSpc>
              <a:buNone/>
            </a:pPr>
            <a:r>
              <a:rPr lang="en-US" sz="1650" kern="0" spc="15" dirty="0">
                <a:solidFill>
                  <a:srgbClr val="D3AE84"/>
                </a:solidFill>
                <a:latin typeface="Newsreader SemiBold" pitchFamily="34" charset="0"/>
              </a:rPr>
              <a:t>14.3x</a:t>
            </a:r>
            <a:endParaRPr lang="en-US" sz="1650" dirty="0"/>
          </a:p>
        </p:txBody>
      </p:sp>
      <p:sp>
        <p:nvSpPr>
          <p:cNvPr id="156" name="Text 155"/>
          <p:cNvSpPr txBox="1"/>
          <p:nvPr/>
        </p:nvSpPr>
        <p:spPr>
          <a:xfrm>
            <a:off x="1952625" y="6524625"/>
            <a:ext cx="1207740" cy="247650"/>
          </a:xfrm>
          <a:prstGeom prst="rect">
            <a:avLst/>
          </a:prstGeom>
          <a:noFill/>
          <a:ln/>
        </p:spPr>
        <p:txBody>
          <a:bodyPr wrap="square" lIns="0" tIns="0" rIns="0" bIns="0" rtlCol="0" anchor="t"/>
          <a:lstStyle/>
          <a:p>
            <a:pPr marL="0" indent="0" algn="l">
              <a:lnSpc>
                <a:spcPts val="975"/>
              </a:lnSpc>
              <a:buNone/>
            </a:pPr>
            <a:r>
              <a:rPr lang="en-US" sz="705" kern="0" spc="15" dirty="0">
                <a:solidFill>
                  <a:srgbClr val="E8E2DA"/>
                </a:solidFill>
                <a:latin typeface="Quicksand" pitchFamily="34" charset="0"/>
              </a:rPr>
              <a:t>trailing adjusted EBITDA: Kimberly-Clark for </a:t>
            </a:r>
            <a:r>
              <a:rPr lang="en-US" sz="705" u="sng" kern="0" spc="15" dirty="0">
                <a:solidFill>
                  <a:srgbClr val="D3AE84"/>
                </a:solidFill>
                <a:latin typeface="Quicksand" pitchFamily="34" charset="0"/>
                <a:hlinkClick r:id="rId3">
                  <a:extLst>
                    <a:ext uri="{A12FA001-AC4F-418D-AE19-62706E023703}">
                      <ahyp:hlinkClr xmlns:ahyp="http://schemas.microsoft.com/office/drawing/2018/hyperlinkcolor" val="tx"/>
                    </a:ext>
                  </a:extLst>
                </a:hlinkClick>
              </a:rPr>
              <a:t>Kenvue</a:t>
            </a:r>
            <a:endParaRPr lang="en-US" sz="705" dirty="0"/>
          </a:p>
        </p:txBody>
      </p:sp>
      <p:sp>
        <p:nvSpPr>
          <p:cNvPr id="157" name="Shape 156"/>
          <p:cNvSpPr/>
          <p:nvPr/>
        </p:nvSpPr>
        <p:spPr>
          <a:xfrm>
            <a:off x="3317528" y="6215063"/>
            <a:ext cx="9525" cy="619125"/>
          </a:xfrm>
          <a:prstGeom prst="rect">
            <a:avLst/>
          </a:prstGeom>
          <a:solidFill>
            <a:srgbClr val="FFFFFF">
              <a:alpha val="20000"/>
            </a:srgbClr>
          </a:solidFill>
          <a:ln/>
        </p:spPr>
        <p:txBody>
          <a:bodyPr/>
          <a:lstStyle/>
          <a:p>
            <a:endParaRPr lang="en-US"/>
          </a:p>
        </p:txBody>
      </p:sp>
      <p:sp>
        <p:nvSpPr>
          <p:cNvPr id="158" name="Text 157"/>
          <p:cNvSpPr txBox="1"/>
          <p:nvPr/>
        </p:nvSpPr>
        <p:spPr>
          <a:xfrm>
            <a:off x="3498503" y="6215063"/>
            <a:ext cx="1193453" cy="247650"/>
          </a:xfrm>
          <a:prstGeom prst="rect">
            <a:avLst/>
          </a:prstGeom>
          <a:noFill/>
          <a:ln/>
        </p:spPr>
        <p:txBody>
          <a:bodyPr wrap="none" lIns="0" tIns="0" rIns="0" bIns="0" rtlCol="0" anchor="t"/>
          <a:lstStyle/>
          <a:p>
            <a:pPr marL="0" indent="0" algn="l">
              <a:lnSpc>
                <a:spcPts val="1950"/>
              </a:lnSpc>
              <a:buNone/>
            </a:pPr>
            <a:r>
              <a:rPr lang="en-US" sz="1650" kern="0" spc="15" dirty="0">
                <a:solidFill>
                  <a:srgbClr val="D3AE84"/>
                </a:solidFill>
                <a:latin typeface="Newsreader SemiBold" pitchFamily="34" charset="0"/>
              </a:rPr>
              <a:t>14.6x</a:t>
            </a:r>
            <a:endParaRPr lang="en-US" sz="1650" dirty="0"/>
          </a:p>
        </p:txBody>
      </p:sp>
      <p:sp>
        <p:nvSpPr>
          <p:cNvPr id="159" name="Text 158"/>
          <p:cNvSpPr txBox="1"/>
          <p:nvPr/>
        </p:nvSpPr>
        <p:spPr>
          <a:xfrm>
            <a:off x="3498503" y="6462713"/>
            <a:ext cx="1207740" cy="371475"/>
          </a:xfrm>
          <a:prstGeom prst="rect">
            <a:avLst/>
          </a:prstGeom>
          <a:noFill/>
          <a:ln/>
        </p:spPr>
        <p:txBody>
          <a:bodyPr wrap="square" lIns="0" tIns="0" rIns="0" bIns="0" rtlCol="0" anchor="t"/>
          <a:lstStyle/>
          <a:p>
            <a:pPr marL="0" indent="0" algn="l">
              <a:lnSpc>
                <a:spcPts val="975"/>
              </a:lnSpc>
              <a:buNone/>
            </a:pPr>
            <a:r>
              <a:rPr lang="en-US" sz="705" kern="0" spc="15" dirty="0">
                <a:solidFill>
                  <a:srgbClr val="E8E2DA"/>
                </a:solidFill>
                <a:latin typeface="Quicksand" pitchFamily="34" charset="0"/>
              </a:rPr>
              <a:t>2025 operating income: Sysco for </a:t>
            </a:r>
            <a:r>
              <a:rPr lang="en-US" sz="705" u="sng" kern="0" spc="15" dirty="0">
                <a:solidFill>
                  <a:srgbClr val="D3AE84"/>
                </a:solidFill>
                <a:latin typeface="Quicksand" pitchFamily="34" charset="0"/>
                <a:hlinkClick r:id="rId4">
                  <a:extLst>
                    <a:ext uri="{A12FA001-AC4F-418D-AE19-62706E023703}">
                      <ahyp:hlinkClr xmlns:ahyp="http://schemas.microsoft.com/office/drawing/2018/hyperlinkcolor" val="tx"/>
                    </a:ext>
                  </a:extLst>
                </a:hlinkClick>
              </a:rPr>
              <a:t>Jetro Restaurant Depot</a:t>
            </a:r>
            <a:endParaRPr lang="en-US" sz="705" dirty="0"/>
          </a:p>
        </p:txBody>
      </p:sp>
      <p:sp>
        <p:nvSpPr>
          <p:cNvPr id="160" name="Shape 159"/>
          <p:cNvSpPr/>
          <p:nvPr/>
        </p:nvSpPr>
        <p:spPr>
          <a:xfrm>
            <a:off x="4863405" y="6215063"/>
            <a:ext cx="9525" cy="619125"/>
          </a:xfrm>
          <a:prstGeom prst="rect">
            <a:avLst/>
          </a:prstGeom>
          <a:solidFill>
            <a:srgbClr val="FFFFFF">
              <a:alpha val="20000"/>
            </a:srgbClr>
          </a:solidFill>
          <a:ln/>
        </p:spPr>
        <p:txBody>
          <a:bodyPr/>
          <a:lstStyle/>
          <a:p>
            <a:endParaRPr lang="en-US"/>
          </a:p>
        </p:txBody>
      </p:sp>
      <p:sp>
        <p:nvSpPr>
          <p:cNvPr id="161" name="Text 160"/>
          <p:cNvSpPr txBox="1"/>
          <p:nvPr/>
        </p:nvSpPr>
        <p:spPr>
          <a:xfrm>
            <a:off x="5044380" y="6215063"/>
            <a:ext cx="1432173" cy="247650"/>
          </a:xfrm>
          <a:prstGeom prst="rect">
            <a:avLst/>
          </a:prstGeom>
          <a:noFill/>
          <a:ln/>
        </p:spPr>
        <p:txBody>
          <a:bodyPr wrap="none" lIns="0" tIns="0" rIns="0" bIns="0" rtlCol="0" anchor="t"/>
          <a:lstStyle/>
          <a:p>
            <a:pPr marL="0" indent="0" algn="l">
              <a:lnSpc>
                <a:spcPts val="1950"/>
              </a:lnSpc>
              <a:buNone/>
            </a:pPr>
            <a:r>
              <a:rPr lang="en-US" sz="1650" kern="0" spc="15" dirty="0">
                <a:solidFill>
                  <a:srgbClr val="D3AE84"/>
                </a:solidFill>
                <a:latin typeface="Newsreader SemiBold" pitchFamily="34" charset="0"/>
              </a:rPr>
              <a:t>12.7x</a:t>
            </a:r>
            <a:endParaRPr lang="en-US" sz="1650" dirty="0"/>
          </a:p>
        </p:txBody>
      </p:sp>
      <p:sp>
        <p:nvSpPr>
          <p:cNvPr id="162" name="Text 161"/>
          <p:cNvSpPr txBox="1"/>
          <p:nvPr/>
        </p:nvSpPr>
        <p:spPr>
          <a:xfrm>
            <a:off x="5044380" y="6462713"/>
            <a:ext cx="1446461" cy="371475"/>
          </a:xfrm>
          <a:prstGeom prst="rect">
            <a:avLst/>
          </a:prstGeom>
          <a:noFill/>
          <a:ln/>
        </p:spPr>
        <p:txBody>
          <a:bodyPr wrap="square" lIns="0" tIns="0" rIns="0" bIns="0" rtlCol="0" anchor="t"/>
          <a:lstStyle/>
          <a:p>
            <a:pPr marL="0" indent="0" algn="l">
              <a:lnSpc>
                <a:spcPts val="975"/>
              </a:lnSpc>
              <a:buNone/>
            </a:pPr>
            <a:r>
              <a:rPr lang="en-US" sz="705" kern="0" spc="15" dirty="0">
                <a:solidFill>
                  <a:srgbClr val="E8E2DA"/>
                </a:solidFill>
                <a:latin typeface="Quicksand" pitchFamily="34" charset="0"/>
              </a:rPr>
              <a:t>trailing EBITDA before the earn-out: Church &amp; Dwight for </a:t>
            </a:r>
            <a:r>
              <a:rPr lang="en-US" sz="705" u="sng" kern="0" spc="15" dirty="0">
                <a:solidFill>
                  <a:srgbClr val="D3AE84"/>
                </a:solidFill>
                <a:latin typeface="Quicksand" pitchFamily="34" charset="0"/>
                <a:hlinkClick r:id="rId5">
                  <a:extLst>
                    <a:ext uri="{A12FA001-AC4F-418D-AE19-62706E023703}">
                      <ahyp:hlinkClr xmlns:ahyp="http://schemas.microsoft.com/office/drawing/2018/hyperlinkcolor" val="tx"/>
                    </a:ext>
                  </a:extLst>
                </a:hlinkClick>
              </a:rPr>
              <a:t>Touchland</a:t>
            </a:r>
            <a:r>
              <a:rPr lang="en-US" sz="705" kern="0" spc="15" dirty="0">
                <a:solidFill>
                  <a:srgbClr val="E8E2DA"/>
                </a:solidFill>
                <a:latin typeface="Quicksand" pitchFamily="34" charset="0"/>
              </a:rPr>
              <a:t>, calculated</a:t>
            </a:r>
            <a:endParaRPr lang="en-US" sz="705" dirty="0"/>
          </a:p>
        </p:txBody>
      </p:sp>
      <p:sp>
        <p:nvSpPr>
          <p:cNvPr id="163" name="Shape 162"/>
          <p:cNvSpPr/>
          <p:nvPr/>
        </p:nvSpPr>
        <p:spPr>
          <a:xfrm>
            <a:off x="6648004" y="6215063"/>
            <a:ext cx="9525" cy="619125"/>
          </a:xfrm>
          <a:prstGeom prst="rect">
            <a:avLst/>
          </a:prstGeom>
          <a:solidFill>
            <a:srgbClr val="FFFFFF">
              <a:alpha val="20000"/>
            </a:srgbClr>
          </a:solidFill>
          <a:ln/>
        </p:spPr>
        <p:txBody>
          <a:bodyPr/>
          <a:lstStyle/>
          <a:p>
            <a:endParaRPr lang="en-US"/>
          </a:p>
        </p:txBody>
      </p:sp>
      <p:sp>
        <p:nvSpPr>
          <p:cNvPr id="164" name="Text 163"/>
          <p:cNvSpPr txBox="1"/>
          <p:nvPr/>
        </p:nvSpPr>
        <p:spPr>
          <a:xfrm>
            <a:off x="6828979" y="6215063"/>
            <a:ext cx="1193453" cy="247650"/>
          </a:xfrm>
          <a:prstGeom prst="rect">
            <a:avLst/>
          </a:prstGeom>
          <a:noFill/>
          <a:ln/>
        </p:spPr>
        <p:txBody>
          <a:bodyPr wrap="none" lIns="0" tIns="0" rIns="0" bIns="0" rtlCol="0" anchor="t"/>
          <a:lstStyle/>
          <a:p>
            <a:pPr marL="0" indent="0" algn="l">
              <a:lnSpc>
                <a:spcPts val="1950"/>
              </a:lnSpc>
              <a:buNone/>
            </a:pPr>
            <a:r>
              <a:rPr lang="en-US" sz="1650" kern="0" spc="15" dirty="0">
                <a:solidFill>
                  <a:srgbClr val="D3AE84"/>
                </a:solidFill>
                <a:latin typeface="Newsreader SemiBold" pitchFamily="34" charset="0"/>
              </a:rPr>
              <a:t>11.0x</a:t>
            </a:r>
            <a:endParaRPr lang="en-US" sz="1650" dirty="0"/>
          </a:p>
        </p:txBody>
      </p:sp>
      <p:sp>
        <p:nvSpPr>
          <p:cNvPr id="165" name="Text 164"/>
          <p:cNvSpPr txBox="1"/>
          <p:nvPr/>
        </p:nvSpPr>
        <p:spPr>
          <a:xfrm>
            <a:off x="6828979" y="6462713"/>
            <a:ext cx="1207740" cy="371475"/>
          </a:xfrm>
          <a:prstGeom prst="rect">
            <a:avLst/>
          </a:prstGeom>
          <a:noFill/>
          <a:ln/>
        </p:spPr>
        <p:txBody>
          <a:bodyPr wrap="square" lIns="0" tIns="0" rIns="0" bIns="0" rtlCol="0" anchor="t"/>
          <a:lstStyle/>
          <a:p>
            <a:pPr marL="0" indent="0" algn="l">
              <a:lnSpc>
                <a:spcPts val="975"/>
              </a:lnSpc>
              <a:buNone/>
            </a:pPr>
            <a:r>
              <a:rPr lang="en-US" sz="705" kern="0" spc="15" dirty="0">
                <a:solidFill>
                  <a:srgbClr val="E8E2DA"/>
                </a:solidFill>
                <a:latin typeface="Quicksand" pitchFamily="34" charset="0"/>
              </a:rPr>
              <a:t>EBITDA: Prestige for </a:t>
            </a:r>
            <a:r>
              <a:rPr lang="en-US" sz="705" u="sng" kern="0" spc="15" dirty="0">
                <a:solidFill>
                  <a:srgbClr val="D3AE84"/>
                </a:solidFill>
                <a:latin typeface="Quicksand" pitchFamily="34" charset="0"/>
                <a:hlinkClick r:id="rId6">
                  <a:extLst>
                    <a:ext uri="{A12FA001-AC4F-418D-AE19-62706E023703}">
                      <ahyp:hlinkClr xmlns:ahyp="http://schemas.microsoft.com/office/drawing/2018/hyperlinkcolor" val="tx"/>
                    </a:ext>
                  </a:extLst>
                </a:hlinkClick>
              </a:rPr>
              <a:t>Breathe Right and other brands</a:t>
            </a:r>
            <a:endParaRPr lang="en-US" sz="705" dirty="0"/>
          </a:p>
        </p:txBody>
      </p:sp>
      <p:sp>
        <p:nvSpPr>
          <p:cNvPr id="166" name="Shape 165"/>
          <p:cNvSpPr/>
          <p:nvPr/>
        </p:nvSpPr>
        <p:spPr>
          <a:xfrm>
            <a:off x="8193881" y="6276975"/>
            <a:ext cx="9525" cy="495300"/>
          </a:xfrm>
          <a:prstGeom prst="rect">
            <a:avLst/>
          </a:prstGeom>
          <a:solidFill>
            <a:srgbClr val="FFFFFF">
              <a:alpha val="20000"/>
            </a:srgbClr>
          </a:solidFill>
          <a:ln/>
        </p:spPr>
        <p:txBody>
          <a:bodyPr/>
          <a:lstStyle/>
          <a:p>
            <a:endParaRPr lang="en-US"/>
          </a:p>
        </p:txBody>
      </p:sp>
      <p:sp>
        <p:nvSpPr>
          <p:cNvPr id="167" name="Text 166"/>
          <p:cNvSpPr txBox="1"/>
          <p:nvPr/>
        </p:nvSpPr>
        <p:spPr>
          <a:xfrm>
            <a:off x="8374856" y="6276975"/>
            <a:ext cx="1074093" cy="247650"/>
          </a:xfrm>
          <a:prstGeom prst="rect">
            <a:avLst/>
          </a:prstGeom>
          <a:noFill/>
          <a:ln/>
        </p:spPr>
        <p:txBody>
          <a:bodyPr wrap="none" lIns="0" tIns="0" rIns="0" bIns="0" rtlCol="0" anchor="t"/>
          <a:lstStyle/>
          <a:p>
            <a:pPr marL="0" indent="0" algn="l">
              <a:lnSpc>
                <a:spcPts val="1950"/>
              </a:lnSpc>
              <a:buNone/>
            </a:pPr>
            <a:r>
              <a:rPr lang="en-US" sz="1650" kern="0" spc="15" dirty="0">
                <a:solidFill>
                  <a:srgbClr val="D3AE84"/>
                </a:solidFill>
                <a:latin typeface="Newsreader SemiBold" pitchFamily="34" charset="0"/>
              </a:rPr>
              <a:t>5.0x</a:t>
            </a:r>
            <a:endParaRPr lang="en-US" sz="1650" dirty="0"/>
          </a:p>
        </p:txBody>
      </p:sp>
      <p:sp>
        <p:nvSpPr>
          <p:cNvPr id="168" name="Text 167"/>
          <p:cNvSpPr txBox="1"/>
          <p:nvPr/>
        </p:nvSpPr>
        <p:spPr>
          <a:xfrm>
            <a:off x="8374856" y="6524625"/>
            <a:ext cx="1088380" cy="247650"/>
          </a:xfrm>
          <a:prstGeom prst="rect">
            <a:avLst/>
          </a:prstGeom>
          <a:noFill/>
          <a:ln/>
        </p:spPr>
        <p:txBody>
          <a:bodyPr wrap="square" lIns="0" tIns="0" rIns="0" bIns="0" rtlCol="0" anchor="t"/>
          <a:lstStyle/>
          <a:p>
            <a:pPr marL="0" indent="0" algn="l">
              <a:lnSpc>
                <a:spcPts val="975"/>
              </a:lnSpc>
              <a:buNone/>
            </a:pPr>
            <a:r>
              <a:rPr lang="en-US" sz="705" kern="0" spc="15" dirty="0">
                <a:solidFill>
                  <a:srgbClr val="E8E2DA"/>
                </a:solidFill>
                <a:latin typeface="Quicksand" pitchFamily="34" charset="0"/>
              </a:rPr>
              <a:t>projected EBITDA: HF Foods for </a:t>
            </a:r>
            <a:r>
              <a:rPr lang="en-US" sz="705" u="sng" kern="0" spc="15" dirty="0">
                <a:solidFill>
                  <a:srgbClr val="D3AE84"/>
                </a:solidFill>
                <a:latin typeface="Quicksand" pitchFamily="34" charset="0"/>
                <a:hlinkClick r:id="rId7">
                  <a:extLst>
                    <a:ext uri="{A12FA001-AC4F-418D-AE19-62706E023703}">
                      <ahyp:hlinkClr xmlns:ahyp="http://schemas.microsoft.com/office/drawing/2018/hyperlinkcolor" val="tx"/>
                    </a:ext>
                  </a:extLst>
                </a:hlinkClick>
              </a:rPr>
              <a:t>Searay Foods</a:t>
            </a:r>
            <a:endParaRPr lang="en-US" sz="705" dirty="0"/>
          </a:p>
        </p:txBody>
      </p:sp>
      <p:sp>
        <p:nvSpPr>
          <p:cNvPr id="169" name="Shape 168"/>
          <p:cNvSpPr/>
          <p:nvPr/>
        </p:nvSpPr>
        <p:spPr>
          <a:xfrm>
            <a:off x="419100" y="7029450"/>
            <a:ext cx="9220200" cy="9525"/>
          </a:xfrm>
          <a:prstGeom prst="rect">
            <a:avLst/>
          </a:prstGeom>
          <a:solidFill>
            <a:srgbClr val="E3DCD3"/>
          </a:solidFill>
          <a:ln/>
        </p:spPr>
        <p:txBody>
          <a:bodyPr/>
          <a:lstStyle/>
          <a:p>
            <a:endParaRPr lang="en-US"/>
          </a:p>
        </p:txBody>
      </p:sp>
      <p:pic>
        <p:nvPicPr>
          <p:cNvPr id="170" name="Benchmark International" descr="Benchmark International"/>
          <p:cNvPicPr>
            <a:picLocks noChangeAspect="1"/>
          </p:cNvPicPr>
          <p:nvPr/>
        </p:nvPicPr>
        <p:blipFill>
          <a:blip r:embed="rId8"/>
          <a:stretch>
            <a:fillRect/>
          </a:stretch>
        </p:blipFill>
        <p:spPr>
          <a:xfrm>
            <a:off x="419100" y="7143750"/>
            <a:ext cx="914400" cy="171450"/>
          </a:xfrm>
          <a:prstGeom prst="rect">
            <a:avLst/>
          </a:prstGeom>
        </p:spPr>
      </p:pic>
      <p:sp>
        <p:nvSpPr>
          <p:cNvPr id="171" name="Text 170"/>
          <p:cNvSpPr txBox="1"/>
          <p:nvPr/>
        </p:nvSpPr>
        <p:spPr>
          <a:xfrm>
            <a:off x="1543050" y="7098506"/>
            <a:ext cx="7658100" cy="238125"/>
          </a:xfrm>
          <a:prstGeom prst="rect">
            <a:avLst/>
          </a:prstGeom>
          <a:noFill/>
          <a:ln/>
        </p:spPr>
        <p:txBody>
          <a:bodyPr wrap="square" lIns="0" tIns="0" rIns="0" bIns="0" rtlCol="0" anchor="t"/>
          <a:lstStyle/>
          <a:p>
            <a:pPr marL="0" indent="0" algn="l">
              <a:lnSpc>
                <a:spcPts val="938"/>
              </a:lnSpc>
              <a:buNone/>
            </a:pPr>
            <a:r>
              <a:rPr lang="en-US" sz="675" kern="0" spc="15" dirty="0">
                <a:solidFill>
                  <a:srgbClr val="6F6A66"/>
                </a:solidFill>
                <a:latin typeface="Quicksand" pitchFamily="34" charset="0"/>
              </a:rPr>
              <a:t>Medians by peer group, which can move with one or two companies in a group of six. Source: </a:t>
            </a:r>
            <a:r>
              <a:rPr lang="en-US" sz="675" u="sng" kern="0" spc="15" dirty="0">
                <a:solidFill>
                  <a:srgbClr val="8C6239"/>
                </a:solidFill>
                <a:latin typeface="Quicksand" pitchFamily="34" charset="0"/>
                <a:hlinkClick r:id="rId9">
                  <a:extLst>
                    <a:ext uri="{A12FA001-AC4F-418D-AE19-62706E023703}">
                      <ahyp:hlinkClr xmlns:ahyp="http://schemas.microsoft.com/office/drawing/2018/hyperlinkcolor" val="tx"/>
                    </a:ext>
                  </a:extLst>
                </a:hlinkClick>
              </a:rPr>
              <a:t>StockAnalysis</a:t>
            </a:r>
            <a:r>
              <a:rPr lang="en-US" sz="675" kern="0" spc="15" dirty="0">
                <a:solidFill>
                  <a:srgbClr val="6F6A66"/>
                </a:solidFill>
                <a:latin typeface="Quicksand" pitchFamily="34" charset="0"/>
              </a:rPr>
              <a:t>, retrieved October 7, 2026. Multiples use reported EBITDA. The year-ago multiple is the reading four quarter-ends earlier, between late August and November 2025. Deal multiples are as stated by each acquirer on its own basis.</a:t>
            </a:r>
            <a:endParaRPr lang="en-US" sz="675" dirty="0"/>
          </a:p>
        </p:txBody>
      </p:sp>
      <p:sp>
        <p:nvSpPr>
          <p:cNvPr id="172" name="Text 171"/>
          <p:cNvSpPr txBox="1"/>
          <p:nvPr/>
        </p:nvSpPr>
        <p:spPr>
          <a:xfrm>
            <a:off x="9512647" y="7162800"/>
            <a:ext cx="183803" cy="133350"/>
          </a:xfrm>
          <a:prstGeom prst="rect">
            <a:avLst/>
          </a:prstGeom>
          <a:noFill/>
          <a:ln/>
        </p:spPr>
        <p:txBody>
          <a:bodyPr wrap="none" lIns="0" tIns="0" rIns="0" bIns="0" rtlCol="0" anchor="t"/>
          <a:lstStyle/>
          <a:p>
            <a:pPr marL="0" indent="0" algn="l">
              <a:lnSpc>
                <a:spcPts val="1050"/>
              </a:lnSpc>
              <a:buNone/>
            </a:pPr>
            <a:r>
              <a:rPr lang="en-US" sz="713" b="1" kern="0" spc="150" dirty="0">
                <a:solidFill>
                  <a:srgbClr val="1B1A1A"/>
                </a:solidFill>
                <a:latin typeface="Quicksand" pitchFamily="34" charset="0"/>
              </a:rPr>
              <a:t>14</a:t>
            </a:r>
            <a:endParaRPr lang="en-US" sz="713"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1"/>
          <p:cNvSpPr/>
          <p:nvPr/>
        </p:nvSpPr>
        <p:spPr>
          <a:xfrm>
            <a:off x="0" y="0"/>
            <a:ext cx="10058400" cy="7772400"/>
          </a:xfrm>
          <a:prstGeom prst="rect">
            <a:avLst/>
          </a:prstGeom>
          <a:solidFill>
            <a:srgbClr val="FFFFFF"/>
          </a:solidFill>
          <a:ln/>
        </p:spPr>
        <p:txBody>
          <a:bodyPr/>
          <a:lstStyle/>
          <a:p>
            <a:endParaRPr lang="en-US"/>
          </a:p>
        </p:txBody>
      </p:sp>
      <p:sp>
        <p:nvSpPr>
          <p:cNvPr id="3" name="Shape 2"/>
          <p:cNvSpPr/>
          <p:nvPr/>
        </p:nvSpPr>
        <p:spPr>
          <a:xfrm>
            <a:off x="0" y="0"/>
            <a:ext cx="57150" cy="7772400"/>
          </a:xfrm>
          <a:prstGeom prst="rect">
            <a:avLst/>
          </a:prstGeom>
          <a:solidFill>
            <a:srgbClr val="B68757"/>
          </a:solidFill>
          <a:ln/>
        </p:spPr>
        <p:txBody>
          <a:bodyPr/>
          <a:lstStyle/>
          <a:p>
            <a:endParaRPr lang="en-US"/>
          </a:p>
        </p:txBody>
      </p:sp>
      <p:sp>
        <p:nvSpPr>
          <p:cNvPr id="4" name="Text 3"/>
          <p:cNvSpPr txBox="1"/>
          <p:nvPr/>
        </p:nvSpPr>
        <p:spPr>
          <a:xfrm>
            <a:off x="419100" y="376238"/>
            <a:ext cx="2618929" cy="133350"/>
          </a:xfrm>
          <a:prstGeom prst="rect">
            <a:avLst/>
          </a:prstGeom>
          <a:noFill/>
          <a:ln/>
        </p:spPr>
        <p:txBody>
          <a:bodyPr wrap="none" lIns="0" tIns="0" rIns="0" bIns="0" rtlCol="0" anchor="t"/>
          <a:lstStyle/>
          <a:p>
            <a:pPr marL="0" indent="0" algn="l">
              <a:lnSpc>
                <a:spcPts val="1050"/>
              </a:lnSpc>
              <a:buNone/>
            </a:pPr>
            <a:r>
              <a:rPr lang="en-US" sz="675" b="1" kern="0" spc="195" dirty="0">
                <a:solidFill>
                  <a:srgbClr val="8C6239"/>
                </a:solidFill>
                <a:latin typeface="Quicksand" pitchFamily="34" charset="0"/>
              </a:rPr>
              <a:t>CONSUMER  |  QUARTERLY SECTOR BRIEF</a:t>
            </a:r>
            <a:endParaRPr lang="en-US" sz="675" dirty="0"/>
          </a:p>
        </p:txBody>
      </p:sp>
      <p:sp>
        <p:nvSpPr>
          <p:cNvPr id="5" name="Text 4"/>
          <p:cNvSpPr txBox="1"/>
          <p:nvPr/>
        </p:nvSpPr>
        <p:spPr>
          <a:xfrm>
            <a:off x="9112597" y="381000"/>
            <a:ext cx="583853" cy="171450"/>
          </a:xfrm>
          <a:prstGeom prst="rect">
            <a:avLst/>
          </a:prstGeom>
          <a:noFill/>
          <a:ln/>
        </p:spPr>
        <p:txBody>
          <a:bodyPr wrap="none" lIns="0" tIns="0" rIns="0" bIns="0" rtlCol="0" anchor="t"/>
          <a:lstStyle/>
          <a:p>
            <a:pPr marL="0" indent="0" algn="l">
              <a:lnSpc>
                <a:spcPts val="1350"/>
              </a:lnSpc>
              <a:buNone/>
            </a:pPr>
            <a:r>
              <a:rPr lang="en-US" sz="900" kern="0" spc="90" dirty="0">
                <a:solidFill>
                  <a:srgbClr val="6F6A66"/>
                </a:solidFill>
                <a:latin typeface="Cinzel" pitchFamily="34" charset="0"/>
              </a:rPr>
              <a:t>Q4 2026</a:t>
            </a:r>
            <a:endParaRPr lang="en-US" sz="900" dirty="0"/>
          </a:p>
        </p:txBody>
      </p:sp>
      <p:sp>
        <p:nvSpPr>
          <p:cNvPr id="6" name="Text 5"/>
          <p:cNvSpPr txBox="1"/>
          <p:nvPr/>
        </p:nvSpPr>
        <p:spPr>
          <a:xfrm>
            <a:off x="419100" y="519113"/>
            <a:ext cx="9220200" cy="323850"/>
          </a:xfrm>
          <a:prstGeom prst="rect">
            <a:avLst/>
          </a:prstGeom>
          <a:noFill/>
          <a:ln/>
        </p:spPr>
        <p:txBody>
          <a:bodyPr wrap="none" lIns="0" tIns="0" rIns="0" bIns="0" rtlCol="0" anchor="t"/>
          <a:lstStyle/>
          <a:p>
            <a:pPr marL="0" indent="0" algn="l">
              <a:lnSpc>
                <a:spcPts val="2550"/>
              </a:lnSpc>
              <a:buNone/>
            </a:pPr>
            <a:r>
              <a:rPr lang="en-US" sz="2025" kern="0" spc="15" dirty="0">
                <a:solidFill>
                  <a:srgbClr val="1B1A1A"/>
                </a:solidFill>
                <a:latin typeface="Newsreader SemiBold" pitchFamily="34" charset="0"/>
              </a:rPr>
              <a:t>Public Company Metrics: Food and Beverage</a:t>
            </a:r>
            <a:endParaRPr lang="en-US" sz="2025" dirty="0"/>
          </a:p>
        </p:txBody>
      </p:sp>
      <p:sp>
        <p:nvSpPr>
          <p:cNvPr id="7" name="Text 6"/>
          <p:cNvSpPr txBox="1"/>
          <p:nvPr/>
        </p:nvSpPr>
        <p:spPr>
          <a:xfrm>
            <a:off x="419100" y="883444"/>
            <a:ext cx="9220200" cy="176213"/>
          </a:xfrm>
          <a:prstGeom prst="rect">
            <a:avLst/>
          </a:prstGeom>
          <a:noFill/>
          <a:ln/>
        </p:spPr>
        <p:txBody>
          <a:bodyPr wrap="none" lIns="0" tIns="0" rIns="0" bIns="0" rtlCol="0" anchor="t"/>
          <a:lstStyle/>
          <a:p>
            <a:pPr marL="0" indent="0" algn="l">
              <a:lnSpc>
                <a:spcPts val="1388"/>
              </a:lnSpc>
              <a:buNone/>
            </a:pPr>
            <a:r>
              <a:rPr lang="en-US" sz="938" kern="0" spc="15" dirty="0">
                <a:solidFill>
                  <a:srgbClr val="6F6A66"/>
                </a:solidFill>
                <a:latin typeface="Quicksand" pitchFamily="34" charset="0"/>
              </a:rPr>
              <a:t>Packaged food companies trade at a median 8.2 times EBITDA. Keurig Dr Pepper’s figures include JDE Peet’s, and Utz has agreed to be acquired by Intersnack.</a:t>
            </a:r>
            <a:endParaRPr lang="en-US" sz="938" dirty="0"/>
          </a:p>
        </p:txBody>
      </p:sp>
      <p:sp>
        <p:nvSpPr>
          <p:cNvPr id="8" name="Shape 7"/>
          <p:cNvSpPr/>
          <p:nvPr/>
        </p:nvSpPr>
        <p:spPr>
          <a:xfrm>
            <a:off x="419100" y="1143000"/>
            <a:ext cx="9220200" cy="9525"/>
          </a:xfrm>
          <a:prstGeom prst="rect">
            <a:avLst/>
          </a:prstGeom>
          <a:solidFill>
            <a:srgbClr val="E3DCD3"/>
          </a:solidFill>
          <a:ln/>
        </p:spPr>
        <p:txBody>
          <a:bodyPr/>
          <a:lstStyle/>
          <a:p>
            <a:endParaRPr lang="en-US"/>
          </a:p>
        </p:txBody>
      </p:sp>
      <p:graphicFrame>
        <p:nvGraphicFramePr>
          <p:cNvPr id="16" name="Company metrics table"/>
          <p:cNvGraphicFramePr>
            <a:graphicFrameLocks noGrp="1"/>
          </p:cNvGraphicFramePr>
          <p:nvPr>
            <p:extLst>
              <p:ext uri="{D42A27DB-BD31-4B8C-83A1-F6EECF244321}">
                <p14:modId xmlns:p14="http://schemas.microsoft.com/office/powerpoint/2010/main" val="1579011935"/>
              </p:ext>
            </p:extLst>
          </p:nvPr>
        </p:nvGraphicFramePr>
        <p:xfrm>
          <a:off x="419100" y="1238250"/>
          <a:ext cx="9220200" cy="5696249"/>
        </p:xfrm>
        <a:graphic>
          <a:graphicData uri="http://schemas.openxmlformats.org/drawingml/2006/table">
            <a:tbl>
              <a:tblPr/>
              <a:tblGrid>
                <a:gridCol w="1676400">
                  <a:extLst>
                    <a:ext uri="{9D8B030D-6E8A-4147-A177-3AD203B41FA5}">
                      <a16:colId xmlns:a16="http://schemas.microsoft.com/office/drawing/2014/main" val="20000"/>
                    </a:ext>
                  </a:extLst>
                </a:gridCol>
                <a:gridCol w="495300">
                  <a:extLst>
                    <a:ext uri="{9D8B030D-6E8A-4147-A177-3AD203B41FA5}">
                      <a16:colId xmlns:a16="http://schemas.microsoft.com/office/drawing/2014/main" val="20001"/>
                    </a:ext>
                  </a:extLst>
                </a:gridCol>
                <a:gridCol w="704850">
                  <a:extLst>
                    <a:ext uri="{9D8B030D-6E8A-4147-A177-3AD203B41FA5}">
                      <a16:colId xmlns:a16="http://schemas.microsoft.com/office/drawing/2014/main" val="20002"/>
                    </a:ext>
                  </a:extLst>
                </a:gridCol>
                <a:gridCol w="704850">
                  <a:extLst>
                    <a:ext uri="{9D8B030D-6E8A-4147-A177-3AD203B41FA5}">
                      <a16:colId xmlns:a16="http://schemas.microsoft.com/office/drawing/2014/main" val="20003"/>
                    </a:ext>
                  </a:extLst>
                </a:gridCol>
                <a:gridCol w="704850">
                  <a:extLst>
                    <a:ext uri="{9D8B030D-6E8A-4147-A177-3AD203B41FA5}">
                      <a16:colId xmlns:a16="http://schemas.microsoft.com/office/drawing/2014/main" val="20004"/>
                    </a:ext>
                  </a:extLst>
                </a:gridCol>
                <a:gridCol w="704850">
                  <a:extLst>
                    <a:ext uri="{9D8B030D-6E8A-4147-A177-3AD203B41FA5}">
                      <a16:colId xmlns:a16="http://schemas.microsoft.com/office/drawing/2014/main" val="20005"/>
                    </a:ext>
                  </a:extLst>
                </a:gridCol>
                <a:gridCol w="704850">
                  <a:extLst>
                    <a:ext uri="{9D8B030D-6E8A-4147-A177-3AD203B41FA5}">
                      <a16:colId xmlns:a16="http://schemas.microsoft.com/office/drawing/2014/main" val="20006"/>
                    </a:ext>
                  </a:extLst>
                </a:gridCol>
                <a:gridCol w="704850">
                  <a:extLst>
                    <a:ext uri="{9D8B030D-6E8A-4147-A177-3AD203B41FA5}">
                      <a16:colId xmlns:a16="http://schemas.microsoft.com/office/drawing/2014/main" val="20007"/>
                    </a:ext>
                  </a:extLst>
                </a:gridCol>
                <a:gridCol w="704850">
                  <a:extLst>
                    <a:ext uri="{9D8B030D-6E8A-4147-A177-3AD203B41FA5}">
                      <a16:colId xmlns:a16="http://schemas.microsoft.com/office/drawing/2014/main" val="20008"/>
                    </a:ext>
                  </a:extLst>
                </a:gridCol>
                <a:gridCol w="704850">
                  <a:extLst>
                    <a:ext uri="{9D8B030D-6E8A-4147-A177-3AD203B41FA5}">
                      <a16:colId xmlns:a16="http://schemas.microsoft.com/office/drawing/2014/main" val="20009"/>
                    </a:ext>
                  </a:extLst>
                </a:gridCol>
                <a:gridCol w="704850">
                  <a:extLst>
                    <a:ext uri="{9D8B030D-6E8A-4147-A177-3AD203B41FA5}">
                      <a16:colId xmlns:a16="http://schemas.microsoft.com/office/drawing/2014/main" val="20010"/>
                    </a:ext>
                  </a:extLst>
                </a:gridCol>
                <a:gridCol w="704850">
                  <a:extLst>
                    <a:ext uri="{9D8B030D-6E8A-4147-A177-3AD203B41FA5}">
                      <a16:colId xmlns:a16="http://schemas.microsoft.com/office/drawing/2014/main" val="20011"/>
                    </a:ext>
                  </a:extLst>
                </a:gridCol>
              </a:tblGrid>
              <a:tr h="466725">
                <a:tc>
                  <a:txBody>
                    <a:bodyPr/>
                    <a:lstStyle/>
                    <a:p>
                      <a:pPr marL="0" indent="0" algn="l">
                        <a:lnSpc>
                          <a:spcPts val="788"/>
                        </a:lnSpc>
                        <a:buNone/>
                      </a:pPr>
                      <a:r>
                        <a:rPr lang="en-US" sz="570" b="1" kern="0" spc="75" dirty="0">
                          <a:solidFill>
                            <a:srgbClr val="1B1A1A"/>
                          </a:solidFill>
                          <a:latin typeface="Quicksand" pitchFamily="34" charset="0"/>
                        </a:rPr>
                        <a:t>COMPANY</a:t>
                      </a:r>
                      <a:endParaRPr lang="en-US" sz="700" dirty="0"/>
                    </a:p>
                  </a:txBody>
                  <a:tcPr marL="0" marR="0" marT="0" marB="47625" anchor="b">
                    <a:lnL w="0" cap="flat" cmpd="sng" algn="ctr">
                      <a:noFill/>
                    </a:lnL>
                    <a:lnR w="0" cap="flat" cmpd="sng" algn="ctr">
                      <a:noFill/>
                    </a:lnR>
                    <a:lnT w="0" cap="flat" cmpd="sng" algn="ctr">
                      <a:noFill/>
                    </a:lnT>
                    <a:lnB w="19050" cap="flat" cmpd="sng" algn="ctr">
                      <a:solidFill>
                        <a:srgbClr val="B68757"/>
                      </a:solidFill>
                      <a:prstDash val="solid"/>
                      <a:round/>
                      <a:headEnd type="none" w="med" len="med"/>
                      <a:tailEnd type="none" w="med" len="med"/>
                    </a:lnB>
                  </a:tcPr>
                </a:tc>
                <a:tc>
                  <a:txBody>
                    <a:bodyPr/>
                    <a:lstStyle/>
                    <a:p>
                      <a:pPr marL="0" indent="0" algn="l">
                        <a:lnSpc>
                          <a:spcPts val="788"/>
                        </a:lnSpc>
                        <a:buNone/>
                      </a:pPr>
                      <a:r>
                        <a:rPr lang="en-US" sz="570" b="1" kern="0" spc="75" dirty="0">
                          <a:solidFill>
                            <a:srgbClr val="1B1A1A"/>
                          </a:solidFill>
                          <a:latin typeface="Quicksand" pitchFamily="34" charset="0"/>
                        </a:rPr>
                        <a:t>TICKER</a:t>
                      </a:r>
                      <a:endParaRPr lang="en-US" sz="700" dirty="0"/>
                    </a:p>
                  </a:txBody>
                  <a:tcPr marL="76200" marR="0" marT="0" marB="47625" anchor="b">
                    <a:lnL w="0" cap="flat" cmpd="sng" algn="ctr">
                      <a:noFill/>
                    </a:lnL>
                    <a:lnR w="0" cap="flat" cmpd="sng" algn="ctr">
                      <a:noFill/>
                    </a:lnR>
                    <a:lnT w="0" cap="flat" cmpd="sng" algn="ctr">
                      <a:noFill/>
                    </a:lnT>
                    <a:lnB w="19050" cap="flat" cmpd="sng" algn="ctr">
                      <a:solidFill>
                        <a:srgbClr val="B68757"/>
                      </a:solidFill>
                      <a:prstDash val="solid"/>
                      <a:round/>
                      <a:headEnd type="none" w="med" len="med"/>
                      <a:tailEnd type="none" w="med" len="med"/>
                    </a:lnB>
                  </a:tcPr>
                </a:tc>
                <a:tc>
                  <a:txBody>
                    <a:bodyPr/>
                    <a:lstStyle/>
                    <a:p>
                      <a:pPr marL="0" indent="0" algn="r">
                        <a:lnSpc>
                          <a:spcPts val="788"/>
                        </a:lnSpc>
                        <a:buNone/>
                      </a:pPr>
                      <a:r>
                        <a:rPr lang="en-US" sz="570" b="1" kern="0" spc="75" dirty="0">
                          <a:solidFill>
                            <a:srgbClr val="1B1A1A"/>
                          </a:solidFill>
                          <a:latin typeface="Quicksand" pitchFamily="34" charset="0"/>
                        </a:rPr>
                        <a:t>MARKET CAP ($B)</a:t>
                      </a:r>
                      <a:endParaRPr lang="en-US" sz="700" dirty="0"/>
                    </a:p>
                  </a:txBody>
                  <a:tcPr marL="76200" marR="0" marT="0" marB="47625" anchor="b">
                    <a:lnL w="0" cap="flat" cmpd="sng" algn="ctr">
                      <a:noFill/>
                    </a:lnL>
                    <a:lnR w="0" cap="flat" cmpd="sng" algn="ctr">
                      <a:noFill/>
                    </a:lnR>
                    <a:lnT w="0" cap="flat" cmpd="sng" algn="ctr">
                      <a:noFill/>
                    </a:lnT>
                    <a:lnB w="19050" cap="flat" cmpd="sng" algn="ctr">
                      <a:solidFill>
                        <a:srgbClr val="B68757"/>
                      </a:solidFill>
                      <a:prstDash val="solid"/>
                      <a:round/>
                      <a:headEnd type="none" w="med" len="med"/>
                      <a:tailEnd type="none" w="med" len="med"/>
                    </a:lnB>
                  </a:tcPr>
                </a:tc>
                <a:tc>
                  <a:txBody>
                    <a:bodyPr/>
                    <a:lstStyle/>
                    <a:p>
                      <a:pPr marL="0" indent="0" algn="r">
                        <a:lnSpc>
                          <a:spcPts val="788"/>
                        </a:lnSpc>
                        <a:buNone/>
                      </a:pPr>
                      <a:r>
                        <a:rPr lang="en-US" sz="570" b="1" kern="0" spc="75" dirty="0">
                          <a:solidFill>
                            <a:srgbClr val="1B1A1A"/>
                          </a:solidFill>
                          <a:latin typeface="Quicksand" pitchFamily="34" charset="0"/>
                        </a:rPr>
                        <a:t>ENTERPRISE VALUE ($B)</a:t>
                      </a:r>
                      <a:endParaRPr lang="en-US" sz="700" dirty="0"/>
                    </a:p>
                  </a:txBody>
                  <a:tcPr marL="76200" marR="0" marT="0" marB="47625" anchor="b">
                    <a:lnL w="0" cap="flat" cmpd="sng" algn="ctr">
                      <a:noFill/>
                    </a:lnL>
                    <a:lnR w="0" cap="flat" cmpd="sng" algn="ctr">
                      <a:noFill/>
                    </a:lnR>
                    <a:lnT w="0" cap="flat" cmpd="sng" algn="ctr">
                      <a:noFill/>
                    </a:lnT>
                    <a:lnB w="19050" cap="flat" cmpd="sng" algn="ctr">
                      <a:solidFill>
                        <a:srgbClr val="B68757"/>
                      </a:solidFill>
                      <a:prstDash val="solid"/>
                      <a:round/>
                      <a:headEnd type="none" w="med" len="med"/>
                      <a:tailEnd type="none" w="med" len="med"/>
                    </a:lnB>
                  </a:tcPr>
                </a:tc>
                <a:tc>
                  <a:txBody>
                    <a:bodyPr/>
                    <a:lstStyle/>
                    <a:p>
                      <a:pPr marL="0" indent="0" algn="r">
                        <a:lnSpc>
                          <a:spcPts val="788"/>
                        </a:lnSpc>
                        <a:buNone/>
                      </a:pPr>
                      <a:r>
                        <a:rPr lang="en-US" sz="570" b="1" kern="0" spc="75" dirty="0">
                          <a:solidFill>
                            <a:srgbClr val="1B1A1A"/>
                          </a:solidFill>
                          <a:latin typeface="Quicksand" pitchFamily="34" charset="0"/>
                        </a:rPr>
                        <a:t>SHARE PRICE, 52 WEEKS</a:t>
                      </a:r>
                      <a:endParaRPr lang="en-US" sz="700" dirty="0"/>
                    </a:p>
                  </a:txBody>
                  <a:tcPr marL="76200" marR="0" marT="0" marB="47625" anchor="b">
                    <a:lnL w="0" cap="flat" cmpd="sng" algn="ctr">
                      <a:noFill/>
                    </a:lnL>
                    <a:lnR w="0" cap="flat" cmpd="sng" algn="ctr">
                      <a:noFill/>
                    </a:lnR>
                    <a:lnT w="0" cap="flat" cmpd="sng" algn="ctr">
                      <a:noFill/>
                    </a:lnT>
                    <a:lnB w="19050" cap="flat" cmpd="sng" algn="ctr">
                      <a:solidFill>
                        <a:srgbClr val="B68757"/>
                      </a:solidFill>
                      <a:prstDash val="solid"/>
                      <a:round/>
                      <a:headEnd type="none" w="med" len="med"/>
                      <a:tailEnd type="none" w="med" len="med"/>
                    </a:lnB>
                  </a:tcPr>
                </a:tc>
                <a:tc>
                  <a:txBody>
                    <a:bodyPr/>
                    <a:lstStyle/>
                    <a:p>
                      <a:pPr marL="0" indent="0" algn="r">
                        <a:lnSpc>
                          <a:spcPts val="788"/>
                        </a:lnSpc>
                        <a:buNone/>
                      </a:pPr>
                      <a:r>
                        <a:rPr lang="en-US" sz="570" b="1" kern="0" spc="75" dirty="0">
                          <a:solidFill>
                            <a:srgbClr val="1B1A1A"/>
                          </a:solidFill>
                          <a:latin typeface="Quicksand" pitchFamily="34" charset="0"/>
                        </a:rPr>
                        <a:t>EV / REVENUE</a:t>
                      </a:r>
                      <a:endParaRPr lang="en-US" sz="700" dirty="0"/>
                    </a:p>
                  </a:txBody>
                  <a:tcPr marL="76200" marR="0" marT="0" marB="47625" anchor="b">
                    <a:lnL w="0" cap="flat" cmpd="sng" algn="ctr">
                      <a:noFill/>
                    </a:lnL>
                    <a:lnR w="0" cap="flat" cmpd="sng" algn="ctr">
                      <a:noFill/>
                    </a:lnR>
                    <a:lnT w="0" cap="flat" cmpd="sng" algn="ctr">
                      <a:noFill/>
                    </a:lnT>
                    <a:lnB w="19050" cap="flat" cmpd="sng" algn="ctr">
                      <a:solidFill>
                        <a:srgbClr val="B68757"/>
                      </a:solidFill>
                      <a:prstDash val="solid"/>
                      <a:round/>
                      <a:headEnd type="none" w="med" len="med"/>
                      <a:tailEnd type="none" w="med" len="med"/>
                    </a:lnB>
                  </a:tcPr>
                </a:tc>
                <a:tc>
                  <a:txBody>
                    <a:bodyPr/>
                    <a:lstStyle/>
                    <a:p>
                      <a:pPr marL="0" indent="0" algn="r">
                        <a:lnSpc>
                          <a:spcPts val="788"/>
                        </a:lnSpc>
                        <a:buNone/>
                      </a:pPr>
                      <a:r>
                        <a:rPr lang="en-US" sz="570" b="1" kern="0" spc="75" dirty="0">
                          <a:solidFill>
                            <a:srgbClr val="1B1A1A"/>
                          </a:solidFill>
                          <a:latin typeface="Quicksand" pitchFamily="34" charset="0"/>
                        </a:rPr>
                        <a:t>EV / EBITDA TODAY</a:t>
                      </a:r>
                      <a:endParaRPr lang="en-US" sz="700" dirty="0"/>
                    </a:p>
                  </a:txBody>
                  <a:tcPr marL="76200" marR="0" marT="0" marB="47625" anchor="b">
                    <a:lnL w="0" cap="flat" cmpd="sng" algn="ctr">
                      <a:noFill/>
                    </a:lnL>
                    <a:lnR w="0" cap="flat" cmpd="sng" algn="ctr">
                      <a:noFill/>
                    </a:lnR>
                    <a:lnT w="0" cap="flat" cmpd="sng" algn="ctr">
                      <a:noFill/>
                    </a:lnT>
                    <a:lnB w="19050" cap="flat" cmpd="sng" algn="ctr">
                      <a:solidFill>
                        <a:srgbClr val="B68757"/>
                      </a:solidFill>
                      <a:prstDash val="solid"/>
                      <a:round/>
                      <a:headEnd type="none" w="med" len="med"/>
                      <a:tailEnd type="none" w="med" len="med"/>
                    </a:lnB>
                  </a:tcPr>
                </a:tc>
                <a:tc>
                  <a:txBody>
                    <a:bodyPr/>
                    <a:lstStyle/>
                    <a:p>
                      <a:pPr marL="0" indent="0" algn="r">
                        <a:lnSpc>
                          <a:spcPts val="788"/>
                        </a:lnSpc>
                        <a:buNone/>
                      </a:pPr>
                      <a:r>
                        <a:rPr lang="en-US" sz="570" b="1" kern="0" spc="75" dirty="0">
                          <a:solidFill>
                            <a:srgbClr val="1B1A1A"/>
                          </a:solidFill>
                          <a:latin typeface="Quicksand" pitchFamily="34" charset="0"/>
                        </a:rPr>
                        <a:t>EV / EBITDA A YEAR AGO</a:t>
                      </a:r>
                      <a:endParaRPr lang="en-US" sz="700" dirty="0"/>
                    </a:p>
                  </a:txBody>
                  <a:tcPr marL="76200" marR="0" marT="0" marB="47625" anchor="b">
                    <a:lnL w="0" cap="flat" cmpd="sng" algn="ctr">
                      <a:noFill/>
                    </a:lnL>
                    <a:lnR w="0" cap="flat" cmpd="sng" algn="ctr">
                      <a:noFill/>
                    </a:lnR>
                    <a:lnT w="0" cap="flat" cmpd="sng" algn="ctr">
                      <a:noFill/>
                    </a:lnT>
                    <a:lnB w="19050" cap="flat" cmpd="sng" algn="ctr">
                      <a:solidFill>
                        <a:srgbClr val="B68757"/>
                      </a:solidFill>
                      <a:prstDash val="solid"/>
                      <a:round/>
                      <a:headEnd type="none" w="med" len="med"/>
                      <a:tailEnd type="none" w="med" len="med"/>
                    </a:lnB>
                  </a:tcPr>
                </a:tc>
                <a:tc>
                  <a:txBody>
                    <a:bodyPr/>
                    <a:lstStyle/>
                    <a:p>
                      <a:pPr marL="0" indent="0" algn="r">
                        <a:lnSpc>
                          <a:spcPts val="788"/>
                        </a:lnSpc>
                        <a:buNone/>
                      </a:pPr>
                      <a:r>
                        <a:rPr lang="en-US" sz="570" b="1" kern="0" spc="75" dirty="0">
                          <a:solidFill>
                            <a:srgbClr val="1B1A1A"/>
                          </a:solidFill>
                          <a:latin typeface="Quicksand" pitchFamily="34" charset="0"/>
                        </a:rPr>
                        <a:t>FORWARD P/E</a:t>
                      </a:r>
                      <a:endParaRPr lang="en-US" sz="700" dirty="0"/>
                    </a:p>
                  </a:txBody>
                  <a:tcPr marL="76200" marR="0" marT="0" marB="47625" anchor="b">
                    <a:lnL w="0" cap="flat" cmpd="sng" algn="ctr">
                      <a:noFill/>
                    </a:lnL>
                    <a:lnR w="0" cap="flat" cmpd="sng" algn="ctr">
                      <a:noFill/>
                    </a:lnR>
                    <a:lnT w="0" cap="flat" cmpd="sng" algn="ctr">
                      <a:noFill/>
                    </a:lnT>
                    <a:lnB w="19050" cap="flat" cmpd="sng" algn="ctr">
                      <a:solidFill>
                        <a:srgbClr val="B68757"/>
                      </a:solidFill>
                      <a:prstDash val="solid"/>
                      <a:round/>
                      <a:headEnd type="none" w="med" len="med"/>
                      <a:tailEnd type="none" w="med" len="med"/>
                    </a:lnB>
                  </a:tcPr>
                </a:tc>
                <a:tc>
                  <a:txBody>
                    <a:bodyPr/>
                    <a:lstStyle/>
                    <a:p>
                      <a:pPr marL="0" indent="0" algn="r">
                        <a:lnSpc>
                          <a:spcPts val="788"/>
                        </a:lnSpc>
                        <a:buNone/>
                      </a:pPr>
                      <a:r>
                        <a:rPr lang="en-US" sz="570" b="1" kern="0" spc="75" dirty="0">
                          <a:solidFill>
                            <a:srgbClr val="1B1A1A"/>
                          </a:solidFill>
                          <a:latin typeface="Quicksand" pitchFamily="34" charset="0"/>
                        </a:rPr>
                        <a:t>REVENUE GROWTH, TRAILING</a:t>
                      </a:r>
                      <a:endParaRPr lang="en-US" sz="700" dirty="0"/>
                    </a:p>
                  </a:txBody>
                  <a:tcPr marL="76200" marR="0" marT="0" marB="47625" anchor="b">
                    <a:lnL w="0" cap="flat" cmpd="sng" algn="ctr">
                      <a:noFill/>
                    </a:lnL>
                    <a:lnR w="0" cap="flat" cmpd="sng" algn="ctr">
                      <a:noFill/>
                    </a:lnR>
                    <a:lnT w="0" cap="flat" cmpd="sng" algn="ctr">
                      <a:noFill/>
                    </a:lnT>
                    <a:lnB w="19050" cap="flat" cmpd="sng" algn="ctr">
                      <a:solidFill>
                        <a:srgbClr val="B68757"/>
                      </a:solidFill>
                      <a:prstDash val="solid"/>
                      <a:round/>
                      <a:headEnd type="none" w="med" len="med"/>
                      <a:tailEnd type="none" w="med" len="med"/>
                    </a:lnB>
                  </a:tcPr>
                </a:tc>
                <a:tc>
                  <a:txBody>
                    <a:bodyPr/>
                    <a:lstStyle/>
                    <a:p>
                      <a:pPr marL="0" indent="0" algn="r">
                        <a:lnSpc>
                          <a:spcPts val="788"/>
                        </a:lnSpc>
                        <a:buNone/>
                      </a:pPr>
                      <a:r>
                        <a:rPr lang="en-US" sz="570" b="1" kern="0" spc="75" dirty="0">
                          <a:solidFill>
                            <a:srgbClr val="1B1A1A"/>
                          </a:solidFill>
                          <a:latin typeface="Quicksand" pitchFamily="34" charset="0"/>
                        </a:rPr>
                        <a:t>EBITDA MARGIN</a:t>
                      </a:r>
                      <a:endParaRPr lang="en-US" sz="700" dirty="0"/>
                    </a:p>
                  </a:txBody>
                  <a:tcPr marL="76200" marR="0" marT="0" marB="47625" anchor="b">
                    <a:lnL w="0" cap="flat" cmpd="sng" algn="ctr">
                      <a:noFill/>
                    </a:lnL>
                    <a:lnR w="0" cap="flat" cmpd="sng" algn="ctr">
                      <a:noFill/>
                    </a:lnR>
                    <a:lnT w="0" cap="flat" cmpd="sng" algn="ctr">
                      <a:noFill/>
                    </a:lnT>
                    <a:lnB w="19050" cap="flat" cmpd="sng" algn="ctr">
                      <a:solidFill>
                        <a:srgbClr val="B68757"/>
                      </a:solidFill>
                      <a:prstDash val="solid"/>
                      <a:round/>
                      <a:headEnd type="none" w="med" len="med"/>
                      <a:tailEnd type="none" w="med" len="med"/>
                    </a:lnB>
                  </a:tcPr>
                </a:tc>
                <a:tc>
                  <a:txBody>
                    <a:bodyPr/>
                    <a:lstStyle/>
                    <a:p>
                      <a:pPr marL="0" indent="0" algn="r">
                        <a:lnSpc>
                          <a:spcPts val="788"/>
                        </a:lnSpc>
                        <a:buNone/>
                      </a:pPr>
                      <a:r>
                        <a:rPr lang="en-US" sz="570" b="1" kern="0" spc="75" dirty="0">
                          <a:solidFill>
                            <a:srgbClr val="1B1A1A"/>
                          </a:solidFill>
                          <a:latin typeface="Quicksand" pitchFamily="34" charset="0"/>
                        </a:rPr>
                        <a:t>REVENUE GROWTH, CURRENT YEAR EST.</a:t>
                      </a:r>
                      <a:endParaRPr lang="en-US" sz="700" dirty="0"/>
                    </a:p>
                  </a:txBody>
                  <a:tcPr marL="76200" marR="0" marT="0" marB="47625" anchor="b">
                    <a:lnL w="0" cap="flat" cmpd="sng" algn="ctr">
                      <a:noFill/>
                    </a:lnL>
                    <a:lnR w="0" cap="flat" cmpd="sng" algn="ctr">
                      <a:noFill/>
                    </a:lnR>
                    <a:lnT w="0" cap="flat" cmpd="sng" algn="ctr">
                      <a:noFill/>
                    </a:lnT>
                    <a:lnB w="19050" cap="flat" cmpd="sng" algn="ctr">
                      <a:solidFill>
                        <a:srgbClr val="B68757"/>
                      </a:solidFill>
                      <a:prstDash val="solid"/>
                      <a:round/>
                      <a:headEnd type="none" w="med" len="med"/>
                      <a:tailEnd type="none" w="med" len="med"/>
                    </a:lnB>
                  </a:tcPr>
                </a:tc>
                <a:extLst>
                  <a:ext uri="{0D108BD9-81ED-4DB2-BD59-A6C34878D82A}">
                    <a16:rowId xmlns:a16="http://schemas.microsoft.com/office/drawing/2014/main" val="10000"/>
                  </a:ext>
                </a:extLst>
              </a:tr>
              <a:tr h="242739">
                <a:tc gridSpan="12">
                  <a:txBody>
                    <a:bodyPr/>
                    <a:lstStyle/>
                    <a:p>
                      <a:pPr marL="0" indent="0" algn="l">
                        <a:lnSpc>
                          <a:spcPts val="1275"/>
                        </a:lnSpc>
                        <a:buNone/>
                      </a:pPr>
                      <a:r>
                        <a:rPr lang="en-US" sz="645" b="1" kern="0" spc="135" dirty="0">
                          <a:solidFill>
                            <a:srgbClr val="8C6239"/>
                          </a:solidFill>
                          <a:latin typeface="Quicksand" pitchFamily="34" charset="0"/>
                        </a:rPr>
                        <a:t>PACKAGED FOOD</a:t>
                      </a:r>
                      <a:endParaRPr lang="en-US" sz="700" dirty="0"/>
                    </a:p>
                  </a:txBody>
                  <a:tcPr marL="0" marR="0" marT="0" marB="28575" anchor="b">
                    <a:lnL w="0" cap="flat" cmpd="sng" algn="ctr">
                      <a:noFill/>
                    </a:lnL>
                    <a:lnR w="0" cap="flat" cmpd="sng" algn="ctr">
                      <a:noFill/>
                    </a:lnR>
                    <a:lnT w="19050" cap="flat" cmpd="sng" algn="ctr">
                      <a:solidFill>
                        <a:srgbClr val="B68757"/>
                      </a:solidFill>
                      <a:prstDash val="solid"/>
                      <a:round/>
                      <a:headEnd type="none" w="med" len="med"/>
                      <a:tailEnd type="none" w="med" len="med"/>
                    </a:lnT>
                    <a:lnB w="0" cap="flat" cmpd="sng" algn="ctr">
                      <a:noFill/>
                    </a:lnB>
                  </a:tcPr>
                </a:tc>
                <a:tc hMerge="1">
                  <a:txBody>
                    <a:bodyPr/>
                    <a:lstStyle/>
                    <a:p>
                      <a:endParaRPr lang="en-US" sz="700"/>
                    </a:p>
                  </a:txBody>
                  <a:tcPr/>
                </a:tc>
                <a:tc hMerge="1">
                  <a:txBody>
                    <a:bodyPr/>
                    <a:lstStyle/>
                    <a:p>
                      <a:endParaRPr lang="en-US" sz="700"/>
                    </a:p>
                  </a:txBody>
                  <a:tcPr/>
                </a:tc>
                <a:tc hMerge="1">
                  <a:txBody>
                    <a:bodyPr/>
                    <a:lstStyle/>
                    <a:p>
                      <a:endParaRPr lang="en-US" sz="700"/>
                    </a:p>
                  </a:txBody>
                  <a:tcPr/>
                </a:tc>
                <a:tc hMerge="1">
                  <a:txBody>
                    <a:bodyPr/>
                    <a:lstStyle/>
                    <a:p>
                      <a:endParaRPr lang="en-US" sz="700"/>
                    </a:p>
                  </a:txBody>
                  <a:tcPr/>
                </a:tc>
                <a:tc hMerge="1">
                  <a:txBody>
                    <a:bodyPr/>
                    <a:lstStyle/>
                    <a:p>
                      <a:endParaRPr lang="en-US" sz="700"/>
                    </a:p>
                  </a:txBody>
                  <a:tcPr/>
                </a:tc>
                <a:tc hMerge="1">
                  <a:txBody>
                    <a:bodyPr/>
                    <a:lstStyle/>
                    <a:p>
                      <a:endParaRPr lang="en-US" sz="700"/>
                    </a:p>
                  </a:txBody>
                  <a:tcPr/>
                </a:tc>
                <a:tc hMerge="1">
                  <a:txBody>
                    <a:bodyPr/>
                    <a:lstStyle/>
                    <a:p>
                      <a:endParaRPr lang="en-US" sz="700"/>
                    </a:p>
                  </a:txBody>
                  <a:tcPr/>
                </a:tc>
                <a:tc hMerge="1">
                  <a:txBody>
                    <a:bodyPr/>
                    <a:lstStyle/>
                    <a:p>
                      <a:endParaRPr lang="en-US" sz="700"/>
                    </a:p>
                  </a:txBody>
                  <a:tcPr/>
                </a:tc>
                <a:tc hMerge="1">
                  <a:txBody>
                    <a:bodyPr/>
                    <a:lstStyle/>
                    <a:p>
                      <a:endParaRPr lang="en-US" sz="700"/>
                    </a:p>
                  </a:txBody>
                  <a:tcPr/>
                </a:tc>
                <a:tc hMerge="1">
                  <a:txBody>
                    <a:bodyPr/>
                    <a:lstStyle/>
                    <a:p>
                      <a:endParaRPr lang="en-US" sz="700"/>
                    </a:p>
                  </a:txBody>
                  <a:tcPr/>
                </a:tc>
                <a:tc hMerge="1">
                  <a:txBody>
                    <a:bodyPr/>
                    <a:lstStyle/>
                    <a:p>
                      <a:endParaRPr lang="en-US" sz="700"/>
                    </a:p>
                  </a:txBody>
                  <a:tcPr/>
                </a:tc>
                <a:extLst>
                  <a:ext uri="{0D108BD9-81ED-4DB2-BD59-A6C34878D82A}">
                    <a16:rowId xmlns:a16="http://schemas.microsoft.com/office/drawing/2014/main" val="10001"/>
                  </a:ext>
                </a:extLst>
              </a:tr>
              <a:tr h="195709">
                <a:tc>
                  <a:txBody>
                    <a:bodyPr/>
                    <a:lstStyle/>
                    <a:p>
                      <a:pPr marL="0" indent="0" algn="l">
                        <a:lnSpc>
                          <a:spcPts val="900"/>
                        </a:lnSpc>
                        <a:buNone/>
                      </a:pPr>
                      <a:r>
                        <a:rPr lang="en-US" sz="750" kern="0" spc="15" dirty="0">
                          <a:solidFill>
                            <a:srgbClr val="1B1A1A"/>
                          </a:solidFill>
                          <a:latin typeface="Quicksand SemiBold" pitchFamily="34" charset="0"/>
                        </a:rPr>
                        <a:t>General Mills</a:t>
                      </a:r>
                      <a:endParaRPr lang="en-US" sz="700" dirty="0"/>
                    </a:p>
                  </a:txBody>
                  <a:tcPr marL="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l">
                        <a:lnSpc>
                          <a:spcPts val="900"/>
                        </a:lnSpc>
                        <a:buNone/>
                      </a:pPr>
                      <a:r>
                        <a:rPr lang="en-US" sz="675" kern="0" spc="15" dirty="0">
                          <a:solidFill>
                            <a:srgbClr val="6F6A66"/>
                          </a:solidFill>
                          <a:latin typeface="Quicksand" pitchFamily="34" charset="0"/>
                        </a:rPr>
                        <a:t>GIS</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17.1</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30.3</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−36.3%</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1.66x</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8.9x</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11.1x</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10.4x</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−4.5%</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18.7%</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−4.0%</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extLst>
                  <a:ext uri="{0D108BD9-81ED-4DB2-BD59-A6C34878D82A}">
                    <a16:rowId xmlns:a16="http://schemas.microsoft.com/office/drawing/2014/main" val="10002"/>
                  </a:ext>
                </a:extLst>
              </a:tr>
              <a:tr h="195709">
                <a:tc>
                  <a:txBody>
                    <a:bodyPr/>
                    <a:lstStyle/>
                    <a:p>
                      <a:pPr marL="0" indent="0" algn="l">
                        <a:lnSpc>
                          <a:spcPts val="900"/>
                        </a:lnSpc>
                        <a:buNone/>
                      </a:pPr>
                      <a:r>
                        <a:rPr lang="en-US" sz="750" kern="0" spc="15" dirty="0">
                          <a:solidFill>
                            <a:srgbClr val="1B1A1A"/>
                          </a:solidFill>
                          <a:latin typeface="Quicksand SemiBold" pitchFamily="34" charset="0"/>
                        </a:rPr>
                        <a:t>Conagra Brands</a:t>
                      </a:r>
                      <a:endParaRPr lang="en-US" sz="700" dirty="0"/>
                    </a:p>
                  </a:txBody>
                  <a:tcPr marL="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l">
                        <a:lnSpc>
                          <a:spcPts val="900"/>
                        </a:lnSpc>
                        <a:buNone/>
                      </a:pPr>
                      <a:r>
                        <a:rPr lang="en-US" sz="675" kern="0" spc="15" dirty="0">
                          <a:solidFill>
                            <a:srgbClr val="6F6A66"/>
                          </a:solidFill>
                          <a:latin typeface="Quicksand" pitchFamily="34" charset="0"/>
                        </a:rPr>
                        <a:t>CAG</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6.4</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13.7</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−29.4%</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1.22x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7.9x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8.8x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9.2x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−1.8%</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15.4%</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−4.0%</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3"/>
                  </a:ext>
                </a:extLst>
              </a:tr>
              <a:tr h="195709">
                <a:tc>
                  <a:txBody>
                    <a:bodyPr/>
                    <a:lstStyle/>
                    <a:p>
                      <a:pPr marL="0" indent="0" algn="l">
                        <a:lnSpc>
                          <a:spcPts val="900"/>
                        </a:lnSpc>
                        <a:buNone/>
                      </a:pPr>
                      <a:r>
                        <a:rPr lang="en-US" sz="750" kern="0" spc="15" dirty="0">
                          <a:solidFill>
                            <a:srgbClr val="1B1A1A"/>
                          </a:solidFill>
                          <a:latin typeface="Quicksand SemiBold" pitchFamily="34" charset="0"/>
                        </a:rPr>
                        <a:t>Kraft Heinz</a:t>
                      </a:r>
                      <a:endParaRPr lang="en-US" sz="700" dirty="0"/>
                    </a:p>
                  </a:txBody>
                  <a:tcPr marL="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l">
                        <a:lnSpc>
                          <a:spcPts val="900"/>
                        </a:lnSpc>
                        <a:buNone/>
                      </a:pPr>
                      <a:r>
                        <a:rPr lang="en-US" sz="675" kern="0" spc="15" dirty="0">
                          <a:solidFill>
                            <a:srgbClr val="6F6A66"/>
                          </a:solidFill>
                          <a:latin typeface="Quicksand" pitchFamily="34" charset="0"/>
                        </a:rPr>
                        <a:t>KHC</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25.9</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42.3</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−13.5%</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1.70x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7.7x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8.3x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11.1x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−1.6%</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22.1%</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−1.3%</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4"/>
                  </a:ext>
                </a:extLst>
              </a:tr>
              <a:tr h="195709">
                <a:tc>
                  <a:txBody>
                    <a:bodyPr/>
                    <a:lstStyle/>
                    <a:p>
                      <a:pPr marL="0" indent="0" algn="l">
                        <a:lnSpc>
                          <a:spcPts val="900"/>
                        </a:lnSpc>
                        <a:buNone/>
                      </a:pPr>
                      <a:r>
                        <a:rPr lang="en-US" sz="750" kern="0" spc="15" dirty="0">
                          <a:solidFill>
                            <a:srgbClr val="1B1A1A"/>
                          </a:solidFill>
                          <a:latin typeface="Quicksand SemiBold" pitchFamily="34" charset="0"/>
                        </a:rPr>
                        <a:t>Campbell's</a:t>
                      </a:r>
                      <a:endParaRPr lang="en-US" sz="700" dirty="0"/>
                    </a:p>
                  </a:txBody>
                  <a:tcPr marL="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l">
                        <a:lnSpc>
                          <a:spcPts val="900"/>
                        </a:lnSpc>
                        <a:buNone/>
                      </a:pPr>
                      <a:r>
                        <a:rPr lang="en-US" sz="675" kern="0" spc="15" dirty="0">
                          <a:solidFill>
                            <a:srgbClr val="6F6A66"/>
                          </a:solidFill>
                          <a:latin typeface="Quicksand" pitchFamily="34" charset="0"/>
                        </a:rPr>
                        <a:t>CPB</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5.6</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12.7</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−39.6%</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1.31x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7.9x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8.8x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11.2x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−5.0%</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16.6%</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−2.5%</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5"/>
                  </a:ext>
                </a:extLst>
              </a:tr>
              <a:tr h="195709">
                <a:tc>
                  <a:txBody>
                    <a:bodyPr/>
                    <a:lstStyle/>
                    <a:p>
                      <a:pPr marL="0" indent="0" algn="l">
                        <a:lnSpc>
                          <a:spcPts val="900"/>
                        </a:lnSpc>
                        <a:buNone/>
                      </a:pPr>
                      <a:r>
                        <a:rPr lang="en-US" sz="750" kern="0" spc="15" dirty="0">
                          <a:solidFill>
                            <a:srgbClr val="1B1A1A"/>
                          </a:solidFill>
                          <a:latin typeface="Quicksand SemiBold" pitchFamily="34" charset="0"/>
                        </a:rPr>
                        <a:t>J.M. Smucker</a:t>
                      </a:r>
                      <a:endParaRPr lang="en-US" sz="700" dirty="0"/>
                    </a:p>
                  </a:txBody>
                  <a:tcPr marL="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l">
                        <a:lnSpc>
                          <a:spcPts val="900"/>
                        </a:lnSpc>
                        <a:buNone/>
                      </a:pPr>
                      <a:r>
                        <a:rPr lang="en-US" sz="675" kern="0" spc="15" dirty="0">
                          <a:solidFill>
                            <a:srgbClr val="6F6A66"/>
                          </a:solidFill>
                          <a:latin typeface="Quicksand" pitchFamily="34" charset="0"/>
                        </a:rPr>
                        <a:t>SJM</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12.5</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19.4</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+8.0%</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2.12x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8.6x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10.6x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11.6x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+5.1%</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24.7%</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−1.3%</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6"/>
                  </a:ext>
                </a:extLst>
              </a:tr>
              <a:tr h="195709">
                <a:tc>
                  <a:txBody>
                    <a:bodyPr/>
                    <a:lstStyle/>
                    <a:p>
                      <a:pPr marL="0" indent="0" algn="l">
                        <a:lnSpc>
                          <a:spcPts val="900"/>
                        </a:lnSpc>
                        <a:buNone/>
                      </a:pPr>
                      <a:r>
                        <a:rPr lang="en-US" sz="750" kern="0" spc="15" dirty="0">
                          <a:solidFill>
                            <a:srgbClr val="1B1A1A"/>
                          </a:solidFill>
                          <a:latin typeface="Quicksand SemiBold" pitchFamily="34" charset="0"/>
                        </a:rPr>
                        <a:t>Hormel Foods</a:t>
                      </a:r>
                      <a:endParaRPr lang="en-US" sz="700" dirty="0"/>
                    </a:p>
                  </a:txBody>
                  <a:tcPr marL="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l">
                        <a:lnSpc>
                          <a:spcPts val="900"/>
                        </a:lnSpc>
                        <a:buNone/>
                      </a:pPr>
                      <a:r>
                        <a:rPr lang="en-US" sz="675" kern="0" spc="15" dirty="0">
                          <a:solidFill>
                            <a:srgbClr val="6F6A66"/>
                          </a:solidFill>
                          <a:latin typeface="Quicksand" pitchFamily="34" charset="0"/>
                        </a:rPr>
                        <a:t>HRL</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10.8</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12.8</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−19.4%</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1.05x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10.1x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12.5x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13.0x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+0.7%</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10.4%</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+0.3%</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7"/>
                  </a:ext>
                </a:extLst>
              </a:tr>
              <a:tr h="195709">
                <a:tc>
                  <a:txBody>
                    <a:bodyPr/>
                    <a:lstStyle/>
                    <a:p>
                      <a:pPr marL="0" indent="0" algn="l">
                        <a:lnSpc>
                          <a:spcPts val="900"/>
                        </a:lnSpc>
                        <a:buNone/>
                      </a:pPr>
                      <a:r>
                        <a:rPr lang="en-US" sz="750" kern="0" spc="15" dirty="0">
                          <a:solidFill>
                            <a:srgbClr val="1B1A1A"/>
                          </a:solidFill>
                          <a:latin typeface="Quicksand SemiBold" pitchFamily="34" charset="0"/>
                        </a:rPr>
                        <a:t>McCormick</a:t>
                      </a:r>
                      <a:endParaRPr lang="en-US" sz="700" dirty="0"/>
                    </a:p>
                  </a:txBody>
                  <a:tcPr marL="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l">
                        <a:lnSpc>
                          <a:spcPts val="900"/>
                        </a:lnSpc>
                        <a:buNone/>
                      </a:pPr>
                      <a:r>
                        <a:rPr lang="en-US" sz="675" kern="0" spc="15" dirty="0">
                          <a:solidFill>
                            <a:srgbClr val="6F6A66"/>
                          </a:solidFill>
                          <a:latin typeface="Quicksand" pitchFamily="34" charset="0"/>
                        </a:rPr>
                        <a:t>MKC</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12.2</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16.9</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−35.1%</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2.18x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11.2x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17.2x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14.5x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+13.2%</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19.6%</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+15.8%</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8"/>
                  </a:ext>
                </a:extLst>
              </a:tr>
              <a:tr h="195709">
                <a:tc>
                  <a:txBody>
                    <a:bodyPr/>
                    <a:lstStyle/>
                    <a:p>
                      <a:pPr marL="0" indent="0" algn="l">
                        <a:lnSpc>
                          <a:spcPts val="900"/>
                        </a:lnSpc>
                        <a:buNone/>
                      </a:pPr>
                      <a:r>
                        <a:rPr lang="en-US" sz="750" kern="0" spc="15" dirty="0">
                          <a:solidFill>
                            <a:srgbClr val="1B1A1A"/>
                          </a:solidFill>
                          <a:latin typeface="Quicksand SemiBold" pitchFamily="34" charset="0"/>
                        </a:rPr>
                        <a:t>Post Holdings</a:t>
                      </a:r>
                      <a:endParaRPr lang="en-US" sz="700" dirty="0"/>
                    </a:p>
                  </a:txBody>
                  <a:tcPr marL="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l">
                        <a:lnSpc>
                          <a:spcPts val="900"/>
                        </a:lnSpc>
                        <a:buNone/>
                      </a:pPr>
                      <a:r>
                        <a:rPr lang="en-US" sz="675" kern="0" spc="15" dirty="0">
                          <a:solidFill>
                            <a:srgbClr val="6F6A66"/>
                          </a:solidFill>
                          <a:latin typeface="Quicksand" pitchFamily="34" charset="0"/>
                        </a:rPr>
                        <a:t>POST</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3.2</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10.5</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−32.4%</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1.26x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7.3x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8.8x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10.6x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+6.2%</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17.2%</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+0.2%</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9"/>
                  </a:ext>
                </a:extLst>
              </a:tr>
              <a:tr h="195709">
                <a:tc>
                  <a:txBody>
                    <a:bodyPr/>
                    <a:lstStyle/>
                    <a:p>
                      <a:pPr marL="0" indent="0" algn="l">
                        <a:lnSpc>
                          <a:spcPts val="900"/>
                        </a:lnSpc>
                        <a:buNone/>
                      </a:pPr>
                      <a:r>
                        <a:rPr lang="en-US" sz="750" b="1" kern="0" spc="15" dirty="0">
                          <a:solidFill>
                            <a:srgbClr val="1B1A1A"/>
                          </a:solidFill>
                          <a:latin typeface="Quicksand" pitchFamily="34" charset="0"/>
                        </a:rPr>
                        <a:t>Median</a:t>
                      </a:r>
                      <a:endParaRPr lang="en-US" sz="700" dirty="0"/>
                    </a:p>
                  </a:txBody>
                  <a:tcPr marL="5715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l">
                        <a:lnSpc>
                          <a:spcPts val="900"/>
                        </a:lnSpc>
                        <a:buNone/>
                      </a:pP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r">
                        <a:lnSpc>
                          <a:spcPts val="900"/>
                        </a:lnSpc>
                        <a:buNone/>
                      </a:pP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r">
                        <a:lnSpc>
                          <a:spcPts val="900"/>
                        </a:lnSpc>
                        <a:buNone/>
                      </a:pP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r">
                        <a:lnSpc>
                          <a:spcPts val="900"/>
                        </a:lnSpc>
                        <a:buNone/>
                      </a:pPr>
                      <a:r>
                        <a:rPr lang="en-US" sz="750" b="1" kern="0" spc="15" dirty="0">
                          <a:solidFill>
                            <a:srgbClr val="1B1A1A"/>
                          </a:solidFill>
                          <a:latin typeface="Quicksand" pitchFamily="34" charset="0"/>
                        </a:rPr>
                        <a:t>−30.9%</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r">
                        <a:lnSpc>
                          <a:spcPts val="900"/>
                        </a:lnSpc>
                        <a:buNone/>
                      </a:pPr>
                      <a:r>
                        <a:rPr lang="en-US" sz="750" b="1" kern="0" spc="15" dirty="0">
                          <a:solidFill>
                            <a:srgbClr val="1B1A1A"/>
                          </a:solidFill>
                          <a:latin typeface="Quicksand" pitchFamily="34" charset="0"/>
                        </a:rPr>
                        <a:t>1.48x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r">
                        <a:lnSpc>
                          <a:spcPts val="900"/>
                        </a:lnSpc>
                        <a:buNone/>
                      </a:pPr>
                      <a:r>
                        <a:rPr lang="en-US" sz="750" b="1" kern="0" spc="15" dirty="0">
                          <a:solidFill>
                            <a:srgbClr val="1B1A1A"/>
                          </a:solidFill>
                          <a:latin typeface="Quicksand" pitchFamily="34" charset="0"/>
                        </a:rPr>
                        <a:t>8.2x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r">
                        <a:lnSpc>
                          <a:spcPts val="900"/>
                        </a:lnSpc>
                        <a:buNone/>
                      </a:pPr>
                      <a:r>
                        <a:rPr lang="en-US" sz="750" b="1" kern="0" spc="15" dirty="0">
                          <a:solidFill>
                            <a:srgbClr val="1B1A1A"/>
                          </a:solidFill>
                          <a:latin typeface="Quicksand" pitchFamily="34" charset="0"/>
                        </a:rPr>
                        <a:t>9.7x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r">
                        <a:lnSpc>
                          <a:spcPts val="900"/>
                        </a:lnSpc>
                        <a:buNone/>
                      </a:pPr>
                      <a:r>
                        <a:rPr lang="en-US" sz="750" b="1" kern="0" spc="15" dirty="0">
                          <a:solidFill>
                            <a:srgbClr val="1B1A1A"/>
                          </a:solidFill>
                          <a:latin typeface="Quicksand" pitchFamily="34" charset="0"/>
                        </a:rPr>
                        <a:t>11.1x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r">
                        <a:lnSpc>
                          <a:spcPts val="900"/>
                        </a:lnSpc>
                        <a:buNone/>
                      </a:pPr>
                      <a:r>
                        <a:rPr lang="en-US" sz="750" b="1" kern="0" spc="15" dirty="0">
                          <a:solidFill>
                            <a:srgbClr val="1B1A1A"/>
                          </a:solidFill>
                          <a:latin typeface="Quicksand" pitchFamily="34" charset="0"/>
                        </a:rPr>
                        <a:t>−0.4%</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r">
                        <a:lnSpc>
                          <a:spcPts val="900"/>
                        </a:lnSpc>
                        <a:buNone/>
                      </a:pPr>
                      <a:r>
                        <a:rPr lang="en-US" sz="750" b="1" kern="0" spc="15" dirty="0">
                          <a:solidFill>
                            <a:srgbClr val="1B1A1A"/>
                          </a:solidFill>
                          <a:latin typeface="Quicksand" pitchFamily="34" charset="0"/>
                        </a:rPr>
                        <a:t>18.0%</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r">
                        <a:lnSpc>
                          <a:spcPts val="900"/>
                        </a:lnSpc>
                        <a:buNone/>
                      </a:pPr>
                      <a:r>
                        <a:rPr lang="en-US" sz="750" b="1" kern="0" spc="15" dirty="0">
                          <a:solidFill>
                            <a:srgbClr val="1B1A1A"/>
                          </a:solidFill>
                          <a:latin typeface="Quicksand" pitchFamily="34" charset="0"/>
                        </a:rPr>
                        <a:t>−1.3%</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extLst>
                  <a:ext uri="{0D108BD9-81ED-4DB2-BD59-A6C34878D82A}">
                    <a16:rowId xmlns:a16="http://schemas.microsoft.com/office/drawing/2014/main" val="10010"/>
                  </a:ext>
                </a:extLst>
              </a:tr>
              <a:tr h="242739">
                <a:tc gridSpan="12">
                  <a:txBody>
                    <a:bodyPr/>
                    <a:lstStyle/>
                    <a:p>
                      <a:pPr marL="0" indent="0" algn="l">
                        <a:lnSpc>
                          <a:spcPts val="1275"/>
                        </a:lnSpc>
                        <a:buNone/>
                      </a:pPr>
                      <a:r>
                        <a:rPr lang="en-US" sz="645" b="1" kern="0" spc="135" dirty="0">
                          <a:solidFill>
                            <a:srgbClr val="8C6239"/>
                          </a:solidFill>
                          <a:latin typeface="Quicksand" pitchFamily="34" charset="0"/>
                        </a:rPr>
                        <a:t>SNACKS AND BETTER-FOR-YOU</a:t>
                      </a:r>
                      <a:endParaRPr lang="en-US" sz="700" dirty="0"/>
                    </a:p>
                  </a:txBody>
                  <a:tcPr marL="0" marR="0" marT="0" marB="28575" anchor="b">
                    <a:lnL w="0" cap="flat" cmpd="sng" algn="ctr">
                      <a:noFill/>
                    </a:lnL>
                    <a:lnR w="0" cap="flat" cmpd="sng" algn="ctr">
                      <a:noFill/>
                    </a:lnR>
                    <a:lnT w="0" cap="flat" cmpd="sng" algn="ctr">
                      <a:noFill/>
                    </a:lnT>
                    <a:lnB w="0" cap="flat" cmpd="sng" algn="ctr">
                      <a:noFill/>
                    </a:lnB>
                  </a:tcPr>
                </a:tc>
                <a:tc hMerge="1">
                  <a:txBody>
                    <a:bodyPr/>
                    <a:lstStyle/>
                    <a:p>
                      <a:endParaRPr lang="en-US" sz="700"/>
                    </a:p>
                  </a:txBody>
                  <a:tcPr/>
                </a:tc>
                <a:tc hMerge="1">
                  <a:txBody>
                    <a:bodyPr/>
                    <a:lstStyle/>
                    <a:p>
                      <a:endParaRPr lang="en-US" sz="700"/>
                    </a:p>
                  </a:txBody>
                  <a:tcPr/>
                </a:tc>
                <a:tc hMerge="1">
                  <a:txBody>
                    <a:bodyPr/>
                    <a:lstStyle/>
                    <a:p>
                      <a:endParaRPr lang="en-US" sz="700"/>
                    </a:p>
                  </a:txBody>
                  <a:tcPr/>
                </a:tc>
                <a:tc hMerge="1">
                  <a:txBody>
                    <a:bodyPr/>
                    <a:lstStyle/>
                    <a:p>
                      <a:endParaRPr lang="en-US" sz="700"/>
                    </a:p>
                  </a:txBody>
                  <a:tcPr/>
                </a:tc>
                <a:tc hMerge="1">
                  <a:txBody>
                    <a:bodyPr/>
                    <a:lstStyle/>
                    <a:p>
                      <a:endParaRPr lang="en-US" sz="700"/>
                    </a:p>
                  </a:txBody>
                  <a:tcPr/>
                </a:tc>
                <a:tc hMerge="1">
                  <a:txBody>
                    <a:bodyPr/>
                    <a:lstStyle/>
                    <a:p>
                      <a:endParaRPr lang="en-US" sz="700"/>
                    </a:p>
                  </a:txBody>
                  <a:tcPr/>
                </a:tc>
                <a:tc hMerge="1">
                  <a:txBody>
                    <a:bodyPr/>
                    <a:lstStyle/>
                    <a:p>
                      <a:endParaRPr lang="en-US" sz="700"/>
                    </a:p>
                  </a:txBody>
                  <a:tcPr/>
                </a:tc>
                <a:tc hMerge="1">
                  <a:txBody>
                    <a:bodyPr/>
                    <a:lstStyle/>
                    <a:p>
                      <a:endParaRPr lang="en-US" sz="700"/>
                    </a:p>
                  </a:txBody>
                  <a:tcPr/>
                </a:tc>
                <a:tc hMerge="1">
                  <a:txBody>
                    <a:bodyPr/>
                    <a:lstStyle/>
                    <a:p>
                      <a:endParaRPr lang="en-US" sz="700"/>
                    </a:p>
                  </a:txBody>
                  <a:tcPr/>
                </a:tc>
                <a:tc hMerge="1">
                  <a:txBody>
                    <a:bodyPr/>
                    <a:lstStyle/>
                    <a:p>
                      <a:endParaRPr lang="en-US" sz="700"/>
                    </a:p>
                  </a:txBody>
                  <a:tcPr/>
                </a:tc>
                <a:tc hMerge="1">
                  <a:txBody>
                    <a:bodyPr/>
                    <a:lstStyle/>
                    <a:p>
                      <a:endParaRPr lang="en-US" sz="700"/>
                    </a:p>
                  </a:txBody>
                  <a:tcPr/>
                </a:tc>
                <a:extLst>
                  <a:ext uri="{0D108BD9-81ED-4DB2-BD59-A6C34878D82A}">
                    <a16:rowId xmlns:a16="http://schemas.microsoft.com/office/drawing/2014/main" val="10011"/>
                  </a:ext>
                </a:extLst>
              </a:tr>
              <a:tr h="195709">
                <a:tc>
                  <a:txBody>
                    <a:bodyPr/>
                    <a:lstStyle/>
                    <a:p>
                      <a:pPr marL="0" indent="0" algn="l">
                        <a:lnSpc>
                          <a:spcPts val="900"/>
                        </a:lnSpc>
                        <a:buNone/>
                      </a:pPr>
                      <a:r>
                        <a:rPr lang="en-US" sz="750" kern="0" spc="15" dirty="0">
                          <a:solidFill>
                            <a:srgbClr val="1B1A1A"/>
                          </a:solidFill>
                          <a:latin typeface="Quicksand SemiBold" pitchFamily="34" charset="0"/>
                        </a:rPr>
                        <a:t>Mondelez</a:t>
                      </a:r>
                      <a:endParaRPr lang="en-US" sz="700" dirty="0"/>
                    </a:p>
                  </a:txBody>
                  <a:tcPr marL="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l">
                        <a:lnSpc>
                          <a:spcPts val="900"/>
                        </a:lnSpc>
                        <a:buNone/>
                      </a:pPr>
                      <a:r>
                        <a:rPr lang="en-US" sz="675" kern="0" spc="15" dirty="0">
                          <a:solidFill>
                            <a:srgbClr val="6F6A66"/>
                          </a:solidFill>
                          <a:latin typeface="Quicksand" pitchFamily="34" charset="0"/>
                        </a:rPr>
                        <a:t>MDLZ</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76.1</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96.4</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−3.7%</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2.42x</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15.9x</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17.7x</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18.5x</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+6.9%</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15.3%</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+4.1%</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extLst>
                  <a:ext uri="{0D108BD9-81ED-4DB2-BD59-A6C34878D82A}">
                    <a16:rowId xmlns:a16="http://schemas.microsoft.com/office/drawing/2014/main" val="10012"/>
                  </a:ext>
                </a:extLst>
              </a:tr>
              <a:tr h="195709">
                <a:tc>
                  <a:txBody>
                    <a:bodyPr/>
                    <a:lstStyle/>
                    <a:p>
                      <a:pPr marL="0" indent="0" algn="l">
                        <a:lnSpc>
                          <a:spcPts val="900"/>
                        </a:lnSpc>
                        <a:buNone/>
                      </a:pPr>
                      <a:r>
                        <a:rPr lang="en-US" sz="750" kern="0" spc="15" dirty="0">
                          <a:solidFill>
                            <a:srgbClr val="1B1A1A"/>
                          </a:solidFill>
                          <a:latin typeface="Quicksand SemiBold" pitchFamily="34" charset="0"/>
                        </a:rPr>
                        <a:t>Hershey</a:t>
                      </a:r>
                      <a:endParaRPr lang="en-US" sz="700" dirty="0"/>
                    </a:p>
                  </a:txBody>
                  <a:tcPr marL="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l">
                        <a:lnSpc>
                          <a:spcPts val="900"/>
                        </a:lnSpc>
                        <a:buNone/>
                      </a:pPr>
                      <a:r>
                        <a:rPr lang="en-US" sz="675" kern="0" spc="15" dirty="0">
                          <a:solidFill>
                            <a:srgbClr val="6F6A66"/>
                          </a:solidFill>
                          <a:latin typeface="Quicksand" pitchFamily="34" charset="0"/>
                        </a:rPr>
                        <a:t>HSY</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32.2</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37.3</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−17.9%</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3.07x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13.7x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17.6x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17.3x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+7.7%</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22.4%</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+5.1%</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13"/>
                  </a:ext>
                </a:extLst>
              </a:tr>
              <a:tr h="195709">
                <a:tc>
                  <a:txBody>
                    <a:bodyPr/>
                    <a:lstStyle/>
                    <a:p>
                      <a:pPr marL="0" indent="0" algn="l">
                        <a:lnSpc>
                          <a:spcPts val="900"/>
                        </a:lnSpc>
                        <a:buNone/>
                      </a:pPr>
                      <a:r>
                        <a:rPr lang="en-US" sz="750" kern="0" spc="15" dirty="0">
                          <a:solidFill>
                            <a:srgbClr val="1B1A1A"/>
                          </a:solidFill>
                          <a:latin typeface="Quicksand SemiBold" pitchFamily="34" charset="0"/>
                        </a:rPr>
                        <a:t>Utz Brands</a:t>
                      </a:r>
                      <a:endParaRPr lang="en-US" sz="700" dirty="0"/>
                    </a:p>
                  </a:txBody>
                  <a:tcPr marL="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l">
                        <a:lnSpc>
                          <a:spcPts val="900"/>
                        </a:lnSpc>
                        <a:buNone/>
                      </a:pPr>
                      <a:r>
                        <a:rPr lang="en-US" sz="675" kern="0" spc="15" dirty="0">
                          <a:solidFill>
                            <a:srgbClr val="6F6A66"/>
                          </a:solidFill>
                          <a:latin typeface="Quicksand" pitchFamily="34" charset="0"/>
                        </a:rPr>
                        <a:t>UTZ</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2.1</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3.0</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+14.6%</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2.08x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33.4x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n.m.</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17.7x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+2.0%</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6.2%</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+3.7%</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14"/>
                  </a:ext>
                </a:extLst>
              </a:tr>
              <a:tr h="195709">
                <a:tc>
                  <a:txBody>
                    <a:bodyPr/>
                    <a:lstStyle/>
                    <a:p>
                      <a:pPr marL="0" indent="0" algn="l">
                        <a:lnSpc>
                          <a:spcPts val="900"/>
                        </a:lnSpc>
                        <a:buNone/>
                      </a:pPr>
                      <a:r>
                        <a:rPr lang="en-US" sz="750" kern="0" spc="15" dirty="0">
                          <a:solidFill>
                            <a:srgbClr val="1B1A1A"/>
                          </a:solidFill>
                          <a:latin typeface="Quicksand SemiBold" pitchFamily="34" charset="0"/>
                        </a:rPr>
                        <a:t>BellRing Brands</a:t>
                      </a:r>
                      <a:endParaRPr lang="en-US" sz="700" dirty="0"/>
                    </a:p>
                  </a:txBody>
                  <a:tcPr marL="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l">
                        <a:lnSpc>
                          <a:spcPts val="900"/>
                        </a:lnSpc>
                        <a:buNone/>
                      </a:pPr>
                      <a:r>
                        <a:rPr lang="en-US" sz="675" kern="0" spc="15" dirty="0">
                          <a:solidFill>
                            <a:srgbClr val="6F6A66"/>
                          </a:solidFill>
                          <a:latin typeface="Quicksand" pitchFamily="34" charset="0"/>
                        </a:rPr>
                        <a:t>BRBR</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0.90</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2.0</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−77.2%</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0.85x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6.1x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10.8x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6.3x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+5.9%</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14.1%</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+1.8%</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15"/>
                  </a:ext>
                </a:extLst>
              </a:tr>
              <a:tr h="195709">
                <a:tc>
                  <a:txBody>
                    <a:bodyPr/>
                    <a:lstStyle/>
                    <a:p>
                      <a:pPr marL="0" indent="0" algn="l">
                        <a:lnSpc>
                          <a:spcPts val="900"/>
                        </a:lnSpc>
                        <a:buNone/>
                      </a:pPr>
                      <a:r>
                        <a:rPr lang="en-US" sz="750" kern="0" spc="15" dirty="0">
                          <a:solidFill>
                            <a:srgbClr val="1B1A1A"/>
                          </a:solidFill>
                          <a:latin typeface="Quicksand SemiBold" pitchFamily="34" charset="0"/>
                        </a:rPr>
                        <a:t>Simply Good Foods</a:t>
                      </a:r>
                      <a:endParaRPr lang="en-US" sz="700" dirty="0"/>
                    </a:p>
                  </a:txBody>
                  <a:tcPr marL="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l">
                        <a:lnSpc>
                          <a:spcPts val="900"/>
                        </a:lnSpc>
                        <a:buNone/>
                      </a:pPr>
                      <a:r>
                        <a:rPr lang="en-US" sz="675" kern="0" spc="15" dirty="0">
                          <a:solidFill>
                            <a:srgbClr val="6F6A66"/>
                          </a:solidFill>
                          <a:latin typeface="Quicksand" pitchFamily="34" charset="0"/>
                        </a:rPr>
                        <a:t>SMPL</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0.89</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1.2</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−57.8%</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0.87x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5.6x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11.8x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6.0x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−4.5%</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15.6%</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−6.9%</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16"/>
                  </a:ext>
                </a:extLst>
              </a:tr>
              <a:tr h="195709">
                <a:tc>
                  <a:txBody>
                    <a:bodyPr/>
                    <a:lstStyle/>
                    <a:p>
                      <a:pPr marL="0" indent="0" algn="l">
                        <a:lnSpc>
                          <a:spcPts val="900"/>
                        </a:lnSpc>
                        <a:buNone/>
                      </a:pPr>
                      <a:r>
                        <a:rPr lang="en-US" sz="750" kern="0" spc="15" dirty="0">
                          <a:solidFill>
                            <a:srgbClr val="1B1A1A"/>
                          </a:solidFill>
                          <a:latin typeface="Quicksand SemiBold" pitchFamily="34" charset="0"/>
                        </a:rPr>
                        <a:t>Vital Farms</a:t>
                      </a:r>
                      <a:endParaRPr lang="en-US" sz="700" dirty="0"/>
                    </a:p>
                  </a:txBody>
                  <a:tcPr marL="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l">
                        <a:lnSpc>
                          <a:spcPts val="900"/>
                        </a:lnSpc>
                        <a:buNone/>
                      </a:pPr>
                      <a:r>
                        <a:rPr lang="en-US" sz="675" kern="0" spc="15" dirty="0">
                          <a:solidFill>
                            <a:srgbClr val="6F6A66"/>
                          </a:solidFill>
                          <a:latin typeface="Quicksand" pitchFamily="34" charset="0"/>
                        </a:rPr>
                        <a:t>VITL</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0.39</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0.48</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−78.1%</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0.64x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31.0x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18.8x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n.a.</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+16.4%</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2.1%</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+1.3%</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17"/>
                  </a:ext>
                </a:extLst>
              </a:tr>
              <a:tr h="195709">
                <a:tc>
                  <a:txBody>
                    <a:bodyPr/>
                    <a:lstStyle/>
                    <a:p>
                      <a:pPr marL="0" indent="0" algn="l">
                        <a:lnSpc>
                          <a:spcPts val="900"/>
                        </a:lnSpc>
                        <a:buNone/>
                      </a:pPr>
                      <a:r>
                        <a:rPr lang="en-US" sz="750" b="1" kern="0" spc="15" dirty="0">
                          <a:solidFill>
                            <a:srgbClr val="1B1A1A"/>
                          </a:solidFill>
                          <a:latin typeface="Quicksand" pitchFamily="34" charset="0"/>
                        </a:rPr>
                        <a:t>Median</a:t>
                      </a:r>
                      <a:endParaRPr lang="en-US" sz="700" dirty="0"/>
                    </a:p>
                  </a:txBody>
                  <a:tcPr marL="5715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l">
                        <a:lnSpc>
                          <a:spcPts val="900"/>
                        </a:lnSpc>
                        <a:buNone/>
                      </a:pP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r">
                        <a:lnSpc>
                          <a:spcPts val="900"/>
                        </a:lnSpc>
                        <a:buNone/>
                      </a:pP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r">
                        <a:lnSpc>
                          <a:spcPts val="900"/>
                        </a:lnSpc>
                        <a:buNone/>
                      </a:pP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r">
                        <a:lnSpc>
                          <a:spcPts val="900"/>
                        </a:lnSpc>
                        <a:buNone/>
                      </a:pPr>
                      <a:r>
                        <a:rPr lang="en-US" sz="750" b="1" kern="0" spc="15" dirty="0">
                          <a:solidFill>
                            <a:srgbClr val="1B1A1A"/>
                          </a:solidFill>
                          <a:latin typeface="Quicksand" pitchFamily="34" charset="0"/>
                        </a:rPr>
                        <a:t>−37.9%</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r">
                        <a:lnSpc>
                          <a:spcPts val="900"/>
                        </a:lnSpc>
                        <a:buNone/>
                      </a:pPr>
                      <a:r>
                        <a:rPr lang="en-US" sz="750" b="1" kern="0" spc="15" dirty="0">
                          <a:solidFill>
                            <a:srgbClr val="1B1A1A"/>
                          </a:solidFill>
                          <a:latin typeface="Quicksand" pitchFamily="34" charset="0"/>
                        </a:rPr>
                        <a:t>1.48x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r">
                        <a:lnSpc>
                          <a:spcPts val="900"/>
                        </a:lnSpc>
                        <a:buNone/>
                      </a:pPr>
                      <a:r>
                        <a:rPr lang="en-US" sz="750" b="1" kern="0" spc="15" dirty="0">
                          <a:solidFill>
                            <a:srgbClr val="1B1A1A"/>
                          </a:solidFill>
                          <a:latin typeface="Quicksand" pitchFamily="34" charset="0"/>
                        </a:rPr>
                        <a:t>13.7x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r">
                        <a:lnSpc>
                          <a:spcPts val="900"/>
                        </a:lnSpc>
                        <a:buNone/>
                      </a:pPr>
                      <a:r>
                        <a:rPr lang="en-US" sz="750" b="1" kern="0" spc="15" dirty="0">
                          <a:solidFill>
                            <a:srgbClr val="1B1A1A"/>
                          </a:solidFill>
                          <a:latin typeface="Quicksand" pitchFamily="34" charset="0"/>
                        </a:rPr>
                        <a:t>17.6x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r">
                        <a:lnSpc>
                          <a:spcPts val="900"/>
                        </a:lnSpc>
                        <a:buNone/>
                      </a:pPr>
                      <a:r>
                        <a:rPr lang="en-US" sz="750" b="1" kern="0" spc="15" dirty="0">
                          <a:solidFill>
                            <a:srgbClr val="1B1A1A"/>
                          </a:solidFill>
                          <a:latin typeface="Quicksand" pitchFamily="34" charset="0"/>
                        </a:rPr>
                        <a:t>17.3x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r">
                        <a:lnSpc>
                          <a:spcPts val="900"/>
                        </a:lnSpc>
                        <a:buNone/>
                      </a:pPr>
                      <a:r>
                        <a:rPr lang="en-US" sz="750" b="1" kern="0" spc="15" dirty="0">
                          <a:solidFill>
                            <a:srgbClr val="1B1A1A"/>
                          </a:solidFill>
                          <a:latin typeface="Quicksand" pitchFamily="34" charset="0"/>
                        </a:rPr>
                        <a:t>+6.4%</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r">
                        <a:lnSpc>
                          <a:spcPts val="900"/>
                        </a:lnSpc>
                        <a:buNone/>
                      </a:pPr>
                      <a:r>
                        <a:rPr lang="en-US" sz="750" b="1" kern="0" spc="15" dirty="0">
                          <a:solidFill>
                            <a:srgbClr val="1B1A1A"/>
                          </a:solidFill>
                          <a:latin typeface="Quicksand" pitchFamily="34" charset="0"/>
                        </a:rPr>
                        <a:t>14.7%</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r">
                        <a:lnSpc>
                          <a:spcPts val="900"/>
                        </a:lnSpc>
                        <a:buNone/>
                      </a:pPr>
                      <a:r>
                        <a:rPr lang="en-US" sz="750" b="1" kern="0" spc="15" dirty="0">
                          <a:solidFill>
                            <a:srgbClr val="1B1A1A"/>
                          </a:solidFill>
                          <a:latin typeface="Quicksand" pitchFamily="34" charset="0"/>
                        </a:rPr>
                        <a:t>+2.8%</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extLst>
                  <a:ext uri="{0D108BD9-81ED-4DB2-BD59-A6C34878D82A}">
                    <a16:rowId xmlns:a16="http://schemas.microsoft.com/office/drawing/2014/main" val="10018"/>
                  </a:ext>
                </a:extLst>
              </a:tr>
              <a:tr h="242739">
                <a:tc gridSpan="12">
                  <a:txBody>
                    <a:bodyPr/>
                    <a:lstStyle/>
                    <a:p>
                      <a:pPr marL="0" indent="0" algn="l">
                        <a:lnSpc>
                          <a:spcPts val="1275"/>
                        </a:lnSpc>
                        <a:buNone/>
                      </a:pPr>
                      <a:r>
                        <a:rPr lang="en-US" sz="645" b="1" kern="0" spc="135" dirty="0">
                          <a:solidFill>
                            <a:srgbClr val="8C6239"/>
                          </a:solidFill>
                          <a:latin typeface="Quicksand" pitchFamily="34" charset="0"/>
                        </a:rPr>
                        <a:t>BEVERAGES</a:t>
                      </a:r>
                      <a:endParaRPr lang="en-US" sz="700" dirty="0"/>
                    </a:p>
                  </a:txBody>
                  <a:tcPr marL="0" marR="0" marT="0" marB="28575" anchor="b">
                    <a:lnL w="0" cap="flat" cmpd="sng" algn="ctr">
                      <a:noFill/>
                    </a:lnL>
                    <a:lnR w="0" cap="flat" cmpd="sng" algn="ctr">
                      <a:noFill/>
                    </a:lnR>
                    <a:lnT w="0" cap="flat" cmpd="sng" algn="ctr">
                      <a:noFill/>
                    </a:lnT>
                    <a:lnB w="0" cap="flat" cmpd="sng" algn="ctr">
                      <a:noFill/>
                    </a:lnB>
                  </a:tcPr>
                </a:tc>
                <a:tc hMerge="1">
                  <a:txBody>
                    <a:bodyPr/>
                    <a:lstStyle/>
                    <a:p>
                      <a:endParaRPr lang="en-US" sz="700"/>
                    </a:p>
                  </a:txBody>
                  <a:tcPr/>
                </a:tc>
                <a:tc hMerge="1">
                  <a:txBody>
                    <a:bodyPr/>
                    <a:lstStyle/>
                    <a:p>
                      <a:endParaRPr lang="en-US" sz="700"/>
                    </a:p>
                  </a:txBody>
                  <a:tcPr/>
                </a:tc>
                <a:tc hMerge="1">
                  <a:txBody>
                    <a:bodyPr/>
                    <a:lstStyle/>
                    <a:p>
                      <a:endParaRPr lang="en-US" sz="700"/>
                    </a:p>
                  </a:txBody>
                  <a:tcPr/>
                </a:tc>
                <a:tc hMerge="1">
                  <a:txBody>
                    <a:bodyPr/>
                    <a:lstStyle/>
                    <a:p>
                      <a:endParaRPr lang="en-US" sz="700"/>
                    </a:p>
                  </a:txBody>
                  <a:tcPr/>
                </a:tc>
                <a:tc hMerge="1">
                  <a:txBody>
                    <a:bodyPr/>
                    <a:lstStyle/>
                    <a:p>
                      <a:endParaRPr lang="en-US" sz="700"/>
                    </a:p>
                  </a:txBody>
                  <a:tcPr/>
                </a:tc>
                <a:tc hMerge="1">
                  <a:txBody>
                    <a:bodyPr/>
                    <a:lstStyle/>
                    <a:p>
                      <a:endParaRPr lang="en-US" sz="700"/>
                    </a:p>
                  </a:txBody>
                  <a:tcPr/>
                </a:tc>
                <a:tc hMerge="1">
                  <a:txBody>
                    <a:bodyPr/>
                    <a:lstStyle/>
                    <a:p>
                      <a:endParaRPr lang="en-US" sz="700"/>
                    </a:p>
                  </a:txBody>
                  <a:tcPr/>
                </a:tc>
                <a:tc hMerge="1">
                  <a:txBody>
                    <a:bodyPr/>
                    <a:lstStyle/>
                    <a:p>
                      <a:endParaRPr lang="en-US" sz="700"/>
                    </a:p>
                  </a:txBody>
                  <a:tcPr/>
                </a:tc>
                <a:tc hMerge="1">
                  <a:txBody>
                    <a:bodyPr/>
                    <a:lstStyle/>
                    <a:p>
                      <a:endParaRPr lang="en-US" sz="700"/>
                    </a:p>
                  </a:txBody>
                  <a:tcPr/>
                </a:tc>
                <a:tc hMerge="1">
                  <a:txBody>
                    <a:bodyPr/>
                    <a:lstStyle/>
                    <a:p>
                      <a:endParaRPr lang="en-US" sz="700"/>
                    </a:p>
                  </a:txBody>
                  <a:tcPr/>
                </a:tc>
                <a:tc hMerge="1">
                  <a:txBody>
                    <a:bodyPr/>
                    <a:lstStyle/>
                    <a:p>
                      <a:endParaRPr lang="en-US" sz="700"/>
                    </a:p>
                  </a:txBody>
                  <a:tcPr/>
                </a:tc>
                <a:extLst>
                  <a:ext uri="{0D108BD9-81ED-4DB2-BD59-A6C34878D82A}">
                    <a16:rowId xmlns:a16="http://schemas.microsoft.com/office/drawing/2014/main" val="10019"/>
                  </a:ext>
                </a:extLst>
              </a:tr>
              <a:tr h="195709">
                <a:tc>
                  <a:txBody>
                    <a:bodyPr/>
                    <a:lstStyle/>
                    <a:p>
                      <a:pPr marL="0" indent="0" algn="l">
                        <a:lnSpc>
                          <a:spcPts val="900"/>
                        </a:lnSpc>
                        <a:buNone/>
                      </a:pPr>
                      <a:r>
                        <a:rPr lang="en-US" sz="750" kern="0" spc="15" dirty="0">
                          <a:solidFill>
                            <a:srgbClr val="1B1A1A"/>
                          </a:solidFill>
                          <a:latin typeface="Quicksand SemiBold" pitchFamily="34" charset="0"/>
                        </a:rPr>
                        <a:t>Coca-Cola</a:t>
                      </a:r>
                      <a:endParaRPr lang="en-US" sz="700" dirty="0"/>
                    </a:p>
                  </a:txBody>
                  <a:tcPr marL="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l">
                        <a:lnSpc>
                          <a:spcPts val="900"/>
                        </a:lnSpc>
                        <a:buNone/>
                      </a:pPr>
                      <a:r>
                        <a:rPr lang="en-US" sz="675" kern="0" spc="15" dirty="0">
                          <a:solidFill>
                            <a:srgbClr val="6F6A66"/>
                          </a:solidFill>
                          <a:latin typeface="Quicksand" pitchFamily="34" charset="0"/>
                        </a:rPr>
                        <a:t>KO</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370.9</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398.8</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+30.6%</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7.95x</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23.5x</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19.7x</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25.4x</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+6.5%</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33.9%</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+3.8%</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extLst>
                  <a:ext uri="{0D108BD9-81ED-4DB2-BD59-A6C34878D82A}">
                    <a16:rowId xmlns:a16="http://schemas.microsoft.com/office/drawing/2014/main" val="10020"/>
                  </a:ext>
                </a:extLst>
              </a:tr>
              <a:tr h="195709">
                <a:tc>
                  <a:txBody>
                    <a:bodyPr/>
                    <a:lstStyle/>
                    <a:p>
                      <a:pPr marL="0" indent="0" algn="l">
                        <a:lnSpc>
                          <a:spcPts val="900"/>
                        </a:lnSpc>
                        <a:buNone/>
                      </a:pPr>
                      <a:r>
                        <a:rPr lang="en-US" sz="750" kern="0" spc="15" dirty="0">
                          <a:solidFill>
                            <a:srgbClr val="1B1A1A"/>
                          </a:solidFill>
                          <a:latin typeface="Quicksand SemiBold" pitchFamily="34" charset="0"/>
                        </a:rPr>
                        <a:t>PepsiCo</a:t>
                      </a:r>
                      <a:endParaRPr lang="en-US" sz="700" dirty="0"/>
                    </a:p>
                  </a:txBody>
                  <a:tcPr marL="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l">
                        <a:lnSpc>
                          <a:spcPts val="900"/>
                        </a:lnSpc>
                        <a:buNone/>
                      </a:pPr>
                      <a:r>
                        <a:rPr lang="en-US" sz="675" kern="0" spc="15" dirty="0">
                          <a:solidFill>
                            <a:srgbClr val="6F6A66"/>
                          </a:solidFill>
                          <a:latin typeface="Quicksand" pitchFamily="34" charset="0"/>
                        </a:rPr>
                        <a:t>PEP</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169.3</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211.8</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−11.2%</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2.18x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11.2x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13.9x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14.5x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+5.6%</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19.5%</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+5.3%</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21"/>
                  </a:ext>
                </a:extLst>
              </a:tr>
              <a:tr h="195709">
                <a:tc>
                  <a:txBody>
                    <a:bodyPr/>
                    <a:lstStyle/>
                    <a:p>
                      <a:pPr marL="0" indent="0" algn="l">
                        <a:lnSpc>
                          <a:spcPts val="900"/>
                        </a:lnSpc>
                        <a:buNone/>
                      </a:pPr>
                      <a:r>
                        <a:rPr lang="en-US" sz="750" kern="0" spc="15" dirty="0">
                          <a:solidFill>
                            <a:srgbClr val="1B1A1A"/>
                          </a:solidFill>
                          <a:latin typeface="Quicksand SemiBold" pitchFamily="34" charset="0"/>
                        </a:rPr>
                        <a:t>Keurig Dr Pepper</a:t>
                      </a:r>
                      <a:endParaRPr lang="en-US" sz="700" dirty="0"/>
                    </a:p>
                  </a:txBody>
                  <a:tcPr marL="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l">
                        <a:lnSpc>
                          <a:spcPts val="900"/>
                        </a:lnSpc>
                        <a:buNone/>
                      </a:pPr>
                      <a:r>
                        <a:rPr lang="en-US" sz="675" kern="0" spc="15" dirty="0">
                          <a:solidFill>
                            <a:srgbClr val="6F6A66"/>
                          </a:solidFill>
                          <a:latin typeface="Quicksand" pitchFamily="34" charset="0"/>
                        </a:rPr>
                        <a:t>KDP</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41.9</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73.9</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+21.8%</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n.m.</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n.m.</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12.3x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12.7x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+27.5%</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23.9%</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+58.5%</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22"/>
                  </a:ext>
                </a:extLst>
              </a:tr>
              <a:tr h="195709">
                <a:tc>
                  <a:txBody>
                    <a:bodyPr/>
                    <a:lstStyle/>
                    <a:p>
                      <a:pPr marL="0" indent="0" algn="l">
                        <a:lnSpc>
                          <a:spcPts val="900"/>
                        </a:lnSpc>
                        <a:buNone/>
                      </a:pPr>
                      <a:r>
                        <a:rPr lang="en-US" sz="750" kern="0" spc="15" dirty="0">
                          <a:solidFill>
                            <a:srgbClr val="1B1A1A"/>
                          </a:solidFill>
                          <a:latin typeface="Quicksand SemiBold" pitchFamily="34" charset="0"/>
                        </a:rPr>
                        <a:t>Monster Beverage</a:t>
                      </a:r>
                      <a:endParaRPr lang="en-US" sz="700" dirty="0"/>
                    </a:p>
                  </a:txBody>
                  <a:tcPr marL="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l">
                        <a:lnSpc>
                          <a:spcPts val="900"/>
                        </a:lnSpc>
                        <a:buNone/>
                      </a:pPr>
                      <a:r>
                        <a:rPr lang="en-US" sz="675" kern="0" spc="15" dirty="0">
                          <a:solidFill>
                            <a:srgbClr val="6F6A66"/>
                          </a:solidFill>
                          <a:latin typeface="Quicksand" pitchFamily="34" charset="0"/>
                        </a:rPr>
                        <a:t>MNST</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84.1</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80.7</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+27.8%</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8.73x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27.5x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25.6x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35.1x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+20.4%</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31.8%</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+17.3%</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23"/>
                  </a:ext>
                </a:extLst>
              </a:tr>
              <a:tr h="195709">
                <a:tc>
                  <a:txBody>
                    <a:bodyPr/>
                    <a:lstStyle/>
                    <a:p>
                      <a:pPr marL="0" indent="0" algn="l">
                        <a:lnSpc>
                          <a:spcPts val="900"/>
                        </a:lnSpc>
                        <a:buNone/>
                      </a:pPr>
                      <a:r>
                        <a:rPr lang="en-US" sz="750" kern="0" spc="15" dirty="0">
                          <a:solidFill>
                            <a:srgbClr val="1B1A1A"/>
                          </a:solidFill>
                          <a:latin typeface="Quicksand SemiBold" pitchFamily="34" charset="0"/>
                        </a:rPr>
                        <a:t>Celsius</a:t>
                      </a:r>
                      <a:endParaRPr lang="en-US" sz="700" dirty="0"/>
                    </a:p>
                  </a:txBody>
                  <a:tcPr marL="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l">
                        <a:lnSpc>
                          <a:spcPts val="900"/>
                        </a:lnSpc>
                        <a:buNone/>
                      </a:pPr>
                      <a:r>
                        <a:rPr lang="en-US" sz="675" kern="0" spc="15" dirty="0">
                          <a:solidFill>
                            <a:srgbClr val="6F6A66"/>
                          </a:solidFill>
                          <a:latin typeface="Quicksand" pitchFamily="34" charset="0"/>
                        </a:rPr>
                        <a:t>CELH</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6.8</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6.9</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−54.4%</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2.28x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10.3x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39.5x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20.0x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+82.9%</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22.0%</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+26.1%</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24"/>
                  </a:ext>
                </a:extLst>
              </a:tr>
              <a:tr h="195709">
                <a:tc>
                  <a:txBody>
                    <a:bodyPr/>
                    <a:lstStyle/>
                    <a:p>
                      <a:pPr marL="0" indent="0" algn="l">
                        <a:lnSpc>
                          <a:spcPts val="900"/>
                        </a:lnSpc>
                        <a:buNone/>
                      </a:pPr>
                      <a:r>
                        <a:rPr lang="en-US" sz="750" kern="0" spc="15" dirty="0">
                          <a:solidFill>
                            <a:srgbClr val="1B1A1A"/>
                          </a:solidFill>
                          <a:latin typeface="Quicksand SemiBold" pitchFamily="34" charset="0"/>
                        </a:rPr>
                        <a:t>Constellation Brands</a:t>
                      </a:r>
                      <a:endParaRPr lang="en-US" sz="700" dirty="0"/>
                    </a:p>
                  </a:txBody>
                  <a:tcPr marL="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l">
                        <a:lnSpc>
                          <a:spcPts val="900"/>
                        </a:lnSpc>
                        <a:buNone/>
                      </a:pPr>
                      <a:r>
                        <a:rPr lang="en-US" sz="675" kern="0" spc="15" dirty="0">
                          <a:solidFill>
                            <a:srgbClr val="6F6A66"/>
                          </a:solidFill>
                          <a:latin typeface="Quicksand" pitchFamily="34" charset="0"/>
                        </a:rPr>
                        <a:t>STZ</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20.2</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30.4</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−15.0%</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3.28x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8.8x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9.7x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9.9x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−4.3%</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37.5%</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−0.7%</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25"/>
                  </a:ext>
                </a:extLst>
              </a:tr>
              <a:tr h="195709">
                <a:tc>
                  <a:txBody>
                    <a:bodyPr/>
                    <a:lstStyle/>
                    <a:p>
                      <a:pPr marL="0" indent="0" algn="l">
                        <a:lnSpc>
                          <a:spcPts val="900"/>
                        </a:lnSpc>
                        <a:buNone/>
                      </a:pPr>
                      <a:r>
                        <a:rPr lang="en-US" sz="750" b="1" kern="0" spc="15" dirty="0">
                          <a:solidFill>
                            <a:srgbClr val="1B1A1A"/>
                          </a:solidFill>
                          <a:latin typeface="Quicksand" pitchFamily="34" charset="0"/>
                        </a:rPr>
                        <a:t>Median</a:t>
                      </a:r>
                      <a:endParaRPr lang="en-US" sz="700" dirty="0"/>
                    </a:p>
                  </a:txBody>
                  <a:tcPr marL="5715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l">
                        <a:lnSpc>
                          <a:spcPts val="900"/>
                        </a:lnSpc>
                        <a:buNone/>
                      </a:pP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r">
                        <a:lnSpc>
                          <a:spcPts val="900"/>
                        </a:lnSpc>
                        <a:buNone/>
                      </a:pP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r">
                        <a:lnSpc>
                          <a:spcPts val="900"/>
                        </a:lnSpc>
                        <a:buNone/>
                      </a:pP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r">
                        <a:lnSpc>
                          <a:spcPts val="900"/>
                        </a:lnSpc>
                        <a:buNone/>
                      </a:pPr>
                      <a:r>
                        <a:rPr lang="en-US" sz="750" b="1" kern="0" spc="15" dirty="0">
                          <a:solidFill>
                            <a:srgbClr val="1B1A1A"/>
                          </a:solidFill>
                          <a:latin typeface="Quicksand" pitchFamily="34" charset="0"/>
                        </a:rPr>
                        <a:t>+5.3%</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r">
                        <a:lnSpc>
                          <a:spcPts val="900"/>
                        </a:lnSpc>
                        <a:buNone/>
                      </a:pPr>
                      <a:r>
                        <a:rPr lang="en-US" sz="750" b="1" kern="0" spc="15" dirty="0">
                          <a:solidFill>
                            <a:srgbClr val="1B1A1A"/>
                          </a:solidFill>
                          <a:latin typeface="Quicksand" pitchFamily="34" charset="0"/>
                        </a:rPr>
                        <a:t>3.28x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r">
                        <a:lnSpc>
                          <a:spcPts val="900"/>
                        </a:lnSpc>
                        <a:buNone/>
                      </a:pPr>
                      <a:r>
                        <a:rPr lang="en-US" sz="750" b="1" kern="0" spc="15" dirty="0">
                          <a:solidFill>
                            <a:srgbClr val="1B1A1A"/>
                          </a:solidFill>
                          <a:latin typeface="Quicksand" pitchFamily="34" charset="0"/>
                        </a:rPr>
                        <a:t>11.2x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r">
                        <a:lnSpc>
                          <a:spcPts val="900"/>
                        </a:lnSpc>
                        <a:buNone/>
                      </a:pPr>
                      <a:r>
                        <a:rPr lang="en-US" sz="750" b="1" kern="0" spc="15" dirty="0">
                          <a:solidFill>
                            <a:srgbClr val="1B1A1A"/>
                          </a:solidFill>
                          <a:latin typeface="Quicksand" pitchFamily="34" charset="0"/>
                        </a:rPr>
                        <a:t>19.7x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r">
                        <a:lnSpc>
                          <a:spcPts val="900"/>
                        </a:lnSpc>
                        <a:buNone/>
                      </a:pPr>
                      <a:r>
                        <a:rPr lang="en-US" sz="750" b="1" kern="0" spc="15" dirty="0">
                          <a:solidFill>
                            <a:srgbClr val="1B1A1A"/>
                          </a:solidFill>
                          <a:latin typeface="Quicksand" pitchFamily="34" charset="0"/>
                        </a:rPr>
                        <a:t>17.3x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r">
                        <a:lnSpc>
                          <a:spcPts val="900"/>
                        </a:lnSpc>
                        <a:buNone/>
                      </a:pPr>
                      <a:r>
                        <a:rPr lang="en-US" sz="750" b="1" kern="0" spc="15" dirty="0">
                          <a:solidFill>
                            <a:srgbClr val="1B1A1A"/>
                          </a:solidFill>
                          <a:latin typeface="Quicksand" pitchFamily="34" charset="0"/>
                        </a:rPr>
                        <a:t>+13.4%</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r">
                        <a:lnSpc>
                          <a:spcPts val="900"/>
                        </a:lnSpc>
                        <a:buNone/>
                      </a:pPr>
                      <a:r>
                        <a:rPr lang="en-US" sz="750" b="1" kern="0" spc="15" dirty="0">
                          <a:solidFill>
                            <a:srgbClr val="1B1A1A"/>
                          </a:solidFill>
                          <a:latin typeface="Quicksand" pitchFamily="34" charset="0"/>
                        </a:rPr>
                        <a:t>27.9%</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r">
                        <a:lnSpc>
                          <a:spcPts val="900"/>
                        </a:lnSpc>
                        <a:buNone/>
                      </a:pPr>
                      <a:r>
                        <a:rPr lang="en-US" sz="750" b="1" kern="0" spc="15" dirty="0">
                          <a:solidFill>
                            <a:srgbClr val="1B1A1A"/>
                          </a:solidFill>
                          <a:latin typeface="Quicksand" pitchFamily="34" charset="0"/>
                        </a:rPr>
                        <a:t>+11.3%</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extLst>
                  <a:ext uri="{0D108BD9-81ED-4DB2-BD59-A6C34878D82A}">
                    <a16:rowId xmlns:a16="http://schemas.microsoft.com/office/drawing/2014/main" val="10026"/>
                  </a:ext>
                </a:extLst>
              </a:tr>
            </a:tbl>
          </a:graphicData>
        </a:graphic>
      </p:graphicFrame>
      <p:sp>
        <p:nvSpPr>
          <p:cNvPr id="10" name="Shape 9"/>
          <p:cNvSpPr/>
          <p:nvPr/>
        </p:nvSpPr>
        <p:spPr>
          <a:xfrm>
            <a:off x="419100" y="7029450"/>
            <a:ext cx="9220200" cy="9525"/>
          </a:xfrm>
          <a:prstGeom prst="rect">
            <a:avLst/>
          </a:prstGeom>
          <a:solidFill>
            <a:srgbClr val="E3DCD3"/>
          </a:solidFill>
          <a:ln/>
        </p:spPr>
        <p:txBody>
          <a:bodyPr/>
          <a:lstStyle/>
          <a:p>
            <a:endParaRPr lang="en-US"/>
          </a:p>
        </p:txBody>
      </p:sp>
      <p:pic>
        <p:nvPicPr>
          <p:cNvPr id="11" name="Benchmark International" descr="Benchmark International"/>
          <p:cNvPicPr>
            <a:picLocks noChangeAspect="1"/>
          </p:cNvPicPr>
          <p:nvPr/>
        </p:nvPicPr>
        <p:blipFill>
          <a:blip r:embed="rId3"/>
          <a:stretch>
            <a:fillRect/>
          </a:stretch>
        </p:blipFill>
        <p:spPr>
          <a:xfrm>
            <a:off x="419100" y="7143750"/>
            <a:ext cx="914400" cy="171450"/>
          </a:xfrm>
          <a:prstGeom prst="rect">
            <a:avLst/>
          </a:prstGeom>
        </p:spPr>
      </p:pic>
      <p:sp>
        <p:nvSpPr>
          <p:cNvPr id="12" name="Text 11"/>
          <p:cNvSpPr txBox="1"/>
          <p:nvPr/>
        </p:nvSpPr>
        <p:spPr>
          <a:xfrm>
            <a:off x="1543050" y="7098506"/>
            <a:ext cx="7658100" cy="238125"/>
          </a:xfrm>
          <a:prstGeom prst="rect">
            <a:avLst/>
          </a:prstGeom>
          <a:noFill/>
          <a:ln/>
        </p:spPr>
        <p:txBody>
          <a:bodyPr wrap="square" lIns="0" tIns="0" rIns="0" bIns="0" rtlCol="0" anchor="t"/>
          <a:lstStyle/>
          <a:p>
            <a:pPr marL="0" indent="0" algn="l">
              <a:lnSpc>
                <a:spcPts val="938"/>
              </a:lnSpc>
              <a:buNone/>
            </a:pPr>
            <a:r>
              <a:rPr lang="en-US" sz="675" kern="0" spc="15" dirty="0">
                <a:solidFill>
                  <a:srgbClr val="6F6A66"/>
                </a:solidFill>
                <a:latin typeface="Quicksand" pitchFamily="34" charset="0"/>
              </a:rPr>
              <a:t>Source: </a:t>
            </a:r>
            <a:r>
              <a:rPr lang="en-US" sz="675" u="sng" kern="0" spc="15" dirty="0">
                <a:solidFill>
                  <a:srgbClr val="8C6239"/>
                </a:solidFill>
                <a:latin typeface="Quicksand" pitchFamily="34" charset="0"/>
                <a:hlinkClick r:id="rId4">
                  <a:extLst>
                    <a:ext uri="{A12FA001-AC4F-418D-AE19-62706E023703}">
                      <ahyp:hlinkClr xmlns:ahyp="http://schemas.microsoft.com/office/drawing/2018/hyperlinkcolor" val="tx"/>
                    </a:ext>
                  </a:extLst>
                </a:hlinkClick>
              </a:rPr>
              <a:t>StockAnalysis</a:t>
            </a:r>
            <a:r>
              <a:rPr lang="en-US" sz="675" kern="0" spc="15" dirty="0">
                <a:solidFill>
                  <a:srgbClr val="6F6A66"/>
                </a:solidFill>
                <a:latin typeface="Quicksand" pitchFamily="34" charset="0"/>
              </a:rPr>
              <a:t>, retrieved October 7, 2026; share prices are dated October 2 to 7. Multiples and margins use reported trailing EBITDA. n.m. marks a figure that is not comparable and is left out of the median; n.a. is not available. Year-ago multiples are four quarter-ends earlier, and multiple medians use companies with both readings.</a:t>
            </a:r>
            <a:endParaRPr lang="en-US" sz="675" dirty="0"/>
          </a:p>
        </p:txBody>
      </p:sp>
      <p:sp>
        <p:nvSpPr>
          <p:cNvPr id="13" name="Text 12"/>
          <p:cNvSpPr txBox="1"/>
          <p:nvPr/>
        </p:nvSpPr>
        <p:spPr>
          <a:xfrm>
            <a:off x="9513838" y="7162800"/>
            <a:ext cx="182612" cy="133350"/>
          </a:xfrm>
          <a:prstGeom prst="rect">
            <a:avLst/>
          </a:prstGeom>
          <a:noFill/>
          <a:ln/>
        </p:spPr>
        <p:txBody>
          <a:bodyPr wrap="none" lIns="0" tIns="0" rIns="0" bIns="0" rtlCol="0" anchor="t"/>
          <a:lstStyle/>
          <a:p>
            <a:pPr marL="0" indent="0" algn="l">
              <a:lnSpc>
                <a:spcPts val="1050"/>
              </a:lnSpc>
              <a:buNone/>
            </a:pPr>
            <a:r>
              <a:rPr lang="en-US" sz="713" b="1" kern="0" spc="150" dirty="0">
                <a:solidFill>
                  <a:srgbClr val="1B1A1A"/>
                </a:solidFill>
                <a:latin typeface="Quicksand" pitchFamily="34" charset="0"/>
              </a:rPr>
              <a:t>15</a:t>
            </a:r>
            <a:endParaRPr lang="en-US" sz="713"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1"/>
          <p:cNvSpPr/>
          <p:nvPr/>
        </p:nvSpPr>
        <p:spPr>
          <a:xfrm>
            <a:off x="0" y="0"/>
            <a:ext cx="10058400" cy="7772400"/>
          </a:xfrm>
          <a:prstGeom prst="rect">
            <a:avLst/>
          </a:prstGeom>
          <a:solidFill>
            <a:srgbClr val="FFFFFF"/>
          </a:solidFill>
          <a:ln/>
        </p:spPr>
        <p:txBody>
          <a:bodyPr/>
          <a:lstStyle/>
          <a:p>
            <a:endParaRPr lang="en-US"/>
          </a:p>
        </p:txBody>
      </p:sp>
      <p:sp>
        <p:nvSpPr>
          <p:cNvPr id="3" name="Shape 2"/>
          <p:cNvSpPr/>
          <p:nvPr/>
        </p:nvSpPr>
        <p:spPr>
          <a:xfrm>
            <a:off x="0" y="0"/>
            <a:ext cx="57150" cy="7772400"/>
          </a:xfrm>
          <a:prstGeom prst="rect">
            <a:avLst/>
          </a:prstGeom>
          <a:solidFill>
            <a:srgbClr val="B68757"/>
          </a:solidFill>
          <a:ln/>
        </p:spPr>
        <p:txBody>
          <a:bodyPr/>
          <a:lstStyle/>
          <a:p>
            <a:endParaRPr lang="en-US"/>
          </a:p>
        </p:txBody>
      </p:sp>
      <p:sp>
        <p:nvSpPr>
          <p:cNvPr id="4" name="Text 3"/>
          <p:cNvSpPr txBox="1"/>
          <p:nvPr/>
        </p:nvSpPr>
        <p:spPr>
          <a:xfrm>
            <a:off x="419100" y="376238"/>
            <a:ext cx="2618929" cy="133350"/>
          </a:xfrm>
          <a:prstGeom prst="rect">
            <a:avLst/>
          </a:prstGeom>
          <a:noFill/>
          <a:ln/>
        </p:spPr>
        <p:txBody>
          <a:bodyPr wrap="none" lIns="0" tIns="0" rIns="0" bIns="0" rtlCol="0" anchor="t"/>
          <a:lstStyle/>
          <a:p>
            <a:pPr marL="0" indent="0" algn="l">
              <a:lnSpc>
                <a:spcPts val="1050"/>
              </a:lnSpc>
              <a:buNone/>
            </a:pPr>
            <a:r>
              <a:rPr lang="en-US" sz="675" b="1" kern="0" spc="195" dirty="0">
                <a:solidFill>
                  <a:srgbClr val="8C6239"/>
                </a:solidFill>
                <a:latin typeface="Quicksand" pitchFamily="34" charset="0"/>
              </a:rPr>
              <a:t>CONSUMER  |  QUARTERLY SECTOR BRIEF</a:t>
            </a:r>
            <a:endParaRPr lang="en-US" sz="675" dirty="0"/>
          </a:p>
        </p:txBody>
      </p:sp>
      <p:sp>
        <p:nvSpPr>
          <p:cNvPr id="5" name="Text 4"/>
          <p:cNvSpPr txBox="1"/>
          <p:nvPr/>
        </p:nvSpPr>
        <p:spPr>
          <a:xfrm>
            <a:off x="9112597" y="381000"/>
            <a:ext cx="583853" cy="171450"/>
          </a:xfrm>
          <a:prstGeom prst="rect">
            <a:avLst/>
          </a:prstGeom>
          <a:noFill/>
          <a:ln/>
        </p:spPr>
        <p:txBody>
          <a:bodyPr wrap="none" lIns="0" tIns="0" rIns="0" bIns="0" rtlCol="0" anchor="t"/>
          <a:lstStyle/>
          <a:p>
            <a:pPr marL="0" indent="0" algn="l">
              <a:lnSpc>
                <a:spcPts val="1350"/>
              </a:lnSpc>
              <a:buNone/>
            </a:pPr>
            <a:r>
              <a:rPr lang="en-US" sz="900" kern="0" spc="90" dirty="0">
                <a:solidFill>
                  <a:srgbClr val="6F6A66"/>
                </a:solidFill>
                <a:latin typeface="Cinzel" pitchFamily="34" charset="0"/>
              </a:rPr>
              <a:t>Q4 2026</a:t>
            </a:r>
            <a:endParaRPr lang="en-US" sz="900" dirty="0"/>
          </a:p>
        </p:txBody>
      </p:sp>
      <p:sp>
        <p:nvSpPr>
          <p:cNvPr id="6" name="Text 5"/>
          <p:cNvSpPr txBox="1"/>
          <p:nvPr/>
        </p:nvSpPr>
        <p:spPr>
          <a:xfrm>
            <a:off x="419100" y="519113"/>
            <a:ext cx="9220200" cy="323850"/>
          </a:xfrm>
          <a:prstGeom prst="rect">
            <a:avLst/>
          </a:prstGeom>
          <a:noFill/>
          <a:ln/>
        </p:spPr>
        <p:txBody>
          <a:bodyPr wrap="none" lIns="0" tIns="0" rIns="0" bIns="0" rtlCol="0" anchor="t"/>
          <a:lstStyle/>
          <a:p>
            <a:pPr marL="0" indent="0" algn="l">
              <a:lnSpc>
                <a:spcPts val="2550"/>
              </a:lnSpc>
              <a:buNone/>
            </a:pPr>
            <a:r>
              <a:rPr lang="en-US" sz="2025" kern="0" spc="15" dirty="0">
                <a:solidFill>
                  <a:srgbClr val="1B1A1A"/>
                </a:solidFill>
                <a:latin typeface="Newsreader SemiBold" pitchFamily="34" charset="0"/>
              </a:rPr>
              <a:t>Public Company Metrics: Consumer Brands and Foodservice</a:t>
            </a:r>
            <a:endParaRPr lang="en-US" sz="2025" dirty="0"/>
          </a:p>
        </p:txBody>
      </p:sp>
      <p:sp>
        <p:nvSpPr>
          <p:cNvPr id="7" name="Text 6"/>
          <p:cNvSpPr txBox="1"/>
          <p:nvPr/>
        </p:nvSpPr>
        <p:spPr>
          <a:xfrm>
            <a:off x="419100" y="883444"/>
            <a:ext cx="9220200" cy="176213"/>
          </a:xfrm>
          <a:prstGeom prst="rect">
            <a:avLst/>
          </a:prstGeom>
          <a:noFill/>
          <a:ln/>
        </p:spPr>
        <p:txBody>
          <a:bodyPr wrap="none" lIns="0" tIns="0" rIns="0" bIns="0" rtlCol="0" anchor="t"/>
          <a:lstStyle/>
          <a:p>
            <a:pPr marL="0" indent="0" algn="l">
              <a:lnSpc>
                <a:spcPts val="1388"/>
              </a:lnSpc>
              <a:buNone/>
            </a:pPr>
            <a:r>
              <a:rPr lang="en-US" sz="938" kern="0" spc="15" dirty="0">
                <a:solidFill>
                  <a:srgbClr val="6F6A66"/>
                </a:solidFill>
                <a:latin typeface="Quicksand" pitchFamily="34" charset="0"/>
              </a:rPr>
              <a:t>Household and personal care companies hold the highest multiples of the nine groups. Middleby’s figures follow the July spin-off of its food processing business.</a:t>
            </a:r>
            <a:endParaRPr lang="en-US" sz="938" dirty="0"/>
          </a:p>
        </p:txBody>
      </p:sp>
      <p:sp>
        <p:nvSpPr>
          <p:cNvPr id="8" name="Shape 7"/>
          <p:cNvSpPr/>
          <p:nvPr/>
        </p:nvSpPr>
        <p:spPr>
          <a:xfrm>
            <a:off x="419100" y="1143000"/>
            <a:ext cx="9220200" cy="9525"/>
          </a:xfrm>
          <a:prstGeom prst="rect">
            <a:avLst/>
          </a:prstGeom>
          <a:solidFill>
            <a:srgbClr val="E3DCD3"/>
          </a:solidFill>
          <a:ln/>
        </p:spPr>
        <p:txBody>
          <a:bodyPr/>
          <a:lstStyle/>
          <a:p>
            <a:endParaRPr lang="en-US"/>
          </a:p>
        </p:txBody>
      </p:sp>
      <p:graphicFrame>
        <p:nvGraphicFramePr>
          <p:cNvPr id="17" name="Company metrics table"/>
          <p:cNvGraphicFramePr>
            <a:graphicFrameLocks noGrp="1"/>
          </p:cNvGraphicFramePr>
          <p:nvPr>
            <p:extLst>
              <p:ext uri="{D42A27DB-BD31-4B8C-83A1-F6EECF244321}">
                <p14:modId xmlns:p14="http://schemas.microsoft.com/office/powerpoint/2010/main" val="1579011935"/>
              </p:ext>
            </p:extLst>
          </p:nvPr>
        </p:nvGraphicFramePr>
        <p:xfrm>
          <a:off x="419100" y="1238250"/>
          <a:ext cx="9220200" cy="5697282"/>
        </p:xfrm>
        <a:graphic>
          <a:graphicData uri="http://schemas.openxmlformats.org/drawingml/2006/table">
            <a:tbl>
              <a:tblPr/>
              <a:tblGrid>
                <a:gridCol w="1676400">
                  <a:extLst>
                    <a:ext uri="{9D8B030D-6E8A-4147-A177-3AD203B41FA5}">
                      <a16:colId xmlns:a16="http://schemas.microsoft.com/office/drawing/2014/main" val="20000"/>
                    </a:ext>
                  </a:extLst>
                </a:gridCol>
                <a:gridCol w="495300">
                  <a:extLst>
                    <a:ext uri="{9D8B030D-6E8A-4147-A177-3AD203B41FA5}">
                      <a16:colId xmlns:a16="http://schemas.microsoft.com/office/drawing/2014/main" val="20001"/>
                    </a:ext>
                  </a:extLst>
                </a:gridCol>
                <a:gridCol w="704850">
                  <a:extLst>
                    <a:ext uri="{9D8B030D-6E8A-4147-A177-3AD203B41FA5}">
                      <a16:colId xmlns:a16="http://schemas.microsoft.com/office/drawing/2014/main" val="20002"/>
                    </a:ext>
                  </a:extLst>
                </a:gridCol>
                <a:gridCol w="704850">
                  <a:extLst>
                    <a:ext uri="{9D8B030D-6E8A-4147-A177-3AD203B41FA5}">
                      <a16:colId xmlns:a16="http://schemas.microsoft.com/office/drawing/2014/main" val="20003"/>
                    </a:ext>
                  </a:extLst>
                </a:gridCol>
                <a:gridCol w="704850">
                  <a:extLst>
                    <a:ext uri="{9D8B030D-6E8A-4147-A177-3AD203B41FA5}">
                      <a16:colId xmlns:a16="http://schemas.microsoft.com/office/drawing/2014/main" val="20004"/>
                    </a:ext>
                  </a:extLst>
                </a:gridCol>
                <a:gridCol w="704850">
                  <a:extLst>
                    <a:ext uri="{9D8B030D-6E8A-4147-A177-3AD203B41FA5}">
                      <a16:colId xmlns:a16="http://schemas.microsoft.com/office/drawing/2014/main" val="20005"/>
                    </a:ext>
                  </a:extLst>
                </a:gridCol>
                <a:gridCol w="704850">
                  <a:extLst>
                    <a:ext uri="{9D8B030D-6E8A-4147-A177-3AD203B41FA5}">
                      <a16:colId xmlns:a16="http://schemas.microsoft.com/office/drawing/2014/main" val="20006"/>
                    </a:ext>
                  </a:extLst>
                </a:gridCol>
                <a:gridCol w="704850">
                  <a:extLst>
                    <a:ext uri="{9D8B030D-6E8A-4147-A177-3AD203B41FA5}">
                      <a16:colId xmlns:a16="http://schemas.microsoft.com/office/drawing/2014/main" val="20007"/>
                    </a:ext>
                  </a:extLst>
                </a:gridCol>
                <a:gridCol w="704850">
                  <a:extLst>
                    <a:ext uri="{9D8B030D-6E8A-4147-A177-3AD203B41FA5}">
                      <a16:colId xmlns:a16="http://schemas.microsoft.com/office/drawing/2014/main" val="20008"/>
                    </a:ext>
                  </a:extLst>
                </a:gridCol>
                <a:gridCol w="704850">
                  <a:extLst>
                    <a:ext uri="{9D8B030D-6E8A-4147-A177-3AD203B41FA5}">
                      <a16:colId xmlns:a16="http://schemas.microsoft.com/office/drawing/2014/main" val="20009"/>
                    </a:ext>
                  </a:extLst>
                </a:gridCol>
                <a:gridCol w="704850">
                  <a:extLst>
                    <a:ext uri="{9D8B030D-6E8A-4147-A177-3AD203B41FA5}">
                      <a16:colId xmlns:a16="http://schemas.microsoft.com/office/drawing/2014/main" val="20010"/>
                    </a:ext>
                  </a:extLst>
                </a:gridCol>
                <a:gridCol w="704850">
                  <a:extLst>
                    <a:ext uri="{9D8B030D-6E8A-4147-A177-3AD203B41FA5}">
                      <a16:colId xmlns:a16="http://schemas.microsoft.com/office/drawing/2014/main" val="20011"/>
                    </a:ext>
                  </a:extLst>
                </a:gridCol>
              </a:tblGrid>
              <a:tr h="466725">
                <a:tc>
                  <a:txBody>
                    <a:bodyPr/>
                    <a:lstStyle/>
                    <a:p>
                      <a:pPr marL="0" indent="0" algn="l">
                        <a:lnSpc>
                          <a:spcPts val="788"/>
                        </a:lnSpc>
                        <a:buNone/>
                      </a:pPr>
                      <a:r>
                        <a:rPr lang="en-US" sz="570" b="1" kern="0" spc="75" dirty="0">
                          <a:solidFill>
                            <a:srgbClr val="1B1A1A"/>
                          </a:solidFill>
                          <a:latin typeface="Quicksand" pitchFamily="34" charset="0"/>
                        </a:rPr>
                        <a:t>COMPANY</a:t>
                      </a:r>
                      <a:endParaRPr lang="en-US" sz="700" dirty="0"/>
                    </a:p>
                  </a:txBody>
                  <a:tcPr marL="0" marR="0" marT="0" marB="47625" anchor="b">
                    <a:lnL w="0" cap="flat" cmpd="sng" algn="ctr">
                      <a:noFill/>
                    </a:lnL>
                    <a:lnR w="0" cap="flat" cmpd="sng" algn="ctr">
                      <a:noFill/>
                    </a:lnR>
                    <a:lnT w="0" cap="flat" cmpd="sng" algn="ctr">
                      <a:noFill/>
                    </a:lnT>
                    <a:lnB w="19050" cap="flat" cmpd="sng" algn="ctr">
                      <a:solidFill>
                        <a:srgbClr val="B68757"/>
                      </a:solidFill>
                      <a:prstDash val="solid"/>
                      <a:round/>
                      <a:headEnd type="none" w="med" len="med"/>
                      <a:tailEnd type="none" w="med" len="med"/>
                    </a:lnB>
                  </a:tcPr>
                </a:tc>
                <a:tc>
                  <a:txBody>
                    <a:bodyPr/>
                    <a:lstStyle/>
                    <a:p>
                      <a:pPr marL="0" indent="0" algn="l">
                        <a:lnSpc>
                          <a:spcPts val="788"/>
                        </a:lnSpc>
                        <a:buNone/>
                      </a:pPr>
                      <a:r>
                        <a:rPr lang="en-US" sz="570" b="1" kern="0" spc="75" dirty="0">
                          <a:solidFill>
                            <a:srgbClr val="1B1A1A"/>
                          </a:solidFill>
                          <a:latin typeface="Quicksand" pitchFamily="34" charset="0"/>
                        </a:rPr>
                        <a:t>TICKER</a:t>
                      </a:r>
                      <a:endParaRPr lang="en-US" sz="700" dirty="0"/>
                    </a:p>
                  </a:txBody>
                  <a:tcPr marL="76200" marR="0" marT="0" marB="47625" anchor="b">
                    <a:lnL w="0" cap="flat" cmpd="sng" algn="ctr">
                      <a:noFill/>
                    </a:lnL>
                    <a:lnR w="0" cap="flat" cmpd="sng" algn="ctr">
                      <a:noFill/>
                    </a:lnR>
                    <a:lnT w="0" cap="flat" cmpd="sng" algn="ctr">
                      <a:noFill/>
                    </a:lnT>
                    <a:lnB w="19050" cap="flat" cmpd="sng" algn="ctr">
                      <a:solidFill>
                        <a:srgbClr val="B68757"/>
                      </a:solidFill>
                      <a:prstDash val="solid"/>
                      <a:round/>
                      <a:headEnd type="none" w="med" len="med"/>
                      <a:tailEnd type="none" w="med" len="med"/>
                    </a:lnB>
                  </a:tcPr>
                </a:tc>
                <a:tc>
                  <a:txBody>
                    <a:bodyPr/>
                    <a:lstStyle/>
                    <a:p>
                      <a:pPr marL="0" indent="0" algn="r">
                        <a:lnSpc>
                          <a:spcPts val="788"/>
                        </a:lnSpc>
                        <a:buNone/>
                      </a:pPr>
                      <a:r>
                        <a:rPr lang="en-US" sz="570" b="1" kern="0" spc="75" dirty="0">
                          <a:solidFill>
                            <a:srgbClr val="1B1A1A"/>
                          </a:solidFill>
                          <a:latin typeface="Quicksand" pitchFamily="34" charset="0"/>
                        </a:rPr>
                        <a:t>MARKET CAP ($B)</a:t>
                      </a:r>
                      <a:endParaRPr lang="en-US" sz="700" dirty="0"/>
                    </a:p>
                  </a:txBody>
                  <a:tcPr marL="76200" marR="0" marT="0" marB="47625" anchor="b">
                    <a:lnL w="0" cap="flat" cmpd="sng" algn="ctr">
                      <a:noFill/>
                    </a:lnL>
                    <a:lnR w="0" cap="flat" cmpd="sng" algn="ctr">
                      <a:noFill/>
                    </a:lnR>
                    <a:lnT w="0" cap="flat" cmpd="sng" algn="ctr">
                      <a:noFill/>
                    </a:lnT>
                    <a:lnB w="19050" cap="flat" cmpd="sng" algn="ctr">
                      <a:solidFill>
                        <a:srgbClr val="B68757"/>
                      </a:solidFill>
                      <a:prstDash val="solid"/>
                      <a:round/>
                      <a:headEnd type="none" w="med" len="med"/>
                      <a:tailEnd type="none" w="med" len="med"/>
                    </a:lnB>
                  </a:tcPr>
                </a:tc>
                <a:tc>
                  <a:txBody>
                    <a:bodyPr/>
                    <a:lstStyle/>
                    <a:p>
                      <a:pPr marL="0" indent="0" algn="r">
                        <a:lnSpc>
                          <a:spcPts val="788"/>
                        </a:lnSpc>
                        <a:buNone/>
                      </a:pPr>
                      <a:r>
                        <a:rPr lang="en-US" sz="570" b="1" kern="0" spc="75" dirty="0">
                          <a:solidFill>
                            <a:srgbClr val="1B1A1A"/>
                          </a:solidFill>
                          <a:latin typeface="Quicksand" pitchFamily="34" charset="0"/>
                        </a:rPr>
                        <a:t>ENTERPRISE VALUE ($B)</a:t>
                      </a:r>
                      <a:endParaRPr lang="en-US" sz="700" dirty="0"/>
                    </a:p>
                  </a:txBody>
                  <a:tcPr marL="76200" marR="0" marT="0" marB="47625" anchor="b">
                    <a:lnL w="0" cap="flat" cmpd="sng" algn="ctr">
                      <a:noFill/>
                    </a:lnL>
                    <a:lnR w="0" cap="flat" cmpd="sng" algn="ctr">
                      <a:noFill/>
                    </a:lnR>
                    <a:lnT w="0" cap="flat" cmpd="sng" algn="ctr">
                      <a:noFill/>
                    </a:lnT>
                    <a:lnB w="19050" cap="flat" cmpd="sng" algn="ctr">
                      <a:solidFill>
                        <a:srgbClr val="B68757"/>
                      </a:solidFill>
                      <a:prstDash val="solid"/>
                      <a:round/>
                      <a:headEnd type="none" w="med" len="med"/>
                      <a:tailEnd type="none" w="med" len="med"/>
                    </a:lnB>
                  </a:tcPr>
                </a:tc>
                <a:tc>
                  <a:txBody>
                    <a:bodyPr/>
                    <a:lstStyle/>
                    <a:p>
                      <a:pPr marL="0" indent="0" algn="r">
                        <a:lnSpc>
                          <a:spcPts val="788"/>
                        </a:lnSpc>
                        <a:buNone/>
                      </a:pPr>
                      <a:r>
                        <a:rPr lang="en-US" sz="570" b="1" kern="0" spc="75" dirty="0">
                          <a:solidFill>
                            <a:srgbClr val="1B1A1A"/>
                          </a:solidFill>
                          <a:latin typeface="Quicksand" pitchFamily="34" charset="0"/>
                        </a:rPr>
                        <a:t>SHARE PRICE, 52 WEEKS</a:t>
                      </a:r>
                      <a:endParaRPr lang="en-US" sz="700" dirty="0"/>
                    </a:p>
                  </a:txBody>
                  <a:tcPr marL="76200" marR="0" marT="0" marB="47625" anchor="b">
                    <a:lnL w="0" cap="flat" cmpd="sng" algn="ctr">
                      <a:noFill/>
                    </a:lnL>
                    <a:lnR w="0" cap="flat" cmpd="sng" algn="ctr">
                      <a:noFill/>
                    </a:lnR>
                    <a:lnT w="0" cap="flat" cmpd="sng" algn="ctr">
                      <a:noFill/>
                    </a:lnT>
                    <a:lnB w="19050" cap="flat" cmpd="sng" algn="ctr">
                      <a:solidFill>
                        <a:srgbClr val="B68757"/>
                      </a:solidFill>
                      <a:prstDash val="solid"/>
                      <a:round/>
                      <a:headEnd type="none" w="med" len="med"/>
                      <a:tailEnd type="none" w="med" len="med"/>
                    </a:lnB>
                  </a:tcPr>
                </a:tc>
                <a:tc>
                  <a:txBody>
                    <a:bodyPr/>
                    <a:lstStyle/>
                    <a:p>
                      <a:pPr marL="0" indent="0" algn="r">
                        <a:lnSpc>
                          <a:spcPts val="788"/>
                        </a:lnSpc>
                        <a:buNone/>
                      </a:pPr>
                      <a:r>
                        <a:rPr lang="en-US" sz="570" b="1" kern="0" spc="75" dirty="0">
                          <a:solidFill>
                            <a:srgbClr val="1B1A1A"/>
                          </a:solidFill>
                          <a:latin typeface="Quicksand" pitchFamily="34" charset="0"/>
                        </a:rPr>
                        <a:t>EV / REVENUE</a:t>
                      </a:r>
                      <a:endParaRPr lang="en-US" sz="700" dirty="0"/>
                    </a:p>
                  </a:txBody>
                  <a:tcPr marL="76200" marR="0" marT="0" marB="47625" anchor="b">
                    <a:lnL w="0" cap="flat" cmpd="sng" algn="ctr">
                      <a:noFill/>
                    </a:lnL>
                    <a:lnR w="0" cap="flat" cmpd="sng" algn="ctr">
                      <a:noFill/>
                    </a:lnR>
                    <a:lnT w="0" cap="flat" cmpd="sng" algn="ctr">
                      <a:noFill/>
                    </a:lnT>
                    <a:lnB w="19050" cap="flat" cmpd="sng" algn="ctr">
                      <a:solidFill>
                        <a:srgbClr val="B68757"/>
                      </a:solidFill>
                      <a:prstDash val="solid"/>
                      <a:round/>
                      <a:headEnd type="none" w="med" len="med"/>
                      <a:tailEnd type="none" w="med" len="med"/>
                    </a:lnB>
                  </a:tcPr>
                </a:tc>
                <a:tc>
                  <a:txBody>
                    <a:bodyPr/>
                    <a:lstStyle/>
                    <a:p>
                      <a:pPr marL="0" indent="0" algn="r">
                        <a:lnSpc>
                          <a:spcPts val="788"/>
                        </a:lnSpc>
                        <a:buNone/>
                      </a:pPr>
                      <a:r>
                        <a:rPr lang="en-US" sz="570" b="1" kern="0" spc="75" dirty="0">
                          <a:solidFill>
                            <a:srgbClr val="1B1A1A"/>
                          </a:solidFill>
                          <a:latin typeface="Quicksand" pitchFamily="34" charset="0"/>
                        </a:rPr>
                        <a:t>EV / EBITDA TODAY</a:t>
                      </a:r>
                      <a:endParaRPr lang="en-US" sz="700" dirty="0"/>
                    </a:p>
                  </a:txBody>
                  <a:tcPr marL="76200" marR="0" marT="0" marB="47625" anchor="b">
                    <a:lnL w="0" cap="flat" cmpd="sng" algn="ctr">
                      <a:noFill/>
                    </a:lnL>
                    <a:lnR w="0" cap="flat" cmpd="sng" algn="ctr">
                      <a:noFill/>
                    </a:lnR>
                    <a:lnT w="0" cap="flat" cmpd="sng" algn="ctr">
                      <a:noFill/>
                    </a:lnT>
                    <a:lnB w="19050" cap="flat" cmpd="sng" algn="ctr">
                      <a:solidFill>
                        <a:srgbClr val="B68757"/>
                      </a:solidFill>
                      <a:prstDash val="solid"/>
                      <a:round/>
                      <a:headEnd type="none" w="med" len="med"/>
                      <a:tailEnd type="none" w="med" len="med"/>
                    </a:lnB>
                  </a:tcPr>
                </a:tc>
                <a:tc>
                  <a:txBody>
                    <a:bodyPr/>
                    <a:lstStyle/>
                    <a:p>
                      <a:pPr marL="0" indent="0" algn="r">
                        <a:lnSpc>
                          <a:spcPts val="788"/>
                        </a:lnSpc>
                        <a:buNone/>
                      </a:pPr>
                      <a:r>
                        <a:rPr lang="en-US" sz="570" b="1" kern="0" spc="75" dirty="0">
                          <a:solidFill>
                            <a:srgbClr val="1B1A1A"/>
                          </a:solidFill>
                          <a:latin typeface="Quicksand" pitchFamily="34" charset="0"/>
                        </a:rPr>
                        <a:t>EV / EBITDA A YEAR AGO</a:t>
                      </a:r>
                      <a:endParaRPr lang="en-US" sz="700" dirty="0"/>
                    </a:p>
                  </a:txBody>
                  <a:tcPr marL="76200" marR="0" marT="0" marB="47625" anchor="b">
                    <a:lnL w="0" cap="flat" cmpd="sng" algn="ctr">
                      <a:noFill/>
                    </a:lnL>
                    <a:lnR w="0" cap="flat" cmpd="sng" algn="ctr">
                      <a:noFill/>
                    </a:lnR>
                    <a:lnT w="0" cap="flat" cmpd="sng" algn="ctr">
                      <a:noFill/>
                    </a:lnT>
                    <a:lnB w="19050" cap="flat" cmpd="sng" algn="ctr">
                      <a:solidFill>
                        <a:srgbClr val="B68757"/>
                      </a:solidFill>
                      <a:prstDash val="solid"/>
                      <a:round/>
                      <a:headEnd type="none" w="med" len="med"/>
                      <a:tailEnd type="none" w="med" len="med"/>
                    </a:lnB>
                  </a:tcPr>
                </a:tc>
                <a:tc>
                  <a:txBody>
                    <a:bodyPr/>
                    <a:lstStyle/>
                    <a:p>
                      <a:pPr marL="0" indent="0" algn="r">
                        <a:lnSpc>
                          <a:spcPts val="788"/>
                        </a:lnSpc>
                        <a:buNone/>
                      </a:pPr>
                      <a:r>
                        <a:rPr lang="en-US" sz="570" b="1" kern="0" spc="75" dirty="0">
                          <a:solidFill>
                            <a:srgbClr val="1B1A1A"/>
                          </a:solidFill>
                          <a:latin typeface="Quicksand" pitchFamily="34" charset="0"/>
                        </a:rPr>
                        <a:t>FORWARD P/E</a:t>
                      </a:r>
                      <a:endParaRPr lang="en-US" sz="700" dirty="0"/>
                    </a:p>
                  </a:txBody>
                  <a:tcPr marL="76200" marR="0" marT="0" marB="47625" anchor="b">
                    <a:lnL w="0" cap="flat" cmpd="sng" algn="ctr">
                      <a:noFill/>
                    </a:lnL>
                    <a:lnR w="0" cap="flat" cmpd="sng" algn="ctr">
                      <a:noFill/>
                    </a:lnR>
                    <a:lnT w="0" cap="flat" cmpd="sng" algn="ctr">
                      <a:noFill/>
                    </a:lnT>
                    <a:lnB w="19050" cap="flat" cmpd="sng" algn="ctr">
                      <a:solidFill>
                        <a:srgbClr val="B68757"/>
                      </a:solidFill>
                      <a:prstDash val="solid"/>
                      <a:round/>
                      <a:headEnd type="none" w="med" len="med"/>
                      <a:tailEnd type="none" w="med" len="med"/>
                    </a:lnB>
                  </a:tcPr>
                </a:tc>
                <a:tc>
                  <a:txBody>
                    <a:bodyPr/>
                    <a:lstStyle/>
                    <a:p>
                      <a:pPr marL="0" indent="0" algn="r">
                        <a:lnSpc>
                          <a:spcPts val="788"/>
                        </a:lnSpc>
                        <a:buNone/>
                      </a:pPr>
                      <a:r>
                        <a:rPr lang="en-US" sz="570" b="1" kern="0" spc="75" dirty="0">
                          <a:solidFill>
                            <a:srgbClr val="1B1A1A"/>
                          </a:solidFill>
                          <a:latin typeface="Quicksand" pitchFamily="34" charset="0"/>
                        </a:rPr>
                        <a:t>REVENUE GROWTH, TRAILING</a:t>
                      </a:r>
                      <a:endParaRPr lang="en-US" sz="700" dirty="0"/>
                    </a:p>
                  </a:txBody>
                  <a:tcPr marL="76200" marR="0" marT="0" marB="47625" anchor="b">
                    <a:lnL w="0" cap="flat" cmpd="sng" algn="ctr">
                      <a:noFill/>
                    </a:lnL>
                    <a:lnR w="0" cap="flat" cmpd="sng" algn="ctr">
                      <a:noFill/>
                    </a:lnR>
                    <a:lnT w="0" cap="flat" cmpd="sng" algn="ctr">
                      <a:noFill/>
                    </a:lnT>
                    <a:lnB w="19050" cap="flat" cmpd="sng" algn="ctr">
                      <a:solidFill>
                        <a:srgbClr val="B68757"/>
                      </a:solidFill>
                      <a:prstDash val="solid"/>
                      <a:round/>
                      <a:headEnd type="none" w="med" len="med"/>
                      <a:tailEnd type="none" w="med" len="med"/>
                    </a:lnB>
                  </a:tcPr>
                </a:tc>
                <a:tc>
                  <a:txBody>
                    <a:bodyPr/>
                    <a:lstStyle/>
                    <a:p>
                      <a:pPr marL="0" indent="0" algn="r">
                        <a:lnSpc>
                          <a:spcPts val="788"/>
                        </a:lnSpc>
                        <a:buNone/>
                      </a:pPr>
                      <a:r>
                        <a:rPr lang="en-US" sz="570" b="1" kern="0" spc="75" dirty="0">
                          <a:solidFill>
                            <a:srgbClr val="1B1A1A"/>
                          </a:solidFill>
                          <a:latin typeface="Quicksand" pitchFamily="34" charset="0"/>
                        </a:rPr>
                        <a:t>EBITDA MARGIN</a:t>
                      </a:r>
                      <a:endParaRPr lang="en-US" sz="700" dirty="0"/>
                    </a:p>
                  </a:txBody>
                  <a:tcPr marL="76200" marR="0" marT="0" marB="47625" anchor="b">
                    <a:lnL w="0" cap="flat" cmpd="sng" algn="ctr">
                      <a:noFill/>
                    </a:lnL>
                    <a:lnR w="0" cap="flat" cmpd="sng" algn="ctr">
                      <a:noFill/>
                    </a:lnR>
                    <a:lnT w="0" cap="flat" cmpd="sng" algn="ctr">
                      <a:noFill/>
                    </a:lnT>
                    <a:lnB w="19050" cap="flat" cmpd="sng" algn="ctr">
                      <a:solidFill>
                        <a:srgbClr val="B68757"/>
                      </a:solidFill>
                      <a:prstDash val="solid"/>
                      <a:round/>
                      <a:headEnd type="none" w="med" len="med"/>
                      <a:tailEnd type="none" w="med" len="med"/>
                    </a:lnB>
                  </a:tcPr>
                </a:tc>
                <a:tc>
                  <a:txBody>
                    <a:bodyPr/>
                    <a:lstStyle/>
                    <a:p>
                      <a:pPr marL="0" indent="0" algn="r">
                        <a:lnSpc>
                          <a:spcPts val="788"/>
                        </a:lnSpc>
                        <a:buNone/>
                      </a:pPr>
                      <a:r>
                        <a:rPr lang="en-US" sz="570" b="1" kern="0" spc="75" dirty="0">
                          <a:solidFill>
                            <a:srgbClr val="1B1A1A"/>
                          </a:solidFill>
                          <a:latin typeface="Quicksand" pitchFamily="34" charset="0"/>
                        </a:rPr>
                        <a:t>REVENUE GROWTH, CURRENT YEAR EST.</a:t>
                      </a:r>
                      <a:endParaRPr lang="en-US" sz="700" dirty="0"/>
                    </a:p>
                  </a:txBody>
                  <a:tcPr marL="76200" marR="0" marT="0" marB="47625" anchor="b">
                    <a:lnL w="0" cap="flat" cmpd="sng" algn="ctr">
                      <a:noFill/>
                    </a:lnL>
                    <a:lnR w="0" cap="flat" cmpd="sng" algn="ctr">
                      <a:noFill/>
                    </a:lnR>
                    <a:lnT w="0" cap="flat" cmpd="sng" algn="ctr">
                      <a:noFill/>
                    </a:lnT>
                    <a:lnB w="19050" cap="flat" cmpd="sng" algn="ctr">
                      <a:solidFill>
                        <a:srgbClr val="B68757"/>
                      </a:solidFill>
                      <a:prstDash val="solid"/>
                      <a:round/>
                      <a:headEnd type="none" w="med" len="med"/>
                      <a:tailEnd type="none" w="med" len="med"/>
                    </a:lnB>
                  </a:tcPr>
                </a:tc>
                <a:extLst>
                  <a:ext uri="{0D108BD9-81ED-4DB2-BD59-A6C34878D82A}">
                    <a16:rowId xmlns:a16="http://schemas.microsoft.com/office/drawing/2014/main" val="10000"/>
                  </a:ext>
                </a:extLst>
              </a:tr>
              <a:tr h="261045">
                <a:tc gridSpan="12">
                  <a:txBody>
                    <a:bodyPr/>
                    <a:lstStyle/>
                    <a:p>
                      <a:pPr marL="0" indent="0" algn="l">
                        <a:lnSpc>
                          <a:spcPts val="1275"/>
                        </a:lnSpc>
                        <a:buNone/>
                      </a:pPr>
                      <a:r>
                        <a:rPr lang="en-US" sz="645" b="1" kern="0" spc="135" dirty="0">
                          <a:solidFill>
                            <a:srgbClr val="8C6239"/>
                          </a:solidFill>
                          <a:latin typeface="Quicksand" pitchFamily="34" charset="0"/>
                        </a:rPr>
                        <a:t>HOUSEHOLD AND PERSONAL CARE</a:t>
                      </a:r>
                      <a:endParaRPr lang="en-US" sz="700" dirty="0"/>
                    </a:p>
                  </a:txBody>
                  <a:tcPr marL="0" marR="0" marT="0" marB="28575" anchor="b">
                    <a:lnL w="0" cap="flat" cmpd="sng" algn="ctr">
                      <a:noFill/>
                    </a:lnL>
                    <a:lnR w="0" cap="flat" cmpd="sng" algn="ctr">
                      <a:noFill/>
                    </a:lnR>
                    <a:lnT w="19050" cap="flat" cmpd="sng" algn="ctr">
                      <a:solidFill>
                        <a:srgbClr val="B68757"/>
                      </a:solidFill>
                      <a:prstDash val="solid"/>
                      <a:round/>
                      <a:headEnd type="none" w="med" len="med"/>
                      <a:tailEnd type="none" w="med" len="med"/>
                    </a:lnT>
                    <a:lnB w="0" cap="flat" cmpd="sng" algn="ctr">
                      <a:noFill/>
                    </a:lnB>
                  </a:tcPr>
                </a:tc>
                <a:tc hMerge="1">
                  <a:txBody>
                    <a:bodyPr/>
                    <a:lstStyle/>
                    <a:p>
                      <a:endParaRPr lang="en-US" sz="700"/>
                    </a:p>
                  </a:txBody>
                  <a:tcPr/>
                </a:tc>
                <a:tc hMerge="1">
                  <a:txBody>
                    <a:bodyPr/>
                    <a:lstStyle/>
                    <a:p>
                      <a:endParaRPr lang="en-US" sz="700"/>
                    </a:p>
                  </a:txBody>
                  <a:tcPr/>
                </a:tc>
                <a:tc hMerge="1">
                  <a:txBody>
                    <a:bodyPr/>
                    <a:lstStyle/>
                    <a:p>
                      <a:endParaRPr lang="en-US" sz="700"/>
                    </a:p>
                  </a:txBody>
                  <a:tcPr/>
                </a:tc>
                <a:tc hMerge="1">
                  <a:txBody>
                    <a:bodyPr/>
                    <a:lstStyle/>
                    <a:p>
                      <a:endParaRPr lang="en-US" sz="700"/>
                    </a:p>
                  </a:txBody>
                  <a:tcPr/>
                </a:tc>
                <a:tc hMerge="1">
                  <a:txBody>
                    <a:bodyPr/>
                    <a:lstStyle/>
                    <a:p>
                      <a:endParaRPr lang="en-US" sz="700"/>
                    </a:p>
                  </a:txBody>
                  <a:tcPr/>
                </a:tc>
                <a:tc hMerge="1">
                  <a:txBody>
                    <a:bodyPr/>
                    <a:lstStyle/>
                    <a:p>
                      <a:endParaRPr lang="en-US" sz="700"/>
                    </a:p>
                  </a:txBody>
                  <a:tcPr/>
                </a:tc>
                <a:tc hMerge="1">
                  <a:txBody>
                    <a:bodyPr/>
                    <a:lstStyle/>
                    <a:p>
                      <a:endParaRPr lang="en-US" sz="700"/>
                    </a:p>
                  </a:txBody>
                  <a:tcPr/>
                </a:tc>
                <a:tc hMerge="1">
                  <a:txBody>
                    <a:bodyPr/>
                    <a:lstStyle/>
                    <a:p>
                      <a:endParaRPr lang="en-US" sz="700"/>
                    </a:p>
                  </a:txBody>
                  <a:tcPr/>
                </a:tc>
                <a:tc hMerge="1">
                  <a:txBody>
                    <a:bodyPr/>
                    <a:lstStyle/>
                    <a:p>
                      <a:endParaRPr lang="en-US" sz="700"/>
                    </a:p>
                  </a:txBody>
                  <a:tcPr/>
                </a:tc>
                <a:tc hMerge="1">
                  <a:txBody>
                    <a:bodyPr/>
                    <a:lstStyle/>
                    <a:p>
                      <a:endParaRPr lang="en-US" sz="700"/>
                    </a:p>
                  </a:txBody>
                  <a:tcPr/>
                </a:tc>
                <a:tc hMerge="1">
                  <a:txBody>
                    <a:bodyPr/>
                    <a:lstStyle/>
                    <a:p>
                      <a:endParaRPr lang="en-US" sz="700"/>
                    </a:p>
                  </a:txBody>
                  <a:tcPr/>
                </a:tc>
                <a:extLst>
                  <a:ext uri="{0D108BD9-81ED-4DB2-BD59-A6C34878D82A}">
                    <a16:rowId xmlns:a16="http://schemas.microsoft.com/office/drawing/2014/main" val="10001"/>
                  </a:ext>
                </a:extLst>
              </a:tr>
              <a:tr h="211782">
                <a:tc>
                  <a:txBody>
                    <a:bodyPr/>
                    <a:lstStyle/>
                    <a:p>
                      <a:pPr marL="0" indent="0" algn="l">
                        <a:lnSpc>
                          <a:spcPts val="900"/>
                        </a:lnSpc>
                        <a:buNone/>
                      </a:pPr>
                      <a:r>
                        <a:rPr lang="en-US" sz="750" kern="0" spc="15" dirty="0">
                          <a:solidFill>
                            <a:srgbClr val="1B1A1A"/>
                          </a:solidFill>
                          <a:latin typeface="Quicksand SemiBold" pitchFamily="34" charset="0"/>
                        </a:rPr>
                        <a:t>Procter &amp; Gamble</a:t>
                      </a:r>
                      <a:endParaRPr lang="en-US" sz="700" dirty="0"/>
                    </a:p>
                  </a:txBody>
                  <a:tcPr marL="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l">
                        <a:lnSpc>
                          <a:spcPts val="900"/>
                        </a:lnSpc>
                        <a:buNone/>
                      </a:pPr>
                      <a:r>
                        <a:rPr lang="en-US" sz="675" kern="0" spc="15" dirty="0">
                          <a:solidFill>
                            <a:srgbClr val="6F6A66"/>
                          </a:solidFill>
                          <a:latin typeface="Quicksand" pitchFamily="34" charset="0"/>
                        </a:rPr>
                        <a:t>PG</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346.6</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371.7</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−0.8%</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4.26x</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15.0x</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15.7x</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21.3x</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+3.3%</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28.4%</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+2.1%</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extLst>
                  <a:ext uri="{0D108BD9-81ED-4DB2-BD59-A6C34878D82A}">
                    <a16:rowId xmlns:a16="http://schemas.microsoft.com/office/drawing/2014/main" val="10002"/>
                  </a:ext>
                </a:extLst>
              </a:tr>
              <a:tr h="211782">
                <a:tc>
                  <a:txBody>
                    <a:bodyPr/>
                    <a:lstStyle/>
                    <a:p>
                      <a:pPr marL="0" indent="0" algn="l">
                        <a:lnSpc>
                          <a:spcPts val="900"/>
                        </a:lnSpc>
                        <a:buNone/>
                      </a:pPr>
                      <a:r>
                        <a:rPr lang="en-US" sz="750" kern="0" spc="15" dirty="0">
                          <a:solidFill>
                            <a:srgbClr val="1B1A1A"/>
                          </a:solidFill>
                          <a:latin typeface="Quicksand SemiBold" pitchFamily="34" charset="0"/>
                        </a:rPr>
                        <a:t>Colgate-Palmolive</a:t>
                      </a:r>
                      <a:endParaRPr lang="en-US" sz="700" dirty="0"/>
                    </a:p>
                  </a:txBody>
                  <a:tcPr marL="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l">
                        <a:lnSpc>
                          <a:spcPts val="900"/>
                        </a:lnSpc>
                        <a:buNone/>
                      </a:pPr>
                      <a:r>
                        <a:rPr lang="en-US" sz="675" kern="0" spc="15" dirty="0">
                          <a:solidFill>
                            <a:srgbClr val="6F6A66"/>
                          </a:solidFill>
                          <a:latin typeface="Quicksand" pitchFamily="34" charset="0"/>
                        </a:rPr>
                        <a:t>CL</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68.7</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75.1</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+10.5%</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3.57x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15.1x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15.0x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21.5x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+5.3%</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23.7%</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+5.0%</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3"/>
                  </a:ext>
                </a:extLst>
              </a:tr>
              <a:tr h="211782">
                <a:tc>
                  <a:txBody>
                    <a:bodyPr/>
                    <a:lstStyle/>
                    <a:p>
                      <a:pPr marL="0" indent="0" algn="l">
                        <a:lnSpc>
                          <a:spcPts val="900"/>
                        </a:lnSpc>
                        <a:buNone/>
                      </a:pPr>
                      <a:r>
                        <a:rPr lang="en-US" sz="750" kern="0" spc="15" dirty="0">
                          <a:solidFill>
                            <a:srgbClr val="1B1A1A"/>
                          </a:solidFill>
                          <a:latin typeface="Quicksand SemiBold" pitchFamily="34" charset="0"/>
                        </a:rPr>
                        <a:t>Church &amp; Dwight</a:t>
                      </a:r>
                      <a:endParaRPr lang="en-US" sz="700" dirty="0"/>
                    </a:p>
                  </a:txBody>
                  <a:tcPr marL="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l">
                        <a:lnSpc>
                          <a:spcPts val="900"/>
                        </a:lnSpc>
                        <a:buNone/>
                      </a:pPr>
                      <a:r>
                        <a:rPr lang="en-US" sz="675" kern="0" spc="15" dirty="0">
                          <a:solidFill>
                            <a:srgbClr val="6F6A66"/>
                          </a:solidFill>
                          <a:latin typeface="Quicksand" pitchFamily="34" charset="0"/>
                        </a:rPr>
                        <a:t>CHD</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22.9</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25.1</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+9.8%</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4.03x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18.5x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16.9x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24.7x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+2.7%</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21.8%</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+0.6%</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4"/>
                  </a:ext>
                </a:extLst>
              </a:tr>
              <a:tr h="211782">
                <a:tc>
                  <a:txBody>
                    <a:bodyPr/>
                    <a:lstStyle/>
                    <a:p>
                      <a:pPr marL="0" indent="0" algn="l">
                        <a:lnSpc>
                          <a:spcPts val="900"/>
                        </a:lnSpc>
                        <a:buNone/>
                      </a:pPr>
                      <a:r>
                        <a:rPr lang="en-US" sz="750" kern="0" spc="15" dirty="0">
                          <a:solidFill>
                            <a:srgbClr val="1B1A1A"/>
                          </a:solidFill>
                          <a:latin typeface="Quicksand SemiBold" pitchFamily="34" charset="0"/>
                        </a:rPr>
                        <a:t>Clorox</a:t>
                      </a:r>
                      <a:endParaRPr lang="en-US" sz="700" dirty="0"/>
                    </a:p>
                  </a:txBody>
                  <a:tcPr marL="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l">
                        <a:lnSpc>
                          <a:spcPts val="900"/>
                        </a:lnSpc>
                        <a:buNone/>
                      </a:pPr>
                      <a:r>
                        <a:rPr lang="en-US" sz="675" kern="0" spc="15" dirty="0">
                          <a:solidFill>
                            <a:srgbClr val="6F6A66"/>
                          </a:solidFill>
                          <a:latin typeface="Quicksand" pitchFamily="34" charset="0"/>
                        </a:rPr>
                        <a:t>CLX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10.1</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15.6</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−32.2%</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2.31x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13.6x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14.5x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14.5x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−5.4%</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17.0%</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+13.6%</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5"/>
                  </a:ext>
                </a:extLst>
              </a:tr>
              <a:tr h="211782">
                <a:tc>
                  <a:txBody>
                    <a:bodyPr/>
                    <a:lstStyle/>
                    <a:p>
                      <a:pPr marL="0" indent="0" algn="l">
                        <a:lnSpc>
                          <a:spcPts val="900"/>
                        </a:lnSpc>
                        <a:buNone/>
                      </a:pPr>
                      <a:r>
                        <a:rPr lang="en-US" sz="750" kern="0" spc="15" dirty="0">
                          <a:solidFill>
                            <a:srgbClr val="1B1A1A"/>
                          </a:solidFill>
                          <a:latin typeface="Quicksand SemiBold" pitchFamily="34" charset="0"/>
                        </a:rPr>
                        <a:t>Estee Lauder</a:t>
                      </a:r>
                      <a:endParaRPr lang="en-US" sz="700" dirty="0"/>
                    </a:p>
                  </a:txBody>
                  <a:tcPr marL="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l">
                        <a:lnSpc>
                          <a:spcPts val="900"/>
                        </a:lnSpc>
                        <a:buNone/>
                      </a:pPr>
                      <a:r>
                        <a:rPr lang="en-US" sz="675" kern="0" spc="15" dirty="0">
                          <a:solidFill>
                            <a:srgbClr val="6F6A66"/>
                          </a:solidFill>
                          <a:latin typeface="Quicksand" pitchFamily="34" charset="0"/>
                        </a:rPr>
                        <a:t>EL</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33.8</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39.6</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+6.3%</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2.63x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16.1x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18.4x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28.1x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+5.1%</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16.3%</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+4.5%</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6"/>
                  </a:ext>
                </a:extLst>
              </a:tr>
              <a:tr h="211782">
                <a:tc>
                  <a:txBody>
                    <a:bodyPr/>
                    <a:lstStyle/>
                    <a:p>
                      <a:pPr marL="0" indent="0" algn="l">
                        <a:lnSpc>
                          <a:spcPts val="900"/>
                        </a:lnSpc>
                        <a:buNone/>
                      </a:pPr>
                      <a:r>
                        <a:rPr lang="en-US" sz="750" kern="0" spc="15" dirty="0">
                          <a:solidFill>
                            <a:srgbClr val="1B1A1A"/>
                          </a:solidFill>
                          <a:latin typeface="Quicksand SemiBold" pitchFamily="34" charset="0"/>
                        </a:rPr>
                        <a:t>e.l.f. Beauty</a:t>
                      </a:r>
                      <a:endParaRPr lang="en-US" sz="700" dirty="0"/>
                    </a:p>
                  </a:txBody>
                  <a:tcPr marL="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l">
                        <a:lnSpc>
                          <a:spcPts val="900"/>
                        </a:lnSpc>
                        <a:buNone/>
                      </a:pPr>
                      <a:r>
                        <a:rPr lang="en-US" sz="675" kern="0" spc="15" dirty="0">
                          <a:solidFill>
                            <a:srgbClr val="6F6A66"/>
                          </a:solidFill>
                          <a:latin typeface="Quicksand" pitchFamily="34" charset="0"/>
                        </a:rPr>
                        <a:t>ELF</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6.1</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6.7</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−23.8%</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3.78x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31.8x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48.1x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33.6x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+31.2%</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11.9%</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+20.3%</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7"/>
                  </a:ext>
                </a:extLst>
              </a:tr>
              <a:tr h="211782">
                <a:tc>
                  <a:txBody>
                    <a:bodyPr/>
                    <a:lstStyle/>
                    <a:p>
                      <a:pPr marL="0" indent="0" algn="l">
                        <a:lnSpc>
                          <a:spcPts val="900"/>
                        </a:lnSpc>
                        <a:buNone/>
                      </a:pPr>
                      <a:r>
                        <a:rPr lang="en-US" sz="750" b="1" kern="0" spc="15" dirty="0">
                          <a:solidFill>
                            <a:srgbClr val="1B1A1A"/>
                          </a:solidFill>
                          <a:latin typeface="Quicksand" pitchFamily="34" charset="0"/>
                        </a:rPr>
                        <a:t>Median</a:t>
                      </a:r>
                      <a:endParaRPr lang="en-US" sz="700" dirty="0"/>
                    </a:p>
                  </a:txBody>
                  <a:tcPr marL="5715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l">
                        <a:lnSpc>
                          <a:spcPts val="900"/>
                        </a:lnSpc>
                        <a:buNone/>
                      </a:pP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r">
                        <a:lnSpc>
                          <a:spcPts val="900"/>
                        </a:lnSpc>
                        <a:buNone/>
                      </a:pP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r">
                        <a:lnSpc>
                          <a:spcPts val="900"/>
                        </a:lnSpc>
                        <a:buNone/>
                      </a:pP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r">
                        <a:lnSpc>
                          <a:spcPts val="900"/>
                        </a:lnSpc>
                        <a:buNone/>
                      </a:pPr>
                      <a:r>
                        <a:rPr lang="en-US" sz="750" b="1" kern="0" spc="15" dirty="0">
                          <a:solidFill>
                            <a:srgbClr val="1B1A1A"/>
                          </a:solidFill>
                          <a:latin typeface="Quicksand" pitchFamily="34" charset="0"/>
                        </a:rPr>
                        <a:t>+2.7%</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r">
                        <a:lnSpc>
                          <a:spcPts val="900"/>
                        </a:lnSpc>
                        <a:buNone/>
                      </a:pPr>
                      <a:r>
                        <a:rPr lang="en-US" sz="750" b="1" kern="0" spc="15" dirty="0">
                          <a:solidFill>
                            <a:srgbClr val="1B1A1A"/>
                          </a:solidFill>
                          <a:latin typeface="Quicksand" pitchFamily="34" charset="0"/>
                        </a:rPr>
                        <a:t>3.68x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r">
                        <a:lnSpc>
                          <a:spcPts val="900"/>
                        </a:lnSpc>
                        <a:buNone/>
                      </a:pPr>
                      <a:r>
                        <a:rPr lang="en-US" sz="750" b="1" kern="0" spc="15" dirty="0">
                          <a:solidFill>
                            <a:srgbClr val="1B1A1A"/>
                          </a:solidFill>
                          <a:latin typeface="Quicksand" pitchFamily="34" charset="0"/>
                        </a:rPr>
                        <a:t>15.6x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r">
                        <a:lnSpc>
                          <a:spcPts val="900"/>
                        </a:lnSpc>
                        <a:buNone/>
                      </a:pPr>
                      <a:r>
                        <a:rPr lang="en-US" sz="750" b="1" kern="0" spc="15" dirty="0">
                          <a:solidFill>
                            <a:srgbClr val="1B1A1A"/>
                          </a:solidFill>
                          <a:latin typeface="Quicksand" pitchFamily="34" charset="0"/>
                        </a:rPr>
                        <a:t>16.3x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r">
                        <a:lnSpc>
                          <a:spcPts val="900"/>
                        </a:lnSpc>
                        <a:buNone/>
                      </a:pPr>
                      <a:r>
                        <a:rPr lang="en-US" sz="750" b="1" kern="0" spc="15" dirty="0">
                          <a:solidFill>
                            <a:srgbClr val="1B1A1A"/>
                          </a:solidFill>
                          <a:latin typeface="Quicksand" pitchFamily="34" charset="0"/>
                        </a:rPr>
                        <a:t>23.1x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r">
                        <a:lnSpc>
                          <a:spcPts val="900"/>
                        </a:lnSpc>
                        <a:buNone/>
                      </a:pPr>
                      <a:r>
                        <a:rPr lang="en-US" sz="750" b="1" kern="0" spc="15" dirty="0">
                          <a:solidFill>
                            <a:srgbClr val="1B1A1A"/>
                          </a:solidFill>
                          <a:latin typeface="Quicksand" pitchFamily="34" charset="0"/>
                        </a:rPr>
                        <a:t>+4.2%</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r">
                        <a:lnSpc>
                          <a:spcPts val="900"/>
                        </a:lnSpc>
                        <a:buNone/>
                      </a:pPr>
                      <a:r>
                        <a:rPr lang="en-US" sz="750" b="1" kern="0" spc="15" dirty="0">
                          <a:solidFill>
                            <a:srgbClr val="1B1A1A"/>
                          </a:solidFill>
                          <a:latin typeface="Quicksand" pitchFamily="34" charset="0"/>
                        </a:rPr>
                        <a:t>19.4%</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r">
                        <a:lnSpc>
                          <a:spcPts val="900"/>
                        </a:lnSpc>
                        <a:buNone/>
                      </a:pPr>
                      <a:r>
                        <a:rPr lang="en-US" sz="750" b="1" kern="0" spc="15" dirty="0">
                          <a:solidFill>
                            <a:srgbClr val="1B1A1A"/>
                          </a:solidFill>
                          <a:latin typeface="Quicksand" pitchFamily="34" charset="0"/>
                        </a:rPr>
                        <a:t>+4.7%</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extLst>
                  <a:ext uri="{0D108BD9-81ED-4DB2-BD59-A6C34878D82A}">
                    <a16:rowId xmlns:a16="http://schemas.microsoft.com/office/drawing/2014/main" val="10008"/>
                  </a:ext>
                </a:extLst>
              </a:tr>
              <a:tr h="261045">
                <a:tc gridSpan="12">
                  <a:txBody>
                    <a:bodyPr/>
                    <a:lstStyle/>
                    <a:p>
                      <a:pPr marL="0" indent="0" algn="l">
                        <a:lnSpc>
                          <a:spcPts val="1275"/>
                        </a:lnSpc>
                        <a:buNone/>
                      </a:pPr>
                      <a:r>
                        <a:rPr lang="en-US" sz="645" b="1" kern="0" spc="135" dirty="0">
                          <a:solidFill>
                            <a:srgbClr val="8C6239"/>
                          </a:solidFill>
                          <a:latin typeface="Quicksand" pitchFamily="34" charset="0"/>
                        </a:rPr>
                        <a:t>DURABLES, OUTDOOR AND PET</a:t>
                      </a:r>
                      <a:endParaRPr lang="en-US" sz="700" dirty="0"/>
                    </a:p>
                  </a:txBody>
                  <a:tcPr marL="0" marR="0" marT="0" marB="28575" anchor="b">
                    <a:lnL w="0" cap="flat" cmpd="sng" algn="ctr">
                      <a:noFill/>
                    </a:lnL>
                    <a:lnR w="0" cap="flat" cmpd="sng" algn="ctr">
                      <a:noFill/>
                    </a:lnR>
                    <a:lnT w="0" cap="flat" cmpd="sng" algn="ctr">
                      <a:noFill/>
                    </a:lnT>
                    <a:lnB w="0" cap="flat" cmpd="sng" algn="ctr">
                      <a:noFill/>
                    </a:lnB>
                  </a:tcPr>
                </a:tc>
                <a:tc hMerge="1">
                  <a:txBody>
                    <a:bodyPr/>
                    <a:lstStyle/>
                    <a:p>
                      <a:endParaRPr lang="en-US" sz="700"/>
                    </a:p>
                  </a:txBody>
                  <a:tcPr/>
                </a:tc>
                <a:tc hMerge="1">
                  <a:txBody>
                    <a:bodyPr/>
                    <a:lstStyle/>
                    <a:p>
                      <a:endParaRPr lang="en-US" sz="700"/>
                    </a:p>
                  </a:txBody>
                  <a:tcPr/>
                </a:tc>
                <a:tc hMerge="1">
                  <a:txBody>
                    <a:bodyPr/>
                    <a:lstStyle/>
                    <a:p>
                      <a:endParaRPr lang="en-US" sz="700"/>
                    </a:p>
                  </a:txBody>
                  <a:tcPr/>
                </a:tc>
                <a:tc hMerge="1">
                  <a:txBody>
                    <a:bodyPr/>
                    <a:lstStyle/>
                    <a:p>
                      <a:endParaRPr lang="en-US" sz="700"/>
                    </a:p>
                  </a:txBody>
                  <a:tcPr/>
                </a:tc>
                <a:tc hMerge="1">
                  <a:txBody>
                    <a:bodyPr/>
                    <a:lstStyle/>
                    <a:p>
                      <a:endParaRPr lang="en-US" sz="700"/>
                    </a:p>
                  </a:txBody>
                  <a:tcPr/>
                </a:tc>
                <a:tc hMerge="1">
                  <a:txBody>
                    <a:bodyPr/>
                    <a:lstStyle/>
                    <a:p>
                      <a:endParaRPr lang="en-US" sz="700"/>
                    </a:p>
                  </a:txBody>
                  <a:tcPr/>
                </a:tc>
                <a:tc hMerge="1">
                  <a:txBody>
                    <a:bodyPr/>
                    <a:lstStyle/>
                    <a:p>
                      <a:endParaRPr lang="en-US" sz="700"/>
                    </a:p>
                  </a:txBody>
                  <a:tcPr/>
                </a:tc>
                <a:tc hMerge="1">
                  <a:txBody>
                    <a:bodyPr/>
                    <a:lstStyle/>
                    <a:p>
                      <a:endParaRPr lang="en-US" sz="700"/>
                    </a:p>
                  </a:txBody>
                  <a:tcPr/>
                </a:tc>
                <a:tc hMerge="1">
                  <a:txBody>
                    <a:bodyPr/>
                    <a:lstStyle/>
                    <a:p>
                      <a:endParaRPr lang="en-US" sz="700"/>
                    </a:p>
                  </a:txBody>
                  <a:tcPr/>
                </a:tc>
                <a:tc hMerge="1">
                  <a:txBody>
                    <a:bodyPr/>
                    <a:lstStyle/>
                    <a:p>
                      <a:endParaRPr lang="en-US" sz="700"/>
                    </a:p>
                  </a:txBody>
                  <a:tcPr/>
                </a:tc>
                <a:tc hMerge="1">
                  <a:txBody>
                    <a:bodyPr/>
                    <a:lstStyle/>
                    <a:p>
                      <a:endParaRPr lang="en-US" sz="700"/>
                    </a:p>
                  </a:txBody>
                  <a:tcPr/>
                </a:tc>
                <a:extLst>
                  <a:ext uri="{0D108BD9-81ED-4DB2-BD59-A6C34878D82A}">
                    <a16:rowId xmlns:a16="http://schemas.microsoft.com/office/drawing/2014/main" val="10009"/>
                  </a:ext>
                </a:extLst>
              </a:tr>
              <a:tr h="211782">
                <a:tc>
                  <a:txBody>
                    <a:bodyPr/>
                    <a:lstStyle/>
                    <a:p>
                      <a:pPr marL="0" indent="0" algn="l">
                        <a:lnSpc>
                          <a:spcPts val="900"/>
                        </a:lnSpc>
                        <a:buNone/>
                      </a:pPr>
                      <a:r>
                        <a:rPr lang="en-US" sz="750" kern="0" spc="15" dirty="0">
                          <a:solidFill>
                            <a:srgbClr val="1B1A1A"/>
                          </a:solidFill>
                          <a:latin typeface="Quicksand SemiBold" pitchFamily="34" charset="0"/>
                        </a:rPr>
                        <a:t>Central Garden &amp; Pet</a:t>
                      </a:r>
                      <a:endParaRPr lang="en-US" sz="700" dirty="0"/>
                    </a:p>
                  </a:txBody>
                  <a:tcPr marL="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l">
                        <a:lnSpc>
                          <a:spcPts val="900"/>
                        </a:lnSpc>
                        <a:buNone/>
                      </a:pPr>
                      <a:r>
                        <a:rPr lang="en-US" sz="675" kern="0" spc="15" dirty="0">
                          <a:solidFill>
                            <a:srgbClr val="6F6A66"/>
                          </a:solidFill>
                          <a:latin typeface="Quicksand" pitchFamily="34" charset="0"/>
                        </a:rPr>
                        <a:t>CENT</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2.5</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2.9</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+22.9%</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0.94x</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8.6x</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7.6x</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13.9x</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−1.2%</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11.0%</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−3.7%</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extLst>
                  <a:ext uri="{0D108BD9-81ED-4DB2-BD59-A6C34878D82A}">
                    <a16:rowId xmlns:a16="http://schemas.microsoft.com/office/drawing/2014/main" val="10010"/>
                  </a:ext>
                </a:extLst>
              </a:tr>
              <a:tr h="211782">
                <a:tc>
                  <a:txBody>
                    <a:bodyPr/>
                    <a:lstStyle/>
                    <a:p>
                      <a:pPr marL="0" indent="0" algn="l">
                        <a:lnSpc>
                          <a:spcPts val="900"/>
                        </a:lnSpc>
                        <a:buNone/>
                      </a:pPr>
                      <a:r>
                        <a:rPr lang="en-US" sz="750" kern="0" spc="15" dirty="0">
                          <a:solidFill>
                            <a:srgbClr val="1B1A1A"/>
                          </a:solidFill>
                          <a:latin typeface="Quicksand SemiBold" pitchFamily="34" charset="0"/>
                        </a:rPr>
                        <a:t>Spectrum Brands</a:t>
                      </a:r>
                      <a:endParaRPr lang="en-US" sz="700" dirty="0"/>
                    </a:p>
                  </a:txBody>
                  <a:tcPr marL="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l">
                        <a:lnSpc>
                          <a:spcPts val="900"/>
                        </a:lnSpc>
                        <a:buNone/>
                      </a:pPr>
                      <a:r>
                        <a:rPr lang="en-US" sz="675" kern="0" spc="15" dirty="0">
                          <a:solidFill>
                            <a:srgbClr val="6F6A66"/>
                          </a:solidFill>
                          <a:latin typeface="Quicksand" pitchFamily="34" charset="0"/>
                        </a:rPr>
                        <a:t>SPB</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1.8</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2.3</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+45.2%</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0.78x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8.0x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7.2x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14.2x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+0.8%</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9.8%</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+2.1%</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11"/>
                  </a:ext>
                </a:extLst>
              </a:tr>
              <a:tr h="211782">
                <a:tc>
                  <a:txBody>
                    <a:bodyPr/>
                    <a:lstStyle/>
                    <a:p>
                      <a:pPr marL="0" indent="0" algn="l">
                        <a:lnSpc>
                          <a:spcPts val="900"/>
                        </a:lnSpc>
                        <a:buNone/>
                      </a:pPr>
                      <a:r>
                        <a:rPr lang="en-US" sz="750" kern="0" spc="15" dirty="0">
                          <a:solidFill>
                            <a:srgbClr val="1B1A1A"/>
                          </a:solidFill>
                          <a:latin typeface="Quicksand SemiBold" pitchFamily="34" charset="0"/>
                        </a:rPr>
                        <a:t>YETI</a:t>
                      </a:r>
                      <a:endParaRPr lang="en-US" sz="700" dirty="0"/>
                    </a:p>
                  </a:txBody>
                  <a:tcPr marL="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l">
                        <a:lnSpc>
                          <a:spcPts val="900"/>
                        </a:lnSpc>
                        <a:buNone/>
                      </a:pPr>
                      <a:r>
                        <a:rPr lang="en-US" sz="675" kern="0" spc="15" dirty="0">
                          <a:solidFill>
                            <a:srgbClr val="6F6A66"/>
                          </a:solidFill>
                          <a:latin typeface="Quicksand" pitchFamily="34" charset="0"/>
                        </a:rPr>
                        <a:t>YETI</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2.9</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3.1</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+15.2%</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1.60x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10.6x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10.0x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12.7x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+6.2%</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15.1%</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+7.6%</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12"/>
                  </a:ext>
                </a:extLst>
              </a:tr>
              <a:tr h="211782">
                <a:tc>
                  <a:txBody>
                    <a:bodyPr/>
                    <a:lstStyle/>
                    <a:p>
                      <a:pPr marL="0" indent="0" algn="l">
                        <a:lnSpc>
                          <a:spcPts val="900"/>
                        </a:lnSpc>
                        <a:buNone/>
                      </a:pPr>
                      <a:r>
                        <a:rPr lang="en-US" sz="750" kern="0" spc="15" dirty="0">
                          <a:solidFill>
                            <a:srgbClr val="1B1A1A"/>
                          </a:solidFill>
                          <a:latin typeface="Quicksand SemiBold" pitchFamily="34" charset="0"/>
                        </a:rPr>
                        <a:t>Mattel</a:t>
                      </a:r>
                      <a:endParaRPr lang="en-US" sz="700" dirty="0"/>
                    </a:p>
                  </a:txBody>
                  <a:tcPr marL="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l">
                        <a:lnSpc>
                          <a:spcPts val="900"/>
                        </a:lnSpc>
                        <a:buNone/>
                      </a:pPr>
                      <a:r>
                        <a:rPr lang="en-US" sz="675" kern="0" spc="15" dirty="0">
                          <a:solidFill>
                            <a:srgbClr val="6F6A66"/>
                          </a:solidFill>
                          <a:latin typeface="Quicksand" pitchFamily="34" charset="0"/>
                        </a:rPr>
                        <a:t>MAT</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4.6</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6.8</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−11.8%</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1.23x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10.4x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9.4x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11.9x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+2.9%</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11.9%</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+6.0%</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13"/>
                  </a:ext>
                </a:extLst>
              </a:tr>
              <a:tr h="211782">
                <a:tc>
                  <a:txBody>
                    <a:bodyPr/>
                    <a:lstStyle/>
                    <a:p>
                      <a:pPr marL="0" indent="0" algn="l">
                        <a:lnSpc>
                          <a:spcPts val="900"/>
                        </a:lnSpc>
                        <a:buNone/>
                      </a:pPr>
                      <a:r>
                        <a:rPr lang="en-US" sz="750" kern="0" spc="15" dirty="0">
                          <a:solidFill>
                            <a:srgbClr val="1B1A1A"/>
                          </a:solidFill>
                          <a:latin typeface="Quicksand SemiBold" pitchFamily="34" charset="0"/>
                        </a:rPr>
                        <a:t>Newell Brands</a:t>
                      </a:r>
                      <a:endParaRPr lang="en-US" sz="700" dirty="0"/>
                    </a:p>
                  </a:txBody>
                  <a:tcPr marL="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l">
                        <a:lnSpc>
                          <a:spcPts val="900"/>
                        </a:lnSpc>
                        <a:buNone/>
                      </a:pPr>
                      <a:r>
                        <a:rPr lang="en-US" sz="675" kern="0" spc="15" dirty="0">
                          <a:solidFill>
                            <a:srgbClr val="6F6A66"/>
                          </a:solidFill>
                          <a:latin typeface="Quicksand" pitchFamily="34" charset="0"/>
                        </a:rPr>
                        <a:t>NWL</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2.4</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7.9</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+7.6%</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1.09x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8.7x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10.1x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8.7x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−2.0%</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12.5%</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+1.8%</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14"/>
                  </a:ext>
                </a:extLst>
              </a:tr>
              <a:tr h="211782">
                <a:tc>
                  <a:txBody>
                    <a:bodyPr/>
                    <a:lstStyle/>
                    <a:p>
                      <a:pPr marL="0" indent="0" algn="l">
                        <a:lnSpc>
                          <a:spcPts val="900"/>
                        </a:lnSpc>
                        <a:buNone/>
                      </a:pPr>
                      <a:r>
                        <a:rPr lang="en-US" sz="750" kern="0" spc="15" dirty="0">
                          <a:solidFill>
                            <a:srgbClr val="1B1A1A"/>
                          </a:solidFill>
                          <a:latin typeface="Quicksand SemiBold" pitchFamily="34" charset="0"/>
                        </a:rPr>
                        <a:t>Traeger</a:t>
                      </a:r>
                      <a:endParaRPr lang="en-US" sz="700" dirty="0"/>
                    </a:p>
                  </a:txBody>
                  <a:tcPr marL="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l">
                        <a:lnSpc>
                          <a:spcPts val="900"/>
                        </a:lnSpc>
                        <a:buNone/>
                      </a:pPr>
                      <a:r>
                        <a:rPr lang="en-US" sz="675" kern="0" spc="15" dirty="0">
                          <a:solidFill>
                            <a:srgbClr val="6F6A66"/>
                          </a:solidFill>
                          <a:latin typeface="Quicksand" pitchFamily="34" charset="0"/>
                        </a:rPr>
                        <a:t>COOK</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0.14</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0.51</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−10.0%</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1.05x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9.1x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11.0x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n.m.</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−16.3%</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11.6%</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−20.2%</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15"/>
                  </a:ext>
                </a:extLst>
              </a:tr>
              <a:tr h="211782">
                <a:tc>
                  <a:txBody>
                    <a:bodyPr/>
                    <a:lstStyle/>
                    <a:p>
                      <a:pPr marL="0" indent="0" algn="l">
                        <a:lnSpc>
                          <a:spcPts val="900"/>
                        </a:lnSpc>
                        <a:buNone/>
                      </a:pPr>
                      <a:r>
                        <a:rPr lang="en-US" sz="750" b="1" kern="0" spc="15" dirty="0">
                          <a:solidFill>
                            <a:srgbClr val="1B1A1A"/>
                          </a:solidFill>
                          <a:latin typeface="Quicksand" pitchFamily="34" charset="0"/>
                        </a:rPr>
                        <a:t>Median</a:t>
                      </a:r>
                      <a:endParaRPr lang="en-US" sz="700" dirty="0"/>
                    </a:p>
                  </a:txBody>
                  <a:tcPr marL="5715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l">
                        <a:lnSpc>
                          <a:spcPts val="900"/>
                        </a:lnSpc>
                        <a:buNone/>
                      </a:pP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r">
                        <a:lnSpc>
                          <a:spcPts val="900"/>
                        </a:lnSpc>
                        <a:buNone/>
                      </a:pP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r">
                        <a:lnSpc>
                          <a:spcPts val="900"/>
                        </a:lnSpc>
                        <a:buNone/>
                      </a:pP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r">
                        <a:lnSpc>
                          <a:spcPts val="900"/>
                        </a:lnSpc>
                        <a:buNone/>
                      </a:pPr>
                      <a:r>
                        <a:rPr lang="en-US" sz="750" b="1" kern="0" spc="15" dirty="0">
                          <a:solidFill>
                            <a:srgbClr val="1B1A1A"/>
                          </a:solidFill>
                          <a:latin typeface="Quicksand" pitchFamily="34" charset="0"/>
                        </a:rPr>
                        <a:t>+11.4%</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r">
                        <a:lnSpc>
                          <a:spcPts val="900"/>
                        </a:lnSpc>
                        <a:buNone/>
                      </a:pPr>
                      <a:r>
                        <a:rPr lang="en-US" sz="750" b="1" kern="0" spc="15" dirty="0">
                          <a:solidFill>
                            <a:srgbClr val="1B1A1A"/>
                          </a:solidFill>
                          <a:latin typeface="Quicksand" pitchFamily="34" charset="0"/>
                        </a:rPr>
                        <a:t>1.07x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r">
                        <a:lnSpc>
                          <a:spcPts val="900"/>
                        </a:lnSpc>
                        <a:buNone/>
                      </a:pPr>
                      <a:r>
                        <a:rPr lang="en-US" sz="750" b="1" kern="0" spc="15" dirty="0">
                          <a:solidFill>
                            <a:srgbClr val="1B1A1A"/>
                          </a:solidFill>
                          <a:latin typeface="Quicksand" pitchFamily="34" charset="0"/>
                        </a:rPr>
                        <a:t>8.9x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r">
                        <a:lnSpc>
                          <a:spcPts val="900"/>
                        </a:lnSpc>
                        <a:buNone/>
                      </a:pPr>
                      <a:r>
                        <a:rPr lang="en-US" sz="750" b="1" kern="0" spc="15" dirty="0">
                          <a:solidFill>
                            <a:srgbClr val="1B1A1A"/>
                          </a:solidFill>
                          <a:latin typeface="Quicksand" pitchFamily="34" charset="0"/>
                        </a:rPr>
                        <a:t>9.7x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r">
                        <a:lnSpc>
                          <a:spcPts val="900"/>
                        </a:lnSpc>
                        <a:buNone/>
                      </a:pPr>
                      <a:r>
                        <a:rPr lang="en-US" sz="750" b="1" kern="0" spc="15" dirty="0">
                          <a:solidFill>
                            <a:srgbClr val="1B1A1A"/>
                          </a:solidFill>
                          <a:latin typeface="Quicksand" pitchFamily="34" charset="0"/>
                        </a:rPr>
                        <a:t>12.7x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r">
                        <a:lnSpc>
                          <a:spcPts val="900"/>
                        </a:lnSpc>
                        <a:buNone/>
                      </a:pPr>
                      <a:r>
                        <a:rPr lang="en-US" sz="750" b="1" kern="0" spc="15" dirty="0">
                          <a:solidFill>
                            <a:srgbClr val="1B1A1A"/>
                          </a:solidFill>
                          <a:latin typeface="Quicksand" pitchFamily="34" charset="0"/>
                        </a:rPr>
                        <a:t>−0.2%</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r">
                        <a:lnSpc>
                          <a:spcPts val="900"/>
                        </a:lnSpc>
                        <a:buNone/>
                      </a:pPr>
                      <a:r>
                        <a:rPr lang="en-US" sz="750" b="1" kern="0" spc="15" dirty="0">
                          <a:solidFill>
                            <a:srgbClr val="1B1A1A"/>
                          </a:solidFill>
                          <a:latin typeface="Quicksand" pitchFamily="34" charset="0"/>
                        </a:rPr>
                        <a:t>11.7%</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r">
                        <a:lnSpc>
                          <a:spcPts val="900"/>
                        </a:lnSpc>
                        <a:buNone/>
                      </a:pPr>
                      <a:r>
                        <a:rPr lang="en-US" sz="750" b="1" kern="0" spc="15" dirty="0">
                          <a:solidFill>
                            <a:srgbClr val="1B1A1A"/>
                          </a:solidFill>
                          <a:latin typeface="Quicksand" pitchFamily="34" charset="0"/>
                        </a:rPr>
                        <a:t>+1.9%</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extLst>
                  <a:ext uri="{0D108BD9-81ED-4DB2-BD59-A6C34878D82A}">
                    <a16:rowId xmlns:a16="http://schemas.microsoft.com/office/drawing/2014/main" val="10016"/>
                  </a:ext>
                </a:extLst>
              </a:tr>
              <a:tr h="261045">
                <a:tc gridSpan="12">
                  <a:txBody>
                    <a:bodyPr/>
                    <a:lstStyle/>
                    <a:p>
                      <a:pPr marL="0" indent="0" algn="l">
                        <a:lnSpc>
                          <a:spcPts val="1275"/>
                        </a:lnSpc>
                        <a:buNone/>
                      </a:pPr>
                      <a:r>
                        <a:rPr lang="en-US" sz="645" b="1" kern="0" spc="135" dirty="0">
                          <a:solidFill>
                            <a:srgbClr val="8C6239"/>
                          </a:solidFill>
                          <a:latin typeface="Quicksand" pitchFamily="34" charset="0"/>
                        </a:rPr>
                        <a:t>FOODSERVICE DISTRIBUTION AND EQUIPMENT</a:t>
                      </a:r>
                      <a:endParaRPr lang="en-US" sz="700" dirty="0"/>
                    </a:p>
                  </a:txBody>
                  <a:tcPr marL="0" marR="0" marT="0" marB="28575" anchor="b">
                    <a:lnL w="0" cap="flat" cmpd="sng" algn="ctr">
                      <a:noFill/>
                    </a:lnL>
                    <a:lnR w="0" cap="flat" cmpd="sng" algn="ctr">
                      <a:noFill/>
                    </a:lnR>
                    <a:lnT w="0" cap="flat" cmpd="sng" algn="ctr">
                      <a:noFill/>
                    </a:lnT>
                    <a:lnB w="0" cap="flat" cmpd="sng" algn="ctr">
                      <a:noFill/>
                    </a:lnB>
                  </a:tcPr>
                </a:tc>
                <a:tc hMerge="1">
                  <a:txBody>
                    <a:bodyPr/>
                    <a:lstStyle/>
                    <a:p>
                      <a:endParaRPr lang="en-US" sz="700"/>
                    </a:p>
                  </a:txBody>
                  <a:tcPr/>
                </a:tc>
                <a:tc hMerge="1">
                  <a:txBody>
                    <a:bodyPr/>
                    <a:lstStyle/>
                    <a:p>
                      <a:endParaRPr lang="en-US" sz="700"/>
                    </a:p>
                  </a:txBody>
                  <a:tcPr/>
                </a:tc>
                <a:tc hMerge="1">
                  <a:txBody>
                    <a:bodyPr/>
                    <a:lstStyle/>
                    <a:p>
                      <a:endParaRPr lang="en-US" sz="700"/>
                    </a:p>
                  </a:txBody>
                  <a:tcPr/>
                </a:tc>
                <a:tc hMerge="1">
                  <a:txBody>
                    <a:bodyPr/>
                    <a:lstStyle/>
                    <a:p>
                      <a:endParaRPr lang="en-US" sz="700"/>
                    </a:p>
                  </a:txBody>
                  <a:tcPr/>
                </a:tc>
                <a:tc hMerge="1">
                  <a:txBody>
                    <a:bodyPr/>
                    <a:lstStyle/>
                    <a:p>
                      <a:endParaRPr lang="en-US" sz="700"/>
                    </a:p>
                  </a:txBody>
                  <a:tcPr/>
                </a:tc>
                <a:tc hMerge="1">
                  <a:txBody>
                    <a:bodyPr/>
                    <a:lstStyle/>
                    <a:p>
                      <a:endParaRPr lang="en-US" sz="700"/>
                    </a:p>
                  </a:txBody>
                  <a:tcPr/>
                </a:tc>
                <a:tc hMerge="1">
                  <a:txBody>
                    <a:bodyPr/>
                    <a:lstStyle/>
                    <a:p>
                      <a:endParaRPr lang="en-US" sz="700"/>
                    </a:p>
                  </a:txBody>
                  <a:tcPr/>
                </a:tc>
                <a:tc hMerge="1">
                  <a:txBody>
                    <a:bodyPr/>
                    <a:lstStyle/>
                    <a:p>
                      <a:endParaRPr lang="en-US" sz="700"/>
                    </a:p>
                  </a:txBody>
                  <a:tcPr/>
                </a:tc>
                <a:tc hMerge="1">
                  <a:txBody>
                    <a:bodyPr/>
                    <a:lstStyle/>
                    <a:p>
                      <a:endParaRPr lang="en-US" sz="700"/>
                    </a:p>
                  </a:txBody>
                  <a:tcPr/>
                </a:tc>
                <a:tc hMerge="1">
                  <a:txBody>
                    <a:bodyPr/>
                    <a:lstStyle/>
                    <a:p>
                      <a:endParaRPr lang="en-US" sz="700"/>
                    </a:p>
                  </a:txBody>
                  <a:tcPr/>
                </a:tc>
                <a:tc hMerge="1">
                  <a:txBody>
                    <a:bodyPr/>
                    <a:lstStyle/>
                    <a:p>
                      <a:endParaRPr lang="en-US" sz="700"/>
                    </a:p>
                  </a:txBody>
                  <a:tcPr/>
                </a:tc>
                <a:extLst>
                  <a:ext uri="{0D108BD9-81ED-4DB2-BD59-A6C34878D82A}">
                    <a16:rowId xmlns:a16="http://schemas.microsoft.com/office/drawing/2014/main" val="10017"/>
                  </a:ext>
                </a:extLst>
              </a:tr>
              <a:tr h="211782">
                <a:tc>
                  <a:txBody>
                    <a:bodyPr/>
                    <a:lstStyle/>
                    <a:p>
                      <a:pPr marL="0" indent="0" algn="l">
                        <a:lnSpc>
                          <a:spcPts val="900"/>
                        </a:lnSpc>
                        <a:buNone/>
                      </a:pPr>
                      <a:r>
                        <a:rPr lang="en-US" sz="750" kern="0" spc="15" dirty="0">
                          <a:solidFill>
                            <a:srgbClr val="1B1A1A"/>
                          </a:solidFill>
                          <a:latin typeface="Quicksand SemiBold" pitchFamily="34" charset="0"/>
                        </a:rPr>
                        <a:t>Sysco</a:t>
                      </a:r>
                      <a:endParaRPr lang="en-US" sz="700" dirty="0"/>
                    </a:p>
                  </a:txBody>
                  <a:tcPr marL="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l">
                        <a:lnSpc>
                          <a:spcPts val="900"/>
                        </a:lnSpc>
                        <a:buNone/>
                      </a:pPr>
                      <a:r>
                        <a:rPr lang="en-US" sz="675" kern="0" spc="15" dirty="0">
                          <a:solidFill>
                            <a:srgbClr val="6F6A66"/>
                          </a:solidFill>
                          <a:latin typeface="Quicksand" pitchFamily="34" charset="0"/>
                        </a:rPr>
                        <a:t>SYY</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38.0</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51.3</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−4.4%</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0.61x</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11.4x</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12.1x</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15.3x</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+3.9%</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5.3%</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+6.1%</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extLst>
                  <a:ext uri="{0D108BD9-81ED-4DB2-BD59-A6C34878D82A}">
                    <a16:rowId xmlns:a16="http://schemas.microsoft.com/office/drawing/2014/main" val="10018"/>
                  </a:ext>
                </a:extLst>
              </a:tr>
              <a:tr h="211782">
                <a:tc>
                  <a:txBody>
                    <a:bodyPr/>
                    <a:lstStyle/>
                    <a:p>
                      <a:pPr marL="0" indent="0" algn="l">
                        <a:lnSpc>
                          <a:spcPts val="900"/>
                        </a:lnSpc>
                        <a:buNone/>
                      </a:pPr>
                      <a:r>
                        <a:rPr lang="en-US" sz="750" kern="0" spc="15" dirty="0">
                          <a:solidFill>
                            <a:srgbClr val="1B1A1A"/>
                          </a:solidFill>
                          <a:latin typeface="Quicksand SemiBold" pitchFamily="34" charset="0"/>
                        </a:rPr>
                        <a:t>US Foods</a:t>
                      </a:r>
                      <a:endParaRPr lang="en-US" sz="700" dirty="0"/>
                    </a:p>
                  </a:txBody>
                  <a:tcPr marL="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l">
                        <a:lnSpc>
                          <a:spcPts val="900"/>
                        </a:lnSpc>
                        <a:buNone/>
                      </a:pPr>
                      <a:r>
                        <a:rPr lang="en-US" sz="675" kern="0" spc="15" dirty="0">
                          <a:solidFill>
                            <a:srgbClr val="6F6A66"/>
                          </a:solidFill>
                          <a:latin typeface="Quicksand" pitchFamily="34" charset="0"/>
                        </a:rPr>
                        <a:t>USFD</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20.9</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26.3</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+27.8%</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0.65x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14.7x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13.3x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18.6x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+3.8%</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4.4%</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+5.2%</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19"/>
                  </a:ext>
                </a:extLst>
              </a:tr>
              <a:tr h="211782">
                <a:tc>
                  <a:txBody>
                    <a:bodyPr/>
                    <a:lstStyle/>
                    <a:p>
                      <a:pPr marL="0" indent="0" algn="l">
                        <a:lnSpc>
                          <a:spcPts val="900"/>
                        </a:lnSpc>
                        <a:buNone/>
                      </a:pPr>
                      <a:r>
                        <a:rPr lang="en-US" sz="750" kern="0" spc="15" dirty="0">
                          <a:solidFill>
                            <a:srgbClr val="1B1A1A"/>
                          </a:solidFill>
                          <a:latin typeface="Quicksand SemiBold" pitchFamily="34" charset="0"/>
                        </a:rPr>
                        <a:t>Performance Food Group</a:t>
                      </a:r>
                      <a:endParaRPr lang="en-US" sz="700" dirty="0"/>
                    </a:p>
                  </a:txBody>
                  <a:tcPr marL="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l">
                        <a:lnSpc>
                          <a:spcPts val="900"/>
                        </a:lnSpc>
                        <a:buNone/>
                      </a:pPr>
                      <a:r>
                        <a:rPr lang="en-US" sz="675" kern="0" spc="15" dirty="0">
                          <a:solidFill>
                            <a:srgbClr val="6F6A66"/>
                          </a:solidFill>
                          <a:latin typeface="Quicksand" pitchFamily="34" charset="0"/>
                        </a:rPr>
                        <a:t>PFGC</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14.8</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22.5</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−8.6%</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0.35x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13.2x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15.3x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16.5x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+7.4%</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2.6%</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+13.0%</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20"/>
                  </a:ext>
                </a:extLst>
              </a:tr>
              <a:tr h="211782">
                <a:tc>
                  <a:txBody>
                    <a:bodyPr/>
                    <a:lstStyle/>
                    <a:p>
                      <a:pPr marL="0" indent="0" algn="l">
                        <a:lnSpc>
                          <a:spcPts val="900"/>
                        </a:lnSpc>
                        <a:buNone/>
                      </a:pPr>
                      <a:r>
                        <a:rPr lang="en-US" sz="750" kern="0" spc="15" dirty="0">
                          <a:solidFill>
                            <a:srgbClr val="1B1A1A"/>
                          </a:solidFill>
                          <a:latin typeface="Quicksand SemiBold" pitchFamily="34" charset="0"/>
                        </a:rPr>
                        <a:t>Chefs' Warehouse</a:t>
                      </a:r>
                      <a:endParaRPr lang="en-US" sz="700" dirty="0"/>
                    </a:p>
                  </a:txBody>
                  <a:tcPr marL="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l">
                        <a:lnSpc>
                          <a:spcPts val="900"/>
                        </a:lnSpc>
                        <a:buNone/>
                      </a:pPr>
                      <a:r>
                        <a:rPr lang="en-US" sz="675" kern="0" spc="15" dirty="0">
                          <a:solidFill>
                            <a:srgbClr val="6F6A66"/>
                          </a:solidFill>
                          <a:latin typeface="Quicksand" pitchFamily="34" charset="0"/>
                        </a:rPr>
                        <a:t>CHEF</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4.6</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5.4</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+105.3%</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1.22x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20.5x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14.8x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40.8x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+11.2%</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5.9%</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+10.5%</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21"/>
                  </a:ext>
                </a:extLst>
              </a:tr>
              <a:tr h="211782">
                <a:tc>
                  <a:txBody>
                    <a:bodyPr/>
                    <a:lstStyle/>
                    <a:p>
                      <a:pPr marL="0" indent="0" algn="l">
                        <a:lnSpc>
                          <a:spcPts val="900"/>
                        </a:lnSpc>
                        <a:buNone/>
                      </a:pPr>
                      <a:r>
                        <a:rPr lang="en-US" sz="750" kern="0" spc="15" dirty="0">
                          <a:solidFill>
                            <a:srgbClr val="1B1A1A"/>
                          </a:solidFill>
                          <a:latin typeface="Quicksand SemiBold" pitchFamily="34" charset="0"/>
                        </a:rPr>
                        <a:t>United Natural Foods</a:t>
                      </a:r>
                      <a:endParaRPr lang="en-US" sz="700" dirty="0"/>
                    </a:p>
                  </a:txBody>
                  <a:tcPr marL="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l">
                        <a:lnSpc>
                          <a:spcPts val="900"/>
                        </a:lnSpc>
                        <a:buNone/>
                      </a:pPr>
                      <a:r>
                        <a:rPr lang="en-US" sz="675" kern="0" spc="15" dirty="0">
                          <a:solidFill>
                            <a:srgbClr val="6F6A66"/>
                          </a:solidFill>
                          <a:latin typeface="Quicksand" pitchFamily="34" charset="0"/>
                        </a:rPr>
                        <a:t>UNFI</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2.7</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5.7</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+6.6%</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0.18x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9.0x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10.6x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13.2x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−2.0%</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2.0%</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+1.3%</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22"/>
                  </a:ext>
                </a:extLst>
              </a:tr>
              <a:tr h="211782">
                <a:tc>
                  <a:txBody>
                    <a:bodyPr/>
                    <a:lstStyle/>
                    <a:p>
                      <a:pPr marL="0" indent="0" algn="l">
                        <a:lnSpc>
                          <a:spcPts val="900"/>
                        </a:lnSpc>
                        <a:buNone/>
                      </a:pPr>
                      <a:r>
                        <a:rPr lang="en-US" sz="750" kern="0" spc="15" dirty="0">
                          <a:solidFill>
                            <a:srgbClr val="1B1A1A"/>
                          </a:solidFill>
                          <a:latin typeface="Quicksand SemiBold" pitchFamily="34" charset="0"/>
                        </a:rPr>
                        <a:t>Middleby</a:t>
                      </a:r>
                      <a:endParaRPr lang="en-US" sz="700" dirty="0"/>
                    </a:p>
                  </a:txBody>
                  <a:tcPr marL="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l">
                        <a:lnSpc>
                          <a:spcPts val="900"/>
                        </a:lnSpc>
                        <a:buNone/>
                      </a:pPr>
                      <a:r>
                        <a:rPr lang="en-US" sz="675" kern="0" spc="15" dirty="0">
                          <a:solidFill>
                            <a:srgbClr val="6F6A66"/>
                          </a:solidFill>
                          <a:latin typeface="Quicksand" pitchFamily="34" charset="0"/>
                        </a:rPr>
                        <a:t>MIDD</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4.7</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6.6</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−25.2%</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1.96x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9.4x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16.5x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14.3x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n.m.</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20.7%</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n.m.</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23"/>
                  </a:ext>
                </a:extLst>
              </a:tr>
              <a:tr h="211782">
                <a:tc>
                  <a:txBody>
                    <a:bodyPr/>
                    <a:lstStyle/>
                    <a:p>
                      <a:pPr marL="0" indent="0" algn="l">
                        <a:lnSpc>
                          <a:spcPts val="900"/>
                        </a:lnSpc>
                        <a:buNone/>
                      </a:pPr>
                      <a:r>
                        <a:rPr lang="en-US" sz="750" b="1" kern="0" spc="15" dirty="0">
                          <a:solidFill>
                            <a:srgbClr val="1B1A1A"/>
                          </a:solidFill>
                          <a:latin typeface="Quicksand" pitchFamily="34" charset="0"/>
                        </a:rPr>
                        <a:t>Median</a:t>
                      </a:r>
                      <a:endParaRPr lang="en-US" sz="700" dirty="0"/>
                    </a:p>
                  </a:txBody>
                  <a:tcPr marL="5715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l">
                        <a:lnSpc>
                          <a:spcPts val="900"/>
                        </a:lnSpc>
                        <a:buNone/>
                      </a:pP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r">
                        <a:lnSpc>
                          <a:spcPts val="900"/>
                        </a:lnSpc>
                        <a:buNone/>
                      </a:pP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r">
                        <a:lnSpc>
                          <a:spcPts val="900"/>
                        </a:lnSpc>
                        <a:buNone/>
                      </a:pP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r">
                        <a:lnSpc>
                          <a:spcPts val="900"/>
                        </a:lnSpc>
                        <a:buNone/>
                      </a:pPr>
                      <a:r>
                        <a:rPr lang="en-US" sz="750" b="1" kern="0" spc="15" dirty="0">
                          <a:solidFill>
                            <a:srgbClr val="1B1A1A"/>
                          </a:solidFill>
                          <a:latin typeface="Quicksand" pitchFamily="34" charset="0"/>
                        </a:rPr>
                        <a:t>+1.1%</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r">
                        <a:lnSpc>
                          <a:spcPts val="900"/>
                        </a:lnSpc>
                        <a:buNone/>
                      </a:pPr>
                      <a:r>
                        <a:rPr lang="en-US" sz="750" b="1" kern="0" spc="15" dirty="0">
                          <a:solidFill>
                            <a:srgbClr val="1B1A1A"/>
                          </a:solidFill>
                          <a:latin typeface="Quicksand" pitchFamily="34" charset="0"/>
                        </a:rPr>
                        <a:t>0.63x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r">
                        <a:lnSpc>
                          <a:spcPts val="900"/>
                        </a:lnSpc>
                        <a:buNone/>
                      </a:pPr>
                      <a:r>
                        <a:rPr lang="en-US" sz="750" b="1" kern="0" spc="15" dirty="0">
                          <a:solidFill>
                            <a:srgbClr val="1B1A1A"/>
                          </a:solidFill>
                          <a:latin typeface="Quicksand" pitchFamily="34" charset="0"/>
                        </a:rPr>
                        <a:t>12.3x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r">
                        <a:lnSpc>
                          <a:spcPts val="900"/>
                        </a:lnSpc>
                        <a:buNone/>
                      </a:pPr>
                      <a:r>
                        <a:rPr lang="en-US" sz="750" b="1" kern="0" spc="15" dirty="0">
                          <a:solidFill>
                            <a:srgbClr val="1B1A1A"/>
                          </a:solidFill>
                          <a:latin typeface="Quicksand" pitchFamily="34" charset="0"/>
                        </a:rPr>
                        <a:t>14.1x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r">
                        <a:lnSpc>
                          <a:spcPts val="900"/>
                        </a:lnSpc>
                        <a:buNone/>
                      </a:pPr>
                      <a:r>
                        <a:rPr lang="en-US" sz="750" b="1" kern="0" spc="15" dirty="0">
                          <a:solidFill>
                            <a:srgbClr val="1B1A1A"/>
                          </a:solidFill>
                          <a:latin typeface="Quicksand" pitchFamily="34" charset="0"/>
                        </a:rPr>
                        <a:t>15.9x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r">
                        <a:lnSpc>
                          <a:spcPts val="900"/>
                        </a:lnSpc>
                        <a:buNone/>
                      </a:pPr>
                      <a:r>
                        <a:rPr lang="en-US" sz="750" b="1" kern="0" spc="15" dirty="0">
                          <a:solidFill>
                            <a:srgbClr val="1B1A1A"/>
                          </a:solidFill>
                          <a:latin typeface="Quicksand" pitchFamily="34" charset="0"/>
                        </a:rPr>
                        <a:t>+3.9%</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r">
                        <a:lnSpc>
                          <a:spcPts val="900"/>
                        </a:lnSpc>
                        <a:buNone/>
                      </a:pPr>
                      <a:r>
                        <a:rPr lang="en-US" sz="750" b="1" kern="0" spc="15" dirty="0">
                          <a:solidFill>
                            <a:srgbClr val="1B1A1A"/>
                          </a:solidFill>
                          <a:latin typeface="Quicksand" pitchFamily="34" charset="0"/>
                        </a:rPr>
                        <a:t>4.9%</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r">
                        <a:lnSpc>
                          <a:spcPts val="900"/>
                        </a:lnSpc>
                        <a:buNone/>
                      </a:pPr>
                      <a:r>
                        <a:rPr lang="en-US" sz="750" b="1" kern="0" spc="15" dirty="0">
                          <a:solidFill>
                            <a:srgbClr val="1B1A1A"/>
                          </a:solidFill>
                          <a:latin typeface="Quicksand" pitchFamily="34" charset="0"/>
                        </a:rPr>
                        <a:t>+6.1%</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extLst>
                  <a:ext uri="{0D108BD9-81ED-4DB2-BD59-A6C34878D82A}">
                    <a16:rowId xmlns:a16="http://schemas.microsoft.com/office/drawing/2014/main" val="10024"/>
                  </a:ext>
                </a:extLst>
              </a:tr>
            </a:tbl>
          </a:graphicData>
        </a:graphic>
      </p:graphicFrame>
      <p:sp>
        <p:nvSpPr>
          <p:cNvPr id="10" name="Shape 9"/>
          <p:cNvSpPr/>
          <p:nvPr/>
        </p:nvSpPr>
        <p:spPr>
          <a:xfrm>
            <a:off x="419100" y="7029450"/>
            <a:ext cx="9220200" cy="9525"/>
          </a:xfrm>
          <a:prstGeom prst="rect">
            <a:avLst/>
          </a:prstGeom>
          <a:solidFill>
            <a:srgbClr val="E3DCD3"/>
          </a:solidFill>
          <a:ln/>
        </p:spPr>
        <p:txBody>
          <a:bodyPr/>
          <a:lstStyle/>
          <a:p>
            <a:endParaRPr lang="en-US"/>
          </a:p>
        </p:txBody>
      </p:sp>
      <p:pic>
        <p:nvPicPr>
          <p:cNvPr id="11" name="Benchmark International" descr="Benchmark International"/>
          <p:cNvPicPr>
            <a:picLocks noChangeAspect="1"/>
          </p:cNvPicPr>
          <p:nvPr/>
        </p:nvPicPr>
        <p:blipFill>
          <a:blip r:embed="rId3"/>
          <a:stretch>
            <a:fillRect/>
          </a:stretch>
        </p:blipFill>
        <p:spPr>
          <a:xfrm>
            <a:off x="419100" y="7143750"/>
            <a:ext cx="914400" cy="171450"/>
          </a:xfrm>
          <a:prstGeom prst="rect">
            <a:avLst/>
          </a:prstGeom>
        </p:spPr>
      </p:pic>
      <p:sp>
        <p:nvSpPr>
          <p:cNvPr id="12" name="Text 11"/>
          <p:cNvSpPr txBox="1"/>
          <p:nvPr/>
        </p:nvSpPr>
        <p:spPr>
          <a:xfrm>
            <a:off x="1543050" y="7098506"/>
            <a:ext cx="7658100" cy="238125"/>
          </a:xfrm>
          <a:prstGeom prst="rect">
            <a:avLst/>
          </a:prstGeom>
          <a:noFill/>
          <a:ln/>
        </p:spPr>
        <p:txBody>
          <a:bodyPr wrap="square" lIns="0" tIns="0" rIns="0" bIns="0" rtlCol="0" anchor="t"/>
          <a:lstStyle/>
          <a:p>
            <a:pPr marL="0" indent="0" algn="l">
              <a:lnSpc>
                <a:spcPts val="938"/>
              </a:lnSpc>
              <a:buNone/>
            </a:pPr>
            <a:r>
              <a:rPr lang="en-US" sz="675" kern="0" spc="15" dirty="0">
                <a:solidFill>
                  <a:srgbClr val="6F6A66"/>
                </a:solidFill>
                <a:latin typeface="Quicksand" pitchFamily="34" charset="0"/>
              </a:rPr>
              <a:t>Source: </a:t>
            </a:r>
            <a:r>
              <a:rPr lang="en-US" sz="675" u="sng" kern="0" spc="15" dirty="0">
                <a:solidFill>
                  <a:srgbClr val="8C6239"/>
                </a:solidFill>
                <a:latin typeface="Quicksand" pitchFamily="34" charset="0"/>
                <a:hlinkClick r:id="rId4">
                  <a:extLst>
                    <a:ext uri="{A12FA001-AC4F-418D-AE19-62706E023703}">
                      <ahyp:hlinkClr xmlns:ahyp="http://schemas.microsoft.com/office/drawing/2018/hyperlinkcolor" val="tx"/>
                    </a:ext>
                  </a:extLst>
                </a:hlinkClick>
              </a:rPr>
              <a:t>StockAnalysis</a:t>
            </a:r>
            <a:r>
              <a:rPr lang="en-US" sz="675" kern="0" spc="15" dirty="0">
                <a:solidFill>
                  <a:srgbClr val="6F6A66"/>
                </a:solidFill>
                <a:latin typeface="Quicksand" pitchFamily="34" charset="0"/>
              </a:rPr>
              <a:t>, retrieved October 7, 2026; share prices are dated October 2 to 7. Multiples and margins use reported trailing EBITDA. n.m. marks a figure that is not comparable and is left out of the median; n.a. is not available. Year-ago multiples are four quarter-ends earlier, and multiple medians use companies with both readings.</a:t>
            </a:r>
            <a:endParaRPr lang="en-US" sz="675" dirty="0"/>
          </a:p>
        </p:txBody>
      </p:sp>
      <p:sp>
        <p:nvSpPr>
          <p:cNvPr id="13" name="Text 12"/>
          <p:cNvSpPr txBox="1"/>
          <p:nvPr/>
        </p:nvSpPr>
        <p:spPr>
          <a:xfrm>
            <a:off x="9515921" y="7162800"/>
            <a:ext cx="180529" cy="133350"/>
          </a:xfrm>
          <a:prstGeom prst="rect">
            <a:avLst/>
          </a:prstGeom>
          <a:noFill/>
          <a:ln/>
        </p:spPr>
        <p:txBody>
          <a:bodyPr wrap="none" lIns="0" tIns="0" rIns="0" bIns="0" rtlCol="0" anchor="t"/>
          <a:lstStyle/>
          <a:p>
            <a:pPr marL="0" indent="0" algn="l">
              <a:lnSpc>
                <a:spcPts val="1050"/>
              </a:lnSpc>
              <a:buNone/>
            </a:pPr>
            <a:r>
              <a:rPr lang="en-US" sz="713" b="1" kern="0" spc="150" dirty="0">
                <a:solidFill>
                  <a:srgbClr val="1B1A1A"/>
                </a:solidFill>
                <a:latin typeface="Quicksand" pitchFamily="34" charset="0"/>
              </a:rPr>
              <a:t>16</a:t>
            </a:r>
            <a:endParaRPr lang="en-US" sz="713"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1"/>
          <p:cNvSpPr/>
          <p:nvPr/>
        </p:nvSpPr>
        <p:spPr>
          <a:xfrm>
            <a:off x="0" y="0"/>
            <a:ext cx="10058400" cy="7772400"/>
          </a:xfrm>
          <a:prstGeom prst="rect">
            <a:avLst/>
          </a:prstGeom>
          <a:solidFill>
            <a:srgbClr val="FFFFFF"/>
          </a:solidFill>
          <a:ln/>
        </p:spPr>
        <p:txBody>
          <a:bodyPr/>
          <a:lstStyle/>
          <a:p>
            <a:endParaRPr lang="en-US"/>
          </a:p>
        </p:txBody>
      </p:sp>
      <p:sp>
        <p:nvSpPr>
          <p:cNvPr id="3" name="Shape 2"/>
          <p:cNvSpPr/>
          <p:nvPr/>
        </p:nvSpPr>
        <p:spPr>
          <a:xfrm>
            <a:off x="0" y="0"/>
            <a:ext cx="57150" cy="7772400"/>
          </a:xfrm>
          <a:prstGeom prst="rect">
            <a:avLst/>
          </a:prstGeom>
          <a:solidFill>
            <a:srgbClr val="B68757"/>
          </a:solidFill>
          <a:ln/>
        </p:spPr>
        <p:txBody>
          <a:bodyPr/>
          <a:lstStyle/>
          <a:p>
            <a:endParaRPr lang="en-US"/>
          </a:p>
        </p:txBody>
      </p:sp>
      <p:sp>
        <p:nvSpPr>
          <p:cNvPr id="4" name="Text 3"/>
          <p:cNvSpPr txBox="1"/>
          <p:nvPr/>
        </p:nvSpPr>
        <p:spPr>
          <a:xfrm>
            <a:off x="419100" y="376238"/>
            <a:ext cx="2618929" cy="133350"/>
          </a:xfrm>
          <a:prstGeom prst="rect">
            <a:avLst/>
          </a:prstGeom>
          <a:noFill/>
          <a:ln/>
        </p:spPr>
        <p:txBody>
          <a:bodyPr wrap="none" lIns="0" tIns="0" rIns="0" bIns="0" rtlCol="0" anchor="t"/>
          <a:lstStyle/>
          <a:p>
            <a:pPr marL="0" indent="0" algn="l">
              <a:lnSpc>
                <a:spcPts val="1050"/>
              </a:lnSpc>
              <a:buNone/>
            </a:pPr>
            <a:r>
              <a:rPr lang="en-US" sz="675" b="1" kern="0" spc="195" dirty="0">
                <a:solidFill>
                  <a:srgbClr val="8C6239"/>
                </a:solidFill>
                <a:latin typeface="Quicksand" pitchFamily="34" charset="0"/>
              </a:rPr>
              <a:t>CONSUMER  |  QUARTERLY SECTOR BRIEF</a:t>
            </a:r>
            <a:endParaRPr lang="en-US" sz="675" dirty="0"/>
          </a:p>
        </p:txBody>
      </p:sp>
      <p:sp>
        <p:nvSpPr>
          <p:cNvPr id="5" name="Text 4"/>
          <p:cNvSpPr txBox="1"/>
          <p:nvPr/>
        </p:nvSpPr>
        <p:spPr>
          <a:xfrm>
            <a:off x="9112597" y="381000"/>
            <a:ext cx="583853" cy="171450"/>
          </a:xfrm>
          <a:prstGeom prst="rect">
            <a:avLst/>
          </a:prstGeom>
          <a:noFill/>
          <a:ln/>
        </p:spPr>
        <p:txBody>
          <a:bodyPr wrap="none" lIns="0" tIns="0" rIns="0" bIns="0" rtlCol="0" anchor="t"/>
          <a:lstStyle/>
          <a:p>
            <a:pPr marL="0" indent="0" algn="l">
              <a:lnSpc>
                <a:spcPts val="1350"/>
              </a:lnSpc>
              <a:buNone/>
            </a:pPr>
            <a:r>
              <a:rPr lang="en-US" sz="900" kern="0" spc="90" dirty="0">
                <a:solidFill>
                  <a:srgbClr val="6F6A66"/>
                </a:solidFill>
                <a:latin typeface="Cinzel" pitchFamily="34" charset="0"/>
              </a:rPr>
              <a:t>Q4 2026</a:t>
            </a:r>
            <a:endParaRPr lang="en-US" sz="900" dirty="0"/>
          </a:p>
        </p:txBody>
      </p:sp>
      <p:sp>
        <p:nvSpPr>
          <p:cNvPr id="6" name="Text 5"/>
          <p:cNvSpPr txBox="1"/>
          <p:nvPr/>
        </p:nvSpPr>
        <p:spPr>
          <a:xfrm>
            <a:off x="419100" y="519113"/>
            <a:ext cx="9220200" cy="323850"/>
          </a:xfrm>
          <a:prstGeom prst="rect">
            <a:avLst/>
          </a:prstGeom>
          <a:noFill/>
          <a:ln/>
        </p:spPr>
        <p:txBody>
          <a:bodyPr wrap="none" lIns="0" tIns="0" rIns="0" bIns="0" rtlCol="0" anchor="t"/>
          <a:lstStyle/>
          <a:p>
            <a:pPr marL="0" indent="0" algn="l">
              <a:lnSpc>
                <a:spcPts val="2550"/>
              </a:lnSpc>
              <a:buNone/>
            </a:pPr>
            <a:r>
              <a:rPr lang="en-US" sz="2025" kern="0" spc="15" dirty="0">
                <a:solidFill>
                  <a:srgbClr val="1B1A1A"/>
                </a:solidFill>
                <a:latin typeface="Newsreader SemiBold" pitchFamily="34" charset="0"/>
              </a:rPr>
              <a:t>Public Company Metrics: Restaurants, Services and Retail</a:t>
            </a:r>
            <a:endParaRPr lang="en-US" sz="2025" dirty="0"/>
          </a:p>
        </p:txBody>
      </p:sp>
      <p:sp>
        <p:nvSpPr>
          <p:cNvPr id="7" name="Text 6"/>
          <p:cNvSpPr txBox="1"/>
          <p:nvPr/>
        </p:nvSpPr>
        <p:spPr>
          <a:xfrm>
            <a:off x="419100" y="883444"/>
            <a:ext cx="9220200" cy="176213"/>
          </a:xfrm>
          <a:prstGeom prst="rect">
            <a:avLst/>
          </a:prstGeom>
          <a:noFill/>
          <a:ln/>
        </p:spPr>
        <p:txBody>
          <a:bodyPr wrap="none" lIns="0" tIns="0" rIns="0" bIns="0" rtlCol="0" anchor="t"/>
          <a:lstStyle/>
          <a:p>
            <a:pPr marL="0" indent="0" algn="l">
              <a:lnSpc>
                <a:spcPts val="1388"/>
              </a:lnSpc>
              <a:buNone/>
            </a:pPr>
            <a:r>
              <a:rPr lang="en-US" sz="938" kern="0" spc="15" dirty="0">
                <a:solidFill>
                  <a:srgbClr val="6F6A66"/>
                </a:solidFill>
                <a:latin typeface="Quicksand" pitchFamily="34" charset="0"/>
              </a:rPr>
              <a:t>Rollins, Planet Fitness and Boyd Group shares have each fallen about half in a year while their revenue kept growing.</a:t>
            </a:r>
            <a:endParaRPr lang="en-US" sz="938" dirty="0"/>
          </a:p>
        </p:txBody>
      </p:sp>
      <p:sp>
        <p:nvSpPr>
          <p:cNvPr id="8" name="Shape 7"/>
          <p:cNvSpPr/>
          <p:nvPr/>
        </p:nvSpPr>
        <p:spPr>
          <a:xfrm>
            <a:off x="419100" y="1143000"/>
            <a:ext cx="9220200" cy="9525"/>
          </a:xfrm>
          <a:prstGeom prst="rect">
            <a:avLst/>
          </a:prstGeom>
          <a:solidFill>
            <a:srgbClr val="E3DCD3"/>
          </a:solidFill>
          <a:ln/>
        </p:spPr>
        <p:txBody>
          <a:bodyPr/>
          <a:lstStyle/>
          <a:p>
            <a:endParaRPr lang="en-US"/>
          </a:p>
        </p:txBody>
      </p:sp>
      <p:graphicFrame>
        <p:nvGraphicFramePr>
          <p:cNvPr id="18" name="Company metrics table"/>
          <p:cNvGraphicFramePr>
            <a:graphicFrameLocks noGrp="1"/>
          </p:cNvGraphicFramePr>
          <p:nvPr>
            <p:extLst>
              <p:ext uri="{D42A27DB-BD31-4B8C-83A1-F6EECF244321}">
                <p14:modId xmlns:p14="http://schemas.microsoft.com/office/powerpoint/2010/main" val="1579011935"/>
              </p:ext>
            </p:extLst>
          </p:nvPr>
        </p:nvGraphicFramePr>
        <p:xfrm>
          <a:off x="419100" y="1238250"/>
          <a:ext cx="9220200" cy="5697141"/>
        </p:xfrm>
        <a:graphic>
          <a:graphicData uri="http://schemas.openxmlformats.org/drawingml/2006/table">
            <a:tbl>
              <a:tblPr/>
              <a:tblGrid>
                <a:gridCol w="1676400">
                  <a:extLst>
                    <a:ext uri="{9D8B030D-6E8A-4147-A177-3AD203B41FA5}">
                      <a16:colId xmlns:a16="http://schemas.microsoft.com/office/drawing/2014/main" val="20000"/>
                    </a:ext>
                  </a:extLst>
                </a:gridCol>
                <a:gridCol w="495300">
                  <a:extLst>
                    <a:ext uri="{9D8B030D-6E8A-4147-A177-3AD203B41FA5}">
                      <a16:colId xmlns:a16="http://schemas.microsoft.com/office/drawing/2014/main" val="20001"/>
                    </a:ext>
                  </a:extLst>
                </a:gridCol>
                <a:gridCol w="704850">
                  <a:extLst>
                    <a:ext uri="{9D8B030D-6E8A-4147-A177-3AD203B41FA5}">
                      <a16:colId xmlns:a16="http://schemas.microsoft.com/office/drawing/2014/main" val="20002"/>
                    </a:ext>
                  </a:extLst>
                </a:gridCol>
                <a:gridCol w="704850">
                  <a:extLst>
                    <a:ext uri="{9D8B030D-6E8A-4147-A177-3AD203B41FA5}">
                      <a16:colId xmlns:a16="http://schemas.microsoft.com/office/drawing/2014/main" val="20003"/>
                    </a:ext>
                  </a:extLst>
                </a:gridCol>
                <a:gridCol w="704850">
                  <a:extLst>
                    <a:ext uri="{9D8B030D-6E8A-4147-A177-3AD203B41FA5}">
                      <a16:colId xmlns:a16="http://schemas.microsoft.com/office/drawing/2014/main" val="20004"/>
                    </a:ext>
                  </a:extLst>
                </a:gridCol>
                <a:gridCol w="704850">
                  <a:extLst>
                    <a:ext uri="{9D8B030D-6E8A-4147-A177-3AD203B41FA5}">
                      <a16:colId xmlns:a16="http://schemas.microsoft.com/office/drawing/2014/main" val="20005"/>
                    </a:ext>
                  </a:extLst>
                </a:gridCol>
                <a:gridCol w="704850">
                  <a:extLst>
                    <a:ext uri="{9D8B030D-6E8A-4147-A177-3AD203B41FA5}">
                      <a16:colId xmlns:a16="http://schemas.microsoft.com/office/drawing/2014/main" val="20006"/>
                    </a:ext>
                  </a:extLst>
                </a:gridCol>
                <a:gridCol w="704850">
                  <a:extLst>
                    <a:ext uri="{9D8B030D-6E8A-4147-A177-3AD203B41FA5}">
                      <a16:colId xmlns:a16="http://schemas.microsoft.com/office/drawing/2014/main" val="20007"/>
                    </a:ext>
                  </a:extLst>
                </a:gridCol>
                <a:gridCol w="704850">
                  <a:extLst>
                    <a:ext uri="{9D8B030D-6E8A-4147-A177-3AD203B41FA5}">
                      <a16:colId xmlns:a16="http://schemas.microsoft.com/office/drawing/2014/main" val="20008"/>
                    </a:ext>
                  </a:extLst>
                </a:gridCol>
                <a:gridCol w="704850">
                  <a:extLst>
                    <a:ext uri="{9D8B030D-6E8A-4147-A177-3AD203B41FA5}">
                      <a16:colId xmlns:a16="http://schemas.microsoft.com/office/drawing/2014/main" val="20009"/>
                    </a:ext>
                  </a:extLst>
                </a:gridCol>
                <a:gridCol w="704850">
                  <a:extLst>
                    <a:ext uri="{9D8B030D-6E8A-4147-A177-3AD203B41FA5}">
                      <a16:colId xmlns:a16="http://schemas.microsoft.com/office/drawing/2014/main" val="20010"/>
                    </a:ext>
                  </a:extLst>
                </a:gridCol>
                <a:gridCol w="704850">
                  <a:extLst>
                    <a:ext uri="{9D8B030D-6E8A-4147-A177-3AD203B41FA5}">
                      <a16:colId xmlns:a16="http://schemas.microsoft.com/office/drawing/2014/main" val="20011"/>
                    </a:ext>
                  </a:extLst>
                </a:gridCol>
              </a:tblGrid>
              <a:tr h="466725">
                <a:tc>
                  <a:txBody>
                    <a:bodyPr/>
                    <a:lstStyle/>
                    <a:p>
                      <a:pPr marL="0" indent="0" algn="l">
                        <a:lnSpc>
                          <a:spcPts val="788"/>
                        </a:lnSpc>
                        <a:buNone/>
                      </a:pPr>
                      <a:r>
                        <a:rPr lang="en-US" sz="570" b="1" kern="0" spc="75" dirty="0">
                          <a:solidFill>
                            <a:srgbClr val="1B1A1A"/>
                          </a:solidFill>
                          <a:latin typeface="Quicksand" pitchFamily="34" charset="0"/>
                        </a:rPr>
                        <a:t>COMPANY</a:t>
                      </a:r>
                      <a:endParaRPr lang="en-US" sz="700" dirty="0"/>
                    </a:p>
                  </a:txBody>
                  <a:tcPr marL="0" marR="0" marT="0" marB="47625" anchor="b">
                    <a:lnL w="0" cap="flat" cmpd="sng" algn="ctr">
                      <a:noFill/>
                    </a:lnL>
                    <a:lnR w="0" cap="flat" cmpd="sng" algn="ctr">
                      <a:noFill/>
                    </a:lnR>
                    <a:lnT w="0" cap="flat" cmpd="sng" algn="ctr">
                      <a:noFill/>
                    </a:lnT>
                    <a:lnB w="19050" cap="flat" cmpd="sng" algn="ctr">
                      <a:solidFill>
                        <a:srgbClr val="B68757"/>
                      </a:solidFill>
                      <a:prstDash val="solid"/>
                      <a:round/>
                      <a:headEnd type="none" w="med" len="med"/>
                      <a:tailEnd type="none" w="med" len="med"/>
                    </a:lnB>
                  </a:tcPr>
                </a:tc>
                <a:tc>
                  <a:txBody>
                    <a:bodyPr/>
                    <a:lstStyle/>
                    <a:p>
                      <a:pPr marL="0" indent="0" algn="l">
                        <a:lnSpc>
                          <a:spcPts val="788"/>
                        </a:lnSpc>
                        <a:buNone/>
                      </a:pPr>
                      <a:r>
                        <a:rPr lang="en-US" sz="570" b="1" kern="0" spc="75" dirty="0">
                          <a:solidFill>
                            <a:srgbClr val="1B1A1A"/>
                          </a:solidFill>
                          <a:latin typeface="Quicksand" pitchFamily="34" charset="0"/>
                        </a:rPr>
                        <a:t>TICKER</a:t>
                      </a:r>
                      <a:endParaRPr lang="en-US" sz="700" dirty="0"/>
                    </a:p>
                  </a:txBody>
                  <a:tcPr marL="76200" marR="0" marT="0" marB="47625" anchor="b">
                    <a:lnL w="0" cap="flat" cmpd="sng" algn="ctr">
                      <a:noFill/>
                    </a:lnL>
                    <a:lnR w="0" cap="flat" cmpd="sng" algn="ctr">
                      <a:noFill/>
                    </a:lnR>
                    <a:lnT w="0" cap="flat" cmpd="sng" algn="ctr">
                      <a:noFill/>
                    </a:lnT>
                    <a:lnB w="19050" cap="flat" cmpd="sng" algn="ctr">
                      <a:solidFill>
                        <a:srgbClr val="B68757"/>
                      </a:solidFill>
                      <a:prstDash val="solid"/>
                      <a:round/>
                      <a:headEnd type="none" w="med" len="med"/>
                      <a:tailEnd type="none" w="med" len="med"/>
                    </a:lnB>
                  </a:tcPr>
                </a:tc>
                <a:tc>
                  <a:txBody>
                    <a:bodyPr/>
                    <a:lstStyle/>
                    <a:p>
                      <a:pPr marL="0" indent="0" algn="r">
                        <a:lnSpc>
                          <a:spcPts val="788"/>
                        </a:lnSpc>
                        <a:buNone/>
                      </a:pPr>
                      <a:r>
                        <a:rPr lang="en-US" sz="570" b="1" kern="0" spc="75" dirty="0">
                          <a:solidFill>
                            <a:srgbClr val="1B1A1A"/>
                          </a:solidFill>
                          <a:latin typeface="Quicksand" pitchFamily="34" charset="0"/>
                        </a:rPr>
                        <a:t>MARKET CAP ($B)</a:t>
                      </a:r>
                      <a:endParaRPr lang="en-US" sz="700" dirty="0"/>
                    </a:p>
                  </a:txBody>
                  <a:tcPr marL="76200" marR="0" marT="0" marB="47625" anchor="b">
                    <a:lnL w="0" cap="flat" cmpd="sng" algn="ctr">
                      <a:noFill/>
                    </a:lnL>
                    <a:lnR w="0" cap="flat" cmpd="sng" algn="ctr">
                      <a:noFill/>
                    </a:lnR>
                    <a:lnT w="0" cap="flat" cmpd="sng" algn="ctr">
                      <a:noFill/>
                    </a:lnT>
                    <a:lnB w="19050" cap="flat" cmpd="sng" algn="ctr">
                      <a:solidFill>
                        <a:srgbClr val="B68757"/>
                      </a:solidFill>
                      <a:prstDash val="solid"/>
                      <a:round/>
                      <a:headEnd type="none" w="med" len="med"/>
                      <a:tailEnd type="none" w="med" len="med"/>
                    </a:lnB>
                  </a:tcPr>
                </a:tc>
                <a:tc>
                  <a:txBody>
                    <a:bodyPr/>
                    <a:lstStyle/>
                    <a:p>
                      <a:pPr marL="0" indent="0" algn="r">
                        <a:lnSpc>
                          <a:spcPts val="788"/>
                        </a:lnSpc>
                        <a:buNone/>
                      </a:pPr>
                      <a:r>
                        <a:rPr lang="en-US" sz="570" b="1" kern="0" spc="75" dirty="0">
                          <a:solidFill>
                            <a:srgbClr val="1B1A1A"/>
                          </a:solidFill>
                          <a:latin typeface="Quicksand" pitchFamily="34" charset="0"/>
                        </a:rPr>
                        <a:t>ENTERPRISE VALUE ($B)</a:t>
                      </a:r>
                      <a:endParaRPr lang="en-US" sz="700" dirty="0"/>
                    </a:p>
                  </a:txBody>
                  <a:tcPr marL="76200" marR="0" marT="0" marB="47625" anchor="b">
                    <a:lnL w="0" cap="flat" cmpd="sng" algn="ctr">
                      <a:noFill/>
                    </a:lnL>
                    <a:lnR w="0" cap="flat" cmpd="sng" algn="ctr">
                      <a:noFill/>
                    </a:lnR>
                    <a:lnT w="0" cap="flat" cmpd="sng" algn="ctr">
                      <a:noFill/>
                    </a:lnT>
                    <a:lnB w="19050" cap="flat" cmpd="sng" algn="ctr">
                      <a:solidFill>
                        <a:srgbClr val="B68757"/>
                      </a:solidFill>
                      <a:prstDash val="solid"/>
                      <a:round/>
                      <a:headEnd type="none" w="med" len="med"/>
                      <a:tailEnd type="none" w="med" len="med"/>
                    </a:lnB>
                  </a:tcPr>
                </a:tc>
                <a:tc>
                  <a:txBody>
                    <a:bodyPr/>
                    <a:lstStyle/>
                    <a:p>
                      <a:pPr marL="0" indent="0" algn="r">
                        <a:lnSpc>
                          <a:spcPts val="788"/>
                        </a:lnSpc>
                        <a:buNone/>
                      </a:pPr>
                      <a:r>
                        <a:rPr lang="en-US" sz="570" b="1" kern="0" spc="75" dirty="0">
                          <a:solidFill>
                            <a:srgbClr val="1B1A1A"/>
                          </a:solidFill>
                          <a:latin typeface="Quicksand" pitchFamily="34" charset="0"/>
                        </a:rPr>
                        <a:t>SHARE PRICE, 52 WEEKS</a:t>
                      </a:r>
                      <a:endParaRPr lang="en-US" sz="700" dirty="0"/>
                    </a:p>
                  </a:txBody>
                  <a:tcPr marL="76200" marR="0" marT="0" marB="47625" anchor="b">
                    <a:lnL w="0" cap="flat" cmpd="sng" algn="ctr">
                      <a:noFill/>
                    </a:lnL>
                    <a:lnR w="0" cap="flat" cmpd="sng" algn="ctr">
                      <a:noFill/>
                    </a:lnR>
                    <a:lnT w="0" cap="flat" cmpd="sng" algn="ctr">
                      <a:noFill/>
                    </a:lnT>
                    <a:lnB w="19050" cap="flat" cmpd="sng" algn="ctr">
                      <a:solidFill>
                        <a:srgbClr val="B68757"/>
                      </a:solidFill>
                      <a:prstDash val="solid"/>
                      <a:round/>
                      <a:headEnd type="none" w="med" len="med"/>
                      <a:tailEnd type="none" w="med" len="med"/>
                    </a:lnB>
                  </a:tcPr>
                </a:tc>
                <a:tc>
                  <a:txBody>
                    <a:bodyPr/>
                    <a:lstStyle/>
                    <a:p>
                      <a:pPr marL="0" indent="0" algn="r">
                        <a:lnSpc>
                          <a:spcPts val="788"/>
                        </a:lnSpc>
                        <a:buNone/>
                      </a:pPr>
                      <a:r>
                        <a:rPr lang="en-US" sz="570" b="1" kern="0" spc="75" dirty="0">
                          <a:solidFill>
                            <a:srgbClr val="1B1A1A"/>
                          </a:solidFill>
                          <a:latin typeface="Quicksand" pitchFamily="34" charset="0"/>
                        </a:rPr>
                        <a:t>EV / REVENUE</a:t>
                      </a:r>
                      <a:endParaRPr lang="en-US" sz="700" dirty="0"/>
                    </a:p>
                  </a:txBody>
                  <a:tcPr marL="76200" marR="0" marT="0" marB="47625" anchor="b">
                    <a:lnL w="0" cap="flat" cmpd="sng" algn="ctr">
                      <a:noFill/>
                    </a:lnL>
                    <a:lnR w="0" cap="flat" cmpd="sng" algn="ctr">
                      <a:noFill/>
                    </a:lnR>
                    <a:lnT w="0" cap="flat" cmpd="sng" algn="ctr">
                      <a:noFill/>
                    </a:lnT>
                    <a:lnB w="19050" cap="flat" cmpd="sng" algn="ctr">
                      <a:solidFill>
                        <a:srgbClr val="B68757"/>
                      </a:solidFill>
                      <a:prstDash val="solid"/>
                      <a:round/>
                      <a:headEnd type="none" w="med" len="med"/>
                      <a:tailEnd type="none" w="med" len="med"/>
                    </a:lnB>
                  </a:tcPr>
                </a:tc>
                <a:tc>
                  <a:txBody>
                    <a:bodyPr/>
                    <a:lstStyle/>
                    <a:p>
                      <a:pPr marL="0" indent="0" algn="r">
                        <a:lnSpc>
                          <a:spcPts val="788"/>
                        </a:lnSpc>
                        <a:buNone/>
                      </a:pPr>
                      <a:r>
                        <a:rPr lang="en-US" sz="570" b="1" kern="0" spc="75" dirty="0">
                          <a:solidFill>
                            <a:srgbClr val="1B1A1A"/>
                          </a:solidFill>
                          <a:latin typeface="Quicksand" pitchFamily="34" charset="0"/>
                        </a:rPr>
                        <a:t>EV / EBITDA TODAY</a:t>
                      </a:r>
                      <a:endParaRPr lang="en-US" sz="700" dirty="0"/>
                    </a:p>
                  </a:txBody>
                  <a:tcPr marL="76200" marR="0" marT="0" marB="47625" anchor="b">
                    <a:lnL w="0" cap="flat" cmpd="sng" algn="ctr">
                      <a:noFill/>
                    </a:lnL>
                    <a:lnR w="0" cap="flat" cmpd="sng" algn="ctr">
                      <a:noFill/>
                    </a:lnR>
                    <a:lnT w="0" cap="flat" cmpd="sng" algn="ctr">
                      <a:noFill/>
                    </a:lnT>
                    <a:lnB w="19050" cap="flat" cmpd="sng" algn="ctr">
                      <a:solidFill>
                        <a:srgbClr val="B68757"/>
                      </a:solidFill>
                      <a:prstDash val="solid"/>
                      <a:round/>
                      <a:headEnd type="none" w="med" len="med"/>
                      <a:tailEnd type="none" w="med" len="med"/>
                    </a:lnB>
                  </a:tcPr>
                </a:tc>
                <a:tc>
                  <a:txBody>
                    <a:bodyPr/>
                    <a:lstStyle/>
                    <a:p>
                      <a:pPr marL="0" indent="0" algn="r">
                        <a:lnSpc>
                          <a:spcPts val="788"/>
                        </a:lnSpc>
                        <a:buNone/>
                      </a:pPr>
                      <a:r>
                        <a:rPr lang="en-US" sz="570" b="1" kern="0" spc="75" dirty="0">
                          <a:solidFill>
                            <a:srgbClr val="1B1A1A"/>
                          </a:solidFill>
                          <a:latin typeface="Quicksand" pitchFamily="34" charset="0"/>
                        </a:rPr>
                        <a:t>EV / EBITDA A YEAR AGO</a:t>
                      </a:r>
                      <a:endParaRPr lang="en-US" sz="700" dirty="0"/>
                    </a:p>
                  </a:txBody>
                  <a:tcPr marL="76200" marR="0" marT="0" marB="47625" anchor="b">
                    <a:lnL w="0" cap="flat" cmpd="sng" algn="ctr">
                      <a:noFill/>
                    </a:lnL>
                    <a:lnR w="0" cap="flat" cmpd="sng" algn="ctr">
                      <a:noFill/>
                    </a:lnR>
                    <a:lnT w="0" cap="flat" cmpd="sng" algn="ctr">
                      <a:noFill/>
                    </a:lnT>
                    <a:lnB w="19050" cap="flat" cmpd="sng" algn="ctr">
                      <a:solidFill>
                        <a:srgbClr val="B68757"/>
                      </a:solidFill>
                      <a:prstDash val="solid"/>
                      <a:round/>
                      <a:headEnd type="none" w="med" len="med"/>
                      <a:tailEnd type="none" w="med" len="med"/>
                    </a:lnB>
                  </a:tcPr>
                </a:tc>
                <a:tc>
                  <a:txBody>
                    <a:bodyPr/>
                    <a:lstStyle/>
                    <a:p>
                      <a:pPr marL="0" indent="0" algn="r">
                        <a:lnSpc>
                          <a:spcPts val="788"/>
                        </a:lnSpc>
                        <a:buNone/>
                      </a:pPr>
                      <a:r>
                        <a:rPr lang="en-US" sz="570" b="1" kern="0" spc="75" dirty="0">
                          <a:solidFill>
                            <a:srgbClr val="1B1A1A"/>
                          </a:solidFill>
                          <a:latin typeface="Quicksand" pitchFamily="34" charset="0"/>
                        </a:rPr>
                        <a:t>FORWARD P/E</a:t>
                      </a:r>
                      <a:endParaRPr lang="en-US" sz="700" dirty="0"/>
                    </a:p>
                  </a:txBody>
                  <a:tcPr marL="76200" marR="0" marT="0" marB="47625" anchor="b">
                    <a:lnL w="0" cap="flat" cmpd="sng" algn="ctr">
                      <a:noFill/>
                    </a:lnL>
                    <a:lnR w="0" cap="flat" cmpd="sng" algn="ctr">
                      <a:noFill/>
                    </a:lnR>
                    <a:lnT w="0" cap="flat" cmpd="sng" algn="ctr">
                      <a:noFill/>
                    </a:lnT>
                    <a:lnB w="19050" cap="flat" cmpd="sng" algn="ctr">
                      <a:solidFill>
                        <a:srgbClr val="B68757"/>
                      </a:solidFill>
                      <a:prstDash val="solid"/>
                      <a:round/>
                      <a:headEnd type="none" w="med" len="med"/>
                      <a:tailEnd type="none" w="med" len="med"/>
                    </a:lnB>
                  </a:tcPr>
                </a:tc>
                <a:tc>
                  <a:txBody>
                    <a:bodyPr/>
                    <a:lstStyle/>
                    <a:p>
                      <a:pPr marL="0" indent="0" algn="r">
                        <a:lnSpc>
                          <a:spcPts val="788"/>
                        </a:lnSpc>
                        <a:buNone/>
                      </a:pPr>
                      <a:r>
                        <a:rPr lang="en-US" sz="570" b="1" kern="0" spc="75" dirty="0">
                          <a:solidFill>
                            <a:srgbClr val="1B1A1A"/>
                          </a:solidFill>
                          <a:latin typeface="Quicksand" pitchFamily="34" charset="0"/>
                        </a:rPr>
                        <a:t>REVENUE GROWTH, TRAILING</a:t>
                      </a:r>
                      <a:endParaRPr lang="en-US" sz="700" dirty="0"/>
                    </a:p>
                  </a:txBody>
                  <a:tcPr marL="76200" marR="0" marT="0" marB="47625" anchor="b">
                    <a:lnL w="0" cap="flat" cmpd="sng" algn="ctr">
                      <a:noFill/>
                    </a:lnL>
                    <a:lnR w="0" cap="flat" cmpd="sng" algn="ctr">
                      <a:noFill/>
                    </a:lnR>
                    <a:lnT w="0" cap="flat" cmpd="sng" algn="ctr">
                      <a:noFill/>
                    </a:lnT>
                    <a:lnB w="19050" cap="flat" cmpd="sng" algn="ctr">
                      <a:solidFill>
                        <a:srgbClr val="B68757"/>
                      </a:solidFill>
                      <a:prstDash val="solid"/>
                      <a:round/>
                      <a:headEnd type="none" w="med" len="med"/>
                      <a:tailEnd type="none" w="med" len="med"/>
                    </a:lnB>
                  </a:tcPr>
                </a:tc>
                <a:tc>
                  <a:txBody>
                    <a:bodyPr/>
                    <a:lstStyle/>
                    <a:p>
                      <a:pPr marL="0" indent="0" algn="r">
                        <a:lnSpc>
                          <a:spcPts val="788"/>
                        </a:lnSpc>
                        <a:buNone/>
                      </a:pPr>
                      <a:r>
                        <a:rPr lang="en-US" sz="570" b="1" kern="0" spc="75" dirty="0">
                          <a:solidFill>
                            <a:srgbClr val="1B1A1A"/>
                          </a:solidFill>
                          <a:latin typeface="Quicksand" pitchFamily="34" charset="0"/>
                        </a:rPr>
                        <a:t>EBITDA MARGIN</a:t>
                      </a:r>
                      <a:endParaRPr lang="en-US" sz="700" dirty="0"/>
                    </a:p>
                  </a:txBody>
                  <a:tcPr marL="76200" marR="0" marT="0" marB="47625" anchor="b">
                    <a:lnL w="0" cap="flat" cmpd="sng" algn="ctr">
                      <a:noFill/>
                    </a:lnL>
                    <a:lnR w="0" cap="flat" cmpd="sng" algn="ctr">
                      <a:noFill/>
                    </a:lnR>
                    <a:lnT w="0" cap="flat" cmpd="sng" algn="ctr">
                      <a:noFill/>
                    </a:lnT>
                    <a:lnB w="19050" cap="flat" cmpd="sng" algn="ctr">
                      <a:solidFill>
                        <a:srgbClr val="B68757"/>
                      </a:solidFill>
                      <a:prstDash val="solid"/>
                      <a:round/>
                      <a:headEnd type="none" w="med" len="med"/>
                      <a:tailEnd type="none" w="med" len="med"/>
                    </a:lnB>
                  </a:tcPr>
                </a:tc>
                <a:tc>
                  <a:txBody>
                    <a:bodyPr/>
                    <a:lstStyle/>
                    <a:p>
                      <a:pPr marL="0" indent="0" algn="r">
                        <a:lnSpc>
                          <a:spcPts val="788"/>
                        </a:lnSpc>
                        <a:buNone/>
                      </a:pPr>
                      <a:r>
                        <a:rPr lang="en-US" sz="570" b="1" kern="0" spc="75" dirty="0">
                          <a:solidFill>
                            <a:srgbClr val="1B1A1A"/>
                          </a:solidFill>
                          <a:latin typeface="Quicksand" pitchFamily="34" charset="0"/>
                        </a:rPr>
                        <a:t>REVENUE GROWTH, CURRENT YEAR EST.</a:t>
                      </a:r>
                      <a:endParaRPr lang="en-US" sz="700" dirty="0"/>
                    </a:p>
                  </a:txBody>
                  <a:tcPr marL="76200" marR="0" marT="0" marB="47625" anchor="b">
                    <a:lnL w="0" cap="flat" cmpd="sng" algn="ctr">
                      <a:noFill/>
                    </a:lnL>
                    <a:lnR w="0" cap="flat" cmpd="sng" algn="ctr">
                      <a:noFill/>
                    </a:lnR>
                    <a:lnT w="0" cap="flat" cmpd="sng" algn="ctr">
                      <a:noFill/>
                    </a:lnT>
                    <a:lnB w="19050" cap="flat" cmpd="sng" algn="ctr">
                      <a:solidFill>
                        <a:srgbClr val="B68757"/>
                      </a:solidFill>
                      <a:prstDash val="solid"/>
                      <a:round/>
                      <a:headEnd type="none" w="med" len="med"/>
                      <a:tailEnd type="none" w="med" len="med"/>
                    </a:lnB>
                  </a:tcPr>
                </a:tc>
                <a:extLst>
                  <a:ext uri="{0D108BD9-81ED-4DB2-BD59-A6C34878D82A}">
                    <a16:rowId xmlns:a16="http://schemas.microsoft.com/office/drawing/2014/main" val="10000"/>
                  </a:ext>
                </a:extLst>
              </a:tr>
              <a:tr h="251520">
                <a:tc gridSpan="12">
                  <a:txBody>
                    <a:bodyPr/>
                    <a:lstStyle/>
                    <a:p>
                      <a:pPr marL="0" indent="0" algn="l">
                        <a:lnSpc>
                          <a:spcPts val="1275"/>
                        </a:lnSpc>
                        <a:buNone/>
                      </a:pPr>
                      <a:r>
                        <a:rPr lang="en-US" sz="645" b="1" kern="0" spc="135" dirty="0">
                          <a:solidFill>
                            <a:srgbClr val="8C6239"/>
                          </a:solidFill>
                          <a:latin typeface="Quicksand" pitchFamily="34" charset="0"/>
                        </a:rPr>
                        <a:t>RESTAURANTS</a:t>
                      </a:r>
                      <a:endParaRPr lang="en-US" sz="700" dirty="0"/>
                    </a:p>
                  </a:txBody>
                  <a:tcPr marL="0" marR="0" marT="0" marB="28575" anchor="b">
                    <a:lnL w="0" cap="flat" cmpd="sng" algn="ctr">
                      <a:noFill/>
                    </a:lnL>
                    <a:lnR w="0" cap="flat" cmpd="sng" algn="ctr">
                      <a:noFill/>
                    </a:lnR>
                    <a:lnT w="19050" cap="flat" cmpd="sng" algn="ctr">
                      <a:solidFill>
                        <a:srgbClr val="B68757"/>
                      </a:solidFill>
                      <a:prstDash val="solid"/>
                      <a:round/>
                      <a:headEnd type="none" w="med" len="med"/>
                      <a:tailEnd type="none" w="med" len="med"/>
                    </a:lnT>
                    <a:lnB w="0" cap="flat" cmpd="sng" algn="ctr">
                      <a:noFill/>
                    </a:lnB>
                  </a:tcPr>
                </a:tc>
                <a:tc hMerge="1">
                  <a:txBody>
                    <a:bodyPr/>
                    <a:lstStyle/>
                    <a:p>
                      <a:endParaRPr lang="en-US" sz="700"/>
                    </a:p>
                  </a:txBody>
                  <a:tcPr/>
                </a:tc>
                <a:tc hMerge="1">
                  <a:txBody>
                    <a:bodyPr/>
                    <a:lstStyle/>
                    <a:p>
                      <a:endParaRPr lang="en-US" sz="700"/>
                    </a:p>
                  </a:txBody>
                  <a:tcPr/>
                </a:tc>
                <a:tc hMerge="1">
                  <a:txBody>
                    <a:bodyPr/>
                    <a:lstStyle/>
                    <a:p>
                      <a:endParaRPr lang="en-US" sz="700"/>
                    </a:p>
                  </a:txBody>
                  <a:tcPr/>
                </a:tc>
                <a:tc hMerge="1">
                  <a:txBody>
                    <a:bodyPr/>
                    <a:lstStyle/>
                    <a:p>
                      <a:endParaRPr lang="en-US" sz="700"/>
                    </a:p>
                  </a:txBody>
                  <a:tcPr/>
                </a:tc>
                <a:tc hMerge="1">
                  <a:txBody>
                    <a:bodyPr/>
                    <a:lstStyle/>
                    <a:p>
                      <a:endParaRPr lang="en-US" sz="700"/>
                    </a:p>
                  </a:txBody>
                  <a:tcPr/>
                </a:tc>
                <a:tc hMerge="1">
                  <a:txBody>
                    <a:bodyPr/>
                    <a:lstStyle/>
                    <a:p>
                      <a:endParaRPr lang="en-US" sz="700"/>
                    </a:p>
                  </a:txBody>
                  <a:tcPr/>
                </a:tc>
                <a:tc hMerge="1">
                  <a:txBody>
                    <a:bodyPr/>
                    <a:lstStyle/>
                    <a:p>
                      <a:endParaRPr lang="en-US" sz="700"/>
                    </a:p>
                  </a:txBody>
                  <a:tcPr/>
                </a:tc>
                <a:tc hMerge="1">
                  <a:txBody>
                    <a:bodyPr/>
                    <a:lstStyle/>
                    <a:p>
                      <a:endParaRPr lang="en-US" sz="700"/>
                    </a:p>
                  </a:txBody>
                  <a:tcPr/>
                </a:tc>
                <a:tc hMerge="1">
                  <a:txBody>
                    <a:bodyPr/>
                    <a:lstStyle/>
                    <a:p>
                      <a:endParaRPr lang="en-US" sz="700"/>
                    </a:p>
                  </a:txBody>
                  <a:tcPr/>
                </a:tc>
                <a:tc hMerge="1">
                  <a:txBody>
                    <a:bodyPr/>
                    <a:lstStyle/>
                    <a:p>
                      <a:endParaRPr lang="en-US" sz="700"/>
                    </a:p>
                  </a:txBody>
                  <a:tcPr/>
                </a:tc>
                <a:tc hMerge="1">
                  <a:txBody>
                    <a:bodyPr/>
                    <a:lstStyle/>
                    <a:p>
                      <a:endParaRPr lang="en-US" sz="700"/>
                    </a:p>
                  </a:txBody>
                  <a:tcPr/>
                </a:tc>
                <a:extLst>
                  <a:ext uri="{0D108BD9-81ED-4DB2-BD59-A6C34878D82A}">
                    <a16:rowId xmlns:a16="http://schemas.microsoft.com/office/drawing/2014/main" val="10001"/>
                  </a:ext>
                </a:extLst>
              </a:tr>
              <a:tr h="203448">
                <a:tc>
                  <a:txBody>
                    <a:bodyPr/>
                    <a:lstStyle/>
                    <a:p>
                      <a:pPr marL="0" indent="0" algn="l">
                        <a:lnSpc>
                          <a:spcPts val="900"/>
                        </a:lnSpc>
                        <a:buNone/>
                      </a:pPr>
                      <a:r>
                        <a:rPr lang="en-US" sz="750" kern="0" spc="15" dirty="0">
                          <a:solidFill>
                            <a:srgbClr val="1B1A1A"/>
                          </a:solidFill>
                          <a:latin typeface="Quicksand SemiBold" pitchFamily="34" charset="0"/>
                        </a:rPr>
                        <a:t>Darden Restaurants</a:t>
                      </a:r>
                      <a:endParaRPr lang="en-US" sz="700" dirty="0"/>
                    </a:p>
                  </a:txBody>
                  <a:tcPr marL="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l">
                        <a:lnSpc>
                          <a:spcPts val="900"/>
                        </a:lnSpc>
                        <a:buNone/>
                      </a:pPr>
                      <a:r>
                        <a:rPr lang="en-US" sz="675" kern="0" spc="15" dirty="0">
                          <a:solidFill>
                            <a:srgbClr val="6F6A66"/>
                          </a:solidFill>
                          <a:latin typeface="Quicksand" pitchFamily="34" charset="0"/>
                        </a:rPr>
                        <a:t>DRI</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22.8</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31.1</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+4.0%</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2.35x</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14.6x</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14.2x</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17.5x</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+8.1%</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16.0%</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+3.7%</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extLst>
                  <a:ext uri="{0D108BD9-81ED-4DB2-BD59-A6C34878D82A}">
                    <a16:rowId xmlns:a16="http://schemas.microsoft.com/office/drawing/2014/main" val="10002"/>
                  </a:ext>
                </a:extLst>
              </a:tr>
              <a:tr h="203448">
                <a:tc>
                  <a:txBody>
                    <a:bodyPr/>
                    <a:lstStyle/>
                    <a:p>
                      <a:pPr marL="0" indent="0" algn="l">
                        <a:lnSpc>
                          <a:spcPts val="900"/>
                        </a:lnSpc>
                        <a:buNone/>
                      </a:pPr>
                      <a:r>
                        <a:rPr lang="en-US" sz="750" kern="0" spc="15" dirty="0">
                          <a:solidFill>
                            <a:srgbClr val="1B1A1A"/>
                          </a:solidFill>
                          <a:latin typeface="Quicksand SemiBold" pitchFamily="34" charset="0"/>
                        </a:rPr>
                        <a:t>Texas Roadhouse</a:t>
                      </a:r>
                      <a:endParaRPr lang="en-US" sz="700" dirty="0"/>
                    </a:p>
                  </a:txBody>
                  <a:tcPr marL="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l">
                        <a:lnSpc>
                          <a:spcPts val="900"/>
                        </a:lnSpc>
                        <a:buNone/>
                      </a:pPr>
                      <a:r>
                        <a:rPr lang="en-US" sz="675" kern="0" spc="15" dirty="0">
                          <a:solidFill>
                            <a:srgbClr val="6F6A66"/>
                          </a:solidFill>
                          <a:latin typeface="Quicksand" pitchFamily="34" charset="0"/>
                        </a:rPr>
                        <a:t>TXRH</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10.7</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11.6</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−2.0%</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1.87x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16.5x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16.4x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22.7x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+9.9%</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11.3%</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+11.3%</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3"/>
                  </a:ext>
                </a:extLst>
              </a:tr>
              <a:tr h="203448">
                <a:tc>
                  <a:txBody>
                    <a:bodyPr/>
                    <a:lstStyle/>
                    <a:p>
                      <a:pPr marL="0" indent="0" algn="l">
                        <a:lnSpc>
                          <a:spcPts val="900"/>
                        </a:lnSpc>
                        <a:buNone/>
                      </a:pPr>
                      <a:r>
                        <a:rPr lang="en-US" sz="750" kern="0" spc="15" dirty="0">
                          <a:solidFill>
                            <a:srgbClr val="1B1A1A"/>
                          </a:solidFill>
                          <a:latin typeface="Quicksand SemiBold" pitchFamily="34" charset="0"/>
                        </a:rPr>
                        <a:t>Chipotle</a:t>
                      </a:r>
                      <a:endParaRPr lang="en-US" sz="700" dirty="0"/>
                    </a:p>
                  </a:txBody>
                  <a:tcPr marL="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l">
                        <a:lnSpc>
                          <a:spcPts val="900"/>
                        </a:lnSpc>
                        <a:buNone/>
                      </a:pPr>
                      <a:r>
                        <a:rPr lang="en-US" sz="675" kern="0" spc="15" dirty="0">
                          <a:solidFill>
                            <a:srgbClr val="6F6A66"/>
                          </a:solidFill>
                          <a:latin typeface="Quicksand" pitchFamily="34" charset="0"/>
                        </a:rPr>
                        <a:t>CMG</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39.1</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43.8</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−26.0%</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3.53x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19.3x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24.0x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24.4x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+7.3%</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18.3%</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+9.3%</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4"/>
                  </a:ext>
                </a:extLst>
              </a:tr>
              <a:tr h="203448">
                <a:tc>
                  <a:txBody>
                    <a:bodyPr/>
                    <a:lstStyle/>
                    <a:p>
                      <a:pPr marL="0" indent="0" algn="l">
                        <a:lnSpc>
                          <a:spcPts val="900"/>
                        </a:lnSpc>
                        <a:buNone/>
                      </a:pPr>
                      <a:r>
                        <a:rPr lang="en-US" sz="750" kern="0" spc="15" dirty="0">
                          <a:solidFill>
                            <a:srgbClr val="1B1A1A"/>
                          </a:solidFill>
                          <a:latin typeface="Quicksand SemiBold" pitchFamily="34" charset="0"/>
                        </a:rPr>
                        <a:t>McDonald's</a:t>
                      </a:r>
                      <a:endParaRPr lang="en-US" sz="700" dirty="0"/>
                    </a:p>
                  </a:txBody>
                  <a:tcPr marL="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l">
                        <a:lnSpc>
                          <a:spcPts val="900"/>
                        </a:lnSpc>
                        <a:buNone/>
                      </a:pPr>
                      <a:r>
                        <a:rPr lang="en-US" sz="675" kern="0" spc="15" dirty="0">
                          <a:solidFill>
                            <a:srgbClr val="6F6A66"/>
                          </a:solidFill>
                          <a:latin typeface="Quicksand" pitchFamily="34" charset="0"/>
                        </a:rPr>
                        <a:t>MCD</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164.1</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217.8</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−21.3%</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7.88x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14.6x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19.0x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17.6x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+6.3%</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53.9%</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+4.8%</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5"/>
                  </a:ext>
                </a:extLst>
              </a:tr>
              <a:tr h="203448">
                <a:tc>
                  <a:txBody>
                    <a:bodyPr/>
                    <a:lstStyle/>
                    <a:p>
                      <a:pPr marL="0" indent="0" algn="l">
                        <a:lnSpc>
                          <a:spcPts val="900"/>
                        </a:lnSpc>
                        <a:buNone/>
                      </a:pPr>
                      <a:r>
                        <a:rPr lang="en-US" sz="750" kern="0" spc="15" dirty="0">
                          <a:solidFill>
                            <a:srgbClr val="1B1A1A"/>
                          </a:solidFill>
                          <a:latin typeface="Quicksand SemiBold" pitchFamily="34" charset="0"/>
                        </a:rPr>
                        <a:t>Domino's Pizza</a:t>
                      </a:r>
                      <a:endParaRPr lang="en-US" sz="700" dirty="0"/>
                    </a:p>
                  </a:txBody>
                  <a:tcPr marL="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l">
                        <a:lnSpc>
                          <a:spcPts val="900"/>
                        </a:lnSpc>
                        <a:buNone/>
                      </a:pPr>
                      <a:r>
                        <a:rPr lang="en-US" sz="675" kern="0" spc="15" dirty="0">
                          <a:solidFill>
                            <a:srgbClr val="6F6A66"/>
                          </a:solidFill>
                          <a:latin typeface="Quicksand" pitchFamily="34" charset="0"/>
                        </a:rPr>
                        <a:t>DPZ</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10.2</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15.2</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−27.0%</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2.98x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14.6x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20.6x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15.2x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+5.2%</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20.4%</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+4.9%</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6"/>
                  </a:ext>
                </a:extLst>
              </a:tr>
              <a:tr h="203448">
                <a:tc>
                  <a:txBody>
                    <a:bodyPr/>
                    <a:lstStyle/>
                    <a:p>
                      <a:pPr marL="0" indent="0" algn="l">
                        <a:lnSpc>
                          <a:spcPts val="900"/>
                        </a:lnSpc>
                        <a:buNone/>
                      </a:pPr>
                      <a:r>
                        <a:rPr lang="en-US" sz="750" kern="0" spc="15" dirty="0">
                          <a:solidFill>
                            <a:srgbClr val="1B1A1A"/>
                          </a:solidFill>
                          <a:latin typeface="Quicksand SemiBold" pitchFamily="34" charset="0"/>
                        </a:rPr>
                        <a:t>Brinker International</a:t>
                      </a:r>
                      <a:endParaRPr lang="en-US" sz="700" dirty="0"/>
                    </a:p>
                  </a:txBody>
                  <a:tcPr marL="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l">
                        <a:lnSpc>
                          <a:spcPts val="900"/>
                        </a:lnSpc>
                        <a:buNone/>
                      </a:pPr>
                      <a:r>
                        <a:rPr lang="en-US" sz="675" kern="0" spc="15" dirty="0">
                          <a:solidFill>
                            <a:srgbClr val="6F6A66"/>
                          </a:solidFill>
                          <a:latin typeface="Quicksand" pitchFamily="34" charset="0"/>
                        </a:rPr>
                        <a:t>EAT</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7.8</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9.5</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+47.8%</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1.65x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11.3x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9.6x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14.2x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+7.9%</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14.6%</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+8.2%</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7"/>
                  </a:ext>
                </a:extLst>
              </a:tr>
              <a:tr h="203448">
                <a:tc>
                  <a:txBody>
                    <a:bodyPr/>
                    <a:lstStyle/>
                    <a:p>
                      <a:pPr marL="0" indent="0" algn="l">
                        <a:lnSpc>
                          <a:spcPts val="900"/>
                        </a:lnSpc>
                        <a:buNone/>
                      </a:pPr>
                      <a:r>
                        <a:rPr lang="en-US" sz="750" b="1" kern="0" spc="15" dirty="0">
                          <a:solidFill>
                            <a:srgbClr val="1B1A1A"/>
                          </a:solidFill>
                          <a:latin typeface="Quicksand" pitchFamily="34" charset="0"/>
                        </a:rPr>
                        <a:t>Median</a:t>
                      </a:r>
                      <a:endParaRPr lang="en-US" sz="700" dirty="0"/>
                    </a:p>
                  </a:txBody>
                  <a:tcPr marL="5715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l">
                        <a:lnSpc>
                          <a:spcPts val="900"/>
                        </a:lnSpc>
                        <a:buNone/>
                      </a:pP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r">
                        <a:lnSpc>
                          <a:spcPts val="900"/>
                        </a:lnSpc>
                        <a:buNone/>
                      </a:pP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r">
                        <a:lnSpc>
                          <a:spcPts val="900"/>
                        </a:lnSpc>
                        <a:buNone/>
                      </a:pP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r">
                        <a:lnSpc>
                          <a:spcPts val="900"/>
                        </a:lnSpc>
                        <a:buNone/>
                      </a:pPr>
                      <a:r>
                        <a:rPr lang="en-US" sz="750" b="1" kern="0" spc="15" dirty="0">
                          <a:solidFill>
                            <a:srgbClr val="1B1A1A"/>
                          </a:solidFill>
                          <a:latin typeface="Quicksand" pitchFamily="34" charset="0"/>
                        </a:rPr>
                        <a:t>−11.7%</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r">
                        <a:lnSpc>
                          <a:spcPts val="900"/>
                        </a:lnSpc>
                        <a:buNone/>
                      </a:pPr>
                      <a:r>
                        <a:rPr lang="en-US" sz="750" b="1" kern="0" spc="15" dirty="0">
                          <a:solidFill>
                            <a:srgbClr val="1B1A1A"/>
                          </a:solidFill>
                          <a:latin typeface="Quicksand" pitchFamily="34" charset="0"/>
                        </a:rPr>
                        <a:t>2.67x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r">
                        <a:lnSpc>
                          <a:spcPts val="900"/>
                        </a:lnSpc>
                        <a:buNone/>
                      </a:pPr>
                      <a:r>
                        <a:rPr lang="en-US" sz="750" b="1" kern="0" spc="15" dirty="0">
                          <a:solidFill>
                            <a:srgbClr val="1B1A1A"/>
                          </a:solidFill>
                          <a:latin typeface="Quicksand" pitchFamily="34" charset="0"/>
                        </a:rPr>
                        <a:t>14.6x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r">
                        <a:lnSpc>
                          <a:spcPts val="900"/>
                        </a:lnSpc>
                        <a:buNone/>
                      </a:pPr>
                      <a:r>
                        <a:rPr lang="en-US" sz="750" b="1" kern="0" spc="15" dirty="0">
                          <a:solidFill>
                            <a:srgbClr val="1B1A1A"/>
                          </a:solidFill>
                          <a:latin typeface="Quicksand" pitchFamily="34" charset="0"/>
                        </a:rPr>
                        <a:t>17.7x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r">
                        <a:lnSpc>
                          <a:spcPts val="900"/>
                        </a:lnSpc>
                        <a:buNone/>
                      </a:pPr>
                      <a:r>
                        <a:rPr lang="en-US" sz="750" b="1" kern="0" spc="15" dirty="0">
                          <a:solidFill>
                            <a:srgbClr val="1B1A1A"/>
                          </a:solidFill>
                          <a:latin typeface="Quicksand" pitchFamily="34" charset="0"/>
                        </a:rPr>
                        <a:t>17.6x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r">
                        <a:lnSpc>
                          <a:spcPts val="900"/>
                        </a:lnSpc>
                        <a:buNone/>
                      </a:pPr>
                      <a:r>
                        <a:rPr lang="en-US" sz="750" b="1" kern="0" spc="15" dirty="0">
                          <a:solidFill>
                            <a:srgbClr val="1B1A1A"/>
                          </a:solidFill>
                          <a:latin typeface="Quicksand" pitchFamily="34" charset="0"/>
                        </a:rPr>
                        <a:t>+7.6%</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r">
                        <a:lnSpc>
                          <a:spcPts val="900"/>
                        </a:lnSpc>
                        <a:buNone/>
                      </a:pPr>
                      <a:r>
                        <a:rPr lang="en-US" sz="750" b="1" kern="0" spc="15" dirty="0">
                          <a:solidFill>
                            <a:srgbClr val="1B1A1A"/>
                          </a:solidFill>
                          <a:latin typeface="Quicksand" pitchFamily="34" charset="0"/>
                        </a:rPr>
                        <a:t>17.2%</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r">
                        <a:lnSpc>
                          <a:spcPts val="900"/>
                        </a:lnSpc>
                        <a:buNone/>
                      </a:pPr>
                      <a:r>
                        <a:rPr lang="en-US" sz="750" b="1" kern="0" spc="15" dirty="0">
                          <a:solidFill>
                            <a:srgbClr val="1B1A1A"/>
                          </a:solidFill>
                          <a:latin typeface="Quicksand" pitchFamily="34" charset="0"/>
                        </a:rPr>
                        <a:t>+6.5%</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extLst>
                  <a:ext uri="{0D108BD9-81ED-4DB2-BD59-A6C34878D82A}">
                    <a16:rowId xmlns:a16="http://schemas.microsoft.com/office/drawing/2014/main" val="10008"/>
                  </a:ext>
                </a:extLst>
              </a:tr>
              <a:tr h="251520">
                <a:tc gridSpan="12">
                  <a:txBody>
                    <a:bodyPr/>
                    <a:lstStyle/>
                    <a:p>
                      <a:pPr marL="0" indent="0" algn="l">
                        <a:lnSpc>
                          <a:spcPts val="1275"/>
                        </a:lnSpc>
                        <a:buNone/>
                      </a:pPr>
                      <a:r>
                        <a:rPr lang="en-US" sz="645" b="1" kern="0" spc="135" dirty="0">
                          <a:solidFill>
                            <a:srgbClr val="8C6239"/>
                          </a:solidFill>
                          <a:latin typeface="Quicksand" pitchFamily="34" charset="0"/>
                        </a:rPr>
                        <a:t>CONSUMER AND ROUTE-BASED SERVICES</a:t>
                      </a:r>
                      <a:endParaRPr lang="en-US" sz="700" dirty="0"/>
                    </a:p>
                  </a:txBody>
                  <a:tcPr marL="0" marR="0" marT="0" marB="28575" anchor="b">
                    <a:lnL w="0" cap="flat" cmpd="sng" algn="ctr">
                      <a:noFill/>
                    </a:lnL>
                    <a:lnR w="0" cap="flat" cmpd="sng" algn="ctr">
                      <a:noFill/>
                    </a:lnR>
                    <a:lnT w="0" cap="flat" cmpd="sng" algn="ctr">
                      <a:noFill/>
                    </a:lnT>
                    <a:lnB w="0" cap="flat" cmpd="sng" algn="ctr">
                      <a:noFill/>
                    </a:lnB>
                  </a:tcPr>
                </a:tc>
                <a:tc hMerge="1">
                  <a:txBody>
                    <a:bodyPr/>
                    <a:lstStyle/>
                    <a:p>
                      <a:endParaRPr lang="en-US" sz="700"/>
                    </a:p>
                  </a:txBody>
                  <a:tcPr/>
                </a:tc>
                <a:tc hMerge="1">
                  <a:txBody>
                    <a:bodyPr/>
                    <a:lstStyle/>
                    <a:p>
                      <a:endParaRPr lang="en-US" sz="700"/>
                    </a:p>
                  </a:txBody>
                  <a:tcPr/>
                </a:tc>
                <a:tc hMerge="1">
                  <a:txBody>
                    <a:bodyPr/>
                    <a:lstStyle/>
                    <a:p>
                      <a:endParaRPr lang="en-US" sz="700"/>
                    </a:p>
                  </a:txBody>
                  <a:tcPr/>
                </a:tc>
                <a:tc hMerge="1">
                  <a:txBody>
                    <a:bodyPr/>
                    <a:lstStyle/>
                    <a:p>
                      <a:endParaRPr lang="en-US" sz="700"/>
                    </a:p>
                  </a:txBody>
                  <a:tcPr/>
                </a:tc>
                <a:tc hMerge="1">
                  <a:txBody>
                    <a:bodyPr/>
                    <a:lstStyle/>
                    <a:p>
                      <a:endParaRPr lang="en-US" sz="700"/>
                    </a:p>
                  </a:txBody>
                  <a:tcPr/>
                </a:tc>
                <a:tc hMerge="1">
                  <a:txBody>
                    <a:bodyPr/>
                    <a:lstStyle/>
                    <a:p>
                      <a:endParaRPr lang="en-US" sz="700"/>
                    </a:p>
                  </a:txBody>
                  <a:tcPr/>
                </a:tc>
                <a:tc hMerge="1">
                  <a:txBody>
                    <a:bodyPr/>
                    <a:lstStyle/>
                    <a:p>
                      <a:endParaRPr lang="en-US" sz="700"/>
                    </a:p>
                  </a:txBody>
                  <a:tcPr/>
                </a:tc>
                <a:tc hMerge="1">
                  <a:txBody>
                    <a:bodyPr/>
                    <a:lstStyle/>
                    <a:p>
                      <a:endParaRPr lang="en-US" sz="700"/>
                    </a:p>
                  </a:txBody>
                  <a:tcPr/>
                </a:tc>
                <a:tc hMerge="1">
                  <a:txBody>
                    <a:bodyPr/>
                    <a:lstStyle/>
                    <a:p>
                      <a:endParaRPr lang="en-US" sz="700"/>
                    </a:p>
                  </a:txBody>
                  <a:tcPr/>
                </a:tc>
                <a:tc hMerge="1">
                  <a:txBody>
                    <a:bodyPr/>
                    <a:lstStyle/>
                    <a:p>
                      <a:endParaRPr lang="en-US" sz="700"/>
                    </a:p>
                  </a:txBody>
                  <a:tcPr/>
                </a:tc>
                <a:tc hMerge="1">
                  <a:txBody>
                    <a:bodyPr/>
                    <a:lstStyle/>
                    <a:p>
                      <a:endParaRPr lang="en-US" sz="700"/>
                    </a:p>
                  </a:txBody>
                  <a:tcPr/>
                </a:tc>
                <a:extLst>
                  <a:ext uri="{0D108BD9-81ED-4DB2-BD59-A6C34878D82A}">
                    <a16:rowId xmlns:a16="http://schemas.microsoft.com/office/drawing/2014/main" val="10009"/>
                  </a:ext>
                </a:extLst>
              </a:tr>
              <a:tr h="203448">
                <a:tc>
                  <a:txBody>
                    <a:bodyPr/>
                    <a:lstStyle/>
                    <a:p>
                      <a:pPr marL="0" indent="0" algn="l">
                        <a:lnSpc>
                          <a:spcPts val="900"/>
                        </a:lnSpc>
                        <a:buNone/>
                      </a:pPr>
                      <a:r>
                        <a:rPr lang="en-US" sz="750" kern="0" spc="15" dirty="0">
                          <a:solidFill>
                            <a:srgbClr val="1B1A1A"/>
                          </a:solidFill>
                          <a:latin typeface="Quicksand SemiBold" pitchFamily="34" charset="0"/>
                        </a:rPr>
                        <a:t>Rollins</a:t>
                      </a:r>
                      <a:endParaRPr lang="en-US" sz="700" dirty="0"/>
                    </a:p>
                  </a:txBody>
                  <a:tcPr marL="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l">
                        <a:lnSpc>
                          <a:spcPts val="900"/>
                        </a:lnSpc>
                        <a:buNone/>
                      </a:pPr>
                      <a:r>
                        <a:rPr lang="en-US" sz="675" kern="0" spc="15" dirty="0">
                          <a:solidFill>
                            <a:srgbClr val="6F6A66"/>
                          </a:solidFill>
                          <a:latin typeface="Quicksand" pitchFamily="34" charset="0"/>
                        </a:rPr>
                        <a:t>ROL</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15.1</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16.1</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−46.4%</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4.00x</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18.2x</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34.8x</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25.2x</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+9.9%</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22.0%</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+8.7%</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extLst>
                  <a:ext uri="{0D108BD9-81ED-4DB2-BD59-A6C34878D82A}">
                    <a16:rowId xmlns:a16="http://schemas.microsoft.com/office/drawing/2014/main" val="10010"/>
                  </a:ext>
                </a:extLst>
              </a:tr>
              <a:tr h="203448">
                <a:tc>
                  <a:txBody>
                    <a:bodyPr/>
                    <a:lstStyle/>
                    <a:p>
                      <a:pPr marL="0" indent="0" algn="l">
                        <a:lnSpc>
                          <a:spcPts val="900"/>
                        </a:lnSpc>
                        <a:buNone/>
                      </a:pPr>
                      <a:r>
                        <a:rPr lang="en-US" sz="750" kern="0" spc="15" dirty="0">
                          <a:solidFill>
                            <a:srgbClr val="1B1A1A"/>
                          </a:solidFill>
                          <a:latin typeface="Quicksand SemiBold" pitchFamily="34" charset="0"/>
                        </a:rPr>
                        <a:t>Frontdoor</a:t>
                      </a:r>
                      <a:endParaRPr lang="en-US" sz="700" dirty="0"/>
                    </a:p>
                  </a:txBody>
                  <a:tcPr marL="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l">
                        <a:lnSpc>
                          <a:spcPts val="900"/>
                        </a:lnSpc>
                        <a:buNone/>
                      </a:pPr>
                      <a:r>
                        <a:rPr lang="en-US" sz="675" kern="0" spc="15" dirty="0">
                          <a:solidFill>
                            <a:srgbClr val="6F6A66"/>
                          </a:solidFill>
                          <a:latin typeface="Quicksand" pitchFamily="34" charset="0"/>
                        </a:rPr>
                        <a:t>FTDR</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5.4</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5.9</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+15.5%</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2.75x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11.5x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11.4x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15.9x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+9.2%</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24.0%</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+5.1%</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11"/>
                  </a:ext>
                </a:extLst>
              </a:tr>
              <a:tr h="203448">
                <a:tc>
                  <a:txBody>
                    <a:bodyPr/>
                    <a:lstStyle/>
                    <a:p>
                      <a:pPr marL="0" indent="0" algn="l">
                        <a:lnSpc>
                          <a:spcPts val="900"/>
                        </a:lnSpc>
                        <a:buNone/>
                      </a:pPr>
                      <a:r>
                        <a:rPr lang="en-US" sz="750" kern="0" spc="15" dirty="0">
                          <a:solidFill>
                            <a:srgbClr val="1B1A1A"/>
                          </a:solidFill>
                          <a:latin typeface="Quicksand SemiBold" pitchFamily="34" charset="0"/>
                        </a:rPr>
                        <a:t>Driven Brands</a:t>
                      </a:r>
                      <a:endParaRPr lang="en-US" sz="700" dirty="0"/>
                    </a:p>
                  </a:txBody>
                  <a:tcPr marL="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l">
                        <a:lnSpc>
                          <a:spcPts val="900"/>
                        </a:lnSpc>
                        <a:buNone/>
                      </a:pPr>
                      <a:r>
                        <a:rPr lang="en-US" sz="675" kern="0" spc="15" dirty="0">
                          <a:solidFill>
                            <a:srgbClr val="6F6A66"/>
                          </a:solidFill>
                          <a:latin typeface="Quicksand" pitchFamily="34" charset="0"/>
                        </a:rPr>
                        <a:t>DRVN</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2.0</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4.0</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−24.9%</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2.06x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9.8x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16.0x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9.1x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+15.4%</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21.0%</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+7.7%</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12"/>
                  </a:ext>
                </a:extLst>
              </a:tr>
              <a:tr h="203448">
                <a:tc>
                  <a:txBody>
                    <a:bodyPr/>
                    <a:lstStyle/>
                    <a:p>
                      <a:pPr marL="0" indent="0" algn="l">
                        <a:lnSpc>
                          <a:spcPts val="900"/>
                        </a:lnSpc>
                        <a:buNone/>
                      </a:pPr>
                      <a:r>
                        <a:rPr lang="en-US" sz="750" kern="0" spc="15" dirty="0">
                          <a:solidFill>
                            <a:srgbClr val="1B1A1A"/>
                          </a:solidFill>
                          <a:latin typeface="Quicksand SemiBold" pitchFamily="34" charset="0"/>
                        </a:rPr>
                        <a:t>United Rentals</a:t>
                      </a:r>
                      <a:endParaRPr lang="en-US" sz="700" dirty="0"/>
                    </a:p>
                  </a:txBody>
                  <a:tcPr marL="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l">
                        <a:lnSpc>
                          <a:spcPts val="900"/>
                        </a:lnSpc>
                        <a:buNone/>
                      </a:pPr>
                      <a:r>
                        <a:rPr lang="en-US" sz="675" kern="0" spc="15" dirty="0">
                          <a:solidFill>
                            <a:srgbClr val="6F6A66"/>
                          </a:solidFill>
                          <a:latin typeface="Quicksand" pitchFamily="34" charset="0"/>
                        </a:rPr>
                        <a:t>URI</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67.3</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82.5</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+10.2%</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4.90x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17.6x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16.7x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20.5x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+6.9%</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27.9%</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+10.2%</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13"/>
                  </a:ext>
                </a:extLst>
              </a:tr>
              <a:tr h="203448">
                <a:tc>
                  <a:txBody>
                    <a:bodyPr/>
                    <a:lstStyle/>
                    <a:p>
                      <a:pPr marL="0" indent="0" algn="l">
                        <a:lnSpc>
                          <a:spcPts val="900"/>
                        </a:lnSpc>
                        <a:buNone/>
                      </a:pPr>
                      <a:r>
                        <a:rPr lang="en-US" sz="750" kern="0" spc="15" dirty="0">
                          <a:solidFill>
                            <a:srgbClr val="1B1A1A"/>
                          </a:solidFill>
                          <a:latin typeface="Quicksand SemiBold" pitchFamily="34" charset="0"/>
                        </a:rPr>
                        <a:t>Planet Fitness</a:t>
                      </a:r>
                      <a:endParaRPr lang="en-US" sz="700" dirty="0"/>
                    </a:p>
                  </a:txBody>
                  <a:tcPr marL="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l">
                        <a:lnSpc>
                          <a:spcPts val="900"/>
                        </a:lnSpc>
                        <a:buNone/>
                      </a:pPr>
                      <a:r>
                        <a:rPr lang="en-US" sz="675" kern="0" spc="15" dirty="0">
                          <a:solidFill>
                            <a:srgbClr val="6F6A66"/>
                          </a:solidFill>
                          <a:latin typeface="Quicksand" pitchFamily="34" charset="0"/>
                        </a:rPr>
                        <a:t>PLNT</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3.2</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5.8</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−56.4%</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4.41x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9.9x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20.3x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12.3x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+11.6%</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44.4%</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+15.0%</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14"/>
                  </a:ext>
                </a:extLst>
              </a:tr>
              <a:tr h="203448">
                <a:tc>
                  <a:txBody>
                    <a:bodyPr/>
                    <a:lstStyle/>
                    <a:p>
                      <a:pPr marL="0" indent="0" algn="l">
                        <a:lnSpc>
                          <a:spcPts val="900"/>
                        </a:lnSpc>
                        <a:buNone/>
                      </a:pPr>
                      <a:r>
                        <a:rPr lang="en-US" sz="750" kern="0" spc="15" dirty="0">
                          <a:solidFill>
                            <a:srgbClr val="1B1A1A"/>
                          </a:solidFill>
                          <a:latin typeface="Quicksand SemiBold" pitchFamily="34" charset="0"/>
                        </a:rPr>
                        <a:t>Service Corporation Intl</a:t>
                      </a:r>
                      <a:endParaRPr lang="en-US" sz="700" dirty="0"/>
                    </a:p>
                  </a:txBody>
                  <a:tcPr marL="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l">
                        <a:lnSpc>
                          <a:spcPts val="900"/>
                        </a:lnSpc>
                        <a:buNone/>
                      </a:pPr>
                      <a:r>
                        <a:rPr lang="en-US" sz="675" kern="0" spc="15" dirty="0">
                          <a:solidFill>
                            <a:srgbClr val="6F6A66"/>
                          </a:solidFill>
                          <a:latin typeface="Quicksand" pitchFamily="34" charset="0"/>
                        </a:rPr>
                        <a:t>SCI</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10.5</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15.5</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−8.3%</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3.57x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11.8x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12.5x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17.3x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+2.9%</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30.3%</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+3.6%</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15"/>
                  </a:ext>
                </a:extLst>
              </a:tr>
              <a:tr h="203448">
                <a:tc>
                  <a:txBody>
                    <a:bodyPr/>
                    <a:lstStyle/>
                    <a:p>
                      <a:pPr marL="0" indent="0" algn="l">
                        <a:lnSpc>
                          <a:spcPts val="900"/>
                        </a:lnSpc>
                        <a:buNone/>
                      </a:pPr>
                      <a:r>
                        <a:rPr lang="en-US" sz="750" kern="0" spc="15" dirty="0">
                          <a:solidFill>
                            <a:srgbClr val="1B1A1A"/>
                          </a:solidFill>
                          <a:latin typeface="Quicksand SemiBold" pitchFamily="34" charset="0"/>
                        </a:rPr>
                        <a:t>Boyd Group Services</a:t>
                      </a:r>
                      <a:endParaRPr lang="en-US" sz="700" dirty="0"/>
                    </a:p>
                  </a:txBody>
                  <a:tcPr marL="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l">
                        <a:lnSpc>
                          <a:spcPts val="900"/>
                        </a:lnSpc>
                        <a:buNone/>
                      </a:pPr>
                      <a:r>
                        <a:rPr lang="en-US" sz="675" kern="0" spc="15" dirty="0">
                          <a:solidFill>
                            <a:srgbClr val="6F6A66"/>
                          </a:solidFill>
                          <a:latin typeface="Quicksand" pitchFamily="34" charset="0"/>
                        </a:rPr>
                        <a:t>BGSI</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2.2</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4.2</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−52.7%</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1.15x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13.5x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21.3x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18.9x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+17.3%</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8.5%</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+29.8%</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16"/>
                  </a:ext>
                </a:extLst>
              </a:tr>
              <a:tr h="203448">
                <a:tc>
                  <a:txBody>
                    <a:bodyPr/>
                    <a:lstStyle/>
                    <a:p>
                      <a:pPr marL="0" indent="0" algn="l">
                        <a:lnSpc>
                          <a:spcPts val="900"/>
                        </a:lnSpc>
                        <a:buNone/>
                      </a:pPr>
                      <a:r>
                        <a:rPr lang="en-US" sz="750" b="1" kern="0" spc="15" dirty="0">
                          <a:solidFill>
                            <a:srgbClr val="1B1A1A"/>
                          </a:solidFill>
                          <a:latin typeface="Quicksand" pitchFamily="34" charset="0"/>
                        </a:rPr>
                        <a:t>Median</a:t>
                      </a:r>
                      <a:endParaRPr lang="en-US" sz="700" dirty="0"/>
                    </a:p>
                  </a:txBody>
                  <a:tcPr marL="5715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l">
                        <a:lnSpc>
                          <a:spcPts val="900"/>
                        </a:lnSpc>
                        <a:buNone/>
                      </a:pP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r">
                        <a:lnSpc>
                          <a:spcPts val="900"/>
                        </a:lnSpc>
                        <a:buNone/>
                      </a:pP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r">
                        <a:lnSpc>
                          <a:spcPts val="900"/>
                        </a:lnSpc>
                        <a:buNone/>
                      </a:pP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r">
                        <a:lnSpc>
                          <a:spcPts val="900"/>
                        </a:lnSpc>
                        <a:buNone/>
                      </a:pPr>
                      <a:r>
                        <a:rPr lang="en-US" sz="750" b="1" kern="0" spc="15" dirty="0">
                          <a:solidFill>
                            <a:srgbClr val="1B1A1A"/>
                          </a:solidFill>
                          <a:latin typeface="Quicksand" pitchFamily="34" charset="0"/>
                        </a:rPr>
                        <a:t>−24.9%</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r">
                        <a:lnSpc>
                          <a:spcPts val="900"/>
                        </a:lnSpc>
                        <a:buNone/>
                      </a:pPr>
                      <a:r>
                        <a:rPr lang="en-US" sz="750" b="1" kern="0" spc="15" dirty="0">
                          <a:solidFill>
                            <a:srgbClr val="1B1A1A"/>
                          </a:solidFill>
                          <a:latin typeface="Quicksand" pitchFamily="34" charset="0"/>
                        </a:rPr>
                        <a:t>3.57x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r">
                        <a:lnSpc>
                          <a:spcPts val="900"/>
                        </a:lnSpc>
                        <a:buNone/>
                      </a:pPr>
                      <a:r>
                        <a:rPr lang="en-US" sz="750" b="1" kern="0" spc="15" dirty="0">
                          <a:solidFill>
                            <a:srgbClr val="1B1A1A"/>
                          </a:solidFill>
                          <a:latin typeface="Quicksand" pitchFamily="34" charset="0"/>
                        </a:rPr>
                        <a:t>11.8x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r">
                        <a:lnSpc>
                          <a:spcPts val="900"/>
                        </a:lnSpc>
                        <a:buNone/>
                      </a:pPr>
                      <a:r>
                        <a:rPr lang="en-US" sz="750" b="1" kern="0" spc="15" dirty="0">
                          <a:solidFill>
                            <a:srgbClr val="1B1A1A"/>
                          </a:solidFill>
                          <a:latin typeface="Quicksand" pitchFamily="34" charset="0"/>
                        </a:rPr>
                        <a:t>16.7x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r">
                        <a:lnSpc>
                          <a:spcPts val="900"/>
                        </a:lnSpc>
                        <a:buNone/>
                      </a:pPr>
                      <a:r>
                        <a:rPr lang="en-US" sz="750" b="1" kern="0" spc="15" dirty="0">
                          <a:solidFill>
                            <a:srgbClr val="1B1A1A"/>
                          </a:solidFill>
                          <a:latin typeface="Quicksand" pitchFamily="34" charset="0"/>
                        </a:rPr>
                        <a:t>17.3x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r">
                        <a:lnSpc>
                          <a:spcPts val="900"/>
                        </a:lnSpc>
                        <a:buNone/>
                      </a:pPr>
                      <a:r>
                        <a:rPr lang="en-US" sz="750" b="1" kern="0" spc="15" dirty="0">
                          <a:solidFill>
                            <a:srgbClr val="1B1A1A"/>
                          </a:solidFill>
                          <a:latin typeface="Quicksand" pitchFamily="34" charset="0"/>
                        </a:rPr>
                        <a:t>+9.9%</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r">
                        <a:lnSpc>
                          <a:spcPts val="900"/>
                        </a:lnSpc>
                        <a:buNone/>
                      </a:pPr>
                      <a:r>
                        <a:rPr lang="en-US" sz="750" b="1" kern="0" spc="15" dirty="0">
                          <a:solidFill>
                            <a:srgbClr val="1B1A1A"/>
                          </a:solidFill>
                          <a:latin typeface="Quicksand" pitchFamily="34" charset="0"/>
                        </a:rPr>
                        <a:t>24.0%</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r">
                        <a:lnSpc>
                          <a:spcPts val="900"/>
                        </a:lnSpc>
                        <a:buNone/>
                      </a:pPr>
                      <a:r>
                        <a:rPr lang="en-US" sz="750" b="1" kern="0" spc="15" dirty="0">
                          <a:solidFill>
                            <a:srgbClr val="1B1A1A"/>
                          </a:solidFill>
                          <a:latin typeface="Quicksand" pitchFamily="34" charset="0"/>
                        </a:rPr>
                        <a:t>+8.7%</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extLst>
                  <a:ext uri="{0D108BD9-81ED-4DB2-BD59-A6C34878D82A}">
                    <a16:rowId xmlns:a16="http://schemas.microsoft.com/office/drawing/2014/main" val="10017"/>
                  </a:ext>
                </a:extLst>
              </a:tr>
              <a:tr h="251520">
                <a:tc gridSpan="12">
                  <a:txBody>
                    <a:bodyPr/>
                    <a:lstStyle/>
                    <a:p>
                      <a:pPr marL="0" indent="0" algn="l">
                        <a:lnSpc>
                          <a:spcPts val="1275"/>
                        </a:lnSpc>
                        <a:buNone/>
                      </a:pPr>
                      <a:r>
                        <a:rPr lang="en-US" sz="645" b="1" kern="0" spc="135" dirty="0">
                          <a:solidFill>
                            <a:srgbClr val="8C6239"/>
                          </a:solidFill>
                          <a:latin typeface="Quicksand" pitchFamily="34" charset="0"/>
                        </a:rPr>
                        <a:t>RETAIL</a:t>
                      </a:r>
                      <a:endParaRPr lang="en-US" sz="700" dirty="0"/>
                    </a:p>
                  </a:txBody>
                  <a:tcPr marL="0" marR="0" marT="0" marB="28575" anchor="b">
                    <a:lnL w="0" cap="flat" cmpd="sng" algn="ctr">
                      <a:noFill/>
                    </a:lnL>
                    <a:lnR w="0" cap="flat" cmpd="sng" algn="ctr">
                      <a:noFill/>
                    </a:lnR>
                    <a:lnT w="0" cap="flat" cmpd="sng" algn="ctr">
                      <a:noFill/>
                    </a:lnT>
                    <a:lnB w="0" cap="flat" cmpd="sng" algn="ctr">
                      <a:noFill/>
                    </a:lnB>
                  </a:tcPr>
                </a:tc>
                <a:tc hMerge="1">
                  <a:txBody>
                    <a:bodyPr/>
                    <a:lstStyle/>
                    <a:p>
                      <a:endParaRPr lang="en-US" sz="700"/>
                    </a:p>
                  </a:txBody>
                  <a:tcPr/>
                </a:tc>
                <a:tc hMerge="1">
                  <a:txBody>
                    <a:bodyPr/>
                    <a:lstStyle/>
                    <a:p>
                      <a:endParaRPr lang="en-US" sz="700"/>
                    </a:p>
                  </a:txBody>
                  <a:tcPr/>
                </a:tc>
                <a:tc hMerge="1">
                  <a:txBody>
                    <a:bodyPr/>
                    <a:lstStyle/>
                    <a:p>
                      <a:endParaRPr lang="en-US" sz="700"/>
                    </a:p>
                  </a:txBody>
                  <a:tcPr/>
                </a:tc>
                <a:tc hMerge="1">
                  <a:txBody>
                    <a:bodyPr/>
                    <a:lstStyle/>
                    <a:p>
                      <a:endParaRPr lang="en-US" sz="700"/>
                    </a:p>
                  </a:txBody>
                  <a:tcPr/>
                </a:tc>
                <a:tc hMerge="1">
                  <a:txBody>
                    <a:bodyPr/>
                    <a:lstStyle/>
                    <a:p>
                      <a:endParaRPr lang="en-US" sz="700"/>
                    </a:p>
                  </a:txBody>
                  <a:tcPr/>
                </a:tc>
                <a:tc hMerge="1">
                  <a:txBody>
                    <a:bodyPr/>
                    <a:lstStyle/>
                    <a:p>
                      <a:endParaRPr lang="en-US" sz="700"/>
                    </a:p>
                  </a:txBody>
                  <a:tcPr/>
                </a:tc>
                <a:tc hMerge="1">
                  <a:txBody>
                    <a:bodyPr/>
                    <a:lstStyle/>
                    <a:p>
                      <a:endParaRPr lang="en-US" sz="700"/>
                    </a:p>
                  </a:txBody>
                  <a:tcPr/>
                </a:tc>
                <a:tc hMerge="1">
                  <a:txBody>
                    <a:bodyPr/>
                    <a:lstStyle/>
                    <a:p>
                      <a:endParaRPr lang="en-US" sz="700"/>
                    </a:p>
                  </a:txBody>
                  <a:tcPr/>
                </a:tc>
                <a:tc hMerge="1">
                  <a:txBody>
                    <a:bodyPr/>
                    <a:lstStyle/>
                    <a:p>
                      <a:endParaRPr lang="en-US" sz="700"/>
                    </a:p>
                  </a:txBody>
                  <a:tcPr/>
                </a:tc>
                <a:tc hMerge="1">
                  <a:txBody>
                    <a:bodyPr/>
                    <a:lstStyle/>
                    <a:p>
                      <a:endParaRPr lang="en-US" sz="700"/>
                    </a:p>
                  </a:txBody>
                  <a:tcPr/>
                </a:tc>
                <a:tc hMerge="1">
                  <a:txBody>
                    <a:bodyPr/>
                    <a:lstStyle/>
                    <a:p>
                      <a:endParaRPr lang="en-US" sz="700"/>
                    </a:p>
                  </a:txBody>
                  <a:tcPr/>
                </a:tc>
                <a:extLst>
                  <a:ext uri="{0D108BD9-81ED-4DB2-BD59-A6C34878D82A}">
                    <a16:rowId xmlns:a16="http://schemas.microsoft.com/office/drawing/2014/main" val="10018"/>
                  </a:ext>
                </a:extLst>
              </a:tr>
              <a:tr h="203448">
                <a:tc>
                  <a:txBody>
                    <a:bodyPr/>
                    <a:lstStyle/>
                    <a:p>
                      <a:pPr marL="0" indent="0" algn="l">
                        <a:lnSpc>
                          <a:spcPts val="900"/>
                        </a:lnSpc>
                        <a:buNone/>
                      </a:pPr>
                      <a:r>
                        <a:rPr lang="en-US" sz="750" kern="0" spc="15" dirty="0">
                          <a:solidFill>
                            <a:srgbClr val="1B1A1A"/>
                          </a:solidFill>
                          <a:latin typeface="Quicksand SemiBold" pitchFamily="34" charset="0"/>
                        </a:rPr>
                        <a:t>Walmart</a:t>
                      </a:r>
                      <a:endParaRPr lang="en-US" sz="700" dirty="0"/>
                    </a:p>
                  </a:txBody>
                  <a:tcPr marL="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l">
                        <a:lnSpc>
                          <a:spcPts val="900"/>
                        </a:lnSpc>
                        <a:buNone/>
                      </a:pPr>
                      <a:r>
                        <a:rPr lang="en-US" sz="675" kern="0" spc="15" dirty="0">
                          <a:solidFill>
                            <a:srgbClr val="6F6A66"/>
                          </a:solidFill>
                          <a:latin typeface="Quicksand" pitchFamily="34" charset="0"/>
                        </a:rPr>
                        <a:t>WMT</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858.3</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921.9</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+5.4%</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1.25x</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20.9x</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20.2x</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35.7x</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+6.2%</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6.0%</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+5.6%</a:t>
                      </a:r>
                      <a:endParaRPr lang="en-US" sz="700" dirty="0"/>
                    </a:p>
                  </a:txBody>
                  <a:tcPr marL="76200" marR="0" marT="0" marB="0" anchor="ctr">
                    <a:lnL w="0" cap="flat" cmpd="sng" algn="ctr">
                      <a:noFill/>
                    </a:lnL>
                    <a:lnR w="0" cap="flat" cmpd="sng" algn="ctr">
                      <a:noFill/>
                    </a:lnR>
                    <a:lnT w="9525" cap="flat" cmpd="sng" algn="ctr">
                      <a:solidFill>
                        <a:srgbClr val="E3DCD3"/>
                      </a:solidFill>
                      <a:prstDash val="solid"/>
                      <a:round/>
                      <a:headEnd type="none" w="med" len="med"/>
                      <a:tailEnd type="none" w="med" len="med"/>
                    </a:lnT>
                    <a:lnB w="0" cap="flat" cmpd="sng" algn="ctr">
                      <a:noFill/>
                    </a:lnB>
                  </a:tcPr>
                </a:tc>
                <a:extLst>
                  <a:ext uri="{0D108BD9-81ED-4DB2-BD59-A6C34878D82A}">
                    <a16:rowId xmlns:a16="http://schemas.microsoft.com/office/drawing/2014/main" val="10019"/>
                  </a:ext>
                </a:extLst>
              </a:tr>
              <a:tr h="203448">
                <a:tc>
                  <a:txBody>
                    <a:bodyPr/>
                    <a:lstStyle/>
                    <a:p>
                      <a:pPr marL="0" indent="0" algn="l">
                        <a:lnSpc>
                          <a:spcPts val="900"/>
                        </a:lnSpc>
                        <a:buNone/>
                      </a:pPr>
                      <a:r>
                        <a:rPr lang="en-US" sz="750" kern="0" spc="15" dirty="0">
                          <a:solidFill>
                            <a:srgbClr val="1B1A1A"/>
                          </a:solidFill>
                          <a:latin typeface="Quicksand SemiBold" pitchFamily="34" charset="0"/>
                        </a:rPr>
                        <a:t>Costco</a:t>
                      </a:r>
                      <a:endParaRPr lang="en-US" sz="700" dirty="0"/>
                    </a:p>
                  </a:txBody>
                  <a:tcPr marL="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l">
                        <a:lnSpc>
                          <a:spcPts val="900"/>
                        </a:lnSpc>
                        <a:buNone/>
                      </a:pPr>
                      <a:r>
                        <a:rPr lang="en-US" sz="675" kern="0" spc="15" dirty="0">
                          <a:solidFill>
                            <a:srgbClr val="6F6A66"/>
                          </a:solidFill>
                          <a:latin typeface="Quicksand" pitchFamily="34" charset="0"/>
                        </a:rPr>
                        <a:t>COST</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419.0</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406.2</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+3.7%</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1.33x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28.1x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30.0x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41.1x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+10.1%</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4.7%</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+8.4%</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20"/>
                  </a:ext>
                </a:extLst>
              </a:tr>
              <a:tr h="203448">
                <a:tc>
                  <a:txBody>
                    <a:bodyPr/>
                    <a:lstStyle/>
                    <a:p>
                      <a:pPr marL="0" indent="0" algn="l">
                        <a:lnSpc>
                          <a:spcPts val="900"/>
                        </a:lnSpc>
                        <a:buNone/>
                      </a:pPr>
                      <a:r>
                        <a:rPr lang="en-US" sz="750" kern="0" spc="15" dirty="0">
                          <a:solidFill>
                            <a:srgbClr val="1B1A1A"/>
                          </a:solidFill>
                          <a:latin typeface="Quicksand SemiBold" pitchFamily="34" charset="0"/>
                        </a:rPr>
                        <a:t>Target</a:t>
                      </a:r>
                      <a:endParaRPr lang="en-US" sz="700" dirty="0"/>
                    </a:p>
                  </a:txBody>
                  <a:tcPr marL="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l">
                        <a:lnSpc>
                          <a:spcPts val="900"/>
                        </a:lnSpc>
                        <a:buNone/>
                      </a:pPr>
                      <a:r>
                        <a:rPr lang="en-US" sz="675" kern="0" spc="15" dirty="0">
                          <a:solidFill>
                            <a:srgbClr val="6F6A66"/>
                          </a:solidFill>
                          <a:latin typeface="Quicksand" pitchFamily="34" charset="0"/>
                        </a:rPr>
                        <a:t>TGT</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69.8</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83.6</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+72.3%</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0.78x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9.7x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7.2x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16.6x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+2.0%</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8.0%</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+5.2%</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21"/>
                  </a:ext>
                </a:extLst>
              </a:tr>
              <a:tr h="203448">
                <a:tc>
                  <a:txBody>
                    <a:bodyPr/>
                    <a:lstStyle/>
                    <a:p>
                      <a:pPr marL="0" indent="0" algn="l">
                        <a:lnSpc>
                          <a:spcPts val="900"/>
                        </a:lnSpc>
                        <a:buNone/>
                      </a:pPr>
                      <a:r>
                        <a:rPr lang="en-US" sz="750" kern="0" spc="15" dirty="0">
                          <a:solidFill>
                            <a:srgbClr val="1B1A1A"/>
                          </a:solidFill>
                          <a:latin typeface="Quicksand SemiBold" pitchFamily="34" charset="0"/>
                        </a:rPr>
                        <a:t>Kroger</a:t>
                      </a:r>
                      <a:endParaRPr lang="en-US" sz="700" dirty="0"/>
                    </a:p>
                  </a:txBody>
                  <a:tcPr marL="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l">
                        <a:lnSpc>
                          <a:spcPts val="900"/>
                        </a:lnSpc>
                        <a:buNone/>
                      </a:pPr>
                      <a:r>
                        <a:rPr lang="en-US" sz="675" kern="0" spc="15" dirty="0">
                          <a:solidFill>
                            <a:srgbClr val="6F6A66"/>
                          </a:solidFill>
                          <a:latin typeface="Quicksand" pitchFamily="34" charset="0"/>
                        </a:rPr>
                        <a:t>KR</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35.4</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57.9</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−7.5%</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0.39x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7.2x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7.9x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10.9x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+1.6%</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5.4%</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+2.2%</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22"/>
                  </a:ext>
                </a:extLst>
              </a:tr>
              <a:tr h="203448">
                <a:tc>
                  <a:txBody>
                    <a:bodyPr/>
                    <a:lstStyle/>
                    <a:p>
                      <a:pPr marL="0" indent="0" algn="l">
                        <a:lnSpc>
                          <a:spcPts val="900"/>
                        </a:lnSpc>
                        <a:buNone/>
                      </a:pPr>
                      <a:r>
                        <a:rPr lang="en-US" sz="750" kern="0" spc="15" dirty="0">
                          <a:solidFill>
                            <a:srgbClr val="1B1A1A"/>
                          </a:solidFill>
                          <a:latin typeface="Quicksand SemiBold" pitchFamily="34" charset="0"/>
                        </a:rPr>
                        <a:t>Dollar General</a:t>
                      </a:r>
                      <a:endParaRPr lang="en-US" sz="700" dirty="0"/>
                    </a:p>
                  </a:txBody>
                  <a:tcPr marL="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l">
                        <a:lnSpc>
                          <a:spcPts val="900"/>
                        </a:lnSpc>
                        <a:buNone/>
                      </a:pPr>
                      <a:r>
                        <a:rPr lang="en-US" sz="675" kern="0" spc="15" dirty="0">
                          <a:solidFill>
                            <a:srgbClr val="6F6A66"/>
                          </a:solidFill>
                          <a:latin typeface="Quicksand" pitchFamily="34" charset="0"/>
                        </a:rPr>
                        <a:t>DG</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27.1</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41.3</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+23.3%</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0.95x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11.6x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11.9x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14.9x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+4.8%</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8.2%</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+4.3%</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23"/>
                  </a:ext>
                </a:extLst>
              </a:tr>
              <a:tr h="203448">
                <a:tc>
                  <a:txBody>
                    <a:bodyPr/>
                    <a:lstStyle/>
                    <a:p>
                      <a:pPr marL="0" indent="0" algn="l">
                        <a:lnSpc>
                          <a:spcPts val="900"/>
                        </a:lnSpc>
                        <a:buNone/>
                      </a:pPr>
                      <a:r>
                        <a:rPr lang="en-US" sz="750" kern="0" spc="15" dirty="0">
                          <a:solidFill>
                            <a:srgbClr val="1B1A1A"/>
                          </a:solidFill>
                          <a:latin typeface="Quicksand SemiBold" pitchFamily="34" charset="0"/>
                        </a:rPr>
                        <a:t>Tractor Supply</a:t>
                      </a:r>
                      <a:endParaRPr lang="en-US" sz="700" dirty="0"/>
                    </a:p>
                  </a:txBody>
                  <a:tcPr marL="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l">
                        <a:lnSpc>
                          <a:spcPts val="900"/>
                        </a:lnSpc>
                        <a:buNone/>
                      </a:pPr>
                      <a:r>
                        <a:rPr lang="en-US" sz="675" kern="0" spc="15" dirty="0">
                          <a:solidFill>
                            <a:srgbClr val="6F6A66"/>
                          </a:solidFill>
                          <a:latin typeface="Quicksand" pitchFamily="34" charset="0"/>
                        </a:rPr>
                        <a:t>TSCO</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17.0</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23.3</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−40.0%</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1.48x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12.1x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17.9x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16.4x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+4.0%</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12.3%</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tc>
                  <a:txBody>
                    <a:bodyPr/>
                    <a:lstStyle/>
                    <a:p>
                      <a:pPr marL="0" indent="0" algn="r">
                        <a:lnSpc>
                          <a:spcPts val="900"/>
                        </a:lnSpc>
                        <a:buNone/>
                      </a:pPr>
                      <a:r>
                        <a:rPr lang="en-US" sz="750" kern="0" spc="15" dirty="0">
                          <a:solidFill>
                            <a:srgbClr val="333231"/>
                          </a:solidFill>
                          <a:latin typeface="Quicksand" pitchFamily="34" charset="0"/>
                        </a:rPr>
                        <a:t>+2.8%</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24"/>
                  </a:ext>
                </a:extLst>
              </a:tr>
              <a:tr h="203448">
                <a:tc>
                  <a:txBody>
                    <a:bodyPr/>
                    <a:lstStyle/>
                    <a:p>
                      <a:pPr marL="0" indent="0" algn="l">
                        <a:lnSpc>
                          <a:spcPts val="900"/>
                        </a:lnSpc>
                        <a:buNone/>
                      </a:pPr>
                      <a:r>
                        <a:rPr lang="en-US" sz="750" b="1" kern="0" spc="15" dirty="0">
                          <a:solidFill>
                            <a:srgbClr val="1B1A1A"/>
                          </a:solidFill>
                          <a:latin typeface="Quicksand" pitchFamily="34" charset="0"/>
                        </a:rPr>
                        <a:t>Median</a:t>
                      </a:r>
                      <a:endParaRPr lang="en-US" sz="700" dirty="0"/>
                    </a:p>
                  </a:txBody>
                  <a:tcPr marL="5715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l">
                        <a:lnSpc>
                          <a:spcPts val="900"/>
                        </a:lnSpc>
                        <a:buNone/>
                      </a:pP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r">
                        <a:lnSpc>
                          <a:spcPts val="900"/>
                        </a:lnSpc>
                        <a:buNone/>
                      </a:pP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r">
                        <a:lnSpc>
                          <a:spcPts val="900"/>
                        </a:lnSpc>
                        <a:buNone/>
                      </a:pP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r">
                        <a:lnSpc>
                          <a:spcPts val="900"/>
                        </a:lnSpc>
                        <a:buNone/>
                      </a:pPr>
                      <a:r>
                        <a:rPr lang="en-US" sz="750" b="1" kern="0" spc="15" dirty="0">
                          <a:solidFill>
                            <a:srgbClr val="1B1A1A"/>
                          </a:solidFill>
                          <a:latin typeface="Quicksand" pitchFamily="34" charset="0"/>
                        </a:rPr>
                        <a:t>+4.5%</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r">
                        <a:lnSpc>
                          <a:spcPts val="900"/>
                        </a:lnSpc>
                        <a:buNone/>
                      </a:pPr>
                      <a:r>
                        <a:rPr lang="en-US" sz="750" b="1" kern="0" spc="15" dirty="0">
                          <a:solidFill>
                            <a:srgbClr val="1B1A1A"/>
                          </a:solidFill>
                          <a:latin typeface="Quicksand" pitchFamily="34" charset="0"/>
                        </a:rPr>
                        <a:t>1.10x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r">
                        <a:lnSpc>
                          <a:spcPts val="900"/>
                        </a:lnSpc>
                        <a:buNone/>
                      </a:pPr>
                      <a:r>
                        <a:rPr lang="en-US" sz="750" b="1" kern="0" spc="15" dirty="0">
                          <a:solidFill>
                            <a:srgbClr val="1B1A1A"/>
                          </a:solidFill>
                          <a:latin typeface="Quicksand" pitchFamily="34" charset="0"/>
                        </a:rPr>
                        <a:t>11.8x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r">
                        <a:lnSpc>
                          <a:spcPts val="900"/>
                        </a:lnSpc>
                        <a:buNone/>
                      </a:pPr>
                      <a:r>
                        <a:rPr lang="en-US" sz="750" b="1" kern="0" spc="15" dirty="0">
                          <a:solidFill>
                            <a:srgbClr val="1B1A1A"/>
                          </a:solidFill>
                          <a:latin typeface="Quicksand" pitchFamily="34" charset="0"/>
                        </a:rPr>
                        <a:t>14.9x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r">
                        <a:lnSpc>
                          <a:spcPts val="900"/>
                        </a:lnSpc>
                        <a:buNone/>
                      </a:pPr>
                      <a:r>
                        <a:rPr lang="en-US" sz="750" b="1" kern="0" spc="15" dirty="0">
                          <a:solidFill>
                            <a:srgbClr val="1B1A1A"/>
                          </a:solidFill>
                          <a:latin typeface="Quicksand" pitchFamily="34" charset="0"/>
                        </a:rPr>
                        <a:t>16.5x</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r">
                        <a:lnSpc>
                          <a:spcPts val="900"/>
                        </a:lnSpc>
                        <a:buNone/>
                      </a:pPr>
                      <a:r>
                        <a:rPr lang="en-US" sz="750" b="1" kern="0" spc="15" dirty="0">
                          <a:solidFill>
                            <a:srgbClr val="1B1A1A"/>
                          </a:solidFill>
                          <a:latin typeface="Quicksand" pitchFamily="34" charset="0"/>
                        </a:rPr>
                        <a:t>+4.4%</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r">
                        <a:lnSpc>
                          <a:spcPts val="900"/>
                        </a:lnSpc>
                        <a:buNone/>
                      </a:pPr>
                      <a:r>
                        <a:rPr lang="en-US" sz="750" b="1" kern="0" spc="15" dirty="0">
                          <a:solidFill>
                            <a:srgbClr val="1B1A1A"/>
                          </a:solidFill>
                          <a:latin typeface="Quicksand" pitchFamily="34" charset="0"/>
                        </a:rPr>
                        <a:t>7.0%</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tc>
                  <a:txBody>
                    <a:bodyPr/>
                    <a:lstStyle/>
                    <a:p>
                      <a:pPr marL="0" indent="0" algn="r">
                        <a:lnSpc>
                          <a:spcPts val="900"/>
                        </a:lnSpc>
                        <a:buNone/>
                      </a:pPr>
                      <a:r>
                        <a:rPr lang="en-US" sz="750" b="1" kern="0" spc="15" dirty="0">
                          <a:solidFill>
                            <a:srgbClr val="1B1A1A"/>
                          </a:solidFill>
                          <a:latin typeface="Quicksand" pitchFamily="34" charset="0"/>
                        </a:rPr>
                        <a:t>+4.7%</a:t>
                      </a:r>
                      <a:endParaRPr lang="en-US" sz="700" dirty="0"/>
                    </a:p>
                  </a:txBody>
                  <a:tcPr marL="76200" marR="0" marT="0" marB="0" anchor="ctr">
                    <a:lnL w="0" cap="flat" cmpd="sng" algn="ctr">
                      <a:noFill/>
                    </a:lnL>
                    <a:lnR w="0" cap="flat" cmpd="sng" algn="ctr">
                      <a:noFill/>
                    </a:lnR>
                    <a:lnT w="9525" cap="flat" cmpd="sng" algn="ctr">
                      <a:noFill/>
                      <a:prstDash val="solid"/>
                      <a:round/>
                      <a:headEnd type="none" w="med" len="med"/>
                      <a:tailEnd type="none" w="med" len="med"/>
                    </a:lnT>
                    <a:lnB w="0" cap="flat" cmpd="sng" algn="ctr">
                      <a:noFill/>
                    </a:lnB>
                    <a:solidFill>
                      <a:srgbClr val="FAF7F3"/>
                    </a:solidFill>
                  </a:tcPr>
                </a:tc>
                <a:extLst>
                  <a:ext uri="{0D108BD9-81ED-4DB2-BD59-A6C34878D82A}">
                    <a16:rowId xmlns:a16="http://schemas.microsoft.com/office/drawing/2014/main" val="10025"/>
                  </a:ext>
                </a:extLst>
              </a:tr>
            </a:tbl>
          </a:graphicData>
        </a:graphic>
      </p:graphicFrame>
      <p:sp>
        <p:nvSpPr>
          <p:cNvPr id="10" name="Shape 9"/>
          <p:cNvSpPr/>
          <p:nvPr/>
        </p:nvSpPr>
        <p:spPr>
          <a:xfrm>
            <a:off x="419100" y="7029450"/>
            <a:ext cx="9220200" cy="9525"/>
          </a:xfrm>
          <a:prstGeom prst="rect">
            <a:avLst/>
          </a:prstGeom>
          <a:solidFill>
            <a:srgbClr val="E3DCD3"/>
          </a:solidFill>
          <a:ln/>
        </p:spPr>
        <p:txBody>
          <a:bodyPr/>
          <a:lstStyle/>
          <a:p>
            <a:endParaRPr lang="en-US"/>
          </a:p>
        </p:txBody>
      </p:sp>
      <p:pic>
        <p:nvPicPr>
          <p:cNvPr id="11" name="Benchmark International" descr="Benchmark International"/>
          <p:cNvPicPr>
            <a:picLocks noChangeAspect="1"/>
          </p:cNvPicPr>
          <p:nvPr/>
        </p:nvPicPr>
        <p:blipFill>
          <a:blip r:embed="rId3"/>
          <a:stretch>
            <a:fillRect/>
          </a:stretch>
        </p:blipFill>
        <p:spPr>
          <a:xfrm>
            <a:off x="419100" y="7143750"/>
            <a:ext cx="914400" cy="171450"/>
          </a:xfrm>
          <a:prstGeom prst="rect">
            <a:avLst/>
          </a:prstGeom>
        </p:spPr>
      </p:pic>
      <p:sp>
        <p:nvSpPr>
          <p:cNvPr id="12" name="Text 11"/>
          <p:cNvSpPr txBox="1"/>
          <p:nvPr/>
        </p:nvSpPr>
        <p:spPr>
          <a:xfrm>
            <a:off x="1543050" y="7098506"/>
            <a:ext cx="7658100" cy="238125"/>
          </a:xfrm>
          <a:prstGeom prst="rect">
            <a:avLst/>
          </a:prstGeom>
          <a:noFill/>
          <a:ln/>
        </p:spPr>
        <p:txBody>
          <a:bodyPr wrap="square" lIns="0" tIns="0" rIns="0" bIns="0" rtlCol="0" anchor="t"/>
          <a:lstStyle/>
          <a:p>
            <a:pPr marL="0" indent="0" algn="l">
              <a:lnSpc>
                <a:spcPts val="938"/>
              </a:lnSpc>
              <a:buNone/>
            </a:pPr>
            <a:r>
              <a:rPr lang="en-US" sz="675" kern="0" spc="15" dirty="0">
                <a:solidFill>
                  <a:srgbClr val="6F6A66"/>
                </a:solidFill>
                <a:latin typeface="Quicksand" pitchFamily="34" charset="0"/>
              </a:rPr>
              <a:t>Source: </a:t>
            </a:r>
            <a:r>
              <a:rPr lang="en-US" sz="675" u="sng" kern="0" spc="15" dirty="0">
                <a:solidFill>
                  <a:srgbClr val="8C6239"/>
                </a:solidFill>
                <a:latin typeface="Quicksand" pitchFamily="34" charset="0"/>
                <a:hlinkClick r:id="rId4">
                  <a:extLst>
                    <a:ext uri="{A12FA001-AC4F-418D-AE19-62706E023703}">
                      <ahyp:hlinkClr xmlns:ahyp="http://schemas.microsoft.com/office/drawing/2018/hyperlinkcolor" val="tx"/>
                    </a:ext>
                  </a:extLst>
                </a:hlinkClick>
              </a:rPr>
              <a:t>StockAnalysis</a:t>
            </a:r>
            <a:r>
              <a:rPr lang="en-US" sz="675" kern="0" spc="15" dirty="0">
                <a:solidFill>
                  <a:srgbClr val="6F6A66"/>
                </a:solidFill>
                <a:latin typeface="Quicksand" pitchFamily="34" charset="0"/>
              </a:rPr>
              <a:t>, retrieved October 7, 2026; share prices are dated October 2 to 7. Multiples and margins use reported trailing EBITDA. n.m. marks a figure that is not comparable and is left out of the median; n.a. is not available. Year-ago multiples are four quarter-ends earlier, and multiple medians use companies with both readings.</a:t>
            </a:r>
            <a:endParaRPr lang="en-US" sz="675" dirty="0"/>
          </a:p>
        </p:txBody>
      </p:sp>
      <p:sp>
        <p:nvSpPr>
          <p:cNvPr id="13" name="Text 12"/>
          <p:cNvSpPr txBox="1"/>
          <p:nvPr/>
        </p:nvSpPr>
        <p:spPr>
          <a:xfrm>
            <a:off x="9516219" y="7162800"/>
            <a:ext cx="180231" cy="133350"/>
          </a:xfrm>
          <a:prstGeom prst="rect">
            <a:avLst/>
          </a:prstGeom>
          <a:noFill/>
          <a:ln/>
        </p:spPr>
        <p:txBody>
          <a:bodyPr wrap="none" lIns="0" tIns="0" rIns="0" bIns="0" rtlCol="0" anchor="t"/>
          <a:lstStyle/>
          <a:p>
            <a:pPr marL="0" indent="0" algn="l">
              <a:lnSpc>
                <a:spcPts val="1050"/>
              </a:lnSpc>
              <a:buNone/>
            </a:pPr>
            <a:r>
              <a:rPr lang="en-US" sz="713" b="1" kern="0" spc="150" dirty="0">
                <a:solidFill>
                  <a:srgbClr val="1B1A1A"/>
                </a:solidFill>
                <a:latin typeface="Quicksand" pitchFamily="34" charset="0"/>
              </a:rPr>
              <a:t>17</a:t>
            </a:r>
            <a:endParaRPr lang="en-US" sz="713"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1"/>
          <p:cNvSpPr/>
          <p:nvPr/>
        </p:nvSpPr>
        <p:spPr>
          <a:xfrm>
            <a:off x="0" y="0"/>
            <a:ext cx="10058400" cy="7772400"/>
          </a:xfrm>
          <a:prstGeom prst="rect">
            <a:avLst/>
          </a:prstGeom>
          <a:solidFill>
            <a:srgbClr val="FFFFFF"/>
          </a:solidFill>
          <a:ln/>
        </p:spPr>
        <p:txBody>
          <a:bodyPr/>
          <a:lstStyle/>
          <a:p>
            <a:endParaRPr lang="en-US"/>
          </a:p>
        </p:txBody>
      </p:sp>
      <p:sp>
        <p:nvSpPr>
          <p:cNvPr id="3" name="Shape 2"/>
          <p:cNvSpPr/>
          <p:nvPr/>
        </p:nvSpPr>
        <p:spPr>
          <a:xfrm>
            <a:off x="0" y="0"/>
            <a:ext cx="57150" cy="7772400"/>
          </a:xfrm>
          <a:prstGeom prst="rect">
            <a:avLst/>
          </a:prstGeom>
          <a:solidFill>
            <a:srgbClr val="B68757"/>
          </a:solidFill>
          <a:ln/>
        </p:spPr>
        <p:txBody>
          <a:bodyPr/>
          <a:lstStyle/>
          <a:p>
            <a:endParaRPr lang="en-US"/>
          </a:p>
        </p:txBody>
      </p:sp>
      <p:sp>
        <p:nvSpPr>
          <p:cNvPr id="4" name="Text 3"/>
          <p:cNvSpPr txBox="1"/>
          <p:nvPr/>
        </p:nvSpPr>
        <p:spPr>
          <a:xfrm>
            <a:off x="419100" y="376238"/>
            <a:ext cx="2618929" cy="133350"/>
          </a:xfrm>
          <a:prstGeom prst="rect">
            <a:avLst/>
          </a:prstGeom>
          <a:noFill/>
          <a:ln/>
        </p:spPr>
        <p:txBody>
          <a:bodyPr wrap="none" lIns="0" tIns="0" rIns="0" bIns="0" rtlCol="0" anchor="t"/>
          <a:lstStyle/>
          <a:p>
            <a:pPr marL="0" indent="0" algn="l">
              <a:lnSpc>
                <a:spcPts val="1050"/>
              </a:lnSpc>
              <a:buNone/>
            </a:pPr>
            <a:r>
              <a:rPr lang="en-US" sz="675" b="1" kern="0" spc="195" dirty="0">
                <a:solidFill>
                  <a:srgbClr val="8C6239"/>
                </a:solidFill>
                <a:latin typeface="Quicksand" pitchFamily="34" charset="0"/>
              </a:rPr>
              <a:t>CONSUMER  |  QUARTERLY SECTOR BRIEF</a:t>
            </a:r>
            <a:endParaRPr lang="en-US" sz="675" dirty="0"/>
          </a:p>
        </p:txBody>
      </p:sp>
      <p:sp>
        <p:nvSpPr>
          <p:cNvPr id="5" name="Text 4"/>
          <p:cNvSpPr txBox="1"/>
          <p:nvPr/>
        </p:nvSpPr>
        <p:spPr>
          <a:xfrm>
            <a:off x="9112597" y="381000"/>
            <a:ext cx="583853" cy="171450"/>
          </a:xfrm>
          <a:prstGeom prst="rect">
            <a:avLst/>
          </a:prstGeom>
          <a:noFill/>
          <a:ln/>
        </p:spPr>
        <p:txBody>
          <a:bodyPr wrap="none" lIns="0" tIns="0" rIns="0" bIns="0" rtlCol="0" anchor="t"/>
          <a:lstStyle/>
          <a:p>
            <a:pPr marL="0" indent="0" algn="l">
              <a:lnSpc>
                <a:spcPts val="1350"/>
              </a:lnSpc>
              <a:buNone/>
            </a:pPr>
            <a:r>
              <a:rPr lang="en-US" sz="900" kern="0" spc="90" dirty="0">
                <a:solidFill>
                  <a:srgbClr val="6F6A66"/>
                </a:solidFill>
                <a:latin typeface="Cinzel" pitchFamily="34" charset="0"/>
              </a:rPr>
              <a:t>Q4 2026</a:t>
            </a:r>
            <a:endParaRPr lang="en-US" sz="900" dirty="0"/>
          </a:p>
        </p:txBody>
      </p:sp>
      <p:sp>
        <p:nvSpPr>
          <p:cNvPr id="6" name="Text 5"/>
          <p:cNvSpPr txBox="1"/>
          <p:nvPr/>
        </p:nvSpPr>
        <p:spPr>
          <a:xfrm>
            <a:off x="419100" y="519113"/>
            <a:ext cx="9220200" cy="323850"/>
          </a:xfrm>
          <a:prstGeom prst="rect">
            <a:avLst/>
          </a:prstGeom>
          <a:noFill/>
          <a:ln/>
        </p:spPr>
        <p:txBody>
          <a:bodyPr wrap="none" lIns="0" tIns="0" rIns="0" bIns="0" rtlCol="0" anchor="t"/>
          <a:lstStyle/>
          <a:p>
            <a:pPr marL="0" indent="0" algn="l">
              <a:lnSpc>
                <a:spcPts val="2550"/>
              </a:lnSpc>
              <a:buNone/>
            </a:pPr>
            <a:r>
              <a:rPr lang="en-US" sz="2025" kern="0" spc="15" dirty="0">
                <a:solidFill>
                  <a:srgbClr val="1B1A1A"/>
                </a:solidFill>
                <a:latin typeface="Newsreader SemiBold" pitchFamily="34" charset="0"/>
              </a:rPr>
              <a:t>Demand and Cost Indicators</a:t>
            </a:r>
            <a:endParaRPr lang="en-US" sz="2025" dirty="0"/>
          </a:p>
        </p:txBody>
      </p:sp>
      <p:sp>
        <p:nvSpPr>
          <p:cNvPr id="7" name="Text 6"/>
          <p:cNvSpPr txBox="1"/>
          <p:nvPr/>
        </p:nvSpPr>
        <p:spPr>
          <a:xfrm>
            <a:off x="419100" y="883444"/>
            <a:ext cx="9220200" cy="176213"/>
          </a:xfrm>
          <a:prstGeom prst="rect">
            <a:avLst/>
          </a:prstGeom>
          <a:noFill/>
          <a:ln/>
        </p:spPr>
        <p:txBody>
          <a:bodyPr wrap="none" lIns="0" tIns="0" rIns="0" bIns="0" rtlCol="0" anchor="t"/>
          <a:lstStyle/>
          <a:p>
            <a:pPr marL="0" indent="0" algn="l">
              <a:lnSpc>
                <a:spcPts val="1388"/>
              </a:lnSpc>
              <a:buNone/>
            </a:pPr>
            <a:r>
              <a:rPr lang="en-US" sz="938" kern="0" spc="15" dirty="0">
                <a:solidFill>
                  <a:srgbClr val="6F6A66"/>
                </a:solidFill>
                <a:latin typeface="Quicksand" pitchFamily="34" charset="0"/>
              </a:rPr>
              <a:t>Spending is rising in dollars while sentiment falls, food manufacturers’ selling prices are flat, and diesel costs two thirds more than a year ago.</a:t>
            </a:r>
            <a:endParaRPr lang="en-US" sz="938" dirty="0"/>
          </a:p>
        </p:txBody>
      </p:sp>
      <p:sp>
        <p:nvSpPr>
          <p:cNvPr id="8" name="Shape 7"/>
          <p:cNvSpPr/>
          <p:nvPr/>
        </p:nvSpPr>
        <p:spPr>
          <a:xfrm>
            <a:off x="419100" y="1143000"/>
            <a:ext cx="9220200" cy="9525"/>
          </a:xfrm>
          <a:prstGeom prst="rect">
            <a:avLst/>
          </a:prstGeom>
          <a:solidFill>
            <a:srgbClr val="E3DCD3"/>
          </a:solidFill>
          <a:ln/>
        </p:spPr>
        <p:txBody>
          <a:bodyPr/>
          <a:lstStyle/>
          <a:p>
            <a:endParaRPr lang="en-US"/>
          </a:p>
        </p:txBody>
      </p:sp>
      <p:sp>
        <p:nvSpPr>
          <p:cNvPr id="9" name="Shape 8"/>
          <p:cNvSpPr/>
          <p:nvPr/>
        </p:nvSpPr>
        <p:spPr>
          <a:xfrm>
            <a:off x="419100" y="1238250"/>
            <a:ext cx="2219325" cy="2790825"/>
          </a:xfrm>
          <a:prstGeom prst="rect">
            <a:avLst/>
          </a:prstGeom>
          <a:solidFill>
            <a:srgbClr val="FAF7F3"/>
          </a:solidFill>
          <a:ln/>
        </p:spPr>
        <p:txBody>
          <a:bodyPr/>
          <a:lstStyle/>
          <a:p>
            <a:endParaRPr lang="en-US"/>
          </a:p>
        </p:txBody>
      </p:sp>
      <p:sp>
        <p:nvSpPr>
          <p:cNvPr id="10" name="Shape 9"/>
          <p:cNvSpPr/>
          <p:nvPr/>
        </p:nvSpPr>
        <p:spPr>
          <a:xfrm>
            <a:off x="419100" y="1238250"/>
            <a:ext cx="2219325" cy="28575"/>
          </a:xfrm>
          <a:prstGeom prst="rect">
            <a:avLst/>
          </a:prstGeom>
          <a:solidFill>
            <a:srgbClr val="B68757"/>
          </a:solidFill>
          <a:ln/>
        </p:spPr>
        <p:txBody>
          <a:bodyPr/>
          <a:lstStyle/>
          <a:p>
            <a:endParaRPr lang="en-US"/>
          </a:p>
        </p:txBody>
      </p:sp>
      <p:sp>
        <p:nvSpPr>
          <p:cNvPr id="11" name="Text 10"/>
          <p:cNvSpPr txBox="1"/>
          <p:nvPr/>
        </p:nvSpPr>
        <p:spPr>
          <a:xfrm>
            <a:off x="542925" y="1366838"/>
            <a:ext cx="1971675" cy="142875"/>
          </a:xfrm>
          <a:prstGeom prst="rect">
            <a:avLst/>
          </a:prstGeom>
          <a:noFill/>
          <a:ln/>
        </p:spPr>
        <p:txBody>
          <a:bodyPr wrap="none" lIns="0" tIns="0" rIns="0" bIns="0" rtlCol="0" anchor="t"/>
          <a:lstStyle/>
          <a:p>
            <a:pPr marL="0" indent="0" algn="l">
              <a:lnSpc>
                <a:spcPts val="1125"/>
              </a:lnSpc>
              <a:buNone/>
            </a:pPr>
            <a:r>
              <a:rPr lang="en-US" sz="855" b="1" kern="0" spc="15" dirty="0">
                <a:solidFill>
                  <a:srgbClr val="1B1A1A"/>
                </a:solidFill>
                <a:latin typeface="Quicksand" pitchFamily="34" charset="0"/>
              </a:rPr>
              <a:t>Retail and food services sales</a:t>
            </a:r>
            <a:endParaRPr lang="en-US" sz="855" dirty="0"/>
          </a:p>
        </p:txBody>
      </p:sp>
      <p:sp>
        <p:nvSpPr>
          <p:cNvPr id="12" name="Text 11"/>
          <p:cNvSpPr txBox="1"/>
          <p:nvPr/>
        </p:nvSpPr>
        <p:spPr>
          <a:xfrm>
            <a:off x="542925" y="1509713"/>
            <a:ext cx="1971675" cy="114300"/>
          </a:xfrm>
          <a:prstGeom prst="rect">
            <a:avLst/>
          </a:prstGeom>
          <a:noFill/>
          <a:ln/>
        </p:spPr>
        <p:txBody>
          <a:bodyPr wrap="none" lIns="0" tIns="0" rIns="0" bIns="0" rtlCol="0" anchor="t"/>
          <a:lstStyle/>
          <a:p>
            <a:pPr marL="0" indent="0" algn="l">
              <a:lnSpc>
                <a:spcPts val="900"/>
              </a:lnSpc>
              <a:buNone/>
            </a:pPr>
            <a:r>
              <a:rPr lang="en-US" sz="645" kern="0" spc="15" dirty="0">
                <a:solidFill>
                  <a:srgbClr val="6F6A66"/>
                </a:solidFill>
                <a:latin typeface="Quicksand" pitchFamily="34" charset="0"/>
              </a:rPr>
              <a:t>Monthly, seasonally adjusted, US Census Bureau</a:t>
            </a:r>
            <a:endParaRPr lang="en-US" sz="645" dirty="0"/>
          </a:p>
        </p:txBody>
      </p:sp>
      <p:sp>
        <p:nvSpPr>
          <p:cNvPr id="13" name="Text 12"/>
          <p:cNvSpPr txBox="1"/>
          <p:nvPr/>
        </p:nvSpPr>
        <p:spPr>
          <a:xfrm>
            <a:off x="542925" y="1804988"/>
            <a:ext cx="1020961" cy="266700"/>
          </a:xfrm>
          <a:prstGeom prst="rect">
            <a:avLst/>
          </a:prstGeom>
          <a:noFill/>
          <a:ln/>
        </p:spPr>
        <p:txBody>
          <a:bodyPr wrap="none" lIns="0" tIns="0" rIns="0" bIns="0" rtlCol="0" anchor="t"/>
          <a:lstStyle/>
          <a:p>
            <a:pPr marL="0" indent="0" algn="l">
              <a:lnSpc>
                <a:spcPts val="2100"/>
              </a:lnSpc>
              <a:buNone/>
            </a:pPr>
            <a:r>
              <a:rPr lang="en-US" sz="1875" kern="0" spc="15" dirty="0">
                <a:solidFill>
                  <a:srgbClr val="8C6239"/>
                </a:solidFill>
                <a:latin typeface="Newsreader SemiBold" pitchFamily="34" charset="0"/>
              </a:rPr>
              <a:t>$773.9B</a:t>
            </a:r>
            <a:endParaRPr lang="en-US" sz="1875" dirty="0"/>
          </a:p>
        </p:txBody>
      </p:sp>
      <p:sp>
        <p:nvSpPr>
          <p:cNvPr id="14" name="Text 13"/>
          <p:cNvSpPr txBox="1"/>
          <p:nvPr/>
        </p:nvSpPr>
        <p:spPr>
          <a:xfrm>
            <a:off x="542925" y="2071688"/>
            <a:ext cx="963811" cy="114300"/>
          </a:xfrm>
          <a:prstGeom prst="rect">
            <a:avLst/>
          </a:prstGeom>
          <a:noFill/>
          <a:ln/>
        </p:spPr>
        <p:txBody>
          <a:bodyPr wrap="none" lIns="0" tIns="0" rIns="0" bIns="0" rtlCol="0" anchor="t"/>
          <a:lstStyle/>
          <a:p>
            <a:pPr marL="0" indent="0" algn="l">
              <a:lnSpc>
                <a:spcPts val="900"/>
              </a:lnSpc>
              <a:buNone/>
            </a:pPr>
            <a:r>
              <a:rPr lang="en-US" sz="660" kern="0" spc="15" dirty="0">
                <a:solidFill>
                  <a:srgbClr val="6F6A66"/>
                </a:solidFill>
                <a:latin typeface="Quicksand" pitchFamily="34" charset="0"/>
              </a:rPr>
              <a:t>Aug 2026</a:t>
            </a:r>
            <a:endParaRPr lang="en-US" sz="660" dirty="0"/>
          </a:p>
        </p:txBody>
      </p:sp>
      <p:sp>
        <p:nvSpPr>
          <p:cNvPr id="15" name="Text 14"/>
          <p:cNvSpPr txBox="1"/>
          <p:nvPr/>
        </p:nvSpPr>
        <p:spPr>
          <a:xfrm>
            <a:off x="1946077" y="1919288"/>
            <a:ext cx="568523" cy="152400"/>
          </a:xfrm>
          <a:prstGeom prst="rect">
            <a:avLst/>
          </a:prstGeom>
          <a:noFill/>
          <a:ln/>
        </p:spPr>
        <p:txBody>
          <a:bodyPr wrap="none" lIns="0" tIns="0" rIns="0" bIns="0" rtlCol="0" anchor="t"/>
          <a:lstStyle/>
          <a:p>
            <a:pPr marL="0" indent="0" algn="r">
              <a:lnSpc>
                <a:spcPts val="1200"/>
              </a:lnSpc>
              <a:buNone/>
            </a:pPr>
            <a:r>
              <a:rPr lang="en-US" sz="900" b="1" kern="0" spc="15" dirty="0">
                <a:solidFill>
                  <a:srgbClr val="1B1A1A"/>
                </a:solidFill>
                <a:latin typeface="Quicksand" pitchFamily="34" charset="0"/>
              </a:rPr>
              <a:t>+6.0%</a:t>
            </a:r>
            <a:endParaRPr lang="en-US" sz="900" dirty="0"/>
          </a:p>
        </p:txBody>
      </p:sp>
      <p:sp>
        <p:nvSpPr>
          <p:cNvPr id="16" name="Text 15"/>
          <p:cNvSpPr txBox="1"/>
          <p:nvPr/>
        </p:nvSpPr>
        <p:spPr>
          <a:xfrm>
            <a:off x="1946077" y="2071688"/>
            <a:ext cx="568523" cy="114300"/>
          </a:xfrm>
          <a:prstGeom prst="rect">
            <a:avLst/>
          </a:prstGeom>
          <a:noFill/>
          <a:ln/>
        </p:spPr>
        <p:txBody>
          <a:bodyPr wrap="none" lIns="0" tIns="0" rIns="0" bIns="0" rtlCol="0" anchor="t"/>
          <a:lstStyle/>
          <a:p>
            <a:pPr marL="0" indent="0" algn="r">
              <a:lnSpc>
                <a:spcPts val="900"/>
              </a:lnSpc>
              <a:buNone/>
            </a:pPr>
            <a:r>
              <a:rPr lang="en-US" sz="660" kern="0" spc="15" dirty="0">
                <a:solidFill>
                  <a:srgbClr val="6F6A66"/>
                </a:solidFill>
                <a:latin typeface="Quicksand" pitchFamily="34" charset="0"/>
              </a:rPr>
              <a:t>over one year</a:t>
            </a:r>
            <a:endParaRPr lang="en-US" sz="660" dirty="0"/>
          </a:p>
        </p:txBody>
      </p:sp>
      <p:sp>
        <p:nvSpPr>
          <p:cNvPr id="17" name="Chart rule"/>
          <p:cNvSpPr/>
          <p:nvPr/>
        </p:nvSpPr>
        <p:spPr>
          <a:xfrm>
            <a:off x="561975" y="3448050"/>
            <a:ext cx="1857375" cy="0"/>
          </a:xfrm>
          <a:prstGeom prst="line">
            <a:avLst/>
          </a:prstGeom>
          <a:noFill/>
          <a:ln w="9525">
            <a:solidFill>
              <a:srgbClr val="C3BDB6"/>
            </a:solidFill>
            <a:prstDash val="solid"/>
          </a:ln>
        </p:spPr>
        <p:txBody>
          <a:bodyPr/>
          <a:lstStyle/>
          <a:p>
            <a:endParaRPr lang="en-US"/>
          </a:p>
        </p:txBody>
      </p:sp>
      <p:sp>
        <p:nvSpPr>
          <p:cNvPr id="18" name="Chart rule"/>
          <p:cNvSpPr/>
          <p:nvPr/>
        </p:nvSpPr>
        <p:spPr>
          <a:xfrm>
            <a:off x="894398" y="2324100"/>
            <a:ext cx="0" cy="1123950"/>
          </a:xfrm>
          <a:prstGeom prst="line">
            <a:avLst/>
          </a:prstGeom>
          <a:noFill/>
          <a:ln w="9525">
            <a:solidFill>
              <a:srgbClr val="E3DCD3"/>
            </a:solidFill>
            <a:prstDash val="solid"/>
          </a:ln>
        </p:spPr>
        <p:txBody>
          <a:bodyPr/>
          <a:lstStyle/>
          <a:p>
            <a:endParaRPr lang="en-US"/>
          </a:p>
        </p:txBody>
      </p:sp>
      <p:sp>
        <p:nvSpPr>
          <p:cNvPr id="19" name="Chart rule"/>
          <p:cNvSpPr/>
          <p:nvPr/>
        </p:nvSpPr>
        <p:spPr>
          <a:xfrm>
            <a:off x="1227773" y="2324100"/>
            <a:ext cx="0" cy="1123950"/>
          </a:xfrm>
          <a:prstGeom prst="line">
            <a:avLst/>
          </a:prstGeom>
          <a:noFill/>
          <a:ln w="9525">
            <a:solidFill>
              <a:srgbClr val="E3DCD3"/>
            </a:solidFill>
            <a:prstDash val="solid"/>
          </a:ln>
        </p:spPr>
        <p:txBody>
          <a:bodyPr/>
          <a:lstStyle/>
          <a:p>
            <a:endParaRPr lang="en-US"/>
          </a:p>
        </p:txBody>
      </p:sp>
      <p:sp>
        <p:nvSpPr>
          <p:cNvPr id="20" name="Chart rule"/>
          <p:cNvSpPr/>
          <p:nvPr/>
        </p:nvSpPr>
        <p:spPr>
          <a:xfrm>
            <a:off x="1560195" y="2324100"/>
            <a:ext cx="0" cy="1123950"/>
          </a:xfrm>
          <a:prstGeom prst="line">
            <a:avLst/>
          </a:prstGeom>
          <a:noFill/>
          <a:ln w="9525">
            <a:solidFill>
              <a:srgbClr val="E3DCD3"/>
            </a:solidFill>
            <a:prstDash val="solid"/>
          </a:ln>
        </p:spPr>
        <p:txBody>
          <a:bodyPr/>
          <a:lstStyle/>
          <a:p>
            <a:endParaRPr lang="en-US"/>
          </a:p>
        </p:txBody>
      </p:sp>
      <p:sp>
        <p:nvSpPr>
          <p:cNvPr id="21" name="Chart rule"/>
          <p:cNvSpPr/>
          <p:nvPr/>
        </p:nvSpPr>
        <p:spPr>
          <a:xfrm>
            <a:off x="1892618" y="2324100"/>
            <a:ext cx="0" cy="1123950"/>
          </a:xfrm>
          <a:prstGeom prst="line">
            <a:avLst/>
          </a:prstGeom>
          <a:noFill/>
          <a:ln w="9525">
            <a:solidFill>
              <a:srgbClr val="E3DCD3"/>
            </a:solidFill>
            <a:prstDash val="solid"/>
          </a:ln>
        </p:spPr>
        <p:txBody>
          <a:bodyPr/>
          <a:lstStyle/>
          <a:p>
            <a:endParaRPr lang="en-US"/>
          </a:p>
        </p:txBody>
      </p:sp>
      <p:sp>
        <p:nvSpPr>
          <p:cNvPr id="22" name="Chart rule"/>
          <p:cNvSpPr/>
          <p:nvPr/>
        </p:nvSpPr>
        <p:spPr>
          <a:xfrm>
            <a:off x="2225040" y="2324100"/>
            <a:ext cx="0" cy="1123950"/>
          </a:xfrm>
          <a:prstGeom prst="line">
            <a:avLst/>
          </a:prstGeom>
          <a:noFill/>
          <a:ln w="9525">
            <a:solidFill>
              <a:srgbClr val="E3DCD3"/>
            </a:solidFill>
            <a:prstDash val="solid"/>
          </a:ln>
        </p:spPr>
        <p:txBody>
          <a:bodyPr/>
          <a:lstStyle/>
          <a:p>
            <a:endParaRPr lang="en-US"/>
          </a:p>
        </p:txBody>
      </p:sp>
      <p:graphicFrame>
        <p:nvGraphicFramePr>
          <p:cNvPr id="23" name="Indicator chart 1"/>
          <p:cNvGraphicFramePr/>
          <p:nvPr/>
        </p:nvGraphicFramePr>
        <p:xfrm>
          <a:off x="548114" y="2324100"/>
          <a:ext cx="1885097" cy="1123950"/>
        </p:xfrm>
        <a:graphic>
          <a:graphicData uri="http://schemas.openxmlformats.org/drawingml/2006/chart">
            <c:chart xmlns:c="http://schemas.openxmlformats.org/drawingml/2006/chart" xmlns:r="http://schemas.openxmlformats.org/officeDocument/2006/relationships" r:id="rId3"/>
          </a:graphicData>
        </a:graphic>
      </p:graphicFrame>
      <p:sp>
        <p:nvSpPr>
          <p:cNvPr id="24" name="Text 23"/>
          <p:cNvSpPr txBox="1"/>
          <p:nvPr/>
        </p:nvSpPr>
        <p:spPr>
          <a:xfrm>
            <a:off x="913448" y="3486150"/>
            <a:ext cx="754607" cy="95250"/>
          </a:xfrm>
          <a:prstGeom prst="rect">
            <a:avLst/>
          </a:prstGeom>
          <a:noFill/>
          <a:ln/>
        </p:spPr>
        <p:txBody>
          <a:bodyPr wrap="none" lIns="0" tIns="0" rIns="0" bIns="0" rtlCol="0" anchor="t"/>
          <a:lstStyle/>
          <a:p>
            <a:pPr marL="0" indent="0" algn="l">
              <a:lnSpc>
                <a:spcPts val="750"/>
              </a:lnSpc>
              <a:buNone/>
            </a:pPr>
            <a:r>
              <a:rPr lang="en-US" sz="600" dirty="0">
                <a:solidFill>
                  <a:srgbClr val="6F6A66"/>
                </a:solidFill>
                <a:latin typeface="Quicksand" pitchFamily="34" charset="0"/>
              </a:rPr>
              <a:t>2022</a:t>
            </a:r>
            <a:endParaRPr lang="en-US" sz="600" dirty="0"/>
          </a:p>
        </p:txBody>
      </p:sp>
      <p:sp>
        <p:nvSpPr>
          <p:cNvPr id="25" name="Text 24"/>
          <p:cNvSpPr txBox="1"/>
          <p:nvPr/>
        </p:nvSpPr>
        <p:spPr>
          <a:xfrm>
            <a:off x="1246822" y="3486150"/>
            <a:ext cx="748903" cy="95250"/>
          </a:xfrm>
          <a:prstGeom prst="rect">
            <a:avLst/>
          </a:prstGeom>
          <a:noFill/>
          <a:ln/>
        </p:spPr>
        <p:txBody>
          <a:bodyPr wrap="none" lIns="0" tIns="0" rIns="0" bIns="0" rtlCol="0" anchor="t"/>
          <a:lstStyle/>
          <a:p>
            <a:pPr marL="0" indent="0" algn="l">
              <a:lnSpc>
                <a:spcPts val="750"/>
              </a:lnSpc>
              <a:buNone/>
            </a:pPr>
            <a:r>
              <a:rPr lang="en-US" sz="600" dirty="0">
                <a:solidFill>
                  <a:srgbClr val="6F6A66"/>
                </a:solidFill>
                <a:latin typeface="Quicksand" pitchFamily="34" charset="0"/>
              </a:rPr>
              <a:t>2023</a:t>
            </a:r>
            <a:endParaRPr lang="en-US" sz="600" dirty="0"/>
          </a:p>
        </p:txBody>
      </p:sp>
      <p:sp>
        <p:nvSpPr>
          <p:cNvPr id="26" name="Text 25"/>
          <p:cNvSpPr txBox="1"/>
          <p:nvPr/>
        </p:nvSpPr>
        <p:spPr>
          <a:xfrm>
            <a:off x="1579245" y="3486150"/>
            <a:ext cx="748010" cy="95250"/>
          </a:xfrm>
          <a:prstGeom prst="rect">
            <a:avLst/>
          </a:prstGeom>
          <a:noFill/>
          <a:ln/>
        </p:spPr>
        <p:txBody>
          <a:bodyPr wrap="none" lIns="0" tIns="0" rIns="0" bIns="0" rtlCol="0" anchor="t"/>
          <a:lstStyle/>
          <a:p>
            <a:pPr marL="0" indent="0" algn="l">
              <a:lnSpc>
                <a:spcPts val="750"/>
              </a:lnSpc>
              <a:buNone/>
            </a:pPr>
            <a:r>
              <a:rPr lang="en-US" sz="600" dirty="0">
                <a:solidFill>
                  <a:srgbClr val="6F6A66"/>
                </a:solidFill>
                <a:latin typeface="Quicksand" pitchFamily="34" charset="0"/>
              </a:rPr>
              <a:t>2024</a:t>
            </a:r>
            <a:endParaRPr lang="en-US" sz="600" dirty="0"/>
          </a:p>
        </p:txBody>
      </p:sp>
      <p:sp>
        <p:nvSpPr>
          <p:cNvPr id="27" name="Text 26"/>
          <p:cNvSpPr txBox="1"/>
          <p:nvPr/>
        </p:nvSpPr>
        <p:spPr>
          <a:xfrm>
            <a:off x="1911667" y="3486150"/>
            <a:ext cx="750540" cy="95250"/>
          </a:xfrm>
          <a:prstGeom prst="rect">
            <a:avLst/>
          </a:prstGeom>
          <a:noFill/>
          <a:ln/>
        </p:spPr>
        <p:txBody>
          <a:bodyPr wrap="none" lIns="0" tIns="0" rIns="0" bIns="0" rtlCol="0" anchor="t"/>
          <a:lstStyle/>
          <a:p>
            <a:pPr marL="0" indent="0" algn="l">
              <a:lnSpc>
                <a:spcPts val="750"/>
              </a:lnSpc>
              <a:buNone/>
            </a:pPr>
            <a:r>
              <a:rPr lang="en-US" sz="600" dirty="0">
                <a:solidFill>
                  <a:srgbClr val="6F6A66"/>
                </a:solidFill>
                <a:latin typeface="Quicksand" pitchFamily="34" charset="0"/>
              </a:rPr>
              <a:t>2025</a:t>
            </a:r>
            <a:endParaRPr lang="en-US" sz="600" dirty="0"/>
          </a:p>
        </p:txBody>
      </p:sp>
      <p:sp>
        <p:nvSpPr>
          <p:cNvPr id="28" name="Text 27"/>
          <p:cNvSpPr txBox="1"/>
          <p:nvPr/>
        </p:nvSpPr>
        <p:spPr>
          <a:xfrm>
            <a:off x="2244090" y="3486150"/>
            <a:ext cx="754607" cy="95250"/>
          </a:xfrm>
          <a:prstGeom prst="rect">
            <a:avLst/>
          </a:prstGeom>
          <a:noFill/>
          <a:ln/>
        </p:spPr>
        <p:txBody>
          <a:bodyPr wrap="none" lIns="0" tIns="0" rIns="0" bIns="0" rtlCol="0" anchor="t"/>
          <a:lstStyle/>
          <a:p>
            <a:pPr marL="0" indent="0" algn="l">
              <a:lnSpc>
                <a:spcPts val="750"/>
              </a:lnSpc>
              <a:buNone/>
            </a:pPr>
            <a:r>
              <a:rPr lang="en-US" sz="600" dirty="0">
                <a:solidFill>
                  <a:srgbClr val="6F6A66"/>
                </a:solidFill>
                <a:latin typeface="Quicksand" pitchFamily="34" charset="0"/>
              </a:rPr>
              <a:t>2026</a:t>
            </a:r>
            <a:endParaRPr lang="en-US" sz="600" dirty="0"/>
          </a:p>
        </p:txBody>
      </p:sp>
      <p:sp>
        <p:nvSpPr>
          <p:cNvPr id="29" name="Text 28"/>
          <p:cNvSpPr txBox="1"/>
          <p:nvPr/>
        </p:nvSpPr>
        <p:spPr>
          <a:xfrm>
            <a:off x="542925" y="3724275"/>
            <a:ext cx="1985963" cy="228600"/>
          </a:xfrm>
          <a:prstGeom prst="rect">
            <a:avLst/>
          </a:prstGeom>
          <a:noFill/>
          <a:ln/>
        </p:spPr>
        <p:txBody>
          <a:bodyPr wrap="square" lIns="0" tIns="0" rIns="0" bIns="0" rtlCol="0" anchor="t"/>
          <a:lstStyle/>
          <a:p>
            <a:pPr marL="0" indent="0" algn="l">
              <a:lnSpc>
                <a:spcPts val="900"/>
              </a:lnSpc>
              <a:buNone/>
            </a:pPr>
            <a:r>
              <a:rPr lang="en-US" sz="630" kern="0" spc="15" dirty="0">
                <a:solidFill>
                  <a:srgbClr val="6F6A66"/>
                </a:solidFill>
                <a:latin typeface="Quicksand" pitchFamily="34" charset="0"/>
              </a:rPr>
              <a:t>Source: </a:t>
            </a:r>
            <a:r>
              <a:rPr lang="en-US" sz="630" u="sng" kern="0" spc="15" dirty="0">
                <a:solidFill>
                  <a:srgbClr val="8C6239"/>
                </a:solidFill>
                <a:latin typeface="Quicksand" pitchFamily="34" charset="0"/>
                <a:hlinkClick r:id="rId4">
                  <a:extLst>
                    <a:ext uri="{A12FA001-AC4F-418D-AE19-62706E023703}">
                      <ahyp:hlinkClr xmlns:ahyp="http://schemas.microsoft.com/office/drawing/2018/hyperlinkcolor" val="tx"/>
                    </a:ext>
                  </a:extLst>
                </a:hlinkClick>
              </a:rPr>
              <a:t>FRED, series MRTSSM44X72USS</a:t>
            </a:r>
            <a:r>
              <a:rPr lang="en-US" sz="630" kern="0" spc="15" dirty="0">
                <a:solidFill>
                  <a:srgbClr val="6F6A66"/>
                </a:solidFill>
                <a:latin typeface="Quicksand" pitchFamily="34" charset="0"/>
              </a:rPr>
              <a:t>; </a:t>
            </a:r>
            <a:r>
              <a:rPr lang="en-US" sz="630" u="sng" kern="0" spc="15" dirty="0">
                <a:solidFill>
                  <a:srgbClr val="8C6239"/>
                </a:solidFill>
                <a:latin typeface="Quicksand" pitchFamily="34" charset="0"/>
                <a:hlinkClick r:id="rId5">
                  <a:extLst>
                    <a:ext uri="{A12FA001-AC4F-418D-AE19-62706E023703}">
                      <ahyp:hlinkClr xmlns:ahyp="http://schemas.microsoft.com/office/drawing/2018/hyperlinkcolor" val="tx"/>
                    </a:ext>
                  </a:extLst>
                </a:hlinkClick>
              </a:rPr>
              <a:t>Census advance release</a:t>
            </a:r>
            <a:endParaRPr lang="en-US" sz="630" dirty="0"/>
          </a:p>
        </p:txBody>
      </p:sp>
      <p:sp>
        <p:nvSpPr>
          <p:cNvPr id="30" name="Shape 29"/>
          <p:cNvSpPr/>
          <p:nvPr/>
        </p:nvSpPr>
        <p:spPr>
          <a:xfrm>
            <a:off x="2752725" y="1238250"/>
            <a:ext cx="2219325" cy="2790825"/>
          </a:xfrm>
          <a:prstGeom prst="rect">
            <a:avLst/>
          </a:prstGeom>
          <a:solidFill>
            <a:srgbClr val="FAF7F3"/>
          </a:solidFill>
          <a:ln/>
        </p:spPr>
        <p:txBody>
          <a:bodyPr/>
          <a:lstStyle/>
          <a:p>
            <a:endParaRPr lang="en-US"/>
          </a:p>
        </p:txBody>
      </p:sp>
      <p:sp>
        <p:nvSpPr>
          <p:cNvPr id="31" name="Shape 30"/>
          <p:cNvSpPr/>
          <p:nvPr/>
        </p:nvSpPr>
        <p:spPr>
          <a:xfrm>
            <a:off x="2752725" y="1238250"/>
            <a:ext cx="2219325" cy="28575"/>
          </a:xfrm>
          <a:prstGeom prst="rect">
            <a:avLst/>
          </a:prstGeom>
          <a:solidFill>
            <a:srgbClr val="B68757"/>
          </a:solidFill>
          <a:ln/>
        </p:spPr>
        <p:txBody>
          <a:bodyPr/>
          <a:lstStyle/>
          <a:p>
            <a:endParaRPr lang="en-US"/>
          </a:p>
        </p:txBody>
      </p:sp>
      <p:sp>
        <p:nvSpPr>
          <p:cNvPr id="32" name="Text 31"/>
          <p:cNvSpPr txBox="1"/>
          <p:nvPr/>
        </p:nvSpPr>
        <p:spPr>
          <a:xfrm>
            <a:off x="2876550" y="1366838"/>
            <a:ext cx="1985963" cy="285750"/>
          </a:xfrm>
          <a:prstGeom prst="rect">
            <a:avLst/>
          </a:prstGeom>
          <a:noFill/>
          <a:ln/>
        </p:spPr>
        <p:txBody>
          <a:bodyPr wrap="square" lIns="0" tIns="0" rIns="0" bIns="0" rtlCol="0" anchor="t"/>
          <a:lstStyle/>
          <a:p>
            <a:pPr marL="0" indent="0" algn="l">
              <a:lnSpc>
                <a:spcPts val="1125"/>
              </a:lnSpc>
              <a:buNone/>
            </a:pPr>
            <a:r>
              <a:rPr lang="en-US" sz="855" b="1" kern="0" spc="15" dirty="0">
                <a:solidFill>
                  <a:srgbClr val="1B1A1A"/>
                </a:solidFill>
                <a:latin typeface="Quicksand" pitchFamily="34" charset="0"/>
              </a:rPr>
              <a:t>Food services and drinking places sales</a:t>
            </a:r>
            <a:endParaRPr lang="en-US" sz="855" dirty="0"/>
          </a:p>
        </p:txBody>
      </p:sp>
      <p:sp>
        <p:nvSpPr>
          <p:cNvPr id="33" name="Text 32"/>
          <p:cNvSpPr txBox="1"/>
          <p:nvPr/>
        </p:nvSpPr>
        <p:spPr>
          <a:xfrm>
            <a:off x="2876550" y="1652588"/>
            <a:ext cx="1971675" cy="114300"/>
          </a:xfrm>
          <a:prstGeom prst="rect">
            <a:avLst/>
          </a:prstGeom>
          <a:noFill/>
          <a:ln/>
        </p:spPr>
        <p:txBody>
          <a:bodyPr wrap="none" lIns="0" tIns="0" rIns="0" bIns="0" rtlCol="0" anchor="t"/>
          <a:lstStyle/>
          <a:p>
            <a:pPr marL="0" indent="0" algn="l">
              <a:lnSpc>
                <a:spcPts val="900"/>
              </a:lnSpc>
              <a:buNone/>
            </a:pPr>
            <a:r>
              <a:rPr lang="en-US" sz="645" kern="0" spc="15" dirty="0">
                <a:solidFill>
                  <a:srgbClr val="6F6A66"/>
                </a:solidFill>
                <a:latin typeface="Quicksand" pitchFamily="34" charset="0"/>
              </a:rPr>
              <a:t>Monthly, seasonally adjusted, US Census Bureau</a:t>
            </a:r>
            <a:endParaRPr lang="en-US" sz="645" dirty="0"/>
          </a:p>
        </p:txBody>
      </p:sp>
      <p:sp>
        <p:nvSpPr>
          <p:cNvPr id="34" name="Text 33"/>
          <p:cNvSpPr txBox="1"/>
          <p:nvPr/>
        </p:nvSpPr>
        <p:spPr>
          <a:xfrm>
            <a:off x="2876550" y="1928813"/>
            <a:ext cx="1020961" cy="266700"/>
          </a:xfrm>
          <a:prstGeom prst="rect">
            <a:avLst/>
          </a:prstGeom>
          <a:noFill/>
          <a:ln/>
        </p:spPr>
        <p:txBody>
          <a:bodyPr wrap="none" lIns="0" tIns="0" rIns="0" bIns="0" rtlCol="0" anchor="t"/>
          <a:lstStyle/>
          <a:p>
            <a:pPr marL="0" indent="0" algn="l">
              <a:lnSpc>
                <a:spcPts val="2100"/>
              </a:lnSpc>
              <a:buNone/>
            </a:pPr>
            <a:r>
              <a:rPr lang="en-US" sz="1875" kern="0" spc="15" dirty="0">
                <a:solidFill>
                  <a:srgbClr val="8C6239"/>
                </a:solidFill>
                <a:latin typeface="Newsreader SemiBold" pitchFamily="34" charset="0"/>
              </a:rPr>
              <a:t>$105.1B</a:t>
            </a:r>
            <a:endParaRPr lang="en-US" sz="1875" dirty="0"/>
          </a:p>
        </p:txBody>
      </p:sp>
      <p:sp>
        <p:nvSpPr>
          <p:cNvPr id="35" name="Text 34"/>
          <p:cNvSpPr txBox="1"/>
          <p:nvPr/>
        </p:nvSpPr>
        <p:spPr>
          <a:xfrm>
            <a:off x="2876550" y="2195513"/>
            <a:ext cx="963811" cy="114300"/>
          </a:xfrm>
          <a:prstGeom prst="rect">
            <a:avLst/>
          </a:prstGeom>
          <a:noFill/>
          <a:ln/>
        </p:spPr>
        <p:txBody>
          <a:bodyPr wrap="none" lIns="0" tIns="0" rIns="0" bIns="0" rtlCol="0" anchor="t"/>
          <a:lstStyle/>
          <a:p>
            <a:pPr marL="0" indent="0" algn="l">
              <a:lnSpc>
                <a:spcPts val="900"/>
              </a:lnSpc>
              <a:buNone/>
            </a:pPr>
            <a:r>
              <a:rPr lang="en-US" sz="660" kern="0" spc="15" dirty="0">
                <a:solidFill>
                  <a:srgbClr val="6F6A66"/>
                </a:solidFill>
                <a:latin typeface="Quicksand" pitchFamily="34" charset="0"/>
              </a:rPr>
              <a:t>Aug 2026</a:t>
            </a:r>
            <a:endParaRPr lang="en-US" sz="660" dirty="0"/>
          </a:p>
        </p:txBody>
      </p:sp>
      <p:sp>
        <p:nvSpPr>
          <p:cNvPr id="36" name="Text 35"/>
          <p:cNvSpPr txBox="1"/>
          <p:nvPr/>
        </p:nvSpPr>
        <p:spPr>
          <a:xfrm>
            <a:off x="4279702" y="2043113"/>
            <a:ext cx="568523" cy="152400"/>
          </a:xfrm>
          <a:prstGeom prst="rect">
            <a:avLst/>
          </a:prstGeom>
          <a:noFill/>
          <a:ln/>
        </p:spPr>
        <p:txBody>
          <a:bodyPr wrap="none" lIns="0" tIns="0" rIns="0" bIns="0" rtlCol="0" anchor="t"/>
          <a:lstStyle/>
          <a:p>
            <a:pPr marL="0" indent="0" algn="r">
              <a:lnSpc>
                <a:spcPts val="1200"/>
              </a:lnSpc>
              <a:buNone/>
            </a:pPr>
            <a:r>
              <a:rPr lang="en-US" sz="900" b="1" kern="0" spc="15" dirty="0">
                <a:solidFill>
                  <a:srgbClr val="1B1A1A"/>
                </a:solidFill>
                <a:latin typeface="Quicksand" pitchFamily="34" charset="0"/>
              </a:rPr>
              <a:t>+5.8%</a:t>
            </a:r>
            <a:endParaRPr lang="en-US" sz="900" dirty="0"/>
          </a:p>
        </p:txBody>
      </p:sp>
      <p:sp>
        <p:nvSpPr>
          <p:cNvPr id="37" name="Text 36"/>
          <p:cNvSpPr txBox="1"/>
          <p:nvPr/>
        </p:nvSpPr>
        <p:spPr>
          <a:xfrm>
            <a:off x="4279702" y="2195513"/>
            <a:ext cx="568523" cy="114300"/>
          </a:xfrm>
          <a:prstGeom prst="rect">
            <a:avLst/>
          </a:prstGeom>
          <a:noFill/>
          <a:ln/>
        </p:spPr>
        <p:txBody>
          <a:bodyPr wrap="none" lIns="0" tIns="0" rIns="0" bIns="0" rtlCol="0" anchor="t"/>
          <a:lstStyle/>
          <a:p>
            <a:pPr marL="0" indent="0" algn="r">
              <a:lnSpc>
                <a:spcPts val="900"/>
              </a:lnSpc>
              <a:buNone/>
            </a:pPr>
            <a:r>
              <a:rPr lang="en-US" sz="660" kern="0" spc="15" dirty="0">
                <a:solidFill>
                  <a:srgbClr val="6F6A66"/>
                </a:solidFill>
                <a:latin typeface="Quicksand" pitchFamily="34" charset="0"/>
              </a:rPr>
              <a:t>over one year</a:t>
            </a:r>
            <a:endParaRPr lang="en-US" sz="660" dirty="0"/>
          </a:p>
        </p:txBody>
      </p:sp>
      <p:sp>
        <p:nvSpPr>
          <p:cNvPr id="38" name="Chart rule"/>
          <p:cNvSpPr/>
          <p:nvPr/>
        </p:nvSpPr>
        <p:spPr>
          <a:xfrm>
            <a:off x="2895600" y="3571875"/>
            <a:ext cx="1857375" cy="0"/>
          </a:xfrm>
          <a:prstGeom prst="line">
            <a:avLst/>
          </a:prstGeom>
          <a:noFill/>
          <a:ln w="9525">
            <a:solidFill>
              <a:srgbClr val="C3BDB6"/>
            </a:solidFill>
            <a:prstDash val="solid"/>
          </a:ln>
        </p:spPr>
        <p:txBody>
          <a:bodyPr/>
          <a:lstStyle/>
          <a:p>
            <a:endParaRPr lang="en-US"/>
          </a:p>
        </p:txBody>
      </p:sp>
      <p:sp>
        <p:nvSpPr>
          <p:cNvPr id="39" name="Chart rule"/>
          <p:cNvSpPr/>
          <p:nvPr/>
        </p:nvSpPr>
        <p:spPr>
          <a:xfrm>
            <a:off x="3228022" y="2447925"/>
            <a:ext cx="0" cy="1123950"/>
          </a:xfrm>
          <a:prstGeom prst="line">
            <a:avLst/>
          </a:prstGeom>
          <a:noFill/>
          <a:ln w="9525">
            <a:solidFill>
              <a:srgbClr val="E3DCD3"/>
            </a:solidFill>
            <a:prstDash val="solid"/>
          </a:ln>
        </p:spPr>
        <p:txBody>
          <a:bodyPr/>
          <a:lstStyle/>
          <a:p>
            <a:endParaRPr lang="en-US"/>
          </a:p>
        </p:txBody>
      </p:sp>
      <p:sp>
        <p:nvSpPr>
          <p:cNvPr id="40" name="Chart rule"/>
          <p:cNvSpPr/>
          <p:nvPr/>
        </p:nvSpPr>
        <p:spPr>
          <a:xfrm>
            <a:off x="3561398" y="2447925"/>
            <a:ext cx="0" cy="1123950"/>
          </a:xfrm>
          <a:prstGeom prst="line">
            <a:avLst/>
          </a:prstGeom>
          <a:noFill/>
          <a:ln w="9525">
            <a:solidFill>
              <a:srgbClr val="E3DCD3"/>
            </a:solidFill>
            <a:prstDash val="solid"/>
          </a:ln>
        </p:spPr>
        <p:txBody>
          <a:bodyPr/>
          <a:lstStyle/>
          <a:p>
            <a:endParaRPr lang="en-US"/>
          </a:p>
        </p:txBody>
      </p:sp>
      <p:sp>
        <p:nvSpPr>
          <p:cNvPr id="41" name="Chart rule"/>
          <p:cNvSpPr/>
          <p:nvPr/>
        </p:nvSpPr>
        <p:spPr>
          <a:xfrm>
            <a:off x="3893820" y="2447925"/>
            <a:ext cx="0" cy="1123950"/>
          </a:xfrm>
          <a:prstGeom prst="line">
            <a:avLst/>
          </a:prstGeom>
          <a:noFill/>
          <a:ln w="9525">
            <a:solidFill>
              <a:srgbClr val="E3DCD3"/>
            </a:solidFill>
            <a:prstDash val="solid"/>
          </a:ln>
        </p:spPr>
        <p:txBody>
          <a:bodyPr/>
          <a:lstStyle/>
          <a:p>
            <a:endParaRPr lang="en-US"/>
          </a:p>
        </p:txBody>
      </p:sp>
      <p:sp>
        <p:nvSpPr>
          <p:cNvPr id="42" name="Chart rule"/>
          <p:cNvSpPr/>
          <p:nvPr/>
        </p:nvSpPr>
        <p:spPr>
          <a:xfrm>
            <a:off x="4226243" y="2447925"/>
            <a:ext cx="0" cy="1123950"/>
          </a:xfrm>
          <a:prstGeom prst="line">
            <a:avLst/>
          </a:prstGeom>
          <a:noFill/>
          <a:ln w="9525">
            <a:solidFill>
              <a:srgbClr val="E3DCD3"/>
            </a:solidFill>
            <a:prstDash val="solid"/>
          </a:ln>
        </p:spPr>
        <p:txBody>
          <a:bodyPr/>
          <a:lstStyle/>
          <a:p>
            <a:endParaRPr lang="en-US"/>
          </a:p>
        </p:txBody>
      </p:sp>
      <p:sp>
        <p:nvSpPr>
          <p:cNvPr id="43" name="Chart rule"/>
          <p:cNvSpPr/>
          <p:nvPr/>
        </p:nvSpPr>
        <p:spPr>
          <a:xfrm>
            <a:off x="4558665" y="2447925"/>
            <a:ext cx="0" cy="1123950"/>
          </a:xfrm>
          <a:prstGeom prst="line">
            <a:avLst/>
          </a:prstGeom>
          <a:noFill/>
          <a:ln w="9525">
            <a:solidFill>
              <a:srgbClr val="E3DCD3"/>
            </a:solidFill>
            <a:prstDash val="solid"/>
          </a:ln>
        </p:spPr>
        <p:txBody>
          <a:bodyPr/>
          <a:lstStyle/>
          <a:p>
            <a:endParaRPr lang="en-US"/>
          </a:p>
        </p:txBody>
      </p:sp>
      <p:graphicFrame>
        <p:nvGraphicFramePr>
          <p:cNvPr id="44" name="Indicator chart 2"/>
          <p:cNvGraphicFramePr/>
          <p:nvPr/>
        </p:nvGraphicFramePr>
        <p:xfrm>
          <a:off x="2881739" y="2447925"/>
          <a:ext cx="1885097" cy="1123950"/>
        </p:xfrm>
        <a:graphic>
          <a:graphicData uri="http://schemas.openxmlformats.org/drawingml/2006/chart">
            <c:chart xmlns:c="http://schemas.openxmlformats.org/drawingml/2006/chart" xmlns:r="http://schemas.openxmlformats.org/officeDocument/2006/relationships" r:id="rId6"/>
          </a:graphicData>
        </a:graphic>
      </p:graphicFrame>
      <p:sp>
        <p:nvSpPr>
          <p:cNvPr id="45" name="Text 44"/>
          <p:cNvSpPr txBox="1"/>
          <p:nvPr/>
        </p:nvSpPr>
        <p:spPr>
          <a:xfrm>
            <a:off x="3247072" y="3609975"/>
            <a:ext cx="754607" cy="95250"/>
          </a:xfrm>
          <a:prstGeom prst="rect">
            <a:avLst/>
          </a:prstGeom>
          <a:noFill/>
          <a:ln/>
        </p:spPr>
        <p:txBody>
          <a:bodyPr wrap="none" lIns="0" tIns="0" rIns="0" bIns="0" rtlCol="0" anchor="t"/>
          <a:lstStyle/>
          <a:p>
            <a:pPr marL="0" indent="0" algn="l">
              <a:lnSpc>
                <a:spcPts val="750"/>
              </a:lnSpc>
              <a:buNone/>
            </a:pPr>
            <a:r>
              <a:rPr lang="en-US" sz="600" dirty="0">
                <a:solidFill>
                  <a:srgbClr val="6F6A66"/>
                </a:solidFill>
                <a:latin typeface="Quicksand" pitchFamily="34" charset="0"/>
              </a:rPr>
              <a:t>2022</a:t>
            </a:r>
            <a:endParaRPr lang="en-US" sz="600" dirty="0"/>
          </a:p>
        </p:txBody>
      </p:sp>
      <p:sp>
        <p:nvSpPr>
          <p:cNvPr id="46" name="Text 45"/>
          <p:cNvSpPr txBox="1"/>
          <p:nvPr/>
        </p:nvSpPr>
        <p:spPr>
          <a:xfrm>
            <a:off x="3580447" y="3609975"/>
            <a:ext cx="748903" cy="95250"/>
          </a:xfrm>
          <a:prstGeom prst="rect">
            <a:avLst/>
          </a:prstGeom>
          <a:noFill/>
          <a:ln/>
        </p:spPr>
        <p:txBody>
          <a:bodyPr wrap="none" lIns="0" tIns="0" rIns="0" bIns="0" rtlCol="0" anchor="t"/>
          <a:lstStyle/>
          <a:p>
            <a:pPr marL="0" indent="0" algn="l">
              <a:lnSpc>
                <a:spcPts val="750"/>
              </a:lnSpc>
              <a:buNone/>
            </a:pPr>
            <a:r>
              <a:rPr lang="en-US" sz="600" dirty="0">
                <a:solidFill>
                  <a:srgbClr val="6F6A66"/>
                </a:solidFill>
                <a:latin typeface="Quicksand" pitchFamily="34" charset="0"/>
              </a:rPr>
              <a:t>2023</a:t>
            </a:r>
            <a:endParaRPr lang="en-US" sz="600" dirty="0"/>
          </a:p>
        </p:txBody>
      </p:sp>
      <p:sp>
        <p:nvSpPr>
          <p:cNvPr id="47" name="Text 46"/>
          <p:cNvSpPr txBox="1"/>
          <p:nvPr/>
        </p:nvSpPr>
        <p:spPr>
          <a:xfrm>
            <a:off x="3912870" y="3609975"/>
            <a:ext cx="748010" cy="95250"/>
          </a:xfrm>
          <a:prstGeom prst="rect">
            <a:avLst/>
          </a:prstGeom>
          <a:noFill/>
          <a:ln/>
        </p:spPr>
        <p:txBody>
          <a:bodyPr wrap="none" lIns="0" tIns="0" rIns="0" bIns="0" rtlCol="0" anchor="t"/>
          <a:lstStyle/>
          <a:p>
            <a:pPr marL="0" indent="0" algn="l">
              <a:lnSpc>
                <a:spcPts val="750"/>
              </a:lnSpc>
              <a:buNone/>
            </a:pPr>
            <a:r>
              <a:rPr lang="en-US" sz="600" dirty="0">
                <a:solidFill>
                  <a:srgbClr val="6F6A66"/>
                </a:solidFill>
                <a:latin typeface="Quicksand" pitchFamily="34" charset="0"/>
              </a:rPr>
              <a:t>2024</a:t>
            </a:r>
            <a:endParaRPr lang="en-US" sz="600" dirty="0"/>
          </a:p>
        </p:txBody>
      </p:sp>
      <p:sp>
        <p:nvSpPr>
          <p:cNvPr id="48" name="Text 47"/>
          <p:cNvSpPr txBox="1"/>
          <p:nvPr/>
        </p:nvSpPr>
        <p:spPr>
          <a:xfrm>
            <a:off x="4245293" y="3609975"/>
            <a:ext cx="750540" cy="95250"/>
          </a:xfrm>
          <a:prstGeom prst="rect">
            <a:avLst/>
          </a:prstGeom>
          <a:noFill/>
          <a:ln/>
        </p:spPr>
        <p:txBody>
          <a:bodyPr wrap="none" lIns="0" tIns="0" rIns="0" bIns="0" rtlCol="0" anchor="t"/>
          <a:lstStyle/>
          <a:p>
            <a:pPr marL="0" indent="0" algn="l">
              <a:lnSpc>
                <a:spcPts val="750"/>
              </a:lnSpc>
              <a:buNone/>
            </a:pPr>
            <a:r>
              <a:rPr lang="en-US" sz="600" dirty="0">
                <a:solidFill>
                  <a:srgbClr val="6F6A66"/>
                </a:solidFill>
                <a:latin typeface="Quicksand" pitchFamily="34" charset="0"/>
              </a:rPr>
              <a:t>2025</a:t>
            </a:r>
            <a:endParaRPr lang="en-US" sz="600" dirty="0"/>
          </a:p>
        </p:txBody>
      </p:sp>
      <p:sp>
        <p:nvSpPr>
          <p:cNvPr id="49" name="Text 48"/>
          <p:cNvSpPr txBox="1"/>
          <p:nvPr/>
        </p:nvSpPr>
        <p:spPr>
          <a:xfrm>
            <a:off x="4577715" y="3609975"/>
            <a:ext cx="754607" cy="95250"/>
          </a:xfrm>
          <a:prstGeom prst="rect">
            <a:avLst/>
          </a:prstGeom>
          <a:noFill/>
          <a:ln/>
        </p:spPr>
        <p:txBody>
          <a:bodyPr wrap="none" lIns="0" tIns="0" rIns="0" bIns="0" rtlCol="0" anchor="t"/>
          <a:lstStyle/>
          <a:p>
            <a:pPr marL="0" indent="0" algn="l">
              <a:lnSpc>
                <a:spcPts val="750"/>
              </a:lnSpc>
              <a:buNone/>
            </a:pPr>
            <a:r>
              <a:rPr lang="en-US" sz="600" dirty="0">
                <a:solidFill>
                  <a:srgbClr val="6F6A66"/>
                </a:solidFill>
                <a:latin typeface="Quicksand" pitchFamily="34" charset="0"/>
              </a:rPr>
              <a:t>2026</a:t>
            </a:r>
            <a:endParaRPr lang="en-US" sz="600" dirty="0"/>
          </a:p>
        </p:txBody>
      </p:sp>
      <p:sp>
        <p:nvSpPr>
          <p:cNvPr id="50" name="Text 49"/>
          <p:cNvSpPr txBox="1"/>
          <p:nvPr/>
        </p:nvSpPr>
        <p:spPr>
          <a:xfrm>
            <a:off x="2876550" y="3724275"/>
            <a:ext cx="1985963" cy="228600"/>
          </a:xfrm>
          <a:prstGeom prst="rect">
            <a:avLst/>
          </a:prstGeom>
          <a:noFill/>
          <a:ln/>
        </p:spPr>
        <p:txBody>
          <a:bodyPr wrap="square" lIns="0" tIns="0" rIns="0" bIns="0" rtlCol="0" anchor="t"/>
          <a:lstStyle/>
          <a:p>
            <a:pPr marL="0" indent="0" algn="l">
              <a:lnSpc>
                <a:spcPts val="900"/>
              </a:lnSpc>
              <a:buNone/>
            </a:pPr>
            <a:r>
              <a:rPr lang="en-US" sz="630" kern="0" spc="15" dirty="0">
                <a:solidFill>
                  <a:srgbClr val="6F6A66"/>
                </a:solidFill>
                <a:latin typeface="Quicksand" pitchFamily="34" charset="0"/>
              </a:rPr>
              <a:t>Source: </a:t>
            </a:r>
            <a:r>
              <a:rPr lang="en-US" sz="630" u="sng" kern="0" spc="15" dirty="0">
                <a:solidFill>
                  <a:srgbClr val="8C6239"/>
                </a:solidFill>
                <a:latin typeface="Quicksand" pitchFamily="34" charset="0"/>
                <a:hlinkClick r:id="rId7">
                  <a:extLst>
                    <a:ext uri="{A12FA001-AC4F-418D-AE19-62706E023703}">
                      <ahyp:hlinkClr xmlns:ahyp="http://schemas.microsoft.com/office/drawing/2018/hyperlinkcolor" val="tx"/>
                    </a:ext>
                  </a:extLst>
                </a:hlinkClick>
              </a:rPr>
              <a:t>FRED, series MRTSSM722USS</a:t>
            </a:r>
            <a:r>
              <a:rPr lang="en-US" sz="630" kern="0" spc="15" dirty="0">
                <a:solidFill>
                  <a:srgbClr val="6F6A66"/>
                </a:solidFill>
                <a:latin typeface="Quicksand" pitchFamily="34" charset="0"/>
              </a:rPr>
              <a:t>; </a:t>
            </a:r>
            <a:r>
              <a:rPr lang="en-US" sz="630" u="sng" kern="0" spc="15" dirty="0">
                <a:solidFill>
                  <a:srgbClr val="8C6239"/>
                </a:solidFill>
                <a:latin typeface="Quicksand" pitchFamily="34" charset="0"/>
                <a:hlinkClick r:id="rId5">
                  <a:extLst>
                    <a:ext uri="{A12FA001-AC4F-418D-AE19-62706E023703}">
                      <ahyp:hlinkClr xmlns:ahyp="http://schemas.microsoft.com/office/drawing/2018/hyperlinkcolor" val="tx"/>
                    </a:ext>
                  </a:extLst>
                </a:hlinkClick>
              </a:rPr>
              <a:t>Census advance release</a:t>
            </a:r>
            <a:endParaRPr lang="en-US" sz="630" dirty="0"/>
          </a:p>
        </p:txBody>
      </p:sp>
      <p:sp>
        <p:nvSpPr>
          <p:cNvPr id="51" name="Shape 50"/>
          <p:cNvSpPr/>
          <p:nvPr/>
        </p:nvSpPr>
        <p:spPr>
          <a:xfrm>
            <a:off x="5086350" y="1238250"/>
            <a:ext cx="2219325" cy="2790825"/>
          </a:xfrm>
          <a:prstGeom prst="rect">
            <a:avLst/>
          </a:prstGeom>
          <a:solidFill>
            <a:srgbClr val="FAF7F3"/>
          </a:solidFill>
          <a:ln/>
        </p:spPr>
        <p:txBody>
          <a:bodyPr/>
          <a:lstStyle/>
          <a:p>
            <a:endParaRPr lang="en-US"/>
          </a:p>
        </p:txBody>
      </p:sp>
      <p:sp>
        <p:nvSpPr>
          <p:cNvPr id="52" name="Shape 51"/>
          <p:cNvSpPr/>
          <p:nvPr/>
        </p:nvSpPr>
        <p:spPr>
          <a:xfrm>
            <a:off x="5086350" y="1238250"/>
            <a:ext cx="2219325" cy="28575"/>
          </a:xfrm>
          <a:prstGeom prst="rect">
            <a:avLst/>
          </a:prstGeom>
          <a:solidFill>
            <a:srgbClr val="B68757"/>
          </a:solidFill>
          <a:ln/>
        </p:spPr>
        <p:txBody>
          <a:bodyPr/>
          <a:lstStyle/>
          <a:p>
            <a:endParaRPr lang="en-US"/>
          </a:p>
        </p:txBody>
      </p:sp>
      <p:sp>
        <p:nvSpPr>
          <p:cNvPr id="53" name="Text 52"/>
          <p:cNvSpPr txBox="1"/>
          <p:nvPr/>
        </p:nvSpPr>
        <p:spPr>
          <a:xfrm>
            <a:off x="5210175" y="1366838"/>
            <a:ext cx="1971675" cy="142875"/>
          </a:xfrm>
          <a:prstGeom prst="rect">
            <a:avLst/>
          </a:prstGeom>
          <a:noFill/>
          <a:ln/>
        </p:spPr>
        <p:txBody>
          <a:bodyPr wrap="none" lIns="0" tIns="0" rIns="0" bIns="0" rtlCol="0" anchor="t"/>
          <a:lstStyle/>
          <a:p>
            <a:pPr marL="0" indent="0" algn="l">
              <a:lnSpc>
                <a:spcPts val="1125"/>
              </a:lnSpc>
              <a:buNone/>
            </a:pPr>
            <a:r>
              <a:rPr lang="en-US" sz="855" b="1" kern="0" spc="15" dirty="0">
                <a:solidFill>
                  <a:srgbClr val="1B1A1A"/>
                </a:solidFill>
                <a:latin typeface="Quicksand" pitchFamily="34" charset="0"/>
              </a:rPr>
              <a:t>E-commerce share of retail sales</a:t>
            </a:r>
            <a:endParaRPr lang="en-US" sz="855" dirty="0"/>
          </a:p>
        </p:txBody>
      </p:sp>
      <p:sp>
        <p:nvSpPr>
          <p:cNvPr id="54" name="Text 53"/>
          <p:cNvSpPr txBox="1"/>
          <p:nvPr/>
        </p:nvSpPr>
        <p:spPr>
          <a:xfrm>
            <a:off x="5210175" y="1509713"/>
            <a:ext cx="1985963" cy="228600"/>
          </a:xfrm>
          <a:prstGeom prst="rect">
            <a:avLst/>
          </a:prstGeom>
          <a:noFill/>
          <a:ln/>
        </p:spPr>
        <p:txBody>
          <a:bodyPr wrap="square" lIns="0" tIns="0" rIns="0" bIns="0" rtlCol="0" anchor="t"/>
          <a:lstStyle/>
          <a:p>
            <a:pPr marL="0" indent="0" algn="l">
              <a:lnSpc>
                <a:spcPts val="900"/>
              </a:lnSpc>
              <a:buNone/>
            </a:pPr>
            <a:r>
              <a:rPr lang="en-US" sz="645" kern="0" spc="15" dirty="0">
                <a:solidFill>
                  <a:srgbClr val="6F6A66"/>
                </a:solidFill>
                <a:latin typeface="Quicksand" pitchFamily="34" charset="0"/>
              </a:rPr>
              <a:t>Quarterly, seasonally adjusted, US Census Bureau</a:t>
            </a:r>
            <a:endParaRPr lang="en-US" sz="645" dirty="0"/>
          </a:p>
        </p:txBody>
      </p:sp>
      <p:sp>
        <p:nvSpPr>
          <p:cNvPr id="55" name="Text 54"/>
          <p:cNvSpPr txBox="1"/>
          <p:nvPr/>
        </p:nvSpPr>
        <p:spPr>
          <a:xfrm>
            <a:off x="5210175" y="1804988"/>
            <a:ext cx="761554" cy="266700"/>
          </a:xfrm>
          <a:prstGeom prst="rect">
            <a:avLst/>
          </a:prstGeom>
          <a:noFill/>
          <a:ln/>
        </p:spPr>
        <p:txBody>
          <a:bodyPr wrap="none" lIns="0" tIns="0" rIns="0" bIns="0" rtlCol="0" anchor="t"/>
          <a:lstStyle/>
          <a:p>
            <a:pPr marL="0" indent="0" algn="l">
              <a:lnSpc>
                <a:spcPts val="2100"/>
              </a:lnSpc>
              <a:buNone/>
            </a:pPr>
            <a:r>
              <a:rPr lang="en-US" sz="1875" kern="0" spc="15" dirty="0">
                <a:solidFill>
                  <a:srgbClr val="8C6239"/>
                </a:solidFill>
                <a:latin typeface="Newsreader SemiBold" pitchFamily="34" charset="0"/>
              </a:rPr>
              <a:t>17.1%</a:t>
            </a:r>
            <a:endParaRPr lang="en-US" sz="1875" dirty="0"/>
          </a:p>
        </p:txBody>
      </p:sp>
      <p:sp>
        <p:nvSpPr>
          <p:cNvPr id="56" name="Text 55"/>
          <p:cNvSpPr txBox="1"/>
          <p:nvPr/>
        </p:nvSpPr>
        <p:spPr>
          <a:xfrm>
            <a:off x="5210175" y="2071688"/>
            <a:ext cx="704404" cy="114300"/>
          </a:xfrm>
          <a:prstGeom prst="rect">
            <a:avLst/>
          </a:prstGeom>
          <a:noFill/>
          <a:ln/>
        </p:spPr>
        <p:txBody>
          <a:bodyPr wrap="none" lIns="0" tIns="0" rIns="0" bIns="0" rtlCol="0" anchor="t"/>
          <a:lstStyle/>
          <a:p>
            <a:pPr marL="0" indent="0" algn="l">
              <a:lnSpc>
                <a:spcPts val="900"/>
              </a:lnSpc>
              <a:buNone/>
            </a:pPr>
            <a:r>
              <a:rPr lang="en-US" sz="660" kern="0" spc="15" dirty="0">
                <a:solidFill>
                  <a:srgbClr val="6F6A66"/>
                </a:solidFill>
                <a:latin typeface="Quicksand" pitchFamily="34" charset="0"/>
              </a:rPr>
              <a:t>Q2 2026</a:t>
            </a:r>
            <a:endParaRPr lang="en-US" sz="660" dirty="0"/>
          </a:p>
        </p:txBody>
      </p:sp>
      <p:sp>
        <p:nvSpPr>
          <p:cNvPr id="57" name="Text 56"/>
          <p:cNvSpPr txBox="1"/>
          <p:nvPr/>
        </p:nvSpPr>
        <p:spPr>
          <a:xfrm>
            <a:off x="6613327" y="1919288"/>
            <a:ext cx="568523" cy="152400"/>
          </a:xfrm>
          <a:prstGeom prst="rect">
            <a:avLst/>
          </a:prstGeom>
          <a:noFill/>
          <a:ln/>
        </p:spPr>
        <p:txBody>
          <a:bodyPr wrap="none" lIns="0" tIns="0" rIns="0" bIns="0" rtlCol="0" anchor="t"/>
          <a:lstStyle/>
          <a:p>
            <a:pPr marL="0" indent="0" algn="r">
              <a:lnSpc>
                <a:spcPts val="1200"/>
              </a:lnSpc>
              <a:buNone/>
            </a:pPr>
            <a:r>
              <a:rPr lang="en-US" sz="900" b="1" kern="0" spc="15" dirty="0">
                <a:solidFill>
                  <a:srgbClr val="1B1A1A"/>
                </a:solidFill>
                <a:latin typeface="Quicksand" pitchFamily="34" charset="0"/>
              </a:rPr>
              <a:t>+0.8 pts</a:t>
            </a:r>
            <a:endParaRPr lang="en-US" sz="900" dirty="0"/>
          </a:p>
        </p:txBody>
      </p:sp>
      <p:sp>
        <p:nvSpPr>
          <p:cNvPr id="58" name="Text 57"/>
          <p:cNvSpPr txBox="1"/>
          <p:nvPr/>
        </p:nvSpPr>
        <p:spPr>
          <a:xfrm>
            <a:off x="6613327" y="2071688"/>
            <a:ext cx="568523" cy="114300"/>
          </a:xfrm>
          <a:prstGeom prst="rect">
            <a:avLst/>
          </a:prstGeom>
          <a:noFill/>
          <a:ln/>
        </p:spPr>
        <p:txBody>
          <a:bodyPr wrap="none" lIns="0" tIns="0" rIns="0" bIns="0" rtlCol="0" anchor="t"/>
          <a:lstStyle/>
          <a:p>
            <a:pPr marL="0" indent="0" algn="r">
              <a:lnSpc>
                <a:spcPts val="900"/>
              </a:lnSpc>
              <a:buNone/>
            </a:pPr>
            <a:r>
              <a:rPr lang="en-US" sz="660" kern="0" spc="15" dirty="0">
                <a:solidFill>
                  <a:srgbClr val="6F6A66"/>
                </a:solidFill>
                <a:latin typeface="Quicksand" pitchFamily="34" charset="0"/>
              </a:rPr>
              <a:t>over one year</a:t>
            </a:r>
            <a:endParaRPr lang="en-US" sz="660" dirty="0"/>
          </a:p>
        </p:txBody>
      </p:sp>
      <p:sp>
        <p:nvSpPr>
          <p:cNvPr id="59" name="Chart rule"/>
          <p:cNvSpPr/>
          <p:nvPr/>
        </p:nvSpPr>
        <p:spPr>
          <a:xfrm>
            <a:off x="5229225" y="3448050"/>
            <a:ext cx="1857375" cy="0"/>
          </a:xfrm>
          <a:prstGeom prst="line">
            <a:avLst/>
          </a:prstGeom>
          <a:noFill/>
          <a:ln w="9525">
            <a:solidFill>
              <a:srgbClr val="C3BDB6"/>
            </a:solidFill>
            <a:prstDash val="solid"/>
          </a:ln>
        </p:spPr>
        <p:txBody>
          <a:bodyPr/>
          <a:lstStyle/>
          <a:p>
            <a:endParaRPr lang="en-US"/>
          </a:p>
        </p:txBody>
      </p:sp>
      <p:sp>
        <p:nvSpPr>
          <p:cNvPr id="60" name="Chart rule"/>
          <p:cNvSpPr/>
          <p:nvPr/>
        </p:nvSpPr>
        <p:spPr>
          <a:xfrm>
            <a:off x="5582603" y="2324100"/>
            <a:ext cx="0" cy="1123950"/>
          </a:xfrm>
          <a:prstGeom prst="line">
            <a:avLst/>
          </a:prstGeom>
          <a:noFill/>
          <a:ln w="9525">
            <a:solidFill>
              <a:srgbClr val="E3DCD3"/>
            </a:solidFill>
            <a:prstDash val="solid"/>
          </a:ln>
        </p:spPr>
        <p:txBody>
          <a:bodyPr/>
          <a:lstStyle/>
          <a:p>
            <a:endParaRPr lang="en-US"/>
          </a:p>
        </p:txBody>
      </p:sp>
      <p:sp>
        <p:nvSpPr>
          <p:cNvPr id="61" name="Chart rule"/>
          <p:cNvSpPr/>
          <p:nvPr/>
        </p:nvSpPr>
        <p:spPr>
          <a:xfrm>
            <a:off x="5936933" y="2324100"/>
            <a:ext cx="0" cy="1123950"/>
          </a:xfrm>
          <a:prstGeom prst="line">
            <a:avLst/>
          </a:prstGeom>
          <a:noFill/>
          <a:ln w="9525">
            <a:solidFill>
              <a:srgbClr val="E3DCD3"/>
            </a:solidFill>
            <a:prstDash val="solid"/>
          </a:ln>
        </p:spPr>
        <p:txBody>
          <a:bodyPr/>
          <a:lstStyle/>
          <a:p>
            <a:endParaRPr lang="en-US"/>
          </a:p>
        </p:txBody>
      </p:sp>
      <p:sp>
        <p:nvSpPr>
          <p:cNvPr id="62" name="Chart rule"/>
          <p:cNvSpPr/>
          <p:nvPr/>
        </p:nvSpPr>
        <p:spPr>
          <a:xfrm>
            <a:off x="6290310" y="2324100"/>
            <a:ext cx="0" cy="1123950"/>
          </a:xfrm>
          <a:prstGeom prst="line">
            <a:avLst/>
          </a:prstGeom>
          <a:noFill/>
          <a:ln w="9525">
            <a:solidFill>
              <a:srgbClr val="E3DCD3"/>
            </a:solidFill>
            <a:prstDash val="solid"/>
          </a:ln>
        </p:spPr>
        <p:txBody>
          <a:bodyPr/>
          <a:lstStyle/>
          <a:p>
            <a:endParaRPr lang="en-US"/>
          </a:p>
        </p:txBody>
      </p:sp>
      <p:sp>
        <p:nvSpPr>
          <p:cNvPr id="63" name="Chart rule"/>
          <p:cNvSpPr/>
          <p:nvPr/>
        </p:nvSpPr>
        <p:spPr>
          <a:xfrm>
            <a:off x="6644640" y="2324100"/>
            <a:ext cx="0" cy="1123950"/>
          </a:xfrm>
          <a:prstGeom prst="line">
            <a:avLst/>
          </a:prstGeom>
          <a:noFill/>
          <a:ln w="9525">
            <a:solidFill>
              <a:srgbClr val="E3DCD3"/>
            </a:solidFill>
            <a:prstDash val="solid"/>
          </a:ln>
        </p:spPr>
        <p:txBody>
          <a:bodyPr/>
          <a:lstStyle/>
          <a:p>
            <a:endParaRPr lang="en-US"/>
          </a:p>
        </p:txBody>
      </p:sp>
      <p:sp>
        <p:nvSpPr>
          <p:cNvPr id="64" name="Chart rule"/>
          <p:cNvSpPr/>
          <p:nvPr/>
        </p:nvSpPr>
        <p:spPr>
          <a:xfrm>
            <a:off x="6998018" y="2324100"/>
            <a:ext cx="0" cy="1123950"/>
          </a:xfrm>
          <a:prstGeom prst="line">
            <a:avLst/>
          </a:prstGeom>
          <a:noFill/>
          <a:ln w="9525">
            <a:solidFill>
              <a:srgbClr val="E3DCD3"/>
            </a:solidFill>
            <a:prstDash val="solid"/>
          </a:ln>
        </p:spPr>
        <p:txBody>
          <a:bodyPr/>
          <a:lstStyle/>
          <a:p>
            <a:endParaRPr lang="en-US"/>
          </a:p>
        </p:txBody>
      </p:sp>
      <p:graphicFrame>
        <p:nvGraphicFramePr>
          <p:cNvPr id="65" name="Indicator chart 3"/>
          <p:cNvGraphicFramePr/>
          <p:nvPr/>
        </p:nvGraphicFramePr>
        <p:xfrm>
          <a:off x="5185002" y="2324100"/>
          <a:ext cx="1945821" cy="1123950"/>
        </p:xfrm>
        <a:graphic>
          <a:graphicData uri="http://schemas.openxmlformats.org/drawingml/2006/chart">
            <c:chart xmlns:c="http://schemas.openxmlformats.org/drawingml/2006/chart" xmlns:r="http://schemas.openxmlformats.org/officeDocument/2006/relationships" r:id="rId8"/>
          </a:graphicData>
        </a:graphic>
      </p:graphicFrame>
      <p:sp>
        <p:nvSpPr>
          <p:cNvPr id="66" name="Text 65"/>
          <p:cNvSpPr txBox="1"/>
          <p:nvPr/>
        </p:nvSpPr>
        <p:spPr>
          <a:xfrm>
            <a:off x="5601652" y="3486150"/>
            <a:ext cx="754607" cy="95250"/>
          </a:xfrm>
          <a:prstGeom prst="rect">
            <a:avLst/>
          </a:prstGeom>
          <a:noFill/>
          <a:ln/>
        </p:spPr>
        <p:txBody>
          <a:bodyPr wrap="none" lIns="0" tIns="0" rIns="0" bIns="0" rtlCol="0" anchor="t"/>
          <a:lstStyle/>
          <a:p>
            <a:pPr marL="0" indent="0" algn="l">
              <a:lnSpc>
                <a:spcPts val="750"/>
              </a:lnSpc>
              <a:buNone/>
            </a:pPr>
            <a:r>
              <a:rPr lang="en-US" sz="600" dirty="0">
                <a:solidFill>
                  <a:srgbClr val="6F6A66"/>
                </a:solidFill>
                <a:latin typeface="Quicksand" pitchFamily="34" charset="0"/>
              </a:rPr>
              <a:t>2022</a:t>
            </a:r>
            <a:endParaRPr lang="en-US" sz="600" dirty="0"/>
          </a:p>
        </p:txBody>
      </p:sp>
      <p:sp>
        <p:nvSpPr>
          <p:cNvPr id="67" name="Text 66"/>
          <p:cNvSpPr txBox="1"/>
          <p:nvPr/>
        </p:nvSpPr>
        <p:spPr>
          <a:xfrm>
            <a:off x="5955982" y="3486150"/>
            <a:ext cx="748903" cy="95250"/>
          </a:xfrm>
          <a:prstGeom prst="rect">
            <a:avLst/>
          </a:prstGeom>
          <a:noFill/>
          <a:ln/>
        </p:spPr>
        <p:txBody>
          <a:bodyPr wrap="none" lIns="0" tIns="0" rIns="0" bIns="0" rtlCol="0" anchor="t"/>
          <a:lstStyle/>
          <a:p>
            <a:pPr marL="0" indent="0" algn="l">
              <a:lnSpc>
                <a:spcPts val="750"/>
              </a:lnSpc>
              <a:buNone/>
            </a:pPr>
            <a:r>
              <a:rPr lang="en-US" sz="600" dirty="0">
                <a:solidFill>
                  <a:srgbClr val="6F6A66"/>
                </a:solidFill>
                <a:latin typeface="Quicksand" pitchFamily="34" charset="0"/>
              </a:rPr>
              <a:t>2023</a:t>
            </a:r>
            <a:endParaRPr lang="en-US" sz="600" dirty="0"/>
          </a:p>
        </p:txBody>
      </p:sp>
      <p:sp>
        <p:nvSpPr>
          <p:cNvPr id="68" name="Text 67"/>
          <p:cNvSpPr txBox="1"/>
          <p:nvPr/>
        </p:nvSpPr>
        <p:spPr>
          <a:xfrm>
            <a:off x="6309360" y="3486150"/>
            <a:ext cx="748010" cy="95250"/>
          </a:xfrm>
          <a:prstGeom prst="rect">
            <a:avLst/>
          </a:prstGeom>
          <a:noFill/>
          <a:ln/>
        </p:spPr>
        <p:txBody>
          <a:bodyPr wrap="none" lIns="0" tIns="0" rIns="0" bIns="0" rtlCol="0" anchor="t"/>
          <a:lstStyle/>
          <a:p>
            <a:pPr marL="0" indent="0" algn="l">
              <a:lnSpc>
                <a:spcPts val="750"/>
              </a:lnSpc>
              <a:buNone/>
            </a:pPr>
            <a:r>
              <a:rPr lang="en-US" sz="600" dirty="0">
                <a:solidFill>
                  <a:srgbClr val="6F6A66"/>
                </a:solidFill>
                <a:latin typeface="Quicksand" pitchFamily="34" charset="0"/>
              </a:rPr>
              <a:t>2024</a:t>
            </a:r>
            <a:endParaRPr lang="en-US" sz="600" dirty="0"/>
          </a:p>
        </p:txBody>
      </p:sp>
      <p:sp>
        <p:nvSpPr>
          <p:cNvPr id="69" name="Text 68"/>
          <p:cNvSpPr txBox="1"/>
          <p:nvPr/>
        </p:nvSpPr>
        <p:spPr>
          <a:xfrm>
            <a:off x="6663690" y="3486150"/>
            <a:ext cx="750540" cy="95250"/>
          </a:xfrm>
          <a:prstGeom prst="rect">
            <a:avLst/>
          </a:prstGeom>
          <a:noFill/>
          <a:ln/>
        </p:spPr>
        <p:txBody>
          <a:bodyPr wrap="none" lIns="0" tIns="0" rIns="0" bIns="0" rtlCol="0" anchor="t"/>
          <a:lstStyle/>
          <a:p>
            <a:pPr marL="0" indent="0" algn="l">
              <a:lnSpc>
                <a:spcPts val="750"/>
              </a:lnSpc>
              <a:buNone/>
            </a:pPr>
            <a:r>
              <a:rPr lang="en-US" sz="600" dirty="0">
                <a:solidFill>
                  <a:srgbClr val="6F6A66"/>
                </a:solidFill>
                <a:latin typeface="Quicksand" pitchFamily="34" charset="0"/>
              </a:rPr>
              <a:t>2025</a:t>
            </a:r>
            <a:endParaRPr lang="en-US" sz="600" dirty="0"/>
          </a:p>
        </p:txBody>
      </p:sp>
      <p:sp>
        <p:nvSpPr>
          <p:cNvPr id="70" name="Text 69"/>
          <p:cNvSpPr txBox="1"/>
          <p:nvPr/>
        </p:nvSpPr>
        <p:spPr>
          <a:xfrm>
            <a:off x="5210175" y="3838575"/>
            <a:ext cx="1971675" cy="114300"/>
          </a:xfrm>
          <a:prstGeom prst="rect">
            <a:avLst/>
          </a:prstGeom>
          <a:noFill/>
          <a:ln/>
        </p:spPr>
        <p:txBody>
          <a:bodyPr wrap="none" lIns="0" tIns="0" rIns="0" bIns="0" rtlCol="0" anchor="t"/>
          <a:lstStyle/>
          <a:p>
            <a:pPr marL="0" indent="0" algn="l">
              <a:lnSpc>
                <a:spcPts val="900"/>
              </a:lnSpc>
              <a:buNone/>
            </a:pPr>
            <a:r>
              <a:rPr lang="en-US" sz="630" kern="0" spc="15" dirty="0">
                <a:solidFill>
                  <a:srgbClr val="6F6A66"/>
                </a:solidFill>
                <a:latin typeface="Quicksand" pitchFamily="34" charset="0"/>
              </a:rPr>
              <a:t>Source: </a:t>
            </a:r>
            <a:r>
              <a:rPr lang="en-US" sz="630" u="sng" kern="0" spc="15" dirty="0">
                <a:solidFill>
                  <a:srgbClr val="8C6239"/>
                </a:solidFill>
                <a:latin typeface="Quicksand" pitchFamily="34" charset="0"/>
                <a:hlinkClick r:id="rId9">
                  <a:extLst>
                    <a:ext uri="{A12FA001-AC4F-418D-AE19-62706E023703}">
                      <ahyp:hlinkClr xmlns:ahyp="http://schemas.microsoft.com/office/drawing/2018/hyperlinkcolor" val="tx"/>
                    </a:ext>
                  </a:extLst>
                </a:hlinkClick>
              </a:rPr>
              <a:t>FRED, series ECOMPCTSA</a:t>
            </a:r>
            <a:endParaRPr lang="en-US" sz="630" dirty="0"/>
          </a:p>
        </p:txBody>
      </p:sp>
      <p:sp>
        <p:nvSpPr>
          <p:cNvPr id="71" name="Shape 70"/>
          <p:cNvSpPr/>
          <p:nvPr/>
        </p:nvSpPr>
        <p:spPr>
          <a:xfrm>
            <a:off x="7419975" y="1238250"/>
            <a:ext cx="2219325" cy="2790825"/>
          </a:xfrm>
          <a:prstGeom prst="rect">
            <a:avLst/>
          </a:prstGeom>
          <a:solidFill>
            <a:srgbClr val="FAF7F3"/>
          </a:solidFill>
          <a:ln/>
        </p:spPr>
        <p:txBody>
          <a:bodyPr/>
          <a:lstStyle/>
          <a:p>
            <a:endParaRPr lang="en-US"/>
          </a:p>
        </p:txBody>
      </p:sp>
      <p:sp>
        <p:nvSpPr>
          <p:cNvPr id="72" name="Shape 71"/>
          <p:cNvSpPr/>
          <p:nvPr/>
        </p:nvSpPr>
        <p:spPr>
          <a:xfrm>
            <a:off x="7419975" y="1238250"/>
            <a:ext cx="2219325" cy="28575"/>
          </a:xfrm>
          <a:prstGeom prst="rect">
            <a:avLst/>
          </a:prstGeom>
          <a:solidFill>
            <a:srgbClr val="B68757"/>
          </a:solidFill>
          <a:ln/>
        </p:spPr>
        <p:txBody>
          <a:bodyPr/>
          <a:lstStyle/>
          <a:p>
            <a:endParaRPr lang="en-US"/>
          </a:p>
        </p:txBody>
      </p:sp>
      <p:sp>
        <p:nvSpPr>
          <p:cNvPr id="73" name="Text 72"/>
          <p:cNvSpPr txBox="1"/>
          <p:nvPr/>
        </p:nvSpPr>
        <p:spPr>
          <a:xfrm>
            <a:off x="7543800" y="1366838"/>
            <a:ext cx="1971675" cy="142875"/>
          </a:xfrm>
          <a:prstGeom prst="rect">
            <a:avLst/>
          </a:prstGeom>
          <a:noFill/>
          <a:ln/>
        </p:spPr>
        <p:txBody>
          <a:bodyPr wrap="none" lIns="0" tIns="0" rIns="0" bIns="0" rtlCol="0" anchor="t"/>
          <a:lstStyle/>
          <a:p>
            <a:pPr marL="0" indent="0" algn="l">
              <a:lnSpc>
                <a:spcPts val="1125"/>
              </a:lnSpc>
              <a:buNone/>
            </a:pPr>
            <a:r>
              <a:rPr lang="en-US" sz="855" b="1" kern="0" spc="15" dirty="0">
                <a:solidFill>
                  <a:srgbClr val="1B1A1A"/>
                </a:solidFill>
                <a:latin typeface="Quicksand" pitchFamily="34" charset="0"/>
              </a:rPr>
              <a:t>Consumer sentiment</a:t>
            </a:r>
            <a:endParaRPr lang="en-US" sz="855" dirty="0"/>
          </a:p>
        </p:txBody>
      </p:sp>
      <p:sp>
        <p:nvSpPr>
          <p:cNvPr id="74" name="Text 73"/>
          <p:cNvSpPr txBox="1"/>
          <p:nvPr/>
        </p:nvSpPr>
        <p:spPr>
          <a:xfrm>
            <a:off x="7543800" y="1509713"/>
            <a:ext cx="1971675" cy="114300"/>
          </a:xfrm>
          <a:prstGeom prst="rect">
            <a:avLst/>
          </a:prstGeom>
          <a:noFill/>
          <a:ln/>
        </p:spPr>
        <p:txBody>
          <a:bodyPr wrap="none" lIns="0" tIns="0" rIns="0" bIns="0" rtlCol="0" anchor="t"/>
          <a:lstStyle/>
          <a:p>
            <a:pPr marL="0" indent="0" algn="l">
              <a:lnSpc>
                <a:spcPts val="900"/>
              </a:lnSpc>
              <a:buNone/>
            </a:pPr>
            <a:r>
              <a:rPr lang="en-US" sz="645" kern="0" spc="15" dirty="0">
                <a:solidFill>
                  <a:srgbClr val="6F6A66"/>
                </a:solidFill>
                <a:latin typeface="Quicksand" pitchFamily="34" charset="0"/>
              </a:rPr>
              <a:t>University of Michigan index, monthly</a:t>
            </a:r>
            <a:endParaRPr lang="en-US" sz="645" dirty="0"/>
          </a:p>
        </p:txBody>
      </p:sp>
      <p:sp>
        <p:nvSpPr>
          <p:cNvPr id="75" name="Text 74"/>
          <p:cNvSpPr txBox="1"/>
          <p:nvPr/>
        </p:nvSpPr>
        <p:spPr>
          <a:xfrm>
            <a:off x="7543800" y="1804988"/>
            <a:ext cx="560189" cy="266700"/>
          </a:xfrm>
          <a:prstGeom prst="rect">
            <a:avLst/>
          </a:prstGeom>
          <a:noFill/>
          <a:ln/>
        </p:spPr>
        <p:txBody>
          <a:bodyPr wrap="none" lIns="0" tIns="0" rIns="0" bIns="0" rtlCol="0" anchor="t"/>
          <a:lstStyle/>
          <a:p>
            <a:pPr marL="0" indent="0" algn="l">
              <a:lnSpc>
                <a:spcPts val="2100"/>
              </a:lnSpc>
              <a:buNone/>
            </a:pPr>
            <a:r>
              <a:rPr lang="en-US" sz="1875" kern="0" spc="15" dirty="0">
                <a:solidFill>
                  <a:srgbClr val="8C6239"/>
                </a:solidFill>
                <a:latin typeface="Newsreader SemiBold" pitchFamily="34" charset="0"/>
              </a:rPr>
              <a:t>48.1</a:t>
            </a:r>
            <a:endParaRPr lang="en-US" sz="1875" dirty="0"/>
          </a:p>
        </p:txBody>
      </p:sp>
      <p:sp>
        <p:nvSpPr>
          <p:cNvPr id="76" name="Text 75"/>
          <p:cNvSpPr txBox="1"/>
          <p:nvPr/>
        </p:nvSpPr>
        <p:spPr>
          <a:xfrm>
            <a:off x="7543800" y="2071688"/>
            <a:ext cx="503039" cy="114300"/>
          </a:xfrm>
          <a:prstGeom prst="rect">
            <a:avLst/>
          </a:prstGeom>
          <a:noFill/>
          <a:ln/>
        </p:spPr>
        <p:txBody>
          <a:bodyPr wrap="none" lIns="0" tIns="0" rIns="0" bIns="0" rtlCol="0" anchor="t"/>
          <a:lstStyle/>
          <a:p>
            <a:pPr marL="0" indent="0" algn="l">
              <a:lnSpc>
                <a:spcPts val="900"/>
              </a:lnSpc>
              <a:buNone/>
            </a:pPr>
            <a:r>
              <a:rPr lang="en-US" sz="660" kern="0" spc="15" dirty="0">
                <a:solidFill>
                  <a:srgbClr val="6F6A66"/>
                </a:solidFill>
                <a:latin typeface="Quicksand" pitchFamily="34" charset="0"/>
              </a:rPr>
              <a:t>Sep 2026</a:t>
            </a:r>
            <a:endParaRPr lang="en-US" sz="660" dirty="0"/>
          </a:p>
        </p:txBody>
      </p:sp>
      <p:sp>
        <p:nvSpPr>
          <p:cNvPr id="77" name="Text 76"/>
          <p:cNvSpPr txBox="1"/>
          <p:nvPr/>
        </p:nvSpPr>
        <p:spPr>
          <a:xfrm>
            <a:off x="8946952" y="1919288"/>
            <a:ext cx="568523" cy="152400"/>
          </a:xfrm>
          <a:prstGeom prst="rect">
            <a:avLst/>
          </a:prstGeom>
          <a:noFill/>
          <a:ln/>
        </p:spPr>
        <p:txBody>
          <a:bodyPr wrap="none" lIns="0" tIns="0" rIns="0" bIns="0" rtlCol="0" anchor="t"/>
          <a:lstStyle/>
          <a:p>
            <a:pPr marL="0" indent="0" algn="r">
              <a:lnSpc>
                <a:spcPts val="1200"/>
              </a:lnSpc>
              <a:buNone/>
            </a:pPr>
            <a:r>
              <a:rPr lang="en-US" sz="900" b="1" kern="0" spc="15" dirty="0">
                <a:solidFill>
                  <a:srgbClr val="1B1A1A"/>
                </a:solidFill>
                <a:latin typeface="Quicksand" pitchFamily="34" charset="0"/>
              </a:rPr>
              <a:t>−7.0 pts</a:t>
            </a:r>
            <a:endParaRPr lang="en-US" sz="900" dirty="0"/>
          </a:p>
        </p:txBody>
      </p:sp>
      <p:sp>
        <p:nvSpPr>
          <p:cNvPr id="78" name="Text 77"/>
          <p:cNvSpPr txBox="1"/>
          <p:nvPr/>
        </p:nvSpPr>
        <p:spPr>
          <a:xfrm>
            <a:off x="8946952" y="2071688"/>
            <a:ext cx="568523" cy="114300"/>
          </a:xfrm>
          <a:prstGeom prst="rect">
            <a:avLst/>
          </a:prstGeom>
          <a:noFill/>
          <a:ln/>
        </p:spPr>
        <p:txBody>
          <a:bodyPr wrap="none" lIns="0" tIns="0" rIns="0" bIns="0" rtlCol="0" anchor="t"/>
          <a:lstStyle/>
          <a:p>
            <a:pPr marL="0" indent="0" algn="r">
              <a:lnSpc>
                <a:spcPts val="900"/>
              </a:lnSpc>
              <a:buNone/>
            </a:pPr>
            <a:r>
              <a:rPr lang="en-US" sz="660" kern="0" spc="15" dirty="0">
                <a:solidFill>
                  <a:srgbClr val="6F6A66"/>
                </a:solidFill>
                <a:latin typeface="Quicksand" pitchFamily="34" charset="0"/>
              </a:rPr>
              <a:t>over one year</a:t>
            </a:r>
            <a:endParaRPr lang="en-US" sz="660" dirty="0"/>
          </a:p>
        </p:txBody>
      </p:sp>
      <p:sp>
        <p:nvSpPr>
          <p:cNvPr id="79" name="Chart rule"/>
          <p:cNvSpPr/>
          <p:nvPr/>
        </p:nvSpPr>
        <p:spPr>
          <a:xfrm>
            <a:off x="7562850" y="3448050"/>
            <a:ext cx="1857375" cy="0"/>
          </a:xfrm>
          <a:prstGeom prst="line">
            <a:avLst/>
          </a:prstGeom>
          <a:noFill/>
          <a:ln w="9525">
            <a:solidFill>
              <a:srgbClr val="C3BDB6"/>
            </a:solidFill>
            <a:prstDash val="solid"/>
          </a:ln>
        </p:spPr>
        <p:txBody>
          <a:bodyPr/>
          <a:lstStyle/>
          <a:p>
            <a:endParaRPr lang="en-US"/>
          </a:p>
        </p:txBody>
      </p:sp>
      <p:sp>
        <p:nvSpPr>
          <p:cNvPr id="80" name="Chart rule"/>
          <p:cNvSpPr/>
          <p:nvPr/>
        </p:nvSpPr>
        <p:spPr>
          <a:xfrm>
            <a:off x="7890510" y="2324100"/>
            <a:ext cx="0" cy="1123950"/>
          </a:xfrm>
          <a:prstGeom prst="line">
            <a:avLst/>
          </a:prstGeom>
          <a:noFill/>
          <a:ln w="9525">
            <a:solidFill>
              <a:srgbClr val="E3DCD3"/>
            </a:solidFill>
            <a:prstDash val="solid"/>
          </a:ln>
        </p:spPr>
        <p:txBody>
          <a:bodyPr/>
          <a:lstStyle/>
          <a:p>
            <a:endParaRPr lang="en-US"/>
          </a:p>
        </p:txBody>
      </p:sp>
      <p:sp>
        <p:nvSpPr>
          <p:cNvPr id="81" name="Chart rule"/>
          <p:cNvSpPr/>
          <p:nvPr/>
        </p:nvSpPr>
        <p:spPr>
          <a:xfrm>
            <a:off x="8218170" y="2324100"/>
            <a:ext cx="0" cy="1123950"/>
          </a:xfrm>
          <a:prstGeom prst="line">
            <a:avLst/>
          </a:prstGeom>
          <a:noFill/>
          <a:ln w="9525">
            <a:solidFill>
              <a:srgbClr val="E3DCD3"/>
            </a:solidFill>
            <a:prstDash val="solid"/>
          </a:ln>
        </p:spPr>
        <p:txBody>
          <a:bodyPr/>
          <a:lstStyle/>
          <a:p>
            <a:endParaRPr lang="en-US"/>
          </a:p>
        </p:txBody>
      </p:sp>
      <p:sp>
        <p:nvSpPr>
          <p:cNvPr id="82" name="Chart rule"/>
          <p:cNvSpPr/>
          <p:nvPr/>
        </p:nvSpPr>
        <p:spPr>
          <a:xfrm>
            <a:off x="8545830" y="2324100"/>
            <a:ext cx="0" cy="1123950"/>
          </a:xfrm>
          <a:prstGeom prst="line">
            <a:avLst/>
          </a:prstGeom>
          <a:noFill/>
          <a:ln w="9525">
            <a:solidFill>
              <a:srgbClr val="E3DCD3"/>
            </a:solidFill>
            <a:prstDash val="solid"/>
          </a:ln>
        </p:spPr>
        <p:txBody>
          <a:bodyPr/>
          <a:lstStyle/>
          <a:p>
            <a:endParaRPr lang="en-US"/>
          </a:p>
        </p:txBody>
      </p:sp>
      <p:sp>
        <p:nvSpPr>
          <p:cNvPr id="83" name="Chart rule"/>
          <p:cNvSpPr/>
          <p:nvPr/>
        </p:nvSpPr>
        <p:spPr>
          <a:xfrm>
            <a:off x="8873490" y="2324100"/>
            <a:ext cx="0" cy="1123950"/>
          </a:xfrm>
          <a:prstGeom prst="line">
            <a:avLst/>
          </a:prstGeom>
          <a:noFill/>
          <a:ln w="9525">
            <a:solidFill>
              <a:srgbClr val="E3DCD3"/>
            </a:solidFill>
            <a:prstDash val="solid"/>
          </a:ln>
        </p:spPr>
        <p:txBody>
          <a:bodyPr/>
          <a:lstStyle/>
          <a:p>
            <a:endParaRPr lang="en-US"/>
          </a:p>
        </p:txBody>
      </p:sp>
      <p:sp>
        <p:nvSpPr>
          <p:cNvPr id="84" name="Chart rule"/>
          <p:cNvSpPr/>
          <p:nvPr/>
        </p:nvSpPr>
        <p:spPr>
          <a:xfrm>
            <a:off x="9202103" y="2324100"/>
            <a:ext cx="0" cy="1123950"/>
          </a:xfrm>
          <a:prstGeom prst="line">
            <a:avLst/>
          </a:prstGeom>
          <a:noFill/>
          <a:ln w="9525">
            <a:solidFill>
              <a:srgbClr val="E3DCD3"/>
            </a:solidFill>
            <a:prstDash val="solid"/>
          </a:ln>
        </p:spPr>
        <p:txBody>
          <a:bodyPr/>
          <a:lstStyle/>
          <a:p>
            <a:endParaRPr lang="en-US"/>
          </a:p>
        </p:txBody>
      </p:sp>
      <p:graphicFrame>
        <p:nvGraphicFramePr>
          <p:cNvPr id="85" name="Indicator chart 4"/>
          <p:cNvGraphicFramePr/>
          <p:nvPr/>
        </p:nvGraphicFramePr>
        <p:xfrm>
          <a:off x="7549193" y="2324100"/>
          <a:ext cx="1884689" cy="1123950"/>
        </p:xfrm>
        <a:graphic>
          <a:graphicData uri="http://schemas.openxmlformats.org/drawingml/2006/chart">
            <c:chart xmlns:c="http://schemas.openxmlformats.org/drawingml/2006/chart" xmlns:r="http://schemas.openxmlformats.org/officeDocument/2006/relationships" r:id="rId10"/>
          </a:graphicData>
        </a:graphic>
      </p:graphicFrame>
      <p:sp>
        <p:nvSpPr>
          <p:cNvPr id="86" name="Text 85"/>
          <p:cNvSpPr txBox="1"/>
          <p:nvPr/>
        </p:nvSpPr>
        <p:spPr>
          <a:xfrm>
            <a:off x="7909560" y="3486150"/>
            <a:ext cx="754607" cy="95250"/>
          </a:xfrm>
          <a:prstGeom prst="rect">
            <a:avLst/>
          </a:prstGeom>
          <a:noFill/>
          <a:ln/>
        </p:spPr>
        <p:txBody>
          <a:bodyPr wrap="none" lIns="0" tIns="0" rIns="0" bIns="0" rtlCol="0" anchor="t"/>
          <a:lstStyle/>
          <a:p>
            <a:pPr marL="0" indent="0" algn="l">
              <a:lnSpc>
                <a:spcPts val="750"/>
              </a:lnSpc>
              <a:buNone/>
            </a:pPr>
            <a:r>
              <a:rPr lang="en-US" sz="600" dirty="0">
                <a:solidFill>
                  <a:srgbClr val="6F6A66"/>
                </a:solidFill>
                <a:latin typeface="Quicksand" pitchFamily="34" charset="0"/>
              </a:rPr>
              <a:t>2022</a:t>
            </a:r>
            <a:endParaRPr lang="en-US" sz="600" dirty="0"/>
          </a:p>
        </p:txBody>
      </p:sp>
      <p:sp>
        <p:nvSpPr>
          <p:cNvPr id="87" name="Text 86"/>
          <p:cNvSpPr txBox="1"/>
          <p:nvPr/>
        </p:nvSpPr>
        <p:spPr>
          <a:xfrm>
            <a:off x="8237220" y="3486150"/>
            <a:ext cx="748903" cy="95250"/>
          </a:xfrm>
          <a:prstGeom prst="rect">
            <a:avLst/>
          </a:prstGeom>
          <a:noFill/>
          <a:ln/>
        </p:spPr>
        <p:txBody>
          <a:bodyPr wrap="none" lIns="0" tIns="0" rIns="0" bIns="0" rtlCol="0" anchor="t"/>
          <a:lstStyle/>
          <a:p>
            <a:pPr marL="0" indent="0" algn="l">
              <a:lnSpc>
                <a:spcPts val="750"/>
              </a:lnSpc>
              <a:buNone/>
            </a:pPr>
            <a:r>
              <a:rPr lang="en-US" sz="600" dirty="0">
                <a:solidFill>
                  <a:srgbClr val="6F6A66"/>
                </a:solidFill>
                <a:latin typeface="Quicksand" pitchFamily="34" charset="0"/>
              </a:rPr>
              <a:t>2023</a:t>
            </a:r>
            <a:endParaRPr lang="en-US" sz="600" dirty="0"/>
          </a:p>
        </p:txBody>
      </p:sp>
      <p:sp>
        <p:nvSpPr>
          <p:cNvPr id="88" name="Text 87"/>
          <p:cNvSpPr txBox="1"/>
          <p:nvPr/>
        </p:nvSpPr>
        <p:spPr>
          <a:xfrm>
            <a:off x="8564880" y="3486150"/>
            <a:ext cx="748010" cy="95250"/>
          </a:xfrm>
          <a:prstGeom prst="rect">
            <a:avLst/>
          </a:prstGeom>
          <a:noFill/>
          <a:ln/>
        </p:spPr>
        <p:txBody>
          <a:bodyPr wrap="none" lIns="0" tIns="0" rIns="0" bIns="0" rtlCol="0" anchor="t"/>
          <a:lstStyle/>
          <a:p>
            <a:pPr marL="0" indent="0" algn="l">
              <a:lnSpc>
                <a:spcPts val="750"/>
              </a:lnSpc>
              <a:buNone/>
            </a:pPr>
            <a:r>
              <a:rPr lang="en-US" sz="600" dirty="0">
                <a:solidFill>
                  <a:srgbClr val="6F6A66"/>
                </a:solidFill>
                <a:latin typeface="Quicksand" pitchFamily="34" charset="0"/>
              </a:rPr>
              <a:t>2024</a:t>
            </a:r>
            <a:endParaRPr lang="en-US" sz="600" dirty="0"/>
          </a:p>
        </p:txBody>
      </p:sp>
      <p:sp>
        <p:nvSpPr>
          <p:cNvPr id="89" name="Text 88"/>
          <p:cNvSpPr txBox="1"/>
          <p:nvPr/>
        </p:nvSpPr>
        <p:spPr>
          <a:xfrm>
            <a:off x="8892540" y="3486150"/>
            <a:ext cx="750540" cy="95250"/>
          </a:xfrm>
          <a:prstGeom prst="rect">
            <a:avLst/>
          </a:prstGeom>
          <a:noFill/>
          <a:ln/>
        </p:spPr>
        <p:txBody>
          <a:bodyPr wrap="none" lIns="0" tIns="0" rIns="0" bIns="0" rtlCol="0" anchor="t"/>
          <a:lstStyle/>
          <a:p>
            <a:pPr marL="0" indent="0" algn="l">
              <a:lnSpc>
                <a:spcPts val="750"/>
              </a:lnSpc>
              <a:buNone/>
            </a:pPr>
            <a:r>
              <a:rPr lang="en-US" sz="600" dirty="0">
                <a:solidFill>
                  <a:srgbClr val="6F6A66"/>
                </a:solidFill>
                <a:latin typeface="Quicksand" pitchFamily="34" charset="0"/>
              </a:rPr>
              <a:t>2025</a:t>
            </a:r>
            <a:endParaRPr lang="en-US" sz="600" dirty="0"/>
          </a:p>
        </p:txBody>
      </p:sp>
      <p:sp>
        <p:nvSpPr>
          <p:cNvPr id="90" name="Text 89"/>
          <p:cNvSpPr txBox="1"/>
          <p:nvPr/>
        </p:nvSpPr>
        <p:spPr>
          <a:xfrm>
            <a:off x="9221152" y="3486150"/>
            <a:ext cx="754607" cy="95250"/>
          </a:xfrm>
          <a:prstGeom prst="rect">
            <a:avLst/>
          </a:prstGeom>
          <a:noFill/>
          <a:ln/>
        </p:spPr>
        <p:txBody>
          <a:bodyPr wrap="none" lIns="0" tIns="0" rIns="0" bIns="0" rtlCol="0" anchor="t"/>
          <a:lstStyle/>
          <a:p>
            <a:pPr marL="0" indent="0" algn="l">
              <a:lnSpc>
                <a:spcPts val="750"/>
              </a:lnSpc>
              <a:buNone/>
            </a:pPr>
            <a:r>
              <a:rPr lang="en-US" sz="600" dirty="0">
                <a:solidFill>
                  <a:srgbClr val="6F6A66"/>
                </a:solidFill>
                <a:latin typeface="Quicksand" pitchFamily="34" charset="0"/>
              </a:rPr>
              <a:t>2026</a:t>
            </a:r>
            <a:endParaRPr lang="en-US" sz="600" dirty="0"/>
          </a:p>
        </p:txBody>
      </p:sp>
      <p:sp>
        <p:nvSpPr>
          <p:cNvPr id="91" name="Text 90"/>
          <p:cNvSpPr txBox="1"/>
          <p:nvPr/>
        </p:nvSpPr>
        <p:spPr>
          <a:xfrm>
            <a:off x="7543800" y="3724275"/>
            <a:ext cx="1985963" cy="228600"/>
          </a:xfrm>
          <a:prstGeom prst="rect">
            <a:avLst/>
          </a:prstGeom>
          <a:noFill/>
          <a:ln/>
        </p:spPr>
        <p:txBody>
          <a:bodyPr wrap="square" lIns="0" tIns="0" rIns="0" bIns="0" rtlCol="0" anchor="t"/>
          <a:lstStyle/>
          <a:p>
            <a:pPr marL="0" indent="0" algn="l">
              <a:lnSpc>
                <a:spcPts val="900"/>
              </a:lnSpc>
              <a:buNone/>
            </a:pPr>
            <a:r>
              <a:rPr lang="en-US" sz="630" kern="0" spc="15" dirty="0">
                <a:solidFill>
                  <a:srgbClr val="6F6A66"/>
                </a:solidFill>
                <a:latin typeface="Quicksand" pitchFamily="34" charset="0"/>
              </a:rPr>
              <a:t>Source: </a:t>
            </a:r>
            <a:r>
              <a:rPr lang="en-US" sz="630" u="sng" kern="0" spc="15" dirty="0">
                <a:solidFill>
                  <a:srgbClr val="8C6239"/>
                </a:solidFill>
                <a:latin typeface="Quicksand" pitchFamily="34" charset="0"/>
                <a:hlinkClick r:id="rId11">
                  <a:extLst>
                    <a:ext uri="{A12FA001-AC4F-418D-AE19-62706E023703}">
                      <ahyp:hlinkClr xmlns:ahyp="http://schemas.microsoft.com/office/drawing/2018/hyperlinkcolor" val="tx"/>
                    </a:ext>
                  </a:extLst>
                </a:hlinkClick>
              </a:rPr>
              <a:t>FRED, series UMCSENT</a:t>
            </a:r>
            <a:r>
              <a:rPr lang="en-US" sz="630" kern="0" spc="15" dirty="0">
                <a:solidFill>
                  <a:srgbClr val="6F6A66"/>
                </a:solidFill>
                <a:latin typeface="Quicksand" pitchFamily="34" charset="0"/>
              </a:rPr>
              <a:t>; </a:t>
            </a:r>
            <a:r>
              <a:rPr lang="en-US" sz="630" u="sng" kern="0" spc="15" dirty="0">
                <a:solidFill>
                  <a:srgbClr val="8C6239"/>
                </a:solidFill>
                <a:latin typeface="Quicksand" pitchFamily="34" charset="0"/>
                <a:hlinkClick r:id="rId12">
                  <a:extLst>
                    <a:ext uri="{A12FA001-AC4F-418D-AE19-62706E023703}">
                      <ahyp:hlinkClr xmlns:ahyp="http://schemas.microsoft.com/office/drawing/2018/hyperlinkcolor" val="tx"/>
                    </a:ext>
                  </a:extLst>
                </a:hlinkClick>
              </a:rPr>
              <a:t>Surveys of Consumers</a:t>
            </a:r>
            <a:endParaRPr lang="en-US" sz="630" dirty="0"/>
          </a:p>
        </p:txBody>
      </p:sp>
      <p:sp>
        <p:nvSpPr>
          <p:cNvPr id="92" name="Shape 91"/>
          <p:cNvSpPr/>
          <p:nvPr/>
        </p:nvSpPr>
        <p:spPr>
          <a:xfrm>
            <a:off x="419100" y="4143375"/>
            <a:ext cx="2219325" cy="2790825"/>
          </a:xfrm>
          <a:prstGeom prst="rect">
            <a:avLst/>
          </a:prstGeom>
          <a:solidFill>
            <a:srgbClr val="FAF7F3"/>
          </a:solidFill>
          <a:ln/>
        </p:spPr>
        <p:txBody>
          <a:bodyPr/>
          <a:lstStyle/>
          <a:p>
            <a:endParaRPr lang="en-US"/>
          </a:p>
        </p:txBody>
      </p:sp>
      <p:sp>
        <p:nvSpPr>
          <p:cNvPr id="93" name="Shape 92"/>
          <p:cNvSpPr/>
          <p:nvPr/>
        </p:nvSpPr>
        <p:spPr>
          <a:xfrm>
            <a:off x="419100" y="4143375"/>
            <a:ext cx="2219325" cy="28575"/>
          </a:xfrm>
          <a:prstGeom prst="rect">
            <a:avLst/>
          </a:prstGeom>
          <a:solidFill>
            <a:srgbClr val="B68757"/>
          </a:solidFill>
          <a:ln/>
        </p:spPr>
        <p:txBody>
          <a:bodyPr/>
          <a:lstStyle/>
          <a:p>
            <a:endParaRPr lang="en-US"/>
          </a:p>
        </p:txBody>
      </p:sp>
      <p:sp>
        <p:nvSpPr>
          <p:cNvPr id="94" name="Text 93"/>
          <p:cNvSpPr txBox="1"/>
          <p:nvPr/>
        </p:nvSpPr>
        <p:spPr>
          <a:xfrm>
            <a:off x="542925" y="4271963"/>
            <a:ext cx="1971675" cy="142875"/>
          </a:xfrm>
          <a:prstGeom prst="rect">
            <a:avLst/>
          </a:prstGeom>
          <a:noFill/>
          <a:ln/>
        </p:spPr>
        <p:txBody>
          <a:bodyPr wrap="none" lIns="0" tIns="0" rIns="0" bIns="0" rtlCol="0" anchor="t"/>
          <a:lstStyle/>
          <a:p>
            <a:pPr marL="0" indent="0" algn="l">
              <a:lnSpc>
                <a:spcPts val="1125"/>
              </a:lnSpc>
              <a:buNone/>
            </a:pPr>
            <a:r>
              <a:rPr lang="en-US" sz="855" b="1" kern="0" spc="15" dirty="0">
                <a:solidFill>
                  <a:srgbClr val="1B1A1A"/>
                </a:solidFill>
                <a:latin typeface="Quicksand" pitchFamily="34" charset="0"/>
              </a:rPr>
              <a:t>Food at home prices</a:t>
            </a:r>
            <a:endParaRPr lang="en-US" sz="855" dirty="0"/>
          </a:p>
        </p:txBody>
      </p:sp>
      <p:sp>
        <p:nvSpPr>
          <p:cNvPr id="95" name="Text 94"/>
          <p:cNvSpPr txBox="1"/>
          <p:nvPr/>
        </p:nvSpPr>
        <p:spPr>
          <a:xfrm>
            <a:off x="542925" y="4414838"/>
            <a:ext cx="1985963" cy="228600"/>
          </a:xfrm>
          <a:prstGeom prst="rect">
            <a:avLst/>
          </a:prstGeom>
          <a:noFill/>
          <a:ln/>
        </p:spPr>
        <p:txBody>
          <a:bodyPr wrap="square" lIns="0" tIns="0" rIns="0" bIns="0" rtlCol="0" anchor="t"/>
          <a:lstStyle/>
          <a:p>
            <a:pPr marL="0" indent="0" algn="l">
              <a:lnSpc>
                <a:spcPts val="900"/>
              </a:lnSpc>
              <a:buNone/>
            </a:pPr>
            <a:r>
              <a:rPr lang="en-US" sz="645" kern="0" spc="15" dirty="0">
                <a:solidFill>
                  <a:srgbClr val="6F6A66"/>
                </a:solidFill>
                <a:latin typeface="Quicksand" pitchFamily="34" charset="0"/>
              </a:rPr>
              <a:t>Consumer price index, seasonally adjusted, 1982-84 = 100</a:t>
            </a:r>
            <a:endParaRPr lang="en-US" sz="645" dirty="0"/>
          </a:p>
        </p:txBody>
      </p:sp>
      <p:sp>
        <p:nvSpPr>
          <p:cNvPr id="96" name="Text 95"/>
          <p:cNvSpPr txBox="1"/>
          <p:nvPr/>
        </p:nvSpPr>
        <p:spPr>
          <a:xfrm>
            <a:off x="542925" y="4710113"/>
            <a:ext cx="707529" cy="266700"/>
          </a:xfrm>
          <a:prstGeom prst="rect">
            <a:avLst/>
          </a:prstGeom>
          <a:noFill/>
          <a:ln/>
        </p:spPr>
        <p:txBody>
          <a:bodyPr wrap="none" lIns="0" tIns="0" rIns="0" bIns="0" rtlCol="0" anchor="t"/>
          <a:lstStyle/>
          <a:p>
            <a:pPr marL="0" indent="0" algn="l">
              <a:lnSpc>
                <a:spcPts val="2100"/>
              </a:lnSpc>
              <a:buNone/>
            </a:pPr>
            <a:r>
              <a:rPr lang="en-US" sz="1875" kern="0" spc="15" dirty="0">
                <a:solidFill>
                  <a:srgbClr val="8C6239"/>
                </a:solidFill>
                <a:latin typeface="Newsreader SemiBold" pitchFamily="34" charset="0"/>
              </a:rPr>
              <a:t>321.3</a:t>
            </a:r>
            <a:endParaRPr lang="en-US" sz="1875" dirty="0"/>
          </a:p>
        </p:txBody>
      </p:sp>
      <p:sp>
        <p:nvSpPr>
          <p:cNvPr id="97" name="Text 96"/>
          <p:cNvSpPr txBox="1"/>
          <p:nvPr/>
        </p:nvSpPr>
        <p:spPr>
          <a:xfrm>
            <a:off x="542925" y="4976813"/>
            <a:ext cx="650379" cy="114300"/>
          </a:xfrm>
          <a:prstGeom prst="rect">
            <a:avLst/>
          </a:prstGeom>
          <a:noFill/>
          <a:ln/>
        </p:spPr>
        <p:txBody>
          <a:bodyPr wrap="none" lIns="0" tIns="0" rIns="0" bIns="0" rtlCol="0" anchor="t"/>
          <a:lstStyle/>
          <a:p>
            <a:pPr marL="0" indent="0" algn="l">
              <a:lnSpc>
                <a:spcPts val="900"/>
              </a:lnSpc>
              <a:buNone/>
            </a:pPr>
            <a:r>
              <a:rPr lang="en-US" sz="660" kern="0" spc="15" dirty="0">
                <a:solidFill>
                  <a:srgbClr val="6F6A66"/>
                </a:solidFill>
                <a:latin typeface="Quicksand" pitchFamily="34" charset="0"/>
              </a:rPr>
              <a:t>Aug 2026</a:t>
            </a:r>
            <a:endParaRPr lang="en-US" sz="660" dirty="0"/>
          </a:p>
        </p:txBody>
      </p:sp>
      <p:sp>
        <p:nvSpPr>
          <p:cNvPr id="98" name="Text 97"/>
          <p:cNvSpPr txBox="1"/>
          <p:nvPr/>
        </p:nvSpPr>
        <p:spPr>
          <a:xfrm>
            <a:off x="1946077" y="4824413"/>
            <a:ext cx="568523" cy="152400"/>
          </a:xfrm>
          <a:prstGeom prst="rect">
            <a:avLst/>
          </a:prstGeom>
          <a:noFill/>
          <a:ln/>
        </p:spPr>
        <p:txBody>
          <a:bodyPr wrap="none" lIns="0" tIns="0" rIns="0" bIns="0" rtlCol="0" anchor="t"/>
          <a:lstStyle/>
          <a:p>
            <a:pPr marL="0" indent="0" algn="r">
              <a:lnSpc>
                <a:spcPts val="1200"/>
              </a:lnSpc>
              <a:buNone/>
            </a:pPr>
            <a:r>
              <a:rPr lang="en-US" sz="900" b="1" kern="0" spc="15" dirty="0">
                <a:solidFill>
                  <a:srgbClr val="1B1A1A"/>
                </a:solidFill>
                <a:latin typeface="Quicksand" pitchFamily="34" charset="0"/>
              </a:rPr>
              <a:t>+2.1%</a:t>
            </a:r>
            <a:endParaRPr lang="en-US" sz="900" dirty="0"/>
          </a:p>
        </p:txBody>
      </p:sp>
      <p:sp>
        <p:nvSpPr>
          <p:cNvPr id="99" name="Text 98"/>
          <p:cNvSpPr txBox="1"/>
          <p:nvPr/>
        </p:nvSpPr>
        <p:spPr>
          <a:xfrm>
            <a:off x="1946077" y="4976813"/>
            <a:ext cx="568523" cy="114300"/>
          </a:xfrm>
          <a:prstGeom prst="rect">
            <a:avLst/>
          </a:prstGeom>
          <a:noFill/>
          <a:ln/>
        </p:spPr>
        <p:txBody>
          <a:bodyPr wrap="none" lIns="0" tIns="0" rIns="0" bIns="0" rtlCol="0" anchor="t"/>
          <a:lstStyle/>
          <a:p>
            <a:pPr marL="0" indent="0" algn="r">
              <a:lnSpc>
                <a:spcPts val="900"/>
              </a:lnSpc>
              <a:buNone/>
            </a:pPr>
            <a:r>
              <a:rPr lang="en-US" sz="660" kern="0" spc="15" dirty="0">
                <a:solidFill>
                  <a:srgbClr val="6F6A66"/>
                </a:solidFill>
                <a:latin typeface="Quicksand" pitchFamily="34" charset="0"/>
              </a:rPr>
              <a:t>over one year</a:t>
            </a:r>
            <a:endParaRPr lang="en-US" sz="660" dirty="0"/>
          </a:p>
        </p:txBody>
      </p:sp>
      <p:sp>
        <p:nvSpPr>
          <p:cNvPr id="100" name="Chart rule"/>
          <p:cNvSpPr/>
          <p:nvPr/>
        </p:nvSpPr>
        <p:spPr>
          <a:xfrm>
            <a:off x="561975" y="6353175"/>
            <a:ext cx="1857375" cy="0"/>
          </a:xfrm>
          <a:prstGeom prst="line">
            <a:avLst/>
          </a:prstGeom>
          <a:noFill/>
          <a:ln w="9525">
            <a:solidFill>
              <a:srgbClr val="C3BDB6"/>
            </a:solidFill>
            <a:prstDash val="solid"/>
          </a:ln>
        </p:spPr>
        <p:txBody>
          <a:bodyPr/>
          <a:lstStyle/>
          <a:p>
            <a:endParaRPr lang="en-US"/>
          </a:p>
        </p:txBody>
      </p:sp>
      <p:sp>
        <p:nvSpPr>
          <p:cNvPr id="101" name="Chart rule"/>
          <p:cNvSpPr/>
          <p:nvPr/>
        </p:nvSpPr>
        <p:spPr>
          <a:xfrm>
            <a:off x="900113" y="5229225"/>
            <a:ext cx="0" cy="1123950"/>
          </a:xfrm>
          <a:prstGeom prst="line">
            <a:avLst/>
          </a:prstGeom>
          <a:noFill/>
          <a:ln w="9525">
            <a:solidFill>
              <a:srgbClr val="E3DCD3"/>
            </a:solidFill>
            <a:prstDash val="solid"/>
          </a:ln>
        </p:spPr>
        <p:txBody>
          <a:bodyPr/>
          <a:lstStyle/>
          <a:p>
            <a:endParaRPr lang="en-US"/>
          </a:p>
        </p:txBody>
      </p:sp>
      <p:sp>
        <p:nvSpPr>
          <p:cNvPr id="102" name="Chart rule"/>
          <p:cNvSpPr/>
          <p:nvPr/>
        </p:nvSpPr>
        <p:spPr>
          <a:xfrm>
            <a:off x="1237298" y="5229225"/>
            <a:ext cx="0" cy="1123950"/>
          </a:xfrm>
          <a:prstGeom prst="line">
            <a:avLst/>
          </a:prstGeom>
          <a:noFill/>
          <a:ln w="9525">
            <a:solidFill>
              <a:srgbClr val="E3DCD3"/>
            </a:solidFill>
            <a:prstDash val="solid"/>
          </a:ln>
        </p:spPr>
        <p:txBody>
          <a:bodyPr/>
          <a:lstStyle/>
          <a:p>
            <a:endParaRPr lang="en-US"/>
          </a:p>
        </p:txBody>
      </p:sp>
      <p:sp>
        <p:nvSpPr>
          <p:cNvPr id="103" name="Chart rule"/>
          <p:cNvSpPr/>
          <p:nvPr/>
        </p:nvSpPr>
        <p:spPr>
          <a:xfrm>
            <a:off x="1575435" y="5229225"/>
            <a:ext cx="0" cy="1123950"/>
          </a:xfrm>
          <a:prstGeom prst="line">
            <a:avLst/>
          </a:prstGeom>
          <a:noFill/>
          <a:ln w="9525">
            <a:solidFill>
              <a:srgbClr val="E3DCD3"/>
            </a:solidFill>
            <a:prstDash val="solid"/>
          </a:ln>
        </p:spPr>
        <p:txBody>
          <a:bodyPr/>
          <a:lstStyle/>
          <a:p>
            <a:endParaRPr lang="en-US"/>
          </a:p>
        </p:txBody>
      </p:sp>
      <p:sp>
        <p:nvSpPr>
          <p:cNvPr id="104" name="Chart rule"/>
          <p:cNvSpPr/>
          <p:nvPr/>
        </p:nvSpPr>
        <p:spPr>
          <a:xfrm>
            <a:off x="1912620" y="5229225"/>
            <a:ext cx="0" cy="1123950"/>
          </a:xfrm>
          <a:prstGeom prst="line">
            <a:avLst/>
          </a:prstGeom>
          <a:noFill/>
          <a:ln w="9525">
            <a:solidFill>
              <a:srgbClr val="E3DCD3"/>
            </a:solidFill>
            <a:prstDash val="solid"/>
          </a:ln>
        </p:spPr>
        <p:txBody>
          <a:bodyPr/>
          <a:lstStyle/>
          <a:p>
            <a:endParaRPr lang="en-US"/>
          </a:p>
        </p:txBody>
      </p:sp>
      <p:sp>
        <p:nvSpPr>
          <p:cNvPr id="105" name="Chart rule"/>
          <p:cNvSpPr/>
          <p:nvPr/>
        </p:nvSpPr>
        <p:spPr>
          <a:xfrm>
            <a:off x="2222183" y="5229225"/>
            <a:ext cx="0" cy="1123950"/>
          </a:xfrm>
          <a:prstGeom prst="line">
            <a:avLst/>
          </a:prstGeom>
          <a:noFill/>
          <a:ln w="9525">
            <a:solidFill>
              <a:srgbClr val="E3DCD3"/>
            </a:solidFill>
            <a:prstDash val="solid"/>
          </a:ln>
        </p:spPr>
        <p:txBody>
          <a:bodyPr/>
          <a:lstStyle/>
          <a:p>
            <a:endParaRPr lang="en-US"/>
          </a:p>
        </p:txBody>
      </p:sp>
      <p:graphicFrame>
        <p:nvGraphicFramePr>
          <p:cNvPr id="106" name="Indicator chart 5"/>
          <p:cNvGraphicFramePr/>
          <p:nvPr/>
        </p:nvGraphicFramePr>
        <p:xfrm>
          <a:off x="547904" y="5229225"/>
          <a:ext cx="1885517" cy="1123950"/>
        </p:xfrm>
        <a:graphic>
          <a:graphicData uri="http://schemas.openxmlformats.org/drawingml/2006/chart">
            <c:chart xmlns:c="http://schemas.openxmlformats.org/drawingml/2006/chart" xmlns:r="http://schemas.openxmlformats.org/officeDocument/2006/relationships" r:id="rId13"/>
          </a:graphicData>
        </a:graphic>
      </p:graphicFrame>
      <p:sp>
        <p:nvSpPr>
          <p:cNvPr id="107" name="Text 106"/>
          <p:cNvSpPr txBox="1"/>
          <p:nvPr/>
        </p:nvSpPr>
        <p:spPr>
          <a:xfrm>
            <a:off x="919162" y="6391275"/>
            <a:ext cx="754607" cy="95250"/>
          </a:xfrm>
          <a:prstGeom prst="rect">
            <a:avLst/>
          </a:prstGeom>
          <a:noFill/>
          <a:ln/>
        </p:spPr>
        <p:txBody>
          <a:bodyPr wrap="none" lIns="0" tIns="0" rIns="0" bIns="0" rtlCol="0" anchor="t"/>
          <a:lstStyle/>
          <a:p>
            <a:pPr marL="0" indent="0" algn="l">
              <a:lnSpc>
                <a:spcPts val="750"/>
              </a:lnSpc>
              <a:buNone/>
            </a:pPr>
            <a:r>
              <a:rPr lang="en-US" sz="600" dirty="0">
                <a:solidFill>
                  <a:srgbClr val="6F6A66"/>
                </a:solidFill>
                <a:latin typeface="Quicksand" pitchFamily="34" charset="0"/>
              </a:rPr>
              <a:t>2022</a:t>
            </a:r>
            <a:endParaRPr lang="en-US" sz="600" dirty="0"/>
          </a:p>
        </p:txBody>
      </p:sp>
      <p:sp>
        <p:nvSpPr>
          <p:cNvPr id="108" name="Text 107"/>
          <p:cNvSpPr txBox="1"/>
          <p:nvPr/>
        </p:nvSpPr>
        <p:spPr>
          <a:xfrm>
            <a:off x="1256347" y="6391275"/>
            <a:ext cx="748903" cy="95250"/>
          </a:xfrm>
          <a:prstGeom prst="rect">
            <a:avLst/>
          </a:prstGeom>
          <a:noFill/>
          <a:ln/>
        </p:spPr>
        <p:txBody>
          <a:bodyPr wrap="none" lIns="0" tIns="0" rIns="0" bIns="0" rtlCol="0" anchor="t"/>
          <a:lstStyle/>
          <a:p>
            <a:pPr marL="0" indent="0" algn="l">
              <a:lnSpc>
                <a:spcPts val="750"/>
              </a:lnSpc>
              <a:buNone/>
            </a:pPr>
            <a:r>
              <a:rPr lang="en-US" sz="600" dirty="0">
                <a:solidFill>
                  <a:srgbClr val="6F6A66"/>
                </a:solidFill>
                <a:latin typeface="Quicksand" pitchFamily="34" charset="0"/>
              </a:rPr>
              <a:t>2023</a:t>
            </a:r>
            <a:endParaRPr lang="en-US" sz="600" dirty="0"/>
          </a:p>
        </p:txBody>
      </p:sp>
      <p:sp>
        <p:nvSpPr>
          <p:cNvPr id="109" name="Text 108"/>
          <p:cNvSpPr txBox="1"/>
          <p:nvPr/>
        </p:nvSpPr>
        <p:spPr>
          <a:xfrm>
            <a:off x="1594485" y="6391275"/>
            <a:ext cx="748010" cy="95250"/>
          </a:xfrm>
          <a:prstGeom prst="rect">
            <a:avLst/>
          </a:prstGeom>
          <a:noFill/>
          <a:ln/>
        </p:spPr>
        <p:txBody>
          <a:bodyPr wrap="none" lIns="0" tIns="0" rIns="0" bIns="0" rtlCol="0" anchor="t"/>
          <a:lstStyle/>
          <a:p>
            <a:pPr marL="0" indent="0" algn="l">
              <a:lnSpc>
                <a:spcPts val="750"/>
              </a:lnSpc>
              <a:buNone/>
            </a:pPr>
            <a:r>
              <a:rPr lang="en-US" sz="600" dirty="0">
                <a:solidFill>
                  <a:srgbClr val="6F6A66"/>
                </a:solidFill>
                <a:latin typeface="Quicksand" pitchFamily="34" charset="0"/>
              </a:rPr>
              <a:t>2024</a:t>
            </a:r>
            <a:endParaRPr lang="en-US" sz="600" dirty="0"/>
          </a:p>
        </p:txBody>
      </p:sp>
      <p:sp>
        <p:nvSpPr>
          <p:cNvPr id="110" name="Text 109"/>
          <p:cNvSpPr txBox="1"/>
          <p:nvPr/>
        </p:nvSpPr>
        <p:spPr>
          <a:xfrm>
            <a:off x="1931670" y="6391275"/>
            <a:ext cx="750540" cy="95250"/>
          </a:xfrm>
          <a:prstGeom prst="rect">
            <a:avLst/>
          </a:prstGeom>
          <a:noFill/>
          <a:ln/>
        </p:spPr>
        <p:txBody>
          <a:bodyPr wrap="none" lIns="0" tIns="0" rIns="0" bIns="0" rtlCol="0" anchor="t"/>
          <a:lstStyle/>
          <a:p>
            <a:pPr marL="0" indent="0" algn="l">
              <a:lnSpc>
                <a:spcPts val="750"/>
              </a:lnSpc>
              <a:buNone/>
            </a:pPr>
            <a:r>
              <a:rPr lang="en-US" sz="600" dirty="0">
                <a:solidFill>
                  <a:srgbClr val="6F6A66"/>
                </a:solidFill>
                <a:latin typeface="Quicksand" pitchFamily="34" charset="0"/>
              </a:rPr>
              <a:t>2025</a:t>
            </a:r>
            <a:endParaRPr lang="en-US" sz="600" dirty="0"/>
          </a:p>
        </p:txBody>
      </p:sp>
      <p:sp>
        <p:nvSpPr>
          <p:cNvPr id="111" name="Text 110"/>
          <p:cNvSpPr txBox="1"/>
          <p:nvPr/>
        </p:nvSpPr>
        <p:spPr>
          <a:xfrm>
            <a:off x="2241233" y="6391275"/>
            <a:ext cx="754607" cy="95250"/>
          </a:xfrm>
          <a:prstGeom prst="rect">
            <a:avLst/>
          </a:prstGeom>
          <a:noFill/>
          <a:ln/>
        </p:spPr>
        <p:txBody>
          <a:bodyPr wrap="none" lIns="0" tIns="0" rIns="0" bIns="0" rtlCol="0" anchor="t"/>
          <a:lstStyle/>
          <a:p>
            <a:pPr marL="0" indent="0" algn="l">
              <a:lnSpc>
                <a:spcPts val="750"/>
              </a:lnSpc>
              <a:buNone/>
            </a:pPr>
            <a:r>
              <a:rPr lang="en-US" sz="600" dirty="0">
                <a:solidFill>
                  <a:srgbClr val="6F6A66"/>
                </a:solidFill>
                <a:latin typeface="Quicksand" pitchFamily="34" charset="0"/>
              </a:rPr>
              <a:t>2026</a:t>
            </a:r>
            <a:endParaRPr lang="en-US" sz="600" dirty="0"/>
          </a:p>
        </p:txBody>
      </p:sp>
      <p:sp>
        <p:nvSpPr>
          <p:cNvPr id="112" name="Text 111"/>
          <p:cNvSpPr txBox="1"/>
          <p:nvPr/>
        </p:nvSpPr>
        <p:spPr>
          <a:xfrm>
            <a:off x="542925" y="6743700"/>
            <a:ext cx="1971675" cy="114300"/>
          </a:xfrm>
          <a:prstGeom prst="rect">
            <a:avLst/>
          </a:prstGeom>
          <a:noFill/>
          <a:ln/>
        </p:spPr>
        <p:txBody>
          <a:bodyPr wrap="none" lIns="0" tIns="0" rIns="0" bIns="0" rtlCol="0" anchor="t"/>
          <a:lstStyle/>
          <a:p>
            <a:pPr marL="0" indent="0" algn="l">
              <a:lnSpc>
                <a:spcPts val="900"/>
              </a:lnSpc>
              <a:buNone/>
            </a:pPr>
            <a:r>
              <a:rPr lang="en-US" sz="630" kern="0" spc="15" dirty="0">
                <a:solidFill>
                  <a:srgbClr val="6F6A66"/>
                </a:solidFill>
                <a:latin typeface="Quicksand" pitchFamily="34" charset="0"/>
              </a:rPr>
              <a:t>Source: </a:t>
            </a:r>
            <a:r>
              <a:rPr lang="en-US" sz="630" u="sng" kern="0" spc="15" dirty="0">
                <a:solidFill>
                  <a:srgbClr val="8C6239"/>
                </a:solidFill>
                <a:latin typeface="Quicksand" pitchFamily="34" charset="0"/>
                <a:hlinkClick r:id="rId14">
                  <a:extLst>
                    <a:ext uri="{A12FA001-AC4F-418D-AE19-62706E023703}">
                      <ahyp:hlinkClr xmlns:ahyp="http://schemas.microsoft.com/office/drawing/2018/hyperlinkcolor" val="tx"/>
                    </a:ext>
                  </a:extLst>
                </a:hlinkClick>
              </a:rPr>
              <a:t>FRED, series CUSR0000SAF11</a:t>
            </a:r>
            <a:endParaRPr lang="en-US" sz="630" dirty="0"/>
          </a:p>
        </p:txBody>
      </p:sp>
      <p:sp>
        <p:nvSpPr>
          <p:cNvPr id="113" name="Shape 112"/>
          <p:cNvSpPr/>
          <p:nvPr/>
        </p:nvSpPr>
        <p:spPr>
          <a:xfrm>
            <a:off x="2752725" y="4143375"/>
            <a:ext cx="2219325" cy="2790825"/>
          </a:xfrm>
          <a:prstGeom prst="rect">
            <a:avLst/>
          </a:prstGeom>
          <a:solidFill>
            <a:srgbClr val="FAF7F3"/>
          </a:solidFill>
          <a:ln/>
        </p:spPr>
        <p:txBody>
          <a:bodyPr/>
          <a:lstStyle/>
          <a:p>
            <a:endParaRPr lang="en-US"/>
          </a:p>
        </p:txBody>
      </p:sp>
      <p:sp>
        <p:nvSpPr>
          <p:cNvPr id="114" name="Shape 113"/>
          <p:cNvSpPr/>
          <p:nvPr/>
        </p:nvSpPr>
        <p:spPr>
          <a:xfrm>
            <a:off x="2752725" y="4143375"/>
            <a:ext cx="2219325" cy="28575"/>
          </a:xfrm>
          <a:prstGeom prst="rect">
            <a:avLst/>
          </a:prstGeom>
          <a:solidFill>
            <a:srgbClr val="B68757"/>
          </a:solidFill>
          <a:ln/>
        </p:spPr>
        <p:txBody>
          <a:bodyPr/>
          <a:lstStyle/>
          <a:p>
            <a:endParaRPr lang="en-US"/>
          </a:p>
        </p:txBody>
      </p:sp>
      <p:sp>
        <p:nvSpPr>
          <p:cNvPr id="115" name="Text 114"/>
          <p:cNvSpPr txBox="1"/>
          <p:nvPr/>
        </p:nvSpPr>
        <p:spPr>
          <a:xfrm>
            <a:off x="2876550" y="4271963"/>
            <a:ext cx="1971675" cy="142875"/>
          </a:xfrm>
          <a:prstGeom prst="rect">
            <a:avLst/>
          </a:prstGeom>
          <a:noFill/>
          <a:ln/>
        </p:spPr>
        <p:txBody>
          <a:bodyPr wrap="none" lIns="0" tIns="0" rIns="0" bIns="0" rtlCol="0" anchor="t"/>
          <a:lstStyle/>
          <a:p>
            <a:pPr marL="0" indent="0" algn="l">
              <a:lnSpc>
                <a:spcPts val="1125"/>
              </a:lnSpc>
              <a:buNone/>
            </a:pPr>
            <a:r>
              <a:rPr lang="en-US" sz="855" b="1" kern="0" spc="15" dirty="0">
                <a:solidFill>
                  <a:srgbClr val="1B1A1A"/>
                </a:solidFill>
                <a:latin typeface="Quicksand" pitchFamily="34" charset="0"/>
              </a:rPr>
              <a:t>Food away from home prices</a:t>
            </a:r>
            <a:endParaRPr lang="en-US" sz="855" dirty="0"/>
          </a:p>
        </p:txBody>
      </p:sp>
      <p:sp>
        <p:nvSpPr>
          <p:cNvPr id="116" name="Text 115"/>
          <p:cNvSpPr txBox="1"/>
          <p:nvPr/>
        </p:nvSpPr>
        <p:spPr>
          <a:xfrm>
            <a:off x="2876550" y="4414838"/>
            <a:ext cx="1985963" cy="228600"/>
          </a:xfrm>
          <a:prstGeom prst="rect">
            <a:avLst/>
          </a:prstGeom>
          <a:noFill/>
          <a:ln/>
        </p:spPr>
        <p:txBody>
          <a:bodyPr wrap="square" lIns="0" tIns="0" rIns="0" bIns="0" rtlCol="0" anchor="t"/>
          <a:lstStyle/>
          <a:p>
            <a:pPr marL="0" indent="0" algn="l">
              <a:lnSpc>
                <a:spcPts val="900"/>
              </a:lnSpc>
              <a:buNone/>
            </a:pPr>
            <a:r>
              <a:rPr lang="en-US" sz="645" kern="0" spc="15" dirty="0">
                <a:solidFill>
                  <a:srgbClr val="6F6A66"/>
                </a:solidFill>
                <a:latin typeface="Quicksand" pitchFamily="34" charset="0"/>
              </a:rPr>
              <a:t>Consumer price index, seasonally adjusted, 1982-84 = 100</a:t>
            </a:r>
            <a:endParaRPr lang="en-US" sz="645" dirty="0"/>
          </a:p>
        </p:txBody>
      </p:sp>
      <p:sp>
        <p:nvSpPr>
          <p:cNvPr id="117" name="Text 116"/>
          <p:cNvSpPr txBox="1"/>
          <p:nvPr/>
        </p:nvSpPr>
        <p:spPr>
          <a:xfrm>
            <a:off x="2876550" y="4710113"/>
            <a:ext cx="707529" cy="266700"/>
          </a:xfrm>
          <a:prstGeom prst="rect">
            <a:avLst/>
          </a:prstGeom>
          <a:noFill/>
          <a:ln/>
        </p:spPr>
        <p:txBody>
          <a:bodyPr wrap="none" lIns="0" tIns="0" rIns="0" bIns="0" rtlCol="0" anchor="t"/>
          <a:lstStyle/>
          <a:p>
            <a:pPr marL="0" indent="0" algn="l">
              <a:lnSpc>
                <a:spcPts val="2100"/>
              </a:lnSpc>
              <a:buNone/>
            </a:pPr>
            <a:r>
              <a:rPr lang="en-US" sz="1875" kern="0" spc="15" dirty="0">
                <a:solidFill>
                  <a:srgbClr val="8C6239"/>
                </a:solidFill>
                <a:latin typeface="Newsreader SemiBold" pitchFamily="34" charset="0"/>
              </a:rPr>
              <a:t>397.9</a:t>
            </a:r>
            <a:endParaRPr lang="en-US" sz="1875" dirty="0"/>
          </a:p>
        </p:txBody>
      </p:sp>
      <p:sp>
        <p:nvSpPr>
          <p:cNvPr id="118" name="Text 117"/>
          <p:cNvSpPr txBox="1"/>
          <p:nvPr/>
        </p:nvSpPr>
        <p:spPr>
          <a:xfrm>
            <a:off x="2876550" y="4976813"/>
            <a:ext cx="650379" cy="114300"/>
          </a:xfrm>
          <a:prstGeom prst="rect">
            <a:avLst/>
          </a:prstGeom>
          <a:noFill/>
          <a:ln/>
        </p:spPr>
        <p:txBody>
          <a:bodyPr wrap="none" lIns="0" tIns="0" rIns="0" bIns="0" rtlCol="0" anchor="t"/>
          <a:lstStyle/>
          <a:p>
            <a:pPr marL="0" indent="0" algn="l">
              <a:lnSpc>
                <a:spcPts val="900"/>
              </a:lnSpc>
              <a:buNone/>
            </a:pPr>
            <a:r>
              <a:rPr lang="en-US" sz="660" kern="0" spc="15" dirty="0">
                <a:solidFill>
                  <a:srgbClr val="6F6A66"/>
                </a:solidFill>
                <a:latin typeface="Quicksand" pitchFamily="34" charset="0"/>
              </a:rPr>
              <a:t>Aug 2026</a:t>
            </a:r>
            <a:endParaRPr lang="en-US" sz="660" dirty="0"/>
          </a:p>
        </p:txBody>
      </p:sp>
      <p:sp>
        <p:nvSpPr>
          <p:cNvPr id="119" name="Text 118"/>
          <p:cNvSpPr txBox="1"/>
          <p:nvPr/>
        </p:nvSpPr>
        <p:spPr>
          <a:xfrm>
            <a:off x="4279702" y="4824413"/>
            <a:ext cx="568523" cy="152400"/>
          </a:xfrm>
          <a:prstGeom prst="rect">
            <a:avLst/>
          </a:prstGeom>
          <a:noFill/>
          <a:ln/>
        </p:spPr>
        <p:txBody>
          <a:bodyPr wrap="none" lIns="0" tIns="0" rIns="0" bIns="0" rtlCol="0" anchor="t"/>
          <a:lstStyle/>
          <a:p>
            <a:pPr marL="0" indent="0" algn="r">
              <a:lnSpc>
                <a:spcPts val="1200"/>
              </a:lnSpc>
              <a:buNone/>
            </a:pPr>
            <a:r>
              <a:rPr lang="en-US" sz="900" b="1" kern="0" spc="15" dirty="0">
                <a:solidFill>
                  <a:srgbClr val="1B1A1A"/>
                </a:solidFill>
                <a:latin typeface="Quicksand" pitchFamily="34" charset="0"/>
              </a:rPr>
              <a:t>+3.4%</a:t>
            </a:r>
            <a:endParaRPr lang="en-US" sz="900" dirty="0"/>
          </a:p>
        </p:txBody>
      </p:sp>
      <p:sp>
        <p:nvSpPr>
          <p:cNvPr id="120" name="Text 119"/>
          <p:cNvSpPr txBox="1"/>
          <p:nvPr/>
        </p:nvSpPr>
        <p:spPr>
          <a:xfrm>
            <a:off x="4279702" y="4976813"/>
            <a:ext cx="568523" cy="114300"/>
          </a:xfrm>
          <a:prstGeom prst="rect">
            <a:avLst/>
          </a:prstGeom>
          <a:noFill/>
          <a:ln/>
        </p:spPr>
        <p:txBody>
          <a:bodyPr wrap="none" lIns="0" tIns="0" rIns="0" bIns="0" rtlCol="0" anchor="t"/>
          <a:lstStyle/>
          <a:p>
            <a:pPr marL="0" indent="0" algn="r">
              <a:lnSpc>
                <a:spcPts val="900"/>
              </a:lnSpc>
              <a:buNone/>
            </a:pPr>
            <a:r>
              <a:rPr lang="en-US" sz="660" kern="0" spc="15" dirty="0">
                <a:solidFill>
                  <a:srgbClr val="6F6A66"/>
                </a:solidFill>
                <a:latin typeface="Quicksand" pitchFamily="34" charset="0"/>
              </a:rPr>
              <a:t>over one year</a:t>
            </a:r>
            <a:endParaRPr lang="en-US" sz="660" dirty="0"/>
          </a:p>
        </p:txBody>
      </p:sp>
      <p:sp>
        <p:nvSpPr>
          <p:cNvPr id="121" name="Chart rule"/>
          <p:cNvSpPr/>
          <p:nvPr/>
        </p:nvSpPr>
        <p:spPr>
          <a:xfrm>
            <a:off x="2895600" y="6353175"/>
            <a:ext cx="1857375" cy="0"/>
          </a:xfrm>
          <a:prstGeom prst="line">
            <a:avLst/>
          </a:prstGeom>
          <a:noFill/>
          <a:ln w="9525">
            <a:solidFill>
              <a:srgbClr val="C3BDB6"/>
            </a:solidFill>
            <a:prstDash val="solid"/>
          </a:ln>
        </p:spPr>
        <p:txBody>
          <a:bodyPr/>
          <a:lstStyle/>
          <a:p>
            <a:endParaRPr lang="en-US"/>
          </a:p>
        </p:txBody>
      </p:sp>
      <p:sp>
        <p:nvSpPr>
          <p:cNvPr id="122" name="Chart rule"/>
          <p:cNvSpPr/>
          <p:nvPr/>
        </p:nvSpPr>
        <p:spPr>
          <a:xfrm>
            <a:off x="3233738" y="5229225"/>
            <a:ext cx="0" cy="1123950"/>
          </a:xfrm>
          <a:prstGeom prst="line">
            <a:avLst/>
          </a:prstGeom>
          <a:noFill/>
          <a:ln w="9525">
            <a:solidFill>
              <a:srgbClr val="E3DCD3"/>
            </a:solidFill>
            <a:prstDash val="solid"/>
          </a:ln>
        </p:spPr>
        <p:txBody>
          <a:bodyPr/>
          <a:lstStyle/>
          <a:p>
            <a:endParaRPr lang="en-US"/>
          </a:p>
        </p:txBody>
      </p:sp>
      <p:sp>
        <p:nvSpPr>
          <p:cNvPr id="123" name="Chart rule"/>
          <p:cNvSpPr/>
          <p:nvPr/>
        </p:nvSpPr>
        <p:spPr>
          <a:xfrm>
            <a:off x="3570922" y="5229225"/>
            <a:ext cx="0" cy="1123950"/>
          </a:xfrm>
          <a:prstGeom prst="line">
            <a:avLst/>
          </a:prstGeom>
          <a:noFill/>
          <a:ln w="9525">
            <a:solidFill>
              <a:srgbClr val="E3DCD3"/>
            </a:solidFill>
            <a:prstDash val="solid"/>
          </a:ln>
        </p:spPr>
        <p:txBody>
          <a:bodyPr/>
          <a:lstStyle/>
          <a:p>
            <a:endParaRPr lang="en-US"/>
          </a:p>
        </p:txBody>
      </p:sp>
      <p:sp>
        <p:nvSpPr>
          <p:cNvPr id="124" name="Chart rule"/>
          <p:cNvSpPr/>
          <p:nvPr/>
        </p:nvSpPr>
        <p:spPr>
          <a:xfrm>
            <a:off x="3909060" y="5229225"/>
            <a:ext cx="0" cy="1123950"/>
          </a:xfrm>
          <a:prstGeom prst="line">
            <a:avLst/>
          </a:prstGeom>
          <a:noFill/>
          <a:ln w="9525">
            <a:solidFill>
              <a:srgbClr val="E3DCD3"/>
            </a:solidFill>
            <a:prstDash val="solid"/>
          </a:ln>
        </p:spPr>
        <p:txBody>
          <a:bodyPr/>
          <a:lstStyle/>
          <a:p>
            <a:endParaRPr lang="en-US"/>
          </a:p>
        </p:txBody>
      </p:sp>
      <p:sp>
        <p:nvSpPr>
          <p:cNvPr id="125" name="Chart rule"/>
          <p:cNvSpPr/>
          <p:nvPr/>
        </p:nvSpPr>
        <p:spPr>
          <a:xfrm>
            <a:off x="4246245" y="5229225"/>
            <a:ext cx="0" cy="1123950"/>
          </a:xfrm>
          <a:prstGeom prst="line">
            <a:avLst/>
          </a:prstGeom>
          <a:noFill/>
          <a:ln w="9525">
            <a:solidFill>
              <a:srgbClr val="E3DCD3"/>
            </a:solidFill>
            <a:prstDash val="solid"/>
          </a:ln>
        </p:spPr>
        <p:txBody>
          <a:bodyPr/>
          <a:lstStyle/>
          <a:p>
            <a:endParaRPr lang="en-US"/>
          </a:p>
        </p:txBody>
      </p:sp>
      <p:sp>
        <p:nvSpPr>
          <p:cNvPr id="126" name="Chart rule"/>
          <p:cNvSpPr/>
          <p:nvPr/>
        </p:nvSpPr>
        <p:spPr>
          <a:xfrm>
            <a:off x="4555808" y="5229225"/>
            <a:ext cx="0" cy="1123950"/>
          </a:xfrm>
          <a:prstGeom prst="line">
            <a:avLst/>
          </a:prstGeom>
          <a:noFill/>
          <a:ln w="9525">
            <a:solidFill>
              <a:srgbClr val="E3DCD3"/>
            </a:solidFill>
            <a:prstDash val="solid"/>
          </a:ln>
        </p:spPr>
        <p:txBody>
          <a:bodyPr/>
          <a:lstStyle/>
          <a:p>
            <a:endParaRPr lang="en-US"/>
          </a:p>
        </p:txBody>
      </p:sp>
      <p:graphicFrame>
        <p:nvGraphicFramePr>
          <p:cNvPr id="127" name="Indicator chart 6"/>
          <p:cNvGraphicFramePr/>
          <p:nvPr/>
        </p:nvGraphicFramePr>
        <p:xfrm>
          <a:off x="2881529" y="5229225"/>
          <a:ext cx="1885517" cy="1123950"/>
        </p:xfrm>
        <a:graphic>
          <a:graphicData uri="http://schemas.openxmlformats.org/drawingml/2006/chart">
            <c:chart xmlns:c="http://schemas.openxmlformats.org/drawingml/2006/chart" xmlns:r="http://schemas.openxmlformats.org/officeDocument/2006/relationships" r:id="rId15"/>
          </a:graphicData>
        </a:graphic>
      </p:graphicFrame>
      <p:sp>
        <p:nvSpPr>
          <p:cNvPr id="128" name="Text 127"/>
          <p:cNvSpPr txBox="1"/>
          <p:nvPr/>
        </p:nvSpPr>
        <p:spPr>
          <a:xfrm>
            <a:off x="3252788" y="6391275"/>
            <a:ext cx="754607" cy="95250"/>
          </a:xfrm>
          <a:prstGeom prst="rect">
            <a:avLst/>
          </a:prstGeom>
          <a:noFill/>
          <a:ln/>
        </p:spPr>
        <p:txBody>
          <a:bodyPr wrap="none" lIns="0" tIns="0" rIns="0" bIns="0" rtlCol="0" anchor="t"/>
          <a:lstStyle/>
          <a:p>
            <a:pPr marL="0" indent="0" algn="l">
              <a:lnSpc>
                <a:spcPts val="750"/>
              </a:lnSpc>
              <a:buNone/>
            </a:pPr>
            <a:r>
              <a:rPr lang="en-US" sz="600" dirty="0">
                <a:solidFill>
                  <a:srgbClr val="6F6A66"/>
                </a:solidFill>
                <a:latin typeface="Quicksand" pitchFamily="34" charset="0"/>
              </a:rPr>
              <a:t>2022</a:t>
            </a:r>
            <a:endParaRPr lang="en-US" sz="600" dirty="0"/>
          </a:p>
        </p:txBody>
      </p:sp>
      <p:sp>
        <p:nvSpPr>
          <p:cNvPr id="129" name="Text 128"/>
          <p:cNvSpPr txBox="1"/>
          <p:nvPr/>
        </p:nvSpPr>
        <p:spPr>
          <a:xfrm>
            <a:off x="3589972" y="6391275"/>
            <a:ext cx="748903" cy="95250"/>
          </a:xfrm>
          <a:prstGeom prst="rect">
            <a:avLst/>
          </a:prstGeom>
          <a:noFill/>
          <a:ln/>
        </p:spPr>
        <p:txBody>
          <a:bodyPr wrap="none" lIns="0" tIns="0" rIns="0" bIns="0" rtlCol="0" anchor="t"/>
          <a:lstStyle/>
          <a:p>
            <a:pPr marL="0" indent="0" algn="l">
              <a:lnSpc>
                <a:spcPts val="750"/>
              </a:lnSpc>
              <a:buNone/>
            </a:pPr>
            <a:r>
              <a:rPr lang="en-US" sz="600" dirty="0">
                <a:solidFill>
                  <a:srgbClr val="6F6A66"/>
                </a:solidFill>
                <a:latin typeface="Quicksand" pitchFamily="34" charset="0"/>
              </a:rPr>
              <a:t>2023</a:t>
            </a:r>
            <a:endParaRPr lang="en-US" sz="600" dirty="0"/>
          </a:p>
        </p:txBody>
      </p:sp>
      <p:sp>
        <p:nvSpPr>
          <p:cNvPr id="130" name="Text 129"/>
          <p:cNvSpPr txBox="1"/>
          <p:nvPr/>
        </p:nvSpPr>
        <p:spPr>
          <a:xfrm>
            <a:off x="3928110" y="6391275"/>
            <a:ext cx="748010" cy="95250"/>
          </a:xfrm>
          <a:prstGeom prst="rect">
            <a:avLst/>
          </a:prstGeom>
          <a:noFill/>
          <a:ln/>
        </p:spPr>
        <p:txBody>
          <a:bodyPr wrap="none" lIns="0" tIns="0" rIns="0" bIns="0" rtlCol="0" anchor="t"/>
          <a:lstStyle/>
          <a:p>
            <a:pPr marL="0" indent="0" algn="l">
              <a:lnSpc>
                <a:spcPts val="750"/>
              </a:lnSpc>
              <a:buNone/>
            </a:pPr>
            <a:r>
              <a:rPr lang="en-US" sz="600" dirty="0">
                <a:solidFill>
                  <a:srgbClr val="6F6A66"/>
                </a:solidFill>
                <a:latin typeface="Quicksand" pitchFamily="34" charset="0"/>
              </a:rPr>
              <a:t>2024</a:t>
            </a:r>
            <a:endParaRPr lang="en-US" sz="600" dirty="0"/>
          </a:p>
        </p:txBody>
      </p:sp>
      <p:sp>
        <p:nvSpPr>
          <p:cNvPr id="131" name="Text 130"/>
          <p:cNvSpPr txBox="1"/>
          <p:nvPr/>
        </p:nvSpPr>
        <p:spPr>
          <a:xfrm>
            <a:off x="4265295" y="6391275"/>
            <a:ext cx="750540" cy="95250"/>
          </a:xfrm>
          <a:prstGeom prst="rect">
            <a:avLst/>
          </a:prstGeom>
          <a:noFill/>
          <a:ln/>
        </p:spPr>
        <p:txBody>
          <a:bodyPr wrap="none" lIns="0" tIns="0" rIns="0" bIns="0" rtlCol="0" anchor="t"/>
          <a:lstStyle/>
          <a:p>
            <a:pPr marL="0" indent="0" algn="l">
              <a:lnSpc>
                <a:spcPts val="750"/>
              </a:lnSpc>
              <a:buNone/>
            </a:pPr>
            <a:r>
              <a:rPr lang="en-US" sz="600" dirty="0">
                <a:solidFill>
                  <a:srgbClr val="6F6A66"/>
                </a:solidFill>
                <a:latin typeface="Quicksand" pitchFamily="34" charset="0"/>
              </a:rPr>
              <a:t>2025</a:t>
            </a:r>
            <a:endParaRPr lang="en-US" sz="600" dirty="0"/>
          </a:p>
        </p:txBody>
      </p:sp>
      <p:sp>
        <p:nvSpPr>
          <p:cNvPr id="132" name="Text 131"/>
          <p:cNvSpPr txBox="1"/>
          <p:nvPr/>
        </p:nvSpPr>
        <p:spPr>
          <a:xfrm>
            <a:off x="4574857" y="6391275"/>
            <a:ext cx="754607" cy="95250"/>
          </a:xfrm>
          <a:prstGeom prst="rect">
            <a:avLst/>
          </a:prstGeom>
          <a:noFill/>
          <a:ln/>
        </p:spPr>
        <p:txBody>
          <a:bodyPr wrap="none" lIns="0" tIns="0" rIns="0" bIns="0" rtlCol="0" anchor="t"/>
          <a:lstStyle/>
          <a:p>
            <a:pPr marL="0" indent="0" algn="l">
              <a:lnSpc>
                <a:spcPts val="750"/>
              </a:lnSpc>
              <a:buNone/>
            </a:pPr>
            <a:r>
              <a:rPr lang="en-US" sz="600" dirty="0">
                <a:solidFill>
                  <a:srgbClr val="6F6A66"/>
                </a:solidFill>
                <a:latin typeface="Quicksand" pitchFamily="34" charset="0"/>
              </a:rPr>
              <a:t>2026</a:t>
            </a:r>
            <a:endParaRPr lang="en-US" sz="600" dirty="0"/>
          </a:p>
        </p:txBody>
      </p:sp>
      <p:sp>
        <p:nvSpPr>
          <p:cNvPr id="133" name="Text 132"/>
          <p:cNvSpPr txBox="1"/>
          <p:nvPr/>
        </p:nvSpPr>
        <p:spPr>
          <a:xfrm>
            <a:off x="2876550" y="6743700"/>
            <a:ext cx="1971675" cy="114300"/>
          </a:xfrm>
          <a:prstGeom prst="rect">
            <a:avLst/>
          </a:prstGeom>
          <a:noFill/>
          <a:ln/>
        </p:spPr>
        <p:txBody>
          <a:bodyPr wrap="none" lIns="0" tIns="0" rIns="0" bIns="0" rtlCol="0" anchor="t"/>
          <a:lstStyle/>
          <a:p>
            <a:pPr marL="0" indent="0" algn="l">
              <a:lnSpc>
                <a:spcPts val="900"/>
              </a:lnSpc>
              <a:buNone/>
            </a:pPr>
            <a:r>
              <a:rPr lang="en-US" sz="630" kern="0" spc="15" dirty="0">
                <a:solidFill>
                  <a:srgbClr val="6F6A66"/>
                </a:solidFill>
                <a:latin typeface="Quicksand" pitchFamily="34" charset="0"/>
              </a:rPr>
              <a:t>Source: </a:t>
            </a:r>
            <a:r>
              <a:rPr lang="en-US" sz="630" u="sng" kern="0" spc="15" dirty="0">
                <a:solidFill>
                  <a:srgbClr val="8C6239"/>
                </a:solidFill>
                <a:latin typeface="Quicksand" pitchFamily="34" charset="0"/>
                <a:hlinkClick r:id="rId16">
                  <a:extLst>
                    <a:ext uri="{A12FA001-AC4F-418D-AE19-62706E023703}">
                      <ahyp:hlinkClr xmlns:ahyp="http://schemas.microsoft.com/office/drawing/2018/hyperlinkcolor" val="tx"/>
                    </a:ext>
                  </a:extLst>
                </a:hlinkClick>
              </a:rPr>
              <a:t>FRED, series CUSR0000SEFV</a:t>
            </a:r>
            <a:endParaRPr lang="en-US" sz="630" dirty="0"/>
          </a:p>
        </p:txBody>
      </p:sp>
      <p:sp>
        <p:nvSpPr>
          <p:cNvPr id="134" name="Shape 133"/>
          <p:cNvSpPr/>
          <p:nvPr/>
        </p:nvSpPr>
        <p:spPr>
          <a:xfrm>
            <a:off x="5086350" y="4143375"/>
            <a:ext cx="2219325" cy="2790825"/>
          </a:xfrm>
          <a:prstGeom prst="rect">
            <a:avLst/>
          </a:prstGeom>
          <a:solidFill>
            <a:srgbClr val="FAF7F3"/>
          </a:solidFill>
          <a:ln/>
        </p:spPr>
        <p:txBody>
          <a:bodyPr/>
          <a:lstStyle/>
          <a:p>
            <a:endParaRPr lang="en-US"/>
          </a:p>
        </p:txBody>
      </p:sp>
      <p:sp>
        <p:nvSpPr>
          <p:cNvPr id="135" name="Shape 134"/>
          <p:cNvSpPr/>
          <p:nvPr/>
        </p:nvSpPr>
        <p:spPr>
          <a:xfrm>
            <a:off x="5086350" y="4143375"/>
            <a:ext cx="2219325" cy="28575"/>
          </a:xfrm>
          <a:prstGeom prst="rect">
            <a:avLst/>
          </a:prstGeom>
          <a:solidFill>
            <a:srgbClr val="B68757"/>
          </a:solidFill>
          <a:ln/>
        </p:spPr>
        <p:txBody>
          <a:bodyPr/>
          <a:lstStyle/>
          <a:p>
            <a:endParaRPr lang="en-US"/>
          </a:p>
        </p:txBody>
      </p:sp>
      <p:sp>
        <p:nvSpPr>
          <p:cNvPr id="136" name="Text 135"/>
          <p:cNvSpPr txBox="1"/>
          <p:nvPr/>
        </p:nvSpPr>
        <p:spPr>
          <a:xfrm>
            <a:off x="5210175" y="4271963"/>
            <a:ext cx="1985963" cy="285750"/>
          </a:xfrm>
          <a:prstGeom prst="rect">
            <a:avLst/>
          </a:prstGeom>
          <a:noFill/>
          <a:ln/>
        </p:spPr>
        <p:txBody>
          <a:bodyPr wrap="square" lIns="0" tIns="0" rIns="0" bIns="0" rtlCol="0" anchor="t"/>
          <a:lstStyle/>
          <a:p>
            <a:pPr marL="0" indent="0" algn="l">
              <a:lnSpc>
                <a:spcPts val="1125"/>
              </a:lnSpc>
              <a:buNone/>
            </a:pPr>
            <a:r>
              <a:rPr lang="en-US" sz="855" b="1" kern="0" spc="15" dirty="0">
                <a:solidFill>
                  <a:srgbClr val="1B1A1A"/>
                </a:solidFill>
                <a:latin typeface="Quicksand" pitchFamily="34" charset="0"/>
              </a:rPr>
              <a:t>Food manufacturing producer prices</a:t>
            </a:r>
            <a:endParaRPr lang="en-US" sz="855" dirty="0"/>
          </a:p>
        </p:txBody>
      </p:sp>
      <p:sp>
        <p:nvSpPr>
          <p:cNvPr id="137" name="Text 136"/>
          <p:cNvSpPr txBox="1"/>
          <p:nvPr/>
        </p:nvSpPr>
        <p:spPr>
          <a:xfrm>
            <a:off x="5210175" y="4557713"/>
            <a:ext cx="1985963" cy="228600"/>
          </a:xfrm>
          <a:prstGeom prst="rect">
            <a:avLst/>
          </a:prstGeom>
          <a:noFill/>
          <a:ln/>
        </p:spPr>
        <p:txBody>
          <a:bodyPr wrap="square" lIns="0" tIns="0" rIns="0" bIns="0" rtlCol="0" anchor="t"/>
          <a:lstStyle/>
          <a:p>
            <a:pPr marL="0" indent="0" algn="l">
              <a:lnSpc>
                <a:spcPts val="900"/>
              </a:lnSpc>
              <a:buNone/>
            </a:pPr>
            <a:r>
              <a:rPr lang="en-US" sz="645" kern="0" spc="15" dirty="0">
                <a:solidFill>
                  <a:srgbClr val="6F6A66"/>
                </a:solidFill>
                <a:latin typeface="Quicksand" pitchFamily="34" charset="0"/>
              </a:rPr>
              <a:t>Producer price index, Dec 1984 = 100, Bureau of Labor Statistics</a:t>
            </a:r>
            <a:endParaRPr lang="en-US" sz="645" dirty="0"/>
          </a:p>
        </p:txBody>
      </p:sp>
      <p:sp>
        <p:nvSpPr>
          <p:cNvPr id="138" name="Text 137"/>
          <p:cNvSpPr txBox="1"/>
          <p:nvPr/>
        </p:nvSpPr>
        <p:spPr>
          <a:xfrm>
            <a:off x="5210175" y="4852988"/>
            <a:ext cx="707529" cy="266700"/>
          </a:xfrm>
          <a:prstGeom prst="rect">
            <a:avLst/>
          </a:prstGeom>
          <a:noFill/>
          <a:ln/>
        </p:spPr>
        <p:txBody>
          <a:bodyPr wrap="none" lIns="0" tIns="0" rIns="0" bIns="0" rtlCol="0" anchor="t"/>
          <a:lstStyle/>
          <a:p>
            <a:pPr marL="0" indent="0" algn="l">
              <a:lnSpc>
                <a:spcPts val="2100"/>
              </a:lnSpc>
              <a:buNone/>
            </a:pPr>
            <a:r>
              <a:rPr lang="en-US" sz="1875" kern="0" spc="15" dirty="0">
                <a:solidFill>
                  <a:srgbClr val="8C6239"/>
                </a:solidFill>
                <a:latin typeface="Newsreader SemiBold" pitchFamily="34" charset="0"/>
              </a:rPr>
              <a:t>273.0</a:t>
            </a:r>
            <a:endParaRPr lang="en-US" sz="1875" dirty="0"/>
          </a:p>
        </p:txBody>
      </p:sp>
      <p:sp>
        <p:nvSpPr>
          <p:cNvPr id="139" name="Text 138"/>
          <p:cNvSpPr txBox="1"/>
          <p:nvPr/>
        </p:nvSpPr>
        <p:spPr>
          <a:xfrm>
            <a:off x="5210175" y="5119688"/>
            <a:ext cx="650379" cy="114300"/>
          </a:xfrm>
          <a:prstGeom prst="rect">
            <a:avLst/>
          </a:prstGeom>
          <a:noFill/>
          <a:ln/>
        </p:spPr>
        <p:txBody>
          <a:bodyPr wrap="none" lIns="0" tIns="0" rIns="0" bIns="0" rtlCol="0" anchor="t"/>
          <a:lstStyle/>
          <a:p>
            <a:pPr marL="0" indent="0" algn="l">
              <a:lnSpc>
                <a:spcPts val="900"/>
              </a:lnSpc>
              <a:buNone/>
            </a:pPr>
            <a:r>
              <a:rPr lang="en-US" sz="660" kern="0" spc="15" dirty="0">
                <a:solidFill>
                  <a:srgbClr val="6F6A66"/>
                </a:solidFill>
                <a:latin typeface="Quicksand" pitchFamily="34" charset="0"/>
              </a:rPr>
              <a:t>Aug 2026</a:t>
            </a:r>
            <a:endParaRPr lang="en-US" sz="660" dirty="0"/>
          </a:p>
        </p:txBody>
      </p:sp>
      <p:sp>
        <p:nvSpPr>
          <p:cNvPr id="140" name="Text 139"/>
          <p:cNvSpPr txBox="1"/>
          <p:nvPr/>
        </p:nvSpPr>
        <p:spPr>
          <a:xfrm>
            <a:off x="6613327" y="4967288"/>
            <a:ext cx="568523" cy="152400"/>
          </a:xfrm>
          <a:prstGeom prst="rect">
            <a:avLst/>
          </a:prstGeom>
          <a:noFill/>
          <a:ln/>
        </p:spPr>
        <p:txBody>
          <a:bodyPr wrap="none" lIns="0" tIns="0" rIns="0" bIns="0" rtlCol="0" anchor="t"/>
          <a:lstStyle/>
          <a:p>
            <a:pPr marL="0" indent="0" algn="r">
              <a:lnSpc>
                <a:spcPts val="1200"/>
              </a:lnSpc>
              <a:buNone/>
            </a:pPr>
            <a:r>
              <a:rPr lang="en-US" sz="900" b="1" kern="0" spc="15" dirty="0">
                <a:solidFill>
                  <a:srgbClr val="1B1A1A"/>
                </a:solidFill>
                <a:latin typeface="Quicksand" pitchFamily="34" charset="0"/>
              </a:rPr>
              <a:t>+0.1%</a:t>
            </a:r>
            <a:endParaRPr lang="en-US" sz="900" dirty="0"/>
          </a:p>
        </p:txBody>
      </p:sp>
      <p:sp>
        <p:nvSpPr>
          <p:cNvPr id="141" name="Text 140"/>
          <p:cNvSpPr txBox="1"/>
          <p:nvPr/>
        </p:nvSpPr>
        <p:spPr>
          <a:xfrm>
            <a:off x="6613327" y="5119688"/>
            <a:ext cx="568523" cy="114300"/>
          </a:xfrm>
          <a:prstGeom prst="rect">
            <a:avLst/>
          </a:prstGeom>
          <a:noFill/>
          <a:ln/>
        </p:spPr>
        <p:txBody>
          <a:bodyPr wrap="none" lIns="0" tIns="0" rIns="0" bIns="0" rtlCol="0" anchor="t"/>
          <a:lstStyle/>
          <a:p>
            <a:pPr marL="0" indent="0" algn="r">
              <a:lnSpc>
                <a:spcPts val="900"/>
              </a:lnSpc>
              <a:buNone/>
            </a:pPr>
            <a:r>
              <a:rPr lang="en-US" sz="660" kern="0" spc="15" dirty="0">
                <a:solidFill>
                  <a:srgbClr val="6F6A66"/>
                </a:solidFill>
                <a:latin typeface="Quicksand" pitchFamily="34" charset="0"/>
              </a:rPr>
              <a:t>over one year</a:t>
            </a:r>
            <a:endParaRPr lang="en-US" sz="660" dirty="0"/>
          </a:p>
        </p:txBody>
      </p:sp>
      <p:sp>
        <p:nvSpPr>
          <p:cNvPr id="142" name="Chart rule"/>
          <p:cNvSpPr/>
          <p:nvPr/>
        </p:nvSpPr>
        <p:spPr>
          <a:xfrm>
            <a:off x="5229225" y="6496050"/>
            <a:ext cx="1857375" cy="0"/>
          </a:xfrm>
          <a:prstGeom prst="line">
            <a:avLst/>
          </a:prstGeom>
          <a:noFill/>
          <a:ln w="9525">
            <a:solidFill>
              <a:srgbClr val="C3BDB6"/>
            </a:solidFill>
            <a:prstDash val="solid"/>
          </a:ln>
        </p:spPr>
        <p:txBody>
          <a:bodyPr/>
          <a:lstStyle/>
          <a:p>
            <a:endParaRPr lang="en-US"/>
          </a:p>
        </p:txBody>
      </p:sp>
      <p:sp>
        <p:nvSpPr>
          <p:cNvPr id="143" name="Chart rule"/>
          <p:cNvSpPr/>
          <p:nvPr/>
        </p:nvSpPr>
        <p:spPr>
          <a:xfrm>
            <a:off x="5561648" y="5372100"/>
            <a:ext cx="0" cy="1123950"/>
          </a:xfrm>
          <a:prstGeom prst="line">
            <a:avLst/>
          </a:prstGeom>
          <a:noFill/>
          <a:ln w="9525">
            <a:solidFill>
              <a:srgbClr val="E3DCD3"/>
            </a:solidFill>
            <a:prstDash val="solid"/>
          </a:ln>
        </p:spPr>
        <p:txBody>
          <a:bodyPr/>
          <a:lstStyle/>
          <a:p>
            <a:endParaRPr lang="en-US"/>
          </a:p>
        </p:txBody>
      </p:sp>
      <p:sp>
        <p:nvSpPr>
          <p:cNvPr id="144" name="Chart rule"/>
          <p:cNvSpPr/>
          <p:nvPr/>
        </p:nvSpPr>
        <p:spPr>
          <a:xfrm>
            <a:off x="5895022" y="5372100"/>
            <a:ext cx="0" cy="1123950"/>
          </a:xfrm>
          <a:prstGeom prst="line">
            <a:avLst/>
          </a:prstGeom>
          <a:noFill/>
          <a:ln w="9525">
            <a:solidFill>
              <a:srgbClr val="E3DCD3"/>
            </a:solidFill>
            <a:prstDash val="solid"/>
          </a:ln>
        </p:spPr>
        <p:txBody>
          <a:bodyPr/>
          <a:lstStyle/>
          <a:p>
            <a:endParaRPr lang="en-US"/>
          </a:p>
        </p:txBody>
      </p:sp>
      <p:sp>
        <p:nvSpPr>
          <p:cNvPr id="145" name="Chart rule"/>
          <p:cNvSpPr/>
          <p:nvPr/>
        </p:nvSpPr>
        <p:spPr>
          <a:xfrm>
            <a:off x="6227445" y="5372100"/>
            <a:ext cx="0" cy="1123950"/>
          </a:xfrm>
          <a:prstGeom prst="line">
            <a:avLst/>
          </a:prstGeom>
          <a:noFill/>
          <a:ln w="9525">
            <a:solidFill>
              <a:srgbClr val="E3DCD3"/>
            </a:solidFill>
            <a:prstDash val="solid"/>
          </a:ln>
        </p:spPr>
        <p:txBody>
          <a:bodyPr/>
          <a:lstStyle/>
          <a:p>
            <a:endParaRPr lang="en-US"/>
          </a:p>
        </p:txBody>
      </p:sp>
      <p:sp>
        <p:nvSpPr>
          <p:cNvPr id="146" name="Chart rule"/>
          <p:cNvSpPr/>
          <p:nvPr/>
        </p:nvSpPr>
        <p:spPr>
          <a:xfrm>
            <a:off x="6559868" y="5372100"/>
            <a:ext cx="0" cy="1123950"/>
          </a:xfrm>
          <a:prstGeom prst="line">
            <a:avLst/>
          </a:prstGeom>
          <a:noFill/>
          <a:ln w="9525">
            <a:solidFill>
              <a:srgbClr val="E3DCD3"/>
            </a:solidFill>
            <a:prstDash val="solid"/>
          </a:ln>
        </p:spPr>
        <p:txBody>
          <a:bodyPr/>
          <a:lstStyle/>
          <a:p>
            <a:endParaRPr lang="en-US"/>
          </a:p>
        </p:txBody>
      </p:sp>
      <p:sp>
        <p:nvSpPr>
          <p:cNvPr id="147" name="Chart rule"/>
          <p:cNvSpPr/>
          <p:nvPr/>
        </p:nvSpPr>
        <p:spPr>
          <a:xfrm>
            <a:off x="6892290" y="5372100"/>
            <a:ext cx="0" cy="1123950"/>
          </a:xfrm>
          <a:prstGeom prst="line">
            <a:avLst/>
          </a:prstGeom>
          <a:noFill/>
          <a:ln w="9525">
            <a:solidFill>
              <a:srgbClr val="E3DCD3"/>
            </a:solidFill>
            <a:prstDash val="solid"/>
          </a:ln>
        </p:spPr>
        <p:txBody>
          <a:bodyPr/>
          <a:lstStyle/>
          <a:p>
            <a:endParaRPr lang="en-US"/>
          </a:p>
        </p:txBody>
      </p:sp>
      <p:graphicFrame>
        <p:nvGraphicFramePr>
          <p:cNvPr id="148" name="Indicator chart 7"/>
          <p:cNvGraphicFramePr/>
          <p:nvPr/>
        </p:nvGraphicFramePr>
        <p:xfrm>
          <a:off x="5215364" y="5372100"/>
          <a:ext cx="1885097" cy="1123950"/>
        </p:xfrm>
        <a:graphic>
          <a:graphicData uri="http://schemas.openxmlformats.org/drawingml/2006/chart">
            <c:chart xmlns:c="http://schemas.openxmlformats.org/drawingml/2006/chart" xmlns:r="http://schemas.openxmlformats.org/officeDocument/2006/relationships" r:id="rId17"/>
          </a:graphicData>
        </a:graphic>
      </p:graphicFrame>
      <p:sp>
        <p:nvSpPr>
          <p:cNvPr id="149" name="Text 148"/>
          <p:cNvSpPr txBox="1"/>
          <p:nvPr/>
        </p:nvSpPr>
        <p:spPr>
          <a:xfrm>
            <a:off x="5580698" y="6534150"/>
            <a:ext cx="754607" cy="95250"/>
          </a:xfrm>
          <a:prstGeom prst="rect">
            <a:avLst/>
          </a:prstGeom>
          <a:noFill/>
          <a:ln/>
        </p:spPr>
        <p:txBody>
          <a:bodyPr wrap="none" lIns="0" tIns="0" rIns="0" bIns="0" rtlCol="0" anchor="t"/>
          <a:lstStyle/>
          <a:p>
            <a:pPr marL="0" indent="0" algn="l">
              <a:lnSpc>
                <a:spcPts val="750"/>
              </a:lnSpc>
              <a:buNone/>
            </a:pPr>
            <a:r>
              <a:rPr lang="en-US" sz="600" dirty="0">
                <a:solidFill>
                  <a:srgbClr val="6F6A66"/>
                </a:solidFill>
                <a:latin typeface="Quicksand" pitchFamily="34" charset="0"/>
              </a:rPr>
              <a:t>2022</a:t>
            </a:r>
            <a:endParaRPr lang="en-US" sz="600" dirty="0"/>
          </a:p>
        </p:txBody>
      </p:sp>
      <p:sp>
        <p:nvSpPr>
          <p:cNvPr id="150" name="Text 149"/>
          <p:cNvSpPr txBox="1"/>
          <p:nvPr/>
        </p:nvSpPr>
        <p:spPr>
          <a:xfrm>
            <a:off x="5914073" y="6534150"/>
            <a:ext cx="748903" cy="95250"/>
          </a:xfrm>
          <a:prstGeom prst="rect">
            <a:avLst/>
          </a:prstGeom>
          <a:noFill/>
          <a:ln/>
        </p:spPr>
        <p:txBody>
          <a:bodyPr wrap="none" lIns="0" tIns="0" rIns="0" bIns="0" rtlCol="0" anchor="t"/>
          <a:lstStyle/>
          <a:p>
            <a:pPr marL="0" indent="0" algn="l">
              <a:lnSpc>
                <a:spcPts val="750"/>
              </a:lnSpc>
              <a:buNone/>
            </a:pPr>
            <a:r>
              <a:rPr lang="en-US" sz="600" dirty="0">
                <a:solidFill>
                  <a:srgbClr val="6F6A66"/>
                </a:solidFill>
                <a:latin typeface="Quicksand" pitchFamily="34" charset="0"/>
              </a:rPr>
              <a:t>2023</a:t>
            </a:r>
            <a:endParaRPr lang="en-US" sz="600" dirty="0"/>
          </a:p>
        </p:txBody>
      </p:sp>
      <p:sp>
        <p:nvSpPr>
          <p:cNvPr id="151" name="Text 150"/>
          <p:cNvSpPr txBox="1"/>
          <p:nvPr/>
        </p:nvSpPr>
        <p:spPr>
          <a:xfrm>
            <a:off x="6246495" y="6534150"/>
            <a:ext cx="748010" cy="95250"/>
          </a:xfrm>
          <a:prstGeom prst="rect">
            <a:avLst/>
          </a:prstGeom>
          <a:noFill/>
          <a:ln/>
        </p:spPr>
        <p:txBody>
          <a:bodyPr wrap="none" lIns="0" tIns="0" rIns="0" bIns="0" rtlCol="0" anchor="t"/>
          <a:lstStyle/>
          <a:p>
            <a:pPr marL="0" indent="0" algn="l">
              <a:lnSpc>
                <a:spcPts val="750"/>
              </a:lnSpc>
              <a:buNone/>
            </a:pPr>
            <a:r>
              <a:rPr lang="en-US" sz="600" dirty="0">
                <a:solidFill>
                  <a:srgbClr val="6F6A66"/>
                </a:solidFill>
                <a:latin typeface="Quicksand" pitchFamily="34" charset="0"/>
              </a:rPr>
              <a:t>2024</a:t>
            </a:r>
            <a:endParaRPr lang="en-US" sz="600" dirty="0"/>
          </a:p>
        </p:txBody>
      </p:sp>
      <p:sp>
        <p:nvSpPr>
          <p:cNvPr id="152" name="Text 151"/>
          <p:cNvSpPr txBox="1"/>
          <p:nvPr/>
        </p:nvSpPr>
        <p:spPr>
          <a:xfrm>
            <a:off x="6578918" y="6534150"/>
            <a:ext cx="750540" cy="95250"/>
          </a:xfrm>
          <a:prstGeom prst="rect">
            <a:avLst/>
          </a:prstGeom>
          <a:noFill/>
          <a:ln/>
        </p:spPr>
        <p:txBody>
          <a:bodyPr wrap="none" lIns="0" tIns="0" rIns="0" bIns="0" rtlCol="0" anchor="t"/>
          <a:lstStyle/>
          <a:p>
            <a:pPr marL="0" indent="0" algn="l">
              <a:lnSpc>
                <a:spcPts val="750"/>
              </a:lnSpc>
              <a:buNone/>
            </a:pPr>
            <a:r>
              <a:rPr lang="en-US" sz="600" dirty="0">
                <a:solidFill>
                  <a:srgbClr val="6F6A66"/>
                </a:solidFill>
                <a:latin typeface="Quicksand" pitchFamily="34" charset="0"/>
              </a:rPr>
              <a:t>2025</a:t>
            </a:r>
            <a:endParaRPr lang="en-US" sz="600" dirty="0"/>
          </a:p>
        </p:txBody>
      </p:sp>
      <p:sp>
        <p:nvSpPr>
          <p:cNvPr id="153" name="Text 152"/>
          <p:cNvSpPr txBox="1"/>
          <p:nvPr/>
        </p:nvSpPr>
        <p:spPr>
          <a:xfrm>
            <a:off x="6911340" y="6534150"/>
            <a:ext cx="754607" cy="95250"/>
          </a:xfrm>
          <a:prstGeom prst="rect">
            <a:avLst/>
          </a:prstGeom>
          <a:noFill/>
          <a:ln/>
        </p:spPr>
        <p:txBody>
          <a:bodyPr wrap="none" lIns="0" tIns="0" rIns="0" bIns="0" rtlCol="0" anchor="t"/>
          <a:lstStyle/>
          <a:p>
            <a:pPr marL="0" indent="0" algn="l">
              <a:lnSpc>
                <a:spcPts val="750"/>
              </a:lnSpc>
              <a:buNone/>
            </a:pPr>
            <a:r>
              <a:rPr lang="en-US" sz="600" dirty="0">
                <a:solidFill>
                  <a:srgbClr val="6F6A66"/>
                </a:solidFill>
                <a:latin typeface="Quicksand" pitchFamily="34" charset="0"/>
              </a:rPr>
              <a:t>2026</a:t>
            </a:r>
            <a:endParaRPr lang="en-US" sz="600" dirty="0"/>
          </a:p>
        </p:txBody>
      </p:sp>
      <p:sp>
        <p:nvSpPr>
          <p:cNvPr id="154" name="Text 153"/>
          <p:cNvSpPr txBox="1"/>
          <p:nvPr/>
        </p:nvSpPr>
        <p:spPr>
          <a:xfrm>
            <a:off x="5210175" y="6743700"/>
            <a:ext cx="1971675" cy="114300"/>
          </a:xfrm>
          <a:prstGeom prst="rect">
            <a:avLst/>
          </a:prstGeom>
          <a:noFill/>
          <a:ln/>
        </p:spPr>
        <p:txBody>
          <a:bodyPr wrap="none" lIns="0" tIns="0" rIns="0" bIns="0" rtlCol="0" anchor="t"/>
          <a:lstStyle/>
          <a:p>
            <a:pPr marL="0" indent="0" algn="l">
              <a:lnSpc>
                <a:spcPts val="900"/>
              </a:lnSpc>
              <a:buNone/>
            </a:pPr>
            <a:r>
              <a:rPr lang="en-US" sz="630" kern="0" spc="15" dirty="0">
                <a:solidFill>
                  <a:srgbClr val="6F6A66"/>
                </a:solidFill>
                <a:latin typeface="Quicksand" pitchFamily="34" charset="0"/>
              </a:rPr>
              <a:t>Source: </a:t>
            </a:r>
            <a:r>
              <a:rPr lang="en-US" sz="630" u="sng" kern="0" spc="15" dirty="0">
                <a:solidFill>
                  <a:srgbClr val="8C6239"/>
                </a:solidFill>
                <a:latin typeface="Quicksand" pitchFamily="34" charset="0"/>
                <a:hlinkClick r:id="rId18">
                  <a:extLst>
                    <a:ext uri="{A12FA001-AC4F-418D-AE19-62706E023703}">
                      <ahyp:hlinkClr xmlns:ahyp="http://schemas.microsoft.com/office/drawing/2018/hyperlinkcolor" val="tx"/>
                    </a:ext>
                  </a:extLst>
                </a:hlinkClick>
              </a:rPr>
              <a:t>FRED, series PCU311311</a:t>
            </a:r>
            <a:endParaRPr lang="en-US" sz="630" dirty="0"/>
          </a:p>
        </p:txBody>
      </p:sp>
      <p:sp>
        <p:nvSpPr>
          <p:cNvPr id="155" name="Shape 154"/>
          <p:cNvSpPr/>
          <p:nvPr/>
        </p:nvSpPr>
        <p:spPr>
          <a:xfrm>
            <a:off x="7419975" y="4143375"/>
            <a:ext cx="2219325" cy="2790825"/>
          </a:xfrm>
          <a:prstGeom prst="rect">
            <a:avLst/>
          </a:prstGeom>
          <a:solidFill>
            <a:srgbClr val="FAF7F3"/>
          </a:solidFill>
          <a:ln/>
        </p:spPr>
        <p:txBody>
          <a:bodyPr/>
          <a:lstStyle/>
          <a:p>
            <a:endParaRPr lang="en-US"/>
          </a:p>
        </p:txBody>
      </p:sp>
      <p:sp>
        <p:nvSpPr>
          <p:cNvPr id="156" name="Shape 155"/>
          <p:cNvSpPr/>
          <p:nvPr/>
        </p:nvSpPr>
        <p:spPr>
          <a:xfrm>
            <a:off x="7419975" y="4143375"/>
            <a:ext cx="2219325" cy="28575"/>
          </a:xfrm>
          <a:prstGeom prst="rect">
            <a:avLst/>
          </a:prstGeom>
          <a:solidFill>
            <a:srgbClr val="B68757"/>
          </a:solidFill>
          <a:ln/>
        </p:spPr>
        <p:txBody>
          <a:bodyPr/>
          <a:lstStyle/>
          <a:p>
            <a:endParaRPr lang="en-US"/>
          </a:p>
        </p:txBody>
      </p:sp>
      <p:sp>
        <p:nvSpPr>
          <p:cNvPr id="157" name="Text 156"/>
          <p:cNvSpPr txBox="1"/>
          <p:nvPr/>
        </p:nvSpPr>
        <p:spPr>
          <a:xfrm>
            <a:off x="7543800" y="4271963"/>
            <a:ext cx="1971675" cy="142875"/>
          </a:xfrm>
          <a:prstGeom prst="rect">
            <a:avLst/>
          </a:prstGeom>
          <a:noFill/>
          <a:ln/>
        </p:spPr>
        <p:txBody>
          <a:bodyPr wrap="none" lIns="0" tIns="0" rIns="0" bIns="0" rtlCol="0" anchor="t"/>
          <a:lstStyle/>
          <a:p>
            <a:pPr marL="0" indent="0" algn="l">
              <a:lnSpc>
                <a:spcPts val="1125"/>
              </a:lnSpc>
              <a:buNone/>
            </a:pPr>
            <a:r>
              <a:rPr lang="en-US" sz="855" b="1" kern="0" spc="15" dirty="0">
                <a:solidFill>
                  <a:srgbClr val="1B1A1A"/>
                </a:solidFill>
                <a:latin typeface="Quicksand" pitchFamily="34" charset="0"/>
              </a:rPr>
              <a:t>Diesel price</a:t>
            </a:r>
            <a:endParaRPr lang="en-US" sz="855" dirty="0"/>
          </a:p>
        </p:txBody>
      </p:sp>
      <p:sp>
        <p:nvSpPr>
          <p:cNvPr id="158" name="Text 157"/>
          <p:cNvSpPr txBox="1"/>
          <p:nvPr/>
        </p:nvSpPr>
        <p:spPr>
          <a:xfrm>
            <a:off x="7543800" y="4414838"/>
            <a:ext cx="1985963" cy="228600"/>
          </a:xfrm>
          <a:prstGeom prst="rect">
            <a:avLst/>
          </a:prstGeom>
          <a:noFill/>
          <a:ln/>
        </p:spPr>
        <p:txBody>
          <a:bodyPr wrap="square" lIns="0" tIns="0" rIns="0" bIns="0" rtlCol="0" anchor="t"/>
          <a:lstStyle/>
          <a:p>
            <a:pPr marL="0" indent="0" algn="l">
              <a:lnSpc>
                <a:spcPts val="900"/>
              </a:lnSpc>
              <a:buNone/>
            </a:pPr>
            <a:r>
              <a:rPr lang="en-US" sz="645" kern="0" spc="15" dirty="0">
                <a:solidFill>
                  <a:srgbClr val="6F6A66"/>
                </a:solidFill>
                <a:latin typeface="Quicksand" pitchFamily="34" charset="0"/>
              </a:rPr>
              <a:t>US on-highway retail price per gallon, monthly average</a:t>
            </a:r>
            <a:endParaRPr lang="en-US" sz="645" dirty="0"/>
          </a:p>
        </p:txBody>
      </p:sp>
      <p:sp>
        <p:nvSpPr>
          <p:cNvPr id="159" name="Text 158"/>
          <p:cNvSpPr txBox="1"/>
          <p:nvPr/>
        </p:nvSpPr>
        <p:spPr>
          <a:xfrm>
            <a:off x="7543800" y="4710113"/>
            <a:ext cx="707529" cy="266700"/>
          </a:xfrm>
          <a:prstGeom prst="rect">
            <a:avLst/>
          </a:prstGeom>
          <a:noFill/>
          <a:ln/>
        </p:spPr>
        <p:txBody>
          <a:bodyPr wrap="none" lIns="0" tIns="0" rIns="0" bIns="0" rtlCol="0" anchor="t"/>
          <a:lstStyle/>
          <a:p>
            <a:pPr marL="0" indent="0" algn="l">
              <a:lnSpc>
                <a:spcPts val="2100"/>
              </a:lnSpc>
              <a:buNone/>
            </a:pPr>
            <a:r>
              <a:rPr lang="en-US" sz="1875" kern="0" spc="15" dirty="0">
                <a:solidFill>
                  <a:srgbClr val="8C6239"/>
                </a:solidFill>
                <a:latin typeface="Newsreader SemiBold" pitchFamily="34" charset="0"/>
              </a:rPr>
              <a:t>$6.29</a:t>
            </a:r>
            <a:endParaRPr lang="en-US" sz="1875" dirty="0"/>
          </a:p>
        </p:txBody>
      </p:sp>
      <p:sp>
        <p:nvSpPr>
          <p:cNvPr id="160" name="Text 159"/>
          <p:cNvSpPr txBox="1"/>
          <p:nvPr/>
        </p:nvSpPr>
        <p:spPr>
          <a:xfrm>
            <a:off x="7543800" y="4976813"/>
            <a:ext cx="650379" cy="114300"/>
          </a:xfrm>
          <a:prstGeom prst="rect">
            <a:avLst/>
          </a:prstGeom>
          <a:noFill/>
          <a:ln/>
        </p:spPr>
        <p:txBody>
          <a:bodyPr wrap="none" lIns="0" tIns="0" rIns="0" bIns="0" rtlCol="0" anchor="t"/>
          <a:lstStyle/>
          <a:p>
            <a:pPr marL="0" indent="0" algn="l">
              <a:lnSpc>
                <a:spcPts val="900"/>
              </a:lnSpc>
              <a:buNone/>
            </a:pPr>
            <a:r>
              <a:rPr lang="en-US" sz="660" kern="0" spc="15" dirty="0">
                <a:solidFill>
                  <a:srgbClr val="6F6A66"/>
                </a:solidFill>
                <a:latin typeface="Quicksand" pitchFamily="34" charset="0"/>
              </a:rPr>
              <a:t>Sep 2026</a:t>
            </a:r>
            <a:endParaRPr lang="en-US" sz="660" dirty="0"/>
          </a:p>
        </p:txBody>
      </p:sp>
      <p:sp>
        <p:nvSpPr>
          <p:cNvPr id="161" name="Text 160"/>
          <p:cNvSpPr txBox="1"/>
          <p:nvPr/>
        </p:nvSpPr>
        <p:spPr>
          <a:xfrm>
            <a:off x="8946952" y="4824413"/>
            <a:ext cx="568523" cy="152400"/>
          </a:xfrm>
          <a:prstGeom prst="rect">
            <a:avLst/>
          </a:prstGeom>
          <a:noFill/>
          <a:ln/>
        </p:spPr>
        <p:txBody>
          <a:bodyPr wrap="none" lIns="0" tIns="0" rIns="0" bIns="0" rtlCol="0" anchor="t"/>
          <a:lstStyle/>
          <a:p>
            <a:pPr marL="0" indent="0" algn="r">
              <a:lnSpc>
                <a:spcPts val="1200"/>
              </a:lnSpc>
              <a:buNone/>
            </a:pPr>
            <a:r>
              <a:rPr lang="en-US" sz="900" b="1" kern="0" spc="15" dirty="0">
                <a:solidFill>
                  <a:srgbClr val="1B1A1A"/>
                </a:solidFill>
                <a:latin typeface="Quicksand" pitchFamily="34" charset="0"/>
              </a:rPr>
              <a:t>+67.8%</a:t>
            </a:r>
            <a:endParaRPr lang="en-US" sz="900" dirty="0"/>
          </a:p>
        </p:txBody>
      </p:sp>
      <p:sp>
        <p:nvSpPr>
          <p:cNvPr id="162" name="Text 161"/>
          <p:cNvSpPr txBox="1"/>
          <p:nvPr/>
        </p:nvSpPr>
        <p:spPr>
          <a:xfrm>
            <a:off x="8946952" y="4976813"/>
            <a:ext cx="568523" cy="114300"/>
          </a:xfrm>
          <a:prstGeom prst="rect">
            <a:avLst/>
          </a:prstGeom>
          <a:noFill/>
          <a:ln/>
        </p:spPr>
        <p:txBody>
          <a:bodyPr wrap="none" lIns="0" tIns="0" rIns="0" bIns="0" rtlCol="0" anchor="t"/>
          <a:lstStyle/>
          <a:p>
            <a:pPr marL="0" indent="0" algn="r">
              <a:lnSpc>
                <a:spcPts val="900"/>
              </a:lnSpc>
              <a:buNone/>
            </a:pPr>
            <a:r>
              <a:rPr lang="en-US" sz="660" kern="0" spc="15" dirty="0">
                <a:solidFill>
                  <a:srgbClr val="6F6A66"/>
                </a:solidFill>
                <a:latin typeface="Quicksand" pitchFamily="34" charset="0"/>
              </a:rPr>
              <a:t>over one year</a:t>
            </a:r>
            <a:endParaRPr lang="en-US" sz="660" dirty="0"/>
          </a:p>
        </p:txBody>
      </p:sp>
      <p:sp>
        <p:nvSpPr>
          <p:cNvPr id="163" name="Chart rule"/>
          <p:cNvSpPr/>
          <p:nvPr/>
        </p:nvSpPr>
        <p:spPr>
          <a:xfrm>
            <a:off x="7562850" y="6353175"/>
            <a:ext cx="1857375" cy="0"/>
          </a:xfrm>
          <a:prstGeom prst="line">
            <a:avLst/>
          </a:prstGeom>
          <a:noFill/>
          <a:ln w="9525">
            <a:solidFill>
              <a:srgbClr val="C3BDB6"/>
            </a:solidFill>
            <a:prstDash val="solid"/>
          </a:ln>
        </p:spPr>
        <p:txBody>
          <a:bodyPr/>
          <a:lstStyle/>
          <a:p>
            <a:endParaRPr lang="en-US"/>
          </a:p>
        </p:txBody>
      </p:sp>
      <p:sp>
        <p:nvSpPr>
          <p:cNvPr id="164" name="Chart rule"/>
          <p:cNvSpPr/>
          <p:nvPr/>
        </p:nvSpPr>
        <p:spPr>
          <a:xfrm>
            <a:off x="7890510" y="5229225"/>
            <a:ext cx="0" cy="1123950"/>
          </a:xfrm>
          <a:prstGeom prst="line">
            <a:avLst/>
          </a:prstGeom>
          <a:noFill/>
          <a:ln w="9525">
            <a:solidFill>
              <a:srgbClr val="E3DCD3"/>
            </a:solidFill>
            <a:prstDash val="solid"/>
          </a:ln>
        </p:spPr>
        <p:txBody>
          <a:bodyPr/>
          <a:lstStyle/>
          <a:p>
            <a:endParaRPr lang="en-US"/>
          </a:p>
        </p:txBody>
      </p:sp>
      <p:sp>
        <p:nvSpPr>
          <p:cNvPr id="165" name="Chart rule"/>
          <p:cNvSpPr/>
          <p:nvPr/>
        </p:nvSpPr>
        <p:spPr>
          <a:xfrm>
            <a:off x="8218170" y="5229225"/>
            <a:ext cx="0" cy="1123950"/>
          </a:xfrm>
          <a:prstGeom prst="line">
            <a:avLst/>
          </a:prstGeom>
          <a:noFill/>
          <a:ln w="9525">
            <a:solidFill>
              <a:srgbClr val="E3DCD3"/>
            </a:solidFill>
            <a:prstDash val="solid"/>
          </a:ln>
        </p:spPr>
        <p:txBody>
          <a:bodyPr/>
          <a:lstStyle/>
          <a:p>
            <a:endParaRPr lang="en-US"/>
          </a:p>
        </p:txBody>
      </p:sp>
      <p:sp>
        <p:nvSpPr>
          <p:cNvPr id="166" name="Chart rule"/>
          <p:cNvSpPr/>
          <p:nvPr/>
        </p:nvSpPr>
        <p:spPr>
          <a:xfrm>
            <a:off x="8545830" y="5229225"/>
            <a:ext cx="0" cy="1123950"/>
          </a:xfrm>
          <a:prstGeom prst="line">
            <a:avLst/>
          </a:prstGeom>
          <a:noFill/>
          <a:ln w="9525">
            <a:solidFill>
              <a:srgbClr val="E3DCD3"/>
            </a:solidFill>
            <a:prstDash val="solid"/>
          </a:ln>
        </p:spPr>
        <p:txBody>
          <a:bodyPr/>
          <a:lstStyle/>
          <a:p>
            <a:endParaRPr lang="en-US"/>
          </a:p>
        </p:txBody>
      </p:sp>
      <p:sp>
        <p:nvSpPr>
          <p:cNvPr id="167" name="Chart rule"/>
          <p:cNvSpPr/>
          <p:nvPr/>
        </p:nvSpPr>
        <p:spPr>
          <a:xfrm>
            <a:off x="8873490" y="5229225"/>
            <a:ext cx="0" cy="1123950"/>
          </a:xfrm>
          <a:prstGeom prst="line">
            <a:avLst/>
          </a:prstGeom>
          <a:noFill/>
          <a:ln w="9525">
            <a:solidFill>
              <a:srgbClr val="E3DCD3"/>
            </a:solidFill>
            <a:prstDash val="solid"/>
          </a:ln>
        </p:spPr>
        <p:txBody>
          <a:bodyPr/>
          <a:lstStyle/>
          <a:p>
            <a:endParaRPr lang="en-US"/>
          </a:p>
        </p:txBody>
      </p:sp>
      <p:sp>
        <p:nvSpPr>
          <p:cNvPr id="168" name="Chart rule"/>
          <p:cNvSpPr/>
          <p:nvPr/>
        </p:nvSpPr>
        <p:spPr>
          <a:xfrm>
            <a:off x="9202103" y="5229225"/>
            <a:ext cx="0" cy="1123950"/>
          </a:xfrm>
          <a:prstGeom prst="line">
            <a:avLst/>
          </a:prstGeom>
          <a:noFill/>
          <a:ln w="9525">
            <a:solidFill>
              <a:srgbClr val="E3DCD3"/>
            </a:solidFill>
            <a:prstDash val="solid"/>
          </a:ln>
        </p:spPr>
        <p:txBody>
          <a:bodyPr/>
          <a:lstStyle/>
          <a:p>
            <a:endParaRPr lang="en-US"/>
          </a:p>
        </p:txBody>
      </p:sp>
      <p:graphicFrame>
        <p:nvGraphicFramePr>
          <p:cNvPr id="169" name="Indicator chart 8"/>
          <p:cNvGraphicFramePr/>
          <p:nvPr/>
        </p:nvGraphicFramePr>
        <p:xfrm>
          <a:off x="7549193" y="5229225"/>
          <a:ext cx="1884689" cy="1123950"/>
        </p:xfrm>
        <a:graphic>
          <a:graphicData uri="http://schemas.openxmlformats.org/drawingml/2006/chart">
            <c:chart xmlns:c="http://schemas.openxmlformats.org/drawingml/2006/chart" xmlns:r="http://schemas.openxmlformats.org/officeDocument/2006/relationships" r:id="rId19"/>
          </a:graphicData>
        </a:graphic>
      </p:graphicFrame>
      <p:sp>
        <p:nvSpPr>
          <p:cNvPr id="170" name="Text 169"/>
          <p:cNvSpPr txBox="1"/>
          <p:nvPr/>
        </p:nvSpPr>
        <p:spPr>
          <a:xfrm>
            <a:off x="7909560" y="6391275"/>
            <a:ext cx="754607" cy="95250"/>
          </a:xfrm>
          <a:prstGeom prst="rect">
            <a:avLst/>
          </a:prstGeom>
          <a:noFill/>
          <a:ln/>
        </p:spPr>
        <p:txBody>
          <a:bodyPr wrap="none" lIns="0" tIns="0" rIns="0" bIns="0" rtlCol="0" anchor="t"/>
          <a:lstStyle/>
          <a:p>
            <a:pPr marL="0" indent="0" algn="l">
              <a:lnSpc>
                <a:spcPts val="750"/>
              </a:lnSpc>
              <a:buNone/>
            </a:pPr>
            <a:r>
              <a:rPr lang="en-US" sz="600" dirty="0">
                <a:solidFill>
                  <a:srgbClr val="6F6A66"/>
                </a:solidFill>
                <a:latin typeface="Quicksand" pitchFamily="34" charset="0"/>
              </a:rPr>
              <a:t>2022</a:t>
            </a:r>
            <a:endParaRPr lang="en-US" sz="600" dirty="0"/>
          </a:p>
        </p:txBody>
      </p:sp>
      <p:sp>
        <p:nvSpPr>
          <p:cNvPr id="171" name="Text 170"/>
          <p:cNvSpPr txBox="1"/>
          <p:nvPr/>
        </p:nvSpPr>
        <p:spPr>
          <a:xfrm>
            <a:off x="8237220" y="6391275"/>
            <a:ext cx="748903" cy="95250"/>
          </a:xfrm>
          <a:prstGeom prst="rect">
            <a:avLst/>
          </a:prstGeom>
          <a:noFill/>
          <a:ln/>
        </p:spPr>
        <p:txBody>
          <a:bodyPr wrap="none" lIns="0" tIns="0" rIns="0" bIns="0" rtlCol="0" anchor="t"/>
          <a:lstStyle/>
          <a:p>
            <a:pPr marL="0" indent="0" algn="l">
              <a:lnSpc>
                <a:spcPts val="750"/>
              </a:lnSpc>
              <a:buNone/>
            </a:pPr>
            <a:r>
              <a:rPr lang="en-US" sz="600" dirty="0">
                <a:solidFill>
                  <a:srgbClr val="6F6A66"/>
                </a:solidFill>
                <a:latin typeface="Quicksand" pitchFamily="34" charset="0"/>
              </a:rPr>
              <a:t>2023</a:t>
            </a:r>
            <a:endParaRPr lang="en-US" sz="600" dirty="0"/>
          </a:p>
        </p:txBody>
      </p:sp>
      <p:sp>
        <p:nvSpPr>
          <p:cNvPr id="172" name="Text 171"/>
          <p:cNvSpPr txBox="1"/>
          <p:nvPr/>
        </p:nvSpPr>
        <p:spPr>
          <a:xfrm>
            <a:off x="8564880" y="6391275"/>
            <a:ext cx="748010" cy="95250"/>
          </a:xfrm>
          <a:prstGeom prst="rect">
            <a:avLst/>
          </a:prstGeom>
          <a:noFill/>
          <a:ln/>
        </p:spPr>
        <p:txBody>
          <a:bodyPr wrap="none" lIns="0" tIns="0" rIns="0" bIns="0" rtlCol="0" anchor="t"/>
          <a:lstStyle/>
          <a:p>
            <a:pPr marL="0" indent="0" algn="l">
              <a:lnSpc>
                <a:spcPts val="750"/>
              </a:lnSpc>
              <a:buNone/>
            </a:pPr>
            <a:r>
              <a:rPr lang="en-US" sz="600" dirty="0">
                <a:solidFill>
                  <a:srgbClr val="6F6A66"/>
                </a:solidFill>
                <a:latin typeface="Quicksand" pitchFamily="34" charset="0"/>
              </a:rPr>
              <a:t>2024</a:t>
            </a:r>
            <a:endParaRPr lang="en-US" sz="600" dirty="0"/>
          </a:p>
        </p:txBody>
      </p:sp>
      <p:sp>
        <p:nvSpPr>
          <p:cNvPr id="173" name="Text 172"/>
          <p:cNvSpPr txBox="1"/>
          <p:nvPr/>
        </p:nvSpPr>
        <p:spPr>
          <a:xfrm>
            <a:off x="8892540" y="6391275"/>
            <a:ext cx="750540" cy="95250"/>
          </a:xfrm>
          <a:prstGeom prst="rect">
            <a:avLst/>
          </a:prstGeom>
          <a:noFill/>
          <a:ln/>
        </p:spPr>
        <p:txBody>
          <a:bodyPr wrap="none" lIns="0" tIns="0" rIns="0" bIns="0" rtlCol="0" anchor="t"/>
          <a:lstStyle/>
          <a:p>
            <a:pPr marL="0" indent="0" algn="l">
              <a:lnSpc>
                <a:spcPts val="750"/>
              </a:lnSpc>
              <a:buNone/>
            </a:pPr>
            <a:r>
              <a:rPr lang="en-US" sz="600" dirty="0">
                <a:solidFill>
                  <a:srgbClr val="6F6A66"/>
                </a:solidFill>
                <a:latin typeface="Quicksand" pitchFamily="34" charset="0"/>
              </a:rPr>
              <a:t>2025</a:t>
            </a:r>
            <a:endParaRPr lang="en-US" sz="600" dirty="0"/>
          </a:p>
        </p:txBody>
      </p:sp>
      <p:sp>
        <p:nvSpPr>
          <p:cNvPr id="174" name="Text 173"/>
          <p:cNvSpPr txBox="1"/>
          <p:nvPr/>
        </p:nvSpPr>
        <p:spPr>
          <a:xfrm>
            <a:off x="9221152" y="6391275"/>
            <a:ext cx="754607" cy="95250"/>
          </a:xfrm>
          <a:prstGeom prst="rect">
            <a:avLst/>
          </a:prstGeom>
          <a:noFill/>
          <a:ln/>
        </p:spPr>
        <p:txBody>
          <a:bodyPr wrap="none" lIns="0" tIns="0" rIns="0" bIns="0" rtlCol="0" anchor="t"/>
          <a:lstStyle/>
          <a:p>
            <a:pPr marL="0" indent="0" algn="l">
              <a:lnSpc>
                <a:spcPts val="750"/>
              </a:lnSpc>
              <a:buNone/>
            </a:pPr>
            <a:r>
              <a:rPr lang="en-US" sz="600" dirty="0">
                <a:solidFill>
                  <a:srgbClr val="6F6A66"/>
                </a:solidFill>
                <a:latin typeface="Quicksand" pitchFamily="34" charset="0"/>
              </a:rPr>
              <a:t>2026</a:t>
            </a:r>
            <a:endParaRPr lang="en-US" sz="600" dirty="0"/>
          </a:p>
        </p:txBody>
      </p:sp>
      <p:sp>
        <p:nvSpPr>
          <p:cNvPr id="175" name="Text 174"/>
          <p:cNvSpPr txBox="1"/>
          <p:nvPr/>
        </p:nvSpPr>
        <p:spPr>
          <a:xfrm>
            <a:off x="7543800" y="6743700"/>
            <a:ext cx="1971675" cy="114300"/>
          </a:xfrm>
          <a:prstGeom prst="rect">
            <a:avLst/>
          </a:prstGeom>
          <a:noFill/>
          <a:ln/>
        </p:spPr>
        <p:txBody>
          <a:bodyPr wrap="none" lIns="0" tIns="0" rIns="0" bIns="0" rtlCol="0" anchor="t"/>
          <a:lstStyle/>
          <a:p>
            <a:pPr marL="0" indent="0" algn="l">
              <a:lnSpc>
                <a:spcPts val="900"/>
              </a:lnSpc>
              <a:buNone/>
            </a:pPr>
            <a:r>
              <a:rPr lang="en-US" sz="630" kern="0" spc="15" dirty="0">
                <a:solidFill>
                  <a:srgbClr val="6F6A66"/>
                </a:solidFill>
                <a:latin typeface="Quicksand" pitchFamily="34" charset="0"/>
              </a:rPr>
              <a:t>Source: </a:t>
            </a:r>
            <a:r>
              <a:rPr lang="en-US" sz="630" u="sng" kern="0" spc="15" dirty="0">
                <a:solidFill>
                  <a:srgbClr val="8C6239"/>
                </a:solidFill>
                <a:latin typeface="Quicksand" pitchFamily="34" charset="0"/>
                <a:hlinkClick r:id="rId20">
                  <a:extLst>
                    <a:ext uri="{A12FA001-AC4F-418D-AE19-62706E023703}">
                      <ahyp:hlinkClr xmlns:ahyp="http://schemas.microsoft.com/office/drawing/2018/hyperlinkcolor" val="tx"/>
                    </a:ext>
                  </a:extLst>
                </a:hlinkClick>
              </a:rPr>
              <a:t>FRED, series GASDESM</a:t>
            </a:r>
            <a:endParaRPr lang="en-US" sz="630" dirty="0"/>
          </a:p>
        </p:txBody>
      </p:sp>
      <p:sp>
        <p:nvSpPr>
          <p:cNvPr id="176" name="Shape 175"/>
          <p:cNvSpPr/>
          <p:nvPr/>
        </p:nvSpPr>
        <p:spPr>
          <a:xfrm>
            <a:off x="419100" y="7029450"/>
            <a:ext cx="9220200" cy="9525"/>
          </a:xfrm>
          <a:prstGeom prst="rect">
            <a:avLst/>
          </a:prstGeom>
          <a:solidFill>
            <a:srgbClr val="E3DCD3"/>
          </a:solidFill>
          <a:ln/>
        </p:spPr>
        <p:txBody>
          <a:bodyPr/>
          <a:lstStyle/>
          <a:p>
            <a:endParaRPr lang="en-US"/>
          </a:p>
        </p:txBody>
      </p:sp>
      <p:pic>
        <p:nvPicPr>
          <p:cNvPr id="177" name="Benchmark International" descr="Benchmark International"/>
          <p:cNvPicPr>
            <a:picLocks noChangeAspect="1"/>
          </p:cNvPicPr>
          <p:nvPr/>
        </p:nvPicPr>
        <p:blipFill>
          <a:blip r:embed="rId21"/>
          <a:stretch>
            <a:fillRect/>
          </a:stretch>
        </p:blipFill>
        <p:spPr>
          <a:xfrm>
            <a:off x="419100" y="7143750"/>
            <a:ext cx="914400" cy="171450"/>
          </a:xfrm>
          <a:prstGeom prst="rect">
            <a:avLst/>
          </a:prstGeom>
        </p:spPr>
      </p:pic>
      <p:sp>
        <p:nvSpPr>
          <p:cNvPr id="178" name="Text 177"/>
          <p:cNvSpPr txBox="1"/>
          <p:nvPr/>
        </p:nvSpPr>
        <p:spPr>
          <a:xfrm>
            <a:off x="1543050" y="7098506"/>
            <a:ext cx="7658100" cy="238125"/>
          </a:xfrm>
          <a:prstGeom prst="rect">
            <a:avLst/>
          </a:prstGeom>
          <a:noFill/>
          <a:ln/>
        </p:spPr>
        <p:txBody>
          <a:bodyPr wrap="square" lIns="0" tIns="0" rIns="0" bIns="0" rtlCol="0" anchor="t"/>
          <a:lstStyle/>
          <a:p>
            <a:pPr marL="0" indent="0" algn="l">
              <a:lnSpc>
                <a:spcPts val="938"/>
              </a:lnSpc>
              <a:buNone/>
            </a:pPr>
            <a:r>
              <a:rPr lang="en-US" sz="675" kern="0" spc="15" dirty="0">
                <a:solidFill>
                  <a:srgbClr val="6F6A66"/>
                </a:solidFill>
                <a:latin typeface="Quicksand" pitchFamily="34" charset="0"/>
              </a:rPr>
              <a:t>Each series runs from January 2021. August retail figures are the Census advance estimate, and September sentiment is from the Surveys of Consumers. The consumer price series have no October 2025 reading, and the unadjusted food-at-home increase reported for August is 2.2%.</a:t>
            </a:r>
            <a:endParaRPr lang="en-US" sz="675" dirty="0"/>
          </a:p>
        </p:txBody>
      </p:sp>
      <p:sp>
        <p:nvSpPr>
          <p:cNvPr id="179" name="Text 178"/>
          <p:cNvSpPr txBox="1"/>
          <p:nvPr/>
        </p:nvSpPr>
        <p:spPr>
          <a:xfrm>
            <a:off x="9516368" y="7162800"/>
            <a:ext cx="180082" cy="133350"/>
          </a:xfrm>
          <a:prstGeom prst="rect">
            <a:avLst/>
          </a:prstGeom>
          <a:noFill/>
          <a:ln/>
        </p:spPr>
        <p:txBody>
          <a:bodyPr wrap="none" lIns="0" tIns="0" rIns="0" bIns="0" rtlCol="0" anchor="t"/>
          <a:lstStyle/>
          <a:p>
            <a:pPr marL="0" indent="0" algn="l">
              <a:lnSpc>
                <a:spcPts val="1050"/>
              </a:lnSpc>
              <a:buNone/>
            </a:pPr>
            <a:r>
              <a:rPr lang="en-US" sz="713" b="1" kern="0" spc="150" dirty="0">
                <a:solidFill>
                  <a:srgbClr val="1B1A1A"/>
                </a:solidFill>
                <a:latin typeface="Quicksand" pitchFamily="34" charset="0"/>
              </a:rPr>
              <a:t>18</a:t>
            </a:r>
            <a:endParaRPr lang="en-US" sz="713"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1"/>
          <p:cNvSpPr/>
          <p:nvPr/>
        </p:nvSpPr>
        <p:spPr>
          <a:xfrm>
            <a:off x="0" y="0"/>
            <a:ext cx="10058400" cy="7772400"/>
          </a:xfrm>
          <a:prstGeom prst="rect">
            <a:avLst/>
          </a:prstGeom>
          <a:solidFill>
            <a:srgbClr val="1B1A1A"/>
          </a:solidFill>
          <a:ln/>
        </p:spPr>
        <p:txBody>
          <a:bodyPr/>
          <a:lstStyle/>
          <a:p>
            <a:endParaRPr lang="en-US"/>
          </a:p>
        </p:txBody>
      </p:sp>
      <p:pic>
        <p:nvPicPr>
          <p:cNvPr id="3" name="Image" descr="/tmp/claude-0/-home-claude-about/4bef2f41-4227-5ff7-ab18-11ac74cd9797/scratchpad/pptx/ex/media/1eecee506727.jpg"/>
          <p:cNvPicPr>
            <a:picLocks noChangeAspect="1"/>
          </p:cNvPicPr>
          <p:nvPr/>
        </p:nvPicPr>
        <p:blipFill>
          <a:blip r:embed="rId3">
            <a:alphaModFix amt="40000"/>
          </a:blip>
          <a:stretch>
            <a:fillRect/>
          </a:stretch>
        </p:blipFill>
        <p:spPr>
          <a:xfrm>
            <a:off x="0" y="0"/>
            <a:ext cx="9725025" cy="7772400"/>
          </a:xfrm>
          <a:prstGeom prst="rect">
            <a:avLst/>
          </a:prstGeom>
        </p:spPr>
      </p:pic>
      <p:pic>
        <p:nvPicPr>
          <p:cNvPr id="4" name="A team meeting around a conference table" descr="A team meeting around a conference table"/>
          <p:cNvPicPr>
            <a:picLocks noChangeAspect="1"/>
          </p:cNvPicPr>
          <p:nvPr/>
        </p:nvPicPr>
        <p:blipFill>
          <a:blip r:embed="rId4"/>
          <a:stretch>
            <a:fillRect/>
          </a:stretch>
        </p:blipFill>
        <p:spPr>
          <a:xfrm>
            <a:off x="5676900" y="0"/>
            <a:ext cx="4381500" cy="7772400"/>
          </a:xfrm>
          <a:prstGeom prst="rect">
            <a:avLst/>
          </a:prstGeom>
        </p:spPr>
      </p:pic>
      <p:pic>
        <p:nvPicPr>
          <p:cNvPr id="5" name="Shade" descr="/tmp/claude-0/-home-claude-about/4bef2f41-4227-5ff7-ab18-11ac74cd9797/scratchpad/pptx/ex/media/b967cc30ffa5.png"/>
          <p:cNvPicPr>
            <a:picLocks noChangeAspect="1"/>
          </p:cNvPicPr>
          <p:nvPr/>
        </p:nvPicPr>
        <p:blipFill>
          <a:blip r:embed="rId5"/>
          <a:stretch>
            <a:fillRect/>
          </a:stretch>
        </p:blipFill>
        <p:spPr>
          <a:xfrm>
            <a:off x="5676900" y="0"/>
            <a:ext cx="4381500" cy="7772400"/>
          </a:xfrm>
          <a:prstGeom prst="rect">
            <a:avLst/>
          </a:prstGeom>
        </p:spPr>
      </p:pic>
      <p:sp>
        <p:nvSpPr>
          <p:cNvPr id="6" name="Shape 5"/>
          <p:cNvSpPr/>
          <p:nvPr/>
        </p:nvSpPr>
        <p:spPr>
          <a:xfrm>
            <a:off x="5619750" y="0"/>
            <a:ext cx="57150" cy="7772400"/>
          </a:xfrm>
          <a:prstGeom prst="rect">
            <a:avLst/>
          </a:prstGeom>
          <a:solidFill>
            <a:srgbClr val="B68757"/>
          </a:solidFill>
          <a:ln/>
        </p:spPr>
        <p:txBody>
          <a:bodyPr/>
          <a:lstStyle/>
          <a:p>
            <a:endParaRPr lang="en-US"/>
          </a:p>
        </p:txBody>
      </p:sp>
      <p:sp>
        <p:nvSpPr>
          <p:cNvPr id="7" name="Text 6"/>
          <p:cNvSpPr txBox="1"/>
          <p:nvPr/>
        </p:nvSpPr>
        <p:spPr>
          <a:xfrm>
            <a:off x="609600" y="604838"/>
            <a:ext cx="3370213" cy="133350"/>
          </a:xfrm>
          <a:prstGeom prst="rect">
            <a:avLst/>
          </a:prstGeom>
          <a:noFill/>
          <a:ln/>
        </p:spPr>
        <p:txBody>
          <a:bodyPr wrap="none" lIns="0" tIns="0" rIns="0" bIns="0" rtlCol="0" anchor="t"/>
          <a:lstStyle/>
          <a:p>
            <a:pPr marL="0" indent="0" algn="l">
              <a:lnSpc>
                <a:spcPts val="1050"/>
              </a:lnSpc>
              <a:buNone/>
            </a:pPr>
            <a:r>
              <a:rPr lang="en-US" sz="675" b="1" kern="0" spc="195" dirty="0">
                <a:solidFill>
                  <a:srgbClr val="D3AE84"/>
                </a:solidFill>
                <a:latin typeface="Quicksand" pitchFamily="34" charset="0"/>
              </a:rPr>
              <a:t>CONSUMER  |  QUARTERLY SECTOR BRIEF  |  Q4 2026</a:t>
            </a:r>
            <a:endParaRPr lang="en-US" sz="675" dirty="0"/>
          </a:p>
        </p:txBody>
      </p:sp>
      <p:sp>
        <p:nvSpPr>
          <p:cNvPr id="8" name="Text 7"/>
          <p:cNvSpPr txBox="1"/>
          <p:nvPr/>
        </p:nvSpPr>
        <p:spPr>
          <a:xfrm>
            <a:off x="571500" y="1428750"/>
            <a:ext cx="1334393" cy="1143000"/>
          </a:xfrm>
          <a:prstGeom prst="rect">
            <a:avLst/>
          </a:prstGeom>
          <a:noFill/>
          <a:ln/>
        </p:spPr>
        <p:txBody>
          <a:bodyPr wrap="none" lIns="0" tIns="0" rIns="0" bIns="0" rtlCol="0" anchor="t"/>
          <a:lstStyle/>
          <a:p>
            <a:pPr marL="0" indent="0" algn="l">
              <a:lnSpc>
                <a:spcPts val="9000"/>
              </a:lnSpc>
              <a:buNone/>
            </a:pPr>
            <a:r>
              <a:rPr lang="en-US" sz="9000" kern="0" spc="150" dirty="0">
                <a:solidFill>
                  <a:srgbClr val="B68757"/>
                </a:solidFill>
                <a:latin typeface="Cinzel" pitchFamily="34" charset="0"/>
              </a:rPr>
              <a:t>03</a:t>
            </a:r>
            <a:endParaRPr lang="en-US" sz="9000" dirty="0"/>
          </a:p>
        </p:txBody>
      </p:sp>
      <p:sp>
        <p:nvSpPr>
          <p:cNvPr id="9" name="Text 8"/>
          <p:cNvSpPr txBox="1"/>
          <p:nvPr/>
        </p:nvSpPr>
        <p:spPr>
          <a:xfrm>
            <a:off x="609600" y="2724150"/>
            <a:ext cx="4572000" cy="571500"/>
          </a:xfrm>
          <a:prstGeom prst="rect">
            <a:avLst/>
          </a:prstGeom>
          <a:noFill/>
          <a:ln/>
        </p:spPr>
        <p:txBody>
          <a:bodyPr wrap="none" lIns="0" tIns="0" rIns="0" bIns="0" rtlCol="0" anchor="t"/>
          <a:lstStyle/>
          <a:p>
            <a:pPr marL="0" indent="0" algn="l">
              <a:lnSpc>
                <a:spcPts val="4500"/>
              </a:lnSpc>
              <a:buNone/>
            </a:pPr>
            <a:r>
              <a:rPr lang="en-US" sz="4050" kern="0" spc="15" dirty="0">
                <a:solidFill>
                  <a:srgbClr val="FFFFFF"/>
                </a:solidFill>
                <a:latin typeface="Newsreader SemiBold" pitchFamily="34" charset="0"/>
              </a:rPr>
              <a:t>Connect With Us</a:t>
            </a:r>
            <a:endParaRPr lang="en-US" sz="4050" dirty="0"/>
          </a:p>
        </p:txBody>
      </p:sp>
      <p:sp>
        <p:nvSpPr>
          <p:cNvPr id="10" name="Shape 9"/>
          <p:cNvSpPr/>
          <p:nvPr/>
        </p:nvSpPr>
        <p:spPr>
          <a:xfrm>
            <a:off x="609600" y="3486150"/>
            <a:ext cx="609600" cy="19050"/>
          </a:xfrm>
          <a:prstGeom prst="rect">
            <a:avLst/>
          </a:prstGeom>
          <a:solidFill>
            <a:srgbClr val="B68757"/>
          </a:solidFill>
          <a:ln/>
        </p:spPr>
        <p:txBody>
          <a:bodyPr/>
          <a:lstStyle/>
          <a:p>
            <a:endParaRPr lang="en-US"/>
          </a:p>
        </p:txBody>
      </p:sp>
      <p:sp>
        <p:nvSpPr>
          <p:cNvPr id="11" name="Text 10"/>
          <p:cNvSpPr txBox="1"/>
          <p:nvPr/>
        </p:nvSpPr>
        <p:spPr>
          <a:xfrm>
            <a:off x="609600" y="3733800"/>
            <a:ext cx="4499134" cy="1000125"/>
          </a:xfrm>
          <a:prstGeom prst="rect">
            <a:avLst/>
          </a:prstGeom>
          <a:noFill/>
          <a:ln/>
        </p:spPr>
        <p:txBody>
          <a:bodyPr wrap="square" lIns="0" tIns="0" rIns="0" bIns="0" rtlCol="0" anchor="t"/>
          <a:lstStyle/>
          <a:p>
            <a:pPr marL="0" indent="0" algn="l">
              <a:lnSpc>
                <a:spcPts val="1575"/>
              </a:lnSpc>
              <a:buNone/>
            </a:pPr>
            <a:r>
              <a:rPr lang="en-US" sz="1013" kern="0" spc="15" dirty="0">
                <a:solidFill>
                  <a:srgbClr val="E8E2DA"/>
                </a:solidFill>
                <a:latin typeface="Quicksand" pitchFamily="34" charset="0"/>
              </a:rPr>
              <a:t>Benchmark Capital Markets represents owners of privately held companies with $50 million to $500 million of total enterprise value in sales, recapitalizations and growth partnerships. The first step is a confidential conversation about your goals, your company and your options, with no pressure and no commitment.</a:t>
            </a:r>
            <a:endParaRPr lang="en-US" sz="1013" dirty="0"/>
          </a:p>
        </p:txBody>
      </p:sp>
      <p:sp>
        <p:nvSpPr>
          <p:cNvPr id="12" name="Shape 11"/>
          <p:cNvSpPr/>
          <p:nvPr/>
        </p:nvSpPr>
        <p:spPr>
          <a:xfrm>
            <a:off x="609600" y="6410325"/>
            <a:ext cx="4476750" cy="9525"/>
          </a:xfrm>
          <a:prstGeom prst="rect">
            <a:avLst/>
          </a:prstGeom>
          <a:solidFill>
            <a:srgbClr val="D3AE84">
              <a:alpha val="28000"/>
            </a:srgbClr>
          </a:solidFill>
          <a:ln/>
        </p:spPr>
        <p:txBody>
          <a:bodyPr/>
          <a:lstStyle/>
          <a:p>
            <a:endParaRPr lang="en-US"/>
          </a:p>
        </p:txBody>
      </p:sp>
      <p:sp>
        <p:nvSpPr>
          <p:cNvPr id="13" name="Shape 12"/>
          <p:cNvSpPr/>
          <p:nvPr/>
        </p:nvSpPr>
        <p:spPr>
          <a:xfrm>
            <a:off x="609600" y="5295900"/>
            <a:ext cx="4476750" cy="9525"/>
          </a:xfrm>
          <a:prstGeom prst="rect">
            <a:avLst/>
          </a:prstGeom>
          <a:solidFill>
            <a:srgbClr val="D3AE84">
              <a:alpha val="28000"/>
            </a:srgbClr>
          </a:solidFill>
          <a:ln/>
        </p:spPr>
        <p:txBody>
          <a:bodyPr/>
          <a:lstStyle/>
          <a:p>
            <a:endParaRPr lang="en-US"/>
          </a:p>
        </p:txBody>
      </p:sp>
      <p:sp>
        <p:nvSpPr>
          <p:cNvPr id="14" name="Text 13"/>
          <p:cNvSpPr txBox="1"/>
          <p:nvPr/>
        </p:nvSpPr>
        <p:spPr>
          <a:xfrm>
            <a:off x="609600" y="5400675"/>
            <a:ext cx="247650" cy="180975"/>
          </a:xfrm>
          <a:prstGeom prst="rect">
            <a:avLst/>
          </a:prstGeom>
          <a:noFill/>
          <a:ln/>
        </p:spPr>
        <p:txBody>
          <a:bodyPr wrap="none" lIns="0" tIns="0" rIns="0" bIns="0" rtlCol="0" anchor="t"/>
          <a:lstStyle/>
          <a:p>
            <a:pPr marL="0" indent="0" algn="l">
              <a:lnSpc>
                <a:spcPts val="1425"/>
              </a:lnSpc>
              <a:buNone/>
            </a:pPr>
            <a:r>
              <a:rPr lang="en-US" sz="825" kern="0" spc="105" dirty="0">
                <a:solidFill>
                  <a:srgbClr val="D3AE84"/>
                </a:solidFill>
                <a:latin typeface="Cinzel" pitchFamily="34" charset="0"/>
              </a:rPr>
              <a:t>20</a:t>
            </a:r>
            <a:endParaRPr lang="en-US" sz="825" dirty="0"/>
          </a:p>
        </p:txBody>
      </p:sp>
      <p:sp>
        <p:nvSpPr>
          <p:cNvPr id="15" name="Text 14"/>
          <p:cNvSpPr txBox="1"/>
          <p:nvPr/>
        </p:nvSpPr>
        <p:spPr>
          <a:xfrm>
            <a:off x="971550" y="5386388"/>
            <a:ext cx="1398091" cy="180975"/>
          </a:xfrm>
          <a:prstGeom prst="rect">
            <a:avLst/>
          </a:prstGeom>
          <a:noFill/>
          <a:ln/>
        </p:spPr>
        <p:txBody>
          <a:bodyPr wrap="none" lIns="0" tIns="0" rIns="0" bIns="0" rtlCol="0" anchor="t"/>
          <a:lstStyle/>
          <a:p>
            <a:pPr marL="0" indent="0" algn="l">
              <a:lnSpc>
                <a:spcPts val="1425"/>
              </a:lnSpc>
              <a:buNone/>
            </a:pPr>
            <a:r>
              <a:rPr lang="en-US" sz="975" kern="0" spc="15" dirty="0">
                <a:solidFill>
                  <a:srgbClr val="F4EFE8"/>
                </a:solidFill>
                <a:latin typeface="Quicksand" pitchFamily="34" charset="0"/>
              </a:rPr>
              <a:t>Connect with our team</a:t>
            </a:r>
            <a:endParaRPr lang="en-US" sz="975" dirty="0"/>
          </a:p>
        </p:txBody>
      </p:sp>
      <p:sp>
        <p:nvSpPr>
          <p:cNvPr id="16" name="Shape 15"/>
          <p:cNvSpPr/>
          <p:nvPr/>
        </p:nvSpPr>
        <p:spPr>
          <a:xfrm>
            <a:off x="609600" y="5667375"/>
            <a:ext cx="4476750" cy="9525"/>
          </a:xfrm>
          <a:prstGeom prst="rect">
            <a:avLst/>
          </a:prstGeom>
          <a:solidFill>
            <a:srgbClr val="D3AE84">
              <a:alpha val="28000"/>
            </a:srgbClr>
          </a:solidFill>
          <a:ln/>
        </p:spPr>
        <p:txBody>
          <a:bodyPr/>
          <a:lstStyle/>
          <a:p>
            <a:endParaRPr lang="en-US"/>
          </a:p>
        </p:txBody>
      </p:sp>
      <p:sp>
        <p:nvSpPr>
          <p:cNvPr id="17" name="Text 16"/>
          <p:cNvSpPr txBox="1"/>
          <p:nvPr/>
        </p:nvSpPr>
        <p:spPr>
          <a:xfrm>
            <a:off x="609600" y="5772150"/>
            <a:ext cx="247650" cy="180975"/>
          </a:xfrm>
          <a:prstGeom prst="rect">
            <a:avLst/>
          </a:prstGeom>
          <a:noFill/>
          <a:ln/>
        </p:spPr>
        <p:txBody>
          <a:bodyPr wrap="none" lIns="0" tIns="0" rIns="0" bIns="0" rtlCol="0" anchor="t"/>
          <a:lstStyle/>
          <a:p>
            <a:pPr marL="0" indent="0" algn="l">
              <a:lnSpc>
                <a:spcPts val="1425"/>
              </a:lnSpc>
              <a:buNone/>
            </a:pPr>
            <a:r>
              <a:rPr lang="en-US" sz="825" kern="0" spc="105" dirty="0">
                <a:solidFill>
                  <a:srgbClr val="D3AE84"/>
                </a:solidFill>
                <a:latin typeface="Cinzel" pitchFamily="34" charset="0"/>
              </a:rPr>
              <a:t>21</a:t>
            </a:r>
            <a:endParaRPr lang="en-US" sz="825" dirty="0"/>
          </a:p>
        </p:txBody>
      </p:sp>
      <p:sp>
        <p:nvSpPr>
          <p:cNvPr id="18" name="Text 17"/>
          <p:cNvSpPr txBox="1"/>
          <p:nvPr/>
        </p:nvSpPr>
        <p:spPr>
          <a:xfrm>
            <a:off x="971550" y="5757863"/>
            <a:ext cx="1330226" cy="180975"/>
          </a:xfrm>
          <a:prstGeom prst="rect">
            <a:avLst/>
          </a:prstGeom>
          <a:noFill/>
          <a:ln/>
        </p:spPr>
        <p:txBody>
          <a:bodyPr wrap="none" lIns="0" tIns="0" rIns="0" bIns="0" rtlCol="0" anchor="t"/>
          <a:lstStyle/>
          <a:p>
            <a:pPr marL="0" indent="0" algn="l">
              <a:lnSpc>
                <a:spcPts val="1425"/>
              </a:lnSpc>
              <a:buNone/>
            </a:pPr>
            <a:r>
              <a:rPr lang="en-US" sz="975" kern="0" spc="15" dirty="0">
                <a:solidFill>
                  <a:srgbClr val="F4EFE8"/>
                </a:solidFill>
                <a:latin typeface="Quicksand" pitchFamily="34" charset="0"/>
              </a:rPr>
              <a:t>Important disclosures</a:t>
            </a:r>
            <a:endParaRPr lang="en-US" sz="975" dirty="0"/>
          </a:p>
        </p:txBody>
      </p:sp>
      <p:sp>
        <p:nvSpPr>
          <p:cNvPr id="19" name="Shape 18"/>
          <p:cNvSpPr/>
          <p:nvPr/>
        </p:nvSpPr>
        <p:spPr>
          <a:xfrm>
            <a:off x="609600" y="6038850"/>
            <a:ext cx="4476750" cy="9525"/>
          </a:xfrm>
          <a:prstGeom prst="rect">
            <a:avLst/>
          </a:prstGeom>
          <a:solidFill>
            <a:srgbClr val="D3AE84">
              <a:alpha val="28000"/>
            </a:srgbClr>
          </a:solidFill>
          <a:ln/>
        </p:spPr>
        <p:txBody>
          <a:bodyPr/>
          <a:lstStyle/>
          <a:p>
            <a:endParaRPr lang="en-US"/>
          </a:p>
        </p:txBody>
      </p:sp>
      <p:sp>
        <p:nvSpPr>
          <p:cNvPr id="20" name="Text 19"/>
          <p:cNvSpPr txBox="1"/>
          <p:nvPr/>
        </p:nvSpPr>
        <p:spPr>
          <a:xfrm>
            <a:off x="609600" y="6143625"/>
            <a:ext cx="247650" cy="180975"/>
          </a:xfrm>
          <a:prstGeom prst="rect">
            <a:avLst/>
          </a:prstGeom>
          <a:noFill/>
          <a:ln/>
        </p:spPr>
        <p:txBody>
          <a:bodyPr wrap="none" lIns="0" tIns="0" rIns="0" bIns="0" rtlCol="0" anchor="t"/>
          <a:lstStyle/>
          <a:p>
            <a:pPr marL="0" indent="0" algn="l">
              <a:lnSpc>
                <a:spcPts val="1425"/>
              </a:lnSpc>
              <a:buNone/>
            </a:pPr>
            <a:r>
              <a:rPr lang="en-US" sz="825" kern="0" spc="105" dirty="0">
                <a:solidFill>
                  <a:srgbClr val="D3AE84"/>
                </a:solidFill>
                <a:latin typeface="Cinzel" pitchFamily="34" charset="0"/>
              </a:rPr>
              <a:t>22</a:t>
            </a:r>
            <a:endParaRPr lang="en-US" sz="825" dirty="0"/>
          </a:p>
        </p:txBody>
      </p:sp>
      <p:sp>
        <p:nvSpPr>
          <p:cNvPr id="21" name="Text 20"/>
          <p:cNvSpPr txBox="1"/>
          <p:nvPr/>
        </p:nvSpPr>
        <p:spPr>
          <a:xfrm>
            <a:off x="971550" y="6129338"/>
            <a:ext cx="522536" cy="180975"/>
          </a:xfrm>
          <a:prstGeom prst="rect">
            <a:avLst/>
          </a:prstGeom>
          <a:noFill/>
          <a:ln/>
        </p:spPr>
        <p:txBody>
          <a:bodyPr wrap="none" lIns="0" tIns="0" rIns="0" bIns="0" rtlCol="0" anchor="t"/>
          <a:lstStyle/>
          <a:p>
            <a:pPr marL="0" indent="0" algn="l">
              <a:lnSpc>
                <a:spcPts val="1425"/>
              </a:lnSpc>
              <a:buNone/>
            </a:pPr>
            <a:r>
              <a:rPr lang="en-US" sz="975" kern="0" spc="15" dirty="0">
                <a:solidFill>
                  <a:srgbClr val="F4EFE8"/>
                </a:solidFill>
                <a:latin typeface="Quicksand" pitchFamily="34" charset="0"/>
              </a:rPr>
              <a:t>Sources</a:t>
            </a:r>
            <a:endParaRPr lang="en-US" sz="975" dirty="0"/>
          </a:p>
        </p:txBody>
      </p:sp>
      <p:pic>
        <p:nvPicPr>
          <p:cNvPr id="22" name="Benchmark International" descr="Benchmark International"/>
          <p:cNvPicPr>
            <a:picLocks noChangeAspect="1"/>
          </p:cNvPicPr>
          <p:nvPr/>
        </p:nvPicPr>
        <p:blipFill>
          <a:blip r:embed="rId6"/>
          <a:stretch>
            <a:fillRect/>
          </a:stretch>
        </p:blipFill>
        <p:spPr>
          <a:xfrm>
            <a:off x="609600" y="7029450"/>
            <a:ext cx="1428750" cy="266700"/>
          </a:xfrm>
          <a:prstGeom prst="rect">
            <a:avLst/>
          </a:prstGeom>
        </p:spPr>
      </p:pic>
      <p:sp>
        <p:nvSpPr>
          <p:cNvPr id="23" name="Text 22"/>
          <p:cNvSpPr txBox="1"/>
          <p:nvPr/>
        </p:nvSpPr>
        <p:spPr>
          <a:xfrm>
            <a:off x="2209800" y="7091363"/>
            <a:ext cx="1858119" cy="133350"/>
          </a:xfrm>
          <a:prstGeom prst="rect">
            <a:avLst/>
          </a:prstGeom>
          <a:noFill/>
          <a:ln/>
        </p:spPr>
        <p:txBody>
          <a:bodyPr wrap="none" lIns="0" tIns="0" rIns="0" bIns="0" rtlCol="0" anchor="t"/>
          <a:lstStyle/>
          <a:p>
            <a:pPr marL="0" indent="0" algn="l">
              <a:lnSpc>
                <a:spcPts val="1050"/>
              </a:lnSpc>
              <a:buNone/>
            </a:pPr>
            <a:r>
              <a:rPr lang="en-US" sz="638" b="1" kern="0" spc="180" dirty="0">
                <a:solidFill>
                  <a:srgbClr val="D3AE84"/>
                </a:solidFill>
                <a:latin typeface="Quicksand" pitchFamily="34" charset="0"/>
              </a:rPr>
              <a:t>BENCHMARK CAPITAL MARKETS</a:t>
            </a:r>
            <a:endParaRPr lang="en-US" sz="638"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1"/>
          <p:cNvSpPr/>
          <p:nvPr/>
        </p:nvSpPr>
        <p:spPr>
          <a:xfrm>
            <a:off x="0" y="0"/>
            <a:ext cx="10058400" cy="7772400"/>
          </a:xfrm>
          <a:prstGeom prst="rect">
            <a:avLst/>
          </a:prstGeom>
          <a:solidFill>
            <a:srgbClr val="FFFFFF"/>
          </a:solidFill>
          <a:ln/>
        </p:spPr>
        <p:txBody>
          <a:bodyPr/>
          <a:lstStyle/>
          <a:p>
            <a:endParaRPr lang="en-US"/>
          </a:p>
        </p:txBody>
      </p:sp>
      <p:sp>
        <p:nvSpPr>
          <p:cNvPr id="3" name="Shape 2"/>
          <p:cNvSpPr/>
          <p:nvPr/>
        </p:nvSpPr>
        <p:spPr>
          <a:xfrm>
            <a:off x="0" y="0"/>
            <a:ext cx="57150" cy="7772400"/>
          </a:xfrm>
          <a:prstGeom prst="rect">
            <a:avLst/>
          </a:prstGeom>
          <a:solidFill>
            <a:srgbClr val="B68757"/>
          </a:solidFill>
          <a:ln/>
        </p:spPr>
        <p:txBody>
          <a:bodyPr/>
          <a:lstStyle/>
          <a:p>
            <a:endParaRPr lang="en-US"/>
          </a:p>
        </p:txBody>
      </p:sp>
      <p:sp>
        <p:nvSpPr>
          <p:cNvPr id="4" name="Text 3"/>
          <p:cNvSpPr txBox="1"/>
          <p:nvPr/>
        </p:nvSpPr>
        <p:spPr>
          <a:xfrm>
            <a:off x="419100" y="376238"/>
            <a:ext cx="2618929" cy="133350"/>
          </a:xfrm>
          <a:prstGeom prst="rect">
            <a:avLst/>
          </a:prstGeom>
          <a:noFill/>
          <a:ln/>
        </p:spPr>
        <p:txBody>
          <a:bodyPr wrap="none" lIns="0" tIns="0" rIns="0" bIns="0" rtlCol="0" anchor="t"/>
          <a:lstStyle/>
          <a:p>
            <a:pPr marL="0" indent="0" algn="l">
              <a:lnSpc>
                <a:spcPts val="1050"/>
              </a:lnSpc>
              <a:buNone/>
            </a:pPr>
            <a:r>
              <a:rPr lang="en-US" sz="675" b="1" kern="0" spc="195" dirty="0">
                <a:solidFill>
                  <a:srgbClr val="8C6239"/>
                </a:solidFill>
                <a:latin typeface="Quicksand" pitchFamily="34" charset="0"/>
              </a:rPr>
              <a:t>CONSUMER  |  QUARTERLY SECTOR BRIEF</a:t>
            </a:r>
            <a:endParaRPr lang="en-US" sz="675" dirty="0"/>
          </a:p>
        </p:txBody>
      </p:sp>
      <p:sp>
        <p:nvSpPr>
          <p:cNvPr id="5" name="Text 4"/>
          <p:cNvSpPr txBox="1"/>
          <p:nvPr/>
        </p:nvSpPr>
        <p:spPr>
          <a:xfrm>
            <a:off x="9112597" y="381000"/>
            <a:ext cx="583853" cy="171450"/>
          </a:xfrm>
          <a:prstGeom prst="rect">
            <a:avLst/>
          </a:prstGeom>
          <a:noFill/>
          <a:ln/>
        </p:spPr>
        <p:txBody>
          <a:bodyPr wrap="none" lIns="0" tIns="0" rIns="0" bIns="0" rtlCol="0" anchor="t"/>
          <a:lstStyle/>
          <a:p>
            <a:pPr marL="0" indent="0" algn="l">
              <a:lnSpc>
                <a:spcPts val="1350"/>
              </a:lnSpc>
              <a:buNone/>
            </a:pPr>
            <a:r>
              <a:rPr lang="en-US" sz="900" kern="0" spc="90" dirty="0">
                <a:solidFill>
                  <a:srgbClr val="6F6A66"/>
                </a:solidFill>
                <a:latin typeface="Cinzel" pitchFamily="34" charset="0"/>
              </a:rPr>
              <a:t>Q4 2026</a:t>
            </a:r>
            <a:endParaRPr lang="en-US" sz="900" dirty="0"/>
          </a:p>
        </p:txBody>
      </p:sp>
      <p:sp>
        <p:nvSpPr>
          <p:cNvPr id="6" name="Text 5"/>
          <p:cNvSpPr txBox="1"/>
          <p:nvPr/>
        </p:nvSpPr>
        <p:spPr>
          <a:xfrm>
            <a:off x="419100" y="519113"/>
            <a:ext cx="9220200" cy="323850"/>
          </a:xfrm>
          <a:prstGeom prst="rect">
            <a:avLst/>
          </a:prstGeom>
          <a:noFill/>
          <a:ln/>
        </p:spPr>
        <p:txBody>
          <a:bodyPr wrap="none" lIns="0" tIns="0" rIns="0" bIns="0" rtlCol="0" anchor="t"/>
          <a:lstStyle/>
          <a:p>
            <a:pPr marL="0" indent="0" algn="l">
              <a:lnSpc>
                <a:spcPts val="2550"/>
              </a:lnSpc>
              <a:buNone/>
            </a:pPr>
            <a:r>
              <a:rPr lang="en-US" sz="2025" kern="0" spc="15" dirty="0">
                <a:solidFill>
                  <a:srgbClr val="1B1A1A"/>
                </a:solidFill>
                <a:latin typeface="Newsreader SemiBold" pitchFamily="34" charset="0"/>
              </a:rPr>
              <a:t>Connect With Our Team</a:t>
            </a:r>
            <a:endParaRPr lang="en-US" sz="2025" dirty="0"/>
          </a:p>
        </p:txBody>
      </p:sp>
      <p:sp>
        <p:nvSpPr>
          <p:cNvPr id="7" name="Text 6"/>
          <p:cNvSpPr txBox="1"/>
          <p:nvPr/>
        </p:nvSpPr>
        <p:spPr>
          <a:xfrm>
            <a:off x="419100" y="883444"/>
            <a:ext cx="9220200" cy="176213"/>
          </a:xfrm>
          <a:prstGeom prst="rect">
            <a:avLst/>
          </a:prstGeom>
          <a:noFill/>
          <a:ln/>
        </p:spPr>
        <p:txBody>
          <a:bodyPr wrap="none" lIns="0" tIns="0" rIns="0" bIns="0" rtlCol="0" anchor="t"/>
          <a:lstStyle/>
          <a:p>
            <a:pPr marL="0" indent="0" algn="l">
              <a:lnSpc>
                <a:spcPts val="1388"/>
              </a:lnSpc>
              <a:buNone/>
            </a:pPr>
            <a:r>
              <a:rPr lang="en-US" sz="938" kern="0" spc="15" dirty="0">
                <a:solidFill>
                  <a:srgbClr val="6F6A66"/>
                </a:solidFill>
                <a:latin typeface="Quicksand" pitchFamily="34" charset="0"/>
              </a:rPr>
              <a:t>A first conversation is confidential and carries no obligation.</a:t>
            </a:r>
            <a:endParaRPr lang="en-US" sz="938" dirty="0"/>
          </a:p>
        </p:txBody>
      </p:sp>
      <p:sp>
        <p:nvSpPr>
          <p:cNvPr id="8" name="Shape 7"/>
          <p:cNvSpPr/>
          <p:nvPr/>
        </p:nvSpPr>
        <p:spPr>
          <a:xfrm>
            <a:off x="419100" y="1143000"/>
            <a:ext cx="9220200" cy="9525"/>
          </a:xfrm>
          <a:prstGeom prst="rect">
            <a:avLst/>
          </a:prstGeom>
          <a:solidFill>
            <a:srgbClr val="E3DCD3"/>
          </a:solidFill>
          <a:ln/>
        </p:spPr>
        <p:txBody>
          <a:bodyPr/>
          <a:lstStyle/>
          <a:p>
            <a:endParaRPr lang="en-US"/>
          </a:p>
        </p:txBody>
      </p:sp>
      <p:sp>
        <p:nvSpPr>
          <p:cNvPr id="9" name="Text 8"/>
          <p:cNvSpPr txBox="1"/>
          <p:nvPr/>
        </p:nvSpPr>
        <p:spPr>
          <a:xfrm>
            <a:off x="419100" y="1233488"/>
            <a:ext cx="6286500" cy="133350"/>
          </a:xfrm>
          <a:prstGeom prst="rect">
            <a:avLst/>
          </a:prstGeom>
          <a:noFill/>
          <a:ln/>
        </p:spPr>
        <p:txBody>
          <a:bodyPr wrap="none" lIns="0" tIns="0" rIns="0" bIns="0" rtlCol="0" anchor="t"/>
          <a:lstStyle/>
          <a:p>
            <a:pPr marL="0" indent="0" algn="l">
              <a:lnSpc>
                <a:spcPts val="1050"/>
              </a:lnSpc>
              <a:buNone/>
            </a:pPr>
            <a:r>
              <a:rPr lang="en-US" sz="675" b="1" kern="0" spc="180" dirty="0">
                <a:solidFill>
                  <a:srgbClr val="8C6239"/>
                </a:solidFill>
                <a:latin typeface="Quicksand" pitchFamily="34" charset="0"/>
              </a:rPr>
              <a:t>CONFIDENTIAL. NO PRESSURE. NO COMMITMENTS.</a:t>
            </a:r>
            <a:endParaRPr lang="en-US" sz="675" dirty="0"/>
          </a:p>
        </p:txBody>
      </p:sp>
      <p:sp>
        <p:nvSpPr>
          <p:cNvPr id="10" name="Text 9"/>
          <p:cNvSpPr txBox="1"/>
          <p:nvPr/>
        </p:nvSpPr>
        <p:spPr>
          <a:xfrm>
            <a:off x="419100" y="1447800"/>
            <a:ext cx="6286500" cy="400050"/>
          </a:xfrm>
          <a:prstGeom prst="rect">
            <a:avLst/>
          </a:prstGeom>
          <a:noFill/>
          <a:ln/>
        </p:spPr>
        <p:txBody>
          <a:bodyPr wrap="none" lIns="0" tIns="0" rIns="0" bIns="0" rtlCol="0" anchor="t"/>
          <a:lstStyle/>
          <a:p>
            <a:pPr marL="0" indent="0" algn="l">
              <a:lnSpc>
                <a:spcPts val="3150"/>
              </a:lnSpc>
              <a:buNone/>
            </a:pPr>
            <a:r>
              <a:rPr lang="en-US" sz="2700" kern="0" spc="15" dirty="0">
                <a:solidFill>
                  <a:srgbClr val="1B1A1A"/>
                </a:solidFill>
                <a:latin typeface="Newsreader SemiBold" pitchFamily="34" charset="0"/>
              </a:rPr>
              <a:t>It all starts with a conversation.</a:t>
            </a:r>
            <a:endParaRPr lang="en-US" sz="2700" dirty="0"/>
          </a:p>
        </p:txBody>
      </p:sp>
      <p:sp>
        <p:nvSpPr>
          <p:cNvPr id="11" name="Text 10"/>
          <p:cNvSpPr txBox="1"/>
          <p:nvPr/>
        </p:nvSpPr>
        <p:spPr>
          <a:xfrm>
            <a:off x="419100" y="1955006"/>
            <a:ext cx="5743575" cy="928688"/>
          </a:xfrm>
          <a:prstGeom prst="rect">
            <a:avLst/>
          </a:prstGeom>
          <a:noFill/>
          <a:ln/>
        </p:spPr>
        <p:txBody>
          <a:bodyPr wrap="square" lIns="0" tIns="0" rIns="0" bIns="0" rtlCol="0" anchor="t"/>
          <a:lstStyle/>
          <a:p>
            <a:pPr marL="0" indent="0" algn="l">
              <a:lnSpc>
                <a:spcPts val="1463"/>
              </a:lnSpc>
              <a:buNone/>
            </a:pPr>
            <a:r>
              <a:rPr lang="en-US" sz="938" kern="0" spc="15" dirty="0">
                <a:solidFill>
                  <a:srgbClr val="333231"/>
                </a:solidFill>
                <a:latin typeface="Quicksand" pitchFamily="34" charset="0"/>
              </a:rPr>
              <a:t>Owners considering a sale, a recapitalization or a growth partnership in any of the four consumer segments, and the accountants, attorneys and wealth advisors who work with them, are welcome to call or write. Every engagement is led by the Benchmark Capital Markets team and backed by Benchmark International’s global network of strategic acquirers, private equity groups, family offices and independent sponsors.</a:t>
            </a:r>
            <a:endParaRPr lang="en-US" sz="938" dirty="0"/>
          </a:p>
        </p:txBody>
      </p:sp>
      <p:sp>
        <p:nvSpPr>
          <p:cNvPr id="12" name="Shape 11"/>
          <p:cNvSpPr/>
          <p:nvPr/>
        </p:nvSpPr>
        <p:spPr>
          <a:xfrm>
            <a:off x="419100" y="3062288"/>
            <a:ext cx="3086100" cy="1076325"/>
          </a:xfrm>
          <a:prstGeom prst="rect">
            <a:avLst/>
          </a:prstGeom>
          <a:solidFill>
            <a:srgbClr val="FAF7F3"/>
          </a:solidFill>
          <a:ln/>
        </p:spPr>
        <p:txBody>
          <a:bodyPr/>
          <a:lstStyle/>
          <a:p>
            <a:endParaRPr lang="en-US"/>
          </a:p>
        </p:txBody>
      </p:sp>
      <p:sp>
        <p:nvSpPr>
          <p:cNvPr id="13" name="Shape 12"/>
          <p:cNvSpPr/>
          <p:nvPr/>
        </p:nvSpPr>
        <p:spPr>
          <a:xfrm>
            <a:off x="419100" y="3062288"/>
            <a:ext cx="3086100" cy="28575"/>
          </a:xfrm>
          <a:prstGeom prst="rect">
            <a:avLst/>
          </a:prstGeom>
          <a:solidFill>
            <a:srgbClr val="B68757"/>
          </a:solidFill>
          <a:ln/>
        </p:spPr>
        <p:txBody>
          <a:bodyPr/>
          <a:lstStyle/>
          <a:p>
            <a:endParaRPr lang="en-US"/>
          </a:p>
        </p:txBody>
      </p:sp>
      <p:pic>
        <p:nvPicPr>
          <p:cNvPr id="14" name="Jared Hardin" descr="Jared Hardin"/>
          <p:cNvPicPr>
            <a:picLocks noChangeAspect="1"/>
          </p:cNvPicPr>
          <p:nvPr/>
        </p:nvPicPr>
        <p:blipFill>
          <a:blip r:embed="rId3"/>
          <a:stretch>
            <a:fillRect/>
          </a:stretch>
        </p:blipFill>
        <p:spPr>
          <a:xfrm>
            <a:off x="590550" y="3224213"/>
            <a:ext cx="781050" cy="781050"/>
          </a:xfrm>
          <a:prstGeom prst="ellipse">
            <a:avLst/>
          </a:prstGeom>
        </p:spPr>
      </p:pic>
      <p:sp>
        <p:nvSpPr>
          <p:cNvPr id="15" name="Text 14"/>
          <p:cNvSpPr txBox="1"/>
          <p:nvPr/>
        </p:nvSpPr>
        <p:spPr>
          <a:xfrm>
            <a:off x="1524000" y="3233738"/>
            <a:ext cx="1496318" cy="238125"/>
          </a:xfrm>
          <a:prstGeom prst="rect">
            <a:avLst/>
          </a:prstGeom>
          <a:noFill/>
          <a:ln/>
        </p:spPr>
        <p:txBody>
          <a:bodyPr wrap="none" lIns="0" tIns="0" rIns="0" bIns="0" rtlCol="0" anchor="t"/>
          <a:lstStyle/>
          <a:p>
            <a:pPr marL="0" indent="0" algn="l">
              <a:lnSpc>
                <a:spcPts val="1875"/>
              </a:lnSpc>
              <a:buNone/>
            </a:pPr>
            <a:r>
              <a:rPr lang="en-US" sz="1500" kern="0" spc="15" dirty="0">
                <a:solidFill>
                  <a:srgbClr val="1B1A1A"/>
                </a:solidFill>
                <a:latin typeface="Newsreader SemiBold" pitchFamily="34" charset="0"/>
              </a:rPr>
              <a:t>Jared Hardin</a:t>
            </a:r>
            <a:endParaRPr lang="en-US" sz="1500" dirty="0"/>
          </a:p>
        </p:txBody>
      </p:sp>
      <p:sp>
        <p:nvSpPr>
          <p:cNvPr id="16" name="Text 15"/>
          <p:cNvSpPr txBox="1"/>
          <p:nvPr/>
        </p:nvSpPr>
        <p:spPr>
          <a:xfrm>
            <a:off x="1524000" y="3490913"/>
            <a:ext cx="1496318" cy="114300"/>
          </a:xfrm>
          <a:prstGeom prst="rect">
            <a:avLst/>
          </a:prstGeom>
          <a:noFill/>
          <a:ln/>
        </p:spPr>
        <p:txBody>
          <a:bodyPr wrap="none" lIns="0" tIns="0" rIns="0" bIns="0" rtlCol="0" anchor="t"/>
          <a:lstStyle/>
          <a:p>
            <a:pPr marL="0" indent="0" algn="l">
              <a:lnSpc>
                <a:spcPts val="900"/>
              </a:lnSpc>
              <a:buNone/>
            </a:pPr>
            <a:r>
              <a:rPr lang="en-US" sz="638" b="1" kern="0" spc="135" dirty="0">
                <a:solidFill>
                  <a:srgbClr val="8C6239"/>
                </a:solidFill>
                <a:latin typeface="Quicksand" pitchFamily="34" charset="0"/>
              </a:rPr>
              <a:t>MANAGING DIRECTOR</a:t>
            </a:r>
            <a:endParaRPr lang="en-US" sz="638" dirty="0"/>
          </a:p>
        </p:txBody>
      </p:sp>
      <p:sp>
        <p:nvSpPr>
          <p:cNvPr id="17" name="Text 16"/>
          <p:cNvSpPr txBox="1"/>
          <p:nvPr/>
        </p:nvSpPr>
        <p:spPr>
          <a:xfrm>
            <a:off x="1524000" y="3667125"/>
            <a:ext cx="1510605" cy="323850"/>
          </a:xfrm>
          <a:prstGeom prst="rect">
            <a:avLst/>
          </a:prstGeom>
          <a:noFill/>
          <a:ln/>
        </p:spPr>
        <p:txBody>
          <a:bodyPr wrap="square" lIns="0" tIns="0" rIns="0" bIns="0" rtlCol="0" anchor="t"/>
          <a:lstStyle/>
          <a:p>
            <a:pPr marL="0" indent="0" algn="l">
              <a:lnSpc>
                <a:spcPts val="1275"/>
              </a:lnSpc>
              <a:buNone/>
            </a:pPr>
            <a:r>
              <a:rPr lang="en-US" sz="863" u="sng" kern="0" spc="15" dirty="0">
                <a:solidFill>
                  <a:srgbClr val="8C6239"/>
                </a:solidFill>
                <a:latin typeface="Quicksand" pitchFamily="34" charset="0"/>
                <a:hlinkClick r:id="rId4">
                  <a:extLst>
                    <a:ext uri="{A12FA001-AC4F-418D-AE19-62706E023703}">
                      <ahyp:hlinkClr xmlns:ahyp="http://schemas.microsoft.com/office/drawing/2018/hyperlinkcolor" val="tx"/>
                    </a:ext>
                  </a:extLst>
                </a:hlinkClick>
              </a:rPr>
              <a:t>813-771-6675</a:t>
            </a:r>
            <a:endParaRPr lang="en-US" sz="863" dirty="0"/>
          </a:p>
          <a:p>
            <a:pPr marL="0" indent="0" algn="l">
              <a:lnSpc>
                <a:spcPts val="1275"/>
              </a:lnSpc>
              <a:buNone/>
            </a:pPr>
            <a:r>
              <a:rPr lang="en-US" sz="863" u="sng" kern="0" spc="15" dirty="0">
                <a:solidFill>
                  <a:srgbClr val="8C6239"/>
                </a:solidFill>
                <a:latin typeface="Quicksand" pitchFamily="34" charset="0"/>
                <a:hlinkClick r:id="rId5">
                  <a:extLst>
                    <a:ext uri="{A12FA001-AC4F-418D-AE19-62706E023703}">
                      <ahyp:hlinkClr xmlns:ahyp="http://schemas.microsoft.com/office/drawing/2018/hyperlinkcolor" val="tx"/>
                    </a:ext>
                  </a:extLst>
                </a:hlinkClick>
              </a:rPr>
              <a:t>j.hardin@benchmarkintl.com</a:t>
            </a:r>
            <a:endParaRPr lang="en-US" sz="863" dirty="0"/>
          </a:p>
        </p:txBody>
      </p:sp>
      <p:sp>
        <p:nvSpPr>
          <p:cNvPr id="18" name="Shape 17"/>
          <p:cNvSpPr/>
          <p:nvPr/>
        </p:nvSpPr>
        <p:spPr>
          <a:xfrm>
            <a:off x="3619500" y="3062288"/>
            <a:ext cx="3086100" cy="1076325"/>
          </a:xfrm>
          <a:prstGeom prst="rect">
            <a:avLst/>
          </a:prstGeom>
          <a:solidFill>
            <a:srgbClr val="FAF7F3"/>
          </a:solidFill>
          <a:ln/>
        </p:spPr>
        <p:txBody>
          <a:bodyPr/>
          <a:lstStyle/>
          <a:p>
            <a:endParaRPr lang="en-US"/>
          </a:p>
        </p:txBody>
      </p:sp>
      <p:sp>
        <p:nvSpPr>
          <p:cNvPr id="19" name="Shape 18"/>
          <p:cNvSpPr/>
          <p:nvPr/>
        </p:nvSpPr>
        <p:spPr>
          <a:xfrm>
            <a:off x="3619500" y="3062288"/>
            <a:ext cx="3086100" cy="28575"/>
          </a:xfrm>
          <a:prstGeom prst="rect">
            <a:avLst/>
          </a:prstGeom>
          <a:solidFill>
            <a:srgbClr val="B68757"/>
          </a:solidFill>
          <a:ln/>
        </p:spPr>
        <p:txBody>
          <a:bodyPr/>
          <a:lstStyle/>
          <a:p>
            <a:endParaRPr lang="en-US"/>
          </a:p>
        </p:txBody>
      </p:sp>
      <p:pic>
        <p:nvPicPr>
          <p:cNvPr id="20" name="Jordan Houtz" descr="Jordan Houtz"/>
          <p:cNvPicPr>
            <a:picLocks noChangeAspect="1"/>
          </p:cNvPicPr>
          <p:nvPr/>
        </p:nvPicPr>
        <p:blipFill>
          <a:blip r:embed="rId6"/>
          <a:stretch>
            <a:fillRect/>
          </a:stretch>
        </p:blipFill>
        <p:spPr>
          <a:xfrm>
            <a:off x="3790950" y="3224213"/>
            <a:ext cx="781050" cy="781050"/>
          </a:xfrm>
          <a:prstGeom prst="ellipse">
            <a:avLst/>
          </a:prstGeom>
        </p:spPr>
      </p:pic>
      <p:sp>
        <p:nvSpPr>
          <p:cNvPr id="21" name="Text 20"/>
          <p:cNvSpPr txBox="1"/>
          <p:nvPr/>
        </p:nvSpPr>
        <p:spPr>
          <a:xfrm>
            <a:off x="4724400" y="3324225"/>
            <a:ext cx="1748284" cy="238125"/>
          </a:xfrm>
          <a:prstGeom prst="rect">
            <a:avLst/>
          </a:prstGeom>
          <a:noFill/>
          <a:ln/>
        </p:spPr>
        <p:txBody>
          <a:bodyPr wrap="none" lIns="0" tIns="0" rIns="0" bIns="0" rtlCol="0" anchor="t"/>
          <a:lstStyle/>
          <a:p>
            <a:pPr marL="0" indent="0" algn="l">
              <a:lnSpc>
                <a:spcPts val="1875"/>
              </a:lnSpc>
              <a:buNone/>
            </a:pPr>
            <a:r>
              <a:rPr lang="en-US" sz="1500" kern="0" spc="15" dirty="0">
                <a:solidFill>
                  <a:srgbClr val="1B1A1A"/>
                </a:solidFill>
                <a:latin typeface="Newsreader SemiBold" pitchFamily="34" charset="0"/>
              </a:rPr>
              <a:t>Jordan Houtz</a:t>
            </a:r>
            <a:endParaRPr lang="en-US" sz="1500" dirty="0"/>
          </a:p>
        </p:txBody>
      </p:sp>
      <p:sp>
        <p:nvSpPr>
          <p:cNvPr id="22" name="Text 21"/>
          <p:cNvSpPr txBox="1"/>
          <p:nvPr/>
        </p:nvSpPr>
        <p:spPr>
          <a:xfrm>
            <a:off x="4724400" y="3581400"/>
            <a:ext cx="1748284" cy="114300"/>
          </a:xfrm>
          <a:prstGeom prst="rect">
            <a:avLst/>
          </a:prstGeom>
          <a:noFill/>
          <a:ln/>
        </p:spPr>
        <p:txBody>
          <a:bodyPr wrap="none" lIns="0" tIns="0" rIns="0" bIns="0" rtlCol="0" anchor="t"/>
          <a:lstStyle/>
          <a:p>
            <a:pPr marL="0" indent="0" algn="l">
              <a:lnSpc>
                <a:spcPts val="900"/>
              </a:lnSpc>
              <a:buNone/>
            </a:pPr>
            <a:r>
              <a:rPr lang="en-US" sz="638" b="1" kern="0" spc="135" dirty="0">
                <a:solidFill>
                  <a:srgbClr val="8C6239"/>
                </a:solidFill>
                <a:latin typeface="Quicksand" pitchFamily="34" charset="0"/>
              </a:rPr>
              <a:t>MANAGING DIRECTOR</a:t>
            </a:r>
            <a:endParaRPr lang="en-US" sz="638" dirty="0"/>
          </a:p>
        </p:txBody>
      </p:sp>
      <p:sp>
        <p:nvSpPr>
          <p:cNvPr id="23" name="Text 22"/>
          <p:cNvSpPr txBox="1"/>
          <p:nvPr/>
        </p:nvSpPr>
        <p:spPr>
          <a:xfrm>
            <a:off x="4724400" y="3752850"/>
            <a:ext cx="1805434" cy="142875"/>
          </a:xfrm>
          <a:prstGeom prst="rect">
            <a:avLst/>
          </a:prstGeom>
          <a:noFill/>
          <a:ln/>
        </p:spPr>
        <p:txBody>
          <a:bodyPr wrap="none" lIns="0" tIns="0" rIns="0" bIns="0" rtlCol="0" anchor="t"/>
          <a:lstStyle/>
          <a:p>
            <a:pPr marL="0" indent="0" algn="l">
              <a:lnSpc>
                <a:spcPts val="1125"/>
              </a:lnSpc>
              <a:buNone/>
            </a:pPr>
            <a:r>
              <a:rPr lang="en-US" sz="788" kern="0" spc="15" dirty="0">
                <a:solidFill>
                  <a:srgbClr val="6F6A66"/>
                </a:solidFill>
                <a:latin typeface="Quicksand" pitchFamily="34" charset="0"/>
              </a:rPr>
              <a:t>Head of Benchmark Capital Markets</a:t>
            </a:r>
            <a:endParaRPr lang="en-US" sz="788" dirty="0"/>
          </a:p>
        </p:txBody>
      </p:sp>
      <p:sp>
        <p:nvSpPr>
          <p:cNvPr id="24" name="Shape 23"/>
          <p:cNvSpPr/>
          <p:nvPr/>
        </p:nvSpPr>
        <p:spPr>
          <a:xfrm>
            <a:off x="419100" y="4252913"/>
            <a:ext cx="3086100" cy="1076325"/>
          </a:xfrm>
          <a:prstGeom prst="rect">
            <a:avLst/>
          </a:prstGeom>
          <a:solidFill>
            <a:srgbClr val="FAF7F3"/>
          </a:solidFill>
          <a:ln/>
        </p:spPr>
        <p:txBody>
          <a:bodyPr/>
          <a:lstStyle/>
          <a:p>
            <a:endParaRPr lang="en-US"/>
          </a:p>
        </p:txBody>
      </p:sp>
      <p:sp>
        <p:nvSpPr>
          <p:cNvPr id="25" name="Shape 24"/>
          <p:cNvSpPr/>
          <p:nvPr/>
        </p:nvSpPr>
        <p:spPr>
          <a:xfrm>
            <a:off x="419100" y="4252913"/>
            <a:ext cx="3086100" cy="28575"/>
          </a:xfrm>
          <a:prstGeom prst="rect">
            <a:avLst/>
          </a:prstGeom>
          <a:solidFill>
            <a:srgbClr val="B68757"/>
          </a:solidFill>
          <a:ln/>
        </p:spPr>
        <p:txBody>
          <a:bodyPr/>
          <a:lstStyle/>
          <a:p>
            <a:endParaRPr lang="en-US"/>
          </a:p>
        </p:txBody>
      </p:sp>
      <p:pic>
        <p:nvPicPr>
          <p:cNvPr id="26" name="Alex Zykov" descr="Alex Zykov"/>
          <p:cNvPicPr>
            <a:picLocks noChangeAspect="1"/>
          </p:cNvPicPr>
          <p:nvPr/>
        </p:nvPicPr>
        <p:blipFill>
          <a:blip r:embed="rId7"/>
          <a:stretch>
            <a:fillRect/>
          </a:stretch>
        </p:blipFill>
        <p:spPr>
          <a:xfrm>
            <a:off x="590550" y="4414838"/>
            <a:ext cx="781050" cy="781050"/>
          </a:xfrm>
          <a:prstGeom prst="ellipse">
            <a:avLst/>
          </a:prstGeom>
        </p:spPr>
      </p:pic>
      <p:sp>
        <p:nvSpPr>
          <p:cNvPr id="27" name="Text 26"/>
          <p:cNvSpPr txBox="1"/>
          <p:nvPr/>
        </p:nvSpPr>
        <p:spPr>
          <a:xfrm>
            <a:off x="1524000" y="4443413"/>
            <a:ext cx="1809750" cy="238125"/>
          </a:xfrm>
          <a:prstGeom prst="rect">
            <a:avLst/>
          </a:prstGeom>
          <a:noFill/>
          <a:ln/>
        </p:spPr>
        <p:txBody>
          <a:bodyPr wrap="none" lIns="0" tIns="0" rIns="0" bIns="0" rtlCol="0" anchor="t"/>
          <a:lstStyle/>
          <a:p>
            <a:pPr marL="0" indent="0" algn="l">
              <a:lnSpc>
                <a:spcPts val="1875"/>
              </a:lnSpc>
              <a:buNone/>
            </a:pPr>
            <a:r>
              <a:rPr lang="en-US" sz="1500" kern="0" spc="15" dirty="0">
                <a:solidFill>
                  <a:srgbClr val="1B1A1A"/>
                </a:solidFill>
                <a:latin typeface="Newsreader SemiBold" pitchFamily="34" charset="0"/>
              </a:rPr>
              <a:t>Alex Zykov</a:t>
            </a:r>
            <a:endParaRPr lang="en-US" sz="1500" dirty="0"/>
          </a:p>
        </p:txBody>
      </p:sp>
      <p:sp>
        <p:nvSpPr>
          <p:cNvPr id="28" name="Text 27"/>
          <p:cNvSpPr txBox="1"/>
          <p:nvPr/>
        </p:nvSpPr>
        <p:spPr>
          <a:xfrm>
            <a:off x="1524000" y="4700588"/>
            <a:ext cx="1809750" cy="114300"/>
          </a:xfrm>
          <a:prstGeom prst="rect">
            <a:avLst/>
          </a:prstGeom>
          <a:noFill/>
          <a:ln/>
        </p:spPr>
        <p:txBody>
          <a:bodyPr wrap="none" lIns="0" tIns="0" rIns="0" bIns="0" rtlCol="0" anchor="t"/>
          <a:lstStyle/>
          <a:p>
            <a:pPr marL="0" indent="0" algn="l">
              <a:lnSpc>
                <a:spcPts val="900"/>
              </a:lnSpc>
              <a:buNone/>
            </a:pPr>
            <a:r>
              <a:rPr lang="en-US" sz="638" b="1" kern="0" spc="135" dirty="0">
                <a:solidFill>
                  <a:srgbClr val="8C6239"/>
                </a:solidFill>
                <a:latin typeface="Quicksand" pitchFamily="34" charset="0"/>
              </a:rPr>
              <a:t>TRANSACTION DIRECTOR</a:t>
            </a:r>
            <a:endParaRPr lang="en-US" sz="638" dirty="0"/>
          </a:p>
        </p:txBody>
      </p:sp>
      <p:sp>
        <p:nvSpPr>
          <p:cNvPr id="29" name="Text 28"/>
          <p:cNvSpPr txBox="1"/>
          <p:nvPr/>
        </p:nvSpPr>
        <p:spPr>
          <a:xfrm>
            <a:off x="1524000" y="4872038"/>
            <a:ext cx="1824038" cy="285750"/>
          </a:xfrm>
          <a:prstGeom prst="rect">
            <a:avLst/>
          </a:prstGeom>
          <a:noFill/>
          <a:ln/>
        </p:spPr>
        <p:txBody>
          <a:bodyPr wrap="square" lIns="0" tIns="0" rIns="0" bIns="0" rtlCol="0" anchor="t"/>
          <a:lstStyle/>
          <a:p>
            <a:pPr marL="0" indent="0" algn="l">
              <a:lnSpc>
                <a:spcPts val="1125"/>
              </a:lnSpc>
              <a:buNone/>
            </a:pPr>
            <a:r>
              <a:rPr lang="en-US" sz="788" kern="0" spc="15" dirty="0">
                <a:solidFill>
                  <a:srgbClr val="6F6A66"/>
                </a:solidFill>
                <a:latin typeface="Quicksand" pitchFamily="34" charset="0"/>
              </a:rPr>
              <a:t>Leads execution from onboarding through signing and closing</a:t>
            </a:r>
            <a:endParaRPr lang="en-US" sz="788" dirty="0"/>
          </a:p>
        </p:txBody>
      </p:sp>
      <p:sp>
        <p:nvSpPr>
          <p:cNvPr id="30" name="Shape 29"/>
          <p:cNvSpPr/>
          <p:nvPr/>
        </p:nvSpPr>
        <p:spPr>
          <a:xfrm>
            <a:off x="3619500" y="4252913"/>
            <a:ext cx="3086100" cy="1076325"/>
          </a:xfrm>
          <a:prstGeom prst="rect">
            <a:avLst/>
          </a:prstGeom>
          <a:solidFill>
            <a:srgbClr val="FAF7F3"/>
          </a:solidFill>
          <a:ln/>
        </p:spPr>
        <p:txBody>
          <a:bodyPr/>
          <a:lstStyle/>
          <a:p>
            <a:endParaRPr lang="en-US"/>
          </a:p>
        </p:txBody>
      </p:sp>
      <p:sp>
        <p:nvSpPr>
          <p:cNvPr id="31" name="Shape 30"/>
          <p:cNvSpPr/>
          <p:nvPr/>
        </p:nvSpPr>
        <p:spPr>
          <a:xfrm>
            <a:off x="3619500" y="4252913"/>
            <a:ext cx="3086100" cy="28575"/>
          </a:xfrm>
          <a:prstGeom prst="rect">
            <a:avLst/>
          </a:prstGeom>
          <a:solidFill>
            <a:srgbClr val="B68757"/>
          </a:solidFill>
          <a:ln/>
        </p:spPr>
        <p:txBody>
          <a:bodyPr/>
          <a:lstStyle/>
          <a:p>
            <a:endParaRPr lang="en-US"/>
          </a:p>
        </p:txBody>
      </p:sp>
      <p:pic>
        <p:nvPicPr>
          <p:cNvPr id="32" name="Shannon Hess" descr="Shannon Hess"/>
          <p:cNvPicPr>
            <a:picLocks noChangeAspect="1"/>
          </p:cNvPicPr>
          <p:nvPr/>
        </p:nvPicPr>
        <p:blipFill>
          <a:blip r:embed="rId8"/>
          <a:stretch>
            <a:fillRect/>
          </a:stretch>
        </p:blipFill>
        <p:spPr>
          <a:xfrm>
            <a:off x="3790950" y="4414838"/>
            <a:ext cx="781050" cy="781050"/>
          </a:xfrm>
          <a:prstGeom prst="ellipse">
            <a:avLst/>
          </a:prstGeom>
        </p:spPr>
      </p:pic>
      <p:sp>
        <p:nvSpPr>
          <p:cNvPr id="33" name="Text 32"/>
          <p:cNvSpPr txBox="1"/>
          <p:nvPr/>
        </p:nvSpPr>
        <p:spPr>
          <a:xfrm>
            <a:off x="4724400" y="4443413"/>
            <a:ext cx="1809750" cy="238125"/>
          </a:xfrm>
          <a:prstGeom prst="rect">
            <a:avLst/>
          </a:prstGeom>
          <a:noFill/>
          <a:ln/>
        </p:spPr>
        <p:txBody>
          <a:bodyPr wrap="none" lIns="0" tIns="0" rIns="0" bIns="0" rtlCol="0" anchor="t"/>
          <a:lstStyle/>
          <a:p>
            <a:pPr marL="0" indent="0" algn="l">
              <a:lnSpc>
                <a:spcPts val="1875"/>
              </a:lnSpc>
              <a:buNone/>
            </a:pPr>
            <a:r>
              <a:rPr lang="en-US" sz="1500" kern="0" spc="15" dirty="0">
                <a:solidFill>
                  <a:srgbClr val="1B1A1A"/>
                </a:solidFill>
                <a:latin typeface="Newsreader SemiBold" pitchFamily="34" charset="0"/>
              </a:rPr>
              <a:t>Shannon Hess</a:t>
            </a:r>
            <a:endParaRPr lang="en-US" sz="1500" dirty="0"/>
          </a:p>
        </p:txBody>
      </p:sp>
      <p:sp>
        <p:nvSpPr>
          <p:cNvPr id="34" name="Text 33"/>
          <p:cNvSpPr txBox="1"/>
          <p:nvPr/>
        </p:nvSpPr>
        <p:spPr>
          <a:xfrm>
            <a:off x="4724400" y="4700588"/>
            <a:ext cx="1809750" cy="114300"/>
          </a:xfrm>
          <a:prstGeom prst="rect">
            <a:avLst/>
          </a:prstGeom>
          <a:noFill/>
          <a:ln/>
        </p:spPr>
        <p:txBody>
          <a:bodyPr wrap="none" lIns="0" tIns="0" rIns="0" bIns="0" rtlCol="0" anchor="t"/>
          <a:lstStyle/>
          <a:p>
            <a:pPr marL="0" indent="0" algn="l">
              <a:lnSpc>
                <a:spcPts val="900"/>
              </a:lnSpc>
              <a:buNone/>
            </a:pPr>
            <a:r>
              <a:rPr lang="en-US" sz="638" b="1" kern="0" spc="135" dirty="0">
                <a:solidFill>
                  <a:srgbClr val="8C6239"/>
                </a:solidFill>
                <a:latin typeface="Quicksand" pitchFamily="34" charset="0"/>
              </a:rPr>
              <a:t>CLIENT ENGAGEMENT DIRECTOR</a:t>
            </a:r>
            <a:endParaRPr lang="en-US" sz="638" dirty="0"/>
          </a:p>
        </p:txBody>
      </p:sp>
      <p:sp>
        <p:nvSpPr>
          <p:cNvPr id="35" name="Text 34"/>
          <p:cNvSpPr txBox="1"/>
          <p:nvPr/>
        </p:nvSpPr>
        <p:spPr>
          <a:xfrm>
            <a:off x="4724400" y="4872038"/>
            <a:ext cx="1824038" cy="285750"/>
          </a:xfrm>
          <a:prstGeom prst="rect">
            <a:avLst/>
          </a:prstGeom>
          <a:noFill/>
          <a:ln/>
        </p:spPr>
        <p:txBody>
          <a:bodyPr wrap="square" lIns="0" tIns="0" rIns="0" bIns="0" rtlCol="0" anchor="t"/>
          <a:lstStyle/>
          <a:p>
            <a:pPr marL="0" indent="0" algn="l">
              <a:lnSpc>
                <a:spcPts val="1125"/>
              </a:lnSpc>
              <a:buNone/>
            </a:pPr>
            <a:r>
              <a:rPr lang="en-US" sz="788" kern="0" spc="15" dirty="0">
                <a:solidFill>
                  <a:srgbClr val="6F6A66"/>
                </a:solidFill>
                <a:latin typeface="Quicksand" pitchFamily="34" charset="0"/>
              </a:rPr>
              <a:t>An additional point of contact for owners considering an engagement</a:t>
            </a:r>
            <a:endParaRPr lang="en-US" sz="788" dirty="0"/>
          </a:p>
        </p:txBody>
      </p:sp>
      <p:sp>
        <p:nvSpPr>
          <p:cNvPr id="36" name="Shape 35"/>
          <p:cNvSpPr/>
          <p:nvPr/>
        </p:nvSpPr>
        <p:spPr>
          <a:xfrm>
            <a:off x="419100" y="5500688"/>
            <a:ext cx="1981200" cy="9525"/>
          </a:xfrm>
          <a:prstGeom prst="rect">
            <a:avLst/>
          </a:prstGeom>
          <a:solidFill>
            <a:srgbClr val="E3DCD3"/>
          </a:solidFill>
          <a:ln/>
        </p:spPr>
        <p:txBody>
          <a:bodyPr/>
          <a:lstStyle/>
          <a:p>
            <a:endParaRPr lang="en-US"/>
          </a:p>
        </p:txBody>
      </p:sp>
      <p:sp>
        <p:nvSpPr>
          <p:cNvPr id="37" name="Text 36"/>
          <p:cNvSpPr txBox="1"/>
          <p:nvPr/>
        </p:nvSpPr>
        <p:spPr>
          <a:xfrm>
            <a:off x="419100" y="5600700"/>
            <a:ext cx="222200" cy="209550"/>
          </a:xfrm>
          <a:prstGeom prst="rect">
            <a:avLst/>
          </a:prstGeom>
          <a:noFill/>
          <a:ln/>
        </p:spPr>
        <p:txBody>
          <a:bodyPr wrap="none" lIns="0" tIns="0" rIns="0" bIns="0" rtlCol="0" anchor="t"/>
          <a:lstStyle/>
          <a:p>
            <a:pPr marL="0" indent="0" algn="l">
              <a:lnSpc>
                <a:spcPts val="1650"/>
              </a:lnSpc>
              <a:buNone/>
            </a:pPr>
            <a:r>
              <a:rPr lang="en-US" sz="1350" kern="0" spc="15" dirty="0">
                <a:solidFill>
                  <a:srgbClr val="B68757"/>
                </a:solidFill>
                <a:latin typeface="Cinzel" pitchFamily="34" charset="0"/>
              </a:rPr>
              <a:t>01</a:t>
            </a:r>
            <a:endParaRPr lang="en-US" sz="1350" dirty="0"/>
          </a:p>
        </p:txBody>
      </p:sp>
      <p:sp>
        <p:nvSpPr>
          <p:cNvPr id="38" name="Text 37"/>
          <p:cNvSpPr txBox="1"/>
          <p:nvPr/>
        </p:nvSpPr>
        <p:spPr>
          <a:xfrm>
            <a:off x="679400" y="5600700"/>
            <a:ext cx="1720900" cy="152400"/>
          </a:xfrm>
          <a:prstGeom prst="rect">
            <a:avLst/>
          </a:prstGeom>
          <a:noFill/>
          <a:ln/>
        </p:spPr>
        <p:txBody>
          <a:bodyPr wrap="none" lIns="0" tIns="0" rIns="0" bIns="0" rtlCol="0" anchor="t"/>
          <a:lstStyle/>
          <a:p>
            <a:pPr marL="0" indent="0" algn="l">
              <a:lnSpc>
                <a:spcPts val="1200"/>
              </a:lnSpc>
              <a:buNone/>
            </a:pPr>
            <a:r>
              <a:rPr lang="en-US" sz="863" b="1" kern="0" spc="15" dirty="0">
                <a:solidFill>
                  <a:srgbClr val="1B1A1A"/>
                </a:solidFill>
                <a:latin typeface="Quicksand" pitchFamily="34" charset="0"/>
              </a:rPr>
              <a:t>Share a few details</a:t>
            </a:r>
            <a:endParaRPr lang="en-US" sz="863" dirty="0"/>
          </a:p>
        </p:txBody>
      </p:sp>
      <p:sp>
        <p:nvSpPr>
          <p:cNvPr id="39" name="Text 38"/>
          <p:cNvSpPr txBox="1"/>
          <p:nvPr/>
        </p:nvSpPr>
        <p:spPr>
          <a:xfrm>
            <a:off x="679400" y="5769769"/>
            <a:ext cx="1735187" cy="552450"/>
          </a:xfrm>
          <a:prstGeom prst="rect">
            <a:avLst/>
          </a:prstGeom>
          <a:noFill/>
          <a:ln/>
        </p:spPr>
        <p:txBody>
          <a:bodyPr wrap="square" lIns="0" tIns="0" rIns="0" bIns="0" rtlCol="0" anchor="t"/>
          <a:lstStyle/>
          <a:p>
            <a:pPr marL="0" indent="0" algn="l">
              <a:lnSpc>
                <a:spcPts val="1088"/>
              </a:lnSpc>
              <a:buNone/>
            </a:pPr>
            <a:r>
              <a:rPr lang="en-US" sz="765" kern="0" spc="15" dirty="0">
                <a:solidFill>
                  <a:srgbClr val="6F6A66"/>
                </a:solidFill>
                <a:latin typeface="Quicksand" pitchFamily="34" charset="0"/>
              </a:rPr>
              <a:t>Tell us about your company and what you are considering. Everything you share is held in strict confidence.</a:t>
            </a:r>
            <a:endParaRPr lang="en-US" sz="765" dirty="0"/>
          </a:p>
        </p:txBody>
      </p:sp>
      <p:sp>
        <p:nvSpPr>
          <p:cNvPr id="40" name="Shape 39"/>
          <p:cNvSpPr/>
          <p:nvPr/>
        </p:nvSpPr>
        <p:spPr>
          <a:xfrm>
            <a:off x="2571750" y="5500688"/>
            <a:ext cx="1981200" cy="9525"/>
          </a:xfrm>
          <a:prstGeom prst="rect">
            <a:avLst/>
          </a:prstGeom>
          <a:solidFill>
            <a:srgbClr val="E3DCD3"/>
          </a:solidFill>
          <a:ln/>
        </p:spPr>
        <p:txBody>
          <a:bodyPr/>
          <a:lstStyle/>
          <a:p>
            <a:endParaRPr lang="en-US"/>
          </a:p>
        </p:txBody>
      </p:sp>
      <p:sp>
        <p:nvSpPr>
          <p:cNvPr id="41" name="Text 40"/>
          <p:cNvSpPr txBox="1"/>
          <p:nvPr/>
        </p:nvSpPr>
        <p:spPr>
          <a:xfrm>
            <a:off x="2571750" y="5600700"/>
            <a:ext cx="253752" cy="209550"/>
          </a:xfrm>
          <a:prstGeom prst="rect">
            <a:avLst/>
          </a:prstGeom>
          <a:noFill/>
          <a:ln/>
        </p:spPr>
        <p:txBody>
          <a:bodyPr wrap="none" lIns="0" tIns="0" rIns="0" bIns="0" rtlCol="0" anchor="t"/>
          <a:lstStyle/>
          <a:p>
            <a:pPr marL="0" indent="0" algn="l">
              <a:lnSpc>
                <a:spcPts val="1650"/>
              </a:lnSpc>
              <a:buNone/>
            </a:pPr>
            <a:r>
              <a:rPr lang="en-US" sz="1350" kern="0" spc="15" dirty="0">
                <a:solidFill>
                  <a:srgbClr val="B68757"/>
                </a:solidFill>
                <a:latin typeface="Cinzel" pitchFamily="34" charset="0"/>
              </a:rPr>
              <a:t>02</a:t>
            </a:r>
            <a:endParaRPr lang="en-US" sz="1350" dirty="0"/>
          </a:p>
        </p:txBody>
      </p:sp>
      <p:sp>
        <p:nvSpPr>
          <p:cNvPr id="42" name="Text 41"/>
          <p:cNvSpPr txBox="1"/>
          <p:nvPr/>
        </p:nvSpPr>
        <p:spPr>
          <a:xfrm>
            <a:off x="2863602" y="5600700"/>
            <a:ext cx="1695748" cy="152400"/>
          </a:xfrm>
          <a:prstGeom prst="rect">
            <a:avLst/>
          </a:prstGeom>
          <a:noFill/>
          <a:ln/>
        </p:spPr>
        <p:txBody>
          <a:bodyPr wrap="none" lIns="0" tIns="0" rIns="0" bIns="0" rtlCol="0" anchor="t"/>
          <a:lstStyle/>
          <a:p>
            <a:pPr marL="0" indent="0" algn="l">
              <a:lnSpc>
                <a:spcPts val="1200"/>
              </a:lnSpc>
              <a:buNone/>
            </a:pPr>
            <a:r>
              <a:rPr lang="en-US" sz="863" b="1" kern="0" spc="15" dirty="0">
                <a:solidFill>
                  <a:srgbClr val="1B1A1A"/>
                </a:solidFill>
                <a:latin typeface="Quicksand" pitchFamily="34" charset="0"/>
              </a:rPr>
              <a:t>Talk with a Managing Director</a:t>
            </a:r>
            <a:endParaRPr lang="en-US" sz="863" dirty="0"/>
          </a:p>
        </p:txBody>
      </p:sp>
      <p:sp>
        <p:nvSpPr>
          <p:cNvPr id="43" name="Text 42"/>
          <p:cNvSpPr txBox="1"/>
          <p:nvPr/>
        </p:nvSpPr>
        <p:spPr>
          <a:xfrm>
            <a:off x="2863602" y="5769769"/>
            <a:ext cx="1703636" cy="414338"/>
          </a:xfrm>
          <a:prstGeom prst="rect">
            <a:avLst/>
          </a:prstGeom>
          <a:noFill/>
          <a:ln/>
        </p:spPr>
        <p:txBody>
          <a:bodyPr wrap="square" lIns="0" tIns="0" rIns="0" bIns="0" rtlCol="0" anchor="t"/>
          <a:lstStyle/>
          <a:p>
            <a:pPr marL="0" indent="0" algn="l">
              <a:lnSpc>
                <a:spcPts val="1088"/>
              </a:lnSpc>
              <a:buNone/>
            </a:pPr>
            <a:r>
              <a:rPr lang="en-US" sz="765" kern="0" spc="15" dirty="0">
                <a:solidFill>
                  <a:srgbClr val="6F6A66"/>
                </a:solidFill>
                <a:latin typeface="Quicksand" pitchFamily="34" charset="0"/>
              </a:rPr>
              <a:t>A senior member of the team will set up a private conversation at a time that suits you.</a:t>
            </a:r>
            <a:endParaRPr lang="en-US" sz="765" dirty="0"/>
          </a:p>
        </p:txBody>
      </p:sp>
      <p:sp>
        <p:nvSpPr>
          <p:cNvPr id="44" name="Shape 43"/>
          <p:cNvSpPr/>
          <p:nvPr/>
        </p:nvSpPr>
        <p:spPr>
          <a:xfrm>
            <a:off x="4724400" y="5500688"/>
            <a:ext cx="1981200" cy="9525"/>
          </a:xfrm>
          <a:prstGeom prst="rect">
            <a:avLst/>
          </a:prstGeom>
          <a:solidFill>
            <a:srgbClr val="E3DCD3"/>
          </a:solidFill>
          <a:ln/>
        </p:spPr>
        <p:txBody>
          <a:bodyPr/>
          <a:lstStyle/>
          <a:p>
            <a:endParaRPr lang="en-US"/>
          </a:p>
        </p:txBody>
      </p:sp>
      <p:sp>
        <p:nvSpPr>
          <p:cNvPr id="45" name="Text 44"/>
          <p:cNvSpPr txBox="1"/>
          <p:nvPr/>
        </p:nvSpPr>
        <p:spPr>
          <a:xfrm>
            <a:off x="4724400" y="5600700"/>
            <a:ext cx="246906" cy="209550"/>
          </a:xfrm>
          <a:prstGeom prst="rect">
            <a:avLst/>
          </a:prstGeom>
          <a:noFill/>
          <a:ln/>
        </p:spPr>
        <p:txBody>
          <a:bodyPr wrap="none" lIns="0" tIns="0" rIns="0" bIns="0" rtlCol="0" anchor="t"/>
          <a:lstStyle/>
          <a:p>
            <a:pPr marL="0" indent="0" algn="l">
              <a:lnSpc>
                <a:spcPts val="1650"/>
              </a:lnSpc>
              <a:buNone/>
            </a:pPr>
            <a:r>
              <a:rPr lang="en-US" sz="1350" kern="0" spc="15" dirty="0">
                <a:solidFill>
                  <a:srgbClr val="B68757"/>
                </a:solidFill>
                <a:latin typeface="Cinzel" pitchFamily="34" charset="0"/>
              </a:rPr>
              <a:t>03</a:t>
            </a:r>
            <a:endParaRPr lang="en-US" sz="1350" dirty="0"/>
          </a:p>
        </p:txBody>
      </p:sp>
      <p:sp>
        <p:nvSpPr>
          <p:cNvPr id="46" name="Text 45"/>
          <p:cNvSpPr txBox="1"/>
          <p:nvPr/>
        </p:nvSpPr>
        <p:spPr>
          <a:xfrm>
            <a:off x="5009406" y="5600700"/>
            <a:ext cx="1696194" cy="152400"/>
          </a:xfrm>
          <a:prstGeom prst="rect">
            <a:avLst/>
          </a:prstGeom>
          <a:noFill/>
          <a:ln/>
        </p:spPr>
        <p:txBody>
          <a:bodyPr wrap="none" lIns="0" tIns="0" rIns="0" bIns="0" rtlCol="0" anchor="t"/>
          <a:lstStyle/>
          <a:p>
            <a:pPr marL="0" indent="0" algn="l">
              <a:lnSpc>
                <a:spcPts val="1200"/>
              </a:lnSpc>
              <a:buNone/>
            </a:pPr>
            <a:r>
              <a:rPr lang="en-US" sz="863" b="1" kern="0" spc="15" dirty="0">
                <a:solidFill>
                  <a:srgbClr val="1B1A1A"/>
                </a:solidFill>
                <a:latin typeface="Quicksand" pitchFamily="34" charset="0"/>
              </a:rPr>
              <a:t>See your options clearly</a:t>
            </a:r>
            <a:endParaRPr lang="en-US" sz="863" dirty="0"/>
          </a:p>
        </p:txBody>
      </p:sp>
      <p:sp>
        <p:nvSpPr>
          <p:cNvPr id="47" name="Text 46"/>
          <p:cNvSpPr txBox="1"/>
          <p:nvPr/>
        </p:nvSpPr>
        <p:spPr>
          <a:xfrm>
            <a:off x="5009406" y="5769769"/>
            <a:ext cx="1710482" cy="552450"/>
          </a:xfrm>
          <a:prstGeom prst="rect">
            <a:avLst/>
          </a:prstGeom>
          <a:noFill/>
          <a:ln/>
        </p:spPr>
        <p:txBody>
          <a:bodyPr wrap="square" lIns="0" tIns="0" rIns="0" bIns="0" rtlCol="0" anchor="t"/>
          <a:lstStyle/>
          <a:p>
            <a:pPr marL="0" indent="0" algn="l">
              <a:lnSpc>
                <a:spcPts val="1088"/>
              </a:lnSpc>
              <a:buNone/>
            </a:pPr>
            <a:r>
              <a:rPr lang="en-US" sz="765" kern="0" spc="15" dirty="0">
                <a:solidFill>
                  <a:srgbClr val="6F6A66"/>
                </a:solidFill>
                <a:latin typeface="Quicksand" pitchFamily="34" charset="0"/>
              </a:rPr>
              <a:t>Understand the paths available, from a partial recapitalization to a full sale, and what each could mean for you.</a:t>
            </a:r>
            <a:endParaRPr lang="en-US" sz="765" dirty="0"/>
          </a:p>
        </p:txBody>
      </p:sp>
      <p:sp>
        <p:nvSpPr>
          <p:cNvPr id="48" name="Shape 47"/>
          <p:cNvSpPr/>
          <p:nvPr/>
        </p:nvSpPr>
        <p:spPr>
          <a:xfrm>
            <a:off x="419100" y="6581775"/>
            <a:ext cx="2121396" cy="352425"/>
          </a:xfrm>
          <a:prstGeom prst="rect">
            <a:avLst/>
          </a:prstGeom>
          <a:solidFill>
            <a:srgbClr val="B68757"/>
          </a:solidFill>
          <a:ln/>
        </p:spPr>
        <p:txBody>
          <a:bodyPr/>
          <a:lstStyle/>
          <a:p>
            <a:endParaRPr lang="en-US"/>
          </a:p>
        </p:txBody>
      </p:sp>
      <p:sp>
        <p:nvSpPr>
          <p:cNvPr id="49" name="Text 48">
            <a:hlinkClick r:id="rId5"/>
          </p:cNvPr>
          <p:cNvSpPr txBox="1"/>
          <p:nvPr/>
        </p:nvSpPr>
        <p:spPr>
          <a:xfrm>
            <a:off x="609600" y="6691313"/>
            <a:ext cx="1797546" cy="123825"/>
          </a:xfrm>
          <a:prstGeom prst="rect">
            <a:avLst/>
          </a:prstGeom>
          <a:noFill/>
          <a:ln/>
        </p:spPr>
        <p:txBody>
          <a:bodyPr wrap="none" lIns="0" tIns="0" rIns="0" bIns="0" rtlCol="0" anchor="t"/>
          <a:lstStyle/>
          <a:p>
            <a:pPr marL="0" indent="0" algn="l">
              <a:lnSpc>
                <a:spcPts val="975"/>
              </a:lnSpc>
              <a:buNone/>
            </a:pPr>
            <a:r>
              <a:rPr lang="en-US" sz="713" b="1" kern="0" spc="165" dirty="0">
                <a:solidFill>
                  <a:srgbClr val="FFFFFF"/>
                </a:solidFill>
                <a:latin typeface="Quicksand" pitchFamily="34" charset="0"/>
              </a:rPr>
              <a:t>SCHEDULE A CONVERSATION</a:t>
            </a:r>
            <a:endParaRPr lang="en-US" sz="713" dirty="0"/>
          </a:p>
        </p:txBody>
      </p:sp>
      <p:sp>
        <p:nvSpPr>
          <p:cNvPr id="50" name="Shape 49"/>
          <p:cNvSpPr/>
          <p:nvPr/>
        </p:nvSpPr>
        <p:spPr>
          <a:xfrm>
            <a:off x="2659559" y="6586538"/>
            <a:ext cx="3126730" cy="342900"/>
          </a:xfrm>
          <a:prstGeom prst="rect">
            <a:avLst/>
          </a:prstGeom>
          <a:ln w="9525">
            <a:solidFill>
              <a:srgbClr val="1B1A1A"/>
            </a:solidFill>
            <a:prstDash val="solid"/>
          </a:ln>
        </p:spPr>
        <p:txBody>
          <a:bodyPr/>
          <a:lstStyle/>
          <a:p>
            <a:endParaRPr lang="en-US"/>
          </a:p>
        </p:txBody>
      </p:sp>
      <p:sp>
        <p:nvSpPr>
          <p:cNvPr id="51" name="Text 50">
            <a:hlinkClick r:id="rId9"/>
          </p:cNvPr>
          <p:cNvSpPr txBox="1"/>
          <p:nvPr/>
        </p:nvSpPr>
        <p:spPr>
          <a:xfrm>
            <a:off x="2854821" y="6686550"/>
            <a:ext cx="2793355" cy="123825"/>
          </a:xfrm>
          <a:prstGeom prst="rect">
            <a:avLst/>
          </a:prstGeom>
          <a:noFill/>
          <a:ln/>
        </p:spPr>
        <p:txBody>
          <a:bodyPr wrap="none" lIns="0" tIns="0" rIns="0" bIns="0" rtlCol="0" anchor="t"/>
          <a:lstStyle/>
          <a:p>
            <a:pPr marL="0" indent="0" algn="l">
              <a:lnSpc>
                <a:spcPts val="975"/>
              </a:lnSpc>
              <a:buNone/>
            </a:pPr>
            <a:r>
              <a:rPr lang="en-US" sz="713" b="1" kern="0" spc="165" dirty="0">
                <a:solidFill>
                  <a:srgbClr val="1B1A1A"/>
                </a:solidFill>
                <a:latin typeface="Quicksand" pitchFamily="34" charset="0"/>
              </a:rPr>
              <a:t>READ THE FULL Q4 2026 CONSUMER REPORT</a:t>
            </a:r>
            <a:endParaRPr lang="en-US" sz="713" dirty="0"/>
          </a:p>
        </p:txBody>
      </p:sp>
      <p:sp>
        <p:nvSpPr>
          <p:cNvPr id="52" name="Shape 51"/>
          <p:cNvSpPr/>
          <p:nvPr/>
        </p:nvSpPr>
        <p:spPr>
          <a:xfrm>
            <a:off x="6915150" y="1238250"/>
            <a:ext cx="2724150" cy="5695950"/>
          </a:xfrm>
          <a:prstGeom prst="rect">
            <a:avLst/>
          </a:prstGeom>
          <a:solidFill>
            <a:srgbClr val="1B1A1A"/>
          </a:solidFill>
          <a:ln/>
        </p:spPr>
        <p:txBody>
          <a:bodyPr/>
          <a:lstStyle/>
          <a:p>
            <a:endParaRPr lang="en-US"/>
          </a:p>
        </p:txBody>
      </p:sp>
      <p:pic>
        <p:nvPicPr>
          <p:cNvPr id="53" name="Benchmark International" descr="Benchmark International"/>
          <p:cNvPicPr>
            <a:picLocks noChangeAspect="1"/>
          </p:cNvPicPr>
          <p:nvPr/>
        </p:nvPicPr>
        <p:blipFill>
          <a:blip r:embed="rId10"/>
          <a:stretch>
            <a:fillRect/>
          </a:stretch>
        </p:blipFill>
        <p:spPr>
          <a:xfrm>
            <a:off x="7143750" y="1485900"/>
            <a:ext cx="1638300" cy="304800"/>
          </a:xfrm>
          <a:prstGeom prst="rect">
            <a:avLst/>
          </a:prstGeom>
        </p:spPr>
      </p:pic>
      <p:sp>
        <p:nvSpPr>
          <p:cNvPr id="54" name="Text 53"/>
          <p:cNvSpPr txBox="1"/>
          <p:nvPr/>
        </p:nvSpPr>
        <p:spPr>
          <a:xfrm>
            <a:off x="7143750" y="1866900"/>
            <a:ext cx="2266950" cy="123825"/>
          </a:xfrm>
          <a:prstGeom prst="rect">
            <a:avLst/>
          </a:prstGeom>
          <a:noFill/>
          <a:ln/>
        </p:spPr>
        <p:txBody>
          <a:bodyPr wrap="none" lIns="0" tIns="0" rIns="0" bIns="0" rtlCol="0" anchor="t"/>
          <a:lstStyle/>
          <a:p>
            <a:pPr marL="0" indent="0" algn="l">
              <a:lnSpc>
                <a:spcPts val="975"/>
              </a:lnSpc>
              <a:buNone/>
            </a:pPr>
            <a:r>
              <a:rPr lang="en-US" sz="638" b="1" kern="0" spc="195" dirty="0">
                <a:solidFill>
                  <a:srgbClr val="D3AE84"/>
                </a:solidFill>
                <a:latin typeface="Quicksand" pitchFamily="34" charset="0"/>
              </a:rPr>
              <a:t>BENCHMARK CAPITAL MARKETS</a:t>
            </a:r>
            <a:endParaRPr lang="en-US" sz="638" dirty="0"/>
          </a:p>
        </p:txBody>
      </p:sp>
      <p:sp>
        <p:nvSpPr>
          <p:cNvPr id="55" name="Text 54"/>
          <p:cNvSpPr txBox="1"/>
          <p:nvPr/>
        </p:nvSpPr>
        <p:spPr>
          <a:xfrm>
            <a:off x="7143750" y="2162175"/>
            <a:ext cx="1057275" cy="285750"/>
          </a:xfrm>
          <a:prstGeom prst="rect">
            <a:avLst/>
          </a:prstGeom>
          <a:noFill/>
          <a:ln/>
        </p:spPr>
        <p:txBody>
          <a:bodyPr wrap="none" lIns="0" tIns="0" rIns="0" bIns="0" rtlCol="0" anchor="t"/>
          <a:lstStyle/>
          <a:p>
            <a:pPr marL="0" indent="0" algn="l">
              <a:lnSpc>
                <a:spcPts val="2250"/>
              </a:lnSpc>
              <a:buNone/>
            </a:pPr>
            <a:r>
              <a:rPr lang="en-US" sz="1950" kern="0" spc="15" dirty="0">
                <a:solidFill>
                  <a:srgbClr val="D3AE84"/>
                </a:solidFill>
                <a:latin typeface="Newsreader SemiBold" pitchFamily="34" charset="0"/>
              </a:rPr>
              <a:t>#1</a:t>
            </a:r>
            <a:endParaRPr lang="en-US" sz="1950" dirty="0"/>
          </a:p>
        </p:txBody>
      </p:sp>
      <p:sp>
        <p:nvSpPr>
          <p:cNvPr id="56" name="Text 55"/>
          <p:cNvSpPr txBox="1"/>
          <p:nvPr/>
        </p:nvSpPr>
        <p:spPr>
          <a:xfrm>
            <a:off x="7143750" y="2447925"/>
            <a:ext cx="1071563" cy="371475"/>
          </a:xfrm>
          <a:prstGeom prst="rect">
            <a:avLst/>
          </a:prstGeom>
          <a:noFill/>
          <a:ln/>
        </p:spPr>
        <p:txBody>
          <a:bodyPr wrap="square" lIns="0" tIns="0" rIns="0" bIns="0" rtlCol="0" anchor="t"/>
          <a:lstStyle/>
          <a:p>
            <a:pPr marL="0" indent="0" algn="l">
              <a:lnSpc>
                <a:spcPts val="975"/>
              </a:lnSpc>
              <a:buNone/>
            </a:pPr>
            <a:r>
              <a:rPr lang="en-US" sz="705" kern="0" spc="15" dirty="0">
                <a:solidFill>
                  <a:srgbClr val="E8E2DA"/>
                </a:solidFill>
                <a:latin typeface="Quicksand" pitchFamily="34" charset="0"/>
              </a:rPr>
              <a:t>Privately owned sell-side M&amp;A advisor worldwide</a:t>
            </a:r>
            <a:endParaRPr lang="en-US" sz="705" dirty="0"/>
          </a:p>
        </p:txBody>
      </p:sp>
      <p:sp>
        <p:nvSpPr>
          <p:cNvPr id="57" name="Text 56"/>
          <p:cNvSpPr txBox="1"/>
          <p:nvPr/>
        </p:nvSpPr>
        <p:spPr>
          <a:xfrm>
            <a:off x="8353425" y="2162175"/>
            <a:ext cx="1057275" cy="285750"/>
          </a:xfrm>
          <a:prstGeom prst="rect">
            <a:avLst/>
          </a:prstGeom>
          <a:noFill/>
          <a:ln/>
        </p:spPr>
        <p:txBody>
          <a:bodyPr wrap="none" lIns="0" tIns="0" rIns="0" bIns="0" rtlCol="0" anchor="t"/>
          <a:lstStyle/>
          <a:p>
            <a:pPr marL="0" indent="0" algn="l">
              <a:lnSpc>
                <a:spcPts val="2250"/>
              </a:lnSpc>
              <a:buNone/>
            </a:pPr>
            <a:r>
              <a:rPr lang="en-US" sz="1950" kern="0" spc="15" dirty="0">
                <a:solidFill>
                  <a:srgbClr val="D3AE84"/>
                </a:solidFill>
                <a:latin typeface="Newsreader SemiBold" pitchFamily="34" charset="0"/>
              </a:rPr>
              <a:t>15</a:t>
            </a:r>
            <a:endParaRPr lang="en-US" sz="1950" dirty="0"/>
          </a:p>
        </p:txBody>
      </p:sp>
      <p:sp>
        <p:nvSpPr>
          <p:cNvPr id="58" name="Text 57"/>
          <p:cNvSpPr txBox="1"/>
          <p:nvPr/>
        </p:nvSpPr>
        <p:spPr>
          <a:xfrm>
            <a:off x="8353425" y="2447925"/>
            <a:ext cx="1071563" cy="371475"/>
          </a:xfrm>
          <a:prstGeom prst="rect">
            <a:avLst/>
          </a:prstGeom>
          <a:noFill/>
          <a:ln/>
        </p:spPr>
        <p:txBody>
          <a:bodyPr wrap="square" lIns="0" tIns="0" rIns="0" bIns="0" rtlCol="0" anchor="t"/>
          <a:lstStyle/>
          <a:p>
            <a:pPr marL="0" indent="0" algn="l">
              <a:lnSpc>
                <a:spcPts val="975"/>
              </a:lnSpc>
              <a:buNone/>
            </a:pPr>
            <a:r>
              <a:rPr lang="en-US" sz="705" kern="0" spc="15" dirty="0">
                <a:solidFill>
                  <a:srgbClr val="E8E2DA"/>
                </a:solidFill>
                <a:latin typeface="Quicksand" pitchFamily="34" charset="0"/>
              </a:rPr>
              <a:t>Global offices across the Americas, Europe and Africa</a:t>
            </a:r>
            <a:endParaRPr lang="en-US" sz="705" dirty="0"/>
          </a:p>
        </p:txBody>
      </p:sp>
      <p:sp>
        <p:nvSpPr>
          <p:cNvPr id="59" name="Text 58"/>
          <p:cNvSpPr txBox="1"/>
          <p:nvPr/>
        </p:nvSpPr>
        <p:spPr>
          <a:xfrm>
            <a:off x="7143750" y="2952750"/>
            <a:ext cx="2266950" cy="285750"/>
          </a:xfrm>
          <a:prstGeom prst="rect">
            <a:avLst/>
          </a:prstGeom>
          <a:noFill/>
          <a:ln/>
        </p:spPr>
        <p:txBody>
          <a:bodyPr wrap="none" lIns="0" tIns="0" rIns="0" bIns="0" rtlCol="0" anchor="t"/>
          <a:lstStyle/>
          <a:p>
            <a:pPr marL="0" indent="0" algn="l">
              <a:lnSpc>
                <a:spcPts val="2250"/>
              </a:lnSpc>
              <a:buNone/>
            </a:pPr>
            <a:r>
              <a:rPr lang="en-US" sz="1800" kern="0" spc="15" dirty="0">
                <a:solidFill>
                  <a:srgbClr val="D3AE84"/>
                </a:solidFill>
                <a:latin typeface="Newsreader SemiBold" pitchFamily="34" charset="0"/>
              </a:rPr>
              <a:t>$50M to $500M</a:t>
            </a:r>
            <a:endParaRPr lang="en-US" sz="1800" dirty="0"/>
          </a:p>
        </p:txBody>
      </p:sp>
      <p:sp>
        <p:nvSpPr>
          <p:cNvPr id="60" name="Text 59"/>
          <p:cNvSpPr txBox="1"/>
          <p:nvPr/>
        </p:nvSpPr>
        <p:spPr>
          <a:xfrm>
            <a:off x="7143750" y="3238500"/>
            <a:ext cx="2266950" cy="123825"/>
          </a:xfrm>
          <a:prstGeom prst="rect">
            <a:avLst/>
          </a:prstGeom>
          <a:noFill/>
          <a:ln/>
        </p:spPr>
        <p:txBody>
          <a:bodyPr wrap="none" lIns="0" tIns="0" rIns="0" bIns="0" rtlCol="0" anchor="t"/>
          <a:lstStyle/>
          <a:p>
            <a:pPr marL="0" indent="0" algn="l">
              <a:lnSpc>
                <a:spcPts val="975"/>
              </a:lnSpc>
              <a:buNone/>
            </a:pPr>
            <a:r>
              <a:rPr lang="en-US" sz="705" kern="0" spc="15" dirty="0">
                <a:solidFill>
                  <a:srgbClr val="E8E2DA"/>
                </a:solidFill>
                <a:latin typeface="Quicksand" pitchFamily="34" charset="0"/>
              </a:rPr>
              <a:t>Total enterprise value range the team serves</a:t>
            </a:r>
            <a:endParaRPr lang="en-US" sz="705" dirty="0"/>
          </a:p>
        </p:txBody>
      </p:sp>
      <p:sp>
        <p:nvSpPr>
          <p:cNvPr id="61" name="Shape 60"/>
          <p:cNvSpPr/>
          <p:nvPr/>
        </p:nvSpPr>
        <p:spPr>
          <a:xfrm>
            <a:off x="7143750" y="3514725"/>
            <a:ext cx="2266950" cy="9525"/>
          </a:xfrm>
          <a:prstGeom prst="rect">
            <a:avLst/>
          </a:prstGeom>
          <a:solidFill>
            <a:srgbClr val="D3AE84">
              <a:alpha val="30000"/>
            </a:srgbClr>
          </a:solidFill>
          <a:ln/>
        </p:spPr>
        <p:txBody>
          <a:bodyPr/>
          <a:lstStyle/>
          <a:p>
            <a:endParaRPr lang="en-US"/>
          </a:p>
        </p:txBody>
      </p:sp>
      <p:sp>
        <p:nvSpPr>
          <p:cNvPr id="62" name="Text 61"/>
          <p:cNvSpPr txBox="1"/>
          <p:nvPr/>
        </p:nvSpPr>
        <p:spPr>
          <a:xfrm>
            <a:off x="7143750" y="3638550"/>
            <a:ext cx="2266950" cy="123825"/>
          </a:xfrm>
          <a:prstGeom prst="rect">
            <a:avLst/>
          </a:prstGeom>
          <a:noFill/>
          <a:ln/>
        </p:spPr>
        <p:txBody>
          <a:bodyPr wrap="none" lIns="0" tIns="0" rIns="0" bIns="0" rtlCol="0" anchor="t"/>
          <a:lstStyle/>
          <a:p>
            <a:pPr marL="0" indent="0" algn="l">
              <a:lnSpc>
                <a:spcPts val="975"/>
              </a:lnSpc>
              <a:buNone/>
            </a:pPr>
            <a:r>
              <a:rPr lang="en-US" sz="638" b="1" kern="0" spc="165" dirty="0">
                <a:solidFill>
                  <a:srgbClr val="D3AE84"/>
                </a:solidFill>
                <a:latin typeface="Quicksand" pitchFamily="34" charset="0"/>
              </a:rPr>
              <a:t>CONSUMER COVERAGE</a:t>
            </a:r>
            <a:endParaRPr lang="en-US" sz="638" dirty="0"/>
          </a:p>
        </p:txBody>
      </p:sp>
      <p:pic>
        <p:nvPicPr>
          <p:cNvPr id="63" name="Icon" descr="/tmp/claude-0/-home-claude-about/4bef2f41-4227-5ff7-ab18-11ac74cd9797/scratchpad/pptx/ex/media/a5844c0bd0eb.png"/>
          <p:cNvPicPr>
            <a:picLocks noChangeAspect="1"/>
          </p:cNvPicPr>
          <p:nvPr/>
        </p:nvPicPr>
        <p:blipFill>
          <a:blip r:embed="rId11"/>
          <a:stretch>
            <a:fillRect/>
          </a:stretch>
        </p:blipFill>
        <p:spPr>
          <a:xfrm>
            <a:off x="7143750" y="3848100"/>
            <a:ext cx="142875" cy="142875"/>
          </a:xfrm>
          <a:prstGeom prst="rect">
            <a:avLst/>
          </a:prstGeom>
        </p:spPr>
      </p:pic>
      <p:sp>
        <p:nvSpPr>
          <p:cNvPr id="64" name="Text 63"/>
          <p:cNvSpPr txBox="1"/>
          <p:nvPr/>
        </p:nvSpPr>
        <p:spPr>
          <a:xfrm>
            <a:off x="7372350" y="3852863"/>
            <a:ext cx="912316" cy="133350"/>
          </a:xfrm>
          <a:prstGeom prst="rect">
            <a:avLst/>
          </a:prstGeom>
          <a:noFill/>
          <a:ln/>
        </p:spPr>
        <p:txBody>
          <a:bodyPr wrap="none" lIns="0" tIns="0" rIns="0" bIns="0" rtlCol="0" anchor="t"/>
          <a:lstStyle/>
          <a:p>
            <a:pPr marL="0" indent="0" algn="l">
              <a:lnSpc>
                <a:spcPts val="1050"/>
              </a:lnSpc>
              <a:buNone/>
            </a:pPr>
            <a:r>
              <a:rPr lang="en-US" sz="810" kern="0" spc="15" dirty="0">
                <a:solidFill>
                  <a:srgbClr val="F4EFE8"/>
                </a:solidFill>
                <a:latin typeface="Quicksand" pitchFamily="34" charset="0"/>
              </a:rPr>
              <a:t>Food &amp; Beverage</a:t>
            </a:r>
            <a:endParaRPr lang="en-US" sz="810" dirty="0"/>
          </a:p>
        </p:txBody>
      </p:sp>
      <p:pic>
        <p:nvPicPr>
          <p:cNvPr id="65" name="Icon" descr="/tmp/claude-0/-home-claude-about/4bef2f41-4227-5ff7-ab18-11ac74cd9797/scratchpad/pptx/ex/media/267c0dc43ff0.png"/>
          <p:cNvPicPr>
            <a:picLocks noChangeAspect="1"/>
          </p:cNvPicPr>
          <p:nvPr/>
        </p:nvPicPr>
        <p:blipFill>
          <a:blip r:embed="rId12"/>
          <a:stretch>
            <a:fillRect/>
          </a:stretch>
        </p:blipFill>
        <p:spPr>
          <a:xfrm>
            <a:off x="7143750" y="4086225"/>
            <a:ext cx="142875" cy="142875"/>
          </a:xfrm>
          <a:prstGeom prst="rect">
            <a:avLst/>
          </a:prstGeom>
        </p:spPr>
      </p:pic>
      <p:sp>
        <p:nvSpPr>
          <p:cNvPr id="66" name="Text 65"/>
          <p:cNvSpPr txBox="1"/>
          <p:nvPr/>
        </p:nvSpPr>
        <p:spPr>
          <a:xfrm>
            <a:off x="7372350" y="4090987"/>
            <a:ext cx="1507034" cy="133350"/>
          </a:xfrm>
          <a:prstGeom prst="rect">
            <a:avLst/>
          </a:prstGeom>
          <a:noFill/>
          <a:ln/>
        </p:spPr>
        <p:txBody>
          <a:bodyPr wrap="none" lIns="0" tIns="0" rIns="0" bIns="0" rtlCol="0" anchor="t"/>
          <a:lstStyle/>
          <a:p>
            <a:pPr marL="0" indent="0" algn="l">
              <a:lnSpc>
                <a:spcPts val="1050"/>
              </a:lnSpc>
              <a:buNone/>
            </a:pPr>
            <a:r>
              <a:rPr lang="en-US" sz="810" kern="0" spc="15" dirty="0">
                <a:solidFill>
                  <a:srgbClr val="F4EFE8"/>
                </a:solidFill>
                <a:latin typeface="Quicksand" pitchFamily="34" charset="0"/>
              </a:rPr>
              <a:t>Consumer Brands &amp; Products</a:t>
            </a:r>
            <a:endParaRPr lang="en-US" sz="810" dirty="0"/>
          </a:p>
        </p:txBody>
      </p:sp>
      <p:pic>
        <p:nvPicPr>
          <p:cNvPr id="67" name="Icon" descr="/tmp/claude-0/-home-claude-about/4bef2f41-4227-5ff7-ab18-11ac74cd9797/scratchpad/pptx/ex/media/df6e3233e72f.png"/>
          <p:cNvPicPr>
            <a:picLocks noChangeAspect="1"/>
          </p:cNvPicPr>
          <p:nvPr/>
        </p:nvPicPr>
        <p:blipFill>
          <a:blip r:embed="rId13"/>
          <a:stretch>
            <a:fillRect/>
          </a:stretch>
        </p:blipFill>
        <p:spPr>
          <a:xfrm>
            <a:off x="7143750" y="4324350"/>
            <a:ext cx="142875" cy="142875"/>
          </a:xfrm>
          <a:prstGeom prst="rect">
            <a:avLst/>
          </a:prstGeom>
        </p:spPr>
      </p:pic>
      <p:sp>
        <p:nvSpPr>
          <p:cNvPr id="68" name="Text 67"/>
          <p:cNvSpPr txBox="1"/>
          <p:nvPr/>
        </p:nvSpPr>
        <p:spPr>
          <a:xfrm>
            <a:off x="7372350" y="4329113"/>
            <a:ext cx="1354782" cy="133350"/>
          </a:xfrm>
          <a:prstGeom prst="rect">
            <a:avLst/>
          </a:prstGeom>
          <a:noFill/>
          <a:ln/>
        </p:spPr>
        <p:txBody>
          <a:bodyPr wrap="none" lIns="0" tIns="0" rIns="0" bIns="0" rtlCol="0" anchor="t"/>
          <a:lstStyle/>
          <a:p>
            <a:pPr marL="0" indent="0" algn="l">
              <a:lnSpc>
                <a:spcPts val="1050"/>
              </a:lnSpc>
              <a:buNone/>
            </a:pPr>
            <a:r>
              <a:rPr lang="en-US" sz="810" kern="0" spc="15" dirty="0">
                <a:solidFill>
                  <a:srgbClr val="F4EFE8"/>
                </a:solidFill>
                <a:latin typeface="Quicksand" pitchFamily="34" charset="0"/>
              </a:rPr>
              <a:t>Foodservice &amp; Distribution</a:t>
            </a:r>
            <a:endParaRPr lang="en-US" sz="810" dirty="0"/>
          </a:p>
        </p:txBody>
      </p:sp>
      <p:pic>
        <p:nvPicPr>
          <p:cNvPr id="69" name="Icon" descr="/tmp/claude-0/-home-claude-about/4bef2f41-4227-5ff7-ab18-11ac74cd9797/scratchpad/pptx/ex/media/b26f2f7508a0.png"/>
          <p:cNvPicPr>
            <a:picLocks noChangeAspect="1"/>
          </p:cNvPicPr>
          <p:nvPr/>
        </p:nvPicPr>
        <p:blipFill>
          <a:blip r:embed="rId14"/>
          <a:stretch>
            <a:fillRect/>
          </a:stretch>
        </p:blipFill>
        <p:spPr>
          <a:xfrm>
            <a:off x="7143750" y="4562475"/>
            <a:ext cx="142875" cy="142875"/>
          </a:xfrm>
          <a:prstGeom prst="rect">
            <a:avLst/>
          </a:prstGeom>
        </p:spPr>
      </p:pic>
      <p:sp>
        <p:nvSpPr>
          <p:cNvPr id="70" name="Text 69"/>
          <p:cNvSpPr txBox="1"/>
          <p:nvPr/>
        </p:nvSpPr>
        <p:spPr>
          <a:xfrm>
            <a:off x="7372350" y="4567238"/>
            <a:ext cx="1413718" cy="133350"/>
          </a:xfrm>
          <a:prstGeom prst="rect">
            <a:avLst/>
          </a:prstGeom>
          <a:noFill/>
          <a:ln/>
        </p:spPr>
        <p:txBody>
          <a:bodyPr wrap="none" lIns="0" tIns="0" rIns="0" bIns="0" rtlCol="0" anchor="t"/>
          <a:lstStyle/>
          <a:p>
            <a:pPr marL="0" indent="0" algn="l">
              <a:lnSpc>
                <a:spcPts val="1050"/>
              </a:lnSpc>
              <a:buNone/>
            </a:pPr>
            <a:r>
              <a:rPr lang="en-US" sz="810" kern="0" spc="15" dirty="0">
                <a:solidFill>
                  <a:srgbClr val="F4EFE8"/>
                </a:solidFill>
                <a:latin typeface="Quicksand" pitchFamily="34" charset="0"/>
              </a:rPr>
              <a:t>Consumer Services &amp; Retail</a:t>
            </a:r>
            <a:endParaRPr lang="en-US" sz="810" dirty="0"/>
          </a:p>
        </p:txBody>
      </p:sp>
      <p:sp>
        <p:nvSpPr>
          <p:cNvPr id="71" name="Shape 70"/>
          <p:cNvSpPr/>
          <p:nvPr/>
        </p:nvSpPr>
        <p:spPr>
          <a:xfrm>
            <a:off x="7143750" y="5391150"/>
            <a:ext cx="2266950" cy="9525"/>
          </a:xfrm>
          <a:prstGeom prst="rect">
            <a:avLst/>
          </a:prstGeom>
          <a:solidFill>
            <a:srgbClr val="D3AE84">
              <a:alpha val="30000"/>
            </a:srgbClr>
          </a:solidFill>
          <a:ln/>
        </p:spPr>
        <p:txBody>
          <a:bodyPr/>
          <a:lstStyle/>
          <a:p>
            <a:endParaRPr lang="en-US"/>
          </a:p>
        </p:txBody>
      </p:sp>
      <p:sp>
        <p:nvSpPr>
          <p:cNvPr id="72" name="Text 71"/>
          <p:cNvSpPr txBox="1"/>
          <p:nvPr/>
        </p:nvSpPr>
        <p:spPr>
          <a:xfrm>
            <a:off x="7143750" y="5514975"/>
            <a:ext cx="2266950" cy="123825"/>
          </a:xfrm>
          <a:prstGeom prst="rect">
            <a:avLst/>
          </a:prstGeom>
          <a:noFill/>
          <a:ln/>
        </p:spPr>
        <p:txBody>
          <a:bodyPr wrap="none" lIns="0" tIns="0" rIns="0" bIns="0" rtlCol="0" anchor="t"/>
          <a:lstStyle/>
          <a:p>
            <a:pPr marL="0" indent="0" algn="l">
              <a:lnSpc>
                <a:spcPts val="975"/>
              </a:lnSpc>
              <a:buNone/>
            </a:pPr>
            <a:r>
              <a:rPr lang="en-US" sz="638" b="1" kern="0" spc="165" dirty="0">
                <a:solidFill>
                  <a:srgbClr val="D3AE84"/>
                </a:solidFill>
                <a:latin typeface="Quicksand" pitchFamily="34" charset="0"/>
              </a:rPr>
              <a:t>AMERICAS HEADQUARTERS</a:t>
            </a:r>
            <a:endParaRPr lang="en-US" sz="638" dirty="0"/>
          </a:p>
        </p:txBody>
      </p:sp>
      <p:sp>
        <p:nvSpPr>
          <p:cNvPr id="73" name="Text 72"/>
          <p:cNvSpPr txBox="1"/>
          <p:nvPr/>
        </p:nvSpPr>
        <p:spPr>
          <a:xfrm>
            <a:off x="7143750" y="5676900"/>
            <a:ext cx="2281238" cy="428625"/>
          </a:xfrm>
          <a:prstGeom prst="rect">
            <a:avLst/>
          </a:prstGeom>
          <a:noFill/>
          <a:ln/>
        </p:spPr>
        <p:txBody>
          <a:bodyPr wrap="square" lIns="0" tIns="0" rIns="0" bIns="0" rtlCol="0" anchor="t"/>
          <a:lstStyle/>
          <a:p>
            <a:pPr marL="0" indent="0" algn="l">
              <a:lnSpc>
                <a:spcPts val="1125"/>
              </a:lnSpc>
              <a:buNone/>
            </a:pPr>
            <a:r>
              <a:rPr lang="en-US" sz="780" kern="0" spc="15" dirty="0">
                <a:solidFill>
                  <a:srgbClr val="E8E2DA"/>
                </a:solidFill>
                <a:latin typeface="Quicksand" pitchFamily="34" charset="0"/>
              </a:rPr>
              <a:t>4030 West Boy Scout Blvd., Suite 500</a:t>
            </a:r>
            <a:endParaRPr lang="en-US" sz="780" dirty="0"/>
          </a:p>
          <a:p>
            <a:pPr marL="0" indent="0" algn="l">
              <a:lnSpc>
                <a:spcPts val="1125"/>
              </a:lnSpc>
              <a:buNone/>
            </a:pPr>
            <a:r>
              <a:rPr lang="en-US" sz="780" kern="0" spc="15" dirty="0">
                <a:solidFill>
                  <a:srgbClr val="E8E2DA"/>
                </a:solidFill>
                <a:latin typeface="Quicksand" pitchFamily="34" charset="0"/>
              </a:rPr>
              <a:t>Tampa, FL 33607</a:t>
            </a:r>
            <a:endParaRPr lang="en-US" sz="780" dirty="0"/>
          </a:p>
          <a:p>
            <a:pPr marL="0" indent="0" algn="l">
              <a:lnSpc>
                <a:spcPts val="1125"/>
              </a:lnSpc>
              <a:buNone/>
            </a:pPr>
            <a:r>
              <a:rPr lang="en-US" sz="780" kern="0" spc="15" dirty="0">
                <a:solidFill>
                  <a:srgbClr val="E8E2DA"/>
                </a:solidFill>
                <a:latin typeface="Quicksand" pitchFamily="34" charset="0"/>
              </a:rPr>
              <a:t>+1 813 898 2350</a:t>
            </a:r>
            <a:endParaRPr lang="en-US" sz="780" dirty="0"/>
          </a:p>
        </p:txBody>
      </p:sp>
      <p:sp>
        <p:nvSpPr>
          <p:cNvPr id="74" name="Text 73"/>
          <p:cNvSpPr txBox="1"/>
          <p:nvPr/>
        </p:nvSpPr>
        <p:spPr>
          <a:xfrm>
            <a:off x="7143750" y="6169819"/>
            <a:ext cx="2281238" cy="514350"/>
          </a:xfrm>
          <a:prstGeom prst="rect">
            <a:avLst/>
          </a:prstGeom>
          <a:noFill/>
          <a:ln/>
        </p:spPr>
        <p:txBody>
          <a:bodyPr wrap="square" lIns="0" tIns="0" rIns="0" bIns="0" rtlCol="0" anchor="t"/>
          <a:lstStyle/>
          <a:p>
            <a:pPr marL="0" indent="0" algn="l">
              <a:lnSpc>
                <a:spcPts val="1013"/>
              </a:lnSpc>
              <a:buNone/>
            </a:pPr>
            <a:r>
              <a:rPr lang="en-US" sz="705" b="1" kern="0" spc="15" dirty="0">
                <a:solidFill>
                  <a:srgbClr val="E8E2DA"/>
                </a:solidFill>
                <a:latin typeface="Quicksand" pitchFamily="34" charset="0"/>
              </a:rPr>
              <a:t>Europe</a:t>
            </a:r>
            <a:r>
              <a:rPr lang="en-US" sz="705" kern="0" spc="15" dirty="0">
                <a:solidFill>
                  <a:srgbClr val="C9C2B8"/>
                </a:solidFill>
                <a:latin typeface="Quicksand" pitchFamily="34" charset="0"/>
              </a:rPr>
              <a:t>  One New Bailey, 4 Stanley St., Manchester, M3 5JL</a:t>
            </a:r>
            <a:endParaRPr lang="en-US" sz="705" dirty="0"/>
          </a:p>
          <a:p>
            <a:pPr marL="0" indent="0" algn="l">
              <a:lnSpc>
                <a:spcPts val="1013"/>
              </a:lnSpc>
              <a:buNone/>
            </a:pPr>
            <a:r>
              <a:rPr lang="en-US" sz="705" b="1" kern="0" spc="15" dirty="0">
                <a:solidFill>
                  <a:srgbClr val="E8E2DA"/>
                </a:solidFill>
                <a:latin typeface="Quicksand" pitchFamily="34" charset="0"/>
              </a:rPr>
              <a:t>Africa</a:t>
            </a:r>
            <a:r>
              <a:rPr lang="en-US" sz="705" kern="0" spc="15" dirty="0">
                <a:solidFill>
                  <a:srgbClr val="C9C2B8"/>
                </a:solidFill>
                <a:latin typeface="Quicksand" pitchFamily="34" charset="0"/>
              </a:rPr>
              <a:t>  Airport Office Park, Freight Rd., Cape Town Airport, 7525</a:t>
            </a:r>
            <a:endParaRPr lang="en-US" sz="705" dirty="0"/>
          </a:p>
        </p:txBody>
      </p:sp>
      <p:sp>
        <p:nvSpPr>
          <p:cNvPr id="75" name="Shape 74"/>
          <p:cNvSpPr/>
          <p:nvPr/>
        </p:nvSpPr>
        <p:spPr>
          <a:xfrm>
            <a:off x="419100" y="7029450"/>
            <a:ext cx="9220200" cy="9525"/>
          </a:xfrm>
          <a:prstGeom prst="rect">
            <a:avLst/>
          </a:prstGeom>
          <a:solidFill>
            <a:srgbClr val="E3DCD3"/>
          </a:solidFill>
          <a:ln/>
        </p:spPr>
        <p:txBody>
          <a:bodyPr/>
          <a:lstStyle/>
          <a:p>
            <a:endParaRPr lang="en-US"/>
          </a:p>
        </p:txBody>
      </p:sp>
      <p:pic>
        <p:nvPicPr>
          <p:cNvPr id="76" name="Benchmark International" descr="Benchmark International"/>
          <p:cNvPicPr>
            <a:picLocks noChangeAspect="1"/>
          </p:cNvPicPr>
          <p:nvPr/>
        </p:nvPicPr>
        <p:blipFill>
          <a:blip r:embed="rId15"/>
          <a:stretch>
            <a:fillRect/>
          </a:stretch>
        </p:blipFill>
        <p:spPr>
          <a:xfrm>
            <a:off x="419100" y="7143750"/>
            <a:ext cx="914400" cy="171450"/>
          </a:xfrm>
          <a:prstGeom prst="rect">
            <a:avLst/>
          </a:prstGeom>
        </p:spPr>
      </p:pic>
      <p:sp>
        <p:nvSpPr>
          <p:cNvPr id="77" name="Text 76"/>
          <p:cNvSpPr txBox="1"/>
          <p:nvPr/>
        </p:nvSpPr>
        <p:spPr>
          <a:xfrm>
            <a:off x="1543050" y="7098506"/>
            <a:ext cx="7620000" cy="119063"/>
          </a:xfrm>
          <a:prstGeom prst="rect">
            <a:avLst/>
          </a:prstGeom>
          <a:noFill/>
          <a:ln/>
        </p:spPr>
        <p:txBody>
          <a:bodyPr wrap="none" lIns="0" tIns="0" rIns="0" bIns="0" rtlCol="0" anchor="t"/>
          <a:lstStyle/>
          <a:p>
            <a:pPr marL="0" indent="0" algn="l">
              <a:lnSpc>
                <a:spcPts val="938"/>
              </a:lnSpc>
              <a:buNone/>
            </a:pPr>
            <a:r>
              <a:rPr lang="en-US" sz="675" kern="0" spc="15" dirty="0">
                <a:solidFill>
                  <a:srgbClr val="6F6A66"/>
                </a:solidFill>
                <a:latin typeface="Quicksand" pitchFamily="34" charset="0"/>
              </a:rPr>
              <a:t>Ranking based on PitchBook’s Q2 2026 Global League Tables, as published at </a:t>
            </a:r>
            <a:r>
              <a:rPr lang="en-US" sz="675" u="sng" kern="0" spc="15" dirty="0">
                <a:solidFill>
                  <a:srgbClr val="8C6239"/>
                </a:solidFill>
                <a:latin typeface="Quicksand" pitchFamily="34" charset="0"/>
                <a:hlinkClick r:id="rId16">
                  <a:extLst>
                    <a:ext uri="{A12FA001-AC4F-418D-AE19-62706E023703}">
                      <ahyp:hlinkClr xmlns:ahyp="http://schemas.microsoft.com/office/drawing/2018/hyperlinkcolor" val="tx"/>
                    </a:ext>
                  </a:extLst>
                </a:hlinkClick>
              </a:rPr>
              <a:t>benchmarkintl.com</a:t>
            </a:r>
            <a:r>
              <a:rPr lang="en-US" sz="675" kern="0" spc="15" dirty="0">
                <a:solidFill>
                  <a:srgbClr val="6F6A66"/>
                </a:solidFill>
                <a:latin typeface="Quicksand" pitchFamily="34" charset="0"/>
              </a:rPr>
              <a:t>. Team as listed on the Benchmark Capital Markets site in October 2026.</a:t>
            </a:r>
            <a:endParaRPr lang="en-US" sz="675" dirty="0"/>
          </a:p>
        </p:txBody>
      </p:sp>
      <p:sp>
        <p:nvSpPr>
          <p:cNvPr id="78" name="Text 77"/>
          <p:cNvSpPr txBox="1"/>
          <p:nvPr/>
        </p:nvSpPr>
        <p:spPr>
          <a:xfrm>
            <a:off x="9494044" y="7162800"/>
            <a:ext cx="202406" cy="133350"/>
          </a:xfrm>
          <a:prstGeom prst="rect">
            <a:avLst/>
          </a:prstGeom>
          <a:noFill/>
          <a:ln/>
        </p:spPr>
        <p:txBody>
          <a:bodyPr wrap="none" lIns="0" tIns="0" rIns="0" bIns="0" rtlCol="0" anchor="t"/>
          <a:lstStyle/>
          <a:p>
            <a:pPr marL="0" indent="0" algn="l">
              <a:lnSpc>
                <a:spcPts val="1050"/>
              </a:lnSpc>
              <a:buNone/>
            </a:pPr>
            <a:r>
              <a:rPr lang="en-US" sz="713" b="1" kern="0" spc="150" dirty="0">
                <a:solidFill>
                  <a:srgbClr val="1B1A1A"/>
                </a:solidFill>
                <a:latin typeface="Quicksand" pitchFamily="34" charset="0"/>
              </a:rPr>
              <a:t>20</a:t>
            </a:r>
            <a:endParaRPr lang="en-US" sz="713"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1"/>
          <p:cNvSpPr/>
          <p:nvPr/>
        </p:nvSpPr>
        <p:spPr>
          <a:xfrm>
            <a:off x="0" y="0"/>
            <a:ext cx="10058400" cy="7772400"/>
          </a:xfrm>
          <a:prstGeom prst="rect">
            <a:avLst/>
          </a:prstGeom>
          <a:solidFill>
            <a:srgbClr val="FFFFFF"/>
          </a:solidFill>
          <a:ln/>
        </p:spPr>
        <p:txBody>
          <a:bodyPr/>
          <a:lstStyle/>
          <a:p>
            <a:endParaRPr lang="en-US"/>
          </a:p>
        </p:txBody>
      </p:sp>
      <p:sp>
        <p:nvSpPr>
          <p:cNvPr id="3" name="Shape 2"/>
          <p:cNvSpPr/>
          <p:nvPr/>
        </p:nvSpPr>
        <p:spPr>
          <a:xfrm>
            <a:off x="0" y="0"/>
            <a:ext cx="57150" cy="7772400"/>
          </a:xfrm>
          <a:prstGeom prst="rect">
            <a:avLst/>
          </a:prstGeom>
          <a:solidFill>
            <a:srgbClr val="B68757"/>
          </a:solidFill>
          <a:ln/>
        </p:spPr>
        <p:txBody>
          <a:bodyPr/>
          <a:lstStyle/>
          <a:p>
            <a:endParaRPr lang="en-US"/>
          </a:p>
        </p:txBody>
      </p:sp>
      <p:sp>
        <p:nvSpPr>
          <p:cNvPr id="4" name="Text 3"/>
          <p:cNvSpPr txBox="1"/>
          <p:nvPr/>
        </p:nvSpPr>
        <p:spPr>
          <a:xfrm>
            <a:off x="419100" y="376238"/>
            <a:ext cx="2618929" cy="133350"/>
          </a:xfrm>
          <a:prstGeom prst="rect">
            <a:avLst/>
          </a:prstGeom>
          <a:noFill/>
          <a:ln/>
        </p:spPr>
        <p:txBody>
          <a:bodyPr wrap="none" lIns="0" tIns="0" rIns="0" bIns="0" rtlCol="0" anchor="t"/>
          <a:lstStyle/>
          <a:p>
            <a:pPr marL="0" indent="0" algn="l">
              <a:lnSpc>
                <a:spcPts val="1050"/>
              </a:lnSpc>
              <a:buNone/>
            </a:pPr>
            <a:r>
              <a:rPr lang="en-US" sz="675" b="1" kern="0" spc="195" dirty="0">
                <a:solidFill>
                  <a:srgbClr val="8C6239"/>
                </a:solidFill>
                <a:latin typeface="Quicksand" pitchFamily="34" charset="0"/>
              </a:rPr>
              <a:t>CONSUMER  |  QUARTERLY SECTOR BRIEF</a:t>
            </a:r>
            <a:endParaRPr lang="en-US" sz="675" dirty="0"/>
          </a:p>
        </p:txBody>
      </p:sp>
      <p:sp>
        <p:nvSpPr>
          <p:cNvPr id="5" name="Text 4"/>
          <p:cNvSpPr txBox="1"/>
          <p:nvPr/>
        </p:nvSpPr>
        <p:spPr>
          <a:xfrm>
            <a:off x="9112597" y="381000"/>
            <a:ext cx="583853" cy="171450"/>
          </a:xfrm>
          <a:prstGeom prst="rect">
            <a:avLst/>
          </a:prstGeom>
          <a:noFill/>
          <a:ln/>
        </p:spPr>
        <p:txBody>
          <a:bodyPr wrap="none" lIns="0" tIns="0" rIns="0" bIns="0" rtlCol="0" anchor="t"/>
          <a:lstStyle/>
          <a:p>
            <a:pPr marL="0" indent="0" algn="l">
              <a:lnSpc>
                <a:spcPts val="1350"/>
              </a:lnSpc>
              <a:buNone/>
            </a:pPr>
            <a:r>
              <a:rPr lang="en-US" sz="900" kern="0" spc="90" dirty="0">
                <a:solidFill>
                  <a:srgbClr val="6F6A66"/>
                </a:solidFill>
                <a:latin typeface="Cinzel" pitchFamily="34" charset="0"/>
              </a:rPr>
              <a:t>Q4 2026</a:t>
            </a:r>
            <a:endParaRPr lang="en-US" sz="900" dirty="0"/>
          </a:p>
        </p:txBody>
      </p:sp>
      <p:sp>
        <p:nvSpPr>
          <p:cNvPr id="6" name="Text 5"/>
          <p:cNvSpPr txBox="1"/>
          <p:nvPr/>
        </p:nvSpPr>
        <p:spPr>
          <a:xfrm>
            <a:off x="419100" y="519113"/>
            <a:ext cx="9220200" cy="323850"/>
          </a:xfrm>
          <a:prstGeom prst="rect">
            <a:avLst/>
          </a:prstGeom>
          <a:noFill/>
          <a:ln/>
        </p:spPr>
        <p:txBody>
          <a:bodyPr wrap="none" lIns="0" tIns="0" rIns="0" bIns="0" rtlCol="0" anchor="t"/>
          <a:lstStyle/>
          <a:p>
            <a:pPr marL="0" indent="0" algn="l">
              <a:lnSpc>
                <a:spcPts val="2550"/>
              </a:lnSpc>
              <a:buNone/>
            </a:pPr>
            <a:r>
              <a:rPr lang="en-US" sz="2025" kern="0" spc="15" dirty="0">
                <a:solidFill>
                  <a:srgbClr val="1B1A1A"/>
                </a:solidFill>
                <a:latin typeface="Newsreader SemiBold" pitchFamily="34" charset="0"/>
              </a:rPr>
              <a:t>Important Disclosures</a:t>
            </a:r>
            <a:endParaRPr lang="en-US" sz="2025" dirty="0"/>
          </a:p>
        </p:txBody>
      </p:sp>
      <p:sp>
        <p:nvSpPr>
          <p:cNvPr id="7" name="Text 6"/>
          <p:cNvSpPr txBox="1"/>
          <p:nvPr/>
        </p:nvSpPr>
        <p:spPr>
          <a:xfrm>
            <a:off x="419100" y="883444"/>
            <a:ext cx="9220200" cy="176213"/>
          </a:xfrm>
          <a:prstGeom prst="rect">
            <a:avLst/>
          </a:prstGeom>
          <a:noFill/>
          <a:ln/>
        </p:spPr>
        <p:txBody>
          <a:bodyPr wrap="none" lIns="0" tIns="0" rIns="0" bIns="0" rtlCol="0" anchor="t"/>
          <a:lstStyle/>
          <a:p>
            <a:pPr marL="0" indent="0" algn="l">
              <a:lnSpc>
                <a:spcPts val="1388"/>
              </a:lnSpc>
              <a:buNone/>
            </a:pPr>
            <a:r>
              <a:rPr lang="en-US" sz="938" kern="0" spc="15" dirty="0">
                <a:solidFill>
                  <a:srgbClr val="6F6A66"/>
                </a:solidFill>
                <a:latin typeface="Quicksand" pitchFamily="34" charset="0"/>
              </a:rPr>
              <a:t>These disclosures apply to this brief and to the Benchmark Capital Markets sector reports.</a:t>
            </a:r>
            <a:endParaRPr lang="en-US" sz="938" dirty="0"/>
          </a:p>
        </p:txBody>
      </p:sp>
      <p:sp>
        <p:nvSpPr>
          <p:cNvPr id="8" name="Shape 7"/>
          <p:cNvSpPr/>
          <p:nvPr/>
        </p:nvSpPr>
        <p:spPr>
          <a:xfrm>
            <a:off x="419100" y="1143000"/>
            <a:ext cx="9220200" cy="9525"/>
          </a:xfrm>
          <a:prstGeom prst="rect">
            <a:avLst/>
          </a:prstGeom>
          <a:solidFill>
            <a:srgbClr val="E3DCD3"/>
          </a:solidFill>
          <a:ln/>
        </p:spPr>
        <p:txBody>
          <a:bodyPr/>
          <a:lstStyle/>
          <a:p>
            <a:endParaRPr lang="en-US"/>
          </a:p>
        </p:txBody>
      </p:sp>
      <p:sp>
        <p:nvSpPr>
          <p:cNvPr id="9" name="Disclosures text"/>
          <p:cNvSpPr txBox="1"/>
          <p:nvPr/>
        </p:nvSpPr>
        <p:spPr>
          <a:xfrm>
            <a:off x="419100" y="1238250"/>
            <a:ext cx="9277350" cy="4246959"/>
          </a:xfrm>
          <a:prstGeom prst="rect">
            <a:avLst/>
          </a:prstGeom>
          <a:noFill/>
          <a:ln/>
        </p:spPr>
        <p:txBody>
          <a:bodyPr wrap="square" lIns="0" tIns="0" rIns="0" bIns="0" numCol="2" spcCol="342900" rtlCol="0" anchor="t"/>
          <a:lstStyle/>
          <a:p>
            <a:pPr marL="0" indent="0" algn="l">
              <a:lnSpc>
                <a:spcPts val="1290"/>
              </a:lnSpc>
              <a:spcAft>
                <a:spcPts val="825"/>
              </a:spcAft>
              <a:buNone/>
            </a:pPr>
            <a:r>
              <a:rPr lang="en-US" sz="855" kern="0" spc="15" dirty="0">
                <a:solidFill>
                  <a:srgbClr val="333231"/>
                </a:solidFill>
                <a:latin typeface="Quicksand" pitchFamily="34" charset="0"/>
              </a:rPr>
              <a:t>“Benchmark International” refers to the Benchmark International group of companies, which provide merger and acquisition advisory services to business owners through offices around the world. Benchmark Capital Markets (BCM) is part of Benchmark International. Any reference to Benchmark International in this material includes its affiliated companies, as the context requires.</a:t>
            </a:r>
            <a:endParaRPr lang="en-US" sz="855" dirty="0"/>
          </a:p>
          <a:p>
            <a:pPr marL="0" indent="0" algn="l">
              <a:lnSpc>
                <a:spcPts val="1290"/>
              </a:lnSpc>
              <a:spcAft>
                <a:spcPts val="825"/>
              </a:spcAft>
              <a:buNone/>
            </a:pPr>
            <a:r>
              <a:rPr lang="en-US" sz="855" kern="0" spc="15" dirty="0">
                <a:solidFill>
                  <a:srgbClr val="333231"/>
                </a:solidFill>
                <a:latin typeface="Quicksand" pitchFamily="34" charset="0"/>
              </a:rPr>
              <a:t>Benchmark International and its affiliates may have had, may currently have, or may in the future have business relationships with companies named in this material, with potential parties to a transaction and their related persons, or with their competitors, customers or suppliers. When Benchmark International is engaged to provide advisory services in a transaction, it acts only for its client in connection with that transaction.</a:t>
            </a:r>
            <a:endParaRPr lang="en-US" sz="855" dirty="0"/>
          </a:p>
          <a:p>
            <a:pPr marL="0" indent="0" algn="l">
              <a:lnSpc>
                <a:spcPts val="1290"/>
              </a:lnSpc>
              <a:spcAft>
                <a:spcPts val="825"/>
              </a:spcAft>
              <a:buNone/>
            </a:pPr>
            <a:r>
              <a:rPr lang="en-US" sz="855" kern="0" spc="15" dirty="0">
                <a:solidFill>
                  <a:srgbClr val="333231"/>
                </a:solidFill>
                <a:latin typeface="Quicksand" pitchFamily="34" charset="0"/>
              </a:rPr>
              <a:t>The distribution of this material in certain jurisdictions may be restricted by law, and accordingly, recipients of this material represent that they are able to receive it without contravention of any registration requirement or other legal restrictions in the jurisdictions in which they reside or in which they conduct business.</a:t>
            </a:r>
            <a:endParaRPr lang="en-US" sz="855" dirty="0"/>
          </a:p>
          <a:p>
            <a:pPr marL="0" indent="0" algn="l">
              <a:lnSpc>
                <a:spcPts val="1290"/>
              </a:lnSpc>
              <a:spcAft>
                <a:spcPts val="825"/>
              </a:spcAft>
              <a:buNone/>
            </a:pPr>
            <a:r>
              <a:rPr lang="en-US" sz="855" kern="0" spc="15" dirty="0">
                <a:solidFill>
                  <a:srgbClr val="333231"/>
                </a:solidFill>
                <a:latin typeface="Quicksand" pitchFamily="34" charset="0"/>
              </a:rPr>
              <a:t>This material does not contain all the information needed to assess any transaction. You must conduct your own investigations and analyses. Benchmark International does not provide accounting, tax, investment, regulatory or legal advice to anyone. This material is for discussion and informational purposes only and is not a recommendation, offer or solicitation for the purchase or sale of any security or an invitation or inducement to engage in any transaction or investment activity. Benchmark International obtained the information in this material from public filings, company announcements, published reports and other third-party sources, together with its own transaction experience. Benchmark International has not independently verified such information, the information is current only as of the date stated, and no obligation is undertaken to provide updated or additional information. Transaction values, multiples and other figures are as publicly reported, and the price of any private company depends on that business. No representation or warranty, expressed or implied, is made in relation to the fairness, accuracy, correctness or completeness of the information, opinions or conclusions expressed herein. All forward-looking statements herein involve assumptions and elements of subjective judgment and analysis and are not facts. Past transactions are not indicative of future results, and nothing in this material guarantees future results or performance.</a:t>
            </a:r>
            <a:endParaRPr lang="en-US" sz="855" dirty="0"/>
          </a:p>
          <a:p>
            <a:pPr marL="0" indent="0" algn="l">
              <a:lnSpc>
                <a:spcPts val="1290"/>
              </a:lnSpc>
              <a:spcAft>
                <a:spcPts val="825"/>
              </a:spcAft>
              <a:buNone/>
            </a:pPr>
            <a:r>
              <a:rPr lang="en-US" sz="855" kern="0" spc="15" dirty="0">
                <a:solidFill>
                  <a:srgbClr val="333231"/>
                </a:solidFill>
                <a:latin typeface="Quicksand" pitchFamily="34" charset="0"/>
              </a:rPr>
              <a:t>Company names, logos and trademarks referenced in this material are the property of their respective owners and are used for identification only. Their use does not imply any affiliation with or endorsement by those owners.</a:t>
            </a:r>
            <a:endParaRPr lang="en-US" sz="855" dirty="0"/>
          </a:p>
          <a:p>
            <a:pPr marL="0" indent="0" algn="l">
              <a:lnSpc>
                <a:spcPts val="1290"/>
              </a:lnSpc>
              <a:spcAft>
                <a:spcPts val="825"/>
              </a:spcAft>
              <a:buNone/>
            </a:pPr>
            <a:r>
              <a:rPr lang="en-US" sz="855" kern="0" spc="15" dirty="0">
                <a:solidFill>
                  <a:srgbClr val="333231"/>
                </a:solidFill>
                <a:latin typeface="Quicksand" pitchFamily="34" charset="0"/>
              </a:rPr>
              <a:t>This material is only being distributed to, and only made available to, and directed at: (a) persons who are outside the United Kingdom; (b) persons in the United Kingdom who have professional experience in matters relating to investments falling within Article 19(5) of the UK Financial Services and Markets Act 2000 (Financial Promotion) Order 2005, as amended (the “Order”); (c) high net worth entities and other persons to whom it may otherwise lawfully be communicated falling within Article 49(2)(a) to (d) of the Order; or (d) any other person to whom this material may otherwise lawfully be communicated or caused to be communicated (all such persons in (b) to (d) together being referred to as “Relevant Persons”). This material must not be acted on or relied on by persons in the United Kingdom who are not Relevant Persons. In the United Kingdom, any investment or investment activity to which this material relates is only available to, and will be engaged with, Relevant Persons.</a:t>
            </a:r>
            <a:endParaRPr lang="en-US" sz="855" dirty="0"/>
          </a:p>
        </p:txBody>
      </p:sp>
      <p:sp>
        <p:nvSpPr>
          <p:cNvPr id="10" name="Shape 9"/>
          <p:cNvSpPr/>
          <p:nvPr/>
        </p:nvSpPr>
        <p:spPr>
          <a:xfrm>
            <a:off x="419100" y="7029450"/>
            <a:ext cx="9220200" cy="9525"/>
          </a:xfrm>
          <a:prstGeom prst="rect">
            <a:avLst/>
          </a:prstGeom>
          <a:solidFill>
            <a:srgbClr val="E3DCD3"/>
          </a:solidFill>
          <a:ln/>
        </p:spPr>
        <p:txBody>
          <a:bodyPr/>
          <a:lstStyle/>
          <a:p>
            <a:endParaRPr lang="en-US"/>
          </a:p>
        </p:txBody>
      </p:sp>
      <p:pic>
        <p:nvPicPr>
          <p:cNvPr id="11" name="Benchmark International" descr="Benchmark International"/>
          <p:cNvPicPr>
            <a:picLocks noChangeAspect="1"/>
          </p:cNvPicPr>
          <p:nvPr/>
        </p:nvPicPr>
        <p:blipFill>
          <a:blip r:embed="rId3"/>
          <a:stretch>
            <a:fillRect/>
          </a:stretch>
        </p:blipFill>
        <p:spPr>
          <a:xfrm>
            <a:off x="419100" y="7143750"/>
            <a:ext cx="914400" cy="171450"/>
          </a:xfrm>
          <a:prstGeom prst="rect">
            <a:avLst/>
          </a:prstGeom>
        </p:spPr>
      </p:pic>
      <p:sp>
        <p:nvSpPr>
          <p:cNvPr id="12" name="Text 11"/>
          <p:cNvSpPr txBox="1"/>
          <p:nvPr/>
        </p:nvSpPr>
        <p:spPr>
          <a:xfrm>
            <a:off x="1543050" y="7098506"/>
            <a:ext cx="7620000" cy="119063"/>
          </a:xfrm>
          <a:prstGeom prst="rect">
            <a:avLst/>
          </a:prstGeom>
          <a:noFill/>
          <a:ln/>
        </p:spPr>
        <p:txBody>
          <a:bodyPr wrap="none" lIns="0" tIns="0" rIns="0" bIns="0" rtlCol="0" anchor="t"/>
          <a:lstStyle/>
          <a:p>
            <a:pPr marL="0" indent="0" algn="l">
              <a:lnSpc>
                <a:spcPts val="938"/>
              </a:lnSpc>
              <a:buNone/>
            </a:pPr>
            <a:r>
              <a:rPr lang="en-US" sz="675" kern="0" spc="15" dirty="0">
                <a:solidFill>
                  <a:srgbClr val="6F6A66"/>
                </a:solidFill>
                <a:latin typeface="Quicksand" pitchFamily="34" charset="0"/>
              </a:rPr>
              <a:t>Information in this brief is as of October 7, 2026 unless stated otherwise.</a:t>
            </a:r>
            <a:endParaRPr lang="en-US" sz="675" dirty="0"/>
          </a:p>
        </p:txBody>
      </p:sp>
      <p:sp>
        <p:nvSpPr>
          <p:cNvPr id="13" name="Text 12"/>
          <p:cNvSpPr txBox="1"/>
          <p:nvPr/>
        </p:nvSpPr>
        <p:spPr>
          <a:xfrm>
            <a:off x="9514433" y="7162800"/>
            <a:ext cx="182017" cy="133350"/>
          </a:xfrm>
          <a:prstGeom prst="rect">
            <a:avLst/>
          </a:prstGeom>
          <a:noFill/>
          <a:ln/>
        </p:spPr>
        <p:txBody>
          <a:bodyPr wrap="none" lIns="0" tIns="0" rIns="0" bIns="0" rtlCol="0" anchor="t"/>
          <a:lstStyle/>
          <a:p>
            <a:pPr marL="0" indent="0" algn="l">
              <a:lnSpc>
                <a:spcPts val="1050"/>
              </a:lnSpc>
              <a:buNone/>
            </a:pPr>
            <a:r>
              <a:rPr lang="en-US" sz="713" b="1" kern="0" spc="150" dirty="0">
                <a:solidFill>
                  <a:srgbClr val="1B1A1A"/>
                </a:solidFill>
                <a:latin typeface="Quicksand" pitchFamily="34" charset="0"/>
              </a:rPr>
              <a:t>21</a:t>
            </a:r>
            <a:endParaRPr lang="en-US" sz="713"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1"/>
          <p:cNvSpPr/>
          <p:nvPr/>
        </p:nvSpPr>
        <p:spPr>
          <a:xfrm>
            <a:off x="0" y="0"/>
            <a:ext cx="10058400" cy="7772400"/>
          </a:xfrm>
          <a:prstGeom prst="rect">
            <a:avLst/>
          </a:prstGeom>
          <a:solidFill>
            <a:srgbClr val="FFFFFF"/>
          </a:solidFill>
          <a:ln/>
        </p:spPr>
        <p:txBody>
          <a:bodyPr/>
          <a:lstStyle/>
          <a:p>
            <a:endParaRPr lang="en-US"/>
          </a:p>
        </p:txBody>
      </p:sp>
      <p:sp>
        <p:nvSpPr>
          <p:cNvPr id="3" name="Shape 2"/>
          <p:cNvSpPr/>
          <p:nvPr/>
        </p:nvSpPr>
        <p:spPr>
          <a:xfrm>
            <a:off x="0" y="0"/>
            <a:ext cx="57150" cy="7772400"/>
          </a:xfrm>
          <a:prstGeom prst="rect">
            <a:avLst/>
          </a:prstGeom>
          <a:solidFill>
            <a:srgbClr val="B68757"/>
          </a:solidFill>
          <a:ln/>
        </p:spPr>
        <p:txBody>
          <a:bodyPr/>
          <a:lstStyle/>
          <a:p>
            <a:endParaRPr lang="en-US"/>
          </a:p>
        </p:txBody>
      </p:sp>
      <p:sp>
        <p:nvSpPr>
          <p:cNvPr id="4" name="Text 3"/>
          <p:cNvSpPr txBox="1"/>
          <p:nvPr/>
        </p:nvSpPr>
        <p:spPr>
          <a:xfrm>
            <a:off x="419100" y="376238"/>
            <a:ext cx="2618929" cy="133350"/>
          </a:xfrm>
          <a:prstGeom prst="rect">
            <a:avLst/>
          </a:prstGeom>
          <a:noFill/>
          <a:ln/>
        </p:spPr>
        <p:txBody>
          <a:bodyPr wrap="none" lIns="0" tIns="0" rIns="0" bIns="0" rtlCol="0" anchor="t"/>
          <a:lstStyle/>
          <a:p>
            <a:pPr marL="0" indent="0" algn="l">
              <a:lnSpc>
                <a:spcPts val="1050"/>
              </a:lnSpc>
              <a:buNone/>
            </a:pPr>
            <a:r>
              <a:rPr lang="en-US" sz="675" b="1" kern="0" spc="195" dirty="0">
                <a:solidFill>
                  <a:srgbClr val="8C6239"/>
                </a:solidFill>
                <a:latin typeface="Quicksand" pitchFamily="34" charset="0"/>
              </a:rPr>
              <a:t>CONSUMER  |  QUARTERLY SECTOR BRIEF</a:t>
            </a:r>
            <a:endParaRPr lang="en-US" sz="675" dirty="0"/>
          </a:p>
        </p:txBody>
      </p:sp>
      <p:sp>
        <p:nvSpPr>
          <p:cNvPr id="5" name="Text 4"/>
          <p:cNvSpPr txBox="1"/>
          <p:nvPr/>
        </p:nvSpPr>
        <p:spPr>
          <a:xfrm>
            <a:off x="9112597" y="381000"/>
            <a:ext cx="583853" cy="171450"/>
          </a:xfrm>
          <a:prstGeom prst="rect">
            <a:avLst/>
          </a:prstGeom>
          <a:noFill/>
          <a:ln/>
        </p:spPr>
        <p:txBody>
          <a:bodyPr wrap="none" lIns="0" tIns="0" rIns="0" bIns="0" rtlCol="0" anchor="t"/>
          <a:lstStyle/>
          <a:p>
            <a:pPr marL="0" indent="0" algn="l">
              <a:lnSpc>
                <a:spcPts val="1350"/>
              </a:lnSpc>
              <a:buNone/>
            </a:pPr>
            <a:r>
              <a:rPr lang="en-US" sz="900" kern="0" spc="90" dirty="0">
                <a:solidFill>
                  <a:srgbClr val="6F6A66"/>
                </a:solidFill>
                <a:latin typeface="Cinzel" pitchFamily="34" charset="0"/>
              </a:rPr>
              <a:t>Q4 2026</a:t>
            </a:r>
            <a:endParaRPr lang="en-US" sz="900" dirty="0"/>
          </a:p>
        </p:txBody>
      </p:sp>
      <p:sp>
        <p:nvSpPr>
          <p:cNvPr id="6" name="Text 5"/>
          <p:cNvSpPr txBox="1"/>
          <p:nvPr/>
        </p:nvSpPr>
        <p:spPr>
          <a:xfrm>
            <a:off x="419100" y="519113"/>
            <a:ext cx="9220200" cy="323850"/>
          </a:xfrm>
          <a:prstGeom prst="rect">
            <a:avLst/>
          </a:prstGeom>
          <a:noFill/>
          <a:ln/>
        </p:spPr>
        <p:txBody>
          <a:bodyPr wrap="none" lIns="0" tIns="0" rIns="0" bIns="0" rtlCol="0" anchor="t"/>
          <a:lstStyle/>
          <a:p>
            <a:pPr marL="0" indent="0" algn="l">
              <a:lnSpc>
                <a:spcPts val="2550"/>
              </a:lnSpc>
              <a:buNone/>
            </a:pPr>
            <a:r>
              <a:rPr lang="en-US" sz="2025" kern="0" spc="15" dirty="0">
                <a:solidFill>
                  <a:srgbClr val="1B1A1A"/>
                </a:solidFill>
                <a:latin typeface="Newsreader SemiBold" pitchFamily="34" charset="0"/>
              </a:rPr>
              <a:t>Sources</a:t>
            </a:r>
            <a:endParaRPr lang="en-US" sz="2025" dirty="0"/>
          </a:p>
        </p:txBody>
      </p:sp>
      <p:sp>
        <p:nvSpPr>
          <p:cNvPr id="7" name="Text 6"/>
          <p:cNvSpPr txBox="1"/>
          <p:nvPr/>
        </p:nvSpPr>
        <p:spPr>
          <a:xfrm>
            <a:off x="419100" y="883444"/>
            <a:ext cx="9220200" cy="176213"/>
          </a:xfrm>
          <a:prstGeom prst="rect">
            <a:avLst/>
          </a:prstGeom>
          <a:noFill/>
          <a:ln/>
        </p:spPr>
        <p:txBody>
          <a:bodyPr wrap="none" lIns="0" tIns="0" rIns="0" bIns="0" rtlCol="0" anchor="t"/>
          <a:lstStyle/>
          <a:p>
            <a:pPr marL="0" indent="0" algn="l">
              <a:lnSpc>
                <a:spcPts val="1388"/>
              </a:lnSpc>
              <a:buNone/>
            </a:pPr>
            <a:r>
              <a:rPr lang="en-US" sz="938" kern="0" spc="15" dirty="0">
                <a:solidFill>
                  <a:srgbClr val="6F6A66"/>
                </a:solidFill>
                <a:latin typeface="Quicksand" pitchFamily="34" charset="0"/>
              </a:rPr>
              <a:t>Every figure in this brief links to the page it came from, and the same links are collected here by section.</a:t>
            </a:r>
            <a:endParaRPr lang="en-US" sz="938" dirty="0"/>
          </a:p>
        </p:txBody>
      </p:sp>
      <p:sp>
        <p:nvSpPr>
          <p:cNvPr id="8" name="Shape 7"/>
          <p:cNvSpPr/>
          <p:nvPr/>
        </p:nvSpPr>
        <p:spPr>
          <a:xfrm>
            <a:off x="419100" y="1143000"/>
            <a:ext cx="9220200" cy="9525"/>
          </a:xfrm>
          <a:prstGeom prst="rect">
            <a:avLst/>
          </a:prstGeom>
          <a:solidFill>
            <a:srgbClr val="E3DCD3"/>
          </a:solidFill>
          <a:ln/>
        </p:spPr>
        <p:txBody>
          <a:bodyPr/>
          <a:lstStyle/>
          <a:p>
            <a:endParaRPr lang="en-US"/>
          </a:p>
        </p:txBody>
      </p:sp>
      <p:sp>
        <p:nvSpPr>
          <p:cNvPr id="9" name="Disclosures text"/>
          <p:cNvSpPr txBox="1"/>
          <p:nvPr/>
        </p:nvSpPr>
        <p:spPr>
          <a:xfrm>
            <a:off x="419100" y="1238250"/>
            <a:ext cx="9277350" cy="5695950"/>
          </a:xfrm>
          <a:prstGeom prst="rect">
            <a:avLst/>
          </a:prstGeom>
          <a:noFill/>
          <a:ln/>
        </p:spPr>
        <p:txBody>
          <a:bodyPr wrap="square" lIns="0" tIns="0" rIns="0" bIns="0" numCol="4" spcCol="190500" rtlCol="0" anchor="t"/>
          <a:lstStyle/>
          <a:p>
            <a:pPr marL="0" indent="0" algn="l">
              <a:lnSpc>
                <a:spcPts val="923"/>
              </a:lnSpc>
              <a:buNone/>
            </a:pPr>
            <a:r>
              <a:rPr lang="en-US" sz="668" u="sng" kern="0" spc="15" dirty="0">
                <a:solidFill>
                  <a:srgbClr val="8C6239"/>
                </a:solidFill>
                <a:latin typeface="Quicksand" pitchFamily="34" charset="0"/>
                <a:hlinkClick r:id="rId3">
                  <a:extLst>
                    <a:ext uri="{A12FA001-AC4F-418D-AE19-62706E023703}">
                      <ahyp:hlinkClr xmlns:ahyp="http://schemas.microsoft.com/office/drawing/2018/hyperlinkcolor" val="tx"/>
                    </a:ext>
                  </a:extLst>
                </a:hlinkClick>
              </a:rPr>
              <a:t>Hershey</a:t>
            </a:r>
            <a:r>
              <a:rPr lang="en-US" sz="668" kern="0" spc="15" dirty="0">
                <a:solidFill>
                  <a:srgbClr val="333231"/>
                </a:solidFill>
                <a:latin typeface="Quicksand" pitchFamily="34" charset="0"/>
              </a:rPr>
              <a:t> </a:t>
            </a:r>
            <a:r>
              <a:rPr lang="en-US" sz="668" kern="0" spc="15" dirty="0">
                <a:solidFill>
                  <a:srgbClr val="6F6A66"/>
                </a:solidFill>
                <a:latin typeface="Quicksand" pitchFamily="34" charset="0"/>
              </a:rPr>
              <a:t>sec.gov</a:t>
            </a:r>
            <a:endParaRPr lang="en-US" sz="668" dirty="0"/>
          </a:p>
          <a:p>
            <a:pPr marL="0" indent="0" algn="l">
              <a:lnSpc>
                <a:spcPts val="923"/>
              </a:lnSpc>
              <a:buNone/>
            </a:pPr>
            <a:r>
              <a:rPr lang="en-US" sz="668" u="sng" kern="0" spc="15" dirty="0">
                <a:solidFill>
                  <a:srgbClr val="8C6239"/>
                </a:solidFill>
                <a:latin typeface="Quicksand" pitchFamily="34" charset="0"/>
                <a:hlinkClick r:id="rId4">
                  <a:extLst>
                    <a:ext uri="{A12FA001-AC4F-418D-AE19-62706E023703}">
                      <ahyp:hlinkClr xmlns:ahyp="http://schemas.microsoft.com/office/drawing/2018/hyperlinkcolor" val="tx"/>
                    </a:ext>
                  </a:extLst>
                </a:hlinkClick>
              </a:rPr>
              <a:t>Church &amp; Dwight</a:t>
            </a:r>
            <a:r>
              <a:rPr lang="en-US" sz="668" kern="0" spc="15" dirty="0">
                <a:solidFill>
                  <a:srgbClr val="333231"/>
                </a:solidFill>
                <a:latin typeface="Quicksand" pitchFamily="34" charset="0"/>
              </a:rPr>
              <a:t> </a:t>
            </a:r>
            <a:r>
              <a:rPr lang="en-US" sz="668" kern="0" spc="15" dirty="0">
                <a:solidFill>
                  <a:srgbClr val="6F6A66"/>
                </a:solidFill>
                <a:latin typeface="Quicksand" pitchFamily="34" charset="0"/>
              </a:rPr>
              <a:t>sec.gov</a:t>
            </a:r>
            <a:endParaRPr lang="en-US" sz="668" dirty="0"/>
          </a:p>
          <a:p>
            <a:pPr marL="0" indent="0" algn="l">
              <a:lnSpc>
                <a:spcPts val="923"/>
              </a:lnSpc>
              <a:buNone/>
            </a:pPr>
            <a:r>
              <a:rPr lang="en-US" sz="668" u="sng" kern="0" spc="15" dirty="0">
                <a:solidFill>
                  <a:srgbClr val="8C6239"/>
                </a:solidFill>
                <a:latin typeface="Quicksand" pitchFamily="34" charset="0"/>
                <a:hlinkClick r:id="rId5">
                  <a:extLst>
                    <a:ext uri="{A12FA001-AC4F-418D-AE19-62706E023703}">
                      <ahyp:hlinkClr xmlns:ahyp="http://schemas.microsoft.com/office/drawing/2018/hyperlinkcolor" val="tx"/>
                    </a:ext>
                  </a:extLst>
                </a:hlinkClick>
              </a:rPr>
              <a:t>General Mills</a:t>
            </a:r>
            <a:r>
              <a:rPr lang="en-US" sz="668" kern="0" spc="15" dirty="0">
                <a:solidFill>
                  <a:srgbClr val="333231"/>
                </a:solidFill>
                <a:latin typeface="Quicksand" pitchFamily="34" charset="0"/>
              </a:rPr>
              <a:t> </a:t>
            </a:r>
            <a:r>
              <a:rPr lang="en-US" sz="668" kern="0" spc="15" dirty="0">
                <a:solidFill>
                  <a:srgbClr val="6F6A66"/>
                </a:solidFill>
                <a:latin typeface="Quicksand" pitchFamily="34" charset="0"/>
              </a:rPr>
              <a:t>sec.gov</a:t>
            </a:r>
            <a:endParaRPr lang="en-US" sz="668" dirty="0"/>
          </a:p>
          <a:p>
            <a:pPr marL="0" indent="0" algn="l">
              <a:lnSpc>
                <a:spcPts val="923"/>
              </a:lnSpc>
              <a:buNone/>
            </a:pPr>
            <a:r>
              <a:rPr lang="en-US" sz="668" u="sng" kern="0" spc="15" dirty="0">
                <a:solidFill>
                  <a:srgbClr val="8C6239"/>
                </a:solidFill>
                <a:latin typeface="Quicksand" pitchFamily="34" charset="0"/>
                <a:hlinkClick r:id="rId6">
                  <a:extLst>
                    <a:ext uri="{A12FA001-AC4F-418D-AE19-62706E023703}">
                      <ahyp:hlinkClr xmlns:ahyp="http://schemas.microsoft.com/office/drawing/2018/hyperlinkcolor" val="tx"/>
                    </a:ext>
                  </a:extLst>
                </a:hlinkClick>
              </a:rPr>
              <a:t>Private Label Manufacturers Association</a:t>
            </a:r>
            <a:r>
              <a:rPr lang="en-US" sz="668" kern="0" spc="15" dirty="0">
                <a:solidFill>
                  <a:srgbClr val="333231"/>
                </a:solidFill>
                <a:latin typeface="Quicksand" pitchFamily="34" charset="0"/>
              </a:rPr>
              <a:t> </a:t>
            </a:r>
            <a:r>
              <a:rPr lang="en-US" sz="668" kern="0" spc="15" dirty="0">
                <a:solidFill>
                  <a:srgbClr val="6F6A66"/>
                </a:solidFill>
                <a:latin typeface="Quicksand" pitchFamily="34" charset="0"/>
              </a:rPr>
              <a:t>plma.com</a:t>
            </a:r>
            <a:endParaRPr lang="en-US" sz="668" dirty="0"/>
          </a:p>
          <a:p>
            <a:pPr marL="0" indent="0" algn="l">
              <a:lnSpc>
                <a:spcPts val="923"/>
              </a:lnSpc>
              <a:buNone/>
            </a:pPr>
            <a:r>
              <a:rPr lang="en-US" sz="668" u="sng" kern="0" spc="15" dirty="0">
                <a:solidFill>
                  <a:srgbClr val="8C6239"/>
                </a:solidFill>
                <a:latin typeface="Quicksand" pitchFamily="34" charset="0"/>
                <a:hlinkClick r:id="rId7">
                  <a:extLst>
                    <a:ext uri="{A12FA001-AC4F-418D-AE19-62706E023703}">
                      <ahyp:hlinkClr xmlns:ahyp="http://schemas.microsoft.com/office/drawing/2018/hyperlinkcolor" val="tx"/>
                    </a:ext>
                  </a:extLst>
                </a:hlinkClick>
              </a:rPr>
              <a:t>Census Bureau</a:t>
            </a:r>
            <a:r>
              <a:rPr lang="en-US" sz="668" kern="0" spc="15" dirty="0">
                <a:solidFill>
                  <a:srgbClr val="333231"/>
                </a:solidFill>
                <a:latin typeface="Quicksand" pitchFamily="34" charset="0"/>
              </a:rPr>
              <a:t> </a:t>
            </a:r>
            <a:r>
              <a:rPr lang="en-US" sz="668" kern="0" spc="15" dirty="0">
                <a:solidFill>
                  <a:srgbClr val="6F6A66"/>
                </a:solidFill>
                <a:latin typeface="Quicksand" pitchFamily="34" charset="0"/>
              </a:rPr>
              <a:t>census.gov</a:t>
            </a:r>
            <a:endParaRPr lang="en-US" sz="668" dirty="0"/>
          </a:p>
          <a:p>
            <a:pPr marL="0" indent="0" algn="l">
              <a:lnSpc>
                <a:spcPts val="923"/>
              </a:lnSpc>
              <a:buNone/>
            </a:pPr>
            <a:r>
              <a:rPr lang="en-US" sz="668" u="sng" kern="0" spc="15" dirty="0">
                <a:solidFill>
                  <a:srgbClr val="8C6239"/>
                </a:solidFill>
                <a:latin typeface="Quicksand" pitchFamily="34" charset="0"/>
                <a:hlinkClick r:id="rId8">
                  <a:extLst>
                    <a:ext uri="{A12FA001-AC4F-418D-AE19-62706E023703}">
                      <ahyp:hlinkClr xmlns:ahyp="http://schemas.microsoft.com/office/drawing/2018/hyperlinkcolor" val="tx"/>
                    </a:ext>
                  </a:extLst>
                </a:hlinkClick>
              </a:rPr>
              <a:t>Walmart</a:t>
            </a:r>
            <a:r>
              <a:rPr lang="en-US" sz="668" kern="0" spc="15" dirty="0">
                <a:solidFill>
                  <a:srgbClr val="333231"/>
                </a:solidFill>
                <a:latin typeface="Quicksand" pitchFamily="34" charset="0"/>
              </a:rPr>
              <a:t> </a:t>
            </a:r>
            <a:r>
              <a:rPr lang="en-US" sz="668" kern="0" spc="15" dirty="0">
                <a:solidFill>
                  <a:srgbClr val="6F6A66"/>
                </a:solidFill>
                <a:latin typeface="Quicksand" pitchFamily="34" charset="0"/>
              </a:rPr>
              <a:t>sec.gov</a:t>
            </a:r>
            <a:endParaRPr lang="en-US" sz="668" dirty="0"/>
          </a:p>
          <a:p>
            <a:pPr marL="0" indent="0" algn="l">
              <a:lnSpc>
                <a:spcPts val="923"/>
              </a:lnSpc>
              <a:buNone/>
            </a:pPr>
            <a:r>
              <a:rPr lang="en-US" sz="668" u="sng" kern="0" spc="15" dirty="0">
                <a:solidFill>
                  <a:srgbClr val="8C6239"/>
                </a:solidFill>
                <a:latin typeface="Quicksand" pitchFamily="34" charset="0"/>
                <a:hlinkClick r:id="rId9">
                  <a:extLst>
                    <a:ext uri="{A12FA001-AC4F-418D-AE19-62706E023703}">
                      <ahyp:hlinkClr xmlns:ahyp="http://schemas.microsoft.com/office/drawing/2018/hyperlinkcolor" val="tx"/>
                    </a:ext>
                  </a:extLst>
                </a:hlinkClick>
              </a:rPr>
              <a:t>YETI</a:t>
            </a:r>
            <a:r>
              <a:rPr lang="en-US" sz="668" kern="0" spc="15" dirty="0">
                <a:solidFill>
                  <a:srgbClr val="333231"/>
                </a:solidFill>
                <a:latin typeface="Quicksand" pitchFamily="34" charset="0"/>
              </a:rPr>
              <a:t> </a:t>
            </a:r>
            <a:r>
              <a:rPr lang="en-US" sz="668" kern="0" spc="15" dirty="0">
                <a:solidFill>
                  <a:srgbClr val="6F6A66"/>
                </a:solidFill>
                <a:latin typeface="Quicksand" pitchFamily="34" charset="0"/>
              </a:rPr>
              <a:t>sec.gov</a:t>
            </a:r>
            <a:endParaRPr lang="en-US" sz="668" dirty="0"/>
          </a:p>
          <a:p>
            <a:pPr marL="0" indent="0" algn="l">
              <a:lnSpc>
                <a:spcPts val="923"/>
              </a:lnSpc>
              <a:buNone/>
            </a:pPr>
            <a:r>
              <a:rPr lang="en-US" sz="668" u="sng" kern="0" spc="15" dirty="0">
                <a:solidFill>
                  <a:srgbClr val="8C6239"/>
                </a:solidFill>
                <a:latin typeface="Quicksand" pitchFamily="34" charset="0"/>
                <a:hlinkClick r:id="rId10">
                  <a:extLst>
                    <a:ext uri="{A12FA001-AC4F-418D-AE19-62706E023703}">
                      <ahyp:hlinkClr xmlns:ahyp="http://schemas.microsoft.com/office/drawing/2018/hyperlinkcolor" val="tx"/>
                    </a:ext>
                  </a:extLst>
                </a:hlinkClick>
              </a:rPr>
              <a:t>Kimberly-Clark and Kenvue</a:t>
            </a:r>
            <a:r>
              <a:rPr lang="en-US" sz="668" kern="0" spc="15" dirty="0">
                <a:solidFill>
                  <a:srgbClr val="333231"/>
                </a:solidFill>
                <a:latin typeface="Quicksand" pitchFamily="34" charset="0"/>
              </a:rPr>
              <a:t> </a:t>
            </a:r>
            <a:r>
              <a:rPr lang="en-US" sz="668" kern="0" spc="15" dirty="0">
                <a:solidFill>
                  <a:srgbClr val="6F6A66"/>
                </a:solidFill>
                <a:latin typeface="Quicksand" pitchFamily="34" charset="0"/>
              </a:rPr>
              <a:t>sec.gov</a:t>
            </a:r>
            <a:endParaRPr lang="en-US" sz="668" dirty="0"/>
          </a:p>
          <a:p>
            <a:pPr marL="0" indent="0" algn="l">
              <a:lnSpc>
                <a:spcPts val="923"/>
              </a:lnSpc>
              <a:buNone/>
            </a:pPr>
            <a:r>
              <a:rPr lang="en-US" sz="668" u="sng" kern="0" spc="15" dirty="0">
                <a:solidFill>
                  <a:srgbClr val="8C6239"/>
                </a:solidFill>
                <a:latin typeface="Quicksand" pitchFamily="34" charset="0"/>
                <a:hlinkClick r:id="rId11">
                  <a:extLst>
                    <a:ext uri="{A12FA001-AC4F-418D-AE19-62706E023703}">
                      <ahyp:hlinkClr xmlns:ahyp="http://schemas.microsoft.com/office/drawing/2018/hyperlinkcolor" val="tx"/>
                    </a:ext>
                  </a:extLst>
                </a:hlinkClick>
              </a:rPr>
              <a:t>McCormick and Unilever's food business</a:t>
            </a:r>
            <a:r>
              <a:rPr lang="en-US" sz="668" kern="0" spc="15" dirty="0">
                <a:solidFill>
                  <a:srgbClr val="333231"/>
                </a:solidFill>
                <a:latin typeface="Quicksand" pitchFamily="34" charset="0"/>
              </a:rPr>
              <a:t> </a:t>
            </a:r>
            <a:r>
              <a:rPr lang="en-US" sz="668" kern="0" spc="15" dirty="0">
                <a:solidFill>
                  <a:srgbClr val="6F6A66"/>
                </a:solidFill>
                <a:latin typeface="Quicksand" pitchFamily="34" charset="0"/>
              </a:rPr>
              <a:t>foodbusinessnews.net</a:t>
            </a:r>
            <a:endParaRPr lang="en-US" sz="668" dirty="0"/>
          </a:p>
          <a:p>
            <a:pPr marL="0" indent="0" algn="l">
              <a:lnSpc>
                <a:spcPts val="923"/>
              </a:lnSpc>
              <a:buNone/>
            </a:pPr>
            <a:r>
              <a:rPr lang="en-US" sz="668" u="sng" kern="0" spc="15" dirty="0">
                <a:solidFill>
                  <a:srgbClr val="8C6239"/>
                </a:solidFill>
                <a:latin typeface="Quicksand" pitchFamily="34" charset="0"/>
                <a:hlinkClick r:id="rId12">
                  <a:extLst>
                    <a:ext uri="{A12FA001-AC4F-418D-AE19-62706E023703}">
                      <ahyp:hlinkClr xmlns:ahyp="http://schemas.microsoft.com/office/drawing/2018/hyperlinkcolor" val="tx"/>
                    </a:ext>
                  </a:extLst>
                </a:hlinkClick>
              </a:rPr>
              <a:t>Sysco and Jetro Restaurant Depot</a:t>
            </a:r>
            <a:r>
              <a:rPr lang="en-US" sz="668" kern="0" spc="15" dirty="0">
                <a:solidFill>
                  <a:srgbClr val="333231"/>
                </a:solidFill>
                <a:latin typeface="Quicksand" pitchFamily="34" charset="0"/>
              </a:rPr>
              <a:t> </a:t>
            </a:r>
            <a:r>
              <a:rPr lang="en-US" sz="668" kern="0" spc="15" dirty="0">
                <a:solidFill>
                  <a:srgbClr val="6F6A66"/>
                </a:solidFill>
                <a:latin typeface="Quicksand" pitchFamily="34" charset="0"/>
              </a:rPr>
              <a:t>investors.sysco.com</a:t>
            </a:r>
            <a:endParaRPr lang="en-US" sz="668" dirty="0"/>
          </a:p>
          <a:p>
            <a:pPr marL="0" indent="0" algn="l">
              <a:lnSpc>
                <a:spcPts val="923"/>
              </a:lnSpc>
              <a:buNone/>
            </a:pPr>
            <a:r>
              <a:rPr lang="en-US" sz="668" u="sng" kern="0" spc="15" dirty="0">
                <a:solidFill>
                  <a:srgbClr val="8C6239"/>
                </a:solidFill>
                <a:latin typeface="Quicksand" pitchFamily="34" charset="0"/>
                <a:hlinkClick r:id="rId13">
                  <a:extLst>
                    <a:ext uri="{A12FA001-AC4F-418D-AE19-62706E023703}">
                      <ahyp:hlinkClr xmlns:ahyp="http://schemas.microsoft.com/office/drawing/2018/hyperlinkcolor" val="tx"/>
                    </a:ext>
                  </a:extLst>
                </a:hlinkClick>
              </a:rPr>
              <a:t>Keurig Dr Pepper</a:t>
            </a:r>
            <a:r>
              <a:rPr lang="en-US" sz="668" kern="0" spc="15" dirty="0">
                <a:solidFill>
                  <a:srgbClr val="333231"/>
                </a:solidFill>
                <a:latin typeface="Quicksand" pitchFamily="34" charset="0"/>
              </a:rPr>
              <a:t> </a:t>
            </a:r>
            <a:r>
              <a:rPr lang="en-US" sz="668" kern="0" spc="15" dirty="0">
                <a:solidFill>
                  <a:srgbClr val="6F6A66"/>
                </a:solidFill>
                <a:latin typeface="Quicksand" pitchFamily="34" charset="0"/>
              </a:rPr>
              <a:t>sec.gov</a:t>
            </a:r>
            <a:endParaRPr lang="en-US" sz="668" dirty="0"/>
          </a:p>
          <a:p>
            <a:pPr marL="0" indent="0" algn="l">
              <a:lnSpc>
                <a:spcPts val="923"/>
              </a:lnSpc>
              <a:buNone/>
            </a:pPr>
            <a:r>
              <a:rPr lang="en-US" sz="668" u="sng" kern="0" spc="15" dirty="0">
                <a:solidFill>
                  <a:srgbClr val="8C6239"/>
                </a:solidFill>
                <a:latin typeface="Quicksand" pitchFamily="34" charset="0"/>
                <a:hlinkClick r:id="rId14">
                  <a:extLst>
                    <a:ext uri="{A12FA001-AC4F-418D-AE19-62706E023703}">
                      <ahyp:hlinkClr xmlns:ahyp="http://schemas.microsoft.com/office/drawing/2018/hyperlinkcolor" val="tx"/>
                    </a:ext>
                  </a:extLst>
                </a:hlinkClick>
              </a:rPr>
              <a:t>Middleby</a:t>
            </a:r>
            <a:r>
              <a:rPr lang="en-US" sz="668" kern="0" spc="15" dirty="0">
                <a:solidFill>
                  <a:srgbClr val="333231"/>
                </a:solidFill>
                <a:latin typeface="Quicksand" pitchFamily="34" charset="0"/>
              </a:rPr>
              <a:t> </a:t>
            </a:r>
            <a:r>
              <a:rPr lang="en-US" sz="668" kern="0" spc="15" dirty="0">
                <a:solidFill>
                  <a:srgbClr val="6F6A66"/>
                </a:solidFill>
                <a:latin typeface="Quicksand" pitchFamily="34" charset="0"/>
              </a:rPr>
              <a:t>sec.gov</a:t>
            </a:r>
            <a:endParaRPr lang="en-US" sz="668" dirty="0"/>
          </a:p>
          <a:p>
            <a:pPr marL="0" indent="0" algn="l">
              <a:lnSpc>
                <a:spcPts val="923"/>
              </a:lnSpc>
              <a:buNone/>
            </a:pPr>
            <a:r>
              <a:rPr lang="en-US" sz="668" u="sng" kern="0" spc="15" dirty="0">
                <a:solidFill>
                  <a:srgbClr val="8C6239"/>
                </a:solidFill>
                <a:latin typeface="Quicksand" pitchFamily="34" charset="0"/>
                <a:hlinkClick r:id="rId15">
                  <a:extLst>
                    <a:ext uri="{A12FA001-AC4F-418D-AE19-62706E023703}">
                      <ahyp:hlinkClr xmlns:ahyp="http://schemas.microsoft.com/office/drawing/2018/hyperlinkcolor" val="tx"/>
                    </a:ext>
                  </a:extLst>
                </a:hlinkClick>
              </a:rPr>
              <a:t>PitchBook</a:t>
            </a:r>
            <a:r>
              <a:rPr lang="en-US" sz="668" kern="0" spc="15" dirty="0">
                <a:solidFill>
                  <a:srgbClr val="333231"/>
                </a:solidFill>
                <a:latin typeface="Quicksand" pitchFamily="34" charset="0"/>
              </a:rPr>
              <a:t> </a:t>
            </a:r>
            <a:r>
              <a:rPr lang="en-US" sz="668" kern="0" spc="15" dirty="0">
                <a:solidFill>
                  <a:srgbClr val="6F6A66"/>
                </a:solidFill>
                <a:latin typeface="Quicksand" pitchFamily="34" charset="0"/>
              </a:rPr>
              <a:t>pitchbook.brightspotcdn.com</a:t>
            </a:r>
            <a:endParaRPr lang="en-US" sz="668" dirty="0"/>
          </a:p>
          <a:p>
            <a:pPr marL="0" indent="0" algn="l">
              <a:lnSpc>
                <a:spcPts val="923"/>
              </a:lnSpc>
              <a:buNone/>
            </a:pPr>
            <a:r>
              <a:rPr lang="en-US" sz="668" u="sng" kern="0" spc="15" dirty="0">
                <a:solidFill>
                  <a:srgbClr val="8C6239"/>
                </a:solidFill>
                <a:latin typeface="Quicksand" pitchFamily="34" charset="0"/>
                <a:hlinkClick r:id="rId16">
                  <a:extLst>
                    <a:ext uri="{A12FA001-AC4F-418D-AE19-62706E023703}">
                      <ahyp:hlinkClr xmlns:ahyp="http://schemas.microsoft.com/office/drawing/2018/hyperlinkcolor" val="tx"/>
                    </a:ext>
                  </a:extLst>
                </a:hlinkClick>
              </a:rPr>
              <a:t>Boyd Group</a:t>
            </a:r>
            <a:r>
              <a:rPr lang="en-US" sz="668" kern="0" spc="15" dirty="0">
                <a:solidFill>
                  <a:srgbClr val="333231"/>
                </a:solidFill>
                <a:latin typeface="Quicksand" pitchFamily="34" charset="0"/>
              </a:rPr>
              <a:t> </a:t>
            </a:r>
            <a:r>
              <a:rPr lang="en-US" sz="668" kern="0" spc="15" dirty="0">
                <a:solidFill>
                  <a:srgbClr val="6F6A66"/>
                </a:solidFill>
                <a:latin typeface="Quicksand" pitchFamily="34" charset="0"/>
              </a:rPr>
              <a:t>sec.gov</a:t>
            </a:r>
            <a:endParaRPr lang="en-US" sz="668" dirty="0"/>
          </a:p>
          <a:p>
            <a:pPr marL="0" indent="0" algn="l">
              <a:lnSpc>
                <a:spcPts val="923"/>
              </a:lnSpc>
              <a:buNone/>
            </a:pPr>
            <a:r>
              <a:rPr lang="en-US" sz="668" u="sng" kern="0" spc="15" dirty="0">
                <a:solidFill>
                  <a:srgbClr val="8C6239"/>
                </a:solidFill>
                <a:latin typeface="Quicksand" pitchFamily="34" charset="0"/>
                <a:hlinkClick r:id="rId17">
                  <a:extLst>
                    <a:ext uri="{A12FA001-AC4F-418D-AE19-62706E023703}">
                      <ahyp:hlinkClr xmlns:ahyp="http://schemas.microsoft.com/office/drawing/2018/hyperlinkcolor" val="tx"/>
                    </a:ext>
                  </a:extLst>
                </a:hlinkClick>
              </a:rPr>
              <a:t>Tidal Wave Auto Spa</a:t>
            </a:r>
            <a:r>
              <a:rPr lang="en-US" sz="668" kern="0" spc="15" dirty="0">
                <a:solidFill>
                  <a:srgbClr val="333231"/>
                </a:solidFill>
                <a:latin typeface="Quicksand" pitchFamily="34" charset="0"/>
              </a:rPr>
              <a:t> </a:t>
            </a:r>
            <a:r>
              <a:rPr lang="en-US" sz="668" kern="0" spc="15" dirty="0">
                <a:solidFill>
                  <a:srgbClr val="6F6A66"/>
                </a:solidFill>
                <a:latin typeface="Quicksand" pitchFamily="34" charset="0"/>
              </a:rPr>
              <a:t>newswire.com</a:t>
            </a:r>
            <a:endParaRPr lang="en-US" sz="668" dirty="0"/>
          </a:p>
          <a:p>
            <a:pPr marL="0" indent="0" algn="l">
              <a:lnSpc>
                <a:spcPts val="923"/>
              </a:lnSpc>
              <a:buNone/>
            </a:pPr>
            <a:r>
              <a:rPr lang="en-US" sz="668" u="sng" kern="0" spc="15" dirty="0">
                <a:solidFill>
                  <a:srgbClr val="8C6239"/>
                </a:solidFill>
                <a:latin typeface="Quicksand" pitchFamily="34" charset="0"/>
                <a:hlinkClick r:id="rId18">
                  <a:extLst>
                    <a:ext uri="{A12FA001-AC4F-418D-AE19-62706E023703}">
                      <ahyp:hlinkClr xmlns:ahyp="http://schemas.microsoft.com/office/drawing/2018/hyperlinkcolor" val="tx"/>
                    </a:ext>
                  </a:extLst>
                </a:hlinkClick>
              </a:rPr>
              <a:t>SPS PoolCare</a:t>
            </a:r>
            <a:r>
              <a:rPr lang="en-US" sz="668" kern="0" spc="15" dirty="0">
                <a:solidFill>
                  <a:srgbClr val="333231"/>
                </a:solidFill>
                <a:latin typeface="Quicksand" pitchFamily="34" charset="0"/>
              </a:rPr>
              <a:t> </a:t>
            </a:r>
            <a:r>
              <a:rPr lang="en-US" sz="668" kern="0" spc="15" dirty="0">
                <a:solidFill>
                  <a:srgbClr val="6F6A66"/>
                </a:solidFill>
                <a:latin typeface="Quicksand" pitchFamily="34" charset="0"/>
              </a:rPr>
              <a:t>prnewswire.com</a:t>
            </a:r>
            <a:endParaRPr lang="en-US" sz="668" dirty="0"/>
          </a:p>
          <a:p>
            <a:pPr marL="0" indent="0" algn="l">
              <a:lnSpc>
                <a:spcPts val="923"/>
              </a:lnSpc>
              <a:buNone/>
            </a:pPr>
            <a:r>
              <a:rPr lang="en-US" sz="668" u="sng" kern="0" spc="15" dirty="0">
                <a:solidFill>
                  <a:srgbClr val="8C6239"/>
                </a:solidFill>
                <a:latin typeface="Quicksand" pitchFamily="34" charset="0"/>
                <a:hlinkClick r:id="rId19">
                  <a:extLst>
                    <a:ext uri="{A12FA001-AC4F-418D-AE19-62706E023703}">
                      <ahyp:hlinkClr xmlns:ahyp="http://schemas.microsoft.com/office/drawing/2018/hyperlinkcolor" val="tx"/>
                    </a:ext>
                  </a:extLst>
                </a:hlinkClick>
              </a:rPr>
              <a:t>Supreme Court, Learning Resources v. Trump</a:t>
            </a:r>
            <a:r>
              <a:rPr lang="en-US" sz="668" kern="0" spc="15" dirty="0">
                <a:solidFill>
                  <a:srgbClr val="333231"/>
                </a:solidFill>
                <a:latin typeface="Quicksand" pitchFamily="34" charset="0"/>
              </a:rPr>
              <a:t> </a:t>
            </a:r>
            <a:r>
              <a:rPr lang="en-US" sz="668" kern="0" spc="15" dirty="0">
                <a:solidFill>
                  <a:srgbClr val="6F6A66"/>
                </a:solidFill>
                <a:latin typeface="Quicksand" pitchFamily="34" charset="0"/>
              </a:rPr>
              <a:t>supremecourt.gov</a:t>
            </a:r>
            <a:endParaRPr lang="en-US" sz="668" dirty="0"/>
          </a:p>
          <a:p>
            <a:pPr marL="0" indent="0" algn="l">
              <a:lnSpc>
                <a:spcPts val="923"/>
              </a:lnSpc>
              <a:buNone/>
            </a:pPr>
            <a:r>
              <a:rPr lang="en-US" sz="668" u="sng" kern="0" spc="15" dirty="0">
                <a:solidFill>
                  <a:srgbClr val="8C6239"/>
                </a:solidFill>
                <a:latin typeface="Quicksand" pitchFamily="34" charset="0"/>
                <a:hlinkClick r:id="rId20">
                  <a:extLst>
                    <a:ext uri="{A12FA001-AC4F-418D-AE19-62706E023703}">
                      <ahyp:hlinkClr xmlns:ahyp="http://schemas.microsoft.com/office/drawing/2018/hyperlinkcolor" val="tx"/>
                    </a:ext>
                  </a:extLst>
                </a:hlinkClick>
              </a:rPr>
              <a:t>Wiley Rein on the Section 301 tariffs</a:t>
            </a:r>
            <a:r>
              <a:rPr lang="en-US" sz="668" kern="0" spc="15" dirty="0">
                <a:solidFill>
                  <a:srgbClr val="333231"/>
                </a:solidFill>
                <a:latin typeface="Quicksand" pitchFamily="34" charset="0"/>
              </a:rPr>
              <a:t> </a:t>
            </a:r>
            <a:r>
              <a:rPr lang="en-US" sz="668" kern="0" spc="15" dirty="0">
                <a:solidFill>
                  <a:srgbClr val="6F6A66"/>
                </a:solidFill>
                <a:latin typeface="Quicksand" pitchFamily="34" charset="0"/>
              </a:rPr>
              <a:t>wiley.law</a:t>
            </a:r>
            <a:endParaRPr lang="en-US" sz="668" dirty="0"/>
          </a:p>
          <a:p>
            <a:pPr marL="0" indent="0" algn="l">
              <a:lnSpc>
                <a:spcPts val="923"/>
              </a:lnSpc>
              <a:buNone/>
            </a:pPr>
            <a:r>
              <a:rPr lang="en-US" sz="668" u="sng" kern="0" spc="15" dirty="0">
                <a:solidFill>
                  <a:srgbClr val="8C6239"/>
                </a:solidFill>
                <a:latin typeface="Quicksand" pitchFamily="34" charset="0"/>
                <a:hlinkClick r:id="rId21">
                  <a:extLst>
                    <a:ext uri="{A12FA001-AC4F-418D-AE19-62706E023703}">
                      <ahyp:hlinkClr xmlns:ahyp="http://schemas.microsoft.com/office/drawing/2018/hyperlinkcolor" val="tx"/>
                    </a:ext>
                  </a:extLst>
                </a:hlinkClick>
              </a:rPr>
              <a:t>Section 232 furniture duty</a:t>
            </a:r>
            <a:r>
              <a:rPr lang="en-US" sz="668" kern="0" spc="15" dirty="0">
                <a:solidFill>
                  <a:srgbClr val="333231"/>
                </a:solidFill>
                <a:latin typeface="Quicksand" pitchFamily="34" charset="0"/>
              </a:rPr>
              <a:t> </a:t>
            </a:r>
            <a:r>
              <a:rPr lang="en-US" sz="668" kern="0" spc="15" dirty="0">
                <a:solidFill>
                  <a:srgbClr val="6F6A66"/>
                </a:solidFill>
                <a:latin typeface="Quicksand" pitchFamily="34" charset="0"/>
              </a:rPr>
              <a:t>info.expeditors.com</a:t>
            </a:r>
            <a:endParaRPr lang="en-US" sz="668" dirty="0"/>
          </a:p>
          <a:p>
            <a:pPr marL="0" indent="0" algn="l">
              <a:lnSpc>
                <a:spcPts val="923"/>
              </a:lnSpc>
              <a:buNone/>
            </a:pPr>
            <a:r>
              <a:rPr lang="en-US" sz="668" u="sng" kern="0" spc="15" dirty="0">
                <a:solidFill>
                  <a:srgbClr val="8C6239"/>
                </a:solidFill>
                <a:latin typeface="Quicksand" pitchFamily="34" charset="0"/>
                <a:hlinkClick r:id="rId22">
                  <a:extLst>
                    <a:ext uri="{A12FA001-AC4F-418D-AE19-62706E023703}">
                      <ahyp:hlinkClr xmlns:ahyp="http://schemas.microsoft.com/office/drawing/2018/hyperlinkcolor" val="tx"/>
                    </a:ext>
                  </a:extLst>
                </a:hlinkClick>
              </a:rPr>
              <a:t>De minimis suspension</a:t>
            </a:r>
            <a:r>
              <a:rPr lang="en-US" sz="668" kern="0" spc="15" dirty="0">
                <a:solidFill>
                  <a:srgbClr val="333231"/>
                </a:solidFill>
                <a:latin typeface="Quicksand" pitchFamily="34" charset="0"/>
              </a:rPr>
              <a:t> </a:t>
            </a:r>
            <a:r>
              <a:rPr lang="en-US" sz="668" kern="0" spc="15" dirty="0">
                <a:solidFill>
                  <a:srgbClr val="6F6A66"/>
                </a:solidFill>
                <a:latin typeface="Quicksand" pitchFamily="34" charset="0"/>
              </a:rPr>
              <a:t>strtrade.com</a:t>
            </a:r>
            <a:endParaRPr lang="en-US" sz="668" dirty="0"/>
          </a:p>
          <a:p>
            <a:pPr marL="0" indent="0" algn="l">
              <a:lnSpc>
                <a:spcPts val="923"/>
              </a:lnSpc>
              <a:buNone/>
            </a:pPr>
            <a:r>
              <a:rPr lang="en-US" sz="668" u="sng" kern="0" spc="15" dirty="0">
                <a:solidFill>
                  <a:srgbClr val="8C6239"/>
                </a:solidFill>
                <a:latin typeface="Quicksand" pitchFamily="34" charset="0"/>
                <a:hlinkClick r:id="rId23">
                  <a:extLst>
                    <a:ext uri="{A12FA001-AC4F-418D-AE19-62706E023703}">
                      <ahyp:hlinkClr xmlns:ahyp="http://schemas.microsoft.com/office/drawing/2018/hyperlinkcolor" val="tx"/>
                    </a:ext>
                  </a:extLst>
                </a:hlinkClick>
              </a:rPr>
              <a:t>FRED: Diesel price (GASDESM)</a:t>
            </a:r>
            <a:r>
              <a:rPr lang="en-US" sz="668" kern="0" spc="15" dirty="0">
                <a:solidFill>
                  <a:srgbClr val="333231"/>
                </a:solidFill>
                <a:latin typeface="Quicksand" pitchFamily="34" charset="0"/>
              </a:rPr>
              <a:t> </a:t>
            </a:r>
            <a:r>
              <a:rPr lang="en-US" sz="668" kern="0" spc="15" dirty="0">
                <a:solidFill>
                  <a:srgbClr val="6F6A66"/>
                </a:solidFill>
                <a:latin typeface="Quicksand" pitchFamily="34" charset="0"/>
              </a:rPr>
              <a:t>fred.stlouisfed.org</a:t>
            </a:r>
            <a:endParaRPr lang="en-US" sz="668" dirty="0"/>
          </a:p>
          <a:p>
            <a:pPr marL="0" indent="0" algn="l">
              <a:lnSpc>
                <a:spcPts val="923"/>
              </a:lnSpc>
              <a:buNone/>
            </a:pPr>
            <a:r>
              <a:rPr lang="en-US" sz="668" u="sng" kern="0" spc="15" dirty="0">
                <a:solidFill>
                  <a:srgbClr val="8C6239"/>
                </a:solidFill>
                <a:latin typeface="Quicksand" pitchFamily="34" charset="0"/>
                <a:hlinkClick r:id="rId24">
                  <a:extLst>
                    <a:ext uri="{A12FA001-AC4F-418D-AE19-62706E023703}">
                      <ahyp:hlinkClr xmlns:ahyp="http://schemas.microsoft.com/office/drawing/2018/hyperlinkcolor" val="tx"/>
                    </a:ext>
                  </a:extLst>
                </a:hlinkClick>
              </a:rPr>
              <a:t>EIA Short-Term Energy Outlook</a:t>
            </a:r>
            <a:r>
              <a:rPr lang="en-US" sz="668" kern="0" spc="15" dirty="0">
                <a:solidFill>
                  <a:srgbClr val="333231"/>
                </a:solidFill>
                <a:latin typeface="Quicksand" pitchFamily="34" charset="0"/>
              </a:rPr>
              <a:t> </a:t>
            </a:r>
            <a:r>
              <a:rPr lang="en-US" sz="668" kern="0" spc="15" dirty="0">
                <a:solidFill>
                  <a:srgbClr val="6F6A66"/>
                </a:solidFill>
                <a:latin typeface="Quicksand" pitchFamily="34" charset="0"/>
              </a:rPr>
              <a:t>eia.gov</a:t>
            </a:r>
            <a:endParaRPr lang="en-US" sz="668" dirty="0"/>
          </a:p>
          <a:p>
            <a:pPr marL="0" indent="0" algn="l">
              <a:lnSpc>
                <a:spcPts val="923"/>
              </a:lnSpc>
              <a:buNone/>
            </a:pPr>
            <a:r>
              <a:rPr lang="en-US" sz="668" u="sng" kern="0" spc="15" dirty="0">
                <a:solidFill>
                  <a:srgbClr val="8C6239"/>
                </a:solidFill>
                <a:latin typeface="Quicksand" pitchFamily="34" charset="0"/>
                <a:hlinkClick r:id="rId25">
                  <a:extLst>
                    <a:ext uri="{A12FA001-AC4F-418D-AE19-62706E023703}">
                      <ahyp:hlinkClr xmlns:ahyp="http://schemas.microsoft.com/office/drawing/2018/hyperlinkcolor" val="tx"/>
                    </a:ext>
                  </a:extLst>
                </a:hlinkClick>
              </a:rPr>
              <a:t>Federal Reserve</a:t>
            </a:r>
            <a:r>
              <a:rPr lang="en-US" sz="668" kern="0" spc="15" dirty="0">
                <a:solidFill>
                  <a:srgbClr val="333231"/>
                </a:solidFill>
                <a:latin typeface="Quicksand" pitchFamily="34" charset="0"/>
              </a:rPr>
              <a:t> </a:t>
            </a:r>
            <a:r>
              <a:rPr lang="en-US" sz="668" kern="0" spc="15" dirty="0">
                <a:solidFill>
                  <a:srgbClr val="6F6A66"/>
                </a:solidFill>
                <a:latin typeface="Quicksand" pitchFamily="34" charset="0"/>
              </a:rPr>
              <a:t>federalreserve.gov</a:t>
            </a:r>
            <a:endParaRPr lang="en-US" sz="668" dirty="0"/>
          </a:p>
          <a:p>
            <a:pPr marL="0" indent="0" algn="l">
              <a:lnSpc>
                <a:spcPts val="923"/>
              </a:lnSpc>
              <a:buNone/>
            </a:pPr>
            <a:r>
              <a:rPr lang="en-US" sz="668" u="sng" kern="0" spc="15" dirty="0">
                <a:solidFill>
                  <a:srgbClr val="8C6239"/>
                </a:solidFill>
                <a:latin typeface="Quicksand" pitchFamily="34" charset="0"/>
                <a:hlinkClick r:id="rId26">
                  <a:extLst>
                    <a:ext uri="{A12FA001-AC4F-418D-AE19-62706E023703}">
                      <ahyp:hlinkClr xmlns:ahyp="http://schemas.microsoft.com/office/drawing/2018/hyperlinkcolor" val="tx"/>
                    </a:ext>
                  </a:extLst>
                </a:hlinkClick>
              </a:rPr>
              <a:t>Federal Reserve projections</a:t>
            </a:r>
            <a:r>
              <a:rPr lang="en-US" sz="668" kern="0" spc="15" dirty="0">
                <a:solidFill>
                  <a:srgbClr val="333231"/>
                </a:solidFill>
                <a:latin typeface="Quicksand" pitchFamily="34" charset="0"/>
              </a:rPr>
              <a:t> </a:t>
            </a:r>
            <a:r>
              <a:rPr lang="en-US" sz="668" kern="0" spc="15" dirty="0">
                <a:solidFill>
                  <a:srgbClr val="6F6A66"/>
                </a:solidFill>
                <a:latin typeface="Quicksand" pitchFamily="34" charset="0"/>
              </a:rPr>
              <a:t>federalreserve.gov</a:t>
            </a:r>
            <a:endParaRPr lang="en-US" sz="668" dirty="0"/>
          </a:p>
          <a:p>
            <a:pPr marL="0" indent="0" algn="l">
              <a:lnSpc>
                <a:spcPts val="923"/>
              </a:lnSpc>
              <a:buNone/>
            </a:pPr>
            <a:r>
              <a:rPr lang="en-US" sz="668" u="sng" kern="0" spc="15" dirty="0">
                <a:solidFill>
                  <a:srgbClr val="8C6239"/>
                </a:solidFill>
                <a:latin typeface="Quicksand" pitchFamily="34" charset="0"/>
                <a:hlinkClick r:id="rId27">
                  <a:extLst>
                    <a:ext uri="{A12FA001-AC4F-418D-AE19-62706E023703}">
                      <ahyp:hlinkClr xmlns:ahyp="http://schemas.microsoft.com/office/drawing/2018/hyperlinkcolor" val="tx"/>
                    </a:ext>
                  </a:extLst>
                </a:hlinkClick>
              </a:rPr>
              <a:t>Fasken on the SRS Acquiom study</a:t>
            </a:r>
            <a:r>
              <a:rPr lang="en-US" sz="668" kern="0" spc="15" dirty="0">
                <a:solidFill>
                  <a:srgbClr val="333231"/>
                </a:solidFill>
                <a:latin typeface="Quicksand" pitchFamily="34" charset="0"/>
              </a:rPr>
              <a:t> </a:t>
            </a:r>
            <a:r>
              <a:rPr lang="en-US" sz="668" kern="0" spc="15" dirty="0">
                <a:solidFill>
                  <a:srgbClr val="6F6A66"/>
                </a:solidFill>
                <a:latin typeface="Quicksand" pitchFamily="34" charset="0"/>
              </a:rPr>
              <a:t>fasken.com</a:t>
            </a:r>
            <a:endParaRPr lang="en-US" sz="668" dirty="0"/>
          </a:p>
          <a:p>
            <a:pPr marL="0" indent="0" algn="l">
              <a:lnSpc>
                <a:spcPts val="923"/>
              </a:lnSpc>
              <a:buNone/>
            </a:pPr>
            <a:r>
              <a:rPr lang="en-US" sz="668" u="sng" kern="0" spc="15" dirty="0">
                <a:solidFill>
                  <a:srgbClr val="8C6239"/>
                </a:solidFill>
                <a:latin typeface="Quicksand" pitchFamily="34" charset="0"/>
                <a:hlinkClick r:id="rId28">
                  <a:extLst>
                    <a:ext uri="{A12FA001-AC4F-418D-AE19-62706E023703}">
                      <ahyp:hlinkClr xmlns:ahyp="http://schemas.microsoft.com/office/drawing/2018/hyperlinkcolor" val="tx"/>
                    </a:ext>
                  </a:extLst>
                </a:hlinkClick>
              </a:rPr>
              <a:t>YETI on tariff refunds</a:t>
            </a:r>
            <a:r>
              <a:rPr lang="en-US" sz="668" kern="0" spc="15" dirty="0">
                <a:solidFill>
                  <a:srgbClr val="333231"/>
                </a:solidFill>
                <a:latin typeface="Quicksand" pitchFamily="34" charset="0"/>
              </a:rPr>
              <a:t> </a:t>
            </a:r>
            <a:r>
              <a:rPr lang="en-US" sz="668" kern="0" spc="15" dirty="0">
                <a:solidFill>
                  <a:srgbClr val="6F6A66"/>
                </a:solidFill>
                <a:latin typeface="Quicksand" pitchFamily="34" charset="0"/>
              </a:rPr>
              <a:t>sgbonline.com</a:t>
            </a:r>
            <a:endParaRPr lang="en-US" sz="668" dirty="0"/>
          </a:p>
          <a:p>
            <a:pPr marL="0" indent="0" algn="l">
              <a:lnSpc>
                <a:spcPts val="923"/>
              </a:lnSpc>
              <a:buNone/>
            </a:pPr>
            <a:r>
              <a:rPr lang="en-US" sz="668" u="sng" kern="0" spc="15" dirty="0">
                <a:solidFill>
                  <a:srgbClr val="8C6239"/>
                </a:solidFill>
                <a:latin typeface="Quicksand" pitchFamily="34" charset="0"/>
                <a:hlinkClick r:id="rId29">
                  <a:extLst>
                    <a:ext uri="{A12FA001-AC4F-418D-AE19-62706E023703}">
                      <ahyp:hlinkClr xmlns:ahyp="http://schemas.microsoft.com/office/drawing/2018/hyperlinkcolor" val="tx"/>
                    </a:ext>
                  </a:extLst>
                </a:hlinkClick>
              </a:rPr>
              <a:t>NAFEM member survey</a:t>
            </a:r>
            <a:r>
              <a:rPr lang="en-US" sz="668" kern="0" spc="15" dirty="0">
                <a:solidFill>
                  <a:srgbClr val="333231"/>
                </a:solidFill>
                <a:latin typeface="Quicksand" pitchFamily="34" charset="0"/>
              </a:rPr>
              <a:t> </a:t>
            </a:r>
            <a:r>
              <a:rPr lang="en-US" sz="668" kern="0" spc="15" dirty="0">
                <a:solidFill>
                  <a:srgbClr val="6F6A66"/>
                </a:solidFill>
                <a:latin typeface="Quicksand" pitchFamily="34" charset="0"/>
              </a:rPr>
              <a:t>nafem.org</a:t>
            </a:r>
            <a:endParaRPr lang="en-US" sz="668" dirty="0"/>
          </a:p>
          <a:p>
            <a:pPr marL="0" indent="0" algn="l">
              <a:lnSpc>
                <a:spcPts val="923"/>
              </a:lnSpc>
              <a:buNone/>
            </a:pPr>
            <a:r>
              <a:rPr lang="en-US" sz="668" u="sng" kern="0" spc="15" dirty="0">
                <a:solidFill>
                  <a:srgbClr val="8C6239"/>
                </a:solidFill>
                <a:latin typeface="Quicksand" pitchFamily="34" charset="0"/>
                <a:hlinkClick r:id="rId30">
                  <a:extLst>
                    <a:ext uri="{A12FA001-AC4F-418D-AE19-62706E023703}">
                      <ahyp:hlinkClr xmlns:ahyp="http://schemas.microsoft.com/office/drawing/2018/hyperlinkcolor" val="tx"/>
                    </a:ext>
                  </a:extLst>
                </a:hlinkClick>
              </a:rPr>
              <a:t>General Mills first-quarter results</a:t>
            </a:r>
            <a:r>
              <a:rPr lang="en-US" sz="668" kern="0" spc="15" dirty="0">
                <a:solidFill>
                  <a:srgbClr val="333231"/>
                </a:solidFill>
                <a:latin typeface="Quicksand" pitchFamily="34" charset="0"/>
              </a:rPr>
              <a:t> </a:t>
            </a:r>
            <a:r>
              <a:rPr lang="en-US" sz="668" kern="0" spc="15" dirty="0">
                <a:solidFill>
                  <a:srgbClr val="6F6A66"/>
                </a:solidFill>
                <a:latin typeface="Quicksand" pitchFamily="34" charset="0"/>
              </a:rPr>
              <a:t>investors.generalmills.com</a:t>
            </a:r>
            <a:endParaRPr lang="en-US" sz="668" dirty="0"/>
          </a:p>
          <a:p>
            <a:pPr marL="0" indent="0" algn="l">
              <a:lnSpc>
                <a:spcPts val="923"/>
              </a:lnSpc>
              <a:buNone/>
            </a:pPr>
            <a:r>
              <a:rPr lang="en-US" sz="668" u="sng" kern="0" spc="15" dirty="0">
                <a:solidFill>
                  <a:srgbClr val="8C6239"/>
                </a:solidFill>
                <a:latin typeface="Quicksand" pitchFamily="34" charset="0"/>
                <a:hlinkClick r:id="rId31">
                  <a:extLst>
                    <a:ext uri="{A12FA001-AC4F-418D-AE19-62706E023703}">
                      <ahyp:hlinkClr xmlns:ahyp="http://schemas.microsoft.com/office/drawing/2018/hyperlinkcolor" val="tx"/>
                    </a:ext>
                  </a:extLst>
                </a:hlinkClick>
              </a:rPr>
              <a:t>Conagra first-quarter results</a:t>
            </a:r>
            <a:r>
              <a:rPr lang="en-US" sz="668" kern="0" spc="15" dirty="0">
                <a:solidFill>
                  <a:srgbClr val="333231"/>
                </a:solidFill>
                <a:latin typeface="Quicksand" pitchFamily="34" charset="0"/>
              </a:rPr>
              <a:t> </a:t>
            </a:r>
            <a:r>
              <a:rPr lang="en-US" sz="668" kern="0" spc="15" dirty="0">
                <a:solidFill>
                  <a:srgbClr val="6F6A66"/>
                </a:solidFill>
                <a:latin typeface="Quicksand" pitchFamily="34" charset="0"/>
              </a:rPr>
              <a:t>foodbusinessnews.net</a:t>
            </a:r>
            <a:endParaRPr lang="en-US" sz="668" dirty="0"/>
          </a:p>
          <a:p>
            <a:pPr marL="0" indent="0" algn="l">
              <a:lnSpc>
                <a:spcPts val="923"/>
              </a:lnSpc>
              <a:buNone/>
            </a:pPr>
            <a:r>
              <a:rPr lang="en-US" sz="668" u="sng" kern="0" spc="15" dirty="0">
                <a:solidFill>
                  <a:srgbClr val="8C6239"/>
                </a:solidFill>
                <a:latin typeface="Quicksand" pitchFamily="34" charset="0"/>
                <a:hlinkClick r:id="rId32">
                  <a:extLst>
                    <a:ext uri="{A12FA001-AC4F-418D-AE19-62706E023703}">
                      <ahyp:hlinkClr xmlns:ahyp="http://schemas.microsoft.com/office/drawing/2018/hyperlinkcolor" val="tx"/>
                    </a:ext>
                  </a:extLst>
                </a:hlinkClick>
              </a:rPr>
              <a:t>Procter &amp; Gamble and Thorne</a:t>
            </a:r>
            <a:r>
              <a:rPr lang="en-US" sz="668" kern="0" spc="15" dirty="0">
                <a:solidFill>
                  <a:srgbClr val="333231"/>
                </a:solidFill>
                <a:latin typeface="Quicksand" pitchFamily="34" charset="0"/>
              </a:rPr>
              <a:t> </a:t>
            </a:r>
            <a:r>
              <a:rPr lang="en-US" sz="668" kern="0" spc="15" dirty="0">
                <a:solidFill>
                  <a:srgbClr val="6F6A66"/>
                </a:solidFill>
                <a:latin typeface="Quicksand" pitchFamily="34" charset="0"/>
              </a:rPr>
              <a:t>nutraingredients.com</a:t>
            </a:r>
            <a:endParaRPr lang="en-US" sz="668" dirty="0"/>
          </a:p>
          <a:p>
            <a:pPr marL="0" indent="0" algn="l">
              <a:lnSpc>
                <a:spcPts val="923"/>
              </a:lnSpc>
              <a:buNone/>
            </a:pPr>
            <a:r>
              <a:rPr lang="en-US" sz="668" u="sng" kern="0" spc="15" dirty="0">
                <a:solidFill>
                  <a:srgbClr val="8C6239"/>
                </a:solidFill>
                <a:latin typeface="Quicksand" pitchFamily="34" charset="0"/>
                <a:hlinkClick r:id="rId33">
                  <a:extLst>
                    <a:ext uri="{A12FA001-AC4F-418D-AE19-62706E023703}">
                      <ahyp:hlinkClr xmlns:ahyp="http://schemas.microsoft.com/office/drawing/2018/hyperlinkcolor" val="tx"/>
                    </a:ext>
                  </a:extLst>
                </a:hlinkClick>
              </a:rPr>
              <a:t>US Foods</a:t>
            </a:r>
            <a:r>
              <a:rPr lang="en-US" sz="668" kern="0" spc="15" dirty="0">
                <a:solidFill>
                  <a:srgbClr val="333231"/>
                </a:solidFill>
                <a:latin typeface="Quicksand" pitchFamily="34" charset="0"/>
              </a:rPr>
              <a:t> </a:t>
            </a:r>
            <a:r>
              <a:rPr lang="en-US" sz="668" kern="0" spc="15" dirty="0">
                <a:solidFill>
                  <a:srgbClr val="6F6A66"/>
                </a:solidFill>
                <a:latin typeface="Quicksand" pitchFamily="34" charset="0"/>
              </a:rPr>
              <a:t>sec.gov</a:t>
            </a:r>
            <a:endParaRPr lang="en-US" sz="668" dirty="0"/>
          </a:p>
          <a:p>
            <a:pPr marL="0" indent="0" algn="l">
              <a:lnSpc>
                <a:spcPts val="923"/>
              </a:lnSpc>
              <a:buNone/>
            </a:pPr>
            <a:r>
              <a:rPr lang="en-US" sz="668" u="sng" kern="0" spc="15" dirty="0">
                <a:solidFill>
                  <a:srgbClr val="8C6239"/>
                </a:solidFill>
                <a:latin typeface="Quicksand" pitchFamily="34" charset="0"/>
                <a:hlinkClick r:id="rId34">
                  <a:extLst>
                    <a:ext uri="{A12FA001-AC4F-418D-AE19-62706E023703}">
                      <ahyp:hlinkClr xmlns:ahyp="http://schemas.microsoft.com/office/drawing/2018/hyperlinkcolor" val="tx"/>
                    </a:ext>
                  </a:extLst>
                </a:hlinkClick>
              </a:rPr>
              <a:t>Performance Food Group</a:t>
            </a:r>
            <a:r>
              <a:rPr lang="en-US" sz="668" kern="0" spc="15" dirty="0">
                <a:solidFill>
                  <a:srgbClr val="333231"/>
                </a:solidFill>
                <a:latin typeface="Quicksand" pitchFamily="34" charset="0"/>
              </a:rPr>
              <a:t> </a:t>
            </a:r>
            <a:r>
              <a:rPr lang="en-US" sz="668" kern="0" spc="15" dirty="0">
                <a:solidFill>
                  <a:srgbClr val="6F6A66"/>
                </a:solidFill>
                <a:latin typeface="Quicksand" pitchFamily="34" charset="0"/>
              </a:rPr>
              <a:t>sec.gov</a:t>
            </a:r>
            <a:endParaRPr lang="en-US" sz="668" dirty="0"/>
          </a:p>
          <a:p>
            <a:pPr marL="0" indent="0" algn="l">
              <a:lnSpc>
                <a:spcPts val="923"/>
              </a:lnSpc>
              <a:buNone/>
            </a:pPr>
            <a:r>
              <a:rPr lang="en-US" sz="668" u="sng" kern="0" spc="15" dirty="0">
                <a:solidFill>
                  <a:srgbClr val="8C6239"/>
                </a:solidFill>
                <a:latin typeface="Quicksand" pitchFamily="34" charset="0"/>
                <a:hlinkClick r:id="rId35">
                  <a:extLst>
                    <a:ext uri="{A12FA001-AC4F-418D-AE19-62706E023703}">
                      <ahyp:hlinkClr xmlns:ahyp="http://schemas.microsoft.com/office/drawing/2018/hyperlinkcolor" val="tx"/>
                    </a:ext>
                  </a:extLst>
                </a:hlinkClick>
              </a:rPr>
              <a:t>Circana on beauty</a:t>
            </a:r>
            <a:r>
              <a:rPr lang="en-US" sz="668" kern="0" spc="15" dirty="0">
                <a:solidFill>
                  <a:srgbClr val="333231"/>
                </a:solidFill>
                <a:latin typeface="Quicksand" pitchFamily="34" charset="0"/>
              </a:rPr>
              <a:t> </a:t>
            </a:r>
            <a:r>
              <a:rPr lang="en-US" sz="668" kern="0" spc="15" dirty="0">
                <a:solidFill>
                  <a:srgbClr val="6F6A66"/>
                </a:solidFill>
                <a:latin typeface="Quicksand" pitchFamily="34" charset="0"/>
              </a:rPr>
              <a:t>circana.com</a:t>
            </a:r>
            <a:endParaRPr lang="en-US" sz="668" dirty="0"/>
          </a:p>
          <a:p>
            <a:pPr marL="0" indent="0" algn="l">
              <a:lnSpc>
                <a:spcPts val="923"/>
              </a:lnSpc>
              <a:buNone/>
            </a:pPr>
            <a:r>
              <a:rPr lang="en-US" sz="668" u="sng" kern="0" spc="15" dirty="0">
                <a:solidFill>
                  <a:srgbClr val="8C6239"/>
                </a:solidFill>
                <a:latin typeface="Quicksand" pitchFamily="34" charset="0"/>
                <a:hlinkClick r:id="rId36">
                  <a:extLst>
                    <a:ext uri="{A12FA001-AC4F-418D-AE19-62706E023703}">
                      <ahyp:hlinkClr xmlns:ahyp="http://schemas.microsoft.com/office/drawing/2018/hyperlinkcolor" val="tx"/>
                    </a:ext>
                  </a:extLst>
                </a:hlinkClick>
              </a:rPr>
              <a:t>American Pet Products Association</a:t>
            </a:r>
            <a:r>
              <a:rPr lang="en-US" sz="668" kern="0" spc="15" dirty="0">
                <a:solidFill>
                  <a:srgbClr val="333231"/>
                </a:solidFill>
                <a:latin typeface="Quicksand" pitchFamily="34" charset="0"/>
              </a:rPr>
              <a:t> </a:t>
            </a:r>
            <a:r>
              <a:rPr lang="en-US" sz="668" kern="0" spc="15" dirty="0">
                <a:solidFill>
                  <a:srgbClr val="6F6A66"/>
                </a:solidFill>
                <a:latin typeface="Quicksand" pitchFamily="34" charset="0"/>
              </a:rPr>
              <a:t>americanpetproducts.org</a:t>
            </a:r>
            <a:endParaRPr lang="en-US" sz="668" dirty="0"/>
          </a:p>
          <a:p>
            <a:pPr marL="0" indent="0" algn="l">
              <a:lnSpc>
                <a:spcPts val="923"/>
              </a:lnSpc>
              <a:buNone/>
            </a:pPr>
            <a:r>
              <a:rPr lang="en-US" sz="668" u="sng" kern="0" spc="15" dirty="0">
                <a:solidFill>
                  <a:srgbClr val="8C6239"/>
                </a:solidFill>
                <a:latin typeface="Quicksand" pitchFamily="34" charset="0"/>
                <a:hlinkClick r:id="rId37">
                  <a:extLst>
                    <a:ext uri="{A12FA001-AC4F-418D-AE19-62706E023703}">
                      <ahyp:hlinkClr xmlns:ahyp="http://schemas.microsoft.com/office/drawing/2018/hyperlinkcolor" val="tx"/>
                    </a:ext>
                  </a:extLst>
                </a:hlinkClick>
              </a:rPr>
              <a:t>Circana all-retail read</a:t>
            </a:r>
            <a:r>
              <a:rPr lang="en-US" sz="668" kern="0" spc="15" dirty="0">
                <a:solidFill>
                  <a:srgbClr val="333231"/>
                </a:solidFill>
                <a:latin typeface="Quicksand" pitchFamily="34" charset="0"/>
              </a:rPr>
              <a:t> </a:t>
            </a:r>
            <a:r>
              <a:rPr lang="en-US" sz="668" kern="0" spc="15" dirty="0">
                <a:solidFill>
                  <a:srgbClr val="6F6A66"/>
                </a:solidFill>
                <a:latin typeface="Quicksand" pitchFamily="34" charset="0"/>
              </a:rPr>
              <a:t>chainstoreage.com</a:t>
            </a:r>
            <a:endParaRPr lang="en-US" sz="668" dirty="0"/>
          </a:p>
          <a:p>
            <a:pPr marL="0" indent="0" algn="l">
              <a:lnSpc>
                <a:spcPts val="923"/>
              </a:lnSpc>
              <a:buNone/>
            </a:pPr>
            <a:r>
              <a:rPr lang="en-US" sz="668" u="sng" kern="0" spc="15" dirty="0">
                <a:solidFill>
                  <a:srgbClr val="8C6239"/>
                </a:solidFill>
                <a:latin typeface="Quicksand" pitchFamily="34" charset="0"/>
                <a:hlinkClick r:id="rId38">
                  <a:extLst>
                    <a:ext uri="{A12FA001-AC4F-418D-AE19-62706E023703}">
                      <ahyp:hlinkClr xmlns:ahyp="http://schemas.microsoft.com/office/drawing/2018/hyperlinkcolor" val="tx"/>
                    </a:ext>
                  </a:extLst>
                </a:hlinkClick>
              </a:rPr>
              <a:t>CalRecycle, SB 54</a:t>
            </a:r>
            <a:r>
              <a:rPr lang="en-US" sz="668" kern="0" spc="15" dirty="0">
                <a:solidFill>
                  <a:srgbClr val="333231"/>
                </a:solidFill>
                <a:latin typeface="Quicksand" pitchFamily="34" charset="0"/>
              </a:rPr>
              <a:t> </a:t>
            </a:r>
            <a:r>
              <a:rPr lang="en-US" sz="668" kern="0" spc="15" dirty="0">
                <a:solidFill>
                  <a:srgbClr val="6F6A66"/>
                </a:solidFill>
                <a:latin typeface="Quicksand" pitchFamily="34" charset="0"/>
              </a:rPr>
              <a:t>calrecycle.ca.gov</a:t>
            </a:r>
            <a:endParaRPr lang="en-US" sz="668" dirty="0"/>
          </a:p>
          <a:p>
            <a:pPr marL="0" indent="0" algn="l">
              <a:lnSpc>
                <a:spcPts val="923"/>
              </a:lnSpc>
              <a:buNone/>
            </a:pPr>
            <a:r>
              <a:rPr lang="en-US" sz="668" u="sng" kern="0" spc="15" dirty="0">
                <a:solidFill>
                  <a:srgbClr val="8C6239"/>
                </a:solidFill>
                <a:latin typeface="Quicksand" pitchFamily="34" charset="0"/>
                <a:hlinkClick r:id="rId39">
                  <a:extLst>
                    <a:ext uri="{A12FA001-AC4F-418D-AE19-62706E023703}">
                      <ahyp:hlinkClr xmlns:ahyp="http://schemas.microsoft.com/office/drawing/2018/hyperlinkcolor" val="tx"/>
                    </a:ext>
                  </a:extLst>
                </a:hlinkClick>
              </a:rPr>
              <a:t>MAFSI Business Barometer, Q2 2026</a:t>
            </a:r>
            <a:r>
              <a:rPr lang="en-US" sz="668" kern="0" spc="15" dirty="0">
                <a:solidFill>
                  <a:srgbClr val="333231"/>
                </a:solidFill>
                <a:latin typeface="Quicksand" pitchFamily="34" charset="0"/>
              </a:rPr>
              <a:t> </a:t>
            </a:r>
            <a:r>
              <a:rPr lang="en-US" sz="668" kern="0" spc="15" dirty="0">
                <a:solidFill>
                  <a:srgbClr val="6F6A66"/>
                </a:solidFill>
                <a:latin typeface="Quicksand" pitchFamily="34" charset="0"/>
              </a:rPr>
              <a:t>fesmag.com</a:t>
            </a:r>
            <a:endParaRPr lang="en-US" sz="668" dirty="0"/>
          </a:p>
          <a:p>
            <a:pPr marL="0" indent="0" algn="l">
              <a:lnSpc>
                <a:spcPts val="923"/>
              </a:lnSpc>
              <a:buNone/>
            </a:pPr>
            <a:r>
              <a:rPr lang="en-US" sz="668" u="sng" kern="0" spc="15" dirty="0">
                <a:solidFill>
                  <a:srgbClr val="8C6239"/>
                </a:solidFill>
                <a:latin typeface="Quicksand" pitchFamily="34" charset="0"/>
                <a:hlinkClick r:id="rId40">
                  <a:extLst>
                    <a:ext uri="{A12FA001-AC4F-418D-AE19-62706E023703}">
                      <ahyp:hlinkClr xmlns:ahyp="http://schemas.microsoft.com/office/drawing/2018/hyperlinkcolor" val="tx"/>
                    </a:ext>
                  </a:extLst>
                </a:hlinkClick>
              </a:rPr>
              <a:t>Meritage Hospitality Group filing</a:t>
            </a:r>
            <a:r>
              <a:rPr lang="en-US" sz="668" kern="0" spc="15" dirty="0">
                <a:solidFill>
                  <a:srgbClr val="333231"/>
                </a:solidFill>
                <a:latin typeface="Quicksand" pitchFamily="34" charset="0"/>
              </a:rPr>
              <a:t> </a:t>
            </a:r>
            <a:r>
              <a:rPr lang="en-US" sz="668" kern="0" spc="15" dirty="0">
                <a:solidFill>
                  <a:srgbClr val="6F6A66"/>
                </a:solidFill>
                <a:latin typeface="Quicksand" pitchFamily="34" charset="0"/>
              </a:rPr>
              <a:t>nrn.com</a:t>
            </a:r>
            <a:endParaRPr lang="en-US" sz="668" dirty="0"/>
          </a:p>
          <a:p>
            <a:pPr marL="0" indent="0" algn="l">
              <a:lnSpc>
                <a:spcPts val="923"/>
              </a:lnSpc>
              <a:buNone/>
            </a:pPr>
            <a:r>
              <a:rPr lang="en-US" sz="668" u="sng" kern="0" spc="15" dirty="0">
                <a:solidFill>
                  <a:srgbClr val="8C6239"/>
                </a:solidFill>
                <a:latin typeface="Quicksand" pitchFamily="34" charset="0"/>
                <a:hlinkClick r:id="rId41">
                  <a:extLst>
                    <a:ext uri="{A12FA001-AC4F-418D-AE19-62706E023703}">
                      <ahyp:hlinkClr xmlns:ahyp="http://schemas.microsoft.com/office/drawing/2018/hyperlinkcolor" val="tx"/>
                    </a:ext>
                  </a:extLst>
                </a:hlinkClick>
              </a:rPr>
              <a:t>Parts Town</a:t>
            </a:r>
            <a:r>
              <a:rPr lang="en-US" sz="668" kern="0" spc="15" dirty="0">
                <a:solidFill>
                  <a:srgbClr val="333231"/>
                </a:solidFill>
                <a:latin typeface="Quicksand" pitchFamily="34" charset="0"/>
              </a:rPr>
              <a:t> </a:t>
            </a:r>
            <a:r>
              <a:rPr lang="en-US" sz="668" kern="0" spc="15" dirty="0">
                <a:solidFill>
                  <a:srgbClr val="6F6A66"/>
                </a:solidFill>
                <a:latin typeface="Quicksand" pitchFamily="34" charset="0"/>
              </a:rPr>
              <a:t>fermag.com</a:t>
            </a:r>
            <a:endParaRPr lang="en-US" sz="668" dirty="0"/>
          </a:p>
          <a:p>
            <a:pPr marL="0" indent="0" algn="l">
              <a:lnSpc>
                <a:spcPts val="923"/>
              </a:lnSpc>
              <a:buNone/>
            </a:pPr>
            <a:r>
              <a:rPr lang="en-US" sz="668" u="sng" kern="0" spc="15" dirty="0">
                <a:solidFill>
                  <a:srgbClr val="8C6239"/>
                </a:solidFill>
                <a:latin typeface="Quicksand" pitchFamily="34" charset="0"/>
                <a:hlinkClick r:id="rId42">
                  <a:extLst>
                    <a:ext uri="{A12FA001-AC4F-418D-AE19-62706E023703}">
                      <ahyp:hlinkClr xmlns:ahyp="http://schemas.microsoft.com/office/drawing/2018/hyperlinkcolor" val="tx"/>
                    </a:ext>
                  </a:extLst>
                </a:hlinkClick>
              </a:rPr>
              <a:t>Easy Ice</a:t>
            </a:r>
            <a:r>
              <a:rPr lang="en-US" sz="668" kern="0" spc="15" dirty="0">
                <a:solidFill>
                  <a:srgbClr val="333231"/>
                </a:solidFill>
                <a:latin typeface="Quicksand" pitchFamily="34" charset="0"/>
              </a:rPr>
              <a:t> </a:t>
            </a:r>
            <a:r>
              <a:rPr lang="en-US" sz="668" kern="0" spc="15" dirty="0">
                <a:solidFill>
                  <a:srgbClr val="6F6A66"/>
                </a:solidFill>
                <a:latin typeface="Quicksand" pitchFamily="34" charset="0"/>
              </a:rPr>
              <a:t>fermag.com</a:t>
            </a:r>
            <a:endParaRPr lang="en-US" sz="668" dirty="0"/>
          </a:p>
          <a:p>
            <a:pPr marL="0" indent="0" algn="l">
              <a:lnSpc>
                <a:spcPts val="923"/>
              </a:lnSpc>
              <a:buNone/>
            </a:pPr>
            <a:r>
              <a:rPr lang="en-US" sz="668" u="sng" kern="0" spc="15" dirty="0">
                <a:solidFill>
                  <a:srgbClr val="8C6239"/>
                </a:solidFill>
                <a:latin typeface="Quicksand" pitchFamily="34" charset="0"/>
                <a:hlinkClick r:id="rId43">
                  <a:extLst>
                    <a:ext uri="{A12FA001-AC4F-418D-AE19-62706E023703}">
                      <ahyp:hlinkClr xmlns:ahyp="http://schemas.microsoft.com/office/drawing/2018/hyperlinkcolor" val="tx"/>
                    </a:ext>
                  </a:extLst>
                </a:hlinkClick>
              </a:rPr>
              <a:t>Mister Car Wash and Leonard Green</a:t>
            </a:r>
            <a:r>
              <a:rPr lang="en-US" sz="668" kern="0" spc="15" dirty="0">
                <a:solidFill>
                  <a:srgbClr val="333231"/>
                </a:solidFill>
                <a:latin typeface="Quicksand" pitchFamily="34" charset="0"/>
              </a:rPr>
              <a:t> </a:t>
            </a:r>
            <a:r>
              <a:rPr lang="en-US" sz="668" kern="0" spc="15" dirty="0">
                <a:solidFill>
                  <a:srgbClr val="6F6A66"/>
                </a:solidFill>
                <a:latin typeface="Quicksand" pitchFamily="34" charset="0"/>
              </a:rPr>
              <a:t>placera.se</a:t>
            </a:r>
            <a:endParaRPr lang="en-US" sz="668" dirty="0"/>
          </a:p>
          <a:p>
            <a:pPr marL="0" indent="0" algn="l">
              <a:lnSpc>
                <a:spcPts val="923"/>
              </a:lnSpc>
              <a:buNone/>
            </a:pPr>
            <a:r>
              <a:rPr lang="en-US" sz="668" u="sng" kern="0" spc="15" dirty="0">
                <a:solidFill>
                  <a:srgbClr val="8C6239"/>
                </a:solidFill>
                <a:latin typeface="Quicksand" pitchFamily="34" charset="0"/>
                <a:hlinkClick r:id="rId44">
                  <a:extLst>
                    <a:ext uri="{A12FA001-AC4F-418D-AE19-62706E023703}">
                      <ahyp:hlinkClr xmlns:ahyp="http://schemas.microsoft.com/office/drawing/2018/hyperlinkcolor" val="tx"/>
                    </a:ext>
                  </a:extLst>
                </a:hlinkClick>
              </a:rPr>
              <a:t>Blackstone and Champions Group</a:t>
            </a:r>
            <a:r>
              <a:rPr lang="en-US" sz="668" kern="0" spc="15" dirty="0">
                <a:solidFill>
                  <a:srgbClr val="333231"/>
                </a:solidFill>
                <a:latin typeface="Quicksand" pitchFamily="34" charset="0"/>
              </a:rPr>
              <a:t> </a:t>
            </a:r>
            <a:r>
              <a:rPr lang="en-US" sz="668" kern="0" spc="15" dirty="0">
                <a:solidFill>
                  <a:srgbClr val="6F6A66"/>
                </a:solidFill>
                <a:latin typeface="Quicksand" pitchFamily="34" charset="0"/>
              </a:rPr>
              <a:t>finance.yahoo.com</a:t>
            </a:r>
            <a:endParaRPr lang="en-US" sz="668" dirty="0"/>
          </a:p>
          <a:p>
            <a:pPr marL="0" indent="0" algn="l">
              <a:lnSpc>
                <a:spcPts val="923"/>
              </a:lnSpc>
              <a:buNone/>
            </a:pPr>
            <a:r>
              <a:rPr lang="en-US" sz="668" u="sng" kern="0" spc="15" dirty="0">
                <a:solidFill>
                  <a:srgbClr val="8C6239"/>
                </a:solidFill>
                <a:latin typeface="Quicksand" pitchFamily="34" charset="0"/>
                <a:hlinkClick r:id="rId45">
                  <a:extLst>
                    <a:ext uri="{A12FA001-AC4F-418D-AE19-62706E023703}">
                      <ahyp:hlinkClr xmlns:ahyp="http://schemas.microsoft.com/office/drawing/2018/hyperlinkcolor" val="tx"/>
                    </a:ext>
                  </a:extLst>
                </a:hlinkClick>
              </a:rPr>
              <a:t>Classic Collision and Kendrick Paint &amp; Body</a:t>
            </a:r>
            <a:r>
              <a:rPr lang="en-US" sz="668" kern="0" spc="15" dirty="0">
                <a:solidFill>
                  <a:srgbClr val="333231"/>
                </a:solidFill>
                <a:latin typeface="Quicksand" pitchFamily="34" charset="0"/>
              </a:rPr>
              <a:t> </a:t>
            </a:r>
            <a:r>
              <a:rPr lang="en-US" sz="668" kern="0" spc="15" dirty="0">
                <a:solidFill>
                  <a:srgbClr val="6F6A66"/>
                </a:solidFill>
                <a:latin typeface="Quicksand" pitchFamily="34" charset="0"/>
              </a:rPr>
              <a:t>fenderbender.com</a:t>
            </a:r>
            <a:endParaRPr lang="en-US" sz="668" dirty="0"/>
          </a:p>
          <a:p>
            <a:pPr marL="0" indent="0" algn="l">
              <a:lnSpc>
                <a:spcPts val="923"/>
              </a:lnSpc>
              <a:buNone/>
            </a:pPr>
            <a:r>
              <a:rPr lang="en-US" sz="668" u="sng" kern="0" spc="15" dirty="0">
                <a:solidFill>
                  <a:srgbClr val="8C6239"/>
                </a:solidFill>
                <a:latin typeface="Quicksand" pitchFamily="34" charset="0"/>
                <a:hlinkClick r:id="rId46">
                  <a:extLst>
                    <a:ext uri="{A12FA001-AC4F-418D-AE19-62706E023703}">
                      <ahyp:hlinkClr xmlns:ahyp="http://schemas.microsoft.com/office/drawing/2018/hyperlinkcolor" val="tx"/>
                    </a:ext>
                  </a:extLst>
                </a:hlinkClick>
              </a:rPr>
              <a:t>Harvard Joint Center for Housing Studies</a:t>
            </a:r>
            <a:r>
              <a:rPr lang="en-US" sz="668" kern="0" spc="15" dirty="0">
                <a:solidFill>
                  <a:srgbClr val="333231"/>
                </a:solidFill>
                <a:latin typeface="Quicksand" pitchFamily="34" charset="0"/>
              </a:rPr>
              <a:t> </a:t>
            </a:r>
            <a:r>
              <a:rPr lang="en-US" sz="668" kern="0" spc="15" dirty="0">
                <a:solidFill>
                  <a:srgbClr val="6F6A66"/>
                </a:solidFill>
                <a:latin typeface="Quicksand" pitchFamily="34" charset="0"/>
              </a:rPr>
              <a:t>jchs.harvard.edu</a:t>
            </a:r>
            <a:endParaRPr lang="en-US" sz="668" dirty="0"/>
          </a:p>
          <a:p>
            <a:pPr marL="0" indent="0" algn="l">
              <a:lnSpc>
                <a:spcPts val="923"/>
              </a:lnSpc>
              <a:buNone/>
            </a:pPr>
            <a:r>
              <a:rPr lang="en-US" sz="668" u="sng" kern="0" spc="15" dirty="0">
                <a:solidFill>
                  <a:srgbClr val="8C6239"/>
                </a:solidFill>
                <a:latin typeface="Quicksand" pitchFamily="34" charset="0"/>
                <a:hlinkClick r:id="rId47">
                  <a:extLst>
                    <a:ext uri="{A12FA001-AC4F-418D-AE19-62706E023703}">
                      <ahyp:hlinkClr xmlns:ahyp="http://schemas.microsoft.com/office/drawing/2018/hyperlinkcolor" val="tx"/>
                    </a:ext>
                  </a:extLst>
                </a:hlinkClick>
              </a:rPr>
              <a:t>National Restaurant Association</a:t>
            </a:r>
            <a:r>
              <a:rPr lang="en-US" sz="668" kern="0" spc="15" dirty="0">
                <a:solidFill>
                  <a:srgbClr val="333231"/>
                </a:solidFill>
                <a:latin typeface="Quicksand" pitchFamily="34" charset="0"/>
              </a:rPr>
              <a:t> </a:t>
            </a:r>
            <a:r>
              <a:rPr lang="en-US" sz="668" kern="0" spc="15" dirty="0">
                <a:solidFill>
                  <a:srgbClr val="6F6A66"/>
                </a:solidFill>
                <a:latin typeface="Quicksand" pitchFamily="34" charset="0"/>
              </a:rPr>
              <a:t>restaurant.org</a:t>
            </a:r>
            <a:endParaRPr lang="en-US" sz="668" dirty="0"/>
          </a:p>
          <a:p>
            <a:pPr marL="0" indent="0" algn="l">
              <a:lnSpc>
                <a:spcPts val="923"/>
              </a:lnSpc>
              <a:buNone/>
            </a:pPr>
            <a:r>
              <a:rPr lang="en-US" sz="668" u="sng" kern="0" spc="15" dirty="0">
                <a:solidFill>
                  <a:srgbClr val="8C6239"/>
                </a:solidFill>
                <a:latin typeface="Quicksand" pitchFamily="34" charset="0"/>
                <a:hlinkClick r:id="rId48">
                  <a:extLst>
                    <a:ext uri="{A12FA001-AC4F-418D-AE19-62706E023703}">
                      <ahyp:hlinkClr xmlns:ahyp="http://schemas.microsoft.com/office/drawing/2018/hyperlinkcolor" val="tx"/>
                    </a:ext>
                  </a:extLst>
                </a:hlinkClick>
              </a:rPr>
              <a:t>USDA Food Price Outlook</a:t>
            </a:r>
            <a:r>
              <a:rPr lang="en-US" sz="668" kern="0" spc="15" dirty="0">
                <a:solidFill>
                  <a:srgbClr val="333231"/>
                </a:solidFill>
                <a:latin typeface="Quicksand" pitchFamily="34" charset="0"/>
              </a:rPr>
              <a:t> </a:t>
            </a:r>
            <a:r>
              <a:rPr lang="en-US" sz="668" kern="0" spc="15" dirty="0">
                <a:solidFill>
                  <a:srgbClr val="6F6A66"/>
                </a:solidFill>
                <a:latin typeface="Quicksand" pitchFamily="34" charset="0"/>
              </a:rPr>
              <a:t>ers.usda.gov</a:t>
            </a:r>
            <a:endParaRPr lang="en-US" sz="668" dirty="0"/>
          </a:p>
          <a:p>
            <a:pPr marL="0" indent="0" algn="l">
              <a:lnSpc>
                <a:spcPts val="923"/>
              </a:lnSpc>
              <a:buNone/>
            </a:pPr>
            <a:r>
              <a:rPr lang="en-US" sz="668" u="sng" kern="0" spc="15" dirty="0">
                <a:solidFill>
                  <a:srgbClr val="8C6239"/>
                </a:solidFill>
                <a:latin typeface="Quicksand" pitchFamily="34" charset="0"/>
                <a:hlinkClick r:id="rId49">
                  <a:extLst>
                    <a:ext uri="{A12FA001-AC4F-418D-AE19-62706E023703}">
                      <ahyp:hlinkClr xmlns:ahyp="http://schemas.microsoft.com/office/drawing/2018/hyperlinkcolor" val="tx"/>
                    </a:ext>
                  </a:extLst>
                </a:hlinkClick>
              </a:rPr>
              <a:t>National Restaurant Association, Restaurant Performance Index</a:t>
            </a:r>
            <a:r>
              <a:rPr lang="en-US" sz="668" kern="0" spc="15" dirty="0">
                <a:solidFill>
                  <a:srgbClr val="333231"/>
                </a:solidFill>
                <a:latin typeface="Quicksand" pitchFamily="34" charset="0"/>
              </a:rPr>
              <a:t> </a:t>
            </a:r>
            <a:r>
              <a:rPr lang="en-US" sz="668" kern="0" spc="15" dirty="0">
                <a:solidFill>
                  <a:srgbClr val="6F6A66"/>
                </a:solidFill>
                <a:latin typeface="Quicksand" pitchFamily="34" charset="0"/>
              </a:rPr>
              <a:t>restaurant.org</a:t>
            </a:r>
            <a:endParaRPr lang="en-US" sz="668" dirty="0"/>
          </a:p>
          <a:p>
            <a:pPr marL="0" indent="0" algn="l">
              <a:lnSpc>
                <a:spcPts val="923"/>
              </a:lnSpc>
              <a:buNone/>
            </a:pPr>
            <a:r>
              <a:rPr lang="en-US" sz="668" u="sng" kern="0" spc="15" dirty="0">
                <a:solidFill>
                  <a:srgbClr val="8C6239"/>
                </a:solidFill>
                <a:latin typeface="Quicksand" pitchFamily="34" charset="0"/>
                <a:hlinkClick r:id="rId50">
                  <a:extLst>
                    <a:ext uri="{A12FA001-AC4F-418D-AE19-62706E023703}">
                      <ahyp:hlinkClr xmlns:ahyp="http://schemas.microsoft.com/office/drawing/2018/hyperlinkcolor" val="tx"/>
                    </a:ext>
                  </a:extLst>
                </a:hlinkClick>
              </a:rPr>
              <a:t>Deloitte holiday retail forecast</a:t>
            </a:r>
            <a:r>
              <a:rPr lang="en-US" sz="668" kern="0" spc="15" dirty="0">
                <a:solidFill>
                  <a:srgbClr val="333231"/>
                </a:solidFill>
                <a:latin typeface="Quicksand" pitchFamily="34" charset="0"/>
              </a:rPr>
              <a:t> </a:t>
            </a:r>
            <a:r>
              <a:rPr lang="en-US" sz="668" kern="0" spc="15" dirty="0">
                <a:solidFill>
                  <a:srgbClr val="6F6A66"/>
                </a:solidFill>
                <a:latin typeface="Quicksand" pitchFamily="34" charset="0"/>
              </a:rPr>
              <a:t>deloitte.com</a:t>
            </a:r>
            <a:endParaRPr lang="en-US" sz="668" dirty="0"/>
          </a:p>
          <a:p>
            <a:pPr marL="0" indent="0" algn="l">
              <a:lnSpc>
                <a:spcPts val="923"/>
              </a:lnSpc>
              <a:buNone/>
            </a:pPr>
            <a:r>
              <a:rPr lang="en-US" sz="668" u="sng" kern="0" spc="15" dirty="0">
                <a:solidFill>
                  <a:srgbClr val="8C6239"/>
                </a:solidFill>
                <a:latin typeface="Quicksand" pitchFamily="34" charset="0"/>
                <a:hlinkClick r:id="rId51">
                  <a:extLst>
                    <a:ext uri="{A12FA001-AC4F-418D-AE19-62706E023703}">
                      <ahyp:hlinkClr xmlns:ahyp="http://schemas.microsoft.com/office/drawing/2018/hyperlinkcolor" val="tx"/>
                    </a:ext>
                  </a:extLst>
                </a:hlinkClick>
              </a:rPr>
              <a:t>Hormel and Brakebush Brothers</a:t>
            </a:r>
            <a:r>
              <a:rPr lang="en-US" sz="668" kern="0" spc="15" dirty="0">
                <a:solidFill>
                  <a:srgbClr val="333231"/>
                </a:solidFill>
                <a:latin typeface="Quicksand" pitchFamily="34" charset="0"/>
              </a:rPr>
              <a:t> </a:t>
            </a:r>
            <a:r>
              <a:rPr lang="en-US" sz="668" kern="0" spc="15" dirty="0">
                <a:solidFill>
                  <a:srgbClr val="6F6A66"/>
                </a:solidFill>
                <a:latin typeface="Quicksand" pitchFamily="34" charset="0"/>
              </a:rPr>
              <a:t>foodbusinessnews.net</a:t>
            </a:r>
            <a:endParaRPr lang="en-US" sz="668" dirty="0"/>
          </a:p>
          <a:p>
            <a:pPr marL="0" indent="0" algn="l">
              <a:lnSpc>
                <a:spcPts val="923"/>
              </a:lnSpc>
              <a:buNone/>
            </a:pPr>
            <a:r>
              <a:rPr lang="en-US" sz="668" u="sng" kern="0" spc="15" dirty="0">
                <a:solidFill>
                  <a:srgbClr val="8C6239"/>
                </a:solidFill>
                <a:latin typeface="Quicksand" pitchFamily="34" charset="0"/>
                <a:hlinkClick r:id="rId52">
                  <a:extLst>
                    <a:ext uri="{A12FA001-AC4F-418D-AE19-62706E023703}">
                      <ahyp:hlinkClr xmlns:ahyp="http://schemas.microsoft.com/office/drawing/2018/hyperlinkcolor" val="tx"/>
                    </a:ext>
                  </a:extLst>
                </a:hlinkClick>
              </a:rPr>
              <a:t>HF Foods and Searay Foods</a:t>
            </a:r>
            <a:r>
              <a:rPr lang="en-US" sz="668" kern="0" spc="15" dirty="0">
                <a:solidFill>
                  <a:srgbClr val="333231"/>
                </a:solidFill>
                <a:latin typeface="Quicksand" pitchFamily="34" charset="0"/>
              </a:rPr>
              <a:t> </a:t>
            </a:r>
            <a:r>
              <a:rPr lang="en-US" sz="668" kern="0" spc="15" dirty="0">
                <a:solidFill>
                  <a:srgbClr val="6F6A66"/>
                </a:solidFill>
                <a:latin typeface="Quicksand" pitchFamily="34" charset="0"/>
              </a:rPr>
              <a:t>finance.yahoo.com</a:t>
            </a:r>
            <a:endParaRPr lang="en-US" sz="668" dirty="0"/>
          </a:p>
          <a:p>
            <a:pPr marL="0" indent="0" algn="l">
              <a:lnSpc>
                <a:spcPts val="923"/>
              </a:lnSpc>
              <a:buNone/>
            </a:pPr>
            <a:r>
              <a:rPr lang="en-US" sz="668" u="sng" kern="0" spc="15" dirty="0">
                <a:solidFill>
                  <a:srgbClr val="8C6239"/>
                </a:solidFill>
                <a:latin typeface="Quicksand" pitchFamily="34" charset="0"/>
                <a:hlinkClick r:id="rId53">
                  <a:extLst>
                    <a:ext uri="{A12FA001-AC4F-418D-AE19-62706E023703}">
                      <ahyp:hlinkClr xmlns:ahyp="http://schemas.microsoft.com/office/drawing/2018/hyperlinkcolor" val="tx"/>
                    </a:ext>
                  </a:extLst>
                </a:hlinkClick>
              </a:rPr>
              <a:t>Vita Coco and Copra</a:t>
            </a:r>
            <a:r>
              <a:rPr lang="en-US" sz="668" kern="0" spc="15" dirty="0">
                <a:solidFill>
                  <a:srgbClr val="333231"/>
                </a:solidFill>
                <a:latin typeface="Quicksand" pitchFamily="34" charset="0"/>
              </a:rPr>
              <a:t> </a:t>
            </a:r>
            <a:r>
              <a:rPr lang="en-US" sz="668" kern="0" spc="15" dirty="0">
                <a:solidFill>
                  <a:srgbClr val="6F6A66"/>
                </a:solidFill>
                <a:latin typeface="Quicksand" pitchFamily="34" charset="0"/>
              </a:rPr>
              <a:t>foodbusinessnews.net</a:t>
            </a:r>
            <a:endParaRPr lang="en-US" sz="668" dirty="0"/>
          </a:p>
          <a:p>
            <a:pPr marL="0" indent="0" algn="l">
              <a:lnSpc>
                <a:spcPts val="923"/>
              </a:lnSpc>
              <a:buNone/>
            </a:pPr>
            <a:r>
              <a:rPr lang="en-US" sz="668" u="sng" kern="0" spc="15" dirty="0">
                <a:solidFill>
                  <a:srgbClr val="8C6239"/>
                </a:solidFill>
                <a:latin typeface="Quicksand" pitchFamily="34" charset="0"/>
                <a:hlinkClick r:id="rId54">
                  <a:extLst>
                    <a:ext uri="{A12FA001-AC4F-418D-AE19-62706E023703}">
                      <ahyp:hlinkClr xmlns:ahyp="http://schemas.microsoft.com/office/drawing/2018/hyperlinkcolor" val="tx"/>
                    </a:ext>
                  </a:extLst>
                </a:hlinkClick>
              </a:rPr>
              <a:t>Clorox and GOJO Industries</a:t>
            </a:r>
            <a:r>
              <a:rPr lang="en-US" sz="668" kern="0" spc="15" dirty="0">
                <a:solidFill>
                  <a:srgbClr val="333231"/>
                </a:solidFill>
                <a:latin typeface="Quicksand" pitchFamily="34" charset="0"/>
              </a:rPr>
              <a:t> </a:t>
            </a:r>
            <a:r>
              <a:rPr lang="en-US" sz="668" kern="0" spc="15" dirty="0">
                <a:solidFill>
                  <a:srgbClr val="6F6A66"/>
                </a:solidFill>
                <a:latin typeface="Quicksand" pitchFamily="34" charset="0"/>
              </a:rPr>
              <a:t>wysu.org</a:t>
            </a:r>
            <a:endParaRPr lang="en-US" sz="668" dirty="0"/>
          </a:p>
          <a:p>
            <a:pPr marL="0" indent="0" algn="l">
              <a:lnSpc>
                <a:spcPts val="923"/>
              </a:lnSpc>
              <a:buNone/>
            </a:pPr>
            <a:r>
              <a:rPr lang="en-US" sz="668" u="sng" kern="0" spc="15" dirty="0">
                <a:solidFill>
                  <a:srgbClr val="8C6239"/>
                </a:solidFill>
                <a:latin typeface="Quicksand" pitchFamily="34" charset="0"/>
                <a:hlinkClick r:id="rId55">
                  <a:extLst>
                    <a:ext uri="{A12FA001-AC4F-418D-AE19-62706E023703}">
                      <ahyp:hlinkClr xmlns:ahyp="http://schemas.microsoft.com/office/drawing/2018/hyperlinkcolor" val="tx"/>
                    </a:ext>
                  </a:extLst>
                </a:hlinkClick>
              </a:rPr>
              <a:t>Prestige Consumer Healthcare</a:t>
            </a:r>
            <a:r>
              <a:rPr lang="en-US" sz="668" kern="0" spc="15" dirty="0">
                <a:solidFill>
                  <a:srgbClr val="333231"/>
                </a:solidFill>
                <a:latin typeface="Quicksand" pitchFamily="34" charset="0"/>
              </a:rPr>
              <a:t> </a:t>
            </a:r>
            <a:r>
              <a:rPr lang="en-US" sz="668" kern="0" spc="15" dirty="0">
                <a:solidFill>
                  <a:srgbClr val="6F6A66"/>
                </a:solidFill>
                <a:latin typeface="Quicksand" pitchFamily="34" charset="0"/>
              </a:rPr>
              <a:t>ir.prestigebrands.com</a:t>
            </a:r>
            <a:endParaRPr lang="en-US" sz="668" dirty="0"/>
          </a:p>
          <a:p>
            <a:pPr marL="0" indent="0" algn="l">
              <a:lnSpc>
                <a:spcPts val="923"/>
              </a:lnSpc>
              <a:buNone/>
            </a:pPr>
            <a:r>
              <a:rPr lang="en-US" sz="668" u="sng" kern="0" spc="15" dirty="0">
                <a:solidFill>
                  <a:srgbClr val="8C6239"/>
                </a:solidFill>
                <a:latin typeface="Quicksand" pitchFamily="34" charset="0"/>
                <a:hlinkClick r:id="rId56">
                  <a:extLst>
                    <a:ext uri="{A12FA001-AC4F-418D-AE19-62706E023703}">
                      <ahyp:hlinkClr xmlns:ahyp="http://schemas.microsoft.com/office/drawing/2018/hyperlinkcolor" val="tx"/>
                    </a:ext>
                  </a:extLst>
                </a:hlinkClick>
              </a:rPr>
              <a:t>Acme United and My Medic</a:t>
            </a:r>
            <a:r>
              <a:rPr lang="en-US" sz="668" kern="0" spc="15" dirty="0">
                <a:solidFill>
                  <a:srgbClr val="333231"/>
                </a:solidFill>
                <a:latin typeface="Quicksand" pitchFamily="34" charset="0"/>
              </a:rPr>
              <a:t> </a:t>
            </a:r>
            <a:r>
              <a:rPr lang="en-US" sz="668" kern="0" spc="15" dirty="0">
                <a:solidFill>
                  <a:srgbClr val="6F6A66"/>
                </a:solidFill>
                <a:latin typeface="Quicksand" pitchFamily="34" charset="0"/>
              </a:rPr>
              <a:t>sec.gov</a:t>
            </a:r>
            <a:endParaRPr lang="en-US" sz="668" dirty="0"/>
          </a:p>
          <a:p>
            <a:pPr marL="0" indent="0" algn="l">
              <a:lnSpc>
                <a:spcPts val="923"/>
              </a:lnSpc>
              <a:buNone/>
            </a:pPr>
            <a:r>
              <a:rPr lang="en-US" sz="668" u="sng" kern="0" spc="15" dirty="0">
                <a:solidFill>
                  <a:srgbClr val="8C6239"/>
                </a:solidFill>
                <a:latin typeface="Quicksand" pitchFamily="34" charset="0"/>
                <a:hlinkClick r:id="rId57">
                  <a:extLst>
                    <a:ext uri="{A12FA001-AC4F-418D-AE19-62706E023703}">
                      <ahyp:hlinkClr xmlns:ahyp="http://schemas.microsoft.com/office/drawing/2018/hyperlinkcolor" val="tx"/>
                    </a:ext>
                  </a:extLst>
                </a:hlinkClick>
              </a:rPr>
              <a:t>Request for FTC review of Sysco and Jetro</a:t>
            </a:r>
            <a:r>
              <a:rPr lang="en-US" sz="668" kern="0" spc="15" dirty="0">
                <a:solidFill>
                  <a:srgbClr val="333231"/>
                </a:solidFill>
                <a:latin typeface="Quicksand" pitchFamily="34" charset="0"/>
              </a:rPr>
              <a:t> </a:t>
            </a:r>
            <a:r>
              <a:rPr lang="en-US" sz="668" kern="0" spc="15" dirty="0">
                <a:solidFill>
                  <a:srgbClr val="6F6A66"/>
                </a:solidFill>
                <a:latin typeface="Quicksand" pitchFamily="34" charset="0"/>
              </a:rPr>
              <a:t>agri-pulse.com</a:t>
            </a:r>
            <a:endParaRPr lang="en-US" sz="668" dirty="0"/>
          </a:p>
          <a:p>
            <a:pPr marL="0" indent="0" algn="l">
              <a:lnSpc>
                <a:spcPts val="923"/>
              </a:lnSpc>
              <a:buNone/>
            </a:pPr>
            <a:r>
              <a:rPr lang="en-US" sz="668" u="sng" kern="0" spc="15" dirty="0">
                <a:solidFill>
                  <a:srgbClr val="8C6239"/>
                </a:solidFill>
                <a:latin typeface="Quicksand" pitchFamily="34" charset="0"/>
                <a:hlinkClick r:id="rId58">
                  <a:extLst>
                    <a:ext uri="{A12FA001-AC4F-418D-AE19-62706E023703}">
                      <ahyp:hlinkClr xmlns:ahyp="http://schemas.microsoft.com/office/drawing/2018/hyperlinkcolor" val="tx"/>
                    </a:ext>
                  </a:extLst>
                </a:hlinkClick>
              </a:rPr>
              <a:t>Standex on Federal Industries</a:t>
            </a:r>
            <a:r>
              <a:rPr lang="en-US" sz="668" kern="0" spc="15" dirty="0">
                <a:solidFill>
                  <a:srgbClr val="333231"/>
                </a:solidFill>
                <a:latin typeface="Quicksand" pitchFamily="34" charset="0"/>
              </a:rPr>
              <a:t> </a:t>
            </a:r>
            <a:r>
              <a:rPr lang="en-US" sz="668" kern="0" spc="15" dirty="0">
                <a:solidFill>
                  <a:srgbClr val="6F6A66"/>
                </a:solidFill>
                <a:latin typeface="Quicksand" pitchFamily="34" charset="0"/>
              </a:rPr>
              <a:t>ir.standex.com</a:t>
            </a:r>
            <a:endParaRPr lang="en-US" sz="668" dirty="0"/>
          </a:p>
          <a:p>
            <a:pPr marL="0" indent="0" algn="l">
              <a:lnSpc>
                <a:spcPts val="923"/>
              </a:lnSpc>
              <a:buNone/>
            </a:pPr>
            <a:r>
              <a:rPr lang="en-US" sz="668" u="sng" kern="0" spc="15" dirty="0">
                <a:solidFill>
                  <a:srgbClr val="8C6239"/>
                </a:solidFill>
                <a:latin typeface="Quicksand" pitchFamily="34" charset="0"/>
                <a:hlinkClick r:id="rId59">
                  <a:extLst>
                    <a:ext uri="{A12FA001-AC4F-418D-AE19-62706E023703}">
                      <ahyp:hlinkClr xmlns:ahyp="http://schemas.microsoft.com/office/drawing/2018/hyperlinkcolor" val="tx"/>
                    </a:ext>
                  </a:extLst>
                </a:hlinkClick>
              </a:rPr>
              <a:t>Singer Equipment and Bresco</a:t>
            </a:r>
            <a:r>
              <a:rPr lang="en-US" sz="668" kern="0" spc="15" dirty="0">
                <a:solidFill>
                  <a:srgbClr val="333231"/>
                </a:solidFill>
                <a:latin typeface="Quicksand" pitchFamily="34" charset="0"/>
              </a:rPr>
              <a:t> </a:t>
            </a:r>
            <a:r>
              <a:rPr lang="en-US" sz="668" kern="0" spc="15" dirty="0">
                <a:solidFill>
                  <a:srgbClr val="6F6A66"/>
                </a:solidFill>
                <a:latin typeface="Quicksand" pitchFamily="34" charset="0"/>
              </a:rPr>
              <a:t>fesmag.com</a:t>
            </a:r>
            <a:endParaRPr lang="en-US" sz="668" dirty="0"/>
          </a:p>
          <a:p>
            <a:pPr marL="0" indent="0" algn="l">
              <a:lnSpc>
                <a:spcPts val="923"/>
              </a:lnSpc>
              <a:buNone/>
            </a:pPr>
            <a:r>
              <a:rPr lang="en-US" sz="668" u="sng" kern="0" spc="15" dirty="0">
                <a:solidFill>
                  <a:srgbClr val="8C6239"/>
                </a:solidFill>
                <a:latin typeface="Quicksand" pitchFamily="34" charset="0"/>
                <a:hlinkClick r:id="rId60">
                  <a:extLst>
                    <a:ext uri="{A12FA001-AC4F-418D-AE19-62706E023703}">
                      <ahyp:hlinkClr xmlns:ahyp="http://schemas.microsoft.com/office/drawing/2018/hyperlinkcolor" val="tx"/>
                    </a:ext>
                  </a:extLst>
                </a:hlinkClick>
              </a:rPr>
              <a:t>Mister Car Wash results</a:t>
            </a:r>
            <a:r>
              <a:rPr lang="en-US" sz="668" kern="0" spc="15" dirty="0">
                <a:solidFill>
                  <a:srgbClr val="333231"/>
                </a:solidFill>
                <a:latin typeface="Quicksand" pitchFamily="34" charset="0"/>
              </a:rPr>
              <a:t> </a:t>
            </a:r>
            <a:r>
              <a:rPr lang="en-US" sz="668" kern="0" spc="15" dirty="0">
                <a:solidFill>
                  <a:srgbClr val="6F6A66"/>
                </a:solidFill>
                <a:latin typeface="Quicksand" pitchFamily="34" charset="0"/>
              </a:rPr>
              <a:t>app.edgar.tools</a:t>
            </a:r>
            <a:endParaRPr lang="en-US" sz="668" dirty="0"/>
          </a:p>
          <a:p>
            <a:pPr marL="0" indent="0" algn="l">
              <a:lnSpc>
                <a:spcPts val="923"/>
              </a:lnSpc>
              <a:buNone/>
            </a:pPr>
            <a:r>
              <a:rPr lang="en-US" sz="668" u="sng" kern="0" spc="15" dirty="0">
                <a:solidFill>
                  <a:srgbClr val="8C6239"/>
                </a:solidFill>
                <a:latin typeface="Quicksand" pitchFamily="34" charset="0"/>
                <a:hlinkClick r:id="rId61">
                  <a:extLst>
                    <a:ext uri="{A12FA001-AC4F-418D-AE19-62706E023703}">
                      <ahyp:hlinkClr xmlns:ahyp="http://schemas.microsoft.com/office/drawing/2018/hyperlinkcolor" val="tx"/>
                    </a:ext>
                  </a:extLst>
                </a:hlinkClick>
              </a:rPr>
              <a:t>PitchBook News on Guild Garage Group</a:t>
            </a:r>
            <a:r>
              <a:rPr lang="en-US" sz="668" kern="0" spc="15" dirty="0">
                <a:solidFill>
                  <a:srgbClr val="333231"/>
                </a:solidFill>
                <a:latin typeface="Quicksand" pitchFamily="34" charset="0"/>
              </a:rPr>
              <a:t> </a:t>
            </a:r>
            <a:r>
              <a:rPr lang="en-US" sz="668" kern="0" spc="15" dirty="0">
                <a:solidFill>
                  <a:srgbClr val="6F6A66"/>
                </a:solidFill>
                <a:latin typeface="Quicksand" pitchFamily="34" charset="0"/>
              </a:rPr>
              <a:t>finance.yahoo.com</a:t>
            </a:r>
            <a:endParaRPr lang="en-US" sz="668" dirty="0"/>
          </a:p>
          <a:p>
            <a:pPr marL="0" indent="0" algn="l">
              <a:lnSpc>
                <a:spcPts val="923"/>
              </a:lnSpc>
              <a:buNone/>
            </a:pPr>
            <a:r>
              <a:rPr lang="en-US" sz="668" u="sng" kern="0" spc="15" dirty="0">
                <a:solidFill>
                  <a:srgbClr val="8C6239"/>
                </a:solidFill>
                <a:latin typeface="Quicksand" pitchFamily="34" charset="0"/>
                <a:hlinkClick r:id="rId62">
                  <a:extLst>
                    <a:ext uri="{A12FA001-AC4F-418D-AE19-62706E023703}">
                      <ahyp:hlinkClr xmlns:ahyp="http://schemas.microsoft.com/office/drawing/2018/hyperlinkcolor" val="tx"/>
                    </a:ext>
                  </a:extLst>
                </a:hlinkClick>
              </a:rPr>
              <a:t>Oak Hill and Guild Garage Group</a:t>
            </a:r>
            <a:r>
              <a:rPr lang="en-US" sz="668" kern="0" spc="15" dirty="0">
                <a:solidFill>
                  <a:srgbClr val="333231"/>
                </a:solidFill>
                <a:latin typeface="Quicksand" pitchFamily="34" charset="0"/>
              </a:rPr>
              <a:t> </a:t>
            </a:r>
            <a:r>
              <a:rPr lang="en-US" sz="668" kern="0" spc="15" dirty="0">
                <a:solidFill>
                  <a:srgbClr val="6F6A66"/>
                </a:solidFill>
                <a:latin typeface="Quicksand" pitchFamily="34" charset="0"/>
              </a:rPr>
              <a:t>privateequitywire.co.uk</a:t>
            </a:r>
            <a:endParaRPr lang="en-US" sz="668" dirty="0"/>
          </a:p>
          <a:p>
            <a:pPr marL="0" indent="0" algn="l">
              <a:lnSpc>
                <a:spcPts val="923"/>
              </a:lnSpc>
              <a:buNone/>
            </a:pPr>
            <a:r>
              <a:rPr lang="en-US" sz="668" u="sng" kern="0" spc="15" dirty="0">
                <a:solidFill>
                  <a:srgbClr val="8C6239"/>
                </a:solidFill>
                <a:latin typeface="Quicksand" pitchFamily="34" charset="0"/>
                <a:hlinkClick r:id="rId63">
                  <a:extLst>
                    <a:ext uri="{A12FA001-AC4F-418D-AE19-62706E023703}">
                      <ahyp:hlinkClr xmlns:ahyp="http://schemas.microsoft.com/office/drawing/2018/hyperlinkcolor" val="tx"/>
                    </a:ext>
                  </a:extLst>
                </a:hlinkClick>
              </a:rPr>
              <a:t>Rollins and Romex Pest Control</a:t>
            </a:r>
            <a:r>
              <a:rPr lang="en-US" sz="668" kern="0" spc="15" dirty="0">
                <a:solidFill>
                  <a:srgbClr val="333231"/>
                </a:solidFill>
                <a:latin typeface="Quicksand" pitchFamily="34" charset="0"/>
              </a:rPr>
              <a:t> </a:t>
            </a:r>
            <a:r>
              <a:rPr lang="en-US" sz="668" kern="0" spc="15" dirty="0">
                <a:solidFill>
                  <a:srgbClr val="6F6A66"/>
                </a:solidFill>
                <a:latin typeface="Quicksand" pitchFamily="34" charset="0"/>
              </a:rPr>
              <a:t>rollins.com</a:t>
            </a:r>
            <a:endParaRPr lang="en-US" sz="668" dirty="0"/>
          </a:p>
          <a:p>
            <a:pPr marL="0" indent="0" algn="l">
              <a:lnSpc>
                <a:spcPts val="923"/>
              </a:lnSpc>
              <a:buNone/>
            </a:pPr>
            <a:r>
              <a:rPr lang="en-US" sz="668" u="sng" kern="0" spc="15" dirty="0">
                <a:solidFill>
                  <a:srgbClr val="8C6239"/>
                </a:solidFill>
                <a:latin typeface="Quicksand" pitchFamily="34" charset="0"/>
                <a:hlinkClick r:id="rId64">
                  <a:extLst>
                    <a:ext uri="{A12FA001-AC4F-418D-AE19-62706E023703}">
                      <ahyp:hlinkClr xmlns:ahyp="http://schemas.microsoft.com/office/drawing/2018/hyperlinkcolor" val="tx"/>
                    </a:ext>
                  </a:extLst>
                </a:hlinkClick>
              </a:rPr>
              <a:t>Rollins quarterly filing</a:t>
            </a:r>
            <a:r>
              <a:rPr lang="en-US" sz="668" kern="0" spc="15" dirty="0">
                <a:solidFill>
                  <a:srgbClr val="333231"/>
                </a:solidFill>
                <a:latin typeface="Quicksand" pitchFamily="34" charset="0"/>
              </a:rPr>
              <a:t> </a:t>
            </a:r>
            <a:r>
              <a:rPr lang="en-US" sz="668" kern="0" spc="15" dirty="0">
                <a:solidFill>
                  <a:srgbClr val="6F6A66"/>
                </a:solidFill>
                <a:latin typeface="Quicksand" pitchFamily="34" charset="0"/>
              </a:rPr>
              <a:t>sec.gov</a:t>
            </a:r>
            <a:endParaRPr lang="en-US" sz="668" dirty="0"/>
          </a:p>
          <a:p>
            <a:pPr marL="0" indent="0" algn="l">
              <a:lnSpc>
                <a:spcPts val="923"/>
              </a:lnSpc>
              <a:buNone/>
            </a:pPr>
            <a:r>
              <a:rPr lang="en-US" sz="668" u="sng" kern="0" spc="15" dirty="0">
                <a:solidFill>
                  <a:srgbClr val="8C6239"/>
                </a:solidFill>
                <a:latin typeface="Quicksand" pitchFamily="34" charset="0"/>
                <a:hlinkClick r:id="rId65">
                  <a:extLst>
                    <a:ext uri="{A12FA001-AC4F-418D-AE19-62706E023703}">
                      <ahyp:hlinkClr xmlns:ahyp="http://schemas.microsoft.com/office/drawing/2018/hyperlinkcolor" val="tx"/>
                    </a:ext>
                  </a:extLst>
                </a:hlinkClick>
              </a:rPr>
              <a:t>Gilco Restoration and Thomasville Restoration</a:t>
            </a:r>
            <a:r>
              <a:rPr lang="en-US" sz="668" kern="0" spc="15" dirty="0">
                <a:solidFill>
                  <a:srgbClr val="333231"/>
                </a:solidFill>
                <a:latin typeface="Quicksand" pitchFamily="34" charset="0"/>
              </a:rPr>
              <a:t> </a:t>
            </a:r>
            <a:r>
              <a:rPr lang="en-US" sz="668" kern="0" spc="15" dirty="0">
                <a:solidFill>
                  <a:srgbClr val="6F6A66"/>
                </a:solidFill>
                <a:latin typeface="Quicksand" pitchFamily="34" charset="0"/>
              </a:rPr>
              <a:t>benchmarkintl.com</a:t>
            </a:r>
            <a:endParaRPr lang="en-US" sz="668" dirty="0"/>
          </a:p>
          <a:p>
            <a:pPr marL="0" indent="0" algn="l">
              <a:lnSpc>
                <a:spcPts val="923"/>
              </a:lnSpc>
              <a:buNone/>
            </a:pPr>
            <a:r>
              <a:rPr lang="en-US" sz="668" u="sng" kern="0" spc="15" dirty="0">
                <a:solidFill>
                  <a:srgbClr val="8C6239"/>
                </a:solidFill>
                <a:latin typeface="Quicksand" pitchFamily="34" charset="0"/>
                <a:hlinkClick r:id="rId66">
                  <a:extLst>
                    <a:ext uri="{A12FA001-AC4F-418D-AE19-62706E023703}">
                      <ahyp:hlinkClr xmlns:ahyp="http://schemas.microsoft.com/office/drawing/2018/hyperlinkcolor" val="tx"/>
                    </a:ext>
                  </a:extLst>
                </a:hlinkClick>
              </a:rPr>
              <a:t>Edison Martial Arts and Elevate Youth Development</a:t>
            </a:r>
            <a:r>
              <a:rPr lang="en-US" sz="668" kern="0" spc="15" dirty="0">
                <a:solidFill>
                  <a:srgbClr val="333231"/>
                </a:solidFill>
                <a:latin typeface="Quicksand" pitchFamily="34" charset="0"/>
              </a:rPr>
              <a:t> </a:t>
            </a:r>
            <a:r>
              <a:rPr lang="en-US" sz="668" kern="0" spc="15" dirty="0">
                <a:solidFill>
                  <a:srgbClr val="6F6A66"/>
                </a:solidFill>
                <a:latin typeface="Quicksand" pitchFamily="34" charset="0"/>
              </a:rPr>
              <a:t>benchmarkintl.com</a:t>
            </a:r>
            <a:endParaRPr lang="en-US" sz="668" dirty="0"/>
          </a:p>
          <a:p>
            <a:pPr marL="0" indent="0" algn="l">
              <a:lnSpc>
                <a:spcPts val="923"/>
              </a:lnSpc>
              <a:buNone/>
            </a:pPr>
            <a:r>
              <a:rPr lang="en-US" sz="668" u="sng" kern="0" spc="15" dirty="0">
                <a:solidFill>
                  <a:srgbClr val="8C6239"/>
                </a:solidFill>
                <a:latin typeface="Quicksand" pitchFamily="34" charset="0"/>
                <a:hlinkClick r:id="rId67">
                  <a:extLst>
                    <a:ext uri="{A12FA001-AC4F-418D-AE19-62706E023703}">
                      <ahyp:hlinkClr xmlns:ahyp="http://schemas.microsoft.com/office/drawing/2018/hyperlinkcolor" val="tx"/>
                    </a:ext>
                  </a:extLst>
                </a:hlinkClick>
              </a:rPr>
              <a:t>Project Energy Savers and WRS Group</a:t>
            </a:r>
            <a:r>
              <a:rPr lang="en-US" sz="668" kern="0" spc="15" dirty="0">
                <a:solidFill>
                  <a:srgbClr val="333231"/>
                </a:solidFill>
                <a:latin typeface="Quicksand" pitchFamily="34" charset="0"/>
              </a:rPr>
              <a:t> </a:t>
            </a:r>
            <a:r>
              <a:rPr lang="en-US" sz="668" kern="0" spc="15" dirty="0">
                <a:solidFill>
                  <a:srgbClr val="6F6A66"/>
                </a:solidFill>
                <a:latin typeface="Quicksand" pitchFamily="34" charset="0"/>
              </a:rPr>
              <a:t>benchmarkintl.com</a:t>
            </a:r>
            <a:endParaRPr lang="en-US" sz="668" dirty="0"/>
          </a:p>
          <a:p>
            <a:pPr marL="0" indent="0" algn="l">
              <a:lnSpc>
                <a:spcPts val="923"/>
              </a:lnSpc>
              <a:buNone/>
            </a:pPr>
            <a:r>
              <a:rPr lang="en-US" sz="668" u="sng" kern="0" spc="15" dirty="0">
                <a:solidFill>
                  <a:srgbClr val="8C6239"/>
                </a:solidFill>
                <a:latin typeface="Quicksand" pitchFamily="34" charset="0"/>
                <a:hlinkClick r:id="rId68">
                  <a:extLst>
                    <a:ext uri="{A12FA001-AC4F-418D-AE19-62706E023703}">
                      <ahyp:hlinkClr xmlns:ahyp="http://schemas.microsoft.com/office/drawing/2018/hyperlinkcolor" val="tx"/>
                    </a:ext>
                  </a:extLst>
                </a:hlinkClick>
              </a:rPr>
              <a:t>Kittleson Landscape and Lancaster Group</a:t>
            </a:r>
            <a:r>
              <a:rPr lang="en-US" sz="668" kern="0" spc="15" dirty="0">
                <a:solidFill>
                  <a:srgbClr val="333231"/>
                </a:solidFill>
                <a:latin typeface="Quicksand" pitchFamily="34" charset="0"/>
              </a:rPr>
              <a:t> </a:t>
            </a:r>
            <a:r>
              <a:rPr lang="en-US" sz="668" kern="0" spc="15" dirty="0">
                <a:solidFill>
                  <a:srgbClr val="6F6A66"/>
                </a:solidFill>
                <a:latin typeface="Quicksand" pitchFamily="34" charset="0"/>
              </a:rPr>
              <a:t>benchmarkintl.com</a:t>
            </a:r>
            <a:endParaRPr lang="en-US" sz="668" dirty="0"/>
          </a:p>
          <a:p>
            <a:pPr marL="0" indent="0" algn="l">
              <a:lnSpc>
                <a:spcPts val="923"/>
              </a:lnSpc>
              <a:buNone/>
            </a:pPr>
            <a:r>
              <a:rPr lang="en-US" sz="668" u="sng" kern="0" spc="15" dirty="0">
                <a:solidFill>
                  <a:srgbClr val="8C6239"/>
                </a:solidFill>
                <a:latin typeface="Quicksand" pitchFamily="34" charset="0"/>
                <a:hlinkClick r:id="rId69">
                  <a:extLst>
                    <a:ext uri="{A12FA001-AC4F-418D-AE19-62706E023703}">
                      <ahyp:hlinkClr xmlns:ahyp="http://schemas.microsoft.com/office/drawing/2018/hyperlinkcolor" val="tx"/>
                    </a:ext>
                  </a:extLst>
                </a:hlinkClick>
              </a:rPr>
              <a:t>Jagimo Corporation and Castleford Group</a:t>
            </a:r>
            <a:r>
              <a:rPr lang="en-US" sz="668" kern="0" spc="15" dirty="0">
                <a:solidFill>
                  <a:srgbClr val="333231"/>
                </a:solidFill>
                <a:latin typeface="Quicksand" pitchFamily="34" charset="0"/>
              </a:rPr>
              <a:t> </a:t>
            </a:r>
            <a:r>
              <a:rPr lang="en-US" sz="668" kern="0" spc="15" dirty="0">
                <a:solidFill>
                  <a:srgbClr val="6F6A66"/>
                </a:solidFill>
                <a:latin typeface="Quicksand" pitchFamily="34" charset="0"/>
              </a:rPr>
              <a:t>benchmarkintl.com</a:t>
            </a:r>
            <a:endParaRPr lang="en-US" sz="668" dirty="0"/>
          </a:p>
          <a:p>
            <a:pPr marL="0" indent="0" algn="l">
              <a:lnSpc>
                <a:spcPts val="923"/>
              </a:lnSpc>
              <a:buNone/>
            </a:pPr>
            <a:r>
              <a:rPr lang="en-US" sz="668" u="sng" kern="0" spc="15" dirty="0">
                <a:solidFill>
                  <a:srgbClr val="8C6239"/>
                </a:solidFill>
                <a:latin typeface="Quicksand" pitchFamily="34" charset="0"/>
                <a:hlinkClick r:id="rId70">
                  <a:extLst>
                    <a:ext uri="{A12FA001-AC4F-418D-AE19-62706E023703}">
                      <ahyp:hlinkClr xmlns:ahyp="http://schemas.microsoft.com/office/drawing/2018/hyperlinkcolor" val="tx"/>
                    </a:ext>
                  </a:extLst>
                </a:hlinkClick>
              </a:rPr>
              <a:t>Telmark Sales Solutions and Market Performance Group</a:t>
            </a:r>
            <a:r>
              <a:rPr lang="en-US" sz="668" kern="0" spc="15" dirty="0">
                <a:solidFill>
                  <a:srgbClr val="333231"/>
                </a:solidFill>
                <a:latin typeface="Quicksand" pitchFamily="34" charset="0"/>
              </a:rPr>
              <a:t> </a:t>
            </a:r>
            <a:r>
              <a:rPr lang="en-US" sz="668" kern="0" spc="15" dirty="0">
                <a:solidFill>
                  <a:srgbClr val="6F6A66"/>
                </a:solidFill>
                <a:latin typeface="Quicksand" pitchFamily="34" charset="0"/>
              </a:rPr>
              <a:t>benchmarkintl.com</a:t>
            </a:r>
            <a:endParaRPr lang="en-US" sz="668" dirty="0"/>
          </a:p>
          <a:p>
            <a:pPr marL="0" indent="0" algn="l">
              <a:lnSpc>
                <a:spcPts val="923"/>
              </a:lnSpc>
              <a:buNone/>
            </a:pPr>
            <a:r>
              <a:rPr lang="en-US" sz="668" u="sng" kern="0" spc="15" dirty="0">
                <a:solidFill>
                  <a:srgbClr val="8C6239"/>
                </a:solidFill>
                <a:latin typeface="Quicksand" pitchFamily="34" charset="0"/>
                <a:hlinkClick r:id="rId71">
                  <a:extLst>
                    <a:ext uri="{A12FA001-AC4F-418D-AE19-62706E023703}">
                      <ahyp:hlinkClr xmlns:ahyp="http://schemas.microsoft.com/office/drawing/2018/hyperlinkcolor" val="tx"/>
                    </a:ext>
                  </a:extLst>
                </a:hlinkClick>
              </a:rPr>
              <a:t>Stepfar Investments and Classic Collision</a:t>
            </a:r>
            <a:r>
              <a:rPr lang="en-US" sz="668" kern="0" spc="15" dirty="0">
                <a:solidFill>
                  <a:srgbClr val="333231"/>
                </a:solidFill>
                <a:latin typeface="Quicksand" pitchFamily="34" charset="0"/>
              </a:rPr>
              <a:t> </a:t>
            </a:r>
            <a:r>
              <a:rPr lang="en-US" sz="668" kern="0" spc="15" dirty="0">
                <a:solidFill>
                  <a:srgbClr val="6F6A66"/>
                </a:solidFill>
                <a:latin typeface="Quicksand" pitchFamily="34" charset="0"/>
              </a:rPr>
              <a:t>benchmarkintl.com</a:t>
            </a:r>
            <a:endParaRPr lang="en-US" sz="668" dirty="0"/>
          </a:p>
          <a:p>
            <a:pPr marL="0" indent="0" algn="l">
              <a:lnSpc>
                <a:spcPts val="923"/>
              </a:lnSpc>
              <a:buNone/>
            </a:pPr>
            <a:r>
              <a:rPr lang="en-US" sz="668" u="sng" kern="0" spc="15" dirty="0">
                <a:solidFill>
                  <a:srgbClr val="8C6239"/>
                </a:solidFill>
                <a:latin typeface="Quicksand" pitchFamily="34" charset="0"/>
                <a:hlinkClick r:id="rId72">
                  <a:extLst>
                    <a:ext uri="{A12FA001-AC4F-418D-AE19-62706E023703}">
                      <ahyp:hlinkClr xmlns:ahyp="http://schemas.microsoft.com/office/drawing/2018/hyperlinkcolor" val="tx"/>
                    </a:ext>
                  </a:extLst>
                </a:hlinkClick>
              </a:rPr>
              <a:t>M&amp;M Roofing and Allied Roofing Partners</a:t>
            </a:r>
            <a:r>
              <a:rPr lang="en-US" sz="668" kern="0" spc="15" dirty="0">
                <a:solidFill>
                  <a:srgbClr val="333231"/>
                </a:solidFill>
                <a:latin typeface="Quicksand" pitchFamily="34" charset="0"/>
              </a:rPr>
              <a:t> </a:t>
            </a:r>
            <a:r>
              <a:rPr lang="en-US" sz="668" kern="0" spc="15" dirty="0">
                <a:solidFill>
                  <a:srgbClr val="6F6A66"/>
                </a:solidFill>
                <a:latin typeface="Quicksand" pitchFamily="34" charset="0"/>
              </a:rPr>
              <a:t>benchmarkintl.com</a:t>
            </a:r>
            <a:endParaRPr lang="en-US" sz="668" dirty="0"/>
          </a:p>
          <a:p>
            <a:pPr marL="0" indent="0" algn="l">
              <a:lnSpc>
                <a:spcPts val="923"/>
              </a:lnSpc>
              <a:buNone/>
            </a:pPr>
            <a:r>
              <a:rPr lang="en-US" sz="668" u="sng" kern="0" spc="15" dirty="0">
                <a:solidFill>
                  <a:srgbClr val="8C6239"/>
                </a:solidFill>
                <a:latin typeface="Quicksand" pitchFamily="34" charset="0"/>
                <a:hlinkClick r:id="rId73">
                  <a:extLst>
                    <a:ext uri="{A12FA001-AC4F-418D-AE19-62706E023703}">
                      <ahyp:hlinkClr xmlns:ahyp="http://schemas.microsoft.com/office/drawing/2018/hyperlinkcolor" val="tx"/>
                    </a:ext>
                  </a:extLst>
                </a:hlinkClick>
              </a:rPr>
              <a:t>Formulation Technology and AAVIN Private Equity</a:t>
            </a:r>
            <a:r>
              <a:rPr lang="en-US" sz="668" kern="0" spc="15" dirty="0">
                <a:solidFill>
                  <a:srgbClr val="333231"/>
                </a:solidFill>
                <a:latin typeface="Quicksand" pitchFamily="34" charset="0"/>
              </a:rPr>
              <a:t> </a:t>
            </a:r>
            <a:r>
              <a:rPr lang="en-US" sz="668" kern="0" spc="15" dirty="0">
                <a:solidFill>
                  <a:srgbClr val="6F6A66"/>
                </a:solidFill>
                <a:latin typeface="Quicksand" pitchFamily="34" charset="0"/>
              </a:rPr>
              <a:t>benchmarkintl.com</a:t>
            </a:r>
            <a:endParaRPr lang="en-US" sz="668" dirty="0"/>
          </a:p>
          <a:p>
            <a:pPr marL="0" indent="0" algn="l">
              <a:lnSpc>
                <a:spcPts val="923"/>
              </a:lnSpc>
              <a:buNone/>
            </a:pPr>
            <a:r>
              <a:rPr lang="en-US" sz="668" u="sng" kern="0" spc="15" dirty="0">
                <a:solidFill>
                  <a:srgbClr val="8C6239"/>
                </a:solidFill>
                <a:latin typeface="Quicksand" pitchFamily="34" charset="0"/>
                <a:hlinkClick r:id="rId74">
                  <a:extLst>
                    <a:ext uri="{A12FA001-AC4F-418D-AE19-62706E023703}">
                      <ahyp:hlinkClr xmlns:ahyp="http://schemas.microsoft.com/office/drawing/2018/hyperlinkcolor" val="tx"/>
                    </a:ext>
                  </a:extLst>
                </a:hlinkClick>
              </a:rPr>
              <a:t>Arocam and Innova Capital</a:t>
            </a:r>
            <a:r>
              <a:rPr lang="en-US" sz="668" kern="0" spc="15" dirty="0">
                <a:solidFill>
                  <a:srgbClr val="333231"/>
                </a:solidFill>
                <a:latin typeface="Quicksand" pitchFamily="34" charset="0"/>
              </a:rPr>
              <a:t> </a:t>
            </a:r>
            <a:r>
              <a:rPr lang="en-US" sz="668" kern="0" spc="15" dirty="0">
                <a:solidFill>
                  <a:srgbClr val="6F6A66"/>
                </a:solidFill>
                <a:latin typeface="Quicksand" pitchFamily="34" charset="0"/>
              </a:rPr>
              <a:t>benchmarkintl.com</a:t>
            </a:r>
            <a:endParaRPr lang="en-US" sz="668" dirty="0"/>
          </a:p>
          <a:p>
            <a:pPr marL="0" indent="0" algn="l">
              <a:lnSpc>
                <a:spcPts val="923"/>
              </a:lnSpc>
              <a:buNone/>
            </a:pPr>
            <a:r>
              <a:rPr lang="en-US" sz="668" u="sng" kern="0" spc="15" dirty="0">
                <a:solidFill>
                  <a:srgbClr val="8C6239"/>
                </a:solidFill>
                <a:latin typeface="Quicksand" pitchFamily="34" charset="0"/>
                <a:hlinkClick r:id="rId75">
                  <a:extLst>
                    <a:ext uri="{A12FA001-AC4F-418D-AE19-62706E023703}">
                      <ahyp:hlinkClr xmlns:ahyp="http://schemas.microsoft.com/office/drawing/2018/hyperlinkcolor" val="tx"/>
                    </a:ext>
                  </a:extLst>
                </a:hlinkClick>
              </a:rPr>
              <a:t>Stirling Food Systems and GreaseCycle</a:t>
            </a:r>
            <a:r>
              <a:rPr lang="en-US" sz="668" kern="0" spc="15" dirty="0">
                <a:solidFill>
                  <a:srgbClr val="333231"/>
                </a:solidFill>
                <a:latin typeface="Quicksand" pitchFamily="34" charset="0"/>
              </a:rPr>
              <a:t> </a:t>
            </a:r>
            <a:r>
              <a:rPr lang="en-US" sz="668" kern="0" spc="15" dirty="0">
                <a:solidFill>
                  <a:srgbClr val="6F6A66"/>
                </a:solidFill>
                <a:latin typeface="Quicksand" pitchFamily="34" charset="0"/>
              </a:rPr>
              <a:t>benchmarkintl.com</a:t>
            </a:r>
            <a:endParaRPr lang="en-US" sz="668" dirty="0"/>
          </a:p>
          <a:p>
            <a:pPr marL="0" indent="0" algn="l">
              <a:lnSpc>
                <a:spcPts val="923"/>
              </a:lnSpc>
              <a:buNone/>
            </a:pPr>
            <a:r>
              <a:rPr lang="en-US" sz="668" u="sng" kern="0" spc="15" dirty="0">
                <a:solidFill>
                  <a:srgbClr val="8C6239"/>
                </a:solidFill>
                <a:latin typeface="Quicksand" pitchFamily="34" charset="0"/>
                <a:hlinkClick r:id="rId76">
                  <a:extLst>
                    <a:ext uri="{A12FA001-AC4F-418D-AE19-62706E023703}">
                      <ahyp:hlinkClr xmlns:ahyp="http://schemas.microsoft.com/office/drawing/2018/hyperlinkcolor" val="tx"/>
                    </a:ext>
                  </a:extLst>
                </a:hlinkClick>
              </a:rPr>
              <a:t>Affordable Garage Door and A.S.A.P. Garage Door Repair</a:t>
            </a:r>
            <a:r>
              <a:rPr lang="en-US" sz="668" kern="0" spc="15" dirty="0">
                <a:solidFill>
                  <a:srgbClr val="333231"/>
                </a:solidFill>
                <a:latin typeface="Quicksand" pitchFamily="34" charset="0"/>
              </a:rPr>
              <a:t> </a:t>
            </a:r>
            <a:r>
              <a:rPr lang="en-US" sz="668" kern="0" spc="15" dirty="0">
                <a:solidFill>
                  <a:srgbClr val="6F6A66"/>
                </a:solidFill>
                <a:latin typeface="Quicksand" pitchFamily="34" charset="0"/>
              </a:rPr>
              <a:t>benchmarkintl.com</a:t>
            </a:r>
            <a:endParaRPr lang="en-US" sz="668" dirty="0"/>
          </a:p>
          <a:p>
            <a:pPr marL="0" indent="0" algn="l">
              <a:lnSpc>
                <a:spcPts val="923"/>
              </a:lnSpc>
              <a:buNone/>
            </a:pPr>
            <a:r>
              <a:rPr lang="en-US" sz="668" u="sng" kern="0" spc="15" dirty="0">
                <a:solidFill>
                  <a:srgbClr val="8C6239"/>
                </a:solidFill>
                <a:latin typeface="Quicksand" pitchFamily="34" charset="0"/>
                <a:hlinkClick r:id="rId77">
                  <a:extLst>
                    <a:ext uri="{A12FA001-AC4F-418D-AE19-62706E023703}">
                      <ahyp:hlinkClr xmlns:ahyp="http://schemas.microsoft.com/office/drawing/2018/hyperlinkcolor" val="tx"/>
                    </a:ext>
                  </a:extLst>
                </a:hlinkClick>
              </a:rPr>
              <a:t>GSM Wings and GPC Investments</a:t>
            </a:r>
            <a:r>
              <a:rPr lang="en-US" sz="668" kern="0" spc="15" dirty="0">
                <a:solidFill>
                  <a:srgbClr val="333231"/>
                </a:solidFill>
                <a:latin typeface="Quicksand" pitchFamily="34" charset="0"/>
              </a:rPr>
              <a:t> </a:t>
            </a:r>
            <a:r>
              <a:rPr lang="en-US" sz="668" kern="0" spc="15" dirty="0">
                <a:solidFill>
                  <a:srgbClr val="6F6A66"/>
                </a:solidFill>
                <a:latin typeface="Quicksand" pitchFamily="34" charset="0"/>
              </a:rPr>
              <a:t>benchmarkintl.com</a:t>
            </a:r>
            <a:endParaRPr lang="en-US" sz="668" dirty="0"/>
          </a:p>
          <a:p>
            <a:pPr marL="0" indent="0" algn="l">
              <a:lnSpc>
                <a:spcPts val="923"/>
              </a:lnSpc>
              <a:buNone/>
            </a:pPr>
            <a:r>
              <a:rPr lang="en-US" sz="668" u="sng" kern="0" spc="15" dirty="0">
                <a:solidFill>
                  <a:srgbClr val="8C6239"/>
                </a:solidFill>
                <a:latin typeface="Quicksand" pitchFamily="34" charset="0"/>
                <a:hlinkClick r:id="rId78">
                  <a:extLst>
                    <a:ext uri="{A12FA001-AC4F-418D-AE19-62706E023703}">
                      <ahyp:hlinkClr xmlns:ahyp="http://schemas.microsoft.com/office/drawing/2018/hyperlinkcolor" val="tx"/>
                    </a:ext>
                  </a:extLst>
                </a:hlinkClick>
              </a:rPr>
              <a:t>Southern Pool Designs</a:t>
            </a:r>
            <a:r>
              <a:rPr lang="en-US" sz="668" kern="0" spc="15" dirty="0">
                <a:solidFill>
                  <a:srgbClr val="333231"/>
                </a:solidFill>
                <a:latin typeface="Quicksand" pitchFamily="34" charset="0"/>
              </a:rPr>
              <a:t> </a:t>
            </a:r>
            <a:r>
              <a:rPr lang="en-US" sz="668" kern="0" spc="15" dirty="0">
                <a:solidFill>
                  <a:srgbClr val="6F6A66"/>
                </a:solidFill>
                <a:latin typeface="Quicksand" pitchFamily="34" charset="0"/>
              </a:rPr>
              <a:t>benchmarkintl.com</a:t>
            </a:r>
            <a:endParaRPr lang="en-US" sz="668" dirty="0"/>
          </a:p>
          <a:p>
            <a:pPr marL="0" indent="0" algn="l">
              <a:lnSpc>
                <a:spcPts val="923"/>
              </a:lnSpc>
              <a:buNone/>
            </a:pPr>
            <a:r>
              <a:rPr lang="en-US" sz="668" u="sng" kern="0" spc="15" dirty="0">
                <a:solidFill>
                  <a:srgbClr val="8C6239"/>
                </a:solidFill>
                <a:latin typeface="Quicksand" pitchFamily="34" charset="0"/>
                <a:hlinkClick r:id="rId79">
                  <a:extLst>
                    <a:ext uri="{A12FA001-AC4F-418D-AE19-62706E023703}">
                      <ahyp:hlinkClr xmlns:ahyp="http://schemas.microsoft.com/office/drawing/2018/hyperlinkcolor" val="tx"/>
                    </a:ext>
                  </a:extLst>
                </a:hlinkClick>
              </a:rPr>
              <a:t>Smart Buffet Ware and Front of House Worldwide</a:t>
            </a:r>
            <a:r>
              <a:rPr lang="en-US" sz="668" kern="0" spc="15" dirty="0">
                <a:solidFill>
                  <a:srgbClr val="333231"/>
                </a:solidFill>
                <a:latin typeface="Quicksand" pitchFamily="34" charset="0"/>
              </a:rPr>
              <a:t> </a:t>
            </a:r>
            <a:r>
              <a:rPr lang="en-US" sz="668" kern="0" spc="15" dirty="0">
                <a:solidFill>
                  <a:srgbClr val="6F6A66"/>
                </a:solidFill>
                <a:latin typeface="Quicksand" pitchFamily="34" charset="0"/>
              </a:rPr>
              <a:t>benchmarkintl.com</a:t>
            </a:r>
            <a:endParaRPr lang="en-US" sz="668" dirty="0"/>
          </a:p>
          <a:p>
            <a:pPr marL="0" indent="0" algn="l">
              <a:lnSpc>
                <a:spcPts val="923"/>
              </a:lnSpc>
              <a:buNone/>
            </a:pPr>
            <a:r>
              <a:rPr lang="en-US" sz="668" u="sng" kern="0" spc="15" dirty="0">
                <a:solidFill>
                  <a:srgbClr val="8C6239"/>
                </a:solidFill>
                <a:latin typeface="Quicksand" pitchFamily="34" charset="0"/>
                <a:hlinkClick r:id="rId80">
                  <a:extLst>
                    <a:ext uri="{A12FA001-AC4F-418D-AE19-62706E023703}">
                      <ahyp:hlinkClr xmlns:ahyp="http://schemas.microsoft.com/office/drawing/2018/hyperlinkcolor" val="tx"/>
                    </a:ext>
                  </a:extLst>
                </a:hlinkClick>
              </a:rPr>
              <a:t>Nova Seafood and Highwood Harbor</a:t>
            </a:r>
            <a:r>
              <a:rPr lang="en-US" sz="668" kern="0" spc="15" dirty="0">
                <a:solidFill>
                  <a:srgbClr val="333231"/>
                </a:solidFill>
                <a:latin typeface="Quicksand" pitchFamily="34" charset="0"/>
              </a:rPr>
              <a:t> </a:t>
            </a:r>
            <a:r>
              <a:rPr lang="en-US" sz="668" kern="0" spc="15" dirty="0">
                <a:solidFill>
                  <a:srgbClr val="6F6A66"/>
                </a:solidFill>
                <a:latin typeface="Quicksand" pitchFamily="34" charset="0"/>
              </a:rPr>
              <a:t>benchmarkintl.com</a:t>
            </a:r>
            <a:endParaRPr lang="en-US" sz="668" dirty="0"/>
          </a:p>
          <a:p>
            <a:pPr marL="0" indent="0" algn="l">
              <a:lnSpc>
                <a:spcPts val="923"/>
              </a:lnSpc>
              <a:buNone/>
            </a:pPr>
            <a:r>
              <a:rPr lang="en-US" sz="668" u="sng" kern="0" spc="15" dirty="0">
                <a:solidFill>
                  <a:srgbClr val="8C6239"/>
                </a:solidFill>
                <a:latin typeface="Quicksand" pitchFamily="34" charset="0"/>
                <a:hlinkClick r:id="rId81">
                  <a:extLst>
                    <a:ext uri="{A12FA001-AC4F-418D-AE19-62706E023703}">
                      <ahyp:hlinkClr xmlns:ahyp="http://schemas.microsoft.com/office/drawing/2018/hyperlinkcolor" val="tx"/>
                    </a:ext>
                  </a:extLst>
                </a:hlinkClick>
              </a:rPr>
              <a:t>Palm Coast Sales and Fourshore Partners</a:t>
            </a:r>
            <a:r>
              <a:rPr lang="en-US" sz="668" kern="0" spc="15" dirty="0">
                <a:solidFill>
                  <a:srgbClr val="333231"/>
                </a:solidFill>
                <a:latin typeface="Quicksand" pitchFamily="34" charset="0"/>
              </a:rPr>
              <a:t> </a:t>
            </a:r>
            <a:r>
              <a:rPr lang="en-US" sz="668" kern="0" spc="15" dirty="0">
                <a:solidFill>
                  <a:srgbClr val="6F6A66"/>
                </a:solidFill>
                <a:latin typeface="Quicksand" pitchFamily="34" charset="0"/>
              </a:rPr>
              <a:t>benchmarkintl.com</a:t>
            </a:r>
            <a:endParaRPr lang="en-US" sz="668" dirty="0"/>
          </a:p>
          <a:p>
            <a:pPr marL="0" indent="0" algn="l">
              <a:lnSpc>
                <a:spcPts val="923"/>
              </a:lnSpc>
              <a:buNone/>
            </a:pPr>
            <a:r>
              <a:rPr lang="en-US" sz="668" u="sng" kern="0" spc="15" dirty="0">
                <a:solidFill>
                  <a:srgbClr val="8C6239"/>
                </a:solidFill>
                <a:latin typeface="Quicksand" pitchFamily="34" charset="0"/>
                <a:hlinkClick r:id="rId82">
                  <a:extLst>
                    <a:ext uri="{A12FA001-AC4F-418D-AE19-62706E023703}">
                      <ahyp:hlinkClr xmlns:ahyp="http://schemas.microsoft.com/office/drawing/2018/hyperlinkcolor" val="tx"/>
                    </a:ext>
                  </a:extLst>
                </a:hlinkClick>
              </a:rPr>
              <a:t>Benchmark International, Our Success</a:t>
            </a:r>
            <a:r>
              <a:rPr lang="en-US" sz="668" kern="0" spc="15" dirty="0">
                <a:solidFill>
                  <a:srgbClr val="333231"/>
                </a:solidFill>
                <a:latin typeface="Quicksand" pitchFamily="34" charset="0"/>
              </a:rPr>
              <a:t> </a:t>
            </a:r>
            <a:r>
              <a:rPr lang="en-US" sz="668" kern="0" spc="15" dirty="0">
                <a:solidFill>
                  <a:srgbClr val="6F6A66"/>
                </a:solidFill>
                <a:latin typeface="Quicksand" pitchFamily="34" charset="0"/>
              </a:rPr>
              <a:t>benchmarkintl.com</a:t>
            </a:r>
            <a:endParaRPr lang="en-US" sz="668" dirty="0"/>
          </a:p>
          <a:p>
            <a:pPr marL="0" indent="0" algn="l">
              <a:lnSpc>
                <a:spcPts val="923"/>
              </a:lnSpc>
              <a:buNone/>
            </a:pPr>
            <a:r>
              <a:rPr lang="en-US" sz="668" u="sng" kern="0" spc="15" dirty="0">
                <a:solidFill>
                  <a:srgbClr val="8C6239"/>
                </a:solidFill>
                <a:latin typeface="Quicksand" pitchFamily="34" charset="0"/>
                <a:hlinkClick r:id="rId83">
                  <a:extLst>
                    <a:ext uri="{A12FA001-AC4F-418D-AE19-62706E023703}">
                      <ahyp:hlinkClr xmlns:ahyp="http://schemas.microsoft.com/office/drawing/2018/hyperlinkcolor" val="tx"/>
                    </a:ext>
                  </a:extLst>
                </a:hlinkClick>
              </a:rPr>
              <a:t>Bain 2026 private equity report</a:t>
            </a:r>
            <a:r>
              <a:rPr lang="en-US" sz="668" kern="0" spc="15" dirty="0">
                <a:solidFill>
                  <a:srgbClr val="333231"/>
                </a:solidFill>
                <a:latin typeface="Quicksand" pitchFamily="34" charset="0"/>
              </a:rPr>
              <a:t> </a:t>
            </a:r>
            <a:r>
              <a:rPr lang="en-US" sz="668" kern="0" spc="15" dirty="0">
                <a:solidFill>
                  <a:srgbClr val="6F6A66"/>
                </a:solidFill>
                <a:latin typeface="Quicksand" pitchFamily="34" charset="0"/>
              </a:rPr>
              <a:t>bain.com</a:t>
            </a:r>
            <a:endParaRPr lang="en-US" sz="668" dirty="0"/>
          </a:p>
          <a:p>
            <a:pPr marL="0" indent="0" algn="l">
              <a:lnSpc>
                <a:spcPts val="923"/>
              </a:lnSpc>
              <a:buNone/>
            </a:pPr>
            <a:r>
              <a:rPr lang="en-US" sz="668" u="sng" kern="0" spc="15" dirty="0">
                <a:solidFill>
                  <a:srgbClr val="8C6239"/>
                </a:solidFill>
                <a:latin typeface="Quicksand" pitchFamily="34" charset="0"/>
                <a:hlinkClick r:id="rId84">
                  <a:extLst>
                    <a:ext uri="{A12FA001-AC4F-418D-AE19-62706E023703}">
                      <ahyp:hlinkClr xmlns:ahyp="http://schemas.microsoft.com/office/drawing/2018/hyperlinkcolor" val="tx"/>
                    </a:ext>
                  </a:extLst>
                </a:hlinkClick>
              </a:rPr>
              <a:t>StockAnalysis</a:t>
            </a:r>
            <a:r>
              <a:rPr lang="en-US" sz="668" kern="0" spc="15" dirty="0">
                <a:solidFill>
                  <a:srgbClr val="333231"/>
                </a:solidFill>
                <a:latin typeface="Quicksand" pitchFamily="34" charset="0"/>
              </a:rPr>
              <a:t> </a:t>
            </a:r>
            <a:r>
              <a:rPr lang="en-US" sz="668" kern="0" spc="15" dirty="0">
                <a:solidFill>
                  <a:srgbClr val="6F6A66"/>
                </a:solidFill>
                <a:latin typeface="Quicksand" pitchFamily="34" charset="0"/>
              </a:rPr>
              <a:t>stockanalysis.com</a:t>
            </a:r>
            <a:endParaRPr lang="en-US" sz="668" dirty="0"/>
          </a:p>
          <a:p>
            <a:pPr marL="0" indent="0" algn="l">
              <a:lnSpc>
                <a:spcPts val="923"/>
              </a:lnSpc>
              <a:buNone/>
            </a:pPr>
            <a:r>
              <a:rPr lang="en-US" sz="668" u="sng" kern="0" spc="15" dirty="0">
                <a:solidFill>
                  <a:srgbClr val="8C6239"/>
                </a:solidFill>
                <a:latin typeface="Quicksand" pitchFamily="34" charset="0"/>
                <a:hlinkClick r:id="rId85">
                  <a:extLst>
                    <a:ext uri="{A12FA001-AC4F-418D-AE19-62706E023703}">
                      <ahyp:hlinkClr xmlns:ahyp="http://schemas.microsoft.com/office/drawing/2018/hyperlinkcolor" val="tx"/>
                    </a:ext>
                  </a:extLst>
                </a:hlinkClick>
              </a:rPr>
              <a:t>Church &amp; Dwight and Touchland</a:t>
            </a:r>
            <a:r>
              <a:rPr lang="en-US" sz="668" kern="0" spc="15" dirty="0">
                <a:solidFill>
                  <a:srgbClr val="333231"/>
                </a:solidFill>
                <a:latin typeface="Quicksand" pitchFamily="34" charset="0"/>
              </a:rPr>
              <a:t> </a:t>
            </a:r>
            <a:r>
              <a:rPr lang="en-US" sz="668" kern="0" spc="15" dirty="0">
                <a:solidFill>
                  <a:srgbClr val="6F6A66"/>
                </a:solidFill>
                <a:latin typeface="Quicksand" pitchFamily="34" charset="0"/>
              </a:rPr>
              <a:t>businesswire.com</a:t>
            </a:r>
            <a:endParaRPr lang="en-US" sz="668" dirty="0"/>
          </a:p>
          <a:p>
            <a:pPr marL="0" indent="0" algn="l">
              <a:lnSpc>
                <a:spcPts val="923"/>
              </a:lnSpc>
              <a:buNone/>
            </a:pPr>
            <a:r>
              <a:rPr lang="en-US" sz="668" u="sng" kern="0" spc="15" dirty="0">
                <a:solidFill>
                  <a:srgbClr val="8C6239"/>
                </a:solidFill>
                <a:latin typeface="Quicksand" pitchFamily="34" charset="0"/>
                <a:hlinkClick r:id="rId86">
                  <a:extLst>
                    <a:ext uri="{A12FA001-AC4F-418D-AE19-62706E023703}">
                      <ahyp:hlinkClr xmlns:ahyp="http://schemas.microsoft.com/office/drawing/2018/hyperlinkcolor" val="tx"/>
                    </a:ext>
                  </a:extLst>
                </a:hlinkClick>
              </a:rPr>
              <a:t>FRED: Retail and food services sales (MRTSSM44X72USS)</a:t>
            </a:r>
            <a:r>
              <a:rPr lang="en-US" sz="668" kern="0" spc="15" dirty="0">
                <a:solidFill>
                  <a:srgbClr val="333231"/>
                </a:solidFill>
                <a:latin typeface="Quicksand" pitchFamily="34" charset="0"/>
              </a:rPr>
              <a:t> </a:t>
            </a:r>
            <a:r>
              <a:rPr lang="en-US" sz="668" kern="0" spc="15" dirty="0">
                <a:solidFill>
                  <a:srgbClr val="6F6A66"/>
                </a:solidFill>
                <a:latin typeface="Quicksand" pitchFamily="34" charset="0"/>
              </a:rPr>
              <a:t>fred.stlouisfed.org</a:t>
            </a:r>
            <a:endParaRPr lang="en-US" sz="668" dirty="0"/>
          </a:p>
          <a:p>
            <a:pPr marL="0" indent="0" algn="l">
              <a:lnSpc>
                <a:spcPts val="923"/>
              </a:lnSpc>
              <a:buNone/>
            </a:pPr>
            <a:r>
              <a:rPr lang="en-US" sz="668" u="sng" kern="0" spc="15" dirty="0">
                <a:solidFill>
                  <a:srgbClr val="8C6239"/>
                </a:solidFill>
                <a:latin typeface="Quicksand" pitchFamily="34" charset="0"/>
                <a:hlinkClick r:id="rId87">
                  <a:extLst>
                    <a:ext uri="{A12FA001-AC4F-418D-AE19-62706E023703}">
                      <ahyp:hlinkClr xmlns:ahyp="http://schemas.microsoft.com/office/drawing/2018/hyperlinkcolor" val="tx"/>
                    </a:ext>
                  </a:extLst>
                </a:hlinkClick>
              </a:rPr>
              <a:t>Census advance release</a:t>
            </a:r>
            <a:r>
              <a:rPr lang="en-US" sz="668" kern="0" spc="15" dirty="0">
                <a:solidFill>
                  <a:srgbClr val="333231"/>
                </a:solidFill>
                <a:latin typeface="Quicksand" pitchFamily="34" charset="0"/>
              </a:rPr>
              <a:t> </a:t>
            </a:r>
            <a:r>
              <a:rPr lang="en-US" sz="668" kern="0" spc="15" dirty="0">
                <a:solidFill>
                  <a:srgbClr val="6F6A66"/>
                </a:solidFill>
                <a:latin typeface="Quicksand" pitchFamily="34" charset="0"/>
              </a:rPr>
              <a:t>census.gov</a:t>
            </a:r>
            <a:endParaRPr lang="en-US" sz="668" dirty="0"/>
          </a:p>
          <a:p>
            <a:pPr marL="0" indent="0" algn="l">
              <a:lnSpc>
                <a:spcPts val="923"/>
              </a:lnSpc>
              <a:buNone/>
            </a:pPr>
            <a:r>
              <a:rPr lang="en-US" sz="668" u="sng" kern="0" spc="15" dirty="0">
                <a:solidFill>
                  <a:srgbClr val="8C6239"/>
                </a:solidFill>
                <a:latin typeface="Quicksand" pitchFamily="34" charset="0"/>
                <a:hlinkClick r:id="rId88">
                  <a:extLst>
                    <a:ext uri="{A12FA001-AC4F-418D-AE19-62706E023703}">
                      <ahyp:hlinkClr xmlns:ahyp="http://schemas.microsoft.com/office/drawing/2018/hyperlinkcolor" val="tx"/>
                    </a:ext>
                  </a:extLst>
                </a:hlinkClick>
              </a:rPr>
              <a:t>FRED: Food services and drinking places sales (MRTSSM722USS)</a:t>
            </a:r>
            <a:r>
              <a:rPr lang="en-US" sz="668" kern="0" spc="15" dirty="0">
                <a:solidFill>
                  <a:srgbClr val="333231"/>
                </a:solidFill>
                <a:latin typeface="Quicksand" pitchFamily="34" charset="0"/>
              </a:rPr>
              <a:t> </a:t>
            </a:r>
            <a:r>
              <a:rPr lang="en-US" sz="668" kern="0" spc="15" dirty="0">
                <a:solidFill>
                  <a:srgbClr val="6F6A66"/>
                </a:solidFill>
                <a:latin typeface="Quicksand" pitchFamily="34" charset="0"/>
              </a:rPr>
              <a:t>fred.stlouisfed.org</a:t>
            </a:r>
            <a:endParaRPr lang="en-US" sz="668" dirty="0"/>
          </a:p>
          <a:p>
            <a:pPr marL="0" indent="0" algn="l">
              <a:lnSpc>
                <a:spcPts val="923"/>
              </a:lnSpc>
              <a:buNone/>
            </a:pPr>
            <a:r>
              <a:rPr lang="en-US" sz="668" u="sng" kern="0" spc="15" dirty="0">
                <a:solidFill>
                  <a:srgbClr val="8C6239"/>
                </a:solidFill>
                <a:latin typeface="Quicksand" pitchFamily="34" charset="0"/>
                <a:hlinkClick r:id="rId89">
                  <a:extLst>
                    <a:ext uri="{A12FA001-AC4F-418D-AE19-62706E023703}">
                      <ahyp:hlinkClr xmlns:ahyp="http://schemas.microsoft.com/office/drawing/2018/hyperlinkcolor" val="tx"/>
                    </a:ext>
                  </a:extLst>
                </a:hlinkClick>
              </a:rPr>
              <a:t>FRED: E-commerce share of retail sales (ECOMPCTSA)</a:t>
            </a:r>
            <a:r>
              <a:rPr lang="en-US" sz="668" kern="0" spc="15" dirty="0">
                <a:solidFill>
                  <a:srgbClr val="333231"/>
                </a:solidFill>
                <a:latin typeface="Quicksand" pitchFamily="34" charset="0"/>
              </a:rPr>
              <a:t> </a:t>
            </a:r>
            <a:r>
              <a:rPr lang="en-US" sz="668" kern="0" spc="15" dirty="0">
                <a:solidFill>
                  <a:srgbClr val="6F6A66"/>
                </a:solidFill>
                <a:latin typeface="Quicksand" pitchFamily="34" charset="0"/>
              </a:rPr>
              <a:t>fred.stlouisfed.org</a:t>
            </a:r>
            <a:endParaRPr lang="en-US" sz="668" dirty="0"/>
          </a:p>
          <a:p>
            <a:pPr marL="0" indent="0" algn="l">
              <a:lnSpc>
                <a:spcPts val="923"/>
              </a:lnSpc>
              <a:buNone/>
            </a:pPr>
            <a:r>
              <a:rPr lang="en-US" sz="668" u="sng" kern="0" spc="15" dirty="0">
                <a:solidFill>
                  <a:srgbClr val="8C6239"/>
                </a:solidFill>
                <a:latin typeface="Quicksand" pitchFamily="34" charset="0"/>
                <a:hlinkClick r:id="rId90">
                  <a:extLst>
                    <a:ext uri="{A12FA001-AC4F-418D-AE19-62706E023703}">
                      <ahyp:hlinkClr xmlns:ahyp="http://schemas.microsoft.com/office/drawing/2018/hyperlinkcolor" val="tx"/>
                    </a:ext>
                  </a:extLst>
                </a:hlinkClick>
              </a:rPr>
              <a:t>FRED: Consumer sentiment (UMCSENT)</a:t>
            </a:r>
            <a:r>
              <a:rPr lang="en-US" sz="668" kern="0" spc="15" dirty="0">
                <a:solidFill>
                  <a:srgbClr val="333231"/>
                </a:solidFill>
                <a:latin typeface="Quicksand" pitchFamily="34" charset="0"/>
              </a:rPr>
              <a:t> </a:t>
            </a:r>
            <a:r>
              <a:rPr lang="en-US" sz="668" kern="0" spc="15" dirty="0">
                <a:solidFill>
                  <a:srgbClr val="6F6A66"/>
                </a:solidFill>
                <a:latin typeface="Quicksand" pitchFamily="34" charset="0"/>
              </a:rPr>
              <a:t>fred.stlouisfed.org</a:t>
            </a:r>
            <a:endParaRPr lang="en-US" sz="668" dirty="0"/>
          </a:p>
          <a:p>
            <a:pPr marL="0" indent="0" algn="l">
              <a:lnSpc>
                <a:spcPts val="923"/>
              </a:lnSpc>
              <a:buNone/>
            </a:pPr>
            <a:r>
              <a:rPr lang="en-US" sz="668" u="sng" kern="0" spc="15" dirty="0">
                <a:solidFill>
                  <a:srgbClr val="8C6239"/>
                </a:solidFill>
                <a:latin typeface="Quicksand" pitchFamily="34" charset="0"/>
                <a:hlinkClick r:id="rId91">
                  <a:extLst>
                    <a:ext uri="{A12FA001-AC4F-418D-AE19-62706E023703}">
                      <ahyp:hlinkClr xmlns:ahyp="http://schemas.microsoft.com/office/drawing/2018/hyperlinkcolor" val="tx"/>
                    </a:ext>
                  </a:extLst>
                </a:hlinkClick>
              </a:rPr>
              <a:t>Surveys of Consumers</a:t>
            </a:r>
            <a:r>
              <a:rPr lang="en-US" sz="668" kern="0" spc="15" dirty="0">
                <a:solidFill>
                  <a:srgbClr val="333231"/>
                </a:solidFill>
                <a:latin typeface="Quicksand" pitchFamily="34" charset="0"/>
              </a:rPr>
              <a:t> </a:t>
            </a:r>
            <a:r>
              <a:rPr lang="en-US" sz="668" kern="0" spc="15" dirty="0">
                <a:solidFill>
                  <a:srgbClr val="6F6A66"/>
                </a:solidFill>
                <a:latin typeface="Quicksand" pitchFamily="34" charset="0"/>
              </a:rPr>
              <a:t>sca.isr.umich.edu</a:t>
            </a:r>
            <a:endParaRPr lang="en-US" sz="668" dirty="0"/>
          </a:p>
          <a:p>
            <a:pPr marL="0" indent="0" algn="l">
              <a:lnSpc>
                <a:spcPts val="923"/>
              </a:lnSpc>
              <a:buNone/>
            </a:pPr>
            <a:r>
              <a:rPr lang="en-US" sz="668" u="sng" kern="0" spc="15" dirty="0">
                <a:solidFill>
                  <a:srgbClr val="8C6239"/>
                </a:solidFill>
                <a:latin typeface="Quicksand" pitchFamily="34" charset="0"/>
                <a:hlinkClick r:id="rId92">
                  <a:extLst>
                    <a:ext uri="{A12FA001-AC4F-418D-AE19-62706E023703}">
                      <ahyp:hlinkClr xmlns:ahyp="http://schemas.microsoft.com/office/drawing/2018/hyperlinkcolor" val="tx"/>
                    </a:ext>
                  </a:extLst>
                </a:hlinkClick>
              </a:rPr>
              <a:t>FRED: Food at home prices (CUSR0000SAF11)</a:t>
            </a:r>
            <a:r>
              <a:rPr lang="en-US" sz="668" kern="0" spc="15" dirty="0">
                <a:solidFill>
                  <a:srgbClr val="333231"/>
                </a:solidFill>
                <a:latin typeface="Quicksand" pitchFamily="34" charset="0"/>
              </a:rPr>
              <a:t> </a:t>
            </a:r>
            <a:r>
              <a:rPr lang="en-US" sz="668" kern="0" spc="15" dirty="0">
                <a:solidFill>
                  <a:srgbClr val="6F6A66"/>
                </a:solidFill>
                <a:latin typeface="Quicksand" pitchFamily="34" charset="0"/>
              </a:rPr>
              <a:t>fred.stlouisfed.org</a:t>
            </a:r>
            <a:endParaRPr lang="en-US" sz="668" dirty="0"/>
          </a:p>
          <a:p>
            <a:pPr marL="0" indent="0" algn="l">
              <a:lnSpc>
                <a:spcPts val="923"/>
              </a:lnSpc>
              <a:buNone/>
            </a:pPr>
            <a:r>
              <a:rPr lang="en-US" sz="668" u="sng" kern="0" spc="15" dirty="0">
                <a:solidFill>
                  <a:srgbClr val="8C6239"/>
                </a:solidFill>
                <a:latin typeface="Quicksand" pitchFamily="34" charset="0"/>
                <a:hlinkClick r:id="rId93">
                  <a:extLst>
                    <a:ext uri="{A12FA001-AC4F-418D-AE19-62706E023703}">
                      <ahyp:hlinkClr xmlns:ahyp="http://schemas.microsoft.com/office/drawing/2018/hyperlinkcolor" val="tx"/>
                    </a:ext>
                  </a:extLst>
                </a:hlinkClick>
              </a:rPr>
              <a:t>FRED: Food away from home prices (CUSR0000SEFV)</a:t>
            </a:r>
            <a:r>
              <a:rPr lang="en-US" sz="668" kern="0" spc="15" dirty="0">
                <a:solidFill>
                  <a:srgbClr val="333231"/>
                </a:solidFill>
                <a:latin typeface="Quicksand" pitchFamily="34" charset="0"/>
              </a:rPr>
              <a:t> </a:t>
            </a:r>
            <a:r>
              <a:rPr lang="en-US" sz="668" kern="0" spc="15" dirty="0">
                <a:solidFill>
                  <a:srgbClr val="6F6A66"/>
                </a:solidFill>
                <a:latin typeface="Quicksand" pitchFamily="34" charset="0"/>
              </a:rPr>
              <a:t>fred.stlouisfed.org</a:t>
            </a:r>
            <a:endParaRPr lang="en-US" sz="668" dirty="0"/>
          </a:p>
          <a:p>
            <a:pPr marL="0" indent="0" algn="l">
              <a:lnSpc>
                <a:spcPts val="923"/>
              </a:lnSpc>
              <a:buNone/>
            </a:pPr>
            <a:r>
              <a:rPr lang="en-US" sz="668" u="sng" kern="0" spc="15" dirty="0">
                <a:solidFill>
                  <a:srgbClr val="8C6239"/>
                </a:solidFill>
                <a:latin typeface="Quicksand" pitchFamily="34" charset="0"/>
                <a:hlinkClick r:id="rId94">
                  <a:extLst>
                    <a:ext uri="{A12FA001-AC4F-418D-AE19-62706E023703}">
                      <ahyp:hlinkClr xmlns:ahyp="http://schemas.microsoft.com/office/drawing/2018/hyperlinkcolor" val="tx"/>
                    </a:ext>
                  </a:extLst>
                </a:hlinkClick>
              </a:rPr>
              <a:t>FRED: Food manufacturing producer prices (PCU311311)</a:t>
            </a:r>
            <a:r>
              <a:rPr lang="en-US" sz="668" kern="0" spc="15" dirty="0">
                <a:solidFill>
                  <a:srgbClr val="333231"/>
                </a:solidFill>
                <a:latin typeface="Quicksand" pitchFamily="34" charset="0"/>
              </a:rPr>
              <a:t> </a:t>
            </a:r>
            <a:r>
              <a:rPr lang="en-US" sz="668" kern="0" spc="15" dirty="0">
                <a:solidFill>
                  <a:srgbClr val="6F6A66"/>
                </a:solidFill>
                <a:latin typeface="Quicksand" pitchFamily="34" charset="0"/>
              </a:rPr>
              <a:t>fred.stlouisfed.org</a:t>
            </a:r>
          </a:p>
          <a:p>
            <a:pPr>
              <a:lnSpc>
                <a:spcPts val="923"/>
              </a:lnSpc>
            </a:pPr>
            <a:r>
              <a:rPr lang="en-US" sz="700" u="sng" kern="0" spc="15" dirty="0">
                <a:solidFill>
                  <a:srgbClr val="8C6239"/>
                </a:solidFill>
                <a:latin typeface="Quicksand" pitchFamily="34" charset="0"/>
                <a:hlinkClick r:id="rId95">
                  <a:extLst>
                    <a:ext uri="{A12FA001-AC4F-418D-AE19-62706E023703}">
                      <ahyp:hlinkClr xmlns:ahyp="http://schemas.microsoft.com/office/drawing/2018/hyperlinkcolor" val="tx"/>
                    </a:ext>
                  </a:extLst>
                </a:hlinkClick>
              </a:rPr>
              <a:t>Hormel and </a:t>
            </a:r>
            <a:r>
              <a:rPr lang="en-US" sz="700" u="sng" kern="0" spc="15" dirty="0" err="1">
                <a:solidFill>
                  <a:srgbClr val="8C6239"/>
                </a:solidFill>
                <a:latin typeface="Quicksand" pitchFamily="34" charset="0"/>
                <a:hlinkClick r:id="rId95">
                  <a:extLst>
                    <a:ext uri="{A12FA001-AC4F-418D-AE19-62706E023703}">
                      <ahyp:hlinkClr xmlns:ahyp="http://schemas.microsoft.com/office/drawing/2018/hyperlinkcolor" val="tx"/>
                    </a:ext>
                  </a:extLst>
                </a:hlinkClick>
              </a:rPr>
              <a:t>Brakebush</a:t>
            </a:r>
            <a:r>
              <a:rPr lang="en-US" sz="700" u="sng" kern="0" spc="15" dirty="0">
                <a:solidFill>
                  <a:srgbClr val="8C6239"/>
                </a:solidFill>
                <a:latin typeface="Quicksand" pitchFamily="34" charset="0"/>
                <a:hlinkClick r:id="rId95">
                  <a:extLst>
                    <a:ext uri="{A12FA001-AC4F-418D-AE19-62706E023703}">
                      <ahyp:hlinkClr xmlns:ahyp="http://schemas.microsoft.com/office/drawing/2018/hyperlinkcolor" val="tx"/>
                    </a:ext>
                  </a:extLst>
                </a:hlinkClick>
              </a:rPr>
              <a:t> Brothers</a:t>
            </a:r>
            <a:endParaRPr lang="en-US" sz="700" u="sng" kern="0" spc="15" dirty="0">
              <a:solidFill>
                <a:srgbClr val="8C6239"/>
              </a:solidFill>
              <a:latin typeface="Quicksand" pitchFamily="34" charset="0"/>
            </a:endParaRPr>
          </a:p>
          <a:p>
            <a:pPr>
              <a:lnSpc>
                <a:spcPts val="923"/>
              </a:lnSpc>
            </a:pPr>
            <a:r>
              <a:rPr lang="en-US" sz="700" kern="0" spc="15" dirty="0">
                <a:solidFill>
                  <a:srgbClr val="333231"/>
                </a:solidFill>
                <a:latin typeface="Quicksand" pitchFamily="34" charset="0"/>
              </a:rPr>
              <a:t>hormelfoods.com</a:t>
            </a:r>
            <a:endParaRPr lang="en-US" sz="668" kern="0" spc="15" dirty="0">
              <a:solidFill>
                <a:srgbClr val="6F6A66"/>
              </a:solidFill>
              <a:latin typeface="Quicksand" pitchFamily="34" charset="0"/>
            </a:endParaRPr>
          </a:p>
          <a:p>
            <a:pPr>
              <a:lnSpc>
                <a:spcPts val="923"/>
              </a:lnSpc>
            </a:pPr>
            <a:r>
              <a:rPr lang="en-US" sz="668" u="sng" kern="0" spc="15" dirty="0">
                <a:solidFill>
                  <a:srgbClr val="8C6239"/>
                </a:solidFill>
                <a:latin typeface="Quicksand" pitchFamily="34" charset="0"/>
                <a:hlinkClick r:id="rId96">
                  <a:extLst>
                    <a:ext uri="{A12FA001-AC4F-418D-AE19-62706E023703}">
                      <ahyp:hlinkClr xmlns:ahyp="http://schemas.microsoft.com/office/drawing/2018/hyperlinkcolor" val="tx"/>
                    </a:ext>
                  </a:extLst>
                </a:hlinkClick>
              </a:rPr>
              <a:t>Clorox and GOJO Industries</a:t>
            </a:r>
            <a:r>
              <a:rPr lang="en-US" sz="668" u="sng" kern="0" spc="15" dirty="0">
                <a:solidFill>
                  <a:srgbClr val="8C6239"/>
                </a:solidFill>
                <a:latin typeface="Quicksand" pitchFamily="34" charset="0"/>
              </a:rPr>
              <a:t> </a:t>
            </a:r>
            <a:r>
              <a:rPr lang="en-US" sz="700" kern="0" spc="15" dirty="0">
                <a:solidFill>
                  <a:srgbClr val="333231"/>
                </a:solidFill>
                <a:latin typeface="Quicksand" pitchFamily="34" charset="0"/>
              </a:rPr>
              <a:t>clorox.com</a:t>
            </a:r>
          </a:p>
          <a:p>
            <a:pPr>
              <a:lnSpc>
                <a:spcPts val="923"/>
              </a:lnSpc>
            </a:pPr>
            <a:r>
              <a:rPr lang="en-US" sz="668" u="sng" kern="0" spc="15" dirty="0">
                <a:solidFill>
                  <a:srgbClr val="8C6239"/>
                </a:solidFill>
                <a:latin typeface="Quicksand" pitchFamily="34" charset="0"/>
                <a:hlinkClick r:id="rId97">
                  <a:extLst>
                    <a:ext uri="{A12FA001-AC4F-418D-AE19-62706E023703}">
                      <ahyp:hlinkClr xmlns:ahyp="http://schemas.microsoft.com/office/drawing/2018/hyperlinkcolor" val="tx"/>
                    </a:ext>
                  </a:extLst>
                </a:hlinkClick>
              </a:rPr>
              <a:t>Mister Car Wash SEC</a:t>
            </a:r>
            <a:r>
              <a:rPr lang="en-US" sz="668" kern="0" spc="15" dirty="0">
                <a:solidFill>
                  <a:srgbClr val="8C6239"/>
                </a:solidFill>
                <a:latin typeface="Quicksand" pitchFamily="34" charset="0"/>
              </a:rPr>
              <a:t> </a:t>
            </a:r>
            <a:r>
              <a:rPr lang="en-US" sz="700" kern="0" spc="15" dirty="0">
                <a:solidFill>
                  <a:srgbClr val="333231"/>
                </a:solidFill>
                <a:latin typeface="Quicksand" pitchFamily="34" charset="0"/>
              </a:rPr>
              <a:t>sec.gov</a:t>
            </a:r>
          </a:p>
          <a:p>
            <a:pPr>
              <a:lnSpc>
                <a:spcPts val="923"/>
              </a:lnSpc>
            </a:pPr>
            <a:r>
              <a:rPr lang="en-US" sz="700" u="sng" kern="0" spc="15" dirty="0">
                <a:solidFill>
                  <a:srgbClr val="8C6239"/>
                </a:solidFill>
                <a:latin typeface="Quicksand" pitchFamily="34" charset="0"/>
                <a:hlinkClick r:id="rId98">
                  <a:extLst>
                    <a:ext uri="{A12FA001-AC4F-418D-AE19-62706E023703}">
                      <ahyp:hlinkClr xmlns:ahyp="http://schemas.microsoft.com/office/drawing/2018/hyperlinkcolor" val="tx"/>
                    </a:ext>
                  </a:extLst>
                </a:hlinkClick>
              </a:rPr>
              <a:t>PCT Top 100</a:t>
            </a:r>
            <a:r>
              <a:rPr lang="en-US" sz="700" kern="0" spc="15" dirty="0">
                <a:solidFill>
                  <a:srgbClr val="8C6239"/>
                </a:solidFill>
                <a:latin typeface="Quicksand" pitchFamily="34" charset="0"/>
              </a:rPr>
              <a:t>  </a:t>
            </a:r>
            <a:r>
              <a:rPr lang="en-US" sz="700" kern="0" spc="15" dirty="0">
                <a:solidFill>
                  <a:srgbClr val="333231"/>
                </a:solidFill>
                <a:latin typeface="Quicksand" pitchFamily="34" charset="0"/>
              </a:rPr>
              <a:t>pctonline.com</a:t>
            </a:r>
          </a:p>
          <a:p>
            <a:pPr>
              <a:lnSpc>
                <a:spcPts val="923"/>
              </a:lnSpc>
            </a:pPr>
            <a:endParaRPr lang="en-US" sz="700" kern="0" spc="15" dirty="0">
              <a:solidFill>
                <a:srgbClr val="333231"/>
              </a:solidFill>
              <a:latin typeface="Quicksand" pitchFamily="34" charset="0"/>
            </a:endParaRPr>
          </a:p>
          <a:p>
            <a:pPr>
              <a:lnSpc>
                <a:spcPts val="923"/>
              </a:lnSpc>
            </a:pPr>
            <a:endParaRPr lang="en-US" sz="668" dirty="0"/>
          </a:p>
          <a:p>
            <a:pPr marL="0" indent="0" algn="l">
              <a:lnSpc>
                <a:spcPts val="923"/>
              </a:lnSpc>
              <a:buNone/>
            </a:pPr>
            <a:r>
              <a:rPr lang="en-US" sz="675" b="1" kern="0" spc="15" dirty="0">
                <a:solidFill>
                  <a:srgbClr val="1B1A1A"/>
                </a:solidFill>
                <a:latin typeface="Quicksand" pitchFamily="34" charset="0"/>
              </a:rPr>
              <a:t>How the figures were gathered.</a:t>
            </a:r>
            <a:r>
              <a:rPr lang="en-US" sz="675" kern="0" spc="15" dirty="0">
                <a:solidFill>
                  <a:srgbClr val="333231"/>
                </a:solidFill>
                <a:latin typeface="Quicksand" pitchFamily="34" charset="0"/>
              </a:rPr>
              <a:t> Listed-company figures are from StockAnalysis and use reported results. Index series are from FRED, the US Census Bureau and the University of Michigan. Benchmark International figures are from the firm’s transaction records as of October 1, 2026. No investment bank is used as a source. Subscription and registration sources that would add depth, including GF Data, PitchBook, S&amp;P Capital IQ and Circana, are listed in a separate one-page companion.</a:t>
            </a:r>
            <a:endParaRPr lang="en-US" sz="668" dirty="0"/>
          </a:p>
        </p:txBody>
      </p:sp>
      <p:sp>
        <p:nvSpPr>
          <p:cNvPr id="10" name="Shape 9"/>
          <p:cNvSpPr/>
          <p:nvPr/>
        </p:nvSpPr>
        <p:spPr>
          <a:xfrm>
            <a:off x="419100" y="7029450"/>
            <a:ext cx="9220200" cy="9525"/>
          </a:xfrm>
          <a:prstGeom prst="rect">
            <a:avLst/>
          </a:prstGeom>
          <a:solidFill>
            <a:srgbClr val="E3DCD3"/>
          </a:solidFill>
          <a:ln/>
        </p:spPr>
        <p:txBody>
          <a:bodyPr/>
          <a:lstStyle/>
          <a:p>
            <a:endParaRPr lang="en-US"/>
          </a:p>
        </p:txBody>
      </p:sp>
      <p:pic>
        <p:nvPicPr>
          <p:cNvPr id="11" name="Benchmark International" descr="Benchmark International"/>
          <p:cNvPicPr>
            <a:picLocks noChangeAspect="1"/>
          </p:cNvPicPr>
          <p:nvPr/>
        </p:nvPicPr>
        <p:blipFill>
          <a:blip r:embed="rId99"/>
          <a:stretch>
            <a:fillRect/>
          </a:stretch>
        </p:blipFill>
        <p:spPr>
          <a:xfrm>
            <a:off x="419100" y="7143750"/>
            <a:ext cx="914400" cy="171450"/>
          </a:xfrm>
          <a:prstGeom prst="rect">
            <a:avLst/>
          </a:prstGeom>
        </p:spPr>
      </p:pic>
      <p:sp>
        <p:nvSpPr>
          <p:cNvPr id="12" name="Text 11"/>
          <p:cNvSpPr txBox="1"/>
          <p:nvPr/>
        </p:nvSpPr>
        <p:spPr>
          <a:xfrm>
            <a:off x="1543050" y="7098506"/>
            <a:ext cx="7620000" cy="119063"/>
          </a:xfrm>
          <a:prstGeom prst="rect">
            <a:avLst/>
          </a:prstGeom>
          <a:noFill/>
          <a:ln/>
        </p:spPr>
        <p:txBody>
          <a:bodyPr wrap="none" lIns="0" tIns="0" rIns="0" bIns="0" rtlCol="0" anchor="t"/>
          <a:lstStyle/>
          <a:p>
            <a:pPr marL="0" indent="0" algn="l">
              <a:lnSpc>
                <a:spcPts val="938"/>
              </a:lnSpc>
              <a:buNone/>
            </a:pPr>
            <a:r>
              <a:rPr lang="en-US" sz="675" kern="0" spc="15" dirty="0">
                <a:solidFill>
                  <a:srgbClr val="6F6A66"/>
                </a:solidFill>
                <a:latin typeface="Quicksand" pitchFamily="34" charset="0"/>
              </a:rPr>
              <a:t>Figures were gathered from these sources between October 2 and October 7, 2026. The full Q4 2026 Consumer report carries the longer source list behind the four segment chapters.</a:t>
            </a:r>
            <a:endParaRPr lang="en-US" sz="675" dirty="0"/>
          </a:p>
        </p:txBody>
      </p:sp>
      <p:sp>
        <p:nvSpPr>
          <p:cNvPr id="13" name="Text 12"/>
          <p:cNvSpPr txBox="1"/>
          <p:nvPr/>
        </p:nvSpPr>
        <p:spPr>
          <a:xfrm>
            <a:off x="9498211" y="7162800"/>
            <a:ext cx="198239" cy="133350"/>
          </a:xfrm>
          <a:prstGeom prst="rect">
            <a:avLst/>
          </a:prstGeom>
          <a:noFill/>
          <a:ln/>
        </p:spPr>
        <p:txBody>
          <a:bodyPr wrap="none" lIns="0" tIns="0" rIns="0" bIns="0" rtlCol="0" anchor="t"/>
          <a:lstStyle/>
          <a:p>
            <a:pPr marL="0" indent="0" algn="l">
              <a:lnSpc>
                <a:spcPts val="1050"/>
              </a:lnSpc>
              <a:buNone/>
            </a:pPr>
            <a:r>
              <a:rPr lang="en-US" sz="713" b="1" kern="0" spc="150" dirty="0">
                <a:solidFill>
                  <a:srgbClr val="1B1A1A"/>
                </a:solidFill>
                <a:latin typeface="Quicksand" pitchFamily="34" charset="0"/>
              </a:rPr>
              <a:t>22</a:t>
            </a:r>
            <a:endParaRPr lang="en-US" sz="713"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ewsreader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Quicksand Medium"/>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103</TotalTime>
  <Words>10588</Words>
  <Application>Microsoft Office PowerPoint</Application>
  <PresentationFormat>Custom</PresentationFormat>
  <Paragraphs>1967</Paragraphs>
  <Slides>22</Slides>
  <Notes>22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Arial</vt:lpstr>
      <vt:lpstr>Cinzel</vt:lpstr>
      <vt:lpstr>Newsreader Medium</vt:lpstr>
      <vt:lpstr>Newsreader SemiBold</vt:lpstr>
      <vt:lpstr>Quicksand</vt:lpstr>
      <vt:lpstr>Quicksand Medium</vt:lpstr>
      <vt:lpstr>Quicksand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Benchmark International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Consumer Q4 2026 Sector Brief</dc:title>
  <dc:subject>Consumer quarterly sector brief, Q4 2026</dc:subject>
  <dc:creator>Benchmark International</dc:creator>
  <cp:lastModifiedBy>Jason Lisiak</cp:lastModifiedBy>
  <cp:revision>4</cp:revision>
  <dcterms:created xsi:type="dcterms:W3CDTF">2026-10-12T17:07:31Z</dcterms:created>
  <dcterms:modified xsi:type="dcterms:W3CDTF">2026-10-14T16:35:51Z</dcterms:modified>
</cp:coreProperties>
</file>