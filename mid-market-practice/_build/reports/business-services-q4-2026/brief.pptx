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1900946"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8176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Key trends in business services</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77997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Perspectives on five segments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1657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What we're reading</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582003"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Feature: fire and life safety</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0957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2481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0957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2481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0957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2481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495297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05400"/>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495297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05400"/>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49529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1054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
        <p:nvSpPr>
          <p:cNvPr id="85" name="Text: azykov@benchmarkintl.com"/>
          <p:cNvSpPr txBox="1"/>
          <p:nvPr/>
        </p:nvSpPr>
        <p:spPr>
          <a:xfrm>
            <a:off x="6342278"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813-898-2372</a:t>
            </a:r>
            <a:endParaRPr lang="en-US" sz="800" dirty="0"/>
          </a:p>
          <a:p>
            <a:pPr algn="ctr" indent="0" marL="0">
              <a:lnSpc>
                <a:spcPts val="1200"/>
              </a:lnSpc>
              <a:buNone/>
            </a:pPr>
            <a:r>
              <a:rPr lang="en-US" sz="80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azykov@benchmarkintl.com</a:t>
            </a:r>
            <a:endParaRPr lang="en-US" sz="800" dirty="0"/>
          </a:p>
        </p:txBody>
      </p:sp>
      <p:sp>
        <p:nvSpPr>
          <p:cNvPr id="86" name="Text: hess@benchmarkintl.com"/>
          <p:cNvSpPr txBox="1"/>
          <p:nvPr/>
        </p:nvSpPr>
        <p:spPr>
          <a:xfrm>
            <a:off x="8124993"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813-898-2397</a:t>
            </a:r>
            <a:endParaRPr lang="en-US" sz="800" dirty="0"/>
          </a:p>
          <a:p>
            <a:pPr algn="ctr" indent="0" marL="0">
              <a:lnSpc>
                <a:spcPts val="1200"/>
              </a:lnSpc>
              <a:buNone/>
            </a:pPr>
            <a:r>
              <a:rPr lang="en-US" sz="80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hess@benchmarkintl.com</a:t>
            </a:r>
            <a:endParaRPr lang="en-US" sz="800" dirty="0"/>
          </a:p>
        </p:txBody>
      </p:sp>
      <p:sp>
        <p:nvSpPr>
          <p:cNvPr id="87" name="Text: garten@benchmarkintl.com"/>
          <p:cNvSpPr txBox="1"/>
          <p:nvPr/>
        </p:nvSpPr>
        <p:spPr>
          <a:xfrm>
            <a:off x="3381360" y="439420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813-898-2357</a:t>
            </a:r>
            <a:endParaRPr lang="en-US" sz="800" dirty="0"/>
          </a:p>
          <a:p>
            <a:pPr algn="l" indent="0" marL="0">
              <a:lnSpc>
                <a:spcPts val="850"/>
              </a:lnSpc>
              <a:buNone/>
            </a:pPr>
            <a:r>
              <a:rPr lang="en-US" sz="675"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garten@benchmarkintl.com</a:t>
            </a:r>
            <a:endParaRPr lang="en-US" sz="800" dirty="0"/>
          </a:p>
        </p:txBody>
      </p:sp>
      <p:sp>
        <p:nvSpPr>
          <p:cNvPr id="88" name="Text: mwynn@benchmarkintl.com"/>
          <p:cNvSpPr txBox="1"/>
          <p:nvPr/>
        </p:nvSpPr>
        <p:spPr>
          <a:xfrm>
            <a:off x="5762640" y="439420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813-384-4972</a:t>
            </a:r>
            <a:endParaRPr lang="en-US" sz="800" dirty="0"/>
          </a:p>
          <a:p>
            <a:pPr algn="l" indent="0" marL="0">
              <a:lnSpc>
                <a:spcPts val="850"/>
              </a:lnSpc>
              <a:buNone/>
            </a:pPr>
            <a:r>
              <a:rPr lang="en-US" sz="675"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mwynn@benchmarkintl.com</a:t>
            </a:r>
            <a:endParaRPr lang="en-US" sz="800" dirty="0"/>
          </a:p>
        </p:txBody>
      </p:sp>
      <p:sp>
        <p:nvSpPr>
          <p:cNvPr id="89" name="Text: jlisiak@benchmarkintl.com"/>
          <p:cNvSpPr txBox="1"/>
          <p:nvPr/>
        </p:nvSpPr>
        <p:spPr>
          <a:xfrm>
            <a:off x="8143921" y="439420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jlisiak@benchmarkintl.com</a:t>
            </a:r>
            <a:endParaRPr lang="en-US" sz="800" dirty="0"/>
          </a:p>
        </p:txBody>
      </p:sp>
      <p:sp>
        <p:nvSpPr>
          <p:cNvPr id="90" name="Text: abarr@benchmarkintl.com"/>
          <p:cNvSpPr txBox="1"/>
          <p:nvPr/>
        </p:nvSpPr>
        <p:spPr>
          <a:xfrm>
            <a:off x="3381360" y="5251450"/>
            <a:ext cx="141920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813-387-6046</a:t>
            </a:r>
            <a:endParaRPr lang="en-US" sz="800" dirty="0"/>
          </a:p>
          <a:p>
            <a:pPr algn="l" indent="0" marL="0">
              <a:lnSpc>
                <a:spcPts val="850"/>
              </a:lnSpc>
              <a:buNone/>
            </a:pPr>
            <a:r>
              <a:rPr lang="en-US" sz="675"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abarr@benchmarkintl.com</a:t>
            </a:r>
            <a:endParaRPr lang="en-US" sz="800" dirty="0"/>
          </a:p>
        </p:txBody>
      </p:sp>
      <p:sp>
        <p:nvSpPr>
          <p:cNvPr id="91" name="Text: jwarren@benchmarkintl.com"/>
          <p:cNvSpPr txBox="1"/>
          <p:nvPr/>
        </p:nvSpPr>
        <p:spPr>
          <a:xfrm>
            <a:off x="5762640" y="5251450"/>
            <a:ext cx="1419210"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813-898-2398</a:t>
            </a:r>
            <a:endParaRPr lang="en-US" sz="800" dirty="0"/>
          </a:p>
          <a:p>
            <a:pPr algn="l" indent="0" marL="0">
              <a:lnSpc>
                <a:spcPts val="850"/>
              </a:lnSpc>
              <a:buNone/>
            </a:pPr>
            <a:r>
              <a:rPr lang="en-US" sz="675"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jwarren@benchmarkintl.com</a:t>
            </a:r>
            <a:endParaRPr lang="en-US" sz="800" dirty="0"/>
          </a:p>
        </p:txBody>
      </p:sp>
      <p:sp>
        <p:nvSpPr>
          <p:cNvPr id="92" name="Text: lernst@benchmarkintl.com"/>
          <p:cNvSpPr txBox="1"/>
          <p:nvPr/>
        </p:nvSpPr>
        <p:spPr>
          <a:xfrm>
            <a:off x="8143921" y="5251450"/>
            <a:ext cx="1419119" cy="304770"/>
          </a:xfrm>
          <a:prstGeom prst="rect">
            <a:avLst/>
          </a:prstGeom>
          <a:noFill/>
          <a:ln/>
        </p:spPr>
        <p:txBody>
          <a:bodyPr wrap="square" lIns="0" tIns="0" rIns="0" bIns="0" rtlCol="0" anchor="t"/>
          <a:lstStyle/>
          <a:p>
            <a:pPr algn="l" indent="0" marL="0">
              <a:lnSpc>
                <a:spcPts val="850"/>
              </a:lnSpc>
              <a:buNone/>
            </a:pPr>
            <a:r>
              <a:rPr lang="en-US" sz="675"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813-771-6318</a:t>
            </a:r>
            <a:endParaRPr lang="en-US" sz="800" dirty="0"/>
          </a:p>
          <a:p>
            <a:pPr algn="l" indent="0" marL="0">
              <a:lnSpc>
                <a:spcPts val="850"/>
              </a:lnSpc>
              <a:buNone/>
            </a:pPr>
            <a:r>
              <a:rPr lang="en-US" sz="675"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lernst@benchmarkintl.com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sectors.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sectors.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sector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SECTOR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