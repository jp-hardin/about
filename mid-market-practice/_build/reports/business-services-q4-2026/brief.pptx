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segment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descr="/tmp/claude-0/-home-claude-about/79682efa-f64a-5682-a2ae-625886ef5313/scratchpad/brief/pptx/media/s01_02.png">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SECTOR BRIEF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segments,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SECTOR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the buyer landscape</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2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1900946"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8176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Key trends in business services</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77997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Perspectives on five segments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1657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What we're reading</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582003"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Feature: fire and life safety</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segments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descr="/tmp/claude-0/-home-claude-about/79682efa-f64a-5682-a2ae-625886ef5313/scratchpad/brief/pptx/media/s03_01.png">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descr="/tmp/claude-0/-home-claude-about/79682efa-f64a-5682-a2ae-625886ef5313/scratchpad/brief/pptx/media/s03_02.png">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descr="/tmp/claude-0/-home-claude-about/79682efa-f64a-5682-a2ae-625886ef5313/scratchpad/brief/pptx/media/s03_03.png">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descr="/tmp/claude-0/-home-claude-about/79682efa-f64a-5682-a2ae-625886ef5313/scratchpad/brief/pptx/media/s03_04.png">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descr="/tmp/claude-0/-home-claude-about/79682efa-f64a-5682-a2ae-625886ef5313/scratchpad/brief/pptx/media/s03_05.png">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descr="/tmp/claude-0/-home-claude-about/79682efa-f64a-5682-a2ae-625886ef5313/scratchpad/brief/pptx/media/s03_06.png">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Segments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segment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descr="/tmp/claude-0/-home-claude-about/79682efa-f64a-5682-a2ae-625886ef5313/scratchpad/brief/pptx/media/s04_02.png">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descr="/tmp/claude-0/-home-claude-about/79682efa-f64a-5682-a2ae-625886ef5313/scratchpad/brief/pptx/media/s04_04.png">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descr="/tmp/claude-0/-home-claude-about/79682efa-f64a-5682-a2ae-625886ef5313/scratchpad/brief/pptx/media/s04_06.png">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descr="/tmp/claude-0/-home-claude-about/79682efa-f64a-5682-a2ae-625886ef5313/scratchpad/brief/pptx/media/s04_08.png">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descr="/tmp/claude-0/-home-claude-about/79682efa-f64a-5682-a2ae-625886ef5313/scratchpad/brief/pptx/media/s04_10.png">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SEGMENTS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 and cited in the </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full Q4 2026 report</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Key takeaway.</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SECTOR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07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Sector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Landscape of select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descr="/tmp/claude-0/-home-claude-about/79682efa-f64a-5682-a2ae-625886ef5313/scratchpad/brief/pptx/media/s08_07.png">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descr="/tmp/claude-0/-home-claude-about/79682efa-f64a-5682-a2ae-625886ef5313/scratchpad/brief/pptx/media/s08_08.png">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descr="/tmp/claude-0/-home-claude-about/79682efa-f64a-5682-a2ae-625886ef5313/scratchpad/brief/pptx/media/s08_09.png">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segment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 and further transactions in each segment are in the </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segments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sellers named in the full report,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 and the rest are in the </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segments, and each segment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segment</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segment</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segment.</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segment with a published figure, between 7 and 12 companies a segment.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descr="/tmp/claude-0/-home-claude-about/79682efa-f64a-5682-a2ae-625886ef5313/scratchpad/brief/pptx/media/s13_01.png">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descr="/tmp/claude-0/-home-claude-about/79682efa-f64a-5682-a2ae-625886ef5313/scratchpad/brief/pptx/media/s13_02.png">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descr="/tmp/claude-0/-home-claude-about/79682efa-f64a-5682-a2ae-625886ef5313/scratchpad/brief/pptx/media/s13_03.png">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Landscape: Select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segment,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descr="/tmp/claude-0/-home-claude-about/79682efa-f64a-5682-a2ae-625886ef5313/scratchpad/brief/pptx/media/s15_01.png">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descr="/tmp/claude-0/-home-claude-about/79682efa-f64a-5682-a2ae-625886ef5313/scratchpad/brief/pptx/media/s15_02.png">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descr="/tmp/claude-0/-home-claude-about/79682efa-f64a-5682-a2ae-625886ef5313/scratchpad/brief/pptx/media/s15_03.png">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descr="/tmp/claude-0/-home-claude-about/79682efa-f64a-5682-a2ae-625886ef5313/scratchpad/brief/pptx/media/s15_04.png">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descr="/tmp/claude-0/-home-claude-about/79682efa-f64a-5682-a2ae-625886ef5313/scratchpad/brief/pptx/media/s15_05.png">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 and cited in the </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full report</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descr="/tmp/claude-0/-home-claude-about/79682efa-f64a-5682-a2ae-625886ef5313/scratchpad/brief/pptx/media/s16_01.png">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Owners considering a sale, a recapitalization or a growth partnership in any of the five segments, and the accountants, attorneys and wealth advisors who work with them, are welcome to call or write.</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 MIDDLE MARKET</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FULL Q4 2026 REPORT</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4" name="Shape e26"/>
          <p:cNvSpPr/>
          <p:nvPr/>
        </p:nvSpPr>
        <p:spPr>
          <a:xfrm>
            <a:off x="6076920" y="5429250"/>
            <a:ext cx="3333720" cy="1276320"/>
          </a:xfrm>
          <a:prstGeom prst="rect">
            <a:avLst/>
          </a:prstGeom>
          <a:solidFill>
            <a:srgbClr val="FFFFFF">
              <a:alpha val="0"/>
            </a:srgbClr>
          </a:solidFill>
          <a:ln w="12700">
            <a:solidFill>
              <a:srgbClr val="D3AE84"/>
            </a:solidFill>
            <a:prstDash val="dash"/>
          </a:ln>
        </p:spPr>
        <p:txBody>
          <a:bodyPr/>
          <a:p/>
        </p:txBody>
      </p:sp>
      <p:sp>
        <p:nvSpPr>
          <p:cNvPr id="25" name="Text e27"/>
          <p:cNvSpPr txBox="1"/>
          <p:nvPr/>
        </p:nvSpPr>
        <p:spPr>
          <a:xfrm>
            <a:off x="6257971" y="5591190"/>
            <a:ext cx="106811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UPCOMING EVENT</a:t>
            </a:r>
            <a:endParaRPr lang="en-US" sz="700" dirty="0"/>
          </a:p>
        </p:txBody>
      </p:sp>
      <p:sp>
        <p:nvSpPr>
          <p:cNvPr id="26" name="Text e28"/>
          <p:cNvSpPr txBox="1"/>
          <p:nvPr/>
        </p:nvSpPr>
        <p:spPr>
          <a:xfrm>
            <a:off x="6257971" y="5772150"/>
            <a:ext cx="2684404" cy="247620"/>
          </a:xfrm>
          <a:prstGeom prst="rect">
            <a:avLst/>
          </a:prstGeom>
          <a:noFill/>
          <a:ln/>
        </p:spPr>
        <p:txBody>
          <a:bodyPr wrap="none" lIns="0" tIns="0" rIns="0" bIns="0" rtlCol="0" anchor="t"/>
          <a:lstStyle/>
          <a:p>
            <a:pPr algn="l" indent="0" marL="0">
              <a:lnSpc>
                <a:spcPts val="1950"/>
              </a:lnSpc>
              <a:buNone/>
            </a:pPr>
            <a:r>
              <a:rPr lang="en-US" sz="1500" b="1" dirty="0">
                <a:solidFill>
                  <a:srgbClr val="FFFFFF"/>
                </a:solidFill>
                <a:latin typeface="+mj-lt" pitchFamily="34" charset="0"/>
              </a:rPr>
              <a:t>Event name, dates and location</a:t>
            </a:r>
            <a:endParaRPr lang="en-US" sz="1500" dirty="0"/>
          </a:p>
        </p:txBody>
      </p:sp>
      <p:sp>
        <p:nvSpPr>
          <p:cNvPr id="27" name="Text e29"/>
          <p:cNvSpPr txBox="1"/>
          <p:nvPr/>
        </p:nvSpPr>
        <p:spPr>
          <a:xfrm>
            <a:off x="6257971" y="6057900"/>
            <a:ext cx="2971800" cy="485821"/>
          </a:xfrm>
          <a:prstGeom prst="rect">
            <a:avLst/>
          </a:prstGeom>
          <a:noFill/>
          <a:ln/>
        </p:spPr>
        <p:txBody>
          <a:bodyPr wrap="square" lIns="0" tIns="0" rIns="0" bIns="0" rtlCol="0" anchor="t"/>
          <a:lstStyle/>
          <a:p>
            <a:pPr algn="l" indent="0" marL="0">
              <a:lnSpc>
                <a:spcPts val="1300"/>
              </a:lnSpc>
              <a:buNone/>
            </a:pPr>
            <a:r>
              <a:rPr lang="en-US" sz="850" dirty="0">
                <a:solidFill>
                  <a:srgbClr val="E8E2DA"/>
                </a:solidFill>
                <a:latin typeface="+mn-lt" pitchFamily="34" charset="0"/>
              </a:rPr>
              <a:t>This panel is reserved for the next conference or event where the Middle Market team will be meeting business services owners.</a:t>
            </a:r>
            <a:endParaRPr lang="en-US" sz="850" dirty="0"/>
          </a:p>
        </p:txBody>
      </p:sp>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descr="/tmp/claude-0/-home-claude-about/79682efa-f64a-5682-a2ae-625886ef5313/scratchpad/brief/pptx/media/s18_01.png">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in sales, recapitalizations and growth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3365"/>
            <a:ext cx="834481"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395795"/>
            <a:ext cx="105092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3365"/>
            <a:ext cx="840242"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395795"/>
            <a:ext cx="105092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3365"/>
            <a:ext cx="751545"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395795"/>
            <a:ext cx="950885"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3955"/>
            <a:ext cx="919338"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86385"/>
            <a:ext cx="137160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3955"/>
            <a:ext cx="8800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86385"/>
            <a:ext cx="137160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0615"/>
            <a:ext cx="654528"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3045"/>
            <a:ext cx="634136"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descr="/tmp/claude-0/-home-claude-about/79682efa-f64a-5682-a2ae-625886ef5313/scratchpad/brief/pptx/media/s18_12.png">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descr="/tmp/claude-0/-home-claude-about/79682efa-f64a-5682-a2ae-625886ef5313/scratchpad/brief/pptx/media/s18_13.png">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descr="/tmp/claude-0/-home-claude-about/79682efa-f64a-5682-a2ae-625886ef5313/scratchpad/brief/pptx/media/s18_14.png">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descr="/tmp/claude-0/-home-claude-about/79682efa-f64a-5682-a2ae-625886ef5313/scratchpad/brief/pptx/media/s18_15.png">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descr="/tmp/claude-0/-home-claude-about/79682efa-f64a-5682-a2ae-625886ef5313/scratchpad/brief/pptx/media/s18_16.png">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sectors.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descr="/tmp/claude-0/-home-claude-about/79682efa-f64a-5682-a2ae-625886ef5313/scratchpad/brief/pptx/media/s19_01.png">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on sales, recapitalizations and growth partnerships across five sectors.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sector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SECTOR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descr="/tmp/claude-0/-home-claude-about/79682efa-f64a-5682-a2ae-625886ef5313/scratchpad/brief/pptx/media/s19_07.png">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descr="/tmp/claude-0/-home-claude-about/79682efa-f64a-5682-a2ae-625886ef5313/scratchpad/brief/pptx/media/s19_08.png">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descr="/tmp/claude-0/-home-claude-about/79682efa-f64a-5682-a2ae-625886ef5313/scratchpad/brief/pptx/media/s19_09.png">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descr="/tmp/claude-0/-home-claude-about/79682efa-f64a-5682-a2ae-625886ef5313/scratchpad/brief/pptx/media/s19_10.png">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descr="/tmp/claude-0/-home-claude-about/79682efa-f64a-5682-a2ae-625886ef5313/scratchpad/brief/pptx/media/s19_11.png">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SECTOR BRIEF</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SEGMENTS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full Q4 2026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LANDSCAPE: SELECT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full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Capital Markets">
  <a:themeElements>
    <a:clrScheme name="Benchmark Capital Markets">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Capital Market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Sector Brief</dc:title>
  <dc:subject>Quarterly sector brief, Q4 2026</dc:subject>
  <dc:creator>Jared Hardin, Benchmark Capital Markets</dc:creator>
  <cp:lastModifiedBy>Jared Hardin, Benchmark Capital Markets</cp:lastModifiedBy>
  <cp:revision>1</cp:revision>
  <dcterms:created xsi:type="dcterms:W3CDTF">2026-10-12T16:54:45Z</dcterms:created>
  <dcterms:modified xsi:type="dcterms:W3CDTF">2026-10-12T16:54:45Z</dcterms:modified>
</cp:coreProperties>
</file>