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70d1c50-edcf-d1a1-2108-a569ea4499b3}">
          <p14:sldIdLst>
            <p14:sldId id="256"/>
          </p14:sldIdLst>
        </p14:section>
        <p14:section name="Insights" id="{dde2274a-50e4-0011-f251-1cf7c6c93252}">
          <p14:sldIdLst>
            <p14:sldId id="257"/>
            <p14:sldId id="258"/>
            <p14:sldId id="259"/>
            <p14:sldId id="260"/>
            <p14:sldId id="261"/>
          </p14:sldIdLst>
        </p14:section>
        <p14:section name="Sector Activity" id="{e9718e78-7177-d64e-68c6-449b7924c0ee}">
          <p14:sldIdLst>
            <p14:sldId id="262"/>
            <p14:sldId id="263"/>
            <p14:sldId id="264"/>
            <p14:sldId id="265"/>
            <p14:sldId id="266"/>
            <p14:sldId id="267"/>
            <p14:sldId id="268"/>
            <p14:sldId id="269"/>
            <p14:sldId id="270"/>
          </p14:sldIdLst>
        </p14:section>
        <p14:section name="Connect With Us" id="{42e8ddd3-88ff-29b8-c046-e067f4e7872b}">
          <p14:sldIdLst>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B68757"/>
            </a:solidFill>
            <a:effectLst/>
          </c:spPr>
          <c:invertIfNegative val="0"/>
          <c:dLbls>
            <c:numFmt formatCode="0.0&quot;x&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dPt>
            <c:idx val="0"/>
            <c:invertIfNegative val="0"/>
            <c:bubble3D val="0"/>
            <c:spPr>
              <a:solidFill>
                <a:srgbClr val="B68757"/>
              </a:solidFill>
              <a:effectLst/>
            </c:spPr>
          </c:dPt>
          <c:dPt>
            <c:idx val="1"/>
            <c:invertIfNegative val="0"/>
            <c:bubble3D val="0"/>
            <c:spPr>
              <a:solidFill>
                <a:srgbClr val="B68757"/>
              </a:solidFill>
              <a:effectLst/>
            </c:spPr>
          </c:dPt>
          <c:dPt>
            <c:idx val="2"/>
            <c:invertIfNegative val="0"/>
            <c:bubble3D val="0"/>
            <c:spPr>
              <a:solidFill>
                <a:srgbClr val="B68757"/>
              </a:solidFill>
              <a:effectLst/>
            </c:spPr>
          </c:dPt>
          <c:dPt>
            <c:idx val="3"/>
            <c:invertIfNegative val="0"/>
            <c:bubble3D val="0"/>
            <c:spPr>
              <a:solidFill>
                <a:srgbClr val="8A847E"/>
              </a:solidFill>
              <a:effectLst/>
            </c:spPr>
          </c:dPt>
          <c:dPt>
            <c:idx val="4"/>
            <c:invertIfNegative val="0"/>
            <c:bubble3D val="0"/>
            <c:spPr>
              <a:solidFill>
                <a:srgbClr val="8A847E"/>
              </a:solidFill>
              <a:effectLst/>
            </c:spPr>
          </c:dPt>
          <c:dPt>
            <c:idx val="5"/>
            <c:invertIfNegative val="0"/>
            <c:bubble3D val="0"/>
            <c:spPr>
              <a:solidFill>
                <a:srgbClr val="8A847E"/>
              </a:solidFill>
              <a:effectLst/>
            </c:spPr>
          </c:dPt>
          <c:cat>
            <c:multiLvlStrRef>
              <c:f>Sheet1!$A$2:$A$7</c:f>
              <c:multiLvlStrCache>
                <c:ptCount val="6"/>
                <c:lvl>
                  <c:pt idx="0">
                    <c:v>Cintas</c:v>
                  </c:pt>
                  <c:pt idx="1">
                    <c:v>APi Group</c:v>
                  </c:pt>
                  <c:pt idx="2">
                    <c:v>Rollins</c:v>
                  </c:pt>
                  <c:pt idx="3">
                    <c:v>FirstService</c:v>
                  </c:pt>
                  <c:pt idx="4">
                    <c:v>ABM Industries</c:v>
                  </c:pt>
                  <c:pt idx="5">
                    <c:v>BrightView</c:v>
                  </c:pt>
                </c:lvl>
              </c:multiLvlStrCache>
            </c:multiLvlStrRef>
          </c:cat>
          <c:val>
            <c:numRef>
              <c:f>Sheet1!$B$2:$B$7</c:f>
              <c:numCache>
                <c:formatCode>General</c:formatCode>
                <c:ptCount val="6"/>
                <c:pt idx="0">
                  <c:v>26.01</c:v>
                </c:pt>
                <c:pt idx="1">
                  <c:v>19.28</c:v>
                </c:pt>
                <c:pt idx="2">
                  <c:v>18.04</c:v>
                </c:pt>
                <c:pt idx="3">
                  <c:v>14.07</c:v>
                </c:pt>
                <c:pt idx="4">
                  <c:v>10.08</c:v>
                </c:pt>
                <c:pt idx="5">
                  <c:v>5.86</c:v>
                </c:pt>
              </c:numCache>
            </c:numRef>
          </c:val>
        </c:ser>
        <c:dLbls>
          <c:numFmt formatCode="0.0&quot;x&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catAx>
      <c:valAx>
        <c:axId val="2094734552"/>
        <c:scaling>
          <c:orientation val="minMax"/>
          <c:max val="36.6"/>
          <c:min val="0"/>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B68757"/>
            </a:solidFill>
            <a:effectLst/>
          </c:spPr>
          <c:invertIfNegative val="0"/>
          <c:dLbls>
            <c:numFmt formatCode="+0.0&quot;%&quot;;-0.0&quot;%&quot;;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dPt>
            <c:idx val="0"/>
            <c:invertIfNegative val="0"/>
            <c:bubble3D val="0"/>
            <c:spPr>
              <a:solidFill>
                <a:srgbClr val="B68757"/>
              </a:solidFill>
              <a:effectLst/>
            </c:spPr>
          </c:dPt>
          <c:dPt>
            <c:idx val="1"/>
            <c:invertIfNegative val="0"/>
            <c:bubble3D val="0"/>
            <c:spPr>
              <a:solidFill>
                <a:srgbClr val="1B1A1A"/>
              </a:solidFill>
              <a:effectLst/>
            </c:spPr>
          </c:dPt>
          <c:dPt>
            <c:idx val="2"/>
            <c:invertIfNegative val="0"/>
            <c:bubble3D val="0"/>
            <c:spPr>
              <a:solidFill>
                <a:srgbClr val="1B1A1A"/>
              </a:solidFill>
              <a:effectLst/>
            </c:spPr>
          </c:dPt>
          <c:dPt>
            <c:idx val="3"/>
            <c:invertIfNegative val="0"/>
            <c:bubble3D val="0"/>
            <c:spPr>
              <a:solidFill>
                <a:srgbClr val="1B1A1A"/>
              </a:solidFill>
              <a:effectLst/>
            </c:spPr>
          </c:dPt>
          <c:dPt>
            <c:idx val="4"/>
            <c:invertIfNegative val="0"/>
            <c:bubble3D val="0"/>
            <c:spPr>
              <a:solidFill>
                <a:srgbClr val="B68757"/>
              </a:solidFill>
              <a:effectLst/>
            </c:spPr>
          </c:dPt>
          <c:cat>
            <c:multiLvlStrRef>
              <c:f>Sheet1!$A$2:$A$6</c:f>
              <c:multiLvlStrCache>
                <c:ptCount val="5"/>
                <c:lvl>
                  <c:pt idx="0">
                    <c:v>Commercial &amp; Facility</c:v>
                  </c:pt>
                  <c:pt idx="1">
                    <c:v>Marketing, Sales &amp; Tech</c:v>
                  </c:pt>
                  <c:pt idx="2">
                    <c:v>Engineering &amp; Architecture</c:v>
                  </c:pt>
                  <c:pt idx="3">
                    <c:v>Financial &amp; Insurance</c:v>
                  </c:pt>
                  <c:pt idx="4">
                    <c:v>Staffing &amp; Human Capital</c:v>
                  </c:pt>
                </c:lvl>
              </c:multiLvlStrCache>
            </c:multiLvlStrRef>
          </c:cat>
          <c:val>
            <c:numRef>
              <c:f>Sheet1!$B$2:$B$6</c:f>
              <c:numCache>
                <c:formatCode>General</c:formatCode>
                <c:ptCount val="5"/>
                <c:pt idx="0">
                  <c:v>4.12</c:v>
                </c:pt>
                <c:pt idx="1">
                  <c:v>-4.26</c:v>
                </c:pt>
                <c:pt idx="2">
                  <c:v>-27.46</c:v>
                </c:pt>
                <c:pt idx="3">
                  <c:v>-16.13</c:v>
                </c:pt>
                <c:pt idx="4">
                  <c:v>4.734999999999999</c:v>
                </c:pt>
              </c:numCache>
            </c:numRef>
          </c:val>
        </c:ser>
        <c:dLbls>
          <c:numFmt formatCode="+0.0&quot;%&quot;;-0.0&quot;%&quot;;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catAx>
      <c:valAx>
        <c:axId val="2094734552"/>
        <c:scaling>
          <c:orientation val="minMax"/>
          <c:max val="11.8179"/>
          <c:min val="-34.5429"/>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 year ago</c:v>
                </c:pt>
              </c:strCache>
            </c:strRef>
          </c:tx>
          <c:spPr>
            <a:solidFill>
              <a:srgbClr val="D9CFC2"/>
            </a:solidFill>
            <a:effectLst/>
          </c:spPr>
          <c:invertIfNegative val="0"/>
          <c:dLbls>
            <c:numFmt formatCode="0.0&quot;x&quot;" sourceLinked="0"/>
            <c:txPr>
              <a:bodyPr/>
              <a:lstStyle/>
              <a:p>
                <a:pPr>
                  <a:defRPr b="1" i="0" strike="noStrike" sz="650" u="none">
                    <a:solidFill>
                      <a:srgbClr val="1B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Commercial &amp; Facility</c:v>
                  </c:pt>
                  <c:pt idx="1">
                    <c:v>Marketing, Sales &amp; Tech</c:v>
                  </c:pt>
                  <c:pt idx="2">
                    <c:v>Engineering &amp; Architecture</c:v>
                  </c:pt>
                  <c:pt idx="3">
                    <c:v>Financial &amp; Insurance</c:v>
                  </c:pt>
                  <c:pt idx="4">
                    <c:v>Staffing &amp; Human Capital</c:v>
                  </c:pt>
                </c:lvl>
              </c:multiLvlStrCache>
            </c:multiLvlStrRef>
          </c:cat>
          <c:val>
            <c:numRef>
              <c:f>Sheet1!$B$2:$B$6</c:f>
              <c:numCache>
                <c:formatCode>General</c:formatCode>
                <c:ptCount val="5"/>
                <c:pt idx="0">
                  <c:v>17.29</c:v>
                </c:pt>
                <c:pt idx="1">
                  <c:v>8.39</c:v>
                </c:pt>
                <c:pt idx="2">
                  <c:v>17.96</c:v>
                </c:pt>
                <c:pt idx="3">
                  <c:v>14.35</c:v>
                </c:pt>
                <c:pt idx="4">
                  <c:v>13.43</c:v>
                </c:pt>
              </c:numCache>
            </c:numRef>
          </c:val>
        </c:ser>
        <c:ser>
          <c:idx val="1"/>
          <c:order val="1"/>
          <c:tx>
            <c:strRef>
              <c:f>Sheet1!$C$1</c:f>
              <c:strCache>
                <c:ptCount val="1"/>
                <c:pt idx="0">
                  <c:v>Today</c:v>
                </c:pt>
              </c:strCache>
            </c:strRef>
          </c:tx>
          <c:spPr>
            <a:solidFill>
              <a:srgbClr val="B68757"/>
            </a:solidFill>
            <a:effectLst/>
          </c:spPr>
          <c:invertIfNegative val="0"/>
          <c:dLbls>
            <c:numFmt formatCode="0.0&quot;x&quot;" sourceLinked="0"/>
            <c:txPr>
              <a:bodyPr/>
              <a:lstStyle/>
              <a:p>
                <a:pPr>
                  <a:defRPr b="1" i="0" strike="noStrike" sz="650" u="none">
                    <a:solidFill>
                      <a:srgbClr val="1B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Commercial &amp; Facility</c:v>
                  </c:pt>
                  <c:pt idx="1">
                    <c:v>Marketing, Sales &amp; Tech</c:v>
                  </c:pt>
                  <c:pt idx="2">
                    <c:v>Engineering &amp; Architecture</c:v>
                  </c:pt>
                  <c:pt idx="3">
                    <c:v>Financial &amp; Insurance</c:v>
                  </c:pt>
                  <c:pt idx="4">
                    <c:v>Staffing &amp; Human Capital</c:v>
                  </c:pt>
                </c:lvl>
              </c:multiLvlStrCache>
            </c:multiLvlStrRef>
          </c:cat>
          <c:val>
            <c:numRef>
              <c:f>Sheet1!$C$2:$C$6</c:f>
              <c:numCache>
                <c:formatCode>General</c:formatCode>
                <c:ptCount val="5"/>
                <c:pt idx="0">
                  <c:v>14.74</c:v>
                </c:pt>
                <c:pt idx="1">
                  <c:v>7.98</c:v>
                </c:pt>
                <c:pt idx="2">
                  <c:v>15.2</c:v>
                </c:pt>
                <c:pt idx="3">
                  <c:v>11.45</c:v>
                </c:pt>
                <c:pt idx="4">
                  <c:v>10.78</c:v>
                </c:pt>
              </c:numCache>
            </c:numRef>
          </c:val>
        </c:ser>
        <c:ser>
          <c:idx val="2"/>
          <c:order val="2"/>
          <c:tx>
            <c:strRef>
              <c:f>Sheet1!$D$1</c:f>
              <c:strCache>
                <c:ptCount val="1"/>
                <c:pt idx="0">
                  <c:v>Three-year median</c:v>
                </c:pt>
              </c:strCache>
            </c:strRef>
          </c:tx>
          <c:spPr>
            <a:solidFill>
              <a:srgbClr val="1B1A1A"/>
            </a:solidFill>
            <a:effectLst/>
          </c:spPr>
          <c:invertIfNegative val="0"/>
          <c:dLbls>
            <c:numFmt formatCode="0.0&quot;x&quot;" sourceLinked="0"/>
            <c:txPr>
              <a:bodyPr/>
              <a:lstStyle/>
              <a:p>
                <a:pPr>
                  <a:defRPr b="1" i="0" strike="noStrike" sz="650" u="none">
                    <a:solidFill>
                      <a:srgbClr val="1B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Commercial &amp; Facility</c:v>
                  </c:pt>
                  <c:pt idx="1">
                    <c:v>Marketing, Sales &amp; Tech</c:v>
                  </c:pt>
                  <c:pt idx="2">
                    <c:v>Engineering &amp; Architecture</c:v>
                  </c:pt>
                  <c:pt idx="3">
                    <c:v>Financial &amp; Insurance</c:v>
                  </c:pt>
                  <c:pt idx="4">
                    <c:v>Staffing &amp; Human Capital</c:v>
                  </c:pt>
                </c:lvl>
              </c:multiLvlStrCache>
            </c:multiLvlStrRef>
          </c:cat>
          <c:val>
            <c:numRef>
              <c:f>Sheet1!$D$2:$D$6</c:f>
              <c:numCache>
                <c:formatCode>General</c:formatCode>
                <c:ptCount val="5"/>
                <c:pt idx="0">
                  <c:v>16.76</c:v>
                </c:pt>
                <c:pt idx="1">
                  <c:v>9.36</c:v>
                </c:pt>
                <c:pt idx="2">
                  <c:v>18.09</c:v>
                </c:pt>
                <c:pt idx="3">
                  <c:v>15.06</c:v>
                </c:pt>
                <c:pt idx="4">
                  <c:v>12.39</c:v>
                </c:pt>
              </c:numCache>
            </c:numRef>
          </c:val>
        </c:ser>
        <c:dLbls>
          <c:numFmt formatCode="0.0&quot;x&quot;" sourceLinked="0"/>
          <c:txPr>
            <a:bodyPr/>
            <a:lstStyle/>
            <a:p>
              <a:pPr>
                <a:defRPr b="1" i="0" strike="noStrike" sz="650" u="none">
                  <a:solidFill>
                    <a:srgbClr val="1B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6350" cap="flat">
              <a:solidFill>
                <a:srgbClr val="E3DCD3"/>
              </a:solidFill>
              <a:prstDash val="solid"/>
              <a:round/>
            </a:ln>
          </c:spPr>
        </c:majorGridlines>
        <c:numFmt formatCode="0&quot;x&quot;" sourceLinked="0"/>
        <c:majorTickMark val="out"/>
        <c:minorTickMark val="none"/>
        <c:tickLblPos val="low"/>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majorUnit val="5"/>
      </c:valAx>
      <c:spPr>
        <a:solidFill>
          <a:srgbClr val="FAF7F3"/>
        </a:solidFill>
        <a:ln>
          <a:noFill/>
        </a:ln>
        <a:effectLst/>
      </c:spPr>
    </c:plotArea>
    <c:legend>
      <c:legendPos val="b"/>
      <c:overlay val="0"/>
      <c:txPr>
        <a:bodyPr/>
        <a:lstStyle/>
        <a:p>
          <a:pPr>
            <a:defRPr sz="700">
              <a:solidFill>
                <a:srgbClr val="333231"/>
              </a:solidFill>
              <a:latin typeface="+mn-lt"/>
            </a:defRPr>
          </a:pPr>
          <a:endParaRPr lang="en-US"/>
        </a:p>
      </c:txPr>
    </c:legend>
    <c:plotVisOnly val="1"/>
    <c:dispBlanksAs val="span"/>
  </c:chart>
  <c:spPr>
    <a:solidFill>
      <a:srgbClr val="FAF7F3"/>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B68757"/>
            </a:solidFill>
            <a:effectLst/>
          </c:spPr>
          <c:invertIfNegative val="0"/>
          <c:dLbls>
            <c:numFmt formatCode="+0.0&quot;%&quot;;-0.0&quot;%&quot;;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Commercial &amp; Facility</c:v>
                  </c:pt>
                  <c:pt idx="1">
                    <c:v>Marketing, Sales &amp; Tech</c:v>
                  </c:pt>
                  <c:pt idx="2">
                    <c:v>Engineering &amp; Architecture</c:v>
                  </c:pt>
                  <c:pt idx="3">
                    <c:v>Financial &amp; Insurance</c:v>
                  </c:pt>
                  <c:pt idx="4">
                    <c:v>Staffing &amp; Human Capital</c:v>
                  </c:pt>
                </c:lvl>
              </c:multiLvlStrCache>
            </c:multiLvlStrRef>
          </c:cat>
          <c:val>
            <c:numRef>
              <c:f>Sheet1!$B$2:$B$6</c:f>
              <c:numCache>
                <c:formatCode>General</c:formatCode>
                <c:ptCount val="5"/>
                <c:pt idx="0">
                  <c:v>5.23</c:v>
                </c:pt>
                <c:pt idx="1">
                  <c:v>5.64</c:v>
                </c:pt>
                <c:pt idx="2">
                  <c:v>11.754999999999999</c:v>
                </c:pt>
                <c:pt idx="3">
                  <c:v>14.18</c:v>
                </c:pt>
                <c:pt idx="4">
                  <c:v>4.115</c:v>
                </c:pt>
              </c:numCache>
            </c:numRef>
          </c:val>
        </c:ser>
        <c:dLbls>
          <c:numFmt formatCode="+0.0&quot;%&quot;;-0.0&quot;%&quot;;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catAx>
      <c:valAx>
        <c:axId val="2094734552"/>
        <c:scaling>
          <c:orientation val="minMax"/>
          <c:max val="17.299599999999998"/>
          <c:min val="0"/>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B68757"/>
            </a:solidFill>
            <a:effectLst/>
          </c:spPr>
          <c:invertIfNegative val="0"/>
          <c:dLbls>
            <c:numFmt formatCode="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Commercial &amp; Facility</c:v>
                  </c:pt>
                  <c:pt idx="1">
                    <c:v>Marketing, Sales &amp; Tech</c:v>
                  </c:pt>
                  <c:pt idx="2">
                    <c:v>Engineering &amp; Architecture</c:v>
                  </c:pt>
                  <c:pt idx="3">
                    <c:v>Financial &amp; Insurance</c:v>
                  </c:pt>
                  <c:pt idx="4">
                    <c:v>Staffing &amp; Human Capital</c:v>
                  </c:pt>
                </c:lvl>
              </c:multiLvlStrCache>
            </c:multiLvlStrRef>
          </c:cat>
          <c:val>
            <c:numRef>
              <c:f>Sheet1!$B$2:$B$6</c:f>
              <c:numCache>
                <c:formatCode>General</c:formatCode>
                <c:ptCount val="5"/>
                <c:pt idx="0">
                  <c:v>18.08</c:v>
                </c:pt>
                <c:pt idx="1">
                  <c:v>10.64</c:v>
                </c:pt>
                <c:pt idx="2">
                  <c:v>10.94</c:v>
                </c:pt>
                <c:pt idx="3">
                  <c:v>27.88</c:v>
                </c:pt>
                <c:pt idx="4">
                  <c:v>3.49</c:v>
                </c:pt>
              </c:numCache>
            </c:numRef>
          </c:val>
        </c:ser>
        <c:dLbls>
          <c:numFmt formatCode="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catAx>
      <c:valAx>
        <c:axId val="2094734552"/>
        <c:scaling>
          <c:orientation val="minMax"/>
          <c:max val="34.0136"/>
          <c:min val="0"/>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B68757"/>
            </a:solidFill>
            <a:effectLst/>
          </c:spPr>
          <c:invertIfNegative val="0"/>
          <c:dLbls>
            <c:numFmt formatCode="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Commercial &amp; Facility</c:v>
                  </c:pt>
                  <c:pt idx="1">
                    <c:v>Marketing, Sales &amp; Tech</c:v>
                  </c:pt>
                  <c:pt idx="2">
                    <c:v>Engineering &amp; Architecture</c:v>
                  </c:pt>
                  <c:pt idx="3">
                    <c:v>Financial &amp; Insurance</c:v>
                  </c:pt>
                  <c:pt idx="4">
                    <c:v>Staffing &amp; Human Capital</c:v>
                  </c:pt>
                </c:lvl>
              </c:multiLvlStrCache>
            </c:multiLvlStrRef>
          </c:cat>
          <c:val>
            <c:numRef>
              <c:f>Sheet1!$B$2:$B$6</c:f>
              <c:numCache>
                <c:formatCode>General</c:formatCode>
                <c:ptCount val="5"/>
                <c:pt idx="0">
                  <c:v>12.525</c:v>
                </c:pt>
                <c:pt idx="1">
                  <c:v>8.31</c:v>
                </c:pt>
                <c:pt idx="2">
                  <c:v>6.465</c:v>
                </c:pt>
                <c:pt idx="3">
                  <c:v>16.72</c:v>
                </c:pt>
                <c:pt idx="4">
                  <c:v>2.82</c:v>
                </c:pt>
              </c:numCache>
            </c:numRef>
          </c:val>
        </c:ser>
        <c:dLbls>
          <c:numFmt formatCode="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catAx>
      <c:valAx>
        <c:axId val="2094734552"/>
        <c:scaling>
          <c:orientation val="minMax"/>
          <c:max val="20.3984"/>
          <c:min val="0"/>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B68757"/>
            </a:solidFill>
            <a:effectLst/>
          </c:spPr>
          <c:invertIfNegative val="0"/>
          <c:dLbls>
            <c:numFmt formatCode="0.00&quot;x&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Commercial &amp; Facility</c:v>
                  </c:pt>
                  <c:pt idx="1">
                    <c:v>Marketing, Sales &amp; Tech</c:v>
                  </c:pt>
                  <c:pt idx="2">
                    <c:v>Engineering &amp; Architecture</c:v>
                  </c:pt>
                  <c:pt idx="3">
                    <c:v>Financial &amp; Insurance</c:v>
                  </c:pt>
                  <c:pt idx="4">
                    <c:v>Staffing &amp; Human Capital</c:v>
                  </c:pt>
                </c:lvl>
              </c:multiLvlStrCache>
            </c:multiLvlStrRef>
          </c:cat>
          <c:val>
            <c:numRef>
              <c:f>Sheet1!$B$2:$B$6</c:f>
              <c:numCache>
                <c:formatCode>General</c:formatCode>
                <c:ptCount val="5"/>
                <c:pt idx="0">
                  <c:v>2.47</c:v>
                </c:pt>
                <c:pt idx="1">
                  <c:v>1.07</c:v>
                </c:pt>
                <c:pt idx="2">
                  <c:v>1.6</c:v>
                </c:pt>
                <c:pt idx="3">
                  <c:v>3.92</c:v>
                </c:pt>
                <c:pt idx="4">
                  <c:v>0.525</c:v>
                </c:pt>
              </c:numCache>
            </c:numRef>
          </c:val>
        </c:ser>
        <c:dLbls>
          <c:numFmt formatCode="0.00&quot;x&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catAx>
      <c:valAx>
        <c:axId val="2094734552"/>
        <c:scaling>
          <c:orientation val="minMax"/>
          <c:max val="4.7824"/>
          <c:min val="0"/>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Value</c:v>
                </c:pt>
              </c:strCache>
            </c:strRef>
          </c:tx>
          <c:spPr>
            <a:solidFill>
              <a:srgbClr val="B68757"/>
            </a:solidFill>
            <a:effectLst/>
          </c:spPr>
          <c:invertIfNegative val="0"/>
          <c:dLbls>
            <c:numFmt formatCode="+0.0&quot;%&quot;;-0.0&quot;%&quot;;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dPt>
            <c:idx val="0"/>
            <c:invertIfNegative val="0"/>
            <c:bubble3D val="0"/>
            <c:spPr>
              <a:solidFill>
                <a:srgbClr val="B68757"/>
              </a:solidFill>
              <a:effectLst/>
            </c:spPr>
          </c:dPt>
          <c:dPt>
            <c:idx val="1"/>
            <c:invertIfNegative val="0"/>
            <c:bubble3D val="0"/>
            <c:spPr>
              <a:solidFill>
                <a:srgbClr val="B68757"/>
              </a:solidFill>
              <a:effectLst/>
            </c:spPr>
          </c:dPt>
          <c:dPt>
            <c:idx val="2"/>
            <c:invertIfNegative val="0"/>
            <c:bubble3D val="0"/>
            <c:spPr>
              <a:solidFill>
                <a:srgbClr val="B68757"/>
              </a:solidFill>
              <a:effectLst/>
            </c:spPr>
          </c:dPt>
          <c:dPt>
            <c:idx val="3"/>
            <c:invertIfNegative val="0"/>
            <c:bubble3D val="0"/>
            <c:spPr>
              <a:solidFill>
                <a:srgbClr val="B68757"/>
              </a:solidFill>
              <a:effectLst/>
            </c:spPr>
          </c:dPt>
          <c:dPt>
            <c:idx val="4"/>
            <c:invertIfNegative val="0"/>
            <c:bubble3D val="0"/>
            <c:spPr>
              <a:solidFill>
                <a:srgbClr val="B68757"/>
              </a:solidFill>
              <a:effectLst/>
            </c:spPr>
          </c:dPt>
          <c:dPt>
            <c:idx val="5"/>
            <c:invertIfNegative val="0"/>
            <c:bubble3D val="0"/>
            <c:spPr>
              <a:solidFill>
                <a:srgbClr val="B68757"/>
              </a:solidFill>
              <a:effectLst/>
            </c:spPr>
          </c:dPt>
          <c:dPt>
            <c:idx val="6"/>
            <c:invertIfNegative val="0"/>
            <c:bubble3D val="0"/>
            <c:spPr>
              <a:solidFill>
                <a:srgbClr val="B68757"/>
              </a:solidFill>
              <a:effectLst/>
            </c:spPr>
          </c:dPt>
          <c:dPt>
            <c:idx val="7"/>
            <c:invertIfNegative val="0"/>
            <c:bubble3D val="0"/>
            <c:spPr>
              <a:solidFill>
                <a:srgbClr val="B68757"/>
              </a:solidFill>
              <a:effectLst/>
            </c:spPr>
          </c:dPt>
          <c:dPt>
            <c:idx val="8"/>
            <c:invertIfNegative val="0"/>
            <c:bubble3D val="0"/>
            <c:spPr>
              <a:solidFill>
                <a:srgbClr val="B68757"/>
              </a:solidFill>
              <a:effectLst/>
            </c:spPr>
          </c:dPt>
          <c:dPt>
            <c:idx val="9"/>
            <c:invertIfNegative val="0"/>
            <c:bubble3D val="0"/>
            <c:spPr>
              <a:solidFill>
                <a:srgbClr val="B68757"/>
              </a:solidFill>
              <a:effectLst/>
            </c:spPr>
          </c:dPt>
          <c:dPt>
            <c:idx val="10"/>
            <c:invertIfNegative val="0"/>
            <c:bubble3D val="0"/>
            <c:spPr>
              <a:solidFill>
                <a:srgbClr val="B68757"/>
              </a:solidFill>
              <a:effectLst/>
            </c:spPr>
          </c:dPt>
          <c:dPt>
            <c:idx val="11"/>
            <c:invertIfNegative val="0"/>
            <c:bubble3D val="0"/>
            <c:spPr>
              <a:solidFill>
                <a:srgbClr val="B68757"/>
              </a:solidFill>
              <a:effectLst/>
            </c:spPr>
          </c:dPt>
          <c:dPt>
            <c:idx val="12"/>
            <c:invertIfNegative val="0"/>
            <c:bubble3D val="0"/>
            <c:spPr>
              <a:solidFill>
                <a:srgbClr val="B68757"/>
              </a:solidFill>
              <a:effectLst/>
            </c:spPr>
          </c:dPt>
          <c:dPt>
            <c:idx val="13"/>
            <c:invertIfNegative val="0"/>
            <c:bubble3D val="0"/>
            <c:spPr>
              <a:solidFill>
                <a:srgbClr val="B68757"/>
              </a:solidFill>
              <a:effectLst/>
            </c:spPr>
          </c:dPt>
          <c:dPt>
            <c:idx val="14"/>
            <c:invertIfNegative val="0"/>
            <c:bubble3D val="0"/>
            <c:spPr>
              <a:solidFill>
                <a:srgbClr val="B68757"/>
              </a:solidFill>
              <a:effectLst/>
            </c:spPr>
          </c:dPt>
          <c:dPt>
            <c:idx val="15"/>
            <c:invertIfNegative val="0"/>
            <c:bubble3D val="0"/>
            <c:spPr>
              <a:solidFill>
                <a:srgbClr val="B68757"/>
              </a:solidFill>
              <a:effectLst/>
            </c:spPr>
          </c:dPt>
          <c:dPt>
            <c:idx val="16"/>
            <c:invertIfNegative val="0"/>
            <c:bubble3D val="0"/>
            <c:spPr>
              <a:solidFill>
                <a:srgbClr val="B68757"/>
              </a:solidFill>
              <a:effectLst/>
            </c:spPr>
          </c:dPt>
          <c:dPt>
            <c:idx val="17"/>
            <c:invertIfNegative val="0"/>
            <c:bubble3D val="0"/>
            <c:spPr>
              <a:solidFill>
                <a:srgbClr val="1B1A1A"/>
              </a:solidFill>
              <a:effectLst/>
            </c:spPr>
          </c:dPt>
          <c:dPt>
            <c:idx val="18"/>
            <c:invertIfNegative val="0"/>
            <c:bubble3D val="0"/>
            <c:spPr>
              <a:solidFill>
                <a:srgbClr val="1B1A1A"/>
              </a:solidFill>
              <a:effectLst/>
            </c:spPr>
          </c:dPt>
          <c:cat>
            <c:multiLvlStrRef>
              <c:f>Sheet1!$A$2:$A$20</c:f>
              <c:multiLvlStrCache>
                <c:ptCount val="19"/>
                <c:lvl>
                  <c:pt idx="0">
                    <c:v>Willdan Group</c:v>
                  </c:pt>
                  <c:pt idx="1">
                    <c:v>Bowman Consulting</c:v>
                  </c:pt>
                  <c:pt idx="2">
                    <c:v>APi Group</c:v>
                  </c:pt>
                  <c:pt idx="3">
                    <c:v>TrueBlue</c:v>
                  </c:pt>
                  <c:pt idx="4">
                    <c:v>Stantec</c:v>
                  </c:pt>
                  <c:pt idx="5">
                    <c:v>Stagwell</c:v>
                  </c:pt>
                  <c:pt idx="6">
                    <c:v>ManpowerGroup</c:v>
                  </c:pt>
                  <c:pt idx="7">
                    <c:v>Ryan Specialty</c:v>
                  </c:pt>
                  <c:pt idx="8">
                    <c:v>Daktronics</c:v>
                  </c:pt>
                  <c:pt idx="9">
                    <c:v>Korn Ferry</c:v>
                  </c:pt>
                  <c:pt idx="10">
                    <c:v>Accenture</c:v>
                  </c:pt>
                  <c:pt idx="11">
                    <c:v>UL Solutions</c:v>
                  </c:pt>
                  <c:pt idx="12">
                    <c:v>Kforce</c:v>
                  </c:pt>
                  <c:pt idx="13">
                    <c:v>ABM Industries</c:v>
                  </c:pt>
                  <c:pt idx="14">
                    <c:v>FirstService</c:v>
                  </c:pt>
                  <c:pt idx="15">
                    <c:v>Advantage Solutions</c:v>
                  </c:pt>
                  <c:pt idx="16">
                    <c:v>BrightView</c:v>
                  </c:pt>
                  <c:pt idx="17">
                    <c:v>Crawford &amp; Company</c:v>
                  </c:pt>
                  <c:pt idx="18">
                    <c:v>Robert Half</c:v>
                  </c:pt>
                </c:lvl>
              </c:multiLvlStrCache>
            </c:multiLvlStrRef>
          </c:cat>
          <c:val>
            <c:numRef>
              <c:f>Sheet1!$B$2:$B$20</c:f>
              <c:numCache>
                <c:formatCode>General</c:formatCode>
                <c:ptCount val="19"/>
                <c:pt idx="0">
                  <c:v>23.5</c:v>
                </c:pt>
                <c:pt idx="1">
                  <c:v>19.7</c:v>
                </c:pt>
                <c:pt idx="2">
                  <c:v>13.3</c:v>
                </c:pt>
                <c:pt idx="3">
                  <c:v>12</c:v>
                </c:pt>
                <c:pt idx="4">
                  <c:v>11.5</c:v>
                </c:pt>
                <c:pt idx="5">
                  <c:v>11</c:v>
                </c:pt>
                <c:pt idx="6">
                  <c:v>8</c:v>
                </c:pt>
                <c:pt idx="7">
                  <c:v>7.2</c:v>
                </c:pt>
                <c:pt idx="8">
                  <c:v>7.1</c:v>
                </c:pt>
                <c:pt idx="9">
                  <c:v>7</c:v>
                </c:pt>
                <c:pt idx="10">
                  <c:v>6</c:v>
                </c:pt>
                <c:pt idx="11">
                  <c:v>5.2</c:v>
                </c:pt>
                <c:pt idx="12">
                  <c:v>4.5</c:v>
                </c:pt>
                <c:pt idx="13">
                  <c:v>4.2</c:v>
                </c:pt>
                <c:pt idx="14">
                  <c:v>2</c:v>
                </c:pt>
                <c:pt idx="15">
                  <c:v>1.8</c:v>
                </c:pt>
                <c:pt idx="16">
                  <c:v>1.3</c:v>
                </c:pt>
                <c:pt idx="17">
                  <c:v>-0.5</c:v>
                </c:pt>
                <c:pt idx="18">
                  <c:v>-2</c:v>
                </c:pt>
              </c:numCache>
            </c:numRef>
          </c:val>
        </c:ser>
        <c:dLbls>
          <c:numFmt formatCode="+0.0&quot;%&quot;;-0.0&quot;%&quot;;0.0&quot;%&quot;" sourceLinked="0"/>
          <c:txPr>
            <a:bodyPr/>
            <a:lstStyle/>
            <a:p>
              <a:pPr>
                <a:defRPr b="1" i="0" strike="noStrike" sz="700" u="none">
                  <a:solidFill>
                    <a:srgbClr val="1B1A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catAx>
      <c:valAx>
        <c:axId val="2094734552"/>
        <c:scaling>
          <c:orientation val="minMax"/>
          <c:max val="31.6"/>
          <c:min val="-11.6"/>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 GDP growth</c:v>
                </c:pt>
              </c:strCache>
            </c:strRef>
          </c:tx>
          <c:spPr>
            <a:solidFill>
              <a:srgbClr val="B68757"/>
            </a:solidFill>
            <a:effectLst/>
          </c:spPr>
          <c:invertIfNegative val="0"/>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dPt>
            <c:idx val="0"/>
            <c:invertIfNegative val="0"/>
            <c:bubble3D val="0"/>
            <c:spPr>
              <a:solidFill>
                <a:srgbClr val="B68757"/>
              </a:solidFill>
              <a:effectLst/>
            </c:spPr>
          </c:dPt>
          <c:dPt>
            <c:idx val="1"/>
            <c:invertIfNegative val="0"/>
            <c:bubble3D val="0"/>
            <c:spPr>
              <a:solidFill>
                <a:srgbClr val="B68757"/>
              </a:solidFill>
              <a:effectLst/>
            </c:spPr>
          </c:dPt>
          <c:dPt>
            <c:idx val="2"/>
            <c:invertIfNegative val="0"/>
            <c:bubble3D val="0"/>
            <c:spPr>
              <a:solidFill>
                <a:srgbClr val="1B1A1A"/>
              </a:solidFill>
              <a:effectLst/>
            </c:spPr>
          </c:dPt>
          <c:dPt>
            <c:idx val="3"/>
            <c:invertIfNegative val="0"/>
            <c:bubble3D val="0"/>
            <c:spPr>
              <a:solidFill>
                <a:srgbClr val="B68757"/>
              </a:solidFill>
              <a:effectLst/>
            </c:spPr>
          </c:dPt>
          <c:dPt>
            <c:idx val="4"/>
            <c:invertIfNegative val="0"/>
            <c:bubble3D val="0"/>
            <c:spPr>
              <a:solidFill>
                <a:srgbClr val="B68757"/>
              </a:solidFill>
              <a:effectLst/>
            </c:spPr>
          </c:dPt>
          <c:dPt>
            <c:idx val="5"/>
            <c:invertIfNegative val="0"/>
            <c:bubble3D val="0"/>
            <c:spPr>
              <a:solidFill>
                <a:srgbClr val="B68757"/>
              </a:solidFill>
              <a:effectLst/>
            </c:spPr>
          </c:dPt>
          <c:dPt>
            <c:idx val="6"/>
            <c:invertIfNegative val="0"/>
            <c:bubble3D val="0"/>
            <c:spPr>
              <a:solidFill>
                <a:srgbClr val="B68757"/>
              </a:solidFill>
              <a:effectLst/>
            </c:spPr>
          </c:dPt>
          <c:dPt>
            <c:idx val="7"/>
            <c:invertIfNegative val="0"/>
            <c:bubble3D val="0"/>
            <c:spPr>
              <a:solidFill>
                <a:srgbClr val="B68757"/>
              </a:solidFill>
              <a:effectLst/>
            </c:spPr>
          </c:dPt>
          <c:dPt>
            <c:idx val="8"/>
            <c:invertIfNegative val="0"/>
            <c:bubble3D val="0"/>
            <c:spPr>
              <a:solidFill>
                <a:srgbClr val="B68757"/>
              </a:solidFill>
              <a:effectLst/>
            </c:spPr>
          </c:dPt>
          <c:dPt>
            <c:idx val="9"/>
            <c:invertIfNegative val="0"/>
            <c:bubble3D val="0"/>
            <c:spPr>
              <a:solidFill>
                <a:srgbClr val="B68757"/>
              </a:solidFill>
              <a:effectLst/>
            </c:spPr>
          </c:dPt>
          <c:dPt>
            <c:idx val="10"/>
            <c:invertIfNegative val="0"/>
            <c:bubble3D val="0"/>
            <c:spPr>
              <a:solidFill>
                <a:srgbClr val="B68757"/>
              </a:solidFill>
              <a:effectLst/>
            </c:spPr>
          </c:dPt>
          <c:dPt>
            <c:idx val="11"/>
            <c:invertIfNegative val="0"/>
            <c:bubble3D val="0"/>
            <c:spPr>
              <a:solidFill>
                <a:srgbClr val="B68757"/>
              </a:solidFill>
              <a:effectLst/>
            </c:spPr>
          </c:dPt>
          <c:dPt>
            <c:idx val="12"/>
            <c:invertIfNegative val="0"/>
            <c:bubble3D val="0"/>
            <c:spPr>
              <a:solidFill>
                <a:srgbClr val="B68757"/>
              </a:solidFill>
              <a:effectLst/>
            </c:spPr>
          </c:dPt>
          <c:dPt>
            <c:idx val="13"/>
            <c:invertIfNegative val="0"/>
            <c:bubble3D val="0"/>
            <c:spPr>
              <a:solidFill>
                <a:srgbClr val="B68757"/>
              </a:solidFill>
              <a:effectLst/>
            </c:spPr>
          </c:dPt>
          <c:dPt>
            <c:idx val="14"/>
            <c:invertIfNegative val="0"/>
            <c:bubble3D val="0"/>
            <c:spPr>
              <a:solidFill>
                <a:srgbClr val="B68757"/>
              </a:solidFill>
              <a:effectLst/>
            </c:spPr>
          </c:dPt>
          <c:dPt>
            <c:idx val="15"/>
            <c:invertIfNegative val="0"/>
            <c:bubble3D val="0"/>
            <c:spPr>
              <a:solidFill>
                <a:srgbClr val="B68757"/>
              </a:solidFill>
              <a:effectLst/>
            </c:spPr>
          </c:dPt>
          <c:dPt>
            <c:idx val="16"/>
            <c:invertIfNegative val="0"/>
            <c:bubble3D val="0"/>
            <c:spPr>
              <a:solidFill>
                <a:srgbClr val="B68757"/>
              </a:solidFill>
              <a:effectLst/>
            </c:spPr>
          </c:dPt>
          <c:dPt>
            <c:idx val="17"/>
            <c:invertIfNegative val="0"/>
            <c:bubble3D val="0"/>
            <c:spPr>
              <a:solidFill>
                <a:srgbClr val="B68757"/>
              </a:solidFill>
              <a:effectLst/>
            </c:spPr>
          </c:dPt>
          <c:dPt>
            <c:idx val="18"/>
            <c:invertIfNegative val="0"/>
            <c:bubble3D val="0"/>
            <c:spPr>
              <a:solidFill>
                <a:srgbClr val="B68757"/>
              </a:solidFill>
              <a:effectLst/>
            </c:spPr>
          </c:dPt>
          <c:dPt>
            <c:idx val="19"/>
            <c:invertIfNegative val="0"/>
            <c:bubble3D val="0"/>
            <c:spPr>
              <a:solidFill>
                <a:srgbClr val="B68757"/>
              </a:solidFill>
              <a:effectLst/>
            </c:spPr>
          </c:dPt>
          <c:cat>
            <c:multiLvlStrRef>
              <c:f>Sheet1!$A$2:$A$21</c:f>
              <c:multiLvlStrCache>
                <c:ptCount val="20"/>
                <c:lvl>
                  <c:pt idx="0">
                    <c:v>Q3 2021</c:v>
                  </c:pt>
                  <c:pt idx="1">
                    <c:v>Q4 2021</c:v>
                  </c:pt>
                  <c:pt idx="2">
                    <c:v>Q1 2022</c:v>
                  </c:pt>
                  <c:pt idx="3">
                    <c:v>Q2 2022</c:v>
                  </c:pt>
                  <c:pt idx="4">
                    <c:v>Q3 2022</c:v>
                  </c:pt>
                  <c:pt idx="5">
                    <c:v>Q4 2022</c:v>
                  </c:pt>
                  <c:pt idx="6">
                    <c:v>Q1 2023</c:v>
                  </c:pt>
                  <c:pt idx="7">
                    <c:v>Q2 2023</c:v>
                  </c:pt>
                  <c:pt idx="8">
                    <c:v>Q3 2023</c:v>
                  </c:pt>
                  <c:pt idx="9">
                    <c:v>Q4 2023</c:v>
                  </c:pt>
                  <c:pt idx="10">
                    <c:v>Q1 2024</c:v>
                  </c:pt>
                  <c:pt idx="11">
                    <c:v>Q2 2024</c:v>
                  </c:pt>
                  <c:pt idx="12">
                    <c:v>Q3 2024</c:v>
                  </c:pt>
                  <c:pt idx="13">
                    <c:v>Q4 2024</c:v>
                  </c:pt>
                  <c:pt idx="14">
                    <c:v>Q1 2025</c:v>
                  </c:pt>
                  <c:pt idx="15">
                    <c:v>Q2 2025</c:v>
                  </c:pt>
                  <c:pt idx="16">
                    <c:v>Q3 2025</c:v>
                  </c:pt>
                  <c:pt idx="17">
                    <c:v>Q4 2025</c:v>
                  </c:pt>
                  <c:pt idx="18">
                    <c:v>Q1 2026</c:v>
                  </c:pt>
                  <c:pt idx="19">
                    <c:v>Q2 2026</c:v>
                  </c:pt>
                </c:lvl>
              </c:multiLvlStrCache>
            </c:multiLvlStrRef>
          </c:cat>
          <c:val>
            <c:numRef>
              <c:f>Sheet1!$B$2:$B$21</c:f>
              <c:numCache>
                <c:formatCode>General</c:formatCode>
                <c:ptCount val="20"/>
                <c:pt idx="0">
                  <c:v>3.2</c:v>
                </c:pt>
                <c:pt idx="1">
                  <c:v>6.8</c:v>
                </c:pt>
                <c:pt idx="2">
                  <c:v>-1</c:v>
                </c:pt>
                <c:pt idx="3">
                  <c:v>0.6</c:v>
                </c:pt>
                <c:pt idx="4">
                  <c:v>2.7</c:v>
                </c:pt>
                <c:pt idx="5">
                  <c:v>2.7</c:v>
                </c:pt>
                <c:pt idx="6">
                  <c:v>3.4</c:v>
                </c:pt>
                <c:pt idx="7">
                  <c:v>2.2</c:v>
                </c:pt>
                <c:pt idx="8">
                  <c:v>4.5</c:v>
                </c:pt>
                <c:pt idx="9">
                  <c:v>3.6</c:v>
                </c:pt>
                <c:pt idx="10">
                  <c:v>1.4</c:v>
                </c:pt>
                <c:pt idx="11">
                  <c:v>3.6</c:v>
                </c:pt>
                <c:pt idx="12">
                  <c:v>3.2</c:v>
                </c:pt>
                <c:pt idx="13">
                  <c:v>2.4</c:v>
                </c:pt>
                <c:pt idx="14">
                  <c:v>0.1</c:v>
                </c:pt>
                <c:pt idx="15">
                  <c:v>4</c:v>
                </c:pt>
                <c:pt idx="16">
                  <c:v>3.9</c:v>
                </c:pt>
                <c:pt idx="17">
                  <c:v>0.2</c:v>
                </c:pt>
                <c:pt idx="18">
                  <c:v>2.5</c:v>
                </c:pt>
                <c:pt idx="19">
                  <c:v>2.2</c:v>
                </c:pt>
              </c:numCache>
            </c:numRef>
          </c:val>
        </c:ser>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tickLblSkip val="4"/>
      </c:catAx>
      <c:valAx>
        <c:axId val="2094734552"/>
        <c:scaling>
          <c:orientation val="minMax"/>
          <c:max val="8"/>
          <c:min val="-2"/>
        </c:scaling>
        <c:delete val="0"/>
        <c:axPos val="l"/>
        <c:majorGridlines>
          <c:spPr>
            <a:ln w="6350" cap="flat">
              <a:solidFill>
                <a:srgbClr val="E3DCD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majorUnit val="2"/>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Unemployment rate</c:v>
                </c:pt>
              </c:strCache>
            </c:strRef>
          </c:tx>
          <c:spPr>
            <a:solidFill>
              <a:srgbClr val="B68757"/>
            </a:solidFill>
            <a:ln w="19050" cap="flat">
              <a:solidFill>
                <a:srgbClr val="B68757"/>
              </a:solidFill>
              <a:prstDash val="solid"/>
              <a:round/>
            </a:ln>
            <a:effectLst/>
          </c:spPr>
          <c:invertIfNegative val="0"/>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c:symbol val="none"/>
            <c:size val="6"/>
            <c:spPr>
              <a:solidFill>
                <a:srgbClr val="B68757"/>
              </a:solidFill>
              <a:ln w="9525" cap="flat">
                <a:solidFill>
                  <a:srgbClr val="B68757"/>
                </a:solidFill>
                <a:prstDash val="solid"/>
                <a:round/>
              </a:ln>
              <a:effectLst/>
            </c:spPr>
          </c:marker>
          <c:cat>
            <c:multiLvlStrRef>
              <c:f>Sheet1!$A$2:$A$62</c:f>
              <c:multiLvlStrCache>
                <c:ptCount val="61"/>
                <c:lvl>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pt idx="60">
                    <c:v>Sep 2026</c:v>
                  </c:pt>
                </c:lvl>
              </c:multiLvlStrCache>
            </c:multiLvlStrRef>
          </c:cat>
          <c:val>
            <c:numRef>
              <c:f>Sheet1!$B$2:$B$62</c:f>
              <c:numCache>
                <c:formatCode>General</c:formatCode>
                <c:ptCount val="61"/>
                <c:pt idx="0">
                  <c:v>4.7</c:v>
                </c:pt>
                <c:pt idx="1">
                  <c:v>4.5</c:v>
                </c:pt>
                <c:pt idx="2">
                  <c:v>4.1</c:v>
                </c:pt>
                <c:pt idx="3">
                  <c:v>3.9</c:v>
                </c:pt>
                <c:pt idx="4">
                  <c:v>4</c:v>
                </c:pt>
                <c:pt idx="5">
                  <c:v>3.9</c:v>
                </c:pt>
                <c:pt idx="6">
                  <c:v>3.7</c:v>
                </c:pt>
                <c:pt idx="7">
                  <c:v>3.7</c:v>
                </c:pt>
                <c:pt idx="8">
                  <c:v>3.6</c:v>
                </c:pt>
                <c:pt idx="9">
                  <c:v>3.6</c:v>
                </c:pt>
                <c:pt idx="10">
                  <c:v>3.5</c:v>
                </c:pt>
                <c:pt idx="11">
                  <c:v>3.6</c:v>
                </c:pt>
                <c:pt idx="12">
                  <c:v>3.5</c:v>
                </c:pt>
                <c:pt idx="13">
                  <c:v>3.6</c:v>
                </c:pt>
                <c:pt idx="14">
                  <c:v>3.6</c:v>
                </c:pt>
                <c:pt idx="15">
                  <c:v>3.5</c:v>
                </c:pt>
                <c:pt idx="16">
                  <c:v>3.5</c:v>
                </c:pt>
                <c:pt idx="17">
                  <c:v>3.6</c:v>
                </c:pt>
                <c:pt idx="18">
                  <c:v>3.5</c:v>
                </c:pt>
                <c:pt idx="19">
                  <c:v>3.4</c:v>
                </c:pt>
                <c:pt idx="20">
                  <c:v>3.6</c:v>
                </c:pt>
                <c:pt idx="21">
                  <c:v>3.6</c:v>
                </c:pt>
                <c:pt idx="22">
                  <c:v>3.5</c:v>
                </c:pt>
                <c:pt idx="23">
                  <c:v>3.7</c:v>
                </c:pt>
                <c:pt idx="24">
                  <c:v>3.7</c:v>
                </c:pt>
                <c:pt idx="25">
                  <c:v>3.9</c:v>
                </c:pt>
                <c:pt idx="26">
                  <c:v>3.7</c:v>
                </c:pt>
                <c:pt idx="27">
                  <c:v>3.8</c:v>
                </c:pt>
                <c:pt idx="28">
                  <c:v>3.7</c:v>
                </c:pt>
                <c:pt idx="29">
                  <c:v>3.9</c:v>
                </c:pt>
                <c:pt idx="30">
                  <c:v>3.9</c:v>
                </c:pt>
                <c:pt idx="31">
                  <c:v>3.9</c:v>
                </c:pt>
                <c:pt idx="32">
                  <c:v>3.9</c:v>
                </c:pt>
                <c:pt idx="33">
                  <c:v>4.1</c:v>
                </c:pt>
                <c:pt idx="34">
                  <c:v>4.2</c:v>
                </c:pt>
                <c:pt idx="35">
                  <c:v>4.2</c:v>
                </c:pt>
                <c:pt idx="36">
                  <c:v>4.1</c:v>
                </c:pt>
                <c:pt idx="37">
                  <c:v>4.1</c:v>
                </c:pt>
                <c:pt idx="38">
                  <c:v>4.2</c:v>
                </c:pt>
                <c:pt idx="39">
                  <c:v>4.1</c:v>
                </c:pt>
                <c:pt idx="40">
                  <c:v>4</c:v>
                </c:pt>
                <c:pt idx="41">
                  <c:v>4.2</c:v>
                </c:pt>
                <c:pt idx="42">
                  <c:v>4.2</c:v>
                </c:pt>
                <c:pt idx="43">
                  <c:v>4.2</c:v>
                </c:pt>
                <c:pt idx="44">
                  <c:v>4.3</c:v>
                </c:pt>
                <c:pt idx="45">
                  <c:v>4.1</c:v>
                </c:pt>
                <c:pt idx="46">
                  <c:v>4.3</c:v>
                </c:pt>
                <c:pt idx="47">
                  <c:v>4.3</c:v>
                </c:pt>
                <c:pt idx="48">
                  <c:v>4.4</c:v>
                </c:pt>
                <c:pt idx="49">
                  <c:v/>
                </c:pt>
                <c:pt idx="50">
                  <c:v>4.5</c:v>
                </c:pt>
                <c:pt idx="51">
                  <c:v>4.4</c:v>
                </c:pt>
                <c:pt idx="52">
                  <c:v>4.3</c:v>
                </c:pt>
                <c:pt idx="53">
                  <c:v>4.4</c:v>
                </c:pt>
                <c:pt idx="54">
                  <c:v>4.3</c:v>
                </c:pt>
                <c:pt idx="55">
                  <c:v>4.3</c:v>
                </c:pt>
                <c:pt idx="56">
                  <c:v>4.3</c:v>
                </c:pt>
                <c:pt idx="57">
                  <c:v>4.2</c:v>
                </c:pt>
                <c:pt idx="58">
                  <c:v>4.1</c:v>
                </c:pt>
                <c:pt idx="59">
                  <c:v>4.1</c:v>
                </c:pt>
                <c:pt idx="60">
                  <c:v>4.2</c:v>
                </c:pt>
              </c:numCache>
            </c:numRef>
          </c:val>
          <c:smooth val="0"/>
        </c:ser>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tickLblSkip val="12"/>
      </c:catAx>
      <c:valAx>
        <c:axId val="2094734552"/>
        <c:scaling>
          <c:orientation val="minMax"/>
          <c:max val="5"/>
          <c:min val="3"/>
        </c:scaling>
        <c:delete val="0"/>
        <c:axPos val="l"/>
        <c:majorGridlines>
          <c:spPr>
            <a:ln w="6350" cap="flat">
              <a:solidFill>
                <a:srgbClr val="E3DCD3"/>
              </a:solidFill>
              <a:prstDash val="solid"/>
              <a:round/>
            </a:ln>
          </c:spPr>
        </c:majorGridlines>
        <c:numFmt formatCode="0.0&quot;%&quot;" sourceLinked="0"/>
        <c:majorTickMark val="out"/>
        <c:minorTickMark val="none"/>
        <c:tickLblPos val="nextTo"/>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majorUnit val="0.5"/>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Payroll change, thousands</c:v>
                </c:pt>
              </c:strCache>
            </c:strRef>
          </c:tx>
          <c:spPr>
            <a:solidFill>
              <a:srgbClr val="B68757"/>
            </a:solidFill>
            <a:effectLst/>
          </c:spPr>
          <c:invertIfNegative val="0"/>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dPt>
            <c:idx val="0"/>
            <c:invertIfNegative val="0"/>
            <c:bubble3D val="0"/>
            <c:spPr>
              <a:solidFill>
                <a:srgbClr val="B68757"/>
              </a:solidFill>
              <a:effectLst/>
            </c:spPr>
          </c:dPt>
          <c:dPt>
            <c:idx val="1"/>
            <c:invertIfNegative val="0"/>
            <c:bubble3D val="0"/>
            <c:spPr>
              <a:solidFill>
                <a:srgbClr val="B68757"/>
              </a:solidFill>
              <a:effectLst/>
            </c:spPr>
          </c:dPt>
          <c:dPt>
            <c:idx val="2"/>
            <c:invertIfNegative val="0"/>
            <c:bubble3D val="0"/>
            <c:spPr>
              <a:solidFill>
                <a:srgbClr val="B68757"/>
              </a:solidFill>
              <a:effectLst/>
            </c:spPr>
          </c:dPt>
          <c:dPt>
            <c:idx val="3"/>
            <c:invertIfNegative val="0"/>
            <c:bubble3D val="0"/>
            <c:spPr>
              <a:solidFill>
                <a:srgbClr val="B68757"/>
              </a:solidFill>
              <a:effectLst/>
            </c:spPr>
          </c:dPt>
          <c:dPt>
            <c:idx val="4"/>
            <c:invertIfNegative val="0"/>
            <c:bubble3D val="0"/>
            <c:spPr>
              <a:solidFill>
                <a:srgbClr val="B68757"/>
              </a:solidFill>
              <a:effectLst/>
            </c:spPr>
          </c:dPt>
          <c:dPt>
            <c:idx val="5"/>
            <c:invertIfNegative val="0"/>
            <c:bubble3D val="0"/>
            <c:spPr>
              <a:solidFill>
                <a:srgbClr val="B68757"/>
              </a:solidFill>
              <a:effectLst/>
            </c:spPr>
          </c:dPt>
          <c:dPt>
            <c:idx val="6"/>
            <c:invertIfNegative val="0"/>
            <c:bubble3D val="0"/>
            <c:spPr>
              <a:solidFill>
                <a:srgbClr val="B68757"/>
              </a:solidFill>
              <a:effectLst/>
            </c:spPr>
          </c:dPt>
          <c:dPt>
            <c:idx val="7"/>
            <c:invertIfNegative val="0"/>
            <c:bubble3D val="0"/>
            <c:spPr>
              <a:solidFill>
                <a:srgbClr val="B68757"/>
              </a:solidFill>
              <a:effectLst/>
            </c:spPr>
          </c:dPt>
          <c:dPt>
            <c:idx val="8"/>
            <c:invertIfNegative val="0"/>
            <c:bubble3D val="0"/>
            <c:spPr>
              <a:solidFill>
                <a:srgbClr val="B68757"/>
              </a:solidFill>
              <a:effectLst/>
            </c:spPr>
          </c:dPt>
          <c:dPt>
            <c:idx val="9"/>
            <c:invertIfNegative val="0"/>
            <c:bubble3D val="0"/>
            <c:spPr>
              <a:solidFill>
                <a:srgbClr val="B68757"/>
              </a:solidFill>
              <a:effectLst/>
            </c:spPr>
          </c:dPt>
          <c:dPt>
            <c:idx val="10"/>
            <c:invertIfNegative val="0"/>
            <c:bubble3D val="0"/>
            <c:spPr>
              <a:solidFill>
                <a:srgbClr val="B68757"/>
              </a:solidFill>
              <a:effectLst/>
            </c:spPr>
          </c:dPt>
          <c:dPt>
            <c:idx val="11"/>
            <c:invertIfNegative val="0"/>
            <c:bubble3D val="0"/>
            <c:spPr>
              <a:solidFill>
                <a:srgbClr val="B68757"/>
              </a:solidFill>
              <a:effectLst/>
            </c:spPr>
          </c:dPt>
          <c:dPt>
            <c:idx val="12"/>
            <c:invertIfNegative val="0"/>
            <c:bubble3D val="0"/>
            <c:spPr>
              <a:solidFill>
                <a:srgbClr val="B68757"/>
              </a:solidFill>
              <a:effectLst/>
            </c:spPr>
          </c:dPt>
          <c:dPt>
            <c:idx val="13"/>
            <c:invertIfNegative val="0"/>
            <c:bubble3D val="0"/>
            <c:spPr>
              <a:solidFill>
                <a:srgbClr val="B68757"/>
              </a:solidFill>
              <a:effectLst/>
            </c:spPr>
          </c:dPt>
          <c:dPt>
            <c:idx val="14"/>
            <c:invertIfNegative val="0"/>
            <c:bubble3D val="0"/>
            <c:spPr>
              <a:solidFill>
                <a:srgbClr val="B68757"/>
              </a:solidFill>
              <a:effectLst/>
            </c:spPr>
          </c:dPt>
          <c:dPt>
            <c:idx val="15"/>
            <c:invertIfNegative val="0"/>
            <c:bubble3D val="0"/>
            <c:spPr>
              <a:solidFill>
                <a:srgbClr val="B68757"/>
              </a:solidFill>
              <a:effectLst/>
            </c:spPr>
          </c:dPt>
          <c:dPt>
            <c:idx val="16"/>
            <c:invertIfNegative val="0"/>
            <c:bubble3D val="0"/>
            <c:spPr>
              <a:solidFill>
                <a:srgbClr val="B68757"/>
              </a:solidFill>
              <a:effectLst/>
            </c:spPr>
          </c:dPt>
          <c:dPt>
            <c:idx val="17"/>
            <c:invertIfNegative val="0"/>
            <c:bubble3D val="0"/>
            <c:spPr>
              <a:solidFill>
                <a:srgbClr val="B68757"/>
              </a:solidFill>
              <a:effectLst/>
            </c:spPr>
          </c:dPt>
          <c:dPt>
            <c:idx val="18"/>
            <c:invertIfNegative val="0"/>
            <c:bubble3D val="0"/>
            <c:spPr>
              <a:solidFill>
                <a:srgbClr val="B68757"/>
              </a:solidFill>
              <a:effectLst/>
            </c:spPr>
          </c:dPt>
          <c:dPt>
            <c:idx val="19"/>
            <c:invertIfNegative val="0"/>
            <c:bubble3D val="0"/>
            <c:spPr>
              <a:solidFill>
                <a:srgbClr val="B68757"/>
              </a:solidFill>
              <a:effectLst/>
            </c:spPr>
          </c:dPt>
          <c:dPt>
            <c:idx val="20"/>
            <c:invertIfNegative val="0"/>
            <c:bubble3D val="0"/>
            <c:spPr>
              <a:solidFill>
                <a:srgbClr val="B68757"/>
              </a:solidFill>
              <a:effectLst/>
            </c:spPr>
          </c:dPt>
          <c:dPt>
            <c:idx val="21"/>
            <c:invertIfNegative val="0"/>
            <c:bubble3D val="0"/>
            <c:spPr>
              <a:solidFill>
                <a:srgbClr val="B68757"/>
              </a:solidFill>
              <a:effectLst/>
            </c:spPr>
          </c:dPt>
          <c:dPt>
            <c:idx val="22"/>
            <c:invertIfNegative val="0"/>
            <c:bubble3D val="0"/>
            <c:spPr>
              <a:solidFill>
                <a:srgbClr val="B68757"/>
              </a:solidFill>
              <a:effectLst/>
            </c:spPr>
          </c:dPt>
          <c:dPt>
            <c:idx val="23"/>
            <c:invertIfNegative val="0"/>
            <c:bubble3D val="0"/>
            <c:spPr>
              <a:solidFill>
                <a:srgbClr val="B68757"/>
              </a:solidFill>
              <a:effectLst/>
            </c:spPr>
          </c:dPt>
          <c:dPt>
            <c:idx val="24"/>
            <c:invertIfNegative val="0"/>
            <c:bubble3D val="0"/>
            <c:spPr>
              <a:solidFill>
                <a:srgbClr val="B68757"/>
              </a:solidFill>
              <a:effectLst/>
            </c:spPr>
          </c:dPt>
          <c:dPt>
            <c:idx val="25"/>
            <c:invertIfNegative val="0"/>
            <c:bubble3D val="0"/>
            <c:spPr>
              <a:solidFill>
                <a:srgbClr val="B68757"/>
              </a:solidFill>
              <a:effectLst/>
            </c:spPr>
          </c:dPt>
          <c:dPt>
            <c:idx val="26"/>
            <c:invertIfNegative val="0"/>
            <c:bubble3D val="0"/>
            <c:spPr>
              <a:solidFill>
                <a:srgbClr val="B68757"/>
              </a:solidFill>
              <a:effectLst/>
            </c:spPr>
          </c:dPt>
          <c:dPt>
            <c:idx val="27"/>
            <c:invertIfNegative val="0"/>
            <c:bubble3D val="0"/>
            <c:spPr>
              <a:solidFill>
                <a:srgbClr val="B68757"/>
              </a:solidFill>
              <a:effectLst/>
            </c:spPr>
          </c:dPt>
          <c:dPt>
            <c:idx val="28"/>
            <c:invertIfNegative val="0"/>
            <c:bubble3D val="0"/>
            <c:spPr>
              <a:solidFill>
                <a:srgbClr val="B68757"/>
              </a:solidFill>
              <a:effectLst/>
            </c:spPr>
          </c:dPt>
          <c:dPt>
            <c:idx val="29"/>
            <c:invertIfNegative val="0"/>
            <c:bubble3D val="0"/>
            <c:spPr>
              <a:solidFill>
                <a:srgbClr val="B68757"/>
              </a:solidFill>
              <a:effectLst/>
            </c:spPr>
          </c:dPt>
          <c:dPt>
            <c:idx val="30"/>
            <c:invertIfNegative val="0"/>
            <c:bubble3D val="0"/>
            <c:spPr>
              <a:solidFill>
                <a:srgbClr val="B68757"/>
              </a:solidFill>
              <a:effectLst/>
            </c:spPr>
          </c:dPt>
          <c:dPt>
            <c:idx val="31"/>
            <c:invertIfNegative val="0"/>
            <c:bubble3D val="0"/>
            <c:spPr>
              <a:solidFill>
                <a:srgbClr val="B68757"/>
              </a:solidFill>
              <a:effectLst/>
            </c:spPr>
          </c:dPt>
          <c:dPt>
            <c:idx val="32"/>
            <c:invertIfNegative val="0"/>
            <c:bubble3D val="0"/>
            <c:spPr>
              <a:solidFill>
                <a:srgbClr val="B68757"/>
              </a:solidFill>
              <a:effectLst/>
            </c:spPr>
          </c:dPt>
          <c:dPt>
            <c:idx val="33"/>
            <c:invertIfNegative val="0"/>
            <c:bubble3D val="0"/>
            <c:spPr>
              <a:solidFill>
                <a:srgbClr val="B68757"/>
              </a:solidFill>
              <a:effectLst/>
            </c:spPr>
          </c:dPt>
          <c:dPt>
            <c:idx val="34"/>
            <c:invertIfNegative val="0"/>
            <c:bubble3D val="0"/>
            <c:spPr>
              <a:solidFill>
                <a:srgbClr val="B68757"/>
              </a:solidFill>
              <a:effectLst/>
            </c:spPr>
          </c:dPt>
          <c:dPt>
            <c:idx val="35"/>
            <c:invertIfNegative val="0"/>
            <c:bubble3D val="0"/>
            <c:spPr>
              <a:solidFill>
                <a:srgbClr val="B68757"/>
              </a:solidFill>
              <a:effectLst/>
            </c:spPr>
          </c:dPt>
          <c:dPt>
            <c:idx val="36"/>
            <c:invertIfNegative val="0"/>
            <c:bubble3D val="0"/>
            <c:spPr>
              <a:solidFill>
                <a:srgbClr val="B68757"/>
              </a:solidFill>
              <a:effectLst/>
            </c:spPr>
          </c:dPt>
          <c:dPt>
            <c:idx val="37"/>
            <c:invertIfNegative val="0"/>
            <c:bubble3D val="0"/>
            <c:spPr>
              <a:solidFill>
                <a:srgbClr val="B68757"/>
              </a:solidFill>
              <a:effectLst/>
            </c:spPr>
          </c:dPt>
          <c:dPt>
            <c:idx val="38"/>
            <c:invertIfNegative val="0"/>
            <c:bubble3D val="0"/>
            <c:spPr>
              <a:solidFill>
                <a:srgbClr val="B68757"/>
              </a:solidFill>
              <a:effectLst/>
            </c:spPr>
          </c:dPt>
          <c:dPt>
            <c:idx val="39"/>
            <c:invertIfNegative val="0"/>
            <c:bubble3D val="0"/>
            <c:spPr>
              <a:solidFill>
                <a:srgbClr val="B68757"/>
              </a:solidFill>
              <a:effectLst/>
            </c:spPr>
          </c:dPt>
          <c:dPt>
            <c:idx val="40"/>
            <c:invertIfNegative val="0"/>
            <c:bubble3D val="0"/>
            <c:spPr>
              <a:solidFill>
                <a:srgbClr val="1B1A1A"/>
              </a:solidFill>
              <a:effectLst/>
            </c:spPr>
          </c:dPt>
          <c:dPt>
            <c:idx val="41"/>
            <c:invertIfNegative val="0"/>
            <c:bubble3D val="0"/>
            <c:spPr>
              <a:solidFill>
                <a:srgbClr val="B68757"/>
              </a:solidFill>
              <a:effectLst/>
            </c:spPr>
          </c:dPt>
          <c:dPt>
            <c:idx val="42"/>
            <c:invertIfNegative val="0"/>
            <c:bubble3D val="0"/>
            <c:spPr>
              <a:solidFill>
                <a:srgbClr val="B68757"/>
              </a:solidFill>
              <a:effectLst/>
            </c:spPr>
          </c:dPt>
          <c:dPt>
            <c:idx val="43"/>
            <c:invertIfNegative val="0"/>
            <c:bubble3D val="0"/>
            <c:spPr>
              <a:solidFill>
                <a:srgbClr val="B68757"/>
              </a:solidFill>
              <a:effectLst/>
            </c:spPr>
          </c:dPt>
          <c:dPt>
            <c:idx val="44"/>
            <c:invertIfNegative val="0"/>
            <c:bubble3D val="0"/>
            <c:spPr>
              <a:solidFill>
                <a:srgbClr val="B68757"/>
              </a:solidFill>
              <a:effectLst/>
            </c:spPr>
          </c:dPt>
          <c:dPt>
            <c:idx val="45"/>
            <c:invertIfNegative val="0"/>
            <c:bubble3D val="0"/>
            <c:spPr>
              <a:solidFill>
                <a:srgbClr val="1B1A1A"/>
              </a:solidFill>
              <a:effectLst/>
            </c:spPr>
          </c:dPt>
          <c:dPt>
            <c:idx val="46"/>
            <c:invertIfNegative val="0"/>
            <c:bubble3D val="0"/>
            <c:spPr>
              <a:solidFill>
                <a:srgbClr val="B68757"/>
              </a:solidFill>
              <a:effectLst/>
            </c:spPr>
          </c:dPt>
          <c:dPt>
            <c:idx val="47"/>
            <c:invertIfNegative val="0"/>
            <c:bubble3D val="0"/>
            <c:spPr>
              <a:solidFill>
                <a:srgbClr val="1B1A1A"/>
              </a:solidFill>
              <a:effectLst/>
            </c:spPr>
          </c:dPt>
          <c:dPt>
            <c:idx val="48"/>
            <c:invertIfNegative val="0"/>
            <c:bubble3D val="0"/>
            <c:spPr>
              <a:solidFill>
                <a:srgbClr val="B68757"/>
              </a:solidFill>
              <a:effectLst/>
            </c:spPr>
          </c:dPt>
          <c:dPt>
            <c:idx val="49"/>
            <c:invertIfNegative val="0"/>
            <c:bubble3D val="0"/>
            <c:spPr>
              <a:solidFill>
                <a:srgbClr val="1B1A1A"/>
              </a:solidFill>
              <a:effectLst/>
            </c:spPr>
          </c:dPt>
          <c:dPt>
            <c:idx val="50"/>
            <c:invertIfNegative val="0"/>
            <c:bubble3D val="0"/>
            <c:spPr>
              <a:solidFill>
                <a:srgbClr val="B68757"/>
              </a:solidFill>
              <a:effectLst/>
            </c:spPr>
          </c:dPt>
          <c:dPt>
            <c:idx val="51"/>
            <c:invertIfNegative val="0"/>
            <c:bubble3D val="0"/>
            <c:spPr>
              <a:solidFill>
                <a:srgbClr val="1B1A1A"/>
              </a:solidFill>
              <a:effectLst/>
            </c:spPr>
          </c:dPt>
          <c:dPt>
            <c:idx val="52"/>
            <c:invertIfNegative val="0"/>
            <c:bubble3D val="0"/>
            <c:spPr>
              <a:solidFill>
                <a:srgbClr val="B68757"/>
              </a:solidFill>
              <a:effectLst/>
            </c:spPr>
          </c:dPt>
          <c:dPt>
            <c:idx val="53"/>
            <c:invertIfNegative val="0"/>
            <c:bubble3D val="0"/>
            <c:spPr>
              <a:solidFill>
                <a:srgbClr val="1B1A1A"/>
              </a:solidFill>
              <a:effectLst/>
            </c:spPr>
          </c:dPt>
          <c:dPt>
            <c:idx val="54"/>
            <c:invertIfNegative val="0"/>
            <c:bubble3D val="0"/>
            <c:spPr>
              <a:solidFill>
                <a:srgbClr val="B68757"/>
              </a:solidFill>
              <a:effectLst/>
            </c:spPr>
          </c:dPt>
          <c:dPt>
            <c:idx val="55"/>
            <c:invertIfNegative val="0"/>
            <c:bubble3D val="0"/>
            <c:spPr>
              <a:solidFill>
                <a:srgbClr val="B68757"/>
              </a:solidFill>
              <a:effectLst/>
            </c:spPr>
          </c:dPt>
          <c:dPt>
            <c:idx val="56"/>
            <c:invertIfNegative val="0"/>
            <c:bubble3D val="0"/>
            <c:spPr>
              <a:solidFill>
                <a:srgbClr val="B68757"/>
              </a:solidFill>
              <a:effectLst/>
            </c:spPr>
          </c:dPt>
          <c:dPt>
            <c:idx val="57"/>
            <c:invertIfNegative val="0"/>
            <c:bubble3D val="0"/>
            <c:spPr>
              <a:solidFill>
                <a:srgbClr val="B68757"/>
              </a:solidFill>
              <a:effectLst/>
            </c:spPr>
          </c:dPt>
          <c:dPt>
            <c:idx val="58"/>
            <c:invertIfNegative val="0"/>
            <c:bubble3D val="0"/>
            <c:spPr>
              <a:solidFill>
                <a:srgbClr val="1B1A1A"/>
              </a:solidFill>
              <a:effectLst/>
            </c:spPr>
          </c:dPt>
          <c:dPt>
            <c:idx val="59"/>
            <c:invertIfNegative val="0"/>
            <c:bubble3D val="0"/>
            <c:spPr>
              <a:solidFill>
                <a:srgbClr val="B68757"/>
              </a:solidFill>
              <a:effectLst/>
            </c:spPr>
          </c:dPt>
          <c:dPt>
            <c:idx val="60"/>
            <c:invertIfNegative val="0"/>
            <c:bubble3D val="0"/>
            <c:spPr>
              <a:solidFill>
                <a:srgbClr val="B68757"/>
              </a:solidFill>
              <a:effectLst/>
            </c:spPr>
          </c:dPt>
          <c:cat>
            <c:multiLvlStrRef>
              <c:f>Sheet1!$A$2:$A$62</c:f>
              <c:multiLvlStrCache>
                <c:ptCount val="61"/>
                <c:lvl>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pt idx="60">
                    <c:v>Sep 2026</c:v>
                  </c:pt>
                </c:lvl>
              </c:multiLvlStrCache>
            </c:multiLvlStrRef>
          </c:cat>
          <c:val>
            <c:numRef>
              <c:f>Sheet1!$B$2:$B$62</c:f>
              <c:numCache>
                <c:formatCode>General</c:formatCode>
                <c:ptCount val="61"/>
                <c:pt idx="0">
                  <c:v>457</c:v>
                </c:pt>
                <c:pt idx="1">
                  <c:v>801</c:v>
                </c:pt>
                <c:pt idx="2">
                  <c:v>658</c:v>
                </c:pt>
                <c:pt idx="3">
                  <c:v>586</c:v>
                </c:pt>
                <c:pt idx="4">
                  <c:v>190</c:v>
                </c:pt>
                <c:pt idx="5">
                  <c:v>819</c:v>
                </c:pt>
                <c:pt idx="6">
                  <c:v>490</c:v>
                </c:pt>
                <c:pt idx="7">
                  <c:v>308</c:v>
                </c:pt>
                <c:pt idx="8">
                  <c:v>301</c:v>
                </c:pt>
                <c:pt idx="9">
                  <c:v>434</c:v>
                </c:pt>
                <c:pt idx="10">
                  <c:v>714</c:v>
                </c:pt>
                <c:pt idx="11">
                  <c:v>290</c:v>
                </c:pt>
                <c:pt idx="12">
                  <c:v>220</c:v>
                </c:pt>
                <c:pt idx="13">
                  <c:v>357</c:v>
                </c:pt>
                <c:pt idx="14">
                  <c:v>303</c:v>
                </c:pt>
                <c:pt idx="15">
                  <c:v>100</c:v>
                </c:pt>
                <c:pt idx="16">
                  <c:v>434</c:v>
                </c:pt>
                <c:pt idx="17">
                  <c:v>290</c:v>
                </c:pt>
                <c:pt idx="18">
                  <c:v>68</c:v>
                </c:pt>
                <c:pt idx="19">
                  <c:v>241</c:v>
                </c:pt>
                <c:pt idx="20">
                  <c:v>280</c:v>
                </c:pt>
                <c:pt idx="21">
                  <c:v>225</c:v>
                </c:pt>
                <c:pt idx="22">
                  <c:v>163</c:v>
                </c:pt>
                <c:pt idx="23">
                  <c:v>218</c:v>
                </c:pt>
                <c:pt idx="24">
                  <c:v>156</c:v>
                </c:pt>
                <c:pt idx="25">
                  <c:v>159</c:v>
                </c:pt>
                <c:pt idx="26">
                  <c:v>127</c:v>
                </c:pt>
                <c:pt idx="27">
                  <c:v>154</c:v>
                </c:pt>
                <c:pt idx="28">
                  <c:v>175</c:v>
                </c:pt>
                <c:pt idx="29">
                  <c:v>206</c:v>
                </c:pt>
                <c:pt idx="30">
                  <c:v>228</c:v>
                </c:pt>
                <c:pt idx="31">
                  <c:v>64</c:v>
                </c:pt>
                <c:pt idx="32">
                  <c:v>78</c:v>
                </c:pt>
                <c:pt idx="33">
                  <c:v>87</c:v>
                </c:pt>
                <c:pt idx="34">
                  <c:v>53</c:v>
                </c:pt>
                <c:pt idx="35">
                  <c:v>9</c:v>
                </c:pt>
                <c:pt idx="36">
                  <c:v>155</c:v>
                </c:pt>
                <c:pt idx="37">
                  <c:v>33</c:v>
                </c:pt>
                <c:pt idx="38">
                  <c:v>134</c:v>
                </c:pt>
                <c:pt idx="39">
                  <c:v>237</c:v>
                </c:pt>
                <c:pt idx="40">
                  <c:v>-48</c:v>
                </c:pt>
                <c:pt idx="41">
                  <c:v>42</c:v>
                </c:pt>
                <c:pt idx="42">
                  <c:v>67</c:v>
                </c:pt>
                <c:pt idx="43">
                  <c:v>108</c:v>
                </c:pt>
                <c:pt idx="44">
                  <c:v>13</c:v>
                </c:pt>
                <c:pt idx="45">
                  <c:v>-20</c:v>
                </c:pt>
                <c:pt idx="46">
                  <c:v>64</c:v>
                </c:pt>
                <c:pt idx="47">
                  <c:v>-70</c:v>
                </c:pt>
                <c:pt idx="48">
                  <c:v>76</c:v>
                </c:pt>
                <c:pt idx="49">
                  <c:v>-140</c:v>
                </c:pt>
                <c:pt idx="50">
                  <c:v>41</c:v>
                </c:pt>
                <c:pt idx="51">
                  <c:v>-17</c:v>
                </c:pt>
                <c:pt idx="52">
                  <c:v>160</c:v>
                </c:pt>
                <c:pt idx="53">
                  <c:v>-156</c:v>
                </c:pt>
                <c:pt idx="54">
                  <c:v>214</c:v>
                </c:pt>
                <c:pt idx="55">
                  <c:v>148</c:v>
                </c:pt>
                <c:pt idx="56">
                  <c:v>63</c:v>
                </c:pt>
                <c:pt idx="57">
                  <c:v>31</c:v>
                </c:pt>
                <c:pt idx="58">
                  <c:v>-10</c:v>
                </c:pt>
                <c:pt idx="59">
                  <c:v>133</c:v>
                </c:pt>
                <c:pt idx="60">
                  <c:v>29</c:v>
                </c:pt>
              </c:numCache>
            </c:numRef>
          </c:val>
        </c:ser>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tickLblSkip val="12"/>
      </c:catAx>
      <c:valAx>
        <c:axId val="2094734552"/>
        <c:scaling>
          <c:orientation val="minMax"/>
          <c:max val="900"/>
          <c:min val="-300"/>
        </c:scaling>
        <c:delete val="0"/>
        <c:axPos val="l"/>
        <c:majorGridlines>
          <c:spPr>
            <a:ln w="6350" cap="flat">
              <a:solidFill>
                <a:srgbClr val="E3DCD3"/>
              </a:solidFill>
              <a:prstDash val="solid"/>
              <a:round/>
            </a:ln>
          </c:spPr>
        </c:majorGridlines>
        <c:numFmt formatCode="#,##0" sourceLinked="0"/>
        <c:majorTickMark val="out"/>
        <c:minorTickMark val="none"/>
        <c:tickLblPos val="nextTo"/>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majorUnit val="300"/>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10-year Treasury</c:v>
                </c:pt>
              </c:strCache>
            </c:strRef>
          </c:tx>
          <c:spPr>
            <a:solidFill>
              <a:srgbClr val="B68757"/>
            </a:solidFill>
            <a:ln w="19050" cap="flat">
              <a:solidFill>
                <a:srgbClr val="B68757"/>
              </a:solidFill>
              <a:prstDash val="solid"/>
              <a:round/>
            </a:ln>
            <a:effectLst/>
          </c:spPr>
          <c:invertIfNegative val="0"/>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c:symbol val="none"/>
            <c:size val="6"/>
            <c:spPr>
              <a:solidFill>
                <a:srgbClr val="B68757"/>
              </a:solidFill>
              <a:ln w="9525" cap="flat">
                <a:solidFill>
                  <a:srgbClr val="B68757"/>
                </a:solidFill>
                <a:prstDash val="solid"/>
                <a:round/>
              </a:ln>
              <a:effectLst/>
            </c:spPr>
          </c:marker>
          <c:cat>
            <c:multiLvlStrRef>
              <c:f>Sheet1!$A$2:$A$62</c:f>
              <c:multiLvlStrCache>
                <c:ptCount val="61"/>
                <c:lvl>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pt idx="60">
                    <c:v>Sep 2026</c:v>
                  </c:pt>
                </c:lvl>
              </c:multiLvlStrCache>
            </c:multiLvlStrRef>
          </c:cat>
          <c:val>
            <c:numRef>
              <c:f>Sheet1!$B$2:$B$62</c:f>
              <c:numCache>
                <c:formatCode>General</c:formatCode>
                <c:ptCount val="61"/>
                <c:pt idx="0">
                  <c:v>1.37</c:v>
                </c:pt>
                <c:pt idx="1">
                  <c:v>1.58</c:v>
                </c:pt>
                <c:pt idx="2">
                  <c:v>1.56</c:v>
                </c:pt>
                <c:pt idx="3">
                  <c:v>1.47</c:v>
                </c:pt>
                <c:pt idx="4">
                  <c:v>1.76</c:v>
                </c:pt>
                <c:pt idx="5">
                  <c:v>1.93</c:v>
                </c:pt>
                <c:pt idx="6">
                  <c:v>2.13</c:v>
                </c:pt>
                <c:pt idx="7">
                  <c:v>2.75</c:v>
                </c:pt>
                <c:pt idx="8">
                  <c:v>2.9</c:v>
                </c:pt>
                <c:pt idx="9">
                  <c:v>3.14</c:v>
                </c:pt>
                <c:pt idx="10">
                  <c:v>2.9</c:v>
                </c:pt>
                <c:pt idx="11">
                  <c:v>2.9</c:v>
                </c:pt>
                <c:pt idx="12">
                  <c:v>3.52</c:v>
                </c:pt>
                <c:pt idx="13">
                  <c:v>3.98</c:v>
                </c:pt>
                <c:pt idx="14">
                  <c:v>3.89</c:v>
                </c:pt>
                <c:pt idx="15">
                  <c:v>3.62</c:v>
                </c:pt>
                <c:pt idx="16">
                  <c:v>3.53</c:v>
                </c:pt>
                <c:pt idx="17">
                  <c:v>3.75</c:v>
                </c:pt>
                <c:pt idx="18">
                  <c:v>3.66</c:v>
                </c:pt>
                <c:pt idx="19">
                  <c:v>3.46</c:v>
                </c:pt>
                <c:pt idx="20">
                  <c:v>3.57</c:v>
                </c:pt>
                <c:pt idx="21">
                  <c:v>3.75</c:v>
                </c:pt>
                <c:pt idx="22">
                  <c:v>3.9</c:v>
                </c:pt>
                <c:pt idx="23">
                  <c:v>4.17</c:v>
                </c:pt>
                <c:pt idx="24">
                  <c:v>4.38</c:v>
                </c:pt>
                <c:pt idx="25">
                  <c:v>4.8</c:v>
                </c:pt>
                <c:pt idx="26">
                  <c:v>4.5</c:v>
                </c:pt>
                <c:pt idx="27">
                  <c:v>4.02</c:v>
                </c:pt>
                <c:pt idx="28">
                  <c:v>4.06</c:v>
                </c:pt>
                <c:pt idx="29">
                  <c:v>4.21</c:v>
                </c:pt>
                <c:pt idx="30">
                  <c:v>4.21</c:v>
                </c:pt>
                <c:pt idx="31">
                  <c:v>4.54</c:v>
                </c:pt>
                <c:pt idx="32">
                  <c:v>4.48</c:v>
                </c:pt>
                <c:pt idx="33">
                  <c:v>4.31</c:v>
                </c:pt>
                <c:pt idx="34">
                  <c:v>4.25</c:v>
                </c:pt>
                <c:pt idx="35">
                  <c:v>3.87</c:v>
                </c:pt>
                <c:pt idx="36">
                  <c:v>3.72</c:v>
                </c:pt>
                <c:pt idx="37">
                  <c:v>4.1</c:v>
                </c:pt>
                <c:pt idx="38">
                  <c:v>4.36</c:v>
                </c:pt>
                <c:pt idx="39">
                  <c:v>4.39</c:v>
                </c:pt>
                <c:pt idx="40">
                  <c:v>4.63</c:v>
                </c:pt>
                <c:pt idx="41">
                  <c:v>4.45</c:v>
                </c:pt>
                <c:pt idx="42">
                  <c:v>4.28</c:v>
                </c:pt>
                <c:pt idx="43">
                  <c:v>4.28</c:v>
                </c:pt>
                <c:pt idx="44">
                  <c:v>4.42</c:v>
                </c:pt>
                <c:pt idx="45">
                  <c:v>4.38</c:v>
                </c:pt>
                <c:pt idx="46">
                  <c:v>4.39</c:v>
                </c:pt>
                <c:pt idx="47">
                  <c:v>4.26</c:v>
                </c:pt>
                <c:pt idx="48">
                  <c:v>4.12</c:v>
                </c:pt>
                <c:pt idx="49">
                  <c:v>4.06</c:v>
                </c:pt>
                <c:pt idx="50">
                  <c:v>4.09</c:v>
                </c:pt>
                <c:pt idx="51">
                  <c:v>4.14</c:v>
                </c:pt>
                <c:pt idx="52">
                  <c:v>4.21</c:v>
                </c:pt>
                <c:pt idx="53">
                  <c:v>4.13</c:v>
                </c:pt>
                <c:pt idx="54">
                  <c:v>4.25</c:v>
                </c:pt>
                <c:pt idx="55">
                  <c:v>4.32</c:v>
                </c:pt>
                <c:pt idx="56">
                  <c:v>4.48</c:v>
                </c:pt>
                <c:pt idx="57">
                  <c:v>4.47</c:v>
                </c:pt>
                <c:pt idx="58">
                  <c:v>4.6</c:v>
                </c:pt>
                <c:pt idx="59">
                  <c:v>4.68</c:v>
                </c:pt>
                <c:pt idx="60">
                  <c:v>4.99</c:v>
                </c:pt>
              </c:numCache>
            </c:numRef>
          </c:val>
          <c:smooth val="0"/>
        </c:ser>
        <c:ser>
          <c:idx val="1"/>
          <c:order val="1"/>
          <c:tx>
            <c:strRef>
              <c:f>Sheet1!$C$1</c:f>
              <c:strCache>
                <c:ptCount val="1"/>
                <c:pt idx="0">
                  <c:v>Federal funds</c:v>
                </c:pt>
              </c:strCache>
            </c:strRef>
          </c:tx>
          <c:spPr>
            <a:solidFill>
              <a:srgbClr val="1B1A1A"/>
            </a:solidFill>
            <a:ln w="19050" cap="flat">
              <a:solidFill>
                <a:srgbClr val="1B1A1A"/>
              </a:solidFill>
              <a:prstDash val="solid"/>
              <a:round/>
            </a:ln>
            <a:effectLst/>
          </c:spPr>
          <c:invertIfNegative val="0"/>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c:symbol val="none"/>
            <c:size val="6"/>
            <c:spPr>
              <a:solidFill>
                <a:srgbClr val="1B1A1A"/>
              </a:solidFill>
              <a:ln w="9525" cap="flat">
                <a:solidFill>
                  <a:srgbClr val="1B1A1A"/>
                </a:solidFill>
                <a:prstDash val="solid"/>
                <a:round/>
              </a:ln>
              <a:effectLst/>
            </c:spPr>
          </c:marker>
          <c:cat>
            <c:multiLvlStrRef>
              <c:f>Sheet1!$A$2:$A$62</c:f>
              <c:multiLvlStrCache>
                <c:ptCount val="61"/>
                <c:lvl>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pt idx="60">
                    <c:v>Sep 2026</c:v>
                  </c:pt>
                </c:lvl>
              </c:multiLvlStrCache>
            </c:multiLvlStrRef>
          </c:cat>
          <c:val>
            <c:numRef>
              <c:f>Sheet1!$C$2:$C$62</c:f>
              <c:numCache>
                <c:formatCode>General</c:formatCode>
                <c:ptCount val="61"/>
                <c:pt idx="0">
                  <c:v>0.08</c:v>
                </c:pt>
                <c:pt idx="1">
                  <c:v>0.08</c:v>
                </c:pt>
                <c:pt idx="2">
                  <c:v>0.08</c:v>
                </c:pt>
                <c:pt idx="3">
                  <c:v>0.08</c:v>
                </c:pt>
                <c:pt idx="4">
                  <c:v>0.08</c:v>
                </c:pt>
                <c:pt idx="5">
                  <c:v>0.08</c:v>
                </c:pt>
                <c:pt idx="6">
                  <c:v>0.2</c:v>
                </c:pt>
                <c:pt idx="7">
                  <c:v>0.33</c:v>
                </c:pt>
                <c:pt idx="8">
                  <c:v>0.77</c:v>
                </c:pt>
                <c:pt idx="9">
                  <c:v>1.21</c:v>
                </c:pt>
                <c:pt idx="10">
                  <c:v>1.68</c:v>
                </c:pt>
                <c:pt idx="11">
                  <c:v>2.33</c:v>
                </c:pt>
                <c:pt idx="12">
                  <c:v>2.56</c:v>
                </c:pt>
                <c:pt idx="13">
                  <c:v>3.08</c:v>
                </c:pt>
                <c:pt idx="14">
                  <c:v>3.78</c:v>
                </c:pt>
                <c:pt idx="15">
                  <c:v>4.1</c:v>
                </c:pt>
                <c:pt idx="16">
                  <c:v>4.33</c:v>
                </c:pt>
                <c:pt idx="17">
                  <c:v>4.57</c:v>
                </c:pt>
                <c:pt idx="18">
                  <c:v>4.65</c:v>
                </c:pt>
                <c:pt idx="19">
                  <c:v>4.83</c:v>
                </c:pt>
                <c:pt idx="20">
                  <c:v>5.06</c:v>
                </c:pt>
                <c:pt idx="21">
                  <c:v>5.08</c:v>
                </c:pt>
                <c:pt idx="22">
                  <c:v>5.12</c:v>
                </c:pt>
                <c:pt idx="23">
                  <c:v>5.33</c:v>
                </c:pt>
                <c:pt idx="24">
                  <c:v>5.33</c:v>
                </c:pt>
                <c:pt idx="25">
                  <c:v>5.33</c:v>
                </c:pt>
                <c:pt idx="26">
                  <c:v>5.33</c:v>
                </c:pt>
                <c:pt idx="27">
                  <c:v>5.33</c:v>
                </c:pt>
                <c:pt idx="28">
                  <c:v>5.33</c:v>
                </c:pt>
                <c:pt idx="29">
                  <c:v>5.33</c:v>
                </c:pt>
                <c:pt idx="30">
                  <c:v>5.33</c:v>
                </c:pt>
                <c:pt idx="31">
                  <c:v>5.33</c:v>
                </c:pt>
                <c:pt idx="32">
                  <c:v>5.33</c:v>
                </c:pt>
                <c:pt idx="33">
                  <c:v>5.33</c:v>
                </c:pt>
                <c:pt idx="34">
                  <c:v>5.33</c:v>
                </c:pt>
                <c:pt idx="35">
                  <c:v>5.33</c:v>
                </c:pt>
                <c:pt idx="36">
                  <c:v>5.13</c:v>
                </c:pt>
                <c:pt idx="37">
                  <c:v>4.83</c:v>
                </c:pt>
                <c:pt idx="38">
                  <c:v>4.64</c:v>
                </c:pt>
                <c:pt idx="39">
                  <c:v>4.48</c:v>
                </c:pt>
                <c:pt idx="40">
                  <c:v>4.33</c:v>
                </c:pt>
                <c:pt idx="41">
                  <c:v>4.33</c:v>
                </c:pt>
                <c:pt idx="42">
                  <c:v>4.33</c:v>
                </c:pt>
                <c:pt idx="43">
                  <c:v>4.33</c:v>
                </c:pt>
                <c:pt idx="44">
                  <c:v>4.33</c:v>
                </c:pt>
                <c:pt idx="45">
                  <c:v>4.33</c:v>
                </c:pt>
                <c:pt idx="46">
                  <c:v>4.33</c:v>
                </c:pt>
                <c:pt idx="47">
                  <c:v>4.33</c:v>
                </c:pt>
                <c:pt idx="48">
                  <c:v>4.22</c:v>
                </c:pt>
                <c:pt idx="49">
                  <c:v>4.09</c:v>
                </c:pt>
                <c:pt idx="50">
                  <c:v>3.88</c:v>
                </c:pt>
                <c:pt idx="51">
                  <c:v>3.72</c:v>
                </c:pt>
                <c:pt idx="52">
                  <c:v>3.64</c:v>
                </c:pt>
                <c:pt idx="53">
                  <c:v>3.64</c:v>
                </c:pt>
                <c:pt idx="54">
                  <c:v>3.64</c:v>
                </c:pt>
                <c:pt idx="55">
                  <c:v>3.64</c:v>
                </c:pt>
                <c:pt idx="56">
                  <c:v>3.63</c:v>
                </c:pt>
                <c:pt idx="57">
                  <c:v>3.63</c:v>
                </c:pt>
                <c:pt idx="58">
                  <c:v>3.63</c:v>
                </c:pt>
                <c:pt idx="59">
                  <c:v>3.63</c:v>
                </c:pt>
                <c:pt idx="60">
                  <c:v>3.75</c:v>
                </c:pt>
              </c:numCache>
            </c:numRef>
          </c:val>
          <c:smooth val="0"/>
        </c:ser>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tickLblSkip val="12"/>
      </c:catAx>
      <c:valAx>
        <c:axId val="2094734552"/>
        <c:scaling>
          <c:orientation val="minMax"/>
          <c:max val="6"/>
          <c:min val="0"/>
        </c:scaling>
        <c:delete val="0"/>
        <c:axPos val="l"/>
        <c:majorGridlines>
          <c:spPr>
            <a:ln w="6350" cap="flat">
              <a:solidFill>
                <a:srgbClr val="E3DCD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majorUnit val="1"/>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Temporary help, thousands</c:v>
                </c:pt>
              </c:strCache>
            </c:strRef>
          </c:tx>
          <c:spPr>
            <a:solidFill>
              <a:srgbClr val="B68757"/>
            </a:solidFill>
            <a:ln w="19050" cap="flat">
              <a:solidFill>
                <a:srgbClr val="B68757"/>
              </a:solidFill>
              <a:prstDash val="solid"/>
              <a:round/>
            </a:ln>
            <a:effectLst/>
          </c:spPr>
          <c:invertIfNegative val="0"/>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c:symbol val="none"/>
            <c:size val="6"/>
            <c:spPr>
              <a:solidFill>
                <a:srgbClr val="B68757"/>
              </a:solidFill>
              <a:ln w="9525" cap="flat">
                <a:solidFill>
                  <a:srgbClr val="B68757"/>
                </a:solidFill>
                <a:prstDash val="solid"/>
                <a:round/>
              </a:ln>
              <a:effectLst/>
            </c:spPr>
          </c:marker>
          <c:cat>
            <c:multiLvlStrRef>
              <c:f>Sheet1!$A$2:$A$62</c:f>
              <c:multiLvlStrCache>
                <c:ptCount val="61"/>
                <c:lvl>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pt idx="60">
                    <c:v>Sep 2026</c:v>
                  </c:pt>
                </c:lvl>
              </c:multiLvlStrCache>
            </c:multiLvlStrRef>
          </c:cat>
          <c:val>
            <c:numRef>
              <c:f>Sheet1!$B$2:$B$62</c:f>
              <c:numCache>
                <c:formatCode>General</c:formatCode>
                <c:ptCount val="61"/>
                <c:pt idx="0">
                  <c:v>2906.2</c:v>
                </c:pt>
                <c:pt idx="1">
                  <c:v>3023.4</c:v>
                </c:pt>
                <c:pt idx="2">
                  <c:v>3050.6</c:v>
                </c:pt>
                <c:pt idx="3">
                  <c:v>3079.9</c:v>
                </c:pt>
                <c:pt idx="4">
                  <c:v>3077.4</c:v>
                </c:pt>
                <c:pt idx="5">
                  <c:v>3147</c:v>
                </c:pt>
                <c:pt idx="6">
                  <c:v>3161.4</c:v>
                </c:pt>
                <c:pt idx="7">
                  <c:v>3132.6</c:v>
                </c:pt>
                <c:pt idx="8">
                  <c:v>3113</c:v>
                </c:pt>
                <c:pt idx="9">
                  <c:v>3106.9</c:v>
                </c:pt>
                <c:pt idx="10">
                  <c:v>3095.1</c:v>
                </c:pt>
                <c:pt idx="11">
                  <c:v>3080.8</c:v>
                </c:pt>
                <c:pt idx="12">
                  <c:v>3081.6</c:v>
                </c:pt>
                <c:pt idx="13">
                  <c:v>3070.5</c:v>
                </c:pt>
                <c:pt idx="14">
                  <c:v>3036.7</c:v>
                </c:pt>
                <c:pt idx="15">
                  <c:v>2968.6</c:v>
                </c:pt>
                <c:pt idx="16">
                  <c:v>2967.3</c:v>
                </c:pt>
                <c:pt idx="17">
                  <c:v>2949.3</c:v>
                </c:pt>
                <c:pt idx="18">
                  <c:v>2921</c:v>
                </c:pt>
                <c:pt idx="19">
                  <c:v>2906.8</c:v>
                </c:pt>
                <c:pt idx="20">
                  <c:v>2898.8</c:v>
                </c:pt>
                <c:pt idx="21">
                  <c:v>2867.8</c:v>
                </c:pt>
                <c:pt idx="22">
                  <c:v>2833.9</c:v>
                </c:pt>
                <c:pt idx="23">
                  <c:v>2809.8</c:v>
                </c:pt>
                <c:pt idx="24">
                  <c:v>2787.6</c:v>
                </c:pt>
                <c:pt idx="25">
                  <c:v>2773</c:v>
                </c:pt>
                <c:pt idx="26">
                  <c:v>2734.7</c:v>
                </c:pt>
                <c:pt idx="27">
                  <c:v>2685.8</c:v>
                </c:pt>
                <c:pt idx="28">
                  <c:v>2694.4</c:v>
                </c:pt>
                <c:pt idx="29">
                  <c:v>2676.3</c:v>
                </c:pt>
                <c:pt idx="30">
                  <c:v>2670.3</c:v>
                </c:pt>
                <c:pt idx="31">
                  <c:v>2655.1</c:v>
                </c:pt>
                <c:pt idx="32">
                  <c:v>2641.5</c:v>
                </c:pt>
                <c:pt idx="33">
                  <c:v>2615.6</c:v>
                </c:pt>
                <c:pt idx="34">
                  <c:v>2598.3</c:v>
                </c:pt>
                <c:pt idx="35">
                  <c:v>2582.7</c:v>
                </c:pt>
                <c:pt idx="36">
                  <c:v>2564</c:v>
                </c:pt>
                <c:pt idx="37">
                  <c:v>2547.8</c:v>
                </c:pt>
                <c:pt idx="38">
                  <c:v>2550</c:v>
                </c:pt>
                <c:pt idx="39">
                  <c:v>2541.9</c:v>
                </c:pt>
                <c:pt idx="40">
                  <c:v>2539.3</c:v>
                </c:pt>
                <c:pt idx="41">
                  <c:v>2533</c:v>
                </c:pt>
                <c:pt idx="42">
                  <c:v>2528.3</c:v>
                </c:pt>
                <c:pt idx="43">
                  <c:v>2527.5</c:v>
                </c:pt>
                <c:pt idx="44">
                  <c:v>2513.1</c:v>
                </c:pt>
                <c:pt idx="45">
                  <c:v>2504.6</c:v>
                </c:pt>
                <c:pt idx="46">
                  <c:v>2494.2</c:v>
                </c:pt>
                <c:pt idx="47">
                  <c:v>2483.3</c:v>
                </c:pt>
                <c:pt idx="48">
                  <c:v>2471.6</c:v>
                </c:pt>
                <c:pt idx="49">
                  <c:v>2451.8</c:v>
                </c:pt>
                <c:pt idx="50">
                  <c:v>2465.5</c:v>
                </c:pt>
                <c:pt idx="51">
                  <c:v>2451.4</c:v>
                </c:pt>
                <c:pt idx="52">
                  <c:v>2470.2</c:v>
                </c:pt>
                <c:pt idx="53">
                  <c:v>2471.9</c:v>
                </c:pt>
                <c:pt idx="54">
                  <c:v>2479.9</c:v>
                </c:pt>
                <c:pt idx="55">
                  <c:v>2490.4</c:v>
                </c:pt>
                <c:pt idx="56">
                  <c:v>2490.6</c:v>
                </c:pt>
                <c:pt idx="57">
                  <c:v>2507.5</c:v>
                </c:pt>
                <c:pt idx="58">
                  <c:v>2497.5</c:v>
                </c:pt>
                <c:pt idx="59">
                  <c:v>2497.7</c:v>
                </c:pt>
                <c:pt idx="60">
                  <c:v>2486.8</c:v>
                </c:pt>
              </c:numCache>
            </c:numRef>
          </c:val>
          <c:smooth val="0"/>
        </c:ser>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tickLblSkip val="12"/>
      </c:catAx>
      <c:valAx>
        <c:axId val="2094734552"/>
        <c:scaling>
          <c:orientation val="minMax"/>
          <c:max val="3400"/>
          <c:min val="2200"/>
        </c:scaling>
        <c:delete val="0"/>
        <c:axPos val="l"/>
        <c:majorGridlines>
          <c:spPr>
            <a:ln w="6350" cap="flat">
              <a:solidFill>
                <a:srgbClr val="E3DCD3"/>
              </a:solidFill>
              <a:prstDash val="solid"/>
              <a:round/>
            </a:ln>
          </c:spPr>
        </c:majorGridlines>
        <c:numFmt formatCode="#,##0" sourceLinked="0"/>
        <c:majorTickMark val="out"/>
        <c:minorTickMark val="none"/>
        <c:tickLblPos val="nextTo"/>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majorUnit val="300"/>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Architecture and engineering</c:v>
                </c:pt>
              </c:strCache>
            </c:strRef>
          </c:tx>
          <c:spPr>
            <a:solidFill>
              <a:srgbClr val="B68757"/>
            </a:solidFill>
            <a:ln w="19050" cap="flat">
              <a:solidFill>
                <a:srgbClr val="B68757"/>
              </a:solidFill>
              <a:prstDash val="solid"/>
              <a:round/>
            </a:ln>
            <a:effectLst/>
          </c:spPr>
          <c:invertIfNegative val="0"/>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c:symbol val="none"/>
            <c:size val="6"/>
            <c:spPr>
              <a:solidFill>
                <a:srgbClr val="B68757"/>
              </a:solidFill>
              <a:ln w="9525" cap="flat">
                <a:solidFill>
                  <a:srgbClr val="B68757"/>
                </a:solidFill>
                <a:prstDash val="solid"/>
                <a:round/>
              </a:ln>
              <a:effectLst/>
            </c:spPr>
          </c:marker>
          <c:cat>
            <c:multiLvlStrRef>
              <c:f>Sheet1!$A$2:$A$62</c:f>
              <c:multiLvlStrCache>
                <c:ptCount val="61"/>
                <c:lvl>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pt idx="60">
                    <c:v>Sep 2026</c:v>
                  </c:pt>
                </c:lvl>
              </c:multiLvlStrCache>
            </c:multiLvlStrRef>
          </c:cat>
          <c:val>
            <c:numRef>
              <c:f>Sheet1!$B$2:$B$62</c:f>
              <c:numCache>
                <c:formatCode>General</c:formatCode>
                <c:ptCount val="61"/>
                <c:pt idx="0">
                  <c:v>100</c:v>
                </c:pt>
                <c:pt idx="1">
                  <c:v>100.32</c:v>
                </c:pt>
                <c:pt idx="2">
                  <c:v>100.7</c:v>
                </c:pt>
                <c:pt idx="3">
                  <c:v>101.12</c:v>
                </c:pt>
                <c:pt idx="4">
                  <c:v>101.55</c:v>
                </c:pt>
                <c:pt idx="5">
                  <c:v>101.77</c:v>
                </c:pt>
                <c:pt idx="6">
                  <c:v>102</c:v>
                </c:pt>
                <c:pt idx="7">
                  <c:v>102.27</c:v>
                </c:pt>
                <c:pt idx="8">
                  <c:v>102.55</c:v>
                </c:pt>
                <c:pt idx="9">
                  <c:v>102.55</c:v>
                </c:pt>
                <c:pt idx="10">
                  <c:v>103.53</c:v>
                </c:pt>
                <c:pt idx="11">
                  <c:v>104.09</c:v>
                </c:pt>
                <c:pt idx="12">
                  <c:v>104.53</c:v>
                </c:pt>
                <c:pt idx="13">
                  <c:v>104.81</c:v>
                </c:pt>
                <c:pt idx="14">
                  <c:v>105.07</c:v>
                </c:pt>
                <c:pt idx="15">
                  <c:v>105.28</c:v>
                </c:pt>
                <c:pt idx="16">
                  <c:v>105.45</c:v>
                </c:pt>
                <c:pt idx="17">
                  <c:v>105.85</c:v>
                </c:pt>
                <c:pt idx="18">
                  <c:v>106.26</c:v>
                </c:pt>
                <c:pt idx="19">
                  <c:v>106.48</c:v>
                </c:pt>
                <c:pt idx="20">
                  <c:v>106.84</c:v>
                </c:pt>
                <c:pt idx="21">
                  <c:v>107.17</c:v>
                </c:pt>
                <c:pt idx="22">
                  <c:v>107.22</c:v>
                </c:pt>
                <c:pt idx="23">
                  <c:v>107.57</c:v>
                </c:pt>
                <c:pt idx="24">
                  <c:v>107.66</c:v>
                </c:pt>
                <c:pt idx="25">
                  <c:v>107.86</c:v>
                </c:pt>
                <c:pt idx="26">
                  <c:v>107.92</c:v>
                </c:pt>
                <c:pt idx="27">
                  <c:v>107.73</c:v>
                </c:pt>
                <c:pt idx="28">
                  <c:v>108.39</c:v>
                </c:pt>
                <c:pt idx="29">
                  <c:v>108.97</c:v>
                </c:pt>
                <c:pt idx="30">
                  <c:v>108.87</c:v>
                </c:pt>
                <c:pt idx="31">
                  <c:v>108.75</c:v>
                </c:pt>
                <c:pt idx="32">
                  <c:v>109.45</c:v>
                </c:pt>
                <c:pt idx="33">
                  <c:v>109.39</c:v>
                </c:pt>
                <c:pt idx="34">
                  <c:v>109.54</c:v>
                </c:pt>
                <c:pt idx="35">
                  <c:v>109.53</c:v>
                </c:pt>
                <c:pt idx="36">
                  <c:v>109.53</c:v>
                </c:pt>
                <c:pt idx="37">
                  <c:v>109.4</c:v>
                </c:pt>
                <c:pt idx="38">
                  <c:v>110.04</c:v>
                </c:pt>
                <c:pt idx="39">
                  <c:v>110.38</c:v>
                </c:pt>
                <c:pt idx="40">
                  <c:v>110.62</c:v>
                </c:pt>
                <c:pt idx="41">
                  <c:v>110.69</c:v>
                </c:pt>
                <c:pt idx="42">
                  <c:v>110.74</c:v>
                </c:pt>
                <c:pt idx="43">
                  <c:v>111</c:v>
                </c:pt>
                <c:pt idx="44">
                  <c:v>111.04</c:v>
                </c:pt>
                <c:pt idx="45">
                  <c:v>111.3</c:v>
                </c:pt>
                <c:pt idx="46">
                  <c:v>111.69</c:v>
                </c:pt>
                <c:pt idx="47">
                  <c:v>111.58</c:v>
                </c:pt>
                <c:pt idx="48">
                  <c:v>111.74</c:v>
                </c:pt>
                <c:pt idx="49">
                  <c:v>111.93</c:v>
                </c:pt>
                <c:pt idx="50">
                  <c:v>112.3</c:v>
                </c:pt>
                <c:pt idx="51">
                  <c:v>112.52</c:v>
                </c:pt>
                <c:pt idx="52">
                  <c:v>112.81</c:v>
                </c:pt>
                <c:pt idx="53">
                  <c:v>113.07</c:v>
                </c:pt>
                <c:pt idx="54">
                  <c:v>113.31</c:v>
                </c:pt>
                <c:pt idx="55">
                  <c:v>113.49</c:v>
                </c:pt>
                <c:pt idx="56">
                  <c:v>113.69</c:v>
                </c:pt>
                <c:pt idx="57">
                  <c:v>113.75</c:v>
                </c:pt>
                <c:pt idx="58">
                  <c:v>114.07</c:v>
                </c:pt>
                <c:pt idx="59">
                  <c:v>114.26</c:v>
                </c:pt>
                <c:pt idx="60">
                  <c:v>114.64</c:v>
                </c:pt>
              </c:numCache>
            </c:numRef>
          </c:val>
          <c:smooth val="0"/>
        </c:ser>
        <c:ser>
          <c:idx val="1"/>
          <c:order val="1"/>
          <c:tx>
            <c:strRef>
              <c:f>Sheet1!$C$1</c:f>
              <c:strCache>
                <c:ptCount val="1"/>
                <c:pt idx="0">
                  <c:v>Services to buildings</c:v>
                </c:pt>
              </c:strCache>
            </c:strRef>
          </c:tx>
          <c:spPr>
            <a:solidFill>
              <a:srgbClr val="1B1A1A"/>
            </a:solidFill>
            <a:ln w="19050" cap="flat">
              <a:solidFill>
                <a:srgbClr val="1B1A1A"/>
              </a:solidFill>
              <a:prstDash val="solid"/>
              <a:round/>
            </a:ln>
            <a:effectLst/>
          </c:spPr>
          <c:invertIfNegative val="0"/>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c:symbol val="none"/>
            <c:size val="6"/>
            <c:spPr>
              <a:solidFill>
                <a:srgbClr val="1B1A1A"/>
              </a:solidFill>
              <a:ln w="9525" cap="flat">
                <a:solidFill>
                  <a:srgbClr val="1B1A1A"/>
                </a:solidFill>
                <a:prstDash val="solid"/>
                <a:round/>
              </a:ln>
              <a:effectLst/>
            </c:spPr>
          </c:marker>
          <c:cat>
            <c:multiLvlStrRef>
              <c:f>Sheet1!$A$2:$A$62</c:f>
              <c:multiLvlStrCache>
                <c:ptCount val="61"/>
                <c:lvl>
                  <c:pt idx="0">
                    <c:v>Sep 2021</c:v>
                  </c:pt>
                  <c:pt idx="1">
                    <c:v>Oct 2021</c:v>
                  </c:pt>
                  <c:pt idx="2">
                    <c:v>Nov 2021</c:v>
                  </c:pt>
                  <c:pt idx="3">
                    <c:v>Dec 2021</c:v>
                  </c:pt>
                  <c:pt idx="4">
                    <c:v>Jan 2022</c:v>
                  </c:pt>
                  <c:pt idx="5">
                    <c:v>Feb 2022</c:v>
                  </c:pt>
                  <c:pt idx="6">
                    <c:v>Mar 2022</c:v>
                  </c:pt>
                  <c:pt idx="7">
                    <c:v>Apr 2022</c:v>
                  </c:pt>
                  <c:pt idx="8">
                    <c:v>May 2022</c:v>
                  </c:pt>
                  <c:pt idx="9">
                    <c:v>Jun 2022</c:v>
                  </c:pt>
                  <c:pt idx="10">
                    <c:v>Jul 2022</c:v>
                  </c:pt>
                  <c:pt idx="11">
                    <c:v>Aug 2022</c:v>
                  </c:pt>
                  <c:pt idx="12">
                    <c:v>Sep 2022</c:v>
                  </c:pt>
                  <c:pt idx="13">
                    <c:v>Oct 2022</c:v>
                  </c:pt>
                  <c:pt idx="14">
                    <c:v>Nov 2022</c:v>
                  </c:pt>
                  <c:pt idx="15">
                    <c:v>Dec 2022</c:v>
                  </c:pt>
                  <c:pt idx="16">
                    <c:v>Jan 2023</c:v>
                  </c:pt>
                  <c:pt idx="17">
                    <c:v>Feb 2023</c:v>
                  </c:pt>
                  <c:pt idx="18">
                    <c:v>Mar 2023</c:v>
                  </c:pt>
                  <c:pt idx="19">
                    <c:v>Apr 2023</c:v>
                  </c:pt>
                  <c:pt idx="20">
                    <c:v>May 2023</c:v>
                  </c:pt>
                  <c:pt idx="21">
                    <c:v>Jun 2023</c:v>
                  </c:pt>
                  <c:pt idx="22">
                    <c:v>Jul 2023</c:v>
                  </c:pt>
                  <c:pt idx="23">
                    <c:v>Aug 2023</c:v>
                  </c:pt>
                  <c:pt idx="24">
                    <c:v>Sep 2023</c:v>
                  </c:pt>
                  <c:pt idx="25">
                    <c:v>Oct 2023</c:v>
                  </c:pt>
                  <c:pt idx="26">
                    <c:v>Nov 2023</c:v>
                  </c:pt>
                  <c:pt idx="27">
                    <c:v>Dec 2023</c:v>
                  </c:pt>
                  <c:pt idx="28">
                    <c:v>Jan 2024</c:v>
                  </c:pt>
                  <c:pt idx="29">
                    <c:v>Feb 2024</c:v>
                  </c:pt>
                  <c:pt idx="30">
                    <c:v>Mar 2024</c:v>
                  </c:pt>
                  <c:pt idx="31">
                    <c:v>Apr 2024</c:v>
                  </c:pt>
                  <c:pt idx="32">
                    <c:v>May 2024</c:v>
                  </c:pt>
                  <c:pt idx="33">
                    <c:v>Jun 2024</c:v>
                  </c:pt>
                  <c:pt idx="34">
                    <c:v>Jul 2024</c:v>
                  </c:pt>
                  <c:pt idx="35">
                    <c:v>Aug 2024</c:v>
                  </c:pt>
                  <c:pt idx="36">
                    <c:v>Sep 2024</c:v>
                  </c:pt>
                  <c:pt idx="37">
                    <c:v>Oct 2024</c:v>
                  </c:pt>
                  <c:pt idx="38">
                    <c:v>Nov 2024</c:v>
                  </c:pt>
                  <c:pt idx="39">
                    <c:v>Dec 2024</c:v>
                  </c:pt>
                  <c:pt idx="40">
                    <c:v>Jan 2025</c:v>
                  </c:pt>
                  <c:pt idx="41">
                    <c:v>Feb 2025</c:v>
                  </c:pt>
                  <c:pt idx="42">
                    <c:v>Mar 2025</c:v>
                  </c:pt>
                  <c:pt idx="43">
                    <c:v>Apr 2025</c:v>
                  </c:pt>
                  <c:pt idx="44">
                    <c:v>May 2025</c:v>
                  </c:pt>
                  <c:pt idx="45">
                    <c:v>Jun 2025</c:v>
                  </c:pt>
                  <c:pt idx="46">
                    <c:v>Jul 2025</c:v>
                  </c:pt>
                  <c:pt idx="47">
                    <c:v>Aug 2025</c:v>
                  </c:pt>
                  <c:pt idx="48">
                    <c:v>Sep 2025</c:v>
                  </c:pt>
                  <c:pt idx="49">
                    <c:v>Oct 2025</c:v>
                  </c:pt>
                  <c:pt idx="50">
                    <c:v>Nov 2025</c:v>
                  </c:pt>
                  <c:pt idx="51">
                    <c:v>Dec 2025</c:v>
                  </c:pt>
                  <c:pt idx="52">
                    <c:v>Jan 2026</c:v>
                  </c:pt>
                  <c:pt idx="53">
                    <c:v>Feb 2026</c:v>
                  </c:pt>
                  <c:pt idx="54">
                    <c:v>Mar 2026</c:v>
                  </c:pt>
                  <c:pt idx="55">
                    <c:v>Apr 2026</c:v>
                  </c:pt>
                  <c:pt idx="56">
                    <c:v>May 2026</c:v>
                  </c:pt>
                  <c:pt idx="57">
                    <c:v>Jun 2026</c:v>
                  </c:pt>
                  <c:pt idx="58">
                    <c:v>Jul 2026</c:v>
                  </c:pt>
                  <c:pt idx="59">
                    <c:v>Aug 2026</c:v>
                  </c:pt>
                  <c:pt idx="60">
                    <c:v>Sep 2026</c:v>
                  </c:pt>
                </c:lvl>
              </c:multiLvlStrCache>
            </c:multiLvlStrRef>
          </c:cat>
          <c:val>
            <c:numRef>
              <c:f>Sheet1!$C$2:$C$62</c:f>
              <c:numCache>
                <c:formatCode>General</c:formatCode>
                <c:ptCount val="61"/>
                <c:pt idx="0">
                  <c:v>100</c:v>
                </c:pt>
                <c:pt idx="1">
                  <c:v>100.65</c:v>
                </c:pt>
                <c:pt idx="2">
                  <c:v>101.16</c:v>
                </c:pt>
                <c:pt idx="3">
                  <c:v>101.31</c:v>
                </c:pt>
                <c:pt idx="4">
                  <c:v>101.28</c:v>
                </c:pt>
                <c:pt idx="5">
                  <c:v>101.42</c:v>
                </c:pt>
                <c:pt idx="6">
                  <c:v>102.34</c:v>
                </c:pt>
                <c:pt idx="7">
                  <c:v>101.44</c:v>
                </c:pt>
                <c:pt idx="8">
                  <c:v>101.19</c:v>
                </c:pt>
                <c:pt idx="9">
                  <c:v>101.28</c:v>
                </c:pt>
                <c:pt idx="10">
                  <c:v>101.89</c:v>
                </c:pt>
                <c:pt idx="11">
                  <c:v>102.05</c:v>
                </c:pt>
                <c:pt idx="12">
                  <c:v>102.46</c:v>
                </c:pt>
                <c:pt idx="13">
                  <c:v>102.65</c:v>
                </c:pt>
                <c:pt idx="14">
                  <c:v>102.9</c:v>
                </c:pt>
                <c:pt idx="15">
                  <c:v>102.92</c:v>
                </c:pt>
                <c:pt idx="16">
                  <c:v>103</c:v>
                </c:pt>
                <c:pt idx="17">
                  <c:v>104.46</c:v>
                </c:pt>
                <c:pt idx="18">
                  <c:v>104.5</c:v>
                </c:pt>
                <c:pt idx="19">
                  <c:v>104.54</c:v>
                </c:pt>
                <c:pt idx="20">
                  <c:v>104.49</c:v>
                </c:pt>
                <c:pt idx="21">
                  <c:v>104.63</c:v>
                </c:pt>
                <c:pt idx="22">
                  <c:v>104.7</c:v>
                </c:pt>
                <c:pt idx="23">
                  <c:v>104.93</c:v>
                </c:pt>
                <c:pt idx="24">
                  <c:v>105.21</c:v>
                </c:pt>
                <c:pt idx="25">
                  <c:v>104.97</c:v>
                </c:pt>
                <c:pt idx="26">
                  <c:v>104.83</c:v>
                </c:pt>
                <c:pt idx="27">
                  <c:v>105.06</c:v>
                </c:pt>
                <c:pt idx="28">
                  <c:v>105.58</c:v>
                </c:pt>
                <c:pt idx="29">
                  <c:v>105.62</c:v>
                </c:pt>
                <c:pt idx="30">
                  <c:v>106.15</c:v>
                </c:pt>
                <c:pt idx="31">
                  <c:v>106.29</c:v>
                </c:pt>
                <c:pt idx="32">
                  <c:v>106.51</c:v>
                </c:pt>
                <c:pt idx="33">
                  <c:v>106.54</c:v>
                </c:pt>
                <c:pt idx="34">
                  <c:v>106.8</c:v>
                </c:pt>
                <c:pt idx="35">
                  <c:v>106.39</c:v>
                </c:pt>
                <c:pt idx="36">
                  <c:v>106.52</c:v>
                </c:pt>
                <c:pt idx="37">
                  <c:v>106.53</c:v>
                </c:pt>
                <c:pt idx="38">
                  <c:v>106.55</c:v>
                </c:pt>
                <c:pt idx="39">
                  <c:v>106.66</c:v>
                </c:pt>
                <c:pt idx="40">
                  <c:v>106.5</c:v>
                </c:pt>
                <c:pt idx="41">
                  <c:v>106.92</c:v>
                </c:pt>
                <c:pt idx="42">
                  <c:v>106.54</c:v>
                </c:pt>
                <c:pt idx="43">
                  <c:v>106.54</c:v>
                </c:pt>
                <c:pt idx="44">
                  <c:v>106.45</c:v>
                </c:pt>
                <c:pt idx="45">
                  <c:v>106.43</c:v>
                </c:pt>
                <c:pt idx="46">
                  <c:v>106.14</c:v>
                </c:pt>
                <c:pt idx="47">
                  <c:v>106.36</c:v>
                </c:pt>
                <c:pt idx="48">
                  <c:v>106.25</c:v>
                </c:pt>
                <c:pt idx="49">
                  <c:v>106.21</c:v>
                </c:pt>
                <c:pt idx="50">
                  <c:v>106.78</c:v>
                </c:pt>
                <c:pt idx="51">
                  <c:v>106.96</c:v>
                </c:pt>
                <c:pt idx="52">
                  <c:v>107.5</c:v>
                </c:pt>
                <c:pt idx="53">
                  <c:v>106.98</c:v>
                </c:pt>
                <c:pt idx="54">
                  <c:v>107.6</c:v>
                </c:pt>
                <c:pt idx="55">
                  <c:v>107.37</c:v>
                </c:pt>
                <c:pt idx="56">
                  <c:v>107.12</c:v>
                </c:pt>
                <c:pt idx="57">
                  <c:v>107.13</c:v>
                </c:pt>
                <c:pt idx="58">
                  <c:v>107.16</c:v>
                </c:pt>
                <c:pt idx="59">
                  <c:v>107.26</c:v>
                </c:pt>
                <c:pt idx="60">
                  <c:v>107.32</c:v>
                </c:pt>
              </c:numCache>
            </c:numRef>
          </c:val>
          <c:smooth val="0"/>
        </c:ser>
        <c:dLbls>
          <c:numFmt formatCode="#,##0" sourceLinked="0"/>
          <c:txPr>
            <a:bodyPr/>
            <a:lstStyle/>
            <a:p>
              <a:pPr>
                <a:defRPr b="1" i="0" strike="noStrike" sz="700" u="none">
                  <a:solidFill>
                    <a:srgbClr val="1B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1B1A1A"/>
            </a:solidFill>
            <a:prstDash val="solid"/>
            <a:round/>
          </a:ln>
        </c:spPr>
        <c:txPr>
          <a:bodyPr/>
          <a:lstStyle/>
          <a:p>
            <a:pPr>
              <a:defRPr sz="700" b="0" i="0" u="none" strike="noStrike">
                <a:solidFill>
                  <a:srgbClr val="333231"/>
                </a:solidFill>
                <a:latin typeface="+mn-lt"/>
              </a:defRPr>
            </a:pPr>
            <a:endParaRPr lang="en-US"/>
          </a:p>
        </c:txPr>
        <c:crossAx val="2094734552"/>
        <c:crosses val="autoZero"/>
        <c:auto val="1"/>
        <c:lblAlgn val="ctr"/>
        <c:noMultiLvlLbl val="1"/>
        <c:tickLblSkip val="12"/>
      </c:catAx>
      <c:valAx>
        <c:axId val="2094734552"/>
        <c:scaling>
          <c:orientation val="minMax"/>
          <c:max val="120"/>
          <c:min val="95"/>
        </c:scaling>
        <c:delete val="0"/>
        <c:axPos val="l"/>
        <c:majorGridlines>
          <c:spPr>
            <a:ln w="6350" cap="flat">
              <a:solidFill>
                <a:srgbClr val="E3DCD3"/>
              </a:solidFill>
              <a:prstDash val="solid"/>
              <a:round/>
            </a:ln>
          </c:spPr>
        </c:majorGridlines>
        <c:numFmt formatCode="#,##0" sourceLinked="0"/>
        <c:majorTickMark val="out"/>
        <c:minorTickMark val="none"/>
        <c:tickLblPos val="nextTo"/>
        <c:spPr>
          <a:ln w="12700" cap="flat">
            <a:noFill/>
            <a:prstDash val="solid"/>
            <a:round/>
          </a:ln>
        </c:spPr>
        <c:txPr>
          <a:bodyPr/>
          <a:lstStyle/>
          <a:p>
            <a:pPr>
              <a:defRPr sz="650" b="0" i="0" u="none" strike="noStrike">
                <a:solidFill>
                  <a:srgbClr val="6F6A66"/>
                </a:solidFill>
                <a:latin typeface="+mn-lt"/>
              </a:defRPr>
            </a:pPr>
            <a:endParaRPr lang="en-US"/>
          </a:p>
        </c:txPr>
        <c:crossAx val="2094734554"/>
        <c:crosses val="autoZero"/>
        <c:crossBetween val="between"/>
        <c:majorUnit val="5"/>
      </c:valAx>
      <c:spPr>
        <a:solidFill>
          <a:srgbClr val="FAF7F3"/>
        </a:solidFill>
        <a:ln>
          <a:noFill/>
        </a:ln>
        <a:effectLst/>
      </c:spPr>
    </c:plotArea>
    <c:plotVisOnly val="1"/>
    <c:dispBlanksAs val="span"/>
  </c:chart>
  <c:spPr>
    <a:solidFill>
      <a:srgbClr val="FAF7F3"/>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defRPr>
    </a:lvl1pPr>
    <a:lvl2pPr marL="457200" algn="l" defTabSz="914400" rtl="0" eaLnBrk="1" latinLnBrk="0" hangingPunct="1">
      <a:defRPr sz="1200" kern="1200">
        <a:solidFill>
          <a:schemeClr val="tx1"/>
        </a:solidFill>
        <a:latin typeface="+mn-lt"/>
      </a:defRPr>
    </a:lvl2pPr>
    <a:lvl3pPr marL="914400" algn="l" defTabSz="914400" rtl="0" eaLnBrk="1" latinLnBrk="0" hangingPunct="1">
      <a:defRPr sz="1200" kern="1200">
        <a:solidFill>
          <a:schemeClr val="tx1"/>
        </a:solidFill>
        <a:latin typeface="+mn-lt"/>
      </a:defRPr>
    </a:lvl3pPr>
    <a:lvl4pPr marL="1371600" algn="l" defTabSz="914400" rtl="0" eaLnBrk="1" latinLnBrk="0" hangingPunct="1">
      <a:defRPr sz="1200" kern="1200">
        <a:solidFill>
          <a:schemeClr val="tx1"/>
        </a:solidFill>
        <a:latin typeface="+mn-lt"/>
      </a:defRPr>
    </a:lvl4pPr>
    <a:lvl5pPr marL="1828800" algn="l" defTabSz="914400" rtl="0" eaLnBrk="1" latinLnBrk="0" hangingPunct="1">
      <a:defRPr sz="1200" kern="1200">
        <a:solidFill>
          <a:schemeClr val="tx1"/>
        </a:solidFill>
        <a:latin typeface="+mn-lt"/>
      </a:defRPr>
    </a:lvl5pPr>
    <a:lvl6pPr marL="2286000" algn="l" defTabSz="914400" rtl="0" eaLnBrk="1" latinLnBrk="0" hangingPunct="1">
      <a:defRPr sz="1200" kern="1200">
        <a:solidFill>
          <a:schemeClr val="tx1"/>
        </a:solidFill>
        <a:latin typeface="+mn-lt"/>
      </a:defRPr>
    </a:lvl6pPr>
    <a:lvl7pPr marL="2743200" algn="l" defTabSz="914400" rtl="0" eaLnBrk="1" latinLnBrk="0" hangingPunct="1">
      <a:defRPr sz="1200" kern="1200">
        <a:solidFill>
          <a:schemeClr val="tx1"/>
        </a:solidFill>
        <a:latin typeface="+mn-lt"/>
      </a:defRPr>
    </a:lvl7pPr>
    <a:lvl8pPr marL="3200400" algn="l" defTabSz="914400" rtl="0" eaLnBrk="1" latinLnBrk="0" hangingPunct="1">
      <a:defRPr sz="1200" kern="1200">
        <a:solidFill>
          <a:schemeClr val="tx1"/>
        </a:solidFill>
        <a:latin typeface="+mn-lt"/>
      </a:defRPr>
    </a:lvl8pPr>
    <a:lvl9pPr marL="3657600" algn="l" defTabSz="914400" rtl="0" eaLnBrk="1" latinLnBrk="0" hangingPunct="1">
      <a:defRPr sz="1200" kern="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enterprise value to trailing EBITDA of six listed companies, from StockAnalysis statistics pages retrieved October 7, 2026. Right-click the chart and choose Edit Data to update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medians computed from StockAnalysis statistics, ratios and trailing-financials pages for 48 listed companies, retrieved October 7, 2026. The multiple chart covers the 36 companies with a current multiple under 50x, a year-ago multiple and quarter-end history. Right-click a chart and choose Edit Data to update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sector medians from StockAnalysis statistics pages for 48 listed companies, retrieved October 7, 2026. Right-click a chart and choose Edit Data to update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revenue growth in the latest reported quarter, as stated in each earnings release; Crawford is computed from stated revenue. Right-click the chart and choose Edit Data to update it. Sources: Willdan Group: https://willdangroupinc.gcs-web.com/node/16626; Bowman Consulting: https://investors.bowman.com/news-releases/news-release-details/bowman-reports-strong-results-second-quarter-2026; APi Group: https://www.sec.gov/Archives/edgar/data/0001796209/000162828026050806/apg-20260630xexx991.htm; TrueBlue: https://investor.trueblue.com/news-events/press-releases/detail/471/trueblue-reports-second-quarter-2026-results/; Stantec: https://www.sec.gov/Archives/edgar/data/0001131383/000117184326005457/exh_991.htm; Stagwell: https://www.newswire.com/news/stagwell-inc-nasdaq-stgw-reports-results-for-the-three-and-six-months-ended; ManpowerGroup: https://www.sec.gov/Archives/edgar/data/0000871763/000119312526305399/man-ex99_1.htm; Ryan Specialty: https://www.sec.gov/Archives/edgar/data/0001849253/000184925326000034/ryan-20260630xex991.htm; Daktronics: https://daktronics.gcs-web.com/news-releases/news-release-details/daktronics-inc-announces-fiscal-2027-first-quarter-results; Korn Ferry: https://ir.kornferry.com/news-events/press-releases/detail/733/korn-ferry-announces-first-quarter-fiscal-2027-results-of-operations; Accenture: https://newsroom.accenture.com/content/4q-full-fy26-earnings/accenture-reports-fourth-quarter-and-full-year-fiscal-2026-results.pdf; UL Solutions: https://www.ul.com/news/ul-solutions-inc-reports-strong-second-quarter-2026-results; Kforce: https://s27.q4cdn.com/587398032/files/doc_financials/2026/q2/Q2-2026-Press-Release-Prepred-Remarks.pdf; ABM Industries: https://www.sec.gov/Archives/edgar/data/0000771497/000119312526384364/abm-ex99_1.htm; FirstService: https://www.sec.gov/Archives/edgar/data/0001637810/000117184326004850/exh_991.htm; Advantage Solutions: https://s21.q4cdn.com/203226956/files/doc_financials/2026/q2/ADV-2Q-26-Earnings-Press-Release.pdf; BrightView: https://www.sec.gov/Archives/edgar/data/0001734713/000119312526332832/bv-ex99_1.htm; Crawford &amp; Company: https://www.businesswire.com/news/home/20260803939690/en/; Robert Half: https://finviz.com/news/372015/robert-half-reports-second-quarter-financial-results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FRED series A191RL1Q225SBEA (real GDP growth), UNRATE, PAYEMS (monthly change computed), GS10 and FEDFUNDS, TEMPHELPS, and CES6054130001 and CES6056170001 indexed to September 2021 = 100. Data from September 2021 to September 2026; GDP to the second quarter of 2026. FRED has no unemployment rate for October 2025. Right-click a chart and choose Edit Data to update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hyperlink" Target="https://pyebarkerfs.com/news/pye-barker-fire-safety-celebrates-mid-year-momentum-and-3-sdm-100-ranking/" TargetMode="External"/><Relationship Id="rId3" Type="http://schemas.openxmlformats.org/officeDocument/2006/relationships/hyperlink" Target="https://www.sec.gov/Archives/edgar/data/0001796209/000162828026050806/apg-20260630xexx991.htm" TargetMode="External"/><Relationship Id="rId4" Type="http://schemas.openxmlformats.org/officeDocument/2006/relationships/image" Target="../media/image-3-2.png"/><Relationship Id="rId5" Type="http://schemas.openxmlformats.org/officeDocument/2006/relationships/hyperlink" Target="https://www.federalreserve.gov/monetarypolicy/files/monetary20260916a1.pdf" TargetMode="External"/><Relationship Id="rId6" Type="http://schemas.openxmlformats.org/officeDocument/2006/relationships/hyperlink" Target="https://fred.stlouisfed.org/series/GS10" TargetMode="External"/><Relationship Id="rId7" Type="http://schemas.openxmlformats.org/officeDocument/2006/relationships/hyperlink" Target="https://www.acg.org/news-trends/news/gf-data-reports-show-steady-middle-market-deal-flow-amid-more-selective" TargetMode="External"/><Relationship Id="rId8" Type="http://schemas.openxmlformats.org/officeDocument/2006/relationships/image" Target="../media/image-3-3.png"/><Relationship Id="rId9" Type="http://schemas.openxmlformats.org/officeDocument/2006/relationships/hyperlink" Target="https://engineeringinc.acec.org/blog/engineering-firms-remain-resilient-amid-growing-economic-uncertainty-new-acec-research-institute-study-finds/" TargetMode="External"/><Relationship Id="rId10" Type="http://schemas.openxmlformats.org/officeDocument/2006/relationships/hyperlink" Target="https://investors.bowman.com/news-releases/news-release-details/bowman-consulting-group-enters-definitive-agreement-be-acquired" TargetMode="External"/><Relationship Id="rId11" Type="http://schemas.openxmlformats.org/officeDocument/2006/relationships/image" Target="../media/image-3-4.png"/><Relationship Id="rId12" Type="http://schemas.openxmlformats.org/officeDocument/2006/relationships/hyperlink" Target="https://www.insurancejournal.com/news/national/2026/08/20/882240.htm" TargetMode="External"/><Relationship Id="rId13" Type="http://schemas.openxmlformats.org/officeDocument/2006/relationships/hyperlink" Target="https://www.insurancejournal.com/magazines/mag-business-moves/2026/09/21/885520.htm" TargetMode="External"/><Relationship Id="rId14" Type="http://schemas.openxmlformats.org/officeDocument/2006/relationships/image" Target="../media/image-3-5.png"/><Relationship Id="rId15" Type="http://schemas.openxmlformats.org/officeDocument/2006/relationships/hyperlink" Target="https://www.staffingindustry.com/editorial/it-staffing-report/it-staffing-revenue-up-5-at-the-median-in-pulse-survey" TargetMode="External"/><Relationship Id="rId16" Type="http://schemas.openxmlformats.org/officeDocument/2006/relationships/hyperlink" Target="https://fred.stlouisfed.org/series/TEMPHELPS" TargetMode="External"/><Relationship Id="rId17" Type="http://schemas.openxmlformats.org/officeDocument/2006/relationships/image" Target="../media/image-3-6.png"/><Relationship Id="rId18" Type="http://schemas.openxmlformats.org/officeDocument/2006/relationships/hyperlink" Target="https://www.mediapost.com/publications/article/417751/ad-outlook-composite-improves-on-mw-revisions.html" TargetMode="External"/><Relationship Id="rId19" Type="http://schemas.openxmlformats.org/officeDocument/2006/relationships/hyperlink" Target="https://finance.yahoo.com/sectors/technology/articles/ai-remains-top-priority-cmos-102100803.html" TargetMode="External"/><Relationship Id="rId20" Type="http://schemas.openxmlformats.org/officeDocument/2006/relationships/hyperlink" Target="https://www.acg.org/news-trends/news/gf-data-reports-show-steady-middle-market-deal-flow-amid-more-selective" TargetMode="External"/><Relationship Id="rId21" Type="http://schemas.openxmlformats.org/officeDocument/2006/relationships/hyperlink" Target="https://www.ibba.org/wp-content/uploads/2026/08/mp-highlights-q2-2026.pdf" TargetMode="External"/><Relationship Id="rId22" Type="http://schemas.openxmlformats.org/officeDocument/2006/relationships/hyperlink" Target="https://www.webull.com/news/15462423712777216" TargetMode="External"/><Relationship Id="rId23" Type="http://schemas.openxmlformats.org/officeDocument/2006/relationships/image" Target="../media/image-3-7.png"/><Relationship Id="rId24" Type="http://schemas.openxmlformats.org/officeDocument/2006/relationships/slideLayout" Target="../slideLayouts/slideLayout1.xml"/><Relationship Id="rId2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hyperlink" Target="https://www.sdmmag.com/articles/105352-sdm-100-top-100-security-dealers-of-2026" TargetMode="External"/><Relationship Id="rId4" Type="http://schemas.openxmlformats.org/officeDocument/2006/relationships/hyperlink" Target="https://www.sgs.com/en-ca/news/2026/07/sgs-2026-half-year-results" TargetMode="External"/><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hyperlink" Target="https://www.iab.com/insights/internet-advertising-revenue-report-full-year-2025/" TargetMode="External"/><Relationship Id="rId8" Type="http://schemas.openxmlformats.org/officeDocument/2006/relationships/hyperlink" Target="https://asicentral.com/press-releases/north-america-promo-industry-grows-4-percent-in-2025/" TargetMode="External"/><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hyperlink" Target="https://enr.com/toplists/2026-top-500-design-firms-preview" TargetMode="External"/><Relationship Id="rId12" Type="http://schemas.openxmlformats.org/officeDocument/2006/relationships/hyperlink" Target="https://go.psmj.com/outlook-2026-aec-ma-trends-report" TargetMode="External"/><Relationship Id="rId13" Type="http://schemas.openxmlformats.org/officeDocument/2006/relationships/image" Target="../media/image-4-7.png"/><Relationship Id="rId14" Type="http://schemas.openxmlformats.org/officeDocument/2006/relationships/image" Target="../media/image-4-8.png"/><Relationship Id="rId15" Type="http://schemas.openxmlformats.org/officeDocument/2006/relationships/hyperlink" Target="https://riskandinsurance.com/mga-premiums-hit-108-7-billion-in-2025-as-capacity-scrutiny-tightens/" TargetMode="External"/><Relationship Id="rId16" Type="http://schemas.openxmlformats.org/officeDocument/2006/relationships/hyperlink" Target="https://www.wealthmanagement.com/ria-news/fidelity-m-a-transaction-count-fell-in-1h-but-total-asset-haul-rose-88-" TargetMode="External"/><Relationship Id="rId17" Type="http://schemas.openxmlformats.org/officeDocument/2006/relationships/image" Target="../media/image-4-9.png"/><Relationship Id="rId18" Type="http://schemas.openxmlformats.org/officeDocument/2006/relationships/image" Target="../media/image-4-10.png"/><Relationship Id="rId19" Type="http://schemas.openxmlformats.org/officeDocument/2006/relationships/hyperlink" Target="https://americanstaffing.net/posts/2026/03/30/employment-and-sales-rebound-in-q4/" TargetMode="External"/><Relationship Id="rId20" Type="http://schemas.openxmlformats.org/officeDocument/2006/relationships/hyperlink" Target="https://www.staffingindustry.com/editorial/industrial-staffing-report/industrial-staffing-forecast-revised-to-7-growth-from-1-" TargetMode="External"/><Relationship Id="rId21" Type="http://schemas.openxmlformats.org/officeDocument/2006/relationships/image" Target="../media/image-4-11.png"/><Relationship Id="rId22" Type="http://schemas.openxmlformats.org/officeDocument/2006/relationships/hyperlink" Target="https://jp-hardin.github.io/about/mid-market-practice/insights/business-services-industry-report-q4-2026.html" TargetMode="External"/><Relationship Id="rId23" Type="http://schemas.openxmlformats.org/officeDocument/2006/relationships/slideLayout" Target="../slideLayouts/slideLayout1.xml"/><Relationship Id="rId2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gineeringinc.acec.org/blog/engineering-firms-remain-resilient-amid-growing-economic-uncertainty-new-acec-research-institute-study-finds/" TargetMode="External"/><Relationship Id="rId2" Type="http://schemas.openxmlformats.org/officeDocument/2006/relationships/hyperlink" Target="https://www.staffingindustry.com/editorial/it-staffing-report/it-staffing-revenue-up-5-at-the-median-in-pulse-survey" TargetMode="External"/><Relationship Id="rId3" Type="http://schemas.openxmlformats.org/officeDocument/2006/relationships/hyperlink" Target="https://www.insurancejournal.com/news/national/2026/08/20/882240.htm" TargetMode="External"/><Relationship Id="rId4" Type="http://schemas.openxmlformats.org/officeDocument/2006/relationships/hyperlink" Target="https://pitchbook.brightspotcdn.com/40/42/bbeb88094080abaea3d7c87530b8/q2-2026-us-pe-breakdown.pdf" TargetMode="External"/><Relationship Id="rId5" Type="http://schemas.openxmlformats.org/officeDocument/2006/relationships/hyperlink" Target="https://www.investing.com/news/stock-market-news/global-ma-deal-rush-fades-in-third-quarter-as-rising-borrowing-costs-bite-4928161" TargetMode="External"/><Relationship Id="rId6" Type="http://schemas.openxmlformats.org/officeDocument/2006/relationships/hyperlink" Target="https://www.acg.org/news-trends/news/gf-data-reports-show-steady-middle-market-deal-flow-amid-more-selective" TargetMode="External"/><Relationship Id="rId7" Type="http://schemas.openxmlformats.org/officeDocument/2006/relationships/hyperlink" Target="https://www.federalreserve.gov/monetarypolicy/files/monetary20260916a1.pdf" TargetMode="External"/><Relationship Id="rId8" Type="http://schemas.openxmlformats.org/officeDocument/2006/relationships/hyperlink" Target="https://www.webull.com/news/15462423712777216" TargetMode="External"/><Relationship Id="rId9" Type="http://schemas.openxmlformats.org/officeDocument/2006/relationships/hyperlink" Target="https://www.ibba.org/wp-content/uploads/2026/08/mp-highlights-q2-2026.pdf" TargetMode="External"/><Relationship Id="rId10" Type="http://schemas.openxmlformats.org/officeDocument/2006/relationships/image" Target="../media/image-5-1.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hyperlink" Target="https://pyebarkerfs.com/news/pye-barker-fire-safety-celebrates-mid-year-momentum-and-3-sdm-100-ranking/" TargetMode="External"/><Relationship Id="rId3" Type="http://schemas.openxmlformats.org/officeDocument/2006/relationships/hyperlink" Target="https://www.securitysystemsnews.com/article/pye-barker-fire-safety-accelerates-growth-strategy-with-57-acquisitions-in-2025" TargetMode="External"/><Relationship Id="rId4" Type="http://schemas.openxmlformats.org/officeDocument/2006/relationships/hyperlink" Target="https://www.sec.gov/Archives/edgar/data/0001796209/000162828026050806/apg-20260630xexx991.htm" TargetMode="External"/><Relationship Id="rId5" Type="http://schemas.openxmlformats.org/officeDocument/2006/relationships/hyperlink" Target="https://www.businesswire.com/news/home/20251210396417/en/APi-Group-Announces-Acquisition-of-CertaSite-and-Provides-Full-Year-2025-Update" TargetMode="External"/><Relationship Id="rId6" Type="http://schemas.openxmlformats.org/officeDocument/2006/relationships/hyperlink" Target="https://www.sdmmag.com/articles/105352-sdm-100-top-100-security-dealers-of-2026" TargetMode="External"/><Relationship Id="rId7" Type="http://schemas.openxmlformats.org/officeDocument/2006/relationships/hyperlink" Target="https://stockanalysis.com/stocks/ctas/statistics/" TargetMode="External"/><Relationship Id="rId8" Type="http://schemas.openxmlformats.org/officeDocument/2006/relationships/chart" Target="../charts/chart1.xml"/><Relationship Id="rId9" Type="http://schemas.openxmlformats.org/officeDocument/2006/relationships/hyperlink" Target="https://pyebarkerfs.com/news/pye-barker-fire-safety-acquires-union-alarmtronic-llc-continuing-security-alarm-service-expansion-in-the-northeast/" TargetMode="External"/><Relationship Id="rId10" Type="http://schemas.openxmlformats.org/officeDocument/2006/relationships/hyperlink" Target="https://pyebarkerfs.com/news/" TargetMode="External"/><Relationship Id="rId11" Type="http://schemas.openxmlformats.org/officeDocument/2006/relationships/hyperlink" Target="https://ausnewsroom.aus.com/news/allied-universal-advances-growth-strategy-with-recent-strategic-acquisitions-1" TargetMode="External"/><Relationship Id="rId12" Type="http://schemas.openxmlformats.org/officeDocument/2006/relationships/hyperlink" Target="https://www.privsource.com/acquisitions/deal/LXSEjg" TargetMode="External"/><Relationship Id="rId13" Type="http://schemas.openxmlformats.org/officeDocument/2006/relationships/hyperlink" Target="https://www.businesswire.com/news/home/20251210396417/en/APi-Group-Announces-Acquisition-of-CertaSite-and-Provides-Full-Year-2025-Update" TargetMode="External"/><Relationship Id="rId14" Type="http://schemas.openxmlformats.org/officeDocument/2006/relationships/image" Target="../media/image-6-2.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hyperlink" Target="https://www.sec.gov/Archives/edgar/data/0000723254/000072325426000042/cintascorporation_arsprint.pdf" TargetMode="External"/><Relationship Id="rId4" Type="http://schemas.openxmlformats.org/officeDocument/2006/relationships/hyperlink" Target="https://www.benchmarkintl.com/insights/completed-transactions/benchmark-international-successfully-facilitated-the-transaction-between-fps-technologies-inc-and-cintas-corporation/" TargetMode="Externa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hyperlink" Target="https://www.benchmarkintl.com/insights/completed-transactions/benchmark-international-successfully-facilitated-the-transaction-of-fire-systems-technology-incorporated-and-ai-fire-llc/" TargetMode="External"/><Relationship Id="rId8" Type="http://schemas.openxmlformats.org/officeDocument/2006/relationships/image" Target="../media/image-8-5.png"/><Relationship Id="rId9" Type="http://schemas.openxmlformats.org/officeDocument/2006/relationships/hyperlink" Target="https://www.benchmarkintl.com/insights/completed-transactions/benchmark-international-successfully-facilitated-the-transaction-between-high-tech-solutions-systems-group-inc-and-ai-fire/" TargetMode="External"/><Relationship Id="rId10" Type="http://schemas.openxmlformats.org/officeDocument/2006/relationships/image" Target="../media/image-8-6.png"/><Relationship Id="rId11" Type="http://schemas.openxmlformats.org/officeDocument/2006/relationships/image" Target="../media/image-8-7.png"/><Relationship Id="rId12" Type="http://schemas.openxmlformats.org/officeDocument/2006/relationships/image" Target="../media/image-8-8.png"/><Relationship Id="rId13" Type="http://schemas.openxmlformats.org/officeDocument/2006/relationships/image" Target="../media/image-8-9.png"/><Relationship Id="rId14" Type="http://schemas.openxmlformats.org/officeDocument/2006/relationships/image" Target="../media/image-8-10.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pyebarkerfs.com/news/pye-barker-fire-safety-acquires-union-alarmtronic-llc-continuing-security-alarm-service-expansion-in-the-northeast/" TargetMode="External"/><Relationship Id="rId2" Type="http://schemas.openxmlformats.org/officeDocument/2006/relationships/hyperlink" Target="https://members.asicentral.com/news/industry-news/october-2026/zebra-marketing-inks-deal-to-acquire-east-beach-specialties/" TargetMode="External"/><Relationship Id="rId3" Type="http://schemas.openxmlformats.org/officeDocument/2006/relationships/hyperlink" Target="https://members.asicentral.com/news/industry-news/july-2026/industry-sales-grow-25-in-q2-as-business-pressures-persist/" TargetMode="External"/><Relationship Id="rId4" Type="http://schemas.openxmlformats.org/officeDocument/2006/relationships/hyperlink" Target="https://investors.bowman.com/news-releases/news-release-details/bowman-reports-strong-results-second-quarter-2026" TargetMode="External"/><Relationship Id="rId5" Type="http://schemas.openxmlformats.org/officeDocument/2006/relationships/hyperlink" Target="https://investors.bowman.com/news-releases/news-release-details/bowman-consulting-group-enters-definitive-agreement-be-acquired" TargetMode="External"/><Relationship Id="rId6" Type="http://schemas.openxmlformats.org/officeDocument/2006/relationships/hyperlink" Target="https://www.insurancebusinessmag.com/us/news/mergers-acquisitions/inszone-snaps-up-centuryold-tulsa-agency-in-august-deal-run-586995.aspx" TargetMode="External"/><Relationship Id="rId7" Type="http://schemas.openxmlformats.org/officeDocument/2006/relationships/hyperlink" Target="https://www.insurancejournal.com/magazines/mag-business-moves/2026/10/05/887584.htm" TargetMode="External"/><Relationship Id="rId8" Type="http://schemas.openxmlformats.org/officeDocument/2006/relationships/hyperlink" Target="https://www.staffingindustry.com/editorial/industrial-staffing-report/veriworks-entering-data-center-construction-staffing-with-laborworx-acquisition" TargetMode="External"/><Relationship Id="rId9" Type="http://schemas.openxmlformats.org/officeDocument/2006/relationships/hyperlink" Target="https://www.staffingindustry.com/editorial/industrial-staffing-report/industrial-staffing-forecast-revised-to-7-growth-from-1-" TargetMode="External"/><Relationship Id="rId10" Type="http://schemas.openxmlformats.org/officeDocument/2006/relationships/hyperlink" Target="https://ir.kornferry.com/news-events/press-releases/detail/724/korn-ferry-announces-definitive-agreement-to-acquire-ams" TargetMode="External"/><Relationship Id="rId11" Type="http://schemas.openxmlformats.org/officeDocument/2006/relationships/image" Target="../media/image-9-1.png"/><Relationship Id="rId12" Type="http://schemas.openxmlformats.org/officeDocument/2006/relationships/hyperlink" Target="https://jp-hardin.github.io/about/mid-market-practice/insights/business-services-industry-report-q4-2026.html" TargetMode="External"/><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benchmarkintl.com/about/our-success/" TargetMode="External"/><Relationship Id="rId2" Type="http://schemas.openxmlformats.org/officeDocument/2006/relationships/hyperlink" Target="https://www.benchmarkintl.com/insights/completed-transactions/benchmark-international-successfully-facilitated-the-transaction-between-fps-technologies-inc-and-cintas-corporation/" TargetMode="External"/><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hyperlink" Target="https://www.benchmarkintl.com/insights/completed-transactions/benchmark-international-successfully-facilitated-the-transaction-of-fire-systems-technology-incorporated-and-ai-fire-llc/" TargetMode="External"/><Relationship Id="rId6" Type="http://schemas.openxmlformats.org/officeDocument/2006/relationships/image" Target="../media/image-10-3.png"/><Relationship Id="rId7" Type="http://schemas.openxmlformats.org/officeDocument/2006/relationships/image" Target="../media/image-10-4.png"/><Relationship Id="rId8" Type="http://schemas.openxmlformats.org/officeDocument/2006/relationships/hyperlink" Target="https://www.benchmarkintl.com/insights/completed-transactions/benchmark-international-successfully-facilitated-the-transaction-of-pacific-green-protection-inc-and-cresswell-ventures/" TargetMode="External"/><Relationship Id="rId9" Type="http://schemas.openxmlformats.org/officeDocument/2006/relationships/image" Target="../media/image-10-5.png"/><Relationship Id="rId10" Type="http://schemas.openxmlformats.org/officeDocument/2006/relationships/image" Target="../media/image-10-6.png"/><Relationship Id="rId11" Type="http://schemas.openxmlformats.org/officeDocument/2006/relationships/hyperlink" Target="https://www.benchmarkintl.com/insights/completed-transactions/benchmark-international-successfully-facilitated-a-transaction-between-briggs-engineering-testing-and-phenna-group/" TargetMode="External"/><Relationship Id="rId12" Type="http://schemas.openxmlformats.org/officeDocument/2006/relationships/hyperlink" Target="https://www.benchmarkintl.com/insights/completed-transactions/benchmark-international-successfully-facilitated-the-transaction-between-telmark-sales-solutions-inc-and-market-performance-group/" TargetMode="External"/><Relationship Id="rId13" Type="http://schemas.openxmlformats.org/officeDocument/2006/relationships/image" Target="../media/image-10-7.png"/><Relationship Id="rId14" Type="http://schemas.openxmlformats.org/officeDocument/2006/relationships/image" Target="../media/image-10-8.png"/><Relationship Id="rId15" Type="http://schemas.openxmlformats.org/officeDocument/2006/relationships/hyperlink" Target="https://www.benchmarkintl.com/insights/completed-transactions/benchmark-international-successfully-facilitated-the-transaction-between-martiancraft-llc-and-walnut-capital-partners/" TargetMode="External"/><Relationship Id="rId16" Type="http://schemas.openxmlformats.org/officeDocument/2006/relationships/image" Target="../media/image-10-9.png"/><Relationship Id="rId17" Type="http://schemas.openxmlformats.org/officeDocument/2006/relationships/image" Target="../media/image-10-10.png"/><Relationship Id="rId18" Type="http://schemas.openxmlformats.org/officeDocument/2006/relationships/hyperlink" Target="https://www.benchmarkintl.com/insights/completed-transactions/benchmark-international-successfully-facilitated-a-transaction-between-snailworks-llc-and-beacon-software/" TargetMode="External"/><Relationship Id="rId19" Type="http://schemas.openxmlformats.org/officeDocument/2006/relationships/image" Target="../media/image-10-11.png"/><Relationship Id="rId20" Type="http://schemas.openxmlformats.org/officeDocument/2006/relationships/image" Target="../media/image-10-12.png"/><Relationship Id="rId21" Type="http://schemas.openxmlformats.org/officeDocument/2006/relationships/hyperlink" Target="https://www.benchmarkintl.com/insights/completed-transactions/benchmark-international-successfully-facilitated-the-transaction-between-total-sales-marketing-inc-and-retail-rex-capital/" TargetMode="External"/><Relationship Id="rId22" Type="http://schemas.openxmlformats.org/officeDocument/2006/relationships/image" Target="../media/image-10-13.png"/><Relationship Id="rId23" Type="http://schemas.openxmlformats.org/officeDocument/2006/relationships/image" Target="../media/image-10-14.png"/><Relationship Id="rId24" Type="http://schemas.openxmlformats.org/officeDocument/2006/relationships/hyperlink" Target="https://www.benchmarkintl.com/insights/completed-transactions/benchmark-international-successfully-facilitated-the-transaction-between-sjb-group-llc-and-surveying-and-mapping-llc/" TargetMode="External"/><Relationship Id="rId25" Type="http://schemas.openxmlformats.org/officeDocument/2006/relationships/hyperlink" Target="https://www.benchmarkintl.com/insights/completed-transactions/benchmark-international-successfully-facilitated-the-transaction-between-engineered-building-systems-and-rtm-engineering-consultants/" TargetMode="External"/><Relationship Id="rId26" Type="http://schemas.openxmlformats.org/officeDocument/2006/relationships/hyperlink" Target="https://www.benchmarkintl.com/insights/completed-transactions/benchmark-international-facilitates-the-sale-of-altair-associates-inc-to-centri-business-consulting/" TargetMode="External"/><Relationship Id="rId27" Type="http://schemas.openxmlformats.org/officeDocument/2006/relationships/hyperlink" Target="https://www.benchmarkintl.com/insights/completed-transactions/benchmark-international-successfully-facilitated-the-transaction-of-mokavia-aerospace-and-hitek-inc/" TargetMode="External"/><Relationship Id="rId28" Type="http://schemas.openxmlformats.org/officeDocument/2006/relationships/image" Target="../media/image-10-15.png"/><Relationship Id="rId29" Type="http://schemas.openxmlformats.org/officeDocument/2006/relationships/hyperlink" Target="https://jp-hardin.github.io/about/mid-market-practice/insights/business-services-industry-report-q4-2026.html" TargetMode="External"/><Relationship Id="rId30" Type="http://schemas.openxmlformats.org/officeDocument/2006/relationships/slideLayout" Target="../slideLayouts/slideLayout1.xml"/><Relationship Id="rId3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hyperlink" Target="https://www.acg.org/news-trends/news/gf-data-reports-show-steady-middle-market-deal-flow-amid-more-selective" TargetMode="External"/><Relationship Id="rId4" Type="http://schemas.openxmlformats.org/officeDocument/2006/relationships/hyperlink" Target="https://www.ibba.org/wp-content/uploads/2026/08/mp-highlights-q2-2026.pdf" TargetMode="External"/><Relationship Id="rId5" Type="http://schemas.openxmlformats.org/officeDocument/2006/relationships/hyperlink" Target="https://stockanalysis.com/stocks/ctas/statistics/" TargetMode="External"/><Relationship Id="rId6" Type="http://schemas.openxmlformats.org/officeDocument/2006/relationships/hyperlink" Target="https://stockanalysis.com/stocks/apg/statistics/" TargetMode="External"/><Relationship Id="rId7" Type="http://schemas.openxmlformats.org/officeDocument/2006/relationships/hyperlink" Target="https://stockanalysis.com/stocks/uls/statistics/" TargetMode="External"/><Relationship Id="rId8" Type="http://schemas.openxmlformats.org/officeDocument/2006/relationships/hyperlink" Target="https://stockanalysis.com/stocks/rol/statistics/" TargetMode="External"/><Relationship Id="rId9" Type="http://schemas.openxmlformats.org/officeDocument/2006/relationships/hyperlink" Target="https://stockanalysis.com/quote/swx/SGSN/statistics/" TargetMode="External"/><Relationship Id="rId10" Type="http://schemas.openxmlformats.org/officeDocument/2006/relationships/hyperlink" Target="https://stockanalysis.com/stocks/fsv/statistics/" TargetMode="External"/><Relationship Id="rId11" Type="http://schemas.openxmlformats.org/officeDocument/2006/relationships/hyperlink" Target="https://stockanalysis.com/quote/lon/ITRK/statistics/" TargetMode="External"/><Relationship Id="rId12" Type="http://schemas.openxmlformats.org/officeDocument/2006/relationships/hyperlink" Target="https://stockanalysis.com/stocks/mg/statistics/" TargetMode="External"/><Relationship Id="rId13" Type="http://schemas.openxmlformats.org/officeDocument/2006/relationships/hyperlink" Target="https://stockanalysis.com/quote/epa/BVI/statistics/" TargetMode="External"/><Relationship Id="rId14" Type="http://schemas.openxmlformats.org/officeDocument/2006/relationships/hyperlink" Target="https://stockanalysis.com/stocks/abm/statistics/" TargetMode="External"/><Relationship Id="rId15" Type="http://schemas.openxmlformats.org/officeDocument/2006/relationships/hyperlink" Target="https://stockanalysis.com/stocks/bv/statistics/" TargetMode="External"/><Relationship Id="rId16" Type="http://schemas.openxmlformats.org/officeDocument/2006/relationships/hyperlink" Target="https://stockanalysis.com/quote/epa/ERF/statistics/" TargetMode="External"/><Relationship Id="rId17" Type="http://schemas.openxmlformats.org/officeDocument/2006/relationships/hyperlink" Target="https://stockanalysis.com/stocks/stgw/statistics/" TargetMode="External"/><Relationship Id="rId18" Type="http://schemas.openxmlformats.org/officeDocument/2006/relationships/hyperlink" Target="https://stockanalysis.com/quote/lon/FOUR/statistics/" TargetMode="External"/><Relationship Id="rId19" Type="http://schemas.openxmlformats.org/officeDocument/2006/relationships/hyperlink" Target="https://stockanalysis.com/stocks/dakt/statistics/" TargetMode="External"/><Relationship Id="rId20" Type="http://schemas.openxmlformats.org/officeDocument/2006/relationships/hyperlink" Target="https://stockanalysis.com/stocks/acn/statistics/" TargetMode="External"/><Relationship Id="rId21" Type="http://schemas.openxmlformats.org/officeDocument/2006/relationships/hyperlink" Target="https://stockanalysis.com/stocks/omc/statistics/" TargetMode="External"/><Relationship Id="rId22" Type="http://schemas.openxmlformats.org/officeDocument/2006/relationships/hyperlink" Target="https://stockanalysis.com/stocks/ctsh/statistics/" TargetMode="External"/><Relationship Id="rId23" Type="http://schemas.openxmlformats.org/officeDocument/2006/relationships/hyperlink" Target="https://stockanalysis.com/stocks/adv/statistics/" TargetMode="External"/><Relationship Id="rId24" Type="http://schemas.openxmlformats.org/officeDocument/2006/relationships/hyperlink" Target="https://stockanalysis.com/quote/tyo/4324/statistics/" TargetMode="External"/><Relationship Id="rId25" Type="http://schemas.openxmlformats.org/officeDocument/2006/relationships/hyperlink" Target="https://stockanalysis.com/quote/epa/PUB/statistics/" TargetMode="External"/><Relationship Id="rId26" Type="http://schemas.openxmlformats.org/officeDocument/2006/relationships/hyperlink" Target="https://stockanalysis.com/stocks/wpp/statistics/" TargetMode="External"/><Relationship Id="rId27" Type="http://schemas.openxmlformats.org/officeDocument/2006/relationships/hyperlink" Target="https://stockanalysis.com/stocks/bwmn/statistics/" TargetMode="External"/><Relationship Id="rId28" Type="http://schemas.openxmlformats.org/officeDocument/2006/relationships/hyperlink" Target="https://stockanalysis.com/stocks/j/statistics/" TargetMode="External"/><Relationship Id="rId29" Type="http://schemas.openxmlformats.org/officeDocument/2006/relationships/hyperlink" Target="https://stockanalysis.com/stocks/wldn/statistics/" TargetMode="External"/><Relationship Id="rId30" Type="http://schemas.openxmlformats.org/officeDocument/2006/relationships/hyperlink" Target="https://stockanalysis.com/stocks/ttek/statistics/" TargetMode="External"/><Relationship Id="rId31" Type="http://schemas.openxmlformats.org/officeDocument/2006/relationships/hyperlink" Target="https://stockanalysis.com/stocks/tic/statistics/" TargetMode="External"/><Relationship Id="rId32" Type="http://schemas.openxmlformats.org/officeDocument/2006/relationships/hyperlink" Target="https://stockanalysis.com/stocks/stn/statistics/" TargetMode="External"/><Relationship Id="rId33" Type="http://schemas.openxmlformats.org/officeDocument/2006/relationships/hyperlink" Target="https://stockanalysis.com/stocks/acm/statistics/" TargetMode="External"/><Relationship Id="rId34" Type="http://schemas.openxmlformats.org/officeDocument/2006/relationships/hyperlink" Target="https://stockanalysis.com/quote/tsx/WSP/statistics/" TargetMode="External"/><Relationship Id="rId35" Type="http://schemas.openxmlformats.org/officeDocument/2006/relationships/hyperlink" Target="https://stockanalysis.com/stocks/ryan/statistics/" TargetMode="External"/><Relationship Id="rId36" Type="http://schemas.openxmlformats.org/officeDocument/2006/relationships/hyperlink" Target="https://stockanalysis.com/stocks/mmc/statistics/" TargetMode="External"/><Relationship Id="rId37" Type="http://schemas.openxmlformats.org/officeDocument/2006/relationships/hyperlink" Target="https://stockanalysis.com/stocks/aon/statistics/" TargetMode="External"/><Relationship Id="rId38" Type="http://schemas.openxmlformats.org/officeDocument/2006/relationships/hyperlink" Target="https://stockanalysis.com/stocks/wtw/statistics/" TargetMode="External"/><Relationship Id="rId39" Type="http://schemas.openxmlformats.org/officeDocument/2006/relationships/hyperlink" Target="https://stockanalysis.com/stocks/crd.a/statistics/" TargetMode="External"/><Relationship Id="rId40" Type="http://schemas.openxmlformats.org/officeDocument/2006/relationships/hyperlink" Target="https://stockanalysis.com/stocks/bro/statistics/" TargetMode="External"/><Relationship Id="rId41" Type="http://schemas.openxmlformats.org/officeDocument/2006/relationships/hyperlink" Target="https://stockanalysis.com/stocks/ajg/statistics/" TargetMode="External"/><Relationship Id="rId42" Type="http://schemas.openxmlformats.org/officeDocument/2006/relationships/hyperlink" Target="https://stockanalysis.com/stocks/bwin/statistics/" TargetMode="External"/><Relationship Id="rId43" Type="http://schemas.openxmlformats.org/officeDocument/2006/relationships/hyperlink" Target="https://stockanalysis.com/stocks/kfrc/statistics/" TargetMode="External"/><Relationship Id="rId44" Type="http://schemas.openxmlformats.org/officeDocument/2006/relationships/hyperlink" Target="https://stockanalysis.com/stocks/tnet/statistics/" TargetMode="External"/><Relationship Id="rId45" Type="http://schemas.openxmlformats.org/officeDocument/2006/relationships/hyperlink" Target="https://stockanalysis.com/stocks/bbsi/statistics/" TargetMode="External"/><Relationship Id="rId46" Type="http://schemas.openxmlformats.org/officeDocument/2006/relationships/hyperlink" Target="https://stockanalysis.com/quote/ams/RAND/statistics/" TargetMode="External"/><Relationship Id="rId47" Type="http://schemas.openxmlformats.org/officeDocument/2006/relationships/hyperlink" Target="https://stockanalysis.com/stocks/man/statistics/" TargetMode="External"/><Relationship Id="rId48" Type="http://schemas.openxmlformats.org/officeDocument/2006/relationships/hyperlink" Target="https://stockanalysis.com/stocks/kfy/statistics/" TargetMode="External"/><Relationship Id="rId49" Type="http://schemas.openxmlformats.org/officeDocument/2006/relationships/hyperlink" Target="https://stockanalysis.com/stocks/amn/statistics/" TargetMode="External"/><Relationship Id="rId50" Type="http://schemas.openxmlformats.org/officeDocument/2006/relationships/hyperlink" Target="https://stockanalysis.com/stocks/tbi/statistics/" TargetMode="External"/><Relationship Id="rId51" Type="http://schemas.openxmlformats.org/officeDocument/2006/relationships/hyperlink" Target="https://stockanalysis.com/stocks/rhi/statistics/" TargetMode="External"/><Relationship Id="rId52" Type="http://schemas.openxmlformats.org/officeDocument/2006/relationships/hyperlink" Target="https://stockanalysis.com/stocks/nsp/statistics/" TargetMode="External"/><Relationship Id="rId53" Type="http://schemas.openxmlformats.org/officeDocument/2006/relationships/image" Target="../media/image-11-1.png"/><Relationship Id="rId54" Type="http://schemas.openxmlformats.org/officeDocument/2006/relationships/hyperlink" Target="https://stockanalysis.com/" TargetMode="External"/><Relationship Id="rId55" Type="http://schemas.openxmlformats.org/officeDocument/2006/relationships/slideLayout" Target="../slideLayouts/slideLayout1.xml"/><Relationship Id="rId5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image" Target="../media/image-12-1.png"/><Relationship Id="rId6" Type="http://schemas.openxmlformats.org/officeDocument/2006/relationships/hyperlink" Target="https://stockanalysis.com/" TargetMode="External"/><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13-1.png"/><Relationship Id="rId3" Type="http://schemas.openxmlformats.org/officeDocument/2006/relationships/hyperlink" Target="https://www.sec.gov/Archives/edgar/data/0001796209/000162828026050806/apg-20260630xexx991.htm" TargetMode="External"/><Relationship Id="rId4" Type="http://schemas.openxmlformats.org/officeDocument/2006/relationships/hyperlink" Target="https://www.sec.gov/Archives/edgar/data/0000771497/000119312526384364/abm-ex99_1.htm" TargetMode="External"/><Relationship Id="rId5" Type="http://schemas.openxmlformats.org/officeDocument/2006/relationships/hyperlink" Target="https://www.ul.com/news/ul-solutions-inc-reports-strong-second-quarter-2026-results" TargetMode="External"/><Relationship Id="rId6" Type="http://schemas.openxmlformats.org/officeDocument/2006/relationships/hyperlink" Target="https://www.sec.gov/Archives/edgar/data/0001637810/000117184326004850/exh_991.htm" TargetMode="External"/><Relationship Id="rId7" Type="http://schemas.openxmlformats.org/officeDocument/2006/relationships/image" Target="../media/image-13-2.png"/><Relationship Id="rId8" Type="http://schemas.openxmlformats.org/officeDocument/2006/relationships/hyperlink" Target="https://www.sec.gov/Archives/edgar/data/0001131383/000117184326005457/exh_991.htm" TargetMode="External"/><Relationship Id="rId9" Type="http://schemas.openxmlformats.org/officeDocument/2006/relationships/hyperlink" Target="https://willdangroupinc.gcs-web.com/node/16626" TargetMode="External"/><Relationship Id="rId10" Type="http://schemas.openxmlformats.org/officeDocument/2006/relationships/hyperlink" Target="https://investors.bowman.com/news-releases/news-release-details/bowman-reports-strong-results-second-quarter-2026" TargetMode="External"/><Relationship Id="rId11" Type="http://schemas.openxmlformats.org/officeDocument/2006/relationships/hyperlink" Target="https://www.businesswire.com/news/home/20260729563017/en/" TargetMode="External"/><Relationship Id="rId12" Type="http://schemas.openxmlformats.org/officeDocument/2006/relationships/image" Target="../media/image-13-3.png"/><Relationship Id="rId13" Type="http://schemas.openxmlformats.org/officeDocument/2006/relationships/hyperlink" Target="https://www.sec.gov/Archives/edgar/data/0000871763/000119312526305399/man-ex99_1.htm" TargetMode="External"/><Relationship Id="rId14" Type="http://schemas.openxmlformats.org/officeDocument/2006/relationships/hyperlink" Target="https://s27.q4cdn.com/587398032/files/doc_financials/2026/q2/Q2-2026-Press-Release-Prepred-Remarks.pdf" TargetMode="External"/><Relationship Id="rId15" Type="http://schemas.openxmlformats.org/officeDocument/2006/relationships/hyperlink" Target="https://s21.q4cdn.com/203226956/files/doc_financials/2026/q2/ADV-2Q-26-Earnings-Press-Release.pdf" TargetMode="External"/><Relationship Id="rId16" Type="http://schemas.openxmlformats.org/officeDocument/2006/relationships/hyperlink" Target="https://finviz.com/news/372015/robert-half-reports-second-quarter-financial-results" TargetMode="External"/><Relationship Id="rId17" Type="http://schemas.openxmlformats.org/officeDocument/2006/relationships/image" Target="../media/image-13-4.png"/><Relationship Id="rId18" Type="http://schemas.openxmlformats.org/officeDocument/2006/relationships/slideLayout" Target="../slideLayouts/slideLayout1.xml"/><Relationship Id="rId1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fred.stlouisfed.org/series/A191RL1Q225SBEA" TargetMode="External"/><Relationship Id="rId2" Type="http://schemas.openxmlformats.org/officeDocument/2006/relationships/chart" Target="../charts/chart9.xml"/><Relationship Id="rId3" Type="http://schemas.openxmlformats.org/officeDocument/2006/relationships/hyperlink" Target="https://fred.stlouisfed.org/series/UNRATE" TargetMode="External"/><Relationship Id="rId4" Type="http://schemas.openxmlformats.org/officeDocument/2006/relationships/chart" Target="../charts/chart10.xml"/><Relationship Id="rId5" Type="http://schemas.openxmlformats.org/officeDocument/2006/relationships/hyperlink" Target="https://fred.stlouisfed.org/series/PAYEMS" TargetMode="External"/><Relationship Id="rId6" Type="http://schemas.openxmlformats.org/officeDocument/2006/relationships/chart" Target="../charts/chart11.xml"/><Relationship Id="rId7" Type="http://schemas.openxmlformats.org/officeDocument/2006/relationships/hyperlink" Target="https://fred.stlouisfed.org/series/GS10" TargetMode="External"/><Relationship Id="rId8" Type="http://schemas.openxmlformats.org/officeDocument/2006/relationships/hyperlink" Target="https://fred.stlouisfed.org/series/FEDFUNDS" TargetMode="External"/><Relationship Id="rId9" Type="http://schemas.openxmlformats.org/officeDocument/2006/relationships/chart" Target="../charts/chart12.xml"/><Relationship Id="rId10" Type="http://schemas.openxmlformats.org/officeDocument/2006/relationships/hyperlink" Target="https://fred.stlouisfed.org/series/TEMPHELPS" TargetMode="External"/><Relationship Id="rId11" Type="http://schemas.openxmlformats.org/officeDocument/2006/relationships/chart" Target="../charts/chart13.xml"/><Relationship Id="rId12" Type="http://schemas.openxmlformats.org/officeDocument/2006/relationships/hyperlink" Target="https://fred.stlouisfed.org/series/CES6054130001" TargetMode="External"/><Relationship Id="rId13" Type="http://schemas.openxmlformats.org/officeDocument/2006/relationships/hyperlink" Target="https://fred.stlouisfed.org/series/CES6056170001" TargetMode="External"/><Relationship Id="rId14" Type="http://schemas.openxmlformats.org/officeDocument/2006/relationships/chart" Target="../charts/chart14.xml"/><Relationship Id="rId15" Type="http://schemas.openxmlformats.org/officeDocument/2006/relationships/image" Target="../media/image-14-1.png"/><Relationship Id="rId16" Type="http://schemas.openxmlformats.org/officeDocument/2006/relationships/slideLayout" Target="../slideLayouts/slideLayout1.xml"/><Relationship Id="rId1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hyperlink" Target="https://jp-hardin.github.io/about/mid-market-practice/insights/business-services-industry-report-q4-2026.html" TargetMode="External"/><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tel:8137716675" TargetMode="External"/><Relationship Id="rId3" Type="http://schemas.openxmlformats.org/officeDocument/2006/relationships/hyperlink" Target="mailto:j.hardin@benchmarkintl.com" TargetMode="External"/><Relationship Id="rId4" Type="http://schemas.openxmlformats.org/officeDocument/2006/relationships/hyperlink" Target="mailto:j.hardin@benchmarkintl.com?subject=Business%20Services%20Q4%202026%20brief" TargetMode="External"/><Relationship Id="rId5" Type="http://schemas.openxmlformats.org/officeDocument/2006/relationships/hyperlink" Target="https://jp-hardin.github.io/about/mid-market-practice/insights/business-services-industry-report-q4-2026.html" TargetMode="External"/><Relationship Id="rId6" Type="http://schemas.openxmlformats.org/officeDocument/2006/relationships/image" Target="../media/image-17-2.png"/><Relationship Id="rId7" Type="http://schemas.openxmlformats.org/officeDocument/2006/relationships/image" Target="../media/image-17-3.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hyperlink" Target="tel:8137716675" TargetMode="External"/><Relationship Id="rId5" Type="http://schemas.openxmlformats.org/officeDocument/2006/relationships/hyperlink" Target="mailto:j.hardin@benchmarkintl.com" TargetMode="External"/><Relationship Id="rId6" Type="http://schemas.openxmlformats.org/officeDocument/2006/relationships/image" Target="../media/image-18-4.png"/><Relationship Id="rId7" Type="http://schemas.openxmlformats.org/officeDocument/2006/relationships/image" Target="../media/image-18-5.png"/><Relationship Id="rId8" Type="http://schemas.openxmlformats.org/officeDocument/2006/relationships/image" Target="../media/image-18-6.png"/><Relationship Id="rId9" Type="http://schemas.openxmlformats.org/officeDocument/2006/relationships/image" Target="../media/image-18-7.png"/><Relationship Id="rId10" Type="http://schemas.openxmlformats.org/officeDocument/2006/relationships/image" Target="../media/image-18-8.png"/><Relationship Id="rId11" Type="http://schemas.openxmlformats.org/officeDocument/2006/relationships/image" Target="../media/image-18-9.png"/><Relationship Id="rId12" Type="http://schemas.openxmlformats.org/officeDocument/2006/relationships/image" Target="../media/image-18-10.png"/><Relationship Id="rId13" Type="http://schemas.openxmlformats.org/officeDocument/2006/relationships/image" Target="../media/image-18-11.png"/><Relationship Id="rId14" Type="http://schemas.openxmlformats.org/officeDocument/2006/relationships/image" Target="../media/image-18-12.png"/><Relationship Id="rId15" Type="http://schemas.openxmlformats.org/officeDocument/2006/relationships/image" Target="../media/image-18-13.png"/><Relationship Id="rId16" Type="http://schemas.openxmlformats.org/officeDocument/2006/relationships/image" Target="../media/image-18-14.png"/><Relationship Id="rId17" Type="http://schemas.openxmlformats.org/officeDocument/2006/relationships/image" Target="../media/image-18-15.png"/><Relationship Id="rId18" Type="http://schemas.openxmlformats.org/officeDocument/2006/relationships/image" Target="../media/image-18-16.png"/><Relationship Id="rId19" Type="http://schemas.openxmlformats.org/officeDocument/2006/relationships/image" Target="../media/image-18-17.png"/><Relationship Id="rId20" Type="http://schemas.openxmlformats.org/officeDocument/2006/relationships/slideLayout" Target="../slideLayouts/slideLayout1.xml"/><Relationship Id="rId21" Type="http://schemas.openxmlformats.org/officeDocument/2006/relationships/notesSlide" Target="../notesSlides/notesSlide18.xml"/><Relationship Id="rId22" Type="http://schemas.openxmlformats.org/officeDocument/2006/relationships/hyperlink" Target="mailto:jhoutz@benchmarkintl.com" TargetMode="External"/><Relationship Id="rId23" Type="http://schemas.openxmlformats.org/officeDocument/2006/relationships/hyperlink" Target="tel:8138982372" TargetMode="External"/><Relationship Id="rId24" Type="http://schemas.openxmlformats.org/officeDocument/2006/relationships/hyperlink" Target="mailto:azykov@benchmarkintl.com" TargetMode="External"/><Relationship Id="rId25" Type="http://schemas.openxmlformats.org/officeDocument/2006/relationships/hyperlink" Target="tel:8138982397" TargetMode="External"/><Relationship Id="rId26" Type="http://schemas.openxmlformats.org/officeDocument/2006/relationships/hyperlink" Target="mailto:hess@benchmarkintl.com" TargetMode="External"/><Relationship Id="rId27" Type="http://schemas.openxmlformats.org/officeDocument/2006/relationships/hyperlink" Target="tel:8138982357" TargetMode="External"/><Relationship Id="rId28" Type="http://schemas.openxmlformats.org/officeDocument/2006/relationships/hyperlink" Target="mailto:garten@benchmarkintl.com" TargetMode="External"/><Relationship Id="rId29" Type="http://schemas.openxmlformats.org/officeDocument/2006/relationships/hyperlink" Target="tel:8133844972" TargetMode="External"/><Relationship Id="rId30" Type="http://schemas.openxmlformats.org/officeDocument/2006/relationships/hyperlink" Target="mailto:mwynn@benchmarkintl.com" TargetMode="External"/><Relationship Id="rId31" Type="http://schemas.openxmlformats.org/officeDocument/2006/relationships/hyperlink" Target="mailto:jlisiak@benchmarkintl.com" TargetMode="External"/><Relationship Id="rId32" Type="http://schemas.openxmlformats.org/officeDocument/2006/relationships/hyperlink" Target="tel:8133876046" TargetMode="External"/><Relationship Id="rId33" Type="http://schemas.openxmlformats.org/officeDocument/2006/relationships/hyperlink" Target="mailto:abarr@benchmarkintl.com" TargetMode="External"/><Relationship Id="rId34" Type="http://schemas.openxmlformats.org/officeDocument/2006/relationships/hyperlink" Target="tel:8138982398" TargetMode="External"/><Relationship Id="rId35" Type="http://schemas.openxmlformats.org/officeDocument/2006/relationships/hyperlink" Target="mailto:jwarren@benchmarkintl.com" TargetMode="External"/><Relationship Id="rId36" Type="http://schemas.openxmlformats.org/officeDocument/2006/relationships/hyperlink" Target="tel:8137716318" TargetMode="External"/><Relationship Id="rId37" Type="http://schemas.openxmlformats.org/officeDocument/2006/relationships/hyperlink" Target="mailto:lernst@benchmarkintl.com" TargetMode="Externa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hyperlink" Target="https://www.benchmarkintl.com/about/our-success/" TargetMode="External"/><Relationship Id="rId14" Type="http://schemas.openxmlformats.org/officeDocument/2006/relationships/slideLayout" Target="../slideLayouts/slideLayout1.xml"/><Relationship Id="rId1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benchmarkintl.com/" TargetMode="External"/><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pyebarkerfs.com/news/pye-barker-fire-safety-celebrates-mid-year-momentum-and-3-sdm-100-ranking/" TargetMode="External"/><Relationship Id="rId2" Type="http://schemas.openxmlformats.org/officeDocument/2006/relationships/hyperlink" Target="https://www.sec.gov/Archives/edgar/data/0001796209/000162828026050806/apg-20260630xexx991.htm" TargetMode="External"/><Relationship Id="rId3" Type="http://schemas.openxmlformats.org/officeDocument/2006/relationships/hyperlink" Target="https://www.federalreserve.gov/monetarypolicy/files/monetary20260916a1.pdf" TargetMode="External"/><Relationship Id="rId4" Type="http://schemas.openxmlformats.org/officeDocument/2006/relationships/hyperlink" Target="https://fred.stlouisfed.org/series/GS10" TargetMode="External"/><Relationship Id="rId5" Type="http://schemas.openxmlformats.org/officeDocument/2006/relationships/hyperlink" Target="https://www.acg.org/news-trends/news/gf-data-reports-show-steady-middle-market-deal-flow-amid-more-selective" TargetMode="External"/><Relationship Id="rId6" Type="http://schemas.openxmlformats.org/officeDocument/2006/relationships/hyperlink" Target="https://engineeringinc.acec.org/blog/engineering-firms-remain-resilient-amid-growing-economic-uncertainty-new-acec-research-institute-study-finds/" TargetMode="External"/><Relationship Id="rId7" Type="http://schemas.openxmlformats.org/officeDocument/2006/relationships/hyperlink" Target="https://investors.bowman.com/news-releases/news-release-details/bowman-consulting-group-enters-definitive-agreement-be-acquired" TargetMode="External"/><Relationship Id="rId8" Type="http://schemas.openxmlformats.org/officeDocument/2006/relationships/hyperlink" Target="https://www.insurancejournal.com/news/national/2026/08/20/882240.htm" TargetMode="External"/><Relationship Id="rId9" Type="http://schemas.openxmlformats.org/officeDocument/2006/relationships/hyperlink" Target="https://www.insurancejournal.com/magazines/mag-business-moves/2026/09/21/885520.htm" TargetMode="External"/><Relationship Id="rId10" Type="http://schemas.openxmlformats.org/officeDocument/2006/relationships/hyperlink" Target="https://www.staffingindustry.com/editorial/it-staffing-report/it-staffing-revenue-up-5-at-the-median-in-pulse-survey" TargetMode="External"/><Relationship Id="rId11" Type="http://schemas.openxmlformats.org/officeDocument/2006/relationships/hyperlink" Target="https://fred.stlouisfed.org/series/TEMPHELPS" TargetMode="External"/><Relationship Id="rId12" Type="http://schemas.openxmlformats.org/officeDocument/2006/relationships/hyperlink" Target="https://www.mediapost.com/publications/article/417751/ad-outlook-composite-improves-on-mw-revisions.html" TargetMode="External"/><Relationship Id="rId13" Type="http://schemas.openxmlformats.org/officeDocument/2006/relationships/hyperlink" Target="https://finance.yahoo.com/sectors/technology/articles/ai-remains-top-priority-cmos-102100803.html" TargetMode="External"/><Relationship Id="rId14" Type="http://schemas.openxmlformats.org/officeDocument/2006/relationships/hyperlink" Target="https://www.ibba.org/wp-content/uploads/2026/08/mp-highlights-q2-2026.pdf" TargetMode="External"/><Relationship Id="rId15" Type="http://schemas.openxmlformats.org/officeDocument/2006/relationships/hyperlink" Target="https://www.webull.com/news/15462423712777216" TargetMode="External"/><Relationship Id="rId16" Type="http://schemas.openxmlformats.org/officeDocument/2006/relationships/hyperlink" Target="https://www.sdmmag.com/articles/105352-sdm-100-top-100-security-dealers-of-2026" TargetMode="External"/><Relationship Id="rId17" Type="http://schemas.openxmlformats.org/officeDocument/2006/relationships/hyperlink" Target="https://www.sgs.com/en-ca/news/2026/07/sgs-2026-half-year-results" TargetMode="External"/><Relationship Id="rId18" Type="http://schemas.openxmlformats.org/officeDocument/2006/relationships/hyperlink" Target="https://www.iab.com/insights/internet-advertising-revenue-report-full-year-2025/" TargetMode="External"/><Relationship Id="rId19" Type="http://schemas.openxmlformats.org/officeDocument/2006/relationships/hyperlink" Target="https://asicentral.com/press-releases/north-america-promo-industry-grows-4-percent-in-2025/" TargetMode="External"/><Relationship Id="rId20" Type="http://schemas.openxmlformats.org/officeDocument/2006/relationships/hyperlink" Target="https://enr.com/toplists/2026-top-500-design-firms-preview" TargetMode="External"/><Relationship Id="rId21" Type="http://schemas.openxmlformats.org/officeDocument/2006/relationships/hyperlink" Target="https://go.psmj.com/outlook-2026-aec-ma-trends-report" TargetMode="External"/><Relationship Id="rId22" Type="http://schemas.openxmlformats.org/officeDocument/2006/relationships/hyperlink" Target="https://riskandinsurance.com/mga-premiums-hit-108-7-billion-in-2025-as-capacity-scrutiny-tightens/" TargetMode="External"/><Relationship Id="rId23" Type="http://schemas.openxmlformats.org/officeDocument/2006/relationships/hyperlink" Target="https://www.wealthmanagement.com/ria-news/fidelity-m-a-transaction-count-fell-in-1h-but-total-asset-haul-rose-88-" TargetMode="External"/><Relationship Id="rId24" Type="http://schemas.openxmlformats.org/officeDocument/2006/relationships/hyperlink" Target="https://americanstaffing.net/posts/2026/03/30/employment-and-sales-rebound-in-q4/" TargetMode="External"/><Relationship Id="rId25" Type="http://schemas.openxmlformats.org/officeDocument/2006/relationships/hyperlink" Target="https://www.staffingindustry.com/editorial/industrial-staffing-report/industrial-staffing-forecast-revised-to-7-growth-from-1-" TargetMode="External"/><Relationship Id="rId26" Type="http://schemas.openxmlformats.org/officeDocument/2006/relationships/hyperlink" Target="https://jp-hardin.github.io/about/mid-market-practice/insights/business-services-industry-report-q4-2026.html" TargetMode="External"/><Relationship Id="rId27" Type="http://schemas.openxmlformats.org/officeDocument/2006/relationships/hyperlink" Target="https://engineeringinc.acec.org/blog/engineering-firms-remain-resilient-amid-growing-economic-uncertainty-new-acec-research-institute-study-finds/" TargetMode="External"/><Relationship Id="rId28" Type="http://schemas.openxmlformats.org/officeDocument/2006/relationships/hyperlink" Target="https://www.staffingindustry.com/editorial/it-staffing-report/it-staffing-revenue-up-5-at-the-median-in-pulse-survey" TargetMode="External"/><Relationship Id="rId29" Type="http://schemas.openxmlformats.org/officeDocument/2006/relationships/hyperlink" Target="https://www.insurancejournal.com/news/national/2026/08/20/882240.htm" TargetMode="External"/><Relationship Id="rId30" Type="http://schemas.openxmlformats.org/officeDocument/2006/relationships/hyperlink" Target="https://pitchbook.brightspotcdn.com/40/42/bbeb88094080abaea3d7c87530b8/q2-2026-us-pe-breakdown.pdf" TargetMode="External"/><Relationship Id="rId31" Type="http://schemas.openxmlformats.org/officeDocument/2006/relationships/hyperlink" Target="https://www.investing.com/news/stock-market-news/global-ma-deal-rush-fades-in-third-quarter-as-rising-borrowing-costs-bite-4928161" TargetMode="External"/><Relationship Id="rId32" Type="http://schemas.openxmlformats.org/officeDocument/2006/relationships/hyperlink" Target="https://www.acg.org/news-trends/news/gf-data-reports-show-steady-middle-market-deal-flow-amid-more-selective" TargetMode="External"/><Relationship Id="rId33" Type="http://schemas.openxmlformats.org/officeDocument/2006/relationships/hyperlink" Target="https://www.federalreserve.gov/monetarypolicy/files/monetary20260916a1.pdf" TargetMode="External"/><Relationship Id="rId34" Type="http://schemas.openxmlformats.org/officeDocument/2006/relationships/hyperlink" Target="https://www.webull.com/news/15462423712777216" TargetMode="External"/><Relationship Id="rId35" Type="http://schemas.openxmlformats.org/officeDocument/2006/relationships/hyperlink" Target="https://www.ibba.org/wp-content/uploads/2026/08/mp-highlights-q2-2026.pdf" TargetMode="External"/><Relationship Id="rId36" Type="http://schemas.openxmlformats.org/officeDocument/2006/relationships/hyperlink" Target="https://pyebarkerfs.com/news/pye-barker-fire-safety-celebrates-mid-year-momentum-and-3-sdm-100-ranking/" TargetMode="External"/><Relationship Id="rId37" Type="http://schemas.openxmlformats.org/officeDocument/2006/relationships/hyperlink" Target="https://www.securitysystemsnews.com/article/pye-barker-fire-safety-accelerates-growth-strategy-with-57-acquisitions-in-2025" TargetMode="External"/><Relationship Id="rId38" Type="http://schemas.openxmlformats.org/officeDocument/2006/relationships/hyperlink" Target="https://www.sec.gov/Archives/edgar/data/0001796209/000162828026050806/apg-20260630xexx991.htm" TargetMode="External"/><Relationship Id="rId39" Type="http://schemas.openxmlformats.org/officeDocument/2006/relationships/hyperlink" Target="https://www.businesswire.com/news/home/20251210396417/en/APi-Group-Announces-Acquisition-of-CertaSite-and-Provides-Full-Year-2025-Update" TargetMode="External"/><Relationship Id="rId40" Type="http://schemas.openxmlformats.org/officeDocument/2006/relationships/hyperlink" Target="https://www.sdmmag.com/articles/105352-sdm-100-top-100-security-dealers-of-2026" TargetMode="External"/><Relationship Id="rId41" Type="http://schemas.openxmlformats.org/officeDocument/2006/relationships/hyperlink" Target="https://stockanalysis.com/" TargetMode="External"/><Relationship Id="rId42" Type="http://schemas.openxmlformats.org/officeDocument/2006/relationships/hyperlink" Target="https://pyebarkerfs.com/news/pye-barker-fire-safety-acquires-union-alarmtronic-llc-continuing-security-alarm-service-expansion-in-the-northeast/" TargetMode="External"/><Relationship Id="rId43" Type="http://schemas.openxmlformats.org/officeDocument/2006/relationships/hyperlink" Target="https://pyebarkerfs.com/news/" TargetMode="External"/><Relationship Id="rId44" Type="http://schemas.openxmlformats.org/officeDocument/2006/relationships/hyperlink" Target="https://ausnewsroom.aus.com/news/allied-universal-advances-growth-strategy-with-recent-strategic-acquisitions-1" TargetMode="External"/><Relationship Id="rId45" Type="http://schemas.openxmlformats.org/officeDocument/2006/relationships/hyperlink" Target="https://www.privsource.com/acquisitions/deal/LXSEjg" TargetMode="External"/><Relationship Id="rId46" Type="http://schemas.openxmlformats.org/officeDocument/2006/relationships/hyperlink" Target="https://www.sec.gov/Archives/edgar/data/0000723254/000072325426000042/cintascorporation_arsprint.pdf" TargetMode="External"/><Relationship Id="rId47" Type="http://schemas.openxmlformats.org/officeDocument/2006/relationships/hyperlink" Target="https://pyebarkerfs.com/news/pye-barker-fire-safety-acquires-union-alarmtronic-llc-continuing-security-alarm-service-expansion-in-the-northeast/" TargetMode="External"/><Relationship Id="rId48" Type="http://schemas.openxmlformats.org/officeDocument/2006/relationships/hyperlink" Target="https://members.asicentral.com/news/industry-news/october-2026/zebra-marketing-inks-deal-to-acquire-east-beach-specialties/" TargetMode="External"/><Relationship Id="rId49" Type="http://schemas.openxmlformats.org/officeDocument/2006/relationships/hyperlink" Target="https://members.asicentral.com/news/industry-news/july-2026/industry-sales-grow-25-in-q2-as-business-pressures-persist/" TargetMode="External"/><Relationship Id="rId50" Type="http://schemas.openxmlformats.org/officeDocument/2006/relationships/hyperlink" Target="https://investors.bowman.com/news-releases/news-release-details/bowman-reports-strong-results-second-quarter-2026" TargetMode="External"/><Relationship Id="rId51" Type="http://schemas.openxmlformats.org/officeDocument/2006/relationships/hyperlink" Target="https://investors.bowman.com/news-releases/news-release-details/bowman-consulting-group-enters-definitive-agreement-be-acquired" TargetMode="External"/><Relationship Id="rId52" Type="http://schemas.openxmlformats.org/officeDocument/2006/relationships/hyperlink" Target="https://www.insurancebusinessmag.com/us/news/mergers-acquisitions/inszone-snaps-up-centuryold-tulsa-agency-in-august-deal-run-586995.aspx" TargetMode="External"/><Relationship Id="rId53" Type="http://schemas.openxmlformats.org/officeDocument/2006/relationships/hyperlink" Target="https://www.insurancejournal.com/magazines/mag-business-moves/2026/10/05/887584.htm" TargetMode="External"/><Relationship Id="rId54" Type="http://schemas.openxmlformats.org/officeDocument/2006/relationships/hyperlink" Target="https://www.staffingindustry.com/editorial/industrial-staffing-report/veriworks-entering-data-center-construction-staffing-with-laborworx-acquisition" TargetMode="External"/><Relationship Id="rId55" Type="http://schemas.openxmlformats.org/officeDocument/2006/relationships/hyperlink" Target="https://www.staffingindustry.com/editorial/industrial-staffing-report/industrial-staffing-forecast-revised-to-7-growth-from-1-" TargetMode="External"/><Relationship Id="rId56" Type="http://schemas.openxmlformats.org/officeDocument/2006/relationships/hyperlink" Target="https://ir.kornferry.com/news-events/press-releases/detail/724/korn-ferry-announces-definitive-agreement-to-acquire-ams" TargetMode="External"/><Relationship Id="rId57" Type="http://schemas.openxmlformats.org/officeDocument/2006/relationships/hyperlink" Target="https://jp-hardin.github.io/about/mid-market-practice/insights/business-services-industry-report-q4-2026.html" TargetMode="External"/><Relationship Id="rId58" Type="http://schemas.openxmlformats.org/officeDocument/2006/relationships/hyperlink" Target="https://www.benchmarkintl.com/about/our-success/" TargetMode="External"/><Relationship Id="rId59" Type="http://schemas.openxmlformats.org/officeDocument/2006/relationships/hyperlink" Target="https://jp-hardin.github.io/about/mid-market-practice/insights/business-services-industry-report-q4-2026.html" TargetMode="External"/><Relationship Id="rId60" Type="http://schemas.openxmlformats.org/officeDocument/2006/relationships/hyperlink" Target="https://www.acg.org/news-trends/news/gf-data-reports-show-steady-middle-market-deal-flow-amid-more-selective" TargetMode="External"/><Relationship Id="rId61" Type="http://schemas.openxmlformats.org/officeDocument/2006/relationships/hyperlink" Target="https://www.ibba.org/wp-content/uploads/2026/08/mp-highlights-q2-2026.pdf" TargetMode="External"/><Relationship Id="rId62" Type="http://schemas.openxmlformats.org/officeDocument/2006/relationships/hyperlink" Target="https://stockanalysis.com/" TargetMode="External"/><Relationship Id="rId63" Type="http://schemas.openxmlformats.org/officeDocument/2006/relationships/hyperlink" Target="https://stockanalysis.com/" TargetMode="External"/><Relationship Id="rId64" Type="http://schemas.openxmlformats.org/officeDocument/2006/relationships/hyperlink" Target="https://willdangroupinc.gcs-web.com/node/16626" TargetMode="External"/><Relationship Id="rId65" Type="http://schemas.openxmlformats.org/officeDocument/2006/relationships/hyperlink" Target="https://investors.bowman.com/news-releases/news-release-details/bowman-reports-strong-results-second-quarter-2026" TargetMode="External"/><Relationship Id="rId66" Type="http://schemas.openxmlformats.org/officeDocument/2006/relationships/hyperlink" Target="https://www.sec.gov/Archives/edgar/data/0001796209/000162828026050806/apg-20260630xexx991.htm" TargetMode="External"/><Relationship Id="rId67" Type="http://schemas.openxmlformats.org/officeDocument/2006/relationships/hyperlink" Target="https://investor.trueblue.com/news-events/press-releases/detail/471/trueblue-reports-second-quarter-2026-results/" TargetMode="External"/><Relationship Id="rId68" Type="http://schemas.openxmlformats.org/officeDocument/2006/relationships/hyperlink" Target="https://www.sec.gov/Archives/edgar/data/0001131383/000117184326005457/exh_991.htm" TargetMode="External"/><Relationship Id="rId69" Type="http://schemas.openxmlformats.org/officeDocument/2006/relationships/hyperlink" Target="https://www.newswire.com/news/stagwell-inc-nasdaq-stgw-reports-results-for-the-three-and-six-months-ended" TargetMode="External"/><Relationship Id="rId70" Type="http://schemas.openxmlformats.org/officeDocument/2006/relationships/hyperlink" Target="https://www.sec.gov/Archives/edgar/data/0000871763/000119312526305399/man-ex99_1.htm" TargetMode="External"/><Relationship Id="rId71" Type="http://schemas.openxmlformats.org/officeDocument/2006/relationships/hyperlink" Target="https://www.sec.gov/Archives/edgar/data/0001849253/000184925326000034/ryan-20260630xex991.htm" TargetMode="External"/><Relationship Id="rId72" Type="http://schemas.openxmlformats.org/officeDocument/2006/relationships/hyperlink" Target="https://daktronics.gcs-web.com/news-releases/news-release-details/daktronics-inc-announces-fiscal-2027-first-quarter-results" TargetMode="External"/><Relationship Id="rId73" Type="http://schemas.openxmlformats.org/officeDocument/2006/relationships/hyperlink" Target="https://ir.kornferry.com/news-events/press-releases/detail/733/korn-ferry-announces-first-quarter-fiscal-2027-results-of-operations" TargetMode="External"/><Relationship Id="rId74" Type="http://schemas.openxmlformats.org/officeDocument/2006/relationships/hyperlink" Target="https://newsroom.accenture.com/content/4q-full-fy26-earnings/accenture-reports-fourth-quarter-and-full-year-fiscal-2026-results.pdf" TargetMode="External"/><Relationship Id="rId75" Type="http://schemas.openxmlformats.org/officeDocument/2006/relationships/hyperlink" Target="https://www.ul.com/news/ul-solutions-inc-reports-strong-second-quarter-2026-results" TargetMode="External"/><Relationship Id="rId76" Type="http://schemas.openxmlformats.org/officeDocument/2006/relationships/hyperlink" Target="https://s27.q4cdn.com/587398032/files/doc_financials/2026/q2/Q2-2026-Press-Release-Prepred-Remarks.pdf" TargetMode="External"/><Relationship Id="rId77" Type="http://schemas.openxmlformats.org/officeDocument/2006/relationships/hyperlink" Target="https://www.sec.gov/Archives/edgar/data/0000771497/000119312526384364/abm-ex99_1.htm" TargetMode="External"/><Relationship Id="rId78" Type="http://schemas.openxmlformats.org/officeDocument/2006/relationships/hyperlink" Target="https://www.sec.gov/Archives/edgar/data/0001637810/000117184326004850/exh_991.htm" TargetMode="External"/><Relationship Id="rId79" Type="http://schemas.openxmlformats.org/officeDocument/2006/relationships/hyperlink" Target="https://s21.q4cdn.com/203226956/files/doc_financials/2026/q2/ADV-2Q-26-Earnings-Press-Release.pdf" TargetMode="External"/><Relationship Id="rId80" Type="http://schemas.openxmlformats.org/officeDocument/2006/relationships/hyperlink" Target="https://www.sec.gov/Archives/edgar/data/0001734713/000119312526332832/bv-ex99_1.htm" TargetMode="External"/><Relationship Id="rId81" Type="http://schemas.openxmlformats.org/officeDocument/2006/relationships/hyperlink" Target="https://www.businesswire.com/news/home/20260803939690/en/" TargetMode="External"/><Relationship Id="rId82" Type="http://schemas.openxmlformats.org/officeDocument/2006/relationships/hyperlink" Target="https://finviz.com/news/372015/robert-half-reports-second-quarter-financial-results" TargetMode="External"/><Relationship Id="rId83" Type="http://schemas.openxmlformats.org/officeDocument/2006/relationships/hyperlink" Target="https://www.businesswire.com/news/home/20260729563017/en/" TargetMode="External"/><Relationship Id="rId84" Type="http://schemas.openxmlformats.org/officeDocument/2006/relationships/hyperlink" Target="https://fred.stlouisfed.org/series/A191RL1Q225SBEA" TargetMode="External"/><Relationship Id="rId85" Type="http://schemas.openxmlformats.org/officeDocument/2006/relationships/hyperlink" Target="https://fred.stlouisfed.org/series/UNRATE" TargetMode="External"/><Relationship Id="rId86" Type="http://schemas.openxmlformats.org/officeDocument/2006/relationships/hyperlink" Target="https://fred.stlouisfed.org/series/PAYEMS" TargetMode="External"/><Relationship Id="rId87" Type="http://schemas.openxmlformats.org/officeDocument/2006/relationships/hyperlink" Target="https://fred.stlouisfed.org/series/GS10" TargetMode="External"/><Relationship Id="rId88" Type="http://schemas.openxmlformats.org/officeDocument/2006/relationships/hyperlink" Target="https://fred.stlouisfed.org/series/FEDFUNDS" TargetMode="External"/><Relationship Id="rId89" Type="http://schemas.openxmlformats.org/officeDocument/2006/relationships/hyperlink" Target="https://fred.stlouisfed.org/series/TEMPHELPS" TargetMode="External"/><Relationship Id="rId90" Type="http://schemas.openxmlformats.org/officeDocument/2006/relationships/hyperlink" Target="https://fred.stlouisfed.org/series/CES6054130001" TargetMode="External"/><Relationship Id="rId91" Type="http://schemas.openxmlformats.org/officeDocument/2006/relationships/hyperlink" Target="https://fred.stlouisfed.org/series/CES6056170001" TargetMode="External"/><Relationship Id="rId92" Type="http://schemas.openxmlformats.org/officeDocument/2006/relationships/hyperlink" Target="https://stockanalysis.com/" TargetMode="External"/><Relationship Id="rId93" Type="http://schemas.openxmlformats.org/officeDocument/2006/relationships/hyperlink" Target="https://jp-hardin.github.io/about/mid-market-practice/insights/business-services-industry-report-q4-2026.html" TargetMode="External"/><Relationship Id="rId94" Type="http://schemas.openxmlformats.org/officeDocument/2006/relationships/hyperlink" Target="https://www.benchmarkintl.com/about/our-success/" TargetMode="External"/><Relationship Id="rId95" Type="http://schemas.openxmlformats.org/officeDocument/2006/relationships/hyperlink" Target="https://www.benchmarkintl.com/insights/" TargetMode="External"/><Relationship Id="rId96" Type="http://schemas.openxmlformats.org/officeDocument/2006/relationships/image" Target="../media/image-21-1.png"/><Relationship Id="rId97" Type="http://schemas.openxmlformats.org/officeDocument/2006/relationships/slideLayout" Target="../slideLayouts/slideLayout1.xml"/><Relationship Id="rId98"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A"/>
        </a:solidFill>
      </p:bgPr>
    </p:bg>
    <p:spTree>
      <p:nvGrpSpPr>
        <p:cNvPr id="1" name=""/>
        <p:cNvGrpSpPr/>
        <p:nvPr/>
      </p:nvGrpSpPr>
      <p:grpSpPr>
        <a:xfrm>
          <a:off x="0" y="0"/>
          <a:ext cx="0" cy="0"/>
          <a:chOff x="0" y="0"/>
          <a:chExt cx="0" cy="0"/>
        </a:xfrm>
      </p:grpSpPr>
      <p:pic>
        <p:nvPicPr>
          <p:cNvPr id="2" name="Picture e1" descr="Glass-walled office building seen from its atrium at dusk">    </p:cNvPr>
          <p:cNvPicPr>
            <a:picLocks noChangeAspect="1"/>
          </p:cNvPicPr>
          <p:nvPr/>
        </p:nvPicPr>
        <p:blipFill>
          <a:blip r:embed="rId1"/>
          <a:stretch>
            <a:fillRect/>
          </a:stretch>
        </p:blipFill>
        <p:spPr>
          <a:xfrm>
            <a:off x="0" y="0"/>
            <a:ext cx="4190970" cy="7772400"/>
          </a:xfrm>
          <a:prstGeom prst="rect">
            <a:avLst/>
          </a:prstGeom>
        </p:spPr>
      </p:pic>
      <p:sp>
        <p:nvSpPr>
          <p:cNvPr id="3" name="Shape e3"/>
          <p:cNvSpPr/>
          <p:nvPr/>
        </p:nvSpPr>
        <p:spPr>
          <a:xfrm>
            <a:off x="4190970" y="0"/>
            <a:ext cx="5867430" cy="7772400"/>
          </a:xfrm>
          <a:prstGeom prst="rect">
            <a:avLst/>
          </a:prstGeom>
          <a:solidFill>
            <a:srgbClr val="1B1A1A"/>
          </a:solidFill>
          <a:ln/>
        </p:spPr>
        <p:txBody>
          <a:bodyPr/>
          <a:p/>
        </p:txBody>
      </p:sp>
      <p:pic>
        <p:nvPicPr>
          <p:cNvPr id="4" name="Picture e4">    </p:cNvPr>
          <p:cNvPicPr>
            <a:picLocks noChangeAspect="1"/>
          </p:cNvPicPr>
          <p:nvPr/>
        </p:nvPicPr>
        <p:blipFill>
          <a:blip r:embed="rId2"/>
          <a:stretch>
            <a:fillRect/>
          </a:stretch>
        </p:blipFill>
        <p:spPr>
          <a:xfrm>
            <a:off x="4190970" y="0"/>
            <a:ext cx="5867430" cy="7772400"/>
          </a:xfrm>
          <a:prstGeom prst="rect">
            <a:avLst/>
          </a:prstGeom>
        </p:spPr>
      </p:pic>
      <p:sp>
        <p:nvSpPr>
          <p:cNvPr id="5" name="Shape e5"/>
          <p:cNvSpPr/>
          <p:nvPr/>
        </p:nvSpPr>
        <p:spPr>
          <a:xfrm>
            <a:off x="4190970" y="0"/>
            <a:ext cx="57150" cy="7772400"/>
          </a:xfrm>
          <a:prstGeom prst="rect">
            <a:avLst/>
          </a:prstGeom>
          <a:solidFill>
            <a:srgbClr val="B68757"/>
          </a:solidFill>
          <a:ln/>
        </p:spPr>
        <p:txBody>
          <a:bodyPr/>
          <a:p/>
        </p:txBody>
      </p:sp>
      <p:sp>
        <p:nvSpPr>
          <p:cNvPr id="6" name="Text e6"/>
          <p:cNvSpPr txBox="1"/>
          <p:nvPr/>
        </p:nvSpPr>
        <p:spPr>
          <a:xfrm>
            <a:off x="419070" y="6543721"/>
            <a:ext cx="3619470" cy="809610"/>
          </a:xfrm>
          <a:prstGeom prst="rect">
            <a:avLst/>
          </a:prstGeom>
          <a:noFill/>
          <a:ln/>
        </p:spPr>
        <p:txBody>
          <a:bodyPr wrap="square" lIns="0" tIns="0" rIns="0" bIns="0" rtlCol="0" anchor="t"/>
          <a:lstStyle/>
          <a:p>
            <a:pPr algn="l" indent="0" marL="0">
              <a:lnSpc>
                <a:spcPts val="1300"/>
              </a:lnSpc>
              <a:buNone/>
            </a:pPr>
            <a:r>
              <a:rPr lang="en-US" sz="700" b="1" spc="150" kern="0" dirty="0">
                <a:solidFill>
                  <a:srgbClr val="FFFFFF"/>
                </a:solidFill>
                <a:latin typeface="+mn-lt" pitchFamily="34" charset="0"/>
              </a:rPr>
              <a:t>COMMERCIAL &amp; FACILITY SERVICES</a:t>
            </a:r>
            <a:endParaRPr lang="en-US" sz="700" dirty="0"/>
          </a:p>
          <a:p>
            <a:pPr algn="l" indent="0" marL="0">
              <a:lnSpc>
                <a:spcPts val="1300"/>
              </a:lnSpc>
              <a:buNone/>
            </a:pPr>
            <a:r>
              <a:rPr lang="en-US" sz="700" b="1" spc="150" kern="0" dirty="0">
                <a:solidFill>
                  <a:srgbClr val="FFFFFF"/>
                </a:solidFill>
                <a:latin typeface="+mn-lt" pitchFamily="34" charset="0"/>
              </a:rPr>
              <a:t>MARKETING, SALES &amp; TECH-ENABLED SERVICES</a:t>
            </a:r>
            <a:endParaRPr lang="en-US" sz="700" dirty="0"/>
          </a:p>
          <a:p>
            <a:pPr algn="l" indent="0" marL="0">
              <a:lnSpc>
                <a:spcPts val="1300"/>
              </a:lnSpc>
              <a:buNone/>
            </a:pPr>
            <a:r>
              <a:rPr lang="en-US" sz="700" b="1" spc="150" kern="0" dirty="0">
                <a:solidFill>
                  <a:srgbClr val="FFFFFF"/>
                </a:solidFill>
                <a:latin typeface="+mn-lt" pitchFamily="34" charset="0"/>
              </a:rPr>
              <a:t>ENGINEERING, ARCHITECTURE &amp; CONSULTING</a:t>
            </a:r>
            <a:endParaRPr lang="en-US" sz="700" dirty="0"/>
          </a:p>
          <a:p>
            <a:pPr algn="l" indent="0" marL="0">
              <a:lnSpc>
                <a:spcPts val="1300"/>
              </a:lnSpc>
              <a:buNone/>
            </a:pPr>
            <a:r>
              <a:rPr lang="en-US" sz="700" b="1" spc="150" kern="0" dirty="0">
                <a:solidFill>
                  <a:srgbClr val="FFFFFF"/>
                </a:solidFill>
                <a:latin typeface="+mn-lt" pitchFamily="34" charset="0"/>
              </a:rPr>
              <a:t>FINANCIAL &amp; INSURANCE SERVICES</a:t>
            </a:r>
            <a:endParaRPr lang="en-US" sz="700" dirty="0"/>
          </a:p>
          <a:p>
            <a:pPr algn="l" indent="0" marL="0">
              <a:lnSpc>
                <a:spcPts val="1300"/>
              </a:lnSpc>
              <a:buNone/>
            </a:pPr>
            <a:r>
              <a:rPr lang="en-US" sz="700" b="1" spc="150" kern="0" dirty="0">
                <a:solidFill>
                  <a:srgbClr val="FFFFFF"/>
                </a:solidFill>
                <a:latin typeface="+mn-lt" pitchFamily="34" charset="0"/>
              </a:rPr>
              <a:t>STAFFING &amp; HUMAN CAPITAL</a:t>
            </a:r>
            <a:endParaRPr lang="en-US" sz="700" dirty="0"/>
          </a:p>
        </p:txBody>
      </p:sp>
      <p:pic>
        <p:nvPicPr>
          <p:cNvPr id="7" name="Picture e7" descr="Benchmark International">    </p:cNvPr>
          <p:cNvPicPr>
            <a:picLocks noChangeAspect="1"/>
          </p:cNvPicPr>
          <p:nvPr/>
        </p:nvPicPr>
        <p:blipFill>
          <a:blip r:embed="rId3"/>
          <a:stretch>
            <a:fillRect/>
          </a:stretch>
        </p:blipFill>
        <p:spPr>
          <a:xfrm>
            <a:off x="4724430" y="571500"/>
            <a:ext cx="2438430" cy="457200"/>
          </a:xfrm>
          <a:prstGeom prst="rect">
            <a:avLst/>
          </a:prstGeom>
        </p:spPr>
      </p:pic>
      <p:sp>
        <p:nvSpPr>
          <p:cNvPr id="8" name="Text e8"/>
          <p:cNvSpPr txBox="1"/>
          <p:nvPr/>
        </p:nvSpPr>
        <p:spPr>
          <a:xfrm>
            <a:off x="4724430" y="1123980"/>
            <a:ext cx="2240737" cy="133320"/>
          </a:xfrm>
          <a:prstGeom prst="rect">
            <a:avLst/>
          </a:prstGeom>
          <a:noFill/>
          <a:ln/>
        </p:spPr>
        <p:txBody>
          <a:bodyPr wrap="none" lIns="0" tIns="0" rIns="0" bIns="0" rtlCol="0" anchor="t"/>
          <a:lstStyle/>
          <a:p>
            <a:pPr algn="l" indent="0" marL="0">
              <a:lnSpc>
                <a:spcPts val="1050"/>
              </a:lnSpc>
              <a:buNone/>
            </a:pPr>
            <a:r>
              <a:rPr lang="en-US" sz="700" b="1" spc="250" kern="0" dirty="0">
                <a:solidFill>
                  <a:srgbClr val="D3AE84"/>
                </a:solidFill>
                <a:latin typeface="+mn-lt" pitchFamily="34" charset="0"/>
              </a:rPr>
              <a:t>MIDDLE MARKET</a:t>
            </a:r>
            <a:endParaRPr lang="en-US" sz="700" dirty="0"/>
          </a:p>
        </p:txBody>
      </p:sp>
      <p:sp>
        <p:nvSpPr>
          <p:cNvPr id="9" name="Text e10"/>
          <p:cNvSpPr txBox="1"/>
          <p:nvPr/>
        </p:nvSpPr>
        <p:spPr>
          <a:xfrm>
            <a:off x="4724430" y="2057400"/>
            <a:ext cx="2848905" cy="152430"/>
          </a:xfrm>
          <a:prstGeom prst="rect">
            <a:avLst/>
          </a:prstGeom>
          <a:noFill/>
          <a:ln/>
        </p:spPr>
        <p:txBody>
          <a:bodyPr wrap="none" lIns="0" tIns="0" rIns="0" bIns="0" rtlCol="0" anchor="t"/>
          <a:lstStyle/>
          <a:p>
            <a:pPr algn="l" indent="0" marL="0">
              <a:lnSpc>
                <a:spcPts val="1200"/>
              </a:lnSpc>
              <a:buNone/>
            </a:pPr>
            <a:r>
              <a:rPr lang="en-US" sz="800" b="1" spc="250" kern="0" dirty="0">
                <a:solidFill>
                  <a:srgbClr val="D3AE84"/>
                </a:solidFill>
                <a:latin typeface="+mn-lt" pitchFamily="34" charset="0"/>
              </a:rPr>
              <a:t>QUARTERLY INDUSTRY REPORT | Q4 2026</a:t>
            </a:r>
            <a:endParaRPr lang="en-US" sz="800" dirty="0"/>
          </a:p>
        </p:txBody>
      </p:sp>
      <p:sp>
        <p:nvSpPr>
          <p:cNvPr id="10" name="Text e11"/>
          <p:cNvSpPr txBox="1"/>
          <p:nvPr/>
        </p:nvSpPr>
        <p:spPr>
          <a:xfrm>
            <a:off x="4724430" y="2319376"/>
            <a:ext cx="4914900" cy="1181130"/>
          </a:xfrm>
          <a:prstGeom prst="rect">
            <a:avLst/>
          </a:prstGeom>
          <a:noFill/>
          <a:ln/>
        </p:spPr>
        <p:txBody>
          <a:bodyPr wrap="square" lIns="0" tIns="0" rIns="0" bIns="0" rtlCol="0" anchor="t"/>
          <a:lstStyle/>
          <a:p>
            <a:pPr algn="l" indent="0" marL="0">
              <a:lnSpc>
                <a:spcPts val="4650"/>
              </a:lnSpc>
              <a:buNone/>
            </a:pPr>
            <a:r>
              <a:rPr lang="en-US" sz="4050" spc="250" kern="0" dirty="0">
                <a:solidFill>
                  <a:srgbClr val="FFFFFF"/>
                </a:solidFill>
                <a:latin typeface="+mj-lt" pitchFamily="34" charset="0"/>
              </a:rPr>
              <a:t>BUSINESS</a:t>
            </a:r>
            <a:endParaRPr lang="en-US" sz="4050" dirty="0"/>
          </a:p>
          <a:p>
            <a:pPr algn="l" indent="0" marL="0">
              <a:lnSpc>
                <a:spcPts val="4650"/>
              </a:lnSpc>
              <a:buNone/>
            </a:pPr>
            <a:r>
              <a:rPr lang="en-US" sz="4050" spc="250" kern="0" dirty="0">
                <a:solidFill>
                  <a:srgbClr val="FFFFFF"/>
                </a:solidFill>
                <a:latin typeface="+mj-lt" pitchFamily="34" charset="0"/>
              </a:rPr>
              <a:t>SERVICES</a:t>
            </a:r>
            <a:endParaRPr lang="en-US" sz="4050" dirty="0"/>
          </a:p>
        </p:txBody>
      </p:sp>
      <p:sp>
        <p:nvSpPr>
          <p:cNvPr id="11" name="Shape e12"/>
          <p:cNvSpPr/>
          <p:nvPr/>
        </p:nvSpPr>
        <p:spPr>
          <a:xfrm>
            <a:off x="4724430" y="3676620"/>
            <a:ext cx="914400" cy="19020"/>
          </a:xfrm>
          <a:prstGeom prst="rect">
            <a:avLst/>
          </a:prstGeom>
          <a:solidFill>
            <a:srgbClr val="B68757"/>
          </a:solidFill>
          <a:ln/>
        </p:spPr>
        <p:txBody>
          <a:bodyPr/>
          <a:p/>
        </p:txBody>
      </p:sp>
      <p:sp>
        <p:nvSpPr>
          <p:cNvPr id="12" name="Text e13"/>
          <p:cNvSpPr txBox="1"/>
          <p:nvPr/>
        </p:nvSpPr>
        <p:spPr>
          <a:xfrm>
            <a:off x="4724430" y="3867180"/>
            <a:ext cx="4914900" cy="533370"/>
          </a:xfrm>
          <a:prstGeom prst="rect">
            <a:avLst/>
          </a:prstGeom>
          <a:noFill/>
          <a:ln/>
        </p:spPr>
        <p:txBody>
          <a:bodyPr wrap="square" lIns="0" tIns="0" rIns="0" bIns="0" rtlCol="0" anchor="t"/>
          <a:lstStyle/>
          <a:p>
            <a:pPr algn="l" indent="0" marL="0">
              <a:lnSpc>
                <a:spcPts val="2100"/>
              </a:lnSpc>
              <a:buNone/>
            </a:pPr>
            <a:r>
              <a:rPr lang="en-US" sz="1500" i="1" dirty="0">
                <a:solidFill>
                  <a:srgbClr val="F1ECE5"/>
                </a:solidFill>
                <a:latin typeface="+mj-lt" pitchFamily="34" charset="0"/>
              </a:rPr>
              <a:t>Mergers and acquisitions across commercial, professional and human capital services.</a:t>
            </a:r>
            <a:endParaRPr lang="en-US" sz="1500" dirty="0"/>
          </a:p>
        </p:txBody>
      </p:sp>
      <p:sp>
        <p:nvSpPr>
          <p:cNvPr id="13" name="Text e15"/>
          <p:cNvSpPr txBox="1"/>
          <p:nvPr/>
        </p:nvSpPr>
        <p:spPr>
          <a:xfrm>
            <a:off x="4724430" y="4838730"/>
            <a:ext cx="1286927" cy="133320"/>
          </a:xfrm>
          <a:prstGeom prst="rect">
            <a:avLst/>
          </a:prstGeom>
          <a:noFill/>
          <a:ln/>
        </p:spPr>
        <p:txBody>
          <a:bodyPr wrap="none" lIns="0" tIns="0" rIns="0" bIns="0" rtlCol="0" anchor="t"/>
          <a:lstStyle/>
          <a:p>
            <a:pPr algn="l" indent="0" marL="0">
              <a:lnSpc>
                <a:spcPts val="1050"/>
              </a:lnSpc>
              <a:buNone/>
            </a:pPr>
            <a:r>
              <a:rPr lang="en-US" sz="700" b="1" spc="250" kern="0" dirty="0">
                <a:solidFill>
                  <a:srgbClr val="D3AE84"/>
                </a:solidFill>
                <a:latin typeface="+mn-lt" pitchFamily="34" charset="0"/>
              </a:rPr>
              <a:t>WHAT'S INCLUDED</a:t>
            </a:r>
            <a:endParaRPr lang="en-US" sz="700" dirty="0"/>
          </a:p>
        </p:txBody>
      </p:sp>
      <p:sp>
        <p:nvSpPr>
          <p:cNvPr id="14" name="Shape e16s0"/>
          <p:cNvSpPr/>
          <p:nvPr/>
        </p:nvSpPr>
        <p:spPr>
          <a:xfrm>
            <a:off x="4724430" y="5067330"/>
            <a:ext cx="4914900" cy="9510"/>
          </a:xfrm>
          <a:prstGeom prst="rect">
            <a:avLst/>
          </a:prstGeom>
          <a:solidFill>
            <a:srgbClr val="FFFFFF">
              <a:alpha val="16000"/>
            </a:srgbClr>
          </a:solidFill>
          <a:ln/>
        </p:spPr>
        <p:txBody>
          <a:bodyPr/>
          <a:p/>
        </p:txBody>
      </p:sp>
      <p:sp>
        <p:nvSpPr>
          <p:cNvPr id="15" name="Text e17"/>
          <p:cNvSpPr txBox="1"/>
          <p:nvPr/>
        </p:nvSpPr>
        <p:spPr>
          <a:xfrm>
            <a:off x="4724430" y="5186385"/>
            <a:ext cx="255392" cy="228600"/>
          </a:xfrm>
          <a:prstGeom prst="rect">
            <a:avLst/>
          </a:prstGeom>
          <a:noFill/>
          <a:ln/>
        </p:spPr>
        <p:txBody>
          <a:bodyPr wrap="none" lIns="0" tIns="0" rIns="0" bIns="0" rtlCol="0" anchor="t"/>
          <a:lstStyle/>
          <a:p>
            <a:pPr algn="l" indent="0" marL="0">
              <a:lnSpc>
                <a:spcPts val="1800"/>
              </a:lnSpc>
              <a:buNone/>
            </a:pPr>
            <a:r>
              <a:rPr lang="en-US" sz="1500" spc="100" kern="0" dirty="0">
                <a:solidFill>
                  <a:srgbClr val="D3AE84"/>
                </a:solidFill>
                <a:latin typeface="+mj-lt" pitchFamily="34" charset="0"/>
              </a:rPr>
              <a:t>01</a:t>
            </a:r>
            <a:endParaRPr lang="en-US" sz="1500" dirty="0"/>
          </a:p>
        </p:txBody>
      </p:sp>
      <p:sp>
        <p:nvSpPr>
          <p:cNvPr id="16" name="Text e18"/>
          <p:cNvSpPr txBox="1"/>
          <p:nvPr/>
        </p:nvSpPr>
        <p:spPr>
          <a:xfrm>
            <a:off x="5162520" y="5234026"/>
            <a:ext cx="710946" cy="171450"/>
          </a:xfrm>
          <a:prstGeom prst="rect">
            <a:avLst/>
          </a:prstGeom>
          <a:noFill/>
          <a:ln/>
        </p:spPr>
        <p:txBody>
          <a:bodyPr wrap="none" lIns="0" tIns="0" rIns="0" bIns="0" rtlCol="0" anchor="t"/>
          <a:lstStyle/>
          <a:p>
            <a:pPr algn="l" indent="0" marL="0">
              <a:lnSpc>
                <a:spcPts val="1350"/>
              </a:lnSpc>
              <a:buNone/>
            </a:pPr>
            <a:r>
              <a:rPr lang="en-US" sz="900" b="1" spc="150" kern="0" dirty="0">
                <a:solidFill>
                  <a:srgbClr val="FFFFFF"/>
                </a:solidFill>
                <a:latin typeface="+mn-lt" pitchFamily="34" charset="0"/>
              </a:rPr>
              <a:t>INSIGHTS</a:t>
            </a:r>
            <a:endParaRPr lang="en-US" sz="900" dirty="0"/>
          </a:p>
        </p:txBody>
      </p:sp>
      <p:sp>
        <p:nvSpPr>
          <p:cNvPr id="17" name="Text e19"/>
          <p:cNvSpPr txBox="1"/>
          <p:nvPr/>
        </p:nvSpPr>
        <p:spPr>
          <a:xfrm>
            <a:off x="6610380" y="5234026"/>
            <a:ext cx="3028950" cy="342900"/>
          </a:xfrm>
          <a:prstGeom prst="rect">
            <a:avLst/>
          </a:prstGeom>
          <a:noFill/>
          <a:ln/>
        </p:spPr>
        <p:txBody>
          <a:bodyPr wrap="square" lIns="0" tIns="0" rIns="0" bIns="0" rtlCol="0" anchor="t"/>
          <a:lstStyle/>
          <a:p>
            <a:pPr algn="l" indent="0" marL="0">
              <a:lnSpc>
                <a:spcPts val="1350"/>
              </a:lnSpc>
              <a:buNone/>
            </a:pPr>
            <a:r>
              <a:rPr lang="en-US" sz="900" dirty="0">
                <a:solidFill>
                  <a:srgbClr val="C3BDB6"/>
                </a:solidFill>
                <a:latin typeface="+mn-lt" pitchFamily="34" charset="0"/>
              </a:rPr>
              <a:t>Key trends, perspectives on five sectors, what we are reading and a feature on fire and life safety</a:t>
            </a:r>
            <a:endParaRPr lang="en-US" sz="900" dirty="0"/>
          </a:p>
        </p:txBody>
      </p:sp>
      <p:sp>
        <p:nvSpPr>
          <p:cNvPr id="18" name="Shape e20s0"/>
          <p:cNvSpPr/>
          <p:nvPr/>
        </p:nvSpPr>
        <p:spPr>
          <a:xfrm>
            <a:off x="4724430" y="5695980"/>
            <a:ext cx="4914900" cy="9510"/>
          </a:xfrm>
          <a:prstGeom prst="rect">
            <a:avLst/>
          </a:prstGeom>
          <a:solidFill>
            <a:srgbClr val="FFFFFF">
              <a:alpha val="16000"/>
            </a:srgbClr>
          </a:solidFill>
          <a:ln/>
        </p:spPr>
        <p:txBody>
          <a:bodyPr/>
          <a:p/>
        </p:txBody>
      </p:sp>
      <p:sp>
        <p:nvSpPr>
          <p:cNvPr id="19" name="Text e21"/>
          <p:cNvSpPr txBox="1"/>
          <p:nvPr/>
        </p:nvSpPr>
        <p:spPr>
          <a:xfrm>
            <a:off x="4724430" y="5815035"/>
            <a:ext cx="290322" cy="228600"/>
          </a:xfrm>
          <a:prstGeom prst="rect">
            <a:avLst/>
          </a:prstGeom>
          <a:noFill/>
          <a:ln/>
        </p:spPr>
        <p:txBody>
          <a:bodyPr wrap="none" lIns="0" tIns="0" rIns="0" bIns="0" rtlCol="0" anchor="t"/>
          <a:lstStyle/>
          <a:p>
            <a:pPr algn="l" indent="0" marL="0">
              <a:lnSpc>
                <a:spcPts val="1800"/>
              </a:lnSpc>
              <a:buNone/>
            </a:pPr>
            <a:r>
              <a:rPr lang="en-US" sz="1500" spc="100" kern="0" dirty="0">
                <a:solidFill>
                  <a:srgbClr val="D3AE84"/>
                </a:solidFill>
                <a:latin typeface="+mj-lt" pitchFamily="34" charset="0"/>
              </a:rPr>
              <a:t>02</a:t>
            </a:r>
            <a:endParaRPr lang="en-US" sz="1500" dirty="0"/>
          </a:p>
        </p:txBody>
      </p:sp>
      <p:sp>
        <p:nvSpPr>
          <p:cNvPr id="20" name="Text e22"/>
          <p:cNvSpPr txBox="1"/>
          <p:nvPr/>
        </p:nvSpPr>
        <p:spPr>
          <a:xfrm>
            <a:off x="5162520" y="5862676"/>
            <a:ext cx="1283086" cy="171450"/>
          </a:xfrm>
          <a:prstGeom prst="rect">
            <a:avLst/>
          </a:prstGeom>
          <a:noFill/>
          <a:ln/>
        </p:spPr>
        <p:txBody>
          <a:bodyPr wrap="none" lIns="0" tIns="0" rIns="0" bIns="0" rtlCol="0" anchor="t"/>
          <a:lstStyle/>
          <a:p>
            <a:pPr algn="l" indent="0" marL="0">
              <a:lnSpc>
                <a:spcPts val="1350"/>
              </a:lnSpc>
              <a:buNone/>
            </a:pPr>
            <a:r>
              <a:rPr lang="en-US" sz="900" b="1" spc="150" kern="0" dirty="0">
                <a:solidFill>
                  <a:srgbClr val="FFFFFF"/>
                </a:solidFill>
                <a:latin typeface="+mn-lt" pitchFamily="34" charset="0"/>
              </a:rPr>
              <a:t>INDUSTRY ACTIVITY</a:t>
            </a:r>
            <a:endParaRPr lang="en-US" sz="900" dirty="0"/>
          </a:p>
        </p:txBody>
      </p:sp>
      <p:sp>
        <p:nvSpPr>
          <p:cNvPr id="21" name="Text e23"/>
          <p:cNvSpPr txBox="1"/>
          <p:nvPr/>
        </p:nvSpPr>
        <p:spPr>
          <a:xfrm>
            <a:off x="6610380" y="5862676"/>
            <a:ext cx="3028950" cy="514350"/>
          </a:xfrm>
          <a:prstGeom prst="rect">
            <a:avLst/>
          </a:prstGeom>
          <a:noFill/>
          <a:ln/>
        </p:spPr>
        <p:txBody>
          <a:bodyPr wrap="square" lIns="0" tIns="0" rIns="0" bIns="0" rtlCol="0" anchor="t"/>
          <a:lstStyle/>
          <a:p>
            <a:pPr algn="l" indent="0" marL="0">
              <a:lnSpc>
                <a:spcPts val="1350"/>
              </a:lnSpc>
              <a:buNone/>
            </a:pPr>
            <a:r>
              <a:rPr lang="en-US" sz="900" dirty="0">
                <a:solidFill>
                  <a:srgbClr val="C3BDB6"/>
                </a:solidFill>
                <a:latin typeface="+mn-lt" pitchFamily="34" charset="0"/>
              </a:rPr>
              <a:t>Client spotlight, recent transactions, listed-company valuation, earnings, economic trends and active buyers</a:t>
            </a:r>
            <a:endParaRPr lang="en-US" sz="900" dirty="0"/>
          </a:p>
        </p:txBody>
      </p:sp>
      <p:sp>
        <p:nvSpPr>
          <p:cNvPr id="22" name="Shape e24s0"/>
          <p:cNvSpPr/>
          <p:nvPr/>
        </p:nvSpPr>
        <p:spPr>
          <a:xfrm>
            <a:off x="4724430" y="6496080"/>
            <a:ext cx="4914900" cy="9510"/>
          </a:xfrm>
          <a:prstGeom prst="rect">
            <a:avLst/>
          </a:prstGeom>
          <a:solidFill>
            <a:srgbClr val="FFFFFF">
              <a:alpha val="16000"/>
            </a:srgbClr>
          </a:solidFill>
          <a:ln/>
        </p:spPr>
        <p:txBody>
          <a:bodyPr/>
          <a:p/>
        </p:txBody>
      </p:sp>
      <p:sp>
        <p:nvSpPr>
          <p:cNvPr id="23" name="Text e25"/>
          <p:cNvSpPr txBox="1"/>
          <p:nvPr/>
        </p:nvSpPr>
        <p:spPr>
          <a:xfrm>
            <a:off x="4724430" y="6615135"/>
            <a:ext cx="282732" cy="228600"/>
          </a:xfrm>
          <a:prstGeom prst="rect">
            <a:avLst/>
          </a:prstGeom>
          <a:noFill/>
          <a:ln/>
        </p:spPr>
        <p:txBody>
          <a:bodyPr wrap="none" lIns="0" tIns="0" rIns="0" bIns="0" rtlCol="0" anchor="t"/>
          <a:lstStyle/>
          <a:p>
            <a:pPr algn="l" indent="0" marL="0">
              <a:lnSpc>
                <a:spcPts val="1800"/>
              </a:lnSpc>
              <a:buNone/>
            </a:pPr>
            <a:r>
              <a:rPr lang="en-US" sz="1500" spc="100" kern="0" dirty="0">
                <a:solidFill>
                  <a:srgbClr val="D3AE84"/>
                </a:solidFill>
                <a:latin typeface="+mj-lt" pitchFamily="34" charset="0"/>
              </a:rPr>
              <a:t>03</a:t>
            </a:r>
            <a:endParaRPr lang="en-US" sz="1500" dirty="0"/>
          </a:p>
        </p:txBody>
      </p:sp>
      <p:sp>
        <p:nvSpPr>
          <p:cNvPr id="24" name="Text e26"/>
          <p:cNvSpPr txBox="1"/>
          <p:nvPr/>
        </p:nvSpPr>
        <p:spPr>
          <a:xfrm>
            <a:off x="5162520" y="6662776"/>
            <a:ext cx="1354044" cy="171450"/>
          </a:xfrm>
          <a:prstGeom prst="rect">
            <a:avLst/>
          </a:prstGeom>
          <a:noFill/>
          <a:ln/>
        </p:spPr>
        <p:txBody>
          <a:bodyPr wrap="none" lIns="0" tIns="0" rIns="0" bIns="0" rtlCol="0" anchor="t"/>
          <a:lstStyle/>
          <a:p>
            <a:pPr algn="l" indent="0" marL="0">
              <a:lnSpc>
                <a:spcPts val="1350"/>
              </a:lnSpc>
              <a:buNone/>
            </a:pPr>
            <a:r>
              <a:rPr lang="en-US" sz="900" b="1" spc="150" kern="0" dirty="0">
                <a:solidFill>
                  <a:srgbClr val="FFFFFF"/>
                </a:solidFill>
                <a:latin typeface="+mn-lt" pitchFamily="34" charset="0"/>
              </a:rPr>
              <a:t>CONNECT WITH US</a:t>
            </a:r>
            <a:endParaRPr lang="en-US" sz="900" dirty="0"/>
          </a:p>
        </p:txBody>
      </p:sp>
      <p:sp>
        <p:nvSpPr>
          <p:cNvPr id="25" name="Text e27"/>
          <p:cNvSpPr txBox="1"/>
          <p:nvPr/>
        </p:nvSpPr>
        <p:spPr>
          <a:xfrm>
            <a:off x="6610380" y="6662776"/>
            <a:ext cx="3028950" cy="171450"/>
          </a:xfrm>
          <a:prstGeom prst="rect">
            <a:avLst/>
          </a:prstGeom>
          <a:noFill/>
          <a:ln/>
        </p:spPr>
        <p:txBody>
          <a:bodyPr wrap="none" lIns="0" tIns="0" rIns="0" bIns="0" rtlCol="0" anchor="t"/>
          <a:lstStyle/>
          <a:p>
            <a:pPr algn="r" indent="0" marL="0">
              <a:lnSpc>
                <a:spcPts val="1350"/>
              </a:lnSpc>
              <a:buNone/>
            </a:pPr>
            <a:r>
              <a:rPr lang="en-US" sz="900" dirty="0">
                <a:solidFill>
                  <a:srgbClr val="C3BDB6"/>
                </a:solidFill>
                <a:latin typeface="+mn-lt" pitchFamily="34" charset="0"/>
              </a:rPr>
              <a:t>Our team and Benchmark International</a:t>
            </a:r>
            <a:endParaRPr lang="en-US" sz="900" dirty="0"/>
          </a:p>
        </p:txBody>
      </p:sp>
      <p:sp>
        <p:nvSpPr>
          <p:cNvPr id="26" name="Shape e28s0"/>
          <p:cNvSpPr/>
          <p:nvPr/>
        </p:nvSpPr>
        <p:spPr>
          <a:xfrm>
            <a:off x="4724430" y="6962790"/>
            <a:ext cx="4914900" cy="9510"/>
          </a:xfrm>
          <a:prstGeom prst="rect">
            <a:avLst/>
          </a:prstGeom>
          <a:solidFill>
            <a:srgbClr val="FFFFFF">
              <a:alpha val="16000"/>
            </a:srgbClr>
          </a:solidFill>
          <a:ln/>
        </p:spPr>
        <p:txBody>
          <a:bodyPr/>
          <a:p/>
        </p:txBody>
      </p:sp>
      <p:sp>
        <p:nvSpPr>
          <p:cNvPr id="27" name="Text e29"/>
          <p:cNvSpPr txBox="1"/>
          <p:nvPr/>
        </p:nvSpPr>
        <p:spPr>
          <a:xfrm>
            <a:off x="4724430" y="7258050"/>
            <a:ext cx="3387943" cy="133320"/>
          </a:xfrm>
          <a:prstGeom prst="rect">
            <a:avLst/>
          </a:prstGeom>
          <a:noFill/>
          <a:ln/>
        </p:spPr>
        <p:txBody>
          <a:bodyPr wrap="none" lIns="0" tIns="0" rIns="0" bIns="0" rtlCol="0" anchor="t"/>
          <a:lstStyle/>
          <a:p>
            <a:pPr algn="l" indent="0" marL="0">
              <a:lnSpc>
                <a:spcPts val="1050"/>
              </a:lnSpc>
              <a:buNone/>
            </a:pPr>
            <a:r>
              <a:rPr lang="en-US" sz="700" b="1" spc="150" kern="0" dirty="0">
                <a:solidFill>
                  <a:srgbClr val="C3BDB6"/>
                </a:solidFill>
                <a:latin typeface="+mn-lt" pitchFamily="34" charset="0"/>
              </a:rPr>
              <a:t>OCTOBER 2026 | JARED HARDIN, MANAGING DIRECTOR</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A1A"/>
        </a:solidFill>
      </p:bgPr>
    </p:bg>
    <p:spTree>
      <p:nvGrpSpPr>
        <p:cNvPr id="1" name=""/>
        <p:cNvGrpSpPr/>
        <p:nvPr/>
      </p:nvGrpSpPr>
      <p:grpSpPr>
        <a:xfrm>
          <a:off x="0" y="0"/>
          <a:ext cx="0" cy="0"/>
          <a:chOff x="0" y="0"/>
          <a:chExt cx="0" cy="0"/>
        </a:xfrm>
      </p:grpSpPr>
      <p:pic>
        <p:nvPicPr>
          <p:cNvPr id="2" name="Picture e1">    </p:cNvPr>
          <p:cNvPicPr>
            <a:picLocks noChangeAspect="1"/>
          </p:cNvPicPr>
          <p:nvPr/>
        </p:nvPicPr>
        <p:blipFill>
          <a:blip r:embed="rId1"/>
          <a:stretch>
            <a:fillRect/>
          </a:stretch>
        </p:blipFill>
        <p:spPr>
          <a:xfrm>
            <a:off x="0" y="0"/>
            <a:ext cx="10058400" cy="7772400"/>
          </a:xfrm>
          <a:prstGeom prst="rect">
            <a:avLst/>
          </a:prstGeom>
        </p:spPr>
      </p:pic>
      <p:pic>
        <p:nvPicPr>
          <p:cNvPr id="3" name="Picture e3" descr="A team meeting around a conference table">    </p:cNvPr>
          <p:cNvPicPr>
            <a:picLocks noChangeAspect="1"/>
          </p:cNvPicPr>
          <p:nvPr/>
        </p:nvPicPr>
        <p:blipFill>
          <a:blip r:embed="rId2"/>
          <a:stretch>
            <a:fillRect/>
          </a:stretch>
        </p:blipFill>
        <p:spPr>
          <a:xfrm>
            <a:off x="4572000" y="0"/>
            <a:ext cx="5486400" cy="7772400"/>
          </a:xfrm>
          <a:prstGeom prst="rect">
            <a:avLst/>
          </a:prstGeom>
        </p:spPr>
      </p:pic>
      <p:sp>
        <p:nvSpPr>
          <p:cNvPr id="4" name="Line"/>
          <p:cNvSpPr/>
          <p:nvPr/>
        </p:nvSpPr>
        <p:spPr>
          <a:xfrm flipH="1">
            <a:off x="4562490" y="0"/>
            <a:ext cx="1314450" cy="7772400"/>
          </a:xfrm>
          <a:prstGeom prst="line">
            <a:avLst/>
          </a:prstGeom>
          <a:noFill/>
          <a:ln w="38100">
            <a:solidFill>
              <a:srgbClr val="B68757"/>
            </a:solidFill>
            <a:prstDash val="solid"/>
          </a:ln>
        </p:spPr>
        <p:txBody>
          <a:bodyPr/>
          <a:p/>
        </p:txBody>
      </p:sp>
      <p:sp>
        <p:nvSpPr>
          <p:cNvPr id="5" name="Text e7"/>
          <p:cNvSpPr txBox="1"/>
          <p:nvPr/>
        </p:nvSpPr>
        <p:spPr>
          <a:xfrm>
            <a:off x="609630" y="1676370"/>
            <a:ext cx="1207922" cy="1143000"/>
          </a:xfrm>
          <a:prstGeom prst="rect">
            <a:avLst/>
          </a:prstGeom>
          <a:noFill/>
          <a:ln/>
        </p:spPr>
        <p:txBody>
          <a:bodyPr wrap="none" lIns="0" tIns="0" rIns="0" bIns="0" rtlCol="0" anchor="t"/>
          <a:lstStyle/>
          <a:p>
            <a:pPr algn="l" indent="0" marL="0">
              <a:lnSpc>
                <a:spcPts val="9000"/>
              </a:lnSpc>
              <a:buNone/>
            </a:pPr>
            <a:r>
              <a:rPr lang="en-US" sz="9000" spc="300" kern="0" dirty="0">
                <a:solidFill>
                  <a:srgbClr val="D3AE84"/>
                </a:solidFill>
                <a:latin typeface="+mj-lt" pitchFamily="34" charset="0"/>
              </a:rPr>
              <a:t>01</a:t>
            </a:r>
            <a:endParaRPr lang="en-US" sz="9000" dirty="0"/>
          </a:p>
        </p:txBody>
      </p:sp>
      <p:sp>
        <p:nvSpPr>
          <p:cNvPr id="6" name="Text e8"/>
          <p:cNvSpPr txBox="1"/>
          <p:nvPr/>
        </p:nvSpPr>
        <p:spPr>
          <a:xfrm>
            <a:off x="609630" y="2895630"/>
            <a:ext cx="3810000" cy="590520"/>
          </a:xfrm>
          <a:prstGeom prst="rect">
            <a:avLst/>
          </a:prstGeom>
          <a:noFill/>
          <a:ln/>
        </p:spPr>
        <p:txBody>
          <a:bodyPr wrap="none" lIns="0" tIns="0" rIns="0" bIns="0" rtlCol="0" anchor="t"/>
          <a:lstStyle/>
          <a:p>
            <a:pPr algn="l" indent="0" marL="0">
              <a:lnSpc>
                <a:spcPts val="4650"/>
              </a:lnSpc>
              <a:buNone/>
            </a:pPr>
            <a:r>
              <a:rPr lang="en-US" sz="4050" b="1" dirty="0">
                <a:solidFill>
                  <a:srgbClr val="FFFFFF"/>
                </a:solidFill>
                <a:latin typeface="+mj-lt" pitchFamily="34" charset="0"/>
              </a:rPr>
              <a:t>Insights</a:t>
            </a:r>
            <a:endParaRPr lang="en-US" sz="4050" dirty="0"/>
          </a:p>
        </p:txBody>
      </p:sp>
      <p:sp>
        <p:nvSpPr>
          <p:cNvPr id="7" name="Shape e9"/>
          <p:cNvSpPr/>
          <p:nvPr/>
        </p:nvSpPr>
        <p:spPr>
          <a:xfrm>
            <a:off x="609630" y="3714750"/>
            <a:ext cx="914400" cy="19020"/>
          </a:xfrm>
          <a:prstGeom prst="rect">
            <a:avLst/>
          </a:prstGeom>
          <a:solidFill>
            <a:srgbClr val="B68757"/>
          </a:solidFill>
          <a:ln/>
        </p:spPr>
        <p:txBody>
          <a:bodyPr/>
          <a:p/>
        </p:txBody>
      </p:sp>
      <p:pic>
        <p:nvPicPr>
          <p:cNvPr id="21" name="Picture e24" descr="Benchmark International">    </p:cNvPr>
          <p:cNvPicPr>
            <a:picLocks noChangeAspect="1"/>
          </p:cNvPicPr>
          <p:nvPr/>
        </p:nvPicPr>
        <p:blipFill>
          <a:blip r:embed="rId3"/>
          <a:stretch>
            <a:fillRect/>
          </a:stretch>
        </p:blipFill>
        <p:spPr>
          <a:xfrm>
            <a:off x="609630" y="7086600"/>
            <a:ext cx="1428750" cy="266730"/>
          </a:xfrm>
          <a:prstGeom prst="rect">
            <a:avLst/>
          </a:prstGeom>
        </p:spPr>
      </p:pic>
      <p:sp>
        <p:nvSpPr>
          <p:cNvPr id="22" name="Text e25"/>
          <p:cNvSpPr txBox="1"/>
          <p:nvPr/>
        </p:nvSpPr>
        <p:spPr>
          <a:xfrm>
            <a:off x="2209830" y="7181880"/>
            <a:ext cx="2122780"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C3BDB6"/>
                </a:solidFill>
                <a:latin typeface="+mn-lt" pitchFamily="34" charset="0"/>
              </a:rPr>
              <a:t>BUSINESS SERVICES | Q4 2026</a:t>
            </a:r>
            <a:endParaRPr lang="en-US" sz="700" dirty="0"/>
          </a:p>
        </p:txBody>
      </p:sp>
      <p:sp>
        <p:nvSpPr>
          <p:cNvPr id="23" name="TextBox 22"/>
          <p:cNvSpPr txBox="1"/>
          <p:nvPr/>
        </p:nvSpPr>
        <p:spPr>
          <a:xfrm>
            <a:off x="609630" y="3835370"/>
            <a:ext cx="3810000" cy="3022630"/>
          </a:xfrm>
          <a:prstGeom prst="rect">
            <a:avLst/>
          </a:prstGeom>
          <a:noFill/>
        </p:spPr>
        <p:txBody>
          <a:bodyPr wrap="square" lIns="0" tIns="0" rIns="0" bIns="0">
            <a:spAutoFit/>
          </a:bodyPr>
          <a:lstStyle/>
          <a:p>
            <a:pPr>
              <a:spcAft>
                <a:spcPts val="500"/>
              </a:spcAft>
            </a:pPr>
            <a:r>
              <a:rPr sz="650" b="1" spc="200">
                <a:solidFill>
                  <a:srgbClr val="C99A6A"/>
                </a:solidFill>
                <a:latin typeface="+mn-lt"/>
              </a:rPr>
              <a:t>KEY INSIGHTS</a:t>
            </a:r>
          </a:p>
          <a:p>
            <a:pPr>
              <a:spcBef>
                <a:spcPts val="600"/>
              </a:spcBef>
            </a:pPr>
            <a:r>
              <a:rPr sz="850" b="1">
                <a:solidFill>
                  <a:srgbClr val="C99A6A"/>
                </a:solidFill>
                <a:latin typeface="+mn-lt"/>
              </a:rPr>
              <a:t>01  </a:t>
            </a:r>
            <a:r>
              <a:rPr sz="850" b="1">
                <a:solidFill>
                  <a:srgbClr val="FFFFFF"/>
                </a:solidFill>
                <a:latin typeface="+mn-lt"/>
              </a:rPr>
              <a:t>Inspection work draws the deepest buyer pool</a:t>
            </a:r>
          </a:p>
          <a:p>
            <a:pPr>
              <a:lnSpc>
                <a:spcPct val="120000"/>
              </a:lnSpc>
            </a:pPr>
            <a:r>
              <a:rPr sz="800" b="0">
                <a:solidFill>
                  <a:srgbClr val="D9D2C9"/>
                </a:solidFill>
                <a:latin typeface="+mn-lt"/>
              </a:rPr>
              <a:t>Pye-Barker completed 22 acquisitions in the first half of 2026, after 57 in 2025. Acquirers compete hardest for contracted inspection and service work.</a:t>
            </a:r>
          </a:p>
          <a:p>
            <a:pPr>
              <a:spcBef>
                <a:spcPts val="600"/>
              </a:spcBef>
            </a:pPr>
            <a:r>
              <a:rPr sz="850" b="1">
                <a:solidFill>
                  <a:srgbClr val="C99A6A"/>
                </a:solidFill>
                <a:latin typeface="+mn-lt"/>
              </a:rPr>
              <a:t>02  </a:t>
            </a:r>
            <a:r>
              <a:rPr sz="850" b="1">
                <a:solidFill>
                  <a:srgbClr val="FFFFFF"/>
                </a:solidFill>
                <a:latin typeface="+mn-lt"/>
              </a:rPr>
              <a:t>Costlier debt puts a premium on proof</a:t>
            </a:r>
          </a:p>
          <a:p>
            <a:pPr>
              <a:lnSpc>
                <a:spcPct val="120000"/>
              </a:lnSpc>
            </a:pPr>
            <a:r>
              <a:rPr sz="800" b="0">
                <a:solidFill>
                  <a:srgbClr val="D9D2C9"/>
                </a:solidFill>
                <a:latin typeface="+mn-lt"/>
              </a:rPr>
              <a:t>Debt on platform acquisitions fell to 2.9x EBITDA from 3.4x, and the Federal Reserve raised its target range on September 16. Documented earnings and contracted customers now command the premium.</a:t>
            </a:r>
          </a:p>
          <a:p>
            <a:pPr>
              <a:spcBef>
                <a:spcPts val="600"/>
              </a:spcBef>
            </a:pPr>
            <a:r>
              <a:rPr sz="850" b="1">
                <a:solidFill>
                  <a:srgbClr val="C99A6A"/>
                </a:solidFill>
                <a:latin typeface="+mn-lt"/>
              </a:rPr>
              <a:t>03  </a:t>
            </a:r>
            <a:r>
              <a:rPr sz="850" b="1">
                <a:solidFill>
                  <a:srgbClr val="FFFFFF"/>
                </a:solidFill>
                <a:latin typeface="+mn-lt"/>
              </a:rPr>
              <a:t>Engineering buyers pay for people and backlog</a:t>
            </a:r>
          </a:p>
          <a:p>
            <a:pPr>
              <a:lnSpc>
                <a:spcPct val="120000"/>
              </a:lnSpc>
            </a:pPr>
            <a:r>
              <a:rPr sz="800" b="0">
                <a:solidFill>
                  <a:srgbClr val="D9D2C9"/>
                </a:solidFill>
                <a:latin typeface="+mn-lt"/>
              </a:rPr>
              <a:t>Bernhard Capital agreed to buy Bowman at a 58% premium, and 88% of engineering firms report open positions. Licensed staff and a year of funded backlog set the price.</a:t>
            </a:r>
          </a:p>
          <a:p>
            <a:pPr>
              <a:spcBef>
                <a:spcPts val="600"/>
              </a:spcBef>
            </a:pPr>
            <a:r>
              <a:rPr sz="850" b="1">
                <a:solidFill>
                  <a:srgbClr val="C99A6A"/>
                </a:solidFill>
                <a:latin typeface="+mn-lt"/>
              </a:rPr>
              <a:t>04  </a:t>
            </a:r>
            <a:r>
              <a:rPr sz="850" b="1">
                <a:solidFill>
                  <a:srgbClr val="FFFFFF"/>
                </a:solidFill>
                <a:latin typeface="+mn-lt"/>
              </a:rPr>
              <a:t>Prepared sellers still draw several offers</a:t>
            </a:r>
          </a:p>
          <a:p>
            <a:pPr>
              <a:lnSpc>
                <a:spcPct val="120000"/>
              </a:lnSpc>
            </a:pPr>
            <a:r>
              <a:rPr sz="800" b="0">
                <a:solidFill>
                  <a:srgbClr val="D9D2C9"/>
                </a:solidFill>
                <a:latin typeface="+mn-lt"/>
              </a:rPr>
              <a:t>Completed middle-market deals averaged 7.0x EBITDA in the second quarter, and 87% of sales above $5 million drew three or more offers. Keep every client below a fifth of revenue.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3708166"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Key Trends in Business Services</a:t>
            </a:r>
            <a:endParaRPr lang="en-US" sz="2050" dirty="0"/>
          </a:p>
        </p:txBody>
      </p:sp>
      <p:sp>
        <p:nvSpPr>
          <p:cNvPr id="6" name="Text e5"/>
          <p:cNvSpPr txBox="1"/>
          <p:nvPr/>
        </p:nvSpPr>
        <p:spPr>
          <a:xfrm>
            <a:off x="419070" y="883402"/>
            <a:ext cx="6795089"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Six developments are shaping demand, pricing and deal activity across the five sectors as the fourth quarter begins.</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4524360" cy="1568379"/>
          </a:xfrm>
          <a:prstGeom prst="rect">
            <a:avLst/>
          </a:prstGeom>
          <a:solidFill>
            <a:srgbClr val="FAF7F3"/>
          </a:solidFill>
          <a:ln/>
        </p:spPr>
        <p:txBody>
          <a:bodyPr/>
          <a:p/>
        </p:txBody>
      </p:sp>
      <p:sp>
        <p:nvSpPr>
          <p:cNvPr id="9" name="Shape e9s0"/>
          <p:cNvSpPr/>
          <p:nvPr/>
        </p:nvSpPr>
        <p:spPr>
          <a:xfrm>
            <a:off x="419070" y="1238280"/>
            <a:ext cx="4524360" cy="28621"/>
          </a:xfrm>
          <a:prstGeom prst="rect">
            <a:avLst/>
          </a:prstGeom>
          <a:solidFill>
            <a:srgbClr val="B68757"/>
          </a:solidFill>
          <a:ln/>
        </p:spPr>
        <p:txBody>
          <a:bodyPr/>
          <a:p/>
        </p:txBody>
      </p:sp>
      <p:sp>
        <p:nvSpPr>
          <p:cNvPr id="10" name="Shape e11"/>
          <p:cNvSpPr/>
          <p:nvPr/>
        </p:nvSpPr>
        <p:spPr>
          <a:xfrm>
            <a:off x="590520" y="1381110"/>
            <a:ext cx="381030" cy="381030"/>
          </a:xfrm>
          <a:prstGeom prst="ellipse">
            <a:avLst/>
          </a:prstGeom>
          <a:solidFill>
            <a:srgbClr val="1B1A1A"/>
          </a:solidFill>
          <a:ln/>
        </p:spPr>
        <p:txBody>
          <a:bodyPr/>
          <a:p/>
        </p:txBody>
      </p:sp>
      <p:pic>
        <p:nvPicPr>
          <p:cNvPr id="11" name="Icon e12">    </p:cNvPr>
          <p:cNvPicPr>
            <a:picLocks noChangeAspect="1"/>
          </p:cNvPicPr>
          <p:nvPr/>
        </p:nvPicPr>
        <p:blipFill>
          <a:blip r:embed="rId1"/>
          <a:stretch>
            <a:fillRect/>
          </a:stretch>
        </p:blipFill>
        <p:spPr>
          <a:xfrm>
            <a:off x="657271" y="1447770"/>
            <a:ext cx="247620" cy="247620"/>
          </a:xfrm>
          <a:prstGeom prst="rect">
            <a:avLst/>
          </a:prstGeom>
        </p:spPr>
      </p:pic>
      <p:sp>
        <p:nvSpPr>
          <p:cNvPr id="12" name="Text e13"/>
          <p:cNvSpPr txBox="1"/>
          <p:nvPr/>
        </p:nvSpPr>
        <p:spPr>
          <a:xfrm>
            <a:off x="1085850" y="1395374"/>
            <a:ext cx="3257550" cy="342900"/>
          </a:xfrm>
          <a:prstGeom prst="rect">
            <a:avLst/>
          </a:prstGeom>
          <a:noFill/>
          <a:ln/>
        </p:spPr>
        <p:txBody>
          <a:bodyPr wrap="square" lIns="0" tIns="0" rIns="0" bIns="0" rtlCol="0" anchor="t"/>
          <a:lstStyle/>
          <a:p>
            <a:pPr algn="l" indent="0" marL="0">
              <a:lnSpc>
                <a:spcPts val="1350"/>
              </a:lnSpc>
              <a:buNone/>
            </a:pPr>
            <a:r>
              <a:rPr lang="en-US" sz="1000" b="1" dirty="0">
                <a:solidFill>
                  <a:srgbClr val="1B1A1A"/>
                </a:solidFill>
                <a:latin typeface="+mn-lt" pitchFamily="34" charset="0"/>
              </a:rPr>
              <a:t>Inspection-driven revenue draws the most active buyers</a:t>
            </a:r>
            <a:endParaRPr lang="en-US" sz="1000" dirty="0"/>
          </a:p>
        </p:txBody>
      </p:sp>
      <p:sp>
        <p:nvSpPr>
          <p:cNvPr id="13" name="Text e14"/>
          <p:cNvSpPr txBox="1"/>
          <p:nvPr/>
        </p:nvSpPr>
        <p:spPr>
          <a:xfrm>
            <a:off x="4457700" y="1423995"/>
            <a:ext cx="371521" cy="285750"/>
          </a:xfrm>
          <a:prstGeom prst="rect">
            <a:avLst/>
          </a:prstGeom>
          <a:noFill/>
          <a:ln/>
        </p:spPr>
        <p:txBody>
          <a:bodyPr wrap="none" lIns="0" tIns="0" rIns="0" bIns="0" rtlCol="0" anchor="t"/>
          <a:lstStyle/>
          <a:p>
            <a:pPr algn="l" indent="0" marL="0">
              <a:lnSpc>
                <a:spcPts val="2250"/>
              </a:lnSpc>
              <a:buNone/>
            </a:pPr>
            <a:r>
              <a:rPr lang="en-US" sz="2050" b="1" dirty="0">
                <a:solidFill>
                  <a:srgbClr val="8C6239"/>
                </a:solidFill>
                <a:latin typeface="+mj-lt" pitchFamily="34" charset="0"/>
              </a:rPr>
              <a:t>22</a:t>
            </a:r>
            <a:endParaRPr lang="en-US" sz="2050" dirty="0"/>
          </a:p>
        </p:txBody>
      </p:sp>
      <p:sp>
        <p:nvSpPr>
          <p:cNvPr id="14" name="Text e15"/>
          <p:cNvSpPr txBox="1"/>
          <p:nvPr/>
        </p:nvSpPr>
        <p:spPr>
          <a:xfrm>
            <a:off x="590520" y="1838310"/>
            <a:ext cx="4181460" cy="485821"/>
          </a:xfrm>
          <a:prstGeom prst="rect">
            <a:avLst/>
          </a:prstGeom>
          <a:noFill/>
          <a:ln/>
        </p:spPr>
        <p:txBody>
          <a:bodyPr wrap="square" lIns="0" tIns="0" rIns="0" bIns="0" rtlCol="0" anchor="t"/>
          <a:lstStyle/>
          <a:p>
            <a:pPr algn="l" indent="0" marL="0">
              <a:lnSpc>
                <a:spcPts val="1300"/>
              </a:lnSpc>
              <a:buNone/>
            </a:pPr>
            <a:r>
              <a:rPr lang="en-US" sz="850" dirty="0">
                <a:solidFill>
                  <a:srgbClr val="333231"/>
                </a:solidFill>
                <a:latin typeface="+mn-lt" pitchFamily="34" charset="0"/>
              </a:rPr>
              <a:t>Pye-Barker Fire &amp; Safety completed 22 acquisitions in the first half of 2026 after 57 in 2025 (</a:t>
            </a:r>
            <a:pPr algn="l" indent="0" marL="0">
              <a:lnSpc>
                <a:spcPts val="1300"/>
              </a:lnSpc>
              <a:buNone/>
            </a:pPr>
            <a:r>
              <a:rPr lang="en-US" sz="850" u="sng" dirty="0">
                <a:solidFill>
                  <a:srgbClr val="8C6239"/>
                </a:solidFill>
                <a:latin typeface="+mn-lt" pitchFamily="34" charset="0"/>
                <a:hlinkClick r:id="rId2" invalidUrl="" action="" tgtFrame="" tooltip="" history="1" highlightClick="0" endSnd="0">
                  <a:extLst>
                    <a:ext uri="{A12FA001-AC4F-418D-AE19-62706E023703}">
                      <ahyp:hlinkClr xmlns:ahyp="http://schemas.microsoft.com/office/drawing/2018/hyperlinkcolor" val="tx"/>
                    </a:ext>
                  </a:extLst>
                </a:hlinkClick>
              </a:rPr>
              <a:t>Pye-Barker</a:t>
            </a:r>
            <a:pPr algn="l" indent="0" marL="0">
              <a:lnSpc>
                <a:spcPts val="1300"/>
              </a:lnSpc>
              <a:buNone/>
            </a:pPr>
            <a:r>
              <a:rPr lang="en-US" sz="850" dirty="0">
                <a:solidFill>
                  <a:srgbClr val="333231"/>
                </a:solidFill>
                <a:latin typeface="+mn-lt" pitchFamily="34" charset="0"/>
              </a:rPr>
              <a:t>). APi Group grew 10.1% organically in the second quarter and reported a backlog above $5 billion (</a:t>
            </a:r>
            <a:pPr algn="l" indent="0" marL="0">
              <a:lnSpc>
                <a:spcPts val="1300"/>
              </a:lnSpc>
              <a:buNone/>
            </a:pPr>
            <a:r>
              <a:rPr lang="en-US" sz="85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APi Group</a:t>
            </a:r>
            <a:pPr algn="l" indent="0" marL="0">
              <a:lnSpc>
                <a:spcPts val="1300"/>
              </a:lnSpc>
              <a:buNone/>
            </a:pPr>
            <a:r>
              <a:rPr lang="en-US" sz="850" dirty="0">
                <a:solidFill>
                  <a:srgbClr val="333231"/>
                </a:solidFill>
                <a:latin typeface="+mn-lt" pitchFamily="34" charset="0"/>
              </a:rPr>
              <a:t>).</a:t>
            </a:r>
            <a:endParaRPr lang="en-US" sz="850" dirty="0"/>
          </a:p>
        </p:txBody>
      </p:sp>
      <p:sp>
        <p:nvSpPr>
          <p:cNvPr id="15" name="Shape e16s0"/>
          <p:cNvSpPr/>
          <p:nvPr/>
        </p:nvSpPr>
        <p:spPr>
          <a:xfrm>
            <a:off x="590520" y="2463668"/>
            <a:ext cx="4181460" cy="9510"/>
          </a:xfrm>
          <a:prstGeom prst="rect">
            <a:avLst/>
          </a:prstGeom>
          <a:solidFill>
            <a:srgbClr val="E3DCD3"/>
          </a:solidFill>
          <a:ln/>
        </p:spPr>
        <p:txBody>
          <a:bodyPr/>
          <a:p/>
        </p:txBody>
      </p:sp>
      <p:sp>
        <p:nvSpPr>
          <p:cNvPr id="16" name="Text e16"/>
          <p:cNvSpPr txBox="1"/>
          <p:nvPr/>
        </p:nvSpPr>
        <p:spPr>
          <a:xfrm>
            <a:off x="590520" y="2535174"/>
            <a:ext cx="3757727" cy="161940"/>
          </a:xfrm>
          <a:prstGeom prst="rect">
            <a:avLst/>
          </a:prstGeom>
          <a:noFill/>
          <a:ln/>
        </p:spPr>
        <p:txBody>
          <a:bodyPr wrap="none" lIns="0" tIns="0" rIns="0" bIns="0" rtlCol="0" anchor="t"/>
          <a:lstStyle/>
          <a:p>
            <a:pPr algn="l" indent="0" marL="0">
              <a:lnSpc>
                <a:spcPts val="1300"/>
              </a:lnSpc>
              <a:buNone/>
            </a:pPr>
            <a:r>
              <a:rPr lang="en-US" sz="950" i="1" dirty="0">
                <a:solidFill>
                  <a:srgbClr val="2A2928"/>
                </a:solidFill>
                <a:latin typeface="+mj-lt" pitchFamily="34" charset="0"/>
              </a:rPr>
              <a:t>Acquirers compete most actively for contracted inspection and service work.</a:t>
            </a:r>
            <a:endParaRPr lang="en-US" sz="950" dirty="0"/>
          </a:p>
        </p:txBody>
      </p:sp>
      <p:sp>
        <p:nvSpPr>
          <p:cNvPr id="17" name="Shape e17"/>
          <p:cNvSpPr/>
          <p:nvPr/>
        </p:nvSpPr>
        <p:spPr>
          <a:xfrm>
            <a:off x="5114971" y="1238280"/>
            <a:ext cx="4524360" cy="1568379"/>
          </a:xfrm>
          <a:prstGeom prst="rect">
            <a:avLst/>
          </a:prstGeom>
          <a:solidFill>
            <a:srgbClr val="FAF7F3"/>
          </a:solidFill>
          <a:ln/>
        </p:spPr>
        <p:txBody>
          <a:bodyPr/>
          <a:p/>
        </p:txBody>
      </p:sp>
      <p:sp>
        <p:nvSpPr>
          <p:cNvPr id="18" name="Shape e17s0"/>
          <p:cNvSpPr/>
          <p:nvPr/>
        </p:nvSpPr>
        <p:spPr>
          <a:xfrm>
            <a:off x="5114971" y="1238280"/>
            <a:ext cx="4524360" cy="28621"/>
          </a:xfrm>
          <a:prstGeom prst="rect">
            <a:avLst/>
          </a:prstGeom>
          <a:solidFill>
            <a:srgbClr val="B68757"/>
          </a:solidFill>
          <a:ln/>
        </p:spPr>
        <p:txBody>
          <a:bodyPr/>
          <a:p/>
        </p:txBody>
      </p:sp>
      <p:sp>
        <p:nvSpPr>
          <p:cNvPr id="19" name="Shape e19"/>
          <p:cNvSpPr/>
          <p:nvPr/>
        </p:nvSpPr>
        <p:spPr>
          <a:xfrm>
            <a:off x="5286421" y="1381110"/>
            <a:ext cx="381030" cy="381030"/>
          </a:xfrm>
          <a:prstGeom prst="ellipse">
            <a:avLst/>
          </a:prstGeom>
          <a:solidFill>
            <a:srgbClr val="1B1A1A"/>
          </a:solidFill>
          <a:ln/>
        </p:spPr>
        <p:txBody>
          <a:bodyPr/>
          <a:p/>
        </p:txBody>
      </p:sp>
      <p:pic>
        <p:nvPicPr>
          <p:cNvPr id="20" name="Icon e20">    </p:cNvPr>
          <p:cNvPicPr>
            <a:picLocks noChangeAspect="1"/>
          </p:cNvPicPr>
          <p:nvPr/>
        </p:nvPicPr>
        <p:blipFill>
          <a:blip r:embed="rId4"/>
          <a:stretch>
            <a:fillRect/>
          </a:stretch>
        </p:blipFill>
        <p:spPr>
          <a:xfrm>
            <a:off x="5353080" y="1447770"/>
            <a:ext cx="247620" cy="247620"/>
          </a:xfrm>
          <a:prstGeom prst="rect">
            <a:avLst/>
          </a:prstGeom>
        </p:spPr>
      </p:pic>
      <p:sp>
        <p:nvSpPr>
          <p:cNvPr id="21" name="Text e21"/>
          <p:cNvSpPr txBox="1"/>
          <p:nvPr/>
        </p:nvSpPr>
        <p:spPr>
          <a:xfrm>
            <a:off x="5781660" y="1395374"/>
            <a:ext cx="2819370" cy="342900"/>
          </a:xfrm>
          <a:prstGeom prst="rect">
            <a:avLst/>
          </a:prstGeom>
          <a:noFill/>
          <a:ln/>
        </p:spPr>
        <p:txBody>
          <a:bodyPr wrap="square" lIns="0" tIns="0" rIns="0" bIns="0" rtlCol="0" anchor="t"/>
          <a:lstStyle/>
          <a:p>
            <a:pPr algn="l" indent="0" marL="0">
              <a:lnSpc>
                <a:spcPts val="1350"/>
              </a:lnSpc>
              <a:buNone/>
            </a:pPr>
            <a:r>
              <a:rPr lang="en-US" sz="1000" b="1" dirty="0">
                <a:solidFill>
                  <a:srgbClr val="1B1A1A"/>
                </a:solidFill>
                <a:latin typeface="+mn-lt" pitchFamily="34" charset="0"/>
              </a:rPr>
              <a:t>Financing became more expensive in the third quarter</a:t>
            </a:r>
            <a:endParaRPr lang="en-US" sz="1000" dirty="0"/>
          </a:p>
        </p:txBody>
      </p:sp>
      <p:sp>
        <p:nvSpPr>
          <p:cNvPr id="22" name="Text e22"/>
          <p:cNvSpPr txBox="1"/>
          <p:nvPr/>
        </p:nvSpPr>
        <p:spPr>
          <a:xfrm>
            <a:off x="8717432" y="1423995"/>
            <a:ext cx="807507" cy="285750"/>
          </a:xfrm>
          <a:prstGeom prst="rect">
            <a:avLst/>
          </a:prstGeom>
          <a:noFill/>
          <a:ln/>
        </p:spPr>
        <p:txBody>
          <a:bodyPr wrap="none" lIns="0" tIns="0" rIns="0" bIns="0" rtlCol="0" anchor="t"/>
          <a:lstStyle/>
          <a:p>
            <a:pPr algn="l" indent="0" marL="0">
              <a:lnSpc>
                <a:spcPts val="2250"/>
              </a:lnSpc>
              <a:buNone/>
            </a:pPr>
            <a:r>
              <a:rPr lang="en-US" sz="2050" b="1" dirty="0">
                <a:solidFill>
                  <a:srgbClr val="8C6239"/>
                </a:solidFill>
                <a:latin typeface="+mj-lt" pitchFamily="34" charset="0"/>
              </a:rPr>
              <a:t>4.99%</a:t>
            </a:r>
            <a:endParaRPr lang="en-US" sz="2050" dirty="0"/>
          </a:p>
        </p:txBody>
      </p:sp>
      <p:sp>
        <p:nvSpPr>
          <p:cNvPr id="23" name="Text e23"/>
          <p:cNvSpPr txBox="1"/>
          <p:nvPr/>
        </p:nvSpPr>
        <p:spPr>
          <a:xfrm>
            <a:off x="5286421" y="1838310"/>
            <a:ext cx="4181460" cy="647670"/>
          </a:xfrm>
          <a:prstGeom prst="rect">
            <a:avLst/>
          </a:prstGeom>
          <a:noFill/>
          <a:ln/>
        </p:spPr>
        <p:txBody>
          <a:bodyPr wrap="square" lIns="0" tIns="0" rIns="0" bIns="0" rtlCol="0" anchor="t"/>
          <a:lstStyle/>
          <a:p>
            <a:pPr algn="l" indent="0" marL="0">
              <a:lnSpc>
                <a:spcPts val="1300"/>
              </a:lnSpc>
              <a:buNone/>
            </a:pPr>
            <a:r>
              <a:rPr lang="en-US" sz="850" dirty="0">
                <a:solidFill>
                  <a:srgbClr val="333231"/>
                </a:solidFill>
                <a:latin typeface="+mn-lt" pitchFamily="34" charset="0"/>
              </a:rPr>
              <a:t>The Federal Reserve raised its target range to 3.75% to 4.00% on September 16 (</a:t>
            </a:r>
            <a:pPr algn="l" indent="0" marL="0">
              <a:lnSpc>
                <a:spcPts val="1300"/>
              </a:lnSpc>
              <a:buNone/>
            </a:pPr>
            <a:r>
              <a:rPr lang="en-US" sz="850" u="sng" dirty="0">
                <a:solidFill>
                  <a:srgbClr val="8C6239"/>
                </a:solidFill>
                <a:latin typeface="+mn-lt" pitchFamily="34" charset="0"/>
                <a:hlinkClick r:id="rId5" invalidUrl="" action="" tgtFrame="" tooltip="" history="1" highlightClick="0" endSnd="0">
                  <a:extLst>
                    <a:ext uri="{A12FA001-AC4F-418D-AE19-62706E023703}">
                      <ahyp:hlinkClr xmlns:ahyp="http://schemas.microsoft.com/office/drawing/2018/hyperlinkcolor" val="tx"/>
                    </a:ext>
                  </a:extLst>
                </a:hlinkClick>
              </a:rPr>
              <a:t>Federal Reserve</a:t>
            </a:r>
            <a:pPr algn="l" indent="0" marL="0">
              <a:lnSpc>
                <a:spcPts val="1300"/>
              </a:lnSpc>
              <a:buNone/>
            </a:pPr>
            <a:r>
              <a:rPr lang="en-US" sz="850" dirty="0">
                <a:solidFill>
                  <a:srgbClr val="333231"/>
                </a:solidFill>
                <a:latin typeface="+mn-lt" pitchFamily="34" charset="0"/>
              </a:rPr>
              <a:t>), and the 10-year Treasury yield averaged 4.99% in September (</a:t>
            </a:r>
            <a:pPr algn="l" indent="0" marL="0">
              <a:lnSpc>
                <a:spcPts val="1300"/>
              </a:lnSpc>
              <a:buNone/>
            </a:pPr>
            <a:r>
              <a:rPr lang="en-US" sz="850" u="sng" dirty="0">
                <a:solidFill>
                  <a:srgbClr val="8C6239"/>
                </a:solidFill>
                <a:latin typeface="+mn-lt" pitchFamily="34" charset="0"/>
                <a:hlinkClick r:id="rId6" invalidUrl="" action="" tgtFrame="" tooltip="" history="1" highlightClick="0" endSnd="0">
                  <a:extLst>
                    <a:ext uri="{A12FA001-AC4F-418D-AE19-62706E023703}">
                      <ahyp:hlinkClr xmlns:ahyp="http://schemas.microsoft.com/office/drawing/2018/hyperlinkcolor" val="tx"/>
                    </a:ext>
                  </a:extLst>
                </a:hlinkClick>
              </a:rPr>
              <a:t>FRED</a:t>
            </a:r>
            <a:pPr algn="l" indent="0" marL="0">
              <a:lnSpc>
                <a:spcPts val="1300"/>
              </a:lnSpc>
              <a:buNone/>
            </a:pPr>
            <a:r>
              <a:rPr lang="en-US" sz="850" dirty="0">
                <a:solidFill>
                  <a:srgbClr val="333231"/>
                </a:solidFill>
                <a:latin typeface="+mn-lt" pitchFamily="34" charset="0"/>
              </a:rPr>
              <a:t>). Debt on platform acquisitions fell to 2.9x EBITDA from 3.4x (</a:t>
            </a:r>
            <a:pPr algn="l" indent="0" marL="0">
              <a:lnSpc>
                <a:spcPts val="1300"/>
              </a:lnSpc>
              <a:buNone/>
            </a:pPr>
            <a:r>
              <a:rPr lang="en-US" sz="850" u="sng" dirty="0">
                <a:solidFill>
                  <a:srgbClr val="8C6239"/>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GF Data via ACG</a:t>
            </a:r>
            <a:pPr algn="l" indent="0" marL="0">
              <a:lnSpc>
                <a:spcPts val="1300"/>
              </a:lnSpc>
              <a:buNone/>
            </a:pPr>
            <a:r>
              <a:rPr lang="en-US" sz="850" dirty="0">
                <a:solidFill>
                  <a:srgbClr val="333231"/>
                </a:solidFill>
                <a:latin typeface="+mn-lt" pitchFamily="34" charset="0"/>
              </a:rPr>
              <a:t>).</a:t>
            </a:r>
            <a:endParaRPr lang="en-US" sz="850" dirty="0"/>
          </a:p>
        </p:txBody>
      </p:sp>
      <p:sp>
        <p:nvSpPr>
          <p:cNvPr id="24" name="Shape e24s0"/>
          <p:cNvSpPr/>
          <p:nvPr/>
        </p:nvSpPr>
        <p:spPr>
          <a:xfrm>
            <a:off x="5286421" y="2486071"/>
            <a:ext cx="4181460" cy="9510"/>
          </a:xfrm>
          <a:prstGeom prst="rect">
            <a:avLst/>
          </a:prstGeom>
          <a:solidFill>
            <a:srgbClr val="E3DCD3"/>
          </a:solidFill>
          <a:ln/>
        </p:spPr>
        <p:txBody>
          <a:bodyPr/>
          <a:p/>
        </p:txBody>
      </p:sp>
      <p:sp>
        <p:nvSpPr>
          <p:cNvPr id="25" name="Text e24"/>
          <p:cNvSpPr txBox="1"/>
          <p:nvPr/>
        </p:nvSpPr>
        <p:spPr>
          <a:xfrm>
            <a:off x="5286421" y="2557485"/>
            <a:ext cx="4017325" cy="161940"/>
          </a:xfrm>
          <a:prstGeom prst="rect">
            <a:avLst/>
          </a:prstGeom>
          <a:noFill/>
          <a:ln/>
        </p:spPr>
        <p:txBody>
          <a:bodyPr wrap="none" lIns="0" tIns="0" rIns="0" bIns="0" rtlCol="0" anchor="t"/>
          <a:lstStyle/>
          <a:p>
            <a:pPr algn="l" indent="0" marL="0">
              <a:lnSpc>
                <a:spcPts val="1300"/>
              </a:lnSpc>
              <a:buNone/>
            </a:pPr>
            <a:r>
              <a:rPr lang="en-US" sz="950" i="1" dirty="0">
                <a:solidFill>
                  <a:srgbClr val="2A2928"/>
                </a:solidFill>
                <a:latin typeface="+mj-lt" pitchFamily="34" charset="0"/>
              </a:rPr>
              <a:t>Costlier debt puts a premium on documented earnings and contracted customers.</a:t>
            </a:r>
            <a:endParaRPr lang="en-US" sz="950" dirty="0"/>
          </a:p>
        </p:txBody>
      </p:sp>
      <p:sp>
        <p:nvSpPr>
          <p:cNvPr id="26" name="Shape e25"/>
          <p:cNvSpPr/>
          <p:nvPr/>
        </p:nvSpPr>
        <p:spPr>
          <a:xfrm>
            <a:off x="419070" y="2930469"/>
            <a:ext cx="4524360" cy="1568470"/>
          </a:xfrm>
          <a:prstGeom prst="rect">
            <a:avLst/>
          </a:prstGeom>
          <a:solidFill>
            <a:srgbClr val="FAF7F3"/>
          </a:solidFill>
          <a:ln/>
        </p:spPr>
        <p:txBody>
          <a:bodyPr/>
          <a:p/>
        </p:txBody>
      </p:sp>
      <p:sp>
        <p:nvSpPr>
          <p:cNvPr id="27" name="Shape e25s0"/>
          <p:cNvSpPr/>
          <p:nvPr/>
        </p:nvSpPr>
        <p:spPr>
          <a:xfrm>
            <a:off x="419070" y="2930469"/>
            <a:ext cx="4524360" cy="28621"/>
          </a:xfrm>
          <a:prstGeom prst="rect">
            <a:avLst/>
          </a:prstGeom>
          <a:solidFill>
            <a:srgbClr val="B68757"/>
          </a:solidFill>
          <a:ln/>
        </p:spPr>
        <p:txBody>
          <a:bodyPr/>
          <a:p/>
        </p:txBody>
      </p:sp>
      <p:sp>
        <p:nvSpPr>
          <p:cNvPr id="28" name="Shape e27"/>
          <p:cNvSpPr/>
          <p:nvPr/>
        </p:nvSpPr>
        <p:spPr>
          <a:xfrm>
            <a:off x="590520" y="3073298"/>
            <a:ext cx="381030" cy="381030"/>
          </a:xfrm>
          <a:prstGeom prst="ellipse">
            <a:avLst/>
          </a:prstGeom>
          <a:solidFill>
            <a:srgbClr val="1B1A1A"/>
          </a:solidFill>
          <a:ln/>
        </p:spPr>
        <p:txBody>
          <a:bodyPr/>
          <a:p/>
        </p:txBody>
      </p:sp>
      <p:pic>
        <p:nvPicPr>
          <p:cNvPr id="29" name="Icon e28">    </p:cNvPr>
          <p:cNvPicPr>
            <a:picLocks noChangeAspect="1"/>
          </p:cNvPicPr>
          <p:nvPr/>
        </p:nvPicPr>
        <p:blipFill>
          <a:blip r:embed="rId8"/>
          <a:stretch>
            <a:fillRect/>
          </a:stretch>
        </p:blipFill>
        <p:spPr>
          <a:xfrm>
            <a:off x="657271" y="3139958"/>
            <a:ext cx="247620" cy="247620"/>
          </a:xfrm>
          <a:prstGeom prst="rect">
            <a:avLst/>
          </a:prstGeom>
        </p:spPr>
      </p:pic>
      <p:sp>
        <p:nvSpPr>
          <p:cNvPr id="30" name="Text e29"/>
          <p:cNvSpPr txBox="1"/>
          <p:nvPr/>
        </p:nvSpPr>
        <p:spPr>
          <a:xfrm>
            <a:off x="1085850" y="3087563"/>
            <a:ext cx="3038460" cy="342900"/>
          </a:xfrm>
          <a:prstGeom prst="rect">
            <a:avLst/>
          </a:prstGeom>
          <a:noFill/>
          <a:ln/>
        </p:spPr>
        <p:txBody>
          <a:bodyPr wrap="square" lIns="0" tIns="0" rIns="0" bIns="0" rtlCol="0" anchor="t"/>
          <a:lstStyle/>
          <a:p>
            <a:pPr algn="l" indent="0" marL="0">
              <a:lnSpc>
                <a:spcPts val="1350"/>
              </a:lnSpc>
              <a:buNone/>
            </a:pPr>
            <a:r>
              <a:rPr lang="en-US" sz="1000" b="1" dirty="0">
                <a:solidFill>
                  <a:srgbClr val="1B1A1A"/>
                </a:solidFill>
                <a:latin typeface="+mn-lt" pitchFamily="34" charset="0"/>
              </a:rPr>
              <a:t>Engineering backlogs run a year deep and licensed staff are scarce</a:t>
            </a:r>
            <a:endParaRPr lang="en-US" sz="1000" dirty="0"/>
          </a:p>
        </p:txBody>
      </p:sp>
      <p:sp>
        <p:nvSpPr>
          <p:cNvPr id="31" name="Text e30"/>
          <p:cNvSpPr txBox="1"/>
          <p:nvPr/>
        </p:nvSpPr>
        <p:spPr>
          <a:xfrm>
            <a:off x="4242359" y="3116184"/>
            <a:ext cx="586862" cy="285750"/>
          </a:xfrm>
          <a:prstGeom prst="rect">
            <a:avLst/>
          </a:prstGeom>
          <a:noFill/>
          <a:ln/>
        </p:spPr>
        <p:txBody>
          <a:bodyPr wrap="none" lIns="0" tIns="0" rIns="0" bIns="0" rtlCol="0" anchor="t"/>
          <a:lstStyle/>
          <a:p>
            <a:pPr algn="l" indent="0" marL="0">
              <a:lnSpc>
                <a:spcPts val="2250"/>
              </a:lnSpc>
              <a:buNone/>
            </a:pPr>
            <a:r>
              <a:rPr lang="en-US" sz="2050" b="1" dirty="0">
                <a:solidFill>
                  <a:srgbClr val="8C6239"/>
                </a:solidFill>
                <a:latin typeface="+mj-lt" pitchFamily="34" charset="0"/>
              </a:rPr>
              <a:t>88%</a:t>
            </a:r>
            <a:endParaRPr lang="en-US" sz="2050" dirty="0"/>
          </a:p>
        </p:txBody>
      </p:sp>
      <p:sp>
        <p:nvSpPr>
          <p:cNvPr id="32" name="Text e31"/>
          <p:cNvSpPr txBox="1"/>
          <p:nvPr/>
        </p:nvSpPr>
        <p:spPr>
          <a:xfrm>
            <a:off x="590520" y="3530498"/>
            <a:ext cx="4181460" cy="485821"/>
          </a:xfrm>
          <a:prstGeom prst="rect">
            <a:avLst/>
          </a:prstGeom>
          <a:noFill/>
          <a:ln/>
        </p:spPr>
        <p:txBody>
          <a:bodyPr wrap="square" lIns="0" tIns="0" rIns="0" bIns="0" rtlCol="0" anchor="t"/>
          <a:lstStyle/>
          <a:p>
            <a:pPr algn="l" indent="0" marL="0">
              <a:lnSpc>
                <a:spcPts val="1300"/>
              </a:lnSpc>
              <a:buNone/>
            </a:pPr>
            <a:r>
              <a:rPr lang="en-US" sz="850" dirty="0">
                <a:solidFill>
                  <a:srgbClr val="333231"/>
                </a:solidFill>
                <a:latin typeface="+mn-lt" pitchFamily="34" charset="0"/>
              </a:rPr>
              <a:t>The median engineering firm holds 12 months of backlog, and 88% of firms report open positions (</a:t>
            </a:r>
            <a:pPr algn="l" indent="0" marL="0">
              <a:lnSpc>
                <a:spcPts val="1300"/>
              </a:lnSpc>
              <a:buNone/>
            </a:pPr>
            <a:r>
              <a:rPr lang="en-US" sz="850" u="sng" dirty="0">
                <a:solidFill>
                  <a:srgbClr val="8C6239"/>
                </a:solidFill>
                <a:latin typeface="+mn-lt" pitchFamily="34" charset="0"/>
                <a:hlinkClick r:id="rId9" invalidUrl="" action="" tgtFrame="" tooltip="" history="1" highlightClick="0" endSnd="0">
                  <a:extLst>
                    <a:ext uri="{A12FA001-AC4F-418D-AE19-62706E023703}">
                      <ahyp:hlinkClr xmlns:ahyp="http://schemas.microsoft.com/office/drawing/2018/hyperlinkcolor" val="tx"/>
                    </a:ext>
                  </a:extLst>
                </a:hlinkClick>
              </a:rPr>
              <a:t>ACEC</a:t>
            </a:r>
            <a:pPr algn="l" indent="0" marL="0">
              <a:lnSpc>
                <a:spcPts val="1300"/>
              </a:lnSpc>
              <a:buNone/>
            </a:pPr>
            <a:r>
              <a:rPr lang="en-US" sz="850" dirty="0">
                <a:solidFill>
                  <a:srgbClr val="333231"/>
                </a:solidFill>
                <a:latin typeface="+mn-lt" pitchFamily="34" charset="0"/>
              </a:rPr>
              <a:t>). Bernhard Capital agreed to buy Bowman for about $1.0 billion of enterprise value, a 58% premium (</a:t>
            </a:r>
            <a:pPr algn="l" indent="0" marL="0">
              <a:lnSpc>
                <a:spcPts val="1300"/>
              </a:lnSpc>
              <a:buNone/>
            </a:pPr>
            <a:r>
              <a:rPr lang="en-US" sz="850" u="sng" dirty="0">
                <a:solidFill>
                  <a:srgbClr val="8C6239"/>
                </a:solidFill>
                <a:latin typeface="+mn-lt" pitchFamily="34" charset="0"/>
                <a:hlinkClick r:id="rId10" invalidUrl="" action="" tgtFrame="" tooltip="" history="1" highlightClick="0" endSnd="0">
                  <a:extLst>
                    <a:ext uri="{A12FA001-AC4F-418D-AE19-62706E023703}">
                      <ahyp:hlinkClr xmlns:ahyp="http://schemas.microsoft.com/office/drawing/2018/hyperlinkcolor" val="tx"/>
                    </a:ext>
                  </a:extLst>
                </a:hlinkClick>
              </a:rPr>
              <a:t>Bowman</a:t>
            </a:r>
            <a:pPr algn="l" indent="0" marL="0">
              <a:lnSpc>
                <a:spcPts val="1300"/>
              </a:lnSpc>
              <a:buNone/>
            </a:pPr>
            <a:r>
              <a:rPr lang="en-US" sz="850" dirty="0">
                <a:solidFill>
                  <a:srgbClr val="333231"/>
                </a:solidFill>
                <a:latin typeface="+mn-lt" pitchFamily="34" charset="0"/>
              </a:rPr>
              <a:t>).</a:t>
            </a:r>
            <a:endParaRPr lang="en-US" sz="850" dirty="0"/>
          </a:p>
        </p:txBody>
      </p:sp>
      <p:sp>
        <p:nvSpPr>
          <p:cNvPr id="33" name="Shape e32s0"/>
          <p:cNvSpPr/>
          <p:nvPr/>
        </p:nvSpPr>
        <p:spPr>
          <a:xfrm>
            <a:off x="590520" y="4156039"/>
            <a:ext cx="4181460" cy="9510"/>
          </a:xfrm>
          <a:prstGeom prst="rect">
            <a:avLst/>
          </a:prstGeom>
          <a:solidFill>
            <a:srgbClr val="E3DCD3"/>
          </a:solidFill>
          <a:ln/>
        </p:spPr>
        <p:txBody>
          <a:bodyPr/>
          <a:p/>
        </p:txBody>
      </p:sp>
      <p:sp>
        <p:nvSpPr>
          <p:cNvPr id="34" name="Text e32"/>
          <p:cNvSpPr txBox="1"/>
          <p:nvPr/>
        </p:nvSpPr>
        <p:spPr>
          <a:xfrm>
            <a:off x="590520" y="4227454"/>
            <a:ext cx="3784976" cy="161940"/>
          </a:xfrm>
          <a:prstGeom prst="rect">
            <a:avLst/>
          </a:prstGeom>
          <a:noFill/>
          <a:ln/>
        </p:spPr>
        <p:txBody>
          <a:bodyPr wrap="none" lIns="0" tIns="0" rIns="0" bIns="0" rtlCol="0" anchor="t"/>
          <a:lstStyle/>
          <a:p>
            <a:pPr algn="l" indent="0" marL="0">
              <a:lnSpc>
                <a:spcPts val="1300"/>
              </a:lnSpc>
              <a:buNone/>
            </a:pPr>
            <a:r>
              <a:rPr lang="en-US" sz="950" i="1" dirty="0">
                <a:solidFill>
                  <a:srgbClr val="2A2928"/>
                </a:solidFill>
                <a:latin typeface="+mj-lt" pitchFamily="34" charset="0"/>
              </a:rPr>
              <a:t>Buyers of engineering firms are paying for licensed staff and funded backlog.</a:t>
            </a:r>
            <a:endParaRPr lang="en-US" sz="950" dirty="0"/>
          </a:p>
        </p:txBody>
      </p:sp>
      <p:sp>
        <p:nvSpPr>
          <p:cNvPr id="35" name="Shape e33"/>
          <p:cNvSpPr/>
          <p:nvPr/>
        </p:nvSpPr>
        <p:spPr>
          <a:xfrm>
            <a:off x="5114971" y="2930469"/>
            <a:ext cx="4524360" cy="1568470"/>
          </a:xfrm>
          <a:prstGeom prst="rect">
            <a:avLst/>
          </a:prstGeom>
          <a:solidFill>
            <a:srgbClr val="FAF7F3"/>
          </a:solidFill>
          <a:ln/>
        </p:spPr>
        <p:txBody>
          <a:bodyPr/>
          <a:p/>
        </p:txBody>
      </p:sp>
      <p:sp>
        <p:nvSpPr>
          <p:cNvPr id="36" name="Shape e33s0"/>
          <p:cNvSpPr/>
          <p:nvPr/>
        </p:nvSpPr>
        <p:spPr>
          <a:xfrm>
            <a:off x="5114971" y="2930469"/>
            <a:ext cx="4524360" cy="28621"/>
          </a:xfrm>
          <a:prstGeom prst="rect">
            <a:avLst/>
          </a:prstGeom>
          <a:solidFill>
            <a:srgbClr val="B68757"/>
          </a:solidFill>
          <a:ln/>
        </p:spPr>
        <p:txBody>
          <a:bodyPr/>
          <a:p/>
        </p:txBody>
      </p:sp>
      <p:sp>
        <p:nvSpPr>
          <p:cNvPr id="37" name="Shape e35"/>
          <p:cNvSpPr/>
          <p:nvPr/>
        </p:nvSpPr>
        <p:spPr>
          <a:xfrm>
            <a:off x="5286421" y="3073298"/>
            <a:ext cx="381030" cy="381030"/>
          </a:xfrm>
          <a:prstGeom prst="ellipse">
            <a:avLst/>
          </a:prstGeom>
          <a:solidFill>
            <a:srgbClr val="1B1A1A"/>
          </a:solidFill>
          <a:ln/>
        </p:spPr>
        <p:txBody>
          <a:bodyPr/>
          <a:p/>
        </p:txBody>
      </p:sp>
      <p:pic>
        <p:nvPicPr>
          <p:cNvPr id="38" name="Icon e36">    </p:cNvPr>
          <p:cNvPicPr>
            <a:picLocks noChangeAspect="1"/>
          </p:cNvPicPr>
          <p:nvPr/>
        </p:nvPicPr>
        <p:blipFill>
          <a:blip r:embed="rId11"/>
          <a:stretch>
            <a:fillRect/>
          </a:stretch>
        </p:blipFill>
        <p:spPr>
          <a:xfrm>
            <a:off x="5353080" y="3139958"/>
            <a:ext cx="247620" cy="247620"/>
          </a:xfrm>
          <a:prstGeom prst="rect">
            <a:avLst/>
          </a:prstGeom>
        </p:spPr>
      </p:pic>
      <p:sp>
        <p:nvSpPr>
          <p:cNvPr id="39" name="Text e37"/>
          <p:cNvSpPr txBox="1"/>
          <p:nvPr/>
        </p:nvSpPr>
        <p:spPr>
          <a:xfrm>
            <a:off x="5781660" y="3087563"/>
            <a:ext cx="3067080" cy="342900"/>
          </a:xfrm>
          <a:prstGeom prst="rect">
            <a:avLst/>
          </a:prstGeom>
          <a:noFill/>
          <a:ln/>
        </p:spPr>
        <p:txBody>
          <a:bodyPr wrap="square" lIns="0" tIns="0" rIns="0" bIns="0" rtlCol="0" anchor="t"/>
          <a:lstStyle/>
          <a:p>
            <a:pPr algn="l" indent="0" marL="0">
              <a:lnSpc>
                <a:spcPts val="1350"/>
              </a:lnSpc>
              <a:buNone/>
            </a:pPr>
            <a:r>
              <a:rPr lang="en-US" sz="1000" b="1" dirty="0">
                <a:solidFill>
                  <a:srgbClr val="1B1A1A"/>
                </a:solidFill>
                <a:latin typeface="+mn-lt" pitchFamily="34" charset="0"/>
              </a:rPr>
              <a:t>Softer insurance pricing has slowed broker organic growth</a:t>
            </a:r>
            <a:endParaRPr lang="en-US" sz="1000" dirty="0"/>
          </a:p>
        </p:txBody>
      </p:sp>
      <p:sp>
        <p:nvSpPr>
          <p:cNvPr id="40" name="Text e38"/>
          <p:cNvSpPr txBox="1"/>
          <p:nvPr/>
        </p:nvSpPr>
        <p:spPr>
          <a:xfrm>
            <a:off x="8963772" y="3116184"/>
            <a:ext cx="561259" cy="285750"/>
          </a:xfrm>
          <a:prstGeom prst="rect">
            <a:avLst/>
          </a:prstGeom>
          <a:noFill/>
          <a:ln/>
        </p:spPr>
        <p:txBody>
          <a:bodyPr wrap="none" lIns="0" tIns="0" rIns="0" bIns="0" rtlCol="0" anchor="t"/>
          <a:lstStyle/>
          <a:p>
            <a:pPr algn="l" indent="0" marL="0">
              <a:lnSpc>
                <a:spcPts val="2250"/>
              </a:lnSpc>
              <a:buNone/>
            </a:pPr>
            <a:r>
              <a:rPr lang="en-US" sz="2050" b="1" dirty="0">
                <a:solidFill>
                  <a:srgbClr val="8C6239"/>
                </a:solidFill>
                <a:latin typeface="+mj-lt" pitchFamily="34" charset="0"/>
              </a:rPr>
              <a:t>−2%</a:t>
            </a:r>
            <a:endParaRPr lang="en-US" sz="2050" dirty="0"/>
          </a:p>
        </p:txBody>
      </p:sp>
      <p:sp>
        <p:nvSpPr>
          <p:cNvPr id="41" name="Text e39"/>
          <p:cNvSpPr txBox="1"/>
          <p:nvPr/>
        </p:nvSpPr>
        <p:spPr>
          <a:xfrm>
            <a:off x="5286421" y="3530498"/>
            <a:ext cx="4181460" cy="485821"/>
          </a:xfrm>
          <a:prstGeom prst="rect">
            <a:avLst/>
          </a:prstGeom>
          <a:noFill/>
          <a:ln/>
        </p:spPr>
        <p:txBody>
          <a:bodyPr wrap="square" lIns="0" tIns="0" rIns="0" bIns="0" rtlCol="0" anchor="t"/>
          <a:lstStyle/>
          <a:p>
            <a:pPr algn="l" indent="0" marL="0">
              <a:lnSpc>
                <a:spcPts val="1300"/>
              </a:lnSpc>
              <a:buNone/>
            </a:pPr>
            <a:r>
              <a:rPr lang="en-US" sz="850" dirty="0">
                <a:solidFill>
                  <a:srgbClr val="333231"/>
                </a:solidFill>
                <a:latin typeface="+mn-lt" pitchFamily="34" charset="0"/>
              </a:rPr>
              <a:t>Commercial premiums fell 2% on average in the second quarter, with property down 6.3% (</a:t>
            </a:r>
            <a:pPr algn="l" indent="0" marL="0">
              <a:lnSpc>
                <a:spcPts val="1300"/>
              </a:lnSpc>
              <a:buNone/>
            </a:pPr>
            <a:r>
              <a:rPr lang="en-US" sz="850" u="sng" dirty="0">
                <a:solidFill>
                  <a:srgbClr val="8C6239"/>
                </a:solidFill>
                <a:latin typeface="+mn-lt" pitchFamily="34" charset="0"/>
                <a:hlinkClick r:id="rId12" invalidUrl="" action="" tgtFrame="" tooltip="" history="1" highlightClick="0" endSnd="0">
                  <a:extLst>
                    <a:ext uri="{A12FA001-AC4F-418D-AE19-62706E023703}">
                      <ahyp:hlinkClr xmlns:ahyp="http://schemas.microsoft.com/office/drawing/2018/hyperlinkcolor" val="tx"/>
                    </a:ext>
                  </a:extLst>
                </a:hlinkClick>
              </a:rPr>
              <a:t>Insurance Journal</a:t>
            </a:r>
            <a:pPr algn="l" indent="0" marL="0">
              <a:lnSpc>
                <a:spcPts val="1300"/>
              </a:lnSpc>
              <a:buNone/>
            </a:pPr>
            <a:r>
              <a:rPr lang="en-US" sz="850" dirty="0">
                <a:solidFill>
                  <a:srgbClr val="333231"/>
                </a:solidFill>
                <a:latin typeface="+mn-lt" pitchFamily="34" charset="0"/>
              </a:rPr>
              <a:t>). Aon agreed to buy USI for $17 billion in cash (</a:t>
            </a:r>
            <a:pPr algn="l" indent="0" marL="0">
              <a:lnSpc>
                <a:spcPts val="1300"/>
              </a:lnSpc>
              <a:buNone/>
            </a:pPr>
            <a:r>
              <a:rPr lang="en-US" sz="850" u="sng" dirty="0">
                <a:solidFill>
                  <a:srgbClr val="8C6239"/>
                </a:solidFill>
                <a:latin typeface="+mn-lt" pitchFamily="34" charset="0"/>
                <a:hlinkClick r:id="rId13" invalidUrl="" action="" tgtFrame="" tooltip="" history="1" highlightClick="0" endSnd="0">
                  <a:extLst>
                    <a:ext uri="{A12FA001-AC4F-418D-AE19-62706E023703}">
                      <ahyp:hlinkClr xmlns:ahyp="http://schemas.microsoft.com/office/drawing/2018/hyperlinkcolor" val="tx"/>
                    </a:ext>
                  </a:extLst>
                </a:hlinkClick>
              </a:rPr>
              <a:t>Insurance Journal, September 21</a:t>
            </a:r>
            <a:pPr algn="l" indent="0" marL="0">
              <a:lnSpc>
                <a:spcPts val="1300"/>
              </a:lnSpc>
              <a:buNone/>
            </a:pPr>
            <a:r>
              <a:rPr lang="en-US" sz="850" dirty="0">
                <a:solidFill>
                  <a:srgbClr val="333231"/>
                </a:solidFill>
                <a:latin typeface="+mn-lt" pitchFamily="34" charset="0"/>
              </a:rPr>
              <a:t>).</a:t>
            </a:r>
            <a:endParaRPr lang="en-US" sz="850" dirty="0"/>
          </a:p>
        </p:txBody>
      </p:sp>
      <p:sp>
        <p:nvSpPr>
          <p:cNvPr id="42" name="Shape e40s0"/>
          <p:cNvSpPr/>
          <p:nvPr/>
        </p:nvSpPr>
        <p:spPr>
          <a:xfrm>
            <a:off x="5286421" y="4156039"/>
            <a:ext cx="4181460" cy="9510"/>
          </a:xfrm>
          <a:prstGeom prst="rect">
            <a:avLst/>
          </a:prstGeom>
          <a:solidFill>
            <a:srgbClr val="E3DCD3"/>
          </a:solidFill>
          <a:ln/>
        </p:spPr>
        <p:txBody>
          <a:bodyPr/>
          <a:p/>
        </p:txBody>
      </p:sp>
      <p:sp>
        <p:nvSpPr>
          <p:cNvPr id="43" name="Text e40"/>
          <p:cNvSpPr txBox="1"/>
          <p:nvPr/>
        </p:nvSpPr>
        <p:spPr>
          <a:xfrm>
            <a:off x="5286421" y="4227454"/>
            <a:ext cx="3842126" cy="161940"/>
          </a:xfrm>
          <a:prstGeom prst="rect">
            <a:avLst/>
          </a:prstGeom>
          <a:noFill/>
          <a:ln/>
        </p:spPr>
        <p:txBody>
          <a:bodyPr wrap="none" lIns="0" tIns="0" rIns="0" bIns="0" rtlCol="0" anchor="t"/>
          <a:lstStyle/>
          <a:p>
            <a:pPr algn="l" indent="0" marL="0">
              <a:lnSpc>
                <a:spcPts val="1300"/>
              </a:lnSpc>
              <a:buNone/>
            </a:pPr>
            <a:r>
              <a:rPr lang="en-US" sz="950" i="1" dirty="0">
                <a:solidFill>
                  <a:srgbClr val="2A2928"/>
                </a:solidFill>
                <a:latin typeface="+mj-lt" pitchFamily="34" charset="0"/>
              </a:rPr>
              <a:t>Small commercial and casualty accounts are seeing the least pricing pressure.</a:t>
            </a:r>
            <a:endParaRPr lang="en-US" sz="950" dirty="0"/>
          </a:p>
        </p:txBody>
      </p:sp>
      <p:sp>
        <p:nvSpPr>
          <p:cNvPr id="44" name="Shape e41"/>
          <p:cNvSpPr/>
          <p:nvPr/>
        </p:nvSpPr>
        <p:spPr>
          <a:xfrm>
            <a:off x="419070" y="4622749"/>
            <a:ext cx="4524360" cy="1568470"/>
          </a:xfrm>
          <a:prstGeom prst="rect">
            <a:avLst/>
          </a:prstGeom>
          <a:solidFill>
            <a:srgbClr val="FAF7F3"/>
          </a:solidFill>
          <a:ln/>
        </p:spPr>
        <p:txBody>
          <a:bodyPr/>
          <a:p/>
        </p:txBody>
      </p:sp>
      <p:sp>
        <p:nvSpPr>
          <p:cNvPr id="45" name="Shape e41s0"/>
          <p:cNvSpPr/>
          <p:nvPr/>
        </p:nvSpPr>
        <p:spPr>
          <a:xfrm>
            <a:off x="419070" y="4622749"/>
            <a:ext cx="4524360" cy="28621"/>
          </a:xfrm>
          <a:prstGeom prst="rect">
            <a:avLst/>
          </a:prstGeom>
          <a:solidFill>
            <a:srgbClr val="B68757"/>
          </a:solidFill>
          <a:ln/>
        </p:spPr>
        <p:txBody>
          <a:bodyPr/>
          <a:p/>
        </p:txBody>
      </p:sp>
      <p:sp>
        <p:nvSpPr>
          <p:cNvPr id="46" name="Shape e43"/>
          <p:cNvSpPr/>
          <p:nvPr/>
        </p:nvSpPr>
        <p:spPr>
          <a:xfrm>
            <a:off x="590520" y="4765670"/>
            <a:ext cx="381030" cy="381030"/>
          </a:xfrm>
          <a:prstGeom prst="ellipse">
            <a:avLst/>
          </a:prstGeom>
          <a:solidFill>
            <a:srgbClr val="1B1A1A"/>
          </a:solidFill>
          <a:ln/>
        </p:spPr>
        <p:txBody>
          <a:bodyPr/>
          <a:p/>
        </p:txBody>
      </p:sp>
      <p:pic>
        <p:nvPicPr>
          <p:cNvPr id="47" name="Icon e44">    </p:cNvPr>
          <p:cNvPicPr>
            <a:picLocks noChangeAspect="1"/>
          </p:cNvPicPr>
          <p:nvPr/>
        </p:nvPicPr>
        <p:blipFill>
          <a:blip r:embed="rId14"/>
          <a:stretch>
            <a:fillRect/>
          </a:stretch>
        </p:blipFill>
        <p:spPr>
          <a:xfrm>
            <a:off x="657271" y="4832330"/>
            <a:ext cx="247620" cy="247620"/>
          </a:xfrm>
          <a:prstGeom prst="rect">
            <a:avLst/>
          </a:prstGeom>
        </p:spPr>
      </p:pic>
      <p:sp>
        <p:nvSpPr>
          <p:cNvPr id="48" name="Text e45"/>
          <p:cNvSpPr txBox="1"/>
          <p:nvPr/>
        </p:nvSpPr>
        <p:spPr>
          <a:xfrm>
            <a:off x="1085850" y="4779935"/>
            <a:ext cx="3067080" cy="342900"/>
          </a:xfrm>
          <a:prstGeom prst="rect">
            <a:avLst/>
          </a:prstGeom>
          <a:noFill/>
          <a:ln/>
        </p:spPr>
        <p:txBody>
          <a:bodyPr wrap="square" lIns="0" tIns="0" rIns="0" bIns="0" rtlCol="0" anchor="t"/>
          <a:lstStyle/>
          <a:p>
            <a:pPr algn="l" indent="0" marL="0">
              <a:lnSpc>
                <a:spcPts val="1350"/>
              </a:lnSpc>
              <a:buNone/>
            </a:pPr>
            <a:r>
              <a:rPr lang="en-US" sz="1000" b="1" dirty="0">
                <a:solidFill>
                  <a:srgbClr val="1B1A1A"/>
                </a:solidFill>
                <a:latin typeface="+mn-lt" pitchFamily="34" charset="0"/>
              </a:rPr>
              <a:t>Staffing revenue is growing for the first time in three years</a:t>
            </a:r>
            <a:endParaRPr lang="en-US" sz="1000" dirty="0"/>
          </a:p>
        </p:txBody>
      </p:sp>
      <p:sp>
        <p:nvSpPr>
          <p:cNvPr id="49" name="Text e46"/>
          <p:cNvSpPr txBox="1"/>
          <p:nvPr/>
        </p:nvSpPr>
        <p:spPr>
          <a:xfrm>
            <a:off x="4267962" y="4808464"/>
            <a:ext cx="561259" cy="285750"/>
          </a:xfrm>
          <a:prstGeom prst="rect">
            <a:avLst/>
          </a:prstGeom>
          <a:noFill/>
          <a:ln/>
        </p:spPr>
        <p:txBody>
          <a:bodyPr wrap="none" lIns="0" tIns="0" rIns="0" bIns="0" rtlCol="0" anchor="t"/>
          <a:lstStyle/>
          <a:p>
            <a:pPr algn="l" indent="0" marL="0">
              <a:lnSpc>
                <a:spcPts val="2250"/>
              </a:lnSpc>
              <a:buNone/>
            </a:pPr>
            <a:r>
              <a:rPr lang="en-US" sz="2050" b="1" dirty="0">
                <a:solidFill>
                  <a:srgbClr val="8C6239"/>
                </a:solidFill>
                <a:latin typeface="+mj-lt" pitchFamily="34" charset="0"/>
              </a:rPr>
              <a:t>+5%</a:t>
            </a:r>
            <a:endParaRPr lang="en-US" sz="2050" dirty="0"/>
          </a:p>
        </p:txBody>
      </p:sp>
      <p:sp>
        <p:nvSpPr>
          <p:cNvPr id="50" name="Text e47"/>
          <p:cNvSpPr txBox="1"/>
          <p:nvPr/>
        </p:nvSpPr>
        <p:spPr>
          <a:xfrm>
            <a:off x="590520" y="5222870"/>
            <a:ext cx="4181460" cy="485821"/>
          </a:xfrm>
          <a:prstGeom prst="rect">
            <a:avLst/>
          </a:prstGeom>
          <a:noFill/>
          <a:ln/>
        </p:spPr>
        <p:txBody>
          <a:bodyPr wrap="square" lIns="0" tIns="0" rIns="0" bIns="0" rtlCol="0" anchor="t"/>
          <a:lstStyle/>
          <a:p>
            <a:pPr algn="l" indent="0" marL="0">
              <a:lnSpc>
                <a:spcPts val="1300"/>
              </a:lnSpc>
              <a:buNone/>
            </a:pPr>
            <a:r>
              <a:rPr lang="en-US" sz="850" dirty="0">
                <a:solidFill>
                  <a:srgbClr val="333231"/>
                </a:solidFill>
                <a:latin typeface="+mn-lt" pitchFamily="34" charset="0"/>
              </a:rPr>
              <a:t>Median staffing revenue grew 5% in August, the highest reading since late 2022 (</a:t>
            </a:r>
            <a:pPr algn="l" indent="0" marL="0">
              <a:lnSpc>
                <a:spcPts val="1300"/>
              </a:lnSpc>
              <a:buNone/>
            </a:pPr>
            <a:r>
              <a:rPr lang="en-US" sz="850" u="sng" dirty="0">
                <a:solidFill>
                  <a:srgbClr val="8C6239"/>
                </a:solidFill>
                <a:latin typeface="+mn-lt" pitchFamily="34" charset="0"/>
                <a:hlinkClick r:id="rId15" invalidUrl="" action="" tgtFrame="" tooltip="" history="1" highlightClick="0" endSnd="0">
                  <a:extLst>
                    <a:ext uri="{A12FA001-AC4F-418D-AE19-62706E023703}">
                      <ahyp:hlinkClr xmlns:ahyp="http://schemas.microsoft.com/office/drawing/2018/hyperlinkcolor" val="tx"/>
                    </a:ext>
                  </a:extLst>
                </a:hlinkClick>
              </a:rPr>
              <a:t>Staffing Industry Analysts</a:t>
            </a:r>
            <a:pPr algn="l" indent="0" marL="0">
              <a:lnSpc>
                <a:spcPts val="1300"/>
              </a:lnSpc>
              <a:buNone/>
            </a:pPr>
            <a:r>
              <a:rPr lang="en-US" sz="850" dirty="0">
                <a:solidFill>
                  <a:srgbClr val="333231"/>
                </a:solidFill>
                <a:latin typeface="+mn-lt" pitchFamily="34" charset="0"/>
              </a:rPr>
              <a:t>). Temporary help employment remains 21% below its March 2022 peak (</a:t>
            </a:r>
            <a:pPr algn="l" indent="0" marL="0">
              <a:lnSpc>
                <a:spcPts val="1300"/>
              </a:lnSpc>
              <a:buNone/>
            </a:pPr>
            <a:r>
              <a:rPr lang="en-US" sz="850" u="sng" dirty="0">
                <a:solidFill>
                  <a:srgbClr val="8C6239"/>
                </a:solidFill>
                <a:latin typeface="+mn-lt" pitchFamily="34" charset="0"/>
                <a:hlinkClick r:id="rId16" invalidUrl="" action="" tgtFrame="" tooltip="" history="1" highlightClick="0" endSnd="0">
                  <a:extLst>
                    <a:ext uri="{A12FA001-AC4F-418D-AE19-62706E023703}">
                      <ahyp:hlinkClr xmlns:ahyp="http://schemas.microsoft.com/office/drawing/2018/hyperlinkcolor" val="tx"/>
                    </a:ext>
                  </a:extLst>
                </a:hlinkClick>
              </a:rPr>
              <a:t>BLS via FRED</a:t>
            </a:r>
            <a:pPr algn="l" indent="0" marL="0">
              <a:lnSpc>
                <a:spcPts val="1300"/>
              </a:lnSpc>
              <a:buNone/>
            </a:pPr>
            <a:r>
              <a:rPr lang="en-US" sz="850" dirty="0">
                <a:solidFill>
                  <a:srgbClr val="333231"/>
                </a:solidFill>
                <a:latin typeface="+mn-lt" pitchFamily="34" charset="0"/>
              </a:rPr>
              <a:t>).</a:t>
            </a:r>
            <a:endParaRPr lang="en-US" sz="850" dirty="0"/>
          </a:p>
        </p:txBody>
      </p:sp>
      <p:sp>
        <p:nvSpPr>
          <p:cNvPr id="51" name="Shape e48s0"/>
          <p:cNvSpPr/>
          <p:nvPr/>
        </p:nvSpPr>
        <p:spPr>
          <a:xfrm>
            <a:off x="590520" y="5848320"/>
            <a:ext cx="4181460" cy="9510"/>
          </a:xfrm>
          <a:prstGeom prst="rect">
            <a:avLst/>
          </a:prstGeom>
          <a:solidFill>
            <a:srgbClr val="E3DCD3"/>
          </a:solidFill>
          <a:ln/>
        </p:spPr>
        <p:txBody>
          <a:bodyPr/>
          <a:p/>
        </p:txBody>
      </p:sp>
      <p:sp>
        <p:nvSpPr>
          <p:cNvPr id="52" name="Text e48"/>
          <p:cNvSpPr txBox="1"/>
          <p:nvPr/>
        </p:nvSpPr>
        <p:spPr>
          <a:xfrm>
            <a:off x="590520" y="5919826"/>
            <a:ext cx="4014765" cy="161940"/>
          </a:xfrm>
          <a:prstGeom prst="rect">
            <a:avLst/>
          </a:prstGeom>
          <a:noFill/>
          <a:ln/>
        </p:spPr>
        <p:txBody>
          <a:bodyPr wrap="none" lIns="0" tIns="0" rIns="0" bIns="0" rtlCol="0" anchor="t"/>
          <a:lstStyle/>
          <a:p>
            <a:pPr algn="l" indent="0" marL="0">
              <a:lnSpc>
                <a:spcPts val="1300"/>
              </a:lnSpc>
              <a:buNone/>
            </a:pPr>
            <a:r>
              <a:rPr lang="en-US" sz="950" i="1" dirty="0">
                <a:solidFill>
                  <a:srgbClr val="2A2928"/>
                </a:solidFill>
                <a:latin typeface="+mj-lt" pitchFamily="34" charset="0"/>
              </a:rPr>
              <a:t>Skilled trades, engineering and healthcare placements are drawing acquirers.</a:t>
            </a:r>
            <a:endParaRPr lang="en-US" sz="950" dirty="0"/>
          </a:p>
        </p:txBody>
      </p:sp>
      <p:sp>
        <p:nvSpPr>
          <p:cNvPr id="53" name="Shape e49"/>
          <p:cNvSpPr/>
          <p:nvPr/>
        </p:nvSpPr>
        <p:spPr>
          <a:xfrm>
            <a:off x="5114971" y="4622749"/>
            <a:ext cx="4524360" cy="1568470"/>
          </a:xfrm>
          <a:prstGeom prst="rect">
            <a:avLst/>
          </a:prstGeom>
          <a:solidFill>
            <a:srgbClr val="FAF7F3"/>
          </a:solidFill>
          <a:ln/>
        </p:spPr>
        <p:txBody>
          <a:bodyPr/>
          <a:p/>
        </p:txBody>
      </p:sp>
      <p:sp>
        <p:nvSpPr>
          <p:cNvPr id="54" name="Shape e49s0"/>
          <p:cNvSpPr/>
          <p:nvPr/>
        </p:nvSpPr>
        <p:spPr>
          <a:xfrm>
            <a:off x="5114971" y="4622749"/>
            <a:ext cx="4524360" cy="28621"/>
          </a:xfrm>
          <a:prstGeom prst="rect">
            <a:avLst/>
          </a:prstGeom>
          <a:solidFill>
            <a:srgbClr val="B68757"/>
          </a:solidFill>
          <a:ln/>
        </p:spPr>
        <p:txBody>
          <a:bodyPr/>
          <a:p/>
        </p:txBody>
      </p:sp>
      <p:sp>
        <p:nvSpPr>
          <p:cNvPr id="55" name="Shape e51"/>
          <p:cNvSpPr/>
          <p:nvPr/>
        </p:nvSpPr>
        <p:spPr>
          <a:xfrm>
            <a:off x="5286421" y="4765670"/>
            <a:ext cx="381030" cy="381030"/>
          </a:xfrm>
          <a:prstGeom prst="ellipse">
            <a:avLst/>
          </a:prstGeom>
          <a:solidFill>
            <a:srgbClr val="1B1A1A"/>
          </a:solidFill>
          <a:ln/>
        </p:spPr>
        <p:txBody>
          <a:bodyPr/>
          <a:p/>
        </p:txBody>
      </p:sp>
      <p:pic>
        <p:nvPicPr>
          <p:cNvPr id="56" name="Icon e52">    </p:cNvPr>
          <p:cNvPicPr>
            <a:picLocks noChangeAspect="1"/>
          </p:cNvPicPr>
          <p:nvPr/>
        </p:nvPicPr>
        <p:blipFill>
          <a:blip r:embed="rId17"/>
          <a:stretch>
            <a:fillRect/>
          </a:stretch>
        </p:blipFill>
        <p:spPr>
          <a:xfrm>
            <a:off x="5353080" y="4832330"/>
            <a:ext cx="247620" cy="247620"/>
          </a:xfrm>
          <a:prstGeom prst="rect">
            <a:avLst/>
          </a:prstGeom>
        </p:spPr>
      </p:pic>
      <p:sp>
        <p:nvSpPr>
          <p:cNvPr id="57" name="Text e53"/>
          <p:cNvSpPr txBox="1"/>
          <p:nvPr/>
        </p:nvSpPr>
        <p:spPr>
          <a:xfrm>
            <a:off x="5781660" y="4779935"/>
            <a:ext cx="2847990" cy="342900"/>
          </a:xfrm>
          <a:prstGeom prst="rect">
            <a:avLst/>
          </a:prstGeom>
          <a:noFill/>
          <a:ln/>
        </p:spPr>
        <p:txBody>
          <a:bodyPr wrap="square" lIns="0" tIns="0" rIns="0" bIns="0" rtlCol="0" anchor="t"/>
          <a:lstStyle/>
          <a:p>
            <a:pPr algn="l" indent="0" marL="0">
              <a:lnSpc>
                <a:spcPts val="1350"/>
              </a:lnSpc>
              <a:buNone/>
            </a:pPr>
            <a:r>
              <a:rPr lang="en-US" sz="1000" b="1" dirty="0">
                <a:solidFill>
                  <a:srgbClr val="1B1A1A"/>
                </a:solidFill>
                <a:latin typeface="+mn-lt" pitchFamily="34" charset="0"/>
              </a:rPr>
              <a:t>Advertising is growing while AI changes what agencies sell</a:t>
            </a:r>
            <a:endParaRPr lang="en-US" sz="1000" dirty="0"/>
          </a:p>
        </p:txBody>
      </p:sp>
      <p:sp>
        <p:nvSpPr>
          <p:cNvPr id="58" name="Text e54"/>
          <p:cNvSpPr txBox="1"/>
          <p:nvPr/>
        </p:nvSpPr>
        <p:spPr>
          <a:xfrm>
            <a:off x="8743036" y="4808464"/>
            <a:ext cx="781903" cy="285750"/>
          </a:xfrm>
          <a:prstGeom prst="rect">
            <a:avLst/>
          </a:prstGeom>
          <a:noFill/>
          <a:ln/>
        </p:spPr>
        <p:txBody>
          <a:bodyPr wrap="none" lIns="0" tIns="0" rIns="0" bIns="0" rtlCol="0" anchor="t"/>
          <a:lstStyle/>
          <a:p>
            <a:pPr algn="l" indent="0" marL="0">
              <a:lnSpc>
                <a:spcPts val="2250"/>
              </a:lnSpc>
              <a:buNone/>
            </a:pPr>
            <a:r>
              <a:rPr lang="en-US" sz="2050" b="1" dirty="0">
                <a:solidFill>
                  <a:srgbClr val="8C6239"/>
                </a:solidFill>
                <a:latin typeface="+mj-lt" pitchFamily="34" charset="0"/>
              </a:rPr>
              <a:t>+9.6%</a:t>
            </a:r>
            <a:endParaRPr lang="en-US" sz="2050" dirty="0"/>
          </a:p>
        </p:txBody>
      </p:sp>
      <p:sp>
        <p:nvSpPr>
          <p:cNvPr id="59" name="Text e55"/>
          <p:cNvSpPr txBox="1"/>
          <p:nvPr/>
        </p:nvSpPr>
        <p:spPr>
          <a:xfrm>
            <a:off x="5286421" y="5222870"/>
            <a:ext cx="4181460" cy="485821"/>
          </a:xfrm>
          <a:prstGeom prst="rect">
            <a:avLst/>
          </a:prstGeom>
          <a:noFill/>
          <a:ln/>
        </p:spPr>
        <p:txBody>
          <a:bodyPr wrap="square" lIns="0" tIns="0" rIns="0" bIns="0" rtlCol="0" anchor="t"/>
          <a:lstStyle/>
          <a:p>
            <a:pPr algn="l" indent="0" marL="0">
              <a:lnSpc>
                <a:spcPts val="1300"/>
              </a:lnSpc>
              <a:buNone/>
            </a:pPr>
            <a:r>
              <a:rPr lang="en-US" sz="850" dirty="0">
                <a:solidFill>
                  <a:srgbClr val="333231"/>
                </a:solidFill>
                <a:latin typeface="+mn-lt" pitchFamily="34" charset="0"/>
              </a:rPr>
              <a:t>US advertising revenue is forecast to grow 9.6% in 2026 (</a:t>
            </a:r>
            <a:pPr algn="l" indent="0" marL="0">
              <a:lnSpc>
                <a:spcPts val="1300"/>
              </a:lnSpc>
              <a:buNone/>
            </a:pPr>
            <a:r>
              <a:rPr lang="en-US" sz="850" u="sng" dirty="0">
                <a:solidFill>
                  <a:srgbClr val="8C6239"/>
                </a:solidFill>
                <a:latin typeface="+mn-lt" pitchFamily="34" charset="0"/>
                <a:hlinkClick r:id="rId18" invalidUrl="" action="" tgtFrame="" tooltip="" history="1" highlightClick="0" endSnd="0">
                  <a:extLst>
                    <a:ext uri="{A12FA001-AC4F-418D-AE19-62706E023703}">
                      <ahyp:hlinkClr xmlns:ahyp="http://schemas.microsoft.com/office/drawing/2018/hyperlinkcolor" val="tx"/>
                    </a:ext>
                  </a:extLst>
                </a:hlinkClick>
              </a:rPr>
              <a:t>MediaPost</a:t>
            </a:r>
            <a:pPr algn="l" indent="0" marL="0">
              <a:lnSpc>
                <a:spcPts val="1300"/>
              </a:lnSpc>
              <a:buNone/>
            </a:pPr>
            <a:r>
              <a:rPr lang="en-US" sz="850" dirty="0">
                <a:solidFill>
                  <a:srgbClr val="333231"/>
                </a:solidFill>
                <a:latin typeface="+mn-lt" pitchFamily="34" charset="0"/>
              </a:rPr>
              <a:t>). Marketing budgets hold at 7.8% of company revenue, with 15.3% of those budgets directed to AI (</a:t>
            </a:r>
            <a:pPr algn="l" indent="0" marL="0">
              <a:lnSpc>
                <a:spcPts val="1300"/>
              </a:lnSpc>
              <a:buNone/>
            </a:pPr>
            <a:r>
              <a:rPr lang="en-US" sz="850" u="sng" dirty="0">
                <a:solidFill>
                  <a:srgbClr val="8C6239"/>
                </a:solidFill>
                <a:latin typeface="+mn-lt" pitchFamily="34" charset="0"/>
                <a:hlinkClick r:id="rId19" invalidUrl="" action="" tgtFrame="" tooltip="" history="1" highlightClick="0" endSnd="0">
                  <a:extLst>
                    <a:ext uri="{A12FA001-AC4F-418D-AE19-62706E023703}">
                      <ahyp:hlinkClr xmlns:ahyp="http://schemas.microsoft.com/office/drawing/2018/hyperlinkcolor" val="tx"/>
                    </a:ext>
                  </a:extLst>
                </a:hlinkClick>
              </a:rPr>
              <a:t>Marketing Dive</a:t>
            </a:r>
            <a:pPr algn="l" indent="0" marL="0">
              <a:lnSpc>
                <a:spcPts val="1300"/>
              </a:lnSpc>
              <a:buNone/>
            </a:pPr>
            <a:r>
              <a:rPr lang="en-US" sz="850" dirty="0">
                <a:solidFill>
                  <a:srgbClr val="333231"/>
                </a:solidFill>
                <a:latin typeface="+mn-lt" pitchFamily="34" charset="0"/>
              </a:rPr>
              <a:t>).</a:t>
            </a:r>
            <a:endParaRPr lang="en-US" sz="850" dirty="0"/>
          </a:p>
        </p:txBody>
      </p:sp>
      <p:sp>
        <p:nvSpPr>
          <p:cNvPr id="60" name="Shape e56s0"/>
          <p:cNvSpPr/>
          <p:nvPr/>
        </p:nvSpPr>
        <p:spPr>
          <a:xfrm>
            <a:off x="5286421" y="5848320"/>
            <a:ext cx="4181460" cy="9510"/>
          </a:xfrm>
          <a:prstGeom prst="rect">
            <a:avLst/>
          </a:prstGeom>
          <a:solidFill>
            <a:srgbClr val="E3DCD3"/>
          </a:solidFill>
          <a:ln/>
        </p:spPr>
        <p:txBody>
          <a:bodyPr/>
          <a:p/>
        </p:txBody>
      </p:sp>
      <p:sp>
        <p:nvSpPr>
          <p:cNvPr id="61" name="Text e56"/>
          <p:cNvSpPr txBox="1"/>
          <p:nvPr/>
        </p:nvSpPr>
        <p:spPr>
          <a:xfrm>
            <a:off x="5286421" y="5919826"/>
            <a:ext cx="3770528" cy="161940"/>
          </a:xfrm>
          <a:prstGeom prst="rect">
            <a:avLst/>
          </a:prstGeom>
          <a:noFill/>
          <a:ln/>
        </p:spPr>
        <p:txBody>
          <a:bodyPr wrap="none" lIns="0" tIns="0" rIns="0" bIns="0" rtlCol="0" anchor="t"/>
          <a:lstStyle/>
          <a:p>
            <a:pPr algn="l" indent="0" marL="0">
              <a:lnSpc>
                <a:spcPts val="1300"/>
              </a:lnSpc>
              <a:buNone/>
            </a:pPr>
            <a:r>
              <a:rPr lang="en-US" sz="950" i="1" dirty="0">
                <a:solidFill>
                  <a:srgbClr val="2A2928"/>
                </a:solidFill>
                <a:latin typeface="+mj-lt" pitchFamily="34" charset="0"/>
              </a:rPr>
              <a:t>Retained clients, first-party data and measurable outcomes hold their value.</a:t>
            </a:r>
            <a:endParaRPr lang="en-US" sz="950" dirty="0"/>
          </a:p>
        </p:txBody>
      </p:sp>
      <p:sp>
        <p:nvSpPr>
          <p:cNvPr id="62" name="Shape e57"/>
          <p:cNvSpPr/>
          <p:nvPr/>
        </p:nvSpPr>
        <p:spPr>
          <a:xfrm>
            <a:off x="419070" y="6324630"/>
            <a:ext cx="9220170" cy="609630"/>
          </a:xfrm>
          <a:prstGeom prst="rect">
            <a:avLst/>
          </a:prstGeom>
          <a:solidFill>
            <a:srgbClr val="1B1A1A"/>
          </a:solidFill>
          <a:ln/>
        </p:spPr>
        <p:txBody>
          <a:bodyPr/>
          <a:p/>
        </p:txBody>
      </p:sp>
      <p:sp>
        <p:nvSpPr>
          <p:cNvPr id="63" name="Text e58"/>
          <p:cNvSpPr txBox="1"/>
          <p:nvPr/>
        </p:nvSpPr>
        <p:spPr>
          <a:xfrm>
            <a:off x="628650" y="6491326"/>
            <a:ext cx="1066830" cy="266730"/>
          </a:xfrm>
          <a:prstGeom prst="rect">
            <a:avLst/>
          </a:prstGeom>
          <a:noFill/>
          <a:ln/>
        </p:spPr>
        <p:txBody>
          <a:bodyPr wrap="square" lIns="0" tIns="0" rIns="0" bIns="0" rtlCol="0" anchor="t"/>
          <a:lstStyle/>
          <a:p>
            <a:pPr algn="l" indent="0" marL="0">
              <a:lnSpc>
                <a:spcPts val="1050"/>
              </a:lnSpc>
              <a:buNone/>
            </a:pPr>
            <a:r>
              <a:rPr lang="en-US" sz="700" b="1" spc="200" kern="0" dirty="0">
                <a:solidFill>
                  <a:srgbClr val="D3AE84"/>
                </a:solidFill>
                <a:latin typeface="+mn-lt" pitchFamily="34" charset="0"/>
              </a:rPr>
              <a:t>WHAT IT MEANS</a:t>
            </a:r>
            <a:endParaRPr lang="en-US" sz="700" dirty="0"/>
          </a:p>
          <a:p>
            <a:pPr algn="l" indent="0" marL="0">
              <a:lnSpc>
                <a:spcPts val="1050"/>
              </a:lnSpc>
              <a:buNone/>
            </a:pPr>
            <a:r>
              <a:rPr lang="en-US" sz="700" b="1" spc="200" kern="0" dirty="0">
                <a:solidFill>
                  <a:srgbClr val="D3AE84"/>
                </a:solidFill>
                <a:latin typeface="+mn-lt" pitchFamily="34" charset="0"/>
              </a:rPr>
              <a:t>FOR OWNERS</a:t>
            </a:r>
            <a:endParaRPr lang="en-US" sz="700" dirty="0"/>
          </a:p>
        </p:txBody>
      </p:sp>
      <p:sp>
        <p:nvSpPr>
          <p:cNvPr id="64" name="Shape e59"/>
          <p:cNvSpPr/>
          <p:nvPr/>
        </p:nvSpPr>
        <p:spPr>
          <a:xfrm>
            <a:off x="1885950" y="6438930"/>
            <a:ext cx="9510" cy="381030"/>
          </a:xfrm>
          <a:prstGeom prst="ellipse">
            <a:avLst/>
          </a:prstGeom>
          <a:solidFill>
            <a:srgbClr val="FFFFFF">
              <a:alpha val="20000"/>
            </a:srgbClr>
          </a:solidFill>
          <a:ln/>
        </p:spPr>
        <p:txBody>
          <a:bodyPr/>
          <a:p/>
        </p:txBody>
      </p:sp>
      <p:sp>
        <p:nvSpPr>
          <p:cNvPr id="65" name="Text e60"/>
          <p:cNvSpPr txBox="1"/>
          <p:nvPr/>
        </p:nvSpPr>
        <p:spPr>
          <a:xfrm>
            <a:off x="2086021" y="6353160"/>
            <a:ext cx="7343821" cy="542971"/>
          </a:xfrm>
          <a:prstGeom prst="rect">
            <a:avLst/>
          </a:prstGeom>
          <a:noFill/>
          <a:ln/>
        </p:spPr>
        <p:txBody>
          <a:bodyPr wrap="square" lIns="0" tIns="0" rIns="0" bIns="0" rtlCol="0" anchor="t"/>
          <a:lstStyle/>
          <a:p>
            <a:pPr algn="l" indent="0" marL="0">
              <a:lnSpc>
                <a:spcPts val="1450"/>
              </a:lnSpc>
              <a:buNone/>
            </a:pPr>
            <a:r>
              <a:rPr lang="en-US" sz="1000" dirty="0">
                <a:solidFill>
                  <a:srgbClr val="FFFFFF"/>
                </a:solidFill>
                <a:latin typeface="+mj-lt" pitchFamily="34" charset="0"/>
              </a:rPr>
              <a:t>Buyers pay most readily for revenue that repeats under contract. Completed middle-market transactions averaged 7.0x EBITDA in the second quarter (</a:t>
            </a:r>
            <a:pPr algn="l" indent="0" marL="0">
              <a:lnSpc>
                <a:spcPts val="1450"/>
              </a:lnSpc>
              <a:buNone/>
            </a:pPr>
            <a:r>
              <a:rPr lang="en-US" sz="1000" u="sng" dirty="0">
                <a:solidFill>
                  <a:srgbClr val="D3AE84"/>
                </a:solidFill>
                <a:latin typeface="+mj-lt" pitchFamily="34" charset="0"/>
                <a:hlinkClick r:id="rId20" invalidUrl="" action="" tgtFrame="" tooltip="" history="1" highlightClick="0" endSnd="0">
                  <a:extLst>
                    <a:ext uri="{A12FA001-AC4F-418D-AE19-62706E023703}">
                      <ahyp:hlinkClr xmlns:ahyp="http://schemas.microsoft.com/office/drawing/2018/hyperlinkcolor" val="tx"/>
                    </a:ext>
                  </a:extLst>
                </a:hlinkClick>
              </a:rPr>
              <a:t>GF Data via ACG</a:t>
            </a:r>
            <a:pPr algn="l" indent="0" marL="0">
              <a:lnSpc>
                <a:spcPts val="1450"/>
              </a:lnSpc>
              <a:buNone/>
            </a:pPr>
            <a:r>
              <a:rPr lang="en-US" sz="1000" dirty="0">
                <a:solidFill>
                  <a:srgbClr val="FFFFFF"/>
                </a:solidFill>
                <a:latin typeface="+mj-lt" pitchFamily="34" charset="0"/>
              </a:rPr>
              <a:t>), the median multiple on sales of $5 million to $50 million reached 5.8x (</a:t>
            </a:r>
            <a:pPr algn="l" indent="0" marL="0">
              <a:lnSpc>
                <a:spcPts val="1450"/>
              </a:lnSpc>
              <a:buNone/>
            </a:pPr>
            <a:r>
              <a:rPr lang="en-US" sz="1000" u="sng" dirty="0">
                <a:solidFill>
                  <a:srgbClr val="D3AE84"/>
                </a:solidFill>
                <a:latin typeface="+mj-lt" pitchFamily="34" charset="0"/>
                <a:hlinkClick r:id="rId21" invalidUrl="" action="" tgtFrame="" tooltip="" history="1" highlightClick="0" endSnd="0">
                  <a:extLst>
                    <a:ext uri="{A12FA001-AC4F-418D-AE19-62706E023703}">
                      <ahyp:hlinkClr xmlns:ahyp="http://schemas.microsoft.com/office/drawing/2018/hyperlinkcolor" val="tx"/>
                    </a:ext>
                  </a:extLst>
                </a:hlinkClick>
              </a:rPr>
              <a:t>IBBA and M&amp;A Source</a:t>
            </a:r>
            <a:pPr algn="l" indent="0" marL="0">
              <a:lnSpc>
                <a:spcPts val="1450"/>
              </a:lnSpc>
              <a:buNone/>
            </a:pPr>
            <a:r>
              <a:rPr lang="en-US" sz="1000" dirty="0">
                <a:solidFill>
                  <a:srgbClr val="FFFFFF"/>
                </a:solidFill>
                <a:latin typeface="+mj-lt" pitchFamily="34" charset="0"/>
              </a:rPr>
              <a:t>), and 87% of sales above $5 million drew three or more offers (</a:t>
            </a:r>
            <a:pPr algn="l" indent="0" marL="0">
              <a:lnSpc>
                <a:spcPts val="1450"/>
              </a:lnSpc>
              <a:buNone/>
            </a:pPr>
            <a:r>
              <a:rPr lang="en-US" sz="1000" u="sng" dirty="0">
                <a:solidFill>
                  <a:srgbClr val="D3AE84"/>
                </a:solidFill>
                <a:latin typeface="+mj-lt" pitchFamily="34" charset="0"/>
                <a:hlinkClick r:id="rId22" invalidUrl="" action="" tgtFrame="" tooltip="" history="1" highlightClick="0" endSnd="0">
                  <a:extLst>
                    <a:ext uri="{A12FA001-AC4F-418D-AE19-62706E023703}">
                      <ahyp:hlinkClr xmlns:ahyp="http://schemas.microsoft.com/office/drawing/2018/hyperlinkcolor" val="tx"/>
                    </a:ext>
                  </a:extLst>
                </a:hlinkClick>
              </a:rPr>
              <a:t>IBBA and M&amp;A Source release</a:t>
            </a:r>
            <a:pPr algn="l" indent="0" marL="0">
              <a:lnSpc>
                <a:spcPts val="1450"/>
              </a:lnSpc>
              <a:buNone/>
            </a:pPr>
            <a:r>
              <a:rPr lang="en-US" sz="1000" dirty="0">
                <a:solidFill>
                  <a:srgbClr val="FFFFFF"/>
                </a:solidFill>
                <a:latin typeface="+mj-lt" pitchFamily="34" charset="0"/>
              </a:rPr>
              <a:t>).</a:t>
            </a:r>
            <a:endParaRPr lang="en-US" sz="1000" dirty="0"/>
          </a:p>
        </p:txBody>
      </p:sp>
      <p:sp>
        <p:nvSpPr>
          <p:cNvPr id="66" name="Shape e61"/>
          <p:cNvSpPr/>
          <p:nvPr/>
        </p:nvSpPr>
        <p:spPr>
          <a:xfrm>
            <a:off x="419070" y="7029450"/>
            <a:ext cx="9220170" cy="9510"/>
          </a:xfrm>
          <a:prstGeom prst="ellipse">
            <a:avLst/>
          </a:prstGeom>
          <a:solidFill>
            <a:srgbClr val="E3DCD3"/>
          </a:solidFill>
          <a:ln/>
        </p:spPr>
        <p:txBody>
          <a:bodyPr/>
          <a:p/>
        </p:txBody>
      </p:sp>
      <p:pic>
        <p:nvPicPr>
          <p:cNvPr id="67" name="Picture e62" descr="Benchmark International">    </p:cNvPr>
          <p:cNvPicPr>
            <a:picLocks noChangeAspect="1"/>
          </p:cNvPicPr>
          <p:nvPr/>
        </p:nvPicPr>
        <p:blipFill>
          <a:blip r:embed="rId23"/>
          <a:stretch>
            <a:fillRect/>
          </a:stretch>
        </p:blipFill>
        <p:spPr>
          <a:xfrm>
            <a:off x="419070" y="7143750"/>
            <a:ext cx="914400" cy="171450"/>
          </a:xfrm>
          <a:prstGeom prst="rect">
            <a:avLst/>
          </a:prstGeom>
        </p:spPr>
      </p:pic>
      <p:sp>
        <p:nvSpPr>
          <p:cNvPr id="68" name="Text e63"/>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Figures are the latest published as of October 7, 2026, and each is linked to its source. The 10-year Treasury figure is the monthly average for September 2026. EBITDA is earnings before interest, taxes, depreciation and amortization.</a:t>
            </a:r>
            <a:endParaRPr lang="en-US" sz="700" dirty="0"/>
          </a:p>
        </p:txBody>
      </p:sp>
      <p:sp>
        <p:nvSpPr>
          <p:cNvPr id="69" name="Text e64"/>
          <p:cNvSpPr txBox="1"/>
          <p:nvPr/>
        </p:nvSpPr>
        <p:spPr>
          <a:xfrm>
            <a:off x="9497050" y="7162770"/>
            <a:ext cx="142921"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03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3549518"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Perspectives on Five Sectors</a:t>
            </a:r>
            <a:endParaRPr lang="en-US" sz="2050" dirty="0"/>
          </a:p>
        </p:txBody>
      </p:sp>
      <p:sp>
        <p:nvSpPr>
          <p:cNvPr id="6" name="Text e5"/>
          <p:cNvSpPr txBox="1"/>
          <p:nvPr/>
        </p:nvSpPr>
        <p:spPr>
          <a:xfrm>
            <a:off x="419070" y="883402"/>
            <a:ext cx="7079193"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Each sector has its own buyers and drivers, and the same five tests decide how a buyer values a business in any of them.</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2971800" cy="2786085"/>
          </a:xfrm>
          <a:prstGeom prst="rect">
            <a:avLst/>
          </a:prstGeom>
          <a:solidFill>
            <a:srgbClr val="FFFFFF"/>
          </a:solidFill>
          <a:ln w="12700">
            <a:solidFill>
              <a:srgbClr val="E3DCD3"/>
            </a:solidFill>
            <a:prstDash val="solid"/>
          </a:ln>
        </p:spPr>
        <p:txBody>
          <a:bodyPr/>
          <a:p/>
        </p:txBody>
      </p:sp>
      <p:sp>
        <p:nvSpPr>
          <p:cNvPr id="9" name="Shape e10"/>
          <p:cNvSpPr/>
          <p:nvPr/>
        </p:nvSpPr>
        <p:spPr>
          <a:xfrm>
            <a:off x="428671" y="1247790"/>
            <a:ext cx="2952780" cy="381030"/>
          </a:xfrm>
          <a:prstGeom prst="rect">
            <a:avLst/>
          </a:prstGeom>
          <a:solidFill>
            <a:srgbClr val="1B1A1A"/>
          </a:solidFill>
          <a:ln/>
        </p:spPr>
        <p:txBody>
          <a:bodyPr/>
          <a:p/>
        </p:txBody>
      </p:sp>
      <p:pic>
        <p:nvPicPr>
          <p:cNvPr id="10" name="Picture e11" descr="Window cleaners working on a glass office facade">    </p:cNvPr>
          <p:cNvPicPr>
            <a:picLocks noChangeAspect="1"/>
          </p:cNvPicPr>
          <p:nvPr/>
        </p:nvPicPr>
        <p:blipFill>
          <a:blip r:embed="rId1"/>
          <a:stretch>
            <a:fillRect/>
          </a:stretch>
        </p:blipFill>
        <p:spPr>
          <a:xfrm>
            <a:off x="1952610" y="1247790"/>
            <a:ext cx="1428750" cy="381030"/>
          </a:xfrm>
          <a:prstGeom prst="rect">
            <a:avLst/>
          </a:prstGeom>
        </p:spPr>
      </p:pic>
      <p:pic>
        <p:nvPicPr>
          <p:cNvPr id="11" name="Icon e14">    </p:cNvPr>
          <p:cNvPicPr>
            <a:picLocks noChangeAspect="1"/>
          </p:cNvPicPr>
          <p:nvPr/>
        </p:nvPicPr>
        <p:blipFill>
          <a:blip r:embed="rId2"/>
          <a:stretch>
            <a:fillRect/>
          </a:stretch>
        </p:blipFill>
        <p:spPr>
          <a:xfrm>
            <a:off x="561990" y="1343071"/>
            <a:ext cx="190470" cy="190470"/>
          </a:xfrm>
          <a:prstGeom prst="rect">
            <a:avLst/>
          </a:prstGeom>
        </p:spPr>
      </p:pic>
      <p:sp>
        <p:nvSpPr>
          <p:cNvPr id="12" name="Text e15"/>
          <p:cNvSpPr txBox="1"/>
          <p:nvPr/>
        </p:nvSpPr>
        <p:spPr>
          <a:xfrm>
            <a:off x="847740" y="1319205"/>
            <a:ext cx="1676370" cy="228600"/>
          </a:xfrm>
          <a:prstGeom prst="rect">
            <a:avLst/>
          </a:prstGeom>
          <a:noFill/>
          <a:ln/>
        </p:spPr>
        <p:txBody>
          <a:bodyPr wrap="square" lIns="0" tIns="0" rIns="0" bIns="0" rtlCol="0" anchor="t"/>
          <a:lstStyle/>
          <a:p>
            <a:pPr algn="l" indent="0" marL="0">
              <a:lnSpc>
                <a:spcPts val="900"/>
              </a:lnSpc>
              <a:buNone/>
            </a:pPr>
            <a:r>
              <a:rPr lang="en-US" sz="700" b="1" spc="100" kern="0" dirty="0">
                <a:solidFill>
                  <a:srgbClr val="FFFFFF"/>
                </a:solidFill>
                <a:latin typeface="+mn-lt" pitchFamily="34" charset="0"/>
              </a:rPr>
              <a:t>COMMERCIAL &amp; FACILITY SERVICES</a:t>
            </a:r>
            <a:endParaRPr lang="en-US" sz="700" dirty="0"/>
          </a:p>
        </p:txBody>
      </p:sp>
      <p:sp>
        <p:nvSpPr>
          <p:cNvPr id="13" name="Text e17"/>
          <p:cNvSpPr txBox="1"/>
          <p:nvPr/>
        </p:nvSpPr>
        <p:spPr>
          <a:xfrm>
            <a:off x="561990" y="1704990"/>
            <a:ext cx="2686050" cy="323880"/>
          </a:xfrm>
          <a:prstGeom prst="rect">
            <a:avLst/>
          </a:prstGeom>
          <a:noFill/>
          <a:ln/>
        </p:spPr>
        <p:txBody>
          <a:bodyPr wrap="square" lIns="0" tIns="0" rIns="0" bIns="0" rtlCol="0" anchor="t"/>
          <a:lstStyle/>
          <a:p>
            <a:pPr algn="l" indent="0" marL="0">
              <a:lnSpc>
                <a:spcPts val="1300"/>
              </a:lnSpc>
              <a:buNone/>
            </a:pPr>
            <a:r>
              <a:rPr lang="en-US" sz="1000" i="1" dirty="0">
                <a:solidFill>
                  <a:srgbClr val="1B1A1A"/>
                </a:solidFill>
                <a:latin typeface="+mj-lt" pitchFamily="34" charset="0"/>
              </a:rPr>
              <a:t>Contracted, inspection-driven revenue is drawing the most active consolidators.</a:t>
            </a:r>
            <a:endParaRPr lang="en-US" sz="1000" dirty="0"/>
          </a:p>
        </p:txBody>
      </p:sp>
      <p:sp>
        <p:nvSpPr>
          <p:cNvPr id="14" name="Text e19"/>
          <p:cNvSpPr txBox="1"/>
          <p:nvPr/>
        </p:nvSpPr>
        <p:spPr>
          <a:xfrm>
            <a:off x="561990" y="2081174"/>
            <a:ext cx="1436797"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MARKET SIZE AND GROWTH</a:t>
            </a:r>
            <a:endParaRPr lang="en-US" sz="550" dirty="0"/>
          </a:p>
        </p:txBody>
      </p:sp>
      <p:sp>
        <p:nvSpPr>
          <p:cNvPr id="15" name="Text e20"/>
          <p:cNvSpPr txBox="1"/>
          <p:nvPr/>
        </p:nvSpPr>
        <p:spPr>
          <a:xfrm>
            <a:off x="561990" y="2214585"/>
            <a:ext cx="2686050" cy="40005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Recurring monthly revenue at the 100 largest security dealers rose 7% to $740 million in 2025 (</a:t>
            </a:r>
            <a:pPr algn="l" indent="0" marL="0">
              <a:lnSpc>
                <a:spcPts val="1050"/>
              </a:lnSpc>
              <a:buNone/>
            </a:pPr>
            <a:r>
              <a:rPr lang="en-US" sz="75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SDM</a:t>
            </a:r>
            <a:pPr algn="l" indent="0" marL="0">
              <a:lnSpc>
                <a:spcPts val="1050"/>
              </a:lnSpc>
              <a:buNone/>
            </a:pPr>
            <a:r>
              <a:rPr lang="en-US" sz="750" dirty="0">
                <a:solidFill>
                  <a:srgbClr val="333231"/>
                </a:solidFill>
                <a:latin typeface="+mn-lt" pitchFamily="34" charset="0"/>
              </a:rPr>
              <a:t>), and SGS grew 5.6% organically in the first half (</a:t>
            </a:r>
            <a:pPr algn="l" indent="0" marL="0">
              <a:lnSpc>
                <a:spcPts val="1050"/>
              </a:lnSpc>
              <a:buNone/>
            </a:pPr>
            <a:r>
              <a:rPr lang="en-US" sz="75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SGS</a:t>
            </a:r>
            <a:pPr algn="l" indent="0" marL="0">
              <a:lnSpc>
                <a:spcPts val="1050"/>
              </a:lnSpc>
              <a:buNone/>
            </a:pPr>
            <a:r>
              <a:rPr lang="en-US" sz="750" dirty="0">
                <a:solidFill>
                  <a:srgbClr val="333231"/>
                </a:solidFill>
                <a:latin typeface="+mn-lt" pitchFamily="34" charset="0"/>
              </a:rPr>
              <a:t>).</a:t>
            </a:r>
            <a:endParaRPr lang="en-US" sz="750" dirty="0"/>
          </a:p>
        </p:txBody>
      </p:sp>
      <p:sp>
        <p:nvSpPr>
          <p:cNvPr id="16" name="Text e22"/>
          <p:cNvSpPr txBox="1"/>
          <p:nvPr/>
        </p:nvSpPr>
        <p:spPr>
          <a:xfrm>
            <a:off x="561990" y="2671785"/>
            <a:ext cx="84024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ACTIVE BUYERS</a:t>
            </a:r>
            <a:endParaRPr lang="en-US" sz="550" dirty="0"/>
          </a:p>
        </p:txBody>
      </p:sp>
      <p:sp>
        <p:nvSpPr>
          <p:cNvPr id="17" name="Text e23"/>
          <p:cNvSpPr txBox="1"/>
          <p:nvPr/>
        </p:nvSpPr>
        <p:spPr>
          <a:xfrm>
            <a:off x="561990" y="2805105"/>
            <a:ext cx="2686050" cy="53337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Pye-Barker, APi Group, AI Fire and Cintas in fire and safety; Allied Universal in guarding; DEX Imaging and UBEO in office technology; SGS and TIC Solutions in testing.</a:t>
            </a:r>
            <a:endParaRPr lang="en-US" sz="750" dirty="0"/>
          </a:p>
        </p:txBody>
      </p:sp>
      <p:sp>
        <p:nvSpPr>
          <p:cNvPr id="18" name="Text e25"/>
          <p:cNvSpPr txBox="1"/>
          <p:nvPr/>
        </p:nvSpPr>
        <p:spPr>
          <a:xfrm>
            <a:off x="561990" y="3395624"/>
            <a:ext cx="121871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WHAT BUYERS REWARD</a:t>
            </a:r>
            <a:endParaRPr lang="en-US" sz="550" dirty="0"/>
          </a:p>
        </p:txBody>
      </p:sp>
      <p:sp>
        <p:nvSpPr>
          <p:cNvPr id="19" name="Text e26"/>
          <p:cNvSpPr txBox="1"/>
          <p:nvPr/>
        </p:nvSpPr>
        <p:spPr>
          <a:xfrm>
            <a:off x="561990" y="3529035"/>
            <a:ext cx="2686050" cy="26673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Inspection, monitoring and service contracts that renew each year, and licenses held by the company.</a:t>
            </a:r>
            <a:endParaRPr lang="en-US" sz="750" dirty="0"/>
          </a:p>
        </p:txBody>
      </p:sp>
      <p:sp>
        <p:nvSpPr>
          <p:cNvPr id="20" name="Shape e27"/>
          <p:cNvSpPr/>
          <p:nvPr/>
        </p:nvSpPr>
        <p:spPr>
          <a:xfrm>
            <a:off x="3543300" y="1238280"/>
            <a:ext cx="2971800" cy="2786085"/>
          </a:xfrm>
          <a:prstGeom prst="rect">
            <a:avLst/>
          </a:prstGeom>
          <a:solidFill>
            <a:srgbClr val="FFFFFF"/>
          </a:solidFill>
          <a:ln w="12700">
            <a:solidFill>
              <a:srgbClr val="E3DCD3"/>
            </a:solidFill>
            <a:prstDash val="solid"/>
          </a:ln>
        </p:spPr>
        <p:txBody>
          <a:bodyPr/>
          <a:p/>
        </p:txBody>
      </p:sp>
      <p:sp>
        <p:nvSpPr>
          <p:cNvPr id="21" name="Shape e28"/>
          <p:cNvSpPr/>
          <p:nvPr/>
        </p:nvSpPr>
        <p:spPr>
          <a:xfrm>
            <a:off x="3552810" y="1247790"/>
            <a:ext cx="2952780" cy="381030"/>
          </a:xfrm>
          <a:prstGeom prst="rect">
            <a:avLst/>
          </a:prstGeom>
          <a:solidFill>
            <a:srgbClr val="1B1A1A"/>
          </a:solidFill>
          <a:ln/>
        </p:spPr>
        <p:txBody>
          <a:bodyPr/>
          <a:p/>
        </p:txBody>
      </p:sp>
      <p:pic>
        <p:nvPicPr>
          <p:cNvPr id="22" name="Picture e29" descr="A hand drawing a marketing plan on a glass board">    </p:cNvPr>
          <p:cNvPicPr>
            <a:picLocks noChangeAspect="1"/>
          </p:cNvPicPr>
          <p:nvPr/>
        </p:nvPicPr>
        <p:blipFill>
          <a:blip r:embed="rId5"/>
          <a:stretch>
            <a:fillRect/>
          </a:stretch>
        </p:blipFill>
        <p:spPr>
          <a:xfrm>
            <a:off x="5076840" y="1247790"/>
            <a:ext cx="1428750" cy="381030"/>
          </a:xfrm>
          <a:prstGeom prst="rect">
            <a:avLst/>
          </a:prstGeom>
        </p:spPr>
      </p:pic>
      <p:pic>
        <p:nvPicPr>
          <p:cNvPr id="23" name="Icon e32">    </p:cNvPr>
          <p:cNvPicPr>
            <a:picLocks noChangeAspect="1"/>
          </p:cNvPicPr>
          <p:nvPr/>
        </p:nvPicPr>
        <p:blipFill>
          <a:blip r:embed="rId6"/>
          <a:stretch>
            <a:fillRect/>
          </a:stretch>
        </p:blipFill>
        <p:spPr>
          <a:xfrm>
            <a:off x="3686221" y="1343071"/>
            <a:ext cx="190470" cy="190470"/>
          </a:xfrm>
          <a:prstGeom prst="rect">
            <a:avLst/>
          </a:prstGeom>
        </p:spPr>
      </p:pic>
      <p:sp>
        <p:nvSpPr>
          <p:cNvPr id="24" name="Text e33"/>
          <p:cNvSpPr txBox="1"/>
          <p:nvPr/>
        </p:nvSpPr>
        <p:spPr>
          <a:xfrm>
            <a:off x="3971971" y="1319205"/>
            <a:ext cx="1676370" cy="228600"/>
          </a:xfrm>
          <a:prstGeom prst="rect">
            <a:avLst/>
          </a:prstGeom>
          <a:noFill/>
          <a:ln/>
        </p:spPr>
        <p:txBody>
          <a:bodyPr wrap="square" lIns="0" tIns="0" rIns="0" bIns="0" rtlCol="0" anchor="t"/>
          <a:lstStyle/>
          <a:p>
            <a:pPr algn="l" indent="0" marL="0">
              <a:lnSpc>
                <a:spcPts val="900"/>
              </a:lnSpc>
              <a:buNone/>
            </a:pPr>
            <a:r>
              <a:rPr lang="en-US" sz="700" b="1" spc="100" kern="0" dirty="0">
                <a:solidFill>
                  <a:srgbClr val="FFFFFF"/>
                </a:solidFill>
                <a:latin typeface="+mn-lt" pitchFamily="34" charset="0"/>
              </a:rPr>
              <a:t>MARKETING, SALES &amp; TECH-ENABLED SERVICES</a:t>
            </a:r>
            <a:endParaRPr lang="en-US" sz="700" dirty="0"/>
          </a:p>
        </p:txBody>
      </p:sp>
      <p:sp>
        <p:nvSpPr>
          <p:cNvPr id="25" name="Text e35"/>
          <p:cNvSpPr txBox="1"/>
          <p:nvPr/>
        </p:nvSpPr>
        <p:spPr>
          <a:xfrm>
            <a:off x="3686221" y="1704990"/>
            <a:ext cx="2686050" cy="323880"/>
          </a:xfrm>
          <a:prstGeom prst="rect">
            <a:avLst/>
          </a:prstGeom>
          <a:noFill/>
          <a:ln/>
        </p:spPr>
        <p:txBody>
          <a:bodyPr wrap="square" lIns="0" tIns="0" rIns="0" bIns="0" rtlCol="0" anchor="t"/>
          <a:lstStyle/>
          <a:p>
            <a:pPr algn="l" indent="0" marL="0">
              <a:lnSpc>
                <a:spcPts val="1300"/>
              </a:lnSpc>
              <a:buNone/>
            </a:pPr>
            <a:r>
              <a:rPr lang="en-US" sz="1000" i="1" dirty="0">
                <a:solidFill>
                  <a:srgbClr val="1B1A1A"/>
                </a:solidFill>
                <a:latin typeface="+mj-lt" pitchFamily="34" charset="0"/>
              </a:rPr>
              <a:t>Advertising demand is strong, and buyers want specialists with data or a vertical focus.</a:t>
            </a:r>
            <a:endParaRPr lang="en-US" sz="1000" dirty="0"/>
          </a:p>
        </p:txBody>
      </p:sp>
      <p:sp>
        <p:nvSpPr>
          <p:cNvPr id="26" name="Text e37"/>
          <p:cNvSpPr txBox="1"/>
          <p:nvPr/>
        </p:nvSpPr>
        <p:spPr>
          <a:xfrm>
            <a:off x="3686221" y="2081174"/>
            <a:ext cx="1436797"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MARKET SIZE AND GROWTH</a:t>
            </a:r>
            <a:endParaRPr lang="en-US" sz="550" dirty="0"/>
          </a:p>
        </p:txBody>
      </p:sp>
      <p:sp>
        <p:nvSpPr>
          <p:cNvPr id="27" name="Text e38"/>
          <p:cNvSpPr txBox="1"/>
          <p:nvPr/>
        </p:nvSpPr>
        <p:spPr>
          <a:xfrm>
            <a:off x="3686221" y="2214585"/>
            <a:ext cx="2686050" cy="40005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US internet advertising revenue reached $294.6 billion in 2025, up 13.9% (</a:t>
            </a:r>
            <a:pPr algn="l" indent="0" marL="0">
              <a:lnSpc>
                <a:spcPts val="1050"/>
              </a:lnSpc>
              <a:buNone/>
            </a:pPr>
            <a:r>
              <a:rPr lang="en-US" sz="750" u="sng" dirty="0">
                <a:solidFill>
                  <a:srgbClr val="8C6239"/>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IAB and PwC</a:t>
            </a:r>
            <a:pPr algn="l" indent="0" marL="0">
              <a:lnSpc>
                <a:spcPts val="1050"/>
              </a:lnSpc>
              <a:buNone/>
            </a:pPr>
            <a:r>
              <a:rPr lang="en-US" sz="750" dirty="0">
                <a:solidFill>
                  <a:srgbClr val="333231"/>
                </a:solidFill>
                <a:latin typeface="+mn-lt" pitchFamily="34" charset="0"/>
              </a:rPr>
              <a:t>), and promotional products sales reached a record $27.7 billion (</a:t>
            </a:r>
            <a:pPr algn="l" indent="0" marL="0">
              <a:lnSpc>
                <a:spcPts val="1050"/>
              </a:lnSpc>
              <a:buNone/>
            </a:pPr>
            <a:r>
              <a:rPr lang="en-US" sz="750" u="sng" dirty="0">
                <a:solidFill>
                  <a:srgbClr val="8C6239"/>
                </a:solidFill>
                <a:latin typeface="+mn-lt" pitchFamily="34" charset="0"/>
                <a:hlinkClick r:id="rId8" invalidUrl="" action="" tgtFrame="" tooltip="" history="1" highlightClick="0" endSnd="0">
                  <a:extLst>
                    <a:ext uri="{A12FA001-AC4F-418D-AE19-62706E023703}">
                      <ahyp:hlinkClr xmlns:ahyp="http://schemas.microsoft.com/office/drawing/2018/hyperlinkcolor" val="tx"/>
                    </a:ext>
                  </a:extLst>
                </a:hlinkClick>
              </a:rPr>
              <a:t>ASI</a:t>
            </a:r>
            <a:pPr algn="l" indent="0" marL="0">
              <a:lnSpc>
                <a:spcPts val="1050"/>
              </a:lnSpc>
              <a:buNone/>
            </a:pPr>
            <a:r>
              <a:rPr lang="en-US" sz="750" dirty="0">
                <a:solidFill>
                  <a:srgbClr val="333231"/>
                </a:solidFill>
                <a:latin typeface="+mn-lt" pitchFamily="34" charset="0"/>
              </a:rPr>
              <a:t>).</a:t>
            </a:r>
            <a:endParaRPr lang="en-US" sz="750" dirty="0"/>
          </a:p>
        </p:txBody>
      </p:sp>
      <p:sp>
        <p:nvSpPr>
          <p:cNvPr id="28" name="Text e40"/>
          <p:cNvSpPr txBox="1"/>
          <p:nvPr/>
        </p:nvSpPr>
        <p:spPr>
          <a:xfrm>
            <a:off x="3686221" y="2671785"/>
            <a:ext cx="84024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ACTIVE BUYERS</a:t>
            </a:r>
            <a:endParaRPr lang="en-US" sz="550" dirty="0"/>
          </a:p>
        </p:txBody>
      </p:sp>
      <p:sp>
        <p:nvSpPr>
          <p:cNvPr id="29" name="Text e41"/>
          <p:cNvSpPr txBox="1"/>
          <p:nvPr/>
        </p:nvSpPr>
        <p:spPr>
          <a:xfrm>
            <a:off x="3686221" y="2805105"/>
            <a:ext cx="2686050" cy="53337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Sponsor-backed agency platforms such as OneMagnify, Power Digital and Wpromote; Publicis and Havas; Accenture and Cognizant; HALO and Proforma in promotional products.</a:t>
            </a:r>
            <a:endParaRPr lang="en-US" sz="750" dirty="0"/>
          </a:p>
        </p:txBody>
      </p:sp>
      <p:sp>
        <p:nvSpPr>
          <p:cNvPr id="30" name="Text e43"/>
          <p:cNvSpPr txBox="1"/>
          <p:nvPr/>
        </p:nvSpPr>
        <p:spPr>
          <a:xfrm>
            <a:off x="3686221" y="3395624"/>
            <a:ext cx="121871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WHAT BUYERS REWARD</a:t>
            </a:r>
            <a:endParaRPr lang="en-US" sz="550" dirty="0"/>
          </a:p>
        </p:txBody>
      </p:sp>
      <p:sp>
        <p:nvSpPr>
          <p:cNvPr id="31" name="Text e44"/>
          <p:cNvSpPr txBox="1"/>
          <p:nvPr/>
        </p:nvSpPr>
        <p:spPr>
          <a:xfrm>
            <a:off x="3686221" y="3529035"/>
            <a:ext cx="2686050" cy="26673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Retained client relationships, depth in one vertical, proprietary data and a team beyond the founder.</a:t>
            </a:r>
            <a:endParaRPr lang="en-US" sz="750" dirty="0"/>
          </a:p>
        </p:txBody>
      </p:sp>
      <p:sp>
        <p:nvSpPr>
          <p:cNvPr id="32" name="Shape e45"/>
          <p:cNvSpPr/>
          <p:nvPr/>
        </p:nvSpPr>
        <p:spPr>
          <a:xfrm>
            <a:off x="6667530" y="1238280"/>
            <a:ext cx="2971800" cy="2786085"/>
          </a:xfrm>
          <a:prstGeom prst="rect">
            <a:avLst/>
          </a:prstGeom>
          <a:solidFill>
            <a:srgbClr val="FFFFFF"/>
          </a:solidFill>
          <a:ln w="12700">
            <a:solidFill>
              <a:srgbClr val="E3DCD3"/>
            </a:solidFill>
            <a:prstDash val="solid"/>
          </a:ln>
        </p:spPr>
        <p:txBody>
          <a:bodyPr/>
          <a:p/>
        </p:txBody>
      </p:sp>
      <p:sp>
        <p:nvSpPr>
          <p:cNvPr id="33" name="Shape e46"/>
          <p:cNvSpPr/>
          <p:nvPr/>
        </p:nvSpPr>
        <p:spPr>
          <a:xfrm>
            <a:off x="6677040" y="1247790"/>
            <a:ext cx="2952780" cy="381030"/>
          </a:xfrm>
          <a:prstGeom prst="rect">
            <a:avLst/>
          </a:prstGeom>
          <a:solidFill>
            <a:srgbClr val="1B1A1A"/>
          </a:solidFill>
          <a:ln/>
        </p:spPr>
        <p:txBody>
          <a:bodyPr/>
          <a:p/>
        </p:txBody>
      </p:sp>
      <p:pic>
        <p:nvPicPr>
          <p:cNvPr id="34" name="Picture e47" descr="Engineers marking up drawings at a desk">    </p:cNvPr>
          <p:cNvPicPr>
            <a:picLocks noChangeAspect="1"/>
          </p:cNvPicPr>
          <p:nvPr/>
        </p:nvPicPr>
        <p:blipFill>
          <a:blip r:embed="rId9"/>
          <a:stretch>
            <a:fillRect/>
          </a:stretch>
        </p:blipFill>
        <p:spPr>
          <a:xfrm>
            <a:off x="8201071" y="1247790"/>
            <a:ext cx="1428750" cy="381030"/>
          </a:xfrm>
          <a:prstGeom prst="rect">
            <a:avLst/>
          </a:prstGeom>
        </p:spPr>
      </p:pic>
      <p:pic>
        <p:nvPicPr>
          <p:cNvPr id="35" name="Icon e50">    </p:cNvPr>
          <p:cNvPicPr>
            <a:picLocks noChangeAspect="1"/>
          </p:cNvPicPr>
          <p:nvPr/>
        </p:nvPicPr>
        <p:blipFill>
          <a:blip r:embed="rId10"/>
          <a:stretch>
            <a:fillRect/>
          </a:stretch>
        </p:blipFill>
        <p:spPr>
          <a:xfrm>
            <a:off x="6810360" y="1343071"/>
            <a:ext cx="190470" cy="190470"/>
          </a:xfrm>
          <a:prstGeom prst="rect">
            <a:avLst/>
          </a:prstGeom>
        </p:spPr>
      </p:pic>
      <p:sp>
        <p:nvSpPr>
          <p:cNvPr id="36" name="Text e51"/>
          <p:cNvSpPr txBox="1"/>
          <p:nvPr/>
        </p:nvSpPr>
        <p:spPr>
          <a:xfrm>
            <a:off x="7096110" y="1319205"/>
            <a:ext cx="1676370" cy="228600"/>
          </a:xfrm>
          <a:prstGeom prst="rect">
            <a:avLst/>
          </a:prstGeom>
          <a:noFill/>
          <a:ln/>
        </p:spPr>
        <p:txBody>
          <a:bodyPr wrap="square" lIns="0" tIns="0" rIns="0" bIns="0" rtlCol="0" anchor="t"/>
          <a:lstStyle/>
          <a:p>
            <a:pPr algn="l" indent="0" marL="0">
              <a:lnSpc>
                <a:spcPts val="900"/>
              </a:lnSpc>
              <a:buNone/>
            </a:pPr>
            <a:r>
              <a:rPr lang="en-US" sz="700" b="1" spc="100" kern="0" dirty="0">
                <a:solidFill>
                  <a:srgbClr val="FFFFFF"/>
                </a:solidFill>
                <a:latin typeface="+mn-lt" pitchFamily="34" charset="0"/>
              </a:rPr>
              <a:t>ENGINEERING, ARCHITECTURE &amp; CONSULTING</a:t>
            </a:r>
            <a:endParaRPr lang="en-US" sz="700" dirty="0"/>
          </a:p>
        </p:txBody>
      </p:sp>
      <p:sp>
        <p:nvSpPr>
          <p:cNvPr id="37" name="Text e53"/>
          <p:cNvSpPr txBox="1"/>
          <p:nvPr/>
        </p:nvSpPr>
        <p:spPr>
          <a:xfrm>
            <a:off x="6810360" y="1704990"/>
            <a:ext cx="2686050" cy="323880"/>
          </a:xfrm>
          <a:prstGeom prst="rect">
            <a:avLst/>
          </a:prstGeom>
          <a:noFill/>
          <a:ln/>
        </p:spPr>
        <p:txBody>
          <a:bodyPr wrap="square" lIns="0" tIns="0" rIns="0" bIns="0" rtlCol="0" anchor="t"/>
          <a:lstStyle/>
          <a:p>
            <a:pPr algn="l" indent="0" marL="0">
              <a:lnSpc>
                <a:spcPts val="1300"/>
              </a:lnSpc>
              <a:buNone/>
            </a:pPr>
            <a:r>
              <a:rPr lang="en-US" sz="1000" i="1" dirty="0">
                <a:solidFill>
                  <a:srgbClr val="1B1A1A"/>
                </a:solidFill>
                <a:latin typeface="+mj-lt" pitchFamily="34" charset="0"/>
              </a:rPr>
              <a:t>Backlogs run a year deep, and private capital is paying for licensed talent.</a:t>
            </a:r>
            <a:endParaRPr lang="en-US" sz="1000" dirty="0"/>
          </a:p>
        </p:txBody>
      </p:sp>
      <p:sp>
        <p:nvSpPr>
          <p:cNvPr id="38" name="Text e55"/>
          <p:cNvSpPr txBox="1"/>
          <p:nvPr/>
        </p:nvSpPr>
        <p:spPr>
          <a:xfrm>
            <a:off x="6810360" y="2081174"/>
            <a:ext cx="1436797"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MARKET SIZE AND GROWTH</a:t>
            </a:r>
            <a:endParaRPr lang="en-US" sz="550" dirty="0"/>
          </a:p>
        </p:txBody>
      </p:sp>
      <p:sp>
        <p:nvSpPr>
          <p:cNvPr id="39" name="Text e56"/>
          <p:cNvSpPr txBox="1"/>
          <p:nvPr/>
        </p:nvSpPr>
        <p:spPr>
          <a:xfrm>
            <a:off x="6810360" y="2214585"/>
            <a:ext cx="2686050" cy="53337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The 500 largest design firms reported $158.7 billion of revenue, up 7.4% (</a:t>
            </a:r>
            <a:pPr algn="l" indent="0" marL="0">
              <a:lnSpc>
                <a:spcPts val="1050"/>
              </a:lnSpc>
              <a:buNone/>
            </a:pPr>
            <a:r>
              <a:rPr lang="en-US" sz="750" u="sng" dirty="0">
                <a:solidFill>
                  <a:srgbClr val="8C6239"/>
                </a:solidFill>
                <a:latin typeface="+mn-lt" pitchFamily="34" charset="0"/>
                <a:hlinkClick r:id="rId11" invalidUrl="" action="" tgtFrame="" tooltip="" history="1" highlightClick="0" endSnd="0">
                  <a:extLst>
                    <a:ext uri="{A12FA001-AC4F-418D-AE19-62706E023703}">
                      <ahyp:hlinkClr xmlns:ahyp="http://schemas.microsoft.com/office/drawing/2018/hyperlinkcolor" val="tx"/>
                    </a:ext>
                  </a:extLst>
                </a:hlinkClick>
              </a:rPr>
              <a:t>ENR</a:t>
            </a:r>
            <a:pPr algn="l" indent="0" marL="0">
              <a:lnSpc>
                <a:spcPts val="1050"/>
              </a:lnSpc>
              <a:buNone/>
            </a:pPr>
            <a:r>
              <a:rPr lang="en-US" sz="750" dirty="0">
                <a:solidFill>
                  <a:srgbClr val="333231"/>
                </a:solidFill>
                <a:latin typeface="+mn-lt" pitchFamily="34" charset="0"/>
              </a:rPr>
              <a:t>), and 447 transactions were announced among design and construction firms in 2025 (</a:t>
            </a:r>
            <a:pPr algn="l" indent="0" marL="0">
              <a:lnSpc>
                <a:spcPts val="1050"/>
              </a:lnSpc>
              <a:buNone/>
            </a:pPr>
            <a:r>
              <a:rPr lang="en-US" sz="750" u="sng" dirty="0">
                <a:solidFill>
                  <a:srgbClr val="8C6239"/>
                </a:solidFill>
                <a:latin typeface="+mn-lt" pitchFamily="34" charset="0"/>
                <a:hlinkClick r:id="rId12" invalidUrl="" action="" tgtFrame="" tooltip="" history="1" highlightClick="0" endSnd="0">
                  <a:extLst>
                    <a:ext uri="{A12FA001-AC4F-418D-AE19-62706E023703}">
                      <ahyp:hlinkClr xmlns:ahyp="http://schemas.microsoft.com/office/drawing/2018/hyperlinkcolor" val="tx"/>
                    </a:ext>
                  </a:extLst>
                </a:hlinkClick>
              </a:rPr>
              <a:t>PSMJ</a:t>
            </a:r>
            <a:pPr algn="l" indent="0" marL="0">
              <a:lnSpc>
                <a:spcPts val="1050"/>
              </a:lnSpc>
              <a:buNone/>
            </a:pPr>
            <a:r>
              <a:rPr lang="en-US" sz="750" dirty="0">
                <a:solidFill>
                  <a:srgbClr val="333231"/>
                </a:solidFill>
                <a:latin typeface="+mn-lt" pitchFamily="34" charset="0"/>
              </a:rPr>
              <a:t>).</a:t>
            </a:r>
            <a:endParaRPr lang="en-US" sz="750" dirty="0"/>
          </a:p>
        </p:txBody>
      </p:sp>
      <p:sp>
        <p:nvSpPr>
          <p:cNvPr id="40" name="Text e58"/>
          <p:cNvSpPr txBox="1"/>
          <p:nvPr/>
        </p:nvSpPr>
        <p:spPr>
          <a:xfrm>
            <a:off x="6810360" y="2805105"/>
            <a:ext cx="84024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ACTIVE BUYERS</a:t>
            </a:r>
            <a:endParaRPr lang="en-US" sz="550" dirty="0"/>
          </a:p>
        </p:txBody>
      </p:sp>
      <p:sp>
        <p:nvSpPr>
          <p:cNvPr id="41" name="Text e59"/>
          <p:cNvSpPr txBox="1"/>
          <p:nvPr/>
        </p:nvSpPr>
        <p:spPr>
          <a:xfrm>
            <a:off x="6810360" y="2938424"/>
            <a:ext cx="2686050" cy="40005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Bernhard Capital Partners; Ardurra, owned by Littlejohn &amp; Co.; Salas O'Brien; SAM Companies; Pape-Dawson; J.S. Held in forensic engineering.</a:t>
            </a:r>
            <a:endParaRPr lang="en-US" sz="750" dirty="0"/>
          </a:p>
        </p:txBody>
      </p:sp>
      <p:sp>
        <p:nvSpPr>
          <p:cNvPr id="42" name="Text e61"/>
          <p:cNvSpPr txBox="1"/>
          <p:nvPr/>
        </p:nvSpPr>
        <p:spPr>
          <a:xfrm>
            <a:off x="6810360" y="3395624"/>
            <a:ext cx="121871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WHAT BUYERS REWARD</a:t>
            </a:r>
            <a:endParaRPr lang="en-US" sz="550" dirty="0"/>
          </a:p>
        </p:txBody>
      </p:sp>
      <p:sp>
        <p:nvSpPr>
          <p:cNvPr id="43" name="Text e62"/>
          <p:cNvSpPr txBox="1"/>
          <p:nvPr/>
        </p:nvSpPr>
        <p:spPr>
          <a:xfrm>
            <a:off x="6810360" y="3529035"/>
            <a:ext cx="2686050" cy="26673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Funded backlog of a year or more, licensed staff and a second generation of principals.</a:t>
            </a:r>
            <a:endParaRPr lang="en-US" sz="750" dirty="0"/>
          </a:p>
        </p:txBody>
      </p:sp>
      <p:sp>
        <p:nvSpPr>
          <p:cNvPr id="44" name="Shape e63"/>
          <p:cNvSpPr/>
          <p:nvPr/>
        </p:nvSpPr>
        <p:spPr>
          <a:xfrm>
            <a:off x="419070" y="4148176"/>
            <a:ext cx="2971800" cy="2786085"/>
          </a:xfrm>
          <a:prstGeom prst="rect">
            <a:avLst/>
          </a:prstGeom>
          <a:solidFill>
            <a:srgbClr val="FFFFFF"/>
          </a:solidFill>
          <a:ln w="12700">
            <a:solidFill>
              <a:srgbClr val="E3DCD3"/>
            </a:solidFill>
            <a:prstDash val="solid"/>
          </a:ln>
        </p:spPr>
        <p:txBody>
          <a:bodyPr/>
          <a:p/>
        </p:txBody>
      </p:sp>
      <p:sp>
        <p:nvSpPr>
          <p:cNvPr id="45" name="Shape e64"/>
          <p:cNvSpPr/>
          <p:nvPr/>
        </p:nvSpPr>
        <p:spPr>
          <a:xfrm>
            <a:off x="428671" y="4157685"/>
            <a:ext cx="2952780" cy="381030"/>
          </a:xfrm>
          <a:prstGeom prst="rect">
            <a:avLst/>
          </a:prstGeom>
          <a:solidFill>
            <a:srgbClr val="1B1A1A"/>
          </a:solidFill>
          <a:ln/>
        </p:spPr>
        <p:txBody>
          <a:bodyPr/>
          <a:p/>
        </p:txBody>
      </p:sp>
      <p:pic>
        <p:nvPicPr>
          <p:cNvPr id="46" name="Picture e65" descr="Two people reviewing figures on a phone and a laptop">    </p:cNvPr>
          <p:cNvPicPr>
            <a:picLocks noChangeAspect="1"/>
          </p:cNvPicPr>
          <p:nvPr/>
        </p:nvPicPr>
        <p:blipFill>
          <a:blip r:embed="rId13"/>
          <a:stretch>
            <a:fillRect/>
          </a:stretch>
        </p:blipFill>
        <p:spPr>
          <a:xfrm>
            <a:off x="1952610" y="4157685"/>
            <a:ext cx="1428750" cy="381030"/>
          </a:xfrm>
          <a:prstGeom prst="rect">
            <a:avLst/>
          </a:prstGeom>
        </p:spPr>
      </p:pic>
      <p:pic>
        <p:nvPicPr>
          <p:cNvPr id="47" name="Icon e68">    </p:cNvPr>
          <p:cNvPicPr>
            <a:picLocks noChangeAspect="1"/>
          </p:cNvPicPr>
          <p:nvPr/>
        </p:nvPicPr>
        <p:blipFill>
          <a:blip r:embed="rId14"/>
          <a:stretch>
            <a:fillRect/>
          </a:stretch>
        </p:blipFill>
        <p:spPr>
          <a:xfrm>
            <a:off x="561990" y="4252874"/>
            <a:ext cx="190470" cy="190470"/>
          </a:xfrm>
          <a:prstGeom prst="rect">
            <a:avLst/>
          </a:prstGeom>
        </p:spPr>
      </p:pic>
      <p:sp>
        <p:nvSpPr>
          <p:cNvPr id="48" name="Text e69"/>
          <p:cNvSpPr txBox="1"/>
          <p:nvPr/>
        </p:nvSpPr>
        <p:spPr>
          <a:xfrm>
            <a:off x="847740" y="4229100"/>
            <a:ext cx="1676370" cy="228600"/>
          </a:xfrm>
          <a:prstGeom prst="rect">
            <a:avLst/>
          </a:prstGeom>
          <a:noFill/>
          <a:ln/>
        </p:spPr>
        <p:txBody>
          <a:bodyPr wrap="square" lIns="0" tIns="0" rIns="0" bIns="0" rtlCol="0" anchor="t"/>
          <a:lstStyle/>
          <a:p>
            <a:pPr algn="l" indent="0" marL="0">
              <a:lnSpc>
                <a:spcPts val="900"/>
              </a:lnSpc>
              <a:buNone/>
            </a:pPr>
            <a:r>
              <a:rPr lang="en-US" sz="700" b="1" spc="100" kern="0" dirty="0">
                <a:solidFill>
                  <a:srgbClr val="FFFFFF"/>
                </a:solidFill>
                <a:latin typeface="+mn-lt" pitchFamily="34" charset="0"/>
              </a:rPr>
              <a:t>FINANCIAL &amp; INSURANCE SERVICES</a:t>
            </a:r>
            <a:endParaRPr lang="en-US" sz="700" dirty="0"/>
          </a:p>
        </p:txBody>
      </p:sp>
      <p:sp>
        <p:nvSpPr>
          <p:cNvPr id="49" name="Text e71"/>
          <p:cNvSpPr txBox="1"/>
          <p:nvPr/>
        </p:nvSpPr>
        <p:spPr>
          <a:xfrm>
            <a:off x="561990" y="4614885"/>
            <a:ext cx="2686050" cy="323880"/>
          </a:xfrm>
          <a:prstGeom prst="rect">
            <a:avLst/>
          </a:prstGeom>
          <a:noFill/>
          <a:ln/>
        </p:spPr>
        <p:txBody>
          <a:bodyPr wrap="square" lIns="0" tIns="0" rIns="0" bIns="0" rtlCol="0" anchor="t"/>
          <a:lstStyle/>
          <a:p>
            <a:pPr algn="l" indent="0" marL="0">
              <a:lnSpc>
                <a:spcPts val="1300"/>
              </a:lnSpc>
              <a:buNone/>
            </a:pPr>
            <a:r>
              <a:rPr lang="en-US" sz="1000" i="1" dirty="0">
                <a:solidFill>
                  <a:srgbClr val="1B1A1A"/>
                </a:solidFill>
                <a:latin typeface="+mj-lt" pitchFamily="34" charset="0"/>
              </a:rPr>
              <a:t>Softer premiums are slowing organic growth while the largest brokers keep buying.</a:t>
            </a:r>
            <a:endParaRPr lang="en-US" sz="1000" dirty="0"/>
          </a:p>
        </p:txBody>
      </p:sp>
      <p:sp>
        <p:nvSpPr>
          <p:cNvPr id="50" name="Text e73"/>
          <p:cNvSpPr txBox="1"/>
          <p:nvPr/>
        </p:nvSpPr>
        <p:spPr>
          <a:xfrm>
            <a:off x="561990" y="4991070"/>
            <a:ext cx="1436797"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MARKET SIZE AND GROWTH</a:t>
            </a:r>
            <a:endParaRPr lang="en-US" sz="550" dirty="0"/>
          </a:p>
        </p:txBody>
      </p:sp>
      <p:sp>
        <p:nvSpPr>
          <p:cNvPr id="51" name="Text e74"/>
          <p:cNvSpPr txBox="1"/>
          <p:nvPr/>
        </p:nvSpPr>
        <p:spPr>
          <a:xfrm>
            <a:off x="561990" y="5124480"/>
            <a:ext cx="2686050" cy="53337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Managing general agents wrote $108.7 billion of premium in 2025, up 17.8% (</a:t>
            </a:r>
            <a:pPr algn="l" indent="0" marL="0">
              <a:lnSpc>
                <a:spcPts val="1050"/>
              </a:lnSpc>
              <a:buNone/>
            </a:pPr>
            <a:r>
              <a:rPr lang="en-US" sz="750" u="sng" dirty="0">
                <a:solidFill>
                  <a:srgbClr val="8C6239"/>
                </a:solidFill>
                <a:latin typeface="+mn-lt" pitchFamily="34" charset="0"/>
                <a:hlinkClick r:id="rId15" invalidUrl="" action="" tgtFrame="" tooltip="" history="1" highlightClick="0" endSnd="0">
                  <a:extLst>
                    <a:ext uri="{A12FA001-AC4F-418D-AE19-62706E023703}">
                      <ahyp:hlinkClr xmlns:ahyp="http://schemas.microsoft.com/office/drawing/2018/hyperlinkcolor" val="tx"/>
                    </a:ext>
                  </a:extLst>
                </a:hlinkClick>
              </a:rPr>
              <a:t>Risk &amp; Insurance</a:t>
            </a:r>
            <a:pPr algn="l" indent="0" marL="0">
              <a:lnSpc>
                <a:spcPts val="1050"/>
              </a:lnSpc>
              <a:buNone/>
            </a:pPr>
            <a:r>
              <a:rPr lang="en-US" sz="750" dirty="0">
                <a:solidFill>
                  <a:srgbClr val="333231"/>
                </a:solidFill>
                <a:latin typeface="+mn-lt" pitchFamily="34" charset="0"/>
              </a:rPr>
              <a:t>), and advisory firm sales moved $342.9 billion of client assets in the first half (</a:t>
            </a:r>
            <a:pPr algn="l" indent="0" marL="0">
              <a:lnSpc>
                <a:spcPts val="1050"/>
              </a:lnSpc>
              <a:buNone/>
            </a:pPr>
            <a:r>
              <a:rPr lang="en-US" sz="750" u="sng" dirty="0">
                <a:solidFill>
                  <a:srgbClr val="8C6239"/>
                </a:solidFill>
                <a:latin typeface="+mn-lt" pitchFamily="34" charset="0"/>
                <a:hlinkClick r:id="rId16" invalidUrl="" action="" tgtFrame="" tooltip="" history="1" highlightClick="0" endSnd="0">
                  <a:extLst>
                    <a:ext uri="{A12FA001-AC4F-418D-AE19-62706E023703}">
                      <ahyp:hlinkClr xmlns:ahyp="http://schemas.microsoft.com/office/drawing/2018/hyperlinkcolor" val="tx"/>
                    </a:ext>
                  </a:extLst>
                </a:hlinkClick>
              </a:rPr>
              <a:t>WealthManagement.com</a:t>
            </a:r>
            <a:pPr algn="l" indent="0" marL="0">
              <a:lnSpc>
                <a:spcPts val="1050"/>
              </a:lnSpc>
              <a:buNone/>
            </a:pPr>
            <a:r>
              <a:rPr lang="en-US" sz="750" dirty="0">
                <a:solidFill>
                  <a:srgbClr val="333231"/>
                </a:solidFill>
                <a:latin typeface="+mn-lt" pitchFamily="34" charset="0"/>
              </a:rPr>
              <a:t>).</a:t>
            </a:r>
            <a:endParaRPr lang="en-US" sz="750" dirty="0"/>
          </a:p>
        </p:txBody>
      </p:sp>
      <p:sp>
        <p:nvSpPr>
          <p:cNvPr id="52" name="Text e76"/>
          <p:cNvSpPr txBox="1"/>
          <p:nvPr/>
        </p:nvSpPr>
        <p:spPr>
          <a:xfrm>
            <a:off x="561990" y="5715000"/>
            <a:ext cx="84024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ACTIVE BUYERS</a:t>
            </a:r>
            <a:endParaRPr lang="en-US" sz="550" dirty="0"/>
          </a:p>
        </p:txBody>
      </p:sp>
      <p:sp>
        <p:nvSpPr>
          <p:cNvPr id="53" name="Text e77"/>
          <p:cNvSpPr txBox="1"/>
          <p:nvPr/>
        </p:nvSpPr>
        <p:spPr>
          <a:xfrm>
            <a:off x="561990" y="5848320"/>
            <a:ext cx="2686050" cy="40005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Aon, Gallagher, Inszone, EPIC, King Risk Partners and World Insurance Associates in brokerage; Hightower and Mercer Advisors in wealth.</a:t>
            </a:r>
            <a:endParaRPr lang="en-US" sz="750" dirty="0"/>
          </a:p>
        </p:txBody>
      </p:sp>
      <p:sp>
        <p:nvSpPr>
          <p:cNvPr id="54" name="Text e79"/>
          <p:cNvSpPr txBox="1"/>
          <p:nvPr/>
        </p:nvSpPr>
        <p:spPr>
          <a:xfrm>
            <a:off x="561990" y="6305520"/>
            <a:ext cx="121871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WHAT BUYERS REWARD</a:t>
            </a:r>
            <a:endParaRPr lang="en-US" sz="550" dirty="0"/>
          </a:p>
        </p:txBody>
      </p:sp>
      <p:sp>
        <p:nvSpPr>
          <p:cNvPr id="55" name="Text e80"/>
          <p:cNvSpPr txBox="1"/>
          <p:nvPr/>
        </p:nvSpPr>
        <p:spPr>
          <a:xfrm>
            <a:off x="561990" y="6438930"/>
            <a:ext cx="2686050" cy="26673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Recurring commissions and fees with high retention, and producers under contract beyond the owner.</a:t>
            </a:r>
            <a:endParaRPr lang="en-US" sz="750" dirty="0"/>
          </a:p>
        </p:txBody>
      </p:sp>
      <p:sp>
        <p:nvSpPr>
          <p:cNvPr id="56" name="Shape e81"/>
          <p:cNvSpPr/>
          <p:nvPr/>
        </p:nvSpPr>
        <p:spPr>
          <a:xfrm>
            <a:off x="3543300" y="4148176"/>
            <a:ext cx="2971800" cy="2786085"/>
          </a:xfrm>
          <a:prstGeom prst="rect">
            <a:avLst/>
          </a:prstGeom>
          <a:solidFill>
            <a:srgbClr val="FFFFFF"/>
          </a:solidFill>
          <a:ln w="12700">
            <a:solidFill>
              <a:srgbClr val="E3DCD3"/>
            </a:solidFill>
            <a:prstDash val="solid"/>
          </a:ln>
        </p:spPr>
        <p:txBody>
          <a:bodyPr/>
          <a:p/>
        </p:txBody>
      </p:sp>
      <p:sp>
        <p:nvSpPr>
          <p:cNvPr id="57" name="Shape e82"/>
          <p:cNvSpPr/>
          <p:nvPr/>
        </p:nvSpPr>
        <p:spPr>
          <a:xfrm>
            <a:off x="3552810" y="4157685"/>
            <a:ext cx="2952780" cy="381030"/>
          </a:xfrm>
          <a:prstGeom prst="rect">
            <a:avLst/>
          </a:prstGeom>
          <a:solidFill>
            <a:srgbClr val="1B1A1A"/>
          </a:solidFill>
          <a:ln/>
        </p:spPr>
        <p:txBody>
          <a:bodyPr/>
          <a:p/>
        </p:txBody>
      </p:sp>
      <p:pic>
        <p:nvPicPr>
          <p:cNvPr id="58" name="Picture e83" descr="Colleagues talking in an open office">    </p:cNvPr>
          <p:cNvPicPr>
            <a:picLocks noChangeAspect="1"/>
          </p:cNvPicPr>
          <p:nvPr/>
        </p:nvPicPr>
        <p:blipFill>
          <a:blip r:embed="rId17"/>
          <a:stretch>
            <a:fillRect/>
          </a:stretch>
        </p:blipFill>
        <p:spPr>
          <a:xfrm>
            <a:off x="5076840" y="4157685"/>
            <a:ext cx="1428750" cy="381030"/>
          </a:xfrm>
          <a:prstGeom prst="rect">
            <a:avLst/>
          </a:prstGeom>
        </p:spPr>
      </p:pic>
      <p:pic>
        <p:nvPicPr>
          <p:cNvPr id="59" name="Icon e86">    </p:cNvPr>
          <p:cNvPicPr>
            <a:picLocks noChangeAspect="1"/>
          </p:cNvPicPr>
          <p:nvPr/>
        </p:nvPicPr>
        <p:blipFill>
          <a:blip r:embed="rId18"/>
          <a:stretch>
            <a:fillRect/>
          </a:stretch>
        </p:blipFill>
        <p:spPr>
          <a:xfrm>
            <a:off x="3686221" y="4252874"/>
            <a:ext cx="190470" cy="190470"/>
          </a:xfrm>
          <a:prstGeom prst="rect">
            <a:avLst/>
          </a:prstGeom>
        </p:spPr>
      </p:pic>
      <p:sp>
        <p:nvSpPr>
          <p:cNvPr id="60" name="Text e87"/>
          <p:cNvSpPr txBox="1"/>
          <p:nvPr/>
        </p:nvSpPr>
        <p:spPr>
          <a:xfrm>
            <a:off x="3971971" y="4286250"/>
            <a:ext cx="1599926" cy="114300"/>
          </a:xfrm>
          <a:prstGeom prst="rect">
            <a:avLst/>
          </a:prstGeom>
          <a:noFill/>
          <a:ln/>
        </p:spPr>
        <p:txBody>
          <a:bodyPr wrap="none" lIns="0" tIns="0" rIns="0" bIns="0" rtlCol="0" anchor="t"/>
          <a:lstStyle/>
          <a:p>
            <a:pPr algn="l" indent="0" marL="0">
              <a:lnSpc>
                <a:spcPts val="900"/>
              </a:lnSpc>
              <a:buNone/>
            </a:pPr>
            <a:r>
              <a:rPr lang="en-US" sz="700" b="1" spc="100" kern="0" dirty="0">
                <a:solidFill>
                  <a:srgbClr val="FFFFFF"/>
                </a:solidFill>
                <a:latin typeface="+mn-lt" pitchFamily="34" charset="0"/>
              </a:rPr>
              <a:t>STAFFING &amp; HUMAN CAPITAL</a:t>
            </a:r>
            <a:endParaRPr lang="en-US" sz="700" dirty="0"/>
          </a:p>
        </p:txBody>
      </p:sp>
      <p:sp>
        <p:nvSpPr>
          <p:cNvPr id="61" name="Text e89"/>
          <p:cNvSpPr txBox="1"/>
          <p:nvPr/>
        </p:nvSpPr>
        <p:spPr>
          <a:xfrm>
            <a:off x="3686221" y="4614885"/>
            <a:ext cx="2686050" cy="323880"/>
          </a:xfrm>
          <a:prstGeom prst="rect">
            <a:avLst/>
          </a:prstGeom>
          <a:noFill/>
          <a:ln/>
        </p:spPr>
        <p:txBody>
          <a:bodyPr wrap="square" lIns="0" tIns="0" rIns="0" bIns="0" rtlCol="0" anchor="t"/>
          <a:lstStyle/>
          <a:p>
            <a:pPr algn="l" indent="0" marL="0">
              <a:lnSpc>
                <a:spcPts val="1300"/>
              </a:lnSpc>
              <a:buNone/>
            </a:pPr>
            <a:r>
              <a:rPr lang="en-US" sz="1000" i="1" dirty="0">
                <a:solidFill>
                  <a:srgbClr val="1B1A1A"/>
                </a:solidFill>
                <a:latin typeface="+mj-lt" pitchFamily="34" charset="0"/>
              </a:rPr>
              <a:t>Staffing revenue is growing for the first time in three years, led by skilled work.</a:t>
            </a:r>
            <a:endParaRPr lang="en-US" sz="1000" dirty="0"/>
          </a:p>
        </p:txBody>
      </p:sp>
      <p:sp>
        <p:nvSpPr>
          <p:cNvPr id="62" name="Text e91"/>
          <p:cNvSpPr txBox="1"/>
          <p:nvPr/>
        </p:nvSpPr>
        <p:spPr>
          <a:xfrm>
            <a:off x="3686221" y="4991070"/>
            <a:ext cx="1436797"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MARKET SIZE AND GROWTH</a:t>
            </a:r>
            <a:endParaRPr lang="en-US" sz="550" dirty="0"/>
          </a:p>
        </p:txBody>
      </p:sp>
      <p:sp>
        <p:nvSpPr>
          <p:cNvPr id="63" name="Text e92"/>
          <p:cNvSpPr txBox="1"/>
          <p:nvPr/>
        </p:nvSpPr>
        <p:spPr>
          <a:xfrm>
            <a:off x="3686221" y="5124480"/>
            <a:ext cx="2686050" cy="40005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US staffing sales were $113.5 billion in 2025, down 8.5% (</a:t>
            </a:r>
            <a:pPr algn="l" indent="0" marL="0">
              <a:lnSpc>
                <a:spcPts val="1050"/>
              </a:lnSpc>
              <a:buNone/>
            </a:pPr>
            <a:r>
              <a:rPr lang="en-US" sz="750" u="sng" dirty="0">
                <a:solidFill>
                  <a:srgbClr val="8C6239"/>
                </a:solidFill>
                <a:latin typeface="+mn-lt" pitchFamily="34" charset="0"/>
                <a:hlinkClick r:id="rId19" invalidUrl="" action="" tgtFrame="" tooltip="" history="1" highlightClick="0" endSnd="0">
                  <a:extLst>
                    <a:ext uri="{A12FA001-AC4F-418D-AE19-62706E023703}">
                      <ahyp:hlinkClr xmlns:ahyp="http://schemas.microsoft.com/office/drawing/2018/hyperlinkcolor" val="tx"/>
                    </a:ext>
                  </a:extLst>
                </a:hlinkClick>
              </a:rPr>
              <a:t>ASA</a:t>
            </a:r>
            <a:pPr algn="l" indent="0" marL="0">
              <a:lnSpc>
                <a:spcPts val="1050"/>
              </a:lnSpc>
              <a:buNone/>
            </a:pPr>
            <a:r>
              <a:rPr lang="en-US" sz="750" dirty="0">
                <a:solidFill>
                  <a:srgbClr val="333231"/>
                </a:solidFill>
                <a:latin typeface="+mn-lt" pitchFamily="34" charset="0"/>
              </a:rPr>
              <a:t>), and industrial staffing revenue is now forecast to grow 7% in 2026 (</a:t>
            </a:r>
            <a:pPr algn="l" indent="0" marL="0">
              <a:lnSpc>
                <a:spcPts val="1050"/>
              </a:lnSpc>
              <a:buNone/>
            </a:pPr>
            <a:r>
              <a:rPr lang="en-US" sz="750" u="sng" dirty="0">
                <a:solidFill>
                  <a:srgbClr val="8C6239"/>
                </a:solidFill>
                <a:latin typeface="+mn-lt" pitchFamily="34" charset="0"/>
                <a:hlinkClick r:id="rId20" invalidUrl="" action="" tgtFrame="" tooltip="" history="1" highlightClick="0" endSnd="0">
                  <a:extLst>
                    <a:ext uri="{A12FA001-AC4F-418D-AE19-62706E023703}">
                      <ahyp:hlinkClr xmlns:ahyp="http://schemas.microsoft.com/office/drawing/2018/hyperlinkcolor" val="tx"/>
                    </a:ext>
                  </a:extLst>
                </a:hlinkClick>
              </a:rPr>
              <a:t>Staffing Industry Analysts</a:t>
            </a:r>
            <a:pPr algn="l" indent="0" marL="0">
              <a:lnSpc>
                <a:spcPts val="1050"/>
              </a:lnSpc>
              <a:buNone/>
            </a:pPr>
            <a:r>
              <a:rPr lang="en-US" sz="750" dirty="0">
                <a:solidFill>
                  <a:srgbClr val="333231"/>
                </a:solidFill>
                <a:latin typeface="+mn-lt" pitchFamily="34" charset="0"/>
              </a:rPr>
              <a:t>).</a:t>
            </a:r>
            <a:endParaRPr lang="en-US" sz="750" dirty="0"/>
          </a:p>
        </p:txBody>
      </p:sp>
      <p:sp>
        <p:nvSpPr>
          <p:cNvPr id="64" name="Text e94"/>
          <p:cNvSpPr txBox="1"/>
          <p:nvPr/>
        </p:nvSpPr>
        <p:spPr>
          <a:xfrm>
            <a:off x="3686221" y="5581680"/>
            <a:ext cx="84024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ACTIVE BUYERS</a:t>
            </a:r>
            <a:endParaRPr lang="en-US" sz="550" dirty="0"/>
          </a:p>
        </p:txBody>
      </p:sp>
      <p:sp>
        <p:nvSpPr>
          <p:cNvPr id="65" name="Text e95"/>
          <p:cNvSpPr txBox="1"/>
          <p:nvPr/>
        </p:nvSpPr>
        <p:spPr>
          <a:xfrm>
            <a:off x="3686221" y="5715000"/>
            <a:ext cx="2686050" cy="40005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Korn Ferry, Aerotek, ALKU, CHG Healthcare and Airswift, with sponsor-backed specialists in skilled trades and engineering.</a:t>
            </a:r>
            <a:endParaRPr lang="en-US" sz="750" dirty="0"/>
          </a:p>
        </p:txBody>
      </p:sp>
      <p:sp>
        <p:nvSpPr>
          <p:cNvPr id="66" name="Text e97"/>
          <p:cNvSpPr txBox="1"/>
          <p:nvPr/>
        </p:nvSpPr>
        <p:spPr>
          <a:xfrm>
            <a:off x="3686221" y="6172200"/>
            <a:ext cx="121871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WHAT BUYERS REWARD</a:t>
            </a:r>
            <a:endParaRPr lang="en-US" sz="550" dirty="0"/>
          </a:p>
        </p:txBody>
      </p:sp>
      <p:sp>
        <p:nvSpPr>
          <p:cNvPr id="67" name="Text e98"/>
          <p:cNvSpPr txBox="1"/>
          <p:nvPr/>
        </p:nvSpPr>
        <p:spPr>
          <a:xfrm>
            <a:off x="3686221" y="6305520"/>
            <a:ext cx="2686050" cy="26673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Specialty placements, gross margin held through the downturn and direct client relationships.</a:t>
            </a:r>
            <a:endParaRPr lang="en-US" sz="750" dirty="0"/>
          </a:p>
        </p:txBody>
      </p:sp>
      <p:sp>
        <p:nvSpPr>
          <p:cNvPr id="68" name="Shape e99"/>
          <p:cNvSpPr/>
          <p:nvPr/>
        </p:nvSpPr>
        <p:spPr>
          <a:xfrm>
            <a:off x="6667530" y="4148176"/>
            <a:ext cx="2971800" cy="2786085"/>
          </a:xfrm>
          <a:prstGeom prst="rect">
            <a:avLst/>
          </a:prstGeom>
          <a:solidFill>
            <a:srgbClr val="1B1A1A"/>
          </a:solidFill>
          <a:ln/>
        </p:spPr>
        <p:txBody>
          <a:bodyPr/>
          <a:p/>
        </p:txBody>
      </p:sp>
      <p:sp>
        <p:nvSpPr>
          <p:cNvPr id="69" name="Text e100"/>
          <p:cNvSpPr txBox="1"/>
          <p:nvPr/>
        </p:nvSpPr>
        <p:spPr>
          <a:xfrm>
            <a:off x="6819870" y="4281495"/>
            <a:ext cx="1696944"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D3AE84"/>
                </a:solidFill>
                <a:latin typeface="+mn-lt" pitchFamily="34" charset="0"/>
              </a:rPr>
              <a:t>ACROSS ALL FIVE SECTORS</a:t>
            </a:r>
            <a:endParaRPr lang="en-US" sz="700" dirty="0"/>
          </a:p>
        </p:txBody>
      </p:sp>
      <p:sp>
        <p:nvSpPr>
          <p:cNvPr id="70" name="Text e101"/>
          <p:cNvSpPr txBox="1"/>
          <p:nvPr/>
        </p:nvSpPr>
        <p:spPr>
          <a:xfrm>
            <a:off x="6819870" y="4438680"/>
            <a:ext cx="1787743" cy="219090"/>
          </a:xfrm>
          <a:prstGeom prst="rect">
            <a:avLst/>
          </a:prstGeom>
          <a:noFill/>
          <a:ln/>
        </p:spPr>
        <p:txBody>
          <a:bodyPr wrap="none" lIns="0" tIns="0" rIns="0" bIns="0" rtlCol="0" anchor="t"/>
          <a:lstStyle/>
          <a:p>
            <a:pPr algn="l" indent="0" marL="0">
              <a:lnSpc>
                <a:spcPts val="1750"/>
              </a:lnSpc>
              <a:buNone/>
            </a:pPr>
            <a:r>
              <a:rPr lang="en-US" sz="1350" b="1" dirty="0">
                <a:solidFill>
                  <a:srgbClr val="FFFFFF"/>
                </a:solidFill>
                <a:latin typeface="+mj-lt" pitchFamily="34" charset="0"/>
              </a:rPr>
              <a:t>Five tests buyers apply</a:t>
            </a:r>
            <a:endParaRPr lang="en-US" sz="1350" dirty="0"/>
          </a:p>
        </p:txBody>
      </p:sp>
      <p:sp>
        <p:nvSpPr>
          <p:cNvPr id="71" name="Shape e102s0"/>
          <p:cNvSpPr/>
          <p:nvPr/>
        </p:nvSpPr>
        <p:spPr>
          <a:xfrm>
            <a:off x="6819870" y="4738695"/>
            <a:ext cx="2667030" cy="9510"/>
          </a:xfrm>
          <a:prstGeom prst="rect">
            <a:avLst/>
          </a:prstGeom>
          <a:solidFill>
            <a:srgbClr val="FFFFFF">
              <a:alpha val="16000"/>
            </a:srgbClr>
          </a:solidFill>
          <a:ln/>
        </p:spPr>
        <p:txBody>
          <a:bodyPr/>
          <a:p/>
        </p:txBody>
      </p:sp>
      <p:sp>
        <p:nvSpPr>
          <p:cNvPr id="72" name="Text e103"/>
          <p:cNvSpPr txBox="1"/>
          <p:nvPr/>
        </p:nvSpPr>
        <p:spPr>
          <a:xfrm>
            <a:off x="6819870" y="4814865"/>
            <a:ext cx="108356" cy="161940"/>
          </a:xfrm>
          <a:prstGeom prst="rect">
            <a:avLst/>
          </a:prstGeom>
          <a:noFill/>
          <a:ln/>
        </p:spPr>
        <p:txBody>
          <a:bodyPr wrap="none" lIns="0" tIns="0" rIns="0" bIns="0" rtlCol="0" anchor="t"/>
          <a:lstStyle/>
          <a:p>
            <a:pPr algn="l" indent="0" marL="0">
              <a:lnSpc>
                <a:spcPts val="1300"/>
              </a:lnSpc>
              <a:buNone/>
            </a:pPr>
            <a:r>
              <a:rPr lang="en-US" sz="1150" dirty="0">
                <a:solidFill>
                  <a:srgbClr val="D3AE84"/>
                </a:solidFill>
                <a:latin typeface="+mj-lt" pitchFamily="34" charset="0"/>
              </a:rPr>
              <a:t>1</a:t>
            </a:r>
            <a:endParaRPr lang="en-US" sz="1150" dirty="0"/>
          </a:p>
        </p:txBody>
      </p:sp>
      <p:sp>
        <p:nvSpPr>
          <p:cNvPr id="73" name="Text e105"/>
          <p:cNvSpPr txBox="1"/>
          <p:nvPr/>
        </p:nvSpPr>
        <p:spPr>
          <a:xfrm>
            <a:off x="7105620" y="4810110"/>
            <a:ext cx="2016618" cy="142921"/>
          </a:xfrm>
          <a:prstGeom prst="rect">
            <a:avLst/>
          </a:prstGeom>
          <a:noFill/>
          <a:ln/>
        </p:spPr>
        <p:txBody>
          <a:bodyPr wrap="none" lIns="0" tIns="0" rIns="0" bIns="0" rtlCol="0" anchor="t"/>
          <a:lstStyle/>
          <a:p>
            <a:pPr algn="l" indent="0" marL="0">
              <a:lnSpc>
                <a:spcPts val="1150"/>
              </a:lnSpc>
              <a:buNone/>
            </a:pPr>
            <a:r>
              <a:rPr lang="en-US" sz="850" b="1" dirty="0">
                <a:solidFill>
                  <a:srgbClr val="FFFFFF"/>
                </a:solidFill>
                <a:latin typeface="+mn-lt" pitchFamily="34" charset="0"/>
              </a:rPr>
              <a:t>Revenue that repeats under contract</a:t>
            </a:r>
            <a:endParaRPr lang="en-US" sz="850" dirty="0"/>
          </a:p>
        </p:txBody>
      </p:sp>
      <p:sp>
        <p:nvSpPr>
          <p:cNvPr id="74" name="Text e106"/>
          <p:cNvSpPr txBox="1"/>
          <p:nvPr/>
        </p:nvSpPr>
        <p:spPr>
          <a:xfrm>
            <a:off x="7105620" y="4953030"/>
            <a:ext cx="2088672" cy="133320"/>
          </a:xfrm>
          <a:prstGeom prst="rect">
            <a:avLst/>
          </a:prstGeom>
          <a:noFill/>
          <a:ln/>
        </p:spPr>
        <p:txBody>
          <a:bodyPr wrap="none" lIns="0" tIns="0" rIns="0" bIns="0" rtlCol="0" anchor="t"/>
          <a:lstStyle/>
          <a:p>
            <a:pPr algn="l" indent="0" marL="0">
              <a:lnSpc>
                <a:spcPts val="1050"/>
              </a:lnSpc>
              <a:buNone/>
            </a:pPr>
            <a:r>
              <a:rPr lang="en-US" sz="750" dirty="0">
                <a:solidFill>
                  <a:srgbClr val="C3BDB6"/>
                </a:solidFill>
                <a:latin typeface="+mn-lt" pitchFamily="34" charset="0"/>
              </a:rPr>
              <a:t>Service agreements, retainers and renewals.</a:t>
            </a:r>
            <a:endParaRPr lang="en-US" sz="750" dirty="0"/>
          </a:p>
        </p:txBody>
      </p:sp>
      <p:sp>
        <p:nvSpPr>
          <p:cNvPr id="75" name="Shape e107s0"/>
          <p:cNvSpPr/>
          <p:nvPr/>
        </p:nvSpPr>
        <p:spPr>
          <a:xfrm>
            <a:off x="6819870" y="5157765"/>
            <a:ext cx="2667030" cy="9510"/>
          </a:xfrm>
          <a:prstGeom prst="rect">
            <a:avLst/>
          </a:prstGeom>
          <a:solidFill>
            <a:srgbClr val="FFFFFF">
              <a:alpha val="16000"/>
            </a:srgbClr>
          </a:solidFill>
          <a:ln/>
        </p:spPr>
        <p:txBody>
          <a:bodyPr/>
          <a:p/>
        </p:txBody>
      </p:sp>
      <p:sp>
        <p:nvSpPr>
          <p:cNvPr id="76" name="Text e108"/>
          <p:cNvSpPr txBox="1"/>
          <p:nvPr/>
        </p:nvSpPr>
        <p:spPr>
          <a:xfrm>
            <a:off x="6819870" y="5234026"/>
            <a:ext cx="138074" cy="161940"/>
          </a:xfrm>
          <a:prstGeom prst="rect">
            <a:avLst/>
          </a:prstGeom>
          <a:noFill/>
          <a:ln/>
        </p:spPr>
        <p:txBody>
          <a:bodyPr wrap="none" lIns="0" tIns="0" rIns="0" bIns="0" rtlCol="0" anchor="t"/>
          <a:lstStyle/>
          <a:p>
            <a:pPr algn="l" indent="0" marL="0">
              <a:lnSpc>
                <a:spcPts val="1300"/>
              </a:lnSpc>
              <a:buNone/>
            </a:pPr>
            <a:r>
              <a:rPr lang="en-US" sz="1150" dirty="0">
                <a:solidFill>
                  <a:srgbClr val="D3AE84"/>
                </a:solidFill>
                <a:latin typeface="+mj-lt" pitchFamily="34" charset="0"/>
              </a:rPr>
              <a:t>2</a:t>
            </a:r>
            <a:endParaRPr lang="en-US" sz="1150" dirty="0"/>
          </a:p>
        </p:txBody>
      </p:sp>
      <p:sp>
        <p:nvSpPr>
          <p:cNvPr id="77" name="Text e110"/>
          <p:cNvSpPr txBox="1"/>
          <p:nvPr/>
        </p:nvSpPr>
        <p:spPr>
          <a:xfrm>
            <a:off x="7105620" y="5229271"/>
            <a:ext cx="1999336" cy="142921"/>
          </a:xfrm>
          <a:prstGeom prst="rect">
            <a:avLst/>
          </a:prstGeom>
          <a:noFill/>
          <a:ln/>
        </p:spPr>
        <p:txBody>
          <a:bodyPr wrap="none" lIns="0" tIns="0" rIns="0" bIns="0" rtlCol="0" anchor="t"/>
          <a:lstStyle/>
          <a:p>
            <a:pPr algn="l" indent="0" marL="0">
              <a:lnSpc>
                <a:spcPts val="1150"/>
              </a:lnSpc>
              <a:buNone/>
            </a:pPr>
            <a:r>
              <a:rPr lang="en-US" sz="850" b="1" dirty="0">
                <a:solidFill>
                  <a:srgbClr val="FFFFFF"/>
                </a:solidFill>
                <a:latin typeface="+mn-lt" pitchFamily="34" charset="0"/>
              </a:rPr>
              <a:t>Licensed, certified or tenured people</a:t>
            </a:r>
            <a:endParaRPr lang="en-US" sz="850" dirty="0"/>
          </a:p>
        </p:txBody>
      </p:sp>
      <p:sp>
        <p:nvSpPr>
          <p:cNvPr id="78" name="Text e111"/>
          <p:cNvSpPr txBox="1"/>
          <p:nvPr/>
        </p:nvSpPr>
        <p:spPr>
          <a:xfrm>
            <a:off x="7105620" y="5372100"/>
            <a:ext cx="1590050" cy="133320"/>
          </a:xfrm>
          <a:prstGeom prst="rect">
            <a:avLst/>
          </a:prstGeom>
          <a:noFill/>
          <a:ln/>
        </p:spPr>
        <p:txBody>
          <a:bodyPr wrap="none" lIns="0" tIns="0" rIns="0" bIns="0" rtlCol="0" anchor="t"/>
          <a:lstStyle/>
          <a:p>
            <a:pPr algn="l" indent="0" marL="0">
              <a:lnSpc>
                <a:spcPts val="1050"/>
              </a:lnSpc>
              <a:buNone/>
            </a:pPr>
            <a:r>
              <a:rPr lang="en-US" sz="750" dirty="0">
                <a:solidFill>
                  <a:srgbClr val="C3BDB6"/>
                </a:solidFill>
                <a:latin typeface="+mn-lt" pitchFamily="34" charset="0"/>
              </a:rPr>
              <a:t>Credentials held by the company.</a:t>
            </a:r>
            <a:endParaRPr lang="en-US" sz="750" dirty="0"/>
          </a:p>
        </p:txBody>
      </p:sp>
      <p:sp>
        <p:nvSpPr>
          <p:cNvPr id="79" name="Shape e112s0"/>
          <p:cNvSpPr/>
          <p:nvPr/>
        </p:nvSpPr>
        <p:spPr>
          <a:xfrm>
            <a:off x="6819870" y="5576926"/>
            <a:ext cx="2667030" cy="9510"/>
          </a:xfrm>
          <a:prstGeom prst="rect">
            <a:avLst/>
          </a:prstGeom>
          <a:solidFill>
            <a:srgbClr val="FFFFFF">
              <a:alpha val="16000"/>
            </a:srgbClr>
          </a:solidFill>
          <a:ln/>
        </p:spPr>
        <p:txBody>
          <a:bodyPr/>
          <a:p/>
        </p:txBody>
      </p:sp>
      <p:sp>
        <p:nvSpPr>
          <p:cNvPr id="80" name="Text e113"/>
          <p:cNvSpPr txBox="1"/>
          <p:nvPr/>
        </p:nvSpPr>
        <p:spPr>
          <a:xfrm>
            <a:off x="6819870" y="5653095"/>
            <a:ext cx="130942" cy="161940"/>
          </a:xfrm>
          <a:prstGeom prst="rect">
            <a:avLst/>
          </a:prstGeom>
          <a:noFill/>
          <a:ln/>
        </p:spPr>
        <p:txBody>
          <a:bodyPr wrap="none" lIns="0" tIns="0" rIns="0" bIns="0" rtlCol="0" anchor="t"/>
          <a:lstStyle/>
          <a:p>
            <a:pPr algn="l" indent="0" marL="0">
              <a:lnSpc>
                <a:spcPts val="1300"/>
              </a:lnSpc>
              <a:buNone/>
            </a:pPr>
            <a:r>
              <a:rPr lang="en-US" sz="1150" dirty="0">
                <a:solidFill>
                  <a:srgbClr val="D3AE84"/>
                </a:solidFill>
                <a:latin typeface="+mj-lt" pitchFamily="34" charset="0"/>
              </a:rPr>
              <a:t>3</a:t>
            </a:r>
            <a:endParaRPr lang="en-US" sz="1150" dirty="0"/>
          </a:p>
        </p:txBody>
      </p:sp>
      <p:sp>
        <p:nvSpPr>
          <p:cNvPr id="81" name="Text e115"/>
          <p:cNvSpPr txBox="1"/>
          <p:nvPr/>
        </p:nvSpPr>
        <p:spPr>
          <a:xfrm>
            <a:off x="7105620" y="5648340"/>
            <a:ext cx="1730136" cy="142921"/>
          </a:xfrm>
          <a:prstGeom prst="rect">
            <a:avLst/>
          </a:prstGeom>
          <a:noFill/>
          <a:ln/>
        </p:spPr>
        <p:txBody>
          <a:bodyPr wrap="none" lIns="0" tIns="0" rIns="0" bIns="0" rtlCol="0" anchor="t"/>
          <a:lstStyle/>
          <a:p>
            <a:pPr algn="l" indent="0" marL="0">
              <a:lnSpc>
                <a:spcPts val="1150"/>
              </a:lnSpc>
              <a:buNone/>
            </a:pPr>
            <a:r>
              <a:rPr lang="en-US" sz="850" b="1" dirty="0">
                <a:solidFill>
                  <a:srgbClr val="FFFFFF"/>
                </a:solidFill>
                <a:latin typeface="+mn-lt" pitchFamily="34" charset="0"/>
              </a:rPr>
              <a:t>Management beyond the owner</a:t>
            </a:r>
            <a:endParaRPr lang="en-US" sz="850" dirty="0"/>
          </a:p>
        </p:txBody>
      </p:sp>
      <p:sp>
        <p:nvSpPr>
          <p:cNvPr id="82" name="Text e116"/>
          <p:cNvSpPr txBox="1"/>
          <p:nvPr/>
        </p:nvSpPr>
        <p:spPr>
          <a:xfrm>
            <a:off x="7105620" y="5791170"/>
            <a:ext cx="1941271" cy="133320"/>
          </a:xfrm>
          <a:prstGeom prst="rect">
            <a:avLst/>
          </a:prstGeom>
          <a:noFill/>
          <a:ln/>
        </p:spPr>
        <p:txBody>
          <a:bodyPr wrap="none" lIns="0" tIns="0" rIns="0" bIns="0" rtlCol="0" anchor="t"/>
          <a:lstStyle/>
          <a:p>
            <a:pPr algn="l" indent="0" marL="0">
              <a:lnSpc>
                <a:spcPts val="1050"/>
              </a:lnSpc>
              <a:buNone/>
            </a:pPr>
            <a:r>
              <a:rPr lang="en-US" sz="750" dirty="0">
                <a:solidFill>
                  <a:srgbClr val="C3BDB6"/>
                </a:solidFill>
                <a:latin typeface="+mn-lt" pitchFamily="34" charset="0"/>
              </a:rPr>
              <a:t>Leaders who hold the client relationships.</a:t>
            </a:r>
            <a:endParaRPr lang="en-US" sz="750" dirty="0"/>
          </a:p>
        </p:txBody>
      </p:sp>
      <p:sp>
        <p:nvSpPr>
          <p:cNvPr id="83" name="Shape e117s0"/>
          <p:cNvSpPr/>
          <p:nvPr/>
        </p:nvSpPr>
        <p:spPr>
          <a:xfrm>
            <a:off x="6819870" y="5995995"/>
            <a:ext cx="2667030" cy="9510"/>
          </a:xfrm>
          <a:prstGeom prst="rect">
            <a:avLst/>
          </a:prstGeom>
          <a:solidFill>
            <a:srgbClr val="FFFFFF">
              <a:alpha val="16000"/>
            </a:srgbClr>
          </a:solidFill>
          <a:ln/>
        </p:spPr>
        <p:txBody>
          <a:bodyPr/>
          <a:p/>
        </p:txBody>
      </p:sp>
      <p:sp>
        <p:nvSpPr>
          <p:cNvPr id="84" name="Text e118"/>
          <p:cNvSpPr txBox="1"/>
          <p:nvPr/>
        </p:nvSpPr>
        <p:spPr>
          <a:xfrm>
            <a:off x="6819870" y="6072165"/>
            <a:ext cx="142464" cy="161940"/>
          </a:xfrm>
          <a:prstGeom prst="rect">
            <a:avLst/>
          </a:prstGeom>
          <a:noFill/>
          <a:ln/>
        </p:spPr>
        <p:txBody>
          <a:bodyPr wrap="none" lIns="0" tIns="0" rIns="0" bIns="0" rtlCol="0" anchor="t"/>
          <a:lstStyle/>
          <a:p>
            <a:pPr algn="l" indent="0" marL="0">
              <a:lnSpc>
                <a:spcPts val="1300"/>
              </a:lnSpc>
              <a:buNone/>
            </a:pPr>
            <a:r>
              <a:rPr lang="en-US" sz="1150" dirty="0">
                <a:solidFill>
                  <a:srgbClr val="D3AE84"/>
                </a:solidFill>
                <a:latin typeface="+mj-lt" pitchFamily="34" charset="0"/>
              </a:rPr>
              <a:t>4</a:t>
            </a:r>
            <a:endParaRPr lang="en-US" sz="1150" dirty="0"/>
          </a:p>
        </p:txBody>
      </p:sp>
      <p:sp>
        <p:nvSpPr>
          <p:cNvPr id="85" name="Text e120"/>
          <p:cNvSpPr txBox="1"/>
          <p:nvPr/>
        </p:nvSpPr>
        <p:spPr>
          <a:xfrm>
            <a:off x="7105620" y="6067410"/>
            <a:ext cx="1839773" cy="142921"/>
          </a:xfrm>
          <a:prstGeom prst="rect">
            <a:avLst/>
          </a:prstGeom>
          <a:noFill/>
          <a:ln/>
        </p:spPr>
        <p:txBody>
          <a:bodyPr wrap="none" lIns="0" tIns="0" rIns="0" bIns="0" rtlCol="0" anchor="t"/>
          <a:lstStyle/>
          <a:p>
            <a:pPr algn="l" indent="0" marL="0">
              <a:lnSpc>
                <a:spcPts val="1150"/>
              </a:lnSpc>
              <a:buNone/>
            </a:pPr>
            <a:r>
              <a:rPr lang="en-US" sz="850" b="1" dirty="0">
                <a:solidFill>
                  <a:srgbClr val="FFFFFF"/>
                </a:solidFill>
                <a:latin typeface="+mn-lt" pitchFamily="34" charset="0"/>
              </a:rPr>
              <a:t>No client above a fifth of revenue</a:t>
            </a:r>
            <a:endParaRPr lang="en-US" sz="850" dirty="0"/>
          </a:p>
        </p:txBody>
      </p:sp>
      <p:sp>
        <p:nvSpPr>
          <p:cNvPr id="86" name="Text e121"/>
          <p:cNvSpPr txBox="1"/>
          <p:nvPr/>
        </p:nvSpPr>
        <p:spPr>
          <a:xfrm>
            <a:off x="7105620" y="6210330"/>
            <a:ext cx="1880189" cy="133320"/>
          </a:xfrm>
          <a:prstGeom prst="rect">
            <a:avLst/>
          </a:prstGeom>
          <a:noFill/>
          <a:ln/>
        </p:spPr>
        <p:txBody>
          <a:bodyPr wrap="none" lIns="0" tIns="0" rIns="0" bIns="0" rtlCol="0" anchor="t"/>
          <a:lstStyle/>
          <a:p>
            <a:pPr algn="l" indent="0" marL="0">
              <a:lnSpc>
                <a:spcPts val="1050"/>
              </a:lnSpc>
              <a:buNone/>
            </a:pPr>
            <a:r>
              <a:rPr lang="en-US" sz="750" dirty="0">
                <a:solidFill>
                  <a:srgbClr val="C3BDB6"/>
                </a:solidFill>
                <a:latin typeface="+mn-lt" pitchFamily="34" charset="0"/>
              </a:rPr>
              <a:t>One dominant account lowers the price.</a:t>
            </a:r>
            <a:endParaRPr lang="en-US" sz="750" dirty="0"/>
          </a:p>
        </p:txBody>
      </p:sp>
      <p:sp>
        <p:nvSpPr>
          <p:cNvPr id="87" name="Shape e122s0"/>
          <p:cNvSpPr/>
          <p:nvPr/>
        </p:nvSpPr>
        <p:spPr>
          <a:xfrm>
            <a:off x="6819870" y="6415065"/>
            <a:ext cx="2667030" cy="9510"/>
          </a:xfrm>
          <a:prstGeom prst="rect">
            <a:avLst/>
          </a:prstGeom>
          <a:solidFill>
            <a:srgbClr val="FFFFFF">
              <a:alpha val="16000"/>
            </a:srgbClr>
          </a:solidFill>
          <a:ln/>
        </p:spPr>
        <p:txBody>
          <a:bodyPr/>
          <a:p/>
        </p:txBody>
      </p:sp>
      <p:sp>
        <p:nvSpPr>
          <p:cNvPr id="88" name="Text e123"/>
          <p:cNvSpPr txBox="1"/>
          <p:nvPr/>
        </p:nvSpPr>
        <p:spPr>
          <a:xfrm>
            <a:off x="6819870" y="6491326"/>
            <a:ext cx="130211" cy="161940"/>
          </a:xfrm>
          <a:prstGeom prst="rect">
            <a:avLst/>
          </a:prstGeom>
          <a:noFill/>
          <a:ln/>
        </p:spPr>
        <p:txBody>
          <a:bodyPr wrap="none" lIns="0" tIns="0" rIns="0" bIns="0" rtlCol="0" anchor="t"/>
          <a:lstStyle/>
          <a:p>
            <a:pPr algn="l" indent="0" marL="0">
              <a:lnSpc>
                <a:spcPts val="1300"/>
              </a:lnSpc>
              <a:buNone/>
            </a:pPr>
            <a:r>
              <a:rPr lang="en-US" sz="1150" dirty="0">
                <a:solidFill>
                  <a:srgbClr val="D3AE84"/>
                </a:solidFill>
                <a:latin typeface="+mj-lt" pitchFamily="34" charset="0"/>
              </a:rPr>
              <a:t>5</a:t>
            </a:r>
            <a:endParaRPr lang="en-US" sz="1150" dirty="0"/>
          </a:p>
        </p:txBody>
      </p:sp>
      <p:sp>
        <p:nvSpPr>
          <p:cNvPr id="89" name="Text e125"/>
          <p:cNvSpPr txBox="1"/>
          <p:nvPr/>
        </p:nvSpPr>
        <p:spPr>
          <a:xfrm>
            <a:off x="7105620" y="6486571"/>
            <a:ext cx="2159356" cy="142921"/>
          </a:xfrm>
          <a:prstGeom prst="rect">
            <a:avLst/>
          </a:prstGeom>
          <a:noFill/>
          <a:ln/>
        </p:spPr>
        <p:txBody>
          <a:bodyPr wrap="none" lIns="0" tIns="0" rIns="0" bIns="0" rtlCol="0" anchor="t"/>
          <a:lstStyle/>
          <a:p>
            <a:pPr algn="l" indent="0" marL="0">
              <a:lnSpc>
                <a:spcPts val="1150"/>
              </a:lnSpc>
              <a:buNone/>
            </a:pPr>
            <a:r>
              <a:rPr lang="en-US" sz="850" b="1" dirty="0">
                <a:solidFill>
                  <a:srgbClr val="FFFFFF"/>
                </a:solidFill>
                <a:latin typeface="+mn-lt" pitchFamily="34" charset="0"/>
              </a:rPr>
              <a:t>Margins that held through the downturn</a:t>
            </a:r>
            <a:endParaRPr lang="en-US" sz="850" dirty="0"/>
          </a:p>
        </p:txBody>
      </p:sp>
      <p:sp>
        <p:nvSpPr>
          <p:cNvPr id="90" name="Text e126"/>
          <p:cNvSpPr txBox="1"/>
          <p:nvPr/>
        </p:nvSpPr>
        <p:spPr>
          <a:xfrm>
            <a:off x="7105620" y="6629400"/>
            <a:ext cx="1971538" cy="133320"/>
          </a:xfrm>
          <a:prstGeom prst="rect">
            <a:avLst/>
          </a:prstGeom>
          <a:noFill/>
          <a:ln/>
        </p:spPr>
        <p:txBody>
          <a:bodyPr wrap="none" lIns="0" tIns="0" rIns="0" bIns="0" rtlCol="0" anchor="t"/>
          <a:lstStyle/>
          <a:p>
            <a:pPr algn="l" indent="0" marL="0">
              <a:lnSpc>
                <a:spcPts val="1050"/>
              </a:lnSpc>
              <a:buNone/>
            </a:pPr>
            <a:r>
              <a:rPr lang="en-US" sz="750" dirty="0">
                <a:solidFill>
                  <a:srgbClr val="C3BDB6"/>
                </a:solidFill>
                <a:latin typeface="+mn-lt" pitchFamily="34" charset="0"/>
              </a:rPr>
              <a:t>Proof that pricing and staffing can adjust.</a:t>
            </a:r>
            <a:endParaRPr lang="en-US" sz="750" dirty="0"/>
          </a:p>
        </p:txBody>
      </p:sp>
      <p:sp>
        <p:nvSpPr>
          <p:cNvPr id="91" name="Shape e127"/>
          <p:cNvSpPr/>
          <p:nvPr/>
        </p:nvSpPr>
        <p:spPr>
          <a:xfrm>
            <a:off x="419070" y="7029450"/>
            <a:ext cx="9220170" cy="9510"/>
          </a:xfrm>
          <a:prstGeom prst="ellipse">
            <a:avLst/>
          </a:prstGeom>
          <a:solidFill>
            <a:srgbClr val="E3DCD3"/>
          </a:solidFill>
          <a:ln/>
        </p:spPr>
        <p:txBody>
          <a:bodyPr/>
          <a:p/>
        </p:txBody>
      </p:sp>
      <p:pic>
        <p:nvPicPr>
          <p:cNvPr id="92" name="Picture e128" descr="Benchmark International">    </p:cNvPr>
          <p:cNvPicPr>
            <a:picLocks noChangeAspect="1"/>
          </p:cNvPicPr>
          <p:nvPr/>
        </p:nvPicPr>
        <p:blipFill>
          <a:blip r:embed="rId21"/>
          <a:stretch>
            <a:fillRect/>
          </a:stretch>
        </p:blipFill>
        <p:spPr>
          <a:xfrm>
            <a:off x="419070" y="7143750"/>
            <a:ext cx="914400" cy="171450"/>
          </a:xfrm>
          <a:prstGeom prst="rect">
            <a:avLst/>
          </a:prstGeom>
        </p:spPr>
      </p:pic>
      <p:sp>
        <p:nvSpPr>
          <p:cNvPr id="93" name="Text e129"/>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Active buyers are drawn from transactions announced between October 2025 and October 2026</a:t>
            </a:r>
            <a:pPr algn="l" indent="0" marL="0">
              <a:lnSpc>
                <a:spcPts val="950"/>
              </a:lnSpc>
              <a:buNone/>
            </a:pPr>
            <a:r>
              <a:rPr lang="en-US" sz="700" u="sng" dirty="0">
                <a:solidFill>
                  <a:srgbClr val="8C6239"/>
                </a:solidFill>
                <a:latin typeface="+mn-lt" pitchFamily="34" charset="0"/>
                <a:hlinkClick r:id="rId22" invalidUrl="" action="" tgtFrame="" tooltip="" history="1" highlightClick="0" endSnd="0">
                  <a:extLst>
                    <a:ext uri="{A12FA001-AC4F-418D-AE19-62706E023703}">
                      <ahyp:hlinkClr xmlns:ahyp="http://schemas.microsoft.com/office/drawing/2018/hyperlinkcolor" val="tx"/>
                    </a:ext>
                  </a:extLst>
                </a:hlinkClick>
              </a:rPr>
              <a:t/>
            </a:r>
            <a:pPr algn="l" indent="0" marL="0">
              <a:lnSpc>
                <a:spcPts val="950"/>
              </a:lnSpc>
              <a:buNone/>
            </a:pPr>
            <a:r>
              <a:rPr lang="en-US" sz="700" dirty="0">
                <a:solidFill>
                  <a:srgbClr val="6F6A66"/>
                </a:solidFill>
                <a:latin typeface="+mn-lt" pitchFamily="34" charset="0"/>
              </a:rPr>
              <a:t>. Company names are the property of their owners and are shown for identification.</a:t>
            </a:r>
            <a:endParaRPr lang="en-US" sz="700" dirty="0"/>
          </a:p>
        </p:txBody>
      </p:sp>
      <p:sp>
        <p:nvSpPr>
          <p:cNvPr id="94" name="Text e130"/>
          <p:cNvSpPr txBox="1"/>
          <p:nvPr/>
        </p:nvSpPr>
        <p:spPr>
          <a:xfrm>
            <a:off x="9492386" y="7162770"/>
            <a:ext cx="142921"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04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2394174"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What We're Reading</a:t>
            </a:r>
            <a:endParaRPr lang="en-US" sz="2050" dirty="0"/>
          </a:p>
        </p:txBody>
      </p:sp>
      <p:sp>
        <p:nvSpPr>
          <p:cNvPr id="6" name="Text e5"/>
          <p:cNvSpPr txBox="1"/>
          <p:nvPr/>
        </p:nvSpPr>
        <p:spPr>
          <a:xfrm>
            <a:off x="419070" y="883402"/>
            <a:ext cx="6180430"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Six primary sources and trade reports from the third quarter, with the reason each one matters to an owner.</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Text e9"/>
          <p:cNvSpPr txBox="1"/>
          <p:nvPr/>
        </p:nvSpPr>
        <p:spPr>
          <a:xfrm>
            <a:off x="419070" y="1238280"/>
            <a:ext cx="1207282"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1B1A1A"/>
                </a:solidFill>
                <a:latin typeface="+mn-lt" pitchFamily="34" charset="0"/>
              </a:rPr>
              <a:t>INDUSTRY READING</a:t>
            </a:r>
            <a:endParaRPr lang="en-US" sz="700" dirty="0"/>
          </a:p>
        </p:txBody>
      </p:sp>
      <p:sp>
        <p:nvSpPr>
          <p:cNvPr id="9" name="Shape e10"/>
          <p:cNvSpPr/>
          <p:nvPr/>
        </p:nvSpPr>
        <p:spPr>
          <a:xfrm>
            <a:off x="1683502" y="1295430"/>
            <a:ext cx="7955737" cy="9510"/>
          </a:xfrm>
          <a:prstGeom prst="ellipse">
            <a:avLst/>
          </a:prstGeom>
          <a:solidFill>
            <a:srgbClr val="E3DCD3"/>
          </a:solidFill>
          <a:ln/>
        </p:spPr>
        <p:txBody>
          <a:bodyPr/>
          <a:p/>
        </p:txBody>
      </p:sp>
      <p:sp>
        <p:nvSpPr>
          <p:cNvPr id="10" name="Shape e12"/>
          <p:cNvSpPr/>
          <p:nvPr/>
        </p:nvSpPr>
        <p:spPr>
          <a:xfrm>
            <a:off x="419070" y="1438260"/>
            <a:ext cx="2971800" cy="2562240"/>
          </a:xfrm>
          <a:prstGeom prst="rect">
            <a:avLst/>
          </a:prstGeom>
          <a:solidFill>
            <a:srgbClr val="FAF7F3"/>
          </a:solidFill>
          <a:ln/>
        </p:spPr>
        <p:txBody>
          <a:bodyPr/>
          <a:p/>
        </p:txBody>
      </p:sp>
      <p:sp>
        <p:nvSpPr>
          <p:cNvPr id="11" name="Shape e12s0"/>
          <p:cNvSpPr/>
          <p:nvPr/>
        </p:nvSpPr>
        <p:spPr>
          <a:xfrm>
            <a:off x="419070" y="1438260"/>
            <a:ext cx="2971800" cy="28621"/>
          </a:xfrm>
          <a:prstGeom prst="rect">
            <a:avLst/>
          </a:prstGeom>
          <a:solidFill>
            <a:srgbClr val="B68757"/>
          </a:solidFill>
          <a:ln/>
        </p:spPr>
        <p:txBody>
          <a:bodyPr/>
          <a:p/>
        </p:txBody>
      </p:sp>
      <p:sp>
        <p:nvSpPr>
          <p:cNvPr id="12" name="Text e14"/>
          <p:cNvSpPr txBox="1"/>
          <p:nvPr/>
        </p:nvSpPr>
        <p:spPr>
          <a:xfrm>
            <a:off x="571500" y="1576426"/>
            <a:ext cx="1497239"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ACEC RESEARCH INSTITUTE</a:t>
            </a:r>
            <a:endParaRPr lang="en-US" sz="600" dirty="0"/>
          </a:p>
        </p:txBody>
      </p:sp>
      <p:sp>
        <p:nvSpPr>
          <p:cNvPr id="13" name="Text e15"/>
          <p:cNvSpPr txBox="1"/>
          <p:nvPr/>
        </p:nvSpPr>
        <p:spPr>
          <a:xfrm>
            <a:off x="2594976" y="1571671"/>
            <a:ext cx="700705" cy="123810"/>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August 27, 2026</a:t>
            </a:r>
            <a:endParaRPr lang="en-US" sz="700" dirty="0"/>
          </a:p>
        </p:txBody>
      </p:sp>
      <p:sp>
        <p:nvSpPr>
          <p:cNvPr id="14" name="Text e16"/>
          <p:cNvSpPr txBox="1"/>
          <p:nvPr/>
        </p:nvSpPr>
        <p:spPr>
          <a:xfrm>
            <a:off x="571500" y="1759763"/>
            <a:ext cx="2667030" cy="371521"/>
          </a:xfrm>
          <a:prstGeom prst="rect">
            <a:avLst/>
          </a:prstGeom>
          <a:noFill/>
          <a:ln/>
        </p:spPr>
        <p:txBody>
          <a:bodyPr wrap="square" lIns="0" tIns="0" rIns="0" bIns="0" rtlCol="0" anchor="t"/>
          <a:lstStyle/>
          <a:p>
            <a:pPr algn="l" indent="0" marL="0">
              <a:lnSpc>
                <a:spcPts val="1450"/>
              </a:lnSpc>
              <a:buNone/>
            </a:pPr>
            <a:r>
              <a:rPr lang="en-US" sz="1150" b="1" dirty="0">
                <a:solidFill>
                  <a:srgbClr val="1B1A1A"/>
                </a:solidFill>
                <a:latin typeface="+mj-lt" pitchFamily="34" charset="0"/>
              </a:rPr>
              <a:t>Engineering firms hold a year of work and expect a slower economy</a:t>
            </a:r>
            <a:endParaRPr lang="en-US" sz="1150" dirty="0"/>
          </a:p>
        </p:txBody>
      </p:sp>
      <p:sp>
        <p:nvSpPr>
          <p:cNvPr id="15" name="Text e17"/>
          <p:cNvSpPr txBox="1"/>
          <p:nvPr/>
        </p:nvSpPr>
        <p:spPr>
          <a:xfrm>
            <a:off x="571500" y="2193097"/>
            <a:ext cx="2667030" cy="738195"/>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The third-quarter survey of engineering firms recorded a median backlog of 12 months, with the strongest sentiment in data centers and in water and wastewater. The same firms put the odds of a recession within six months at 41%, and 88% reported open positions.</a:t>
            </a:r>
            <a:endParaRPr lang="en-US" sz="800" dirty="0"/>
          </a:p>
        </p:txBody>
      </p:sp>
      <p:sp>
        <p:nvSpPr>
          <p:cNvPr id="16" name="Shape e18s3"/>
          <p:cNvSpPr/>
          <p:nvPr/>
        </p:nvSpPr>
        <p:spPr>
          <a:xfrm>
            <a:off x="571500" y="3014685"/>
            <a:ext cx="19020" cy="295260"/>
          </a:xfrm>
          <a:prstGeom prst="rect">
            <a:avLst/>
          </a:prstGeom>
          <a:solidFill>
            <a:srgbClr val="B68757"/>
          </a:solidFill>
          <a:ln/>
        </p:spPr>
        <p:txBody>
          <a:bodyPr/>
          <a:p/>
        </p:txBody>
      </p:sp>
      <p:sp>
        <p:nvSpPr>
          <p:cNvPr id="17" name="Text e18"/>
          <p:cNvSpPr txBox="1"/>
          <p:nvPr/>
        </p:nvSpPr>
        <p:spPr>
          <a:xfrm>
            <a:off x="685800" y="3007553"/>
            <a:ext cx="2552730" cy="295260"/>
          </a:xfrm>
          <a:prstGeom prst="rect">
            <a:avLst/>
          </a:prstGeom>
          <a:noFill/>
          <a:ln/>
        </p:spPr>
        <p:txBody>
          <a:bodyPr wrap="square" lIns="0" tIns="0" rIns="0" bIns="0" rtlCol="0" anchor="t"/>
          <a:lstStyle/>
          <a:p>
            <a:pPr algn="l" indent="0" marL="0">
              <a:lnSpc>
                <a:spcPts val="1150"/>
              </a:lnSpc>
              <a:buNone/>
            </a:pPr>
            <a:r>
              <a:rPr lang="en-US" sz="800" b="1" dirty="0">
                <a:solidFill>
                  <a:srgbClr val="1B1A1A"/>
                </a:solidFill>
                <a:latin typeface="+mn-lt" pitchFamily="34" charset="0"/>
              </a:rPr>
              <a:t>Our read.</a:t>
            </a:r>
            <a:pPr algn="l" indent="0" marL="0">
              <a:lnSpc>
                <a:spcPts val="1150"/>
              </a:lnSpc>
              <a:buNone/>
            </a:pPr>
            <a:r>
              <a:rPr lang="en-US" sz="800" dirty="0">
                <a:solidFill>
                  <a:srgbClr val="333231"/>
                </a:solidFill>
                <a:latin typeface="+mn-lt" pitchFamily="34" charset="0"/>
              </a:rPr>
              <a:t> Backlog and a bench of licensed engineers are the first two facts a buyer will test.</a:t>
            </a:r>
            <a:endParaRPr lang="en-US" sz="800" dirty="0"/>
          </a:p>
        </p:txBody>
      </p:sp>
      <p:sp>
        <p:nvSpPr>
          <p:cNvPr id="18" name="Shape e20">
            <a:hlinkClick r:id="rId1" tooltip=""/>
          </p:cNvPr>
          <p:cNvSpPr/>
          <p:nvPr/>
        </p:nvSpPr>
        <p:spPr>
          <a:xfrm>
            <a:off x="571500" y="3657600"/>
            <a:ext cx="840882" cy="228600"/>
          </a:xfrm>
          <a:prstGeom prst="rect">
            <a:avLst/>
          </a:prstGeom>
          <a:solidFill>
            <a:srgbClr val="1B1A1A"/>
          </a:solidFill>
          <a:ln/>
        </p:spPr>
        <p:txBody>
          <a:bodyPr/>
          <a:p/>
        </p:txBody>
      </p:sp>
      <p:sp>
        <p:nvSpPr>
          <p:cNvPr id="19" name="Text e20"/>
          <p:cNvSpPr txBox="1"/>
          <p:nvPr/>
        </p:nvSpPr>
        <p:spPr>
          <a:xfrm>
            <a:off x="685800" y="3709995"/>
            <a:ext cx="669432" cy="114300"/>
          </a:xfrm>
          <a:prstGeom prst="rect">
            <a:avLst/>
          </a:prstGeom>
          <a:noFill/>
          <a:ln/>
        </p:spPr>
        <p:txBody>
          <a:bodyPr wrap="none" lIns="0" tIns="0" rIns="0" bIns="0" rtlCol="0" anchor="t"/>
          <a:lstStyle/>
          <a:p>
            <a:pPr algn="l" indent="0" marL="0">
              <a:lnSpc>
                <a:spcPts val="900"/>
              </a:lnSpc>
              <a:buNone/>
            </a:pPr>
            <a:r>
              <a:rPr lang="en-US" sz="650" b="1" spc="150" kern="0" dirty="0">
                <a:solidFill>
                  <a:srgbClr val="FFFFFF"/>
                </a:solidFill>
                <a:latin typeface="+mn-lt" pitchFamily="34" charset="0"/>
              </a:rPr>
              <a:t>READ HERE</a:t>
            </a:r>
            <a:endParaRPr lang="en-US" sz="650" dirty="0"/>
          </a:p>
        </p:txBody>
      </p:sp>
      <p:sp>
        <p:nvSpPr>
          <p:cNvPr id="20" name="Shape e21"/>
          <p:cNvSpPr/>
          <p:nvPr/>
        </p:nvSpPr>
        <p:spPr>
          <a:xfrm>
            <a:off x="3543300" y="1438260"/>
            <a:ext cx="2971800" cy="2562240"/>
          </a:xfrm>
          <a:prstGeom prst="rect">
            <a:avLst/>
          </a:prstGeom>
          <a:solidFill>
            <a:srgbClr val="FAF7F3"/>
          </a:solidFill>
          <a:ln/>
        </p:spPr>
        <p:txBody>
          <a:bodyPr/>
          <a:p/>
        </p:txBody>
      </p:sp>
      <p:sp>
        <p:nvSpPr>
          <p:cNvPr id="21" name="Shape e21s0"/>
          <p:cNvSpPr/>
          <p:nvPr/>
        </p:nvSpPr>
        <p:spPr>
          <a:xfrm>
            <a:off x="3543300" y="1438260"/>
            <a:ext cx="2971800" cy="28621"/>
          </a:xfrm>
          <a:prstGeom prst="rect">
            <a:avLst/>
          </a:prstGeom>
          <a:solidFill>
            <a:srgbClr val="B68757"/>
          </a:solidFill>
          <a:ln/>
        </p:spPr>
        <p:txBody>
          <a:bodyPr/>
          <a:p/>
        </p:txBody>
      </p:sp>
      <p:sp>
        <p:nvSpPr>
          <p:cNvPr id="22" name="Text e23"/>
          <p:cNvSpPr txBox="1"/>
          <p:nvPr/>
        </p:nvSpPr>
        <p:spPr>
          <a:xfrm>
            <a:off x="3695730" y="1576426"/>
            <a:ext cx="1696669"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STAFFING INDUSTRY ANALYSTS</a:t>
            </a:r>
            <a:endParaRPr lang="en-US" sz="600" dirty="0"/>
          </a:p>
        </p:txBody>
      </p:sp>
      <p:sp>
        <p:nvSpPr>
          <p:cNvPr id="23" name="Text e24"/>
          <p:cNvSpPr txBox="1"/>
          <p:nvPr/>
        </p:nvSpPr>
        <p:spPr>
          <a:xfrm>
            <a:off x="5541904" y="1571671"/>
            <a:ext cx="877915" cy="123810"/>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September 29, 2026</a:t>
            </a:r>
            <a:endParaRPr lang="en-US" sz="700" dirty="0"/>
          </a:p>
        </p:txBody>
      </p:sp>
      <p:sp>
        <p:nvSpPr>
          <p:cNvPr id="24" name="Text e25"/>
          <p:cNvSpPr txBox="1"/>
          <p:nvPr/>
        </p:nvSpPr>
        <p:spPr>
          <a:xfrm>
            <a:off x="3695730" y="1759763"/>
            <a:ext cx="2667030" cy="371521"/>
          </a:xfrm>
          <a:prstGeom prst="rect">
            <a:avLst/>
          </a:prstGeom>
          <a:noFill/>
          <a:ln/>
        </p:spPr>
        <p:txBody>
          <a:bodyPr wrap="square" lIns="0" tIns="0" rIns="0" bIns="0" rtlCol="0" anchor="t"/>
          <a:lstStyle/>
          <a:p>
            <a:pPr algn="l" indent="0" marL="0">
              <a:lnSpc>
                <a:spcPts val="1450"/>
              </a:lnSpc>
              <a:buNone/>
            </a:pPr>
            <a:r>
              <a:rPr lang="en-US" sz="1150" b="1" dirty="0">
                <a:solidFill>
                  <a:srgbClr val="1B1A1A"/>
                </a:solidFill>
                <a:latin typeface="+mj-lt" pitchFamily="34" charset="0"/>
              </a:rPr>
              <a:t>Staffing revenue grows 5% at the median, the best reading since 2022</a:t>
            </a:r>
            <a:endParaRPr lang="en-US" sz="1150" dirty="0"/>
          </a:p>
        </p:txBody>
      </p:sp>
      <p:sp>
        <p:nvSpPr>
          <p:cNvPr id="25" name="Text e26"/>
          <p:cNvSpPr txBox="1"/>
          <p:nvPr/>
        </p:nvSpPr>
        <p:spPr>
          <a:xfrm>
            <a:off x="3695730" y="2193097"/>
            <a:ext cx="2667030" cy="738195"/>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The August Pulse Survey of 128 staffing firms recorded median revenue growth of 5% from a year earlier. Engineering staffing led at 10% and industrial staffing followed at 8%, after three years in which industry revenue declined.</a:t>
            </a:r>
            <a:endParaRPr lang="en-US" sz="800" dirty="0"/>
          </a:p>
        </p:txBody>
      </p:sp>
      <p:sp>
        <p:nvSpPr>
          <p:cNvPr id="26" name="Shape e27s3"/>
          <p:cNvSpPr/>
          <p:nvPr/>
        </p:nvSpPr>
        <p:spPr>
          <a:xfrm>
            <a:off x="3695730" y="3014685"/>
            <a:ext cx="19020" cy="442935"/>
          </a:xfrm>
          <a:prstGeom prst="rect">
            <a:avLst/>
          </a:prstGeom>
          <a:solidFill>
            <a:srgbClr val="B68757"/>
          </a:solidFill>
          <a:ln/>
        </p:spPr>
        <p:txBody>
          <a:bodyPr/>
          <a:p/>
        </p:txBody>
      </p:sp>
      <p:sp>
        <p:nvSpPr>
          <p:cNvPr id="27" name="Text e27"/>
          <p:cNvSpPr txBox="1"/>
          <p:nvPr/>
        </p:nvSpPr>
        <p:spPr>
          <a:xfrm>
            <a:off x="3810030" y="3007553"/>
            <a:ext cx="2552730" cy="442935"/>
          </a:xfrm>
          <a:prstGeom prst="rect">
            <a:avLst/>
          </a:prstGeom>
          <a:noFill/>
          <a:ln/>
        </p:spPr>
        <p:txBody>
          <a:bodyPr wrap="square" lIns="0" tIns="0" rIns="0" bIns="0" rtlCol="0" anchor="t"/>
          <a:lstStyle/>
          <a:p>
            <a:pPr algn="l" indent="0" marL="0">
              <a:lnSpc>
                <a:spcPts val="1150"/>
              </a:lnSpc>
              <a:buNone/>
            </a:pPr>
            <a:r>
              <a:rPr lang="en-US" sz="800" b="1" dirty="0">
                <a:solidFill>
                  <a:srgbClr val="1B1A1A"/>
                </a:solidFill>
                <a:latin typeface="+mn-lt" pitchFamily="34" charset="0"/>
              </a:rPr>
              <a:t>Our read.</a:t>
            </a:r>
            <a:pPr algn="l" indent="0" marL="0">
              <a:lnSpc>
                <a:spcPts val="1150"/>
              </a:lnSpc>
              <a:buNone/>
            </a:pPr>
            <a:r>
              <a:rPr lang="en-US" sz="800" dirty="0">
                <a:solidFill>
                  <a:srgbClr val="333231"/>
                </a:solidFill>
                <a:latin typeface="+mn-lt" pitchFamily="34" charset="0"/>
              </a:rPr>
              <a:t> The recovery is strongest in the skilled categories where this year's acquisitions are concentrated.</a:t>
            </a:r>
            <a:endParaRPr lang="en-US" sz="800" dirty="0"/>
          </a:p>
        </p:txBody>
      </p:sp>
      <p:sp>
        <p:nvSpPr>
          <p:cNvPr id="28" name="Shape e29">
            <a:hlinkClick r:id="rId2" tooltip=""/>
          </p:cNvPr>
          <p:cNvSpPr/>
          <p:nvPr/>
        </p:nvSpPr>
        <p:spPr>
          <a:xfrm>
            <a:off x="3695730" y="3657600"/>
            <a:ext cx="840882" cy="228600"/>
          </a:xfrm>
          <a:prstGeom prst="rect">
            <a:avLst/>
          </a:prstGeom>
          <a:solidFill>
            <a:srgbClr val="1B1A1A"/>
          </a:solidFill>
          <a:ln/>
        </p:spPr>
        <p:txBody>
          <a:bodyPr/>
          <a:p/>
        </p:txBody>
      </p:sp>
      <p:sp>
        <p:nvSpPr>
          <p:cNvPr id="29" name="Text e29"/>
          <p:cNvSpPr txBox="1"/>
          <p:nvPr/>
        </p:nvSpPr>
        <p:spPr>
          <a:xfrm>
            <a:off x="3810030" y="3709995"/>
            <a:ext cx="669432" cy="114300"/>
          </a:xfrm>
          <a:prstGeom prst="rect">
            <a:avLst/>
          </a:prstGeom>
          <a:noFill/>
          <a:ln/>
        </p:spPr>
        <p:txBody>
          <a:bodyPr wrap="none" lIns="0" tIns="0" rIns="0" bIns="0" rtlCol="0" anchor="t"/>
          <a:lstStyle/>
          <a:p>
            <a:pPr algn="l" indent="0" marL="0">
              <a:lnSpc>
                <a:spcPts val="900"/>
              </a:lnSpc>
              <a:buNone/>
            </a:pPr>
            <a:r>
              <a:rPr lang="en-US" sz="650" b="1" spc="150" kern="0" dirty="0">
                <a:solidFill>
                  <a:srgbClr val="FFFFFF"/>
                </a:solidFill>
                <a:latin typeface="+mn-lt" pitchFamily="34" charset="0"/>
              </a:rPr>
              <a:t>READ HERE</a:t>
            </a:r>
            <a:endParaRPr lang="en-US" sz="650" dirty="0"/>
          </a:p>
        </p:txBody>
      </p:sp>
      <p:sp>
        <p:nvSpPr>
          <p:cNvPr id="30" name="Shape e30"/>
          <p:cNvSpPr/>
          <p:nvPr/>
        </p:nvSpPr>
        <p:spPr>
          <a:xfrm>
            <a:off x="6667530" y="1438260"/>
            <a:ext cx="2971800" cy="2562240"/>
          </a:xfrm>
          <a:prstGeom prst="rect">
            <a:avLst/>
          </a:prstGeom>
          <a:solidFill>
            <a:srgbClr val="FAF7F3"/>
          </a:solidFill>
          <a:ln/>
        </p:spPr>
        <p:txBody>
          <a:bodyPr/>
          <a:p/>
        </p:txBody>
      </p:sp>
      <p:sp>
        <p:nvSpPr>
          <p:cNvPr id="31" name="Shape e30s0"/>
          <p:cNvSpPr/>
          <p:nvPr/>
        </p:nvSpPr>
        <p:spPr>
          <a:xfrm>
            <a:off x="6667530" y="1438260"/>
            <a:ext cx="2971800" cy="28621"/>
          </a:xfrm>
          <a:prstGeom prst="rect">
            <a:avLst/>
          </a:prstGeom>
          <a:solidFill>
            <a:srgbClr val="B68757"/>
          </a:solidFill>
          <a:ln/>
        </p:spPr>
        <p:txBody>
          <a:bodyPr/>
          <a:p/>
        </p:txBody>
      </p:sp>
      <p:sp>
        <p:nvSpPr>
          <p:cNvPr id="32" name="Text e32"/>
          <p:cNvSpPr txBox="1"/>
          <p:nvPr/>
        </p:nvSpPr>
        <p:spPr>
          <a:xfrm>
            <a:off x="6819870" y="1576426"/>
            <a:ext cx="1180490"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INSURANCE JOURNAL</a:t>
            </a:r>
            <a:endParaRPr lang="en-US" sz="600" dirty="0"/>
          </a:p>
        </p:txBody>
      </p:sp>
      <p:sp>
        <p:nvSpPr>
          <p:cNvPr id="33" name="Text e33"/>
          <p:cNvSpPr txBox="1"/>
          <p:nvPr/>
        </p:nvSpPr>
        <p:spPr>
          <a:xfrm>
            <a:off x="8830909" y="1571671"/>
            <a:ext cx="713141" cy="123810"/>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August 20, 2026</a:t>
            </a:r>
            <a:endParaRPr lang="en-US" sz="700" dirty="0"/>
          </a:p>
        </p:txBody>
      </p:sp>
      <p:sp>
        <p:nvSpPr>
          <p:cNvPr id="34" name="Text e34"/>
          <p:cNvSpPr txBox="1"/>
          <p:nvPr/>
        </p:nvSpPr>
        <p:spPr>
          <a:xfrm>
            <a:off x="6819870" y="1759763"/>
            <a:ext cx="2667030" cy="371521"/>
          </a:xfrm>
          <a:prstGeom prst="rect">
            <a:avLst/>
          </a:prstGeom>
          <a:noFill/>
          <a:ln/>
        </p:spPr>
        <p:txBody>
          <a:bodyPr wrap="square" lIns="0" tIns="0" rIns="0" bIns="0" rtlCol="0" anchor="t"/>
          <a:lstStyle/>
          <a:p>
            <a:pPr algn="l" indent="0" marL="0">
              <a:lnSpc>
                <a:spcPts val="1450"/>
              </a:lnSpc>
              <a:buNone/>
            </a:pPr>
            <a:r>
              <a:rPr lang="en-US" sz="1150" b="1" dirty="0">
                <a:solidFill>
                  <a:srgbClr val="1B1A1A"/>
                </a:solidFill>
                <a:latin typeface="+mj-lt" pitchFamily="34" charset="0"/>
              </a:rPr>
              <a:t>Commercial premiums fall 2% as property pricing softens</a:t>
            </a:r>
            <a:endParaRPr lang="en-US" sz="1150" dirty="0"/>
          </a:p>
        </p:txBody>
      </p:sp>
      <p:sp>
        <p:nvSpPr>
          <p:cNvPr id="35" name="Text e35"/>
          <p:cNvSpPr txBox="1"/>
          <p:nvPr/>
        </p:nvSpPr>
        <p:spPr>
          <a:xfrm>
            <a:off x="6819870" y="2193097"/>
            <a:ext cx="2667030" cy="738195"/>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The Council of Insurance Agents &amp; Brokers recorded an average premium decline of 2% in the second quarter. Large accounts fell 3.7% and small accounts 0.5%. Commercial property fell 6.3% while umbrella and commercial auto continued to rise.</a:t>
            </a:r>
            <a:endParaRPr lang="en-US" sz="800" dirty="0"/>
          </a:p>
        </p:txBody>
      </p:sp>
      <p:sp>
        <p:nvSpPr>
          <p:cNvPr id="36" name="Shape e36s3"/>
          <p:cNvSpPr/>
          <p:nvPr/>
        </p:nvSpPr>
        <p:spPr>
          <a:xfrm>
            <a:off x="6819870" y="3014685"/>
            <a:ext cx="19020" cy="295260"/>
          </a:xfrm>
          <a:prstGeom prst="rect">
            <a:avLst/>
          </a:prstGeom>
          <a:solidFill>
            <a:srgbClr val="B68757"/>
          </a:solidFill>
          <a:ln/>
        </p:spPr>
        <p:txBody>
          <a:bodyPr/>
          <a:p/>
        </p:txBody>
      </p:sp>
      <p:sp>
        <p:nvSpPr>
          <p:cNvPr id="37" name="Text e36"/>
          <p:cNvSpPr txBox="1"/>
          <p:nvPr/>
        </p:nvSpPr>
        <p:spPr>
          <a:xfrm>
            <a:off x="6934170" y="3007553"/>
            <a:ext cx="2552730" cy="295260"/>
          </a:xfrm>
          <a:prstGeom prst="rect">
            <a:avLst/>
          </a:prstGeom>
          <a:noFill/>
          <a:ln/>
        </p:spPr>
        <p:txBody>
          <a:bodyPr wrap="square" lIns="0" tIns="0" rIns="0" bIns="0" rtlCol="0" anchor="t"/>
          <a:lstStyle/>
          <a:p>
            <a:pPr algn="l" indent="0" marL="0">
              <a:lnSpc>
                <a:spcPts val="1150"/>
              </a:lnSpc>
              <a:buNone/>
            </a:pPr>
            <a:r>
              <a:rPr lang="en-US" sz="800" b="1" dirty="0">
                <a:solidFill>
                  <a:srgbClr val="1B1A1A"/>
                </a:solidFill>
                <a:latin typeface="+mn-lt" pitchFamily="34" charset="0"/>
              </a:rPr>
              <a:t>Our read.</a:t>
            </a:r>
            <a:pPr algn="l" indent="0" marL="0">
              <a:lnSpc>
                <a:spcPts val="1150"/>
              </a:lnSpc>
              <a:buNone/>
            </a:pPr>
            <a:r>
              <a:rPr lang="en-US" sz="800" dirty="0">
                <a:solidFill>
                  <a:srgbClr val="333231"/>
                </a:solidFill>
                <a:latin typeface="+mn-lt" pitchFamily="34" charset="0"/>
              </a:rPr>
              <a:t> Account size and line of business now explain most of the difference in agency growth.</a:t>
            </a:r>
            <a:endParaRPr lang="en-US" sz="800" dirty="0"/>
          </a:p>
        </p:txBody>
      </p:sp>
      <p:sp>
        <p:nvSpPr>
          <p:cNvPr id="38" name="Shape e38">
            <a:hlinkClick r:id="rId3" tooltip=""/>
          </p:cNvPr>
          <p:cNvSpPr/>
          <p:nvPr/>
        </p:nvSpPr>
        <p:spPr>
          <a:xfrm>
            <a:off x="6819870" y="3657600"/>
            <a:ext cx="840882" cy="228600"/>
          </a:xfrm>
          <a:prstGeom prst="rect">
            <a:avLst/>
          </a:prstGeom>
          <a:solidFill>
            <a:srgbClr val="1B1A1A"/>
          </a:solidFill>
          <a:ln/>
        </p:spPr>
        <p:txBody>
          <a:bodyPr/>
          <a:p/>
        </p:txBody>
      </p:sp>
      <p:sp>
        <p:nvSpPr>
          <p:cNvPr id="39" name="Text e38"/>
          <p:cNvSpPr txBox="1"/>
          <p:nvPr/>
        </p:nvSpPr>
        <p:spPr>
          <a:xfrm>
            <a:off x="6934170" y="3709995"/>
            <a:ext cx="669432" cy="114300"/>
          </a:xfrm>
          <a:prstGeom prst="rect">
            <a:avLst/>
          </a:prstGeom>
          <a:noFill/>
          <a:ln/>
        </p:spPr>
        <p:txBody>
          <a:bodyPr wrap="none" lIns="0" tIns="0" rIns="0" bIns="0" rtlCol="0" anchor="t"/>
          <a:lstStyle/>
          <a:p>
            <a:pPr algn="l" indent="0" marL="0">
              <a:lnSpc>
                <a:spcPts val="900"/>
              </a:lnSpc>
              <a:buNone/>
            </a:pPr>
            <a:r>
              <a:rPr lang="en-US" sz="650" b="1" spc="150" kern="0" dirty="0">
                <a:solidFill>
                  <a:srgbClr val="FFFFFF"/>
                </a:solidFill>
                <a:latin typeface="+mn-lt" pitchFamily="34" charset="0"/>
              </a:rPr>
              <a:t>READ HERE</a:t>
            </a:r>
            <a:endParaRPr lang="en-US" sz="650" dirty="0"/>
          </a:p>
        </p:txBody>
      </p:sp>
      <p:sp>
        <p:nvSpPr>
          <p:cNvPr id="40" name="Text e40"/>
          <p:cNvSpPr txBox="1"/>
          <p:nvPr/>
        </p:nvSpPr>
        <p:spPr>
          <a:xfrm>
            <a:off x="419070" y="4171950"/>
            <a:ext cx="1763420"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1B1A1A"/>
                </a:solidFill>
                <a:latin typeface="+mn-lt" pitchFamily="34" charset="0"/>
              </a:rPr>
              <a:t>ECONOMY AND DEAL MARKET</a:t>
            </a:r>
            <a:endParaRPr lang="en-US" sz="700" dirty="0"/>
          </a:p>
        </p:txBody>
      </p:sp>
      <p:sp>
        <p:nvSpPr>
          <p:cNvPr id="41" name="Shape e41"/>
          <p:cNvSpPr/>
          <p:nvPr/>
        </p:nvSpPr>
        <p:spPr>
          <a:xfrm>
            <a:off x="2239731" y="4229100"/>
            <a:ext cx="7399599" cy="9510"/>
          </a:xfrm>
          <a:prstGeom prst="ellipse">
            <a:avLst/>
          </a:prstGeom>
          <a:solidFill>
            <a:srgbClr val="E3DCD3"/>
          </a:solidFill>
          <a:ln/>
        </p:spPr>
        <p:txBody>
          <a:bodyPr/>
          <a:p/>
        </p:txBody>
      </p:sp>
      <p:sp>
        <p:nvSpPr>
          <p:cNvPr id="42" name="Shape e43"/>
          <p:cNvSpPr/>
          <p:nvPr/>
        </p:nvSpPr>
        <p:spPr>
          <a:xfrm>
            <a:off x="419070" y="4372021"/>
            <a:ext cx="2971800" cy="2562240"/>
          </a:xfrm>
          <a:prstGeom prst="rect">
            <a:avLst/>
          </a:prstGeom>
          <a:solidFill>
            <a:srgbClr val="FAF7F3"/>
          </a:solidFill>
          <a:ln/>
        </p:spPr>
        <p:txBody>
          <a:bodyPr/>
          <a:p/>
        </p:txBody>
      </p:sp>
      <p:sp>
        <p:nvSpPr>
          <p:cNvPr id="43" name="Shape e43s0"/>
          <p:cNvSpPr/>
          <p:nvPr/>
        </p:nvSpPr>
        <p:spPr>
          <a:xfrm>
            <a:off x="419070" y="4372021"/>
            <a:ext cx="2971800" cy="28621"/>
          </a:xfrm>
          <a:prstGeom prst="rect">
            <a:avLst/>
          </a:prstGeom>
          <a:solidFill>
            <a:srgbClr val="B68757"/>
          </a:solidFill>
          <a:ln/>
        </p:spPr>
        <p:txBody>
          <a:bodyPr/>
          <a:p/>
        </p:txBody>
      </p:sp>
      <p:sp>
        <p:nvSpPr>
          <p:cNvPr id="44" name="Text e45"/>
          <p:cNvSpPr txBox="1"/>
          <p:nvPr/>
        </p:nvSpPr>
        <p:spPr>
          <a:xfrm>
            <a:off x="571500" y="4510095"/>
            <a:ext cx="529346"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REUTERS</a:t>
            </a:r>
            <a:endParaRPr lang="en-US" sz="600" dirty="0"/>
          </a:p>
        </p:txBody>
      </p:sp>
      <p:sp>
        <p:nvSpPr>
          <p:cNvPr id="45" name="Text e46"/>
          <p:cNvSpPr txBox="1"/>
          <p:nvPr/>
        </p:nvSpPr>
        <p:spPr>
          <a:xfrm>
            <a:off x="2598085" y="4505340"/>
            <a:ext cx="697596" cy="123810"/>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October 1, 2026</a:t>
            </a:r>
            <a:endParaRPr lang="en-US" sz="700" dirty="0"/>
          </a:p>
        </p:txBody>
      </p:sp>
      <p:sp>
        <p:nvSpPr>
          <p:cNvPr id="46" name="Text e47"/>
          <p:cNvSpPr txBox="1"/>
          <p:nvPr/>
        </p:nvSpPr>
        <p:spPr>
          <a:xfrm>
            <a:off x="571500" y="4693432"/>
            <a:ext cx="2667030" cy="371521"/>
          </a:xfrm>
          <a:prstGeom prst="rect">
            <a:avLst/>
          </a:prstGeom>
          <a:noFill/>
          <a:ln/>
        </p:spPr>
        <p:txBody>
          <a:bodyPr wrap="square" lIns="0" tIns="0" rIns="0" bIns="0" rtlCol="0" anchor="t"/>
          <a:lstStyle/>
          <a:p>
            <a:pPr algn="l" indent="0" marL="0">
              <a:lnSpc>
                <a:spcPts val="1450"/>
              </a:lnSpc>
              <a:buNone/>
            </a:pPr>
            <a:r>
              <a:rPr lang="en-US" sz="1150" b="1" dirty="0">
                <a:solidFill>
                  <a:srgbClr val="1B1A1A"/>
                </a:solidFill>
                <a:latin typeface="+mj-lt" pitchFamily="34" charset="0"/>
              </a:rPr>
              <a:t>Global deal value falls 41% in the third quarter</a:t>
            </a:r>
            <a:endParaRPr lang="en-US" sz="1150" dirty="0"/>
          </a:p>
        </p:txBody>
      </p:sp>
      <p:sp>
        <p:nvSpPr>
          <p:cNvPr id="47" name="Text e48"/>
          <p:cNvSpPr txBox="1"/>
          <p:nvPr/>
        </p:nvSpPr>
        <p:spPr>
          <a:xfrm>
            <a:off x="571500" y="5126858"/>
            <a:ext cx="2667030" cy="59052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Announced global M&amp;A fell to $993 billion in the third quarter, the first quarter under $1 trillion since mid-2025, after a record first half. The report attributes the decline to rising borrowing costs.</a:t>
            </a:r>
            <a:endParaRPr lang="en-US" sz="800" dirty="0"/>
          </a:p>
        </p:txBody>
      </p:sp>
      <p:sp>
        <p:nvSpPr>
          <p:cNvPr id="48" name="Shape e49s3"/>
          <p:cNvSpPr/>
          <p:nvPr/>
        </p:nvSpPr>
        <p:spPr>
          <a:xfrm>
            <a:off x="571500" y="5800771"/>
            <a:ext cx="19020" cy="590520"/>
          </a:xfrm>
          <a:prstGeom prst="rect">
            <a:avLst/>
          </a:prstGeom>
          <a:solidFill>
            <a:srgbClr val="B68757"/>
          </a:solidFill>
          <a:ln/>
        </p:spPr>
        <p:txBody>
          <a:bodyPr/>
          <a:p/>
        </p:txBody>
      </p:sp>
      <p:sp>
        <p:nvSpPr>
          <p:cNvPr id="49" name="Text e49"/>
          <p:cNvSpPr txBox="1"/>
          <p:nvPr/>
        </p:nvSpPr>
        <p:spPr>
          <a:xfrm>
            <a:off x="685800" y="5793547"/>
            <a:ext cx="2552730" cy="590520"/>
          </a:xfrm>
          <a:prstGeom prst="rect">
            <a:avLst/>
          </a:prstGeom>
          <a:noFill/>
          <a:ln/>
        </p:spPr>
        <p:txBody>
          <a:bodyPr wrap="square" lIns="0" tIns="0" rIns="0" bIns="0" rtlCol="0" anchor="t"/>
          <a:lstStyle/>
          <a:p>
            <a:pPr algn="l" indent="0" marL="0">
              <a:lnSpc>
                <a:spcPts val="1150"/>
              </a:lnSpc>
              <a:buNone/>
            </a:pPr>
            <a:r>
              <a:rPr lang="en-US" sz="800" b="1" dirty="0">
                <a:solidFill>
                  <a:srgbClr val="1B1A1A"/>
                </a:solidFill>
                <a:latin typeface="+mn-lt" pitchFamily="34" charset="0"/>
              </a:rPr>
              <a:t>Our read.</a:t>
            </a:r>
            <a:pPr algn="l" indent="0" marL="0">
              <a:lnSpc>
                <a:spcPts val="1150"/>
              </a:lnSpc>
              <a:buNone/>
            </a:pPr>
            <a:r>
              <a:rPr lang="en-US" sz="800" dirty="0">
                <a:solidFill>
                  <a:srgbClr val="333231"/>
                </a:solidFill>
                <a:latin typeface="+mn-lt" pitchFamily="34" charset="0"/>
              </a:rPr>
              <a:t> The slowdown is concentrated in the largest transactions. Add-on purchases by existing platforms made up about three-quarters of second-quarter buyouts (</a:t>
            </a:r>
            <a:pPr algn="l" indent="0" marL="0">
              <a:lnSpc>
                <a:spcPts val="1150"/>
              </a:lnSpc>
              <a:buNone/>
            </a:pPr>
            <a:r>
              <a:rPr lang="en-US" sz="80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PitchBook</a:t>
            </a:r>
            <a:pPr algn="l" indent="0" marL="0">
              <a:lnSpc>
                <a:spcPts val="1150"/>
              </a:lnSpc>
              <a:buNone/>
            </a:pPr>
            <a:r>
              <a:rPr lang="en-US" sz="800" dirty="0">
                <a:solidFill>
                  <a:srgbClr val="333231"/>
                </a:solidFill>
                <a:latin typeface="+mn-lt" pitchFamily="34" charset="0"/>
              </a:rPr>
              <a:t>).</a:t>
            </a:r>
            <a:endParaRPr lang="en-US" sz="800" dirty="0"/>
          </a:p>
        </p:txBody>
      </p:sp>
      <p:sp>
        <p:nvSpPr>
          <p:cNvPr id="50" name="Shape e51">
            <a:hlinkClick r:id="rId5" tooltip=""/>
          </p:cNvPr>
          <p:cNvSpPr/>
          <p:nvPr/>
        </p:nvSpPr>
        <p:spPr>
          <a:xfrm>
            <a:off x="571500" y="6591270"/>
            <a:ext cx="840882" cy="228600"/>
          </a:xfrm>
          <a:prstGeom prst="rect">
            <a:avLst/>
          </a:prstGeom>
          <a:solidFill>
            <a:srgbClr val="1B1A1A"/>
          </a:solidFill>
          <a:ln/>
        </p:spPr>
        <p:txBody>
          <a:bodyPr/>
          <a:p/>
        </p:txBody>
      </p:sp>
      <p:sp>
        <p:nvSpPr>
          <p:cNvPr id="51" name="Text e51"/>
          <p:cNvSpPr txBox="1"/>
          <p:nvPr/>
        </p:nvSpPr>
        <p:spPr>
          <a:xfrm>
            <a:off x="685800" y="6643665"/>
            <a:ext cx="669432" cy="114300"/>
          </a:xfrm>
          <a:prstGeom prst="rect">
            <a:avLst/>
          </a:prstGeom>
          <a:noFill/>
          <a:ln/>
        </p:spPr>
        <p:txBody>
          <a:bodyPr wrap="none" lIns="0" tIns="0" rIns="0" bIns="0" rtlCol="0" anchor="t"/>
          <a:lstStyle/>
          <a:p>
            <a:pPr algn="l" indent="0" marL="0">
              <a:lnSpc>
                <a:spcPts val="900"/>
              </a:lnSpc>
              <a:buNone/>
            </a:pPr>
            <a:r>
              <a:rPr lang="en-US" sz="650" b="1" spc="150" kern="0" dirty="0">
                <a:solidFill>
                  <a:srgbClr val="FFFFFF"/>
                </a:solidFill>
                <a:latin typeface="+mn-lt" pitchFamily="34" charset="0"/>
              </a:rPr>
              <a:t>READ HERE</a:t>
            </a:r>
            <a:endParaRPr lang="en-US" sz="650" dirty="0"/>
          </a:p>
        </p:txBody>
      </p:sp>
      <p:sp>
        <p:nvSpPr>
          <p:cNvPr id="52" name="Shape e52"/>
          <p:cNvSpPr/>
          <p:nvPr/>
        </p:nvSpPr>
        <p:spPr>
          <a:xfrm>
            <a:off x="3543300" y="4372021"/>
            <a:ext cx="2971800" cy="2562240"/>
          </a:xfrm>
          <a:prstGeom prst="rect">
            <a:avLst/>
          </a:prstGeom>
          <a:solidFill>
            <a:srgbClr val="FAF7F3"/>
          </a:solidFill>
          <a:ln/>
        </p:spPr>
        <p:txBody>
          <a:bodyPr/>
          <a:p/>
        </p:txBody>
      </p:sp>
      <p:sp>
        <p:nvSpPr>
          <p:cNvPr id="53" name="Shape e52s0"/>
          <p:cNvSpPr/>
          <p:nvPr/>
        </p:nvSpPr>
        <p:spPr>
          <a:xfrm>
            <a:off x="3543300" y="4372021"/>
            <a:ext cx="2971800" cy="28621"/>
          </a:xfrm>
          <a:prstGeom prst="rect">
            <a:avLst/>
          </a:prstGeom>
          <a:solidFill>
            <a:srgbClr val="B68757"/>
          </a:solidFill>
          <a:ln/>
        </p:spPr>
        <p:txBody>
          <a:bodyPr/>
          <a:p/>
        </p:txBody>
      </p:sp>
      <p:sp>
        <p:nvSpPr>
          <p:cNvPr id="54" name="Text e54"/>
          <p:cNvSpPr txBox="1"/>
          <p:nvPr/>
        </p:nvSpPr>
        <p:spPr>
          <a:xfrm>
            <a:off x="3695730" y="4510095"/>
            <a:ext cx="1024128"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FEDERAL RESERVE</a:t>
            </a:r>
            <a:endParaRPr lang="en-US" sz="600" dirty="0"/>
          </a:p>
        </p:txBody>
      </p:sp>
      <p:sp>
        <p:nvSpPr>
          <p:cNvPr id="55" name="Text e55"/>
          <p:cNvSpPr txBox="1"/>
          <p:nvPr/>
        </p:nvSpPr>
        <p:spPr>
          <a:xfrm>
            <a:off x="5557723" y="4505340"/>
            <a:ext cx="862188" cy="123810"/>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September 16, 2026</a:t>
            </a:r>
            <a:endParaRPr lang="en-US" sz="700" dirty="0"/>
          </a:p>
        </p:txBody>
      </p:sp>
      <p:sp>
        <p:nvSpPr>
          <p:cNvPr id="56" name="Text e56"/>
          <p:cNvSpPr txBox="1"/>
          <p:nvPr/>
        </p:nvSpPr>
        <p:spPr>
          <a:xfrm>
            <a:off x="3695730" y="4693432"/>
            <a:ext cx="2667030" cy="371521"/>
          </a:xfrm>
          <a:prstGeom prst="rect">
            <a:avLst/>
          </a:prstGeom>
          <a:noFill/>
          <a:ln/>
        </p:spPr>
        <p:txBody>
          <a:bodyPr wrap="square" lIns="0" tIns="0" rIns="0" bIns="0" rtlCol="0" anchor="t"/>
          <a:lstStyle/>
          <a:p>
            <a:pPr algn="l" indent="0" marL="0">
              <a:lnSpc>
                <a:spcPts val="1450"/>
              </a:lnSpc>
              <a:buNone/>
            </a:pPr>
            <a:r>
              <a:rPr lang="en-US" sz="1150" b="1" dirty="0">
                <a:solidFill>
                  <a:srgbClr val="1B1A1A"/>
                </a:solidFill>
                <a:latin typeface="+mj-lt" pitchFamily="34" charset="0"/>
              </a:rPr>
              <a:t>The Federal Open Market Committee raises its target range</a:t>
            </a:r>
            <a:endParaRPr lang="en-US" sz="1150" dirty="0"/>
          </a:p>
        </p:txBody>
      </p:sp>
      <p:sp>
        <p:nvSpPr>
          <p:cNvPr id="57" name="Text e57"/>
          <p:cNvSpPr txBox="1"/>
          <p:nvPr/>
        </p:nvSpPr>
        <p:spPr>
          <a:xfrm>
            <a:off x="3695730" y="5126858"/>
            <a:ext cx="2667030" cy="738195"/>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The committee raised the target range for the federal funds rate by 25 basis points to 3.75% to 4.00% and stated that inflation remains elevated. Senior debt on middle-market acquisitions was already priced at 7.8% in the second quarter.</a:t>
            </a:r>
            <a:endParaRPr lang="en-US" sz="800" dirty="0"/>
          </a:p>
        </p:txBody>
      </p:sp>
      <p:sp>
        <p:nvSpPr>
          <p:cNvPr id="58" name="Shape e58s3"/>
          <p:cNvSpPr/>
          <p:nvPr/>
        </p:nvSpPr>
        <p:spPr>
          <a:xfrm>
            <a:off x="3695730" y="5948355"/>
            <a:ext cx="19020" cy="442935"/>
          </a:xfrm>
          <a:prstGeom prst="rect">
            <a:avLst/>
          </a:prstGeom>
          <a:solidFill>
            <a:srgbClr val="B68757"/>
          </a:solidFill>
          <a:ln/>
        </p:spPr>
        <p:txBody>
          <a:bodyPr/>
          <a:p/>
        </p:txBody>
      </p:sp>
      <p:sp>
        <p:nvSpPr>
          <p:cNvPr id="59" name="Text e58"/>
          <p:cNvSpPr txBox="1"/>
          <p:nvPr/>
        </p:nvSpPr>
        <p:spPr>
          <a:xfrm>
            <a:off x="3810030" y="5941223"/>
            <a:ext cx="2552730" cy="442935"/>
          </a:xfrm>
          <a:prstGeom prst="rect">
            <a:avLst/>
          </a:prstGeom>
          <a:noFill/>
          <a:ln/>
        </p:spPr>
        <p:txBody>
          <a:bodyPr wrap="square" lIns="0" tIns="0" rIns="0" bIns="0" rtlCol="0" anchor="t"/>
          <a:lstStyle/>
          <a:p>
            <a:pPr algn="l" indent="0" marL="0">
              <a:lnSpc>
                <a:spcPts val="1150"/>
              </a:lnSpc>
              <a:buNone/>
            </a:pPr>
            <a:r>
              <a:rPr lang="en-US" sz="800" b="1" dirty="0">
                <a:solidFill>
                  <a:srgbClr val="1B1A1A"/>
                </a:solidFill>
                <a:latin typeface="+mn-lt" pitchFamily="34" charset="0"/>
              </a:rPr>
              <a:t>Our read.</a:t>
            </a:r>
            <a:pPr algn="l" indent="0" marL="0">
              <a:lnSpc>
                <a:spcPts val="1150"/>
              </a:lnSpc>
              <a:buNone/>
            </a:pPr>
            <a:r>
              <a:rPr lang="en-US" sz="800" dirty="0">
                <a:solidFill>
                  <a:srgbClr val="333231"/>
                </a:solidFill>
                <a:latin typeface="+mn-lt" pitchFamily="34" charset="0"/>
              </a:rPr>
              <a:t> Lenders are advancing less debt against each dollar of earnings, at 2.9x EBITDA on platform deals (</a:t>
            </a:r>
            <a:pPr algn="l" indent="0" marL="0">
              <a:lnSpc>
                <a:spcPts val="1150"/>
              </a:lnSpc>
              <a:buNone/>
            </a:pPr>
            <a:r>
              <a:rPr lang="en-US" sz="800" u="sng" dirty="0">
                <a:solidFill>
                  <a:srgbClr val="8C6239"/>
                </a:solidFill>
                <a:latin typeface="+mn-lt" pitchFamily="34" charset="0"/>
                <a:hlinkClick r:id="rId6" invalidUrl="" action="" tgtFrame="" tooltip="" history="1" highlightClick="0" endSnd="0">
                  <a:extLst>
                    <a:ext uri="{A12FA001-AC4F-418D-AE19-62706E023703}">
                      <ahyp:hlinkClr xmlns:ahyp="http://schemas.microsoft.com/office/drawing/2018/hyperlinkcolor" val="tx"/>
                    </a:ext>
                  </a:extLst>
                </a:hlinkClick>
              </a:rPr>
              <a:t>GF Data via ACG</a:t>
            </a:r>
            <a:pPr algn="l" indent="0" marL="0">
              <a:lnSpc>
                <a:spcPts val="1150"/>
              </a:lnSpc>
              <a:buNone/>
            </a:pPr>
            <a:r>
              <a:rPr lang="en-US" sz="800" dirty="0">
                <a:solidFill>
                  <a:srgbClr val="333231"/>
                </a:solidFill>
                <a:latin typeface="+mn-lt" pitchFamily="34" charset="0"/>
              </a:rPr>
              <a:t>).</a:t>
            </a:r>
            <a:endParaRPr lang="en-US" sz="800" dirty="0"/>
          </a:p>
        </p:txBody>
      </p:sp>
      <p:sp>
        <p:nvSpPr>
          <p:cNvPr id="60" name="Shape e60">
            <a:hlinkClick r:id="rId7" tooltip=""/>
          </p:cNvPr>
          <p:cNvSpPr/>
          <p:nvPr/>
        </p:nvSpPr>
        <p:spPr>
          <a:xfrm>
            <a:off x="3695730" y="6591270"/>
            <a:ext cx="840882" cy="228600"/>
          </a:xfrm>
          <a:prstGeom prst="rect">
            <a:avLst/>
          </a:prstGeom>
          <a:solidFill>
            <a:srgbClr val="1B1A1A"/>
          </a:solidFill>
          <a:ln/>
        </p:spPr>
        <p:txBody>
          <a:bodyPr/>
          <a:p/>
        </p:txBody>
      </p:sp>
      <p:sp>
        <p:nvSpPr>
          <p:cNvPr id="61" name="Text e60"/>
          <p:cNvSpPr txBox="1"/>
          <p:nvPr/>
        </p:nvSpPr>
        <p:spPr>
          <a:xfrm>
            <a:off x="3810030" y="6643665"/>
            <a:ext cx="669432" cy="114300"/>
          </a:xfrm>
          <a:prstGeom prst="rect">
            <a:avLst/>
          </a:prstGeom>
          <a:noFill/>
          <a:ln/>
        </p:spPr>
        <p:txBody>
          <a:bodyPr wrap="none" lIns="0" tIns="0" rIns="0" bIns="0" rtlCol="0" anchor="t"/>
          <a:lstStyle/>
          <a:p>
            <a:pPr algn="l" indent="0" marL="0">
              <a:lnSpc>
                <a:spcPts val="900"/>
              </a:lnSpc>
              <a:buNone/>
            </a:pPr>
            <a:r>
              <a:rPr lang="en-US" sz="650" b="1" spc="150" kern="0" dirty="0">
                <a:solidFill>
                  <a:srgbClr val="FFFFFF"/>
                </a:solidFill>
                <a:latin typeface="+mn-lt" pitchFamily="34" charset="0"/>
              </a:rPr>
              <a:t>READ HERE</a:t>
            </a:r>
            <a:endParaRPr lang="en-US" sz="650" dirty="0"/>
          </a:p>
        </p:txBody>
      </p:sp>
      <p:sp>
        <p:nvSpPr>
          <p:cNvPr id="62" name="Shape e61"/>
          <p:cNvSpPr/>
          <p:nvPr/>
        </p:nvSpPr>
        <p:spPr>
          <a:xfrm>
            <a:off x="6667530" y="4372021"/>
            <a:ext cx="2971800" cy="2562240"/>
          </a:xfrm>
          <a:prstGeom prst="rect">
            <a:avLst/>
          </a:prstGeom>
          <a:solidFill>
            <a:srgbClr val="FAF7F3"/>
          </a:solidFill>
          <a:ln/>
        </p:spPr>
        <p:txBody>
          <a:bodyPr/>
          <a:p/>
        </p:txBody>
      </p:sp>
      <p:sp>
        <p:nvSpPr>
          <p:cNvPr id="63" name="Shape e61s0"/>
          <p:cNvSpPr/>
          <p:nvPr/>
        </p:nvSpPr>
        <p:spPr>
          <a:xfrm>
            <a:off x="6667530" y="4372021"/>
            <a:ext cx="2971800" cy="28621"/>
          </a:xfrm>
          <a:prstGeom prst="rect">
            <a:avLst/>
          </a:prstGeom>
          <a:solidFill>
            <a:srgbClr val="B68757"/>
          </a:solidFill>
          <a:ln/>
        </p:spPr>
        <p:txBody>
          <a:bodyPr/>
          <a:p/>
        </p:txBody>
      </p:sp>
      <p:sp>
        <p:nvSpPr>
          <p:cNvPr id="64" name="Text e63"/>
          <p:cNvSpPr txBox="1"/>
          <p:nvPr/>
        </p:nvSpPr>
        <p:spPr>
          <a:xfrm>
            <a:off x="6819870" y="4510095"/>
            <a:ext cx="1143000" cy="247620"/>
          </a:xfrm>
          <a:prstGeom prst="rect">
            <a:avLst/>
          </a:prstGeom>
          <a:noFill/>
          <a:ln/>
        </p:spPr>
        <p:txBody>
          <a:bodyPr wrap="square" lIns="0" tIns="0" rIns="0" bIns="0" rtlCol="0" anchor="t"/>
          <a:lstStyle/>
          <a:p>
            <a:pPr algn="l" indent="0" marL="0">
              <a:lnSpc>
                <a:spcPts val="1000"/>
              </a:lnSpc>
              <a:buNone/>
            </a:pPr>
            <a:r>
              <a:rPr lang="en-US" sz="600" b="1" spc="150" kern="0" dirty="0">
                <a:solidFill>
                  <a:srgbClr val="8C6239"/>
                </a:solidFill>
                <a:latin typeface="+mn-lt" pitchFamily="34" charset="0"/>
              </a:rPr>
              <a:t>IBBA AND M&amp;A SOURCE</a:t>
            </a:r>
            <a:endParaRPr lang="en-US" sz="600" dirty="0"/>
          </a:p>
        </p:txBody>
      </p:sp>
      <p:sp>
        <p:nvSpPr>
          <p:cNvPr id="65" name="Text e64"/>
          <p:cNvSpPr txBox="1"/>
          <p:nvPr/>
        </p:nvSpPr>
        <p:spPr>
          <a:xfrm>
            <a:off x="8054401" y="4505340"/>
            <a:ext cx="1489649" cy="123810"/>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Market Pulse, second quarter 2026</a:t>
            </a:r>
            <a:endParaRPr lang="en-US" sz="700" dirty="0"/>
          </a:p>
        </p:txBody>
      </p:sp>
      <p:sp>
        <p:nvSpPr>
          <p:cNvPr id="66" name="Text e65"/>
          <p:cNvSpPr txBox="1"/>
          <p:nvPr/>
        </p:nvSpPr>
        <p:spPr>
          <a:xfrm>
            <a:off x="6819870" y="4817242"/>
            <a:ext cx="2667030" cy="371521"/>
          </a:xfrm>
          <a:prstGeom prst="rect">
            <a:avLst/>
          </a:prstGeom>
          <a:noFill/>
          <a:ln/>
        </p:spPr>
        <p:txBody>
          <a:bodyPr wrap="square" lIns="0" tIns="0" rIns="0" bIns="0" rtlCol="0" anchor="t"/>
          <a:lstStyle/>
          <a:p>
            <a:pPr algn="l" indent="0" marL="0">
              <a:lnSpc>
                <a:spcPts val="1450"/>
              </a:lnSpc>
              <a:buNone/>
            </a:pPr>
            <a:r>
              <a:rPr lang="en-US" sz="1150" b="1" dirty="0">
                <a:solidFill>
                  <a:srgbClr val="1B1A1A"/>
                </a:solidFill>
                <a:latin typeface="+mj-lt" pitchFamily="34" charset="0"/>
              </a:rPr>
              <a:t>Smaller transactions reach their highest multiple since early 2022</a:t>
            </a:r>
            <a:endParaRPr lang="en-US" sz="1150" dirty="0"/>
          </a:p>
        </p:txBody>
      </p:sp>
      <p:sp>
        <p:nvSpPr>
          <p:cNvPr id="67" name="Text e66"/>
          <p:cNvSpPr txBox="1"/>
          <p:nvPr/>
        </p:nvSpPr>
        <p:spPr>
          <a:xfrm>
            <a:off x="6819870" y="5250668"/>
            <a:ext cx="2667030" cy="59052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The quarterly survey of business brokers and M&amp;A advisors put the median multiple on sales of $5 million to $50 million at 5.8x EBITDA, up from 5.5x. Sellers received 83% to 92% of the price in cash at closing.</a:t>
            </a:r>
            <a:endParaRPr lang="en-US" sz="800" dirty="0"/>
          </a:p>
        </p:txBody>
      </p:sp>
      <p:sp>
        <p:nvSpPr>
          <p:cNvPr id="68" name="Shape e67s3"/>
          <p:cNvSpPr/>
          <p:nvPr/>
        </p:nvSpPr>
        <p:spPr>
          <a:xfrm>
            <a:off x="6819870" y="5924580"/>
            <a:ext cx="19020" cy="442935"/>
          </a:xfrm>
          <a:prstGeom prst="rect">
            <a:avLst/>
          </a:prstGeom>
          <a:solidFill>
            <a:srgbClr val="B68757"/>
          </a:solidFill>
          <a:ln/>
        </p:spPr>
        <p:txBody>
          <a:bodyPr/>
          <a:p/>
        </p:txBody>
      </p:sp>
      <p:sp>
        <p:nvSpPr>
          <p:cNvPr id="69" name="Text e67"/>
          <p:cNvSpPr txBox="1"/>
          <p:nvPr/>
        </p:nvSpPr>
        <p:spPr>
          <a:xfrm>
            <a:off x="6934170" y="5917448"/>
            <a:ext cx="2552730" cy="442935"/>
          </a:xfrm>
          <a:prstGeom prst="rect">
            <a:avLst/>
          </a:prstGeom>
          <a:noFill/>
          <a:ln/>
        </p:spPr>
        <p:txBody>
          <a:bodyPr wrap="square" lIns="0" tIns="0" rIns="0" bIns="0" rtlCol="0" anchor="t"/>
          <a:lstStyle/>
          <a:p>
            <a:pPr algn="l" indent="0" marL="0">
              <a:lnSpc>
                <a:spcPts val="1150"/>
              </a:lnSpc>
              <a:buNone/>
            </a:pPr>
            <a:r>
              <a:rPr lang="en-US" sz="800" b="1" dirty="0">
                <a:solidFill>
                  <a:srgbClr val="1B1A1A"/>
                </a:solidFill>
                <a:latin typeface="+mn-lt" pitchFamily="34" charset="0"/>
              </a:rPr>
              <a:t>Our read.</a:t>
            </a:r>
            <a:pPr algn="l" indent="0" marL="0">
              <a:lnSpc>
                <a:spcPts val="1150"/>
              </a:lnSpc>
              <a:buNone/>
            </a:pPr>
            <a:r>
              <a:rPr lang="en-US" sz="800" dirty="0">
                <a:solidFill>
                  <a:srgbClr val="333231"/>
                </a:solidFill>
                <a:latin typeface="+mn-lt" pitchFamily="34" charset="0"/>
              </a:rPr>
              <a:t> Competition for well-prepared businesses is intact, with three or more offers on 87% of sales above $5 million (</a:t>
            </a:r>
            <a:pPr algn="l" indent="0" marL="0">
              <a:lnSpc>
                <a:spcPts val="1150"/>
              </a:lnSpc>
              <a:buNone/>
            </a:pPr>
            <a:r>
              <a:rPr lang="en-US" sz="800" u="sng" dirty="0">
                <a:solidFill>
                  <a:srgbClr val="8C6239"/>
                </a:solidFill>
                <a:latin typeface="+mn-lt" pitchFamily="34" charset="0"/>
                <a:hlinkClick r:id="rId8" invalidUrl="" action="" tgtFrame="" tooltip="" history="1" highlightClick="0" endSnd="0">
                  <a:extLst>
                    <a:ext uri="{A12FA001-AC4F-418D-AE19-62706E023703}">
                      <ahyp:hlinkClr xmlns:ahyp="http://schemas.microsoft.com/office/drawing/2018/hyperlinkcolor" val="tx"/>
                    </a:ext>
                  </a:extLst>
                </a:hlinkClick>
              </a:rPr>
              <a:t>survey release</a:t>
            </a:r>
            <a:pPr algn="l" indent="0" marL="0">
              <a:lnSpc>
                <a:spcPts val="1150"/>
              </a:lnSpc>
              <a:buNone/>
            </a:pPr>
            <a:r>
              <a:rPr lang="en-US" sz="800" dirty="0">
                <a:solidFill>
                  <a:srgbClr val="333231"/>
                </a:solidFill>
                <a:latin typeface="+mn-lt" pitchFamily="34" charset="0"/>
              </a:rPr>
              <a:t>).</a:t>
            </a:r>
            <a:endParaRPr lang="en-US" sz="800" dirty="0"/>
          </a:p>
        </p:txBody>
      </p:sp>
      <p:sp>
        <p:nvSpPr>
          <p:cNvPr id="70" name="Shape e69">
            <a:hlinkClick r:id="rId9" tooltip=""/>
          </p:cNvPr>
          <p:cNvSpPr/>
          <p:nvPr/>
        </p:nvSpPr>
        <p:spPr>
          <a:xfrm>
            <a:off x="6819870" y="6591270"/>
            <a:ext cx="840882" cy="228600"/>
          </a:xfrm>
          <a:prstGeom prst="rect">
            <a:avLst/>
          </a:prstGeom>
          <a:solidFill>
            <a:srgbClr val="1B1A1A"/>
          </a:solidFill>
          <a:ln/>
        </p:spPr>
        <p:txBody>
          <a:bodyPr/>
          <a:p/>
        </p:txBody>
      </p:sp>
      <p:sp>
        <p:nvSpPr>
          <p:cNvPr id="71" name="Text e69"/>
          <p:cNvSpPr txBox="1"/>
          <p:nvPr/>
        </p:nvSpPr>
        <p:spPr>
          <a:xfrm>
            <a:off x="6934170" y="6643665"/>
            <a:ext cx="669432" cy="114300"/>
          </a:xfrm>
          <a:prstGeom prst="rect">
            <a:avLst/>
          </a:prstGeom>
          <a:noFill/>
          <a:ln/>
        </p:spPr>
        <p:txBody>
          <a:bodyPr wrap="none" lIns="0" tIns="0" rIns="0" bIns="0" rtlCol="0" anchor="t"/>
          <a:lstStyle/>
          <a:p>
            <a:pPr algn="l" indent="0" marL="0">
              <a:lnSpc>
                <a:spcPts val="900"/>
              </a:lnSpc>
              <a:buNone/>
            </a:pPr>
            <a:r>
              <a:rPr lang="en-US" sz="650" b="1" spc="150" kern="0" dirty="0">
                <a:solidFill>
                  <a:srgbClr val="FFFFFF"/>
                </a:solidFill>
                <a:latin typeface="+mn-lt" pitchFamily="34" charset="0"/>
              </a:rPr>
              <a:t>READ HERE</a:t>
            </a:r>
            <a:endParaRPr lang="en-US" sz="650" dirty="0"/>
          </a:p>
        </p:txBody>
      </p:sp>
      <p:sp>
        <p:nvSpPr>
          <p:cNvPr id="72" name="Shape e70"/>
          <p:cNvSpPr/>
          <p:nvPr/>
        </p:nvSpPr>
        <p:spPr>
          <a:xfrm>
            <a:off x="419070" y="7029450"/>
            <a:ext cx="9220170" cy="9510"/>
          </a:xfrm>
          <a:prstGeom prst="ellipse">
            <a:avLst/>
          </a:prstGeom>
          <a:solidFill>
            <a:srgbClr val="E3DCD3"/>
          </a:solidFill>
          <a:ln/>
        </p:spPr>
        <p:txBody>
          <a:bodyPr/>
          <a:p/>
        </p:txBody>
      </p:sp>
      <p:pic>
        <p:nvPicPr>
          <p:cNvPr id="73" name="Picture e71" descr="Benchmark International">    </p:cNvPr>
          <p:cNvPicPr>
            <a:picLocks noChangeAspect="1"/>
          </p:cNvPicPr>
          <p:nvPr/>
        </p:nvPicPr>
        <p:blipFill>
          <a:blip r:embed="rId10"/>
          <a:stretch>
            <a:fillRect/>
          </a:stretch>
        </p:blipFill>
        <p:spPr>
          <a:xfrm>
            <a:off x="419070" y="7143750"/>
            <a:ext cx="914400" cy="171450"/>
          </a:xfrm>
          <a:prstGeom prst="rect">
            <a:avLst/>
          </a:prstGeom>
        </p:spPr>
      </p:pic>
      <p:sp>
        <p:nvSpPr>
          <p:cNvPr id="74" name="Text e72"/>
          <p:cNvSpPr txBox="1"/>
          <p:nvPr/>
        </p:nvSpPr>
        <p:spPr>
          <a:xfrm>
            <a:off x="1543050" y="7098487"/>
            <a:ext cx="4946904" cy="119055"/>
          </a:xfrm>
          <a:prstGeom prst="rect">
            <a:avLst/>
          </a:prstGeom>
          <a:noFill/>
          <a:ln/>
        </p:spPr>
        <p:txBody>
          <a:bodyPr wrap="none" lIns="0" tIns="0" rIns="0" bIns="0" rtlCol="0" anchor="t"/>
          <a:lstStyle/>
          <a:p>
            <a:pPr algn="l" indent="0" marL="0">
              <a:lnSpc>
                <a:spcPts val="950"/>
              </a:lnSpc>
              <a:buNone/>
            </a:pPr>
            <a:r>
              <a:rPr lang="en-US" sz="700" dirty="0">
                <a:solidFill>
                  <a:srgbClr val="6F6A66"/>
                </a:solidFill>
                <a:latin typeface="+mn-lt" pitchFamily="34" charset="0"/>
              </a:rPr>
              <a:t>Each summary restates the source in our own words and links to it, and each heading is our own description of the piece.</a:t>
            </a:r>
            <a:endParaRPr lang="en-US" sz="700" dirty="0"/>
          </a:p>
        </p:txBody>
      </p:sp>
      <p:sp>
        <p:nvSpPr>
          <p:cNvPr id="75" name="Text e73"/>
          <p:cNvSpPr txBox="1"/>
          <p:nvPr/>
        </p:nvSpPr>
        <p:spPr>
          <a:xfrm>
            <a:off x="9493484" y="7162770"/>
            <a:ext cx="142921"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05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3307385"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Feature: Fire and Life Safety</a:t>
            </a:r>
            <a:endParaRPr lang="en-US" sz="2050" dirty="0"/>
          </a:p>
        </p:txBody>
      </p:sp>
      <p:sp>
        <p:nvSpPr>
          <p:cNvPr id="6" name="Text e5"/>
          <p:cNvSpPr txBox="1"/>
          <p:nvPr/>
        </p:nvSpPr>
        <p:spPr>
          <a:xfrm>
            <a:off x="419070" y="883402"/>
            <a:ext cx="7764353"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Inspection and service revenue explains why fire protection and security companies have the most active acquirers in business services.</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11"/>
          <p:cNvSpPr/>
          <p:nvPr/>
        </p:nvSpPr>
        <p:spPr>
          <a:xfrm>
            <a:off x="419070" y="1238280"/>
            <a:ext cx="2667030" cy="1333470"/>
          </a:xfrm>
          <a:prstGeom prst="rect">
            <a:avLst/>
          </a:prstGeom>
          <a:solidFill>
            <a:srgbClr val="1B1A1A"/>
          </a:solidFill>
          <a:ln/>
        </p:spPr>
        <p:txBody>
          <a:bodyPr/>
          <a:p/>
        </p:txBody>
      </p:sp>
      <p:pic>
        <p:nvPicPr>
          <p:cNvPr id="9" name="Picture e12" descr="Lit floors of a commercial office building at dusk">    </p:cNvPr>
          <p:cNvPicPr>
            <a:picLocks noChangeAspect="1"/>
          </p:cNvPicPr>
          <p:nvPr/>
        </p:nvPicPr>
        <p:blipFill>
          <a:blip r:embed="rId1"/>
          <a:stretch>
            <a:fillRect/>
          </a:stretch>
        </p:blipFill>
        <p:spPr>
          <a:xfrm>
            <a:off x="419070" y="1238280"/>
            <a:ext cx="2667030" cy="1333470"/>
          </a:xfrm>
          <a:prstGeom prst="rect">
            <a:avLst/>
          </a:prstGeom>
        </p:spPr>
      </p:pic>
      <p:sp>
        <p:nvSpPr>
          <p:cNvPr id="10" name="Text e15"/>
          <p:cNvSpPr txBox="1"/>
          <p:nvPr/>
        </p:nvSpPr>
        <p:spPr>
          <a:xfrm>
            <a:off x="571500" y="1885950"/>
            <a:ext cx="1047628"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D3AE84"/>
                </a:solidFill>
                <a:latin typeface="+mn-lt" pitchFamily="34" charset="0"/>
              </a:rPr>
              <a:t>INDUSTRY FEATURE</a:t>
            </a:r>
            <a:endParaRPr lang="en-US" sz="700" dirty="0"/>
          </a:p>
        </p:txBody>
      </p:sp>
      <p:sp>
        <p:nvSpPr>
          <p:cNvPr id="11" name="Text e16"/>
          <p:cNvSpPr txBox="1"/>
          <p:nvPr/>
        </p:nvSpPr>
        <p:spPr>
          <a:xfrm>
            <a:off x="571500" y="2038380"/>
            <a:ext cx="2362170" cy="419070"/>
          </a:xfrm>
          <a:prstGeom prst="rect">
            <a:avLst/>
          </a:prstGeom>
          <a:noFill/>
          <a:ln/>
        </p:spPr>
        <p:txBody>
          <a:bodyPr wrap="square" lIns="0" tIns="0" rIns="0" bIns="0" rtlCol="0" anchor="t"/>
          <a:lstStyle/>
          <a:p>
            <a:pPr algn="l" indent="0" marL="0">
              <a:lnSpc>
                <a:spcPts val="1650"/>
              </a:lnSpc>
              <a:buNone/>
            </a:pPr>
            <a:r>
              <a:rPr lang="en-US" sz="1350" b="1" dirty="0">
                <a:solidFill>
                  <a:srgbClr val="FFFFFF"/>
                </a:solidFill>
                <a:latin typeface="+mj-lt" pitchFamily="34" charset="0"/>
              </a:rPr>
              <a:t>Why fire and life safety has the most active acquirers</a:t>
            </a:r>
            <a:endParaRPr lang="en-US" sz="1350" dirty="0"/>
          </a:p>
        </p:txBody>
      </p:sp>
      <p:sp>
        <p:nvSpPr>
          <p:cNvPr id="12" name="Text e17"/>
          <p:cNvSpPr txBox="1"/>
          <p:nvPr/>
        </p:nvSpPr>
        <p:spPr>
          <a:xfrm>
            <a:off x="419070" y="2669408"/>
            <a:ext cx="2667030" cy="738195"/>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Pye-Barker alone bought 79 fire and security companies in the 18 months to June 2026, and APi Group, Sciens Building Solutions and AI Fire are buying alongside it. Three features of the work explain the interest.</a:t>
            </a:r>
            <a:endParaRPr lang="en-US" sz="800" dirty="0"/>
          </a:p>
        </p:txBody>
      </p:sp>
      <p:sp>
        <p:nvSpPr>
          <p:cNvPr id="13" name="Shape e19s0"/>
          <p:cNvSpPr/>
          <p:nvPr/>
        </p:nvSpPr>
        <p:spPr>
          <a:xfrm>
            <a:off x="419070" y="3490905"/>
            <a:ext cx="2667030" cy="9510"/>
          </a:xfrm>
          <a:prstGeom prst="rect">
            <a:avLst/>
          </a:prstGeom>
          <a:solidFill>
            <a:srgbClr val="E3DCD3"/>
          </a:solidFill>
          <a:ln/>
        </p:spPr>
        <p:txBody>
          <a:bodyPr/>
          <a:p/>
        </p:txBody>
      </p:sp>
      <p:sp>
        <p:nvSpPr>
          <p:cNvPr id="14" name="Text e20"/>
          <p:cNvSpPr txBox="1"/>
          <p:nvPr/>
        </p:nvSpPr>
        <p:spPr>
          <a:xfrm>
            <a:off x="419070" y="3581430"/>
            <a:ext cx="118140" cy="190470"/>
          </a:xfrm>
          <a:prstGeom prst="rect">
            <a:avLst/>
          </a:prstGeom>
          <a:noFill/>
          <a:ln/>
        </p:spPr>
        <p:txBody>
          <a:bodyPr wrap="none" lIns="0" tIns="0" rIns="0" bIns="0" rtlCol="0" anchor="t"/>
          <a:lstStyle/>
          <a:p>
            <a:pPr algn="l" indent="0" marL="0">
              <a:lnSpc>
                <a:spcPts val="1500"/>
              </a:lnSpc>
              <a:buNone/>
            </a:pPr>
            <a:r>
              <a:rPr lang="en-US" sz="1350" dirty="0">
                <a:solidFill>
                  <a:srgbClr val="B68757"/>
                </a:solidFill>
                <a:latin typeface="+mj-lt" pitchFamily="34" charset="0"/>
              </a:rPr>
              <a:t>1</a:t>
            </a:r>
            <a:endParaRPr lang="en-US" sz="1350" dirty="0"/>
          </a:p>
        </p:txBody>
      </p:sp>
      <p:sp>
        <p:nvSpPr>
          <p:cNvPr id="15" name="Text e22"/>
          <p:cNvSpPr txBox="1"/>
          <p:nvPr/>
        </p:nvSpPr>
        <p:spPr>
          <a:xfrm>
            <a:off x="742950" y="3581430"/>
            <a:ext cx="2064990" cy="152430"/>
          </a:xfrm>
          <a:prstGeom prst="rect">
            <a:avLst/>
          </a:prstGeom>
          <a:noFill/>
          <a:ln/>
        </p:spPr>
        <p:txBody>
          <a:bodyPr wrap="none" lIns="0" tIns="0" rIns="0" bIns="0" rtlCol="0" anchor="t"/>
          <a:lstStyle/>
          <a:p>
            <a:pPr algn="l" indent="0" marL="0">
              <a:lnSpc>
                <a:spcPts val="1200"/>
              </a:lnSpc>
              <a:buNone/>
            </a:pPr>
            <a:r>
              <a:rPr lang="en-US" sz="850" b="1" dirty="0">
                <a:solidFill>
                  <a:srgbClr val="1B1A1A"/>
                </a:solidFill>
                <a:latin typeface="+mn-lt" pitchFamily="34" charset="0"/>
              </a:rPr>
              <a:t>The work is contracted or mandated</a:t>
            </a:r>
            <a:endParaRPr lang="en-US" sz="850" dirty="0"/>
          </a:p>
        </p:txBody>
      </p:sp>
      <p:sp>
        <p:nvSpPr>
          <p:cNvPr id="16" name="Text e23"/>
          <p:cNvSpPr txBox="1"/>
          <p:nvPr/>
        </p:nvSpPr>
        <p:spPr>
          <a:xfrm>
            <a:off x="742950" y="3733770"/>
            <a:ext cx="2343150" cy="428671"/>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Inspection, testing and monitoring repeat on a schedule, so the revenue continues when new construction slows.</a:t>
            </a:r>
            <a:endParaRPr lang="en-US" sz="800" dirty="0"/>
          </a:p>
        </p:txBody>
      </p:sp>
      <p:sp>
        <p:nvSpPr>
          <p:cNvPr id="17" name="Shape e24s0"/>
          <p:cNvSpPr/>
          <p:nvPr/>
        </p:nvSpPr>
        <p:spPr>
          <a:xfrm>
            <a:off x="419070" y="4252874"/>
            <a:ext cx="2667030" cy="9510"/>
          </a:xfrm>
          <a:prstGeom prst="rect">
            <a:avLst/>
          </a:prstGeom>
          <a:solidFill>
            <a:srgbClr val="E3DCD3"/>
          </a:solidFill>
          <a:ln/>
        </p:spPr>
        <p:txBody>
          <a:bodyPr/>
          <a:p/>
        </p:txBody>
      </p:sp>
      <p:sp>
        <p:nvSpPr>
          <p:cNvPr id="18" name="Text e25"/>
          <p:cNvSpPr txBox="1"/>
          <p:nvPr/>
        </p:nvSpPr>
        <p:spPr>
          <a:xfrm>
            <a:off x="419070" y="4343400"/>
            <a:ext cx="153894" cy="190470"/>
          </a:xfrm>
          <a:prstGeom prst="rect">
            <a:avLst/>
          </a:prstGeom>
          <a:noFill/>
          <a:ln/>
        </p:spPr>
        <p:txBody>
          <a:bodyPr wrap="none" lIns="0" tIns="0" rIns="0" bIns="0" rtlCol="0" anchor="t"/>
          <a:lstStyle/>
          <a:p>
            <a:pPr algn="l" indent="0" marL="0">
              <a:lnSpc>
                <a:spcPts val="1500"/>
              </a:lnSpc>
              <a:buNone/>
            </a:pPr>
            <a:r>
              <a:rPr lang="en-US" sz="1350" dirty="0">
                <a:solidFill>
                  <a:srgbClr val="B68757"/>
                </a:solidFill>
                <a:latin typeface="+mj-lt" pitchFamily="34" charset="0"/>
              </a:rPr>
              <a:t>2</a:t>
            </a:r>
            <a:endParaRPr lang="en-US" sz="1350" dirty="0"/>
          </a:p>
        </p:txBody>
      </p:sp>
      <p:sp>
        <p:nvSpPr>
          <p:cNvPr id="19" name="Text e27"/>
          <p:cNvSpPr txBox="1"/>
          <p:nvPr/>
        </p:nvSpPr>
        <p:spPr>
          <a:xfrm>
            <a:off x="742950" y="4343400"/>
            <a:ext cx="1974464" cy="152430"/>
          </a:xfrm>
          <a:prstGeom prst="rect">
            <a:avLst/>
          </a:prstGeom>
          <a:noFill/>
          <a:ln/>
        </p:spPr>
        <p:txBody>
          <a:bodyPr wrap="none" lIns="0" tIns="0" rIns="0" bIns="0" rtlCol="0" anchor="t"/>
          <a:lstStyle/>
          <a:p>
            <a:pPr algn="l" indent="0" marL="0">
              <a:lnSpc>
                <a:spcPts val="1200"/>
              </a:lnSpc>
              <a:buNone/>
            </a:pPr>
            <a:r>
              <a:rPr lang="en-US" sz="850" b="1" dirty="0">
                <a:solidFill>
                  <a:srgbClr val="1B1A1A"/>
                </a:solidFill>
                <a:latin typeface="+mn-lt" pitchFamily="34" charset="0"/>
              </a:rPr>
              <a:t>Each acquired branch adds density</a:t>
            </a:r>
            <a:endParaRPr lang="en-US" sz="850" dirty="0"/>
          </a:p>
        </p:txBody>
      </p:sp>
      <p:sp>
        <p:nvSpPr>
          <p:cNvPr id="20" name="Text e28"/>
          <p:cNvSpPr txBox="1"/>
          <p:nvPr/>
        </p:nvSpPr>
        <p:spPr>
          <a:xfrm>
            <a:off x="742950" y="4495830"/>
            <a:ext cx="2343150" cy="428671"/>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A buyer that already runs routes in a region can serve an acquired book of accounts with the technicians it has.</a:t>
            </a:r>
            <a:endParaRPr lang="en-US" sz="800" dirty="0"/>
          </a:p>
        </p:txBody>
      </p:sp>
      <p:sp>
        <p:nvSpPr>
          <p:cNvPr id="21" name="Shape e29s0"/>
          <p:cNvSpPr/>
          <p:nvPr/>
        </p:nvSpPr>
        <p:spPr>
          <a:xfrm>
            <a:off x="419070" y="5014935"/>
            <a:ext cx="2667030" cy="9510"/>
          </a:xfrm>
          <a:prstGeom prst="rect">
            <a:avLst/>
          </a:prstGeom>
          <a:solidFill>
            <a:srgbClr val="E3DCD3"/>
          </a:solidFill>
          <a:ln/>
        </p:spPr>
        <p:txBody>
          <a:bodyPr/>
          <a:p/>
        </p:txBody>
      </p:sp>
      <p:sp>
        <p:nvSpPr>
          <p:cNvPr id="22" name="Text e30"/>
          <p:cNvSpPr txBox="1"/>
          <p:nvPr/>
        </p:nvSpPr>
        <p:spPr>
          <a:xfrm>
            <a:off x="419070" y="5105370"/>
            <a:ext cx="145390" cy="190470"/>
          </a:xfrm>
          <a:prstGeom prst="rect">
            <a:avLst/>
          </a:prstGeom>
          <a:noFill/>
          <a:ln/>
        </p:spPr>
        <p:txBody>
          <a:bodyPr wrap="none" lIns="0" tIns="0" rIns="0" bIns="0" rtlCol="0" anchor="t"/>
          <a:lstStyle/>
          <a:p>
            <a:pPr algn="l" indent="0" marL="0">
              <a:lnSpc>
                <a:spcPts val="1500"/>
              </a:lnSpc>
              <a:buNone/>
            </a:pPr>
            <a:r>
              <a:rPr lang="en-US" sz="1350" dirty="0">
                <a:solidFill>
                  <a:srgbClr val="B68757"/>
                </a:solidFill>
                <a:latin typeface="+mj-lt" pitchFamily="34" charset="0"/>
              </a:rPr>
              <a:t>3</a:t>
            </a:r>
            <a:endParaRPr lang="en-US" sz="1350" dirty="0"/>
          </a:p>
        </p:txBody>
      </p:sp>
      <p:sp>
        <p:nvSpPr>
          <p:cNvPr id="23" name="Text e32"/>
          <p:cNvSpPr txBox="1"/>
          <p:nvPr/>
        </p:nvSpPr>
        <p:spPr>
          <a:xfrm>
            <a:off x="742950" y="5105370"/>
            <a:ext cx="2384207" cy="152430"/>
          </a:xfrm>
          <a:prstGeom prst="rect">
            <a:avLst/>
          </a:prstGeom>
          <a:noFill/>
          <a:ln/>
        </p:spPr>
        <p:txBody>
          <a:bodyPr wrap="none" lIns="0" tIns="0" rIns="0" bIns="0" rtlCol="0" anchor="t"/>
          <a:lstStyle/>
          <a:p>
            <a:pPr algn="l" indent="0" marL="0">
              <a:lnSpc>
                <a:spcPts val="1200"/>
              </a:lnSpc>
              <a:buNone/>
            </a:pPr>
            <a:r>
              <a:rPr lang="en-US" sz="850" b="1" dirty="0">
                <a:solidFill>
                  <a:srgbClr val="1B1A1A"/>
                </a:solidFill>
                <a:latin typeface="+mn-lt" pitchFamily="34" charset="0"/>
              </a:rPr>
              <a:t>Inspection leads the customer relationship</a:t>
            </a:r>
            <a:endParaRPr lang="en-US" sz="850" dirty="0"/>
          </a:p>
        </p:txBody>
      </p:sp>
      <p:sp>
        <p:nvSpPr>
          <p:cNvPr id="24" name="Text e33"/>
          <p:cNvSpPr txBox="1"/>
          <p:nvPr/>
        </p:nvSpPr>
        <p:spPr>
          <a:xfrm>
            <a:off x="742950" y="5257800"/>
            <a:ext cx="2343150" cy="57150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APi bought CertaSite, with about $90 million of revenue, because the business leads with inspections and earns repair and service work from them.</a:t>
            </a:r>
            <a:endParaRPr lang="en-US" sz="800" dirty="0"/>
          </a:p>
        </p:txBody>
      </p:sp>
      <p:sp>
        <p:nvSpPr>
          <p:cNvPr id="25" name="Shape e34s0"/>
          <p:cNvSpPr/>
          <p:nvPr/>
        </p:nvSpPr>
        <p:spPr>
          <a:xfrm>
            <a:off x="419070" y="5919826"/>
            <a:ext cx="2667030" cy="9510"/>
          </a:xfrm>
          <a:prstGeom prst="rect">
            <a:avLst/>
          </a:prstGeom>
          <a:solidFill>
            <a:srgbClr val="E3DCD3"/>
          </a:solidFill>
          <a:ln/>
        </p:spPr>
        <p:txBody>
          <a:bodyPr/>
          <a:p/>
        </p:txBody>
      </p:sp>
      <p:sp>
        <p:nvSpPr>
          <p:cNvPr id="26" name="Shape e37"/>
          <p:cNvSpPr/>
          <p:nvPr/>
        </p:nvSpPr>
        <p:spPr>
          <a:xfrm>
            <a:off x="3257550" y="1238280"/>
            <a:ext cx="1509674" cy="1219170"/>
          </a:xfrm>
          <a:prstGeom prst="rect">
            <a:avLst/>
          </a:prstGeom>
          <a:solidFill>
            <a:srgbClr val="FAF7F3"/>
          </a:solidFill>
          <a:ln/>
        </p:spPr>
        <p:txBody>
          <a:bodyPr/>
          <a:p/>
        </p:txBody>
      </p:sp>
      <p:sp>
        <p:nvSpPr>
          <p:cNvPr id="27" name="Shape e37s0"/>
          <p:cNvSpPr/>
          <p:nvPr/>
        </p:nvSpPr>
        <p:spPr>
          <a:xfrm>
            <a:off x="3257550" y="1238280"/>
            <a:ext cx="1509674" cy="28621"/>
          </a:xfrm>
          <a:prstGeom prst="rect">
            <a:avLst/>
          </a:prstGeom>
          <a:solidFill>
            <a:srgbClr val="B68757"/>
          </a:solidFill>
          <a:ln/>
        </p:spPr>
        <p:txBody>
          <a:bodyPr/>
          <a:p/>
        </p:txBody>
      </p:sp>
      <p:sp>
        <p:nvSpPr>
          <p:cNvPr id="28" name="Text e38"/>
          <p:cNvSpPr txBox="1"/>
          <p:nvPr/>
        </p:nvSpPr>
        <p:spPr>
          <a:xfrm>
            <a:off x="3390870" y="1362090"/>
            <a:ext cx="383042" cy="304770"/>
          </a:xfrm>
          <a:prstGeom prst="rect">
            <a:avLst/>
          </a:prstGeom>
          <a:noFill/>
          <a:ln/>
        </p:spPr>
        <p:txBody>
          <a:bodyPr wrap="none" lIns="0" tIns="0" rIns="0" bIns="0" rtlCol="0" anchor="t"/>
          <a:lstStyle/>
          <a:p>
            <a:pPr algn="l" indent="0" marL="0">
              <a:lnSpc>
                <a:spcPts val="2400"/>
              </a:lnSpc>
              <a:buNone/>
            </a:pPr>
            <a:r>
              <a:rPr lang="en-US" sz="2100" b="1" dirty="0">
                <a:solidFill>
                  <a:srgbClr val="8C6239"/>
                </a:solidFill>
                <a:latin typeface="+mj-lt" pitchFamily="34" charset="0"/>
              </a:rPr>
              <a:t>22</a:t>
            </a:r>
            <a:endParaRPr lang="en-US" sz="2100" dirty="0"/>
          </a:p>
        </p:txBody>
      </p:sp>
      <p:sp>
        <p:nvSpPr>
          <p:cNvPr id="29" name="Text e39"/>
          <p:cNvSpPr txBox="1"/>
          <p:nvPr/>
        </p:nvSpPr>
        <p:spPr>
          <a:xfrm>
            <a:off x="3390870" y="1690726"/>
            <a:ext cx="1247790" cy="53337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Pye-Barker acquisitions in the first half of 2026, after 57 in 2025 (</a:t>
            </a:r>
            <a:pPr algn="l" indent="0" marL="0">
              <a:lnSpc>
                <a:spcPts val="1050"/>
              </a:lnSpc>
              <a:buNone/>
            </a:pPr>
            <a:r>
              <a:rPr lang="en-US" sz="750" u="sng" dirty="0">
                <a:solidFill>
                  <a:srgbClr val="8C6239"/>
                </a:solidFill>
                <a:latin typeface="+mn-lt" pitchFamily="34" charset="0"/>
                <a:hlinkClick r:id="rId2" invalidUrl="" action="" tgtFrame="" tooltip="" history="1" highlightClick="0" endSnd="0">
                  <a:extLst>
                    <a:ext uri="{A12FA001-AC4F-418D-AE19-62706E023703}">
                      <ahyp:hlinkClr xmlns:ahyp="http://schemas.microsoft.com/office/drawing/2018/hyperlinkcolor" val="tx"/>
                    </a:ext>
                  </a:extLst>
                </a:hlinkClick>
              </a:rPr>
              <a:t>Pye-Barker</a:t>
            </a:r>
            <a:pPr algn="l" indent="0" marL="0">
              <a:lnSpc>
                <a:spcPts val="1050"/>
              </a:lnSpc>
              <a:buNone/>
            </a:pPr>
            <a:r>
              <a:rPr lang="en-US" sz="750" dirty="0">
                <a:solidFill>
                  <a:srgbClr val="333231"/>
                </a:solidFill>
                <a:latin typeface="+mn-lt" pitchFamily="34" charset="0"/>
              </a:rPr>
              <a:t>; </a:t>
            </a:r>
            <a:pPr algn="l" indent="0" marL="0">
              <a:lnSpc>
                <a:spcPts val="1050"/>
              </a:lnSpc>
              <a:buNone/>
            </a:pPr>
            <a:r>
              <a:rPr lang="en-US" sz="75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Security Systems News</a:t>
            </a:r>
            <a:pPr algn="l" indent="0" marL="0">
              <a:lnSpc>
                <a:spcPts val="1050"/>
              </a:lnSpc>
              <a:buNone/>
            </a:pPr>
            <a:r>
              <a:rPr lang="en-US" sz="750" dirty="0">
                <a:solidFill>
                  <a:srgbClr val="333231"/>
                </a:solidFill>
                <a:latin typeface="+mn-lt" pitchFamily="34" charset="0"/>
              </a:rPr>
              <a:t>)</a:t>
            </a:r>
            <a:endParaRPr lang="en-US" sz="750" dirty="0"/>
          </a:p>
        </p:txBody>
      </p:sp>
      <p:sp>
        <p:nvSpPr>
          <p:cNvPr id="30" name="Shape e40"/>
          <p:cNvSpPr/>
          <p:nvPr/>
        </p:nvSpPr>
        <p:spPr>
          <a:xfrm>
            <a:off x="4881524" y="1238280"/>
            <a:ext cx="1509674" cy="1219170"/>
          </a:xfrm>
          <a:prstGeom prst="rect">
            <a:avLst/>
          </a:prstGeom>
          <a:solidFill>
            <a:srgbClr val="FAF7F3"/>
          </a:solidFill>
          <a:ln/>
        </p:spPr>
        <p:txBody>
          <a:bodyPr/>
          <a:p/>
        </p:txBody>
      </p:sp>
      <p:sp>
        <p:nvSpPr>
          <p:cNvPr id="31" name="Shape e40s0"/>
          <p:cNvSpPr/>
          <p:nvPr/>
        </p:nvSpPr>
        <p:spPr>
          <a:xfrm>
            <a:off x="4881524" y="1238280"/>
            <a:ext cx="1509674" cy="28621"/>
          </a:xfrm>
          <a:prstGeom prst="rect">
            <a:avLst/>
          </a:prstGeom>
          <a:solidFill>
            <a:srgbClr val="B68757"/>
          </a:solidFill>
          <a:ln/>
        </p:spPr>
        <p:txBody>
          <a:bodyPr/>
          <a:p/>
        </p:txBody>
      </p:sp>
      <p:sp>
        <p:nvSpPr>
          <p:cNvPr id="32" name="Text e41"/>
          <p:cNvSpPr txBox="1"/>
          <p:nvPr/>
        </p:nvSpPr>
        <p:spPr>
          <a:xfrm>
            <a:off x="5014935" y="1362090"/>
            <a:ext cx="835396" cy="304770"/>
          </a:xfrm>
          <a:prstGeom prst="rect">
            <a:avLst/>
          </a:prstGeom>
          <a:noFill/>
          <a:ln/>
        </p:spPr>
        <p:txBody>
          <a:bodyPr wrap="none" lIns="0" tIns="0" rIns="0" bIns="0" rtlCol="0" anchor="t"/>
          <a:lstStyle/>
          <a:p>
            <a:pPr algn="l" indent="0" marL="0">
              <a:lnSpc>
                <a:spcPts val="2400"/>
              </a:lnSpc>
              <a:buNone/>
            </a:pPr>
            <a:r>
              <a:rPr lang="en-US" sz="2100" b="1" dirty="0">
                <a:solidFill>
                  <a:srgbClr val="8C6239"/>
                </a:solidFill>
                <a:latin typeface="+mj-lt" pitchFamily="34" charset="0"/>
              </a:rPr>
              <a:t>10.1%</a:t>
            </a:r>
            <a:endParaRPr lang="en-US" sz="2100" dirty="0"/>
          </a:p>
        </p:txBody>
      </p:sp>
      <p:sp>
        <p:nvSpPr>
          <p:cNvPr id="33" name="Text e42"/>
          <p:cNvSpPr txBox="1"/>
          <p:nvPr/>
        </p:nvSpPr>
        <p:spPr>
          <a:xfrm>
            <a:off x="5014935" y="1690726"/>
            <a:ext cx="1247790" cy="66678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APi Group organic revenue growth in the second quarter, with backlog above $5 billion (</a:t>
            </a:r>
            <a:pPr algn="l" indent="0" marL="0">
              <a:lnSpc>
                <a:spcPts val="1050"/>
              </a:lnSpc>
              <a:buNone/>
            </a:pPr>
            <a:r>
              <a:rPr lang="en-US" sz="75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APi Group</a:t>
            </a:r>
            <a:pPr algn="l" indent="0" marL="0">
              <a:lnSpc>
                <a:spcPts val="1050"/>
              </a:lnSpc>
              <a:buNone/>
            </a:pPr>
            <a:r>
              <a:rPr lang="en-US" sz="750" dirty="0">
                <a:solidFill>
                  <a:srgbClr val="333231"/>
                </a:solidFill>
                <a:latin typeface="+mn-lt" pitchFamily="34" charset="0"/>
              </a:rPr>
              <a:t>)</a:t>
            </a:r>
            <a:endParaRPr lang="en-US" sz="750" dirty="0"/>
          </a:p>
        </p:txBody>
      </p:sp>
      <p:sp>
        <p:nvSpPr>
          <p:cNvPr id="34" name="Shape e43"/>
          <p:cNvSpPr/>
          <p:nvPr/>
        </p:nvSpPr>
        <p:spPr>
          <a:xfrm>
            <a:off x="6505590" y="1238280"/>
            <a:ext cx="1509674" cy="1219170"/>
          </a:xfrm>
          <a:prstGeom prst="rect">
            <a:avLst/>
          </a:prstGeom>
          <a:solidFill>
            <a:srgbClr val="FAF7F3"/>
          </a:solidFill>
          <a:ln/>
        </p:spPr>
        <p:txBody>
          <a:bodyPr/>
          <a:p/>
        </p:txBody>
      </p:sp>
      <p:sp>
        <p:nvSpPr>
          <p:cNvPr id="35" name="Shape e43s0"/>
          <p:cNvSpPr/>
          <p:nvPr/>
        </p:nvSpPr>
        <p:spPr>
          <a:xfrm>
            <a:off x="6505590" y="1238280"/>
            <a:ext cx="1509674" cy="28621"/>
          </a:xfrm>
          <a:prstGeom prst="rect">
            <a:avLst/>
          </a:prstGeom>
          <a:solidFill>
            <a:srgbClr val="B68757"/>
          </a:solidFill>
          <a:ln/>
        </p:spPr>
        <p:txBody>
          <a:bodyPr/>
          <a:p/>
        </p:txBody>
      </p:sp>
      <p:sp>
        <p:nvSpPr>
          <p:cNvPr id="36" name="Text e44"/>
          <p:cNvSpPr txBox="1"/>
          <p:nvPr/>
        </p:nvSpPr>
        <p:spPr>
          <a:xfrm>
            <a:off x="6638910" y="1362090"/>
            <a:ext cx="742950" cy="304770"/>
          </a:xfrm>
          <a:prstGeom prst="rect">
            <a:avLst/>
          </a:prstGeom>
          <a:noFill/>
          <a:ln/>
        </p:spPr>
        <p:txBody>
          <a:bodyPr wrap="none" lIns="0" tIns="0" rIns="0" bIns="0" rtlCol="0" anchor="t"/>
          <a:lstStyle/>
          <a:p>
            <a:pPr algn="l" indent="0" marL="0">
              <a:lnSpc>
                <a:spcPts val="2400"/>
              </a:lnSpc>
              <a:buNone/>
            </a:pPr>
            <a:r>
              <a:rPr lang="en-US" sz="2100" b="1" dirty="0">
                <a:solidFill>
                  <a:srgbClr val="8C6239"/>
                </a:solidFill>
                <a:latin typeface="+mj-lt" pitchFamily="34" charset="0"/>
              </a:rPr>
              <a:t>60%+</a:t>
            </a:r>
            <a:endParaRPr lang="en-US" sz="2100" dirty="0"/>
          </a:p>
        </p:txBody>
      </p:sp>
      <p:sp>
        <p:nvSpPr>
          <p:cNvPr id="37" name="Text e45"/>
          <p:cNvSpPr txBox="1"/>
          <p:nvPr/>
        </p:nvSpPr>
        <p:spPr>
          <a:xfrm>
            <a:off x="6638910" y="1690726"/>
            <a:ext cx="1247790" cy="53337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Share of revenue APi aims to earn from inspection and service (</a:t>
            </a:r>
            <a:pPr algn="l" indent="0" marL="0">
              <a:lnSpc>
                <a:spcPts val="1050"/>
              </a:lnSpc>
              <a:buNone/>
            </a:pPr>
            <a:r>
              <a:rPr lang="en-US" sz="750" u="sng" dirty="0">
                <a:solidFill>
                  <a:srgbClr val="8C6239"/>
                </a:solidFill>
                <a:latin typeface="+mn-lt" pitchFamily="34" charset="0"/>
                <a:hlinkClick r:id="rId5" invalidUrl="" action="" tgtFrame="" tooltip="" history="1" highlightClick="0" endSnd="0">
                  <a:extLst>
                    <a:ext uri="{A12FA001-AC4F-418D-AE19-62706E023703}">
                      <ahyp:hlinkClr xmlns:ahyp="http://schemas.microsoft.com/office/drawing/2018/hyperlinkcolor" val="tx"/>
                    </a:ext>
                  </a:extLst>
                </a:hlinkClick>
              </a:rPr>
              <a:t>APi Group, December 10, 2025</a:t>
            </a:r>
            <a:pPr algn="l" indent="0" marL="0">
              <a:lnSpc>
                <a:spcPts val="1050"/>
              </a:lnSpc>
              <a:buNone/>
            </a:pPr>
            <a:r>
              <a:rPr lang="en-US" sz="750" dirty="0">
                <a:solidFill>
                  <a:srgbClr val="333231"/>
                </a:solidFill>
                <a:latin typeface="+mn-lt" pitchFamily="34" charset="0"/>
              </a:rPr>
              <a:t>)</a:t>
            </a:r>
            <a:endParaRPr lang="en-US" sz="750" dirty="0"/>
          </a:p>
        </p:txBody>
      </p:sp>
      <p:sp>
        <p:nvSpPr>
          <p:cNvPr id="38" name="Shape e46"/>
          <p:cNvSpPr/>
          <p:nvPr/>
        </p:nvSpPr>
        <p:spPr>
          <a:xfrm>
            <a:off x="8129565" y="1238280"/>
            <a:ext cx="1509674" cy="1219170"/>
          </a:xfrm>
          <a:prstGeom prst="rect">
            <a:avLst/>
          </a:prstGeom>
          <a:solidFill>
            <a:srgbClr val="FAF7F3"/>
          </a:solidFill>
          <a:ln/>
        </p:spPr>
        <p:txBody>
          <a:bodyPr/>
          <a:p/>
        </p:txBody>
      </p:sp>
      <p:sp>
        <p:nvSpPr>
          <p:cNvPr id="39" name="Shape e46s0"/>
          <p:cNvSpPr/>
          <p:nvPr/>
        </p:nvSpPr>
        <p:spPr>
          <a:xfrm>
            <a:off x="8129565" y="1238280"/>
            <a:ext cx="1509674" cy="28621"/>
          </a:xfrm>
          <a:prstGeom prst="rect">
            <a:avLst/>
          </a:prstGeom>
          <a:solidFill>
            <a:srgbClr val="B68757"/>
          </a:solidFill>
          <a:ln/>
        </p:spPr>
        <p:txBody>
          <a:bodyPr/>
          <a:p/>
        </p:txBody>
      </p:sp>
      <p:sp>
        <p:nvSpPr>
          <p:cNvPr id="40" name="Text e47"/>
          <p:cNvSpPr txBox="1"/>
          <p:nvPr/>
        </p:nvSpPr>
        <p:spPr>
          <a:xfrm>
            <a:off x="8262976" y="1362090"/>
            <a:ext cx="981974" cy="304770"/>
          </a:xfrm>
          <a:prstGeom prst="rect">
            <a:avLst/>
          </a:prstGeom>
          <a:noFill/>
          <a:ln/>
        </p:spPr>
        <p:txBody>
          <a:bodyPr wrap="none" lIns="0" tIns="0" rIns="0" bIns="0" rtlCol="0" anchor="t"/>
          <a:lstStyle/>
          <a:p>
            <a:pPr algn="l" indent="0" marL="0">
              <a:lnSpc>
                <a:spcPts val="2400"/>
              </a:lnSpc>
              <a:buNone/>
            </a:pPr>
            <a:r>
              <a:rPr lang="en-US" sz="2100" b="1" dirty="0">
                <a:solidFill>
                  <a:srgbClr val="8C6239"/>
                </a:solidFill>
                <a:latin typeface="+mj-lt" pitchFamily="34" charset="0"/>
              </a:rPr>
              <a:t>$740M</a:t>
            </a:r>
            <a:endParaRPr lang="en-US" sz="2100" dirty="0"/>
          </a:p>
        </p:txBody>
      </p:sp>
      <p:sp>
        <p:nvSpPr>
          <p:cNvPr id="41" name="Text e48"/>
          <p:cNvSpPr txBox="1"/>
          <p:nvPr/>
        </p:nvSpPr>
        <p:spPr>
          <a:xfrm>
            <a:off x="8262976" y="1690726"/>
            <a:ext cx="1247790" cy="533370"/>
          </a:xfrm>
          <a:prstGeom prst="rect">
            <a:avLst/>
          </a:prstGeom>
          <a:noFill/>
          <a:ln/>
        </p:spPr>
        <p:txBody>
          <a:bodyPr wrap="square" lIns="0" tIns="0" rIns="0" bIns="0" rtlCol="0" anchor="t"/>
          <a:lstStyle/>
          <a:p>
            <a:pPr algn="l" indent="0" marL="0">
              <a:lnSpc>
                <a:spcPts val="1050"/>
              </a:lnSpc>
              <a:buNone/>
            </a:pPr>
            <a:r>
              <a:rPr lang="en-US" sz="750" dirty="0">
                <a:solidFill>
                  <a:srgbClr val="333231"/>
                </a:solidFill>
                <a:latin typeface="+mn-lt" pitchFamily="34" charset="0"/>
              </a:rPr>
              <a:t>Recurring monthly revenue of the 100 largest security dealers in 2025, up 7% (</a:t>
            </a:r>
            <a:pPr algn="l" indent="0" marL="0">
              <a:lnSpc>
                <a:spcPts val="1050"/>
              </a:lnSpc>
              <a:buNone/>
            </a:pPr>
            <a:r>
              <a:rPr lang="en-US" sz="750" u="sng" dirty="0">
                <a:solidFill>
                  <a:srgbClr val="8C6239"/>
                </a:solidFill>
                <a:latin typeface="+mn-lt" pitchFamily="34" charset="0"/>
                <a:hlinkClick r:id="rId6" invalidUrl="" action="" tgtFrame="" tooltip="" history="1" highlightClick="0" endSnd="0">
                  <a:extLst>
                    <a:ext uri="{A12FA001-AC4F-418D-AE19-62706E023703}">
                      <ahyp:hlinkClr xmlns:ahyp="http://schemas.microsoft.com/office/drawing/2018/hyperlinkcolor" val="tx"/>
                    </a:ext>
                  </a:extLst>
                </a:hlinkClick>
              </a:rPr>
              <a:t>SDM</a:t>
            </a:r>
            <a:pPr algn="l" indent="0" marL="0">
              <a:lnSpc>
                <a:spcPts val="1050"/>
              </a:lnSpc>
              <a:buNone/>
            </a:pPr>
            <a:r>
              <a:rPr lang="en-US" sz="750" dirty="0">
                <a:solidFill>
                  <a:srgbClr val="333231"/>
                </a:solidFill>
                <a:latin typeface="+mn-lt" pitchFamily="34" charset="0"/>
              </a:rPr>
              <a:t>)</a:t>
            </a:r>
            <a:endParaRPr lang="en-US" sz="750" dirty="0"/>
          </a:p>
        </p:txBody>
      </p:sp>
      <p:sp>
        <p:nvSpPr>
          <p:cNvPr id="42" name="Shape e50"/>
          <p:cNvSpPr/>
          <p:nvPr/>
        </p:nvSpPr>
        <p:spPr>
          <a:xfrm>
            <a:off x="3257550" y="2590770"/>
            <a:ext cx="2438430" cy="3600450"/>
          </a:xfrm>
          <a:prstGeom prst="rect">
            <a:avLst/>
          </a:prstGeom>
          <a:solidFill>
            <a:srgbClr val="FAF7F3"/>
          </a:solidFill>
          <a:ln/>
        </p:spPr>
        <p:txBody>
          <a:bodyPr/>
          <a:p/>
        </p:txBody>
      </p:sp>
      <p:sp>
        <p:nvSpPr>
          <p:cNvPr id="43" name="Shape e50s0"/>
          <p:cNvSpPr/>
          <p:nvPr/>
        </p:nvSpPr>
        <p:spPr>
          <a:xfrm>
            <a:off x="3257550" y="2590770"/>
            <a:ext cx="2438430" cy="28621"/>
          </a:xfrm>
          <a:prstGeom prst="rect">
            <a:avLst/>
          </a:prstGeom>
          <a:solidFill>
            <a:srgbClr val="B68757"/>
          </a:solidFill>
          <a:ln/>
        </p:spPr>
        <p:txBody>
          <a:bodyPr/>
          <a:p/>
        </p:txBody>
      </p:sp>
      <p:sp>
        <p:nvSpPr>
          <p:cNvPr id="44" name="Text e51"/>
          <p:cNvSpPr txBox="1"/>
          <p:nvPr/>
        </p:nvSpPr>
        <p:spPr>
          <a:xfrm>
            <a:off x="3409980" y="2728935"/>
            <a:ext cx="2133570" cy="457200"/>
          </a:xfrm>
          <a:prstGeom prst="rect">
            <a:avLst/>
          </a:prstGeom>
          <a:noFill/>
          <a:ln/>
        </p:spPr>
        <p:txBody>
          <a:bodyPr wrap="square" lIns="0" tIns="0" rIns="0" bIns="0" rtlCol="0" anchor="t"/>
          <a:lstStyle/>
          <a:p>
            <a:pPr algn="l" indent="0" marL="0">
              <a:lnSpc>
                <a:spcPts val="1200"/>
              </a:lnSpc>
              <a:buNone/>
            </a:pPr>
            <a:r>
              <a:rPr lang="en-US" sz="900" b="1" dirty="0">
                <a:solidFill>
                  <a:srgbClr val="1B1A1A"/>
                </a:solidFill>
                <a:latin typeface="+mn-lt" pitchFamily="34" charset="0"/>
              </a:rPr>
              <a:t>Route-based and inspection-driven companies trade above labor-intensive ones</a:t>
            </a:r>
            <a:endParaRPr lang="en-US" sz="900" dirty="0"/>
          </a:p>
        </p:txBody>
      </p:sp>
      <p:sp>
        <p:nvSpPr>
          <p:cNvPr id="45" name="Text e52"/>
          <p:cNvSpPr txBox="1"/>
          <p:nvPr/>
        </p:nvSpPr>
        <p:spPr>
          <a:xfrm>
            <a:off x="3409980" y="3212287"/>
            <a:ext cx="213357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Enterprise value to trailing EBITDA of six listed services companies. Source: </a:t>
            </a:r>
            <a:pPr algn="l" indent="0" marL="0">
              <a:lnSpc>
                <a:spcPts val="1000"/>
              </a:lnSpc>
              <a:buNone/>
            </a:pPr>
            <a:r>
              <a:rPr lang="en-US" sz="700" u="sng" dirty="0">
                <a:solidFill>
                  <a:srgbClr val="8C6239"/>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StockAnalysis</a:t>
            </a:r>
            <a:endParaRPr lang="en-US" sz="700" dirty="0"/>
          </a:p>
        </p:txBody>
      </p:sp>
      <p:graphicFrame>
        <p:nvGraphicFramePr>
          <p:cNvPr id="46" name="Chart 6-e53" descr=""/>
          <p:cNvGraphicFramePr/>
          <p:nvPr/>
        </p:nvGraphicFramePr>
        <p:xfrm>
          <a:off x="3409980" y="3571921"/>
          <a:ext cx="2133570" cy="1371600"/>
        </p:xfrm>
        <a:graphic xmlns:a="http://schemas.openxmlformats.org/drawingml/2006/main">
          <a:graphicData uri="http://schemas.openxmlformats.org/drawingml/2006/chart">
            <c:chart xmlns:c="http://schemas.openxmlformats.org/drawingml/2006/chart" r:id="rId8"/>
          </a:graphicData>
        </a:graphic>
      </p:graphicFrame>
      <p:sp>
        <p:nvSpPr>
          <p:cNvPr id="47" name="Shape e54s0"/>
          <p:cNvSpPr/>
          <p:nvPr/>
        </p:nvSpPr>
        <p:spPr>
          <a:xfrm>
            <a:off x="3409980" y="5438760"/>
            <a:ext cx="2133570" cy="9510"/>
          </a:xfrm>
          <a:prstGeom prst="rect">
            <a:avLst/>
          </a:prstGeom>
          <a:solidFill>
            <a:srgbClr val="E3DCD3"/>
          </a:solidFill>
          <a:ln/>
        </p:spPr>
        <p:txBody>
          <a:bodyPr/>
          <a:p/>
        </p:txBody>
      </p:sp>
      <p:sp>
        <p:nvSpPr>
          <p:cNvPr id="48" name="Text e54"/>
          <p:cNvSpPr txBox="1"/>
          <p:nvPr/>
        </p:nvSpPr>
        <p:spPr>
          <a:xfrm>
            <a:off x="3409980" y="5517398"/>
            <a:ext cx="2133570" cy="55248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Cintas and Rollins run recurring service routes, and APi Group is built around inspection and service. ABM and BrightView depend more heavily on labor hours.</a:t>
            </a:r>
            <a:endParaRPr lang="en-US" sz="750" dirty="0"/>
          </a:p>
        </p:txBody>
      </p:sp>
      <p:sp>
        <p:nvSpPr>
          <p:cNvPr id="49" name="Text e56"/>
          <p:cNvSpPr txBox="1"/>
          <p:nvPr/>
        </p:nvSpPr>
        <p:spPr>
          <a:xfrm>
            <a:off x="5848320" y="2590770"/>
            <a:ext cx="3790920" cy="123810"/>
          </a:xfrm>
          <a:prstGeom prst="rect">
            <a:avLst/>
          </a:prstGeom>
          <a:noFill/>
          <a:ln/>
        </p:spPr>
        <p:txBody>
          <a:bodyPr wrap="none" lIns="0" tIns="0" rIns="0" bIns="0" rtlCol="0" anchor="t"/>
          <a:lstStyle/>
          <a:p>
            <a:pPr algn="r" indent="0" marL="0">
              <a:lnSpc>
                <a:spcPts val="1000"/>
              </a:lnSpc>
              <a:buNone/>
            </a:pPr>
            <a:r>
              <a:rPr lang="en-US" sz="700" b="1" spc="150" kern="0" dirty="0">
                <a:solidFill>
                  <a:srgbClr val="8C6239"/>
                </a:solidFill>
                <a:latin typeface="+mn-lt" pitchFamily="34" charset="0"/>
              </a:rPr>
              <a:t>RECENT FIRE AND SECURITY TRANSACTIONS</a:t>
            </a:r>
            <a:endParaRPr lang="en-US" sz="700" dirty="0"/>
          </a:p>
        </p:txBody>
      </p:sp>
      <p:sp>
        <p:nvSpPr>
          <p:cNvPr id="50" name="Shape e57s2"/>
          <p:cNvSpPr/>
          <p:nvPr/>
        </p:nvSpPr>
        <p:spPr>
          <a:xfrm>
            <a:off x="5848320" y="3028950"/>
            <a:ext cx="3790920" cy="19020"/>
          </a:xfrm>
          <a:prstGeom prst="rect">
            <a:avLst/>
          </a:prstGeom>
          <a:solidFill>
            <a:srgbClr val="B68757"/>
          </a:solidFill>
          <a:ln/>
        </p:spPr>
        <p:txBody>
          <a:bodyPr/>
          <a:p/>
        </p:txBody>
      </p:sp>
      <p:sp>
        <p:nvSpPr>
          <p:cNvPr id="51" name="Text e58"/>
          <p:cNvSpPr txBox="1"/>
          <p:nvPr/>
        </p:nvSpPr>
        <p:spPr>
          <a:xfrm>
            <a:off x="5848320" y="2776576"/>
            <a:ext cx="352867" cy="104790"/>
          </a:xfrm>
          <a:prstGeom prst="rect">
            <a:avLst/>
          </a:prstGeom>
          <a:noFill/>
          <a:ln/>
        </p:spPr>
        <p:txBody>
          <a:bodyPr wrap="none" lIns="0" tIns="0" rIns="0" bIns="0" rtlCol="0" anchor="t"/>
          <a:lstStyle/>
          <a:p>
            <a:pPr algn="l" indent="0" marL="0">
              <a:lnSpc>
                <a:spcPts val="850"/>
              </a:lnSpc>
              <a:buNone/>
            </a:pPr>
            <a:r>
              <a:rPr lang="en-US" sz="550" b="1" spc="100" kern="0" dirty="0">
                <a:solidFill>
                  <a:srgbClr val="1B1A1A"/>
                </a:solidFill>
                <a:latin typeface="+mn-lt" pitchFamily="34" charset="0"/>
              </a:rPr>
              <a:t>BUYER</a:t>
            </a:r>
            <a:endParaRPr lang="en-US" sz="550" dirty="0"/>
          </a:p>
        </p:txBody>
      </p:sp>
      <p:sp>
        <p:nvSpPr>
          <p:cNvPr id="52" name="Text e59"/>
          <p:cNvSpPr txBox="1"/>
          <p:nvPr/>
        </p:nvSpPr>
        <p:spPr>
          <a:xfrm>
            <a:off x="6877020" y="2776576"/>
            <a:ext cx="849843" cy="104790"/>
          </a:xfrm>
          <a:prstGeom prst="rect">
            <a:avLst/>
          </a:prstGeom>
          <a:noFill/>
          <a:ln/>
        </p:spPr>
        <p:txBody>
          <a:bodyPr wrap="none" lIns="0" tIns="0" rIns="0" bIns="0" rtlCol="0" anchor="t"/>
          <a:lstStyle/>
          <a:p>
            <a:pPr algn="l" indent="0" marL="0">
              <a:lnSpc>
                <a:spcPts val="850"/>
              </a:lnSpc>
              <a:buNone/>
            </a:pPr>
            <a:r>
              <a:rPr lang="en-US" sz="550" b="1" spc="100" kern="0" dirty="0">
                <a:solidFill>
                  <a:srgbClr val="1B1A1A"/>
                </a:solidFill>
                <a:latin typeface="+mn-lt" pitchFamily="34" charset="0"/>
              </a:rPr>
              <a:t>TARGET (LINKED)</a:t>
            </a:r>
            <a:endParaRPr lang="en-US" sz="550" dirty="0"/>
          </a:p>
        </p:txBody>
      </p:sp>
      <p:sp>
        <p:nvSpPr>
          <p:cNvPr id="53" name="Text e60"/>
          <p:cNvSpPr txBox="1"/>
          <p:nvPr/>
        </p:nvSpPr>
        <p:spPr>
          <a:xfrm>
            <a:off x="8134320" y="2776576"/>
            <a:ext cx="971550" cy="209580"/>
          </a:xfrm>
          <a:prstGeom prst="rect">
            <a:avLst/>
          </a:prstGeom>
          <a:noFill/>
          <a:ln/>
        </p:spPr>
        <p:txBody>
          <a:bodyPr wrap="square" lIns="0" tIns="0" rIns="0" bIns="0" rtlCol="0" anchor="t"/>
          <a:lstStyle/>
          <a:p>
            <a:pPr algn="l" indent="0" marL="0">
              <a:lnSpc>
                <a:spcPts val="850"/>
              </a:lnSpc>
              <a:buNone/>
            </a:pPr>
            <a:r>
              <a:rPr lang="en-US" sz="550" b="1" spc="100" kern="0" dirty="0">
                <a:solidFill>
                  <a:srgbClr val="1B1A1A"/>
                </a:solidFill>
                <a:latin typeface="+mn-lt" pitchFamily="34" charset="0"/>
              </a:rPr>
              <a:t>WHAT THE TARGET DOES</a:t>
            </a:r>
            <a:endParaRPr lang="en-US" sz="550" dirty="0"/>
          </a:p>
        </p:txBody>
      </p:sp>
      <p:sp>
        <p:nvSpPr>
          <p:cNvPr id="54" name="Text e61"/>
          <p:cNvSpPr txBox="1"/>
          <p:nvPr/>
        </p:nvSpPr>
        <p:spPr>
          <a:xfrm>
            <a:off x="9201150" y="2776576"/>
            <a:ext cx="438180" cy="104790"/>
          </a:xfrm>
          <a:prstGeom prst="rect">
            <a:avLst/>
          </a:prstGeom>
          <a:noFill/>
          <a:ln/>
        </p:spPr>
        <p:txBody>
          <a:bodyPr wrap="none" lIns="0" tIns="0" rIns="0" bIns="0" rtlCol="0" anchor="t"/>
          <a:lstStyle/>
          <a:p>
            <a:pPr algn="r" indent="0" marL="0">
              <a:lnSpc>
                <a:spcPts val="850"/>
              </a:lnSpc>
              <a:buNone/>
            </a:pPr>
            <a:r>
              <a:rPr lang="en-US" sz="550" b="1" spc="100" kern="0" dirty="0">
                <a:solidFill>
                  <a:srgbClr val="1B1A1A"/>
                </a:solidFill>
                <a:latin typeface="+mn-lt" pitchFamily="34" charset="0"/>
              </a:rPr>
              <a:t>DATE</a:t>
            </a:r>
            <a:endParaRPr lang="en-US" sz="550" dirty="0"/>
          </a:p>
        </p:txBody>
      </p:sp>
      <p:sp>
        <p:nvSpPr>
          <p:cNvPr id="55" name="Shape e62s2"/>
          <p:cNvSpPr/>
          <p:nvPr/>
        </p:nvSpPr>
        <p:spPr>
          <a:xfrm>
            <a:off x="5848320" y="3657600"/>
            <a:ext cx="3790920" cy="9510"/>
          </a:xfrm>
          <a:prstGeom prst="rect">
            <a:avLst/>
          </a:prstGeom>
          <a:solidFill>
            <a:srgbClr val="E3DCD3"/>
          </a:solidFill>
          <a:ln/>
        </p:spPr>
        <p:txBody>
          <a:bodyPr/>
          <a:p/>
        </p:txBody>
      </p:sp>
      <p:sp>
        <p:nvSpPr>
          <p:cNvPr id="56" name="Text e63"/>
          <p:cNvSpPr txBox="1"/>
          <p:nvPr/>
        </p:nvSpPr>
        <p:spPr>
          <a:xfrm>
            <a:off x="5848320" y="3100365"/>
            <a:ext cx="933420" cy="247620"/>
          </a:xfrm>
          <a:prstGeom prst="rect">
            <a:avLst/>
          </a:prstGeom>
          <a:noFill/>
          <a:ln/>
        </p:spPr>
        <p:txBody>
          <a:bodyPr wrap="square" lIns="0" tIns="0" rIns="0" bIns="0" rtlCol="0" anchor="t"/>
          <a:lstStyle/>
          <a:p>
            <a:pPr algn="l" indent="0" marL="0">
              <a:lnSpc>
                <a:spcPts val="1000"/>
              </a:lnSpc>
              <a:buNone/>
            </a:pPr>
            <a:r>
              <a:rPr lang="en-US" sz="700" b="1" dirty="0">
                <a:solidFill>
                  <a:srgbClr val="1B1A1A"/>
                </a:solidFill>
                <a:latin typeface="+mn-lt" pitchFamily="34" charset="0"/>
              </a:rPr>
              <a:t>Pye-Barker Fire &amp; Safety</a:t>
            </a:r>
            <a:endParaRPr lang="en-US" sz="700" dirty="0"/>
          </a:p>
        </p:txBody>
      </p:sp>
      <p:sp>
        <p:nvSpPr>
          <p:cNvPr id="57" name="Text e64"/>
          <p:cNvSpPr txBox="1"/>
          <p:nvPr/>
        </p:nvSpPr>
        <p:spPr>
          <a:xfrm>
            <a:off x="6877020" y="3100365"/>
            <a:ext cx="861548" cy="123810"/>
          </a:xfrm>
          <a:prstGeom prst="rect">
            <a:avLst/>
          </a:prstGeom>
          <a:noFill/>
          <a:ln/>
        </p:spPr>
        <p:txBody>
          <a:bodyPr wrap="none" lIns="0" tIns="0" rIns="0" bIns="0" rtlCol="0" anchor="t"/>
          <a:lstStyle/>
          <a:p>
            <a:pPr algn="l" indent="0" marL="0">
              <a:lnSpc>
                <a:spcPts val="1000"/>
              </a:lnSpc>
              <a:buNone/>
            </a:pPr>
            <a:r>
              <a:rPr lang="en-US" sz="700" u="sng" dirty="0">
                <a:solidFill>
                  <a:srgbClr val="8C6239"/>
                </a:solidFill>
                <a:latin typeface="+mn-lt" pitchFamily="34" charset="0"/>
                <a:hlinkClick r:id="rId9" invalidUrl="" action="" tgtFrame="" tooltip="" history="1" highlightClick="0" endSnd="0">
                  <a:extLst>
                    <a:ext uri="{A12FA001-AC4F-418D-AE19-62706E023703}">
                      <ahyp:hlinkClr xmlns:ahyp="http://schemas.microsoft.com/office/drawing/2018/hyperlinkcolor" val="tx"/>
                    </a:ext>
                  </a:extLst>
                </a:hlinkClick>
              </a:rPr>
              <a:t>Union AlarmTronic</a:t>
            </a:r>
            <a:endParaRPr lang="en-US" sz="700" dirty="0"/>
          </a:p>
        </p:txBody>
      </p:sp>
      <p:sp>
        <p:nvSpPr>
          <p:cNvPr id="58" name="Text e65"/>
          <p:cNvSpPr txBox="1"/>
          <p:nvPr/>
        </p:nvSpPr>
        <p:spPr>
          <a:xfrm>
            <a:off x="8134320" y="3100365"/>
            <a:ext cx="971550" cy="495330"/>
          </a:xfrm>
          <a:prstGeom prst="rect">
            <a:avLst/>
          </a:prstGeom>
          <a:noFill/>
          <a:ln/>
        </p:spPr>
        <p:txBody>
          <a:bodyPr wrap="square" lIns="0" tIns="0" rIns="0" bIns="0" rtlCol="0" anchor="t"/>
          <a:lstStyle/>
          <a:p>
            <a:pPr algn="l" indent="0" marL="0">
              <a:lnSpc>
                <a:spcPts val="1000"/>
              </a:lnSpc>
              <a:buNone/>
            </a:pPr>
            <a:r>
              <a:rPr lang="en-US" sz="700" dirty="0">
                <a:solidFill>
                  <a:srgbClr val="333231"/>
                </a:solidFill>
                <a:latin typeface="+mn-lt" pitchFamily="34" charset="0"/>
              </a:rPr>
              <a:t>Family-owned alarm, access control and video company, New Jersey</a:t>
            </a:r>
            <a:endParaRPr lang="en-US" sz="700" dirty="0"/>
          </a:p>
        </p:txBody>
      </p:sp>
      <p:sp>
        <p:nvSpPr>
          <p:cNvPr id="59" name="Text e66"/>
          <p:cNvSpPr txBox="1"/>
          <p:nvPr/>
        </p:nvSpPr>
        <p:spPr>
          <a:xfrm>
            <a:off x="9201150" y="3100365"/>
            <a:ext cx="438180" cy="123810"/>
          </a:xfrm>
          <a:prstGeom prst="rect">
            <a:avLst/>
          </a:prstGeom>
          <a:noFill/>
          <a:ln/>
        </p:spPr>
        <p:txBody>
          <a:bodyPr wrap="none" lIns="0" tIns="0" rIns="0" bIns="0" rtlCol="0" anchor="t"/>
          <a:lstStyle/>
          <a:p>
            <a:pPr algn="r" indent="0" marL="0">
              <a:lnSpc>
                <a:spcPts val="1000"/>
              </a:lnSpc>
              <a:buNone/>
            </a:pPr>
            <a:r>
              <a:rPr lang="en-US" sz="700" dirty="0">
                <a:solidFill>
                  <a:srgbClr val="6F6A66"/>
                </a:solidFill>
                <a:latin typeface="+mn-lt" pitchFamily="34" charset="0"/>
              </a:rPr>
              <a:t>Sep 2026</a:t>
            </a:r>
            <a:endParaRPr lang="en-US" sz="700" dirty="0"/>
          </a:p>
        </p:txBody>
      </p:sp>
      <p:sp>
        <p:nvSpPr>
          <p:cNvPr id="60" name="Shape e67s2"/>
          <p:cNvSpPr/>
          <p:nvPr/>
        </p:nvSpPr>
        <p:spPr>
          <a:xfrm>
            <a:off x="5848320" y="4029121"/>
            <a:ext cx="3790920" cy="9510"/>
          </a:xfrm>
          <a:prstGeom prst="rect">
            <a:avLst/>
          </a:prstGeom>
          <a:solidFill>
            <a:srgbClr val="E3DCD3"/>
          </a:solidFill>
          <a:ln/>
        </p:spPr>
        <p:txBody>
          <a:bodyPr/>
          <a:p/>
        </p:txBody>
      </p:sp>
      <p:sp>
        <p:nvSpPr>
          <p:cNvPr id="61" name="Text e68"/>
          <p:cNvSpPr txBox="1"/>
          <p:nvPr/>
        </p:nvSpPr>
        <p:spPr>
          <a:xfrm>
            <a:off x="5848320" y="3719505"/>
            <a:ext cx="933420" cy="247620"/>
          </a:xfrm>
          <a:prstGeom prst="rect">
            <a:avLst/>
          </a:prstGeom>
          <a:noFill/>
          <a:ln/>
        </p:spPr>
        <p:txBody>
          <a:bodyPr wrap="square" lIns="0" tIns="0" rIns="0" bIns="0" rtlCol="0" anchor="t"/>
          <a:lstStyle/>
          <a:p>
            <a:pPr algn="l" indent="0" marL="0">
              <a:lnSpc>
                <a:spcPts val="1000"/>
              </a:lnSpc>
              <a:buNone/>
            </a:pPr>
            <a:r>
              <a:rPr lang="en-US" sz="700" b="1" dirty="0">
                <a:solidFill>
                  <a:srgbClr val="1B1A1A"/>
                </a:solidFill>
                <a:latin typeface="+mn-lt" pitchFamily="34" charset="0"/>
              </a:rPr>
              <a:t>Pye-Barker Fire &amp; Safety</a:t>
            </a:r>
            <a:endParaRPr lang="en-US" sz="700" dirty="0"/>
          </a:p>
        </p:txBody>
      </p:sp>
      <p:sp>
        <p:nvSpPr>
          <p:cNvPr id="62" name="Text e69"/>
          <p:cNvSpPr txBox="1"/>
          <p:nvPr/>
        </p:nvSpPr>
        <p:spPr>
          <a:xfrm>
            <a:off x="6877020" y="3719505"/>
            <a:ext cx="1167232" cy="123810"/>
          </a:xfrm>
          <a:prstGeom prst="rect">
            <a:avLst/>
          </a:prstGeom>
          <a:noFill/>
          <a:ln/>
        </p:spPr>
        <p:txBody>
          <a:bodyPr wrap="none" lIns="0" tIns="0" rIns="0" bIns="0" rtlCol="0" anchor="t"/>
          <a:lstStyle/>
          <a:p>
            <a:pPr algn="l" indent="0" marL="0">
              <a:lnSpc>
                <a:spcPts val="1000"/>
              </a:lnSpc>
              <a:buNone/>
            </a:pPr>
            <a:r>
              <a:rPr lang="en-US" sz="700" u="sng" dirty="0">
                <a:solidFill>
                  <a:srgbClr val="8C6239"/>
                </a:solidFill>
                <a:latin typeface="+mn-lt" pitchFamily="34" charset="0"/>
                <a:hlinkClick r:id="rId10" invalidUrl="" action="" tgtFrame="" tooltip="" history="1" highlightClick="0" endSnd="0">
                  <a:extLst>
                    <a:ext uri="{A12FA001-AC4F-418D-AE19-62706E023703}">
                      <ahyp:hlinkClr xmlns:ahyp="http://schemas.microsoft.com/office/drawing/2018/hyperlinkcolor" val="tx"/>
                    </a:ext>
                  </a:extLst>
                </a:hlinkClick>
              </a:rPr>
              <a:t>Suppression Systems, Inc.</a:t>
            </a:r>
            <a:endParaRPr lang="en-US" sz="700" dirty="0"/>
          </a:p>
        </p:txBody>
      </p:sp>
      <p:sp>
        <p:nvSpPr>
          <p:cNvPr id="63" name="Text e70"/>
          <p:cNvSpPr txBox="1"/>
          <p:nvPr/>
        </p:nvSpPr>
        <p:spPr>
          <a:xfrm>
            <a:off x="8134320" y="3719505"/>
            <a:ext cx="971550" cy="247620"/>
          </a:xfrm>
          <a:prstGeom prst="rect">
            <a:avLst/>
          </a:prstGeom>
          <a:noFill/>
          <a:ln/>
        </p:spPr>
        <p:txBody>
          <a:bodyPr wrap="square" lIns="0" tIns="0" rIns="0" bIns="0" rtlCol="0" anchor="t"/>
          <a:lstStyle/>
          <a:p>
            <a:pPr algn="l" indent="0" marL="0">
              <a:lnSpc>
                <a:spcPts val="1000"/>
              </a:lnSpc>
              <a:buNone/>
            </a:pPr>
            <a:r>
              <a:rPr lang="en-US" sz="700" dirty="0">
                <a:solidFill>
                  <a:srgbClr val="333231"/>
                </a:solidFill>
                <a:latin typeface="+mn-lt" pitchFamily="34" charset="0"/>
              </a:rPr>
              <a:t>Fire suppression, Pacific Northwest</a:t>
            </a:r>
            <a:endParaRPr lang="en-US" sz="700" dirty="0"/>
          </a:p>
        </p:txBody>
      </p:sp>
      <p:sp>
        <p:nvSpPr>
          <p:cNvPr id="64" name="Text e71"/>
          <p:cNvSpPr txBox="1"/>
          <p:nvPr/>
        </p:nvSpPr>
        <p:spPr>
          <a:xfrm>
            <a:off x="9201150" y="3719505"/>
            <a:ext cx="438180" cy="123810"/>
          </a:xfrm>
          <a:prstGeom prst="rect">
            <a:avLst/>
          </a:prstGeom>
          <a:noFill/>
          <a:ln/>
        </p:spPr>
        <p:txBody>
          <a:bodyPr wrap="none" lIns="0" tIns="0" rIns="0" bIns="0" rtlCol="0" anchor="t"/>
          <a:lstStyle/>
          <a:p>
            <a:pPr algn="r" indent="0" marL="0">
              <a:lnSpc>
                <a:spcPts val="1000"/>
              </a:lnSpc>
              <a:buNone/>
            </a:pPr>
            <a:r>
              <a:rPr lang="en-US" sz="700" dirty="0">
                <a:solidFill>
                  <a:srgbClr val="6F6A66"/>
                </a:solidFill>
                <a:latin typeface="+mn-lt" pitchFamily="34" charset="0"/>
              </a:rPr>
              <a:t>Aug 2026</a:t>
            </a:r>
            <a:endParaRPr lang="en-US" sz="700" dirty="0"/>
          </a:p>
        </p:txBody>
      </p:sp>
      <p:sp>
        <p:nvSpPr>
          <p:cNvPr id="65" name="Shape e72s2"/>
          <p:cNvSpPr/>
          <p:nvPr/>
        </p:nvSpPr>
        <p:spPr>
          <a:xfrm>
            <a:off x="5848320" y="4524360"/>
            <a:ext cx="3790920" cy="9510"/>
          </a:xfrm>
          <a:prstGeom prst="rect">
            <a:avLst/>
          </a:prstGeom>
          <a:solidFill>
            <a:srgbClr val="E3DCD3"/>
          </a:solidFill>
          <a:ln/>
        </p:spPr>
        <p:txBody>
          <a:bodyPr/>
          <a:p/>
        </p:txBody>
      </p:sp>
      <p:sp>
        <p:nvSpPr>
          <p:cNvPr id="66" name="Text e73"/>
          <p:cNvSpPr txBox="1"/>
          <p:nvPr/>
        </p:nvSpPr>
        <p:spPr>
          <a:xfrm>
            <a:off x="5848320" y="4091026"/>
            <a:ext cx="759043" cy="123810"/>
          </a:xfrm>
          <a:prstGeom prst="rect">
            <a:avLst/>
          </a:prstGeom>
          <a:noFill/>
          <a:ln/>
        </p:spPr>
        <p:txBody>
          <a:bodyPr wrap="none" lIns="0" tIns="0" rIns="0" bIns="0" rtlCol="0" anchor="t"/>
          <a:lstStyle/>
          <a:p>
            <a:pPr algn="l" indent="0" marL="0">
              <a:lnSpc>
                <a:spcPts val="1000"/>
              </a:lnSpc>
              <a:buNone/>
            </a:pPr>
            <a:r>
              <a:rPr lang="en-US" sz="700" b="1" dirty="0">
                <a:solidFill>
                  <a:srgbClr val="1B1A1A"/>
                </a:solidFill>
                <a:latin typeface="+mn-lt" pitchFamily="34" charset="0"/>
              </a:rPr>
              <a:t>Allied Universal</a:t>
            </a:r>
            <a:endParaRPr lang="en-US" sz="700" dirty="0"/>
          </a:p>
        </p:txBody>
      </p:sp>
      <p:sp>
        <p:nvSpPr>
          <p:cNvPr id="67" name="Text e74"/>
          <p:cNvSpPr txBox="1"/>
          <p:nvPr/>
        </p:nvSpPr>
        <p:spPr>
          <a:xfrm>
            <a:off x="6877020" y="4091026"/>
            <a:ext cx="1162020" cy="371521"/>
          </a:xfrm>
          <a:prstGeom prst="rect">
            <a:avLst/>
          </a:prstGeom>
          <a:noFill/>
          <a:ln/>
        </p:spPr>
        <p:txBody>
          <a:bodyPr wrap="square" lIns="0" tIns="0" rIns="0" bIns="0" rtlCol="0" anchor="t"/>
          <a:lstStyle/>
          <a:p>
            <a:pPr algn="l" indent="0" marL="0">
              <a:lnSpc>
                <a:spcPts val="1000"/>
              </a:lnSpc>
              <a:buNone/>
            </a:pPr>
            <a:r>
              <a:rPr lang="en-US" sz="700" u="sng" dirty="0">
                <a:solidFill>
                  <a:srgbClr val="8C6239"/>
                </a:solidFill>
                <a:latin typeface="+mn-lt" pitchFamily="34" charset="0"/>
                <a:hlinkClick r:id="rId11" invalidUrl="" action="" tgtFrame="" tooltip="" history="1" highlightClick="0" endSnd="0">
                  <a:extLst>
                    <a:ext uri="{A12FA001-AC4F-418D-AE19-62706E023703}">
                      <ahyp:hlinkClr xmlns:ahyp="http://schemas.microsoft.com/office/drawing/2018/hyperlinkcolor" val="tx"/>
                    </a:ext>
                  </a:extLst>
                </a:hlinkClick>
              </a:rPr>
              <a:t>Aegis Protective Services and Admiral Security Services</a:t>
            </a:r>
            <a:endParaRPr lang="en-US" sz="700" dirty="0"/>
          </a:p>
        </p:txBody>
      </p:sp>
      <p:sp>
        <p:nvSpPr>
          <p:cNvPr id="68" name="Text e75"/>
          <p:cNvSpPr txBox="1"/>
          <p:nvPr/>
        </p:nvSpPr>
        <p:spPr>
          <a:xfrm>
            <a:off x="8134320" y="4091026"/>
            <a:ext cx="971550" cy="247620"/>
          </a:xfrm>
          <a:prstGeom prst="rect">
            <a:avLst/>
          </a:prstGeom>
          <a:noFill/>
          <a:ln/>
        </p:spPr>
        <p:txBody>
          <a:bodyPr wrap="square" lIns="0" tIns="0" rIns="0" bIns="0" rtlCol="0" anchor="t"/>
          <a:lstStyle/>
          <a:p>
            <a:pPr algn="l" indent="0" marL="0">
              <a:lnSpc>
                <a:spcPts val="1000"/>
              </a:lnSpc>
              <a:buNone/>
            </a:pPr>
            <a:r>
              <a:rPr lang="en-US" sz="700" dirty="0">
                <a:solidFill>
                  <a:srgbClr val="333231"/>
                </a:solidFill>
                <a:latin typeface="+mn-lt" pitchFamily="34" charset="0"/>
              </a:rPr>
              <a:t>Guard services and security technology</a:t>
            </a:r>
            <a:endParaRPr lang="en-US" sz="700" dirty="0"/>
          </a:p>
        </p:txBody>
      </p:sp>
      <p:sp>
        <p:nvSpPr>
          <p:cNvPr id="69" name="Text e76"/>
          <p:cNvSpPr txBox="1"/>
          <p:nvPr/>
        </p:nvSpPr>
        <p:spPr>
          <a:xfrm>
            <a:off x="9201150" y="4091026"/>
            <a:ext cx="438180" cy="123810"/>
          </a:xfrm>
          <a:prstGeom prst="rect">
            <a:avLst/>
          </a:prstGeom>
          <a:noFill/>
          <a:ln/>
        </p:spPr>
        <p:txBody>
          <a:bodyPr wrap="none" lIns="0" tIns="0" rIns="0" bIns="0" rtlCol="0" anchor="t"/>
          <a:lstStyle/>
          <a:p>
            <a:pPr algn="r" indent="0" marL="0">
              <a:lnSpc>
                <a:spcPts val="1000"/>
              </a:lnSpc>
              <a:buNone/>
            </a:pPr>
            <a:r>
              <a:rPr lang="en-US" sz="700" dirty="0">
                <a:solidFill>
                  <a:srgbClr val="6F6A66"/>
                </a:solidFill>
                <a:latin typeface="+mn-lt" pitchFamily="34" charset="0"/>
              </a:rPr>
              <a:t>Jun 2026</a:t>
            </a:r>
            <a:endParaRPr lang="en-US" sz="700" dirty="0"/>
          </a:p>
        </p:txBody>
      </p:sp>
      <p:sp>
        <p:nvSpPr>
          <p:cNvPr id="70" name="Shape e77s2"/>
          <p:cNvSpPr/>
          <p:nvPr/>
        </p:nvSpPr>
        <p:spPr>
          <a:xfrm>
            <a:off x="5848320" y="4895880"/>
            <a:ext cx="3790920" cy="9510"/>
          </a:xfrm>
          <a:prstGeom prst="rect">
            <a:avLst/>
          </a:prstGeom>
          <a:solidFill>
            <a:srgbClr val="E3DCD3"/>
          </a:solidFill>
          <a:ln/>
        </p:spPr>
        <p:txBody>
          <a:bodyPr/>
          <a:p/>
        </p:txBody>
      </p:sp>
      <p:sp>
        <p:nvSpPr>
          <p:cNvPr id="71" name="Text e78"/>
          <p:cNvSpPr txBox="1"/>
          <p:nvPr/>
        </p:nvSpPr>
        <p:spPr>
          <a:xfrm>
            <a:off x="5848320" y="4586265"/>
            <a:ext cx="933420" cy="247620"/>
          </a:xfrm>
          <a:prstGeom prst="rect">
            <a:avLst/>
          </a:prstGeom>
          <a:noFill/>
          <a:ln/>
        </p:spPr>
        <p:txBody>
          <a:bodyPr wrap="square" lIns="0" tIns="0" rIns="0" bIns="0" rtlCol="0" anchor="t"/>
          <a:lstStyle/>
          <a:p>
            <a:pPr algn="l" indent="0" marL="0">
              <a:lnSpc>
                <a:spcPts val="1000"/>
              </a:lnSpc>
              <a:buNone/>
            </a:pPr>
            <a:r>
              <a:rPr lang="en-US" sz="700" b="1" dirty="0">
                <a:solidFill>
                  <a:srgbClr val="1B1A1A"/>
                </a:solidFill>
                <a:latin typeface="+mn-lt" pitchFamily="34" charset="0"/>
              </a:rPr>
              <a:t>Sciens Building Solutions</a:t>
            </a:r>
            <a:endParaRPr lang="en-US" sz="700" dirty="0"/>
          </a:p>
        </p:txBody>
      </p:sp>
      <p:sp>
        <p:nvSpPr>
          <p:cNvPr id="72" name="Text e79"/>
          <p:cNvSpPr txBox="1"/>
          <p:nvPr/>
        </p:nvSpPr>
        <p:spPr>
          <a:xfrm>
            <a:off x="6877020" y="4586265"/>
            <a:ext cx="983620" cy="123810"/>
          </a:xfrm>
          <a:prstGeom prst="rect">
            <a:avLst/>
          </a:prstGeom>
          <a:noFill/>
          <a:ln/>
        </p:spPr>
        <p:txBody>
          <a:bodyPr wrap="none" lIns="0" tIns="0" rIns="0" bIns="0" rtlCol="0" anchor="t"/>
          <a:lstStyle/>
          <a:p>
            <a:pPr algn="l" indent="0" marL="0">
              <a:lnSpc>
                <a:spcPts val="1000"/>
              </a:lnSpc>
              <a:buNone/>
            </a:pPr>
            <a:r>
              <a:rPr lang="en-US" sz="700" u="sng" dirty="0">
                <a:solidFill>
                  <a:srgbClr val="8C6239"/>
                </a:solidFill>
                <a:latin typeface="+mn-lt" pitchFamily="34" charset="0"/>
                <a:hlinkClick r:id="rId12" invalidUrl="" action="" tgtFrame="" tooltip="" history="1" highlightClick="0" endSnd="0">
                  <a:extLst>
                    <a:ext uri="{A12FA001-AC4F-418D-AE19-62706E023703}">
                      <ahyp:hlinkClr xmlns:ahyp="http://schemas.microsoft.com/office/drawing/2018/hyperlinkcolor" val="tx"/>
                    </a:ext>
                  </a:extLst>
                </a:hlinkClick>
              </a:rPr>
              <a:t>Southern Fire Control</a:t>
            </a:r>
            <a:endParaRPr lang="en-US" sz="700" dirty="0"/>
          </a:p>
        </p:txBody>
      </p:sp>
      <p:sp>
        <p:nvSpPr>
          <p:cNvPr id="73" name="Text e80"/>
          <p:cNvSpPr txBox="1"/>
          <p:nvPr/>
        </p:nvSpPr>
        <p:spPr>
          <a:xfrm>
            <a:off x="8134320" y="4586265"/>
            <a:ext cx="692658"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Fire protection</a:t>
            </a:r>
            <a:endParaRPr lang="en-US" sz="700" dirty="0"/>
          </a:p>
        </p:txBody>
      </p:sp>
      <p:sp>
        <p:nvSpPr>
          <p:cNvPr id="74" name="Text e81"/>
          <p:cNvSpPr txBox="1"/>
          <p:nvPr/>
        </p:nvSpPr>
        <p:spPr>
          <a:xfrm>
            <a:off x="9201150" y="4586265"/>
            <a:ext cx="438180" cy="123810"/>
          </a:xfrm>
          <a:prstGeom prst="rect">
            <a:avLst/>
          </a:prstGeom>
          <a:noFill/>
          <a:ln/>
        </p:spPr>
        <p:txBody>
          <a:bodyPr wrap="none" lIns="0" tIns="0" rIns="0" bIns="0" rtlCol="0" anchor="t"/>
          <a:lstStyle/>
          <a:p>
            <a:pPr algn="r" indent="0" marL="0">
              <a:lnSpc>
                <a:spcPts val="1000"/>
              </a:lnSpc>
              <a:buNone/>
            </a:pPr>
            <a:r>
              <a:rPr lang="en-US" sz="700" dirty="0">
                <a:solidFill>
                  <a:srgbClr val="6F6A66"/>
                </a:solidFill>
                <a:latin typeface="+mn-lt" pitchFamily="34" charset="0"/>
              </a:rPr>
              <a:t>Jan 2026</a:t>
            </a:r>
            <a:endParaRPr lang="en-US" sz="700" dirty="0"/>
          </a:p>
        </p:txBody>
      </p:sp>
      <p:sp>
        <p:nvSpPr>
          <p:cNvPr id="75" name="Shape e82s2"/>
          <p:cNvSpPr/>
          <p:nvPr/>
        </p:nvSpPr>
        <p:spPr>
          <a:xfrm>
            <a:off x="5848320" y="5267310"/>
            <a:ext cx="3790920" cy="9510"/>
          </a:xfrm>
          <a:prstGeom prst="rect">
            <a:avLst/>
          </a:prstGeom>
          <a:solidFill>
            <a:srgbClr val="E3DCD3"/>
          </a:solidFill>
          <a:ln/>
        </p:spPr>
        <p:txBody>
          <a:bodyPr/>
          <a:p/>
        </p:txBody>
      </p:sp>
      <p:sp>
        <p:nvSpPr>
          <p:cNvPr id="76" name="Text e83"/>
          <p:cNvSpPr txBox="1"/>
          <p:nvPr/>
        </p:nvSpPr>
        <p:spPr>
          <a:xfrm>
            <a:off x="5848320" y="4957785"/>
            <a:ext cx="500085" cy="123810"/>
          </a:xfrm>
          <a:prstGeom prst="rect">
            <a:avLst/>
          </a:prstGeom>
          <a:noFill/>
          <a:ln/>
        </p:spPr>
        <p:txBody>
          <a:bodyPr wrap="none" lIns="0" tIns="0" rIns="0" bIns="0" rtlCol="0" anchor="t"/>
          <a:lstStyle/>
          <a:p>
            <a:pPr algn="l" indent="0" marL="0">
              <a:lnSpc>
                <a:spcPts val="1000"/>
              </a:lnSpc>
              <a:buNone/>
            </a:pPr>
            <a:r>
              <a:rPr lang="en-US" sz="700" b="1" dirty="0">
                <a:solidFill>
                  <a:srgbClr val="1B1A1A"/>
                </a:solidFill>
                <a:latin typeface="+mn-lt" pitchFamily="34" charset="0"/>
              </a:rPr>
              <a:t>APi Group</a:t>
            </a:r>
            <a:endParaRPr lang="en-US" sz="700" dirty="0"/>
          </a:p>
        </p:txBody>
      </p:sp>
      <p:sp>
        <p:nvSpPr>
          <p:cNvPr id="77" name="Text e84"/>
          <p:cNvSpPr txBox="1"/>
          <p:nvPr/>
        </p:nvSpPr>
        <p:spPr>
          <a:xfrm>
            <a:off x="6877020" y="4957785"/>
            <a:ext cx="456468" cy="123810"/>
          </a:xfrm>
          <a:prstGeom prst="rect">
            <a:avLst/>
          </a:prstGeom>
          <a:noFill/>
          <a:ln/>
        </p:spPr>
        <p:txBody>
          <a:bodyPr wrap="none" lIns="0" tIns="0" rIns="0" bIns="0" rtlCol="0" anchor="t"/>
          <a:lstStyle/>
          <a:p>
            <a:pPr algn="l" indent="0" marL="0">
              <a:lnSpc>
                <a:spcPts val="1000"/>
              </a:lnSpc>
              <a:buNone/>
            </a:pPr>
            <a:r>
              <a:rPr lang="en-US" sz="700" u="sng" dirty="0">
                <a:solidFill>
                  <a:srgbClr val="8C6239"/>
                </a:solidFill>
                <a:latin typeface="+mn-lt" pitchFamily="34" charset="0"/>
                <a:hlinkClick r:id="rId13" invalidUrl="" action="" tgtFrame="" tooltip="" history="1" highlightClick="0" endSnd="0">
                  <a:extLst>
                    <a:ext uri="{A12FA001-AC4F-418D-AE19-62706E023703}">
                      <ahyp:hlinkClr xmlns:ahyp="http://schemas.microsoft.com/office/drawing/2018/hyperlinkcolor" val="tx"/>
                    </a:ext>
                  </a:extLst>
                </a:hlinkClick>
              </a:rPr>
              <a:t>CertaSite</a:t>
            </a:r>
            <a:endParaRPr lang="en-US" sz="700" dirty="0"/>
          </a:p>
        </p:txBody>
      </p:sp>
      <p:sp>
        <p:nvSpPr>
          <p:cNvPr id="78" name="Text e85"/>
          <p:cNvSpPr txBox="1"/>
          <p:nvPr/>
        </p:nvSpPr>
        <p:spPr>
          <a:xfrm>
            <a:off x="8134320" y="4957785"/>
            <a:ext cx="971550" cy="247620"/>
          </a:xfrm>
          <a:prstGeom prst="rect">
            <a:avLst/>
          </a:prstGeom>
          <a:noFill/>
          <a:ln/>
        </p:spPr>
        <p:txBody>
          <a:bodyPr wrap="square" lIns="0" tIns="0" rIns="0" bIns="0" rtlCol="0" anchor="t"/>
          <a:lstStyle/>
          <a:p>
            <a:pPr algn="l" indent="0" marL="0">
              <a:lnSpc>
                <a:spcPts val="1000"/>
              </a:lnSpc>
              <a:buNone/>
            </a:pPr>
            <a:r>
              <a:rPr lang="en-US" sz="700" dirty="0">
                <a:solidFill>
                  <a:srgbClr val="333231"/>
                </a:solidFill>
                <a:latin typeface="+mn-lt" pitchFamily="34" charset="0"/>
              </a:rPr>
              <a:t>Fire and life safety inspection, Midwest</a:t>
            </a:r>
            <a:endParaRPr lang="en-US" sz="700" dirty="0"/>
          </a:p>
        </p:txBody>
      </p:sp>
      <p:sp>
        <p:nvSpPr>
          <p:cNvPr id="79" name="Text e86"/>
          <p:cNvSpPr txBox="1"/>
          <p:nvPr/>
        </p:nvSpPr>
        <p:spPr>
          <a:xfrm>
            <a:off x="9201150" y="4957785"/>
            <a:ext cx="438180" cy="123810"/>
          </a:xfrm>
          <a:prstGeom prst="rect">
            <a:avLst/>
          </a:prstGeom>
          <a:noFill/>
          <a:ln/>
        </p:spPr>
        <p:txBody>
          <a:bodyPr wrap="none" lIns="0" tIns="0" rIns="0" bIns="0" rtlCol="0" anchor="t"/>
          <a:lstStyle/>
          <a:p>
            <a:pPr algn="r" indent="0" marL="0">
              <a:lnSpc>
                <a:spcPts val="1000"/>
              </a:lnSpc>
              <a:buNone/>
            </a:pPr>
            <a:r>
              <a:rPr lang="en-US" sz="700" dirty="0">
                <a:solidFill>
                  <a:srgbClr val="6F6A66"/>
                </a:solidFill>
                <a:latin typeface="+mn-lt" pitchFamily="34" charset="0"/>
              </a:rPr>
              <a:t>Dec 2025</a:t>
            </a:r>
            <a:endParaRPr lang="en-US" sz="700" dirty="0"/>
          </a:p>
        </p:txBody>
      </p:sp>
      <p:sp>
        <p:nvSpPr>
          <p:cNvPr id="80" name="Text e87"/>
          <p:cNvSpPr txBox="1"/>
          <p:nvPr/>
        </p:nvSpPr>
        <p:spPr>
          <a:xfrm>
            <a:off x="5848320" y="5769773"/>
            <a:ext cx="3790920" cy="414315"/>
          </a:xfrm>
          <a:prstGeom prst="rect">
            <a:avLst/>
          </a:prstGeom>
          <a:noFill/>
          <a:ln/>
        </p:spPr>
        <p:txBody>
          <a:bodyPr wrap="square" lIns="0" tIns="0" rIns="0" bIns="0" rtlCol="0" anchor="t"/>
          <a:lstStyle/>
          <a:p>
            <a:pPr algn="l" indent="0" marL="0">
              <a:lnSpc>
                <a:spcPts val="1100"/>
              </a:lnSpc>
              <a:buNone/>
            </a:pPr>
            <a:r>
              <a:rPr lang="en-US" sz="750" dirty="0">
                <a:solidFill>
                  <a:srgbClr val="6F6A66"/>
                </a:solidFill>
                <a:latin typeface="+mn-lt" pitchFamily="34" charset="0"/>
              </a:rPr>
              <a:t>Purchase prices were not disclosed for these transactions. Benchmark International's own fire and life safety sales appear in the client spotlight in the next section.</a:t>
            </a:r>
            <a:endParaRPr lang="en-US" sz="750" dirty="0"/>
          </a:p>
        </p:txBody>
      </p:sp>
      <p:sp>
        <p:nvSpPr>
          <p:cNvPr id="81" name="Shape e88"/>
          <p:cNvSpPr/>
          <p:nvPr/>
        </p:nvSpPr>
        <p:spPr>
          <a:xfrm>
            <a:off x="419070" y="6324630"/>
            <a:ext cx="9220170" cy="609630"/>
          </a:xfrm>
          <a:prstGeom prst="rect">
            <a:avLst/>
          </a:prstGeom>
          <a:solidFill>
            <a:srgbClr val="1B1A1A"/>
          </a:solidFill>
          <a:ln/>
        </p:spPr>
        <p:txBody>
          <a:bodyPr/>
          <a:p/>
        </p:txBody>
      </p:sp>
      <p:sp>
        <p:nvSpPr>
          <p:cNvPr id="82" name="Text e89"/>
          <p:cNvSpPr txBox="1"/>
          <p:nvPr/>
        </p:nvSpPr>
        <p:spPr>
          <a:xfrm>
            <a:off x="628650" y="6491326"/>
            <a:ext cx="1066830" cy="266730"/>
          </a:xfrm>
          <a:prstGeom prst="rect">
            <a:avLst/>
          </a:prstGeom>
          <a:noFill/>
          <a:ln/>
        </p:spPr>
        <p:txBody>
          <a:bodyPr wrap="square" lIns="0" tIns="0" rIns="0" bIns="0" rtlCol="0" anchor="t"/>
          <a:lstStyle/>
          <a:p>
            <a:pPr algn="l" indent="0" marL="0">
              <a:lnSpc>
                <a:spcPts val="1050"/>
              </a:lnSpc>
              <a:buNone/>
            </a:pPr>
            <a:r>
              <a:rPr lang="en-US" sz="700" b="1" spc="200" kern="0" dirty="0">
                <a:solidFill>
                  <a:srgbClr val="D3AE84"/>
                </a:solidFill>
                <a:latin typeface="+mn-lt" pitchFamily="34" charset="0"/>
              </a:rPr>
              <a:t>WHAT A BUYER</a:t>
            </a:r>
            <a:endParaRPr lang="en-US" sz="700" dirty="0"/>
          </a:p>
          <a:p>
            <a:pPr algn="l" indent="0" marL="0">
              <a:lnSpc>
                <a:spcPts val="1050"/>
              </a:lnSpc>
              <a:buNone/>
            </a:pPr>
            <a:r>
              <a:rPr lang="en-US" sz="700" b="1" spc="200" kern="0" dirty="0">
                <a:solidFill>
                  <a:srgbClr val="D3AE84"/>
                </a:solidFill>
                <a:latin typeface="+mn-lt" pitchFamily="34" charset="0"/>
              </a:rPr>
              <a:t>WILL ASK</a:t>
            </a:r>
            <a:endParaRPr lang="en-US" sz="700" dirty="0"/>
          </a:p>
        </p:txBody>
      </p:sp>
      <p:sp>
        <p:nvSpPr>
          <p:cNvPr id="83" name="Shape e90"/>
          <p:cNvSpPr/>
          <p:nvPr/>
        </p:nvSpPr>
        <p:spPr>
          <a:xfrm>
            <a:off x="1885950" y="6438930"/>
            <a:ext cx="9510" cy="381030"/>
          </a:xfrm>
          <a:prstGeom prst="ellipse">
            <a:avLst/>
          </a:prstGeom>
          <a:solidFill>
            <a:srgbClr val="FFFFFF">
              <a:alpha val="20000"/>
            </a:srgbClr>
          </a:solidFill>
          <a:ln/>
        </p:spPr>
        <p:txBody>
          <a:bodyPr/>
          <a:p/>
        </p:txBody>
      </p:sp>
      <p:sp>
        <p:nvSpPr>
          <p:cNvPr id="84" name="Text e91"/>
          <p:cNvSpPr txBox="1"/>
          <p:nvPr/>
        </p:nvSpPr>
        <p:spPr>
          <a:xfrm>
            <a:off x="2086021" y="6443685"/>
            <a:ext cx="7343821" cy="361920"/>
          </a:xfrm>
          <a:prstGeom prst="rect">
            <a:avLst/>
          </a:prstGeom>
          <a:noFill/>
          <a:ln/>
        </p:spPr>
        <p:txBody>
          <a:bodyPr wrap="square" lIns="0" tIns="0" rIns="0" bIns="0" rtlCol="0" anchor="t"/>
          <a:lstStyle/>
          <a:p>
            <a:pPr algn="l" indent="0" marL="0">
              <a:lnSpc>
                <a:spcPts val="1450"/>
              </a:lnSpc>
              <a:buNone/>
            </a:pPr>
            <a:r>
              <a:rPr lang="en-US" sz="1000" dirty="0">
                <a:solidFill>
                  <a:srgbClr val="FFFFFF"/>
                </a:solidFill>
                <a:latin typeface="+mj-lt" pitchFamily="34" charset="0"/>
              </a:rPr>
              <a:t>An owner in this field should expect to be asked what share of revenue comes from inspection, monitoring and service agreements, whether the licenses are held by the company or by the owner personally, and how long the technicians have been with the business.</a:t>
            </a:r>
            <a:endParaRPr lang="en-US" sz="1000" dirty="0"/>
          </a:p>
        </p:txBody>
      </p:sp>
      <p:sp>
        <p:nvSpPr>
          <p:cNvPr id="85" name="Shape e92"/>
          <p:cNvSpPr/>
          <p:nvPr/>
        </p:nvSpPr>
        <p:spPr>
          <a:xfrm>
            <a:off x="419070" y="7029450"/>
            <a:ext cx="9220170" cy="9510"/>
          </a:xfrm>
          <a:prstGeom prst="ellipse">
            <a:avLst/>
          </a:prstGeom>
          <a:solidFill>
            <a:srgbClr val="E3DCD3"/>
          </a:solidFill>
          <a:ln/>
        </p:spPr>
        <p:txBody>
          <a:bodyPr/>
          <a:p/>
        </p:txBody>
      </p:sp>
      <p:pic>
        <p:nvPicPr>
          <p:cNvPr id="86" name="Picture e93" descr="Benchmark International">    </p:cNvPr>
          <p:cNvPicPr>
            <a:picLocks noChangeAspect="1"/>
          </p:cNvPicPr>
          <p:nvPr/>
        </p:nvPicPr>
        <p:blipFill>
          <a:blip r:embed="rId14"/>
          <a:stretch>
            <a:fillRect/>
          </a:stretch>
        </p:blipFill>
        <p:spPr>
          <a:xfrm>
            <a:off x="419070" y="7143750"/>
            <a:ext cx="914400" cy="171450"/>
          </a:xfrm>
          <a:prstGeom prst="rect">
            <a:avLst/>
          </a:prstGeom>
        </p:spPr>
      </p:pic>
      <p:sp>
        <p:nvSpPr>
          <p:cNvPr id="87" name="Text e94"/>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Listed multiples were retrieved on October 7, 2026, and use reported EBITDA. Rollins is a pest control company and is included as a route-based comparison. Company names are the property of their owners.</a:t>
            </a:r>
            <a:endParaRPr lang="en-US" sz="700" dirty="0"/>
          </a:p>
        </p:txBody>
      </p:sp>
      <p:sp>
        <p:nvSpPr>
          <p:cNvPr id="88" name="Text e95"/>
          <p:cNvSpPr txBox="1"/>
          <p:nvPr/>
        </p:nvSpPr>
        <p:spPr>
          <a:xfrm>
            <a:off x="9495495" y="7162770"/>
            <a:ext cx="142921"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06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A1A"/>
        </a:solidFill>
      </p:bgPr>
    </p:bg>
    <p:spTree>
      <p:nvGrpSpPr>
        <p:cNvPr id="1" name=""/>
        <p:cNvGrpSpPr/>
        <p:nvPr/>
      </p:nvGrpSpPr>
      <p:grpSpPr>
        <a:xfrm>
          <a:off x="0" y="0"/>
          <a:ext cx="0" cy="0"/>
          <a:chOff x="0" y="0"/>
          <a:chExt cx="0" cy="0"/>
        </a:xfrm>
      </p:grpSpPr>
      <p:pic>
        <p:nvPicPr>
          <p:cNvPr id="2" name="Picture e1">    </p:cNvPr>
          <p:cNvPicPr>
            <a:picLocks noChangeAspect="1"/>
          </p:cNvPicPr>
          <p:nvPr/>
        </p:nvPicPr>
        <p:blipFill>
          <a:blip r:embed="rId1"/>
          <a:stretch>
            <a:fillRect/>
          </a:stretch>
        </p:blipFill>
        <p:spPr>
          <a:xfrm>
            <a:off x="0" y="0"/>
            <a:ext cx="10058400" cy="7772400"/>
          </a:xfrm>
          <a:prstGeom prst="rect">
            <a:avLst/>
          </a:prstGeom>
        </p:spPr>
      </p:pic>
      <p:pic>
        <p:nvPicPr>
          <p:cNvPr id="3" name="Picture e3" descr="Hands signing a document at a desk">    </p:cNvPr>
          <p:cNvPicPr>
            <a:picLocks noChangeAspect="1"/>
          </p:cNvPicPr>
          <p:nvPr/>
        </p:nvPicPr>
        <p:blipFill>
          <a:blip r:embed="rId2"/>
          <a:stretch>
            <a:fillRect/>
          </a:stretch>
        </p:blipFill>
        <p:spPr>
          <a:xfrm>
            <a:off x="4572000" y="0"/>
            <a:ext cx="5486400" cy="7772400"/>
          </a:xfrm>
          <a:prstGeom prst="rect">
            <a:avLst/>
          </a:prstGeom>
        </p:spPr>
      </p:pic>
      <p:sp>
        <p:nvSpPr>
          <p:cNvPr id="4" name="Line"/>
          <p:cNvSpPr/>
          <p:nvPr/>
        </p:nvSpPr>
        <p:spPr>
          <a:xfrm flipH="1">
            <a:off x="4562490" y="0"/>
            <a:ext cx="1314450" cy="7772400"/>
          </a:xfrm>
          <a:prstGeom prst="line">
            <a:avLst/>
          </a:prstGeom>
          <a:noFill/>
          <a:ln w="38100">
            <a:solidFill>
              <a:srgbClr val="B68757"/>
            </a:solidFill>
            <a:prstDash val="solid"/>
          </a:ln>
        </p:spPr>
        <p:txBody>
          <a:bodyPr/>
          <a:p/>
        </p:txBody>
      </p:sp>
      <p:sp>
        <p:nvSpPr>
          <p:cNvPr id="5" name="Text e7"/>
          <p:cNvSpPr txBox="1"/>
          <p:nvPr/>
        </p:nvSpPr>
        <p:spPr>
          <a:xfrm>
            <a:off x="609630" y="1676370"/>
            <a:ext cx="1418143" cy="1143000"/>
          </a:xfrm>
          <a:prstGeom prst="rect">
            <a:avLst/>
          </a:prstGeom>
          <a:noFill/>
          <a:ln/>
        </p:spPr>
        <p:txBody>
          <a:bodyPr wrap="none" lIns="0" tIns="0" rIns="0" bIns="0" rtlCol="0" anchor="t"/>
          <a:lstStyle/>
          <a:p>
            <a:pPr algn="l" indent="0" marL="0">
              <a:lnSpc>
                <a:spcPts val="9000"/>
              </a:lnSpc>
              <a:buNone/>
            </a:pPr>
            <a:r>
              <a:rPr lang="en-US" sz="9000" spc="300" kern="0" dirty="0">
                <a:solidFill>
                  <a:srgbClr val="D3AE84"/>
                </a:solidFill>
                <a:latin typeface="+mj-lt" pitchFamily="34" charset="0"/>
              </a:rPr>
              <a:t>02</a:t>
            </a:r>
            <a:endParaRPr lang="en-US" sz="9000" dirty="0"/>
          </a:p>
        </p:txBody>
      </p:sp>
      <p:sp>
        <p:nvSpPr>
          <p:cNvPr id="6" name="Text e8"/>
          <p:cNvSpPr txBox="1"/>
          <p:nvPr/>
        </p:nvSpPr>
        <p:spPr>
          <a:xfrm>
            <a:off x="609630" y="2895630"/>
            <a:ext cx="3509193" cy="590520"/>
          </a:xfrm>
          <a:prstGeom prst="rect">
            <a:avLst/>
          </a:prstGeom>
          <a:noFill/>
          <a:ln/>
        </p:spPr>
        <p:txBody>
          <a:bodyPr wrap="none" lIns="0" tIns="0" rIns="0" bIns="0" rtlCol="0" anchor="t"/>
          <a:lstStyle/>
          <a:p>
            <a:pPr algn="l" indent="0" marL="0">
              <a:lnSpc>
                <a:spcPts val="4650"/>
              </a:lnSpc>
              <a:buNone/>
            </a:pPr>
            <a:r>
              <a:rPr lang="en-US" sz="4050" b="1" dirty="0">
                <a:solidFill>
                  <a:srgbClr val="FFFFFF"/>
                </a:solidFill>
                <a:latin typeface="+mj-lt" pitchFamily="34" charset="0"/>
              </a:rPr>
              <a:t>Industry Activity</a:t>
            </a:r>
            <a:endParaRPr lang="en-US" sz="4050" dirty="0"/>
          </a:p>
        </p:txBody>
      </p:sp>
      <p:sp>
        <p:nvSpPr>
          <p:cNvPr id="7" name="Shape e9"/>
          <p:cNvSpPr/>
          <p:nvPr/>
        </p:nvSpPr>
        <p:spPr>
          <a:xfrm>
            <a:off x="609630" y="3714750"/>
            <a:ext cx="914400" cy="19020"/>
          </a:xfrm>
          <a:prstGeom prst="rect">
            <a:avLst/>
          </a:prstGeom>
          <a:solidFill>
            <a:srgbClr val="B68757"/>
          </a:solidFill>
          <a:ln/>
        </p:spPr>
        <p:txBody>
          <a:bodyPr/>
          <a:p/>
        </p:txBody>
      </p:sp>
      <p:sp>
        <p:nvSpPr>
          <p:cNvPr id="8" name="Shape e11s0"/>
          <p:cNvSpPr/>
          <p:nvPr/>
        </p:nvSpPr>
        <p:spPr>
          <a:xfrm>
            <a:off x="609630" y="3924330"/>
            <a:ext cx="3333720" cy="9510"/>
          </a:xfrm>
          <a:prstGeom prst="rect">
            <a:avLst/>
          </a:prstGeom>
          <a:solidFill>
            <a:srgbClr val="FFFFFF">
              <a:alpha val="16000"/>
            </a:srgbClr>
          </a:solidFill>
          <a:ln/>
        </p:spPr>
        <p:txBody>
          <a:bodyPr/>
          <a:p/>
        </p:txBody>
      </p:sp>
      <p:sp>
        <p:nvSpPr>
          <p:cNvPr id="9" name="Shape e12"/>
          <p:cNvSpPr/>
          <p:nvPr/>
        </p:nvSpPr>
        <p:spPr>
          <a:xfrm>
            <a:off x="609630" y="4067160"/>
            <a:ext cx="57150" cy="57150"/>
          </a:xfrm>
          <a:prstGeom prst="rect">
            <a:avLst/>
          </a:prstGeom>
          <a:solidFill>
            <a:srgbClr val="B68757"/>
          </a:solidFill>
          <a:ln/>
        </p:spPr>
        <p:txBody>
          <a:bodyPr/>
          <a:p/>
        </p:txBody>
      </p:sp>
      <p:sp>
        <p:nvSpPr>
          <p:cNvPr id="10" name="Text e13"/>
          <p:cNvSpPr txBox="1"/>
          <p:nvPr/>
        </p:nvSpPr>
        <p:spPr>
          <a:xfrm>
            <a:off x="781080" y="4005255"/>
            <a:ext cx="902604"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Client spotlight</a:t>
            </a:r>
            <a:endParaRPr lang="en-US" sz="950" dirty="0"/>
          </a:p>
        </p:txBody>
      </p:sp>
      <p:sp>
        <p:nvSpPr>
          <p:cNvPr id="11" name="Shape e14s0"/>
          <p:cNvSpPr/>
          <p:nvPr/>
        </p:nvSpPr>
        <p:spPr>
          <a:xfrm>
            <a:off x="609630" y="4267230"/>
            <a:ext cx="3333720" cy="9510"/>
          </a:xfrm>
          <a:prstGeom prst="rect">
            <a:avLst/>
          </a:prstGeom>
          <a:solidFill>
            <a:srgbClr val="FFFFFF">
              <a:alpha val="16000"/>
            </a:srgbClr>
          </a:solidFill>
          <a:ln/>
        </p:spPr>
        <p:txBody>
          <a:bodyPr/>
          <a:p/>
        </p:txBody>
      </p:sp>
      <p:sp>
        <p:nvSpPr>
          <p:cNvPr id="12" name="Shape e15"/>
          <p:cNvSpPr/>
          <p:nvPr/>
        </p:nvSpPr>
        <p:spPr>
          <a:xfrm>
            <a:off x="609630" y="4410060"/>
            <a:ext cx="57150" cy="57150"/>
          </a:xfrm>
          <a:prstGeom prst="rect">
            <a:avLst/>
          </a:prstGeom>
          <a:solidFill>
            <a:srgbClr val="B68757"/>
          </a:solidFill>
          <a:ln/>
        </p:spPr>
        <p:txBody>
          <a:bodyPr/>
          <a:p/>
        </p:txBody>
      </p:sp>
      <p:sp>
        <p:nvSpPr>
          <p:cNvPr id="13" name="Text e16"/>
          <p:cNvSpPr txBox="1"/>
          <p:nvPr/>
        </p:nvSpPr>
        <p:spPr>
          <a:xfrm>
            <a:off x="781080" y="4348155"/>
            <a:ext cx="1825417"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Select recent M&amp;A transactions</a:t>
            </a:r>
            <a:endParaRPr lang="en-US" sz="950" dirty="0"/>
          </a:p>
        </p:txBody>
      </p:sp>
      <p:sp>
        <p:nvSpPr>
          <p:cNvPr id="14" name="Shape e17s0"/>
          <p:cNvSpPr/>
          <p:nvPr/>
        </p:nvSpPr>
        <p:spPr>
          <a:xfrm>
            <a:off x="609630" y="4610130"/>
            <a:ext cx="3333720" cy="9510"/>
          </a:xfrm>
          <a:prstGeom prst="rect">
            <a:avLst/>
          </a:prstGeom>
          <a:solidFill>
            <a:srgbClr val="FFFFFF">
              <a:alpha val="16000"/>
            </a:srgbClr>
          </a:solidFill>
          <a:ln/>
        </p:spPr>
        <p:txBody>
          <a:bodyPr/>
          <a:p/>
        </p:txBody>
      </p:sp>
      <p:sp>
        <p:nvSpPr>
          <p:cNvPr id="15" name="Shape e18"/>
          <p:cNvSpPr/>
          <p:nvPr/>
        </p:nvSpPr>
        <p:spPr>
          <a:xfrm>
            <a:off x="609630" y="4752960"/>
            <a:ext cx="57150" cy="57150"/>
          </a:xfrm>
          <a:prstGeom prst="rect">
            <a:avLst/>
          </a:prstGeom>
          <a:solidFill>
            <a:srgbClr val="B68757"/>
          </a:solidFill>
          <a:ln/>
        </p:spPr>
        <p:txBody>
          <a:bodyPr/>
          <a:p/>
        </p:txBody>
      </p:sp>
      <p:sp>
        <p:nvSpPr>
          <p:cNvPr id="16" name="Text e19"/>
          <p:cNvSpPr txBox="1"/>
          <p:nvPr/>
        </p:nvSpPr>
        <p:spPr>
          <a:xfrm>
            <a:off x="781080" y="4691055"/>
            <a:ext cx="2201144"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Benchmark International transactions</a:t>
            </a:r>
            <a:endParaRPr lang="en-US" sz="950" dirty="0"/>
          </a:p>
        </p:txBody>
      </p:sp>
      <p:sp>
        <p:nvSpPr>
          <p:cNvPr id="17" name="Shape e20s0"/>
          <p:cNvSpPr/>
          <p:nvPr/>
        </p:nvSpPr>
        <p:spPr>
          <a:xfrm>
            <a:off x="609630" y="4953030"/>
            <a:ext cx="3333720" cy="9510"/>
          </a:xfrm>
          <a:prstGeom prst="rect">
            <a:avLst/>
          </a:prstGeom>
          <a:solidFill>
            <a:srgbClr val="FFFFFF">
              <a:alpha val="16000"/>
            </a:srgbClr>
          </a:solidFill>
          <a:ln/>
        </p:spPr>
        <p:txBody>
          <a:bodyPr/>
          <a:p/>
        </p:txBody>
      </p:sp>
      <p:sp>
        <p:nvSpPr>
          <p:cNvPr id="18" name="Shape e21"/>
          <p:cNvSpPr/>
          <p:nvPr/>
        </p:nvSpPr>
        <p:spPr>
          <a:xfrm>
            <a:off x="609630" y="5095860"/>
            <a:ext cx="57150" cy="57150"/>
          </a:xfrm>
          <a:prstGeom prst="rect">
            <a:avLst/>
          </a:prstGeom>
          <a:solidFill>
            <a:srgbClr val="B68757"/>
          </a:solidFill>
          <a:ln/>
        </p:spPr>
        <p:txBody>
          <a:bodyPr/>
          <a:p/>
        </p:txBody>
      </p:sp>
      <p:sp>
        <p:nvSpPr>
          <p:cNvPr id="19" name="Text e22"/>
          <p:cNvSpPr txBox="1"/>
          <p:nvPr/>
        </p:nvSpPr>
        <p:spPr>
          <a:xfrm>
            <a:off x="781080" y="5033955"/>
            <a:ext cx="2927269"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Public companies: valuation and operating metrics</a:t>
            </a:r>
            <a:endParaRPr lang="en-US" sz="950" dirty="0"/>
          </a:p>
        </p:txBody>
      </p:sp>
      <p:sp>
        <p:nvSpPr>
          <p:cNvPr id="20" name="Shape e23s0"/>
          <p:cNvSpPr/>
          <p:nvPr/>
        </p:nvSpPr>
        <p:spPr>
          <a:xfrm>
            <a:off x="609630" y="5295930"/>
            <a:ext cx="3333720" cy="9510"/>
          </a:xfrm>
          <a:prstGeom prst="rect">
            <a:avLst/>
          </a:prstGeom>
          <a:solidFill>
            <a:srgbClr val="FFFFFF">
              <a:alpha val="16000"/>
            </a:srgbClr>
          </a:solidFill>
          <a:ln/>
        </p:spPr>
        <p:txBody>
          <a:bodyPr/>
          <a:p/>
        </p:txBody>
      </p:sp>
      <p:sp>
        <p:nvSpPr>
          <p:cNvPr id="21" name="Shape e24"/>
          <p:cNvSpPr/>
          <p:nvPr/>
        </p:nvSpPr>
        <p:spPr>
          <a:xfrm>
            <a:off x="609630" y="5438760"/>
            <a:ext cx="57150" cy="57150"/>
          </a:xfrm>
          <a:prstGeom prst="rect">
            <a:avLst/>
          </a:prstGeom>
          <a:solidFill>
            <a:srgbClr val="B68757"/>
          </a:solidFill>
          <a:ln/>
        </p:spPr>
        <p:txBody>
          <a:bodyPr/>
          <a:p/>
        </p:txBody>
      </p:sp>
      <p:sp>
        <p:nvSpPr>
          <p:cNvPr id="22" name="Text e25"/>
          <p:cNvSpPr txBox="1"/>
          <p:nvPr/>
        </p:nvSpPr>
        <p:spPr>
          <a:xfrm>
            <a:off x="781080" y="5376855"/>
            <a:ext cx="1569659"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Earnings and commentary</a:t>
            </a:r>
            <a:endParaRPr lang="en-US" sz="950" dirty="0"/>
          </a:p>
        </p:txBody>
      </p:sp>
      <p:sp>
        <p:nvSpPr>
          <p:cNvPr id="23" name="Shape e26s0"/>
          <p:cNvSpPr/>
          <p:nvPr/>
        </p:nvSpPr>
        <p:spPr>
          <a:xfrm>
            <a:off x="609630" y="5638830"/>
            <a:ext cx="3333720" cy="9510"/>
          </a:xfrm>
          <a:prstGeom prst="rect">
            <a:avLst/>
          </a:prstGeom>
          <a:solidFill>
            <a:srgbClr val="FFFFFF">
              <a:alpha val="16000"/>
            </a:srgbClr>
          </a:solidFill>
          <a:ln/>
        </p:spPr>
        <p:txBody>
          <a:bodyPr/>
          <a:p/>
        </p:txBody>
      </p:sp>
      <p:sp>
        <p:nvSpPr>
          <p:cNvPr id="24" name="Shape e27"/>
          <p:cNvSpPr/>
          <p:nvPr/>
        </p:nvSpPr>
        <p:spPr>
          <a:xfrm>
            <a:off x="609630" y="5781660"/>
            <a:ext cx="57150" cy="57150"/>
          </a:xfrm>
          <a:prstGeom prst="rect">
            <a:avLst/>
          </a:prstGeom>
          <a:solidFill>
            <a:srgbClr val="B68757"/>
          </a:solidFill>
          <a:ln/>
        </p:spPr>
        <p:txBody>
          <a:bodyPr/>
          <a:p/>
        </p:txBody>
      </p:sp>
      <p:sp>
        <p:nvSpPr>
          <p:cNvPr id="25" name="Text e28"/>
          <p:cNvSpPr txBox="1"/>
          <p:nvPr/>
        </p:nvSpPr>
        <p:spPr>
          <a:xfrm>
            <a:off x="781080" y="5719755"/>
            <a:ext cx="1003097"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Economic trends</a:t>
            </a:r>
            <a:endParaRPr lang="en-US" sz="950" dirty="0"/>
          </a:p>
        </p:txBody>
      </p:sp>
      <p:sp>
        <p:nvSpPr>
          <p:cNvPr id="26" name="Shape e29s0"/>
          <p:cNvSpPr/>
          <p:nvPr/>
        </p:nvSpPr>
        <p:spPr>
          <a:xfrm>
            <a:off x="609630" y="5981730"/>
            <a:ext cx="3333720" cy="9510"/>
          </a:xfrm>
          <a:prstGeom prst="rect">
            <a:avLst/>
          </a:prstGeom>
          <a:solidFill>
            <a:srgbClr val="FFFFFF">
              <a:alpha val="16000"/>
            </a:srgbClr>
          </a:solidFill>
          <a:ln/>
        </p:spPr>
        <p:txBody>
          <a:bodyPr/>
          <a:p/>
        </p:txBody>
      </p:sp>
      <p:sp>
        <p:nvSpPr>
          <p:cNvPr id="27" name="Shape e30"/>
          <p:cNvSpPr/>
          <p:nvPr/>
        </p:nvSpPr>
        <p:spPr>
          <a:xfrm>
            <a:off x="609630" y="6124560"/>
            <a:ext cx="57150" cy="57150"/>
          </a:xfrm>
          <a:prstGeom prst="rect">
            <a:avLst/>
          </a:prstGeom>
          <a:solidFill>
            <a:srgbClr val="B68757"/>
          </a:solidFill>
          <a:ln/>
        </p:spPr>
        <p:txBody>
          <a:bodyPr/>
          <a:p/>
        </p:txBody>
      </p:sp>
      <p:sp>
        <p:nvSpPr>
          <p:cNvPr id="28" name="Text e31"/>
          <p:cNvSpPr txBox="1"/>
          <p:nvPr/>
        </p:nvSpPr>
        <p:spPr>
          <a:xfrm>
            <a:off x="781080" y="6062655"/>
            <a:ext cx="1909450"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Select market participants</a:t>
            </a:r>
            <a:endParaRPr lang="en-US" sz="950" dirty="0"/>
          </a:p>
        </p:txBody>
      </p:sp>
      <p:sp>
        <p:nvSpPr>
          <p:cNvPr id="29" name="Shape e32s0"/>
          <p:cNvSpPr/>
          <p:nvPr/>
        </p:nvSpPr>
        <p:spPr>
          <a:xfrm>
            <a:off x="609630" y="6324630"/>
            <a:ext cx="3333720" cy="9510"/>
          </a:xfrm>
          <a:prstGeom prst="rect">
            <a:avLst/>
          </a:prstGeom>
          <a:solidFill>
            <a:srgbClr val="FFFFFF">
              <a:alpha val="16000"/>
            </a:srgbClr>
          </a:solidFill>
          <a:ln/>
        </p:spPr>
        <p:txBody>
          <a:bodyPr/>
          <a:p/>
        </p:txBody>
      </p:sp>
      <p:pic>
        <p:nvPicPr>
          <p:cNvPr id="30" name="Picture e33" descr="Benchmark International">    </p:cNvPr>
          <p:cNvPicPr>
            <a:picLocks noChangeAspect="1"/>
          </p:cNvPicPr>
          <p:nvPr/>
        </p:nvPicPr>
        <p:blipFill>
          <a:blip r:embed="rId3"/>
          <a:stretch>
            <a:fillRect/>
          </a:stretch>
        </p:blipFill>
        <p:spPr>
          <a:xfrm>
            <a:off x="609630" y="7086600"/>
            <a:ext cx="1428750" cy="266730"/>
          </a:xfrm>
          <a:prstGeom prst="rect">
            <a:avLst/>
          </a:prstGeom>
        </p:spPr>
      </p:pic>
      <p:sp>
        <p:nvSpPr>
          <p:cNvPr id="31" name="Text e34"/>
          <p:cNvSpPr txBox="1"/>
          <p:nvPr/>
        </p:nvSpPr>
        <p:spPr>
          <a:xfrm>
            <a:off x="2209830" y="7181880"/>
            <a:ext cx="2122780"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C3BDB6"/>
                </a:solidFill>
                <a:latin typeface="+mn-lt" pitchFamily="34" charset="0"/>
              </a:rPr>
              <a:t>BUSINESS SERVICES | Q4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5643402"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Client Spotlight: Three Fire and Life Safety Sales</a:t>
            </a:r>
            <a:endParaRPr lang="en-US" sz="2050" dirty="0"/>
          </a:p>
        </p:txBody>
      </p:sp>
      <p:sp>
        <p:nvSpPr>
          <p:cNvPr id="6" name="Text e5"/>
          <p:cNvSpPr txBox="1"/>
          <p:nvPr/>
        </p:nvSpPr>
        <p:spPr>
          <a:xfrm>
            <a:off x="419070" y="883402"/>
            <a:ext cx="8118409"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Benchmark International advised the owners of three fire protection businesses that were bought by operating companies already in the field.</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10"/>
          <p:cNvSpPr/>
          <p:nvPr/>
        </p:nvSpPr>
        <p:spPr>
          <a:xfrm>
            <a:off x="419070" y="1238280"/>
            <a:ext cx="2971800" cy="3390870"/>
          </a:xfrm>
          <a:prstGeom prst="rect">
            <a:avLst/>
          </a:prstGeom>
          <a:solidFill>
            <a:srgbClr val="FAF7F3"/>
          </a:solidFill>
          <a:ln/>
        </p:spPr>
        <p:txBody>
          <a:bodyPr/>
          <a:p/>
        </p:txBody>
      </p:sp>
      <p:sp>
        <p:nvSpPr>
          <p:cNvPr id="9" name="Shape e10s0"/>
          <p:cNvSpPr/>
          <p:nvPr/>
        </p:nvSpPr>
        <p:spPr>
          <a:xfrm>
            <a:off x="419070" y="1238280"/>
            <a:ext cx="2971800" cy="28621"/>
          </a:xfrm>
          <a:prstGeom prst="rect">
            <a:avLst/>
          </a:prstGeom>
          <a:solidFill>
            <a:srgbClr val="B68757"/>
          </a:solidFill>
          <a:ln/>
        </p:spPr>
        <p:txBody>
          <a:bodyPr/>
          <a:p/>
        </p:txBody>
      </p:sp>
      <p:sp>
        <p:nvSpPr>
          <p:cNvPr id="10" name="Shape e12"/>
          <p:cNvSpPr/>
          <p:nvPr/>
        </p:nvSpPr>
        <p:spPr>
          <a:xfrm>
            <a:off x="571500" y="1400221"/>
            <a:ext cx="1038210" cy="438180"/>
          </a:xfrm>
          <a:prstGeom prst="rect">
            <a:avLst/>
          </a:prstGeom>
          <a:solidFill>
            <a:srgbClr val="FFFFFF"/>
          </a:solidFill>
          <a:ln w="12700">
            <a:solidFill>
              <a:srgbClr val="E3DCD3"/>
            </a:solidFill>
            <a:prstDash val="solid"/>
          </a:ln>
        </p:spPr>
        <p:txBody>
          <a:bodyPr/>
          <a:p/>
        </p:txBody>
      </p:sp>
      <p:pic>
        <p:nvPicPr>
          <p:cNvPr id="11" name="Picture e13" descr="FPS Technologies">    </p:cNvPr>
          <p:cNvPicPr>
            <a:picLocks noChangeAspect="1"/>
          </p:cNvPicPr>
          <p:nvPr/>
        </p:nvPicPr>
        <p:blipFill>
          <a:blip r:embed="rId1"/>
          <a:stretch>
            <a:fillRect/>
          </a:stretch>
        </p:blipFill>
        <p:spPr>
          <a:xfrm>
            <a:off x="746242" y="1457371"/>
            <a:ext cx="688818" cy="323698"/>
          </a:xfrm>
          <a:prstGeom prst="rect">
            <a:avLst/>
          </a:prstGeom>
        </p:spPr>
      </p:pic>
      <p:sp>
        <p:nvSpPr>
          <p:cNvPr id="12" name="Text e14"/>
          <p:cNvSpPr txBox="1"/>
          <p:nvPr/>
        </p:nvSpPr>
        <p:spPr>
          <a:xfrm>
            <a:off x="1685971" y="1533540"/>
            <a:ext cx="438180" cy="171450"/>
          </a:xfrm>
          <a:prstGeom prst="rect">
            <a:avLst/>
          </a:prstGeom>
          <a:noFill/>
          <a:ln/>
        </p:spPr>
        <p:txBody>
          <a:bodyPr wrap="square" lIns="0" tIns="0" rIns="0" bIns="0" rtlCol="0" anchor="t"/>
          <a:lstStyle/>
          <a:p>
            <a:pPr algn="ctr" indent="0" marL="0">
              <a:lnSpc>
                <a:spcPts val="700"/>
              </a:lnSpc>
              <a:buNone/>
            </a:pPr>
            <a:r>
              <a:rPr lang="en-US" sz="550" b="1" spc="100" kern="0" dirty="0">
                <a:solidFill>
                  <a:srgbClr val="6F6A66"/>
                </a:solidFill>
                <a:latin typeface="+mn-lt" pitchFamily="34" charset="0"/>
              </a:rPr>
              <a:t>ACQUIRED</a:t>
            </a:r>
            <a:endParaRPr lang="en-US" sz="550" dirty="0"/>
          </a:p>
          <a:p>
            <a:pPr algn="ctr" indent="0" marL="0">
              <a:lnSpc>
                <a:spcPts val="700"/>
              </a:lnSpc>
              <a:buNone/>
            </a:pPr>
            <a:r>
              <a:rPr lang="en-US" sz="550" b="1" spc="100" kern="0" dirty="0">
                <a:solidFill>
                  <a:srgbClr val="6F6A66"/>
                </a:solidFill>
                <a:latin typeface="+mn-lt" pitchFamily="34" charset="0"/>
              </a:rPr>
              <a:t>BY</a:t>
            </a:r>
            <a:endParaRPr lang="en-US" sz="550" dirty="0"/>
          </a:p>
        </p:txBody>
      </p:sp>
      <p:sp>
        <p:nvSpPr>
          <p:cNvPr id="13" name="Shape e15"/>
          <p:cNvSpPr/>
          <p:nvPr/>
        </p:nvSpPr>
        <p:spPr>
          <a:xfrm>
            <a:off x="2200321" y="1400221"/>
            <a:ext cx="1038210" cy="438180"/>
          </a:xfrm>
          <a:prstGeom prst="rect">
            <a:avLst/>
          </a:prstGeom>
          <a:solidFill>
            <a:srgbClr val="FFFFFF"/>
          </a:solidFill>
          <a:ln w="12700">
            <a:solidFill>
              <a:srgbClr val="E3DCD3"/>
            </a:solidFill>
            <a:prstDash val="solid"/>
          </a:ln>
        </p:spPr>
        <p:txBody>
          <a:bodyPr/>
          <a:p/>
        </p:txBody>
      </p:sp>
      <p:pic>
        <p:nvPicPr>
          <p:cNvPr id="14" name="Picture e16" descr="Cintas">    </p:cNvPr>
          <p:cNvPicPr>
            <a:picLocks noChangeAspect="1"/>
          </p:cNvPicPr>
          <p:nvPr/>
        </p:nvPicPr>
        <p:blipFill>
          <a:blip r:embed="rId2"/>
          <a:stretch>
            <a:fillRect/>
          </a:stretch>
        </p:blipFill>
        <p:spPr>
          <a:xfrm>
            <a:off x="2302185" y="1457371"/>
            <a:ext cx="834207" cy="323698"/>
          </a:xfrm>
          <a:prstGeom prst="rect">
            <a:avLst/>
          </a:prstGeom>
        </p:spPr>
      </p:pic>
      <p:sp>
        <p:nvSpPr>
          <p:cNvPr id="15" name="Text e17"/>
          <p:cNvSpPr txBox="1"/>
          <p:nvPr/>
        </p:nvSpPr>
        <p:spPr>
          <a:xfrm>
            <a:off x="571500" y="1933590"/>
            <a:ext cx="2020184" cy="190470"/>
          </a:xfrm>
          <a:prstGeom prst="rect">
            <a:avLst/>
          </a:prstGeom>
          <a:noFill/>
          <a:ln/>
        </p:spPr>
        <p:txBody>
          <a:bodyPr wrap="none" lIns="0" tIns="0" rIns="0" bIns="0" rtlCol="0" anchor="t"/>
          <a:lstStyle/>
          <a:p>
            <a:pPr algn="l" indent="0" marL="0">
              <a:lnSpc>
                <a:spcPts val="1500"/>
              </a:lnSpc>
              <a:buNone/>
            </a:pPr>
            <a:r>
              <a:rPr lang="en-US" sz="1200" b="1" dirty="0">
                <a:solidFill>
                  <a:srgbClr val="1B1A1A"/>
                </a:solidFill>
                <a:latin typeface="+mj-lt" pitchFamily="34" charset="0"/>
              </a:rPr>
              <a:t>FPS Technologies and Cintas</a:t>
            </a:r>
            <a:endParaRPr lang="en-US" sz="1200" dirty="0"/>
          </a:p>
        </p:txBody>
      </p:sp>
      <p:sp>
        <p:nvSpPr>
          <p:cNvPr id="16" name="Text e19"/>
          <p:cNvSpPr txBox="1"/>
          <p:nvPr/>
        </p:nvSpPr>
        <p:spPr>
          <a:xfrm>
            <a:off x="571500" y="2205076"/>
            <a:ext cx="1153881"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BUSINESS OVERVIEW</a:t>
            </a:r>
            <a:endParaRPr lang="en-US" sz="600" dirty="0"/>
          </a:p>
        </p:txBody>
      </p:sp>
      <p:sp>
        <p:nvSpPr>
          <p:cNvPr id="17" name="Text e20"/>
          <p:cNvSpPr txBox="1"/>
          <p:nvPr/>
        </p:nvSpPr>
        <p:spPr>
          <a:xfrm>
            <a:off x="571500" y="2347905"/>
            <a:ext cx="2667030" cy="428671"/>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FPS Technologies designs, installs and maintains fire protection and safety systems from Oklahoma City and provides emergency service around the clock.</a:t>
            </a:r>
            <a:endParaRPr lang="en-US" sz="800" dirty="0"/>
          </a:p>
        </p:txBody>
      </p:sp>
      <p:sp>
        <p:nvSpPr>
          <p:cNvPr id="18" name="Text e22"/>
          <p:cNvSpPr txBox="1"/>
          <p:nvPr/>
        </p:nvSpPr>
        <p:spPr>
          <a:xfrm>
            <a:off x="571500" y="2862255"/>
            <a:ext cx="640263"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THE BUYER</a:t>
            </a:r>
            <a:endParaRPr lang="en-US" sz="600" dirty="0"/>
          </a:p>
        </p:txBody>
      </p:sp>
      <p:sp>
        <p:nvSpPr>
          <p:cNvPr id="19" name="Text e23"/>
          <p:cNvSpPr txBox="1"/>
          <p:nvPr/>
        </p:nvSpPr>
        <p:spPr>
          <a:xfrm>
            <a:off x="571500" y="3005176"/>
            <a:ext cx="2667030" cy="428671"/>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Cintas is a listed company that serves more than one million business customers over approximately 12,500 local routes (</a:t>
            </a:r>
            <a:pPr algn="l" indent="0" marL="0">
              <a:lnSpc>
                <a:spcPts val="1150"/>
              </a:lnSpc>
              <a:buNone/>
            </a:pPr>
            <a:r>
              <a:rPr lang="en-US" sz="80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Cintas annual report</a:t>
            </a:r>
            <a:pPr algn="l" indent="0" marL="0">
              <a:lnSpc>
                <a:spcPts val="1150"/>
              </a:lnSpc>
              <a:buNone/>
            </a:pPr>
            <a:r>
              <a:rPr lang="en-US" sz="800" dirty="0">
                <a:solidFill>
                  <a:srgbClr val="333231"/>
                </a:solidFill>
                <a:latin typeface="+mn-lt" pitchFamily="34" charset="0"/>
              </a:rPr>
              <a:t>).</a:t>
            </a:r>
            <a:endParaRPr lang="en-US" sz="800" dirty="0"/>
          </a:p>
        </p:txBody>
      </p:sp>
      <p:sp>
        <p:nvSpPr>
          <p:cNvPr id="20" name="Text e25"/>
          <p:cNvSpPr txBox="1"/>
          <p:nvPr/>
        </p:nvSpPr>
        <p:spPr>
          <a:xfrm>
            <a:off x="571500" y="3519526"/>
            <a:ext cx="1367394"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WHAT THE BUYER ADDED</a:t>
            </a:r>
            <a:endParaRPr lang="en-US" sz="600" dirty="0"/>
          </a:p>
        </p:txBody>
      </p:sp>
      <p:sp>
        <p:nvSpPr>
          <p:cNvPr id="21" name="Text e26"/>
          <p:cNvSpPr txBox="1"/>
          <p:nvPr/>
        </p:nvSpPr>
        <p:spPr>
          <a:xfrm>
            <a:off x="571500" y="3662355"/>
            <a:ext cx="2667030" cy="28575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A regional book of recurring fire system inspection and maintenance work.</a:t>
            </a:r>
            <a:endParaRPr lang="en-US" sz="800" dirty="0"/>
          </a:p>
        </p:txBody>
      </p:sp>
      <p:sp>
        <p:nvSpPr>
          <p:cNvPr id="22" name="Text e27"/>
          <p:cNvSpPr txBox="1"/>
          <p:nvPr/>
        </p:nvSpPr>
        <p:spPr>
          <a:xfrm>
            <a:off x="571500" y="4376776"/>
            <a:ext cx="1188263" cy="133320"/>
          </a:xfrm>
          <a:prstGeom prst="rect">
            <a:avLst/>
          </a:prstGeom>
          <a:noFill/>
          <a:ln/>
        </p:spPr>
        <p:txBody>
          <a:bodyPr wrap="none" lIns="0" tIns="0" rIns="0" bIns="0" rtlCol="0" anchor="t"/>
          <a:lstStyle/>
          <a:p>
            <a:pPr algn="l" indent="0" marL="0">
              <a:lnSpc>
                <a:spcPts val="1050"/>
              </a:lnSpc>
              <a:buNone/>
            </a:pPr>
            <a:r>
              <a:rPr lang="en-US" sz="75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Read the announcement</a:t>
            </a:r>
            <a:endParaRPr lang="en-US" sz="750" dirty="0"/>
          </a:p>
        </p:txBody>
      </p:sp>
      <p:sp>
        <p:nvSpPr>
          <p:cNvPr id="23" name="Shape e28"/>
          <p:cNvSpPr/>
          <p:nvPr/>
        </p:nvSpPr>
        <p:spPr>
          <a:xfrm>
            <a:off x="3543300" y="1238280"/>
            <a:ext cx="2971800" cy="3390870"/>
          </a:xfrm>
          <a:prstGeom prst="rect">
            <a:avLst/>
          </a:prstGeom>
          <a:solidFill>
            <a:srgbClr val="FAF7F3"/>
          </a:solidFill>
          <a:ln/>
        </p:spPr>
        <p:txBody>
          <a:bodyPr/>
          <a:p/>
        </p:txBody>
      </p:sp>
      <p:sp>
        <p:nvSpPr>
          <p:cNvPr id="24" name="Shape e28s0"/>
          <p:cNvSpPr/>
          <p:nvPr/>
        </p:nvSpPr>
        <p:spPr>
          <a:xfrm>
            <a:off x="3543300" y="1238280"/>
            <a:ext cx="2971800" cy="28621"/>
          </a:xfrm>
          <a:prstGeom prst="rect">
            <a:avLst/>
          </a:prstGeom>
          <a:solidFill>
            <a:srgbClr val="B68757"/>
          </a:solidFill>
          <a:ln/>
        </p:spPr>
        <p:txBody>
          <a:bodyPr/>
          <a:p/>
        </p:txBody>
      </p:sp>
      <p:sp>
        <p:nvSpPr>
          <p:cNvPr id="25" name="Shape e30"/>
          <p:cNvSpPr/>
          <p:nvPr/>
        </p:nvSpPr>
        <p:spPr>
          <a:xfrm>
            <a:off x="3695730" y="1400221"/>
            <a:ext cx="1038210" cy="438180"/>
          </a:xfrm>
          <a:prstGeom prst="rect">
            <a:avLst/>
          </a:prstGeom>
          <a:solidFill>
            <a:srgbClr val="FFFFFF"/>
          </a:solidFill>
          <a:ln w="12700">
            <a:solidFill>
              <a:srgbClr val="E3DCD3"/>
            </a:solidFill>
            <a:prstDash val="solid"/>
          </a:ln>
        </p:spPr>
        <p:txBody>
          <a:bodyPr/>
          <a:p/>
        </p:txBody>
      </p:sp>
      <p:pic>
        <p:nvPicPr>
          <p:cNvPr id="26" name="Picture e31" descr="Fire Systems Technology">    </p:cNvPr>
          <p:cNvPicPr>
            <a:picLocks noChangeAspect="1"/>
          </p:cNvPicPr>
          <p:nvPr/>
        </p:nvPicPr>
        <p:blipFill>
          <a:blip r:embed="rId5"/>
          <a:stretch>
            <a:fillRect/>
          </a:stretch>
        </p:blipFill>
        <p:spPr>
          <a:xfrm>
            <a:off x="3906865" y="1457371"/>
            <a:ext cx="615848" cy="323698"/>
          </a:xfrm>
          <a:prstGeom prst="rect">
            <a:avLst/>
          </a:prstGeom>
        </p:spPr>
      </p:pic>
      <p:sp>
        <p:nvSpPr>
          <p:cNvPr id="27" name="Text e32"/>
          <p:cNvSpPr txBox="1"/>
          <p:nvPr/>
        </p:nvSpPr>
        <p:spPr>
          <a:xfrm>
            <a:off x="4810110" y="1533540"/>
            <a:ext cx="438180" cy="171450"/>
          </a:xfrm>
          <a:prstGeom prst="rect">
            <a:avLst/>
          </a:prstGeom>
          <a:noFill/>
          <a:ln/>
        </p:spPr>
        <p:txBody>
          <a:bodyPr wrap="square" lIns="0" tIns="0" rIns="0" bIns="0" rtlCol="0" anchor="t"/>
          <a:lstStyle/>
          <a:p>
            <a:pPr algn="ctr" indent="0" marL="0">
              <a:lnSpc>
                <a:spcPts val="700"/>
              </a:lnSpc>
              <a:buNone/>
            </a:pPr>
            <a:r>
              <a:rPr lang="en-US" sz="550" b="1" spc="100" kern="0" dirty="0">
                <a:solidFill>
                  <a:srgbClr val="6F6A66"/>
                </a:solidFill>
                <a:latin typeface="+mn-lt" pitchFamily="34" charset="0"/>
              </a:rPr>
              <a:t>ACQUIRED</a:t>
            </a:r>
            <a:endParaRPr lang="en-US" sz="550" dirty="0"/>
          </a:p>
          <a:p>
            <a:pPr algn="ctr" indent="0" marL="0">
              <a:lnSpc>
                <a:spcPts val="700"/>
              </a:lnSpc>
              <a:buNone/>
            </a:pPr>
            <a:r>
              <a:rPr lang="en-US" sz="550" b="1" spc="100" kern="0" dirty="0">
                <a:solidFill>
                  <a:srgbClr val="6F6A66"/>
                </a:solidFill>
                <a:latin typeface="+mn-lt" pitchFamily="34" charset="0"/>
              </a:rPr>
              <a:t>BY</a:t>
            </a:r>
            <a:endParaRPr lang="en-US" sz="550" dirty="0"/>
          </a:p>
        </p:txBody>
      </p:sp>
      <p:sp>
        <p:nvSpPr>
          <p:cNvPr id="28" name="Shape e33"/>
          <p:cNvSpPr/>
          <p:nvPr/>
        </p:nvSpPr>
        <p:spPr>
          <a:xfrm>
            <a:off x="5324460" y="1400221"/>
            <a:ext cx="1038210" cy="438180"/>
          </a:xfrm>
          <a:prstGeom prst="rect">
            <a:avLst/>
          </a:prstGeom>
          <a:solidFill>
            <a:srgbClr val="FFFFFF"/>
          </a:solidFill>
          <a:ln w="12700">
            <a:solidFill>
              <a:srgbClr val="E3DCD3"/>
            </a:solidFill>
            <a:prstDash val="solid"/>
          </a:ln>
        </p:spPr>
        <p:txBody>
          <a:bodyPr/>
          <a:p/>
        </p:txBody>
      </p:sp>
      <p:pic>
        <p:nvPicPr>
          <p:cNvPr id="29" name="Picture e34" descr="AI Fire">    </p:cNvPr>
          <p:cNvPicPr>
            <a:picLocks noChangeAspect="1"/>
          </p:cNvPicPr>
          <p:nvPr/>
        </p:nvPicPr>
        <p:blipFill>
          <a:blip r:embed="rId6"/>
          <a:stretch>
            <a:fillRect/>
          </a:stretch>
        </p:blipFill>
        <p:spPr>
          <a:xfrm>
            <a:off x="5410230" y="1494404"/>
            <a:ext cx="866760" cy="249540"/>
          </a:xfrm>
          <a:prstGeom prst="rect">
            <a:avLst/>
          </a:prstGeom>
        </p:spPr>
      </p:pic>
      <p:sp>
        <p:nvSpPr>
          <p:cNvPr id="30" name="Text e35"/>
          <p:cNvSpPr txBox="1"/>
          <p:nvPr/>
        </p:nvSpPr>
        <p:spPr>
          <a:xfrm>
            <a:off x="3695730" y="1933590"/>
            <a:ext cx="2534351" cy="190470"/>
          </a:xfrm>
          <a:prstGeom prst="rect">
            <a:avLst/>
          </a:prstGeom>
          <a:noFill/>
          <a:ln/>
        </p:spPr>
        <p:txBody>
          <a:bodyPr wrap="none" lIns="0" tIns="0" rIns="0" bIns="0" rtlCol="0" anchor="t"/>
          <a:lstStyle/>
          <a:p>
            <a:pPr algn="l" indent="0" marL="0">
              <a:lnSpc>
                <a:spcPts val="1500"/>
              </a:lnSpc>
              <a:buNone/>
            </a:pPr>
            <a:r>
              <a:rPr lang="en-US" sz="1200" b="1" dirty="0">
                <a:solidFill>
                  <a:srgbClr val="1B1A1A"/>
                </a:solidFill>
                <a:latin typeface="+mj-lt" pitchFamily="34" charset="0"/>
              </a:rPr>
              <a:t>Fire Systems Technology and AI Fire</a:t>
            </a:r>
            <a:endParaRPr lang="en-US" sz="1200" dirty="0"/>
          </a:p>
        </p:txBody>
      </p:sp>
      <p:sp>
        <p:nvSpPr>
          <p:cNvPr id="31" name="Text e37"/>
          <p:cNvSpPr txBox="1"/>
          <p:nvPr/>
        </p:nvSpPr>
        <p:spPr>
          <a:xfrm>
            <a:off x="3695730" y="2205076"/>
            <a:ext cx="1153881"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BUSINESS OVERVIEW</a:t>
            </a:r>
            <a:endParaRPr lang="en-US" sz="600" dirty="0"/>
          </a:p>
        </p:txBody>
      </p:sp>
      <p:sp>
        <p:nvSpPr>
          <p:cNvPr id="32" name="Text e38"/>
          <p:cNvSpPr txBox="1"/>
          <p:nvPr/>
        </p:nvSpPr>
        <p:spPr>
          <a:xfrm>
            <a:off x="3695730" y="2347905"/>
            <a:ext cx="2667030" cy="428671"/>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Fire Systems Technology is a full-service fire sprinkler contractor in Arkansas that installs, inspects, maintains and renovates systems.</a:t>
            </a:r>
            <a:endParaRPr lang="en-US" sz="800" dirty="0"/>
          </a:p>
        </p:txBody>
      </p:sp>
      <p:sp>
        <p:nvSpPr>
          <p:cNvPr id="33" name="Text e40"/>
          <p:cNvSpPr txBox="1"/>
          <p:nvPr/>
        </p:nvSpPr>
        <p:spPr>
          <a:xfrm>
            <a:off x="3695730" y="2862255"/>
            <a:ext cx="640263"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THE BUYER</a:t>
            </a:r>
            <a:endParaRPr lang="en-US" sz="600" dirty="0"/>
          </a:p>
        </p:txBody>
      </p:sp>
      <p:sp>
        <p:nvSpPr>
          <p:cNvPr id="34" name="Text e41"/>
          <p:cNvSpPr txBox="1"/>
          <p:nvPr/>
        </p:nvSpPr>
        <p:spPr>
          <a:xfrm>
            <a:off x="3695730" y="3005176"/>
            <a:ext cx="2667030" cy="428671"/>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AI Fire is a fire and life safety platform backed by private equity that has been adding regional contractors.</a:t>
            </a:r>
            <a:endParaRPr lang="en-US" sz="800" dirty="0"/>
          </a:p>
        </p:txBody>
      </p:sp>
      <p:sp>
        <p:nvSpPr>
          <p:cNvPr id="35" name="Text e43"/>
          <p:cNvSpPr txBox="1"/>
          <p:nvPr/>
        </p:nvSpPr>
        <p:spPr>
          <a:xfrm>
            <a:off x="3695730" y="3519526"/>
            <a:ext cx="1367394"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WHAT THE BUYER ADDED</a:t>
            </a:r>
            <a:endParaRPr lang="en-US" sz="600" dirty="0"/>
          </a:p>
        </p:txBody>
      </p:sp>
      <p:sp>
        <p:nvSpPr>
          <p:cNvPr id="36" name="Text e44"/>
          <p:cNvSpPr txBox="1"/>
          <p:nvPr/>
        </p:nvSpPr>
        <p:spPr>
          <a:xfrm>
            <a:off x="3695730" y="3662355"/>
            <a:ext cx="2667030" cy="28575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Sprinkler installation and inspection capacity in Arkansas.</a:t>
            </a:r>
            <a:endParaRPr lang="en-US" sz="800" dirty="0"/>
          </a:p>
        </p:txBody>
      </p:sp>
      <p:sp>
        <p:nvSpPr>
          <p:cNvPr id="37" name="Text e45"/>
          <p:cNvSpPr txBox="1"/>
          <p:nvPr/>
        </p:nvSpPr>
        <p:spPr>
          <a:xfrm>
            <a:off x="3695730" y="4376776"/>
            <a:ext cx="1188263" cy="133320"/>
          </a:xfrm>
          <a:prstGeom prst="rect">
            <a:avLst/>
          </a:prstGeom>
          <a:noFill/>
          <a:ln/>
        </p:spPr>
        <p:txBody>
          <a:bodyPr wrap="none" lIns="0" tIns="0" rIns="0" bIns="0" rtlCol="0" anchor="t"/>
          <a:lstStyle/>
          <a:p>
            <a:pPr algn="l" indent="0" marL="0">
              <a:lnSpc>
                <a:spcPts val="1050"/>
              </a:lnSpc>
              <a:buNone/>
            </a:pPr>
            <a:r>
              <a:rPr lang="en-US" sz="750" u="sng" dirty="0">
                <a:solidFill>
                  <a:srgbClr val="8C6239"/>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Read the announcement</a:t>
            </a:r>
            <a:endParaRPr lang="en-US" sz="750" dirty="0"/>
          </a:p>
        </p:txBody>
      </p:sp>
      <p:sp>
        <p:nvSpPr>
          <p:cNvPr id="38" name="Shape e46"/>
          <p:cNvSpPr/>
          <p:nvPr/>
        </p:nvSpPr>
        <p:spPr>
          <a:xfrm>
            <a:off x="6667530" y="1238280"/>
            <a:ext cx="2971800" cy="3390870"/>
          </a:xfrm>
          <a:prstGeom prst="rect">
            <a:avLst/>
          </a:prstGeom>
          <a:solidFill>
            <a:srgbClr val="FAF7F3"/>
          </a:solidFill>
          <a:ln/>
        </p:spPr>
        <p:txBody>
          <a:bodyPr/>
          <a:p/>
        </p:txBody>
      </p:sp>
      <p:sp>
        <p:nvSpPr>
          <p:cNvPr id="39" name="Shape e46s0"/>
          <p:cNvSpPr/>
          <p:nvPr/>
        </p:nvSpPr>
        <p:spPr>
          <a:xfrm>
            <a:off x="6667530" y="1238280"/>
            <a:ext cx="2971800" cy="28621"/>
          </a:xfrm>
          <a:prstGeom prst="rect">
            <a:avLst/>
          </a:prstGeom>
          <a:solidFill>
            <a:srgbClr val="B68757"/>
          </a:solidFill>
          <a:ln/>
        </p:spPr>
        <p:txBody>
          <a:bodyPr/>
          <a:p/>
        </p:txBody>
      </p:sp>
      <p:sp>
        <p:nvSpPr>
          <p:cNvPr id="40" name="Shape e48"/>
          <p:cNvSpPr/>
          <p:nvPr/>
        </p:nvSpPr>
        <p:spPr>
          <a:xfrm>
            <a:off x="6819870" y="1400221"/>
            <a:ext cx="1038210" cy="438180"/>
          </a:xfrm>
          <a:prstGeom prst="rect">
            <a:avLst/>
          </a:prstGeom>
          <a:solidFill>
            <a:srgbClr val="FFFFFF"/>
          </a:solidFill>
          <a:ln w="12700">
            <a:solidFill>
              <a:srgbClr val="E3DCD3"/>
            </a:solidFill>
            <a:prstDash val="solid"/>
          </a:ln>
        </p:spPr>
        <p:txBody>
          <a:bodyPr/>
          <a:p/>
        </p:txBody>
      </p:sp>
      <p:sp>
        <p:nvSpPr>
          <p:cNvPr id="41" name="Text e48"/>
          <p:cNvSpPr txBox="1"/>
          <p:nvPr/>
        </p:nvSpPr>
        <p:spPr>
          <a:xfrm>
            <a:off x="6905640" y="1452524"/>
            <a:ext cx="866760" cy="328635"/>
          </a:xfrm>
          <a:prstGeom prst="rect">
            <a:avLst/>
          </a:prstGeom>
          <a:noFill/>
          <a:ln/>
        </p:spPr>
        <p:txBody>
          <a:bodyPr wrap="square" lIns="0" tIns="0" rIns="0" bIns="0" rtlCol="0" anchor="t"/>
          <a:lstStyle/>
          <a:p>
            <a:pPr algn="ctr" indent="0" marL="0">
              <a:lnSpc>
                <a:spcPts val="850"/>
              </a:lnSpc>
              <a:buNone/>
            </a:pPr>
            <a:r>
              <a:rPr lang="en-US" sz="650" b="1" spc="100" kern="0" dirty="0">
                <a:solidFill>
                  <a:srgbClr val="1B1A1A"/>
                </a:solidFill>
                <a:latin typeface="+mn-lt" pitchFamily="34" charset="0"/>
              </a:rPr>
              <a:t>HIGH TECH SOLUTIONS</a:t>
            </a:r>
            <a:endParaRPr lang="en-US" sz="650" dirty="0"/>
          </a:p>
          <a:p>
            <a:pPr algn="ctr" indent="0" marL="0">
              <a:lnSpc>
                <a:spcPts val="850"/>
              </a:lnSpc>
              <a:buNone/>
            </a:pPr>
            <a:r>
              <a:rPr lang="en-US" sz="650" b="1" spc="100" kern="0" dirty="0">
                <a:solidFill>
                  <a:srgbClr val="1B1A1A"/>
                </a:solidFill>
                <a:latin typeface="+mn-lt" pitchFamily="34" charset="0"/>
              </a:rPr>
              <a:t>SYSTEMS GROUP</a:t>
            </a:r>
            <a:endParaRPr lang="en-US" sz="650" dirty="0"/>
          </a:p>
        </p:txBody>
      </p:sp>
      <p:sp>
        <p:nvSpPr>
          <p:cNvPr id="42" name="Text e50"/>
          <p:cNvSpPr txBox="1"/>
          <p:nvPr/>
        </p:nvSpPr>
        <p:spPr>
          <a:xfrm>
            <a:off x="7934340" y="1533540"/>
            <a:ext cx="438180" cy="171450"/>
          </a:xfrm>
          <a:prstGeom prst="rect">
            <a:avLst/>
          </a:prstGeom>
          <a:noFill/>
          <a:ln/>
        </p:spPr>
        <p:txBody>
          <a:bodyPr wrap="square" lIns="0" tIns="0" rIns="0" bIns="0" rtlCol="0" anchor="t"/>
          <a:lstStyle/>
          <a:p>
            <a:pPr algn="ctr" indent="0" marL="0">
              <a:lnSpc>
                <a:spcPts val="700"/>
              </a:lnSpc>
              <a:buNone/>
            </a:pPr>
            <a:r>
              <a:rPr lang="en-US" sz="550" b="1" spc="100" kern="0" dirty="0">
                <a:solidFill>
                  <a:srgbClr val="6F6A66"/>
                </a:solidFill>
                <a:latin typeface="+mn-lt" pitchFamily="34" charset="0"/>
              </a:rPr>
              <a:t>ACQUIRED</a:t>
            </a:r>
            <a:endParaRPr lang="en-US" sz="550" dirty="0"/>
          </a:p>
          <a:p>
            <a:pPr algn="ctr" indent="0" marL="0">
              <a:lnSpc>
                <a:spcPts val="700"/>
              </a:lnSpc>
              <a:buNone/>
            </a:pPr>
            <a:r>
              <a:rPr lang="en-US" sz="550" b="1" spc="100" kern="0" dirty="0">
                <a:solidFill>
                  <a:srgbClr val="6F6A66"/>
                </a:solidFill>
                <a:latin typeface="+mn-lt" pitchFamily="34" charset="0"/>
              </a:rPr>
              <a:t>BY</a:t>
            </a:r>
            <a:endParaRPr lang="en-US" sz="550" dirty="0"/>
          </a:p>
        </p:txBody>
      </p:sp>
      <p:sp>
        <p:nvSpPr>
          <p:cNvPr id="43" name="Shape e51"/>
          <p:cNvSpPr/>
          <p:nvPr/>
        </p:nvSpPr>
        <p:spPr>
          <a:xfrm>
            <a:off x="8448690" y="1400221"/>
            <a:ext cx="1038210" cy="438180"/>
          </a:xfrm>
          <a:prstGeom prst="rect">
            <a:avLst/>
          </a:prstGeom>
          <a:solidFill>
            <a:srgbClr val="FFFFFF"/>
          </a:solidFill>
          <a:ln w="12700">
            <a:solidFill>
              <a:srgbClr val="E3DCD3"/>
            </a:solidFill>
            <a:prstDash val="solid"/>
          </a:ln>
        </p:spPr>
        <p:txBody>
          <a:bodyPr/>
          <a:p/>
        </p:txBody>
      </p:sp>
      <p:pic>
        <p:nvPicPr>
          <p:cNvPr id="44" name="Picture e52" descr="AI Fire">    </p:cNvPr>
          <p:cNvPicPr>
            <a:picLocks noChangeAspect="1"/>
          </p:cNvPicPr>
          <p:nvPr/>
        </p:nvPicPr>
        <p:blipFill>
          <a:blip r:embed="rId8"/>
          <a:stretch>
            <a:fillRect/>
          </a:stretch>
        </p:blipFill>
        <p:spPr>
          <a:xfrm>
            <a:off x="8534370" y="1494404"/>
            <a:ext cx="866760" cy="249540"/>
          </a:xfrm>
          <a:prstGeom prst="rect">
            <a:avLst/>
          </a:prstGeom>
        </p:spPr>
      </p:pic>
      <p:sp>
        <p:nvSpPr>
          <p:cNvPr id="45" name="Text e53"/>
          <p:cNvSpPr txBox="1"/>
          <p:nvPr/>
        </p:nvSpPr>
        <p:spPr>
          <a:xfrm>
            <a:off x="6819870" y="1933590"/>
            <a:ext cx="2226930" cy="190470"/>
          </a:xfrm>
          <a:prstGeom prst="rect">
            <a:avLst/>
          </a:prstGeom>
          <a:noFill/>
          <a:ln/>
        </p:spPr>
        <p:txBody>
          <a:bodyPr wrap="none" lIns="0" tIns="0" rIns="0" bIns="0" rtlCol="0" anchor="t"/>
          <a:lstStyle/>
          <a:p>
            <a:pPr algn="l" indent="0" marL="0">
              <a:lnSpc>
                <a:spcPts val="1500"/>
              </a:lnSpc>
              <a:buNone/>
            </a:pPr>
            <a:r>
              <a:rPr lang="en-US" sz="1200" b="1" dirty="0">
                <a:solidFill>
                  <a:srgbClr val="1B1A1A"/>
                </a:solidFill>
                <a:latin typeface="+mj-lt" pitchFamily="34" charset="0"/>
              </a:rPr>
              <a:t>High Tech Solutions and AI Fire</a:t>
            </a:r>
            <a:endParaRPr lang="en-US" sz="1200" dirty="0"/>
          </a:p>
        </p:txBody>
      </p:sp>
      <p:sp>
        <p:nvSpPr>
          <p:cNvPr id="46" name="Text e55"/>
          <p:cNvSpPr txBox="1"/>
          <p:nvPr/>
        </p:nvSpPr>
        <p:spPr>
          <a:xfrm>
            <a:off x="6819870" y="2205076"/>
            <a:ext cx="1153881"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BUSINESS OVERVIEW</a:t>
            </a:r>
            <a:endParaRPr lang="en-US" sz="600" dirty="0"/>
          </a:p>
        </p:txBody>
      </p:sp>
      <p:sp>
        <p:nvSpPr>
          <p:cNvPr id="47" name="Text e56"/>
          <p:cNvSpPr txBox="1"/>
          <p:nvPr/>
        </p:nvSpPr>
        <p:spPr>
          <a:xfrm>
            <a:off x="6819870" y="2347905"/>
            <a:ext cx="2667030" cy="428671"/>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High Tech Solutions - Systems Group designs, installs and services special systems for customers in Montana and Wyoming.</a:t>
            </a:r>
            <a:endParaRPr lang="en-US" sz="800" dirty="0"/>
          </a:p>
        </p:txBody>
      </p:sp>
      <p:sp>
        <p:nvSpPr>
          <p:cNvPr id="48" name="Text e58"/>
          <p:cNvSpPr txBox="1"/>
          <p:nvPr/>
        </p:nvSpPr>
        <p:spPr>
          <a:xfrm>
            <a:off x="6819870" y="2862255"/>
            <a:ext cx="640263"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THE BUYER</a:t>
            </a:r>
            <a:endParaRPr lang="en-US" sz="600" dirty="0"/>
          </a:p>
        </p:txBody>
      </p:sp>
      <p:sp>
        <p:nvSpPr>
          <p:cNvPr id="49" name="Text e59"/>
          <p:cNvSpPr txBox="1"/>
          <p:nvPr/>
        </p:nvSpPr>
        <p:spPr>
          <a:xfrm>
            <a:off x="6819870" y="3005176"/>
            <a:ext cx="2667030" cy="28575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AI Fire made this purchase in addition to its acquisition of Fire Systems Technology.</a:t>
            </a:r>
            <a:endParaRPr lang="en-US" sz="800" dirty="0"/>
          </a:p>
        </p:txBody>
      </p:sp>
      <p:sp>
        <p:nvSpPr>
          <p:cNvPr id="50" name="Text e61"/>
          <p:cNvSpPr txBox="1"/>
          <p:nvPr/>
        </p:nvSpPr>
        <p:spPr>
          <a:xfrm>
            <a:off x="6819870" y="3376605"/>
            <a:ext cx="1367394"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WHAT THE BUYER ADDED</a:t>
            </a:r>
            <a:endParaRPr lang="en-US" sz="600" dirty="0"/>
          </a:p>
        </p:txBody>
      </p:sp>
      <p:sp>
        <p:nvSpPr>
          <p:cNvPr id="51" name="Text e62"/>
          <p:cNvSpPr txBox="1"/>
          <p:nvPr/>
        </p:nvSpPr>
        <p:spPr>
          <a:xfrm>
            <a:off x="6819870" y="3519526"/>
            <a:ext cx="2667030" cy="28575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Special systems capability and a position in Montana and Wyoming.</a:t>
            </a:r>
            <a:endParaRPr lang="en-US" sz="800" dirty="0"/>
          </a:p>
        </p:txBody>
      </p:sp>
      <p:sp>
        <p:nvSpPr>
          <p:cNvPr id="52" name="Text e63"/>
          <p:cNvSpPr txBox="1"/>
          <p:nvPr/>
        </p:nvSpPr>
        <p:spPr>
          <a:xfrm>
            <a:off x="6819870" y="4376776"/>
            <a:ext cx="1188263" cy="133320"/>
          </a:xfrm>
          <a:prstGeom prst="rect">
            <a:avLst/>
          </a:prstGeom>
          <a:noFill/>
          <a:ln/>
        </p:spPr>
        <p:txBody>
          <a:bodyPr wrap="none" lIns="0" tIns="0" rIns="0" bIns="0" rtlCol="0" anchor="t"/>
          <a:lstStyle/>
          <a:p>
            <a:pPr algn="l" indent="0" marL="0">
              <a:lnSpc>
                <a:spcPts val="1050"/>
              </a:lnSpc>
              <a:buNone/>
            </a:pPr>
            <a:r>
              <a:rPr lang="en-US" sz="750" u="sng" dirty="0">
                <a:solidFill>
                  <a:srgbClr val="8C6239"/>
                </a:solidFill>
                <a:latin typeface="+mn-lt" pitchFamily="34" charset="0"/>
                <a:hlinkClick r:id="rId9" invalidUrl="" action="" tgtFrame="" tooltip="" history="1" highlightClick="0" endSnd="0">
                  <a:extLst>
                    <a:ext uri="{A12FA001-AC4F-418D-AE19-62706E023703}">
                      <ahyp:hlinkClr xmlns:ahyp="http://schemas.microsoft.com/office/drawing/2018/hyperlinkcolor" val="tx"/>
                    </a:ext>
                  </a:extLst>
                </a:hlinkClick>
              </a:rPr>
              <a:t>Read the announcement</a:t>
            </a:r>
            <a:endParaRPr lang="en-US" sz="750" dirty="0"/>
          </a:p>
        </p:txBody>
      </p:sp>
      <p:sp>
        <p:nvSpPr>
          <p:cNvPr id="53" name="Shape e64"/>
          <p:cNvSpPr/>
          <p:nvPr/>
        </p:nvSpPr>
        <p:spPr>
          <a:xfrm>
            <a:off x="419070" y="4781580"/>
            <a:ext cx="9220170" cy="2152680"/>
          </a:xfrm>
          <a:prstGeom prst="rect">
            <a:avLst/>
          </a:prstGeom>
          <a:solidFill>
            <a:srgbClr val="1B1A1A"/>
          </a:solidFill>
          <a:ln/>
        </p:spPr>
        <p:txBody>
          <a:bodyPr/>
          <a:p/>
        </p:txBody>
      </p:sp>
      <p:pic>
        <p:nvPicPr>
          <p:cNvPr id="54" name="Picture e66" descr="Hands signing a document at a desk">    </p:cNvPr>
          <p:cNvPicPr>
            <a:picLocks noChangeAspect="1"/>
          </p:cNvPicPr>
          <p:nvPr/>
        </p:nvPicPr>
        <p:blipFill>
          <a:blip r:embed="rId10"/>
          <a:stretch>
            <a:fillRect/>
          </a:stretch>
        </p:blipFill>
        <p:spPr>
          <a:xfrm>
            <a:off x="419070" y="4781580"/>
            <a:ext cx="2381280" cy="2152680"/>
          </a:xfrm>
          <a:prstGeom prst="rect">
            <a:avLst/>
          </a:prstGeom>
        </p:spPr>
      </p:pic>
      <p:sp>
        <p:nvSpPr>
          <p:cNvPr id="55" name="Text e69"/>
          <p:cNvSpPr txBox="1"/>
          <p:nvPr/>
        </p:nvSpPr>
        <p:spPr>
          <a:xfrm>
            <a:off x="2933670" y="5029200"/>
            <a:ext cx="2438065"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D3AE84"/>
                </a:solidFill>
                <a:latin typeface="+mn-lt" pitchFamily="34" charset="0"/>
              </a:rPr>
              <a:t>WHAT THE THREE SALES HAD IN COMMON</a:t>
            </a:r>
            <a:endParaRPr lang="en-US" sz="700" dirty="0"/>
          </a:p>
        </p:txBody>
      </p:sp>
      <p:sp>
        <p:nvSpPr>
          <p:cNvPr id="56" name="Shape e72"/>
          <p:cNvSpPr/>
          <p:nvPr/>
        </p:nvSpPr>
        <p:spPr>
          <a:xfrm>
            <a:off x="2933670" y="5305440"/>
            <a:ext cx="342900" cy="342900"/>
          </a:xfrm>
          <a:prstGeom prst="ellipse">
            <a:avLst/>
          </a:prstGeom>
          <a:solidFill>
            <a:srgbClr val="1B1A1A"/>
          </a:solidFill>
          <a:ln/>
        </p:spPr>
        <p:txBody>
          <a:bodyPr/>
          <a:p/>
        </p:txBody>
      </p:sp>
      <p:pic>
        <p:nvPicPr>
          <p:cNvPr id="57" name="Icon e73">    </p:cNvPr>
          <p:cNvPicPr>
            <a:picLocks noChangeAspect="1"/>
          </p:cNvPicPr>
          <p:nvPr/>
        </p:nvPicPr>
        <p:blipFill>
          <a:blip r:embed="rId11"/>
          <a:stretch>
            <a:fillRect/>
          </a:stretch>
        </p:blipFill>
        <p:spPr>
          <a:xfrm>
            <a:off x="3000421" y="5372100"/>
            <a:ext cx="209580" cy="209580"/>
          </a:xfrm>
          <a:prstGeom prst="rect">
            <a:avLst/>
          </a:prstGeom>
        </p:spPr>
      </p:pic>
      <p:sp>
        <p:nvSpPr>
          <p:cNvPr id="58" name="Text e75"/>
          <p:cNvSpPr txBox="1"/>
          <p:nvPr/>
        </p:nvSpPr>
        <p:spPr>
          <a:xfrm>
            <a:off x="3390870" y="5300685"/>
            <a:ext cx="1552560" cy="323880"/>
          </a:xfrm>
          <a:prstGeom prst="rect">
            <a:avLst/>
          </a:prstGeom>
          <a:noFill/>
          <a:ln/>
        </p:spPr>
        <p:txBody>
          <a:bodyPr wrap="square" lIns="0" tIns="0" rIns="0" bIns="0" rtlCol="0" anchor="t"/>
          <a:lstStyle/>
          <a:p>
            <a:pPr algn="l" indent="0" marL="0">
              <a:lnSpc>
                <a:spcPts val="1300"/>
              </a:lnSpc>
              <a:buNone/>
            </a:pPr>
            <a:r>
              <a:rPr lang="en-US" sz="950" b="1" dirty="0">
                <a:solidFill>
                  <a:srgbClr val="FFFFFF"/>
                </a:solidFill>
                <a:latin typeface="+mn-lt" pitchFamily="34" charset="0"/>
              </a:rPr>
              <a:t>Service alongside installation</a:t>
            </a:r>
            <a:endParaRPr lang="en-US" sz="950" dirty="0"/>
          </a:p>
        </p:txBody>
      </p:sp>
      <p:sp>
        <p:nvSpPr>
          <p:cNvPr id="59" name="Text e76"/>
          <p:cNvSpPr txBox="1"/>
          <p:nvPr/>
        </p:nvSpPr>
        <p:spPr>
          <a:xfrm>
            <a:off x="3390870" y="5664982"/>
            <a:ext cx="1552560" cy="785835"/>
          </a:xfrm>
          <a:prstGeom prst="rect">
            <a:avLst/>
          </a:prstGeom>
          <a:noFill/>
          <a:ln/>
        </p:spPr>
        <p:txBody>
          <a:bodyPr wrap="square" lIns="0" tIns="0" rIns="0" bIns="0" rtlCol="0" anchor="t"/>
          <a:lstStyle/>
          <a:p>
            <a:pPr algn="l" indent="0" marL="0">
              <a:lnSpc>
                <a:spcPts val="1250"/>
              </a:lnSpc>
              <a:buNone/>
            </a:pPr>
            <a:r>
              <a:rPr lang="en-US" sz="850" dirty="0">
                <a:solidFill>
                  <a:srgbClr val="E8E2DA"/>
                </a:solidFill>
                <a:latin typeface="+mn-lt" pitchFamily="34" charset="0"/>
              </a:rPr>
              <a:t>Each business maintained, inspected or serviced the systems it installed, which gave the buyer continuing work with the same customers.</a:t>
            </a:r>
            <a:endParaRPr lang="en-US" sz="850" dirty="0"/>
          </a:p>
        </p:txBody>
      </p:sp>
      <p:sp>
        <p:nvSpPr>
          <p:cNvPr id="60" name="Shape e78"/>
          <p:cNvSpPr/>
          <p:nvPr/>
        </p:nvSpPr>
        <p:spPr>
          <a:xfrm>
            <a:off x="5156119" y="5305440"/>
            <a:ext cx="342900" cy="342900"/>
          </a:xfrm>
          <a:prstGeom prst="ellipse">
            <a:avLst/>
          </a:prstGeom>
          <a:solidFill>
            <a:srgbClr val="1B1A1A"/>
          </a:solidFill>
          <a:ln/>
        </p:spPr>
        <p:txBody>
          <a:bodyPr/>
          <a:p/>
        </p:txBody>
      </p:sp>
      <p:pic>
        <p:nvPicPr>
          <p:cNvPr id="61" name="Icon e79">    </p:cNvPr>
          <p:cNvPicPr>
            <a:picLocks noChangeAspect="1"/>
          </p:cNvPicPr>
          <p:nvPr/>
        </p:nvPicPr>
        <p:blipFill>
          <a:blip r:embed="rId12"/>
          <a:stretch>
            <a:fillRect/>
          </a:stretch>
        </p:blipFill>
        <p:spPr>
          <a:xfrm>
            <a:off x="5222870" y="5372100"/>
            <a:ext cx="209580" cy="209580"/>
          </a:xfrm>
          <a:prstGeom prst="rect">
            <a:avLst/>
          </a:prstGeom>
        </p:spPr>
      </p:pic>
      <p:sp>
        <p:nvSpPr>
          <p:cNvPr id="62" name="Text e81"/>
          <p:cNvSpPr txBox="1"/>
          <p:nvPr/>
        </p:nvSpPr>
        <p:spPr>
          <a:xfrm>
            <a:off x="5613319" y="5300685"/>
            <a:ext cx="1406530" cy="161940"/>
          </a:xfrm>
          <a:prstGeom prst="rect">
            <a:avLst/>
          </a:prstGeom>
          <a:noFill/>
          <a:ln/>
        </p:spPr>
        <p:txBody>
          <a:bodyPr wrap="none" lIns="0" tIns="0" rIns="0" bIns="0" rtlCol="0" anchor="t"/>
          <a:lstStyle/>
          <a:p>
            <a:pPr algn="l" indent="0" marL="0">
              <a:lnSpc>
                <a:spcPts val="1300"/>
              </a:lnSpc>
              <a:buNone/>
            </a:pPr>
            <a:r>
              <a:rPr lang="en-US" sz="950" b="1" dirty="0">
                <a:solidFill>
                  <a:srgbClr val="FFFFFF"/>
                </a:solidFill>
                <a:latin typeface="+mn-lt" pitchFamily="34" charset="0"/>
              </a:rPr>
              <a:t>A defined home region</a:t>
            </a:r>
            <a:endParaRPr lang="en-US" sz="950" dirty="0"/>
          </a:p>
        </p:txBody>
      </p:sp>
      <p:sp>
        <p:nvSpPr>
          <p:cNvPr id="63" name="Text e82"/>
          <p:cNvSpPr txBox="1"/>
          <p:nvPr/>
        </p:nvSpPr>
        <p:spPr>
          <a:xfrm>
            <a:off x="5613319" y="5503042"/>
            <a:ext cx="1552560" cy="628650"/>
          </a:xfrm>
          <a:prstGeom prst="rect">
            <a:avLst/>
          </a:prstGeom>
          <a:noFill/>
          <a:ln/>
        </p:spPr>
        <p:txBody>
          <a:bodyPr wrap="square" lIns="0" tIns="0" rIns="0" bIns="0" rtlCol="0" anchor="t"/>
          <a:lstStyle/>
          <a:p>
            <a:pPr algn="l" indent="0" marL="0">
              <a:lnSpc>
                <a:spcPts val="1250"/>
              </a:lnSpc>
              <a:buNone/>
            </a:pPr>
            <a:r>
              <a:rPr lang="en-US" sz="850" dirty="0">
                <a:solidFill>
                  <a:srgbClr val="E8E2DA"/>
                </a:solidFill>
                <a:latin typeface="+mn-lt" pitchFamily="34" charset="0"/>
              </a:rPr>
              <a:t>Oklahoma City, Arkansas, and Montana and Wyoming each gave the buyer a territory to add to its existing coverage.</a:t>
            </a:r>
            <a:endParaRPr lang="en-US" sz="850" dirty="0"/>
          </a:p>
        </p:txBody>
      </p:sp>
      <p:sp>
        <p:nvSpPr>
          <p:cNvPr id="64" name="Shape e84"/>
          <p:cNvSpPr/>
          <p:nvPr/>
        </p:nvSpPr>
        <p:spPr>
          <a:xfrm>
            <a:off x="7378568" y="5305440"/>
            <a:ext cx="342900" cy="342900"/>
          </a:xfrm>
          <a:prstGeom prst="ellipse">
            <a:avLst/>
          </a:prstGeom>
          <a:solidFill>
            <a:srgbClr val="1B1A1A"/>
          </a:solidFill>
          <a:ln/>
        </p:spPr>
        <p:txBody>
          <a:bodyPr/>
          <a:p/>
        </p:txBody>
      </p:sp>
      <p:pic>
        <p:nvPicPr>
          <p:cNvPr id="65" name="Icon e85">    </p:cNvPr>
          <p:cNvPicPr>
            <a:picLocks noChangeAspect="1"/>
          </p:cNvPicPr>
          <p:nvPr/>
        </p:nvPicPr>
        <p:blipFill>
          <a:blip r:embed="rId13"/>
          <a:stretch>
            <a:fillRect/>
          </a:stretch>
        </p:blipFill>
        <p:spPr>
          <a:xfrm>
            <a:off x="7445319" y="5372100"/>
            <a:ext cx="209580" cy="209580"/>
          </a:xfrm>
          <a:prstGeom prst="rect">
            <a:avLst/>
          </a:prstGeom>
        </p:spPr>
      </p:pic>
      <p:sp>
        <p:nvSpPr>
          <p:cNvPr id="66" name="Text e87"/>
          <p:cNvSpPr txBox="1"/>
          <p:nvPr/>
        </p:nvSpPr>
        <p:spPr>
          <a:xfrm>
            <a:off x="7835768" y="5300685"/>
            <a:ext cx="1552560" cy="323880"/>
          </a:xfrm>
          <a:prstGeom prst="rect">
            <a:avLst/>
          </a:prstGeom>
          <a:noFill/>
          <a:ln/>
        </p:spPr>
        <p:txBody>
          <a:bodyPr wrap="square" lIns="0" tIns="0" rIns="0" bIns="0" rtlCol="0" anchor="t"/>
          <a:lstStyle/>
          <a:p>
            <a:pPr algn="l" indent="0" marL="0">
              <a:lnSpc>
                <a:spcPts val="1300"/>
              </a:lnSpc>
              <a:buNone/>
            </a:pPr>
            <a:r>
              <a:rPr lang="en-US" sz="950" b="1" dirty="0">
                <a:solidFill>
                  <a:srgbClr val="FFFFFF"/>
                </a:solidFill>
                <a:latin typeface="+mn-lt" pitchFamily="34" charset="0"/>
              </a:rPr>
              <a:t>A buyer already in the field</a:t>
            </a:r>
            <a:endParaRPr lang="en-US" sz="950" dirty="0"/>
          </a:p>
        </p:txBody>
      </p:sp>
      <p:sp>
        <p:nvSpPr>
          <p:cNvPr id="67" name="Text e88"/>
          <p:cNvSpPr txBox="1"/>
          <p:nvPr/>
        </p:nvSpPr>
        <p:spPr>
          <a:xfrm>
            <a:off x="7835768" y="5664982"/>
            <a:ext cx="1552560" cy="785835"/>
          </a:xfrm>
          <a:prstGeom prst="rect">
            <a:avLst/>
          </a:prstGeom>
          <a:noFill/>
          <a:ln/>
        </p:spPr>
        <p:txBody>
          <a:bodyPr wrap="square" lIns="0" tIns="0" rIns="0" bIns="0" rtlCol="0" anchor="t"/>
          <a:lstStyle/>
          <a:p>
            <a:pPr algn="l" indent="0" marL="0">
              <a:lnSpc>
                <a:spcPts val="1250"/>
              </a:lnSpc>
              <a:buNone/>
            </a:pPr>
            <a:r>
              <a:rPr lang="en-US" sz="850" dirty="0">
                <a:solidFill>
                  <a:srgbClr val="E8E2DA"/>
                </a:solidFill>
                <a:latin typeface="+mn-lt" pitchFamily="34" charset="0"/>
              </a:rPr>
              <a:t>Cintas and AI Fire both operate fire protection businesses, so each purchase extended a platform that was already in place.</a:t>
            </a:r>
            <a:endParaRPr lang="en-US" sz="850" dirty="0"/>
          </a:p>
        </p:txBody>
      </p:sp>
      <p:sp>
        <p:nvSpPr>
          <p:cNvPr id="68" name="Shape e89"/>
          <p:cNvSpPr/>
          <p:nvPr/>
        </p:nvSpPr>
        <p:spPr>
          <a:xfrm>
            <a:off x="419070" y="7029450"/>
            <a:ext cx="9220170" cy="9510"/>
          </a:xfrm>
          <a:prstGeom prst="ellipse">
            <a:avLst/>
          </a:prstGeom>
          <a:solidFill>
            <a:srgbClr val="E3DCD3"/>
          </a:solidFill>
          <a:ln/>
        </p:spPr>
        <p:txBody>
          <a:bodyPr/>
          <a:p/>
        </p:txBody>
      </p:sp>
      <p:pic>
        <p:nvPicPr>
          <p:cNvPr id="69" name="Picture e90" descr="Benchmark International">    </p:cNvPr>
          <p:cNvPicPr>
            <a:picLocks noChangeAspect="1"/>
          </p:cNvPicPr>
          <p:nvPr/>
        </p:nvPicPr>
        <p:blipFill>
          <a:blip r:embed="rId14"/>
          <a:stretch>
            <a:fillRect/>
          </a:stretch>
        </p:blipFill>
        <p:spPr>
          <a:xfrm>
            <a:off x="419070" y="7143750"/>
            <a:ext cx="914400" cy="171450"/>
          </a:xfrm>
          <a:prstGeom prst="rect">
            <a:avLst/>
          </a:prstGeom>
        </p:spPr>
      </p:pic>
      <p:sp>
        <p:nvSpPr>
          <p:cNvPr id="70" name="Text e91"/>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Business descriptions are taken from the announcements published on benchmarkintl.com, which are linked from each card. Transaction values are not disclosed. Company names and marks are the property of their owners.</a:t>
            </a:r>
            <a:endParaRPr lang="en-US" sz="700" dirty="0"/>
          </a:p>
        </p:txBody>
      </p:sp>
      <p:sp>
        <p:nvSpPr>
          <p:cNvPr id="71" name="Text e92"/>
          <p:cNvSpPr txBox="1"/>
          <p:nvPr/>
        </p:nvSpPr>
        <p:spPr>
          <a:xfrm>
            <a:off x="9495953" y="7162770"/>
            <a:ext cx="142921"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08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5887090"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Select Recent Business Services M&amp;A Transactions</a:t>
            </a:r>
            <a:endParaRPr lang="en-US" sz="2050" dirty="0"/>
          </a:p>
        </p:txBody>
      </p:sp>
      <p:sp>
        <p:nvSpPr>
          <p:cNvPr id="6" name="Text e5"/>
          <p:cNvSpPr txBox="1"/>
          <p:nvPr/>
        </p:nvSpPr>
        <p:spPr>
          <a:xfrm>
            <a:off x="419070" y="883402"/>
            <a:ext cx="6708313"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One transaction from each sector and one with disclosed economics, announced between June and October 2026.</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2971800" cy="2781330"/>
          </a:xfrm>
          <a:prstGeom prst="rect">
            <a:avLst/>
          </a:prstGeom>
          <a:solidFill>
            <a:srgbClr val="FAF7F3"/>
          </a:solidFill>
          <a:ln/>
        </p:spPr>
        <p:txBody>
          <a:bodyPr/>
          <a:p/>
        </p:txBody>
      </p:sp>
      <p:sp>
        <p:nvSpPr>
          <p:cNvPr id="9" name="Shape e9s0"/>
          <p:cNvSpPr/>
          <p:nvPr/>
        </p:nvSpPr>
        <p:spPr>
          <a:xfrm>
            <a:off x="419070" y="1238280"/>
            <a:ext cx="2971800" cy="28621"/>
          </a:xfrm>
          <a:prstGeom prst="rect">
            <a:avLst/>
          </a:prstGeom>
          <a:solidFill>
            <a:srgbClr val="B68757"/>
          </a:solidFill>
          <a:ln/>
        </p:spPr>
        <p:txBody>
          <a:bodyPr/>
          <a:p/>
        </p:txBody>
      </p:sp>
      <p:sp>
        <p:nvSpPr>
          <p:cNvPr id="10" name="Shape e11"/>
          <p:cNvSpPr/>
          <p:nvPr/>
        </p:nvSpPr>
        <p:spPr>
          <a:xfrm>
            <a:off x="561990" y="1371600"/>
            <a:ext cx="938814" cy="142921"/>
          </a:xfrm>
          <a:prstGeom prst="rect">
            <a:avLst/>
          </a:prstGeom>
          <a:solidFill>
            <a:srgbClr val="1B1A1A"/>
          </a:solidFill>
          <a:ln/>
        </p:spPr>
        <p:txBody>
          <a:bodyPr/>
          <a:p/>
        </p:txBody>
      </p:sp>
      <p:sp>
        <p:nvSpPr>
          <p:cNvPr id="11" name="Text e11"/>
          <p:cNvSpPr txBox="1"/>
          <p:nvPr/>
        </p:nvSpPr>
        <p:spPr>
          <a:xfrm>
            <a:off x="628650" y="1385865"/>
            <a:ext cx="862645" cy="104790"/>
          </a:xfrm>
          <a:prstGeom prst="rect">
            <a:avLst/>
          </a:prstGeom>
          <a:noFill/>
          <a:ln/>
        </p:spPr>
        <p:txBody>
          <a:bodyPr wrap="none" lIns="0" tIns="0" rIns="0" bIns="0" rtlCol="0" anchor="t"/>
          <a:lstStyle/>
          <a:p>
            <a:pPr algn="l" indent="0" marL="0">
              <a:lnSpc>
                <a:spcPts val="850"/>
              </a:lnSpc>
              <a:buNone/>
            </a:pPr>
            <a:r>
              <a:rPr lang="en-US" sz="550" b="1" spc="100" kern="0" dirty="0">
                <a:solidFill>
                  <a:srgbClr val="FFFFFF"/>
                </a:solidFill>
                <a:latin typeface="+mn-lt" pitchFamily="34" charset="0"/>
              </a:rPr>
              <a:t>SEPTEMBER 2026</a:t>
            </a:r>
            <a:endParaRPr lang="en-US" sz="550" dirty="0"/>
          </a:p>
        </p:txBody>
      </p:sp>
      <p:sp>
        <p:nvSpPr>
          <p:cNvPr id="12" name="Text e12"/>
          <p:cNvSpPr txBox="1"/>
          <p:nvPr/>
        </p:nvSpPr>
        <p:spPr>
          <a:xfrm>
            <a:off x="1658539" y="1385865"/>
            <a:ext cx="1590690" cy="104790"/>
          </a:xfrm>
          <a:prstGeom prst="rect">
            <a:avLst/>
          </a:prstGeom>
          <a:noFill/>
          <a:ln/>
        </p:spPr>
        <p:txBody>
          <a:bodyPr wrap="none" lIns="0" tIns="0" rIns="0" bIns="0" rtlCol="0" anchor="t"/>
          <a:lstStyle/>
          <a:p>
            <a:pPr algn="r" indent="0" marL="0">
              <a:lnSpc>
                <a:spcPts val="850"/>
              </a:lnSpc>
              <a:buNone/>
            </a:pPr>
            <a:r>
              <a:rPr lang="en-US" sz="550" b="1" spc="100" kern="0" dirty="0">
                <a:solidFill>
                  <a:srgbClr val="8C6239"/>
                </a:solidFill>
                <a:latin typeface="+mn-lt" pitchFamily="34" charset="0"/>
              </a:rPr>
              <a:t>COMMERCIAL &amp; FACILITY SERVICES</a:t>
            </a:r>
            <a:endParaRPr lang="en-US" sz="550" dirty="0"/>
          </a:p>
        </p:txBody>
      </p:sp>
      <p:sp>
        <p:nvSpPr>
          <p:cNvPr id="13" name="Shape e14"/>
          <p:cNvSpPr/>
          <p:nvPr/>
        </p:nvSpPr>
        <p:spPr>
          <a:xfrm>
            <a:off x="561990" y="1600200"/>
            <a:ext cx="1076797" cy="361920"/>
          </a:xfrm>
          <a:prstGeom prst="rect">
            <a:avLst/>
          </a:prstGeom>
          <a:solidFill>
            <a:srgbClr val="FFFFFF"/>
          </a:solidFill>
          <a:ln w="12700">
            <a:solidFill>
              <a:srgbClr val="E3DCD3"/>
            </a:solidFill>
            <a:prstDash val="solid"/>
          </a:ln>
        </p:spPr>
        <p:txBody>
          <a:bodyPr/>
          <a:p/>
        </p:txBody>
      </p:sp>
      <p:sp>
        <p:nvSpPr>
          <p:cNvPr id="14" name="Text e14"/>
          <p:cNvSpPr txBox="1"/>
          <p:nvPr/>
        </p:nvSpPr>
        <p:spPr>
          <a:xfrm>
            <a:off x="647670" y="1671615"/>
            <a:ext cx="904890" cy="209580"/>
          </a:xfrm>
          <a:prstGeom prst="rect">
            <a:avLst/>
          </a:prstGeom>
          <a:noFill/>
          <a:ln/>
        </p:spPr>
        <p:txBody>
          <a:bodyPr wrap="square" lIns="0" tIns="0" rIns="0" bIns="0" rtlCol="0" anchor="t"/>
          <a:lstStyle/>
          <a:p>
            <a:pPr algn="ctr" indent="0" marL="0">
              <a:lnSpc>
                <a:spcPts val="850"/>
              </a:lnSpc>
              <a:buNone/>
            </a:pPr>
            <a:r>
              <a:rPr lang="en-US" sz="600" b="1" spc="100" kern="0" dirty="0">
                <a:solidFill>
                  <a:srgbClr val="1B1A1A"/>
                </a:solidFill>
                <a:latin typeface="+mn-lt" pitchFamily="34" charset="0"/>
              </a:rPr>
              <a:t>UNION ALARMTRONIC</a:t>
            </a:r>
            <a:endParaRPr lang="en-US" sz="600" dirty="0"/>
          </a:p>
        </p:txBody>
      </p:sp>
      <p:sp>
        <p:nvSpPr>
          <p:cNvPr id="15" name="Text e15"/>
          <p:cNvSpPr txBox="1"/>
          <p:nvPr/>
        </p:nvSpPr>
        <p:spPr>
          <a:xfrm>
            <a:off x="1705447" y="1695480"/>
            <a:ext cx="400050" cy="171450"/>
          </a:xfrm>
          <a:prstGeom prst="rect">
            <a:avLst/>
          </a:prstGeom>
          <a:noFill/>
          <a:ln/>
        </p:spPr>
        <p:txBody>
          <a:bodyPr wrap="square" lIns="0" tIns="0" rIns="0" bIns="0" rtlCol="0" anchor="t"/>
          <a:lstStyle/>
          <a:p>
            <a:pPr algn="ctr" indent="0" marL="0">
              <a:lnSpc>
                <a:spcPts val="700"/>
              </a:lnSpc>
              <a:buNone/>
            </a:pPr>
            <a:r>
              <a:rPr lang="en-US" sz="500" b="1" spc="100" kern="0" dirty="0">
                <a:solidFill>
                  <a:srgbClr val="6F6A66"/>
                </a:solidFill>
                <a:latin typeface="+mn-lt" pitchFamily="34" charset="0"/>
              </a:rPr>
              <a:t>ACQUIRED</a:t>
            </a:r>
            <a:endParaRPr lang="en-US" sz="500" dirty="0"/>
          </a:p>
          <a:p>
            <a:pPr algn="ctr" indent="0" marL="0">
              <a:lnSpc>
                <a:spcPts val="700"/>
              </a:lnSpc>
              <a:buNone/>
            </a:pPr>
            <a:r>
              <a:rPr lang="en-US" sz="500" b="1" spc="100" kern="0" dirty="0">
                <a:solidFill>
                  <a:srgbClr val="6F6A66"/>
                </a:solidFill>
                <a:latin typeface="+mn-lt" pitchFamily="34" charset="0"/>
              </a:rPr>
              <a:t>BY</a:t>
            </a:r>
            <a:endParaRPr lang="en-US" sz="500" dirty="0"/>
          </a:p>
        </p:txBody>
      </p:sp>
      <p:sp>
        <p:nvSpPr>
          <p:cNvPr id="16" name="Shape e16"/>
          <p:cNvSpPr/>
          <p:nvPr/>
        </p:nvSpPr>
        <p:spPr>
          <a:xfrm>
            <a:off x="2171243" y="1600200"/>
            <a:ext cx="1076797" cy="361920"/>
          </a:xfrm>
          <a:prstGeom prst="rect">
            <a:avLst/>
          </a:prstGeom>
          <a:solidFill>
            <a:srgbClr val="FFFFFF"/>
          </a:solidFill>
          <a:ln w="12700">
            <a:solidFill>
              <a:srgbClr val="E3DCD3"/>
            </a:solidFill>
            <a:prstDash val="solid"/>
          </a:ln>
        </p:spPr>
        <p:txBody>
          <a:bodyPr/>
          <a:p/>
        </p:txBody>
      </p:sp>
      <p:sp>
        <p:nvSpPr>
          <p:cNvPr id="17" name="Text e16"/>
          <p:cNvSpPr txBox="1"/>
          <p:nvPr/>
        </p:nvSpPr>
        <p:spPr>
          <a:xfrm>
            <a:off x="2257014" y="1671615"/>
            <a:ext cx="904890" cy="209580"/>
          </a:xfrm>
          <a:prstGeom prst="rect">
            <a:avLst/>
          </a:prstGeom>
          <a:noFill/>
          <a:ln/>
        </p:spPr>
        <p:txBody>
          <a:bodyPr wrap="square" lIns="0" tIns="0" rIns="0" bIns="0" rtlCol="0" anchor="t"/>
          <a:lstStyle/>
          <a:p>
            <a:pPr algn="ctr" indent="0" marL="0">
              <a:lnSpc>
                <a:spcPts val="850"/>
              </a:lnSpc>
              <a:buNone/>
            </a:pPr>
            <a:r>
              <a:rPr lang="en-US" sz="600" b="1" spc="100" kern="0" dirty="0">
                <a:solidFill>
                  <a:srgbClr val="1B1A1A"/>
                </a:solidFill>
                <a:latin typeface="+mn-lt" pitchFamily="34" charset="0"/>
              </a:rPr>
              <a:t>PYE-BARKER FIRE &amp; SAFETY</a:t>
            </a:r>
            <a:endParaRPr lang="en-US" sz="600" dirty="0"/>
          </a:p>
        </p:txBody>
      </p:sp>
      <p:sp>
        <p:nvSpPr>
          <p:cNvPr id="18" name="Text e17"/>
          <p:cNvSpPr txBox="1"/>
          <p:nvPr/>
        </p:nvSpPr>
        <p:spPr>
          <a:xfrm>
            <a:off x="561990" y="2059777"/>
            <a:ext cx="2686050" cy="333390"/>
          </a:xfrm>
          <a:prstGeom prst="rect">
            <a:avLst/>
          </a:prstGeom>
          <a:noFill/>
          <a:ln/>
        </p:spPr>
        <p:txBody>
          <a:bodyPr wrap="square" lIns="0" tIns="0" rIns="0" bIns="0" rtlCol="0" anchor="t"/>
          <a:lstStyle/>
          <a:p>
            <a:pPr algn="l" indent="0" marL="0">
              <a:lnSpc>
                <a:spcPts val="1300"/>
              </a:lnSpc>
              <a:buNone/>
            </a:pPr>
            <a:r>
              <a:rPr lang="en-US" sz="1000" b="1" dirty="0">
                <a:solidFill>
                  <a:srgbClr val="1B1A1A"/>
                </a:solidFill>
                <a:latin typeface="+mn-lt" pitchFamily="34" charset="0"/>
              </a:rPr>
              <a:t>Pye-Barker adds a family-owned alarm company in New Jersey</a:t>
            </a:r>
            <a:endParaRPr lang="en-US" sz="1000" dirty="0"/>
          </a:p>
        </p:txBody>
      </p:sp>
      <p:sp>
        <p:nvSpPr>
          <p:cNvPr id="19" name="Text e18"/>
          <p:cNvSpPr txBox="1"/>
          <p:nvPr/>
        </p:nvSpPr>
        <p:spPr>
          <a:xfrm>
            <a:off x="561990" y="2455073"/>
            <a:ext cx="2686050" cy="628650"/>
          </a:xfrm>
          <a:prstGeom prst="rect">
            <a:avLst/>
          </a:prstGeom>
          <a:noFill/>
          <a:ln/>
        </p:spPr>
        <p:txBody>
          <a:bodyPr wrap="square" lIns="0" tIns="0" rIns="0" bIns="0" rtlCol="0" anchor="t"/>
          <a:lstStyle/>
          <a:p>
            <a:pPr algn="l" indent="0" marL="0">
              <a:lnSpc>
                <a:spcPts val="1250"/>
              </a:lnSpc>
              <a:buNone/>
            </a:pPr>
            <a:r>
              <a:rPr lang="en-US" sz="850" dirty="0">
                <a:solidFill>
                  <a:srgbClr val="333231"/>
                </a:solidFill>
                <a:latin typeface="+mn-lt" pitchFamily="34" charset="0"/>
              </a:rPr>
              <a:t>Union AlarmTronic provides alarm, access control and video systems. The purchase follows 22 acquisitions by Pye-Barker in the first half of 2026 and 57 in 2025 across fire and security (</a:t>
            </a:r>
            <a:pPr algn="l" indent="0" marL="0">
              <a:lnSpc>
                <a:spcPts val="1250"/>
              </a:lnSpc>
              <a:buNone/>
            </a:pPr>
            <a:r>
              <a:rPr lang="en-US" sz="850" u="sng" dirty="0">
                <a:solidFill>
                  <a:srgbClr val="8C6239"/>
                </a:solidFill>
                <a:latin typeface="+mn-lt" pitchFamily="34" charset="0"/>
                <a:hlinkClick r:id="rId1" invalidUrl="" action="" tgtFrame="" tooltip="" history="1" highlightClick="0" endSnd="0">
                  <a:extLst>
                    <a:ext uri="{A12FA001-AC4F-418D-AE19-62706E023703}">
                      <ahyp:hlinkClr xmlns:ahyp="http://schemas.microsoft.com/office/drawing/2018/hyperlinkcolor" val="tx"/>
                    </a:ext>
                  </a:extLst>
                </a:hlinkClick>
              </a:rPr>
              <a:t>Pye-Barker</a:t>
            </a:r>
            <a:pPr algn="l" indent="0" marL="0">
              <a:lnSpc>
                <a:spcPts val="1250"/>
              </a:lnSpc>
              <a:buNone/>
            </a:pPr>
            <a:r>
              <a:rPr lang="en-US" sz="850" dirty="0">
                <a:solidFill>
                  <a:srgbClr val="333231"/>
                </a:solidFill>
                <a:latin typeface="+mn-lt" pitchFamily="34" charset="0"/>
              </a:rPr>
              <a:t>).</a:t>
            </a:r>
            <a:endParaRPr lang="en-US" sz="850" dirty="0"/>
          </a:p>
        </p:txBody>
      </p:sp>
      <p:sp>
        <p:nvSpPr>
          <p:cNvPr id="20" name="Shape e19s0"/>
          <p:cNvSpPr/>
          <p:nvPr/>
        </p:nvSpPr>
        <p:spPr>
          <a:xfrm>
            <a:off x="561990" y="3390870"/>
            <a:ext cx="2686050" cy="9510"/>
          </a:xfrm>
          <a:prstGeom prst="rect">
            <a:avLst/>
          </a:prstGeom>
          <a:solidFill>
            <a:srgbClr val="E3DCD3"/>
          </a:solidFill>
          <a:ln/>
        </p:spPr>
        <p:txBody>
          <a:bodyPr/>
          <a:p/>
        </p:txBody>
      </p:sp>
      <p:sp>
        <p:nvSpPr>
          <p:cNvPr id="21" name="Text e19"/>
          <p:cNvSpPr txBox="1"/>
          <p:nvPr/>
        </p:nvSpPr>
        <p:spPr>
          <a:xfrm>
            <a:off x="561990" y="3476640"/>
            <a:ext cx="2686050" cy="428671"/>
          </a:xfrm>
          <a:prstGeom prst="rect">
            <a:avLst/>
          </a:prstGeom>
          <a:noFill/>
          <a:ln/>
        </p:spPr>
        <p:txBody>
          <a:bodyPr wrap="square" lIns="0" tIns="0" rIns="0" bIns="0" rtlCol="0" anchor="t"/>
          <a:lstStyle/>
          <a:p>
            <a:pPr algn="l" indent="0" marL="0">
              <a:lnSpc>
                <a:spcPts val="1150"/>
              </a:lnSpc>
              <a:buNone/>
            </a:pPr>
            <a:r>
              <a:rPr lang="en-US" sz="600" b="1" spc="100" kern="0" dirty="0">
                <a:solidFill>
                  <a:srgbClr val="8C6239"/>
                </a:solidFill>
                <a:latin typeface="+mn-lt" pitchFamily="34" charset="0"/>
              </a:rPr>
              <a:t>WHAT IT SHOWS</a:t>
            </a:r>
            <a:pPr algn="l" indent="0" marL="0">
              <a:lnSpc>
                <a:spcPts val="1150"/>
              </a:lnSpc>
              <a:buNone/>
            </a:pPr>
            <a:r>
              <a:rPr lang="en-US" sz="800" dirty="0">
                <a:solidFill>
                  <a:srgbClr val="333231"/>
                </a:solidFill>
                <a:latin typeface="+mn-lt" pitchFamily="34" charset="0"/>
              </a:rPr>
              <a:t> Family-owned alarm and fire companies with monitoring revenue continue to find a buyer quickly.</a:t>
            </a:r>
            <a:endParaRPr lang="en-US" sz="600" dirty="0"/>
          </a:p>
        </p:txBody>
      </p:sp>
      <p:sp>
        <p:nvSpPr>
          <p:cNvPr id="22" name="Shape e20"/>
          <p:cNvSpPr/>
          <p:nvPr/>
        </p:nvSpPr>
        <p:spPr>
          <a:xfrm>
            <a:off x="3543300" y="1238280"/>
            <a:ext cx="2971800" cy="2781330"/>
          </a:xfrm>
          <a:prstGeom prst="rect">
            <a:avLst/>
          </a:prstGeom>
          <a:solidFill>
            <a:srgbClr val="FAF7F3"/>
          </a:solidFill>
          <a:ln/>
        </p:spPr>
        <p:txBody>
          <a:bodyPr/>
          <a:p/>
        </p:txBody>
      </p:sp>
      <p:sp>
        <p:nvSpPr>
          <p:cNvPr id="23" name="Shape e20s0"/>
          <p:cNvSpPr/>
          <p:nvPr/>
        </p:nvSpPr>
        <p:spPr>
          <a:xfrm>
            <a:off x="3543300" y="1238280"/>
            <a:ext cx="2971800" cy="28621"/>
          </a:xfrm>
          <a:prstGeom prst="rect">
            <a:avLst/>
          </a:prstGeom>
          <a:solidFill>
            <a:srgbClr val="B68757"/>
          </a:solidFill>
          <a:ln/>
        </p:spPr>
        <p:txBody>
          <a:bodyPr/>
          <a:p/>
        </p:txBody>
      </p:sp>
      <p:sp>
        <p:nvSpPr>
          <p:cNvPr id="24" name="Shape e22"/>
          <p:cNvSpPr/>
          <p:nvPr/>
        </p:nvSpPr>
        <p:spPr>
          <a:xfrm>
            <a:off x="3686221" y="1404976"/>
            <a:ext cx="834207" cy="142921"/>
          </a:xfrm>
          <a:prstGeom prst="rect">
            <a:avLst/>
          </a:prstGeom>
          <a:solidFill>
            <a:srgbClr val="1B1A1A"/>
          </a:solidFill>
          <a:ln/>
        </p:spPr>
        <p:txBody>
          <a:bodyPr/>
          <a:p/>
        </p:txBody>
      </p:sp>
      <p:sp>
        <p:nvSpPr>
          <p:cNvPr id="25" name="Text e22"/>
          <p:cNvSpPr txBox="1"/>
          <p:nvPr/>
        </p:nvSpPr>
        <p:spPr>
          <a:xfrm>
            <a:off x="3752880" y="1419240"/>
            <a:ext cx="757946" cy="104790"/>
          </a:xfrm>
          <a:prstGeom prst="rect">
            <a:avLst/>
          </a:prstGeom>
          <a:noFill/>
          <a:ln/>
        </p:spPr>
        <p:txBody>
          <a:bodyPr wrap="none" lIns="0" tIns="0" rIns="0" bIns="0" rtlCol="0" anchor="t"/>
          <a:lstStyle/>
          <a:p>
            <a:pPr algn="l" indent="0" marL="0">
              <a:lnSpc>
                <a:spcPts val="850"/>
              </a:lnSpc>
              <a:buNone/>
            </a:pPr>
            <a:r>
              <a:rPr lang="en-US" sz="550" b="1" spc="100" kern="0" dirty="0">
                <a:solidFill>
                  <a:srgbClr val="FFFFFF"/>
                </a:solidFill>
                <a:latin typeface="+mn-lt" pitchFamily="34" charset="0"/>
              </a:rPr>
              <a:t>OCTOBER 2026</a:t>
            </a:r>
            <a:endParaRPr lang="en-US" sz="550" dirty="0"/>
          </a:p>
        </p:txBody>
      </p:sp>
      <p:sp>
        <p:nvSpPr>
          <p:cNvPr id="26" name="Text e23"/>
          <p:cNvSpPr txBox="1"/>
          <p:nvPr/>
        </p:nvSpPr>
        <p:spPr>
          <a:xfrm>
            <a:off x="4596597" y="1366845"/>
            <a:ext cx="1771650" cy="209580"/>
          </a:xfrm>
          <a:prstGeom prst="rect">
            <a:avLst/>
          </a:prstGeom>
          <a:noFill/>
          <a:ln/>
        </p:spPr>
        <p:txBody>
          <a:bodyPr wrap="square" lIns="0" tIns="0" rIns="0" bIns="0" rtlCol="0" anchor="t"/>
          <a:lstStyle/>
          <a:p>
            <a:pPr algn="r" indent="0" marL="0">
              <a:lnSpc>
                <a:spcPts val="850"/>
              </a:lnSpc>
              <a:buNone/>
            </a:pPr>
            <a:r>
              <a:rPr lang="en-US" sz="550" b="1" spc="100" kern="0" dirty="0">
                <a:solidFill>
                  <a:srgbClr val="8C6239"/>
                </a:solidFill>
                <a:latin typeface="+mn-lt" pitchFamily="34" charset="0"/>
              </a:rPr>
              <a:t>MARKETING, SALES &amp; TECH-ENABLED SERVICES</a:t>
            </a:r>
            <a:endParaRPr lang="en-US" sz="550" dirty="0"/>
          </a:p>
        </p:txBody>
      </p:sp>
      <p:sp>
        <p:nvSpPr>
          <p:cNvPr id="27" name="Shape e25"/>
          <p:cNvSpPr/>
          <p:nvPr/>
        </p:nvSpPr>
        <p:spPr>
          <a:xfrm>
            <a:off x="3686221" y="1666860"/>
            <a:ext cx="1076797" cy="361920"/>
          </a:xfrm>
          <a:prstGeom prst="rect">
            <a:avLst/>
          </a:prstGeom>
          <a:solidFill>
            <a:srgbClr val="FFFFFF"/>
          </a:solidFill>
          <a:ln w="12700">
            <a:solidFill>
              <a:srgbClr val="E3DCD3"/>
            </a:solidFill>
            <a:prstDash val="solid"/>
          </a:ln>
        </p:spPr>
        <p:txBody>
          <a:bodyPr/>
          <a:p/>
        </p:txBody>
      </p:sp>
      <p:sp>
        <p:nvSpPr>
          <p:cNvPr id="28" name="Text e25"/>
          <p:cNvSpPr txBox="1"/>
          <p:nvPr/>
        </p:nvSpPr>
        <p:spPr>
          <a:xfrm>
            <a:off x="3771900" y="1738274"/>
            <a:ext cx="904890" cy="209580"/>
          </a:xfrm>
          <a:prstGeom prst="rect">
            <a:avLst/>
          </a:prstGeom>
          <a:noFill/>
          <a:ln/>
        </p:spPr>
        <p:txBody>
          <a:bodyPr wrap="square" lIns="0" tIns="0" rIns="0" bIns="0" rtlCol="0" anchor="t"/>
          <a:lstStyle/>
          <a:p>
            <a:pPr algn="ctr" indent="0" marL="0">
              <a:lnSpc>
                <a:spcPts val="850"/>
              </a:lnSpc>
              <a:buNone/>
            </a:pPr>
            <a:r>
              <a:rPr lang="en-US" sz="600" b="1" spc="100" kern="0" dirty="0">
                <a:solidFill>
                  <a:srgbClr val="1B1A1A"/>
                </a:solidFill>
                <a:latin typeface="+mn-lt" pitchFamily="34" charset="0"/>
              </a:rPr>
              <a:t>EAST BEACH SPECIALTIES</a:t>
            </a:r>
            <a:endParaRPr lang="en-US" sz="600" dirty="0"/>
          </a:p>
        </p:txBody>
      </p:sp>
      <p:sp>
        <p:nvSpPr>
          <p:cNvPr id="29" name="Text e26"/>
          <p:cNvSpPr txBox="1"/>
          <p:nvPr/>
        </p:nvSpPr>
        <p:spPr>
          <a:xfrm>
            <a:off x="4829586" y="1762140"/>
            <a:ext cx="400050" cy="171450"/>
          </a:xfrm>
          <a:prstGeom prst="rect">
            <a:avLst/>
          </a:prstGeom>
          <a:noFill/>
          <a:ln/>
        </p:spPr>
        <p:txBody>
          <a:bodyPr wrap="square" lIns="0" tIns="0" rIns="0" bIns="0" rtlCol="0" anchor="t"/>
          <a:lstStyle/>
          <a:p>
            <a:pPr algn="ctr" indent="0" marL="0">
              <a:lnSpc>
                <a:spcPts val="700"/>
              </a:lnSpc>
              <a:buNone/>
            </a:pPr>
            <a:r>
              <a:rPr lang="en-US" sz="500" b="1" spc="100" kern="0" dirty="0">
                <a:solidFill>
                  <a:srgbClr val="6F6A66"/>
                </a:solidFill>
                <a:latin typeface="+mn-lt" pitchFamily="34" charset="0"/>
              </a:rPr>
              <a:t>ACQUIRED</a:t>
            </a:r>
            <a:endParaRPr lang="en-US" sz="500" dirty="0"/>
          </a:p>
          <a:p>
            <a:pPr algn="ctr" indent="0" marL="0">
              <a:lnSpc>
                <a:spcPts val="700"/>
              </a:lnSpc>
              <a:buNone/>
            </a:pPr>
            <a:r>
              <a:rPr lang="en-US" sz="500" b="1" spc="100" kern="0" dirty="0">
                <a:solidFill>
                  <a:srgbClr val="6F6A66"/>
                </a:solidFill>
                <a:latin typeface="+mn-lt" pitchFamily="34" charset="0"/>
              </a:rPr>
              <a:t>BY</a:t>
            </a:r>
            <a:endParaRPr lang="en-US" sz="500" dirty="0"/>
          </a:p>
        </p:txBody>
      </p:sp>
      <p:sp>
        <p:nvSpPr>
          <p:cNvPr id="30" name="Shape e27"/>
          <p:cNvSpPr/>
          <p:nvPr/>
        </p:nvSpPr>
        <p:spPr>
          <a:xfrm>
            <a:off x="5295473" y="1666860"/>
            <a:ext cx="1076797" cy="361920"/>
          </a:xfrm>
          <a:prstGeom prst="rect">
            <a:avLst/>
          </a:prstGeom>
          <a:solidFill>
            <a:srgbClr val="FFFFFF"/>
          </a:solidFill>
          <a:ln w="12700">
            <a:solidFill>
              <a:srgbClr val="E3DCD3"/>
            </a:solidFill>
            <a:prstDash val="solid"/>
          </a:ln>
        </p:spPr>
        <p:txBody>
          <a:bodyPr/>
          <a:p/>
        </p:txBody>
      </p:sp>
      <p:sp>
        <p:nvSpPr>
          <p:cNvPr id="31" name="Text e27"/>
          <p:cNvSpPr txBox="1"/>
          <p:nvPr/>
        </p:nvSpPr>
        <p:spPr>
          <a:xfrm>
            <a:off x="5381153" y="1790670"/>
            <a:ext cx="904890" cy="104790"/>
          </a:xfrm>
          <a:prstGeom prst="rect">
            <a:avLst/>
          </a:prstGeom>
          <a:noFill/>
          <a:ln/>
        </p:spPr>
        <p:txBody>
          <a:bodyPr wrap="none" lIns="0" tIns="0" rIns="0" bIns="0" rtlCol="0" anchor="t"/>
          <a:lstStyle/>
          <a:p>
            <a:pPr algn="ctr" indent="0" marL="0">
              <a:lnSpc>
                <a:spcPts val="850"/>
              </a:lnSpc>
              <a:buNone/>
            </a:pPr>
            <a:r>
              <a:rPr lang="en-US" sz="600" b="1" spc="100" kern="0" dirty="0">
                <a:solidFill>
                  <a:srgbClr val="1B1A1A"/>
                </a:solidFill>
                <a:latin typeface="+mn-lt" pitchFamily="34" charset="0"/>
              </a:rPr>
              <a:t>ZEBRA MARKETING</a:t>
            </a:r>
            <a:endParaRPr lang="en-US" sz="600" dirty="0"/>
          </a:p>
        </p:txBody>
      </p:sp>
      <p:sp>
        <p:nvSpPr>
          <p:cNvPr id="32" name="Text e28"/>
          <p:cNvSpPr txBox="1"/>
          <p:nvPr/>
        </p:nvSpPr>
        <p:spPr>
          <a:xfrm>
            <a:off x="3686221" y="2126437"/>
            <a:ext cx="2686050" cy="333390"/>
          </a:xfrm>
          <a:prstGeom prst="rect">
            <a:avLst/>
          </a:prstGeom>
          <a:noFill/>
          <a:ln/>
        </p:spPr>
        <p:txBody>
          <a:bodyPr wrap="square" lIns="0" tIns="0" rIns="0" bIns="0" rtlCol="0" anchor="t"/>
          <a:lstStyle/>
          <a:p>
            <a:pPr algn="l" indent="0" marL="0">
              <a:lnSpc>
                <a:spcPts val="1300"/>
              </a:lnSpc>
              <a:buNone/>
            </a:pPr>
            <a:r>
              <a:rPr lang="en-US" sz="1000" b="1" dirty="0">
                <a:solidFill>
                  <a:srgbClr val="1B1A1A"/>
                </a:solidFill>
                <a:latin typeface="+mn-lt" pitchFamily="34" charset="0"/>
              </a:rPr>
              <a:t>Zebra Marketing agrees to acquire East Beach Specialties</a:t>
            </a:r>
            <a:endParaRPr lang="en-US" sz="1000" dirty="0"/>
          </a:p>
        </p:txBody>
      </p:sp>
      <p:sp>
        <p:nvSpPr>
          <p:cNvPr id="33" name="Text e29"/>
          <p:cNvSpPr txBox="1"/>
          <p:nvPr/>
        </p:nvSpPr>
        <p:spPr>
          <a:xfrm>
            <a:off x="3686221" y="2521732"/>
            <a:ext cx="2686050" cy="785835"/>
          </a:xfrm>
          <a:prstGeom prst="rect">
            <a:avLst/>
          </a:prstGeom>
          <a:noFill/>
          <a:ln/>
        </p:spPr>
        <p:txBody>
          <a:bodyPr wrap="square" lIns="0" tIns="0" rIns="0" bIns="0" rtlCol="0" anchor="t"/>
          <a:lstStyle/>
          <a:p>
            <a:pPr algn="l" indent="0" marL="0">
              <a:lnSpc>
                <a:spcPts val="1250"/>
              </a:lnSpc>
              <a:buNone/>
            </a:pPr>
            <a:r>
              <a:rPr lang="en-US" sz="850" dirty="0">
                <a:solidFill>
                  <a:srgbClr val="333231"/>
                </a:solidFill>
                <a:latin typeface="+mn-lt" pitchFamily="34" charset="0"/>
              </a:rPr>
              <a:t>East Beach Specialties is a promotional products distributor on the Mississippi Gulf Coast (</a:t>
            </a:r>
            <a:pPr algn="l" indent="0" marL="0">
              <a:lnSpc>
                <a:spcPts val="1250"/>
              </a:lnSpc>
              <a:buNone/>
            </a:pPr>
            <a:r>
              <a:rPr lang="en-US" sz="850" u="sng" dirty="0">
                <a:solidFill>
                  <a:srgbClr val="8C6239"/>
                </a:solidFill>
                <a:latin typeface="+mn-lt" pitchFamily="34" charset="0"/>
                <a:hlinkClick r:id="rId2" invalidUrl="" action="" tgtFrame="" tooltip="" history="1" highlightClick="0" endSnd="0">
                  <a:extLst>
                    <a:ext uri="{A12FA001-AC4F-418D-AE19-62706E023703}">
                      <ahyp:hlinkClr xmlns:ahyp="http://schemas.microsoft.com/office/drawing/2018/hyperlinkcolor" val="tx"/>
                    </a:ext>
                  </a:extLst>
                </a:hlinkClick>
              </a:rPr>
              <a:t>ASI</a:t>
            </a:r>
            <a:pPr algn="l" indent="0" marL="0">
              <a:lnSpc>
                <a:spcPts val="1250"/>
              </a:lnSpc>
              <a:buNone/>
            </a:pPr>
            <a:r>
              <a:rPr lang="en-US" sz="850" dirty="0">
                <a:solidFill>
                  <a:srgbClr val="333231"/>
                </a:solidFill>
                <a:latin typeface="+mn-lt" pitchFamily="34" charset="0"/>
              </a:rPr>
              <a:t>). Distributor sales grew 2.5% in the second quarter, and firms under $1 million of revenue were flat (</a:t>
            </a:r>
            <a:pPr algn="l" indent="0" marL="0">
              <a:lnSpc>
                <a:spcPts val="1250"/>
              </a:lnSpc>
              <a:buNone/>
            </a:pPr>
            <a:r>
              <a:rPr lang="en-US" sz="85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ASI Central</a:t>
            </a:r>
            <a:pPr algn="l" indent="0" marL="0">
              <a:lnSpc>
                <a:spcPts val="1250"/>
              </a:lnSpc>
              <a:buNone/>
            </a:pPr>
            <a:r>
              <a:rPr lang="en-US" sz="850" dirty="0">
                <a:solidFill>
                  <a:srgbClr val="333231"/>
                </a:solidFill>
                <a:latin typeface="+mn-lt" pitchFamily="34" charset="0"/>
              </a:rPr>
              <a:t>).</a:t>
            </a:r>
            <a:endParaRPr lang="en-US" sz="850" dirty="0"/>
          </a:p>
        </p:txBody>
      </p:sp>
      <p:sp>
        <p:nvSpPr>
          <p:cNvPr id="34" name="Shape e30s0"/>
          <p:cNvSpPr/>
          <p:nvPr/>
        </p:nvSpPr>
        <p:spPr>
          <a:xfrm>
            <a:off x="3686221" y="3390870"/>
            <a:ext cx="2686050" cy="9510"/>
          </a:xfrm>
          <a:prstGeom prst="rect">
            <a:avLst/>
          </a:prstGeom>
          <a:solidFill>
            <a:srgbClr val="E3DCD3"/>
          </a:solidFill>
          <a:ln/>
        </p:spPr>
        <p:txBody>
          <a:bodyPr/>
          <a:p/>
        </p:txBody>
      </p:sp>
      <p:sp>
        <p:nvSpPr>
          <p:cNvPr id="35" name="Text e30"/>
          <p:cNvSpPr txBox="1"/>
          <p:nvPr/>
        </p:nvSpPr>
        <p:spPr>
          <a:xfrm>
            <a:off x="3686221" y="3476640"/>
            <a:ext cx="2686050" cy="428671"/>
          </a:xfrm>
          <a:prstGeom prst="rect">
            <a:avLst/>
          </a:prstGeom>
          <a:noFill/>
          <a:ln/>
        </p:spPr>
        <p:txBody>
          <a:bodyPr wrap="square" lIns="0" tIns="0" rIns="0" bIns="0" rtlCol="0" anchor="t"/>
          <a:lstStyle/>
          <a:p>
            <a:pPr algn="l" indent="0" marL="0">
              <a:lnSpc>
                <a:spcPts val="1150"/>
              </a:lnSpc>
              <a:buNone/>
            </a:pPr>
            <a:r>
              <a:rPr lang="en-US" sz="600" b="1" spc="100" kern="0" dirty="0">
                <a:solidFill>
                  <a:srgbClr val="8C6239"/>
                </a:solidFill>
                <a:latin typeface="+mn-lt" pitchFamily="34" charset="0"/>
              </a:rPr>
              <a:t>WHAT IT SHOWS</a:t>
            </a:r>
            <a:pPr algn="l" indent="0" marL="0">
              <a:lnSpc>
                <a:spcPts val="1150"/>
              </a:lnSpc>
              <a:buNone/>
            </a:pPr>
            <a:r>
              <a:rPr lang="en-US" sz="800" dirty="0">
                <a:solidFill>
                  <a:srgbClr val="333231"/>
                </a:solidFill>
                <a:latin typeface="+mn-lt" pitchFamily="34" charset="0"/>
              </a:rPr>
              <a:t> Scale is separating promotional products distributors, and smaller firms are joining larger ones.</a:t>
            </a:r>
            <a:endParaRPr lang="en-US" sz="600" dirty="0"/>
          </a:p>
        </p:txBody>
      </p:sp>
      <p:sp>
        <p:nvSpPr>
          <p:cNvPr id="36" name="Shape e31"/>
          <p:cNvSpPr/>
          <p:nvPr/>
        </p:nvSpPr>
        <p:spPr>
          <a:xfrm>
            <a:off x="6667530" y="1238280"/>
            <a:ext cx="2971800" cy="2781330"/>
          </a:xfrm>
          <a:prstGeom prst="rect">
            <a:avLst/>
          </a:prstGeom>
          <a:solidFill>
            <a:srgbClr val="FAF7F3"/>
          </a:solidFill>
          <a:ln/>
        </p:spPr>
        <p:txBody>
          <a:bodyPr/>
          <a:p/>
        </p:txBody>
      </p:sp>
      <p:sp>
        <p:nvSpPr>
          <p:cNvPr id="37" name="Shape e31s0"/>
          <p:cNvSpPr/>
          <p:nvPr/>
        </p:nvSpPr>
        <p:spPr>
          <a:xfrm>
            <a:off x="6667530" y="1238280"/>
            <a:ext cx="2971800" cy="28621"/>
          </a:xfrm>
          <a:prstGeom prst="rect">
            <a:avLst/>
          </a:prstGeom>
          <a:solidFill>
            <a:srgbClr val="B68757"/>
          </a:solidFill>
          <a:ln/>
        </p:spPr>
        <p:txBody>
          <a:bodyPr/>
          <a:p/>
        </p:txBody>
      </p:sp>
      <p:sp>
        <p:nvSpPr>
          <p:cNvPr id="38" name="Shape e33"/>
          <p:cNvSpPr/>
          <p:nvPr/>
        </p:nvSpPr>
        <p:spPr>
          <a:xfrm>
            <a:off x="6810360" y="1404976"/>
            <a:ext cx="767822" cy="142921"/>
          </a:xfrm>
          <a:prstGeom prst="rect">
            <a:avLst/>
          </a:prstGeom>
          <a:solidFill>
            <a:srgbClr val="1B1A1A"/>
          </a:solidFill>
          <a:ln/>
        </p:spPr>
        <p:txBody>
          <a:bodyPr/>
          <a:p/>
        </p:txBody>
      </p:sp>
      <p:sp>
        <p:nvSpPr>
          <p:cNvPr id="39" name="Text e33"/>
          <p:cNvSpPr txBox="1"/>
          <p:nvPr/>
        </p:nvSpPr>
        <p:spPr>
          <a:xfrm>
            <a:off x="6877020" y="1419240"/>
            <a:ext cx="691561" cy="104790"/>
          </a:xfrm>
          <a:prstGeom prst="rect">
            <a:avLst/>
          </a:prstGeom>
          <a:noFill/>
          <a:ln/>
        </p:spPr>
        <p:txBody>
          <a:bodyPr wrap="none" lIns="0" tIns="0" rIns="0" bIns="0" rtlCol="0" anchor="t"/>
          <a:lstStyle/>
          <a:p>
            <a:pPr algn="l" indent="0" marL="0">
              <a:lnSpc>
                <a:spcPts val="850"/>
              </a:lnSpc>
              <a:buNone/>
            </a:pPr>
            <a:r>
              <a:rPr lang="en-US" sz="550" b="1" spc="100" kern="0" dirty="0">
                <a:solidFill>
                  <a:srgbClr val="FFFFFF"/>
                </a:solidFill>
                <a:latin typeface="+mn-lt" pitchFamily="34" charset="0"/>
              </a:rPr>
              <a:t>AUGUST 2026</a:t>
            </a:r>
            <a:endParaRPr lang="en-US" sz="550" dirty="0"/>
          </a:p>
        </p:txBody>
      </p:sp>
      <p:sp>
        <p:nvSpPr>
          <p:cNvPr id="40" name="Text e34"/>
          <p:cNvSpPr txBox="1"/>
          <p:nvPr/>
        </p:nvSpPr>
        <p:spPr>
          <a:xfrm>
            <a:off x="7654351" y="1366845"/>
            <a:ext cx="1838310" cy="209580"/>
          </a:xfrm>
          <a:prstGeom prst="rect">
            <a:avLst/>
          </a:prstGeom>
          <a:noFill/>
          <a:ln/>
        </p:spPr>
        <p:txBody>
          <a:bodyPr wrap="square" lIns="0" tIns="0" rIns="0" bIns="0" rtlCol="0" anchor="t"/>
          <a:lstStyle/>
          <a:p>
            <a:pPr algn="r" indent="0" marL="0">
              <a:lnSpc>
                <a:spcPts val="850"/>
              </a:lnSpc>
              <a:buNone/>
            </a:pPr>
            <a:r>
              <a:rPr lang="en-US" sz="550" b="1" spc="100" kern="0" dirty="0">
                <a:solidFill>
                  <a:srgbClr val="8C6239"/>
                </a:solidFill>
                <a:latin typeface="+mn-lt" pitchFamily="34" charset="0"/>
              </a:rPr>
              <a:t>ENGINEERING, ARCHITECTURE &amp; CONSULTING</a:t>
            </a:r>
            <a:endParaRPr lang="en-US" sz="550" dirty="0"/>
          </a:p>
        </p:txBody>
      </p:sp>
      <p:sp>
        <p:nvSpPr>
          <p:cNvPr id="41" name="Shape e36"/>
          <p:cNvSpPr/>
          <p:nvPr/>
        </p:nvSpPr>
        <p:spPr>
          <a:xfrm>
            <a:off x="6810360" y="1666860"/>
            <a:ext cx="1076797" cy="361920"/>
          </a:xfrm>
          <a:prstGeom prst="rect">
            <a:avLst/>
          </a:prstGeom>
          <a:solidFill>
            <a:srgbClr val="FFFFFF"/>
          </a:solidFill>
          <a:ln w="12700">
            <a:solidFill>
              <a:srgbClr val="E3DCD3"/>
            </a:solidFill>
            <a:prstDash val="solid"/>
          </a:ln>
        </p:spPr>
        <p:txBody>
          <a:bodyPr/>
          <a:p/>
        </p:txBody>
      </p:sp>
      <p:sp>
        <p:nvSpPr>
          <p:cNvPr id="42" name="Text e36"/>
          <p:cNvSpPr txBox="1"/>
          <p:nvPr/>
        </p:nvSpPr>
        <p:spPr>
          <a:xfrm>
            <a:off x="6896130" y="1685971"/>
            <a:ext cx="904890" cy="314371"/>
          </a:xfrm>
          <a:prstGeom prst="rect">
            <a:avLst/>
          </a:prstGeom>
          <a:noFill/>
          <a:ln/>
        </p:spPr>
        <p:txBody>
          <a:bodyPr wrap="square" lIns="0" tIns="0" rIns="0" bIns="0" rtlCol="0" anchor="t"/>
          <a:lstStyle/>
          <a:p>
            <a:pPr algn="ctr" indent="0" marL="0">
              <a:lnSpc>
                <a:spcPts val="850"/>
              </a:lnSpc>
              <a:buNone/>
            </a:pPr>
            <a:r>
              <a:rPr lang="en-US" sz="600" b="1" spc="100" kern="0" dirty="0">
                <a:solidFill>
                  <a:srgbClr val="1B1A1A"/>
                </a:solidFill>
                <a:latin typeface="+mn-lt" pitchFamily="34" charset="0"/>
              </a:rPr>
              <a:t>BOWMAN CONSULTING GROUP</a:t>
            </a:r>
            <a:endParaRPr lang="en-US" sz="600" dirty="0"/>
          </a:p>
        </p:txBody>
      </p:sp>
      <p:sp>
        <p:nvSpPr>
          <p:cNvPr id="43" name="Text e37"/>
          <p:cNvSpPr txBox="1"/>
          <p:nvPr/>
        </p:nvSpPr>
        <p:spPr>
          <a:xfrm>
            <a:off x="7953817" y="1762140"/>
            <a:ext cx="400050" cy="171450"/>
          </a:xfrm>
          <a:prstGeom prst="rect">
            <a:avLst/>
          </a:prstGeom>
          <a:noFill/>
          <a:ln/>
        </p:spPr>
        <p:txBody>
          <a:bodyPr wrap="square" lIns="0" tIns="0" rIns="0" bIns="0" rtlCol="0" anchor="t"/>
          <a:lstStyle/>
          <a:p>
            <a:pPr algn="ctr" indent="0" marL="0">
              <a:lnSpc>
                <a:spcPts val="700"/>
              </a:lnSpc>
              <a:buNone/>
            </a:pPr>
            <a:r>
              <a:rPr lang="en-US" sz="500" b="1" spc="100" kern="0" dirty="0">
                <a:solidFill>
                  <a:srgbClr val="6F6A66"/>
                </a:solidFill>
                <a:latin typeface="+mn-lt" pitchFamily="34" charset="0"/>
              </a:rPr>
              <a:t>ACQUIRED</a:t>
            </a:r>
            <a:endParaRPr lang="en-US" sz="500" dirty="0"/>
          </a:p>
          <a:p>
            <a:pPr algn="ctr" indent="0" marL="0">
              <a:lnSpc>
                <a:spcPts val="700"/>
              </a:lnSpc>
              <a:buNone/>
            </a:pPr>
            <a:r>
              <a:rPr lang="en-US" sz="500" b="1" spc="100" kern="0" dirty="0">
                <a:solidFill>
                  <a:srgbClr val="6F6A66"/>
                </a:solidFill>
                <a:latin typeface="+mn-lt" pitchFamily="34" charset="0"/>
              </a:rPr>
              <a:t>BY</a:t>
            </a:r>
            <a:endParaRPr lang="en-US" sz="500" dirty="0"/>
          </a:p>
        </p:txBody>
      </p:sp>
      <p:sp>
        <p:nvSpPr>
          <p:cNvPr id="44" name="Shape e38"/>
          <p:cNvSpPr/>
          <p:nvPr/>
        </p:nvSpPr>
        <p:spPr>
          <a:xfrm>
            <a:off x="8419612" y="1666860"/>
            <a:ext cx="1076797" cy="361920"/>
          </a:xfrm>
          <a:prstGeom prst="rect">
            <a:avLst/>
          </a:prstGeom>
          <a:solidFill>
            <a:srgbClr val="FFFFFF"/>
          </a:solidFill>
          <a:ln w="12700">
            <a:solidFill>
              <a:srgbClr val="E3DCD3"/>
            </a:solidFill>
            <a:prstDash val="solid"/>
          </a:ln>
        </p:spPr>
        <p:txBody>
          <a:bodyPr/>
          <a:p/>
        </p:txBody>
      </p:sp>
      <p:sp>
        <p:nvSpPr>
          <p:cNvPr id="45" name="Text e38"/>
          <p:cNvSpPr txBox="1"/>
          <p:nvPr/>
        </p:nvSpPr>
        <p:spPr>
          <a:xfrm>
            <a:off x="8505383" y="1738274"/>
            <a:ext cx="904890" cy="209580"/>
          </a:xfrm>
          <a:prstGeom prst="rect">
            <a:avLst/>
          </a:prstGeom>
          <a:noFill/>
          <a:ln/>
        </p:spPr>
        <p:txBody>
          <a:bodyPr wrap="square" lIns="0" tIns="0" rIns="0" bIns="0" rtlCol="0" anchor="t"/>
          <a:lstStyle/>
          <a:p>
            <a:pPr algn="ctr" indent="0" marL="0">
              <a:lnSpc>
                <a:spcPts val="850"/>
              </a:lnSpc>
              <a:buNone/>
            </a:pPr>
            <a:r>
              <a:rPr lang="en-US" sz="600" b="1" spc="100" kern="0" dirty="0">
                <a:solidFill>
                  <a:srgbClr val="1B1A1A"/>
                </a:solidFill>
                <a:latin typeface="+mn-lt" pitchFamily="34" charset="0"/>
              </a:rPr>
              <a:t>BERNHARD CAPITAL PARTNERS</a:t>
            </a:r>
            <a:endParaRPr lang="en-US" sz="600" dirty="0"/>
          </a:p>
        </p:txBody>
      </p:sp>
      <p:sp>
        <p:nvSpPr>
          <p:cNvPr id="46" name="Text e39"/>
          <p:cNvSpPr txBox="1"/>
          <p:nvPr/>
        </p:nvSpPr>
        <p:spPr>
          <a:xfrm>
            <a:off x="6810360" y="2126437"/>
            <a:ext cx="2686050" cy="333390"/>
          </a:xfrm>
          <a:prstGeom prst="rect">
            <a:avLst/>
          </a:prstGeom>
          <a:noFill/>
          <a:ln/>
        </p:spPr>
        <p:txBody>
          <a:bodyPr wrap="square" lIns="0" tIns="0" rIns="0" bIns="0" rtlCol="0" anchor="t"/>
          <a:lstStyle/>
          <a:p>
            <a:pPr algn="l" indent="0" marL="0">
              <a:lnSpc>
                <a:spcPts val="1300"/>
              </a:lnSpc>
              <a:buNone/>
            </a:pPr>
            <a:r>
              <a:rPr lang="en-US" sz="1000" b="1" dirty="0">
                <a:solidFill>
                  <a:srgbClr val="1B1A1A"/>
                </a:solidFill>
                <a:latin typeface="+mn-lt" pitchFamily="34" charset="0"/>
              </a:rPr>
              <a:t>Bernhard Capital agrees to buy Bowman for about $1.0 billion</a:t>
            </a:r>
            <a:endParaRPr lang="en-US" sz="1000" dirty="0"/>
          </a:p>
        </p:txBody>
      </p:sp>
      <p:sp>
        <p:nvSpPr>
          <p:cNvPr id="47" name="Text e40"/>
          <p:cNvSpPr txBox="1"/>
          <p:nvPr/>
        </p:nvSpPr>
        <p:spPr>
          <a:xfrm>
            <a:off x="6810360" y="2521732"/>
            <a:ext cx="2686050" cy="785835"/>
          </a:xfrm>
          <a:prstGeom prst="rect">
            <a:avLst/>
          </a:prstGeom>
          <a:noFill/>
          <a:ln/>
        </p:spPr>
        <p:txBody>
          <a:bodyPr wrap="square" lIns="0" tIns="0" rIns="0" bIns="0" rtlCol="0" anchor="t"/>
          <a:lstStyle/>
          <a:p>
            <a:pPr algn="l" indent="0" marL="0">
              <a:lnSpc>
                <a:spcPts val="1250"/>
              </a:lnSpc>
              <a:buNone/>
            </a:pPr>
            <a:r>
              <a:rPr lang="en-US" sz="850" dirty="0">
                <a:solidFill>
                  <a:srgbClr val="333231"/>
                </a:solidFill>
                <a:latin typeface="+mn-lt" pitchFamily="34" charset="0"/>
              </a:rPr>
              <a:t>Bowman is a founder-led engineering firm with more than 2,500 employees and a backlog of $658.7 million, up 50.3% (</a:t>
            </a:r>
            <a:pPr algn="l" indent="0" marL="0">
              <a:lnSpc>
                <a:spcPts val="1250"/>
              </a:lnSpc>
              <a:buNone/>
            </a:pPr>
            <a:r>
              <a:rPr lang="en-US" sz="85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Bowman results</a:t>
            </a:r>
            <a:pPr algn="l" indent="0" marL="0">
              <a:lnSpc>
                <a:spcPts val="1250"/>
              </a:lnSpc>
              <a:buNone/>
            </a:pPr>
            <a:r>
              <a:rPr lang="en-US" sz="850" dirty="0">
                <a:solidFill>
                  <a:srgbClr val="333231"/>
                </a:solidFill>
                <a:latin typeface="+mn-lt" pitchFamily="34" charset="0"/>
              </a:rPr>
              <a:t>). The offer of $43.00 per share is a 58% premium to the prior close (</a:t>
            </a:r>
            <a:pPr algn="l" indent="0" marL="0">
              <a:lnSpc>
                <a:spcPts val="1250"/>
              </a:lnSpc>
              <a:buNone/>
            </a:pPr>
            <a:r>
              <a:rPr lang="en-US" sz="850" u="sng" dirty="0">
                <a:solidFill>
                  <a:srgbClr val="8C6239"/>
                </a:solidFill>
                <a:latin typeface="+mn-lt" pitchFamily="34" charset="0"/>
                <a:hlinkClick r:id="rId5" invalidUrl="" action="" tgtFrame="" tooltip="" history="1" highlightClick="0" endSnd="0">
                  <a:extLst>
                    <a:ext uri="{A12FA001-AC4F-418D-AE19-62706E023703}">
                      <ahyp:hlinkClr xmlns:ahyp="http://schemas.microsoft.com/office/drawing/2018/hyperlinkcolor" val="tx"/>
                    </a:ext>
                  </a:extLst>
                </a:hlinkClick>
              </a:rPr>
              <a:t>Bowman</a:t>
            </a:r>
            <a:pPr algn="l" indent="0" marL="0">
              <a:lnSpc>
                <a:spcPts val="1250"/>
              </a:lnSpc>
              <a:buNone/>
            </a:pPr>
            <a:r>
              <a:rPr lang="en-US" sz="850" dirty="0">
                <a:solidFill>
                  <a:srgbClr val="333231"/>
                </a:solidFill>
                <a:latin typeface="+mn-lt" pitchFamily="34" charset="0"/>
              </a:rPr>
              <a:t>).</a:t>
            </a:r>
            <a:endParaRPr lang="en-US" sz="850" dirty="0"/>
          </a:p>
        </p:txBody>
      </p:sp>
      <p:sp>
        <p:nvSpPr>
          <p:cNvPr id="48" name="Shape e41s0"/>
          <p:cNvSpPr/>
          <p:nvPr/>
        </p:nvSpPr>
        <p:spPr>
          <a:xfrm>
            <a:off x="6810360" y="3533790"/>
            <a:ext cx="2686050" cy="9510"/>
          </a:xfrm>
          <a:prstGeom prst="rect">
            <a:avLst/>
          </a:prstGeom>
          <a:solidFill>
            <a:srgbClr val="E3DCD3"/>
          </a:solidFill>
          <a:ln/>
        </p:spPr>
        <p:txBody>
          <a:bodyPr/>
          <a:p/>
        </p:txBody>
      </p:sp>
      <p:sp>
        <p:nvSpPr>
          <p:cNvPr id="49" name="Text e41"/>
          <p:cNvSpPr txBox="1"/>
          <p:nvPr/>
        </p:nvSpPr>
        <p:spPr>
          <a:xfrm>
            <a:off x="6810360" y="3619470"/>
            <a:ext cx="2686050" cy="285750"/>
          </a:xfrm>
          <a:prstGeom prst="rect">
            <a:avLst/>
          </a:prstGeom>
          <a:noFill/>
          <a:ln/>
        </p:spPr>
        <p:txBody>
          <a:bodyPr wrap="square" lIns="0" tIns="0" rIns="0" bIns="0" rtlCol="0" anchor="t"/>
          <a:lstStyle/>
          <a:p>
            <a:pPr algn="l" indent="0" marL="0">
              <a:lnSpc>
                <a:spcPts val="1150"/>
              </a:lnSpc>
              <a:buNone/>
            </a:pPr>
            <a:r>
              <a:rPr lang="en-US" sz="600" b="1" spc="100" kern="0" dirty="0">
                <a:solidFill>
                  <a:srgbClr val="8C6239"/>
                </a:solidFill>
                <a:latin typeface="+mn-lt" pitchFamily="34" charset="0"/>
              </a:rPr>
              <a:t>WHAT IT SHOWS</a:t>
            </a:r>
            <a:pPr algn="l" indent="0" marL="0">
              <a:lnSpc>
                <a:spcPts val="1150"/>
              </a:lnSpc>
              <a:buNone/>
            </a:pPr>
            <a:r>
              <a:rPr lang="en-US" sz="800" dirty="0">
                <a:solidFill>
                  <a:srgbClr val="333231"/>
                </a:solidFill>
                <a:latin typeface="+mn-lt" pitchFamily="34" charset="0"/>
              </a:rPr>
              <a:t> Private capital is paying for licensed staff and funded backlog.</a:t>
            </a:r>
            <a:endParaRPr lang="en-US" sz="600" dirty="0"/>
          </a:p>
        </p:txBody>
      </p:sp>
      <p:sp>
        <p:nvSpPr>
          <p:cNvPr id="50" name="Shape e42"/>
          <p:cNvSpPr/>
          <p:nvPr/>
        </p:nvSpPr>
        <p:spPr>
          <a:xfrm>
            <a:off x="419070" y="4152930"/>
            <a:ext cx="2971800" cy="2781330"/>
          </a:xfrm>
          <a:prstGeom prst="rect">
            <a:avLst/>
          </a:prstGeom>
          <a:solidFill>
            <a:srgbClr val="FAF7F3"/>
          </a:solidFill>
          <a:ln/>
        </p:spPr>
        <p:txBody>
          <a:bodyPr/>
          <a:p/>
        </p:txBody>
      </p:sp>
      <p:sp>
        <p:nvSpPr>
          <p:cNvPr id="51" name="Shape e42s0"/>
          <p:cNvSpPr/>
          <p:nvPr/>
        </p:nvSpPr>
        <p:spPr>
          <a:xfrm>
            <a:off x="419070" y="4152930"/>
            <a:ext cx="2971800" cy="28621"/>
          </a:xfrm>
          <a:prstGeom prst="rect">
            <a:avLst/>
          </a:prstGeom>
          <a:solidFill>
            <a:srgbClr val="B68757"/>
          </a:solidFill>
          <a:ln/>
        </p:spPr>
        <p:txBody>
          <a:bodyPr/>
          <a:p/>
        </p:txBody>
      </p:sp>
      <p:sp>
        <p:nvSpPr>
          <p:cNvPr id="52" name="Shape e44"/>
          <p:cNvSpPr/>
          <p:nvPr/>
        </p:nvSpPr>
        <p:spPr>
          <a:xfrm>
            <a:off x="561990" y="4286250"/>
            <a:ext cx="767822" cy="142921"/>
          </a:xfrm>
          <a:prstGeom prst="rect">
            <a:avLst/>
          </a:prstGeom>
          <a:solidFill>
            <a:srgbClr val="1B1A1A"/>
          </a:solidFill>
          <a:ln/>
        </p:spPr>
        <p:txBody>
          <a:bodyPr/>
          <a:p/>
        </p:txBody>
      </p:sp>
      <p:sp>
        <p:nvSpPr>
          <p:cNvPr id="53" name="Text e44"/>
          <p:cNvSpPr txBox="1"/>
          <p:nvPr/>
        </p:nvSpPr>
        <p:spPr>
          <a:xfrm>
            <a:off x="628650" y="4300515"/>
            <a:ext cx="691561" cy="104790"/>
          </a:xfrm>
          <a:prstGeom prst="rect">
            <a:avLst/>
          </a:prstGeom>
          <a:noFill/>
          <a:ln/>
        </p:spPr>
        <p:txBody>
          <a:bodyPr wrap="none" lIns="0" tIns="0" rIns="0" bIns="0" rtlCol="0" anchor="t"/>
          <a:lstStyle/>
          <a:p>
            <a:pPr algn="l" indent="0" marL="0">
              <a:lnSpc>
                <a:spcPts val="850"/>
              </a:lnSpc>
              <a:buNone/>
            </a:pPr>
            <a:r>
              <a:rPr lang="en-US" sz="550" b="1" spc="100" kern="0" dirty="0">
                <a:solidFill>
                  <a:srgbClr val="FFFFFF"/>
                </a:solidFill>
                <a:latin typeface="+mn-lt" pitchFamily="34" charset="0"/>
              </a:rPr>
              <a:t>AUGUST 2026</a:t>
            </a:r>
            <a:endParaRPr lang="en-US" sz="550" dirty="0"/>
          </a:p>
        </p:txBody>
      </p:sp>
      <p:sp>
        <p:nvSpPr>
          <p:cNvPr id="54" name="Text e45"/>
          <p:cNvSpPr txBox="1"/>
          <p:nvPr/>
        </p:nvSpPr>
        <p:spPr>
          <a:xfrm>
            <a:off x="1650675" y="4300515"/>
            <a:ext cx="1600200" cy="104790"/>
          </a:xfrm>
          <a:prstGeom prst="rect">
            <a:avLst/>
          </a:prstGeom>
          <a:noFill/>
          <a:ln/>
        </p:spPr>
        <p:txBody>
          <a:bodyPr wrap="none" lIns="0" tIns="0" rIns="0" bIns="0" rtlCol="0" anchor="t"/>
          <a:lstStyle/>
          <a:p>
            <a:pPr algn="r" indent="0" marL="0">
              <a:lnSpc>
                <a:spcPts val="850"/>
              </a:lnSpc>
              <a:buNone/>
            </a:pPr>
            <a:r>
              <a:rPr lang="en-US" sz="550" b="1" spc="100" kern="0" dirty="0">
                <a:solidFill>
                  <a:srgbClr val="8C6239"/>
                </a:solidFill>
                <a:latin typeface="+mn-lt" pitchFamily="34" charset="0"/>
              </a:rPr>
              <a:t>FINANCIAL &amp; INSURANCE SERVICES</a:t>
            </a:r>
            <a:endParaRPr lang="en-US" sz="550" dirty="0"/>
          </a:p>
        </p:txBody>
      </p:sp>
      <p:sp>
        <p:nvSpPr>
          <p:cNvPr id="55" name="Shape e47"/>
          <p:cNvSpPr/>
          <p:nvPr/>
        </p:nvSpPr>
        <p:spPr>
          <a:xfrm>
            <a:off x="561990" y="4514850"/>
            <a:ext cx="1076797" cy="361920"/>
          </a:xfrm>
          <a:prstGeom prst="rect">
            <a:avLst/>
          </a:prstGeom>
          <a:solidFill>
            <a:srgbClr val="FFFFFF"/>
          </a:solidFill>
          <a:ln w="12700">
            <a:solidFill>
              <a:srgbClr val="E3DCD3"/>
            </a:solidFill>
            <a:prstDash val="solid"/>
          </a:ln>
        </p:spPr>
        <p:txBody>
          <a:bodyPr/>
          <a:p/>
        </p:txBody>
      </p:sp>
      <p:sp>
        <p:nvSpPr>
          <p:cNvPr id="56" name="Text e47"/>
          <p:cNvSpPr txBox="1"/>
          <p:nvPr/>
        </p:nvSpPr>
        <p:spPr>
          <a:xfrm>
            <a:off x="647670" y="4586265"/>
            <a:ext cx="904890" cy="209580"/>
          </a:xfrm>
          <a:prstGeom prst="rect">
            <a:avLst/>
          </a:prstGeom>
          <a:noFill/>
          <a:ln/>
        </p:spPr>
        <p:txBody>
          <a:bodyPr wrap="square" lIns="0" tIns="0" rIns="0" bIns="0" rtlCol="0" anchor="t"/>
          <a:lstStyle/>
          <a:p>
            <a:pPr algn="ctr" indent="0" marL="0">
              <a:lnSpc>
                <a:spcPts val="850"/>
              </a:lnSpc>
              <a:buNone/>
            </a:pPr>
            <a:r>
              <a:rPr lang="en-US" sz="600" b="1" spc="100" kern="0" dirty="0">
                <a:solidFill>
                  <a:srgbClr val="1B1A1A"/>
                </a:solidFill>
                <a:latin typeface="+mn-lt" pitchFamily="34" charset="0"/>
              </a:rPr>
              <a:t>HARRIS INSURANCE SERVICES</a:t>
            </a:r>
            <a:endParaRPr lang="en-US" sz="600" dirty="0"/>
          </a:p>
        </p:txBody>
      </p:sp>
      <p:sp>
        <p:nvSpPr>
          <p:cNvPr id="57" name="Text e48"/>
          <p:cNvSpPr txBox="1"/>
          <p:nvPr/>
        </p:nvSpPr>
        <p:spPr>
          <a:xfrm>
            <a:off x="1705447" y="4610130"/>
            <a:ext cx="400050" cy="171450"/>
          </a:xfrm>
          <a:prstGeom prst="rect">
            <a:avLst/>
          </a:prstGeom>
          <a:noFill/>
          <a:ln/>
        </p:spPr>
        <p:txBody>
          <a:bodyPr wrap="square" lIns="0" tIns="0" rIns="0" bIns="0" rtlCol="0" anchor="t"/>
          <a:lstStyle/>
          <a:p>
            <a:pPr algn="ctr" indent="0" marL="0">
              <a:lnSpc>
                <a:spcPts val="700"/>
              </a:lnSpc>
              <a:buNone/>
            </a:pPr>
            <a:r>
              <a:rPr lang="en-US" sz="500" b="1" spc="100" kern="0" dirty="0">
                <a:solidFill>
                  <a:srgbClr val="6F6A66"/>
                </a:solidFill>
                <a:latin typeface="+mn-lt" pitchFamily="34" charset="0"/>
              </a:rPr>
              <a:t>ACQUIRED</a:t>
            </a:r>
            <a:endParaRPr lang="en-US" sz="500" dirty="0"/>
          </a:p>
          <a:p>
            <a:pPr algn="ctr" indent="0" marL="0">
              <a:lnSpc>
                <a:spcPts val="700"/>
              </a:lnSpc>
              <a:buNone/>
            </a:pPr>
            <a:r>
              <a:rPr lang="en-US" sz="500" b="1" spc="100" kern="0" dirty="0">
                <a:solidFill>
                  <a:srgbClr val="6F6A66"/>
                </a:solidFill>
                <a:latin typeface="+mn-lt" pitchFamily="34" charset="0"/>
              </a:rPr>
              <a:t>BY</a:t>
            </a:r>
            <a:endParaRPr lang="en-US" sz="500" dirty="0"/>
          </a:p>
        </p:txBody>
      </p:sp>
      <p:sp>
        <p:nvSpPr>
          <p:cNvPr id="58" name="Shape e49"/>
          <p:cNvSpPr/>
          <p:nvPr/>
        </p:nvSpPr>
        <p:spPr>
          <a:xfrm>
            <a:off x="2171243" y="4514850"/>
            <a:ext cx="1076797" cy="361920"/>
          </a:xfrm>
          <a:prstGeom prst="rect">
            <a:avLst/>
          </a:prstGeom>
          <a:solidFill>
            <a:srgbClr val="FFFFFF"/>
          </a:solidFill>
          <a:ln w="12700">
            <a:solidFill>
              <a:srgbClr val="E3DCD3"/>
            </a:solidFill>
            <a:prstDash val="solid"/>
          </a:ln>
        </p:spPr>
        <p:txBody>
          <a:bodyPr/>
          <a:p/>
        </p:txBody>
      </p:sp>
      <p:sp>
        <p:nvSpPr>
          <p:cNvPr id="59" name="Text e49"/>
          <p:cNvSpPr txBox="1"/>
          <p:nvPr/>
        </p:nvSpPr>
        <p:spPr>
          <a:xfrm>
            <a:off x="2257014" y="4533870"/>
            <a:ext cx="904890" cy="314371"/>
          </a:xfrm>
          <a:prstGeom prst="rect">
            <a:avLst/>
          </a:prstGeom>
          <a:noFill/>
          <a:ln/>
        </p:spPr>
        <p:txBody>
          <a:bodyPr wrap="square" lIns="0" tIns="0" rIns="0" bIns="0" rtlCol="0" anchor="t"/>
          <a:lstStyle/>
          <a:p>
            <a:pPr algn="ctr" indent="0" marL="0">
              <a:lnSpc>
                <a:spcPts val="850"/>
              </a:lnSpc>
              <a:buNone/>
            </a:pPr>
            <a:r>
              <a:rPr lang="en-US" sz="600" b="1" spc="100" kern="0" dirty="0">
                <a:solidFill>
                  <a:srgbClr val="1B1A1A"/>
                </a:solidFill>
                <a:latin typeface="+mn-lt" pitchFamily="34" charset="0"/>
              </a:rPr>
              <a:t>INSZONE INSURANCE SERVICES</a:t>
            </a:r>
            <a:endParaRPr lang="en-US" sz="600" dirty="0"/>
          </a:p>
        </p:txBody>
      </p:sp>
      <p:sp>
        <p:nvSpPr>
          <p:cNvPr id="60" name="Text e50"/>
          <p:cNvSpPr txBox="1"/>
          <p:nvPr/>
        </p:nvSpPr>
        <p:spPr>
          <a:xfrm>
            <a:off x="561990" y="4974427"/>
            <a:ext cx="2686050" cy="333390"/>
          </a:xfrm>
          <a:prstGeom prst="rect">
            <a:avLst/>
          </a:prstGeom>
          <a:noFill/>
          <a:ln/>
        </p:spPr>
        <p:txBody>
          <a:bodyPr wrap="square" lIns="0" tIns="0" rIns="0" bIns="0" rtlCol="0" anchor="t"/>
          <a:lstStyle/>
          <a:p>
            <a:pPr algn="l" indent="0" marL="0">
              <a:lnSpc>
                <a:spcPts val="1300"/>
              </a:lnSpc>
              <a:buNone/>
            </a:pPr>
            <a:r>
              <a:rPr lang="en-US" sz="1000" b="1" dirty="0">
                <a:solidFill>
                  <a:srgbClr val="1B1A1A"/>
                </a:solidFill>
                <a:latin typeface="+mn-lt" pitchFamily="34" charset="0"/>
              </a:rPr>
              <a:t>Inszone acquires a three-generation agency in Tulsa</a:t>
            </a:r>
            <a:endParaRPr lang="en-US" sz="1000" dirty="0"/>
          </a:p>
        </p:txBody>
      </p:sp>
      <p:sp>
        <p:nvSpPr>
          <p:cNvPr id="61" name="Text e51"/>
          <p:cNvSpPr txBox="1"/>
          <p:nvPr/>
        </p:nvSpPr>
        <p:spPr>
          <a:xfrm>
            <a:off x="561990" y="5369723"/>
            <a:ext cx="2686050" cy="785835"/>
          </a:xfrm>
          <a:prstGeom prst="rect">
            <a:avLst/>
          </a:prstGeom>
          <a:noFill/>
          <a:ln/>
        </p:spPr>
        <p:txBody>
          <a:bodyPr wrap="square" lIns="0" tIns="0" rIns="0" bIns="0" rtlCol="0" anchor="t"/>
          <a:lstStyle/>
          <a:p>
            <a:pPr algn="l" indent="0" marL="0">
              <a:lnSpc>
                <a:spcPts val="1250"/>
              </a:lnSpc>
              <a:buNone/>
            </a:pPr>
            <a:r>
              <a:rPr lang="en-US" sz="850" dirty="0">
                <a:solidFill>
                  <a:srgbClr val="333231"/>
                </a:solidFill>
                <a:latin typeface="+mn-lt" pitchFamily="34" charset="0"/>
              </a:rPr>
              <a:t>Harris Insurance Services was founded in 1925 in West Tulsa, Oklahoma (</a:t>
            </a:r>
            <a:pPr algn="l" indent="0" marL="0">
              <a:lnSpc>
                <a:spcPts val="1250"/>
              </a:lnSpc>
              <a:buNone/>
            </a:pPr>
            <a:r>
              <a:rPr lang="en-US" sz="850" u="sng" dirty="0">
                <a:solidFill>
                  <a:srgbClr val="8C6239"/>
                </a:solidFill>
                <a:latin typeface="+mn-lt" pitchFamily="34" charset="0"/>
                <a:hlinkClick r:id="rId6" invalidUrl="" action="" tgtFrame="" tooltip="" history="1" highlightClick="0" endSnd="0">
                  <a:extLst>
                    <a:ext uri="{A12FA001-AC4F-418D-AE19-62706E023703}">
                      <ahyp:hlinkClr xmlns:ahyp="http://schemas.microsoft.com/office/drawing/2018/hyperlinkcolor" val="tx"/>
                    </a:ext>
                  </a:extLst>
                </a:hlinkClick>
              </a:rPr>
              <a:t>Insurance Business</a:t>
            </a:r>
            <a:pPr algn="l" indent="0" marL="0">
              <a:lnSpc>
                <a:spcPts val="1250"/>
              </a:lnSpc>
              <a:buNone/>
            </a:pPr>
            <a:r>
              <a:rPr lang="en-US" sz="850" dirty="0">
                <a:solidFill>
                  <a:srgbClr val="333231"/>
                </a:solidFill>
                <a:latin typeface="+mn-lt" pitchFamily="34" charset="0"/>
              </a:rPr>
              <a:t>). King Risk Partners, EPIC and World Insurance Associates each bought a long-established agency in the weeks that followed (</a:t>
            </a:r>
            <a:pPr algn="l" indent="0" marL="0">
              <a:lnSpc>
                <a:spcPts val="1250"/>
              </a:lnSpc>
              <a:buNone/>
            </a:pPr>
            <a:r>
              <a:rPr lang="en-US" sz="850" u="sng" dirty="0">
                <a:solidFill>
                  <a:srgbClr val="8C6239"/>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Insurance Journal</a:t>
            </a:r>
            <a:pPr algn="l" indent="0" marL="0">
              <a:lnSpc>
                <a:spcPts val="1250"/>
              </a:lnSpc>
              <a:buNone/>
            </a:pPr>
            <a:r>
              <a:rPr lang="en-US" sz="850" dirty="0">
                <a:solidFill>
                  <a:srgbClr val="333231"/>
                </a:solidFill>
                <a:latin typeface="+mn-lt" pitchFamily="34" charset="0"/>
              </a:rPr>
              <a:t>).</a:t>
            </a:r>
            <a:endParaRPr lang="en-US" sz="850" dirty="0"/>
          </a:p>
        </p:txBody>
      </p:sp>
      <p:sp>
        <p:nvSpPr>
          <p:cNvPr id="62" name="Shape e52s0"/>
          <p:cNvSpPr/>
          <p:nvPr/>
        </p:nvSpPr>
        <p:spPr>
          <a:xfrm>
            <a:off x="561990" y="6448440"/>
            <a:ext cx="2686050" cy="9510"/>
          </a:xfrm>
          <a:prstGeom prst="rect">
            <a:avLst/>
          </a:prstGeom>
          <a:solidFill>
            <a:srgbClr val="E3DCD3"/>
          </a:solidFill>
          <a:ln/>
        </p:spPr>
        <p:txBody>
          <a:bodyPr/>
          <a:p/>
        </p:txBody>
      </p:sp>
      <p:sp>
        <p:nvSpPr>
          <p:cNvPr id="63" name="Text e52"/>
          <p:cNvSpPr txBox="1"/>
          <p:nvPr/>
        </p:nvSpPr>
        <p:spPr>
          <a:xfrm>
            <a:off x="561990" y="6534120"/>
            <a:ext cx="2686050" cy="285750"/>
          </a:xfrm>
          <a:prstGeom prst="rect">
            <a:avLst/>
          </a:prstGeom>
          <a:noFill/>
          <a:ln/>
        </p:spPr>
        <p:txBody>
          <a:bodyPr wrap="square" lIns="0" tIns="0" rIns="0" bIns="0" rtlCol="0" anchor="t"/>
          <a:lstStyle/>
          <a:p>
            <a:pPr algn="l" indent="0" marL="0">
              <a:lnSpc>
                <a:spcPts val="1150"/>
              </a:lnSpc>
              <a:buNone/>
            </a:pPr>
            <a:r>
              <a:rPr lang="en-US" sz="600" b="1" spc="100" kern="0" dirty="0">
                <a:solidFill>
                  <a:srgbClr val="8C6239"/>
                </a:solidFill>
                <a:latin typeface="+mn-lt" pitchFamily="34" charset="0"/>
              </a:rPr>
              <a:t>WHAT IT SHOWS</a:t>
            </a:r>
            <a:pPr algn="l" indent="0" marL="0">
              <a:lnSpc>
                <a:spcPts val="1150"/>
              </a:lnSpc>
              <a:buNone/>
            </a:pPr>
            <a:r>
              <a:rPr lang="en-US" sz="800" dirty="0">
                <a:solidFill>
                  <a:srgbClr val="333231"/>
                </a:solidFill>
                <a:latin typeface="+mn-lt" pitchFamily="34" charset="0"/>
              </a:rPr>
              <a:t> Multi-generation agencies are selling to consolidators while premium rates soften.</a:t>
            </a:r>
            <a:endParaRPr lang="en-US" sz="600" dirty="0"/>
          </a:p>
        </p:txBody>
      </p:sp>
      <p:sp>
        <p:nvSpPr>
          <p:cNvPr id="64" name="Shape e53"/>
          <p:cNvSpPr/>
          <p:nvPr/>
        </p:nvSpPr>
        <p:spPr>
          <a:xfrm>
            <a:off x="3543300" y="4152930"/>
            <a:ext cx="2971800" cy="2781330"/>
          </a:xfrm>
          <a:prstGeom prst="rect">
            <a:avLst/>
          </a:prstGeom>
          <a:solidFill>
            <a:srgbClr val="FAF7F3"/>
          </a:solidFill>
          <a:ln/>
        </p:spPr>
        <p:txBody>
          <a:bodyPr/>
          <a:p/>
        </p:txBody>
      </p:sp>
      <p:sp>
        <p:nvSpPr>
          <p:cNvPr id="65" name="Shape e53s0"/>
          <p:cNvSpPr/>
          <p:nvPr/>
        </p:nvSpPr>
        <p:spPr>
          <a:xfrm>
            <a:off x="3543300" y="4152930"/>
            <a:ext cx="2971800" cy="28621"/>
          </a:xfrm>
          <a:prstGeom prst="rect">
            <a:avLst/>
          </a:prstGeom>
          <a:solidFill>
            <a:srgbClr val="B68757"/>
          </a:solidFill>
          <a:ln/>
        </p:spPr>
        <p:txBody>
          <a:bodyPr/>
          <a:p/>
        </p:txBody>
      </p:sp>
      <p:sp>
        <p:nvSpPr>
          <p:cNvPr id="66" name="Shape e55"/>
          <p:cNvSpPr/>
          <p:nvPr/>
        </p:nvSpPr>
        <p:spPr>
          <a:xfrm>
            <a:off x="3686221" y="4286250"/>
            <a:ext cx="938814" cy="142921"/>
          </a:xfrm>
          <a:prstGeom prst="rect">
            <a:avLst/>
          </a:prstGeom>
          <a:solidFill>
            <a:srgbClr val="1B1A1A"/>
          </a:solidFill>
          <a:ln/>
        </p:spPr>
        <p:txBody>
          <a:bodyPr/>
          <a:p/>
        </p:txBody>
      </p:sp>
      <p:sp>
        <p:nvSpPr>
          <p:cNvPr id="67" name="Text e55"/>
          <p:cNvSpPr txBox="1"/>
          <p:nvPr/>
        </p:nvSpPr>
        <p:spPr>
          <a:xfrm>
            <a:off x="3752880" y="4300515"/>
            <a:ext cx="862645" cy="104790"/>
          </a:xfrm>
          <a:prstGeom prst="rect">
            <a:avLst/>
          </a:prstGeom>
          <a:noFill/>
          <a:ln/>
        </p:spPr>
        <p:txBody>
          <a:bodyPr wrap="none" lIns="0" tIns="0" rIns="0" bIns="0" rtlCol="0" anchor="t"/>
          <a:lstStyle/>
          <a:p>
            <a:pPr algn="l" indent="0" marL="0">
              <a:lnSpc>
                <a:spcPts val="850"/>
              </a:lnSpc>
              <a:buNone/>
            </a:pPr>
            <a:r>
              <a:rPr lang="en-US" sz="550" b="1" spc="100" kern="0" dirty="0">
                <a:solidFill>
                  <a:srgbClr val="FFFFFF"/>
                </a:solidFill>
                <a:latin typeface="+mn-lt" pitchFamily="34" charset="0"/>
              </a:rPr>
              <a:t>SEPTEMBER 2026</a:t>
            </a:r>
            <a:endParaRPr lang="en-US" sz="550" dirty="0"/>
          </a:p>
        </p:txBody>
      </p:sp>
      <p:sp>
        <p:nvSpPr>
          <p:cNvPr id="68" name="Text e56"/>
          <p:cNvSpPr txBox="1"/>
          <p:nvPr/>
        </p:nvSpPr>
        <p:spPr>
          <a:xfrm>
            <a:off x="5071354" y="4300515"/>
            <a:ext cx="1304940" cy="104790"/>
          </a:xfrm>
          <a:prstGeom prst="rect">
            <a:avLst/>
          </a:prstGeom>
          <a:noFill/>
          <a:ln/>
        </p:spPr>
        <p:txBody>
          <a:bodyPr wrap="none" lIns="0" tIns="0" rIns="0" bIns="0" rtlCol="0" anchor="t"/>
          <a:lstStyle/>
          <a:p>
            <a:pPr algn="r" indent="0" marL="0">
              <a:lnSpc>
                <a:spcPts val="850"/>
              </a:lnSpc>
              <a:buNone/>
            </a:pPr>
            <a:r>
              <a:rPr lang="en-US" sz="550" b="1" spc="100" kern="0" dirty="0">
                <a:solidFill>
                  <a:srgbClr val="8C6239"/>
                </a:solidFill>
                <a:latin typeface="+mn-lt" pitchFamily="34" charset="0"/>
              </a:rPr>
              <a:t>STAFFING &amp; HUMAN CAPITAL</a:t>
            </a:r>
            <a:endParaRPr lang="en-US" sz="550" dirty="0"/>
          </a:p>
        </p:txBody>
      </p:sp>
      <p:sp>
        <p:nvSpPr>
          <p:cNvPr id="69" name="Shape e58"/>
          <p:cNvSpPr/>
          <p:nvPr/>
        </p:nvSpPr>
        <p:spPr>
          <a:xfrm>
            <a:off x="3686221" y="4514850"/>
            <a:ext cx="1076797" cy="361920"/>
          </a:xfrm>
          <a:prstGeom prst="rect">
            <a:avLst/>
          </a:prstGeom>
          <a:solidFill>
            <a:srgbClr val="FFFFFF"/>
          </a:solidFill>
          <a:ln w="12700">
            <a:solidFill>
              <a:srgbClr val="E3DCD3"/>
            </a:solidFill>
            <a:prstDash val="solid"/>
          </a:ln>
        </p:spPr>
        <p:txBody>
          <a:bodyPr/>
          <a:p/>
        </p:txBody>
      </p:sp>
      <p:sp>
        <p:nvSpPr>
          <p:cNvPr id="70" name="Text e58"/>
          <p:cNvSpPr txBox="1"/>
          <p:nvPr/>
        </p:nvSpPr>
        <p:spPr>
          <a:xfrm>
            <a:off x="3771900" y="4638660"/>
            <a:ext cx="904890" cy="104790"/>
          </a:xfrm>
          <a:prstGeom prst="rect">
            <a:avLst/>
          </a:prstGeom>
          <a:noFill/>
          <a:ln/>
        </p:spPr>
        <p:txBody>
          <a:bodyPr wrap="none" lIns="0" tIns="0" rIns="0" bIns="0" rtlCol="0" anchor="t"/>
          <a:lstStyle/>
          <a:p>
            <a:pPr algn="ctr" indent="0" marL="0">
              <a:lnSpc>
                <a:spcPts val="850"/>
              </a:lnSpc>
              <a:buNone/>
            </a:pPr>
            <a:r>
              <a:rPr lang="en-US" sz="600" b="1" spc="100" kern="0" dirty="0">
                <a:solidFill>
                  <a:srgbClr val="1B1A1A"/>
                </a:solidFill>
                <a:latin typeface="+mn-lt" pitchFamily="34" charset="0"/>
              </a:rPr>
              <a:t>LABORWORX</a:t>
            </a:r>
            <a:endParaRPr lang="en-US" sz="600" dirty="0"/>
          </a:p>
        </p:txBody>
      </p:sp>
      <p:sp>
        <p:nvSpPr>
          <p:cNvPr id="71" name="Text e59"/>
          <p:cNvSpPr txBox="1"/>
          <p:nvPr/>
        </p:nvSpPr>
        <p:spPr>
          <a:xfrm>
            <a:off x="4829586" y="4610130"/>
            <a:ext cx="400050" cy="171450"/>
          </a:xfrm>
          <a:prstGeom prst="rect">
            <a:avLst/>
          </a:prstGeom>
          <a:noFill/>
          <a:ln/>
        </p:spPr>
        <p:txBody>
          <a:bodyPr wrap="square" lIns="0" tIns="0" rIns="0" bIns="0" rtlCol="0" anchor="t"/>
          <a:lstStyle/>
          <a:p>
            <a:pPr algn="ctr" indent="0" marL="0">
              <a:lnSpc>
                <a:spcPts val="700"/>
              </a:lnSpc>
              <a:buNone/>
            </a:pPr>
            <a:r>
              <a:rPr lang="en-US" sz="500" b="1" spc="100" kern="0" dirty="0">
                <a:solidFill>
                  <a:srgbClr val="6F6A66"/>
                </a:solidFill>
                <a:latin typeface="+mn-lt" pitchFamily="34" charset="0"/>
              </a:rPr>
              <a:t>ACQUIRED</a:t>
            </a:r>
            <a:endParaRPr lang="en-US" sz="500" dirty="0"/>
          </a:p>
          <a:p>
            <a:pPr algn="ctr" indent="0" marL="0">
              <a:lnSpc>
                <a:spcPts val="700"/>
              </a:lnSpc>
              <a:buNone/>
            </a:pPr>
            <a:r>
              <a:rPr lang="en-US" sz="500" b="1" spc="100" kern="0" dirty="0">
                <a:solidFill>
                  <a:srgbClr val="6F6A66"/>
                </a:solidFill>
                <a:latin typeface="+mn-lt" pitchFamily="34" charset="0"/>
              </a:rPr>
              <a:t>BY</a:t>
            </a:r>
            <a:endParaRPr lang="en-US" sz="500" dirty="0"/>
          </a:p>
        </p:txBody>
      </p:sp>
      <p:sp>
        <p:nvSpPr>
          <p:cNvPr id="72" name="Shape e60"/>
          <p:cNvSpPr/>
          <p:nvPr/>
        </p:nvSpPr>
        <p:spPr>
          <a:xfrm>
            <a:off x="5295473" y="4514850"/>
            <a:ext cx="1076797" cy="361920"/>
          </a:xfrm>
          <a:prstGeom prst="rect">
            <a:avLst/>
          </a:prstGeom>
          <a:solidFill>
            <a:srgbClr val="FFFFFF"/>
          </a:solidFill>
          <a:ln w="12700">
            <a:solidFill>
              <a:srgbClr val="E3DCD3"/>
            </a:solidFill>
            <a:prstDash val="solid"/>
          </a:ln>
        </p:spPr>
        <p:txBody>
          <a:bodyPr/>
          <a:p/>
        </p:txBody>
      </p:sp>
      <p:sp>
        <p:nvSpPr>
          <p:cNvPr id="73" name="Text e60"/>
          <p:cNvSpPr txBox="1"/>
          <p:nvPr/>
        </p:nvSpPr>
        <p:spPr>
          <a:xfrm>
            <a:off x="5381153" y="4638660"/>
            <a:ext cx="904890" cy="104790"/>
          </a:xfrm>
          <a:prstGeom prst="rect">
            <a:avLst/>
          </a:prstGeom>
          <a:noFill/>
          <a:ln/>
        </p:spPr>
        <p:txBody>
          <a:bodyPr wrap="none" lIns="0" tIns="0" rIns="0" bIns="0" rtlCol="0" anchor="t"/>
          <a:lstStyle/>
          <a:p>
            <a:pPr algn="ctr" indent="0" marL="0">
              <a:lnSpc>
                <a:spcPts val="850"/>
              </a:lnSpc>
              <a:buNone/>
            </a:pPr>
            <a:r>
              <a:rPr lang="en-US" sz="600" b="1" spc="100" kern="0" dirty="0">
                <a:solidFill>
                  <a:srgbClr val="1B1A1A"/>
                </a:solidFill>
                <a:latin typeface="+mn-lt" pitchFamily="34" charset="0"/>
              </a:rPr>
              <a:t>VERIWORKS</a:t>
            </a:r>
            <a:endParaRPr lang="en-US" sz="600" dirty="0"/>
          </a:p>
        </p:txBody>
      </p:sp>
      <p:sp>
        <p:nvSpPr>
          <p:cNvPr id="74" name="Text e61"/>
          <p:cNvSpPr txBox="1"/>
          <p:nvPr/>
        </p:nvSpPr>
        <p:spPr>
          <a:xfrm>
            <a:off x="3686221" y="4974427"/>
            <a:ext cx="2686050" cy="333390"/>
          </a:xfrm>
          <a:prstGeom prst="rect">
            <a:avLst/>
          </a:prstGeom>
          <a:noFill/>
          <a:ln/>
        </p:spPr>
        <p:txBody>
          <a:bodyPr wrap="square" lIns="0" tIns="0" rIns="0" bIns="0" rtlCol="0" anchor="t"/>
          <a:lstStyle/>
          <a:p>
            <a:pPr algn="l" indent="0" marL="0">
              <a:lnSpc>
                <a:spcPts val="1300"/>
              </a:lnSpc>
              <a:buNone/>
            </a:pPr>
            <a:r>
              <a:rPr lang="en-US" sz="1000" b="1" dirty="0">
                <a:solidFill>
                  <a:srgbClr val="1B1A1A"/>
                </a:solidFill>
                <a:latin typeface="+mn-lt" pitchFamily="34" charset="0"/>
              </a:rPr>
              <a:t>VeriWorks enters data center construction staffing</a:t>
            </a:r>
            <a:endParaRPr lang="en-US" sz="1000" dirty="0"/>
          </a:p>
        </p:txBody>
      </p:sp>
      <p:sp>
        <p:nvSpPr>
          <p:cNvPr id="75" name="Text e62"/>
          <p:cNvSpPr txBox="1"/>
          <p:nvPr/>
        </p:nvSpPr>
        <p:spPr>
          <a:xfrm>
            <a:off x="3686221" y="5369723"/>
            <a:ext cx="2686050" cy="628650"/>
          </a:xfrm>
          <a:prstGeom prst="rect">
            <a:avLst/>
          </a:prstGeom>
          <a:noFill/>
          <a:ln/>
        </p:spPr>
        <p:txBody>
          <a:bodyPr wrap="square" lIns="0" tIns="0" rIns="0" bIns="0" rtlCol="0" anchor="t"/>
          <a:lstStyle/>
          <a:p>
            <a:pPr algn="l" indent="0" marL="0">
              <a:lnSpc>
                <a:spcPts val="1250"/>
              </a:lnSpc>
              <a:buNone/>
            </a:pPr>
            <a:r>
              <a:rPr lang="en-US" sz="850" dirty="0">
                <a:solidFill>
                  <a:srgbClr val="333231"/>
                </a:solidFill>
                <a:latin typeface="+mn-lt" pitchFamily="34" charset="0"/>
              </a:rPr>
              <a:t>LaborWorx supplies skilled trades for data center construction (</a:t>
            </a:r>
            <a:pPr algn="l" indent="0" marL="0">
              <a:lnSpc>
                <a:spcPts val="1250"/>
              </a:lnSpc>
              <a:buNone/>
            </a:pPr>
            <a:r>
              <a:rPr lang="en-US" sz="850" u="sng" dirty="0">
                <a:solidFill>
                  <a:srgbClr val="8C6239"/>
                </a:solidFill>
                <a:latin typeface="+mn-lt" pitchFamily="34" charset="0"/>
                <a:hlinkClick r:id="rId8" invalidUrl="" action="" tgtFrame="" tooltip="" history="1" highlightClick="0" endSnd="0">
                  <a:extLst>
                    <a:ext uri="{A12FA001-AC4F-418D-AE19-62706E023703}">
                      <ahyp:hlinkClr xmlns:ahyp="http://schemas.microsoft.com/office/drawing/2018/hyperlinkcolor" val="tx"/>
                    </a:ext>
                  </a:extLst>
                </a:hlinkClick>
              </a:rPr>
              <a:t>Staffing Industry Analysts</a:t>
            </a:r>
            <a:pPr algn="l" indent="0" marL="0">
              <a:lnSpc>
                <a:spcPts val="1250"/>
              </a:lnSpc>
              <a:buNone/>
            </a:pPr>
            <a:r>
              <a:rPr lang="en-US" sz="850" dirty="0">
                <a:solidFill>
                  <a:srgbClr val="333231"/>
                </a:solidFill>
                <a:latin typeface="+mn-lt" pitchFamily="34" charset="0"/>
              </a:rPr>
              <a:t>). In September, the 2026 forecast for industrial staffing revenue was raised to 7% growth from 1% (</a:t>
            </a:r>
            <a:pPr algn="l" indent="0" marL="0">
              <a:lnSpc>
                <a:spcPts val="1250"/>
              </a:lnSpc>
              <a:buNone/>
            </a:pPr>
            <a:r>
              <a:rPr lang="en-US" sz="850" u="sng" dirty="0">
                <a:solidFill>
                  <a:srgbClr val="8C6239"/>
                </a:solidFill>
                <a:latin typeface="+mn-lt" pitchFamily="34" charset="0"/>
                <a:hlinkClick r:id="rId9" invalidUrl="" action="" tgtFrame="" tooltip="" history="1" highlightClick="0" endSnd="0">
                  <a:extLst>
                    <a:ext uri="{A12FA001-AC4F-418D-AE19-62706E023703}">
                      <ahyp:hlinkClr xmlns:ahyp="http://schemas.microsoft.com/office/drawing/2018/hyperlinkcolor" val="tx"/>
                    </a:ext>
                  </a:extLst>
                </a:hlinkClick>
              </a:rPr>
              <a:t>SIA forecast</a:t>
            </a:r>
            <a:pPr algn="l" indent="0" marL="0">
              <a:lnSpc>
                <a:spcPts val="1250"/>
              </a:lnSpc>
              <a:buNone/>
            </a:pPr>
            <a:r>
              <a:rPr lang="en-US" sz="850" dirty="0">
                <a:solidFill>
                  <a:srgbClr val="333231"/>
                </a:solidFill>
                <a:latin typeface="+mn-lt" pitchFamily="34" charset="0"/>
              </a:rPr>
              <a:t>).</a:t>
            </a:r>
            <a:endParaRPr lang="en-US" sz="850" dirty="0"/>
          </a:p>
        </p:txBody>
      </p:sp>
      <p:sp>
        <p:nvSpPr>
          <p:cNvPr id="76" name="Shape e63s0"/>
          <p:cNvSpPr/>
          <p:nvPr/>
        </p:nvSpPr>
        <p:spPr>
          <a:xfrm>
            <a:off x="3686221" y="6448440"/>
            <a:ext cx="2686050" cy="9510"/>
          </a:xfrm>
          <a:prstGeom prst="rect">
            <a:avLst/>
          </a:prstGeom>
          <a:solidFill>
            <a:srgbClr val="E3DCD3"/>
          </a:solidFill>
          <a:ln/>
        </p:spPr>
        <p:txBody>
          <a:bodyPr/>
          <a:p/>
        </p:txBody>
      </p:sp>
      <p:sp>
        <p:nvSpPr>
          <p:cNvPr id="77" name="Text e63"/>
          <p:cNvSpPr txBox="1"/>
          <p:nvPr/>
        </p:nvSpPr>
        <p:spPr>
          <a:xfrm>
            <a:off x="3686221" y="6534120"/>
            <a:ext cx="2686050" cy="285750"/>
          </a:xfrm>
          <a:prstGeom prst="rect">
            <a:avLst/>
          </a:prstGeom>
          <a:noFill/>
          <a:ln/>
        </p:spPr>
        <p:txBody>
          <a:bodyPr wrap="square" lIns="0" tIns="0" rIns="0" bIns="0" rtlCol="0" anchor="t"/>
          <a:lstStyle/>
          <a:p>
            <a:pPr algn="l" indent="0" marL="0">
              <a:lnSpc>
                <a:spcPts val="1150"/>
              </a:lnSpc>
              <a:buNone/>
            </a:pPr>
            <a:r>
              <a:rPr lang="en-US" sz="600" b="1" spc="100" kern="0" dirty="0">
                <a:solidFill>
                  <a:srgbClr val="8C6239"/>
                </a:solidFill>
                <a:latin typeface="+mn-lt" pitchFamily="34" charset="0"/>
              </a:rPr>
              <a:t>WHAT IT SHOWS</a:t>
            </a:r>
            <a:pPr algn="l" indent="0" marL="0">
              <a:lnSpc>
                <a:spcPts val="1150"/>
              </a:lnSpc>
              <a:buNone/>
            </a:pPr>
            <a:r>
              <a:rPr lang="en-US" sz="800" dirty="0">
                <a:solidFill>
                  <a:srgbClr val="333231"/>
                </a:solidFill>
                <a:latin typeface="+mn-lt" pitchFamily="34" charset="0"/>
              </a:rPr>
              <a:t> Skilled trades tied to data center, power and factory construction are drawing buyers.</a:t>
            </a:r>
            <a:endParaRPr lang="en-US" sz="600" dirty="0"/>
          </a:p>
        </p:txBody>
      </p:sp>
      <p:sp>
        <p:nvSpPr>
          <p:cNvPr id="78" name="Shape e64"/>
          <p:cNvSpPr/>
          <p:nvPr/>
        </p:nvSpPr>
        <p:spPr>
          <a:xfrm>
            <a:off x="6667530" y="4152930"/>
            <a:ext cx="2971800" cy="2781330"/>
          </a:xfrm>
          <a:prstGeom prst="rect">
            <a:avLst/>
          </a:prstGeom>
          <a:solidFill>
            <a:srgbClr val="FAF7F3"/>
          </a:solidFill>
          <a:ln/>
        </p:spPr>
        <p:txBody>
          <a:bodyPr/>
          <a:p/>
        </p:txBody>
      </p:sp>
      <p:sp>
        <p:nvSpPr>
          <p:cNvPr id="79" name="Shape e64s0"/>
          <p:cNvSpPr/>
          <p:nvPr/>
        </p:nvSpPr>
        <p:spPr>
          <a:xfrm>
            <a:off x="6667530" y="4152930"/>
            <a:ext cx="2971800" cy="28621"/>
          </a:xfrm>
          <a:prstGeom prst="rect">
            <a:avLst/>
          </a:prstGeom>
          <a:solidFill>
            <a:srgbClr val="B68757"/>
          </a:solidFill>
          <a:ln/>
        </p:spPr>
        <p:txBody>
          <a:bodyPr/>
          <a:p/>
        </p:txBody>
      </p:sp>
      <p:sp>
        <p:nvSpPr>
          <p:cNvPr id="80" name="Shape e66"/>
          <p:cNvSpPr/>
          <p:nvPr/>
        </p:nvSpPr>
        <p:spPr>
          <a:xfrm>
            <a:off x="6810360" y="4286250"/>
            <a:ext cx="638434" cy="142921"/>
          </a:xfrm>
          <a:prstGeom prst="rect">
            <a:avLst/>
          </a:prstGeom>
          <a:solidFill>
            <a:srgbClr val="1B1A1A"/>
          </a:solidFill>
          <a:ln/>
        </p:spPr>
        <p:txBody>
          <a:bodyPr/>
          <a:p/>
        </p:txBody>
      </p:sp>
      <p:sp>
        <p:nvSpPr>
          <p:cNvPr id="81" name="Text e66"/>
          <p:cNvSpPr txBox="1"/>
          <p:nvPr/>
        </p:nvSpPr>
        <p:spPr>
          <a:xfrm>
            <a:off x="6877020" y="4300515"/>
            <a:ext cx="562265" cy="104790"/>
          </a:xfrm>
          <a:prstGeom prst="rect">
            <a:avLst/>
          </a:prstGeom>
          <a:noFill/>
          <a:ln/>
        </p:spPr>
        <p:txBody>
          <a:bodyPr wrap="none" lIns="0" tIns="0" rIns="0" bIns="0" rtlCol="0" anchor="t"/>
          <a:lstStyle/>
          <a:p>
            <a:pPr algn="l" indent="0" marL="0">
              <a:lnSpc>
                <a:spcPts val="850"/>
              </a:lnSpc>
              <a:buNone/>
            </a:pPr>
            <a:r>
              <a:rPr lang="en-US" sz="550" b="1" spc="100" kern="0" dirty="0">
                <a:solidFill>
                  <a:srgbClr val="FFFFFF"/>
                </a:solidFill>
                <a:latin typeface="+mn-lt" pitchFamily="34" charset="0"/>
              </a:rPr>
              <a:t>JUNE 2026</a:t>
            </a:r>
            <a:endParaRPr lang="en-US" sz="550" dirty="0"/>
          </a:p>
        </p:txBody>
      </p:sp>
      <p:sp>
        <p:nvSpPr>
          <p:cNvPr id="82" name="Text e67"/>
          <p:cNvSpPr txBox="1"/>
          <p:nvPr/>
        </p:nvSpPr>
        <p:spPr>
          <a:xfrm>
            <a:off x="8195493" y="4300515"/>
            <a:ext cx="1304940" cy="104790"/>
          </a:xfrm>
          <a:prstGeom prst="rect">
            <a:avLst/>
          </a:prstGeom>
          <a:noFill/>
          <a:ln/>
        </p:spPr>
        <p:txBody>
          <a:bodyPr wrap="none" lIns="0" tIns="0" rIns="0" bIns="0" rtlCol="0" anchor="t"/>
          <a:lstStyle/>
          <a:p>
            <a:pPr algn="r" indent="0" marL="0">
              <a:lnSpc>
                <a:spcPts val="850"/>
              </a:lnSpc>
              <a:buNone/>
            </a:pPr>
            <a:r>
              <a:rPr lang="en-US" sz="550" b="1" spc="100" kern="0" dirty="0">
                <a:solidFill>
                  <a:srgbClr val="8C6239"/>
                </a:solidFill>
                <a:latin typeface="+mn-lt" pitchFamily="34" charset="0"/>
              </a:rPr>
              <a:t>STAFFING &amp; HUMAN CAPITAL</a:t>
            </a:r>
            <a:endParaRPr lang="en-US" sz="550" dirty="0"/>
          </a:p>
        </p:txBody>
      </p:sp>
      <p:sp>
        <p:nvSpPr>
          <p:cNvPr id="83" name="Shape e69"/>
          <p:cNvSpPr/>
          <p:nvPr/>
        </p:nvSpPr>
        <p:spPr>
          <a:xfrm>
            <a:off x="6810360" y="4514850"/>
            <a:ext cx="1076797" cy="361920"/>
          </a:xfrm>
          <a:prstGeom prst="rect">
            <a:avLst/>
          </a:prstGeom>
          <a:solidFill>
            <a:srgbClr val="FFFFFF"/>
          </a:solidFill>
          <a:ln w="12700">
            <a:solidFill>
              <a:srgbClr val="E3DCD3"/>
            </a:solidFill>
            <a:prstDash val="solid"/>
          </a:ln>
        </p:spPr>
        <p:txBody>
          <a:bodyPr/>
          <a:p/>
        </p:txBody>
      </p:sp>
      <p:sp>
        <p:nvSpPr>
          <p:cNvPr id="84" name="Text e69"/>
          <p:cNvSpPr txBox="1"/>
          <p:nvPr/>
        </p:nvSpPr>
        <p:spPr>
          <a:xfrm>
            <a:off x="6896130" y="4638660"/>
            <a:ext cx="904890" cy="104790"/>
          </a:xfrm>
          <a:prstGeom prst="rect">
            <a:avLst/>
          </a:prstGeom>
          <a:noFill/>
          <a:ln/>
        </p:spPr>
        <p:txBody>
          <a:bodyPr wrap="none" lIns="0" tIns="0" rIns="0" bIns="0" rtlCol="0" anchor="t"/>
          <a:lstStyle/>
          <a:p>
            <a:pPr algn="ctr" indent="0" marL="0">
              <a:lnSpc>
                <a:spcPts val="850"/>
              </a:lnSpc>
              <a:buNone/>
            </a:pPr>
            <a:r>
              <a:rPr lang="en-US" sz="600" b="1" spc="100" kern="0" dirty="0">
                <a:solidFill>
                  <a:srgbClr val="1B1A1A"/>
                </a:solidFill>
                <a:latin typeface="+mn-lt" pitchFamily="34" charset="0"/>
              </a:rPr>
              <a:t>AMS</a:t>
            </a:r>
            <a:endParaRPr lang="en-US" sz="600" dirty="0"/>
          </a:p>
        </p:txBody>
      </p:sp>
      <p:sp>
        <p:nvSpPr>
          <p:cNvPr id="85" name="Text e70"/>
          <p:cNvSpPr txBox="1"/>
          <p:nvPr/>
        </p:nvSpPr>
        <p:spPr>
          <a:xfrm>
            <a:off x="7953817" y="4610130"/>
            <a:ext cx="400050" cy="171450"/>
          </a:xfrm>
          <a:prstGeom prst="rect">
            <a:avLst/>
          </a:prstGeom>
          <a:noFill/>
          <a:ln/>
        </p:spPr>
        <p:txBody>
          <a:bodyPr wrap="square" lIns="0" tIns="0" rIns="0" bIns="0" rtlCol="0" anchor="t"/>
          <a:lstStyle/>
          <a:p>
            <a:pPr algn="ctr" indent="0" marL="0">
              <a:lnSpc>
                <a:spcPts val="700"/>
              </a:lnSpc>
              <a:buNone/>
            </a:pPr>
            <a:r>
              <a:rPr lang="en-US" sz="500" b="1" spc="100" kern="0" dirty="0">
                <a:solidFill>
                  <a:srgbClr val="6F6A66"/>
                </a:solidFill>
                <a:latin typeface="+mn-lt" pitchFamily="34" charset="0"/>
              </a:rPr>
              <a:t>ACQUIRED</a:t>
            </a:r>
            <a:endParaRPr lang="en-US" sz="500" dirty="0"/>
          </a:p>
          <a:p>
            <a:pPr algn="ctr" indent="0" marL="0">
              <a:lnSpc>
                <a:spcPts val="700"/>
              </a:lnSpc>
              <a:buNone/>
            </a:pPr>
            <a:r>
              <a:rPr lang="en-US" sz="500" b="1" spc="100" kern="0" dirty="0">
                <a:solidFill>
                  <a:srgbClr val="6F6A66"/>
                </a:solidFill>
                <a:latin typeface="+mn-lt" pitchFamily="34" charset="0"/>
              </a:rPr>
              <a:t>BY</a:t>
            </a:r>
            <a:endParaRPr lang="en-US" sz="500" dirty="0"/>
          </a:p>
        </p:txBody>
      </p:sp>
      <p:sp>
        <p:nvSpPr>
          <p:cNvPr id="86" name="Shape e71"/>
          <p:cNvSpPr/>
          <p:nvPr/>
        </p:nvSpPr>
        <p:spPr>
          <a:xfrm>
            <a:off x="8419612" y="4514850"/>
            <a:ext cx="1076797" cy="361920"/>
          </a:xfrm>
          <a:prstGeom prst="rect">
            <a:avLst/>
          </a:prstGeom>
          <a:solidFill>
            <a:srgbClr val="FFFFFF"/>
          </a:solidFill>
          <a:ln w="12700">
            <a:solidFill>
              <a:srgbClr val="E3DCD3"/>
            </a:solidFill>
            <a:prstDash val="solid"/>
          </a:ln>
        </p:spPr>
        <p:txBody>
          <a:bodyPr/>
          <a:p/>
        </p:txBody>
      </p:sp>
      <p:sp>
        <p:nvSpPr>
          <p:cNvPr id="87" name="Text e71"/>
          <p:cNvSpPr txBox="1"/>
          <p:nvPr/>
        </p:nvSpPr>
        <p:spPr>
          <a:xfrm>
            <a:off x="8505383" y="4638660"/>
            <a:ext cx="904890" cy="104790"/>
          </a:xfrm>
          <a:prstGeom prst="rect">
            <a:avLst/>
          </a:prstGeom>
          <a:noFill/>
          <a:ln/>
        </p:spPr>
        <p:txBody>
          <a:bodyPr wrap="none" lIns="0" tIns="0" rIns="0" bIns="0" rtlCol="0" anchor="t"/>
          <a:lstStyle/>
          <a:p>
            <a:pPr algn="ctr" indent="0" marL="0">
              <a:lnSpc>
                <a:spcPts val="850"/>
              </a:lnSpc>
              <a:buNone/>
            </a:pPr>
            <a:r>
              <a:rPr lang="en-US" sz="600" b="1" spc="100" kern="0" dirty="0">
                <a:solidFill>
                  <a:srgbClr val="1B1A1A"/>
                </a:solidFill>
                <a:latin typeface="+mn-lt" pitchFamily="34" charset="0"/>
              </a:rPr>
              <a:t>KORN FERRY</a:t>
            </a:r>
            <a:endParaRPr lang="en-US" sz="600" dirty="0"/>
          </a:p>
        </p:txBody>
      </p:sp>
      <p:sp>
        <p:nvSpPr>
          <p:cNvPr id="88" name="Text e72"/>
          <p:cNvSpPr txBox="1"/>
          <p:nvPr/>
        </p:nvSpPr>
        <p:spPr>
          <a:xfrm>
            <a:off x="6810360" y="4974427"/>
            <a:ext cx="2686050" cy="333390"/>
          </a:xfrm>
          <a:prstGeom prst="rect">
            <a:avLst/>
          </a:prstGeom>
          <a:noFill/>
          <a:ln/>
        </p:spPr>
        <p:txBody>
          <a:bodyPr wrap="square" lIns="0" tIns="0" rIns="0" bIns="0" rtlCol="0" anchor="t"/>
          <a:lstStyle/>
          <a:p>
            <a:pPr algn="l" indent="0" marL="0">
              <a:lnSpc>
                <a:spcPts val="1300"/>
              </a:lnSpc>
              <a:buNone/>
            </a:pPr>
            <a:r>
              <a:rPr lang="en-US" sz="1000" b="1" dirty="0">
                <a:solidFill>
                  <a:srgbClr val="1B1A1A"/>
                </a:solidFill>
                <a:latin typeface="+mn-lt" pitchFamily="34" charset="0"/>
              </a:rPr>
              <a:t>Korn Ferry agrees to buy AMS at about 11 times EBITDA</a:t>
            </a:r>
            <a:endParaRPr lang="en-US" sz="1000" dirty="0"/>
          </a:p>
        </p:txBody>
      </p:sp>
      <p:sp>
        <p:nvSpPr>
          <p:cNvPr id="89" name="Text e73"/>
          <p:cNvSpPr txBox="1"/>
          <p:nvPr/>
        </p:nvSpPr>
        <p:spPr>
          <a:xfrm>
            <a:off x="6810360" y="5369723"/>
            <a:ext cx="2686050" cy="628650"/>
          </a:xfrm>
          <a:prstGeom prst="rect">
            <a:avLst/>
          </a:prstGeom>
          <a:noFill/>
          <a:ln/>
        </p:spPr>
        <p:txBody>
          <a:bodyPr wrap="square" lIns="0" tIns="0" rIns="0" bIns="0" rtlCol="0" anchor="t"/>
          <a:lstStyle/>
          <a:p>
            <a:pPr algn="l" indent="0" marL="0">
              <a:lnSpc>
                <a:spcPts val="1250"/>
              </a:lnSpc>
              <a:buNone/>
            </a:pPr>
            <a:r>
              <a:rPr lang="en-US" sz="850" dirty="0">
                <a:solidFill>
                  <a:srgbClr val="333231"/>
                </a:solidFill>
                <a:latin typeface="+mn-lt" pitchFamily="34" charset="0"/>
              </a:rPr>
              <a:t>The enterprise value of £850 million, roughly $1.1 billion, compares with about $650 million of fee revenue and about $100 million of run-rate adjusted EBITDA (</a:t>
            </a:r>
            <a:pPr algn="l" indent="0" marL="0">
              <a:lnSpc>
                <a:spcPts val="1250"/>
              </a:lnSpc>
              <a:buNone/>
            </a:pPr>
            <a:r>
              <a:rPr lang="en-US" sz="850" u="sng" dirty="0">
                <a:solidFill>
                  <a:srgbClr val="8C6239"/>
                </a:solidFill>
                <a:latin typeface="+mn-lt" pitchFamily="34" charset="0"/>
                <a:hlinkClick r:id="rId10" invalidUrl="" action="" tgtFrame="" tooltip="" history="1" highlightClick="0" endSnd="0">
                  <a:extLst>
                    <a:ext uri="{A12FA001-AC4F-418D-AE19-62706E023703}">
                      <ahyp:hlinkClr xmlns:ahyp="http://schemas.microsoft.com/office/drawing/2018/hyperlinkcolor" val="tx"/>
                    </a:ext>
                  </a:extLst>
                </a:hlinkClick>
              </a:rPr>
              <a:t>Korn Ferry</a:t>
            </a:r>
            <a:pPr algn="l" indent="0" marL="0">
              <a:lnSpc>
                <a:spcPts val="1250"/>
              </a:lnSpc>
              <a:buNone/>
            </a:pPr>
            <a:r>
              <a:rPr lang="en-US" sz="850" dirty="0">
                <a:solidFill>
                  <a:srgbClr val="333231"/>
                </a:solidFill>
                <a:latin typeface="+mn-lt" pitchFamily="34" charset="0"/>
              </a:rPr>
              <a:t>).</a:t>
            </a:r>
            <a:endParaRPr lang="en-US" sz="850" dirty="0"/>
          </a:p>
        </p:txBody>
      </p:sp>
      <p:sp>
        <p:nvSpPr>
          <p:cNvPr id="90" name="Shape e74s0"/>
          <p:cNvSpPr/>
          <p:nvPr/>
        </p:nvSpPr>
        <p:spPr>
          <a:xfrm>
            <a:off x="6810360" y="6305520"/>
            <a:ext cx="2686050" cy="9510"/>
          </a:xfrm>
          <a:prstGeom prst="rect">
            <a:avLst/>
          </a:prstGeom>
          <a:solidFill>
            <a:srgbClr val="E3DCD3"/>
          </a:solidFill>
          <a:ln/>
        </p:spPr>
        <p:txBody>
          <a:bodyPr/>
          <a:p/>
        </p:txBody>
      </p:sp>
      <p:sp>
        <p:nvSpPr>
          <p:cNvPr id="91" name="Text e74"/>
          <p:cNvSpPr txBox="1"/>
          <p:nvPr/>
        </p:nvSpPr>
        <p:spPr>
          <a:xfrm>
            <a:off x="6810360" y="6391290"/>
            <a:ext cx="2686050" cy="428671"/>
          </a:xfrm>
          <a:prstGeom prst="rect">
            <a:avLst/>
          </a:prstGeom>
          <a:noFill/>
          <a:ln/>
        </p:spPr>
        <p:txBody>
          <a:bodyPr wrap="square" lIns="0" tIns="0" rIns="0" bIns="0" rtlCol="0" anchor="t"/>
          <a:lstStyle/>
          <a:p>
            <a:pPr algn="l" indent="0" marL="0">
              <a:lnSpc>
                <a:spcPts val="1150"/>
              </a:lnSpc>
              <a:buNone/>
            </a:pPr>
            <a:r>
              <a:rPr lang="en-US" sz="600" b="1" spc="100" kern="0" dirty="0">
                <a:solidFill>
                  <a:srgbClr val="8C6239"/>
                </a:solidFill>
                <a:latin typeface="+mn-lt" pitchFamily="34" charset="0"/>
              </a:rPr>
              <a:t>WHAT IT SHOWS</a:t>
            </a:r>
            <a:pPr algn="l" indent="0" marL="0">
              <a:lnSpc>
                <a:spcPts val="1150"/>
              </a:lnSpc>
              <a:buNone/>
            </a:pPr>
            <a:r>
              <a:rPr lang="en-US" sz="800" dirty="0">
                <a:solidFill>
                  <a:srgbClr val="333231"/>
                </a:solidFill>
                <a:latin typeface="+mn-lt" pitchFamily="34" charset="0"/>
              </a:rPr>
              <a:t> Long-term outsourcing contracts earned a multiple in line with the 10.8x median of far larger listed staffing companies.</a:t>
            </a:r>
            <a:endParaRPr lang="en-US" sz="600" dirty="0"/>
          </a:p>
        </p:txBody>
      </p:sp>
      <p:sp>
        <p:nvSpPr>
          <p:cNvPr id="92" name="Shape e75"/>
          <p:cNvSpPr/>
          <p:nvPr/>
        </p:nvSpPr>
        <p:spPr>
          <a:xfrm>
            <a:off x="419070" y="7029450"/>
            <a:ext cx="9220170" cy="9510"/>
          </a:xfrm>
          <a:prstGeom prst="ellipse">
            <a:avLst/>
          </a:prstGeom>
          <a:solidFill>
            <a:srgbClr val="E3DCD3"/>
          </a:solidFill>
          <a:ln/>
        </p:spPr>
        <p:txBody>
          <a:bodyPr/>
          <a:p/>
        </p:txBody>
      </p:sp>
      <p:pic>
        <p:nvPicPr>
          <p:cNvPr id="93" name="Picture e76" descr="Benchmark International">    </p:cNvPr>
          <p:cNvPicPr>
            <a:picLocks noChangeAspect="1"/>
          </p:cNvPicPr>
          <p:nvPr/>
        </p:nvPicPr>
        <p:blipFill>
          <a:blip r:embed="rId11"/>
          <a:stretch>
            <a:fillRect/>
          </a:stretch>
        </p:blipFill>
        <p:spPr>
          <a:xfrm>
            <a:off x="419070" y="7143750"/>
            <a:ext cx="914400" cy="171450"/>
          </a:xfrm>
          <a:prstGeom prst="rect">
            <a:avLst/>
          </a:prstGeom>
        </p:spPr>
      </p:pic>
      <p:sp>
        <p:nvSpPr>
          <p:cNvPr id="94" name="Text e77"/>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Transaction values are as reported by the linked source. The listed staffing median is on the valuation page of this brief. Company names are the property of their owners. Transactions advised by Benchmark International follow on the next page</a:t>
            </a:r>
            <a:pPr algn="l" indent="0" marL="0">
              <a:lnSpc>
                <a:spcPts val="950"/>
              </a:lnSpc>
              <a:buNone/>
            </a:pPr>
            <a:r>
              <a:rPr lang="en-US" sz="700" u="sng" dirty="0">
                <a:solidFill>
                  <a:srgbClr val="8C6239"/>
                </a:solidFill>
                <a:latin typeface="+mn-lt" pitchFamily="34" charset="0"/>
                <a:hlinkClick r:id="rId12" invalidUrl="" action="" tgtFrame="" tooltip="" history="1" highlightClick="0" endSnd="0">
                  <a:extLst>
                    <a:ext uri="{A12FA001-AC4F-418D-AE19-62706E023703}">
                      <ahyp:hlinkClr xmlns:ahyp="http://schemas.microsoft.com/office/drawing/2018/hyperlinkcolor" val="tx"/>
                    </a:ext>
                  </a:extLst>
                </a:hlinkClick>
              </a:rPr>
              <a:t/>
            </a:r>
            <a:pPr algn="l" indent="0" marL="0">
              <a:lnSpc>
                <a:spcPts val="950"/>
              </a:lnSpc>
              <a:buNone/>
            </a:pPr>
            <a:r>
              <a:rPr lang="en-US" sz="700" dirty="0">
                <a:solidFill>
                  <a:srgbClr val="6F6A66"/>
                </a:solidFill>
                <a:latin typeface="+mn-lt" pitchFamily="34" charset="0"/>
              </a:rPr>
              <a:t>.</a:t>
            </a:r>
            <a:endParaRPr lang="en-US" sz="700" dirty="0"/>
          </a:p>
        </p:txBody>
      </p:sp>
      <p:sp>
        <p:nvSpPr>
          <p:cNvPr id="95" name="Text e78"/>
          <p:cNvSpPr txBox="1"/>
          <p:nvPr/>
        </p:nvSpPr>
        <p:spPr>
          <a:xfrm>
            <a:off x="9494215" y="7162770"/>
            <a:ext cx="142921"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09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6713799"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Benchmark International's Business Services Transactions</a:t>
            </a:r>
            <a:endParaRPr lang="en-US" sz="2050" dirty="0"/>
          </a:p>
        </p:txBody>
      </p:sp>
      <p:sp>
        <p:nvSpPr>
          <p:cNvPr id="6" name="Text e5"/>
          <p:cNvSpPr txBox="1"/>
          <p:nvPr/>
        </p:nvSpPr>
        <p:spPr>
          <a:xfrm>
            <a:off x="419070" y="883402"/>
            <a:ext cx="8820120"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Marketing and sales services lead with 23 closed transactions, commercial and facility services follow with 21, and most buyers were operating companies.</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1866930" cy="5695980"/>
          </a:xfrm>
          <a:prstGeom prst="rect">
            <a:avLst/>
          </a:prstGeom>
          <a:solidFill>
            <a:srgbClr val="1B1A1A"/>
          </a:solidFill>
          <a:ln/>
        </p:spPr>
        <p:txBody>
          <a:bodyPr/>
          <a:p/>
        </p:txBody>
      </p:sp>
      <p:sp>
        <p:nvSpPr>
          <p:cNvPr id="9" name="Text e10"/>
          <p:cNvSpPr txBox="1"/>
          <p:nvPr/>
        </p:nvSpPr>
        <p:spPr>
          <a:xfrm>
            <a:off x="590520" y="1409730"/>
            <a:ext cx="1297442"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D3AE84"/>
                </a:solidFill>
                <a:latin typeface="+mn-lt" pitchFamily="34" charset="0"/>
              </a:rPr>
              <a:t>TRAILING 24 MONTHS</a:t>
            </a:r>
            <a:endParaRPr lang="en-US" sz="700" dirty="0"/>
          </a:p>
        </p:txBody>
      </p:sp>
      <p:sp>
        <p:nvSpPr>
          <p:cNvPr id="10" name="Shape e11s0"/>
          <p:cNvSpPr/>
          <p:nvPr/>
        </p:nvSpPr>
        <p:spPr>
          <a:xfrm>
            <a:off x="590520" y="1628821"/>
            <a:ext cx="1524030" cy="9510"/>
          </a:xfrm>
          <a:prstGeom prst="rect">
            <a:avLst/>
          </a:prstGeom>
          <a:solidFill>
            <a:srgbClr val="FFFFFF">
              <a:alpha val="16000"/>
            </a:srgbClr>
          </a:solidFill>
          <a:ln/>
        </p:spPr>
        <p:txBody>
          <a:bodyPr/>
          <a:p/>
        </p:txBody>
      </p:sp>
      <p:sp>
        <p:nvSpPr>
          <p:cNvPr id="11" name="Text e12"/>
          <p:cNvSpPr txBox="1"/>
          <p:nvPr/>
        </p:nvSpPr>
        <p:spPr>
          <a:xfrm>
            <a:off x="590520" y="1762140"/>
            <a:ext cx="429677" cy="342900"/>
          </a:xfrm>
          <a:prstGeom prst="rect">
            <a:avLst/>
          </a:prstGeom>
          <a:noFill/>
          <a:ln/>
        </p:spPr>
        <p:txBody>
          <a:bodyPr wrap="none" lIns="0" tIns="0" rIns="0" bIns="0" rtlCol="0" anchor="t"/>
          <a:lstStyle/>
          <a:p>
            <a:pPr algn="l" indent="0" marL="0">
              <a:lnSpc>
                <a:spcPts val="2700"/>
              </a:lnSpc>
              <a:buNone/>
            </a:pPr>
            <a:r>
              <a:rPr lang="en-US" sz="2400" b="1" dirty="0">
                <a:solidFill>
                  <a:srgbClr val="D3AE84"/>
                </a:solidFill>
                <a:latin typeface="+mj-lt" pitchFamily="34" charset="0"/>
              </a:rPr>
              <a:t>67</a:t>
            </a:r>
            <a:endParaRPr lang="en-US" sz="2400" dirty="0"/>
          </a:p>
        </p:txBody>
      </p:sp>
      <p:sp>
        <p:nvSpPr>
          <p:cNvPr id="12" name="Text e13"/>
          <p:cNvSpPr txBox="1"/>
          <p:nvPr/>
        </p:nvSpPr>
        <p:spPr>
          <a:xfrm>
            <a:off x="590520" y="2138324"/>
            <a:ext cx="1524030" cy="285750"/>
          </a:xfrm>
          <a:prstGeom prst="rect">
            <a:avLst/>
          </a:prstGeom>
          <a:noFill/>
          <a:ln/>
        </p:spPr>
        <p:txBody>
          <a:bodyPr wrap="square" lIns="0" tIns="0" rIns="0" bIns="0" rtlCol="0" anchor="t"/>
          <a:lstStyle/>
          <a:p>
            <a:pPr algn="l" indent="0" marL="0">
              <a:lnSpc>
                <a:spcPts val="1150"/>
              </a:lnSpc>
              <a:buNone/>
            </a:pPr>
            <a:r>
              <a:rPr lang="en-US" sz="800" dirty="0">
                <a:solidFill>
                  <a:srgbClr val="E8E2DA"/>
                </a:solidFill>
                <a:latin typeface="+mn-lt" pitchFamily="34" charset="0"/>
              </a:rPr>
              <a:t>transactions closed in these five sectors</a:t>
            </a:r>
            <a:endParaRPr lang="en-US" sz="800" dirty="0"/>
          </a:p>
        </p:txBody>
      </p:sp>
      <p:sp>
        <p:nvSpPr>
          <p:cNvPr id="13" name="Shape e14s0"/>
          <p:cNvSpPr/>
          <p:nvPr/>
        </p:nvSpPr>
        <p:spPr>
          <a:xfrm>
            <a:off x="590520" y="2552730"/>
            <a:ext cx="1524030" cy="9510"/>
          </a:xfrm>
          <a:prstGeom prst="rect">
            <a:avLst/>
          </a:prstGeom>
          <a:solidFill>
            <a:srgbClr val="FFFFFF">
              <a:alpha val="16000"/>
            </a:srgbClr>
          </a:solidFill>
          <a:ln/>
        </p:spPr>
        <p:txBody>
          <a:bodyPr/>
          <a:p/>
        </p:txBody>
      </p:sp>
      <p:sp>
        <p:nvSpPr>
          <p:cNvPr id="14" name="Text e15"/>
          <p:cNvSpPr txBox="1"/>
          <p:nvPr/>
        </p:nvSpPr>
        <p:spPr>
          <a:xfrm>
            <a:off x="590520" y="2686050"/>
            <a:ext cx="615848" cy="342900"/>
          </a:xfrm>
          <a:prstGeom prst="rect">
            <a:avLst/>
          </a:prstGeom>
          <a:noFill/>
          <a:ln/>
        </p:spPr>
        <p:txBody>
          <a:bodyPr wrap="none" lIns="0" tIns="0" rIns="0" bIns="0" rtlCol="0" anchor="t"/>
          <a:lstStyle/>
          <a:p>
            <a:pPr algn="l" indent="0" marL="0">
              <a:lnSpc>
                <a:spcPts val="2700"/>
              </a:lnSpc>
              <a:buNone/>
            </a:pPr>
            <a:r>
              <a:rPr lang="en-US" sz="2400" b="1" dirty="0">
                <a:solidFill>
                  <a:srgbClr val="D3AE84"/>
                </a:solidFill>
                <a:latin typeface="+mj-lt" pitchFamily="34" charset="0"/>
              </a:rPr>
              <a:t>142</a:t>
            </a:r>
            <a:endParaRPr lang="en-US" sz="2400" dirty="0"/>
          </a:p>
        </p:txBody>
      </p:sp>
      <p:sp>
        <p:nvSpPr>
          <p:cNvPr id="15" name="Text e16"/>
          <p:cNvSpPr txBox="1"/>
          <p:nvPr/>
        </p:nvSpPr>
        <p:spPr>
          <a:xfrm>
            <a:off x="590520" y="3062326"/>
            <a:ext cx="1524030" cy="428671"/>
          </a:xfrm>
          <a:prstGeom prst="rect">
            <a:avLst/>
          </a:prstGeom>
          <a:noFill/>
          <a:ln/>
        </p:spPr>
        <p:txBody>
          <a:bodyPr wrap="square" lIns="0" tIns="0" rIns="0" bIns="0" rtlCol="0" anchor="t"/>
          <a:lstStyle/>
          <a:p>
            <a:pPr algn="l" indent="0" marL="0">
              <a:lnSpc>
                <a:spcPts val="1150"/>
              </a:lnSpc>
              <a:buNone/>
            </a:pPr>
            <a:r>
              <a:rPr lang="en-US" sz="800" dirty="0">
                <a:solidFill>
                  <a:srgbClr val="E8E2DA"/>
                </a:solidFill>
                <a:latin typeface="+mn-lt" pitchFamily="34" charset="0"/>
              </a:rPr>
              <a:t>further engagements in progress as of October 1, 2026, of which 69 are on the market</a:t>
            </a:r>
            <a:endParaRPr lang="en-US" sz="800" dirty="0"/>
          </a:p>
        </p:txBody>
      </p:sp>
      <p:sp>
        <p:nvSpPr>
          <p:cNvPr id="16" name="Shape e17s0"/>
          <p:cNvSpPr/>
          <p:nvPr/>
        </p:nvSpPr>
        <p:spPr>
          <a:xfrm>
            <a:off x="590520" y="3619470"/>
            <a:ext cx="1524030" cy="9510"/>
          </a:xfrm>
          <a:prstGeom prst="rect">
            <a:avLst/>
          </a:prstGeom>
          <a:solidFill>
            <a:srgbClr val="FFFFFF">
              <a:alpha val="16000"/>
            </a:srgbClr>
          </a:solidFill>
          <a:ln/>
        </p:spPr>
        <p:txBody>
          <a:bodyPr/>
          <a:p/>
        </p:txBody>
      </p:sp>
      <p:sp>
        <p:nvSpPr>
          <p:cNvPr id="17" name="Text e18"/>
          <p:cNvSpPr txBox="1"/>
          <p:nvPr/>
        </p:nvSpPr>
        <p:spPr>
          <a:xfrm>
            <a:off x="590520" y="3752880"/>
            <a:ext cx="429677" cy="342900"/>
          </a:xfrm>
          <a:prstGeom prst="rect">
            <a:avLst/>
          </a:prstGeom>
          <a:noFill/>
          <a:ln/>
        </p:spPr>
        <p:txBody>
          <a:bodyPr wrap="none" lIns="0" tIns="0" rIns="0" bIns="0" rtlCol="0" anchor="t"/>
          <a:lstStyle/>
          <a:p>
            <a:pPr algn="l" indent="0" marL="0">
              <a:lnSpc>
                <a:spcPts val="2700"/>
              </a:lnSpc>
              <a:buNone/>
            </a:pPr>
            <a:r>
              <a:rPr lang="en-US" sz="2400" b="1" dirty="0">
                <a:solidFill>
                  <a:srgbClr val="D3AE84"/>
                </a:solidFill>
                <a:latin typeface="+mj-lt" pitchFamily="34" charset="0"/>
              </a:rPr>
              <a:t>44</a:t>
            </a:r>
            <a:endParaRPr lang="en-US" sz="2400" dirty="0"/>
          </a:p>
        </p:txBody>
      </p:sp>
      <p:sp>
        <p:nvSpPr>
          <p:cNvPr id="18" name="Text e19"/>
          <p:cNvSpPr txBox="1"/>
          <p:nvPr/>
        </p:nvSpPr>
        <p:spPr>
          <a:xfrm>
            <a:off x="590520" y="4129065"/>
            <a:ext cx="1524030" cy="571500"/>
          </a:xfrm>
          <a:prstGeom prst="rect">
            <a:avLst/>
          </a:prstGeom>
          <a:noFill/>
          <a:ln/>
        </p:spPr>
        <p:txBody>
          <a:bodyPr wrap="square" lIns="0" tIns="0" rIns="0" bIns="0" rtlCol="0" anchor="t"/>
          <a:lstStyle/>
          <a:p>
            <a:pPr algn="l" indent="0" marL="0">
              <a:lnSpc>
                <a:spcPts val="1150"/>
              </a:lnSpc>
              <a:buNone/>
            </a:pPr>
            <a:r>
              <a:rPr lang="en-US" sz="800" dirty="0">
                <a:solidFill>
                  <a:srgbClr val="E8E2DA"/>
                </a:solidFill>
                <a:latin typeface="+mn-lt" pitchFamily="34" charset="0"/>
              </a:rPr>
              <a:t>named sellers, more than half of them bought by a company in their own or an adjacent field</a:t>
            </a:r>
            <a:endParaRPr lang="en-US" sz="800" dirty="0"/>
          </a:p>
        </p:txBody>
      </p:sp>
      <p:sp>
        <p:nvSpPr>
          <p:cNvPr id="19" name="Shape e20s0"/>
          <p:cNvSpPr/>
          <p:nvPr/>
        </p:nvSpPr>
        <p:spPr>
          <a:xfrm>
            <a:off x="590520" y="5991240"/>
            <a:ext cx="1524030" cy="9510"/>
          </a:xfrm>
          <a:prstGeom prst="rect">
            <a:avLst/>
          </a:prstGeom>
          <a:solidFill>
            <a:srgbClr val="FFFFFF">
              <a:alpha val="16000"/>
            </a:srgbClr>
          </a:solidFill>
          <a:ln/>
        </p:spPr>
        <p:txBody>
          <a:bodyPr/>
          <a:p/>
        </p:txBody>
      </p:sp>
      <p:sp>
        <p:nvSpPr>
          <p:cNvPr id="20" name="Text e20"/>
          <p:cNvSpPr txBox="1"/>
          <p:nvPr/>
        </p:nvSpPr>
        <p:spPr>
          <a:xfrm>
            <a:off x="590520" y="6115050"/>
            <a:ext cx="1524030" cy="666780"/>
          </a:xfrm>
          <a:prstGeom prst="rect">
            <a:avLst/>
          </a:prstGeom>
          <a:noFill/>
          <a:ln/>
        </p:spPr>
        <p:txBody>
          <a:bodyPr wrap="square" lIns="0" tIns="0" rIns="0" bIns="0" rtlCol="0" anchor="t"/>
          <a:lstStyle/>
          <a:p>
            <a:pPr algn="l" indent="0" marL="0">
              <a:lnSpc>
                <a:spcPts val="1050"/>
              </a:lnSpc>
              <a:buNone/>
            </a:pPr>
            <a:r>
              <a:rPr lang="en-US" sz="700" dirty="0">
                <a:solidFill>
                  <a:srgbClr val="C3BDB6"/>
                </a:solidFill>
                <a:latin typeface="+mn-lt" pitchFamily="34" charset="0"/>
              </a:rPr>
              <a:t>Ranked the leading privately owned sell-side M&amp;A advisor in the world in PitchBook's Q2 2026 Global League Tables (</a:t>
            </a:r>
            <a:pPr algn="l" indent="0" marL="0">
              <a:lnSpc>
                <a:spcPts val="1050"/>
              </a:lnSpc>
              <a:buNone/>
            </a:pPr>
            <a:r>
              <a:rPr lang="en-US" sz="700" u="sng" dirty="0">
                <a:solidFill>
                  <a:srgbClr val="D3AE84"/>
                </a:solidFill>
                <a:latin typeface="+mn-lt" pitchFamily="34" charset="0"/>
                <a:hlinkClick r:id="rId1" invalidUrl="" action="" tgtFrame="" tooltip="" history="1" highlightClick="0" endSnd="0">
                  <a:extLst>
                    <a:ext uri="{A12FA001-AC4F-418D-AE19-62706E023703}">
                      <ahyp:hlinkClr xmlns:ahyp="http://schemas.microsoft.com/office/drawing/2018/hyperlinkcolor" val="tx"/>
                    </a:ext>
                  </a:extLst>
                </a:hlinkClick>
              </a:rPr>
              <a:t>Benchmark International</a:t>
            </a:r>
            <a:pPr algn="l" indent="0" marL="0">
              <a:lnSpc>
                <a:spcPts val="1050"/>
              </a:lnSpc>
              <a:buNone/>
            </a:pPr>
            <a:r>
              <a:rPr lang="en-US" sz="700" dirty="0">
                <a:solidFill>
                  <a:srgbClr val="C3BDB6"/>
                </a:solidFill>
                <a:latin typeface="+mn-lt" pitchFamily="34" charset="0"/>
              </a:rPr>
              <a:t>).</a:t>
            </a:r>
            <a:endParaRPr lang="en-US" sz="700" dirty="0"/>
          </a:p>
        </p:txBody>
      </p:sp>
      <p:sp>
        <p:nvSpPr>
          <p:cNvPr id="21" name="Shape e22">
            <a:hlinkClick r:id="rId2" tooltip=""/>
          </p:cNvPr>
          <p:cNvSpPr/>
          <p:nvPr/>
        </p:nvSpPr>
        <p:spPr>
          <a:xfrm>
            <a:off x="2419320" y="1238280"/>
            <a:ext cx="1719255" cy="1822399"/>
          </a:xfrm>
          <a:prstGeom prst="rect">
            <a:avLst/>
          </a:prstGeom>
          <a:solidFill>
            <a:srgbClr val="FAF7F3"/>
          </a:solidFill>
          <a:ln/>
        </p:spPr>
        <p:txBody>
          <a:bodyPr/>
          <a:p/>
        </p:txBody>
      </p:sp>
      <p:sp>
        <p:nvSpPr>
          <p:cNvPr id="22" name="Shape e22s0"/>
          <p:cNvSpPr/>
          <p:nvPr/>
        </p:nvSpPr>
        <p:spPr>
          <a:xfrm>
            <a:off x="2419320" y="1238280"/>
            <a:ext cx="1719255" cy="28621"/>
          </a:xfrm>
          <a:prstGeom prst="rect">
            <a:avLst/>
          </a:prstGeom>
          <a:solidFill>
            <a:srgbClr val="B68757"/>
          </a:solidFill>
          <a:ln/>
        </p:spPr>
        <p:txBody>
          <a:bodyPr/>
          <a:p/>
        </p:txBody>
      </p:sp>
      <p:sp>
        <p:nvSpPr>
          <p:cNvPr id="23" name="Shape e23"/>
          <p:cNvSpPr/>
          <p:nvPr/>
        </p:nvSpPr>
        <p:spPr>
          <a:xfrm>
            <a:off x="2514600" y="1362090"/>
            <a:ext cx="1528785" cy="400050"/>
          </a:xfrm>
          <a:prstGeom prst="rect">
            <a:avLst/>
          </a:prstGeom>
          <a:solidFill>
            <a:srgbClr val="FFFFFF"/>
          </a:solidFill>
          <a:ln w="12700">
            <a:solidFill>
              <a:srgbClr val="E3DCD3"/>
            </a:solidFill>
            <a:prstDash val="solid"/>
          </a:ln>
        </p:spPr>
        <p:txBody>
          <a:bodyPr/>
          <a:p/>
        </p:txBody>
      </p:sp>
      <p:pic>
        <p:nvPicPr>
          <p:cNvPr id="24" name="Picture e24" descr="FPS Technologies">    </p:cNvPr>
          <p:cNvPicPr>
            <a:picLocks noChangeAspect="1"/>
          </p:cNvPicPr>
          <p:nvPr/>
        </p:nvPicPr>
        <p:blipFill>
          <a:blip r:embed="rId3"/>
          <a:stretch>
            <a:fillRect/>
          </a:stretch>
        </p:blipFill>
        <p:spPr>
          <a:xfrm>
            <a:off x="2954792" y="1409730"/>
            <a:ext cx="648127" cy="304678"/>
          </a:xfrm>
          <a:prstGeom prst="rect">
            <a:avLst/>
          </a:prstGeom>
        </p:spPr>
      </p:pic>
      <p:sp>
        <p:nvSpPr>
          <p:cNvPr id="25" name="Text e25"/>
          <p:cNvSpPr txBox="1"/>
          <p:nvPr/>
        </p:nvSpPr>
        <p:spPr>
          <a:xfrm>
            <a:off x="2514600" y="1809780"/>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26" name="Shape e26"/>
          <p:cNvSpPr/>
          <p:nvPr/>
        </p:nvSpPr>
        <p:spPr>
          <a:xfrm>
            <a:off x="2514600" y="1943100"/>
            <a:ext cx="1528785" cy="400050"/>
          </a:xfrm>
          <a:prstGeom prst="rect">
            <a:avLst/>
          </a:prstGeom>
          <a:solidFill>
            <a:srgbClr val="FFFFFF"/>
          </a:solidFill>
          <a:ln w="12700">
            <a:solidFill>
              <a:srgbClr val="E3DCD3"/>
            </a:solidFill>
            <a:prstDash val="solid"/>
          </a:ln>
        </p:spPr>
        <p:txBody>
          <a:bodyPr/>
          <a:p/>
        </p:txBody>
      </p:sp>
      <p:pic>
        <p:nvPicPr>
          <p:cNvPr id="27" name="Picture e27" descr="Cintas">    </p:cNvPr>
          <p:cNvPicPr>
            <a:picLocks noChangeAspect="1"/>
          </p:cNvPicPr>
          <p:nvPr/>
        </p:nvPicPr>
        <p:blipFill>
          <a:blip r:embed="rId4"/>
          <a:stretch>
            <a:fillRect/>
          </a:stretch>
        </p:blipFill>
        <p:spPr>
          <a:xfrm>
            <a:off x="2886395" y="1990740"/>
            <a:ext cx="785195" cy="304678"/>
          </a:xfrm>
          <a:prstGeom prst="rect">
            <a:avLst/>
          </a:prstGeom>
        </p:spPr>
      </p:pic>
      <p:sp>
        <p:nvSpPr>
          <p:cNvPr id="28" name="Text e28"/>
          <p:cNvSpPr txBox="1"/>
          <p:nvPr/>
        </p:nvSpPr>
        <p:spPr>
          <a:xfrm>
            <a:off x="2514600" y="2412187"/>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Fire protection and safety systems design, installation and service</a:t>
            </a:r>
            <a:endParaRPr lang="en-US" sz="700" dirty="0"/>
          </a:p>
        </p:txBody>
      </p:sp>
      <p:sp>
        <p:nvSpPr>
          <p:cNvPr id="29" name="Text e29"/>
          <p:cNvSpPr txBox="1"/>
          <p:nvPr/>
        </p:nvSpPr>
        <p:spPr>
          <a:xfrm>
            <a:off x="2514600" y="2874874"/>
            <a:ext cx="1533540" cy="95280"/>
          </a:xfrm>
          <a:prstGeom prst="rect">
            <a:avLst/>
          </a:prstGeom>
          <a:noFill/>
          <a:ln/>
        </p:spPr>
        <p:txBody>
          <a:bodyPr wrap="none" lIns="0" tIns="0" rIns="0" bIns="0" rtlCol="0" anchor="t"/>
          <a:lstStyle/>
          <a:p>
            <a:pPr algn="ctr" indent="0" marL="0">
              <a:lnSpc>
                <a:spcPts val="750"/>
              </a:lnSpc>
              <a:buNone/>
            </a:pPr>
            <a:r>
              <a:rPr lang="en-US" sz="550" b="1" spc="100" kern="0" dirty="0">
                <a:solidFill>
                  <a:srgbClr val="8C6239"/>
                </a:solidFill>
                <a:latin typeface="+mn-lt" pitchFamily="34" charset="0"/>
              </a:rPr>
              <a:t>COMMERCIAL &amp; FACILITY</a:t>
            </a:r>
            <a:endParaRPr lang="en-US" sz="550" dirty="0"/>
          </a:p>
        </p:txBody>
      </p:sp>
      <p:sp>
        <p:nvSpPr>
          <p:cNvPr id="30" name="Shape e30">
            <a:hlinkClick r:id="rId5" tooltip=""/>
          </p:cNvPr>
          <p:cNvSpPr/>
          <p:nvPr/>
        </p:nvSpPr>
        <p:spPr>
          <a:xfrm>
            <a:off x="4252874" y="1238280"/>
            <a:ext cx="1719255" cy="1822399"/>
          </a:xfrm>
          <a:prstGeom prst="rect">
            <a:avLst/>
          </a:prstGeom>
          <a:solidFill>
            <a:srgbClr val="FAF7F3"/>
          </a:solidFill>
          <a:ln/>
        </p:spPr>
        <p:txBody>
          <a:bodyPr/>
          <a:p/>
        </p:txBody>
      </p:sp>
      <p:sp>
        <p:nvSpPr>
          <p:cNvPr id="31" name="Shape e30s0"/>
          <p:cNvSpPr/>
          <p:nvPr/>
        </p:nvSpPr>
        <p:spPr>
          <a:xfrm>
            <a:off x="4252874" y="1238280"/>
            <a:ext cx="1719255" cy="28621"/>
          </a:xfrm>
          <a:prstGeom prst="rect">
            <a:avLst/>
          </a:prstGeom>
          <a:solidFill>
            <a:srgbClr val="B68757"/>
          </a:solidFill>
          <a:ln/>
        </p:spPr>
        <p:txBody>
          <a:bodyPr/>
          <a:p/>
        </p:txBody>
      </p:sp>
      <p:sp>
        <p:nvSpPr>
          <p:cNvPr id="32" name="Shape e31"/>
          <p:cNvSpPr/>
          <p:nvPr/>
        </p:nvSpPr>
        <p:spPr>
          <a:xfrm>
            <a:off x="4348155" y="1362090"/>
            <a:ext cx="1528785" cy="400050"/>
          </a:xfrm>
          <a:prstGeom prst="rect">
            <a:avLst/>
          </a:prstGeom>
          <a:solidFill>
            <a:srgbClr val="FFFFFF"/>
          </a:solidFill>
          <a:ln w="12700">
            <a:solidFill>
              <a:srgbClr val="E3DCD3"/>
            </a:solidFill>
            <a:prstDash val="solid"/>
          </a:ln>
        </p:spPr>
        <p:txBody>
          <a:bodyPr/>
          <a:p/>
        </p:txBody>
      </p:sp>
      <p:pic>
        <p:nvPicPr>
          <p:cNvPr id="33" name="Picture e32" descr="Fire Systems Technology">    </p:cNvPr>
          <p:cNvPicPr>
            <a:picLocks noChangeAspect="1"/>
          </p:cNvPicPr>
          <p:nvPr/>
        </p:nvPicPr>
        <p:blipFill>
          <a:blip r:embed="rId6"/>
          <a:stretch>
            <a:fillRect/>
          </a:stretch>
        </p:blipFill>
        <p:spPr>
          <a:xfrm>
            <a:off x="4822637" y="1409730"/>
            <a:ext cx="579730" cy="304678"/>
          </a:xfrm>
          <a:prstGeom prst="rect">
            <a:avLst/>
          </a:prstGeom>
        </p:spPr>
      </p:pic>
      <p:sp>
        <p:nvSpPr>
          <p:cNvPr id="34" name="Text e33"/>
          <p:cNvSpPr txBox="1"/>
          <p:nvPr/>
        </p:nvSpPr>
        <p:spPr>
          <a:xfrm>
            <a:off x="4348155" y="1809780"/>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35" name="Shape e34"/>
          <p:cNvSpPr/>
          <p:nvPr/>
        </p:nvSpPr>
        <p:spPr>
          <a:xfrm>
            <a:off x="4348155" y="1943100"/>
            <a:ext cx="1528785" cy="400050"/>
          </a:xfrm>
          <a:prstGeom prst="rect">
            <a:avLst/>
          </a:prstGeom>
          <a:solidFill>
            <a:srgbClr val="FFFFFF"/>
          </a:solidFill>
          <a:ln w="12700">
            <a:solidFill>
              <a:srgbClr val="E3DCD3"/>
            </a:solidFill>
            <a:prstDash val="solid"/>
          </a:ln>
        </p:spPr>
        <p:txBody>
          <a:bodyPr/>
          <a:p/>
        </p:txBody>
      </p:sp>
      <p:pic>
        <p:nvPicPr>
          <p:cNvPr id="36" name="Picture e35" descr="AI Fire">    </p:cNvPr>
          <p:cNvPicPr>
            <a:picLocks noChangeAspect="1"/>
          </p:cNvPicPr>
          <p:nvPr/>
        </p:nvPicPr>
        <p:blipFill>
          <a:blip r:embed="rId7"/>
          <a:stretch>
            <a:fillRect/>
          </a:stretch>
        </p:blipFill>
        <p:spPr>
          <a:xfrm>
            <a:off x="4583430" y="1990740"/>
            <a:ext cx="1058052" cy="304678"/>
          </a:xfrm>
          <a:prstGeom prst="rect">
            <a:avLst/>
          </a:prstGeom>
        </p:spPr>
      </p:pic>
      <p:sp>
        <p:nvSpPr>
          <p:cNvPr id="37" name="Text e36"/>
          <p:cNvSpPr txBox="1"/>
          <p:nvPr/>
        </p:nvSpPr>
        <p:spPr>
          <a:xfrm>
            <a:off x="4348155" y="2412187"/>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Full-service fire sprinkler contractor, Arkansas</a:t>
            </a:r>
            <a:endParaRPr lang="en-US" sz="700" dirty="0"/>
          </a:p>
        </p:txBody>
      </p:sp>
      <p:sp>
        <p:nvSpPr>
          <p:cNvPr id="38" name="Text e37"/>
          <p:cNvSpPr txBox="1"/>
          <p:nvPr/>
        </p:nvSpPr>
        <p:spPr>
          <a:xfrm>
            <a:off x="4348155" y="2874874"/>
            <a:ext cx="1533540" cy="95280"/>
          </a:xfrm>
          <a:prstGeom prst="rect">
            <a:avLst/>
          </a:prstGeom>
          <a:noFill/>
          <a:ln/>
        </p:spPr>
        <p:txBody>
          <a:bodyPr wrap="none" lIns="0" tIns="0" rIns="0" bIns="0" rtlCol="0" anchor="t"/>
          <a:lstStyle/>
          <a:p>
            <a:pPr algn="ctr" indent="0" marL="0">
              <a:lnSpc>
                <a:spcPts val="750"/>
              </a:lnSpc>
              <a:buNone/>
            </a:pPr>
            <a:r>
              <a:rPr lang="en-US" sz="550" b="1" spc="100" kern="0" dirty="0">
                <a:solidFill>
                  <a:srgbClr val="8C6239"/>
                </a:solidFill>
                <a:latin typeface="+mn-lt" pitchFamily="34" charset="0"/>
              </a:rPr>
              <a:t>COMMERCIAL &amp; FACILITY</a:t>
            </a:r>
            <a:endParaRPr lang="en-US" sz="550" dirty="0"/>
          </a:p>
        </p:txBody>
      </p:sp>
      <p:sp>
        <p:nvSpPr>
          <p:cNvPr id="39" name="Shape e38">
            <a:hlinkClick r:id="rId8" tooltip=""/>
          </p:cNvPr>
          <p:cNvSpPr/>
          <p:nvPr/>
        </p:nvSpPr>
        <p:spPr>
          <a:xfrm>
            <a:off x="6086521" y="1238280"/>
            <a:ext cx="1719255" cy="1822399"/>
          </a:xfrm>
          <a:prstGeom prst="rect">
            <a:avLst/>
          </a:prstGeom>
          <a:solidFill>
            <a:srgbClr val="FAF7F3"/>
          </a:solidFill>
          <a:ln/>
        </p:spPr>
        <p:txBody>
          <a:bodyPr/>
          <a:p/>
        </p:txBody>
      </p:sp>
      <p:sp>
        <p:nvSpPr>
          <p:cNvPr id="40" name="Shape e38s0"/>
          <p:cNvSpPr/>
          <p:nvPr/>
        </p:nvSpPr>
        <p:spPr>
          <a:xfrm>
            <a:off x="6086521" y="1238280"/>
            <a:ext cx="1719255" cy="28621"/>
          </a:xfrm>
          <a:prstGeom prst="rect">
            <a:avLst/>
          </a:prstGeom>
          <a:solidFill>
            <a:srgbClr val="B68757"/>
          </a:solidFill>
          <a:ln/>
        </p:spPr>
        <p:txBody>
          <a:bodyPr/>
          <a:p/>
        </p:txBody>
      </p:sp>
      <p:sp>
        <p:nvSpPr>
          <p:cNvPr id="41" name="Shape e39"/>
          <p:cNvSpPr/>
          <p:nvPr/>
        </p:nvSpPr>
        <p:spPr>
          <a:xfrm>
            <a:off x="6181710" y="1362090"/>
            <a:ext cx="1528785" cy="400050"/>
          </a:xfrm>
          <a:prstGeom prst="rect">
            <a:avLst/>
          </a:prstGeom>
          <a:solidFill>
            <a:srgbClr val="FFFFFF"/>
          </a:solidFill>
          <a:ln w="12700">
            <a:solidFill>
              <a:srgbClr val="E3DCD3"/>
            </a:solidFill>
            <a:prstDash val="solid"/>
          </a:ln>
        </p:spPr>
        <p:txBody>
          <a:bodyPr/>
          <a:p/>
        </p:txBody>
      </p:sp>
      <p:pic>
        <p:nvPicPr>
          <p:cNvPr id="42" name="Picture e40" descr="Pacific Green Protection">    </p:cNvPr>
          <p:cNvPicPr>
            <a:picLocks noChangeAspect="1"/>
          </p:cNvPicPr>
          <p:nvPr/>
        </p:nvPicPr>
        <p:blipFill>
          <a:blip r:embed="rId9"/>
          <a:stretch>
            <a:fillRect/>
          </a:stretch>
        </p:blipFill>
        <p:spPr>
          <a:xfrm>
            <a:off x="6784208" y="1409730"/>
            <a:ext cx="323880" cy="304770"/>
          </a:xfrm>
          <a:prstGeom prst="rect">
            <a:avLst/>
          </a:prstGeom>
        </p:spPr>
      </p:pic>
      <p:sp>
        <p:nvSpPr>
          <p:cNvPr id="43" name="Text e41"/>
          <p:cNvSpPr txBox="1"/>
          <p:nvPr/>
        </p:nvSpPr>
        <p:spPr>
          <a:xfrm>
            <a:off x="6181710" y="1809780"/>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44" name="Shape e42"/>
          <p:cNvSpPr/>
          <p:nvPr/>
        </p:nvSpPr>
        <p:spPr>
          <a:xfrm>
            <a:off x="6181710" y="1943100"/>
            <a:ext cx="1528785" cy="400050"/>
          </a:xfrm>
          <a:prstGeom prst="rect">
            <a:avLst/>
          </a:prstGeom>
          <a:solidFill>
            <a:srgbClr val="FFFFFF"/>
          </a:solidFill>
          <a:ln w="12700">
            <a:solidFill>
              <a:srgbClr val="E3DCD3"/>
            </a:solidFill>
            <a:prstDash val="solid"/>
          </a:ln>
        </p:spPr>
        <p:txBody>
          <a:bodyPr/>
          <a:p/>
        </p:txBody>
      </p:sp>
      <p:pic>
        <p:nvPicPr>
          <p:cNvPr id="45" name="Picture e43" descr="Cresswell Ventures">    </p:cNvPr>
          <p:cNvPicPr>
            <a:picLocks noChangeAspect="1"/>
          </p:cNvPicPr>
          <p:nvPr/>
        </p:nvPicPr>
        <p:blipFill>
          <a:blip r:embed="rId10"/>
          <a:stretch>
            <a:fillRect/>
          </a:stretch>
        </p:blipFill>
        <p:spPr>
          <a:xfrm>
            <a:off x="6743243" y="1990740"/>
            <a:ext cx="405536" cy="304678"/>
          </a:xfrm>
          <a:prstGeom prst="rect">
            <a:avLst/>
          </a:prstGeom>
        </p:spPr>
      </p:pic>
      <p:sp>
        <p:nvSpPr>
          <p:cNvPr id="46" name="Text e44"/>
          <p:cNvSpPr txBox="1"/>
          <p:nvPr/>
        </p:nvSpPr>
        <p:spPr>
          <a:xfrm>
            <a:off x="6181710" y="2412187"/>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Armed and unarmed security services</a:t>
            </a:r>
            <a:endParaRPr lang="en-US" sz="700" dirty="0"/>
          </a:p>
        </p:txBody>
      </p:sp>
      <p:sp>
        <p:nvSpPr>
          <p:cNvPr id="47" name="Text e45"/>
          <p:cNvSpPr txBox="1"/>
          <p:nvPr/>
        </p:nvSpPr>
        <p:spPr>
          <a:xfrm>
            <a:off x="6181710" y="2874874"/>
            <a:ext cx="1533540" cy="95280"/>
          </a:xfrm>
          <a:prstGeom prst="rect">
            <a:avLst/>
          </a:prstGeom>
          <a:noFill/>
          <a:ln/>
        </p:spPr>
        <p:txBody>
          <a:bodyPr wrap="none" lIns="0" tIns="0" rIns="0" bIns="0" rtlCol="0" anchor="t"/>
          <a:lstStyle/>
          <a:p>
            <a:pPr algn="ctr" indent="0" marL="0">
              <a:lnSpc>
                <a:spcPts val="750"/>
              </a:lnSpc>
              <a:buNone/>
            </a:pPr>
            <a:r>
              <a:rPr lang="en-US" sz="550" b="1" spc="100" kern="0" dirty="0">
                <a:solidFill>
                  <a:srgbClr val="8C6239"/>
                </a:solidFill>
                <a:latin typeface="+mn-lt" pitchFamily="34" charset="0"/>
              </a:rPr>
              <a:t>COMMERCIAL &amp; FACILITY</a:t>
            </a:r>
            <a:endParaRPr lang="en-US" sz="550" dirty="0"/>
          </a:p>
        </p:txBody>
      </p:sp>
      <p:sp>
        <p:nvSpPr>
          <p:cNvPr id="48" name="Shape e46">
            <a:hlinkClick r:id="rId11" tooltip=""/>
          </p:cNvPr>
          <p:cNvSpPr/>
          <p:nvPr/>
        </p:nvSpPr>
        <p:spPr>
          <a:xfrm>
            <a:off x="7920076" y="1238280"/>
            <a:ext cx="1719255" cy="1822399"/>
          </a:xfrm>
          <a:prstGeom prst="rect">
            <a:avLst/>
          </a:prstGeom>
          <a:solidFill>
            <a:srgbClr val="FAF7F3"/>
          </a:solidFill>
          <a:ln/>
        </p:spPr>
        <p:txBody>
          <a:bodyPr/>
          <a:p/>
        </p:txBody>
      </p:sp>
      <p:sp>
        <p:nvSpPr>
          <p:cNvPr id="49" name="Shape e46s0"/>
          <p:cNvSpPr/>
          <p:nvPr/>
        </p:nvSpPr>
        <p:spPr>
          <a:xfrm>
            <a:off x="7920076" y="1238280"/>
            <a:ext cx="1719255" cy="28621"/>
          </a:xfrm>
          <a:prstGeom prst="rect">
            <a:avLst/>
          </a:prstGeom>
          <a:solidFill>
            <a:srgbClr val="B68757"/>
          </a:solidFill>
          <a:ln/>
        </p:spPr>
        <p:txBody>
          <a:bodyPr/>
          <a:p/>
        </p:txBody>
      </p:sp>
      <p:sp>
        <p:nvSpPr>
          <p:cNvPr id="50" name="Shape e47"/>
          <p:cNvSpPr/>
          <p:nvPr/>
        </p:nvSpPr>
        <p:spPr>
          <a:xfrm>
            <a:off x="8015265" y="1362090"/>
            <a:ext cx="1528785" cy="400050"/>
          </a:xfrm>
          <a:prstGeom prst="rect">
            <a:avLst/>
          </a:prstGeom>
          <a:solidFill>
            <a:srgbClr val="FFFFFF"/>
          </a:solidFill>
          <a:ln w="12700">
            <a:solidFill>
              <a:srgbClr val="E3DCD3"/>
            </a:solidFill>
            <a:prstDash val="solid"/>
          </a:ln>
        </p:spPr>
        <p:txBody>
          <a:bodyPr/>
          <a:p/>
        </p:txBody>
      </p:sp>
      <p:sp>
        <p:nvSpPr>
          <p:cNvPr id="51" name="Text e47"/>
          <p:cNvSpPr txBox="1"/>
          <p:nvPr/>
        </p:nvSpPr>
        <p:spPr>
          <a:xfrm>
            <a:off x="8101035" y="1459748"/>
            <a:ext cx="1362090" cy="200071"/>
          </a:xfrm>
          <a:prstGeom prst="rect">
            <a:avLst/>
          </a:prstGeom>
          <a:noFill/>
          <a:ln/>
        </p:spPr>
        <p:txBody>
          <a:bodyPr wrap="square" lIns="0" tIns="0" rIns="0" bIns="0" rtlCol="0" anchor="t"/>
          <a:lstStyle/>
          <a:p>
            <a:pPr algn="ctr" indent="0" marL="0">
              <a:lnSpc>
                <a:spcPts val="800"/>
              </a:lnSpc>
              <a:buNone/>
            </a:pPr>
            <a:r>
              <a:rPr lang="en-US" sz="550" b="1" spc="100" kern="0" dirty="0">
                <a:solidFill>
                  <a:srgbClr val="1B1A1A"/>
                </a:solidFill>
                <a:latin typeface="+mn-lt" pitchFamily="34" charset="0"/>
              </a:rPr>
              <a:t>BRIGGS ENGINEERING &amp; TESTING</a:t>
            </a:r>
            <a:endParaRPr lang="en-US" sz="550" dirty="0"/>
          </a:p>
        </p:txBody>
      </p:sp>
      <p:sp>
        <p:nvSpPr>
          <p:cNvPr id="52" name="Text e48"/>
          <p:cNvSpPr txBox="1"/>
          <p:nvPr/>
        </p:nvSpPr>
        <p:spPr>
          <a:xfrm>
            <a:off x="8015265" y="1809780"/>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53" name="Shape e49"/>
          <p:cNvSpPr/>
          <p:nvPr/>
        </p:nvSpPr>
        <p:spPr>
          <a:xfrm>
            <a:off x="8015265" y="1943100"/>
            <a:ext cx="1528785" cy="400050"/>
          </a:xfrm>
          <a:prstGeom prst="rect">
            <a:avLst/>
          </a:prstGeom>
          <a:solidFill>
            <a:srgbClr val="FFFFFF"/>
          </a:solidFill>
          <a:ln w="12700">
            <a:solidFill>
              <a:srgbClr val="E3DCD3"/>
            </a:solidFill>
            <a:prstDash val="solid"/>
          </a:ln>
        </p:spPr>
        <p:txBody>
          <a:bodyPr/>
          <a:p/>
        </p:txBody>
      </p:sp>
      <p:sp>
        <p:nvSpPr>
          <p:cNvPr id="54" name="Text e49"/>
          <p:cNvSpPr txBox="1"/>
          <p:nvPr/>
        </p:nvSpPr>
        <p:spPr>
          <a:xfrm>
            <a:off x="8101035" y="2090776"/>
            <a:ext cx="1362090" cy="100035"/>
          </a:xfrm>
          <a:prstGeom prst="rect">
            <a:avLst/>
          </a:prstGeom>
          <a:noFill/>
          <a:ln/>
        </p:spPr>
        <p:txBody>
          <a:bodyPr wrap="none" lIns="0" tIns="0" rIns="0" bIns="0" rtlCol="0" anchor="t"/>
          <a:lstStyle/>
          <a:p>
            <a:pPr algn="ctr" indent="0" marL="0">
              <a:lnSpc>
                <a:spcPts val="800"/>
              </a:lnSpc>
              <a:buNone/>
            </a:pPr>
            <a:r>
              <a:rPr lang="en-US" sz="550" b="1" spc="100" kern="0" dirty="0">
                <a:solidFill>
                  <a:srgbClr val="1B1A1A"/>
                </a:solidFill>
                <a:latin typeface="+mn-lt" pitchFamily="34" charset="0"/>
              </a:rPr>
              <a:t>PHENNA GROUP</a:t>
            </a:r>
            <a:endParaRPr lang="en-US" sz="550" dirty="0"/>
          </a:p>
        </p:txBody>
      </p:sp>
      <p:sp>
        <p:nvSpPr>
          <p:cNvPr id="55" name="Text e50"/>
          <p:cNvSpPr txBox="1"/>
          <p:nvPr/>
        </p:nvSpPr>
        <p:spPr>
          <a:xfrm>
            <a:off x="8015265" y="2412187"/>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Inspection, testing and quality control engineering</a:t>
            </a:r>
            <a:endParaRPr lang="en-US" sz="700" dirty="0"/>
          </a:p>
        </p:txBody>
      </p:sp>
      <p:sp>
        <p:nvSpPr>
          <p:cNvPr id="56" name="Text e51"/>
          <p:cNvSpPr txBox="1"/>
          <p:nvPr/>
        </p:nvSpPr>
        <p:spPr>
          <a:xfrm>
            <a:off x="8015265" y="2874874"/>
            <a:ext cx="1533540" cy="95280"/>
          </a:xfrm>
          <a:prstGeom prst="rect">
            <a:avLst/>
          </a:prstGeom>
          <a:noFill/>
          <a:ln/>
        </p:spPr>
        <p:txBody>
          <a:bodyPr wrap="none" lIns="0" tIns="0" rIns="0" bIns="0" rtlCol="0" anchor="t"/>
          <a:lstStyle/>
          <a:p>
            <a:pPr algn="ctr" indent="0" marL="0">
              <a:lnSpc>
                <a:spcPts val="750"/>
              </a:lnSpc>
              <a:buNone/>
            </a:pPr>
            <a:r>
              <a:rPr lang="en-US" sz="550" b="1" spc="100" kern="0" dirty="0">
                <a:solidFill>
                  <a:srgbClr val="8C6239"/>
                </a:solidFill>
                <a:latin typeface="+mn-lt" pitchFamily="34" charset="0"/>
              </a:rPr>
              <a:t>COMMERCIAL &amp; FACILITY</a:t>
            </a:r>
            <a:endParaRPr lang="en-US" sz="550" dirty="0"/>
          </a:p>
        </p:txBody>
      </p:sp>
      <p:sp>
        <p:nvSpPr>
          <p:cNvPr id="57" name="Shape e52">
            <a:hlinkClick r:id="rId12" tooltip=""/>
          </p:cNvPr>
          <p:cNvSpPr/>
          <p:nvPr/>
        </p:nvSpPr>
        <p:spPr>
          <a:xfrm>
            <a:off x="2419320" y="3174980"/>
            <a:ext cx="1719255" cy="1822399"/>
          </a:xfrm>
          <a:prstGeom prst="rect">
            <a:avLst/>
          </a:prstGeom>
          <a:solidFill>
            <a:srgbClr val="FAF7F3"/>
          </a:solidFill>
          <a:ln/>
        </p:spPr>
        <p:txBody>
          <a:bodyPr/>
          <a:p/>
        </p:txBody>
      </p:sp>
      <p:sp>
        <p:nvSpPr>
          <p:cNvPr id="58" name="Shape e52s0"/>
          <p:cNvSpPr/>
          <p:nvPr/>
        </p:nvSpPr>
        <p:spPr>
          <a:xfrm>
            <a:off x="2419320" y="3174980"/>
            <a:ext cx="1719255" cy="28621"/>
          </a:xfrm>
          <a:prstGeom prst="rect">
            <a:avLst/>
          </a:prstGeom>
          <a:solidFill>
            <a:srgbClr val="B68757"/>
          </a:solidFill>
          <a:ln/>
        </p:spPr>
        <p:txBody>
          <a:bodyPr/>
          <a:p/>
        </p:txBody>
      </p:sp>
      <p:sp>
        <p:nvSpPr>
          <p:cNvPr id="59" name="Shape e53"/>
          <p:cNvSpPr/>
          <p:nvPr/>
        </p:nvSpPr>
        <p:spPr>
          <a:xfrm>
            <a:off x="2514600" y="3298789"/>
            <a:ext cx="1528785" cy="399867"/>
          </a:xfrm>
          <a:prstGeom prst="rect">
            <a:avLst/>
          </a:prstGeom>
          <a:solidFill>
            <a:srgbClr val="FFFFFF"/>
          </a:solidFill>
          <a:ln w="12700">
            <a:solidFill>
              <a:srgbClr val="E3DCD3"/>
            </a:solidFill>
            <a:prstDash val="solid"/>
          </a:ln>
        </p:spPr>
        <p:txBody>
          <a:bodyPr/>
          <a:p/>
        </p:txBody>
      </p:sp>
      <p:pic>
        <p:nvPicPr>
          <p:cNvPr id="60" name="Picture e54" descr="Telmark Sales Solutions">    </p:cNvPr>
          <p:cNvPicPr>
            <a:picLocks noChangeAspect="1"/>
          </p:cNvPicPr>
          <p:nvPr/>
        </p:nvPicPr>
        <p:blipFill>
          <a:blip r:embed="rId13"/>
          <a:stretch>
            <a:fillRect/>
          </a:stretch>
        </p:blipFill>
        <p:spPr>
          <a:xfrm>
            <a:off x="3009290" y="3346430"/>
            <a:ext cx="539313" cy="304678"/>
          </a:xfrm>
          <a:prstGeom prst="rect">
            <a:avLst/>
          </a:prstGeom>
        </p:spPr>
      </p:pic>
      <p:sp>
        <p:nvSpPr>
          <p:cNvPr id="61" name="Text e55"/>
          <p:cNvSpPr txBox="1"/>
          <p:nvPr/>
        </p:nvSpPr>
        <p:spPr>
          <a:xfrm>
            <a:off x="2514600" y="3746297"/>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62" name="Shape e56"/>
          <p:cNvSpPr/>
          <p:nvPr/>
        </p:nvSpPr>
        <p:spPr>
          <a:xfrm>
            <a:off x="2514600" y="3879616"/>
            <a:ext cx="1528785" cy="399867"/>
          </a:xfrm>
          <a:prstGeom prst="rect">
            <a:avLst/>
          </a:prstGeom>
          <a:solidFill>
            <a:srgbClr val="FFFFFF"/>
          </a:solidFill>
          <a:ln w="12700">
            <a:solidFill>
              <a:srgbClr val="E3DCD3"/>
            </a:solidFill>
            <a:prstDash val="solid"/>
          </a:ln>
        </p:spPr>
        <p:txBody>
          <a:bodyPr/>
          <a:p/>
        </p:txBody>
      </p:sp>
      <p:pic>
        <p:nvPicPr>
          <p:cNvPr id="63" name="Picture e57" descr="Sentinel Capital Partners">    </p:cNvPr>
          <p:cNvPicPr>
            <a:picLocks noChangeAspect="1"/>
          </p:cNvPicPr>
          <p:nvPr/>
        </p:nvPicPr>
        <p:blipFill>
          <a:blip r:embed="rId14"/>
          <a:stretch>
            <a:fillRect/>
          </a:stretch>
        </p:blipFill>
        <p:spPr>
          <a:xfrm>
            <a:off x="2743200" y="3927257"/>
            <a:ext cx="1071402" cy="304678"/>
          </a:xfrm>
          <a:prstGeom prst="rect">
            <a:avLst/>
          </a:prstGeom>
        </p:spPr>
      </p:pic>
      <p:sp>
        <p:nvSpPr>
          <p:cNvPr id="64" name="Text e58"/>
          <p:cNvSpPr txBox="1"/>
          <p:nvPr/>
        </p:nvSpPr>
        <p:spPr>
          <a:xfrm>
            <a:off x="2514600" y="4348612"/>
            <a:ext cx="1533540" cy="385785"/>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Consumer packaged goods sales brokerage, sold to Sentinel's Market Performance Group</a:t>
            </a:r>
            <a:endParaRPr lang="en-US" sz="700" dirty="0"/>
          </a:p>
        </p:txBody>
      </p:sp>
      <p:sp>
        <p:nvSpPr>
          <p:cNvPr id="65" name="Text e59"/>
          <p:cNvSpPr txBox="1"/>
          <p:nvPr/>
        </p:nvSpPr>
        <p:spPr>
          <a:xfrm>
            <a:off x="2514600" y="4784415"/>
            <a:ext cx="1533540" cy="190470"/>
          </a:xfrm>
          <a:prstGeom prst="rect">
            <a:avLst/>
          </a:prstGeom>
          <a:noFill/>
          <a:ln/>
        </p:spPr>
        <p:txBody>
          <a:bodyPr wrap="square" lIns="0" tIns="0" rIns="0" bIns="0" rtlCol="0" anchor="t"/>
          <a:lstStyle/>
          <a:p>
            <a:pPr algn="ctr" indent="0" marL="0">
              <a:lnSpc>
                <a:spcPts val="750"/>
              </a:lnSpc>
              <a:buNone/>
            </a:pPr>
            <a:r>
              <a:rPr lang="en-US" sz="550" b="1" spc="100" kern="0" dirty="0">
                <a:solidFill>
                  <a:srgbClr val="8C6239"/>
                </a:solidFill>
                <a:latin typeface="+mn-lt" pitchFamily="34" charset="0"/>
              </a:rPr>
              <a:t>MARKETING, SALES &amp; TECH-ENABLED</a:t>
            </a:r>
            <a:endParaRPr lang="en-US" sz="550" dirty="0"/>
          </a:p>
        </p:txBody>
      </p:sp>
      <p:sp>
        <p:nvSpPr>
          <p:cNvPr id="66" name="Shape e60">
            <a:hlinkClick r:id="rId15" tooltip=""/>
          </p:cNvPr>
          <p:cNvSpPr/>
          <p:nvPr/>
        </p:nvSpPr>
        <p:spPr>
          <a:xfrm>
            <a:off x="4252874" y="3174980"/>
            <a:ext cx="1719255" cy="1822399"/>
          </a:xfrm>
          <a:prstGeom prst="rect">
            <a:avLst/>
          </a:prstGeom>
          <a:solidFill>
            <a:srgbClr val="FAF7F3"/>
          </a:solidFill>
          <a:ln/>
        </p:spPr>
        <p:txBody>
          <a:bodyPr/>
          <a:p/>
        </p:txBody>
      </p:sp>
      <p:sp>
        <p:nvSpPr>
          <p:cNvPr id="67" name="Shape e60s0"/>
          <p:cNvSpPr/>
          <p:nvPr/>
        </p:nvSpPr>
        <p:spPr>
          <a:xfrm>
            <a:off x="4252874" y="3174980"/>
            <a:ext cx="1719255" cy="28621"/>
          </a:xfrm>
          <a:prstGeom prst="rect">
            <a:avLst/>
          </a:prstGeom>
          <a:solidFill>
            <a:srgbClr val="B68757"/>
          </a:solidFill>
          <a:ln/>
        </p:spPr>
        <p:txBody>
          <a:bodyPr/>
          <a:p/>
        </p:txBody>
      </p:sp>
      <p:sp>
        <p:nvSpPr>
          <p:cNvPr id="68" name="Shape e61"/>
          <p:cNvSpPr/>
          <p:nvPr/>
        </p:nvSpPr>
        <p:spPr>
          <a:xfrm>
            <a:off x="4348155" y="3298789"/>
            <a:ext cx="1528785" cy="400050"/>
          </a:xfrm>
          <a:prstGeom prst="rect">
            <a:avLst/>
          </a:prstGeom>
          <a:solidFill>
            <a:srgbClr val="FFFFFF"/>
          </a:solidFill>
          <a:ln w="12700">
            <a:solidFill>
              <a:srgbClr val="E3DCD3"/>
            </a:solidFill>
            <a:prstDash val="solid"/>
          </a:ln>
        </p:spPr>
        <p:txBody>
          <a:bodyPr/>
          <a:p/>
        </p:txBody>
      </p:sp>
      <p:pic>
        <p:nvPicPr>
          <p:cNvPr id="69" name="Picture e62" descr="MartianCraft">    </p:cNvPr>
          <p:cNvPicPr>
            <a:picLocks noChangeAspect="1"/>
          </p:cNvPicPr>
          <p:nvPr/>
        </p:nvPicPr>
        <p:blipFill>
          <a:blip r:embed="rId16"/>
          <a:stretch>
            <a:fillRect/>
          </a:stretch>
        </p:blipFill>
        <p:spPr>
          <a:xfrm>
            <a:off x="4952573" y="3346430"/>
            <a:ext cx="319949" cy="304678"/>
          </a:xfrm>
          <a:prstGeom prst="rect">
            <a:avLst/>
          </a:prstGeom>
        </p:spPr>
      </p:pic>
      <p:sp>
        <p:nvSpPr>
          <p:cNvPr id="70" name="Text e63"/>
          <p:cNvSpPr txBox="1"/>
          <p:nvPr/>
        </p:nvSpPr>
        <p:spPr>
          <a:xfrm>
            <a:off x="4348155" y="3746480"/>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71" name="Shape e64"/>
          <p:cNvSpPr/>
          <p:nvPr/>
        </p:nvSpPr>
        <p:spPr>
          <a:xfrm>
            <a:off x="4348155" y="3879799"/>
            <a:ext cx="1528785" cy="400050"/>
          </a:xfrm>
          <a:prstGeom prst="rect">
            <a:avLst/>
          </a:prstGeom>
          <a:solidFill>
            <a:srgbClr val="FFFFFF"/>
          </a:solidFill>
          <a:ln w="12700">
            <a:solidFill>
              <a:srgbClr val="E3DCD3"/>
            </a:solidFill>
            <a:prstDash val="solid"/>
          </a:ln>
        </p:spPr>
        <p:txBody>
          <a:bodyPr/>
          <a:p/>
        </p:txBody>
      </p:sp>
      <p:pic>
        <p:nvPicPr>
          <p:cNvPr id="72" name="Picture e65" descr="Walnut Capital Partners">    </p:cNvPr>
          <p:cNvPicPr>
            <a:picLocks noChangeAspect="1"/>
          </p:cNvPicPr>
          <p:nvPr/>
        </p:nvPicPr>
        <p:blipFill>
          <a:blip r:embed="rId17"/>
          <a:stretch>
            <a:fillRect/>
          </a:stretch>
        </p:blipFill>
        <p:spPr>
          <a:xfrm>
            <a:off x="4925050" y="3927439"/>
            <a:ext cx="374904" cy="304678"/>
          </a:xfrm>
          <a:prstGeom prst="rect">
            <a:avLst/>
          </a:prstGeom>
        </p:spPr>
      </p:pic>
      <p:sp>
        <p:nvSpPr>
          <p:cNvPr id="73" name="Text e66"/>
          <p:cNvSpPr txBox="1"/>
          <p:nvPr/>
        </p:nvSpPr>
        <p:spPr>
          <a:xfrm>
            <a:off x="4348155" y="4348886"/>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Software design and development agency</a:t>
            </a:r>
            <a:endParaRPr lang="en-US" sz="700" dirty="0"/>
          </a:p>
        </p:txBody>
      </p:sp>
      <p:sp>
        <p:nvSpPr>
          <p:cNvPr id="74" name="Text e67"/>
          <p:cNvSpPr txBox="1"/>
          <p:nvPr/>
        </p:nvSpPr>
        <p:spPr>
          <a:xfrm>
            <a:off x="4348155" y="4716384"/>
            <a:ext cx="1533540" cy="190470"/>
          </a:xfrm>
          <a:prstGeom prst="rect">
            <a:avLst/>
          </a:prstGeom>
          <a:noFill/>
          <a:ln/>
        </p:spPr>
        <p:txBody>
          <a:bodyPr wrap="square" lIns="0" tIns="0" rIns="0" bIns="0" rtlCol="0" anchor="t"/>
          <a:lstStyle/>
          <a:p>
            <a:pPr algn="ctr" indent="0" marL="0">
              <a:lnSpc>
                <a:spcPts val="750"/>
              </a:lnSpc>
              <a:buNone/>
            </a:pPr>
            <a:r>
              <a:rPr lang="en-US" sz="550" b="1" spc="100" kern="0" dirty="0">
                <a:solidFill>
                  <a:srgbClr val="8C6239"/>
                </a:solidFill>
                <a:latin typeface="+mn-lt" pitchFamily="34" charset="0"/>
              </a:rPr>
              <a:t>MARKETING, SALES &amp; TECH-ENABLED</a:t>
            </a:r>
            <a:endParaRPr lang="en-US" sz="550" dirty="0"/>
          </a:p>
        </p:txBody>
      </p:sp>
      <p:sp>
        <p:nvSpPr>
          <p:cNvPr id="75" name="Shape e68">
            <a:hlinkClick r:id="rId18" tooltip=""/>
          </p:cNvPr>
          <p:cNvSpPr/>
          <p:nvPr/>
        </p:nvSpPr>
        <p:spPr>
          <a:xfrm>
            <a:off x="6086521" y="3174980"/>
            <a:ext cx="1719255" cy="1822399"/>
          </a:xfrm>
          <a:prstGeom prst="rect">
            <a:avLst/>
          </a:prstGeom>
          <a:solidFill>
            <a:srgbClr val="FAF7F3"/>
          </a:solidFill>
          <a:ln/>
        </p:spPr>
        <p:txBody>
          <a:bodyPr/>
          <a:p/>
        </p:txBody>
      </p:sp>
      <p:sp>
        <p:nvSpPr>
          <p:cNvPr id="76" name="Shape e68s0"/>
          <p:cNvSpPr/>
          <p:nvPr/>
        </p:nvSpPr>
        <p:spPr>
          <a:xfrm>
            <a:off x="6086521" y="3174980"/>
            <a:ext cx="1719255" cy="28621"/>
          </a:xfrm>
          <a:prstGeom prst="rect">
            <a:avLst/>
          </a:prstGeom>
          <a:solidFill>
            <a:srgbClr val="B68757"/>
          </a:solidFill>
          <a:ln/>
        </p:spPr>
        <p:txBody>
          <a:bodyPr/>
          <a:p/>
        </p:txBody>
      </p:sp>
      <p:sp>
        <p:nvSpPr>
          <p:cNvPr id="77" name="Shape e69"/>
          <p:cNvSpPr/>
          <p:nvPr/>
        </p:nvSpPr>
        <p:spPr>
          <a:xfrm>
            <a:off x="6181710" y="3298789"/>
            <a:ext cx="1528785" cy="400050"/>
          </a:xfrm>
          <a:prstGeom prst="rect">
            <a:avLst/>
          </a:prstGeom>
          <a:solidFill>
            <a:srgbClr val="FFFFFF"/>
          </a:solidFill>
          <a:ln w="12700">
            <a:solidFill>
              <a:srgbClr val="E3DCD3"/>
            </a:solidFill>
            <a:prstDash val="solid"/>
          </a:ln>
        </p:spPr>
        <p:txBody>
          <a:bodyPr/>
          <a:p/>
        </p:txBody>
      </p:sp>
      <p:pic>
        <p:nvPicPr>
          <p:cNvPr id="78" name="Picture e70" descr="SnailWorks">    </p:cNvPr>
          <p:cNvPicPr>
            <a:picLocks noChangeAspect="1"/>
          </p:cNvPicPr>
          <p:nvPr/>
        </p:nvPicPr>
        <p:blipFill>
          <a:blip r:embed="rId19"/>
          <a:stretch>
            <a:fillRect/>
          </a:stretch>
        </p:blipFill>
        <p:spPr>
          <a:xfrm>
            <a:off x="6313566" y="3346430"/>
            <a:ext cx="1265072" cy="304678"/>
          </a:xfrm>
          <a:prstGeom prst="rect">
            <a:avLst/>
          </a:prstGeom>
        </p:spPr>
      </p:pic>
      <p:sp>
        <p:nvSpPr>
          <p:cNvPr id="79" name="Text e71"/>
          <p:cNvSpPr txBox="1"/>
          <p:nvPr/>
        </p:nvSpPr>
        <p:spPr>
          <a:xfrm>
            <a:off x="6181710" y="3746480"/>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80" name="Shape e72"/>
          <p:cNvSpPr/>
          <p:nvPr/>
        </p:nvSpPr>
        <p:spPr>
          <a:xfrm>
            <a:off x="6181710" y="3879799"/>
            <a:ext cx="1528785" cy="400050"/>
          </a:xfrm>
          <a:prstGeom prst="rect">
            <a:avLst/>
          </a:prstGeom>
          <a:solidFill>
            <a:srgbClr val="FFFFFF"/>
          </a:solidFill>
          <a:ln w="12700">
            <a:solidFill>
              <a:srgbClr val="E3DCD3"/>
            </a:solidFill>
            <a:prstDash val="solid"/>
          </a:ln>
        </p:spPr>
        <p:txBody>
          <a:bodyPr/>
          <a:p/>
        </p:txBody>
      </p:sp>
      <p:pic>
        <p:nvPicPr>
          <p:cNvPr id="81" name="Picture e73" descr="Beacon Software">    </p:cNvPr>
          <p:cNvPicPr>
            <a:picLocks noChangeAspect="1"/>
          </p:cNvPicPr>
          <p:nvPr/>
        </p:nvPicPr>
        <p:blipFill>
          <a:blip r:embed="rId20"/>
          <a:stretch>
            <a:fillRect/>
          </a:stretch>
        </p:blipFill>
        <p:spPr>
          <a:xfrm>
            <a:off x="6267480" y="3952585"/>
            <a:ext cx="1357335" cy="254478"/>
          </a:xfrm>
          <a:prstGeom prst="rect">
            <a:avLst/>
          </a:prstGeom>
        </p:spPr>
      </p:pic>
      <p:sp>
        <p:nvSpPr>
          <p:cNvPr id="82" name="Text e74"/>
          <p:cNvSpPr txBox="1"/>
          <p:nvPr/>
        </p:nvSpPr>
        <p:spPr>
          <a:xfrm>
            <a:off x="6181710" y="4348886"/>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Mail-tracking software for direct mailers</a:t>
            </a:r>
            <a:endParaRPr lang="en-US" sz="700" dirty="0"/>
          </a:p>
        </p:txBody>
      </p:sp>
      <p:sp>
        <p:nvSpPr>
          <p:cNvPr id="83" name="Text e75"/>
          <p:cNvSpPr txBox="1"/>
          <p:nvPr/>
        </p:nvSpPr>
        <p:spPr>
          <a:xfrm>
            <a:off x="6181710" y="4716384"/>
            <a:ext cx="1533540" cy="190470"/>
          </a:xfrm>
          <a:prstGeom prst="rect">
            <a:avLst/>
          </a:prstGeom>
          <a:noFill/>
          <a:ln/>
        </p:spPr>
        <p:txBody>
          <a:bodyPr wrap="square" lIns="0" tIns="0" rIns="0" bIns="0" rtlCol="0" anchor="t"/>
          <a:lstStyle/>
          <a:p>
            <a:pPr algn="ctr" indent="0" marL="0">
              <a:lnSpc>
                <a:spcPts val="750"/>
              </a:lnSpc>
              <a:buNone/>
            </a:pPr>
            <a:r>
              <a:rPr lang="en-US" sz="550" b="1" spc="100" kern="0" dirty="0">
                <a:solidFill>
                  <a:srgbClr val="8C6239"/>
                </a:solidFill>
                <a:latin typeface="+mn-lt" pitchFamily="34" charset="0"/>
              </a:rPr>
              <a:t>MARKETING, SALES &amp; TECH-ENABLED</a:t>
            </a:r>
            <a:endParaRPr lang="en-US" sz="550" dirty="0"/>
          </a:p>
        </p:txBody>
      </p:sp>
      <p:sp>
        <p:nvSpPr>
          <p:cNvPr id="84" name="Shape e76">
            <a:hlinkClick r:id="rId21" tooltip=""/>
          </p:cNvPr>
          <p:cNvSpPr/>
          <p:nvPr/>
        </p:nvSpPr>
        <p:spPr>
          <a:xfrm>
            <a:off x="7920076" y="3174980"/>
            <a:ext cx="1719255" cy="1822399"/>
          </a:xfrm>
          <a:prstGeom prst="rect">
            <a:avLst/>
          </a:prstGeom>
          <a:solidFill>
            <a:srgbClr val="FAF7F3"/>
          </a:solidFill>
          <a:ln/>
        </p:spPr>
        <p:txBody>
          <a:bodyPr/>
          <a:p/>
        </p:txBody>
      </p:sp>
      <p:sp>
        <p:nvSpPr>
          <p:cNvPr id="85" name="Shape e76s0"/>
          <p:cNvSpPr/>
          <p:nvPr/>
        </p:nvSpPr>
        <p:spPr>
          <a:xfrm>
            <a:off x="7920076" y="3174980"/>
            <a:ext cx="1719255" cy="28621"/>
          </a:xfrm>
          <a:prstGeom prst="rect">
            <a:avLst/>
          </a:prstGeom>
          <a:solidFill>
            <a:srgbClr val="B68757"/>
          </a:solidFill>
          <a:ln/>
        </p:spPr>
        <p:txBody>
          <a:bodyPr/>
          <a:p/>
        </p:txBody>
      </p:sp>
      <p:sp>
        <p:nvSpPr>
          <p:cNvPr id="86" name="Shape e77"/>
          <p:cNvSpPr/>
          <p:nvPr/>
        </p:nvSpPr>
        <p:spPr>
          <a:xfrm>
            <a:off x="8015265" y="3298789"/>
            <a:ext cx="1528785" cy="400050"/>
          </a:xfrm>
          <a:prstGeom prst="rect">
            <a:avLst/>
          </a:prstGeom>
          <a:solidFill>
            <a:srgbClr val="FFFFFF"/>
          </a:solidFill>
          <a:ln w="12700">
            <a:solidFill>
              <a:srgbClr val="E3DCD3"/>
            </a:solidFill>
            <a:prstDash val="solid"/>
          </a:ln>
        </p:spPr>
        <p:txBody>
          <a:bodyPr/>
          <a:p/>
        </p:txBody>
      </p:sp>
      <p:pic>
        <p:nvPicPr>
          <p:cNvPr id="87" name="Picture e78" descr="Total Sales &amp;amp; Marketing">    </p:cNvPr>
          <p:cNvPicPr>
            <a:picLocks noChangeAspect="1"/>
          </p:cNvPicPr>
          <p:nvPr/>
        </p:nvPicPr>
        <p:blipFill>
          <a:blip r:embed="rId22"/>
          <a:stretch>
            <a:fillRect/>
          </a:stretch>
        </p:blipFill>
        <p:spPr>
          <a:xfrm>
            <a:off x="8405531" y="3346430"/>
            <a:ext cx="748345" cy="304678"/>
          </a:xfrm>
          <a:prstGeom prst="rect">
            <a:avLst/>
          </a:prstGeom>
        </p:spPr>
      </p:pic>
      <p:sp>
        <p:nvSpPr>
          <p:cNvPr id="88" name="Text e79"/>
          <p:cNvSpPr txBox="1"/>
          <p:nvPr/>
        </p:nvSpPr>
        <p:spPr>
          <a:xfrm>
            <a:off x="8015265" y="3746480"/>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89" name="Shape e80"/>
          <p:cNvSpPr/>
          <p:nvPr/>
        </p:nvSpPr>
        <p:spPr>
          <a:xfrm>
            <a:off x="8015265" y="3879799"/>
            <a:ext cx="1528785" cy="400050"/>
          </a:xfrm>
          <a:prstGeom prst="rect">
            <a:avLst/>
          </a:prstGeom>
          <a:solidFill>
            <a:srgbClr val="FFFFFF"/>
          </a:solidFill>
          <a:ln w="12700">
            <a:solidFill>
              <a:srgbClr val="E3DCD3"/>
            </a:solidFill>
            <a:prstDash val="solid"/>
          </a:ln>
        </p:spPr>
        <p:txBody>
          <a:bodyPr/>
          <a:p/>
        </p:txBody>
      </p:sp>
      <p:pic>
        <p:nvPicPr>
          <p:cNvPr id="90" name="Picture e81" descr="Retail Rex Capital">    </p:cNvPr>
          <p:cNvPicPr>
            <a:picLocks noChangeAspect="1"/>
          </p:cNvPicPr>
          <p:nvPr/>
        </p:nvPicPr>
        <p:blipFill>
          <a:blip r:embed="rId23"/>
          <a:stretch>
            <a:fillRect/>
          </a:stretch>
        </p:blipFill>
        <p:spPr>
          <a:xfrm>
            <a:off x="8329910" y="3927439"/>
            <a:ext cx="899495" cy="304678"/>
          </a:xfrm>
          <a:prstGeom prst="rect">
            <a:avLst/>
          </a:prstGeom>
        </p:spPr>
      </p:pic>
      <p:sp>
        <p:nvSpPr>
          <p:cNvPr id="91" name="Text e82"/>
          <p:cNvSpPr txBox="1"/>
          <p:nvPr/>
        </p:nvSpPr>
        <p:spPr>
          <a:xfrm>
            <a:off x="8015265" y="4348886"/>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Promotional products and marketing services</a:t>
            </a:r>
            <a:endParaRPr lang="en-US" sz="700" dirty="0"/>
          </a:p>
        </p:txBody>
      </p:sp>
      <p:sp>
        <p:nvSpPr>
          <p:cNvPr id="92" name="Text e83"/>
          <p:cNvSpPr txBox="1"/>
          <p:nvPr/>
        </p:nvSpPr>
        <p:spPr>
          <a:xfrm>
            <a:off x="8015265" y="4716384"/>
            <a:ext cx="1533540" cy="190470"/>
          </a:xfrm>
          <a:prstGeom prst="rect">
            <a:avLst/>
          </a:prstGeom>
          <a:noFill/>
          <a:ln/>
        </p:spPr>
        <p:txBody>
          <a:bodyPr wrap="square" lIns="0" tIns="0" rIns="0" bIns="0" rtlCol="0" anchor="t"/>
          <a:lstStyle/>
          <a:p>
            <a:pPr algn="ctr" indent="0" marL="0">
              <a:lnSpc>
                <a:spcPts val="750"/>
              </a:lnSpc>
              <a:buNone/>
            </a:pPr>
            <a:r>
              <a:rPr lang="en-US" sz="550" b="1" spc="100" kern="0" dirty="0">
                <a:solidFill>
                  <a:srgbClr val="8C6239"/>
                </a:solidFill>
                <a:latin typeface="+mn-lt" pitchFamily="34" charset="0"/>
              </a:rPr>
              <a:t>MARKETING, SALES &amp; TECH-ENABLED</a:t>
            </a:r>
            <a:endParaRPr lang="en-US" sz="550" dirty="0"/>
          </a:p>
        </p:txBody>
      </p:sp>
      <p:sp>
        <p:nvSpPr>
          <p:cNvPr id="93" name="Shape e84">
            <a:hlinkClick r:id="rId24" tooltip=""/>
          </p:cNvPr>
          <p:cNvSpPr/>
          <p:nvPr/>
        </p:nvSpPr>
        <p:spPr>
          <a:xfrm>
            <a:off x="2419320" y="5111679"/>
            <a:ext cx="1719255" cy="1822399"/>
          </a:xfrm>
          <a:prstGeom prst="rect">
            <a:avLst/>
          </a:prstGeom>
          <a:solidFill>
            <a:srgbClr val="FAF7F3"/>
          </a:solidFill>
          <a:ln/>
        </p:spPr>
        <p:txBody>
          <a:bodyPr/>
          <a:p/>
        </p:txBody>
      </p:sp>
      <p:sp>
        <p:nvSpPr>
          <p:cNvPr id="94" name="Shape e84s0"/>
          <p:cNvSpPr/>
          <p:nvPr/>
        </p:nvSpPr>
        <p:spPr>
          <a:xfrm>
            <a:off x="2419320" y="5111679"/>
            <a:ext cx="1719255" cy="28621"/>
          </a:xfrm>
          <a:prstGeom prst="rect">
            <a:avLst/>
          </a:prstGeom>
          <a:solidFill>
            <a:srgbClr val="B68757"/>
          </a:solidFill>
          <a:ln/>
        </p:spPr>
        <p:txBody>
          <a:bodyPr/>
          <a:p/>
        </p:txBody>
      </p:sp>
      <p:sp>
        <p:nvSpPr>
          <p:cNvPr id="95" name="Shape e85"/>
          <p:cNvSpPr/>
          <p:nvPr/>
        </p:nvSpPr>
        <p:spPr>
          <a:xfrm>
            <a:off x="2514600" y="5235489"/>
            <a:ext cx="1528785" cy="400050"/>
          </a:xfrm>
          <a:prstGeom prst="rect">
            <a:avLst/>
          </a:prstGeom>
          <a:solidFill>
            <a:srgbClr val="FFFFFF"/>
          </a:solidFill>
          <a:ln w="12700">
            <a:solidFill>
              <a:srgbClr val="E3DCD3"/>
            </a:solidFill>
            <a:prstDash val="solid"/>
          </a:ln>
        </p:spPr>
        <p:txBody>
          <a:bodyPr/>
          <a:p/>
        </p:txBody>
      </p:sp>
      <p:sp>
        <p:nvSpPr>
          <p:cNvPr id="96" name="Text e85"/>
          <p:cNvSpPr txBox="1"/>
          <p:nvPr/>
        </p:nvSpPr>
        <p:spPr>
          <a:xfrm>
            <a:off x="2600371" y="5383073"/>
            <a:ext cx="1362090" cy="100035"/>
          </a:xfrm>
          <a:prstGeom prst="rect">
            <a:avLst/>
          </a:prstGeom>
          <a:noFill/>
          <a:ln/>
        </p:spPr>
        <p:txBody>
          <a:bodyPr wrap="none" lIns="0" tIns="0" rIns="0" bIns="0" rtlCol="0" anchor="t"/>
          <a:lstStyle/>
          <a:p>
            <a:pPr algn="ctr" indent="0" marL="0">
              <a:lnSpc>
                <a:spcPts val="800"/>
              </a:lnSpc>
              <a:buNone/>
            </a:pPr>
            <a:r>
              <a:rPr lang="en-US" sz="550" b="1" spc="100" kern="0" dirty="0">
                <a:solidFill>
                  <a:srgbClr val="1B1A1A"/>
                </a:solidFill>
                <a:latin typeface="+mn-lt" pitchFamily="34" charset="0"/>
              </a:rPr>
              <a:t>SJB GROUP</a:t>
            </a:r>
            <a:endParaRPr lang="en-US" sz="550" dirty="0"/>
          </a:p>
        </p:txBody>
      </p:sp>
      <p:sp>
        <p:nvSpPr>
          <p:cNvPr id="97" name="Text e86"/>
          <p:cNvSpPr txBox="1"/>
          <p:nvPr/>
        </p:nvSpPr>
        <p:spPr>
          <a:xfrm>
            <a:off x="2514600" y="5683179"/>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98" name="Shape e87"/>
          <p:cNvSpPr/>
          <p:nvPr/>
        </p:nvSpPr>
        <p:spPr>
          <a:xfrm>
            <a:off x="2514600" y="5816498"/>
            <a:ext cx="1528785" cy="400050"/>
          </a:xfrm>
          <a:prstGeom prst="rect">
            <a:avLst/>
          </a:prstGeom>
          <a:solidFill>
            <a:srgbClr val="FFFFFF"/>
          </a:solidFill>
          <a:ln w="12700">
            <a:solidFill>
              <a:srgbClr val="E3DCD3"/>
            </a:solidFill>
            <a:prstDash val="solid"/>
          </a:ln>
        </p:spPr>
        <p:txBody>
          <a:bodyPr/>
          <a:p/>
        </p:txBody>
      </p:sp>
      <p:sp>
        <p:nvSpPr>
          <p:cNvPr id="99" name="Text e87"/>
          <p:cNvSpPr txBox="1"/>
          <p:nvPr/>
        </p:nvSpPr>
        <p:spPr>
          <a:xfrm>
            <a:off x="2600371" y="5914156"/>
            <a:ext cx="1362090" cy="200071"/>
          </a:xfrm>
          <a:prstGeom prst="rect">
            <a:avLst/>
          </a:prstGeom>
          <a:noFill/>
          <a:ln/>
        </p:spPr>
        <p:txBody>
          <a:bodyPr wrap="square" lIns="0" tIns="0" rIns="0" bIns="0" rtlCol="0" anchor="t"/>
          <a:lstStyle/>
          <a:p>
            <a:pPr algn="ctr" indent="0" marL="0">
              <a:lnSpc>
                <a:spcPts val="800"/>
              </a:lnSpc>
              <a:buNone/>
            </a:pPr>
            <a:r>
              <a:rPr lang="en-US" sz="550" b="1" spc="100" kern="0" dirty="0">
                <a:solidFill>
                  <a:srgbClr val="1B1A1A"/>
                </a:solidFill>
                <a:latin typeface="+mn-lt" pitchFamily="34" charset="0"/>
              </a:rPr>
              <a:t>SURVEYING AND MAPPING (SAM)</a:t>
            </a:r>
            <a:endParaRPr lang="en-US" sz="550" dirty="0"/>
          </a:p>
        </p:txBody>
      </p:sp>
      <p:sp>
        <p:nvSpPr>
          <p:cNvPr id="100" name="Text e88"/>
          <p:cNvSpPr txBox="1"/>
          <p:nvPr/>
        </p:nvSpPr>
        <p:spPr>
          <a:xfrm>
            <a:off x="2514600" y="6285586"/>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Civil engineering firm, Baton Rouge, Louisiana</a:t>
            </a:r>
            <a:endParaRPr lang="en-US" sz="700" dirty="0"/>
          </a:p>
        </p:txBody>
      </p:sp>
      <p:sp>
        <p:nvSpPr>
          <p:cNvPr id="101" name="Text e89"/>
          <p:cNvSpPr txBox="1"/>
          <p:nvPr/>
        </p:nvSpPr>
        <p:spPr>
          <a:xfrm>
            <a:off x="2514600" y="6748272"/>
            <a:ext cx="1533540" cy="95280"/>
          </a:xfrm>
          <a:prstGeom prst="rect">
            <a:avLst/>
          </a:prstGeom>
          <a:noFill/>
          <a:ln/>
        </p:spPr>
        <p:txBody>
          <a:bodyPr wrap="none" lIns="0" tIns="0" rIns="0" bIns="0" rtlCol="0" anchor="t"/>
          <a:lstStyle/>
          <a:p>
            <a:pPr algn="ctr" indent="0" marL="0">
              <a:lnSpc>
                <a:spcPts val="750"/>
              </a:lnSpc>
              <a:buNone/>
            </a:pPr>
            <a:r>
              <a:rPr lang="en-US" sz="550" b="1" spc="100" kern="0" dirty="0">
                <a:solidFill>
                  <a:srgbClr val="8C6239"/>
                </a:solidFill>
                <a:latin typeface="+mn-lt" pitchFamily="34" charset="0"/>
              </a:rPr>
              <a:t>ENGINEERING &amp; ARCHITECTURE</a:t>
            </a:r>
            <a:endParaRPr lang="en-US" sz="550" dirty="0"/>
          </a:p>
        </p:txBody>
      </p:sp>
      <p:sp>
        <p:nvSpPr>
          <p:cNvPr id="102" name="Shape e90">
            <a:hlinkClick r:id="rId25" tooltip=""/>
          </p:cNvPr>
          <p:cNvSpPr/>
          <p:nvPr/>
        </p:nvSpPr>
        <p:spPr>
          <a:xfrm>
            <a:off x="4252874" y="5111679"/>
            <a:ext cx="1719255" cy="1822399"/>
          </a:xfrm>
          <a:prstGeom prst="rect">
            <a:avLst/>
          </a:prstGeom>
          <a:solidFill>
            <a:srgbClr val="FAF7F3"/>
          </a:solidFill>
          <a:ln/>
        </p:spPr>
        <p:txBody>
          <a:bodyPr/>
          <a:p/>
        </p:txBody>
      </p:sp>
      <p:sp>
        <p:nvSpPr>
          <p:cNvPr id="103" name="Shape e90s0"/>
          <p:cNvSpPr/>
          <p:nvPr/>
        </p:nvSpPr>
        <p:spPr>
          <a:xfrm>
            <a:off x="4252874" y="5111679"/>
            <a:ext cx="1719255" cy="28621"/>
          </a:xfrm>
          <a:prstGeom prst="rect">
            <a:avLst/>
          </a:prstGeom>
          <a:solidFill>
            <a:srgbClr val="B68757"/>
          </a:solidFill>
          <a:ln/>
        </p:spPr>
        <p:txBody>
          <a:bodyPr/>
          <a:p/>
        </p:txBody>
      </p:sp>
      <p:sp>
        <p:nvSpPr>
          <p:cNvPr id="104" name="Shape e91"/>
          <p:cNvSpPr/>
          <p:nvPr/>
        </p:nvSpPr>
        <p:spPr>
          <a:xfrm>
            <a:off x="4348155" y="5235489"/>
            <a:ext cx="1528785" cy="400050"/>
          </a:xfrm>
          <a:prstGeom prst="rect">
            <a:avLst/>
          </a:prstGeom>
          <a:solidFill>
            <a:srgbClr val="FFFFFF"/>
          </a:solidFill>
          <a:ln w="12700">
            <a:solidFill>
              <a:srgbClr val="E3DCD3"/>
            </a:solidFill>
            <a:prstDash val="solid"/>
          </a:ln>
        </p:spPr>
        <p:txBody>
          <a:bodyPr/>
          <a:p/>
        </p:txBody>
      </p:sp>
      <p:sp>
        <p:nvSpPr>
          <p:cNvPr id="105" name="Text e91"/>
          <p:cNvSpPr txBox="1"/>
          <p:nvPr/>
        </p:nvSpPr>
        <p:spPr>
          <a:xfrm>
            <a:off x="4433926" y="5333147"/>
            <a:ext cx="1362090" cy="200071"/>
          </a:xfrm>
          <a:prstGeom prst="rect">
            <a:avLst/>
          </a:prstGeom>
          <a:noFill/>
          <a:ln/>
        </p:spPr>
        <p:txBody>
          <a:bodyPr wrap="square" lIns="0" tIns="0" rIns="0" bIns="0" rtlCol="0" anchor="t"/>
          <a:lstStyle/>
          <a:p>
            <a:pPr algn="ctr" indent="0" marL="0">
              <a:lnSpc>
                <a:spcPts val="800"/>
              </a:lnSpc>
              <a:buNone/>
            </a:pPr>
            <a:r>
              <a:rPr lang="en-US" sz="550" b="1" spc="100" kern="0" dirty="0">
                <a:solidFill>
                  <a:srgbClr val="1B1A1A"/>
                </a:solidFill>
                <a:latin typeface="+mn-lt" pitchFamily="34" charset="0"/>
              </a:rPr>
              <a:t>ENGINEERED BUILDING SYSTEMS</a:t>
            </a:r>
            <a:endParaRPr lang="en-US" sz="550" dirty="0"/>
          </a:p>
        </p:txBody>
      </p:sp>
      <p:sp>
        <p:nvSpPr>
          <p:cNvPr id="106" name="Text e92"/>
          <p:cNvSpPr txBox="1"/>
          <p:nvPr/>
        </p:nvSpPr>
        <p:spPr>
          <a:xfrm>
            <a:off x="4348155" y="5683179"/>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107" name="Shape e93"/>
          <p:cNvSpPr/>
          <p:nvPr/>
        </p:nvSpPr>
        <p:spPr>
          <a:xfrm>
            <a:off x="4348155" y="5816498"/>
            <a:ext cx="1528785" cy="400050"/>
          </a:xfrm>
          <a:prstGeom prst="rect">
            <a:avLst/>
          </a:prstGeom>
          <a:solidFill>
            <a:srgbClr val="FFFFFF"/>
          </a:solidFill>
          <a:ln w="12700">
            <a:solidFill>
              <a:srgbClr val="E3DCD3"/>
            </a:solidFill>
            <a:prstDash val="solid"/>
          </a:ln>
        </p:spPr>
        <p:txBody>
          <a:bodyPr/>
          <a:p/>
        </p:txBody>
      </p:sp>
      <p:sp>
        <p:nvSpPr>
          <p:cNvPr id="108" name="Text e93"/>
          <p:cNvSpPr txBox="1"/>
          <p:nvPr/>
        </p:nvSpPr>
        <p:spPr>
          <a:xfrm>
            <a:off x="4433926" y="5914156"/>
            <a:ext cx="1362090" cy="200071"/>
          </a:xfrm>
          <a:prstGeom prst="rect">
            <a:avLst/>
          </a:prstGeom>
          <a:noFill/>
          <a:ln/>
        </p:spPr>
        <p:txBody>
          <a:bodyPr wrap="square" lIns="0" tIns="0" rIns="0" bIns="0" rtlCol="0" anchor="t"/>
          <a:lstStyle/>
          <a:p>
            <a:pPr algn="ctr" indent="0" marL="0">
              <a:lnSpc>
                <a:spcPts val="800"/>
              </a:lnSpc>
              <a:buNone/>
            </a:pPr>
            <a:r>
              <a:rPr lang="en-US" sz="550" b="1" spc="100" kern="0" dirty="0">
                <a:solidFill>
                  <a:srgbClr val="1B1A1A"/>
                </a:solidFill>
                <a:latin typeface="+mn-lt" pitchFamily="34" charset="0"/>
              </a:rPr>
              <a:t>RTM ENGINEERING CONSULTANTS</a:t>
            </a:r>
            <a:endParaRPr lang="en-US" sz="550" dirty="0"/>
          </a:p>
        </p:txBody>
      </p:sp>
      <p:sp>
        <p:nvSpPr>
          <p:cNvPr id="109" name="Text e94"/>
          <p:cNvSpPr txBox="1"/>
          <p:nvPr/>
        </p:nvSpPr>
        <p:spPr>
          <a:xfrm>
            <a:off x="4348155" y="6285586"/>
            <a:ext cx="1533540" cy="385785"/>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Mechanical, electrical and plumbing engineering, Northern Kentucky</a:t>
            </a:r>
            <a:endParaRPr lang="en-US" sz="700" dirty="0"/>
          </a:p>
        </p:txBody>
      </p:sp>
      <p:sp>
        <p:nvSpPr>
          <p:cNvPr id="110" name="Text e95"/>
          <p:cNvSpPr txBox="1"/>
          <p:nvPr/>
        </p:nvSpPr>
        <p:spPr>
          <a:xfrm>
            <a:off x="4348155" y="6748272"/>
            <a:ext cx="1533540" cy="95280"/>
          </a:xfrm>
          <a:prstGeom prst="rect">
            <a:avLst/>
          </a:prstGeom>
          <a:noFill/>
          <a:ln/>
        </p:spPr>
        <p:txBody>
          <a:bodyPr wrap="none" lIns="0" tIns="0" rIns="0" bIns="0" rtlCol="0" anchor="t"/>
          <a:lstStyle/>
          <a:p>
            <a:pPr algn="ctr" indent="0" marL="0">
              <a:lnSpc>
                <a:spcPts val="750"/>
              </a:lnSpc>
              <a:buNone/>
            </a:pPr>
            <a:r>
              <a:rPr lang="en-US" sz="550" b="1" spc="100" kern="0" dirty="0">
                <a:solidFill>
                  <a:srgbClr val="8C6239"/>
                </a:solidFill>
                <a:latin typeface="+mn-lt" pitchFamily="34" charset="0"/>
              </a:rPr>
              <a:t>ENGINEERING &amp; ARCHITECTURE</a:t>
            </a:r>
            <a:endParaRPr lang="en-US" sz="550" dirty="0"/>
          </a:p>
        </p:txBody>
      </p:sp>
      <p:sp>
        <p:nvSpPr>
          <p:cNvPr id="111" name="Shape e96">
            <a:hlinkClick r:id="rId26" tooltip=""/>
          </p:cNvPr>
          <p:cNvSpPr/>
          <p:nvPr/>
        </p:nvSpPr>
        <p:spPr>
          <a:xfrm>
            <a:off x="6086521" y="5111679"/>
            <a:ext cx="1719255" cy="1822399"/>
          </a:xfrm>
          <a:prstGeom prst="rect">
            <a:avLst/>
          </a:prstGeom>
          <a:solidFill>
            <a:srgbClr val="FAF7F3"/>
          </a:solidFill>
          <a:ln/>
        </p:spPr>
        <p:txBody>
          <a:bodyPr/>
          <a:p/>
        </p:txBody>
      </p:sp>
      <p:sp>
        <p:nvSpPr>
          <p:cNvPr id="112" name="Shape e96s0"/>
          <p:cNvSpPr/>
          <p:nvPr/>
        </p:nvSpPr>
        <p:spPr>
          <a:xfrm>
            <a:off x="6086521" y="5111679"/>
            <a:ext cx="1719255" cy="28621"/>
          </a:xfrm>
          <a:prstGeom prst="rect">
            <a:avLst/>
          </a:prstGeom>
          <a:solidFill>
            <a:srgbClr val="B68757"/>
          </a:solidFill>
          <a:ln/>
        </p:spPr>
        <p:txBody>
          <a:bodyPr/>
          <a:p/>
        </p:txBody>
      </p:sp>
      <p:sp>
        <p:nvSpPr>
          <p:cNvPr id="113" name="Shape e97"/>
          <p:cNvSpPr/>
          <p:nvPr/>
        </p:nvSpPr>
        <p:spPr>
          <a:xfrm>
            <a:off x="6181710" y="5235489"/>
            <a:ext cx="1528785" cy="400050"/>
          </a:xfrm>
          <a:prstGeom prst="rect">
            <a:avLst/>
          </a:prstGeom>
          <a:solidFill>
            <a:srgbClr val="FFFFFF"/>
          </a:solidFill>
          <a:ln w="12700">
            <a:solidFill>
              <a:srgbClr val="E3DCD3"/>
            </a:solidFill>
            <a:prstDash val="solid"/>
          </a:ln>
        </p:spPr>
        <p:txBody>
          <a:bodyPr/>
          <a:p/>
        </p:txBody>
      </p:sp>
      <p:sp>
        <p:nvSpPr>
          <p:cNvPr id="114" name="Text e97"/>
          <p:cNvSpPr txBox="1"/>
          <p:nvPr/>
        </p:nvSpPr>
        <p:spPr>
          <a:xfrm>
            <a:off x="6267480" y="5383073"/>
            <a:ext cx="1362090" cy="100035"/>
          </a:xfrm>
          <a:prstGeom prst="rect">
            <a:avLst/>
          </a:prstGeom>
          <a:noFill/>
          <a:ln/>
        </p:spPr>
        <p:txBody>
          <a:bodyPr wrap="none" lIns="0" tIns="0" rIns="0" bIns="0" rtlCol="0" anchor="t"/>
          <a:lstStyle/>
          <a:p>
            <a:pPr algn="ctr" indent="0" marL="0">
              <a:lnSpc>
                <a:spcPts val="800"/>
              </a:lnSpc>
              <a:buNone/>
            </a:pPr>
            <a:r>
              <a:rPr lang="en-US" sz="550" b="1" spc="100" kern="0" dirty="0">
                <a:solidFill>
                  <a:srgbClr val="1B1A1A"/>
                </a:solidFill>
                <a:latin typeface="+mn-lt" pitchFamily="34" charset="0"/>
              </a:rPr>
              <a:t>ALTAIR ASSOCIATES</a:t>
            </a:r>
            <a:endParaRPr lang="en-US" sz="550" dirty="0"/>
          </a:p>
        </p:txBody>
      </p:sp>
      <p:sp>
        <p:nvSpPr>
          <p:cNvPr id="115" name="Text e98"/>
          <p:cNvSpPr txBox="1"/>
          <p:nvPr/>
        </p:nvSpPr>
        <p:spPr>
          <a:xfrm>
            <a:off x="6181710" y="5683179"/>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116" name="Shape e99"/>
          <p:cNvSpPr/>
          <p:nvPr/>
        </p:nvSpPr>
        <p:spPr>
          <a:xfrm>
            <a:off x="6181710" y="5816498"/>
            <a:ext cx="1528785" cy="400050"/>
          </a:xfrm>
          <a:prstGeom prst="rect">
            <a:avLst/>
          </a:prstGeom>
          <a:solidFill>
            <a:srgbClr val="FFFFFF"/>
          </a:solidFill>
          <a:ln w="12700">
            <a:solidFill>
              <a:srgbClr val="E3DCD3"/>
            </a:solidFill>
            <a:prstDash val="solid"/>
          </a:ln>
        </p:spPr>
        <p:txBody>
          <a:bodyPr/>
          <a:p/>
        </p:txBody>
      </p:sp>
      <p:sp>
        <p:nvSpPr>
          <p:cNvPr id="117" name="Text e99"/>
          <p:cNvSpPr txBox="1"/>
          <p:nvPr/>
        </p:nvSpPr>
        <p:spPr>
          <a:xfrm>
            <a:off x="6267480" y="5914156"/>
            <a:ext cx="1362090" cy="200071"/>
          </a:xfrm>
          <a:prstGeom prst="rect">
            <a:avLst/>
          </a:prstGeom>
          <a:noFill/>
          <a:ln/>
        </p:spPr>
        <p:txBody>
          <a:bodyPr wrap="square" lIns="0" tIns="0" rIns="0" bIns="0" rtlCol="0" anchor="t"/>
          <a:lstStyle/>
          <a:p>
            <a:pPr algn="ctr" indent="0" marL="0">
              <a:lnSpc>
                <a:spcPts val="800"/>
              </a:lnSpc>
              <a:buNone/>
            </a:pPr>
            <a:r>
              <a:rPr lang="en-US" sz="550" b="1" spc="100" kern="0" dirty="0">
                <a:solidFill>
                  <a:srgbClr val="1B1A1A"/>
                </a:solidFill>
                <a:latin typeface="+mn-lt" pitchFamily="34" charset="0"/>
              </a:rPr>
              <a:t>CENTRI BUSINESS CONSULTING</a:t>
            </a:r>
            <a:endParaRPr lang="en-US" sz="550" dirty="0"/>
          </a:p>
        </p:txBody>
      </p:sp>
      <p:sp>
        <p:nvSpPr>
          <p:cNvPr id="118" name="Text e100"/>
          <p:cNvSpPr txBox="1"/>
          <p:nvPr/>
        </p:nvSpPr>
        <p:spPr>
          <a:xfrm>
            <a:off x="6181710" y="6285586"/>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Underwriting and claims review for insurers and reinsurers</a:t>
            </a:r>
            <a:endParaRPr lang="en-US" sz="700" dirty="0"/>
          </a:p>
        </p:txBody>
      </p:sp>
      <p:sp>
        <p:nvSpPr>
          <p:cNvPr id="119" name="Text e101"/>
          <p:cNvSpPr txBox="1"/>
          <p:nvPr/>
        </p:nvSpPr>
        <p:spPr>
          <a:xfrm>
            <a:off x="6181710" y="6748272"/>
            <a:ext cx="1533540" cy="95280"/>
          </a:xfrm>
          <a:prstGeom prst="rect">
            <a:avLst/>
          </a:prstGeom>
          <a:noFill/>
          <a:ln/>
        </p:spPr>
        <p:txBody>
          <a:bodyPr wrap="none" lIns="0" tIns="0" rIns="0" bIns="0" rtlCol="0" anchor="t"/>
          <a:lstStyle/>
          <a:p>
            <a:pPr algn="ctr" indent="0" marL="0">
              <a:lnSpc>
                <a:spcPts val="750"/>
              </a:lnSpc>
              <a:buNone/>
            </a:pPr>
            <a:r>
              <a:rPr lang="en-US" sz="550" b="1" spc="100" kern="0" dirty="0">
                <a:solidFill>
                  <a:srgbClr val="8C6239"/>
                </a:solidFill>
                <a:latin typeface="+mn-lt" pitchFamily="34" charset="0"/>
              </a:rPr>
              <a:t>FINANCIAL &amp; INSURANCE</a:t>
            </a:r>
            <a:endParaRPr lang="en-US" sz="550" dirty="0"/>
          </a:p>
        </p:txBody>
      </p:sp>
      <p:sp>
        <p:nvSpPr>
          <p:cNvPr id="120" name="Shape e102">
            <a:hlinkClick r:id="rId27" tooltip=""/>
          </p:cNvPr>
          <p:cNvSpPr/>
          <p:nvPr/>
        </p:nvSpPr>
        <p:spPr>
          <a:xfrm>
            <a:off x="7920076" y="5111679"/>
            <a:ext cx="1719255" cy="1822399"/>
          </a:xfrm>
          <a:prstGeom prst="rect">
            <a:avLst/>
          </a:prstGeom>
          <a:solidFill>
            <a:srgbClr val="FAF7F3"/>
          </a:solidFill>
          <a:ln/>
        </p:spPr>
        <p:txBody>
          <a:bodyPr/>
          <a:p/>
        </p:txBody>
      </p:sp>
      <p:sp>
        <p:nvSpPr>
          <p:cNvPr id="121" name="Shape e102s0"/>
          <p:cNvSpPr/>
          <p:nvPr/>
        </p:nvSpPr>
        <p:spPr>
          <a:xfrm>
            <a:off x="7920076" y="5111679"/>
            <a:ext cx="1719255" cy="28621"/>
          </a:xfrm>
          <a:prstGeom prst="rect">
            <a:avLst/>
          </a:prstGeom>
          <a:solidFill>
            <a:srgbClr val="B68757"/>
          </a:solidFill>
          <a:ln/>
        </p:spPr>
        <p:txBody>
          <a:bodyPr/>
          <a:p/>
        </p:txBody>
      </p:sp>
      <p:sp>
        <p:nvSpPr>
          <p:cNvPr id="122" name="Shape e103"/>
          <p:cNvSpPr/>
          <p:nvPr/>
        </p:nvSpPr>
        <p:spPr>
          <a:xfrm>
            <a:off x="8015265" y="5235489"/>
            <a:ext cx="1528785" cy="400050"/>
          </a:xfrm>
          <a:prstGeom prst="rect">
            <a:avLst/>
          </a:prstGeom>
          <a:solidFill>
            <a:srgbClr val="FFFFFF"/>
          </a:solidFill>
          <a:ln w="12700">
            <a:solidFill>
              <a:srgbClr val="E3DCD3"/>
            </a:solidFill>
            <a:prstDash val="solid"/>
          </a:ln>
        </p:spPr>
        <p:txBody>
          <a:bodyPr/>
          <a:p/>
        </p:txBody>
      </p:sp>
      <p:sp>
        <p:nvSpPr>
          <p:cNvPr id="123" name="Text e103"/>
          <p:cNvSpPr txBox="1"/>
          <p:nvPr/>
        </p:nvSpPr>
        <p:spPr>
          <a:xfrm>
            <a:off x="8101035" y="5383073"/>
            <a:ext cx="1362090" cy="100035"/>
          </a:xfrm>
          <a:prstGeom prst="rect">
            <a:avLst/>
          </a:prstGeom>
          <a:noFill/>
          <a:ln/>
        </p:spPr>
        <p:txBody>
          <a:bodyPr wrap="none" lIns="0" tIns="0" rIns="0" bIns="0" rtlCol="0" anchor="t"/>
          <a:lstStyle/>
          <a:p>
            <a:pPr algn="ctr" indent="0" marL="0">
              <a:lnSpc>
                <a:spcPts val="800"/>
              </a:lnSpc>
              <a:buNone/>
            </a:pPr>
            <a:r>
              <a:rPr lang="en-US" sz="550" b="1" spc="100" kern="0" dirty="0">
                <a:solidFill>
                  <a:srgbClr val="1B1A1A"/>
                </a:solidFill>
                <a:latin typeface="+mn-lt" pitchFamily="34" charset="0"/>
              </a:rPr>
              <a:t>MOKAVIA AEROSPACE</a:t>
            </a:r>
            <a:endParaRPr lang="en-US" sz="550" dirty="0"/>
          </a:p>
        </p:txBody>
      </p:sp>
      <p:sp>
        <p:nvSpPr>
          <p:cNvPr id="124" name="Text e104"/>
          <p:cNvSpPr txBox="1"/>
          <p:nvPr/>
        </p:nvSpPr>
        <p:spPr>
          <a:xfrm>
            <a:off x="8015265" y="5683179"/>
            <a:ext cx="1533540" cy="85771"/>
          </a:xfrm>
          <a:prstGeom prst="rect">
            <a:avLst/>
          </a:prstGeom>
          <a:noFill/>
          <a:ln/>
        </p:spPr>
        <p:txBody>
          <a:bodyPr wrap="none" lIns="0" tIns="0" rIns="0" bIns="0" rtlCol="0" anchor="t"/>
          <a:lstStyle/>
          <a:p>
            <a:pPr algn="ctr" indent="0" marL="0">
              <a:lnSpc>
                <a:spcPts val="700"/>
              </a:lnSpc>
              <a:buNone/>
            </a:pPr>
            <a:r>
              <a:rPr lang="en-US" sz="500" b="1" spc="100" kern="0" dirty="0">
                <a:solidFill>
                  <a:srgbClr val="6F6A66"/>
                </a:solidFill>
                <a:latin typeface="+mn-lt" pitchFamily="34" charset="0"/>
              </a:rPr>
              <a:t>HAS BEEN ACQUIRED BY</a:t>
            </a:r>
            <a:endParaRPr lang="en-US" sz="500" dirty="0"/>
          </a:p>
        </p:txBody>
      </p:sp>
      <p:sp>
        <p:nvSpPr>
          <p:cNvPr id="125" name="Shape e105"/>
          <p:cNvSpPr/>
          <p:nvPr/>
        </p:nvSpPr>
        <p:spPr>
          <a:xfrm>
            <a:off x="8015265" y="5816498"/>
            <a:ext cx="1528785" cy="400050"/>
          </a:xfrm>
          <a:prstGeom prst="rect">
            <a:avLst/>
          </a:prstGeom>
          <a:solidFill>
            <a:srgbClr val="FFFFFF"/>
          </a:solidFill>
          <a:ln w="12700">
            <a:solidFill>
              <a:srgbClr val="E3DCD3"/>
            </a:solidFill>
            <a:prstDash val="solid"/>
          </a:ln>
        </p:spPr>
        <p:txBody>
          <a:bodyPr/>
          <a:p/>
        </p:txBody>
      </p:sp>
      <p:sp>
        <p:nvSpPr>
          <p:cNvPr id="126" name="Text e105"/>
          <p:cNvSpPr txBox="1"/>
          <p:nvPr/>
        </p:nvSpPr>
        <p:spPr>
          <a:xfrm>
            <a:off x="8101035" y="5964174"/>
            <a:ext cx="1362090" cy="100035"/>
          </a:xfrm>
          <a:prstGeom prst="rect">
            <a:avLst/>
          </a:prstGeom>
          <a:noFill/>
          <a:ln/>
        </p:spPr>
        <p:txBody>
          <a:bodyPr wrap="none" lIns="0" tIns="0" rIns="0" bIns="0" rtlCol="0" anchor="t"/>
          <a:lstStyle/>
          <a:p>
            <a:pPr algn="ctr" indent="0" marL="0">
              <a:lnSpc>
                <a:spcPts val="800"/>
              </a:lnSpc>
              <a:buNone/>
            </a:pPr>
            <a:r>
              <a:rPr lang="en-US" sz="550" b="1" spc="100" kern="0" dirty="0">
                <a:solidFill>
                  <a:srgbClr val="1B1A1A"/>
                </a:solidFill>
                <a:latin typeface="+mn-lt" pitchFamily="34" charset="0"/>
              </a:rPr>
              <a:t>HI-TEK</a:t>
            </a:r>
            <a:endParaRPr lang="en-US" sz="550" dirty="0"/>
          </a:p>
        </p:txBody>
      </p:sp>
      <p:sp>
        <p:nvSpPr>
          <p:cNvPr id="127" name="Text e106"/>
          <p:cNvSpPr txBox="1"/>
          <p:nvPr/>
        </p:nvSpPr>
        <p:spPr>
          <a:xfrm>
            <a:off x="8015265" y="6285586"/>
            <a:ext cx="1533540" cy="257221"/>
          </a:xfrm>
          <a:prstGeom prst="rect">
            <a:avLst/>
          </a:prstGeom>
          <a:noFill/>
          <a:ln/>
        </p:spPr>
        <p:txBody>
          <a:bodyPr wrap="square" lIns="0" tIns="0" rIns="0" bIns="0" rtlCol="0" anchor="t"/>
          <a:lstStyle/>
          <a:p>
            <a:pPr algn="ctr" indent="0" marL="0">
              <a:lnSpc>
                <a:spcPts val="1000"/>
              </a:lnSpc>
              <a:buNone/>
            </a:pPr>
            <a:r>
              <a:rPr lang="en-US" sz="700" dirty="0">
                <a:solidFill>
                  <a:srgbClr val="333231"/>
                </a:solidFill>
                <a:latin typeface="+mn-lt" pitchFamily="34" charset="0"/>
              </a:rPr>
              <a:t>Aerospace engineering and technical contract staffing</a:t>
            </a:r>
            <a:endParaRPr lang="en-US" sz="700" dirty="0"/>
          </a:p>
        </p:txBody>
      </p:sp>
      <p:sp>
        <p:nvSpPr>
          <p:cNvPr id="128" name="Text e107"/>
          <p:cNvSpPr txBox="1"/>
          <p:nvPr/>
        </p:nvSpPr>
        <p:spPr>
          <a:xfrm>
            <a:off x="8015265" y="6748272"/>
            <a:ext cx="1533540" cy="95280"/>
          </a:xfrm>
          <a:prstGeom prst="rect">
            <a:avLst/>
          </a:prstGeom>
          <a:noFill/>
          <a:ln/>
        </p:spPr>
        <p:txBody>
          <a:bodyPr wrap="none" lIns="0" tIns="0" rIns="0" bIns="0" rtlCol="0" anchor="t"/>
          <a:lstStyle/>
          <a:p>
            <a:pPr algn="ctr" indent="0" marL="0">
              <a:lnSpc>
                <a:spcPts val="750"/>
              </a:lnSpc>
              <a:buNone/>
            </a:pPr>
            <a:r>
              <a:rPr lang="en-US" sz="550" b="1" spc="100" kern="0" dirty="0">
                <a:solidFill>
                  <a:srgbClr val="8C6239"/>
                </a:solidFill>
                <a:latin typeface="+mn-lt" pitchFamily="34" charset="0"/>
              </a:rPr>
              <a:t>STAFFING &amp; HUMAN CAPITAL</a:t>
            </a:r>
            <a:endParaRPr lang="en-US" sz="550" dirty="0"/>
          </a:p>
        </p:txBody>
      </p:sp>
      <p:sp>
        <p:nvSpPr>
          <p:cNvPr id="129" name="Shape e108"/>
          <p:cNvSpPr/>
          <p:nvPr/>
        </p:nvSpPr>
        <p:spPr>
          <a:xfrm>
            <a:off x="419070" y="7029450"/>
            <a:ext cx="9220170" cy="9510"/>
          </a:xfrm>
          <a:prstGeom prst="ellipse">
            <a:avLst/>
          </a:prstGeom>
          <a:solidFill>
            <a:srgbClr val="E3DCD3"/>
          </a:solidFill>
          <a:ln/>
        </p:spPr>
        <p:txBody>
          <a:bodyPr/>
          <a:p/>
        </p:txBody>
      </p:sp>
      <p:pic>
        <p:nvPicPr>
          <p:cNvPr id="130" name="Picture e109" descr="Benchmark International">    </p:cNvPr>
          <p:cNvPicPr>
            <a:picLocks noChangeAspect="1"/>
          </p:cNvPicPr>
          <p:nvPr/>
        </p:nvPicPr>
        <p:blipFill>
          <a:blip r:embed="rId28"/>
          <a:stretch>
            <a:fillRect/>
          </a:stretch>
        </p:blipFill>
        <p:spPr>
          <a:xfrm>
            <a:off x="419070" y="7143750"/>
            <a:ext cx="914400" cy="171450"/>
          </a:xfrm>
          <a:prstGeom prst="rect">
            <a:avLst/>
          </a:prstGeom>
        </p:spPr>
      </p:pic>
      <p:sp>
        <p:nvSpPr>
          <p:cNvPr id="131" name="Text e110"/>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Each tile links to the announcement on benchmarkintl.com. Twelve of the 44 named transactions are shown</a:t>
            </a:r>
            <a:pPr algn="l" indent="0" marL="0">
              <a:lnSpc>
                <a:spcPts val="950"/>
              </a:lnSpc>
              <a:buNone/>
            </a:pPr>
            <a:r>
              <a:rPr lang="en-US" sz="700" u="sng" dirty="0">
                <a:solidFill>
                  <a:srgbClr val="8C6239"/>
                </a:solidFill>
                <a:latin typeface="+mn-lt" pitchFamily="34" charset="0"/>
                <a:hlinkClick r:id="rId29" invalidUrl="" action="" tgtFrame="" tooltip="" history="1" highlightClick="0" endSnd="0">
                  <a:extLst>
                    <a:ext uri="{A12FA001-AC4F-418D-AE19-62706E023703}">
                      <ahyp:hlinkClr xmlns:ahyp="http://schemas.microsoft.com/office/drawing/2018/hyperlinkcolor" val="tx"/>
                    </a:ext>
                  </a:extLst>
                </a:hlinkClick>
              </a:rPr>
              <a:t/>
            </a:r>
            <a:pPr algn="l" indent="0" marL="0">
              <a:lnSpc>
                <a:spcPts val="950"/>
              </a:lnSpc>
              <a:buNone/>
            </a:pPr>
            <a:r>
              <a:rPr lang="en-US" sz="700" dirty="0">
                <a:solidFill>
                  <a:srgbClr val="6F6A66"/>
                </a:solidFill>
                <a:latin typeface="+mn-lt" pitchFamily="34" charset="0"/>
              </a:rPr>
              <a:t>. Transactions closed in the 24 months to September 2026. Engagements in progress are shown in aggregate. Company names and marks are the property of their owners.</a:t>
            </a:r>
            <a:endParaRPr lang="en-US" sz="700" dirty="0"/>
          </a:p>
        </p:txBody>
      </p:sp>
      <p:sp>
        <p:nvSpPr>
          <p:cNvPr id="132" name="Text e111"/>
          <p:cNvSpPr txBox="1"/>
          <p:nvPr/>
        </p:nvSpPr>
        <p:spPr>
          <a:xfrm>
            <a:off x="9510400" y="7162770"/>
            <a:ext cx="13332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3357585"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Public Companies: Valuation</a:t>
            </a:r>
            <a:endParaRPr lang="en-US" sz="2050" dirty="0"/>
          </a:p>
        </p:txBody>
      </p:sp>
      <p:sp>
        <p:nvSpPr>
          <p:cNvPr id="6" name="Text e5"/>
          <p:cNvSpPr txBox="1"/>
          <p:nvPr/>
        </p:nvSpPr>
        <p:spPr>
          <a:xfrm>
            <a:off x="419070" y="883402"/>
            <a:ext cx="6756319"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Listed multiples are lower than a year ago in all five sectors, and each sector trades below its three-year median.</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10"/>
          <p:cNvSpPr/>
          <p:nvPr/>
        </p:nvSpPr>
        <p:spPr>
          <a:xfrm>
            <a:off x="419070" y="1238280"/>
            <a:ext cx="2762220" cy="3810030"/>
          </a:xfrm>
          <a:prstGeom prst="rect">
            <a:avLst/>
          </a:prstGeom>
          <a:solidFill>
            <a:srgbClr val="FAF7F3"/>
          </a:solidFill>
          <a:ln/>
        </p:spPr>
        <p:txBody>
          <a:bodyPr/>
          <a:p/>
        </p:txBody>
      </p:sp>
      <p:sp>
        <p:nvSpPr>
          <p:cNvPr id="9" name="Shape e10s0"/>
          <p:cNvSpPr/>
          <p:nvPr/>
        </p:nvSpPr>
        <p:spPr>
          <a:xfrm>
            <a:off x="419070" y="1238280"/>
            <a:ext cx="2762220" cy="28621"/>
          </a:xfrm>
          <a:prstGeom prst="rect">
            <a:avLst/>
          </a:prstGeom>
          <a:solidFill>
            <a:srgbClr val="B68757"/>
          </a:solidFill>
          <a:ln/>
        </p:spPr>
        <p:txBody>
          <a:bodyPr/>
          <a:p/>
        </p:txBody>
      </p:sp>
      <p:sp>
        <p:nvSpPr>
          <p:cNvPr id="10" name="Text e11"/>
          <p:cNvSpPr txBox="1"/>
          <p:nvPr/>
        </p:nvSpPr>
        <p:spPr>
          <a:xfrm>
            <a:off x="571500" y="1378732"/>
            <a:ext cx="2110801"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Share price change, past 52 weeks</a:t>
            </a:r>
            <a:endParaRPr lang="en-US" sz="950" dirty="0"/>
          </a:p>
        </p:txBody>
      </p:sp>
      <p:sp>
        <p:nvSpPr>
          <p:cNvPr id="11" name="Text e12"/>
          <p:cNvSpPr txBox="1"/>
          <p:nvPr/>
        </p:nvSpPr>
        <p:spPr>
          <a:xfrm>
            <a:off x="571500" y="1550182"/>
            <a:ext cx="2165756" cy="128565"/>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Median of the listed companies in each sector</a:t>
            </a:r>
            <a:endParaRPr lang="en-US" sz="700" dirty="0"/>
          </a:p>
        </p:txBody>
      </p:sp>
      <p:graphicFrame>
        <p:nvGraphicFramePr>
          <p:cNvPr id="12" name="Chart 11-e13" descr=""/>
          <p:cNvGraphicFramePr/>
          <p:nvPr/>
        </p:nvGraphicFramePr>
        <p:xfrm>
          <a:off x="571500" y="1771650"/>
          <a:ext cx="2438430" cy="2190720"/>
        </p:xfrm>
        <a:graphic xmlns:a="http://schemas.openxmlformats.org/drawingml/2006/main">
          <a:graphicData uri="http://schemas.openxmlformats.org/drawingml/2006/chart">
            <c:chart xmlns:c="http://schemas.openxmlformats.org/drawingml/2006/chart" r:id="rId1"/>
          </a:graphicData>
        </a:graphic>
      </p:graphicFrame>
      <p:sp>
        <p:nvSpPr>
          <p:cNvPr id="13" name="Shape e14s0"/>
          <p:cNvSpPr/>
          <p:nvPr/>
        </p:nvSpPr>
        <p:spPr>
          <a:xfrm>
            <a:off x="571500" y="4314871"/>
            <a:ext cx="2457450" cy="9510"/>
          </a:xfrm>
          <a:prstGeom prst="rect">
            <a:avLst/>
          </a:prstGeom>
          <a:solidFill>
            <a:srgbClr val="E3DCD3"/>
          </a:solidFill>
          <a:ln/>
        </p:spPr>
        <p:txBody>
          <a:bodyPr/>
          <a:p/>
        </p:txBody>
      </p:sp>
      <p:sp>
        <p:nvSpPr>
          <p:cNvPr id="14" name="Text e14"/>
          <p:cNvSpPr txBox="1"/>
          <p:nvPr/>
        </p:nvSpPr>
        <p:spPr>
          <a:xfrm>
            <a:off x="571500" y="4383908"/>
            <a:ext cx="2457450" cy="55248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Shares rose over the year at 6 of 11 commercial and facility, 3 of 9 marketing, 1 of 8 engineering, 2 of 7 financial and insurance, and 7 of 10 staffing companies.</a:t>
            </a:r>
            <a:endParaRPr lang="en-US" sz="750" dirty="0"/>
          </a:p>
        </p:txBody>
      </p:sp>
      <p:sp>
        <p:nvSpPr>
          <p:cNvPr id="15" name="Shape e15"/>
          <p:cNvSpPr/>
          <p:nvPr/>
        </p:nvSpPr>
        <p:spPr>
          <a:xfrm>
            <a:off x="3314700" y="1238280"/>
            <a:ext cx="3943350" cy="3810030"/>
          </a:xfrm>
          <a:prstGeom prst="rect">
            <a:avLst/>
          </a:prstGeom>
          <a:solidFill>
            <a:srgbClr val="FAF7F3"/>
          </a:solidFill>
          <a:ln/>
        </p:spPr>
        <p:txBody>
          <a:bodyPr/>
          <a:p/>
        </p:txBody>
      </p:sp>
      <p:sp>
        <p:nvSpPr>
          <p:cNvPr id="16" name="Shape e15s0"/>
          <p:cNvSpPr/>
          <p:nvPr/>
        </p:nvSpPr>
        <p:spPr>
          <a:xfrm>
            <a:off x="3314700" y="1238280"/>
            <a:ext cx="3943350" cy="28621"/>
          </a:xfrm>
          <a:prstGeom prst="rect">
            <a:avLst/>
          </a:prstGeom>
          <a:solidFill>
            <a:srgbClr val="B68757"/>
          </a:solidFill>
          <a:ln/>
        </p:spPr>
        <p:txBody>
          <a:bodyPr/>
          <a:p/>
        </p:txBody>
      </p:sp>
      <p:sp>
        <p:nvSpPr>
          <p:cNvPr id="17" name="Text e16"/>
          <p:cNvSpPr txBox="1"/>
          <p:nvPr/>
        </p:nvSpPr>
        <p:spPr>
          <a:xfrm>
            <a:off x="3467130" y="1378732"/>
            <a:ext cx="2106960"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Enterprise value to trailing EBITDA</a:t>
            </a:r>
            <a:endParaRPr lang="en-US" sz="950" dirty="0"/>
          </a:p>
        </p:txBody>
      </p:sp>
      <p:sp>
        <p:nvSpPr>
          <p:cNvPr id="18" name="Text e17"/>
          <p:cNvSpPr txBox="1"/>
          <p:nvPr/>
        </p:nvSpPr>
        <p:spPr>
          <a:xfrm>
            <a:off x="3467130" y="1550182"/>
            <a:ext cx="363858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Median multiple a year ago, today and over three years, same companies at each point</a:t>
            </a:r>
            <a:endParaRPr lang="en-US" sz="700" dirty="0"/>
          </a:p>
        </p:txBody>
      </p:sp>
      <p:graphicFrame>
        <p:nvGraphicFramePr>
          <p:cNvPr id="19" name="Chart 11-e18" descr=""/>
          <p:cNvGraphicFramePr/>
          <p:nvPr/>
        </p:nvGraphicFramePr>
        <p:xfrm>
          <a:off x="3467130" y="1900215"/>
          <a:ext cx="3543300" cy="2762220"/>
        </p:xfrm>
        <a:graphic xmlns:a="http://schemas.openxmlformats.org/drawingml/2006/main">
          <a:graphicData uri="http://schemas.openxmlformats.org/drawingml/2006/chart">
            <c:chart xmlns:c="http://schemas.openxmlformats.org/drawingml/2006/chart" r:id="rId2"/>
          </a:graphicData>
        </a:graphic>
      </p:graphicFrame>
      <p:sp>
        <p:nvSpPr>
          <p:cNvPr id="20" name="Shape e19s0"/>
          <p:cNvSpPr/>
          <p:nvPr/>
        </p:nvSpPr>
        <p:spPr>
          <a:xfrm>
            <a:off x="3467130" y="4729185"/>
            <a:ext cx="3638580" cy="9510"/>
          </a:xfrm>
          <a:prstGeom prst="rect">
            <a:avLst/>
          </a:prstGeom>
          <a:solidFill>
            <a:srgbClr val="E3DCD3"/>
          </a:solidFill>
          <a:ln/>
        </p:spPr>
        <p:txBody>
          <a:bodyPr/>
          <a:p/>
        </p:txBody>
      </p:sp>
      <p:sp>
        <p:nvSpPr>
          <p:cNvPr id="21" name="Text e19"/>
          <p:cNvSpPr txBox="1"/>
          <p:nvPr/>
        </p:nvSpPr>
        <p:spPr>
          <a:xfrm>
            <a:off x="3467130" y="4798223"/>
            <a:ext cx="3445551" cy="138074"/>
          </a:xfrm>
          <a:prstGeom prst="rect">
            <a:avLst/>
          </a:prstGeom>
          <a:noFill/>
          <a:ln/>
        </p:spPr>
        <p:txBody>
          <a:bodyPr wrap="none" lIns="0" tIns="0" rIns="0" bIns="0" rtlCol="0" anchor="t"/>
          <a:lstStyle/>
          <a:p>
            <a:pPr algn="l" indent="0" marL="0">
              <a:lnSpc>
                <a:spcPts val="1100"/>
              </a:lnSpc>
              <a:buNone/>
            </a:pPr>
            <a:r>
              <a:rPr lang="en-US" sz="750" dirty="0">
                <a:solidFill>
                  <a:srgbClr val="333231"/>
                </a:solidFill>
                <a:latin typeface="+mn-lt" pitchFamily="34" charset="0"/>
              </a:rPr>
              <a:t>26 of the 36 companies trade below their own three-year median multiple.</a:t>
            </a:r>
            <a:endParaRPr lang="en-US" sz="750" dirty="0"/>
          </a:p>
        </p:txBody>
      </p:sp>
      <p:sp>
        <p:nvSpPr>
          <p:cNvPr id="22" name="Shape e20"/>
          <p:cNvSpPr/>
          <p:nvPr/>
        </p:nvSpPr>
        <p:spPr>
          <a:xfrm>
            <a:off x="7391370" y="1238280"/>
            <a:ext cx="2247870" cy="3810030"/>
          </a:xfrm>
          <a:prstGeom prst="rect">
            <a:avLst/>
          </a:prstGeom>
          <a:solidFill>
            <a:srgbClr val="1B1A1A"/>
          </a:solidFill>
          <a:ln/>
        </p:spPr>
        <p:txBody>
          <a:bodyPr/>
          <a:p/>
        </p:txBody>
      </p:sp>
      <p:sp>
        <p:nvSpPr>
          <p:cNvPr id="23" name="Text e21"/>
          <p:cNvSpPr txBox="1"/>
          <p:nvPr/>
        </p:nvSpPr>
        <p:spPr>
          <a:xfrm>
            <a:off x="7543800" y="1371600"/>
            <a:ext cx="1943100" cy="247620"/>
          </a:xfrm>
          <a:prstGeom prst="rect">
            <a:avLst/>
          </a:prstGeom>
          <a:noFill/>
          <a:ln/>
        </p:spPr>
        <p:txBody>
          <a:bodyPr wrap="square" lIns="0" tIns="0" rIns="0" bIns="0" rtlCol="0" anchor="t"/>
          <a:lstStyle/>
          <a:p>
            <a:pPr algn="l" indent="0" marL="0">
              <a:lnSpc>
                <a:spcPts val="1000"/>
              </a:lnSpc>
              <a:buNone/>
            </a:pPr>
            <a:r>
              <a:rPr lang="en-US" sz="700" b="1" spc="150" kern="0" dirty="0">
                <a:solidFill>
                  <a:srgbClr val="D3AE84"/>
                </a:solidFill>
                <a:latin typeface="+mn-lt" pitchFamily="34" charset="0"/>
              </a:rPr>
              <a:t>PRIVATE-DEAL REFERENCE POINTS</a:t>
            </a:r>
            <a:endParaRPr lang="en-US" sz="700" dirty="0"/>
          </a:p>
        </p:txBody>
      </p:sp>
      <p:sp>
        <p:nvSpPr>
          <p:cNvPr id="24" name="Shape e22s0"/>
          <p:cNvSpPr/>
          <p:nvPr/>
        </p:nvSpPr>
        <p:spPr>
          <a:xfrm>
            <a:off x="7543800" y="1695480"/>
            <a:ext cx="1943100" cy="9510"/>
          </a:xfrm>
          <a:prstGeom prst="rect">
            <a:avLst/>
          </a:prstGeom>
          <a:solidFill>
            <a:srgbClr val="FFFFFF">
              <a:alpha val="16000"/>
            </a:srgbClr>
          </a:solidFill>
          <a:ln/>
        </p:spPr>
        <p:txBody>
          <a:bodyPr/>
          <a:p/>
        </p:txBody>
      </p:sp>
      <p:sp>
        <p:nvSpPr>
          <p:cNvPr id="25" name="Text e23"/>
          <p:cNvSpPr txBox="1"/>
          <p:nvPr/>
        </p:nvSpPr>
        <p:spPr>
          <a:xfrm>
            <a:off x="7543800" y="1785915"/>
            <a:ext cx="553029" cy="276240"/>
          </a:xfrm>
          <a:prstGeom prst="rect">
            <a:avLst/>
          </a:prstGeom>
          <a:noFill/>
          <a:ln/>
        </p:spPr>
        <p:txBody>
          <a:bodyPr wrap="none" lIns="0" tIns="0" rIns="0" bIns="0" rtlCol="0" anchor="t"/>
          <a:lstStyle/>
          <a:p>
            <a:pPr algn="l" indent="0" marL="0">
              <a:lnSpc>
                <a:spcPts val="2200"/>
              </a:lnSpc>
              <a:buNone/>
            </a:pPr>
            <a:r>
              <a:rPr lang="en-US" sz="1950" b="1" dirty="0">
                <a:solidFill>
                  <a:srgbClr val="D3AE84"/>
                </a:solidFill>
                <a:latin typeface="+mj-lt" pitchFamily="34" charset="0"/>
              </a:rPr>
              <a:t>7.0x</a:t>
            </a:r>
            <a:endParaRPr lang="en-US" sz="1950" dirty="0"/>
          </a:p>
        </p:txBody>
      </p:sp>
      <p:sp>
        <p:nvSpPr>
          <p:cNvPr id="26" name="Text e24"/>
          <p:cNvSpPr txBox="1"/>
          <p:nvPr/>
        </p:nvSpPr>
        <p:spPr>
          <a:xfrm>
            <a:off x="7543800" y="2078797"/>
            <a:ext cx="1943100" cy="385785"/>
          </a:xfrm>
          <a:prstGeom prst="rect">
            <a:avLst/>
          </a:prstGeom>
          <a:noFill/>
          <a:ln/>
        </p:spPr>
        <p:txBody>
          <a:bodyPr wrap="square" lIns="0" tIns="0" rIns="0" bIns="0" rtlCol="0" anchor="t"/>
          <a:lstStyle/>
          <a:p>
            <a:pPr algn="l" indent="0" marL="0">
              <a:lnSpc>
                <a:spcPts val="1000"/>
              </a:lnSpc>
              <a:buNone/>
            </a:pPr>
            <a:r>
              <a:rPr lang="en-US" sz="700" dirty="0">
                <a:solidFill>
                  <a:srgbClr val="E8E2DA"/>
                </a:solidFill>
                <a:latin typeface="+mn-lt" pitchFamily="34" charset="0"/>
              </a:rPr>
              <a:t>Average for completed middle-market transactions in all industries, second quarter of 2026 (</a:t>
            </a:r>
            <a:pPr algn="l" indent="0" marL="0">
              <a:lnSpc>
                <a:spcPts val="1000"/>
              </a:lnSpc>
              <a:buNone/>
            </a:pPr>
            <a:r>
              <a:rPr lang="en-US" sz="700" u="sng" dirty="0">
                <a:solidFill>
                  <a:srgbClr val="D3AE84"/>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GF Data via ACG</a:t>
            </a:r>
            <a:pPr algn="l" indent="0" marL="0">
              <a:lnSpc>
                <a:spcPts val="1000"/>
              </a:lnSpc>
              <a:buNone/>
            </a:pPr>
            <a:r>
              <a:rPr lang="en-US" sz="700" dirty="0">
                <a:solidFill>
                  <a:srgbClr val="E8E2DA"/>
                </a:solidFill>
                <a:latin typeface="+mn-lt" pitchFamily="34" charset="0"/>
              </a:rPr>
              <a:t>)</a:t>
            </a:r>
            <a:endParaRPr lang="en-US" sz="700" dirty="0"/>
          </a:p>
        </p:txBody>
      </p:sp>
      <p:sp>
        <p:nvSpPr>
          <p:cNvPr id="27" name="Shape e25s0"/>
          <p:cNvSpPr/>
          <p:nvPr/>
        </p:nvSpPr>
        <p:spPr>
          <a:xfrm>
            <a:off x="7543800" y="2557485"/>
            <a:ext cx="1943100" cy="9510"/>
          </a:xfrm>
          <a:prstGeom prst="rect">
            <a:avLst/>
          </a:prstGeom>
          <a:solidFill>
            <a:srgbClr val="FFFFFF">
              <a:alpha val="16000"/>
            </a:srgbClr>
          </a:solidFill>
          <a:ln/>
        </p:spPr>
        <p:txBody>
          <a:bodyPr/>
          <a:p/>
        </p:txBody>
      </p:sp>
      <p:sp>
        <p:nvSpPr>
          <p:cNvPr id="28" name="Text e26"/>
          <p:cNvSpPr txBox="1"/>
          <p:nvPr/>
        </p:nvSpPr>
        <p:spPr>
          <a:xfrm>
            <a:off x="7543800" y="2647920"/>
            <a:ext cx="553029" cy="276240"/>
          </a:xfrm>
          <a:prstGeom prst="rect">
            <a:avLst/>
          </a:prstGeom>
          <a:noFill/>
          <a:ln/>
        </p:spPr>
        <p:txBody>
          <a:bodyPr wrap="none" lIns="0" tIns="0" rIns="0" bIns="0" rtlCol="0" anchor="t"/>
          <a:lstStyle/>
          <a:p>
            <a:pPr algn="l" indent="0" marL="0">
              <a:lnSpc>
                <a:spcPts val="2200"/>
              </a:lnSpc>
              <a:buNone/>
            </a:pPr>
            <a:r>
              <a:rPr lang="en-US" sz="1950" b="1" dirty="0">
                <a:solidFill>
                  <a:srgbClr val="D3AE84"/>
                </a:solidFill>
                <a:latin typeface="+mj-lt" pitchFamily="34" charset="0"/>
              </a:rPr>
              <a:t>5.8x</a:t>
            </a:r>
            <a:endParaRPr lang="en-US" sz="1950" dirty="0"/>
          </a:p>
        </p:txBody>
      </p:sp>
      <p:sp>
        <p:nvSpPr>
          <p:cNvPr id="29" name="Text e27"/>
          <p:cNvSpPr txBox="1"/>
          <p:nvPr/>
        </p:nvSpPr>
        <p:spPr>
          <a:xfrm>
            <a:off x="7543800" y="2940802"/>
            <a:ext cx="1943100" cy="385785"/>
          </a:xfrm>
          <a:prstGeom prst="rect">
            <a:avLst/>
          </a:prstGeom>
          <a:noFill/>
          <a:ln/>
        </p:spPr>
        <p:txBody>
          <a:bodyPr wrap="square" lIns="0" tIns="0" rIns="0" bIns="0" rtlCol="0" anchor="t"/>
          <a:lstStyle/>
          <a:p>
            <a:pPr algn="l" indent="0" marL="0">
              <a:lnSpc>
                <a:spcPts val="1000"/>
              </a:lnSpc>
              <a:buNone/>
            </a:pPr>
            <a:r>
              <a:rPr lang="en-US" sz="700" dirty="0">
                <a:solidFill>
                  <a:srgbClr val="E8E2DA"/>
                </a:solidFill>
                <a:latin typeface="+mn-lt" pitchFamily="34" charset="0"/>
              </a:rPr>
              <a:t>Median for transactions of $5 million to $50 million in all industries, second quarter of 2026 (</a:t>
            </a:r>
            <a:pPr algn="l" indent="0" marL="0">
              <a:lnSpc>
                <a:spcPts val="1000"/>
              </a:lnSpc>
              <a:buNone/>
            </a:pPr>
            <a:r>
              <a:rPr lang="en-US" sz="700" u="sng" dirty="0">
                <a:solidFill>
                  <a:srgbClr val="D3AE84"/>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IBBA and M&amp;A Source</a:t>
            </a:r>
            <a:pPr algn="l" indent="0" marL="0">
              <a:lnSpc>
                <a:spcPts val="1000"/>
              </a:lnSpc>
              <a:buNone/>
            </a:pPr>
            <a:r>
              <a:rPr lang="en-US" sz="700" dirty="0">
                <a:solidFill>
                  <a:srgbClr val="E8E2DA"/>
                </a:solidFill>
                <a:latin typeface="+mn-lt" pitchFamily="34" charset="0"/>
              </a:rPr>
              <a:t>)</a:t>
            </a:r>
            <a:endParaRPr lang="en-US" sz="700" dirty="0"/>
          </a:p>
        </p:txBody>
      </p:sp>
      <p:sp>
        <p:nvSpPr>
          <p:cNvPr id="30" name="Shape e28s0"/>
          <p:cNvSpPr/>
          <p:nvPr/>
        </p:nvSpPr>
        <p:spPr>
          <a:xfrm>
            <a:off x="7543800" y="3419490"/>
            <a:ext cx="1943100" cy="9510"/>
          </a:xfrm>
          <a:prstGeom prst="rect">
            <a:avLst/>
          </a:prstGeom>
          <a:solidFill>
            <a:srgbClr val="FFFFFF">
              <a:alpha val="16000"/>
            </a:srgbClr>
          </a:solidFill>
          <a:ln/>
        </p:spPr>
        <p:txBody>
          <a:bodyPr/>
          <a:p/>
        </p:txBody>
      </p:sp>
      <p:sp>
        <p:nvSpPr>
          <p:cNvPr id="31" name="Text e29"/>
          <p:cNvSpPr txBox="1"/>
          <p:nvPr/>
        </p:nvSpPr>
        <p:spPr>
          <a:xfrm>
            <a:off x="7543800" y="3509924"/>
            <a:ext cx="553029" cy="276240"/>
          </a:xfrm>
          <a:prstGeom prst="rect">
            <a:avLst/>
          </a:prstGeom>
          <a:noFill/>
          <a:ln/>
        </p:spPr>
        <p:txBody>
          <a:bodyPr wrap="none" lIns="0" tIns="0" rIns="0" bIns="0" rtlCol="0" anchor="t"/>
          <a:lstStyle/>
          <a:p>
            <a:pPr algn="l" indent="0" marL="0">
              <a:lnSpc>
                <a:spcPts val="2200"/>
              </a:lnSpc>
              <a:buNone/>
            </a:pPr>
            <a:r>
              <a:rPr lang="en-US" sz="1950" b="1" dirty="0">
                <a:solidFill>
                  <a:srgbClr val="D3AE84"/>
                </a:solidFill>
                <a:latin typeface="+mj-lt" pitchFamily="34" charset="0"/>
              </a:rPr>
              <a:t>4.0x</a:t>
            </a:r>
            <a:endParaRPr lang="en-US" sz="1950" dirty="0"/>
          </a:p>
        </p:txBody>
      </p:sp>
      <p:sp>
        <p:nvSpPr>
          <p:cNvPr id="32" name="Text e30"/>
          <p:cNvSpPr txBox="1"/>
          <p:nvPr/>
        </p:nvSpPr>
        <p:spPr>
          <a:xfrm>
            <a:off x="7543800" y="3802898"/>
            <a:ext cx="1943100" cy="257221"/>
          </a:xfrm>
          <a:prstGeom prst="rect">
            <a:avLst/>
          </a:prstGeom>
          <a:noFill/>
          <a:ln/>
        </p:spPr>
        <p:txBody>
          <a:bodyPr wrap="square" lIns="0" tIns="0" rIns="0" bIns="0" rtlCol="0" anchor="t"/>
          <a:lstStyle/>
          <a:p>
            <a:pPr algn="l" indent="0" marL="0">
              <a:lnSpc>
                <a:spcPts val="1000"/>
              </a:lnSpc>
              <a:buNone/>
            </a:pPr>
            <a:r>
              <a:rPr lang="en-US" sz="700" dirty="0">
                <a:solidFill>
                  <a:srgbClr val="E8E2DA"/>
                </a:solidFill>
                <a:latin typeface="+mn-lt" pitchFamily="34" charset="0"/>
              </a:rPr>
              <a:t>Median for transactions of $2 million to $5 million in the same survey</a:t>
            </a:r>
            <a:endParaRPr lang="en-US" sz="700" dirty="0"/>
          </a:p>
        </p:txBody>
      </p:sp>
      <p:sp>
        <p:nvSpPr>
          <p:cNvPr id="33" name="Shape e31s0"/>
          <p:cNvSpPr/>
          <p:nvPr/>
        </p:nvSpPr>
        <p:spPr>
          <a:xfrm>
            <a:off x="7543800" y="4381530"/>
            <a:ext cx="1943100" cy="9510"/>
          </a:xfrm>
          <a:prstGeom prst="rect">
            <a:avLst/>
          </a:prstGeom>
          <a:solidFill>
            <a:srgbClr val="FFFFFF">
              <a:alpha val="16000"/>
            </a:srgbClr>
          </a:solidFill>
          <a:ln/>
        </p:spPr>
        <p:txBody>
          <a:bodyPr/>
          <a:p/>
        </p:txBody>
      </p:sp>
      <p:sp>
        <p:nvSpPr>
          <p:cNvPr id="34" name="Text e31"/>
          <p:cNvSpPr txBox="1"/>
          <p:nvPr/>
        </p:nvSpPr>
        <p:spPr>
          <a:xfrm>
            <a:off x="7543800" y="4476720"/>
            <a:ext cx="1943100" cy="457200"/>
          </a:xfrm>
          <a:prstGeom prst="rect">
            <a:avLst/>
          </a:prstGeom>
          <a:noFill/>
          <a:ln/>
        </p:spPr>
        <p:txBody>
          <a:bodyPr wrap="square" lIns="0" tIns="0" rIns="0" bIns="0" rtlCol="0" anchor="t"/>
          <a:lstStyle/>
          <a:p>
            <a:pPr algn="l" indent="0" marL="0">
              <a:lnSpc>
                <a:spcPts val="1200"/>
              </a:lnSpc>
              <a:buNone/>
            </a:pPr>
            <a:r>
              <a:rPr lang="en-US" sz="900" i="1" dirty="0">
                <a:solidFill>
                  <a:srgbClr val="FFFFFF"/>
                </a:solidFill>
                <a:latin typeface="+mj-lt" pitchFamily="34" charset="0"/>
              </a:rPr>
              <a:t>Listed multiples describe companies many times larger than a founder-owned business.</a:t>
            </a:r>
            <a:endParaRPr lang="en-US" sz="900" dirty="0"/>
          </a:p>
        </p:txBody>
      </p:sp>
      <p:sp>
        <p:nvSpPr>
          <p:cNvPr id="35" name="Text e33"/>
          <p:cNvSpPr txBox="1"/>
          <p:nvPr/>
        </p:nvSpPr>
        <p:spPr>
          <a:xfrm>
            <a:off x="419070" y="5181630"/>
            <a:ext cx="5171938"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1B1A1A"/>
                </a:solidFill>
                <a:latin typeface="+mn-lt" pitchFamily="34" charset="0"/>
              </a:rPr>
              <a:t>LISTED COMPANIES IN EACH PEER GROUP, WITH ENTERPRISE VALUE TO TRAILING EBITDA</a:t>
            </a:r>
            <a:endParaRPr lang="en-US" sz="700" dirty="0"/>
          </a:p>
        </p:txBody>
      </p:sp>
      <p:sp>
        <p:nvSpPr>
          <p:cNvPr id="36" name="Shape e35"/>
          <p:cNvSpPr/>
          <p:nvPr/>
        </p:nvSpPr>
        <p:spPr>
          <a:xfrm>
            <a:off x="419070" y="5372100"/>
            <a:ext cx="2121408" cy="1385865"/>
          </a:xfrm>
          <a:prstGeom prst="rect">
            <a:avLst/>
          </a:prstGeom>
          <a:solidFill>
            <a:srgbClr val="FFFFFF">
              <a:alpha val="0"/>
            </a:srgbClr>
          </a:solidFill>
          <a:ln w="12700">
            <a:solidFill>
              <a:srgbClr val="E3DCD3"/>
            </a:solidFill>
            <a:prstDash val="solid"/>
          </a:ln>
        </p:spPr>
        <p:txBody>
          <a:bodyPr/>
          <a:p/>
        </p:txBody>
      </p:sp>
      <p:sp>
        <p:nvSpPr>
          <p:cNvPr id="37" name="Text e36"/>
          <p:cNvSpPr txBox="1"/>
          <p:nvPr/>
        </p:nvSpPr>
        <p:spPr>
          <a:xfrm>
            <a:off x="523860" y="5455402"/>
            <a:ext cx="1178753" cy="100035"/>
          </a:xfrm>
          <a:prstGeom prst="rect">
            <a:avLst/>
          </a:prstGeom>
          <a:noFill/>
          <a:ln/>
        </p:spPr>
        <p:txBody>
          <a:bodyPr wrap="none" lIns="0" tIns="0" rIns="0" bIns="0" rtlCol="0" anchor="t"/>
          <a:lstStyle/>
          <a:p>
            <a:pPr algn="l" indent="0" marL="0">
              <a:lnSpc>
                <a:spcPts val="800"/>
              </a:lnSpc>
              <a:buNone/>
            </a:pPr>
            <a:r>
              <a:rPr lang="en-US" sz="550" b="1" spc="100" kern="0" dirty="0">
                <a:solidFill>
                  <a:srgbClr val="8C6239"/>
                </a:solidFill>
                <a:latin typeface="+mn-lt" pitchFamily="34" charset="0"/>
              </a:rPr>
              <a:t>COMMERCIAL &amp; FACILITY</a:t>
            </a:r>
            <a:endParaRPr lang="en-US" sz="550" dirty="0"/>
          </a:p>
        </p:txBody>
      </p:sp>
      <p:sp>
        <p:nvSpPr>
          <p:cNvPr id="38" name="Text e37"/>
          <p:cNvSpPr txBox="1"/>
          <p:nvPr/>
        </p:nvSpPr>
        <p:spPr>
          <a:xfrm>
            <a:off x="523860" y="5600700"/>
            <a:ext cx="1914571" cy="800100"/>
          </a:xfrm>
          <a:prstGeom prst="rect">
            <a:avLst/>
          </a:prstGeom>
          <a:noFill/>
          <a:ln/>
        </p:spPr>
        <p:txBody>
          <a:bodyPr wrap="square" lIns="0" tIns="0" rIns="0" bIns="0" rtlCol="0" anchor="t"/>
          <a:lstStyle/>
          <a:p>
            <a:pPr algn="l" indent="0" marL="0">
              <a:lnSpc>
                <a:spcPts val="1050"/>
              </a:lnSpc>
              <a:buNone/>
            </a:pPr>
            <a:r>
              <a:rPr lang="en-US" sz="700" u="sng" dirty="0">
                <a:solidFill>
                  <a:srgbClr val="333231"/>
                </a:solidFill>
                <a:latin typeface="+mn-lt" pitchFamily="34" charset="0"/>
                <a:hlinkClick r:id="rId5" invalidUrl="" action="" tgtFrame="" tooltip="" history="1" highlightClick="0" endSnd="0">
                  <a:extLst>
                    <a:ext uri="{A12FA001-AC4F-418D-AE19-62706E023703}">
                      <ahyp:hlinkClr xmlns:ahyp="http://schemas.microsoft.com/office/drawing/2018/hyperlinkcolor" val="tx"/>
                    </a:ext>
                  </a:extLst>
                </a:hlinkClick>
              </a:rPr>
              <a:t>Cintas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26.0x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6" invalidUrl="" action="" tgtFrame="" tooltip="" history="1" highlightClick="0" endSnd="0">
                  <a:extLst>
                    <a:ext uri="{A12FA001-AC4F-418D-AE19-62706E023703}">
                      <ahyp:hlinkClr xmlns:ahyp="http://schemas.microsoft.com/office/drawing/2018/hyperlinkcolor" val="tx"/>
                    </a:ext>
                  </a:extLst>
                </a:hlinkClick>
              </a:rPr>
              <a:t>APi Group</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19.3x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UL Solutions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18.2x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8" invalidUrl="" action="" tgtFrame="" tooltip="" history="1" highlightClick="0" endSnd="0">
                  <a:extLst>
                    <a:ext uri="{A12FA001-AC4F-418D-AE19-62706E023703}">
                      <ahyp:hlinkClr xmlns:ahyp="http://schemas.microsoft.com/office/drawing/2018/hyperlinkcolor" val="tx"/>
                    </a:ext>
                  </a:extLst>
                </a:hlinkClick>
              </a:rPr>
              <a:t>Rollins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18.0x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9" invalidUrl="" action="" tgtFrame="" tooltip="" history="1" highlightClick="0" endSnd="0">
                  <a:extLst>
                    <a:ext uri="{A12FA001-AC4F-418D-AE19-62706E023703}">
                      <ahyp:hlinkClr xmlns:ahyp="http://schemas.microsoft.com/office/drawing/2018/hyperlinkcolor" val="tx"/>
                    </a:ext>
                  </a:extLst>
                </a:hlinkClick>
              </a:rPr>
              <a:t>SGS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15.4x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10" invalidUrl="" action="" tgtFrame="" tooltip="" history="1" highlightClick="0" endSnd="0">
                  <a:extLst>
                    <a:ext uri="{A12FA001-AC4F-418D-AE19-62706E023703}">
                      <ahyp:hlinkClr xmlns:ahyp="http://schemas.microsoft.com/office/drawing/2018/hyperlinkcolor" val="tx"/>
                    </a:ext>
                  </a:extLst>
                </a:hlinkClick>
              </a:rPr>
              <a:t>FirstService</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14.1x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11" invalidUrl="" action="" tgtFrame="" tooltip="" history="1" highlightClick="0" endSnd="0">
                  <a:extLst>
                    <a:ext uri="{A12FA001-AC4F-418D-AE19-62706E023703}">
                      <ahyp:hlinkClr xmlns:ahyp="http://schemas.microsoft.com/office/drawing/2018/hyperlinkcolor" val="tx"/>
                    </a:ext>
                  </a:extLst>
                </a:hlinkClick>
              </a:rPr>
              <a:t>Intertek</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13.0x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12" invalidUrl="" action="" tgtFrame="" tooltip="" history="1" highlightClick="0" endSnd="0">
                  <a:extLst>
                    <a:ext uri="{A12FA001-AC4F-418D-AE19-62706E023703}">
                      <ahyp:hlinkClr xmlns:ahyp="http://schemas.microsoft.com/office/drawing/2018/hyperlinkcolor" val="tx"/>
                    </a:ext>
                  </a:extLst>
                </a:hlinkClick>
              </a:rPr>
              <a:t>Mistras Group</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10.5x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13" invalidUrl="" action="" tgtFrame="" tooltip="" history="1" highlightClick="0" endSnd="0">
                  <a:extLst>
                    <a:ext uri="{A12FA001-AC4F-418D-AE19-62706E023703}">
                      <ahyp:hlinkClr xmlns:ahyp="http://schemas.microsoft.com/office/drawing/2018/hyperlinkcolor" val="tx"/>
                    </a:ext>
                  </a:extLst>
                </a:hlinkClick>
              </a:rPr>
              <a:t>Bureau Veritas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10.4x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14" invalidUrl="" action="" tgtFrame="" tooltip="" history="1" highlightClick="0" endSnd="0">
                  <a:extLst>
                    <a:ext uri="{A12FA001-AC4F-418D-AE19-62706E023703}">
                      <ahyp:hlinkClr xmlns:ahyp="http://schemas.microsoft.com/office/drawing/2018/hyperlinkcolor" val="tx"/>
                    </a:ext>
                  </a:extLst>
                </a:hlinkClick>
              </a:rPr>
              <a:t>ABM Industries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10.1x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15" invalidUrl="" action="" tgtFrame="" tooltip="" history="1" highlightClick="0" endSnd="0">
                  <a:extLst>
                    <a:ext uri="{A12FA001-AC4F-418D-AE19-62706E023703}">
                      <ahyp:hlinkClr xmlns:ahyp="http://schemas.microsoft.com/office/drawing/2018/hyperlinkcolor" val="tx"/>
                    </a:ext>
                  </a:extLst>
                </a:hlinkClick>
              </a:rPr>
              <a:t>BrightView</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5.9x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16" invalidUrl="" action="" tgtFrame="" tooltip="" history="1" highlightClick="0" endSnd="0">
                  <a:extLst>
                    <a:ext uri="{A12FA001-AC4F-418D-AE19-62706E023703}">
                      <ahyp:hlinkClr xmlns:ahyp="http://schemas.microsoft.com/office/drawing/2018/hyperlinkcolor" val="tx"/>
                    </a:ext>
                  </a:extLst>
                </a:hlinkClick>
              </a:rPr>
              <a:t>Eurofins</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endParaRPr lang="en-US" sz="700" dirty="0"/>
          </a:p>
        </p:txBody>
      </p:sp>
      <p:sp>
        <p:nvSpPr>
          <p:cNvPr id="39" name="Shape e38"/>
          <p:cNvSpPr/>
          <p:nvPr/>
        </p:nvSpPr>
        <p:spPr>
          <a:xfrm>
            <a:off x="2635758" y="5372100"/>
            <a:ext cx="1767810" cy="1385865"/>
          </a:xfrm>
          <a:prstGeom prst="rect">
            <a:avLst/>
          </a:prstGeom>
          <a:solidFill>
            <a:srgbClr val="FFFFFF">
              <a:alpha val="0"/>
            </a:srgbClr>
          </a:solidFill>
          <a:ln w="12700">
            <a:solidFill>
              <a:srgbClr val="E3DCD3"/>
            </a:solidFill>
            <a:prstDash val="solid"/>
          </a:ln>
        </p:spPr>
        <p:txBody>
          <a:bodyPr/>
          <a:p/>
        </p:txBody>
      </p:sp>
      <p:sp>
        <p:nvSpPr>
          <p:cNvPr id="40" name="Text e39"/>
          <p:cNvSpPr txBox="1"/>
          <p:nvPr/>
        </p:nvSpPr>
        <p:spPr>
          <a:xfrm>
            <a:off x="2740548" y="5455402"/>
            <a:ext cx="1295430" cy="100035"/>
          </a:xfrm>
          <a:prstGeom prst="rect">
            <a:avLst/>
          </a:prstGeom>
          <a:noFill/>
          <a:ln/>
        </p:spPr>
        <p:txBody>
          <a:bodyPr wrap="none" lIns="0" tIns="0" rIns="0" bIns="0" rtlCol="0" anchor="t"/>
          <a:lstStyle/>
          <a:p>
            <a:pPr algn="l" indent="0" marL="0">
              <a:lnSpc>
                <a:spcPts val="800"/>
              </a:lnSpc>
              <a:buNone/>
            </a:pPr>
            <a:r>
              <a:rPr lang="en-US" sz="550" b="1" spc="100" kern="0" dirty="0">
                <a:solidFill>
                  <a:srgbClr val="8C6239"/>
                </a:solidFill>
                <a:latin typeface="+mn-lt" pitchFamily="34" charset="0"/>
              </a:rPr>
              <a:t>MARKETING, SALES &amp; TECH</a:t>
            </a:r>
            <a:endParaRPr lang="en-US" sz="550" dirty="0"/>
          </a:p>
        </p:txBody>
      </p:sp>
      <p:sp>
        <p:nvSpPr>
          <p:cNvPr id="41" name="Text e40"/>
          <p:cNvSpPr txBox="1"/>
          <p:nvPr/>
        </p:nvSpPr>
        <p:spPr>
          <a:xfrm>
            <a:off x="2740548" y="5600700"/>
            <a:ext cx="1562070" cy="800100"/>
          </a:xfrm>
          <a:prstGeom prst="rect">
            <a:avLst/>
          </a:prstGeom>
          <a:noFill/>
          <a:ln/>
        </p:spPr>
        <p:txBody>
          <a:bodyPr wrap="square" lIns="0" tIns="0" rIns="0" bIns="0" rtlCol="0" anchor="t"/>
          <a:lstStyle/>
          <a:p>
            <a:pPr algn="l" indent="0" marL="0">
              <a:lnSpc>
                <a:spcPts val="1050"/>
              </a:lnSpc>
              <a:buNone/>
            </a:pPr>
            <a:r>
              <a:rPr lang="en-US" sz="700" u="sng" dirty="0">
                <a:solidFill>
                  <a:srgbClr val="333231"/>
                </a:solidFill>
                <a:latin typeface="+mn-lt" pitchFamily="34" charset="0"/>
                <a:hlinkClick r:id="rId17" invalidUrl="" action="" tgtFrame="" tooltip="" history="1" highlightClick="0" endSnd="0">
                  <a:extLst>
                    <a:ext uri="{A12FA001-AC4F-418D-AE19-62706E023703}">
                      <ahyp:hlinkClr xmlns:ahyp="http://schemas.microsoft.com/office/drawing/2018/hyperlinkcolor" val="tx"/>
                    </a:ext>
                  </a:extLst>
                </a:hlinkClick>
              </a:rPr>
              <a:t>Stagwell</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11.3x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18" invalidUrl="" action="" tgtFrame="" tooltip="" history="1" highlightClick="0" endSnd="0">
                  <a:extLst>
                    <a:ext uri="{A12FA001-AC4F-418D-AE19-62706E023703}">
                      <ahyp:hlinkClr xmlns:ahyp="http://schemas.microsoft.com/office/drawing/2018/hyperlinkcolor" val="tx"/>
                    </a:ext>
                  </a:extLst>
                </a:hlinkClick>
              </a:rPr>
              <a:t>4imprint</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10.3x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19" invalidUrl="" action="" tgtFrame="" tooltip="" history="1" highlightClick="0" endSnd="0">
                  <a:extLst>
                    <a:ext uri="{A12FA001-AC4F-418D-AE19-62706E023703}">
                      <ahyp:hlinkClr xmlns:ahyp="http://schemas.microsoft.com/office/drawing/2018/hyperlinkcolor" val="tx"/>
                    </a:ext>
                  </a:extLst>
                </a:hlinkClick>
              </a:rPr>
              <a:t>Daktronics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9.0x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20" invalidUrl="" action="" tgtFrame="" tooltip="" history="1" highlightClick="0" endSnd="0">
                  <a:extLst>
                    <a:ext uri="{A12FA001-AC4F-418D-AE19-62706E023703}">
                      <ahyp:hlinkClr xmlns:ahyp="http://schemas.microsoft.com/office/drawing/2018/hyperlinkcolor" val="tx"/>
                    </a:ext>
                  </a:extLst>
                </a:hlinkClick>
              </a:rPr>
              <a:t>Accenture</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8.2x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21" invalidUrl="" action="" tgtFrame="" tooltip="" history="1" highlightClick="0" endSnd="0">
                  <a:extLst>
                    <a:ext uri="{A12FA001-AC4F-418D-AE19-62706E023703}">
                      <ahyp:hlinkClr xmlns:ahyp="http://schemas.microsoft.com/office/drawing/2018/hyperlinkcolor" val="tx"/>
                    </a:ext>
                  </a:extLst>
                </a:hlinkClick>
              </a:rPr>
              <a:t>Omnicom</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7.7x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22" invalidUrl="" action="" tgtFrame="" tooltip="" history="1" highlightClick="0" endSnd="0">
                  <a:extLst>
                    <a:ext uri="{A12FA001-AC4F-418D-AE19-62706E023703}">
                      <ahyp:hlinkClr xmlns:ahyp="http://schemas.microsoft.com/office/drawing/2018/hyperlinkcolor" val="tx"/>
                    </a:ext>
                  </a:extLst>
                </a:hlinkClick>
              </a:rPr>
              <a:t>Cognizant</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6.7x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23" invalidUrl="" action="" tgtFrame="" tooltip="" history="1" highlightClick="0" endSnd="0">
                  <a:extLst>
                    <a:ext uri="{A12FA001-AC4F-418D-AE19-62706E023703}">
                      <ahyp:hlinkClr xmlns:ahyp="http://schemas.microsoft.com/office/drawing/2018/hyperlinkcolor" val="tx"/>
                    </a:ext>
                  </a:extLst>
                </a:hlinkClick>
              </a:rPr>
              <a:t>Advantage Solutions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5.8x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24" invalidUrl="" action="" tgtFrame="" tooltip="" history="1" highlightClick="0" endSnd="0">
                  <a:extLst>
                    <a:ext uri="{A12FA001-AC4F-418D-AE19-62706E023703}">
                      <ahyp:hlinkClr xmlns:ahyp="http://schemas.microsoft.com/office/drawing/2018/hyperlinkcolor" val="tx"/>
                    </a:ext>
                  </a:extLst>
                </a:hlinkClick>
              </a:rPr>
              <a:t>Dentsu</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4.5x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25" invalidUrl="" action="" tgtFrame="" tooltip="" history="1" highlightClick="0" endSnd="0">
                  <a:extLst>
                    <a:ext uri="{A12FA001-AC4F-418D-AE19-62706E023703}">
                      <ahyp:hlinkClr xmlns:ahyp="http://schemas.microsoft.com/office/drawing/2018/hyperlinkcolor" val="tx"/>
                    </a:ext>
                  </a:extLst>
                </a:hlinkClick>
              </a:rPr>
              <a:t>Publicis</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26" invalidUrl="" action="" tgtFrame="" tooltip="" history="1" highlightClick="0" endSnd="0">
                  <a:extLst>
                    <a:ext uri="{A12FA001-AC4F-418D-AE19-62706E023703}">
                      <ahyp:hlinkClr xmlns:ahyp="http://schemas.microsoft.com/office/drawing/2018/hyperlinkcolor" val="tx"/>
                    </a:ext>
                  </a:extLst>
                </a:hlinkClick>
              </a:rPr>
              <a:t>WPP</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endParaRPr lang="en-US" sz="700" dirty="0"/>
          </a:p>
        </p:txBody>
      </p:sp>
      <p:sp>
        <p:nvSpPr>
          <p:cNvPr id="42" name="Shape e41"/>
          <p:cNvSpPr/>
          <p:nvPr/>
        </p:nvSpPr>
        <p:spPr>
          <a:xfrm>
            <a:off x="4498757" y="5372100"/>
            <a:ext cx="1591147" cy="1385865"/>
          </a:xfrm>
          <a:prstGeom prst="rect">
            <a:avLst/>
          </a:prstGeom>
          <a:solidFill>
            <a:srgbClr val="FFFFFF">
              <a:alpha val="0"/>
            </a:srgbClr>
          </a:solidFill>
          <a:ln w="12700">
            <a:solidFill>
              <a:srgbClr val="E3DCD3"/>
            </a:solidFill>
            <a:prstDash val="solid"/>
          </a:ln>
        </p:spPr>
        <p:txBody>
          <a:bodyPr/>
          <a:p/>
        </p:txBody>
      </p:sp>
      <p:sp>
        <p:nvSpPr>
          <p:cNvPr id="43" name="Text e42"/>
          <p:cNvSpPr txBox="1"/>
          <p:nvPr/>
        </p:nvSpPr>
        <p:spPr>
          <a:xfrm>
            <a:off x="4603547" y="5455402"/>
            <a:ext cx="1381110" cy="200071"/>
          </a:xfrm>
          <a:prstGeom prst="rect">
            <a:avLst/>
          </a:prstGeom>
          <a:noFill/>
          <a:ln/>
        </p:spPr>
        <p:txBody>
          <a:bodyPr wrap="square" lIns="0" tIns="0" rIns="0" bIns="0" rtlCol="0" anchor="t"/>
          <a:lstStyle/>
          <a:p>
            <a:pPr algn="l" indent="0" marL="0">
              <a:lnSpc>
                <a:spcPts val="800"/>
              </a:lnSpc>
              <a:buNone/>
            </a:pPr>
            <a:r>
              <a:rPr lang="en-US" sz="550" b="1" spc="100" kern="0" dirty="0">
                <a:solidFill>
                  <a:srgbClr val="8C6239"/>
                </a:solidFill>
                <a:latin typeface="+mn-lt" pitchFamily="34" charset="0"/>
              </a:rPr>
              <a:t>ENGINEERING &amp; ARCHITECTURE</a:t>
            </a:r>
            <a:endParaRPr lang="en-US" sz="550" dirty="0"/>
          </a:p>
        </p:txBody>
      </p:sp>
      <p:sp>
        <p:nvSpPr>
          <p:cNvPr id="44" name="Text e43"/>
          <p:cNvSpPr txBox="1"/>
          <p:nvPr/>
        </p:nvSpPr>
        <p:spPr>
          <a:xfrm>
            <a:off x="4603547" y="5700735"/>
            <a:ext cx="1381110" cy="933420"/>
          </a:xfrm>
          <a:prstGeom prst="rect">
            <a:avLst/>
          </a:prstGeom>
          <a:noFill/>
          <a:ln/>
        </p:spPr>
        <p:txBody>
          <a:bodyPr wrap="square" lIns="0" tIns="0" rIns="0" bIns="0" rtlCol="0" anchor="t"/>
          <a:lstStyle/>
          <a:p>
            <a:pPr algn="l" indent="0" marL="0">
              <a:lnSpc>
                <a:spcPts val="1050"/>
              </a:lnSpc>
              <a:buNone/>
            </a:pPr>
            <a:r>
              <a:rPr lang="en-US" sz="700" u="sng" dirty="0">
                <a:solidFill>
                  <a:srgbClr val="333231"/>
                </a:solidFill>
                <a:latin typeface="+mn-lt" pitchFamily="34" charset="0"/>
                <a:hlinkClick r:id="rId27" invalidUrl="" action="" tgtFrame="" tooltip="" history="1" highlightClick="0" endSnd="0">
                  <a:extLst>
                    <a:ext uri="{A12FA001-AC4F-418D-AE19-62706E023703}">
                      <ahyp:hlinkClr xmlns:ahyp="http://schemas.microsoft.com/office/drawing/2018/hyperlinkcolor" val="tx"/>
                    </a:ext>
                  </a:extLst>
                </a:hlinkClick>
              </a:rPr>
              <a:t>Bowman Consulting</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21.8x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28" invalidUrl="" action="" tgtFrame="" tooltip="" history="1" highlightClick="0" endSnd="0">
                  <a:extLst>
                    <a:ext uri="{A12FA001-AC4F-418D-AE19-62706E023703}">
                      <ahyp:hlinkClr xmlns:ahyp="http://schemas.microsoft.com/office/drawing/2018/hyperlinkcolor" val="tx"/>
                    </a:ext>
                  </a:extLst>
                </a:hlinkClick>
              </a:rPr>
              <a:t>Jacobs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18.0x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29" invalidUrl="" action="" tgtFrame="" tooltip="" history="1" highlightClick="0" endSnd="0">
                  <a:extLst>
                    <a:ext uri="{A12FA001-AC4F-418D-AE19-62706E023703}">
                      <ahyp:hlinkClr xmlns:ahyp="http://schemas.microsoft.com/office/drawing/2018/hyperlinkcolor" val="tx"/>
                    </a:ext>
                  </a:extLst>
                </a:hlinkClick>
              </a:rPr>
              <a:t>Willdan Group</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16.1x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30" invalidUrl="" action="" tgtFrame="" tooltip="" history="1" highlightClick="0" endSnd="0">
                  <a:extLst>
                    <a:ext uri="{A12FA001-AC4F-418D-AE19-62706E023703}">
                      <ahyp:hlinkClr xmlns:ahyp="http://schemas.microsoft.com/office/drawing/2018/hyperlinkcolor" val="tx"/>
                    </a:ext>
                  </a:extLst>
                </a:hlinkClick>
              </a:rPr>
              <a:t>Tetra Tech</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14.3x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31" invalidUrl="" action="" tgtFrame="" tooltip="" history="1" highlightClick="0" endSnd="0">
                  <a:extLst>
                    <a:ext uri="{A12FA001-AC4F-418D-AE19-62706E023703}">
                      <ahyp:hlinkClr xmlns:ahyp="http://schemas.microsoft.com/office/drawing/2018/hyperlinkcolor" val="tx"/>
                    </a:ext>
                  </a:extLst>
                </a:hlinkClick>
              </a:rPr>
              <a:t>TIC Solutions</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13.4x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32" invalidUrl="" action="" tgtFrame="" tooltip="" history="1" highlightClick="0" endSnd="0">
                  <a:extLst>
                    <a:ext uri="{A12FA001-AC4F-418D-AE19-62706E023703}">
                      <ahyp:hlinkClr xmlns:ahyp="http://schemas.microsoft.com/office/drawing/2018/hyperlinkcolor" val="tx"/>
                    </a:ext>
                  </a:extLst>
                </a:hlinkClick>
              </a:rPr>
              <a:t>Stantec</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13.0x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33" invalidUrl="" action="" tgtFrame="" tooltip="" history="1" highlightClick="0" endSnd="0">
                  <a:extLst>
                    <a:ext uri="{A12FA001-AC4F-418D-AE19-62706E023703}">
                      <ahyp:hlinkClr xmlns:ahyp="http://schemas.microsoft.com/office/drawing/2018/hyperlinkcolor" val="tx"/>
                    </a:ext>
                  </a:extLst>
                </a:hlinkClick>
              </a:rPr>
              <a:t>AECOM</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10.7x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34" invalidUrl="" action="" tgtFrame="" tooltip="" history="1" highlightClick="0" endSnd="0">
                  <a:extLst>
                    <a:ext uri="{A12FA001-AC4F-418D-AE19-62706E023703}">
                      <ahyp:hlinkClr xmlns:ahyp="http://schemas.microsoft.com/office/drawing/2018/hyperlinkcolor" val="tx"/>
                    </a:ext>
                  </a:extLst>
                </a:hlinkClick>
              </a:rPr>
              <a:t>WSP Global</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endParaRPr lang="en-US" sz="700" dirty="0"/>
          </a:p>
        </p:txBody>
      </p:sp>
      <p:sp>
        <p:nvSpPr>
          <p:cNvPr id="45" name="Shape e44"/>
          <p:cNvSpPr/>
          <p:nvPr/>
        </p:nvSpPr>
        <p:spPr>
          <a:xfrm>
            <a:off x="6185184" y="5372100"/>
            <a:ext cx="1590965" cy="1385865"/>
          </a:xfrm>
          <a:prstGeom prst="rect">
            <a:avLst/>
          </a:prstGeom>
          <a:solidFill>
            <a:srgbClr val="FFFFFF">
              <a:alpha val="0"/>
            </a:srgbClr>
          </a:solidFill>
          <a:ln w="12700">
            <a:solidFill>
              <a:srgbClr val="E3DCD3"/>
            </a:solidFill>
            <a:prstDash val="solid"/>
          </a:ln>
        </p:spPr>
        <p:txBody>
          <a:bodyPr/>
          <a:p/>
        </p:txBody>
      </p:sp>
      <p:sp>
        <p:nvSpPr>
          <p:cNvPr id="46" name="Text e45"/>
          <p:cNvSpPr txBox="1"/>
          <p:nvPr/>
        </p:nvSpPr>
        <p:spPr>
          <a:xfrm>
            <a:off x="6289883" y="5455402"/>
            <a:ext cx="1186617" cy="100035"/>
          </a:xfrm>
          <a:prstGeom prst="rect">
            <a:avLst/>
          </a:prstGeom>
          <a:noFill/>
          <a:ln/>
        </p:spPr>
        <p:txBody>
          <a:bodyPr wrap="none" lIns="0" tIns="0" rIns="0" bIns="0" rtlCol="0" anchor="t"/>
          <a:lstStyle/>
          <a:p>
            <a:pPr algn="l" indent="0" marL="0">
              <a:lnSpc>
                <a:spcPts val="800"/>
              </a:lnSpc>
              <a:buNone/>
            </a:pPr>
            <a:r>
              <a:rPr lang="en-US" sz="550" b="1" spc="100" kern="0" dirty="0">
                <a:solidFill>
                  <a:srgbClr val="8C6239"/>
                </a:solidFill>
                <a:latin typeface="+mn-lt" pitchFamily="34" charset="0"/>
              </a:rPr>
              <a:t>FINANCIAL &amp; INSURANCE</a:t>
            </a:r>
            <a:endParaRPr lang="en-US" sz="550" dirty="0"/>
          </a:p>
        </p:txBody>
      </p:sp>
      <p:sp>
        <p:nvSpPr>
          <p:cNvPr id="47" name="Text e46"/>
          <p:cNvSpPr txBox="1"/>
          <p:nvPr/>
        </p:nvSpPr>
        <p:spPr>
          <a:xfrm>
            <a:off x="6289883" y="5600700"/>
            <a:ext cx="1381110" cy="800100"/>
          </a:xfrm>
          <a:prstGeom prst="rect">
            <a:avLst/>
          </a:prstGeom>
          <a:noFill/>
          <a:ln/>
        </p:spPr>
        <p:txBody>
          <a:bodyPr wrap="square" lIns="0" tIns="0" rIns="0" bIns="0" rtlCol="0" anchor="t"/>
          <a:lstStyle/>
          <a:p>
            <a:pPr algn="l" indent="0" marL="0">
              <a:lnSpc>
                <a:spcPts val="1050"/>
              </a:lnSpc>
              <a:buNone/>
            </a:pPr>
            <a:r>
              <a:rPr lang="en-US" sz="700" u="sng" dirty="0">
                <a:solidFill>
                  <a:srgbClr val="333231"/>
                </a:solidFill>
                <a:latin typeface="+mn-lt" pitchFamily="34" charset="0"/>
                <a:hlinkClick r:id="rId35" invalidUrl="" action="" tgtFrame="" tooltip="" history="1" highlightClick="0" endSnd="0">
                  <a:extLst>
                    <a:ext uri="{A12FA001-AC4F-418D-AE19-62706E023703}">
                      <ahyp:hlinkClr xmlns:ahyp="http://schemas.microsoft.com/office/drawing/2018/hyperlinkcolor" val="tx"/>
                    </a:ext>
                  </a:extLst>
                </a:hlinkClick>
              </a:rPr>
              <a:t>Ryan Specialty</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14.6x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36" invalidUrl="" action="" tgtFrame="" tooltip="" history="1" highlightClick="0" endSnd="0">
                  <a:extLst>
                    <a:ext uri="{A12FA001-AC4F-418D-AE19-62706E023703}">
                      <ahyp:hlinkClr xmlns:ahyp="http://schemas.microsoft.com/office/drawing/2018/hyperlinkcolor" val="tx"/>
                    </a:ext>
                  </a:extLst>
                </a:hlinkClick>
              </a:rPr>
              <a:t>Marsh McLennan</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13.2x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37" invalidUrl="" action="" tgtFrame="" tooltip="" history="1" highlightClick="0" endSnd="0">
                  <a:extLst>
                    <a:ext uri="{A12FA001-AC4F-418D-AE19-62706E023703}">
                      <ahyp:hlinkClr xmlns:ahyp="http://schemas.microsoft.com/office/drawing/2018/hyperlinkcolor" val="tx"/>
                    </a:ext>
                  </a:extLst>
                </a:hlinkClick>
              </a:rPr>
              <a:t>Aon</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12.4x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38" invalidUrl="" action="" tgtFrame="" tooltip="" history="1" highlightClick="0" endSnd="0">
                  <a:extLst>
                    <a:ext uri="{A12FA001-AC4F-418D-AE19-62706E023703}">
                      <ahyp:hlinkClr xmlns:ahyp="http://schemas.microsoft.com/office/drawing/2018/hyperlinkcolor" val="tx"/>
                    </a:ext>
                  </a:extLst>
                </a:hlinkClick>
              </a:rPr>
              <a:t>WTW</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11.4x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39" invalidUrl="" action="" tgtFrame="" tooltip="" history="1" highlightClick="0" endSnd="0">
                  <a:extLst>
                    <a:ext uri="{A12FA001-AC4F-418D-AE19-62706E023703}">
                      <ahyp:hlinkClr xmlns:ahyp="http://schemas.microsoft.com/office/drawing/2018/hyperlinkcolor" val="tx"/>
                    </a:ext>
                  </a:extLst>
                </a:hlinkClick>
              </a:rPr>
              <a:t>Crawford</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9.9x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40" invalidUrl="" action="" tgtFrame="" tooltip="" history="1" highlightClick="0" endSnd="0">
                  <a:extLst>
                    <a:ext uri="{A12FA001-AC4F-418D-AE19-62706E023703}">
                      <ahyp:hlinkClr xmlns:ahyp="http://schemas.microsoft.com/office/drawing/2018/hyperlinkcolor" val="tx"/>
                    </a:ext>
                  </a:extLst>
                </a:hlinkClick>
              </a:rPr>
              <a:t>Brown &amp; Brown</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9.6x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41" invalidUrl="" action="" tgtFrame="" tooltip="" history="1" highlightClick="0" endSnd="0">
                  <a:extLst>
                    <a:ext uri="{A12FA001-AC4F-418D-AE19-62706E023703}">
                      <ahyp:hlinkClr xmlns:ahyp="http://schemas.microsoft.com/office/drawing/2018/hyperlinkcolor" val="tx"/>
                    </a:ext>
                  </a:extLst>
                </a:hlinkClick>
              </a:rPr>
              <a:t>Gallagher</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42" invalidUrl="" action="" tgtFrame="" tooltip="" history="1" highlightClick="0" endSnd="0">
                  <a:extLst>
                    <a:ext uri="{A12FA001-AC4F-418D-AE19-62706E023703}">
                      <ahyp:hlinkClr xmlns:ahyp="http://schemas.microsoft.com/office/drawing/2018/hyperlinkcolor" val="tx"/>
                    </a:ext>
                  </a:extLst>
                </a:hlinkClick>
              </a:rPr>
              <a:t>Baldwin</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endParaRPr lang="en-US" sz="700" dirty="0"/>
          </a:p>
        </p:txBody>
      </p:sp>
      <p:sp>
        <p:nvSpPr>
          <p:cNvPr id="48" name="Shape e47"/>
          <p:cNvSpPr/>
          <p:nvPr/>
        </p:nvSpPr>
        <p:spPr>
          <a:xfrm>
            <a:off x="7871338" y="5372100"/>
            <a:ext cx="1767901" cy="1385865"/>
          </a:xfrm>
          <a:prstGeom prst="rect">
            <a:avLst/>
          </a:prstGeom>
          <a:solidFill>
            <a:srgbClr val="FFFFFF">
              <a:alpha val="0"/>
            </a:srgbClr>
          </a:solidFill>
          <a:ln w="12700">
            <a:solidFill>
              <a:srgbClr val="E3DCD3"/>
            </a:solidFill>
            <a:prstDash val="solid"/>
          </a:ln>
        </p:spPr>
        <p:txBody>
          <a:bodyPr/>
          <a:p/>
        </p:txBody>
      </p:sp>
      <p:sp>
        <p:nvSpPr>
          <p:cNvPr id="49" name="Text e48"/>
          <p:cNvSpPr txBox="1"/>
          <p:nvPr/>
        </p:nvSpPr>
        <p:spPr>
          <a:xfrm>
            <a:off x="7976128" y="5455402"/>
            <a:ext cx="1562070" cy="100035"/>
          </a:xfrm>
          <a:prstGeom prst="rect">
            <a:avLst/>
          </a:prstGeom>
          <a:noFill/>
          <a:ln/>
        </p:spPr>
        <p:txBody>
          <a:bodyPr wrap="none" lIns="0" tIns="0" rIns="0" bIns="0" rtlCol="0" anchor="t"/>
          <a:lstStyle/>
          <a:p>
            <a:pPr algn="r" indent="0" marL="0">
              <a:lnSpc>
                <a:spcPts val="800"/>
              </a:lnSpc>
              <a:buNone/>
            </a:pPr>
            <a:r>
              <a:rPr lang="en-US" sz="550" b="1" spc="100" kern="0" dirty="0">
                <a:solidFill>
                  <a:srgbClr val="8C6239"/>
                </a:solidFill>
                <a:latin typeface="+mn-lt" pitchFamily="34" charset="0"/>
              </a:rPr>
              <a:t>STAFFING &amp; HUMAN CAPITAL</a:t>
            </a:r>
            <a:endParaRPr lang="en-US" sz="550" dirty="0"/>
          </a:p>
        </p:txBody>
      </p:sp>
      <p:sp>
        <p:nvSpPr>
          <p:cNvPr id="50" name="Text e49"/>
          <p:cNvSpPr txBox="1"/>
          <p:nvPr/>
        </p:nvSpPr>
        <p:spPr>
          <a:xfrm>
            <a:off x="7976128" y="5600700"/>
            <a:ext cx="1562070" cy="1066830"/>
          </a:xfrm>
          <a:prstGeom prst="rect">
            <a:avLst/>
          </a:prstGeom>
          <a:noFill/>
          <a:ln/>
        </p:spPr>
        <p:txBody>
          <a:bodyPr wrap="square" lIns="0" tIns="0" rIns="0" bIns="0" rtlCol="0" anchor="t"/>
          <a:lstStyle/>
          <a:p>
            <a:pPr algn="l" indent="0" marL="0">
              <a:lnSpc>
                <a:spcPts val="1050"/>
              </a:lnSpc>
              <a:buNone/>
            </a:pPr>
            <a:r>
              <a:rPr lang="en-US" sz="700" u="sng" dirty="0">
                <a:solidFill>
                  <a:srgbClr val="333231"/>
                </a:solidFill>
                <a:latin typeface="+mn-lt" pitchFamily="34" charset="0"/>
                <a:hlinkClick r:id="rId43" invalidUrl="" action="" tgtFrame="" tooltip="" history="1" highlightClick="0" endSnd="0">
                  <a:extLst>
                    <a:ext uri="{A12FA001-AC4F-418D-AE19-62706E023703}">
                      <ahyp:hlinkClr xmlns:ahyp="http://schemas.microsoft.com/office/drawing/2018/hyperlinkcolor" val="tx"/>
                    </a:ext>
                  </a:extLst>
                </a:hlinkClick>
              </a:rPr>
              <a:t>Kforce</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17.9x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44" invalidUrl="" action="" tgtFrame="" tooltip="" history="1" highlightClick="0" endSnd="0">
                  <a:extLst>
                    <a:ext uri="{A12FA001-AC4F-418D-AE19-62706E023703}">
                      <ahyp:hlinkClr xmlns:ahyp="http://schemas.microsoft.com/office/drawing/2018/hyperlinkcolor" val="tx"/>
                    </a:ext>
                  </a:extLst>
                </a:hlinkClick>
              </a:rPr>
              <a:t>TriNet</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13.1x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45" invalidUrl="" action="" tgtFrame="" tooltip="" history="1" highlightClick="0" endSnd="0">
                  <a:extLst>
                    <a:ext uri="{A12FA001-AC4F-418D-AE19-62706E023703}">
                      <ahyp:hlinkClr xmlns:ahyp="http://schemas.microsoft.com/office/drawing/2018/hyperlinkcolor" val="tx"/>
                    </a:ext>
                  </a:extLst>
                </a:hlinkClick>
              </a:rPr>
              <a:t>Barrett (BBSI)</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12.2x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46" invalidUrl="" action="" tgtFrame="" tooltip="" history="1" highlightClick="0" endSnd="0">
                  <a:extLst>
                    <a:ext uri="{A12FA001-AC4F-418D-AE19-62706E023703}">
                      <ahyp:hlinkClr xmlns:ahyp="http://schemas.microsoft.com/office/drawing/2018/hyperlinkcolor" val="tx"/>
                    </a:ext>
                  </a:extLst>
                </a:hlinkClick>
              </a:rPr>
              <a:t>Randstad</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10.8x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47" invalidUrl="" action="" tgtFrame="" tooltip="" history="1" highlightClick="0" endSnd="0">
                  <a:extLst>
                    <a:ext uri="{A12FA001-AC4F-418D-AE19-62706E023703}">
                      <ahyp:hlinkClr xmlns:ahyp="http://schemas.microsoft.com/office/drawing/2018/hyperlinkcolor" val="tx"/>
                    </a:ext>
                  </a:extLst>
                </a:hlinkClick>
              </a:rPr>
              <a:t>ManpowerGroup</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9.1x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48" invalidUrl="" action="" tgtFrame="" tooltip="" history="1" highlightClick="0" endSnd="0">
                  <a:extLst>
                    <a:ext uri="{A12FA001-AC4F-418D-AE19-62706E023703}">
                      <ahyp:hlinkClr xmlns:ahyp="http://schemas.microsoft.com/office/drawing/2018/hyperlinkcolor" val="tx"/>
                    </a:ext>
                  </a:extLst>
                </a:hlinkClick>
              </a:rPr>
              <a:t>Korn Ferry</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8.8x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333231"/>
                </a:solidFill>
                <a:latin typeface="+mn-lt" pitchFamily="34" charset="0"/>
                <a:hlinkClick r:id="rId49" invalidUrl="" action="" tgtFrame="" tooltip="" history="1" highlightClick="0" endSnd="0">
                  <a:extLst>
                    <a:ext uri="{A12FA001-AC4F-418D-AE19-62706E023703}">
                      <ahyp:hlinkClr xmlns:ahyp="http://schemas.microsoft.com/office/drawing/2018/hyperlinkcolor" val="tx"/>
                    </a:ext>
                  </a:extLst>
                </a:hlinkClick>
              </a:rPr>
              <a:t>AMN Healthcare</a:t>
            </a:r>
            <a:pPr algn="l" indent="0" marL="0">
              <a:lnSpc>
                <a:spcPts val="1050"/>
              </a:lnSpc>
              <a:buNone/>
            </a:pPr>
            <a:r>
              <a:rPr lang="en-US" sz="700" dirty="0">
                <a:solidFill>
                  <a:srgbClr val="333231"/>
                </a:solidFill>
                <a:latin typeface="+mn-lt" pitchFamily="34" charset="0"/>
              </a:rPr>
              <a:t> </a:t>
            </a:r>
            <a:pPr algn="l" indent="0" marL="0">
              <a:lnSpc>
                <a:spcPts val="1050"/>
              </a:lnSpc>
              <a:buNone/>
            </a:pPr>
            <a:r>
              <a:rPr lang="en-US" sz="700" b="1" dirty="0">
                <a:solidFill>
                  <a:srgbClr val="333231"/>
                </a:solidFill>
                <a:latin typeface="+mn-lt" pitchFamily="34" charset="0"/>
              </a:rPr>
              <a:t>5.7x</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50" invalidUrl="" action="" tgtFrame="" tooltip="" history="1" highlightClick="0" endSnd="0">
                  <a:extLst>
                    <a:ext uri="{A12FA001-AC4F-418D-AE19-62706E023703}">
                      <ahyp:hlinkClr xmlns:ahyp="http://schemas.microsoft.com/office/drawing/2018/hyperlinkcolor" val="tx"/>
                    </a:ext>
                  </a:extLst>
                </a:hlinkClick>
              </a:rPr>
              <a:t>TrueBlue</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51" invalidUrl="" action="" tgtFrame="" tooltip="" history="1" highlightClick="0" endSnd="0">
                  <a:extLst>
                    <a:ext uri="{A12FA001-AC4F-418D-AE19-62706E023703}">
                      <ahyp:hlinkClr xmlns:ahyp="http://schemas.microsoft.com/office/drawing/2018/hyperlinkcolor" val="tx"/>
                    </a:ext>
                  </a:extLst>
                </a:hlinkClick>
              </a:rPr>
              <a:t>Robert Half</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pPr algn="l" indent="0" marL="0">
              <a:lnSpc>
                <a:spcPts val="1050"/>
              </a:lnSpc>
              <a:buNone/>
            </a:pPr>
            <a:r>
              <a:rPr lang="en-US" sz="700" dirty="0">
                <a:solidFill>
                  <a:srgbClr val="C3BDB6"/>
                </a:solidFill>
                <a:latin typeface="+mn-lt" pitchFamily="34" charset="0"/>
              </a:rPr>
              <a:t> | </a:t>
            </a:r>
            <a:pPr algn="l" indent="0" marL="0">
              <a:lnSpc>
                <a:spcPts val="1050"/>
              </a:lnSpc>
              <a:buNone/>
            </a:pPr>
            <a:pPr algn="l" indent="0" marL="0">
              <a:lnSpc>
                <a:spcPts val="1050"/>
              </a:lnSpc>
              <a:buNone/>
            </a:pPr>
            <a:r>
              <a:rPr lang="en-US" sz="700" u="sng" dirty="0">
                <a:solidFill>
                  <a:srgbClr val="9A948E"/>
                </a:solidFill>
                <a:latin typeface="+mn-lt" pitchFamily="34" charset="0"/>
                <a:hlinkClick r:id="rId52" invalidUrl="" action="" tgtFrame="" tooltip="" history="1" highlightClick="0" endSnd="0">
                  <a:extLst>
                    <a:ext uri="{A12FA001-AC4F-418D-AE19-62706E023703}">
                      <ahyp:hlinkClr xmlns:ahyp="http://schemas.microsoft.com/office/drawing/2018/hyperlinkcolor" val="tx"/>
                    </a:ext>
                  </a:extLst>
                </a:hlinkClick>
              </a:rPr>
              <a:t>Insperity</a:t>
            </a:r>
            <a:pPr algn="l" indent="0" marL="0">
              <a:lnSpc>
                <a:spcPts val="1050"/>
              </a:lnSpc>
              <a:buNone/>
            </a:pPr>
            <a:r>
              <a:rPr lang="en-US" sz="700" dirty="0">
                <a:solidFill>
                  <a:srgbClr val="9A948E"/>
                </a:solidFill>
                <a:latin typeface="+mn-lt" pitchFamily="34" charset="0"/>
              </a:rPr>
              <a:t> </a:t>
            </a:r>
            <a:pPr algn="l" indent="0" marL="0">
              <a:lnSpc>
                <a:spcPts val="1050"/>
              </a:lnSpc>
              <a:buNone/>
            </a:pPr>
            <a:r>
              <a:rPr lang="en-US" sz="700" b="1" dirty="0">
                <a:solidFill>
                  <a:srgbClr val="9A948E"/>
                </a:solidFill>
                <a:latin typeface="+mn-lt" pitchFamily="34" charset="0"/>
              </a:rPr>
              <a:t>n/m</a:t>
            </a:r>
            <a:endParaRPr lang="en-US" sz="700" dirty="0"/>
          </a:p>
        </p:txBody>
      </p:sp>
      <p:sp>
        <p:nvSpPr>
          <p:cNvPr id="51" name="Shape e50"/>
          <p:cNvSpPr/>
          <p:nvPr/>
        </p:nvSpPr>
        <p:spPr>
          <a:xfrm>
            <a:off x="419070" y="7029450"/>
            <a:ext cx="9220170" cy="9510"/>
          </a:xfrm>
          <a:prstGeom prst="ellipse">
            <a:avLst/>
          </a:prstGeom>
          <a:solidFill>
            <a:srgbClr val="E3DCD3"/>
          </a:solidFill>
          <a:ln/>
        </p:spPr>
        <p:txBody>
          <a:bodyPr/>
          <a:p/>
        </p:txBody>
      </p:sp>
      <p:pic>
        <p:nvPicPr>
          <p:cNvPr id="52" name="Picture e51" descr="Benchmark International">    </p:cNvPr>
          <p:cNvPicPr>
            <a:picLocks noChangeAspect="1"/>
          </p:cNvPicPr>
          <p:nvPr/>
        </p:nvPicPr>
        <p:blipFill>
          <a:blip r:embed="rId53"/>
          <a:stretch>
            <a:fillRect/>
          </a:stretch>
        </p:blipFill>
        <p:spPr>
          <a:xfrm>
            <a:off x="419070" y="7143750"/>
            <a:ext cx="914400" cy="171450"/>
          </a:xfrm>
          <a:prstGeom prst="rect">
            <a:avLst/>
          </a:prstGeom>
        </p:spPr>
      </p:pic>
      <p:sp>
        <p:nvSpPr>
          <p:cNvPr id="53" name="Text e52"/>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Source: </a:t>
            </a:r>
            <a:pPr algn="l" indent="0" marL="0">
              <a:lnSpc>
                <a:spcPts val="950"/>
              </a:lnSpc>
              <a:buNone/>
            </a:pPr>
            <a:r>
              <a:rPr lang="en-US" sz="700" u="sng" dirty="0">
                <a:solidFill>
                  <a:srgbClr val="8C6239"/>
                </a:solidFill>
                <a:latin typeface="+mn-lt" pitchFamily="34" charset="0"/>
                <a:hlinkClick r:id="rId54" invalidUrl="" action="" tgtFrame="" tooltip="" history="1" highlightClick="0" endSnd="0">
                  <a:extLst>
                    <a:ext uri="{A12FA001-AC4F-418D-AE19-62706E023703}">
                      <ahyp:hlinkClr xmlns:ahyp="http://schemas.microsoft.com/office/drawing/2018/hyperlinkcolor" val="tx"/>
                    </a:ext>
                  </a:extLst>
                </a:hlinkClick>
              </a:rPr>
              <a:t>StockAnalysis</a:t>
            </a:r>
            <a:pPr algn="l" indent="0" marL="0">
              <a:lnSpc>
                <a:spcPts val="950"/>
              </a:lnSpc>
              <a:buNone/>
            </a:pPr>
            <a:r>
              <a:rPr lang="en-US" sz="700" dirty="0">
                <a:solidFill>
                  <a:srgbClr val="6F6A66"/>
                </a:solidFill>
                <a:latin typeface="+mn-lt" pitchFamily="34" charset="0"/>
              </a:rPr>
              <a:t>, retrieved October 7, 2026, with share prices dated September 15 to October 7. Multiples use reported EBITDA. The chart covers the 36 companies with a current multiple under 50x, a year-ago multiple and quarter-end history. The mark n/m identifies 9 companies whose multiple is above 50x, unavailable or inconsistent on the source.</a:t>
            </a:r>
            <a:endParaRPr lang="en-US" sz="700" dirty="0"/>
          </a:p>
        </p:txBody>
      </p:sp>
      <p:sp>
        <p:nvSpPr>
          <p:cNvPr id="54" name="Text e53"/>
          <p:cNvSpPr txBox="1"/>
          <p:nvPr/>
        </p:nvSpPr>
        <p:spPr>
          <a:xfrm>
            <a:off x="9530700" y="7162770"/>
            <a:ext cx="10479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6022604"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Public Companies: Operating and Valuation Metrics</a:t>
            </a:r>
            <a:endParaRPr lang="en-US" sz="2050" dirty="0"/>
          </a:p>
        </p:txBody>
      </p:sp>
      <p:sp>
        <p:nvSpPr>
          <p:cNvPr id="6" name="Text e5"/>
          <p:cNvSpPr txBox="1"/>
          <p:nvPr/>
        </p:nvSpPr>
        <p:spPr>
          <a:xfrm>
            <a:off x="419070" y="883402"/>
            <a:ext cx="6977512"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Insurance brokers earn the widest margins and the highest revenue multiples, and staffing companies earn the narrowest.</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4524360" cy="2781330"/>
          </a:xfrm>
          <a:prstGeom prst="rect">
            <a:avLst/>
          </a:prstGeom>
          <a:solidFill>
            <a:srgbClr val="FAF7F3"/>
          </a:solidFill>
          <a:ln/>
        </p:spPr>
        <p:txBody>
          <a:bodyPr/>
          <a:p/>
        </p:txBody>
      </p:sp>
      <p:sp>
        <p:nvSpPr>
          <p:cNvPr id="9" name="Shape e9s0"/>
          <p:cNvSpPr/>
          <p:nvPr/>
        </p:nvSpPr>
        <p:spPr>
          <a:xfrm>
            <a:off x="419070" y="1238280"/>
            <a:ext cx="4524360" cy="28621"/>
          </a:xfrm>
          <a:prstGeom prst="rect">
            <a:avLst/>
          </a:prstGeom>
          <a:solidFill>
            <a:srgbClr val="B68757"/>
          </a:solidFill>
          <a:ln/>
        </p:spPr>
        <p:txBody>
          <a:bodyPr/>
          <a:p/>
        </p:txBody>
      </p:sp>
      <p:sp>
        <p:nvSpPr>
          <p:cNvPr id="10" name="Text e10"/>
          <p:cNvSpPr txBox="1"/>
          <p:nvPr/>
        </p:nvSpPr>
        <p:spPr>
          <a:xfrm>
            <a:off x="590520" y="1388242"/>
            <a:ext cx="2430201"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Revenue growth, trailing twelve months</a:t>
            </a:r>
            <a:endParaRPr lang="en-US" sz="950" dirty="0"/>
          </a:p>
        </p:txBody>
      </p:sp>
      <p:sp>
        <p:nvSpPr>
          <p:cNvPr id="11" name="Text e11"/>
          <p:cNvSpPr txBox="1"/>
          <p:nvPr/>
        </p:nvSpPr>
        <p:spPr>
          <a:xfrm>
            <a:off x="590520" y="1559692"/>
            <a:ext cx="2194011" cy="128565"/>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Median by sector; growth includes acquisitions</a:t>
            </a:r>
            <a:endParaRPr lang="en-US" sz="700" dirty="0"/>
          </a:p>
        </p:txBody>
      </p:sp>
      <p:graphicFrame>
        <p:nvGraphicFramePr>
          <p:cNvPr id="12" name="Chart 12-e12" descr=""/>
          <p:cNvGraphicFramePr/>
          <p:nvPr/>
        </p:nvGraphicFramePr>
        <p:xfrm>
          <a:off x="590520" y="1781160"/>
          <a:ext cx="4190970" cy="1571671"/>
        </p:xfrm>
        <a:graphic xmlns:a="http://schemas.openxmlformats.org/drawingml/2006/main">
          <a:graphicData uri="http://schemas.openxmlformats.org/drawingml/2006/chart">
            <c:chart xmlns:c="http://schemas.openxmlformats.org/drawingml/2006/chart" r:id="rId1"/>
          </a:graphicData>
        </a:graphic>
      </p:graphicFrame>
      <p:sp>
        <p:nvSpPr>
          <p:cNvPr id="13" name="Shape e13s0"/>
          <p:cNvSpPr/>
          <p:nvPr/>
        </p:nvSpPr>
        <p:spPr>
          <a:xfrm>
            <a:off x="590520" y="3552810"/>
            <a:ext cx="4181460" cy="9510"/>
          </a:xfrm>
          <a:prstGeom prst="rect">
            <a:avLst/>
          </a:prstGeom>
          <a:solidFill>
            <a:srgbClr val="E3DCD3"/>
          </a:solidFill>
          <a:ln/>
        </p:spPr>
        <p:txBody>
          <a:bodyPr/>
          <a:p/>
        </p:txBody>
      </p:sp>
      <p:sp>
        <p:nvSpPr>
          <p:cNvPr id="14" name="Text e13"/>
          <p:cNvSpPr txBox="1"/>
          <p:nvPr/>
        </p:nvSpPr>
        <p:spPr>
          <a:xfrm>
            <a:off x="590520" y="3621847"/>
            <a:ext cx="4181460" cy="27624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Financial and insurance growth reflects large acquisitions by the listed brokers, and engineering growth is supported by backlog.</a:t>
            </a:r>
            <a:endParaRPr lang="en-US" sz="750" dirty="0"/>
          </a:p>
        </p:txBody>
      </p:sp>
      <p:sp>
        <p:nvSpPr>
          <p:cNvPr id="15" name="Shape e14"/>
          <p:cNvSpPr/>
          <p:nvPr/>
        </p:nvSpPr>
        <p:spPr>
          <a:xfrm>
            <a:off x="5114971" y="1238280"/>
            <a:ext cx="4524360" cy="2781330"/>
          </a:xfrm>
          <a:prstGeom prst="rect">
            <a:avLst/>
          </a:prstGeom>
          <a:solidFill>
            <a:srgbClr val="FAF7F3"/>
          </a:solidFill>
          <a:ln/>
        </p:spPr>
        <p:txBody>
          <a:bodyPr/>
          <a:p/>
        </p:txBody>
      </p:sp>
      <p:sp>
        <p:nvSpPr>
          <p:cNvPr id="16" name="Shape e14s0"/>
          <p:cNvSpPr/>
          <p:nvPr/>
        </p:nvSpPr>
        <p:spPr>
          <a:xfrm>
            <a:off x="5114971" y="1238280"/>
            <a:ext cx="4524360" cy="28621"/>
          </a:xfrm>
          <a:prstGeom prst="rect">
            <a:avLst/>
          </a:prstGeom>
          <a:solidFill>
            <a:srgbClr val="B68757"/>
          </a:solidFill>
          <a:ln/>
        </p:spPr>
        <p:txBody>
          <a:bodyPr/>
          <a:p/>
        </p:txBody>
      </p:sp>
      <p:sp>
        <p:nvSpPr>
          <p:cNvPr id="17" name="Text e15"/>
          <p:cNvSpPr txBox="1"/>
          <p:nvPr/>
        </p:nvSpPr>
        <p:spPr>
          <a:xfrm>
            <a:off x="5286421" y="1388242"/>
            <a:ext cx="2337938"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EBITDA margin, trailing twelve months</a:t>
            </a:r>
            <a:endParaRPr lang="en-US" sz="950" dirty="0"/>
          </a:p>
        </p:txBody>
      </p:sp>
      <p:sp>
        <p:nvSpPr>
          <p:cNvPr id="18" name="Text e16"/>
          <p:cNvSpPr txBox="1"/>
          <p:nvPr/>
        </p:nvSpPr>
        <p:spPr>
          <a:xfrm>
            <a:off x="5286421" y="1559692"/>
            <a:ext cx="1830720" cy="128565"/>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Median by sector, on reported EBITDA</a:t>
            </a:r>
            <a:endParaRPr lang="en-US" sz="700" dirty="0"/>
          </a:p>
        </p:txBody>
      </p:sp>
      <p:graphicFrame>
        <p:nvGraphicFramePr>
          <p:cNvPr id="19" name="Chart 12-e17" descr=""/>
          <p:cNvGraphicFramePr/>
          <p:nvPr/>
        </p:nvGraphicFramePr>
        <p:xfrm>
          <a:off x="5286421" y="1781160"/>
          <a:ext cx="4190970" cy="1571671"/>
        </p:xfrm>
        <a:graphic xmlns:a="http://schemas.openxmlformats.org/drawingml/2006/main">
          <a:graphicData uri="http://schemas.openxmlformats.org/drawingml/2006/chart">
            <c:chart xmlns:c="http://schemas.openxmlformats.org/drawingml/2006/chart" r:id="rId2"/>
          </a:graphicData>
        </a:graphic>
      </p:graphicFrame>
      <p:sp>
        <p:nvSpPr>
          <p:cNvPr id="20" name="Shape e18s0"/>
          <p:cNvSpPr/>
          <p:nvPr/>
        </p:nvSpPr>
        <p:spPr>
          <a:xfrm>
            <a:off x="5286421" y="3552810"/>
            <a:ext cx="4181460" cy="9510"/>
          </a:xfrm>
          <a:prstGeom prst="rect">
            <a:avLst/>
          </a:prstGeom>
          <a:solidFill>
            <a:srgbClr val="E3DCD3"/>
          </a:solidFill>
          <a:ln/>
        </p:spPr>
        <p:txBody>
          <a:bodyPr/>
          <a:p/>
        </p:txBody>
      </p:sp>
      <p:sp>
        <p:nvSpPr>
          <p:cNvPr id="21" name="Text e18"/>
          <p:cNvSpPr txBox="1"/>
          <p:nvPr/>
        </p:nvSpPr>
        <p:spPr>
          <a:xfrm>
            <a:off x="5286421" y="3621847"/>
            <a:ext cx="4181460" cy="27624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Insurance brokerage earns the widest margin, and staffing earns the narrowest because most of its revenue passes through to payroll.</a:t>
            </a:r>
            <a:endParaRPr lang="en-US" sz="750" dirty="0"/>
          </a:p>
        </p:txBody>
      </p:sp>
      <p:sp>
        <p:nvSpPr>
          <p:cNvPr id="22" name="Shape e19"/>
          <p:cNvSpPr/>
          <p:nvPr/>
        </p:nvSpPr>
        <p:spPr>
          <a:xfrm>
            <a:off x="419070" y="4152930"/>
            <a:ext cx="4524360" cy="2781330"/>
          </a:xfrm>
          <a:prstGeom prst="rect">
            <a:avLst/>
          </a:prstGeom>
          <a:solidFill>
            <a:srgbClr val="FAF7F3"/>
          </a:solidFill>
          <a:ln/>
        </p:spPr>
        <p:txBody>
          <a:bodyPr/>
          <a:p/>
        </p:txBody>
      </p:sp>
      <p:sp>
        <p:nvSpPr>
          <p:cNvPr id="23" name="Shape e19s0"/>
          <p:cNvSpPr/>
          <p:nvPr/>
        </p:nvSpPr>
        <p:spPr>
          <a:xfrm>
            <a:off x="419070" y="4152930"/>
            <a:ext cx="4524360" cy="28621"/>
          </a:xfrm>
          <a:prstGeom prst="rect">
            <a:avLst/>
          </a:prstGeom>
          <a:solidFill>
            <a:srgbClr val="B68757"/>
          </a:solidFill>
          <a:ln/>
        </p:spPr>
        <p:txBody>
          <a:bodyPr/>
          <a:p/>
        </p:txBody>
      </p:sp>
      <p:sp>
        <p:nvSpPr>
          <p:cNvPr id="24" name="Text e20"/>
          <p:cNvSpPr txBox="1"/>
          <p:nvPr/>
        </p:nvSpPr>
        <p:spPr>
          <a:xfrm>
            <a:off x="590520" y="4302892"/>
            <a:ext cx="2773832"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Free cash flow margin, trailing twelve months</a:t>
            </a:r>
            <a:endParaRPr lang="en-US" sz="950" dirty="0"/>
          </a:p>
        </p:txBody>
      </p:sp>
      <p:sp>
        <p:nvSpPr>
          <p:cNvPr id="25" name="Text e21"/>
          <p:cNvSpPr txBox="1"/>
          <p:nvPr/>
        </p:nvSpPr>
        <p:spPr>
          <a:xfrm>
            <a:off x="590520" y="4474342"/>
            <a:ext cx="918698" cy="128565"/>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Median by sector</a:t>
            </a:r>
            <a:endParaRPr lang="en-US" sz="700" dirty="0"/>
          </a:p>
        </p:txBody>
      </p:sp>
      <p:graphicFrame>
        <p:nvGraphicFramePr>
          <p:cNvPr id="26" name="Chart 12-e22" descr=""/>
          <p:cNvGraphicFramePr/>
          <p:nvPr/>
        </p:nvGraphicFramePr>
        <p:xfrm>
          <a:off x="590520" y="4695810"/>
          <a:ext cx="4190970" cy="1571671"/>
        </p:xfrm>
        <a:graphic xmlns:a="http://schemas.openxmlformats.org/drawingml/2006/main">
          <a:graphicData uri="http://schemas.openxmlformats.org/drawingml/2006/chart">
            <c:chart xmlns:c="http://schemas.openxmlformats.org/drawingml/2006/chart" r:id="rId3"/>
          </a:graphicData>
        </a:graphic>
      </p:graphicFrame>
      <p:sp>
        <p:nvSpPr>
          <p:cNvPr id="27" name="Shape e23s0"/>
          <p:cNvSpPr/>
          <p:nvPr/>
        </p:nvSpPr>
        <p:spPr>
          <a:xfrm>
            <a:off x="590520" y="6467460"/>
            <a:ext cx="4181460" cy="9510"/>
          </a:xfrm>
          <a:prstGeom prst="rect">
            <a:avLst/>
          </a:prstGeom>
          <a:solidFill>
            <a:srgbClr val="E3DCD3"/>
          </a:solidFill>
          <a:ln/>
        </p:spPr>
        <p:txBody>
          <a:bodyPr/>
          <a:p/>
        </p:txBody>
      </p:sp>
      <p:sp>
        <p:nvSpPr>
          <p:cNvPr id="28" name="Text e23"/>
          <p:cNvSpPr txBox="1"/>
          <p:nvPr/>
        </p:nvSpPr>
        <p:spPr>
          <a:xfrm>
            <a:off x="590520" y="6536497"/>
            <a:ext cx="4181460" cy="27624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Commercial and facility services converts more revenue to cash than engineering or marketing services.</a:t>
            </a:r>
            <a:endParaRPr lang="en-US" sz="750" dirty="0"/>
          </a:p>
        </p:txBody>
      </p:sp>
      <p:sp>
        <p:nvSpPr>
          <p:cNvPr id="29" name="Shape e24"/>
          <p:cNvSpPr/>
          <p:nvPr/>
        </p:nvSpPr>
        <p:spPr>
          <a:xfrm>
            <a:off x="5114971" y="4152930"/>
            <a:ext cx="4524360" cy="2781330"/>
          </a:xfrm>
          <a:prstGeom prst="rect">
            <a:avLst/>
          </a:prstGeom>
          <a:solidFill>
            <a:srgbClr val="FAF7F3"/>
          </a:solidFill>
          <a:ln/>
        </p:spPr>
        <p:txBody>
          <a:bodyPr/>
          <a:p/>
        </p:txBody>
      </p:sp>
      <p:sp>
        <p:nvSpPr>
          <p:cNvPr id="30" name="Shape e24s0"/>
          <p:cNvSpPr/>
          <p:nvPr/>
        </p:nvSpPr>
        <p:spPr>
          <a:xfrm>
            <a:off x="5114971" y="4152930"/>
            <a:ext cx="4524360" cy="28621"/>
          </a:xfrm>
          <a:prstGeom prst="rect">
            <a:avLst/>
          </a:prstGeom>
          <a:solidFill>
            <a:srgbClr val="B68757"/>
          </a:solidFill>
          <a:ln/>
        </p:spPr>
        <p:txBody>
          <a:bodyPr/>
          <a:p/>
        </p:txBody>
      </p:sp>
      <p:sp>
        <p:nvSpPr>
          <p:cNvPr id="31" name="Text e25"/>
          <p:cNvSpPr txBox="1"/>
          <p:nvPr/>
        </p:nvSpPr>
        <p:spPr>
          <a:xfrm>
            <a:off x="5286421" y="4302892"/>
            <a:ext cx="2161276"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Enterprise value to trailing revenue</a:t>
            </a:r>
            <a:endParaRPr lang="en-US" sz="950" dirty="0"/>
          </a:p>
        </p:txBody>
      </p:sp>
      <p:sp>
        <p:nvSpPr>
          <p:cNvPr id="32" name="Text e26"/>
          <p:cNvSpPr txBox="1"/>
          <p:nvPr/>
        </p:nvSpPr>
        <p:spPr>
          <a:xfrm>
            <a:off x="5286421" y="4474342"/>
            <a:ext cx="918698" cy="128565"/>
          </a:xfrm>
          <a:prstGeom prst="rect">
            <a:avLst/>
          </a:prstGeom>
          <a:noFill/>
          <a:ln/>
        </p:spPr>
        <p:txBody>
          <a:bodyPr wrap="none" lIns="0" tIns="0" rIns="0" bIns="0" rtlCol="0" anchor="t"/>
          <a:lstStyle/>
          <a:p>
            <a:pPr algn="l" indent="0" marL="0">
              <a:lnSpc>
                <a:spcPts val="1000"/>
              </a:lnSpc>
              <a:buNone/>
            </a:pPr>
            <a:r>
              <a:rPr lang="en-US" sz="700" dirty="0">
                <a:solidFill>
                  <a:srgbClr val="6F6A66"/>
                </a:solidFill>
                <a:latin typeface="+mn-lt" pitchFamily="34" charset="0"/>
              </a:rPr>
              <a:t>Median by sector</a:t>
            </a:r>
            <a:endParaRPr lang="en-US" sz="700" dirty="0"/>
          </a:p>
        </p:txBody>
      </p:sp>
      <p:graphicFrame>
        <p:nvGraphicFramePr>
          <p:cNvPr id="33" name="Chart 12-e27" descr=""/>
          <p:cNvGraphicFramePr/>
          <p:nvPr/>
        </p:nvGraphicFramePr>
        <p:xfrm>
          <a:off x="5286421" y="4695810"/>
          <a:ext cx="4190970" cy="1571671"/>
        </p:xfrm>
        <a:graphic xmlns:a="http://schemas.openxmlformats.org/drawingml/2006/main">
          <a:graphicData uri="http://schemas.openxmlformats.org/drawingml/2006/chart">
            <c:chart xmlns:c="http://schemas.openxmlformats.org/drawingml/2006/chart" r:id="rId4"/>
          </a:graphicData>
        </a:graphic>
      </p:graphicFrame>
      <p:sp>
        <p:nvSpPr>
          <p:cNvPr id="34" name="Shape e28s0"/>
          <p:cNvSpPr/>
          <p:nvPr/>
        </p:nvSpPr>
        <p:spPr>
          <a:xfrm>
            <a:off x="5286421" y="6467460"/>
            <a:ext cx="4181460" cy="9510"/>
          </a:xfrm>
          <a:prstGeom prst="rect">
            <a:avLst/>
          </a:prstGeom>
          <a:solidFill>
            <a:srgbClr val="E3DCD3"/>
          </a:solidFill>
          <a:ln/>
        </p:spPr>
        <p:txBody>
          <a:bodyPr/>
          <a:p/>
        </p:txBody>
      </p:sp>
      <p:sp>
        <p:nvSpPr>
          <p:cNvPr id="35" name="Text e28"/>
          <p:cNvSpPr txBox="1"/>
          <p:nvPr/>
        </p:nvSpPr>
        <p:spPr>
          <a:xfrm>
            <a:off x="5286421" y="6536497"/>
            <a:ext cx="4181460" cy="27624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Revenue multiples follow margin, which is why an owner should compare a business with its own sector.</a:t>
            </a:r>
            <a:endParaRPr lang="en-US" sz="750" dirty="0"/>
          </a:p>
        </p:txBody>
      </p:sp>
      <p:sp>
        <p:nvSpPr>
          <p:cNvPr id="36" name="Shape e29"/>
          <p:cNvSpPr/>
          <p:nvPr/>
        </p:nvSpPr>
        <p:spPr>
          <a:xfrm>
            <a:off x="419070" y="7029450"/>
            <a:ext cx="9220170" cy="9510"/>
          </a:xfrm>
          <a:prstGeom prst="ellipse">
            <a:avLst/>
          </a:prstGeom>
          <a:solidFill>
            <a:srgbClr val="E3DCD3"/>
          </a:solidFill>
          <a:ln/>
        </p:spPr>
        <p:txBody>
          <a:bodyPr/>
          <a:p/>
        </p:txBody>
      </p:sp>
      <p:pic>
        <p:nvPicPr>
          <p:cNvPr id="37" name="Picture e30" descr="Benchmark International">    </p:cNvPr>
          <p:cNvPicPr>
            <a:picLocks noChangeAspect="1"/>
          </p:cNvPicPr>
          <p:nvPr/>
        </p:nvPicPr>
        <p:blipFill>
          <a:blip r:embed="rId5"/>
          <a:stretch>
            <a:fillRect/>
          </a:stretch>
        </p:blipFill>
        <p:spPr>
          <a:xfrm>
            <a:off x="419070" y="7143750"/>
            <a:ext cx="914400" cy="171450"/>
          </a:xfrm>
          <a:prstGeom prst="rect">
            <a:avLst/>
          </a:prstGeom>
        </p:spPr>
      </p:pic>
      <p:sp>
        <p:nvSpPr>
          <p:cNvPr id="38" name="Text e31"/>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Source: </a:t>
            </a:r>
            <a:pPr algn="l" indent="0" marL="0">
              <a:lnSpc>
                <a:spcPts val="950"/>
              </a:lnSpc>
              <a:buNone/>
            </a:pPr>
            <a:r>
              <a:rPr lang="en-US" sz="700" u="sng" dirty="0">
                <a:solidFill>
                  <a:srgbClr val="8C6239"/>
                </a:solidFill>
                <a:latin typeface="+mn-lt" pitchFamily="34" charset="0"/>
                <a:hlinkClick r:id="rId6" invalidUrl="" action="" tgtFrame="" tooltip="" history="1" highlightClick="0" endSnd="0">
                  <a:extLst>
                    <a:ext uri="{A12FA001-AC4F-418D-AE19-62706E023703}">
                      <ahyp:hlinkClr xmlns:ahyp="http://schemas.microsoft.com/office/drawing/2018/hyperlinkcolor" val="tx"/>
                    </a:ext>
                  </a:extLst>
                </a:hlinkClick>
              </a:rPr>
              <a:t>StockAnalysis</a:t>
            </a:r>
            <a:pPr algn="l" indent="0" marL="0">
              <a:lnSpc>
                <a:spcPts val="950"/>
              </a:lnSpc>
              <a:buNone/>
            </a:pPr>
            <a:r>
              <a:rPr lang="en-US" sz="700" dirty="0">
                <a:solidFill>
                  <a:srgbClr val="6F6A66"/>
                </a:solidFill>
                <a:latin typeface="+mn-lt" pitchFamily="34" charset="0"/>
              </a:rPr>
              <a:t>, retrieved October 7, 2026. Medians cover every listed company in each sector with a published figure, between 7 and 12 companies a sector. Trailing periods end between December 2025 and August 2026. EBITDA is as reported and is lower than the adjusted EBITDA companies present.</a:t>
            </a:r>
            <a:endParaRPr lang="en-US" sz="700" dirty="0"/>
          </a:p>
        </p:txBody>
      </p:sp>
      <p:sp>
        <p:nvSpPr>
          <p:cNvPr id="39" name="Text e32"/>
          <p:cNvSpPr txBox="1"/>
          <p:nvPr/>
        </p:nvSpPr>
        <p:spPr>
          <a:xfrm>
            <a:off x="9514423" y="7162770"/>
            <a:ext cx="12381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3157423"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Earnings and Commentary</a:t>
            </a:r>
            <a:endParaRPr lang="en-US" sz="2050" dirty="0"/>
          </a:p>
        </p:txBody>
      </p:sp>
      <p:sp>
        <p:nvSpPr>
          <p:cNvPr id="6" name="Text e5"/>
          <p:cNvSpPr txBox="1"/>
          <p:nvPr/>
        </p:nvSpPr>
        <p:spPr>
          <a:xfrm>
            <a:off x="419070" y="883402"/>
            <a:ext cx="6531193"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Engineering firms grew fastest, APi Group held double-digit growth, and four of the five staffing firms shown grew.</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2762220" cy="5695980"/>
          </a:xfrm>
          <a:prstGeom prst="rect">
            <a:avLst/>
          </a:prstGeom>
          <a:solidFill>
            <a:srgbClr val="FAF7F3"/>
          </a:solidFill>
          <a:ln/>
        </p:spPr>
        <p:txBody>
          <a:bodyPr/>
          <a:p/>
        </p:txBody>
      </p:sp>
      <p:sp>
        <p:nvSpPr>
          <p:cNvPr id="9" name="Shape e9s0"/>
          <p:cNvSpPr/>
          <p:nvPr/>
        </p:nvSpPr>
        <p:spPr>
          <a:xfrm>
            <a:off x="419070" y="1238280"/>
            <a:ext cx="2762220" cy="28621"/>
          </a:xfrm>
          <a:prstGeom prst="rect">
            <a:avLst/>
          </a:prstGeom>
          <a:solidFill>
            <a:srgbClr val="B68757"/>
          </a:solidFill>
          <a:ln/>
        </p:spPr>
        <p:txBody>
          <a:bodyPr/>
          <a:p/>
        </p:txBody>
      </p:sp>
      <p:sp>
        <p:nvSpPr>
          <p:cNvPr id="10" name="Text e10"/>
          <p:cNvSpPr txBox="1"/>
          <p:nvPr/>
        </p:nvSpPr>
        <p:spPr>
          <a:xfrm>
            <a:off x="552480" y="1378732"/>
            <a:ext cx="2496861"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Revenue growth, latest reported quarter</a:t>
            </a:r>
            <a:endParaRPr lang="en-US" sz="950" dirty="0"/>
          </a:p>
        </p:txBody>
      </p:sp>
      <p:sp>
        <p:nvSpPr>
          <p:cNvPr id="11" name="Text e11"/>
          <p:cNvSpPr txBox="1"/>
          <p:nvPr/>
        </p:nvSpPr>
        <p:spPr>
          <a:xfrm>
            <a:off x="552480" y="1550182"/>
            <a:ext cx="249558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Year over year, as stated in each earnings release; quarters ended June to August 2026</a:t>
            </a:r>
            <a:endParaRPr lang="en-US" sz="700" dirty="0"/>
          </a:p>
        </p:txBody>
      </p:sp>
      <p:graphicFrame>
        <p:nvGraphicFramePr>
          <p:cNvPr id="12" name="Chart 13-e12" descr=""/>
          <p:cNvGraphicFramePr/>
          <p:nvPr/>
        </p:nvGraphicFramePr>
        <p:xfrm>
          <a:off x="552480" y="1900215"/>
          <a:ext cx="2495580" cy="4267230"/>
        </p:xfrm>
        <a:graphic xmlns:a="http://schemas.openxmlformats.org/drawingml/2006/main">
          <a:graphicData uri="http://schemas.openxmlformats.org/drawingml/2006/chart">
            <c:chart xmlns:c="http://schemas.openxmlformats.org/drawingml/2006/chart" r:id="rId1"/>
          </a:graphicData>
        </a:graphic>
      </p:graphicFrame>
      <p:sp>
        <p:nvSpPr>
          <p:cNvPr id="13" name="Shape e14"/>
          <p:cNvSpPr/>
          <p:nvPr/>
        </p:nvSpPr>
        <p:spPr>
          <a:xfrm>
            <a:off x="3314700" y="1238280"/>
            <a:ext cx="2019270" cy="419070"/>
          </a:xfrm>
          <a:prstGeom prst="rect">
            <a:avLst/>
          </a:prstGeom>
          <a:solidFill>
            <a:srgbClr val="1B1A1A"/>
          </a:solidFill>
          <a:ln/>
        </p:spPr>
        <p:txBody>
          <a:bodyPr/>
          <a:p/>
        </p:txBody>
      </p:sp>
      <p:pic>
        <p:nvPicPr>
          <p:cNvPr id="14" name="Icon e15">    </p:cNvPr>
          <p:cNvPicPr>
            <a:picLocks noChangeAspect="1"/>
          </p:cNvPicPr>
          <p:nvPr/>
        </p:nvPicPr>
        <p:blipFill>
          <a:blip r:embed="rId2"/>
          <a:stretch>
            <a:fillRect/>
          </a:stretch>
        </p:blipFill>
        <p:spPr>
          <a:xfrm>
            <a:off x="3429000" y="1343071"/>
            <a:ext cx="209580" cy="209580"/>
          </a:xfrm>
          <a:prstGeom prst="rect">
            <a:avLst/>
          </a:prstGeom>
        </p:spPr>
      </p:pic>
      <p:sp>
        <p:nvSpPr>
          <p:cNvPr id="15" name="Text e16"/>
          <p:cNvSpPr txBox="1"/>
          <p:nvPr/>
        </p:nvSpPr>
        <p:spPr>
          <a:xfrm>
            <a:off x="3733770" y="1262055"/>
            <a:ext cx="1485900" cy="357165"/>
          </a:xfrm>
          <a:prstGeom prst="rect">
            <a:avLst/>
          </a:prstGeom>
          <a:noFill/>
          <a:ln/>
        </p:spPr>
        <p:txBody>
          <a:bodyPr wrap="square" lIns="0" tIns="0" rIns="0" bIns="0" rtlCol="0" anchor="t"/>
          <a:lstStyle/>
          <a:p>
            <a:pPr algn="l" indent="0" marL="0">
              <a:lnSpc>
                <a:spcPts val="950"/>
              </a:lnSpc>
              <a:buNone/>
            </a:pPr>
            <a:r>
              <a:rPr lang="en-US" sz="700" b="1" spc="150" kern="0" dirty="0">
                <a:solidFill>
                  <a:srgbClr val="FFFFFF"/>
                </a:solidFill>
                <a:latin typeface="+mn-lt" pitchFamily="34" charset="0"/>
              </a:rPr>
              <a:t>CONTRACTED AND INSPECTION-DRIVEN SERVICES</a:t>
            </a:r>
            <a:endParaRPr lang="en-US" sz="700" dirty="0"/>
          </a:p>
        </p:txBody>
      </p:sp>
      <p:sp>
        <p:nvSpPr>
          <p:cNvPr id="16" name="Shape e17s2"/>
          <p:cNvSpPr/>
          <p:nvPr/>
        </p:nvSpPr>
        <p:spPr>
          <a:xfrm>
            <a:off x="3314700" y="2757465"/>
            <a:ext cx="2019270" cy="9510"/>
          </a:xfrm>
          <a:prstGeom prst="rect">
            <a:avLst/>
          </a:prstGeom>
          <a:solidFill>
            <a:srgbClr val="E3DCD3"/>
          </a:solidFill>
          <a:ln/>
        </p:spPr>
        <p:txBody>
          <a:bodyPr/>
          <a:p/>
        </p:txBody>
      </p:sp>
      <p:sp>
        <p:nvSpPr>
          <p:cNvPr id="17" name="Text e18"/>
          <p:cNvSpPr txBox="1"/>
          <p:nvPr/>
        </p:nvSpPr>
        <p:spPr>
          <a:xfrm>
            <a:off x="3314700" y="1716877"/>
            <a:ext cx="2019270" cy="238110"/>
          </a:xfrm>
          <a:prstGeom prst="rect">
            <a:avLst/>
          </a:prstGeom>
          <a:noFill/>
          <a:ln/>
        </p:spPr>
        <p:txBody>
          <a:bodyPr wrap="square" lIns="0" tIns="0" rIns="0" bIns="0" rtlCol="0" anchor="t"/>
          <a:lstStyle/>
          <a:p>
            <a:pPr algn="l" indent="0" marL="0">
              <a:lnSpc>
                <a:spcPts val="950"/>
              </a:lnSpc>
              <a:buNone/>
            </a:pPr>
            <a:r>
              <a:rPr lang="en-US" sz="700" b="1" dirty="0">
                <a:solidFill>
                  <a:srgbClr val="1B1A1A"/>
                </a:solidFill>
                <a:latin typeface="+mn-lt" pitchFamily="34" charset="0"/>
              </a:rPr>
              <a:t>Russ Becker</a:t>
            </a:r>
            <a:pPr algn="l" indent="0" marL="0">
              <a:lnSpc>
                <a:spcPts val="950"/>
              </a:lnSpc>
              <a:buNone/>
            </a:pPr>
            <a:r>
              <a:rPr lang="en-US" sz="700" dirty="0">
                <a:solidFill>
                  <a:srgbClr val="6F6A66"/>
                </a:solidFill>
                <a:latin typeface="+mn-lt" pitchFamily="34" charset="0"/>
              </a:rPr>
              <a:t>, President and Chief Executive Officer, </a:t>
            </a:r>
            <a:pPr algn="l" indent="0" marL="0">
              <a:lnSpc>
                <a:spcPts val="950"/>
              </a:lnSpc>
              <a:buNone/>
            </a:pPr>
            <a:r>
              <a:rPr lang="en-US" sz="70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APi Group</a:t>
            </a:r>
            <a:endParaRPr lang="en-US" sz="700" dirty="0"/>
          </a:p>
        </p:txBody>
      </p:sp>
      <p:sp>
        <p:nvSpPr>
          <p:cNvPr id="18" name="Text e19"/>
          <p:cNvSpPr txBox="1"/>
          <p:nvPr/>
        </p:nvSpPr>
        <p:spPr>
          <a:xfrm>
            <a:off x="3314700" y="1983608"/>
            <a:ext cx="2019270" cy="690555"/>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Credited inspection, service and monitoring revenue, together with healthy project work, for double-digit organic growth, and pointed to a record backlog above $5 billion.</a:t>
            </a:r>
            <a:endParaRPr lang="en-US" sz="750" dirty="0"/>
          </a:p>
        </p:txBody>
      </p:sp>
      <p:sp>
        <p:nvSpPr>
          <p:cNvPr id="19" name="Shape e20s2"/>
          <p:cNvSpPr/>
          <p:nvPr/>
        </p:nvSpPr>
        <p:spPr>
          <a:xfrm>
            <a:off x="3314700" y="3867180"/>
            <a:ext cx="2019270" cy="9510"/>
          </a:xfrm>
          <a:prstGeom prst="rect">
            <a:avLst/>
          </a:prstGeom>
          <a:solidFill>
            <a:srgbClr val="E3DCD3"/>
          </a:solidFill>
          <a:ln/>
        </p:spPr>
        <p:txBody>
          <a:bodyPr/>
          <a:p/>
        </p:txBody>
      </p:sp>
      <p:sp>
        <p:nvSpPr>
          <p:cNvPr id="20" name="Text e21"/>
          <p:cNvSpPr txBox="1"/>
          <p:nvPr/>
        </p:nvSpPr>
        <p:spPr>
          <a:xfrm>
            <a:off x="3314700" y="2826502"/>
            <a:ext cx="2019270" cy="238110"/>
          </a:xfrm>
          <a:prstGeom prst="rect">
            <a:avLst/>
          </a:prstGeom>
          <a:noFill/>
          <a:ln/>
        </p:spPr>
        <p:txBody>
          <a:bodyPr wrap="square" lIns="0" tIns="0" rIns="0" bIns="0" rtlCol="0" anchor="t"/>
          <a:lstStyle/>
          <a:p>
            <a:pPr algn="l" indent="0" marL="0">
              <a:lnSpc>
                <a:spcPts val="950"/>
              </a:lnSpc>
              <a:buNone/>
            </a:pPr>
            <a:r>
              <a:rPr lang="en-US" sz="700" b="1" dirty="0">
                <a:solidFill>
                  <a:srgbClr val="1B1A1A"/>
                </a:solidFill>
                <a:latin typeface="+mn-lt" pitchFamily="34" charset="0"/>
              </a:rPr>
              <a:t>Scott Salmirs</a:t>
            </a:r>
            <a:pPr algn="l" indent="0" marL="0">
              <a:lnSpc>
                <a:spcPts val="950"/>
              </a:lnSpc>
              <a:buNone/>
            </a:pPr>
            <a:r>
              <a:rPr lang="en-US" sz="700" dirty="0">
                <a:solidFill>
                  <a:srgbClr val="6F6A66"/>
                </a:solidFill>
                <a:latin typeface="+mn-lt" pitchFamily="34" charset="0"/>
              </a:rPr>
              <a:t>, President and Chief Executive Officer, </a:t>
            </a:r>
            <a:pPr algn="l" indent="0" marL="0">
              <a:lnSpc>
                <a:spcPts val="950"/>
              </a:lnSpc>
              <a:buNone/>
            </a:pPr>
            <a:r>
              <a:rPr lang="en-US" sz="70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ABM Industries</a:t>
            </a:r>
            <a:endParaRPr lang="en-US" sz="700" dirty="0"/>
          </a:p>
        </p:txBody>
      </p:sp>
      <p:sp>
        <p:nvSpPr>
          <p:cNvPr id="21" name="Text e22"/>
          <p:cNvSpPr txBox="1"/>
          <p:nvPr/>
        </p:nvSpPr>
        <p:spPr>
          <a:xfrm>
            <a:off x="3314700" y="3093232"/>
            <a:ext cx="2019270" cy="690555"/>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Said aviation and manufacturing and distribution led organic growth, and that deferred projects in the technical solutions business are expected to ramp in the fourth quarter.</a:t>
            </a:r>
            <a:endParaRPr lang="en-US" sz="750" dirty="0"/>
          </a:p>
        </p:txBody>
      </p:sp>
      <p:sp>
        <p:nvSpPr>
          <p:cNvPr id="22" name="Shape e23s2"/>
          <p:cNvSpPr/>
          <p:nvPr/>
        </p:nvSpPr>
        <p:spPr>
          <a:xfrm>
            <a:off x="3314700" y="4838730"/>
            <a:ext cx="2019270" cy="9510"/>
          </a:xfrm>
          <a:prstGeom prst="rect">
            <a:avLst/>
          </a:prstGeom>
          <a:solidFill>
            <a:srgbClr val="E3DCD3"/>
          </a:solidFill>
          <a:ln/>
        </p:spPr>
        <p:txBody>
          <a:bodyPr/>
          <a:p/>
        </p:txBody>
      </p:sp>
      <p:sp>
        <p:nvSpPr>
          <p:cNvPr id="23" name="Text e24"/>
          <p:cNvSpPr txBox="1"/>
          <p:nvPr/>
        </p:nvSpPr>
        <p:spPr>
          <a:xfrm>
            <a:off x="3314700" y="3936218"/>
            <a:ext cx="2019270" cy="238110"/>
          </a:xfrm>
          <a:prstGeom prst="rect">
            <a:avLst/>
          </a:prstGeom>
          <a:noFill/>
          <a:ln/>
        </p:spPr>
        <p:txBody>
          <a:bodyPr wrap="square" lIns="0" tIns="0" rIns="0" bIns="0" rtlCol="0" anchor="t"/>
          <a:lstStyle/>
          <a:p>
            <a:pPr algn="l" indent="0" marL="0">
              <a:lnSpc>
                <a:spcPts val="950"/>
              </a:lnSpc>
              <a:buNone/>
            </a:pPr>
            <a:r>
              <a:rPr lang="en-US" sz="700" b="1" dirty="0">
                <a:solidFill>
                  <a:srgbClr val="1B1A1A"/>
                </a:solidFill>
                <a:latin typeface="+mn-lt" pitchFamily="34" charset="0"/>
              </a:rPr>
              <a:t>Jennifer Scanlon</a:t>
            </a:r>
            <a:pPr algn="l" indent="0" marL="0">
              <a:lnSpc>
                <a:spcPts val="950"/>
              </a:lnSpc>
              <a:buNone/>
            </a:pPr>
            <a:r>
              <a:rPr lang="en-US" sz="700" dirty="0">
                <a:solidFill>
                  <a:srgbClr val="6F6A66"/>
                </a:solidFill>
                <a:latin typeface="+mn-lt" pitchFamily="34" charset="0"/>
              </a:rPr>
              <a:t>, President and CEO, </a:t>
            </a:r>
            <a:pPr algn="l" indent="0" marL="0">
              <a:lnSpc>
                <a:spcPts val="950"/>
              </a:lnSpc>
              <a:buNone/>
            </a:pPr>
            <a:r>
              <a:rPr lang="en-US" sz="700" u="sng" dirty="0">
                <a:solidFill>
                  <a:srgbClr val="8C6239"/>
                </a:solidFill>
                <a:latin typeface="+mn-lt" pitchFamily="34" charset="0"/>
                <a:hlinkClick r:id="rId5" invalidUrl="" action="" tgtFrame="" tooltip="" history="1" highlightClick="0" endSnd="0">
                  <a:extLst>
                    <a:ext uri="{A12FA001-AC4F-418D-AE19-62706E023703}">
                      <ahyp:hlinkClr xmlns:ahyp="http://schemas.microsoft.com/office/drawing/2018/hyperlinkcolor" val="tx"/>
                    </a:ext>
                  </a:extLst>
                </a:hlinkClick>
              </a:rPr>
              <a:t>UL Solutions</a:t>
            </a:r>
            <a:endParaRPr lang="en-US" sz="700" dirty="0"/>
          </a:p>
        </p:txBody>
      </p:sp>
      <p:sp>
        <p:nvSpPr>
          <p:cNvPr id="24" name="Text e25"/>
          <p:cNvSpPr txBox="1"/>
          <p:nvPr/>
        </p:nvSpPr>
        <p:spPr>
          <a:xfrm>
            <a:off x="3314700" y="4202948"/>
            <a:ext cx="2019270" cy="55248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Described record revenue, strong cash flow and wider margins, and said the company is well positioned for the second half of 2026.</a:t>
            </a:r>
            <a:endParaRPr lang="en-US" sz="750" dirty="0"/>
          </a:p>
        </p:txBody>
      </p:sp>
      <p:sp>
        <p:nvSpPr>
          <p:cNvPr id="25" name="Shape e26s2"/>
          <p:cNvSpPr/>
          <p:nvPr/>
        </p:nvSpPr>
        <p:spPr>
          <a:xfrm>
            <a:off x="3314700" y="5672115"/>
            <a:ext cx="2019270" cy="9510"/>
          </a:xfrm>
          <a:prstGeom prst="rect">
            <a:avLst/>
          </a:prstGeom>
          <a:solidFill>
            <a:srgbClr val="E3DCD3"/>
          </a:solidFill>
          <a:ln/>
        </p:spPr>
        <p:txBody>
          <a:bodyPr/>
          <a:p/>
        </p:txBody>
      </p:sp>
      <p:sp>
        <p:nvSpPr>
          <p:cNvPr id="26" name="Text e27"/>
          <p:cNvSpPr txBox="1"/>
          <p:nvPr/>
        </p:nvSpPr>
        <p:spPr>
          <a:xfrm>
            <a:off x="3314700" y="4907768"/>
            <a:ext cx="2019270" cy="238110"/>
          </a:xfrm>
          <a:prstGeom prst="rect">
            <a:avLst/>
          </a:prstGeom>
          <a:noFill/>
          <a:ln/>
        </p:spPr>
        <p:txBody>
          <a:bodyPr wrap="square" lIns="0" tIns="0" rIns="0" bIns="0" rtlCol="0" anchor="t"/>
          <a:lstStyle/>
          <a:p>
            <a:pPr algn="l" indent="0" marL="0">
              <a:lnSpc>
                <a:spcPts val="950"/>
              </a:lnSpc>
              <a:buNone/>
            </a:pPr>
            <a:r>
              <a:rPr lang="en-US" sz="700" b="1" dirty="0">
                <a:solidFill>
                  <a:srgbClr val="1B1A1A"/>
                </a:solidFill>
                <a:latin typeface="+mn-lt" pitchFamily="34" charset="0"/>
              </a:rPr>
              <a:t>Scott Patterson</a:t>
            </a:r>
            <a:pPr algn="l" indent="0" marL="0">
              <a:lnSpc>
                <a:spcPts val="950"/>
              </a:lnSpc>
              <a:buNone/>
            </a:pPr>
            <a:r>
              <a:rPr lang="en-US" sz="700" dirty="0">
                <a:solidFill>
                  <a:srgbClr val="6F6A66"/>
                </a:solidFill>
                <a:latin typeface="+mn-lt" pitchFamily="34" charset="0"/>
              </a:rPr>
              <a:t>, Chief Executive Officer, </a:t>
            </a:r>
            <a:pPr algn="l" indent="0" marL="0">
              <a:lnSpc>
                <a:spcPts val="950"/>
              </a:lnSpc>
              <a:buNone/>
            </a:pPr>
            <a:r>
              <a:rPr lang="en-US" sz="700" u="sng" dirty="0">
                <a:solidFill>
                  <a:srgbClr val="8C6239"/>
                </a:solidFill>
                <a:latin typeface="+mn-lt" pitchFamily="34" charset="0"/>
                <a:hlinkClick r:id="rId6" invalidUrl="" action="" tgtFrame="" tooltip="" history="1" highlightClick="0" endSnd="0">
                  <a:extLst>
                    <a:ext uri="{A12FA001-AC4F-418D-AE19-62706E023703}">
                      <ahyp:hlinkClr xmlns:ahyp="http://schemas.microsoft.com/office/drawing/2018/hyperlinkcolor" val="tx"/>
                    </a:ext>
                  </a:extLst>
                </a:hlinkClick>
              </a:rPr>
              <a:t>FirstService</a:t>
            </a:r>
            <a:endParaRPr lang="en-US" sz="700" dirty="0"/>
          </a:p>
        </p:txBody>
      </p:sp>
      <p:sp>
        <p:nvSpPr>
          <p:cNvPr id="27" name="Text e28"/>
          <p:cNvSpPr txBox="1"/>
          <p:nvPr/>
        </p:nvSpPr>
        <p:spPr>
          <a:xfrm>
            <a:off x="3314700" y="5174498"/>
            <a:ext cx="2019270" cy="414315"/>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Said profitability met expectations while macroeconomic headwinds held back organic growth.</a:t>
            </a:r>
            <a:endParaRPr lang="en-US" sz="750" dirty="0"/>
          </a:p>
        </p:txBody>
      </p:sp>
      <p:sp>
        <p:nvSpPr>
          <p:cNvPr id="28" name="Shape e29"/>
          <p:cNvSpPr/>
          <p:nvPr/>
        </p:nvSpPr>
        <p:spPr>
          <a:xfrm>
            <a:off x="3314700" y="6143671"/>
            <a:ext cx="2019270" cy="790590"/>
          </a:xfrm>
          <a:prstGeom prst="rect">
            <a:avLst/>
          </a:prstGeom>
          <a:solidFill>
            <a:srgbClr val="FAF7F3"/>
          </a:solidFill>
          <a:ln/>
        </p:spPr>
        <p:txBody>
          <a:bodyPr/>
          <a:p/>
        </p:txBody>
      </p:sp>
      <p:sp>
        <p:nvSpPr>
          <p:cNvPr id="29" name="Shape e29s0"/>
          <p:cNvSpPr/>
          <p:nvPr/>
        </p:nvSpPr>
        <p:spPr>
          <a:xfrm>
            <a:off x="3314700" y="6143671"/>
            <a:ext cx="2019270" cy="28621"/>
          </a:xfrm>
          <a:prstGeom prst="rect">
            <a:avLst/>
          </a:prstGeom>
          <a:solidFill>
            <a:srgbClr val="B68757"/>
          </a:solidFill>
          <a:ln/>
        </p:spPr>
        <p:txBody>
          <a:bodyPr/>
          <a:p/>
        </p:txBody>
      </p:sp>
      <p:sp>
        <p:nvSpPr>
          <p:cNvPr id="30" name="Text e30"/>
          <p:cNvSpPr txBox="1"/>
          <p:nvPr/>
        </p:nvSpPr>
        <p:spPr>
          <a:xfrm>
            <a:off x="3429000" y="6253124"/>
            <a:ext cx="888522"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READ-THROUGH</a:t>
            </a:r>
            <a:endParaRPr lang="en-US" sz="600" dirty="0"/>
          </a:p>
        </p:txBody>
      </p:sp>
      <p:sp>
        <p:nvSpPr>
          <p:cNvPr id="31" name="Text e31"/>
          <p:cNvSpPr txBox="1"/>
          <p:nvPr/>
        </p:nvSpPr>
        <p:spPr>
          <a:xfrm>
            <a:off x="3429000" y="6405555"/>
            <a:ext cx="1790670" cy="428671"/>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Inspection and service revenue is carrying growth while customers defer discretionary projects.</a:t>
            </a:r>
            <a:endParaRPr lang="en-US" sz="800" dirty="0"/>
          </a:p>
        </p:txBody>
      </p:sp>
      <p:sp>
        <p:nvSpPr>
          <p:cNvPr id="32" name="Shape e33"/>
          <p:cNvSpPr/>
          <p:nvPr/>
        </p:nvSpPr>
        <p:spPr>
          <a:xfrm>
            <a:off x="5467380" y="1238280"/>
            <a:ext cx="2019270" cy="419070"/>
          </a:xfrm>
          <a:prstGeom prst="rect">
            <a:avLst/>
          </a:prstGeom>
          <a:solidFill>
            <a:srgbClr val="1B1A1A"/>
          </a:solidFill>
          <a:ln/>
        </p:spPr>
        <p:txBody>
          <a:bodyPr/>
          <a:p/>
        </p:txBody>
      </p:sp>
      <p:pic>
        <p:nvPicPr>
          <p:cNvPr id="33" name="Icon e34">    </p:cNvPr>
          <p:cNvPicPr>
            <a:picLocks noChangeAspect="1"/>
          </p:cNvPicPr>
          <p:nvPr/>
        </p:nvPicPr>
        <p:blipFill>
          <a:blip r:embed="rId7"/>
          <a:stretch>
            <a:fillRect/>
          </a:stretch>
        </p:blipFill>
        <p:spPr>
          <a:xfrm>
            <a:off x="5581680" y="1343071"/>
            <a:ext cx="209580" cy="209580"/>
          </a:xfrm>
          <a:prstGeom prst="rect">
            <a:avLst/>
          </a:prstGeom>
        </p:spPr>
      </p:pic>
      <p:sp>
        <p:nvSpPr>
          <p:cNvPr id="34" name="Text e35"/>
          <p:cNvSpPr txBox="1"/>
          <p:nvPr/>
        </p:nvSpPr>
        <p:spPr>
          <a:xfrm>
            <a:off x="5886450" y="1321582"/>
            <a:ext cx="1485900" cy="238110"/>
          </a:xfrm>
          <a:prstGeom prst="rect">
            <a:avLst/>
          </a:prstGeom>
          <a:noFill/>
          <a:ln/>
        </p:spPr>
        <p:txBody>
          <a:bodyPr wrap="square" lIns="0" tIns="0" rIns="0" bIns="0" rtlCol="0" anchor="t"/>
          <a:lstStyle/>
          <a:p>
            <a:pPr algn="l" indent="0" marL="0">
              <a:lnSpc>
                <a:spcPts val="950"/>
              </a:lnSpc>
              <a:buNone/>
            </a:pPr>
            <a:r>
              <a:rPr lang="en-US" sz="700" b="1" spc="150" kern="0" dirty="0">
                <a:solidFill>
                  <a:srgbClr val="FFFFFF"/>
                </a:solidFill>
                <a:latin typeface="+mn-lt" pitchFamily="34" charset="0"/>
              </a:rPr>
              <a:t>ENGINEERING AND ENERGY DEMAND</a:t>
            </a:r>
            <a:endParaRPr lang="en-US" sz="700" dirty="0"/>
          </a:p>
        </p:txBody>
      </p:sp>
      <p:sp>
        <p:nvSpPr>
          <p:cNvPr id="35" name="Shape e36s2"/>
          <p:cNvSpPr/>
          <p:nvPr/>
        </p:nvSpPr>
        <p:spPr>
          <a:xfrm>
            <a:off x="5467380" y="2500335"/>
            <a:ext cx="2019270" cy="9510"/>
          </a:xfrm>
          <a:prstGeom prst="rect">
            <a:avLst/>
          </a:prstGeom>
          <a:solidFill>
            <a:srgbClr val="E3DCD3"/>
          </a:solidFill>
          <a:ln/>
        </p:spPr>
        <p:txBody>
          <a:bodyPr/>
          <a:p/>
        </p:txBody>
      </p:sp>
      <p:sp>
        <p:nvSpPr>
          <p:cNvPr id="36" name="Text e37"/>
          <p:cNvSpPr txBox="1"/>
          <p:nvPr/>
        </p:nvSpPr>
        <p:spPr>
          <a:xfrm>
            <a:off x="5467380" y="1716877"/>
            <a:ext cx="1863456" cy="119055"/>
          </a:xfrm>
          <a:prstGeom prst="rect">
            <a:avLst/>
          </a:prstGeom>
          <a:noFill/>
          <a:ln/>
        </p:spPr>
        <p:txBody>
          <a:bodyPr wrap="none" lIns="0" tIns="0" rIns="0" bIns="0" rtlCol="0" anchor="t"/>
          <a:lstStyle/>
          <a:p>
            <a:pPr algn="l" indent="0" marL="0">
              <a:lnSpc>
                <a:spcPts val="950"/>
              </a:lnSpc>
              <a:buNone/>
            </a:pPr>
            <a:r>
              <a:rPr lang="en-US" sz="700" b="1" dirty="0">
                <a:solidFill>
                  <a:srgbClr val="1B1A1A"/>
                </a:solidFill>
                <a:latin typeface="+mn-lt" pitchFamily="34" charset="0"/>
              </a:rPr>
              <a:t>Gord Johnston</a:t>
            </a:r>
            <a:pPr algn="l" indent="0" marL="0">
              <a:lnSpc>
                <a:spcPts val="950"/>
              </a:lnSpc>
              <a:buNone/>
            </a:pPr>
            <a:r>
              <a:rPr lang="en-US" sz="700" dirty="0">
                <a:solidFill>
                  <a:srgbClr val="6F6A66"/>
                </a:solidFill>
                <a:latin typeface="+mn-lt" pitchFamily="34" charset="0"/>
              </a:rPr>
              <a:t>, President and CEO, </a:t>
            </a:r>
            <a:pPr algn="l" indent="0" marL="0">
              <a:lnSpc>
                <a:spcPts val="950"/>
              </a:lnSpc>
              <a:buNone/>
            </a:pPr>
            <a:r>
              <a:rPr lang="en-US" sz="700" u="sng" dirty="0">
                <a:solidFill>
                  <a:srgbClr val="8C6239"/>
                </a:solidFill>
                <a:latin typeface="+mn-lt" pitchFamily="34" charset="0"/>
                <a:hlinkClick r:id="rId8" invalidUrl="" action="" tgtFrame="" tooltip="" history="1" highlightClick="0" endSnd="0">
                  <a:extLst>
                    <a:ext uri="{A12FA001-AC4F-418D-AE19-62706E023703}">
                      <ahyp:hlinkClr xmlns:ahyp="http://schemas.microsoft.com/office/drawing/2018/hyperlinkcolor" val="tx"/>
                    </a:ext>
                  </a:extLst>
                </a:hlinkClick>
              </a:rPr>
              <a:t>Stantec</a:t>
            </a:r>
            <a:endParaRPr lang="en-US" sz="700" dirty="0"/>
          </a:p>
        </p:txBody>
      </p:sp>
      <p:sp>
        <p:nvSpPr>
          <p:cNvPr id="37" name="Text e38"/>
          <p:cNvSpPr txBox="1"/>
          <p:nvPr/>
        </p:nvSpPr>
        <p:spPr>
          <a:xfrm>
            <a:off x="5467380" y="1864553"/>
            <a:ext cx="2019270" cy="55248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Said a record backlog of $9.2 billion supports stronger activity in the second half and keeps the company on track for its 2026 targets.</a:t>
            </a:r>
            <a:endParaRPr lang="en-US" sz="750" dirty="0"/>
          </a:p>
        </p:txBody>
      </p:sp>
      <p:sp>
        <p:nvSpPr>
          <p:cNvPr id="38" name="Shape e39s2"/>
          <p:cNvSpPr/>
          <p:nvPr/>
        </p:nvSpPr>
        <p:spPr>
          <a:xfrm>
            <a:off x="5467380" y="3471885"/>
            <a:ext cx="2019270" cy="9510"/>
          </a:xfrm>
          <a:prstGeom prst="rect">
            <a:avLst/>
          </a:prstGeom>
          <a:solidFill>
            <a:srgbClr val="E3DCD3"/>
          </a:solidFill>
          <a:ln/>
        </p:spPr>
        <p:txBody>
          <a:bodyPr/>
          <a:p/>
        </p:txBody>
      </p:sp>
      <p:sp>
        <p:nvSpPr>
          <p:cNvPr id="39" name="Text e40"/>
          <p:cNvSpPr txBox="1"/>
          <p:nvPr/>
        </p:nvSpPr>
        <p:spPr>
          <a:xfrm>
            <a:off x="5467380" y="2569373"/>
            <a:ext cx="2019270" cy="238110"/>
          </a:xfrm>
          <a:prstGeom prst="rect">
            <a:avLst/>
          </a:prstGeom>
          <a:noFill/>
          <a:ln/>
        </p:spPr>
        <p:txBody>
          <a:bodyPr wrap="square" lIns="0" tIns="0" rIns="0" bIns="0" rtlCol="0" anchor="t"/>
          <a:lstStyle/>
          <a:p>
            <a:pPr algn="l" indent="0" marL="0">
              <a:lnSpc>
                <a:spcPts val="950"/>
              </a:lnSpc>
              <a:buNone/>
            </a:pPr>
            <a:r>
              <a:rPr lang="en-US" sz="700" b="1" dirty="0">
                <a:solidFill>
                  <a:srgbClr val="1B1A1A"/>
                </a:solidFill>
                <a:latin typeface="+mn-lt" pitchFamily="34" charset="0"/>
              </a:rPr>
              <a:t>Mike Bieber</a:t>
            </a:r>
            <a:pPr algn="l" indent="0" marL="0">
              <a:lnSpc>
                <a:spcPts val="950"/>
              </a:lnSpc>
              <a:buNone/>
            </a:pPr>
            <a:r>
              <a:rPr lang="en-US" sz="700" dirty="0">
                <a:solidFill>
                  <a:srgbClr val="6F6A66"/>
                </a:solidFill>
                <a:latin typeface="+mn-lt" pitchFamily="34" charset="0"/>
              </a:rPr>
              <a:t>, President and Chief Executive Officer, </a:t>
            </a:r>
            <a:pPr algn="l" indent="0" marL="0">
              <a:lnSpc>
                <a:spcPts val="950"/>
              </a:lnSpc>
              <a:buNone/>
            </a:pPr>
            <a:r>
              <a:rPr lang="en-US" sz="700" u="sng" dirty="0">
                <a:solidFill>
                  <a:srgbClr val="8C6239"/>
                </a:solidFill>
                <a:latin typeface="+mn-lt" pitchFamily="34" charset="0"/>
                <a:hlinkClick r:id="rId9" invalidUrl="" action="" tgtFrame="" tooltip="" history="1" highlightClick="0" endSnd="0">
                  <a:extLst>
                    <a:ext uri="{A12FA001-AC4F-418D-AE19-62706E023703}">
                      <ahyp:hlinkClr xmlns:ahyp="http://schemas.microsoft.com/office/drawing/2018/hyperlinkcolor" val="tx"/>
                    </a:ext>
                  </a:extLst>
                </a:hlinkClick>
              </a:rPr>
              <a:t>Willdan Group</a:t>
            </a:r>
            <a:endParaRPr lang="en-US" sz="700" dirty="0"/>
          </a:p>
        </p:txBody>
      </p:sp>
      <p:sp>
        <p:nvSpPr>
          <p:cNvPr id="40" name="Text e41"/>
          <p:cNvSpPr txBox="1"/>
          <p:nvPr/>
        </p:nvSpPr>
        <p:spPr>
          <a:xfrm>
            <a:off x="5467380" y="2836103"/>
            <a:ext cx="2019270" cy="55248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Linked growth to strong demand for energy work as customers spend to serve rising electricity load and to improve grid reliability.</a:t>
            </a:r>
            <a:endParaRPr lang="en-US" sz="750" dirty="0"/>
          </a:p>
        </p:txBody>
      </p:sp>
      <p:sp>
        <p:nvSpPr>
          <p:cNvPr id="41" name="Shape e42s2"/>
          <p:cNvSpPr/>
          <p:nvPr/>
        </p:nvSpPr>
        <p:spPr>
          <a:xfrm>
            <a:off x="5467380" y="4443435"/>
            <a:ext cx="2019270" cy="9510"/>
          </a:xfrm>
          <a:prstGeom prst="rect">
            <a:avLst/>
          </a:prstGeom>
          <a:solidFill>
            <a:srgbClr val="E3DCD3"/>
          </a:solidFill>
          <a:ln/>
        </p:spPr>
        <p:txBody>
          <a:bodyPr/>
          <a:p/>
        </p:txBody>
      </p:sp>
      <p:sp>
        <p:nvSpPr>
          <p:cNvPr id="42" name="Text e43"/>
          <p:cNvSpPr txBox="1"/>
          <p:nvPr/>
        </p:nvSpPr>
        <p:spPr>
          <a:xfrm>
            <a:off x="5467380" y="3540923"/>
            <a:ext cx="2019270" cy="238110"/>
          </a:xfrm>
          <a:prstGeom prst="rect">
            <a:avLst/>
          </a:prstGeom>
          <a:noFill/>
          <a:ln/>
        </p:spPr>
        <p:txBody>
          <a:bodyPr wrap="square" lIns="0" tIns="0" rIns="0" bIns="0" rtlCol="0" anchor="t"/>
          <a:lstStyle/>
          <a:p>
            <a:pPr algn="l" indent="0" marL="0">
              <a:lnSpc>
                <a:spcPts val="950"/>
              </a:lnSpc>
              <a:buNone/>
            </a:pPr>
            <a:r>
              <a:rPr lang="en-US" sz="700" b="1" dirty="0">
                <a:solidFill>
                  <a:srgbClr val="1B1A1A"/>
                </a:solidFill>
                <a:latin typeface="+mn-lt" pitchFamily="34" charset="0"/>
              </a:rPr>
              <a:t>Gary Bowman</a:t>
            </a:r>
            <a:pPr algn="l" indent="0" marL="0">
              <a:lnSpc>
                <a:spcPts val="950"/>
              </a:lnSpc>
              <a:buNone/>
            </a:pPr>
            <a:r>
              <a:rPr lang="en-US" sz="700" dirty="0">
                <a:solidFill>
                  <a:srgbClr val="6F6A66"/>
                </a:solidFill>
                <a:latin typeface="+mn-lt" pitchFamily="34" charset="0"/>
              </a:rPr>
              <a:t>, founder and CEO, </a:t>
            </a:r>
            <a:pPr algn="l" indent="0" marL="0">
              <a:lnSpc>
                <a:spcPts val="950"/>
              </a:lnSpc>
              <a:buNone/>
            </a:pPr>
            <a:r>
              <a:rPr lang="en-US" sz="700" u="sng" dirty="0">
                <a:solidFill>
                  <a:srgbClr val="8C6239"/>
                </a:solidFill>
                <a:latin typeface="+mn-lt" pitchFamily="34" charset="0"/>
                <a:hlinkClick r:id="rId10" invalidUrl="" action="" tgtFrame="" tooltip="" history="1" highlightClick="0" endSnd="0">
                  <a:extLst>
                    <a:ext uri="{A12FA001-AC4F-418D-AE19-62706E023703}">
                      <ahyp:hlinkClr xmlns:ahyp="http://schemas.microsoft.com/office/drawing/2018/hyperlinkcolor" val="tx"/>
                    </a:ext>
                  </a:extLst>
                </a:hlinkClick>
              </a:rPr>
              <a:t>Bowman Consulting</a:t>
            </a:r>
            <a:endParaRPr lang="en-US" sz="700" dirty="0"/>
          </a:p>
        </p:txBody>
      </p:sp>
      <p:sp>
        <p:nvSpPr>
          <p:cNvPr id="43" name="Text e44"/>
          <p:cNvSpPr txBox="1"/>
          <p:nvPr/>
        </p:nvSpPr>
        <p:spPr>
          <a:xfrm>
            <a:off x="5467380" y="3807653"/>
            <a:ext cx="2019270" cy="55248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Said demand is healthy across the firm's markets, that recent wins open the way to larger infrastructure assignments and that backlog reached $659 million.</a:t>
            </a:r>
            <a:endParaRPr lang="en-US" sz="750" dirty="0"/>
          </a:p>
        </p:txBody>
      </p:sp>
      <p:sp>
        <p:nvSpPr>
          <p:cNvPr id="44" name="Shape e45s2"/>
          <p:cNvSpPr/>
          <p:nvPr/>
        </p:nvSpPr>
        <p:spPr>
          <a:xfrm>
            <a:off x="5467380" y="5157765"/>
            <a:ext cx="2019270" cy="9510"/>
          </a:xfrm>
          <a:prstGeom prst="rect">
            <a:avLst/>
          </a:prstGeom>
          <a:solidFill>
            <a:srgbClr val="E3DCD3"/>
          </a:solidFill>
          <a:ln/>
        </p:spPr>
        <p:txBody>
          <a:bodyPr/>
          <a:p/>
        </p:txBody>
      </p:sp>
      <p:sp>
        <p:nvSpPr>
          <p:cNvPr id="45" name="Text e46"/>
          <p:cNvSpPr txBox="1"/>
          <p:nvPr/>
        </p:nvSpPr>
        <p:spPr>
          <a:xfrm>
            <a:off x="5467380" y="4512473"/>
            <a:ext cx="2043684" cy="119055"/>
          </a:xfrm>
          <a:prstGeom prst="rect">
            <a:avLst/>
          </a:prstGeom>
          <a:noFill/>
          <a:ln/>
        </p:spPr>
        <p:txBody>
          <a:bodyPr wrap="none" lIns="0" tIns="0" rIns="0" bIns="0" rtlCol="0" anchor="t"/>
          <a:lstStyle/>
          <a:p>
            <a:pPr algn="l" indent="0" marL="0">
              <a:lnSpc>
                <a:spcPts val="950"/>
              </a:lnSpc>
              <a:buNone/>
            </a:pPr>
            <a:r>
              <a:rPr lang="en-US" sz="700" b="1" dirty="0">
                <a:solidFill>
                  <a:srgbClr val="1B1A1A"/>
                </a:solidFill>
                <a:latin typeface="+mn-lt" pitchFamily="34" charset="0"/>
              </a:rPr>
              <a:t>Roger Argus</a:t>
            </a:r>
            <a:pPr algn="l" indent="0" marL="0">
              <a:lnSpc>
                <a:spcPts val="950"/>
              </a:lnSpc>
              <a:buNone/>
            </a:pPr>
            <a:r>
              <a:rPr lang="en-US" sz="700" dirty="0">
                <a:solidFill>
                  <a:srgbClr val="6F6A66"/>
                </a:solidFill>
                <a:latin typeface="+mn-lt" pitchFamily="34" charset="0"/>
              </a:rPr>
              <a:t>, Chief Executive Officer, </a:t>
            </a:r>
            <a:pPr algn="l" indent="0" marL="0">
              <a:lnSpc>
                <a:spcPts val="950"/>
              </a:lnSpc>
              <a:buNone/>
            </a:pPr>
            <a:r>
              <a:rPr lang="en-US" sz="700" u="sng" dirty="0">
                <a:solidFill>
                  <a:srgbClr val="8C6239"/>
                </a:solidFill>
                <a:latin typeface="+mn-lt" pitchFamily="34" charset="0"/>
                <a:hlinkClick r:id="rId11" invalidUrl="" action="" tgtFrame="" tooltip="" history="1" highlightClick="0" endSnd="0">
                  <a:extLst>
                    <a:ext uri="{A12FA001-AC4F-418D-AE19-62706E023703}">
                      <ahyp:hlinkClr xmlns:ahyp="http://schemas.microsoft.com/office/drawing/2018/hyperlinkcolor" val="tx"/>
                    </a:ext>
                  </a:extLst>
                </a:hlinkClick>
              </a:rPr>
              <a:t>Tetra Tech</a:t>
            </a:r>
            <a:endParaRPr lang="en-US" sz="700" dirty="0"/>
          </a:p>
        </p:txBody>
      </p:sp>
      <p:sp>
        <p:nvSpPr>
          <p:cNvPr id="46" name="Text e47"/>
          <p:cNvSpPr txBox="1"/>
          <p:nvPr/>
        </p:nvSpPr>
        <p:spPr>
          <a:xfrm>
            <a:off x="5467380" y="4660148"/>
            <a:ext cx="2019270" cy="414315"/>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Attributed a strong quarter mainly to US federal and international markets, each of which grew at a double-digit rate.</a:t>
            </a:r>
            <a:endParaRPr lang="en-US" sz="750" dirty="0"/>
          </a:p>
        </p:txBody>
      </p:sp>
      <p:sp>
        <p:nvSpPr>
          <p:cNvPr id="47" name="Shape e48"/>
          <p:cNvSpPr/>
          <p:nvPr/>
        </p:nvSpPr>
        <p:spPr>
          <a:xfrm>
            <a:off x="5467380" y="6000750"/>
            <a:ext cx="2019270" cy="933420"/>
          </a:xfrm>
          <a:prstGeom prst="rect">
            <a:avLst/>
          </a:prstGeom>
          <a:solidFill>
            <a:srgbClr val="FAF7F3"/>
          </a:solidFill>
          <a:ln/>
        </p:spPr>
        <p:txBody>
          <a:bodyPr/>
          <a:p/>
        </p:txBody>
      </p:sp>
      <p:sp>
        <p:nvSpPr>
          <p:cNvPr id="48" name="Shape e48s0"/>
          <p:cNvSpPr/>
          <p:nvPr/>
        </p:nvSpPr>
        <p:spPr>
          <a:xfrm>
            <a:off x="5467380" y="6000750"/>
            <a:ext cx="2019270" cy="28621"/>
          </a:xfrm>
          <a:prstGeom prst="rect">
            <a:avLst/>
          </a:prstGeom>
          <a:solidFill>
            <a:srgbClr val="B68757"/>
          </a:solidFill>
          <a:ln/>
        </p:spPr>
        <p:txBody>
          <a:bodyPr/>
          <a:p/>
        </p:txBody>
      </p:sp>
      <p:sp>
        <p:nvSpPr>
          <p:cNvPr id="49" name="Text e49"/>
          <p:cNvSpPr txBox="1"/>
          <p:nvPr/>
        </p:nvSpPr>
        <p:spPr>
          <a:xfrm>
            <a:off x="5581680" y="6110295"/>
            <a:ext cx="888522"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READ-THROUGH</a:t>
            </a:r>
            <a:endParaRPr lang="en-US" sz="600" dirty="0"/>
          </a:p>
        </p:txBody>
      </p:sp>
      <p:sp>
        <p:nvSpPr>
          <p:cNvPr id="50" name="Text e50"/>
          <p:cNvSpPr txBox="1"/>
          <p:nvPr/>
        </p:nvSpPr>
        <p:spPr>
          <a:xfrm>
            <a:off x="5581680" y="6262726"/>
            <a:ext cx="1790670" cy="57150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Power, water and infrastructure work is filling backlogs, and buyers are paying for the licensed staff who deliver it.</a:t>
            </a:r>
            <a:endParaRPr lang="en-US" sz="800" dirty="0"/>
          </a:p>
        </p:txBody>
      </p:sp>
      <p:sp>
        <p:nvSpPr>
          <p:cNvPr id="51" name="Shape e52"/>
          <p:cNvSpPr/>
          <p:nvPr/>
        </p:nvSpPr>
        <p:spPr>
          <a:xfrm>
            <a:off x="7619970" y="1238280"/>
            <a:ext cx="2019270" cy="419070"/>
          </a:xfrm>
          <a:prstGeom prst="rect">
            <a:avLst/>
          </a:prstGeom>
          <a:solidFill>
            <a:srgbClr val="1B1A1A"/>
          </a:solidFill>
          <a:ln/>
        </p:spPr>
        <p:txBody>
          <a:bodyPr/>
          <a:p/>
        </p:txBody>
      </p:sp>
      <p:pic>
        <p:nvPicPr>
          <p:cNvPr id="52" name="Icon e53">    </p:cNvPr>
          <p:cNvPicPr>
            <a:picLocks noChangeAspect="1"/>
          </p:cNvPicPr>
          <p:nvPr/>
        </p:nvPicPr>
        <p:blipFill>
          <a:blip r:embed="rId12"/>
          <a:stretch>
            <a:fillRect/>
          </a:stretch>
        </p:blipFill>
        <p:spPr>
          <a:xfrm>
            <a:off x="7734270" y="1343071"/>
            <a:ext cx="209580" cy="209580"/>
          </a:xfrm>
          <a:prstGeom prst="rect">
            <a:avLst/>
          </a:prstGeom>
        </p:spPr>
      </p:pic>
      <p:sp>
        <p:nvSpPr>
          <p:cNvPr id="53" name="Text e54"/>
          <p:cNvSpPr txBox="1"/>
          <p:nvPr/>
        </p:nvSpPr>
        <p:spPr>
          <a:xfrm>
            <a:off x="8039130" y="1321582"/>
            <a:ext cx="1485900" cy="238110"/>
          </a:xfrm>
          <a:prstGeom prst="rect">
            <a:avLst/>
          </a:prstGeom>
          <a:noFill/>
          <a:ln/>
        </p:spPr>
        <p:txBody>
          <a:bodyPr wrap="square" lIns="0" tIns="0" rIns="0" bIns="0" rtlCol="0" anchor="t"/>
          <a:lstStyle/>
          <a:p>
            <a:pPr algn="l" indent="0" marL="0">
              <a:lnSpc>
                <a:spcPts val="950"/>
              </a:lnSpc>
              <a:buNone/>
            </a:pPr>
            <a:r>
              <a:rPr lang="en-US" sz="700" b="1" spc="150" kern="0" dirty="0">
                <a:solidFill>
                  <a:srgbClr val="FFFFFF"/>
                </a:solidFill>
                <a:latin typeface="+mn-lt" pitchFamily="34" charset="0"/>
              </a:rPr>
              <a:t>HIRING AND CLIENT BUDGETS</a:t>
            </a:r>
            <a:endParaRPr lang="en-US" sz="700" dirty="0"/>
          </a:p>
        </p:txBody>
      </p:sp>
      <p:sp>
        <p:nvSpPr>
          <p:cNvPr id="54" name="Shape e55s2"/>
          <p:cNvSpPr/>
          <p:nvPr/>
        </p:nvSpPr>
        <p:spPr>
          <a:xfrm>
            <a:off x="7619970" y="2638410"/>
            <a:ext cx="2019270" cy="9510"/>
          </a:xfrm>
          <a:prstGeom prst="rect">
            <a:avLst/>
          </a:prstGeom>
          <a:solidFill>
            <a:srgbClr val="E3DCD3"/>
          </a:solidFill>
          <a:ln/>
        </p:spPr>
        <p:txBody>
          <a:bodyPr/>
          <a:p/>
        </p:txBody>
      </p:sp>
      <p:sp>
        <p:nvSpPr>
          <p:cNvPr id="55" name="Text e56"/>
          <p:cNvSpPr txBox="1"/>
          <p:nvPr/>
        </p:nvSpPr>
        <p:spPr>
          <a:xfrm>
            <a:off x="7619970" y="1716877"/>
            <a:ext cx="2019270" cy="119055"/>
          </a:xfrm>
          <a:prstGeom prst="rect">
            <a:avLst/>
          </a:prstGeom>
          <a:noFill/>
          <a:ln/>
        </p:spPr>
        <p:txBody>
          <a:bodyPr wrap="none" lIns="0" tIns="0" rIns="0" bIns="0" rtlCol="0" anchor="t"/>
          <a:lstStyle/>
          <a:p>
            <a:pPr algn="r" indent="0" marL="0">
              <a:lnSpc>
                <a:spcPts val="950"/>
              </a:lnSpc>
              <a:buNone/>
            </a:pPr>
            <a:r>
              <a:rPr lang="en-US" sz="700" b="1" dirty="0">
                <a:solidFill>
                  <a:srgbClr val="1B1A1A"/>
                </a:solidFill>
                <a:latin typeface="+mn-lt" pitchFamily="34" charset="0"/>
              </a:rPr>
              <a:t>Jonas Prising</a:t>
            </a:r>
            <a:pPr algn="r" indent="0" marL="0">
              <a:lnSpc>
                <a:spcPts val="950"/>
              </a:lnSpc>
              <a:buNone/>
            </a:pPr>
            <a:r>
              <a:rPr lang="en-US" sz="700" dirty="0">
                <a:solidFill>
                  <a:srgbClr val="6F6A66"/>
                </a:solidFill>
                <a:latin typeface="+mn-lt" pitchFamily="34" charset="0"/>
              </a:rPr>
              <a:t>, Chair and CEO, </a:t>
            </a:r>
            <a:pPr algn="r" indent="0" marL="0">
              <a:lnSpc>
                <a:spcPts val="950"/>
              </a:lnSpc>
              <a:buNone/>
            </a:pPr>
            <a:r>
              <a:rPr lang="en-US" sz="700" u="sng" dirty="0">
                <a:solidFill>
                  <a:srgbClr val="8C6239"/>
                </a:solidFill>
                <a:latin typeface="+mn-lt" pitchFamily="34" charset="0"/>
                <a:hlinkClick r:id="rId13" invalidUrl="" action="" tgtFrame="" tooltip="" history="1" highlightClick="0" endSnd="0">
                  <a:extLst>
                    <a:ext uri="{A12FA001-AC4F-418D-AE19-62706E023703}">
                      <ahyp:hlinkClr xmlns:ahyp="http://schemas.microsoft.com/office/drawing/2018/hyperlinkcolor" val="tx"/>
                    </a:ext>
                  </a:extLst>
                </a:hlinkClick>
              </a:rPr>
              <a:t>ManpowerGroup</a:t>
            </a:r>
            <a:endParaRPr lang="en-US" sz="700" dirty="0"/>
          </a:p>
        </p:txBody>
      </p:sp>
      <p:sp>
        <p:nvSpPr>
          <p:cNvPr id="56" name="Text e57"/>
          <p:cNvSpPr txBox="1"/>
          <p:nvPr/>
        </p:nvSpPr>
        <p:spPr>
          <a:xfrm>
            <a:off x="7619970" y="1864553"/>
            <a:ext cx="2019270" cy="690555"/>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Said revenue beat expectations as demand improved, with very strong growth in the Manpower brand and better trends in the firm's professional and outsourcing businesses.</a:t>
            </a:r>
            <a:endParaRPr lang="en-US" sz="750" dirty="0"/>
          </a:p>
        </p:txBody>
      </p:sp>
      <p:sp>
        <p:nvSpPr>
          <p:cNvPr id="57" name="Shape e58s2"/>
          <p:cNvSpPr/>
          <p:nvPr/>
        </p:nvSpPr>
        <p:spPr>
          <a:xfrm>
            <a:off x="7619970" y="3609960"/>
            <a:ext cx="2019270" cy="9510"/>
          </a:xfrm>
          <a:prstGeom prst="rect">
            <a:avLst/>
          </a:prstGeom>
          <a:solidFill>
            <a:srgbClr val="E3DCD3"/>
          </a:solidFill>
          <a:ln/>
        </p:spPr>
        <p:txBody>
          <a:bodyPr/>
          <a:p/>
        </p:txBody>
      </p:sp>
      <p:sp>
        <p:nvSpPr>
          <p:cNvPr id="58" name="Text e59"/>
          <p:cNvSpPr txBox="1"/>
          <p:nvPr/>
        </p:nvSpPr>
        <p:spPr>
          <a:xfrm>
            <a:off x="7619970" y="2707447"/>
            <a:ext cx="2019270" cy="238110"/>
          </a:xfrm>
          <a:prstGeom prst="rect">
            <a:avLst/>
          </a:prstGeom>
          <a:noFill/>
          <a:ln/>
        </p:spPr>
        <p:txBody>
          <a:bodyPr wrap="square" lIns="0" tIns="0" rIns="0" bIns="0" rtlCol="0" anchor="t"/>
          <a:lstStyle/>
          <a:p>
            <a:pPr algn="l" indent="0" marL="0">
              <a:lnSpc>
                <a:spcPts val="950"/>
              </a:lnSpc>
              <a:buNone/>
            </a:pPr>
            <a:r>
              <a:rPr lang="en-US" sz="700" b="1" dirty="0">
                <a:solidFill>
                  <a:srgbClr val="1B1A1A"/>
                </a:solidFill>
                <a:latin typeface="+mn-lt" pitchFamily="34" charset="0"/>
              </a:rPr>
              <a:t>Joseph J. Liberatore</a:t>
            </a:r>
            <a:pPr algn="l" indent="0" marL="0">
              <a:lnSpc>
                <a:spcPts val="950"/>
              </a:lnSpc>
              <a:buNone/>
            </a:pPr>
            <a:r>
              <a:rPr lang="en-US" sz="700" dirty="0">
                <a:solidFill>
                  <a:srgbClr val="6F6A66"/>
                </a:solidFill>
                <a:latin typeface="+mn-lt" pitchFamily="34" charset="0"/>
              </a:rPr>
              <a:t>, President and CEO, </a:t>
            </a:r>
            <a:pPr algn="l" indent="0" marL="0">
              <a:lnSpc>
                <a:spcPts val="950"/>
              </a:lnSpc>
              <a:buNone/>
            </a:pPr>
            <a:r>
              <a:rPr lang="en-US" sz="700" u="sng" dirty="0">
                <a:solidFill>
                  <a:srgbClr val="8C6239"/>
                </a:solidFill>
                <a:latin typeface="+mn-lt" pitchFamily="34" charset="0"/>
                <a:hlinkClick r:id="rId14" invalidUrl="" action="" tgtFrame="" tooltip="" history="1" highlightClick="0" endSnd="0">
                  <a:extLst>
                    <a:ext uri="{A12FA001-AC4F-418D-AE19-62706E023703}">
                      <ahyp:hlinkClr xmlns:ahyp="http://schemas.microsoft.com/office/drawing/2018/hyperlinkcolor" val="tx"/>
                    </a:ext>
                  </a:extLst>
                </a:hlinkClick>
              </a:rPr>
              <a:t>Kforce</a:t>
            </a:r>
            <a:endParaRPr lang="en-US" sz="700" dirty="0"/>
          </a:p>
        </p:txBody>
      </p:sp>
      <p:sp>
        <p:nvSpPr>
          <p:cNvPr id="59" name="Text e60"/>
          <p:cNvSpPr txBox="1"/>
          <p:nvPr/>
        </p:nvSpPr>
        <p:spPr>
          <a:xfrm>
            <a:off x="7619970" y="2974177"/>
            <a:ext cx="2019270" cy="55248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Said clients that are wary of adding permanent headcount are turning to flexible talent for their technology initiatives.</a:t>
            </a:r>
            <a:endParaRPr lang="en-US" sz="750" dirty="0"/>
          </a:p>
        </p:txBody>
      </p:sp>
      <p:sp>
        <p:nvSpPr>
          <p:cNvPr id="60" name="Shape e61s2"/>
          <p:cNvSpPr/>
          <p:nvPr/>
        </p:nvSpPr>
        <p:spPr>
          <a:xfrm>
            <a:off x="7619970" y="4462455"/>
            <a:ext cx="2019270" cy="9510"/>
          </a:xfrm>
          <a:prstGeom prst="rect">
            <a:avLst/>
          </a:prstGeom>
          <a:solidFill>
            <a:srgbClr val="E3DCD3"/>
          </a:solidFill>
          <a:ln/>
        </p:spPr>
        <p:txBody>
          <a:bodyPr/>
          <a:p/>
        </p:txBody>
      </p:sp>
      <p:sp>
        <p:nvSpPr>
          <p:cNvPr id="61" name="Text e62"/>
          <p:cNvSpPr txBox="1"/>
          <p:nvPr/>
        </p:nvSpPr>
        <p:spPr>
          <a:xfrm>
            <a:off x="7619970" y="3678997"/>
            <a:ext cx="2019270" cy="119055"/>
          </a:xfrm>
          <a:prstGeom prst="rect">
            <a:avLst/>
          </a:prstGeom>
          <a:noFill/>
          <a:ln/>
        </p:spPr>
        <p:txBody>
          <a:bodyPr wrap="none" lIns="0" tIns="0" rIns="0" bIns="0" rtlCol="0" anchor="t"/>
          <a:lstStyle/>
          <a:p>
            <a:pPr algn="r" indent="0" marL="0">
              <a:lnSpc>
                <a:spcPts val="950"/>
              </a:lnSpc>
              <a:buNone/>
            </a:pPr>
            <a:r>
              <a:rPr lang="en-US" sz="700" b="1" dirty="0">
                <a:solidFill>
                  <a:srgbClr val="1B1A1A"/>
                </a:solidFill>
                <a:latin typeface="+mn-lt" pitchFamily="34" charset="0"/>
              </a:rPr>
              <a:t>Dave Peacock</a:t>
            </a:r>
            <a:pPr algn="r" indent="0" marL="0">
              <a:lnSpc>
                <a:spcPts val="950"/>
              </a:lnSpc>
              <a:buNone/>
            </a:pPr>
            <a:r>
              <a:rPr lang="en-US" sz="700" dirty="0">
                <a:solidFill>
                  <a:srgbClr val="6F6A66"/>
                </a:solidFill>
                <a:latin typeface="+mn-lt" pitchFamily="34" charset="0"/>
              </a:rPr>
              <a:t>, CEO, </a:t>
            </a:r>
            <a:pPr algn="r" indent="0" marL="0">
              <a:lnSpc>
                <a:spcPts val="950"/>
              </a:lnSpc>
              <a:buNone/>
            </a:pPr>
            <a:r>
              <a:rPr lang="en-US" sz="700" u="sng" dirty="0">
                <a:solidFill>
                  <a:srgbClr val="8C6239"/>
                </a:solidFill>
                <a:latin typeface="+mn-lt" pitchFamily="34" charset="0"/>
                <a:hlinkClick r:id="rId15" invalidUrl="" action="" tgtFrame="" tooltip="" history="1" highlightClick="0" endSnd="0">
                  <a:extLst>
                    <a:ext uri="{A12FA001-AC4F-418D-AE19-62706E023703}">
                      <ahyp:hlinkClr xmlns:ahyp="http://schemas.microsoft.com/office/drawing/2018/hyperlinkcolor" val="tx"/>
                    </a:ext>
                  </a:extLst>
                </a:hlinkClick>
              </a:rPr>
              <a:t>Advantage Solutions</a:t>
            </a:r>
            <a:endParaRPr lang="en-US" sz="700" dirty="0"/>
          </a:p>
        </p:txBody>
      </p:sp>
      <p:sp>
        <p:nvSpPr>
          <p:cNvPr id="62" name="Text e63"/>
          <p:cNvSpPr txBox="1"/>
          <p:nvPr/>
        </p:nvSpPr>
        <p:spPr>
          <a:xfrm>
            <a:off x="7619970" y="3826673"/>
            <a:ext cx="2019270" cy="55248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Said clients favor programs with measurable returns, with demand accelerating in experiential services and a slower recovery in branded services.</a:t>
            </a:r>
            <a:endParaRPr lang="en-US" sz="750" dirty="0"/>
          </a:p>
        </p:txBody>
      </p:sp>
      <p:sp>
        <p:nvSpPr>
          <p:cNvPr id="63" name="Shape e64s2"/>
          <p:cNvSpPr/>
          <p:nvPr/>
        </p:nvSpPr>
        <p:spPr>
          <a:xfrm>
            <a:off x="7619970" y="5295930"/>
            <a:ext cx="2019270" cy="9510"/>
          </a:xfrm>
          <a:prstGeom prst="rect">
            <a:avLst/>
          </a:prstGeom>
          <a:solidFill>
            <a:srgbClr val="E3DCD3"/>
          </a:solidFill>
          <a:ln/>
        </p:spPr>
        <p:txBody>
          <a:bodyPr/>
          <a:p/>
        </p:txBody>
      </p:sp>
      <p:sp>
        <p:nvSpPr>
          <p:cNvPr id="64" name="Text e65"/>
          <p:cNvSpPr txBox="1"/>
          <p:nvPr/>
        </p:nvSpPr>
        <p:spPr>
          <a:xfrm>
            <a:off x="7619970" y="4531492"/>
            <a:ext cx="2019270" cy="238110"/>
          </a:xfrm>
          <a:prstGeom prst="rect">
            <a:avLst/>
          </a:prstGeom>
          <a:noFill/>
          <a:ln/>
        </p:spPr>
        <p:txBody>
          <a:bodyPr wrap="square" lIns="0" tIns="0" rIns="0" bIns="0" rtlCol="0" anchor="t"/>
          <a:lstStyle/>
          <a:p>
            <a:pPr algn="l" indent="0" marL="0">
              <a:lnSpc>
                <a:spcPts val="950"/>
              </a:lnSpc>
              <a:buNone/>
            </a:pPr>
            <a:r>
              <a:rPr lang="en-US" sz="700" b="1" dirty="0">
                <a:solidFill>
                  <a:srgbClr val="1B1A1A"/>
                </a:solidFill>
                <a:latin typeface="+mn-lt" pitchFamily="34" charset="0"/>
              </a:rPr>
              <a:t>M. Keith Waddell</a:t>
            </a:r>
            <a:pPr algn="l" indent="0" marL="0">
              <a:lnSpc>
                <a:spcPts val="950"/>
              </a:lnSpc>
              <a:buNone/>
            </a:pPr>
            <a:r>
              <a:rPr lang="en-US" sz="700" dirty="0">
                <a:solidFill>
                  <a:srgbClr val="6F6A66"/>
                </a:solidFill>
                <a:latin typeface="+mn-lt" pitchFamily="34" charset="0"/>
              </a:rPr>
              <a:t>, president and chief executive officer, </a:t>
            </a:r>
            <a:pPr algn="l" indent="0" marL="0">
              <a:lnSpc>
                <a:spcPts val="950"/>
              </a:lnSpc>
              <a:buNone/>
            </a:pPr>
            <a:r>
              <a:rPr lang="en-US" sz="700" u="sng" dirty="0">
                <a:solidFill>
                  <a:srgbClr val="8C6239"/>
                </a:solidFill>
                <a:latin typeface="+mn-lt" pitchFamily="34" charset="0"/>
                <a:hlinkClick r:id="rId16" invalidUrl="" action="" tgtFrame="" tooltip="" history="1" highlightClick="0" endSnd="0">
                  <a:extLst>
                    <a:ext uri="{A12FA001-AC4F-418D-AE19-62706E023703}">
                      <ahyp:hlinkClr xmlns:ahyp="http://schemas.microsoft.com/office/drawing/2018/hyperlinkcolor" val="tx"/>
                    </a:ext>
                  </a:extLst>
                </a:hlinkClick>
              </a:rPr>
              <a:t>Robert Half</a:t>
            </a:r>
            <a:endParaRPr lang="en-US" sz="700" dirty="0"/>
          </a:p>
        </p:txBody>
      </p:sp>
      <p:sp>
        <p:nvSpPr>
          <p:cNvPr id="65" name="Text e66"/>
          <p:cNvSpPr txBox="1"/>
          <p:nvPr/>
        </p:nvSpPr>
        <p:spPr>
          <a:xfrm>
            <a:off x="7619970" y="4798223"/>
            <a:ext cx="2019270" cy="414315"/>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Said hiring demand keeps improving and that market conditions are becoming more supportive.</a:t>
            </a:r>
            <a:endParaRPr lang="en-US" sz="750" dirty="0"/>
          </a:p>
        </p:txBody>
      </p:sp>
      <p:sp>
        <p:nvSpPr>
          <p:cNvPr id="66" name="Shape e67"/>
          <p:cNvSpPr/>
          <p:nvPr/>
        </p:nvSpPr>
        <p:spPr>
          <a:xfrm>
            <a:off x="7619970" y="6000750"/>
            <a:ext cx="2019270" cy="933420"/>
          </a:xfrm>
          <a:prstGeom prst="rect">
            <a:avLst/>
          </a:prstGeom>
          <a:solidFill>
            <a:srgbClr val="FAF7F3"/>
          </a:solidFill>
          <a:ln/>
        </p:spPr>
        <p:txBody>
          <a:bodyPr/>
          <a:p/>
        </p:txBody>
      </p:sp>
      <p:sp>
        <p:nvSpPr>
          <p:cNvPr id="67" name="Shape e67s0"/>
          <p:cNvSpPr/>
          <p:nvPr/>
        </p:nvSpPr>
        <p:spPr>
          <a:xfrm>
            <a:off x="7619970" y="6000750"/>
            <a:ext cx="2019270" cy="28621"/>
          </a:xfrm>
          <a:prstGeom prst="rect">
            <a:avLst/>
          </a:prstGeom>
          <a:solidFill>
            <a:srgbClr val="B68757"/>
          </a:solidFill>
          <a:ln/>
        </p:spPr>
        <p:txBody>
          <a:bodyPr/>
          <a:p/>
        </p:txBody>
      </p:sp>
      <p:sp>
        <p:nvSpPr>
          <p:cNvPr id="68" name="Text e68"/>
          <p:cNvSpPr txBox="1"/>
          <p:nvPr/>
        </p:nvSpPr>
        <p:spPr>
          <a:xfrm>
            <a:off x="7734270" y="6110295"/>
            <a:ext cx="888522" cy="123810"/>
          </a:xfrm>
          <a:prstGeom prst="rect">
            <a:avLst/>
          </a:prstGeom>
          <a:noFill/>
          <a:ln/>
        </p:spPr>
        <p:txBody>
          <a:bodyPr wrap="none" lIns="0" tIns="0" rIns="0" bIns="0" rtlCol="0" anchor="t"/>
          <a:lstStyle/>
          <a:p>
            <a:pPr algn="l" indent="0" marL="0">
              <a:lnSpc>
                <a:spcPts val="1000"/>
              </a:lnSpc>
              <a:buNone/>
            </a:pPr>
            <a:r>
              <a:rPr lang="en-US" sz="600" b="1" spc="150" kern="0" dirty="0">
                <a:solidFill>
                  <a:srgbClr val="8C6239"/>
                </a:solidFill>
                <a:latin typeface="+mn-lt" pitchFamily="34" charset="0"/>
              </a:rPr>
              <a:t>READ-THROUGH</a:t>
            </a:r>
            <a:endParaRPr lang="en-US" sz="600" dirty="0"/>
          </a:p>
        </p:txBody>
      </p:sp>
      <p:sp>
        <p:nvSpPr>
          <p:cNvPr id="69" name="Text e69"/>
          <p:cNvSpPr txBox="1"/>
          <p:nvPr/>
        </p:nvSpPr>
        <p:spPr>
          <a:xfrm>
            <a:off x="7734270" y="6262726"/>
            <a:ext cx="1790670" cy="571500"/>
          </a:xfrm>
          <a:prstGeom prst="rect">
            <a:avLst/>
          </a:prstGeom>
          <a:noFill/>
          <a:ln/>
        </p:spPr>
        <p:txBody>
          <a:bodyPr wrap="square" lIns="0" tIns="0" rIns="0" bIns="0" rtlCol="0" anchor="t"/>
          <a:lstStyle/>
          <a:p>
            <a:pPr algn="l" indent="0" marL="0">
              <a:lnSpc>
                <a:spcPts val="1150"/>
              </a:lnSpc>
              <a:buNone/>
            </a:pPr>
            <a:r>
              <a:rPr lang="en-US" sz="800" dirty="0">
                <a:solidFill>
                  <a:srgbClr val="333231"/>
                </a:solidFill>
                <a:latin typeface="+mn-lt" pitchFamily="34" charset="0"/>
              </a:rPr>
              <a:t>Staffing demand is returning, and marketing clients are concentrating spend where results can be measured.</a:t>
            </a:r>
            <a:endParaRPr lang="en-US" sz="800" dirty="0"/>
          </a:p>
        </p:txBody>
      </p:sp>
      <p:sp>
        <p:nvSpPr>
          <p:cNvPr id="70" name="Shape e70"/>
          <p:cNvSpPr/>
          <p:nvPr/>
        </p:nvSpPr>
        <p:spPr>
          <a:xfrm>
            <a:off x="419070" y="7029450"/>
            <a:ext cx="9220170" cy="9510"/>
          </a:xfrm>
          <a:prstGeom prst="ellipse">
            <a:avLst/>
          </a:prstGeom>
          <a:solidFill>
            <a:srgbClr val="E3DCD3"/>
          </a:solidFill>
          <a:ln/>
        </p:spPr>
        <p:txBody>
          <a:bodyPr/>
          <a:p/>
        </p:txBody>
      </p:sp>
      <p:pic>
        <p:nvPicPr>
          <p:cNvPr id="71" name="Picture e71" descr="Benchmark International">    </p:cNvPr>
          <p:cNvPicPr>
            <a:picLocks noChangeAspect="1"/>
          </p:cNvPicPr>
          <p:nvPr/>
        </p:nvPicPr>
        <p:blipFill>
          <a:blip r:embed="rId17"/>
          <a:stretch>
            <a:fillRect/>
          </a:stretch>
        </p:blipFill>
        <p:spPr>
          <a:xfrm>
            <a:off x="419070" y="7143750"/>
            <a:ext cx="914400" cy="171450"/>
          </a:xfrm>
          <a:prstGeom prst="rect">
            <a:avLst/>
          </a:prstGeom>
        </p:spPr>
      </p:pic>
      <p:sp>
        <p:nvSpPr>
          <p:cNvPr id="72" name="Text e72"/>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Figures are from each earnings release, linked from the company name. Commentary is summarized in our own words. Stantec and Willdan are on net revenue, Korn Ferry is on fee revenue, and Crawford is computed from stated revenue. Omnicom, Tetra Tech and Baldwin state no comparable change and are not charted.</a:t>
            </a:r>
            <a:endParaRPr lang="en-US" sz="700" dirty="0"/>
          </a:p>
        </p:txBody>
      </p:sp>
      <p:sp>
        <p:nvSpPr>
          <p:cNvPr id="73" name="Text e73"/>
          <p:cNvSpPr txBox="1"/>
          <p:nvPr/>
        </p:nvSpPr>
        <p:spPr>
          <a:xfrm>
            <a:off x="9517258" y="7162770"/>
            <a:ext cx="12381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2050816"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Economic Trends</a:t>
            </a:r>
            <a:endParaRPr lang="en-US" sz="2050" dirty="0"/>
          </a:p>
        </p:txBody>
      </p:sp>
      <p:sp>
        <p:nvSpPr>
          <p:cNvPr id="6" name="Text e5"/>
          <p:cNvSpPr txBox="1"/>
          <p:nvPr/>
        </p:nvSpPr>
        <p:spPr>
          <a:xfrm>
            <a:off x="419070" y="883402"/>
            <a:ext cx="7128297"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Growth is positive, hiring has slowed, long-term yields are higher than a year ago and engineering employment keeps rising.</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2971800" cy="2781330"/>
          </a:xfrm>
          <a:prstGeom prst="rect">
            <a:avLst/>
          </a:prstGeom>
          <a:solidFill>
            <a:srgbClr val="FAF7F3"/>
          </a:solidFill>
          <a:ln/>
        </p:spPr>
        <p:txBody>
          <a:bodyPr/>
          <a:p/>
        </p:txBody>
      </p:sp>
      <p:sp>
        <p:nvSpPr>
          <p:cNvPr id="9" name="Shape e9s0"/>
          <p:cNvSpPr/>
          <p:nvPr/>
        </p:nvSpPr>
        <p:spPr>
          <a:xfrm>
            <a:off x="419070" y="1238280"/>
            <a:ext cx="2971800" cy="28621"/>
          </a:xfrm>
          <a:prstGeom prst="rect">
            <a:avLst/>
          </a:prstGeom>
          <a:solidFill>
            <a:srgbClr val="B68757"/>
          </a:solidFill>
          <a:ln/>
        </p:spPr>
        <p:txBody>
          <a:bodyPr/>
          <a:p/>
        </p:txBody>
      </p:sp>
      <p:sp>
        <p:nvSpPr>
          <p:cNvPr id="10" name="Text e10"/>
          <p:cNvSpPr txBox="1"/>
          <p:nvPr/>
        </p:nvSpPr>
        <p:spPr>
          <a:xfrm>
            <a:off x="552480" y="1369223"/>
            <a:ext cx="1066373"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Real GDP growth</a:t>
            </a:r>
            <a:endParaRPr lang="en-US" sz="950" dirty="0"/>
          </a:p>
        </p:txBody>
      </p:sp>
      <p:sp>
        <p:nvSpPr>
          <p:cNvPr id="11" name="Text e11"/>
          <p:cNvSpPr txBox="1"/>
          <p:nvPr/>
        </p:nvSpPr>
        <p:spPr>
          <a:xfrm>
            <a:off x="552480" y="1540673"/>
            <a:ext cx="270507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Quarterly change at a seasonally adjusted annual rate. Source: Bureau of Economic Analysis via </a:t>
            </a:r>
            <a:pPr algn="l" indent="0" marL="0">
              <a:lnSpc>
                <a:spcPts val="1000"/>
              </a:lnSpc>
              <a:buNone/>
            </a:pPr>
            <a:r>
              <a:rPr lang="en-US" sz="700" u="sng" dirty="0">
                <a:solidFill>
                  <a:srgbClr val="8C6239"/>
                </a:solidFill>
                <a:latin typeface="+mn-lt" pitchFamily="34" charset="0"/>
                <a:hlinkClick r:id="rId1" invalidUrl="" action="" tgtFrame="" tooltip="" history="1" highlightClick="0" endSnd="0">
                  <a:extLst>
                    <a:ext uri="{A12FA001-AC4F-418D-AE19-62706E023703}">
                      <ahyp:hlinkClr xmlns:ahyp="http://schemas.microsoft.com/office/drawing/2018/hyperlinkcolor" val="tx"/>
                    </a:ext>
                  </a:extLst>
                </a:hlinkClick>
              </a:rPr>
              <a:t>FRED</a:t>
            </a:r>
            <a:endParaRPr lang="en-US" sz="700" dirty="0"/>
          </a:p>
        </p:txBody>
      </p:sp>
      <p:graphicFrame>
        <p:nvGraphicFramePr>
          <p:cNvPr id="12" name="Chart 14-e12" descr=""/>
          <p:cNvGraphicFramePr/>
          <p:nvPr/>
        </p:nvGraphicFramePr>
        <p:xfrm>
          <a:off x="552480" y="1890705"/>
          <a:ext cx="2667030" cy="1314450"/>
        </p:xfrm>
        <a:graphic xmlns:a="http://schemas.openxmlformats.org/drawingml/2006/main">
          <a:graphicData uri="http://schemas.openxmlformats.org/drawingml/2006/chart">
            <c:chart xmlns:c="http://schemas.openxmlformats.org/drawingml/2006/chart" r:id="rId2"/>
          </a:graphicData>
        </a:graphic>
      </p:graphicFrame>
      <p:sp>
        <p:nvSpPr>
          <p:cNvPr id="13" name="Shape e13s0"/>
          <p:cNvSpPr/>
          <p:nvPr/>
        </p:nvSpPr>
        <p:spPr>
          <a:xfrm>
            <a:off x="552480" y="3571921"/>
            <a:ext cx="2705070" cy="9510"/>
          </a:xfrm>
          <a:prstGeom prst="rect">
            <a:avLst/>
          </a:prstGeom>
          <a:solidFill>
            <a:srgbClr val="E3DCD3"/>
          </a:solidFill>
          <a:ln/>
        </p:spPr>
        <p:txBody>
          <a:bodyPr/>
          <a:p/>
        </p:txBody>
      </p:sp>
      <p:sp>
        <p:nvSpPr>
          <p:cNvPr id="14" name="Text e13"/>
          <p:cNvSpPr txBox="1"/>
          <p:nvPr/>
        </p:nvSpPr>
        <p:spPr>
          <a:xfrm>
            <a:off x="552480" y="3640958"/>
            <a:ext cx="2705070" cy="27624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The economy grew at a 2.2% annual rate in the second quarter of 2026 after 2.5% in the first.</a:t>
            </a:r>
            <a:endParaRPr lang="en-US" sz="750" dirty="0"/>
          </a:p>
        </p:txBody>
      </p:sp>
      <p:sp>
        <p:nvSpPr>
          <p:cNvPr id="15" name="Shape e14"/>
          <p:cNvSpPr/>
          <p:nvPr/>
        </p:nvSpPr>
        <p:spPr>
          <a:xfrm>
            <a:off x="3543300" y="1238280"/>
            <a:ext cx="2971800" cy="2781330"/>
          </a:xfrm>
          <a:prstGeom prst="rect">
            <a:avLst/>
          </a:prstGeom>
          <a:solidFill>
            <a:srgbClr val="FAF7F3"/>
          </a:solidFill>
          <a:ln/>
        </p:spPr>
        <p:txBody>
          <a:bodyPr/>
          <a:p/>
        </p:txBody>
      </p:sp>
      <p:sp>
        <p:nvSpPr>
          <p:cNvPr id="16" name="Shape e14s0"/>
          <p:cNvSpPr/>
          <p:nvPr/>
        </p:nvSpPr>
        <p:spPr>
          <a:xfrm>
            <a:off x="3543300" y="1238280"/>
            <a:ext cx="2971800" cy="28621"/>
          </a:xfrm>
          <a:prstGeom prst="rect">
            <a:avLst/>
          </a:prstGeom>
          <a:solidFill>
            <a:srgbClr val="B68757"/>
          </a:solidFill>
          <a:ln/>
        </p:spPr>
        <p:txBody>
          <a:bodyPr/>
          <a:p/>
        </p:txBody>
      </p:sp>
      <p:sp>
        <p:nvSpPr>
          <p:cNvPr id="17" name="Text e15"/>
          <p:cNvSpPr txBox="1"/>
          <p:nvPr/>
        </p:nvSpPr>
        <p:spPr>
          <a:xfrm>
            <a:off x="3676620" y="1369223"/>
            <a:ext cx="1250899"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Unemployment rate</a:t>
            </a:r>
            <a:endParaRPr lang="en-US" sz="950" dirty="0"/>
          </a:p>
        </p:txBody>
      </p:sp>
      <p:sp>
        <p:nvSpPr>
          <p:cNvPr id="18" name="Text e16"/>
          <p:cNvSpPr txBox="1"/>
          <p:nvPr/>
        </p:nvSpPr>
        <p:spPr>
          <a:xfrm>
            <a:off x="3676620" y="1540673"/>
            <a:ext cx="270507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Seasonally adjusted. Source: Bureau of Labor Statistics via </a:t>
            </a:r>
            <a:pPr algn="l" indent="0" marL="0">
              <a:lnSpc>
                <a:spcPts val="1000"/>
              </a:lnSpc>
              <a:buNone/>
            </a:pPr>
            <a:r>
              <a:rPr lang="en-US" sz="70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FRED</a:t>
            </a:r>
            <a:endParaRPr lang="en-US" sz="700" dirty="0"/>
          </a:p>
        </p:txBody>
      </p:sp>
      <p:graphicFrame>
        <p:nvGraphicFramePr>
          <p:cNvPr id="19" name="Chart 14-e17" descr=""/>
          <p:cNvGraphicFramePr/>
          <p:nvPr/>
        </p:nvGraphicFramePr>
        <p:xfrm>
          <a:off x="3676620" y="1890705"/>
          <a:ext cx="2667030" cy="1314450"/>
        </p:xfrm>
        <a:graphic xmlns:a="http://schemas.openxmlformats.org/drawingml/2006/main">
          <a:graphicData uri="http://schemas.openxmlformats.org/drawingml/2006/chart">
            <c:chart xmlns:c="http://schemas.openxmlformats.org/drawingml/2006/chart" r:id="rId4"/>
          </a:graphicData>
        </a:graphic>
      </p:graphicFrame>
      <p:sp>
        <p:nvSpPr>
          <p:cNvPr id="20" name="Shape e18s0"/>
          <p:cNvSpPr/>
          <p:nvPr/>
        </p:nvSpPr>
        <p:spPr>
          <a:xfrm>
            <a:off x="3676620" y="3571921"/>
            <a:ext cx="2705070" cy="9510"/>
          </a:xfrm>
          <a:prstGeom prst="rect">
            <a:avLst/>
          </a:prstGeom>
          <a:solidFill>
            <a:srgbClr val="E3DCD3"/>
          </a:solidFill>
          <a:ln/>
        </p:spPr>
        <p:txBody>
          <a:bodyPr/>
          <a:p/>
        </p:txBody>
      </p:sp>
      <p:sp>
        <p:nvSpPr>
          <p:cNvPr id="21" name="Text e18"/>
          <p:cNvSpPr txBox="1"/>
          <p:nvPr/>
        </p:nvSpPr>
        <p:spPr>
          <a:xfrm>
            <a:off x="3676620" y="3640958"/>
            <a:ext cx="2705070" cy="27624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Unemployment stood at 4.2% in September 2026, compared with 4.4% a year earlier.</a:t>
            </a:r>
            <a:endParaRPr lang="en-US" sz="750" dirty="0"/>
          </a:p>
        </p:txBody>
      </p:sp>
      <p:sp>
        <p:nvSpPr>
          <p:cNvPr id="22" name="Shape e19"/>
          <p:cNvSpPr/>
          <p:nvPr/>
        </p:nvSpPr>
        <p:spPr>
          <a:xfrm>
            <a:off x="6667530" y="1238280"/>
            <a:ext cx="2971800" cy="2781330"/>
          </a:xfrm>
          <a:prstGeom prst="rect">
            <a:avLst/>
          </a:prstGeom>
          <a:solidFill>
            <a:srgbClr val="FAF7F3"/>
          </a:solidFill>
          <a:ln/>
        </p:spPr>
        <p:txBody>
          <a:bodyPr/>
          <a:p/>
        </p:txBody>
      </p:sp>
      <p:sp>
        <p:nvSpPr>
          <p:cNvPr id="23" name="Shape e19s0"/>
          <p:cNvSpPr/>
          <p:nvPr/>
        </p:nvSpPr>
        <p:spPr>
          <a:xfrm>
            <a:off x="6667530" y="1238280"/>
            <a:ext cx="2971800" cy="28621"/>
          </a:xfrm>
          <a:prstGeom prst="rect">
            <a:avLst/>
          </a:prstGeom>
          <a:solidFill>
            <a:srgbClr val="B68757"/>
          </a:solidFill>
          <a:ln/>
        </p:spPr>
        <p:txBody>
          <a:bodyPr/>
          <a:p/>
        </p:txBody>
      </p:sp>
      <p:sp>
        <p:nvSpPr>
          <p:cNvPr id="24" name="Text e20"/>
          <p:cNvSpPr txBox="1"/>
          <p:nvPr/>
        </p:nvSpPr>
        <p:spPr>
          <a:xfrm>
            <a:off x="6800850" y="1369223"/>
            <a:ext cx="2377714"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Monthly change in payroll employment</a:t>
            </a:r>
            <a:endParaRPr lang="en-US" sz="950" dirty="0"/>
          </a:p>
        </p:txBody>
      </p:sp>
      <p:sp>
        <p:nvSpPr>
          <p:cNvPr id="25" name="Text e21"/>
          <p:cNvSpPr txBox="1"/>
          <p:nvPr/>
        </p:nvSpPr>
        <p:spPr>
          <a:xfrm>
            <a:off x="6800850" y="1540673"/>
            <a:ext cx="270507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Thousands of jobs, seasonally adjusted. Source: Bureau of Labor Statistics via </a:t>
            </a:r>
            <a:pPr algn="l" indent="0" marL="0">
              <a:lnSpc>
                <a:spcPts val="1000"/>
              </a:lnSpc>
              <a:buNone/>
            </a:pPr>
            <a:r>
              <a:rPr lang="en-US" sz="700" u="sng" dirty="0">
                <a:solidFill>
                  <a:srgbClr val="8C6239"/>
                </a:solidFill>
                <a:latin typeface="+mn-lt" pitchFamily="34" charset="0"/>
                <a:hlinkClick r:id="rId5" invalidUrl="" action="" tgtFrame="" tooltip="" history="1" highlightClick="0" endSnd="0">
                  <a:extLst>
                    <a:ext uri="{A12FA001-AC4F-418D-AE19-62706E023703}">
                      <ahyp:hlinkClr xmlns:ahyp="http://schemas.microsoft.com/office/drawing/2018/hyperlinkcolor" val="tx"/>
                    </a:ext>
                  </a:extLst>
                </a:hlinkClick>
              </a:rPr>
              <a:t>FRED</a:t>
            </a:r>
            <a:endParaRPr lang="en-US" sz="700" dirty="0"/>
          </a:p>
        </p:txBody>
      </p:sp>
      <p:graphicFrame>
        <p:nvGraphicFramePr>
          <p:cNvPr id="26" name="Chart 14-e22" descr=""/>
          <p:cNvGraphicFramePr/>
          <p:nvPr/>
        </p:nvGraphicFramePr>
        <p:xfrm>
          <a:off x="6800850" y="1890705"/>
          <a:ext cx="2667030" cy="1314450"/>
        </p:xfrm>
        <a:graphic xmlns:a="http://schemas.openxmlformats.org/drawingml/2006/main">
          <a:graphicData uri="http://schemas.openxmlformats.org/drawingml/2006/chart">
            <c:chart xmlns:c="http://schemas.openxmlformats.org/drawingml/2006/chart" r:id="rId6"/>
          </a:graphicData>
        </a:graphic>
      </p:graphicFrame>
      <p:sp>
        <p:nvSpPr>
          <p:cNvPr id="27" name="Shape e23s0"/>
          <p:cNvSpPr/>
          <p:nvPr/>
        </p:nvSpPr>
        <p:spPr>
          <a:xfrm>
            <a:off x="6800850" y="3571921"/>
            <a:ext cx="2705070" cy="9510"/>
          </a:xfrm>
          <a:prstGeom prst="rect">
            <a:avLst/>
          </a:prstGeom>
          <a:solidFill>
            <a:srgbClr val="E3DCD3"/>
          </a:solidFill>
          <a:ln/>
        </p:spPr>
        <p:txBody>
          <a:bodyPr/>
          <a:p/>
        </p:txBody>
      </p:sp>
      <p:sp>
        <p:nvSpPr>
          <p:cNvPr id="28" name="Text e23"/>
          <p:cNvSpPr txBox="1"/>
          <p:nvPr/>
        </p:nvSpPr>
        <p:spPr>
          <a:xfrm>
            <a:off x="6800850" y="3640958"/>
            <a:ext cx="2705070" cy="27624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Employers added 29,000 jobs in September, and the average over the past six months was 66,000.</a:t>
            </a:r>
            <a:endParaRPr lang="en-US" sz="750" dirty="0"/>
          </a:p>
        </p:txBody>
      </p:sp>
      <p:sp>
        <p:nvSpPr>
          <p:cNvPr id="29" name="Shape e24"/>
          <p:cNvSpPr/>
          <p:nvPr/>
        </p:nvSpPr>
        <p:spPr>
          <a:xfrm>
            <a:off x="419070" y="4152930"/>
            <a:ext cx="2971800" cy="2781330"/>
          </a:xfrm>
          <a:prstGeom prst="rect">
            <a:avLst/>
          </a:prstGeom>
          <a:solidFill>
            <a:srgbClr val="FAF7F3"/>
          </a:solidFill>
          <a:ln/>
        </p:spPr>
        <p:txBody>
          <a:bodyPr/>
          <a:p/>
        </p:txBody>
      </p:sp>
      <p:sp>
        <p:nvSpPr>
          <p:cNvPr id="30" name="Shape e24s0"/>
          <p:cNvSpPr/>
          <p:nvPr/>
        </p:nvSpPr>
        <p:spPr>
          <a:xfrm>
            <a:off x="419070" y="4152930"/>
            <a:ext cx="2971800" cy="28621"/>
          </a:xfrm>
          <a:prstGeom prst="rect">
            <a:avLst/>
          </a:prstGeom>
          <a:solidFill>
            <a:srgbClr val="B68757"/>
          </a:solidFill>
          <a:ln/>
        </p:spPr>
        <p:txBody>
          <a:bodyPr/>
          <a:p/>
        </p:txBody>
      </p:sp>
      <p:sp>
        <p:nvSpPr>
          <p:cNvPr id="31" name="Text e25"/>
          <p:cNvSpPr txBox="1"/>
          <p:nvPr/>
        </p:nvSpPr>
        <p:spPr>
          <a:xfrm>
            <a:off x="552480" y="4283873"/>
            <a:ext cx="2705070" cy="314371"/>
          </a:xfrm>
          <a:prstGeom prst="rect">
            <a:avLst/>
          </a:prstGeom>
          <a:noFill/>
          <a:ln/>
        </p:spPr>
        <p:txBody>
          <a:bodyPr wrap="square" lIns="0" tIns="0" rIns="0" bIns="0" rtlCol="0" anchor="t"/>
          <a:lstStyle/>
          <a:p>
            <a:pPr algn="l" indent="0" marL="0">
              <a:lnSpc>
                <a:spcPts val="1250"/>
              </a:lnSpc>
              <a:buNone/>
            </a:pPr>
            <a:r>
              <a:rPr lang="en-US" sz="950" b="1" dirty="0">
                <a:solidFill>
                  <a:srgbClr val="1B1A1A"/>
                </a:solidFill>
                <a:latin typeface="+mn-lt" pitchFamily="34" charset="0"/>
              </a:rPr>
              <a:t>10-year Treasury yield and federal funds rate</a:t>
            </a:r>
            <a:endParaRPr lang="en-US" sz="950" dirty="0"/>
          </a:p>
        </p:txBody>
      </p:sp>
      <p:sp>
        <p:nvSpPr>
          <p:cNvPr id="32" name="Text e26"/>
          <p:cNvSpPr txBox="1"/>
          <p:nvPr/>
        </p:nvSpPr>
        <p:spPr>
          <a:xfrm>
            <a:off x="552480" y="4612508"/>
            <a:ext cx="270507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Monthly averages. Source: Federal Reserve via </a:t>
            </a:r>
            <a:pPr algn="l" indent="0" marL="0">
              <a:lnSpc>
                <a:spcPts val="1000"/>
              </a:lnSpc>
              <a:buNone/>
            </a:pPr>
            <a:r>
              <a:rPr lang="en-US" sz="700" u="sng" dirty="0">
                <a:solidFill>
                  <a:srgbClr val="8C6239"/>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FRED</a:t>
            </a:r>
            <a:pPr algn="l" indent="0" marL="0">
              <a:lnSpc>
                <a:spcPts val="1000"/>
              </a:lnSpc>
              <a:buNone/>
            </a:pPr>
            <a:r>
              <a:rPr lang="en-US" sz="700" dirty="0">
                <a:solidFill>
                  <a:srgbClr val="6F6A66"/>
                </a:solidFill>
                <a:latin typeface="+mn-lt" pitchFamily="34" charset="0"/>
              </a:rPr>
              <a:t> and </a:t>
            </a:r>
            <a:pPr algn="l" indent="0" marL="0">
              <a:lnSpc>
                <a:spcPts val="1000"/>
              </a:lnSpc>
              <a:buNone/>
            </a:pPr>
            <a:r>
              <a:rPr lang="en-US" sz="700" u="sng" dirty="0">
                <a:solidFill>
                  <a:srgbClr val="8C6239"/>
                </a:solidFill>
                <a:latin typeface="+mn-lt" pitchFamily="34" charset="0"/>
                <a:hlinkClick r:id="rId8" invalidUrl="" action="" tgtFrame="" tooltip="" history="1" highlightClick="0" endSnd="0">
                  <a:extLst>
                    <a:ext uri="{A12FA001-AC4F-418D-AE19-62706E023703}">
                      <ahyp:hlinkClr xmlns:ahyp="http://schemas.microsoft.com/office/drawing/2018/hyperlinkcolor" val="tx"/>
                    </a:ext>
                  </a:extLst>
                </a:hlinkClick>
              </a:rPr>
              <a:t>FRED</a:t>
            </a:r>
            <a:endParaRPr lang="en-US" sz="700" dirty="0"/>
          </a:p>
        </p:txBody>
      </p:sp>
      <p:graphicFrame>
        <p:nvGraphicFramePr>
          <p:cNvPr id="33" name="Chart 14-e27" descr=""/>
          <p:cNvGraphicFramePr/>
          <p:nvPr/>
        </p:nvGraphicFramePr>
        <p:xfrm>
          <a:off x="552480" y="4962540"/>
          <a:ext cx="2667030" cy="1262055"/>
        </p:xfrm>
        <a:graphic xmlns:a="http://schemas.openxmlformats.org/drawingml/2006/main">
          <a:graphicData uri="http://schemas.openxmlformats.org/drawingml/2006/chart">
            <c:chart xmlns:c="http://schemas.openxmlformats.org/drawingml/2006/chart" r:id="rId9"/>
          </a:graphicData>
        </a:graphic>
      </p:graphicFrame>
      <p:sp>
        <p:nvSpPr>
          <p:cNvPr id="34" name="Text e29"/>
          <p:cNvSpPr txBox="1"/>
          <p:nvPr/>
        </p:nvSpPr>
        <p:spPr>
          <a:xfrm>
            <a:off x="714421" y="6243615"/>
            <a:ext cx="721187" cy="104790"/>
          </a:xfrm>
          <a:prstGeom prst="rect">
            <a:avLst/>
          </a:prstGeom>
          <a:noFill/>
          <a:ln/>
        </p:spPr>
        <p:txBody>
          <a:bodyPr wrap="none" lIns="0" tIns="0" rIns="0" bIns="0" rtlCol="0" anchor="t"/>
          <a:lstStyle/>
          <a:p>
            <a:pPr algn="l" indent="0" marL="0">
              <a:lnSpc>
                <a:spcPts val="850"/>
              </a:lnSpc>
              <a:buNone/>
            </a:pPr>
            <a:r>
              <a:rPr lang="en-US" sz="650" dirty="0">
                <a:solidFill>
                  <a:srgbClr val="333231"/>
                </a:solidFill>
                <a:latin typeface="+mn-lt" pitchFamily="34" charset="0"/>
              </a:rPr>
              <a:t>10-year Treasury</a:t>
            </a:r>
            <a:endParaRPr lang="en-US" sz="650" dirty="0"/>
          </a:p>
        </p:txBody>
      </p:sp>
      <p:sp>
        <p:nvSpPr>
          <p:cNvPr id="35" name="Shape e30"/>
          <p:cNvSpPr/>
          <p:nvPr/>
        </p:nvSpPr>
        <p:spPr>
          <a:xfrm>
            <a:off x="552480" y="6286500"/>
            <a:ext cx="114300" cy="19020"/>
          </a:xfrm>
          <a:prstGeom prst="rect">
            <a:avLst/>
          </a:prstGeom>
          <a:solidFill>
            <a:srgbClr val="B68757"/>
          </a:solidFill>
          <a:ln/>
        </p:spPr>
        <p:txBody>
          <a:bodyPr/>
          <a:p/>
        </p:txBody>
      </p:sp>
      <p:sp>
        <p:nvSpPr>
          <p:cNvPr id="36" name="Text e31"/>
          <p:cNvSpPr txBox="1"/>
          <p:nvPr/>
        </p:nvSpPr>
        <p:spPr>
          <a:xfrm>
            <a:off x="1673718" y="6243615"/>
            <a:ext cx="596189" cy="104790"/>
          </a:xfrm>
          <a:prstGeom prst="rect">
            <a:avLst/>
          </a:prstGeom>
          <a:noFill/>
          <a:ln/>
        </p:spPr>
        <p:txBody>
          <a:bodyPr wrap="none" lIns="0" tIns="0" rIns="0" bIns="0" rtlCol="0" anchor="t"/>
          <a:lstStyle/>
          <a:p>
            <a:pPr algn="l" indent="0" marL="0">
              <a:lnSpc>
                <a:spcPts val="850"/>
              </a:lnSpc>
              <a:buNone/>
            </a:pPr>
            <a:r>
              <a:rPr lang="en-US" sz="650" dirty="0">
                <a:solidFill>
                  <a:srgbClr val="333231"/>
                </a:solidFill>
                <a:latin typeface="+mn-lt" pitchFamily="34" charset="0"/>
              </a:rPr>
              <a:t>Federal funds</a:t>
            </a:r>
            <a:endParaRPr lang="en-US" sz="650" dirty="0"/>
          </a:p>
        </p:txBody>
      </p:sp>
      <p:sp>
        <p:nvSpPr>
          <p:cNvPr id="37" name="Shape e32"/>
          <p:cNvSpPr/>
          <p:nvPr/>
        </p:nvSpPr>
        <p:spPr>
          <a:xfrm>
            <a:off x="1511778" y="6286500"/>
            <a:ext cx="114300" cy="19020"/>
          </a:xfrm>
          <a:prstGeom prst="rect">
            <a:avLst/>
          </a:prstGeom>
          <a:solidFill>
            <a:srgbClr val="1B1A1A"/>
          </a:solidFill>
          <a:ln/>
        </p:spPr>
        <p:txBody>
          <a:bodyPr/>
          <a:p/>
        </p:txBody>
      </p:sp>
      <p:sp>
        <p:nvSpPr>
          <p:cNvPr id="38" name="Shape e33s0"/>
          <p:cNvSpPr/>
          <p:nvPr/>
        </p:nvSpPr>
        <p:spPr>
          <a:xfrm>
            <a:off x="552480" y="6348405"/>
            <a:ext cx="2705070" cy="9510"/>
          </a:xfrm>
          <a:prstGeom prst="rect">
            <a:avLst/>
          </a:prstGeom>
          <a:solidFill>
            <a:srgbClr val="E3DCD3"/>
          </a:solidFill>
          <a:ln/>
        </p:spPr>
        <p:txBody>
          <a:bodyPr/>
          <a:p/>
        </p:txBody>
      </p:sp>
      <p:sp>
        <p:nvSpPr>
          <p:cNvPr id="39" name="Text e33"/>
          <p:cNvSpPr txBox="1"/>
          <p:nvPr/>
        </p:nvSpPr>
        <p:spPr>
          <a:xfrm>
            <a:off x="552480" y="6417442"/>
            <a:ext cx="2705070" cy="414315"/>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The 10-year yield averaged 4.99% in September, up from 4.12% a year earlier, while the federal funds rate averaged 3.75%.</a:t>
            </a:r>
            <a:endParaRPr lang="en-US" sz="750" dirty="0"/>
          </a:p>
        </p:txBody>
      </p:sp>
      <p:sp>
        <p:nvSpPr>
          <p:cNvPr id="40" name="Shape e34"/>
          <p:cNvSpPr/>
          <p:nvPr/>
        </p:nvSpPr>
        <p:spPr>
          <a:xfrm>
            <a:off x="3543300" y="4152930"/>
            <a:ext cx="2971800" cy="2781330"/>
          </a:xfrm>
          <a:prstGeom prst="rect">
            <a:avLst/>
          </a:prstGeom>
          <a:solidFill>
            <a:srgbClr val="FAF7F3"/>
          </a:solidFill>
          <a:ln/>
        </p:spPr>
        <p:txBody>
          <a:bodyPr/>
          <a:p/>
        </p:txBody>
      </p:sp>
      <p:sp>
        <p:nvSpPr>
          <p:cNvPr id="41" name="Shape e34s0"/>
          <p:cNvSpPr/>
          <p:nvPr/>
        </p:nvSpPr>
        <p:spPr>
          <a:xfrm>
            <a:off x="3543300" y="4152930"/>
            <a:ext cx="2971800" cy="28621"/>
          </a:xfrm>
          <a:prstGeom prst="rect">
            <a:avLst/>
          </a:prstGeom>
          <a:solidFill>
            <a:srgbClr val="B68757"/>
          </a:solidFill>
          <a:ln/>
        </p:spPr>
        <p:txBody>
          <a:bodyPr/>
          <a:p/>
        </p:txBody>
      </p:sp>
      <p:sp>
        <p:nvSpPr>
          <p:cNvPr id="42" name="Text e35"/>
          <p:cNvSpPr txBox="1"/>
          <p:nvPr/>
        </p:nvSpPr>
        <p:spPr>
          <a:xfrm>
            <a:off x="3676620" y="4283873"/>
            <a:ext cx="2304288" cy="157185"/>
          </a:xfrm>
          <a:prstGeom prst="rect">
            <a:avLst/>
          </a:prstGeom>
          <a:noFill/>
          <a:ln/>
        </p:spPr>
        <p:txBody>
          <a:bodyPr wrap="none" lIns="0" tIns="0" rIns="0" bIns="0" rtlCol="0" anchor="t"/>
          <a:lstStyle/>
          <a:p>
            <a:pPr algn="l" indent="0" marL="0">
              <a:lnSpc>
                <a:spcPts val="1250"/>
              </a:lnSpc>
              <a:buNone/>
            </a:pPr>
            <a:r>
              <a:rPr lang="en-US" sz="950" b="1" dirty="0">
                <a:solidFill>
                  <a:srgbClr val="1B1A1A"/>
                </a:solidFill>
                <a:latin typeface="+mn-lt" pitchFamily="34" charset="0"/>
              </a:rPr>
              <a:t>Temporary help services employment</a:t>
            </a:r>
            <a:endParaRPr lang="en-US" sz="950" dirty="0"/>
          </a:p>
        </p:txBody>
      </p:sp>
      <p:sp>
        <p:nvSpPr>
          <p:cNvPr id="43" name="Text e36"/>
          <p:cNvSpPr txBox="1"/>
          <p:nvPr/>
        </p:nvSpPr>
        <p:spPr>
          <a:xfrm>
            <a:off x="3676620" y="4455323"/>
            <a:ext cx="270507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Thousands of employees, seasonally adjusted. Source: Bureau of Labor Statistics via </a:t>
            </a:r>
            <a:pPr algn="l" indent="0" marL="0">
              <a:lnSpc>
                <a:spcPts val="1000"/>
              </a:lnSpc>
              <a:buNone/>
            </a:pPr>
            <a:r>
              <a:rPr lang="en-US" sz="700" u="sng" dirty="0">
                <a:solidFill>
                  <a:srgbClr val="8C6239"/>
                </a:solidFill>
                <a:latin typeface="+mn-lt" pitchFamily="34" charset="0"/>
                <a:hlinkClick r:id="rId10" invalidUrl="" action="" tgtFrame="" tooltip="" history="1" highlightClick="0" endSnd="0">
                  <a:extLst>
                    <a:ext uri="{A12FA001-AC4F-418D-AE19-62706E023703}">
                      <ahyp:hlinkClr xmlns:ahyp="http://schemas.microsoft.com/office/drawing/2018/hyperlinkcolor" val="tx"/>
                    </a:ext>
                  </a:extLst>
                </a:hlinkClick>
              </a:rPr>
              <a:t>FRED</a:t>
            </a:r>
            <a:endParaRPr lang="en-US" sz="700" dirty="0"/>
          </a:p>
        </p:txBody>
      </p:sp>
      <p:graphicFrame>
        <p:nvGraphicFramePr>
          <p:cNvPr id="44" name="Chart 14-e37" descr=""/>
          <p:cNvGraphicFramePr/>
          <p:nvPr/>
        </p:nvGraphicFramePr>
        <p:xfrm>
          <a:off x="3676620" y="4805355"/>
          <a:ext cx="2667030" cy="1314450"/>
        </p:xfrm>
        <a:graphic xmlns:a="http://schemas.openxmlformats.org/drawingml/2006/main">
          <a:graphicData uri="http://schemas.openxmlformats.org/drawingml/2006/chart">
            <c:chart xmlns:c="http://schemas.openxmlformats.org/drawingml/2006/chart" r:id="rId11"/>
          </a:graphicData>
        </a:graphic>
      </p:graphicFrame>
      <p:sp>
        <p:nvSpPr>
          <p:cNvPr id="45" name="Shape e38s0"/>
          <p:cNvSpPr/>
          <p:nvPr/>
        </p:nvSpPr>
        <p:spPr>
          <a:xfrm>
            <a:off x="3676620" y="6486571"/>
            <a:ext cx="2705070" cy="9510"/>
          </a:xfrm>
          <a:prstGeom prst="rect">
            <a:avLst/>
          </a:prstGeom>
          <a:solidFill>
            <a:srgbClr val="E3DCD3"/>
          </a:solidFill>
          <a:ln/>
        </p:spPr>
        <p:txBody>
          <a:bodyPr/>
          <a:p/>
        </p:txBody>
      </p:sp>
      <p:sp>
        <p:nvSpPr>
          <p:cNvPr id="46" name="Text e38"/>
          <p:cNvSpPr txBox="1"/>
          <p:nvPr/>
        </p:nvSpPr>
        <p:spPr>
          <a:xfrm>
            <a:off x="3676620" y="6555608"/>
            <a:ext cx="2705070" cy="276240"/>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Temporary employment of 2.49 million is 21% below its March 2022 peak and slightly above its level a year earlier.</a:t>
            </a:r>
            <a:endParaRPr lang="en-US" sz="750" dirty="0"/>
          </a:p>
        </p:txBody>
      </p:sp>
      <p:sp>
        <p:nvSpPr>
          <p:cNvPr id="47" name="Shape e39"/>
          <p:cNvSpPr/>
          <p:nvPr/>
        </p:nvSpPr>
        <p:spPr>
          <a:xfrm>
            <a:off x="6667530" y="4152930"/>
            <a:ext cx="2971800" cy="2781330"/>
          </a:xfrm>
          <a:prstGeom prst="rect">
            <a:avLst/>
          </a:prstGeom>
          <a:solidFill>
            <a:srgbClr val="FAF7F3"/>
          </a:solidFill>
          <a:ln/>
        </p:spPr>
        <p:txBody>
          <a:bodyPr/>
          <a:p/>
        </p:txBody>
      </p:sp>
      <p:sp>
        <p:nvSpPr>
          <p:cNvPr id="48" name="Shape e39s0"/>
          <p:cNvSpPr/>
          <p:nvPr/>
        </p:nvSpPr>
        <p:spPr>
          <a:xfrm>
            <a:off x="6667530" y="4152930"/>
            <a:ext cx="2971800" cy="28621"/>
          </a:xfrm>
          <a:prstGeom prst="rect">
            <a:avLst/>
          </a:prstGeom>
          <a:solidFill>
            <a:srgbClr val="B68757"/>
          </a:solidFill>
          <a:ln/>
        </p:spPr>
        <p:txBody>
          <a:bodyPr/>
          <a:p/>
        </p:txBody>
      </p:sp>
      <p:sp>
        <p:nvSpPr>
          <p:cNvPr id="49" name="Text e40"/>
          <p:cNvSpPr txBox="1"/>
          <p:nvPr/>
        </p:nvSpPr>
        <p:spPr>
          <a:xfrm>
            <a:off x="6800850" y="4283873"/>
            <a:ext cx="2705070" cy="314371"/>
          </a:xfrm>
          <a:prstGeom prst="rect">
            <a:avLst/>
          </a:prstGeom>
          <a:noFill/>
          <a:ln/>
        </p:spPr>
        <p:txBody>
          <a:bodyPr wrap="square" lIns="0" tIns="0" rIns="0" bIns="0" rtlCol="0" anchor="t"/>
          <a:lstStyle/>
          <a:p>
            <a:pPr algn="l" indent="0" marL="0">
              <a:lnSpc>
                <a:spcPts val="1250"/>
              </a:lnSpc>
              <a:buNone/>
            </a:pPr>
            <a:r>
              <a:rPr lang="en-US" sz="950" b="1" dirty="0">
                <a:solidFill>
                  <a:srgbClr val="1B1A1A"/>
                </a:solidFill>
                <a:latin typeface="+mn-lt" pitchFamily="34" charset="0"/>
              </a:rPr>
              <a:t>Engineering and building services employment</a:t>
            </a:r>
            <a:endParaRPr lang="en-US" sz="950" dirty="0"/>
          </a:p>
        </p:txBody>
      </p:sp>
      <p:sp>
        <p:nvSpPr>
          <p:cNvPr id="50" name="Text e41"/>
          <p:cNvSpPr txBox="1"/>
          <p:nvPr/>
        </p:nvSpPr>
        <p:spPr>
          <a:xfrm>
            <a:off x="6800850" y="4612508"/>
            <a:ext cx="2705070" cy="257221"/>
          </a:xfrm>
          <a:prstGeom prst="rect">
            <a:avLst/>
          </a:prstGeom>
          <a:noFill/>
          <a:ln/>
        </p:spPr>
        <p:txBody>
          <a:bodyPr wrap="square" lIns="0" tIns="0" rIns="0" bIns="0" rtlCol="0" anchor="t"/>
          <a:lstStyle/>
          <a:p>
            <a:pPr algn="l" indent="0" marL="0">
              <a:lnSpc>
                <a:spcPts val="1000"/>
              </a:lnSpc>
              <a:buNone/>
            </a:pPr>
            <a:r>
              <a:rPr lang="en-US" sz="700" dirty="0">
                <a:solidFill>
                  <a:srgbClr val="6F6A66"/>
                </a:solidFill>
                <a:latin typeface="+mn-lt" pitchFamily="34" charset="0"/>
              </a:rPr>
              <a:t>Index, September 2021 = 100. Source: Bureau of Labor Statistics via </a:t>
            </a:r>
            <a:pPr algn="l" indent="0" marL="0">
              <a:lnSpc>
                <a:spcPts val="1000"/>
              </a:lnSpc>
              <a:buNone/>
            </a:pPr>
            <a:r>
              <a:rPr lang="en-US" sz="700" u="sng" dirty="0">
                <a:solidFill>
                  <a:srgbClr val="8C6239"/>
                </a:solidFill>
                <a:latin typeface="+mn-lt" pitchFamily="34" charset="0"/>
                <a:hlinkClick r:id="rId12" invalidUrl="" action="" tgtFrame="" tooltip="" history="1" highlightClick="0" endSnd="0">
                  <a:extLst>
                    <a:ext uri="{A12FA001-AC4F-418D-AE19-62706E023703}">
                      <ahyp:hlinkClr xmlns:ahyp="http://schemas.microsoft.com/office/drawing/2018/hyperlinkcolor" val="tx"/>
                    </a:ext>
                  </a:extLst>
                </a:hlinkClick>
              </a:rPr>
              <a:t>FRED</a:t>
            </a:r>
            <a:pPr algn="l" indent="0" marL="0">
              <a:lnSpc>
                <a:spcPts val="1000"/>
              </a:lnSpc>
              <a:buNone/>
            </a:pPr>
            <a:r>
              <a:rPr lang="en-US" sz="700" dirty="0">
                <a:solidFill>
                  <a:srgbClr val="6F6A66"/>
                </a:solidFill>
                <a:latin typeface="+mn-lt" pitchFamily="34" charset="0"/>
              </a:rPr>
              <a:t> and </a:t>
            </a:r>
            <a:pPr algn="l" indent="0" marL="0">
              <a:lnSpc>
                <a:spcPts val="1000"/>
              </a:lnSpc>
              <a:buNone/>
            </a:pPr>
            <a:r>
              <a:rPr lang="en-US" sz="700" u="sng" dirty="0">
                <a:solidFill>
                  <a:srgbClr val="8C6239"/>
                </a:solidFill>
                <a:latin typeface="+mn-lt" pitchFamily="34" charset="0"/>
                <a:hlinkClick r:id="rId13" invalidUrl="" action="" tgtFrame="" tooltip="" history="1" highlightClick="0" endSnd="0">
                  <a:extLst>
                    <a:ext uri="{A12FA001-AC4F-418D-AE19-62706E023703}">
                      <ahyp:hlinkClr xmlns:ahyp="http://schemas.microsoft.com/office/drawing/2018/hyperlinkcolor" val="tx"/>
                    </a:ext>
                  </a:extLst>
                </a:hlinkClick>
              </a:rPr>
              <a:t>FRED</a:t>
            </a:r>
            <a:endParaRPr lang="en-US" sz="700" dirty="0"/>
          </a:p>
        </p:txBody>
      </p:sp>
      <p:graphicFrame>
        <p:nvGraphicFramePr>
          <p:cNvPr id="51" name="Chart 14-e42" descr=""/>
          <p:cNvGraphicFramePr/>
          <p:nvPr/>
        </p:nvGraphicFramePr>
        <p:xfrm>
          <a:off x="6800850" y="4962540"/>
          <a:ext cx="2667030" cy="1262055"/>
        </p:xfrm>
        <a:graphic xmlns:a="http://schemas.openxmlformats.org/drawingml/2006/main">
          <a:graphicData uri="http://schemas.openxmlformats.org/drawingml/2006/chart">
            <c:chart xmlns:c="http://schemas.openxmlformats.org/drawingml/2006/chart" r:id="rId14"/>
          </a:graphicData>
        </a:graphic>
      </p:graphicFrame>
      <p:sp>
        <p:nvSpPr>
          <p:cNvPr id="52" name="Text e44"/>
          <p:cNvSpPr txBox="1"/>
          <p:nvPr/>
        </p:nvSpPr>
        <p:spPr>
          <a:xfrm>
            <a:off x="6962790" y="6243615"/>
            <a:ext cx="1194664" cy="104790"/>
          </a:xfrm>
          <a:prstGeom prst="rect">
            <a:avLst/>
          </a:prstGeom>
          <a:noFill/>
          <a:ln/>
        </p:spPr>
        <p:txBody>
          <a:bodyPr wrap="none" lIns="0" tIns="0" rIns="0" bIns="0" rtlCol="0" anchor="t"/>
          <a:lstStyle/>
          <a:p>
            <a:pPr algn="l" indent="0" marL="0">
              <a:lnSpc>
                <a:spcPts val="850"/>
              </a:lnSpc>
              <a:buNone/>
            </a:pPr>
            <a:r>
              <a:rPr lang="en-US" sz="650" dirty="0">
                <a:solidFill>
                  <a:srgbClr val="333231"/>
                </a:solidFill>
                <a:latin typeface="+mn-lt" pitchFamily="34" charset="0"/>
              </a:rPr>
              <a:t>Architecture and engineering</a:t>
            </a:r>
            <a:endParaRPr lang="en-US" sz="650" dirty="0"/>
          </a:p>
        </p:txBody>
      </p:sp>
      <p:sp>
        <p:nvSpPr>
          <p:cNvPr id="53" name="Shape e45"/>
          <p:cNvSpPr/>
          <p:nvPr/>
        </p:nvSpPr>
        <p:spPr>
          <a:xfrm>
            <a:off x="6800850" y="6286500"/>
            <a:ext cx="114300" cy="19020"/>
          </a:xfrm>
          <a:prstGeom prst="rect">
            <a:avLst/>
          </a:prstGeom>
          <a:solidFill>
            <a:srgbClr val="B68757"/>
          </a:solidFill>
          <a:ln/>
        </p:spPr>
        <p:txBody>
          <a:bodyPr/>
          <a:p/>
        </p:txBody>
      </p:sp>
      <p:sp>
        <p:nvSpPr>
          <p:cNvPr id="54" name="Text e46"/>
          <p:cNvSpPr txBox="1"/>
          <p:nvPr/>
        </p:nvSpPr>
        <p:spPr>
          <a:xfrm>
            <a:off x="8395564" y="6243615"/>
            <a:ext cx="860816" cy="104790"/>
          </a:xfrm>
          <a:prstGeom prst="rect">
            <a:avLst/>
          </a:prstGeom>
          <a:noFill/>
          <a:ln/>
        </p:spPr>
        <p:txBody>
          <a:bodyPr wrap="none" lIns="0" tIns="0" rIns="0" bIns="0" rtlCol="0" anchor="t"/>
          <a:lstStyle/>
          <a:p>
            <a:pPr algn="l" indent="0" marL="0">
              <a:lnSpc>
                <a:spcPts val="850"/>
              </a:lnSpc>
              <a:buNone/>
            </a:pPr>
            <a:r>
              <a:rPr lang="en-US" sz="650" dirty="0">
                <a:solidFill>
                  <a:srgbClr val="333231"/>
                </a:solidFill>
                <a:latin typeface="+mn-lt" pitchFamily="34" charset="0"/>
              </a:rPr>
              <a:t>Services to buildings</a:t>
            </a:r>
            <a:endParaRPr lang="en-US" sz="650" dirty="0"/>
          </a:p>
        </p:txBody>
      </p:sp>
      <p:sp>
        <p:nvSpPr>
          <p:cNvPr id="55" name="Shape e47"/>
          <p:cNvSpPr/>
          <p:nvPr/>
        </p:nvSpPr>
        <p:spPr>
          <a:xfrm>
            <a:off x="8233623" y="6286500"/>
            <a:ext cx="114300" cy="19020"/>
          </a:xfrm>
          <a:prstGeom prst="rect">
            <a:avLst/>
          </a:prstGeom>
          <a:solidFill>
            <a:srgbClr val="1B1A1A"/>
          </a:solidFill>
          <a:ln/>
        </p:spPr>
        <p:txBody>
          <a:bodyPr/>
          <a:p/>
        </p:txBody>
      </p:sp>
      <p:sp>
        <p:nvSpPr>
          <p:cNvPr id="56" name="Shape e48s0"/>
          <p:cNvSpPr/>
          <p:nvPr/>
        </p:nvSpPr>
        <p:spPr>
          <a:xfrm>
            <a:off x="6800850" y="6348405"/>
            <a:ext cx="2705070" cy="9510"/>
          </a:xfrm>
          <a:prstGeom prst="rect">
            <a:avLst/>
          </a:prstGeom>
          <a:solidFill>
            <a:srgbClr val="E3DCD3"/>
          </a:solidFill>
          <a:ln/>
        </p:spPr>
        <p:txBody>
          <a:bodyPr/>
          <a:p/>
        </p:txBody>
      </p:sp>
      <p:sp>
        <p:nvSpPr>
          <p:cNvPr id="57" name="Text e48"/>
          <p:cNvSpPr txBox="1"/>
          <p:nvPr/>
        </p:nvSpPr>
        <p:spPr>
          <a:xfrm>
            <a:off x="6800850" y="6417442"/>
            <a:ext cx="2705070" cy="414315"/>
          </a:xfrm>
          <a:prstGeom prst="rect">
            <a:avLst/>
          </a:prstGeom>
          <a:noFill/>
          <a:ln/>
        </p:spPr>
        <p:txBody>
          <a:bodyPr wrap="square" lIns="0" tIns="0" rIns="0" bIns="0" rtlCol="0" anchor="t"/>
          <a:lstStyle/>
          <a:p>
            <a:pPr algn="l" indent="0" marL="0">
              <a:lnSpc>
                <a:spcPts val="1100"/>
              </a:lnSpc>
              <a:buNone/>
            </a:pPr>
            <a:r>
              <a:rPr lang="en-US" sz="750" dirty="0">
                <a:solidFill>
                  <a:srgbClr val="333231"/>
                </a:solidFill>
                <a:latin typeface="+mn-lt" pitchFamily="34" charset="0"/>
              </a:rPr>
              <a:t>Architecture and engineering employment is 14.6% above its September 2021 level, and building services employment is 7.3% above.</a:t>
            </a:r>
            <a:endParaRPr lang="en-US" sz="750" dirty="0"/>
          </a:p>
        </p:txBody>
      </p:sp>
      <p:sp>
        <p:nvSpPr>
          <p:cNvPr id="58" name="Shape e49"/>
          <p:cNvSpPr/>
          <p:nvPr/>
        </p:nvSpPr>
        <p:spPr>
          <a:xfrm>
            <a:off x="419070" y="7029450"/>
            <a:ext cx="9220170" cy="9510"/>
          </a:xfrm>
          <a:prstGeom prst="ellipse">
            <a:avLst/>
          </a:prstGeom>
          <a:solidFill>
            <a:srgbClr val="E3DCD3"/>
          </a:solidFill>
          <a:ln/>
        </p:spPr>
        <p:txBody>
          <a:bodyPr/>
          <a:p/>
        </p:txBody>
      </p:sp>
      <p:pic>
        <p:nvPicPr>
          <p:cNvPr id="59" name="Picture e50" descr="Benchmark International">    </p:cNvPr>
          <p:cNvPicPr>
            <a:picLocks noChangeAspect="1"/>
          </p:cNvPicPr>
          <p:nvPr/>
        </p:nvPicPr>
        <p:blipFill>
          <a:blip r:embed="rId15"/>
          <a:stretch>
            <a:fillRect/>
          </a:stretch>
        </p:blipFill>
        <p:spPr>
          <a:xfrm>
            <a:off x="419070" y="7143750"/>
            <a:ext cx="914400" cy="171450"/>
          </a:xfrm>
          <a:prstGeom prst="rect">
            <a:avLst/>
          </a:prstGeom>
        </p:spPr>
      </p:pic>
      <p:sp>
        <p:nvSpPr>
          <p:cNvPr id="60" name="Text e51"/>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Each series runs from September 2021 to its latest month, September 2026, and GDP runs to the second quarter of 2026. Recent months are preliminary. FRED has no unemployment rate for October 2025, and the line bridges that month.</a:t>
            </a:r>
            <a:endParaRPr lang="en-US" sz="700" dirty="0"/>
          </a:p>
        </p:txBody>
      </p:sp>
      <p:sp>
        <p:nvSpPr>
          <p:cNvPr id="61" name="Text e52"/>
          <p:cNvSpPr txBox="1"/>
          <p:nvPr/>
        </p:nvSpPr>
        <p:spPr>
          <a:xfrm>
            <a:off x="9512686" y="7162770"/>
            <a:ext cx="12381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3551530"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Select Market Participants</a:t>
            </a:r>
            <a:endParaRPr lang="en-US" sz="2050" dirty="0"/>
          </a:p>
        </p:txBody>
      </p:sp>
      <p:sp>
        <p:nvSpPr>
          <p:cNvPr id="6" name="Text e5"/>
          <p:cNvSpPr txBox="1"/>
          <p:nvPr/>
        </p:nvSpPr>
        <p:spPr>
          <a:xfrm>
            <a:off x="419070" y="883402"/>
            <a:ext cx="7804861"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The listed reference companies in each sector, and the platforms, sponsors and strategic buyers acquiring founder-owned businesses.</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1752630" cy="5695980"/>
          </a:xfrm>
          <a:prstGeom prst="rect">
            <a:avLst/>
          </a:prstGeom>
          <a:solidFill>
            <a:srgbClr val="FAF7F3"/>
          </a:solidFill>
          <a:ln/>
        </p:spPr>
        <p:txBody>
          <a:bodyPr/>
          <a:p/>
        </p:txBody>
      </p:sp>
      <p:sp>
        <p:nvSpPr>
          <p:cNvPr id="9" name="Shape e10"/>
          <p:cNvSpPr/>
          <p:nvPr/>
        </p:nvSpPr>
        <p:spPr>
          <a:xfrm>
            <a:off x="419070" y="1238280"/>
            <a:ext cx="1752630" cy="438180"/>
          </a:xfrm>
          <a:prstGeom prst="rect">
            <a:avLst/>
          </a:prstGeom>
          <a:solidFill>
            <a:srgbClr val="1B1A1A"/>
          </a:solidFill>
          <a:ln/>
        </p:spPr>
        <p:txBody>
          <a:bodyPr/>
          <a:p/>
        </p:txBody>
      </p:sp>
      <p:pic>
        <p:nvPicPr>
          <p:cNvPr id="10" name="Icon e11">    </p:cNvPr>
          <p:cNvPicPr>
            <a:picLocks noChangeAspect="1"/>
          </p:cNvPicPr>
          <p:nvPr/>
        </p:nvPicPr>
        <p:blipFill>
          <a:blip r:embed="rId1"/>
          <a:stretch>
            <a:fillRect/>
          </a:stretch>
        </p:blipFill>
        <p:spPr>
          <a:xfrm>
            <a:off x="523860" y="1357335"/>
            <a:ext cx="200071" cy="200071"/>
          </a:xfrm>
          <a:prstGeom prst="rect">
            <a:avLst/>
          </a:prstGeom>
        </p:spPr>
      </p:pic>
      <p:sp>
        <p:nvSpPr>
          <p:cNvPr id="11" name="Text e12"/>
          <p:cNvSpPr txBox="1"/>
          <p:nvPr/>
        </p:nvSpPr>
        <p:spPr>
          <a:xfrm>
            <a:off x="809610" y="1338224"/>
            <a:ext cx="1257300" cy="228600"/>
          </a:xfrm>
          <a:prstGeom prst="rect">
            <a:avLst/>
          </a:prstGeom>
          <a:noFill/>
          <a:ln/>
        </p:spPr>
        <p:txBody>
          <a:bodyPr wrap="square" lIns="0" tIns="0" rIns="0" bIns="0" rtlCol="0" anchor="t"/>
          <a:lstStyle/>
          <a:p>
            <a:pPr algn="l" indent="0" marL="0">
              <a:lnSpc>
                <a:spcPts val="900"/>
              </a:lnSpc>
              <a:buNone/>
            </a:pPr>
            <a:r>
              <a:rPr lang="en-US" sz="650" b="1" spc="100" kern="0" dirty="0">
                <a:solidFill>
                  <a:srgbClr val="FFFFFF"/>
                </a:solidFill>
                <a:latin typeface="+mn-lt" pitchFamily="34" charset="0"/>
              </a:rPr>
              <a:t>COMMERCIAL &amp; FACILITY SERVICES</a:t>
            </a:r>
            <a:endParaRPr lang="en-US" sz="650" dirty="0"/>
          </a:p>
        </p:txBody>
      </p:sp>
      <p:sp>
        <p:nvSpPr>
          <p:cNvPr id="12" name="Text e14"/>
          <p:cNvSpPr txBox="1"/>
          <p:nvPr/>
        </p:nvSpPr>
        <p:spPr>
          <a:xfrm>
            <a:off x="523860" y="1776405"/>
            <a:ext cx="1020196"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LISTED COMPANIES</a:t>
            </a:r>
            <a:endParaRPr lang="en-US" sz="550" dirty="0"/>
          </a:p>
        </p:txBody>
      </p:sp>
      <p:sp>
        <p:nvSpPr>
          <p:cNvPr id="13" name="Shape e16"/>
          <p:cNvSpPr/>
          <p:nvPr/>
        </p:nvSpPr>
        <p:spPr>
          <a:xfrm>
            <a:off x="523860" y="2005005"/>
            <a:ext cx="47640" cy="47640"/>
          </a:xfrm>
          <a:prstGeom prst="rect">
            <a:avLst/>
          </a:prstGeom>
          <a:solidFill>
            <a:srgbClr val="B68757"/>
          </a:solidFill>
          <a:ln/>
        </p:spPr>
        <p:txBody>
          <a:bodyPr/>
          <a:p/>
        </p:txBody>
      </p:sp>
      <p:sp>
        <p:nvSpPr>
          <p:cNvPr id="14" name="Text e17"/>
          <p:cNvSpPr txBox="1"/>
          <p:nvPr/>
        </p:nvSpPr>
        <p:spPr>
          <a:xfrm>
            <a:off x="638160" y="1962120"/>
            <a:ext cx="327447"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Cintas</a:t>
            </a:r>
            <a:endParaRPr lang="en-US" sz="700" dirty="0"/>
          </a:p>
        </p:txBody>
      </p:sp>
      <p:sp>
        <p:nvSpPr>
          <p:cNvPr id="15" name="Shape e19"/>
          <p:cNvSpPr/>
          <p:nvPr/>
        </p:nvSpPr>
        <p:spPr>
          <a:xfrm>
            <a:off x="523860" y="2157435"/>
            <a:ext cx="47640" cy="47640"/>
          </a:xfrm>
          <a:prstGeom prst="rect">
            <a:avLst/>
          </a:prstGeom>
          <a:solidFill>
            <a:srgbClr val="B68757"/>
          </a:solidFill>
          <a:ln/>
        </p:spPr>
        <p:txBody>
          <a:bodyPr/>
          <a:p/>
        </p:txBody>
      </p:sp>
      <p:sp>
        <p:nvSpPr>
          <p:cNvPr id="16" name="Text e20"/>
          <p:cNvSpPr txBox="1"/>
          <p:nvPr/>
        </p:nvSpPr>
        <p:spPr>
          <a:xfrm>
            <a:off x="638160" y="2114550"/>
            <a:ext cx="704362"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ABM Industries</a:t>
            </a:r>
            <a:endParaRPr lang="en-US" sz="700" dirty="0"/>
          </a:p>
        </p:txBody>
      </p:sp>
      <p:sp>
        <p:nvSpPr>
          <p:cNvPr id="17" name="Shape e22"/>
          <p:cNvSpPr/>
          <p:nvPr/>
        </p:nvSpPr>
        <p:spPr>
          <a:xfrm>
            <a:off x="523860" y="2309774"/>
            <a:ext cx="47640" cy="47640"/>
          </a:xfrm>
          <a:prstGeom prst="rect">
            <a:avLst/>
          </a:prstGeom>
          <a:solidFill>
            <a:srgbClr val="B68757"/>
          </a:solidFill>
          <a:ln/>
        </p:spPr>
        <p:txBody>
          <a:bodyPr/>
          <a:p/>
        </p:txBody>
      </p:sp>
      <p:sp>
        <p:nvSpPr>
          <p:cNvPr id="18" name="Text e23"/>
          <p:cNvSpPr txBox="1"/>
          <p:nvPr/>
        </p:nvSpPr>
        <p:spPr>
          <a:xfrm>
            <a:off x="638160" y="2266980"/>
            <a:ext cx="341071"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Rollins</a:t>
            </a:r>
            <a:endParaRPr lang="en-US" sz="700" dirty="0"/>
          </a:p>
        </p:txBody>
      </p:sp>
      <p:sp>
        <p:nvSpPr>
          <p:cNvPr id="19" name="Shape e25"/>
          <p:cNvSpPr/>
          <p:nvPr/>
        </p:nvSpPr>
        <p:spPr>
          <a:xfrm>
            <a:off x="523860" y="2462205"/>
            <a:ext cx="47640" cy="47640"/>
          </a:xfrm>
          <a:prstGeom prst="rect">
            <a:avLst/>
          </a:prstGeom>
          <a:solidFill>
            <a:srgbClr val="B68757"/>
          </a:solidFill>
          <a:ln/>
        </p:spPr>
        <p:txBody>
          <a:bodyPr/>
          <a:p/>
        </p:txBody>
      </p:sp>
      <p:sp>
        <p:nvSpPr>
          <p:cNvPr id="20" name="Text e26"/>
          <p:cNvSpPr txBox="1"/>
          <p:nvPr/>
        </p:nvSpPr>
        <p:spPr>
          <a:xfrm>
            <a:off x="638160" y="2419320"/>
            <a:ext cx="487558"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APi Group</a:t>
            </a:r>
            <a:endParaRPr lang="en-US" sz="700" dirty="0"/>
          </a:p>
        </p:txBody>
      </p:sp>
      <p:sp>
        <p:nvSpPr>
          <p:cNvPr id="21" name="Shape e28"/>
          <p:cNvSpPr/>
          <p:nvPr/>
        </p:nvSpPr>
        <p:spPr>
          <a:xfrm>
            <a:off x="523860" y="2614635"/>
            <a:ext cx="47640" cy="47640"/>
          </a:xfrm>
          <a:prstGeom prst="rect">
            <a:avLst/>
          </a:prstGeom>
          <a:solidFill>
            <a:srgbClr val="B68757"/>
          </a:solidFill>
          <a:ln/>
        </p:spPr>
        <p:txBody>
          <a:bodyPr/>
          <a:p/>
        </p:txBody>
      </p:sp>
      <p:sp>
        <p:nvSpPr>
          <p:cNvPr id="22" name="Text e29"/>
          <p:cNvSpPr txBox="1"/>
          <p:nvPr/>
        </p:nvSpPr>
        <p:spPr>
          <a:xfrm>
            <a:off x="638160" y="2571750"/>
            <a:ext cx="526694"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BrightView</a:t>
            </a:r>
            <a:endParaRPr lang="en-US" sz="700" dirty="0"/>
          </a:p>
        </p:txBody>
      </p:sp>
      <p:sp>
        <p:nvSpPr>
          <p:cNvPr id="23" name="Shape e31"/>
          <p:cNvSpPr/>
          <p:nvPr/>
        </p:nvSpPr>
        <p:spPr>
          <a:xfrm>
            <a:off x="523860" y="2766974"/>
            <a:ext cx="47640" cy="47640"/>
          </a:xfrm>
          <a:prstGeom prst="rect">
            <a:avLst/>
          </a:prstGeom>
          <a:solidFill>
            <a:srgbClr val="B68757"/>
          </a:solidFill>
          <a:ln/>
        </p:spPr>
        <p:txBody>
          <a:bodyPr/>
          <a:p/>
        </p:txBody>
      </p:sp>
      <p:sp>
        <p:nvSpPr>
          <p:cNvPr id="24" name="Text e32"/>
          <p:cNvSpPr txBox="1"/>
          <p:nvPr/>
        </p:nvSpPr>
        <p:spPr>
          <a:xfrm>
            <a:off x="638160" y="2724180"/>
            <a:ext cx="565282"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FirstService</a:t>
            </a:r>
            <a:endParaRPr lang="en-US" sz="700" dirty="0"/>
          </a:p>
        </p:txBody>
      </p:sp>
      <p:sp>
        <p:nvSpPr>
          <p:cNvPr id="25" name="Shape e34"/>
          <p:cNvSpPr/>
          <p:nvPr/>
        </p:nvSpPr>
        <p:spPr>
          <a:xfrm>
            <a:off x="523860" y="2919405"/>
            <a:ext cx="47640" cy="47640"/>
          </a:xfrm>
          <a:prstGeom prst="rect">
            <a:avLst/>
          </a:prstGeom>
          <a:solidFill>
            <a:srgbClr val="B68757"/>
          </a:solidFill>
          <a:ln/>
        </p:spPr>
        <p:txBody>
          <a:bodyPr/>
          <a:p/>
        </p:txBody>
      </p:sp>
      <p:sp>
        <p:nvSpPr>
          <p:cNvPr id="26" name="Text e35"/>
          <p:cNvSpPr txBox="1"/>
          <p:nvPr/>
        </p:nvSpPr>
        <p:spPr>
          <a:xfrm>
            <a:off x="638160" y="2876520"/>
            <a:ext cx="661660"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Mistras Group</a:t>
            </a:r>
            <a:endParaRPr lang="en-US" sz="700" dirty="0"/>
          </a:p>
        </p:txBody>
      </p:sp>
      <p:sp>
        <p:nvSpPr>
          <p:cNvPr id="27" name="Shape e37"/>
          <p:cNvSpPr/>
          <p:nvPr/>
        </p:nvSpPr>
        <p:spPr>
          <a:xfrm>
            <a:off x="523860" y="3071835"/>
            <a:ext cx="47640" cy="47640"/>
          </a:xfrm>
          <a:prstGeom prst="rect">
            <a:avLst/>
          </a:prstGeom>
          <a:solidFill>
            <a:srgbClr val="B68757"/>
          </a:solidFill>
          <a:ln/>
        </p:spPr>
        <p:txBody>
          <a:bodyPr/>
          <a:p/>
        </p:txBody>
      </p:sp>
      <p:sp>
        <p:nvSpPr>
          <p:cNvPr id="28" name="Text e38"/>
          <p:cNvSpPr txBox="1"/>
          <p:nvPr/>
        </p:nvSpPr>
        <p:spPr>
          <a:xfrm>
            <a:off x="638160" y="3028950"/>
            <a:ext cx="227594"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SGS</a:t>
            </a:r>
            <a:endParaRPr lang="en-US" sz="700" dirty="0"/>
          </a:p>
        </p:txBody>
      </p:sp>
      <p:sp>
        <p:nvSpPr>
          <p:cNvPr id="29" name="Shape e40"/>
          <p:cNvSpPr/>
          <p:nvPr/>
        </p:nvSpPr>
        <p:spPr>
          <a:xfrm>
            <a:off x="523860" y="3224174"/>
            <a:ext cx="47640" cy="47640"/>
          </a:xfrm>
          <a:prstGeom prst="rect">
            <a:avLst/>
          </a:prstGeom>
          <a:solidFill>
            <a:srgbClr val="B68757"/>
          </a:solidFill>
          <a:ln/>
        </p:spPr>
        <p:txBody>
          <a:bodyPr/>
          <a:p/>
        </p:txBody>
      </p:sp>
      <p:sp>
        <p:nvSpPr>
          <p:cNvPr id="30" name="Text e41"/>
          <p:cNvSpPr txBox="1"/>
          <p:nvPr/>
        </p:nvSpPr>
        <p:spPr>
          <a:xfrm>
            <a:off x="638160" y="3181380"/>
            <a:ext cx="700065"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Bureau Veritas</a:t>
            </a:r>
            <a:endParaRPr lang="en-US" sz="700" dirty="0"/>
          </a:p>
        </p:txBody>
      </p:sp>
      <p:sp>
        <p:nvSpPr>
          <p:cNvPr id="31" name="Shape e43"/>
          <p:cNvSpPr/>
          <p:nvPr/>
        </p:nvSpPr>
        <p:spPr>
          <a:xfrm>
            <a:off x="523860" y="3376605"/>
            <a:ext cx="47640" cy="47640"/>
          </a:xfrm>
          <a:prstGeom prst="rect">
            <a:avLst/>
          </a:prstGeom>
          <a:solidFill>
            <a:srgbClr val="B68757"/>
          </a:solidFill>
          <a:ln/>
        </p:spPr>
        <p:txBody>
          <a:bodyPr/>
          <a:p/>
        </p:txBody>
      </p:sp>
      <p:sp>
        <p:nvSpPr>
          <p:cNvPr id="32" name="Text e44"/>
          <p:cNvSpPr txBox="1"/>
          <p:nvPr/>
        </p:nvSpPr>
        <p:spPr>
          <a:xfrm>
            <a:off x="638160" y="3333720"/>
            <a:ext cx="393375"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Intertek</a:t>
            </a:r>
            <a:endParaRPr lang="en-US" sz="700" dirty="0"/>
          </a:p>
        </p:txBody>
      </p:sp>
      <p:sp>
        <p:nvSpPr>
          <p:cNvPr id="33" name="Shape e46"/>
          <p:cNvSpPr/>
          <p:nvPr/>
        </p:nvSpPr>
        <p:spPr>
          <a:xfrm>
            <a:off x="523860" y="3529035"/>
            <a:ext cx="47640" cy="47640"/>
          </a:xfrm>
          <a:prstGeom prst="rect">
            <a:avLst/>
          </a:prstGeom>
          <a:solidFill>
            <a:srgbClr val="B68757"/>
          </a:solidFill>
          <a:ln/>
        </p:spPr>
        <p:txBody>
          <a:bodyPr/>
          <a:p/>
        </p:txBody>
      </p:sp>
      <p:sp>
        <p:nvSpPr>
          <p:cNvPr id="34" name="Text e47"/>
          <p:cNvSpPr txBox="1"/>
          <p:nvPr/>
        </p:nvSpPr>
        <p:spPr>
          <a:xfrm>
            <a:off x="638160" y="3486150"/>
            <a:ext cx="823600"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Eurofins Scientific</a:t>
            </a:r>
            <a:endParaRPr lang="en-US" sz="700" dirty="0"/>
          </a:p>
        </p:txBody>
      </p:sp>
      <p:sp>
        <p:nvSpPr>
          <p:cNvPr id="35" name="Shape e49"/>
          <p:cNvSpPr/>
          <p:nvPr/>
        </p:nvSpPr>
        <p:spPr>
          <a:xfrm>
            <a:off x="523860" y="3681374"/>
            <a:ext cx="47640" cy="47640"/>
          </a:xfrm>
          <a:prstGeom prst="rect">
            <a:avLst/>
          </a:prstGeom>
          <a:solidFill>
            <a:srgbClr val="B68757"/>
          </a:solidFill>
          <a:ln/>
        </p:spPr>
        <p:txBody>
          <a:bodyPr/>
          <a:p/>
        </p:txBody>
      </p:sp>
      <p:sp>
        <p:nvSpPr>
          <p:cNvPr id="36" name="Text e50"/>
          <p:cNvSpPr txBox="1"/>
          <p:nvPr/>
        </p:nvSpPr>
        <p:spPr>
          <a:xfrm>
            <a:off x="638160" y="3638580"/>
            <a:ext cx="594269"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UL Solutions</a:t>
            </a:r>
            <a:endParaRPr lang="en-US" sz="700" dirty="0"/>
          </a:p>
        </p:txBody>
      </p:sp>
      <p:sp>
        <p:nvSpPr>
          <p:cNvPr id="37" name="Shape e51s0"/>
          <p:cNvSpPr/>
          <p:nvPr/>
        </p:nvSpPr>
        <p:spPr>
          <a:xfrm>
            <a:off x="523860" y="3876690"/>
            <a:ext cx="1543050" cy="9510"/>
          </a:xfrm>
          <a:prstGeom prst="rect">
            <a:avLst/>
          </a:prstGeom>
          <a:solidFill>
            <a:srgbClr val="E3DCD3"/>
          </a:solidFill>
          <a:ln/>
        </p:spPr>
        <p:txBody>
          <a:bodyPr/>
          <a:p/>
        </p:txBody>
      </p:sp>
      <p:sp>
        <p:nvSpPr>
          <p:cNvPr id="38" name="Text e52"/>
          <p:cNvSpPr txBox="1"/>
          <p:nvPr/>
        </p:nvSpPr>
        <p:spPr>
          <a:xfrm>
            <a:off x="523860" y="3976726"/>
            <a:ext cx="1543050" cy="247620"/>
          </a:xfrm>
          <a:prstGeom prst="rect">
            <a:avLst/>
          </a:prstGeom>
          <a:noFill/>
          <a:ln/>
        </p:spPr>
        <p:txBody>
          <a:bodyPr wrap="square" lIns="0" tIns="0" rIns="0" bIns="0" rtlCol="0" anchor="t"/>
          <a:lstStyle/>
          <a:p>
            <a:pPr algn="l" indent="0" marL="0">
              <a:lnSpc>
                <a:spcPts val="1000"/>
              </a:lnSpc>
              <a:buNone/>
            </a:pPr>
            <a:r>
              <a:rPr lang="en-US" sz="550" b="1" spc="150" kern="0" dirty="0">
                <a:solidFill>
                  <a:srgbClr val="8C6239"/>
                </a:solidFill>
                <a:latin typeface="+mn-lt" pitchFamily="34" charset="0"/>
              </a:rPr>
              <a:t>FIRE, SECURITY AND GUARDING</a:t>
            </a:r>
            <a:endParaRPr lang="en-US" sz="550" dirty="0"/>
          </a:p>
        </p:txBody>
      </p:sp>
      <p:sp>
        <p:nvSpPr>
          <p:cNvPr id="39" name="Shape e54"/>
          <p:cNvSpPr/>
          <p:nvPr/>
        </p:nvSpPr>
        <p:spPr>
          <a:xfrm>
            <a:off x="523860" y="4276740"/>
            <a:ext cx="1101943" cy="171450"/>
          </a:xfrm>
          <a:prstGeom prst="rect">
            <a:avLst/>
          </a:prstGeom>
          <a:solidFill>
            <a:srgbClr val="FFFFFF"/>
          </a:solidFill>
          <a:ln w="12700">
            <a:solidFill>
              <a:srgbClr val="E3DCD3"/>
            </a:solidFill>
            <a:prstDash val="solid"/>
          </a:ln>
        </p:spPr>
        <p:txBody>
          <a:bodyPr/>
          <a:p/>
        </p:txBody>
      </p:sp>
      <p:sp>
        <p:nvSpPr>
          <p:cNvPr id="40" name="Text e54"/>
          <p:cNvSpPr txBox="1"/>
          <p:nvPr/>
        </p:nvSpPr>
        <p:spPr>
          <a:xfrm>
            <a:off x="590520" y="4300515"/>
            <a:ext cx="1025682"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Pye-Barker Fire &amp; Safety</a:t>
            </a:r>
            <a:endParaRPr lang="en-US" sz="650" dirty="0"/>
          </a:p>
        </p:txBody>
      </p:sp>
      <p:sp>
        <p:nvSpPr>
          <p:cNvPr id="41" name="Shape e55"/>
          <p:cNvSpPr/>
          <p:nvPr/>
        </p:nvSpPr>
        <p:spPr>
          <a:xfrm>
            <a:off x="1663934" y="4276740"/>
            <a:ext cx="379842" cy="171450"/>
          </a:xfrm>
          <a:prstGeom prst="rect">
            <a:avLst/>
          </a:prstGeom>
          <a:solidFill>
            <a:srgbClr val="FFFFFF"/>
          </a:solidFill>
          <a:ln w="12700">
            <a:solidFill>
              <a:srgbClr val="E3DCD3"/>
            </a:solidFill>
            <a:prstDash val="solid"/>
          </a:ln>
        </p:spPr>
        <p:txBody>
          <a:bodyPr/>
          <a:p/>
        </p:txBody>
      </p:sp>
      <p:sp>
        <p:nvSpPr>
          <p:cNvPr id="42" name="Text e55"/>
          <p:cNvSpPr txBox="1"/>
          <p:nvPr/>
        </p:nvSpPr>
        <p:spPr>
          <a:xfrm>
            <a:off x="1730593" y="4300515"/>
            <a:ext cx="303581"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AI Fire</a:t>
            </a:r>
            <a:endParaRPr lang="en-US" sz="650" dirty="0"/>
          </a:p>
        </p:txBody>
      </p:sp>
      <p:sp>
        <p:nvSpPr>
          <p:cNvPr id="43" name="Shape e56"/>
          <p:cNvSpPr/>
          <p:nvPr/>
        </p:nvSpPr>
        <p:spPr>
          <a:xfrm>
            <a:off x="523860" y="4486321"/>
            <a:ext cx="1095268" cy="171450"/>
          </a:xfrm>
          <a:prstGeom prst="rect">
            <a:avLst/>
          </a:prstGeom>
          <a:solidFill>
            <a:srgbClr val="FFFFFF"/>
          </a:solidFill>
          <a:ln w="12700">
            <a:solidFill>
              <a:srgbClr val="E3DCD3"/>
            </a:solidFill>
            <a:prstDash val="solid"/>
          </a:ln>
        </p:spPr>
        <p:txBody>
          <a:bodyPr/>
          <a:p/>
        </p:txBody>
      </p:sp>
      <p:sp>
        <p:nvSpPr>
          <p:cNvPr id="44" name="Text e56"/>
          <p:cNvSpPr txBox="1"/>
          <p:nvPr/>
        </p:nvSpPr>
        <p:spPr>
          <a:xfrm>
            <a:off x="590520" y="4510095"/>
            <a:ext cx="1019007"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Sciens Building Solutions</a:t>
            </a:r>
            <a:endParaRPr lang="en-US" sz="650" dirty="0"/>
          </a:p>
        </p:txBody>
      </p:sp>
      <p:sp>
        <p:nvSpPr>
          <p:cNvPr id="45" name="Shape e57"/>
          <p:cNvSpPr/>
          <p:nvPr/>
        </p:nvSpPr>
        <p:spPr>
          <a:xfrm>
            <a:off x="523860" y="4695810"/>
            <a:ext cx="735178" cy="171450"/>
          </a:xfrm>
          <a:prstGeom prst="rect">
            <a:avLst/>
          </a:prstGeom>
          <a:solidFill>
            <a:srgbClr val="FFFFFF"/>
          </a:solidFill>
          <a:ln w="12700">
            <a:solidFill>
              <a:srgbClr val="E3DCD3"/>
            </a:solidFill>
            <a:prstDash val="solid"/>
          </a:ln>
        </p:spPr>
        <p:txBody>
          <a:bodyPr/>
          <a:p/>
        </p:txBody>
      </p:sp>
      <p:sp>
        <p:nvSpPr>
          <p:cNvPr id="46" name="Text e57"/>
          <p:cNvSpPr txBox="1"/>
          <p:nvPr/>
        </p:nvSpPr>
        <p:spPr>
          <a:xfrm>
            <a:off x="590520" y="4719676"/>
            <a:ext cx="659008"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Allied Universal</a:t>
            </a:r>
            <a:endParaRPr lang="en-US" sz="650" dirty="0"/>
          </a:p>
        </p:txBody>
      </p:sp>
      <p:sp>
        <p:nvSpPr>
          <p:cNvPr id="47" name="Text e58"/>
          <p:cNvSpPr txBox="1"/>
          <p:nvPr/>
        </p:nvSpPr>
        <p:spPr>
          <a:xfrm>
            <a:off x="523860" y="4948276"/>
            <a:ext cx="1543050" cy="247620"/>
          </a:xfrm>
          <a:prstGeom prst="rect">
            <a:avLst/>
          </a:prstGeom>
          <a:noFill/>
          <a:ln/>
        </p:spPr>
        <p:txBody>
          <a:bodyPr wrap="square" lIns="0" tIns="0" rIns="0" bIns="0" rtlCol="0" anchor="t"/>
          <a:lstStyle/>
          <a:p>
            <a:pPr algn="l" indent="0" marL="0">
              <a:lnSpc>
                <a:spcPts val="1000"/>
              </a:lnSpc>
              <a:buNone/>
            </a:pPr>
            <a:r>
              <a:rPr lang="en-US" sz="550" b="1" spc="150" kern="0" dirty="0">
                <a:solidFill>
                  <a:srgbClr val="8C6239"/>
                </a:solidFill>
                <a:latin typeface="+mn-lt" pitchFamily="34" charset="0"/>
              </a:rPr>
              <a:t>FACILITY AND OFFICE TECHNOLOGY</a:t>
            </a:r>
            <a:endParaRPr lang="en-US" sz="550" dirty="0"/>
          </a:p>
        </p:txBody>
      </p:sp>
      <p:sp>
        <p:nvSpPr>
          <p:cNvPr id="48" name="Shape e60"/>
          <p:cNvSpPr/>
          <p:nvPr/>
        </p:nvSpPr>
        <p:spPr>
          <a:xfrm>
            <a:off x="523860" y="5248290"/>
            <a:ext cx="962040" cy="171450"/>
          </a:xfrm>
          <a:prstGeom prst="rect">
            <a:avLst/>
          </a:prstGeom>
          <a:solidFill>
            <a:srgbClr val="FFFFFF"/>
          </a:solidFill>
          <a:ln w="12700">
            <a:solidFill>
              <a:srgbClr val="E3DCD3"/>
            </a:solidFill>
            <a:prstDash val="solid"/>
          </a:ln>
        </p:spPr>
        <p:txBody>
          <a:bodyPr/>
          <a:p/>
        </p:txBody>
      </p:sp>
      <p:sp>
        <p:nvSpPr>
          <p:cNvPr id="49" name="Text e60"/>
          <p:cNvSpPr txBox="1"/>
          <p:nvPr/>
        </p:nvSpPr>
        <p:spPr>
          <a:xfrm>
            <a:off x="590520" y="5272065"/>
            <a:ext cx="885871"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4M Building Solutions</a:t>
            </a:r>
            <a:endParaRPr lang="en-US" sz="650" dirty="0"/>
          </a:p>
        </p:txBody>
      </p:sp>
      <p:sp>
        <p:nvSpPr>
          <p:cNvPr id="50" name="Shape e61"/>
          <p:cNvSpPr/>
          <p:nvPr/>
        </p:nvSpPr>
        <p:spPr>
          <a:xfrm>
            <a:off x="523860" y="5457871"/>
            <a:ext cx="983437" cy="171450"/>
          </a:xfrm>
          <a:prstGeom prst="rect">
            <a:avLst/>
          </a:prstGeom>
          <a:solidFill>
            <a:srgbClr val="FFFFFF"/>
          </a:solidFill>
          <a:ln w="12700">
            <a:solidFill>
              <a:srgbClr val="E3DCD3"/>
            </a:solidFill>
            <a:prstDash val="solid"/>
          </a:ln>
        </p:spPr>
        <p:txBody>
          <a:bodyPr/>
          <a:p/>
        </p:txBody>
      </p:sp>
      <p:sp>
        <p:nvSpPr>
          <p:cNvPr id="51" name="Text e61"/>
          <p:cNvSpPr txBox="1"/>
          <p:nvPr/>
        </p:nvSpPr>
        <p:spPr>
          <a:xfrm>
            <a:off x="590520" y="5481645"/>
            <a:ext cx="907268"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Landscape Workshop</a:t>
            </a:r>
            <a:endParaRPr lang="en-US" sz="650" dirty="0"/>
          </a:p>
        </p:txBody>
      </p:sp>
      <p:sp>
        <p:nvSpPr>
          <p:cNvPr id="52" name="Shape e62"/>
          <p:cNvSpPr/>
          <p:nvPr/>
        </p:nvSpPr>
        <p:spPr>
          <a:xfrm>
            <a:off x="523860" y="5667360"/>
            <a:ext cx="638068" cy="171450"/>
          </a:xfrm>
          <a:prstGeom prst="rect">
            <a:avLst/>
          </a:prstGeom>
          <a:solidFill>
            <a:srgbClr val="FFFFFF"/>
          </a:solidFill>
          <a:ln w="12700">
            <a:solidFill>
              <a:srgbClr val="E3DCD3"/>
            </a:solidFill>
            <a:prstDash val="solid"/>
          </a:ln>
        </p:spPr>
        <p:txBody>
          <a:bodyPr/>
          <a:p/>
        </p:txBody>
      </p:sp>
      <p:sp>
        <p:nvSpPr>
          <p:cNvPr id="53" name="Text e62"/>
          <p:cNvSpPr txBox="1"/>
          <p:nvPr/>
        </p:nvSpPr>
        <p:spPr>
          <a:xfrm>
            <a:off x="590520" y="5691226"/>
            <a:ext cx="561807"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DEX Imaging</a:t>
            </a:r>
            <a:endParaRPr lang="en-US" sz="650" dirty="0"/>
          </a:p>
        </p:txBody>
      </p:sp>
      <p:sp>
        <p:nvSpPr>
          <p:cNvPr id="54" name="Shape e63"/>
          <p:cNvSpPr/>
          <p:nvPr/>
        </p:nvSpPr>
        <p:spPr>
          <a:xfrm>
            <a:off x="523860" y="5876940"/>
            <a:ext cx="1072774" cy="171450"/>
          </a:xfrm>
          <a:prstGeom prst="rect">
            <a:avLst/>
          </a:prstGeom>
          <a:solidFill>
            <a:srgbClr val="FFFFFF"/>
          </a:solidFill>
          <a:ln w="12700">
            <a:solidFill>
              <a:srgbClr val="E3DCD3"/>
            </a:solidFill>
            <a:prstDash val="solid"/>
          </a:ln>
        </p:spPr>
        <p:txBody>
          <a:bodyPr/>
          <a:p/>
        </p:txBody>
      </p:sp>
      <p:sp>
        <p:nvSpPr>
          <p:cNvPr id="55" name="Text e63"/>
          <p:cNvSpPr txBox="1"/>
          <p:nvPr/>
        </p:nvSpPr>
        <p:spPr>
          <a:xfrm>
            <a:off x="590520" y="5900715"/>
            <a:ext cx="996513"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UBEO Business Services</a:t>
            </a:r>
            <a:endParaRPr lang="en-US" sz="650" dirty="0"/>
          </a:p>
        </p:txBody>
      </p:sp>
      <p:sp>
        <p:nvSpPr>
          <p:cNvPr id="56" name="Shape e64"/>
          <p:cNvSpPr/>
          <p:nvPr/>
        </p:nvSpPr>
        <p:spPr>
          <a:xfrm>
            <a:off x="523860" y="6086521"/>
            <a:ext cx="1132119" cy="171450"/>
          </a:xfrm>
          <a:prstGeom prst="rect">
            <a:avLst/>
          </a:prstGeom>
          <a:solidFill>
            <a:srgbClr val="FFFFFF"/>
          </a:solidFill>
          <a:ln w="12700">
            <a:solidFill>
              <a:srgbClr val="E3DCD3"/>
            </a:solidFill>
            <a:prstDash val="solid"/>
          </a:ln>
        </p:spPr>
        <p:txBody>
          <a:bodyPr/>
          <a:p/>
        </p:txBody>
      </p:sp>
      <p:sp>
        <p:nvSpPr>
          <p:cNvPr id="57" name="Text e64"/>
          <p:cNvSpPr txBox="1"/>
          <p:nvPr/>
        </p:nvSpPr>
        <p:spPr>
          <a:xfrm>
            <a:off x="590520" y="6110295"/>
            <a:ext cx="1055949"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Pacific Office Automation</a:t>
            </a:r>
            <a:endParaRPr lang="en-US" sz="650" dirty="0"/>
          </a:p>
        </p:txBody>
      </p:sp>
      <p:sp>
        <p:nvSpPr>
          <p:cNvPr id="58" name="Text e65"/>
          <p:cNvSpPr txBox="1"/>
          <p:nvPr/>
        </p:nvSpPr>
        <p:spPr>
          <a:xfrm>
            <a:off x="523860" y="6338895"/>
            <a:ext cx="1374983"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TESTING AND INSPECTION</a:t>
            </a:r>
            <a:endParaRPr lang="en-US" sz="550" dirty="0"/>
          </a:p>
        </p:txBody>
      </p:sp>
      <p:sp>
        <p:nvSpPr>
          <p:cNvPr id="59" name="Shape e67"/>
          <p:cNvSpPr/>
          <p:nvPr/>
        </p:nvSpPr>
        <p:spPr>
          <a:xfrm>
            <a:off x="523860" y="6515100"/>
            <a:ext cx="690738" cy="171450"/>
          </a:xfrm>
          <a:prstGeom prst="rect">
            <a:avLst/>
          </a:prstGeom>
          <a:solidFill>
            <a:srgbClr val="FFFFFF"/>
          </a:solidFill>
          <a:ln w="12700">
            <a:solidFill>
              <a:srgbClr val="E3DCD3"/>
            </a:solidFill>
            <a:prstDash val="solid"/>
          </a:ln>
        </p:spPr>
        <p:txBody>
          <a:bodyPr/>
          <a:p/>
        </p:txBody>
      </p:sp>
      <p:sp>
        <p:nvSpPr>
          <p:cNvPr id="60" name="Text e67"/>
          <p:cNvSpPr txBox="1"/>
          <p:nvPr/>
        </p:nvSpPr>
        <p:spPr>
          <a:xfrm>
            <a:off x="590520" y="6538874"/>
            <a:ext cx="614477"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Phenna Group</a:t>
            </a:r>
            <a:endParaRPr lang="en-US" sz="650" dirty="0"/>
          </a:p>
        </p:txBody>
      </p:sp>
      <p:sp>
        <p:nvSpPr>
          <p:cNvPr id="61" name="Shape e68"/>
          <p:cNvSpPr/>
          <p:nvPr/>
        </p:nvSpPr>
        <p:spPr>
          <a:xfrm>
            <a:off x="1252728" y="6515100"/>
            <a:ext cx="475214" cy="171450"/>
          </a:xfrm>
          <a:prstGeom prst="rect">
            <a:avLst/>
          </a:prstGeom>
          <a:solidFill>
            <a:srgbClr val="FFFFFF"/>
          </a:solidFill>
          <a:ln w="12700">
            <a:solidFill>
              <a:srgbClr val="E3DCD3"/>
            </a:solidFill>
            <a:prstDash val="solid"/>
          </a:ln>
        </p:spPr>
        <p:txBody>
          <a:bodyPr/>
          <a:p/>
        </p:txBody>
      </p:sp>
      <p:sp>
        <p:nvSpPr>
          <p:cNvPr id="62" name="Text e68"/>
          <p:cNvSpPr txBox="1"/>
          <p:nvPr/>
        </p:nvSpPr>
        <p:spPr>
          <a:xfrm>
            <a:off x="1319388" y="6538874"/>
            <a:ext cx="399044"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Transcat</a:t>
            </a:r>
            <a:endParaRPr lang="en-US" sz="650" dirty="0"/>
          </a:p>
        </p:txBody>
      </p:sp>
      <p:sp>
        <p:nvSpPr>
          <p:cNvPr id="63" name="Shape e69"/>
          <p:cNvSpPr/>
          <p:nvPr/>
        </p:nvSpPr>
        <p:spPr>
          <a:xfrm>
            <a:off x="1765981" y="6515100"/>
            <a:ext cx="295168" cy="171450"/>
          </a:xfrm>
          <a:prstGeom prst="rect">
            <a:avLst/>
          </a:prstGeom>
          <a:solidFill>
            <a:srgbClr val="FFFFFF"/>
          </a:solidFill>
          <a:ln w="12700">
            <a:solidFill>
              <a:srgbClr val="E3DCD3"/>
            </a:solidFill>
            <a:prstDash val="solid"/>
          </a:ln>
        </p:spPr>
        <p:txBody>
          <a:bodyPr/>
          <a:p/>
        </p:txBody>
      </p:sp>
      <p:sp>
        <p:nvSpPr>
          <p:cNvPr id="64" name="Text e69"/>
          <p:cNvSpPr txBox="1"/>
          <p:nvPr/>
        </p:nvSpPr>
        <p:spPr>
          <a:xfrm>
            <a:off x="1832640" y="6538874"/>
            <a:ext cx="218907"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EQT</a:t>
            </a:r>
            <a:endParaRPr lang="en-US" sz="650" dirty="0"/>
          </a:p>
        </p:txBody>
      </p:sp>
      <p:sp>
        <p:nvSpPr>
          <p:cNvPr id="65" name="Shape e70"/>
          <p:cNvSpPr/>
          <p:nvPr/>
        </p:nvSpPr>
        <p:spPr>
          <a:xfrm>
            <a:off x="2286000" y="1238280"/>
            <a:ext cx="1752630" cy="5695980"/>
          </a:xfrm>
          <a:prstGeom prst="rect">
            <a:avLst/>
          </a:prstGeom>
          <a:solidFill>
            <a:srgbClr val="FAF7F3"/>
          </a:solidFill>
          <a:ln/>
        </p:spPr>
        <p:txBody>
          <a:bodyPr/>
          <a:p/>
        </p:txBody>
      </p:sp>
      <p:sp>
        <p:nvSpPr>
          <p:cNvPr id="66" name="Shape e71"/>
          <p:cNvSpPr/>
          <p:nvPr/>
        </p:nvSpPr>
        <p:spPr>
          <a:xfrm>
            <a:off x="2286000" y="1238280"/>
            <a:ext cx="1752630" cy="438180"/>
          </a:xfrm>
          <a:prstGeom prst="rect">
            <a:avLst/>
          </a:prstGeom>
          <a:solidFill>
            <a:srgbClr val="1B1A1A"/>
          </a:solidFill>
          <a:ln/>
        </p:spPr>
        <p:txBody>
          <a:bodyPr/>
          <a:p/>
        </p:txBody>
      </p:sp>
      <p:pic>
        <p:nvPicPr>
          <p:cNvPr id="67" name="Icon e72">    </p:cNvPr>
          <p:cNvPicPr>
            <a:picLocks noChangeAspect="1"/>
          </p:cNvPicPr>
          <p:nvPr/>
        </p:nvPicPr>
        <p:blipFill>
          <a:blip r:embed="rId2"/>
          <a:stretch>
            <a:fillRect/>
          </a:stretch>
        </p:blipFill>
        <p:spPr>
          <a:xfrm>
            <a:off x="2390790" y="1357335"/>
            <a:ext cx="200071" cy="200071"/>
          </a:xfrm>
          <a:prstGeom prst="rect">
            <a:avLst/>
          </a:prstGeom>
        </p:spPr>
      </p:pic>
      <p:sp>
        <p:nvSpPr>
          <p:cNvPr id="68" name="Text e73"/>
          <p:cNvSpPr txBox="1"/>
          <p:nvPr/>
        </p:nvSpPr>
        <p:spPr>
          <a:xfrm>
            <a:off x="2676540" y="1281074"/>
            <a:ext cx="1257300" cy="342900"/>
          </a:xfrm>
          <a:prstGeom prst="rect">
            <a:avLst/>
          </a:prstGeom>
          <a:noFill/>
          <a:ln/>
        </p:spPr>
        <p:txBody>
          <a:bodyPr wrap="square" lIns="0" tIns="0" rIns="0" bIns="0" rtlCol="0" anchor="t"/>
          <a:lstStyle/>
          <a:p>
            <a:pPr algn="l" indent="0" marL="0">
              <a:lnSpc>
                <a:spcPts val="900"/>
              </a:lnSpc>
              <a:buNone/>
            </a:pPr>
            <a:r>
              <a:rPr lang="en-US" sz="650" b="1" spc="100" kern="0" dirty="0">
                <a:solidFill>
                  <a:srgbClr val="FFFFFF"/>
                </a:solidFill>
                <a:latin typeface="+mn-lt" pitchFamily="34" charset="0"/>
              </a:rPr>
              <a:t>MARKETING, SALES &amp; TECH-ENABLED SERVICES</a:t>
            </a:r>
            <a:endParaRPr lang="en-US" sz="650" dirty="0"/>
          </a:p>
        </p:txBody>
      </p:sp>
      <p:sp>
        <p:nvSpPr>
          <p:cNvPr id="69" name="Text e75"/>
          <p:cNvSpPr txBox="1"/>
          <p:nvPr/>
        </p:nvSpPr>
        <p:spPr>
          <a:xfrm>
            <a:off x="2390790" y="1776405"/>
            <a:ext cx="1020196"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LISTED COMPANIES</a:t>
            </a:r>
            <a:endParaRPr lang="en-US" sz="550" dirty="0"/>
          </a:p>
        </p:txBody>
      </p:sp>
      <p:sp>
        <p:nvSpPr>
          <p:cNvPr id="70" name="Shape e77"/>
          <p:cNvSpPr/>
          <p:nvPr/>
        </p:nvSpPr>
        <p:spPr>
          <a:xfrm>
            <a:off x="2390790" y="2005005"/>
            <a:ext cx="47640" cy="47640"/>
          </a:xfrm>
          <a:prstGeom prst="rect">
            <a:avLst/>
          </a:prstGeom>
          <a:solidFill>
            <a:srgbClr val="B68757"/>
          </a:solidFill>
          <a:ln/>
        </p:spPr>
        <p:txBody>
          <a:bodyPr/>
          <a:p/>
        </p:txBody>
      </p:sp>
      <p:sp>
        <p:nvSpPr>
          <p:cNvPr id="71" name="Text e78"/>
          <p:cNvSpPr txBox="1"/>
          <p:nvPr/>
        </p:nvSpPr>
        <p:spPr>
          <a:xfrm>
            <a:off x="2505090" y="1962120"/>
            <a:ext cx="657088"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Dentsu Group</a:t>
            </a:r>
            <a:endParaRPr lang="en-US" sz="700" dirty="0"/>
          </a:p>
        </p:txBody>
      </p:sp>
      <p:sp>
        <p:nvSpPr>
          <p:cNvPr id="72" name="Shape e80"/>
          <p:cNvSpPr/>
          <p:nvPr/>
        </p:nvSpPr>
        <p:spPr>
          <a:xfrm>
            <a:off x="2390790" y="2157435"/>
            <a:ext cx="47640" cy="47640"/>
          </a:xfrm>
          <a:prstGeom prst="rect">
            <a:avLst/>
          </a:prstGeom>
          <a:solidFill>
            <a:srgbClr val="B68757"/>
          </a:solidFill>
          <a:ln/>
        </p:spPr>
        <p:txBody>
          <a:bodyPr/>
          <a:p/>
        </p:txBody>
      </p:sp>
      <p:sp>
        <p:nvSpPr>
          <p:cNvPr id="73" name="Text e81"/>
          <p:cNvSpPr txBox="1"/>
          <p:nvPr/>
        </p:nvSpPr>
        <p:spPr>
          <a:xfrm>
            <a:off x="2505090" y="2114550"/>
            <a:ext cx="954451"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Advantage Solutions</a:t>
            </a:r>
            <a:endParaRPr lang="en-US" sz="700" dirty="0"/>
          </a:p>
        </p:txBody>
      </p:sp>
      <p:sp>
        <p:nvSpPr>
          <p:cNvPr id="74" name="Shape e83"/>
          <p:cNvSpPr/>
          <p:nvPr/>
        </p:nvSpPr>
        <p:spPr>
          <a:xfrm>
            <a:off x="2390790" y="2309774"/>
            <a:ext cx="47640" cy="47640"/>
          </a:xfrm>
          <a:prstGeom prst="rect">
            <a:avLst/>
          </a:prstGeom>
          <a:solidFill>
            <a:srgbClr val="B68757"/>
          </a:solidFill>
          <a:ln/>
        </p:spPr>
        <p:txBody>
          <a:bodyPr/>
          <a:p/>
        </p:txBody>
      </p:sp>
      <p:sp>
        <p:nvSpPr>
          <p:cNvPr id="75" name="Text e84"/>
          <p:cNvSpPr txBox="1"/>
          <p:nvPr/>
        </p:nvSpPr>
        <p:spPr>
          <a:xfrm>
            <a:off x="2505090" y="2266980"/>
            <a:ext cx="727039"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Publicis Groupe</a:t>
            </a:r>
            <a:endParaRPr lang="en-US" sz="700" dirty="0"/>
          </a:p>
        </p:txBody>
      </p:sp>
      <p:sp>
        <p:nvSpPr>
          <p:cNvPr id="76" name="Shape e86"/>
          <p:cNvSpPr/>
          <p:nvPr/>
        </p:nvSpPr>
        <p:spPr>
          <a:xfrm>
            <a:off x="2390790" y="2462205"/>
            <a:ext cx="47640" cy="47640"/>
          </a:xfrm>
          <a:prstGeom prst="rect">
            <a:avLst/>
          </a:prstGeom>
          <a:solidFill>
            <a:srgbClr val="B68757"/>
          </a:solidFill>
          <a:ln/>
        </p:spPr>
        <p:txBody>
          <a:bodyPr/>
          <a:p/>
        </p:txBody>
      </p:sp>
      <p:sp>
        <p:nvSpPr>
          <p:cNvPr id="77" name="Text e87"/>
          <p:cNvSpPr txBox="1"/>
          <p:nvPr/>
        </p:nvSpPr>
        <p:spPr>
          <a:xfrm>
            <a:off x="2505090" y="2419320"/>
            <a:ext cx="426110"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Stagwell</a:t>
            </a:r>
            <a:endParaRPr lang="en-US" sz="700" dirty="0"/>
          </a:p>
        </p:txBody>
      </p:sp>
      <p:sp>
        <p:nvSpPr>
          <p:cNvPr id="78" name="Shape e89"/>
          <p:cNvSpPr/>
          <p:nvPr/>
        </p:nvSpPr>
        <p:spPr>
          <a:xfrm>
            <a:off x="2390790" y="2614635"/>
            <a:ext cx="47640" cy="47640"/>
          </a:xfrm>
          <a:prstGeom prst="rect">
            <a:avLst/>
          </a:prstGeom>
          <a:solidFill>
            <a:srgbClr val="B68757"/>
          </a:solidFill>
          <a:ln/>
        </p:spPr>
        <p:txBody>
          <a:bodyPr/>
          <a:p/>
        </p:txBody>
      </p:sp>
      <p:sp>
        <p:nvSpPr>
          <p:cNvPr id="79" name="Text e90"/>
          <p:cNvSpPr txBox="1"/>
          <p:nvPr/>
        </p:nvSpPr>
        <p:spPr>
          <a:xfrm>
            <a:off x="2505090" y="2571750"/>
            <a:ext cx="258227"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WPP</a:t>
            </a:r>
            <a:endParaRPr lang="en-US" sz="700" dirty="0"/>
          </a:p>
        </p:txBody>
      </p:sp>
      <p:sp>
        <p:nvSpPr>
          <p:cNvPr id="80" name="Shape e92"/>
          <p:cNvSpPr/>
          <p:nvPr/>
        </p:nvSpPr>
        <p:spPr>
          <a:xfrm>
            <a:off x="2390790" y="2766974"/>
            <a:ext cx="47640" cy="47640"/>
          </a:xfrm>
          <a:prstGeom prst="rect">
            <a:avLst/>
          </a:prstGeom>
          <a:solidFill>
            <a:srgbClr val="B68757"/>
          </a:solidFill>
          <a:ln/>
        </p:spPr>
        <p:txBody>
          <a:bodyPr/>
          <a:p/>
        </p:txBody>
      </p:sp>
      <p:sp>
        <p:nvSpPr>
          <p:cNvPr id="81" name="Text e93"/>
          <p:cNvSpPr txBox="1"/>
          <p:nvPr/>
        </p:nvSpPr>
        <p:spPr>
          <a:xfrm>
            <a:off x="2505090" y="2724180"/>
            <a:ext cx="478140"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Omnicom</a:t>
            </a:r>
            <a:endParaRPr lang="en-US" sz="700" dirty="0"/>
          </a:p>
        </p:txBody>
      </p:sp>
      <p:sp>
        <p:nvSpPr>
          <p:cNvPr id="82" name="Shape e95"/>
          <p:cNvSpPr/>
          <p:nvPr/>
        </p:nvSpPr>
        <p:spPr>
          <a:xfrm>
            <a:off x="2390790" y="2919405"/>
            <a:ext cx="47640" cy="47640"/>
          </a:xfrm>
          <a:prstGeom prst="rect">
            <a:avLst/>
          </a:prstGeom>
          <a:solidFill>
            <a:srgbClr val="B68757"/>
          </a:solidFill>
          <a:ln/>
        </p:spPr>
        <p:txBody>
          <a:bodyPr/>
          <a:p/>
        </p:txBody>
      </p:sp>
      <p:sp>
        <p:nvSpPr>
          <p:cNvPr id="83" name="Text e96"/>
          <p:cNvSpPr txBox="1"/>
          <p:nvPr/>
        </p:nvSpPr>
        <p:spPr>
          <a:xfrm>
            <a:off x="2505090" y="2876520"/>
            <a:ext cx="496153"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Accenture</a:t>
            </a:r>
            <a:endParaRPr lang="en-US" sz="700" dirty="0"/>
          </a:p>
        </p:txBody>
      </p:sp>
      <p:sp>
        <p:nvSpPr>
          <p:cNvPr id="84" name="Shape e98"/>
          <p:cNvSpPr/>
          <p:nvPr/>
        </p:nvSpPr>
        <p:spPr>
          <a:xfrm>
            <a:off x="2390790" y="3071835"/>
            <a:ext cx="47640" cy="47640"/>
          </a:xfrm>
          <a:prstGeom prst="rect">
            <a:avLst/>
          </a:prstGeom>
          <a:solidFill>
            <a:srgbClr val="B68757"/>
          </a:solidFill>
          <a:ln/>
        </p:spPr>
        <p:txBody>
          <a:bodyPr/>
          <a:p/>
        </p:txBody>
      </p:sp>
      <p:sp>
        <p:nvSpPr>
          <p:cNvPr id="85" name="Text e99"/>
          <p:cNvSpPr txBox="1"/>
          <p:nvPr/>
        </p:nvSpPr>
        <p:spPr>
          <a:xfrm>
            <a:off x="2505090" y="3028950"/>
            <a:ext cx="497342"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Cognizant</a:t>
            </a:r>
            <a:endParaRPr lang="en-US" sz="700" dirty="0"/>
          </a:p>
        </p:txBody>
      </p:sp>
      <p:sp>
        <p:nvSpPr>
          <p:cNvPr id="86" name="Shape e101"/>
          <p:cNvSpPr/>
          <p:nvPr/>
        </p:nvSpPr>
        <p:spPr>
          <a:xfrm>
            <a:off x="2390790" y="3224174"/>
            <a:ext cx="47640" cy="47640"/>
          </a:xfrm>
          <a:prstGeom prst="rect">
            <a:avLst/>
          </a:prstGeom>
          <a:solidFill>
            <a:srgbClr val="B68757"/>
          </a:solidFill>
          <a:ln/>
        </p:spPr>
        <p:txBody>
          <a:bodyPr/>
          <a:p/>
        </p:txBody>
      </p:sp>
      <p:sp>
        <p:nvSpPr>
          <p:cNvPr id="87" name="Text e102"/>
          <p:cNvSpPr txBox="1"/>
          <p:nvPr/>
        </p:nvSpPr>
        <p:spPr>
          <a:xfrm>
            <a:off x="2505090" y="3181380"/>
            <a:ext cx="414040"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4imprint</a:t>
            </a:r>
            <a:endParaRPr lang="en-US" sz="700" dirty="0"/>
          </a:p>
        </p:txBody>
      </p:sp>
      <p:sp>
        <p:nvSpPr>
          <p:cNvPr id="88" name="Shape e104"/>
          <p:cNvSpPr/>
          <p:nvPr/>
        </p:nvSpPr>
        <p:spPr>
          <a:xfrm>
            <a:off x="2390790" y="3376605"/>
            <a:ext cx="47640" cy="47640"/>
          </a:xfrm>
          <a:prstGeom prst="rect">
            <a:avLst/>
          </a:prstGeom>
          <a:solidFill>
            <a:srgbClr val="B68757"/>
          </a:solidFill>
          <a:ln/>
        </p:spPr>
        <p:txBody>
          <a:bodyPr/>
          <a:p/>
        </p:txBody>
      </p:sp>
      <p:sp>
        <p:nvSpPr>
          <p:cNvPr id="89" name="Text e105"/>
          <p:cNvSpPr txBox="1"/>
          <p:nvPr/>
        </p:nvSpPr>
        <p:spPr>
          <a:xfrm>
            <a:off x="2505090" y="3333720"/>
            <a:ext cx="523768"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Daktronics</a:t>
            </a:r>
            <a:endParaRPr lang="en-US" sz="700" dirty="0"/>
          </a:p>
        </p:txBody>
      </p:sp>
      <p:sp>
        <p:nvSpPr>
          <p:cNvPr id="90" name="Shape e106s0"/>
          <p:cNvSpPr/>
          <p:nvPr/>
        </p:nvSpPr>
        <p:spPr>
          <a:xfrm>
            <a:off x="2390790" y="3571921"/>
            <a:ext cx="1543050" cy="9510"/>
          </a:xfrm>
          <a:prstGeom prst="rect">
            <a:avLst/>
          </a:prstGeom>
          <a:solidFill>
            <a:srgbClr val="E3DCD3"/>
          </a:solidFill>
          <a:ln/>
        </p:spPr>
        <p:txBody>
          <a:bodyPr/>
          <a:p/>
        </p:txBody>
      </p:sp>
      <p:sp>
        <p:nvSpPr>
          <p:cNvPr id="91" name="Text e107"/>
          <p:cNvSpPr txBox="1"/>
          <p:nvPr/>
        </p:nvSpPr>
        <p:spPr>
          <a:xfrm>
            <a:off x="2390790" y="3671865"/>
            <a:ext cx="1543050" cy="247620"/>
          </a:xfrm>
          <a:prstGeom prst="rect">
            <a:avLst/>
          </a:prstGeom>
          <a:noFill/>
          <a:ln/>
        </p:spPr>
        <p:txBody>
          <a:bodyPr wrap="square" lIns="0" tIns="0" rIns="0" bIns="0" rtlCol="0" anchor="t"/>
          <a:lstStyle/>
          <a:p>
            <a:pPr algn="l" indent="0" marL="0">
              <a:lnSpc>
                <a:spcPts val="1000"/>
              </a:lnSpc>
              <a:buNone/>
            </a:pPr>
            <a:r>
              <a:rPr lang="en-US" sz="550" b="1" spc="150" kern="0" dirty="0">
                <a:solidFill>
                  <a:srgbClr val="8C6239"/>
                </a:solidFill>
                <a:latin typeface="+mn-lt" pitchFamily="34" charset="0"/>
              </a:rPr>
              <a:t>AGENCY PLATFORMS AND SPONSORS</a:t>
            </a:r>
            <a:endParaRPr lang="en-US" sz="550" dirty="0"/>
          </a:p>
        </p:txBody>
      </p:sp>
      <p:sp>
        <p:nvSpPr>
          <p:cNvPr id="92" name="Shape e109"/>
          <p:cNvSpPr/>
          <p:nvPr/>
        </p:nvSpPr>
        <p:spPr>
          <a:xfrm>
            <a:off x="2390790" y="3971971"/>
            <a:ext cx="1078535" cy="171450"/>
          </a:xfrm>
          <a:prstGeom prst="rect">
            <a:avLst/>
          </a:prstGeom>
          <a:solidFill>
            <a:srgbClr val="FFFFFF"/>
          </a:solidFill>
          <a:ln w="12700">
            <a:solidFill>
              <a:srgbClr val="E3DCD3"/>
            </a:solidFill>
            <a:prstDash val="solid"/>
          </a:ln>
        </p:spPr>
        <p:txBody>
          <a:bodyPr/>
          <a:p/>
        </p:txBody>
      </p:sp>
      <p:sp>
        <p:nvSpPr>
          <p:cNvPr id="93" name="Text e109"/>
          <p:cNvSpPr txBox="1"/>
          <p:nvPr/>
        </p:nvSpPr>
        <p:spPr>
          <a:xfrm>
            <a:off x="2457450" y="3995745"/>
            <a:ext cx="1002365"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OneMagnify (Crestview)</a:t>
            </a:r>
            <a:endParaRPr lang="en-US" sz="650" dirty="0"/>
          </a:p>
        </p:txBody>
      </p:sp>
      <p:sp>
        <p:nvSpPr>
          <p:cNvPr id="94" name="Shape e110"/>
          <p:cNvSpPr/>
          <p:nvPr/>
        </p:nvSpPr>
        <p:spPr>
          <a:xfrm>
            <a:off x="2390790" y="4181460"/>
            <a:ext cx="652882" cy="171450"/>
          </a:xfrm>
          <a:prstGeom prst="rect">
            <a:avLst/>
          </a:prstGeom>
          <a:solidFill>
            <a:srgbClr val="FFFFFF"/>
          </a:solidFill>
          <a:ln w="12700">
            <a:solidFill>
              <a:srgbClr val="E3DCD3"/>
            </a:solidFill>
            <a:prstDash val="solid"/>
          </a:ln>
        </p:spPr>
        <p:txBody>
          <a:bodyPr/>
          <a:p/>
        </p:txBody>
      </p:sp>
      <p:sp>
        <p:nvSpPr>
          <p:cNvPr id="95" name="Text e110"/>
          <p:cNvSpPr txBox="1"/>
          <p:nvPr/>
        </p:nvSpPr>
        <p:spPr>
          <a:xfrm>
            <a:off x="2457450" y="4205326"/>
            <a:ext cx="576712"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Power Digital</a:t>
            </a:r>
            <a:endParaRPr lang="en-US" sz="650" dirty="0"/>
          </a:p>
        </p:txBody>
      </p:sp>
      <p:sp>
        <p:nvSpPr>
          <p:cNvPr id="96" name="Shape e111"/>
          <p:cNvSpPr/>
          <p:nvPr/>
        </p:nvSpPr>
        <p:spPr>
          <a:xfrm>
            <a:off x="3081802" y="4181460"/>
            <a:ext cx="815553" cy="171450"/>
          </a:xfrm>
          <a:prstGeom prst="rect">
            <a:avLst/>
          </a:prstGeom>
          <a:solidFill>
            <a:srgbClr val="FFFFFF"/>
          </a:solidFill>
          <a:ln w="12700">
            <a:solidFill>
              <a:srgbClr val="E3DCD3"/>
            </a:solidFill>
            <a:prstDash val="solid"/>
          </a:ln>
        </p:spPr>
        <p:txBody>
          <a:bodyPr/>
          <a:p/>
        </p:txBody>
      </p:sp>
      <p:sp>
        <p:nvSpPr>
          <p:cNvPr id="97" name="Text e111"/>
          <p:cNvSpPr txBox="1"/>
          <p:nvPr/>
        </p:nvSpPr>
        <p:spPr>
          <a:xfrm>
            <a:off x="3148462" y="4205326"/>
            <a:ext cx="739384"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Wpromote (ZMC)</a:t>
            </a:r>
            <a:endParaRPr lang="en-US" sz="650" dirty="0"/>
          </a:p>
        </p:txBody>
      </p:sp>
      <p:sp>
        <p:nvSpPr>
          <p:cNvPr id="98" name="Shape e112"/>
          <p:cNvSpPr/>
          <p:nvPr/>
        </p:nvSpPr>
        <p:spPr>
          <a:xfrm>
            <a:off x="2390790" y="4391040"/>
            <a:ext cx="1287384" cy="171450"/>
          </a:xfrm>
          <a:prstGeom prst="rect">
            <a:avLst/>
          </a:prstGeom>
          <a:solidFill>
            <a:srgbClr val="FFFFFF"/>
          </a:solidFill>
          <a:ln w="12700">
            <a:solidFill>
              <a:srgbClr val="E3DCD3"/>
            </a:solidFill>
            <a:prstDash val="solid"/>
          </a:ln>
        </p:spPr>
        <p:txBody>
          <a:bodyPr/>
          <a:p/>
        </p:txBody>
      </p:sp>
      <p:sp>
        <p:nvSpPr>
          <p:cNvPr id="99" name="Text e112"/>
          <p:cNvSpPr txBox="1"/>
          <p:nvPr/>
        </p:nvSpPr>
        <p:spPr>
          <a:xfrm>
            <a:off x="2457450" y="4414815"/>
            <a:ext cx="1211123"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Supreme Group (Trinity Hunt)</a:t>
            </a:r>
            <a:endParaRPr lang="en-US" sz="650" dirty="0"/>
          </a:p>
        </p:txBody>
      </p:sp>
      <p:sp>
        <p:nvSpPr>
          <p:cNvPr id="100" name="Shape e113"/>
          <p:cNvSpPr/>
          <p:nvPr/>
        </p:nvSpPr>
        <p:spPr>
          <a:xfrm>
            <a:off x="2390790" y="4600621"/>
            <a:ext cx="1004926" cy="171450"/>
          </a:xfrm>
          <a:prstGeom prst="rect">
            <a:avLst/>
          </a:prstGeom>
          <a:solidFill>
            <a:srgbClr val="FFFFFF"/>
          </a:solidFill>
          <a:ln w="12700">
            <a:solidFill>
              <a:srgbClr val="E3DCD3"/>
            </a:solidFill>
            <a:prstDash val="solid"/>
          </a:ln>
        </p:spPr>
        <p:txBody>
          <a:bodyPr/>
          <a:p/>
        </p:txBody>
      </p:sp>
      <p:sp>
        <p:nvSpPr>
          <p:cNvPr id="101" name="Text e113"/>
          <p:cNvSpPr txBox="1"/>
          <p:nvPr/>
        </p:nvSpPr>
        <p:spPr>
          <a:xfrm>
            <a:off x="2457450" y="4624395"/>
            <a:ext cx="928665"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OuterBox (WILsquare)</a:t>
            </a:r>
            <a:endParaRPr lang="en-US" sz="650" dirty="0"/>
          </a:p>
        </p:txBody>
      </p:sp>
      <p:sp>
        <p:nvSpPr>
          <p:cNvPr id="102" name="Shape e114"/>
          <p:cNvSpPr/>
          <p:nvPr/>
        </p:nvSpPr>
        <p:spPr>
          <a:xfrm>
            <a:off x="2390790" y="4810110"/>
            <a:ext cx="996879" cy="171450"/>
          </a:xfrm>
          <a:prstGeom prst="rect">
            <a:avLst/>
          </a:prstGeom>
          <a:solidFill>
            <a:srgbClr val="FFFFFF"/>
          </a:solidFill>
          <a:ln w="12700">
            <a:solidFill>
              <a:srgbClr val="E3DCD3"/>
            </a:solidFill>
            <a:prstDash val="solid"/>
          </a:ln>
        </p:spPr>
        <p:txBody>
          <a:bodyPr/>
          <a:p/>
        </p:txBody>
      </p:sp>
      <p:sp>
        <p:nvSpPr>
          <p:cNvPr id="103" name="Text e114"/>
          <p:cNvSpPr txBox="1"/>
          <p:nvPr/>
        </p:nvSpPr>
        <p:spPr>
          <a:xfrm>
            <a:off x="2457450" y="4833976"/>
            <a:ext cx="920618"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Impact XM (Riverside)</a:t>
            </a:r>
            <a:endParaRPr lang="en-US" sz="650" dirty="0"/>
          </a:p>
        </p:txBody>
      </p:sp>
      <p:sp>
        <p:nvSpPr>
          <p:cNvPr id="104" name="Shape e115"/>
          <p:cNvSpPr/>
          <p:nvPr/>
        </p:nvSpPr>
        <p:spPr>
          <a:xfrm>
            <a:off x="2390790" y="5019690"/>
            <a:ext cx="742950" cy="171450"/>
          </a:xfrm>
          <a:prstGeom prst="rect">
            <a:avLst/>
          </a:prstGeom>
          <a:solidFill>
            <a:srgbClr val="FFFFFF"/>
          </a:solidFill>
          <a:ln w="12700">
            <a:solidFill>
              <a:srgbClr val="E3DCD3"/>
            </a:solidFill>
            <a:prstDash val="solid"/>
          </a:ln>
        </p:spPr>
        <p:txBody>
          <a:bodyPr/>
          <a:p/>
        </p:txBody>
      </p:sp>
      <p:sp>
        <p:nvSpPr>
          <p:cNvPr id="105" name="Text e115"/>
          <p:cNvSpPr txBox="1"/>
          <p:nvPr/>
        </p:nvSpPr>
        <p:spPr>
          <a:xfrm>
            <a:off x="2457450" y="5043465"/>
            <a:ext cx="666780"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Platinum Equity</a:t>
            </a:r>
            <a:endParaRPr lang="en-US" sz="650" dirty="0"/>
          </a:p>
        </p:txBody>
      </p:sp>
      <p:sp>
        <p:nvSpPr>
          <p:cNvPr id="106" name="Text e116"/>
          <p:cNvSpPr txBox="1"/>
          <p:nvPr/>
        </p:nvSpPr>
        <p:spPr>
          <a:xfrm>
            <a:off x="2390790" y="5272065"/>
            <a:ext cx="1351392"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PROMOTIONAL PRODUCTS</a:t>
            </a:r>
            <a:endParaRPr lang="en-US" sz="550" dirty="0"/>
          </a:p>
        </p:txBody>
      </p:sp>
      <p:sp>
        <p:nvSpPr>
          <p:cNvPr id="107" name="Shape e118"/>
          <p:cNvSpPr/>
          <p:nvPr/>
        </p:nvSpPr>
        <p:spPr>
          <a:xfrm>
            <a:off x="2390790" y="5448270"/>
            <a:ext cx="1094354" cy="171450"/>
          </a:xfrm>
          <a:prstGeom prst="rect">
            <a:avLst/>
          </a:prstGeom>
          <a:solidFill>
            <a:srgbClr val="FFFFFF"/>
          </a:solidFill>
          <a:ln w="12700">
            <a:solidFill>
              <a:srgbClr val="E3DCD3"/>
            </a:solidFill>
            <a:prstDash val="solid"/>
          </a:ln>
        </p:spPr>
        <p:txBody>
          <a:bodyPr/>
          <a:p/>
        </p:txBody>
      </p:sp>
      <p:sp>
        <p:nvSpPr>
          <p:cNvPr id="108" name="Text e118"/>
          <p:cNvSpPr txBox="1"/>
          <p:nvPr/>
        </p:nvSpPr>
        <p:spPr>
          <a:xfrm>
            <a:off x="2457450" y="5472135"/>
            <a:ext cx="1018093"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HALO Branded Solutions</a:t>
            </a:r>
            <a:endParaRPr lang="en-US" sz="650" dirty="0"/>
          </a:p>
        </p:txBody>
      </p:sp>
      <p:sp>
        <p:nvSpPr>
          <p:cNvPr id="109" name="Shape e119"/>
          <p:cNvSpPr/>
          <p:nvPr/>
        </p:nvSpPr>
        <p:spPr>
          <a:xfrm>
            <a:off x="2390790" y="5657850"/>
            <a:ext cx="1087953" cy="171450"/>
          </a:xfrm>
          <a:prstGeom prst="rect">
            <a:avLst/>
          </a:prstGeom>
          <a:solidFill>
            <a:srgbClr val="FFFFFF"/>
          </a:solidFill>
          <a:ln w="12700">
            <a:solidFill>
              <a:srgbClr val="E3DCD3"/>
            </a:solidFill>
            <a:prstDash val="solid"/>
          </a:ln>
        </p:spPr>
        <p:txBody>
          <a:bodyPr/>
          <a:p/>
        </p:txBody>
      </p:sp>
      <p:sp>
        <p:nvSpPr>
          <p:cNvPr id="110" name="Text e119"/>
          <p:cNvSpPr txBox="1"/>
          <p:nvPr/>
        </p:nvSpPr>
        <p:spPr>
          <a:xfrm>
            <a:off x="2457450" y="5681624"/>
            <a:ext cx="1011692"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IdentiBrands (Proforma)</a:t>
            </a:r>
            <a:endParaRPr lang="en-US" sz="650" dirty="0"/>
          </a:p>
        </p:txBody>
      </p:sp>
      <p:sp>
        <p:nvSpPr>
          <p:cNvPr id="111" name="Shape e120"/>
          <p:cNvSpPr/>
          <p:nvPr/>
        </p:nvSpPr>
        <p:spPr>
          <a:xfrm>
            <a:off x="2390790" y="5867430"/>
            <a:ext cx="786384" cy="171450"/>
          </a:xfrm>
          <a:prstGeom prst="rect">
            <a:avLst/>
          </a:prstGeom>
          <a:solidFill>
            <a:srgbClr val="FFFFFF"/>
          </a:solidFill>
          <a:ln w="12700">
            <a:solidFill>
              <a:srgbClr val="E3DCD3"/>
            </a:solidFill>
            <a:prstDash val="solid"/>
          </a:ln>
        </p:spPr>
        <p:txBody>
          <a:bodyPr/>
          <a:p/>
        </p:txBody>
      </p:sp>
      <p:sp>
        <p:nvSpPr>
          <p:cNvPr id="112" name="Text e120"/>
          <p:cNvSpPr txBox="1"/>
          <p:nvPr/>
        </p:nvSpPr>
        <p:spPr>
          <a:xfrm>
            <a:off x="2457450" y="5891205"/>
            <a:ext cx="710214"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Zebra Marketing</a:t>
            </a:r>
            <a:endParaRPr lang="en-US" sz="650" dirty="0"/>
          </a:p>
        </p:txBody>
      </p:sp>
      <p:sp>
        <p:nvSpPr>
          <p:cNvPr id="113" name="Text e121"/>
          <p:cNvSpPr txBox="1"/>
          <p:nvPr/>
        </p:nvSpPr>
        <p:spPr>
          <a:xfrm>
            <a:off x="2390790" y="6119805"/>
            <a:ext cx="691926"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CONSULTING</a:t>
            </a:r>
            <a:endParaRPr lang="en-US" sz="550" dirty="0"/>
          </a:p>
        </p:txBody>
      </p:sp>
      <p:sp>
        <p:nvSpPr>
          <p:cNvPr id="114" name="Shape e123"/>
          <p:cNvSpPr/>
          <p:nvPr/>
        </p:nvSpPr>
        <p:spPr>
          <a:xfrm>
            <a:off x="2390790" y="6296010"/>
            <a:ext cx="514990" cy="171450"/>
          </a:xfrm>
          <a:prstGeom prst="rect">
            <a:avLst/>
          </a:prstGeom>
          <a:solidFill>
            <a:srgbClr val="FFFFFF"/>
          </a:solidFill>
          <a:ln w="12700">
            <a:solidFill>
              <a:srgbClr val="E3DCD3"/>
            </a:solidFill>
            <a:prstDash val="solid"/>
          </a:ln>
        </p:spPr>
        <p:txBody>
          <a:bodyPr/>
          <a:p/>
        </p:txBody>
      </p:sp>
      <p:sp>
        <p:nvSpPr>
          <p:cNvPr id="115" name="Text e123"/>
          <p:cNvSpPr txBox="1"/>
          <p:nvPr/>
        </p:nvSpPr>
        <p:spPr>
          <a:xfrm>
            <a:off x="2457450" y="6319876"/>
            <a:ext cx="438729"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Armanino</a:t>
            </a:r>
            <a:endParaRPr lang="en-US" sz="650" dirty="0"/>
          </a:p>
        </p:txBody>
      </p:sp>
      <p:sp>
        <p:nvSpPr>
          <p:cNvPr id="116" name="Shape e124"/>
          <p:cNvSpPr/>
          <p:nvPr/>
        </p:nvSpPr>
        <p:spPr>
          <a:xfrm>
            <a:off x="2943819" y="6296010"/>
            <a:ext cx="570768" cy="171450"/>
          </a:xfrm>
          <a:prstGeom prst="rect">
            <a:avLst/>
          </a:prstGeom>
          <a:solidFill>
            <a:srgbClr val="FFFFFF"/>
          </a:solidFill>
          <a:ln w="12700">
            <a:solidFill>
              <a:srgbClr val="E3DCD3"/>
            </a:solidFill>
            <a:prstDash val="solid"/>
          </a:ln>
        </p:spPr>
        <p:txBody>
          <a:bodyPr/>
          <a:p/>
        </p:txBody>
      </p:sp>
      <p:sp>
        <p:nvSpPr>
          <p:cNvPr id="117" name="Text e124"/>
          <p:cNvSpPr txBox="1"/>
          <p:nvPr/>
        </p:nvSpPr>
        <p:spPr>
          <a:xfrm>
            <a:off x="3010479" y="6319876"/>
            <a:ext cx="494599"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Wavestone</a:t>
            </a:r>
            <a:endParaRPr lang="en-US" sz="650" dirty="0"/>
          </a:p>
        </p:txBody>
      </p:sp>
      <p:sp>
        <p:nvSpPr>
          <p:cNvPr id="118" name="Shape e125"/>
          <p:cNvSpPr/>
          <p:nvPr/>
        </p:nvSpPr>
        <p:spPr>
          <a:xfrm>
            <a:off x="4152930" y="1238280"/>
            <a:ext cx="1752630" cy="5695980"/>
          </a:xfrm>
          <a:prstGeom prst="rect">
            <a:avLst/>
          </a:prstGeom>
          <a:solidFill>
            <a:srgbClr val="FAF7F3"/>
          </a:solidFill>
          <a:ln/>
        </p:spPr>
        <p:txBody>
          <a:bodyPr/>
          <a:p/>
        </p:txBody>
      </p:sp>
      <p:sp>
        <p:nvSpPr>
          <p:cNvPr id="119" name="Shape e126"/>
          <p:cNvSpPr/>
          <p:nvPr/>
        </p:nvSpPr>
        <p:spPr>
          <a:xfrm>
            <a:off x="4152930" y="1238280"/>
            <a:ext cx="1752630" cy="438180"/>
          </a:xfrm>
          <a:prstGeom prst="rect">
            <a:avLst/>
          </a:prstGeom>
          <a:solidFill>
            <a:srgbClr val="1B1A1A"/>
          </a:solidFill>
          <a:ln/>
        </p:spPr>
        <p:txBody>
          <a:bodyPr/>
          <a:p/>
        </p:txBody>
      </p:sp>
      <p:pic>
        <p:nvPicPr>
          <p:cNvPr id="120" name="Icon e127">    </p:cNvPr>
          <p:cNvPicPr>
            <a:picLocks noChangeAspect="1"/>
          </p:cNvPicPr>
          <p:nvPr/>
        </p:nvPicPr>
        <p:blipFill>
          <a:blip r:embed="rId3"/>
          <a:stretch>
            <a:fillRect/>
          </a:stretch>
        </p:blipFill>
        <p:spPr>
          <a:xfrm>
            <a:off x="4257721" y="1357335"/>
            <a:ext cx="200071" cy="200071"/>
          </a:xfrm>
          <a:prstGeom prst="rect">
            <a:avLst/>
          </a:prstGeom>
        </p:spPr>
      </p:pic>
      <p:sp>
        <p:nvSpPr>
          <p:cNvPr id="121" name="Text e128"/>
          <p:cNvSpPr txBox="1"/>
          <p:nvPr/>
        </p:nvSpPr>
        <p:spPr>
          <a:xfrm>
            <a:off x="4543471" y="1281074"/>
            <a:ext cx="1257300" cy="342900"/>
          </a:xfrm>
          <a:prstGeom prst="rect">
            <a:avLst/>
          </a:prstGeom>
          <a:noFill/>
          <a:ln/>
        </p:spPr>
        <p:txBody>
          <a:bodyPr wrap="square" lIns="0" tIns="0" rIns="0" bIns="0" rtlCol="0" anchor="t"/>
          <a:lstStyle/>
          <a:p>
            <a:pPr algn="l" indent="0" marL="0">
              <a:lnSpc>
                <a:spcPts val="900"/>
              </a:lnSpc>
              <a:buNone/>
            </a:pPr>
            <a:r>
              <a:rPr lang="en-US" sz="650" b="1" spc="100" kern="0" dirty="0">
                <a:solidFill>
                  <a:srgbClr val="FFFFFF"/>
                </a:solidFill>
                <a:latin typeface="+mn-lt" pitchFamily="34" charset="0"/>
              </a:rPr>
              <a:t>ENGINEERING, ARCHITECTURE &amp; CONSULTING</a:t>
            </a:r>
            <a:endParaRPr lang="en-US" sz="650" dirty="0"/>
          </a:p>
        </p:txBody>
      </p:sp>
      <p:sp>
        <p:nvSpPr>
          <p:cNvPr id="122" name="Text e130"/>
          <p:cNvSpPr txBox="1"/>
          <p:nvPr/>
        </p:nvSpPr>
        <p:spPr>
          <a:xfrm>
            <a:off x="4257721" y="1776405"/>
            <a:ext cx="1020196"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LISTED COMPANIES</a:t>
            </a:r>
            <a:endParaRPr lang="en-US" sz="550" dirty="0"/>
          </a:p>
        </p:txBody>
      </p:sp>
      <p:sp>
        <p:nvSpPr>
          <p:cNvPr id="123" name="Shape e132"/>
          <p:cNvSpPr/>
          <p:nvPr/>
        </p:nvSpPr>
        <p:spPr>
          <a:xfrm>
            <a:off x="4257721" y="2005005"/>
            <a:ext cx="47640" cy="47640"/>
          </a:xfrm>
          <a:prstGeom prst="rect">
            <a:avLst/>
          </a:prstGeom>
          <a:solidFill>
            <a:srgbClr val="B68757"/>
          </a:solidFill>
          <a:ln/>
        </p:spPr>
        <p:txBody>
          <a:bodyPr/>
          <a:p/>
        </p:txBody>
      </p:sp>
      <p:sp>
        <p:nvSpPr>
          <p:cNvPr id="124" name="Text e133"/>
          <p:cNvSpPr txBox="1"/>
          <p:nvPr/>
        </p:nvSpPr>
        <p:spPr>
          <a:xfrm>
            <a:off x="4372021" y="1962120"/>
            <a:ext cx="379933"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AECOM</a:t>
            </a:r>
            <a:endParaRPr lang="en-US" sz="700" dirty="0"/>
          </a:p>
        </p:txBody>
      </p:sp>
      <p:sp>
        <p:nvSpPr>
          <p:cNvPr id="125" name="Shape e135"/>
          <p:cNvSpPr/>
          <p:nvPr/>
        </p:nvSpPr>
        <p:spPr>
          <a:xfrm>
            <a:off x="4257721" y="2157435"/>
            <a:ext cx="47640" cy="47640"/>
          </a:xfrm>
          <a:prstGeom prst="rect">
            <a:avLst/>
          </a:prstGeom>
          <a:solidFill>
            <a:srgbClr val="B68757"/>
          </a:solidFill>
          <a:ln/>
        </p:spPr>
        <p:txBody>
          <a:bodyPr/>
          <a:p/>
        </p:txBody>
      </p:sp>
      <p:sp>
        <p:nvSpPr>
          <p:cNvPr id="126" name="Text e136"/>
          <p:cNvSpPr txBox="1"/>
          <p:nvPr/>
        </p:nvSpPr>
        <p:spPr>
          <a:xfrm>
            <a:off x="4372021" y="2114550"/>
            <a:ext cx="373990"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Jacobs</a:t>
            </a:r>
            <a:endParaRPr lang="en-US" sz="700" dirty="0"/>
          </a:p>
        </p:txBody>
      </p:sp>
      <p:sp>
        <p:nvSpPr>
          <p:cNvPr id="127" name="Shape e138"/>
          <p:cNvSpPr/>
          <p:nvPr/>
        </p:nvSpPr>
        <p:spPr>
          <a:xfrm>
            <a:off x="4257721" y="2309774"/>
            <a:ext cx="47640" cy="47640"/>
          </a:xfrm>
          <a:prstGeom prst="rect">
            <a:avLst/>
          </a:prstGeom>
          <a:solidFill>
            <a:srgbClr val="B68757"/>
          </a:solidFill>
          <a:ln/>
        </p:spPr>
        <p:txBody>
          <a:bodyPr/>
          <a:p/>
        </p:txBody>
      </p:sp>
      <p:sp>
        <p:nvSpPr>
          <p:cNvPr id="128" name="Text e139"/>
          <p:cNvSpPr txBox="1"/>
          <p:nvPr/>
        </p:nvSpPr>
        <p:spPr>
          <a:xfrm>
            <a:off x="4372021" y="2266980"/>
            <a:ext cx="508406"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Tetra Tech</a:t>
            </a:r>
            <a:endParaRPr lang="en-US" sz="700" dirty="0"/>
          </a:p>
        </p:txBody>
      </p:sp>
      <p:sp>
        <p:nvSpPr>
          <p:cNvPr id="129" name="Shape e141"/>
          <p:cNvSpPr/>
          <p:nvPr/>
        </p:nvSpPr>
        <p:spPr>
          <a:xfrm>
            <a:off x="4257721" y="2462205"/>
            <a:ext cx="47640" cy="47640"/>
          </a:xfrm>
          <a:prstGeom prst="rect">
            <a:avLst/>
          </a:prstGeom>
          <a:solidFill>
            <a:srgbClr val="B68757"/>
          </a:solidFill>
          <a:ln/>
        </p:spPr>
        <p:txBody>
          <a:bodyPr/>
          <a:p/>
        </p:txBody>
      </p:sp>
      <p:sp>
        <p:nvSpPr>
          <p:cNvPr id="130" name="Text e142"/>
          <p:cNvSpPr txBox="1"/>
          <p:nvPr/>
        </p:nvSpPr>
        <p:spPr>
          <a:xfrm>
            <a:off x="4372021" y="2419320"/>
            <a:ext cx="387431"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Stantec</a:t>
            </a:r>
            <a:endParaRPr lang="en-US" sz="700" dirty="0"/>
          </a:p>
        </p:txBody>
      </p:sp>
      <p:sp>
        <p:nvSpPr>
          <p:cNvPr id="131" name="Shape e144"/>
          <p:cNvSpPr/>
          <p:nvPr/>
        </p:nvSpPr>
        <p:spPr>
          <a:xfrm>
            <a:off x="4257721" y="2614635"/>
            <a:ext cx="47640" cy="47640"/>
          </a:xfrm>
          <a:prstGeom prst="rect">
            <a:avLst/>
          </a:prstGeom>
          <a:solidFill>
            <a:srgbClr val="B68757"/>
          </a:solidFill>
          <a:ln/>
        </p:spPr>
        <p:txBody>
          <a:bodyPr/>
          <a:p/>
        </p:txBody>
      </p:sp>
      <p:sp>
        <p:nvSpPr>
          <p:cNvPr id="132" name="Text e145"/>
          <p:cNvSpPr txBox="1"/>
          <p:nvPr/>
        </p:nvSpPr>
        <p:spPr>
          <a:xfrm>
            <a:off x="4372021" y="2571750"/>
            <a:ext cx="924824"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Bowman Consulting</a:t>
            </a:r>
            <a:endParaRPr lang="en-US" sz="700" dirty="0"/>
          </a:p>
        </p:txBody>
      </p:sp>
      <p:sp>
        <p:nvSpPr>
          <p:cNvPr id="133" name="Shape e147"/>
          <p:cNvSpPr/>
          <p:nvPr/>
        </p:nvSpPr>
        <p:spPr>
          <a:xfrm>
            <a:off x="4257721" y="2766974"/>
            <a:ext cx="47640" cy="47640"/>
          </a:xfrm>
          <a:prstGeom prst="rect">
            <a:avLst/>
          </a:prstGeom>
          <a:solidFill>
            <a:srgbClr val="B68757"/>
          </a:solidFill>
          <a:ln/>
        </p:spPr>
        <p:txBody>
          <a:bodyPr/>
          <a:p/>
        </p:txBody>
      </p:sp>
      <p:sp>
        <p:nvSpPr>
          <p:cNvPr id="134" name="Text e148"/>
          <p:cNvSpPr txBox="1"/>
          <p:nvPr/>
        </p:nvSpPr>
        <p:spPr>
          <a:xfrm>
            <a:off x="4372021" y="2724180"/>
            <a:ext cx="672816"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Willdan Group</a:t>
            </a:r>
            <a:endParaRPr lang="en-US" sz="700" dirty="0"/>
          </a:p>
        </p:txBody>
      </p:sp>
      <p:sp>
        <p:nvSpPr>
          <p:cNvPr id="135" name="Shape e150"/>
          <p:cNvSpPr/>
          <p:nvPr/>
        </p:nvSpPr>
        <p:spPr>
          <a:xfrm>
            <a:off x="4257721" y="2919405"/>
            <a:ext cx="47640" cy="47640"/>
          </a:xfrm>
          <a:prstGeom prst="rect">
            <a:avLst/>
          </a:prstGeom>
          <a:solidFill>
            <a:srgbClr val="B68757"/>
          </a:solidFill>
          <a:ln/>
        </p:spPr>
        <p:txBody>
          <a:bodyPr/>
          <a:p/>
        </p:txBody>
      </p:sp>
      <p:sp>
        <p:nvSpPr>
          <p:cNvPr id="136" name="Text e151"/>
          <p:cNvSpPr txBox="1"/>
          <p:nvPr/>
        </p:nvSpPr>
        <p:spPr>
          <a:xfrm>
            <a:off x="4372021" y="2876520"/>
            <a:ext cx="619872"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TIC Solutions</a:t>
            </a:r>
            <a:endParaRPr lang="en-US" sz="700" dirty="0"/>
          </a:p>
        </p:txBody>
      </p:sp>
      <p:sp>
        <p:nvSpPr>
          <p:cNvPr id="137" name="Shape e153"/>
          <p:cNvSpPr/>
          <p:nvPr/>
        </p:nvSpPr>
        <p:spPr>
          <a:xfrm>
            <a:off x="4257721" y="3071835"/>
            <a:ext cx="47640" cy="47640"/>
          </a:xfrm>
          <a:prstGeom prst="rect">
            <a:avLst/>
          </a:prstGeom>
          <a:solidFill>
            <a:srgbClr val="B68757"/>
          </a:solidFill>
          <a:ln/>
        </p:spPr>
        <p:txBody>
          <a:bodyPr/>
          <a:p/>
        </p:txBody>
      </p:sp>
      <p:sp>
        <p:nvSpPr>
          <p:cNvPr id="138" name="Text e154"/>
          <p:cNvSpPr txBox="1"/>
          <p:nvPr/>
        </p:nvSpPr>
        <p:spPr>
          <a:xfrm>
            <a:off x="4372021" y="3028950"/>
            <a:ext cx="560161"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WSP Global</a:t>
            </a:r>
            <a:endParaRPr lang="en-US" sz="700" dirty="0"/>
          </a:p>
        </p:txBody>
      </p:sp>
      <p:sp>
        <p:nvSpPr>
          <p:cNvPr id="139" name="Shape e155s0"/>
          <p:cNvSpPr/>
          <p:nvPr/>
        </p:nvSpPr>
        <p:spPr>
          <a:xfrm>
            <a:off x="4257721" y="3267060"/>
            <a:ext cx="1543050" cy="9510"/>
          </a:xfrm>
          <a:prstGeom prst="rect">
            <a:avLst/>
          </a:prstGeom>
          <a:solidFill>
            <a:srgbClr val="E3DCD3"/>
          </a:solidFill>
          <a:ln/>
        </p:spPr>
        <p:txBody>
          <a:bodyPr/>
          <a:p/>
        </p:txBody>
      </p:sp>
      <p:sp>
        <p:nvSpPr>
          <p:cNvPr id="140" name="Text e156"/>
          <p:cNvSpPr txBox="1"/>
          <p:nvPr/>
        </p:nvSpPr>
        <p:spPr>
          <a:xfrm>
            <a:off x="4257721" y="3367095"/>
            <a:ext cx="1543050" cy="247620"/>
          </a:xfrm>
          <a:prstGeom prst="rect">
            <a:avLst/>
          </a:prstGeom>
          <a:noFill/>
          <a:ln/>
        </p:spPr>
        <p:txBody>
          <a:bodyPr wrap="square" lIns="0" tIns="0" rIns="0" bIns="0" rtlCol="0" anchor="t"/>
          <a:lstStyle/>
          <a:p>
            <a:pPr algn="l" indent="0" marL="0">
              <a:lnSpc>
                <a:spcPts val="1000"/>
              </a:lnSpc>
              <a:buNone/>
            </a:pPr>
            <a:r>
              <a:rPr lang="en-US" sz="550" b="1" spc="150" kern="0" dirty="0">
                <a:solidFill>
                  <a:srgbClr val="8C6239"/>
                </a:solidFill>
                <a:latin typeface="+mn-lt" pitchFamily="34" charset="0"/>
              </a:rPr>
              <a:t>PLATFORMS AND CONSOLIDATORS</a:t>
            </a:r>
            <a:endParaRPr lang="en-US" sz="550" dirty="0"/>
          </a:p>
        </p:txBody>
      </p:sp>
      <p:sp>
        <p:nvSpPr>
          <p:cNvPr id="141" name="Shape e158"/>
          <p:cNvSpPr/>
          <p:nvPr/>
        </p:nvSpPr>
        <p:spPr>
          <a:xfrm>
            <a:off x="4257721" y="3667110"/>
            <a:ext cx="1155802" cy="171450"/>
          </a:xfrm>
          <a:prstGeom prst="rect">
            <a:avLst/>
          </a:prstGeom>
          <a:solidFill>
            <a:srgbClr val="FFFFFF"/>
          </a:solidFill>
          <a:ln w="12700">
            <a:solidFill>
              <a:srgbClr val="E3DCD3"/>
            </a:solidFill>
            <a:prstDash val="solid"/>
          </a:ln>
        </p:spPr>
        <p:txBody>
          <a:bodyPr/>
          <a:p/>
        </p:txBody>
      </p:sp>
      <p:sp>
        <p:nvSpPr>
          <p:cNvPr id="142" name="Text e158"/>
          <p:cNvSpPr txBox="1"/>
          <p:nvPr/>
        </p:nvSpPr>
        <p:spPr>
          <a:xfrm>
            <a:off x="4324380" y="3690976"/>
            <a:ext cx="1079632"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Bernhard Capital Partners</a:t>
            </a:r>
            <a:endParaRPr lang="en-US" sz="650" dirty="0"/>
          </a:p>
        </p:txBody>
      </p:sp>
      <p:sp>
        <p:nvSpPr>
          <p:cNvPr id="143" name="Shape e159"/>
          <p:cNvSpPr/>
          <p:nvPr/>
        </p:nvSpPr>
        <p:spPr>
          <a:xfrm>
            <a:off x="4257721" y="3876690"/>
            <a:ext cx="1112185" cy="171450"/>
          </a:xfrm>
          <a:prstGeom prst="rect">
            <a:avLst/>
          </a:prstGeom>
          <a:solidFill>
            <a:srgbClr val="FFFFFF"/>
          </a:solidFill>
          <a:ln w="12700">
            <a:solidFill>
              <a:srgbClr val="E3DCD3"/>
            </a:solidFill>
            <a:prstDash val="solid"/>
          </a:ln>
        </p:spPr>
        <p:txBody>
          <a:bodyPr/>
          <a:p/>
        </p:txBody>
      </p:sp>
      <p:sp>
        <p:nvSpPr>
          <p:cNvPr id="144" name="Text e159"/>
          <p:cNvSpPr txBox="1"/>
          <p:nvPr/>
        </p:nvSpPr>
        <p:spPr>
          <a:xfrm>
            <a:off x="4324380" y="3900465"/>
            <a:ext cx="1036015"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Ardurra (Littlejohn &amp; Co.)</a:t>
            </a:r>
            <a:endParaRPr lang="en-US" sz="650" dirty="0"/>
          </a:p>
        </p:txBody>
      </p:sp>
      <p:sp>
        <p:nvSpPr>
          <p:cNvPr id="145" name="Shape e160"/>
          <p:cNvSpPr/>
          <p:nvPr/>
        </p:nvSpPr>
        <p:spPr>
          <a:xfrm>
            <a:off x="4257721" y="4086271"/>
            <a:ext cx="651876" cy="171450"/>
          </a:xfrm>
          <a:prstGeom prst="rect">
            <a:avLst/>
          </a:prstGeom>
          <a:solidFill>
            <a:srgbClr val="FFFFFF"/>
          </a:solidFill>
          <a:ln w="12700">
            <a:solidFill>
              <a:srgbClr val="E3DCD3"/>
            </a:solidFill>
            <a:prstDash val="solid"/>
          </a:ln>
        </p:spPr>
        <p:txBody>
          <a:bodyPr/>
          <a:p/>
        </p:txBody>
      </p:sp>
      <p:sp>
        <p:nvSpPr>
          <p:cNvPr id="146" name="Text e160"/>
          <p:cNvSpPr txBox="1"/>
          <p:nvPr/>
        </p:nvSpPr>
        <p:spPr>
          <a:xfrm>
            <a:off x="4324380" y="4110045"/>
            <a:ext cx="575706"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Salas O'Brien</a:t>
            </a:r>
            <a:endParaRPr lang="en-US" sz="650" dirty="0"/>
          </a:p>
        </p:txBody>
      </p:sp>
      <p:sp>
        <p:nvSpPr>
          <p:cNvPr id="147" name="Shape e161"/>
          <p:cNvSpPr/>
          <p:nvPr/>
        </p:nvSpPr>
        <p:spPr>
          <a:xfrm>
            <a:off x="4947636" y="4086271"/>
            <a:ext cx="766724" cy="171450"/>
          </a:xfrm>
          <a:prstGeom prst="rect">
            <a:avLst/>
          </a:prstGeom>
          <a:solidFill>
            <a:srgbClr val="FFFFFF"/>
          </a:solidFill>
          <a:ln w="12700">
            <a:solidFill>
              <a:srgbClr val="E3DCD3"/>
            </a:solidFill>
            <a:prstDash val="solid"/>
          </a:ln>
        </p:spPr>
        <p:txBody>
          <a:bodyPr/>
          <a:p/>
        </p:txBody>
      </p:sp>
      <p:sp>
        <p:nvSpPr>
          <p:cNvPr id="148" name="Text e161"/>
          <p:cNvSpPr txBox="1"/>
          <p:nvPr/>
        </p:nvSpPr>
        <p:spPr>
          <a:xfrm>
            <a:off x="5014295" y="4110045"/>
            <a:ext cx="690555"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SAM Companies</a:t>
            </a:r>
            <a:endParaRPr lang="en-US" sz="650" dirty="0"/>
          </a:p>
        </p:txBody>
      </p:sp>
      <p:sp>
        <p:nvSpPr>
          <p:cNvPr id="149" name="Shape e162"/>
          <p:cNvSpPr/>
          <p:nvPr/>
        </p:nvSpPr>
        <p:spPr>
          <a:xfrm>
            <a:off x="4257721" y="4295760"/>
            <a:ext cx="678668" cy="171450"/>
          </a:xfrm>
          <a:prstGeom prst="rect">
            <a:avLst/>
          </a:prstGeom>
          <a:solidFill>
            <a:srgbClr val="FFFFFF"/>
          </a:solidFill>
          <a:ln w="12700">
            <a:solidFill>
              <a:srgbClr val="E3DCD3"/>
            </a:solidFill>
            <a:prstDash val="solid"/>
          </a:ln>
        </p:spPr>
        <p:txBody>
          <a:bodyPr/>
          <a:p/>
        </p:txBody>
      </p:sp>
      <p:sp>
        <p:nvSpPr>
          <p:cNvPr id="150" name="Text e162"/>
          <p:cNvSpPr txBox="1"/>
          <p:nvPr/>
        </p:nvSpPr>
        <p:spPr>
          <a:xfrm>
            <a:off x="4324380" y="4319626"/>
            <a:ext cx="602498"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Pape-Dawson</a:t>
            </a:r>
            <a:endParaRPr lang="en-US" sz="650" dirty="0"/>
          </a:p>
        </p:txBody>
      </p:sp>
      <p:sp>
        <p:nvSpPr>
          <p:cNvPr id="151" name="Shape e163"/>
          <p:cNvSpPr/>
          <p:nvPr/>
        </p:nvSpPr>
        <p:spPr>
          <a:xfrm>
            <a:off x="4974427" y="4295760"/>
            <a:ext cx="768096" cy="171450"/>
          </a:xfrm>
          <a:prstGeom prst="rect">
            <a:avLst/>
          </a:prstGeom>
          <a:solidFill>
            <a:srgbClr val="FFFFFF"/>
          </a:solidFill>
          <a:ln w="12700">
            <a:solidFill>
              <a:srgbClr val="E3DCD3"/>
            </a:solidFill>
            <a:prstDash val="solid"/>
          </a:ln>
        </p:spPr>
        <p:txBody>
          <a:bodyPr/>
          <a:p/>
        </p:txBody>
      </p:sp>
      <p:sp>
        <p:nvSpPr>
          <p:cNvPr id="152" name="Text e163"/>
          <p:cNvSpPr txBox="1"/>
          <p:nvPr/>
        </p:nvSpPr>
        <p:spPr>
          <a:xfrm>
            <a:off x="5041087" y="4319626"/>
            <a:ext cx="691926"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PRIME AE Group</a:t>
            </a:r>
            <a:endParaRPr lang="en-US" sz="650" dirty="0"/>
          </a:p>
        </p:txBody>
      </p:sp>
      <p:sp>
        <p:nvSpPr>
          <p:cNvPr id="153" name="Shape e164"/>
          <p:cNvSpPr/>
          <p:nvPr/>
        </p:nvSpPr>
        <p:spPr>
          <a:xfrm>
            <a:off x="4257721" y="4505340"/>
            <a:ext cx="965606" cy="171450"/>
          </a:xfrm>
          <a:prstGeom prst="rect">
            <a:avLst/>
          </a:prstGeom>
          <a:solidFill>
            <a:srgbClr val="FFFFFF"/>
          </a:solidFill>
          <a:ln w="12700">
            <a:solidFill>
              <a:srgbClr val="E3DCD3"/>
            </a:solidFill>
            <a:prstDash val="solid"/>
          </a:ln>
        </p:spPr>
        <p:txBody>
          <a:bodyPr/>
          <a:p/>
        </p:txBody>
      </p:sp>
      <p:sp>
        <p:nvSpPr>
          <p:cNvPr id="154" name="Text e164"/>
          <p:cNvSpPr txBox="1"/>
          <p:nvPr/>
        </p:nvSpPr>
        <p:spPr>
          <a:xfrm>
            <a:off x="4324380" y="4529115"/>
            <a:ext cx="889437"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GHK Capital Partners</a:t>
            </a:r>
            <a:endParaRPr lang="en-US" sz="650" dirty="0"/>
          </a:p>
        </p:txBody>
      </p:sp>
      <p:sp>
        <p:nvSpPr>
          <p:cNvPr id="155" name="Shape e165"/>
          <p:cNvSpPr/>
          <p:nvPr/>
        </p:nvSpPr>
        <p:spPr>
          <a:xfrm>
            <a:off x="4257721" y="4714921"/>
            <a:ext cx="1080455" cy="171450"/>
          </a:xfrm>
          <a:prstGeom prst="rect">
            <a:avLst/>
          </a:prstGeom>
          <a:solidFill>
            <a:srgbClr val="FFFFFF"/>
          </a:solidFill>
          <a:ln w="12700">
            <a:solidFill>
              <a:srgbClr val="E3DCD3"/>
            </a:solidFill>
            <a:prstDash val="solid"/>
          </a:ln>
        </p:spPr>
        <p:txBody>
          <a:bodyPr/>
          <a:p/>
        </p:txBody>
      </p:sp>
      <p:sp>
        <p:nvSpPr>
          <p:cNvPr id="156" name="Text e165"/>
          <p:cNvSpPr txBox="1"/>
          <p:nvPr/>
        </p:nvSpPr>
        <p:spPr>
          <a:xfrm>
            <a:off x="4324380" y="4738695"/>
            <a:ext cx="1004286"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Control Point Associates</a:t>
            </a:r>
            <a:endParaRPr lang="en-US" sz="650" dirty="0"/>
          </a:p>
        </p:txBody>
      </p:sp>
      <p:sp>
        <p:nvSpPr>
          <p:cNvPr id="157" name="Shape e166"/>
          <p:cNvSpPr/>
          <p:nvPr/>
        </p:nvSpPr>
        <p:spPr>
          <a:xfrm>
            <a:off x="4257721" y="4924410"/>
            <a:ext cx="838230" cy="171450"/>
          </a:xfrm>
          <a:prstGeom prst="rect">
            <a:avLst/>
          </a:prstGeom>
          <a:solidFill>
            <a:srgbClr val="FFFFFF"/>
          </a:solidFill>
          <a:ln w="12700">
            <a:solidFill>
              <a:srgbClr val="E3DCD3"/>
            </a:solidFill>
            <a:prstDash val="solid"/>
          </a:ln>
        </p:spPr>
        <p:txBody>
          <a:bodyPr/>
          <a:p/>
        </p:txBody>
      </p:sp>
      <p:sp>
        <p:nvSpPr>
          <p:cNvPr id="158" name="Text e166"/>
          <p:cNvSpPr txBox="1"/>
          <p:nvPr/>
        </p:nvSpPr>
        <p:spPr>
          <a:xfrm>
            <a:off x="4324380" y="4948276"/>
            <a:ext cx="761970"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Blew &amp; Associates</a:t>
            </a:r>
            <a:endParaRPr lang="en-US" sz="650" dirty="0"/>
          </a:p>
        </p:txBody>
      </p:sp>
      <p:sp>
        <p:nvSpPr>
          <p:cNvPr id="159" name="Text e167"/>
          <p:cNvSpPr txBox="1"/>
          <p:nvPr/>
        </p:nvSpPr>
        <p:spPr>
          <a:xfrm>
            <a:off x="4257721" y="5176876"/>
            <a:ext cx="1269370"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FORENSIC ENGINEERING</a:t>
            </a:r>
            <a:endParaRPr lang="en-US" sz="550" dirty="0"/>
          </a:p>
        </p:txBody>
      </p:sp>
      <p:sp>
        <p:nvSpPr>
          <p:cNvPr id="160" name="Shape e169"/>
          <p:cNvSpPr/>
          <p:nvPr/>
        </p:nvSpPr>
        <p:spPr>
          <a:xfrm>
            <a:off x="4257721" y="5353080"/>
            <a:ext cx="464607" cy="171450"/>
          </a:xfrm>
          <a:prstGeom prst="rect">
            <a:avLst/>
          </a:prstGeom>
          <a:solidFill>
            <a:srgbClr val="FFFFFF"/>
          </a:solidFill>
          <a:ln w="12700">
            <a:solidFill>
              <a:srgbClr val="E3DCD3"/>
            </a:solidFill>
            <a:prstDash val="solid"/>
          </a:ln>
        </p:spPr>
        <p:txBody>
          <a:bodyPr/>
          <a:p/>
        </p:txBody>
      </p:sp>
      <p:sp>
        <p:nvSpPr>
          <p:cNvPr id="161" name="Text e169"/>
          <p:cNvSpPr txBox="1"/>
          <p:nvPr/>
        </p:nvSpPr>
        <p:spPr>
          <a:xfrm>
            <a:off x="4324380" y="5376855"/>
            <a:ext cx="388437"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J.S. Held</a:t>
            </a:r>
            <a:endParaRPr lang="en-US" sz="650" dirty="0"/>
          </a:p>
        </p:txBody>
      </p:sp>
      <p:sp>
        <p:nvSpPr>
          <p:cNvPr id="162" name="Shape e170"/>
          <p:cNvSpPr/>
          <p:nvPr/>
        </p:nvSpPr>
        <p:spPr>
          <a:xfrm>
            <a:off x="6019770" y="1238280"/>
            <a:ext cx="1752630" cy="5695980"/>
          </a:xfrm>
          <a:prstGeom prst="rect">
            <a:avLst/>
          </a:prstGeom>
          <a:solidFill>
            <a:srgbClr val="FAF7F3"/>
          </a:solidFill>
          <a:ln/>
        </p:spPr>
        <p:txBody>
          <a:bodyPr/>
          <a:p/>
        </p:txBody>
      </p:sp>
      <p:sp>
        <p:nvSpPr>
          <p:cNvPr id="163" name="Shape e171"/>
          <p:cNvSpPr/>
          <p:nvPr/>
        </p:nvSpPr>
        <p:spPr>
          <a:xfrm>
            <a:off x="6019770" y="1238280"/>
            <a:ext cx="1752630" cy="438180"/>
          </a:xfrm>
          <a:prstGeom prst="rect">
            <a:avLst/>
          </a:prstGeom>
          <a:solidFill>
            <a:srgbClr val="1B1A1A"/>
          </a:solidFill>
          <a:ln/>
        </p:spPr>
        <p:txBody>
          <a:bodyPr/>
          <a:p/>
        </p:txBody>
      </p:sp>
      <p:pic>
        <p:nvPicPr>
          <p:cNvPr id="164" name="Icon e172">    </p:cNvPr>
          <p:cNvPicPr>
            <a:picLocks noChangeAspect="1"/>
          </p:cNvPicPr>
          <p:nvPr/>
        </p:nvPicPr>
        <p:blipFill>
          <a:blip r:embed="rId4"/>
          <a:stretch>
            <a:fillRect/>
          </a:stretch>
        </p:blipFill>
        <p:spPr>
          <a:xfrm>
            <a:off x="6124560" y="1357335"/>
            <a:ext cx="200071" cy="200071"/>
          </a:xfrm>
          <a:prstGeom prst="rect">
            <a:avLst/>
          </a:prstGeom>
        </p:spPr>
      </p:pic>
      <p:sp>
        <p:nvSpPr>
          <p:cNvPr id="165" name="Text e173"/>
          <p:cNvSpPr txBox="1"/>
          <p:nvPr/>
        </p:nvSpPr>
        <p:spPr>
          <a:xfrm>
            <a:off x="6410310" y="1338224"/>
            <a:ext cx="1257300" cy="228600"/>
          </a:xfrm>
          <a:prstGeom prst="rect">
            <a:avLst/>
          </a:prstGeom>
          <a:noFill/>
          <a:ln/>
        </p:spPr>
        <p:txBody>
          <a:bodyPr wrap="square" lIns="0" tIns="0" rIns="0" bIns="0" rtlCol="0" anchor="t"/>
          <a:lstStyle/>
          <a:p>
            <a:pPr algn="l" indent="0" marL="0">
              <a:lnSpc>
                <a:spcPts val="900"/>
              </a:lnSpc>
              <a:buNone/>
            </a:pPr>
            <a:r>
              <a:rPr lang="en-US" sz="650" b="1" spc="100" kern="0" dirty="0">
                <a:solidFill>
                  <a:srgbClr val="FFFFFF"/>
                </a:solidFill>
                <a:latin typeface="+mn-lt" pitchFamily="34" charset="0"/>
              </a:rPr>
              <a:t>FINANCIAL &amp; INSURANCE SERVICES</a:t>
            </a:r>
            <a:endParaRPr lang="en-US" sz="650" dirty="0"/>
          </a:p>
        </p:txBody>
      </p:sp>
      <p:sp>
        <p:nvSpPr>
          <p:cNvPr id="166" name="Text e175"/>
          <p:cNvSpPr txBox="1"/>
          <p:nvPr/>
        </p:nvSpPr>
        <p:spPr>
          <a:xfrm>
            <a:off x="6124560" y="1776405"/>
            <a:ext cx="1020196"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LISTED COMPANIES</a:t>
            </a:r>
            <a:endParaRPr lang="en-US" sz="550" dirty="0"/>
          </a:p>
        </p:txBody>
      </p:sp>
      <p:sp>
        <p:nvSpPr>
          <p:cNvPr id="167" name="Shape e177"/>
          <p:cNvSpPr/>
          <p:nvPr/>
        </p:nvSpPr>
        <p:spPr>
          <a:xfrm>
            <a:off x="6124560" y="2005005"/>
            <a:ext cx="47640" cy="47640"/>
          </a:xfrm>
          <a:prstGeom prst="rect">
            <a:avLst/>
          </a:prstGeom>
          <a:solidFill>
            <a:srgbClr val="B68757"/>
          </a:solidFill>
          <a:ln/>
        </p:spPr>
        <p:txBody>
          <a:bodyPr/>
          <a:p/>
        </p:txBody>
      </p:sp>
      <p:sp>
        <p:nvSpPr>
          <p:cNvPr id="168" name="Text e178"/>
          <p:cNvSpPr txBox="1"/>
          <p:nvPr/>
        </p:nvSpPr>
        <p:spPr>
          <a:xfrm>
            <a:off x="6238860" y="1962120"/>
            <a:ext cx="726308"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Brown &amp; Brown</a:t>
            </a:r>
            <a:endParaRPr lang="en-US" sz="700" dirty="0"/>
          </a:p>
        </p:txBody>
      </p:sp>
      <p:sp>
        <p:nvSpPr>
          <p:cNvPr id="169" name="Shape e180"/>
          <p:cNvSpPr/>
          <p:nvPr/>
        </p:nvSpPr>
        <p:spPr>
          <a:xfrm>
            <a:off x="6124560" y="2157435"/>
            <a:ext cx="47640" cy="47640"/>
          </a:xfrm>
          <a:prstGeom prst="rect">
            <a:avLst/>
          </a:prstGeom>
          <a:solidFill>
            <a:srgbClr val="B68757"/>
          </a:solidFill>
          <a:ln/>
        </p:spPr>
        <p:txBody>
          <a:bodyPr/>
          <a:p/>
        </p:txBody>
      </p:sp>
      <p:sp>
        <p:nvSpPr>
          <p:cNvPr id="170" name="Text e181"/>
          <p:cNvSpPr txBox="1"/>
          <p:nvPr/>
        </p:nvSpPr>
        <p:spPr>
          <a:xfrm>
            <a:off x="6238860" y="2114550"/>
            <a:ext cx="998342"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Crawford &amp; Company</a:t>
            </a:r>
            <a:endParaRPr lang="en-US" sz="700" dirty="0"/>
          </a:p>
        </p:txBody>
      </p:sp>
      <p:sp>
        <p:nvSpPr>
          <p:cNvPr id="171" name="Shape e183"/>
          <p:cNvSpPr/>
          <p:nvPr/>
        </p:nvSpPr>
        <p:spPr>
          <a:xfrm>
            <a:off x="6124560" y="2309774"/>
            <a:ext cx="47640" cy="47640"/>
          </a:xfrm>
          <a:prstGeom prst="rect">
            <a:avLst/>
          </a:prstGeom>
          <a:solidFill>
            <a:srgbClr val="B68757"/>
          </a:solidFill>
          <a:ln/>
        </p:spPr>
        <p:txBody>
          <a:bodyPr/>
          <a:p/>
        </p:txBody>
      </p:sp>
      <p:sp>
        <p:nvSpPr>
          <p:cNvPr id="172" name="Text e184"/>
          <p:cNvSpPr txBox="1"/>
          <p:nvPr/>
        </p:nvSpPr>
        <p:spPr>
          <a:xfrm>
            <a:off x="6238860" y="2266980"/>
            <a:ext cx="294254"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WTW</a:t>
            </a:r>
            <a:endParaRPr lang="en-US" sz="700" dirty="0"/>
          </a:p>
        </p:txBody>
      </p:sp>
      <p:sp>
        <p:nvSpPr>
          <p:cNvPr id="173" name="Shape e186"/>
          <p:cNvSpPr/>
          <p:nvPr/>
        </p:nvSpPr>
        <p:spPr>
          <a:xfrm>
            <a:off x="6124560" y="2462205"/>
            <a:ext cx="47640" cy="47640"/>
          </a:xfrm>
          <a:prstGeom prst="rect">
            <a:avLst/>
          </a:prstGeom>
          <a:solidFill>
            <a:srgbClr val="B68757"/>
          </a:solidFill>
          <a:ln/>
        </p:spPr>
        <p:txBody>
          <a:bodyPr/>
          <a:p/>
        </p:txBody>
      </p:sp>
      <p:sp>
        <p:nvSpPr>
          <p:cNvPr id="174" name="Text e187"/>
          <p:cNvSpPr txBox="1"/>
          <p:nvPr/>
        </p:nvSpPr>
        <p:spPr>
          <a:xfrm>
            <a:off x="6238860" y="2419320"/>
            <a:ext cx="708294"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Ryan Specialty</a:t>
            </a:r>
            <a:endParaRPr lang="en-US" sz="700" dirty="0"/>
          </a:p>
        </p:txBody>
      </p:sp>
      <p:sp>
        <p:nvSpPr>
          <p:cNvPr id="175" name="Shape e189"/>
          <p:cNvSpPr/>
          <p:nvPr/>
        </p:nvSpPr>
        <p:spPr>
          <a:xfrm>
            <a:off x="6124560" y="2614635"/>
            <a:ext cx="47640" cy="47640"/>
          </a:xfrm>
          <a:prstGeom prst="rect">
            <a:avLst/>
          </a:prstGeom>
          <a:solidFill>
            <a:srgbClr val="B68757"/>
          </a:solidFill>
          <a:ln/>
        </p:spPr>
        <p:txBody>
          <a:bodyPr/>
          <a:p/>
        </p:txBody>
      </p:sp>
      <p:sp>
        <p:nvSpPr>
          <p:cNvPr id="176" name="Text e190"/>
          <p:cNvSpPr txBox="1"/>
          <p:nvPr/>
        </p:nvSpPr>
        <p:spPr>
          <a:xfrm>
            <a:off x="6238860" y="2571750"/>
            <a:ext cx="228417"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Aon</a:t>
            </a:r>
            <a:endParaRPr lang="en-US" sz="700" dirty="0"/>
          </a:p>
        </p:txBody>
      </p:sp>
      <p:sp>
        <p:nvSpPr>
          <p:cNvPr id="177" name="Shape e192"/>
          <p:cNvSpPr/>
          <p:nvPr/>
        </p:nvSpPr>
        <p:spPr>
          <a:xfrm>
            <a:off x="6124560" y="2766974"/>
            <a:ext cx="47640" cy="47640"/>
          </a:xfrm>
          <a:prstGeom prst="rect">
            <a:avLst/>
          </a:prstGeom>
          <a:solidFill>
            <a:srgbClr val="B68757"/>
          </a:solidFill>
          <a:ln/>
        </p:spPr>
        <p:txBody>
          <a:bodyPr/>
          <a:p/>
        </p:txBody>
      </p:sp>
      <p:sp>
        <p:nvSpPr>
          <p:cNvPr id="178" name="Text e193"/>
          <p:cNvSpPr txBox="1"/>
          <p:nvPr/>
        </p:nvSpPr>
        <p:spPr>
          <a:xfrm>
            <a:off x="6238860" y="2724180"/>
            <a:ext cx="881939"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Arthur J. Gallagher</a:t>
            </a:r>
            <a:endParaRPr lang="en-US" sz="700" dirty="0"/>
          </a:p>
        </p:txBody>
      </p:sp>
      <p:sp>
        <p:nvSpPr>
          <p:cNvPr id="179" name="Shape e195"/>
          <p:cNvSpPr/>
          <p:nvPr/>
        </p:nvSpPr>
        <p:spPr>
          <a:xfrm>
            <a:off x="6124560" y="2919405"/>
            <a:ext cx="47640" cy="47640"/>
          </a:xfrm>
          <a:prstGeom prst="rect">
            <a:avLst/>
          </a:prstGeom>
          <a:solidFill>
            <a:srgbClr val="B68757"/>
          </a:solidFill>
          <a:ln/>
        </p:spPr>
        <p:txBody>
          <a:bodyPr/>
          <a:p/>
        </p:txBody>
      </p:sp>
      <p:sp>
        <p:nvSpPr>
          <p:cNvPr id="180" name="Text e196"/>
          <p:cNvSpPr txBox="1"/>
          <p:nvPr/>
        </p:nvSpPr>
        <p:spPr>
          <a:xfrm>
            <a:off x="6238860" y="2876520"/>
            <a:ext cx="799643"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Marsh McLennan</a:t>
            </a:r>
            <a:endParaRPr lang="en-US" sz="700" dirty="0"/>
          </a:p>
        </p:txBody>
      </p:sp>
      <p:sp>
        <p:nvSpPr>
          <p:cNvPr id="181" name="Shape e198"/>
          <p:cNvSpPr/>
          <p:nvPr/>
        </p:nvSpPr>
        <p:spPr>
          <a:xfrm>
            <a:off x="6124560" y="3071835"/>
            <a:ext cx="47640" cy="47640"/>
          </a:xfrm>
          <a:prstGeom prst="rect">
            <a:avLst/>
          </a:prstGeom>
          <a:solidFill>
            <a:srgbClr val="B68757"/>
          </a:solidFill>
          <a:ln/>
        </p:spPr>
        <p:txBody>
          <a:bodyPr/>
          <a:p/>
        </p:txBody>
      </p:sp>
      <p:sp>
        <p:nvSpPr>
          <p:cNvPr id="182" name="Text e199"/>
          <p:cNvSpPr txBox="1"/>
          <p:nvPr/>
        </p:nvSpPr>
        <p:spPr>
          <a:xfrm>
            <a:off x="6238860" y="3028950"/>
            <a:ext cx="881024"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The Baldwin Group</a:t>
            </a:r>
            <a:endParaRPr lang="en-US" sz="700" dirty="0"/>
          </a:p>
        </p:txBody>
      </p:sp>
      <p:sp>
        <p:nvSpPr>
          <p:cNvPr id="183" name="Shape e200s0"/>
          <p:cNvSpPr/>
          <p:nvPr/>
        </p:nvSpPr>
        <p:spPr>
          <a:xfrm>
            <a:off x="6124560" y="3267060"/>
            <a:ext cx="1543050" cy="9510"/>
          </a:xfrm>
          <a:prstGeom prst="rect">
            <a:avLst/>
          </a:prstGeom>
          <a:solidFill>
            <a:srgbClr val="E3DCD3"/>
          </a:solidFill>
          <a:ln/>
        </p:spPr>
        <p:txBody>
          <a:bodyPr/>
          <a:p/>
        </p:txBody>
      </p:sp>
      <p:sp>
        <p:nvSpPr>
          <p:cNvPr id="184" name="Text e201"/>
          <p:cNvSpPr txBox="1"/>
          <p:nvPr/>
        </p:nvSpPr>
        <p:spPr>
          <a:xfrm>
            <a:off x="6124560" y="3367095"/>
            <a:ext cx="1259220"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INSURANCE BROKERAGE</a:t>
            </a:r>
            <a:endParaRPr lang="en-US" sz="550" dirty="0"/>
          </a:p>
        </p:txBody>
      </p:sp>
      <p:sp>
        <p:nvSpPr>
          <p:cNvPr id="185" name="Shape e203"/>
          <p:cNvSpPr/>
          <p:nvPr/>
        </p:nvSpPr>
        <p:spPr>
          <a:xfrm>
            <a:off x="6124560" y="3543300"/>
            <a:ext cx="1188720" cy="171450"/>
          </a:xfrm>
          <a:prstGeom prst="rect">
            <a:avLst/>
          </a:prstGeom>
          <a:solidFill>
            <a:srgbClr val="FFFFFF"/>
          </a:solidFill>
          <a:ln w="12700">
            <a:solidFill>
              <a:srgbClr val="E3DCD3"/>
            </a:solidFill>
            <a:prstDash val="solid"/>
          </a:ln>
        </p:spPr>
        <p:txBody>
          <a:bodyPr/>
          <a:p/>
        </p:txBody>
      </p:sp>
      <p:sp>
        <p:nvSpPr>
          <p:cNvPr id="186" name="Text e203"/>
          <p:cNvSpPr txBox="1"/>
          <p:nvPr/>
        </p:nvSpPr>
        <p:spPr>
          <a:xfrm>
            <a:off x="6191220" y="3567074"/>
            <a:ext cx="1112459"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Inszone Insurance Services</a:t>
            </a:r>
            <a:endParaRPr lang="en-US" sz="650" dirty="0"/>
          </a:p>
        </p:txBody>
      </p:sp>
      <p:sp>
        <p:nvSpPr>
          <p:cNvPr id="187" name="Shape e204"/>
          <p:cNvSpPr/>
          <p:nvPr/>
        </p:nvSpPr>
        <p:spPr>
          <a:xfrm>
            <a:off x="6124560" y="3752880"/>
            <a:ext cx="1212220" cy="171450"/>
          </a:xfrm>
          <a:prstGeom prst="rect">
            <a:avLst/>
          </a:prstGeom>
          <a:solidFill>
            <a:srgbClr val="FFFFFF"/>
          </a:solidFill>
          <a:ln w="12700">
            <a:solidFill>
              <a:srgbClr val="E3DCD3"/>
            </a:solidFill>
            <a:prstDash val="solid"/>
          </a:ln>
        </p:spPr>
        <p:txBody>
          <a:bodyPr/>
          <a:p/>
        </p:txBody>
      </p:sp>
      <p:sp>
        <p:nvSpPr>
          <p:cNvPr id="188" name="Text e204"/>
          <p:cNvSpPr txBox="1"/>
          <p:nvPr/>
        </p:nvSpPr>
        <p:spPr>
          <a:xfrm>
            <a:off x="6191220" y="3776655"/>
            <a:ext cx="1136051"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World Insurance Associates</a:t>
            </a:r>
            <a:endParaRPr lang="en-US" sz="650" dirty="0"/>
          </a:p>
        </p:txBody>
      </p:sp>
      <p:sp>
        <p:nvSpPr>
          <p:cNvPr id="189" name="Shape e205"/>
          <p:cNvSpPr/>
          <p:nvPr/>
        </p:nvSpPr>
        <p:spPr>
          <a:xfrm>
            <a:off x="6124560" y="3962370"/>
            <a:ext cx="1543050" cy="285750"/>
          </a:xfrm>
          <a:prstGeom prst="rect">
            <a:avLst/>
          </a:prstGeom>
          <a:solidFill>
            <a:srgbClr val="FFFFFF"/>
          </a:solidFill>
          <a:ln w="12700">
            <a:solidFill>
              <a:srgbClr val="E3DCD3"/>
            </a:solidFill>
            <a:prstDash val="solid"/>
          </a:ln>
        </p:spPr>
        <p:txBody>
          <a:bodyPr/>
          <a:p/>
        </p:txBody>
      </p:sp>
      <p:sp>
        <p:nvSpPr>
          <p:cNvPr id="190" name="Text e205"/>
          <p:cNvSpPr txBox="1"/>
          <p:nvPr/>
        </p:nvSpPr>
        <p:spPr>
          <a:xfrm>
            <a:off x="6191220" y="3986235"/>
            <a:ext cx="1409730" cy="228600"/>
          </a:xfrm>
          <a:prstGeom prst="rect">
            <a:avLst/>
          </a:prstGeom>
          <a:noFill/>
          <a:ln/>
        </p:spPr>
        <p:txBody>
          <a:bodyPr wrap="square" lIns="0" tIns="0" rIns="0" bIns="0" rtlCol="0" anchor="t"/>
          <a:lstStyle/>
          <a:p>
            <a:pPr algn="l" indent="0" marL="0">
              <a:lnSpc>
                <a:spcPts val="900"/>
              </a:lnSpc>
              <a:buNone/>
            </a:pPr>
            <a:r>
              <a:rPr lang="en-US" sz="650" dirty="0">
                <a:solidFill>
                  <a:srgbClr val="1B1A1A"/>
                </a:solidFill>
                <a:latin typeface="+mn-lt" pitchFamily="34" charset="0"/>
              </a:rPr>
              <a:t>EPIC Insurance Brokers &amp; Consultants</a:t>
            </a:r>
            <a:endParaRPr lang="en-US" sz="650" dirty="0"/>
          </a:p>
        </p:txBody>
      </p:sp>
      <p:sp>
        <p:nvSpPr>
          <p:cNvPr id="191" name="Shape e206"/>
          <p:cNvSpPr/>
          <p:nvPr/>
        </p:nvSpPr>
        <p:spPr>
          <a:xfrm>
            <a:off x="6124560" y="4286250"/>
            <a:ext cx="851306" cy="171450"/>
          </a:xfrm>
          <a:prstGeom prst="rect">
            <a:avLst/>
          </a:prstGeom>
          <a:solidFill>
            <a:srgbClr val="FFFFFF"/>
          </a:solidFill>
          <a:ln w="12700">
            <a:solidFill>
              <a:srgbClr val="E3DCD3"/>
            </a:solidFill>
            <a:prstDash val="solid"/>
          </a:ln>
        </p:spPr>
        <p:txBody>
          <a:bodyPr/>
          <a:p/>
        </p:txBody>
      </p:sp>
      <p:sp>
        <p:nvSpPr>
          <p:cNvPr id="192" name="Text e206"/>
          <p:cNvSpPr txBox="1"/>
          <p:nvPr/>
        </p:nvSpPr>
        <p:spPr>
          <a:xfrm>
            <a:off x="6191220" y="4310024"/>
            <a:ext cx="775137"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King Risk Partners</a:t>
            </a:r>
            <a:endParaRPr lang="en-US" sz="650" dirty="0"/>
          </a:p>
        </p:txBody>
      </p:sp>
      <p:sp>
        <p:nvSpPr>
          <p:cNvPr id="193" name="Shape e207"/>
          <p:cNvSpPr/>
          <p:nvPr/>
        </p:nvSpPr>
        <p:spPr>
          <a:xfrm>
            <a:off x="6124560" y="4495830"/>
            <a:ext cx="1084021" cy="171450"/>
          </a:xfrm>
          <a:prstGeom prst="rect">
            <a:avLst/>
          </a:prstGeom>
          <a:solidFill>
            <a:srgbClr val="FFFFFF"/>
          </a:solidFill>
          <a:ln w="12700">
            <a:solidFill>
              <a:srgbClr val="E3DCD3"/>
            </a:solidFill>
            <a:prstDash val="solid"/>
          </a:ln>
        </p:spPr>
        <p:txBody>
          <a:bodyPr/>
          <a:p/>
        </p:txBody>
      </p:sp>
      <p:sp>
        <p:nvSpPr>
          <p:cNvPr id="194" name="Text e207"/>
          <p:cNvSpPr txBox="1"/>
          <p:nvPr/>
        </p:nvSpPr>
        <p:spPr>
          <a:xfrm>
            <a:off x="6191220" y="4519605"/>
            <a:ext cx="1007852"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Risk Placement Services</a:t>
            </a:r>
            <a:endParaRPr lang="en-US" sz="650" dirty="0"/>
          </a:p>
        </p:txBody>
      </p:sp>
      <p:sp>
        <p:nvSpPr>
          <p:cNvPr id="195" name="Text e208"/>
          <p:cNvSpPr txBox="1"/>
          <p:nvPr/>
        </p:nvSpPr>
        <p:spPr>
          <a:xfrm>
            <a:off x="6124560" y="4748205"/>
            <a:ext cx="1073048" cy="123810"/>
          </a:xfrm>
          <a:prstGeom prst="rect">
            <a:avLst/>
          </a:prstGeom>
          <a:noFill/>
          <a:ln/>
        </p:spPr>
        <p:txBody>
          <a:bodyPr wrap="none" lIns="0" tIns="0" rIns="0" bIns="0" rtlCol="0" anchor="t"/>
          <a:lstStyle/>
          <a:p>
            <a:pPr algn="l" indent="0" marL="0">
              <a:lnSpc>
                <a:spcPts val="1000"/>
              </a:lnSpc>
              <a:buNone/>
            </a:pPr>
            <a:r>
              <a:rPr lang="en-US" sz="550" b="1" spc="150" kern="0" dirty="0">
                <a:solidFill>
                  <a:srgbClr val="8C6239"/>
                </a:solidFill>
                <a:latin typeface="+mn-lt" pitchFamily="34" charset="0"/>
              </a:rPr>
              <a:t>WEALTH AND OTHER</a:t>
            </a:r>
            <a:endParaRPr lang="en-US" sz="550" dirty="0"/>
          </a:p>
        </p:txBody>
      </p:sp>
      <p:sp>
        <p:nvSpPr>
          <p:cNvPr id="196" name="Shape e210"/>
          <p:cNvSpPr/>
          <p:nvPr/>
        </p:nvSpPr>
        <p:spPr>
          <a:xfrm>
            <a:off x="6124560" y="4924410"/>
            <a:ext cx="536387" cy="171450"/>
          </a:xfrm>
          <a:prstGeom prst="rect">
            <a:avLst/>
          </a:prstGeom>
          <a:solidFill>
            <a:srgbClr val="FFFFFF"/>
          </a:solidFill>
          <a:ln w="12700">
            <a:solidFill>
              <a:srgbClr val="E3DCD3"/>
            </a:solidFill>
            <a:prstDash val="solid"/>
          </a:ln>
        </p:spPr>
        <p:txBody>
          <a:bodyPr/>
          <a:p/>
        </p:txBody>
      </p:sp>
      <p:sp>
        <p:nvSpPr>
          <p:cNvPr id="197" name="Text e210"/>
          <p:cNvSpPr txBox="1"/>
          <p:nvPr/>
        </p:nvSpPr>
        <p:spPr>
          <a:xfrm>
            <a:off x="6191220" y="4948276"/>
            <a:ext cx="460218"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Hightower</a:t>
            </a:r>
            <a:endParaRPr lang="en-US" sz="650" dirty="0"/>
          </a:p>
        </p:txBody>
      </p:sp>
      <p:sp>
        <p:nvSpPr>
          <p:cNvPr id="198" name="Shape e211"/>
          <p:cNvSpPr/>
          <p:nvPr/>
        </p:nvSpPr>
        <p:spPr>
          <a:xfrm>
            <a:off x="6699077" y="4924410"/>
            <a:ext cx="762610" cy="171450"/>
          </a:xfrm>
          <a:prstGeom prst="rect">
            <a:avLst/>
          </a:prstGeom>
          <a:solidFill>
            <a:srgbClr val="FFFFFF"/>
          </a:solidFill>
          <a:ln w="12700">
            <a:solidFill>
              <a:srgbClr val="E3DCD3"/>
            </a:solidFill>
            <a:prstDash val="solid"/>
          </a:ln>
        </p:spPr>
        <p:txBody>
          <a:bodyPr/>
          <a:p/>
        </p:txBody>
      </p:sp>
      <p:sp>
        <p:nvSpPr>
          <p:cNvPr id="199" name="Text e211"/>
          <p:cNvSpPr txBox="1"/>
          <p:nvPr/>
        </p:nvSpPr>
        <p:spPr>
          <a:xfrm>
            <a:off x="6765737" y="4948276"/>
            <a:ext cx="686440"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Mercer Advisors</a:t>
            </a:r>
            <a:endParaRPr lang="en-US" sz="650" dirty="0"/>
          </a:p>
        </p:txBody>
      </p:sp>
      <p:sp>
        <p:nvSpPr>
          <p:cNvPr id="200" name="Shape e212"/>
          <p:cNvSpPr/>
          <p:nvPr/>
        </p:nvSpPr>
        <p:spPr>
          <a:xfrm>
            <a:off x="6124560" y="5133990"/>
            <a:ext cx="736275" cy="171450"/>
          </a:xfrm>
          <a:prstGeom prst="rect">
            <a:avLst/>
          </a:prstGeom>
          <a:solidFill>
            <a:srgbClr val="FFFFFF"/>
          </a:solidFill>
          <a:ln w="12700">
            <a:solidFill>
              <a:srgbClr val="E3DCD3"/>
            </a:solidFill>
            <a:prstDash val="solid"/>
          </a:ln>
        </p:spPr>
        <p:txBody>
          <a:bodyPr/>
          <a:p/>
        </p:txBody>
      </p:sp>
      <p:sp>
        <p:nvSpPr>
          <p:cNvPr id="201" name="Text e212"/>
          <p:cNvSpPr txBox="1"/>
          <p:nvPr/>
        </p:nvSpPr>
        <p:spPr>
          <a:xfrm>
            <a:off x="6191220" y="5157765"/>
            <a:ext cx="660014"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Class Valuation</a:t>
            </a:r>
            <a:endParaRPr lang="en-US" sz="650" dirty="0"/>
          </a:p>
        </p:txBody>
      </p:sp>
      <p:sp>
        <p:nvSpPr>
          <p:cNvPr id="202" name="Shape e213"/>
          <p:cNvSpPr/>
          <p:nvPr/>
        </p:nvSpPr>
        <p:spPr>
          <a:xfrm>
            <a:off x="6898965" y="5133990"/>
            <a:ext cx="573877" cy="171450"/>
          </a:xfrm>
          <a:prstGeom prst="rect">
            <a:avLst/>
          </a:prstGeom>
          <a:solidFill>
            <a:srgbClr val="FFFFFF"/>
          </a:solidFill>
          <a:ln w="12700">
            <a:solidFill>
              <a:srgbClr val="E3DCD3"/>
            </a:solidFill>
            <a:prstDash val="solid"/>
          </a:ln>
        </p:spPr>
        <p:txBody>
          <a:bodyPr/>
          <a:p/>
        </p:txBody>
      </p:sp>
      <p:sp>
        <p:nvSpPr>
          <p:cNvPr id="203" name="Text e213"/>
          <p:cNvSpPr txBox="1"/>
          <p:nvPr/>
        </p:nvSpPr>
        <p:spPr>
          <a:xfrm>
            <a:off x="6965625" y="5157765"/>
            <a:ext cx="497708"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Broadridge</a:t>
            </a:r>
            <a:endParaRPr lang="en-US" sz="650" dirty="0"/>
          </a:p>
        </p:txBody>
      </p:sp>
      <p:sp>
        <p:nvSpPr>
          <p:cNvPr id="204" name="Shape e214"/>
          <p:cNvSpPr/>
          <p:nvPr/>
        </p:nvSpPr>
        <p:spPr>
          <a:xfrm>
            <a:off x="7886700" y="1238280"/>
            <a:ext cx="1752630" cy="5695980"/>
          </a:xfrm>
          <a:prstGeom prst="rect">
            <a:avLst/>
          </a:prstGeom>
          <a:solidFill>
            <a:srgbClr val="FAF7F3"/>
          </a:solidFill>
          <a:ln/>
        </p:spPr>
        <p:txBody>
          <a:bodyPr/>
          <a:p/>
        </p:txBody>
      </p:sp>
      <p:sp>
        <p:nvSpPr>
          <p:cNvPr id="205" name="Shape e215"/>
          <p:cNvSpPr/>
          <p:nvPr/>
        </p:nvSpPr>
        <p:spPr>
          <a:xfrm>
            <a:off x="7886700" y="1238280"/>
            <a:ext cx="1752630" cy="438180"/>
          </a:xfrm>
          <a:prstGeom prst="rect">
            <a:avLst/>
          </a:prstGeom>
          <a:solidFill>
            <a:srgbClr val="1B1A1A"/>
          </a:solidFill>
          <a:ln/>
        </p:spPr>
        <p:txBody>
          <a:bodyPr/>
          <a:p/>
        </p:txBody>
      </p:sp>
      <p:pic>
        <p:nvPicPr>
          <p:cNvPr id="206" name="Icon e216">    </p:cNvPr>
          <p:cNvPicPr>
            <a:picLocks noChangeAspect="1"/>
          </p:cNvPicPr>
          <p:nvPr/>
        </p:nvPicPr>
        <p:blipFill>
          <a:blip r:embed="rId5"/>
          <a:stretch>
            <a:fillRect/>
          </a:stretch>
        </p:blipFill>
        <p:spPr>
          <a:xfrm>
            <a:off x="7991490" y="1357335"/>
            <a:ext cx="200071" cy="200071"/>
          </a:xfrm>
          <a:prstGeom prst="rect">
            <a:avLst/>
          </a:prstGeom>
        </p:spPr>
      </p:pic>
      <p:sp>
        <p:nvSpPr>
          <p:cNvPr id="207" name="Text e217"/>
          <p:cNvSpPr txBox="1"/>
          <p:nvPr/>
        </p:nvSpPr>
        <p:spPr>
          <a:xfrm>
            <a:off x="8277240" y="1338224"/>
            <a:ext cx="1257300" cy="228600"/>
          </a:xfrm>
          <a:prstGeom prst="rect">
            <a:avLst/>
          </a:prstGeom>
          <a:noFill/>
          <a:ln/>
        </p:spPr>
        <p:txBody>
          <a:bodyPr wrap="square" lIns="0" tIns="0" rIns="0" bIns="0" rtlCol="0" anchor="t"/>
          <a:lstStyle/>
          <a:p>
            <a:pPr algn="l" indent="0" marL="0">
              <a:lnSpc>
                <a:spcPts val="900"/>
              </a:lnSpc>
              <a:buNone/>
            </a:pPr>
            <a:r>
              <a:rPr lang="en-US" sz="650" b="1" spc="100" kern="0" dirty="0">
                <a:solidFill>
                  <a:srgbClr val="FFFFFF"/>
                </a:solidFill>
                <a:latin typeface="+mn-lt" pitchFamily="34" charset="0"/>
              </a:rPr>
              <a:t>STAFFING &amp; HUMAN CAPITAL</a:t>
            </a:r>
            <a:endParaRPr lang="en-US" sz="650" dirty="0"/>
          </a:p>
        </p:txBody>
      </p:sp>
      <p:sp>
        <p:nvSpPr>
          <p:cNvPr id="208" name="Text e219"/>
          <p:cNvSpPr txBox="1"/>
          <p:nvPr/>
        </p:nvSpPr>
        <p:spPr>
          <a:xfrm>
            <a:off x="7991490" y="1776405"/>
            <a:ext cx="1543050" cy="123810"/>
          </a:xfrm>
          <a:prstGeom prst="rect">
            <a:avLst/>
          </a:prstGeom>
          <a:noFill/>
          <a:ln/>
        </p:spPr>
        <p:txBody>
          <a:bodyPr wrap="none" lIns="0" tIns="0" rIns="0" bIns="0" rtlCol="0" anchor="t"/>
          <a:lstStyle/>
          <a:p>
            <a:pPr algn="r" indent="0" marL="0">
              <a:lnSpc>
                <a:spcPts val="1000"/>
              </a:lnSpc>
              <a:buNone/>
            </a:pPr>
            <a:r>
              <a:rPr lang="en-US" sz="550" b="1" spc="150" kern="0" dirty="0">
                <a:solidFill>
                  <a:srgbClr val="8C6239"/>
                </a:solidFill>
                <a:latin typeface="+mn-lt" pitchFamily="34" charset="0"/>
              </a:rPr>
              <a:t>LISTED COMPANIES</a:t>
            </a:r>
            <a:endParaRPr lang="en-US" sz="550" dirty="0"/>
          </a:p>
        </p:txBody>
      </p:sp>
      <p:sp>
        <p:nvSpPr>
          <p:cNvPr id="209" name="Shape e221"/>
          <p:cNvSpPr/>
          <p:nvPr/>
        </p:nvSpPr>
        <p:spPr>
          <a:xfrm>
            <a:off x="7991490" y="2005005"/>
            <a:ext cx="47640" cy="47640"/>
          </a:xfrm>
          <a:prstGeom prst="rect">
            <a:avLst/>
          </a:prstGeom>
          <a:solidFill>
            <a:srgbClr val="B68757"/>
          </a:solidFill>
          <a:ln/>
        </p:spPr>
        <p:txBody>
          <a:bodyPr/>
          <a:p/>
        </p:txBody>
      </p:sp>
      <p:sp>
        <p:nvSpPr>
          <p:cNvPr id="210" name="Text e222"/>
          <p:cNvSpPr txBox="1"/>
          <p:nvPr/>
        </p:nvSpPr>
        <p:spPr>
          <a:xfrm>
            <a:off x="8105790" y="1962120"/>
            <a:ext cx="767639"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AMN Healthcare</a:t>
            </a:r>
            <a:endParaRPr lang="en-US" sz="700" dirty="0"/>
          </a:p>
        </p:txBody>
      </p:sp>
      <p:sp>
        <p:nvSpPr>
          <p:cNvPr id="211" name="Shape e224"/>
          <p:cNvSpPr/>
          <p:nvPr/>
        </p:nvSpPr>
        <p:spPr>
          <a:xfrm>
            <a:off x="7991490" y="2157435"/>
            <a:ext cx="47640" cy="47640"/>
          </a:xfrm>
          <a:prstGeom prst="rect">
            <a:avLst/>
          </a:prstGeom>
          <a:solidFill>
            <a:srgbClr val="B68757"/>
          </a:solidFill>
          <a:ln/>
        </p:spPr>
        <p:txBody>
          <a:bodyPr/>
          <a:p/>
        </p:txBody>
      </p:sp>
      <p:sp>
        <p:nvSpPr>
          <p:cNvPr id="212" name="Text e225"/>
          <p:cNvSpPr txBox="1"/>
          <p:nvPr/>
        </p:nvSpPr>
        <p:spPr>
          <a:xfrm>
            <a:off x="8105790" y="2114550"/>
            <a:ext cx="524043"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Korn Ferry</a:t>
            </a:r>
            <a:endParaRPr lang="en-US" sz="700" dirty="0"/>
          </a:p>
        </p:txBody>
      </p:sp>
      <p:sp>
        <p:nvSpPr>
          <p:cNvPr id="213" name="Shape e227"/>
          <p:cNvSpPr/>
          <p:nvPr/>
        </p:nvSpPr>
        <p:spPr>
          <a:xfrm>
            <a:off x="7991490" y="2309774"/>
            <a:ext cx="47640" cy="47640"/>
          </a:xfrm>
          <a:prstGeom prst="rect">
            <a:avLst/>
          </a:prstGeom>
          <a:solidFill>
            <a:srgbClr val="B68757"/>
          </a:solidFill>
          <a:ln/>
        </p:spPr>
        <p:txBody>
          <a:bodyPr/>
          <a:p/>
        </p:txBody>
      </p:sp>
      <p:sp>
        <p:nvSpPr>
          <p:cNvPr id="214" name="Text e228"/>
          <p:cNvSpPr txBox="1"/>
          <p:nvPr/>
        </p:nvSpPr>
        <p:spPr>
          <a:xfrm>
            <a:off x="8105790" y="2266980"/>
            <a:ext cx="478140"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Randstad</a:t>
            </a:r>
            <a:endParaRPr lang="en-US" sz="700" dirty="0"/>
          </a:p>
        </p:txBody>
      </p:sp>
      <p:sp>
        <p:nvSpPr>
          <p:cNvPr id="215" name="Shape e230"/>
          <p:cNvSpPr/>
          <p:nvPr/>
        </p:nvSpPr>
        <p:spPr>
          <a:xfrm>
            <a:off x="7991490" y="2462205"/>
            <a:ext cx="47640" cy="47640"/>
          </a:xfrm>
          <a:prstGeom prst="rect">
            <a:avLst/>
          </a:prstGeom>
          <a:solidFill>
            <a:srgbClr val="B68757"/>
          </a:solidFill>
          <a:ln/>
        </p:spPr>
        <p:txBody>
          <a:bodyPr/>
          <a:p/>
        </p:txBody>
      </p:sp>
      <p:sp>
        <p:nvSpPr>
          <p:cNvPr id="216" name="Text e231"/>
          <p:cNvSpPr txBox="1"/>
          <p:nvPr/>
        </p:nvSpPr>
        <p:spPr>
          <a:xfrm>
            <a:off x="8105790" y="2419320"/>
            <a:ext cx="1157722"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Barrett Business Services</a:t>
            </a:r>
            <a:endParaRPr lang="en-US" sz="700" dirty="0"/>
          </a:p>
        </p:txBody>
      </p:sp>
      <p:sp>
        <p:nvSpPr>
          <p:cNvPr id="217" name="Shape e233"/>
          <p:cNvSpPr/>
          <p:nvPr/>
        </p:nvSpPr>
        <p:spPr>
          <a:xfrm>
            <a:off x="7991490" y="2614635"/>
            <a:ext cx="47640" cy="47640"/>
          </a:xfrm>
          <a:prstGeom prst="rect">
            <a:avLst/>
          </a:prstGeom>
          <a:solidFill>
            <a:srgbClr val="B68757"/>
          </a:solidFill>
          <a:ln/>
        </p:spPr>
        <p:txBody>
          <a:bodyPr/>
          <a:p/>
        </p:txBody>
      </p:sp>
      <p:sp>
        <p:nvSpPr>
          <p:cNvPr id="218" name="Text e234"/>
          <p:cNvSpPr txBox="1"/>
          <p:nvPr/>
        </p:nvSpPr>
        <p:spPr>
          <a:xfrm>
            <a:off x="8105790" y="2571750"/>
            <a:ext cx="319857"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TriNet</a:t>
            </a:r>
            <a:endParaRPr lang="en-US" sz="700" dirty="0"/>
          </a:p>
        </p:txBody>
      </p:sp>
      <p:sp>
        <p:nvSpPr>
          <p:cNvPr id="219" name="Shape e236"/>
          <p:cNvSpPr/>
          <p:nvPr/>
        </p:nvSpPr>
        <p:spPr>
          <a:xfrm>
            <a:off x="7991490" y="2766974"/>
            <a:ext cx="47640" cy="47640"/>
          </a:xfrm>
          <a:prstGeom prst="rect">
            <a:avLst/>
          </a:prstGeom>
          <a:solidFill>
            <a:srgbClr val="B68757"/>
          </a:solidFill>
          <a:ln/>
        </p:spPr>
        <p:txBody>
          <a:bodyPr/>
          <a:p/>
        </p:txBody>
      </p:sp>
      <p:sp>
        <p:nvSpPr>
          <p:cNvPr id="220" name="Text e237"/>
          <p:cNvSpPr txBox="1"/>
          <p:nvPr/>
        </p:nvSpPr>
        <p:spPr>
          <a:xfrm>
            <a:off x="8105790" y="2724180"/>
            <a:ext cx="344363"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Kforce</a:t>
            </a:r>
            <a:endParaRPr lang="en-US" sz="700" dirty="0"/>
          </a:p>
        </p:txBody>
      </p:sp>
      <p:sp>
        <p:nvSpPr>
          <p:cNvPr id="221" name="Shape e239"/>
          <p:cNvSpPr/>
          <p:nvPr/>
        </p:nvSpPr>
        <p:spPr>
          <a:xfrm>
            <a:off x="7991490" y="2919405"/>
            <a:ext cx="47640" cy="47640"/>
          </a:xfrm>
          <a:prstGeom prst="rect">
            <a:avLst/>
          </a:prstGeom>
          <a:solidFill>
            <a:srgbClr val="B68757"/>
          </a:solidFill>
          <a:ln/>
        </p:spPr>
        <p:txBody>
          <a:bodyPr/>
          <a:p/>
        </p:txBody>
      </p:sp>
      <p:sp>
        <p:nvSpPr>
          <p:cNvPr id="222" name="Text e240"/>
          <p:cNvSpPr txBox="1"/>
          <p:nvPr/>
        </p:nvSpPr>
        <p:spPr>
          <a:xfrm>
            <a:off x="8105790" y="2876520"/>
            <a:ext cx="784189"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ManpowerGroup</a:t>
            </a:r>
            <a:endParaRPr lang="en-US" sz="700" dirty="0"/>
          </a:p>
        </p:txBody>
      </p:sp>
      <p:sp>
        <p:nvSpPr>
          <p:cNvPr id="223" name="Shape e242"/>
          <p:cNvSpPr/>
          <p:nvPr/>
        </p:nvSpPr>
        <p:spPr>
          <a:xfrm>
            <a:off x="7991490" y="3071835"/>
            <a:ext cx="47640" cy="47640"/>
          </a:xfrm>
          <a:prstGeom prst="rect">
            <a:avLst/>
          </a:prstGeom>
          <a:solidFill>
            <a:srgbClr val="B68757"/>
          </a:solidFill>
          <a:ln/>
        </p:spPr>
        <p:txBody>
          <a:bodyPr/>
          <a:p/>
        </p:txBody>
      </p:sp>
      <p:sp>
        <p:nvSpPr>
          <p:cNvPr id="224" name="Text e243"/>
          <p:cNvSpPr txBox="1"/>
          <p:nvPr/>
        </p:nvSpPr>
        <p:spPr>
          <a:xfrm>
            <a:off x="8105790" y="3028950"/>
            <a:ext cx="440649"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TrueBlue</a:t>
            </a:r>
            <a:endParaRPr lang="en-US" sz="700" dirty="0"/>
          </a:p>
        </p:txBody>
      </p:sp>
      <p:sp>
        <p:nvSpPr>
          <p:cNvPr id="225" name="Shape e245"/>
          <p:cNvSpPr/>
          <p:nvPr/>
        </p:nvSpPr>
        <p:spPr>
          <a:xfrm>
            <a:off x="7991490" y="3224174"/>
            <a:ext cx="47640" cy="47640"/>
          </a:xfrm>
          <a:prstGeom prst="rect">
            <a:avLst/>
          </a:prstGeom>
          <a:solidFill>
            <a:srgbClr val="B68757"/>
          </a:solidFill>
          <a:ln/>
        </p:spPr>
        <p:txBody>
          <a:bodyPr/>
          <a:p/>
        </p:txBody>
      </p:sp>
      <p:sp>
        <p:nvSpPr>
          <p:cNvPr id="226" name="Text e246"/>
          <p:cNvSpPr txBox="1"/>
          <p:nvPr/>
        </p:nvSpPr>
        <p:spPr>
          <a:xfrm>
            <a:off x="8105790" y="3181380"/>
            <a:ext cx="562539"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Robert Half</a:t>
            </a:r>
            <a:endParaRPr lang="en-US" sz="700" dirty="0"/>
          </a:p>
        </p:txBody>
      </p:sp>
      <p:sp>
        <p:nvSpPr>
          <p:cNvPr id="227" name="Shape e248"/>
          <p:cNvSpPr/>
          <p:nvPr/>
        </p:nvSpPr>
        <p:spPr>
          <a:xfrm>
            <a:off x="7991490" y="3376605"/>
            <a:ext cx="47640" cy="47640"/>
          </a:xfrm>
          <a:prstGeom prst="rect">
            <a:avLst/>
          </a:prstGeom>
          <a:solidFill>
            <a:srgbClr val="B68757"/>
          </a:solidFill>
          <a:ln/>
        </p:spPr>
        <p:txBody>
          <a:bodyPr/>
          <a:p/>
        </p:txBody>
      </p:sp>
      <p:sp>
        <p:nvSpPr>
          <p:cNvPr id="228" name="Text e249"/>
          <p:cNvSpPr txBox="1"/>
          <p:nvPr/>
        </p:nvSpPr>
        <p:spPr>
          <a:xfrm>
            <a:off x="8105790" y="3333720"/>
            <a:ext cx="433974" cy="123810"/>
          </a:xfrm>
          <a:prstGeom prst="rect">
            <a:avLst/>
          </a:prstGeom>
          <a:noFill/>
          <a:ln/>
        </p:spPr>
        <p:txBody>
          <a:bodyPr wrap="none" lIns="0" tIns="0" rIns="0" bIns="0" rtlCol="0" anchor="t"/>
          <a:lstStyle/>
          <a:p>
            <a:pPr algn="l" indent="0" marL="0">
              <a:lnSpc>
                <a:spcPts val="1000"/>
              </a:lnSpc>
              <a:buNone/>
            </a:pPr>
            <a:r>
              <a:rPr lang="en-US" sz="700" dirty="0">
                <a:solidFill>
                  <a:srgbClr val="333231"/>
                </a:solidFill>
                <a:latin typeface="+mn-lt" pitchFamily="34" charset="0"/>
              </a:rPr>
              <a:t>Insperity</a:t>
            </a:r>
            <a:endParaRPr lang="en-US" sz="700" dirty="0"/>
          </a:p>
        </p:txBody>
      </p:sp>
      <p:sp>
        <p:nvSpPr>
          <p:cNvPr id="229" name="Shape e250s0"/>
          <p:cNvSpPr/>
          <p:nvPr/>
        </p:nvSpPr>
        <p:spPr>
          <a:xfrm>
            <a:off x="7991490" y="3571921"/>
            <a:ext cx="1543050" cy="9510"/>
          </a:xfrm>
          <a:prstGeom prst="rect">
            <a:avLst/>
          </a:prstGeom>
          <a:solidFill>
            <a:srgbClr val="E3DCD3"/>
          </a:solidFill>
          <a:ln/>
        </p:spPr>
        <p:txBody>
          <a:bodyPr/>
          <a:p/>
        </p:txBody>
      </p:sp>
      <p:sp>
        <p:nvSpPr>
          <p:cNvPr id="230" name="Text e251"/>
          <p:cNvSpPr txBox="1"/>
          <p:nvPr/>
        </p:nvSpPr>
        <p:spPr>
          <a:xfrm>
            <a:off x="7991490" y="3671865"/>
            <a:ext cx="1543050" cy="123810"/>
          </a:xfrm>
          <a:prstGeom prst="rect">
            <a:avLst/>
          </a:prstGeom>
          <a:noFill/>
          <a:ln/>
        </p:spPr>
        <p:txBody>
          <a:bodyPr wrap="none" lIns="0" tIns="0" rIns="0" bIns="0" rtlCol="0" anchor="t"/>
          <a:lstStyle/>
          <a:p>
            <a:pPr algn="r" indent="0" marL="0">
              <a:lnSpc>
                <a:spcPts val="1000"/>
              </a:lnSpc>
              <a:buNone/>
            </a:pPr>
            <a:r>
              <a:rPr lang="en-US" sz="550" b="1" spc="150" kern="0" dirty="0">
                <a:solidFill>
                  <a:srgbClr val="8C6239"/>
                </a:solidFill>
                <a:latin typeface="+mn-lt" pitchFamily="34" charset="0"/>
              </a:rPr>
              <a:t>STAFFING FIRMS</a:t>
            </a:r>
            <a:endParaRPr lang="en-US" sz="550" dirty="0"/>
          </a:p>
        </p:txBody>
      </p:sp>
      <p:sp>
        <p:nvSpPr>
          <p:cNvPr id="231" name="Shape e253"/>
          <p:cNvSpPr/>
          <p:nvPr/>
        </p:nvSpPr>
        <p:spPr>
          <a:xfrm>
            <a:off x="7991490" y="3848070"/>
            <a:ext cx="780898" cy="171450"/>
          </a:xfrm>
          <a:prstGeom prst="rect">
            <a:avLst/>
          </a:prstGeom>
          <a:solidFill>
            <a:srgbClr val="FFFFFF"/>
          </a:solidFill>
          <a:ln w="12700">
            <a:solidFill>
              <a:srgbClr val="E3DCD3"/>
            </a:solidFill>
            <a:prstDash val="solid"/>
          </a:ln>
        </p:spPr>
        <p:txBody>
          <a:bodyPr/>
          <a:p/>
        </p:txBody>
      </p:sp>
      <p:sp>
        <p:nvSpPr>
          <p:cNvPr id="232" name="Text e253"/>
          <p:cNvSpPr txBox="1"/>
          <p:nvPr/>
        </p:nvSpPr>
        <p:spPr>
          <a:xfrm>
            <a:off x="8058150" y="3871935"/>
            <a:ext cx="704728"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Aerotek (Allegis)</a:t>
            </a:r>
            <a:endParaRPr lang="en-US" sz="650" dirty="0"/>
          </a:p>
        </p:txBody>
      </p:sp>
      <p:sp>
        <p:nvSpPr>
          <p:cNvPr id="233" name="Shape e254"/>
          <p:cNvSpPr/>
          <p:nvPr/>
        </p:nvSpPr>
        <p:spPr>
          <a:xfrm>
            <a:off x="8810518" y="3848070"/>
            <a:ext cx="347655" cy="171450"/>
          </a:xfrm>
          <a:prstGeom prst="rect">
            <a:avLst/>
          </a:prstGeom>
          <a:solidFill>
            <a:srgbClr val="FFFFFF"/>
          </a:solidFill>
          <a:ln w="12700">
            <a:solidFill>
              <a:srgbClr val="E3DCD3"/>
            </a:solidFill>
            <a:prstDash val="solid"/>
          </a:ln>
        </p:spPr>
        <p:txBody>
          <a:bodyPr/>
          <a:p/>
        </p:txBody>
      </p:sp>
      <p:sp>
        <p:nvSpPr>
          <p:cNvPr id="234" name="Text e254"/>
          <p:cNvSpPr txBox="1"/>
          <p:nvPr/>
        </p:nvSpPr>
        <p:spPr>
          <a:xfrm>
            <a:off x="8877178" y="3871935"/>
            <a:ext cx="271485"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ALKU</a:t>
            </a:r>
            <a:endParaRPr lang="en-US" sz="650" dirty="0"/>
          </a:p>
        </p:txBody>
      </p:sp>
      <p:sp>
        <p:nvSpPr>
          <p:cNvPr id="235" name="Shape e255"/>
          <p:cNvSpPr/>
          <p:nvPr/>
        </p:nvSpPr>
        <p:spPr>
          <a:xfrm>
            <a:off x="7991490" y="4057650"/>
            <a:ext cx="760964" cy="171450"/>
          </a:xfrm>
          <a:prstGeom prst="rect">
            <a:avLst/>
          </a:prstGeom>
          <a:solidFill>
            <a:srgbClr val="FFFFFF"/>
          </a:solidFill>
          <a:ln w="12700">
            <a:solidFill>
              <a:srgbClr val="E3DCD3"/>
            </a:solidFill>
            <a:prstDash val="solid"/>
          </a:ln>
        </p:spPr>
        <p:txBody>
          <a:bodyPr/>
          <a:p/>
        </p:txBody>
      </p:sp>
      <p:sp>
        <p:nvSpPr>
          <p:cNvPr id="236" name="Text e255"/>
          <p:cNvSpPr txBox="1"/>
          <p:nvPr/>
        </p:nvSpPr>
        <p:spPr>
          <a:xfrm>
            <a:off x="8058150" y="4081424"/>
            <a:ext cx="684794"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CHG Healthcare</a:t>
            </a:r>
            <a:endParaRPr lang="en-US" sz="650" dirty="0"/>
          </a:p>
        </p:txBody>
      </p:sp>
      <p:sp>
        <p:nvSpPr>
          <p:cNvPr id="237" name="Shape e256"/>
          <p:cNvSpPr/>
          <p:nvPr/>
        </p:nvSpPr>
        <p:spPr>
          <a:xfrm>
            <a:off x="8790493" y="4057650"/>
            <a:ext cx="422544" cy="171450"/>
          </a:xfrm>
          <a:prstGeom prst="rect">
            <a:avLst/>
          </a:prstGeom>
          <a:solidFill>
            <a:srgbClr val="FFFFFF"/>
          </a:solidFill>
          <a:ln w="12700">
            <a:solidFill>
              <a:srgbClr val="E3DCD3"/>
            </a:solidFill>
            <a:prstDash val="solid"/>
          </a:ln>
        </p:spPr>
        <p:txBody>
          <a:bodyPr/>
          <a:p/>
        </p:txBody>
      </p:sp>
      <p:sp>
        <p:nvSpPr>
          <p:cNvPr id="238" name="Text e256"/>
          <p:cNvSpPr txBox="1"/>
          <p:nvPr/>
        </p:nvSpPr>
        <p:spPr>
          <a:xfrm>
            <a:off x="8857244" y="4081424"/>
            <a:ext cx="346283"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Airswift</a:t>
            </a:r>
            <a:endParaRPr lang="en-US" sz="650" dirty="0"/>
          </a:p>
        </p:txBody>
      </p:sp>
      <p:sp>
        <p:nvSpPr>
          <p:cNvPr id="239" name="Shape e257"/>
          <p:cNvSpPr/>
          <p:nvPr/>
        </p:nvSpPr>
        <p:spPr>
          <a:xfrm>
            <a:off x="7991490" y="4267230"/>
            <a:ext cx="534741" cy="171450"/>
          </a:xfrm>
          <a:prstGeom prst="rect">
            <a:avLst/>
          </a:prstGeom>
          <a:solidFill>
            <a:srgbClr val="FFFFFF"/>
          </a:solidFill>
          <a:ln w="12700">
            <a:solidFill>
              <a:srgbClr val="E3DCD3"/>
            </a:solidFill>
            <a:prstDash val="solid"/>
          </a:ln>
        </p:spPr>
        <p:txBody>
          <a:bodyPr/>
          <a:p/>
        </p:txBody>
      </p:sp>
      <p:sp>
        <p:nvSpPr>
          <p:cNvPr id="240" name="Text e257"/>
          <p:cNvSpPr txBox="1"/>
          <p:nvPr/>
        </p:nvSpPr>
        <p:spPr>
          <a:xfrm>
            <a:off x="8058150" y="4291005"/>
            <a:ext cx="458572"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VeriWorks</a:t>
            </a:r>
            <a:endParaRPr lang="en-US" sz="650" dirty="0"/>
          </a:p>
        </p:txBody>
      </p:sp>
      <p:sp>
        <p:nvSpPr>
          <p:cNvPr id="241" name="Shape e258"/>
          <p:cNvSpPr/>
          <p:nvPr/>
        </p:nvSpPr>
        <p:spPr>
          <a:xfrm>
            <a:off x="7991490" y="4476720"/>
            <a:ext cx="986272" cy="171450"/>
          </a:xfrm>
          <a:prstGeom prst="rect">
            <a:avLst/>
          </a:prstGeom>
          <a:solidFill>
            <a:srgbClr val="FFFFFF"/>
          </a:solidFill>
          <a:ln w="12700">
            <a:solidFill>
              <a:srgbClr val="E3DCD3"/>
            </a:solidFill>
            <a:prstDash val="solid"/>
          </a:ln>
        </p:spPr>
        <p:txBody>
          <a:bodyPr/>
          <a:p/>
        </p:txBody>
      </p:sp>
      <p:sp>
        <p:nvSpPr>
          <p:cNvPr id="242" name="Text e258"/>
          <p:cNvSpPr txBox="1"/>
          <p:nvPr/>
        </p:nvSpPr>
        <p:spPr>
          <a:xfrm>
            <a:off x="8058150" y="4500585"/>
            <a:ext cx="910102"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HW Staffing Solutions</a:t>
            </a:r>
            <a:endParaRPr lang="en-US" sz="650" dirty="0"/>
          </a:p>
        </p:txBody>
      </p:sp>
      <p:sp>
        <p:nvSpPr>
          <p:cNvPr id="243" name="Shape e259"/>
          <p:cNvSpPr/>
          <p:nvPr/>
        </p:nvSpPr>
        <p:spPr>
          <a:xfrm>
            <a:off x="7991490" y="4686300"/>
            <a:ext cx="595274" cy="171450"/>
          </a:xfrm>
          <a:prstGeom prst="rect">
            <a:avLst/>
          </a:prstGeom>
          <a:solidFill>
            <a:srgbClr val="FFFFFF"/>
          </a:solidFill>
          <a:ln w="12700">
            <a:solidFill>
              <a:srgbClr val="E3DCD3"/>
            </a:solidFill>
            <a:prstDash val="solid"/>
          </a:ln>
        </p:spPr>
        <p:txBody>
          <a:bodyPr/>
          <a:p/>
        </p:txBody>
      </p:sp>
      <p:sp>
        <p:nvSpPr>
          <p:cNvPr id="244" name="Text e259"/>
          <p:cNvSpPr txBox="1"/>
          <p:nvPr/>
        </p:nvSpPr>
        <p:spPr>
          <a:xfrm>
            <a:off x="8058150" y="4710074"/>
            <a:ext cx="519105"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CTI Staffing</a:t>
            </a:r>
            <a:endParaRPr lang="en-US" sz="650" dirty="0"/>
          </a:p>
        </p:txBody>
      </p:sp>
      <p:sp>
        <p:nvSpPr>
          <p:cNvPr id="245" name="Shape e260"/>
          <p:cNvSpPr/>
          <p:nvPr/>
        </p:nvSpPr>
        <p:spPr>
          <a:xfrm>
            <a:off x="8624895" y="4686300"/>
            <a:ext cx="607527" cy="171450"/>
          </a:xfrm>
          <a:prstGeom prst="rect">
            <a:avLst/>
          </a:prstGeom>
          <a:solidFill>
            <a:srgbClr val="FFFFFF"/>
          </a:solidFill>
          <a:ln w="12700">
            <a:solidFill>
              <a:srgbClr val="E3DCD3"/>
            </a:solidFill>
            <a:prstDash val="solid"/>
          </a:ln>
        </p:spPr>
        <p:txBody>
          <a:bodyPr/>
          <a:p/>
        </p:txBody>
      </p:sp>
      <p:sp>
        <p:nvSpPr>
          <p:cNvPr id="246" name="Text e260"/>
          <p:cNvSpPr txBox="1"/>
          <p:nvPr/>
        </p:nvSpPr>
        <p:spPr>
          <a:xfrm>
            <a:off x="8691555" y="4710074"/>
            <a:ext cx="531358"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Care Career</a:t>
            </a:r>
            <a:endParaRPr lang="en-US" sz="650" dirty="0"/>
          </a:p>
        </p:txBody>
      </p:sp>
      <p:sp>
        <p:nvSpPr>
          <p:cNvPr id="247" name="Shape e261"/>
          <p:cNvSpPr/>
          <p:nvPr/>
        </p:nvSpPr>
        <p:spPr>
          <a:xfrm>
            <a:off x="7991490" y="4895880"/>
            <a:ext cx="1218164" cy="171450"/>
          </a:xfrm>
          <a:prstGeom prst="rect">
            <a:avLst/>
          </a:prstGeom>
          <a:solidFill>
            <a:srgbClr val="FFFFFF"/>
          </a:solidFill>
          <a:ln w="12700">
            <a:solidFill>
              <a:srgbClr val="E3DCD3"/>
            </a:solidFill>
            <a:prstDash val="solid"/>
          </a:ln>
        </p:spPr>
        <p:txBody>
          <a:bodyPr/>
          <a:p/>
        </p:txBody>
      </p:sp>
      <p:sp>
        <p:nvSpPr>
          <p:cNvPr id="248" name="Text e261"/>
          <p:cNvSpPr txBox="1"/>
          <p:nvPr/>
        </p:nvSpPr>
        <p:spPr>
          <a:xfrm>
            <a:off x="8058150" y="4919655"/>
            <a:ext cx="1141994"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Empire Workforce Solutions</a:t>
            </a:r>
            <a:endParaRPr lang="en-US" sz="650" dirty="0"/>
          </a:p>
        </p:txBody>
      </p:sp>
      <p:sp>
        <p:nvSpPr>
          <p:cNvPr id="249" name="Text e262"/>
          <p:cNvSpPr txBox="1"/>
          <p:nvPr/>
        </p:nvSpPr>
        <p:spPr>
          <a:xfrm>
            <a:off x="7991490" y="5148255"/>
            <a:ext cx="1543050" cy="123810"/>
          </a:xfrm>
          <a:prstGeom prst="rect">
            <a:avLst/>
          </a:prstGeom>
          <a:noFill/>
          <a:ln/>
        </p:spPr>
        <p:txBody>
          <a:bodyPr wrap="none" lIns="0" tIns="0" rIns="0" bIns="0" rtlCol="0" anchor="t"/>
          <a:lstStyle/>
          <a:p>
            <a:pPr algn="r" indent="0" marL="0">
              <a:lnSpc>
                <a:spcPts val="1000"/>
              </a:lnSpc>
              <a:buNone/>
            </a:pPr>
            <a:r>
              <a:rPr lang="en-US" sz="550" b="1" spc="150" kern="0" dirty="0">
                <a:solidFill>
                  <a:srgbClr val="8C6239"/>
                </a:solidFill>
                <a:latin typeface="+mn-lt" pitchFamily="34" charset="0"/>
              </a:rPr>
              <a:t>INVESTORS</a:t>
            </a:r>
            <a:endParaRPr lang="en-US" sz="550" dirty="0"/>
          </a:p>
        </p:txBody>
      </p:sp>
      <p:sp>
        <p:nvSpPr>
          <p:cNvPr id="250" name="Shape e264"/>
          <p:cNvSpPr/>
          <p:nvPr/>
        </p:nvSpPr>
        <p:spPr>
          <a:xfrm>
            <a:off x="7991490" y="5324460"/>
            <a:ext cx="829727" cy="171450"/>
          </a:xfrm>
          <a:prstGeom prst="rect">
            <a:avLst/>
          </a:prstGeom>
          <a:solidFill>
            <a:srgbClr val="FFFFFF"/>
          </a:solidFill>
          <a:ln w="12700">
            <a:solidFill>
              <a:srgbClr val="E3DCD3"/>
            </a:solidFill>
            <a:prstDash val="solid"/>
          </a:ln>
        </p:spPr>
        <p:txBody>
          <a:bodyPr/>
          <a:p/>
        </p:txBody>
      </p:sp>
      <p:sp>
        <p:nvSpPr>
          <p:cNvPr id="251" name="Text e264"/>
          <p:cNvSpPr txBox="1"/>
          <p:nvPr/>
        </p:nvSpPr>
        <p:spPr>
          <a:xfrm>
            <a:off x="8058150" y="5348326"/>
            <a:ext cx="753557"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Concord Holdings</a:t>
            </a:r>
            <a:endParaRPr lang="en-US" sz="650" dirty="0"/>
          </a:p>
        </p:txBody>
      </p:sp>
      <p:sp>
        <p:nvSpPr>
          <p:cNvPr id="252" name="Shape e265"/>
          <p:cNvSpPr/>
          <p:nvPr/>
        </p:nvSpPr>
        <p:spPr>
          <a:xfrm>
            <a:off x="7991490" y="5534040"/>
            <a:ext cx="742676" cy="171450"/>
          </a:xfrm>
          <a:prstGeom prst="rect">
            <a:avLst/>
          </a:prstGeom>
          <a:solidFill>
            <a:srgbClr val="FFFFFF"/>
          </a:solidFill>
          <a:ln w="12700">
            <a:solidFill>
              <a:srgbClr val="E3DCD3"/>
            </a:solidFill>
            <a:prstDash val="solid"/>
          </a:ln>
        </p:spPr>
        <p:txBody>
          <a:bodyPr/>
          <a:p/>
        </p:txBody>
      </p:sp>
      <p:sp>
        <p:nvSpPr>
          <p:cNvPr id="253" name="Text e265"/>
          <p:cNvSpPr txBox="1"/>
          <p:nvPr/>
        </p:nvSpPr>
        <p:spPr>
          <a:xfrm>
            <a:off x="8058150" y="5557815"/>
            <a:ext cx="666415" cy="114300"/>
          </a:xfrm>
          <a:prstGeom prst="rect">
            <a:avLst/>
          </a:prstGeom>
          <a:noFill/>
          <a:ln/>
        </p:spPr>
        <p:txBody>
          <a:bodyPr wrap="none" lIns="0" tIns="0" rIns="0" bIns="0" rtlCol="0" anchor="t"/>
          <a:lstStyle/>
          <a:p>
            <a:pPr algn="l" indent="0" marL="0">
              <a:lnSpc>
                <a:spcPts val="900"/>
              </a:lnSpc>
              <a:buNone/>
            </a:pPr>
            <a:r>
              <a:rPr lang="en-US" sz="650" dirty="0">
                <a:solidFill>
                  <a:srgbClr val="1B1A1A"/>
                </a:solidFill>
                <a:latin typeface="+mn-lt" pitchFamily="34" charset="0"/>
              </a:rPr>
              <a:t>Red Dog Equity</a:t>
            </a:r>
            <a:endParaRPr lang="en-US" sz="650" dirty="0"/>
          </a:p>
        </p:txBody>
      </p:sp>
      <p:sp>
        <p:nvSpPr>
          <p:cNvPr id="254" name="Shape e266"/>
          <p:cNvSpPr/>
          <p:nvPr/>
        </p:nvSpPr>
        <p:spPr>
          <a:xfrm>
            <a:off x="419070" y="7029450"/>
            <a:ext cx="9220170" cy="9510"/>
          </a:xfrm>
          <a:prstGeom prst="ellipse">
            <a:avLst/>
          </a:prstGeom>
          <a:solidFill>
            <a:srgbClr val="E3DCD3"/>
          </a:solidFill>
          <a:ln/>
        </p:spPr>
        <p:txBody>
          <a:bodyPr/>
          <a:p/>
        </p:txBody>
      </p:sp>
      <p:pic>
        <p:nvPicPr>
          <p:cNvPr id="255" name="Picture e267" descr="Benchmark International">    </p:cNvPr>
          <p:cNvPicPr>
            <a:picLocks noChangeAspect="1"/>
          </p:cNvPicPr>
          <p:nvPr/>
        </p:nvPicPr>
        <p:blipFill>
          <a:blip r:embed="rId6"/>
          <a:stretch>
            <a:fillRect/>
          </a:stretch>
        </p:blipFill>
        <p:spPr>
          <a:xfrm>
            <a:off x="419070" y="7143750"/>
            <a:ext cx="914400" cy="171450"/>
          </a:xfrm>
          <a:prstGeom prst="rect">
            <a:avLst/>
          </a:prstGeom>
        </p:spPr>
      </p:pic>
      <p:sp>
        <p:nvSpPr>
          <p:cNvPr id="256" name="Text e268"/>
          <p:cNvSpPr txBox="1"/>
          <p:nvPr/>
        </p:nvSpPr>
        <p:spPr>
          <a:xfrm>
            <a:off x="1543050" y="7098487"/>
            <a:ext cx="7734270" cy="238110"/>
          </a:xfrm>
          <a:prstGeom prst="rect">
            <a:avLst/>
          </a:prstGeom>
          <a:noFill/>
          <a:ln/>
        </p:spPr>
        <p:txBody>
          <a:bodyPr wrap="square" lIns="0" tIns="0" rIns="0" bIns="0" rtlCol="0" anchor="t"/>
          <a:lstStyle/>
          <a:p>
            <a:pPr algn="l" indent="0" marL="0">
              <a:lnSpc>
                <a:spcPts val="950"/>
              </a:lnSpc>
              <a:buNone/>
            </a:pPr>
            <a:r>
              <a:rPr lang="en-US" sz="700" dirty="0">
                <a:solidFill>
                  <a:srgbClr val="6F6A66"/>
                </a:solidFill>
                <a:latin typeface="+mn-lt" pitchFamily="34" charset="0"/>
              </a:rPr>
              <a:t>Private participants are buyers in transactions announced between October 2025 and October 2026</a:t>
            </a:r>
            <a:pPr algn="l" indent="0" marL="0">
              <a:lnSpc>
                <a:spcPts val="950"/>
              </a:lnSpc>
              <a:buNone/>
            </a:pPr>
            <a:r>
              <a:rPr lang="en-US" sz="700" u="sng" dirty="0">
                <a:solidFill>
                  <a:srgbClr val="8C6239"/>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
            </a:r>
            <a:pPr algn="l" indent="0" marL="0">
              <a:lnSpc>
                <a:spcPts val="950"/>
              </a:lnSpc>
              <a:buNone/>
            </a:pPr>
            <a:r>
              <a:rPr lang="en-US" sz="700" dirty="0">
                <a:solidFill>
                  <a:srgbClr val="6F6A66"/>
                </a:solidFill>
                <a:latin typeface="+mn-lt" pitchFamily="34" charset="0"/>
              </a:rPr>
              <a:t>. The list is illustrative. Company names are the property of their owners and are shown for identification.</a:t>
            </a:r>
            <a:endParaRPr lang="en-US" sz="700" dirty="0"/>
          </a:p>
        </p:txBody>
      </p:sp>
      <p:sp>
        <p:nvSpPr>
          <p:cNvPr id="257" name="Text e269"/>
          <p:cNvSpPr txBox="1"/>
          <p:nvPr/>
        </p:nvSpPr>
        <p:spPr>
          <a:xfrm>
            <a:off x="9513875" y="7162770"/>
            <a:ext cx="12381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A1A"/>
        </a:solidFill>
      </p:bgPr>
    </p:bg>
    <p:spTree>
      <p:nvGrpSpPr>
        <p:cNvPr id="1" name=""/>
        <p:cNvGrpSpPr/>
        <p:nvPr/>
      </p:nvGrpSpPr>
      <p:grpSpPr>
        <a:xfrm>
          <a:off x="0" y="0"/>
          <a:ext cx="0" cy="0"/>
          <a:chOff x="0" y="0"/>
          <a:chExt cx="0" cy="0"/>
        </a:xfrm>
      </p:grpSpPr>
      <p:pic>
        <p:nvPicPr>
          <p:cNvPr id="2" name="Picture e1">    </p:cNvPr>
          <p:cNvPicPr>
            <a:picLocks noChangeAspect="1"/>
          </p:cNvPicPr>
          <p:nvPr/>
        </p:nvPicPr>
        <p:blipFill>
          <a:blip r:embed="rId1"/>
          <a:stretch>
            <a:fillRect/>
          </a:stretch>
        </p:blipFill>
        <p:spPr>
          <a:xfrm>
            <a:off x="0" y="0"/>
            <a:ext cx="10058400" cy="7772400"/>
          </a:xfrm>
          <a:prstGeom prst="rect">
            <a:avLst/>
          </a:prstGeom>
        </p:spPr>
      </p:pic>
      <p:pic>
        <p:nvPicPr>
          <p:cNvPr id="3" name="Picture e3" descr="A man in a suit standing in front of an office tower">    </p:cNvPr>
          <p:cNvPicPr>
            <a:picLocks noChangeAspect="1"/>
          </p:cNvPicPr>
          <p:nvPr/>
        </p:nvPicPr>
        <p:blipFill>
          <a:blip r:embed="rId2"/>
          <a:stretch>
            <a:fillRect/>
          </a:stretch>
        </p:blipFill>
        <p:spPr>
          <a:xfrm>
            <a:off x="4572000" y="0"/>
            <a:ext cx="5486400" cy="7772400"/>
          </a:xfrm>
          <a:prstGeom prst="rect">
            <a:avLst/>
          </a:prstGeom>
        </p:spPr>
      </p:pic>
      <p:sp>
        <p:nvSpPr>
          <p:cNvPr id="4" name="Line"/>
          <p:cNvSpPr/>
          <p:nvPr/>
        </p:nvSpPr>
        <p:spPr>
          <a:xfrm flipH="1">
            <a:off x="4562490" y="0"/>
            <a:ext cx="1314450" cy="7772400"/>
          </a:xfrm>
          <a:prstGeom prst="line">
            <a:avLst/>
          </a:prstGeom>
          <a:noFill/>
          <a:ln w="38100">
            <a:solidFill>
              <a:srgbClr val="B68757"/>
            </a:solidFill>
            <a:prstDash val="solid"/>
          </a:ln>
        </p:spPr>
        <p:txBody>
          <a:bodyPr/>
          <a:p/>
        </p:txBody>
      </p:sp>
      <p:sp>
        <p:nvSpPr>
          <p:cNvPr id="5" name="Text e7"/>
          <p:cNvSpPr txBox="1"/>
          <p:nvPr/>
        </p:nvSpPr>
        <p:spPr>
          <a:xfrm>
            <a:off x="609630" y="1676370"/>
            <a:ext cx="1372514" cy="1143000"/>
          </a:xfrm>
          <a:prstGeom prst="rect">
            <a:avLst/>
          </a:prstGeom>
          <a:noFill/>
          <a:ln/>
        </p:spPr>
        <p:txBody>
          <a:bodyPr wrap="none" lIns="0" tIns="0" rIns="0" bIns="0" rtlCol="0" anchor="t"/>
          <a:lstStyle/>
          <a:p>
            <a:pPr algn="l" indent="0" marL="0">
              <a:lnSpc>
                <a:spcPts val="9000"/>
              </a:lnSpc>
              <a:buNone/>
            </a:pPr>
            <a:r>
              <a:rPr lang="en-US" sz="9000" spc="300" kern="0" dirty="0">
                <a:solidFill>
                  <a:srgbClr val="D3AE84"/>
                </a:solidFill>
                <a:latin typeface="+mj-lt" pitchFamily="34" charset="0"/>
              </a:rPr>
              <a:t>03</a:t>
            </a:r>
            <a:endParaRPr lang="en-US" sz="9000" dirty="0"/>
          </a:p>
        </p:txBody>
      </p:sp>
      <p:sp>
        <p:nvSpPr>
          <p:cNvPr id="6" name="Text e8"/>
          <p:cNvSpPr txBox="1"/>
          <p:nvPr/>
        </p:nvSpPr>
        <p:spPr>
          <a:xfrm>
            <a:off x="609630" y="2895630"/>
            <a:ext cx="3993185" cy="590520"/>
          </a:xfrm>
          <a:prstGeom prst="rect">
            <a:avLst/>
          </a:prstGeom>
          <a:noFill/>
          <a:ln/>
        </p:spPr>
        <p:txBody>
          <a:bodyPr wrap="none" lIns="0" tIns="0" rIns="0" bIns="0" rtlCol="0" anchor="t"/>
          <a:lstStyle/>
          <a:p>
            <a:pPr algn="l" indent="0" marL="0">
              <a:lnSpc>
                <a:spcPts val="4650"/>
              </a:lnSpc>
              <a:buNone/>
            </a:pPr>
            <a:r>
              <a:rPr lang="en-US" sz="4050" b="1" dirty="0">
                <a:solidFill>
                  <a:srgbClr val="FFFFFF"/>
                </a:solidFill>
                <a:latin typeface="+mj-lt" pitchFamily="34" charset="0"/>
              </a:rPr>
              <a:t>Connect With Us</a:t>
            </a:r>
            <a:endParaRPr lang="en-US" sz="4050" dirty="0"/>
          </a:p>
        </p:txBody>
      </p:sp>
      <p:sp>
        <p:nvSpPr>
          <p:cNvPr id="7" name="Shape e9"/>
          <p:cNvSpPr/>
          <p:nvPr/>
        </p:nvSpPr>
        <p:spPr>
          <a:xfrm>
            <a:off x="609630" y="3714750"/>
            <a:ext cx="914400" cy="19020"/>
          </a:xfrm>
          <a:prstGeom prst="rect">
            <a:avLst/>
          </a:prstGeom>
          <a:solidFill>
            <a:srgbClr val="B68757"/>
          </a:solidFill>
          <a:ln/>
        </p:spPr>
        <p:txBody>
          <a:bodyPr/>
          <a:p/>
        </p:txBody>
      </p:sp>
      <p:sp>
        <p:nvSpPr>
          <p:cNvPr id="8" name="Shape e11s0"/>
          <p:cNvSpPr/>
          <p:nvPr/>
        </p:nvSpPr>
        <p:spPr>
          <a:xfrm>
            <a:off x="609630" y="3924330"/>
            <a:ext cx="3333720" cy="9510"/>
          </a:xfrm>
          <a:prstGeom prst="rect">
            <a:avLst/>
          </a:prstGeom>
          <a:solidFill>
            <a:srgbClr val="FFFFFF">
              <a:alpha val="16000"/>
            </a:srgbClr>
          </a:solidFill>
          <a:ln/>
        </p:spPr>
        <p:txBody>
          <a:bodyPr/>
          <a:p/>
        </p:txBody>
      </p:sp>
      <p:sp>
        <p:nvSpPr>
          <p:cNvPr id="9" name="Shape e12"/>
          <p:cNvSpPr/>
          <p:nvPr/>
        </p:nvSpPr>
        <p:spPr>
          <a:xfrm>
            <a:off x="609630" y="4067160"/>
            <a:ext cx="57150" cy="57150"/>
          </a:xfrm>
          <a:prstGeom prst="rect">
            <a:avLst/>
          </a:prstGeom>
          <a:solidFill>
            <a:srgbClr val="B68757"/>
          </a:solidFill>
          <a:ln/>
        </p:spPr>
        <p:txBody>
          <a:bodyPr/>
          <a:p/>
        </p:txBody>
      </p:sp>
      <p:sp>
        <p:nvSpPr>
          <p:cNvPr id="10" name="Text e13"/>
          <p:cNvSpPr txBox="1"/>
          <p:nvPr/>
        </p:nvSpPr>
        <p:spPr>
          <a:xfrm>
            <a:off x="781080" y="4005255"/>
            <a:ext cx="1211031"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Start a conversation</a:t>
            </a:r>
            <a:endParaRPr lang="en-US" sz="950" dirty="0"/>
          </a:p>
        </p:txBody>
      </p:sp>
      <p:sp>
        <p:nvSpPr>
          <p:cNvPr id="11" name="Shape e14s0"/>
          <p:cNvSpPr/>
          <p:nvPr/>
        </p:nvSpPr>
        <p:spPr>
          <a:xfrm>
            <a:off x="609630" y="4267230"/>
            <a:ext cx="3333720" cy="9510"/>
          </a:xfrm>
          <a:prstGeom prst="rect">
            <a:avLst/>
          </a:prstGeom>
          <a:solidFill>
            <a:srgbClr val="FFFFFF">
              <a:alpha val="16000"/>
            </a:srgbClr>
          </a:solidFill>
          <a:ln/>
        </p:spPr>
        <p:txBody>
          <a:bodyPr/>
          <a:p/>
        </p:txBody>
      </p:sp>
      <p:sp>
        <p:nvSpPr>
          <p:cNvPr id="12" name="Shape e15"/>
          <p:cNvSpPr/>
          <p:nvPr/>
        </p:nvSpPr>
        <p:spPr>
          <a:xfrm>
            <a:off x="609630" y="4410060"/>
            <a:ext cx="57150" cy="57150"/>
          </a:xfrm>
          <a:prstGeom prst="rect">
            <a:avLst/>
          </a:prstGeom>
          <a:solidFill>
            <a:srgbClr val="B68757"/>
          </a:solidFill>
          <a:ln/>
        </p:spPr>
        <p:txBody>
          <a:bodyPr/>
          <a:p/>
        </p:txBody>
      </p:sp>
      <p:sp>
        <p:nvSpPr>
          <p:cNvPr id="13" name="Text e16"/>
          <p:cNvSpPr txBox="1"/>
          <p:nvPr/>
        </p:nvSpPr>
        <p:spPr>
          <a:xfrm>
            <a:off x="781080" y="4348155"/>
            <a:ext cx="598018"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Our team</a:t>
            </a:r>
            <a:endParaRPr lang="en-US" sz="950" dirty="0"/>
          </a:p>
        </p:txBody>
      </p:sp>
      <p:sp>
        <p:nvSpPr>
          <p:cNvPr id="14" name="Shape e17s0"/>
          <p:cNvSpPr/>
          <p:nvPr/>
        </p:nvSpPr>
        <p:spPr>
          <a:xfrm>
            <a:off x="609630" y="4610130"/>
            <a:ext cx="3333720" cy="9510"/>
          </a:xfrm>
          <a:prstGeom prst="rect">
            <a:avLst/>
          </a:prstGeom>
          <a:solidFill>
            <a:srgbClr val="FFFFFF">
              <a:alpha val="16000"/>
            </a:srgbClr>
          </a:solidFill>
          <a:ln/>
        </p:spPr>
        <p:txBody>
          <a:bodyPr/>
          <a:p/>
        </p:txBody>
      </p:sp>
      <p:sp>
        <p:nvSpPr>
          <p:cNvPr id="15" name="Shape e18"/>
          <p:cNvSpPr/>
          <p:nvPr/>
        </p:nvSpPr>
        <p:spPr>
          <a:xfrm>
            <a:off x="609630" y="4752960"/>
            <a:ext cx="57150" cy="57150"/>
          </a:xfrm>
          <a:prstGeom prst="rect">
            <a:avLst/>
          </a:prstGeom>
          <a:solidFill>
            <a:srgbClr val="B68757"/>
          </a:solidFill>
          <a:ln/>
        </p:spPr>
        <p:txBody>
          <a:bodyPr/>
          <a:p/>
        </p:txBody>
      </p:sp>
      <p:sp>
        <p:nvSpPr>
          <p:cNvPr id="16" name="Text e19"/>
          <p:cNvSpPr txBox="1"/>
          <p:nvPr/>
        </p:nvSpPr>
        <p:spPr>
          <a:xfrm>
            <a:off x="781080" y="4691055"/>
            <a:ext cx="1465235"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Benchmark International</a:t>
            </a:r>
            <a:endParaRPr lang="en-US" sz="950" dirty="0"/>
          </a:p>
        </p:txBody>
      </p:sp>
      <p:sp>
        <p:nvSpPr>
          <p:cNvPr id="17" name="Shape e20s0"/>
          <p:cNvSpPr/>
          <p:nvPr/>
        </p:nvSpPr>
        <p:spPr>
          <a:xfrm>
            <a:off x="609630" y="4953030"/>
            <a:ext cx="3333720" cy="9510"/>
          </a:xfrm>
          <a:prstGeom prst="rect">
            <a:avLst/>
          </a:prstGeom>
          <a:solidFill>
            <a:srgbClr val="FFFFFF">
              <a:alpha val="16000"/>
            </a:srgbClr>
          </a:solidFill>
          <a:ln/>
        </p:spPr>
        <p:txBody>
          <a:bodyPr/>
          <a:p/>
        </p:txBody>
      </p:sp>
      <p:sp>
        <p:nvSpPr>
          <p:cNvPr id="18" name="Shape e21"/>
          <p:cNvSpPr/>
          <p:nvPr/>
        </p:nvSpPr>
        <p:spPr>
          <a:xfrm>
            <a:off x="609630" y="5095860"/>
            <a:ext cx="57150" cy="57150"/>
          </a:xfrm>
          <a:prstGeom prst="rect">
            <a:avLst/>
          </a:prstGeom>
          <a:solidFill>
            <a:srgbClr val="B68757"/>
          </a:solidFill>
          <a:ln/>
        </p:spPr>
        <p:txBody>
          <a:bodyPr/>
          <a:p/>
        </p:txBody>
      </p:sp>
      <p:sp>
        <p:nvSpPr>
          <p:cNvPr id="19" name="Text e22"/>
          <p:cNvSpPr txBox="1"/>
          <p:nvPr/>
        </p:nvSpPr>
        <p:spPr>
          <a:xfrm>
            <a:off x="781080" y="5033955"/>
            <a:ext cx="1419332" cy="180960"/>
          </a:xfrm>
          <a:prstGeom prst="rect">
            <a:avLst/>
          </a:prstGeom>
          <a:noFill/>
          <a:ln/>
        </p:spPr>
        <p:txBody>
          <a:bodyPr wrap="none" lIns="0" tIns="0" rIns="0" bIns="0" rtlCol="0" anchor="t"/>
          <a:lstStyle/>
          <a:p>
            <a:pPr algn="l" indent="0" marL="0">
              <a:lnSpc>
                <a:spcPts val="1450"/>
              </a:lnSpc>
              <a:buNone/>
            </a:pPr>
            <a:r>
              <a:rPr lang="en-US" sz="950" dirty="0">
                <a:solidFill>
                  <a:srgbClr val="C3BDB6"/>
                </a:solidFill>
                <a:latin typeface="+mn-lt" pitchFamily="34" charset="0"/>
              </a:rPr>
              <a:t>Disclosures and sources</a:t>
            </a:r>
            <a:endParaRPr lang="en-US" sz="950" dirty="0"/>
          </a:p>
        </p:txBody>
      </p:sp>
      <p:sp>
        <p:nvSpPr>
          <p:cNvPr id="20" name="Shape e23s0"/>
          <p:cNvSpPr/>
          <p:nvPr/>
        </p:nvSpPr>
        <p:spPr>
          <a:xfrm>
            <a:off x="609630" y="5295930"/>
            <a:ext cx="3333720" cy="9510"/>
          </a:xfrm>
          <a:prstGeom prst="rect">
            <a:avLst/>
          </a:prstGeom>
          <a:solidFill>
            <a:srgbClr val="FFFFFF">
              <a:alpha val="16000"/>
            </a:srgbClr>
          </a:solidFill>
          <a:ln/>
        </p:spPr>
        <p:txBody>
          <a:bodyPr/>
          <a:p/>
        </p:txBody>
      </p:sp>
      <p:pic>
        <p:nvPicPr>
          <p:cNvPr id="21" name="Picture e24" descr="Benchmark International">    </p:cNvPr>
          <p:cNvPicPr>
            <a:picLocks noChangeAspect="1"/>
          </p:cNvPicPr>
          <p:nvPr/>
        </p:nvPicPr>
        <p:blipFill>
          <a:blip r:embed="rId3"/>
          <a:stretch>
            <a:fillRect/>
          </a:stretch>
        </p:blipFill>
        <p:spPr>
          <a:xfrm>
            <a:off x="609630" y="7086600"/>
            <a:ext cx="1428750" cy="266730"/>
          </a:xfrm>
          <a:prstGeom prst="rect">
            <a:avLst/>
          </a:prstGeom>
        </p:spPr>
      </p:pic>
      <p:sp>
        <p:nvSpPr>
          <p:cNvPr id="22" name="Text e25"/>
          <p:cNvSpPr txBox="1"/>
          <p:nvPr/>
        </p:nvSpPr>
        <p:spPr>
          <a:xfrm>
            <a:off x="2209830" y="7181880"/>
            <a:ext cx="2122780"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C3BDB6"/>
                </a:solidFill>
                <a:latin typeface="+mn-lt" pitchFamily="34" charset="0"/>
              </a:rPr>
              <a:t>BUSINESS SERVICES | Q4 2026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2025213"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Connect With Us</a:t>
            </a:r>
            <a:endParaRPr lang="en-US" sz="2050" dirty="0"/>
          </a:p>
        </p:txBody>
      </p:sp>
      <p:sp>
        <p:nvSpPr>
          <p:cNvPr id="6" name="Text e5"/>
          <p:cNvSpPr txBox="1"/>
          <p:nvPr/>
        </p:nvSpPr>
        <p:spPr>
          <a:xfrm>
            <a:off x="419070" y="883402"/>
            <a:ext cx="3462010"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A first conversation is confidential and carries no obligation.</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Text e10"/>
          <p:cNvSpPr txBox="1"/>
          <p:nvPr/>
        </p:nvSpPr>
        <p:spPr>
          <a:xfrm>
            <a:off x="419070" y="1485900"/>
            <a:ext cx="2934584"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8C6239"/>
                </a:solidFill>
                <a:latin typeface="+mn-lt" pitchFamily="34" charset="0"/>
              </a:rPr>
              <a:t>CONFIDENTIAL. NO PRESSURE. NO COMMITMENTS.</a:t>
            </a:r>
            <a:endParaRPr lang="en-US" sz="700" dirty="0"/>
          </a:p>
        </p:txBody>
      </p:sp>
      <p:sp>
        <p:nvSpPr>
          <p:cNvPr id="9" name="Text e11"/>
          <p:cNvSpPr txBox="1"/>
          <p:nvPr/>
        </p:nvSpPr>
        <p:spPr>
          <a:xfrm>
            <a:off x="419070" y="1724010"/>
            <a:ext cx="5143500" cy="990570"/>
          </a:xfrm>
          <a:prstGeom prst="rect">
            <a:avLst/>
          </a:prstGeom>
          <a:noFill/>
          <a:ln/>
        </p:spPr>
        <p:txBody>
          <a:bodyPr wrap="square" lIns="0" tIns="0" rIns="0" bIns="0" rtlCol="0" anchor="t"/>
          <a:lstStyle/>
          <a:p>
            <a:pPr algn="l" indent="0" marL="0">
              <a:lnSpc>
                <a:spcPts val="3900"/>
              </a:lnSpc>
              <a:buNone/>
            </a:pPr>
            <a:r>
              <a:rPr lang="en-US" sz="3300" b="1" dirty="0">
                <a:solidFill>
                  <a:srgbClr val="1B1A1A"/>
                </a:solidFill>
                <a:latin typeface="+mj-lt" pitchFamily="34" charset="0"/>
              </a:rPr>
              <a:t>It all starts with a conversation.</a:t>
            </a:r>
            <a:endParaRPr lang="en-US" sz="3300" dirty="0"/>
          </a:p>
        </p:txBody>
      </p:sp>
      <p:sp>
        <p:nvSpPr>
          <p:cNvPr id="10" name="Shape e12"/>
          <p:cNvSpPr/>
          <p:nvPr/>
        </p:nvSpPr>
        <p:spPr>
          <a:xfrm>
            <a:off x="419070" y="2924160"/>
            <a:ext cx="685800" cy="19020"/>
          </a:xfrm>
          <a:prstGeom prst="rect">
            <a:avLst/>
          </a:prstGeom>
          <a:solidFill>
            <a:srgbClr val="B68757"/>
          </a:solidFill>
          <a:ln/>
        </p:spPr>
        <p:txBody>
          <a:bodyPr/>
          <a:p/>
        </p:txBody>
      </p:sp>
      <p:sp>
        <p:nvSpPr>
          <p:cNvPr id="11" name="Text e13"/>
          <p:cNvSpPr txBox="1"/>
          <p:nvPr/>
        </p:nvSpPr>
        <p:spPr>
          <a:xfrm>
            <a:off x="419070" y="3148005"/>
            <a:ext cx="4762470" cy="1095360"/>
          </a:xfrm>
          <a:prstGeom prst="rect">
            <a:avLst/>
          </a:prstGeom>
          <a:noFill/>
          <a:ln/>
        </p:spPr>
        <p:txBody>
          <a:bodyPr wrap="square" lIns="0" tIns="0" rIns="0" bIns="0" rtlCol="0" anchor="t"/>
          <a:lstStyle/>
          <a:p>
            <a:pPr algn="l" indent="0" marL="0">
              <a:lnSpc>
                <a:spcPts val="1750"/>
              </a:lnSpc>
              <a:buNone/>
            </a:pPr>
            <a:r>
              <a:rPr lang="en-US" sz="1050" dirty="0">
                <a:solidFill>
                  <a:srgbClr val="333231"/>
                </a:solidFill>
                <a:latin typeface="+mn-lt" pitchFamily="34" charset="0"/>
              </a:rPr>
              <a:t>Our first step is always a confidential conversation exploring your goals, your company and your options. We welcome calls from owners considering a sale or strategic partnership in any of our five industries, and from the accountants, attorneys and wealth advisors who work with them.</a:t>
            </a:r>
            <a:endParaRPr lang="en-US" sz="1050" dirty="0"/>
          </a:p>
        </p:txBody>
      </p:sp>
      <p:sp>
        <p:nvSpPr>
          <p:cNvPr id="12" name="Shape e14"/>
          <p:cNvSpPr/>
          <p:nvPr/>
        </p:nvSpPr>
        <p:spPr>
          <a:xfrm>
            <a:off x="419070" y="4533870"/>
            <a:ext cx="4762470" cy="1323960"/>
          </a:xfrm>
          <a:prstGeom prst="rect">
            <a:avLst/>
          </a:prstGeom>
          <a:solidFill>
            <a:srgbClr val="FAF7F3"/>
          </a:solidFill>
          <a:ln/>
        </p:spPr>
        <p:txBody>
          <a:bodyPr/>
          <a:p/>
        </p:txBody>
      </p:sp>
      <p:sp>
        <p:nvSpPr>
          <p:cNvPr id="13" name="Shape e14s0"/>
          <p:cNvSpPr/>
          <p:nvPr/>
        </p:nvSpPr>
        <p:spPr>
          <a:xfrm>
            <a:off x="419070" y="4533870"/>
            <a:ext cx="4762470" cy="28621"/>
          </a:xfrm>
          <a:prstGeom prst="rect">
            <a:avLst/>
          </a:prstGeom>
          <a:solidFill>
            <a:srgbClr val="B68757"/>
          </a:solidFill>
          <a:ln/>
        </p:spPr>
        <p:txBody>
          <a:bodyPr/>
          <a:p/>
        </p:txBody>
      </p:sp>
      <p:pic>
        <p:nvPicPr>
          <p:cNvPr id="14" name="Picture e15" descr="Jared Hardin">    </p:cNvPr>
          <p:cNvPicPr>
            <a:picLocks noChangeAspect="1"/>
          </p:cNvPicPr>
          <p:nvPr/>
        </p:nvPicPr>
        <p:blipFill>
          <a:blip r:embed="rId1"/>
          <a:stretch>
            <a:fillRect/>
          </a:stretch>
        </p:blipFill>
        <p:spPr>
          <a:xfrm>
            <a:off x="628650" y="4752960"/>
            <a:ext cx="914400" cy="914400"/>
          </a:xfrm>
          <a:prstGeom prst="rect">
            <a:avLst/>
          </a:prstGeom>
        </p:spPr>
      </p:pic>
      <p:sp>
        <p:nvSpPr>
          <p:cNvPr id="15" name="Text e17"/>
          <p:cNvSpPr txBox="1"/>
          <p:nvPr/>
        </p:nvSpPr>
        <p:spPr>
          <a:xfrm>
            <a:off x="1733520" y="4762470"/>
            <a:ext cx="1335390" cy="276240"/>
          </a:xfrm>
          <a:prstGeom prst="rect">
            <a:avLst/>
          </a:prstGeom>
          <a:noFill/>
          <a:ln/>
        </p:spPr>
        <p:txBody>
          <a:bodyPr wrap="none" lIns="0" tIns="0" rIns="0" bIns="0" rtlCol="0" anchor="t"/>
          <a:lstStyle/>
          <a:p>
            <a:pPr algn="l" indent="0" marL="0">
              <a:lnSpc>
                <a:spcPts val="2200"/>
              </a:lnSpc>
              <a:buNone/>
            </a:pPr>
            <a:r>
              <a:rPr lang="en-US" sz="1750" b="1" dirty="0">
                <a:solidFill>
                  <a:srgbClr val="1B1A1A"/>
                </a:solidFill>
                <a:latin typeface="+mj-lt" pitchFamily="34" charset="0"/>
              </a:rPr>
              <a:t>Jared Hardin</a:t>
            </a:r>
            <a:endParaRPr lang="en-US" sz="1750" dirty="0"/>
          </a:p>
        </p:txBody>
      </p:sp>
      <p:sp>
        <p:nvSpPr>
          <p:cNvPr id="16" name="Text e18"/>
          <p:cNvSpPr txBox="1"/>
          <p:nvPr/>
        </p:nvSpPr>
        <p:spPr>
          <a:xfrm>
            <a:off x="1733520" y="5033955"/>
            <a:ext cx="3223169" cy="133320"/>
          </a:xfrm>
          <a:prstGeom prst="rect">
            <a:avLst/>
          </a:prstGeom>
          <a:noFill/>
          <a:ln/>
        </p:spPr>
        <p:txBody>
          <a:bodyPr wrap="none" lIns="0" tIns="0" rIns="0" bIns="0" rtlCol="0" anchor="t"/>
          <a:lstStyle/>
          <a:p>
            <a:pPr algn="l" indent="0" marL="0">
              <a:lnSpc>
                <a:spcPts val="1050"/>
              </a:lnSpc>
              <a:buNone/>
            </a:pPr>
            <a:r>
              <a:rPr lang="en-US" sz="700" b="1" spc="150" kern="0" dirty="0">
                <a:solidFill>
                  <a:srgbClr val="8C6239"/>
                </a:solidFill>
                <a:latin typeface="+mn-lt" pitchFamily="34" charset="0"/>
              </a:rPr>
              <a:t>MANAGING DIRECTOR</a:t>
            </a:r>
            <a:endParaRPr lang="en-US" sz="700" dirty="0"/>
          </a:p>
        </p:txBody>
      </p:sp>
      <p:sp>
        <p:nvSpPr>
          <p:cNvPr id="17" name="Text e19"/>
          <p:cNvSpPr txBox="1"/>
          <p:nvPr/>
        </p:nvSpPr>
        <p:spPr>
          <a:xfrm>
            <a:off x="1733520" y="5253045"/>
            <a:ext cx="3162270" cy="400050"/>
          </a:xfrm>
          <a:prstGeom prst="rect">
            <a:avLst/>
          </a:prstGeom>
          <a:noFill/>
          <a:ln/>
        </p:spPr>
        <p:txBody>
          <a:bodyPr wrap="square" lIns="0" tIns="0" rIns="0" bIns="0" rtlCol="0" anchor="t"/>
          <a:lstStyle/>
          <a:p>
            <a:pPr algn="l" indent="0" marL="0">
              <a:lnSpc>
                <a:spcPts val="1600"/>
              </a:lnSpc>
              <a:buNone/>
            </a:pPr>
            <a:r>
              <a:rPr lang="en-US" sz="1000" u="sng" dirty="0">
                <a:solidFill>
                  <a:srgbClr val="8C6239"/>
                </a:solidFill>
                <a:latin typeface="+mn-lt" pitchFamily="34" charset="0"/>
                <a:hlinkClick r:id="rId2" invalidUrl="" action="" tgtFrame="" tooltip="" history="1" highlightClick="0" endSnd="0">
                  <a:extLst>
                    <a:ext uri="{A12FA001-AC4F-418D-AE19-62706E023703}">
                      <ahyp:hlinkClr xmlns:ahyp="http://schemas.microsoft.com/office/drawing/2018/hyperlinkcolor" val="tx"/>
                    </a:ext>
                  </a:extLst>
                </a:hlinkClick>
              </a:rPr>
              <a:t>813-771-6675</a:t>
            </a:r>
            <a:endParaRPr lang="en-US" sz="1000" dirty="0"/>
          </a:p>
          <a:p>
            <a:pPr algn="l" indent="0" marL="0">
              <a:lnSpc>
                <a:spcPts val="1600"/>
              </a:lnSpc>
              <a:buNone/>
            </a:pPr>
            <a:r>
              <a:rPr lang="en-US" sz="100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j.hardin@benchmarkintl.com</a:t>
            </a:r>
            <a:endParaRPr lang="en-US" sz="1000" dirty="0"/>
          </a:p>
        </p:txBody>
      </p:sp>
      <p:sp>
        <p:nvSpPr>
          <p:cNvPr id="18" name="Shape e21">
            <a:hlinkClick r:id="rId4" tooltip=""/>
          </p:cNvPr>
          <p:cNvSpPr/>
          <p:nvPr/>
        </p:nvSpPr>
        <p:spPr>
          <a:xfrm>
            <a:off x="419070" y="6581760"/>
            <a:ext cx="2058589" cy="352410"/>
          </a:xfrm>
          <a:prstGeom prst="rect">
            <a:avLst/>
          </a:prstGeom>
          <a:solidFill>
            <a:srgbClr val="A0754A"/>
          </a:solidFill>
          <a:ln w="12700">
            <a:solidFill>
              <a:srgbClr val="A0754A"/>
            </a:solidFill>
            <a:prstDash val="solid"/>
          </a:ln>
        </p:spPr>
        <p:txBody>
          <a:bodyPr/>
          <a:p/>
        </p:txBody>
      </p:sp>
      <p:sp>
        <p:nvSpPr>
          <p:cNvPr id="19" name="Text e21"/>
          <p:cNvSpPr txBox="1"/>
          <p:nvPr/>
        </p:nvSpPr>
        <p:spPr>
          <a:xfrm>
            <a:off x="600121" y="6691305"/>
            <a:ext cx="1753819"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FFFFFF"/>
                </a:solidFill>
                <a:latin typeface="+mn-lt" pitchFamily="34" charset="0"/>
              </a:rPr>
              <a:t>SCHEDULE A CONVERSATION</a:t>
            </a:r>
            <a:endParaRPr lang="en-US" sz="700" dirty="0"/>
          </a:p>
        </p:txBody>
      </p:sp>
      <p:sp>
        <p:nvSpPr>
          <p:cNvPr id="20" name="Shape e22">
            <a:hlinkClick r:id="rId5" tooltip=""/>
          </p:cNvPr>
          <p:cNvSpPr/>
          <p:nvPr/>
        </p:nvSpPr>
        <p:spPr>
          <a:xfrm>
            <a:off x="2591958" y="6581760"/>
            <a:ext cx="2333000" cy="352410"/>
          </a:xfrm>
          <a:prstGeom prst="rect">
            <a:avLst/>
          </a:prstGeom>
          <a:solidFill>
            <a:srgbClr val="FFFFFF">
              <a:alpha val="0"/>
            </a:srgbClr>
          </a:solidFill>
          <a:ln w="12700">
            <a:solidFill>
              <a:srgbClr val="1B1A1A"/>
            </a:solidFill>
            <a:prstDash val="solid"/>
          </a:ln>
        </p:spPr>
        <p:txBody>
          <a:bodyPr/>
          <a:p/>
        </p:txBody>
      </p:sp>
      <p:sp>
        <p:nvSpPr>
          <p:cNvPr id="21" name="Text e22"/>
          <p:cNvSpPr txBox="1"/>
          <p:nvPr/>
        </p:nvSpPr>
        <p:spPr>
          <a:xfrm>
            <a:off x="2773009" y="6691305"/>
            <a:ext cx="2028231"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1B1A1A"/>
                </a:solidFill>
                <a:latin typeface="+mn-lt" pitchFamily="34" charset="0"/>
              </a:rPr>
              <a:t>READ THE REPORT ONLINE</a:t>
            </a:r>
            <a:endParaRPr lang="en-US" sz="700" dirty="0"/>
          </a:p>
        </p:txBody>
      </p:sp>
      <p:sp>
        <p:nvSpPr>
          <p:cNvPr id="22" name="Shape e23"/>
          <p:cNvSpPr/>
          <p:nvPr/>
        </p:nvSpPr>
        <p:spPr>
          <a:xfrm>
            <a:off x="5848320" y="1238280"/>
            <a:ext cx="3790920" cy="5695980"/>
          </a:xfrm>
          <a:prstGeom prst="rect">
            <a:avLst/>
          </a:prstGeom>
          <a:solidFill>
            <a:srgbClr val="1B1A1A"/>
          </a:solidFill>
          <a:ln/>
        </p:spPr>
        <p:txBody>
          <a:bodyPr/>
          <a:p/>
        </p:txBody>
      </p:sp>
      <p:pic>
        <p:nvPicPr>
          <p:cNvPr id="23" name="Picture e24" descr="A man in a suit seated by a window">    </p:cNvPr>
          <p:cNvPicPr>
            <a:picLocks noChangeAspect="1"/>
          </p:cNvPicPr>
          <p:nvPr/>
        </p:nvPicPr>
        <p:blipFill>
          <a:blip r:embed="rId6"/>
          <a:stretch>
            <a:fillRect/>
          </a:stretch>
        </p:blipFill>
        <p:spPr>
          <a:xfrm>
            <a:off x="5848320" y="1238280"/>
            <a:ext cx="3790920" cy="5695980"/>
          </a:xfrm>
          <a:prstGeom prst="rect">
            <a:avLst/>
          </a:prstGeom>
        </p:spPr>
      </p:pic>
      <p:sp>
        <p:nvSpPr>
          <p:cNvPr id="28" name="Shape e30"/>
          <p:cNvSpPr/>
          <p:nvPr/>
        </p:nvSpPr>
        <p:spPr>
          <a:xfrm>
            <a:off x="419070" y="7029450"/>
            <a:ext cx="9220170" cy="9510"/>
          </a:xfrm>
          <a:prstGeom prst="ellipse">
            <a:avLst/>
          </a:prstGeom>
          <a:solidFill>
            <a:srgbClr val="E3DCD3"/>
          </a:solidFill>
          <a:ln/>
        </p:spPr>
        <p:txBody>
          <a:bodyPr/>
          <a:p/>
        </p:txBody>
      </p:sp>
      <p:pic>
        <p:nvPicPr>
          <p:cNvPr id="29" name="Picture e31" descr="Benchmark International">    </p:cNvPr>
          <p:cNvPicPr>
            <a:picLocks noChangeAspect="1"/>
          </p:cNvPicPr>
          <p:nvPr/>
        </p:nvPicPr>
        <p:blipFill>
          <a:blip r:embed="rId7"/>
          <a:stretch>
            <a:fillRect/>
          </a:stretch>
        </p:blipFill>
        <p:spPr>
          <a:xfrm>
            <a:off x="419070" y="7143750"/>
            <a:ext cx="914400" cy="171450"/>
          </a:xfrm>
          <a:prstGeom prst="rect">
            <a:avLst/>
          </a:prstGeom>
        </p:spPr>
      </p:pic>
      <p:sp>
        <p:nvSpPr>
          <p:cNvPr id="30" name="Text e32"/>
          <p:cNvSpPr txBox="1"/>
          <p:nvPr/>
        </p:nvSpPr>
        <p:spPr>
          <a:xfrm>
            <a:off x="1543050" y="7098487"/>
            <a:ext cx="3428726" cy="119055"/>
          </a:xfrm>
          <a:prstGeom prst="rect">
            <a:avLst/>
          </a:prstGeom>
          <a:noFill/>
          <a:ln/>
        </p:spPr>
        <p:txBody>
          <a:bodyPr wrap="none" lIns="0" tIns="0" rIns="0" bIns="0" rtlCol="0" anchor="t"/>
          <a:lstStyle/>
          <a:p>
            <a:pPr algn="l" indent="0" marL="0">
              <a:lnSpc>
                <a:spcPts val="950"/>
              </a:lnSpc>
              <a:buNone/>
            </a:pPr>
            <a:r>
              <a:rPr lang="en-US" sz="700" dirty="0">
                <a:solidFill>
                  <a:srgbClr val="6F6A66"/>
                </a:solidFill>
                <a:latin typeface="+mn-lt" pitchFamily="34" charset="0"/>
              </a:rPr>
              <a:t>Benchmark International Middle Market, 4030 West Boy Scout Blvd., Suite 500, Tampa, FL 33607</a:t>
            </a:r>
            <a:endParaRPr lang="en-US" sz="700" dirty="0"/>
          </a:p>
        </p:txBody>
      </p:sp>
      <p:sp>
        <p:nvSpPr>
          <p:cNvPr id="31" name="Text e33"/>
          <p:cNvSpPr txBox="1"/>
          <p:nvPr/>
        </p:nvSpPr>
        <p:spPr>
          <a:xfrm>
            <a:off x="9516252" y="7162770"/>
            <a:ext cx="12381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1188720"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Our Team</a:t>
            </a:r>
            <a:endParaRPr lang="en-US" sz="2050" dirty="0"/>
          </a:p>
        </p:txBody>
      </p:sp>
      <p:sp>
        <p:nvSpPr>
          <p:cNvPr id="6" name="Text e5"/>
          <p:cNvSpPr txBox="1"/>
          <p:nvPr/>
        </p:nvSpPr>
        <p:spPr>
          <a:xfrm>
            <a:off x="419070" y="883402"/>
            <a:ext cx="6797010"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The Middle Market team leads each engagement from the first conversation through signing and closing.</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2038380" cy="5695980"/>
          </a:xfrm>
          <a:prstGeom prst="rect">
            <a:avLst/>
          </a:prstGeom>
          <a:solidFill>
            <a:srgbClr val="1B1A1A"/>
          </a:solidFill>
          <a:ln/>
        </p:spPr>
        <p:txBody>
          <a:bodyPr/>
          <a:p/>
        </p:txBody>
      </p:sp>
      <p:pic>
        <p:nvPicPr>
          <p:cNvPr id="9" name="Picture e10">    </p:cNvPr>
          <p:cNvPicPr>
            <a:picLocks noChangeAspect="1"/>
          </p:cNvPicPr>
          <p:nvPr/>
        </p:nvPicPr>
        <p:blipFill>
          <a:blip r:embed="rId1"/>
          <a:stretch>
            <a:fillRect/>
          </a:stretch>
        </p:blipFill>
        <p:spPr>
          <a:xfrm>
            <a:off x="419070" y="1238280"/>
            <a:ext cx="2038380" cy="5695980"/>
          </a:xfrm>
          <a:prstGeom prst="rect">
            <a:avLst/>
          </a:prstGeom>
        </p:spPr>
      </p:pic>
      <p:sp>
        <p:nvSpPr>
          <p:cNvPr id="10" name="Text e12"/>
          <p:cNvSpPr txBox="1"/>
          <p:nvPr/>
        </p:nvSpPr>
        <p:spPr>
          <a:xfrm>
            <a:off x="609630" y="1485900"/>
            <a:ext cx="1657350" cy="514350"/>
          </a:xfrm>
          <a:prstGeom prst="rect">
            <a:avLst/>
          </a:prstGeom>
          <a:noFill/>
          <a:ln/>
        </p:spPr>
        <p:txBody>
          <a:bodyPr wrap="square" lIns="0" tIns="0" rIns="0" bIns="0" rtlCol="0" anchor="t"/>
          <a:lstStyle/>
          <a:p>
            <a:pPr algn="l" indent="0" marL="0">
              <a:lnSpc>
                <a:spcPts val="2050"/>
              </a:lnSpc>
              <a:buNone/>
            </a:pPr>
            <a:r>
              <a:rPr lang="en-US" sz="1750" b="1" dirty="0">
                <a:solidFill>
                  <a:srgbClr val="FFFFFF"/>
                </a:solidFill>
                <a:latin typeface="+mj-lt" pitchFamily="34" charset="0"/>
              </a:rPr>
              <a:t>Middle Market</a:t>
            </a:r>
            <a:endParaRPr lang="en-US" sz="1750" dirty="0"/>
          </a:p>
        </p:txBody>
      </p:sp>
      <p:sp>
        <p:nvSpPr>
          <p:cNvPr id="11" name="Shape e13"/>
          <p:cNvSpPr/>
          <p:nvPr/>
        </p:nvSpPr>
        <p:spPr>
          <a:xfrm>
            <a:off x="609630" y="2114550"/>
            <a:ext cx="533370" cy="19020"/>
          </a:xfrm>
          <a:prstGeom prst="rect">
            <a:avLst/>
          </a:prstGeom>
          <a:solidFill>
            <a:srgbClr val="B68757"/>
          </a:solidFill>
          <a:ln/>
        </p:spPr>
        <p:txBody>
          <a:bodyPr/>
          <a:p/>
        </p:txBody>
      </p:sp>
      <p:sp>
        <p:nvSpPr>
          <p:cNvPr id="12" name="Text e14"/>
          <p:cNvSpPr txBox="1"/>
          <p:nvPr/>
        </p:nvSpPr>
        <p:spPr>
          <a:xfrm>
            <a:off x="609630" y="2245492"/>
            <a:ext cx="1657350" cy="943021"/>
          </a:xfrm>
          <a:prstGeom prst="rect">
            <a:avLst/>
          </a:prstGeom>
          <a:noFill/>
          <a:ln/>
        </p:spPr>
        <p:txBody>
          <a:bodyPr wrap="square" lIns="0" tIns="0" rIns="0" bIns="0" rtlCol="0" anchor="t"/>
          <a:lstStyle/>
          <a:p>
            <a:pPr algn="l" indent="0" marL="0">
              <a:lnSpc>
                <a:spcPts val="1250"/>
              </a:lnSpc>
              <a:buNone/>
            </a:pPr>
            <a:r>
              <a:rPr lang="en-US" sz="850" dirty="0">
                <a:solidFill>
                  <a:srgbClr val="E8E2DA"/>
                </a:solidFill>
                <a:latin typeface="+mn-lt" pitchFamily="34" charset="0"/>
              </a:rPr>
              <a:t>The team represents owners of privately held companies with $50 million to $500 million of total enterprise value, from majority and control transactions to strategic partnerships.</a:t>
            </a:r>
            <a:endParaRPr lang="en-US" sz="850" dirty="0"/>
          </a:p>
        </p:txBody>
      </p:sp>
      <p:sp>
        <p:nvSpPr>
          <p:cNvPr id="13" name="Text e16"/>
          <p:cNvSpPr txBox="1"/>
          <p:nvPr/>
        </p:nvSpPr>
        <p:spPr>
          <a:xfrm>
            <a:off x="609630" y="3900465"/>
            <a:ext cx="962040"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D3AE84"/>
                </a:solidFill>
                <a:latin typeface="+mn-lt" pitchFamily="34" charset="0"/>
              </a:rPr>
              <a:t>HEADQUARTERS</a:t>
            </a:r>
            <a:endParaRPr lang="en-US" sz="700" dirty="0"/>
          </a:p>
        </p:txBody>
      </p:sp>
      <p:sp>
        <p:nvSpPr>
          <p:cNvPr id="14" name="Shape e17s0"/>
          <p:cNvSpPr/>
          <p:nvPr/>
        </p:nvSpPr>
        <p:spPr>
          <a:xfrm>
            <a:off x="609630" y="4100535"/>
            <a:ext cx="1657350" cy="9510"/>
          </a:xfrm>
          <a:prstGeom prst="rect">
            <a:avLst/>
          </a:prstGeom>
          <a:solidFill>
            <a:srgbClr val="FFFFFF">
              <a:alpha val="16000"/>
            </a:srgbClr>
          </a:solidFill>
          <a:ln/>
        </p:spPr>
        <p:txBody>
          <a:bodyPr/>
          <a:p/>
        </p:txBody>
      </p:sp>
      <p:sp>
        <p:nvSpPr>
          <p:cNvPr id="15" name="Text e18"/>
          <p:cNvSpPr txBox="1"/>
          <p:nvPr/>
        </p:nvSpPr>
        <p:spPr>
          <a:xfrm>
            <a:off x="609630" y="4214835"/>
            <a:ext cx="920069" cy="171450"/>
          </a:xfrm>
          <a:prstGeom prst="rect">
            <a:avLst/>
          </a:prstGeom>
          <a:noFill/>
          <a:ln/>
        </p:spPr>
        <p:txBody>
          <a:bodyPr wrap="none" lIns="0" tIns="0" rIns="0" bIns="0" rtlCol="0" anchor="t"/>
          <a:lstStyle/>
          <a:p>
            <a:pPr algn="l" indent="0" marL="0">
              <a:lnSpc>
                <a:spcPts val="1350"/>
              </a:lnSpc>
              <a:buNone/>
            </a:pPr>
            <a:r>
              <a:rPr lang="en-US" sz="1000" spc="250" kern="0" dirty="0">
                <a:solidFill>
                  <a:srgbClr val="D3AE84"/>
                </a:solidFill>
                <a:latin typeface="+mj-lt" pitchFamily="34" charset="0"/>
              </a:rPr>
              <a:t>AMERICAS</a:t>
            </a:r>
            <a:endParaRPr lang="en-US" sz="1000" dirty="0"/>
          </a:p>
        </p:txBody>
      </p:sp>
      <p:sp>
        <p:nvSpPr>
          <p:cNvPr id="16" name="Text e19"/>
          <p:cNvSpPr txBox="1"/>
          <p:nvPr/>
        </p:nvSpPr>
        <p:spPr>
          <a:xfrm>
            <a:off x="609630" y="4407682"/>
            <a:ext cx="1657350" cy="442935"/>
          </a:xfrm>
          <a:prstGeom prst="rect">
            <a:avLst/>
          </a:prstGeom>
          <a:noFill/>
          <a:ln/>
        </p:spPr>
        <p:txBody>
          <a:bodyPr wrap="square" lIns="0" tIns="0" rIns="0" bIns="0" rtlCol="0" anchor="t"/>
          <a:lstStyle/>
          <a:p>
            <a:pPr algn="l" indent="0" marL="0">
              <a:lnSpc>
                <a:spcPts val="1150"/>
              </a:lnSpc>
              <a:buNone/>
            </a:pPr>
            <a:r>
              <a:rPr lang="en-US" sz="800" dirty="0">
                <a:solidFill>
                  <a:srgbClr val="E8E2DA"/>
                </a:solidFill>
                <a:latin typeface="+mn-lt" pitchFamily="34" charset="0"/>
              </a:rPr>
              <a:t>4030 West Boy Scout Blvd.</a:t>
            </a:r>
            <a:endParaRPr lang="en-US" sz="800" dirty="0"/>
          </a:p>
          <a:p>
            <a:pPr algn="l" indent="0" marL="0">
              <a:lnSpc>
                <a:spcPts val="1150"/>
              </a:lnSpc>
              <a:buNone/>
            </a:pPr>
            <a:r>
              <a:rPr lang="en-US" sz="800" dirty="0">
                <a:solidFill>
                  <a:srgbClr val="E8E2DA"/>
                </a:solidFill>
                <a:latin typeface="+mn-lt" pitchFamily="34" charset="0"/>
              </a:rPr>
              <a:t>Suite 500, Tampa, FL 33607</a:t>
            </a:r>
            <a:endParaRPr lang="en-US" sz="800" dirty="0"/>
          </a:p>
          <a:p>
            <a:pPr algn="l" indent="0" marL="0">
              <a:lnSpc>
                <a:spcPts val="1150"/>
              </a:lnSpc>
              <a:buNone/>
            </a:pPr>
            <a:r>
              <a:rPr lang="en-US" sz="800" dirty="0">
                <a:solidFill>
                  <a:srgbClr val="E8E2DA"/>
                </a:solidFill>
                <a:latin typeface="+mn-lt" pitchFamily="34" charset="0"/>
              </a:rPr>
              <a:t>+1 813 898 2350</a:t>
            </a:r>
            <a:endParaRPr lang="en-US" sz="800" dirty="0"/>
          </a:p>
        </p:txBody>
      </p:sp>
      <p:sp>
        <p:nvSpPr>
          <p:cNvPr id="17" name="Shape e20s0"/>
          <p:cNvSpPr/>
          <p:nvPr/>
        </p:nvSpPr>
        <p:spPr>
          <a:xfrm>
            <a:off x="609630" y="4962540"/>
            <a:ext cx="1657350" cy="9510"/>
          </a:xfrm>
          <a:prstGeom prst="rect">
            <a:avLst/>
          </a:prstGeom>
          <a:solidFill>
            <a:srgbClr val="FFFFFF">
              <a:alpha val="16000"/>
            </a:srgbClr>
          </a:solidFill>
          <a:ln/>
        </p:spPr>
        <p:txBody>
          <a:bodyPr/>
          <a:p/>
        </p:txBody>
      </p:sp>
      <p:sp>
        <p:nvSpPr>
          <p:cNvPr id="18" name="Text e21"/>
          <p:cNvSpPr txBox="1"/>
          <p:nvPr/>
        </p:nvSpPr>
        <p:spPr>
          <a:xfrm>
            <a:off x="609630" y="5076840"/>
            <a:ext cx="717530" cy="171450"/>
          </a:xfrm>
          <a:prstGeom prst="rect">
            <a:avLst/>
          </a:prstGeom>
          <a:noFill/>
          <a:ln/>
        </p:spPr>
        <p:txBody>
          <a:bodyPr wrap="none" lIns="0" tIns="0" rIns="0" bIns="0" rtlCol="0" anchor="t"/>
          <a:lstStyle/>
          <a:p>
            <a:pPr algn="l" indent="0" marL="0">
              <a:lnSpc>
                <a:spcPts val="1350"/>
              </a:lnSpc>
              <a:buNone/>
            </a:pPr>
            <a:r>
              <a:rPr lang="en-US" sz="1000" spc="250" kern="0" dirty="0">
                <a:solidFill>
                  <a:srgbClr val="D3AE84"/>
                </a:solidFill>
                <a:latin typeface="+mj-lt" pitchFamily="34" charset="0"/>
              </a:rPr>
              <a:t>EUROPE</a:t>
            </a:r>
            <a:endParaRPr lang="en-US" sz="1000" dirty="0"/>
          </a:p>
        </p:txBody>
      </p:sp>
      <p:sp>
        <p:nvSpPr>
          <p:cNvPr id="19" name="Text e22"/>
          <p:cNvSpPr txBox="1"/>
          <p:nvPr/>
        </p:nvSpPr>
        <p:spPr>
          <a:xfrm>
            <a:off x="609630" y="5269687"/>
            <a:ext cx="1657350" cy="442935"/>
          </a:xfrm>
          <a:prstGeom prst="rect">
            <a:avLst/>
          </a:prstGeom>
          <a:noFill/>
          <a:ln/>
        </p:spPr>
        <p:txBody>
          <a:bodyPr wrap="square" lIns="0" tIns="0" rIns="0" bIns="0" rtlCol="0" anchor="t"/>
          <a:lstStyle/>
          <a:p>
            <a:pPr algn="l" indent="0" marL="0">
              <a:lnSpc>
                <a:spcPts val="1150"/>
              </a:lnSpc>
              <a:buNone/>
            </a:pPr>
            <a:r>
              <a:rPr lang="en-US" sz="800" dirty="0">
                <a:solidFill>
                  <a:srgbClr val="E8E2DA"/>
                </a:solidFill>
                <a:latin typeface="+mn-lt" pitchFamily="34" charset="0"/>
              </a:rPr>
              <a:t>One New Bailey, 4 Stanley St.</a:t>
            </a:r>
            <a:endParaRPr lang="en-US" sz="800" dirty="0"/>
          </a:p>
          <a:p>
            <a:pPr algn="l" indent="0" marL="0">
              <a:lnSpc>
                <a:spcPts val="1150"/>
              </a:lnSpc>
              <a:buNone/>
            </a:pPr>
            <a:r>
              <a:rPr lang="en-US" sz="800" dirty="0">
                <a:solidFill>
                  <a:srgbClr val="E8E2DA"/>
                </a:solidFill>
                <a:latin typeface="+mn-lt" pitchFamily="34" charset="0"/>
              </a:rPr>
              <a:t>Manchester, M3 5JL</a:t>
            </a:r>
            <a:endParaRPr lang="en-US" sz="800" dirty="0"/>
          </a:p>
          <a:p>
            <a:pPr algn="l" indent="0" marL="0">
              <a:lnSpc>
                <a:spcPts val="1150"/>
              </a:lnSpc>
              <a:buNone/>
            </a:pPr>
            <a:r>
              <a:rPr lang="en-US" sz="800" dirty="0">
                <a:solidFill>
                  <a:srgbClr val="E8E2DA"/>
                </a:solidFill>
                <a:latin typeface="+mn-lt" pitchFamily="34" charset="0"/>
              </a:rPr>
              <a:t>+44 (0) 161 359 4400</a:t>
            </a:r>
            <a:endParaRPr lang="en-US" sz="800" dirty="0"/>
          </a:p>
        </p:txBody>
      </p:sp>
      <p:sp>
        <p:nvSpPr>
          <p:cNvPr id="20" name="Shape e23s0"/>
          <p:cNvSpPr/>
          <p:nvPr/>
        </p:nvSpPr>
        <p:spPr>
          <a:xfrm>
            <a:off x="609630" y="5824545"/>
            <a:ext cx="1657350" cy="9510"/>
          </a:xfrm>
          <a:prstGeom prst="rect">
            <a:avLst/>
          </a:prstGeom>
          <a:solidFill>
            <a:srgbClr val="FFFFFF">
              <a:alpha val="16000"/>
            </a:srgbClr>
          </a:solidFill>
          <a:ln/>
        </p:spPr>
        <p:txBody>
          <a:bodyPr/>
          <a:p/>
        </p:txBody>
      </p:sp>
      <p:sp>
        <p:nvSpPr>
          <p:cNvPr id="21" name="Text e24"/>
          <p:cNvSpPr txBox="1"/>
          <p:nvPr/>
        </p:nvSpPr>
        <p:spPr>
          <a:xfrm>
            <a:off x="609630" y="5938845"/>
            <a:ext cx="685617" cy="171450"/>
          </a:xfrm>
          <a:prstGeom prst="rect">
            <a:avLst/>
          </a:prstGeom>
          <a:noFill/>
          <a:ln/>
        </p:spPr>
        <p:txBody>
          <a:bodyPr wrap="none" lIns="0" tIns="0" rIns="0" bIns="0" rtlCol="0" anchor="t"/>
          <a:lstStyle/>
          <a:p>
            <a:pPr algn="l" indent="0" marL="0">
              <a:lnSpc>
                <a:spcPts val="1350"/>
              </a:lnSpc>
              <a:buNone/>
            </a:pPr>
            <a:r>
              <a:rPr lang="en-US" sz="1000" spc="250" kern="0" dirty="0">
                <a:solidFill>
                  <a:srgbClr val="D3AE84"/>
                </a:solidFill>
                <a:latin typeface="+mj-lt" pitchFamily="34" charset="0"/>
              </a:rPr>
              <a:t>AFRICA</a:t>
            </a:r>
            <a:endParaRPr lang="en-US" sz="1000" dirty="0"/>
          </a:p>
        </p:txBody>
      </p:sp>
      <p:sp>
        <p:nvSpPr>
          <p:cNvPr id="22" name="Text e25"/>
          <p:cNvSpPr txBox="1"/>
          <p:nvPr/>
        </p:nvSpPr>
        <p:spPr>
          <a:xfrm>
            <a:off x="609630" y="6131692"/>
            <a:ext cx="1657350" cy="442935"/>
          </a:xfrm>
          <a:prstGeom prst="rect">
            <a:avLst/>
          </a:prstGeom>
          <a:noFill/>
          <a:ln/>
        </p:spPr>
        <p:txBody>
          <a:bodyPr wrap="square" lIns="0" tIns="0" rIns="0" bIns="0" rtlCol="0" anchor="t"/>
          <a:lstStyle/>
          <a:p>
            <a:pPr algn="l" indent="0" marL="0">
              <a:lnSpc>
                <a:spcPts val="1150"/>
              </a:lnSpc>
              <a:buNone/>
            </a:pPr>
            <a:r>
              <a:rPr lang="en-US" sz="800" dirty="0">
                <a:solidFill>
                  <a:srgbClr val="E8E2DA"/>
                </a:solidFill>
                <a:latin typeface="+mn-lt" pitchFamily="34" charset="0"/>
              </a:rPr>
              <a:t>Airport Office Park, Freight Rd.</a:t>
            </a:r>
            <a:endParaRPr lang="en-US" sz="800" dirty="0"/>
          </a:p>
          <a:p>
            <a:pPr algn="l" indent="0" marL="0">
              <a:lnSpc>
                <a:spcPts val="1150"/>
              </a:lnSpc>
              <a:buNone/>
            </a:pPr>
            <a:r>
              <a:rPr lang="en-US" sz="800" dirty="0">
                <a:solidFill>
                  <a:srgbClr val="E8E2DA"/>
                </a:solidFill>
                <a:latin typeface="+mn-lt" pitchFamily="34" charset="0"/>
              </a:rPr>
              <a:t>Cape Town Airport, 7525</a:t>
            </a:r>
            <a:endParaRPr lang="en-US" sz="800" dirty="0"/>
          </a:p>
          <a:p>
            <a:pPr algn="l" indent="0" marL="0">
              <a:lnSpc>
                <a:spcPts val="1150"/>
              </a:lnSpc>
              <a:buNone/>
            </a:pPr>
            <a:r>
              <a:rPr lang="en-US" sz="800" dirty="0">
                <a:solidFill>
                  <a:srgbClr val="E8E2DA"/>
                </a:solidFill>
                <a:latin typeface="+mn-lt" pitchFamily="34" charset="0"/>
              </a:rPr>
              <a:t>+27 (0) 21 300 2055</a:t>
            </a:r>
            <a:endParaRPr lang="en-US" sz="800" dirty="0"/>
          </a:p>
        </p:txBody>
      </p:sp>
      <p:sp>
        <p:nvSpPr>
          <p:cNvPr id="23" name="Shape e28"/>
          <p:cNvSpPr/>
          <p:nvPr/>
        </p:nvSpPr>
        <p:spPr>
          <a:xfrm>
            <a:off x="2628900" y="1238280"/>
            <a:ext cx="1652595" cy="2628900"/>
          </a:xfrm>
          <a:prstGeom prst="rect">
            <a:avLst/>
          </a:prstGeom>
          <a:solidFill>
            <a:srgbClr val="FAF7F3"/>
          </a:solidFill>
          <a:ln/>
        </p:spPr>
        <p:txBody>
          <a:bodyPr/>
          <a:p/>
        </p:txBody>
      </p:sp>
      <p:sp>
        <p:nvSpPr>
          <p:cNvPr id="24" name="Shape e28s0"/>
          <p:cNvSpPr/>
          <p:nvPr/>
        </p:nvSpPr>
        <p:spPr>
          <a:xfrm>
            <a:off x="2628900" y="1238280"/>
            <a:ext cx="1652595" cy="28621"/>
          </a:xfrm>
          <a:prstGeom prst="rect">
            <a:avLst/>
          </a:prstGeom>
          <a:solidFill>
            <a:srgbClr val="B68757"/>
          </a:solidFill>
          <a:ln/>
        </p:spPr>
        <p:txBody>
          <a:bodyPr/>
          <a:p/>
        </p:txBody>
      </p:sp>
      <p:pic>
        <p:nvPicPr>
          <p:cNvPr id="25" name="Picture e29" descr="Jordan Houtz">    </p:cNvPr>
          <p:cNvPicPr>
            <a:picLocks noChangeAspect="1"/>
          </p:cNvPicPr>
          <p:nvPr/>
        </p:nvPicPr>
        <p:blipFill>
          <a:blip r:embed="rId2"/>
          <a:stretch>
            <a:fillRect/>
          </a:stretch>
        </p:blipFill>
        <p:spPr>
          <a:xfrm>
            <a:off x="2883652" y="1438260"/>
            <a:ext cx="1143000" cy="1143000"/>
          </a:xfrm>
          <a:prstGeom prst="rect">
            <a:avLst/>
          </a:prstGeom>
        </p:spPr>
      </p:pic>
      <p:sp>
        <p:nvSpPr>
          <p:cNvPr id="26" name="Text e30"/>
          <p:cNvSpPr txBox="1"/>
          <p:nvPr/>
        </p:nvSpPr>
        <p:spPr>
          <a:xfrm>
            <a:off x="2906786" y="2709824"/>
            <a:ext cx="1095360" cy="228600"/>
          </a:xfrm>
          <a:prstGeom prst="rect">
            <a:avLst/>
          </a:prstGeom>
          <a:noFill/>
          <a:ln/>
        </p:spPr>
        <p:txBody>
          <a:bodyPr wrap="none" lIns="0" tIns="0" rIns="0" bIns="0" rtlCol="0" anchor="t"/>
          <a:lstStyle/>
          <a:p>
            <a:pPr algn="ctr" indent="0" marL="0">
              <a:lnSpc>
                <a:spcPts val="1800"/>
              </a:lnSpc>
              <a:buNone/>
            </a:pPr>
            <a:r>
              <a:rPr lang="en-US" sz="1450" b="1" dirty="0">
                <a:solidFill>
                  <a:srgbClr val="1B1A1A"/>
                </a:solidFill>
                <a:latin typeface="+mj-lt" pitchFamily="34" charset="0"/>
              </a:rPr>
              <a:t>Jordan Houtz</a:t>
            </a:r>
            <a:endParaRPr lang="en-US" sz="1450" dirty="0"/>
          </a:p>
        </p:txBody>
      </p:sp>
      <p:sp>
        <p:nvSpPr>
          <p:cNvPr id="27" name="Text e31"/>
          <p:cNvSpPr txBox="1"/>
          <p:nvPr/>
        </p:nvSpPr>
        <p:spPr>
          <a:xfrm>
            <a:off x="2919222" y="2971800"/>
            <a:ext cx="1076340" cy="123810"/>
          </a:xfrm>
          <a:prstGeom prst="rect">
            <a:avLst/>
          </a:prstGeom>
          <a:noFill/>
          <a:ln/>
        </p:spPr>
        <p:txBody>
          <a:bodyPr wrap="none" lIns="0" tIns="0" rIns="0" bIns="0" rtlCol="0" anchor="t"/>
          <a:lstStyle/>
          <a:p>
            <a:pPr algn="ctr" indent="0" marL="0">
              <a:lnSpc>
                <a:spcPts val="1000"/>
              </a:lnSpc>
              <a:buNone/>
            </a:pPr>
            <a:r>
              <a:rPr lang="en-US" sz="650" b="1" spc="100" kern="0" dirty="0">
                <a:solidFill>
                  <a:srgbClr val="8C6239"/>
                </a:solidFill>
                <a:latin typeface="+mn-lt" pitchFamily="34" charset="0"/>
              </a:rPr>
              <a:t>MANAGING DIRECTOR</a:t>
            </a:r>
            <a:endParaRPr lang="en-US" sz="650" dirty="0"/>
          </a:p>
        </p:txBody>
      </p:sp>
      <p:sp>
        <p:nvSpPr>
          <p:cNvPr id="28" name="Shape e32"/>
          <p:cNvSpPr/>
          <p:nvPr/>
        </p:nvSpPr>
        <p:spPr>
          <a:xfrm>
            <a:off x="4414815" y="1238280"/>
            <a:ext cx="1652595" cy="2628900"/>
          </a:xfrm>
          <a:prstGeom prst="rect">
            <a:avLst/>
          </a:prstGeom>
          <a:solidFill>
            <a:srgbClr val="FAF7F3"/>
          </a:solidFill>
          <a:ln/>
        </p:spPr>
        <p:txBody>
          <a:bodyPr/>
          <a:p/>
        </p:txBody>
      </p:sp>
      <p:sp>
        <p:nvSpPr>
          <p:cNvPr id="29" name="Shape e32s0"/>
          <p:cNvSpPr/>
          <p:nvPr/>
        </p:nvSpPr>
        <p:spPr>
          <a:xfrm>
            <a:off x="4414815" y="1238280"/>
            <a:ext cx="1652595" cy="28621"/>
          </a:xfrm>
          <a:prstGeom prst="rect">
            <a:avLst/>
          </a:prstGeom>
          <a:solidFill>
            <a:srgbClr val="B68757"/>
          </a:solidFill>
          <a:ln/>
        </p:spPr>
        <p:txBody>
          <a:bodyPr/>
          <a:p/>
        </p:txBody>
      </p:sp>
      <p:pic>
        <p:nvPicPr>
          <p:cNvPr id="30" name="Picture e33" descr="Jared Hardin">    </p:cNvPr>
          <p:cNvPicPr>
            <a:picLocks noChangeAspect="1"/>
          </p:cNvPicPr>
          <p:nvPr/>
        </p:nvPicPr>
        <p:blipFill>
          <a:blip r:embed="rId3"/>
          <a:stretch>
            <a:fillRect/>
          </a:stretch>
        </p:blipFill>
        <p:spPr>
          <a:xfrm>
            <a:off x="4669658" y="1438260"/>
            <a:ext cx="1143000" cy="1143000"/>
          </a:xfrm>
          <a:prstGeom prst="rect">
            <a:avLst/>
          </a:prstGeom>
        </p:spPr>
      </p:pic>
      <p:sp>
        <p:nvSpPr>
          <p:cNvPr id="31" name="Text e34"/>
          <p:cNvSpPr txBox="1"/>
          <p:nvPr/>
        </p:nvSpPr>
        <p:spPr>
          <a:xfrm>
            <a:off x="4713092" y="2709824"/>
            <a:ext cx="1057321" cy="228600"/>
          </a:xfrm>
          <a:prstGeom prst="rect">
            <a:avLst/>
          </a:prstGeom>
          <a:noFill/>
          <a:ln/>
        </p:spPr>
        <p:txBody>
          <a:bodyPr wrap="none" lIns="0" tIns="0" rIns="0" bIns="0" rtlCol="0" anchor="t"/>
          <a:lstStyle/>
          <a:p>
            <a:pPr algn="ctr" indent="0" marL="0">
              <a:lnSpc>
                <a:spcPts val="1800"/>
              </a:lnSpc>
              <a:buNone/>
            </a:pPr>
            <a:r>
              <a:rPr lang="en-US" sz="1450" b="1" dirty="0">
                <a:solidFill>
                  <a:srgbClr val="1B1A1A"/>
                </a:solidFill>
                <a:latin typeface="+mj-lt" pitchFamily="34" charset="0"/>
              </a:rPr>
              <a:t>Jared Hardin</a:t>
            </a:r>
            <a:endParaRPr lang="en-US" sz="1450" dirty="0"/>
          </a:p>
        </p:txBody>
      </p:sp>
      <p:sp>
        <p:nvSpPr>
          <p:cNvPr id="32" name="Text e35"/>
          <p:cNvSpPr txBox="1"/>
          <p:nvPr/>
        </p:nvSpPr>
        <p:spPr>
          <a:xfrm>
            <a:off x="4705228" y="2971800"/>
            <a:ext cx="1076340" cy="123810"/>
          </a:xfrm>
          <a:prstGeom prst="rect">
            <a:avLst/>
          </a:prstGeom>
          <a:noFill/>
          <a:ln/>
        </p:spPr>
        <p:txBody>
          <a:bodyPr wrap="none" lIns="0" tIns="0" rIns="0" bIns="0" rtlCol="0" anchor="t"/>
          <a:lstStyle/>
          <a:p>
            <a:pPr algn="ctr" indent="0" marL="0">
              <a:lnSpc>
                <a:spcPts val="1000"/>
              </a:lnSpc>
              <a:buNone/>
            </a:pPr>
            <a:r>
              <a:rPr lang="en-US" sz="650" b="1" spc="100" kern="0" dirty="0">
                <a:solidFill>
                  <a:srgbClr val="8C6239"/>
                </a:solidFill>
                <a:latin typeface="+mn-lt" pitchFamily="34" charset="0"/>
              </a:rPr>
              <a:t>MANAGING DIRECTOR</a:t>
            </a:r>
            <a:endParaRPr lang="en-US" sz="650" dirty="0"/>
          </a:p>
        </p:txBody>
      </p:sp>
      <p:sp>
        <p:nvSpPr>
          <p:cNvPr id="33" name="Text e36"/>
          <p:cNvSpPr txBox="1"/>
          <p:nvPr/>
        </p:nvSpPr>
        <p:spPr>
          <a:xfrm>
            <a:off x="4555907" y="3162270"/>
            <a:ext cx="1371600" cy="304770"/>
          </a:xfrm>
          <a:prstGeom prst="rect">
            <a:avLst/>
          </a:prstGeom>
          <a:noFill/>
          <a:ln/>
        </p:spPr>
        <p:txBody>
          <a:bodyPr wrap="square" lIns="0" tIns="0" rIns="0" bIns="0" rtlCol="0" anchor="t"/>
          <a:lstStyle/>
          <a:p>
            <a:pPr algn="ctr" indent="0" marL="0">
              <a:lnSpc>
                <a:spcPts val="1200"/>
              </a:lnSpc>
              <a:buNone/>
            </a:pPr>
            <a:r>
              <a:rPr lang="en-US" sz="80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813-771-6675</a:t>
            </a:r>
            <a:endParaRPr lang="en-US" sz="800" dirty="0"/>
          </a:p>
          <a:p>
            <a:pPr algn="ctr" indent="0" marL="0">
              <a:lnSpc>
                <a:spcPts val="1200"/>
              </a:lnSpc>
              <a:buNone/>
            </a:pPr>
            <a:r>
              <a:rPr lang="en-US" sz="800" u="sng" dirty="0">
                <a:solidFill>
                  <a:srgbClr val="8C6239"/>
                </a:solidFill>
                <a:latin typeface="+mn-lt" pitchFamily="34" charset="0"/>
                <a:hlinkClick r:id="rId5" invalidUrl="" action="" tgtFrame="" tooltip="" history="1" highlightClick="0" endSnd="0">
                  <a:extLst>
                    <a:ext uri="{A12FA001-AC4F-418D-AE19-62706E023703}">
                      <ahyp:hlinkClr xmlns:ahyp="http://schemas.microsoft.com/office/drawing/2018/hyperlinkcolor" val="tx"/>
                    </a:ext>
                  </a:extLst>
                </a:hlinkClick>
              </a:rPr>
              <a:t>j.hardin@benchmarkintl.com</a:t>
            </a:r>
            <a:endParaRPr lang="en-US" sz="800" dirty="0"/>
          </a:p>
        </p:txBody>
      </p:sp>
      <p:sp>
        <p:nvSpPr>
          <p:cNvPr id="34" name="Shape e37"/>
          <p:cNvSpPr/>
          <p:nvPr/>
        </p:nvSpPr>
        <p:spPr>
          <a:xfrm>
            <a:off x="6200821" y="1238280"/>
            <a:ext cx="1652595" cy="2628900"/>
          </a:xfrm>
          <a:prstGeom prst="rect">
            <a:avLst/>
          </a:prstGeom>
          <a:solidFill>
            <a:srgbClr val="FAF7F3"/>
          </a:solidFill>
          <a:ln/>
        </p:spPr>
        <p:txBody>
          <a:bodyPr/>
          <a:p/>
        </p:txBody>
      </p:sp>
      <p:sp>
        <p:nvSpPr>
          <p:cNvPr id="35" name="Shape e37s0"/>
          <p:cNvSpPr/>
          <p:nvPr/>
        </p:nvSpPr>
        <p:spPr>
          <a:xfrm>
            <a:off x="6200821" y="1238280"/>
            <a:ext cx="1652595" cy="28621"/>
          </a:xfrm>
          <a:prstGeom prst="rect">
            <a:avLst/>
          </a:prstGeom>
          <a:solidFill>
            <a:srgbClr val="B68757"/>
          </a:solidFill>
          <a:ln/>
        </p:spPr>
        <p:txBody>
          <a:bodyPr/>
          <a:p/>
        </p:txBody>
      </p:sp>
      <p:pic>
        <p:nvPicPr>
          <p:cNvPr id="36" name="Picture e38" descr="Alex Zykov">    </p:cNvPr>
          <p:cNvPicPr>
            <a:picLocks noChangeAspect="1"/>
          </p:cNvPicPr>
          <p:nvPr/>
        </p:nvPicPr>
        <p:blipFill>
          <a:blip r:embed="rId6"/>
          <a:stretch>
            <a:fillRect/>
          </a:stretch>
        </p:blipFill>
        <p:spPr>
          <a:xfrm>
            <a:off x="6455573" y="1438260"/>
            <a:ext cx="1143000" cy="1143000"/>
          </a:xfrm>
          <a:prstGeom prst="rect">
            <a:avLst/>
          </a:prstGeom>
        </p:spPr>
      </p:pic>
      <p:sp>
        <p:nvSpPr>
          <p:cNvPr id="37" name="Text e39"/>
          <p:cNvSpPr txBox="1"/>
          <p:nvPr/>
        </p:nvSpPr>
        <p:spPr>
          <a:xfrm>
            <a:off x="6570878" y="2709824"/>
            <a:ext cx="914400" cy="228600"/>
          </a:xfrm>
          <a:prstGeom prst="rect">
            <a:avLst/>
          </a:prstGeom>
          <a:noFill/>
          <a:ln/>
        </p:spPr>
        <p:txBody>
          <a:bodyPr wrap="none" lIns="0" tIns="0" rIns="0" bIns="0" rtlCol="0" anchor="t"/>
          <a:lstStyle/>
          <a:p>
            <a:pPr algn="ctr" indent="0" marL="0">
              <a:lnSpc>
                <a:spcPts val="1800"/>
              </a:lnSpc>
              <a:buNone/>
            </a:pPr>
            <a:r>
              <a:rPr lang="en-US" sz="1450" b="1" dirty="0">
                <a:solidFill>
                  <a:srgbClr val="1B1A1A"/>
                </a:solidFill>
                <a:latin typeface="+mj-lt" pitchFamily="34" charset="0"/>
              </a:rPr>
              <a:t>Alex Zykov</a:t>
            </a:r>
            <a:endParaRPr lang="en-US" sz="1450" dirty="0"/>
          </a:p>
        </p:txBody>
      </p:sp>
      <p:sp>
        <p:nvSpPr>
          <p:cNvPr id="38" name="Text e40"/>
          <p:cNvSpPr txBox="1"/>
          <p:nvPr/>
        </p:nvSpPr>
        <p:spPr>
          <a:xfrm>
            <a:off x="6401806" y="2971800"/>
            <a:ext cx="1247790" cy="123810"/>
          </a:xfrm>
          <a:prstGeom prst="rect">
            <a:avLst/>
          </a:prstGeom>
          <a:noFill/>
          <a:ln/>
        </p:spPr>
        <p:txBody>
          <a:bodyPr wrap="none" lIns="0" tIns="0" rIns="0" bIns="0" rtlCol="0" anchor="t"/>
          <a:lstStyle/>
          <a:p>
            <a:pPr algn="ctr" indent="0" marL="0">
              <a:lnSpc>
                <a:spcPts val="1000"/>
              </a:lnSpc>
              <a:buNone/>
            </a:pPr>
            <a:r>
              <a:rPr lang="en-US" sz="650" b="1" spc="100" kern="0" dirty="0">
                <a:solidFill>
                  <a:srgbClr val="8C6239"/>
                </a:solidFill>
                <a:latin typeface="+mn-lt" pitchFamily="34" charset="0"/>
              </a:rPr>
              <a:t>TRANSACTION DIRECTOR</a:t>
            </a:r>
            <a:endParaRPr lang="en-US" sz="650" dirty="0"/>
          </a:p>
        </p:txBody>
      </p:sp>
      <p:sp>
        <p:nvSpPr>
          <p:cNvPr id="39" name="Shape e41"/>
          <p:cNvSpPr/>
          <p:nvPr/>
        </p:nvSpPr>
        <p:spPr>
          <a:xfrm>
            <a:off x="7986735" y="1238280"/>
            <a:ext cx="1652595" cy="2628900"/>
          </a:xfrm>
          <a:prstGeom prst="rect">
            <a:avLst/>
          </a:prstGeom>
          <a:solidFill>
            <a:srgbClr val="FAF7F3"/>
          </a:solidFill>
          <a:ln/>
        </p:spPr>
        <p:txBody>
          <a:bodyPr/>
          <a:p/>
        </p:txBody>
      </p:sp>
      <p:sp>
        <p:nvSpPr>
          <p:cNvPr id="40" name="Shape e41s0"/>
          <p:cNvSpPr/>
          <p:nvPr/>
        </p:nvSpPr>
        <p:spPr>
          <a:xfrm>
            <a:off x="7986735" y="1238280"/>
            <a:ext cx="1652595" cy="28621"/>
          </a:xfrm>
          <a:prstGeom prst="rect">
            <a:avLst/>
          </a:prstGeom>
          <a:solidFill>
            <a:srgbClr val="B68757"/>
          </a:solidFill>
          <a:ln/>
        </p:spPr>
        <p:txBody>
          <a:bodyPr/>
          <a:p/>
        </p:txBody>
      </p:sp>
      <p:pic>
        <p:nvPicPr>
          <p:cNvPr id="41" name="Picture e42" descr="Shannon Hess">    </p:cNvPr>
          <p:cNvPicPr>
            <a:picLocks noChangeAspect="1"/>
          </p:cNvPicPr>
          <p:nvPr/>
        </p:nvPicPr>
        <p:blipFill>
          <a:blip r:embed="rId7"/>
          <a:stretch>
            <a:fillRect/>
          </a:stretch>
        </p:blipFill>
        <p:spPr>
          <a:xfrm>
            <a:off x="8241487" y="1438260"/>
            <a:ext cx="1143000" cy="1143000"/>
          </a:xfrm>
          <a:prstGeom prst="rect">
            <a:avLst/>
          </a:prstGeom>
        </p:spPr>
      </p:pic>
      <p:sp>
        <p:nvSpPr>
          <p:cNvPr id="42" name="Text e43"/>
          <p:cNvSpPr txBox="1"/>
          <p:nvPr/>
        </p:nvSpPr>
        <p:spPr>
          <a:xfrm>
            <a:off x="8239293" y="2709824"/>
            <a:ext cx="1143000" cy="228600"/>
          </a:xfrm>
          <a:prstGeom prst="rect">
            <a:avLst/>
          </a:prstGeom>
          <a:noFill/>
          <a:ln/>
        </p:spPr>
        <p:txBody>
          <a:bodyPr wrap="none" lIns="0" tIns="0" rIns="0" bIns="0" rtlCol="0" anchor="t"/>
          <a:lstStyle/>
          <a:p>
            <a:pPr algn="ctr" indent="0" marL="0">
              <a:lnSpc>
                <a:spcPts val="1800"/>
              </a:lnSpc>
              <a:buNone/>
            </a:pPr>
            <a:r>
              <a:rPr lang="en-US" sz="1450" b="1" dirty="0">
                <a:solidFill>
                  <a:srgbClr val="1B1A1A"/>
                </a:solidFill>
                <a:latin typeface="+mj-lt" pitchFamily="34" charset="0"/>
              </a:rPr>
              <a:t>Shannon Hess</a:t>
            </a:r>
            <a:endParaRPr lang="en-US" sz="1450" dirty="0"/>
          </a:p>
        </p:txBody>
      </p:sp>
      <p:sp>
        <p:nvSpPr>
          <p:cNvPr id="43" name="Text e44"/>
          <p:cNvSpPr txBox="1"/>
          <p:nvPr/>
        </p:nvSpPr>
        <p:spPr>
          <a:xfrm>
            <a:off x="8062905" y="2971800"/>
            <a:ext cx="1504920" cy="247620"/>
          </a:xfrm>
          <a:prstGeom prst="rect">
            <a:avLst/>
          </a:prstGeom>
          <a:noFill/>
          <a:ln/>
        </p:spPr>
        <p:txBody>
          <a:bodyPr wrap="square" lIns="0" tIns="0" rIns="0" bIns="0" rtlCol="0" anchor="t"/>
          <a:lstStyle/>
          <a:p>
            <a:pPr algn="ctr" indent="0" marL="0">
              <a:lnSpc>
                <a:spcPts val="1000"/>
              </a:lnSpc>
              <a:buNone/>
            </a:pPr>
            <a:r>
              <a:rPr lang="en-US" sz="650" b="1" spc="100" kern="0" dirty="0">
                <a:solidFill>
                  <a:srgbClr val="8C6239"/>
                </a:solidFill>
                <a:latin typeface="+mn-lt" pitchFamily="34" charset="0"/>
              </a:rPr>
              <a:t>CLIENT ENGAGEMENT DIRECTOR</a:t>
            </a:r>
            <a:endParaRPr lang="en-US" sz="650" dirty="0"/>
          </a:p>
        </p:txBody>
      </p:sp>
      <p:sp>
        <p:nvSpPr>
          <p:cNvPr id="44" name="Shape e46"/>
          <p:cNvSpPr/>
          <p:nvPr/>
        </p:nvSpPr>
        <p:spPr>
          <a:xfrm>
            <a:off x="2628900" y="4019520"/>
            <a:ext cx="2247870" cy="742950"/>
          </a:xfrm>
          <a:prstGeom prst="rect">
            <a:avLst/>
          </a:prstGeom>
          <a:solidFill>
            <a:srgbClr val="FFFFFF"/>
          </a:solidFill>
          <a:ln w="12700">
            <a:solidFill>
              <a:srgbClr val="E3DCD3"/>
            </a:solidFill>
            <a:prstDash val="solid"/>
          </a:ln>
        </p:spPr>
        <p:txBody>
          <a:bodyPr/>
          <a:p/>
        </p:txBody>
      </p:sp>
      <p:pic>
        <p:nvPicPr>
          <p:cNvPr id="45" name="Picture e47" descr="Sunny Garten">    </p:cNvPr>
          <p:cNvPicPr>
            <a:picLocks noChangeAspect="1"/>
          </p:cNvPicPr>
          <p:nvPr/>
        </p:nvPicPr>
        <p:blipFill>
          <a:blip r:embed="rId8"/>
          <a:stretch>
            <a:fillRect/>
          </a:stretch>
        </p:blipFill>
        <p:spPr>
          <a:xfrm>
            <a:off x="2752710" y="4133820"/>
            <a:ext cx="514350" cy="514350"/>
          </a:xfrm>
          <a:prstGeom prst="rect">
            <a:avLst/>
          </a:prstGeom>
        </p:spPr>
      </p:pic>
      <p:sp>
        <p:nvSpPr>
          <p:cNvPr id="46" name="Text e49"/>
          <p:cNvSpPr txBox="1"/>
          <p:nvPr/>
        </p:nvSpPr>
        <p:spPr>
          <a:xfrm>
            <a:off x="3381360" y="4248120"/>
            <a:ext cx="1419209" cy="152430"/>
          </a:xfrm>
          <a:prstGeom prst="rect">
            <a:avLst/>
          </a:prstGeom>
          <a:noFill/>
          <a:ln/>
        </p:spPr>
        <p:txBody>
          <a:bodyPr wrap="none" lIns="0" tIns="0" rIns="0" bIns="0" rtlCol="0" anchor="t"/>
          <a:lstStyle/>
          <a:p>
            <a:pPr algn="l" indent="0" marL="0">
              <a:lnSpc>
                <a:spcPts val="1200"/>
              </a:lnSpc>
              <a:buNone/>
            </a:pPr>
            <a:r>
              <a:rPr lang="en-US" sz="900" b="1" dirty="0">
                <a:solidFill>
                  <a:srgbClr val="1B1A1A"/>
                </a:solidFill>
                <a:latin typeface="+mn-lt" pitchFamily="34" charset="0"/>
              </a:rPr>
              <a:t>Sunny Garten</a:t>
            </a:r>
            <a:endParaRPr lang="en-US" sz="900" dirty="0"/>
          </a:p>
        </p:txBody>
      </p:sp>
      <p:sp>
        <p:nvSpPr>
          <p:cNvPr id="47" name="Text e50"/>
          <p:cNvSpPr txBox="1"/>
          <p:nvPr/>
        </p:nvSpPr>
        <p:spPr>
          <a:xfrm>
            <a:off x="3381360" y="4400550"/>
            <a:ext cx="1419209" cy="133320"/>
          </a:xfrm>
          <a:prstGeom prst="rect">
            <a:avLst/>
          </a:prstGeom>
          <a:noFill/>
          <a:ln/>
        </p:spPr>
        <p:txBody>
          <a:bodyPr wrap="none" lIns="0" tIns="0" rIns="0" bIns="0" rtlCol="0" anchor="t"/>
          <a:lstStyle/>
          <a:p>
            <a:pPr algn="l" indent="0" marL="0">
              <a:lnSpc>
                <a:spcPts val="1050"/>
              </a:lnSpc>
              <a:buNone/>
            </a:pPr>
            <a:r>
              <a:rPr lang="en-US" sz="750" dirty="0">
                <a:solidFill>
                  <a:srgbClr val="6F6A66"/>
                </a:solidFill>
                <a:latin typeface="+mn-lt" pitchFamily="34" charset="0"/>
              </a:rPr>
              <a:t>Senior Deal Associate</a:t>
            </a:r>
            <a:endParaRPr lang="en-US" sz="750" dirty="0"/>
          </a:p>
        </p:txBody>
      </p:sp>
      <p:sp>
        <p:nvSpPr>
          <p:cNvPr id="48" name="Shape e51"/>
          <p:cNvSpPr/>
          <p:nvPr/>
        </p:nvSpPr>
        <p:spPr>
          <a:xfrm>
            <a:off x="5010180" y="4019520"/>
            <a:ext cx="2247870" cy="742950"/>
          </a:xfrm>
          <a:prstGeom prst="rect">
            <a:avLst/>
          </a:prstGeom>
          <a:solidFill>
            <a:srgbClr val="FFFFFF"/>
          </a:solidFill>
          <a:ln w="12700">
            <a:solidFill>
              <a:srgbClr val="E3DCD3"/>
            </a:solidFill>
            <a:prstDash val="solid"/>
          </a:ln>
        </p:spPr>
        <p:txBody>
          <a:bodyPr/>
          <a:p/>
        </p:txBody>
      </p:sp>
      <p:pic>
        <p:nvPicPr>
          <p:cNvPr id="49" name="Picture e52" descr="Michael Wynn">    </p:cNvPr>
          <p:cNvPicPr>
            <a:picLocks noChangeAspect="1"/>
          </p:cNvPicPr>
          <p:nvPr/>
        </p:nvPicPr>
        <p:blipFill>
          <a:blip r:embed="rId9"/>
          <a:stretch>
            <a:fillRect/>
          </a:stretch>
        </p:blipFill>
        <p:spPr>
          <a:xfrm>
            <a:off x="5133990" y="4133820"/>
            <a:ext cx="514350" cy="514350"/>
          </a:xfrm>
          <a:prstGeom prst="rect">
            <a:avLst/>
          </a:prstGeom>
        </p:spPr>
      </p:pic>
      <p:sp>
        <p:nvSpPr>
          <p:cNvPr id="50" name="Text e54"/>
          <p:cNvSpPr txBox="1"/>
          <p:nvPr/>
        </p:nvSpPr>
        <p:spPr>
          <a:xfrm>
            <a:off x="5762640" y="4248120"/>
            <a:ext cx="1419210" cy="152430"/>
          </a:xfrm>
          <a:prstGeom prst="rect">
            <a:avLst/>
          </a:prstGeom>
          <a:noFill/>
          <a:ln/>
        </p:spPr>
        <p:txBody>
          <a:bodyPr wrap="none" lIns="0" tIns="0" rIns="0" bIns="0" rtlCol="0" anchor="t"/>
          <a:lstStyle/>
          <a:p>
            <a:pPr algn="l" indent="0" marL="0">
              <a:lnSpc>
                <a:spcPts val="1200"/>
              </a:lnSpc>
              <a:buNone/>
            </a:pPr>
            <a:r>
              <a:rPr lang="en-US" sz="900" b="1" dirty="0">
                <a:solidFill>
                  <a:srgbClr val="1B1A1A"/>
                </a:solidFill>
                <a:latin typeface="+mn-lt" pitchFamily="34" charset="0"/>
              </a:rPr>
              <a:t>Michael Wynn</a:t>
            </a:r>
            <a:endParaRPr lang="en-US" sz="900" dirty="0"/>
          </a:p>
        </p:txBody>
      </p:sp>
      <p:sp>
        <p:nvSpPr>
          <p:cNvPr id="51" name="Text e55"/>
          <p:cNvSpPr txBox="1"/>
          <p:nvPr/>
        </p:nvSpPr>
        <p:spPr>
          <a:xfrm>
            <a:off x="5762640" y="4400550"/>
            <a:ext cx="1419210" cy="133320"/>
          </a:xfrm>
          <a:prstGeom prst="rect">
            <a:avLst/>
          </a:prstGeom>
          <a:noFill/>
          <a:ln/>
        </p:spPr>
        <p:txBody>
          <a:bodyPr wrap="none" lIns="0" tIns="0" rIns="0" bIns="0" rtlCol="0" anchor="t"/>
          <a:lstStyle/>
          <a:p>
            <a:pPr algn="l" indent="0" marL="0">
              <a:lnSpc>
                <a:spcPts val="1050"/>
              </a:lnSpc>
              <a:buNone/>
            </a:pPr>
            <a:r>
              <a:rPr lang="en-US" sz="750" dirty="0">
                <a:solidFill>
                  <a:srgbClr val="6F6A66"/>
                </a:solidFill>
                <a:latin typeface="+mn-lt" pitchFamily="34" charset="0"/>
              </a:rPr>
              <a:t>Senior Deal Associate</a:t>
            </a:r>
            <a:endParaRPr lang="en-US" sz="750" dirty="0"/>
          </a:p>
        </p:txBody>
      </p:sp>
      <p:sp>
        <p:nvSpPr>
          <p:cNvPr id="52" name="Shape e56"/>
          <p:cNvSpPr/>
          <p:nvPr/>
        </p:nvSpPr>
        <p:spPr>
          <a:xfrm>
            <a:off x="7391370" y="4019520"/>
            <a:ext cx="2247870" cy="742950"/>
          </a:xfrm>
          <a:prstGeom prst="rect">
            <a:avLst/>
          </a:prstGeom>
          <a:solidFill>
            <a:srgbClr val="FFFFFF"/>
          </a:solidFill>
          <a:ln w="12700">
            <a:solidFill>
              <a:srgbClr val="E3DCD3"/>
            </a:solidFill>
            <a:prstDash val="solid"/>
          </a:ln>
        </p:spPr>
        <p:txBody>
          <a:bodyPr/>
          <a:p/>
        </p:txBody>
      </p:sp>
      <p:pic>
        <p:nvPicPr>
          <p:cNvPr id="53" name="Picture e57" descr="Jason Lisiak">    </p:cNvPr>
          <p:cNvPicPr>
            <a:picLocks noChangeAspect="1"/>
          </p:cNvPicPr>
          <p:nvPr/>
        </p:nvPicPr>
        <p:blipFill>
          <a:blip r:embed="rId10"/>
          <a:stretch>
            <a:fillRect/>
          </a:stretch>
        </p:blipFill>
        <p:spPr>
          <a:xfrm>
            <a:off x="7515271" y="4133820"/>
            <a:ext cx="514350" cy="514350"/>
          </a:xfrm>
          <a:prstGeom prst="rect">
            <a:avLst/>
          </a:prstGeom>
        </p:spPr>
      </p:pic>
      <p:sp>
        <p:nvSpPr>
          <p:cNvPr id="54" name="Text e59"/>
          <p:cNvSpPr txBox="1"/>
          <p:nvPr/>
        </p:nvSpPr>
        <p:spPr>
          <a:xfrm>
            <a:off x="8143921" y="4248120"/>
            <a:ext cx="1419119" cy="152430"/>
          </a:xfrm>
          <a:prstGeom prst="rect">
            <a:avLst/>
          </a:prstGeom>
          <a:noFill/>
          <a:ln/>
        </p:spPr>
        <p:txBody>
          <a:bodyPr wrap="none" lIns="0" tIns="0" rIns="0" bIns="0" rtlCol="0" anchor="t"/>
          <a:lstStyle/>
          <a:p>
            <a:pPr algn="l" indent="0" marL="0">
              <a:lnSpc>
                <a:spcPts val="1200"/>
              </a:lnSpc>
              <a:buNone/>
            </a:pPr>
            <a:r>
              <a:rPr lang="en-US" sz="900" b="1" dirty="0">
                <a:solidFill>
                  <a:srgbClr val="1B1A1A"/>
                </a:solidFill>
                <a:latin typeface="+mn-lt" pitchFamily="34" charset="0"/>
              </a:rPr>
              <a:t>Jason Lisiak</a:t>
            </a:r>
            <a:endParaRPr lang="en-US" sz="900" dirty="0"/>
          </a:p>
        </p:txBody>
      </p:sp>
      <p:sp>
        <p:nvSpPr>
          <p:cNvPr id="55" name="Text e60"/>
          <p:cNvSpPr txBox="1"/>
          <p:nvPr/>
        </p:nvSpPr>
        <p:spPr>
          <a:xfrm>
            <a:off x="8143921" y="4400550"/>
            <a:ext cx="1419119" cy="133320"/>
          </a:xfrm>
          <a:prstGeom prst="rect">
            <a:avLst/>
          </a:prstGeom>
          <a:noFill/>
          <a:ln/>
        </p:spPr>
        <p:txBody>
          <a:bodyPr wrap="none" lIns="0" tIns="0" rIns="0" bIns="0" rtlCol="0" anchor="t"/>
          <a:lstStyle/>
          <a:p>
            <a:pPr algn="l" indent="0" marL="0">
              <a:lnSpc>
                <a:spcPts val="1050"/>
              </a:lnSpc>
              <a:buNone/>
            </a:pPr>
            <a:r>
              <a:rPr lang="en-US" sz="750" dirty="0">
                <a:solidFill>
                  <a:srgbClr val="6F6A66"/>
                </a:solidFill>
                <a:latin typeface="+mn-lt" pitchFamily="34" charset="0"/>
              </a:rPr>
              <a:t>Research Associate</a:t>
            </a:r>
            <a:endParaRPr lang="en-US" sz="750" dirty="0"/>
          </a:p>
        </p:txBody>
      </p:sp>
      <p:sp>
        <p:nvSpPr>
          <p:cNvPr id="56" name="Shape e61"/>
          <p:cNvSpPr/>
          <p:nvPr/>
        </p:nvSpPr>
        <p:spPr>
          <a:xfrm>
            <a:off x="2628900" y="4876770"/>
            <a:ext cx="2247870" cy="742950"/>
          </a:xfrm>
          <a:prstGeom prst="rect">
            <a:avLst/>
          </a:prstGeom>
          <a:solidFill>
            <a:srgbClr val="FFFFFF"/>
          </a:solidFill>
          <a:ln w="12700">
            <a:solidFill>
              <a:srgbClr val="E3DCD3"/>
            </a:solidFill>
            <a:prstDash val="solid"/>
          </a:ln>
        </p:spPr>
        <p:txBody>
          <a:bodyPr/>
          <a:p/>
        </p:txBody>
      </p:sp>
      <p:pic>
        <p:nvPicPr>
          <p:cNvPr id="57" name="Picture e62" descr="Alexandra Barr">    </p:cNvPr>
          <p:cNvPicPr>
            <a:picLocks noChangeAspect="1"/>
          </p:cNvPicPr>
          <p:nvPr/>
        </p:nvPicPr>
        <p:blipFill>
          <a:blip r:embed="rId11"/>
          <a:stretch>
            <a:fillRect/>
          </a:stretch>
        </p:blipFill>
        <p:spPr>
          <a:xfrm>
            <a:off x="2752710" y="4991070"/>
            <a:ext cx="514350" cy="514350"/>
          </a:xfrm>
          <a:prstGeom prst="rect">
            <a:avLst/>
          </a:prstGeom>
        </p:spPr>
      </p:pic>
      <p:sp>
        <p:nvSpPr>
          <p:cNvPr id="58" name="Text e64"/>
          <p:cNvSpPr txBox="1"/>
          <p:nvPr/>
        </p:nvSpPr>
        <p:spPr>
          <a:xfrm>
            <a:off x="3381360" y="5038665"/>
            <a:ext cx="1419209" cy="152430"/>
          </a:xfrm>
          <a:prstGeom prst="rect">
            <a:avLst/>
          </a:prstGeom>
          <a:noFill/>
          <a:ln/>
        </p:spPr>
        <p:txBody>
          <a:bodyPr wrap="none" lIns="0" tIns="0" rIns="0" bIns="0" rtlCol="0" anchor="t"/>
          <a:lstStyle/>
          <a:p>
            <a:pPr algn="l" indent="0" marL="0">
              <a:lnSpc>
                <a:spcPts val="1200"/>
              </a:lnSpc>
              <a:buNone/>
            </a:pPr>
            <a:r>
              <a:rPr lang="en-US" sz="900" b="1" dirty="0">
                <a:solidFill>
                  <a:srgbClr val="1B1A1A"/>
                </a:solidFill>
                <a:latin typeface="+mn-lt" pitchFamily="34" charset="0"/>
              </a:rPr>
              <a:t>Alexandra Barr</a:t>
            </a:r>
            <a:endParaRPr lang="en-US" sz="900" dirty="0"/>
          </a:p>
        </p:txBody>
      </p:sp>
      <p:sp>
        <p:nvSpPr>
          <p:cNvPr id="59" name="Text e65"/>
          <p:cNvSpPr txBox="1"/>
          <p:nvPr/>
        </p:nvSpPr>
        <p:spPr>
          <a:xfrm>
            <a:off x="3381360" y="5191095"/>
            <a:ext cx="1419209" cy="266730"/>
          </a:xfrm>
          <a:prstGeom prst="rect">
            <a:avLst/>
          </a:prstGeom>
          <a:noFill/>
          <a:ln/>
        </p:spPr>
        <p:txBody>
          <a:bodyPr wrap="square" lIns="0" tIns="0" rIns="0" bIns="0" rtlCol="0" anchor="t"/>
          <a:lstStyle/>
          <a:p>
            <a:pPr algn="l" indent="0" marL="0">
              <a:lnSpc>
                <a:spcPts val="1050"/>
              </a:lnSpc>
              <a:buNone/>
            </a:pPr>
            <a:r>
              <a:rPr lang="en-US" sz="750" dirty="0">
                <a:solidFill>
                  <a:srgbClr val="6F6A66"/>
                </a:solidFill>
                <a:latin typeface="+mn-lt" pitchFamily="34" charset="0"/>
              </a:rPr>
              <a:t>Transaction Support Associate</a:t>
            </a:r>
            <a:endParaRPr lang="en-US" sz="750" dirty="0"/>
          </a:p>
        </p:txBody>
      </p:sp>
      <p:sp>
        <p:nvSpPr>
          <p:cNvPr id="60" name="Shape e66"/>
          <p:cNvSpPr/>
          <p:nvPr/>
        </p:nvSpPr>
        <p:spPr>
          <a:xfrm>
            <a:off x="5010180" y="4876770"/>
            <a:ext cx="2247870" cy="742950"/>
          </a:xfrm>
          <a:prstGeom prst="rect">
            <a:avLst/>
          </a:prstGeom>
          <a:solidFill>
            <a:srgbClr val="FFFFFF"/>
          </a:solidFill>
          <a:ln w="12700">
            <a:solidFill>
              <a:srgbClr val="E3DCD3"/>
            </a:solidFill>
            <a:prstDash val="solid"/>
          </a:ln>
        </p:spPr>
        <p:txBody>
          <a:bodyPr/>
          <a:p/>
        </p:txBody>
      </p:sp>
      <p:pic>
        <p:nvPicPr>
          <p:cNvPr id="61" name="Picture e67" descr="Josiah Warren">    </p:cNvPr>
          <p:cNvPicPr>
            <a:picLocks noChangeAspect="1"/>
          </p:cNvPicPr>
          <p:nvPr/>
        </p:nvPicPr>
        <p:blipFill>
          <a:blip r:embed="rId12"/>
          <a:stretch>
            <a:fillRect/>
          </a:stretch>
        </p:blipFill>
        <p:spPr>
          <a:xfrm>
            <a:off x="5133990" y="4991070"/>
            <a:ext cx="514350" cy="514350"/>
          </a:xfrm>
          <a:prstGeom prst="rect">
            <a:avLst/>
          </a:prstGeom>
        </p:spPr>
      </p:pic>
      <p:sp>
        <p:nvSpPr>
          <p:cNvPr id="62" name="Text e69"/>
          <p:cNvSpPr txBox="1"/>
          <p:nvPr/>
        </p:nvSpPr>
        <p:spPr>
          <a:xfrm>
            <a:off x="5762640" y="5038665"/>
            <a:ext cx="1419210" cy="152430"/>
          </a:xfrm>
          <a:prstGeom prst="rect">
            <a:avLst/>
          </a:prstGeom>
          <a:noFill/>
          <a:ln/>
        </p:spPr>
        <p:txBody>
          <a:bodyPr wrap="none" lIns="0" tIns="0" rIns="0" bIns="0" rtlCol="0" anchor="t"/>
          <a:lstStyle/>
          <a:p>
            <a:pPr algn="l" indent="0" marL="0">
              <a:lnSpc>
                <a:spcPts val="1200"/>
              </a:lnSpc>
              <a:buNone/>
            </a:pPr>
            <a:r>
              <a:rPr lang="en-US" sz="900" b="1" dirty="0">
                <a:solidFill>
                  <a:srgbClr val="1B1A1A"/>
                </a:solidFill>
                <a:latin typeface="+mn-lt" pitchFamily="34" charset="0"/>
              </a:rPr>
              <a:t>Josiah Warren</a:t>
            </a:r>
            <a:endParaRPr lang="en-US" sz="900" dirty="0"/>
          </a:p>
        </p:txBody>
      </p:sp>
      <p:sp>
        <p:nvSpPr>
          <p:cNvPr id="63" name="Text e70"/>
          <p:cNvSpPr txBox="1"/>
          <p:nvPr/>
        </p:nvSpPr>
        <p:spPr>
          <a:xfrm>
            <a:off x="5762640" y="5191095"/>
            <a:ext cx="1419210" cy="266730"/>
          </a:xfrm>
          <a:prstGeom prst="rect">
            <a:avLst/>
          </a:prstGeom>
          <a:noFill/>
          <a:ln/>
        </p:spPr>
        <p:txBody>
          <a:bodyPr wrap="square" lIns="0" tIns="0" rIns="0" bIns="0" rtlCol="0" anchor="t"/>
          <a:lstStyle/>
          <a:p>
            <a:pPr algn="l" indent="0" marL="0">
              <a:lnSpc>
                <a:spcPts val="1050"/>
              </a:lnSpc>
              <a:buNone/>
            </a:pPr>
            <a:r>
              <a:rPr lang="en-US" sz="750" dirty="0">
                <a:solidFill>
                  <a:srgbClr val="6F6A66"/>
                </a:solidFill>
                <a:latin typeface="+mn-lt" pitchFamily="34" charset="0"/>
              </a:rPr>
              <a:t>Transaction Support Associate</a:t>
            </a:r>
            <a:endParaRPr lang="en-US" sz="750" dirty="0"/>
          </a:p>
        </p:txBody>
      </p:sp>
      <p:sp>
        <p:nvSpPr>
          <p:cNvPr id="64" name="Shape e71"/>
          <p:cNvSpPr/>
          <p:nvPr/>
        </p:nvSpPr>
        <p:spPr>
          <a:xfrm>
            <a:off x="7391370" y="4876770"/>
            <a:ext cx="2247870" cy="742950"/>
          </a:xfrm>
          <a:prstGeom prst="rect">
            <a:avLst/>
          </a:prstGeom>
          <a:solidFill>
            <a:srgbClr val="FFFFFF"/>
          </a:solidFill>
          <a:ln w="12700">
            <a:solidFill>
              <a:srgbClr val="E3DCD3"/>
            </a:solidFill>
            <a:prstDash val="solid"/>
          </a:ln>
        </p:spPr>
        <p:txBody>
          <a:bodyPr/>
          <a:p/>
        </p:txBody>
      </p:sp>
      <p:pic>
        <p:nvPicPr>
          <p:cNvPr id="65" name="Picture e72" descr="Luke Ernst">    </p:cNvPr>
          <p:cNvPicPr>
            <a:picLocks noChangeAspect="1"/>
          </p:cNvPicPr>
          <p:nvPr/>
        </p:nvPicPr>
        <p:blipFill>
          <a:blip r:embed="rId13"/>
          <a:stretch>
            <a:fillRect/>
          </a:stretch>
        </p:blipFill>
        <p:spPr>
          <a:xfrm>
            <a:off x="7515271" y="4991070"/>
            <a:ext cx="514350" cy="514350"/>
          </a:xfrm>
          <a:prstGeom prst="rect">
            <a:avLst/>
          </a:prstGeom>
        </p:spPr>
      </p:pic>
      <p:sp>
        <p:nvSpPr>
          <p:cNvPr id="66" name="Text e74"/>
          <p:cNvSpPr txBox="1"/>
          <p:nvPr/>
        </p:nvSpPr>
        <p:spPr>
          <a:xfrm>
            <a:off x="8143921" y="5105370"/>
            <a:ext cx="1419119" cy="152430"/>
          </a:xfrm>
          <a:prstGeom prst="rect">
            <a:avLst/>
          </a:prstGeom>
          <a:noFill/>
          <a:ln/>
        </p:spPr>
        <p:txBody>
          <a:bodyPr wrap="none" lIns="0" tIns="0" rIns="0" bIns="0" rtlCol="0" anchor="t"/>
          <a:lstStyle/>
          <a:p>
            <a:pPr algn="l" indent="0" marL="0">
              <a:lnSpc>
                <a:spcPts val="1200"/>
              </a:lnSpc>
              <a:buNone/>
            </a:pPr>
            <a:r>
              <a:rPr lang="en-US" sz="900" b="1" dirty="0">
                <a:solidFill>
                  <a:srgbClr val="1B1A1A"/>
                </a:solidFill>
                <a:latin typeface="+mn-lt" pitchFamily="34" charset="0"/>
              </a:rPr>
              <a:t>Luke Ernst</a:t>
            </a:r>
            <a:endParaRPr lang="en-US" sz="900" dirty="0"/>
          </a:p>
        </p:txBody>
      </p:sp>
      <p:sp>
        <p:nvSpPr>
          <p:cNvPr id="67" name="Text e75"/>
          <p:cNvSpPr txBox="1"/>
          <p:nvPr/>
        </p:nvSpPr>
        <p:spPr>
          <a:xfrm>
            <a:off x="8143921" y="5257800"/>
            <a:ext cx="1419119" cy="133320"/>
          </a:xfrm>
          <a:prstGeom prst="rect">
            <a:avLst/>
          </a:prstGeom>
          <a:noFill/>
          <a:ln/>
        </p:spPr>
        <p:txBody>
          <a:bodyPr wrap="none" lIns="0" tIns="0" rIns="0" bIns="0" rtlCol="0" anchor="t"/>
          <a:lstStyle/>
          <a:p>
            <a:pPr algn="l" indent="0" marL="0">
              <a:lnSpc>
                <a:spcPts val="1050"/>
              </a:lnSpc>
              <a:buNone/>
            </a:pPr>
            <a:r>
              <a:rPr lang="en-US" sz="750" dirty="0">
                <a:solidFill>
                  <a:srgbClr val="6F6A66"/>
                </a:solidFill>
                <a:latin typeface="+mn-lt" pitchFamily="34" charset="0"/>
              </a:rPr>
              <a:t>Deal Analyst</a:t>
            </a:r>
            <a:endParaRPr lang="en-US" sz="750" dirty="0"/>
          </a:p>
        </p:txBody>
      </p:sp>
      <p:sp>
        <p:nvSpPr>
          <p:cNvPr id="68" name="Shape e76s0"/>
          <p:cNvSpPr/>
          <p:nvPr/>
        </p:nvSpPr>
        <p:spPr>
          <a:xfrm>
            <a:off x="2628900" y="6181710"/>
            <a:ext cx="7010430" cy="9510"/>
          </a:xfrm>
          <a:prstGeom prst="rect">
            <a:avLst/>
          </a:prstGeom>
          <a:solidFill>
            <a:srgbClr val="E3DCD3"/>
          </a:solidFill>
          <a:ln/>
        </p:spPr>
        <p:txBody>
          <a:bodyPr/>
          <a:p/>
        </p:txBody>
      </p:sp>
      <p:sp>
        <p:nvSpPr>
          <p:cNvPr id="69" name="Text e77"/>
          <p:cNvSpPr txBox="1"/>
          <p:nvPr/>
        </p:nvSpPr>
        <p:spPr>
          <a:xfrm>
            <a:off x="2628900" y="6305520"/>
            <a:ext cx="1774027" cy="123810"/>
          </a:xfrm>
          <a:prstGeom prst="rect">
            <a:avLst/>
          </a:prstGeom>
          <a:noFill/>
          <a:ln/>
        </p:spPr>
        <p:txBody>
          <a:bodyPr wrap="none" lIns="0" tIns="0" rIns="0" bIns="0" rtlCol="0" anchor="t"/>
          <a:lstStyle/>
          <a:p>
            <a:pPr algn="l" indent="0" marL="0">
              <a:lnSpc>
                <a:spcPts val="1000"/>
              </a:lnSpc>
              <a:buNone/>
            </a:pPr>
            <a:r>
              <a:rPr lang="en-US" sz="650" b="1" spc="150" kern="0" dirty="0">
                <a:solidFill>
                  <a:srgbClr val="8C6239"/>
                </a:solidFill>
                <a:latin typeface="+mn-lt" pitchFamily="34" charset="0"/>
              </a:rPr>
              <a:t>BUSINESS SERVICES COVERAGE</a:t>
            </a:r>
            <a:endParaRPr lang="en-US" sz="650" dirty="0"/>
          </a:p>
        </p:txBody>
      </p:sp>
      <p:pic>
        <p:nvPicPr>
          <p:cNvPr id="70" name="Icon e80">    </p:cNvPr>
          <p:cNvPicPr>
            <a:picLocks noChangeAspect="1"/>
          </p:cNvPicPr>
          <p:nvPr/>
        </p:nvPicPr>
        <p:blipFill>
          <a:blip r:embed="rId14"/>
          <a:stretch>
            <a:fillRect/>
          </a:stretch>
        </p:blipFill>
        <p:spPr>
          <a:xfrm>
            <a:off x="2628900" y="6505590"/>
            <a:ext cx="171450" cy="171450"/>
          </a:xfrm>
          <a:prstGeom prst="rect">
            <a:avLst/>
          </a:prstGeom>
        </p:spPr>
      </p:pic>
      <p:sp>
        <p:nvSpPr>
          <p:cNvPr id="71" name="Text e81"/>
          <p:cNvSpPr txBox="1"/>
          <p:nvPr/>
        </p:nvSpPr>
        <p:spPr>
          <a:xfrm>
            <a:off x="2876520" y="6519855"/>
            <a:ext cx="1503731" cy="133320"/>
          </a:xfrm>
          <a:prstGeom prst="rect">
            <a:avLst/>
          </a:prstGeom>
          <a:noFill/>
          <a:ln/>
        </p:spPr>
        <p:txBody>
          <a:bodyPr wrap="none" lIns="0" tIns="0" rIns="0" bIns="0" rtlCol="0" anchor="t"/>
          <a:lstStyle/>
          <a:p>
            <a:pPr algn="l" indent="0" marL="0">
              <a:lnSpc>
                <a:spcPts val="1050"/>
              </a:lnSpc>
              <a:buNone/>
            </a:pPr>
            <a:r>
              <a:rPr lang="en-US" sz="750" b="1" dirty="0">
                <a:solidFill>
                  <a:srgbClr val="333231"/>
                </a:solidFill>
                <a:latin typeface="+mn-lt" pitchFamily="34" charset="0"/>
              </a:rPr>
              <a:t>Commercial &amp; Facility Services</a:t>
            </a:r>
            <a:endParaRPr lang="en-US" sz="750" dirty="0"/>
          </a:p>
        </p:txBody>
      </p:sp>
      <p:pic>
        <p:nvPicPr>
          <p:cNvPr id="72" name="Icon e83">    </p:cNvPr>
          <p:cNvPicPr>
            <a:picLocks noChangeAspect="1"/>
          </p:cNvPicPr>
          <p:nvPr/>
        </p:nvPicPr>
        <p:blipFill>
          <a:blip r:embed="rId15"/>
          <a:stretch>
            <a:fillRect/>
          </a:stretch>
        </p:blipFill>
        <p:spPr>
          <a:xfrm>
            <a:off x="5010180" y="6505590"/>
            <a:ext cx="171450" cy="171450"/>
          </a:xfrm>
          <a:prstGeom prst="rect">
            <a:avLst/>
          </a:prstGeom>
        </p:spPr>
      </p:pic>
      <p:sp>
        <p:nvSpPr>
          <p:cNvPr id="73" name="Text e84"/>
          <p:cNvSpPr txBox="1"/>
          <p:nvPr/>
        </p:nvSpPr>
        <p:spPr>
          <a:xfrm>
            <a:off x="5257800" y="6519855"/>
            <a:ext cx="2020001" cy="133320"/>
          </a:xfrm>
          <a:prstGeom prst="rect">
            <a:avLst/>
          </a:prstGeom>
          <a:noFill/>
          <a:ln/>
        </p:spPr>
        <p:txBody>
          <a:bodyPr wrap="none" lIns="0" tIns="0" rIns="0" bIns="0" rtlCol="0" anchor="t"/>
          <a:lstStyle/>
          <a:p>
            <a:pPr algn="l" indent="0" marL="0">
              <a:lnSpc>
                <a:spcPts val="1050"/>
              </a:lnSpc>
              <a:buNone/>
            </a:pPr>
            <a:r>
              <a:rPr lang="en-US" sz="750" b="1" dirty="0">
                <a:solidFill>
                  <a:srgbClr val="333231"/>
                </a:solidFill>
                <a:latin typeface="+mn-lt" pitchFamily="34" charset="0"/>
              </a:rPr>
              <a:t>Marketing, Sales &amp; Tech-Enabled Services</a:t>
            </a:r>
            <a:endParaRPr lang="en-US" sz="750" dirty="0"/>
          </a:p>
        </p:txBody>
      </p:sp>
      <p:pic>
        <p:nvPicPr>
          <p:cNvPr id="74" name="Icon e86">    </p:cNvPr>
          <p:cNvPicPr>
            <a:picLocks noChangeAspect="1"/>
          </p:cNvPicPr>
          <p:nvPr/>
        </p:nvPicPr>
        <p:blipFill>
          <a:blip r:embed="rId16"/>
          <a:stretch>
            <a:fillRect/>
          </a:stretch>
        </p:blipFill>
        <p:spPr>
          <a:xfrm>
            <a:off x="7391370" y="6505590"/>
            <a:ext cx="171450" cy="171450"/>
          </a:xfrm>
          <a:prstGeom prst="rect">
            <a:avLst/>
          </a:prstGeom>
        </p:spPr>
      </p:pic>
      <p:sp>
        <p:nvSpPr>
          <p:cNvPr id="75" name="Text e87"/>
          <p:cNvSpPr txBox="1"/>
          <p:nvPr/>
        </p:nvSpPr>
        <p:spPr>
          <a:xfrm>
            <a:off x="7639080" y="6519855"/>
            <a:ext cx="1864370" cy="133320"/>
          </a:xfrm>
          <a:prstGeom prst="rect">
            <a:avLst/>
          </a:prstGeom>
          <a:noFill/>
          <a:ln/>
        </p:spPr>
        <p:txBody>
          <a:bodyPr wrap="none" lIns="0" tIns="0" rIns="0" bIns="0" rtlCol="0" anchor="t"/>
          <a:lstStyle/>
          <a:p>
            <a:pPr algn="l" indent="0" marL="0">
              <a:lnSpc>
                <a:spcPts val="1050"/>
              </a:lnSpc>
              <a:buNone/>
            </a:pPr>
            <a:r>
              <a:rPr lang="en-US" sz="750" b="1" dirty="0">
                <a:solidFill>
                  <a:srgbClr val="333231"/>
                </a:solidFill>
                <a:latin typeface="+mn-lt" pitchFamily="34" charset="0"/>
              </a:rPr>
              <a:t>Engineering, Architecture &amp; Consulting</a:t>
            </a:r>
            <a:endParaRPr lang="en-US" sz="750" dirty="0"/>
          </a:p>
        </p:txBody>
      </p:sp>
      <p:pic>
        <p:nvPicPr>
          <p:cNvPr id="76" name="Icon e89">    </p:cNvPr>
          <p:cNvPicPr>
            <a:picLocks noChangeAspect="1"/>
          </p:cNvPicPr>
          <p:nvPr/>
        </p:nvPicPr>
        <p:blipFill>
          <a:blip r:embed="rId17"/>
          <a:stretch>
            <a:fillRect/>
          </a:stretch>
        </p:blipFill>
        <p:spPr>
          <a:xfrm>
            <a:off x="2628900" y="6762720"/>
            <a:ext cx="171450" cy="171450"/>
          </a:xfrm>
          <a:prstGeom prst="rect">
            <a:avLst/>
          </a:prstGeom>
        </p:spPr>
      </p:pic>
      <p:sp>
        <p:nvSpPr>
          <p:cNvPr id="77" name="Text e90"/>
          <p:cNvSpPr txBox="1"/>
          <p:nvPr/>
        </p:nvSpPr>
        <p:spPr>
          <a:xfrm>
            <a:off x="2876520" y="6777076"/>
            <a:ext cx="1484071" cy="133320"/>
          </a:xfrm>
          <a:prstGeom prst="rect">
            <a:avLst/>
          </a:prstGeom>
          <a:noFill/>
          <a:ln/>
        </p:spPr>
        <p:txBody>
          <a:bodyPr wrap="none" lIns="0" tIns="0" rIns="0" bIns="0" rtlCol="0" anchor="t"/>
          <a:lstStyle/>
          <a:p>
            <a:pPr algn="l" indent="0" marL="0">
              <a:lnSpc>
                <a:spcPts val="1050"/>
              </a:lnSpc>
              <a:buNone/>
            </a:pPr>
            <a:r>
              <a:rPr lang="en-US" sz="750" b="1" dirty="0">
                <a:solidFill>
                  <a:srgbClr val="333231"/>
                </a:solidFill>
                <a:latin typeface="+mn-lt" pitchFamily="34" charset="0"/>
              </a:rPr>
              <a:t>Financial &amp; Insurance Services</a:t>
            </a:r>
            <a:endParaRPr lang="en-US" sz="750" dirty="0"/>
          </a:p>
        </p:txBody>
      </p:sp>
      <p:pic>
        <p:nvPicPr>
          <p:cNvPr id="78" name="Icon e92">    </p:cNvPr>
          <p:cNvPicPr>
            <a:picLocks noChangeAspect="1"/>
          </p:cNvPicPr>
          <p:nvPr/>
        </p:nvPicPr>
        <p:blipFill>
          <a:blip r:embed="rId18"/>
          <a:stretch>
            <a:fillRect/>
          </a:stretch>
        </p:blipFill>
        <p:spPr>
          <a:xfrm>
            <a:off x="5010180" y="6762720"/>
            <a:ext cx="171450" cy="171450"/>
          </a:xfrm>
          <a:prstGeom prst="rect">
            <a:avLst/>
          </a:prstGeom>
        </p:spPr>
      </p:pic>
      <p:sp>
        <p:nvSpPr>
          <p:cNvPr id="79" name="Text e93"/>
          <p:cNvSpPr txBox="1"/>
          <p:nvPr/>
        </p:nvSpPr>
        <p:spPr>
          <a:xfrm>
            <a:off x="5257800" y="6777076"/>
            <a:ext cx="1265072" cy="133320"/>
          </a:xfrm>
          <a:prstGeom prst="rect">
            <a:avLst/>
          </a:prstGeom>
          <a:noFill/>
          <a:ln/>
        </p:spPr>
        <p:txBody>
          <a:bodyPr wrap="none" lIns="0" tIns="0" rIns="0" bIns="0" rtlCol="0" anchor="t"/>
          <a:lstStyle/>
          <a:p>
            <a:pPr algn="l" indent="0" marL="0">
              <a:lnSpc>
                <a:spcPts val="1050"/>
              </a:lnSpc>
              <a:buNone/>
            </a:pPr>
            <a:r>
              <a:rPr lang="en-US" sz="750" b="1" dirty="0">
                <a:solidFill>
                  <a:srgbClr val="333231"/>
                </a:solidFill>
                <a:latin typeface="+mn-lt" pitchFamily="34" charset="0"/>
              </a:rPr>
              <a:t>Staffing &amp; Human Capital</a:t>
            </a:r>
            <a:endParaRPr lang="en-US" sz="750" dirty="0"/>
          </a:p>
        </p:txBody>
      </p:sp>
      <p:sp>
        <p:nvSpPr>
          <p:cNvPr id="80" name="Shape e94"/>
          <p:cNvSpPr/>
          <p:nvPr/>
        </p:nvSpPr>
        <p:spPr>
          <a:xfrm>
            <a:off x="419070" y="7029450"/>
            <a:ext cx="9220170" cy="9510"/>
          </a:xfrm>
          <a:prstGeom prst="ellipse">
            <a:avLst/>
          </a:prstGeom>
          <a:solidFill>
            <a:srgbClr val="E3DCD3"/>
          </a:solidFill>
          <a:ln/>
        </p:spPr>
        <p:txBody>
          <a:bodyPr/>
          <a:p/>
        </p:txBody>
      </p:sp>
      <p:pic>
        <p:nvPicPr>
          <p:cNvPr id="81" name="Picture e95" descr="Benchmark International">    </p:cNvPr>
          <p:cNvPicPr>
            <a:picLocks noChangeAspect="1"/>
          </p:cNvPicPr>
          <p:nvPr/>
        </p:nvPicPr>
        <p:blipFill>
          <a:blip r:embed="rId19"/>
          <a:stretch>
            <a:fillRect/>
          </a:stretch>
        </p:blipFill>
        <p:spPr>
          <a:xfrm>
            <a:off x="419070" y="7143750"/>
            <a:ext cx="914400" cy="171450"/>
          </a:xfrm>
          <a:prstGeom prst="rect">
            <a:avLst/>
          </a:prstGeom>
        </p:spPr>
      </p:pic>
      <p:sp>
        <p:nvSpPr>
          <p:cNvPr id="82" name="Text e96"/>
          <p:cNvSpPr txBox="1"/>
          <p:nvPr/>
        </p:nvSpPr>
        <p:spPr>
          <a:xfrm>
            <a:off x="1543050" y="7098487"/>
            <a:ext cx="2917485" cy="119055"/>
          </a:xfrm>
          <a:prstGeom prst="rect">
            <a:avLst/>
          </a:prstGeom>
          <a:noFill/>
          <a:ln/>
        </p:spPr>
        <p:txBody>
          <a:bodyPr wrap="none" lIns="0" tIns="0" rIns="0" bIns="0" rtlCol="0" anchor="t"/>
          <a:lstStyle/>
          <a:p>
            <a:pPr algn="l" indent="0" marL="0">
              <a:lnSpc>
                <a:spcPts val="950"/>
              </a:lnSpc>
              <a:buNone/>
            </a:pPr>
            <a:r>
              <a:rPr lang="en-US" sz="700" dirty="0">
                <a:solidFill>
                  <a:srgbClr val="6F6A66"/>
                </a:solidFill>
                <a:latin typeface="+mn-lt" pitchFamily="34" charset="0"/>
              </a:rPr>
              <a:t>Team as listed on the Middle Market site in October 2026.</a:t>
            </a:r>
            <a:endParaRPr lang="en-US" sz="700" dirty="0"/>
          </a:p>
        </p:txBody>
      </p:sp>
      <p:sp>
        <p:nvSpPr>
          <p:cNvPr id="83" name="Text e97"/>
          <p:cNvSpPr txBox="1"/>
          <p:nvPr/>
        </p:nvSpPr>
        <p:spPr>
          <a:xfrm>
            <a:off x="9516344" y="7162770"/>
            <a:ext cx="12381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18</a:t>
            </a:r>
            <a:endParaRPr lang="en-US" sz="700" dirty="0"/>
          </a:p>
        </p:txBody>
      </p:sp>
      <p:sp>
        <p:nvSpPr>
          <p:cNvPr id="84" name="Text: jhoutz@benchmarkintl.com"/>
          <p:cNvSpPr txBox="1"/>
          <p:nvPr/>
        </p:nvSpPr>
        <p:spPr>
          <a:xfrm>
            <a:off x="2768666" y="3162270"/>
            <a:ext cx="1371600" cy="304770"/>
          </a:xfrm>
          <a:prstGeom prst="rect">
            <a:avLst/>
          </a:prstGeom>
          <a:noFill/>
          <a:ln/>
        </p:spPr>
        <p:txBody>
          <a:bodyPr wrap="square" lIns="0" tIns="0" rIns="0" bIns="0" rtlCol="0" anchor="t"/>
          <a:lstStyle/>
          <a:p>
            <a:pPr algn="ctr" indent="0" marL="0">
              <a:lnSpc>
                <a:spcPts val="1200"/>
              </a:lnSpc>
              <a:buNone/>
            </a:pPr>
            <a:r>
              <a:rPr lang="en-US" sz="80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813-771-6675</a:t>
            </a:r>
            <a:endParaRPr lang="en-US" sz="800" dirty="0"/>
          </a:p>
          <a:p>
            <a:pPr algn="ctr" indent="0" marL="0">
              <a:lnSpc>
                <a:spcPts val="1200"/>
              </a:lnSpc>
              <a:buNone/>
            </a:pPr>
            <a:r>
              <a:rPr lang="en-US" sz="800" u="sng" dirty="0">
                <a:solidFill>
                  <a:srgbClr val="8C6239"/>
                </a:solidFill>
                <a:latin typeface="+mn-lt" pitchFamily="34" charset="0"/>
                <a:hlinkClick r:id="rId22" invalidUrl="" action="" tgtFrame="" tooltip="" history="1" highlightClick="0" endSnd="0">
                  <a:extLst>
                    <a:ext uri="{A12FA001-AC4F-418D-AE19-62706E023703}">
                      <ahyp:hlinkClr xmlns:ahyp="http://schemas.microsoft.com/office/drawing/2018/hyperlinkcolor" val="tx"/>
                    </a:ext>
                  </a:extLst>
                </a:hlinkClick>
              </a:rPr>
              <a:t>jhoutz@benchmarkintl.com</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2976006"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Benchmark International</a:t>
            </a:r>
            <a:endParaRPr lang="en-US" sz="2050" dirty="0"/>
          </a:p>
        </p:txBody>
      </p:sp>
      <p:sp>
        <p:nvSpPr>
          <p:cNvPr id="6" name="Text e5"/>
          <p:cNvSpPr txBox="1"/>
          <p:nvPr/>
        </p:nvSpPr>
        <p:spPr>
          <a:xfrm>
            <a:off x="419070" y="883402"/>
            <a:ext cx="6753941"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The world's leading privately owned sell-side M&amp;A advisor, with its Middle Market team focused on five industries.</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Shape e9"/>
          <p:cNvSpPr/>
          <p:nvPr/>
        </p:nvSpPr>
        <p:spPr>
          <a:xfrm>
            <a:off x="419070" y="1238280"/>
            <a:ext cx="9220170" cy="2286000"/>
          </a:xfrm>
          <a:prstGeom prst="rect">
            <a:avLst/>
          </a:prstGeom>
          <a:solidFill>
            <a:srgbClr val="1B1A1A"/>
          </a:solidFill>
          <a:ln/>
        </p:spPr>
        <p:txBody>
          <a:bodyPr/>
          <a:p/>
        </p:txBody>
      </p:sp>
      <p:pic>
        <p:nvPicPr>
          <p:cNvPr id="9" name="Picture e10">    </p:cNvPr>
          <p:cNvPicPr>
            <a:picLocks noChangeAspect="1"/>
          </p:cNvPicPr>
          <p:nvPr/>
        </p:nvPicPr>
        <p:blipFill>
          <a:blip r:embed="rId1"/>
          <a:stretch>
            <a:fillRect/>
          </a:stretch>
        </p:blipFill>
        <p:spPr>
          <a:xfrm>
            <a:off x="419070" y="1238280"/>
            <a:ext cx="9220170" cy="2286000"/>
          </a:xfrm>
          <a:prstGeom prst="rect">
            <a:avLst/>
          </a:prstGeom>
        </p:spPr>
      </p:pic>
      <p:pic>
        <p:nvPicPr>
          <p:cNvPr id="10" name="Picture e12" descr="Benchmark International">    </p:cNvPr>
          <p:cNvPicPr>
            <a:picLocks noChangeAspect="1"/>
          </p:cNvPicPr>
          <p:nvPr/>
        </p:nvPicPr>
        <p:blipFill>
          <a:blip r:embed="rId2"/>
          <a:stretch>
            <a:fillRect/>
          </a:stretch>
        </p:blipFill>
        <p:spPr>
          <a:xfrm>
            <a:off x="685800" y="1466880"/>
            <a:ext cx="2381280" cy="447690"/>
          </a:xfrm>
          <a:prstGeom prst="rect">
            <a:avLst/>
          </a:prstGeom>
        </p:spPr>
      </p:pic>
      <p:sp>
        <p:nvSpPr>
          <p:cNvPr id="11" name="Text e13"/>
          <p:cNvSpPr txBox="1"/>
          <p:nvPr/>
        </p:nvSpPr>
        <p:spPr>
          <a:xfrm>
            <a:off x="3352830" y="1497787"/>
            <a:ext cx="6019770" cy="371521"/>
          </a:xfrm>
          <a:prstGeom prst="rect">
            <a:avLst/>
          </a:prstGeom>
          <a:noFill/>
          <a:ln/>
        </p:spPr>
        <p:txBody>
          <a:bodyPr wrap="square" lIns="0" tIns="0" rIns="0" bIns="0" rtlCol="0" anchor="t"/>
          <a:lstStyle/>
          <a:p>
            <a:pPr algn="l" indent="0" marL="0">
              <a:lnSpc>
                <a:spcPts val="1450"/>
              </a:lnSpc>
              <a:buNone/>
            </a:pPr>
            <a:r>
              <a:rPr lang="en-US" sz="950" dirty="0">
                <a:solidFill>
                  <a:srgbClr val="E8E2DA"/>
                </a:solidFill>
                <a:latin typeface="+mn-lt" pitchFamily="34" charset="0"/>
              </a:rPr>
              <a:t>The Middle Market team is the part of Benchmark International that advises owners of privately held companies across five industries, from majority and control transactions to strategic partnerships.</a:t>
            </a:r>
            <a:endParaRPr lang="en-US" sz="950" dirty="0"/>
          </a:p>
        </p:txBody>
      </p:sp>
      <p:sp>
        <p:nvSpPr>
          <p:cNvPr id="12" name="Shape e15s3"/>
          <p:cNvSpPr/>
          <p:nvPr/>
        </p:nvSpPr>
        <p:spPr>
          <a:xfrm>
            <a:off x="514350" y="2162190"/>
            <a:ext cx="9510" cy="1000171"/>
          </a:xfrm>
          <a:prstGeom prst="rect">
            <a:avLst/>
          </a:prstGeom>
          <a:solidFill>
            <a:srgbClr val="FFFFFF">
              <a:alpha val="18000"/>
            </a:srgbClr>
          </a:solidFill>
          <a:ln/>
        </p:spPr>
        <p:txBody>
          <a:bodyPr/>
          <a:p/>
        </p:txBody>
      </p:sp>
      <p:sp>
        <p:nvSpPr>
          <p:cNvPr id="13" name="Text e16"/>
          <p:cNvSpPr txBox="1"/>
          <p:nvPr/>
        </p:nvSpPr>
        <p:spPr>
          <a:xfrm>
            <a:off x="695310" y="2162190"/>
            <a:ext cx="406451" cy="342900"/>
          </a:xfrm>
          <a:prstGeom prst="rect">
            <a:avLst/>
          </a:prstGeom>
          <a:noFill/>
          <a:ln/>
        </p:spPr>
        <p:txBody>
          <a:bodyPr wrap="none" lIns="0" tIns="0" rIns="0" bIns="0" rtlCol="0" anchor="t"/>
          <a:lstStyle/>
          <a:p>
            <a:pPr algn="l" indent="0" marL="0">
              <a:lnSpc>
                <a:spcPts val="2700"/>
              </a:lnSpc>
              <a:buNone/>
            </a:pPr>
            <a:r>
              <a:rPr lang="en-US" sz="2250" b="1" dirty="0">
                <a:solidFill>
                  <a:srgbClr val="D3AE84"/>
                </a:solidFill>
                <a:latin typeface="+mj-lt" pitchFamily="34" charset="0"/>
              </a:rPr>
              <a:t>#1</a:t>
            </a:r>
            <a:endParaRPr lang="en-US" sz="2250" dirty="0"/>
          </a:p>
        </p:txBody>
      </p:sp>
      <p:sp>
        <p:nvSpPr>
          <p:cNvPr id="14" name="Text e17"/>
          <p:cNvSpPr txBox="1"/>
          <p:nvPr/>
        </p:nvSpPr>
        <p:spPr>
          <a:xfrm>
            <a:off x="695310" y="2552730"/>
            <a:ext cx="1733520" cy="609630"/>
          </a:xfrm>
          <a:prstGeom prst="rect">
            <a:avLst/>
          </a:prstGeom>
          <a:noFill/>
          <a:ln/>
        </p:spPr>
        <p:txBody>
          <a:bodyPr wrap="square" lIns="0" tIns="0" rIns="0" bIns="0" rtlCol="0" anchor="t"/>
          <a:lstStyle/>
          <a:p>
            <a:pPr algn="l" indent="0" marL="0">
              <a:lnSpc>
                <a:spcPts val="1200"/>
              </a:lnSpc>
              <a:buNone/>
            </a:pPr>
            <a:r>
              <a:rPr lang="en-US" sz="850" dirty="0">
                <a:solidFill>
                  <a:srgbClr val="E8E2DA"/>
                </a:solidFill>
                <a:latin typeface="+mn-lt" pitchFamily="34" charset="0"/>
              </a:rPr>
              <a:t>Privately owned sell-side M&amp;A advisor worldwide, based on PitchBook's Q2 2026 Global League Tables</a:t>
            </a:r>
            <a:endParaRPr lang="en-US" sz="850" dirty="0"/>
          </a:p>
        </p:txBody>
      </p:sp>
      <p:sp>
        <p:nvSpPr>
          <p:cNvPr id="15" name="Shape e18s3"/>
          <p:cNvSpPr/>
          <p:nvPr/>
        </p:nvSpPr>
        <p:spPr>
          <a:xfrm>
            <a:off x="2598542" y="2162190"/>
            <a:ext cx="9510" cy="1000171"/>
          </a:xfrm>
          <a:prstGeom prst="rect">
            <a:avLst/>
          </a:prstGeom>
          <a:solidFill>
            <a:srgbClr val="FFFFFF">
              <a:alpha val="18000"/>
            </a:srgbClr>
          </a:solidFill>
          <a:ln/>
        </p:spPr>
        <p:txBody>
          <a:bodyPr/>
          <a:p/>
        </p:txBody>
      </p:sp>
      <p:sp>
        <p:nvSpPr>
          <p:cNvPr id="16" name="Text e19"/>
          <p:cNvSpPr txBox="1"/>
          <p:nvPr/>
        </p:nvSpPr>
        <p:spPr>
          <a:xfrm>
            <a:off x="2779502" y="2162190"/>
            <a:ext cx="2250704" cy="342900"/>
          </a:xfrm>
          <a:prstGeom prst="rect">
            <a:avLst/>
          </a:prstGeom>
          <a:noFill/>
          <a:ln/>
        </p:spPr>
        <p:txBody>
          <a:bodyPr wrap="none" lIns="0" tIns="0" rIns="0" bIns="0" rtlCol="0" anchor="t"/>
          <a:lstStyle/>
          <a:p>
            <a:pPr algn="l" indent="0" marL="0">
              <a:lnSpc>
                <a:spcPts val="2700"/>
              </a:lnSpc>
              <a:buNone/>
            </a:pPr>
            <a:r>
              <a:rPr lang="en-US" sz="2250" b="1" dirty="0">
                <a:solidFill>
                  <a:srgbClr val="D3AE84"/>
                </a:solidFill>
                <a:latin typeface="+mj-lt" pitchFamily="34" charset="0"/>
              </a:rPr>
              <a:t>$50M to $500M</a:t>
            </a:r>
            <a:endParaRPr lang="en-US" sz="2250" dirty="0"/>
          </a:p>
        </p:txBody>
      </p:sp>
      <p:sp>
        <p:nvSpPr>
          <p:cNvPr id="17" name="Text e20"/>
          <p:cNvSpPr txBox="1"/>
          <p:nvPr/>
        </p:nvSpPr>
        <p:spPr>
          <a:xfrm>
            <a:off x="2779502" y="2552730"/>
            <a:ext cx="2257471" cy="304770"/>
          </a:xfrm>
          <a:prstGeom prst="rect">
            <a:avLst/>
          </a:prstGeom>
          <a:noFill/>
          <a:ln/>
        </p:spPr>
        <p:txBody>
          <a:bodyPr wrap="square" lIns="0" tIns="0" rIns="0" bIns="0" rtlCol="0" anchor="t"/>
          <a:lstStyle/>
          <a:p>
            <a:pPr algn="l" indent="0" marL="0">
              <a:lnSpc>
                <a:spcPts val="1200"/>
              </a:lnSpc>
              <a:buNone/>
            </a:pPr>
            <a:r>
              <a:rPr lang="en-US" sz="850" dirty="0">
                <a:solidFill>
                  <a:srgbClr val="E8E2DA"/>
                </a:solidFill>
                <a:latin typeface="+mn-lt" pitchFamily="34" charset="0"/>
              </a:rPr>
              <a:t>Total enterprise value range that the Middle Market team serves</a:t>
            </a:r>
            <a:endParaRPr lang="en-US" sz="850" dirty="0"/>
          </a:p>
        </p:txBody>
      </p:sp>
      <p:sp>
        <p:nvSpPr>
          <p:cNvPr id="18" name="Shape e21s3"/>
          <p:cNvSpPr/>
          <p:nvPr/>
        </p:nvSpPr>
        <p:spPr>
          <a:xfrm>
            <a:off x="5203942" y="2162190"/>
            <a:ext cx="9510" cy="1000171"/>
          </a:xfrm>
          <a:prstGeom prst="rect">
            <a:avLst/>
          </a:prstGeom>
          <a:solidFill>
            <a:srgbClr val="FFFFFF">
              <a:alpha val="18000"/>
            </a:srgbClr>
          </a:solidFill>
          <a:ln/>
        </p:spPr>
        <p:txBody>
          <a:bodyPr/>
          <a:p/>
        </p:txBody>
      </p:sp>
      <p:sp>
        <p:nvSpPr>
          <p:cNvPr id="19" name="Text e22"/>
          <p:cNvSpPr txBox="1"/>
          <p:nvPr/>
        </p:nvSpPr>
        <p:spPr>
          <a:xfrm>
            <a:off x="5384902" y="2162190"/>
            <a:ext cx="231892" cy="342900"/>
          </a:xfrm>
          <a:prstGeom prst="rect">
            <a:avLst/>
          </a:prstGeom>
          <a:noFill/>
          <a:ln/>
        </p:spPr>
        <p:txBody>
          <a:bodyPr wrap="none" lIns="0" tIns="0" rIns="0" bIns="0" rtlCol="0" anchor="t"/>
          <a:lstStyle/>
          <a:p>
            <a:pPr algn="l" indent="0" marL="0">
              <a:lnSpc>
                <a:spcPts val="2700"/>
              </a:lnSpc>
              <a:buNone/>
            </a:pPr>
            <a:r>
              <a:rPr lang="en-US" sz="2250" b="1" dirty="0">
                <a:solidFill>
                  <a:srgbClr val="D3AE84"/>
                </a:solidFill>
                <a:latin typeface="+mj-lt" pitchFamily="34" charset="0"/>
              </a:rPr>
              <a:t>5</a:t>
            </a:r>
            <a:endParaRPr lang="en-US" sz="2250" dirty="0"/>
          </a:p>
        </p:txBody>
      </p:sp>
      <p:sp>
        <p:nvSpPr>
          <p:cNvPr id="20" name="Text e23"/>
          <p:cNvSpPr txBox="1"/>
          <p:nvPr/>
        </p:nvSpPr>
        <p:spPr>
          <a:xfrm>
            <a:off x="5384902" y="2552730"/>
            <a:ext cx="1733520" cy="304770"/>
          </a:xfrm>
          <a:prstGeom prst="rect">
            <a:avLst/>
          </a:prstGeom>
          <a:noFill/>
          <a:ln/>
        </p:spPr>
        <p:txBody>
          <a:bodyPr wrap="square" lIns="0" tIns="0" rIns="0" bIns="0" rtlCol="0" anchor="t"/>
          <a:lstStyle/>
          <a:p>
            <a:pPr algn="l" indent="0" marL="0">
              <a:lnSpc>
                <a:spcPts val="1200"/>
              </a:lnSpc>
              <a:buNone/>
            </a:pPr>
            <a:r>
              <a:rPr lang="en-US" sz="850" dirty="0">
                <a:solidFill>
                  <a:srgbClr val="E8E2DA"/>
                </a:solidFill>
                <a:latin typeface="+mn-lt" pitchFamily="34" charset="0"/>
              </a:rPr>
              <a:t>Focused industry groups with dedicated expertise</a:t>
            </a:r>
            <a:endParaRPr lang="en-US" sz="850" dirty="0"/>
          </a:p>
        </p:txBody>
      </p:sp>
      <p:sp>
        <p:nvSpPr>
          <p:cNvPr id="21" name="Shape e24s3"/>
          <p:cNvSpPr/>
          <p:nvPr/>
        </p:nvSpPr>
        <p:spPr>
          <a:xfrm>
            <a:off x="7288225" y="2162190"/>
            <a:ext cx="9510" cy="1000171"/>
          </a:xfrm>
          <a:prstGeom prst="rect">
            <a:avLst/>
          </a:prstGeom>
          <a:solidFill>
            <a:srgbClr val="FFFFFF">
              <a:alpha val="18000"/>
            </a:srgbClr>
          </a:solidFill>
          <a:ln/>
        </p:spPr>
        <p:txBody>
          <a:bodyPr/>
          <a:p/>
        </p:txBody>
      </p:sp>
      <p:sp>
        <p:nvSpPr>
          <p:cNvPr id="22" name="Text e25"/>
          <p:cNvSpPr txBox="1"/>
          <p:nvPr/>
        </p:nvSpPr>
        <p:spPr>
          <a:xfrm>
            <a:off x="7469276" y="2162190"/>
            <a:ext cx="406451" cy="342900"/>
          </a:xfrm>
          <a:prstGeom prst="rect">
            <a:avLst/>
          </a:prstGeom>
          <a:noFill/>
          <a:ln/>
        </p:spPr>
        <p:txBody>
          <a:bodyPr wrap="none" lIns="0" tIns="0" rIns="0" bIns="0" rtlCol="0" anchor="t"/>
          <a:lstStyle/>
          <a:p>
            <a:pPr algn="l" indent="0" marL="0">
              <a:lnSpc>
                <a:spcPts val="2700"/>
              </a:lnSpc>
              <a:buNone/>
            </a:pPr>
            <a:r>
              <a:rPr lang="en-US" sz="2250" b="1" dirty="0">
                <a:solidFill>
                  <a:srgbClr val="D3AE84"/>
                </a:solidFill>
                <a:latin typeface="+mj-lt" pitchFamily="34" charset="0"/>
              </a:rPr>
              <a:t>15</a:t>
            </a:r>
            <a:endParaRPr lang="en-US" sz="2250" dirty="0"/>
          </a:p>
        </p:txBody>
      </p:sp>
      <p:sp>
        <p:nvSpPr>
          <p:cNvPr id="23" name="Text e26"/>
          <p:cNvSpPr txBox="1"/>
          <p:nvPr/>
        </p:nvSpPr>
        <p:spPr>
          <a:xfrm>
            <a:off x="7469276" y="2552730"/>
            <a:ext cx="1733520" cy="304770"/>
          </a:xfrm>
          <a:prstGeom prst="rect">
            <a:avLst/>
          </a:prstGeom>
          <a:noFill/>
          <a:ln/>
        </p:spPr>
        <p:txBody>
          <a:bodyPr wrap="square" lIns="0" tIns="0" rIns="0" bIns="0" rtlCol="0" anchor="t"/>
          <a:lstStyle/>
          <a:p>
            <a:pPr algn="l" indent="0" marL="0">
              <a:lnSpc>
                <a:spcPts val="1200"/>
              </a:lnSpc>
              <a:buNone/>
            </a:pPr>
            <a:r>
              <a:rPr lang="en-US" sz="850" dirty="0">
                <a:solidFill>
                  <a:srgbClr val="E8E2DA"/>
                </a:solidFill>
                <a:latin typeface="+mn-lt" pitchFamily="34" charset="0"/>
              </a:rPr>
              <a:t>Global offices across the Americas, Europe and Africa</a:t>
            </a:r>
            <a:endParaRPr lang="en-US" sz="850" dirty="0"/>
          </a:p>
        </p:txBody>
      </p:sp>
      <p:sp>
        <p:nvSpPr>
          <p:cNvPr id="24" name="Text e28"/>
          <p:cNvSpPr txBox="1"/>
          <p:nvPr/>
        </p:nvSpPr>
        <p:spPr>
          <a:xfrm>
            <a:off x="419070" y="3714750"/>
            <a:ext cx="845088"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8C6239"/>
                </a:solidFill>
                <a:latin typeface="+mn-lt" pitchFamily="34" charset="0"/>
              </a:rPr>
              <a:t>RECOGNITION</a:t>
            </a:r>
            <a:endParaRPr lang="en-US" sz="700" dirty="0"/>
          </a:p>
        </p:txBody>
      </p:sp>
      <p:sp>
        <p:nvSpPr>
          <p:cNvPr id="25" name="Shape e30"/>
          <p:cNvSpPr/>
          <p:nvPr/>
        </p:nvSpPr>
        <p:spPr>
          <a:xfrm>
            <a:off x="419070" y="3924330"/>
            <a:ext cx="2205076" cy="1466880"/>
          </a:xfrm>
          <a:prstGeom prst="rect">
            <a:avLst/>
          </a:prstGeom>
          <a:solidFill>
            <a:srgbClr val="FFFFFF"/>
          </a:solidFill>
          <a:ln/>
        </p:spPr>
        <p:txBody>
          <a:bodyPr/>
          <a:p/>
        </p:txBody>
      </p:sp>
      <p:sp>
        <p:nvSpPr>
          <p:cNvPr id="26" name="Shape e30s0"/>
          <p:cNvSpPr/>
          <p:nvPr/>
        </p:nvSpPr>
        <p:spPr>
          <a:xfrm>
            <a:off x="419070" y="3924330"/>
            <a:ext cx="2205076" cy="28621"/>
          </a:xfrm>
          <a:prstGeom prst="rect">
            <a:avLst/>
          </a:prstGeom>
          <a:solidFill>
            <a:srgbClr val="B68757"/>
          </a:solidFill>
          <a:ln/>
        </p:spPr>
        <p:txBody>
          <a:bodyPr/>
          <a:p/>
        </p:txBody>
      </p:sp>
      <p:sp>
        <p:nvSpPr>
          <p:cNvPr id="27" name="Shape e30s1"/>
          <p:cNvSpPr/>
          <p:nvPr/>
        </p:nvSpPr>
        <p:spPr>
          <a:xfrm>
            <a:off x="2614635" y="3924330"/>
            <a:ext cx="9510" cy="1466880"/>
          </a:xfrm>
          <a:prstGeom prst="rect">
            <a:avLst/>
          </a:prstGeom>
          <a:solidFill>
            <a:srgbClr val="E3DCD3"/>
          </a:solidFill>
          <a:ln/>
        </p:spPr>
        <p:txBody>
          <a:bodyPr/>
          <a:p/>
        </p:txBody>
      </p:sp>
      <p:sp>
        <p:nvSpPr>
          <p:cNvPr id="28" name="Shape e30s2"/>
          <p:cNvSpPr/>
          <p:nvPr/>
        </p:nvSpPr>
        <p:spPr>
          <a:xfrm>
            <a:off x="419070" y="5381610"/>
            <a:ext cx="2205076" cy="9510"/>
          </a:xfrm>
          <a:prstGeom prst="rect">
            <a:avLst/>
          </a:prstGeom>
          <a:solidFill>
            <a:srgbClr val="E3DCD3"/>
          </a:solidFill>
          <a:ln/>
        </p:spPr>
        <p:txBody>
          <a:bodyPr/>
          <a:p/>
        </p:txBody>
      </p:sp>
      <p:sp>
        <p:nvSpPr>
          <p:cNvPr id="29" name="Shape e30s3"/>
          <p:cNvSpPr/>
          <p:nvPr/>
        </p:nvSpPr>
        <p:spPr>
          <a:xfrm>
            <a:off x="419070" y="3924330"/>
            <a:ext cx="9510" cy="1466880"/>
          </a:xfrm>
          <a:prstGeom prst="rect">
            <a:avLst/>
          </a:prstGeom>
          <a:solidFill>
            <a:srgbClr val="E3DCD3"/>
          </a:solidFill>
          <a:ln/>
        </p:spPr>
        <p:txBody>
          <a:bodyPr/>
          <a:p/>
        </p:txBody>
      </p:sp>
      <p:pic>
        <p:nvPicPr>
          <p:cNvPr id="30" name="Picture e31" descr="The M&amp;A Advisor: Investment Banking Firm of the Year">    </p:cNvPr>
          <p:cNvPicPr>
            <a:picLocks noChangeAspect="1"/>
          </p:cNvPicPr>
          <p:nvPr/>
        </p:nvPicPr>
        <p:blipFill>
          <a:blip r:embed="rId3"/>
          <a:stretch>
            <a:fillRect/>
          </a:stretch>
        </p:blipFill>
        <p:spPr>
          <a:xfrm>
            <a:off x="514533" y="4086271"/>
            <a:ext cx="2014057" cy="1162020"/>
          </a:xfrm>
          <a:prstGeom prst="rect">
            <a:avLst/>
          </a:prstGeom>
        </p:spPr>
      </p:pic>
      <p:sp>
        <p:nvSpPr>
          <p:cNvPr id="31" name="Shape e32"/>
          <p:cNvSpPr/>
          <p:nvPr/>
        </p:nvSpPr>
        <p:spPr>
          <a:xfrm>
            <a:off x="2757465" y="3924330"/>
            <a:ext cx="2205076" cy="1466880"/>
          </a:xfrm>
          <a:prstGeom prst="rect">
            <a:avLst/>
          </a:prstGeom>
          <a:solidFill>
            <a:srgbClr val="FFFFFF"/>
          </a:solidFill>
          <a:ln/>
        </p:spPr>
        <p:txBody>
          <a:bodyPr/>
          <a:p/>
        </p:txBody>
      </p:sp>
      <p:sp>
        <p:nvSpPr>
          <p:cNvPr id="32" name="Shape e32s0"/>
          <p:cNvSpPr/>
          <p:nvPr/>
        </p:nvSpPr>
        <p:spPr>
          <a:xfrm>
            <a:off x="2757465" y="3924330"/>
            <a:ext cx="2205076" cy="28621"/>
          </a:xfrm>
          <a:prstGeom prst="rect">
            <a:avLst/>
          </a:prstGeom>
          <a:solidFill>
            <a:srgbClr val="B68757"/>
          </a:solidFill>
          <a:ln/>
        </p:spPr>
        <p:txBody>
          <a:bodyPr/>
          <a:p/>
        </p:txBody>
      </p:sp>
      <p:sp>
        <p:nvSpPr>
          <p:cNvPr id="33" name="Shape e32s1"/>
          <p:cNvSpPr/>
          <p:nvPr/>
        </p:nvSpPr>
        <p:spPr>
          <a:xfrm>
            <a:off x="4953030" y="3924330"/>
            <a:ext cx="9510" cy="1466880"/>
          </a:xfrm>
          <a:prstGeom prst="rect">
            <a:avLst/>
          </a:prstGeom>
          <a:solidFill>
            <a:srgbClr val="E3DCD3"/>
          </a:solidFill>
          <a:ln/>
        </p:spPr>
        <p:txBody>
          <a:bodyPr/>
          <a:p/>
        </p:txBody>
      </p:sp>
      <p:sp>
        <p:nvSpPr>
          <p:cNvPr id="34" name="Shape e32s2"/>
          <p:cNvSpPr/>
          <p:nvPr/>
        </p:nvSpPr>
        <p:spPr>
          <a:xfrm>
            <a:off x="2757465" y="5381610"/>
            <a:ext cx="2205076" cy="9510"/>
          </a:xfrm>
          <a:prstGeom prst="rect">
            <a:avLst/>
          </a:prstGeom>
          <a:solidFill>
            <a:srgbClr val="E3DCD3"/>
          </a:solidFill>
          <a:ln/>
        </p:spPr>
        <p:txBody>
          <a:bodyPr/>
          <a:p/>
        </p:txBody>
      </p:sp>
      <p:sp>
        <p:nvSpPr>
          <p:cNvPr id="35" name="Shape e32s3"/>
          <p:cNvSpPr/>
          <p:nvPr/>
        </p:nvSpPr>
        <p:spPr>
          <a:xfrm>
            <a:off x="2757465" y="3924330"/>
            <a:ext cx="9510" cy="1466880"/>
          </a:xfrm>
          <a:prstGeom prst="rect">
            <a:avLst/>
          </a:prstGeom>
          <a:solidFill>
            <a:srgbClr val="E3DCD3"/>
          </a:solidFill>
          <a:ln/>
        </p:spPr>
        <p:txBody>
          <a:bodyPr/>
          <a:p/>
        </p:txBody>
      </p:sp>
      <p:pic>
        <p:nvPicPr>
          <p:cNvPr id="36" name="Picture e33" descr="PitchBook: number one sell-side exclusive M&amp;A advisor in the world">    </p:cNvPr>
          <p:cNvPicPr>
            <a:picLocks noChangeAspect="1"/>
          </p:cNvPicPr>
          <p:nvPr/>
        </p:nvPicPr>
        <p:blipFill>
          <a:blip r:embed="rId4"/>
          <a:stretch>
            <a:fillRect/>
          </a:stretch>
        </p:blipFill>
        <p:spPr>
          <a:xfrm>
            <a:off x="2852928" y="4086271"/>
            <a:ext cx="2014057" cy="1162020"/>
          </a:xfrm>
          <a:prstGeom prst="rect">
            <a:avLst/>
          </a:prstGeom>
        </p:spPr>
      </p:pic>
      <p:sp>
        <p:nvSpPr>
          <p:cNvPr id="37" name="Shape e34"/>
          <p:cNvSpPr/>
          <p:nvPr/>
        </p:nvSpPr>
        <p:spPr>
          <a:xfrm>
            <a:off x="5095860" y="3924330"/>
            <a:ext cx="2205076" cy="1466880"/>
          </a:xfrm>
          <a:prstGeom prst="rect">
            <a:avLst/>
          </a:prstGeom>
          <a:solidFill>
            <a:srgbClr val="FFFFFF"/>
          </a:solidFill>
          <a:ln/>
        </p:spPr>
        <p:txBody>
          <a:bodyPr/>
          <a:p/>
        </p:txBody>
      </p:sp>
      <p:sp>
        <p:nvSpPr>
          <p:cNvPr id="38" name="Shape e34s0"/>
          <p:cNvSpPr/>
          <p:nvPr/>
        </p:nvSpPr>
        <p:spPr>
          <a:xfrm>
            <a:off x="5095860" y="3924330"/>
            <a:ext cx="2205076" cy="28621"/>
          </a:xfrm>
          <a:prstGeom prst="rect">
            <a:avLst/>
          </a:prstGeom>
          <a:solidFill>
            <a:srgbClr val="B68757"/>
          </a:solidFill>
          <a:ln/>
        </p:spPr>
        <p:txBody>
          <a:bodyPr/>
          <a:p/>
        </p:txBody>
      </p:sp>
      <p:sp>
        <p:nvSpPr>
          <p:cNvPr id="39" name="Shape e34s1"/>
          <p:cNvSpPr/>
          <p:nvPr/>
        </p:nvSpPr>
        <p:spPr>
          <a:xfrm>
            <a:off x="7291426" y="3924330"/>
            <a:ext cx="9510" cy="1466880"/>
          </a:xfrm>
          <a:prstGeom prst="rect">
            <a:avLst/>
          </a:prstGeom>
          <a:solidFill>
            <a:srgbClr val="E3DCD3"/>
          </a:solidFill>
          <a:ln/>
        </p:spPr>
        <p:txBody>
          <a:bodyPr/>
          <a:p/>
        </p:txBody>
      </p:sp>
      <p:sp>
        <p:nvSpPr>
          <p:cNvPr id="40" name="Shape e34s2"/>
          <p:cNvSpPr/>
          <p:nvPr/>
        </p:nvSpPr>
        <p:spPr>
          <a:xfrm>
            <a:off x="5095860" y="5381610"/>
            <a:ext cx="2205076" cy="9510"/>
          </a:xfrm>
          <a:prstGeom prst="rect">
            <a:avLst/>
          </a:prstGeom>
          <a:solidFill>
            <a:srgbClr val="E3DCD3"/>
          </a:solidFill>
          <a:ln/>
        </p:spPr>
        <p:txBody>
          <a:bodyPr/>
          <a:p/>
        </p:txBody>
      </p:sp>
      <p:sp>
        <p:nvSpPr>
          <p:cNvPr id="41" name="Shape e34s3"/>
          <p:cNvSpPr/>
          <p:nvPr/>
        </p:nvSpPr>
        <p:spPr>
          <a:xfrm>
            <a:off x="5095860" y="3924330"/>
            <a:ext cx="9510" cy="1466880"/>
          </a:xfrm>
          <a:prstGeom prst="rect">
            <a:avLst/>
          </a:prstGeom>
          <a:solidFill>
            <a:srgbClr val="E3DCD3"/>
          </a:solidFill>
          <a:ln/>
        </p:spPr>
        <p:txBody>
          <a:bodyPr/>
          <a:p/>
        </p:txBody>
      </p:sp>
      <p:pic>
        <p:nvPicPr>
          <p:cNvPr id="42" name="Picture e35" descr="LSEG: number one privately held M&amp;A advisor worldwide">    </p:cNvPr>
          <p:cNvPicPr>
            <a:picLocks noChangeAspect="1"/>
          </p:cNvPicPr>
          <p:nvPr/>
        </p:nvPicPr>
        <p:blipFill>
          <a:blip r:embed="rId5"/>
          <a:stretch>
            <a:fillRect/>
          </a:stretch>
        </p:blipFill>
        <p:spPr>
          <a:xfrm>
            <a:off x="5191232" y="4086271"/>
            <a:ext cx="2014057" cy="1162020"/>
          </a:xfrm>
          <a:prstGeom prst="rect">
            <a:avLst/>
          </a:prstGeom>
        </p:spPr>
      </p:pic>
      <p:sp>
        <p:nvSpPr>
          <p:cNvPr id="43" name="Shape e36"/>
          <p:cNvSpPr/>
          <p:nvPr/>
        </p:nvSpPr>
        <p:spPr>
          <a:xfrm>
            <a:off x="7434255" y="3924330"/>
            <a:ext cx="2205076" cy="1466880"/>
          </a:xfrm>
          <a:prstGeom prst="rect">
            <a:avLst/>
          </a:prstGeom>
          <a:solidFill>
            <a:srgbClr val="FFFFFF"/>
          </a:solidFill>
          <a:ln/>
        </p:spPr>
        <p:txBody>
          <a:bodyPr/>
          <a:p/>
        </p:txBody>
      </p:sp>
      <p:sp>
        <p:nvSpPr>
          <p:cNvPr id="44" name="Shape e36s0"/>
          <p:cNvSpPr/>
          <p:nvPr/>
        </p:nvSpPr>
        <p:spPr>
          <a:xfrm>
            <a:off x="7434255" y="3924330"/>
            <a:ext cx="2205076" cy="28621"/>
          </a:xfrm>
          <a:prstGeom prst="rect">
            <a:avLst/>
          </a:prstGeom>
          <a:solidFill>
            <a:srgbClr val="B68757"/>
          </a:solidFill>
          <a:ln/>
        </p:spPr>
        <p:txBody>
          <a:bodyPr/>
          <a:p/>
        </p:txBody>
      </p:sp>
      <p:sp>
        <p:nvSpPr>
          <p:cNvPr id="45" name="Shape e36s1"/>
          <p:cNvSpPr/>
          <p:nvPr/>
        </p:nvSpPr>
        <p:spPr>
          <a:xfrm>
            <a:off x="9629821" y="3924330"/>
            <a:ext cx="9510" cy="1466880"/>
          </a:xfrm>
          <a:prstGeom prst="rect">
            <a:avLst/>
          </a:prstGeom>
          <a:solidFill>
            <a:srgbClr val="E3DCD3"/>
          </a:solidFill>
          <a:ln/>
        </p:spPr>
        <p:txBody>
          <a:bodyPr/>
          <a:p/>
        </p:txBody>
      </p:sp>
      <p:sp>
        <p:nvSpPr>
          <p:cNvPr id="46" name="Shape e36s2"/>
          <p:cNvSpPr/>
          <p:nvPr/>
        </p:nvSpPr>
        <p:spPr>
          <a:xfrm>
            <a:off x="7434255" y="5381610"/>
            <a:ext cx="2205076" cy="9510"/>
          </a:xfrm>
          <a:prstGeom prst="rect">
            <a:avLst/>
          </a:prstGeom>
          <a:solidFill>
            <a:srgbClr val="E3DCD3"/>
          </a:solidFill>
          <a:ln/>
        </p:spPr>
        <p:txBody>
          <a:bodyPr/>
          <a:p/>
        </p:txBody>
      </p:sp>
      <p:sp>
        <p:nvSpPr>
          <p:cNvPr id="47" name="Shape e36s3"/>
          <p:cNvSpPr/>
          <p:nvPr/>
        </p:nvSpPr>
        <p:spPr>
          <a:xfrm>
            <a:off x="7434255" y="3924330"/>
            <a:ext cx="9510" cy="1466880"/>
          </a:xfrm>
          <a:prstGeom prst="rect">
            <a:avLst/>
          </a:prstGeom>
          <a:solidFill>
            <a:srgbClr val="E3DCD3"/>
          </a:solidFill>
          <a:ln/>
        </p:spPr>
        <p:txBody>
          <a:bodyPr/>
          <a:p/>
        </p:txBody>
      </p:sp>
      <p:pic>
        <p:nvPicPr>
          <p:cNvPr id="48" name="Picture e37" descr="DealMakers: first in the category of investment advisers by deal flow, unlisted deals">    </p:cNvPr>
          <p:cNvPicPr>
            <a:picLocks noChangeAspect="1"/>
          </p:cNvPicPr>
          <p:nvPr/>
        </p:nvPicPr>
        <p:blipFill>
          <a:blip r:embed="rId6"/>
          <a:stretch>
            <a:fillRect/>
          </a:stretch>
        </p:blipFill>
        <p:spPr>
          <a:xfrm>
            <a:off x="7529627" y="4086271"/>
            <a:ext cx="2014057" cy="1162020"/>
          </a:xfrm>
          <a:prstGeom prst="rect">
            <a:avLst/>
          </a:prstGeom>
        </p:spPr>
      </p:pic>
      <p:sp>
        <p:nvSpPr>
          <p:cNvPr id="49" name="Text e39"/>
          <p:cNvSpPr txBox="1"/>
          <p:nvPr/>
        </p:nvSpPr>
        <p:spPr>
          <a:xfrm>
            <a:off x="419070" y="6219840"/>
            <a:ext cx="1431768" cy="123810"/>
          </a:xfrm>
          <a:prstGeom prst="rect">
            <a:avLst/>
          </a:prstGeom>
          <a:noFill/>
          <a:ln/>
        </p:spPr>
        <p:txBody>
          <a:bodyPr wrap="none" lIns="0" tIns="0" rIns="0" bIns="0" rtlCol="0" anchor="t"/>
          <a:lstStyle/>
          <a:p>
            <a:pPr algn="l" indent="0" marL="0">
              <a:lnSpc>
                <a:spcPts val="1000"/>
              </a:lnSpc>
              <a:buNone/>
            </a:pPr>
            <a:r>
              <a:rPr lang="en-US" sz="700" b="1" spc="150" kern="0" dirty="0">
                <a:solidFill>
                  <a:srgbClr val="8C6239"/>
                </a:solidFill>
                <a:latin typeface="+mn-lt" pitchFamily="34" charset="0"/>
              </a:rPr>
              <a:t>FIVE INDUSTRY GROUPS</a:t>
            </a:r>
            <a:endParaRPr lang="en-US" sz="700" dirty="0"/>
          </a:p>
        </p:txBody>
      </p:sp>
      <p:sp>
        <p:nvSpPr>
          <p:cNvPr id="50" name="Shape e41"/>
          <p:cNvSpPr/>
          <p:nvPr/>
        </p:nvSpPr>
        <p:spPr>
          <a:xfrm>
            <a:off x="419070" y="6429421"/>
            <a:ext cx="1752630" cy="504840"/>
          </a:xfrm>
          <a:prstGeom prst="rect">
            <a:avLst/>
          </a:prstGeom>
          <a:solidFill>
            <a:srgbClr val="FAF7F3"/>
          </a:solidFill>
          <a:ln/>
        </p:spPr>
        <p:txBody>
          <a:bodyPr/>
          <a:p/>
        </p:txBody>
      </p:sp>
      <p:sp>
        <p:nvSpPr>
          <p:cNvPr id="51" name="Shape e41s0"/>
          <p:cNvSpPr/>
          <p:nvPr/>
        </p:nvSpPr>
        <p:spPr>
          <a:xfrm>
            <a:off x="419070" y="6429421"/>
            <a:ext cx="1752630" cy="28621"/>
          </a:xfrm>
          <a:prstGeom prst="rect">
            <a:avLst/>
          </a:prstGeom>
          <a:solidFill>
            <a:srgbClr val="B68757"/>
          </a:solidFill>
          <a:ln/>
        </p:spPr>
        <p:txBody>
          <a:bodyPr/>
          <a:p/>
        </p:txBody>
      </p:sp>
      <p:pic>
        <p:nvPicPr>
          <p:cNvPr id="52" name="Icon e42">    </p:cNvPr>
          <p:cNvPicPr>
            <a:picLocks noChangeAspect="1"/>
          </p:cNvPicPr>
          <p:nvPr/>
        </p:nvPicPr>
        <p:blipFill>
          <a:blip r:embed="rId7"/>
          <a:stretch>
            <a:fillRect/>
          </a:stretch>
        </p:blipFill>
        <p:spPr>
          <a:xfrm>
            <a:off x="533370" y="6591270"/>
            <a:ext cx="209580" cy="209580"/>
          </a:xfrm>
          <a:prstGeom prst="rect">
            <a:avLst/>
          </a:prstGeom>
        </p:spPr>
      </p:pic>
      <p:sp>
        <p:nvSpPr>
          <p:cNvPr id="53" name="Text e43"/>
          <p:cNvSpPr txBox="1"/>
          <p:nvPr/>
        </p:nvSpPr>
        <p:spPr>
          <a:xfrm>
            <a:off x="838230" y="6629400"/>
            <a:ext cx="733989" cy="128565"/>
          </a:xfrm>
          <a:prstGeom prst="rect">
            <a:avLst/>
          </a:prstGeom>
          <a:noFill/>
          <a:ln/>
        </p:spPr>
        <p:txBody>
          <a:bodyPr wrap="none" lIns="0" tIns="0" rIns="0" bIns="0" rtlCol="0" anchor="t"/>
          <a:lstStyle/>
          <a:p>
            <a:pPr algn="l" indent="0" marL="0">
              <a:lnSpc>
                <a:spcPts val="1000"/>
              </a:lnSpc>
              <a:buNone/>
            </a:pPr>
            <a:r>
              <a:rPr lang="en-US" sz="750" b="1" spc="100" kern="0" dirty="0">
                <a:solidFill>
                  <a:srgbClr val="1B1A1A"/>
                </a:solidFill>
                <a:latin typeface="+mn-lt" pitchFamily="34" charset="0"/>
              </a:rPr>
              <a:t>INDUSTRIAL</a:t>
            </a:r>
            <a:endParaRPr lang="en-US" sz="750" dirty="0"/>
          </a:p>
        </p:txBody>
      </p:sp>
      <p:sp>
        <p:nvSpPr>
          <p:cNvPr id="54" name="Shape e44"/>
          <p:cNvSpPr/>
          <p:nvPr/>
        </p:nvSpPr>
        <p:spPr>
          <a:xfrm>
            <a:off x="2286000" y="6429421"/>
            <a:ext cx="1752630" cy="504840"/>
          </a:xfrm>
          <a:prstGeom prst="rect">
            <a:avLst/>
          </a:prstGeom>
          <a:solidFill>
            <a:srgbClr val="FAF7F3"/>
          </a:solidFill>
          <a:ln/>
        </p:spPr>
        <p:txBody>
          <a:bodyPr/>
          <a:p/>
        </p:txBody>
      </p:sp>
      <p:sp>
        <p:nvSpPr>
          <p:cNvPr id="55" name="Shape e44s0"/>
          <p:cNvSpPr/>
          <p:nvPr/>
        </p:nvSpPr>
        <p:spPr>
          <a:xfrm>
            <a:off x="2286000" y="6429421"/>
            <a:ext cx="1752630" cy="28621"/>
          </a:xfrm>
          <a:prstGeom prst="rect">
            <a:avLst/>
          </a:prstGeom>
          <a:solidFill>
            <a:srgbClr val="1B1A1A"/>
          </a:solidFill>
          <a:ln/>
        </p:spPr>
        <p:txBody>
          <a:bodyPr/>
          <a:p/>
        </p:txBody>
      </p:sp>
      <p:pic>
        <p:nvPicPr>
          <p:cNvPr id="56" name="Icon e45">    </p:cNvPr>
          <p:cNvPicPr>
            <a:picLocks noChangeAspect="1"/>
          </p:cNvPicPr>
          <p:nvPr/>
        </p:nvPicPr>
        <p:blipFill>
          <a:blip r:embed="rId8"/>
          <a:stretch>
            <a:fillRect/>
          </a:stretch>
        </p:blipFill>
        <p:spPr>
          <a:xfrm>
            <a:off x="2400300" y="6591270"/>
            <a:ext cx="209580" cy="209580"/>
          </a:xfrm>
          <a:prstGeom prst="rect">
            <a:avLst/>
          </a:prstGeom>
        </p:spPr>
      </p:pic>
      <p:sp>
        <p:nvSpPr>
          <p:cNvPr id="57" name="Text e46"/>
          <p:cNvSpPr txBox="1"/>
          <p:nvPr/>
        </p:nvSpPr>
        <p:spPr>
          <a:xfrm>
            <a:off x="2705070" y="6629400"/>
            <a:ext cx="1181405" cy="128565"/>
          </a:xfrm>
          <a:prstGeom prst="rect">
            <a:avLst/>
          </a:prstGeom>
          <a:noFill/>
          <a:ln/>
        </p:spPr>
        <p:txBody>
          <a:bodyPr wrap="none" lIns="0" tIns="0" rIns="0" bIns="0" rtlCol="0" anchor="t"/>
          <a:lstStyle/>
          <a:p>
            <a:pPr algn="l" indent="0" marL="0">
              <a:lnSpc>
                <a:spcPts val="1000"/>
              </a:lnSpc>
              <a:buNone/>
            </a:pPr>
            <a:r>
              <a:rPr lang="en-US" sz="750" b="1" spc="100" kern="0" dirty="0">
                <a:solidFill>
                  <a:srgbClr val="1B1A1A"/>
                </a:solidFill>
                <a:latin typeface="+mn-lt" pitchFamily="34" charset="0"/>
              </a:rPr>
              <a:t>BUSINESS SERVICES</a:t>
            </a:r>
            <a:endParaRPr lang="en-US" sz="750" dirty="0"/>
          </a:p>
        </p:txBody>
      </p:sp>
      <p:sp>
        <p:nvSpPr>
          <p:cNvPr id="58" name="Shape e47"/>
          <p:cNvSpPr/>
          <p:nvPr/>
        </p:nvSpPr>
        <p:spPr>
          <a:xfrm>
            <a:off x="4152930" y="6429421"/>
            <a:ext cx="1752630" cy="504840"/>
          </a:xfrm>
          <a:prstGeom prst="rect">
            <a:avLst/>
          </a:prstGeom>
          <a:solidFill>
            <a:srgbClr val="FAF7F3"/>
          </a:solidFill>
          <a:ln/>
        </p:spPr>
        <p:txBody>
          <a:bodyPr/>
          <a:p/>
        </p:txBody>
      </p:sp>
      <p:sp>
        <p:nvSpPr>
          <p:cNvPr id="59" name="Shape e47s0"/>
          <p:cNvSpPr/>
          <p:nvPr/>
        </p:nvSpPr>
        <p:spPr>
          <a:xfrm>
            <a:off x="4152930" y="6429421"/>
            <a:ext cx="1752630" cy="28621"/>
          </a:xfrm>
          <a:prstGeom prst="rect">
            <a:avLst/>
          </a:prstGeom>
          <a:solidFill>
            <a:srgbClr val="B68757"/>
          </a:solidFill>
          <a:ln/>
        </p:spPr>
        <p:txBody>
          <a:bodyPr/>
          <a:p/>
        </p:txBody>
      </p:sp>
      <p:pic>
        <p:nvPicPr>
          <p:cNvPr id="60" name="Icon e48">    </p:cNvPr>
          <p:cNvPicPr>
            <a:picLocks noChangeAspect="1"/>
          </p:cNvPicPr>
          <p:nvPr/>
        </p:nvPicPr>
        <p:blipFill>
          <a:blip r:embed="rId9"/>
          <a:stretch>
            <a:fillRect/>
          </a:stretch>
        </p:blipFill>
        <p:spPr>
          <a:xfrm>
            <a:off x="4267230" y="6591270"/>
            <a:ext cx="209580" cy="209580"/>
          </a:xfrm>
          <a:prstGeom prst="rect">
            <a:avLst/>
          </a:prstGeom>
        </p:spPr>
      </p:pic>
      <p:sp>
        <p:nvSpPr>
          <p:cNvPr id="61" name="Text e49"/>
          <p:cNvSpPr txBox="1"/>
          <p:nvPr/>
        </p:nvSpPr>
        <p:spPr>
          <a:xfrm>
            <a:off x="4572000" y="6629400"/>
            <a:ext cx="680314" cy="128565"/>
          </a:xfrm>
          <a:prstGeom prst="rect">
            <a:avLst/>
          </a:prstGeom>
          <a:noFill/>
          <a:ln/>
        </p:spPr>
        <p:txBody>
          <a:bodyPr wrap="none" lIns="0" tIns="0" rIns="0" bIns="0" rtlCol="0" anchor="t"/>
          <a:lstStyle/>
          <a:p>
            <a:pPr algn="l" indent="0" marL="0">
              <a:lnSpc>
                <a:spcPts val="1000"/>
              </a:lnSpc>
              <a:buNone/>
            </a:pPr>
            <a:r>
              <a:rPr lang="en-US" sz="750" b="1" spc="100" kern="0" dirty="0">
                <a:solidFill>
                  <a:srgbClr val="1B1A1A"/>
                </a:solidFill>
                <a:latin typeface="+mn-lt" pitchFamily="34" charset="0"/>
              </a:rPr>
              <a:t>CONSUMER</a:t>
            </a:r>
            <a:endParaRPr lang="en-US" sz="750" dirty="0"/>
          </a:p>
        </p:txBody>
      </p:sp>
      <p:sp>
        <p:nvSpPr>
          <p:cNvPr id="62" name="Shape e50"/>
          <p:cNvSpPr/>
          <p:nvPr/>
        </p:nvSpPr>
        <p:spPr>
          <a:xfrm>
            <a:off x="6019770" y="6429421"/>
            <a:ext cx="1752630" cy="504840"/>
          </a:xfrm>
          <a:prstGeom prst="rect">
            <a:avLst/>
          </a:prstGeom>
          <a:solidFill>
            <a:srgbClr val="FAF7F3"/>
          </a:solidFill>
          <a:ln/>
        </p:spPr>
        <p:txBody>
          <a:bodyPr/>
          <a:p/>
        </p:txBody>
      </p:sp>
      <p:sp>
        <p:nvSpPr>
          <p:cNvPr id="63" name="Shape e50s0"/>
          <p:cNvSpPr/>
          <p:nvPr/>
        </p:nvSpPr>
        <p:spPr>
          <a:xfrm>
            <a:off x="6019770" y="6429421"/>
            <a:ext cx="1752630" cy="28621"/>
          </a:xfrm>
          <a:prstGeom prst="rect">
            <a:avLst/>
          </a:prstGeom>
          <a:solidFill>
            <a:srgbClr val="B68757"/>
          </a:solidFill>
          <a:ln/>
        </p:spPr>
        <p:txBody>
          <a:bodyPr/>
          <a:p/>
        </p:txBody>
      </p:sp>
      <p:pic>
        <p:nvPicPr>
          <p:cNvPr id="64" name="Icon e51">    </p:cNvPr>
          <p:cNvPicPr>
            <a:picLocks noChangeAspect="1"/>
          </p:cNvPicPr>
          <p:nvPr/>
        </p:nvPicPr>
        <p:blipFill>
          <a:blip r:embed="rId10"/>
          <a:stretch>
            <a:fillRect/>
          </a:stretch>
        </p:blipFill>
        <p:spPr>
          <a:xfrm>
            <a:off x="6134070" y="6591270"/>
            <a:ext cx="209580" cy="209580"/>
          </a:xfrm>
          <a:prstGeom prst="rect">
            <a:avLst/>
          </a:prstGeom>
        </p:spPr>
      </p:pic>
      <p:sp>
        <p:nvSpPr>
          <p:cNvPr id="65" name="Text e52"/>
          <p:cNvSpPr txBox="1"/>
          <p:nvPr/>
        </p:nvSpPr>
        <p:spPr>
          <a:xfrm>
            <a:off x="6438930" y="6629400"/>
            <a:ext cx="777514" cy="128565"/>
          </a:xfrm>
          <a:prstGeom prst="rect">
            <a:avLst/>
          </a:prstGeom>
          <a:noFill/>
          <a:ln/>
        </p:spPr>
        <p:txBody>
          <a:bodyPr wrap="none" lIns="0" tIns="0" rIns="0" bIns="0" rtlCol="0" anchor="t"/>
          <a:lstStyle/>
          <a:p>
            <a:pPr algn="l" indent="0" marL="0">
              <a:lnSpc>
                <a:spcPts val="1000"/>
              </a:lnSpc>
              <a:buNone/>
            </a:pPr>
            <a:r>
              <a:rPr lang="en-US" sz="750" b="1" spc="100" kern="0" dirty="0">
                <a:solidFill>
                  <a:srgbClr val="1B1A1A"/>
                </a:solidFill>
                <a:latin typeface="+mn-lt" pitchFamily="34" charset="0"/>
              </a:rPr>
              <a:t>HEALTHCARE</a:t>
            </a:r>
            <a:endParaRPr lang="en-US" sz="750" dirty="0"/>
          </a:p>
        </p:txBody>
      </p:sp>
      <p:sp>
        <p:nvSpPr>
          <p:cNvPr id="66" name="Shape e53"/>
          <p:cNvSpPr/>
          <p:nvPr/>
        </p:nvSpPr>
        <p:spPr>
          <a:xfrm>
            <a:off x="7886700" y="6429421"/>
            <a:ext cx="1752630" cy="504840"/>
          </a:xfrm>
          <a:prstGeom prst="rect">
            <a:avLst/>
          </a:prstGeom>
          <a:solidFill>
            <a:srgbClr val="FAF7F3"/>
          </a:solidFill>
          <a:ln/>
        </p:spPr>
        <p:txBody>
          <a:bodyPr/>
          <a:p/>
        </p:txBody>
      </p:sp>
      <p:sp>
        <p:nvSpPr>
          <p:cNvPr id="67" name="Shape e53s0"/>
          <p:cNvSpPr/>
          <p:nvPr/>
        </p:nvSpPr>
        <p:spPr>
          <a:xfrm>
            <a:off x="7886700" y="6429421"/>
            <a:ext cx="1752630" cy="28621"/>
          </a:xfrm>
          <a:prstGeom prst="rect">
            <a:avLst/>
          </a:prstGeom>
          <a:solidFill>
            <a:srgbClr val="B68757"/>
          </a:solidFill>
          <a:ln/>
        </p:spPr>
        <p:txBody>
          <a:bodyPr/>
          <a:p/>
        </p:txBody>
      </p:sp>
      <p:pic>
        <p:nvPicPr>
          <p:cNvPr id="68" name="Icon e54">    </p:cNvPr>
          <p:cNvPicPr>
            <a:picLocks noChangeAspect="1"/>
          </p:cNvPicPr>
          <p:nvPr/>
        </p:nvPicPr>
        <p:blipFill>
          <a:blip r:embed="rId11"/>
          <a:stretch>
            <a:fillRect/>
          </a:stretch>
        </p:blipFill>
        <p:spPr>
          <a:xfrm>
            <a:off x="8001000" y="6591270"/>
            <a:ext cx="209580" cy="209580"/>
          </a:xfrm>
          <a:prstGeom prst="rect">
            <a:avLst/>
          </a:prstGeom>
        </p:spPr>
      </p:pic>
      <p:sp>
        <p:nvSpPr>
          <p:cNvPr id="69" name="Text e55"/>
          <p:cNvSpPr txBox="1"/>
          <p:nvPr/>
        </p:nvSpPr>
        <p:spPr>
          <a:xfrm>
            <a:off x="8305770" y="6629400"/>
            <a:ext cx="811256" cy="128565"/>
          </a:xfrm>
          <a:prstGeom prst="rect">
            <a:avLst/>
          </a:prstGeom>
          <a:noFill/>
          <a:ln/>
        </p:spPr>
        <p:txBody>
          <a:bodyPr wrap="none" lIns="0" tIns="0" rIns="0" bIns="0" rtlCol="0" anchor="t"/>
          <a:lstStyle/>
          <a:p>
            <a:pPr algn="l" indent="0" marL="0">
              <a:lnSpc>
                <a:spcPts val="1000"/>
              </a:lnSpc>
              <a:buNone/>
            </a:pPr>
            <a:r>
              <a:rPr lang="en-US" sz="750" b="1" spc="100" kern="0" dirty="0">
                <a:solidFill>
                  <a:srgbClr val="1B1A1A"/>
                </a:solidFill>
                <a:latin typeface="+mn-lt" pitchFamily="34" charset="0"/>
              </a:rPr>
              <a:t>TECHNOLOGY</a:t>
            </a:r>
            <a:endParaRPr lang="en-US" sz="750" dirty="0"/>
          </a:p>
        </p:txBody>
      </p:sp>
      <p:sp>
        <p:nvSpPr>
          <p:cNvPr id="70" name="Shape e56"/>
          <p:cNvSpPr/>
          <p:nvPr/>
        </p:nvSpPr>
        <p:spPr>
          <a:xfrm>
            <a:off x="419070" y="7029450"/>
            <a:ext cx="9220170" cy="9510"/>
          </a:xfrm>
          <a:prstGeom prst="ellipse">
            <a:avLst/>
          </a:prstGeom>
          <a:solidFill>
            <a:srgbClr val="E3DCD3"/>
          </a:solidFill>
          <a:ln/>
        </p:spPr>
        <p:txBody>
          <a:bodyPr/>
          <a:p/>
        </p:txBody>
      </p:sp>
      <p:pic>
        <p:nvPicPr>
          <p:cNvPr id="71" name="Picture e57" descr="Benchmark International">    </p:cNvPr>
          <p:cNvPicPr>
            <a:picLocks noChangeAspect="1"/>
          </p:cNvPicPr>
          <p:nvPr/>
        </p:nvPicPr>
        <p:blipFill>
          <a:blip r:embed="rId12"/>
          <a:stretch>
            <a:fillRect/>
          </a:stretch>
        </p:blipFill>
        <p:spPr>
          <a:xfrm>
            <a:off x="419070" y="7143750"/>
            <a:ext cx="914400" cy="171450"/>
          </a:xfrm>
          <a:prstGeom prst="rect">
            <a:avLst/>
          </a:prstGeom>
        </p:spPr>
      </p:pic>
      <p:sp>
        <p:nvSpPr>
          <p:cNvPr id="72" name="Text e58"/>
          <p:cNvSpPr txBox="1"/>
          <p:nvPr/>
        </p:nvSpPr>
        <p:spPr>
          <a:xfrm>
            <a:off x="1543050" y="7098487"/>
            <a:ext cx="6344107" cy="119055"/>
          </a:xfrm>
          <a:prstGeom prst="rect">
            <a:avLst/>
          </a:prstGeom>
          <a:noFill/>
          <a:ln/>
        </p:spPr>
        <p:txBody>
          <a:bodyPr wrap="none" lIns="0" tIns="0" rIns="0" bIns="0" rtlCol="0" anchor="t"/>
          <a:lstStyle/>
          <a:p>
            <a:pPr algn="l" indent="0" marL="0">
              <a:lnSpc>
                <a:spcPts val="950"/>
              </a:lnSpc>
              <a:buNone/>
            </a:pPr>
            <a:r>
              <a:rPr lang="en-US" sz="700" dirty="0">
                <a:solidFill>
                  <a:srgbClr val="6F6A66"/>
                </a:solidFill>
                <a:latin typeface="+mn-lt" pitchFamily="34" charset="0"/>
              </a:rPr>
              <a:t>Ranking based on PitchBook's Q2 2026 Global League Tables, as published at </a:t>
            </a:r>
            <a:pPr algn="l" indent="0" marL="0">
              <a:lnSpc>
                <a:spcPts val="950"/>
              </a:lnSpc>
              <a:buNone/>
            </a:pPr>
            <a:r>
              <a:rPr lang="en-US" sz="700" u="sng" dirty="0">
                <a:solidFill>
                  <a:srgbClr val="8C6239"/>
                </a:solidFill>
                <a:latin typeface="+mn-lt" pitchFamily="34" charset="0"/>
                <a:hlinkClick r:id="rId13" invalidUrl="" action="" tgtFrame="" tooltip="" history="1" highlightClick="0" endSnd="0">
                  <a:extLst>
                    <a:ext uri="{A12FA001-AC4F-418D-AE19-62706E023703}">
                      <ahyp:hlinkClr xmlns:ahyp="http://schemas.microsoft.com/office/drawing/2018/hyperlinkcolor" val="tx"/>
                    </a:ext>
                  </a:extLst>
                </a:hlinkClick>
              </a:rPr>
              <a:t>benchmarkintl.com</a:t>
            </a:r>
            <a:pPr algn="l" indent="0" marL="0">
              <a:lnSpc>
                <a:spcPts val="950"/>
              </a:lnSpc>
              <a:buNone/>
            </a:pPr>
            <a:r>
              <a:rPr lang="en-US" sz="700" dirty="0">
                <a:solidFill>
                  <a:srgbClr val="6F6A66"/>
                </a:solidFill>
                <a:latin typeface="+mn-lt" pitchFamily="34" charset="0"/>
              </a:rPr>
              <a:t>. Awards as shown on the Middle Market site.</a:t>
            </a:r>
            <a:endParaRPr lang="en-US" sz="700" dirty="0"/>
          </a:p>
        </p:txBody>
      </p:sp>
      <p:sp>
        <p:nvSpPr>
          <p:cNvPr id="73" name="Text e59"/>
          <p:cNvSpPr txBox="1"/>
          <p:nvPr/>
        </p:nvSpPr>
        <p:spPr>
          <a:xfrm>
            <a:off x="9514606" y="7162770"/>
            <a:ext cx="12381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2615916"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Important Disclosures</a:t>
            </a:r>
            <a:endParaRPr lang="en-US" sz="2050" dirty="0"/>
          </a:p>
        </p:txBody>
      </p:sp>
      <p:sp>
        <p:nvSpPr>
          <p:cNvPr id="6" name="Text e5"/>
          <p:cNvSpPr txBox="1"/>
          <p:nvPr/>
        </p:nvSpPr>
        <p:spPr>
          <a:xfrm>
            <a:off x="419070" y="883402"/>
            <a:ext cx="2738994"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Please read these notes together with the brief.</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Text columns"/>
          <p:cNvSpPr txBox="1"/>
          <p:nvPr/>
        </p:nvSpPr>
        <p:spPr>
          <a:xfrm>
            <a:off x="419070" y="1238280"/>
            <a:ext cx="9220170" cy="3790920"/>
          </a:xfrm>
          <a:prstGeom prst="rect">
            <a:avLst/>
          </a:prstGeom>
          <a:noFill/>
          <a:ln/>
        </p:spPr>
        <p:txBody>
          <a:bodyPr numCol="3" spcCol="285750" wrap="square" lIns="0" tIns="0" rIns="0" bIns="0" rtlCol="0" anchor="t"/>
          <a:lstStyle/>
          <a:p>
            <a:pPr algn="l" indent="0" marL="0">
              <a:lnSpc>
                <a:spcPts val="1200"/>
              </a:lnSpc>
              <a:spcAft>
                <a:spcPts val="750"/>
              </a:spcAft>
              <a:buNone/>
            </a:pPr>
            <a:r>
              <a:rPr lang="en-US" sz="800" dirty="0">
                <a:solidFill>
                  <a:srgbClr val="333231"/>
                </a:solidFill>
                <a:latin typeface="+mn-lt" pitchFamily="34" charset="0"/>
              </a:rPr>
              <a:t>“Benchmark International” refers to the Benchmark International group of companies, which provide merger and acquisition advisory services to business owners through offices around the world. The Middle Market team is part of Benchmark International. Any reference to Benchmark International in this material includes its affiliated companies, as the context requires.</a:t>
            </a:r>
            <a:endParaRPr lang="en-US" sz="800" dirty="0"/>
          </a:p>
          <a:p>
            <a:pPr algn="l" indent="0" marL="0">
              <a:lnSpc>
                <a:spcPts val="1200"/>
              </a:lnSpc>
              <a:spcAft>
                <a:spcPts val="750"/>
              </a:spcAft>
              <a:buNone/>
            </a:pPr>
            <a:r>
              <a:rPr lang="en-US" sz="800" dirty="0">
                <a:solidFill>
                  <a:srgbClr val="333231"/>
                </a:solidFill>
                <a:latin typeface="+mn-lt" pitchFamily="34" charset="0"/>
              </a:rPr>
              <a:t>Benchmark International and its affiliates may have had, may currently have, or may in the future have business relationships with companies named in this material, with potential parties to a transaction and their related persons, or with their competitors, customers or suppliers. When Benchmark International is engaged to provide advisory services in a transaction, it acts only for its client in connection with that transaction.</a:t>
            </a:r>
            <a:endParaRPr lang="en-US" sz="800" dirty="0"/>
          </a:p>
          <a:p>
            <a:pPr algn="l" indent="0" marL="0">
              <a:lnSpc>
                <a:spcPts val="1200"/>
              </a:lnSpc>
              <a:spcAft>
                <a:spcPts val="750"/>
              </a:spcAft>
              <a:buNone/>
            </a:pPr>
            <a:r>
              <a:rPr lang="en-US" sz="800" dirty="0">
                <a:solidFill>
                  <a:srgbClr val="333231"/>
                </a:solidFill>
                <a:latin typeface="+mn-lt" pitchFamily="34" charset="0"/>
              </a:rPr>
              <a:t>The distribution of this material in certain jurisdictions may be restricted by law, and accordingly, recipients of this material represent that they are able to receive it without contravention of any registration requirement or other legal restrictions in the jurisdictions in which they reside or in which they conduct business.</a:t>
            </a:r>
            <a:endParaRPr lang="en-US" sz="800" dirty="0"/>
          </a:p>
          <a:p>
            <a:pPr algn="l" indent="0" marL="0">
              <a:lnSpc>
                <a:spcPts val="1200"/>
              </a:lnSpc>
              <a:spcAft>
                <a:spcPts val="750"/>
              </a:spcAft>
              <a:buNone/>
            </a:pPr>
            <a:r>
              <a:rPr lang="en-US" sz="800" dirty="0">
                <a:solidFill>
                  <a:srgbClr val="333231"/>
                </a:solidFill>
                <a:latin typeface="+mn-lt" pitchFamily="34" charset="0"/>
              </a:rPr>
              <a:t>This material does not contain all the information needed to assess any transaction. You must conduct your own investigations and analyses. Benchmark International does not provide accounting, tax, investment, regulatory or legal advice to anyone. This material is for discussion and informational purposes only and is not a recommendation, offer or solicitation for the purchase or sale of any security or an invitation or inducement to engage in any transaction or investment activity. Benchmark International obtained the information in this material from public filings, company announcements, published reports and other third-party sources, together with its own transaction experience. Benchmark International has not independently verified such information, the information is current only as of the date stated, and no obligation is undertaken to provide updated or additional information. Transaction values, multiples and other figures are as publicly reported, and the price of any private company depends on that business. No representation or warranty, expressed or implied, is made in relation to the fairness, accuracy, correctness or completeness of the information, opinions or conclusions expressed herein. All forward-looking statements herein involve assumptions and elements of subjective judgment and analysis and are not facts. Past transactions are not indicative of future results, and nothing in this material guarantees future results or performance.</a:t>
            </a:r>
            <a:endParaRPr lang="en-US" sz="800" dirty="0"/>
          </a:p>
          <a:p>
            <a:pPr algn="l" indent="0" marL="0">
              <a:lnSpc>
                <a:spcPts val="1200"/>
              </a:lnSpc>
              <a:spcAft>
                <a:spcPts val="750"/>
              </a:spcAft>
              <a:buNone/>
            </a:pPr>
            <a:r>
              <a:rPr lang="en-US" sz="800" dirty="0">
                <a:solidFill>
                  <a:srgbClr val="333231"/>
                </a:solidFill>
                <a:latin typeface="+mn-lt" pitchFamily="34" charset="0"/>
              </a:rPr>
              <a:t>Company names, logos and trademarks referenced in this material are the property of their respective owners and are used for identification only. Their use does not imply any affiliation with or endorsement by those owners.</a:t>
            </a:r>
            <a:endParaRPr lang="en-US" sz="800" dirty="0"/>
          </a:p>
          <a:p>
            <a:pPr algn="l" indent="0" marL="0">
              <a:lnSpc>
                <a:spcPts val="1200"/>
              </a:lnSpc>
              <a:spcAft>
                <a:spcPts val="750"/>
              </a:spcAft>
              <a:buNone/>
            </a:pPr>
            <a:r>
              <a:rPr lang="en-US" sz="800" dirty="0">
                <a:solidFill>
                  <a:srgbClr val="333231"/>
                </a:solidFill>
                <a:latin typeface="+mn-lt" pitchFamily="34" charset="0"/>
              </a:rPr>
              <a:t>This material is only being distributed to, and only made available to, and directed at: (a) persons who are outside the United Kingdom; (b) persons in the United Kingdom who have professional experience in matters relating to investments falling within Article 19(5) of the UK Financial Services and Markets Act 2000 (Financial Promotion) Order 2005, as amended (the “Order”); (c) high net worth entities and other persons to whom it may otherwise lawfully be communicated falling within Article 49(2)(a) to (d) of the Order; or (d) any other person to whom this material may otherwise lawfully be communicated or caused to be communicated (all such persons in (b) to (d) together being referred to as “Relevant Persons”). This material must not be acted on or relied on by persons in the United Kingdom who are not Relevant Persons. In the United Kingdom, any investment or investment activity to which this material relates is only available to, and will be engaged with, Relevant Persons.</a:t>
            </a:r>
            <a:endParaRPr lang="en-US" sz="800" dirty="0"/>
          </a:p>
        </p:txBody>
      </p:sp>
      <p:sp>
        <p:nvSpPr>
          <p:cNvPr id="9" name="Shape e16s0"/>
          <p:cNvSpPr/>
          <p:nvPr/>
        </p:nvSpPr>
        <p:spPr>
          <a:xfrm>
            <a:off x="419070" y="6619890"/>
            <a:ext cx="9220170" cy="9510"/>
          </a:xfrm>
          <a:prstGeom prst="rect">
            <a:avLst/>
          </a:prstGeom>
          <a:solidFill>
            <a:srgbClr val="E3DCD3"/>
          </a:solidFill>
          <a:ln/>
        </p:spPr>
        <p:txBody>
          <a:bodyPr/>
          <a:p/>
        </p:txBody>
      </p:sp>
      <p:sp>
        <p:nvSpPr>
          <p:cNvPr id="10" name="Text e17"/>
          <p:cNvSpPr txBox="1"/>
          <p:nvPr/>
        </p:nvSpPr>
        <p:spPr>
          <a:xfrm>
            <a:off x="419070" y="6743700"/>
            <a:ext cx="2069562" cy="190470"/>
          </a:xfrm>
          <a:prstGeom prst="rect">
            <a:avLst/>
          </a:prstGeom>
          <a:noFill/>
          <a:ln/>
        </p:spPr>
        <p:txBody>
          <a:bodyPr wrap="none" lIns="0" tIns="0" rIns="0" bIns="0" rtlCol="0" anchor="t"/>
          <a:lstStyle/>
          <a:p>
            <a:pPr algn="l" indent="0" marL="0">
              <a:lnSpc>
                <a:spcPts val="1500"/>
              </a:lnSpc>
              <a:buNone/>
            </a:pPr>
            <a:r>
              <a:rPr lang="en-US" sz="1050" i="1" dirty="0">
                <a:solidFill>
                  <a:srgbClr val="1B1A1A"/>
                </a:solidFill>
                <a:latin typeface="+mj-lt" pitchFamily="34" charset="0"/>
              </a:rPr>
              <a:t>Information as of October 7, 2026.</a:t>
            </a:r>
            <a:endParaRPr lang="en-US" sz="1050" dirty="0"/>
          </a:p>
        </p:txBody>
      </p:sp>
      <p:sp>
        <p:nvSpPr>
          <p:cNvPr id="11" name="Text e18"/>
          <p:cNvSpPr txBox="1"/>
          <p:nvPr/>
        </p:nvSpPr>
        <p:spPr>
          <a:xfrm>
            <a:off x="3771717" y="6753210"/>
            <a:ext cx="5924672" cy="152430"/>
          </a:xfrm>
          <a:prstGeom prst="rect">
            <a:avLst/>
          </a:prstGeom>
          <a:noFill/>
          <a:ln/>
        </p:spPr>
        <p:txBody>
          <a:bodyPr wrap="none" lIns="0" tIns="0" rIns="0" bIns="0" rtlCol="0" anchor="t"/>
          <a:lstStyle/>
          <a:p>
            <a:pPr algn="l" indent="0" marL="0">
              <a:lnSpc>
                <a:spcPts val="1200"/>
              </a:lnSpc>
              <a:buNone/>
            </a:pPr>
            <a:r>
              <a:rPr lang="en-US" sz="800" dirty="0">
                <a:solidFill>
                  <a:srgbClr val="6F6A66"/>
                </a:solidFill>
                <a:latin typeface="+mn-lt" pitchFamily="34" charset="0"/>
              </a:rPr>
              <a:t>Benchmark International | 4030 West Boy Scout Blvd., Suite 500, Tampa, FL 33607 | +1 813 898 2350 | </a:t>
            </a:r>
            <a:pPr algn="l" indent="0" marL="0">
              <a:lnSpc>
                <a:spcPts val="1200"/>
              </a:lnSpc>
              <a:buNone/>
            </a:pPr>
            <a:r>
              <a:rPr lang="en-US" sz="800" u="sng" dirty="0">
                <a:solidFill>
                  <a:srgbClr val="8C6239"/>
                </a:solidFill>
                <a:latin typeface="+mn-lt" pitchFamily="34" charset="0"/>
                <a:hlinkClick r:id="rId1" invalidUrl="" action="" tgtFrame="" tooltip="" history="1" highlightClick="0" endSnd="0">
                  <a:extLst>
                    <a:ext uri="{A12FA001-AC4F-418D-AE19-62706E023703}">
                      <ahyp:hlinkClr xmlns:ahyp="http://schemas.microsoft.com/office/drawing/2018/hyperlinkcolor" val="tx"/>
                    </a:ext>
                  </a:extLst>
                </a:hlinkClick>
              </a:rPr>
              <a:t>benchmarkintl.com</a:t>
            </a:r>
            <a:endParaRPr lang="en-US" sz="800" dirty="0"/>
          </a:p>
        </p:txBody>
      </p:sp>
      <p:sp>
        <p:nvSpPr>
          <p:cNvPr id="12" name="Shape e19"/>
          <p:cNvSpPr/>
          <p:nvPr/>
        </p:nvSpPr>
        <p:spPr>
          <a:xfrm>
            <a:off x="419070" y="7029450"/>
            <a:ext cx="9220170" cy="9510"/>
          </a:xfrm>
          <a:prstGeom prst="ellipse">
            <a:avLst/>
          </a:prstGeom>
          <a:solidFill>
            <a:srgbClr val="E3DCD3"/>
          </a:solidFill>
          <a:ln/>
        </p:spPr>
        <p:txBody>
          <a:bodyPr/>
          <a:p/>
        </p:txBody>
      </p:sp>
      <p:pic>
        <p:nvPicPr>
          <p:cNvPr id="13" name="Picture e20" descr="Benchmark International">    </p:cNvPr>
          <p:cNvPicPr>
            <a:picLocks noChangeAspect="1"/>
          </p:cNvPicPr>
          <p:nvPr/>
        </p:nvPicPr>
        <p:blipFill>
          <a:blip r:embed="rId2"/>
          <a:stretch>
            <a:fillRect/>
          </a:stretch>
        </p:blipFill>
        <p:spPr>
          <a:xfrm>
            <a:off x="419070" y="7143750"/>
            <a:ext cx="914400" cy="171450"/>
          </a:xfrm>
          <a:prstGeom prst="rect">
            <a:avLst/>
          </a:prstGeom>
        </p:spPr>
      </p:pic>
      <p:sp>
        <p:nvSpPr>
          <p:cNvPr id="14" name="Text e22"/>
          <p:cNvSpPr txBox="1"/>
          <p:nvPr/>
        </p:nvSpPr>
        <p:spPr>
          <a:xfrm>
            <a:off x="9494032" y="7162770"/>
            <a:ext cx="142921"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e1"/>
          <p:cNvSpPr/>
          <p:nvPr/>
        </p:nvSpPr>
        <p:spPr>
          <a:xfrm>
            <a:off x="0" y="0"/>
            <a:ext cx="57150" cy="7772400"/>
          </a:xfrm>
          <a:prstGeom prst="rect">
            <a:avLst/>
          </a:prstGeom>
          <a:solidFill>
            <a:srgbClr val="B68757"/>
          </a:solidFill>
          <a:ln/>
        </p:spPr>
        <p:txBody>
          <a:bodyPr/>
          <a:p/>
        </p:txBody>
      </p:sp>
      <p:sp>
        <p:nvSpPr>
          <p:cNvPr id="3" name="Text e2"/>
          <p:cNvSpPr txBox="1"/>
          <p:nvPr/>
        </p:nvSpPr>
        <p:spPr>
          <a:xfrm>
            <a:off x="419070" y="376276"/>
            <a:ext cx="3192628" cy="133320"/>
          </a:xfrm>
          <a:prstGeom prst="rect">
            <a:avLst/>
          </a:prstGeom>
          <a:noFill/>
          <a:ln/>
        </p:spPr>
        <p:txBody>
          <a:bodyPr wrap="none" lIns="0" tIns="0" rIns="0" bIns="0" rtlCol="0" anchor="t"/>
          <a:lstStyle/>
          <a:p>
            <a:pPr algn="l" indent="0" marL="0">
              <a:lnSpc>
                <a:spcPts val="1050"/>
              </a:lnSpc>
              <a:buNone/>
            </a:pPr>
            <a:r>
              <a:rPr lang="en-US" sz="700" b="1" spc="200" kern="0" dirty="0">
                <a:solidFill>
                  <a:srgbClr val="8C6239"/>
                </a:solidFill>
                <a:latin typeface="+mn-lt" pitchFamily="34" charset="0"/>
              </a:rPr>
              <a:t>BUSINESS SERVICES | QUARTERLY INDUSTRY REPORT</a:t>
            </a:r>
            <a:endParaRPr lang="en-US" sz="700" dirty="0"/>
          </a:p>
        </p:txBody>
      </p:sp>
      <p:sp>
        <p:nvSpPr>
          <p:cNvPr id="4" name="Text e3"/>
          <p:cNvSpPr txBox="1"/>
          <p:nvPr/>
        </p:nvSpPr>
        <p:spPr>
          <a:xfrm>
            <a:off x="9112636" y="361920"/>
            <a:ext cx="523860" cy="171450"/>
          </a:xfrm>
          <a:prstGeom prst="rect">
            <a:avLst/>
          </a:prstGeom>
          <a:noFill/>
          <a:ln/>
        </p:spPr>
        <p:txBody>
          <a:bodyPr wrap="none" lIns="0" tIns="0" rIns="0" bIns="0" rtlCol="0" anchor="t"/>
          <a:lstStyle/>
          <a:p>
            <a:pPr algn="r" indent="0" marL="0">
              <a:lnSpc>
                <a:spcPts val="1350"/>
              </a:lnSpc>
              <a:buNone/>
            </a:pPr>
            <a:r>
              <a:rPr lang="en-US" sz="900" spc="100" kern="0" dirty="0">
                <a:solidFill>
                  <a:srgbClr val="6F6A66"/>
                </a:solidFill>
                <a:latin typeface="+mj-lt" pitchFamily="34" charset="0"/>
              </a:rPr>
              <a:t>Q4 2026</a:t>
            </a:r>
            <a:endParaRPr lang="en-US" sz="900" dirty="0"/>
          </a:p>
        </p:txBody>
      </p:sp>
      <p:sp>
        <p:nvSpPr>
          <p:cNvPr id="5" name="Text e4"/>
          <p:cNvSpPr txBox="1"/>
          <p:nvPr/>
        </p:nvSpPr>
        <p:spPr>
          <a:xfrm>
            <a:off x="419070" y="519105"/>
            <a:ext cx="948050" cy="323880"/>
          </a:xfrm>
          <a:prstGeom prst="rect">
            <a:avLst/>
          </a:prstGeom>
          <a:noFill/>
          <a:ln/>
        </p:spPr>
        <p:txBody>
          <a:bodyPr wrap="none" lIns="0" tIns="0" rIns="0" bIns="0" rtlCol="0" anchor="t"/>
          <a:lstStyle/>
          <a:p>
            <a:pPr algn="l" indent="0" marL="0">
              <a:lnSpc>
                <a:spcPts val="2550"/>
              </a:lnSpc>
              <a:buNone/>
            </a:pPr>
            <a:r>
              <a:rPr lang="en-US" sz="2050" b="1" dirty="0">
                <a:solidFill>
                  <a:srgbClr val="1B1A1A"/>
                </a:solidFill>
                <a:latin typeface="+mj-lt" pitchFamily="34" charset="0"/>
              </a:rPr>
              <a:t>Sources</a:t>
            </a:r>
            <a:endParaRPr lang="en-US" sz="2050" dirty="0"/>
          </a:p>
        </p:txBody>
      </p:sp>
      <p:sp>
        <p:nvSpPr>
          <p:cNvPr id="6" name="Text e5"/>
          <p:cNvSpPr txBox="1"/>
          <p:nvPr/>
        </p:nvSpPr>
        <p:spPr>
          <a:xfrm>
            <a:off x="419070" y="883402"/>
            <a:ext cx="4075481" cy="176205"/>
          </a:xfrm>
          <a:prstGeom prst="rect">
            <a:avLst/>
          </a:prstGeom>
          <a:noFill/>
          <a:ln/>
        </p:spPr>
        <p:txBody>
          <a:bodyPr wrap="none" lIns="0" tIns="0" rIns="0" bIns="0" rtlCol="0" anchor="t"/>
          <a:lstStyle/>
          <a:p>
            <a:pPr algn="l" indent="0" marL="0">
              <a:lnSpc>
                <a:spcPts val="1400"/>
              </a:lnSpc>
              <a:buNone/>
            </a:pPr>
            <a:r>
              <a:rPr lang="en-US" sz="950" dirty="0">
                <a:solidFill>
                  <a:srgbClr val="6F6A66"/>
                </a:solidFill>
                <a:latin typeface="+mn-lt" pitchFamily="34" charset="0"/>
              </a:rPr>
              <a:t>The sources linked on each page, listed by page with the link text used.</a:t>
            </a:r>
            <a:endParaRPr lang="en-US" sz="950" dirty="0"/>
          </a:p>
        </p:txBody>
      </p:sp>
      <p:sp>
        <p:nvSpPr>
          <p:cNvPr id="7" name="Shape e6"/>
          <p:cNvSpPr/>
          <p:nvPr/>
        </p:nvSpPr>
        <p:spPr>
          <a:xfrm>
            <a:off x="419070" y="1143000"/>
            <a:ext cx="9220170" cy="9510"/>
          </a:xfrm>
          <a:prstGeom prst="ellipse">
            <a:avLst/>
          </a:prstGeom>
          <a:solidFill>
            <a:srgbClr val="E3DCD3"/>
          </a:solidFill>
          <a:ln/>
        </p:spPr>
        <p:txBody>
          <a:bodyPr/>
          <a:p/>
        </p:txBody>
      </p:sp>
      <p:sp>
        <p:nvSpPr>
          <p:cNvPr id="8" name="Text columns"/>
          <p:cNvSpPr txBox="1"/>
          <p:nvPr/>
        </p:nvSpPr>
        <p:spPr>
          <a:xfrm>
            <a:off x="419070" y="1238280"/>
            <a:ext cx="9220170" cy="3267060"/>
          </a:xfrm>
          <a:prstGeom prst="rect">
            <a:avLst/>
          </a:prstGeom>
          <a:noFill/>
          <a:ln/>
        </p:spPr>
        <p:txBody>
          <a:bodyPr numCol="3" spcCol="285750" wrap="square" lIns="0" tIns="0" rIns="0" bIns="0" rtlCol="0" anchor="t"/>
          <a:lstStyle/>
          <a:p>
            <a:pPr algn="l" indent="0" marL="0">
              <a:lnSpc>
                <a:spcPts val="1000"/>
              </a:lnSpc>
              <a:spcAft>
                <a:spcPts val="300"/>
              </a:spcAft>
              <a:buNone/>
            </a:pPr>
            <a:r>
              <a:rPr lang="en-US" sz="600" b="1" spc="150" kern="0" dirty="0">
                <a:solidFill>
                  <a:srgbClr val="1B1A1A"/>
                </a:solidFill>
                <a:latin typeface="+mn-lt" pitchFamily="34" charset="0"/>
              </a:rPr>
              <a:t>KEY TRENDS IN BUSINESS SERVICES</a:t>
            </a:r>
            <a:endParaRPr lang="en-US" sz="600" dirty="0"/>
          </a:p>
          <a:p>
            <a:pPr algn="l" indent="0" marL="0">
              <a:lnSpc>
                <a:spcPts val="1150"/>
              </a:lnSpc>
              <a:buNone/>
            </a:pPr>
            <a:r>
              <a:rPr lang="en-US" sz="750" u="sng" dirty="0">
                <a:solidFill>
                  <a:srgbClr val="8C6239"/>
                </a:solidFill>
                <a:latin typeface="+mn-lt" pitchFamily="34" charset="0"/>
                <a:hlinkClick r:id="rId1" invalidUrl="" action="" tgtFrame="" tooltip="" history="1" highlightClick="0" endSnd="0">
                  <a:extLst>
                    <a:ext uri="{A12FA001-AC4F-418D-AE19-62706E023703}">
                      <ahyp:hlinkClr xmlns:ahyp="http://schemas.microsoft.com/office/drawing/2018/hyperlinkcolor" val="tx"/>
                    </a:ext>
                  </a:extLst>
                </a:hlinkClick>
              </a:rPr>
              <a:t>Pye-Barker</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 invalidUrl="" action="" tgtFrame="" tooltip="" history="1" highlightClick="0" endSnd="0">
                  <a:extLst>
                    <a:ext uri="{A12FA001-AC4F-418D-AE19-62706E023703}">
                      <ahyp:hlinkClr xmlns:ahyp="http://schemas.microsoft.com/office/drawing/2018/hyperlinkcolor" val="tx"/>
                    </a:ext>
                  </a:extLst>
                </a:hlinkClick>
              </a:rPr>
              <a:t>APi Group</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 invalidUrl="" action="" tgtFrame="" tooltip="" history="1" highlightClick="0" endSnd="0">
                  <a:extLst>
                    <a:ext uri="{A12FA001-AC4F-418D-AE19-62706E023703}">
                      <ahyp:hlinkClr xmlns:ahyp="http://schemas.microsoft.com/office/drawing/2018/hyperlinkcolor" val="tx"/>
                    </a:ext>
                  </a:extLst>
                </a:hlinkClick>
              </a:rPr>
              <a:t>Federal Reserve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 invalidUrl="" action="" tgtFrame="" tooltip="" history="1" highlightClick="0" endSnd="0">
                  <a:extLst>
                    <a:ext uri="{A12FA001-AC4F-418D-AE19-62706E023703}">
                      <ahyp:hlinkClr xmlns:ahyp="http://schemas.microsoft.com/office/drawing/2018/hyperlinkcolor" val="tx"/>
                    </a:ext>
                  </a:extLst>
                </a:hlinkClick>
              </a:rPr>
              <a:t>FRED series GS10</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5" invalidUrl="" action="" tgtFrame="" tooltip="" history="1" highlightClick="0" endSnd="0">
                  <a:extLst>
                    <a:ext uri="{A12FA001-AC4F-418D-AE19-62706E023703}">
                      <ahyp:hlinkClr xmlns:ahyp="http://schemas.microsoft.com/office/drawing/2018/hyperlinkcolor" val="tx"/>
                    </a:ext>
                  </a:extLst>
                </a:hlinkClick>
              </a:rPr>
              <a:t>GF Data via ACG</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6" invalidUrl="" action="" tgtFrame="" tooltip="" history="1" highlightClick="0" endSnd="0">
                  <a:extLst>
                    <a:ext uri="{A12FA001-AC4F-418D-AE19-62706E023703}">
                      <ahyp:hlinkClr xmlns:ahyp="http://schemas.microsoft.com/office/drawing/2018/hyperlinkcolor" val="tx"/>
                    </a:ext>
                  </a:extLst>
                </a:hlinkClick>
              </a:rPr>
              <a:t>ACEC</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 invalidUrl="" action="" tgtFrame="" tooltip="" history="1" highlightClick="0" endSnd="0">
                  <a:extLst>
                    <a:ext uri="{A12FA001-AC4F-418D-AE19-62706E023703}">
                      <ahyp:hlinkClr xmlns:ahyp="http://schemas.microsoft.com/office/drawing/2018/hyperlinkcolor" val="tx"/>
                    </a:ext>
                  </a:extLst>
                </a:hlinkClick>
              </a:rPr>
              <a:t>Bowman</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 invalidUrl="" action="" tgtFrame="" tooltip="" history="1" highlightClick="0" endSnd="0">
                  <a:extLst>
                    <a:ext uri="{A12FA001-AC4F-418D-AE19-62706E023703}">
                      <ahyp:hlinkClr xmlns:ahyp="http://schemas.microsoft.com/office/drawing/2018/hyperlinkcolor" val="tx"/>
                    </a:ext>
                  </a:extLst>
                </a:hlinkClick>
              </a:rPr>
              <a:t>Insurance Journal</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9" invalidUrl="" action="" tgtFrame="" tooltip="" history="1" highlightClick="0" endSnd="0">
                  <a:extLst>
                    <a:ext uri="{A12FA001-AC4F-418D-AE19-62706E023703}">
                      <ahyp:hlinkClr xmlns:ahyp="http://schemas.microsoft.com/office/drawing/2018/hyperlinkcolor" val="tx"/>
                    </a:ext>
                  </a:extLst>
                </a:hlinkClick>
              </a:rPr>
              <a:t>Insurance Journal, September 21</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0" invalidUrl="" action="" tgtFrame="" tooltip="" history="1" highlightClick="0" endSnd="0">
                  <a:extLst>
                    <a:ext uri="{A12FA001-AC4F-418D-AE19-62706E023703}">
                      <ahyp:hlinkClr xmlns:ahyp="http://schemas.microsoft.com/office/drawing/2018/hyperlinkcolor" val="tx"/>
                    </a:ext>
                  </a:extLst>
                </a:hlinkClick>
              </a:rPr>
              <a:t>Staffing Industry Analysts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1" invalidUrl="" action="" tgtFrame="" tooltip="" history="1" highlightClick="0" endSnd="0">
                  <a:extLst>
                    <a:ext uri="{A12FA001-AC4F-418D-AE19-62706E023703}">
                      <ahyp:hlinkClr xmlns:ahyp="http://schemas.microsoft.com/office/drawing/2018/hyperlinkcolor" val="tx"/>
                    </a:ext>
                  </a:extLst>
                </a:hlinkClick>
              </a:rPr>
              <a:t>FRED series TEMPHELPS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2" invalidUrl="" action="" tgtFrame="" tooltip="" history="1" highlightClick="0" endSnd="0">
                  <a:extLst>
                    <a:ext uri="{A12FA001-AC4F-418D-AE19-62706E023703}">
                      <ahyp:hlinkClr xmlns:ahyp="http://schemas.microsoft.com/office/drawing/2018/hyperlinkcolor" val="tx"/>
                    </a:ext>
                  </a:extLst>
                </a:hlinkClick>
              </a:rPr>
              <a:t>MediaPost</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3" invalidUrl="" action="" tgtFrame="" tooltip="" history="1" highlightClick="0" endSnd="0">
                  <a:extLst>
                    <a:ext uri="{A12FA001-AC4F-418D-AE19-62706E023703}">
                      <ahyp:hlinkClr xmlns:ahyp="http://schemas.microsoft.com/office/drawing/2018/hyperlinkcolor" val="tx"/>
                    </a:ext>
                  </a:extLst>
                </a:hlinkClick>
              </a:rPr>
              <a:t>Marketing Dive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4" invalidUrl="" action="" tgtFrame="" tooltip="" history="1" highlightClick="0" endSnd="0">
                  <a:extLst>
                    <a:ext uri="{A12FA001-AC4F-418D-AE19-62706E023703}">
                      <ahyp:hlinkClr xmlns:ahyp="http://schemas.microsoft.com/office/drawing/2018/hyperlinkcolor" val="tx"/>
                    </a:ext>
                  </a:extLst>
                </a:hlinkClick>
              </a:rPr>
              <a:t>IBBA and M&amp;A Source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5" invalidUrl="" action="" tgtFrame="" tooltip="" history="1" highlightClick="0" endSnd="0">
                  <a:extLst>
                    <a:ext uri="{A12FA001-AC4F-418D-AE19-62706E023703}">
                      <ahyp:hlinkClr xmlns:ahyp="http://schemas.microsoft.com/office/drawing/2018/hyperlinkcolor" val="tx"/>
                    </a:ext>
                  </a:extLst>
                </a:hlinkClick>
              </a:rPr>
              <a:t>IBBA and M&amp;A Source release</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PERSPECTIVES ON FIVE SECTORS</a:t>
            </a:r>
            <a:endParaRPr lang="en-US" sz="600" dirty="0"/>
          </a:p>
          <a:p>
            <a:pPr algn="l" indent="0" marL="0">
              <a:lnSpc>
                <a:spcPts val="1150"/>
              </a:lnSpc>
              <a:buNone/>
            </a:pPr>
            <a:r>
              <a:rPr lang="en-US" sz="750" u="sng" dirty="0">
                <a:solidFill>
                  <a:srgbClr val="8C6239"/>
                </a:solidFill>
                <a:latin typeface="+mn-lt" pitchFamily="34" charset="0"/>
                <a:hlinkClick r:id="rId16" invalidUrl="" action="" tgtFrame="" tooltip="" history="1" highlightClick="0" endSnd="0">
                  <a:extLst>
                    <a:ext uri="{A12FA001-AC4F-418D-AE19-62706E023703}">
                      <ahyp:hlinkClr xmlns:ahyp="http://schemas.microsoft.com/office/drawing/2018/hyperlinkcolor" val="tx"/>
                    </a:ext>
                  </a:extLst>
                </a:hlinkClick>
              </a:rPr>
              <a:t>SDM</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7" invalidUrl="" action="" tgtFrame="" tooltip="" history="1" highlightClick="0" endSnd="0">
                  <a:extLst>
                    <a:ext uri="{A12FA001-AC4F-418D-AE19-62706E023703}">
                      <ahyp:hlinkClr xmlns:ahyp="http://schemas.microsoft.com/office/drawing/2018/hyperlinkcolor" val="tx"/>
                    </a:ext>
                  </a:extLst>
                </a:hlinkClick>
              </a:rPr>
              <a:t>SGS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8" invalidUrl="" action="" tgtFrame="" tooltip="" history="1" highlightClick="0" endSnd="0">
                  <a:extLst>
                    <a:ext uri="{A12FA001-AC4F-418D-AE19-62706E023703}">
                      <ahyp:hlinkClr xmlns:ahyp="http://schemas.microsoft.com/office/drawing/2018/hyperlinkcolor" val="tx"/>
                    </a:ext>
                  </a:extLst>
                </a:hlinkClick>
              </a:rPr>
              <a:t>IAB and PwC</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19" invalidUrl="" action="" tgtFrame="" tooltip="" history="1" highlightClick="0" endSnd="0">
                  <a:extLst>
                    <a:ext uri="{A12FA001-AC4F-418D-AE19-62706E023703}">
                      <ahyp:hlinkClr xmlns:ahyp="http://schemas.microsoft.com/office/drawing/2018/hyperlinkcolor" val="tx"/>
                    </a:ext>
                  </a:extLst>
                </a:hlinkClick>
              </a:rPr>
              <a:t>ASI</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0" invalidUrl="" action="" tgtFrame="" tooltip="" history="1" highlightClick="0" endSnd="0">
                  <a:extLst>
                    <a:ext uri="{A12FA001-AC4F-418D-AE19-62706E023703}">
                      <ahyp:hlinkClr xmlns:ahyp="http://schemas.microsoft.com/office/drawing/2018/hyperlinkcolor" val="tx"/>
                    </a:ext>
                  </a:extLst>
                </a:hlinkClick>
              </a:rPr>
              <a:t>ENR</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1" invalidUrl="" action="" tgtFrame="" tooltip="" history="1" highlightClick="0" endSnd="0">
                  <a:extLst>
                    <a:ext uri="{A12FA001-AC4F-418D-AE19-62706E023703}">
                      <ahyp:hlinkClr xmlns:ahyp="http://schemas.microsoft.com/office/drawing/2018/hyperlinkcolor" val="tx"/>
                    </a:ext>
                  </a:extLst>
                </a:hlinkClick>
              </a:rPr>
              <a:t>PSMJ</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2" invalidUrl="" action="" tgtFrame="" tooltip="" history="1" highlightClick="0" endSnd="0">
                  <a:extLst>
                    <a:ext uri="{A12FA001-AC4F-418D-AE19-62706E023703}">
                      <ahyp:hlinkClr xmlns:ahyp="http://schemas.microsoft.com/office/drawing/2018/hyperlinkcolor" val="tx"/>
                    </a:ext>
                  </a:extLst>
                </a:hlinkClick>
              </a:rPr>
              <a:t>Risk &amp; Insurance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3" invalidUrl="" action="" tgtFrame="" tooltip="" history="1" highlightClick="0" endSnd="0">
                  <a:extLst>
                    <a:ext uri="{A12FA001-AC4F-418D-AE19-62706E023703}">
                      <ahyp:hlinkClr xmlns:ahyp="http://schemas.microsoft.com/office/drawing/2018/hyperlinkcolor" val="tx"/>
                    </a:ext>
                  </a:extLst>
                </a:hlinkClick>
              </a:rPr>
              <a:t>WealthManagement.com</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4" invalidUrl="" action="" tgtFrame="" tooltip="" history="1" highlightClick="0" endSnd="0">
                  <a:extLst>
                    <a:ext uri="{A12FA001-AC4F-418D-AE19-62706E023703}">
                      <ahyp:hlinkClr xmlns:ahyp="http://schemas.microsoft.com/office/drawing/2018/hyperlinkcolor" val="tx"/>
                    </a:ext>
                  </a:extLst>
                </a:hlinkClick>
              </a:rPr>
              <a:t>ASA</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5" invalidUrl="" action="" tgtFrame="" tooltip="" history="1" highlightClick="0" endSnd="0">
                  <a:extLst>
                    <a:ext uri="{A12FA001-AC4F-418D-AE19-62706E023703}">
                      <ahyp:hlinkClr xmlns:ahyp="http://schemas.microsoft.com/office/drawing/2018/hyperlinkcolor" val="tx"/>
                    </a:ext>
                  </a:extLst>
                </a:hlinkClick>
              </a:rPr>
              <a:t>Staffing Industry Analysts</a:t>
            </a:r>
            <a:pPr algn="l" indent="0" marL="0">
              <a:lnSpc>
                <a:spcPts val="1150"/>
              </a:lnSpc>
              <a:buNone/>
            </a:pPr>
            <a:r>
              <a:rPr lang="en-US" sz="750" dirty="0">
                <a:solidFill>
                  <a:srgbClr val="333231"/>
                </a:solidFill>
                <a:latin typeface="+mn-lt" pitchFamily="34" charset="0"/>
              </a:rPr>
              <a:t/>
            </a:r>
            <a:pPr algn="l" indent="0" marL="0">
              <a:lnSpc>
                <a:spcPts val="1150"/>
              </a:lnSpc>
              <a:buNone/>
            </a:pPr>
            <a:r>
              <a:rPr lang="en-US" sz="750" u="sng" dirty="0">
                <a:solidFill>
                  <a:srgbClr val="8C6239"/>
                </a:solidFill>
                <a:latin typeface="+mn-lt" pitchFamily="34" charset="0"/>
                <a:hlinkClick r:id="rId26" invalidUrl="" action="" tgtFrame="" tooltip="" history="1" highlightClick="0" endSnd="0">
                  <a:extLst>
                    <a:ext uri="{A12FA001-AC4F-418D-AE19-62706E023703}">
                      <ahyp:hlinkClr xmlns:ahyp="http://schemas.microsoft.com/office/drawing/2018/hyperlinkcolor" val="tx"/>
                    </a:ext>
                  </a:extLst>
                </a:hlinkClick>
              </a:rPr>
              <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WHAT WE'RE READING</a:t>
            </a:r>
            <a:endParaRPr lang="en-US" sz="600" dirty="0"/>
          </a:p>
          <a:p>
            <a:pPr algn="l" indent="0" marL="0">
              <a:lnSpc>
                <a:spcPts val="1150"/>
              </a:lnSpc>
              <a:buNone/>
            </a:pPr>
            <a:r>
              <a:rPr lang="en-US" sz="750" u="sng" dirty="0">
                <a:solidFill>
                  <a:srgbClr val="8C6239"/>
                </a:solidFill>
                <a:latin typeface="+mn-lt" pitchFamily="34" charset="0"/>
                <a:hlinkClick r:id="rId27" invalidUrl="" action="" tgtFrame="" tooltip="" history="1" highlightClick="0" endSnd="0">
                  <a:extLst>
                    <a:ext uri="{A12FA001-AC4F-418D-AE19-62706E023703}">
                      <ahyp:hlinkClr xmlns:ahyp="http://schemas.microsoft.com/office/drawing/2018/hyperlinkcolor" val="tx"/>
                    </a:ext>
                  </a:extLst>
                </a:hlinkClick>
              </a:rPr>
              <a:t>ACEC Research Institute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8" invalidUrl="" action="" tgtFrame="" tooltip="" history="1" highlightClick="0" endSnd="0">
                  <a:extLst>
                    <a:ext uri="{A12FA001-AC4F-418D-AE19-62706E023703}">
                      <ahyp:hlinkClr xmlns:ahyp="http://schemas.microsoft.com/office/drawing/2018/hyperlinkcolor" val="tx"/>
                    </a:ext>
                  </a:extLst>
                </a:hlinkClick>
              </a:rPr>
              <a:t>Staffing Industry Analysts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29" invalidUrl="" action="" tgtFrame="" tooltip="" history="1" highlightClick="0" endSnd="0">
                  <a:extLst>
                    <a:ext uri="{A12FA001-AC4F-418D-AE19-62706E023703}">
                      <ahyp:hlinkClr xmlns:ahyp="http://schemas.microsoft.com/office/drawing/2018/hyperlinkcolor" val="tx"/>
                    </a:ext>
                  </a:extLst>
                </a:hlinkClick>
              </a:rPr>
              <a:t>Insurance Journal</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0" invalidUrl="" action="" tgtFrame="" tooltip="" history="1" highlightClick="0" endSnd="0">
                  <a:extLst>
                    <a:ext uri="{A12FA001-AC4F-418D-AE19-62706E023703}">
                      <ahyp:hlinkClr xmlns:ahyp="http://schemas.microsoft.com/office/drawing/2018/hyperlinkcolor" val="tx"/>
                    </a:ext>
                  </a:extLst>
                </a:hlinkClick>
              </a:rPr>
              <a:t>PitchBook</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1" invalidUrl="" action="" tgtFrame="" tooltip="" history="1" highlightClick="0" endSnd="0">
                  <a:extLst>
                    <a:ext uri="{A12FA001-AC4F-418D-AE19-62706E023703}">
                      <ahyp:hlinkClr xmlns:ahyp="http://schemas.microsoft.com/office/drawing/2018/hyperlinkcolor" val="tx"/>
                    </a:ext>
                  </a:extLst>
                </a:hlinkClick>
              </a:rPr>
              <a:t>Reuters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2" invalidUrl="" action="" tgtFrame="" tooltip="" history="1" highlightClick="0" endSnd="0">
                  <a:extLst>
                    <a:ext uri="{A12FA001-AC4F-418D-AE19-62706E023703}">
                      <ahyp:hlinkClr xmlns:ahyp="http://schemas.microsoft.com/office/drawing/2018/hyperlinkcolor" val="tx"/>
                    </a:ext>
                  </a:extLst>
                </a:hlinkClick>
              </a:rPr>
              <a:t>GF Data via ACG</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3" invalidUrl="" action="" tgtFrame="" tooltip="" history="1" highlightClick="0" endSnd="0">
                  <a:extLst>
                    <a:ext uri="{A12FA001-AC4F-418D-AE19-62706E023703}">
                      <ahyp:hlinkClr xmlns:ahyp="http://schemas.microsoft.com/office/drawing/2018/hyperlinkcolor" val="tx"/>
                    </a:ext>
                  </a:extLst>
                </a:hlinkClick>
              </a:rPr>
              <a:t>Federal Reserve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4" invalidUrl="" action="" tgtFrame="" tooltip="" history="1" highlightClick="0" endSnd="0">
                  <a:extLst>
                    <a:ext uri="{A12FA001-AC4F-418D-AE19-62706E023703}">
                      <ahyp:hlinkClr xmlns:ahyp="http://schemas.microsoft.com/office/drawing/2018/hyperlinkcolor" val="tx"/>
                    </a:ext>
                  </a:extLst>
                </a:hlinkClick>
              </a:rPr>
              <a:t>survey release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5" invalidUrl="" action="" tgtFrame="" tooltip="" history="1" highlightClick="0" endSnd="0">
                  <a:extLst>
                    <a:ext uri="{A12FA001-AC4F-418D-AE19-62706E023703}">
                      <ahyp:hlinkClr xmlns:ahyp="http://schemas.microsoft.com/office/drawing/2018/hyperlinkcolor" val="tx"/>
                    </a:ext>
                  </a:extLst>
                </a:hlinkClick>
              </a:rPr>
              <a:t>IBBA and M&amp;A Source</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FEATURE: FIRE AND LIFE SAFETY</a:t>
            </a:r>
            <a:endParaRPr lang="en-US" sz="600" dirty="0"/>
          </a:p>
          <a:p>
            <a:pPr algn="l" indent="0" marL="0">
              <a:lnSpc>
                <a:spcPts val="1150"/>
              </a:lnSpc>
              <a:buNone/>
            </a:pPr>
            <a:r>
              <a:rPr lang="en-US" sz="750" u="sng" dirty="0">
                <a:solidFill>
                  <a:srgbClr val="8C6239"/>
                </a:solidFill>
                <a:latin typeface="+mn-lt" pitchFamily="34" charset="0"/>
                <a:hlinkClick r:id="rId36" invalidUrl="" action="" tgtFrame="" tooltip="" history="1" highlightClick="0" endSnd="0">
                  <a:extLst>
                    <a:ext uri="{A12FA001-AC4F-418D-AE19-62706E023703}">
                      <ahyp:hlinkClr xmlns:ahyp="http://schemas.microsoft.com/office/drawing/2018/hyperlinkcolor" val="tx"/>
                    </a:ext>
                  </a:extLst>
                </a:hlinkClick>
              </a:rPr>
              <a:t>Pye-Barker</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7" invalidUrl="" action="" tgtFrame="" tooltip="" history="1" highlightClick="0" endSnd="0">
                  <a:extLst>
                    <a:ext uri="{A12FA001-AC4F-418D-AE19-62706E023703}">
                      <ahyp:hlinkClr xmlns:ahyp="http://schemas.microsoft.com/office/drawing/2018/hyperlinkcolor" val="tx"/>
                    </a:ext>
                  </a:extLst>
                </a:hlinkClick>
              </a:rPr>
              <a:t>Security Systems News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8" invalidUrl="" action="" tgtFrame="" tooltip="" history="1" highlightClick="0" endSnd="0">
                  <a:extLst>
                    <a:ext uri="{A12FA001-AC4F-418D-AE19-62706E023703}">
                      <ahyp:hlinkClr xmlns:ahyp="http://schemas.microsoft.com/office/drawing/2018/hyperlinkcolor" val="tx"/>
                    </a:ext>
                  </a:extLst>
                </a:hlinkClick>
              </a:rPr>
              <a:t>APi Group</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39" invalidUrl="" action="" tgtFrame="" tooltip="" history="1" highlightClick="0" endSnd="0">
                  <a:extLst>
                    <a:ext uri="{A12FA001-AC4F-418D-AE19-62706E023703}">
                      <ahyp:hlinkClr xmlns:ahyp="http://schemas.microsoft.com/office/drawing/2018/hyperlinkcolor" val="tx"/>
                    </a:ext>
                  </a:extLst>
                </a:hlinkClick>
              </a:rPr>
              <a:t>APi Group, December 10, 2025</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0" invalidUrl="" action="" tgtFrame="" tooltip="" history="1" highlightClick="0" endSnd="0">
                  <a:extLst>
                    <a:ext uri="{A12FA001-AC4F-418D-AE19-62706E023703}">
                      <ahyp:hlinkClr xmlns:ahyp="http://schemas.microsoft.com/office/drawing/2018/hyperlinkcolor" val="tx"/>
                    </a:ext>
                  </a:extLst>
                </a:hlinkClick>
              </a:rPr>
              <a:t>SDM</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1" invalidUrl="" action="" tgtFrame="" tooltip="" history="1" highlightClick="0" endSnd="0">
                  <a:extLst>
                    <a:ext uri="{A12FA001-AC4F-418D-AE19-62706E023703}">
                      <ahyp:hlinkClr xmlns:ahyp="http://schemas.microsoft.com/office/drawing/2018/hyperlinkcolor" val="tx"/>
                    </a:ext>
                  </a:extLst>
                </a:hlinkClick>
              </a:rPr>
              <a:t>StockAnalysis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2" invalidUrl="" action="" tgtFrame="" tooltip="" history="1" highlightClick="0" endSnd="0">
                  <a:extLst>
                    <a:ext uri="{A12FA001-AC4F-418D-AE19-62706E023703}">
                      <ahyp:hlinkClr xmlns:ahyp="http://schemas.microsoft.com/office/drawing/2018/hyperlinkcolor" val="tx"/>
                    </a:ext>
                  </a:extLst>
                </a:hlinkClick>
              </a:rPr>
              <a:t>Union AlarmTronic</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3" invalidUrl="" action="" tgtFrame="" tooltip="" history="1" highlightClick="0" endSnd="0">
                  <a:extLst>
                    <a:ext uri="{A12FA001-AC4F-418D-AE19-62706E023703}">
                      <ahyp:hlinkClr xmlns:ahyp="http://schemas.microsoft.com/office/drawing/2018/hyperlinkcolor" val="tx"/>
                    </a:ext>
                  </a:extLst>
                </a:hlinkClick>
              </a:rPr>
              <a:t>Suppression Systems, Inc.</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4" invalidUrl="" action="" tgtFrame="" tooltip="" history="1" highlightClick="0" endSnd="0">
                  <a:extLst>
                    <a:ext uri="{A12FA001-AC4F-418D-AE19-62706E023703}">
                      <ahyp:hlinkClr xmlns:ahyp="http://schemas.microsoft.com/office/drawing/2018/hyperlinkcolor" val="tx"/>
                    </a:ext>
                  </a:extLst>
                </a:hlinkClick>
              </a:rPr>
              <a:t>Aegis Protective Services and Admiral Security Services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5" invalidUrl="" action="" tgtFrame="" tooltip="" history="1" highlightClick="0" endSnd="0">
                  <a:extLst>
                    <a:ext uri="{A12FA001-AC4F-418D-AE19-62706E023703}">
                      <ahyp:hlinkClr xmlns:ahyp="http://schemas.microsoft.com/office/drawing/2018/hyperlinkcolor" val="tx"/>
                    </a:ext>
                  </a:extLst>
                </a:hlinkClick>
              </a:rPr>
              <a:t>Southern Fire Control</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CLIENT SPOTLIGHT: THREE FIRE AND LIFE SAFETY SALES</a:t>
            </a:r>
            <a:endParaRPr lang="en-US" sz="600" dirty="0"/>
          </a:p>
          <a:p>
            <a:pPr algn="l" indent="0" marL="0">
              <a:lnSpc>
                <a:spcPts val="1150"/>
              </a:lnSpc>
              <a:buNone/>
            </a:pPr>
            <a:r>
              <a:rPr lang="en-US" sz="750" u="sng" dirty="0">
                <a:solidFill>
                  <a:srgbClr val="8C6239"/>
                </a:solidFill>
                <a:latin typeface="+mn-lt" pitchFamily="34" charset="0"/>
                <a:hlinkClick r:id="rId46" invalidUrl="" action="" tgtFrame="" tooltip="" history="1" highlightClick="0" endSnd="0">
                  <a:extLst>
                    <a:ext uri="{A12FA001-AC4F-418D-AE19-62706E023703}">
                      <ahyp:hlinkClr xmlns:ahyp="http://schemas.microsoft.com/office/drawing/2018/hyperlinkcolor" val="tx"/>
                    </a:ext>
                  </a:extLst>
                </a:hlinkClick>
              </a:rPr>
              <a:t>Cintas annual report</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SELECT RECENT BUSINESS SERVICES M&amp;A TRANSACTIONS</a:t>
            </a:r>
            <a:endParaRPr lang="en-US" sz="600" dirty="0"/>
          </a:p>
          <a:p>
            <a:pPr algn="l" indent="0" marL="0">
              <a:lnSpc>
                <a:spcPts val="1150"/>
              </a:lnSpc>
              <a:buNone/>
            </a:pPr>
            <a:r>
              <a:rPr lang="en-US" sz="750" u="sng" dirty="0">
                <a:solidFill>
                  <a:srgbClr val="8C6239"/>
                </a:solidFill>
                <a:latin typeface="+mn-lt" pitchFamily="34" charset="0"/>
                <a:hlinkClick r:id="rId47" invalidUrl="" action="" tgtFrame="" tooltip="" history="1" highlightClick="0" endSnd="0">
                  <a:extLst>
                    <a:ext uri="{A12FA001-AC4F-418D-AE19-62706E023703}">
                      <ahyp:hlinkClr xmlns:ahyp="http://schemas.microsoft.com/office/drawing/2018/hyperlinkcolor" val="tx"/>
                    </a:ext>
                  </a:extLst>
                </a:hlinkClick>
              </a:rPr>
              <a:t>Pye-Barker</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8" invalidUrl="" action="" tgtFrame="" tooltip="" history="1" highlightClick="0" endSnd="0">
                  <a:extLst>
                    <a:ext uri="{A12FA001-AC4F-418D-AE19-62706E023703}">
                      <ahyp:hlinkClr xmlns:ahyp="http://schemas.microsoft.com/office/drawing/2018/hyperlinkcolor" val="tx"/>
                    </a:ext>
                  </a:extLst>
                </a:hlinkClick>
              </a:rPr>
              <a:t>ASI</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49" invalidUrl="" action="" tgtFrame="" tooltip="" history="1" highlightClick="0" endSnd="0">
                  <a:extLst>
                    <a:ext uri="{A12FA001-AC4F-418D-AE19-62706E023703}">
                      <ahyp:hlinkClr xmlns:ahyp="http://schemas.microsoft.com/office/drawing/2018/hyperlinkcolor" val="tx"/>
                    </a:ext>
                  </a:extLst>
                </a:hlinkClick>
              </a:rPr>
              <a:t>ASI Central</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50" invalidUrl="" action="" tgtFrame="" tooltip="" history="1" highlightClick="0" endSnd="0">
                  <a:extLst>
                    <a:ext uri="{A12FA001-AC4F-418D-AE19-62706E023703}">
                      <ahyp:hlinkClr xmlns:ahyp="http://schemas.microsoft.com/office/drawing/2018/hyperlinkcolor" val="tx"/>
                    </a:ext>
                  </a:extLst>
                </a:hlinkClick>
              </a:rPr>
              <a:t>Bowman results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51" invalidUrl="" action="" tgtFrame="" tooltip="" history="1" highlightClick="0" endSnd="0">
                  <a:extLst>
                    <a:ext uri="{A12FA001-AC4F-418D-AE19-62706E023703}">
                      <ahyp:hlinkClr xmlns:ahyp="http://schemas.microsoft.com/office/drawing/2018/hyperlinkcolor" val="tx"/>
                    </a:ext>
                  </a:extLst>
                </a:hlinkClick>
              </a:rPr>
              <a:t>Bowman</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52" invalidUrl="" action="" tgtFrame="" tooltip="" history="1" highlightClick="0" endSnd="0">
                  <a:extLst>
                    <a:ext uri="{A12FA001-AC4F-418D-AE19-62706E023703}">
                      <ahyp:hlinkClr xmlns:ahyp="http://schemas.microsoft.com/office/drawing/2018/hyperlinkcolor" val="tx"/>
                    </a:ext>
                  </a:extLst>
                </a:hlinkClick>
              </a:rPr>
              <a:t>Insurance Business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53" invalidUrl="" action="" tgtFrame="" tooltip="" history="1" highlightClick="0" endSnd="0">
                  <a:extLst>
                    <a:ext uri="{A12FA001-AC4F-418D-AE19-62706E023703}">
                      <ahyp:hlinkClr xmlns:ahyp="http://schemas.microsoft.com/office/drawing/2018/hyperlinkcolor" val="tx"/>
                    </a:ext>
                  </a:extLst>
                </a:hlinkClick>
              </a:rPr>
              <a:t>Insurance Journal</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54" invalidUrl="" action="" tgtFrame="" tooltip="" history="1" highlightClick="0" endSnd="0">
                  <a:extLst>
                    <a:ext uri="{A12FA001-AC4F-418D-AE19-62706E023703}">
                      <ahyp:hlinkClr xmlns:ahyp="http://schemas.microsoft.com/office/drawing/2018/hyperlinkcolor" val="tx"/>
                    </a:ext>
                  </a:extLst>
                </a:hlinkClick>
              </a:rPr>
              <a:t>Staffing Industry Analysts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55" invalidUrl="" action="" tgtFrame="" tooltip="" history="1" highlightClick="0" endSnd="0">
                  <a:extLst>
                    <a:ext uri="{A12FA001-AC4F-418D-AE19-62706E023703}">
                      <ahyp:hlinkClr xmlns:ahyp="http://schemas.microsoft.com/office/drawing/2018/hyperlinkcolor" val="tx"/>
                    </a:ext>
                  </a:extLst>
                </a:hlinkClick>
              </a:rPr>
              <a:t>SIA forecast</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56" invalidUrl="" action="" tgtFrame="" tooltip="" history="1" highlightClick="0" endSnd="0">
                  <a:extLst>
                    <a:ext uri="{A12FA001-AC4F-418D-AE19-62706E023703}">
                      <ahyp:hlinkClr xmlns:ahyp="http://schemas.microsoft.com/office/drawing/2018/hyperlinkcolor" val="tx"/>
                    </a:ext>
                  </a:extLst>
                </a:hlinkClick>
              </a:rPr>
              <a:t>Korn Ferry</a:t>
            </a:r>
            <a:pPr algn="l" indent="0" marL="0">
              <a:lnSpc>
                <a:spcPts val="1150"/>
              </a:lnSpc>
              <a:buNone/>
            </a:pPr>
            <a:r>
              <a:rPr lang="en-US" sz="750" dirty="0">
                <a:solidFill>
                  <a:srgbClr val="333231"/>
                </a:solidFill>
                <a:latin typeface="+mn-lt" pitchFamily="34" charset="0"/>
              </a:rPr>
              <a:t/>
            </a:r>
            <a:pPr algn="l" indent="0" marL="0">
              <a:lnSpc>
                <a:spcPts val="1150"/>
              </a:lnSpc>
              <a:buNone/>
            </a:pPr>
            <a:r>
              <a:rPr lang="en-US" sz="750" u="sng" dirty="0">
                <a:solidFill>
                  <a:srgbClr val="8C6239"/>
                </a:solidFill>
                <a:latin typeface="+mn-lt" pitchFamily="34" charset="0"/>
                <a:hlinkClick r:id="rId57" invalidUrl="" action="" tgtFrame="" tooltip="" history="1" highlightClick="0" endSnd="0">
                  <a:extLst>
                    <a:ext uri="{A12FA001-AC4F-418D-AE19-62706E023703}">
                      <ahyp:hlinkClr xmlns:ahyp="http://schemas.microsoft.com/office/drawing/2018/hyperlinkcolor" val="tx"/>
                    </a:ext>
                  </a:extLst>
                </a:hlinkClick>
              </a:rPr>
              <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BENCHMARK INTERNATIONAL'S BUSINESS SERVICES TRANSACTIONS</a:t>
            </a:r>
            <a:endParaRPr lang="en-US" sz="600" dirty="0"/>
          </a:p>
          <a:p>
            <a:pPr algn="l" indent="0" marL="0">
              <a:lnSpc>
                <a:spcPts val="1150"/>
              </a:lnSpc>
              <a:buNone/>
            </a:pPr>
            <a:r>
              <a:rPr lang="en-US" sz="750" u="sng" dirty="0">
                <a:solidFill>
                  <a:srgbClr val="8C6239"/>
                </a:solidFill>
                <a:latin typeface="+mn-lt" pitchFamily="34" charset="0"/>
                <a:hlinkClick r:id="rId58" invalidUrl="" action="" tgtFrame="" tooltip="" history="1" highlightClick="0" endSnd="0">
                  <a:extLst>
                    <a:ext uri="{A12FA001-AC4F-418D-AE19-62706E023703}">
                      <ahyp:hlinkClr xmlns:ahyp="http://schemas.microsoft.com/office/drawing/2018/hyperlinkcolor" val="tx"/>
                    </a:ext>
                  </a:extLst>
                </a:hlinkClick>
              </a:rPr>
              <a:t>Benchmark International</a:t>
            </a:r>
            <a:pPr algn="l" indent="0" marL="0">
              <a:lnSpc>
                <a:spcPts val="1150"/>
              </a:lnSpc>
              <a:buNone/>
            </a:pPr>
            <a:r>
              <a:rPr lang="en-US" sz="750" dirty="0">
                <a:solidFill>
                  <a:srgbClr val="333231"/>
                </a:solidFill>
                <a:latin typeface="+mn-lt" pitchFamily="34" charset="0"/>
              </a:rPr>
              <a:t/>
            </a:r>
            <a:pPr algn="l" indent="0" marL="0">
              <a:lnSpc>
                <a:spcPts val="1150"/>
              </a:lnSpc>
              <a:buNone/>
            </a:pPr>
            <a:r>
              <a:rPr lang="en-US" sz="750" u="sng" dirty="0">
                <a:solidFill>
                  <a:srgbClr val="8C6239"/>
                </a:solidFill>
                <a:latin typeface="+mn-lt" pitchFamily="34" charset="0"/>
                <a:hlinkClick r:id="rId59" invalidUrl="" action="" tgtFrame="" tooltip="" history="1" highlightClick="0" endSnd="0">
                  <a:extLst>
                    <a:ext uri="{A12FA001-AC4F-418D-AE19-62706E023703}">
                      <ahyp:hlinkClr xmlns:ahyp="http://schemas.microsoft.com/office/drawing/2018/hyperlinkcolor" val="tx"/>
                    </a:ext>
                  </a:extLst>
                </a:hlinkClick>
              </a:rPr>
              <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PUBLIC COMPANIES: VALUATION</a:t>
            </a:r>
            <a:endParaRPr lang="en-US" sz="600" dirty="0"/>
          </a:p>
          <a:p>
            <a:pPr algn="l" indent="0" marL="0">
              <a:lnSpc>
                <a:spcPts val="1150"/>
              </a:lnSpc>
              <a:buNone/>
            </a:pPr>
            <a:r>
              <a:rPr lang="en-US" sz="750" u="sng" dirty="0">
                <a:solidFill>
                  <a:srgbClr val="8C6239"/>
                </a:solidFill>
                <a:latin typeface="+mn-lt" pitchFamily="34" charset="0"/>
                <a:hlinkClick r:id="rId60" invalidUrl="" action="" tgtFrame="" tooltip="" history="1" highlightClick="0" endSnd="0">
                  <a:extLst>
                    <a:ext uri="{A12FA001-AC4F-418D-AE19-62706E023703}">
                      <ahyp:hlinkClr xmlns:ahyp="http://schemas.microsoft.com/office/drawing/2018/hyperlinkcolor" val="tx"/>
                    </a:ext>
                  </a:extLst>
                </a:hlinkClick>
              </a:rPr>
              <a:t>GF Data via ACG</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61" invalidUrl="" action="" tgtFrame="" tooltip="" history="1" highlightClick="0" endSnd="0">
                  <a:extLst>
                    <a:ext uri="{A12FA001-AC4F-418D-AE19-62706E023703}">
                      <ahyp:hlinkClr xmlns:ahyp="http://schemas.microsoft.com/office/drawing/2018/hyperlinkcolor" val="tx"/>
                    </a:ext>
                  </a:extLst>
                </a:hlinkClick>
              </a:rPr>
              <a:t>IBBA and M&amp;A Source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62" invalidUrl="" action="" tgtFrame="" tooltip="" history="1" highlightClick="0" endSnd="0">
                  <a:extLst>
                    <a:ext uri="{A12FA001-AC4F-418D-AE19-62706E023703}">
                      <ahyp:hlinkClr xmlns:ahyp="http://schemas.microsoft.com/office/drawing/2018/hyperlinkcolor" val="tx"/>
                    </a:ext>
                  </a:extLst>
                </a:hlinkClick>
              </a:rPr>
              <a:t>StockAnalysis</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PUBLIC COMPANIES: OPERATING AND VALUATION METRICS</a:t>
            </a:r>
            <a:endParaRPr lang="en-US" sz="600" dirty="0"/>
          </a:p>
          <a:p>
            <a:pPr algn="l" indent="0" marL="0">
              <a:lnSpc>
                <a:spcPts val="1150"/>
              </a:lnSpc>
              <a:buNone/>
            </a:pPr>
            <a:r>
              <a:rPr lang="en-US" sz="750" u="sng" dirty="0">
                <a:solidFill>
                  <a:srgbClr val="8C6239"/>
                </a:solidFill>
                <a:latin typeface="+mn-lt" pitchFamily="34" charset="0"/>
                <a:hlinkClick r:id="rId63" invalidUrl="" action="" tgtFrame="" tooltip="" history="1" highlightClick="0" endSnd="0">
                  <a:extLst>
                    <a:ext uri="{A12FA001-AC4F-418D-AE19-62706E023703}">
                      <ahyp:hlinkClr xmlns:ahyp="http://schemas.microsoft.com/office/drawing/2018/hyperlinkcolor" val="tx"/>
                    </a:ext>
                  </a:extLst>
                </a:hlinkClick>
              </a:rPr>
              <a:t>StockAnalysis</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EARNINGS AND COMMENTARY</a:t>
            </a:r>
            <a:endParaRPr lang="en-US" sz="600" dirty="0"/>
          </a:p>
          <a:p>
            <a:pPr algn="l" indent="0" marL="0">
              <a:lnSpc>
                <a:spcPts val="1150"/>
              </a:lnSpc>
              <a:buNone/>
            </a:pPr>
            <a:r>
              <a:rPr lang="en-US" sz="750" u="sng" dirty="0">
                <a:solidFill>
                  <a:srgbClr val="8C6239"/>
                </a:solidFill>
                <a:latin typeface="+mn-lt" pitchFamily="34" charset="0"/>
                <a:hlinkClick r:id="rId64" invalidUrl="" action="" tgtFrame="" tooltip="" history="1" highlightClick="0" endSnd="0">
                  <a:extLst>
                    <a:ext uri="{A12FA001-AC4F-418D-AE19-62706E023703}">
                      <ahyp:hlinkClr xmlns:ahyp="http://schemas.microsoft.com/office/drawing/2018/hyperlinkcolor" val="tx"/>
                    </a:ext>
                  </a:extLst>
                </a:hlinkClick>
              </a:rPr>
              <a:t>Willdan Group</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65" invalidUrl="" action="" tgtFrame="" tooltip="" history="1" highlightClick="0" endSnd="0">
                  <a:extLst>
                    <a:ext uri="{A12FA001-AC4F-418D-AE19-62706E023703}">
                      <ahyp:hlinkClr xmlns:ahyp="http://schemas.microsoft.com/office/drawing/2018/hyperlinkcolor" val="tx"/>
                    </a:ext>
                  </a:extLst>
                </a:hlinkClick>
              </a:rPr>
              <a:t>Bowman Consulting</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66" invalidUrl="" action="" tgtFrame="" tooltip="" history="1" highlightClick="0" endSnd="0">
                  <a:extLst>
                    <a:ext uri="{A12FA001-AC4F-418D-AE19-62706E023703}">
                      <ahyp:hlinkClr xmlns:ahyp="http://schemas.microsoft.com/office/drawing/2018/hyperlinkcolor" val="tx"/>
                    </a:ext>
                  </a:extLst>
                </a:hlinkClick>
              </a:rPr>
              <a:t>APi Group</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67" invalidUrl="" action="" tgtFrame="" tooltip="" history="1" highlightClick="0" endSnd="0">
                  <a:extLst>
                    <a:ext uri="{A12FA001-AC4F-418D-AE19-62706E023703}">
                      <ahyp:hlinkClr xmlns:ahyp="http://schemas.microsoft.com/office/drawing/2018/hyperlinkcolor" val="tx"/>
                    </a:ext>
                  </a:extLst>
                </a:hlinkClick>
              </a:rPr>
              <a:t>TrueBlue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68" invalidUrl="" action="" tgtFrame="" tooltip="" history="1" highlightClick="0" endSnd="0">
                  <a:extLst>
                    <a:ext uri="{A12FA001-AC4F-418D-AE19-62706E023703}">
                      <ahyp:hlinkClr xmlns:ahyp="http://schemas.microsoft.com/office/drawing/2018/hyperlinkcolor" val="tx"/>
                    </a:ext>
                  </a:extLst>
                </a:hlinkClick>
              </a:rPr>
              <a:t>Stantec</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69" invalidUrl="" action="" tgtFrame="" tooltip="" history="1" highlightClick="0" endSnd="0">
                  <a:extLst>
                    <a:ext uri="{A12FA001-AC4F-418D-AE19-62706E023703}">
                      <ahyp:hlinkClr xmlns:ahyp="http://schemas.microsoft.com/office/drawing/2018/hyperlinkcolor" val="tx"/>
                    </a:ext>
                  </a:extLst>
                </a:hlinkClick>
              </a:rPr>
              <a:t>Stagwell</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0" invalidUrl="" action="" tgtFrame="" tooltip="" history="1" highlightClick="0" endSnd="0">
                  <a:extLst>
                    <a:ext uri="{A12FA001-AC4F-418D-AE19-62706E023703}">
                      <ahyp:hlinkClr xmlns:ahyp="http://schemas.microsoft.com/office/drawing/2018/hyperlinkcolor" val="tx"/>
                    </a:ext>
                  </a:extLst>
                </a:hlinkClick>
              </a:rPr>
              <a:t>ManpowerGroup</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1" invalidUrl="" action="" tgtFrame="" tooltip="" history="1" highlightClick="0" endSnd="0">
                  <a:extLst>
                    <a:ext uri="{A12FA001-AC4F-418D-AE19-62706E023703}">
                      <ahyp:hlinkClr xmlns:ahyp="http://schemas.microsoft.com/office/drawing/2018/hyperlinkcolor" val="tx"/>
                    </a:ext>
                  </a:extLst>
                </a:hlinkClick>
              </a:rPr>
              <a:t>Ryan Specialty</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2" invalidUrl="" action="" tgtFrame="" tooltip="" history="1" highlightClick="0" endSnd="0">
                  <a:extLst>
                    <a:ext uri="{A12FA001-AC4F-418D-AE19-62706E023703}">
                      <ahyp:hlinkClr xmlns:ahyp="http://schemas.microsoft.com/office/drawing/2018/hyperlinkcolor" val="tx"/>
                    </a:ext>
                  </a:extLst>
                </a:hlinkClick>
              </a:rPr>
              <a:t>Daktronics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3" invalidUrl="" action="" tgtFrame="" tooltip="" history="1" highlightClick="0" endSnd="0">
                  <a:extLst>
                    <a:ext uri="{A12FA001-AC4F-418D-AE19-62706E023703}">
                      <ahyp:hlinkClr xmlns:ahyp="http://schemas.microsoft.com/office/drawing/2018/hyperlinkcolor" val="tx"/>
                    </a:ext>
                  </a:extLst>
                </a:hlinkClick>
              </a:rPr>
              <a:t>Korn Ferry</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4" invalidUrl="" action="" tgtFrame="" tooltip="" history="1" highlightClick="0" endSnd="0">
                  <a:extLst>
                    <a:ext uri="{A12FA001-AC4F-418D-AE19-62706E023703}">
                      <ahyp:hlinkClr xmlns:ahyp="http://schemas.microsoft.com/office/drawing/2018/hyperlinkcolor" val="tx"/>
                    </a:ext>
                  </a:extLst>
                </a:hlinkClick>
              </a:rPr>
              <a:t>Accenture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5" invalidUrl="" action="" tgtFrame="" tooltip="" history="1" highlightClick="0" endSnd="0">
                  <a:extLst>
                    <a:ext uri="{A12FA001-AC4F-418D-AE19-62706E023703}">
                      <ahyp:hlinkClr xmlns:ahyp="http://schemas.microsoft.com/office/drawing/2018/hyperlinkcolor" val="tx"/>
                    </a:ext>
                  </a:extLst>
                </a:hlinkClick>
              </a:rPr>
              <a:t>UL Solutions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6" invalidUrl="" action="" tgtFrame="" tooltip="" history="1" highlightClick="0" endSnd="0">
                  <a:extLst>
                    <a:ext uri="{A12FA001-AC4F-418D-AE19-62706E023703}">
                      <ahyp:hlinkClr xmlns:ahyp="http://schemas.microsoft.com/office/drawing/2018/hyperlinkcolor" val="tx"/>
                    </a:ext>
                  </a:extLst>
                </a:hlinkClick>
              </a:rPr>
              <a:t>Kforce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7" invalidUrl="" action="" tgtFrame="" tooltip="" history="1" highlightClick="0" endSnd="0">
                  <a:extLst>
                    <a:ext uri="{A12FA001-AC4F-418D-AE19-62706E023703}">
                      <ahyp:hlinkClr xmlns:ahyp="http://schemas.microsoft.com/office/drawing/2018/hyperlinkcolor" val="tx"/>
                    </a:ext>
                  </a:extLst>
                </a:hlinkClick>
              </a:rPr>
              <a:t>ABM Industries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8" invalidUrl="" action="" tgtFrame="" tooltip="" history="1" highlightClick="0" endSnd="0">
                  <a:extLst>
                    <a:ext uri="{A12FA001-AC4F-418D-AE19-62706E023703}">
                      <ahyp:hlinkClr xmlns:ahyp="http://schemas.microsoft.com/office/drawing/2018/hyperlinkcolor" val="tx"/>
                    </a:ext>
                  </a:extLst>
                </a:hlinkClick>
              </a:rPr>
              <a:t>FirstService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79" invalidUrl="" action="" tgtFrame="" tooltip="" history="1" highlightClick="0" endSnd="0">
                  <a:extLst>
                    <a:ext uri="{A12FA001-AC4F-418D-AE19-62706E023703}">
                      <ahyp:hlinkClr xmlns:ahyp="http://schemas.microsoft.com/office/drawing/2018/hyperlinkcolor" val="tx"/>
                    </a:ext>
                  </a:extLst>
                </a:hlinkClick>
              </a:rPr>
              <a:t>Advantage Solutions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0" invalidUrl="" action="" tgtFrame="" tooltip="" history="1" highlightClick="0" endSnd="0">
                  <a:extLst>
                    <a:ext uri="{A12FA001-AC4F-418D-AE19-62706E023703}">
                      <ahyp:hlinkClr xmlns:ahyp="http://schemas.microsoft.com/office/drawing/2018/hyperlinkcolor" val="tx"/>
                    </a:ext>
                  </a:extLst>
                </a:hlinkClick>
              </a:rPr>
              <a:t>BrightView</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1" invalidUrl="" action="" tgtFrame="" tooltip="" history="1" highlightClick="0" endSnd="0">
                  <a:extLst>
                    <a:ext uri="{A12FA001-AC4F-418D-AE19-62706E023703}">
                      <ahyp:hlinkClr xmlns:ahyp="http://schemas.microsoft.com/office/drawing/2018/hyperlinkcolor" val="tx"/>
                    </a:ext>
                  </a:extLst>
                </a:hlinkClick>
              </a:rPr>
              <a:t>Crawford &amp; Company</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2" invalidUrl="" action="" tgtFrame="" tooltip="" history="1" highlightClick="0" endSnd="0">
                  <a:extLst>
                    <a:ext uri="{A12FA001-AC4F-418D-AE19-62706E023703}">
                      <ahyp:hlinkClr xmlns:ahyp="http://schemas.microsoft.com/office/drawing/2018/hyperlinkcolor" val="tx"/>
                    </a:ext>
                  </a:extLst>
                </a:hlinkClick>
              </a:rPr>
              <a:t>Robert Half</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3" invalidUrl="" action="" tgtFrame="" tooltip="" history="1" highlightClick="0" endSnd="0">
                  <a:extLst>
                    <a:ext uri="{A12FA001-AC4F-418D-AE19-62706E023703}">
                      <ahyp:hlinkClr xmlns:ahyp="http://schemas.microsoft.com/office/drawing/2018/hyperlinkcolor" val="tx"/>
                    </a:ext>
                  </a:extLst>
                </a:hlinkClick>
              </a:rPr>
              <a:t>Tetra Tech</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ECONOMIC TRENDS</a:t>
            </a:r>
            <a:endParaRPr lang="en-US" sz="600" dirty="0"/>
          </a:p>
          <a:p>
            <a:pPr algn="l" indent="0" marL="0">
              <a:lnSpc>
                <a:spcPts val="1150"/>
              </a:lnSpc>
              <a:buNone/>
            </a:pPr>
            <a:r>
              <a:rPr lang="en-US" sz="750" u="sng" dirty="0">
                <a:solidFill>
                  <a:srgbClr val="8C6239"/>
                </a:solidFill>
                <a:latin typeface="+mn-lt" pitchFamily="34" charset="0"/>
                <a:hlinkClick r:id="rId84" invalidUrl="" action="" tgtFrame="" tooltip="" history="1" highlightClick="0" endSnd="0">
                  <a:extLst>
                    <a:ext uri="{A12FA001-AC4F-418D-AE19-62706E023703}">
                      <ahyp:hlinkClr xmlns:ahyp="http://schemas.microsoft.com/office/drawing/2018/hyperlinkcolor" val="tx"/>
                    </a:ext>
                  </a:extLst>
                </a:hlinkClick>
              </a:rPr>
              <a:t>FRED series A191RL1Q225SBEA</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5" invalidUrl="" action="" tgtFrame="" tooltip="" history="1" highlightClick="0" endSnd="0">
                  <a:extLst>
                    <a:ext uri="{A12FA001-AC4F-418D-AE19-62706E023703}">
                      <ahyp:hlinkClr xmlns:ahyp="http://schemas.microsoft.com/office/drawing/2018/hyperlinkcolor" val="tx"/>
                    </a:ext>
                  </a:extLst>
                </a:hlinkClick>
              </a:rPr>
              <a:t>FRED series UNRATE</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6" invalidUrl="" action="" tgtFrame="" tooltip="" history="1" highlightClick="0" endSnd="0">
                  <a:extLst>
                    <a:ext uri="{A12FA001-AC4F-418D-AE19-62706E023703}">
                      <ahyp:hlinkClr xmlns:ahyp="http://schemas.microsoft.com/office/drawing/2018/hyperlinkcolor" val="tx"/>
                    </a:ext>
                  </a:extLst>
                </a:hlinkClick>
              </a:rPr>
              <a:t>FRED series PAYEMS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7" invalidUrl="" action="" tgtFrame="" tooltip="" history="1" highlightClick="0" endSnd="0">
                  <a:extLst>
                    <a:ext uri="{A12FA001-AC4F-418D-AE19-62706E023703}">
                      <ahyp:hlinkClr xmlns:ahyp="http://schemas.microsoft.com/office/drawing/2018/hyperlinkcolor" val="tx"/>
                    </a:ext>
                  </a:extLst>
                </a:hlinkClick>
              </a:rPr>
              <a:t>FRED series GS10</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8" invalidUrl="" action="" tgtFrame="" tooltip="" history="1" highlightClick="0" endSnd="0">
                  <a:extLst>
                    <a:ext uri="{A12FA001-AC4F-418D-AE19-62706E023703}">
                      <ahyp:hlinkClr xmlns:ahyp="http://schemas.microsoft.com/office/drawing/2018/hyperlinkcolor" val="tx"/>
                    </a:ext>
                  </a:extLst>
                </a:hlinkClick>
              </a:rPr>
              <a:t>FRED series FEDFUNDS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89" invalidUrl="" action="" tgtFrame="" tooltip="" history="1" highlightClick="0" endSnd="0">
                  <a:extLst>
                    <a:ext uri="{A12FA001-AC4F-418D-AE19-62706E023703}">
                      <ahyp:hlinkClr xmlns:ahyp="http://schemas.microsoft.com/office/drawing/2018/hyperlinkcolor" val="tx"/>
                    </a:ext>
                  </a:extLst>
                </a:hlinkClick>
              </a:rPr>
              <a:t>FRED series TEMPHELPS</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90" invalidUrl="" action="" tgtFrame="" tooltip="" history="1" highlightClick="0" endSnd="0">
                  <a:extLst>
                    <a:ext uri="{A12FA001-AC4F-418D-AE19-62706E023703}">
                      <ahyp:hlinkClr xmlns:ahyp="http://schemas.microsoft.com/office/drawing/2018/hyperlinkcolor" val="tx"/>
                    </a:ext>
                  </a:extLst>
                </a:hlinkClick>
              </a:rPr>
              <a:t>FRED series CES6054130001</a:t>
            </a:r>
            <a:pPr algn="l" indent="0" marL="0">
              <a:lnSpc>
                <a:spcPts val="1150"/>
              </a:lnSpc>
              <a:buNone/>
            </a:pPr>
            <a:r>
              <a:rPr lang="en-US" sz="750" dirty="0">
                <a:solidFill>
                  <a:srgbClr val="333231"/>
                </a:solidFill>
                <a:latin typeface="+mn-lt" pitchFamily="34" charset="0"/>
              </a:rPr>
              <a:t>; </a:t>
            </a:r>
            <a:pPr algn="l" indent="0" marL="0">
              <a:lnSpc>
                <a:spcPts val="1150"/>
              </a:lnSpc>
              <a:buNone/>
            </a:pPr>
            <a:r>
              <a:rPr lang="en-US" sz="750" u="sng" dirty="0">
                <a:solidFill>
                  <a:srgbClr val="8C6239"/>
                </a:solidFill>
                <a:latin typeface="+mn-lt" pitchFamily="34" charset="0"/>
                <a:hlinkClick r:id="rId91" invalidUrl="" action="" tgtFrame="" tooltip="" history="1" highlightClick="0" endSnd="0">
                  <a:extLst>
                    <a:ext uri="{A12FA001-AC4F-418D-AE19-62706E023703}">
                      <ahyp:hlinkClr xmlns:ahyp="http://schemas.microsoft.com/office/drawing/2018/hyperlinkcolor" val="tx"/>
                    </a:ext>
                  </a:extLst>
                </a:hlinkClick>
              </a:rPr>
              <a:t>FRED series CES6056170001</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SELECT MARKET PARTICIPANTS</a:t>
            </a:r>
            <a:endParaRPr lang="en-US" sz="600" dirty="0"/>
          </a:p>
          <a:p>
            <a:pPr algn="l" indent="0" marL="0">
              <a:lnSpc>
                <a:spcPts val="1150"/>
              </a:lnSpc>
              <a:buNone/>
            </a:pPr>
            <a:r>
              <a:rPr lang="en-US" sz="750" u="sng" dirty="0">
                <a:solidFill>
                  <a:srgbClr val="8C6239"/>
                </a:solidFill>
                <a:latin typeface="+mn-lt" pitchFamily="34" charset="0"/>
                <a:hlinkClick r:id="rId92" invalidUrl="" action="" tgtFrame="" tooltip="" history="1" highlightClick="0" endSnd="0">
                  <a:extLst>
                    <a:ext uri="{A12FA001-AC4F-418D-AE19-62706E023703}">
                      <ahyp:hlinkClr xmlns:ahyp="http://schemas.microsoft.com/office/drawing/2018/hyperlinkcolor" val="tx"/>
                    </a:ext>
                  </a:extLst>
                </a:hlinkClick>
              </a:rPr>
              <a:t>StockAnalysis</a:t>
            </a:r>
            <a:pPr algn="l" indent="0" marL="0">
              <a:lnSpc>
                <a:spcPts val="1150"/>
              </a:lnSpc>
              <a:buNone/>
            </a:pPr>
            <a:r>
              <a:rPr lang="en-US" sz="750" dirty="0">
                <a:solidFill>
                  <a:srgbClr val="333231"/>
                </a:solidFill>
                <a:latin typeface="+mn-lt" pitchFamily="34" charset="0"/>
              </a:rPr>
              <a:t/>
            </a:r>
            <a:pPr algn="l" indent="0" marL="0">
              <a:lnSpc>
                <a:spcPts val="1150"/>
              </a:lnSpc>
              <a:buNone/>
            </a:pPr>
            <a:r>
              <a:rPr lang="en-US" sz="750" u="sng" dirty="0">
                <a:solidFill>
                  <a:srgbClr val="8C6239"/>
                </a:solidFill>
                <a:latin typeface="+mn-lt" pitchFamily="34" charset="0"/>
                <a:hlinkClick r:id="rId93" invalidUrl="" action="" tgtFrame="" tooltip="" history="1" highlightClick="0" endSnd="0">
                  <a:extLst>
                    <a:ext uri="{A12FA001-AC4F-418D-AE19-62706E023703}">
                      <ahyp:hlinkClr xmlns:ahyp="http://schemas.microsoft.com/office/drawing/2018/hyperlinkcolor" val="tx"/>
                    </a:ext>
                  </a:extLst>
                </a:hlinkClick>
              </a:rPr>
              <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BENCHMARK INTERNATIONAL</a:t>
            </a:r>
            <a:endParaRPr lang="en-US" sz="600" dirty="0"/>
          </a:p>
          <a:p>
            <a:pPr algn="l" indent="0" marL="0">
              <a:lnSpc>
                <a:spcPts val="1150"/>
              </a:lnSpc>
              <a:buNone/>
            </a:pPr>
            <a:r>
              <a:rPr lang="en-US" sz="750" u="sng" dirty="0">
                <a:solidFill>
                  <a:srgbClr val="8C6239"/>
                </a:solidFill>
                <a:latin typeface="+mn-lt" pitchFamily="34" charset="0"/>
                <a:hlinkClick r:id="rId94" invalidUrl="" action="" tgtFrame="" tooltip="" history="1" highlightClick="0" endSnd="0">
                  <a:extLst>
                    <a:ext uri="{A12FA001-AC4F-418D-AE19-62706E023703}">
                      <ahyp:hlinkClr xmlns:ahyp="http://schemas.microsoft.com/office/drawing/2018/hyperlinkcolor" val="tx"/>
                    </a:ext>
                  </a:extLst>
                </a:hlinkClick>
              </a:rPr>
              <a:t>benchmarkintl.com</a:t>
            </a:r>
            <a:endParaRPr lang="en-US" sz="600" dirty="0"/>
          </a:p>
          <a:p>
            <a:pPr algn="l" indent="0" marL="0">
              <a:lnSpc>
                <a:spcPts val="1000"/>
              </a:lnSpc>
              <a:spcBef>
                <a:spcPts val="900"/>
              </a:spcBef>
              <a:spcAft>
                <a:spcPts val="300"/>
              </a:spcAft>
              <a:buNone/>
            </a:pPr>
            <a:r>
              <a:rPr lang="en-US" sz="600" b="1" spc="150" kern="0" dirty="0">
                <a:solidFill>
                  <a:srgbClr val="1B1A1A"/>
                </a:solidFill>
                <a:latin typeface="+mn-lt" pitchFamily="34" charset="0"/>
              </a:rPr>
              <a:t>BENCHMARK INTERNATIONAL RECORDS</a:t>
            </a:r>
            <a:endParaRPr lang="en-US" sz="600" dirty="0"/>
          </a:p>
          <a:p>
            <a:pPr algn="l" indent="0" marL="0">
              <a:lnSpc>
                <a:spcPts val="1150"/>
              </a:lnSpc>
              <a:buNone/>
            </a:pPr>
            <a:r>
              <a:rPr lang="en-US" sz="750" dirty="0">
                <a:solidFill>
                  <a:srgbClr val="333231"/>
                </a:solidFill>
                <a:latin typeface="+mn-lt" pitchFamily="34" charset="0"/>
              </a:rPr>
              <a:t>Transaction records and the engagement portfolio as of October 1, 2026; announced transactions as published at </a:t>
            </a:r>
            <a:pPr algn="l" indent="0" marL="0">
              <a:lnSpc>
                <a:spcPts val="1150"/>
              </a:lnSpc>
              <a:buNone/>
            </a:pPr>
            <a:r>
              <a:rPr lang="en-US" sz="750" u="sng" dirty="0">
                <a:solidFill>
                  <a:srgbClr val="8C6239"/>
                </a:solidFill>
                <a:latin typeface="+mn-lt" pitchFamily="34" charset="0"/>
                <a:hlinkClick r:id="rId95" invalidUrl="" action="" tgtFrame="" tooltip="" history="1" highlightClick="0" endSnd="0">
                  <a:extLst>
                    <a:ext uri="{A12FA001-AC4F-418D-AE19-62706E023703}">
                      <ahyp:hlinkClr xmlns:ahyp="http://schemas.microsoft.com/office/drawing/2018/hyperlinkcolor" val="tx"/>
                    </a:ext>
                  </a:extLst>
                </a:hlinkClick>
              </a:rPr>
              <a:t>benchmarkintl.com/insights</a:t>
            </a:r>
            <a:pPr algn="l" indent="0" marL="0">
              <a:lnSpc>
                <a:spcPts val="1150"/>
              </a:lnSpc>
              <a:buNone/>
            </a:pPr>
            <a:r>
              <a:rPr lang="en-US" sz="750" dirty="0">
                <a:solidFill>
                  <a:srgbClr val="333231"/>
                </a:solidFill>
                <a:latin typeface="+mn-lt" pitchFamily="34" charset="0"/>
              </a:rPr>
              <a:t>, each linked from its card or tile.</a:t>
            </a:r>
            <a:endParaRPr lang="en-US" sz="600" dirty="0"/>
          </a:p>
        </p:txBody>
      </p:sp>
      <p:sp>
        <p:nvSpPr>
          <p:cNvPr id="9" name="Shape e51"/>
          <p:cNvSpPr/>
          <p:nvPr/>
        </p:nvSpPr>
        <p:spPr>
          <a:xfrm>
            <a:off x="419070" y="7029450"/>
            <a:ext cx="9220170" cy="9510"/>
          </a:xfrm>
          <a:prstGeom prst="ellipse">
            <a:avLst/>
          </a:prstGeom>
          <a:solidFill>
            <a:srgbClr val="E3DCD3"/>
          </a:solidFill>
          <a:ln/>
        </p:spPr>
        <p:txBody>
          <a:bodyPr/>
          <a:p/>
        </p:txBody>
      </p:sp>
      <p:pic>
        <p:nvPicPr>
          <p:cNvPr id="10" name="Picture e52" descr="Benchmark International">    </p:cNvPr>
          <p:cNvPicPr>
            <a:picLocks noChangeAspect="1"/>
          </p:cNvPicPr>
          <p:nvPr/>
        </p:nvPicPr>
        <p:blipFill>
          <a:blip r:embed="rId96"/>
          <a:stretch>
            <a:fillRect/>
          </a:stretch>
        </p:blipFill>
        <p:spPr>
          <a:xfrm>
            <a:off x="419070" y="7143750"/>
            <a:ext cx="914400" cy="171450"/>
          </a:xfrm>
          <a:prstGeom prst="rect">
            <a:avLst/>
          </a:prstGeom>
        </p:spPr>
      </p:pic>
      <p:sp>
        <p:nvSpPr>
          <p:cNvPr id="11" name="Text e53"/>
          <p:cNvSpPr txBox="1"/>
          <p:nvPr/>
        </p:nvSpPr>
        <p:spPr>
          <a:xfrm>
            <a:off x="1543050" y="7098487"/>
            <a:ext cx="3607125" cy="119055"/>
          </a:xfrm>
          <a:prstGeom prst="rect">
            <a:avLst/>
          </a:prstGeom>
          <a:noFill/>
          <a:ln/>
        </p:spPr>
        <p:txBody>
          <a:bodyPr wrap="none" lIns="0" tIns="0" rIns="0" bIns="0" rtlCol="0" anchor="t"/>
          <a:lstStyle/>
          <a:p>
            <a:pPr algn="l" indent="0" marL="0">
              <a:lnSpc>
                <a:spcPts val="950"/>
              </a:lnSpc>
              <a:buNone/>
            </a:pPr>
            <a:r>
              <a:rPr lang="en-US" sz="700" dirty="0">
                <a:solidFill>
                  <a:srgbClr val="6F6A66"/>
                </a:solidFill>
                <a:latin typeface="+mn-lt" pitchFamily="34" charset="0"/>
              </a:rPr>
              <a:t>Subscription sources that would add depth are listed in a separate one-page document.</a:t>
            </a:r>
            <a:endParaRPr lang="en-US" sz="700" dirty="0"/>
          </a:p>
        </p:txBody>
      </p:sp>
      <p:sp>
        <p:nvSpPr>
          <p:cNvPr id="12" name="Text e54"/>
          <p:cNvSpPr txBox="1"/>
          <p:nvPr/>
        </p:nvSpPr>
        <p:spPr>
          <a:xfrm>
            <a:off x="9514423" y="7162770"/>
            <a:ext cx="123810" cy="133320"/>
          </a:xfrm>
          <a:prstGeom prst="rect">
            <a:avLst/>
          </a:prstGeom>
          <a:noFill/>
          <a:ln/>
        </p:spPr>
        <p:txBody>
          <a:bodyPr wrap="none" lIns="0" tIns="0" rIns="0" bIns="0" rtlCol="0" anchor="t"/>
          <a:lstStyle/>
          <a:p>
            <a:pPr algn="r" indent="0" marL="0">
              <a:lnSpc>
                <a:spcPts val="1050"/>
              </a:lnSpc>
              <a:buNone/>
            </a:pPr>
            <a:r>
              <a:rPr lang="en-US" sz="700" b="1" spc="150" kern="0" dirty="0">
                <a:solidFill>
                  <a:srgbClr val="1B1A1A"/>
                </a:solidFill>
                <a:latin typeface="+mn-lt" pitchFamily="34" charset="0"/>
              </a:rPr>
              <a:t>21</a:t>
            </a:r>
            <a:endParaRPr lang="en-US" sz="700" dirty="0"/>
          </a:p>
        </p:txBody>
      </p:sp>
    </p:spTree>
  </p:cSld>
  <p:clrMapOvr>
    <a:masterClrMapping/>
  </p:clrMapOvr>
</p:sld>
</file>

<file path=ppt/theme/theme1.xml><?xml version="1.0" encoding="utf-8"?>
<a:theme xmlns:a="http://schemas.openxmlformats.org/drawingml/2006/main" name="Benchmark International">
  <a:themeElements>
    <a:clrScheme name="Benchmark International">
      <a:dk1>
        <a:srgbClr val="1B1A1A"/>
      </a:dk1>
      <a:lt1>
        <a:srgbClr val="FFFFFF"/>
      </a:lt1>
      <a:dk2>
        <a:srgbClr val="333231"/>
      </a:dk2>
      <a:lt2>
        <a:srgbClr val="FAF7F3"/>
      </a:lt2>
      <a:accent1>
        <a:srgbClr val="B68757"/>
      </a:accent1>
      <a:accent2>
        <a:srgbClr val="8C6239"/>
      </a:accent2>
      <a:accent3>
        <a:srgbClr val="D3AE84"/>
      </a:accent3>
      <a:accent4>
        <a:srgbClr val="6F6A66"/>
      </a:accent4>
      <a:accent5>
        <a:srgbClr val="E3DCD3"/>
      </a:accent5>
      <a:accent6>
        <a:srgbClr val="5E4126"/>
      </a:accent6>
      <a:hlink>
        <a:srgbClr val="8C6239"/>
      </a:hlink>
      <a:folHlink>
        <a:srgbClr val="8C6239"/>
      </a:folHlink>
    </a:clrScheme>
    <a:fontScheme name="Benchmark Internatio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Benchmark International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Services Q4 2026 Industry Report</dc:title>
  <dc:subject>Business Services quarterly industry report, Q4 2026</dc:subject>
  <dc:creator>Jared Hardin, Benchmark International</dc:creator>
  <cp:lastModifiedBy>Benchmark International</cp:lastModifiedBy>
  <cp:revision>1</cp:revision>
  <dcterms:created xsi:type="dcterms:W3CDTF">2026-10-12T16:54:45Z</dcterms:created>
  <dcterms:modified xsi:type="dcterms:W3CDTF">2026-10-12T16:54:45Z</dcterms:modified>
  <dc:description/>
  <cp:keywords/>
</cp:coreProperties>
</file>