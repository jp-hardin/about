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sector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INDUSTRY REPORT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sectors,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INDUSTRY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active buyers</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work draws the deepest buyer pool</a:t>
            </a:r>
          </a:p>
          <a:p>
            <a:pPr>
              <a:lnSpc>
                <a:spcPct val="120000"/>
              </a:lnSpc>
            </a:pPr>
            <a:r>
              <a:rPr sz="800" b="0">
                <a:solidFill>
                  <a:srgbClr val="D9D2C9"/>
                </a:solidFill>
                <a:latin typeface="+mn-lt"/>
              </a:rPr>
              <a:t>Pye-Barker completed 22 acquisitions in the first half of 2026, after 57 in 2025. Acquirers compete hardest for contracted inspection and service work.</a:t>
            </a:r>
          </a:p>
          <a:p>
            <a:pPr>
              <a:spcBef>
                <a:spcPts val="600"/>
              </a:spcBef>
            </a:pPr>
            <a:r>
              <a:rPr sz="850" b="1">
                <a:solidFill>
                  <a:srgbClr val="C99A6A"/>
                </a:solidFill>
                <a:latin typeface="+mn-lt"/>
              </a:rPr>
              <a:t>02  </a:t>
            </a:r>
            <a:r>
              <a:rPr sz="850" b="1">
                <a:solidFill>
                  <a:srgbClr val="FFFFFF"/>
                </a:solidFill>
                <a:latin typeface="+mn-lt"/>
              </a:rPr>
              <a:t>Costlier debt puts a premium on proof</a:t>
            </a:r>
          </a:p>
          <a:p>
            <a:pPr>
              <a:lnSpc>
                <a:spcPct val="120000"/>
              </a:lnSpc>
            </a:pPr>
            <a:r>
              <a:rPr sz="800" b="0">
                <a:solidFill>
                  <a:srgbClr val="D9D2C9"/>
                </a:solidFill>
                <a:latin typeface="+mn-lt"/>
              </a:rPr>
              <a:t>Debt on platform acquisitions fell to 2.9x EBITDA from 3.4x, and the Federal Reserve raised its target range on September 16. Documented earnings and contracted customers now command the premium.</a:t>
            </a:r>
          </a:p>
          <a:p>
            <a:pPr>
              <a:spcBef>
                <a:spcPts val="600"/>
              </a:spcBef>
            </a:pPr>
            <a:r>
              <a:rPr sz="850" b="1">
                <a:solidFill>
                  <a:srgbClr val="C99A6A"/>
                </a:solidFill>
                <a:latin typeface="+mn-lt"/>
              </a:rPr>
              <a:t>03  </a:t>
            </a:r>
            <a:r>
              <a:rPr sz="850" b="1">
                <a:solidFill>
                  <a:srgbClr val="FFFFFF"/>
                </a:solidFill>
                <a:latin typeface="+mn-lt"/>
              </a:rPr>
              <a:t>Engineering buyers pay for people and backlog</a:t>
            </a:r>
          </a:p>
          <a:p>
            <a:pPr>
              <a:lnSpc>
                <a:spcPct val="120000"/>
              </a:lnSpc>
            </a:pPr>
            <a:r>
              <a:rPr sz="800" b="0">
                <a:solidFill>
                  <a:srgbClr val="D9D2C9"/>
                </a:solidFill>
                <a:latin typeface="+mn-lt"/>
              </a:rPr>
              <a:t>Bernhard Capital agreed to buy Bowman at a 58% premium, and 88% of engineering firms report open positions. Licensed staff and a year of funded backlog set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sectors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Sectors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sector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SECTORS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INDUSTRY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Industry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market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sector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sectors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sectors, and each sector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sector</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sector.</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sector with a published figure, between 7 and 12 companies a sector.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Market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sector,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recapitalization or a growth partnership in any of the five sectors,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sales, recapitalizations and growth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81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4005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81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4005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81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4005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8665"/>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91095"/>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8665"/>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91095"/>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53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78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on sales, recapitalizations and growth partnerships across five industries.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SECTORS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MARKET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Industry Report</dc:title>
  <dc:subject>Business Services quarterly industry report, Q4 2026</dc:subject>
  <dc:creator>Jared Hardin, Benchmark International</dc:creator>
  <cp:lastModifiedBy>Benchmark International</cp:lastModifiedBy>
  <cp:revision>1</cp:revision>
  <dcterms:created xsi:type="dcterms:W3CDTF">2026-10-12T16:54:45Z</dcterms:created>
  <dcterms:modified xsi:type="dcterms:W3CDTF">2026-10-12T16:54:45Z</dcterms:modified>
  <dc:description/>
  <cp:keywords/>
</cp:coreProperties>
</file>