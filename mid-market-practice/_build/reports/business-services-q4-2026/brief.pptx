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93.jpg" ContentType="image/jpg"/>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5" r:id="rId3"/>
    <p:sldId id="278" r:id="rId4"/>
    <p:sldId id="257" r:id="rId5"/>
    <p:sldId id="258" r:id="rId6"/>
    <p:sldId id="277"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9" r:id="rId22"/>
    <p:sldId id="276"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Connect With Us" id="{42E8DDD3-88FF-29B8-C046-E067F4E7872B}">
          <p14:sldIdLst>
            <p14:sldId id="275"/>
            <p14:sldId id="278"/>
          </p14:sldIdLst>
        </p14:section>
        <p14:section name="Insights" id="{DDE2274A-50E4-0011-F251-1CF7C6C93252}">
          <p14:sldIdLst>
            <p14:sldId id="257"/>
            <p14:sldId id="258"/>
            <p14:sldId id="277"/>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 id="271"/>
            <p14:sldId id="272"/>
            <p14:sldId id="279"/>
            <p14:sldId id="276"/>
          </p14:sldIdLst>
        </p14:section>
      </p14:sectionLst>
    </p:ext>
    <p:ext uri="{EFAFB233-063F-42B5-8137-9DF3F51BA10A}">
      <p15:sldGuideLst xmlns:p15="http://schemas.microsoft.com/office/powerpoint/2012/main"/>
    </p:ext>
  </p:extLst>
</p:presentation>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85E2-49C5-8130-64F57740B77C}"/>
              </c:ext>
            </c:extLst>
          </c:dPt>
          <c:dPt>
            <c:idx val="1"/>
            <c:invertIfNegative val="0"/>
            <c:bubble3D val="0"/>
            <c:extLst>
              <c:ext xmlns:c16="http://schemas.microsoft.com/office/drawing/2014/chart" uri="{C3380CC4-5D6E-409C-BE32-E72D297353CC}">
                <c16:uniqueId val="{00000003-85E2-49C5-8130-64F57740B77C}"/>
              </c:ext>
            </c:extLst>
          </c:dPt>
          <c:dPt>
            <c:idx val="2"/>
            <c:invertIfNegative val="0"/>
            <c:bubble3D val="0"/>
            <c:extLst>
              <c:ext xmlns:c16="http://schemas.microsoft.com/office/drawing/2014/chart" uri="{C3380CC4-5D6E-409C-BE32-E72D297353CC}">
                <c16:uniqueId val="{00000005-85E2-49C5-8130-64F57740B77C}"/>
              </c:ext>
            </c:extLst>
          </c:dPt>
          <c:dPt>
            <c:idx val="3"/>
            <c:invertIfNegative val="0"/>
            <c:bubble3D val="0"/>
            <c:spPr>
              <a:solidFill>
                <a:srgbClr val="8A847E"/>
              </a:solidFill>
              <a:effectLst/>
            </c:spPr>
            <c:extLst>
              <c:ext xmlns:c16="http://schemas.microsoft.com/office/drawing/2014/chart" uri="{C3380CC4-5D6E-409C-BE32-E72D297353CC}">
                <c16:uniqueId val="{00000007-85E2-49C5-8130-64F57740B77C}"/>
              </c:ext>
            </c:extLst>
          </c:dPt>
          <c:dPt>
            <c:idx val="4"/>
            <c:invertIfNegative val="0"/>
            <c:bubble3D val="0"/>
            <c:spPr>
              <a:solidFill>
                <a:srgbClr val="8A847E"/>
              </a:solidFill>
              <a:effectLst/>
            </c:spPr>
            <c:extLst>
              <c:ext xmlns:c16="http://schemas.microsoft.com/office/drawing/2014/chart" uri="{C3380CC4-5D6E-409C-BE32-E72D297353CC}">
                <c16:uniqueId val="{00000009-85E2-49C5-8130-64F57740B77C}"/>
              </c:ext>
            </c:extLst>
          </c:dPt>
          <c:dPt>
            <c:idx val="5"/>
            <c:invertIfNegative val="0"/>
            <c:bubble3D val="0"/>
            <c:spPr>
              <a:solidFill>
                <a:srgbClr val="8A847E"/>
              </a:solidFill>
              <a:effectLst/>
            </c:spPr>
            <c:extLst>
              <c:ext xmlns:c16="http://schemas.microsoft.com/office/drawing/2014/chart" uri="{C3380CC4-5D6E-409C-BE32-E72D297353CC}">
                <c16:uniqueId val="{0000000B-85E2-49C5-8130-64F57740B77C}"/>
              </c:ext>
            </c:extLst>
          </c:dPt>
          <c:dLbls>
            <c:numFmt formatCode="0.0&quot;x&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Cintas</c:v>
                </c:pt>
                <c:pt idx="1">
                  <c:v>Rollins</c:v>
                </c:pt>
                <c:pt idx="2">
                  <c:v>APi Group</c:v>
                </c:pt>
                <c:pt idx="3">
                  <c:v>FirstService</c:v>
                </c:pt>
                <c:pt idx="4">
                  <c:v>ABM Industries</c:v>
                </c:pt>
                <c:pt idx="5">
                  <c:v>BrightView</c:v>
                </c:pt>
              </c:strCache>
            </c:strRef>
          </c:cat>
          <c:val>
            <c:numRef>
              <c:f>Sheet1!$B$2:$B$7</c:f>
              <c:numCache>
                <c:formatCode>General</c:formatCode>
                <c:ptCount val="6"/>
                <c:pt idx="0">
                  <c:v>28.13</c:v>
                </c:pt>
                <c:pt idx="1">
                  <c:v>19.77</c:v>
                </c:pt>
                <c:pt idx="2">
                  <c:v>18.84</c:v>
                </c:pt>
                <c:pt idx="3">
                  <c:v>14.58</c:v>
                </c:pt>
                <c:pt idx="4">
                  <c:v>10.37</c:v>
                </c:pt>
                <c:pt idx="5">
                  <c:v>5.94</c:v>
                </c:pt>
              </c:numCache>
            </c:numRef>
          </c:val>
          <c:extLst>
            <c:ext xmlns:c16="http://schemas.microsoft.com/office/drawing/2014/chart" uri="{C3380CC4-5D6E-409C-BE32-E72D297353CC}">
              <c16:uniqueId val="{0000000C-85E2-49C5-8130-64F57740B77C}"/>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6.6"/>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chemeClr val="bg2">
                <a:lumMod val="50000"/>
              </a:schemeClr>
            </a:solidFill>
            <a:effectLst/>
          </c:spPr>
          <c:invertIfNegative val="0"/>
          <c:dPt>
            <c:idx val="0"/>
            <c:invertIfNegative val="0"/>
            <c:bubble3D val="0"/>
            <c:extLst>
              <c:ext xmlns:c16="http://schemas.microsoft.com/office/drawing/2014/chart" uri="{C3380CC4-5D6E-409C-BE32-E72D297353CC}">
                <c16:uniqueId val="{00000001-79F2-485B-9003-7173B0E5D558}"/>
              </c:ext>
            </c:extLst>
          </c:dPt>
          <c:dPt>
            <c:idx val="1"/>
            <c:invertIfNegative val="0"/>
            <c:bubble3D val="0"/>
            <c:spPr>
              <a:solidFill>
                <a:schemeClr val="bg2">
                  <a:lumMod val="50000"/>
                </a:schemeClr>
              </a:solidFill>
              <a:effectLst/>
            </c:spPr>
            <c:extLst>
              <c:ext xmlns:c16="http://schemas.microsoft.com/office/drawing/2014/chart" uri="{C3380CC4-5D6E-409C-BE32-E72D297353CC}">
                <c16:uniqueId val="{00000003-79F2-485B-9003-7173B0E5D558}"/>
              </c:ext>
            </c:extLst>
          </c:dPt>
          <c:dPt>
            <c:idx val="2"/>
            <c:invertIfNegative val="0"/>
            <c:bubble3D val="0"/>
            <c:spPr>
              <a:solidFill>
                <a:schemeClr val="bg2">
                  <a:lumMod val="50000"/>
                </a:schemeClr>
              </a:solidFill>
              <a:effectLst/>
            </c:spPr>
            <c:extLst>
              <c:ext xmlns:c16="http://schemas.microsoft.com/office/drawing/2014/chart" uri="{C3380CC4-5D6E-409C-BE32-E72D297353CC}">
                <c16:uniqueId val="{00000005-79F2-485B-9003-7173B0E5D558}"/>
              </c:ext>
            </c:extLst>
          </c:dPt>
          <c:dPt>
            <c:idx val="3"/>
            <c:invertIfNegative val="0"/>
            <c:bubble3D val="0"/>
            <c:spPr>
              <a:solidFill>
                <a:schemeClr val="bg2">
                  <a:lumMod val="50000"/>
                </a:schemeClr>
              </a:solidFill>
              <a:effectLst/>
            </c:spPr>
            <c:extLst>
              <c:ext xmlns:c16="http://schemas.microsoft.com/office/drawing/2014/chart" uri="{C3380CC4-5D6E-409C-BE32-E72D297353CC}">
                <c16:uniqueId val="{00000007-79F2-485B-9003-7173B0E5D558}"/>
              </c:ext>
            </c:extLst>
          </c:dPt>
          <c:dPt>
            <c:idx val="4"/>
            <c:invertIfNegative val="0"/>
            <c:bubble3D val="0"/>
            <c:extLst>
              <c:ext xmlns:c16="http://schemas.microsoft.com/office/drawing/2014/chart" uri="{C3380CC4-5D6E-409C-BE32-E72D297353CC}">
                <c16:uniqueId val="{00000009-79F2-485B-9003-7173B0E5D558}"/>
              </c:ext>
            </c:extLst>
          </c:dPt>
          <c:dLbls>
            <c:dLbl>
              <c:idx val="2"/>
              <c:layout>
                <c:manualLayout>
                  <c:x val="-0.14062285979093095"/>
                  <c:y val="5.797637306456378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9F2-485B-9003-7173B0E5D558}"/>
                </c:ext>
              </c:extLst>
            </c:dLbl>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12.23</c:v>
                </c:pt>
                <c:pt idx="1">
                  <c:v>14.62</c:v>
                </c:pt>
                <c:pt idx="2">
                  <c:v>-29.95</c:v>
                </c:pt>
                <c:pt idx="3">
                  <c:v>-7.05</c:v>
                </c:pt>
                <c:pt idx="4">
                  <c:v>7.13</c:v>
                </c:pt>
              </c:numCache>
            </c:numRef>
          </c:val>
          <c:extLst>
            <c:ext xmlns:c16="http://schemas.microsoft.com/office/drawing/2014/chart" uri="{C3380CC4-5D6E-409C-BE32-E72D297353CC}">
              <c16:uniqueId val="{0000000A-79F2-485B-9003-7173B0E5D558}"/>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chemeClr val="bg2">
                <a:lumMod val="75000"/>
                <a:alpha val="46000"/>
              </a:schemeClr>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11.8179"/>
          <c:min val="-34.542900000000003"/>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16.59</c:v>
                </c:pt>
                <c:pt idx="1">
                  <c:v>7.99</c:v>
                </c:pt>
                <c:pt idx="2">
                  <c:v>19.38</c:v>
                </c:pt>
                <c:pt idx="3">
                  <c:v>14.98</c:v>
                </c:pt>
                <c:pt idx="4">
                  <c:v>13.43</c:v>
                </c:pt>
              </c:numCache>
            </c:numRef>
          </c:val>
          <c:extLst>
            <c:ext xmlns:c16="http://schemas.microsoft.com/office/drawing/2014/chart" uri="{C3380CC4-5D6E-409C-BE32-E72D297353CC}">
              <c16:uniqueId val="{00000000-4B2C-45EF-84F6-C30ECFD6EFB4}"/>
            </c:ext>
          </c:extLst>
        </c:ser>
        <c:ser>
          <c:idx val="1"/>
          <c:order val="1"/>
          <c:tx>
            <c:strRef>
              <c:f>Sheet1!$C$1</c:f>
              <c:strCache>
                <c:ptCount val="1"/>
                <c:pt idx="0">
                  <c:v>Today</c:v>
                </c:pt>
              </c:strCache>
            </c:strRef>
          </c:tx>
          <c:spPr>
            <a:solidFill>
              <a:srgbClr val="B68757"/>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Sheet1!$C$2:$C$6</c:f>
              <c:numCache>
                <c:formatCode>General</c:formatCode>
                <c:ptCount val="5"/>
                <c:pt idx="0">
                  <c:v>14.58</c:v>
                </c:pt>
                <c:pt idx="1">
                  <c:v>9.86</c:v>
                </c:pt>
                <c:pt idx="2">
                  <c:v>14.79</c:v>
                </c:pt>
                <c:pt idx="3">
                  <c:v>12.68</c:v>
                </c:pt>
                <c:pt idx="4">
                  <c:v>9.9700000000000006</c:v>
                </c:pt>
              </c:numCache>
            </c:numRef>
          </c:val>
          <c:extLst>
            <c:ext xmlns:c16="http://schemas.microsoft.com/office/drawing/2014/chart" uri="{C3380CC4-5D6E-409C-BE32-E72D297353CC}">
              <c16:uniqueId val="{00000001-4B2C-45EF-84F6-C30ECFD6EFB4}"/>
            </c:ext>
          </c:extLst>
        </c:ser>
        <c:ser>
          <c:idx val="2"/>
          <c:order val="2"/>
          <c:tx>
            <c:strRef>
              <c:f>Sheet1!$D$1</c:f>
              <c:strCache>
                <c:ptCount val="1"/>
                <c:pt idx="0">
                  <c:v>Three-year median</c:v>
                </c:pt>
              </c:strCache>
            </c:strRef>
          </c:tx>
          <c:spPr>
            <a:solidFill>
              <a:srgbClr val="1B1A1A"/>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Sheet1!$D$2:$D$6</c:f>
              <c:numCache>
                <c:formatCode>General</c:formatCode>
                <c:ptCount val="5"/>
                <c:pt idx="0">
                  <c:v>15.85</c:v>
                </c:pt>
                <c:pt idx="1">
                  <c:v>8.8000000000000007</c:v>
                </c:pt>
                <c:pt idx="2">
                  <c:v>19.04</c:v>
                </c:pt>
                <c:pt idx="3">
                  <c:v>16.77</c:v>
                </c:pt>
                <c:pt idx="4">
                  <c:v>13.37</c:v>
                </c:pt>
              </c:numCache>
            </c:numRef>
          </c:val>
          <c:extLst>
            <c:ext xmlns:c16="http://schemas.microsoft.com/office/drawing/2014/chart" uri="{C3380CC4-5D6E-409C-BE32-E72D297353CC}">
              <c16:uniqueId val="{00000002-4B2C-45EF-84F6-C30ECFD6EFB4}"/>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t"/>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showDLblsOverMax val="1"/>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5.23</c:v>
                </c:pt>
                <c:pt idx="1">
                  <c:v>3.87</c:v>
                </c:pt>
                <c:pt idx="2">
                  <c:v>11.75</c:v>
                </c:pt>
                <c:pt idx="3">
                  <c:v>14.32</c:v>
                </c:pt>
                <c:pt idx="4">
                  <c:v>4.12</c:v>
                </c:pt>
              </c:numCache>
            </c:numRef>
          </c:val>
          <c:extLst>
            <c:ext xmlns:c16="http://schemas.microsoft.com/office/drawing/2014/chart" uri="{C3380CC4-5D6E-409C-BE32-E72D297353CC}">
              <c16:uniqueId val="{00000000-3017-4CE8-8BAC-BB9F341D3577}"/>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17.299599999999998"/>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18.079999999999998</c:v>
                </c:pt>
                <c:pt idx="1">
                  <c:v>15.8</c:v>
                </c:pt>
                <c:pt idx="2">
                  <c:v>10.94</c:v>
                </c:pt>
                <c:pt idx="3">
                  <c:v>27.88</c:v>
                </c:pt>
                <c:pt idx="4">
                  <c:v>3.49</c:v>
                </c:pt>
              </c:numCache>
            </c:numRef>
          </c:val>
          <c:extLst>
            <c:ext xmlns:c16="http://schemas.microsoft.com/office/drawing/2014/chart" uri="{C3380CC4-5D6E-409C-BE32-E72D297353CC}">
              <c16:uniqueId val="{00000000-BEDA-49F7-B791-0D63AE559434}"/>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4.013599999999997"/>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12.38</c:v>
                </c:pt>
                <c:pt idx="1">
                  <c:v>10.17</c:v>
                </c:pt>
                <c:pt idx="2">
                  <c:v>6.46</c:v>
                </c:pt>
                <c:pt idx="3">
                  <c:v>15.58</c:v>
                </c:pt>
                <c:pt idx="4">
                  <c:v>2.82</c:v>
                </c:pt>
              </c:numCache>
            </c:numRef>
          </c:val>
          <c:extLst>
            <c:ext xmlns:c16="http://schemas.microsoft.com/office/drawing/2014/chart" uri="{C3380CC4-5D6E-409C-BE32-E72D297353CC}">
              <c16:uniqueId val="{00000000-76B3-4A0D-9076-D1C9D69C7E6A}"/>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0.398399999999999"/>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2.41</c:v>
                </c:pt>
                <c:pt idx="1">
                  <c:v>1.25</c:v>
                </c:pt>
                <c:pt idx="2">
                  <c:v>1.58</c:v>
                </c:pt>
                <c:pt idx="3">
                  <c:v>3.93</c:v>
                </c:pt>
                <c:pt idx="4">
                  <c:v>0.55000000000000004</c:v>
                </c:pt>
              </c:numCache>
            </c:numRef>
          </c:val>
          <c:extLst>
            <c:ext xmlns:c16="http://schemas.microsoft.com/office/drawing/2014/chart" uri="{C3380CC4-5D6E-409C-BE32-E72D297353CC}">
              <c16:uniqueId val="{00000000-80E6-4A67-8972-C757318C6FBF}"/>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4.7824"/>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2698-4E41-B6E8-BABFCB3C5C3E}"/>
              </c:ext>
            </c:extLst>
          </c:dPt>
          <c:dPt>
            <c:idx val="1"/>
            <c:invertIfNegative val="0"/>
            <c:bubble3D val="0"/>
            <c:extLst>
              <c:ext xmlns:c16="http://schemas.microsoft.com/office/drawing/2014/chart" uri="{C3380CC4-5D6E-409C-BE32-E72D297353CC}">
                <c16:uniqueId val="{00000003-2698-4E41-B6E8-BABFCB3C5C3E}"/>
              </c:ext>
            </c:extLst>
          </c:dPt>
          <c:dPt>
            <c:idx val="2"/>
            <c:invertIfNegative val="0"/>
            <c:bubble3D val="0"/>
            <c:extLst>
              <c:ext xmlns:c16="http://schemas.microsoft.com/office/drawing/2014/chart" uri="{C3380CC4-5D6E-409C-BE32-E72D297353CC}">
                <c16:uniqueId val="{00000005-2698-4E41-B6E8-BABFCB3C5C3E}"/>
              </c:ext>
            </c:extLst>
          </c:dPt>
          <c:dPt>
            <c:idx val="3"/>
            <c:invertIfNegative val="0"/>
            <c:bubble3D val="0"/>
            <c:extLst>
              <c:ext xmlns:c16="http://schemas.microsoft.com/office/drawing/2014/chart" uri="{C3380CC4-5D6E-409C-BE32-E72D297353CC}">
                <c16:uniqueId val="{00000007-2698-4E41-B6E8-BABFCB3C5C3E}"/>
              </c:ext>
            </c:extLst>
          </c:dPt>
          <c:dPt>
            <c:idx val="4"/>
            <c:invertIfNegative val="0"/>
            <c:bubble3D val="0"/>
            <c:extLst>
              <c:ext xmlns:c16="http://schemas.microsoft.com/office/drawing/2014/chart" uri="{C3380CC4-5D6E-409C-BE32-E72D297353CC}">
                <c16:uniqueId val="{00000009-2698-4E41-B6E8-BABFCB3C5C3E}"/>
              </c:ext>
            </c:extLst>
          </c:dPt>
          <c:dPt>
            <c:idx val="5"/>
            <c:invertIfNegative val="0"/>
            <c:bubble3D val="0"/>
            <c:extLst>
              <c:ext xmlns:c16="http://schemas.microsoft.com/office/drawing/2014/chart" uri="{C3380CC4-5D6E-409C-BE32-E72D297353CC}">
                <c16:uniqueId val="{0000000B-2698-4E41-B6E8-BABFCB3C5C3E}"/>
              </c:ext>
            </c:extLst>
          </c:dPt>
          <c:dPt>
            <c:idx val="6"/>
            <c:invertIfNegative val="0"/>
            <c:bubble3D val="0"/>
            <c:extLst>
              <c:ext xmlns:c16="http://schemas.microsoft.com/office/drawing/2014/chart" uri="{C3380CC4-5D6E-409C-BE32-E72D297353CC}">
                <c16:uniqueId val="{0000000D-2698-4E41-B6E8-BABFCB3C5C3E}"/>
              </c:ext>
            </c:extLst>
          </c:dPt>
          <c:dPt>
            <c:idx val="7"/>
            <c:invertIfNegative val="0"/>
            <c:bubble3D val="0"/>
            <c:extLst>
              <c:ext xmlns:c16="http://schemas.microsoft.com/office/drawing/2014/chart" uri="{C3380CC4-5D6E-409C-BE32-E72D297353CC}">
                <c16:uniqueId val="{0000000F-2698-4E41-B6E8-BABFCB3C5C3E}"/>
              </c:ext>
            </c:extLst>
          </c:dPt>
          <c:dPt>
            <c:idx val="8"/>
            <c:invertIfNegative val="0"/>
            <c:bubble3D val="0"/>
            <c:extLst>
              <c:ext xmlns:c16="http://schemas.microsoft.com/office/drawing/2014/chart" uri="{C3380CC4-5D6E-409C-BE32-E72D297353CC}">
                <c16:uniqueId val="{00000011-2698-4E41-B6E8-BABFCB3C5C3E}"/>
              </c:ext>
            </c:extLst>
          </c:dPt>
          <c:dPt>
            <c:idx val="9"/>
            <c:invertIfNegative val="0"/>
            <c:bubble3D val="0"/>
            <c:extLst>
              <c:ext xmlns:c16="http://schemas.microsoft.com/office/drawing/2014/chart" uri="{C3380CC4-5D6E-409C-BE32-E72D297353CC}">
                <c16:uniqueId val="{00000013-2698-4E41-B6E8-BABFCB3C5C3E}"/>
              </c:ext>
            </c:extLst>
          </c:dPt>
          <c:dPt>
            <c:idx val="10"/>
            <c:invertIfNegative val="0"/>
            <c:bubble3D val="0"/>
            <c:extLst>
              <c:ext xmlns:c16="http://schemas.microsoft.com/office/drawing/2014/chart" uri="{C3380CC4-5D6E-409C-BE32-E72D297353CC}">
                <c16:uniqueId val="{00000015-2698-4E41-B6E8-BABFCB3C5C3E}"/>
              </c:ext>
            </c:extLst>
          </c:dPt>
          <c:dPt>
            <c:idx val="11"/>
            <c:invertIfNegative val="0"/>
            <c:bubble3D val="0"/>
            <c:extLst>
              <c:ext xmlns:c16="http://schemas.microsoft.com/office/drawing/2014/chart" uri="{C3380CC4-5D6E-409C-BE32-E72D297353CC}">
                <c16:uniqueId val="{00000017-2698-4E41-B6E8-BABFCB3C5C3E}"/>
              </c:ext>
            </c:extLst>
          </c:dPt>
          <c:dPt>
            <c:idx val="12"/>
            <c:invertIfNegative val="0"/>
            <c:bubble3D val="0"/>
            <c:extLst>
              <c:ext xmlns:c16="http://schemas.microsoft.com/office/drawing/2014/chart" uri="{C3380CC4-5D6E-409C-BE32-E72D297353CC}">
                <c16:uniqueId val="{00000019-2698-4E41-B6E8-BABFCB3C5C3E}"/>
              </c:ext>
            </c:extLst>
          </c:dPt>
          <c:dPt>
            <c:idx val="13"/>
            <c:invertIfNegative val="0"/>
            <c:bubble3D val="0"/>
            <c:extLst>
              <c:ext xmlns:c16="http://schemas.microsoft.com/office/drawing/2014/chart" uri="{C3380CC4-5D6E-409C-BE32-E72D297353CC}">
                <c16:uniqueId val="{0000001B-2698-4E41-B6E8-BABFCB3C5C3E}"/>
              </c:ext>
            </c:extLst>
          </c:dPt>
          <c:dPt>
            <c:idx val="14"/>
            <c:invertIfNegative val="0"/>
            <c:bubble3D val="0"/>
            <c:extLst>
              <c:ext xmlns:c16="http://schemas.microsoft.com/office/drawing/2014/chart" uri="{C3380CC4-5D6E-409C-BE32-E72D297353CC}">
                <c16:uniqueId val="{0000001D-2698-4E41-B6E8-BABFCB3C5C3E}"/>
              </c:ext>
            </c:extLst>
          </c:dPt>
          <c:dPt>
            <c:idx val="15"/>
            <c:invertIfNegative val="0"/>
            <c:bubble3D val="0"/>
            <c:extLst>
              <c:ext xmlns:c16="http://schemas.microsoft.com/office/drawing/2014/chart" uri="{C3380CC4-5D6E-409C-BE32-E72D297353CC}">
                <c16:uniqueId val="{0000001F-2698-4E41-B6E8-BABFCB3C5C3E}"/>
              </c:ext>
            </c:extLst>
          </c:dPt>
          <c:dPt>
            <c:idx val="16"/>
            <c:invertIfNegative val="0"/>
            <c:bubble3D val="0"/>
            <c:extLst>
              <c:ext xmlns:c16="http://schemas.microsoft.com/office/drawing/2014/chart" uri="{C3380CC4-5D6E-409C-BE32-E72D297353CC}">
                <c16:uniqueId val="{00000021-2698-4E41-B6E8-BABFCB3C5C3E}"/>
              </c:ext>
            </c:extLst>
          </c:dPt>
          <c:dPt>
            <c:idx val="17"/>
            <c:invertIfNegative val="0"/>
            <c:bubble3D val="0"/>
            <c:spPr>
              <a:solidFill>
                <a:srgbClr val="1B1A1A"/>
              </a:solidFill>
              <a:effectLst/>
            </c:spPr>
            <c:extLst>
              <c:ext xmlns:c16="http://schemas.microsoft.com/office/drawing/2014/chart" uri="{C3380CC4-5D6E-409C-BE32-E72D297353CC}">
                <c16:uniqueId val="{00000023-2698-4E41-B6E8-BABFCB3C5C3E}"/>
              </c:ext>
            </c:extLst>
          </c:dPt>
          <c:dPt>
            <c:idx val="18"/>
            <c:invertIfNegative val="0"/>
            <c:bubble3D val="0"/>
            <c:spPr>
              <a:solidFill>
                <a:srgbClr val="1B1A1A"/>
              </a:solidFill>
              <a:effectLst/>
            </c:spPr>
            <c:extLst>
              <c:ext xmlns:c16="http://schemas.microsoft.com/office/drawing/2014/chart" uri="{C3380CC4-5D6E-409C-BE32-E72D297353CC}">
                <c16:uniqueId val="{00000025-2698-4E41-B6E8-BABFCB3C5C3E}"/>
              </c:ext>
            </c:extLst>
          </c:dPt>
          <c:dLbls>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Sheet1!$A$2:$A$19</c:f>
              <c:strCache>
                <c:ptCount val="18"/>
                <c:pt idx="0">
                  <c:v>Willdan Group</c:v>
                </c:pt>
                <c:pt idx="1">
                  <c:v>Bowman Consulting</c:v>
                </c:pt>
                <c:pt idx="2">
                  <c:v>APi Group</c:v>
                </c:pt>
                <c:pt idx="3">
                  <c:v>TrueBlue</c:v>
                </c:pt>
                <c:pt idx="4">
                  <c:v>Stantec</c:v>
                </c:pt>
                <c:pt idx="5">
                  <c:v>ManpowerGroup</c:v>
                </c:pt>
                <c:pt idx="6">
                  <c:v>Ryan Specialty</c:v>
                </c:pt>
                <c:pt idx="7">
                  <c:v>Korn Ferry</c:v>
                </c:pt>
                <c:pt idx="8">
                  <c:v>Accenture</c:v>
                </c:pt>
                <c:pt idx="9">
                  <c:v>Stagwell</c:v>
                </c:pt>
                <c:pt idx="10">
                  <c:v>UL Solutions</c:v>
                </c:pt>
                <c:pt idx="11">
                  <c:v>Kforce</c:v>
                </c:pt>
                <c:pt idx="12">
                  <c:v>ABM Industries</c:v>
                </c:pt>
                <c:pt idx="13">
                  <c:v>FirstService</c:v>
                </c:pt>
                <c:pt idx="14">
                  <c:v>Advantage Solutions</c:v>
                </c:pt>
                <c:pt idx="15">
                  <c:v>BrightView</c:v>
                </c:pt>
                <c:pt idx="16">
                  <c:v>Crawford &amp; Company</c:v>
                </c:pt>
                <c:pt idx="17">
                  <c:v>Robert Half</c:v>
                </c:pt>
              </c:strCache>
            </c:strRef>
          </c:cat>
          <c:val>
            <c:numRef>
              <c:f>Sheet1!$B$2:$B$19</c:f>
              <c:numCache>
                <c:formatCode>General</c:formatCode>
                <c:ptCount val="18"/>
                <c:pt idx="0">
                  <c:v>23.5</c:v>
                </c:pt>
                <c:pt idx="1">
                  <c:v>19.399999999999999</c:v>
                </c:pt>
                <c:pt idx="2">
                  <c:v>13.3</c:v>
                </c:pt>
                <c:pt idx="3">
                  <c:v>12</c:v>
                </c:pt>
                <c:pt idx="4">
                  <c:v>11.5</c:v>
                </c:pt>
                <c:pt idx="5">
                  <c:v>8</c:v>
                </c:pt>
                <c:pt idx="6">
                  <c:v>7.2</c:v>
                </c:pt>
                <c:pt idx="7">
                  <c:v>7</c:v>
                </c:pt>
                <c:pt idx="8">
                  <c:v>6</c:v>
                </c:pt>
                <c:pt idx="9">
                  <c:v>6</c:v>
                </c:pt>
                <c:pt idx="10">
                  <c:v>5.2</c:v>
                </c:pt>
                <c:pt idx="11">
                  <c:v>4.5</c:v>
                </c:pt>
                <c:pt idx="12">
                  <c:v>4.2</c:v>
                </c:pt>
                <c:pt idx="13">
                  <c:v>2</c:v>
                </c:pt>
                <c:pt idx="14">
                  <c:v>1.8</c:v>
                </c:pt>
                <c:pt idx="15">
                  <c:v>1.3</c:v>
                </c:pt>
                <c:pt idx="16">
                  <c:v>-0.5</c:v>
                </c:pt>
                <c:pt idx="17">
                  <c:v>-2.4</c:v>
                </c:pt>
              </c:numCache>
            </c:numRef>
          </c:val>
          <c:extLst>
            <c:ext xmlns:c16="http://schemas.microsoft.com/office/drawing/2014/chart" uri="{C3380CC4-5D6E-409C-BE32-E72D297353CC}">
              <c16:uniqueId val="{00000026-2698-4E41-B6E8-BABFCB3C5C3E}"/>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1.6"/>
          <c:min val="-11.6"/>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DB0E-4346-9D7A-4569ADD54694}"/>
              </c:ext>
            </c:extLst>
          </c:dPt>
          <c:dPt>
            <c:idx val="1"/>
            <c:invertIfNegative val="0"/>
            <c:bubble3D val="0"/>
            <c:extLst>
              <c:ext xmlns:c16="http://schemas.microsoft.com/office/drawing/2014/chart" uri="{C3380CC4-5D6E-409C-BE32-E72D297353CC}">
                <c16:uniqueId val="{00000003-DB0E-4346-9D7A-4569ADD54694}"/>
              </c:ext>
            </c:extLst>
          </c:dPt>
          <c:dPt>
            <c:idx val="2"/>
            <c:invertIfNegative val="0"/>
            <c:bubble3D val="0"/>
            <c:spPr>
              <a:solidFill>
                <a:srgbClr val="1B1A1A"/>
              </a:solidFill>
              <a:effectLst/>
            </c:spPr>
            <c:extLst>
              <c:ext xmlns:c16="http://schemas.microsoft.com/office/drawing/2014/chart" uri="{C3380CC4-5D6E-409C-BE32-E72D297353CC}">
                <c16:uniqueId val="{00000005-DB0E-4346-9D7A-4569ADD54694}"/>
              </c:ext>
            </c:extLst>
          </c:dPt>
          <c:dPt>
            <c:idx val="3"/>
            <c:invertIfNegative val="0"/>
            <c:bubble3D val="0"/>
            <c:extLst>
              <c:ext xmlns:c16="http://schemas.microsoft.com/office/drawing/2014/chart" uri="{C3380CC4-5D6E-409C-BE32-E72D297353CC}">
                <c16:uniqueId val="{00000007-DB0E-4346-9D7A-4569ADD54694}"/>
              </c:ext>
            </c:extLst>
          </c:dPt>
          <c:dPt>
            <c:idx val="4"/>
            <c:invertIfNegative val="0"/>
            <c:bubble3D val="0"/>
            <c:extLst>
              <c:ext xmlns:c16="http://schemas.microsoft.com/office/drawing/2014/chart" uri="{C3380CC4-5D6E-409C-BE32-E72D297353CC}">
                <c16:uniqueId val="{00000009-DB0E-4346-9D7A-4569ADD54694}"/>
              </c:ext>
            </c:extLst>
          </c:dPt>
          <c:dPt>
            <c:idx val="5"/>
            <c:invertIfNegative val="0"/>
            <c:bubble3D val="0"/>
            <c:extLst>
              <c:ext xmlns:c16="http://schemas.microsoft.com/office/drawing/2014/chart" uri="{C3380CC4-5D6E-409C-BE32-E72D297353CC}">
                <c16:uniqueId val="{0000000B-DB0E-4346-9D7A-4569ADD54694}"/>
              </c:ext>
            </c:extLst>
          </c:dPt>
          <c:dPt>
            <c:idx val="6"/>
            <c:invertIfNegative val="0"/>
            <c:bubble3D val="0"/>
            <c:extLst>
              <c:ext xmlns:c16="http://schemas.microsoft.com/office/drawing/2014/chart" uri="{C3380CC4-5D6E-409C-BE32-E72D297353CC}">
                <c16:uniqueId val="{0000000D-DB0E-4346-9D7A-4569ADD54694}"/>
              </c:ext>
            </c:extLst>
          </c:dPt>
          <c:dPt>
            <c:idx val="7"/>
            <c:invertIfNegative val="0"/>
            <c:bubble3D val="0"/>
            <c:extLst>
              <c:ext xmlns:c16="http://schemas.microsoft.com/office/drawing/2014/chart" uri="{C3380CC4-5D6E-409C-BE32-E72D297353CC}">
                <c16:uniqueId val="{0000000F-DB0E-4346-9D7A-4569ADD54694}"/>
              </c:ext>
            </c:extLst>
          </c:dPt>
          <c:dPt>
            <c:idx val="8"/>
            <c:invertIfNegative val="0"/>
            <c:bubble3D val="0"/>
            <c:extLst>
              <c:ext xmlns:c16="http://schemas.microsoft.com/office/drawing/2014/chart" uri="{C3380CC4-5D6E-409C-BE32-E72D297353CC}">
                <c16:uniqueId val="{00000011-DB0E-4346-9D7A-4569ADD54694}"/>
              </c:ext>
            </c:extLst>
          </c:dPt>
          <c:dPt>
            <c:idx val="9"/>
            <c:invertIfNegative val="0"/>
            <c:bubble3D val="0"/>
            <c:extLst>
              <c:ext xmlns:c16="http://schemas.microsoft.com/office/drawing/2014/chart" uri="{C3380CC4-5D6E-409C-BE32-E72D297353CC}">
                <c16:uniqueId val="{00000013-DB0E-4346-9D7A-4569ADD54694}"/>
              </c:ext>
            </c:extLst>
          </c:dPt>
          <c:dPt>
            <c:idx val="10"/>
            <c:invertIfNegative val="0"/>
            <c:bubble3D val="0"/>
            <c:extLst>
              <c:ext xmlns:c16="http://schemas.microsoft.com/office/drawing/2014/chart" uri="{C3380CC4-5D6E-409C-BE32-E72D297353CC}">
                <c16:uniqueId val="{00000015-DB0E-4346-9D7A-4569ADD54694}"/>
              </c:ext>
            </c:extLst>
          </c:dPt>
          <c:dPt>
            <c:idx val="11"/>
            <c:invertIfNegative val="0"/>
            <c:bubble3D val="0"/>
            <c:extLst>
              <c:ext xmlns:c16="http://schemas.microsoft.com/office/drawing/2014/chart" uri="{C3380CC4-5D6E-409C-BE32-E72D297353CC}">
                <c16:uniqueId val="{00000017-DB0E-4346-9D7A-4569ADD54694}"/>
              </c:ext>
            </c:extLst>
          </c:dPt>
          <c:dPt>
            <c:idx val="12"/>
            <c:invertIfNegative val="0"/>
            <c:bubble3D val="0"/>
            <c:extLst>
              <c:ext xmlns:c16="http://schemas.microsoft.com/office/drawing/2014/chart" uri="{C3380CC4-5D6E-409C-BE32-E72D297353CC}">
                <c16:uniqueId val="{00000019-DB0E-4346-9D7A-4569ADD54694}"/>
              </c:ext>
            </c:extLst>
          </c:dPt>
          <c:dPt>
            <c:idx val="13"/>
            <c:invertIfNegative val="0"/>
            <c:bubble3D val="0"/>
            <c:extLst>
              <c:ext xmlns:c16="http://schemas.microsoft.com/office/drawing/2014/chart" uri="{C3380CC4-5D6E-409C-BE32-E72D297353CC}">
                <c16:uniqueId val="{0000001B-DB0E-4346-9D7A-4569ADD54694}"/>
              </c:ext>
            </c:extLst>
          </c:dPt>
          <c:dPt>
            <c:idx val="14"/>
            <c:invertIfNegative val="0"/>
            <c:bubble3D val="0"/>
            <c:extLst>
              <c:ext xmlns:c16="http://schemas.microsoft.com/office/drawing/2014/chart" uri="{C3380CC4-5D6E-409C-BE32-E72D297353CC}">
                <c16:uniqueId val="{0000001D-DB0E-4346-9D7A-4569ADD54694}"/>
              </c:ext>
            </c:extLst>
          </c:dPt>
          <c:dPt>
            <c:idx val="15"/>
            <c:invertIfNegative val="0"/>
            <c:bubble3D val="0"/>
            <c:extLst>
              <c:ext xmlns:c16="http://schemas.microsoft.com/office/drawing/2014/chart" uri="{C3380CC4-5D6E-409C-BE32-E72D297353CC}">
                <c16:uniqueId val="{0000001F-DB0E-4346-9D7A-4569ADD54694}"/>
              </c:ext>
            </c:extLst>
          </c:dPt>
          <c:dPt>
            <c:idx val="16"/>
            <c:invertIfNegative val="0"/>
            <c:bubble3D val="0"/>
            <c:extLst>
              <c:ext xmlns:c16="http://schemas.microsoft.com/office/drawing/2014/chart" uri="{C3380CC4-5D6E-409C-BE32-E72D297353CC}">
                <c16:uniqueId val="{00000021-DB0E-4346-9D7A-4569ADD54694}"/>
              </c:ext>
            </c:extLst>
          </c:dPt>
          <c:dPt>
            <c:idx val="17"/>
            <c:invertIfNegative val="0"/>
            <c:bubble3D val="0"/>
            <c:extLst>
              <c:ext xmlns:c16="http://schemas.microsoft.com/office/drawing/2014/chart" uri="{C3380CC4-5D6E-409C-BE32-E72D297353CC}">
                <c16:uniqueId val="{00000023-DB0E-4346-9D7A-4569ADD54694}"/>
              </c:ext>
            </c:extLst>
          </c:dPt>
          <c:dPt>
            <c:idx val="18"/>
            <c:invertIfNegative val="0"/>
            <c:bubble3D val="0"/>
            <c:extLst>
              <c:ext xmlns:c16="http://schemas.microsoft.com/office/drawing/2014/chart" uri="{C3380CC4-5D6E-409C-BE32-E72D297353CC}">
                <c16:uniqueId val="{00000025-DB0E-4346-9D7A-4569ADD54694}"/>
              </c:ext>
            </c:extLst>
          </c:dPt>
          <c:dPt>
            <c:idx val="19"/>
            <c:invertIfNegative val="0"/>
            <c:bubble3D val="0"/>
            <c:extLst>
              <c:ext xmlns:c16="http://schemas.microsoft.com/office/drawing/2014/chart" uri="{C3380CC4-5D6E-409C-BE32-E72D297353CC}">
                <c16:uniqueId val="{00000027-DB0E-4346-9D7A-4569ADD54694}"/>
              </c:ext>
            </c:extLst>
          </c:dPt>
          <c:cat>
            <c:strRef>
              <c:f>Sheet1!$A$2:$A$21</c:f>
              <c:strCache>
                <c:ptCount val="20"/>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strCache>
            </c:strRef>
          </c:cat>
          <c:val>
            <c:numRef>
              <c:f>Sheet1!$B$2:$B$21</c:f>
              <c:numCache>
                <c:formatCode>General</c:formatCode>
                <c:ptCount val="20"/>
                <c:pt idx="0">
                  <c:v>3.2</c:v>
                </c:pt>
                <c:pt idx="1">
                  <c:v>6.8</c:v>
                </c:pt>
                <c:pt idx="2">
                  <c:v>-1</c:v>
                </c:pt>
                <c:pt idx="3">
                  <c:v>0.6</c:v>
                </c:pt>
                <c:pt idx="4">
                  <c:v>2.7</c:v>
                </c:pt>
                <c:pt idx="5">
                  <c:v>2.7</c:v>
                </c:pt>
                <c:pt idx="6">
                  <c:v>3.4</c:v>
                </c:pt>
                <c:pt idx="7">
                  <c:v>2.2000000000000002</c:v>
                </c:pt>
                <c:pt idx="8">
                  <c:v>4.5</c:v>
                </c:pt>
                <c:pt idx="9">
                  <c:v>3.6</c:v>
                </c:pt>
                <c:pt idx="10">
                  <c:v>1.4</c:v>
                </c:pt>
                <c:pt idx="11">
                  <c:v>3.6</c:v>
                </c:pt>
                <c:pt idx="12">
                  <c:v>3.2</c:v>
                </c:pt>
                <c:pt idx="13">
                  <c:v>2.4</c:v>
                </c:pt>
                <c:pt idx="14">
                  <c:v>0.1</c:v>
                </c:pt>
                <c:pt idx="15">
                  <c:v>4</c:v>
                </c:pt>
                <c:pt idx="16">
                  <c:v>3.9</c:v>
                </c:pt>
                <c:pt idx="17">
                  <c:v>0.2</c:v>
                </c:pt>
                <c:pt idx="18">
                  <c:v>2.5</c:v>
                </c:pt>
                <c:pt idx="19">
                  <c:v>2.2000000000000002</c:v>
                </c:pt>
              </c:numCache>
            </c:numRef>
          </c:val>
          <c:extLst>
            <c:ext xmlns:c16="http://schemas.microsoft.com/office/drawing/2014/chart" uri="{C3380CC4-5D6E-409C-BE32-E72D297353CC}">
              <c16:uniqueId val="{00000028-DB0E-4346-9D7A-4569ADD54694}"/>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4"/>
        <c:noMultiLvlLbl val="1"/>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Unemployment rate</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4.7</c:v>
                </c:pt>
                <c:pt idx="1">
                  <c:v>4.5</c:v>
                </c:pt>
                <c:pt idx="2">
                  <c:v>4.0999999999999996</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4.0999999999999996</c:v>
                </c:pt>
                <c:pt idx="34">
                  <c:v>4.2</c:v>
                </c:pt>
                <c:pt idx="35">
                  <c:v>4.2</c:v>
                </c:pt>
                <c:pt idx="36">
                  <c:v>4.0999999999999996</c:v>
                </c:pt>
                <c:pt idx="37">
                  <c:v>4.0999999999999996</c:v>
                </c:pt>
                <c:pt idx="38">
                  <c:v>4.2</c:v>
                </c:pt>
                <c:pt idx="39">
                  <c:v>4.0999999999999996</c:v>
                </c:pt>
                <c:pt idx="40">
                  <c:v>4</c:v>
                </c:pt>
                <c:pt idx="41">
                  <c:v>4.2</c:v>
                </c:pt>
                <c:pt idx="42">
                  <c:v>4.2</c:v>
                </c:pt>
                <c:pt idx="43">
                  <c:v>4.2</c:v>
                </c:pt>
                <c:pt idx="44">
                  <c:v>4.3</c:v>
                </c:pt>
                <c:pt idx="45">
                  <c:v>4.0999999999999996</c:v>
                </c:pt>
                <c:pt idx="46">
                  <c:v>4.3</c:v>
                </c:pt>
                <c:pt idx="47">
                  <c:v>4.3</c:v>
                </c:pt>
                <c:pt idx="48">
                  <c:v>4.4000000000000004</c:v>
                </c:pt>
                <c:pt idx="50">
                  <c:v>4.5</c:v>
                </c:pt>
                <c:pt idx="51">
                  <c:v>4.4000000000000004</c:v>
                </c:pt>
                <c:pt idx="52">
                  <c:v>4.3</c:v>
                </c:pt>
                <c:pt idx="53">
                  <c:v>4.4000000000000004</c:v>
                </c:pt>
                <c:pt idx="54">
                  <c:v>4.3</c:v>
                </c:pt>
                <c:pt idx="55">
                  <c:v>4.3</c:v>
                </c:pt>
                <c:pt idx="56">
                  <c:v>4.3</c:v>
                </c:pt>
                <c:pt idx="57">
                  <c:v>4.2</c:v>
                </c:pt>
                <c:pt idx="58">
                  <c:v>4.0999999999999996</c:v>
                </c:pt>
                <c:pt idx="59">
                  <c:v>4.0999999999999996</c:v>
                </c:pt>
                <c:pt idx="60">
                  <c:v>4.2</c:v>
                </c:pt>
              </c:numCache>
            </c:numRef>
          </c:val>
          <c:smooth val="0"/>
          <c:extLst>
            <c:ext xmlns:c16="http://schemas.microsoft.com/office/drawing/2014/chart" uri="{C3380CC4-5D6E-409C-BE32-E72D297353CC}">
              <c16:uniqueId val="{00000000-BE71-4071-A0B6-39FC695D53C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8F64-4C22-8131-2A8D3F8862F5}"/>
              </c:ext>
            </c:extLst>
          </c:dPt>
          <c:dPt>
            <c:idx val="1"/>
            <c:invertIfNegative val="0"/>
            <c:bubble3D val="0"/>
            <c:extLst>
              <c:ext xmlns:c16="http://schemas.microsoft.com/office/drawing/2014/chart" uri="{C3380CC4-5D6E-409C-BE32-E72D297353CC}">
                <c16:uniqueId val="{00000003-8F64-4C22-8131-2A8D3F8862F5}"/>
              </c:ext>
            </c:extLst>
          </c:dPt>
          <c:dPt>
            <c:idx val="2"/>
            <c:invertIfNegative val="0"/>
            <c:bubble3D val="0"/>
            <c:extLst>
              <c:ext xmlns:c16="http://schemas.microsoft.com/office/drawing/2014/chart" uri="{C3380CC4-5D6E-409C-BE32-E72D297353CC}">
                <c16:uniqueId val="{00000005-8F64-4C22-8131-2A8D3F8862F5}"/>
              </c:ext>
            </c:extLst>
          </c:dPt>
          <c:dPt>
            <c:idx val="3"/>
            <c:invertIfNegative val="0"/>
            <c:bubble3D val="0"/>
            <c:extLst>
              <c:ext xmlns:c16="http://schemas.microsoft.com/office/drawing/2014/chart" uri="{C3380CC4-5D6E-409C-BE32-E72D297353CC}">
                <c16:uniqueId val="{00000007-8F64-4C22-8131-2A8D3F8862F5}"/>
              </c:ext>
            </c:extLst>
          </c:dPt>
          <c:dPt>
            <c:idx val="4"/>
            <c:invertIfNegative val="0"/>
            <c:bubble3D val="0"/>
            <c:extLst>
              <c:ext xmlns:c16="http://schemas.microsoft.com/office/drawing/2014/chart" uri="{C3380CC4-5D6E-409C-BE32-E72D297353CC}">
                <c16:uniqueId val="{00000009-8F64-4C22-8131-2A8D3F8862F5}"/>
              </c:ext>
            </c:extLst>
          </c:dPt>
          <c:dPt>
            <c:idx val="5"/>
            <c:invertIfNegative val="0"/>
            <c:bubble3D val="0"/>
            <c:extLst>
              <c:ext xmlns:c16="http://schemas.microsoft.com/office/drawing/2014/chart" uri="{C3380CC4-5D6E-409C-BE32-E72D297353CC}">
                <c16:uniqueId val="{0000000B-8F64-4C22-8131-2A8D3F8862F5}"/>
              </c:ext>
            </c:extLst>
          </c:dPt>
          <c:dPt>
            <c:idx val="6"/>
            <c:invertIfNegative val="0"/>
            <c:bubble3D val="0"/>
            <c:extLst>
              <c:ext xmlns:c16="http://schemas.microsoft.com/office/drawing/2014/chart" uri="{C3380CC4-5D6E-409C-BE32-E72D297353CC}">
                <c16:uniqueId val="{0000000D-8F64-4C22-8131-2A8D3F8862F5}"/>
              </c:ext>
            </c:extLst>
          </c:dPt>
          <c:dPt>
            <c:idx val="7"/>
            <c:invertIfNegative val="0"/>
            <c:bubble3D val="0"/>
            <c:extLst>
              <c:ext xmlns:c16="http://schemas.microsoft.com/office/drawing/2014/chart" uri="{C3380CC4-5D6E-409C-BE32-E72D297353CC}">
                <c16:uniqueId val="{0000000F-8F64-4C22-8131-2A8D3F8862F5}"/>
              </c:ext>
            </c:extLst>
          </c:dPt>
          <c:dPt>
            <c:idx val="8"/>
            <c:invertIfNegative val="0"/>
            <c:bubble3D val="0"/>
            <c:extLst>
              <c:ext xmlns:c16="http://schemas.microsoft.com/office/drawing/2014/chart" uri="{C3380CC4-5D6E-409C-BE32-E72D297353CC}">
                <c16:uniqueId val="{00000011-8F64-4C22-8131-2A8D3F8862F5}"/>
              </c:ext>
            </c:extLst>
          </c:dPt>
          <c:dPt>
            <c:idx val="9"/>
            <c:invertIfNegative val="0"/>
            <c:bubble3D val="0"/>
            <c:extLst>
              <c:ext xmlns:c16="http://schemas.microsoft.com/office/drawing/2014/chart" uri="{C3380CC4-5D6E-409C-BE32-E72D297353CC}">
                <c16:uniqueId val="{00000013-8F64-4C22-8131-2A8D3F8862F5}"/>
              </c:ext>
            </c:extLst>
          </c:dPt>
          <c:dPt>
            <c:idx val="10"/>
            <c:invertIfNegative val="0"/>
            <c:bubble3D val="0"/>
            <c:extLst>
              <c:ext xmlns:c16="http://schemas.microsoft.com/office/drawing/2014/chart" uri="{C3380CC4-5D6E-409C-BE32-E72D297353CC}">
                <c16:uniqueId val="{00000015-8F64-4C22-8131-2A8D3F8862F5}"/>
              </c:ext>
            </c:extLst>
          </c:dPt>
          <c:dPt>
            <c:idx val="11"/>
            <c:invertIfNegative val="0"/>
            <c:bubble3D val="0"/>
            <c:extLst>
              <c:ext xmlns:c16="http://schemas.microsoft.com/office/drawing/2014/chart" uri="{C3380CC4-5D6E-409C-BE32-E72D297353CC}">
                <c16:uniqueId val="{00000017-8F64-4C22-8131-2A8D3F8862F5}"/>
              </c:ext>
            </c:extLst>
          </c:dPt>
          <c:dPt>
            <c:idx val="12"/>
            <c:invertIfNegative val="0"/>
            <c:bubble3D val="0"/>
            <c:extLst>
              <c:ext xmlns:c16="http://schemas.microsoft.com/office/drawing/2014/chart" uri="{C3380CC4-5D6E-409C-BE32-E72D297353CC}">
                <c16:uniqueId val="{00000019-8F64-4C22-8131-2A8D3F8862F5}"/>
              </c:ext>
            </c:extLst>
          </c:dPt>
          <c:dPt>
            <c:idx val="13"/>
            <c:invertIfNegative val="0"/>
            <c:bubble3D val="0"/>
            <c:extLst>
              <c:ext xmlns:c16="http://schemas.microsoft.com/office/drawing/2014/chart" uri="{C3380CC4-5D6E-409C-BE32-E72D297353CC}">
                <c16:uniqueId val="{0000001B-8F64-4C22-8131-2A8D3F8862F5}"/>
              </c:ext>
            </c:extLst>
          </c:dPt>
          <c:dPt>
            <c:idx val="14"/>
            <c:invertIfNegative val="0"/>
            <c:bubble3D val="0"/>
            <c:extLst>
              <c:ext xmlns:c16="http://schemas.microsoft.com/office/drawing/2014/chart" uri="{C3380CC4-5D6E-409C-BE32-E72D297353CC}">
                <c16:uniqueId val="{0000001D-8F64-4C22-8131-2A8D3F8862F5}"/>
              </c:ext>
            </c:extLst>
          </c:dPt>
          <c:dPt>
            <c:idx val="15"/>
            <c:invertIfNegative val="0"/>
            <c:bubble3D val="0"/>
            <c:extLst>
              <c:ext xmlns:c16="http://schemas.microsoft.com/office/drawing/2014/chart" uri="{C3380CC4-5D6E-409C-BE32-E72D297353CC}">
                <c16:uniqueId val="{0000001F-8F64-4C22-8131-2A8D3F8862F5}"/>
              </c:ext>
            </c:extLst>
          </c:dPt>
          <c:dPt>
            <c:idx val="16"/>
            <c:invertIfNegative val="0"/>
            <c:bubble3D val="0"/>
            <c:extLst>
              <c:ext xmlns:c16="http://schemas.microsoft.com/office/drawing/2014/chart" uri="{C3380CC4-5D6E-409C-BE32-E72D297353CC}">
                <c16:uniqueId val="{00000021-8F64-4C22-8131-2A8D3F8862F5}"/>
              </c:ext>
            </c:extLst>
          </c:dPt>
          <c:dPt>
            <c:idx val="17"/>
            <c:invertIfNegative val="0"/>
            <c:bubble3D val="0"/>
            <c:extLst>
              <c:ext xmlns:c16="http://schemas.microsoft.com/office/drawing/2014/chart" uri="{C3380CC4-5D6E-409C-BE32-E72D297353CC}">
                <c16:uniqueId val="{00000023-8F64-4C22-8131-2A8D3F8862F5}"/>
              </c:ext>
            </c:extLst>
          </c:dPt>
          <c:dPt>
            <c:idx val="18"/>
            <c:invertIfNegative val="0"/>
            <c:bubble3D val="0"/>
            <c:extLst>
              <c:ext xmlns:c16="http://schemas.microsoft.com/office/drawing/2014/chart" uri="{C3380CC4-5D6E-409C-BE32-E72D297353CC}">
                <c16:uniqueId val="{00000025-8F64-4C22-8131-2A8D3F8862F5}"/>
              </c:ext>
            </c:extLst>
          </c:dPt>
          <c:dPt>
            <c:idx val="19"/>
            <c:invertIfNegative val="0"/>
            <c:bubble3D val="0"/>
            <c:extLst>
              <c:ext xmlns:c16="http://schemas.microsoft.com/office/drawing/2014/chart" uri="{C3380CC4-5D6E-409C-BE32-E72D297353CC}">
                <c16:uniqueId val="{00000027-8F64-4C22-8131-2A8D3F8862F5}"/>
              </c:ext>
            </c:extLst>
          </c:dPt>
          <c:dPt>
            <c:idx val="20"/>
            <c:invertIfNegative val="0"/>
            <c:bubble3D val="0"/>
            <c:extLst>
              <c:ext xmlns:c16="http://schemas.microsoft.com/office/drawing/2014/chart" uri="{C3380CC4-5D6E-409C-BE32-E72D297353CC}">
                <c16:uniqueId val="{00000029-8F64-4C22-8131-2A8D3F8862F5}"/>
              </c:ext>
            </c:extLst>
          </c:dPt>
          <c:dPt>
            <c:idx val="21"/>
            <c:invertIfNegative val="0"/>
            <c:bubble3D val="0"/>
            <c:extLst>
              <c:ext xmlns:c16="http://schemas.microsoft.com/office/drawing/2014/chart" uri="{C3380CC4-5D6E-409C-BE32-E72D297353CC}">
                <c16:uniqueId val="{0000002B-8F64-4C22-8131-2A8D3F8862F5}"/>
              </c:ext>
            </c:extLst>
          </c:dPt>
          <c:dPt>
            <c:idx val="22"/>
            <c:invertIfNegative val="0"/>
            <c:bubble3D val="0"/>
            <c:extLst>
              <c:ext xmlns:c16="http://schemas.microsoft.com/office/drawing/2014/chart" uri="{C3380CC4-5D6E-409C-BE32-E72D297353CC}">
                <c16:uniqueId val="{0000002D-8F64-4C22-8131-2A8D3F8862F5}"/>
              </c:ext>
            </c:extLst>
          </c:dPt>
          <c:dPt>
            <c:idx val="23"/>
            <c:invertIfNegative val="0"/>
            <c:bubble3D val="0"/>
            <c:extLst>
              <c:ext xmlns:c16="http://schemas.microsoft.com/office/drawing/2014/chart" uri="{C3380CC4-5D6E-409C-BE32-E72D297353CC}">
                <c16:uniqueId val="{0000002F-8F64-4C22-8131-2A8D3F8862F5}"/>
              </c:ext>
            </c:extLst>
          </c:dPt>
          <c:dPt>
            <c:idx val="24"/>
            <c:invertIfNegative val="0"/>
            <c:bubble3D val="0"/>
            <c:extLst>
              <c:ext xmlns:c16="http://schemas.microsoft.com/office/drawing/2014/chart" uri="{C3380CC4-5D6E-409C-BE32-E72D297353CC}">
                <c16:uniqueId val="{00000031-8F64-4C22-8131-2A8D3F8862F5}"/>
              </c:ext>
            </c:extLst>
          </c:dPt>
          <c:dPt>
            <c:idx val="25"/>
            <c:invertIfNegative val="0"/>
            <c:bubble3D val="0"/>
            <c:extLst>
              <c:ext xmlns:c16="http://schemas.microsoft.com/office/drawing/2014/chart" uri="{C3380CC4-5D6E-409C-BE32-E72D297353CC}">
                <c16:uniqueId val="{00000033-8F64-4C22-8131-2A8D3F8862F5}"/>
              </c:ext>
            </c:extLst>
          </c:dPt>
          <c:dPt>
            <c:idx val="26"/>
            <c:invertIfNegative val="0"/>
            <c:bubble3D val="0"/>
            <c:extLst>
              <c:ext xmlns:c16="http://schemas.microsoft.com/office/drawing/2014/chart" uri="{C3380CC4-5D6E-409C-BE32-E72D297353CC}">
                <c16:uniqueId val="{00000035-8F64-4C22-8131-2A8D3F8862F5}"/>
              </c:ext>
            </c:extLst>
          </c:dPt>
          <c:dPt>
            <c:idx val="27"/>
            <c:invertIfNegative val="0"/>
            <c:bubble3D val="0"/>
            <c:extLst>
              <c:ext xmlns:c16="http://schemas.microsoft.com/office/drawing/2014/chart" uri="{C3380CC4-5D6E-409C-BE32-E72D297353CC}">
                <c16:uniqueId val="{00000037-8F64-4C22-8131-2A8D3F8862F5}"/>
              </c:ext>
            </c:extLst>
          </c:dPt>
          <c:dPt>
            <c:idx val="28"/>
            <c:invertIfNegative val="0"/>
            <c:bubble3D val="0"/>
            <c:extLst>
              <c:ext xmlns:c16="http://schemas.microsoft.com/office/drawing/2014/chart" uri="{C3380CC4-5D6E-409C-BE32-E72D297353CC}">
                <c16:uniqueId val="{00000039-8F64-4C22-8131-2A8D3F8862F5}"/>
              </c:ext>
            </c:extLst>
          </c:dPt>
          <c:dPt>
            <c:idx val="29"/>
            <c:invertIfNegative val="0"/>
            <c:bubble3D val="0"/>
            <c:extLst>
              <c:ext xmlns:c16="http://schemas.microsoft.com/office/drawing/2014/chart" uri="{C3380CC4-5D6E-409C-BE32-E72D297353CC}">
                <c16:uniqueId val="{0000003B-8F64-4C22-8131-2A8D3F8862F5}"/>
              </c:ext>
            </c:extLst>
          </c:dPt>
          <c:dPt>
            <c:idx val="30"/>
            <c:invertIfNegative val="0"/>
            <c:bubble3D val="0"/>
            <c:extLst>
              <c:ext xmlns:c16="http://schemas.microsoft.com/office/drawing/2014/chart" uri="{C3380CC4-5D6E-409C-BE32-E72D297353CC}">
                <c16:uniqueId val="{0000003D-8F64-4C22-8131-2A8D3F8862F5}"/>
              </c:ext>
            </c:extLst>
          </c:dPt>
          <c:dPt>
            <c:idx val="31"/>
            <c:invertIfNegative val="0"/>
            <c:bubble3D val="0"/>
            <c:extLst>
              <c:ext xmlns:c16="http://schemas.microsoft.com/office/drawing/2014/chart" uri="{C3380CC4-5D6E-409C-BE32-E72D297353CC}">
                <c16:uniqueId val="{0000003F-8F64-4C22-8131-2A8D3F8862F5}"/>
              </c:ext>
            </c:extLst>
          </c:dPt>
          <c:dPt>
            <c:idx val="32"/>
            <c:invertIfNegative val="0"/>
            <c:bubble3D val="0"/>
            <c:extLst>
              <c:ext xmlns:c16="http://schemas.microsoft.com/office/drawing/2014/chart" uri="{C3380CC4-5D6E-409C-BE32-E72D297353CC}">
                <c16:uniqueId val="{00000041-8F64-4C22-8131-2A8D3F8862F5}"/>
              </c:ext>
            </c:extLst>
          </c:dPt>
          <c:dPt>
            <c:idx val="33"/>
            <c:invertIfNegative val="0"/>
            <c:bubble3D val="0"/>
            <c:extLst>
              <c:ext xmlns:c16="http://schemas.microsoft.com/office/drawing/2014/chart" uri="{C3380CC4-5D6E-409C-BE32-E72D297353CC}">
                <c16:uniqueId val="{00000043-8F64-4C22-8131-2A8D3F8862F5}"/>
              </c:ext>
            </c:extLst>
          </c:dPt>
          <c:dPt>
            <c:idx val="34"/>
            <c:invertIfNegative val="0"/>
            <c:bubble3D val="0"/>
            <c:extLst>
              <c:ext xmlns:c16="http://schemas.microsoft.com/office/drawing/2014/chart" uri="{C3380CC4-5D6E-409C-BE32-E72D297353CC}">
                <c16:uniqueId val="{00000045-8F64-4C22-8131-2A8D3F8862F5}"/>
              </c:ext>
            </c:extLst>
          </c:dPt>
          <c:dPt>
            <c:idx val="35"/>
            <c:invertIfNegative val="0"/>
            <c:bubble3D val="0"/>
            <c:extLst>
              <c:ext xmlns:c16="http://schemas.microsoft.com/office/drawing/2014/chart" uri="{C3380CC4-5D6E-409C-BE32-E72D297353CC}">
                <c16:uniqueId val="{00000047-8F64-4C22-8131-2A8D3F8862F5}"/>
              </c:ext>
            </c:extLst>
          </c:dPt>
          <c:dPt>
            <c:idx val="36"/>
            <c:invertIfNegative val="0"/>
            <c:bubble3D val="0"/>
            <c:extLst>
              <c:ext xmlns:c16="http://schemas.microsoft.com/office/drawing/2014/chart" uri="{C3380CC4-5D6E-409C-BE32-E72D297353CC}">
                <c16:uniqueId val="{00000049-8F64-4C22-8131-2A8D3F8862F5}"/>
              </c:ext>
            </c:extLst>
          </c:dPt>
          <c:dPt>
            <c:idx val="37"/>
            <c:invertIfNegative val="0"/>
            <c:bubble3D val="0"/>
            <c:extLst>
              <c:ext xmlns:c16="http://schemas.microsoft.com/office/drawing/2014/chart" uri="{C3380CC4-5D6E-409C-BE32-E72D297353CC}">
                <c16:uniqueId val="{0000004B-8F64-4C22-8131-2A8D3F8862F5}"/>
              </c:ext>
            </c:extLst>
          </c:dPt>
          <c:dPt>
            <c:idx val="38"/>
            <c:invertIfNegative val="0"/>
            <c:bubble3D val="0"/>
            <c:extLst>
              <c:ext xmlns:c16="http://schemas.microsoft.com/office/drawing/2014/chart" uri="{C3380CC4-5D6E-409C-BE32-E72D297353CC}">
                <c16:uniqueId val="{0000004D-8F64-4C22-8131-2A8D3F8862F5}"/>
              </c:ext>
            </c:extLst>
          </c:dPt>
          <c:dPt>
            <c:idx val="39"/>
            <c:invertIfNegative val="0"/>
            <c:bubble3D val="0"/>
            <c:extLst>
              <c:ext xmlns:c16="http://schemas.microsoft.com/office/drawing/2014/chart" uri="{C3380CC4-5D6E-409C-BE32-E72D297353CC}">
                <c16:uniqueId val="{0000004F-8F64-4C22-8131-2A8D3F8862F5}"/>
              </c:ext>
            </c:extLst>
          </c:dPt>
          <c:dPt>
            <c:idx val="40"/>
            <c:invertIfNegative val="0"/>
            <c:bubble3D val="0"/>
            <c:spPr>
              <a:solidFill>
                <a:srgbClr val="1B1A1A"/>
              </a:solidFill>
              <a:effectLst/>
            </c:spPr>
            <c:extLst>
              <c:ext xmlns:c16="http://schemas.microsoft.com/office/drawing/2014/chart" uri="{C3380CC4-5D6E-409C-BE32-E72D297353CC}">
                <c16:uniqueId val="{00000051-8F64-4C22-8131-2A8D3F8862F5}"/>
              </c:ext>
            </c:extLst>
          </c:dPt>
          <c:dPt>
            <c:idx val="41"/>
            <c:invertIfNegative val="0"/>
            <c:bubble3D val="0"/>
            <c:extLst>
              <c:ext xmlns:c16="http://schemas.microsoft.com/office/drawing/2014/chart" uri="{C3380CC4-5D6E-409C-BE32-E72D297353CC}">
                <c16:uniqueId val="{00000053-8F64-4C22-8131-2A8D3F8862F5}"/>
              </c:ext>
            </c:extLst>
          </c:dPt>
          <c:dPt>
            <c:idx val="42"/>
            <c:invertIfNegative val="0"/>
            <c:bubble3D val="0"/>
            <c:extLst>
              <c:ext xmlns:c16="http://schemas.microsoft.com/office/drawing/2014/chart" uri="{C3380CC4-5D6E-409C-BE32-E72D297353CC}">
                <c16:uniqueId val="{00000055-8F64-4C22-8131-2A8D3F8862F5}"/>
              </c:ext>
            </c:extLst>
          </c:dPt>
          <c:dPt>
            <c:idx val="43"/>
            <c:invertIfNegative val="0"/>
            <c:bubble3D val="0"/>
            <c:extLst>
              <c:ext xmlns:c16="http://schemas.microsoft.com/office/drawing/2014/chart" uri="{C3380CC4-5D6E-409C-BE32-E72D297353CC}">
                <c16:uniqueId val="{00000057-8F64-4C22-8131-2A8D3F8862F5}"/>
              </c:ext>
            </c:extLst>
          </c:dPt>
          <c:dPt>
            <c:idx val="44"/>
            <c:invertIfNegative val="0"/>
            <c:bubble3D val="0"/>
            <c:extLst>
              <c:ext xmlns:c16="http://schemas.microsoft.com/office/drawing/2014/chart" uri="{C3380CC4-5D6E-409C-BE32-E72D297353CC}">
                <c16:uniqueId val="{00000059-8F64-4C22-8131-2A8D3F8862F5}"/>
              </c:ext>
            </c:extLst>
          </c:dPt>
          <c:dPt>
            <c:idx val="45"/>
            <c:invertIfNegative val="0"/>
            <c:bubble3D val="0"/>
            <c:spPr>
              <a:solidFill>
                <a:srgbClr val="1B1A1A"/>
              </a:solidFill>
              <a:effectLst/>
            </c:spPr>
            <c:extLst>
              <c:ext xmlns:c16="http://schemas.microsoft.com/office/drawing/2014/chart" uri="{C3380CC4-5D6E-409C-BE32-E72D297353CC}">
                <c16:uniqueId val="{0000005B-8F64-4C22-8131-2A8D3F8862F5}"/>
              </c:ext>
            </c:extLst>
          </c:dPt>
          <c:dPt>
            <c:idx val="46"/>
            <c:invertIfNegative val="0"/>
            <c:bubble3D val="0"/>
            <c:extLst>
              <c:ext xmlns:c16="http://schemas.microsoft.com/office/drawing/2014/chart" uri="{C3380CC4-5D6E-409C-BE32-E72D297353CC}">
                <c16:uniqueId val="{0000005D-8F64-4C22-8131-2A8D3F8862F5}"/>
              </c:ext>
            </c:extLst>
          </c:dPt>
          <c:dPt>
            <c:idx val="47"/>
            <c:invertIfNegative val="0"/>
            <c:bubble3D val="0"/>
            <c:spPr>
              <a:solidFill>
                <a:srgbClr val="1B1A1A"/>
              </a:solidFill>
              <a:effectLst/>
            </c:spPr>
            <c:extLst>
              <c:ext xmlns:c16="http://schemas.microsoft.com/office/drawing/2014/chart" uri="{C3380CC4-5D6E-409C-BE32-E72D297353CC}">
                <c16:uniqueId val="{0000005F-8F64-4C22-8131-2A8D3F8862F5}"/>
              </c:ext>
            </c:extLst>
          </c:dPt>
          <c:dPt>
            <c:idx val="48"/>
            <c:invertIfNegative val="0"/>
            <c:bubble3D val="0"/>
            <c:extLst>
              <c:ext xmlns:c16="http://schemas.microsoft.com/office/drawing/2014/chart" uri="{C3380CC4-5D6E-409C-BE32-E72D297353CC}">
                <c16:uniqueId val="{00000061-8F64-4C22-8131-2A8D3F8862F5}"/>
              </c:ext>
            </c:extLst>
          </c:dPt>
          <c:dPt>
            <c:idx val="49"/>
            <c:invertIfNegative val="0"/>
            <c:bubble3D val="0"/>
            <c:spPr>
              <a:solidFill>
                <a:srgbClr val="1B1A1A"/>
              </a:solidFill>
              <a:effectLst/>
            </c:spPr>
            <c:extLst>
              <c:ext xmlns:c16="http://schemas.microsoft.com/office/drawing/2014/chart" uri="{C3380CC4-5D6E-409C-BE32-E72D297353CC}">
                <c16:uniqueId val="{00000063-8F64-4C22-8131-2A8D3F8862F5}"/>
              </c:ext>
            </c:extLst>
          </c:dPt>
          <c:dPt>
            <c:idx val="50"/>
            <c:invertIfNegative val="0"/>
            <c:bubble3D val="0"/>
            <c:extLst>
              <c:ext xmlns:c16="http://schemas.microsoft.com/office/drawing/2014/chart" uri="{C3380CC4-5D6E-409C-BE32-E72D297353CC}">
                <c16:uniqueId val="{00000065-8F64-4C22-8131-2A8D3F8862F5}"/>
              </c:ext>
            </c:extLst>
          </c:dPt>
          <c:dPt>
            <c:idx val="51"/>
            <c:invertIfNegative val="0"/>
            <c:bubble3D val="0"/>
            <c:spPr>
              <a:solidFill>
                <a:srgbClr val="1B1A1A"/>
              </a:solidFill>
              <a:effectLst/>
            </c:spPr>
            <c:extLst>
              <c:ext xmlns:c16="http://schemas.microsoft.com/office/drawing/2014/chart" uri="{C3380CC4-5D6E-409C-BE32-E72D297353CC}">
                <c16:uniqueId val="{00000067-8F64-4C22-8131-2A8D3F8862F5}"/>
              </c:ext>
            </c:extLst>
          </c:dPt>
          <c:dPt>
            <c:idx val="52"/>
            <c:invertIfNegative val="0"/>
            <c:bubble3D val="0"/>
            <c:extLst>
              <c:ext xmlns:c16="http://schemas.microsoft.com/office/drawing/2014/chart" uri="{C3380CC4-5D6E-409C-BE32-E72D297353CC}">
                <c16:uniqueId val="{00000069-8F64-4C22-8131-2A8D3F8862F5}"/>
              </c:ext>
            </c:extLst>
          </c:dPt>
          <c:dPt>
            <c:idx val="53"/>
            <c:invertIfNegative val="0"/>
            <c:bubble3D val="0"/>
            <c:spPr>
              <a:solidFill>
                <a:srgbClr val="1B1A1A"/>
              </a:solidFill>
              <a:effectLst/>
            </c:spPr>
            <c:extLst>
              <c:ext xmlns:c16="http://schemas.microsoft.com/office/drawing/2014/chart" uri="{C3380CC4-5D6E-409C-BE32-E72D297353CC}">
                <c16:uniqueId val="{0000006B-8F64-4C22-8131-2A8D3F8862F5}"/>
              </c:ext>
            </c:extLst>
          </c:dPt>
          <c:dPt>
            <c:idx val="54"/>
            <c:invertIfNegative val="0"/>
            <c:bubble3D val="0"/>
            <c:extLst>
              <c:ext xmlns:c16="http://schemas.microsoft.com/office/drawing/2014/chart" uri="{C3380CC4-5D6E-409C-BE32-E72D297353CC}">
                <c16:uniqueId val="{0000006D-8F64-4C22-8131-2A8D3F8862F5}"/>
              </c:ext>
            </c:extLst>
          </c:dPt>
          <c:dPt>
            <c:idx val="55"/>
            <c:invertIfNegative val="0"/>
            <c:bubble3D val="0"/>
            <c:extLst>
              <c:ext xmlns:c16="http://schemas.microsoft.com/office/drawing/2014/chart" uri="{C3380CC4-5D6E-409C-BE32-E72D297353CC}">
                <c16:uniqueId val="{0000006F-8F64-4C22-8131-2A8D3F8862F5}"/>
              </c:ext>
            </c:extLst>
          </c:dPt>
          <c:dPt>
            <c:idx val="56"/>
            <c:invertIfNegative val="0"/>
            <c:bubble3D val="0"/>
            <c:extLst>
              <c:ext xmlns:c16="http://schemas.microsoft.com/office/drawing/2014/chart" uri="{C3380CC4-5D6E-409C-BE32-E72D297353CC}">
                <c16:uniqueId val="{00000071-8F64-4C22-8131-2A8D3F8862F5}"/>
              </c:ext>
            </c:extLst>
          </c:dPt>
          <c:dPt>
            <c:idx val="57"/>
            <c:invertIfNegative val="0"/>
            <c:bubble3D val="0"/>
            <c:extLst>
              <c:ext xmlns:c16="http://schemas.microsoft.com/office/drawing/2014/chart" uri="{C3380CC4-5D6E-409C-BE32-E72D297353CC}">
                <c16:uniqueId val="{00000073-8F64-4C22-8131-2A8D3F8862F5}"/>
              </c:ext>
            </c:extLst>
          </c:dPt>
          <c:dPt>
            <c:idx val="58"/>
            <c:invertIfNegative val="0"/>
            <c:bubble3D val="0"/>
            <c:spPr>
              <a:solidFill>
                <a:srgbClr val="1B1A1A"/>
              </a:solidFill>
              <a:effectLst/>
            </c:spPr>
            <c:extLst>
              <c:ext xmlns:c16="http://schemas.microsoft.com/office/drawing/2014/chart" uri="{C3380CC4-5D6E-409C-BE32-E72D297353CC}">
                <c16:uniqueId val="{00000075-8F64-4C22-8131-2A8D3F8862F5}"/>
              </c:ext>
            </c:extLst>
          </c:dPt>
          <c:dPt>
            <c:idx val="59"/>
            <c:invertIfNegative val="0"/>
            <c:bubble3D val="0"/>
            <c:extLst>
              <c:ext xmlns:c16="http://schemas.microsoft.com/office/drawing/2014/chart" uri="{C3380CC4-5D6E-409C-BE32-E72D297353CC}">
                <c16:uniqueId val="{00000077-8F64-4C22-8131-2A8D3F8862F5}"/>
              </c:ext>
            </c:extLst>
          </c:dPt>
          <c:dPt>
            <c:idx val="60"/>
            <c:invertIfNegative val="0"/>
            <c:bubble3D val="0"/>
            <c:extLst>
              <c:ext xmlns:c16="http://schemas.microsoft.com/office/drawing/2014/chart" uri="{C3380CC4-5D6E-409C-BE32-E72D297353CC}">
                <c16:uniqueId val="{00000079-8F64-4C22-8131-2A8D3F8862F5}"/>
              </c:ext>
            </c:extLst>
          </c:dPt>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extLst>
            <c:ext xmlns:c16="http://schemas.microsoft.com/office/drawing/2014/chart" uri="{C3380CC4-5D6E-409C-BE32-E72D297353CC}">
              <c16:uniqueId val="{0000007A-8F64-4C22-8131-2A8D3F8862F5}"/>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4.0199999999999996</c:v>
                </c:pt>
                <c:pt idx="28">
                  <c:v>4.0599999999999996</c:v>
                </c:pt>
                <c:pt idx="29">
                  <c:v>4.21</c:v>
                </c:pt>
                <c:pt idx="30">
                  <c:v>4.21</c:v>
                </c:pt>
                <c:pt idx="31">
                  <c:v>4.54</c:v>
                </c:pt>
                <c:pt idx="32">
                  <c:v>4.4800000000000004</c:v>
                </c:pt>
                <c:pt idx="33">
                  <c:v>4.3099999999999996</c:v>
                </c:pt>
                <c:pt idx="34">
                  <c:v>4.25</c:v>
                </c:pt>
                <c:pt idx="35">
                  <c:v>3.87</c:v>
                </c:pt>
                <c:pt idx="36">
                  <c:v>3.72</c:v>
                </c:pt>
                <c:pt idx="37">
                  <c:v>4.0999999999999996</c:v>
                </c:pt>
                <c:pt idx="38">
                  <c:v>4.3600000000000003</c:v>
                </c:pt>
                <c:pt idx="39">
                  <c:v>4.3899999999999997</c:v>
                </c:pt>
                <c:pt idx="40">
                  <c:v>4.63</c:v>
                </c:pt>
                <c:pt idx="41">
                  <c:v>4.45</c:v>
                </c:pt>
                <c:pt idx="42">
                  <c:v>4.28</c:v>
                </c:pt>
                <c:pt idx="43">
                  <c:v>4.28</c:v>
                </c:pt>
                <c:pt idx="44">
                  <c:v>4.42</c:v>
                </c:pt>
                <c:pt idx="45">
                  <c:v>4.38</c:v>
                </c:pt>
                <c:pt idx="46">
                  <c:v>4.3899999999999997</c:v>
                </c:pt>
                <c:pt idx="47">
                  <c:v>4.26</c:v>
                </c:pt>
                <c:pt idx="48">
                  <c:v>4.12</c:v>
                </c:pt>
                <c:pt idx="49">
                  <c:v>4.0599999999999996</c:v>
                </c:pt>
                <c:pt idx="50">
                  <c:v>4.09</c:v>
                </c:pt>
                <c:pt idx="51">
                  <c:v>4.1399999999999997</c:v>
                </c:pt>
                <c:pt idx="52">
                  <c:v>4.21</c:v>
                </c:pt>
                <c:pt idx="53">
                  <c:v>4.13</c:v>
                </c:pt>
                <c:pt idx="54">
                  <c:v>4.25</c:v>
                </c:pt>
                <c:pt idx="55">
                  <c:v>4.32</c:v>
                </c:pt>
                <c:pt idx="56">
                  <c:v>4.4800000000000004</c:v>
                </c:pt>
                <c:pt idx="57">
                  <c:v>4.47</c:v>
                </c:pt>
                <c:pt idx="58">
                  <c:v>4.5999999999999996</c:v>
                </c:pt>
                <c:pt idx="59">
                  <c:v>4.68</c:v>
                </c:pt>
                <c:pt idx="60">
                  <c:v>4.99</c:v>
                </c:pt>
              </c:numCache>
            </c:numRef>
          </c:val>
          <c:smooth val="0"/>
          <c:extLst>
            <c:ext xmlns:c16="http://schemas.microsoft.com/office/drawing/2014/chart" uri="{C3380CC4-5D6E-409C-BE32-E72D297353CC}">
              <c16:uniqueId val="{00000000-9614-46B3-8248-C0786A4D857B}"/>
            </c:ext>
          </c:extLst>
        </c:ser>
        <c:ser>
          <c:idx val="1"/>
          <c:order val="1"/>
          <c:tx>
            <c:strRef>
              <c:f>Sheet1!$C$1</c:f>
              <c:strCache>
                <c:ptCount val="1"/>
                <c:pt idx="0">
                  <c:v>Federal funds</c:v>
                </c:pt>
              </c:strCache>
            </c:strRef>
          </c:tx>
          <c:spPr>
            <a:ln w="19050" cap="flat">
              <a:solidFill>
                <a:srgbClr val="1B1A1A"/>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4.0999999999999996</c:v>
                </c:pt>
                <c:pt idx="16">
                  <c:v>4.33</c:v>
                </c:pt>
                <c:pt idx="17">
                  <c:v>4.57</c:v>
                </c:pt>
                <c:pt idx="18">
                  <c:v>4.6500000000000004</c:v>
                </c:pt>
                <c:pt idx="19">
                  <c:v>4.83</c:v>
                </c:pt>
                <c:pt idx="20">
                  <c:v>5.0599999999999996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4.6399999999999997</c:v>
                </c:pt>
                <c:pt idx="39">
                  <c:v>4.4800000000000004</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extLst>
            <c:ext xmlns:c16="http://schemas.microsoft.com/office/drawing/2014/chart" uri="{C3380CC4-5D6E-409C-BE32-E72D297353CC}">
              <c16:uniqueId val="{00000001-9614-46B3-8248-C0786A4D857B}"/>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Temporary help, thousands</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2598.3000000000002</c:v>
                </c:pt>
                <c:pt idx="35">
                  <c:v>2582.6999999999998</c:v>
                </c:pt>
                <c:pt idx="36">
                  <c:v>2564</c:v>
                </c:pt>
                <c:pt idx="37">
                  <c:v>2547.8000000000002</c:v>
                </c:pt>
                <c:pt idx="38">
                  <c:v>2550</c:v>
                </c:pt>
                <c:pt idx="39">
                  <c:v>2541.9</c:v>
                </c:pt>
                <c:pt idx="40">
                  <c:v>2539.3000000000002</c:v>
                </c:pt>
                <c:pt idx="41">
                  <c:v>2533</c:v>
                </c:pt>
                <c:pt idx="42">
                  <c:v>2528.3000000000002</c:v>
                </c:pt>
                <c:pt idx="43">
                  <c:v>2527.5</c:v>
                </c:pt>
                <c:pt idx="44">
                  <c:v>2513.1</c:v>
                </c:pt>
                <c:pt idx="45">
                  <c:v>2504.6</c:v>
                </c:pt>
                <c:pt idx="46">
                  <c:v>2494.1999999999998</c:v>
                </c:pt>
                <c:pt idx="47">
                  <c:v>2483.3000000000002</c:v>
                </c:pt>
                <c:pt idx="48">
                  <c:v>2471.6</c:v>
                </c:pt>
                <c:pt idx="49">
                  <c:v>2451.8000000000002</c:v>
                </c:pt>
                <c:pt idx="50">
                  <c:v>2465.5</c:v>
                </c:pt>
                <c:pt idx="51">
                  <c:v>2451.4</c:v>
                </c:pt>
                <c:pt idx="52">
                  <c:v>2470.1999999999998</c:v>
                </c:pt>
                <c:pt idx="53">
                  <c:v>2471.9</c:v>
                </c:pt>
                <c:pt idx="54">
                  <c:v>2479.9</c:v>
                </c:pt>
                <c:pt idx="55">
                  <c:v>2490.4</c:v>
                </c:pt>
                <c:pt idx="56">
                  <c:v>2490.6</c:v>
                </c:pt>
                <c:pt idx="57">
                  <c:v>2507.5</c:v>
                </c:pt>
                <c:pt idx="58">
                  <c:v>2497.5</c:v>
                </c:pt>
                <c:pt idx="59">
                  <c:v>2497.6999999999998</c:v>
                </c:pt>
                <c:pt idx="60">
                  <c:v>2486.8000000000002</c:v>
                </c:pt>
              </c:numCache>
            </c:numRef>
          </c:val>
          <c:smooth val="0"/>
          <c:extLst>
            <c:ext xmlns:c16="http://schemas.microsoft.com/office/drawing/2014/chart" uri="{C3380CC4-5D6E-409C-BE32-E72D297353CC}">
              <c16:uniqueId val="{00000000-861F-4B78-9406-0B1704DB288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Architecture and engineering</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extLst>
            <c:ext xmlns:c16="http://schemas.microsoft.com/office/drawing/2014/chart" uri="{C3380CC4-5D6E-409C-BE32-E72D297353CC}">
              <c16:uniqueId val="{00000000-F94D-4D20-81DD-4150EAC6331A}"/>
            </c:ext>
          </c:extLst>
        </c:ser>
        <c:ser>
          <c:idx val="1"/>
          <c:order val="1"/>
          <c:tx>
            <c:strRef>
              <c:f>Sheet1!$C$1</c:f>
              <c:strCache>
                <c:ptCount val="1"/>
                <c:pt idx="0">
                  <c:v>Services to buildings</c:v>
                </c:pt>
              </c:strCache>
            </c:strRef>
          </c:tx>
          <c:spPr>
            <a:ln w="19050" cap="flat">
              <a:solidFill>
                <a:srgbClr val="1B1A1A"/>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extLst>
            <c:ext xmlns:c16="http://schemas.microsoft.com/office/drawing/2014/chart" uri="{C3380CC4-5D6E-409C-BE32-E72D297353CC}">
              <c16:uniqueId val="{00000001-F94D-4D20-81DD-4150EAC6331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bg>
      <p:bgRef idx="1001">
        <a:schemeClr val="bg1"/>
      </p:bgRef>
    </p:bg>
    <p:spTree>
      <p:nvGrpSpPr>
        <p:cNvPr id="1" name="Object 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Object 1"/>
        <p:cNvGrpSpPr/>
        <p:nvPr/>
      </p:nvGrpSpPr>
      <p:grpSpPr>
        <a:xfrm>
          <a:off x="0" y="0"/>
          <a:ext cx="0" cy="0"/>
          <a:chOff x="0" y="0"/>
          <a:chExt cx="0" cy="0"/>
        </a:xfrm>
      </p:grpSpPr>
      <p:sp>
        <p:nvSpPr>
          <p:cNvPr id="2" name="Object 2"/>
          <p:cNvSpPr>
            <a:spLocks noGrp="1"/>
          </p:cNvSpPr>
          <p:nvPr>
            <p:ph type="title"/>
          </p:nvPr>
        </p:nvSpPr>
        <p:spPr/>
        <p:txBody>
          <a:bodyPr/>
          <a:lstStyle/>
          <a:p>
            <a:r>
              <a:rPr lang="en-US"/>
              <a:t>Click to edit Master title style</a:t>
            </a:r>
          </a:p>
        </p:txBody>
      </p:sp>
      <p:sp>
        <p:nvSpPr>
          <p:cNvPr id="3" name="Object 3"/>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Object 4"/>
          <p:cNvSpPr>
            <a:spLocks noGrp="1"/>
          </p:cNvSpPr>
          <p:nvPr>
            <p:ph type="ftr" sz="quarter" idx="11"/>
          </p:nvPr>
        </p:nvSpPr>
        <p:spPr/>
        <p:txBody>
          <a:bodyPr/>
          <a:lstStyle/>
          <a:p>
            <a:endParaRPr lang="en-US"/>
          </a:p>
        </p:txBody>
      </p:sp>
      <p:sp>
        <p:nvSpPr>
          <p:cNvPr id="5" name="Object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Object 1"/>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image" Target="../media/image21.png"/><Relationship Id="rId21" Type="http://schemas.openxmlformats.org/officeDocument/2006/relationships/image" Target="../media/image22.png"/><Relationship Id="rId22" Type="http://schemas.openxmlformats.org/officeDocument/2006/relationships/hyperlink" Target="tel:8137716675" TargetMode="External"/><Relationship Id="rId23" Type="http://schemas.openxmlformats.org/officeDocument/2006/relationships/hyperlink" Target="mailto:jhoutz@benchmarkintl.com" TargetMode="External"/><Relationship Id="rId24" Type="http://schemas.openxmlformats.org/officeDocument/2006/relationships/hyperlink" Target="tel:8138982372" TargetMode="External"/><Relationship Id="rId25" Type="http://schemas.openxmlformats.org/officeDocument/2006/relationships/hyperlink" Target="mailto:azykov@benchmarkintl.com" TargetMode="External"/><Relationship Id="rId26" Type="http://schemas.openxmlformats.org/officeDocument/2006/relationships/hyperlink" Target="tel:8138982397" TargetMode="External"/><Relationship Id="rId27"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6.png"/><Relationship Id="rId4" Type="http://schemas.openxmlformats.org/officeDocument/2006/relationships/hyperlink" Target="https://pyebarkerfs.com/news/pye-barker-fire-safety-celebrates-mid-year-momentum-and-3-sdm-100-ranking/" TargetMode="External"/><Relationship Id="rId5" Type="http://schemas.openxmlformats.org/officeDocument/2006/relationships/hyperlink" Target="https://pyebarkerfs.com/?p=19317" TargetMode="External"/><Relationship Id="rId6" Type="http://schemas.openxmlformats.org/officeDocument/2006/relationships/hyperlink" Target="https://www.sec.gov/Archives/edgar/data/0001796209/000162828026050806/apg-20260630xexx991.htm" TargetMode="External"/><Relationship Id="rId7" Type="http://schemas.openxmlformats.org/officeDocument/2006/relationships/image" Target="../media/image27.png"/><Relationship Id="rId8" Type="http://schemas.openxmlformats.org/officeDocument/2006/relationships/hyperlink" Target="https://www.federalreserve.gov/monetarypolicy/files/monetary20260916a1.pdf" TargetMode="External"/><Relationship Id="rId9" Type="http://schemas.openxmlformats.org/officeDocument/2006/relationships/hyperlink" Target="https://fred.stlouisfed.org/series/GS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28.png"/><Relationship Id="rId12" Type="http://schemas.openxmlformats.org/officeDocument/2006/relationships/hyperlink" Target="https://engineeringinc.acec.org/blog/engineering-firms-remain-resilient-amid-growing-economic-uncertainty-new-acec-research-institute-study-finds/" TargetMode="External"/><Relationship Id="rId13" Type="http://schemas.openxmlformats.org/officeDocument/2006/relationships/hyperlink" Target="https://investors.bowman.com/news-releases/news-release-details/bowman-consulting-group-enters-definitive-agreement-be-acquired" TargetMode="External"/><Relationship Id="rId14" Type="http://schemas.openxmlformats.org/officeDocument/2006/relationships/image" Target="../media/image29.png"/><Relationship Id="rId15" Type="http://schemas.openxmlformats.org/officeDocument/2006/relationships/hyperlink" Target="https://www.insurancejournal.com/news/national/2026/08/20/882240.htm" TargetMode="External"/><Relationship Id="rId16" Type="http://schemas.openxmlformats.org/officeDocument/2006/relationships/hyperlink" Target="https://www.insurancejournal.com/magazines/mag-business-moves/2026/09/21/885520.htm" TargetMode="External"/><Relationship Id="rId17" Type="http://schemas.openxmlformats.org/officeDocument/2006/relationships/image" Target="../media/image30.png"/><Relationship Id="rId18" Type="http://schemas.openxmlformats.org/officeDocument/2006/relationships/hyperlink" Target="https://www.staffingindustry.com/news/global-daily-news/highest-median-revenue-in-pulse-staffing-survey-since-late-2022" TargetMode="External"/><Relationship Id="rId19" Type="http://schemas.openxmlformats.org/officeDocument/2006/relationships/hyperlink" Target="https://fred.stlouisfed.org/series/TEMPHELPS" TargetMode="External"/><Relationship Id="rId20" Type="http://schemas.openxmlformats.org/officeDocument/2006/relationships/image" Target="../media/image31.png"/><Relationship Id="rId21" Type="http://schemas.openxmlformats.org/officeDocument/2006/relationships/hyperlink" Target="https://www.mediapost.com/publications/article/417751/ad-outlook-composite-improves-on-mw-revisions.html" TargetMode="External"/><Relationship Id="rId22" Type="http://schemas.openxmlformats.org/officeDocument/2006/relationships/hyperlink" Target="https://www.marketingdive.com/news/ai-remains-a-top-priority-for-cmos-but-spending-lags-gartner/819806/" TargetMode="External"/><Relationship Id="rId23" Type="http://schemas.openxmlformats.org/officeDocument/2006/relationships/hyperlink" Target="https://www.ibba.org/wp-content/uploads/2026/08/mp-highlights-q2-2026.pdf" TargetMode="External"/><Relationship Id="rId24" Type="http://schemas.openxmlformats.org/officeDocument/2006/relationships/hyperlink" Target="https://www.ibba.org/market-pulse-q2-2026-survey-results/" TargetMode="External"/><Relationship Id="rId2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hyperlink" Target="https://www.sdmmag.com/articles/105352-sdm-100-top-100-security-dealers-of-2026" TargetMode="External"/><Relationship Id="rId6" Type="http://schemas.openxmlformats.org/officeDocument/2006/relationships/hyperlink" Target="https://www.sgs.com/en-ca/news/2026/07/sgs-2026-half-year-results" TargetMode="External"/><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hyperlink" Target="https://www.iab.com/news/digital-ad-revenue-climbs-to-nearly-300b-as-iab-celebrates-30-year-anniversary/" TargetMode="External"/><Relationship Id="rId10" Type="http://schemas.openxmlformats.org/officeDocument/2006/relationships/hyperlink" Target="https://asicentral.com/press-releases/north-america-promo-industry-grows-4-percent-in-2025/" TargetMode="External"/><Relationship Id="rId11" Type="http://schemas.openxmlformats.org/officeDocument/2006/relationships/image" Target="../media/image36.png"/><Relationship Id="rId12" Type="http://schemas.openxmlformats.org/officeDocument/2006/relationships/image" Target="../media/image37.png"/><Relationship Id="rId13" Type="http://schemas.openxmlformats.org/officeDocument/2006/relationships/hyperlink" Target="https://enr.com/toplists/2026-top-500-design-firms-preview" TargetMode="External"/><Relationship Id="rId14" Type="http://schemas.openxmlformats.org/officeDocument/2006/relationships/hyperlink" Target="https://go.psmj.com/outlook-2026-aec-ma-trends-report" TargetMode="External"/><Relationship Id="rId15" Type="http://schemas.openxmlformats.org/officeDocument/2006/relationships/image" Target="../media/image38.png"/><Relationship Id="rId16" Type="http://schemas.openxmlformats.org/officeDocument/2006/relationships/image" Target="../media/image39.png"/><Relationship Id="rId17" Type="http://schemas.openxmlformats.org/officeDocument/2006/relationships/hyperlink" Target="https://riskandinsurance.com/mga-premiums-hit-108-7-billion-in-2025-as-capacity-scrutiny-tightens/" TargetMode="External"/><Relationship Id="rId18" Type="http://schemas.openxmlformats.org/officeDocument/2006/relationships/hyperlink" Target="https://www.wealthmanagement.com/ria-news/fidelity-m-a-transaction-count-fell-in-1h-but-total-asset-haul-rose-88-" TargetMode="External"/><Relationship Id="rId19" Type="http://schemas.openxmlformats.org/officeDocument/2006/relationships/image" Target="../media/image40.png"/><Relationship Id="rId20" Type="http://schemas.openxmlformats.org/officeDocument/2006/relationships/image" Target="../media/image41.png"/><Relationship Id="rId21" Type="http://schemas.openxmlformats.org/officeDocument/2006/relationships/hyperlink" Target="https://americanstaffing.net/posts/2026/03/30/employment-and-sales-rebound-in-q4/" TargetMode="External"/><Relationship Id="rId22" Type="http://schemas.openxmlformats.org/officeDocument/2006/relationships/hyperlink" Target="https://www.staffingindustry.com/editorial/industrial-staffing-report/industrial-staffing-forecast-revised-to-7-growth-from-1-" TargetMode="External"/><Relationship Id="rId2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engineeringinc.acec.org/blog/engineering-firms-remain-resilient-amid-growing-economic-uncertainty-new-acec-research-institute-study-finds/" TargetMode="External"/><Relationship Id="rId4" Type="http://schemas.openxmlformats.org/officeDocument/2006/relationships/hyperlink" Target="https://www.staffingindustry.com/editorial/it-staffing-report/it-staffing-revenue-up-5-at-the-median-in-pulse-survey" TargetMode="External"/><Relationship Id="rId5" Type="http://schemas.openxmlformats.org/officeDocument/2006/relationships/hyperlink" Target="https://www.insurancejournal.com/news/national/2026/08/20/882240.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www.investing.com/news/stock-market-news/global-ma-deal-rush-fades-in-third-quarter-as-rising-borrowing-costs-bite-4928161" TargetMode="External"/><Relationship Id="rId8" Type="http://schemas.openxmlformats.org/officeDocument/2006/relationships/hyperlink" Target="https://www.acg.org/news-trends/news/gf-data-reports-show-steady-middle-market-deal-flow-amid-more-selective" TargetMode="External"/><Relationship Id="rId9" Type="http://schemas.openxmlformats.org/officeDocument/2006/relationships/hyperlink" Target="https://www.federalreserve.gov/monetarypolicy/files/monetary20260916a1.pdf" TargetMode="External"/><Relationship Id="rId10" Type="http://schemas.openxmlformats.org/officeDocument/2006/relationships/hyperlink" Target="https://www.ibba.org/market-pulse-q2-2026-survey-results/" TargetMode="External"/><Relationship Id="rId11" Type="http://schemas.openxmlformats.org/officeDocument/2006/relationships/hyperlink" Target="https://www.ibba.org/wp-content/uploads/2026/08/mp-highlights-q2-2026.pdf" TargetMode="External"/><Relationship Id="rId1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2.png"/><Relationship Id="rId4" Type="http://schemas.openxmlformats.org/officeDocument/2006/relationships/hyperlink" Target="https://pyebarkerfs.com/news/pye-barker-fire-safety-celebrates-mid-year-momentum-and-3-sdm-100-ranking/" TargetMode="External"/><Relationship Id="rId5" Type="http://schemas.openxmlformats.org/officeDocument/2006/relationships/hyperlink" Target="https://pyebarkerfs.com/?p=19317" TargetMode="External"/><Relationship Id="rId6" Type="http://schemas.openxmlformats.org/officeDocument/2006/relationships/hyperlink" Target="https://www.sec.gov/Archives/edgar/data/0001796209/000162828026050806/apg-20260630xexx991.htm" TargetMode="External"/><Relationship Id="rId7" Type="http://schemas.openxmlformats.org/officeDocument/2006/relationships/hyperlink" Target="https://www.businesswire.com/news/home/20251210396417/en/APi-Group-Announces-Acquisition-of-CertaSite-and-Provides-Full-Year-2025-Update" TargetMode="External"/><Relationship Id="rId8" Type="http://schemas.openxmlformats.org/officeDocument/2006/relationships/hyperlink" Target="https://www.sdmmag.com/articles/105352-sdm-100-top-100-security-dealers-of-2026" TargetMode="External"/><Relationship Id="rId9" Type="http://schemas.openxmlformats.org/officeDocument/2006/relationships/hyperlink" Target="https://stockanalysis.com/stocks/ctas/statistics/" TargetMode="External"/><Relationship Id="rId10" Type="http://schemas.openxmlformats.org/officeDocument/2006/relationships/chart" Target="../charts/chart1.xml"/><Relationship Id="rId11" Type="http://schemas.openxmlformats.org/officeDocument/2006/relationships/hyperlink" Target="https://pyebarkerfs.com/news/pye-barker-fire-safety-acquires-union-alarmtronic-llc-continuing-security-alarm-service-expansion-in-the-northeast/" TargetMode="External"/><Relationship Id="rId12" Type="http://schemas.openxmlformats.org/officeDocument/2006/relationships/hyperlink" Target="https://pyebarkerfs.com/news/pye-barker-fire-safety-acquires-suppression-systems-inc-enhancing-fire-suppression-services-in-pacific-northwest/" TargetMode="External"/><Relationship Id="rId13" Type="http://schemas.openxmlformats.org/officeDocument/2006/relationships/hyperlink" Target="https://ausnewsroom.aus.com/news/allied-universal-advances-growth-strategy-with-recent-strategic-acquisitions-1" TargetMode="External"/><Relationship Id="rId14" Type="http://schemas.openxmlformats.org/officeDocument/2006/relationships/hyperlink" Target="https://fireandsafetyjournalamericas.com/sciens-acquires-florida-based-southern-fire-control/" TargetMode="External"/><Relationship Id="rId1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hyperlink" Target="https://www.sec.gov/Archives/edgar/data/0000723254/000072325426000042/cintascorporation_arsprint.pdf" TargetMode="External"/><Relationship Id="rId6" Type="http://schemas.openxmlformats.org/officeDocument/2006/relationships/hyperlink" Target="https://www.benchmarkintl.com/insights/completed-transactions/benchmark-international-successfully-facilitated-the-transaction-between-fps-technologies-inc-and-cintas-corporation/" TargetMode="External"/><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hyperlink" Target="https://www.benchmarkintl.com/insights/completed-transactions/benchmark-international-successfully-facilitated-the-transaction-of-fire-systems-technology-incorporated-and-ai-fire-llc/" TargetMode="External"/><Relationship Id="rId10" Type="http://schemas.openxmlformats.org/officeDocument/2006/relationships/hyperlink" Target="https://www.benchmarkintl.com/insights/completed-transactions/benchmark-international-successfully-facilitated-the-transaction-between-high-tech-solutions-systems-group-inc-and-ai-fire/" TargetMode="External"/><Relationship Id="rId11" Type="http://schemas.openxmlformats.org/officeDocument/2006/relationships/image" Target="../media/image48.png"/><Relationship Id="rId12" Type="http://schemas.openxmlformats.org/officeDocument/2006/relationships/image" Target="../media/image49.png"/><Relationship Id="rId13" Type="http://schemas.openxmlformats.org/officeDocument/2006/relationships/image" Target="../media/image50.png"/><Relationship Id="rId14" Type="http://schemas.openxmlformats.org/officeDocument/2006/relationships/image" Target="../media/image51.png"/><Relationship Id="rId1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pyebarkerfs.com/news/pye-barker-fire-safety-acquires-union-alarmtronic-llc-continuing-security-alarm-service-expansion-in-the-northeast/" TargetMode="External"/><Relationship Id="rId4" Type="http://schemas.openxmlformats.org/officeDocument/2006/relationships/hyperlink" Target="https://members.asicentral.com/news/industry-news/october-2026/zebra-marketing-inks-deal-to-acquire-east-beach-specialties/" TargetMode="External"/><Relationship Id="rId5" Type="http://schemas.openxmlformats.org/officeDocument/2006/relationships/hyperlink" Target="https://members.asicentral.com/news/industry-news/july-2026/industry-sales-grow-25-in-q2-as-business-pressures-persist/" TargetMode="External"/><Relationship Id="rId6" Type="http://schemas.openxmlformats.org/officeDocument/2006/relationships/hyperlink" Target="https://investors.bowman.com/news-releases/news-release-details/bowman-reports-strong-results-second-quarter-2026"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businessmag.com/us/news/mergers-acquisitions/inszone-snaps-up-centuryold-tulsa-agency-in-august-deal-run-586995.aspx" TargetMode="External"/><Relationship Id="rId9" Type="http://schemas.openxmlformats.org/officeDocument/2006/relationships/hyperlink" Target="https://www.insurancejournal.com/magazines/mag-business-moves/2026/10/05/887584.htm" TargetMode="External"/><Relationship Id="rId10" Type="http://schemas.openxmlformats.org/officeDocument/2006/relationships/hyperlink" Target="https://www.staffingindustry.com/editorial/industrial-staffing-report/veriworks-entering-data-center-construction-staffing-with-laborworx-acquisition" TargetMode="External"/><Relationship Id="rId11" Type="http://schemas.openxmlformats.org/officeDocument/2006/relationships/hyperlink" Target="https://www.staffingindustry.com/editorial/industrial-staffing-report/industrial-staffing-forecast-revised-to-7-growth-from-1-" TargetMode="External"/><Relationship Id="rId12" Type="http://schemas.openxmlformats.org/officeDocument/2006/relationships/hyperlink" Target="https://ir.kornferry.com/news-events/press-releases/detail/724/korn-ferry-announces-definitive-agreement-to-acquire-ams" TargetMode="External"/><Relationship Id="rId13" Type="http://schemas.openxmlformats.org/officeDocument/2006/relationships/image" Target="../media/image4.png"/><Relationship Id="rId14" Type="http://schemas.openxmlformats.org/officeDocument/2006/relationships/image" Target="../media/image52.png"/><Relationship Id="rId15" Type="http://schemas.openxmlformats.org/officeDocument/2006/relationships/image" Target="../media/image53.png"/><Relationship Id="rId16" Type="http://schemas.openxmlformats.org/officeDocument/2006/relationships/image" Target="../media/image54.png"/><Relationship Id="rId17" Type="http://schemas.openxmlformats.org/officeDocument/2006/relationships/image" Target="../media/image55.png"/><Relationship Id="rId18" Type="http://schemas.openxmlformats.org/officeDocument/2006/relationships/image" Target="../media/image56.png"/><Relationship Id="rId19" Type="http://schemas.openxmlformats.org/officeDocument/2006/relationships/image" Target="../media/image57.png"/><Relationship Id="rId20" Type="http://schemas.openxmlformats.org/officeDocument/2006/relationships/image" Target="../media/image58.png"/><Relationship Id="rId21" Type="http://schemas.openxmlformats.org/officeDocument/2006/relationships/image" Target="../media/image59.png"/><Relationship Id="rId22" Type="http://schemas.openxmlformats.org/officeDocument/2006/relationships/image" Target="../media/image60.png"/><Relationship Id="rId23" Type="http://schemas.openxmlformats.org/officeDocument/2006/relationships/image" Target="../media/image61.png"/><Relationship Id="rId24" Type="http://schemas.openxmlformats.org/officeDocument/2006/relationships/image" Target="../media/image6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65.png"/><Relationship Id="rId9" Type="http://schemas.openxmlformats.org/officeDocument/2006/relationships/image" Target="../media/image66.png"/><Relationship Id="rId10" Type="http://schemas.openxmlformats.org/officeDocument/2006/relationships/hyperlink" Target="https://www.benchmarkintl.com/insights/completed-transactions/benchmark-international-successfully-facilitated-the-transaction-of-pacific-green-protection-inc-and-cresswell-ventures/" TargetMode="External"/><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hyperlink" Target="https://www.benchmarkintl.com/insights/completed-transactions/benchmark-international-successfully-facilitated-a-transaction-between-briggs-engineering-testing-and-phenna-group/" TargetMode="External"/><Relationship Id="rId14"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5" Type="http://schemas.openxmlformats.org/officeDocument/2006/relationships/image" Target="../media/image69.png"/><Relationship Id="rId16" Type="http://schemas.openxmlformats.org/officeDocument/2006/relationships/image" Target="../media/image70.png"/><Relationship Id="rId17" Type="http://schemas.openxmlformats.org/officeDocument/2006/relationships/hyperlink" Target="https://www.benchmarkintl.com/insights/completed-transactions/benchmark-international-successfully-facilitated-the-transaction-between-martiancraft-llc-and-walnut-capital-partners/" TargetMode="External"/><Relationship Id="rId18" Type="http://schemas.openxmlformats.org/officeDocument/2006/relationships/image" Target="../media/image71.png"/><Relationship Id="rId19" Type="http://schemas.openxmlformats.org/officeDocument/2006/relationships/image" Target="../media/image72.png"/><Relationship Id="rId20" Type="http://schemas.openxmlformats.org/officeDocument/2006/relationships/hyperlink" Target="https://www.benchmarkintl.com/insights/completed-transactions/benchmark-international-successfully-facilitated-a-transaction-between-snailworks-llc-and-beacon-software/" TargetMode="External"/><Relationship Id="rId21" Type="http://schemas.openxmlformats.org/officeDocument/2006/relationships/image" Target="../media/image73.png"/><Relationship Id="rId22" Type="http://schemas.openxmlformats.org/officeDocument/2006/relationships/image" Target="../media/image74.png"/><Relationship Id="rId23" Type="http://schemas.openxmlformats.org/officeDocument/2006/relationships/hyperlink" Target="https://www.benchmarkintl.com/insights/completed-transactions/benchmark-international-successfully-facilitated-the-transaction-between-total-sales-marketing-inc-and-retail-rex-capital/" TargetMode="External"/><Relationship Id="rId24" Type="http://schemas.openxmlformats.org/officeDocument/2006/relationships/image" Target="../media/image75.png"/><Relationship Id="rId25" Type="http://schemas.openxmlformats.org/officeDocument/2006/relationships/image" Target="../media/image76.png"/><Relationship Id="rId26" Type="http://schemas.openxmlformats.org/officeDocument/2006/relationships/hyperlink" Target="https://www.benchmarkintl.com/insights/completed-transactions/benchmark-international-successfully-facilitated-the-transaction-between-sjb-group-llc-and-surveying-and-mapping-llc/" TargetMode="External"/><Relationship Id="rId27"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8" Type="http://schemas.openxmlformats.org/officeDocument/2006/relationships/hyperlink" Target="https://www.benchmarkintl.com/insights/completed-transactions/benchmark-international-facilitates-the-sale-of-altair-associates-inc-to-centri-business-consulting/" TargetMode="External"/><Relationship Id="rId29" Type="http://schemas.openxmlformats.org/officeDocument/2006/relationships/hyperlink" Target="https://www.benchmarkintl.com/insights/completed-transactions/benchmark-international-successfully-facilitated-the-transaction-of-mokavia-aerospace-and-hitek-inc/" TargetMode="External"/><Relationship Id="rId30" Type="http://schemas.openxmlformats.org/officeDocument/2006/relationships/image" Target="../media/image4.png"/><Relationship Id="rId31" Type="http://schemas.openxmlformats.org/officeDocument/2006/relationships/image" Target="../media/image77.png"/><Relationship Id="rId32" Type="http://schemas.openxmlformats.org/officeDocument/2006/relationships/image" Target="../media/image78.png"/><Relationship Id="rId33" Type="http://schemas.openxmlformats.org/officeDocument/2006/relationships/image" Target="../media/image79.png"/><Relationship Id="rId34" Type="http://schemas.openxmlformats.org/officeDocument/2006/relationships/image" Target="../media/image80.png"/><Relationship Id="rId35" Type="http://schemas.openxmlformats.org/officeDocument/2006/relationships/image" Target="../media/image81.png"/><Relationship Id="rId36" Type="http://schemas.openxmlformats.org/officeDocument/2006/relationships/image" Target="../media/image82.png"/><Relationship Id="rId37" Type="http://schemas.openxmlformats.org/officeDocument/2006/relationships/image" Target="../media/image83.png"/><Relationship Id="rId38" Type="http://schemas.openxmlformats.org/officeDocument/2006/relationships/image" Target="../media/image84.png"/><Relationship Id="rId39" Type="http://schemas.openxmlformats.org/officeDocument/2006/relationships/image" Target="../media/image8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hyperlink" Target="https://stockanalysis.com/stocks/ctas/statistics/" TargetMode="External"/><Relationship Id="rId8" Type="http://schemas.openxmlformats.org/officeDocument/2006/relationships/hyperlink" Target="https://stockanalysis.com/stocks/uls/statistics/" TargetMode="External"/><Relationship Id="rId9" Type="http://schemas.openxmlformats.org/officeDocument/2006/relationships/hyperlink" Target="https://stockanalysis.com/stocks/rol/statistics/" TargetMode="External"/><Relationship Id="rId10" Type="http://schemas.openxmlformats.org/officeDocument/2006/relationships/hyperlink" Target="https://stockanalysis.com/stocks/apg/statistics/" TargetMode="External"/><Relationship Id="rId11" Type="http://schemas.openxmlformats.org/officeDocument/2006/relationships/hyperlink" Target="https://stockanalysis.com/quote/swx/SGSN/statistics/" TargetMode="External"/><Relationship Id="rId12" Type="http://schemas.openxmlformats.org/officeDocument/2006/relationships/hyperlink" Target="https://stockanalysis.com/stocks/fsv/statistics/" TargetMode="External"/><Relationship Id="rId13" Type="http://schemas.openxmlformats.org/officeDocument/2006/relationships/hyperlink" Target="https://stockanalysis.com/quote/lon/ITRK/statistics/" TargetMode="External"/><Relationship Id="rId14" Type="http://schemas.openxmlformats.org/officeDocument/2006/relationships/hyperlink" Target="https://stockanalysis.com/quote/epa/BVI/statistics/" TargetMode="External"/><Relationship Id="rId15" Type="http://schemas.openxmlformats.org/officeDocument/2006/relationships/hyperlink" Target="https://stockanalysis.com/stocks/mg/statistics/" TargetMode="External"/><Relationship Id="rId16" Type="http://schemas.openxmlformats.org/officeDocument/2006/relationships/hyperlink" Target="https://stockanalysis.com/stocks/abm/statistics/" TargetMode="External"/><Relationship Id="rId17" Type="http://schemas.openxmlformats.org/officeDocument/2006/relationships/hyperlink" Target="https://stockanalysis.com/stocks/bv/statistics/" TargetMode="External"/><Relationship Id="rId18" Type="http://schemas.openxmlformats.org/officeDocument/2006/relationships/hyperlink" Target="https://stockanalysis.com/stocks/wpp/statistics/" TargetMode="External"/><Relationship Id="rId19" Type="http://schemas.openxmlformats.org/officeDocument/2006/relationships/hyperlink" Target="https://stockanalysis.com/stocks/stgw/statistics/" TargetMode="External"/><Relationship Id="rId20" Type="http://schemas.openxmlformats.org/officeDocument/2006/relationships/hyperlink" Target="https://stockanalysis.com/quote/lon/FOUR/statistics/" TargetMode="External"/><Relationship Id="rId21" Type="http://schemas.openxmlformats.org/officeDocument/2006/relationships/hyperlink" Target="https://stockanalysis.com/stocks/acn/statistics/" TargetMode="External"/><Relationship Id="rId22" Type="http://schemas.openxmlformats.org/officeDocument/2006/relationships/hyperlink" Target="https://stockanalysis.com/quote/epa/PUB/statistics/" TargetMode="External"/><Relationship Id="rId23" Type="http://schemas.openxmlformats.org/officeDocument/2006/relationships/hyperlink" Target="https://stockanalysis.com/stocks/omc/statistics/" TargetMode="External"/><Relationship Id="rId24" Type="http://schemas.openxmlformats.org/officeDocument/2006/relationships/hyperlink" Target="https://stockanalysis.com/stocks/ctsh/statistics/" TargetMode="External"/><Relationship Id="rId25" Type="http://schemas.openxmlformats.org/officeDocument/2006/relationships/hyperlink" Target="https://stockanalysis.com/stocks/adv/statistics/" TargetMode="External"/><Relationship Id="rId26" Type="http://schemas.openxmlformats.org/officeDocument/2006/relationships/hyperlink" Target="https://stockanalysis.com/quote/tyo/4324/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quote/tsx/WSP/statistics/" TargetMode="External"/><Relationship Id="rId34" Type="http://schemas.openxmlformats.org/officeDocument/2006/relationships/hyperlink" Target="https://stockanalysis.com/stocks/acm/statistics/" TargetMode="External"/><Relationship Id="rId35" Type="http://schemas.openxmlformats.org/officeDocument/2006/relationships/hyperlink" Target="https://stockanalysis.com/stocks/ajg/statistics/" TargetMode="External"/><Relationship Id="rId36" Type="http://schemas.openxmlformats.org/officeDocument/2006/relationships/hyperlink" Target="https://stockanalysis.com/stocks/ryan/statistics/" TargetMode="External"/><Relationship Id="rId37" Type="http://schemas.openxmlformats.org/officeDocument/2006/relationships/hyperlink" Target="https://stockanalysis.com/stocks/mmc/statistics/" TargetMode="External"/><Relationship Id="rId38" Type="http://schemas.openxmlformats.org/officeDocument/2006/relationships/hyperlink" Target="https://stockanalysis.com/stocks/aon/statistics/" TargetMode="External"/><Relationship Id="rId39" Type="http://schemas.openxmlformats.org/officeDocument/2006/relationships/hyperlink" Target="https://stockanalysis.com/stocks/wtw/statistics/" TargetMode="External"/><Relationship Id="rId40" Type="http://schemas.openxmlformats.org/officeDocument/2006/relationships/hyperlink" Target="https://stockanalysis.com/stocks/cbz/statistics/" TargetMode="External"/><Relationship Id="rId41" Type="http://schemas.openxmlformats.org/officeDocument/2006/relationships/hyperlink" Target="https://stockanalysis.com/stocks/bro/statistics/" TargetMode="External"/><Relationship Id="rId42" Type="http://schemas.openxmlformats.org/officeDocument/2006/relationships/hyperlink" Target="https://stockanalysis.com/stocks/crd.a/statistics/" TargetMode="External"/><Relationship Id="rId43" Type="http://schemas.openxmlformats.org/officeDocument/2006/relationships/hyperlink" Target="https://stockanalysis.com/stocks/bwin/statistics/" TargetMode="External"/><Relationship Id="rId44" Type="http://schemas.openxmlformats.org/officeDocument/2006/relationships/hyperlink" Target="https://stockanalysis.com/stocks/kfrc/statistics/" TargetMode="External"/><Relationship Id="rId45" Type="http://schemas.openxmlformats.org/officeDocument/2006/relationships/hyperlink" Target="https://stockanalysis.com/stocks/tnet/statistics/" TargetMode="External"/><Relationship Id="rId46" Type="http://schemas.openxmlformats.org/officeDocument/2006/relationships/hyperlink" Target="https://stockanalysis.com/stocks/bbsi/statistics/" TargetMode="External"/><Relationship Id="rId47" Type="http://schemas.openxmlformats.org/officeDocument/2006/relationships/hyperlink" Target="https://stockanalysis.com/quote/ams/RAND/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man/statistics/" TargetMode="External"/><Relationship Id="rId50" Type="http://schemas.openxmlformats.org/officeDocument/2006/relationships/hyperlink" Target="https://stockanalysis.com/stocks/amn/statistics/" TargetMode="External"/><Relationship Id="rId51" Type="http://schemas.openxmlformats.org/officeDocument/2006/relationships/hyperlink" Target="https://stockanalysis.com/stocks/tbi/statistics/" TargetMode="External"/><Relationship Id="rId52" Type="http://schemas.openxmlformats.org/officeDocument/2006/relationships/hyperlink" Target="https://stockanalysis.com/stocks/rhi/statistics/" TargetMode="External"/><Relationship Id="rId53" Type="http://schemas.openxmlformats.org/officeDocument/2006/relationships/hyperlink" Target="https://stockanalysis.com/stocks/nsp/statistics/" TargetMode="External"/><Relationship Id="rId54" Type="http://schemas.openxmlformats.org/officeDocument/2006/relationships/image" Target="../media/image4.png"/><Relationship Id="rId55"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 Id="rId7" Type="http://schemas.openxmlformats.org/officeDocument/2006/relationships/image" Target="../media/image4.png"/><Relationship Id="rId8"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8.xml"/><Relationship Id="rId4" Type="http://schemas.openxmlformats.org/officeDocument/2006/relationships/image" Target="../media/image86.png"/><Relationship Id="rId5" Type="http://schemas.openxmlformats.org/officeDocument/2006/relationships/hyperlink" Target="https://www.sec.gov/Archives/edgar/data/0001796209/000162828026050806/apg-20260630xexx991.htm" TargetMode="External"/><Relationship Id="rId6" Type="http://schemas.openxmlformats.org/officeDocument/2006/relationships/hyperlink" Target="https://www.sec.gov/Archives/edgar/data/0000771497/000119312526384364/abm-ex99_1.htm" TargetMode="External"/><Relationship Id="rId7" Type="http://schemas.openxmlformats.org/officeDocument/2006/relationships/hyperlink" Target="https://www.ul.com/news/ul-solutions-inc-reports-strong-second-quarter-2026-results" TargetMode="External"/><Relationship Id="rId8" Type="http://schemas.openxmlformats.org/officeDocument/2006/relationships/hyperlink" Target="https://www.sec.gov/Archives/edgar/data/0001637810/000117184326004850/exh_991.htm" TargetMode="External"/><Relationship Id="rId9" Type="http://schemas.openxmlformats.org/officeDocument/2006/relationships/image" Target="../media/image87.png"/><Relationship Id="rId10" Type="http://schemas.openxmlformats.org/officeDocument/2006/relationships/hyperlink" Target="https://www.sec.gov/Archives/edgar/data/0001131383/000117184326005457/exh_991.htm" TargetMode="External"/><Relationship Id="rId11" Type="http://schemas.openxmlformats.org/officeDocument/2006/relationships/hyperlink" Target="https://willdangroupinc.gcs-web.com/node/16626" TargetMode="External"/><Relationship Id="rId12" Type="http://schemas.openxmlformats.org/officeDocument/2006/relationships/hyperlink" Target="https://investors.bowman.com/news-releases/news-release-details/bowman-reports-strong-results-second-quarter-2026" TargetMode="External"/><Relationship Id="rId13" Type="http://schemas.openxmlformats.org/officeDocument/2006/relationships/hyperlink" Target="https://www.businesswire.com/news/home/20260729563017/en/" TargetMode="External"/><Relationship Id="rId14" Type="http://schemas.openxmlformats.org/officeDocument/2006/relationships/image" Target="../media/image88.png"/><Relationship Id="rId15" Type="http://schemas.openxmlformats.org/officeDocument/2006/relationships/hyperlink" Target="https://www.sec.gov/Archives/edgar/data/0000871763/000119312526305399/man-ex99_1.htm" TargetMode="External"/><Relationship Id="rId16" Type="http://schemas.openxmlformats.org/officeDocument/2006/relationships/hyperlink" Target="https://s27.q4cdn.com/587398032/files/doc_financials/2026/q2/Q2-2026-Press-Release-Prepred-Remarks.pdf" TargetMode="External"/><Relationship Id="rId17" Type="http://schemas.openxmlformats.org/officeDocument/2006/relationships/hyperlink" Target="https://s21.q4cdn.com/203226956/files/doc_financials/2026/q2/ADV-2Q-26-Earnings-Press-Release.pdf" TargetMode="External"/><Relationship Id="rId18" Type="http://schemas.openxmlformats.org/officeDocument/2006/relationships/hyperlink" Target="https://www.prnewswire.com/news-releases/robert-half-reports-second-quarter-financial-results-302833679.html" TargetMode="External"/><Relationship Id="rId19"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fred.stlouisfed.org/series/A191RL1Q225SBEA" TargetMode="External"/><Relationship Id="rId4" Type="http://schemas.openxmlformats.org/officeDocument/2006/relationships/chart" Target="../charts/chart9.xml"/><Relationship Id="rId5" Type="http://schemas.openxmlformats.org/officeDocument/2006/relationships/hyperlink" Target="https://fred.stlouisfed.org/series/UNRATE" TargetMode="External"/><Relationship Id="rId6" Type="http://schemas.openxmlformats.org/officeDocument/2006/relationships/chart" Target="../charts/chart10.xml"/><Relationship Id="rId7" Type="http://schemas.openxmlformats.org/officeDocument/2006/relationships/hyperlink" Target="https://fred.stlouisfed.org/series/PAYEMS" TargetMode="External"/><Relationship Id="rId8" Type="http://schemas.openxmlformats.org/officeDocument/2006/relationships/chart" Target="../charts/chart11.xml"/><Relationship Id="rId9" Type="http://schemas.openxmlformats.org/officeDocument/2006/relationships/hyperlink" Target="https://fred.stlouisfed.org/series/GS10" TargetMode="External"/><Relationship Id="rId10" Type="http://schemas.openxmlformats.org/officeDocument/2006/relationships/hyperlink" Target="https://fred.stlouisfed.org/series/FEDFUNDS" TargetMode="External"/><Relationship Id="rId11" Type="http://schemas.openxmlformats.org/officeDocument/2006/relationships/chart" Target="../charts/chart12.xml"/><Relationship Id="rId12" Type="http://schemas.openxmlformats.org/officeDocument/2006/relationships/hyperlink" Target="https://fred.stlouisfed.org/series/TEMPHELPS" TargetMode="External"/><Relationship Id="rId13" Type="http://schemas.openxmlformats.org/officeDocument/2006/relationships/chart" Target="../charts/chart13.xml"/><Relationship Id="rId14" Type="http://schemas.openxmlformats.org/officeDocument/2006/relationships/hyperlink" Target="https://fred.stlouisfed.org/series/CES6054130001" TargetMode="External"/><Relationship Id="rId15" Type="http://schemas.openxmlformats.org/officeDocument/2006/relationships/hyperlink" Target="https://fred.stlouisfed.org/series/CES6056170001" TargetMode="External"/><Relationship Id="rId16" Type="http://schemas.openxmlformats.org/officeDocument/2006/relationships/chart" Target="../charts/chart14.xml"/><Relationship Id="rId17"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4.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png"/><Relationship Id="rId12" Type="http://schemas.openxmlformats.org/officeDocument/2006/relationships/image" Target="../media/image97.png"/><Relationship Id="rId13" Type="http://schemas.openxmlformats.org/officeDocument/2006/relationships/image" Target="../media/image98.png"/><Relationship Id="rId14" Type="http://schemas.openxmlformats.org/officeDocument/2006/relationships/image" Target="../media/image99.png"/><Relationship Id="rId15" Type="http://schemas.openxmlformats.org/officeDocument/2006/relationships/image" Target="../media/image100.png"/><Relationship Id="rId16" Type="http://schemas.openxmlformats.org/officeDocument/2006/relationships/image" Target="../media/image101.png"/><Relationship Id="rId17" Type="http://schemas.openxmlformats.org/officeDocument/2006/relationships/image" Target="../media/image102.png"/><Relationship Id="rId18" Type="http://schemas.openxmlformats.org/officeDocument/2006/relationships/image" Target="../media/image103.png"/><Relationship Id="rId19" Type="http://schemas.openxmlformats.org/officeDocument/2006/relationships/image" Target="../media/image104.png"/><Relationship Id="rId20" Type="http://schemas.openxmlformats.org/officeDocument/2006/relationships/image" Target="../media/image52.png"/><Relationship Id="rId21" Type="http://schemas.openxmlformats.org/officeDocument/2006/relationships/image" Target="../media/image105.png"/><Relationship Id="rId22" Type="http://schemas.openxmlformats.org/officeDocument/2006/relationships/image" Target="../media/image106.png"/><Relationship Id="rId23" Type="http://schemas.openxmlformats.org/officeDocument/2006/relationships/image" Target="../media/image107.png"/><Relationship Id="rId24" Type="http://schemas.openxmlformats.org/officeDocument/2006/relationships/image" Target="../media/image108.png"/><Relationship Id="rId25" Type="http://schemas.openxmlformats.org/officeDocument/2006/relationships/image" Target="../media/image109.png"/><Relationship Id="rId26" Type="http://schemas.openxmlformats.org/officeDocument/2006/relationships/image" Target="../media/image110.png"/><Relationship Id="rId27" Type="http://schemas.openxmlformats.org/officeDocument/2006/relationships/image" Target="../media/image78.png"/><Relationship Id="rId28" Type="http://schemas.openxmlformats.org/officeDocument/2006/relationships/image" Target="../media/image111.png"/><Relationship Id="rId29" Type="http://schemas.openxmlformats.org/officeDocument/2006/relationships/image" Target="../media/image112.png"/><Relationship Id="rId30" Type="http://schemas.openxmlformats.org/officeDocument/2006/relationships/image" Target="../media/image113.png"/><Relationship Id="rId31" Type="http://schemas.openxmlformats.org/officeDocument/2006/relationships/image" Target="../media/image114.png"/><Relationship Id="rId32" Type="http://schemas.openxmlformats.org/officeDocument/2006/relationships/image" Target="../media/image115.png"/><Relationship Id="rId33" Type="http://schemas.openxmlformats.org/officeDocument/2006/relationships/image" Target="../media/image116.png"/><Relationship Id="rId34" Type="http://schemas.openxmlformats.org/officeDocument/2006/relationships/image" Target="../media/image117.png"/><Relationship Id="rId35" Type="http://schemas.openxmlformats.org/officeDocument/2006/relationships/image" Target="../media/image118.png"/><Relationship Id="rId36" Type="http://schemas.openxmlformats.org/officeDocument/2006/relationships/image" Target="../media/image119.png"/><Relationship Id="rId37" Type="http://schemas.openxmlformats.org/officeDocument/2006/relationships/image" Target="../media/image120.png"/><Relationship Id="rId38" Type="http://schemas.openxmlformats.org/officeDocument/2006/relationships/image" Target="../media/image121.png"/><Relationship Id="rId39" Type="http://schemas.openxmlformats.org/officeDocument/2006/relationships/image" Target="../media/image122.png"/><Relationship Id="rId40" Type="http://schemas.openxmlformats.org/officeDocument/2006/relationships/image" Target="../media/image123.png"/><Relationship Id="rId41" Type="http://schemas.openxmlformats.org/officeDocument/2006/relationships/image" Target="../media/image124.png"/><Relationship Id="rId42" Type="http://schemas.openxmlformats.org/officeDocument/2006/relationships/image" Target="../media/image125.png"/><Relationship Id="rId43" Type="http://schemas.openxmlformats.org/officeDocument/2006/relationships/image" Target="../media/image126.png"/><Relationship Id="rId44" Type="http://schemas.openxmlformats.org/officeDocument/2006/relationships/image" Target="../media/image127.png"/><Relationship Id="rId45" Type="http://schemas.openxmlformats.org/officeDocument/2006/relationships/image" Target="../media/image128.png"/><Relationship Id="rId46" Type="http://schemas.openxmlformats.org/officeDocument/2006/relationships/image" Target="../media/image129.png"/><Relationship Id="rId47" Type="http://schemas.openxmlformats.org/officeDocument/2006/relationships/image" Target="../media/image54.png"/><Relationship Id="rId48" Type="http://schemas.openxmlformats.org/officeDocument/2006/relationships/image" Target="../media/image130.png"/><Relationship Id="rId49" Type="http://schemas.openxmlformats.org/officeDocument/2006/relationships/image" Target="../media/image131.png"/><Relationship Id="rId50" Type="http://schemas.openxmlformats.org/officeDocument/2006/relationships/image" Target="../media/image132.png"/><Relationship Id="rId51" Type="http://schemas.openxmlformats.org/officeDocument/2006/relationships/image" Target="../media/image133.png"/><Relationship Id="rId52" Type="http://schemas.openxmlformats.org/officeDocument/2006/relationships/image" Target="../media/image134.png"/><Relationship Id="rId53" Type="http://schemas.openxmlformats.org/officeDocument/2006/relationships/image" Target="../media/image135.png"/><Relationship Id="rId54" Type="http://schemas.openxmlformats.org/officeDocument/2006/relationships/image" Target="../media/image55.png"/><Relationship Id="rId55" Type="http://schemas.openxmlformats.org/officeDocument/2006/relationships/image" Target="../media/image136.png"/><Relationship Id="rId56" Type="http://schemas.openxmlformats.org/officeDocument/2006/relationships/image" Target="../media/image137.png"/><Relationship Id="rId57" Type="http://schemas.openxmlformats.org/officeDocument/2006/relationships/image" Target="../media/image138.png"/><Relationship Id="rId58" Type="http://schemas.openxmlformats.org/officeDocument/2006/relationships/image" Target="../media/image56.png"/><Relationship Id="rId59" Type="http://schemas.openxmlformats.org/officeDocument/2006/relationships/image" Target="../media/image139.png"/><Relationship Id="rId60" Type="http://schemas.openxmlformats.org/officeDocument/2006/relationships/image" Target="../media/image140.png"/><Relationship Id="rId61" Type="http://schemas.openxmlformats.org/officeDocument/2006/relationships/image" Target="../media/image80.png"/><Relationship Id="rId62" Type="http://schemas.openxmlformats.org/officeDocument/2006/relationships/image" Target="../media/image141.png"/><Relationship Id="rId63" Type="http://schemas.openxmlformats.org/officeDocument/2006/relationships/image" Target="../media/image142.png"/><Relationship Id="rId64" Type="http://schemas.openxmlformats.org/officeDocument/2006/relationships/image" Target="../media/image143.png"/><Relationship Id="rId65" Type="http://schemas.openxmlformats.org/officeDocument/2006/relationships/image" Target="../media/image144.png"/><Relationship Id="rId66" Type="http://schemas.openxmlformats.org/officeDocument/2006/relationships/image" Target="../media/image145.png"/><Relationship Id="rId67" Type="http://schemas.openxmlformats.org/officeDocument/2006/relationships/image" Target="../media/image146.png"/><Relationship Id="rId68" Type="http://schemas.openxmlformats.org/officeDocument/2006/relationships/image" Target="../media/image147.png"/><Relationship Id="rId69" Type="http://schemas.openxmlformats.org/officeDocument/2006/relationships/image" Target="../media/image148.png"/><Relationship Id="rId70" Type="http://schemas.openxmlformats.org/officeDocument/2006/relationships/image" Target="../media/image149.png"/><Relationship Id="rId71" Type="http://schemas.openxmlformats.org/officeDocument/2006/relationships/image" Target="../media/image150.png"/><Relationship Id="rId72" Type="http://schemas.openxmlformats.org/officeDocument/2006/relationships/image" Target="../media/image151.png"/><Relationship Id="rId73" Type="http://schemas.openxmlformats.org/officeDocument/2006/relationships/image" Target="../media/image152.png"/><Relationship Id="rId74" Type="http://schemas.openxmlformats.org/officeDocument/2006/relationships/image" Target="../media/image153.png"/><Relationship Id="rId75" Type="http://schemas.openxmlformats.org/officeDocument/2006/relationships/image" Target="../media/image154.png"/><Relationship Id="rId76" Type="http://schemas.openxmlformats.org/officeDocument/2006/relationships/image" Target="../media/image58.png"/><Relationship Id="rId77" Type="http://schemas.openxmlformats.org/officeDocument/2006/relationships/image" Target="../media/image155.png"/><Relationship Id="rId78" Type="http://schemas.openxmlformats.org/officeDocument/2006/relationships/image" Target="../media/image156.png"/><Relationship Id="rId79" Type="http://schemas.openxmlformats.org/officeDocument/2006/relationships/image" Target="../media/image157.png"/><Relationship Id="rId80" Type="http://schemas.openxmlformats.org/officeDocument/2006/relationships/image" Target="../media/image158.png"/><Relationship Id="rId81" Type="http://schemas.openxmlformats.org/officeDocument/2006/relationships/image" Target="../media/image159.png"/><Relationship Id="rId82" Type="http://schemas.openxmlformats.org/officeDocument/2006/relationships/image" Target="../media/image160.png"/><Relationship Id="rId83" Type="http://schemas.openxmlformats.org/officeDocument/2006/relationships/image" Target="../media/image161.png"/><Relationship Id="rId84" Type="http://schemas.openxmlformats.org/officeDocument/2006/relationships/image" Target="../media/image162.png"/><Relationship Id="rId85" Type="http://schemas.openxmlformats.org/officeDocument/2006/relationships/image" Target="../media/image163.png"/><Relationship Id="rId86" Type="http://schemas.openxmlformats.org/officeDocument/2006/relationships/image" Target="../media/image164.png"/><Relationship Id="rId87" Type="http://schemas.openxmlformats.org/officeDocument/2006/relationships/image" Target="../media/image165.png"/><Relationship Id="rId88" Type="http://schemas.openxmlformats.org/officeDocument/2006/relationships/image" Target="../media/image166.png"/><Relationship Id="rId89" Type="http://schemas.openxmlformats.org/officeDocument/2006/relationships/image" Target="../media/image167.png"/><Relationship Id="rId90" Type="http://schemas.openxmlformats.org/officeDocument/2006/relationships/image" Target="../media/image168.png"/><Relationship Id="rId91" Type="http://schemas.openxmlformats.org/officeDocument/2006/relationships/image" Target="../media/image169.png"/><Relationship Id="rId92" Type="http://schemas.openxmlformats.org/officeDocument/2006/relationships/image" Target="../media/image170.png"/><Relationship Id="rId93" Type="http://schemas.openxmlformats.org/officeDocument/2006/relationships/image" Target="../media/image171.png"/><Relationship Id="rId94" Type="http://schemas.openxmlformats.org/officeDocument/2006/relationships/image" Target="../media/image172.png"/><Relationship Id="rId95" Type="http://schemas.openxmlformats.org/officeDocument/2006/relationships/image" Target="../media/image173.png"/><Relationship Id="rId96" Type="http://schemas.openxmlformats.org/officeDocument/2006/relationships/image" Target="../media/image174.png"/><Relationship Id="rId97" Type="http://schemas.openxmlformats.org/officeDocument/2006/relationships/image" Target="../media/image175.png"/><Relationship Id="rId98" Type="http://schemas.openxmlformats.org/officeDocument/2006/relationships/image" Target="../media/image60.png"/><Relationship Id="rId99" Type="http://schemas.openxmlformats.org/officeDocument/2006/relationships/image" Target="../media/image176.png"/><Relationship Id="rId100" Type="http://schemas.openxmlformats.org/officeDocument/2006/relationships/image" Target="../media/image177.png"/><Relationship Id="rId101" Type="http://schemas.openxmlformats.org/officeDocument/2006/relationships/image" Target="../media/image178.png"/><Relationship Id="rId102" Type="http://schemas.openxmlformats.org/officeDocument/2006/relationships/image" Target="../media/image179.png"/><Relationship Id="rId103" Type="http://schemas.openxmlformats.org/officeDocument/2006/relationships/image" Target="../media/image180.png"/><Relationship Id="rId104" Type="http://schemas.openxmlformats.org/officeDocument/2006/relationships/image" Target="../media/image18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182.png"/><Relationship Id="rId5"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90.png"/><Relationship Id="rId11" Type="http://schemas.openxmlformats.org/officeDocument/2006/relationships/image" Target="../media/image191.png"/><Relationship Id="rId12" Type="http://schemas.openxmlformats.org/officeDocument/2006/relationships/image" Target="../media/image192.png"/><Relationship Id="rId13" Type="http://schemas.openxmlformats.org/officeDocument/2006/relationships/image" Target="../media/image22.png"/><Relationship Id="rId14"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image" Target="../media/image22.png"/><Relationship Id="rId7" Type="http://schemas.openxmlformats.org/officeDocument/2006/relationships/image" Target="../media/image19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pyebarkerfs.com/news/pye-barker-fire-safety-celebrates-mid-year-momentum-and-3-sdm-100-ranking/" TargetMode="External"/><Relationship Id="rId4" Type="http://schemas.openxmlformats.org/officeDocument/2006/relationships/hyperlink" Target="https://pyebarkerfs.com/?p=19317" TargetMode="External"/><Relationship Id="rId5" Type="http://schemas.openxmlformats.org/officeDocument/2006/relationships/hyperlink" Target="https://www.sec.gov/Archives/edgar/data/0001796209/000162828026050806/apg-20260630xexx991.htm" TargetMode="External"/><Relationship Id="rId6" Type="http://schemas.openxmlformats.org/officeDocument/2006/relationships/hyperlink" Target="https://www.federalreserve.gov/monetarypolicy/files/monetary20260916a1.pdf" TargetMode="External"/><Relationship Id="rId7" Type="http://schemas.openxmlformats.org/officeDocument/2006/relationships/hyperlink" Target="https://fred.stlouisfed.org/series/GS10" TargetMode="External"/><Relationship Id="rId8" Type="http://schemas.openxmlformats.org/officeDocument/2006/relationships/hyperlink" Target="https://www.acg.org/news-trends/news/gf-data-reports-show-steady-middle-market-deal-flow-amid-more-selective" TargetMode="External"/><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hyperlink" Target="https://www.insurancejournal.com/news/national/2026/08/20/882240.htm" TargetMode="External"/><Relationship Id="rId12" Type="http://schemas.openxmlformats.org/officeDocument/2006/relationships/hyperlink" Target="https://www.insurancejournal.com/magazines/mag-business-moves/2026/09/21/885520.htm" TargetMode="External"/><Relationship Id="rId13" Type="http://schemas.openxmlformats.org/officeDocument/2006/relationships/hyperlink" Target="https://www.staffingindustry.com/news/global-daily-news/highest-median-revenue-in-pulse-staffing-survey-since-late-2022" TargetMode="External"/><Relationship Id="rId14" Type="http://schemas.openxmlformats.org/officeDocument/2006/relationships/hyperlink" Target="https://fred.stlouisfed.org/series/TEMPHELPS" TargetMode="External"/><Relationship Id="rId15" Type="http://schemas.openxmlformats.org/officeDocument/2006/relationships/hyperlink" Target="https://www.mediapost.com/publications/article/417751/ad-outlook-composite-improves-on-mw-revisions.html" TargetMode="External"/><Relationship Id="rId16" Type="http://schemas.openxmlformats.org/officeDocument/2006/relationships/hyperlink" Target="https://www.marketingdive.com/news/ai-remains-a-top-priority-for-cmos-but-spending-lags-gartner/819806/" TargetMode="External"/><Relationship Id="rId17" Type="http://schemas.openxmlformats.org/officeDocument/2006/relationships/hyperlink" Target="https://www.ibba.org/wp-content/uploads/2026/08/mp-highlights-q2-2026.pdf" TargetMode="External"/><Relationship Id="rId18" Type="http://schemas.openxmlformats.org/officeDocument/2006/relationships/hyperlink" Target="https://www.ibba.org/market-pulse-q2-2026-survey-results/" TargetMode="External"/><Relationship Id="rId19" Type="http://schemas.openxmlformats.org/officeDocument/2006/relationships/hyperlink" Target="https://www.sdmmag.com/articles/105352-sdm-100-top-100-security-dealers-of-2026" TargetMode="External"/><Relationship Id="rId20" Type="http://schemas.openxmlformats.org/officeDocument/2006/relationships/hyperlink" Target="https://www.sgs.com/en-ca/news/2026/07/sgs-2026-half-year-results" TargetMode="External"/><Relationship Id="rId21" Type="http://schemas.openxmlformats.org/officeDocument/2006/relationships/hyperlink" Target="https://www.iab.com/news/digital-ad-revenue-climbs-to-nearly-300b-as-iab-celebrates-30-year-anniversary/" TargetMode="External"/><Relationship Id="rId22" Type="http://schemas.openxmlformats.org/officeDocument/2006/relationships/hyperlink" Target="https://asicentral.com/press-releases/north-america-promo-industry-grows-4-percent-in-2025/" TargetMode="External"/><Relationship Id="rId23" Type="http://schemas.openxmlformats.org/officeDocument/2006/relationships/hyperlink" Target="https://enr.com/toplists/2026-top-500-design-firms-preview" TargetMode="External"/><Relationship Id="rId24" Type="http://schemas.openxmlformats.org/officeDocument/2006/relationships/hyperlink" Target="https://go.psmj.com/outlook-2026-aec-ma-trends-report" TargetMode="External"/><Relationship Id="rId25" Type="http://schemas.openxmlformats.org/officeDocument/2006/relationships/hyperlink" Target="https://riskandinsurance.com/mga-premiums-hit-108-7-billion-in-2025-as-capacity-scrutiny-tightens/" TargetMode="External"/><Relationship Id="rId26" Type="http://schemas.openxmlformats.org/officeDocument/2006/relationships/hyperlink" Target="https://www.wealthmanagement.com/ria-news/fidelity-m-a-transaction-count-fell-in-1h-but-total-asset-haul-rose-88-" TargetMode="External"/><Relationship Id="rId27" Type="http://schemas.openxmlformats.org/officeDocument/2006/relationships/hyperlink" Target="https://americanstaffing.net/posts/2026/03/30/employment-and-sales-rebound-in-q4/" TargetMode="External"/><Relationship Id="rId28" Type="http://schemas.openxmlformats.org/officeDocument/2006/relationships/hyperlink" Target="https://www.staffingindustry.com/editorial/industrial-staffing-report/industrial-staffing-forecast-revised-to-7-growth-from-1-" TargetMode="External"/><Relationship Id="rId29" Type="http://schemas.openxmlformats.org/officeDocument/2006/relationships/hyperlink" Target="https://www.staffingindustry.com/editorial/it-staffing-report/it-staffing-revenue-up-5-at-the-median-in-pulse-survey"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businesswire.com/news/home/20251210396417/en/APi-Group-Announces-Acquisition-of-CertaSite-and-Provides-Full-Year-2025-Update" TargetMode="External"/><Relationship Id="rId33" Type="http://schemas.openxmlformats.org/officeDocument/2006/relationships/hyperlink" Target="https://www.businesswire.com/news/home/20260203920413/en/APi-Group-Completes-Acquisition-of-CertaSite" TargetMode="External"/><Relationship Id="rId34" Type="http://schemas.openxmlformats.org/officeDocument/2006/relationships/hyperlink" Target="https://stockanalysis.com/" TargetMode="External"/><Relationship Id="rId35" Type="http://schemas.openxmlformats.org/officeDocument/2006/relationships/hyperlink" Target="https://pyebarkerfs.com/news/pye-barker-fire-safety-acquires-union-alarmtronic-llc-continuing-security-alarm-service-expansion-in-the-northeast/" TargetMode="External"/><Relationship Id="rId36" Type="http://schemas.openxmlformats.org/officeDocument/2006/relationships/hyperlink" Target="https://pyebarkerfs.com/news/pye-barker-fire-safety-acquires-suppression-systems-inc-enhancing-fire-suppression-services-in-pacific-northwest/" TargetMode="External"/><Relationship Id="rId37" Type="http://schemas.openxmlformats.org/officeDocument/2006/relationships/hyperlink" Target="https://ausnewsroom.aus.com/news/allied-universal-advances-growth-strategy-with-recent-strategic-acquisitions-1" TargetMode="External"/><Relationship Id="rId38" Type="http://schemas.openxmlformats.org/officeDocument/2006/relationships/hyperlink" Target="https://fireandsafetyjournalamericas.com/sciens-acquires-florida-based-southern-fire-control/" TargetMode="External"/><Relationship Id="rId39" Type="http://schemas.openxmlformats.org/officeDocument/2006/relationships/hyperlink" Target="https://www.sec.gov/Archives/edgar/data/0000723254/000072325426000042/cintascorporation_arsprint.pdf" TargetMode="External"/><Relationship Id="rId40" Type="http://schemas.openxmlformats.org/officeDocument/2006/relationships/hyperlink" Target="https://members.asicentral.com/news/industry-news/october-2026/zebra-marketing-inks-deal-to-acquire-east-beach-specialties/" TargetMode="External"/><Relationship Id="rId41" Type="http://schemas.openxmlformats.org/officeDocument/2006/relationships/hyperlink" Target="https://members.asicentral.com/news/industry-news/july-2026/industry-sales-grow-25-in-q2-as-business-pressures-persist/" TargetMode="External"/><Relationship Id="rId42" Type="http://schemas.openxmlformats.org/officeDocument/2006/relationships/hyperlink" Target="https://investors.bowman.com/news-releases/news-release-details/bowman-reports-strong-results-second-quarter-2026" TargetMode="External"/><Relationship Id="rId43" Type="http://schemas.openxmlformats.org/officeDocument/2006/relationships/hyperlink" Target="https://www.insurancebusinessmag.com/us/news/mergers-acquisitions/inszone-snaps-up-centuryold-tulsa-agency-in-august-deal-run-586995.aspx" TargetMode="External"/><Relationship Id="rId44" Type="http://schemas.openxmlformats.org/officeDocument/2006/relationships/hyperlink" Target="https://www.insurancejournal.com/magazines/mag-business-moves/2026/10/05/887584.htm" TargetMode="External"/><Relationship Id="rId45" Type="http://schemas.openxmlformats.org/officeDocument/2006/relationships/hyperlink" Target="https://www.staffingindustry.com/editorial/industrial-staffing-report/veriworks-entering-data-center-construction-staffing-with-laborworx-acquisition" TargetMode="External"/><Relationship Id="rId46" Type="http://schemas.openxmlformats.org/officeDocument/2006/relationships/hyperlink" Target="https://ir.kornferry.com/news-events/press-releases/detail/724/korn-ferry-announces-definitive-agreement-to-acquire-ams" TargetMode="External"/><Relationship Id="rId47" Type="http://schemas.openxmlformats.org/officeDocument/2006/relationships/hyperlink" Target="https://www.benchmarkintl.com/about/our-success/" TargetMode="External"/><Relationship Id="rId48" Type="http://schemas.openxmlformats.org/officeDocument/2006/relationships/hyperlink" Target="https://willdangroupinc.gcs-web.com/node/16626" TargetMode="External"/><Relationship Id="rId49" Type="http://schemas.openxmlformats.org/officeDocument/2006/relationships/hyperlink" Target="https://investor.trueblue.com/news-events/press-releases/detail/471/trueblue-reports-second-quarter-2026-results/" TargetMode="External"/><Relationship Id="rId50" Type="http://schemas.openxmlformats.org/officeDocument/2006/relationships/hyperlink" Target="https://www.sec.gov/Archives/edgar/data/0001131383/000117184326005457/exh_991.htm" TargetMode="External"/><Relationship Id="rId51" Type="http://schemas.openxmlformats.org/officeDocument/2006/relationships/hyperlink" Target="https://www.newswire.com/news/stagwell-inc-nasdaq-stgw-reports-results-for-the-three-and-six-months-ended" TargetMode="External"/><Relationship Id="rId52" Type="http://schemas.openxmlformats.org/officeDocument/2006/relationships/hyperlink" Target="https://www.sec.gov/Archives/edgar/data/0000871763/000119312526305399/man-ex99_1.htm" TargetMode="External"/><Relationship Id="rId53" Type="http://schemas.openxmlformats.org/officeDocument/2006/relationships/hyperlink" Target="https://www.sec.gov/Archives/edgar/data/0001849253/000184925326000034/ryan-20260630xex991.htm" TargetMode="External"/><Relationship Id="rId54" Type="http://schemas.openxmlformats.org/officeDocument/2006/relationships/hyperlink" Target="https://ir.kornferry.com/news-events/press-releases/detail/733/korn-ferry-announces-first-quarter-fiscal-2027-results-of-operations" TargetMode="External"/><Relationship Id="rId55" Type="http://schemas.openxmlformats.org/officeDocument/2006/relationships/hyperlink" Target="https://newsroom.accenture.com/content/4q-full-fy26-earnings/accenture-reports-fourth-quarter-and-full-year-fiscal-2026-results.pdf" TargetMode="External"/><Relationship Id="rId56" Type="http://schemas.openxmlformats.org/officeDocument/2006/relationships/hyperlink" Target="https://www.ul.com/news/ul-solutions-inc-reports-strong-second-quarter-2026-results" TargetMode="External"/><Relationship Id="rId57" Type="http://schemas.openxmlformats.org/officeDocument/2006/relationships/hyperlink" Target="https://s27.q4cdn.com/587398032/files/doc_financials/2026/q2/Q2-2026-Press-Release-Prepred-Remarks.pdf" TargetMode="External"/><Relationship Id="rId58" Type="http://schemas.openxmlformats.org/officeDocument/2006/relationships/hyperlink" Target="https://www.sec.gov/Archives/edgar/data/0000771497/000119312526384364/abm-ex99_1.htm" TargetMode="External"/><Relationship Id="rId59" Type="http://schemas.openxmlformats.org/officeDocument/2006/relationships/hyperlink" Target="https://www.sec.gov/Archives/edgar/data/0001637810/000117184326004850/exh_991.htm" TargetMode="External"/><Relationship Id="rId60" Type="http://schemas.openxmlformats.org/officeDocument/2006/relationships/hyperlink" Target="https://s21.q4cdn.com/203226956/files/doc_financials/2026/q2/ADV-2Q-26-Earnings-Press-Release.pdf" TargetMode="External"/><Relationship Id="rId61" Type="http://schemas.openxmlformats.org/officeDocument/2006/relationships/hyperlink" Target="https://www.sec.gov/Archives/edgar/data/0001734713/000119312526332832/bv-ex99_1.htm" TargetMode="External"/><Relationship Id="rId62" Type="http://schemas.openxmlformats.org/officeDocument/2006/relationships/hyperlink" Target="https://www.businesswire.com/news/home/20260803939690/en/" TargetMode="External"/><Relationship Id="rId63" Type="http://schemas.openxmlformats.org/officeDocument/2006/relationships/hyperlink" Target="https://www.prnewswire.com/news-releases/robert-half-reports-second-quarter-financial-results-302833679.html" TargetMode="External"/><Relationship Id="rId64" Type="http://schemas.openxmlformats.org/officeDocument/2006/relationships/hyperlink" Target="https://www.businesswire.com/news/home/20260729563017/en/" TargetMode="External"/><Relationship Id="rId65" Type="http://schemas.openxmlformats.org/officeDocument/2006/relationships/hyperlink" Target="https://fred.stlouisfed.org/series/A191RL1Q225SBEA" TargetMode="External"/><Relationship Id="rId66" Type="http://schemas.openxmlformats.org/officeDocument/2006/relationships/hyperlink" Target="https://fred.stlouisfed.org/series/UNRATE" TargetMode="External"/><Relationship Id="rId67" Type="http://schemas.openxmlformats.org/officeDocument/2006/relationships/hyperlink" Target="https://fred.stlouisfed.org/series/PAYEMS" TargetMode="External"/><Relationship Id="rId68" Type="http://schemas.openxmlformats.org/officeDocument/2006/relationships/hyperlink" Target="https://fred.stlouisfed.org/series/FEDFUNDS" TargetMode="External"/><Relationship Id="rId69" Type="http://schemas.openxmlformats.org/officeDocument/2006/relationships/hyperlink" Target="https://fred.stlouisfed.org/series/CES6054130001" TargetMode="External"/><Relationship Id="rId70" Type="http://schemas.openxmlformats.org/officeDocument/2006/relationships/hyperlink" Target="https://fred.stlouisfed.org/series/CES6056170001" TargetMode="External"/><Relationship Id="rId71" Type="http://schemas.openxmlformats.org/officeDocument/2006/relationships/hyperlink" Target="https://www.staffingindustry.com/news/global-daily-news/private-equity-firm-knox-lane-completes-acquisition-of-cross-county" TargetMode="External"/><Relationship Id="rId72" Type="http://schemas.openxmlformats.org/officeDocument/2006/relationships/hyperlink" Target="https://www.staffingindustry.com/news/global-daily-news/meraki-capital-launches-tessero-from-six-acquired-hays-businesses" TargetMode="External"/><Relationship Id="rId73" Type="http://schemas.openxmlformats.org/officeDocument/2006/relationships/hyperlink" Target="https://www.staffingindustry.com/news/global-daily-news/david-aplin-associates-receives-private-equity-investment" TargetMode="External"/><Relationship Id="rId74" Type="http://schemas.openxmlformats.org/officeDocument/2006/relationships/hyperlink" Target="https://lite.aol.com/pf/story/0022/20260409/9686765.htm" TargetMode="External"/><Relationship Id="rId75" Type="http://schemas.openxmlformats.org/officeDocument/2006/relationships/hyperlink" Target="https://www.yagroup.com/about/news/ya-group-expands-accident-reconstruction-biomechanics-capabilities-through-acquisition-of-inquis-global/" TargetMode="External"/><Relationship Id="rId76" Type="http://schemas.openxmlformats.org/officeDocument/2006/relationships/hyperlink" Target="https://www.miningstockeducation.com/2026/10/codegreen-a-pinchin-company-welcomes-diaz-architect-associates-pc-expanding-building-envelope-expertise-in-new-york-and-new-jersey/" TargetMode="External"/><Relationship Id="rId77" Type="http://schemas.openxmlformats.org/officeDocument/2006/relationships/hyperlink" Target="https://www.benchmarkintl.com/insights/" TargetMode="External"/><Relationship Id="rId78"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a:effectLst/>
      </p:bgPr>
    </p:bg>
    <p:spTree>
      <p:nvGrpSpPr>
        <p:cNvPr id="1" name="Object 1"/>
        <p:cNvGrpSpPr/>
        <p:nvPr/>
      </p:nvGrpSpPr>
      <p:grpSpPr>
        <a:xfrm>
          <a:off x="0" y="0"/>
          <a:ext cx="0" cy="0"/>
          <a:chOff x="0" y="0"/>
          <a:chExt cx="0" cy="0"/>
        </a:xfrm>
      </p:grpSpPr>
      <p:pic>
        <p:nvPicPr>
          <p:cNvPr id="2" name="Object 2" descr="Glass-walled office building seen from its atrium at dusk"/>
          <p:cNvPicPr>
            <a:picLocks noChangeAspect="1"/>
          </p:cNvPicPr>
          <p:nvPr/>
        </p:nvPicPr>
        <p:blipFill>
          <a:blip r:embed="rId3"/>
          <a:stretch>
            <a:fillRect/>
          </a:stretch>
        </p:blipFill>
        <p:spPr>
          <a:xfrm>
            <a:off x="0" y="0"/>
            <a:ext cx="4190970" cy="7772400"/>
          </a:xfrm>
          <a:prstGeom prst="rect">
            <a:avLst/>
          </a:prstGeom>
        </p:spPr>
      </p:pic>
      <p:sp>
        <p:nvSpPr>
          <p:cNvPr id="3" name="Object 3"/>
          <p:cNvSpPr/>
          <p:nvPr/>
        </p:nvSpPr>
        <p:spPr>
          <a:xfrm>
            <a:off x="4190970" y="0"/>
            <a:ext cx="5867430" cy="7772400"/>
          </a:xfrm>
          <a:prstGeom prst="rect">
            <a:avLst/>
          </a:prstGeom>
          <a:solidFill>
            <a:srgbClr val="1B1A1A"/>
          </a:solidFill>
          <a:ln/>
        </p:spPr>
        <p:txBody>
          <a:bodyPr/>
          <a:lstStyle/>
          <a:p>
            <a:endParaRPr/>
          </a:p>
        </p:txBody>
      </p:sp>
      <p:pic>
        <p:nvPicPr>
          <p:cNvPr id="4" name="Object 4"/>
          <p:cNvPicPr>
            <a:picLocks noChangeAspect="1"/>
          </p:cNvPicPr>
          <p:nvPr/>
        </p:nvPicPr>
        <p:blipFill>
          <a:blip r:embed="rId4"/>
          <a:stretch>
            <a:fillRect/>
          </a:stretch>
        </p:blipFill>
        <p:spPr>
          <a:xfrm>
            <a:off x="4190970" y="0"/>
            <a:ext cx="5867430" cy="7772400"/>
          </a:xfrm>
          <a:prstGeom prst="rect">
            <a:avLst/>
          </a:prstGeom>
        </p:spPr>
      </p:pic>
      <p:sp>
        <p:nvSpPr>
          <p:cNvPr id="5" name="Object 5"/>
          <p:cNvSpPr/>
          <p:nvPr/>
        </p:nvSpPr>
        <p:spPr>
          <a:xfrm>
            <a:off x="4190970" y="0"/>
            <a:ext cx="57150" cy="7772400"/>
          </a:xfrm>
          <a:prstGeom prst="rect">
            <a:avLst/>
          </a:prstGeom>
          <a:solidFill>
            <a:srgbClr val="B68757"/>
          </a:solidFill>
          <a:ln/>
        </p:spPr>
        <p:txBody>
          <a:bodyPr/>
          <a:lstStyle/>
          <a:p>
            <a:endParaRPr/>
          </a:p>
        </p:txBody>
      </p:sp>
      <p:sp>
        <p:nvSpPr>
          <p:cNvPr id="6" name="Object 6"/>
          <p:cNvSpPr txBox="1"/>
          <p:nvPr/>
        </p:nvSpPr>
        <p:spPr>
          <a:xfrm>
            <a:off x="419070" y="6543721"/>
            <a:ext cx="3619470" cy="809610"/>
          </a:xfrm>
          <a:prstGeom prst="rect">
            <a:avLst/>
          </a:prstGeom>
          <a:noFill/>
          <a:ln/>
        </p:spPr>
        <p:txBody>
          <a:bodyPr wrap="square" lIns="0" tIns="0" rIns="0" bIns="0" rtlCol="0" anchor="t"/>
          <a:lstStyle/>
          <a:p>
            <a:pPr marL="0" indent="0" algn="l">
              <a:lnSpc>
                <a:spcPts val="1300"/>
              </a:lnSpc>
              <a:buNone/>
            </a:pPr>
            <a:r>
              <a:rPr lang="en-US" sz="700" b="1" kern="0" spc="150" dirty="0">
                <a:solidFill>
                  <a:srgbClr val="FFFFFF"/>
                </a:solidFill>
                <a:latin typeface="+mn-lt" pitchFamily="34" charset="0"/>
              </a:rPr>
              <a:t>COMMERCIAL &amp; FACILITY SERVICES</a:t>
            </a:r>
            <a:endParaRPr lang="en-US" sz="700" dirty="0"/>
          </a:p>
          <a:p>
            <a:pPr marL="0" indent="0" algn="l">
              <a:lnSpc>
                <a:spcPts val="1300"/>
              </a:lnSpc>
              <a:buNone/>
            </a:pPr>
            <a:r>
              <a:rPr lang="en-US" sz="700" b="1" kern="0" spc="150" dirty="0">
                <a:solidFill>
                  <a:srgbClr val="FFFFFF"/>
                </a:solidFill>
                <a:latin typeface="+mn-lt" pitchFamily="34" charset="0"/>
              </a:rPr>
              <a:t>MARKETING, SALES &amp; TECH-ENABLED SERVICES</a:t>
            </a:r>
            <a:endParaRPr lang="en-US" sz="700" dirty="0"/>
          </a:p>
          <a:p>
            <a:pPr marL="0" indent="0" algn="l">
              <a:lnSpc>
                <a:spcPts val="1300"/>
              </a:lnSpc>
              <a:buNone/>
            </a:pPr>
            <a:r>
              <a:rPr lang="en-US" sz="700" b="1" kern="0" spc="150" dirty="0">
                <a:solidFill>
                  <a:srgbClr val="FFFFFF"/>
                </a:solidFill>
                <a:latin typeface="+mn-lt" pitchFamily="34" charset="0"/>
              </a:rPr>
              <a:t>ENGINEERING, ARCHITECTURE &amp; CONSULTING</a:t>
            </a:r>
            <a:endParaRPr lang="en-US" sz="700" dirty="0"/>
          </a:p>
          <a:p>
            <a:pPr marL="0" indent="0" algn="l">
              <a:lnSpc>
                <a:spcPts val="1300"/>
              </a:lnSpc>
              <a:buNone/>
            </a:pPr>
            <a:r>
              <a:rPr lang="en-US" sz="700" b="1" kern="0" spc="150" dirty="0">
                <a:solidFill>
                  <a:srgbClr val="FFFFFF"/>
                </a:solidFill>
                <a:latin typeface="+mn-lt" pitchFamily="34" charset="0"/>
              </a:rPr>
              <a:t>FINANCIAL &amp; INSURANCE SERVICES</a:t>
            </a:r>
            <a:endParaRPr lang="en-US" sz="700" dirty="0"/>
          </a:p>
          <a:p>
            <a:pPr marL="0" indent="0" algn="l">
              <a:lnSpc>
                <a:spcPts val="1300"/>
              </a:lnSpc>
              <a:buNone/>
            </a:pPr>
            <a:r>
              <a:rPr lang="en-US" sz="700" b="1" kern="0" spc="150" dirty="0">
                <a:solidFill>
                  <a:srgbClr val="FFFFFF"/>
                </a:solidFill>
                <a:latin typeface="+mn-lt" pitchFamily="34" charset="0"/>
              </a:rPr>
              <a:t>STAFFING &amp; HUMAN CAPITAL</a:t>
            </a:r>
            <a:endParaRPr lang="en-US" sz="700" dirty="0"/>
          </a:p>
        </p:txBody>
      </p:sp>
      <p:pic>
        <p:nvPicPr>
          <p:cNvPr id="7" name="Object 7" descr="Benchmark International"/>
          <p:cNvPicPr>
            <a:picLocks noChangeAspect="1"/>
          </p:cNvPicPr>
          <p:nvPr/>
        </p:nvPicPr>
        <p:blipFill>
          <a:blip r:embed="rId5"/>
          <a:stretch>
            <a:fillRect/>
          </a:stretch>
        </p:blipFill>
        <p:spPr>
          <a:xfrm>
            <a:off x="4724430" y="571500"/>
            <a:ext cx="2438430" cy="457200"/>
          </a:xfrm>
          <a:prstGeom prst="rect">
            <a:avLst/>
          </a:prstGeom>
        </p:spPr>
      </p:pic>
      <p:sp>
        <p:nvSpPr>
          <p:cNvPr id="8" name="Object 8"/>
          <p:cNvSpPr txBox="1"/>
          <p:nvPr/>
        </p:nvSpPr>
        <p:spPr>
          <a:xfrm>
            <a:off x="4724430" y="1123980"/>
            <a:ext cx="2240737" cy="133320"/>
          </a:xfrm>
          <a:prstGeom prst="rect">
            <a:avLst/>
          </a:prstGeom>
          <a:noFill/>
          <a:ln/>
        </p:spPr>
        <p:txBody>
          <a:bodyPr wrap="none" lIns="0" tIns="0" rIns="0" bIns="0" rtlCol="0" anchor="t"/>
          <a:lstStyle/>
          <a:p>
            <a:pPr marL="0" indent="0" algn="l">
              <a:lnSpc>
                <a:spcPts val="1050"/>
              </a:lnSpc>
              <a:buNone/>
            </a:pPr>
            <a:r>
              <a:rPr lang="en-US" sz="700" b="1" kern="0" spc="250" dirty="0">
                <a:solidFill>
                  <a:srgbClr val="D3AE84"/>
                </a:solidFill>
                <a:latin typeface="+mn-lt" pitchFamily="34" charset="0"/>
              </a:rPr>
              <a:t>MIDDLE MARKET</a:t>
            </a:r>
            <a:endParaRPr lang="en-US" sz="700" dirty="0"/>
          </a:p>
        </p:txBody>
      </p:sp>
      <p:sp>
        <p:nvSpPr>
          <p:cNvPr id="9" name="Object 9"/>
          <p:cNvSpPr txBox="1"/>
          <p:nvPr/>
        </p:nvSpPr>
        <p:spPr>
          <a:xfrm>
            <a:off x="4724430" y="2057400"/>
            <a:ext cx="2848905" cy="152430"/>
          </a:xfrm>
          <a:prstGeom prst="rect">
            <a:avLst/>
          </a:prstGeom>
          <a:noFill/>
          <a:ln/>
        </p:spPr>
        <p:txBody>
          <a:bodyPr wrap="none" lIns="0" tIns="0" rIns="0" bIns="0" rtlCol="0" anchor="t"/>
          <a:lstStyle/>
          <a:p>
            <a:pPr marL="0" indent="0" algn="l">
              <a:lnSpc>
                <a:spcPts val="1200"/>
              </a:lnSpc>
              <a:buNone/>
            </a:pPr>
            <a:r>
              <a:rPr lang="en-US" sz="800" b="1" kern="0" spc="250" dirty="0">
                <a:solidFill>
                  <a:srgbClr val="D3AE84"/>
                </a:solidFill>
                <a:latin typeface="+mn-lt" pitchFamily="34" charset="0"/>
              </a:rPr>
              <a:t>QUARTERLY INDUSTRY REPORT | Q4 2026</a:t>
            </a:r>
            <a:endParaRPr lang="en-US" sz="800" dirty="0"/>
          </a:p>
        </p:txBody>
      </p:sp>
      <p:sp>
        <p:nvSpPr>
          <p:cNvPr id="10" name="Object 10"/>
          <p:cNvSpPr txBox="1"/>
          <p:nvPr/>
        </p:nvSpPr>
        <p:spPr>
          <a:xfrm>
            <a:off x="4724430" y="2319376"/>
            <a:ext cx="4914900" cy="1181130"/>
          </a:xfrm>
          <a:prstGeom prst="rect">
            <a:avLst/>
          </a:prstGeom>
          <a:noFill/>
          <a:ln/>
        </p:spPr>
        <p:txBody>
          <a:bodyPr wrap="square" lIns="0" tIns="0" rIns="0" bIns="0" rtlCol="0" anchor="t"/>
          <a:lstStyle/>
          <a:p>
            <a:pPr marL="0" indent="0" algn="l">
              <a:lnSpc>
                <a:spcPts val="4650"/>
              </a:lnSpc>
              <a:buNone/>
            </a:pPr>
            <a:r>
              <a:rPr lang="en-US" sz="4050" kern="0" spc="250" dirty="0">
                <a:solidFill>
                  <a:srgbClr val="FFFFFF"/>
                </a:solidFill>
                <a:latin typeface="+mj-lt" pitchFamily="34" charset="0"/>
              </a:rPr>
              <a:t>BUSINESS</a:t>
            </a:r>
            <a:endParaRPr lang="en-US" sz="4050" dirty="0"/>
          </a:p>
          <a:p>
            <a:pPr marL="0" indent="0" algn="l">
              <a:lnSpc>
                <a:spcPts val="4650"/>
              </a:lnSpc>
              <a:buNone/>
            </a:pPr>
            <a:r>
              <a:rPr lang="en-US" sz="4050" kern="0" spc="250" dirty="0">
                <a:solidFill>
                  <a:srgbClr val="FFFFFF"/>
                </a:solidFill>
                <a:latin typeface="+mj-lt" pitchFamily="34" charset="0"/>
              </a:rPr>
              <a:t>SERVICES</a:t>
            </a:r>
            <a:endParaRPr lang="en-US" sz="4050" dirty="0"/>
          </a:p>
        </p:txBody>
      </p:sp>
      <p:sp>
        <p:nvSpPr>
          <p:cNvPr id="11" name="Object 11"/>
          <p:cNvSpPr/>
          <p:nvPr/>
        </p:nvSpPr>
        <p:spPr>
          <a:xfrm>
            <a:off x="4724430" y="3676620"/>
            <a:ext cx="914400" cy="19020"/>
          </a:xfrm>
          <a:prstGeom prst="rect">
            <a:avLst/>
          </a:prstGeom>
          <a:solidFill>
            <a:srgbClr val="B68757"/>
          </a:solidFill>
          <a:ln/>
        </p:spPr>
        <p:txBody>
          <a:bodyPr/>
          <a:lstStyle/>
          <a:p>
            <a:endParaRPr/>
          </a:p>
        </p:txBody>
      </p:sp>
      <p:sp>
        <p:nvSpPr>
          <p:cNvPr id="12" name="Object 12"/>
          <p:cNvSpPr txBox="1"/>
          <p:nvPr/>
        </p:nvSpPr>
        <p:spPr>
          <a:xfrm>
            <a:off x="4724430" y="3867180"/>
            <a:ext cx="4914900" cy="533370"/>
          </a:xfrm>
          <a:prstGeom prst="rect">
            <a:avLst/>
          </a:prstGeom>
          <a:noFill/>
          <a:ln/>
        </p:spPr>
        <p:txBody>
          <a:bodyPr wrap="square" lIns="0" tIns="0" rIns="0" bIns="0" rtlCol="0" anchor="t"/>
          <a:lstStyle/>
          <a:p>
            <a:pPr marL="0" indent="0" algn="l">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Object 13"/>
          <p:cNvSpPr txBox="1"/>
          <p:nvPr/>
        </p:nvSpPr>
        <p:spPr>
          <a:xfrm>
            <a:off x="4724430" y="4838730"/>
            <a:ext cx="1286927" cy="133320"/>
          </a:xfrm>
          <a:prstGeom prst="rect">
            <a:avLst/>
          </a:prstGeom>
          <a:noFill/>
          <a:ln/>
        </p:spPr>
        <p:txBody>
          <a:bodyPr wrap="none" lIns="0" tIns="0" rIns="0" bIns="0" rtlCol="0" anchor="t"/>
          <a:lstStyle/>
          <a:p>
            <a:pPr marL="0" indent="0" algn="l">
              <a:lnSpc>
                <a:spcPts val="1050"/>
              </a:lnSpc>
              <a:buNone/>
            </a:pPr>
            <a:r>
              <a:rPr lang="en-US" sz="700" b="1" kern="0" spc="250" dirty="0">
                <a:solidFill>
                  <a:srgbClr val="D3AE84"/>
                </a:solidFill>
                <a:latin typeface="+mn-lt" pitchFamily="34" charset="0"/>
              </a:rPr>
              <a:t>WHAT'S INCLUDED</a:t>
            </a:r>
            <a:endParaRPr lang="en-US" sz="700" dirty="0"/>
          </a:p>
        </p:txBody>
      </p:sp>
      <p:sp>
        <p:nvSpPr>
          <p:cNvPr id="14" name="Object 14"/>
          <p:cNvSpPr/>
          <p:nvPr/>
        </p:nvSpPr>
        <p:spPr>
          <a:xfrm>
            <a:off x="4724430" y="5067330"/>
            <a:ext cx="4914900" cy="9510"/>
          </a:xfrm>
          <a:prstGeom prst="rect">
            <a:avLst/>
          </a:prstGeom>
          <a:solidFill>
            <a:srgbClr val="FFFFFF">
              <a:alpha val="16000"/>
            </a:srgbClr>
          </a:solidFill>
          <a:ln/>
        </p:spPr>
        <p:txBody>
          <a:bodyPr/>
          <a:lstStyle/>
          <a:p>
            <a:endParaRPr/>
          </a:p>
        </p:txBody>
      </p:sp>
      <p:sp>
        <p:nvSpPr>
          <p:cNvPr id="15" name="Object 15"/>
          <p:cNvSpPr txBox="1"/>
          <p:nvPr/>
        </p:nvSpPr>
        <p:spPr>
          <a:xfrm>
            <a:off x="4724430" y="5186385"/>
            <a:ext cx="25539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01</a:t>
            </a:r>
            <a:endParaRPr lang="en-US" sz="1500" dirty="0"/>
          </a:p>
        </p:txBody>
      </p:sp>
      <p:sp>
        <p:nvSpPr>
          <p:cNvPr id="16" name="Object 16"/>
          <p:cNvSpPr txBox="1"/>
          <p:nvPr/>
        </p:nvSpPr>
        <p:spPr>
          <a:xfrm>
            <a:off x="5162520" y="5234026"/>
            <a:ext cx="710946"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INSIGHTS</a:t>
            </a:r>
            <a:endParaRPr lang="en-US" sz="900" dirty="0"/>
          </a:p>
        </p:txBody>
      </p:sp>
      <p:sp>
        <p:nvSpPr>
          <p:cNvPr id="17" name="Object 17"/>
          <p:cNvSpPr txBox="1"/>
          <p:nvPr/>
        </p:nvSpPr>
        <p:spPr>
          <a:xfrm>
            <a:off x="6610380" y="5234026"/>
            <a:ext cx="3028950" cy="34290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Key trends, our view, perspectives on five sectors, what we are reading, and a feature on fire and life safety</a:t>
            </a:r>
            <a:endParaRPr lang="en-US" sz="900" dirty="0"/>
          </a:p>
        </p:txBody>
      </p:sp>
      <p:sp>
        <p:nvSpPr>
          <p:cNvPr id="18" name="Object 18"/>
          <p:cNvSpPr/>
          <p:nvPr/>
        </p:nvSpPr>
        <p:spPr>
          <a:xfrm>
            <a:off x="4724430" y="5695980"/>
            <a:ext cx="4914900" cy="9510"/>
          </a:xfrm>
          <a:prstGeom prst="rect">
            <a:avLst/>
          </a:prstGeom>
          <a:solidFill>
            <a:srgbClr val="FFFFFF">
              <a:alpha val="16000"/>
            </a:srgbClr>
          </a:solidFill>
          <a:ln/>
        </p:spPr>
        <p:txBody>
          <a:bodyPr/>
          <a:lstStyle/>
          <a:p>
            <a:endParaRPr/>
          </a:p>
        </p:txBody>
      </p:sp>
      <p:sp>
        <p:nvSpPr>
          <p:cNvPr id="19" name="Object 19"/>
          <p:cNvSpPr txBox="1"/>
          <p:nvPr/>
        </p:nvSpPr>
        <p:spPr>
          <a:xfrm>
            <a:off x="4724430" y="5815035"/>
            <a:ext cx="29032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02</a:t>
            </a:r>
            <a:endParaRPr lang="en-US" sz="1500" dirty="0"/>
          </a:p>
        </p:txBody>
      </p:sp>
      <p:sp>
        <p:nvSpPr>
          <p:cNvPr id="20" name="Object 20"/>
          <p:cNvSpPr txBox="1"/>
          <p:nvPr/>
        </p:nvSpPr>
        <p:spPr>
          <a:xfrm>
            <a:off x="5162520" y="5862676"/>
            <a:ext cx="1283086"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SECTOR ACTIVITY</a:t>
            </a:r>
            <a:endParaRPr lang="en-US" sz="900" dirty="0"/>
          </a:p>
        </p:txBody>
      </p:sp>
      <p:sp>
        <p:nvSpPr>
          <p:cNvPr id="21" name="Object 21"/>
          <p:cNvSpPr txBox="1"/>
          <p:nvPr/>
        </p:nvSpPr>
        <p:spPr>
          <a:xfrm>
            <a:off x="6610380" y="5862676"/>
            <a:ext cx="3028950" cy="51435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Client spotlight, recent transactions, listed-company valuation, earnings, economic trends, and select market participants</a:t>
            </a:r>
            <a:endParaRPr lang="en-US" sz="900" dirty="0"/>
          </a:p>
        </p:txBody>
      </p:sp>
      <p:sp>
        <p:nvSpPr>
          <p:cNvPr id="22" name="Object 22"/>
          <p:cNvSpPr/>
          <p:nvPr/>
        </p:nvSpPr>
        <p:spPr>
          <a:xfrm>
            <a:off x="4724430" y="6496080"/>
            <a:ext cx="4914900" cy="9510"/>
          </a:xfrm>
          <a:prstGeom prst="rect">
            <a:avLst/>
          </a:prstGeom>
          <a:solidFill>
            <a:srgbClr val="FFFFFF">
              <a:alpha val="16000"/>
            </a:srgbClr>
          </a:solidFill>
          <a:ln/>
        </p:spPr>
        <p:txBody>
          <a:bodyPr/>
          <a:lstStyle/>
          <a:p>
            <a:endParaRPr/>
          </a:p>
        </p:txBody>
      </p:sp>
      <p:sp>
        <p:nvSpPr>
          <p:cNvPr id="23" name="Object 23"/>
          <p:cNvSpPr txBox="1"/>
          <p:nvPr/>
        </p:nvSpPr>
        <p:spPr>
          <a:xfrm>
            <a:off x="4724430" y="6615135"/>
            <a:ext cx="28273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03</a:t>
            </a:r>
            <a:endParaRPr lang="en-US" sz="1500" dirty="0"/>
          </a:p>
        </p:txBody>
      </p:sp>
      <p:sp>
        <p:nvSpPr>
          <p:cNvPr id="24" name="Object 24"/>
          <p:cNvSpPr txBox="1"/>
          <p:nvPr/>
        </p:nvSpPr>
        <p:spPr>
          <a:xfrm>
            <a:off x="5162520" y="6662776"/>
            <a:ext cx="1354044"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CONNECT WITH US</a:t>
            </a:r>
            <a:endParaRPr lang="en-US" sz="900" dirty="0"/>
          </a:p>
        </p:txBody>
      </p:sp>
      <p:sp>
        <p:nvSpPr>
          <p:cNvPr id="25" name="Object 25"/>
          <p:cNvSpPr txBox="1"/>
          <p:nvPr/>
        </p:nvSpPr>
        <p:spPr>
          <a:xfrm>
            <a:off x="6610380" y="6662776"/>
            <a:ext cx="3028950" cy="171450"/>
          </a:xfrm>
          <a:prstGeom prst="rect">
            <a:avLst/>
          </a:prstGeom>
          <a:noFill/>
          <a:ln/>
        </p:spPr>
        <p:txBody>
          <a:bodyPr wrap="none" lIns="0" tIns="0" rIns="0" bIns="0" rtlCol="0" anchor="t"/>
          <a:lstStyle/>
          <a:p>
            <a:pPr marL="0" indent="0">
              <a:lnSpc>
                <a:spcPts val="1350"/>
              </a:lnSpc>
              <a:buNone/>
            </a:pPr>
            <a:r>
              <a:rPr lang="en-US" sz="900" dirty="0">
                <a:solidFill>
                  <a:srgbClr val="C3BDB6"/>
                </a:solidFill>
                <a:latin typeface="+mn-lt" pitchFamily="34" charset="0"/>
              </a:rPr>
              <a:t>Benchmark International, how to reach us, and sources</a:t>
            </a:r>
            <a:endParaRPr lang="en-US" sz="900" dirty="0"/>
          </a:p>
        </p:txBody>
      </p:sp>
      <p:sp>
        <p:nvSpPr>
          <p:cNvPr id="26" name="Object 26"/>
          <p:cNvSpPr/>
          <p:nvPr/>
        </p:nvSpPr>
        <p:spPr>
          <a:xfrm>
            <a:off x="4724430" y="6962790"/>
            <a:ext cx="4914900" cy="9510"/>
          </a:xfrm>
          <a:prstGeom prst="rect">
            <a:avLst/>
          </a:prstGeom>
          <a:solidFill>
            <a:srgbClr val="FFFFFF">
              <a:alpha val="16000"/>
            </a:srgbClr>
          </a:solidFill>
          <a:ln/>
        </p:spPr>
        <p:txBody>
          <a:bodyPr/>
          <a:lstStyle/>
          <a:p>
            <a:endParaRPr/>
          </a:p>
        </p:txBody>
      </p:sp>
      <p:sp>
        <p:nvSpPr>
          <p:cNvPr id="27" name="Object 27"/>
          <p:cNvSpPr txBox="1"/>
          <p:nvPr/>
        </p:nvSpPr>
        <p:spPr>
          <a:xfrm>
            <a:off x="4724430" y="7258050"/>
            <a:ext cx="3387943" cy="133320"/>
          </a:xfrm>
          <a:prstGeom prst="rect">
            <a:avLst/>
          </a:prstGeom>
          <a:noFill/>
          <a:ln/>
        </p:spPr>
        <p:txBody>
          <a:bodyPr wrap="none" lIns="0" tIns="0" rIns="0" bIns="0" rtlCol="0" anchor="t"/>
          <a:lstStyle/>
          <a:p>
            <a:pPr marL="0" indent="0" algn="l">
              <a:lnSpc>
                <a:spcPts val="1050"/>
              </a:lnSpc>
              <a:buNone/>
            </a:pPr>
            <a:r>
              <a:rPr lang="en-US" sz="700" b="1" kern="0" spc="15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61591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Important Disclosures</a:t>
            </a:r>
            <a:endParaRPr lang="en-US" sz="2050" dirty="0"/>
          </a:p>
        </p:txBody>
      </p:sp>
      <p:sp>
        <p:nvSpPr>
          <p:cNvPr id="6" name="Object 6"/>
          <p:cNvSpPr txBox="1"/>
          <p:nvPr/>
        </p:nvSpPr>
        <p:spPr>
          <a:xfrm>
            <a:off x="419070" y="883402"/>
            <a:ext cx="922017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These disclosures apply to this report and to the Benchmark International Middle Market industry reports.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900" name="Object 900"/>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901" name="Object 901"/>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902" name="Object 902"/>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Information in this report is as of October 19, 2026, unless stated otherwise.</a:t>
            </a:r>
            <a:endParaRPr lang="en-US" sz="700" dirty="0"/>
          </a:p>
        </p:txBody>
      </p:sp>
      <p:sp>
        <p:nvSpPr>
          <p:cNvPr id="12" name="Object 12"/>
          <p:cNvSpPr/>
          <p:nvPr/>
        </p:nvSpPr>
        <p:spPr>
          <a:xfrm>
            <a:off x="419070" y="7029450"/>
            <a:ext cx="9220170" cy="9510"/>
          </a:xfrm>
          <a:prstGeom prst="ellipse">
            <a:avLst/>
          </a:prstGeom>
          <a:solidFill>
            <a:srgbClr val="E3DCD3"/>
          </a:solidFill>
          <a:ln/>
        </p:spPr>
        <p:txBody>
          <a:bodyPr/>
          <a:lstStyle/>
          <a:p>
            <a:endParaRPr/>
          </a:p>
        </p:txBody>
      </p:sp>
      <p:pic>
        <p:nvPicPr>
          <p:cNvPr id="13" name="Object 13" descr="Benchmark International"/>
          <p:cNvPicPr>
            <a:picLocks noChangeAspect="1"/>
          </p:cNvPicPr>
          <p:nvPr/>
        </p:nvPicPr>
        <p:blipFill>
          <a:blip r:embed="rId3"/>
          <a:stretch>
            <a:fillRect/>
          </a:stretch>
        </p:blipFill>
        <p:spPr>
          <a:xfrm>
            <a:off x="419070" y="7143750"/>
            <a:ext cx="914400" cy="171450"/>
          </a:xfrm>
          <a:prstGeom prst="rect">
            <a:avLst/>
          </a:prstGeom>
        </p:spPr>
      </p:pic>
      <p:sp>
        <p:nvSpPr>
          <p:cNvPr id="14" name="Object 14"/>
          <p:cNvSpPr txBox="1"/>
          <p:nvPr/>
        </p:nvSpPr>
        <p:spPr>
          <a:xfrm>
            <a:off x="9494032"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Object 5"/>
          <p:cNvSpPr txBox="1"/>
          <p:nvPr/>
        </p:nvSpPr>
        <p:spPr>
          <a:xfrm>
            <a:off x="419100" y="361760"/>
            <a:ext cx="46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BUSINESS SERVICES</a:t>
            </a:r>
            <a:r>
              <a:rPr sz="675" b="1" i="0" spc="195" dirty="0">
                <a:solidFill>
                  <a:srgbClr val="8C6239"/>
                </a:solidFill>
                <a:latin typeface="Quicksand"/>
              </a:rPr>
              <a:t>  |  QUARTERLY INDUSTRY REPORT</a:t>
            </a: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Object 7"/>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engagements from the first conversation through signing and closing.</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Object 10" descr="Benchmark International emblem on a dark background"/>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Object 11"/>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Object 12"/>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Object 13"/>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b="0" i="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Object 14"/>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Object 15"/>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Object 16"/>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Object 17"/>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Object 18"/>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Object 19"/>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Object 20"/>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Object 21"/>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Object 22"/>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Object 23"/>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Object 24"/>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Object 25"/>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Object 26" descr="Photo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Object 27"/>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Object 28"/>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Object 29"/>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Object 30"/>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Object 31" descr="Photo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Object 32"/>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Object 33"/>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Object 34"/>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Object 35"/>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Object 36"/>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Object 37" descr="Photo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Object 38"/>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Object 39"/>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Object 40"/>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Object 41"/>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Object 42" descr="Photo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Object 43"/>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Object 44"/>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Object 45"/>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Object 46" descr="Photo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Object 47"/>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Object 48"/>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Object 49"/>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Object 50" descr="Photo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Object 51"/>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Object 52"/>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Object 53"/>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Object 54" descr="Photo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Object 55"/>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Object 56"/>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Object 57"/>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Object 58" descr="Photo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Object 59"/>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Object 60"/>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Object 61"/>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Object 62" descr="Photo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Object 63"/>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Object 64"/>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Object 65"/>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Object 66" descr="Photo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Object 67"/>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Object 68"/>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Object 69"/>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70" name="Object 70"/>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BUSINESS SERVICES COVERAGE</a:t>
            </a:r>
          </a:p>
        </p:txBody>
      </p:sp>
      <p:pic>
        <p:nvPicPr>
          <p:cNvPr id="71" name="Object 71" descr="Cloud and server icon for Managed IT &amp; Cloud Services"/>
          <p:cNvPicPr>
            <a:picLocks noChangeAspect="1"/>
          </p:cNvPicPr>
          <p:nvPr/>
        </p:nvPicPr>
        <p:blipFill>
          <a:blip r:embed="rId15"/>
          <a:stretch>
            <a:fillRect/>
          </a:stretch>
        </p:blipFill>
        <p:spPr>
          <a:xfrm>
            <a:off x="2628900" y="6467475"/>
            <a:ext cx="190500" cy="190500"/>
          </a:xfrm>
          <a:prstGeom prst="rect">
            <a:avLst/>
          </a:prstGeom>
        </p:spPr>
      </p:pic>
      <p:sp>
        <p:nvSpPr>
          <p:cNvPr id="72" name="Object 72"/>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Commercial &amp; Facility Services</a:t>
            </a:r>
          </a:p>
        </p:txBody>
      </p:sp>
      <p:pic>
        <p:nvPicPr>
          <p:cNvPr id="73" name="Object 73" descr="Shield and padlock icon for Cybersecurity"/>
          <p:cNvPicPr>
            <a:picLocks noChangeAspect="1"/>
          </p:cNvPicPr>
          <p:nvPr/>
        </p:nvPicPr>
        <p:blipFill>
          <a:blip r:embed="rId16"/>
          <a:stretch>
            <a:fillRect/>
          </a:stretch>
        </p:blipFill>
        <p:spPr>
          <a:xfrm>
            <a:off x="5010150" y="6467475"/>
            <a:ext cx="190500" cy="190500"/>
          </a:xfrm>
          <a:prstGeom prst="rect">
            <a:avLst/>
          </a:prstGeom>
        </p:spPr>
      </p:pic>
      <p:sp>
        <p:nvSpPr>
          <p:cNvPr id="74" name="Object 74"/>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Marketing &amp; Sales Services</a:t>
            </a:r>
          </a:p>
        </p:txBody>
      </p:sp>
      <p:pic>
        <p:nvPicPr>
          <p:cNvPr id="75" name="Object 75" descr="Radio tower icon for Telecom &amp; UCaaS"/>
          <p:cNvPicPr>
            <a:picLocks noChangeAspect="1"/>
          </p:cNvPicPr>
          <p:nvPr/>
        </p:nvPicPr>
        <p:blipFill>
          <a:blip r:embed="rId17"/>
          <a:stretch>
            <a:fillRect/>
          </a:stretch>
        </p:blipFill>
        <p:spPr>
          <a:xfrm>
            <a:off x="7391400" y="6467475"/>
            <a:ext cx="190500" cy="190500"/>
          </a:xfrm>
          <a:prstGeom prst="rect">
            <a:avLst/>
          </a:prstGeom>
        </p:spPr>
      </p:pic>
      <p:sp>
        <p:nvSpPr>
          <p:cNvPr id="76" name="Object 76"/>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Engineering &amp; Architecture</a:t>
            </a:r>
          </a:p>
        </p:txBody>
      </p:sp>
      <p:pic>
        <p:nvPicPr>
          <p:cNvPr id="77" name="Object 77" descr="Network diagram icon for Systems Integration"/>
          <p:cNvPicPr>
            <a:picLocks noChangeAspect="1"/>
          </p:cNvPicPr>
          <p:nvPr/>
        </p:nvPicPr>
        <p:blipFill>
          <a:blip r:embed="rId18"/>
          <a:stretch>
            <a:fillRect/>
          </a:stretch>
        </p:blipFill>
        <p:spPr>
          <a:xfrm>
            <a:off x="2628900" y="6743700"/>
            <a:ext cx="190500" cy="190500"/>
          </a:xfrm>
          <a:prstGeom prst="rect">
            <a:avLst/>
          </a:prstGeom>
        </p:spPr>
      </p:pic>
      <p:sp>
        <p:nvSpPr>
          <p:cNvPr id="78" name="Object 78"/>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Financial &amp; Insurance Services</a:t>
            </a:r>
          </a:p>
        </p:txBody>
      </p:sp>
      <p:pic>
        <p:nvPicPr>
          <p:cNvPr id="79" name="Object 79" descr="Computer chip icon for Electronics &amp; Hardware"/>
          <p:cNvPicPr>
            <a:picLocks noChangeAspect="1"/>
          </p:cNvPicPr>
          <p:nvPr/>
        </p:nvPicPr>
        <p:blipFill>
          <a:blip r:embed="rId19"/>
          <a:stretch>
            <a:fillRect/>
          </a:stretch>
        </p:blipFill>
        <p:spPr>
          <a:xfrm>
            <a:off x="5010150" y="6743700"/>
            <a:ext cx="190500" cy="190500"/>
          </a:xfrm>
          <a:prstGeom prst="rect">
            <a:avLst/>
          </a:prstGeom>
        </p:spPr>
      </p:pic>
      <p:sp>
        <p:nvSpPr>
          <p:cNvPr id="80" name="Object 80"/>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Staffing &amp; Human Capital</a:t>
            </a:r>
          </a:p>
        </p:txBody>
      </p:sp>
      <p:pic>
        <p:nvPicPr>
          <p:cNvPr id="81" name="Object 81" descr="Government building icon for Government Technology"/>
          <p:cNvPicPr>
            <a:picLocks noChangeAspect="1"/>
          </p:cNvPicPr>
          <p:nvPr/>
        </p:nvPicPr>
        <p:blipFill>
          <a:blip r:embed="rId20"/>
          <a:stretch>
            <a:fillRect/>
          </a:stretch>
        </p:blipFill>
        <p:spPr>
          <a:xfrm>
            <a:off x="7391400" y="6743700"/>
            <a:ext cx="190500" cy="190500"/>
          </a:xfrm>
          <a:prstGeom prst="rect">
            <a:avLst/>
          </a:prstGeom>
        </p:spPr>
      </p:pic>
      <p:sp>
        <p:nvSpPr>
          <p:cNvPr id="82" name="Object 82"/>
          <p:cNvSpPr txBox="1"/>
          <p:nvPr/>
        </p:nvSpPr>
        <p:spPr>
          <a:xfrm>
            <a:off x="7658100" y="6760940"/>
            <a:ext cx="126370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Consulting Services</a:t>
            </a:r>
          </a:p>
        </p:txBody>
      </p:sp>
      <p:sp>
        <p:nvSpPr>
          <p:cNvPr id="83" name="Object 83"/>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84" name="Object 84" descr="Benchmark International logo"/>
          <p:cNvPicPr>
            <a:picLocks noChangeAspect="1"/>
          </p:cNvPicPr>
          <p:nvPr/>
        </p:nvPicPr>
        <p:blipFill>
          <a:blip r:embed="rId21"/>
          <a:stretch>
            <a:fillRect/>
          </a:stretch>
        </p:blipFill>
        <p:spPr>
          <a:xfrm>
            <a:off x="419100" y="7143750"/>
            <a:ext cx="914400" cy="171450"/>
          </a:xfrm>
          <a:prstGeom prst="rect">
            <a:avLst/>
          </a:prstGeom>
        </p:spPr>
      </p:pic>
      <p:sp>
        <p:nvSpPr>
          <p:cNvPr id="85" name="Object 85"/>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Object 86"/>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Object 912"/>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2"/>
              </a:rPr>
              <a:t>813-771-6675</a:t>
            </a:r>
          </a:p>
          <a:p>
            <a:pPr algn="ctr">
              <a:lnSpc>
                <a:spcPts val="1200"/>
              </a:lnSpc>
              <a:spcBef>
                <a:spcPts val="0"/>
              </a:spcBef>
              <a:spcAft>
                <a:spcPts val="0"/>
              </a:spcAft>
            </a:pPr>
            <a:r>
              <a:rPr sz="788" b="0" i="0" u="sng" spc="15">
                <a:solidFill>
                  <a:srgbClr val="8C6239"/>
                </a:solidFill>
                <a:latin typeface="Quicksand"/>
                <a:hlinkClick r:id="rId23"/>
              </a:rPr>
              <a:t>jhoutz@benchmarkintl.com</a:t>
            </a:r>
          </a:p>
        </p:txBody>
      </p:sp>
      <p:sp>
        <p:nvSpPr>
          <p:cNvPr id="910" name="Object 910"/>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4"/>
              </a:rPr>
              <a:t>813-898-2372</a:t>
            </a:r>
          </a:p>
          <a:p>
            <a:pPr algn="ctr">
              <a:lnSpc>
                <a:spcPts val="1200"/>
              </a:lnSpc>
              <a:spcBef>
                <a:spcPts val="0"/>
              </a:spcBef>
              <a:spcAft>
                <a:spcPts val="0"/>
              </a:spcAft>
            </a:pPr>
            <a:r>
              <a:rPr sz="788" b="0" i="0" u="sng" spc="15">
                <a:solidFill>
                  <a:srgbClr val="8C6239"/>
                </a:solidFill>
                <a:latin typeface="Quicksand"/>
                <a:hlinkClick r:id="rId25"/>
              </a:rPr>
              <a:t>azykov@benchmarkintl.com</a:t>
            </a:r>
          </a:p>
        </p:txBody>
      </p:sp>
      <p:sp>
        <p:nvSpPr>
          <p:cNvPr id="913" name="Object 913"/>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26"/>
              </a:rPr>
              <a:t>813-898-2397</a:t>
            </a:r>
          </a:p>
          <a:p>
            <a:pPr algn="ctr">
              <a:lnSpc>
                <a:spcPts val="1200"/>
              </a:lnSpc>
              <a:spcBef>
                <a:spcPts val="0"/>
              </a:spcBef>
              <a:spcAft>
                <a:spcPts val="0"/>
              </a:spcAft>
            </a:pPr>
            <a:r>
              <a:rPr sz="788" b="0" i="0" u="sng" spc="15" dirty="0">
                <a:solidFill>
                  <a:srgbClr val="8C6239"/>
                </a:solidFill>
                <a:latin typeface="Quicksand"/>
                <a:hlinkClick r:id="rId27"/>
              </a:rPr>
              <a:t>hess@benchmarkintl.com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A team meeting around a conference table"/>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207922"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01</a:t>
            </a:r>
            <a:endParaRPr lang="en-US" sz="9000" dirty="0"/>
          </a:p>
        </p:txBody>
      </p:sp>
      <p:sp>
        <p:nvSpPr>
          <p:cNvPr id="6" name="Object 6"/>
          <p:cNvSpPr txBox="1"/>
          <p:nvPr/>
        </p:nvSpPr>
        <p:spPr>
          <a:xfrm>
            <a:off x="609630" y="2895630"/>
            <a:ext cx="1900946"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Insights</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9" name="Object 9"/>
          <p:cNvSpPr/>
          <p:nvPr/>
        </p:nvSpPr>
        <p:spPr>
          <a:xfrm>
            <a:off x="609630" y="4067160"/>
            <a:ext cx="57150" cy="57150"/>
          </a:xfrm>
          <a:prstGeom prst="rect">
            <a:avLst/>
          </a:prstGeom>
          <a:solidFill>
            <a:srgbClr val="B68757"/>
          </a:solidFill>
          <a:ln/>
        </p:spPr>
        <p:txBody>
          <a:bodyPr/>
          <a:lstStyle/>
          <a:p>
            <a:endParaRPr/>
          </a:p>
        </p:txBody>
      </p:sp>
      <p:sp>
        <p:nvSpPr>
          <p:cNvPr id="10" name="Object 10"/>
          <p:cNvSpPr txBox="1"/>
          <p:nvPr/>
        </p:nvSpPr>
        <p:spPr>
          <a:xfrm>
            <a:off x="781080" y="4005255"/>
            <a:ext cx="181764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Key trends in business services</a:t>
            </a:r>
            <a:endParaRPr lang="en-US" sz="950" dirty="0"/>
          </a:p>
        </p:txBody>
      </p:sp>
      <p:sp>
        <p:nvSpPr>
          <p:cNvPr id="11" name="Object 11"/>
          <p:cNvSpPr/>
          <p:nvPr/>
        </p:nvSpPr>
        <p:spPr>
          <a:xfrm>
            <a:off x="609630" y="46101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752960"/>
            <a:ext cx="57150" cy="57150"/>
          </a:xfrm>
          <a:prstGeom prst="rect">
            <a:avLst/>
          </a:prstGeom>
          <a:solidFill>
            <a:srgbClr val="B68757"/>
          </a:solidFill>
          <a:ln/>
        </p:spPr>
        <p:txBody>
          <a:bodyPr/>
          <a:lstStyle/>
          <a:p>
            <a:endParaRPr/>
          </a:p>
        </p:txBody>
      </p:sp>
      <p:sp>
        <p:nvSpPr>
          <p:cNvPr id="13" name="Object 13"/>
          <p:cNvSpPr txBox="1"/>
          <p:nvPr/>
        </p:nvSpPr>
        <p:spPr>
          <a:xfrm>
            <a:off x="781080" y="4691055"/>
            <a:ext cx="1779971"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Perspectives on five sectors</a:t>
            </a:r>
            <a:endParaRPr lang="en-US" sz="950" dirty="0"/>
          </a:p>
        </p:txBody>
      </p:sp>
      <p:sp>
        <p:nvSpPr>
          <p:cNvPr id="14" name="Object 14"/>
          <p:cNvSpPr/>
          <p:nvPr/>
        </p:nvSpPr>
        <p:spPr>
          <a:xfrm>
            <a:off x="609630" y="49530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5095860"/>
            <a:ext cx="57150" cy="57150"/>
          </a:xfrm>
          <a:prstGeom prst="rect">
            <a:avLst/>
          </a:prstGeom>
          <a:solidFill>
            <a:srgbClr val="B68757"/>
          </a:solidFill>
          <a:ln/>
        </p:spPr>
        <p:txBody>
          <a:bodyPr/>
          <a:lstStyle/>
          <a:p>
            <a:endParaRPr/>
          </a:p>
        </p:txBody>
      </p:sp>
      <p:sp>
        <p:nvSpPr>
          <p:cNvPr id="16" name="Object 16"/>
          <p:cNvSpPr txBox="1"/>
          <p:nvPr/>
        </p:nvSpPr>
        <p:spPr>
          <a:xfrm>
            <a:off x="781080" y="5033955"/>
            <a:ext cx="116576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What we're reading</a:t>
            </a:r>
            <a:endParaRPr lang="en-US" sz="950" dirty="0"/>
          </a:p>
        </p:txBody>
      </p:sp>
      <p:sp>
        <p:nvSpPr>
          <p:cNvPr id="17" name="Object 17"/>
          <p:cNvSpPr/>
          <p:nvPr/>
        </p:nvSpPr>
        <p:spPr>
          <a:xfrm>
            <a:off x="609630" y="52959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5438760"/>
            <a:ext cx="57150" cy="57150"/>
          </a:xfrm>
          <a:prstGeom prst="rect">
            <a:avLst/>
          </a:prstGeom>
          <a:solidFill>
            <a:srgbClr val="B68757"/>
          </a:solidFill>
          <a:ln/>
        </p:spPr>
        <p:txBody>
          <a:bodyPr/>
          <a:lstStyle/>
          <a:p>
            <a:endParaRPr/>
          </a:p>
        </p:txBody>
      </p:sp>
      <p:sp>
        <p:nvSpPr>
          <p:cNvPr id="19" name="Object 19"/>
          <p:cNvSpPr txBox="1"/>
          <p:nvPr/>
        </p:nvSpPr>
        <p:spPr>
          <a:xfrm>
            <a:off x="781080" y="5376855"/>
            <a:ext cx="1582003"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Feature: fire and life safety</a:t>
            </a:r>
            <a:endParaRPr lang="en-US" sz="950" dirty="0"/>
          </a:p>
        </p:txBody>
      </p:sp>
      <p:sp>
        <p:nvSpPr>
          <p:cNvPr id="20" name="Object 20"/>
          <p:cNvSpPr/>
          <p:nvPr/>
        </p:nvSpPr>
        <p:spPr>
          <a:xfrm>
            <a:off x="609630" y="5638830"/>
            <a:ext cx="3333720" cy="9510"/>
          </a:xfrm>
          <a:prstGeom prst="rect">
            <a:avLst/>
          </a:prstGeom>
          <a:solidFill>
            <a:srgbClr val="FFFFFF">
              <a:alpha val="16000"/>
            </a:srgbClr>
          </a:solidFill>
          <a:ln/>
        </p:spPr>
        <p:txBody>
          <a:bodyPr/>
          <a:lstStyle/>
          <a:p>
            <a:endParaRPr/>
          </a:p>
        </p:txBody>
      </p:sp>
      <p:pic>
        <p:nvPicPr>
          <p:cNvPr id="21" name="Object 21"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22" name="Object 22"/>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
        <p:nvSpPr>
          <p:cNvPr id="23" name="Object 23"/>
          <p:cNvSpPr/>
          <p:nvPr/>
        </p:nvSpPr>
        <p:spPr>
          <a:xfrm>
            <a:off x="609630" y="4410060"/>
            <a:ext cx="57150" cy="57150"/>
          </a:xfrm>
          <a:prstGeom prst="rect">
            <a:avLst/>
          </a:prstGeom>
          <a:solidFill>
            <a:srgbClr val="B68757"/>
          </a:solidFill>
          <a:ln/>
        </p:spPr>
        <p:txBody>
          <a:bodyPr/>
          <a:lstStyle/>
          <a:p>
            <a:endParaRPr/>
          </a:p>
        </p:txBody>
      </p:sp>
      <p:sp>
        <p:nvSpPr>
          <p:cNvPr id="24" name="Object 24"/>
          <p:cNvSpPr txBox="1"/>
          <p:nvPr/>
        </p:nvSpPr>
        <p:spPr>
          <a:xfrm>
            <a:off x="781080" y="4348155"/>
            <a:ext cx="1779971"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Our view</a:t>
            </a:r>
            <a:endParaRPr lang="en-US" sz="950" dirty="0"/>
          </a:p>
        </p:txBody>
      </p:sp>
      <p:sp>
        <p:nvSpPr>
          <p:cNvPr id="25" name="Object 25"/>
          <p:cNvSpPr/>
          <p:nvPr/>
        </p:nvSpPr>
        <p:spPr>
          <a:xfrm>
            <a:off x="609630" y="4610130"/>
            <a:ext cx="3333720" cy="9510"/>
          </a:xfrm>
          <a:prstGeom prst="rect">
            <a:avLst/>
          </a:prstGeom>
          <a:solidFill>
            <a:srgbClr val="FFFFFF">
              <a:alpha val="16000"/>
            </a:srgbClr>
          </a:solidFill>
          <a:ln/>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70816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Object 6"/>
          <p:cNvSpPr txBox="1"/>
          <p:nvPr/>
        </p:nvSpPr>
        <p:spPr>
          <a:xfrm>
            <a:off x="419070" y="883402"/>
            <a:ext cx="679508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developments across the five sectors, fourth quarter 2026</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4524360" cy="1568379"/>
          </a:xfrm>
          <a:prstGeom prst="rect">
            <a:avLst/>
          </a:prstGeom>
          <a:solidFill>
            <a:srgbClr val="FAF7F3"/>
          </a:solidFill>
          <a:ln/>
        </p:spPr>
        <p:txBody>
          <a:bodyPr/>
          <a:lstStyle/>
          <a:p>
            <a:endParaRPr/>
          </a:p>
        </p:txBody>
      </p:sp>
      <p:sp>
        <p:nvSpPr>
          <p:cNvPr id="9" name="Object 9"/>
          <p:cNvSpPr/>
          <p:nvPr/>
        </p:nvSpPr>
        <p:spPr>
          <a:xfrm>
            <a:off x="419070" y="1238280"/>
            <a:ext cx="4524360" cy="28621"/>
          </a:xfrm>
          <a:prstGeom prst="rect">
            <a:avLst/>
          </a:prstGeom>
          <a:solidFill>
            <a:srgbClr val="B68757"/>
          </a:solidFill>
          <a:ln/>
        </p:spPr>
        <p:txBody>
          <a:bodyPr/>
          <a:lstStyle/>
          <a:p>
            <a:endParaRPr/>
          </a:p>
        </p:txBody>
      </p:sp>
      <p:sp>
        <p:nvSpPr>
          <p:cNvPr id="10" name="Object 10"/>
          <p:cNvSpPr/>
          <p:nvPr/>
        </p:nvSpPr>
        <p:spPr>
          <a:xfrm>
            <a:off x="590520" y="1381110"/>
            <a:ext cx="381030" cy="381030"/>
          </a:xfrm>
          <a:prstGeom prst="ellipse">
            <a:avLst/>
          </a:prstGeom>
          <a:solidFill>
            <a:srgbClr val="1B1A1A"/>
          </a:solidFill>
          <a:ln/>
        </p:spPr>
        <p:txBody>
          <a:bodyPr/>
          <a:lstStyle/>
          <a:p>
            <a:endParaRPr/>
          </a:p>
        </p:txBody>
      </p:sp>
      <p:pic>
        <p:nvPicPr>
          <p:cNvPr id="11" name="Object 11"/>
          <p:cNvPicPr>
            <a:picLocks noChangeAspect="1"/>
          </p:cNvPicPr>
          <p:nvPr/>
        </p:nvPicPr>
        <p:blipFill>
          <a:blip r:embed="rId3"/>
          <a:stretch>
            <a:fillRect/>
          </a:stretch>
        </p:blipFill>
        <p:spPr>
          <a:xfrm>
            <a:off x="657271" y="1447770"/>
            <a:ext cx="247620" cy="247620"/>
          </a:xfrm>
          <a:prstGeom prst="rect">
            <a:avLst/>
          </a:prstGeom>
        </p:spPr>
      </p:pic>
      <p:sp>
        <p:nvSpPr>
          <p:cNvPr id="12" name="Object 12"/>
          <p:cNvSpPr txBox="1"/>
          <p:nvPr/>
        </p:nvSpPr>
        <p:spPr>
          <a:xfrm>
            <a:off x="1085850" y="1395374"/>
            <a:ext cx="325755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Fire and life safety consolidation</a:t>
            </a:r>
            <a:endParaRPr lang="en-US" sz="1000" dirty="0"/>
          </a:p>
        </p:txBody>
      </p:sp>
      <p:sp>
        <p:nvSpPr>
          <p:cNvPr id="13" name="Object 13"/>
          <p:cNvSpPr txBox="1"/>
          <p:nvPr/>
        </p:nvSpPr>
        <p:spPr>
          <a:xfrm>
            <a:off x="4457700" y="1423995"/>
            <a:ext cx="371521"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22</a:t>
            </a:r>
            <a:endParaRPr lang="en-US" sz="2050" dirty="0"/>
          </a:p>
        </p:txBody>
      </p:sp>
      <p:sp>
        <p:nvSpPr>
          <p:cNvPr id="14" name="Object 14"/>
          <p:cNvSpPr txBox="1"/>
          <p:nvPr/>
        </p:nvSpPr>
        <p:spPr>
          <a:xfrm>
            <a:off x="590520" y="183831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Pye-Barker Fire &amp; Safety completed 22 acquisitions in the first half of 2026 (</a:t>
            </a:r>
            <a:r>
              <a:rPr lang="en-US" sz="850" u="sng" dirty="0">
                <a:solidFill>
                  <a:srgbClr val="8C6239"/>
                </a:solidFill>
                <a:latin typeface="+mn-lt" pitchFamily="34" charset="0"/>
                <a:hlinkClick r:id="rId4"/>
              </a:rPr>
              <a:t>Pye-Barker</a:t>
            </a:r>
            <a:r>
              <a:rPr lang="en-US" sz="850" dirty="0">
                <a:solidFill>
                  <a:srgbClr val="333231"/>
                </a:solidFill>
                <a:latin typeface="+mn-lt" pitchFamily="34" charset="0"/>
              </a:rPr>
              <a:t>) after 57 in 2025 (</a:t>
            </a:r>
            <a:r>
              <a:rPr lang="en-US" sz="850" u="sng" dirty="0">
                <a:solidFill>
                  <a:srgbClr val="8C6239"/>
                </a:solidFill>
                <a:latin typeface="+mn-lt" pitchFamily="34" charset="0"/>
                <a:hlinkClick r:id="rId5"/>
              </a:rPr>
              <a:t>Pye-Barker, March 17</a:t>
            </a:r>
            <a:r>
              <a:rPr lang="en-US" sz="850" dirty="0">
                <a:solidFill>
                  <a:srgbClr val="333231"/>
                </a:solidFill>
                <a:latin typeface="+mn-lt" pitchFamily="34" charset="0"/>
              </a:rPr>
              <a:t>). APi Group grew 10.1% organically in the second quarter and reported a backlog above $5 billion (</a:t>
            </a:r>
            <a:r>
              <a:rPr lang="en-US" sz="850" u="sng" dirty="0">
                <a:solidFill>
                  <a:srgbClr val="8C6239"/>
                </a:solidFill>
                <a:latin typeface="+mn-lt" pitchFamily="34" charset="0"/>
                <a:hlinkClick r:id="rId6"/>
              </a:rPr>
              <a:t>APi Group</a:t>
            </a:r>
            <a:r>
              <a:rPr lang="en-US" sz="850" dirty="0">
                <a:solidFill>
                  <a:srgbClr val="333231"/>
                </a:solidFill>
                <a:latin typeface="+mn-lt" pitchFamily="34" charset="0"/>
              </a:rPr>
              <a:t>).</a:t>
            </a:r>
            <a:endParaRPr lang="en-US" sz="850" dirty="0"/>
          </a:p>
        </p:txBody>
      </p:sp>
      <p:sp>
        <p:nvSpPr>
          <p:cNvPr id="15" name="Object 15"/>
          <p:cNvSpPr/>
          <p:nvPr/>
        </p:nvSpPr>
        <p:spPr>
          <a:xfrm>
            <a:off x="590520" y="2463668"/>
            <a:ext cx="4181460" cy="9510"/>
          </a:xfrm>
          <a:prstGeom prst="rect">
            <a:avLst/>
          </a:prstGeom>
          <a:solidFill>
            <a:srgbClr val="E3DCD3"/>
          </a:solidFill>
          <a:ln/>
        </p:spPr>
        <p:txBody>
          <a:bodyPr/>
          <a:lstStyle/>
          <a:p>
            <a:endParaRPr/>
          </a:p>
        </p:txBody>
      </p:sp>
      <p:sp>
        <p:nvSpPr>
          <p:cNvPr id="16" name="Object 16"/>
          <p:cNvSpPr txBox="1"/>
          <p:nvPr/>
        </p:nvSpPr>
        <p:spPr>
          <a:xfrm>
            <a:off x="590520" y="2535174"/>
            <a:ext cx="3757727"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Object 17"/>
          <p:cNvSpPr/>
          <p:nvPr/>
        </p:nvSpPr>
        <p:spPr>
          <a:xfrm>
            <a:off x="5114971" y="1238280"/>
            <a:ext cx="4524360" cy="1568379"/>
          </a:xfrm>
          <a:prstGeom prst="rect">
            <a:avLst/>
          </a:prstGeom>
          <a:solidFill>
            <a:srgbClr val="FAF7F3"/>
          </a:solidFill>
          <a:ln/>
        </p:spPr>
        <p:txBody>
          <a:bodyPr/>
          <a:lstStyle/>
          <a:p>
            <a:endParaRPr/>
          </a:p>
        </p:txBody>
      </p:sp>
      <p:sp>
        <p:nvSpPr>
          <p:cNvPr id="18" name="Object 18"/>
          <p:cNvSpPr/>
          <p:nvPr/>
        </p:nvSpPr>
        <p:spPr>
          <a:xfrm>
            <a:off x="5114971" y="1238280"/>
            <a:ext cx="4524360" cy="28621"/>
          </a:xfrm>
          <a:prstGeom prst="rect">
            <a:avLst/>
          </a:prstGeom>
          <a:solidFill>
            <a:srgbClr val="B68757"/>
          </a:solidFill>
          <a:ln/>
        </p:spPr>
        <p:txBody>
          <a:bodyPr/>
          <a:lstStyle/>
          <a:p>
            <a:endParaRPr/>
          </a:p>
        </p:txBody>
      </p:sp>
      <p:sp>
        <p:nvSpPr>
          <p:cNvPr id="19" name="Object 19"/>
          <p:cNvSpPr/>
          <p:nvPr/>
        </p:nvSpPr>
        <p:spPr>
          <a:xfrm>
            <a:off x="5286421" y="1381110"/>
            <a:ext cx="381030" cy="381030"/>
          </a:xfrm>
          <a:prstGeom prst="ellipse">
            <a:avLst/>
          </a:prstGeom>
          <a:solidFill>
            <a:srgbClr val="1B1A1A"/>
          </a:solidFill>
          <a:ln/>
        </p:spPr>
        <p:txBody>
          <a:bodyPr/>
          <a:lstStyle/>
          <a:p>
            <a:endParaRPr/>
          </a:p>
        </p:txBody>
      </p:sp>
      <p:pic>
        <p:nvPicPr>
          <p:cNvPr id="20" name="Object 20"/>
          <p:cNvPicPr>
            <a:picLocks noChangeAspect="1"/>
          </p:cNvPicPr>
          <p:nvPr/>
        </p:nvPicPr>
        <p:blipFill>
          <a:blip r:embed="rId7"/>
          <a:stretch>
            <a:fillRect/>
          </a:stretch>
        </p:blipFill>
        <p:spPr>
          <a:xfrm>
            <a:off x="5353080" y="1447770"/>
            <a:ext cx="247620" cy="247620"/>
          </a:xfrm>
          <a:prstGeom prst="rect">
            <a:avLst/>
          </a:prstGeom>
        </p:spPr>
      </p:pic>
      <p:sp>
        <p:nvSpPr>
          <p:cNvPr id="21" name="Object 21"/>
          <p:cNvSpPr txBox="1"/>
          <p:nvPr/>
        </p:nvSpPr>
        <p:spPr>
          <a:xfrm>
            <a:off x="5781660" y="1395374"/>
            <a:ext cx="281937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10-year Treasury yield</a:t>
            </a:r>
            <a:endParaRPr lang="en-US" sz="1000" dirty="0"/>
          </a:p>
        </p:txBody>
      </p:sp>
      <p:sp>
        <p:nvSpPr>
          <p:cNvPr id="22" name="Object 22"/>
          <p:cNvSpPr txBox="1"/>
          <p:nvPr/>
        </p:nvSpPr>
        <p:spPr>
          <a:xfrm>
            <a:off x="8717432" y="1423995"/>
            <a:ext cx="807507"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4.99%</a:t>
            </a:r>
            <a:endParaRPr lang="en-US" sz="2050" dirty="0"/>
          </a:p>
        </p:txBody>
      </p:sp>
      <p:sp>
        <p:nvSpPr>
          <p:cNvPr id="23" name="Object 23"/>
          <p:cNvSpPr txBox="1"/>
          <p:nvPr/>
        </p:nvSpPr>
        <p:spPr>
          <a:xfrm>
            <a:off x="5286421" y="1838310"/>
            <a:ext cx="4181460" cy="647670"/>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The Federal Reserve raised its target range to 3.75% to 4.00% on September 16 (</a:t>
            </a:r>
            <a:r>
              <a:rPr lang="en-US" sz="850" u="sng" dirty="0">
                <a:solidFill>
                  <a:srgbClr val="8C6239"/>
                </a:solidFill>
                <a:latin typeface="+mn-lt" pitchFamily="34" charset="0"/>
                <a:hlinkClick r:id="rId8">
                  <a:extLst>
                    <a:ext uri="{A12FA001-AC4F-418D-AE19-62706E023703}">
                      <ahyp:hlinkClr xmlns:ahyp="http://schemas.microsoft.com/office/drawing/2018/hyperlinkcolor" val="tx"/>
                    </a:ext>
                  </a:extLst>
                </a:hlinkClick>
              </a:rPr>
              <a:t>Federal Reserve</a:t>
            </a:r>
            <a:r>
              <a:rPr lang="en-US" sz="850" dirty="0">
                <a:solidFill>
                  <a:srgbClr val="333231"/>
                </a:solidFill>
                <a:latin typeface="+mn-lt" pitchFamily="34" charset="0"/>
              </a:rPr>
              <a:t>), and the 10-year Treasury yield averaged 4.99% in September (</a:t>
            </a:r>
            <a:r>
              <a:rPr lang="en-US" sz="85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FRED</a:t>
            </a:r>
            <a:r>
              <a:rPr lang="en-US" sz="850" dirty="0">
                <a:solidFill>
                  <a:srgbClr val="333231"/>
                </a:solidFill>
                <a:latin typeface="+mn-lt" pitchFamily="34" charset="0"/>
              </a:rPr>
              <a:t>). Average total debt on platform acquisitions fell to 2.9x EBITDA from 3.4x (</a:t>
            </a:r>
            <a:r>
              <a:rPr lang="en-US" sz="8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GF Data via ACG</a:t>
            </a:r>
            <a:r>
              <a:rPr lang="en-US" sz="850" dirty="0">
                <a:solidFill>
                  <a:srgbClr val="333231"/>
                </a:solidFill>
                <a:latin typeface="+mn-lt" pitchFamily="34" charset="0"/>
              </a:rPr>
              <a:t>).</a:t>
            </a:r>
            <a:endParaRPr lang="en-US" sz="850" dirty="0"/>
          </a:p>
        </p:txBody>
      </p:sp>
      <p:sp>
        <p:nvSpPr>
          <p:cNvPr id="24" name="Object 24"/>
          <p:cNvSpPr/>
          <p:nvPr/>
        </p:nvSpPr>
        <p:spPr>
          <a:xfrm>
            <a:off x="5286421" y="2486071"/>
            <a:ext cx="4181460" cy="9510"/>
          </a:xfrm>
          <a:prstGeom prst="rect">
            <a:avLst/>
          </a:prstGeom>
          <a:solidFill>
            <a:srgbClr val="E3DCD3"/>
          </a:solidFill>
          <a:ln/>
        </p:spPr>
        <p:txBody>
          <a:bodyPr/>
          <a:lstStyle/>
          <a:p>
            <a:endParaRPr/>
          </a:p>
        </p:txBody>
      </p:sp>
      <p:sp>
        <p:nvSpPr>
          <p:cNvPr id="25" name="Object 25"/>
          <p:cNvSpPr txBox="1"/>
          <p:nvPr/>
        </p:nvSpPr>
        <p:spPr>
          <a:xfrm>
            <a:off x="5286421" y="2557485"/>
            <a:ext cx="4017325"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Object 26"/>
          <p:cNvSpPr/>
          <p:nvPr/>
        </p:nvSpPr>
        <p:spPr>
          <a:xfrm>
            <a:off x="419070" y="2930469"/>
            <a:ext cx="4524360" cy="1568470"/>
          </a:xfrm>
          <a:prstGeom prst="rect">
            <a:avLst/>
          </a:prstGeom>
          <a:solidFill>
            <a:srgbClr val="FAF7F3"/>
          </a:solidFill>
          <a:ln/>
        </p:spPr>
        <p:txBody>
          <a:bodyPr/>
          <a:lstStyle/>
          <a:p>
            <a:endParaRPr/>
          </a:p>
        </p:txBody>
      </p:sp>
      <p:sp>
        <p:nvSpPr>
          <p:cNvPr id="27" name="Object 27"/>
          <p:cNvSpPr/>
          <p:nvPr/>
        </p:nvSpPr>
        <p:spPr>
          <a:xfrm>
            <a:off x="419070" y="2930469"/>
            <a:ext cx="4524360" cy="28621"/>
          </a:xfrm>
          <a:prstGeom prst="rect">
            <a:avLst/>
          </a:prstGeom>
          <a:solidFill>
            <a:srgbClr val="B68757"/>
          </a:solidFill>
          <a:ln/>
        </p:spPr>
        <p:txBody>
          <a:bodyPr/>
          <a:lstStyle/>
          <a:p>
            <a:endParaRPr/>
          </a:p>
        </p:txBody>
      </p:sp>
      <p:sp>
        <p:nvSpPr>
          <p:cNvPr id="28" name="Object 28"/>
          <p:cNvSpPr/>
          <p:nvPr/>
        </p:nvSpPr>
        <p:spPr>
          <a:xfrm>
            <a:off x="590520" y="3073298"/>
            <a:ext cx="381030" cy="381030"/>
          </a:xfrm>
          <a:prstGeom prst="ellipse">
            <a:avLst/>
          </a:prstGeom>
          <a:solidFill>
            <a:srgbClr val="1B1A1A"/>
          </a:solidFill>
          <a:ln/>
        </p:spPr>
        <p:txBody>
          <a:bodyPr/>
          <a:lstStyle/>
          <a:p>
            <a:endParaRPr/>
          </a:p>
        </p:txBody>
      </p:sp>
      <p:pic>
        <p:nvPicPr>
          <p:cNvPr id="29" name="Object 29"/>
          <p:cNvPicPr>
            <a:picLocks noChangeAspect="1"/>
          </p:cNvPicPr>
          <p:nvPr/>
        </p:nvPicPr>
        <p:blipFill>
          <a:blip r:embed="rId11"/>
          <a:stretch>
            <a:fillRect/>
          </a:stretch>
        </p:blipFill>
        <p:spPr>
          <a:xfrm>
            <a:off x="657271" y="3139958"/>
            <a:ext cx="247620" cy="247620"/>
          </a:xfrm>
          <a:prstGeom prst="rect">
            <a:avLst/>
          </a:prstGeom>
        </p:spPr>
      </p:pic>
      <p:sp>
        <p:nvSpPr>
          <p:cNvPr id="30" name="Object 30"/>
          <p:cNvSpPr txBox="1"/>
          <p:nvPr/>
        </p:nvSpPr>
        <p:spPr>
          <a:xfrm>
            <a:off x="1085850" y="3087563"/>
            <a:ext cx="303846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Engineering backlog and staffing</a:t>
            </a:r>
            <a:endParaRPr lang="en-US" sz="1000" dirty="0"/>
          </a:p>
        </p:txBody>
      </p:sp>
      <p:sp>
        <p:nvSpPr>
          <p:cNvPr id="31" name="Object 31"/>
          <p:cNvSpPr txBox="1"/>
          <p:nvPr/>
        </p:nvSpPr>
        <p:spPr>
          <a:xfrm>
            <a:off x="4242359" y="3116184"/>
            <a:ext cx="586862"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88%</a:t>
            </a:r>
            <a:endParaRPr lang="en-US" sz="2050" dirty="0"/>
          </a:p>
        </p:txBody>
      </p:sp>
      <p:sp>
        <p:nvSpPr>
          <p:cNvPr id="32" name="Object 32"/>
          <p:cNvSpPr txBox="1"/>
          <p:nvPr/>
        </p:nvSpPr>
        <p:spPr>
          <a:xfrm>
            <a:off x="590520" y="3530498"/>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The median engineering firm holds 12 months of backlog, and 88% of firms report at least one open position (</a:t>
            </a:r>
            <a:r>
              <a:rPr lang="en-US" sz="850" u="sng" dirty="0">
                <a:solidFill>
                  <a:srgbClr val="8C6239"/>
                </a:solidFill>
                <a:latin typeface="+mn-lt" pitchFamily="34" charset="0"/>
                <a:hlinkClick r:id="rId12">
                  <a:extLst>
                    <a:ext uri="{A12FA001-AC4F-418D-AE19-62706E023703}">
                      <ahyp:hlinkClr xmlns:ahyp="http://schemas.microsoft.com/office/drawing/2018/hyperlinkcolor" val="tx"/>
                    </a:ext>
                  </a:extLst>
                </a:hlinkClick>
              </a:rPr>
              <a:t>ACEC</a:t>
            </a:r>
            <a:r>
              <a:rPr lang="en-US" sz="850" dirty="0">
                <a:solidFill>
                  <a:srgbClr val="333231"/>
                </a:solidFill>
                <a:latin typeface="+mn-lt" pitchFamily="34" charset="0"/>
              </a:rPr>
              <a:t>). Bernhard Capital agreed to buy Bowman for about $1.0 billion of enterprise value, a 58% premium (</a:t>
            </a:r>
            <a:r>
              <a:rPr lang="en-US" sz="850" u="sng" dirty="0">
                <a:solidFill>
                  <a:srgbClr val="8C6239"/>
                </a:solidFill>
                <a:latin typeface="+mn-lt" pitchFamily="34" charset="0"/>
                <a:hlinkClick r:id="rId13">
                  <a:extLst>
                    <a:ext uri="{A12FA001-AC4F-418D-AE19-62706E023703}">
                      <ahyp:hlinkClr xmlns:ahyp="http://schemas.microsoft.com/office/drawing/2018/hyperlinkcolor" val="tx"/>
                    </a:ext>
                  </a:extLst>
                </a:hlinkClick>
              </a:rPr>
              <a:t>Bowman</a:t>
            </a:r>
            <a:r>
              <a:rPr lang="en-US" sz="850" dirty="0">
                <a:solidFill>
                  <a:srgbClr val="333231"/>
                </a:solidFill>
                <a:latin typeface="+mn-lt" pitchFamily="34" charset="0"/>
              </a:rPr>
              <a:t>).</a:t>
            </a:r>
            <a:endParaRPr lang="en-US" sz="850" dirty="0"/>
          </a:p>
        </p:txBody>
      </p:sp>
      <p:sp>
        <p:nvSpPr>
          <p:cNvPr id="33" name="Object 33"/>
          <p:cNvSpPr/>
          <p:nvPr/>
        </p:nvSpPr>
        <p:spPr>
          <a:xfrm>
            <a:off x="590520" y="4156039"/>
            <a:ext cx="4181460" cy="9510"/>
          </a:xfrm>
          <a:prstGeom prst="rect">
            <a:avLst/>
          </a:prstGeom>
          <a:solidFill>
            <a:srgbClr val="E3DCD3"/>
          </a:solidFill>
          <a:ln/>
        </p:spPr>
        <p:txBody>
          <a:bodyPr/>
          <a:lstStyle/>
          <a:p>
            <a:endParaRPr/>
          </a:p>
        </p:txBody>
      </p:sp>
      <p:sp>
        <p:nvSpPr>
          <p:cNvPr id="34" name="Object 34"/>
          <p:cNvSpPr txBox="1"/>
          <p:nvPr/>
        </p:nvSpPr>
        <p:spPr>
          <a:xfrm>
            <a:off x="590520" y="4227454"/>
            <a:ext cx="3784976"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Object 35"/>
          <p:cNvSpPr/>
          <p:nvPr/>
        </p:nvSpPr>
        <p:spPr>
          <a:xfrm>
            <a:off x="5114971" y="2930469"/>
            <a:ext cx="4524360" cy="1568470"/>
          </a:xfrm>
          <a:prstGeom prst="rect">
            <a:avLst/>
          </a:prstGeom>
          <a:solidFill>
            <a:srgbClr val="FAF7F3"/>
          </a:solidFill>
          <a:ln/>
        </p:spPr>
        <p:txBody>
          <a:bodyPr/>
          <a:lstStyle/>
          <a:p>
            <a:endParaRPr/>
          </a:p>
        </p:txBody>
      </p:sp>
      <p:sp>
        <p:nvSpPr>
          <p:cNvPr id="36" name="Object 36"/>
          <p:cNvSpPr/>
          <p:nvPr/>
        </p:nvSpPr>
        <p:spPr>
          <a:xfrm>
            <a:off x="5114971" y="2930469"/>
            <a:ext cx="4524360" cy="28621"/>
          </a:xfrm>
          <a:prstGeom prst="rect">
            <a:avLst/>
          </a:prstGeom>
          <a:solidFill>
            <a:srgbClr val="B68757"/>
          </a:solidFill>
          <a:ln/>
        </p:spPr>
        <p:txBody>
          <a:bodyPr/>
          <a:lstStyle/>
          <a:p>
            <a:endParaRPr/>
          </a:p>
        </p:txBody>
      </p:sp>
      <p:sp>
        <p:nvSpPr>
          <p:cNvPr id="37" name="Object 37"/>
          <p:cNvSpPr/>
          <p:nvPr/>
        </p:nvSpPr>
        <p:spPr>
          <a:xfrm>
            <a:off x="5286421" y="3073298"/>
            <a:ext cx="381030" cy="381030"/>
          </a:xfrm>
          <a:prstGeom prst="ellipse">
            <a:avLst/>
          </a:prstGeom>
          <a:solidFill>
            <a:srgbClr val="1B1A1A"/>
          </a:solidFill>
          <a:ln/>
        </p:spPr>
        <p:txBody>
          <a:bodyPr/>
          <a:lstStyle/>
          <a:p>
            <a:endParaRPr/>
          </a:p>
        </p:txBody>
      </p:sp>
      <p:pic>
        <p:nvPicPr>
          <p:cNvPr id="38" name="Object 38"/>
          <p:cNvPicPr>
            <a:picLocks noChangeAspect="1"/>
          </p:cNvPicPr>
          <p:nvPr/>
        </p:nvPicPr>
        <p:blipFill>
          <a:blip r:embed="rId14"/>
          <a:stretch>
            <a:fillRect/>
          </a:stretch>
        </p:blipFill>
        <p:spPr>
          <a:xfrm>
            <a:off x="5353080" y="3139958"/>
            <a:ext cx="247620" cy="247620"/>
          </a:xfrm>
          <a:prstGeom prst="rect">
            <a:avLst/>
          </a:prstGeom>
        </p:spPr>
      </p:pic>
      <p:sp>
        <p:nvSpPr>
          <p:cNvPr id="39" name="Object 39"/>
          <p:cNvSpPr txBox="1"/>
          <p:nvPr/>
        </p:nvSpPr>
        <p:spPr>
          <a:xfrm>
            <a:off x="5781660" y="3087563"/>
            <a:ext cx="306708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Commercial insurance pricing</a:t>
            </a:r>
            <a:endParaRPr lang="en-US" sz="1000" dirty="0"/>
          </a:p>
        </p:txBody>
      </p:sp>
      <p:sp>
        <p:nvSpPr>
          <p:cNvPr id="40" name="Object 40"/>
          <p:cNvSpPr txBox="1"/>
          <p:nvPr/>
        </p:nvSpPr>
        <p:spPr>
          <a:xfrm>
            <a:off x="8963772" y="3116184"/>
            <a:ext cx="561259"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−2%</a:t>
            </a:r>
            <a:endParaRPr lang="en-US" sz="2050" dirty="0"/>
          </a:p>
        </p:txBody>
      </p:sp>
      <p:sp>
        <p:nvSpPr>
          <p:cNvPr id="41" name="Object 41"/>
          <p:cNvSpPr txBox="1"/>
          <p:nvPr/>
        </p:nvSpPr>
        <p:spPr>
          <a:xfrm>
            <a:off x="5286421" y="3530498"/>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Commercial premiums fell 2% on average in the second quarter, with property down 6.3% (</a:t>
            </a:r>
            <a:r>
              <a:rPr lang="en-US" sz="850" u="sng" dirty="0">
                <a:solidFill>
                  <a:srgbClr val="8C6239"/>
                </a:solidFill>
                <a:latin typeface="+mn-lt" pitchFamily="34" charset="0"/>
                <a:hlinkClick r:id="rId15"/>
              </a:rPr>
              <a:t>Insurance Journal</a:t>
            </a:r>
            <a:r>
              <a:rPr lang="en-US" sz="850" dirty="0">
                <a:solidFill>
                  <a:srgbClr val="333231"/>
                </a:solidFill>
                <a:latin typeface="+mn-lt" pitchFamily="34" charset="0"/>
              </a:rPr>
              <a:t>). Aon agreed on August 31 to buy USI from KKR for $17 billion including debt (</a:t>
            </a:r>
            <a:r>
              <a:rPr lang="en-US" sz="850" u="sng" dirty="0">
                <a:solidFill>
                  <a:srgbClr val="8C6239"/>
                </a:solidFill>
                <a:latin typeface="+mn-lt" pitchFamily="34" charset="0"/>
                <a:hlinkClick r:id="rId16"/>
              </a:rPr>
              <a:t>Insurance Journal, September 21</a:t>
            </a:r>
            <a:r>
              <a:rPr lang="en-US" sz="850" dirty="0">
                <a:solidFill>
                  <a:srgbClr val="333231"/>
                </a:solidFill>
                <a:latin typeface="+mn-lt" pitchFamily="34" charset="0"/>
              </a:rPr>
              <a:t>).</a:t>
            </a:r>
            <a:endParaRPr lang="en-US" sz="850" dirty="0"/>
          </a:p>
        </p:txBody>
      </p:sp>
      <p:sp>
        <p:nvSpPr>
          <p:cNvPr id="42" name="Object 42"/>
          <p:cNvSpPr/>
          <p:nvPr/>
        </p:nvSpPr>
        <p:spPr>
          <a:xfrm>
            <a:off x="5286421" y="4156039"/>
            <a:ext cx="4181460" cy="9510"/>
          </a:xfrm>
          <a:prstGeom prst="rect">
            <a:avLst/>
          </a:prstGeom>
          <a:solidFill>
            <a:srgbClr val="E3DCD3"/>
          </a:solidFill>
          <a:ln/>
        </p:spPr>
        <p:txBody>
          <a:bodyPr/>
          <a:lstStyle/>
          <a:p>
            <a:endParaRPr/>
          </a:p>
        </p:txBody>
      </p:sp>
      <p:sp>
        <p:nvSpPr>
          <p:cNvPr id="43" name="Object 43"/>
          <p:cNvSpPr txBox="1"/>
          <p:nvPr/>
        </p:nvSpPr>
        <p:spPr>
          <a:xfrm>
            <a:off x="5286421" y="4227454"/>
            <a:ext cx="3842126"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Object 44"/>
          <p:cNvSpPr/>
          <p:nvPr/>
        </p:nvSpPr>
        <p:spPr>
          <a:xfrm>
            <a:off x="419070" y="4622749"/>
            <a:ext cx="4524360" cy="1568470"/>
          </a:xfrm>
          <a:prstGeom prst="rect">
            <a:avLst/>
          </a:prstGeom>
          <a:solidFill>
            <a:srgbClr val="FAF7F3"/>
          </a:solidFill>
          <a:ln/>
        </p:spPr>
        <p:txBody>
          <a:bodyPr/>
          <a:lstStyle/>
          <a:p>
            <a:endParaRPr/>
          </a:p>
        </p:txBody>
      </p:sp>
      <p:sp>
        <p:nvSpPr>
          <p:cNvPr id="45" name="Object 45"/>
          <p:cNvSpPr/>
          <p:nvPr/>
        </p:nvSpPr>
        <p:spPr>
          <a:xfrm>
            <a:off x="419070" y="4622749"/>
            <a:ext cx="4524360" cy="28621"/>
          </a:xfrm>
          <a:prstGeom prst="rect">
            <a:avLst/>
          </a:prstGeom>
          <a:solidFill>
            <a:srgbClr val="B68757"/>
          </a:solidFill>
          <a:ln/>
        </p:spPr>
        <p:txBody>
          <a:bodyPr/>
          <a:lstStyle/>
          <a:p>
            <a:endParaRPr/>
          </a:p>
        </p:txBody>
      </p:sp>
      <p:sp>
        <p:nvSpPr>
          <p:cNvPr id="46" name="Object 46"/>
          <p:cNvSpPr/>
          <p:nvPr/>
        </p:nvSpPr>
        <p:spPr>
          <a:xfrm>
            <a:off x="590520" y="4765670"/>
            <a:ext cx="381030" cy="381030"/>
          </a:xfrm>
          <a:prstGeom prst="ellipse">
            <a:avLst/>
          </a:prstGeom>
          <a:solidFill>
            <a:srgbClr val="1B1A1A"/>
          </a:solidFill>
          <a:ln/>
        </p:spPr>
        <p:txBody>
          <a:bodyPr/>
          <a:lstStyle/>
          <a:p>
            <a:endParaRPr/>
          </a:p>
        </p:txBody>
      </p:sp>
      <p:pic>
        <p:nvPicPr>
          <p:cNvPr id="47" name="Object 47"/>
          <p:cNvPicPr>
            <a:picLocks noChangeAspect="1"/>
          </p:cNvPicPr>
          <p:nvPr/>
        </p:nvPicPr>
        <p:blipFill>
          <a:blip r:embed="rId17"/>
          <a:stretch>
            <a:fillRect/>
          </a:stretch>
        </p:blipFill>
        <p:spPr>
          <a:xfrm>
            <a:off x="657271" y="4832330"/>
            <a:ext cx="247620" cy="247620"/>
          </a:xfrm>
          <a:prstGeom prst="rect">
            <a:avLst/>
          </a:prstGeom>
        </p:spPr>
      </p:pic>
      <p:sp>
        <p:nvSpPr>
          <p:cNvPr id="48" name="Object 48"/>
          <p:cNvSpPr txBox="1"/>
          <p:nvPr/>
        </p:nvSpPr>
        <p:spPr>
          <a:xfrm>
            <a:off x="1085850" y="4779935"/>
            <a:ext cx="306708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Staffing revenue recovery</a:t>
            </a:r>
            <a:endParaRPr lang="en-US" sz="1000" dirty="0"/>
          </a:p>
        </p:txBody>
      </p:sp>
      <p:sp>
        <p:nvSpPr>
          <p:cNvPr id="49" name="Object 49"/>
          <p:cNvSpPr txBox="1"/>
          <p:nvPr/>
        </p:nvSpPr>
        <p:spPr>
          <a:xfrm>
            <a:off x="4267962" y="4808464"/>
            <a:ext cx="561259"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+5%</a:t>
            </a:r>
            <a:endParaRPr lang="en-US" sz="2050" dirty="0"/>
          </a:p>
        </p:txBody>
      </p:sp>
      <p:sp>
        <p:nvSpPr>
          <p:cNvPr id="50" name="Object 50"/>
          <p:cNvSpPr txBox="1"/>
          <p:nvPr/>
        </p:nvSpPr>
        <p:spPr>
          <a:xfrm>
            <a:off x="590520" y="522287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Median staffing revenue grew 5% in August, the fastest growth since late 2022 (</a:t>
            </a:r>
            <a:r>
              <a:rPr lang="en-US" sz="850" u="sng" dirty="0">
                <a:solidFill>
                  <a:srgbClr val="8C6239"/>
                </a:solidFill>
                <a:latin typeface="+mn-lt" pitchFamily="34" charset="0"/>
                <a:hlinkClick r:id="rId18"/>
              </a:rPr>
              <a:t>Staffing Industry Analysts</a:t>
            </a:r>
            <a:r>
              <a:rPr lang="en-US" sz="850" dirty="0">
                <a:solidFill>
                  <a:srgbClr val="333231"/>
                </a:solidFill>
                <a:latin typeface="+mn-lt" pitchFamily="34" charset="0"/>
              </a:rPr>
              <a:t>). Temporary help employment remains 21% below its March 2022 peak (</a:t>
            </a:r>
            <a:r>
              <a:rPr lang="en-US" sz="850" u="sng" dirty="0">
                <a:solidFill>
                  <a:srgbClr val="8C6239"/>
                </a:solidFill>
                <a:latin typeface="+mn-lt" pitchFamily="34" charset="0"/>
                <a:hlinkClick r:id="rId19"/>
              </a:rPr>
              <a:t>BLS via FRED</a:t>
            </a:r>
            <a:r>
              <a:rPr lang="en-US" sz="850" dirty="0">
                <a:solidFill>
                  <a:srgbClr val="333231"/>
                </a:solidFill>
                <a:latin typeface="+mn-lt" pitchFamily="34" charset="0"/>
              </a:rPr>
              <a:t>).</a:t>
            </a:r>
            <a:endParaRPr lang="en-US" sz="850" dirty="0"/>
          </a:p>
        </p:txBody>
      </p:sp>
      <p:sp>
        <p:nvSpPr>
          <p:cNvPr id="51" name="Object 51"/>
          <p:cNvSpPr/>
          <p:nvPr/>
        </p:nvSpPr>
        <p:spPr>
          <a:xfrm>
            <a:off x="590520" y="5848320"/>
            <a:ext cx="4181460" cy="9510"/>
          </a:xfrm>
          <a:prstGeom prst="rect">
            <a:avLst/>
          </a:prstGeom>
          <a:solidFill>
            <a:srgbClr val="E3DCD3"/>
          </a:solidFill>
          <a:ln/>
        </p:spPr>
        <p:txBody>
          <a:bodyPr/>
          <a:lstStyle/>
          <a:p>
            <a:endParaRPr/>
          </a:p>
        </p:txBody>
      </p:sp>
      <p:sp>
        <p:nvSpPr>
          <p:cNvPr id="52" name="Object 52"/>
          <p:cNvSpPr txBox="1"/>
          <p:nvPr/>
        </p:nvSpPr>
        <p:spPr>
          <a:xfrm>
            <a:off x="590520" y="5919826"/>
            <a:ext cx="4014765"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Skilled trades, engineering, and healthcare placements are drawing the acquirers.</a:t>
            </a:r>
            <a:endParaRPr lang="en-US" sz="950" dirty="0"/>
          </a:p>
        </p:txBody>
      </p:sp>
      <p:sp>
        <p:nvSpPr>
          <p:cNvPr id="53" name="Object 53"/>
          <p:cNvSpPr/>
          <p:nvPr/>
        </p:nvSpPr>
        <p:spPr>
          <a:xfrm>
            <a:off x="5114971" y="4622749"/>
            <a:ext cx="4524360" cy="1568470"/>
          </a:xfrm>
          <a:prstGeom prst="rect">
            <a:avLst/>
          </a:prstGeom>
          <a:solidFill>
            <a:srgbClr val="FAF7F3"/>
          </a:solidFill>
          <a:ln/>
        </p:spPr>
        <p:txBody>
          <a:bodyPr/>
          <a:lstStyle/>
          <a:p>
            <a:endParaRPr/>
          </a:p>
        </p:txBody>
      </p:sp>
      <p:sp>
        <p:nvSpPr>
          <p:cNvPr id="54" name="Object 54"/>
          <p:cNvSpPr/>
          <p:nvPr/>
        </p:nvSpPr>
        <p:spPr>
          <a:xfrm>
            <a:off x="5114971" y="4622749"/>
            <a:ext cx="4524360" cy="28621"/>
          </a:xfrm>
          <a:prstGeom prst="rect">
            <a:avLst/>
          </a:prstGeom>
          <a:solidFill>
            <a:srgbClr val="B68757"/>
          </a:solidFill>
          <a:ln/>
        </p:spPr>
        <p:txBody>
          <a:bodyPr/>
          <a:lstStyle/>
          <a:p>
            <a:endParaRPr/>
          </a:p>
        </p:txBody>
      </p:sp>
      <p:sp>
        <p:nvSpPr>
          <p:cNvPr id="55" name="Object 55"/>
          <p:cNvSpPr/>
          <p:nvPr/>
        </p:nvSpPr>
        <p:spPr>
          <a:xfrm>
            <a:off x="5286421" y="4765670"/>
            <a:ext cx="381030" cy="381030"/>
          </a:xfrm>
          <a:prstGeom prst="ellipse">
            <a:avLst/>
          </a:prstGeom>
          <a:solidFill>
            <a:srgbClr val="1B1A1A"/>
          </a:solidFill>
          <a:ln/>
        </p:spPr>
        <p:txBody>
          <a:bodyPr/>
          <a:lstStyle/>
          <a:p>
            <a:endParaRPr/>
          </a:p>
        </p:txBody>
      </p:sp>
      <p:pic>
        <p:nvPicPr>
          <p:cNvPr id="56" name="Object 56"/>
          <p:cNvPicPr>
            <a:picLocks noChangeAspect="1"/>
          </p:cNvPicPr>
          <p:nvPr/>
        </p:nvPicPr>
        <p:blipFill>
          <a:blip r:embed="rId20"/>
          <a:stretch>
            <a:fillRect/>
          </a:stretch>
        </p:blipFill>
        <p:spPr>
          <a:xfrm>
            <a:off x="5353080" y="4832330"/>
            <a:ext cx="247620" cy="247620"/>
          </a:xfrm>
          <a:prstGeom prst="rect">
            <a:avLst/>
          </a:prstGeom>
        </p:spPr>
      </p:pic>
      <p:sp>
        <p:nvSpPr>
          <p:cNvPr id="57" name="Object 57"/>
          <p:cNvSpPr txBox="1"/>
          <p:nvPr/>
        </p:nvSpPr>
        <p:spPr>
          <a:xfrm>
            <a:off x="5781660" y="4779935"/>
            <a:ext cx="284799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Advertising demand and AI</a:t>
            </a:r>
            <a:endParaRPr lang="en-US" sz="1000" dirty="0"/>
          </a:p>
        </p:txBody>
      </p:sp>
      <p:sp>
        <p:nvSpPr>
          <p:cNvPr id="58" name="Object 58"/>
          <p:cNvSpPr txBox="1"/>
          <p:nvPr/>
        </p:nvSpPr>
        <p:spPr>
          <a:xfrm>
            <a:off x="8743036" y="4808464"/>
            <a:ext cx="781903"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+9.6%</a:t>
            </a:r>
            <a:endParaRPr lang="en-US" sz="2050" dirty="0"/>
          </a:p>
        </p:txBody>
      </p:sp>
      <p:sp>
        <p:nvSpPr>
          <p:cNvPr id="59" name="Object 59"/>
          <p:cNvSpPr txBox="1"/>
          <p:nvPr/>
        </p:nvSpPr>
        <p:spPr>
          <a:xfrm>
            <a:off x="5286421" y="522287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US advertising revenue is forecast to grow 9.6% in 2026 (</a:t>
            </a:r>
            <a:r>
              <a:rPr lang="en-US" sz="850" u="sng" dirty="0">
                <a:solidFill>
                  <a:srgbClr val="8C6239"/>
                </a:solidFill>
                <a:latin typeface="+mn-lt" pitchFamily="34" charset="0"/>
                <a:hlinkClick r:id="rId21"/>
              </a:rPr>
              <a:t>MediaPost composite</a:t>
            </a:r>
            <a:r>
              <a:rPr lang="en-US" sz="850" dirty="0">
                <a:solidFill>
                  <a:srgbClr val="333231"/>
                </a:solidFill>
                <a:latin typeface="+mn-lt" pitchFamily="34" charset="0"/>
              </a:rPr>
              <a:t>). Marketing budgets hold at 7.8% of company revenue, with 15.3% of those budgets directed to AI (</a:t>
            </a:r>
            <a:r>
              <a:rPr lang="en-US" sz="850" u="sng" dirty="0">
                <a:solidFill>
                  <a:srgbClr val="8C6239"/>
                </a:solidFill>
                <a:latin typeface="+mn-lt" pitchFamily="34" charset="0"/>
                <a:hlinkClick r:id="rId22"/>
              </a:rPr>
              <a:t>Gartner via Marketing Dive</a:t>
            </a:r>
            <a:r>
              <a:rPr lang="en-US" sz="850" dirty="0">
                <a:solidFill>
                  <a:srgbClr val="333231"/>
                </a:solidFill>
                <a:latin typeface="+mn-lt" pitchFamily="34" charset="0"/>
              </a:rPr>
              <a:t>).</a:t>
            </a:r>
            <a:endParaRPr lang="en-US" sz="850" dirty="0"/>
          </a:p>
        </p:txBody>
      </p:sp>
      <p:sp>
        <p:nvSpPr>
          <p:cNvPr id="60" name="Object 60"/>
          <p:cNvSpPr/>
          <p:nvPr/>
        </p:nvSpPr>
        <p:spPr>
          <a:xfrm>
            <a:off x="5286421" y="5848320"/>
            <a:ext cx="4181460" cy="9510"/>
          </a:xfrm>
          <a:prstGeom prst="rect">
            <a:avLst/>
          </a:prstGeom>
          <a:solidFill>
            <a:srgbClr val="E3DCD3"/>
          </a:solidFill>
          <a:ln/>
        </p:spPr>
        <p:txBody>
          <a:bodyPr/>
          <a:lstStyle/>
          <a:p>
            <a:endParaRPr/>
          </a:p>
        </p:txBody>
      </p:sp>
      <p:sp>
        <p:nvSpPr>
          <p:cNvPr id="61" name="Object 61"/>
          <p:cNvSpPr txBox="1"/>
          <p:nvPr/>
        </p:nvSpPr>
        <p:spPr>
          <a:xfrm>
            <a:off x="5286421" y="5919826"/>
            <a:ext cx="3770528"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Object 62"/>
          <p:cNvSpPr/>
          <p:nvPr/>
        </p:nvSpPr>
        <p:spPr>
          <a:xfrm>
            <a:off x="419070" y="6324630"/>
            <a:ext cx="9220170" cy="609630"/>
          </a:xfrm>
          <a:prstGeom prst="rect">
            <a:avLst/>
          </a:prstGeom>
          <a:solidFill>
            <a:srgbClr val="1B1A1A"/>
          </a:solidFill>
          <a:ln/>
        </p:spPr>
        <p:txBody>
          <a:bodyPr/>
          <a:lstStyle/>
          <a:p>
            <a:endParaRPr/>
          </a:p>
        </p:txBody>
      </p:sp>
      <p:sp>
        <p:nvSpPr>
          <p:cNvPr id="63" name="Object 63"/>
          <p:cNvSpPr txBox="1"/>
          <p:nvPr/>
        </p:nvSpPr>
        <p:spPr>
          <a:xfrm>
            <a:off x="628650" y="6491326"/>
            <a:ext cx="1066830" cy="266730"/>
          </a:xfrm>
          <a:prstGeom prst="rect">
            <a:avLst/>
          </a:prstGeom>
          <a:noFill/>
          <a:ln/>
        </p:spPr>
        <p:txBody>
          <a:bodyPr wrap="square" lIns="0" tIns="0" rIns="0" bIns="0" rtlCol="0" anchor="t"/>
          <a:lstStyle/>
          <a:p>
            <a:pPr marL="0" indent="0" algn="l">
              <a:lnSpc>
                <a:spcPts val="1050"/>
              </a:lnSpc>
              <a:buNone/>
            </a:pPr>
            <a:r>
              <a:rPr lang="en-US" sz="700" b="1" kern="0" spc="200" dirty="0">
                <a:solidFill>
                  <a:srgbClr val="D3AE84"/>
                </a:solidFill>
                <a:latin typeface="+mn-lt" pitchFamily="34" charset="0"/>
              </a:rPr>
              <a:t>WHAT IT MEANS</a:t>
            </a:r>
            <a:endParaRPr lang="en-US" sz="700" dirty="0"/>
          </a:p>
          <a:p>
            <a:pPr marL="0" indent="0" algn="l">
              <a:lnSpc>
                <a:spcPts val="1050"/>
              </a:lnSpc>
              <a:buNone/>
            </a:pPr>
            <a:r>
              <a:rPr lang="en-US" sz="700" b="1" kern="0" spc="200" dirty="0">
                <a:solidFill>
                  <a:srgbClr val="D3AE84"/>
                </a:solidFill>
                <a:latin typeface="+mn-lt" pitchFamily="34" charset="0"/>
              </a:rPr>
              <a:t>FOR OWNERS</a:t>
            </a:r>
            <a:endParaRPr lang="en-US" sz="700" dirty="0"/>
          </a:p>
        </p:txBody>
      </p:sp>
      <p:sp>
        <p:nvSpPr>
          <p:cNvPr id="64" name="Object 64"/>
          <p:cNvSpPr/>
          <p:nvPr/>
        </p:nvSpPr>
        <p:spPr>
          <a:xfrm>
            <a:off x="1885950" y="6438930"/>
            <a:ext cx="9510" cy="381030"/>
          </a:xfrm>
          <a:prstGeom prst="ellipse">
            <a:avLst/>
          </a:prstGeom>
          <a:solidFill>
            <a:srgbClr val="FFFFFF">
              <a:alpha val="20000"/>
            </a:srgbClr>
          </a:solidFill>
          <a:ln/>
        </p:spPr>
        <p:txBody>
          <a:bodyPr/>
          <a:lstStyle/>
          <a:p>
            <a:endParaRPr/>
          </a:p>
        </p:txBody>
      </p:sp>
      <p:sp>
        <p:nvSpPr>
          <p:cNvPr id="65" name="Object 65"/>
          <p:cNvSpPr txBox="1"/>
          <p:nvPr/>
        </p:nvSpPr>
        <p:spPr>
          <a:xfrm>
            <a:off x="2086021" y="6353160"/>
            <a:ext cx="7343821" cy="542971"/>
          </a:xfrm>
          <a:prstGeom prst="rect">
            <a:avLst/>
          </a:prstGeom>
          <a:noFill/>
          <a:ln/>
        </p:spPr>
        <p:txBody>
          <a:bodyPr wrap="square" lIns="0" tIns="0" rIns="0" bIns="0" rtlCol="0" anchor="t"/>
          <a:lstStyle/>
          <a:p>
            <a:pPr marL="0" indent="0" algn="l">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r>
              <a:rPr lang="en-US" sz="1000" u="sng" dirty="0">
                <a:solidFill>
                  <a:srgbClr val="D3AE84"/>
                </a:solidFill>
                <a:latin typeface="+mj-lt" pitchFamily="34" charset="0"/>
                <a:hlinkClick r:id="rId10"/>
              </a:rPr>
              <a:t>GF Data via ACG</a:t>
            </a:r>
            <a:r>
              <a:rPr lang="en-US" sz="1000" dirty="0">
                <a:solidFill>
                  <a:srgbClr val="FFFFFF"/>
                </a:solidFill>
                <a:latin typeface="+mj-lt" pitchFamily="34" charset="0"/>
              </a:rPr>
              <a:t>), the average multiple on sales of $5 million to $50 million reached 5.8x (</a:t>
            </a:r>
            <a:r>
              <a:rPr lang="en-US" sz="1000" u="sng" dirty="0">
                <a:solidFill>
                  <a:srgbClr val="D3AE84"/>
                </a:solidFill>
                <a:latin typeface="+mj-lt" pitchFamily="34" charset="0"/>
                <a:hlinkClick r:id="rId23"/>
              </a:rPr>
              <a:t>IBBA and M&amp;A Source</a:t>
            </a:r>
            <a:r>
              <a:rPr lang="en-US" sz="1000" dirty="0">
                <a:solidFill>
                  <a:srgbClr val="FFFFFF"/>
                </a:solidFill>
                <a:latin typeface="+mj-lt" pitchFamily="34" charset="0"/>
              </a:rPr>
              <a:t>), and 87% of sales above $5 million drew three or more offers (</a:t>
            </a:r>
            <a:r>
              <a:rPr lang="en-US" sz="1000" u="sng" dirty="0">
                <a:solidFill>
                  <a:srgbClr val="D3AE84"/>
                </a:solidFill>
                <a:latin typeface="+mj-lt" pitchFamily="34" charset="0"/>
                <a:hlinkClick r:id="rId24"/>
              </a:rPr>
              <a:t>IBBA and M&amp;A Source release</a:t>
            </a:r>
            <a:r>
              <a:rPr lang="en-US" sz="1000" dirty="0">
                <a:solidFill>
                  <a:srgbClr val="FFFFFF"/>
                </a:solidFill>
                <a:latin typeface="+mj-lt" pitchFamily="34" charset="0"/>
              </a:rPr>
              <a:t>).</a:t>
            </a:r>
            <a:endParaRPr lang="en-US" sz="1000" dirty="0"/>
          </a:p>
        </p:txBody>
      </p:sp>
      <p:sp>
        <p:nvSpPr>
          <p:cNvPr id="66" name="Object 66"/>
          <p:cNvSpPr/>
          <p:nvPr/>
        </p:nvSpPr>
        <p:spPr>
          <a:xfrm>
            <a:off x="419070" y="7029450"/>
            <a:ext cx="9220170" cy="9510"/>
          </a:xfrm>
          <a:prstGeom prst="ellipse">
            <a:avLst/>
          </a:prstGeom>
          <a:solidFill>
            <a:srgbClr val="E3DCD3"/>
          </a:solidFill>
          <a:ln/>
        </p:spPr>
        <p:txBody>
          <a:bodyPr/>
          <a:lstStyle/>
          <a:p>
            <a:endParaRPr/>
          </a:p>
        </p:txBody>
      </p:sp>
      <p:pic>
        <p:nvPicPr>
          <p:cNvPr id="67" name="Object 67" descr="Benchmark International"/>
          <p:cNvPicPr>
            <a:picLocks noChangeAspect="1"/>
          </p:cNvPicPr>
          <p:nvPr/>
        </p:nvPicPr>
        <p:blipFill>
          <a:blip r:embed="rId25"/>
          <a:stretch>
            <a:fillRect/>
          </a:stretch>
        </p:blipFill>
        <p:spPr>
          <a:xfrm>
            <a:off x="419070" y="7143750"/>
            <a:ext cx="914400" cy="171450"/>
          </a:xfrm>
          <a:prstGeom prst="rect">
            <a:avLst/>
          </a:prstGeom>
        </p:spPr>
      </p:pic>
      <p:sp>
        <p:nvSpPr>
          <p:cNvPr id="68" name="Object 6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Figures as of October 7, 2026. The 10-year Treasury figure is the monthly average for September 2026. GF Data figures are averages on trailing adjusted EBITDA. EBITDA is earnings before interest, taxes, depreciation, and amortization.</a:t>
            </a:r>
            <a:endParaRPr lang="en-US" sz="700" dirty="0"/>
          </a:p>
        </p:txBody>
      </p:sp>
      <p:sp>
        <p:nvSpPr>
          <p:cNvPr id="69" name="Object 69"/>
          <p:cNvSpPr txBox="1"/>
          <p:nvPr/>
        </p:nvSpPr>
        <p:spPr>
          <a:xfrm>
            <a:off x="9497050"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70816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Our View</a:t>
            </a:r>
            <a:endParaRPr lang="en-US" sz="2050" dirty="0"/>
          </a:p>
        </p:txBody>
      </p:sp>
      <p:sp>
        <p:nvSpPr>
          <p:cNvPr id="6" name="Object 6"/>
          <p:cNvSpPr txBox="1"/>
          <p:nvPr/>
        </p:nvSpPr>
        <p:spPr>
          <a:xfrm>
            <a:off x="419070" y="883402"/>
            <a:ext cx="679508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Expectations for the fourth quarter and the first half of 2027</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pic>
        <p:nvPicPr>
          <p:cNvPr id="67" name="Object 67" descr="Benchmark International"/>
          <p:cNvPicPr>
            <a:picLocks noChangeAspect="1"/>
          </p:cNvPicPr>
          <p:nvPr/>
        </p:nvPicPr>
        <p:blipFill>
          <a:blip r:embed="rId2"/>
          <a:stretch>
            <a:fillRect/>
          </a:stretch>
        </p:blipFill>
        <p:spPr>
          <a:xfrm>
            <a:off x="419070" y="7143750"/>
            <a:ext cx="914400" cy="171450"/>
          </a:xfrm>
          <a:prstGeom prst="rect">
            <a:avLst/>
          </a:prstGeom>
        </p:spPr>
      </p:pic>
      <p:sp>
        <p:nvSpPr>
          <p:cNvPr id="68" name="Object 6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Expectations are Benchmark International's judgments, drawn from the data in this report, and the multiple ranges and the cash-at-close trend do not come from published figures.</a:t>
            </a:r>
            <a:endParaRPr lang="en-US" sz="700" dirty="0"/>
          </a:p>
        </p:txBody>
      </p:sp>
      <p:sp>
        <p:nvSpPr>
          <p:cNvPr id="69" name="Object 69"/>
          <p:cNvSpPr txBox="1"/>
          <p:nvPr/>
        </p:nvSpPr>
        <p:spPr>
          <a:xfrm>
            <a:off x="9497050"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06</a:t>
            </a:r>
            <a:endParaRPr lang="en-US" sz="700" dirty="0"/>
          </a:p>
        </p:txBody>
      </p:sp>
      <p:sp>
        <p:nvSpPr>
          <p:cNvPr id="70" name="Object 70"/>
          <p:cNvSpPr/>
          <p:nvPr/>
        </p:nvSpPr>
        <p:spPr>
          <a:xfrm>
            <a:off x="419070" y="1238280"/>
            <a:ext cx="3400000" cy="5700000"/>
          </a:xfrm>
          <a:prstGeom prst="rect">
            <a:avLst/>
          </a:prstGeom>
          <a:solidFill>
            <a:srgbClr val="1B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bject 71"/>
          <p:cNvSpPr/>
          <p:nvPr/>
        </p:nvSpPr>
        <p:spPr>
          <a:xfrm>
            <a:off x="419070" y="1238280"/>
            <a:ext cx="3400000" cy="28621"/>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bject 72"/>
          <p:cNvSpPr txBox="1"/>
          <p:nvPr/>
        </p:nvSpPr>
        <p:spPr>
          <a:xfrm>
            <a:off x="647670" y="1466880"/>
            <a:ext cx="2942800" cy="140000"/>
          </a:xfrm>
          <a:prstGeom prst="rect">
            <a:avLst/>
          </a:prstGeom>
          <a:noFill/>
        </p:spPr>
        <p:txBody>
          <a:bodyPr wrap="square" lIns="0" tIns="0" rIns="0" bIns="0" anchor="t">
            <a:spAutoFit/>
          </a:bodyPr>
          <a:lstStyle/>
          <a:p>
            <a:pPr algn="l"/>
            <a:r>
              <a:rPr sz="700" b="1" i="0" spc="200">
                <a:solidFill>
                  <a:srgbClr val="D3AE84"/>
                </a:solidFill>
                <a:latin typeface="+mn-lt"/>
              </a:rPr>
              <a:t>OUR VIEW</a:t>
            </a:r>
          </a:p>
        </p:txBody>
      </p:sp>
      <p:sp>
        <p:nvSpPr>
          <p:cNvPr id="73" name="Object 73"/>
          <p:cNvSpPr txBox="1"/>
          <p:nvPr/>
        </p:nvSpPr>
        <p:spPr>
          <a:xfrm>
            <a:off x="647670" y="1688280"/>
            <a:ext cx="2942800" cy="1250000"/>
          </a:xfrm>
          <a:prstGeom prst="rect">
            <a:avLst/>
          </a:prstGeom>
          <a:noFill/>
        </p:spPr>
        <p:txBody>
          <a:bodyPr wrap="square" lIns="0" tIns="0" rIns="0" bIns="0" anchor="t">
            <a:spAutoFit/>
          </a:bodyPr>
          <a:lstStyle/>
          <a:p>
            <a:pPr algn="l">
              <a:lnSpc>
                <a:spcPct val="108000"/>
              </a:lnSpc>
            </a:pPr>
            <a:r>
              <a:rPr sz="1650" b="1" i="0">
                <a:solidFill>
                  <a:srgbClr val="FFFFFF"/>
                </a:solidFill>
                <a:latin typeface="+mj-lt"/>
              </a:rPr>
              <a:t>The lower middle market has decoupled from the headline deal market.</a:t>
            </a:r>
          </a:p>
        </p:txBody>
      </p:sp>
      <p:sp>
        <p:nvSpPr>
          <p:cNvPr id="74" name="Object 74"/>
          <p:cNvSpPr txBox="1"/>
          <p:nvPr/>
        </p:nvSpPr>
        <p:spPr>
          <a:xfrm>
            <a:off x="647670" y="2988280"/>
            <a:ext cx="2942800" cy="2250000"/>
          </a:xfrm>
          <a:prstGeom prst="rect">
            <a:avLst/>
          </a:prstGeom>
          <a:noFill/>
        </p:spPr>
        <p:txBody>
          <a:bodyPr wrap="square" lIns="0" tIns="0" rIns="0" bIns="0" anchor="t">
            <a:spAutoFit/>
          </a:bodyPr>
          <a:lstStyle/>
          <a:p>
            <a:pPr algn="l">
              <a:lnSpc>
                <a:spcPct val="125000"/>
              </a:lnSpc>
            </a:pPr>
            <a:r>
              <a:rPr sz="850" b="0" i="0">
                <a:solidFill>
                  <a:srgbClr val="E9E4DD"/>
                </a:solidFill>
                <a:latin typeface="+mn-lt"/>
              </a:rPr>
              <a:t>Global M&amp;A fell 41% from the second quarter on the rate move, but the decline sits in the largest transactions. Three-quarters of buyouts are add-ons financed off platform facilities and sponsor equity committed before the Fed hike, and the sub-$50 million market printed its highest multiple since early 2022 with three or more offers on 87% of sales above $5 million. We expect that spread to persist through the first half of 2027: GF Data's averages drift toward the mid-6x range as leverage keeps compressing, while business services transactions under $50 million hold between 5.5x and 6.0x, because the buyers are consolidators pricing route density and contract renewals rather than the cost of debt.</a:t>
            </a:r>
          </a:p>
        </p:txBody>
      </p:sp>
      <p:sp>
        <p:nvSpPr>
          <p:cNvPr id="75" name="Object 75"/>
          <p:cNvSpPr/>
          <p:nvPr/>
        </p:nvSpPr>
        <p:spPr>
          <a:xfrm>
            <a:off x="647670" y="538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bject 76"/>
          <p:cNvSpPr txBox="1"/>
          <p:nvPr/>
        </p:nvSpPr>
        <p:spPr>
          <a:xfrm>
            <a:off x="647670" y="5458280"/>
            <a:ext cx="1500000" cy="300000"/>
          </a:xfrm>
          <a:prstGeom prst="rect">
            <a:avLst/>
          </a:prstGeom>
          <a:noFill/>
        </p:spPr>
        <p:txBody>
          <a:bodyPr wrap="square" lIns="0" tIns="0" rIns="0" bIns="0" anchor="t">
            <a:spAutoFit/>
          </a:bodyPr>
          <a:lstStyle/>
          <a:p>
            <a:pPr algn="l"/>
            <a:r>
              <a:rPr sz="1300" b="1" i="0">
                <a:solidFill>
                  <a:srgbClr val="D3AE84"/>
                </a:solidFill>
                <a:latin typeface="+mj-lt"/>
              </a:rPr>
              <a:t>3.75% to 4.00%</a:t>
            </a:r>
          </a:p>
        </p:txBody>
      </p:sp>
      <p:sp>
        <p:nvSpPr>
          <p:cNvPr id="77" name="Object 77"/>
          <p:cNvSpPr txBox="1"/>
          <p:nvPr/>
        </p:nvSpPr>
        <p:spPr>
          <a:xfrm>
            <a:off x="2197670" y="548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Federal funds target after the September 16 increase</a:t>
            </a:r>
          </a:p>
        </p:txBody>
      </p:sp>
      <p:sp>
        <p:nvSpPr>
          <p:cNvPr id="78" name="Object 78"/>
          <p:cNvSpPr/>
          <p:nvPr/>
        </p:nvSpPr>
        <p:spPr>
          <a:xfrm>
            <a:off x="647670" y="586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bject 79"/>
          <p:cNvSpPr txBox="1"/>
          <p:nvPr/>
        </p:nvSpPr>
        <p:spPr>
          <a:xfrm>
            <a:off x="647670" y="5938280"/>
            <a:ext cx="1500000" cy="300000"/>
          </a:xfrm>
          <a:prstGeom prst="rect">
            <a:avLst/>
          </a:prstGeom>
          <a:noFill/>
        </p:spPr>
        <p:txBody>
          <a:bodyPr wrap="square" lIns="0" tIns="0" rIns="0" bIns="0" anchor="t">
            <a:spAutoFit/>
          </a:bodyPr>
          <a:lstStyle/>
          <a:p>
            <a:pPr algn="l"/>
            <a:r>
              <a:rPr sz="1300" b="1" i="0">
                <a:solidFill>
                  <a:srgbClr val="D3AE84"/>
                </a:solidFill>
                <a:latin typeface="+mj-lt"/>
              </a:rPr>
              <a:t>2.9x</a:t>
            </a:r>
          </a:p>
        </p:txBody>
      </p:sp>
      <p:sp>
        <p:nvSpPr>
          <p:cNvPr id="80" name="Object 80"/>
          <p:cNvSpPr txBox="1"/>
          <p:nvPr/>
        </p:nvSpPr>
        <p:spPr>
          <a:xfrm>
            <a:off x="2197670" y="596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Average total debt on platform deals, down from 3.4x</a:t>
            </a:r>
          </a:p>
        </p:txBody>
      </p:sp>
      <p:sp>
        <p:nvSpPr>
          <p:cNvPr id="81" name="Object 81"/>
          <p:cNvSpPr/>
          <p:nvPr/>
        </p:nvSpPr>
        <p:spPr>
          <a:xfrm>
            <a:off x="647670" y="634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bject 82"/>
          <p:cNvSpPr txBox="1"/>
          <p:nvPr/>
        </p:nvSpPr>
        <p:spPr>
          <a:xfrm>
            <a:off x="647670" y="6418280"/>
            <a:ext cx="1500000" cy="300000"/>
          </a:xfrm>
          <a:prstGeom prst="rect">
            <a:avLst/>
          </a:prstGeom>
          <a:noFill/>
        </p:spPr>
        <p:txBody>
          <a:bodyPr wrap="square" lIns="0" tIns="0" rIns="0" bIns="0" anchor="t">
            <a:spAutoFit/>
          </a:bodyPr>
          <a:lstStyle/>
          <a:p>
            <a:pPr algn="l"/>
            <a:r>
              <a:rPr sz="1300" b="1" i="0">
                <a:solidFill>
                  <a:srgbClr val="D3AE84"/>
                </a:solidFill>
                <a:latin typeface="+mj-lt"/>
              </a:rPr>
              <a:t>87%</a:t>
            </a:r>
          </a:p>
        </p:txBody>
      </p:sp>
      <p:sp>
        <p:nvSpPr>
          <p:cNvPr id="83" name="Object 83"/>
          <p:cNvSpPr txBox="1"/>
          <p:nvPr/>
        </p:nvSpPr>
        <p:spPr>
          <a:xfrm>
            <a:off x="2197670" y="644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Sales above $5 million that drew three or more offers</a:t>
            </a:r>
          </a:p>
        </p:txBody>
      </p:sp>
      <p:sp>
        <p:nvSpPr>
          <p:cNvPr id="84" name="Object 84"/>
          <p:cNvSpPr/>
          <p:nvPr/>
        </p:nvSpPr>
        <p:spPr>
          <a:xfrm>
            <a:off x="4038600" y="123828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bject 85"/>
          <p:cNvSpPr txBox="1"/>
          <p:nvPr/>
        </p:nvSpPr>
        <p:spPr>
          <a:xfrm>
            <a:off x="4038600" y="1333530"/>
            <a:ext cx="5600640" cy="140000"/>
          </a:xfrm>
          <a:prstGeom prst="rect">
            <a:avLst/>
          </a:prstGeom>
          <a:noFill/>
        </p:spPr>
        <p:txBody>
          <a:bodyPr wrap="square" lIns="0" tIns="0" rIns="0" bIns="0" anchor="t">
            <a:spAutoFit/>
          </a:bodyPr>
          <a:lstStyle/>
          <a:p>
            <a:pPr algn="l"/>
            <a:r>
              <a:rPr sz="700" b="1" i="0" spc="200">
                <a:solidFill>
                  <a:srgbClr val="8C6239"/>
                </a:solidFill>
                <a:latin typeface="+mn-lt"/>
              </a:rPr>
              <a:t>STRUCTURE BEFORE PRICE</a:t>
            </a:r>
          </a:p>
        </p:txBody>
      </p:sp>
      <p:sp>
        <p:nvSpPr>
          <p:cNvPr id="86" name="Object 86"/>
          <p:cNvSpPr txBox="1"/>
          <p:nvPr/>
        </p:nvSpPr>
        <p:spPr>
          <a:xfrm>
            <a:off x="4038600" y="1538280"/>
            <a:ext cx="5600640" cy="65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With platform leverage at 2.9x and senior debt priced at 7.8%, buyers close the gap with rollover equity, earnouts, and seller notes rather than lower headline numbers. Cash at close, now 83% to 92%, moves toward the low end of that range in 2027, so the owners who do best decide early how much deferred consideration they will accept and on what metric.</a:t>
            </a:r>
          </a:p>
        </p:txBody>
      </p:sp>
      <p:sp>
        <p:nvSpPr>
          <p:cNvPr id="87" name="Object 87"/>
          <p:cNvSpPr/>
          <p:nvPr/>
        </p:nvSpPr>
        <p:spPr>
          <a:xfrm>
            <a:off x="4038600" y="224000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bject 88"/>
          <p:cNvSpPr txBox="1"/>
          <p:nvPr/>
        </p:nvSpPr>
        <p:spPr>
          <a:xfrm>
            <a:off x="4038600" y="2335250"/>
            <a:ext cx="5600640" cy="140000"/>
          </a:xfrm>
          <a:prstGeom prst="rect">
            <a:avLst/>
          </a:prstGeom>
          <a:noFill/>
        </p:spPr>
        <p:txBody>
          <a:bodyPr wrap="square" lIns="0" tIns="0" rIns="0" bIns="0" anchor="t">
            <a:spAutoFit/>
          </a:bodyPr>
          <a:lstStyle/>
          <a:p>
            <a:pPr algn="l"/>
            <a:r>
              <a:rPr sz="700" b="1" i="0" spc="200">
                <a:solidFill>
                  <a:srgbClr val="8C6239"/>
                </a:solidFill>
                <a:latin typeface="+mn-lt"/>
              </a:rPr>
              <a:t>TIMING</a:t>
            </a:r>
          </a:p>
        </p:txBody>
      </p:sp>
      <p:sp>
        <p:nvSpPr>
          <p:cNvPr id="89" name="Object 89"/>
          <p:cNvSpPr txBox="1"/>
          <p:nvPr/>
        </p:nvSpPr>
        <p:spPr>
          <a:xfrm>
            <a:off x="4038600" y="2540000"/>
            <a:ext cx="5600640" cy="65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Fed raised rates into a labor market adding 66,000 jobs a month, with unemployment at 4.2% and engineering executives putting recession odds at 41%. An owner with a renewal book or funded backlog has a better story in the first quarter of 2027 than after a softer year shows up in trailing figures, which argues for preparing now and going to market early in the new year.</a:t>
            </a:r>
          </a:p>
        </p:txBody>
      </p:sp>
      <p:sp>
        <p:nvSpPr>
          <p:cNvPr id="90" name="Object 90"/>
          <p:cNvSpPr/>
          <p:nvPr/>
        </p:nvSpPr>
        <p:spPr>
          <a:xfrm>
            <a:off x="4038600" y="325000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bject 91"/>
          <p:cNvSpPr txBox="1"/>
          <p:nvPr/>
        </p:nvSpPr>
        <p:spPr>
          <a:xfrm>
            <a:off x="4038600" y="3345250"/>
            <a:ext cx="5600640" cy="140000"/>
          </a:xfrm>
          <a:prstGeom prst="rect">
            <a:avLst/>
          </a:prstGeom>
          <a:noFill/>
        </p:spPr>
        <p:txBody>
          <a:bodyPr wrap="square" lIns="0" tIns="0" rIns="0" bIns="0" anchor="t">
            <a:spAutoFit/>
          </a:bodyPr>
          <a:lstStyle/>
          <a:p>
            <a:pPr algn="l"/>
            <a:r>
              <a:rPr sz="700" b="1" i="0" spc="200">
                <a:solidFill>
                  <a:srgbClr val="8C6239"/>
                </a:solidFill>
                <a:latin typeface="+mn-lt"/>
              </a:rPr>
              <a:t>BY SECTOR</a:t>
            </a:r>
          </a:p>
        </p:txBody>
      </p:sp>
      <p:sp>
        <p:nvSpPr>
          <p:cNvPr id="92" name="Object 92"/>
          <p:cNvSpPr txBox="1"/>
          <p:nvPr/>
        </p:nvSpPr>
        <p:spPr>
          <a:xfrm>
            <a:off x="4038600" y="3550000"/>
            <a:ext cx="1200000" cy="6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Commercial &amp; facility</a:t>
            </a:r>
          </a:p>
        </p:txBody>
      </p:sp>
      <p:sp>
        <p:nvSpPr>
          <p:cNvPr id="93" name="Object 93"/>
          <p:cNvSpPr txBox="1"/>
          <p:nvPr/>
        </p:nvSpPr>
        <p:spPr>
          <a:xfrm>
            <a:off x="5338600" y="3550000"/>
            <a:ext cx="4300640" cy="6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Fire and life safety stays the most contested corner of business services, and the premium narrows to inspection-led, contracted revenue with company-held licenses, which is what Pye-Barker, APi, and AI Fire are paying for.</a:t>
            </a:r>
          </a:p>
        </p:txBody>
      </p:sp>
      <p:sp>
        <p:nvSpPr>
          <p:cNvPr id="94" name="Object 94"/>
          <p:cNvSpPr/>
          <p:nvPr/>
        </p:nvSpPr>
        <p:spPr>
          <a:xfrm>
            <a:off x="4038600" y="40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bject 95"/>
          <p:cNvSpPr txBox="1"/>
          <p:nvPr/>
        </p:nvSpPr>
        <p:spPr>
          <a:xfrm>
            <a:off x="4038600" y="4150000"/>
            <a:ext cx="1200000" cy="6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Marketing, sales &amp; tech-enabled</a:t>
            </a:r>
          </a:p>
        </p:txBody>
      </p:sp>
      <p:sp>
        <p:nvSpPr>
          <p:cNvPr id="96" name="Object 96"/>
          <p:cNvSpPr txBox="1"/>
          <p:nvPr/>
        </p:nvSpPr>
        <p:spPr>
          <a:xfrm>
            <a:off x="5338600" y="4150000"/>
            <a:ext cx="4300640" cy="6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9.6% advertising forecast masks a repricing inside agencies. Buyers pay for retained vertical specialists, proprietary data, and measurable outcomes, and labor-hour billing models see multiple compression as AI takes the production work.</a:t>
            </a:r>
          </a:p>
        </p:txBody>
      </p:sp>
      <p:sp>
        <p:nvSpPr>
          <p:cNvPr id="97" name="Object 97"/>
          <p:cNvSpPr/>
          <p:nvPr/>
        </p:nvSpPr>
        <p:spPr>
          <a:xfrm>
            <a:off x="4038600" y="46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bject 98"/>
          <p:cNvSpPr txBox="1"/>
          <p:nvPr/>
        </p:nvSpPr>
        <p:spPr>
          <a:xfrm>
            <a:off x="4038600" y="4750000"/>
            <a:ext cx="1200000" cy="8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Engineering, architecture &amp; consulting</a:t>
            </a:r>
          </a:p>
        </p:txBody>
      </p:sp>
      <p:sp>
        <p:nvSpPr>
          <p:cNvPr id="99" name="Object 99"/>
          <p:cNvSpPr txBox="1"/>
          <p:nvPr/>
        </p:nvSpPr>
        <p:spPr>
          <a:xfrm>
            <a:off x="5338600" y="4750000"/>
            <a:ext cx="4300640" cy="8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Bernhard taking Bowman private at roughly 22x reported EBITDA and a 58% premium while the listed group trades at 15x shows private capital valuing licensed staff and a year of backlog well above the public market. Founder-owned firms with power, water, and data center backlog have an open window; federally exposed firms do not.</a:t>
            </a:r>
          </a:p>
        </p:txBody>
      </p:sp>
      <p:sp>
        <p:nvSpPr>
          <p:cNvPr id="100" name="Object 100"/>
          <p:cNvSpPr/>
          <p:nvPr/>
        </p:nvSpPr>
        <p:spPr>
          <a:xfrm>
            <a:off x="4038600" y="54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bject 101"/>
          <p:cNvSpPr txBox="1"/>
          <p:nvPr/>
        </p:nvSpPr>
        <p:spPr>
          <a:xfrm>
            <a:off x="4038600" y="5550000"/>
            <a:ext cx="1200000" cy="54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Financial &amp; insurance</a:t>
            </a:r>
          </a:p>
        </p:txBody>
      </p:sp>
      <p:sp>
        <p:nvSpPr>
          <p:cNvPr id="102" name="Object 102"/>
          <p:cNvSpPr txBox="1"/>
          <p:nvPr/>
        </p:nvSpPr>
        <p:spPr>
          <a:xfrm>
            <a:off x="5338600" y="5550000"/>
            <a:ext cx="4300640" cy="54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Softening premiums slow organic growth, so the aggregators lean harder on acquisitions and Aon's purchase of USI restarts large-cap consolidation. Agency prices hold, with more of the consideration tied to retention.</a:t>
            </a:r>
          </a:p>
        </p:txBody>
      </p:sp>
      <p:sp>
        <p:nvSpPr>
          <p:cNvPr id="103" name="Object 103"/>
          <p:cNvSpPr/>
          <p:nvPr/>
        </p:nvSpPr>
        <p:spPr>
          <a:xfrm>
            <a:off x="4038600" y="603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bject 104"/>
          <p:cNvSpPr txBox="1"/>
          <p:nvPr/>
        </p:nvSpPr>
        <p:spPr>
          <a:xfrm>
            <a:off x="4038600" y="6090000"/>
            <a:ext cx="1200000" cy="76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Staffing &amp; human capital</a:t>
            </a:r>
          </a:p>
        </p:txBody>
      </p:sp>
      <p:sp>
        <p:nvSpPr>
          <p:cNvPr id="105" name="Object 105"/>
          <p:cNvSpPr txBox="1"/>
          <p:nvPr/>
        </p:nvSpPr>
        <p:spPr>
          <a:xfrm>
            <a:off x="5338600" y="6090000"/>
            <a:ext cx="4300640" cy="76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recovery is concentrated in engineering, industrial, and healthcare placements, while temporary help employment sits 21% below its 2022 peak, so specialty firms should prepare to sell into improving comparables in 2027 and generalist commercial staffing should wait.</a:t>
            </a:r>
          </a:p>
        </p:txBody>
      </p:sp>
      <p:sp>
        <p:nvSpPr>
          <p:cNvPr id="106" name="Object 106"/>
          <p:cNvSpPr/>
          <p:nvPr/>
        </p:nvSpPr>
        <p:spPr>
          <a:xfrm>
            <a:off x="4038600" y="67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549518"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Object 6"/>
          <p:cNvSpPr txBox="1"/>
          <p:nvPr/>
        </p:nvSpPr>
        <p:spPr>
          <a:xfrm>
            <a:off x="419070" y="883402"/>
            <a:ext cx="707919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Buyers, drivers, and valuation tests by sector</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6085"/>
          </a:xfrm>
          <a:prstGeom prst="rect">
            <a:avLst/>
          </a:prstGeom>
          <a:solidFill>
            <a:srgbClr val="FFFFFF"/>
          </a:solidFill>
          <a:ln w="12700">
            <a:solidFill>
              <a:srgbClr val="E3DCD3"/>
            </a:solidFill>
            <a:prstDash val="solid"/>
          </a:ln>
        </p:spPr>
        <p:txBody>
          <a:bodyPr/>
          <a:lstStyle/>
          <a:p>
            <a:endParaRPr/>
          </a:p>
        </p:txBody>
      </p:sp>
      <p:sp>
        <p:nvSpPr>
          <p:cNvPr id="9" name="Object 9"/>
          <p:cNvSpPr/>
          <p:nvPr/>
        </p:nvSpPr>
        <p:spPr>
          <a:xfrm>
            <a:off x="428671" y="1247790"/>
            <a:ext cx="2952780" cy="381030"/>
          </a:xfrm>
          <a:prstGeom prst="rect">
            <a:avLst/>
          </a:prstGeom>
          <a:solidFill>
            <a:srgbClr val="1B1A1A"/>
          </a:solidFill>
          <a:ln/>
        </p:spPr>
        <p:txBody>
          <a:bodyPr/>
          <a:lstStyle/>
          <a:p>
            <a:endParaRPr/>
          </a:p>
        </p:txBody>
      </p:sp>
      <p:pic>
        <p:nvPicPr>
          <p:cNvPr id="10" name="Object 10" descr="Window cleaners working on a glass office facade"/>
          <p:cNvPicPr>
            <a:picLocks noChangeAspect="1"/>
          </p:cNvPicPr>
          <p:nvPr/>
        </p:nvPicPr>
        <p:blipFill>
          <a:blip r:embed="rId3"/>
          <a:stretch>
            <a:fillRect/>
          </a:stretch>
        </p:blipFill>
        <p:spPr>
          <a:xfrm>
            <a:off x="1952610" y="1247790"/>
            <a:ext cx="1428750" cy="381030"/>
          </a:xfrm>
          <a:prstGeom prst="rect">
            <a:avLst/>
          </a:prstGeom>
        </p:spPr>
      </p:pic>
      <p:pic>
        <p:nvPicPr>
          <p:cNvPr id="11" name="Object 11"/>
          <p:cNvPicPr>
            <a:picLocks noChangeAspect="1"/>
          </p:cNvPicPr>
          <p:nvPr/>
        </p:nvPicPr>
        <p:blipFill>
          <a:blip r:embed="rId4"/>
          <a:stretch>
            <a:fillRect/>
          </a:stretch>
        </p:blipFill>
        <p:spPr>
          <a:xfrm>
            <a:off x="561990" y="1343071"/>
            <a:ext cx="190470" cy="190470"/>
          </a:xfrm>
          <a:prstGeom prst="rect">
            <a:avLst/>
          </a:prstGeom>
        </p:spPr>
      </p:pic>
      <p:sp>
        <p:nvSpPr>
          <p:cNvPr id="12" name="Object 12"/>
          <p:cNvSpPr txBox="1"/>
          <p:nvPr/>
        </p:nvSpPr>
        <p:spPr>
          <a:xfrm>
            <a:off x="847740"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COMMERCIAL &amp; FACILITY SERVICES</a:t>
            </a:r>
            <a:endParaRPr lang="en-US" sz="700" dirty="0"/>
          </a:p>
        </p:txBody>
      </p:sp>
      <p:sp>
        <p:nvSpPr>
          <p:cNvPr id="13" name="Object 13"/>
          <p:cNvSpPr txBox="1"/>
          <p:nvPr/>
        </p:nvSpPr>
        <p:spPr>
          <a:xfrm>
            <a:off x="561990"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Object 14"/>
          <p:cNvSpPr txBox="1"/>
          <p:nvPr/>
        </p:nvSpPr>
        <p:spPr>
          <a:xfrm>
            <a:off x="561990"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15" name="Object 15"/>
          <p:cNvSpPr txBox="1"/>
          <p:nvPr/>
        </p:nvSpPr>
        <p:spPr>
          <a:xfrm>
            <a:off x="561990" y="2214585"/>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monthly revenue at the 100 largest security dealers rose 7% to $740 million in 2025 (</a:t>
            </a:r>
            <a:r>
              <a:rPr lang="en-US" sz="750" u="sng" dirty="0">
                <a:solidFill>
                  <a:srgbClr val="8C6239"/>
                </a:solidFill>
                <a:latin typeface="+mn-lt" pitchFamily="34" charset="0"/>
                <a:hlinkClick r:id="rId5">
                  <a:extLst>
                    <a:ext uri="{A12FA001-AC4F-418D-AE19-62706E023703}">
                      <ahyp:hlinkClr xmlns:ahyp="http://schemas.microsoft.com/office/drawing/2018/hyperlinkcolor" val="tx"/>
                    </a:ext>
                  </a:extLst>
                </a:hlinkClick>
              </a:rPr>
              <a:t>SDM</a:t>
            </a:r>
            <a:r>
              <a:rPr lang="en-US" sz="750" dirty="0">
                <a:solidFill>
                  <a:srgbClr val="333231"/>
                </a:solidFill>
                <a:latin typeface="+mn-lt" pitchFamily="34" charset="0"/>
              </a:rPr>
              <a:t>), and SGS grew 5.6% organically in the first half (</a:t>
            </a: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SGS</a:t>
            </a:r>
            <a:r>
              <a:rPr lang="en-US" sz="750" dirty="0">
                <a:solidFill>
                  <a:srgbClr val="333231"/>
                </a:solidFill>
                <a:latin typeface="+mn-lt" pitchFamily="34" charset="0"/>
              </a:rPr>
              <a:t>).</a:t>
            </a:r>
            <a:endParaRPr lang="en-US" sz="750" dirty="0"/>
          </a:p>
        </p:txBody>
      </p:sp>
      <p:sp>
        <p:nvSpPr>
          <p:cNvPr id="16" name="Object 16"/>
          <p:cNvSpPr txBox="1"/>
          <p:nvPr/>
        </p:nvSpPr>
        <p:spPr>
          <a:xfrm>
            <a:off x="561990" y="267178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17" name="Object 17"/>
          <p:cNvSpPr txBox="1"/>
          <p:nvPr/>
        </p:nvSpPr>
        <p:spPr>
          <a:xfrm>
            <a:off x="561990" y="280510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Phenna Group in testing.</a:t>
            </a:r>
            <a:endParaRPr lang="en-US" sz="750" dirty="0"/>
          </a:p>
        </p:txBody>
      </p:sp>
      <p:sp>
        <p:nvSpPr>
          <p:cNvPr id="18" name="Object 18"/>
          <p:cNvSpPr txBox="1"/>
          <p:nvPr/>
        </p:nvSpPr>
        <p:spPr>
          <a:xfrm>
            <a:off x="561990"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19" name="Object 19"/>
          <p:cNvSpPr txBox="1"/>
          <p:nvPr/>
        </p:nvSpPr>
        <p:spPr>
          <a:xfrm>
            <a:off x="561990"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Object 20"/>
          <p:cNvSpPr/>
          <p:nvPr/>
        </p:nvSpPr>
        <p:spPr>
          <a:xfrm>
            <a:off x="3543300" y="1238280"/>
            <a:ext cx="2971800" cy="2786085"/>
          </a:xfrm>
          <a:prstGeom prst="rect">
            <a:avLst/>
          </a:prstGeom>
          <a:solidFill>
            <a:srgbClr val="FFFFFF"/>
          </a:solidFill>
          <a:ln w="12700">
            <a:solidFill>
              <a:srgbClr val="E3DCD3"/>
            </a:solidFill>
            <a:prstDash val="solid"/>
          </a:ln>
        </p:spPr>
        <p:txBody>
          <a:bodyPr/>
          <a:lstStyle/>
          <a:p>
            <a:endParaRPr/>
          </a:p>
        </p:txBody>
      </p:sp>
      <p:sp>
        <p:nvSpPr>
          <p:cNvPr id="21" name="Object 21"/>
          <p:cNvSpPr/>
          <p:nvPr/>
        </p:nvSpPr>
        <p:spPr>
          <a:xfrm>
            <a:off x="3552810" y="1247790"/>
            <a:ext cx="2952780" cy="381030"/>
          </a:xfrm>
          <a:prstGeom prst="rect">
            <a:avLst/>
          </a:prstGeom>
          <a:solidFill>
            <a:srgbClr val="1B1A1A"/>
          </a:solidFill>
          <a:ln/>
        </p:spPr>
        <p:txBody>
          <a:bodyPr/>
          <a:lstStyle/>
          <a:p>
            <a:endParaRPr/>
          </a:p>
        </p:txBody>
      </p:sp>
      <p:pic>
        <p:nvPicPr>
          <p:cNvPr id="22" name="Object 22" descr="A hand drawing a marketing plan on a glass board"/>
          <p:cNvPicPr>
            <a:picLocks noChangeAspect="1"/>
          </p:cNvPicPr>
          <p:nvPr/>
        </p:nvPicPr>
        <p:blipFill>
          <a:blip r:embed="rId7"/>
          <a:stretch>
            <a:fillRect/>
          </a:stretch>
        </p:blipFill>
        <p:spPr>
          <a:xfrm>
            <a:off x="5076840" y="1247790"/>
            <a:ext cx="1428750" cy="381030"/>
          </a:xfrm>
          <a:prstGeom prst="rect">
            <a:avLst/>
          </a:prstGeom>
        </p:spPr>
      </p:pic>
      <p:pic>
        <p:nvPicPr>
          <p:cNvPr id="23" name="Object 23"/>
          <p:cNvPicPr>
            <a:picLocks noChangeAspect="1"/>
          </p:cNvPicPr>
          <p:nvPr/>
        </p:nvPicPr>
        <p:blipFill>
          <a:blip r:embed="rId8"/>
          <a:stretch>
            <a:fillRect/>
          </a:stretch>
        </p:blipFill>
        <p:spPr>
          <a:xfrm>
            <a:off x="3686221" y="1343071"/>
            <a:ext cx="190470" cy="190470"/>
          </a:xfrm>
          <a:prstGeom prst="rect">
            <a:avLst/>
          </a:prstGeom>
        </p:spPr>
      </p:pic>
      <p:sp>
        <p:nvSpPr>
          <p:cNvPr id="24" name="Object 24"/>
          <p:cNvSpPr txBox="1"/>
          <p:nvPr/>
        </p:nvSpPr>
        <p:spPr>
          <a:xfrm>
            <a:off x="3971971"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MARKETING, SALES &amp; TECH-ENABLED SERVICES</a:t>
            </a:r>
            <a:endParaRPr lang="en-US" sz="700" dirty="0"/>
          </a:p>
        </p:txBody>
      </p:sp>
      <p:sp>
        <p:nvSpPr>
          <p:cNvPr id="25" name="Object 25"/>
          <p:cNvSpPr txBox="1"/>
          <p:nvPr/>
        </p:nvSpPr>
        <p:spPr>
          <a:xfrm>
            <a:off x="3686221"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Advertising demand is strong, and specialists with data or a vertical focus are in demand.</a:t>
            </a:r>
            <a:endParaRPr lang="en-US" sz="1000" dirty="0"/>
          </a:p>
        </p:txBody>
      </p:sp>
      <p:sp>
        <p:nvSpPr>
          <p:cNvPr id="26" name="Object 26"/>
          <p:cNvSpPr txBox="1"/>
          <p:nvPr/>
        </p:nvSpPr>
        <p:spPr>
          <a:xfrm>
            <a:off x="3686221"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27" name="Object 27"/>
          <p:cNvSpPr txBox="1"/>
          <p:nvPr/>
        </p:nvSpPr>
        <p:spPr>
          <a:xfrm>
            <a:off x="3686221" y="2214585"/>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US internet advertising revenue reached $294.6 billion in 2025, up 13.9% (</a:t>
            </a:r>
            <a:r>
              <a:rPr lang="en-US" sz="750" u="sng" dirty="0">
                <a:solidFill>
                  <a:srgbClr val="8C6239"/>
                </a:solidFill>
                <a:latin typeface="+mn-lt" pitchFamily="34" charset="0"/>
                <a:hlinkClick r:id="rId9"/>
              </a:rPr>
              <a:t>IAB and PwC</a:t>
            </a:r>
            <a:r>
              <a:rPr lang="en-US" sz="750" dirty="0">
                <a:solidFill>
                  <a:srgbClr val="333231"/>
                </a:solidFill>
                <a:latin typeface="+mn-lt" pitchFamily="34" charset="0"/>
              </a:rPr>
              <a:t>), and North American promotional products sales reached a record $27.7 billion (</a:t>
            </a:r>
            <a:r>
              <a:rPr lang="en-US" sz="750" u="sng" dirty="0">
                <a:solidFill>
                  <a:srgbClr val="8C6239"/>
                </a:solidFill>
                <a:latin typeface="+mn-lt" pitchFamily="34" charset="0"/>
                <a:hlinkClick r:id="rId10"/>
              </a:rPr>
              <a:t>ASI</a:t>
            </a:r>
            <a:r>
              <a:rPr lang="en-US" sz="750" dirty="0">
                <a:solidFill>
                  <a:srgbClr val="333231"/>
                </a:solidFill>
                <a:latin typeface="+mn-lt" pitchFamily="34" charset="0"/>
              </a:rPr>
              <a:t>).</a:t>
            </a:r>
            <a:endParaRPr lang="en-US" sz="750" dirty="0"/>
          </a:p>
        </p:txBody>
      </p:sp>
      <p:sp>
        <p:nvSpPr>
          <p:cNvPr id="28" name="Object 28"/>
          <p:cNvSpPr txBox="1"/>
          <p:nvPr/>
        </p:nvSpPr>
        <p:spPr>
          <a:xfrm>
            <a:off x="3686221" y="267178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29" name="Object 29"/>
          <p:cNvSpPr txBox="1"/>
          <p:nvPr/>
        </p:nvSpPr>
        <p:spPr>
          <a:xfrm>
            <a:off x="3686221" y="280510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Object 30"/>
          <p:cNvSpPr txBox="1"/>
          <p:nvPr/>
        </p:nvSpPr>
        <p:spPr>
          <a:xfrm>
            <a:off x="3686221"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31" name="Object 31"/>
          <p:cNvSpPr txBox="1"/>
          <p:nvPr/>
        </p:nvSpPr>
        <p:spPr>
          <a:xfrm>
            <a:off x="3686221"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Object 32"/>
          <p:cNvSpPr/>
          <p:nvPr/>
        </p:nvSpPr>
        <p:spPr>
          <a:xfrm>
            <a:off x="6667530" y="1238280"/>
            <a:ext cx="2971800" cy="2786085"/>
          </a:xfrm>
          <a:prstGeom prst="rect">
            <a:avLst/>
          </a:prstGeom>
          <a:solidFill>
            <a:srgbClr val="FFFFFF"/>
          </a:solidFill>
          <a:ln w="12700">
            <a:solidFill>
              <a:srgbClr val="E3DCD3"/>
            </a:solidFill>
            <a:prstDash val="solid"/>
          </a:ln>
        </p:spPr>
        <p:txBody>
          <a:bodyPr/>
          <a:lstStyle/>
          <a:p>
            <a:endParaRPr/>
          </a:p>
        </p:txBody>
      </p:sp>
      <p:sp>
        <p:nvSpPr>
          <p:cNvPr id="33" name="Object 33"/>
          <p:cNvSpPr/>
          <p:nvPr/>
        </p:nvSpPr>
        <p:spPr>
          <a:xfrm>
            <a:off x="6677040" y="1247790"/>
            <a:ext cx="2952780" cy="381030"/>
          </a:xfrm>
          <a:prstGeom prst="rect">
            <a:avLst/>
          </a:prstGeom>
          <a:solidFill>
            <a:srgbClr val="1B1A1A"/>
          </a:solidFill>
          <a:ln/>
        </p:spPr>
        <p:txBody>
          <a:bodyPr/>
          <a:lstStyle/>
          <a:p>
            <a:endParaRPr/>
          </a:p>
        </p:txBody>
      </p:sp>
      <p:pic>
        <p:nvPicPr>
          <p:cNvPr id="34" name="Object 34" descr="Engineers marking up drawings at a desk"/>
          <p:cNvPicPr>
            <a:picLocks noChangeAspect="1"/>
          </p:cNvPicPr>
          <p:nvPr/>
        </p:nvPicPr>
        <p:blipFill>
          <a:blip r:embed="rId11"/>
          <a:stretch>
            <a:fillRect/>
          </a:stretch>
        </p:blipFill>
        <p:spPr>
          <a:xfrm>
            <a:off x="8201071" y="1247790"/>
            <a:ext cx="1428750" cy="381030"/>
          </a:xfrm>
          <a:prstGeom prst="rect">
            <a:avLst/>
          </a:prstGeom>
        </p:spPr>
      </p:pic>
      <p:pic>
        <p:nvPicPr>
          <p:cNvPr id="35" name="Object 35"/>
          <p:cNvPicPr>
            <a:picLocks noChangeAspect="1"/>
          </p:cNvPicPr>
          <p:nvPr/>
        </p:nvPicPr>
        <p:blipFill>
          <a:blip r:embed="rId12"/>
          <a:stretch>
            <a:fillRect/>
          </a:stretch>
        </p:blipFill>
        <p:spPr>
          <a:xfrm>
            <a:off x="6810360" y="1343071"/>
            <a:ext cx="190470" cy="190470"/>
          </a:xfrm>
          <a:prstGeom prst="rect">
            <a:avLst/>
          </a:prstGeom>
        </p:spPr>
      </p:pic>
      <p:sp>
        <p:nvSpPr>
          <p:cNvPr id="36" name="Object 36"/>
          <p:cNvSpPr txBox="1"/>
          <p:nvPr/>
        </p:nvSpPr>
        <p:spPr>
          <a:xfrm>
            <a:off x="7096110"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ENGINEERING, ARCHITECTURE &amp; CONSULTING</a:t>
            </a:r>
            <a:endParaRPr lang="en-US" sz="700" dirty="0"/>
          </a:p>
        </p:txBody>
      </p:sp>
      <p:sp>
        <p:nvSpPr>
          <p:cNvPr id="37" name="Object 37"/>
          <p:cNvSpPr txBox="1"/>
          <p:nvPr/>
        </p:nvSpPr>
        <p:spPr>
          <a:xfrm>
            <a:off x="6810360"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Object 38"/>
          <p:cNvSpPr txBox="1"/>
          <p:nvPr/>
        </p:nvSpPr>
        <p:spPr>
          <a:xfrm>
            <a:off x="6810360"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39" name="Object 39"/>
          <p:cNvSpPr txBox="1"/>
          <p:nvPr/>
        </p:nvSpPr>
        <p:spPr>
          <a:xfrm>
            <a:off x="6810360" y="221458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The 500 largest design firms reported $158.7 billion of revenue, up 7.4% (</a:t>
            </a:r>
            <a:r>
              <a:rPr lang="en-US" sz="750" u="sng" dirty="0">
                <a:solidFill>
                  <a:srgbClr val="8C6239"/>
                </a:solidFill>
                <a:latin typeface="+mn-lt" pitchFamily="34" charset="0"/>
                <a:hlinkClick r:id="rId13"/>
              </a:rPr>
              <a:t>ENR</a:t>
            </a:r>
            <a:r>
              <a:rPr lang="en-US" sz="750" dirty="0">
                <a:solidFill>
                  <a:srgbClr val="333231"/>
                </a:solidFill>
                <a:latin typeface="+mn-lt" pitchFamily="34" charset="0"/>
              </a:rPr>
              <a:t>), and 447 transactions were announced among AEC firms in 2025 (</a:t>
            </a:r>
            <a:r>
              <a:rPr lang="en-US" sz="750" u="sng" dirty="0">
                <a:solidFill>
                  <a:srgbClr val="8C6239"/>
                </a:solidFill>
                <a:latin typeface="+mn-lt" pitchFamily="34" charset="0"/>
                <a:hlinkClick r:id="rId14"/>
              </a:rPr>
              <a:t>PSMJ</a:t>
            </a:r>
            <a:r>
              <a:rPr lang="en-US" sz="750" dirty="0">
                <a:solidFill>
                  <a:srgbClr val="333231"/>
                </a:solidFill>
                <a:latin typeface="+mn-lt" pitchFamily="34" charset="0"/>
              </a:rPr>
              <a:t>).</a:t>
            </a:r>
            <a:endParaRPr lang="en-US" sz="750" dirty="0"/>
          </a:p>
        </p:txBody>
      </p:sp>
      <p:sp>
        <p:nvSpPr>
          <p:cNvPr id="40" name="Object 40"/>
          <p:cNvSpPr txBox="1"/>
          <p:nvPr/>
        </p:nvSpPr>
        <p:spPr>
          <a:xfrm>
            <a:off x="6810360" y="280510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41" name="Object 41"/>
          <p:cNvSpPr txBox="1"/>
          <p:nvPr/>
        </p:nvSpPr>
        <p:spPr>
          <a:xfrm>
            <a:off x="6810360" y="2938424"/>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Object 42"/>
          <p:cNvSpPr txBox="1"/>
          <p:nvPr/>
        </p:nvSpPr>
        <p:spPr>
          <a:xfrm>
            <a:off x="6810360"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43" name="Object 43"/>
          <p:cNvSpPr txBox="1"/>
          <p:nvPr/>
        </p:nvSpPr>
        <p:spPr>
          <a:xfrm>
            <a:off x="6810360"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Object 44"/>
          <p:cNvSpPr/>
          <p:nvPr/>
        </p:nvSpPr>
        <p:spPr>
          <a:xfrm>
            <a:off x="419070" y="4148176"/>
            <a:ext cx="2971800" cy="2786085"/>
          </a:xfrm>
          <a:prstGeom prst="rect">
            <a:avLst/>
          </a:prstGeom>
          <a:solidFill>
            <a:srgbClr val="FFFFFF"/>
          </a:solidFill>
          <a:ln w="12700">
            <a:solidFill>
              <a:srgbClr val="E3DCD3"/>
            </a:solidFill>
            <a:prstDash val="solid"/>
          </a:ln>
        </p:spPr>
        <p:txBody>
          <a:bodyPr/>
          <a:lstStyle/>
          <a:p>
            <a:endParaRPr/>
          </a:p>
        </p:txBody>
      </p:sp>
      <p:sp>
        <p:nvSpPr>
          <p:cNvPr id="45" name="Object 45"/>
          <p:cNvSpPr/>
          <p:nvPr/>
        </p:nvSpPr>
        <p:spPr>
          <a:xfrm>
            <a:off x="428671" y="4157685"/>
            <a:ext cx="2952780" cy="381030"/>
          </a:xfrm>
          <a:prstGeom prst="rect">
            <a:avLst/>
          </a:prstGeom>
          <a:solidFill>
            <a:srgbClr val="1B1A1A"/>
          </a:solidFill>
          <a:ln/>
        </p:spPr>
        <p:txBody>
          <a:bodyPr/>
          <a:lstStyle/>
          <a:p>
            <a:endParaRPr/>
          </a:p>
        </p:txBody>
      </p:sp>
      <p:pic>
        <p:nvPicPr>
          <p:cNvPr id="46" name="Object 46" descr="Two people reviewing figures on a phone and a laptop"/>
          <p:cNvPicPr>
            <a:picLocks noChangeAspect="1"/>
          </p:cNvPicPr>
          <p:nvPr/>
        </p:nvPicPr>
        <p:blipFill>
          <a:blip r:embed="rId15"/>
          <a:stretch>
            <a:fillRect/>
          </a:stretch>
        </p:blipFill>
        <p:spPr>
          <a:xfrm>
            <a:off x="1952610" y="4157685"/>
            <a:ext cx="1428750" cy="381030"/>
          </a:xfrm>
          <a:prstGeom prst="rect">
            <a:avLst/>
          </a:prstGeom>
        </p:spPr>
      </p:pic>
      <p:pic>
        <p:nvPicPr>
          <p:cNvPr id="47" name="Object 47"/>
          <p:cNvPicPr>
            <a:picLocks noChangeAspect="1"/>
          </p:cNvPicPr>
          <p:nvPr/>
        </p:nvPicPr>
        <p:blipFill>
          <a:blip r:embed="rId16"/>
          <a:stretch>
            <a:fillRect/>
          </a:stretch>
        </p:blipFill>
        <p:spPr>
          <a:xfrm>
            <a:off x="561990" y="4252874"/>
            <a:ext cx="190470" cy="190470"/>
          </a:xfrm>
          <a:prstGeom prst="rect">
            <a:avLst/>
          </a:prstGeom>
        </p:spPr>
      </p:pic>
      <p:sp>
        <p:nvSpPr>
          <p:cNvPr id="48" name="Object 48"/>
          <p:cNvSpPr txBox="1"/>
          <p:nvPr/>
        </p:nvSpPr>
        <p:spPr>
          <a:xfrm>
            <a:off x="847740" y="4229100"/>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FINANCIAL &amp; INSURANCE SERVICES</a:t>
            </a:r>
            <a:endParaRPr lang="en-US" sz="700" dirty="0"/>
          </a:p>
        </p:txBody>
      </p:sp>
      <p:sp>
        <p:nvSpPr>
          <p:cNvPr id="49" name="Object 49"/>
          <p:cNvSpPr txBox="1"/>
          <p:nvPr/>
        </p:nvSpPr>
        <p:spPr>
          <a:xfrm>
            <a:off x="561990" y="4614885"/>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Object 50"/>
          <p:cNvSpPr txBox="1"/>
          <p:nvPr/>
        </p:nvSpPr>
        <p:spPr>
          <a:xfrm>
            <a:off x="561990" y="4991070"/>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51" name="Object 51"/>
          <p:cNvSpPr txBox="1"/>
          <p:nvPr/>
        </p:nvSpPr>
        <p:spPr>
          <a:xfrm>
            <a:off x="561990" y="5124480"/>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Managing general agents wrote $108.7 billion of direct premium in 2025, up 17.8% (</a:t>
            </a:r>
            <a:r>
              <a:rPr lang="en-US" sz="750" u="sng" dirty="0">
                <a:solidFill>
                  <a:srgbClr val="8C6239"/>
                </a:solidFill>
                <a:latin typeface="+mn-lt" pitchFamily="34" charset="0"/>
                <a:hlinkClick r:id="rId17"/>
              </a:rPr>
              <a:t>AM Best via Risk &amp; Insurance</a:t>
            </a:r>
            <a:r>
              <a:rPr lang="en-US" sz="750" dirty="0">
                <a:solidFill>
                  <a:srgbClr val="333231"/>
                </a:solidFill>
                <a:latin typeface="+mn-lt" pitchFamily="34" charset="0"/>
              </a:rPr>
              <a:t>), and advisory firm sales moved $342.9 billion of client assets in the first half (</a:t>
            </a:r>
            <a:r>
              <a:rPr lang="en-US" sz="750" u="sng" dirty="0">
                <a:solidFill>
                  <a:srgbClr val="8C6239"/>
                </a:solidFill>
                <a:latin typeface="+mn-lt" pitchFamily="34" charset="0"/>
                <a:hlinkClick r:id="rId18"/>
              </a:rPr>
              <a:t>WealthManagement.com</a:t>
            </a:r>
            <a:r>
              <a:rPr lang="en-US" sz="750" dirty="0">
                <a:solidFill>
                  <a:srgbClr val="333231"/>
                </a:solidFill>
                <a:latin typeface="+mn-lt" pitchFamily="34" charset="0"/>
              </a:rPr>
              <a:t>).</a:t>
            </a:r>
            <a:endParaRPr lang="en-US" sz="750" dirty="0"/>
          </a:p>
        </p:txBody>
      </p:sp>
      <p:sp>
        <p:nvSpPr>
          <p:cNvPr id="52" name="Object 52"/>
          <p:cNvSpPr txBox="1"/>
          <p:nvPr/>
        </p:nvSpPr>
        <p:spPr>
          <a:xfrm>
            <a:off x="561990" y="5715000"/>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53" name="Object 53"/>
          <p:cNvSpPr txBox="1"/>
          <p:nvPr/>
        </p:nvSpPr>
        <p:spPr>
          <a:xfrm>
            <a:off x="561990" y="584832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Object 54"/>
          <p:cNvSpPr txBox="1"/>
          <p:nvPr/>
        </p:nvSpPr>
        <p:spPr>
          <a:xfrm>
            <a:off x="561990" y="6305520"/>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55" name="Object 55"/>
          <p:cNvSpPr txBox="1"/>
          <p:nvPr/>
        </p:nvSpPr>
        <p:spPr>
          <a:xfrm>
            <a:off x="561990" y="6438930"/>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Object 56"/>
          <p:cNvSpPr/>
          <p:nvPr/>
        </p:nvSpPr>
        <p:spPr>
          <a:xfrm>
            <a:off x="3543300" y="4148176"/>
            <a:ext cx="2971800" cy="2786085"/>
          </a:xfrm>
          <a:prstGeom prst="rect">
            <a:avLst/>
          </a:prstGeom>
          <a:solidFill>
            <a:srgbClr val="FFFFFF"/>
          </a:solidFill>
          <a:ln w="12700">
            <a:solidFill>
              <a:srgbClr val="E3DCD3"/>
            </a:solidFill>
            <a:prstDash val="solid"/>
          </a:ln>
        </p:spPr>
        <p:txBody>
          <a:bodyPr/>
          <a:lstStyle/>
          <a:p>
            <a:endParaRPr/>
          </a:p>
        </p:txBody>
      </p:sp>
      <p:sp>
        <p:nvSpPr>
          <p:cNvPr id="57" name="Object 57"/>
          <p:cNvSpPr/>
          <p:nvPr/>
        </p:nvSpPr>
        <p:spPr>
          <a:xfrm>
            <a:off x="3552810" y="4157685"/>
            <a:ext cx="2952780" cy="381030"/>
          </a:xfrm>
          <a:prstGeom prst="rect">
            <a:avLst/>
          </a:prstGeom>
          <a:solidFill>
            <a:srgbClr val="1B1A1A"/>
          </a:solidFill>
          <a:ln/>
        </p:spPr>
        <p:txBody>
          <a:bodyPr/>
          <a:lstStyle/>
          <a:p>
            <a:endParaRPr/>
          </a:p>
        </p:txBody>
      </p:sp>
      <p:pic>
        <p:nvPicPr>
          <p:cNvPr id="58" name="Object 58" descr="Colleagues talking in an open office"/>
          <p:cNvPicPr>
            <a:picLocks noChangeAspect="1"/>
          </p:cNvPicPr>
          <p:nvPr/>
        </p:nvPicPr>
        <p:blipFill>
          <a:blip r:embed="rId19"/>
          <a:stretch>
            <a:fillRect/>
          </a:stretch>
        </p:blipFill>
        <p:spPr>
          <a:xfrm>
            <a:off x="5076840" y="4157685"/>
            <a:ext cx="1428750" cy="381030"/>
          </a:xfrm>
          <a:prstGeom prst="rect">
            <a:avLst/>
          </a:prstGeom>
        </p:spPr>
      </p:pic>
      <p:pic>
        <p:nvPicPr>
          <p:cNvPr id="59" name="Object 59"/>
          <p:cNvPicPr>
            <a:picLocks noChangeAspect="1"/>
          </p:cNvPicPr>
          <p:nvPr/>
        </p:nvPicPr>
        <p:blipFill>
          <a:blip r:embed="rId20"/>
          <a:stretch>
            <a:fillRect/>
          </a:stretch>
        </p:blipFill>
        <p:spPr>
          <a:xfrm>
            <a:off x="3686221" y="4252874"/>
            <a:ext cx="190470" cy="190470"/>
          </a:xfrm>
          <a:prstGeom prst="rect">
            <a:avLst/>
          </a:prstGeom>
        </p:spPr>
      </p:pic>
      <p:sp>
        <p:nvSpPr>
          <p:cNvPr id="60" name="Object 60"/>
          <p:cNvSpPr txBox="1"/>
          <p:nvPr/>
        </p:nvSpPr>
        <p:spPr>
          <a:xfrm>
            <a:off x="3971971" y="4286250"/>
            <a:ext cx="1599926" cy="114300"/>
          </a:xfrm>
          <a:prstGeom prst="rect">
            <a:avLst/>
          </a:prstGeom>
          <a:noFill/>
          <a:ln/>
        </p:spPr>
        <p:txBody>
          <a:bodyPr wrap="none" lIns="0" tIns="0" rIns="0" bIns="0" rtlCol="0" anchor="t"/>
          <a:lstStyle/>
          <a:p>
            <a:pPr marL="0" indent="0" algn="l">
              <a:lnSpc>
                <a:spcPts val="900"/>
              </a:lnSpc>
              <a:buNone/>
            </a:pPr>
            <a:r>
              <a:rPr lang="en-US" sz="700" b="1" kern="0" spc="100" dirty="0">
                <a:solidFill>
                  <a:srgbClr val="FFFFFF"/>
                </a:solidFill>
                <a:latin typeface="+mn-lt" pitchFamily="34" charset="0"/>
              </a:rPr>
              <a:t>STAFFING &amp; HUMAN CAPITAL</a:t>
            </a:r>
            <a:endParaRPr lang="en-US" sz="700" dirty="0"/>
          </a:p>
        </p:txBody>
      </p:sp>
      <p:sp>
        <p:nvSpPr>
          <p:cNvPr id="61" name="Object 61"/>
          <p:cNvSpPr txBox="1"/>
          <p:nvPr/>
        </p:nvSpPr>
        <p:spPr>
          <a:xfrm>
            <a:off x="3686221" y="4614885"/>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Staffing revenue growth is the fastest since late 2022, led by skilled work.</a:t>
            </a:r>
            <a:endParaRPr lang="en-US" sz="1000" dirty="0"/>
          </a:p>
        </p:txBody>
      </p:sp>
      <p:sp>
        <p:nvSpPr>
          <p:cNvPr id="62" name="Object 62"/>
          <p:cNvSpPr txBox="1"/>
          <p:nvPr/>
        </p:nvSpPr>
        <p:spPr>
          <a:xfrm>
            <a:off x="3686221" y="4991070"/>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63" name="Object 63"/>
          <p:cNvSpPr txBox="1"/>
          <p:nvPr/>
        </p:nvSpPr>
        <p:spPr>
          <a:xfrm>
            <a:off x="3686221" y="512448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US temporary and contract staffing sales were $113.5 billion in 2025, down 8.5% (</a:t>
            </a:r>
            <a:r>
              <a:rPr lang="en-US" sz="750" u="sng" dirty="0">
                <a:solidFill>
                  <a:srgbClr val="8C6239"/>
                </a:solidFill>
                <a:latin typeface="+mn-lt" pitchFamily="34" charset="0"/>
                <a:hlinkClick r:id="rId21"/>
              </a:rPr>
              <a:t>ASA</a:t>
            </a:r>
            <a:r>
              <a:rPr lang="en-US" sz="750" dirty="0">
                <a:solidFill>
                  <a:srgbClr val="333231"/>
                </a:solidFill>
                <a:latin typeface="+mn-lt" pitchFamily="34" charset="0"/>
              </a:rPr>
              <a:t>), and industrial staffing revenue is now forecast to grow 7% in 2026 (</a:t>
            </a:r>
            <a:r>
              <a:rPr lang="en-US" sz="750" u="sng" dirty="0">
                <a:solidFill>
                  <a:srgbClr val="8C6239"/>
                </a:solidFill>
                <a:latin typeface="+mn-lt" pitchFamily="34" charset="0"/>
                <a:hlinkClick r:id="rId22"/>
              </a:rPr>
              <a:t>Staffing Industry Analysts</a:t>
            </a:r>
            <a:r>
              <a:rPr lang="en-US" sz="750" dirty="0">
                <a:solidFill>
                  <a:srgbClr val="333231"/>
                </a:solidFill>
                <a:latin typeface="+mn-lt" pitchFamily="34" charset="0"/>
              </a:rPr>
              <a:t>).</a:t>
            </a:r>
            <a:endParaRPr lang="en-US" sz="750" dirty="0"/>
          </a:p>
        </p:txBody>
      </p:sp>
      <p:sp>
        <p:nvSpPr>
          <p:cNvPr id="64" name="Object 64"/>
          <p:cNvSpPr txBox="1"/>
          <p:nvPr/>
        </p:nvSpPr>
        <p:spPr>
          <a:xfrm>
            <a:off x="3686221" y="5581680"/>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65" name="Object 65"/>
          <p:cNvSpPr txBox="1"/>
          <p:nvPr/>
        </p:nvSpPr>
        <p:spPr>
          <a:xfrm>
            <a:off x="3686221" y="571500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Object 66"/>
          <p:cNvSpPr txBox="1"/>
          <p:nvPr/>
        </p:nvSpPr>
        <p:spPr>
          <a:xfrm>
            <a:off x="3686221" y="6172200"/>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67" name="Object 67"/>
          <p:cNvSpPr txBox="1"/>
          <p:nvPr/>
        </p:nvSpPr>
        <p:spPr>
          <a:xfrm>
            <a:off x="3686221" y="6305520"/>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Object 68"/>
          <p:cNvSpPr/>
          <p:nvPr/>
        </p:nvSpPr>
        <p:spPr>
          <a:xfrm>
            <a:off x="6667530" y="4148176"/>
            <a:ext cx="2971800" cy="2786085"/>
          </a:xfrm>
          <a:prstGeom prst="rect">
            <a:avLst/>
          </a:prstGeom>
          <a:solidFill>
            <a:srgbClr val="1B1A1A"/>
          </a:solidFill>
          <a:ln/>
        </p:spPr>
        <p:txBody>
          <a:bodyPr/>
          <a:lstStyle/>
          <a:p>
            <a:endParaRPr/>
          </a:p>
        </p:txBody>
      </p:sp>
      <p:sp>
        <p:nvSpPr>
          <p:cNvPr id="69" name="Object 69"/>
          <p:cNvSpPr txBox="1"/>
          <p:nvPr/>
        </p:nvSpPr>
        <p:spPr>
          <a:xfrm>
            <a:off x="6819870" y="4281495"/>
            <a:ext cx="1696944"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ACROSS THE FIVE SECTORS</a:t>
            </a:r>
            <a:endParaRPr lang="en-US" sz="700" dirty="0"/>
          </a:p>
        </p:txBody>
      </p:sp>
      <p:sp>
        <p:nvSpPr>
          <p:cNvPr id="70" name="Object 70"/>
          <p:cNvSpPr txBox="1"/>
          <p:nvPr/>
        </p:nvSpPr>
        <p:spPr>
          <a:xfrm>
            <a:off x="6819870" y="4438680"/>
            <a:ext cx="1787743" cy="219090"/>
          </a:xfrm>
          <a:prstGeom prst="rect">
            <a:avLst/>
          </a:prstGeom>
          <a:noFill/>
          <a:ln/>
        </p:spPr>
        <p:txBody>
          <a:bodyPr wrap="none" lIns="0" tIns="0" rIns="0" bIns="0" rtlCol="0" anchor="t"/>
          <a:lstStyle/>
          <a:p>
            <a:pPr marL="0" indent="0" algn="l">
              <a:lnSpc>
                <a:spcPts val="1750"/>
              </a:lnSpc>
              <a:buNone/>
            </a:pPr>
            <a:r>
              <a:rPr lang="en-US" sz="1350" b="1" dirty="0">
                <a:solidFill>
                  <a:srgbClr val="FFFFFF"/>
                </a:solidFill>
                <a:latin typeface="+mj-lt" pitchFamily="34" charset="0"/>
              </a:rPr>
              <a:t>Five tests buyers apply</a:t>
            </a:r>
            <a:endParaRPr lang="en-US" sz="1350" dirty="0"/>
          </a:p>
        </p:txBody>
      </p:sp>
      <p:sp>
        <p:nvSpPr>
          <p:cNvPr id="71" name="Object 71"/>
          <p:cNvSpPr/>
          <p:nvPr/>
        </p:nvSpPr>
        <p:spPr>
          <a:xfrm>
            <a:off x="6819870" y="4738695"/>
            <a:ext cx="2667030" cy="9510"/>
          </a:xfrm>
          <a:prstGeom prst="rect">
            <a:avLst/>
          </a:prstGeom>
          <a:solidFill>
            <a:srgbClr val="FFFFFF">
              <a:alpha val="16000"/>
            </a:srgbClr>
          </a:solidFill>
          <a:ln/>
        </p:spPr>
        <p:txBody>
          <a:bodyPr/>
          <a:lstStyle/>
          <a:p>
            <a:endParaRPr/>
          </a:p>
        </p:txBody>
      </p:sp>
      <p:sp>
        <p:nvSpPr>
          <p:cNvPr id="72" name="Object 72"/>
          <p:cNvSpPr txBox="1"/>
          <p:nvPr/>
        </p:nvSpPr>
        <p:spPr>
          <a:xfrm>
            <a:off x="6819870" y="4814865"/>
            <a:ext cx="108356"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1</a:t>
            </a:r>
            <a:endParaRPr lang="en-US" sz="1150" dirty="0"/>
          </a:p>
        </p:txBody>
      </p:sp>
      <p:sp>
        <p:nvSpPr>
          <p:cNvPr id="73" name="Object 73"/>
          <p:cNvSpPr txBox="1"/>
          <p:nvPr/>
        </p:nvSpPr>
        <p:spPr>
          <a:xfrm>
            <a:off x="7105620" y="4810110"/>
            <a:ext cx="2016618"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Object 74"/>
          <p:cNvSpPr txBox="1"/>
          <p:nvPr/>
        </p:nvSpPr>
        <p:spPr>
          <a:xfrm>
            <a:off x="7105620" y="4953030"/>
            <a:ext cx="2088672"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Object 75"/>
          <p:cNvSpPr/>
          <p:nvPr/>
        </p:nvSpPr>
        <p:spPr>
          <a:xfrm>
            <a:off x="6819870" y="5157765"/>
            <a:ext cx="2667030" cy="9510"/>
          </a:xfrm>
          <a:prstGeom prst="rect">
            <a:avLst/>
          </a:prstGeom>
          <a:solidFill>
            <a:srgbClr val="FFFFFF">
              <a:alpha val="16000"/>
            </a:srgbClr>
          </a:solidFill>
          <a:ln/>
        </p:spPr>
        <p:txBody>
          <a:bodyPr/>
          <a:lstStyle/>
          <a:p>
            <a:endParaRPr/>
          </a:p>
        </p:txBody>
      </p:sp>
      <p:sp>
        <p:nvSpPr>
          <p:cNvPr id="76" name="Object 76"/>
          <p:cNvSpPr txBox="1"/>
          <p:nvPr/>
        </p:nvSpPr>
        <p:spPr>
          <a:xfrm>
            <a:off x="6819870" y="5234026"/>
            <a:ext cx="138074"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2</a:t>
            </a:r>
            <a:endParaRPr lang="en-US" sz="1150" dirty="0"/>
          </a:p>
        </p:txBody>
      </p:sp>
      <p:sp>
        <p:nvSpPr>
          <p:cNvPr id="77" name="Object 77"/>
          <p:cNvSpPr txBox="1"/>
          <p:nvPr/>
        </p:nvSpPr>
        <p:spPr>
          <a:xfrm>
            <a:off x="7105620" y="5229271"/>
            <a:ext cx="199933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Object 78"/>
          <p:cNvSpPr txBox="1"/>
          <p:nvPr/>
        </p:nvSpPr>
        <p:spPr>
          <a:xfrm>
            <a:off x="7105620" y="5372100"/>
            <a:ext cx="1590050"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Credentials held by the company.</a:t>
            </a:r>
            <a:endParaRPr lang="en-US" sz="750" dirty="0"/>
          </a:p>
        </p:txBody>
      </p:sp>
      <p:sp>
        <p:nvSpPr>
          <p:cNvPr id="79" name="Object 79"/>
          <p:cNvSpPr/>
          <p:nvPr/>
        </p:nvSpPr>
        <p:spPr>
          <a:xfrm>
            <a:off x="6819870" y="5576926"/>
            <a:ext cx="2667030" cy="9510"/>
          </a:xfrm>
          <a:prstGeom prst="rect">
            <a:avLst/>
          </a:prstGeom>
          <a:solidFill>
            <a:srgbClr val="FFFFFF">
              <a:alpha val="16000"/>
            </a:srgbClr>
          </a:solidFill>
          <a:ln/>
        </p:spPr>
        <p:txBody>
          <a:bodyPr/>
          <a:lstStyle/>
          <a:p>
            <a:endParaRPr/>
          </a:p>
        </p:txBody>
      </p:sp>
      <p:sp>
        <p:nvSpPr>
          <p:cNvPr id="80" name="Object 80"/>
          <p:cNvSpPr txBox="1"/>
          <p:nvPr/>
        </p:nvSpPr>
        <p:spPr>
          <a:xfrm>
            <a:off x="6819870" y="5653095"/>
            <a:ext cx="130942"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3</a:t>
            </a:r>
            <a:endParaRPr lang="en-US" sz="1150" dirty="0"/>
          </a:p>
        </p:txBody>
      </p:sp>
      <p:sp>
        <p:nvSpPr>
          <p:cNvPr id="81" name="Object 81"/>
          <p:cNvSpPr txBox="1"/>
          <p:nvPr/>
        </p:nvSpPr>
        <p:spPr>
          <a:xfrm>
            <a:off x="7105620" y="5648340"/>
            <a:ext cx="173013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Management beyond the owner</a:t>
            </a:r>
            <a:endParaRPr lang="en-US" sz="850" dirty="0"/>
          </a:p>
        </p:txBody>
      </p:sp>
      <p:sp>
        <p:nvSpPr>
          <p:cNvPr id="82" name="Object 82"/>
          <p:cNvSpPr txBox="1"/>
          <p:nvPr/>
        </p:nvSpPr>
        <p:spPr>
          <a:xfrm>
            <a:off x="7105620" y="5791170"/>
            <a:ext cx="1941271"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Object 83"/>
          <p:cNvSpPr/>
          <p:nvPr/>
        </p:nvSpPr>
        <p:spPr>
          <a:xfrm>
            <a:off x="6819870" y="5995995"/>
            <a:ext cx="2667030" cy="9510"/>
          </a:xfrm>
          <a:prstGeom prst="rect">
            <a:avLst/>
          </a:prstGeom>
          <a:solidFill>
            <a:srgbClr val="FFFFFF">
              <a:alpha val="16000"/>
            </a:srgbClr>
          </a:solidFill>
          <a:ln/>
        </p:spPr>
        <p:txBody>
          <a:bodyPr/>
          <a:lstStyle/>
          <a:p>
            <a:endParaRPr/>
          </a:p>
        </p:txBody>
      </p:sp>
      <p:sp>
        <p:nvSpPr>
          <p:cNvPr id="84" name="Object 84"/>
          <p:cNvSpPr txBox="1"/>
          <p:nvPr/>
        </p:nvSpPr>
        <p:spPr>
          <a:xfrm>
            <a:off x="6819870" y="6072165"/>
            <a:ext cx="142464"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4</a:t>
            </a:r>
            <a:endParaRPr lang="en-US" sz="1150" dirty="0"/>
          </a:p>
        </p:txBody>
      </p:sp>
      <p:sp>
        <p:nvSpPr>
          <p:cNvPr id="85" name="Object 85"/>
          <p:cNvSpPr txBox="1"/>
          <p:nvPr/>
        </p:nvSpPr>
        <p:spPr>
          <a:xfrm>
            <a:off x="7105620" y="6067410"/>
            <a:ext cx="1839773"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Object 86"/>
          <p:cNvSpPr txBox="1"/>
          <p:nvPr/>
        </p:nvSpPr>
        <p:spPr>
          <a:xfrm>
            <a:off x="7105620" y="6210330"/>
            <a:ext cx="1880189"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Object 87"/>
          <p:cNvSpPr/>
          <p:nvPr/>
        </p:nvSpPr>
        <p:spPr>
          <a:xfrm>
            <a:off x="6819870" y="6415065"/>
            <a:ext cx="2667030" cy="9510"/>
          </a:xfrm>
          <a:prstGeom prst="rect">
            <a:avLst/>
          </a:prstGeom>
          <a:solidFill>
            <a:srgbClr val="FFFFFF">
              <a:alpha val="16000"/>
            </a:srgbClr>
          </a:solidFill>
          <a:ln/>
        </p:spPr>
        <p:txBody>
          <a:bodyPr/>
          <a:lstStyle/>
          <a:p>
            <a:endParaRPr/>
          </a:p>
        </p:txBody>
      </p:sp>
      <p:sp>
        <p:nvSpPr>
          <p:cNvPr id="88" name="Object 88"/>
          <p:cNvSpPr txBox="1"/>
          <p:nvPr/>
        </p:nvSpPr>
        <p:spPr>
          <a:xfrm>
            <a:off x="6819870" y="6491326"/>
            <a:ext cx="130211"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5</a:t>
            </a:r>
            <a:endParaRPr lang="en-US" sz="1150" dirty="0"/>
          </a:p>
        </p:txBody>
      </p:sp>
      <p:sp>
        <p:nvSpPr>
          <p:cNvPr id="89" name="Object 89"/>
          <p:cNvSpPr txBox="1"/>
          <p:nvPr/>
        </p:nvSpPr>
        <p:spPr>
          <a:xfrm>
            <a:off x="7105620" y="6486571"/>
            <a:ext cx="215935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Object 90"/>
          <p:cNvSpPr txBox="1"/>
          <p:nvPr/>
        </p:nvSpPr>
        <p:spPr>
          <a:xfrm>
            <a:off x="7105620" y="6629400"/>
            <a:ext cx="1971538"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Object 91"/>
          <p:cNvSpPr/>
          <p:nvPr/>
        </p:nvSpPr>
        <p:spPr>
          <a:xfrm>
            <a:off x="419070" y="7029450"/>
            <a:ext cx="9220170" cy="9510"/>
          </a:xfrm>
          <a:prstGeom prst="ellipse">
            <a:avLst/>
          </a:prstGeom>
          <a:solidFill>
            <a:srgbClr val="E3DCD3"/>
          </a:solidFill>
          <a:ln/>
        </p:spPr>
        <p:txBody>
          <a:bodyPr/>
          <a:lstStyle/>
          <a:p>
            <a:endParaRPr/>
          </a:p>
        </p:txBody>
      </p:sp>
      <p:pic>
        <p:nvPicPr>
          <p:cNvPr id="92" name="Object 92" descr="Benchmark International"/>
          <p:cNvPicPr>
            <a:picLocks noChangeAspect="1"/>
          </p:cNvPicPr>
          <p:nvPr/>
        </p:nvPicPr>
        <p:blipFill>
          <a:blip r:embed="rId23"/>
          <a:stretch>
            <a:fillRect/>
          </a:stretch>
        </p:blipFill>
        <p:spPr>
          <a:xfrm>
            <a:off x="419070" y="7143750"/>
            <a:ext cx="914400" cy="171450"/>
          </a:xfrm>
          <a:prstGeom prst="rect">
            <a:avLst/>
          </a:prstGeom>
        </p:spPr>
      </p:pic>
      <p:sp>
        <p:nvSpPr>
          <p:cNvPr id="93" name="Object 93"/>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Active buyers are drawn from transactions announced between October 2025 and October 2026.</a:t>
            </a:r>
            <a:endParaRPr lang="en-US" sz="700" dirty="0"/>
          </a:p>
        </p:txBody>
      </p:sp>
      <p:sp>
        <p:nvSpPr>
          <p:cNvPr id="94" name="Object 94"/>
          <p:cNvSpPr txBox="1"/>
          <p:nvPr/>
        </p:nvSpPr>
        <p:spPr>
          <a:xfrm>
            <a:off x="9492386"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394174"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What We're Reading</a:t>
            </a:r>
            <a:endParaRPr lang="en-US" sz="2050" dirty="0"/>
          </a:p>
        </p:txBody>
      </p:sp>
      <p:sp>
        <p:nvSpPr>
          <p:cNvPr id="6" name="Object 6"/>
          <p:cNvSpPr txBox="1"/>
          <p:nvPr/>
        </p:nvSpPr>
        <p:spPr>
          <a:xfrm>
            <a:off x="419070" y="883402"/>
            <a:ext cx="618043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sources from the third quarter</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txBox="1"/>
          <p:nvPr/>
        </p:nvSpPr>
        <p:spPr>
          <a:xfrm>
            <a:off x="419070" y="1238280"/>
            <a:ext cx="1207282"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INDUSTRY READING</a:t>
            </a:r>
            <a:endParaRPr lang="en-US" sz="700" dirty="0"/>
          </a:p>
        </p:txBody>
      </p:sp>
      <p:sp>
        <p:nvSpPr>
          <p:cNvPr id="9" name="Object 9"/>
          <p:cNvSpPr/>
          <p:nvPr/>
        </p:nvSpPr>
        <p:spPr>
          <a:xfrm>
            <a:off x="1683502" y="1295430"/>
            <a:ext cx="7955737" cy="9510"/>
          </a:xfrm>
          <a:prstGeom prst="ellipse">
            <a:avLst/>
          </a:prstGeom>
          <a:solidFill>
            <a:srgbClr val="E3DCD3"/>
          </a:solidFill>
          <a:ln/>
        </p:spPr>
        <p:txBody>
          <a:bodyPr/>
          <a:lstStyle/>
          <a:p>
            <a:endParaRPr/>
          </a:p>
        </p:txBody>
      </p:sp>
      <p:sp>
        <p:nvSpPr>
          <p:cNvPr id="10" name="Object 10"/>
          <p:cNvSpPr/>
          <p:nvPr/>
        </p:nvSpPr>
        <p:spPr>
          <a:xfrm>
            <a:off x="419070" y="1438260"/>
            <a:ext cx="2971800" cy="2562240"/>
          </a:xfrm>
          <a:prstGeom prst="rect">
            <a:avLst/>
          </a:prstGeom>
          <a:solidFill>
            <a:srgbClr val="FAF7F3"/>
          </a:solidFill>
          <a:ln/>
        </p:spPr>
        <p:txBody>
          <a:bodyPr/>
          <a:lstStyle/>
          <a:p>
            <a:endParaRPr/>
          </a:p>
        </p:txBody>
      </p:sp>
      <p:sp>
        <p:nvSpPr>
          <p:cNvPr id="11" name="Object 11"/>
          <p:cNvSpPr/>
          <p:nvPr/>
        </p:nvSpPr>
        <p:spPr>
          <a:xfrm>
            <a:off x="419070" y="1438260"/>
            <a:ext cx="2971800" cy="28621"/>
          </a:xfrm>
          <a:prstGeom prst="rect">
            <a:avLst/>
          </a:prstGeom>
          <a:solidFill>
            <a:srgbClr val="B68757"/>
          </a:solidFill>
          <a:ln/>
        </p:spPr>
        <p:txBody>
          <a:bodyPr/>
          <a:lstStyle/>
          <a:p>
            <a:endParaRPr/>
          </a:p>
        </p:txBody>
      </p:sp>
      <p:sp>
        <p:nvSpPr>
          <p:cNvPr id="12" name="Object 12"/>
          <p:cNvSpPr txBox="1"/>
          <p:nvPr/>
        </p:nvSpPr>
        <p:spPr>
          <a:xfrm>
            <a:off x="571500" y="1576426"/>
            <a:ext cx="1497239"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ACEC RESEARCH INSTITUTE</a:t>
            </a:r>
            <a:endParaRPr lang="en-US" sz="600" dirty="0"/>
          </a:p>
        </p:txBody>
      </p:sp>
      <p:sp>
        <p:nvSpPr>
          <p:cNvPr id="13" name="Object 13"/>
          <p:cNvSpPr txBox="1"/>
          <p:nvPr/>
        </p:nvSpPr>
        <p:spPr>
          <a:xfrm>
            <a:off x="2594976" y="1571671"/>
            <a:ext cx="700705"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August 27, 2026</a:t>
            </a:r>
            <a:endParaRPr lang="en-US" sz="700" dirty="0"/>
          </a:p>
        </p:txBody>
      </p:sp>
      <p:sp>
        <p:nvSpPr>
          <p:cNvPr id="14" name="Object 14"/>
          <p:cNvSpPr txBox="1"/>
          <p:nvPr/>
        </p:nvSpPr>
        <p:spPr>
          <a:xfrm>
            <a:off x="57150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Object 15"/>
          <p:cNvSpPr txBox="1"/>
          <p:nvPr/>
        </p:nvSpPr>
        <p:spPr>
          <a:xfrm>
            <a:off x="57150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Object 16"/>
          <p:cNvSpPr/>
          <p:nvPr/>
        </p:nvSpPr>
        <p:spPr>
          <a:xfrm>
            <a:off x="571500" y="3014685"/>
            <a:ext cx="19020" cy="295260"/>
          </a:xfrm>
          <a:prstGeom prst="rect">
            <a:avLst/>
          </a:prstGeom>
          <a:solidFill>
            <a:srgbClr val="B68757"/>
          </a:solidFill>
          <a:ln/>
        </p:spPr>
        <p:txBody>
          <a:bodyPr/>
          <a:lstStyle/>
          <a:p>
            <a:endParaRPr/>
          </a:p>
        </p:txBody>
      </p:sp>
      <p:sp>
        <p:nvSpPr>
          <p:cNvPr id="17" name="Object 17"/>
          <p:cNvSpPr txBox="1"/>
          <p:nvPr/>
        </p:nvSpPr>
        <p:spPr>
          <a:xfrm>
            <a:off x="685800" y="3007553"/>
            <a:ext cx="2552730" cy="29526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Backlog and a bench of licensed engineers are the first two facts a buyer will test.</a:t>
            </a:r>
            <a:endParaRPr lang="en-US" sz="800" dirty="0"/>
          </a:p>
        </p:txBody>
      </p:sp>
      <p:sp>
        <p:nvSpPr>
          <p:cNvPr id="18" name="Object 18">
            <a:hlinkClick r:id="rId3"/>
          </p:cNvPr>
          <p:cNvSpPr/>
          <p:nvPr/>
        </p:nvSpPr>
        <p:spPr>
          <a:xfrm>
            <a:off x="571500" y="3657600"/>
            <a:ext cx="840882" cy="228600"/>
          </a:xfrm>
          <a:prstGeom prst="rect">
            <a:avLst/>
          </a:prstGeom>
          <a:solidFill>
            <a:srgbClr val="1B1A1A"/>
          </a:solidFill>
          <a:ln/>
        </p:spPr>
        <p:txBody>
          <a:bodyPr/>
          <a:lstStyle/>
          <a:p>
            <a:endParaRPr/>
          </a:p>
        </p:txBody>
      </p:sp>
      <p:sp>
        <p:nvSpPr>
          <p:cNvPr id="19" name="Object 19"/>
          <p:cNvSpPr txBox="1"/>
          <p:nvPr/>
        </p:nvSpPr>
        <p:spPr>
          <a:xfrm>
            <a:off x="68580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20" name="Object 20"/>
          <p:cNvSpPr/>
          <p:nvPr/>
        </p:nvSpPr>
        <p:spPr>
          <a:xfrm>
            <a:off x="3543300" y="1438260"/>
            <a:ext cx="2971800" cy="2562240"/>
          </a:xfrm>
          <a:prstGeom prst="rect">
            <a:avLst/>
          </a:prstGeom>
          <a:solidFill>
            <a:srgbClr val="FAF7F3"/>
          </a:solidFill>
          <a:ln/>
        </p:spPr>
        <p:txBody>
          <a:bodyPr/>
          <a:lstStyle/>
          <a:p>
            <a:endParaRPr/>
          </a:p>
        </p:txBody>
      </p:sp>
      <p:sp>
        <p:nvSpPr>
          <p:cNvPr id="21" name="Object 21"/>
          <p:cNvSpPr/>
          <p:nvPr/>
        </p:nvSpPr>
        <p:spPr>
          <a:xfrm>
            <a:off x="3543300" y="1438260"/>
            <a:ext cx="2971800" cy="28621"/>
          </a:xfrm>
          <a:prstGeom prst="rect">
            <a:avLst/>
          </a:prstGeom>
          <a:solidFill>
            <a:srgbClr val="B68757"/>
          </a:solidFill>
          <a:ln/>
        </p:spPr>
        <p:txBody>
          <a:bodyPr/>
          <a:lstStyle/>
          <a:p>
            <a:endParaRPr/>
          </a:p>
        </p:txBody>
      </p:sp>
      <p:sp>
        <p:nvSpPr>
          <p:cNvPr id="22" name="Object 22"/>
          <p:cNvSpPr txBox="1"/>
          <p:nvPr/>
        </p:nvSpPr>
        <p:spPr>
          <a:xfrm>
            <a:off x="3695730" y="1576426"/>
            <a:ext cx="1696669"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STAFFING INDUSTRY ANALYSTS</a:t>
            </a:r>
            <a:endParaRPr lang="en-US" sz="600" dirty="0"/>
          </a:p>
        </p:txBody>
      </p:sp>
      <p:sp>
        <p:nvSpPr>
          <p:cNvPr id="23" name="Object 23"/>
          <p:cNvSpPr txBox="1"/>
          <p:nvPr/>
        </p:nvSpPr>
        <p:spPr>
          <a:xfrm>
            <a:off x="5541904" y="1571671"/>
            <a:ext cx="877915"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September 29, 2026</a:t>
            </a:r>
            <a:endParaRPr lang="en-US" sz="700" dirty="0"/>
          </a:p>
        </p:txBody>
      </p:sp>
      <p:sp>
        <p:nvSpPr>
          <p:cNvPr id="24" name="Object 24"/>
          <p:cNvSpPr txBox="1"/>
          <p:nvPr/>
        </p:nvSpPr>
        <p:spPr>
          <a:xfrm>
            <a:off x="369573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Object 25"/>
          <p:cNvSpPr txBox="1"/>
          <p:nvPr/>
        </p:nvSpPr>
        <p:spPr>
          <a:xfrm>
            <a:off x="369573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Object 26"/>
          <p:cNvSpPr/>
          <p:nvPr/>
        </p:nvSpPr>
        <p:spPr>
          <a:xfrm>
            <a:off x="3695730" y="3014685"/>
            <a:ext cx="19020" cy="442935"/>
          </a:xfrm>
          <a:prstGeom prst="rect">
            <a:avLst/>
          </a:prstGeom>
          <a:solidFill>
            <a:srgbClr val="B68757"/>
          </a:solidFill>
          <a:ln/>
        </p:spPr>
        <p:txBody>
          <a:bodyPr/>
          <a:lstStyle/>
          <a:p>
            <a:endParaRPr/>
          </a:p>
        </p:txBody>
      </p:sp>
      <p:sp>
        <p:nvSpPr>
          <p:cNvPr id="27" name="Object 27"/>
          <p:cNvSpPr txBox="1"/>
          <p:nvPr/>
        </p:nvSpPr>
        <p:spPr>
          <a:xfrm>
            <a:off x="3810030" y="3007553"/>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recovery is strongest in the skilled categories where this year's acquisitions are concentrated.</a:t>
            </a:r>
            <a:endParaRPr lang="en-US" sz="800" dirty="0"/>
          </a:p>
        </p:txBody>
      </p:sp>
      <p:sp>
        <p:nvSpPr>
          <p:cNvPr id="28" name="Object 28">
            <a:hlinkClick r:id="rId4"/>
          </p:cNvPr>
          <p:cNvSpPr/>
          <p:nvPr/>
        </p:nvSpPr>
        <p:spPr>
          <a:xfrm>
            <a:off x="3695730" y="3657600"/>
            <a:ext cx="840882" cy="228600"/>
          </a:xfrm>
          <a:prstGeom prst="rect">
            <a:avLst/>
          </a:prstGeom>
          <a:solidFill>
            <a:srgbClr val="1B1A1A"/>
          </a:solidFill>
          <a:ln/>
        </p:spPr>
        <p:txBody>
          <a:bodyPr/>
          <a:lstStyle/>
          <a:p>
            <a:endParaRPr/>
          </a:p>
        </p:txBody>
      </p:sp>
      <p:sp>
        <p:nvSpPr>
          <p:cNvPr id="29" name="Object 29"/>
          <p:cNvSpPr txBox="1"/>
          <p:nvPr/>
        </p:nvSpPr>
        <p:spPr>
          <a:xfrm>
            <a:off x="381003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30" name="Object 30"/>
          <p:cNvSpPr/>
          <p:nvPr/>
        </p:nvSpPr>
        <p:spPr>
          <a:xfrm>
            <a:off x="6667530" y="1438260"/>
            <a:ext cx="2971800" cy="2562240"/>
          </a:xfrm>
          <a:prstGeom prst="rect">
            <a:avLst/>
          </a:prstGeom>
          <a:solidFill>
            <a:srgbClr val="FAF7F3"/>
          </a:solidFill>
          <a:ln/>
        </p:spPr>
        <p:txBody>
          <a:bodyPr/>
          <a:lstStyle/>
          <a:p>
            <a:endParaRPr/>
          </a:p>
        </p:txBody>
      </p:sp>
      <p:sp>
        <p:nvSpPr>
          <p:cNvPr id="31" name="Object 31"/>
          <p:cNvSpPr/>
          <p:nvPr/>
        </p:nvSpPr>
        <p:spPr>
          <a:xfrm>
            <a:off x="6667530" y="1438260"/>
            <a:ext cx="2971800" cy="28621"/>
          </a:xfrm>
          <a:prstGeom prst="rect">
            <a:avLst/>
          </a:prstGeom>
          <a:solidFill>
            <a:srgbClr val="B68757"/>
          </a:solidFill>
          <a:ln/>
        </p:spPr>
        <p:txBody>
          <a:bodyPr/>
          <a:lstStyle/>
          <a:p>
            <a:endParaRPr/>
          </a:p>
        </p:txBody>
      </p:sp>
      <p:sp>
        <p:nvSpPr>
          <p:cNvPr id="32" name="Object 32"/>
          <p:cNvSpPr txBox="1"/>
          <p:nvPr/>
        </p:nvSpPr>
        <p:spPr>
          <a:xfrm>
            <a:off x="6819870" y="1576426"/>
            <a:ext cx="1180490"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INSURANCE JOURNAL</a:t>
            </a:r>
            <a:endParaRPr lang="en-US" sz="600" dirty="0"/>
          </a:p>
        </p:txBody>
      </p:sp>
      <p:sp>
        <p:nvSpPr>
          <p:cNvPr id="33" name="Object 33"/>
          <p:cNvSpPr txBox="1"/>
          <p:nvPr/>
        </p:nvSpPr>
        <p:spPr>
          <a:xfrm>
            <a:off x="8830909" y="1571671"/>
            <a:ext cx="713141"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August 20, 2026</a:t>
            </a:r>
            <a:endParaRPr lang="en-US" sz="700" dirty="0"/>
          </a:p>
        </p:txBody>
      </p:sp>
      <p:sp>
        <p:nvSpPr>
          <p:cNvPr id="34" name="Object 34"/>
          <p:cNvSpPr txBox="1"/>
          <p:nvPr/>
        </p:nvSpPr>
        <p:spPr>
          <a:xfrm>
            <a:off x="681987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Object 35"/>
          <p:cNvSpPr txBox="1"/>
          <p:nvPr/>
        </p:nvSpPr>
        <p:spPr>
          <a:xfrm>
            <a:off x="681987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fell 0.5%, and commercial property fell 6.3% while umbrella and commercial auto continued to rise.</a:t>
            </a:r>
            <a:endParaRPr lang="en-US" sz="800" dirty="0"/>
          </a:p>
        </p:txBody>
      </p:sp>
      <p:sp>
        <p:nvSpPr>
          <p:cNvPr id="36" name="Object 36"/>
          <p:cNvSpPr/>
          <p:nvPr/>
        </p:nvSpPr>
        <p:spPr>
          <a:xfrm>
            <a:off x="6819870" y="3014685"/>
            <a:ext cx="19020" cy="295260"/>
          </a:xfrm>
          <a:prstGeom prst="rect">
            <a:avLst/>
          </a:prstGeom>
          <a:solidFill>
            <a:srgbClr val="B68757"/>
          </a:solidFill>
          <a:ln/>
        </p:spPr>
        <p:txBody>
          <a:bodyPr/>
          <a:lstStyle/>
          <a:p>
            <a:endParaRPr/>
          </a:p>
        </p:txBody>
      </p:sp>
      <p:sp>
        <p:nvSpPr>
          <p:cNvPr id="37" name="Object 37"/>
          <p:cNvSpPr txBox="1"/>
          <p:nvPr/>
        </p:nvSpPr>
        <p:spPr>
          <a:xfrm>
            <a:off x="6934170" y="3007553"/>
            <a:ext cx="2552730" cy="29526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Account size and line of business now explain most of the difference in agency growth.</a:t>
            </a:r>
            <a:endParaRPr lang="en-US" sz="800" dirty="0"/>
          </a:p>
        </p:txBody>
      </p:sp>
      <p:sp>
        <p:nvSpPr>
          <p:cNvPr id="38" name="Object 38">
            <a:hlinkClick r:id="rId5"/>
          </p:cNvPr>
          <p:cNvSpPr/>
          <p:nvPr/>
        </p:nvSpPr>
        <p:spPr>
          <a:xfrm>
            <a:off x="6819870" y="3657600"/>
            <a:ext cx="840882" cy="228600"/>
          </a:xfrm>
          <a:prstGeom prst="rect">
            <a:avLst/>
          </a:prstGeom>
          <a:solidFill>
            <a:srgbClr val="1B1A1A"/>
          </a:solidFill>
          <a:ln/>
        </p:spPr>
        <p:txBody>
          <a:bodyPr/>
          <a:lstStyle/>
          <a:p>
            <a:endParaRPr/>
          </a:p>
        </p:txBody>
      </p:sp>
      <p:sp>
        <p:nvSpPr>
          <p:cNvPr id="39" name="Object 39"/>
          <p:cNvSpPr txBox="1"/>
          <p:nvPr/>
        </p:nvSpPr>
        <p:spPr>
          <a:xfrm>
            <a:off x="693417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40" name="Object 40"/>
          <p:cNvSpPr txBox="1"/>
          <p:nvPr/>
        </p:nvSpPr>
        <p:spPr>
          <a:xfrm>
            <a:off x="419070" y="4171950"/>
            <a:ext cx="1763420"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ECONOMY AND DEAL MARKET</a:t>
            </a:r>
            <a:endParaRPr lang="en-US" sz="700" dirty="0"/>
          </a:p>
        </p:txBody>
      </p:sp>
      <p:sp>
        <p:nvSpPr>
          <p:cNvPr id="41" name="Object 41"/>
          <p:cNvSpPr/>
          <p:nvPr/>
        </p:nvSpPr>
        <p:spPr>
          <a:xfrm>
            <a:off x="2239731" y="4229100"/>
            <a:ext cx="7399599" cy="9510"/>
          </a:xfrm>
          <a:prstGeom prst="ellipse">
            <a:avLst/>
          </a:prstGeom>
          <a:solidFill>
            <a:srgbClr val="E3DCD3"/>
          </a:solidFill>
          <a:ln/>
        </p:spPr>
        <p:txBody>
          <a:bodyPr/>
          <a:lstStyle/>
          <a:p>
            <a:endParaRPr/>
          </a:p>
        </p:txBody>
      </p:sp>
      <p:sp>
        <p:nvSpPr>
          <p:cNvPr id="42" name="Object 42"/>
          <p:cNvSpPr/>
          <p:nvPr/>
        </p:nvSpPr>
        <p:spPr>
          <a:xfrm>
            <a:off x="419070" y="4372021"/>
            <a:ext cx="2971800" cy="2562240"/>
          </a:xfrm>
          <a:prstGeom prst="rect">
            <a:avLst/>
          </a:prstGeom>
          <a:solidFill>
            <a:srgbClr val="FAF7F3"/>
          </a:solidFill>
          <a:ln/>
        </p:spPr>
        <p:txBody>
          <a:bodyPr/>
          <a:lstStyle/>
          <a:p>
            <a:endParaRPr/>
          </a:p>
        </p:txBody>
      </p:sp>
      <p:sp>
        <p:nvSpPr>
          <p:cNvPr id="43" name="Object 43"/>
          <p:cNvSpPr/>
          <p:nvPr/>
        </p:nvSpPr>
        <p:spPr>
          <a:xfrm>
            <a:off x="419070" y="4372021"/>
            <a:ext cx="2971800" cy="28621"/>
          </a:xfrm>
          <a:prstGeom prst="rect">
            <a:avLst/>
          </a:prstGeom>
          <a:solidFill>
            <a:srgbClr val="B68757"/>
          </a:solidFill>
          <a:ln/>
        </p:spPr>
        <p:txBody>
          <a:bodyPr/>
          <a:lstStyle/>
          <a:p>
            <a:endParaRPr/>
          </a:p>
        </p:txBody>
      </p:sp>
      <p:sp>
        <p:nvSpPr>
          <p:cNvPr id="44" name="Object 44"/>
          <p:cNvSpPr txBox="1"/>
          <p:nvPr/>
        </p:nvSpPr>
        <p:spPr>
          <a:xfrm>
            <a:off x="571500" y="4510095"/>
            <a:ext cx="529346"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REUTERS, VIA INVESTING.COM</a:t>
            </a:r>
            <a:endParaRPr lang="en-US" sz="600" dirty="0"/>
          </a:p>
        </p:txBody>
      </p:sp>
      <p:sp>
        <p:nvSpPr>
          <p:cNvPr id="45" name="Object 45"/>
          <p:cNvSpPr txBox="1"/>
          <p:nvPr/>
        </p:nvSpPr>
        <p:spPr>
          <a:xfrm>
            <a:off x="2598085" y="4505340"/>
            <a:ext cx="697596"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October 1, 2026</a:t>
            </a:r>
            <a:endParaRPr lang="en-US" sz="700" dirty="0"/>
          </a:p>
        </p:txBody>
      </p:sp>
      <p:sp>
        <p:nvSpPr>
          <p:cNvPr id="46" name="Object 46"/>
          <p:cNvSpPr txBox="1"/>
          <p:nvPr/>
        </p:nvSpPr>
        <p:spPr>
          <a:xfrm>
            <a:off x="571500" y="4693432"/>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Global deal value falls 41% from the second quarter</a:t>
            </a:r>
            <a:endParaRPr lang="en-US" sz="1150" dirty="0"/>
          </a:p>
        </p:txBody>
      </p:sp>
      <p:sp>
        <p:nvSpPr>
          <p:cNvPr id="47" name="Object 47"/>
          <p:cNvSpPr txBox="1"/>
          <p:nvPr/>
        </p:nvSpPr>
        <p:spPr>
          <a:xfrm>
            <a:off x="571500" y="5126858"/>
            <a:ext cx="26670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Announced global M&amp;A fell to $993 billion in the third quarter, down 41% from the second quarter and the first quarter under $1 trillion since mid-2025. Year-to-date value of $3.9 trillion is the highest for the period since 2001 (LSEG data).</a:t>
            </a:r>
            <a:endParaRPr lang="en-US" sz="800" dirty="0"/>
          </a:p>
        </p:txBody>
      </p:sp>
      <p:sp>
        <p:nvSpPr>
          <p:cNvPr id="48" name="Object 48"/>
          <p:cNvSpPr/>
          <p:nvPr/>
        </p:nvSpPr>
        <p:spPr>
          <a:xfrm>
            <a:off x="571500" y="5800771"/>
            <a:ext cx="19020" cy="590520"/>
          </a:xfrm>
          <a:prstGeom prst="rect">
            <a:avLst/>
          </a:prstGeom>
          <a:solidFill>
            <a:srgbClr val="B68757"/>
          </a:solidFill>
          <a:ln/>
        </p:spPr>
        <p:txBody>
          <a:bodyPr/>
          <a:lstStyle/>
          <a:p>
            <a:endParaRPr/>
          </a:p>
        </p:txBody>
      </p:sp>
      <p:sp>
        <p:nvSpPr>
          <p:cNvPr id="49" name="Object 49"/>
          <p:cNvSpPr txBox="1"/>
          <p:nvPr/>
        </p:nvSpPr>
        <p:spPr>
          <a:xfrm>
            <a:off x="685800" y="5793547"/>
            <a:ext cx="25527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slowdown is concentrated in the largest transactions. Add-on purchases by existing platforms made up about three-quarters of second-quarter buyouts by count (</a:t>
            </a:r>
            <a:r>
              <a:rPr lang="en-US" sz="800" u="sng" dirty="0">
                <a:solidFill>
                  <a:srgbClr val="8C6239"/>
                </a:solidFill>
                <a:latin typeface="+mn-lt" pitchFamily="34" charset="0"/>
                <a:hlinkClick r:id="rId6"/>
              </a:rPr>
              <a:t>PitchBook</a:t>
            </a:r>
            <a:r>
              <a:rPr lang="en-US" sz="800" dirty="0">
                <a:solidFill>
                  <a:srgbClr val="333231"/>
                </a:solidFill>
                <a:latin typeface="+mn-lt" pitchFamily="34" charset="0"/>
              </a:rPr>
              <a:t>).</a:t>
            </a:r>
            <a:endParaRPr lang="en-US" sz="800" dirty="0"/>
          </a:p>
        </p:txBody>
      </p:sp>
      <p:sp>
        <p:nvSpPr>
          <p:cNvPr id="50" name="Object 50">
            <a:hlinkClick r:id="rId7"/>
          </p:cNvPr>
          <p:cNvSpPr/>
          <p:nvPr/>
        </p:nvSpPr>
        <p:spPr>
          <a:xfrm>
            <a:off x="571500" y="6591270"/>
            <a:ext cx="840882" cy="228600"/>
          </a:xfrm>
          <a:prstGeom prst="rect">
            <a:avLst/>
          </a:prstGeom>
          <a:solidFill>
            <a:srgbClr val="1B1A1A"/>
          </a:solidFill>
          <a:ln/>
        </p:spPr>
        <p:txBody>
          <a:bodyPr/>
          <a:lstStyle/>
          <a:p>
            <a:endParaRPr/>
          </a:p>
        </p:txBody>
      </p:sp>
      <p:sp>
        <p:nvSpPr>
          <p:cNvPr id="51" name="Object 51"/>
          <p:cNvSpPr txBox="1"/>
          <p:nvPr/>
        </p:nvSpPr>
        <p:spPr>
          <a:xfrm>
            <a:off x="68580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52" name="Object 52"/>
          <p:cNvSpPr/>
          <p:nvPr/>
        </p:nvSpPr>
        <p:spPr>
          <a:xfrm>
            <a:off x="3543300" y="4372021"/>
            <a:ext cx="2971800" cy="2562240"/>
          </a:xfrm>
          <a:prstGeom prst="rect">
            <a:avLst/>
          </a:prstGeom>
          <a:solidFill>
            <a:srgbClr val="FAF7F3"/>
          </a:solidFill>
          <a:ln/>
        </p:spPr>
        <p:txBody>
          <a:bodyPr/>
          <a:lstStyle/>
          <a:p>
            <a:endParaRPr/>
          </a:p>
        </p:txBody>
      </p:sp>
      <p:sp>
        <p:nvSpPr>
          <p:cNvPr id="53" name="Object 53"/>
          <p:cNvSpPr/>
          <p:nvPr/>
        </p:nvSpPr>
        <p:spPr>
          <a:xfrm>
            <a:off x="3543300" y="4372021"/>
            <a:ext cx="2971800" cy="28621"/>
          </a:xfrm>
          <a:prstGeom prst="rect">
            <a:avLst/>
          </a:prstGeom>
          <a:solidFill>
            <a:srgbClr val="B68757"/>
          </a:solidFill>
          <a:ln/>
        </p:spPr>
        <p:txBody>
          <a:bodyPr/>
          <a:lstStyle/>
          <a:p>
            <a:endParaRPr/>
          </a:p>
        </p:txBody>
      </p:sp>
      <p:sp>
        <p:nvSpPr>
          <p:cNvPr id="54" name="Object 54"/>
          <p:cNvSpPr txBox="1"/>
          <p:nvPr/>
        </p:nvSpPr>
        <p:spPr>
          <a:xfrm>
            <a:off x="3695730" y="4510095"/>
            <a:ext cx="1024128"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FEDERAL RESERVE</a:t>
            </a:r>
            <a:endParaRPr lang="en-US" sz="600" dirty="0"/>
          </a:p>
        </p:txBody>
      </p:sp>
      <p:sp>
        <p:nvSpPr>
          <p:cNvPr id="55" name="Object 55"/>
          <p:cNvSpPr txBox="1"/>
          <p:nvPr/>
        </p:nvSpPr>
        <p:spPr>
          <a:xfrm>
            <a:off x="5557723" y="4505340"/>
            <a:ext cx="862188"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September 16, 2026</a:t>
            </a:r>
            <a:endParaRPr lang="en-US" sz="700" dirty="0"/>
          </a:p>
        </p:txBody>
      </p:sp>
      <p:sp>
        <p:nvSpPr>
          <p:cNvPr id="56" name="Object 56"/>
          <p:cNvSpPr txBox="1"/>
          <p:nvPr/>
        </p:nvSpPr>
        <p:spPr>
          <a:xfrm>
            <a:off x="3695730" y="4693432"/>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Object 57"/>
          <p:cNvSpPr txBox="1"/>
          <p:nvPr/>
        </p:nvSpPr>
        <p:spPr>
          <a:xfrm>
            <a:off x="3695730" y="5126858"/>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Object 58"/>
          <p:cNvSpPr/>
          <p:nvPr/>
        </p:nvSpPr>
        <p:spPr>
          <a:xfrm>
            <a:off x="3695730" y="5948355"/>
            <a:ext cx="19020" cy="442935"/>
          </a:xfrm>
          <a:prstGeom prst="rect">
            <a:avLst/>
          </a:prstGeom>
          <a:solidFill>
            <a:srgbClr val="B68757"/>
          </a:solidFill>
          <a:ln/>
        </p:spPr>
        <p:txBody>
          <a:bodyPr/>
          <a:lstStyle/>
          <a:p>
            <a:endParaRPr/>
          </a:p>
        </p:txBody>
      </p:sp>
      <p:sp>
        <p:nvSpPr>
          <p:cNvPr id="59" name="Object 59"/>
          <p:cNvSpPr txBox="1"/>
          <p:nvPr/>
        </p:nvSpPr>
        <p:spPr>
          <a:xfrm>
            <a:off x="3810030" y="5941223"/>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Lenders are advancing less debt against each dollar of earnings, with average total debt at 2.9x EBITDA on platform deals (</a:t>
            </a:r>
            <a:r>
              <a:rPr lang="en-US" sz="800" u="sng" dirty="0">
                <a:solidFill>
                  <a:srgbClr val="8C6239"/>
                </a:solidFill>
                <a:latin typeface="+mn-lt" pitchFamily="34" charset="0"/>
                <a:hlinkClick r:id="rId8"/>
              </a:rPr>
              <a:t>GF Data via ACG</a:t>
            </a:r>
            <a:r>
              <a:rPr lang="en-US" sz="800" dirty="0">
                <a:solidFill>
                  <a:srgbClr val="333231"/>
                </a:solidFill>
                <a:latin typeface="+mn-lt" pitchFamily="34" charset="0"/>
              </a:rPr>
              <a:t>).</a:t>
            </a:r>
            <a:endParaRPr lang="en-US" sz="800" dirty="0"/>
          </a:p>
        </p:txBody>
      </p:sp>
      <p:sp>
        <p:nvSpPr>
          <p:cNvPr id="60" name="Object 60">
            <a:hlinkClick r:id="rId9"/>
          </p:cNvPr>
          <p:cNvSpPr/>
          <p:nvPr/>
        </p:nvSpPr>
        <p:spPr>
          <a:xfrm>
            <a:off x="3695730" y="6591270"/>
            <a:ext cx="840882" cy="228600"/>
          </a:xfrm>
          <a:prstGeom prst="rect">
            <a:avLst/>
          </a:prstGeom>
          <a:solidFill>
            <a:srgbClr val="1B1A1A"/>
          </a:solidFill>
          <a:ln/>
        </p:spPr>
        <p:txBody>
          <a:bodyPr/>
          <a:lstStyle/>
          <a:p>
            <a:endParaRPr/>
          </a:p>
        </p:txBody>
      </p:sp>
      <p:sp>
        <p:nvSpPr>
          <p:cNvPr id="61" name="Object 61"/>
          <p:cNvSpPr txBox="1"/>
          <p:nvPr/>
        </p:nvSpPr>
        <p:spPr>
          <a:xfrm>
            <a:off x="381003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62" name="Object 62"/>
          <p:cNvSpPr/>
          <p:nvPr/>
        </p:nvSpPr>
        <p:spPr>
          <a:xfrm>
            <a:off x="6667530" y="4372021"/>
            <a:ext cx="2971800" cy="2562240"/>
          </a:xfrm>
          <a:prstGeom prst="rect">
            <a:avLst/>
          </a:prstGeom>
          <a:solidFill>
            <a:srgbClr val="FAF7F3"/>
          </a:solidFill>
          <a:ln/>
        </p:spPr>
        <p:txBody>
          <a:bodyPr/>
          <a:lstStyle/>
          <a:p>
            <a:endParaRPr/>
          </a:p>
        </p:txBody>
      </p:sp>
      <p:sp>
        <p:nvSpPr>
          <p:cNvPr id="63" name="Object 63"/>
          <p:cNvSpPr/>
          <p:nvPr/>
        </p:nvSpPr>
        <p:spPr>
          <a:xfrm>
            <a:off x="6667530" y="4372021"/>
            <a:ext cx="2971800" cy="28621"/>
          </a:xfrm>
          <a:prstGeom prst="rect">
            <a:avLst/>
          </a:prstGeom>
          <a:solidFill>
            <a:srgbClr val="B68757"/>
          </a:solidFill>
          <a:ln/>
        </p:spPr>
        <p:txBody>
          <a:bodyPr/>
          <a:lstStyle/>
          <a:p>
            <a:endParaRPr/>
          </a:p>
        </p:txBody>
      </p:sp>
      <p:sp>
        <p:nvSpPr>
          <p:cNvPr id="64" name="Object 64"/>
          <p:cNvSpPr txBox="1"/>
          <p:nvPr/>
        </p:nvSpPr>
        <p:spPr>
          <a:xfrm>
            <a:off x="6819870" y="4510095"/>
            <a:ext cx="1143000" cy="247620"/>
          </a:xfrm>
          <a:prstGeom prst="rect">
            <a:avLst/>
          </a:prstGeom>
          <a:noFill/>
          <a:ln/>
        </p:spPr>
        <p:txBody>
          <a:bodyPr wrap="square" lIns="0" tIns="0" rIns="0" bIns="0" rtlCol="0" anchor="t"/>
          <a:lstStyle/>
          <a:p>
            <a:pPr marL="0" indent="0" algn="l">
              <a:lnSpc>
                <a:spcPts val="1000"/>
              </a:lnSpc>
              <a:buNone/>
            </a:pPr>
            <a:r>
              <a:rPr lang="en-US" sz="600" b="1" kern="0" spc="150" dirty="0">
                <a:solidFill>
                  <a:srgbClr val="8C6239"/>
                </a:solidFill>
                <a:latin typeface="+mn-lt" pitchFamily="34" charset="0"/>
              </a:rPr>
              <a:t>IBBA AND M&amp;A SOURCE</a:t>
            </a:r>
            <a:endParaRPr lang="en-US" sz="600" dirty="0"/>
          </a:p>
        </p:txBody>
      </p:sp>
      <p:sp>
        <p:nvSpPr>
          <p:cNvPr id="65" name="Object 65"/>
          <p:cNvSpPr txBox="1"/>
          <p:nvPr/>
        </p:nvSpPr>
        <p:spPr>
          <a:xfrm>
            <a:off x="8054401" y="4505340"/>
            <a:ext cx="1489649"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Object 66"/>
          <p:cNvSpPr txBox="1"/>
          <p:nvPr/>
        </p:nvSpPr>
        <p:spPr>
          <a:xfrm>
            <a:off x="6819870" y="4698549"/>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Object 67"/>
          <p:cNvSpPr txBox="1"/>
          <p:nvPr/>
        </p:nvSpPr>
        <p:spPr>
          <a:xfrm>
            <a:off x="6819870" y="5131069"/>
            <a:ext cx="26670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quarterly survey of business brokers and M&amp;A advisors put the average multiple on sales of $5 million to $50 million at 5.8x EBITDA, up from 5.5x a year earlier and the highest since the first quarter of 2022. Sellers received 83% to 92% of the price in cash at closing.</a:t>
            </a:r>
            <a:endParaRPr lang="en-US" sz="800" dirty="0"/>
          </a:p>
        </p:txBody>
      </p:sp>
      <p:sp>
        <p:nvSpPr>
          <p:cNvPr id="68" name="Object 68"/>
          <p:cNvSpPr/>
          <p:nvPr/>
        </p:nvSpPr>
        <p:spPr>
          <a:xfrm>
            <a:off x="6819870" y="5960878"/>
            <a:ext cx="19020" cy="442935"/>
          </a:xfrm>
          <a:prstGeom prst="rect">
            <a:avLst/>
          </a:prstGeom>
          <a:solidFill>
            <a:srgbClr val="B68757"/>
          </a:solidFill>
          <a:ln/>
        </p:spPr>
        <p:txBody>
          <a:bodyPr/>
          <a:lstStyle/>
          <a:p>
            <a:endParaRPr/>
          </a:p>
        </p:txBody>
      </p:sp>
      <p:sp>
        <p:nvSpPr>
          <p:cNvPr id="69" name="Object 69"/>
          <p:cNvSpPr txBox="1"/>
          <p:nvPr/>
        </p:nvSpPr>
        <p:spPr>
          <a:xfrm>
            <a:off x="6934170" y="5951459"/>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Competition for well-prepared businesses is intact, with three or more offers on 87% of sales above $5 million (</a:t>
            </a:r>
            <a:r>
              <a:rPr lang="en-US" sz="800" u="sng" dirty="0">
                <a:solidFill>
                  <a:srgbClr val="8C6239"/>
                </a:solidFill>
                <a:latin typeface="+mn-lt" pitchFamily="34" charset="0"/>
                <a:hlinkClick r:id="rId10"/>
              </a:rPr>
              <a:t>survey release</a:t>
            </a:r>
            <a:r>
              <a:rPr lang="en-US" sz="800" dirty="0">
                <a:solidFill>
                  <a:srgbClr val="333231"/>
                </a:solidFill>
                <a:latin typeface="+mn-lt" pitchFamily="34" charset="0"/>
              </a:rPr>
              <a:t>).</a:t>
            </a:r>
            <a:endParaRPr lang="en-US" sz="800" dirty="0"/>
          </a:p>
        </p:txBody>
      </p:sp>
      <p:sp>
        <p:nvSpPr>
          <p:cNvPr id="70" name="Object 70">
            <a:hlinkClick r:id="rId11"/>
          </p:cNvPr>
          <p:cNvSpPr/>
          <p:nvPr/>
        </p:nvSpPr>
        <p:spPr>
          <a:xfrm>
            <a:off x="6819870" y="6591270"/>
            <a:ext cx="840882" cy="228600"/>
          </a:xfrm>
          <a:prstGeom prst="rect">
            <a:avLst/>
          </a:prstGeom>
          <a:solidFill>
            <a:srgbClr val="1B1A1A"/>
          </a:solidFill>
          <a:ln/>
        </p:spPr>
        <p:txBody>
          <a:bodyPr/>
          <a:lstStyle/>
          <a:p>
            <a:endParaRPr/>
          </a:p>
        </p:txBody>
      </p:sp>
      <p:sp>
        <p:nvSpPr>
          <p:cNvPr id="71" name="Object 71"/>
          <p:cNvSpPr txBox="1"/>
          <p:nvPr/>
        </p:nvSpPr>
        <p:spPr>
          <a:xfrm>
            <a:off x="693417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72" name="Object 72"/>
          <p:cNvSpPr/>
          <p:nvPr/>
        </p:nvSpPr>
        <p:spPr>
          <a:xfrm>
            <a:off x="419070" y="7029450"/>
            <a:ext cx="9220170" cy="9510"/>
          </a:xfrm>
          <a:prstGeom prst="ellipse">
            <a:avLst/>
          </a:prstGeom>
          <a:solidFill>
            <a:srgbClr val="E3DCD3"/>
          </a:solidFill>
          <a:ln/>
        </p:spPr>
        <p:txBody>
          <a:bodyPr/>
          <a:lstStyle/>
          <a:p>
            <a:endParaRPr/>
          </a:p>
        </p:txBody>
      </p:sp>
      <p:pic>
        <p:nvPicPr>
          <p:cNvPr id="73" name="Object 73" descr="Benchmark International"/>
          <p:cNvPicPr>
            <a:picLocks noChangeAspect="1"/>
          </p:cNvPicPr>
          <p:nvPr/>
        </p:nvPicPr>
        <p:blipFill>
          <a:blip r:embed="rId12"/>
          <a:stretch>
            <a:fillRect/>
          </a:stretch>
        </p:blipFill>
        <p:spPr>
          <a:xfrm>
            <a:off x="419070" y="7143750"/>
            <a:ext cx="914400" cy="171450"/>
          </a:xfrm>
          <a:prstGeom prst="rect">
            <a:avLst/>
          </a:prstGeom>
        </p:spPr>
      </p:pic>
      <p:sp>
        <p:nvSpPr>
          <p:cNvPr id="74" name="Object 74"/>
          <p:cNvSpPr txBox="1"/>
          <p:nvPr/>
        </p:nvSpPr>
        <p:spPr>
          <a:xfrm>
            <a:off x="1543050" y="7098487"/>
            <a:ext cx="4946904" cy="119055"/>
          </a:xfrm>
          <a:prstGeom prst="rect">
            <a:avLst/>
          </a:prstGeom>
          <a:noFill/>
          <a:ln/>
        </p:spPr>
        <p:txBody>
          <a:bodyPr wrap="none" lIns="0" tIns="0" rIns="0" bIns="0" rtlCol="0" anchor="t"/>
          <a:lstStyle/>
          <a:p>
            <a:pPr marL="0" indent="0" algn="l">
              <a:lnSpc>
                <a:spcPts val="950"/>
              </a:lnSpc>
              <a:buNone/>
            </a:pPr>
            <a:r>
              <a:rPr lang="en-US" sz="700" dirty="0">
                <a:solidFill>
                  <a:srgbClr val="6F6A66"/>
                </a:solidFill>
                <a:latin typeface="+mn-lt" pitchFamily="34" charset="0"/>
              </a:rPr>
              <a:t>Publication dates are as shown on each source.</a:t>
            </a:r>
            <a:endParaRPr lang="en-US" sz="700" dirty="0"/>
          </a:p>
        </p:txBody>
      </p:sp>
      <p:sp>
        <p:nvSpPr>
          <p:cNvPr id="75" name="Object 75"/>
          <p:cNvSpPr txBox="1"/>
          <p:nvPr/>
        </p:nvSpPr>
        <p:spPr>
          <a:xfrm>
            <a:off x="9493484"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307385"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Object 6"/>
          <p:cNvSpPr txBox="1"/>
          <p:nvPr/>
        </p:nvSpPr>
        <p:spPr>
          <a:xfrm>
            <a:off x="419070" y="883402"/>
            <a:ext cx="776435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Why inspection and service revenue draws acquirers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667030" cy="1333470"/>
          </a:xfrm>
          <a:prstGeom prst="rect">
            <a:avLst/>
          </a:prstGeom>
          <a:solidFill>
            <a:srgbClr val="1B1A1A"/>
          </a:solidFill>
          <a:ln/>
        </p:spPr>
        <p:txBody>
          <a:bodyPr/>
          <a:lstStyle/>
          <a:p>
            <a:endParaRPr/>
          </a:p>
        </p:txBody>
      </p:sp>
      <p:pic>
        <p:nvPicPr>
          <p:cNvPr id="9" name="Object 9" descr="Lit floors of a commercial office building at dusk"/>
          <p:cNvPicPr>
            <a:picLocks noChangeAspect="1"/>
          </p:cNvPicPr>
          <p:nvPr/>
        </p:nvPicPr>
        <p:blipFill>
          <a:blip r:embed="rId3"/>
          <a:stretch>
            <a:fillRect/>
          </a:stretch>
        </p:blipFill>
        <p:spPr>
          <a:xfrm>
            <a:off x="419070" y="1238280"/>
            <a:ext cx="2667030" cy="1333470"/>
          </a:xfrm>
          <a:prstGeom prst="rect">
            <a:avLst/>
          </a:prstGeom>
        </p:spPr>
      </p:pic>
      <p:sp>
        <p:nvSpPr>
          <p:cNvPr id="10" name="Object 10"/>
          <p:cNvSpPr txBox="1"/>
          <p:nvPr/>
        </p:nvSpPr>
        <p:spPr>
          <a:xfrm>
            <a:off x="571500" y="1885950"/>
            <a:ext cx="1047628"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SECTOR FEATURE</a:t>
            </a:r>
            <a:endParaRPr lang="en-US" sz="700" dirty="0"/>
          </a:p>
        </p:txBody>
      </p:sp>
      <p:sp>
        <p:nvSpPr>
          <p:cNvPr id="11" name="Object 11"/>
          <p:cNvSpPr txBox="1"/>
          <p:nvPr/>
        </p:nvSpPr>
        <p:spPr>
          <a:xfrm>
            <a:off x="571500" y="2038380"/>
            <a:ext cx="2362170" cy="419070"/>
          </a:xfrm>
          <a:prstGeom prst="rect">
            <a:avLst/>
          </a:prstGeom>
          <a:noFill/>
          <a:ln/>
        </p:spPr>
        <p:txBody>
          <a:bodyPr wrap="square" lIns="0" tIns="0" rIns="0" bIns="0" rtlCol="0" anchor="t"/>
          <a:lstStyle/>
          <a:p>
            <a:pPr marL="0" indent="0" algn="l">
              <a:lnSpc>
                <a:spcPts val="1650"/>
              </a:lnSpc>
              <a:buNone/>
            </a:pPr>
            <a:r>
              <a:rPr lang="en-US" sz="1350" b="1" dirty="0">
                <a:solidFill>
                  <a:srgbClr val="FFFFFF"/>
                </a:solidFill>
                <a:latin typeface="+mj-lt" pitchFamily="34" charset="0"/>
              </a:rPr>
              <a:t>Acquirer Interest</a:t>
            </a:r>
            <a:endParaRPr lang="en-US" sz="1350" dirty="0"/>
          </a:p>
        </p:txBody>
      </p:sp>
      <p:sp>
        <p:nvSpPr>
          <p:cNvPr id="12" name="Object 12"/>
          <p:cNvSpPr txBox="1"/>
          <p:nvPr/>
        </p:nvSpPr>
        <p:spPr>
          <a:xfrm>
            <a:off x="419070" y="2669408"/>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Pye-Barker alone bought 79 fire and security companies in the eighteen months to June 2026, and APi Group, Sciens Building Solutions, and AI Fire are buying alongside it.</a:t>
            </a:r>
            <a:endParaRPr lang="en-US" sz="800" dirty="0"/>
          </a:p>
        </p:txBody>
      </p:sp>
      <p:sp>
        <p:nvSpPr>
          <p:cNvPr id="13" name="Object 13"/>
          <p:cNvSpPr/>
          <p:nvPr/>
        </p:nvSpPr>
        <p:spPr>
          <a:xfrm>
            <a:off x="419070" y="3490905"/>
            <a:ext cx="2667030" cy="9510"/>
          </a:xfrm>
          <a:prstGeom prst="rect">
            <a:avLst/>
          </a:prstGeom>
          <a:solidFill>
            <a:srgbClr val="E3DCD3"/>
          </a:solidFill>
          <a:ln/>
        </p:spPr>
        <p:txBody>
          <a:bodyPr/>
          <a:lstStyle/>
          <a:p>
            <a:endParaRPr/>
          </a:p>
        </p:txBody>
      </p:sp>
      <p:sp>
        <p:nvSpPr>
          <p:cNvPr id="14" name="Object 14"/>
          <p:cNvSpPr txBox="1"/>
          <p:nvPr/>
        </p:nvSpPr>
        <p:spPr>
          <a:xfrm>
            <a:off x="419070" y="3581430"/>
            <a:ext cx="118140"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1</a:t>
            </a:r>
            <a:endParaRPr lang="en-US" sz="1350" dirty="0"/>
          </a:p>
        </p:txBody>
      </p:sp>
      <p:sp>
        <p:nvSpPr>
          <p:cNvPr id="15" name="Object 15"/>
          <p:cNvSpPr txBox="1"/>
          <p:nvPr/>
        </p:nvSpPr>
        <p:spPr>
          <a:xfrm>
            <a:off x="742950" y="3581430"/>
            <a:ext cx="2064990"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Object 16"/>
          <p:cNvSpPr txBox="1"/>
          <p:nvPr/>
        </p:nvSpPr>
        <p:spPr>
          <a:xfrm>
            <a:off x="742950" y="3733770"/>
            <a:ext cx="23431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Object 17"/>
          <p:cNvSpPr/>
          <p:nvPr/>
        </p:nvSpPr>
        <p:spPr>
          <a:xfrm>
            <a:off x="419070" y="4252874"/>
            <a:ext cx="2667030" cy="9510"/>
          </a:xfrm>
          <a:prstGeom prst="rect">
            <a:avLst/>
          </a:prstGeom>
          <a:solidFill>
            <a:srgbClr val="E3DCD3"/>
          </a:solidFill>
          <a:ln/>
        </p:spPr>
        <p:txBody>
          <a:bodyPr/>
          <a:lstStyle/>
          <a:p>
            <a:endParaRPr/>
          </a:p>
        </p:txBody>
      </p:sp>
      <p:sp>
        <p:nvSpPr>
          <p:cNvPr id="18" name="Object 18"/>
          <p:cNvSpPr txBox="1"/>
          <p:nvPr/>
        </p:nvSpPr>
        <p:spPr>
          <a:xfrm>
            <a:off x="419070" y="4343400"/>
            <a:ext cx="153894"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2</a:t>
            </a:r>
            <a:endParaRPr lang="en-US" sz="1350" dirty="0"/>
          </a:p>
        </p:txBody>
      </p:sp>
      <p:sp>
        <p:nvSpPr>
          <p:cNvPr id="19" name="Object 19"/>
          <p:cNvSpPr txBox="1"/>
          <p:nvPr/>
        </p:nvSpPr>
        <p:spPr>
          <a:xfrm>
            <a:off x="742950" y="4343400"/>
            <a:ext cx="1974464"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Acquired branches add density</a:t>
            </a:r>
            <a:endParaRPr lang="en-US" sz="850" dirty="0"/>
          </a:p>
        </p:txBody>
      </p:sp>
      <p:sp>
        <p:nvSpPr>
          <p:cNvPr id="20" name="Object 20"/>
          <p:cNvSpPr txBox="1"/>
          <p:nvPr/>
        </p:nvSpPr>
        <p:spPr>
          <a:xfrm>
            <a:off x="742950" y="4495830"/>
            <a:ext cx="23431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Object 21"/>
          <p:cNvSpPr/>
          <p:nvPr/>
        </p:nvSpPr>
        <p:spPr>
          <a:xfrm>
            <a:off x="419070" y="5014935"/>
            <a:ext cx="2667030" cy="9510"/>
          </a:xfrm>
          <a:prstGeom prst="rect">
            <a:avLst/>
          </a:prstGeom>
          <a:solidFill>
            <a:srgbClr val="E3DCD3"/>
          </a:solidFill>
          <a:ln/>
        </p:spPr>
        <p:txBody>
          <a:bodyPr/>
          <a:lstStyle/>
          <a:p>
            <a:endParaRPr/>
          </a:p>
        </p:txBody>
      </p:sp>
      <p:sp>
        <p:nvSpPr>
          <p:cNvPr id="22" name="Object 22"/>
          <p:cNvSpPr txBox="1"/>
          <p:nvPr/>
        </p:nvSpPr>
        <p:spPr>
          <a:xfrm>
            <a:off x="419070" y="5105370"/>
            <a:ext cx="145390"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3</a:t>
            </a:r>
            <a:endParaRPr lang="en-US" sz="1350" dirty="0"/>
          </a:p>
        </p:txBody>
      </p:sp>
      <p:sp>
        <p:nvSpPr>
          <p:cNvPr id="23" name="Object 23"/>
          <p:cNvSpPr txBox="1"/>
          <p:nvPr/>
        </p:nvSpPr>
        <p:spPr>
          <a:xfrm>
            <a:off x="742950" y="5105370"/>
            <a:ext cx="2384207"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Object 24"/>
          <p:cNvSpPr txBox="1"/>
          <p:nvPr/>
        </p:nvSpPr>
        <p:spPr>
          <a:xfrm>
            <a:off x="742950" y="5257800"/>
            <a:ext cx="234315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Object 25"/>
          <p:cNvSpPr/>
          <p:nvPr/>
        </p:nvSpPr>
        <p:spPr>
          <a:xfrm>
            <a:off x="419070" y="5919826"/>
            <a:ext cx="2667030" cy="9510"/>
          </a:xfrm>
          <a:prstGeom prst="rect">
            <a:avLst/>
          </a:prstGeom>
          <a:solidFill>
            <a:srgbClr val="E3DCD3"/>
          </a:solidFill>
          <a:ln/>
        </p:spPr>
        <p:txBody>
          <a:bodyPr/>
          <a:lstStyle/>
          <a:p>
            <a:endParaRPr/>
          </a:p>
        </p:txBody>
      </p:sp>
      <p:sp>
        <p:nvSpPr>
          <p:cNvPr id="26" name="Object 26"/>
          <p:cNvSpPr/>
          <p:nvPr/>
        </p:nvSpPr>
        <p:spPr>
          <a:xfrm>
            <a:off x="3257550" y="1238280"/>
            <a:ext cx="1509674" cy="1219170"/>
          </a:xfrm>
          <a:prstGeom prst="rect">
            <a:avLst/>
          </a:prstGeom>
          <a:solidFill>
            <a:srgbClr val="FAF7F3"/>
          </a:solidFill>
          <a:ln/>
        </p:spPr>
        <p:txBody>
          <a:bodyPr/>
          <a:lstStyle/>
          <a:p>
            <a:endParaRPr/>
          </a:p>
        </p:txBody>
      </p:sp>
      <p:sp>
        <p:nvSpPr>
          <p:cNvPr id="27" name="Object 27"/>
          <p:cNvSpPr/>
          <p:nvPr/>
        </p:nvSpPr>
        <p:spPr>
          <a:xfrm>
            <a:off x="3257550" y="1238280"/>
            <a:ext cx="1509674" cy="28621"/>
          </a:xfrm>
          <a:prstGeom prst="rect">
            <a:avLst/>
          </a:prstGeom>
          <a:solidFill>
            <a:srgbClr val="B68757"/>
          </a:solidFill>
          <a:ln/>
        </p:spPr>
        <p:txBody>
          <a:bodyPr/>
          <a:lstStyle/>
          <a:p>
            <a:endParaRPr/>
          </a:p>
        </p:txBody>
      </p:sp>
      <p:sp>
        <p:nvSpPr>
          <p:cNvPr id="28" name="Object 28"/>
          <p:cNvSpPr txBox="1"/>
          <p:nvPr/>
        </p:nvSpPr>
        <p:spPr>
          <a:xfrm>
            <a:off x="3390870" y="1362090"/>
            <a:ext cx="383042"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22</a:t>
            </a:r>
            <a:endParaRPr lang="en-US" sz="2100" dirty="0"/>
          </a:p>
        </p:txBody>
      </p:sp>
      <p:sp>
        <p:nvSpPr>
          <p:cNvPr id="29" name="Object 29"/>
          <p:cNvSpPr txBox="1"/>
          <p:nvPr/>
        </p:nvSpPr>
        <p:spPr>
          <a:xfrm>
            <a:off x="3390870"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Pye-Barker acquisitions in the first half of 2026, after 57 in 2025 (</a:t>
            </a:r>
            <a:r>
              <a:rPr lang="en-US" sz="750" u="sng" dirty="0">
                <a:solidFill>
                  <a:srgbClr val="8C6239"/>
                </a:solidFill>
                <a:latin typeface="+mn-lt" pitchFamily="34" charset="0"/>
                <a:hlinkClick r:id="rId4"/>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Pye-Barker, March 17</a:t>
            </a:r>
            <a:r>
              <a:rPr lang="en-US" sz="750" dirty="0">
                <a:solidFill>
                  <a:srgbClr val="333231"/>
                </a:solidFill>
                <a:latin typeface="+mn-lt" pitchFamily="34" charset="0"/>
              </a:rPr>
              <a:t>)</a:t>
            </a:r>
            <a:endParaRPr lang="en-US" sz="750" dirty="0"/>
          </a:p>
        </p:txBody>
      </p:sp>
      <p:sp>
        <p:nvSpPr>
          <p:cNvPr id="30" name="Object 30"/>
          <p:cNvSpPr/>
          <p:nvPr/>
        </p:nvSpPr>
        <p:spPr>
          <a:xfrm>
            <a:off x="4881524" y="1238280"/>
            <a:ext cx="1509674" cy="1219170"/>
          </a:xfrm>
          <a:prstGeom prst="rect">
            <a:avLst/>
          </a:prstGeom>
          <a:solidFill>
            <a:srgbClr val="FAF7F3"/>
          </a:solidFill>
          <a:ln/>
        </p:spPr>
        <p:txBody>
          <a:bodyPr/>
          <a:lstStyle/>
          <a:p>
            <a:endParaRPr/>
          </a:p>
        </p:txBody>
      </p:sp>
      <p:sp>
        <p:nvSpPr>
          <p:cNvPr id="31" name="Object 31"/>
          <p:cNvSpPr/>
          <p:nvPr/>
        </p:nvSpPr>
        <p:spPr>
          <a:xfrm>
            <a:off x="4881524" y="1238280"/>
            <a:ext cx="1509674" cy="28621"/>
          </a:xfrm>
          <a:prstGeom prst="rect">
            <a:avLst/>
          </a:prstGeom>
          <a:solidFill>
            <a:srgbClr val="B68757"/>
          </a:solidFill>
          <a:ln/>
        </p:spPr>
        <p:txBody>
          <a:bodyPr/>
          <a:lstStyle/>
          <a:p>
            <a:endParaRPr/>
          </a:p>
        </p:txBody>
      </p:sp>
      <p:sp>
        <p:nvSpPr>
          <p:cNvPr id="32" name="Object 32"/>
          <p:cNvSpPr txBox="1"/>
          <p:nvPr/>
        </p:nvSpPr>
        <p:spPr>
          <a:xfrm>
            <a:off x="5014935" y="1362090"/>
            <a:ext cx="835396"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10.1%</a:t>
            </a:r>
            <a:endParaRPr lang="en-US" sz="2100" dirty="0"/>
          </a:p>
        </p:txBody>
      </p:sp>
      <p:sp>
        <p:nvSpPr>
          <p:cNvPr id="33" name="Object 33"/>
          <p:cNvSpPr txBox="1"/>
          <p:nvPr/>
        </p:nvSpPr>
        <p:spPr>
          <a:xfrm>
            <a:off x="5014935" y="1690726"/>
            <a:ext cx="1247790" cy="66678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APi Group organic revenue growth in the second quarter, with backlog above $5 billion (</a:t>
            </a: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APi Group</a:t>
            </a:r>
            <a:r>
              <a:rPr lang="en-US" sz="750" dirty="0">
                <a:solidFill>
                  <a:srgbClr val="333231"/>
                </a:solidFill>
                <a:latin typeface="+mn-lt" pitchFamily="34" charset="0"/>
              </a:rPr>
              <a:t>)</a:t>
            </a:r>
            <a:endParaRPr lang="en-US" sz="750" dirty="0"/>
          </a:p>
        </p:txBody>
      </p:sp>
      <p:sp>
        <p:nvSpPr>
          <p:cNvPr id="34" name="Object 34"/>
          <p:cNvSpPr/>
          <p:nvPr/>
        </p:nvSpPr>
        <p:spPr>
          <a:xfrm>
            <a:off x="6505590" y="1238280"/>
            <a:ext cx="1509674" cy="1219170"/>
          </a:xfrm>
          <a:prstGeom prst="rect">
            <a:avLst/>
          </a:prstGeom>
          <a:solidFill>
            <a:srgbClr val="FAF7F3"/>
          </a:solidFill>
          <a:ln/>
        </p:spPr>
        <p:txBody>
          <a:bodyPr/>
          <a:lstStyle/>
          <a:p>
            <a:endParaRPr/>
          </a:p>
        </p:txBody>
      </p:sp>
      <p:sp>
        <p:nvSpPr>
          <p:cNvPr id="35" name="Object 35"/>
          <p:cNvSpPr/>
          <p:nvPr/>
        </p:nvSpPr>
        <p:spPr>
          <a:xfrm>
            <a:off x="6505590" y="1238280"/>
            <a:ext cx="1509674" cy="28621"/>
          </a:xfrm>
          <a:prstGeom prst="rect">
            <a:avLst/>
          </a:prstGeom>
          <a:solidFill>
            <a:srgbClr val="B68757"/>
          </a:solidFill>
          <a:ln/>
        </p:spPr>
        <p:txBody>
          <a:bodyPr/>
          <a:lstStyle/>
          <a:p>
            <a:endParaRPr/>
          </a:p>
        </p:txBody>
      </p:sp>
      <p:sp>
        <p:nvSpPr>
          <p:cNvPr id="36" name="Object 36"/>
          <p:cNvSpPr txBox="1"/>
          <p:nvPr/>
        </p:nvSpPr>
        <p:spPr>
          <a:xfrm>
            <a:off x="6638910" y="1362090"/>
            <a:ext cx="742950"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60%</a:t>
            </a:r>
            <a:endParaRPr lang="en-US" sz="2100" dirty="0"/>
          </a:p>
        </p:txBody>
      </p:sp>
      <p:sp>
        <p:nvSpPr>
          <p:cNvPr id="37" name="Object 37"/>
          <p:cNvSpPr txBox="1"/>
          <p:nvPr/>
        </p:nvSpPr>
        <p:spPr>
          <a:xfrm>
            <a:off x="6638910"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Share of revenue APi aims to earn from inspection, service, and monitoring (</a:t>
            </a:r>
            <a:r>
              <a:rPr lang="en-US" sz="750" u="sng" dirty="0">
                <a:solidFill>
                  <a:srgbClr val="8C6239"/>
                </a:solidFill>
                <a:latin typeface="+mn-lt" pitchFamily="34" charset="0"/>
                <a:hlinkClick r:id="rId7"/>
              </a:rPr>
              <a:t>APi Group, December 10, 2025</a:t>
            </a:r>
            <a:r>
              <a:rPr lang="en-US" sz="750" dirty="0">
                <a:solidFill>
                  <a:srgbClr val="333231"/>
                </a:solidFill>
                <a:latin typeface="+mn-lt" pitchFamily="34" charset="0"/>
              </a:rPr>
              <a:t>)</a:t>
            </a:r>
            <a:endParaRPr lang="en-US" sz="750" dirty="0"/>
          </a:p>
        </p:txBody>
      </p:sp>
      <p:sp>
        <p:nvSpPr>
          <p:cNvPr id="38" name="Object 38"/>
          <p:cNvSpPr/>
          <p:nvPr/>
        </p:nvSpPr>
        <p:spPr>
          <a:xfrm>
            <a:off x="8129565" y="1238280"/>
            <a:ext cx="1509674" cy="1219170"/>
          </a:xfrm>
          <a:prstGeom prst="rect">
            <a:avLst/>
          </a:prstGeom>
          <a:solidFill>
            <a:srgbClr val="FAF7F3"/>
          </a:solidFill>
          <a:ln/>
        </p:spPr>
        <p:txBody>
          <a:bodyPr/>
          <a:lstStyle/>
          <a:p>
            <a:endParaRPr/>
          </a:p>
        </p:txBody>
      </p:sp>
      <p:sp>
        <p:nvSpPr>
          <p:cNvPr id="39" name="Object 39"/>
          <p:cNvSpPr/>
          <p:nvPr/>
        </p:nvSpPr>
        <p:spPr>
          <a:xfrm>
            <a:off x="8129565" y="1238280"/>
            <a:ext cx="1509674" cy="28621"/>
          </a:xfrm>
          <a:prstGeom prst="rect">
            <a:avLst/>
          </a:prstGeom>
          <a:solidFill>
            <a:srgbClr val="B68757"/>
          </a:solidFill>
          <a:ln/>
        </p:spPr>
        <p:txBody>
          <a:bodyPr/>
          <a:lstStyle/>
          <a:p>
            <a:endParaRPr/>
          </a:p>
        </p:txBody>
      </p:sp>
      <p:sp>
        <p:nvSpPr>
          <p:cNvPr id="40" name="Object 40"/>
          <p:cNvSpPr txBox="1"/>
          <p:nvPr/>
        </p:nvSpPr>
        <p:spPr>
          <a:xfrm>
            <a:off x="8262976" y="1362090"/>
            <a:ext cx="981974"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$740M</a:t>
            </a:r>
            <a:endParaRPr lang="en-US" sz="2100" dirty="0"/>
          </a:p>
        </p:txBody>
      </p:sp>
      <p:sp>
        <p:nvSpPr>
          <p:cNvPr id="41" name="Object 41"/>
          <p:cNvSpPr txBox="1"/>
          <p:nvPr/>
        </p:nvSpPr>
        <p:spPr>
          <a:xfrm>
            <a:off x="8262976"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monthly revenue of the 100 largest security dealers in 2025, up 7% (</a:t>
            </a:r>
            <a:r>
              <a:rPr lang="en-US" sz="750" u="sng" dirty="0">
                <a:solidFill>
                  <a:srgbClr val="8C6239"/>
                </a:solidFill>
                <a:latin typeface="+mn-lt" pitchFamily="34" charset="0"/>
                <a:hlinkClick r:id="rId8">
                  <a:extLst>
                    <a:ext uri="{A12FA001-AC4F-418D-AE19-62706E023703}">
                      <ahyp:hlinkClr xmlns:ahyp="http://schemas.microsoft.com/office/drawing/2018/hyperlinkcolor" val="tx"/>
                    </a:ext>
                  </a:extLst>
                </a:hlinkClick>
              </a:rPr>
              <a:t>SDM</a:t>
            </a:r>
            <a:r>
              <a:rPr lang="en-US" sz="750" dirty="0">
                <a:solidFill>
                  <a:srgbClr val="333231"/>
                </a:solidFill>
                <a:latin typeface="+mn-lt" pitchFamily="34" charset="0"/>
              </a:rPr>
              <a:t>)</a:t>
            </a:r>
            <a:endParaRPr lang="en-US" sz="750" dirty="0"/>
          </a:p>
        </p:txBody>
      </p:sp>
      <p:sp>
        <p:nvSpPr>
          <p:cNvPr id="42" name="Object 42"/>
          <p:cNvSpPr/>
          <p:nvPr/>
        </p:nvSpPr>
        <p:spPr>
          <a:xfrm>
            <a:off x="3257550" y="2590770"/>
            <a:ext cx="2438430" cy="3600450"/>
          </a:xfrm>
          <a:prstGeom prst="rect">
            <a:avLst/>
          </a:prstGeom>
          <a:solidFill>
            <a:srgbClr val="FAF7F3"/>
          </a:solidFill>
          <a:ln/>
        </p:spPr>
        <p:txBody>
          <a:bodyPr/>
          <a:lstStyle/>
          <a:p>
            <a:endParaRPr/>
          </a:p>
        </p:txBody>
      </p:sp>
      <p:sp>
        <p:nvSpPr>
          <p:cNvPr id="43" name="Object 43"/>
          <p:cNvSpPr/>
          <p:nvPr/>
        </p:nvSpPr>
        <p:spPr>
          <a:xfrm>
            <a:off x="3257550" y="2590770"/>
            <a:ext cx="2438430" cy="28621"/>
          </a:xfrm>
          <a:prstGeom prst="rect">
            <a:avLst/>
          </a:prstGeom>
          <a:solidFill>
            <a:srgbClr val="B68757"/>
          </a:solidFill>
          <a:ln/>
        </p:spPr>
        <p:txBody>
          <a:bodyPr/>
          <a:lstStyle/>
          <a:p>
            <a:endParaRPr/>
          </a:p>
        </p:txBody>
      </p:sp>
      <p:sp>
        <p:nvSpPr>
          <p:cNvPr id="44" name="Object 44"/>
          <p:cNvSpPr txBox="1"/>
          <p:nvPr/>
        </p:nvSpPr>
        <p:spPr>
          <a:xfrm>
            <a:off x="3409980" y="2728935"/>
            <a:ext cx="2133570" cy="457200"/>
          </a:xfrm>
          <a:prstGeom prst="rect">
            <a:avLst/>
          </a:prstGeom>
          <a:noFill/>
          <a:ln/>
        </p:spPr>
        <p:txBody>
          <a:bodyPr wrap="square" lIns="0" tIns="0" rIns="0" bIns="0" rtlCol="0" anchor="t"/>
          <a:lstStyle/>
          <a:p>
            <a:pPr marL="0" indent="0" algn="l">
              <a:lnSpc>
                <a:spcPts val="1200"/>
              </a:lnSpc>
              <a:buNone/>
            </a:pPr>
            <a:r>
              <a:rPr lang="en-US" sz="900" b="1" dirty="0">
                <a:solidFill>
                  <a:srgbClr val="1B1A1A"/>
                </a:solidFill>
                <a:latin typeface="+mn-lt" pitchFamily="34" charset="0"/>
              </a:rPr>
              <a:t>Enterprise value to trailing EBITDA, six listed services companies</a:t>
            </a:r>
            <a:endParaRPr lang="en-US" sz="900" dirty="0"/>
          </a:p>
        </p:txBody>
      </p:sp>
      <p:sp>
        <p:nvSpPr>
          <p:cNvPr id="45" name="Object 45"/>
          <p:cNvSpPr txBox="1"/>
          <p:nvPr/>
        </p:nvSpPr>
        <p:spPr>
          <a:xfrm>
            <a:off x="3409980" y="3212287"/>
            <a:ext cx="21335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Priced at the October 16, 2026 close, on reported EBITDA. Source: </a:t>
            </a:r>
            <a:r>
              <a:rPr lang="en-US" sz="700" u="sng" dirty="0">
                <a:solidFill>
                  <a:srgbClr val="8C6239"/>
                </a:solidFill>
                <a:latin typeface="+mn-lt" pitchFamily="34" charset="0"/>
                <a:hlinkClick r:id="rId9"/>
              </a:rPr>
              <a:t>StockAnalysis</a:t>
            </a:r>
            <a:endParaRPr lang="en-US" sz="700" dirty="0"/>
          </a:p>
        </p:txBody>
      </p:sp>
      <p:graphicFrame>
        <p:nvGraphicFramePr>
          <p:cNvPr id="46" name="Object 46"/>
          <p:cNvGraphicFramePr/>
          <p:nvPr/>
        </p:nvGraphicFramePr>
        <p:xfrm>
          <a:off x="3409980" y="3571921"/>
          <a:ext cx="2133570" cy="1371600"/>
        </p:xfrm>
        <a:graphic>
          <a:graphicData uri="http://schemas.openxmlformats.org/drawingml/2006/chart">
            <c:chart xmlns:c="http://schemas.openxmlformats.org/drawingml/2006/chart" xmlns:r="http://schemas.openxmlformats.org/officeDocument/2006/relationships" r:id="rId10"/>
          </a:graphicData>
        </a:graphic>
      </p:graphicFrame>
      <p:sp>
        <p:nvSpPr>
          <p:cNvPr id="47" name="Object 47"/>
          <p:cNvSpPr/>
          <p:nvPr/>
        </p:nvSpPr>
        <p:spPr>
          <a:xfrm>
            <a:off x="3409980" y="5438760"/>
            <a:ext cx="2133570" cy="9510"/>
          </a:xfrm>
          <a:prstGeom prst="rect">
            <a:avLst/>
          </a:prstGeom>
          <a:solidFill>
            <a:srgbClr val="E3DCD3"/>
          </a:solidFill>
          <a:ln/>
        </p:spPr>
        <p:txBody>
          <a:bodyPr/>
          <a:lstStyle/>
          <a:p>
            <a:endParaRPr/>
          </a:p>
        </p:txBody>
      </p:sp>
      <p:sp>
        <p:nvSpPr>
          <p:cNvPr id="48" name="Object 48"/>
          <p:cNvSpPr txBox="1"/>
          <p:nvPr/>
        </p:nvSpPr>
        <p:spPr>
          <a:xfrm>
            <a:off x="3409980" y="5517398"/>
            <a:ext cx="21335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Cintas and Rollins run recurring service routes and APi Group is built around inspection and service, while ABM and BrightView depend more heavily on labor hours. Margin, growth, and leverage also separate these companies.</a:t>
            </a:r>
            <a:endParaRPr lang="en-US" sz="750" dirty="0"/>
          </a:p>
        </p:txBody>
      </p:sp>
      <p:sp>
        <p:nvSpPr>
          <p:cNvPr id="49" name="Object 49"/>
          <p:cNvSpPr txBox="1"/>
          <p:nvPr/>
        </p:nvSpPr>
        <p:spPr>
          <a:xfrm>
            <a:off x="5848320" y="2590770"/>
            <a:ext cx="3790920" cy="123810"/>
          </a:xfrm>
          <a:prstGeom prst="rect">
            <a:avLst/>
          </a:prstGeom>
          <a:noFill/>
          <a:ln/>
        </p:spPr>
        <p:txBody>
          <a:bodyPr wrap="none" lIns="0" tIns="0" rIns="0" bIns="0" rtlCol="0" anchor="t"/>
          <a:lstStyle/>
          <a:p>
            <a:pPr marL="0" indent="0" algn="r">
              <a:lnSpc>
                <a:spcPts val="1000"/>
              </a:lnSpc>
              <a:buNone/>
            </a:pPr>
            <a:r>
              <a:rPr lang="en-US" sz="700" b="1" kern="0" spc="150" dirty="0">
                <a:solidFill>
                  <a:srgbClr val="8C6239"/>
                </a:solidFill>
                <a:latin typeface="+mn-lt" pitchFamily="34" charset="0"/>
              </a:rPr>
              <a:t>RECENT FIRE AND SECURITY TRANSACTIONS</a:t>
            </a:r>
            <a:endParaRPr lang="en-US" sz="700" dirty="0"/>
          </a:p>
        </p:txBody>
      </p:sp>
      <p:sp>
        <p:nvSpPr>
          <p:cNvPr id="50" name="Object 50"/>
          <p:cNvSpPr/>
          <p:nvPr/>
        </p:nvSpPr>
        <p:spPr>
          <a:xfrm>
            <a:off x="5848320" y="3028950"/>
            <a:ext cx="3790920" cy="19020"/>
          </a:xfrm>
          <a:prstGeom prst="rect">
            <a:avLst/>
          </a:prstGeom>
          <a:solidFill>
            <a:srgbClr val="B68757"/>
          </a:solidFill>
          <a:ln/>
        </p:spPr>
        <p:txBody>
          <a:bodyPr/>
          <a:lstStyle/>
          <a:p>
            <a:endParaRPr/>
          </a:p>
        </p:txBody>
      </p:sp>
      <p:sp>
        <p:nvSpPr>
          <p:cNvPr id="51" name="Object 51"/>
          <p:cNvSpPr txBox="1"/>
          <p:nvPr/>
        </p:nvSpPr>
        <p:spPr>
          <a:xfrm>
            <a:off x="5848320" y="2776576"/>
            <a:ext cx="352867"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1B1A1A"/>
                </a:solidFill>
                <a:latin typeface="+mn-lt" pitchFamily="34" charset="0"/>
              </a:rPr>
              <a:t>BUYER</a:t>
            </a:r>
            <a:endParaRPr lang="en-US" sz="550" dirty="0"/>
          </a:p>
        </p:txBody>
      </p:sp>
      <p:sp>
        <p:nvSpPr>
          <p:cNvPr id="52" name="Object 52"/>
          <p:cNvSpPr txBox="1"/>
          <p:nvPr/>
        </p:nvSpPr>
        <p:spPr>
          <a:xfrm>
            <a:off x="6877020" y="2776576"/>
            <a:ext cx="849843"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1B1A1A"/>
                </a:solidFill>
                <a:latin typeface="+mn-lt" pitchFamily="34" charset="0"/>
              </a:rPr>
              <a:t>TARGET</a:t>
            </a:r>
            <a:endParaRPr lang="en-US" sz="550" dirty="0"/>
          </a:p>
        </p:txBody>
      </p:sp>
      <p:sp>
        <p:nvSpPr>
          <p:cNvPr id="53" name="Object 53"/>
          <p:cNvSpPr txBox="1"/>
          <p:nvPr/>
        </p:nvSpPr>
        <p:spPr>
          <a:xfrm>
            <a:off x="8134320" y="2776576"/>
            <a:ext cx="971550" cy="209580"/>
          </a:xfrm>
          <a:prstGeom prst="rect">
            <a:avLst/>
          </a:prstGeom>
          <a:noFill/>
          <a:ln/>
        </p:spPr>
        <p:txBody>
          <a:bodyPr wrap="square" lIns="0" tIns="0" rIns="0" bIns="0" rtlCol="0" anchor="t"/>
          <a:lstStyle/>
          <a:p>
            <a:pPr marL="0" indent="0" algn="l">
              <a:lnSpc>
                <a:spcPts val="850"/>
              </a:lnSpc>
              <a:buNone/>
            </a:pPr>
            <a:r>
              <a:rPr lang="en-US" sz="550" b="1" kern="0" spc="100" dirty="0">
                <a:solidFill>
                  <a:srgbClr val="1B1A1A"/>
                </a:solidFill>
                <a:latin typeface="+mn-lt" pitchFamily="34" charset="0"/>
              </a:rPr>
              <a:t>WHAT THE TARGET DOES</a:t>
            </a:r>
            <a:endParaRPr lang="en-US" sz="550" dirty="0"/>
          </a:p>
        </p:txBody>
      </p:sp>
      <p:sp>
        <p:nvSpPr>
          <p:cNvPr id="54" name="Object 54"/>
          <p:cNvSpPr txBox="1"/>
          <p:nvPr/>
        </p:nvSpPr>
        <p:spPr>
          <a:xfrm>
            <a:off x="9201150" y="2776576"/>
            <a:ext cx="43818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1B1A1A"/>
                </a:solidFill>
                <a:latin typeface="+mn-lt" pitchFamily="34" charset="0"/>
              </a:rPr>
              <a:t>DATE</a:t>
            </a:r>
            <a:endParaRPr lang="en-US" sz="550" dirty="0"/>
          </a:p>
        </p:txBody>
      </p:sp>
      <p:sp>
        <p:nvSpPr>
          <p:cNvPr id="55" name="Object 55"/>
          <p:cNvSpPr/>
          <p:nvPr/>
        </p:nvSpPr>
        <p:spPr>
          <a:xfrm>
            <a:off x="5848320" y="3657600"/>
            <a:ext cx="3790920" cy="9510"/>
          </a:xfrm>
          <a:prstGeom prst="rect">
            <a:avLst/>
          </a:prstGeom>
          <a:solidFill>
            <a:srgbClr val="E3DCD3"/>
          </a:solidFill>
          <a:ln/>
        </p:spPr>
        <p:txBody>
          <a:bodyPr/>
          <a:lstStyle/>
          <a:p>
            <a:endParaRPr/>
          </a:p>
        </p:txBody>
      </p:sp>
      <p:sp>
        <p:nvSpPr>
          <p:cNvPr id="56" name="Object 56"/>
          <p:cNvSpPr txBox="1"/>
          <p:nvPr/>
        </p:nvSpPr>
        <p:spPr>
          <a:xfrm>
            <a:off x="5848320" y="310036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Pye-Barker Fire &amp; Safety</a:t>
            </a:r>
            <a:endParaRPr lang="en-US" sz="700" dirty="0"/>
          </a:p>
        </p:txBody>
      </p:sp>
      <p:sp>
        <p:nvSpPr>
          <p:cNvPr id="57" name="Object 57"/>
          <p:cNvSpPr txBox="1"/>
          <p:nvPr/>
        </p:nvSpPr>
        <p:spPr>
          <a:xfrm>
            <a:off x="6877020" y="3100365"/>
            <a:ext cx="861548"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1">
                  <a:extLst>
                    <a:ext uri="{A12FA001-AC4F-418D-AE19-62706E023703}">
                      <ahyp:hlinkClr xmlns:ahyp="http://schemas.microsoft.com/office/drawing/2018/hyperlinkcolor" val="tx"/>
                    </a:ext>
                  </a:extLst>
                </a:hlinkClick>
              </a:rPr>
              <a:t>Union AlarmTronic</a:t>
            </a:r>
            <a:endParaRPr lang="en-US" sz="700" dirty="0"/>
          </a:p>
        </p:txBody>
      </p:sp>
      <p:sp>
        <p:nvSpPr>
          <p:cNvPr id="58" name="Object 58"/>
          <p:cNvSpPr txBox="1"/>
          <p:nvPr/>
        </p:nvSpPr>
        <p:spPr>
          <a:xfrm>
            <a:off x="8134320" y="3100365"/>
            <a:ext cx="971550" cy="49533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Alarm, access control, and video company, New Jersey</a:t>
            </a:r>
            <a:endParaRPr lang="en-US" sz="700" dirty="0"/>
          </a:p>
        </p:txBody>
      </p:sp>
      <p:sp>
        <p:nvSpPr>
          <p:cNvPr id="59" name="Object 59"/>
          <p:cNvSpPr txBox="1"/>
          <p:nvPr/>
        </p:nvSpPr>
        <p:spPr>
          <a:xfrm>
            <a:off x="9201150" y="310036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Sep 2026</a:t>
            </a:r>
            <a:endParaRPr lang="en-US" sz="700" dirty="0"/>
          </a:p>
        </p:txBody>
      </p:sp>
      <p:sp>
        <p:nvSpPr>
          <p:cNvPr id="60" name="Object 60"/>
          <p:cNvSpPr/>
          <p:nvPr/>
        </p:nvSpPr>
        <p:spPr>
          <a:xfrm>
            <a:off x="5848320" y="4029121"/>
            <a:ext cx="3790920" cy="9510"/>
          </a:xfrm>
          <a:prstGeom prst="rect">
            <a:avLst/>
          </a:prstGeom>
          <a:solidFill>
            <a:srgbClr val="E3DCD3"/>
          </a:solidFill>
          <a:ln/>
        </p:spPr>
        <p:txBody>
          <a:bodyPr/>
          <a:lstStyle/>
          <a:p>
            <a:endParaRPr/>
          </a:p>
        </p:txBody>
      </p:sp>
      <p:sp>
        <p:nvSpPr>
          <p:cNvPr id="61" name="Object 61"/>
          <p:cNvSpPr txBox="1"/>
          <p:nvPr/>
        </p:nvSpPr>
        <p:spPr>
          <a:xfrm>
            <a:off x="5848320" y="371950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Pye-Barker Fire &amp; Safety</a:t>
            </a:r>
            <a:endParaRPr lang="en-US" sz="700" dirty="0"/>
          </a:p>
        </p:txBody>
      </p:sp>
      <p:sp>
        <p:nvSpPr>
          <p:cNvPr id="62" name="Object 62"/>
          <p:cNvSpPr txBox="1"/>
          <p:nvPr/>
        </p:nvSpPr>
        <p:spPr>
          <a:xfrm>
            <a:off x="6877020" y="3719505"/>
            <a:ext cx="1167232"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2"/>
              </a:rPr>
              <a:t>Suppression Systems, Inc.</a:t>
            </a:r>
            <a:endParaRPr lang="en-US" sz="700" dirty="0"/>
          </a:p>
        </p:txBody>
      </p:sp>
      <p:sp>
        <p:nvSpPr>
          <p:cNvPr id="63" name="Object 63"/>
          <p:cNvSpPr txBox="1"/>
          <p:nvPr/>
        </p:nvSpPr>
        <p:spPr>
          <a:xfrm>
            <a:off x="8134320" y="3719505"/>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Fire alarm and suppression, Pacific Northwest</a:t>
            </a:r>
            <a:endParaRPr lang="en-US" sz="700" dirty="0"/>
          </a:p>
        </p:txBody>
      </p:sp>
      <p:sp>
        <p:nvSpPr>
          <p:cNvPr id="64" name="Object 64"/>
          <p:cNvSpPr txBox="1"/>
          <p:nvPr/>
        </p:nvSpPr>
        <p:spPr>
          <a:xfrm>
            <a:off x="9201150" y="371950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Aug 2026</a:t>
            </a:r>
            <a:endParaRPr lang="en-US" sz="700" dirty="0"/>
          </a:p>
        </p:txBody>
      </p:sp>
      <p:sp>
        <p:nvSpPr>
          <p:cNvPr id="65" name="Object 65"/>
          <p:cNvSpPr/>
          <p:nvPr/>
        </p:nvSpPr>
        <p:spPr>
          <a:xfrm>
            <a:off x="5848320" y="4524360"/>
            <a:ext cx="3790920" cy="9510"/>
          </a:xfrm>
          <a:prstGeom prst="rect">
            <a:avLst/>
          </a:prstGeom>
          <a:solidFill>
            <a:srgbClr val="E3DCD3"/>
          </a:solidFill>
          <a:ln/>
        </p:spPr>
        <p:txBody>
          <a:bodyPr/>
          <a:lstStyle/>
          <a:p>
            <a:endParaRPr/>
          </a:p>
        </p:txBody>
      </p:sp>
      <p:sp>
        <p:nvSpPr>
          <p:cNvPr id="66" name="Object 66"/>
          <p:cNvSpPr txBox="1"/>
          <p:nvPr/>
        </p:nvSpPr>
        <p:spPr>
          <a:xfrm>
            <a:off x="5848320" y="4091026"/>
            <a:ext cx="759043" cy="123810"/>
          </a:xfrm>
          <a:prstGeom prst="rect">
            <a:avLst/>
          </a:prstGeom>
          <a:noFill/>
          <a:ln/>
        </p:spPr>
        <p:txBody>
          <a:bodyPr wrap="none" lIns="0" tIns="0" rIns="0" bIns="0" rtlCol="0" anchor="t"/>
          <a:lstStyle/>
          <a:p>
            <a:pPr marL="0" indent="0" algn="l">
              <a:lnSpc>
                <a:spcPts val="1000"/>
              </a:lnSpc>
              <a:buNone/>
            </a:pPr>
            <a:r>
              <a:rPr lang="en-US" sz="700" b="1" dirty="0">
                <a:solidFill>
                  <a:srgbClr val="1B1A1A"/>
                </a:solidFill>
                <a:latin typeface="+mn-lt" pitchFamily="34" charset="0"/>
              </a:rPr>
              <a:t>Allied Universal</a:t>
            </a:r>
            <a:endParaRPr lang="en-US" sz="700" dirty="0"/>
          </a:p>
        </p:txBody>
      </p:sp>
      <p:sp>
        <p:nvSpPr>
          <p:cNvPr id="67" name="Object 67"/>
          <p:cNvSpPr txBox="1"/>
          <p:nvPr/>
        </p:nvSpPr>
        <p:spPr>
          <a:xfrm>
            <a:off x="6877020" y="4091026"/>
            <a:ext cx="1162020" cy="371521"/>
          </a:xfrm>
          <a:prstGeom prst="rect">
            <a:avLst/>
          </a:prstGeom>
          <a:noFill/>
          <a:ln/>
        </p:spPr>
        <p:txBody>
          <a:bodyPr wrap="square" lIns="0" tIns="0" rIns="0" bIns="0" rtlCol="0" anchor="t"/>
          <a:lstStyle/>
          <a:p>
            <a:pPr marL="0" indent="0" algn="l">
              <a:lnSpc>
                <a:spcPts val="1000"/>
              </a:lnSpc>
              <a:buNone/>
            </a:pPr>
            <a:r>
              <a:rPr lang="en-US" sz="700" u="sng" dirty="0">
                <a:solidFill>
                  <a:srgbClr val="8C6239"/>
                </a:solidFill>
                <a:latin typeface="+mn-lt" pitchFamily="34" charset="0"/>
                <a:hlinkClick r:id="rId13">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Object 68"/>
          <p:cNvSpPr txBox="1"/>
          <p:nvPr/>
        </p:nvSpPr>
        <p:spPr>
          <a:xfrm>
            <a:off x="8134320" y="4091026"/>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Object 69"/>
          <p:cNvSpPr txBox="1"/>
          <p:nvPr/>
        </p:nvSpPr>
        <p:spPr>
          <a:xfrm>
            <a:off x="9201150" y="4091026"/>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Jun 2026</a:t>
            </a:r>
            <a:endParaRPr lang="en-US" sz="700" dirty="0"/>
          </a:p>
        </p:txBody>
      </p:sp>
      <p:sp>
        <p:nvSpPr>
          <p:cNvPr id="70" name="Object 70"/>
          <p:cNvSpPr/>
          <p:nvPr/>
        </p:nvSpPr>
        <p:spPr>
          <a:xfrm>
            <a:off x="5848320" y="4895880"/>
            <a:ext cx="3790920" cy="9510"/>
          </a:xfrm>
          <a:prstGeom prst="rect">
            <a:avLst/>
          </a:prstGeom>
          <a:solidFill>
            <a:srgbClr val="E3DCD3"/>
          </a:solidFill>
          <a:ln/>
        </p:spPr>
        <p:txBody>
          <a:bodyPr/>
          <a:lstStyle/>
          <a:p>
            <a:endParaRPr/>
          </a:p>
        </p:txBody>
      </p:sp>
      <p:sp>
        <p:nvSpPr>
          <p:cNvPr id="71" name="Object 71"/>
          <p:cNvSpPr txBox="1"/>
          <p:nvPr/>
        </p:nvSpPr>
        <p:spPr>
          <a:xfrm>
            <a:off x="5848320" y="458626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Sciens Building Solutions</a:t>
            </a:r>
            <a:endParaRPr lang="en-US" sz="700" dirty="0"/>
          </a:p>
        </p:txBody>
      </p:sp>
      <p:sp>
        <p:nvSpPr>
          <p:cNvPr id="72" name="Object 72"/>
          <p:cNvSpPr txBox="1"/>
          <p:nvPr/>
        </p:nvSpPr>
        <p:spPr>
          <a:xfrm>
            <a:off x="6877020" y="4586265"/>
            <a:ext cx="983620"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4"/>
              </a:rPr>
              <a:t>Southern Fire Control</a:t>
            </a:r>
            <a:endParaRPr lang="en-US" sz="700" dirty="0"/>
          </a:p>
        </p:txBody>
      </p:sp>
      <p:sp>
        <p:nvSpPr>
          <p:cNvPr id="73" name="Object 73"/>
          <p:cNvSpPr txBox="1"/>
          <p:nvPr/>
        </p:nvSpPr>
        <p:spPr>
          <a:xfrm>
            <a:off x="8134320" y="4586265"/>
            <a:ext cx="692658" cy="123810"/>
          </a:xfrm>
          <a:prstGeom prst="rect">
            <a:avLst/>
          </a:prstGeom>
          <a:noFill/>
          <a:ln/>
        </p:spPr>
        <p:txBody>
          <a:bodyPr wrap="none" lIns="0" tIns="0" rIns="0" bIns="0" rtlCol="0" anchor="t"/>
          <a:lstStyle/>
          <a:p>
            <a:pPr marL="0" indent="0" algn="l">
              <a:lnSpc>
                <a:spcPts val="1000"/>
              </a:lnSpc>
              <a:buNone/>
            </a:pPr>
            <a:r>
              <a:rPr lang="en-US" sz="700" dirty="0">
                <a:solidFill>
                  <a:srgbClr val="333231"/>
                </a:solidFill>
                <a:latin typeface="+mn-lt" pitchFamily="34" charset="0"/>
              </a:rPr>
              <a:t>Fire sprinkler contractor, Florida</a:t>
            </a:r>
            <a:endParaRPr lang="en-US" sz="700" dirty="0"/>
          </a:p>
        </p:txBody>
      </p:sp>
      <p:sp>
        <p:nvSpPr>
          <p:cNvPr id="74" name="Object 74"/>
          <p:cNvSpPr txBox="1"/>
          <p:nvPr/>
        </p:nvSpPr>
        <p:spPr>
          <a:xfrm>
            <a:off x="9201150" y="458626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Jan 2026</a:t>
            </a:r>
            <a:endParaRPr lang="en-US" sz="700" dirty="0"/>
          </a:p>
        </p:txBody>
      </p:sp>
      <p:sp>
        <p:nvSpPr>
          <p:cNvPr id="75" name="Object 75"/>
          <p:cNvSpPr/>
          <p:nvPr/>
        </p:nvSpPr>
        <p:spPr>
          <a:xfrm>
            <a:off x="5848320" y="5267310"/>
            <a:ext cx="3790920" cy="9510"/>
          </a:xfrm>
          <a:prstGeom prst="rect">
            <a:avLst/>
          </a:prstGeom>
          <a:solidFill>
            <a:srgbClr val="E3DCD3"/>
          </a:solidFill>
          <a:ln/>
        </p:spPr>
        <p:txBody>
          <a:bodyPr/>
          <a:lstStyle/>
          <a:p>
            <a:endParaRPr/>
          </a:p>
        </p:txBody>
      </p:sp>
      <p:sp>
        <p:nvSpPr>
          <p:cNvPr id="76" name="Object 76"/>
          <p:cNvSpPr txBox="1"/>
          <p:nvPr/>
        </p:nvSpPr>
        <p:spPr>
          <a:xfrm>
            <a:off x="5848320" y="4957785"/>
            <a:ext cx="500085" cy="123810"/>
          </a:xfrm>
          <a:prstGeom prst="rect">
            <a:avLst/>
          </a:prstGeom>
          <a:noFill/>
          <a:ln/>
        </p:spPr>
        <p:txBody>
          <a:bodyPr wrap="none" lIns="0" tIns="0" rIns="0" bIns="0" rtlCol="0" anchor="t"/>
          <a:lstStyle/>
          <a:p>
            <a:pPr marL="0" indent="0" algn="l">
              <a:lnSpc>
                <a:spcPts val="1000"/>
              </a:lnSpc>
              <a:buNone/>
            </a:pPr>
            <a:r>
              <a:rPr lang="en-US" sz="700" b="1" dirty="0">
                <a:solidFill>
                  <a:srgbClr val="1B1A1A"/>
                </a:solidFill>
                <a:latin typeface="+mn-lt" pitchFamily="34" charset="0"/>
              </a:rPr>
              <a:t>APi Group</a:t>
            </a:r>
            <a:endParaRPr lang="en-US" sz="700" dirty="0"/>
          </a:p>
        </p:txBody>
      </p:sp>
      <p:sp>
        <p:nvSpPr>
          <p:cNvPr id="77" name="Object 77"/>
          <p:cNvSpPr txBox="1"/>
          <p:nvPr/>
        </p:nvSpPr>
        <p:spPr>
          <a:xfrm>
            <a:off x="6877020" y="4957785"/>
            <a:ext cx="456468"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CertaSite</a:t>
            </a:r>
            <a:endParaRPr lang="en-US" sz="700" dirty="0"/>
          </a:p>
        </p:txBody>
      </p:sp>
      <p:sp>
        <p:nvSpPr>
          <p:cNvPr id="78" name="Object 78"/>
          <p:cNvSpPr txBox="1"/>
          <p:nvPr/>
        </p:nvSpPr>
        <p:spPr>
          <a:xfrm>
            <a:off x="8134320" y="4957785"/>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Object 79"/>
          <p:cNvSpPr txBox="1"/>
          <p:nvPr/>
        </p:nvSpPr>
        <p:spPr>
          <a:xfrm>
            <a:off x="9201150" y="495778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Dec 2025*</a:t>
            </a:r>
            <a:endParaRPr lang="en-US" sz="700" dirty="0"/>
          </a:p>
        </p:txBody>
      </p:sp>
      <p:sp>
        <p:nvSpPr>
          <p:cNvPr id="80" name="Object 80"/>
          <p:cNvSpPr txBox="1"/>
          <p:nvPr/>
        </p:nvSpPr>
        <p:spPr>
          <a:xfrm>
            <a:off x="5848320" y="5769773"/>
            <a:ext cx="3790920" cy="414315"/>
          </a:xfrm>
          <a:prstGeom prst="rect">
            <a:avLst/>
          </a:prstGeom>
          <a:noFill/>
          <a:ln/>
        </p:spPr>
        <p:txBody>
          <a:bodyPr wrap="square" lIns="0" tIns="0" rIns="0" bIns="0" rtlCol="0" anchor="t"/>
          <a:lstStyle/>
          <a:p>
            <a:pPr marL="0" indent="0" algn="l">
              <a:lnSpc>
                <a:spcPts val="1100"/>
              </a:lnSpc>
              <a:buNone/>
            </a:pPr>
            <a:r>
              <a:rPr lang="en-US" sz="750" dirty="0">
                <a:solidFill>
                  <a:srgbClr val="6F6A66"/>
                </a:solidFill>
                <a:latin typeface="+mn-lt" pitchFamily="34" charset="0"/>
              </a:rPr>
              <a:t>Purchase prices were not disclosed. *Announced December 2025, closed February 2026; Allied Universal dates are closing dates. Benchmark International's own fire and life safety sales appear in the client spotlight in the next section.</a:t>
            </a:r>
            <a:endParaRPr lang="en-US" sz="750" dirty="0"/>
          </a:p>
        </p:txBody>
      </p:sp>
      <p:sp>
        <p:nvSpPr>
          <p:cNvPr id="81" name="Object 81"/>
          <p:cNvSpPr/>
          <p:nvPr/>
        </p:nvSpPr>
        <p:spPr>
          <a:xfrm>
            <a:off x="419070" y="6324630"/>
            <a:ext cx="9220170" cy="609630"/>
          </a:xfrm>
          <a:prstGeom prst="rect">
            <a:avLst/>
          </a:prstGeom>
          <a:solidFill>
            <a:srgbClr val="1B1A1A"/>
          </a:solidFill>
          <a:ln/>
        </p:spPr>
        <p:txBody>
          <a:bodyPr/>
          <a:lstStyle/>
          <a:p>
            <a:endParaRPr/>
          </a:p>
        </p:txBody>
      </p:sp>
      <p:sp>
        <p:nvSpPr>
          <p:cNvPr id="82" name="Object 82"/>
          <p:cNvSpPr txBox="1"/>
          <p:nvPr/>
        </p:nvSpPr>
        <p:spPr>
          <a:xfrm>
            <a:off x="628650" y="6491326"/>
            <a:ext cx="1066830" cy="266730"/>
          </a:xfrm>
          <a:prstGeom prst="rect">
            <a:avLst/>
          </a:prstGeom>
          <a:noFill/>
          <a:ln/>
        </p:spPr>
        <p:txBody>
          <a:bodyPr wrap="square" lIns="0" tIns="0" rIns="0" bIns="0" rtlCol="0" anchor="t"/>
          <a:lstStyle/>
          <a:p>
            <a:pPr marL="0" indent="0" algn="l">
              <a:lnSpc>
                <a:spcPts val="1050"/>
              </a:lnSpc>
              <a:buNone/>
            </a:pPr>
            <a:r>
              <a:rPr lang="en-US" sz="700" b="1" kern="0" spc="200" dirty="0">
                <a:solidFill>
                  <a:srgbClr val="D3AE84"/>
                </a:solidFill>
                <a:latin typeface="+mn-lt" pitchFamily="34" charset="0"/>
              </a:rPr>
              <a:t>WHAT A BUYER</a:t>
            </a:r>
            <a:endParaRPr lang="en-US" sz="700" dirty="0"/>
          </a:p>
          <a:p>
            <a:pPr marL="0" indent="0" algn="l">
              <a:lnSpc>
                <a:spcPts val="1050"/>
              </a:lnSpc>
              <a:buNone/>
            </a:pPr>
            <a:r>
              <a:rPr lang="en-US" sz="700" b="1" kern="0" spc="200" dirty="0">
                <a:solidFill>
                  <a:srgbClr val="D3AE84"/>
                </a:solidFill>
                <a:latin typeface="+mn-lt" pitchFamily="34" charset="0"/>
              </a:rPr>
              <a:t>WILL ASK</a:t>
            </a:r>
            <a:endParaRPr lang="en-US" sz="700" dirty="0"/>
          </a:p>
        </p:txBody>
      </p:sp>
      <p:sp>
        <p:nvSpPr>
          <p:cNvPr id="83" name="Object 83"/>
          <p:cNvSpPr/>
          <p:nvPr/>
        </p:nvSpPr>
        <p:spPr>
          <a:xfrm>
            <a:off x="1885950" y="6438930"/>
            <a:ext cx="9510" cy="381030"/>
          </a:xfrm>
          <a:prstGeom prst="ellipse">
            <a:avLst/>
          </a:prstGeom>
          <a:solidFill>
            <a:srgbClr val="FFFFFF">
              <a:alpha val="20000"/>
            </a:srgbClr>
          </a:solidFill>
          <a:ln/>
        </p:spPr>
        <p:txBody>
          <a:bodyPr/>
          <a:lstStyle/>
          <a:p>
            <a:endParaRPr/>
          </a:p>
        </p:txBody>
      </p:sp>
      <p:sp>
        <p:nvSpPr>
          <p:cNvPr id="84" name="Object 84"/>
          <p:cNvSpPr txBox="1"/>
          <p:nvPr/>
        </p:nvSpPr>
        <p:spPr>
          <a:xfrm>
            <a:off x="2086021" y="6443685"/>
            <a:ext cx="7343821" cy="361920"/>
          </a:xfrm>
          <a:prstGeom prst="rect">
            <a:avLst/>
          </a:prstGeom>
          <a:noFill/>
          <a:ln/>
        </p:spPr>
        <p:txBody>
          <a:bodyPr wrap="square" lIns="0" tIns="0" rIns="0" bIns="0" rtlCol="0" anchor="t"/>
          <a:lstStyle/>
          <a:p>
            <a:pPr marL="0" indent="0" algn="l">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Object 85"/>
          <p:cNvSpPr/>
          <p:nvPr/>
        </p:nvSpPr>
        <p:spPr>
          <a:xfrm>
            <a:off x="419070" y="7029450"/>
            <a:ext cx="9220170" cy="9510"/>
          </a:xfrm>
          <a:prstGeom prst="ellipse">
            <a:avLst/>
          </a:prstGeom>
          <a:solidFill>
            <a:srgbClr val="E3DCD3"/>
          </a:solidFill>
          <a:ln/>
        </p:spPr>
        <p:txBody>
          <a:bodyPr/>
          <a:lstStyle/>
          <a:p>
            <a:endParaRPr/>
          </a:p>
        </p:txBody>
      </p:sp>
      <p:pic>
        <p:nvPicPr>
          <p:cNvPr id="86" name="Object 86" descr="Benchmark International"/>
          <p:cNvPicPr>
            <a:picLocks noChangeAspect="1"/>
          </p:cNvPicPr>
          <p:nvPr/>
        </p:nvPicPr>
        <p:blipFill>
          <a:blip r:embed="rId15"/>
          <a:stretch>
            <a:fillRect/>
          </a:stretch>
        </p:blipFill>
        <p:spPr>
          <a:xfrm>
            <a:off x="419070" y="7143750"/>
            <a:ext cx="914400" cy="171450"/>
          </a:xfrm>
          <a:prstGeom prst="rect">
            <a:avLst/>
          </a:prstGeom>
        </p:spPr>
      </p:pic>
      <p:sp>
        <p:nvSpPr>
          <p:cNvPr id="87" name="Object 87"/>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Listed multiples are priced at the October 16, 2026 close and use reported EBITDA. Rollins is a pest control company and is included as a route-based comparison.</a:t>
            </a:r>
            <a:endParaRPr lang="en-US" sz="700" dirty="0"/>
          </a:p>
        </p:txBody>
      </p:sp>
      <p:sp>
        <p:nvSpPr>
          <p:cNvPr id="88" name="Object 88"/>
          <p:cNvSpPr txBox="1"/>
          <p:nvPr/>
        </p:nvSpPr>
        <p:spPr>
          <a:xfrm>
            <a:off x="9495495"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Hands signing a document at a desk"/>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418143"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02</a:t>
            </a:r>
            <a:endParaRPr lang="en-US" sz="9000" dirty="0"/>
          </a:p>
        </p:txBody>
      </p:sp>
      <p:sp>
        <p:nvSpPr>
          <p:cNvPr id="6" name="Object 6"/>
          <p:cNvSpPr txBox="1"/>
          <p:nvPr/>
        </p:nvSpPr>
        <p:spPr>
          <a:xfrm>
            <a:off x="609630" y="2895630"/>
            <a:ext cx="3509193"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Sector Activity</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9" name="Object 9"/>
          <p:cNvSpPr/>
          <p:nvPr/>
        </p:nvSpPr>
        <p:spPr>
          <a:xfrm>
            <a:off x="609630" y="4067160"/>
            <a:ext cx="57150" cy="57150"/>
          </a:xfrm>
          <a:prstGeom prst="rect">
            <a:avLst/>
          </a:prstGeom>
          <a:solidFill>
            <a:srgbClr val="B68757"/>
          </a:solidFill>
          <a:ln/>
        </p:spPr>
        <p:txBody>
          <a:bodyPr/>
          <a:lstStyle/>
          <a:p>
            <a:endParaRPr/>
          </a:p>
        </p:txBody>
      </p:sp>
      <p:sp>
        <p:nvSpPr>
          <p:cNvPr id="10" name="Object 10"/>
          <p:cNvSpPr txBox="1"/>
          <p:nvPr/>
        </p:nvSpPr>
        <p:spPr>
          <a:xfrm>
            <a:off x="781080" y="4005255"/>
            <a:ext cx="90260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Client spotlight</a:t>
            </a:r>
            <a:endParaRPr lang="en-US" sz="950" dirty="0"/>
          </a:p>
        </p:txBody>
      </p:sp>
      <p:sp>
        <p:nvSpPr>
          <p:cNvPr id="11" name="Object 11"/>
          <p:cNvSpPr/>
          <p:nvPr/>
        </p:nvSpPr>
        <p:spPr>
          <a:xfrm>
            <a:off x="609630" y="42672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410060"/>
            <a:ext cx="57150" cy="57150"/>
          </a:xfrm>
          <a:prstGeom prst="rect">
            <a:avLst/>
          </a:prstGeom>
          <a:solidFill>
            <a:srgbClr val="B68757"/>
          </a:solidFill>
          <a:ln/>
        </p:spPr>
        <p:txBody>
          <a:bodyPr/>
          <a:lstStyle/>
          <a:p>
            <a:endParaRPr/>
          </a:p>
        </p:txBody>
      </p:sp>
      <p:sp>
        <p:nvSpPr>
          <p:cNvPr id="13" name="Object 13"/>
          <p:cNvSpPr txBox="1"/>
          <p:nvPr/>
        </p:nvSpPr>
        <p:spPr>
          <a:xfrm>
            <a:off x="781080" y="4348155"/>
            <a:ext cx="1825417"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Object 14"/>
          <p:cNvSpPr/>
          <p:nvPr/>
        </p:nvSpPr>
        <p:spPr>
          <a:xfrm>
            <a:off x="609630" y="46101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4752960"/>
            <a:ext cx="57150" cy="57150"/>
          </a:xfrm>
          <a:prstGeom prst="rect">
            <a:avLst/>
          </a:prstGeom>
          <a:solidFill>
            <a:srgbClr val="B68757"/>
          </a:solidFill>
          <a:ln/>
        </p:spPr>
        <p:txBody>
          <a:bodyPr/>
          <a:lstStyle/>
          <a:p>
            <a:endParaRPr/>
          </a:p>
        </p:txBody>
      </p:sp>
      <p:sp>
        <p:nvSpPr>
          <p:cNvPr id="16" name="Object 16"/>
          <p:cNvSpPr txBox="1"/>
          <p:nvPr/>
        </p:nvSpPr>
        <p:spPr>
          <a:xfrm>
            <a:off x="781080" y="4691055"/>
            <a:ext cx="220114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Object 17"/>
          <p:cNvSpPr/>
          <p:nvPr/>
        </p:nvSpPr>
        <p:spPr>
          <a:xfrm>
            <a:off x="609630" y="49530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5095860"/>
            <a:ext cx="57150" cy="57150"/>
          </a:xfrm>
          <a:prstGeom prst="rect">
            <a:avLst/>
          </a:prstGeom>
          <a:solidFill>
            <a:srgbClr val="B68757"/>
          </a:solidFill>
          <a:ln/>
        </p:spPr>
        <p:txBody>
          <a:bodyPr/>
          <a:lstStyle/>
          <a:p>
            <a:endParaRPr/>
          </a:p>
        </p:txBody>
      </p:sp>
      <p:sp>
        <p:nvSpPr>
          <p:cNvPr id="19" name="Object 19"/>
          <p:cNvSpPr txBox="1"/>
          <p:nvPr/>
        </p:nvSpPr>
        <p:spPr>
          <a:xfrm>
            <a:off x="781080" y="5033955"/>
            <a:ext cx="292726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Object 20"/>
          <p:cNvSpPr/>
          <p:nvPr/>
        </p:nvSpPr>
        <p:spPr>
          <a:xfrm>
            <a:off x="609630" y="5295930"/>
            <a:ext cx="3333720" cy="9510"/>
          </a:xfrm>
          <a:prstGeom prst="rect">
            <a:avLst/>
          </a:prstGeom>
          <a:solidFill>
            <a:srgbClr val="FFFFFF">
              <a:alpha val="16000"/>
            </a:srgbClr>
          </a:solidFill>
          <a:ln/>
        </p:spPr>
        <p:txBody>
          <a:bodyPr/>
          <a:lstStyle/>
          <a:p>
            <a:endParaRPr/>
          </a:p>
        </p:txBody>
      </p:sp>
      <p:sp>
        <p:nvSpPr>
          <p:cNvPr id="21" name="Object 21"/>
          <p:cNvSpPr/>
          <p:nvPr/>
        </p:nvSpPr>
        <p:spPr>
          <a:xfrm>
            <a:off x="609630" y="5438760"/>
            <a:ext cx="57150" cy="57150"/>
          </a:xfrm>
          <a:prstGeom prst="rect">
            <a:avLst/>
          </a:prstGeom>
          <a:solidFill>
            <a:srgbClr val="B68757"/>
          </a:solidFill>
          <a:ln/>
        </p:spPr>
        <p:txBody>
          <a:bodyPr/>
          <a:lstStyle/>
          <a:p>
            <a:endParaRPr/>
          </a:p>
        </p:txBody>
      </p:sp>
      <p:sp>
        <p:nvSpPr>
          <p:cNvPr id="22" name="Object 22"/>
          <p:cNvSpPr txBox="1"/>
          <p:nvPr/>
        </p:nvSpPr>
        <p:spPr>
          <a:xfrm>
            <a:off x="781080" y="5376855"/>
            <a:ext cx="156965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Earnings and commentary</a:t>
            </a:r>
            <a:endParaRPr lang="en-US" sz="950" dirty="0"/>
          </a:p>
        </p:txBody>
      </p:sp>
      <p:sp>
        <p:nvSpPr>
          <p:cNvPr id="23" name="Object 23"/>
          <p:cNvSpPr/>
          <p:nvPr/>
        </p:nvSpPr>
        <p:spPr>
          <a:xfrm>
            <a:off x="609630" y="5638830"/>
            <a:ext cx="3333720" cy="9510"/>
          </a:xfrm>
          <a:prstGeom prst="rect">
            <a:avLst/>
          </a:prstGeom>
          <a:solidFill>
            <a:srgbClr val="FFFFFF">
              <a:alpha val="16000"/>
            </a:srgbClr>
          </a:solidFill>
          <a:ln/>
        </p:spPr>
        <p:txBody>
          <a:bodyPr/>
          <a:lstStyle/>
          <a:p>
            <a:endParaRPr/>
          </a:p>
        </p:txBody>
      </p:sp>
      <p:sp>
        <p:nvSpPr>
          <p:cNvPr id="24" name="Object 24"/>
          <p:cNvSpPr/>
          <p:nvPr/>
        </p:nvSpPr>
        <p:spPr>
          <a:xfrm>
            <a:off x="609630" y="5781660"/>
            <a:ext cx="57150" cy="57150"/>
          </a:xfrm>
          <a:prstGeom prst="rect">
            <a:avLst/>
          </a:prstGeom>
          <a:solidFill>
            <a:srgbClr val="B68757"/>
          </a:solidFill>
          <a:ln/>
        </p:spPr>
        <p:txBody>
          <a:bodyPr/>
          <a:lstStyle/>
          <a:p>
            <a:endParaRPr/>
          </a:p>
        </p:txBody>
      </p:sp>
      <p:sp>
        <p:nvSpPr>
          <p:cNvPr id="25" name="Object 25"/>
          <p:cNvSpPr txBox="1"/>
          <p:nvPr/>
        </p:nvSpPr>
        <p:spPr>
          <a:xfrm>
            <a:off x="781080" y="5719755"/>
            <a:ext cx="1003097"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Economic trends</a:t>
            </a:r>
            <a:endParaRPr lang="en-US" sz="950" dirty="0"/>
          </a:p>
        </p:txBody>
      </p:sp>
      <p:sp>
        <p:nvSpPr>
          <p:cNvPr id="26" name="Object 26"/>
          <p:cNvSpPr/>
          <p:nvPr/>
        </p:nvSpPr>
        <p:spPr>
          <a:xfrm>
            <a:off x="609630" y="5981730"/>
            <a:ext cx="3333720" cy="9510"/>
          </a:xfrm>
          <a:prstGeom prst="rect">
            <a:avLst/>
          </a:prstGeom>
          <a:solidFill>
            <a:srgbClr val="FFFFFF">
              <a:alpha val="16000"/>
            </a:srgbClr>
          </a:solidFill>
          <a:ln/>
        </p:spPr>
        <p:txBody>
          <a:bodyPr/>
          <a:lstStyle/>
          <a:p>
            <a:endParaRPr/>
          </a:p>
        </p:txBody>
      </p:sp>
      <p:sp>
        <p:nvSpPr>
          <p:cNvPr id="27" name="Object 27"/>
          <p:cNvSpPr/>
          <p:nvPr/>
        </p:nvSpPr>
        <p:spPr>
          <a:xfrm>
            <a:off x="609630" y="6124560"/>
            <a:ext cx="57150" cy="57150"/>
          </a:xfrm>
          <a:prstGeom prst="rect">
            <a:avLst/>
          </a:prstGeom>
          <a:solidFill>
            <a:srgbClr val="B68757"/>
          </a:solidFill>
          <a:ln/>
        </p:spPr>
        <p:txBody>
          <a:bodyPr/>
          <a:lstStyle/>
          <a:p>
            <a:endParaRPr/>
          </a:p>
        </p:txBody>
      </p:sp>
      <p:sp>
        <p:nvSpPr>
          <p:cNvPr id="28" name="Object 28"/>
          <p:cNvSpPr txBox="1"/>
          <p:nvPr/>
        </p:nvSpPr>
        <p:spPr>
          <a:xfrm>
            <a:off x="781080" y="6062655"/>
            <a:ext cx="1909450"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Select participants</a:t>
            </a:r>
            <a:endParaRPr lang="en-US" sz="950" dirty="0"/>
          </a:p>
        </p:txBody>
      </p:sp>
      <p:sp>
        <p:nvSpPr>
          <p:cNvPr id="29" name="Object 29"/>
          <p:cNvSpPr/>
          <p:nvPr/>
        </p:nvSpPr>
        <p:spPr>
          <a:xfrm>
            <a:off x="609630" y="6324630"/>
            <a:ext cx="3333720" cy="9510"/>
          </a:xfrm>
          <a:prstGeom prst="rect">
            <a:avLst/>
          </a:prstGeom>
          <a:solidFill>
            <a:srgbClr val="FFFFFF">
              <a:alpha val="16000"/>
            </a:srgbClr>
          </a:solidFill>
          <a:ln/>
        </p:spPr>
        <p:txBody>
          <a:bodyPr/>
          <a:lstStyle/>
          <a:p>
            <a:endParaRPr/>
          </a:p>
        </p:txBody>
      </p:sp>
      <p:pic>
        <p:nvPicPr>
          <p:cNvPr id="30" name="Object 30"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31" name="Object 31"/>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5643402"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Object 6"/>
          <p:cNvSpPr txBox="1"/>
          <p:nvPr/>
        </p:nvSpPr>
        <p:spPr>
          <a:xfrm>
            <a:off x="419070" y="883402"/>
            <a:ext cx="811840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Three fire protection businesses sold to operators already in the field</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339087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p:nvPr/>
        </p:nvSpPr>
        <p:spPr>
          <a:xfrm>
            <a:off x="571500" y="1400221"/>
            <a:ext cx="1038210" cy="438180"/>
          </a:xfrm>
          <a:prstGeom prst="rect">
            <a:avLst/>
          </a:prstGeom>
          <a:noFill/>
          <a:ln>
            <a:noFill/>
          </a:ln>
        </p:spPr>
        <p:txBody>
          <a:bodyPr/>
          <a:lstStyle/>
          <a:p>
            <a:endParaRPr/>
          </a:p>
        </p:txBody>
      </p:sp>
      <p:pic>
        <p:nvPicPr>
          <p:cNvPr id="11" name="Object 11" descr="FPS Technologies"/>
          <p:cNvPicPr>
            <a:picLocks noChangeAspect="1"/>
          </p:cNvPicPr>
          <p:nvPr/>
        </p:nvPicPr>
        <p:blipFill>
          <a:blip r:embed="rId3"/>
          <a:stretch>
            <a:fillRect/>
          </a:stretch>
        </p:blipFill>
        <p:spPr>
          <a:xfrm>
            <a:off x="746242" y="1457371"/>
            <a:ext cx="688818" cy="323698"/>
          </a:xfrm>
          <a:prstGeom prst="rect">
            <a:avLst/>
          </a:prstGeom>
        </p:spPr>
      </p:pic>
      <p:sp>
        <p:nvSpPr>
          <p:cNvPr id="12" name="Object 12"/>
          <p:cNvSpPr txBox="1"/>
          <p:nvPr/>
        </p:nvSpPr>
        <p:spPr>
          <a:xfrm>
            <a:off x="1685971"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13" name="Object 13"/>
          <p:cNvSpPr/>
          <p:nvPr/>
        </p:nvSpPr>
        <p:spPr>
          <a:xfrm>
            <a:off x="2200321" y="1400221"/>
            <a:ext cx="1038210" cy="438180"/>
          </a:xfrm>
          <a:prstGeom prst="rect">
            <a:avLst/>
          </a:prstGeom>
          <a:noFill/>
          <a:ln>
            <a:noFill/>
          </a:ln>
        </p:spPr>
        <p:txBody>
          <a:bodyPr/>
          <a:lstStyle/>
          <a:p>
            <a:endParaRPr/>
          </a:p>
        </p:txBody>
      </p:sp>
      <p:pic>
        <p:nvPicPr>
          <p:cNvPr id="14" name="Object 14" descr="Cintas"/>
          <p:cNvPicPr>
            <a:picLocks noChangeAspect="1"/>
          </p:cNvPicPr>
          <p:nvPr/>
        </p:nvPicPr>
        <p:blipFill>
          <a:blip r:embed="rId4"/>
          <a:stretch>
            <a:fillRect/>
          </a:stretch>
        </p:blipFill>
        <p:spPr>
          <a:xfrm>
            <a:off x="2302185" y="1457371"/>
            <a:ext cx="834207" cy="323698"/>
          </a:xfrm>
          <a:prstGeom prst="rect">
            <a:avLst/>
          </a:prstGeom>
        </p:spPr>
      </p:pic>
      <p:sp>
        <p:nvSpPr>
          <p:cNvPr id="15" name="Object 15"/>
          <p:cNvSpPr txBox="1"/>
          <p:nvPr/>
        </p:nvSpPr>
        <p:spPr>
          <a:xfrm>
            <a:off x="571500" y="1933590"/>
            <a:ext cx="2020184"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Object 16"/>
          <p:cNvSpPr txBox="1"/>
          <p:nvPr/>
        </p:nvSpPr>
        <p:spPr>
          <a:xfrm>
            <a:off x="57150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17" name="Object 17"/>
          <p:cNvSpPr txBox="1"/>
          <p:nvPr/>
        </p:nvSpPr>
        <p:spPr>
          <a:xfrm>
            <a:off x="57150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Object 18"/>
          <p:cNvSpPr txBox="1"/>
          <p:nvPr/>
        </p:nvSpPr>
        <p:spPr>
          <a:xfrm>
            <a:off x="57150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19" name="Object 19"/>
          <p:cNvSpPr txBox="1"/>
          <p:nvPr/>
        </p:nvSpPr>
        <p:spPr>
          <a:xfrm>
            <a:off x="571500" y="3106776"/>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Cintas is a listed company that serves more than one million businesses over approximately 12,500 local delivery routes (</a:t>
            </a:r>
            <a:r>
              <a:rPr lang="en-US" sz="800" u="sng" dirty="0">
                <a:solidFill>
                  <a:srgbClr val="8C6239"/>
                </a:solidFill>
                <a:latin typeface="+mn-lt" pitchFamily="34" charset="0"/>
                <a:hlinkClick r:id="rId5"/>
              </a:rPr>
              <a:t>Cintas annual report</a:t>
            </a:r>
            <a:r>
              <a:rPr lang="en-US" sz="800" dirty="0">
                <a:solidFill>
                  <a:srgbClr val="333231"/>
                </a:solidFill>
                <a:latin typeface="+mn-lt" pitchFamily="34" charset="0"/>
              </a:rPr>
              <a:t>).</a:t>
            </a:r>
            <a:endParaRPr lang="en-US" sz="800" dirty="0"/>
          </a:p>
        </p:txBody>
      </p:sp>
      <p:grpSp>
        <p:nvGrpSpPr>
          <p:cNvPr id="75" name="Object 75">
            <a:extLst>
              <a:ext uri="{FF2B5EF4-FFF2-40B4-BE49-F238E27FC236}"/>
            </a:extLst>
          </p:cNvPr>
          <p:cNvGrpSpPr/>
          <p:nvPr/>
        </p:nvGrpSpPr>
        <p:grpSpPr>
          <a:xfrm>
            <a:off x="571500" y="3773526"/>
            <a:ext cx="2667030" cy="428579"/>
            <a:chOff x="571500" y="3621126"/>
            <a:chExt cx="2667030" cy="428579"/>
          </a:xfrm>
        </p:grpSpPr>
        <p:sp>
          <p:nvSpPr>
            <p:cNvPr id="20" name="Object 20"/>
            <p:cNvSpPr txBox="1"/>
            <p:nvPr/>
          </p:nvSpPr>
          <p:spPr>
            <a:xfrm>
              <a:off x="571500" y="3621126"/>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21" name="Object 21"/>
            <p:cNvSpPr txBox="1"/>
            <p:nvPr/>
          </p:nvSpPr>
          <p:spPr>
            <a:xfrm>
              <a:off x="571500" y="3763955"/>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grpSp>
      <p:sp>
        <p:nvSpPr>
          <p:cNvPr id="22" name="Object 22"/>
          <p:cNvSpPr txBox="1"/>
          <p:nvPr/>
        </p:nvSpPr>
        <p:spPr>
          <a:xfrm>
            <a:off x="57150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Read the announcement</a:t>
            </a:r>
            <a:endParaRPr lang="en-US" sz="750" dirty="0"/>
          </a:p>
        </p:txBody>
      </p:sp>
      <p:sp>
        <p:nvSpPr>
          <p:cNvPr id="23" name="Object 23"/>
          <p:cNvSpPr/>
          <p:nvPr/>
        </p:nvSpPr>
        <p:spPr>
          <a:xfrm>
            <a:off x="3543300" y="1238280"/>
            <a:ext cx="2971800" cy="3390870"/>
          </a:xfrm>
          <a:prstGeom prst="rect">
            <a:avLst/>
          </a:prstGeom>
          <a:solidFill>
            <a:srgbClr val="FAF7F3"/>
          </a:solidFill>
          <a:ln/>
        </p:spPr>
        <p:txBody>
          <a:bodyPr/>
          <a:lstStyle/>
          <a:p>
            <a:endParaRPr/>
          </a:p>
        </p:txBody>
      </p:sp>
      <p:sp>
        <p:nvSpPr>
          <p:cNvPr id="24" name="Object 24"/>
          <p:cNvSpPr/>
          <p:nvPr/>
        </p:nvSpPr>
        <p:spPr>
          <a:xfrm>
            <a:off x="3543300" y="1238280"/>
            <a:ext cx="2971800" cy="28621"/>
          </a:xfrm>
          <a:prstGeom prst="rect">
            <a:avLst/>
          </a:prstGeom>
          <a:solidFill>
            <a:srgbClr val="B68757"/>
          </a:solidFill>
          <a:ln/>
        </p:spPr>
        <p:txBody>
          <a:bodyPr/>
          <a:lstStyle/>
          <a:p>
            <a:endParaRPr/>
          </a:p>
        </p:txBody>
      </p:sp>
      <p:sp>
        <p:nvSpPr>
          <p:cNvPr id="25" name="Object 25"/>
          <p:cNvSpPr/>
          <p:nvPr/>
        </p:nvSpPr>
        <p:spPr>
          <a:xfrm>
            <a:off x="3695730" y="1400221"/>
            <a:ext cx="1038210" cy="438180"/>
          </a:xfrm>
          <a:prstGeom prst="rect">
            <a:avLst/>
          </a:prstGeom>
          <a:noFill/>
          <a:ln>
            <a:noFill/>
          </a:ln>
        </p:spPr>
        <p:txBody>
          <a:bodyPr/>
          <a:lstStyle/>
          <a:p>
            <a:endParaRPr/>
          </a:p>
        </p:txBody>
      </p:sp>
      <p:pic>
        <p:nvPicPr>
          <p:cNvPr id="26" name="Object 26" descr="Fire Systems Technology"/>
          <p:cNvPicPr>
            <a:picLocks noChangeAspect="1"/>
          </p:cNvPicPr>
          <p:nvPr/>
        </p:nvPicPr>
        <p:blipFill>
          <a:blip r:embed="rId7"/>
          <a:stretch>
            <a:fillRect/>
          </a:stretch>
        </p:blipFill>
        <p:spPr>
          <a:xfrm>
            <a:off x="3906865" y="1457371"/>
            <a:ext cx="615848" cy="323698"/>
          </a:xfrm>
          <a:prstGeom prst="rect">
            <a:avLst/>
          </a:prstGeom>
        </p:spPr>
      </p:pic>
      <p:sp>
        <p:nvSpPr>
          <p:cNvPr id="27" name="Object 27"/>
          <p:cNvSpPr txBox="1"/>
          <p:nvPr/>
        </p:nvSpPr>
        <p:spPr>
          <a:xfrm>
            <a:off x="4810110"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28" name="Object 28"/>
          <p:cNvSpPr/>
          <p:nvPr/>
        </p:nvSpPr>
        <p:spPr>
          <a:xfrm>
            <a:off x="5324460" y="1400221"/>
            <a:ext cx="1038210" cy="438180"/>
          </a:xfrm>
          <a:prstGeom prst="rect">
            <a:avLst/>
          </a:prstGeom>
          <a:noFill/>
          <a:ln>
            <a:noFill/>
          </a:ln>
        </p:spPr>
        <p:txBody>
          <a:bodyPr/>
          <a:lstStyle/>
          <a:p>
            <a:endParaRPr/>
          </a:p>
        </p:txBody>
      </p:sp>
      <p:pic>
        <p:nvPicPr>
          <p:cNvPr id="29" name="Object 29" descr="AI Fire"/>
          <p:cNvPicPr>
            <a:picLocks noChangeAspect="1"/>
          </p:cNvPicPr>
          <p:nvPr/>
        </p:nvPicPr>
        <p:blipFill>
          <a:blip r:embed="rId8"/>
          <a:stretch>
            <a:fillRect/>
          </a:stretch>
        </p:blipFill>
        <p:spPr>
          <a:xfrm>
            <a:off x="5410230" y="1494404"/>
            <a:ext cx="866760" cy="249540"/>
          </a:xfrm>
          <a:prstGeom prst="rect">
            <a:avLst/>
          </a:prstGeom>
        </p:spPr>
      </p:pic>
      <p:sp>
        <p:nvSpPr>
          <p:cNvPr id="30" name="Object 30"/>
          <p:cNvSpPr txBox="1"/>
          <p:nvPr/>
        </p:nvSpPr>
        <p:spPr>
          <a:xfrm>
            <a:off x="3695730" y="1933590"/>
            <a:ext cx="2534351"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Object 31"/>
          <p:cNvSpPr txBox="1"/>
          <p:nvPr/>
        </p:nvSpPr>
        <p:spPr>
          <a:xfrm>
            <a:off x="369573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32" name="Object 32"/>
          <p:cNvSpPr txBox="1"/>
          <p:nvPr/>
        </p:nvSpPr>
        <p:spPr>
          <a:xfrm>
            <a:off x="369573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Object 33"/>
          <p:cNvSpPr txBox="1"/>
          <p:nvPr/>
        </p:nvSpPr>
        <p:spPr>
          <a:xfrm>
            <a:off x="369573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34" name="Object 34"/>
          <p:cNvSpPr txBox="1"/>
          <p:nvPr/>
        </p:nvSpPr>
        <p:spPr>
          <a:xfrm>
            <a:off x="3695730" y="3106776"/>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grpSp>
        <p:nvGrpSpPr>
          <p:cNvPr id="74" name="Object 74">
            <a:extLst>
              <a:ext uri="{FF2B5EF4-FFF2-40B4-BE49-F238E27FC236}"/>
            </a:extLst>
          </p:cNvPr>
          <p:cNvGrpSpPr/>
          <p:nvPr/>
        </p:nvGrpSpPr>
        <p:grpSpPr>
          <a:xfrm>
            <a:off x="3695730" y="3773526"/>
            <a:ext cx="2667030" cy="428579"/>
            <a:chOff x="3695730" y="3621126"/>
            <a:chExt cx="2667030" cy="428579"/>
          </a:xfrm>
        </p:grpSpPr>
        <p:sp>
          <p:nvSpPr>
            <p:cNvPr id="35" name="Object 35"/>
            <p:cNvSpPr txBox="1"/>
            <p:nvPr/>
          </p:nvSpPr>
          <p:spPr>
            <a:xfrm>
              <a:off x="3695730" y="3621126"/>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36" name="Object 36"/>
            <p:cNvSpPr txBox="1"/>
            <p:nvPr/>
          </p:nvSpPr>
          <p:spPr>
            <a:xfrm>
              <a:off x="3695730" y="3763955"/>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Sprinkler installation and inspection capacity in Arkansas.</a:t>
              </a:r>
              <a:endParaRPr lang="en-US" sz="800" dirty="0"/>
            </a:p>
          </p:txBody>
        </p:sp>
      </p:grpSp>
      <p:sp>
        <p:nvSpPr>
          <p:cNvPr id="37" name="Object 37"/>
          <p:cNvSpPr txBox="1"/>
          <p:nvPr/>
        </p:nvSpPr>
        <p:spPr>
          <a:xfrm>
            <a:off x="369573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Read the announcement</a:t>
            </a:r>
            <a:endParaRPr lang="en-US" sz="750" dirty="0"/>
          </a:p>
        </p:txBody>
      </p:sp>
      <p:sp>
        <p:nvSpPr>
          <p:cNvPr id="38" name="Object 38"/>
          <p:cNvSpPr/>
          <p:nvPr/>
        </p:nvSpPr>
        <p:spPr>
          <a:xfrm>
            <a:off x="6667530" y="1238280"/>
            <a:ext cx="2971800" cy="3390870"/>
          </a:xfrm>
          <a:prstGeom prst="rect">
            <a:avLst/>
          </a:prstGeom>
          <a:solidFill>
            <a:srgbClr val="FAF7F3"/>
          </a:solidFill>
          <a:ln/>
        </p:spPr>
        <p:txBody>
          <a:bodyPr/>
          <a:lstStyle/>
          <a:p>
            <a:endParaRPr/>
          </a:p>
        </p:txBody>
      </p:sp>
      <p:sp>
        <p:nvSpPr>
          <p:cNvPr id="39" name="Object 39"/>
          <p:cNvSpPr/>
          <p:nvPr/>
        </p:nvSpPr>
        <p:spPr>
          <a:xfrm>
            <a:off x="6667530" y="1238280"/>
            <a:ext cx="2971800" cy="28621"/>
          </a:xfrm>
          <a:prstGeom prst="rect">
            <a:avLst/>
          </a:prstGeom>
          <a:solidFill>
            <a:srgbClr val="B68757"/>
          </a:solidFill>
          <a:ln/>
        </p:spPr>
        <p:txBody>
          <a:bodyPr/>
          <a:lstStyle/>
          <a:p>
            <a:endParaRPr/>
          </a:p>
        </p:txBody>
      </p:sp>
      <p:sp>
        <p:nvSpPr>
          <p:cNvPr id="40" name="Object 40"/>
          <p:cNvSpPr/>
          <p:nvPr/>
        </p:nvSpPr>
        <p:spPr>
          <a:xfrm>
            <a:off x="6819870" y="1400221"/>
            <a:ext cx="1038210" cy="438180"/>
          </a:xfrm>
          <a:prstGeom prst="rect">
            <a:avLst/>
          </a:prstGeom>
          <a:noFill/>
          <a:ln>
            <a:noFill/>
          </a:ln>
        </p:spPr>
        <p:txBody>
          <a:bodyPr/>
          <a:lstStyle/>
          <a:p>
            <a:endParaRPr/>
          </a:p>
        </p:txBody>
      </p:sp>
      <p:sp>
        <p:nvSpPr>
          <p:cNvPr id="41" name="Object 41"/>
          <p:cNvSpPr txBox="1"/>
          <p:nvPr/>
        </p:nvSpPr>
        <p:spPr>
          <a:xfrm>
            <a:off x="6905640" y="1452524"/>
            <a:ext cx="866760" cy="328635"/>
          </a:xfrm>
          <a:prstGeom prst="rect">
            <a:avLst/>
          </a:prstGeom>
          <a:noFill/>
          <a:ln/>
        </p:spPr>
        <p:txBody>
          <a:bodyPr wrap="square" lIns="0" tIns="0" rIns="0" bIns="0" rtlCol="0" anchor="t"/>
          <a:lstStyle/>
          <a:p>
            <a:pPr marL="0" indent="0" algn="ctr">
              <a:lnSpc>
                <a:spcPts val="850"/>
              </a:lnSpc>
              <a:buNone/>
            </a:pPr>
            <a:r>
              <a:rPr lang="en-US" sz="650" b="1" kern="0" spc="100" dirty="0">
                <a:solidFill>
                  <a:srgbClr val="1B1A1A"/>
                </a:solidFill>
                <a:latin typeface="+mn-lt" pitchFamily="34" charset="0"/>
              </a:rPr>
              <a:t>HIGH TECH SOLUTIONS</a:t>
            </a:r>
            <a:endParaRPr lang="en-US" sz="650" dirty="0"/>
          </a:p>
          <a:p>
            <a:pPr marL="0" indent="0" algn="ctr">
              <a:lnSpc>
                <a:spcPts val="850"/>
              </a:lnSpc>
              <a:buNone/>
            </a:pPr>
            <a:r>
              <a:rPr lang="en-US" sz="650" b="1" kern="0" spc="100" dirty="0">
                <a:solidFill>
                  <a:srgbClr val="1B1A1A"/>
                </a:solidFill>
                <a:latin typeface="+mn-lt" pitchFamily="34" charset="0"/>
              </a:rPr>
              <a:t>SYSTEMS GROUP</a:t>
            </a:r>
            <a:endParaRPr lang="en-US" sz="650" dirty="0"/>
          </a:p>
        </p:txBody>
      </p:sp>
      <p:sp>
        <p:nvSpPr>
          <p:cNvPr id="42" name="Object 42"/>
          <p:cNvSpPr txBox="1"/>
          <p:nvPr/>
        </p:nvSpPr>
        <p:spPr>
          <a:xfrm>
            <a:off x="7934340"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43" name="Object 43"/>
          <p:cNvSpPr/>
          <p:nvPr/>
        </p:nvSpPr>
        <p:spPr>
          <a:xfrm>
            <a:off x="8448690" y="1400221"/>
            <a:ext cx="1038210" cy="438180"/>
          </a:xfrm>
          <a:prstGeom prst="rect">
            <a:avLst/>
          </a:prstGeom>
          <a:noFill/>
          <a:ln>
            <a:noFill/>
          </a:ln>
        </p:spPr>
        <p:txBody>
          <a:bodyPr/>
          <a:lstStyle/>
          <a:p>
            <a:endParaRPr/>
          </a:p>
        </p:txBody>
      </p:sp>
      <p:pic>
        <p:nvPicPr>
          <p:cNvPr id="44" name="Object 44" descr="AI Fire"/>
          <p:cNvPicPr>
            <a:picLocks noChangeAspect="1"/>
          </p:cNvPicPr>
          <p:nvPr/>
        </p:nvPicPr>
        <p:blipFill>
          <a:blip r:embed="rId8"/>
          <a:stretch>
            <a:fillRect/>
          </a:stretch>
        </p:blipFill>
        <p:spPr>
          <a:xfrm>
            <a:off x="8534370" y="1494404"/>
            <a:ext cx="866760" cy="249540"/>
          </a:xfrm>
          <a:prstGeom prst="rect">
            <a:avLst/>
          </a:prstGeom>
        </p:spPr>
      </p:pic>
      <p:sp>
        <p:nvSpPr>
          <p:cNvPr id="45" name="Object 45"/>
          <p:cNvSpPr txBox="1"/>
          <p:nvPr/>
        </p:nvSpPr>
        <p:spPr>
          <a:xfrm>
            <a:off x="6819870" y="1933590"/>
            <a:ext cx="2226930"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Object 46"/>
          <p:cNvSpPr txBox="1"/>
          <p:nvPr/>
        </p:nvSpPr>
        <p:spPr>
          <a:xfrm>
            <a:off x="681987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47" name="Object 47"/>
          <p:cNvSpPr txBox="1"/>
          <p:nvPr/>
        </p:nvSpPr>
        <p:spPr>
          <a:xfrm>
            <a:off x="681987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Object 48"/>
          <p:cNvSpPr txBox="1"/>
          <p:nvPr/>
        </p:nvSpPr>
        <p:spPr>
          <a:xfrm>
            <a:off x="681987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49" name="Object 49"/>
          <p:cNvSpPr txBox="1"/>
          <p:nvPr/>
        </p:nvSpPr>
        <p:spPr>
          <a:xfrm>
            <a:off x="6819870" y="3106776"/>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grpSp>
        <p:nvGrpSpPr>
          <p:cNvPr id="72" name="Object 72">
            <a:extLst>
              <a:ext uri="{FF2B5EF4-FFF2-40B4-BE49-F238E27FC236}"/>
            </a:extLst>
          </p:cNvPr>
          <p:cNvGrpSpPr/>
          <p:nvPr/>
        </p:nvGrpSpPr>
        <p:grpSpPr>
          <a:xfrm>
            <a:off x="6819870" y="3773434"/>
            <a:ext cx="2667030" cy="428671"/>
            <a:chOff x="6819870" y="3478205"/>
            <a:chExt cx="2667030" cy="428671"/>
          </a:xfrm>
        </p:grpSpPr>
        <p:sp>
          <p:nvSpPr>
            <p:cNvPr id="50" name="Object 50"/>
            <p:cNvSpPr txBox="1"/>
            <p:nvPr/>
          </p:nvSpPr>
          <p:spPr>
            <a:xfrm>
              <a:off x="6819870" y="3478205"/>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51" name="Object 51"/>
            <p:cNvSpPr txBox="1"/>
            <p:nvPr/>
          </p:nvSpPr>
          <p:spPr>
            <a:xfrm>
              <a:off x="6819870" y="3621126"/>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grpSp>
      <p:sp>
        <p:nvSpPr>
          <p:cNvPr id="52" name="Object 52"/>
          <p:cNvSpPr txBox="1"/>
          <p:nvPr/>
        </p:nvSpPr>
        <p:spPr>
          <a:xfrm>
            <a:off x="681987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Read the announcement</a:t>
            </a:r>
            <a:endParaRPr lang="en-US" sz="750" dirty="0"/>
          </a:p>
        </p:txBody>
      </p:sp>
      <p:sp>
        <p:nvSpPr>
          <p:cNvPr id="53" name="Object 53"/>
          <p:cNvSpPr/>
          <p:nvPr/>
        </p:nvSpPr>
        <p:spPr>
          <a:xfrm>
            <a:off x="419070" y="4781580"/>
            <a:ext cx="9220170" cy="2152680"/>
          </a:xfrm>
          <a:prstGeom prst="rect">
            <a:avLst/>
          </a:prstGeom>
          <a:solidFill>
            <a:srgbClr val="1B1A1A"/>
          </a:solidFill>
          <a:ln/>
        </p:spPr>
        <p:txBody>
          <a:bodyPr/>
          <a:lstStyle/>
          <a:p>
            <a:endParaRPr/>
          </a:p>
        </p:txBody>
      </p:sp>
      <p:pic>
        <p:nvPicPr>
          <p:cNvPr id="54" name="Object 54" descr="Hands signing a document at a desk"/>
          <p:cNvPicPr>
            <a:picLocks noChangeAspect="1"/>
          </p:cNvPicPr>
          <p:nvPr/>
        </p:nvPicPr>
        <p:blipFill>
          <a:blip r:embed="rId11"/>
          <a:stretch>
            <a:fillRect/>
          </a:stretch>
        </p:blipFill>
        <p:spPr>
          <a:xfrm>
            <a:off x="419070" y="4781580"/>
            <a:ext cx="2381280" cy="2152680"/>
          </a:xfrm>
          <a:prstGeom prst="rect">
            <a:avLst/>
          </a:prstGeom>
        </p:spPr>
      </p:pic>
      <p:sp>
        <p:nvSpPr>
          <p:cNvPr id="55" name="Object 55"/>
          <p:cNvSpPr txBox="1"/>
          <p:nvPr/>
        </p:nvSpPr>
        <p:spPr>
          <a:xfrm>
            <a:off x="2933670" y="5029200"/>
            <a:ext cx="2438065"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WHAT THE THREE SALES HAD IN COMMON</a:t>
            </a:r>
            <a:endParaRPr lang="en-US" sz="700" dirty="0"/>
          </a:p>
        </p:txBody>
      </p:sp>
      <p:sp>
        <p:nvSpPr>
          <p:cNvPr id="56" name="Object 56"/>
          <p:cNvSpPr/>
          <p:nvPr/>
        </p:nvSpPr>
        <p:spPr>
          <a:xfrm>
            <a:off x="2933670" y="5305440"/>
            <a:ext cx="342900" cy="342900"/>
          </a:xfrm>
          <a:prstGeom prst="ellipse">
            <a:avLst/>
          </a:prstGeom>
          <a:solidFill>
            <a:srgbClr val="1B1A1A"/>
          </a:solidFill>
          <a:ln/>
        </p:spPr>
        <p:txBody>
          <a:bodyPr/>
          <a:lstStyle/>
          <a:p>
            <a:endParaRPr/>
          </a:p>
        </p:txBody>
      </p:sp>
      <p:pic>
        <p:nvPicPr>
          <p:cNvPr id="57" name="Object 57"/>
          <p:cNvPicPr>
            <a:picLocks noChangeAspect="1"/>
          </p:cNvPicPr>
          <p:nvPr/>
        </p:nvPicPr>
        <p:blipFill>
          <a:blip r:embed="rId12"/>
          <a:stretch>
            <a:fillRect/>
          </a:stretch>
        </p:blipFill>
        <p:spPr>
          <a:xfrm>
            <a:off x="3079792" y="5314642"/>
            <a:ext cx="209580" cy="209580"/>
          </a:xfrm>
          <a:prstGeom prst="rect">
            <a:avLst/>
          </a:prstGeom>
        </p:spPr>
      </p:pic>
      <p:sp>
        <p:nvSpPr>
          <p:cNvPr id="58" name="Object 58"/>
          <p:cNvSpPr txBox="1"/>
          <p:nvPr/>
        </p:nvSpPr>
        <p:spPr>
          <a:xfrm>
            <a:off x="3390870" y="5300685"/>
            <a:ext cx="1552560" cy="323880"/>
          </a:xfrm>
          <a:prstGeom prst="rect">
            <a:avLst/>
          </a:prstGeom>
          <a:noFill/>
          <a:ln/>
        </p:spPr>
        <p:txBody>
          <a:bodyPr wrap="square" lIns="0" tIns="0" rIns="0" bIns="0" rtlCol="0" anchor="t"/>
          <a:lstStyle/>
          <a:p>
            <a:pPr marL="0" indent="0" algn="l">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Object 59"/>
          <p:cNvSpPr txBox="1"/>
          <p:nvPr/>
        </p:nvSpPr>
        <p:spPr>
          <a:xfrm>
            <a:off x="3390870" y="5489545"/>
            <a:ext cx="1552560" cy="785835"/>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The businesses maintained, inspected, or serviced the systems they installed, which gave the buyer continuing work with the same customers.</a:t>
            </a:r>
            <a:endParaRPr lang="en-US" sz="850" dirty="0"/>
          </a:p>
        </p:txBody>
      </p:sp>
      <p:sp>
        <p:nvSpPr>
          <p:cNvPr id="60" name="Object 60"/>
          <p:cNvSpPr/>
          <p:nvPr/>
        </p:nvSpPr>
        <p:spPr>
          <a:xfrm>
            <a:off x="5156119" y="5305440"/>
            <a:ext cx="342900" cy="342900"/>
          </a:xfrm>
          <a:prstGeom prst="ellipse">
            <a:avLst/>
          </a:prstGeom>
          <a:solidFill>
            <a:srgbClr val="1B1A1A"/>
          </a:solidFill>
          <a:ln/>
        </p:spPr>
        <p:txBody>
          <a:bodyPr/>
          <a:lstStyle/>
          <a:p>
            <a:endParaRPr/>
          </a:p>
        </p:txBody>
      </p:sp>
      <p:pic>
        <p:nvPicPr>
          <p:cNvPr id="61" name="Object 61"/>
          <p:cNvPicPr>
            <a:picLocks noChangeAspect="1"/>
          </p:cNvPicPr>
          <p:nvPr/>
        </p:nvPicPr>
        <p:blipFill>
          <a:blip r:embed="rId13"/>
          <a:stretch>
            <a:fillRect/>
          </a:stretch>
        </p:blipFill>
        <p:spPr>
          <a:xfrm>
            <a:off x="5302241" y="5314642"/>
            <a:ext cx="209580" cy="209580"/>
          </a:xfrm>
          <a:prstGeom prst="rect">
            <a:avLst/>
          </a:prstGeom>
        </p:spPr>
      </p:pic>
      <p:sp>
        <p:nvSpPr>
          <p:cNvPr id="62" name="Object 62"/>
          <p:cNvSpPr txBox="1"/>
          <p:nvPr/>
        </p:nvSpPr>
        <p:spPr>
          <a:xfrm>
            <a:off x="5613319" y="5300685"/>
            <a:ext cx="1406530" cy="161940"/>
          </a:xfrm>
          <a:prstGeom prst="rect">
            <a:avLst/>
          </a:prstGeom>
          <a:noFill/>
          <a:ln/>
        </p:spPr>
        <p:txBody>
          <a:bodyPr wrap="none" lIns="0" tIns="0" rIns="0" bIns="0" rtlCol="0" anchor="t"/>
          <a:lstStyle/>
          <a:p>
            <a:pPr marL="0" indent="0" algn="l">
              <a:lnSpc>
                <a:spcPts val="1300"/>
              </a:lnSpc>
              <a:buNone/>
            </a:pPr>
            <a:r>
              <a:rPr lang="en-US" sz="950" b="1" dirty="0">
                <a:solidFill>
                  <a:srgbClr val="FFFFFF"/>
                </a:solidFill>
                <a:latin typeface="+mn-lt" pitchFamily="34" charset="0"/>
              </a:rPr>
              <a:t>A defined home region</a:t>
            </a:r>
            <a:endParaRPr lang="en-US" sz="950" dirty="0"/>
          </a:p>
        </p:txBody>
      </p:sp>
      <p:sp>
        <p:nvSpPr>
          <p:cNvPr id="63" name="Object 63"/>
          <p:cNvSpPr txBox="1"/>
          <p:nvPr/>
        </p:nvSpPr>
        <p:spPr>
          <a:xfrm>
            <a:off x="5613319" y="5503042"/>
            <a:ext cx="1552560" cy="628650"/>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Oklahoma City, Arkansas, and Montana and Wyoming gave the buyer territories to add to its existing coverage.</a:t>
            </a:r>
            <a:endParaRPr lang="en-US" sz="850" dirty="0"/>
          </a:p>
        </p:txBody>
      </p:sp>
      <p:sp>
        <p:nvSpPr>
          <p:cNvPr id="64" name="Object 64"/>
          <p:cNvSpPr/>
          <p:nvPr/>
        </p:nvSpPr>
        <p:spPr>
          <a:xfrm>
            <a:off x="7378568" y="5305440"/>
            <a:ext cx="342900" cy="342900"/>
          </a:xfrm>
          <a:prstGeom prst="ellipse">
            <a:avLst/>
          </a:prstGeom>
          <a:solidFill>
            <a:srgbClr val="1B1A1A"/>
          </a:solidFill>
          <a:ln/>
        </p:spPr>
        <p:txBody>
          <a:bodyPr/>
          <a:lstStyle/>
          <a:p>
            <a:endParaRPr/>
          </a:p>
        </p:txBody>
      </p:sp>
      <p:pic>
        <p:nvPicPr>
          <p:cNvPr id="65" name="Object 65"/>
          <p:cNvPicPr>
            <a:picLocks noChangeAspect="1"/>
          </p:cNvPicPr>
          <p:nvPr/>
        </p:nvPicPr>
        <p:blipFill>
          <a:blip r:embed="rId14"/>
          <a:stretch>
            <a:fillRect/>
          </a:stretch>
        </p:blipFill>
        <p:spPr>
          <a:xfrm>
            <a:off x="7524690" y="5314642"/>
            <a:ext cx="209580" cy="209580"/>
          </a:xfrm>
          <a:prstGeom prst="rect">
            <a:avLst/>
          </a:prstGeom>
        </p:spPr>
      </p:pic>
      <p:sp>
        <p:nvSpPr>
          <p:cNvPr id="66" name="Object 66"/>
          <p:cNvSpPr txBox="1"/>
          <p:nvPr/>
        </p:nvSpPr>
        <p:spPr>
          <a:xfrm>
            <a:off x="7835768" y="5300685"/>
            <a:ext cx="1552560" cy="323880"/>
          </a:xfrm>
          <a:prstGeom prst="rect">
            <a:avLst/>
          </a:prstGeom>
          <a:noFill/>
          <a:ln/>
        </p:spPr>
        <p:txBody>
          <a:bodyPr wrap="square" lIns="0" tIns="0" rIns="0" bIns="0" rtlCol="0" anchor="t"/>
          <a:lstStyle/>
          <a:p>
            <a:pPr marL="0" indent="0" algn="l">
              <a:lnSpc>
                <a:spcPts val="1300"/>
              </a:lnSpc>
              <a:buNone/>
            </a:pPr>
            <a:r>
              <a:rPr lang="en-US" sz="950" b="1" dirty="0">
                <a:solidFill>
                  <a:srgbClr val="FFFFFF"/>
                </a:solidFill>
                <a:latin typeface="+mn-lt" pitchFamily="34" charset="0"/>
              </a:rPr>
              <a:t>A buyer already in the field</a:t>
            </a:r>
            <a:endParaRPr lang="en-US" sz="950" dirty="0"/>
          </a:p>
        </p:txBody>
      </p:sp>
      <p:sp>
        <p:nvSpPr>
          <p:cNvPr id="67" name="Object 67"/>
          <p:cNvSpPr txBox="1"/>
          <p:nvPr/>
        </p:nvSpPr>
        <p:spPr>
          <a:xfrm>
            <a:off x="7848570" y="5505420"/>
            <a:ext cx="1552560" cy="785835"/>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Cintas and AI Fire both operate fire protection businesses, so the purchases extended platforms that were already in place.</a:t>
            </a:r>
            <a:endParaRPr lang="en-US" sz="850" dirty="0"/>
          </a:p>
        </p:txBody>
      </p:sp>
      <p:sp>
        <p:nvSpPr>
          <p:cNvPr id="68" name="Object 68"/>
          <p:cNvSpPr/>
          <p:nvPr/>
        </p:nvSpPr>
        <p:spPr>
          <a:xfrm>
            <a:off x="419070" y="7029450"/>
            <a:ext cx="9220170" cy="9510"/>
          </a:xfrm>
          <a:prstGeom prst="ellipse">
            <a:avLst/>
          </a:prstGeom>
          <a:solidFill>
            <a:srgbClr val="E3DCD3"/>
          </a:solidFill>
          <a:ln/>
        </p:spPr>
        <p:txBody>
          <a:bodyPr/>
          <a:lstStyle/>
          <a:p>
            <a:endParaRPr/>
          </a:p>
        </p:txBody>
      </p:sp>
      <p:pic>
        <p:nvPicPr>
          <p:cNvPr id="69" name="Object 69" descr="Benchmark International"/>
          <p:cNvPicPr>
            <a:picLocks noChangeAspect="1"/>
          </p:cNvPicPr>
          <p:nvPr/>
        </p:nvPicPr>
        <p:blipFill>
          <a:blip r:embed="rId15"/>
          <a:stretch>
            <a:fillRect/>
          </a:stretch>
        </p:blipFill>
        <p:spPr>
          <a:xfrm>
            <a:off x="419070" y="7143750"/>
            <a:ext cx="914400" cy="171450"/>
          </a:xfrm>
          <a:prstGeom prst="rect">
            <a:avLst/>
          </a:prstGeom>
        </p:spPr>
      </p:pic>
      <p:sp>
        <p:nvSpPr>
          <p:cNvPr id="70" name="Object 70"/>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Business descriptions follow the announcements on benchmarkintl.com, linked from each card. Transaction values are not disclosed.</a:t>
            </a:r>
            <a:endParaRPr lang="en-US" sz="700" dirty="0"/>
          </a:p>
        </p:txBody>
      </p:sp>
      <p:sp>
        <p:nvSpPr>
          <p:cNvPr id="71" name="Object 71"/>
          <p:cNvSpPr txBox="1"/>
          <p:nvPr/>
        </p:nvSpPr>
        <p:spPr>
          <a:xfrm>
            <a:off x="9495953"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588709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Object 6"/>
          <p:cNvSpPr txBox="1"/>
          <p:nvPr/>
        </p:nvSpPr>
        <p:spPr>
          <a:xfrm>
            <a:off x="419070" y="883402"/>
            <a:ext cx="670831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transactions announced between June and October 2026, one or more from each sector</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133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p:nvPr/>
        </p:nvSpPr>
        <p:spPr>
          <a:xfrm>
            <a:off x="561990" y="1371600"/>
            <a:ext cx="938814" cy="142921"/>
          </a:xfrm>
          <a:prstGeom prst="rect">
            <a:avLst/>
          </a:prstGeom>
          <a:solidFill>
            <a:srgbClr val="1B1A1A"/>
          </a:solidFill>
          <a:ln/>
        </p:spPr>
        <p:txBody>
          <a:bodyPr/>
          <a:lstStyle/>
          <a:p>
            <a:endParaRPr/>
          </a:p>
        </p:txBody>
      </p:sp>
      <p:sp>
        <p:nvSpPr>
          <p:cNvPr id="11" name="Object 11"/>
          <p:cNvSpPr txBox="1"/>
          <p:nvPr/>
        </p:nvSpPr>
        <p:spPr>
          <a:xfrm>
            <a:off x="628650" y="1385865"/>
            <a:ext cx="86264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SEPTEMBER 2026</a:t>
            </a:r>
            <a:endParaRPr lang="en-US" sz="550" dirty="0"/>
          </a:p>
        </p:txBody>
      </p:sp>
      <p:sp>
        <p:nvSpPr>
          <p:cNvPr id="12" name="Object 12"/>
          <p:cNvSpPr txBox="1"/>
          <p:nvPr/>
        </p:nvSpPr>
        <p:spPr>
          <a:xfrm>
            <a:off x="1658539" y="1385865"/>
            <a:ext cx="159069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COMMERCIAL &amp; FACILITY SERVICES</a:t>
            </a:r>
            <a:endParaRPr lang="en-US" sz="550" dirty="0"/>
          </a:p>
        </p:txBody>
      </p:sp>
      <p:sp>
        <p:nvSpPr>
          <p:cNvPr id="13" name="Object 13"/>
          <p:cNvSpPr/>
          <p:nvPr/>
        </p:nvSpPr>
        <p:spPr>
          <a:xfrm>
            <a:off x="561990" y="1600200"/>
            <a:ext cx="1076797" cy="361920"/>
          </a:xfrm>
          <a:prstGeom prst="rect">
            <a:avLst/>
          </a:prstGeom>
          <a:noFill/>
          <a:ln>
            <a:noFill/>
          </a:ln>
        </p:spPr>
        <p:txBody>
          <a:bodyPr/>
          <a:lstStyle/>
          <a:p>
            <a:endParaRPr/>
          </a:p>
        </p:txBody>
      </p:sp>
      <p:sp>
        <p:nvSpPr>
          <p:cNvPr id="14" name="Object 14"/>
          <p:cNvSpPr txBox="1"/>
          <p:nvPr/>
        </p:nvSpPr>
        <p:spPr>
          <a:xfrm>
            <a:off x="647670" y="1671615"/>
            <a:ext cx="904890" cy="209580"/>
          </a:xfrm>
          <a:prstGeom prst="rect">
            <a:avLst/>
          </a:prstGeom>
          <a:noFill/>
          <a:ln/>
        </p:spPr>
        <p:txBody>
          <a:bodyPr wrap="square" lIns="0" tIns="0" rIns="0" bIns="0" rtlCol="0" anchor="t"/>
          <a:lstStyle/>
          <a:p>
            <a:pPr marL="0" indent="0" algn="ctr">
              <a:lnSpc>
                <a:spcPts val="850"/>
              </a:lnSpc>
              <a:buNone/>
            </a:pPr>
            <a:r>
              <a:rPr lang="en-US" sz="600" b="1" kern="0" spc="100" dirty="0">
                <a:solidFill>
                  <a:srgbClr val="1B1A1A"/>
                </a:solidFill>
                <a:latin typeface="+mn-lt" pitchFamily="34" charset="0"/>
              </a:rPr>
              <a:t>UNION ALARMTRONIC</a:t>
            </a:r>
            <a:endParaRPr lang="en-US" sz="600" dirty="0"/>
          </a:p>
        </p:txBody>
      </p:sp>
      <p:sp>
        <p:nvSpPr>
          <p:cNvPr id="15" name="Object 15"/>
          <p:cNvSpPr txBox="1"/>
          <p:nvPr/>
        </p:nvSpPr>
        <p:spPr>
          <a:xfrm>
            <a:off x="1705447" y="169548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16" name="Object 16"/>
          <p:cNvSpPr/>
          <p:nvPr/>
        </p:nvSpPr>
        <p:spPr>
          <a:xfrm>
            <a:off x="2171243" y="1600200"/>
            <a:ext cx="1076797" cy="361920"/>
          </a:xfrm>
          <a:prstGeom prst="rect">
            <a:avLst/>
          </a:prstGeom>
          <a:noFill/>
          <a:ln>
            <a:noFill/>
          </a:ln>
        </p:spPr>
        <p:txBody>
          <a:bodyPr/>
          <a:lstStyle/>
          <a:p>
            <a:endParaRPr/>
          </a:p>
        </p:txBody>
      </p:sp>
      <p:sp>
        <p:nvSpPr>
          <p:cNvPr id="18" name="Object 18"/>
          <p:cNvSpPr txBox="1"/>
          <p:nvPr/>
        </p:nvSpPr>
        <p:spPr>
          <a:xfrm>
            <a:off x="561990" y="205977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Pye-Barker adds a second-generation alarm company in New Jersey</a:t>
            </a:r>
            <a:endParaRPr lang="en-US" sz="1000" dirty="0"/>
          </a:p>
        </p:txBody>
      </p:sp>
      <p:sp>
        <p:nvSpPr>
          <p:cNvPr id="19" name="Object 19"/>
          <p:cNvSpPr txBox="1"/>
          <p:nvPr/>
        </p:nvSpPr>
        <p:spPr>
          <a:xfrm>
            <a:off x="561990" y="245507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r>
              <a:rPr lang="en-US" sz="850" u="sng" dirty="0">
                <a:solidFill>
                  <a:srgbClr val="8C6239"/>
                </a:solidFill>
                <a:latin typeface="+mn-lt" pitchFamily="34" charset="0"/>
                <a:hlinkClick r:id="rId3">
                  <a:extLst>
                    <a:ext uri="{A12FA001-AC4F-418D-AE19-62706E023703}">
                      <ahyp:hlinkClr xmlns:ahyp="http://schemas.microsoft.com/office/drawing/2018/hyperlinkcolor" val="tx"/>
                    </a:ext>
                  </a:extLst>
                </a:hlinkClick>
              </a:rPr>
              <a:t>Pye-Barker</a:t>
            </a:r>
            <a:r>
              <a:rPr lang="en-US" sz="850" dirty="0">
                <a:solidFill>
                  <a:srgbClr val="333231"/>
                </a:solidFill>
                <a:latin typeface="+mn-lt" pitchFamily="34" charset="0"/>
              </a:rPr>
              <a:t>).</a:t>
            </a:r>
            <a:endParaRPr lang="en-US" sz="850" dirty="0"/>
          </a:p>
        </p:txBody>
      </p:sp>
      <p:sp>
        <p:nvSpPr>
          <p:cNvPr id="20" name="Object 20"/>
          <p:cNvSpPr/>
          <p:nvPr/>
        </p:nvSpPr>
        <p:spPr>
          <a:xfrm>
            <a:off x="561990" y="3390870"/>
            <a:ext cx="2686050" cy="9510"/>
          </a:xfrm>
          <a:prstGeom prst="rect">
            <a:avLst/>
          </a:prstGeom>
          <a:solidFill>
            <a:srgbClr val="E3DCD3"/>
          </a:solidFill>
          <a:ln/>
        </p:spPr>
        <p:txBody>
          <a:bodyPr/>
          <a:lstStyle/>
          <a:p>
            <a:endParaRPr/>
          </a:p>
        </p:txBody>
      </p:sp>
      <p:sp>
        <p:nvSpPr>
          <p:cNvPr id="21" name="Object 21"/>
          <p:cNvSpPr txBox="1"/>
          <p:nvPr/>
        </p:nvSpPr>
        <p:spPr>
          <a:xfrm>
            <a:off x="561990" y="347664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Founder-led alarm and fire companies with monitoring revenue continue to find a buyer quickly.</a:t>
            </a:r>
            <a:endParaRPr lang="en-US" sz="600" dirty="0"/>
          </a:p>
        </p:txBody>
      </p:sp>
      <p:sp>
        <p:nvSpPr>
          <p:cNvPr id="22" name="Object 22"/>
          <p:cNvSpPr/>
          <p:nvPr/>
        </p:nvSpPr>
        <p:spPr>
          <a:xfrm>
            <a:off x="3543300" y="1238280"/>
            <a:ext cx="2971800" cy="2781330"/>
          </a:xfrm>
          <a:prstGeom prst="rect">
            <a:avLst/>
          </a:prstGeom>
          <a:solidFill>
            <a:srgbClr val="FAF7F3"/>
          </a:solidFill>
          <a:ln/>
        </p:spPr>
        <p:txBody>
          <a:bodyPr/>
          <a:lstStyle/>
          <a:p>
            <a:endParaRPr/>
          </a:p>
        </p:txBody>
      </p:sp>
      <p:sp>
        <p:nvSpPr>
          <p:cNvPr id="23" name="Object 23"/>
          <p:cNvSpPr/>
          <p:nvPr/>
        </p:nvSpPr>
        <p:spPr>
          <a:xfrm>
            <a:off x="3543300" y="1238280"/>
            <a:ext cx="2971800" cy="28621"/>
          </a:xfrm>
          <a:prstGeom prst="rect">
            <a:avLst/>
          </a:prstGeom>
          <a:solidFill>
            <a:srgbClr val="B68757"/>
          </a:solidFill>
          <a:ln/>
        </p:spPr>
        <p:txBody>
          <a:bodyPr/>
          <a:lstStyle/>
          <a:p>
            <a:endParaRPr/>
          </a:p>
        </p:txBody>
      </p:sp>
      <p:sp>
        <p:nvSpPr>
          <p:cNvPr id="24" name="Object 24"/>
          <p:cNvSpPr/>
          <p:nvPr/>
        </p:nvSpPr>
        <p:spPr>
          <a:xfrm>
            <a:off x="3686221" y="1404976"/>
            <a:ext cx="834207" cy="142921"/>
          </a:xfrm>
          <a:prstGeom prst="rect">
            <a:avLst/>
          </a:prstGeom>
          <a:solidFill>
            <a:srgbClr val="1B1A1A"/>
          </a:solidFill>
          <a:ln/>
        </p:spPr>
        <p:txBody>
          <a:bodyPr/>
          <a:lstStyle/>
          <a:p>
            <a:endParaRPr/>
          </a:p>
        </p:txBody>
      </p:sp>
      <p:sp>
        <p:nvSpPr>
          <p:cNvPr id="25" name="Object 25"/>
          <p:cNvSpPr txBox="1"/>
          <p:nvPr/>
        </p:nvSpPr>
        <p:spPr>
          <a:xfrm>
            <a:off x="3752880" y="1419240"/>
            <a:ext cx="757946"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OCTOBER 2026</a:t>
            </a:r>
            <a:endParaRPr lang="en-US" sz="550" dirty="0"/>
          </a:p>
        </p:txBody>
      </p:sp>
      <p:sp>
        <p:nvSpPr>
          <p:cNvPr id="26" name="Object 26"/>
          <p:cNvSpPr txBox="1"/>
          <p:nvPr/>
        </p:nvSpPr>
        <p:spPr>
          <a:xfrm>
            <a:off x="4596597" y="1366845"/>
            <a:ext cx="1771650" cy="209580"/>
          </a:xfrm>
          <a:prstGeom prst="rect">
            <a:avLst/>
          </a:prstGeom>
          <a:noFill/>
          <a:ln/>
        </p:spPr>
        <p:txBody>
          <a:bodyPr wrap="square" lIns="0" tIns="0" rIns="0" bIns="0" rtlCol="0" anchor="t"/>
          <a:lstStyle/>
          <a:p>
            <a:pPr marL="0" indent="0" algn="r">
              <a:lnSpc>
                <a:spcPts val="850"/>
              </a:lnSpc>
              <a:buNone/>
            </a:pPr>
            <a:r>
              <a:rPr lang="en-US" sz="550" b="1" kern="0" spc="100" dirty="0">
                <a:solidFill>
                  <a:srgbClr val="8C6239"/>
                </a:solidFill>
                <a:latin typeface="+mn-lt" pitchFamily="34" charset="0"/>
              </a:rPr>
              <a:t>MARKETING, SALES &amp; TECH-ENABLED SERVICES</a:t>
            </a:r>
            <a:endParaRPr lang="en-US" sz="550" dirty="0"/>
          </a:p>
        </p:txBody>
      </p:sp>
      <p:sp>
        <p:nvSpPr>
          <p:cNvPr id="27" name="Object 27"/>
          <p:cNvSpPr/>
          <p:nvPr/>
        </p:nvSpPr>
        <p:spPr>
          <a:xfrm>
            <a:off x="3686221" y="1666860"/>
            <a:ext cx="1076797" cy="361920"/>
          </a:xfrm>
          <a:prstGeom prst="rect">
            <a:avLst/>
          </a:prstGeom>
          <a:noFill/>
          <a:ln>
            <a:noFill/>
          </a:ln>
        </p:spPr>
        <p:txBody>
          <a:bodyPr/>
          <a:lstStyle/>
          <a:p>
            <a:endParaRPr/>
          </a:p>
        </p:txBody>
      </p:sp>
      <p:sp>
        <p:nvSpPr>
          <p:cNvPr id="29" name="Object 29"/>
          <p:cNvSpPr txBox="1"/>
          <p:nvPr/>
        </p:nvSpPr>
        <p:spPr>
          <a:xfrm>
            <a:off x="4829586" y="176214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30" name="Object 30"/>
          <p:cNvSpPr/>
          <p:nvPr/>
        </p:nvSpPr>
        <p:spPr>
          <a:xfrm>
            <a:off x="5295473" y="1666860"/>
            <a:ext cx="1076797" cy="361920"/>
          </a:xfrm>
          <a:prstGeom prst="rect">
            <a:avLst/>
          </a:prstGeom>
          <a:noFill/>
          <a:ln>
            <a:noFill/>
          </a:ln>
        </p:spPr>
        <p:txBody>
          <a:bodyPr/>
          <a:lstStyle/>
          <a:p>
            <a:endParaRPr/>
          </a:p>
        </p:txBody>
      </p:sp>
      <p:sp>
        <p:nvSpPr>
          <p:cNvPr id="32" name="Object 32"/>
          <p:cNvSpPr txBox="1"/>
          <p:nvPr/>
        </p:nvSpPr>
        <p:spPr>
          <a:xfrm>
            <a:off x="3686221" y="212643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Object 33"/>
          <p:cNvSpPr txBox="1"/>
          <p:nvPr/>
        </p:nvSpPr>
        <p:spPr>
          <a:xfrm>
            <a:off x="3686221" y="2521732"/>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East Beach Specialties is a promotional products distributor on the Mississippi Gulf Coast (</a:t>
            </a:r>
            <a:r>
              <a:rPr lang="en-US" sz="850" u="sng" dirty="0">
                <a:solidFill>
                  <a:srgbClr val="8C6239"/>
                </a:solidFill>
                <a:latin typeface="+mn-lt" pitchFamily="34" charset="0"/>
                <a:hlinkClick r:id="rId4"/>
              </a:rPr>
              <a:t>ASI</a:t>
            </a:r>
            <a:r>
              <a:rPr lang="en-US" sz="850" dirty="0">
                <a:solidFill>
                  <a:srgbClr val="333231"/>
                </a:solidFill>
                <a:latin typeface="+mn-lt" pitchFamily="34" charset="0"/>
              </a:rPr>
              <a:t>). Industry sales grew 2.5% in the second quarter, and firms under $1 million of revenue were essentially flat (</a:t>
            </a:r>
            <a:r>
              <a:rPr lang="en-US" sz="850" u="sng" dirty="0">
                <a:solidFill>
                  <a:srgbClr val="8C6239"/>
                </a:solidFill>
                <a:latin typeface="+mn-lt" pitchFamily="34" charset="0"/>
                <a:hlinkClick r:id="rId5"/>
              </a:rPr>
              <a:t>ASI Central</a:t>
            </a:r>
            <a:r>
              <a:rPr lang="en-US" sz="850" dirty="0">
                <a:solidFill>
                  <a:srgbClr val="333231"/>
                </a:solidFill>
                <a:latin typeface="+mn-lt" pitchFamily="34" charset="0"/>
              </a:rPr>
              <a:t>).</a:t>
            </a:r>
            <a:endParaRPr lang="en-US" sz="850" dirty="0"/>
          </a:p>
        </p:txBody>
      </p:sp>
      <p:grpSp>
        <p:nvGrpSpPr>
          <p:cNvPr id="28" name="Object 28">
            <a:extLst>
              <a:ext uri="{FF2B5EF4-FFF2-40B4-BE49-F238E27FC236}"/>
            </a:extLst>
          </p:cNvPr>
          <p:cNvGrpSpPr/>
          <p:nvPr/>
        </p:nvGrpSpPr>
        <p:grpSpPr>
          <a:xfrm>
            <a:off x="3686221" y="3390870"/>
            <a:ext cx="2686050" cy="514441"/>
            <a:chOff x="3686221" y="3390870"/>
            <a:chExt cx="2686050" cy="514441"/>
          </a:xfrm>
        </p:grpSpPr>
        <p:sp>
          <p:nvSpPr>
            <p:cNvPr id="34" name="Object 34"/>
            <p:cNvSpPr/>
            <p:nvPr/>
          </p:nvSpPr>
          <p:spPr>
            <a:xfrm>
              <a:off x="3686221" y="3390870"/>
              <a:ext cx="2686050" cy="9510"/>
            </a:xfrm>
            <a:prstGeom prst="rect">
              <a:avLst/>
            </a:prstGeom>
            <a:solidFill>
              <a:srgbClr val="E3DCD3"/>
            </a:solidFill>
            <a:ln/>
          </p:spPr>
          <p:txBody>
            <a:bodyPr/>
            <a:lstStyle/>
            <a:p>
              <a:endParaRPr/>
            </a:p>
          </p:txBody>
        </p:sp>
        <p:sp>
          <p:nvSpPr>
            <p:cNvPr id="35" name="Object 35"/>
            <p:cNvSpPr txBox="1"/>
            <p:nvPr/>
          </p:nvSpPr>
          <p:spPr>
            <a:xfrm>
              <a:off x="3686221" y="347664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Scale is separating promotional products distributors, and smaller firms are joining larger ones.</a:t>
              </a:r>
              <a:endParaRPr lang="en-US" sz="600" dirty="0"/>
            </a:p>
          </p:txBody>
        </p:sp>
      </p:grpSp>
      <p:sp>
        <p:nvSpPr>
          <p:cNvPr id="36" name="Object 36"/>
          <p:cNvSpPr/>
          <p:nvPr/>
        </p:nvSpPr>
        <p:spPr>
          <a:xfrm>
            <a:off x="6667530" y="1238280"/>
            <a:ext cx="2971800" cy="2781330"/>
          </a:xfrm>
          <a:prstGeom prst="rect">
            <a:avLst/>
          </a:prstGeom>
          <a:solidFill>
            <a:srgbClr val="FAF7F3"/>
          </a:solidFill>
          <a:ln/>
        </p:spPr>
        <p:txBody>
          <a:bodyPr/>
          <a:lstStyle/>
          <a:p>
            <a:endParaRPr dirty="0"/>
          </a:p>
        </p:txBody>
      </p:sp>
      <p:sp>
        <p:nvSpPr>
          <p:cNvPr id="37" name="Object 37"/>
          <p:cNvSpPr/>
          <p:nvPr/>
        </p:nvSpPr>
        <p:spPr>
          <a:xfrm>
            <a:off x="6667530" y="1238280"/>
            <a:ext cx="2971800" cy="28621"/>
          </a:xfrm>
          <a:prstGeom prst="rect">
            <a:avLst/>
          </a:prstGeom>
          <a:solidFill>
            <a:srgbClr val="B68757"/>
          </a:solidFill>
          <a:ln/>
        </p:spPr>
        <p:txBody>
          <a:bodyPr/>
          <a:lstStyle/>
          <a:p>
            <a:endParaRPr/>
          </a:p>
        </p:txBody>
      </p:sp>
      <p:sp>
        <p:nvSpPr>
          <p:cNvPr id="38" name="Object 38"/>
          <p:cNvSpPr/>
          <p:nvPr/>
        </p:nvSpPr>
        <p:spPr>
          <a:xfrm>
            <a:off x="6810360" y="1404976"/>
            <a:ext cx="767822" cy="142921"/>
          </a:xfrm>
          <a:prstGeom prst="rect">
            <a:avLst/>
          </a:prstGeom>
          <a:solidFill>
            <a:srgbClr val="1B1A1A"/>
          </a:solidFill>
          <a:ln/>
        </p:spPr>
        <p:txBody>
          <a:bodyPr/>
          <a:lstStyle/>
          <a:p>
            <a:endParaRPr/>
          </a:p>
        </p:txBody>
      </p:sp>
      <p:sp>
        <p:nvSpPr>
          <p:cNvPr id="39" name="Object 39"/>
          <p:cNvSpPr txBox="1"/>
          <p:nvPr/>
        </p:nvSpPr>
        <p:spPr>
          <a:xfrm>
            <a:off x="6877020" y="1419240"/>
            <a:ext cx="691561"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AUGUST 2026</a:t>
            </a:r>
            <a:endParaRPr lang="en-US" sz="550" dirty="0"/>
          </a:p>
        </p:txBody>
      </p:sp>
      <p:sp>
        <p:nvSpPr>
          <p:cNvPr id="40" name="Object 40"/>
          <p:cNvSpPr txBox="1"/>
          <p:nvPr/>
        </p:nvSpPr>
        <p:spPr>
          <a:xfrm>
            <a:off x="7654351" y="1366845"/>
            <a:ext cx="1838310" cy="209580"/>
          </a:xfrm>
          <a:prstGeom prst="rect">
            <a:avLst/>
          </a:prstGeom>
          <a:noFill/>
          <a:ln/>
        </p:spPr>
        <p:txBody>
          <a:bodyPr wrap="square" lIns="0" tIns="0" rIns="0" bIns="0" rtlCol="0" anchor="t"/>
          <a:lstStyle/>
          <a:p>
            <a:pPr marL="0" indent="0" algn="r">
              <a:lnSpc>
                <a:spcPts val="850"/>
              </a:lnSpc>
              <a:buNone/>
            </a:pPr>
            <a:r>
              <a:rPr lang="en-US" sz="550" b="1" kern="0" spc="100" dirty="0">
                <a:solidFill>
                  <a:srgbClr val="8C6239"/>
                </a:solidFill>
                <a:latin typeface="+mn-lt" pitchFamily="34" charset="0"/>
              </a:rPr>
              <a:t>ENGINEERING, ARCHITECTURE &amp; CONSULTING</a:t>
            </a:r>
            <a:endParaRPr lang="en-US" sz="550" dirty="0"/>
          </a:p>
        </p:txBody>
      </p:sp>
      <p:sp>
        <p:nvSpPr>
          <p:cNvPr id="41" name="Object 41"/>
          <p:cNvSpPr/>
          <p:nvPr/>
        </p:nvSpPr>
        <p:spPr>
          <a:xfrm>
            <a:off x="6810360" y="1666860"/>
            <a:ext cx="1076797" cy="361920"/>
          </a:xfrm>
          <a:prstGeom prst="rect">
            <a:avLst/>
          </a:prstGeom>
          <a:noFill/>
          <a:ln>
            <a:noFill/>
          </a:ln>
        </p:spPr>
        <p:txBody>
          <a:bodyPr/>
          <a:lstStyle/>
          <a:p>
            <a:endParaRPr/>
          </a:p>
        </p:txBody>
      </p:sp>
      <p:sp>
        <p:nvSpPr>
          <p:cNvPr id="43" name="Object 43"/>
          <p:cNvSpPr txBox="1"/>
          <p:nvPr/>
        </p:nvSpPr>
        <p:spPr>
          <a:xfrm>
            <a:off x="7953817" y="176214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44" name="Object 44"/>
          <p:cNvSpPr/>
          <p:nvPr/>
        </p:nvSpPr>
        <p:spPr>
          <a:xfrm>
            <a:off x="8419612" y="1666860"/>
            <a:ext cx="1076797" cy="361920"/>
          </a:xfrm>
          <a:prstGeom prst="rect">
            <a:avLst/>
          </a:prstGeom>
          <a:noFill/>
          <a:ln>
            <a:noFill/>
          </a:ln>
        </p:spPr>
        <p:txBody>
          <a:bodyPr/>
          <a:lstStyle/>
          <a:p>
            <a:endParaRPr/>
          </a:p>
        </p:txBody>
      </p:sp>
      <p:sp>
        <p:nvSpPr>
          <p:cNvPr id="46" name="Object 46"/>
          <p:cNvSpPr txBox="1"/>
          <p:nvPr/>
        </p:nvSpPr>
        <p:spPr>
          <a:xfrm>
            <a:off x="6810360" y="212643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Object 47"/>
          <p:cNvSpPr txBox="1"/>
          <p:nvPr/>
        </p:nvSpPr>
        <p:spPr>
          <a:xfrm>
            <a:off x="6810360" y="2521732"/>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Bowman is a founder-led engineering firm with more than 2,500 employees and a backlog of $658.7 million, up 50.3% (</a:t>
            </a:r>
            <a:r>
              <a:rPr lang="en-US" sz="8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Bowman results</a:t>
            </a:r>
            <a:r>
              <a:rPr lang="en-US" sz="850" dirty="0">
                <a:solidFill>
                  <a:srgbClr val="333231"/>
                </a:solidFill>
                <a:latin typeface="+mn-lt" pitchFamily="34" charset="0"/>
              </a:rPr>
              <a:t>). The offer of $43.00 per share is a 58% premium to the prior close (</a:t>
            </a:r>
            <a:r>
              <a:rPr lang="en-US" sz="85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Bowman</a:t>
            </a:r>
            <a:r>
              <a:rPr lang="en-US" sz="850" dirty="0">
                <a:solidFill>
                  <a:srgbClr val="333231"/>
                </a:solidFill>
                <a:latin typeface="+mn-lt" pitchFamily="34" charset="0"/>
              </a:rPr>
              <a:t>).</a:t>
            </a:r>
            <a:endParaRPr lang="en-US" sz="850" dirty="0"/>
          </a:p>
        </p:txBody>
      </p:sp>
      <p:sp>
        <p:nvSpPr>
          <p:cNvPr id="50" name="Object 50"/>
          <p:cNvSpPr/>
          <p:nvPr/>
        </p:nvSpPr>
        <p:spPr>
          <a:xfrm>
            <a:off x="419070" y="4152930"/>
            <a:ext cx="2971800" cy="2781330"/>
          </a:xfrm>
          <a:prstGeom prst="rect">
            <a:avLst/>
          </a:prstGeom>
          <a:solidFill>
            <a:srgbClr val="FAF7F3"/>
          </a:solidFill>
          <a:ln/>
        </p:spPr>
        <p:txBody>
          <a:bodyPr/>
          <a:lstStyle/>
          <a:p>
            <a:endParaRPr/>
          </a:p>
        </p:txBody>
      </p:sp>
      <p:sp>
        <p:nvSpPr>
          <p:cNvPr id="51" name="Object 51"/>
          <p:cNvSpPr/>
          <p:nvPr/>
        </p:nvSpPr>
        <p:spPr>
          <a:xfrm>
            <a:off x="419070" y="4152930"/>
            <a:ext cx="2971800" cy="28621"/>
          </a:xfrm>
          <a:prstGeom prst="rect">
            <a:avLst/>
          </a:prstGeom>
          <a:solidFill>
            <a:srgbClr val="B68757"/>
          </a:solidFill>
          <a:ln/>
        </p:spPr>
        <p:txBody>
          <a:bodyPr/>
          <a:lstStyle/>
          <a:p>
            <a:endParaRPr/>
          </a:p>
        </p:txBody>
      </p:sp>
      <p:sp>
        <p:nvSpPr>
          <p:cNvPr id="52" name="Object 52"/>
          <p:cNvSpPr/>
          <p:nvPr/>
        </p:nvSpPr>
        <p:spPr>
          <a:xfrm>
            <a:off x="561990" y="4286250"/>
            <a:ext cx="767822" cy="142921"/>
          </a:xfrm>
          <a:prstGeom prst="rect">
            <a:avLst/>
          </a:prstGeom>
          <a:solidFill>
            <a:srgbClr val="1B1A1A"/>
          </a:solidFill>
          <a:ln/>
        </p:spPr>
        <p:txBody>
          <a:bodyPr/>
          <a:lstStyle/>
          <a:p>
            <a:endParaRPr/>
          </a:p>
        </p:txBody>
      </p:sp>
      <p:sp>
        <p:nvSpPr>
          <p:cNvPr id="53" name="Object 53"/>
          <p:cNvSpPr txBox="1"/>
          <p:nvPr/>
        </p:nvSpPr>
        <p:spPr>
          <a:xfrm>
            <a:off x="628650" y="4300515"/>
            <a:ext cx="691561"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AUGUST 2026</a:t>
            </a:r>
            <a:endParaRPr lang="en-US" sz="550" dirty="0"/>
          </a:p>
        </p:txBody>
      </p:sp>
      <p:sp>
        <p:nvSpPr>
          <p:cNvPr id="54" name="Object 54"/>
          <p:cNvSpPr txBox="1"/>
          <p:nvPr/>
        </p:nvSpPr>
        <p:spPr>
          <a:xfrm>
            <a:off x="1650675" y="4300515"/>
            <a:ext cx="160020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FINANCIAL &amp; INSURANCE SERVICES</a:t>
            </a:r>
            <a:endParaRPr lang="en-US" sz="550" dirty="0"/>
          </a:p>
        </p:txBody>
      </p:sp>
      <p:sp>
        <p:nvSpPr>
          <p:cNvPr id="55" name="Object 55"/>
          <p:cNvSpPr/>
          <p:nvPr/>
        </p:nvSpPr>
        <p:spPr>
          <a:xfrm>
            <a:off x="561990" y="4514850"/>
            <a:ext cx="1076797" cy="361920"/>
          </a:xfrm>
          <a:prstGeom prst="rect">
            <a:avLst/>
          </a:prstGeom>
          <a:noFill/>
          <a:ln>
            <a:noFill/>
          </a:ln>
        </p:spPr>
        <p:txBody>
          <a:bodyPr/>
          <a:lstStyle/>
          <a:p>
            <a:endParaRPr/>
          </a:p>
        </p:txBody>
      </p:sp>
      <p:sp>
        <p:nvSpPr>
          <p:cNvPr id="57" name="Object 57"/>
          <p:cNvSpPr txBox="1"/>
          <p:nvPr/>
        </p:nvSpPr>
        <p:spPr>
          <a:xfrm>
            <a:off x="1705447"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58" name="Object 58"/>
          <p:cNvSpPr/>
          <p:nvPr/>
        </p:nvSpPr>
        <p:spPr>
          <a:xfrm>
            <a:off x="2171243" y="4514850"/>
            <a:ext cx="1076797" cy="361920"/>
          </a:xfrm>
          <a:prstGeom prst="rect">
            <a:avLst/>
          </a:prstGeom>
          <a:noFill/>
          <a:ln>
            <a:noFill/>
          </a:ln>
        </p:spPr>
        <p:txBody>
          <a:bodyPr/>
          <a:lstStyle/>
          <a:p>
            <a:endParaRPr/>
          </a:p>
        </p:txBody>
      </p:sp>
      <p:sp>
        <p:nvSpPr>
          <p:cNvPr id="60" name="Object 60"/>
          <p:cNvSpPr txBox="1"/>
          <p:nvPr/>
        </p:nvSpPr>
        <p:spPr>
          <a:xfrm>
            <a:off x="561990"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Object 61"/>
          <p:cNvSpPr txBox="1"/>
          <p:nvPr/>
        </p:nvSpPr>
        <p:spPr>
          <a:xfrm>
            <a:off x="561990" y="5369723"/>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Harris Insurance Services was founded in 1925 in West Tulsa, Oklahoma (</a:t>
            </a:r>
            <a:r>
              <a:rPr lang="en-US" sz="850" u="sng" dirty="0">
                <a:solidFill>
                  <a:srgbClr val="8C6239"/>
                </a:solidFill>
                <a:latin typeface="+mn-lt" pitchFamily="34" charset="0"/>
                <a:hlinkClick r:id="rId8"/>
              </a:rPr>
              <a:t>Insurance Business</a:t>
            </a:r>
            <a:r>
              <a:rPr lang="en-US" sz="850" dirty="0">
                <a:solidFill>
                  <a:srgbClr val="333231"/>
                </a:solidFill>
                <a:latin typeface="+mn-lt" pitchFamily="34" charset="0"/>
              </a:rPr>
              <a:t>). King Risk Partners, EPIC, and World Insurance Associates each bought a long-established agency in the same period (</a:t>
            </a:r>
            <a:r>
              <a:rPr lang="en-US" sz="850" u="sng" dirty="0">
                <a:solidFill>
                  <a:srgbClr val="8C6239"/>
                </a:solidFill>
                <a:latin typeface="+mn-lt" pitchFamily="34" charset="0"/>
                <a:hlinkClick r:id="rId9"/>
              </a:rPr>
              <a:t>Insurance Journal</a:t>
            </a:r>
            <a:r>
              <a:rPr lang="en-US" sz="850" dirty="0">
                <a:solidFill>
                  <a:srgbClr val="333231"/>
                </a:solidFill>
                <a:latin typeface="+mn-lt" pitchFamily="34" charset="0"/>
              </a:rPr>
              <a:t>).</a:t>
            </a:r>
            <a:endParaRPr lang="en-US" sz="850" dirty="0"/>
          </a:p>
        </p:txBody>
      </p:sp>
      <p:sp>
        <p:nvSpPr>
          <p:cNvPr id="62" name="Object 62"/>
          <p:cNvSpPr/>
          <p:nvPr/>
        </p:nvSpPr>
        <p:spPr>
          <a:xfrm>
            <a:off x="561990" y="6448440"/>
            <a:ext cx="2686050" cy="9510"/>
          </a:xfrm>
          <a:prstGeom prst="rect">
            <a:avLst/>
          </a:prstGeom>
          <a:solidFill>
            <a:srgbClr val="E3DCD3"/>
          </a:solidFill>
          <a:ln/>
        </p:spPr>
        <p:txBody>
          <a:bodyPr/>
          <a:lstStyle/>
          <a:p>
            <a:endParaRPr/>
          </a:p>
        </p:txBody>
      </p:sp>
      <p:sp>
        <p:nvSpPr>
          <p:cNvPr id="63" name="Object 63"/>
          <p:cNvSpPr txBox="1"/>
          <p:nvPr/>
        </p:nvSpPr>
        <p:spPr>
          <a:xfrm>
            <a:off x="561990" y="653412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Multi-generation agencies are selling to consolidators while premium rates soften.</a:t>
            </a:r>
            <a:endParaRPr lang="en-US" sz="600" dirty="0"/>
          </a:p>
        </p:txBody>
      </p:sp>
      <p:sp>
        <p:nvSpPr>
          <p:cNvPr id="64" name="Object 64"/>
          <p:cNvSpPr/>
          <p:nvPr/>
        </p:nvSpPr>
        <p:spPr>
          <a:xfrm>
            <a:off x="3543300" y="4152930"/>
            <a:ext cx="2971800" cy="2781330"/>
          </a:xfrm>
          <a:prstGeom prst="rect">
            <a:avLst/>
          </a:prstGeom>
          <a:solidFill>
            <a:srgbClr val="FAF7F3"/>
          </a:solidFill>
          <a:ln/>
        </p:spPr>
        <p:txBody>
          <a:bodyPr/>
          <a:lstStyle/>
          <a:p>
            <a:endParaRPr/>
          </a:p>
        </p:txBody>
      </p:sp>
      <p:sp>
        <p:nvSpPr>
          <p:cNvPr id="65" name="Object 65"/>
          <p:cNvSpPr/>
          <p:nvPr/>
        </p:nvSpPr>
        <p:spPr>
          <a:xfrm>
            <a:off x="3543300" y="4152930"/>
            <a:ext cx="2971800" cy="28621"/>
          </a:xfrm>
          <a:prstGeom prst="rect">
            <a:avLst/>
          </a:prstGeom>
          <a:solidFill>
            <a:srgbClr val="B68757"/>
          </a:solidFill>
          <a:ln/>
        </p:spPr>
        <p:txBody>
          <a:bodyPr/>
          <a:lstStyle/>
          <a:p>
            <a:endParaRPr/>
          </a:p>
        </p:txBody>
      </p:sp>
      <p:sp>
        <p:nvSpPr>
          <p:cNvPr id="66" name="Object 66"/>
          <p:cNvSpPr/>
          <p:nvPr/>
        </p:nvSpPr>
        <p:spPr>
          <a:xfrm>
            <a:off x="3686221" y="4286250"/>
            <a:ext cx="938814" cy="142921"/>
          </a:xfrm>
          <a:prstGeom prst="rect">
            <a:avLst/>
          </a:prstGeom>
          <a:solidFill>
            <a:srgbClr val="1B1A1A"/>
          </a:solidFill>
          <a:ln/>
        </p:spPr>
        <p:txBody>
          <a:bodyPr/>
          <a:lstStyle/>
          <a:p>
            <a:endParaRPr/>
          </a:p>
        </p:txBody>
      </p:sp>
      <p:sp>
        <p:nvSpPr>
          <p:cNvPr id="67" name="Object 67"/>
          <p:cNvSpPr txBox="1"/>
          <p:nvPr/>
        </p:nvSpPr>
        <p:spPr>
          <a:xfrm>
            <a:off x="3752880" y="4300515"/>
            <a:ext cx="86264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SEPTEMBER 2026</a:t>
            </a:r>
            <a:endParaRPr lang="en-US" sz="550" dirty="0"/>
          </a:p>
        </p:txBody>
      </p:sp>
      <p:sp>
        <p:nvSpPr>
          <p:cNvPr id="68" name="Object 68"/>
          <p:cNvSpPr txBox="1"/>
          <p:nvPr/>
        </p:nvSpPr>
        <p:spPr>
          <a:xfrm>
            <a:off x="5071354" y="4300515"/>
            <a:ext cx="130494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STAFFING &amp; HUMAN CAPITAL</a:t>
            </a:r>
            <a:endParaRPr lang="en-US" sz="550" dirty="0"/>
          </a:p>
        </p:txBody>
      </p:sp>
      <p:sp>
        <p:nvSpPr>
          <p:cNvPr id="69" name="Object 69"/>
          <p:cNvSpPr/>
          <p:nvPr/>
        </p:nvSpPr>
        <p:spPr>
          <a:xfrm>
            <a:off x="3686221" y="4514850"/>
            <a:ext cx="1076797" cy="361920"/>
          </a:xfrm>
          <a:prstGeom prst="rect">
            <a:avLst/>
          </a:prstGeom>
          <a:noFill/>
          <a:ln>
            <a:noFill/>
          </a:ln>
        </p:spPr>
        <p:txBody>
          <a:bodyPr/>
          <a:lstStyle/>
          <a:p>
            <a:endParaRPr/>
          </a:p>
        </p:txBody>
      </p:sp>
      <p:sp>
        <p:nvSpPr>
          <p:cNvPr id="71" name="Object 71"/>
          <p:cNvSpPr txBox="1"/>
          <p:nvPr/>
        </p:nvSpPr>
        <p:spPr>
          <a:xfrm>
            <a:off x="4829586"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72" name="Object 72"/>
          <p:cNvSpPr/>
          <p:nvPr/>
        </p:nvSpPr>
        <p:spPr>
          <a:xfrm>
            <a:off x="5295473" y="4514850"/>
            <a:ext cx="1076797" cy="361920"/>
          </a:xfrm>
          <a:prstGeom prst="rect">
            <a:avLst/>
          </a:prstGeom>
          <a:noFill/>
          <a:ln>
            <a:noFill/>
          </a:ln>
        </p:spPr>
        <p:txBody>
          <a:bodyPr/>
          <a:lstStyle/>
          <a:p>
            <a:endParaRPr/>
          </a:p>
        </p:txBody>
      </p:sp>
      <p:sp>
        <p:nvSpPr>
          <p:cNvPr id="74" name="Object 74"/>
          <p:cNvSpPr txBox="1"/>
          <p:nvPr/>
        </p:nvSpPr>
        <p:spPr>
          <a:xfrm>
            <a:off x="3686221"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Object 75"/>
          <p:cNvSpPr txBox="1"/>
          <p:nvPr/>
        </p:nvSpPr>
        <p:spPr>
          <a:xfrm>
            <a:off x="3686221" y="536972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LaborWorx supplies skilled trades for data center construction (</a:t>
            </a:r>
            <a:r>
              <a:rPr lang="en-US" sz="8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Staffing Industry Analysts</a:t>
            </a:r>
            <a:r>
              <a:rPr lang="en-US" sz="850" dirty="0">
                <a:solidFill>
                  <a:srgbClr val="333231"/>
                </a:solidFill>
                <a:latin typeface="+mn-lt" pitchFamily="34" charset="0"/>
              </a:rPr>
              <a:t>). The 2026 forecast for industrial staffing revenue was raised to growth of 7% from 1% in September (</a:t>
            </a:r>
            <a:r>
              <a:rPr lang="en-US" sz="850" u="sng" dirty="0">
                <a:solidFill>
                  <a:srgbClr val="8C6239"/>
                </a:solidFill>
                <a:latin typeface="+mn-lt" pitchFamily="34" charset="0"/>
                <a:hlinkClick r:id="rId11">
                  <a:extLst>
                    <a:ext uri="{A12FA001-AC4F-418D-AE19-62706E023703}">
                      <ahyp:hlinkClr xmlns:ahyp="http://schemas.microsoft.com/office/drawing/2018/hyperlinkcolor" val="tx"/>
                    </a:ext>
                  </a:extLst>
                </a:hlinkClick>
              </a:rPr>
              <a:t>SIA forecast</a:t>
            </a:r>
            <a:r>
              <a:rPr lang="en-US" sz="850" dirty="0">
                <a:solidFill>
                  <a:srgbClr val="333231"/>
                </a:solidFill>
                <a:latin typeface="+mn-lt" pitchFamily="34" charset="0"/>
              </a:rPr>
              <a:t>).</a:t>
            </a:r>
            <a:endParaRPr lang="en-US" sz="850" dirty="0"/>
          </a:p>
        </p:txBody>
      </p:sp>
      <p:sp>
        <p:nvSpPr>
          <p:cNvPr id="76" name="Object 76"/>
          <p:cNvSpPr/>
          <p:nvPr/>
        </p:nvSpPr>
        <p:spPr>
          <a:xfrm>
            <a:off x="3686221" y="6448440"/>
            <a:ext cx="2686050" cy="9510"/>
          </a:xfrm>
          <a:prstGeom prst="rect">
            <a:avLst/>
          </a:prstGeom>
          <a:solidFill>
            <a:srgbClr val="E3DCD3"/>
          </a:solidFill>
          <a:ln/>
        </p:spPr>
        <p:txBody>
          <a:bodyPr/>
          <a:lstStyle/>
          <a:p>
            <a:endParaRPr/>
          </a:p>
        </p:txBody>
      </p:sp>
      <p:sp>
        <p:nvSpPr>
          <p:cNvPr id="77" name="Object 77"/>
          <p:cNvSpPr txBox="1"/>
          <p:nvPr/>
        </p:nvSpPr>
        <p:spPr>
          <a:xfrm>
            <a:off x="3686221" y="653412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Skilled trades tied to data center, power, and factory construction are drawing buyers.</a:t>
            </a:r>
            <a:endParaRPr lang="en-US" sz="600" dirty="0"/>
          </a:p>
        </p:txBody>
      </p:sp>
      <p:sp>
        <p:nvSpPr>
          <p:cNvPr id="78" name="Object 78"/>
          <p:cNvSpPr/>
          <p:nvPr/>
        </p:nvSpPr>
        <p:spPr>
          <a:xfrm>
            <a:off x="6667530" y="4152930"/>
            <a:ext cx="2971800" cy="2781330"/>
          </a:xfrm>
          <a:prstGeom prst="rect">
            <a:avLst/>
          </a:prstGeom>
          <a:solidFill>
            <a:srgbClr val="FAF7F3"/>
          </a:solidFill>
          <a:ln/>
        </p:spPr>
        <p:txBody>
          <a:bodyPr/>
          <a:lstStyle/>
          <a:p>
            <a:endParaRPr/>
          </a:p>
        </p:txBody>
      </p:sp>
      <p:sp>
        <p:nvSpPr>
          <p:cNvPr id="48" name="Object 48"/>
          <p:cNvSpPr/>
          <p:nvPr/>
        </p:nvSpPr>
        <p:spPr>
          <a:xfrm>
            <a:off x="6810360" y="3390870"/>
            <a:ext cx="2686050" cy="9510"/>
          </a:xfrm>
          <a:prstGeom prst="rect">
            <a:avLst/>
          </a:prstGeom>
          <a:solidFill>
            <a:srgbClr val="E3DCD3"/>
          </a:solidFill>
          <a:ln/>
        </p:spPr>
        <p:txBody>
          <a:bodyPr/>
          <a:lstStyle/>
          <a:p>
            <a:endParaRPr/>
          </a:p>
        </p:txBody>
      </p:sp>
      <p:sp>
        <p:nvSpPr>
          <p:cNvPr id="49" name="Object 49"/>
          <p:cNvSpPr txBox="1"/>
          <p:nvPr/>
        </p:nvSpPr>
        <p:spPr>
          <a:xfrm>
            <a:off x="6810360" y="347655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Private capital is paying for licensed staff and funded backlog.</a:t>
            </a:r>
            <a:endParaRPr lang="en-US" sz="600" dirty="0"/>
          </a:p>
        </p:txBody>
      </p:sp>
      <p:sp>
        <p:nvSpPr>
          <p:cNvPr id="79" name="Object 79"/>
          <p:cNvSpPr/>
          <p:nvPr/>
        </p:nvSpPr>
        <p:spPr>
          <a:xfrm>
            <a:off x="6667530" y="4152930"/>
            <a:ext cx="2971800" cy="28621"/>
          </a:xfrm>
          <a:prstGeom prst="rect">
            <a:avLst/>
          </a:prstGeom>
          <a:solidFill>
            <a:srgbClr val="B68757"/>
          </a:solidFill>
          <a:ln/>
        </p:spPr>
        <p:txBody>
          <a:bodyPr/>
          <a:lstStyle/>
          <a:p>
            <a:endParaRPr/>
          </a:p>
        </p:txBody>
      </p:sp>
      <p:sp>
        <p:nvSpPr>
          <p:cNvPr id="80" name="Object 80"/>
          <p:cNvSpPr/>
          <p:nvPr/>
        </p:nvSpPr>
        <p:spPr>
          <a:xfrm>
            <a:off x="6810360" y="4286250"/>
            <a:ext cx="638434" cy="142921"/>
          </a:xfrm>
          <a:prstGeom prst="rect">
            <a:avLst/>
          </a:prstGeom>
          <a:solidFill>
            <a:srgbClr val="1B1A1A"/>
          </a:solidFill>
          <a:ln/>
        </p:spPr>
        <p:txBody>
          <a:bodyPr/>
          <a:lstStyle/>
          <a:p>
            <a:endParaRPr/>
          </a:p>
        </p:txBody>
      </p:sp>
      <p:sp>
        <p:nvSpPr>
          <p:cNvPr id="81" name="Object 81"/>
          <p:cNvSpPr txBox="1"/>
          <p:nvPr/>
        </p:nvSpPr>
        <p:spPr>
          <a:xfrm>
            <a:off x="6877020" y="4300515"/>
            <a:ext cx="56226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JUNE 2026</a:t>
            </a:r>
            <a:endParaRPr lang="en-US" sz="550" dirty="0"/>
          </a:p>
        </p:txBody>
      </p:sp>
      <p:sp>
        <p:nvSpPr>
          <p:cNvPr id="82" name="Object 82"/>
          <p:cNvSpPr txBox="1"/>
          <p:nvPr/>
        </p:nvSpPr>
        <p:spPr>
          <a:xfrm>
            <a:off x="8195493" y="4300515"/>
            <a:ext cx="130494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STAFFING &amp; HUMAN CAPITAL</a:t>
            </a:r>
            <a:endParaRPr lang="en-US" sz="550" dirty="0"/>
          </a:p>
        </p:txBody>
      </p:sp>
      <p:sp>
        <p:nvSpPr>
          <p:cNvPr id="83" name="Object 83"/>
          <p:cNvSpPr/>
          <p:nvPr/>
        </p:nvSpPr>
        <p:spPr>
          <a:xfrm>
            <a:off x="6810360" y="4514850"/>
            <a:ext cx="1076797" cy="361920"/>
          </a:xfrm>
          <a:prstGeom prst="rect">
            <a:avLst/>
          </a:prstGeom>
          <a:noFill/>
          <a:ln>
            <a:noFill/>
          </a:ln>
        </p:spPr>
        <p:txBody>
          <a:bodyPr/>
          <a:lstStyle/>
          <a:p>
            <a:endParaRPr/>
          </a:p>
        </p:txBody>
      </p:sp>
      <p:sp>
        <p:nvSpPr>
          <p:cNvPr id="85" name="Object 85"/>
          <p:cNvSpPr txBox="1"/>
          <p:nvPr/>
        </p:nvSpPr>
        <p:spPr>
          <a:xfrm>
            <a:off x="7953817"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86" name="Object 86"/>
          <p:cNvSpPr/>
          <p:nvPr/>
        </p:nvSpPr>
        <p:spPr>
          <a:xfrm>
            <a:off x="8419612" y="4514850"/>
            <a:ext cx="1076797" cy="361920"/>
          </a:xfrm>
          <a:prstGeom prst="rect">
            <a:avLst/>
          </a:prstGeom>
          <a:noFill/>
          <a:ln>
            <a:noFill/>
          </a:ln>
        </p:spPr>
        <p:txBody>
          <a:bodyPr/>
          <a:lstStyle/>
          <a:p>
            <a:endParaRPr/>
          </a:p>
        </p:txBody>
      </p:sp>
      <p:sp>
        <p:nvSpPr>
          <p:cNvPr id="88" name="Object 88"/>
          <p:cNvSpPr txBox="1"/>
          <p:nvPr/>
        </p:nvSpPr>
        <p:spPr>
          <a:xfrm>
            <a:off x="6810360"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Object 89"/>
          <p:cNvSpPr txBox="1"/>
          <p:nvPr/>
        </p:nvSpPr>
        <p:spPr>
          <a:xfrm>
            <a:off x="6810360" y="536972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The purchase price of £850 million, roughly $1.1 billion, compares with about $650 million of fee revenue and about $100 million of run-rate adjusted EBITDA (</a:t>
            </a:r>
            <a:r>
              <a:rPr lang="en-US" sz="850" u="sng" dirty="0">
                <a:solidFill>
                  <a:srgbClr val="8C6239"/>
                </a:solidFill>
                <a:latin typeface="+mn-lt" pitchFamily="34" charset="0"/>
                <a:hlinkClick r:id="rId12"/>
              </a:rPr>
              <a:t>Korn Ferry</a:t>
            </a:r>
            <a:r>
              <a:rPr lang="en-US" sz="850" dirty="0">
                <a:solidFill>
                  <a:srgbClr val="333231"/>
                </a:solidFill>
                <a:latin typeface="+mn-lt" pitchFamily="34" charset="0"/>
              </a:rPr>
              <a:t>).</a:t>
            </a:r>
            <a:endParaRPr lang="en-US" sz="850" dirty="0"/>
          </a:p>
        </p:txBody>
      </p:sp>
      <p:sp>
        <p:nvSpPr>
          <p:cNvPr id="90" name="Object 90"/>
          <p:cNvSpPr/>
          <p:nvPr/>
        </p:nvSpPr>
        <p:spPr>
          <a:xfrm>
            <a:off x="6810360" y="6435060"/>
            <a:ext cx="2686050" cy="9510"/>
          </a:xfrm>
          <a:prstGeom prst="rect">
            <a:avLst/>
          </a:prstGeom>
          <a:solidFill>
            <a:srgbClr val="E3DCD3"/>
          </a:solidFill>
          <a:ln/>
        </p:spPr>
        <p:txBody>
          <a:bodyPr/>
          <a:lstStyle/>
          <a:p>
            <a:endParaRPr/>
          </a:p>
        </p:txBody>
      </p:sp>
      <p:sp>
        <p:nvSpPr>
          <p:cNvPr id="91" name="Object 91"/>
          <p:cNvSpPr txBox="1"/>
          <p:nvPr/>
        </p:nvSpPr>
        <p:spPr>
          <a:xfrm>
            <a:off x="6810360" y="652083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Long-term outsourcing contracts earned a multiple in line with the 10.0x median of far larger listed staffing companies.</a:t>
            </a:r>
            <a:endParaRPr lang="en-US" sz="600" dirty="0"/>
          </a:p>
        </p:txBody>
      </p:sp>
      <p:sp>
        <p:nvSpPr>
          <p:cNvPr id="92" name="Object 92"/>
          <p:cNvSpPr/>
          <p:nvPr/>
        </p:nvSpPr>
        <p:spPr>
          <a:xfrm>
            <a:off x="419070" y="7029450"/>
            <a:ext cx="9220170" cy="9510"/>
          </a:xfrm>
          <a:prstGeom prst="ellipse">
            <a:avLst/>
          </a:prstGeom>
          <a:solidFill>
            <a:srgbClr val="E3DCD3"/>
          </a:solidFill>
          <a:ln/>
        </p:spPr>
        <p:txBody>
          <a:bodyPr/>
          <a:lstStyle/>
          <a:p>
            <a:endParaRPr/>
          </a:p>
        </p:txBody>
      </p:sp>
      <p:pic>
        <p:nvPicPr>
          <p:cNvPr id="93" name="Object 93" descr="Benchmark International"/>
          <p:cNvPicPr>
            <a:picLocks noChangeAspect="1"/>
          </p:cNvPicPr>
          <p:nvPr/>
        </p:nvPicPr>
        <p:blipFill>
          <a:blip r:embed="rId13"/>
          <a:stretch>
            <a:fillRect/>
          </a:stretch>
        </p:blipFill>
        <p:spPr>
          <a:xfrm>
            <a:off x="419070" y="7143750"/>
            <a:ext cx="914400" cy="171450"/>
          </a:xfrm>
          <a:prstGeom prst="rect">
            <a:avLst/>
          </a:prstGeom>
        </p:spPr>
      </p:pic>
      <p:sp>
        <p:nvSpPr>
          <p:cNvPr id="94" name="Object 94"/>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report. Transactions advised by Benchmark International follow on the next page.</a:t>
            </a:r>
            <a:endParaRPr lang="en-US" sz="700" dirty="0"/>
          </a:p>
        </p:txBody>
      </p:sp>
      <p:sp>
        <p:nvSpPr>
          <p:cNvPr id="95" name="Object 95"/>
          <p:cNvSpPr txBox="1"/>
          <p:nvPr/>
        </p:nvSpPr>
        <p:spPr>
          <a:xfrm>
            <a:off x="9494215"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12</a:t>
            </a:r>
            <a:endParaRPr lang="en-US" sz="700" dirty="0"/>
          </a:p>
        </p:txBody>
      </p:sp>
      <p:pic>
        <p:nvPicPr>
          <p:cNvPr id="96" name="Object 96" descr="Pye-Barker Engineered Solutions logo"/>
          <p:cNvPicPr>
            <a:picLocks noChangeAspect="1"/>
          </p:cNvPicPr>
          <p:nvPr/>
        </p:nvPicPr>
        <p:blipFill>
          <a:blip r:embed="rId14"/>
          <a:stretch>
            <a:fillRect/>
          </a:stretch>
        </p:blipFill>
        <p:spPr>
          <a:xfrm>
            <a:off x="2289690" y="1685971"/>
            <a:ext cx="839901" cy="190377"/>
          </a:xfrm>
          <a:prstGeom prst="rect">
            <a:avLst/>
          </a:prstGeom>
        </p:spPr>
      </p:pic>
      <p:pic>
        <p:nvPicPr>
          <p:cNvPr id="97" name="Object 97" descr="East Beach Specialties logo"/>
          <p:cNvPicPr>
            <a:picLocks noChangeAspect="1"/>
          </p:cNvPicPr>
          <p:nvPr/>
        </p:nvPicPr>
        <p:blipFill>
          <a:blip r:embed="rId15"/>
          <a:stretch>
            <a:fillRect/>
          </a:stretch>
        </p:blipFill>
        <p:spPr>
          <a:xfrm>
            <a:off x="4060824" y="1728386"/>
            <a:ext cx="327589" cy="238867"/>
          </a:xfrm>
          <a:prstGeom prst="rect">
            <a:avLst/>
          </a:prstGeom>
        </p:spPr>
      </p:pic>
      <p:pic>
        <p:nvPicPr>
          <p:cNvPr id="98" name="Object 98" descr="Zebra Marketing logo"/>
          <p:cNvPicPr>
            <a:picLocks noChangeAspect="1"/>
          </p:cNvPicPr>
          <p:nvPr/>
        </p:nvPicPr>
        <p:blipFill>
          <a:blip r:embed="rId16"/>
          <a:stretch>
            <a:fillRect/>
          </a:stretch>
        </p:blipFill>
        <p:spPr>
          <a:xfrm>
            <a:off x="5440443" y="1728386"/>
            <a:ext cx="786856" cy="238867"/>
          </a:xfrm>
          <a:prstGeom prst="rect">
            <a:avLst/>
          </a:prstGeom>
        </p:spPr>
      </p:pic>
      <p:pic>
        <p:nvPicPr>
          <p:cNvPr id="99" name="Object 99" descr="Bowman logo"/>
          <p:cNvPicPr>
            <a:picLocks noChangeAspect="1"/>
          </p:cNvPicPr>
          <p:nvPr/>
        </p:nvPicPr>
        <p:blipFill>
          <a:blip r:embed="rId17"/>
          <a:stretch>
            <a:fillRect/>
          </a:stretch>
        </p:blipFill>
        <p:spPr>
          <a:xfrm>
            <a:off x="6928807" y="1751231"/>
            <a:ext cx="839901" cy="193177"/>
          </a:xfrm>
          <a:prstGeom prst="rect">
            <a:avLst/>
          </a:prstGeom>
        </p:spPr>
      </p:pic>
      <p:pic>
        <p:nvPicPr>
          <p:cNvPr id="100" name="Object 100" descr="Bernhard Capital Partners logo"/>
          <p:cNvPicPr>
            <a:picLocks noChangeAspect="1"/>
          </p:cNvPicPr>
          <p:nvPr/>
        </p:nvPicPr>
        <p:blipFill>
          <a:blip r:embed="rId18"/>
          <a:stretch>
            <a:fillRect/>
          </a:stretch>
        </p:blipFill>
        <p:spPr>
          <a:xfrm>
            <a:off x="8538059" y="1754030"/>
            <a:ext cx="839901" cy="187578"/>
          </a:xfrm>
          <a:prstGeom prst="rect">
            <a:avLst/>
          </a:prstGeom>
        </p:spPr>
      </p:pic>
      <p:pic>
        <p:nvPicPr>
          <p:cNvPr id="101" name="Object 101" descr="Harris Insurance logo"/>
          <p:cNvPicPr>
            <a:picLocks noChangeAspect="1"/>
          </p:cNvPicPr>
          <p:nvPr/>
        </p:nvPicPr>
        <p:blipFill>
          <a:blip r:embed="rId19"/>
          <a:stretch>
            <a:fillRect/>
          </a:stretch>
        </p:blipFill>
        <p:spPr>
          <a:xfrm>
            <a:off x="680437" y="4605376"/>
            <a:ext cx="839901" cy="180867"/>
          </a:xfrm>
          <a:prstGeom prst="rect">
            <a:avLst/>
          </a:prstGeom>
        </p:spPr>
      </p:pic>
      <p:pic>
        <p:nvPicPr>
          <p:cNvPr id="102" name="Object 102" descr="Inszone Insurance Services logo"/>
          <p:cNvPicPr>
            <a:picLocks noChangeAspect="1"/>
          </p:cNvPicPr>
          <p:nvPr/>
        </p:nvPicPr>
        <p:blipFill>
          <a:blip r:embed="rId20"/>
          <a:stretch>
            <a:fillRect/>
          </a:stretch>
        </p:blipFill>
        <p:spPr>
          <a:xfrm>
            <a:off x="2449293" y="4576376"/>
            <a:ext cx="520696" cy="238867"/>
          </a:xfrm>
          <a:prstGeom prst="rect">
            <a:avLst/>
          </a:prstGeom>
        </p:spPr>
      </p:pic>
      <p:pic>
        <p:nvPicPr>
          <p:cNvPr id="103" name="Object 103" descr="Laborworx logo"/>
          <p:cNvPicPr>
            <a:picLocks noChangeAspect="1"/>
          </p:cNvPicPr>
          <p:nvPr/>
        </p:nvPicPr>
        <p:blipFill>
          <a:blip r:embed="rId21"/>
          <a:stretch>
            <a:fillRect/>
          </a:stretch>
        </p:blipFill>
        <p:spPr>
          <a:xfrm>
            <a:off x="3804668" y="4586427"/>
            <a:ext cx="839901" cy="218765"/>
          </a:xfrm>
          <a:prstGeom prst="rect">
            <a:avLst/>
          </a:prstGeom>
        </p:spPr>
      </p:pic>
      <p:pic>
        <p:nvPicPr>
          <p:cNvPr id="104" name="Object 104" descr="VeriWorks logo"/>
          <p:cNvPicPr>
            <a:picLocks noChangeAspect="1"/>
          </p:cNvPicPr>
          <p:nvPr/>
        </p:nvPicPr>
        <p:blipFill>
          <a:blip r:embed="rId22"/>
          <a:stretch>
            <a:fillRect/>
          </a:stretch>
        </p:blipFill>
        <p:spPr>
          <a:xfrm>
            <a:off x="5413920" y="4631202"/>
            <a:ext cx="839901" cy="129215"/>
          </a:xfrm>
          <a:prstGeom prst="rect">
            <a:avLst/>
          </a:prstGeom>
        </p:spPr>
      </p:pic>
      <p:pic>
        <p:nvPicPr>
          <p:cNvPr id="105" name="Object 105" descr="AMS logo"/>
          <p:cNvPicPr>
            <a:picLocks noChangeAspect="1"/>
          </p:cNvPicPr>
          <p:nvPr/>
        </p:nvPicPr>
        <p:blipFill>
          <a:blip r:embed="rId23"/>
          <a:stretch>
            <a:fillRect/>
          </a:stretch>
        </p:blipFill>
        <p:spPr>
          <a:xfrm>
            <a:off x="6928807" y="4579973"/>
            <a:ext cx="839901" cy="231672"/>
          </a:xfrm>
          <a:prstGeom prst="rect">
            <a:avLst/>
          </a:prstGeom>
        </p:spPr>
      </p:pic>
      <p:pic>
        <p:nvPicPr>
          <p:cNvPr id="106" name="Object 106" descr="Korn Ferry logo"/>
          <p:cNvPicPr>
            <a:picLocks noChangeAspect="1"/>
          </p:cNvPicPr>
          <p:nvPr/>
        </p:nvPicPr>
        <p:blipFill>
          <a:blip r:embed="rId24"/>
          <a:stretch>
            <a:fillRect/>
          </a:stretch>
        </p:blipFill>
        <p:spPr>
          <a:xfrm>
            <a:off x="8541381" y="4576376"/>
            <a:ext cx="833257" cy="23886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6713799"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Object 6"/>
          <p:cNvSpPr txBox="1"/>
          <p:nvPr/>
        </p:nvSpPr>
        <p:spPr>
          <a:xfrm>
            <a:off x="419070" y="883402"/>
            <a:ext cx="882012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Closed transactions by sector, trailing 24 months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1866930" cy="5695980"/>
          </a:xfrm>
          <a:prstGeom prst="rect">
            <a:avLst/>
          </a:prstGeom>
          <a:solidFill>
            <a:srgbClr val="1B1A1A"/>
          </a:solidFill>
          <a:ln/>
        </p:spPr>
        <p:txBody>
          <a:bodyPr/>
          <a:lstStyle/>
          <a:p>
            <a:endParaRPr/>
          </a:p>
        </p:txBody>
      </p:sp>
      <p:sp>
        <p:nvSpPr>
          <p:cNvPr id="9" name="Object 9"/>
          <p:cNvSpPr txBox="1"/>
          <p:nvPr/>
        </p:nvSpPr>
        <p:spPr>
          <a:xfrm>
            <a:off x="590520" y="1409730"/>
            <a:ext cx="1524030" cy="123810"/>
          </a:xfrm>
          <a:prstGeom prst="rect">
            <a:avLst/>
          </a:prstGeom>
          <a:noFill/>
          <a:ln/>
        </p:spPr>
        <p:txBody>
          <a:bodyPr wrap="none" lIns="0" tIns="0" rIns="0" bIns="0" rtlCol="0" anchor="t"/>
          <a:lstStyle/>
          <a:p>
            <a:pPr marL="0" indent="0" algn="l">
              <a:lnSpc>
                <a:spcPts val="1100"/>
              </a:lnSpc>
              <a:buNone/>
            </a:pPr>
            <a:r>
              <a:rPr lang="en-US" sz="800" b="1" kern="0" spc="150" dirty="0">
                <a:solidFill>
                  <a:srgbClr val="D3AE84"/>
                </a:solidFill>
                <a:latin typeface="+mn-lt" pitchFamily="34" charset="0"/>
              </a:rPr>
              <a:t>TRAILING 24 MONTHS</a:t>
            </a:r>
            <a:endParaRPr lang="en-US" sz="800" dirty="0"/>
          </a:p>
        </p:txBody>
      </p:sp>
      <p:sp>
        <p:nvSpPr>
          <p:cNvPr id="10" name="Object 10"/>
          <p:cNvSpPr/>
          <p:nvPr/>
        </p:nvSpPr>
        <p:spPr>
          <a:xfrm>
            <a:off x="590520" y="1628821"/>
            <a:ext cx="1524030" cy="9510"/>
          </a:xfrm>
          <a:prstGeom prst="rect">
            <a:avLst/>
          </a:prstGeom>
          <a:solidFill>
            <a:srgbClr val="FFFFFF">
              <a:alpha val="16000"/>
            </a:srgbClr>
          </a:solidFill>
          <a:ln/>
        </p:spPr>
        <p:txBody>
          <a:bodyPr/>
          <a:lstStyle/>
          <a:p>
            <a:endParaRPr/>
          </a:p>
        </p:txBody>
      </p:sp>
      <p:sp>
        <p:nvSpPr>
          <p:cNvPr id="11" name="Object 11"/>
          <p:cNvSpPr txBox="1"/>
          <p:nvPr/>
        </p:nvSpPr>
        <p:spPr>
          <a:xfrm>
            <a:off x="590520" y="1762140"/>
            <a:ext cx="1524030" cy="514350"/>
          </a:xfrm>
          <a:prstGeom prst="rect">
            <a:avLst/>
          </a:prstGeom>
          <a:noFill/>
          <a:ln/>
        </p:spPr>
        <p:txBody>
          <a:bodyPr wrap="none" lIns="0" tIns="0" rIns="0" bIns="0" rtlCol="0" anchor="t"/>
          <a:lstStyle/>
          <a:p>
            <a:pPr marL="0" indent="0" algn="l">
              <a:lnSpc>
                <a:spcPts val="4000"/>
              </a:lnSpc>
              <a:buNone/>
            </a:pPr>
            <a:r>
              <a:rPr lang="en-US" sz="3600" b="1" dirty="0">
                <a:solidFill>
                  <a:srgbClr val="D3AE84"/>
                </a:solidFill>
                <a:latin typeface="+mj-lt" pitchFamily="34" charset="0"/>
              </a:rPr>
              <a:t>67</a:t>
            </a:r>
            <a:endParaRPr lang="en-US" sz="3600" dirty="0"/>
          </a:p>
        </p:txBody>
      </p:sp>
      <p:sp>
        <p:nvSpPr>
          <p:cNvPr id="12" name="Object 12"/>
          <p:cNvSpPr txBox="1"/>
          <p:nvPr/>
        </p:nvSpPr>
        <p:spPr>
          <a:xfrm>
            <a:off x="590520" y="2336490"/>
            <a:ext cx="1524030" cy="420000"/>
          </a:xfrm>
          <a:prstGeom prst="rect">
            <a:avLst/>
          </a:prstGeom>
          <a:noFill/>
          <a:ln/>
        </p:spPr>
        <p:txBody>
          <a:bodyPr wrap="square" lIns="0" tIns="0" rIns="0" bIns="0" rtlCol="0" anchor="t"/>
          <a:lstStyle/>
          <a:p>
            <a:pPr marL="0" indent="0" algn="l">
              <a:lnSpc>
                <a:spcPts val="1450"/>
              </a:lnSpc>
              <a:buNone/>
            </a:pPr>
            <a:r>
              <a:rPr lang="en-US" sz="1000" dirty="0">
                <a:solidFill>
                  <a:srgbClr val="E8E2DA"/>
                </a:solidFill>
                <a:latin typeface="+mn-lt" pitchFamily="34" charset="0"/>
              </a:rPr>
              <a:t>transactions closed in these five sectors</a:t>
            </a:r>
            <a:endParaRPr lang="en-US" sz="1000" dirty="0"/>
          </a:p>
        </p:txBody>
      </p:sp>
      <p:sp>
        <p:nvSpPr>
          <p:cNvPr id="16" name="Object 16"/>
          <p:cNvSpPr/>
          <p:nvPr/>
        </p:nvSpPr>
        <p:spPr>
          <a:xfrm>
            <a:off x="590520" y="3628821"/>
            <a:ext cx="1524030" cy="9510"/>
          </a:xfrm>
          <a:prstGeom prst="rect">
            <a:avLst/>
          </a:prstGeom>
          <a:solidFill>
            <a:srgbClr val="FFFFFF">
              <a:alpha val="16000"/>
            </a:srgbClr>
          </a:solidFill>
          <a:ln/>
        </p:spPr>
        <p:txBody>
          <a:bodyPr/>
          <a:lstStyle/>
          <a:p>
            <a:endParaRPr/>
          </a:p>
        </p:txBody>
      </p:sp>
      <p:sp>
        <p:nvSpPr>
          <p:cNvPr id="17" name="Object 17"/>
          <p:cNvSpPr txBox="1"/>
          <p:nvPr/>
        </p:nvSpPr>
        <p:spPr>
          <a:xfrm>
            <a:off x="590520" y="3762231"/>
            <a:ext cx="1524030" cy="514350"/>
          </a:xfrm>
          <a:prstGeom prst="rect">
            <a:avLst/>
          </a:prstGeom>
          <a:noFill/>
          <a:ln/>
        </p:spPr>
        <p:txBody>
          <a:bodyPr wrap="none" lIns="0" tIns="0" rIns="0" bIns="0" rtlCol="0" anchor="t"/>
          <a:lstStyle/>
          <a:p>
            <a:pPr marL="0" indent="0" algn="l">
              <a:lnSpc>
                <a:spcPts val="4000"/>
              </a:lnSpc>
              <a:buNone/>
            </a:pPr>
            <a:r>
              <a:rPr lang="en-US" sz="3600" b="1" dirty="0">
                <a:solidFill>
                  <a:srgbClr val="D3AE84"/>
                </a:solidFill>
                <a:latin typeface="+mj-lt" pitchFamily="34" charset="0"/>
              </a:rPr>
              <a:t>44</a:t>
            </a:r>
            <a:endParaRPr lang="en-US" sz="3600" dirty="0"/>
          </a:p>
        </p:txBody>
      </p:sp>
      <p:sp>
        <p:nvSpPr>
          <p:cNvPr id="18" name="Object 18"/>
          <p:cNvSpPr txBox="1"/>
          <p:nvPr/>
        </p:nvSpPr>
        <p:spPr>
          <a:xfrm>
            <a:off x="590520" y="4336581"/>
            <a:ext cx="1524030" cy="930000"/>
          </a:xfrm>
          <a:prstGeom prst="rect">
            <a:avLst/>
          </a:prstGeom>
          <a:noFill/>
          <a:ln/>
        </p:spPr>
        <p:txBody>
          <a:bodyPr wrap="square" lIns="0" tIns="0" rIns="0" bIns="0" rtlCol="0" anchor="t"/>
          <a:lstStyle/>
          <a:p>
            <a:pPr marL="0" indent="0" algn="l">
              <a:lnSpc>
                <a:spcPts val="1450"/>
              </a:lnSpc>
              <a:buNone/>
            </a:pPr>
            <a:r>
              <a:rPr lang="en-US" sz="1000" dirty="0">
                <a:solidFill>
                  <a:srgbClr val="E8E2DA"/>
                </a:solidFill>
                <a:latin typeface="+mn-lt" pitchFamily="34" charset="0"/>
              </a:rPr>
              <a:t>sellers named publicly, more than half of them bought by a company in their own or an adjacent field</a:t>
            </a:r>
            <a:endParaRPr lang="en-US" sz="1000" dirty="0"/>
          </a:p>
        </p:txBody>
      </p:sp>
      <p:sp>
        <p:nvSpPr>
          <p:cNvPr id="19" name="Object 19"/>
          <p:cNvSpPr/>
          <p:nvPr/>
        </p:nvSpPr>
        <p:spPr>
          <a:xfrm>
            <a:off x="590520" y="5480000"/>
            <a:ext cx="1524030" cy="9510"/>
          </a:xfrm>
          <a:prstGeom prst="rect">
            <a:avLst/>
          </a:prstGeom>
          <a:solidFill>
            <a:srgbClr val="FFFFFF">
              <a:alpha val="16000"/>
            </a:srgbClr>
          </a:solidFill>
          <a:ln/>
        </p:spPr>
        <p:txBody>
          <a:bodyPr/>
          <a:lstStyle/>
          <a:p>
            <a:endParaRPr/>
          </a:p>
        </p:txBody>
      </p:sp>
      <p:sp>
        <p:nvSpPr>
          <p:cNvPr id="20" name="Object 20"/>
          <p:cNvSpPr txBox="1"/>
          <p:nvPr/>
        </p:nvSpPr>
        <p:spPr>
          <a:xfrm>
            <a:off x="590520" y="5603810"/>
            <a:ext cx="1524030" cy="103000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Ranked the leading privately owned sell-side M&amp;A advisor in the world in PitchBook's Q2 2026 Global League Tables (</a:t>
            </a:r>
            <a:r>
              <a:rPr lang="en-US" sz="900" u="sng" dirty="0">
                <a:solidFill>
                  <a:srgbClr val="D3AE84"/>
                </a:solidFill>
                <a:latin typeface="+mn-lt" pitchFamily="34" charset="0"/>
                <a:hlinkClick r:id="rId3">
                  <a:extLst>
                    <a:ext uri="{A12FA001-AC4F-418D-AE19-62706E023703}">
                      <ahyp:hlinkClr xmlns:ahyp="http://schemas.microsoft.com/office/drawing/2018/hyperlinkcolor" val="tx"/>
                    </a:ext>
                  </a:extLst>
                </a:hlinkClick>
              </a:rPr>
              <a:t>Benchmark International</a:t>
            </a:r>
            <a:r>
              <a:rPr lang="en-US" sz="900" dirty="0">
                <a:solidFill>
                  <a:srgbClr val="C3BDB6"/>
                </a:solidFill>
                <a:latin typeface="+mn-lt" pitchFamily="34" charset="0"/>
              </a:rPr>
              <a:t>).</a:t>
            </a:r>
            <a:endParaRPr lang="en-US" sz="900" dirty="0"/>
          </a:p>
        </p:txBody>
      </p:sp>
      <p:sp>
        <p:nvSpPr>
          <p:cNvPr id="21" name="Object 21">
            <a:hlinkClick r:id="rId4"/>
          </p:cNvPr>
          <p:cNvSpPr/>
          <p:nvPr/>
        </p:nvSpPr>
        <p:spPr>
          <a:xfrm>
            <a:off x="2419320" y="1238280"/>
            <a:ext cx="1719255" cy="1822399"/>
          </a:xfrm>
          <a:prstGeom prst="rect">
            <a:avLst/>
          </a:prstGeom>
          <a:solidFill>
            <a:srgbClr val="FAF7F3"/>
          </a:solidFill>
          <a:ln/>
        </p:spPr>
        <p:txBody>
          <a:bodyPr/>
          <a:lstStyle/>
          <a:p>
            <a:endParaRPr/>
          </a:p>
        </p:txBody>
      </p:sp>
      <p:sp>
        <p:nvSpPr>
          <p:cNvPr id="22" name="Object 22"/>
          <p:cNvSpPr/>
          <p:nvPr/>
        </p:nvSpPr>
        <p:spPr>
          <a:xfrm>
            <a:off x="2419320" y="1238280"/>
            <a:ext cx="1719255" cy="28621"/>
          </a:xfrm>
          <a:prstGeom prst="rect">
            <a:avLst/>
          </a:prstGeom>
          <a:solidFill>
            <a:srgbClr val="B68757"/>
          </a:solidFill>
          <a:ln/>
        </p:spPr>
        <p:txBody>
          <a:bodyPr/>
          <a:lstStyle/>
          <a:p>
            <a:endParaRPr/>
          </a:p>
        </p:txBody>
      </p:sp>
      <p:sp>
        <p:nvSpPr>
          <p:cNvPr id="23" name="Object 23"/>
          <p:cNvSpPr/>
          <p:nvPr/>
        </p:nvSpPr>
        <p:spPr>
          <a:xfrm>
            <a:off x="2514600" y="1362090"/>
            <a:ext cx="1528785" cy="400050"/>
          </a:xfrm>
          <a:prstGeom prst="rect">
            <a:avLst/>
          </a:prstGeom>
          <a:noFill/>
          <a:ln>
            <a:noFill/>
          </a:ln>
        </p:spPr>
        <p:txBody>
          <a:bodyPr/>
          <a:lstStyle/>
          <a:p>
            <a:endParaRPr/>
          </a:p>
        </p:txBody>
      </p:sp>
      <p:pic>
        <p:nvPicPr>
          <p:cNvPr id="24" name="Object 24" descr="FPS Technologies"/>
          <p:cNvPicPr>
            <a:picLocks noChangeAspect="1"/>
          </p:cNvPicPr>
          <p:nvPr/>
        </p:nvPicPr>
        <p:blipFill>
          <a:blip r:embed="rId5"/>
          <a:stretch>
            <a:fillRect/>
          </a:stretch>
        </p:blipFill>
        <p:spPr>
          <a:xfrm>
            <a:off x="2954792" y="1409730"/>
            <a:ext cx="648127" cy="304678"/>
          </a:xfrm>
          <a:prstGeom prst="rect">
            <a:avLst/>
          </a:prstGeom>
        </p:spPr>
      </p:pic>
      <p:sp>
        <p:nvSpPr>
          <p:cNvPr id="25" name="Object 25"/>
          <p:cNvSpPr txBox="1"/>
          <p:nvPr/>
        </p:nvSpPr>
        <p:spPr>
          <a:xfrm>
            <a:off x="2514600"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26" name="Object 26"/>
          <p:cNvSpPr/>
          <p:nvPr/>
        </p:nvSpPr>
        <p:spPr>
          <a:xfrm>
            <a:off x="2514600" y="1943100"/>
            <a:ext cx="1528785" cy="400050"/>
          </a:xfrm>
          <a:prstGeom prst="rect">
            <a:avLst/>
          </a:prstGeom>
          <a:noFill/>
          <a:ln>
            <a:noFill/>
          </a:ln>
        </p:spPr>
        <p:txBody>
          <a:bodyPr/>
          <a:lstStyle/>
          <a:p>
            <a:endParaRPr/>
          </a:p>
        </p:txBody>
      </p:sp>
      <p:pic>
        <p:nvPicPr>
          <p:cNvPr id="27" name="Object 27" descr="Cintas"/>
          <p:cNvPicPr>
            <a:picLocks noChangeAspect="1"/>
          </p:cNvPicPr>
          <p:nvPr/>
        </p:nvPicPr>
        <p:blipFill>
          <a:blip r:embed="rId6"/>
          <a:stretch>
            <a:fillRect/>
          </a:stretch>
        </p:blipFill>
        <p:spPr>
          <a:xfrm>
            <a:off x="2886395" y="1990740"/>
            <a:ext cx="785195" cy="304678"/>
          </a:xfrm>
          <a:prstGeom prst="rect">
            <a:avLst/>
          </a:prstGeom>
        </p:spPr>
      </p:pic>
      <p:sp>
        <p:nvSpPr>
          <p:cNvPr id="28" name="Object 28"/>
          <p:cNvSpPr txBox="1"/>
          <p:nvPr/>
        </p:nvSpPr>
        <p:spPr>
          <a:xfrm>
            <a:off x="2514600"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Object 29"/>
          <p:cNvSpPr txBox="1"/>
          <p:nvPr/>
        </p:nvSpPr>
        <p:spPr>
          <a:xfrm>
            <a:off x="2514600"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30" name="Object 30">
            <a:hlinkClick r:id="rId7"/>
          </p:cNvPr>
          <p:cNvSpPr/>
          <p:nvPr/>
        </p:nvSpPr>
        <p:spPr>
          <a:xfrm>
            <a:off x="4252874" y="1238280"/>
            <a:ext cx="1719255" cy="1822399"/>
          </a:xfrm>
          <a:prstGeom prst="rect">
            <a:avLst/>
          </a:prstGeom>
          <a:solidFill>
            <a:srgbClr val="FAF7F3"/>
          </a:solidFill>
          <a:ln/>
        </p:spPr>
        <p:txBody>
          <a:bodyPr/>
          <a:lstStyle/>
          <a:p>
            <a:endParaRPr/>
          </a:p>
        </p:txBody>
      </p:sp>
      <p:sp>
        <p:nvSpPr>
          <p:cNvPr id="31" name="Object 31"/>
          <p:cNvSpPr/>
          <p:nvPr/>
        </p:nvSpPr>
        <p:spPr>
          <a:xfrm>
            <a:off x="4252874" y="1238280"/>
            <a:ext cx="1719255" cy="28621"/>
          </a:xfrm>
          <a:prstGeom prst="rect">
            <a:avLst/>
          </a:prstGeom>
          <a:solidFill>
            <a:srgbClr val="B68757"/>
          </a:solidFill>
          <a:ln/>
        </p:spPr>
        <p:txBody>
          <a:bodyPr/>
          <a:lstStyle/>
          <a:p>
            <a:endParaRPr/>
          </a:p>
        </p:txBody>
      </p:sp>
      <p:sp>
        <p:nvSpPr>
          <p:cNvPr id="32" name="Object 32"/>
          <p:cNvSpPr/>
          <p:nvPr/>
        </p:nvSpPr>
        <p:spPr>
          <a:xfrm>
            <a:off x="4348155" y="1362090"/>
            <a:ext cx="1528785" cy="400050"/>
          </a:xfrm>
          <a:prstGeom prst="rect">
            <a:avLst/>
          </a:prstGeom>
          <a:noFill/>
          <a:ln>
            <a:noFill/>
          </a:ln>
        </p:spPr>
        <p:txBody>
          <a:bodyPr/>
          <a:lstStyle/>
          <a:p>
            <a:endParaRPr/>
          </a:p>
        </p:txBody>
      </p:sp>
      <p:pic>
        <p:nvPicPr>
          <p:cNvPr id="33" name="Object 33" descr="Fire Systems Technology"/>
          <p:cNvPicPr>
            <a:picLocks noChangeAspect="1"/>
          </p:cNvPicPr>
          <p:nvPr/>
        </p:nvPicPr>
        <p:blipFill>
          <a:blip r:embed="rId8"/>
          <a:stretch>
            <a:fillRect/>
          </a:stretch>
        </p:blipFill>
        <p:spPr>
          <a:xfrm>
            <a:off x="4822637" y="1409730"/>
            <a:ext cx="579730" cy="304678"/>
          </a:xfrm>
          <a:prstGeom prst="rect">
            <a:avLst/>
          </a:prstGeom>
        </p:spPr>
      </p:pic>
      <p:sp>
        <p:nvSpPr>
          <p:cNvPr id="34" name="Object 34"/>
          <p:cNvSpPr txBox="1"/>
          <p:nvPr/>
        </p:nvSpPr>
        <p:spPr>
          <a:xfrm>
            <a:off x="4348155"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35" name="Object 35"/>
          <p:cNvSpPr/>
          <p:nvPr/>
        </p:nvSpPr>
        <p:spPr>
          <a:xfrm>
            <a:off x="4348155" y="1943100"/>
            <a:ext cx="1528785" cy="400050"/>
          </a:xfrm>
          <a:prstGeom prst="rect">
            <a:avLst/>
          </a:prstGeom>
          <a:noFill/>
          <a:ln>
            <a:noFill/>
          </a:ln>
        </p:spPr>
        <p:txBody>
          <a:bodyPr/>
          <a:lstStyle/>
          <a:p>
            <a:endParaRPr/>
          </a:p>
        </p:txBody>
      </p:sp>
      <p:pic>
        <p:nvPicPr>
          <p:cNvPr id="36" name="Object 36" descr="AI Fire"/>
          <p:cNvPicPr>
            <a:picLocks noChangeAspect="1"/>
          </p:cNvPicPr>
          <p:nvPr/>
        </p:nvPicPr>
        <p:blipFill>
          <a:blip r:embed="rId9"/>
          <a:stretch>
            <a:fillRect/>
          </a:stretch>
        </p:blipFill>
        <p:spPr>
          <a:xfrm>
            <a:off x="4583430" y="1990740"/>
            <a:ext cx="1058052" cy="304678"/>
          </a:xfrm>
          <a:prstGeom prst="rect">
            <a:avLst/>
          </a:prstGeom>
        </p:spPr>
      </p:pic>
      <p:sp>
        <p:nvSpPr>
          <p:cNvPr id="37" name="Object 37"/>
          <p:cNvSpPr txBox="1"/>
          <p:nvPr/>
        </p:nvSpPr>
        <p:spPr>
          <a:xfrm>
            <a:off x="4348155"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Object 38"/>
          <p:cNvSpPr txBox="1"/>
          <p:nvPr/>
        </p:nvSpPr>
        <p:spPr>
          <a:xfrm>
            <a:off x="4348155"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39" name="Object 39">
            <a:hlinkClick r:id="rId10"/>
          </p:cNvPr>
          <p:cNvSpPr/>
          <p:nvPr/>
        </p:nvSpPr>
        <p:spPr>
          <a:xfrm>
            <a:off x="6086521" y="1238280"/>
            <a:ext cx="1719255" cy="1822399"/>
          </a:xfrm>
          <a:prstGeom prst="rect">
            <a:avLst/>
          </a:prstGeom>
          <a:solidFill>
            <a:srgbClr val="FAF7F3"/>
          </a:solidFill>
          <a:ln/>
        </p:spPr>
        <p:txBody>
          <a:bodyPr/>
          <a:lstStyle/>
          <a:p>
            <a:endParaRPr/>
          </a:p>
        </p:txBody>
      </p:sp>
      <p:sp>
        <p:nvSpPr>
          <p:cNvPr id="40" name="Object 40"/>
          <p:cNvSpPr/>
          <p:nvPr/>
        </p:nvSpPr>
        <p:spPr>
          <a:xfrm>
            <a:off x="6086521" y="1238280"/>
            <a:ext cx="1719255" cy="28621"/>
          </a:xfrm>
          <a:prstGeom prst="rect">
            <a:avLst/>
          </a:prstGeom>
          <a:solidFill>
            <a:srgbClr val="B68757"/>
          </a:solidFill>
          <a:ln/>
        </p:spPr>
        <p:txBody>
          <a:bodyPr/>
          <a:lstStyle/>
          <a:p>
            <a:endParaRPr/>
          </a:p>
        </p:txBody>
      </p:sp>
      <p:sp>
        <p:nvSpPr>
          <p:cNvPr id="41" name="Object 41"/>
          <p:cNvSpPr/>
          <p:nvPr/>
        </p:nvSpPr>
        <p:spPr>
          <a:xfrm>
            <a:off x="6181710" y="1362090"/>
            <a:ext cx="1528785" cy="400050"/>
          </a:xfrm>
          <a:prstGeom prst="rect">
            <a:avLst/>
          </a:prstGeom>
          <a:noFill/>
          <a:ln>
            <a:noFill/>
          </a:ln>
        </p:spPr>
        <p:txBody>
          <a:bodyPr/>
          <a:lstStyle/>
          <a:p>
            <a:endParaRPr/>
          </a:p>
        </p:txBody>
      </p:sp>
      <p:pic>
        <p:nvPicPr>
          <p:cNvPr id="42" name="Object 42" descr="Pacific Green Protection"/>
          <p:cNvPicPr>
            <a:picLocks noChangeAspect="1"/>
          </p:cNvPicPr>
          <p:nvPr/>
        </p:nvPicPr>
        <p:blipFill>
          <a:blip r:embed="rId11"/>
          <a:stretch>
            <a:fillRect/>
          </a:stretch>
        </p:blipFill>
        <p:spPr>
          <a:xfrm>
            <a:off x="6784208" y="1409730"/>
            <a:ext cx="323880" cy="304770"/>
          </a:xfrm>
          <a:prstGeom prst="rect">
            <a:avLst/>
          </a:prstGeom>
        </p:spPr>
      </p:pic>
      <p:sp>
        <p:nvSpPr>
          <p:cNvPr id="43" name="Object 43"/>
          <p:cNvSpPr txBox="1"/>
          <p:nvPr/>
        </p:nvSpPr>
        <p:spPr>
          <a:xfrm>
            <a:off x="6181710"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44" name="Object 44"/>
          <p:cNvSpPr/>
          <p:nvPr/>
        </p:nvSpPr>
        <p:spPr>
          <a:xfrm>
            <a:off x="6181710" y="1943100"/>
            <a:ext cx="1528785" cy="400050"/>
          </a:xfrm>
          <a:prstGeom prst="rect">
            <a:avLst/>
          </a:prstGeom>
          <a:noFill/>
          <a:ln>
            <a:noFill/>
          </a:ln>
        </p:spPr>
        <p:txBody>
          <a:bodyPr/>
          <a:lstStyle/>
          <a:p>
            <a:endParaRPr/>
          </a:p>
        </p:txBody>
      </p:sp>
      <p:pic>
        <p:nvPicPr>
          <p:cNvPr id="45" name="Object 45" descr="Cresswell Ventures"/>
          <p:cNvPicPr>
            <a:picLocks noChangeAspect="1"/>
          </p:cNvPicPr>
          <p:nvPr/>
        </p:nvPicPr>
        <p:blipFill>
          <a:blip r:embed="rId12"/>
          <a:stretch>
            <a:fillRect/>
          </a:stretch>
        </p:blipFill>
        <p:spPr>
          <a:xfrm>
            <a:off x="6743243" y="1990740"/>
            <a:ext cx="405536" cy="304678"/>
          </a:xfrm>
          <a:prstGeom prst="rect">
            <a:avLst/>
          </a:prstGeom>
        </p:spPr>
      </p:pic>
      <p:sp>
        <p:nvSpPr>
          <p:cNvPr id="46" name="Object 46"/>
          <p:cNvSpPr txBox="1"/>
          <p:nvPr/>
        </p:nvSpPr>
        <p:spPr>
          <a:xfrm>
            <a:off x="6181710"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Object 47"/>
          <p:cNvSpPr txBox="1"/>
          <p:nvPr/>
        </p:nvSpPr>
        <p:spPr>
          <a:xfrm>
            <a:off x="6181710"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48" name="Object 48">
            <a:hlinkClick r:id="rId13"/>
          </p:cNvPr>
          <p:cNvSpPr/>
          <p:nvPr/>
        </p:nvSpPr>
        <p:spPr>
          <a:xfrm>
            <a:off x="7920076" y="1238280"/>
            <a:ext cx="1719255" cy="1822399"/>
          </a:xfrm>
          <a:prstGeom prst="rect">
            <a:avLst/>
          </a:prstGeom>
          <a:solidFill>
            <a:srgbClr val="FAF7F3"/>
          </a:solidFill>
          <a:ln/>
        </p:spPr>
        <p:txBody>
          <a:bodyPr/>
          <a:lstStyle/>
          <a:p>
            <a:endParaRPr/>
          </a:p>
        </p:txBody>
      </p:sp>
      <p:sp>
        <p:nvSpPr>
          <p:cNvPr id="49" name="Object 49"/>
          <p:cNvSpPr/>
          <p:nvPr/>
        </p:nvSpPr>
        <p:spPr>
          <a:xfrm>
            <a:off x="7920076" y="1238280"/>
            <a:ext cx="1719255" cy="28621"/>
          </a:xfrm>
          <a:prstGeom prst="rect">
            <a:avLst/>
          </a:prstGeom>
          <a:solidFill>
            <a:srgbClr val="B68757"/>
          </a:solidFill>
          <a:ln/>
        </p:spPr>
        <p:txBody>
          <a:bodyPr/>
          <a:lstStyle/>
          <a:p>
            <a:endParaRPr/>
          </a:p>
        </p:txBody>
      </p:sp>
      <p:sp>
        <p:nvSpPr>
          <p:cNvPr id="50" name="Object 50"/>
          <p:cNvSpPr/>
          <p:nvPr/>
        </p:nvSpPr>
        <p:spPr>
          <a:xfrm>
            <a:off x="8015265" y="1362090"/>
            <a:ext cx="1528785" cy="400050"/>
          </a:xfrm>
          <a:prstGeom prst="rect">
            <a:avLst/>
          </a:prstGeom>
          <a:noFill/>
          <a:ln>
            <a:noFill/>
          </a:ln>
        </p:spPr>
        <p:txBody>
          <a:bodyPr/>
          <a:lstStyle/>
          <a:p>
            <a:endParaRPr/>
          </a:p>
        </p:txBody>
      </p:sp>
      <p:sp>
        <p:nvSpPr>
          <p:cNvPr id="52" name="Object 52"/>
          <p:cNvSpPr txBox="1"/>
          <p:nvPr/>
        </p:nvSpPr>
        <p:spPr>
          <a:xfrm>
            <a:off x="8015265"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53" name="Object 53"/>
          <p:cNvSpPr/>
          <p:nvPr/>
        </p:nvSpPr>
        <p:spPr>
          <a:xfrm>
            <a:off x="8015265" y="1943100"/>
            <a:ext cx="1528785" cy="400050"/>
          </a:xfrm>
          <a:prstGeom prst="rect">
            <a:avLst/>
          </a:prstGeom>
          <a:noFill/>
          <a:ln>
            <a:noFill/>
          </a:ln>
        </p:spPr>
        <p:txBody>
          <a:bodyPr/>
          <a:lstStyle/>
          <a:p>
            <a:endParaRPr/>
          </a:p>
        </p:txBody>
      </p:sp>
      <p:sp>
        <p:nvSpPr>
          <p:cNvPr id="55" name="Object 55"/>
          <p:cNvSpPr txBox="1"/>
          <p:nvPr/>
        </p:nvSpPr>
        <p:spPr>
          <a:xfrm>
            <a:off x="8015265"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Object 56"/>
          <p:cNvSpPr txBox="1"/>
          <p:nvPr/>
        </p:nvSpPr>
        <p:spPr>
          <a:xfrm>
            <a:off x="8015265"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57" name="Object 57">
            <a:hlinkClick r:id="rId14"/>
          </p:cNvPr>
          <p:cNvSpPr/>
          <p:nvPr/>
        </p:nvSpPr>
        <p:spPr>
          <a:xfrm>
            <a:off x="2419320" y="3174980"/>
            <a:ext cx="1719255" cy="1822399"/>
          </a:xfrm>
          <a:prstGeom prst="rect">
            <a:avLst/>
          </a:prstGeom>
          <a:solidFill>
            <a:srgbClr val="FAF7F3"/>
          </a:solidFill>
          <a:ln/>
        </p:spPr>
        <p:txBody>
          <a:bodyPr/>
          <a:lstStyle/>
          <a:p>
            <a:endParaRPr/>
          </a:p>
        </p:txBody>
      </p:sp>
      <p:sp>
        <p:nvSpPr>
          <p:cNvPr id="58" name="Object 58"/>
          <p:cNvSpPr/>
          <p:nvPr/>
        </p:nvSpPr>
        <p:spPr>
          <a:xfrm>
            <a:off x="2419320" y="3174980"/>
            <a:ext cx="1719255" cy="28621"/>
          </a:xfrm>
          <a:prstGeom prst="rect">
            <a:avLst/>
          </a:prstGeom>
          <a:solidFill>
            <a:srgbClr val="B68757"/>
          </a:solidFill>
          <a:ln/>
        </p:spPr>
        <p:txBody>
          <a:bodyPr/>
          <a:lstStyle/>
          <a:p>
            <a:endParaRPr/>
          </a:p>
        </p:txBody>
      </p:sp>
      <p:sp>
        <p:nvSpPr>
          <p:cNvPr id="59" name="Object 59"/>
          <p:cNvSpPr/>
          <p:nvPr/>
        </p:nvSpPr>
        <p:spPr>
          <a:xfrm>
            <a:off x="2514600" y="3298789"/>
            <a:ext cx="1528785" cy="399867"/>
          </a:xfrm>
          <a:prstGeom prst="rect">
            <a:avLst/>
          </a:prstGeom>
          <a:noFill/>
          <a:ln>
            <a:noFill/>
          </a:ln>
        </p:spPr>
        <p:txBody>
          <a:bodyPr/>
          <a:lstStyle/>
          <a:p>
            <a:endParaRPr/>
          </a:p>
        </p:txBody>
      </p:sp>
      <p:pic>
        <p:nvPicPr>
          <p:cNvPr id="60" name="Object 60" descr="Telmark Sales Solutions"/>
          <p:cNvPicPr>
            <a:picLocks noChangeAspect="1"/>
          </p:cNvPicPr>
          <p:nvPr/>
        </p:nvPicPr>
        <p:blipFill>
          <a:blip r:embed="rId15"/>
          <a:stretch>
            <a:fillRect/>
          </a:stretch>
        </p:blipFill>
        <p:spPr>
          <a:xfrm>
            <a:off x="3009290" y="3346430"/>
            <a:ext cx="539313" cy="304678"/>
          </a:xfrm>
          <a:prstGeom prst="rect">
            <a:avLst/>
          </a:prstGeom>
        </p:spPr>
      </p:pic>
      <p:sp>
        <p:nvSpPr>
          <p:cNvPr id="61" name="Object 61"/>
          <p:cNvSpPr txBox="1"/>
          <p:nvPr/>
        </p:nvSpPr>
        <p:spPr>
          <a:xfrm>
            <a:off x="2514600" y="3746297"/>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62" name="Object 62"/>
          <p:cNvSpPr/>
          <p:nvPr/>
        </p:nvSpPr>
        <p:spPr>
          <a:xfrm>
            <a:off x="2514600" y="3879616"/>
            <a:ext cx="1528785" cy="399867"/>
          </a:xfrm>
          <a:prstGeom prst="rect">
            <a:avLst/>
          </a:prstGeom>
          <a:noFill/>
          <a:ln>
            <a:noFill/>
          </a:ln>
        </p:spPr>
        <p:txBody>
          <a:bodyPr/>
          <a:lstStyle/>
          <a:p>
            <a:endParaRPr/>
          </a:p>
        </p:txBody>
      </p:sp>
      <p:pic>
        <p:nvPicPr>
          <p:cNvPr id="63" name="Object 63" descr="Sentinel Capital Partners"/>
          <p:cNvPicPr>
            <a:picLocks noChangeAspect="1"/>
          </p:cNvPicPr>
          <p:nvPr/>
        </p:nvPicPr>
        <p:blipFill>
          <a:blip r:embed="rId16"/>
          <a:stretch>
            <a:fillRect/>
          </a:stretch>
        </p:blipFill>
        <p:spPr>
          <a:xfrm>
            <a:off x="2743200" y="3927257"/>
            <a:ext cx="1071402" cy="304678"/>
          </a:xfrm>
          <a:prstGeom prst="rect">
            <a:avLst/>
          </a:prstGeom>
        </p:spPr>
      </p:pic>
      <p:sp>
        <p:nvSpPr>
          <p:cNvPr id="64" name="Object 64"/>
          <p:cNvSpPr txBox="1"/>
          <p:nvPr/>
        </p:nvSpPr>
        <p:spPr>
          <a:xfrm>
            <a:off x="2514600" y="4348612"/>
            <a:ext cx="1533540" cy="385785"/>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Object 65"/>
          <p:cNvSpPr txBox="1"/>
          <p:nvPr/>
        </p:nvSpPr>
        <p:spPr>
          <a:xfrm>
            <a:off x="2514600"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66" name="Object 66">
            <a:hlinkClick r:id="rId17"/>
          </p:cNvPr>
          <p:cNvSpPr/>
          <p:nvPr/>
        </p:nvSpPr>
        <p:spPr>
          <a:xfrm>
            <a:off x="4252874" y="3174980"/>
            <a:ext cx="1719255" cy="1822399"/>
          </a:xfrm>
          <a:prstGeom prst="rect">
            <a:avLst/>
          </a:prstGeom>
          <a:solidFill>
            <a:srgbClr val="FAF7F3"/>
          </a:solidFill>
          <a:ln/>
        </p:spPr>
        <p:txBody>
          <a:bodyPr/>
          <a:lstStyle/>
          <a:p>
            <a:endParaRPr/>
          </a:p>
        </p:txBody>
      </p:sp>
      <p:sp>
        <p:nvSpPr>
          <p:cNvPr id="67" name="Object 67"/>
          <p:cNvSpPr/>
          <p:nvPr/>
        </p:nvSpPr>
        <p:spPr>
          <a:xfrm>
            <a:off x="4252874" y="3174980"/>
            <a:ext cx="1719255" cy="28621"/>
          </a:xfrm>
          <a:prstGeom prst="rect">
            <a:avLst/>
          </a:prstGeom>
          <a:solidFill>
            <a:srgbClr val="B68757"/>
          </a:solidFill>
          <a:ln/>
        </p:spPr>
        <p:txBody>
          <a:bodyPr/>
          <a:lstStyle/>
          <a:p>
            <a:endParaRPr/>
          </a:p>
        </p:txBody>
      </p:sp>
      <p:sp>
        <p:nvSpPr>
          <p:cNvPr id="68" name="Object 68"/>
          <p:cNvSpPr/>
          <p:nvPr/>
        </p:nvSpPr>
        <p:spPr>
          <a:xfrm>
            <a:off x="4348155" y="3298789"/>
            <a:ext cx="1528785" cy="400050"/>
          </a:xfrm>
          <a:prstGeom prst="rect">
            <a:avLst/>
          </a:prstGeom>
          <a:noFill/>
          <a:ln>
            <a:noFill/>
          </a:ln>
        </p:spPr>
        <p:txBody>
          <a:bodyPr/>
          <a:lstStyle/>
          <a:p>
            <a:endParaRPr/>
          </a:p>
        </p:txBody>
      </p:sp>
      <p:pic>
        <p:nvPicPr>
          <p:cNvPr id="69" name="Object 69" descr="MartianCraft"/>
          <p:cNvPicPr>
            <a:picLocks noChangeAspect="1"/>
          </p:cNvPicPr>
          <p:nvPr/>
        </p:nvPicPr>
        <p:blipFill>
          <a:blip r:embed="rId18"/>
          <a:stretch>
            <a:fillRect/>
          </a:stretch>
        </p:blipFill>
        <p:spPr>
          <a:xfrm>
            <a:off x="4952573" y="3346430"/>
            <a:ext cx="319949" cy="304678"/>
          </a:xfrm>
          <a:prstGeom prst="rect">
            <a:avLst/>
          </a:prstGeom>
        </p:spPr>
      </p:pic>
      <p:sp>
        <p:nvSpPr>
          <p:cNvPr id="70" name="Object 70"/>
          <p:cNvSpPr txBox="1"/>
          <p:nvPr/>
        </p:nvSpPr>
        <p:spPr>
          <a:xfrm>
            <a:off x="4348155"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71" name="Object 71"/>
          <p:cNvSpPr/>
          <p:nvPr/>
        </p:nvSpPr>
        <p:spPr>
          <a:xfrm>
            <a:off x="4348155" y="3879799"/>
            <a:ext cx="1528785" cy="400050"/>
          </a:xfrm>
          <a:prstGeom prst="rect">
            <a:avLst/>
          </a:prstGeom>
          <a:noFill/>
          <a:ln>
            <a:noFill/>
          </a:ln>
        </p:spPr>
        <p:txBody>
          <a:bodyPr/>
          <a:lstStyle/>
          <a:p>
            <a:endParaRPr/>
          </a:p>
        </p:txBody>
      </p:sp>
      <p:pic>
        <p:nvPicPr>
          <p:cNvPr id="72" name="Object 72" descr="Walnut Capital Partners"/>
          <p:cNvPicPr>
            <a:picLocks noChangeAspect="1"/>
          </p:cNvPicPr>
          <p:nvPr/>
        </p:nvPicPr>
        <p:blipFill>
          <a:blip r:embed="rId19"/>
          <a:stretch>
            <a:fillRect/>
          </a:stretch>
        </p:blipFill>
        <p:spPr>
          <a:xfrm>
            <a:off x="4925050" y="3927439"/>
            <a:ext cx="374904" cy="304678"/>
          </a:xfrm>
          <a:prstGeom prst="rect">
            <a:avLst/>
          </a:prstGeom>
        </p:spPr>
      </p:pic>
      <p:sp>
        <p:nvSpPr>
          <p:cNvPr id="73" name="Object 73"/>
          <p:cNvSpPr txBox="1"/>
          <p:nvPr/>
        </p:nvSpPr>
        <p:spPr>
          <a:xfrm>
            <a:off x="4348155"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Object 74"/>
          <p:cNvSpPr txBox="1"/>
          <p:nvPr/>
        </p:nvSpPr>
        <p:spPr>
          <a:xfrm>
            <a:off x="4348155"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75" name="Object 75">
            <a:hlinkClick r:id="rId20"/>
          </p:cNvPr>
          <p:cNvSpPr/>
          <p:nvPr/>
        </p:nvSpPr>
        <p:spPr>
          <a:xfrm>
            <a:off x="6086521" y="3174980"/>
            <a:ext cx="1719255" cy="1822399"/>
          </a:xfrm>
          <a:prstGeom prst="rect">
            <a:avLst/>
          </a:prstGeom>
          <a:solidFill>
            <a:srgbClr val="FAF7F3"/>
          </a:solidFill>
          <a:ln/>
        </p:spPr>
        <p:txBody>
          <a:bodyPr/>
          <a:lstStyle/>
          <a:p>
            <a:endParaRPr/>
          </a:p>
        </p:txBody>
      </p:sp>
      <p:sp>
        <p:nvSpPr>
          <p:cNvPr id="76" name="Object 76"/>
          <p:cNvSpPr/>
          <p:nvPr/>
        </p:nvSpPr>
        <p:spPr>
          <a:xfrm>
            <a:off x="6086521" y="3174980"/>
            <a:ext cx="1719255" cy="28621"/>
          </a:xfrm>
          <a:prstGeom prst="rect">
            <a:avLst/>
          </a:prstGeom>
          <a:solidFill>
            <a:srgbClr val="B68757"/>
          </a:solidFill>
          <a:ln/>
        </p:spPr>
        <p:txBody>
          <a:bodyPr/>
          <a:lstStyle/>
          <a:p>
            <a:endParaRPr/>
          </a:p>
        </p:txBody>
      </p:sp>
      <p:sp>
        <p:nvSpPr>
          <p:cNvPr id="77" name="Object 77"/>
          <p:cNvSpPr/>
          <p:nvPr/>
        </p:nvSpPr>
        <p:spPr>
          <a:xfrm>
            <a:off x="6181710" y="3298789"/>
            <a:ext cx="1528785" cy="400050"/>
          </a:xfrm>
          <a:prstGeom prst="rect">
            <a:avLst/>
          </a:prstGeom>
          <a:noFill/>
          <a:ln>
            <a:noFill/>
          </a:ln>
        </p:spPr>
        <p:txBody>
          <a:bodyPr/>
          <a:lstStyle/>
          <a:p>
            <a:endParaRPr/>
          </a:p>
        </p:txBody>
      </p:sp>
      <p:pic>
        <p:nvPicPr>
          <p:cNvPr id="78" name="Object 78" descr="SnailWorks"/>
          <p:cNvPicPr>
            <a:picLocks noChangeAspect="1"/>
          </p:cNvPicPr>
          <p:nvPr/>
        </p:nvPicPr>
        <p:blipFill>
          <a:blip r:embed="rId21"/>
          <a:stretch>
            <a:fillRect/>
          </a:stretch>
        </p:blipFill>
        <p:spPr>
          <a:xfrm>
            <a:off x="6313566" y="3346430"/>
            <a:ext cx="1265072" cy="304678"/>
          </a:xfrm>
          <a:prstGeom prst="rect">
            <a:avLst/>
          </a:prstGeom>
        </p:spPr>
      </p:pic>
      <p:sp>
        <p:nvSpPr>
          <p:cNvPr id="79" name="Object 79"/>
          <p:cNvSpPr txBox="1"/>
          <p:nvPr/>
        </p:nvSpPr>
        <p:spPr>
          <a:xfrm>
            <a:off x="6181710"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80" name="Object 80"/>
          <p:cNvSpPr/>
          <p:nvPr/>
        </p:nvSpPr>
        <p:spPr>
          <a:xfrm>
            <a:off x="6181710" y="3879799"/>
            <a:ext cx="1528785" cy="400050"/>
          </a:xfrm>
          <a:prstGeom prst="rect">
            <a:avLst/>
          </a:prstGeom>
          <a:noFill/>
          <a:ln>
            <a:noFill/>
          </a:ln>
        </p:spPr>
        <p:txBody>
          <a:bodyPr/>
          <a:lstStyle/>
          <a:p>
            <a:endParaRPr/>
          </a:p>
        </p:txBody>
      </p:sp>
      <p:pic>
        <p:nvPicPr>
          <p:cNvPr id="81" name="Object 81" descr="Beacon Software"/>
          <p:cNvPicPr>
            <a:picLocks noChangeAspect="1"/>
          </p:cNvPicPr>
          <p:nvPr/>
        </p:nvPicPr>
        <p:blipFill>
          <a:blip r:embed="rId22"/>
          <a:stretch>
            <a:fillRect/>
          </a:stretch>
        </p:blipFill>
        <p:spPr>
          <a:xfrm>
            <a:off x="6267480" y="3952585"/>
            <a:ext cx="1357335" cy="254478"/>
          </a:xfrm>
          <a:prstGeom prst="rect">
            <a:avLst/>
          </a:prstGeom>
        </p:spPr>
      </p:pic>
      <p:sp>
        <p:nvSpPr>
          <p:cNvPr id="82" name="Object 82"/>
          <p:cNvSpPr txBox="1"/>
          <p:nvPr/>
        </p:nvSpPr>
        <p:spPr>
          <a:xfrm>
            <a:off x="6181710"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Object 83"/>
          <p:cNvSpPr txBox="1"/>
          <p:nvPr/>
        </p:nvSpPr>
        <p:spPr>
          <a:xfrm>
            <a:off x="6181710"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84" name="Object 84">
            <a:hlinkClick r:id="rId23"/>
          </p:cNvPr>
          <p:cNvSpPr/>
          <p:nvPr/>
        </p:nvSpPr>
        <p:spPr>
          <a:xfrm>
            <a:off x="7920076" y="3174980"/>
            <a:ext cx="1719255" cy="1822399"/>
          </a:xfrm>
          <a:prstGeom prst="rect">
            <a:avLst/>
          </a:prstGeom>
          <a:solidFill>
            <a:srgbClr val="FAF7F3"/>
          </a:solidFill>
          <a:ln/>
        </p:spPr>
        <p:txBody>
          <a:bodyPr/>
          <a:lstStyle/>
          <a:p>
            <a:endParaRPr/>
          </a:p>
        </p:txBody>
      </p:sp>
      <p:sp>
        <p:nvSpPr>
          <p:cNvPr id="85" name="Object 85"/>
          <p:cNvSpPr/>
          <p:nvPr/>
        </p:nvSpPr>
        <p:spPr>
          <a:xfrm>
            <a:off x="7920076" y="3174980"/>
            <a:ext cx="1719255" cy="28621"/>
          </a:xfrm>
          <a:prstGeom prst="rect">
            <a:avLst/>
          </a:prstGeom>
          <a:solidFill>
            <a:srgbClr val="B68757"/>
          </a:solidFill>
          <a:ln/>
        </p:spPr>
        <p:txBody>
          <a:bodyPr/>
          <a:lstStyle/>
          <a:p>
            <a:endParaRPr/>
          </a:p>
        </p:txBody>
      </p:sp>
      <p:sp>
        <p:nvSpPr>
          <p:cNvPr id="86" name="Object 86"/>
          <p:cNvSpPr/>
          <p:nvPr/>
        </p:nvSpPr>
        <p:spPr>
          <a:xfrm>
            <a:off x="8015265" y="3298789"/>
            <a:ext cx="1528785" cy="400050"/>
          </a:xfrm>
          <a:prstGeom prst="rect">
            <a:avLst/>
          </a:prstGeom>
          <a:noFill/>
          <a:ln>
            <a:noFill/>
          </a:ln>
        </p:spPr>
        <p:txBody>
          <a:bodyPr/>
          <a:lstStyle/>
          <a:p>
            <a:endParaRPr/>
          </a:p>
        </p:txBody>
      </p:sp>
      <p:pic>
        <p:nvPicPr>
          <p:cNvPr id="87" name="Object 87" descr="Total Sales &amp;amp; Marketing"/>
          <p:cNvPicPr>
            <a:picLocks noChangeAspect="1"/>
          </p:cNvPicPr>
          <p:nvPr/>
        </p:nvPicPr>
        <p:blipFill>
          <a:blip r:embed="rId24"/>
          <a:stretch>
            <a:fillRect/>
          </a:stretch>
        </p:blipFill>
        <p:spPr>
          <a:xfrm>
            <a:off x="8405531" y="3346430"/>
            <a:ext cx="748345" cy="304678"/>
          </a:xfrm>
          <a:prstGeom prst="rect">
            <a:avLst/>
          </a:prstGeom>
        </p:spPr>
      </p:pic>
      <p:sp>
        <p:nvSpPr>
          <p:cNvPr id="88" name="Object 88"/>
          <p:cNvSpPr txBox="1"/>
          <p:nvPr/>
        </p:nvSpPr>
        <p:spPr>
          <a:xfrm>
            <a:off x="8015265"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89" name="Object 89"/>
          <p:cNvSpPr/>
          <p:nvPr/>
        </p:nvSpPr>
        <p:spPr>
          <a:xfrm>
            <a:off x="8015265" y="3879799"/>
            <a:ext cx="1528785" cy="400050"/>
          </a:xfrm>
          <a:prstGeom prst="rect">
            <a:avLst/>
          </a:prstGeom>
          <a:noFill/>
          <a:ln>
            <a:noFill/>
          </a:ln>
        </p:spPr>
        <p:txBody>
          <a:bodyPr/>
          <a:lstStyle/>
          <a:p>
            <a:endParaRPr/>
          </a:p>
        </p:txBody>
      </p:sp>
      <p:pic>
        <p:nvPicPr>
          <p:cNvPr id="90" name="Object 90" descr="Retail Rex Capital"/>
          <p:cNvPicPr>
            <a:picLocks noChangeAspect="1"/>
          </p:cNvPicPr>
          <p:nvPr/>
        </p:nvPicPr>
        <p:blipFill>
          <a:blip r:embed="rId25"/>
          <a:stretch>
            <a:fillRect/>
          </a:stretch>
        </p:blipFill>
        <p:spPr>
          <a:xfrm>
            <a:off x="8329910" y="3927439"/>
            <a:ext cx="899495" cy="304678"/>
          </a:xfrm>
          <a:prstGeom prst="rect">
            <a:avLst/>
          </a:prstGeom>
        </p:spPr>
      </p:pic>
      <p:sp>
        <p:nvSpPr>
          <p:cNvPr id="91" name="Object 91"/>
          <p:cNvSpPr txBox="1"/>
          <p:nvPr/>
        </p:nvSpPr>
        <p:spPr>
          <a:xfrm>
            <a:off x="8015265"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Object 92"/>
          <p:cNvSpPr txBox="1"/>
          <p:nvPr/>
        </p:nvSpPr>
        <p:spPr>
          <a:xfrm>
            <a:off x="8015265"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93" name="Object 93">
            <a:hlinkClick r:id="rId26"/>
          </p:cNvPr>
          <p:cNvSpPr/>
          <p:nvPr/>
        </p:nvSpPr>
        <p:spPr>
          <a:xfrm>
            <a:off x="2419320" y="5111679"/>
            <a:ext cx="1719255" cy="1822399"/>
          </a:xfrm>
          <a:prstGeom prst="rect">
            <a:avLst/>
          </a:prstGeom>
          <a:solidFill>
            <a:srgbClr val="FAF7F3"/>
          </a:solidFill>
          <a:ln/>
        </p:spPr>
        <p:txBody>
          <a:bodyPr/>
          <a:lstStyle/>
          <a:p>
            <a:endParaRPr/>
          </a:p>
        </p:txBody>
      </p:sp>
      <p:sp>
        <p:nvSpPr>
          <p:cNvPr id="94" name="Object 94"/>
          <p:cNvSpPr/>
          <p:nvPr/>
        </p:nvSpPr>
        <p:spPr>
          <a:xfrm>
            <a:off x="2419320" y="5111679"/>
            <a:ext cx="1719255" cy="28621"/>
          </a:xfrm>
          <a:prstGeom prst="rect">
            <a:avLst/>
          </a:prstGeom>
          <a:solidFill>
            <a:srgbClr val="B68757"/>
          </a:solidFill>
          <a:ln/>
        </p:spPr>
        <p:txBody>
          <a:bodyPr/>
          <a:lstStyle/>
          <a:p>
            <a:endParaRPr/>
          </a:p>
        </p:txBody>
      </p:sp>
      <p:sp>
        <p:nvSpPr>
          <p:cNvPr id="95" name="Object 95"/>
          <p:cNvSpPr/>
          <p:nvPr/>
        </p:nvSpPr>
        <p:spPr>
          <a:xfrm>
            <a:off x="2514600" y="5235489"/>
            <a:ext cx="1528785" cy="400050"/>
          </a:xfrm>
          <a:prstGeom prst="rect">
            <a:avLst/>
          </a:prstGeom>
          <a:noFill/>
          <a:ln>
            <a:noFill/>
          </a:ln>
        </p:spPr>
        <p:txBody>
          <a:bodyPr/>
          <a:lstStyle/>
          <a:p>
            <a:endParaRPr/>
          </a:p>
        </p:txBody>
      </p:sp>
      <p:sp>
        <p:nvSpPr>
          <p:cNvPr id="97" name="Object 97"/>
          <p:cNvSpPr txBox="1"/>
          <p:nvPr/>
        </p:nvSpPr>
        <p:spPr>
          <a:xfrm>
            <a:off x="2514600"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98" name="Object 98"/>
          <p:cNvSpPr/>
          <p:nvPr/>
        </p:nvSpPr>
        <p:spPr>
          <a:xfrm>
            <a:off x="2514600" y="5816498"/>
            <a:ext cx="1528785" cy="400050"/>
          </a:xfrm>
          <a:prstGeom prst="rect">
            <a:avLst/>
          </a:prstGeom>
          <a:noFill/>
          <a:ln>
            <a:noFill/>
          </a:ln>
        </p:spPr>
        <p:txBody>
          <a:bodyPr/>
          <a:lstStyle/>
          <a:p>
            <a:endParaRPr/>
          </a:p>
        </p:txBody>
      </p:sp>
      <p:sp>
        <p:nvSpPr>
          <p:cNvPr id="100" name="Object 100"/>
          <p:cNvSpPr txBox="1"/>
          <p:nvPr/>
        </p:nvSpPr>
        <p:spPr>
          <a:xfrm>
            <a:off x="2514600"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Object 101"/>
          <p:cNvSpPr txBox="1"/>
          <p:nvPr/>
        </p:nvSpPr>
        <p:spPr>
          <a:xfrm>
            <a:off x="2514600"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ENGINEERING &amp; ARCHITECTURE</a:t>
            </a:r>
            <a:endParaRPr lang="en-US" sz="550" dirty="0"/>
          </a:p>
        </p:txBody>
      </p:sp>
      <p:sp>
        <p:nvSpPr>
          <p:cNvPr id="102" name="Object 102">
            <a:hlinkClick r:id="rId27"/>
          </p:cNvPr>
          <p:cNvSpPr/>
          <p:nvPr/>
        </p:nvSpPr>
        <p:spPr>
          <a:xfrm>
            <a:off x="4252874" y="5111679"/>
            <a:ext cx="1719255" cy="1822399"/>
          </a:xfrm>
          <a:prstGeom prst="rect">
            <a:avLst/>
          </a:prstGeom>
          <a:solidFill>
            <a:srgbClr val="FAF7F3"/>
          </a:solidFill>
          <a:ln/>
        </p:spPr>
        <p:txBody>
          <a:bodyPr/>
          <a:lstStyle/>
          <a:p>
            <a:endParaRPr/>
          </a:p>
        </p:txBody>
      </p:sp>
      <p:sp>
        <p:nvSpPr>
          <p:cNvPr id="103" name="Object 103"/>
          <p:cNvSpPr/>
          <p:nvPr/>
        </p:nvSpPr>
        <p:spPr>
          <a:xfrm>
            <a:off x="4252874" y="5111679"/>
            <a:ext cx="1719255" cy="28621"/>
          </a:xfrm>
          <a:prstGeom prst="rect">
            <a:avLst/>
          </a:prstGeom>
          <a:solidFill>
            <a:srgbClr val="B68757"/>
          </a:solidFill>
          <a:ln/>
        </p:spPr>
        <p:txBody>
          <a:bodyPr/>
          <a:lstStyle/>
          <a:p>
            <a:endParaRPr/>
          </a:p>
        </p:txBody>
      </p:sp>
      <p:sp>
        <p:nvSpPr>
          <p:cNvPr id="104" name="Object 104"/>
          <p:cNvSpPr/>
          <p:nvPr/>
        </p:nvSpPr>
        <p:spPr>
          <a:xfrm>
            <a:off x="4348155" y="5235489"/>
            <a:ext cx="1528785" cy="400050"/>
          </a:xfrm>
          <a:prstGeom prst="rect">
            <a:avLst/>
          </a:prstGeom>
          <a:noFill/>
          <a:ln>
            <a:noFill/>
          </a:ln>
        </p:spPr>
        <p:txBody>
          <a:bodyPr/>
          <a:lstStyle/>
          <a:p>
            <a:endParaRPr/>
          </a:p>
        </p:txBody>
      </p:sp>
      <p:sp>
        <p:nvSpPr>
          <p:cNvPr id="105" name="Object 105"/>
          <p:cNvSpPr txBox="1"/>
          <p:nvPr/>
        </p:nvSpPr>
        <p:spPr>
          <a:xfrm>
            <a:off x="4433926" y="5333147"/>
            <a:ext cx="1362090" cy="200071"/>
          </a:xfrm>
          <a:prstGeom prst="rect">
            <a:avLst/>
          </a:prstGeom>
          <a:noFill/>
          <a:ln/>
        </p:spPr>
        <p:txBody>
          <a:bodyPr wrap="square" lIns="0" tIns="0" rIns="0" bIns="0" rtlCol="0" anchor="t"/>
          <a:lstStyle/>
          <a:p>
            <a:pPr marL="0" indent="0" algn="ctr">
              <a:lnSpc>
                <a:spcPts val="800"/>
              </a:lnSpc>
              <a:buNone/>
            </a:pPr>
            <a:r>
              <a:rPr lang="en-US" sz="550" b="1" kern="0" spc="100" dirty="0">
                <a:solidFill>
                  <a:srgbClr val="1B1A1A"/>
                </a:solidFill>
                <a:latin typeface="+mn-lt" pitchFamily="34" charset="0"/>
              </a:rPr>
              <a:t>ENGINEERED BUILDING SYSTEMS</a:t>
            </a:r>
            <a:endParaRPr lang="en-US" sz="550" dirty="0"/>
          </a:p>
        </p:txBody>
      </p:sp>
      <p:sp>
        <p:nvSpPr>
          <p:cNvPr id="106" name="Object 106"/>
          <p:cNvSpPr txBox="1"/>
          <p:nvPr/>
        </p:nvSpPr>
        <p:spPr>
          <a:xfrm>
            <a:off x="4348155"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07" name="Object 107"/>
          <p:cNvSpPr/>
          <p:nvPr/>
        </p:nvSpPr>
        <p:spPr>
          <a:xfrm>
            <a:off x="4348155" y="5816498"/>
            <a:ext cx="1528785" cy="400050"/>
          </a:xfrm>
          <a:prstGeom prst="rect">
            <a:avLst/>
          </a:prstGeom>
          <a:noFill/>
          <a:ln>
            <a:noFill/>
          </a:ln>
        </p:spPr>
        <p:txBody>
          <a:bodyPr/>
          <a:lstStyle/>
          <a:p>
            <a:endParaRPr/>
          </a:p>
        </p:txBody>
      </p:sp>
      <p:sp>
        <p:nvSpPr>
          <p:cNvPr id="109" name="Object 109"/>
          <p:cNvSpPr txBox="1"/>
          <p:nvPr/>
        </p:nvSpPr>
        <p:spPr>
          <a:xfrm>
            <a:off x="4348155" y="6285586"/>
            <a:ext cx="1533540" cy="385785"/>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Object 110"/>
          <p:cNvSpPr txBox="1"/>
          <p:nvPr/>
        </p:nvSpPr>
        <p:spPr>
          <a:xfrm>
            <a:off x="4348155"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ENGINEERING &amp; ARCHITECTURE</a:t>
            </a:r>
            <a:endParaRPr lang="en-US" sz="550" dirty="0"/>
          </a:p>
        </p:txBody>
      </p:sp>
      <p:sp>
        <p:nvSpPr>
          <p:cNvPr id="111" name="Object 111">
            <a:hlinkClick r:id="rId28"/>
          </p:cNvPr>
          <p:cNvSpPr/>
          <p:nvPr/>
        </p:nvSpPr>
        <p:spPr>
          <a:xfrm>
            <a:off x="6086521" y="5111679"/>
            <a:ext cx="1719255" cy="1822399"/>
          </a:xfrm>
          <a:prstGeom prst="rect">
            <a:avLst/>
          </a:prstGeom>
          <a:solidFill>
            <a:srgbClr val="FAF7F3"/>
          </a:solidFill>
          <a:ln/>
        </p:spPr>
        <p:txBody>
          <a:bodyPr/>
          <a:lstStyle/>
          <a:p>
            <a:endParaRPr/>
          </a:p>
        </p:txBody>
      </p:sp>
      <p:sp>
        <p:nvSpPr>
          <p:cNvPr id="112" name="Object 112"/>
          <p:cNvSpPr/>
          <p:nvPr/>
        </p:nvSpPr>
        <p:spPr>
          <a:xfrm>
            <a:off x="6086521" y="5111679"/>
            <a:ext cx="1719255" cy="28621"/>
          </a:xfrm>
          <a:prstGeom prst="rect">
            <a:avLst/>
          </a:prstGeom>
          <a:solidFill>
            <a:srgbClr val="B68757"/>
          </a:solidFill>
          <a:ln/>
        </p:spPr>
        <p:txBody>
          <a:bodyPr/>
          <a:lstStyle/>
          <a:p>
            <a:endParaRPr/>
          </a:p>
        </p:txBody>
      </p:sp>
      <p:sp>
        <p:nvSpPr>
          <p:cNvPr id="113" name="Object 113"/>
          <p:cNvSpPr/>
          <p:nvPr/>
        </p:nvSpPr>
        <p:spPr>
          <a:xfrm>
            <a:off x="6181710" y="5235489"/>
            <a:ext cx="1528785" cy="400050"/>
          </a:xfrm>
          <a:prstGeom prst="rect">
            <a:avLst/>
          </a:prstGeom>
          <a:noFill/>
          <a:ln>
            <a:noFill/>
          </a:ln>
        </p:spPr>
        <p:txBody>
          <a:bodyPr/>
          <a:lstStyle/>
          <a:p>
            <a:endParaRPr/>
          </a:p>
        </p:txBody>
      </p:sp>
      <p:sp>
        <p:nvSpPr>
          <p:cNvPr id="115" name="Object 115"/>
          <p:cNvSpPr txBox="1"/>
          <p:nvPr/>
        </p:nvSpPr>
        <p:spPr>
          <a:xfrm>
            <a:off x="6181710"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16" name="Object 116"/>
          <p:cNvSpPr/>
          <p:nvPr/>
        </p:nvSpPr>
        <p:spPr>
          <a:xfrm>
            <a:off x="6181710" y="5816498"/>
            <a:ext cx="1528785" cy="400050"/>
          </a:xfrm>
          <a:prstGeom prst="rect">
            <a:avLst/>
          </a:prstGeom>
          <a:noFill/>
          <a:ln>
            <a:noFill/>
          </a:ln>
        </p:spPr>
        <p:txBody>
          <a:bodyPr/>
          <a:lstStyle/>
          <a:p>
            <a:endParaRPr/>
          </a:p>
        </p:txBody>
      </p:sp>
      <p:sp>
        <p:nvSpPr>
          <p:cNvPr id="118" name="Object 118"/>
          <p:cNvSpPr txBox="1"/>
          <p:nvPr/>
        </p:nvSpPr>
        <p:spPr>
          <a:xfrm>
            <a:off x="6181710"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Object 119"/>
          <p:cNvSpPr txBox="1"/>
          <p:nvPr/>
        </p:nvSpPr>
        <p:spPr>
          <a:xfrm>
            <a:off x="6181710"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FINANCIAL &amp; INSURANCE</a:t>
            </a:r>
            <a:endParaRPr lang="en-US" sz="550" dirty="0"/>
          </a:p>
        </p:txBody>
      </p:sp>
      <p:sp>
        <p:nvSpPr>
          <p:cNvPr id="120" name="Object 120">
            <a:hlinkClick r:id="rId29"/>
          </p:cNvPr>
          <p:cNvSpPr/>
          <p:nvPr/>
        </p:nvSpPr>
        <p:spPr>
          <a:xfrm>
            <a:off x="7920076" y="5111679"/>
            <a:ext cx="1719255" cy="1822399"/>
          </a:xfrm>
          <a:prstGeom prst="rect">
            <a:avLst/>
          </a:prstGeom>
          <a:solidFill>
            <a:srgbClr val="FAF7F3"/>
          </a:solidFill>
          <a:ln/>
        </p:spPr>
        <p:txBody>
          <a:bodyPr/>
          <a:lstStyle/>
          <a:p>
            <a:endParaRPr/>
          </a:p>
        </p:txBody>
      </p:sp>
      <p:sp>
        <p:nvSpPr>
          <p:cNvPr id="121" name="Object 121"/>
          <p:cNvSpPr/>
          <p:nvPr/>
        </p:nvSpPr>
        <p:spPr>
          <a:xfrm>
            <a:off x="7920076" y="5111679"/>
            <a:ext cx="1719255" cy="28621"/>
          </a:xfrm>
          <a:prstGeom prst="rect">
            <a:avLst/>
          </a:prstGeom>
          <a:solidFill>
            <a:srgbClr val="B68757"/>
          </a:solidFill>
          <a:ln/>
        </p:spPr>
        <p:txBody>
          <a:bodyPr/>
          <a:lstStyle/>
          <a:p>
            <a:endParaRPr/>
          </a:p>
        </p:txBody>
      </p:sp>
      <p:sp>
        <p:nvSpPr>
          <p:cNvPr id="122" name="Object 122"/>
          <p:cNvSpPr/>
          <p:nvPr/>
        </p:nvSpPr>
        <p:spPr>
          <a:xfrm>
            <a:off x="8015265" y="5235489"/>
            <a:ext cx="1528785" cy="400050"/>
          </a:xfrm>
          <a:prstGeom prst="rect">
            <a:avLst/>
          </a:prstGeom>
          <a:noFill/>
          <a:ln>
            <a:noFill/>
          </a:ln>
        </p:spPr>
        <p:txBody>
          <a:bodyPr/>
          <a:lstStyle/>
          <a:p>
            <a:endParaRPr/>
          </a:p>
        </p:txBody>
      </p:sp>
      <p:sp>
        <p:nvSpPr>
          <p:cNvPr id="124" name="Object 124"/>
          <p:cNvSpPr txBox="1"/>
          <p:nvPr/>
        </p:nvSpPr>
        <p:spPr>
          <a:xfrm>
            <a:off x="8015265"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25" name="Object 125"/>
          <p:cNvSpPr/>
          <p:nvPr/>
        </p:nvSpPr>
        <p:spPr>
          <a:xfrm>
            <a:off x="8015265" y="5816498"/>
            <a:ext cx="1528785" cy="400050"/>
          </a:xfrm>
          <a:prstGeom prst="rect">
            <a:avLst/>
          </a:prstGeom>
          <a:noFill/>
          <a:ln>
            <a:noFill/>
          </a:ln>
        </p:spPr>
        <p:txBody>
          <a:bodyPr/>
          <a:lstStyle/>
          <a:p>
            <a:endParaRPr/>
          </a:p>
        </p:txBody>
      </p:sp>
      <p:sp>
        <p:nvSpPr>
          <p:cNvPr id="127" name="Object 127"/>
          <p:cNvSpPr txBox="1"/>
          <p:nvPr/>
        </p:nvSpPr>
        <p:spPr>
          <a:xfrm>
            <a:off x="8015265"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Object 128"/>
          <p:cNvSpPr txBox="1"/>
          <p:nvPr/>
        </p:nvSpPr>
        <p:spPr>
          <a:xfrm>
            <a:off x="8015265"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STAFFING &amp; HUMAN CAPITAL</a:t>
            </a:r>
            <a:endParaRPr lang="en-US" sz="550" dirty="0"/>
          </a:p>
        </p:txBody>
      </p:sp>
      <p:sp>
        <p:nvSpPr>
          <p:cNvPr id="129" name="Object 129"/>
          <p:cNvSpPr/>
          <p:nvPr/>
        </p:nvSpPr>
        <p:spPr>
          <a:xfrm>
            <a:off x="419070" y="7029450"/>
            <a:ext cx="9220170" cy="9510"/>
          </a:xfrm>
          <a:prstGeom prst="ellipse">
            <a:avLst/>
          </a:prstGeom>
          <a:solidFill>
            <a:srgbClr val="E3DCD3"/>
          </a:solidFill>
          <a:ln/>
        </p:spPr>
        <p:txBody>
          <a:bodyPr/>
          <a:lstStyle/>
          <a:p>
            <a:endParaRPr/>
          </a:p>
        </p:txBody>
      </p:sp>
      <p:pic>
        <p:nvPicPr>
          <p:cNvPr id="130" name="Object 130" descr="Benchmark International"/>
          <p:cNvPicPr>
            <a:picLocks noChangeAspect="1"/>
          </p:cNvPicPr>
          <p:nvPr/>
        </p:nvPicPr>
        <p:blipFill>
          <a:blip r:embed="rId30"/>
          <a:stretch>
            <a:fillRect/>
          </a:stretch>
        </p:blipFill>
        <p:spPr>
          <a:xfrm>
            <a:off x="419070" y="7143750"/>
            <a:ext cx="914400" cy="171450"/>
          </a:xfrm>
          <a:prstGeom prst="rect">
            <a:avLst/>
          </a:prstGeom>
        </p:spPr>
      </p:pic>
      <p:sp>
        <p:nvSpPr>
          <p:cNvPr id="131" name="Object 131"/>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Each tile links to the announcement on benchmarkintl.com. Twelve of the 44 named transactions are shown. Transactions closed in the 24 months to September 2026.</a:t>
            </a:r>
            <a:endParaRPr lang="en-US" sz="700" dirty="0"/>
          </a:p>
        </p:txBody>
      </p:sp>
      <p:sp>
        <p:nvSpPr>
          <p:cNvPr id="132" name="Object 132"/>
          <p:cNvSpPr txBox="1"/>
          <p:nvPr/>
        </p:nvSpPr>
        <p:spPr>
          <a:xfrm>
            <a:off x="9510400" y="7162770"/>
            <a:ext cx="13332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13</a:t>
            </a:r>
            <a:endParaRPr lang="en-US" sz="700" dirty="0"/>
          </a:p>
        </p:txBody>
      </p:sp>
      <p:pic>
        <p:nvPicPr>
          <p:cNvPr id="133" name="Object 133" descr="Briggs logo"/>
          <p:cNvPicPr>
            <a:picLocks noChangeAspect="1"/>
          </p:cNvPicPr>
          <p:nvPr/>
        </p:nvPicPr>
        <p:blipFill>
          <a:blip r:embed="rId31"/>
          <a:stretch>
            <a:fillRect/>
          </a:stretch>
        </p:blipFill>
        <p:spPr>
          <a:xfrm>
            <a:off x="8639123" y="1430098"/>
            <a:ext cx="281067" cy="264033"/>
          </a:xfrm>
          <a:prstGeom prst="rect">
            <a:avLst/>
          </a:prstGeom>
        </p:spPr>
      </p:pic>
      <p:pic>
        <p:nvPicPr>
          <p:cNvPr id="134" name="Object 134" descr="Phenna Group logo"/>
          <p:cNvPicPr>
            <a:picLocks noChangeAspect="1"/>
          </p:cNvPicPr>
          <p:nvPr/>
        </p:nvPicPr>
        <p:blipFill>
          <a:blip r:embed="rId32"/>
          <a:stretch>
            <a:fillRect/>
          </a:stretch>
        </p:blipFill>
        <p:spPr>
          <a:xfrm>
            <a:off x="8321796" y="2011108"/>
            <a:ext cx="915721" cy="264033"/>
          </a:xfrm>
          <a:prstGeom prst="rect">
            <a:avLst/>
          </a:prstGeom>
        </p:spPr>
      </p:pic>
      <p:pic>
        <p:nvPicPr>
          <p:cNvPr id="135" name="Object 135" descr="SJB Group logo"/>
          <p:cNvPicPr>
            <a:picLocks noChangeAspect="1"/>
          </p:cNvPicPr>
          <p:nvPr/>
        </p:nvPicPr>
        <p:blipFill>
          <a:blip r:embed="rId33"/>
          <a:stretch>
            <a:fillRect/>
          </a:stretch>
        </p:blipFill>
        <p:spPr>
          <a:xfrm>
            <a:off x="2736458" y="5303497"/>
            <a:ext cx="1085067" cy="264033"/>
          </a:xfrm>
          <a:prstGeom prst="rect">
            <a:avLst/>
          </a:prstGeom>
        </p:spPr>
      </p:pic>
      <p:pic>
        <p:nvPicPr>
          <p:cNvPr id="136" name="Object 136" descr="SAM logo"/>
          <p:cNvPicPr>
            <a:picLocks noChangeAspect="1"/>
          </p:cNvPicPr>
          <p:nvPr/>
        </p:nvPicPr>
        <p:blipFill>
          <a:blip r:embed="rId34"/>
          <a:stretch>
            <a:fillRect/>
          </a:stretch>
        </p:blipFill>
        <p:spPr>
          <a:xfrm>
            <a:off x="2927641" y="5884506"/>
            <a:ext cx="702702" cy="264033"/>
          </a:xfrm>
          <a:prstGeom prst="rect">
            <a:avLst/>
          </a:prstGeom>
        </p:spPr>
      </p:pic>
      <p:pic>
        <p:nvPicPr>
          <p:cNvPr id="137" name="Object 137" descr="RTM Engineering Consultants logo"/>
          <p:cNvPicPr>
            <a:picLocks noChangeAspect="1"/>
          </p:cNvPicPr>
          <p:nvPr/>
        </p:nvPicPr>
        <p:blipFill>
          <a:blip r:embed="rId35"/>
          <a:stretch>
            <a:fillRect/>
          </a:stretch>
        </p:blipFill>
        <p:spPr>
          <a:xfrm>
            <a:off x="4648705" y="5884506"/>
            <a:ext cx="927683" cy="264033"/>
          </a:xfrm>
          <a:prstGeom prst="rect">
            <a:avLst/>
          </a:prstGeom>
        </p:spPr>
      </p:pic>
      <p:pic>
        <p:nvPicPr>
          <p:cNvPr id="138" name="Object 138" descr="Altair logo"/>
          <p:cNvPicPr>
            <a:picLocks noChangeAspect="1"/>
          </p:cNvPicPr>
          <p:nvPr/>
        </p:nvPicPr>
        <p:blipFill>
          <a:blip r:embed="rId36"/>
          <a:stretch>
            <a:fillRect/>
          </a:stretch>
        </p:blipFill>
        <p:spPr>
          <a:xfrm>
            <a:off x="6699240" y="5303497"/>
            <a:ext cx="493723" cy="264033"/>
          </a:xfrm>
          <a:prstGeom prst="rect">
            <a:avLst/>
          </a:prstGeom>
        </p:spPr>
      </p:pic>
      <p:pic>
        <p:nvPicPr>
          <p:cNvPr id="139" name="Object 139" descr="Centri logo"/>
          <p:cNvPicPr>
            <a:picLocks noChangeAspect="1"/>
          </p:cNvPicPr>
          <p:nvPr/>
        </p:nvPicPr>
        <p:blipFill>
          <a:blip r:embed="rId37"/>
          <a:stretch>
            <a:fillRect/>
          </a:stretch>
        </p:blipFill>
        <p:spPr>
          <a:xfrm>
            <a:off x="6628896" y="5884506"/>
            <a:ext cx="634412" cy="264033"/>
          </a:xfrm>
          <a:prstGeom prst="rect">
            <a:avLst/>
          </a:prstGeom>
        </p:spPr>
      </p:pic>
      <p:pic>
        <p:nvPicPr>
          <p:cNvPr id="140" name="Object 140" descr="Mokavia Aerospace logo"/>
          <p:cNvPicPr>
            <a:picLocks noChangeAspect="1"/>
          </p:cNvPicPr>
          <p:nvPr/>
        </p:nvPicPr>
        <p:blipFill>
          <a:blip r:embed="rId38"/>
          <a:stretch>
            <a:fillRect/>
          </a:stretch>
        </p:blipFill>
        <p:spPr>
          <a:xfrm>
            <a:off x="8287654" y="5303497"/>
            <a:ext cx="984005" cy="264033"/>
          </a:xfrm>
          <a:prstGeom prst="rect">
            <a:avLst/>
          </a:prstGeom>
        </p:spPr>
      </p:pic>
      <p:pic>
        <p:nvPicPr>
          <p:cNvPr id="141" name="Object 141" descr="Hi-Tek Professionals logo"/>
          <p:cNvPicPr>
            <a:picLocks noChangeAspect="1"/>
          </p:cNvPicPr>
          <p:nvPr/>
        </p:nvPicPr>
        <p:blipFill>
          <a:blip r:embed="rId39"/>
          <a:stretch>
            <a:fillRect/>
          </a:stretch>
        </p:blipFill>
        <p:spPr>
          <a:xfrm>
            <a:off x="8581237" y="5884506"/>
            <a:ext cx="396840" cy="2640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357585"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Public Companies: Valuation</a:t>
            </a:r>
            <a:endParaRPr lang="en-US" sz="2050" dirty="0"/>
          </a:p>
        </p:txBody>
      </p:sp>
      <p:sp>
        <p:nvSpPr>
          <p:cNvPr id="6" name="Object 6"/>
          <p:cNvSpPr txBox="1"/>
          <p:nvPr/>
        </p:nvSpPr>
        <p:spPr>
          <a:xfrm>
            <a:off x="419070" y="883402"/>
            <a:ext cx="675631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Listed peers by sector, priced at the October 16, 2026 close</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762220" cy="3810030"/>
          </a:xfrm>
          <a:prstGeom prst="rect">
            <a:avLst/>
          </a:prstGeom>
          <a:solidFill>
            <a:srgbClr val="FAF7F3"/>
          </a:solidFill>
          <a:ln/>
        </p:spPr>
        <p:txBody>
          <a:bodyPr/>
          <a:lstStyle/>
          <a:p>
            <a:endParaRPr/>
          </a:p>
        </p:txBody>
      </p:sp>
      <p:sp>
        <p:nvSpPr>
          <p:cNvPr id="9" name="Object 9"/>
          <p:cNvSpPr/>
          <p:nvPr/>
        </p:nvSpPr>
        <p:spPr>
          <a:xfrm>
            <a:off x="419070" y="1238280"/>
            <a:ext cx="2762220" cy="28621"/>
          </a:xfrm>
          <a:prstGeom prst="rect">
            <a:avLst/>
          </a:prstGeom>
          <a:solidFill>
            <a:srgbClr val="B68757"/>
          </a:solidFill>
          <a:ln/>
        </p:spPr>
        <p:txBody>
          <a:bodyPr/>
          <a:lstStyle/>
          <a:p>
            <a:endParaRPr/>
          </a:p>
        </p:txBody>
      </p:sp>
      <p:sp>
        <p:nvSpPr>
          <p:cNvPr id="10" name="Object 10"/>
          <p:cNvSpPr txBox="1"/>
          <p:nvPr/>
        </p:nvSpPr>
        <p:spPr>
          <a:xfrm>
            <a:off x="571500" y="1378732"/>
            <a:ext cx="211080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Object 11"/>
          <p:cNvSpPr txBox="1"/>
          <p:nvPr/>
        </p:nvSpPr>
        <p:spPr>
          <a:xfrm>
            <a:off x="571500" y="1550182"/>
            <a:ext cx="2165756"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Object 12"/>
          <p:cNvGraphicFramePr/>
          <p:nvPr>
            <p:extLst>
              <p:ext uri="{D42A27DB-BD31-4B8C-83A1-F6EECF244321}"/>
            </p:extLst>
          </p:nvPr>
        </p:nvGraphicFramePr>
        <p:xfrm>
          <a:off x="571500" y="1771650"/>
          <a:ext cx="2438430" cy="2190720"/>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571500" y="4314871"/>
            <a:ext cx="2457450" cy="9510"/>
          </a:xfrm>
          <a:prstGeom prst="rect">
            <a:avLst/>
          </a:prstGeom>
          <a:solidFill>
            <a:srgbClr val="E3DCD3"/>
          </a:solidFill>
          <a:ln/>
        </p:spPr>
        <p:txBody>
          <a:bodyPr/>
          <a:lstStyle/>
          <a:p>
            <a:endParaRPr/>
          </a:p>
        </p:txBody>
      </p:sp>
      <p:sp>
        <p:nvSpPr>
          <p:cNvPr id="14" name="Object 14"/>
          <p:cNvSpPr txBox="1"/>
          <p:nvPr/>
        </p:nvSpPr>
        <p:spPr>
          <a:xfrm>
            <a:off x="571500" y="4383908"/>
            <a:ext cx="245745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Shares rose over the year at 7 of 11 commercial and facility, 6 of 9 marketing, 1 of 8 engineering, 3 of 9 financial and insurance and 7 of 10 staffing companies.</a:t>
            </a:r>
            <a:endParaRPr lang="en-US" sz="750" dirty="0"/>
          </a:p>
        </p:txBody>
      </p:sp>
      <p:sp>
        <p:nvSpPr>
          <p:cNvPr id="15" name="Object 15"/>
          <p:cNvSpPr/>
          <p:nvPr/>
        </p:nvSpPr>
        <p:spPr>
          <a:xfrm>
            <a:off x="3314700" y="1238280"/>
            <a:ext cx="3943350" cy="3810030"/>
          </a:xfrm>
          <a:prstGeom prst="rect">
            <a:avLst/>
          </a:prstGeom>
          <a:solidFill>
            <a:srgbClr val="FAF7F3"/>
          </a:solidFill>
          <a:ln/>
        </p:spPr>
        <p:txBody>
          <a:bodyPr/>
          <a:lstStyle/>
          <a:p>
            <a:endParaRPr/>
          </a:p>
        </p:txBody>
      </p:sp>
      <p:sp>
        <p:nvSpPr>
          <p:cNvPr id="16" name="Object 16"/>
          <p:cNvSpPr/>
          <p:nvPr/>
        </p:nvSpPr>
        <p:spPr>
          <a:xfrm>
            <a:off x="3314700" y="1238280"/>
            <a:ext cx="3943350" cy="28621"/>
          </a:xfrm>
          <a:prstGeom prst="rect">
            <a:avLst/>
          </a:prstGeom>
          <a:solidFill>
            <a:srgbClr val="B68757"/>
          </a:solidFill>
          <a:ln/>
        </p:spPr>
        <p:txBody>
          <a:bodyPr/>
          <a:lstStyle/>
          <a:p>
            <a:endParaRPr/>
          </a:p>
        </p:txBody>
      </p:sp>
      <p:sp>
        <p:nvSpPr>
          <p:cNvPr id="17" name="Object 17"/>
          <p:cNvSpPr txBox="1"/>
          <p:nvPr/>
        </p:nvSpPr>
        <p:spPr>
          <a:xfrm>
            <a:off x="3467130" y="1378732"/>
            <a:ext cx="2106960"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Object 18"/>
          <p:cNvSpPr txBox="1"/>
          <p:nvPr/>
        </p:nvSpPr>
        <p:spPr>
          <a:xfrm>
            <a:off x="3467130" y="1550182"/>
            <a:ext cx="363858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Median multiple a year ago, today, and over three years, same companies at each point (11, 9, 7, 8, 7 companies)</a:t>
            </a:r>
            <a:endParaRPr lang="en-US" sz="700" dirty="0"/>
          </a:p>
        </p:txBody>
      </p:sp>
      <p:graphicFrame>
        <p:nvGraphicFramePr>
          <p:cNvPr id="19" name="Object 19"/>
          <p:cNvGraphicFramePr/>
          <p:nvPr/>
        </p:nvGraphicFramePr>
        <p:xfrm>
          <a:off x="3467130" y="1900215"/>
          <a:ext cx="3543300" cy="2762220"/>
        </p:xfrm>
        <a:graphic>
          <a:graphicData uri="http://schemas.openxmlformats.org/drawingml/2006/chart">
            <c:chart xmlns:c="http://schemas.openxmlformats.org/drawingml/2006/chart" xmlns:r="http://schemas.openxmlformats.org/officeDocument/2006/relationships" r:id="rId4"/>
          </a:graphicData>
        </a:graphic>
      </p:graphicFrame>
      <p:sp>
        <p:nvSpPr>
          <p:cNvPr id="20" name="Object 20"/>
          <p:cNvSpPr/>
          <p:nvPr/>
        </p:nvSpPr>
        <p:spPr>
          <a:xfrm>
            <a:off x="3467130" y="4729185"/>
            <a:ext cx="3638580" cy="9510"/>
          </a:xfrm>
          <a:prstGeom prst="rect">
            <a:avLst/>
          </a:prstGeom>
          <a:solidFill>
            <a:srgbClr val="E3DCD3"/>
          </a:solidFill>
          <a:ln/>
        </p:spPr>
        <p:txBody>
          <a:bodyPr/>
          <a:lstStyle/>
          <a:p>
            <a:endParaRPr/>
          </a:p>
        </p:txBody>
      </p:sp>
      <p:sp>
        <p:nvSpPr>
          <p:cNvPr id="21" name="Object 21"/>
          <p:cNvSpPr txBox="1"/>
          <p:nvPr/>
        </p:nvSpPr>
        <p:spPr>
          <a:xfrm>
            <a:off x="3467130" y="4798223"/>
            <a:ext cx="3445551" cy="276148"/>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25 of the 42 companies trade below their own three-year median multiple; marketing is the one sector above its year-ago and three-year medians.</a:t>
            </a:r>
            <a:endParaRPr lang="en-US" sz="750" dirty="0"/>
          </a:p>
        </p:txBody>
      </p:sp>
      <p:sp>
        <p:nvSpPr>
          <p:cNvPr id="22" name="Object 22"/>
          <p:cNvSpPr/>
          <p:nvPr/>
        </p:nvSpPr>
        <p:spPr>
          <a:xfrm>
            <a:off x="7391370" y="1238280"/>
            <a:ext cx="2247870" cy="3810030"/>
          </a:xfrm>
          <a:prstGeom prst="rect">
            <a:avLst/>
          </a:prstGeom>
          <a:solidFill>
            <a:srgbClr val="1B1A1A"/>
          </a:solidFill>
          <a:ln/>
        </p:spPr>
        <p:txBody>
          <a:bodyPr/>
          <a:lstStyle/>
          <a:p>
            <a:endParaRPr/>
          </a:p>
        </p:txBody>
      </p:sp>
      <p:sp>
        <p:nvSpPr>
          <p:cNvPr id="23" name="Object 23"/>
          <p:cNvSpPr txBox="1"/>
          <p:nvPr/>
        </p:nvSpPr>
        <p:spPr>
          <a:xfrm>
            <a:off x="7543800" y="1371600"/>
            <a:ext cx="1943100" cy="247620"/>
          </a:xfrm>
          <a:prstGeom prst="rect">
            <a:avLst/>
          </a:prstGeom>
          <a:noFill/>
          <a:ln/>
        </p:spPr>
        <p:txBody>
          <a:bodyPr wrap="square" lIns="0" tIns="0" rIns="0" bIns="0" rtlCol="0" anchor="t"/>
          <a:lstStyle/>
          <a:p>
            <a:pPr marL="0" indent="0" algn="l">
              <a:lnSpc>
                <a:spcPts val="1000"/>
              </a:lnSpc>
              <a:buNone/>
            </a:pPr>
            <a:r>
              <a:rPr lang="en-US" sz="700" b="1" kern="0" spc="150" dirty="0">
                <a:solidFill>
                  <a:srgbClr val="D3AE84"/>
                </a:solidFill>
                <a:latin typeface="+mn-lt" pitchFamily="34" charset="0"/>
              </a:rPr>
              <a:t>PRIVATE-DEAL REFERENCE POINTS</a:t>
            </a:r>
            <a:endParaRPr lang="en-US" sz="700" dirty="0"/>
          </a:p>
        </p:txBody>
      </p:sp>
      <p:sp>
        <p:nvSpPr>
          <p:cNvPr id="24" name="Object 24"/>
          <p:cNvSpPr/>
          <p:nvPr/>
        </p:nvSpPr>
        <p:spPr>
          <a:xfrm>
            <a:off x="7543800" y="1695480"/>
            <a:ext cx="1943100" cy="9510"/>
          </a:xfrm>
          <a:prstGeom prst="rect">
            <a:avLst/>
          </a:prstGeom>
          <a:solidFill>
            <a:srgbClr val="FFFFFF">
              <a:alpha val="16000"/>
            </a:srgbClr>
          </a:solidFill>
          <a:ln/>
        </p:spPr>
        <p:txBody>
          <a:bodyPr/>
          <a:lstStyle/>
          <a:p>
            <a:endParaRPr/>
          </a:p>
        </p:txBody>
      </p:sp>
      <p:sp>
        <p:nvSpPr>
          <p:cNvPr id="25" name="Object 25"/>
          <p:cNvSpPr txBox="1"/>
          <p:nvPr/>
        </p:nvSpPr>
        <p:spPr>
          <a:xfrm>
            <a:off x="7543800" y="1785915"/>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7.0x</a:t>
            </a:r>
            <a:endParaRPr lang="en-US" sz="1950" dirty="0"/>
          </a:p>
        </p:txBody>
      </p:sp>
      <p:sp>
        <p:nvSpPr>
          <p:cNvPr id="26" name="Object 26"/>
          <p:cNvSpPr txBox="1"/>
          <p:nvPr/>
        </p:nvSpPr>
        <p:spPr>
          <a:xfrm>
            <a:off x="7543800" y="2078797"/>
            <a:ext cx="1943100" cy="385785"/>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for completed middle-market transactions in all industries, second quarter of 2026 (</a:t>
            </a:r>
            <a:r>
              <a:rPr lang="en-US" sz="700" u="sng" dirty="0">
                <a:solidFill>
                  <a:srgbClr val="D3AE84"/>
                </a:solidFill>
                <a:latin typeface="+mn-lt" pitchFamily="34" charset="0"/>
                <a:hlinkClick r:id="rId5">
                  <a:extLst>
                    <a:ext uri="{A12FA001-AC4F-418D-AE19-62706E023703}">
                      <ahyp:hlinkClr xmlns:ahyp="http://schemas.microsoft.com/office/drawing/2018/hyperlinkcolor" val="tx"/>
                    </a:ext>
                  </a:extLst>
                </a:hlinkClick>
              </a:rPr>
              <a:t>GF Data via ACG</a:t>
            </a:r>
            <a:r>
              <a:rPr lang="en-US" sz="700" dirty="0">
                <a:solidFill>
                  <a:srgbClr val="E8E2DA"/>
                </a:solidFill>
                <a:latin typeface="+mn-lt" pitchFamily="34" charset="0"/>
              </a:rPr>
              <a:t>)</a:t>
            </a:r>
            <a:endParaRPr lang="en-US" sz="700" dirty="0"/>
          </a:p>
        </p:txBody>
      </p:sp>
      <p:sp>
        <p:nvSpPr>
          <p:cNvPr id="27" name="Object 27"/>
          <p:cNvSpPr/>
          <p:nvPr/>
        </p:nvSpPr>
        <p:spPr>
          <a:xfrm>
            <a:off x="7543800" y="2557485"/>
            <a:ext cx="1943100" cy="9510"/>
          </a:xfrm>
          <a:prstGeom prst="rect">
            <a:avLst/>
          </a:prstGeom>
          <a:solidFill>
            <a:srgbClr val="FFFFFF">
              <a:alpha val="16000"/>
            </a:srgbClr>
          </a:solidFill>
          <a:ln/>
        </p:spPr>
        <p:txBody>
          <a:bodyPr/>
          <a:lstStyle/>
          <a:p>
            <a:endParaRPr/>
          </a:p>
        </p:txBody>
      </p:sp>
      <p:sp>
        <p:nvSpPr>
          <p:cNvPr id="28" name="Object 28"/>
          <p:cNvSpPr txBox="1"/>
          <p:nvPr/>
        </p:nvSpPr>
        <p:spPr>
          <a:xfrm>
            <a:off x="7543800" y="2647920"/>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5.8x</a:t>
            </a:r>
            <a:endParaRPr lang="en-US" sz="1950" dirty="0"/>
          </a:p>
        </p:txBody>
      </p:sp>
      <p:sp>
        <p:nvSpPr>
          <p:cNvPr id="29" name="Object 29"/>
          <p:cNvSpPr txBox="1"/>
          <p:nvPr/>
        </p:nvSpPr>
        <p:spPr>
          <a:xfrm>
            <a:off x="7543800" y="2940802"/>
            <a:ext cx="1943100" cy="385785"/>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multiple for transactions of $5 million to $50 million in all industries, second quarter of 2026 (</a:t>
            </a:r>
            <a:r>
              <a:rPr lang="en-US" sz="700" u="sng" dirty="0">
                <a:solidFill>
                  <a:srgbClr val="D3AE84"/>
                </a:solidFill>
                <a:latin typeface="+mn-lt" pitchFamily="34" charset="0"/>
                <a:hlinkClick r:id="rId6">
                  <a:extLst>
                    <a:ext uri="{A12FA001-AC4F-418D-AE19-62706E023703}">
                      <ahyp:hlinkClr xmlns:ahyp="http://schemas.microsoft.com/office/drawing/2018/hyperlinkcolor" val="tx"/>
                    </a:ext>
                  </a:extLst>
                </a:hlinkClick>
              </a:rPr>
              <a:t>IBBA and M&amp;A Source</a:t>
            </a:r>
            <a:r>
              <a:rPr lang="en-US" sz="700" dirty="0">
                <a:solidFill>
                  <a:srgbClr val="E8E2DA"/>
                </a:solidFill>
                <a:latin typeface="+mn-lt" pitchFamily="34" charset="0"/>
              </a:rPr>
              <a:t>)</a:t>
            </a:r>
            <a:endParaRPr lang="en-US" sz="700" dirty="0"/>
          </a:p>
        </p:txBody>
      </p:sp>
      <p:sp>
        <p:nvSpPr>
          <p:cNvPr id="30" name="Object 30"/>
          <p:cNvSpPr/>
          <p:nvPr/>
        </p:nvSpPr>
        <p:spPr>
          <a:xfrm>
            <a:off x="7543800" y="3419490"/>
            <a:ext cx="1943100" cy="9510"/>
          </a:xfrm>
          <a:prstGeom prst="rect">
            <a:avLst/>
          </a:prstGeom>
          <a:solidFill>
            <a:srgbClr val="FFFFFF">
              <a:alpha val="16000"/>
            </a:srgbClr>
          </a:solidFill>
          <a:ln/>
        </p:spPr>
        <p:txBody>
          <a:bodyPr/>
          <a:lstStyle/>
          <a:p>
            <a:endParaRPr/>
          </a:p>
        </p:txBody>
      </p:sp>
      <p:sp>
        <p:nvSpPr>
          <p:cNvPr id="31" name="Object 31"/>
          <p:cNvSpPr txBox="1"/>
          <p:nvPr/>
        </p:nvSpPr>
        <p:spPr>
          <a:xfrm>
            <a:off x="7543800" y="3509924"/>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4.0x</a:t>
            </a:r>
            <a:endParaRPr lang="en-US" sz="1950" dirty="0"/>
          </a:p>
        </p:txBody>
      </p:sp>
      <p:sp>
        <p:nvSpPr>
          <p:cNvPr id="32" name="Object 32"/>
          <p:cNvSpPr txBox="1"/>
          <p:nvPr/>
        </p:nvSpPr>
        <p:spPr>
          <a:xfrm>
            <a:off x="7543800" y="3802898"/>
            <a:ext cx="1943100" cy="257221"/>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multiple for transactions of $2 million to $5 million in the same survey</a:t>
            </a:r>
            <a:endParaRPr lang="en-US" sz="700" dirty="0"/>
          </a:p>
        </p:txBody>
      </p:sp>
      <p:sp>
        <p:nvSpPr>
          <p:cNvPr id="33" name="Object 33"/>
          <p:cNvSpPr/>
          <p:nvPr/>
        </p:nvSpPr>
        <p:spPr>
          <a:xfrm>
            <a:off x="7543800" y="4197380"/>
            <a:ext cx="1943100" cy="9510"/>
          </a:xfrm>
          <a:prstGeom prst="rect">
            <a:avLst/>
          </a:prstGeom>
          <a:solidFill>
            <a:srgbClr val="FFFFFF">
              <a:alpha val="16000"/>
            </a:srgbClr>
          </a:solidFill>
          <a:ln/>
        </p:spPr>
        <p:txBody>
          <a:bodyPr/>
          <a:lstStyle/>
          <a:p>
            <a:endParaRPr/>
          </a:p>
        </p:txBody>
      </p:sp>
      <p:sp>
        <p:nvSpPr>
          <p:cNvPr id="34" name="Object 34"/>
          <p:cNvSpPr txBox="1"/>
          <p:nvPr/>
        </p:nvSpPr>
        <p:spPr>
          <a:xfrm>
            <a:off x="7543800" y="4292570"/>
            <a:ext cx="1943100" cy="457200"/>
          </a:xfrm>
          <a:prstGeom prst="rect">
            <a:avLst/>
          </a:prstGeom>
          <a:noFill/>
          <a:ln/>
        </p:spPr>
        <p:txBody>
          <a:bodyPr wrap="square" lIns="0" tIns="0" rIns="0" bIns="0" rtlCol="0" anchor="t"/>
          <a:lstStyle/>
          <a:p>
            <a:pPr marL="0" indent="0" algn="l">
              <a:lnSpc>
                <a:spcPts val="1200"/>
              </a:lnSpc>
              <a:buNone/>
            </a:pPr>
            <a:r>
              <a:rPr lang="en-US" sz="900" i="1" dirty="0">
                <a:solidFill>
                  <a:srgbClr val="FFFFFF"/>
                </a:solidFill>
                <a:latin typeface="+mj-lt" pitchFamily="34" charset="0"/>
              </a:rPr>
              <a:t>Listed multiples describe companies many times larger than a founder-owned business and use reported EBITDA.</a:t>
            </a:r>
            <a:endParaRPr lang="en-US" sz="900" dirty="0"/>
          </a:p>
        </p:txBody>
      </p:sp>
      <p:sp>
        <p:nvSpPr>
          <p:cNvPr id="35" name="Object 35"/>
          <p:cNvSpPr txBox="1"/>
          <p:nvPr/>
        </p:nvSpPr>
        <p:spPr>
          <a:xfrm>
            <a:off x="419070" y="5181630"/>
            <a:ext cx="5171938"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LISTED COMPANIES IN EACH PEER GROUP, WITH ENTERPRISE VALUE TO TRAILING EBITDA</a:t>
            </a:r>
            <a:endParaRPr lang="en-US" sz="700" dirty="0"/>
          </a:p>
        </p:txBody>
      </p:sp>
      <p:sp>
        <p:nvSpPr>
          <p:cNvPr id="36" name="Object 36"/>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lstStyle/>
          <a:p>
            <a:endParaRPr/>
          </a:p>
        </p:txBody>
      </p:sp>
      <p:sp>
        <p:nvSpPr>
          <p:cNvPr id="37" name="Object 37"/>
          <p:cNvSpPr txBox="1"/>
          <p:nvPr/>
        </p:nvSpPr>
        <p:spPr>
          <a:xfrm>
            <a:off x="523860" y="5455402"/>
            <a:ext cx="1178753"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COMMERCIAL &amp; FACILITY</a:t>
            </a:r>
            <a:endParaRPr lang="en-US" sz="550" dirty="0"/>
          </a:p>
        </p:txBody>
      </p:sp>
      <p:sp>
        <p:nvSpPr>
          <p:cNvPr id="38" name="Object 38"/>
          <p:cNvSpPr txBox="1"/>
          <p:nvPr/>
        </p:nvSpPr>
        <p:spPr>
          <a:xfrm>
            <a:off x="523860" y="5600700"/>
            <a:ext cx="1914571"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7"/>
              </a:rPr>
              <a:t>Cintas</a:t>
            </a:r>
            <a:r>
              <a:rPr lang="en-US" sz="700" dirty="0">
                <a:solidFill>
                  <a:srgbClr val="333231"/>
                </a:solidFill>
                <a:latin typeface="+mn-lt" pitchFamily="34" charset="0"/>
              </a:rPr>
              <a:t> 28.1x | </a:t>
            </a:r>
            <a:r>
              <a:rPr lang="en-US" sz="700" u="sng" dirty="0">
                <a:solidFill>
                  <a:srgbClr val="333231"/>
                </a:solidFill>
                <a:latin typeface="+mn-lt" pitchFamily="34" charset="0"/>
                <a:hlinkClick r:id="rId8"/>
              </a:rPr>
              <a:t>UL Solutions</a:t>
            </a:r>
            <a:r>
              <a:rPr lang="en-US" sz="700" dirty="0">
                <a:solidFill>
                  <a:srgbClr val="333231"/>
                </a:solidFill>
                <a:latin typeface="+mn-lt" pitchFamily="34" charset="0"/>
              </a:rPr>
              <a:t> 20.6x | </a:t>
            </a:r>
            <a:r>
              <a:rPr lang="en-US" sz="700" u="sng" dirty="0">
                <a:solidFill>
                  <a:srgbClr val="333231"/>
                </a:solidFill>
                <a:latin typeface="+mn-lt" pitchFamily="34" charset="0"/>
                <a:hlinkClick r:id="rId9"/>
              </a:rPr>
              <a:t>Rollins</a:t>
            </a:r>
            <a:r>
              <a:rPr lang="en-US" sz="700" dirty="0">
                <a:solidFill>
                  <a:srgbClr val="333231"/>
                </a:solidFill>
                <a:latin typeface="+mn-lt" pitchFamily="34" charset="0"/>
              </a:rPr>
              <a:t> 19.8x | </a:t>
            </a:r>
            <a:r>
              <a:rPr lang="en-US" sz="700" u="sng" dirty="0">
                <a:solidFill>
                  <a:srgbClr val="333231"/>
                </a:solidFill>
                <a:latin typeface="+mn-lt" pitchFamily="34" charset="0"/>
                <a:hlinkClick r:id="rId10"/>
              </a:rPr>
              <a:t>APi Group</a:t>
            </a:r>
            <a:r>
              <a:rPr lang="en-US" sz="700" dirty="0">
                <a:solidFill>
                  <a:srgbClr val="333231"/>
                </a:solidFill>
                <a:latin typeface="+mn-lt" pitchFamily="34" charset="0"/>
              </a:rPr>
              <a:t> 18.8x | </a:t>
            </a:r>
            <a:r>
              <a:rPr lang="en-US" sz="700" u="sng" dirty="0">
                <a:solidFill>
                  <a:srgbClr val="333231"/>
                </a:solidFill>
                <a:latin typeface="+mn-lt" pitchFamily="34" charset="0"/>
                <a:hlinkClick r:id="rId11"/>
              </a:rPr>
              <a:t>SGS</a:t>
            </a:r>
            <a:r>
              <a:rPr lang="en-US" sz="700" dirty="0">
                <a:solidFill>
                  <a:srgbClr val="333231"/>
                </a:solidFill>
                <a:latin typeface="+mn-lt" pitchFamily="34" charset="0"/>
              </a:rPr>
              <a:t> 18.0x | </a:t>
            </a:r>
            <a:r>
              <a:rPr lang="en-US" sz="700" u="sng" dirty="0">
                <a:solidFill>
                  <a:srgbClr val="333231"/>
                </a:solidFill>
                <a:latin typeface="+mn-lt" pitchFamily="34" charset="0"/>
                <a:hlinkClick r:id="rId12"/>
              </a:rPr>
              <a:t>FirstService</a:t>
            </a:r>
            <a:r>
              <a:rPr lang="en-US" sz="700" dirty="0">
                <a:solidFill>
                  <a:srgbClr val="333231"/>
                </a:solidFill>
                <a:latin typeface="+mn-lt" pitchFamily="34" charset="0"/>
              </a:rPr>
              <a:t> 14.6x | </a:t>
            </a:r>
            <a:r>
              <a:rPr lang="en-US" sz="700" u="sng" dirty="0">
                <a:solidFill>
                  <a:srgbClr val="333231"/>
                </a:solidFill>
                <a:latin typeface="+mn-lt" pitchFamily="34" charset="0"/>
                <a:hlinkClick r:id="rId13"/>
              </a:rPr>
              <a:t>Intertek</a:t>
            </a:r>
            <a:r>
              <a:rPr lang="en-US" sz="700" dirty="0">
                <a:solidFill>
                  <a:srgbClr val="333231"/>
                </a:solidFill>
                <a:latin typeface="+mn-lt" pitchFamily="34" charset="0"/>
              </a:rPr>
              <a:t> 13.1x | </a:t>
            </a:r>
            <a:r>
              <a:rPr lang="en-US" sz="700" u="sng" dirty="0">
                <a:solidFill>
                  <a:srgbClr val="333231"/>
                </a:solidFill>
                <a:latin typeface="+mn-lt" pitchFamily="34" charset="0"/>
                <a:hlinkClick r:id="rId14"/>
              </a:rPr>
              <a:t>Bureau Veritas</a:t>
            </a:r>
            <a:r>
              <a:rPr lang="en-US" sz="700" dirty="0">
                <a:solidFill>
                  <a:srgbClr val="333231"/>
                </a:solidFill>
                <a:latin typeface="+mn-lt" pitchFamily="34" charset="0"/>
              </a:rPr>
              <a:t> 11.8x | </a:t>
            </a:r>
            <a:r>
              <a:rPr lang="en-US" sz="700" u="sng" dirty="0">
                <a:solidFill>
                  <a:srgbClr val="333231"/>
                </a:solidFill>
                <a:latin typeface="+mn-lt" pitchFamily="34" charset="0"/>
                <a:hlinkClick r:id="rId15"/>
              </a:rPr>
              <a:t>Mistras Group</a:t>
            </a:r>
            <a:r>
              <a:rPr lang="en-US" sz="700" dirty="0">
                <a:solidFill>
                  <a:srgbClr val="333231"/>
                </a:solidFill>
                <a:latin typeface="+mn-lt" pitchFamily="34" charset="0"/>
              </a:rPr>
              <a:t> 10.4x | </a:t>
            </a:r>
            <a:r>
              <a:rPr lang="en-US" sz="700" u="sng" dirty="0">
                <a:solidFill>
                  <a:srgbClr val="333231"/>
                </a:solidFill>
                <a:latin typeface="+mn-lt" pitchFamily="34" charset="0"/>
                <a:hlinkClick r:id="rId16"/>
              </a:rPr>
              <a:t>ABM Industries</a:t>
            </a:r>
            <a:r>
              <a:rPr lang="en-US" sz="700" dirty="0">
                <a:solidFill>
                  <a:srgbClr val="333231"/>
                </a:solidFill>
                <a:latin typeface="+mn-lt" pitchFamily="34" charset="0"/>
              </a:rPr>
              <a:t> 10.4x | </a:t>
            </a:r>
            <a:r>
              <a:rPr lang="en-US" sz="700" u="sng" dirty="0">
                <a:solidFill>
                  <a:srgbClr val="333231"/>
                </a:solidFill>
                <a:latin typeface="+mn-lt" pitchFamily="34" charset="0"/>
                <a:hlinkClick r:id="rId17"/>
              </a:rPr>
              <a:t>BrightView</a:t>
            </a:r>
            <a:r>
              <a:rPr lang="en-US" sz="700" dirty="0">
                <a:solidFill>
                  <a:srgbClr val="333231"/>
                </a:solidFill>
                <a:latin typeface="+mn-lt" pitchFamily="34" charset="0"/>
              </a:rPr>
              <a:t> 5.9x</a:t>
            </a:r>
            <a:endParaRPr lang="en-US" sz="700" dirty="0"/>
          </a:p>
        </p:txBody>
      </p:sp>
      <p:sp>
        <p:nvSpPr>
          <p:cNvPr id="39" name="Object 39"/>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lstStyle/>
          <a:p>
            <a:endParaRPr/>
          </a:p>
        </p:txBody>
      </p:sp>
      <p:sp>
        <p:nvSpPr>
          <p:cNvPr id="40" name="Object 40"/>
          <p:cNvSpPr txBox="1"/>
          <p:nvPr/>
        </p:nvSpPr>
        <p:spPr>
          <a:xfrm>
            <a:off x="2740548" y="5455402"/>
            <a:ext cx="1295430"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MARKETING, SALES &amp; TECH</a:t>
            </a:r>
            <a:endParaRPr lang="en-US" sz="550" dirty="0"/>
          </a:p>
        </p:txBody>
      </p:sp>
      <p:sp>
        <p:nvSpPr>
          <p:cNvPr id="41" name="Object 41"/>
          <p:cNvSpPr txBox="1"/>
          <p:nvPr/>
        </p:nvSpPr>
        <p:spPr>
          <a:xfrm>
            <a:off x="2740548" y="5600700"/>
            <a:ext cx="1562070"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18"/>
              </a:rPr>
              <a:t>WPP</a:t>
            </a:r>
            <a:r>
              <a:rPr lang="en-US" sz="700" dirty="0">
                <a:solidFill>
                  <a:srgbClr val="333231"/>
                </a:solidFill>
                <a:latin typeface="+mn-lt" pitchFamily="34" charset="0"/>
              </a:rPr>
              <a:t> 16.4x | </a:t>
            </a:r>
            <a:r>
              <a:rPr lang="en-US" sz="700" u="sng" dirty="0">
                <a:solidFill>
                  <a:srgbClr val="333231"/>
                </a:solidFill>
                <a:latin typeface="+mn-lt" pitchFamily="34" charset="0"/>
                <a:hlinkClick r:id="rId19"/>
              </a:rPr>
              <a:t>Stagwell</a:t>
            </a:r>
            <a:r>
              <a:rPr lang="en-US" sz="700" dirty="0">
                <a:solidFill>
                  <a:srgbClr val="333231"/>
                </a:solidFill>
                <a:latin typeface="+mn-lt" pitchFamily="34" charset="0"/>
              </a:rPr>
              <a:t> 11.7x | </a:t>
            </a:r>
            <a:r>
              <a:rPr lang="en-US" sz="700" u="sng" dirty="0">
                <a:solidFill>
                  <a:srgbClr val="333231"/>
                </a:solidFill>
                <a:latin typeface="+mn-lt" pitchFamily="34" charset="0"/>
                <a:hlinkClick r:id="rId20"/>
              </a:rPr>
              <a:t>4imprint</a:t>
            </a:r>
            <a:r>
              <a:rPr lang="en-US" sz="700" dirty="0">
                <a:solidFill>
                  <a:srgbClr val="333231"/>
                </a:solidFill>
                <a:latin typeface="+mn-lt" pitchFamily="34" charset="0"/>
              </a:rPr>
              <a:t> 11.3x | </a:t>
            </a:r>
            <a:r>
              <a:rPr lang="en-US" sz="700" u="sng" dirty="0">
                <a:solidFill>
                  <a:srgbClr val="333231"/>
                </a:solidFill>
                <a:latin typeface="+mn-lt" pitchFamily="34" charset="0"/>
                <a:hlinkClick r:id="rId21"/>
              </a:rPr>
              <a:t>Accenture</a:t>
            </a:r>
            <a:r>
              <a:rPr lang="en-US" sz="700" dirty="0">
                <a:solidFill>
                  <a:srgbClr val="333231"/>
                </a:solidFill>
                <a:latin typeface="+mn-lt" pitchFamily="34" charset="0"/>
              </a:rPr>
              <a:t> 10.2x | </a:t>
            </a:r>
            <a:r>
              <a:rPr lang="en-US" sz="700" u="sng" dirty="0">
                <a:solidFill>
                  <a:srgbClr val="333231"/>
                </a:solidFill>
                <a:latin typeface="+mn-lt" pitchFamily="34" charset="0"/>
                <a:hlinkClick r:id="rId22"/>
              </a:rPr>
              <a:t>Publicis</a:t>
            </a:r>
            <a:r>
              <a:rPr lang="en-US" sz="700" dirty="0">
                <a:solidFill>
                  <a:srgbClr val="333231"/>
                </a:solidFill>
                <a:latin typeface="+mn-lt" pitchFamily="34" charset="0"/>
              </a:rPr>
              <a:t> 9.9x | </a:t>
            </a:r>
            <a:r>
              <a:rPr lang="en-US" sz="700" u="sng" dirty="0">
                <a:solidFill>
                  <a:srgbClr val="333231"/>
                </a:solidFill>
                <a:latin typeface="+mn-lt" pitchFamily="34" charset="0"/>
                <a:hlinkClick r:id="rId23"/>
              </a:rPr>
              <a:t>Omnicom</a:t>
            </a:r>
            <a:r>
              <a:rPr lang="en-US" sz="700" dirty="0">
                <a:solidFill>
                  <a:srgbClr val="333231"/>
                </a:solidFill>
                <a:latin typeface="+mn-lt" pitchFamily="34" charset="0"/>
              </a:rPr>
              <a:t> 8.2x | </a:t>
            </a:r>
            <a:r>
              <a:rPr lang="en-US" sz="700" u="sng" dirty="0">
                <a:solidFill>
                  <a:srgbClr val="333231"/>
                </a:solidFill>
                <a:latin typeface="+mn-lt" pitchFamily="34" charset="0"/>
                <a:hlinkClick r:id="rId24"/>
              </a:rPr>
              <a:t>Cognizant</a:t>
            </a:r>
            <a:r>
              <a:rPr lang="en-US" sz="700" dirty="0">
                <a:solidFill>
                  <a:srgbClr val="333231"/>
                </a:solidFill>
                <a:latin typeface="+mn-lt" pitchFamily="34" charset="0"/>
              </a:rPr>
              <a:t> 7.6x | </a:t>
            </a:r>
            <a:r>
              <a:rPr lang="en-US" sz="700" u="sng" dirty="0">
                <a:solidFill>
                  <a:srgbClr val="333231"/>
                </a:solidFill>
                <a:latin typeface="+mn-lt" pitchFamily="34" charset="0"/>
                <a:hlinkClick r:id="rId25"/>
              </a:rPr>
              <a:t>Advantage Solutions</a:t>
            </a:r>
            <a:r>
              <a:rPr lang="en-US" sz="700" dirty="0">
                <a:solidFill>
                  <a:srgbClr val="333231"/>
                </a:solidFill>
                <a:latin typeface="+mn-lt" pitchFamily="34" charset="0"/>
              </a:rPr>
              <a:t> 5.9x | </a:t>
            </a:r>
            <a:r>
              <a:rPr lang="en-US" sz="700" u="sng" dirty="0">
                <a:solidFill>
                  <a:srgbClr val="333231"/>
                </a:solidFill>
                <a:latin typeface="+mn-lt" pitchFamily="34" charset="0"/>
                <a:hlinkClick r:id="rId26"/>
              </a:rPr>
              <a:t>Dentsu</a:t>
            </a:r>
            <a:r>
              <a:rPr lang="en-US" sz="700" dirty="0">
                <a:solidFill>
                  <a:srgbClr val="333231"/>
                </a:solidFill>
                <a:latin typeface="+mn-lt" pitchFamily="34" charset="0"/>
              </a:rPr>
              <a:t> 4.9x</a:t>
            </a:r>
            <a:endParaRPr lang="en-US" sz="700" dirty="0"/>
          </a:p>
        </p:txBody>
      </p:sp>
      <p:sp>
        <p:nvSpPr>
          <p:cNvPr id="42" name="Object 42"/>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lstStyle/>
          <a:p>
            <a:endParaRPr/>
          </a:p>
        </p:txBody>
      </p:sp>
      <p:sp>
        <p:nvSpPr>
          <p:cNvPr id="43" name="Object 43"/>
          <p:cNvSpPr txBox="1"/>
          <p:nvPr/>
        </p:nvSpPr>
        <p:spPr>
          <a:xfrm>
            <a:off x="4603547" y="5455402"/>
            <a:ext cx="1381110" cy="200071"/>
          </a:xfrm>
          <a:prstGeom prst="rect">
            <a:avLst/>
          </a:prstGeom>
          <a:noFill/>
          <a:ln/>
        </p:spPr>
        <p:txBody>
          <a:bodyPr wrap="square" lIns="0" tIns="0" rIns="0" bIns="0" rtlCol="0" anchor="t"/>
          <a:lstStyle/>
          <a:p>
            <a:pPr marL="0" indent="0" algn="l">
              <a:lnSpc>
                <a:spcPts val="800"/>
              </a:lnSpc>
              <a:buNone/>
            </a:pPr>
            <a:r>
              <a:rPr lang="en-US" sz="550" b="1" kern="0" spc="100" dirty="0">
                <a:solidFill>
                  <a:srgbClr val="8C6239"/>
                </a:solidFill>
                <a:latin typeface="+mn-lt" pitchFamily="34" charset="0"/>
              </a:rPr>
              <a:t>ENGINEERING &amp; ARCHITECTURE</a:t>
            </a:r>
            <a:endParaRPr lang="en-US" sz="550" dirty="0"/>
          </a:p>
        </p:txBody>
      </p:sp>
      <p:sp>
        <p:nvSpPr>
          <p:cNvPr id="44" name="Object 44"/>
          <p:cNvSpPr txBox="1"/>
          <p:nvPr/>
        </p:nvSpPr>
        <p:spPr>
          <a:xfrm>
            <a:off x="4603547" y="5700735"/>
            <a:ext cx="1381110" cy="93342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27"/>
              </a:rPr>
              <a:t>Bowman Consulting</a:t>
            </a:r>
            <a:r>
              <a:rPr lang="en-US" sz="700" dirty="0">
                <a:solidFill>
                  <a:srgbClr val="333231"/>
                </a:solidFill>
                <a:latin typeface="+mn-lt" pitchFamily="34" charset="0"/>
              </a:rPr>
              <a:t> 21.8x | </a:t>
            </a:r>
            <a:r>
              <a:rPr lang="en-US" sz="700" u="sng" dirty="0">
                <a:solidFill>
                  <a:srgbClr val="333231"/>
                </a:solidFill>
                <a:latin typeface="+mn-lt" pitchFamily="34" charset="0"/>
                <a:hlinkClick r:id="rId28"/>
              </a:rPr>
              <a:t>Jacobs</a:t>
            </a:r>
            <a:r>
              <a:rPr lang="en-US" sz="700" dirty="0">
                <a:solidFill>
                  <a:srgbClr val="333231"/>
                </a:solidFill>
                <a:latin typeface="+mn-lt" pitchFamily="34" charset="0"/>
              </a:rPr>
              <a:t> 18.4x | </a:t>
            </a:r>
            <a:r>
              <a:rPr lang="en-US" sz="700" u="sng" dirty="0">
                <a:solidFill>
                  <a:srgbClr val="333231"/>
                </a:solidFill>
                <a:latin typeface="+mn-lt" pitchFamily="34" charset="0"/>
                <a:hlinkClick r:id="rId29"/>
              </a:rPr>
              <a:t>Willdan Group</a:t>
            </a:r>
            <a:r>
              <a:rPr lang="en-US" sz="700" dirty="0">
                <a:solidFill>
                  <a:srgbClr val="333231"/>
                </a:solidFill>
                <a:latin typeface="+mn-lt" pitchFamily="34" charset="0"/>
              </a:rPr>
              <a:t> 15.7x | </a:t>
            </a:r>
            <a:r>
              <a:rPr lang="en-US" sz="700" u="sng" dirty="0">
                <a:solidFill>
                  <a:srgbClr val="333231"/>
                </a:solidFill>
                <a:latin typeface="+mn-lt" pitchFamily="34" charset="0"/>
                <a:hlinkClick r:id="rId30"/>
              </a:rPr>
              <a:t>Tetra Tech</a:t>
            </a:r>
            <a:r>
              <a:rPr lang="en-US" sz="700" dirty="0">
                <a:solidFill>
                  <a:srgbClr val="333231"/>
                </a:solidFill>
                <a:latin typeface="+mn-lt" pitchFamily="34" charset="0"/>
              </a:rPr>
              <a:t> 14.8x | </a:t>
            </a:r>
            <a:r>
              <a:rPr lang="en-US" sz="700" u="sng" dirty="0">
                <a:solidFill>
                  <a:srgbClr val="333231"/>
                </a:solidFill>
                <a:latin typeface="+mn-lt" pitchFamily="34" charset="0"/>
                <a:hlinkClick r:id="rId31"/>
              </a:rPr>
              <a:t>TIC Solutions</a:t>
            </a:r>
            <a:r>
              <a:rPr lang="en-US" sz="700" dirty="0">
                <a:solidFill>
                  <a:srgbClr val="333231"/>
                </a:solidFill>
                <a:latin typeface="+mn-lt" pitchFamily="34" charset="0"/>
              </a:rPr>
              <a:t> 13.2x | </a:t>
            </a:r>
            <a:r>
              <a:rPr lang="en-US" sz="700" u="sng" dirty="0">
                <a:solidFill>
                  <a:srgbClr val="333231"/>
                </a:solidFill>
                <a:latin typeface="+mn-lt" pitchFamily="34" charset="0"/>
                <a:hlinkClick r:id="rId32"/>
              </a:rPr>
              <a:t>Stantec</a:t>
            </a:r>
            <a:r>
              <a:rPr lang="en-US" sz="700" dirty="0">
                <a:solidFill>
                  <a:srgbClr val="333231"/>
                </a:solidFill>
                <a:latin typeface="+mn-lt" pitchFamily="34" charset="0"/>
              </a:rPr>
              <a:t> 13.0x | </a:t>
            </a:r>
            <a:r>
              <a:rPr lang="en-US" sz="700" u="sng" dirty="0">
                <a:solidFill>
                  <a:srgbClr val="333231"/>
                </a:solidFill>
                <a:latin typeface="+mn-lt" pitchFamily="34" charset="0"/>
                <a:hlinkClick r:id="rId33"/>
              </a:rPr>
              <a:t>WSP Global</a:t>
            </a:r>
            <a:r>
              <a:rPr lang="en-US" sz="700" dirty="0">
                <a:solidFill>
                  <a:srgbClr val="333231"/>
                </a:solidFill>
                <a:latin typeface="+mn-lt" pitchFamily="34" charset="0"/>
              </a:rPr>
              <a:t> 11.1x | </a:t>
            </a:r>
            <a:r>
              <a:rPr lang="en-US" sz="700" u="sng" dirty="0">
                <a:solidFill>
                  <a:srgbClr val="333231"/>
                </a:solidFill>
                <a:latin typeface="+mn-lt" pitchFamily="34" charset="0"/>
                <a:hlinkClick r:id="rId34"/>
              </a:rPr>
              <a:t>AECOM</a:t>
            </a:r>
            <a:r>
              <a:rPr lang="en-US" sz="700" dirty="0">
                <a:solidFill>
                  <a:srgbClr val="333231"/>
                </a:solidFill>
                <a:latin typeface="+mn-lt" pitchFamily="34" charset="0"/>
              </a:rPr>
              <a:t> 10.6x</a:t>
            </a:r>
            <a:endParaRPr lang="en-US" sz="700" dirty="0"/>
          </a:p>
        </p:txBody>
      </p:sp>
      <p:sp>
        <p:nvSpPr>
          <p:cNvPr id="45" name="Object 45"/>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lstStyle/>
          <a:p>
            <a:endParaRPr/>
          </a:p>
        </p:txBody>
      </p:sp>
      <p:sp>
        <p:nvSpPr>
          <p:cNvPr id="46" name="Object 46"/>
          <p:cNvSpPr txBox="1"/>
          <p:nvPr/>
        </p:nvSpPr>
        <p:spPr>
          <a:xfrm>
            <a:off x="6289883" y="5455402"/>
            <a:ext cx="1186617"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FINANCIAL &amp; INSURANCE</a:t>
            </a:r>
            <a:endParaRPr lang="en-US" sz="550" dirty="0"/>
          </a:p>
        </p:txBody>
      </p:sp>
      <p:sp>
        <p:nvSpPr>
          <p:cNvPr id="47" name="Object 47"/>
          <p:cNvSpPr txBox="1"/>
          <p:nvPr/>
        </p:nvSpPr>
        <p:spPr>
          <a:xfrm>
            <a:off x="6289883" y="5600700"/>
            <a:ext cx="1381110"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35"/>
              </a:rPr>
              <a:t>Gallagher</a:t>
            </a:r>
            <a:r>
              <a:rPr lang="en-US" sz="700" dirty="0">
                <a:solidFill>
                  <a:srgbClr val="333231"/>
                </a:solidFill>
                <a:latin typeface="+mn-lt" pitchFamily="34" charset="0"/>
              </a:rPr>
              <a:t> 18.2x | </a:t>
            </a:r>
            <a:r>
              <a:rPr lang="en-US" sz="700" u="sng" dirty="0">
                <a:solidFill>
                  <a:srgbClr val="333231"/>
                </a:solidFill>
                <a:latin typeface="+mn-lt" pitchFamily="34" charset="0"/>
                <a:hlinkClick r:id="rId36"/>
              </a:rPr>
              <a:t>Ryan Specialty</a:t>
            </a:r>
            <a:r>
              <a:rPr lang="en-US" sz="700" dirty="0">
                <a:solidFill>
                  <a:srgbClr val="333231"/>
                </a:solidFill>
                <a:latin typeface="+mn-lt" pitchFamily="34" charset="0"/>
              </a:rPr>
              <a:t> 15.5x | </a:t>
            </a:r>
            <a:r>
              <a:rPr lang="en-US" sz="700" u="sng" dirty="0">
                <a:solidFill>
                  <a:srgbClr val="333231"/>
                </a:solidFill>
                <a:latin typeface="+mn-lt" pitchFamily="34" charset="0"/>
                <a:hlinkClick r:id="rId37"/>
              </a:rPr>
              <a:t>Marsh McLennan</a:t>
            </a:r>
            <a:r>
              <a:rPr lang="en-US" sz="700" dirty="0">
                <a:solidFill>
                  <a:srgbClr val="333231"/>
                </a:solidFill>
                <a:latin typeface="+mn-lt" pitchFamily="34" charset="0"/>
              </a:rPr>
              <a:t> 13.9x | </a:t>
            </a:r>
            <a:r>
              <a:rPr lang="en-US" sz="700" u="sng" dirty="0">
                <a:solidFill>
                  <a:srgbClr val="333231"/>
                </a:solidFill>
                <a:latin typeface="+mn-lt" pitchFamily="34" charset="0"/>
                <a:hlinkClick r:id="rId38"/>
              </a:rPr>
              <a:t>Aon</a:t>
            </a:r>
            <a:r>
              <a:rPr lang="en-US" sz="700" dirty="0">
                <a:solidFill>
                  <a:srgbClr val="333231"/>
                </a:solidFill>
                <a:latin typeface="+mn-lt" pitchFamily="34" charset="0"/>
              </a:rPr>
              <a:t> 13.0x | </a:t>
            </a:r>
            <a:r>
              <a:rPr lang="en-US" sz="700" u="sng" dirty="0">
                <a:solidFill>
                  <a:srgbClr val="333231"/>
                </a:solidFill>
                <a:latin typeface="+mn-lt" pitchFamily="34" charset="0"/>
                <a:hlinkClick r:id="rId39"/>
              </a:rPr>
              <a:t>WTW</a:t>
            </a:r>
            <a:r>
              <a:rPr lang="en-US" sz="700" dirty="0">
                <a:solidFill>
                  <a:srgbClr val="333231"/>
                </a:solidFill>
                <a:latin typeface="+mn-lt" pitchFamily="34" charset="0"/>
              </a:rPr>
              <a:t> 12.3x | </a:t>
            </a:r>
            <a:r>
              <a:rPr lang="en-US" sz="700" u="sng" dirty="0">
                <a:solidFill>
                  <a:srgbClr val="333231"/>
                </a:solidFill>
                <a:latin typeface="+mn-lt" pitchFamily="34" charset="0"/>
                <a:hlinkClick r:id="rId40"/>
              </a:rPr>
              <a:t>CBIZ</a:t>
            </a:r>
            <a:r>
              <a:rPr lang="en-US" sz="700" dirty="0">
                <a:solidFill>
                  <a:srgbClr val="333231"/>
                </a:solidFill>
                <a:latin typeface="+mn-lt" pitchFamily="34" charset="0"/>
              </a:rPr>
              <a:t> 10.6x | </a:t>
            </a:r>
            <a:r>
              <a:rPr lang="en-US" sz="700" u="sng" dirty="0">
                <a:solidFill>
                  <a:srgbClr val="333231"/>
                </a:solidFill>
                <a:latin typeface="+mn-lt" pitchFamily="34" charset="0"/>
                <a:hlinkClick r:id="rId41"/>
              </a:rPr>
              <a:t>Brown &amp; Brown</a:t>
            </a:r>
            <a:r>
              <a:rPr lang="en-US" sz="700" dirty="0">
                <a:solidFill>
                  <a:srgbClr val="333231"/>
                </a:solidFill>
                <a:latin typeface="+mn-lt" pitchFamily="34" charset="0"/>
              </a:rPr>
              <a:t> 10.5x | </a:t>
            </a:r>
            <a:r>
              <a:rPr lang="en-US" sz="700" u="sng" dirty="0">
                <a:solidFill>
                  <a:srgbClr val="333231"/>
                </a:solidFill>
                <a:latin typeface="+mn-lt" pitchFamily="34" charset="0"/>
                <a:hlinkClick r:id="rId42"/>
              </a:rPr>
              <a:t>Crawford</a:t>
            </a:r>
            <a:r>
              <a:rPr lang="en-US" sz="700" dirty="0">
                <a:solidFill>
                  <a:srgbClr val="333231"/>
                </a:solidFill>
                <a:latin typeface="+mn-lt" pitchFamily="34" charset="0"/>
              </a:rPr>
              <a:t> 10.0x | </a:t>
            </a:r>
            <a:r>
              <a:rPr lang="en-US" sz="700" u="sng" dirty="0">
                <a:solidFill>
                  <a:srgbClr val="333231"/>
                </a:solidFill>
                <a:latin typeface="+mn-lt" pitchFamily="34" charset="0"/>
                <a:hlinkClick r:id="rId43"/>
              </a:rPr>
              <a:t>Baldwin</a:t>
            </a:r>
            <a:r>
              <a:rPr lang="en-US" sz="700" dirty="0">
                <a:solidFill>
                  <a:srgbClr val="333231"/>
                </a:solidFill>
                <a:latin typeface="+mn-lt" pitchFamily="34" charset="0"/>
              </a:rPr>
              <a:t> n/m</a:t>
            </a:r>
            <a:endParaRPr lang="en-US" sz="700" dirty="0"/>
          </a:p>
        </p:txBody>
      </p:sp>
      <p:sp>
        <p:nvSpPr>
          <p:cNvPr id="48" name="Object 48"/>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lstStyle/>
          <a:p>
            <a:endParaRPr/>
          </a:p>
        </p:txBody>
      </p:sp>
      <p:sp>
        <p:nvSpPr>
          <p:cNvPr id="49" name="Object 49"/>
          <p:cNvSpPr txBox="1"/>
          <p:nvPr/>
        </p:nvSpPr>
        <p:spPr>
          <a:xfrm>
            <a:off x="7976128" y="5455402"/>
            <a:ext cx="1562070" cy="100035"/>
          </a:xfrm>
          <a:prstGeom prst="rect">
            <a:avLst/>
          </a:prstGeom>
          <a:noFill/>
          <a:ln/>
        </p:spPr>
        <p:txBody>
          <a:bodyPr wrap="none" lIns="0" tIns="0" rIns="0" bIns="0" rtlCol="0" anchor="t"/>
          <a:lstStyle/>
          <a:p>
            <a:pPr marL="0" indent="0">
              <a:lnSpc>
                <a:spcPts val="800"/>
              </a:lnSpc>
              <a:buNone/>
            </a:pPr>
            <a:r>
              <a:rPr lang="en-US" sz="550" b="1" kern="0" spc="100" dirty="0">
                <a:solidFill>
                  <a:srgbClr val="8C6239"/>
                </a:solidFill>
                <a:latin typeface="+mn-lt" pitchFamily="34" charset="0"/>
              </a:rPr>
              <a:t>STAFFING &amp; HUMAN CAPITAL</a:t>
            </a:r>
            <a:endParaRPr lang="en-US" sz="550" dirty="0"/>
          </a:p>
        </p:txBody>
      </p:sp>
      <p:sp>
        <p:nvSpPr>
          <p:cNvPr id="50" name="Object 50"/>
          <p:cNvSpPr txBox="1"/>
          <p:nvPr/>
        </p:nvSpPr>
        <p:spPr>
          <a:xfrm>
            <a:off x="7976128" y="5600700"/>
            <a:ext cx="1562070" cy="106683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44"/>
              </a:rPr>
              <a:t>Kforce</a:t>
            </a:r>
            <a:r>
              <a:rPr lang="en-US" sz="700" dirty="0">
                <a:solidFill>
                  <a:srgbClr val="333231"/>
                </a:solidFill>
                <a:latin typeface="+mn-lt" pitchFamily="34" charset="0"/>
              </a:rPr>
              <a:t> 17.1x | </a:t>
            </a:r>
            <a:r>
              <a:rPr lang="en-US" sz="700" u="sng" dirty="0">
                <a:solidFill>
                  <a:srgbClr val="333231"/>
                </a:solidFill>
                <a:latin typeface="+mn-lt" pitchFamily="34" charset="0"/>
                <a:hlinkClick r:id="rId45"/>
              </a:rPr>
              <a:t>TriNet</a:t>
            </a:r>
            <a:r>
              <a:rPr lang="en-US" sz="700" dirty="0">
                <a:solidFill>
                  <a:srgbClr val="333231"/>
                </a:solidFill>
                <a:latin typeface="+mn-lt" pitchFamily="34" charset="0"/>
              </a:rPr>
              <a:t> 14.2x | </a:t>
            </a:r>
            <a:r>
              <a:rPr lang="en-US" sz="700" u="sng" dirty="0">
                <a:solidFill>
                  <a:srgbClr val="333231"/>
                </a:solidFill>
                <a:latin typeface="+mn-lt" pitchFamily="34" charset="0"/>
                <a:hlinkClick r:id="rId46"/>
              </a:rPr>
              <a:t>Barrett (BBSI)</a:t>
            </a:r>
            <a:r>
              <a:rPr lang="en-US" sz="700" dirty="0">
                <a:solidFill>
                  <a:srgbClr val="333231"/>
                </a:solidFill>
                <a:latin typeface="+mn-lt" pitchFamily="34" charset="0"/>
              </a:rPr>
              <a:t> 12.2x | </a:t>
            </a:r>
            <a:r>
              <a:rPr lang="en-US" sz="700" u="sng" dirty="0">
                <a:solidFill>
                  <a:srgbClr val="333231"/>
                </a:solidFill>
                <a:latin typeface="+mn-lt" pitchFamily="34" charset="0"/>
                <a:hlinkClick r:id="rId47"/>
              </a:rPr>
              <a:t>Randstad</a:t>
            </a:r>
            <a:r>
              <a:rPr lang="en-US" sz="700" dirty="0">
                <a:solidFill>
                  <a:srgbClr val="333231"/>
                </a:solidFill>
                <a:latin typeface="+mn-lt" pitchFamily="34" charset="0"/>
              </a:rPr>
              <a:t> 10.0x | </a:t>
            </a:r>
            <a:r>
              <a:rPr lang="en-US" sz="700" u="sng" dirty="0">
                <a:solidFill>
                  <a:srgbClr val="333231"/>
                </a:solidFill>
                <a:latin typeface="+mn-lt" pitchFamily="34" charset="0"/>
                <a:hlinkClick r:id="rId48"/>
              </a:rPr>
              <a:t>Korn Ferry</a:t>
            </a:r>
            <a:r>
              <a:rPr lang="en-US" sz="700" dirty="0">
                <a:solidFill>
                  <a:srgbClr val="333231"/>
                </a:solidFill>
                <a:latin typeface="+mn-lt" pitchFamily="34" charset="0"/>
              </a:rPr>
              <a:t> 9.0x | </a:t>
            </a:r>
            <a:r>
              <a:rPr lang="en-US" sz="700" u="sng" dirty="0">
                <a:solidFill>
                  <a:srgbClr val="333231"/>
                </a:solidFill>
                <a:latin typeface="+mn-lt" pitchFamily="34" charset="0"/>
                <a:hlinkClick r:id="rId49"/>
              </a:rPr>
              <a:t>ManpowerGroup</a:t>
            </a:r>
            <a:r>
              <a:rPr lang="en-US" sz="700" dirty="0">
                <a:solidFill>
                  <a:srgbClr val="333231"/>
                </a:solidFill>
                <a:latin typeface="+mn-lt" pitchFamily="34" charset="0"/>
              </a:rPr>
              <a:t> 7.3x | </a:t>
            </a:r>
            <a:r>
              <a:rPr lang="en-US" sz="700" u="sng" dirty="0">
                <a:solidFill>
                  <a:srgbClr val="333231"/>
                </a:solidFill>
                <a:latin typeface="+mn-lt" pitchFamily="34" charset="0"/>
                <a:hlinkClick r:id="rId50"/>
              </a:rPr>
              <a:t>AMN Healthcare</a:t>
            </a:r>
            <a:r>
              <a:rPr lang="en-US" sz="700" dirty="0">
                <a:solidFill>
                  <a:srgbClr val="333231"/>
                </a:solidFill>
                <a:latin typeface="+mn-lt" pitchFamily="34" charset="0"/>
              </a:rPr>
              <a:t> 6.5x | </a:t>
            </a:r>
            <a:r>
              <a:rPr lang="en-US" sz="700" u="sng" dirty="0">
                <a:solidFill>
                  <a:srgbClr val="333231"/>
                </a:solidFill>
                <a:latin typeface="+mn-lt" pitchFamily="34" charset="0"/>
                <a:hlinkClick r:id="rId51"/>
              </a:rPr>
              <a:t>TrueBlue</a:t>
            </a:r>
            <a:r>
              <a:rPr lang="en-US" sz="700" dirty="0">
                <a:solidFill>
                  <a:srgbClr val="333231"/>
                </a:solidFill>
                <a:latin typeface="+mn-lt" pitchFamily="34" charset="0"/>
              </a:rPr>
              <a:t> n/m | </a:t>
            </a:r>
            <a:r>
              <a:rPr lang="en-US" sz="700" u="sng" dirty="0">
                <a:solidFill>
                  <a:srgbClr val="333231"/>
                </a:solidFill>
                <a:latin typeface="+mn-lt" pitchFamily="34" charset="0"/>
                <a:hlinkClick r:id="rId52"/>
              </a:rPr>
              <a:t>Robert Half</a:t>
            </a:r>
            <a:r>
              <a:rPr lang="en-US" sz="700" dirty="0">
                <a:solidFill>
                  <a:srgbClr val="333231"/>
                </a:solidFill>
                <a:latin typeface="+mn-lt" pitchFamily="34" charset="0"/>
              </a:rPr>
              <a:t> n/m | </a:t>
            </a:r>
            <a:r>
              <a:rPr lang="en-US" sz="700" u="sng" dirty="0">
                <a:solidFill>
                  <a:srgbClr val="333231"/>
                </a:solidFill>
                <a:latin typeface="+mn-lt" pitchFamily="34" charset="0"/>
                <a:hlinkClick r:id="rId53"/>
              </a:rPr>
              <a:t>Insperity</a:t>
            </a:r>
            <a:r>
              <a:rPr lang="en-US" sz="700" dirty="0">
                <a:solidFill>
                  <a:srgbClr val="333231"/>
                </a:solidFill>
                <a:latin typeface="+mn-lt" pitchFamily="34" charset="0"/>
              </a:rPr>
              <a:t> n/m</a:t>
            </a:r>
            <a:endParaRPr lang="en-US" sz="700" dirty="0"/>
          </a:p>
        </p:txBody>
      </p:sp>
      <p:sp>
        <p:nvSpPr>
          <p:cNvPr id="51" name="Object 51"/>
          <p:cNvSpPr/>
          <p:nvPr/>
        </p:nvSpPr>
        <p:spPr>
          <a:xfrm>
            <a:off x="419070" y="7029450"/>
            <a:ext cx="9220170" cy="9510"/>
          </a:xfrm>
          <a:prstGeom prst="ellipse">
            <a:avLst/>
          </a:prstGeom>
          <a:solidFill>
            <a:srgbClr val="E3DCD3"/>
          </a:solidFill>
          <a:ln/>
        </p:spPr>
        <p:txBody>
          <a:bodyPr/>
          <a:lstStyle/>
          <a:p>
            <a:endParaRPr/>
          </a:p>
        </p:txBody>
      </p:sp>
      <p:pic>
        <p:nvPicPr>
          <p:cNvPr id="52" name="Object 52" descr="Benchmark International"/>
          <p:cNvPicPr>
            <a:picLocks noChangeAspect="1"/>
          </p:cNvPicPr>
          <p:nvPr/>
        </p:nvPicPr>
        <p:blipFill>
          <a:blip r:embed="rId54"/>
          <a:stretch>
            <a:fillRect/>
          </a:stretch>
        </p:blipFill>
        <p:spPr>
          <a:xfrm>
            <a:off x="419070" y="7143750"/>
            <a:ext cx="914400" cy="171450"/>
          </a:xfrm>
          <a:prstGeom prst="rect">
            <a:avLst/>
          </a:prstGeom>
        </p:spPr>
      </p:pic>
      <p:sp>
        <p:nvSpPr>
          <p:cNvPr id="53" name="Object 53"/>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Source: </a:t>
            </a:r>
            <a:r>
              <a:rPr lang="en-US" sz="700" u="sng" dirty="0">
                <a:solidFill>
                  <a:srgbClr val="8C6239"/>
                </a:solidFill>
                <a:latin typeface="+mn-lt" pitchFamily="34" charset="0"/>
                <a:hlinkClick r:id="rId55"/>
              </a:rPr>
              <a:t>StockAnalysis</a:t>
            </a:r>
            <a:r>
              <a:rPr lang="en-US" sz="700" dirty="0">
                <a:solidFill>
                  <a:srgbClr val="6F6A66"/>
                </a:solidFill>
                <a:latin typeface="+mn-lt" pitchFamily="34" charset="0"/>
              </a:rPr>
              <a:t>, retrieved October 19, 2026, with each company priced at the October 16, 2026, close except Barrett (BBSI), priced September 30 on the source. Multiples use reported trailing EBITDA; the private-deal multiples at right use adjusted EBITDA. The history chart covers the 42 companies with a current multiple under 50x and quarter-end history; n/m marks 4 companies above 50x. TIC Solutions listed in February 2025 and is excluded from the history chart. Bowman trades at its agreed takeover price. WPP's multiple reflects trailing EBITDA depressed by restructuring charges.</a:t>
            </a:r>
            <a:endParaRPr lang="en-US" sz="700" dirty="0"/>
          </a:p>
        </p:txBody>
      </p:sp>
      <p:sp>
        <p:nvSpPr>
          <p:cNvPr id="54" name="Object 54"/>
          <p:cNvSpPr txBox="1"/>
          <p:nvPr/>
        </p:nvSpPr>
        <p:spPr>
          <a:xfrm>
            <a:off x="9530700" y="7162770"/>
            <a:ext cx="10479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6022604"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Object 6"/>
          <p:cNvSpPr txBox="1"/>
          <p:nvPr/>
        </p:nvSpPr>
        <p:spPr>
          <a:xfrm>
            <a:off x="419070" y="883402"/>
            <a:ext cx="6977512"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Sector medians, trailing twelve months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4524360" cy="2781330"/>
          </a:xfrm>
          <a:prstGeom prst="rect">
            <a:avLst/>
          </a:prstGeom>
          <a:solidFill>
            <a:srgbClr val="FAF7F3"/>
          </a:solidFill>
          <a:ln/>
        </p:spPr>
        <p:txBody>
          <a:bodyPr/>
          <a:lstStyle/>
          <a:p>
            <a:endParaRPr/>
          </a:p>
        </p:txBody>
      </p:sp>
      <p:sp>
        <p:nvSpPr>
          <p:cNvPr id="9" name="Object 9"/>
          <p:cNvSpPr/>
          <p:nvPr/>
        </p:nvSpPr>
        <p:spPr>
          <a:xfrm>
            <a:off x="419070" y="1238280"/>
            <a:ext cx="4524360" cy="28621"/>
          </a:xfrm>
          <a:prstGeom prst="rect">
            <a:avLst/>
          </a:prstGeom>
          <a:solidFill>
            <a:srgbClr val="B68757"/>
          </a:solidFill>
          <a:ln/>
        </p:spPr>
        <p:txBody>
          <a:bodyPr/>
          <a:lstStyle/>
          <a:p>
            <a:endParaRPr/>
          </a:p>
        </p:txBody>
      </p:sp>
      <p:sp>
        <p:nvSpPr>
          <p:cNvPr id="10" name="Object 10"/>
          <p:cNvSpPr txBox="1"/>
          <p:nvPr/>
        </p:nvSpPr>
        <p:spPr>
          <a:xfrm>
            <a:off x="590520" y="1388242"/>
            <a:ext cx="243020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Object 11"/>
          <p:cNvSpPr txBox="1"/>
          <p:nvPr/>
        </p:nvSpPr>
        <p:spPr>
          <a:xfrm>
            <a:off x="590520" y="1559692"/>
            <a:ext cx="2194011"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Object 12"/>
          <p:cNvGraphicFramePr/>
          <p:nvPr/>
        </p:nvGraphicFramePr>
        <p:xfrm>
          <a:off x="590520" y="1781160"/>
          <a:ext cx="4190970" cy="1571671"/>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590520" y="3552810"/>
            <a:ext cx="4181460" cy="9510"/>
          </a:xfrm>
          <a:prstGeom prst="rect">
            <a:avLst/>
          </a:prstGeom>
          <a:solidFill>
            <a:srgbClr val="E3DCD3"/>
          </a:solidFill>
          <a:ln/>
        </p:spPr>
        <p:txBody>
          <a:bodyPr/>
          <a:lstStyle/>
          <a:p>
            <a:endParaRPr/>
          </a:p>
        </p:txBody>
      </p:sp>
      <p:sp>
        <p:nvSpPr>
          <p:cNvPr id="14" name="Object 14"/>
          <p:cNvSpPr txBox="1"/>
          <p:nvPr/>
        </p:nvSpPr>
        <p:spPr>
          <a:xfrm>
            <a:off x="590520" y="362184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Financial and insurance growth reflects large acquisitions by the listed brokers and CBIZ, and engineering growth is supported by backlog.</a:t>
            </a:r>
            <a:endParaRPr lang="en-US" sz="750" dirty="0"/>
          </a:p>
        </p:txBody>
      </p:sp>
      <p:sp>
        <p:nvSpPr>
          <p:cNvPr id="15" name="Object 15"/>
          <p:cNvSpPr/>
          <p:nvPr/>
        </p:nvSpPr>
        <p:spPr>
          <a:xfrm>
            <a:off x="5114971" y="1238280"/>
            <a:ext cx="4524360" cy="2781330"/>
          </a:xfrm>
          <a:prstGeom prst="rect">
            <a:avLst/>
          </a:prstGeom>
          <a:solidFill>
            <a:srgbClr val="FAF7F3"/>
          </a:solidFill>
          <a:ln/>
        </p:spPr>
        <p:txBody>
          <a:bodyPr/>
          <a:lstStyle/>
          <a:p>
            <a:endParaRPr/>
          </a:p>
        </p:txBody>
      </p:sp>
      <p:sp>
        <p:nvSpPr>
          <p:cNvPr id="16" name="Object 16"/>
          <p:cNvSpPr/>
          <p:nvPr/>
        </p:nvSpPr>
        <p:spPr>
          <a:xfrm>
            <a:off x="5114971" y="1238280"/>
            <a:ext cx="4524360" cy="28621"/>
          </a:xfrm>
          <a:prstGeom prst="rect">
            <a:avLst/>
          </a:prstGeom>
          <a:solidFill>
            <a:srgbClr val="B68757"/>
          </a:solidFill>
          <a:ln/>
        </p:spPr>
        <p:txBody>
          <a:bodyPr/>
          <a:lstStyle/>
          <a:p>
            <a:endParaRPr/>
          </a:p>
        </p:txBody>
      </p:sp>
      <p:sp>
        <p:nvSpPr>
          <p:cNvPr id="17" name="Object 17"/>
          <p:cNvSpPr txBox="1"/>
          <p:nvPr/>
        </p:nvSpPr>
        <p:spPr>
          <a:xfrm>
            <a:off x="5286421" y="1388242"/>
            <a:ext cx="2337938"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Object 18"/>
          <p:cNvSpPr txBox="1"/>
          <p:nvPr/>
        </p:nvSpPr>
        <p:spPr>
          <a:xfrm>
            <a:off x="5286421" y="1559692"/>
            <a:ext cx="1830720"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Object 19"/>
          <p:cNvGraphicFramePr/>
          <p:nvPr/>
        </p:nvGraphicFramePr>
        <p:xfrm>
          <a:off x="5286421" y="1781160"/>
          <a:ext cx="4190970" cy="1571671"/>
        </p:xfrm>
        <a:graphic>
          <a:graphicData uri="http://schemas.openxmlformats.org/drawingml/2006/chart">
            <c:chart xmlns:c="http://schemas.openxmlformats.org/drawingml/2006/chart" xmlns:r="http://schemas.openxmlformats.org/officeDocument/2006/relationships" r:id="rId4"/>
          </a:graphicData>
        </a:graphic>
      </p:graphicFrame>
      <p:sp>
        <p:nvSpPr>
          <p:cNvPr id="20" name="Object 20"/>
          <p:cNvSpPr/>
          <p:nvPr/>
        </p:nvSpPr>
        <p:spPr>
          <a:xfrm>
            <a:off x="5286421" y="3552810"/>
            <a:ext cx="4181460" cy="9510"/>
          </a:xfrm>
          <a:prstGeom prst="rect">
            <a:avLst/>
          </a:prstGeom>
          <a:solidFill>
            <a:srgbClr val="E3DCD3"/>
          </a:solidFill>
          <a:ln/>
        </p:spPr>
        <p:txBody>
          <a:bodyPr/>
          <a:lstStyle/>
          <a:p>
            <a:endParaRPr/>
          </a:p>
        </p:txBody>
      </p:sp>
      <p:sp>
        <p:nvSpPr>
          <p:cNvPr id="21" name="Object 21"/>
          <p:cNvSpPr txBox="1"/>
          <p:nvPr/>
        </p:nvSpPr>
        <p:spPr>
          <a:xfrm>
            <a:off x="5286421" y="362184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Object 22"/>
          <p:cNvSpPr/>
          <p:nvPr/>
        </p:nvSpPr>
        <p:spPr>
          <a:xfrm>
            <a:off x="419070" y="4152930"/>
            <a:ext cx="4524360" cy="2781330"/>
          </a:xfrm>
          <a:prstGeom prst="rect">
            <a:avLst/>
          </a:prstGeom>
          <a:solidFill>
            <a:srgbClr val="FAF7F3"/>
          </a:solidFill>
          <a:ln/>
        </p:spPr>
        <p:txBody>
          <a:bodyPr/>
          <a:lstStyle/>
          <a:p>
            <a:endParaRPr/>
          </a:p>
        </p:txBody>
      </p:sp>
      <p:sp>
        <p:nvSpPr>
          <p:cNvPr id="23" name="Object 23"/>
          <p:cNvSpPr/>
          <p:nvPr/>
        </p:nvSpPr>
        <p:spPr>
          <a:xfrm>
            <a:off x="419070" y="4152930"/>
            <a:ext cx="4524360" cy="28621"/>
          </a:xfrm>
          <a:prstGeom prst="rect">
            <a:avLst/>
          </a:prstGeom>
          <a:solidFill>
            <a:srgbClr val="B68757"/>
          </a:solidFill>
          <a:ln/>
        </p:spPr>
        <p:txBody>
          <a:bodyPr/>
          <a:lstStyle/>
          <a:p>
            <a:endParaRPr/>
          </a:p>
        </p:txBody>
      </p:sp>
      <p:sp>
        <p:nvSpPr>
          <p:cNvPr id="24" name="Object 24"/>
          <p:cNvSpPr txBox="1"/>
          <p:nvPr/>
        </p:nvSpPr>
        <p:spPr>
          <a:xfrm>
            <a:off x="590520" y="4302892"/>
            <a:ext cx="2773832"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Object 25"/>
          <p:cNvSpPr txBox="1"/>
          <p:nvPr/>
        </p:nvSpPr>
        <p:spPr>
          <a:xfrm>
            <a:off x="590520" y="4474342"/>
            <a:ext cx="918698"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Object 26"/>
          <p:cNvGraphicFramePr/>
          <p:nvPr/>
        </p:nvGraphicFramePr>
        <p:xfrm>
          <a:off x="590520" y="4695810"/>
          <a:ext cx="4190970" cy="1571671"/>
        </p:xfrm>
        <a:graphic>
          <a:graphicData uri="http://schemas.openxmlformats.org/drawingml/2006/chart">
            <c:chart xmlns:c="http://schemas.openxmlformats.org/drawingml/2006/chart" xmlns:r="http://schemas.openxmlformats.org/officeDocument/2006/relationships" r:id="rId5"/>
          </a:graphicData>
        </a:graphic>
      </p:graphicFrame>
      <p:sp>
        <p:nvSpPr>
          <p:cNvPr id="27" name="Object 27"/>
          <p:cNvSpPr/>
          <p:nvPr/>
        </p:nvSpPr>
        <p:spPr>
          <a:xfrm>
            <a:off x="590520" y="6467460"/>
            <a:ext cx="4181460" cy="9510"/>
          </a:xfrm>
          <a:prstGeom prst="rect">
            <a:avLst/>
          </a:prstGeom>
          <a:solidFill>
            <a:srgbClr val="E3DCD3"/>
          </a:solidFill>
          <a:ln/>
        </p:spPr>
        <p:txBody>
          <a:bodyPr/>
          <a:lstStyle/>
          <a:p>
            <a:endParaRPr/>
          </a:p>
        </p:txBody>
      </p:sp>
      <p:sp>
        <p:nvSpPr>
          <p:cNvPr id="28" name="Object 28"/>
          <p:cNvSpPr txBox="1"/>
          <p:nvPr/>
        </p:nvSpPr>
        <p:spPr>
          <a:xfrm>
            <a:off x="590520" y="653649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Commercial and facility services converts more revenue to cash than engineering services.</a:t>
            </a:r>
            <a:endParaRPr lang="en-US" sz="750" dirty="0"/>
          </a:p>
        </p:txBody>
      </p:sp>
      <p:sp>
        <p:nvSpPr>
          <p:cNvPr id="29" name="Object 29"/>
          <p:cNvSpPr/>
          <p:nvPr/>
        </p:nvSpPr>
        <p:spPr>
          <a:xfrm>
            <a:off x="5114971" y="4152930"/>
            <a:ext cx="4524360" cy="2781330"/>
          </a:xfrm>
          <a:prstGeom prst="rect">
            <a:avLst/>
          </a:prstGeom>
          <a:solidFill>
            <a:srgbClr val="FAF7F3"/>
          </a:solidFill>
          <a:ln/>
        </p:spPr>
        <p:txBody>
          <a:bodyPr/>
          <a:lstStyle/>
          <a:p>
            <a:endParaRPr/>
          </a:p>
        </p:txBody>
      </p:sp>
      <p:sp>
        <p:nvSpPr>
          <p:cNvPr id="30" name="Object 30"/>
          <p:cNvSpPr/>
          <p:nvPr/>
        </p:nvSpPr>
        <p:spPr>
          <a:xfrm>
            <a:off x="5114971" y="4152930"/>
            <a:ext cx="4524360" cy="28621"/>
          </a:xfrm>
          <a:prstGeom prst="rect">
            <a:avLst/>
          </a:prstGeom>
          <a:solidFill>
            <a:srgbClr val="B68757"/>
          </a:solidFill>
          <a:ln/>
        </p:spPr>
        <p:txBody>
          <a:bodyPr/>
          <a:lstStyle/>
          <a:p>
            <a:endParaRPr/>
          </a:p>
        </p:txBody>
      </p:sp>
      <p:sp>
        <p:nvSpPr>
          <p:cNvPr id="31" name="Object 31"/>
          <p:cNvSpPr txBox="1"/>
          <p:nvPr/>
        </p:nvSpPr>
        <p:spPr>
          <a:xfrm>
            <a:off x="5286421" y="4302892"/>
            <a:ext cx="2161276"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Object 32"/>
          <p:cNvSpPr txBox="1"/>
          <p:nvPr/>
        </p:nvSpPr>
        <p:spPr>
          <a:xfrm>
            <a:off x="5286421" y="4474342"/>
            <a:ext cx="918698"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Object 33"/>
          <p:cNvGraphicFramePr/>
          <p:nvPr/>
        </p:nvGraphicFramePr>
        <p:xfrm>
          <a:off x="5286421" y="4695810"/>
          <a:ext cx="4190970" cy="1571671"/>
        </p:xfrm>
        <a:graphic>
          <a:graphicData uri="http://schemas.openxmlformats.org/drawingml/2006/chart">
            <c:chart xmlns:c="http://schemas.openxmlformats.org/drawingml/2006/chart" xmlns:r="http://schemas.openxmlformats.org/officeDocument/2006/relationships" r:id="rId6"/>
          </a:graphicData>
        </a:graphic>
      </p:graphicFrame>
      <p:sp>
        <p:nvSpPr>
          <p:cNvPr id="34" name="Object 34"/>
          <p:cNvSpPr/>
          <p:nvPr/>
        </p:nvSpPr>
        <p:spPr>
          <a:xfrm>
            <a:off x="5286421" y="6467460"/>
            <a:ext cx="4181460" cy="9510"/>
          </a:xfrm>
          <a:prstGeom prst="rect">
            <a:avLst/>
          </a:prstGeom>
          <a:solidFill>
            <a:srgbClr val="E3DCD3"/>
          </a:solidFill>
          <a:ln/>
        </p:spPr>
        <p:txBody>
          <a:bodyPr/>
          <a:lstStyle/>
          <a:p>
            <a:endParaRPr/>
          </a:p>
        </p:txBody>
      </p:sp>
      <p:sp>
        <p:nvSpPr>
          <p:cNvPr id="35" name="Object 35"/>
          <p:cNvSpPr txBox="1"/>
          <p:nvPr/>
        </p:nvSpPr>
        <p:spPr>
          <a:xfrm>
            <a:off x="5286421" y="653649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Object 36"/>
          <p:cNvSpPr/>
          <p:nvPr/>
        </p:nvSpPr>
        <p:spPr>
          <a:xfrm>
            <a:off x="419070" y="7029450"/>
            <a:ext cx="9220170" cy="9510"/>
          </a:xfrm>
          <a:prstGeom prst="ellipse">
            <a:avLst/>
          </a:prstGeom>
          <a:solidFill>
            <a:srgbClr val="E3DCD3"/>
          </a:solidFill>
          <a:ln/>
        </p:spPr>
        <p:txBody>
          <a:bodyPr/>
          <a:lstStyle/>
          <a:p>
            <a:endParaRPr/>
          </a:p>
        </p:txBody>
      </p:sp>
      <p:pic>
        <p:nvPicPr>
          <p:cNvPr id="37" name="Object 37" descr="Benchmark International"/>
          <p:cNvPicPr>
            <a:picLocks noChangeAspect="1"/>
          </p:cNvPicPr>
          <p:nvPr/>
        </p:nvPicPr>
        <p:blipFill>
          <a:blip r:embed="rId7"/>
          <a:stretch>
            <a:fillRect/>
          </a:stretch>
        </p:blipFill>
        <p:spPr>
          <a:xfrm>
            <a:off x="419070" y="7143750"/>
            <a:ext cx="914400" cy="171450"/>
          </a:xfrm>
          <a:prstGeom prst="rect">
            <a:avLst/>
          </a:prstGeom>
        </p:spPr>
      </p:pic>
      <p:sp>
        <p:nvSpPr>
          <p:cNvPr id="38" name="Object 3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Source: </a:t>
            </a:r>
            <a:r>
              <a:rPr lang="en-US" sz="700" u="sng" dirty="0">
                <a:solidFill>
                  <a:srgbClr val="8C6239"/>
                </a:solidFill>
                <a:latin typeface="+mn-lt" pitchFamily="34" charset="0"/>
                <a:hlinkClick r:id="rId8"/>
              </a:rPr>
              <a:t>StockAnalysis</a:t>
            </a:r>
            <a:r>
              <a:rPr lang="en-US" sz="700" dirty="0">
                <a:solidFill>
                  <a:srgbClr val="6F6A66"/>
                </a:solidFill>
                <a:latin typeface="+mn-lt" pitchFamily="34" charset="0"/>
              </a:rPr>
              <a:t>, retrieved October 19, 2026. Medians cover the listed companies in each sector with a published figure, between 8 and 11 companies a sector. Trailing periods end between December 2025 and September 2026. EBITDA is as reported and is lower than the adjusted EBITDA companies present.</a:t>
            </a:r>
            <a:endParaRPr lang="en-US" sz="700" dirty="0"/>
          </a:p>
        </p:txBody>
      </p:sp>
      <p:sp>
        <p:nvSpPr>
          <p:cNvPr id="39" name="Object 39"/>
          <p:cNvSpPr txBox="1"/>
          <p:nvPr/>
        </p:nvSpPr>
        <p:spPr>
          <a:xfrm>
            <a:off x="9514423"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157423"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Earnings and Commentary</a:t>
            </a:r>
            <a:endParaRPr lang="en-US" sz="2050" dirty="0"/>
          </a:p>
        </p:txBody>
      </p:sp>
      <p:sp>
        <p:nvSpPr>
          <p:cNvPr id="6" name="Object 6"/>
          <p:cNvSpPr txBox="1"/>
          <p:nvPr/>
        </p:nvSpPr>
        <p:spPr>
          <a:xfrm>
            <a:off x="419070" y="883402"/>
            <a:ext cx="653119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Latest reported quarter, by theme</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762220" cy="5695980"/>
          </a:xfrm>
          <a:prstGeom prst="rect">
            <a:avLst/>
          </a:prstGeom>
          <a:solidFill>
            <a:srgbClr val="FAF7F3"/>
          </a:solidFill>
          <a:ln/>
        </p:spPr>
        <p:txBody>
          <a:bodyPr/>
          <a:lstStyle/>
          <a:p>
            <a:endParaRPr/>
          </a:p>
        </p:txBody>
      </p:sp>
      <p:sp>
        <p:nvSpPr>
          <p:cNvPr id="9" name="Object 9"/>
          <p:cNvSpPr/>
          <p:nvPr/>
        </p:nvSpPr>
        <p:spPr>
          <a:xfrm>
            <a:off x="419070" y="1238280"/>
            <a:ext cx="2762220" cy="28621"/>
          </a:xfrm>
          <a:prstGeom prst="rect">
            <a:avLst/>
          </a:prstGeom>
          <a:solidFill>
            <a:srgbClr val="B68757"/>
          </a:solidFill>
          <a:ln/>
        </p:spPr>
        <p:txBody>
          <a:bodyPr/>
          <a:lstStyle/>
          <a:p>
            <a:endParaRPr/>
          </a:p>
        </p:txBody>
      </p:sp>
      <p:sp>
        <p:nvSpPr>
          <p:cNvPr id="10" name="Object 10"/>
          <p:cNvSpPr txBox="1"/>
          <p:nvPr/>
        </p:nvSpPr>
        <p:spPr>
          <a:xfrm>
            <a:off x="552480" y="1378732"/>
            <a:ext cx="249686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Object 11"/>
          <p:cNvSpPr txBox="1"/>
          <p:nvPr/>
        </p:nvSpPr>
        <p:spPr>
          <a:xfrm>
            <a:off x="552480" y="1550182"/>
            <a:ext cx="249558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Object 12"/>
          <p:cNvGraphicFramePr/>
          <p:nvPr/>
        </p:nvGraphicFramePr>
        <p:xfrm>
          <a:off x="552480" y="1900215"/>
          <a:ext cx="2495580" cy="4267230"/>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3314700" y="1238280"/>
            <a:ext cx="2019270" cy="419070"/>
          </a:xfrm>
          <a:prstGeom prst="rect">
            <a:avLst/>
          </a:prstGeom>
          <a:solidFill>
            <a:srgbClr val="1B1A1A"/>
          </a:solidFill>
          <a:ln/>
        </p:spPr>
        <p:txBody>
          <a:bodyPr/>
          <a:lstStyle/>
          <a:p>
            <a:endParaRPr/>
          </a:p>
        </p:txBody>
      </p:sp>
      <p:pic>
        <p:nvPicPr>
          <p:cNvPr id="14" name="Object 14"/>
          <p:cNvPicPr>
            <a:picLocks noChangeAspect="1"/>
          </p:cNvPicPr>
          <p:nvPr/>
        </p:nvPicPr>
        <p:blipFill>
          <a:blip r:embed="rId4"/>
          <a:stretch>
            <a:fillRect/>
          </a:stretch>
        </p:blipFill>
        <p:spPr>
          <a:xfrm>
            <a:off x="3429000" y="1343071"/>
            <a:ext cx="209580" cy="209580"/>
          </a:xfrm>
          <a:prstGeom prst="rect">
            <a:avLst/>
          </a:prstGeom>
        </p:spPr>
      </p:pic>
      <p:sp>
        <p:nvSpPr>
          <p:cNvPr id="15" name="Object 15"/>
          <p:cNvSpPr txBox="1"/>
          <p:nvPr/>
        </p:nvSpPr>
        <p:spPr>
          <a:xfrm>
            <a:off x="373377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CONTRACTED AND INSPECTION-DRIVEN SERVICES</a:t>
            </a:r>
            <a:endParaRPr lang="en-US" sz="700" dirty="0"/>
          </a:p>
        </p:txBody>
      </p:sp>
      <p:sp>
        <p:nvSpPr>
          <p:cNvPr id="16" name="Object 16"/>
          <p:cNvSpPr/>
          <p:nvPr/>
        </p:nvSpPr>
        <p:spPr>
          <a:xfrm>
            <a:off x="3314700" y="2531124"/>
            <a:ext cx="2019270" cy="9510"/>
          </a:xfrm>
          <a:prstGeom prst="rect">
            <a:avLst/>
          </a:prstGeom>
          <a:solidFill>
            <a:srgbClr val="E3DCD3"/>
          </a:solidFill>
          <a:ln/>
        </p:spPr>
        <p:txBody>
          <a:bodyPr/>
          <a:lstStyle/>
          <a:p>
            <a:endParaRPr/>
          </a:p>
        </p:txBody>
      </p:sp>
      <p:sp>
        <p:nvSpPr>
          <p:cNvPr id="17" name="Object 17"/>
          <p:cNvSpPr txBox="1"/>
          <p:nvPr/>
        </p:nvSpPr>
        <p:spPr>
          <a:xfrm>
            <a:off x="3314700" y="1688348"/>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Russ Becker</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5"/>
              </a:rPr>
              <a:t>APi Group</a:t>
            </a:r>
            <a:endParaRPr lang="en-US" sz="700" dirty="0"/>
          </a:p>
        </p:txBody>
      </p:sp>
      <p:sp>
        <p:nvSpPr>
          <p:cNvPr id="18" name="Object 18"/>
          <p:cNvSpPr txBox="1"/>
          <p:nvPr/>
        </p:nvSpPr>
        <p:spPr>
          <a:xfrm>
            <a:off x="3314700" y="1852711"/>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Object 19"/>
          <p:cNvSpPr/>
          <p:nvPr/>
        </p:nvSpPr>
        <p:spPr>
          <a:xfrm>
            <a:off x="3314700" y="3640839"/>
            <a:ext cx="2019270" cy="9510"/>
          </a:xfrm>
          <a:prstGeom prst="rect">
            <a:avLst/>
          </a:prstGeom>
          <a:solidFill>
            <a:srgbClr val="E3DCD3"/>
          </a:solidFill>
          <a:ln/>
        </p:spPr>
        <p:txBody>
          <a:bodyPr/>
          <a:lstStyle/>
          <a:p>
            <a:endParaRPr/>
          </a:p>
        </p:txBody>
      </p:sp>
      <p:sp>
        <p:nvSpPr>
          <p:cNvPr id="20" name="Object 20"/>
          <p:cNvSpPr txBox="1"/>
          <p:nvPr/>
        </p:nvSpPr>
        <p:spPr>
          <a:xfrm>
            <a:off x="3314700" y="2600161"/>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Scott Salmirs</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6"/>
              </a:rPr>
              <a:t>ABM Industries</a:t>
            </a:r>
            <a:endParaRPr lang="en-US" sz="700" dirty="0"/>
          </a:p>
        </p:txBody>
      </p:sp>
      <p:sp>
        <p:nvSpPr>
          <p:cNvPr id="21" name="Object 21"/>
          <p:cNvSpPr txBox="1"/>
          <p:nvPr/>
        </p:nvSpPr>
        <p:spPr>
          <a:xfrm>
            <a:off x="3314700" y="2866891"/>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Object 22"/>
          <p:cNvSpPr/>
          <p:nvPr/>
        </p:nvSpPr>
        <p:spPr>
          <a:xfrm>
            <a:off x="3314700" y="4612389"/>
            <a:ext cx="2019270" cy="9510"/>
          </a:xfrm>
          <a:prstGeom prst="rect">
            <a:avLst/>
          </a:prstGeom>
          <a:solidFill>
            <a:srgbClr val="E3DCD3"/>
          </a:solidFill>
          <a:ln/>
        </p:spPr>
        <p:txBody>
          <a:bodyPr/>
          <a:lstStyle/>
          <a:p>
            <a:endParaRPr/>
          </a:p>
        </p:txBody>
      </p:sp>
      <p:sp>
        <p:nvSpPr>
          <p:cNvPr id="23" name="Object 23"/>
          <p:cNvSpPr txBox="1"/>
          <p:nvPr/>
        </p:nvSpPr>
        <p:spPr>
          <a:xfrm>
            <a:off x="3314700" y="3709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Jennifer Scanlon</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7"/>
              </a:rPr>
              <a:t>UL Solutions</a:t>
            </a:r>
            <a:endParaRPr lang="en-US" sz="700" dirty="0"/>
          </a:p>
        </p:txBody>
      </p:sp>
      <p:sp>
        <p:nvSpPr>
          <p:cNvPr id="24" name="Object 24"/>
          <p:cNvSpPr txBox="1"/>
          <p:nvPr/>
        </p:nvSpPr>
        <p:spPr>
          <a:xfrm>
            <a:off x="3314700" y="3976607"/>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Described record revenue and substantial cash flow, and said the company is well positioned for the second half of 2026.</a:t>
            </a:r>
            <a:endParaRPr lang="en-US" sz="750" dirty="0"/>
          </a:p>
        </p:txBody>
      </p:sp>
      <p:sp>
        <p:nvSpPr>
          <p:cNvPr id="25" name="Object 25"/>
          <p:cNvSpPr/>
          <p:nvPr/>
        </p:nvSpPr>
        <p:spPr>
          <a:xfrm>
            <a:off x="3314700" y="5445774"/>
            <a:ext cx="2019270" cy="9510"/>
          </a:xfrm>
          <a:prstGeom prst="rect">
            <a:avLst/>
          </a:prstGeom>
          <a:solidFill>
            <a:srgbClr val="E3DCD3"/>
          </a:solidFill>
          <a:ln/>
        </p:spPr>
        <p:txBody>
          <a:bodyPr/>
          <a:lstStyle/>
          <a:p>
            <a:endParaRPr/>
          </a:p>
        </p:txBody>
      </p:sp>
      <p:sp>
        <p:nvSpPr>
          <p:cNvPr id="26" name="Object 26"/>
          <p:cNvSpPr txBox="1"/>
          <p:nvPr/>
        </p:nvSpPr>
        <p:spPr>
          <a:xfrm>
            <a:off x="3314700" y="468142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Scott Patterson</a:t>
            </a:r>
            <a:r>
              <a:rPr lang="en-US" sz="700" dirty="0">
                <a:solidFill>
                  <a:srgbClr val="6F6A66"/>
                </a:solidFill>
                <a:latin typeface="+mn-lt" pitchFamily="34" charset="0"/>
              </a:rPr>
              <a:t>, CEO, </a:t>
            </a:r>
            <a:r>
              <a:rPr lang="en-US" sz="700" u="sng" dirty="0">
                <a:solidFill>
                  <a:srgbClr val="8C6239"/>
                </a:solidFill>
                <a:latin typeface="+mn-lt" pitchFamily="34" charset="0"/>
                <a:hlinkClick r:id="rId8"/>
              </a:rPr>
              <a:t>FirstService</a:t>
            </a:r>
            <a:endParaRPr lang="en-US" sz="700" dirty="0"/>
          </a:p>
        </p:txBody>
      </p:sp>
      <p:sp>
        <p:nvSpPr>
          <p:cNvPr id="27" name="Object 27"/>
          <p:cNvSpPr txBox="1"/>
          <p:nvPr/>
        </p:nvSpPr>
        <p:spPr>
          <a:xfrm>
            <a:off x="3314700" y="4948157"/>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Object 28"/>
          <p:cNvSpPr/>
          <p:nvPr/>
        </p:nvSpPr>
        <p:spPr>
          <a:xfrm>
            <a:off x="3314700" y="5998372"/>
            <a:ext cx="2019270" cy="790590"/>
          </a:xfrm>
          <a:prstGeom prst="rect">
            <a:avLst/>
          </a:prstGeom>
          <a:solidFill>
            <a:srgbClr val="FAF7F3"/>
          </a:solidFill>
          <a:ln/>
        </p:spPr>
        <p:txBody>
          <a:bodyPr/>
          <a:lstStyle/>
          <a:p>
            <a:endParaRPr/>
          </a:p>
        </p:txBody>
      </p:sp>
      <p:sp>
        <p:nvSpPr>
          <p:cNvPr id="29" name="Object 29"/>
          <p:cNvSpPr/>
          <p:nvPr/>
        </p:nvSpPr>
        <p:spPr>
          <a:xfrm>
            <a:off x="3314700" y="5998372"/>
            <a:ext cx="2019270" cy="28621"/>
          </a:xfrm>
          <a:prstGeom prst="rect">
            <a:avLst/>
          </a:prstGeom>
          <a:solidFill>
            <a:srgbClr val="B68757"/>
          </a:solidFill>
          <a:ln/>
        </p:spPr>
        <p:txBody>
          <a:bodyPr/>
          <a:lstStyle/>
          <a:p>
            <a:endParaRPr/>
          </a:p>
        </p:txBody>
      </p:sp>
      <p:sp>
        <p:nvSpPr>
          <p:cNvPr id="30" name="Object 30"/>
          <p:cNvSpPr txBox="1"/>
          <p:nvPr/>
        </p:nvSpPr>
        <p:spPr>
          <a:xfrm>
            <a:off x="3429000" y="610782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31" name="Object 31"/>
          <p:cNvSpPr txBox="1"/>
          <p:nvPr/>
        </p:nvSpPr>
        <p:spPr>
          <a:xfrm>
            <a:off x="3429000" y="6260256"/>
            <a:ext cx="179067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Object 32"/>
          <p:cNvSpPr/>
          <p:nvPr/>
        </p:nvSpPr>
        <p:spPr>
          <a:xfrm>
            <a:off x="5467380" y="1238280"/>
            <a:ext cx="2019270" cy="419070"/>
          </a:xfrm>
          <a:prstGeom prst="rect">
            <a:avLst/>
          </a:prstGeom>
          <a:solidFill>
            <a:srgbClr val="1B1A1A"/>
          </a:solidFill>
          <a:ln/>
        </p:spPr>
        <p:txBody>
          <a:bodyPr/>
          <a:lstStyle/>
          <a:p>
            <a:endParaRPr/>
          </a:p>
        </p:txBody>
      </p:sp>
      <p:pic>
        <p:nvPicPr>
          <p:cNvPr id="33" name="Object 33"/>
          <p:cNvPicPr>
            <a:picLocks noChangeAspect="1"/>
          </p:cNvPicPr>
          <p:nvPr/>
        </p:nvPicPr>
        <p:blipFill>
          <a:blip r:embed="rId9"/>
          <a:stretch>
            <a:fillRect/>
          </a:stretch>
        </p:blipFill>
        <p:spPr>
          <a:xfrm>
            <a:off x="5581680" y="1343071"/>
            <a:ext cx="209580" cy="209580"/>
          </a:xfrm>
          <a:prstGeom prst="rect">
            <a:avLst/>
          </a:prstGeom>
        </p:spPr>
      </p:pic>
      <p:sp>
        <p:nvSpPr>
          <p:cNvPr id="34" name="Object 34"/>
          <p:cNvSpPr txBox="1"/>
          <p:nvPr/>
        </p:nvSpPr>
        <p:spPr>
          <a:xfrm>
            <a:off x="588645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ENGINEERING AND ENERGY DEMAND</a:t>
            </a:r>
            <a:endParaRPr lang="en-US" sz="700" dirty="0"/>
          </a:p>
        </p:txBody>
      </p:sp>
      <p:sp>
        <p:nvSpPr>
          <p:cNvPr id="35" name="Object 35"/>
          <p:cNvSpPr/>
          <p:nvPr/>
        </p:nvSpPr>
        <p:spPr>
          <a:xfrm>
            <a:off x="5467380" y="2500335"/>
            <a:ext cx="2019270" cy="9510"/>
          </a:xfrm>
          <a:prstGeom prst="rect">
            <a:avLst/>
          </a:prstGeom>
          <a:solidFill>
            <a:srgbClr val="E3DCD3"/>
          </a:solidFill>
          <a:ln/>
        </p:spPr>
        <p:txBody>
          <a:bodyPr/>
          <a:lstStyle/>
          <a:p>
            <a:endParaRPr/>
          </a:p>
        </p:txBody>
      </p:sp>
      <p:sp>
        <p:nvSpPr>
          <p:cNvPr id="36" name="Object 36"/>
          <p:cNvSpPr txBox="1"/>
          <p:nvPr/>
        </p:nvSpPr>
        <p:spPr>
          <a:xfrm>
            <a:off x="5467380" y="1716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Gord Johnston</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0"/>
              </a:rPr>
              <a:t>Stantec</a:t>
            </a:r>
            <a:endParaRPr lang="en-US" sz="700" dirty="0"/>
          </a:p>
        </p:txBody>
      </p:sp>
      <p:sp>
        <p:nvSpPr>
          <p:cNvPr id="37" name="Object 37"/>
          <p:cNvSpPr txBox="1"/>
          <p:nvPr/>
        </p:nvSpPr>
        <p:spPr>
          <a:xfrm>
            <a:off x="5467380" y="186455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Object 38"/>
          <p:cNvSpPr/>
          <p:nvPr/>
        </p:nvSpPr>
        <p:spPr>
          <a:xfrm>
            <a:off x="5467380" y="3471885"/>
            <a:ext cx="2019270" cy="9510"/>
          </a:xfrm>
          <a:prstGeom prst="rect">
            <a:avLst/>
          </a:prstGeom>
          <a:solidFill>
            <a:srgbClr val="E3DCD3"/>
          </a:solidFill>
          <a:ln/>
        </p:spPr>
        <p:txBody>
          <a:bodyPr/>
          <a:lstStyle/>
          <a:p>
            <a:endParaRPr/>
          </a:p>
        </p:txBody>
      </p:sp>
      <p:sp>
        <p:nvSpPr>
          <p:cNvPr id="39" name="Object 39"/>
          <p:cNvSpPr txBox="1"/>
          <p:nvPr/>
        </p:nvSpPr>
        <p:spPr>
          <a:xfrm>
            <a:off x="5467380" y="256937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Mike Bieber</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1"/>
              </a:rPr>
              <a:t>Willdan Group</a:t>
            </a:r>
            <a:endParaRPr lang="en-US" sz="700" dirty="0"/>
          </a:p>
        </p:txBody>
      </p:sp>
      <p:sp>
        <p:nvSpPr>
          <p:cNvPr id="40" name="Object 40"/>
          <p:cNvSpPr txBox="1"/>
          <p:nvPr/>
        </p:nvSpPr>
        <p:spPr>
          <a:xfrm>
            <a:off x="5467380" y="283610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Object 41"/>
          <p:cNvSpPr/>
          <p:nvPr/>
        </p:nvSpPr>
        <p:spPr>
          <a:xfrm>
            <a:off x="5467380" y="4443435"/>
            <a:ext cx="2019270" cy="9510"/>
          </a:xfrm>
          <a:prstGeom prst="rect">
            <a:avLst/>
          </a:prstGeom>
          <a:solidFill>
            <a:srgbClr val="E3DCD3"/>
          </a:solidFill>
          <a:ln/>
        </p:spPr>
        <p:txBody>
          <a:bodyPr/>
          <a:lstStyle/>
          <a:p>
            <a:endParaRPr/>
          </a:p>
        </p:txBody>
      </p:sp>
      <p:sp>
        <p:nvSpPr>
          <p:cNvPr id="42" name="Object 42"/>
          <p:cNvSpPr txBox="1"/>
          <p:nvPr/>
        </p:nvSpPr>
        <p:spPr>
          <a:xfrm>
            <a:off x="5467380" y="354092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Gary Bowman</a:t>
            </a:r>
            <a:r>
              <a:rPr lang="en-US" sz="700" dirty="0">
                <a:solidFill>
                  <a:srgbClr val="6F6A66"/>
                </a:solidFill>
                <a:latin typeface="+mn-lt" pitchFamily="34" charset="0"/>
              </a:rPr>
              <a:t>, Founder and CEO, </a:t>
            </a:r>
            <a:r>
              <a:rPr lang="en-US" sz="700" u="sng" dirty="0">
                <a:solidFill>
                  <a:srgbClr val="8C6239"/>
                </a:solidFill>
                <a:latin typeface="+mn-lt" pitchFamily="34" charset="0"/>
                <a:hlinkClick r:id="rId12"/>
              </a:rPr>
              <a:t>Bowman Consulting</a:t>
            </a:r>
            <a:endParaRPr lang="en-US" sz="700" dirty="0"/>
          </a:p>
        </p:txBody>
      </p:sp>
      <p:sp>
        <p:nvSpPr>
          <p:cNvPr id="43" name="Object 43"/>
          <p:cNvSpPr txBox="1"/>
          <p:nvPr/>
        </p:nvSpPr>
        <p:spPr>
          <a:xfrm>
            <a:off x="5467380" y="380765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Object 44"/>
          <p:cNvSpPr/>
          <p:nvPr/>
        </p:nvSpPr>
        <p:spPr>
          <a:xfrm>
            <a:off x="5467380" y="5157765"/>
            <a:ext cx="2019270" cy="9510"/>
          </a:xfrm>
          <a:prstGeom prst="rect">
            <a:avLst/>
          </a:prstGeom>
          <a:solidFill>
            <a:srgbClr val="E3DCD3"/>
          </a:solidFill>
          <a:ln/>
        </p:spPr>
        <p:txBody>
          <a:bodyPr/>
          <a:lstStyle/>
          <a:p>
            <a:endParaRPr/>
          </a:p>
        </p:txBody>
      </p:sp>
      <p:sp>
        <p:nvSpPr>
          <p:cNvPr id="45" name="Object 45"/>
          <p:cNvSpPr txBox="1"/>
          <p:nvPr/>
        </p:nvSpPr>
        <p:spPr>
          <a:xfrm>
            <a:off x="5467380" y="451247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Roger Argus</a:t>
            </a:r>
            <a:r>
              <a:rPr lang="en-US" sz="700" dirty="0">
                <a:solidFill>
                  <a:srgbClr val="6F6A66"/>
                </a:solidFill>
                <a:latin typeface="+mn-lt" pitchFamily="34" charset="0"/>
              </a:rPr>
              <a:t>, CEO, </a:t>
            </a:r>
            <a:r>
              <a:rPr lang="en-US" sz="700" u="sng" dirty="0">
                <a:solidFill>
                  <a:srgbClr val="8C6239"/>
                </a:solidFill>
                <a:latin typeface="+mn-lt" pitchFamily="34" charset="0"/>
                <a:hlinkClick r:id="rId13"/>
              </a:rPr>
              <a:t>Tetra Tech</a:t>
            </a:r>
            <a:endParaRPr lang="en-US" sz="700" dirty="0"/>
          </a:p>
        </p:txBody>
      </p:sp>
      <p:sp>
        <p:nvSpPr>
          <p:cNvPr id="46" name="Object 46"/>
          <p:cNvSpPr txBox="1"/>
          <p:nvPr/>
        </p:nvSpPr>
        <p:spPr>
          <a:xfrm>
            <a:off x="5467380" y="4660148"/>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Object 47"/>
          <p:cNvSpPr/>
          <p:nvPr/>
        </p:nvSpPr>
        <p:spPr>
          <a:xfrm>
            <a:off x="5467380" y="6000750"/>
            <a:ext cx="2019270" cy="933420"/>
          </a:xfrm>
          <a:prstGeom prst="rect">
            <a:avLst/>
          </a:prstGeom>
          <a:solidFill>
            <a:srgbClr val="FAF7F3"/>
          </a:solidFill>
          <a:ln/>
        </p:spPr>
        <p:txBody>
          <a:bodyPr/>
          <a:lstStyle/>
          <a:p>
            <a:endParaRPr/>
          </a:p>
        </p:txBody>
      </p:sp>
      <p:sp>
        <p:nvSpPr>
          <p:cNvPr id="48" name="Object 48"/>
          <p:cNvSpPr/>
          <p:nvPr/>
        </p:nvSpPr>
        <p:spPr>
          <a:xfrm>
            <a:off x="5467380" y="6000750"/>
            <a:ext cx="2019270" cy="28621"/>
          </a:xfrm>
          <a:prstGeom prst="rect">
            <a:avLst/>
          </a:prstGeom>
          <a:solidFill>
            <a:srgbClr val="B68757"/>
          </a:solidFill>
          <a:ln/>
        </p:spPr>
        <p:txBody>
          <a:bodyPr/>
          <a:lstStyle/>
          <a:p>
            <a:endParaRPr/>
          </a:p>
        </p:txBody>
      </p:sp>
      <p:sp>
        <p:nvSpPr>
          <p:cNvPr id="49" name="Object 49"/>
          <p:cNvSpPr txBox="1"/>
          <p:nvPr/>
        </p:nvSpPr>
        <p:spPr>
          <a:xfrm>
            <a:off x="5581680" y="611029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50" name="Object 50"/>
          <p:cNvSpPr txBox="1"/>
          <p:nvPr/>
        </p:nvSpPr>
        <p:spPr>
          <a:xfrm>
            <a:off x="5581680" y="6262726"/>
            <a:ext cx="179067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Object 51"/>
          <p:cNvSpPr/>
          <p:nvPr/>
        </p:nvSpPr>
        <p:spPr>
          <a:xfrm>
            <a:off x="7619970" y="1238280"/>
            <a:ext cx="2019270" cy="419070"/>
          </a:xfrm>
          <a:prstGeom prst="rect">
            <a:avLst/>
          </a:prstGeom>
          <a:solidFill>
            <a:srgbClr val="1B1A1A"/>
          </a:solidFill>
          <a:ln/>
        </p:spPr>
        <p:txBody>
          <a:bodyPr/>
          <a:lstStyle/>
          <a:p>
            <a:endParaRPr/>
          </a:p>
        </p:txBody>
      </p:sp>
      <p:pic>
        <p:nvPicPr>
          <p:cNvPr id="52" name="Object 52"/>
          <p:cNvPicPr>
            <a:picLocks noChangeAspect="1"/>
          </p:cNvPicPr>
          <p:nvPr/>
        </p:nvPicPr>
        <p:blipFill>
          <a:blip r:embed="rId14"/>
          <a:stretch>
            <a:fillRect/>
          </a:stretch>
        </p:blipFill>
        <p:spPr>
          <a:xfrm>
            <a:off x="7734270" y="1343071"/>
            <a:ext cx="209580" cy="209580"/>
          </a:xfrm>
          <a:prstGeom prst="rect">
            <a:avLst/>
          </a:prstGeom>
        </p:spPr>
      </p:pic>
      <p:sp>
        <p:nvSpPr>
          <p:cNvPr id="53" name="Object 53"/>
          <p:cNvSpPr txBox="1"/>
          <p:nvPr/>
        </p:nvSpPr>
        <p:spPr>
          <a:xfrm>
            <a:off x="803913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HIRING AND CLIENT BUDGETS</a:t>
            </a:r>
            <a:endParaRPr lang="en-US" sz="700" dirty="0"/>
          </a:p>
        </p:txBody>
      </p:sp>
      <p:sp>
        <p:nvSpPr>
          <p:cNvPr id="54" name="Object 54"/>
          <p:cNvSpPr/>
          <p:nvPr/>
        </p:nvSpPr>
        <p:spPr>
          <a:xfrm>
            <a:off x="7619970" y="2638410"/>
            <a:ext cx="2019270" cy="9510"/>
          </a:xfrm>
          <a:prstGeom prst="rect">
            <a:avLst/>
          </a:prstGeom>
          <a:solidFill>
            <a:srgbClr val="E3DCD3"/>
          </a:solidFill>
          <a:ln/>
        </p:spPr>
        <p:txBody>
          <a:bodyPr/>
          <a:lstStyle/>
          <a:p>
            <a:endParaRPr/>
          </a:p>
        </p:txBody>
      </p:sp>
      <p:sp>
        <p:nvSpPr>
          <p:cNvPr id="55" name="Object 55"/>
          <p:cNvSpPr txBox="1"/>
          <p:nvPr/>
        </p:nvSpPr>
        <p:spPr>
          <a:xfrm>
            <a:off x="7619970" y="1716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Jonas Prising</a:t>
            </a:r>
            <a:r>
              <a:rPr lang="en-US" sz="700" dirty="0">
                <a:solidFill>
                  <a:srgbClr val="6F6A66"/>
                </a:solidFill>
                <a:latin typeface="+mn-lt" pitchFamily="34" charset="0"/>
              </a:rPr>
              <a:t>, Chair and CEO, </a:t>
            </a:r>
            <a:r>
              <a:rPr lang="en-US" sz="700" u="sng" dirty="0">
                <a:solidFill>
                  <a:srgbClr val="8C6239"/>
                </a:solidFill>
                <a:latin typeface="+mn-lt" pitchFamily="34" charset="0"/>
                <a:hlinkClick r:id="rId15"/>
              </a:rPr>
              <a:t>ManpowerGroup</a:t>
            </a:r>
            <a:endParaRPr lang="en-US" sz="700" dirty="0"/>
          </a:p>
        </p:txBody>
      </p:sp>
      <p:sp>
        <p:nvSpPr>
          <p:cNvPr id="56" name="Object 56"/>
          <p:cNvSpPr txBox="1"/>
          <p:nvPr/>
        </p:nvSpPr>
        <p:spPr>
          <a:xfrm>
            <a:off x="7619970" y="1864553"/>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Object 57"/>
          <p:cNvSpPr/>
          <p:nvPr/>
        </p:nvSpPr>
        <p:spPr>
          <a:xfrm>
            <a:off x="7619970" y="3609960"/>
            <a:ext cx="2019270" cy="9510"/>
          </a:xfrm>
          <a:prstGeom prst="rect">
            <a:avLst/>
          </a:prstGeom>
          <a:solidFill>
            <a:srgbClr val="E3DCD3"/>
          </a:solidFill>
          <a:ln/>
        </p:spPr>
        <p:txBody>
          <a:bodyPr/>
          <a:lstStyle/>
          <a:p>
            <a:endParaRPr/>
          </a:p>
        </p:txBody>
      </p:sp>
      <p:sp>
        <p:nvSpPr>
          <p:cNvPr id="58" name="Object 58"/>
          <p:cNvSpPr txBox="1"/>
          <p:nvPr/>
        </p:nvSpPr>
        <p:spPr>
          <a:xfrm>
            <a:off x="7619970" y="270744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Joseph J. Liberatore</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6"/>
              </a:rPr>
              <a:t>Kforce</a:t>
            </a:r>
            <a:endParaRPr lang="en-US" sz="700" dirty="0"/>
          </a:p>
        </p:txBody>
      </p:sp>
      <p:sp>
        <p:nvSpPr>
          <p:cNvPr id="59" name="Object 59"/>
          <p:cNvSpPr txBox="1"/>
          <p:nvPr/>
        </p:nvSpPr>
        <p:spPr>
          <a:xfrm>
            <a:off x="7619970" y="2974177"/>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clients that are measured in adding permanent headcount are turning to flexible talent for their technology initiatives.</a:t>
            </a:r>
            <a:endParaRPr lang="en-US" sz="750" dirty="0"/>
          </a:p>
        </p:txBody>
      </p:sp>
      <p:sp>
        <p:nvSpPr>
          <p:cNvPr id="60" name="Object 60"/>
          <p:cNvSpPr/>
          <p:nvPr/>
        </p:nvSpPr>
        <p:spPr>
          <a:xfrm>
            <a:off x="7619970" y="4462455"/>
            <a:ext cx="2019270" cy="9510"/>
          </a:xfrm>
          <a:prstGeom prst="rect">
            <a:avLst/>
          </a:prstGeom>
          <a:solidFill>
            <a:srgbClr val="E3DCD3"/>
          </a:solidFill>
          <a:ln/>
        </p:spPr>
        <p:txBody>
          <a:bodyPr/>
          <a:lstStyle/>
          <a:p>
            <a:endParaRPr/>
          </a:p>
        </p:txBody>
      </p:sp>
      <p:sp>
        <p:nvSpPr>
          <p:cNvPr id="61" name="Object 61"/>
          <p:cNvSpPr txBox="1"/>
          <p:nvPr/>
        </p:nvSpPr>
        <p:spPr>
          <a:xfrm>
            <a:off x="7619970" y="367899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Dave Peacock</a:t>
            </a:r>
            <a:r>
              <a:rPr lang="en-US" sz="700" dirty="0">
                <a:solidFill>
                  <a:srgbClr val="6F6A66"/>
                </a:solidFill>
                <a:latin typeface="+mn-lt" pitchFamily="34" charset="0"/>
              </a:rPr>
              <a:t>, CEO, </a:t>
            </a:r>
            <a:r>
              <a:rPr lang="en-US" sz="700" u="sng" dirty="0">
                <a:solidFill>
                  <a:srgbClr val="8C6239"/>
                </a:solidFill>
                <a:latin typeface="+mn-lt" pitchFamily="34" charset="0"/>
                <a:hlinkClick r:id="rId17"/>
              </a:rPr>
              <a:t>Advantage Solutions</a:t>
            </a:r>
            <a:endParaRPr lang="en-US" sz="700" dirty="0"/>
          </a:p>
        </p:txBody>
      </p:sp>
      <p:sp>
        <p:nvSpPr>
          <p:cNvPr id="62" name="Object 62"/>
          <p:cNvSpPr txBox="1"/>
          <p:nvPr/>
        </p:nvSpPr>
        <p:spPr>
          <a:xfrm>
            <a:off x="7619970" y="382667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clients favor programs with measurable returns, with demand accelerating in experiential services while branded services declined.</a:t>
            </a:r>
            <a:endParaRPr lang="en-US" sz="750" dirty="0"/>
          </a:p>
        </p:txBody>
      </p:sp>
      <p:sp>
        <p:nvSpPr>
          <p:cNvPr id="63" name="Object 63"/>
          <p:cNvSpPr/>
          <p:nvPr/>
        </p:nvSpPr>
        <p:spPr>
          <a:xfrm>
            <a:off x="7619970" y="5295930"/>
            <a:ext cx="2019270" cy="9510"/>
          </a:xfrm>
          <a:prstGeom prst="rect">
            <a:avLst/>
          </a:prstGeom>
          <a:solidFill>
            <a:srgbClr val="E3DCD3"/>
          </a:solidFill>
          <a:ln/>
        </p:spPr>
        <p:txBody>
          <a:bodyPr/>
          <a:lstStyle/>
          <a:p>
            <a:endParaRPr/>
          </a:p>
        </p:txBody>
      </p:sp>
      <p:sp>
        <p:nvSpPr>
          <p:cNvPr id="64" name="Object 64"/>
          <p:cNvSpPr txBox="1"/>
          <p:nvPr/>
        </p:nvSpPr>
        <p:spPr>
          <a:xfrm>
            <a:off x="7619970" y="4531492"/>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M. Keith Waddell</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8"/>
              </a:rPr>
              <a:t>Robert Half</a:t>
            </a:r>
            <a:endParaRPr lang="en-US" sz="700" dirty="0"/>
          </a:p>
        </p:txBody>
      </p:sp>
      <p:sp>
        <p:nvSpPr>
          <p:cNvPr id="65" name="Object 65"/>
          <p:cNvSpPr txBox="1"/>
          <p:nvPr/>
        </p:nvSpPr>
        <p:spPr>
          <a:xfrm>
            <a:off x="7619970" y="4798223"/>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Object 66"/>
          <p:cNvSpPr/>
          <p:nvPr/>
        </p:nvSpPr>
        <p:spPr>
          <a:xfrm>
            <a:off x="7619970" y="6000750"/>
            <a:ext cx="2019270" cy="933420"/>
          </a:xfrm>
          <a:prstGeom prst="rect">
            <a:avLst/>
          </a:prstGeom>
          <a:solidFill>
            <a:srgbClr val="FAF7F3"/>
          </a:solidFill>
          <a:ln/>
        </p:spPr>
        <p:txBody>
          <a:bodyPr/>
          <a:lstStyle/>
          <a:p>
            <a:endParaRPr/>
          </a:p>
        </p:txBody>
      </p:sp>
      <p:sp>
        <p:nvSpPr>
          <p:cNvPr id="67" name="Object 67"/>
          <p:cNvSpPr/>
          <p:nvPr/>
        </p:nvSpPr>
        <p:spPr>
          <a:xfrm>
            <a:off x="7619970" y="6000750"/>
            <a:ext cx="2019270" cy="28621"/>
          </a:xfrm>
          <a:prstGeom prst="rect">
            <a:avLst/>
          </a:prstGeom>
          <a:solidFill>
            <a:srgbClr val="B68757"/>
          </a:solidFill>
          <a:ln/>
        </p:spPr>
        <p:txBody>
          <a:bodyPr/>
          <a:lstStyle/>
          <a:p>
            <a:endParaRPr/>
          </a:p>
        </p:txBody>
      </p:sp>
      <p:sp>
        <p:nvSpPr>
          <p:cNvPr id="68" name="Object 68"/>
          <p:cNvSpPr txBox="1"/>
          <p:nvPr/>
        </p:nvSpPr>
        <p:spPr>
          <a:xfrm>
            <a:off x="7734270" y="611029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69" name="Object 69"/>
          <p:cNvSpPr txBox="1"/>
          <p:nvPr/>
        </p:nvSpPr>
        <p:spPr>
          <a:xfrm>
            <a:off x="7734270" y="6262726"/>
            <a:ext cx="179067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Object 70"/>
          <p:cNvSpPr/>
          <p:nvPr/>
        </p:nvSpPr>
        <p:spPr>
          <a:xfrm>
            <a:off x="419070" y="7029450"/>
            <a:ext cx="9220170" cy="9510"/>
          </a:xfrm>
          <a:prstGeom prst="ellipse">
            <a:avLst/>
          </a:prstGeom>
          <a:solidFill>
            <a:srgbClr val="E3DCD3"/>
          </a:solidFill>
          <a:ln/>
        </p:spPr>
        <p:txBody>
          <a:bodyPr/>
          <a:lstStyle/>
          <a:p>
            <a:endParaRPr/>
          </a:p>
        </p:txBody>
      </p:sp>
      <p:pic>
        <p:nvPicPr>
          <p:cNvPr id="71" name="Object 71" descr="Benchmark International"/>
          <p:cNvPicPr>
            <a:picLocks noChangeAspect="1"/>
          </p:cNvPicPr>
          <p:nvPr/>
        </p:nvPicPr>
        <p:blipFill>
          <a:blip r:embed="rId19"/>
          <a:stretch>
            <a:fillRect/>
          </a:stretch>
        </p:blipFill>
        <p:spPr>
          <a:xfrm>
            <a:off x="419070" y="7143750"/>
            <a:ext cx="914400" cy="171450"/>
          </a:xfrm>
          <a:prstGeom prst="rect">
            <a:avLst/>
          </a:prstGeom>
        </p:spPr>
      </p:pic>
      <p:sp>
        <p:nvSpPr>
          <p:cNvPr id="72" name="Object 72"/>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Figures are from each earnings release, linked from the company name. Stantec, Willdan, Bowman, and Stagwell are on net revenue, Korn Ferry is on fee revenue, and Crawford is computed from revenues before reimbursements. Omnicom, Tetra Tech, and Baldwin state no comparable change and are not charted.</a:t>
            </a:r>
            <a:endParaRPr lang="en-US" sz="700" dirty="0"/>
          </a:p>
        </p:txBody>
      </p:sp>
      <p:sp>
        <p:nvSpPr>
          <p:cNvPr id="73" name="Object 73"/>
          <p:cNvSpPr txBox="1"/>
          <p:nvPr/>
        </p:nvSpPr>
        <p:spPr>
          <a:xfrm>
            <a:off x="9517258"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05081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Economic Trends</a:t>
            </a:r>
            <a:endParaRPr lang="en-US" sz="2050" dirty="0"/>
          </a:p>
        </p:txBody>
      </p:sp>
      <p:sp>
        <p:nvSpPr>
          <p:cNvPr id="6" name="Object 6"/>
          <p:cNvSpPr txBox="1"/>
          <p:nvPr/>
        </p:nvSpPr>
        <p:spPr>
          <a:xfrm>
            <a:off x="419070" y="883402"/>
            <a:ext cx="7128297"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Growth, hiring, rates, and services employment through September 2026</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133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txBox="1"/>
          <p:nvPr/>
        </p:nvSpPr>
        <p:spPr>
          <a:xfrm>
            <a:off x="552480" y="1369223"/>
            <a:ext cx="1066373"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Real GDP growth</a:t>
            </a:r>
            <a:endParaRPr lang="en-US" sz="950" dirty="0"/>
          </a:p>
        </p:txBody>
      </p:sp>
      <p:sp>
        <p:nvSpPr>
          <p:cNvPr id="11" name="Object 11"/>
          <p:cNvSpPr txBox="1"/>
          <p:nvPr/>
        </p:nvSpPr>
        <p:spPr>
          <a:xfrm>
            <a:off x="55248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Quarterly change at a seasonally adjusted annual rate. Source: Bureau of Economic Analysis via </a:t>
            </a:r>
            <a:r>
              <a:rPr lang="en-US" sz="700" u="sng" dirty="0">
                <a:solidFill>
                  <a:srgbClr val="8C6239"/>
                </a:solidFill>
                <a:latin typeface="+mn-lt" pitchFamily="34" charset="0"/>
                <a:hlinkClick r:id="rId3">
                  <a:extLst>
                    <a:ext uri="{A12FA001-AC4F-418D-AE19-62706E023703}">
                      <ahyp:hlinkClr xmlns:ahyp="http://schemas.microsoft.com/office/drawing/2018/hyperlinkcolor" val="tx"/>
                    </a:ext>
                  </a:extLst>
                </a:hlinkClick>
              </a:rPr>
              <a:t>FRED</a:t>
            </a:r>
            <a:endParaRPr lang="en-US" sz="700" dirty="0"/>
          </a:p>
        </p:txBody>
      </p:sp>
      <p:graphicFrame>
        <p:nvGraphicFramePr>
          <p:cNvPr id="12" name="Object 12"/>
          <p:cNvGraphicFramePr/>
          <p:nvPr/>
        </p:nvGraphicFramePr>
        <p:xfrm>
          <a:off x="552480" y="1890705"/>
          <a:ext cx="2667030" cy="1314450"/>
        </p:xfrm>
        <a:graphic>
          <a:graphicData uri="http://schemas.openxmlformats.org/drawingml/2006/chart">
            <c:chart xmlns:c="http://schemas.openxmlformats.org/drawingml/2006/chart" xmlns:r="http://schemas.openxmlformats.org/officeDocument/2006/relationships" r:id="rId4"/>
          </a:graphicData>
        </a:graphic>
      </p:graphicFrame>
      <p:sp>
        <p:nvSpPr>
          <p:cNvPr id="13" name="Object 13"/>
          <p:cNvSpPr/>
          <p:nvPr/>
        </p:nvSpPr>
        <p:spPr>
          <a:xfrm>
            <a:off x="552480" y="3571921"/>
            <a:ext cx="2705070" cy="9510"/>
          </a:xfrm>
          <a:prstGeom prst="rect">
            <a:avLst/>
          </a:prstGeom>
          <a:solidFill>
            <a:srgbClr val="E3DCD3"/>
          </a:solidFill>
          <a:ln/>
        </p:spPr>
        <p:txBody>
          <a:bodyPr/>
          <a:lstStyle/>
          <a:p>
            <a:endParaRPr/>
          </a:p>
        </p:txBody>
      </p:sp>
      <p:sp>
        <p:nvSpPr>
          <p:cNvPr id="14" name="Object 14"/>
          <p:cNvSpPr txBox="1"/>
          <p:nvPr/>
        </p:nvSpPr>
        <p:spPr>
          <a:xfrm>
            <a:off x="55248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Object 15"/>
          <p:cNvSpPr/>
          <p:nvPr/>
        </p:nvSpPr>
        <p:spPr>
          <a:xfrm>
            <a:off x="3543300" y="1238280"/>
            <a:ext cx="2971800" cy="2781330"/>
          </a:xfrm>
          <a:prstGeom prst="rect">
            <a:avLst/>
          </a:prstGeom>
          <a:solidFill>
            <a:srgbClr val="FAF7F3"/>
          </a:solidFill>
          <a:ln/>
        </p:spPr>
        <p:txBody>
          <a:bodyPr/>
          <a:lstStyle/>
          <a:p>
            <a:endParaRPr/>
          </a:p>
        </p:txBody>
      </p:sp>
      <p:sp>
        <p:nvSpPr>
          <p:cNvPr id="16" name="Object 16"/>
          <p:cNvSpPr/>
          <p:nvPr/>
        </p:nvSpPr>
        <p:spPr>
          <a:xfrm>
            <a:off x="3543300" y="1238280"/>
            <a:ext cx="2971800" cy="28621"/>
          </a:xfrm>
          <a:prstGeom prst="rect">
            <a:avLst/>
          </a:prstGeom>
          <a:solidFill>
            <a:srgbClr val="B68757"/>
          </a:solidFill>
          <a:ln/>
        </p:spPr>
        <p:txBody>
          <a:bodyPr/>
          <a:lstStyle/>
          <a:p>
            <a:endParaRPr/>
          </a:p>
        </p:txBody>
      </p:sp>
      <p:sp>
        <p:nvSpPr>
          <p:cNvPr id="17" name="Object 17"/>
          <p:cNvSpPr txBox="1"/>
          <p:nvPr/>
        </p:nvSpPr>
        <p:spPr>
          <a:xfrm>
            <a:off x="3676620" y="1369223"/>
            <a:ext cx="1250899"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Unemployment rate</a:t>
            </a:r>
            <a:endParaRPr lang="en-US" sz="950" dirty="0"/>
          </a:p>
        </p:txBody>
      </p:sp>
      <p:sp>
        <p:nvSpPr>
          <p:cNvPr id="18" name="Object 18"/>
          <p:cNvSpPr txBox="1"/>
          <p:nvPr/>
        </p:nvSpPr>
        <p:spPr>
          <a:xfrm>
            <a:off x="367662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Seasonally adjusted. Source: Bureau of Labor Statistics via </a:t>
            </a:r>
            <a:r>
              <a:rPr lang="en-US" sz="700" u="sng" dirty="0">
                <a:solidFill>
                  <a:srgbClr val="8C6239"/>
                </a:solidFill>
                <a:latin typeface="+mn-lt" pitchFamily="34" charset="0"/>
                <a:hlinkClick r:id="rId5">
                  <a:extLst>
                    <a:ext uri="{A12FA001-AC4F-418D-AE19-62706E023703}">
                      <ahyp:hlinkClr xmlns:ahyp="http://schemas.microsoft.com/office/drawing/2018/hyperlinkcolor" val="tx"/>
                    </a:ext>
                  </a:extLst>
                </a:hlinkClick>
              </a:rPr>
              <a:t>FRED</a:t>
            </a:r>
            <a:endParaRPr lang="en-US" sz="700" dirty="0"/>
          </a:p>
        </p:txBody>
      </p:sp>
      <p:graphicFrame>
        <p:nvGraphicFramePr>
          <p:cNvPr id="19" name="Object 19"/>
          <p:cNvGraphicFramePr/>
          <p:nvPr/>
        </p:nvGraphicFramePr>
        <p:xfrm>
          <a:off x="3676620" y="1890705"/>
          <a:ext cx="2667030" cy="1314450"/>
        </p:xfrm>
        <a:graphic>
          <a:graphicData uri="http://schemas.openxmlformats.org/drawingml/2006/chart">
            <c:chart xmlns:c="http://schemas.openxmlformats.org/drawingml/2006/chart" xmlns:r="http://schemas.openxmlformats.org/officeDocument/2006/relationships" r:id="rId6"/>
          </a:graphicData>
        </a:graphic>
      </p:graphicFrame>
      <p:sp>
        <p:nvSpPr>
          <p:cNvPr id="20" name="Object 20"/>
          <p:cNvSpPr/>
          <p:nvPr/>
        </p:nvSpPr>
        <p:spPr>
          <a:xfrm>
            <a:off x="3676620" y="3571921"/>
            <a:ext cx="2705070" cy="9510"/>
          </a:xfrm>
          <a:prstGeom prst="rect">
            <a:avLst/>
          </a:prstGeom>
          <a:solidFill>
            <a:srgbClr val="E3DCD3"/>
          </a:solidFill>
          <a:ln/>
        </p:spPr>
        <p:txBody>
          <a:bodyPr/>
          <a:lstStyle/>
          <a:p>
            <a:endParaRPr/>
          </a:p>
        </p:txBody>
      </p:sp>
      <p:sp>
        <p:nvSpPr>
          <p:cNvPr id="21" name="Object 21"/>
          <p:cNvSpPr txBox="1"/>
          <p:nvPr/>
        </p:nvSpPr>
        <p:spPr>
          <a:xfrm>
            <a:off x="367662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Object 22"/>
          <p:cNvSpPr/>
          <p:nvPr/>
        </p:nvSpPr>
        <p:spPr>
          <a:xfrm>
            <a:off x="6667530" y="1238280"/>
            <a:ext cx="2971800" cy="2781330"/>
          </a:xfrm>
          <a:prstGeom prst="rect">
            <a:avLst/>
          </a:prstGeom>
          <a:solidFill>
            <a:srgbClr val="FAF7F3"/>
          </a:solidFill>
          <a:ln/>
        </p:spPr>
        <p:txBody>
          <a:bodyPr/>
          <a:lstStyle/>
          <a:p>
            <a:endParaRPr/>
          </a:p>
        </p:txBody>
      </p:sp>
      <p:sp>
        <p:nvSpPr>
          <p:cNvPr id="23" name="Object 23"/>
          <p:cNvSpPr/>
          <p:nvPr/>
        </p:nvSpPr>
        <p:spPr>
          <a:xfrm>
            <a:off x="6667530" y="1238280"/>
            <a:ext cx="2971800" cy="28621"/>
          </a:xfrm>
          <a:prstGeom prst="rect">
            <a:avLst/>
          </a:prstGeom>
          <a:solidFill>
            <a:srgbClr val="B68757"/>
          </a:solidFill>
          <a:ln/>
        </p:spPr>
        <p:txBody>
          <a:bodyPr/>
          <a:lstStyle/>
          <a:p>
            <a:endParaRPr/>
          </a:p>
        </p:txBody>
      </p:sp>
      <p:sp>
        <p:nvSpPr>
          <p:cNvPr id="24" name="Object 24"/>
          <p:cNvSpPr txBox="1"/>
          <p:nvPr/>
        </p:nvSpPr>
        <p:spPr>
          <a:xfrm>
            <a:off x="6800850" y="1369223"/>
            <a:ext cx="2377714"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Object 25"/>
          <p:cNvSpPr txBox="1"/>
          <p:nvPr/>
        </p:nvSpPr>
        <p:spPr>
          <a:xfrm>
            <a:off x="680085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Thousands of jobs, seasonally adjusted. Source: Bureau of Labor Statistics via </a:t>
            </a:r>
            <a:r>
              <a:rPr lang="en-US" sz="70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FRED</a:t>
            </a:r>
            <a:endParaRPr lang="en-US" sz="700" dirty="0"/>
          </a:p>
        </p:txBody>
      </p:sp>
      <p:graphicFrame>
        <p:nvGraphicFramePr>
          <p:cNvPr id="26" name="Object 26"/>
          <p:cNvGraphicFramePr/>
          <p:nvPr/>
        </p:nvGraphicFramePr>
        <p:xfrm>
          <a:off x="6800850" y="1890705"/>
          <a:ext cx="2667030" cy="1314450"/>
        </p:xfrm>
        <a:graphic>
          <a:graphicData uri="http://schemas.openxmlformats.org/drawingml/2006/chart">
            <c:chart xmlns:c="http://schemas.openxmlformats.org/drawingml/2006/chart" xmlns:r="http://schemas.openxmlformats.org/officeDocument/2006/relationships" r:id="rId8"/>
          </a:graphicData>
        </a:graphic>
      </p:graphicFrame>
      <p:sp>
        <p:nvSpPr>
          <p:cNvPr id="27" name="Object 27"/>
          <p:cNvSpPr/>
          <p:nvPr/>
        </p:nvSpPr>
        <p:spPr>
          <a:xfrm>
            <a:off x="6800850" y="3571921"/>
            <a:ext cx="2705070" cy="9510"/>
          </a:xfrm>
          <a:prstGeom prst="rect">
            <a:avLst/>
          </a:prstGeom>
          <a:solidFill>
            <a:srgbClr val="E3DCD3"/>
          </a:solidFill>
          <a:ln/>
        </p:spPr>
        <p:txBody>
          <a:bodyPr/>
          <a:lstStyle/>
          <a:p>
            <a:endParaRPr/>
          </a:p>
        </p:txBody>
      </p:sp>
      <p:sp>
        <p:nvSpPr>
          <p:cNvPr id="28" name="Object 28"/>
          <p:cNvSpPr txBox="1"/>
          <p:nvPr/>
        </p:nvSpPr>
        <p:spPr>
          <a:xfrm>
            <a:off x="680085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Object 29"/>
          <p:cNvSpPr/>
          <p:nvPr/>
        </p:nvSpPr>
        <p:spPr>
          <a:xfrm>
            <a:off x="419070" y="4152930"/>
            <a:ext cx="2971800" cy="2781330"/>
          </a:xfrm>
          <a:prstGeom prst="rect">
            <a:avLst/>
          </a:prstGeom>
          <a:solidFill>
            <a:srgbClr val="FAF7F3"/>
          </a:solidFill>
          <a:ln/>
        </p:spPr>
        <p:txBody>
          <a:bodyPr/>
          <a:lstStyle/>
          <a:p>
            <a:endParaRPr/>
          </a:p>
        </p:txBody>
      </p:sp>
      <p:sp>
        <p:nvSpPr>
          <p:cNvPr id="30" name="Object 30"/>
          <p:cNvSpPr/>
          <p:nvPr/>
        </p:nvSpPr>
        <p:spPr>
          <a:xfrm>
            <a:off x="419070" y="4152930"/>
            <a:ext cx="2971800" cy="28621"/>
          </a:xfrm>
          <a:prstGeom prst="rect">
            <a:avLst/>
          </a:prstGeom>
          <a:solidFill>
            <a:srgbClr val="B68757"/>
          </a:solidFill>
          <a:ln/>
        </p:spPr>
        <p:txBody>
          <a:bodyPr/>
          <a:lstStyle/>
          <a:p>
            <a:endParaRPr/>
          </a:p>
        </p:txBody>
      </p:sp>
      <p:sp>
        <p:nvSpPr>
          <p:cNvPr id="31" name="Object 31"/>
          <p:cNvSpPr txBox="1"/>
          <p:nvPr/>
        </p:nvSpPr>
        <p:spPr>
          <a:xfrm>
            <a:off x="552480" y="4283873"/>
            <a:ext cx="2705070" cy="314371"/>
          </a:xfrm>
          <a:prstGeom prst="rect">
            <a:avLst/>
          </a:prstGeom>
          <a:noFill/>
          <a:ln/>
        </p:spPr>
        <p:txBody>
          <a:bodyPr wrap="square" lIns="0" tIns="0" rIns="0" bIns="0" rtlCol="0" anchor="t"/>
          <a:lstStyle/>
          <a:p>
            <a:pPr marL="0" indent="0" algn="l">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Object 32"/>
          <p:cNvSpPr txBox="1"/>
          <p:nvPr/>
        </p:nvSpPr>
        <p:spPr>
          <a:xfrm>
            <a:off x="552480" y="4456748"/>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Monthly averages. Source: Federal Reserve via </a:t>
            </a:r>
            <a:r>
              <a:rPr lang="en-US" sz="70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FRED</a:t>
            </a:r>
            <a:r>
              <a:rPr lang="en-US" sz="700" dirty="0">
                <a:solidFill>
                  <a:srgbClr val="6F6A66"/>
                </a:solidFill>
                <a:latin typeface="+mn-lt" pitchFamily="34" charset="0"/>
              </a:rPr>
              <a:t> and </a:t>
            </a:r>
            <a:r>
              <a:rPr lang="en-US" sz="70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FRED</a:t>
            </a:r>
            <a:endParaRPr lang="en-US" sz="700" dirty="0"/>
          </a:p>
        </p:txBody>
      </p:sp>
      <p:graphicFrame>
        <p:nvGraphicFramePr>
          <p:cNvPr id="33" name="Object 33"/>
          <p:cNvGraphicFramePr/>
          <p:nvPr>
            <p:extLst>
              <p:ext uri="{D42A27DB-BD31-4B8C-83A1-F6EECF244321}"/>
            </p:extLst>
          </p:nvPr>
        </p:nvGraphicFramePr>
        <p:xfrm>
          <a:off x="552480" y="4806780"/>
          <a:ext cx="2667030" cy="1262055"/>
        </p:xfrm>
        <a:graphic>
          <a:graphicData uri="http://schemas.openxmlformats.org/drawingml/2006/chart">
            <c:chart xmlns:c="http://schemas.openxmlformats.org/drawingml/2006/chart" xmlns:r="http://schemas.openxmlformats.org/officeDocument/2006/relationships" r:id="rId11"/>
          </a:graphicData>
        </a:graphic>
      </p:graphicFrame>
      <p:sp>
        <p:nvSpPr>
          <p:cNvPr id="34" name="Object 34"/>
          <p:cNvSpPr txBox="1"/>
          <p:nvPr/>
        </p:nvSpPr>
        <p:spPr>
          <a:xfrm>
            <a:off x="714421" y="6087855"/>
            <a:ext cx="721187"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10-year Treasury</a:t>
            </a:r>
            <a:endParaRPr lang="en-US" sz="650" dirty="0"/>
          </a:p>
        </p:txBody>
      </p:sp>
      <p:sp>
        <p:nvSpPr>
          <p:cNvPr id="35" name="Object 35"/>
          <p:cNvSpPr/>
          <p:nvPr/>
        </p:nvSpPr>
        <p:spPr>
          <a:xfrm>
            <a:off x="552480" y="6130740"/>
            <a:ext cx="114300" cy="19020"/>
          </a:xfrm>
          <a:prstGeom prst="rect">
            <a:avLst/>
          </a:prstGeom>
          <a:solidFill>
            <a:srgbClr val="B68757"/>
          </a:solidFill>
          <a:ln/>
        </p:spPr>
        <p:txBody>
          <a:bodyPr/>
          <a:lstStyle/>
          <a:p>
            <a:endParaRPr/>
          </a:p>
        </p:txBody>
      </p:sp>
      <p:sp>
        <p:nvSpPr>
          <p:cNvPr id="36" name="Object 36"/>
          <p:cNvSpPr txBox="1"/>
          <p:nvPr/>
        </p:nvSpPr>
        <p:spPr>
          <a:xfrm>
            <a:off x="1673718" y="6087855"/>
            <a:ext cx="596189"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Federal funds</a:t>
            </a:r>
            <a:endParaRPr lang="en-US" sz="650" dirty="0"/>
          </a:p>
        </p:txBody>
      </p:sp>
      <p:sp>
        <p:nvSpPr>
          <p:cNvPr id="37" name="Object 37"/>
          <p:cNvSpPr/>
          <p:nvPr/>
        </p:nvSpPr>
        <p:spPr>
          <a:xfrm>
            <a:off x="1511778" y="6130740"/>
            <a:ext cx="114300" cy="19020"/>
          </a:xfrm>
          <a:prstGeom prst="rect">
            <a:avLst/>
          </a:prstGeom>
          <a:solidFill>
            <a:srgbClr val="1B1A1A"/>
          </a:solidFill>
          <a:ln/>
        </p:spPr>
        <p:txBody>
          <a:bodyPr/>
          <a:lstStyle/>
          <a:p>
            <a:endParaRPr/>
          </a:p>
        </p:txBody>
      </p:sp>
      <p:sp>
        <p:nvSpPr>
          <p:cNvPr id="38" name="Object 38"/>
          <p:cNvSpPr/>
          <p:nvPr/>
        </p:nvSpPr>
        <p:spPr>
          <a:xfrm>
            <a:off x="552480" y="6348405"/>
            <a:ext cx="2705070" cy="9510"/>
          </a:xfrm>
          <a:prstGeom prst="rect">
            <a:avLst/>
          </a:prstGeom>
          <a:solidFill>
            <a:srgbClr val="E3DCD3"/>
          </a:solidFill>
          <a:ln/>
        </p:spPr>
        <p:txBody>
          <a:bodyPr/>
          <a:lstStyle/>
          <a:p>
            <a:endParaRPr/>
          </a:p>
        </p:txBody>
      </p:sp>
      <p:sp>
        <p:nvSpPr>
          <p:cNvPr id="39" name="Object 39"/>
          <p:cNvSpPr txBox="1"/>
          <p:nvPr/>
        </p:nvSpPr>
        <p:spPr>
          <a:xfrm>
            <a:off x="552480" y="6417442"/>
            <a:ext cx="27050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Object 40"/>
          <p:cNvSpPr/>
          <p:nvPr/>
        </p:nvSpPr>
        <p:spPr>
          <a:xfrm>
            <a:off x="3543300" y="4152930"/>
            <a:ext cx="2971800" cy="2781330"/>
          </a:xfrm>
          <a:prstGeom prst="rect">
            <a:avLst/>
          </a:prstGeom>
          <a:solidFill>
            <a:srgbClr val="FAF7F3"/>
          </a:solidFill>
          <a:ln/>
        </p:spPr>
        <p:txBody>
          <a:bodyPr/>
          <a:lstStyle/>
          <a:p>
            <a:endParaRPr/>
          </a:p>
        </p:txBody>
      </p:sp>
      <p:sp>
        <p:nvSpPr>
          <p:cNvPr id="41" name="Object 41"/>
          <p:cNvSpPr/>
          <p:nvPr/>
        </p:nvSpPr>
        <p:spPr>
          <a:xfrm>
            <a:off x="3543300" y="4152930"/>
            <a:ext cx="2971800" cy="28621"/>
          </a:xfrm>
          <a:prstGeom prst="rect">
            <a:avLst/>
          </a:prstGeom>
          <a:solidFill>
            <a:srgbClr val="B68757"/>
          </a:solidFill>
          <a:ln/>
        </p:spPr>
        <p:txBody>
          <a:bodyPr/>
          <a:lstStyle/>
          <a:p>
            <a:endParaRPr/>
          </a:p>
        </p:txBody>
      </p:sp>
      <p:sp>
        <p:nvSpPr>
          <p:cNvPr id="42" name="Object 42"/>
          <p:cNvSpPr txBox="1"/>
          <p:nvPr/>
        </p:nvSpPr>
        <p:spPr>
          <a:xfrm>
            <a:off x="3676620" y="4283873"/>
            <a:ext cx="2304288"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Object 43"/>
          <p:cNvSpPr txBox="1"/>
          <p:nvPr/>
        </p:nvSpPr>
        <p:spPr>
          <a:xfrm>
            <a:off x="3676620" y="445532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Thousands of employees, seasonally adjusted. Source: Bureau of Labor Statistics via </a:t>
            </a:r>
            <a:r>
              <a:rPr lang="en-US" sz="700" u="sng" dirty="0">
                <a:solidFill>
                  <a:srgbClr val="8C6239"/>
                </a:solidFill>
                <a:latin typeface="+mn-lt" pitchFamily="34" charset="0"/>
                <a:hlinkClick r:id="rId12">
                  <a:extLst>
                    <a:ext uri="{A12FA001-AC4F-418D-AE19-62706E023703}">
                      <ahyp:hlinkClr xmlns:ahyp="http://schemas.microsoft.com/office/drawing/2018/hyperlinkcolor" val="tx"/>
                    </a:ext>
                  </a:extLst>
                </a:hlinkClick>
              </a:rPr>
              <a:t>FRED</a:t>
            </a:r>
            <a:endParaRPr lang="en-US" sz="700" dirty="0"/>
          </a:p>
        </p:txBody>
      </p:sp>
      <p:graphicFrame>
        <p:nvGraphicFramePr>
          <p:cNvPr id="44" name="Object 44"/>
          <p:cNvGraphicFramePr/>
          <p:nvPr/>
        </p:nvGraphicFramePr>
        <p:xfrm>
          <a:off x="3676620" y="4805355"/>
          <a:ext cx="2667030" cy="1314450"/>
        </p:xfrm>
        <a:graphic>
          <a:graphicData uri="http://schemas.openxmlformats.org/drawingml/2006/chart">
            <c:chart xmlns:c="http://schemas.openxmlformats.org/drawingml/2006/chart" xmlns:r="http://schemas.openxmlformats.org/officeDocument/2006/relationships" r:id="rId13"/>
          </a:graphicData>
        </a:graphic>
      </p:graphicFrame>
      <p:sp>
        <p:nvSpPr>
          <p:cNvPr id="45" name="Object 45"/>
          <p:cNvSpPr/>
          <p:nvPr/>
        </p:nvSpPr>
        <p:spPr>
          <a:xfrm>
            <a:off x="3676620" y="6357915"/>
            <a:ext cx="2705070" cy="9510"/>
          </a:xfrm>
          <a:prstGeom prst="rect">
            <a:avLst/>
          </a:prstGeom>
          <a:solidFill>
            <a:srgbClr val="E3DCD3"/>
          </a:solidFill>
          <a:ln/>
        </p:spPr>
        <p:txBody>
          <a:bodyPr/>
          <a:lstStyle/>
          <a:p>
            <a:endParaRPr/>
          </a:p>
        </p:txBody>
      </p:sp>
      <p:sp>
        <p:nvSpPr>
          <p:cNvPr id="46" name="Object 46"/>
          <p:cNvSpPr txBox="1"/>
          <p:nvPr/>
        </p:nvSpPr>
        <p:spPr>
          <a:xfrm>
            <a:off x="3676620" y="6426952"/>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Object 47"/>
          <p:cNvSpPr/>
          <p:nvPr/>
        </p:nvSpPr>
        <p:spPr>
          <a:xfrm>
            <a:off x="6667530" y="4152930"/>
            <a:ext cx="2971800" cy="2781330"/>
          </a:xfrm>
          <a:prstGeom prst="rect">
            <a:avLst/>
          </a:prstGeom>
          <a:solidFill>
            <a:srgbClr val="FAF7F3"/>
          </a:solidFill>
          <a:ln/>
        </p:spPr>
        <p:txBody>
          <a:bodyPr/>
          <a:lstStyle/>
          <a:p>
            <a:endParaRPr/>
          </a:p>
        </p:txBody>
      </p:sp>
      <p:sp>
        <p:nvSpPr>
          <p:cNvPr id="48" name="Object 48"/>
          <p:cNvSpPr/>
          <p:nvPr/>
        </p:nvSpPr>
        <p:spPr>
          <a:xfrm>
            <a:off x="6667530" y="4152930"/>
            <a:ext cx="2971800" cy="28621"/>
          </a:xfrm>
          <a:prstGeom prst="rect">
            <a:avLst/>
          </a:prstGeom>
          <a:solidFill>
            <a:srgbClr val="B68757"/>
          </a:solidFill>
          <a:ln/>
        </p:spPr>
        <p:txBody>
          <a:bodyPr/>
          <a:lstStyle/>
          <a:p>
            <a:endParaRPr/>
          </a:p>
        </p:txBody>
      </p:sp>
      <p:sp>
        <p:nvSpPr>
          <p:cNvPr id="49" name="Object 49"/>
          <p:cNvSpPr txBox="1"/>
          <p:nvPr/>
        </p:nvSpPr>
        <p:spPr>
          <a:xfrm>
            <a:off x="6800850" y="4283873"/>
            <a:ext cx="2705070" cy="314371"/>
          </a:xfrm>
          <a:prstGeom prst="rect">
            <a:avLst/>
          </a:prstGeom>
          <a:noFill/>
          <a:ln/>
        </p:spPr>
        <p:txBody>
          <a:bodyPr wrap="square" lIns="0" tIns="0" rIns="0" bIns="0" rtlCol="0" anchor="t"/>
          <a:lstStyle/>
          <a:p>
            <a:pPr marL="0" indent="0" algn="l">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Object 50"/>
          <p:cNvSpPr txBox="1"/>
          <p:nvPr/>
        </p:nvSpPr>
        <p:spPr>
          <a:xfrm>
            <a:off x="6800850" y="4456920"/>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Index, September 2021 = 100. Source: Bureau of Labor Statistics via </a:t>
            </a:r>
            <a:r>
              <a:rPr lang="en-US" sz="700" u="sng" dirty="0">
                <a:solidFill>
                  <a:srgbClr val="8C6239"/>
                </a:solidFill>
                <a:latin typeface="+mn-lt" pitchFamily="34" charset="0"/>
                <a:hlinkClick r:id="rId14">
                  <a:extLst>
                    <a:ext uri="{A12FA001-AC4F-418D-AE19-62706E023703}">
                      <ahyp:hlinkClr xmlns:ahyp="http://schemas.microsoft.com/office/drawing/2018/hyperlinkcolor" val="tx"/>
                    </a:ext>
                  </a:extLst>
                </a:hlinkClick>
              </a:rPr>
              <a:t>FRED</a:t>
            </a:r>
            <a:r>
              <a:rPr lang="en-US" sz="700" dirty="0">
                <a:solidFill>
                  <a:srgbClr val="6F6A66"/>
                </a:solidFill>
                <a:latin typeface="+mn-lt" pitchFamily="34" charset="0"/>
              </a:rPr>
              <a:t> and </a:t>
            </a:r>
            <a:r>
              <a:rPr lang="en-US" sz="700" u="sng" dirty="0">
                <a:solidFill>
                  <a:srgbClr val="8C6239"/>
                </a:solidFill>
                <a:latin typeface="+mn-lt" pitchFamily="34" charset="0"/>
                <a:hlinkClick r:id="rId15">
                  <a:extLst>
                    <a:ext uri="{A12FA001-AC4F-418D-AE19-62706E023703}">
                      <ahyp:hlinkClr xmlns:ahyp="http://schemas.microsoft.com/office/drawing/2018/hyperlinkcolor" val="tx"/>
                    </a:ext>
                  </a:extLst>
                </a:hlinkClick>
              </a:rPr>
              <a:t>FRED</a:t>
            </a:r>
            <a:endParaRPr lang="en-US" sz="700" dirty="0"/>
          </a:p>
        </p:txBody>
      </p:sp>
      <p:graphicFrame>
        <p:nvGraphicFramePr>
          <p:cNvPr id="51" name="Object 51"/>
          <p:cNvGraphicFramePr/>
          <p:nvPr>
            <p:extLst>
              <p:ext uri="{D42A27DB-BD31-4B8C-83A1-F6EECF244321}"/>
            </p:extLst>
          </p:nvPr>
        </p:nvGraphicFramePr>
        <p:xfrm>
          <a:off x="6800850" y="4806952"/>
          <a:ext cx="2667030" cy="1262055"/>
        </p:xfrm>
        <a:graphic>
          <a:graphicData uri="http://schemas.openxmlformats.org/drawingml/2006/chart">
            <c:chart xmlns:c="http://schemas.openxmlformats.org/drawingml/2006/chart" xmlns:r="http://schemas.openxmlformats.org/officeDocument/2006/relationships" r:id="rId16"/>
          </a:graphicData>
        </a:graphic>
      </p:graphicFrame>
      <p:sp>
        <p:nvSpPr>
          <p:cNvPr id="52" name="Object 52"/>
          <p:cNvSpPr txBox="1"/>
          <p:nvPr/>
        </p:nvSpPr>
        <p:spPr>
          <a:xfrm>
            <a:off x="6962790" y="6088027"/>
            <a:ext cx="1194664"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Architecture and engineering</a:t>
            </a:r>
            <a:endParaRPr lang="en-US" sz="650" dirty="0"/>
          </a:p>
        </p:txBody>
      </p:sp>
      <p:sp>
        <p:nvSpPr>
          <p:cNvPr id="53" name="Object 53"/>
          <p:cNvSpPr/>
          <p:nvPr/>
        </p:nvSpPr>
        <p:spPr>
          <a:xfrm>
            <a:off x="6800850" y="6130912"/>
            <a:ext cx="114300" cy="19020"/>
          </a:xfrm>
          <a:prstGeom prst="rect">
            <a:avLst/>
          </a:prstGeom>
          <a:solidFill>
            <a:srgbClr val="B68757"/>
          </a:solidFill>
          <a:ln/>
        </p:spPr>
        <p:txBody>
          <a:bodyPr/>
          <a:lstStyle/>
          <a:p>
            <a:endParaRPr/>
          </a:p>
        </p:txBody>
      </p:sp>
      <p:sp>
        <p:nvSpPr>
          <p:cNvPr id="54" name="Object 54"/>
          <p:cNvSpPr txBox="1"/>
          <p:nvPr/>
        </p:nvSpPr>
        <p:spPr>
          <a:xfrm>
            <a:off x="8395564" y="6088027"/>
            <a:ext cx="860816"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Services to buildings</a:t>
            </a:r>
            <a:endParaRPr lang="en-US" sz="650" dirty="0"/>
          </a:p>
        </p:txBody>
      </p:sp>
      <p:sp>
        <p:nvSpPr>
          <p:cNvPr id="55" name="Object 55"/>
          <p:cNvSpPr/>
          <p:nvPr/>
        </p:nvSpPr>
        <p:spPr>
          <a:xfrm>
            <a:off x="8233623" y="6130912"/>
            <a:ext cx="114300" cy="19020"/>
          </a:xfrm>
          <a:prstGeom prst="rect">
            <a:avLst/>
          </a:prstGeom>
          <a:solidFill>
            <a:srgbClr val="1B1A1A"/>
          </a:solidFill>
          <a:ln/>
        </p:spPr>
        <p:txBody>
          <a:bodyPr/>
          <a:lstStyle/>
          <a:p>
            <a:endParaRPr/>
          </a:p>
        </p:txBody>
      </p:sp>
      <p:sp>
        <p:nvSpPr>
          <p:cNvPr id="56" name="Object 56"/>
          <p:cNvSpPr/>
          <p:nvPr/>
        </p:nvSpPr>
        <p:spPr>
          <a:xfrm>
            <a:off x="6781830" y="6357915"/>
            <a:ext cx="2705070" cy="9510"/>
          </a:xfrm>
          <a:prstGeom prst="rect">
            <a:avLst/>
          </a:prstGeom>
          <a:solidFill>
            <a:srgbClr val="E3DCD3"/>
          </a:solidFill>
          <a:ln/>
        </p:spPr>
        <p:txBody>
          <a:bodyPr/>
          <a:lstStyle/>
          <a:p>
            <a:endParaRPr/>
          </a:p>
        </p:txBody>
      </p:sp>
      <p:sp>
        <p:nvSpPr>
          <p:cNvPr id="57" name="Object 57"/>
          <p:cNvSpPr txBox="1"/>
          <p:nvPr/>
        </p:nvSpPr>
        <p:spPr>
          <a:xfrm>
            <a:off x="6800850" y="6417442"/>
            <a:ext cx="27050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Object 58"/>
          <p:cNvSpPr/>
          <p:nvPr/>
        </p:nvSpPr>
        <p:spPr>
          <a:xfrm>
            <a:off x="419070" y="7029450"/>
            <a:ext cx="9220170" cy="9510"/>
          </a:xfrm>
          <a:prstGeom prst="ellipse">
            <a:avLst/>
          </a:prstGeom>
          <a:solidFill>
            <a:srgbClr val="E3DCD3"/>
          </a:solidFill>
          <a:ln/>
        </p:spPr>
        <p:txBody>
          <a:bodyPr/>
          <a:lstStyle/>
          <a:p>
            <a:endParaRPr/>
          </a:p>
        </p:txBody>
      </p:sp>
      <p:pic>
        <p:nvPicPr>
          <p:cNvPr id="59" name="Object 59" descr="Benchmark International"/>
          <p:cNvPicPr>
            <a:picLocks noChangeAspect="1"/>
          </p:cNvPicPr>
          <p:nvPr/>
        </p:nvPicPr>
        <p:blipFill>
          <a:blip r:embed="rId17"/>
          <a:stretch>
            <a:fillRect/>
          </a:stretch>
        </p:blipFill>
        <p:spPr>
          <a:xfrm>
            <a:off x="419070" y="7143750"/>
            <a:ext cx="914400" cy="171450"/>
          </a:xfrm>
          <a:prstGeom prst="rect">
            <a:avLst/>
          </a:prstGeom>
        </p:spPr>
      </p:pic>
      <p:sp>
        <p:nvSpPr>
          <p:cNvPr id="60" name="Object 60"/>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Object 61"/>
          <p:cNvSpPr txBox="1"/>
          <p:nvPr/>
        </p:nvSpPr>
        <p:spPr>
          <a:xfrm>
            <a:off x="9512686"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55153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Select Participants</a:t>
            </a:r>
            <a:endParaRPr lang="en-US" sz="2050" dirty="0"/>
          </a:p>
        </p:txBody>
      </p:sp>
      <p:sp>
        <p:nvSpPr>
          <p:cNvPr id="6" name="Object 6"/>
          <p:cNvSpPr txBox="1"/>
          <p:nvPr/>
        </p:nvSpPr>
        <p:spPr>
          <a:xfrm>
            <a:off x="419070" y="883402"/>
            <a:ext cx="7804861"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Listed reference companies and active private acquirers by sector</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1752630" cy="5695980"/>
          </a:xfrm>
          <a:prstGeom prst="rect">
            <a:avLst/>
          </a:prstGeom>
          <a:solidFill>
            <a:srgbClr val="FAF7F3"/>
          </a:solidFill>
          <a:ln/>
        </p:spPr>
        <p:txBody>
          <a:bodyPr/>
          <a:lstStyle/>
          <a:p>
            <a:endParaRPr/>
          </a:p>
        </p:txBody>
      </p:sp>
      <p:sp>
        <p:nvSpPr>
          <p:cNvPr id="9" name="Object 9"/>
          <p:cNvSpPr/>
          <p:nvPr/>
        </p:nvSpPr>
        <p:spPr>
          <a:xfrm>
            <a:off x="419070" y="1238280"/>
            <a:ext cx="1752630" cy="438180"/>
          </a:xfrm>
          <a:prstGeom prst="rect">
            <a:avLst/>
          </a:prstGeom>
          <a:solidFill>
            <a:srgbClr val="1B1A1A"/>
          </a:solidFill>
          <a:ln/>
        </p:spPr>
        <p:txBody>
          <a:bodyPr/>
          <a:lstStyle/>
          <a:p>
            <a:endParaRPr/>
          </a:p>
        </p:txBody>
      </p:sp>
      <p:pic>
        <p:nvPicPr>
          <p:cNvPr id="10" name="Object 10"/>
          <p:cNvPicPr>
            <a:picLocks noChangeAspect="1"/>
          </p:cNvPicPr>
          <p:nvPr/>
        </p:nvPicPr>
        <p:blipFill>
          <a:blip r:embed="rId3"/>
          <a:stretch>
            <a:fillRect/>
          </a:stretch>
        </p:blipFill>
        <p:spPr>
          <a:xfrm>
            <a:off x="523860" y="1357335"/>
            <a:ext cx="200071" cy="200071"/>
          </a:xfrm>
          <a:prstGeom prst="rect">
            <a:avLst/>
          </a:prstGeom>
        </p:spPr>
      </p:pic>
      <p:sp>
        <p:nvSpPr>
          <p:cNvPr id="11" name="Object 11"/>
          <p:cNvSpPr txBox="1"/>
          <p:nvPr/>
        </p:nvSpPr>
        <p:spPr>
          <a:xfrm>
            <a:off x="80961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COMMERCIAL &amp; FACILITY SERVICES</a:t>
            </a:r>
            <a:endParaRPr lang="en-US" sz="650" dirty="0"/>
          </a:p>
        </p:txBody>
      </p:sp>
      <p:sp>
        <p:nvSpPr>
          <p:cNvPr id="65" name="Object 65"/>
          <p:cNvSpPr/>
          <p:nvPr/>
        </p:nvSpPr>
        <p:spPr>
          <a:xfrm>
            <a:off x="2286000" y="1238280"/>
            <a:ext cx="1752630" cy="5695980"/>
          </a:xfrm>
          <a:prstGeom prst="rect">
            <a:avLst/>
          </a:prstGeom>
          <a:solidFill>
            <a:srgbClr val="FAF7F3"/>
          </a:solidFill>
          <a:ln/>
        </p:spPr>
        <p:txBody>
          <a:bodyPr/>
          <a:lstStyle/>
          <a:p>
            <a:endParaRPr/>
          </a:p>
        </p:txBody>
      </p:sp>
      <p:sp>
        <p:nvSpPr>
          <p:cNvPr id="66" name="Object 66"/>
          <p:cNvSpPr/>
          <p:nvPr/>
        </p:nvSpPr>
        <p:spPr>
          <a:xfrm>
            <a:off x="2286000" y="1238280"/>
            <a:ext cx="1752630" cy="438180"/>
          </a:xfrm>
          <a:prstGeom prst="rect">
            <a:avLst/>
          </a:prstGeom>
          <a:solidFill>
            <a:srgbClr val="1B1A1A"/>
          </a:solidFill>
          <a:ln/>
        </p:spPr>
        <p:txBody>
          <a:bodyPr/>
          <a:lstStyle/>
          <a:p>
            <a:endParaRPr/>
          </a:p>
        </p:txBody>
      </p:sp>
      <p:pic>
        <p:nvPicPr>
          <p:cNvPr id="67" name="Object 67"/>
          <p:cNvPicPr>
            <a:picLocks noChangeAspect="1"/>
          </p:cNvPicPr>
          <p:nvPr/>
        </p:nvPicPr>
        <p:blipFill>
          <a:blip r:embed="rId4"/>
          <a:stretch>
            <a:fillRect/>
          </a:stretch>
        </p:blipFill>
        <p:spPr>
          <a:xfrm>
            <a:off x="2390790" y="1357335"/>
            <a:ext cx="200071" cy="200071"/>
          </a:xfrm>
          <a:prstGeom prst="rect">
            <a:avLst/>
          </a:prstGeom>
        </p:spPr>
      </p:pic>
      <p:sp>
        <p:nvSpPr>
          <p:cNvPr id="68" name="Object 68"/>
          <p:cNvSpPr txBox="1"/>
          <p:nvPr/>
        </p:nvSpPr>
        <p:spPr>
          <a:xfrm>
            <a:off x="2660205" y="1338224"/>
            <a:ext cx="1257300" cy="3429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MARKETING, SALES &amp; TECH-ENABLED SERVICES</a:t>
            </a:r>
            <a:endParaRPr lang="en-US" sz="650" dirty="0"/>
          </a:p>
        </p:txBody>
      </p:sp>
      <p:sp>
        <p:nvSpPr>
          <p:cNvPr id="118" name="Object 118"/>
          <p:cNvSpPr/>
          <p:nvPr/>
        </p:nvSpPr>
        <p:spPr>
          <a:xfrm>
            <a:off x="4152930" y="1238280"/>
            <a:ext cx="1752630" cy="5695980"/>
          </a:xfrm>
          <a:prstGeom prst="rect">
            <a:avLst/>
          </a:prstGeom>
          <a:solidFill>
            <a:srgbClr val="FAF7F3"/>
          </a:solidFill>
          <a:ln/>
        </p:spPr>
        <p:txBody>
          <a:bodyPr/>
          <a:lstStyle/>
          <a:p>
            <a:endParaRPr/>
          </a:p>
        </p:txBody>
      </p:sp>
      <p:sp>
        <p:nvSpPr>
          <p:cNvPr id="119" name="Object 119"/>
          <p:cNvSpPr/>
          <p:nvPr/>
        </p:nvSpPr>
        <p:spPr>
          <a:xfrm>
            <a:off x="4152930" y="1238280"/>
            <a:ext cx="1752630" cy="438180"/>
          </a:xfrm>
          <a:prstGeom prst="rect">
            <a:avLst/>
          </a:prstGeom>
          <a:solidFill>
            <a:srgbClr val="1B1A1A"/>
          </a:solidFill>
          <a:ln/>
        </p:spPr>
        <p:txBody>
          <a:bodyPr/>
          <a:lstStyle/>
          <a:p>
            <a:endParaRPr/>
          </a:p>
        </p:txBody>
      </p:sp>
      <p:pic>
        <p:nvPicPr>
          <p:cNvPr id="120" name="Object 120"/>
          <p:cNvPicPr>
            <a:picLocks noChangeAspect="1"/>
          </p:cNvPicPr>
          <p:nvPr/>
        </p:nvPicPr>
        <p:blipFill>
          <a:blip r:embed="rId5"/>
          <a:stretch>
            <a:fillRect/>
          </a:stretch>
        </p:blipFill>
        <p:spPr>
          <a:xfrm>
            <a:off x="4257721" y="1357335"/>
            <a:ext cx="200071" cy="200071"/>
          </a:xfrm>
          <a:prstGeom prst="rect">
            <a:avLst/>
          </a:prstGeom>
        </p:spPr>
      </p:pic>
      <p:sp>
        <p:nvSpPr>
          <p:cNvPr id="121" name="Object 121"/>
          <p:cNvSpPr txBox="1"/>
          <p:nvPr/>
        </p:nvSpPr>
        <p:spPr>
          <a:xfrm>
            <a:off x="4543471" y="1281074"/>
            <a:ext cx="1257300" cy="3429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ENGINEERING, ARCHITECTURE &amp; CONSULTING</a:t>
            </a:r>
            <a:endParaRPr lang="en-US" sz="650" dirty="0"/>
          </a:p>
        </p:txBody>
      </p:sp>
      <p:sp>
        <p:nvSpPr>
          <p:cNvPr id="162" name="Object 162"/>
          <p:cNvSpPr/>
          <p:nvPr/>
        </p:nvSpPr>
        <p:spPr>
          <a:xfrm>
            <a:off x="6019770" y="1238280"/>
            <a:ext cx="1752630" cy="5695980"/>
          </a:xfrm>
          <a:prstGeom prst="rect">
            <a:avLst/>
          </a:prstGeom>
          <a:solidFill>
            <a:srgbClr val="FAF7F3"/>
          </a:solidFill>
          <a:ln/>
        </p:spPr>
        <p:txBody>
          <a:bodyPr/>
          <a:lstStyle/>
          <a:p>
            <a:endParaRPr/>
          </a:p>
        </p:txBody>
      </p:sp>
      <p:sp>
        <p:nvSpPr>
          <p:cNvPr id="163" name="Object 163"/>
          <p:cNvSpPr/>
          <p:nvPr/>
        </p:nvSpPr>
        <p:spPr>
          <a:xfrm>
            <a:off x="6019770" y="1238280"/>
            <a:ext cx="1752630" cy="438180"/>
          </a:xfrm>
          <a:prstGeom prst="rect">
            <a:avLst/>
          </a:prstGeom>
          <a:solidFill>
            <a:srgbClr val="1B1A1A"/>
          </a:solidFill>
          <a:ln/>
        </p:spPr>
        <p:txBody>
          <a:bodyPr/>
          <a:lstStyle/>
          <a:p>
            <a:endParaRPr/>
          </a:p>
        </p:txBody>
      </p:sp>
      <p:pic>
        <p:nvPicPr>
          <p:cNvPr id="164" name="Object 164"/>
          <p:cNvPicPr>
            <a:picLocks noChangeAspect="1"/>
          </p:cNvPicPr>
          <p:nvPr/>
        </p:nvPicPr>
        <p:blipFill>
          <a:blip r:embed="rId6"/>
          <a:stretch>
            <a:fillRect/>
          </a:stretch>
        </p:blipFill>
        <p:spPr>
          <a:xfrm>
            <a:off x="6124560" y="1357335"/>
            <a:ext cx="200071" cy="200071"/>
          </a:xfrm>
          <a:prstGeom prst="rect">
            <a:avLst/>
          </a:prstGeom>
        </p:spPr>
      </p:pic>
      <p:sp>
        <p:nvSpPr>
          <p:cNvPr id="165" name="Object 165"/>
          <p:cNvSpPr txBox="1"/>
          <p:nvPr/>
        </p:nvSpPr>
        <p:spPr>
          <a:xfrm>
            <a:off x="641031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FINANCIAL &amp; INSURANCE SERVICES</a:t>
            </a:r>
            <a:endParaRPr lang="en-US" sz="650" dirty="0"/>
          </a:p>
        </p:txBody>
      </p:sp>
      <p:sp>
        <p:nvSpPr>
          <p:cNvPr id="204" name="Object 204"/>
          <p:cNvSpPr/>
          <p:nvPr/>
        </p:nvSpPr>
        <p:spPr>
          <a:xfrm>
            <a:off x="7886700" y="1238280"/>
            <a:ext cx="1752630" cy="5695980"/>
          </a:xfrm>
          <a:prstGeom prst="rect">
            <a:avLst/>
          </a:prstGeom>
          <a:solidFill>
            <a:srgbClr val="FAF7F3"/>
          </a:solidFill>
          <a:ln/>
        </p:spPr>
        <p:txBody>
          <a:bodyPr/>
          <a:lstStyle/>
          <a:p>
            <a:endParaRPr/>
          </a:p>
        </p:txBody>
      </p:sp>
      <p:sp>
        <p:nvSpPr>
          <p:cNvPr id="205" name="Object 205"/>
          <p:cNvSpPr/>
          <p:nvPr/>
        </p:nvSpPr>
        <p:spPr>
          <a:xfrm>
            <a:off x="7886700" y="1238280"/>
            <a:ext cx="1752630" cy="438180"/>
          </a:xfrm>
          <a:prstGeom prst="rect">
            <a:avLst/>
          </a:prstGeom>
          <a:solidFill>
            <a:srgbClr val="1B1A1A"/>
          </a:solidFill>
          <a:ln/>
        </p:spPr>
        <p:txBody>
          <a:bodyPr/>
          <a:lstStyle/>
          <a:p>
            <a:endParaRPr/>
          </a:p>
        </p:txBody>
      </p:sp>
      <p:pic>
        <p:nvPicPr>
          <p:cNvPr id="206" name="Object 206"/>
          <p:cNvPicPr>
            <a:picLocks noChangeAspect="1"/>
          </p:cNvPicPr>
          <p:nvPr/>
        </p:nvPicPr>
        <p:blipFill>
          <a:blip r:embed="rId7"/>
          <a:stretch>
            <a:fillRect/>
          </a:stretch>
        </p:blipFill>
        <p:spPr>
          <a:xfrm>
            <a:off x="7991490" y="1357335"/>
            <a:ext cx="200071" cy="200071"/>
          </a:xfrm>
          <a:prstGeom prst="rect">
            <a:avLst/>
          </a:prstGeom>
        </p:spPr>
      </p:pic>
      <p:sp>
        <p:nvSpPr>
          <p:cNvPr id="207" name="Object 207"/>
          <p:cNvSpPr txBox="1"/>
          <p:nvPr/>
        </p:nvSpPr>
        <p:spPr>
          <a:xfrm>
            <a:off x="827724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STAFFING &amp; HUMAN CAPITAL</a:t>
            </a:r>
            <a:endParaRPr lang="en-US" sz="650" dirty="0"/>
          </a:p>
        </p:txBody>
      </p:sp>
      <p:sp>
        <p:nvSpPr>
          <p:cNvPr id="254" name="Object 254"/>
          <p:cNvSpPr/>
          <p:nvPr/>
        </p:nvSpPr>
        <p:spPr>
          <a:xfrm>
            <a:off x="419070" y="7029450"/>
            <a:ext cx="9220170" cy="9510"/>
          </a:xfrm>
          <a:prstGeom prst="ellipse">
            <a:avLst/>
          </a:prstGeom>
          <a:solidFill>
            <a:srgbClr val="E3DCD3"/>
          </a:solidFill>
          <a:ln/>
        </p:spPr>
        <p:txBody>
          <a:bodyPr/>
          <a:lstStyle/>
          <a:p>
            <a:endParaRPr/>
          </a:p>
        </p:txBody>
      </p:sp>
      <p:pic>
        <p:nvPicPr>
          <p:cNvPr id="255" name="Object 255" descr="Benchmark International"/>
          <p:cNvPicPr>
            <a:picLocks noChangeAspect="1"/>
          </p:cNvPicPr>
          <p:nvPr/>
        </p:nvPicPr>
        <p:blipFill>
          <a:blip r:embed="rId8"/>
          <a:stretch>
            <a:fillRect/>
          </a:stretch>
        </p:blipFill>
        <p:spPr>
          <a:xfrm>
            <a:off x="419070" y="7143750"/>
            <a:ext cx="914400" cy="171450"/>
          </a:xfrm>
          <a:prstGeom prst="rect">
            <a:avLst/>
          </a:prstGeom>
        </p:spPr>
      </p:pic>
      <p:sp>
        <p:nvSpPr>
          <p:cNvPr id="256" name="Object 256"/>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Private participants are buyers in transactions announced between October 2025 and October 2026. The list is illustrative.</a:t>
            </a:r>
            <a:endParaRPr lang="en-US" sz="700" dirty="0"/>
          </a:p>
        </p:txBody>
      </p:sp>
      <p:sp>
        <p:nvSpPr>
          <p:cNvPr id="257" name="Object 257"/>
          <p:cNvSpPr txBox="1"/>
          <p:nvPr/>
        </p:nvSpPr>
        <p:spPr>
          <a:xfrm>
            <a:off x="9513875"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18</a:t>
            </a:r>
            <a:endParaRPr lang="en-US" sz="700" dirty="0"/>
          </a:p>
        </p:txBody>
      </p:sp>
      <p:sp>
        <p:nvSpPr>
          <p:cNvPr id="1001" name="Object 1001"/>
          <p:cNvSpPr txBox="1"/>
          <p:nvPr/>
        </p:nvSpPr>
        <p:spPr>
          <a:xfrm>
            <a:off x="52386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02" name="Object 1002"/>
          <p:cNvSpPr/>
          <p:nvPr/>
        </p:nvSpPr>
        <p:spPr>
          <a:xfrm>
            <a:off x="523860" y="1950215"/>
            <a:ext cx="746525" cy="235000"/>
          </a:xfrm>
          <a:prstGeom prst="rect">
            <a:avLst/>
          </a:prstGeom>
          <a:noFill/>
          <a:ln>
            <a:noFill/>
          </a:ln>
        </p:spPr>
        <p:txBody>
          <a:bodyPr/>
          <a:lstStyle/>
          <a:p>
            <a:endParaRPr/>
          </a:p>
        </p:txBody>
      </p:sp>
      <p:pic>
        <p:nvPicPr>
          <p:cNvPr id="1003" name="Object 1003" descr="Cintas"/>
          <p:cNvPicPr>
            <a:picLocks noChangeAspect="1"/>
          </p:cNvPicPr>
          <p:nvPr/>
        </p:nvPicPr>
        <p:blipFill>
          <a:blip r:embed="rId9"/>
          <a:stretch>
            <a:fillRect/>
          </a:stretch>
        </p:blipFill>
        <p:spPr>
          <a:xfrm>
            <a:off x="656699" y="1978415"/>
            <a:ext cx="480846" cy="178600"/>
          </a:xfrm>
          <a:prstGeom prst="rect">
            <a:avLst/>
          </a:prstGeom>
        </p:spPr>
      </p:pic>
      <p:sp>
        <p:nvSpPr>
          <p:cNvPr id="12" name="Object 12"/>
          <p:cNvSpPr/>
          <p:nvPr/>
        </p:nvSpPr>
        <p:spPr>
          <a:xfrm>
            <a:off x="1320385" y="1950215"/>
            <a:ext cx="746525" cy="235000"/>
          </a:xfrm>
          <a:prstGeom prst="rect">
            <a:avLst/>
          </a:prstGeom>
          <a:noFill/>
          <a:ln>
            <a:noFill/>
          </a:ln>
        </p:spPr>
        <p:txBody>
          <a:bodyPr/>
          <a:lstStyle/>
          <a:p>
            <a:endParaRPr/>
          </a:p>
        </p:txBody>
      </p:sp>
      <p:pic>
        <p:nvPicPr>
          <p:cNvPr id="1004" name="Object 1004" descr="ABM logo"/>
          <p:cNvPicPr>
            <a:picLocks noChangeAspect="1"/>
          </p:cNvPicPr>
          <p:nvPr/>
        </p:nvPicPr>
        <p:blipFill>
          <a:blip r:embed="rId10"/>
          <a:stretch>
            <a:fillRect/>
          </a:stretch>
        </p:blipFill>
        <p:spPr>
          <a:xfrm>
            <a:off x="1469405" y="1978415"/>
            <a:ext cx="448484" cy="178600"/>
          </a:xfrm>
          <a:prstGeom prst="rect">
            <a:avLst/>
          </a:prstGeom>
        </p:spPr>
      </p:pic>
      <p:sp>
        <p:nvSpPr>
          <p:cNvPr id="13" name="Object 13"/>
          <p:cNvSpPr/>
          <p:nvPr/>
        </p:nvSpPr>
        <p:spPr>
          <a:xfrm>
            <a:off x="523860" y="2223215"/>
            <a:ext cx="746525" cy="235000"/>
          </a:xfrm>
          <a:prstGeom prst="rect">
            <a:avLst/>
          </a:prstGeom>
          <a:noFill/>
          <a:ln>
            <a:noFill/>
          </a:ln>
        </p:spPr>
        <p:txBody>
          <a:bodyPr/>
          <a:lstStyle/>
          <a:p>
            <a:endParaRPr/>
          </a:p>
        </p:txBody>
      </p:sp>
      <p:pic>
        <p:nvPicPr>
          <p:cNvPr id="1005" name="Object 1005" descr="Rollins logo"/>
          <p:cNvPicPr>
            <a:picLocks noChangeAspect="1"/>
          </p:cNvPicPr>
          <p:nvPr/>
        </p:nvPicPr>
        <p:blipFill>
          <a:blip r:embed="rId11"/>
          <a:stretch>
            <a:fillRect/>
          </a:stretch>
        </p:blipFill>
        <p:spPr>
          <a:xfrm>
            <a:off x="722628" y="2251415"/>
            <a:ext cx="348988" cy="178600"/>
          </a:xfrm>
          <a:prstGeom prst="rect">
            <a:avLst/>
          </a:prstGeom>
        </p:spPr>
      </p:pic>
      <p:sp>
        <p:nvSpPr>
          <p:cNvPr id="14" name="Object 14"/>
          <p:cNvSpPr/>
          <p:nvPr/>
        </p:nvSpPr>
        <p:spPr>
          <a:xfrm>
            <a:off x="1320385" y="2223215"/>
            <a:ext cx="746525" cy="235000"/>
          </a:xfrm>
          <a:prstGeom prst="rect">
            <a:avLst/>
          </a:prstGeom>
          <a:noFill/>
          <a:ln>
            <a:noFill/>
          </a:ln>
        </p:spPr>
        <p:txBody>
          <a:bodyPr/>
          <a:lstStyle/>
          <a:p>
            <a:endParaRPr/>
          </a:p>
        </p:txBody>
      </p:sp>
      <p:pic>
        <p:nvPicPr>
          <p:cNvPr id="1006" name="Object 1006" descr="APi Group logo"/>
          <p:cNvPicPr>
            <a:picLocks noChangeAspect="1"/>
          </p:cNvPicPr>
          <p:nvPr/>
        </p:nvPicPr>
        <p:blipFill>
          <a:blip r:embed="rId12"/>
          <a:stretch>
            <a:fillRect/>
          </a:stretch>
        </p:blipFill>
        <p:spPr>
          <a:xfrm>
            <a:off x="1565158" y="2251415"/>
            <a:ext cx="256978" cy="178600"/>
          </a:xfrm>
          <a:prstGeom prst="rect">
            <a:avLst/>
          </a:prstGeom>
        </p:spPr>
      </p:pic>
      <p:sp>
        <p:nvSpPr>
          <p:cNvPr id="15" name="Object 15"/>
          <p:cNvSpPr/>
          <p:nvPr/>
        </p:nvSpPr>
        <p:spPr>
          <a:xfrm>
            <a:off x="523860" y="2496215"/>
            <a:ext cx="746525" cy="235000"/>
          </a:xfrm>
          <a:prstGeom prst="rect">
            <a:avLst/>
          </a:prstGeom>
          <a:noFill/>
          <a:ln>
            <a:noFill/>
          </a:ln>
        </p:spPr>
        <p:txBody>
          <a:bodyPr/>
          <a:lstStyle/>
          <a:p>
            <a:endParaRPr/>
          </a:p>
        </p:txBody>
      </p:sp>
      <p:pic>
        <p:nvPicPr>
          <p:cNvPr id="1007" name="Object 1007" descr="BrightView logo"/>
          <p:cNvPicPr>
            <a:picLocks noChangeAspect="1"/>
          </p:cNvPicPr>
          <p:nvPr/>
        </p:nvPicPr>
        <p:blipFill>
          <a:blip r:embed="rId13"/>
          <a:stretch>
            <a:fillRect/>
          </a:stretch>
        </p:blipFill>
        <p:spPr>
          <a:xfrm>
            <a:off x="622353" y="2524415"/>
            <a:ext cx="549538" cy="178600"/>
          </a:xfrm>
          <a:prstGeom prst="rect">
            <a:avLst/>
          </a:prstGeom>
        </p:spPr>
      </p:pic>
      <p:sp>
        <p:nvSpPr>
          <p:cNvPr id="16" name="Object 16"/>
          <p:cNvSpPr/>
          <p:nvPr/>
        </p:nvSpPr>
        <p:spPr>
          <a:xfrm>
            <a:off x="1320385" y="2496215"/>
            <a:ext cx="746525" cy="235000"/>
          </a:xfrm>
          <a:prstGeom prst="rect">
            <a:avLst/>
          </a:prstGeom>
          <a:noFill/>
          <a:ln>
            <a:noFill/>
          </a:ln>
        </p:spPr>
        <p:txBody>
          <a:bodyPr/>
          <a:lstStyle/>
          <a:p>
            <a:endParaRPr/>
          </a:p>
        </p:txBody>
      </p:sp>
      <p:pic>
        <p:nvPicPr>
          <p:cNvPr id="1008" name="Object 1008" descr="FirstService logo"/>
          <p:cNvPicPr>
            <a:picLocks noChangeAspect="1"/>
          </p:cNvPicPr>
          <p:nvPr/>
        </p:nvPicPr>
        <p:blipFill>
          <a:blip r:embed="rId14"/>
          <a:stretch>
            <a:fillRect/>
          </a:stretch>
        </p:blipFill>
        <p:spPr>
          <a:xfrm>
            <a:off x="1463231" y="2524415"/>
            <a:ext cx="460832" cy="178600"/>
          </a:xfrm>
          <a:prstGeom prst="rect">
            <a:avLst/>
          </a:prstGeom>
        </p:spPr>
      </p:pic>
      <p:sp>
        <p:nvSpPr>
          <p:cNvPr id="17" name="Object 17"/>
          <p:cNvSpPr/>
          <p:nvPr/>
        </p:nvSpPr>
        <p:spPr>
          <a:xfrm>
            <a:off x="523860" y="2769215"/>
            <a:ext cx="746525" cy="235000"/>
          </a:xfrm>
          <a:prstGeom prst="rect">
            <a:avLst/>
          </a:prstGeom>
          <a:noFill/>
          <a:ln>
            <a:noFill/>
          </a:ln>
        </p:spPr>
        <p:txBody>
          <a:bodyPr/>
          <a:lstStyle/>
          <a:p>
            <a:endParaRPr/>
          </a:p>
        </p:txBody>
      </p:sp>
      <p:pic>
        <p:nvPicPr>
          <p:cNvPr id="1009" name="Object 1009" descr="Mistras logo"/>
          <p:cNvPicPr>
            <a:picLocks noChangeAspect="1"/>
          </p:cNvPicPr>
          <p:nvPr/>
        </p:nvPicPr>
        <p:blipFill>
          <a:blip r:embed="rId15"/>
          <a:stretch>
            <a:fillRect/>
          </a:stretch>
        </p:blipFill>
        <p:spPr>
          <a:xfrm>
            <a:off x="576116" y="2815872"/>
            <a:ext cx="642011" cy="141685"/>
          </a:xfrm>
          <a:prstGeom prst="rect">
            <a:avLst/>
          </a:prstGeom>
        </p:spPr>
      </p:pic>
      <p:sp>
        <p:nvSpPr>
          <p:cNvPr id="18" name="Object 18"/>
          <p:cNvSpPr/>
          <p:nvPr/>
        </p:nvSpPr>
        <p:spPr>
          <a:xfrm>
            <a:off x="1320385" y="2769215"/>
            <a:ext cx="746525" cy="235000"/>
          </a:xfrm>
          <a:prstGeom prst="rect">
            <a:avLst/>
          </a:prstGeom>
          <a:noFill/>
          <a:ln>
            <a:noFill/>
          </a:ln>
        </p:spPr>
        <p:txBody>
          <a:bodyPr/>
          <a:lstStyle/>
          <a:p>
            <a:endParaRPr/>
          </a:p>
        </p:txBody>
      </p:sp>
      <p:pic>
        <p:nvPicPr>
          <p:cNvPr id="1010" name="Object 1010" descr="SGS logo"/>
          <p:cNvPicPr>
            <a:picLocks noChangeAspect="1"/>
          </p:cNvPicPr>
          <p:nvPr/>
        </p:nvPicPr>
        <p:blipFill>
          <a:blip r:embed="rId16"/>
          <a:stretch>
            <a:fillRect/>
          </a:stretch>
        </p:blipFill>
        <p:spPr>
          <a:xfrm>
            <a:off x="1502674" y="2797415"/>
            <a:ext cx="381945" cy="178600"/>
          </a:xfrm>
          <a:prstGeom prst="rect">
            <a:avLst/>
          </a:prstGeom>
        </p:spPr>
      </p:pic>
      <p:sp>
        <p:nvSpPr>
          <p:cNvPr id="19" name="Object 19"/>
          <p:cNvSpPr/>
          <p:nvPr/>
        </p:nvSpPr>
        <p:spPr>
          <a:xfrm>
            <a:off x="523860" y="3042215"/>
            <a:ext cx="746525" cy="235000"/>
          </a:xfrm>
          <a:prstGeom prst="rect">
            <a:avLst/>
          </a:prstGeom>
          <a:noFill/>
          <a:ln>
            <a:noFill/>
          </a:ln>
        </p:spPr>
        <p:txBody>
          <a:bodyPr/>
          <a:lstStyle/>
          <a:p>
            <a:endParaRPr/>
          </a:p>
        </p:txBody>
      </p:sp>
      <p:pic>
        <p:nvPicPr>
          <p:cNvPr id="1011" name="Object 1011" descr="Bureau Veritas logo"/>
          <p:cNvPicPr>
            <a:picLocks noChangeAspect="1"/>
          </p:cNvPicPr>
          <p:nvPr/>
        </p:nvPicPr>
        <p:blipFill>
          <a:blip r:embed="rId17"/>
          <a:stretch>
            <a:fillRect/>
          </a:stretch>
        </p:blipFill>
        <p:spPr>
          <a:xfrm>
            <a:off x="824955" y="3070415"/>
            <a:ext cx="144333" cy="178600"/>
          </a:xfrm>
          <a:prstGeom prst="rect">
            <a:avLst/>
          </a:prstGeom>
        </p:spPr>
      </p:pic>
      <p:sp>
        <p:nvSpPr>
          <p:cNvPr id="20" name="Object 20"/>
          <p:cNvSpPr/>
          <p:nvPr/>
        </p:nvSpPr>
        <p:spPr>
          <a:xfrm>
            <a:off x="1320385" y="3042215"/>
            <a:ext cx="746525" cy="235000"/>
          </a:xfrm>
          <a:prstGeom prst="rect">
            <a:avLst/>
          </a:prstGeom>
          <a:noFill/>
          <a:ln>
            <a:noFill/>
          </a:ln>
        </p:spPr>
        <p:txBody>
          <a:bodyPr/>
          <a:lstStyle/>
          <a:p>
            <a:endParaRPr/>
          </a:p>
        </p:txBody>
      </p:sp>
      <p:pic>
        <p:nvPicPr>
          <p:cNvPr id="1012" name="Object 1012" descr="Intertek logo"/>
          <p:cNvPicPr>
            <a:picLocks noChangeAspect="1"/>
          </p:cNvPicPr>
          <p:nvPr/>
        </p:nvPicPr>
        <p:blipFill>
          <a:blip r:embed="rId18"/>
          <a:stretch>
            <a:fillRect/>
          </a:stretch>
        </p:blipFill>
        <p:spPr>
          <a:xfrm>
            <a:off x="1431259" y="3070415"/>
            <a:ext cx="524775" cy="178600"/>
          </a:xfrm>
          <a:prstGeom prst="rect">
            <a:avLst/>
          </a:prstGeom>
        </p:spPr>
      </p:pic>
      <p:sp>
        <p:nvSpPr>
          <p:cNvPr id="21" name="Object 21"/>
          <p:cNvSpPr/>
          <p:nvPr/>
        </p:nvSpPr>
        <p:spPr>
          <a:xfrm>
            <a:off x="523860" y="3315215"/>
            <a:ext cx="746525" cy="235000"/>
          </a:xfrm>
          <a:prstGeom prst="rect">
            <a:avLst/>
          </a:prstGeom>
          <a:noFill/>
          <a:ln>
            <a:noFill/>
          </a:ln>
        </p:spPr>
        <p:txBody>
          <a:bodyPr/>
          <a:lstStyle/>
          <a:p>
            <a:endParaRPr/>
          </a:p>
        </p:txBody>
      </p:sp>
      <p:pic>
        <p:nvPicPr>
          <p:cNvPr id="1013" name="Object 1013" descr="UL Solutions logo"/>
          <p:cNvPicPr>
            <a:picLocks noChangeAspect="1"/>
          </p:cNvPicPr>
          <p:nvPr/>
        </p:nvPicPr>
        <p:blipFill>
          <a:blip r:embed="rId19"/>
          <a:stretch>
            <a:fillRect/>
          </a:stretch>
        </p:blipFill>
        <p:spPr>
          <a:xfrm>
            <a:off x="662710" y="3343415"/>
            <a:ext cx="468825" cy="178600"/>
          </a:xfrm>
          <a:prstGeom prst="rect">
            <a:avLst/>
          </a:prstGeom>
        </p:spPr>
      </p:pic>
      <p:sp>
        <p:nvSpPr>
          <p:cNvPr id="22" name="Object 22"/>
          <p:cNvSpPr/>
          <p:nvPr/>
        </p:nvSpPr>
        <p:spPr>
          <a:xfrm>
            <a:off x="523860" y="3648215"/>
            <a:ext cx="1543050" cy="9510"/>
          </a:xfrm>
          <a:prstGeom prst="rect">
            <a:avLst/>
          </a:prstGeom>
          <a:solidFill>
            <a:srgbClr val="E3DCD3"/>
          </a:solidFill>
          <a:ln/>
        </p:spPr>
        <p:txBody>
          <a:bodyPr/>
          <a:lstStyle/>
          <a:p>
            <a:endParaRPr/>
          </a:p>
        </p:txBody>
      </p:sp>
      <p:sp>
        <p:nvSpPr>
          <p:cNvPr id="1014" name="Object 1014"/>
          <p:cNvSpPr txBox="1"/>
          <p:nvPr/>
        </p:nvSpPr>
        <p:spPr>
          <a:xfrm>
            <a:off x="523860" y="3758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FIRE, SECURITY AND GUARDING</a:t>
            </a:r>
            <a:endParaRPr lang="en-US" sz="550" dirty="0"/>
          </a:p>
        </p:txBody>
      </p:sp>
      <p:sp>
        <p:nvSpPr>
          <p:cNvPr id="1015" name="Object 1015"/>
          <p:cNvSpPr/>
          <p:nvPr/>
        </p:nvSpPr>
        <p:spPr>
          <a:xfrm>
            <a:off x="523860" y="4055835"/>
            <a:ext cx="746525" cy="235000"/>
          </a:xfrm>
          <a:prstGeom prst="rect">
            <a:avLst/>
          </a:prstGeom>
          <a:noFill/>
          <a:ln>
            <a:noFill/>
          </a:ln>
        </p:spPr>
        <p:txBody>
          <a:bodyPr/>
          <a:lstStyle/>
          <a:p>
            <a:endParaRPr/>
          </a:p>
        </p:txBody>
      </p:sp>
      <p:pic>
        <p:nvPicPr>
          <p:cNvPr id="1016" name="Object 1016" descr="Pye-Barker Engineered Solutions logo"/>
          <p:cNvPicPr>
            <a:picLocks noChangeAspect="1"/>
          </p:cNvPicPr>
          <p:nvPr/>
        </p:nvPicPr>
        <p:blipFill>
          <a:blip r:embed="rId20"/>
          <a:stretch>
            <a:fillRect/>
          </a:stretch>
        </p:blipFill>
        <p:spPr>
          <a:xfrm>
            <a:off x="576116" y="4100573"/>
            <a:ext cx="642011" cy="145522"/>
          </a:xfrm>
          <a:prstGeom prst="rect">
            <a:avLst/>
          </a:prstGeom>
        </p:spPr>
      </p:pic>
      <p:sp>
        <p:nvSpPr>
          <p:cNvPr id="23" name="Object 23"/>
          <p:cNvSpPr/>
          <p:nvPr/>
        </p:nvSpPr>
        <p:spPr>
          <a:xfrm>
            <a:off x="1320385" y="4055835"/>
            <a:ext cx="746525" cy="235000"/>
          </a:xfrm>
          <a:prstGeom prst="rect">
            <a:avLst/>
          </a:prstGeom>
          <a:noFill/>
          <a:ln>
            <a:noFill/>
          </a:ln>
        </p:spPr>
        <p:txBody>
          <a:bodyPr/>
          <a:lstStyle/>
          <a:p>
            <a:endParaRPr/>
          </a:p>
        </p:txBody>
      </p:sp>
      <p:pic>
        <p:nvPicPr>
          <p:cNvPr id="1017" name="Object 1017"/>
          <p:cNvPicPr>
            <a:picLocks noChangeAspect="1"/>
          </p:cNvPicPr>
          <p:nvPr/>
        </p:nvPicPr>
        <p:blipFill>
          <a:blip/>
          <a:stretch>
            <a:fillRect/>
          </a:stretch>
        </p:blipFill>
        <p:spPr>
          <a:xfrm>
            <a:off x="1381097" y="4084035"/>
            <a:ext cx="625100" cy="178600"/>
          </a:xfrm>
          <a:prstGeom prst="rect">
            <a:avLst/>
          </a:prstGeom>
        </p:spPr>
      </p:pic>
      <p:sp>
        <p:nvSpPr>
          <p:cNvPr id="24" name="Object 24"/>
          <p:cNvSpPr/>
          <p:nvPr/>
        </p:nvSpPr>
        <p:spPr>
          <a:xfrm>
            <a:off x="523860" y="4328835"/>
            <a:ext cx="746525" cy="235000"/>
          </a:xfrm>
          <a:prstGeom prst="rect">
            <a:avLst/>
          </a:prstGeom>
          <a:noFill/>
          <a:ln>
            <a:noFill/>
          </a:ln>
        </p:spPr>
        <p:txBody>
          <a:bodyPr/>
          <a:lstStyle/>
          <a:p>
            <a:endParaRPr/>
          </a:p>
        </p:txBody>
      </p:sp>
      <p:pic>
        <p:nvPicPr>
          <p:cNvPr id="1018" name="Object 1018" descr="Sciens logo"/>
          <p:cNvPicPr>
            <a:picLocks noChangeAspect="1"/>
          </p:cNvPicPr>
          <p:nvPr/>
        </p:nvPicPr>
        <p:blipFill>
          <a:blip r:embed="rId21"/>
          <a:stretch>
            <a:fillRect/>
          </a:stretch>
        </p:blipFill>
        <p:spPr>
          <a:xfrm>
            <a:off x="618918" y="4357035"/>
            <a:ext cx="556407" cy="178600"/>
          </a:xfrm>
          <a:prstGeom prst="rect">
            <a:avLst/>
          </a:prstGeom>
        </p:spPr>
      </p:pic>
      <p:sp>
        <p:nvSpPr>
          <p:cNvPr id="25" name="Object 25"/>
          <p:cNvSpPr/>
          <p:nvPr/>
        </p:nvSpPr>
        <p:spPr>
          <a:xfrm>
            <a:off x="1320385" y="4328835"/>
            <a:ext cx="746525" cy="235000"/>
          </a:xfrm>
          <a:prstGeom prst="rect">
            <a:avLst/>
          </a:prstGeom>
          <a:noFill/>
          <a:ln>
            <a:noFill/>
          </a:ln>
        </p:spPr>
        <p:txBody>
          <a:bodyPr/>
          <a:lstStyle/>
          <a:p>
            <a:endParaRPr/>
          </a:p>
        </p:txBody>
      </p:sp>
      <p:pic>
        <p:nvPicPr>
          <p:cNvPr id="1019" name="Object 1019" descr="Allied Universal logo"/>
          <p:cNvPicPr>
            <a:picLocks noChangeAspect="1"/>
          </p:cNvPicPr>
          <p:nvPr/>
        </p:nvPicPr>
        <p:blipFill>
          <a:blip r:embed="rId22"/>
          <a:stretch>
            <a:fillRect/>
          </a:stretch>
        </p:blipFill>
        <p:spPr>
          <a:xfrm>
            <a:off x="1372641" y="4386290"/>
            <a:ext cx="642011" cy="120088"/>
          </a:xfrm>
          <a:prstGeom prst="rect">
            <a:avLst/>
          </a:prstGeom>
        </p:spPr>
      </p:pic>
      <p:sp>
        <p:nvSpPr>
          <p:cNvPr id="26" name="Object 26"/>
          <p:cNvSpPr/>
          <p:nvPr/>
        </p:nvSpPr>
        <p:spPr>
          <a:xfrm>
            <a:off x="523860" y="4661835"/>
            <a:ext cx="1543050" cy="9510"/>
          </a:xfrm>
          <a:prstGeom prst="rect">
            <a:avLst/>
          </a:prstGeom>
          <a:solidFill>
            <a:srgbClr val="E3DCD3"/>
          </a:solidFill>
          <a:ln/>
        </p:spPr>
        <p:txBody>
          <a:bodyPr/>
          <a:lstStyle/>
          <a:p>
            <a:endParaRPr/>
          </a:p>
        </p:txBody>
      </p:sp>
      <p:sp>
        <p:nvSpPr>
          <p:cNvPr id="1020" name="Object 1020"/>
          <p:cNvSpPr txBox="1"/>
          <p:nvPr/>
        </p:nvSpPr>
        <p:spPr>
          <a:xfrm>
            <a:off x="523860" y="477183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FACILITY AND OFFICE TECHNOLOGY</a:t>
            </a:r>
            <a:endParaRPr lang="en-US" sz="550" dirty="0"/>
          </a:p>
        </p:txBody>
      </p:sp>
      <p:sp>
        <p:nvSpPr>
          <p:cNvPr id="1021" name="Object 1021"/>
          <p:cNvSpPr/>
          <p:nvPr/>
        </p:nvSpPr>
        <p:spPr>
          <a:xfrm>
            <a:off x="523860" y="5069455"/>
            <a:ext cx="746525" cy="235000"/>
          </a:xfrm>
          <a:prstGeom prst="rect">
            <a:avLst/>
          </a:prstGeom>
          <a:noFill/>
          <a:ln>
            <a:noFill/>
          </a:ln>
        </p:spPr>
        <p:txBody>
          <a:bodyPr/>
          <a:lstStyle/>
          <a:p>
            <a:endParaRPr/>
          </a:p>
        </p:txBody>
      </p:sp>
      <p:sp>
        <p:nvSpPr>
          <p:cNvPr id="1022" name="Object 1022"/>
          <p:cNvSpPr txBox="1"/>
          <p:nvPr/>
        </p:nvSpPr>
        <p:spPr>
          <a:xfrm>
            <a:off x="553860" y="50694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4M Building Solutions</a:t>
            </a:r>
            <a:endParaRPr lang="en-US" sz="650" dirty="0"/>
          </a:p>
        </p:txBody>
      </p:sp>
      <p:sp>
        <p:nvSpPr>
          <p:cNvPr id="1023" name="Object 1023"/>
          <p:cNvSpPr/>
          <p:nvPr/>
        </p:nvSpPr>
        <p:spPr>
          <a:xfrm>
            <a:off x="1320385" y="5069455"/>
            <a:ext cx="746525" cy="235000"/>
          </a:xfrm>
          <a:prstGeom prst="rect">
            <a:avLst/>
          </a:prstGeom>
          <a:noFill/>
          <a:ln>
            <a:noFill/>
          </a:ln>
        </p:spPr>
        <p:txBody>
          <a:bodyPr/>
          <a:lstStyle/>
          <a:p>
            <a:endParaRPr/>
          </a:p>
        </p:txBody>
      </p:sp>
      <p:pic>
        <p:nvPicPr>
          <p:cNvPr id="1024" name="Object 1024" descr="Landscape Workshop logo"/>
          <p:cNvPicPr>
            <a:picLocks noChangeAspect="1"/>
          </p:cNvPicPr>
          <p:nvPr/>
        </p:nvPicPr>
        <p:blipFill>
          <a:blip r:embed="rId23"/>
          <a:stretch>
            <a:fillRect/>
          </a:stretch>
        </p:blipFill>
        <p:spPr>
          <a:xfrm>
            <a:off x="1545585" y="5097655"/>
            <a:ext cx="296124" cy="178600"/>
          </a:xfrm>
          <a:prstGeom prst="rect">
            <a:avLst/>
          </a:prstGeom>
        </p:spPr>
      </p:pic>
      <p:sp>
        <p:nvSpPr>
          <p:cNvPr id="27" name="Object 27"/>
          <p:cNvSpPr/>
          <p:nvPr/>
        </p:nvSpPr>
        <p:spPr>
          <a:xfrm>
            <a:off x="523860" y="5342455"/>
            <a:ext cx="746525" cy="235000"/>
          </a:xfrm>
          <a:prstGeom prst="rect">
            <a:avLst/>
          </a:prstGeom>
          <a:noFill/>
          <a:ln>
            <a:noFill/>
          </a:ln>
        </p:spPr>
        <p:txBody>
          <a:bodyPr/>
          <a:lstStyle/>
          <a:p>
            <a:endParaRPr/>
          </a:p>
        </p:txBody>
      </p:sp>
      <p:pic>
        <p:nvPicPr>
          <p:cNvPr id="1025" name="Object 1025" descr="DEX logo"/>
          <p:cNvPicPr>
            <a:picLocks noChangeAspect="1"/>
          </p:cNvPicPr>
          <p:nvPr/>
        </p:nvPicPr>
        <p:blipFill>
          <a:blip r:embed="rId24"/>
          <a:stretch>
            <a:fillRect/>
          </a:stretch>
        </p:blipFill>
        <p:spPr>
          <a:xfrm>
            <a:off x="576116" y="5379332"/>
            <a:ext cx="642011" cy="161245"/>
          </a:xfrm>
          <a:prstGeom prst="rect">
            <a:avLst/>
          </a:prstGeom>
        </p:spPr>
      </p:pic>
      <p:sp>
        <p:nvSpPr>
          <p:cNvPr id="28" name="Object 28"/>
          <p:cNvSpPr/>
          <p:nvPr/>
        </p:nvSpPr>
        <p:spPr>
          <a:xfrm>
            <a:off x="1320385" y="5342455"/>
            <a:ext cx="746525" cy="235000"/>
          </a:xfrm>
          <a:prstGeom prst="rect">
            <a:avLst/>
          </a:prstGeom>
          <a:noFill/>
          <a:ln>
            <a:noFill/>
          </a:ln>
        </p:spPr>
        <p:txBody>
          <a:bodyPr/>
          <a:lstStyle/>
          <a:p>
            <a:endParaRPr/>
          </a:p>
        </p:txBody>
      </p:sp>
      <p:pic>
        <p:nvPicPr>
          <p:cNvPr id="1026" name="Object 1026" descr="UBEO logo"/>
          <p:cNvPicPr>
            <a:picLocks noChangeAspect="1"/>
          </p:cNvPicPr>
          <p:nvPr/>
        </p:nvPicPr>
        <p:blipFill>
          <a:blip r:embed="rId25"/>
          <a:stretch>
            <a:fillRect/>
          </a:stretch>
        </p:blipFill>
        <p:spPr>
          <a:xfrm>
            <a:off x="1460165" y="5370655"/>
            <a:ext cx="466964" cy="178600"/>
          </a:xfrm>
          <a:prstGeom prst="rect">
            <a:avLst/>
          </a:prstGeom>
        </p:spPr>
      </p:pic>
      <p:sp>
        <p:nvSpPr>
          <p:cNvPr id="29" name="Object 29"/>
          <p:cNvSpPr/>
          <p:nvPr/>
        </p:nvSpPr>
        <p:spPr>
          <a:xfrm>
            <a:off x="523860" y="5615455"/>
            <a:ext cx="746525" cy="235000"/>
          </a:xfrm>
          <a:prstGeom prst="rect">
            <a:avLst/>
          </a:prstGeom>
          <a:noFill/>
          <a:ln>
            <a:noFill/>
          </a:ln>
        </p:spPr>
        <p:txBody>
          <a:bodyPr/>
          <a:lstStyle/>
          <a:p>
            <a:endParaRPr/>
          </a:p>
        </p:txBody>
      </p:sp>
      <p:pic>
        <p:nvPicPr>
          <p:cNvPr id="1027" name="Object 1027" descr="Pacific Office Automation logo"/>
          <p:cNvPicPr>
            <a:picLocks noChangeAspect="1"/>
          </p:cNvPicPr>
          <p:nvPr/>
        </p:nvPicPr>
        <p:blipFill>
          <a:blip r:embed="rId26"/>
          <a:stretch>
            <a:fillRect/>
          </a:stretch>
        </p:blipFill>
        <p:spPr>
          <a:xfrm>
            <a:off x="576116" y="5661221"/>
            <a:ext cx="642011" cy="143466"/>
          </a:xfrm>
          <a:prstGeom prst="rect">
            <a:avLst/>
          </a:prstGeom>
        </p:spPr>
      </p:pic>
      <p:sp>
        <p:nvSpPr>
          <p:cNvPr id="30" name="Object 30"/>
          <p:cNvSpPr/>
          <p:nvPr/>
        </p:nvSpPr>
        <p:spPr>
          <a:xfrm>
            <a:off x="523860" y="5948455"/>
            <a:ext cx="1543050" cy="9510"/>
          </a:xfrm>
          <a:prstGeom prst="rect">
            <a:avLst/>
          </a:prstGeom>
          <a:solidFill>
            <a:srgbClr val="E3DCD3"/>
          </a:solidFill>
          <a:ln/>
        </p:spPr>
        <p:txBody>
          <a:bodyPr/>
          <a:lstStyle/>
          <a:p>
            <a:endParaRPr/>
          </a:p>
        </p:txBody>
      </p:sp>
      <p:sp>
        <p:nvSpPr>
          <p:cNvPr id="1028" name="Object 1028"/>
          <p:cNvSpPr txBox="1"/>
          <p:nvPr/>
        </p:nvSpPr>
        <p:spPr>
          <a:xfrm>
            <a:off x="523860" y="6058455"/>
            <a:ext cx="1374983"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TESTING AND INSPECTION</a:t>
            </a:r>
            <a:endParaRPr lang="en-US" sz="550" dirty="0"/>
          </a:p>
        </p:txBody>
      </p:sp>
      <p:sp>
        <p:nvSpPr>
          <p:cNvPr id="1029" name="Object 1029"/>
          <p:cNvSpPr/>
          <p:nvPr/>
        </p:nvSpPr>
        <p:spPr>
          <a:xfrm>
            <a:off x="523860" y="6232265"/>
            <a:ext cx="746525" cy="235000"/>
          </a:xfrm>
          <a:prstGeom prst="rect">
            <a:avLst/>
          </a:prstGeom>
          <a:noFill/>
          <a:ln>
            <a:noFill/>
          </a:ln>
        </p:spPr>
        <p:txBody>
          <a:bodyPr/>
          <a:lstStyle/>
          <a:p>
            <a:endParaRPr/>
          </a:p>
        </p:txBody>
      </p:sp>
      <p:pic>
        <p:nvPicPr>
          <p:cNvPr id="1030" name="Object 1030" descr="Phenna Group logo"/>
          <p:cNvPicPr>
            <a:picLocks noChangeAspect="1"/>
          </p:cNvPicPr>
          <p:nvPr/>
        </p:nvPicPr>
        <p:blipFill>
          <a:blip r:embed="rId27"/>
          <a:stretch>
            <a:fillRect/>
          </a:stretch>
        </p:blipFill>
        <p:spPr>
          <a:xfrm>
            <a:off x="587411" y="6260465"/>
            <a:ext cx="619421" cy="178600"/>
          </a:xfrm>
          <a:prstGeom prst="rect">
            <a:avLst/>
          </a:prstGeom>
        </p:spPr>
      </p:pic>
      <p:sp>
        <p:nvSpPr>
          <p:cNvPr id="31" name="Object 31"/>
          <p:cNvSpPr/>
          <p:nvPr/>
        </p:nvSpPr>
        <p:spPr>
          <a:xfrm>
            <a:off x="1320385" y="6232265"/>
            <a:ext cx="746525" cy="235000"/>
          </a:xfrm>
          <a:prstGeom prst="rect">
            <a:avLst/>
          </a:prstGeom>
          <a:noFill/>
          <a:ln>
            <a:noFill/>
          </a:ln>
        </p:spPr>
        <p:txBody>
          <a:bodyPr/>
          <a:lstStyle/>
          <a:p>
            <a:endParaRPr/>
          </a:p>
        </p:txBody>
      </p:sp>
      <p:pic>
        <p:nvPicPr>
          <p:cNvPr id="1031" name="Object 1031" descr="Transcat logo"/>
          <p:cNvPicPr>
            <a:picLocks noChangeAspect="1"/>
          </p:cNvPicPr>
          <p:nvPr/>
        </p:nvPicPr>
        <p:blipFill>
          <a:blip r:embed="rId28"/>
          <a:stretch>
            <a:fillRect/>
          </a:stretch>
        </p:blipFill>
        <p:spPr>
          <a:xfrm>
            <a:off x="1372641" y="6262130"/>
            <a:ext cx="642011" cy="175269"/>
          </a:xfrm>
          <a:prstGeom prst="rect">
            <a:avLst/>
          </a:prstGeom>
        </p:spPr>
      </p:pic>
      <p:sp>
        <p:nvSpPr>
          <p:cNvPr id="32" name="Object 32"/>
          <p:cNvSpPr/>
          <p:nvPr/>
        </p:nvSpPr>
        <p:spPr>
          <a:xfrm>
            <a:off x="523860" y="6505265"/>
            <a:ext cx="746525" cy="235000"/>
          </a:xfrm>
          <a:prstGeom prst="rect">
            <a:avLst/>
          </a:prstGeom>
          <a:noFill/>
          <a:ln>
            <a:noFill/>
          </a:ln>
        </p:spPr>
        <p:txBody>
          <a:bodyPr/>
          <a:lstStyle/>
          <a:p>
            <a:endParaRPr/>
          </a:p>
        </p:txBody>
      </p:sp>
      <p:pic>
        <p:nvPicPr>
          <p:cNvPr id="1032" name="Object 1032" descr="EQT logo"/>
          <p:cNvPicPr>
            <a:picLocks noChangeAspect="1"/>
          </p:cNvPicPr>
          <p:nvPr/>
        </p:nvPicPr>
        <p:blipFill>
          <a:blip r:embed="rId29"/>
          <a:stretch>
            <a:fillRect/>
          </a:stretch>
        </p:blipFill>
        <p:spPr>
          <a:xfrm>
            <a:off x="592014" y="6533465"/>
            <a:ext cx="610216" cy="178600"/>
          </a:xfrm>
          <a:prstGeom prst="rect">
            <a:avLst/>
          </a:prstGeom>
        </p:spPr>
      </p:pic>
      <p:sp>
        <p:nvSpPr>
          <p:cNvPr id="33" name="Object 33"/>
          <p:cNvSpPr txBox="1"/>
          <p:nvPr/>
        </p:nvSpPr>
        <p:spPr>
          <a:xfrm>
            <a:off x="239079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33" name="Object 1033"/>
          <p:cNvSpPr/>
          <p:nvPr/>
        </p:nvSpPr>
        <p:spPr>
          <a:xfrm>
            <a:off x="2390790" y="1950215"/>
            <a:ext cx="746525" cy="235000"/>
          </a:xfrm>
          <a:prstGeom prst="rect">
            <a:avLst/>
          </a:prstGeom>
          <a:noFill/>
          <a:ln>
            <a:noFill/>
          </a:ln>
        </p:spPr>
        <p:txBody>
          <a:bodyPr/>
          <a:lstStyle/>
          <a:p>
            <a:endParaRPr/>
          </a:p>
        </p:txBody>
      </p:sp>
      <p:pic>
        <p:nvPicPr>
          <p:cNvPr id="1034" name="Object 1034" descr="Dentsu logo"/>
          <p:cNvPicPr>
            <a:picLocks noChangeAspect="1"/>
          </p:cNvPicPr>
          <p:nvPr/>
        </p:nvPicPr>
        <p:blipFill>
          <a:blip r:embed="rId30"/>
          <a:stretch>
            <a:fillRect/>
          </a:stretch>
        </p:blipFill>
        <p:spPr>
          <a:xfrm>
            <a:off x="2443046" y="2000134"/>
            <a:ext cx="642011" cy="135160"/>
          </a:xfrm>
          <a:prstGeom prst="rect">
            <a:avLst/>
          </a:prstGeom>
        </p:spPr>
      </p:pic>
      <p:sp>
        <p:nvSpPr>
          <p:cNvPr id="34" name="Object 34"/>
          <p:cNvSpPr/>
          <p:nvPr/>
        </p:nvSpPr>
        <p:spPr>
          <a:xfrm>
            <a:off x="3187315" y="1950215"/>
            <a:ext cx="746525" cy="235000"/>
          </a:xfrm>
          <a:prstGeom prst="rect">
            <a:avLst/>
          </a:prstGeom>
          <a:noFill/>
          <a:ln>
            <a:noFill/>
          </a:ln>
        </p:spPr>
        <p:txBody>
          <a:bodyPr/>
          <a:lstStyle/>
          <a:p>
            <a:endParaRPr/>
          </a:p>
        </p:txBody>
      </p:sp>
      <p:pic>
        <p:nvPicPr>
          <p:cNvPr id="1035" name="Object 1035"/>
          <p:cNvPicPr>
            <a:picLocks noChangeAspect="1"/>
          </p:cNvPicPr>
          <p:nvPr/>
        </p:nvPicPr>
        <p:blipFill>
          <a:blip r:embed="rId31"/>
          <a:stretch>
            <a:fillRect/>
          </a:stretch>
        </p:blipFill>
        <p:spPr>
          <a:xfrm>
            <a:off x="3463959" y="1978415"/>
            <a:ext cx="193236" cy="178600"/>
          </a:xfrm>
          <a:prstGeom prst="rect">
            <a:avLst/>
          </a:prstGeom>
        </p:spPr>
      </p:pic>
      <p:sp>
        <p:nvSpPr>
          <p:cNvPr id="35" name="Object 35"/>
          <p:cNvSpPr/>
          <p:nvPr/>
        </p:nvSpPr>
        <p:spPr>
          <a:xfrm>
            <a:off x="2390790" y="2223215"/>
            <a:ext cx="746525" cy="235000"/>
          </a:xfrm>
          <a:prstGeom prst="rect">
            <a:avLst/>
          </a:prstGeom>
          <a:noFill/>
          <a:ln>
            <a:noFill/>
          </a:ln>
        </p:spPr>
        <p:txBody>
          <a:bodyPr/>
          <a:lstStyle/>
          <a:p>
            <a:endParaRPr/>
          </a:p>
        </p:txBody>
      </p:sp>
      <p:pic>
        <p:nvPicPr>
          <p:cNvPr id="1036" name="Object 1036" descr="Publicis Groupe logo"/>
          <p:cNvPicPr>
            <a:picLocks noChangeAspect="1"/>
          </p:cNvPicPr>
          <p:nvPr/>
        </p:nvPicPr>
        <p:blipFill>
          <a:blip r:embed="rId32"/>
          <a:stretch>
            <a:fillRect/>
          </a:stretch>
        </p:blipFill>
        <p:spPr>
          <a:xfrm>
            <a:off x="2675522" y="2251415"/>
            <a:ext cx="177060" cy="178600"/>
          </a:xfrm>
          <a:prstGeom prst="rect">
            <a:avLst/>
          </a:prstGeom>
        </p:spPr>
      </p:pic>
      <p:sp>
        <p:nvSpPr>
          <p:cNvPr id="36" name="Object 36"/>
          <p:cNvSpPr/>
          <p:nvPr/>
        </p:nvSpPr>
        <p:spPr>
          <a:xfrm>
            <a:off x="3187315" y="2223215"/>
            <a:ext cx="746525" cy="235000"/>
          </a:xfrm>
          <a:prstGeom prst="rect">
            <a:avLst/>
          </a:prstGeom>
          <a:noFill/>
          <a:ln>
            <a:noFill/>
          </a:ln>
        </p:spPr>
        <p:txBody>
          <a:bodyPr/>
          <a:lstStyle/>
          <a:p>
            <a:endParaRPr/>
          </a:p>
        </p:txBody>
      </p:sp>
      <p:pic>
        <p:nvPicPr>
          <p:cNvPr id="1037" name="Object 1037" descr="Stagwell logo"/>
          <p:cNvPicPr>
            <a:picLocks noChangeAspect="1"/>
          </p:cNvPicPr>
          <p:nvPr/>
        </p:nvPicPr>
        <p:blipFill>
          <a:blip r:embed="rId33"/>
          <a:stretch>
            <a:fillRect/>
          </a:stretch>
        </p:blipFill>
        <p:spPr>
          <a:xfrm>
            <a:off x="3239571" y="2281007"/>
            <a:ext cx="642011" cy="119414"/>
          </a:xfrm>
          <a:prstGeom prst="rect">
            <a:avLst/>
          </a:prstGeom>
        </p:spPr>
      </p:pic>
      <p:sp>
        <p:nvSpPr>
          <p:cNvPr id="37" name="Object 37"/>
          <p:cNvSpPr/>
          <p:nvPr/>
        </p:nvSpPr>
        <p:spPr>
          <a:xfrm>
            <a:off x="2390790" y="2496215"/>
            <a:ext cx="746525" cy="235000"/>
          </a:xfrm>
          <a:prstGeom prst="rect">
            <a:avLst/>
          </a:prstGeom>
          <a:noFill/>
          <a:ln>
            <a:noFill/>
          </a:ln>
        </p:spPr>
        <p:txBody>
          <a:bodyPr/>
          <a:lstStyle/>
          <a:p>
            <a:endParaRPr/>
          </a:p>
        </p:txBody>
      </p:sp>
      <p:pic>
        <p:nvPicPr>
          <p:cNvPr id="1038" name="Object 1038" descr="WPP logo"/>
          <p:cNvPicPr>
            <a:picLocks noChangeAspect="1"/>
          </p:cNvPicPr>
          <p:nvPr/>
        </p:nvPicPr>
        <p:blipFill>
          <a:blip r:embed="rId34"/>
          <a:stretch>
            <a:fillRect/>
          </a:stretch>
        </p:blipFill>
        <p:spPr>
          <a:xfrm>
            <a:off x="2468357" y="2524415"/>
            <a:ext cx="591390" cy="178600"/>
          </a:xfrm>
          <a:prstGeom prst="rect">
            <a:avLst/>
          </a:prstGeom>
        </p:spPr>
      </p:pic>
      <p:sp>
        <p:nvSpPr>
          <p:cNvPr id="38" name="Object 38"/>
          <p:cNvSpPr/>
          <p:nvPr/>
        </p:nvSpPr>
        <p:spPr>
          <a:xfrm>
            <a:off x="3187315" y="2496215"/>
            <a:ext cx="746525" cy="235000"/>
          </a:xfrm>
          <a:prstGeom prst="rect">
            <a:avLst/>
          </a:prstGeom>
          <a:noFill/>
          <a:ln>
            <a:noFill/>
          </a:ln>
        </p:spPr>
        <p:txBody>
          <a:bodyPr/>
          <a:lstStyle/>
          <a:p>
            <a:endParaRPr/>
          </a:p>
        </p:txBody>
      </p:sp>
      <p:pic>
        <p:nvPicPr>
          <p:cNvPr id="1039" name="Object 1039" descr="Omnicom Group logo"/>
          <p:cNvPicPr>
            <a:picLocks noChangeAspect="1"/>
          </p:cNvPicPr>
          <p:nvPr/>
        </p:nvPicPr>
        <p:blipFill>
          <a:blip r:embed="rId35"/>
          <a:stretch>
            <a:fillRect/>
          </a:stretch>
        </p:blipFill>
        <p:spPr>
          <a:xfrm>
            <a:off x="3239571" y="2575376"/>
            <a:ext cx="642011" cy="76677"/>
          </a:xfrm>
          <a:prstGeom prst="rect">
            <a:avLst/>
          </a:prstGeom>
        </p:spPr>
      </p:pic>
      <p:sp>
        <p:nvSpPr>
          <p:cNvPr id="39" name="Object 39"/>
          <p:cNvSpPr/>
          <p:nvPr/>
        </p:nvSpPr>
        <p:spPr>
          <a:xfrm>
            <a:off x="2390790" y="2769215"/>
            <a:ext cx="746525" cy="235000"/>
          </a:xfrm>
          <a:prstGeom prst="rect">
            <a:avLst/>
          </a:prstGeom>
          <a:noFill/>
          <a:ln>
            <a:noFill/>
          </a:ln>
        </p:spPr>
        <p:txBody>
          <a:bodyPr/>
          <a:lstStyle/>
          <a:p>
            <a:endParaRPr/>
          </a:p>
        </p:txBody>
      </p:sp>
      <p:pic>
        <p:nvPicPr>
          <p:cNvPr id="1040" name="Object 1040" descr="Accenture logo"/>
          <p:cNvPicPr>
            <a:picLocks noChangeAspect="1"/>
          </p:cNvPicPr>
          <p:nvPr/>
        </p:nvPicPr>
        <p:blipFill>
          <a:blip r:embed="rId36"/>
          <a:stretch>
            <a:fillRect/>
          </a:stretch>
        </p:blipFill>
        <p:spPr>
          <a:xfrm>
            <a:off x="2443046" y="2801969"/>
            <a:ext cx="642011" cy="169491"/>
          </a:xfrm>
          <a:prstGeom prst="rect">
            <a:avLst/>
          </a:prstGeom>
        </p:spPr>
      </p:pic>
      <p:sp>
        <p:nvSpPr>
          <p:cNvPr id="40" name="Object 40"/>
          <p:cNvSpPr/>
          <p:nvPr/>
        </p:nvSpPr>
        <p:spPr>
          <a:xfrm>
            <a:off x="3187315" y="2769215"/>
            <a:ext cx="746525" cy="235000"/>
          </a:xfrm>
          <a:prstGeom prst="rect">
            <a:avLst/>
          </a:prstGeom>
          <a:noFill/>
          <a:ln>
            <a:noFill/>
          </a:ln>
        </p:spPr>
        <p:txBody>
          <a:bodyPr/>
          <a:lstStyle/>
          <a:p>
            <a:endParaRPr/>
          </a:p>
        </p:txBody>
      </p:sp>
      <p:pic>
        <p:nvPicPr>
          <p:cNvPr id="1041" name="Object 1041" descr="Cognizant logo"/>
          <p:cNvPicPr>
            <a:picLocks noChangeAspect="1"/>
          </p:cNvPicPr>
          <p:nvPr/>
        </p:nvPicPr>
        <p:blipFill>
          <a:blip r:embed="rId37"/>
          <a:stretch>
            <a:fillRect/>
          </a:stretch>
        </p:blipFill>
        <p:spPr>
          <a:xfrm>
            <a:off x="3239571" y="2828933"/>
            <a:ext cx="642011" cy="115562"/>
          </a:xfrm>
          <a:prstGeom prst="rect">
            <a:avLst/>
          </a:prstGeom>
        </p:spPr>
      </p:pic>
      <p:sp>
        <p:nvSpPr>
          <p:cNvPr id="41" name="Object 41"/>
          <p:cNvSpPr/>
          <p:nvPr/>
        </p:nvSpPr>
        <p:spPr>
          <a:xfrm>
            <a:off x="2390790" y="3042215"/>
            <a:ext cx="746525" cy="235000"/>
          </a:xfrm>
          <a:prstGeom prst="rect">
            <a:avLst/>
          </a:prstGeom>
          <a:noFill/>
          <a:ln>
            <a:noFill/>
          </a:ln>
        </p:spPr>
        <p:txBody>
          <a:bodyPr/>
          <a:lstStyle/>
          <a:p>
            <a:endParaRPr/>
          </a:p>
        </p:txBody>
      </p:sp>
      <p:pic>
        <p:nvPicPr>
          <p:cNvPr id="1042" name="Object 1042" descr="4imprint logo"/>
          <p:cNvPicPr>
            <a:picLocks noChangeAspect="1"/>
          </p:cNvPicPr>
          <p:nvPr/>
        </p:nvPicPr>
        <p:blipFill>
          <a:blip r:embed="rId38"/>
          <a:stretch>
            <a:fillRect/>
          </a:stretch>
        </p:blipFill>
        <p:spPr>
          <a:xfrm>
            <a:off x="2532430" y="3070415"/>
            <a:ext cx="463243" cy="178600"/>
          </a:xfrm>
          <a:prstGeom prst="rect">
            <a:avLst/>
          </a:prstGeom>
        </p:spPr>
      </p:pic>
      <p:sp>
        <p:nvSpPr>
          <p:cNvPr id="42" name="Object 42"/>
          <p:cNvSpPr/>
          <p:nvPr/>
        </p:nvSpPr>
        <p:spPr>
          <a:xfrm>
            <a:off x="2390790" y="3375215"/>
            <a:ext cx="1543050" cy="9510"/>
          </a:xfrm>
          <a:prstGeom prst="rect">
            <a:avLst/>
          </a:prstGeom>
          <a:solidFill>
            <a:srgbClr val="E3DCD3"/>
          </a:solidFill>
          <a:ln/>
        </p:spPr>
        <p:txBody>
          <a:bodyPr/>
          <a:lstStyle/>
          <a:p>
            <a:endParaRPr/>
          </a:p>
        </p:txBody>
      </p:sp>
      <p:sp>
        <p:nvSpPr>
          <p:cNvPr id="1043" name="Object 1043"/>
          <p:cNvSpPr txBox="1"/>
          <p:nvPr/>
        </p:nvSpPr>
        <p:spPr>
          <a:xfrm>
            <a:off x="2390790" y="3485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AGENCY PLATFORMS AND SPONSORS</a:t>
            </a:r>
            <a:endParaRPr lang="en-US" sz="550" dirty="0"/>
          </a:p>
        </p:txBody>
      </p:sp>
      <p:sp>
        <p:nvSpPr>
          <p:cNvPr id="1044" name="Object 1044"/>
          <p:cNvSpPr/>
          <p:nvPr/>
        </p:nvSpPr>
        <p:spPr>
          <a:xfrm>
            <a:off x="2390790" y="3782835"/>
            <a:ext cx="746525" cy="235000"/>
          </a:xfrm>
          <a:prstGeom prst="rect">
            <a:avLst/>
          </a:prstGeom>
          <a:noFill/>
          <a:ln>
            <a:noFill/>
          </a:ln>
        </p:spPr>
        <p:txBody>
          <a:bodyPr/>
          <a:lstStyle/>
          <a:p>
            <a:endParaRPr/>
          </a:p>
        </p:txBody>
      </p:sp>
      <p:pic>
        <p:nvPicPr>
          <p:cNvPr id="1045" name="Object 1045" descr="OneMagnify logo"/>
          <p:cNvPicPr>
            <a:picLocks noChangeAspect="1"/>
          </p:cNvPicPr>
          <p:nvPr/>
        </p:nvPicPr>
        <p:blipFill>
          <a:blip r:embed="rId39"/>
          <a:stretch>
            <a:fillRect/>
          </a:stretch>
        </p:blipFill>
        <p:spPr>
          <a:xfrm>
            <a:off x="2479408" y="3811035"/>
            <a:ext cx="569287" cy="178600"/>
          </a:xfrm>
          <a:prstGeom prst="rect">
            <a:avLst/>
          </a:prstGeom>
        </p:spPr>
      </p:pic>
      <p:sp>
        <p:nvSpPr>
          <p:cNvPr id="43" name="Object 43"/>
          <p:cNvSpPr/>
          <p:nvPr/>
        </p:nvSpPr>
        <p:spPr>
          <a:xfrm>
            <a:off x="3187315" y="3782835"/>
            <a:ext cx="746525" cy="235000"/>
          </a:xfrm>
          <a:prstGeom prst="rect">
            <a:avLst/>
          </a:prstGeom>
          <a:noFill/>
          <a:ln>
            <a:noFill/>
          </a:ln>
        </p:spPr>
        <p:txBody>
          <a:bodyPr/>
          <a:lstStyle/>
          <a:p>
            <a:endParaRPr/>
          </a:p>
        </p:txBody>
      </p:sp>
      <p:pic>
        <p:nvPicPr>
          <p:cNvPr id="1046" name="Object 1046" descr="Power Digital logo"/>
          <p:cNvPicPr>
            <a:picLocks noChangeAspect="1"/>
          </p:cNvPicPr>
          <p:nvPr/>
        </p:nvPicPr>
        <p:blipFill>
          <a:blip r:embed="rId40"/>
          <a:stretch>
            <a:fillRect/>
          </a:stretch>
        </p:blipFill>
        <p:spPr>
          <a:xfrm>
            <a:off x="3239571" y="3841532"/>
            <a:ext cx="642011" cy="117605"/>
          </a:xfrm>
          <a:prstGeom prst="rect">
            <a:avLst/>
          </a:prstGeom>
        </p:spPr>
      </p:pic>
      <p:sp>
        <p:nvSpPr>
          <p:cNvPr id="44" name="Object 44"/>
          <p:cNvSpPr/>
          <p:nvPr/>
        </p:nvSpPr>
        <p:spPr>
          <a:xfrm>
            <a:off x="2390790" y="4055835"/>
            <a:ext cx="746525" cy="235000"/>
          </a:xfrm>
          <a:prstGeom prst="rect">
            <a:avLst/>
          </a:prstGeom>
          <a:noFill/>
          <a:ln>
            <a:noFill/>
          </a:ln>
        </p:spPr>
        <p:txBody>
          <a:bodyPr/>
          <a:lstStyle/>
          <a:p>
            <a:endParaRPr/>
          </a:p>
        </p:txBody>
      </p:sp>
      <p:pic>
        <p:nvPicPr>
          <p:cNvPr id="1047" name="Object 1047" descr="Wpromote logo"/>
          <p:cNvPicPr>
            <a:picLocks noChangeAspect="1"/>
          </p:cNvPicPr>
          <p:nvPr/>
        </p:nvPicPr>
        <p:blipFill>
          <a:blip r:embed="rId41"/>
          <a:stretch>
            <a:fillRect/>
          </a:stretch>
        </p:blipFill>
        <p:spPr>
          <a:xfrm>
            <a:off x="2449615" y="4084035"/>
            <a:ext cx="628873" cy="178600"/>
          </a:xfrm>
          <a:prstGeom prst="rect">
            <a:avLst/>
          </a:prstGeom>
        </p:spPr>
      </p:pic>
      <p:sp>
        <p:nvSpPr>
          <p:cNvPr id="45" name="Object 45"/>
          <p:cNvSpPr/>
          <p:nvPr/>
        </p:nvSpPr>
        <p:spPr>
          <a:xfrm>
            <a:off x="3187315" y="4055835"/>
            <a:ext cx="746525" cy="235000"/>
          </a:xfrm>
          <a:prstGeom prst="rect">
            <a:avLst/>
          </a:prstGeom>
          <a:noFill/>
          <a:ln>
            <a:noFill/>
          </a:ln>
        </p:spPr>
        <p:txBody>
          <a:bodyPr/>
          <a:lstStyle/>
          <a:p>
            <a:endParaRPr/>
          </a:p>
        </p:txBody>
      </p:sp>
      <p:sp>
        <p:nvSpPr>
          <p:cNvPr id="1048" name="Object 1048"/>
          <p:cNvSpPr txBox="1"/>
          <p:nvPr/>
        </p:nvSpPr>
        <p:spPr>
          <a:xfrm>
            <a:off x="3217315" y="405583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Supreme Group (Trinity Hunt)</a:t>
            </a:r>
            <a:endParaRPr lang="en-US" sz="650" dirty="0"/>
          </a:p>
        </p:txBody>
      </p:sp>
      <p:sp>
        <p:nvSpPr>
          <p:cNvPr id="1049" name="Object 1049"/>
          <p:cNvSpPr/>
          <p:nvPr/>
        </p:nvSpPr>
        <p:spPr>
          <a:xfrm>
            <a:off x="2390790" y="4328835"/>
            <a:ext cx="746525" cy="235000"/>
          </a:xfrm>
          <a:prstGeom prst="rect">
            <a:avLst/>
          </a:prstGeom>
          <a:noFill/>
          <a:ln>
            <a:noFill/>
          </a:ln>
        </p:spPr>
        <p:txBody>
          <a:bodyPr/>
          <a:lstStyle/>
          <a:p>
            <a:endParaRPr/>
          </a:p>
        </p:txBody>
      </p:sp>
      <p:pic>
        <p:nvPicPr>
          <p:cNvPr id="1050" name="Object 1050" descr="OuterBox logo"/>
          <p:cNvPicPr>
            <a:picLocks noChangeAspect="1"/>
          </p:cNvPicPr>
          <p:nvPr/>
        </p:nvPicPr>
        <p:blipFill>
          <a:blip r:embed="rId42"/>
          <a:stretch>
            <a:fillRect/>
          </a:stretch>
        </p:blipFill>
        <p:spPr>
          <a:xfrm>
            <a:off x="2443046" y="4381616"/>
            <a:ext cx="642011" cy="129437"/>
          </a:xfrm>
          <a:prstGeom prst="rect">
            <a:avLst/>
          </a:prstGeom>
        </p:spPr>
      </p:pic>
      <p:sp>
        <p:nvSpPr>
          <p:cNvPr id="46" name="Object 46"/>
          <p:cNvSpPr/>
          <p:nvPr/>
        </p:nvSpPr>
        <p:spPr>
          <a:xfrm>
            <a:off x="3187315" y="4328835"/>
            <a:ext cx="746525" cy="235000"/>
          </a:xfrm>
          <a:prstGeom prst="rect">
            <a:avLst/>
          </a:prstGeom>
          <a:noFill/>
          <a:ln>
            <a:noFill/>
          </a:ln>
        </p:spPr>
        <p:txBody>
          <a:bodyPr/>
          <a:lstStyle/>
          <a:p>
            <a:endParaRPr/>
          </a:p>
        </p:txBody>
      </p:sp>
      <p:pic>
        <p:nvPicPr>
          <p:cNvPr id="1051" name="Object 1051" descr="ImpactXM logo"/>
          <p:cNvPicPr>
            <a:picLocks noChangeAspect="1"/>
          </p:cNvPicPr>
          <p:nvPr/>
        </p:nvPicPr>
        <p:blipFill>
          <a:blip r:embed="rId43"/>
          <a:stretch>
            <a:fillRect/>
          </a:stretch>
        </p:blipFill>
        <p:spPr>
          <a:xfrm>
            <a:off x="3239571" y="4387050"/>
            <a:ext cx="642011" cy="118569"/>
          </a:xfrm>
          <a:prstGeom prst="rect">
            <a:avLst/>
          </a:prstGeom>
        </p:spPr>
      </p:pic>
      <p:sp>
        <p:nvSpPr>
          <p:cNvPr id="47" name="Object 47"/>
          <p:cNvSpPr/>
          <p:nvPr/>
        </p:nvSpPr>
        <p:spPr>
          <a:xfrm>
            <a:off x="2390790" y="4601835"/>
            <a:ext cx="746525" cy="235000"/>
          </a:xfrm>
          <a:prstGeom prst="rect">
            <a:avLst/>
          </a:prstGeom>
          <a:noFill/>
          <a:ln>
            <a:noFill/>
          </a:ln>
        </p:spPr>
        <p:txBody>
          <a:bodyPr/>
          <a:lstStyle/>
          <a:p>
            <a:endParaRPr/>
          </a:p>
        </p:txBody>
      </p:sp>
      <p:pic>
        <p:nvPicPr>
          <p:cNvPr id="1052" name="Object 1052" descr="Platinum Equity logo"/>
          <p:cNvPicPr>
            <a:picLocks noChangeAspect="1"/>
          </p:cNvPicPr>
          <p:nvPr/>
        </p:nvPicPr>
        <p:blipFill>
          <a:blip r:embed="rId44"/>
          <a:stretch>
            <a:fillRect/>
          </a:stretch>
        </p:blipFill>
        <p:spPr>
          <a:xfrm>
            <a:off x="2443046" y="4642657"/>
            <a:ext cx="642011" cy="153354"/>
          </a:xfrm>
          <a:prstGeom prst="rect">
            <a:avLst/>
          </a:prstGeom>
        </p:spPr>
      </p:pic>
      <p:sp>
        <p:nvSpPr>
          <p:cNvPr id="48" name="Object 48"/>
          <p:cNvSpPr/>
          <p:nvPr/>
        </p:nvSpPr>
        <p:spPr>
          <a:xfrm>
            <a:off x="2390790" y="4934835"/>
            <a:ext cx="1543050" cy="9510"/>
          </a:xfrm>
          <a:prstGeom prst="rect">
            <a:avLst/>
          </a:prstGeom>
          <a:solidFill>
            <a:srgbClr val="E3DCD3"/>
          </a:solidFill>
          <a:ln/>
        </p:spPr>
        <p:txBody>
          <a:bodyPr/>
          <a:lstStyle/>
          <a:p>
            <a:endParaRPr/>
          </a:p>
        </p:txBody>
      </p:sp>
      <p:sp>
        <p:nvSpPr>
          <p:cNvPr id="1053" name="Object 1053"/>
          <p:cNvSpPr txBox="1"/>
          <p:nvPr/>
        </p:nvSpPr>
        <p:spPr>
          <a:xfrm>
            <a:off x="2390790" y="5044835"/>
            <a:ext cx="135139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PROMOTIONAL PRODUCTS</a:t>
            </a:r>
            <a:endParaRPr lang="en-US" sz="550" dirty="0"/>
          </a:p>
        </p:txBody>
      </p:sp>
      <p:sp>
        <p:nvSpPr>
          <p:cNvPr id="1054" name="Object 1054"/>
          <p:cNvSpPr/>
          <p:nvPr/>
        </p:nvSpPr>
        <p:spPr>
          <a:xfrm>
            <a:off x="2390790" y="5218645"/>
            <a:ext cx="746525" cy="235000"/>
          </a:xfrm>
          <a:prstGeom prst="rect">
            <a:avLst/>
          </a:prstGeom>
          <a:noFill/>
          <a:ln>
            <a:noFill/>
          </a:ln>
        </p:spPr>
        <p:txBody>
          <a:bodyPr/>
          <a:lstStyle/>
          <a:p>
            <a:endParaRPr/>
          </a:p>
        </p:txBody>
      </p:sp>
      <p:pic>
        <p:nvPicPr>
          <p:cNvPr id="1055" name="Object 1055" descr="HALO logo"/>
          <p:cNvPicPr>
            <a:picLocks noChangeAspect="1"/>
          </p:cNvPicPr>
          <p:nvPr/>
        </p:nvPicPr>
        <p:blipFill>
          <a:blip r:embed="rId45"/>
          <a:stretch>
            <a:fillRect/>
          </a:stretch>
        </p:blipFill>
        <p:spPr>
          <a:xfrm>
            <a:off x="2451502" y="5246845"/>
            <a:ext cx="625100" cy="178600"/>
          </a:xfrm>
          <a:prstGeom prst="rect">
            <a:avLst/>
          </a:prstGeom>
        </p:spPr>
      </p:pic>
      <p:sp>
        <p:nvSpPr>
          <p:cNvPr id="49" name="Object 49"/>
          <p:cNvSpPr/>
          <p:nvPr/>
        </p:nvSpPr>
        <p:spPr>
          <a:xfrm>
            <a:off x="3187315" y="5218645"/>
            <a:ext cx="746525" cy="235000"/>
          </a:xfrm>
          <a:prstGeom prst="rect">
            <a:avLst/>
          </a:prstGeom>
          <a:noFill/>
          <a:ln>
            <a:noFill/>
          </a:ln>
        </p:spPr>
        <p:txBody>
          <a:bodyPr/>
          <a:lstStyle/>
          <a:p>
            <a:endParaRPr/>
          </a:p>
        </p:txBody>
      </p:sp>
      <p:pic>
        <p:nvPicPr>
          <p:cNvPr id="1056" name="Object 1056" descr="IdentiBrands logo"/>
          <p:cNvPicPr>
            <a:picLocks noChangeAspect="1"/>
          </p:cNvPicPr>
          <p:nvPr/>
        </p:nvPicPr>
        <p:blipFill>
          <a:blip r:embed="rId46"/>
          <a:stretch>
            <a:fillRect/>
          </a:stretch>
        </p:blipFill>
        <p:spPr>
          <a:xfrm>
            <a:off x="3348808" y="5246845"/>
            <a:ext cx="423537" cy="178600"/>
          </a:xfrm>
          <a:prstGeom prst="rect">
            <a:avLst/>
          </a:prstGeom>
        </p:spPr>
      </p:pic>
      <p:sp>
        <p:nvSpPr>
          <p:cNvPr id="50" name="Object 50"/>
          <p:cNvSpPr/>
          <p:nvPr/>
        </p:nvSpPr>
        <p:spPr>
          <a:xfrm>
            <a:off x="2390790" y="5491645"/>
            <a:ext cx="746525" cy="235000"/>
          </a:xfrm>
          <a:prstGeom prst="rect">
            <a:avLst/>
          </a:prstGeom>
          <a:noFill/>
          <a:ln>
            <a:noFill/>
          </a:ln>
        </p:spPr>
        <p:txBody>
          <a:bodyPr/>
          <a:lstStyle/>
          <a:p>
            <a:endParaRPr/>
          </a:p>
        </p:txBody>
      </p:sp>
      <p:pic>
        <p:nvPicPr>
          <p:cNvPr id="1057" name="Object 1057" descr="Zebra Marketing logo"/>
          <p:cNvPicPr>
            <a:picLocks noChangeAspect="1"/>
          </p:cNvPicPr>
          <p:nvPr/>
        </p:nvPicPr>
        <p:blipFill>
          <a:blip r:embed="rId47"/>
          <a:stretch>
            <a:fillRect/>
          </a:stretch>
        </p:blipFill>
        <p:spPr>
          <a:xfrm>
            <a:off x="2469887" y="5519845"/>
            <a:ext cx="588329" cy="178600"/>
          </a:xfrm>
          <a:prstGeom prst="rect">
            <a:avLst/>
          </a:prstGeom>
        </p:spPr>
      </p:pic>
      <p:sp>
        <p:nvSpPr>
          <p:cNvPr id="51" name="Object 51"/>
          <p:cNvSpPr/>
          <p:nvPr/>
        </p:nvSpPr>
        <p:spPr>
          <a:xfrm>
            <a:off x="2390790" y="5824645"/>
            <a:ext cx="1543050" cy="9510"/>
          </a:xfrm>
          <a:prstGeom prst="rect">
            <a:avLst/>
          </a:prstGeom>
          <a:solidFill>
            <a:srgbClr val="E3DCD3"/>
          </a:solidFill>
          <a:ln/>
        </p:spPr>
        <p:txBody>
          <a:bodyPr/>
          <a:lstStyle/>
          <a:p>
            <a:endParaRPr/>
          </a:p>
        </p:txBody>
      </p:sp>
      <p:sp>
        <p:nvSpPr>
          <p:cNvPr id="1058" name="Object 1058"/>
          <p:cNvSpPr txBox="1"/>
          <p:nvPr/>
        </p:nvSpPr>
        <p:spPr>
          <a:xfrm>
            <a:off x="2390790" y="5934645"/>
            <a:ext cx="69192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CONSULTING</a:t>
            </a:r>
            <a:endParaRPr lang="en-US" sz="550" dirty="0"/>
          </a:p>
        </p:txBody>
      </p:sp>
      <p:sp>
        <p:nvSpPr>
          <p:cNvPr id="1059" name="Object 1059"/>
          <p:cNvSpPr/>
          <p:nvPr/>
        </p:nvSpPr>
        <p:spPr>
          <a:xfrm>
            <a:off x="2390790" y="6108455"/>
            <a:ext cx="746525" cy="235000"/>
          </a:xfrm>
          <a:prstGeom prst="rect">
            <a:avLst/>
          </a:prstGeom>
          <a:noFill/>
          <a:ln>
            <a:noFill/>
          </a:ln>
        </p:spPr>
        <p:txBody>
          <a:bodyPr/>
          <a:lstStyle/>
          <a:p>
            <a:endParaRPr/>
          </a:p>
        </p:txBody>
      </p:sp>
      <p:pic>
        <p:nvPicPr>
          <p:cNvPr id="1060" name="Object 1060" descr="Armanino logo"/>
          <p:cNvPicPr>
            <a:picLocks noChangeAspect="1"/>
          </p:cNvPicPr>
          <p:nvPr/>
        </p:nvPicPr>
        <p:blipFill>
          <a:blip r:embed="rId48"/>
          <a:stretch>
            <a:fillRect/>
          </a:stretch>
        </p:blipFill>
        <p:spPr>
          <a:xfrm>
            <a:off x="2458100" y="6136655"/>
            <a:ext cx="611904" cy="178600"/>
          </a:xfrm>
          <a:prstGeom prst="rect">
            <a:avLst/>
          </a:prstGeom>
        </p:spPr>
      </p:pic>
      <p:sp>
        <p:nvSpPr>
          <p:cNvPr id="52" name="Object 52"/>
          <p:cNvSpPr/>
          <p:nvPr/>
        </p:nvSpPr>
        <p:spPr>
          <a:xfrm>
            <a:off x="3187315" y="6108455"/>
            <a:ext cx="746525" cy="235000"/>
          </a:xfrm>
          <a:prstGeom prst="rect">
            <a:avLst/>
          </a:prstGeom>
          <a:noFill/>
          <a:ln>
            <a:noFill/>
          </a:ln>
        </p:spPr>
        <p:txBody>
          <a:bodyPr/>
          <a:lstStyle/>
          <a:p>
            <a:endParaRPr/>
          </a:p>
        </p:txBody>
      </p:sp>
      <p:pic>
        <p:nvPicPr>
          <p:cNvPr id="1061" name="Object 1061" descr="Wavestone logo"/>
          <p:cNvPicPr>
            <a:picLocks noChangeAspect="1"/>
          </p:cNvPicPr>
          <p:nvPr/>
        </p:nvPicPr>
        <p:blipFill>
          <a:blip r:embed="rId49"/>
          <a:stretch>
            <a:fillRect/>
          </a:stretch>
        </p:blipFill>
        <p:spPr>
          <a:xfrm>
            <a:off x="3239571" y="6183039"/>
            <a:ext cx="642011" cy="85830"/>
          </a:xfrm>
          <a:prstGeom prst="rect">
            <a:avLst/>
          </a:prstGeom>
        </p:spPr>
      </p:pic>
      <p:sp>
        <p:nvSpPr>
          <p:cNvPr id="53" name="Object 53"/>
          <p:cNvSpPr txBox="1"/>
          <p:nvPr/>
        </p:nvSpPr>
        <p:spPr>
          <a:xfrm>
            <a:off x="425772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62" name="Object 1062"/>
          <p:cNvSpPr/>
          <p:nvPr/>
        </p:nvSpPr>
        <p:spPr>
          <a:xfrm>
            <a:off x="4257720" y="1950215"/>
            <a:ext cx="746525" cy="235000"/>
          </a:xfrm>
          <a:prstGeom prst="rect">
            <a:avLst/>
          </a:prstGeom>
          <a:noFill/>
          <a:ln>
            <a:noFill/>
          </a:ln>
        </p:spPr>
        <p:txBody>
          <a:bodyPr/>
          <a:lstStyle/>
          <a:p>
            <a:endParaRPr/>
          </a:p>
        </p:txBody>
      </p:sp>
      <p:pic>
        <p:nvPicPr>
          <p:cNvPr id="1063" name="Object 1063" descr="AECOM logo"/>
          <p:cNvPicPr>
            <a:picLocks noChangeAspect="1"/>
          </p:cNvPicPr>
          <p:nvPr/>
        </p:nvPicPr>
        <p:blipFill>
          <a:blip r:embed="rId50"/>
          <a:stretch>
            <a:fillRect/>
          </a:stretch>
        </p:blipFill>
        <p:spPr>
          <a:xfrm>
            <a:off x="4309976" y="1991840"/>
            <a:ext cx="642011" cy="151748"/>
          </a:xfrm>
          <a:prstGeom prst="rect">
            <a:avLst/>
          </a:prstGeom>
        </p:spPr>
      </p:pic>
      <p:sp>
        <p:nvSpPr>
          <p:cNvPr id="54" name="Object 54"/>
          <p:cNvSpPr/>
          <p:nvPr/>
        </p:nvSpPr>
        <p:spPr>
          <a:xfrm>
            <a:off x="5054245" y="1950215"/>
            <a:ext cx="746525" cy="235000"/>
          </a:xfrm>
          <a:prstGeom prst="rect">
            <a:avLst/>
          </a:prstGeom>
          <a:noFill/>
          <a:ln>
            <a:noFill/>
          </a:ln>
        </p:spPr>
        <p:txBody>
          <a:bodyPr/>
          <a:lstStyle/>
          <a:p>
            <a:endParaRPr/>
          </a:p>
        </p:txBody>
      </p:sp>
      <p:pic>
        <p:nvPicPr>
          <p:cNvPr id="1064" name="Object 1064" descr="Jacobs logo"/>
          <p:cNvPicPr>
            <a:picLocks noChangeAspect="1"/>
          </p:cNvPicPr>
          <p:nvPr/>
        </p:nvPicPr>
        <p:blipFill>
          <a:blip r:embed="rId51"/>
          <a:stretch>
            <a:fillRect/>
          </a:stretch>
        </p:blipFill>
        <p:spPr>
          <a:xfrm>
            <a:off x="5106501" y="1988562"/>
            <a:ext cx="642011" cy="158304"/>
          </a:xfrm>
          <a:prstGeom prst="rect">
            <a:avLst/>
          </a:prstGeom>
        </p:spPr>
      </p:pic>
      <p:sp>
        <p:nvSpPr>
          <p:cNvPr id="55" name="Object 55"/>
          <p:cNvSpPr/>
          <p:nvPr/>
        </p:nvSpPr>
        <p:spPr>
          <a:xfrm>
            <a:off x="4257720" y="2223215"/>
            <a:ext cx="746525" cy="235000"/>
          </a:xfrm>
          <a:prstGeom prst="rect">
            <a:avLst/>
          </a:prstGeom>
          <a:noFill/>
          <a:ln>
            <a:noFill/>
          </a:ln>
        </p:spPr>
        <p:txBody>
          <a:bodyPr/>
          <a:lstStyle/>
          <a:p>
            <a:endParaRPr/>
          </a:p>
        </p:txBody>
      </p:sp>
      <p:pic>
        <p:nvPicPr>
          <p:cNvPr id="1065" name="Object 1065" descr="Tetra Tech logo"/>
          <p:cNvPicPr>
            <a:picLocks noChangeAspect="1"/>
          </p:cNvPicPr>
          <p:nvPr/>
        </p:nvPicPr>
        <p:blipFill>
          <a:blip r:embed="rId52"/>
          <a:stretch>
            <a:fillRect/>
          </a:stretch>
        </p:blipFill>
        <p:spPr>
          <a:xfrm>
            <a:off x="4309976" y="2255113"/>
            <a:ext cx="642011" cy="171203"/>
          </a:xfrm>
          <a:prstGeom prst="rect">
            <a:avLst/>
          </a:prstGeom>
        </p:spPr>
      </p:pic>
      <p:sp>
        <p:nvSpPr>
          <p:cNvPr id="56" name="Object 56"/>
          <p:cNvSpPr/>
          <p:nvPr/>
        </p:nvSpPr>
        <p:spPr>
          <a:xfrm>
            <a:off x="5054245" y="2223215"/>
            <a:ext cx="746525" cy="235000"/>
          </a:xfrm>
          <a:prstGeom prst="rect">
            <a:avLst/>
          </a:prstGeom>
          <a:noFill/>
          <a:ln>
            <a:noFill/>
          </a:ln>
        </p:spPr>
        <p:txBody>
          <a:bodyPr/>
          <a:lstStyle/>
          <a:p>
            <a:endParaRPr/>
          </a:p>
        </p:txBody>
      </p:sp>
      <p:pic>
        <p:nvPicPr>
          <p:cNvPr id="1066" name="Object 1066" descr="Stantec logo"/>
          <p:cNvPicPr>
            <a:picLocks noChangeAspect="1"/>
          </p:cNvPicPr>
          <p:nvPr/>
        </p:nvPicPr>
        <p:blipFill>
          <a:blip r:embed="rId53"/>
          <a:stretch>
            <a:fillRect/>
          </a:stretch>
        </p:blipFill>
        <p:spPr>
          <a:xfrm>
            <a:off x="5106501" y="2255327"/>
            <a:ext cx="642011" cy="170775"/>
          </a:xfrm>
          <a:prstGeom prst="rect">
            <a:avLst/>
          </a:prstGeom>
        </p:spPr>
      </p:pic>
      <p:sp>
        <p:nvSpPr>
          <p:cNvPr id="57" name="Object 57"/>
          <p:cNvSpPr/>
          <p:nvPr/>
        </p:nvSpPr>
        <p:spPr>
          <a:xfrm>
            <a:off x="4257720" y="2496215"/>
            <a:ext cx="746525" cy="235000"/>
          </a:xfrm>
          <a:prstGeom prst="rect">
            <a:avLst/>
          </a:prstGeom>
          <a:noFill/>
          <a:ln>
            <a:noFill/>
          </a:ln>
        </p:spPr>
        <p:txBody>
          <a:bodyPr/>
          <a:lstStyle/>
          <a:p>
            <a:endParaRPr/>
          </a:p>
        </p:txBody>
      </p:sp>
      <p:pic>
        <p:nvPicPr>
          <p:cNvPr id="1067" name="Object 1067" descr="Bowman logo"/>
          <p:cNvPicPr>
            <a:picLocks noChangeAspect="1"/>
          </p:cNvPicPr>
          <p:nvPr/>
        </p:nvPicPr>
        <p:blipFill>
          <a:blip r:embed="rId54"/>
          <a:stretch>
            <a:fillRect/>
          </a:stretch>
        </p:blipFill>
        <p:spPr>
          <a:xfrm>
            <a:off x="4309976" y="2539883"/>
            <a:ext cx="642011" cy="147662"/>
          </a:xfrm>
          <a:prstGeom prst="rect">
            <a:avLst/>
          </a:prstGeom>
        </p:spPr>
      </p:pic>
      <p:sp>
        <p:nvSpPr>
          <p:cNvPr id="58" name="Object 58"/>
          <p:cNvSpPr/>
          <p:nvPr/>
        </p:nvSpPr>
        <p:spPr>
          <a:xfrm>
            <a:off x="5054245" y="2496215"/>
            <a:ext cx="746525" cy="235000"/>
          </a:xfrm>
          <a:prstGeom prst="rect">
            <a:avLst/>
          </a:prstGeom>
          <a:noFill/>
          <a:ln>
            <a:noFill/>
          </a:ln>
        </p:spPr>
        <p:txBody>
          <a:bodyPr/>
          <a:lstStyle/>
          <a:p>
            <a:endParaRPr/>
          </a:p>
        </p:txBody>
      </p:sp>
      <p:pic>
        <p:nvPicPr>
          <p:cNvPr id="1068" name="Object 1068" descr="Willdan logo"/>
          <p:cNvPicPr>
            <a:picLocks noChangeAspect="1"/>
          </p:cNvPicPr>
          <p:nvPr/>
        </p:nvPicPr>
        <p:blipFill>
          <a:blip r:embed="rId55"/>
          <a:stretch>
            <a:fillRect/>
          </a:stretch>
        </p:blipFill>
        <p:spPr>
          <a:xfrm>
            <a:off x="5106501" y="2532917"/>
            <a:ext cx="642011" cy="161594"/>
          </a:xfrm>
          <a:prstGeom prst="rect">
            <a:avLst/>
          </a:prstGeom>
        </p:spPr>
      </p:pic>
      <p:sp>
        <p:nvSpPr>
          <p:cNvPr id="59" name="Object 59"/>
          <p:cNvSpPr/>
          <p:nvPr/>
        </p:nvSpPr>
        <p:spPr>
          <a:xfrm>
            <a:off x="4257720" y="2769215"/>
            <a:ext cx="746525" cy="235000"/>
          </a:xfrm>
          <a:prstGeom prst="rect">
            <a:avLst/>
          </a:prstGeom>
          <a:noFill/>
          <a:ln>
            <a:noFill/>
          </a:ln>
        </p:spPr>
        <p:txBody>
          <a:bodyPr/>
          <a:lstStyle/>
          <a:p>
            <a:endParaRPr/>
          </a:p>
        </p:txBody>
      </p:sp>
      <p:pic>
        <p:nvPicPr>
          <p:cNvPr id="1069" name="Object 1069" descr="TiC Solutions logo"/>
          <p:cNvPicPr>
            <a:picLocks noChangeAspect="1"/>
          </p:cNvPicPr>
          <p:nvPr/>
        </p:nvPicPr>
        <p:blipFill>
          <a:blip r:embed="rId56"/>
          <a:stretch>
            <a:fillRect/>
          </a:stretch>
        </p:blipFill>
        <p:spPr>
          <a:xfrm>
            <a:off x="4309976" y="2846100"/>
            <a:ext cx="642011" cy="81229"/>
          </a:xfrm>
          <a:prstGeom prst="rect">
            <a:avLst/>
          </a:prstGeom>
        </p:spPr>
      </p:pic>
      <p:sp>
        <p:nvSpPr>
          <p:cNvPr id="60" name="Object 60"/>
          <p:cNvSpPr/>
          <p:nvPr/>
        </p:nvSpPr>
        <p:spPr>
          <a:xfrm>
            <a:off x="5054245" y="2769215"/>
            <a:ext cx="746525" cy="235000"/>
          </a:xfrm>
          <a:prstGeom prst="rect">
            <a:avLst/>
          </a:prstGeom>
          <a:noFill/>
          <a:ln>
            <a:noFill/>
          </a:ln>
        </p:spPr>
        <p:txBody>
          <a:bodyPr/>
          <a:lstStyle/>
          <a:p>
            <a:endParaRPr/>
          </a:p>
        </p:txBody>
      </p:sp>
      <p:pic>
        <p:nvPicPr>
          <p:cNvPr id="1070" name="Object 1070" descr="WSP logo"/>
          <p:cNvPicPr>
            <a:picLocks noChangeAspect="1"/>
          </p:cNvPicPr>
          <p:nvPr/>
        </p:nvPicPr>
        <p:blipFill>
          <a:blip r:embed="rId57"/>
          <a:stretch>
            <a:fillRect/>
          </a:stretch>
        </p:blipFill>
        <p:spPr>
          <a:xfrm>
            <a:off x="5240123" y="2797415"/>
            <a:ext cx="374767" cy="178600"/>
          </a:xfrm>
          <a:prstGeom prst="rect">
            <a:avLst/>
          </a:prstGeom>
        </p:spPr>
      </p:pic>
      <p:sp>
        <p:nvSpPr>
          <p:cNvPr id="61" name="Object 61"/>
          <p:cNvSpPr/>
          <p:nvPr/>
        </p:nvSpPr>
        <p:spPr>
          <a:xfrm>
            <a:off x="4257720" y="3102215"/>
            <a:ext cx="1543050" cy="9510"/>
          </a:xfrm>
          <a:prstGeom prst="rect">
            <a:avLst/>
          </a:prstGeom>
          <a:solidFill>
            <a:srgbClr val="E3DCD3"/>
          </a:solidFill>
          <a:ln/>
        </p:spPr>
        <p:txBody>
          <a:bodyPr/>
          <a:lstStyle/>
          <a:p>
            <a:endParaRPr/>
          </a:p>
        </p:txBody>
      </p:sp>
      <p:sp>
        <p:nvSpPr>
          <p:cNvPr id="1071" name="Object 1071"/>
          <p:cNvSpPr txBox="1"/>
          <p:nvPr/>
        </p:nvSpPr>
        <p:spPr>
          <a:xfrm>
            <a:off x="4257720" y="3212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PLATFORMS AND CONSOLIDATORS</a:t>
            </a:r>
            <a:endParaRPr lang="en-US" sz="550" dirty="0"/>
          </a:p>
        </p:txBody>
      </p:sp>
      <p:sp>
        <p:nvSpPr>
          <p:cNvPr id="1072" name="Object 1072"/>
          <p:cNvSpPr/>
          <p:nvPr/>
        </p:nvSpPr>
        <p:spPr>
          <a:xfrm>
            <a:off x="4257720" y="3509835"/>
            <a:ext cx="746525" cy="235000"/>
          </a:xfrm>
          <a:prstGeom prst="rect">
            <a:avLst/>
          </a:prstGeom>
          <a:noFill/>
          <a:ln>
            <a:noFill/>
          </a:ln>
        </p:spPr>
        <p:txBody>
          <a:bodyPr/>
          <a:lstStyle/>
          <a:p>
            <a:endParaRPr/>
          </a:p>
        </p:txBody>
      </p:sp>
      <p:pic>
        <p:nvPicPr>
          <p:cNvPr id="1073" name="Object 1073" descr="Bernhard Capital Partners logo"/>
          <p:cNvPicPr>
            <a:picLocks noChangeAspect="1"/>
          </p:cNvPicPr>
          <p:nvPr/>
        </p:nvPicPr>
        <p:blipFill>
          <a:blip r:embed="rId58"/>
          <a:stretch>
            <a:fillRect/>
          </a:stretch>
        </p:blipFill>
        <p:spPr>
          <a:xfrm>
            <a:off x="4309976" y="3555643"/>
            <a:ext cx="642011" cy="143382"/>
          </a:xfrm>
          <a:prstGeom prst="rect">
            <a:avLst/>
          </a:prstGeom>
        </p:spPr>
      </p:pic>
      <p:sp>
        <p:nvSpPr>
          <p:cNvPr id="62" name="Object 62"/>
          <p:cNvSpPr/>
          <p:nvPr/>
        </p:nvSpPr>
        <p:spPr>
          <a:xfrm>
            <a:off x="5054245" y="3509835"/>
            <a:ext cx="746525" cy="235000"/>
          </a:xfrm>
          <a:prstGeom prst="rect">
            <a:avLst/>
          </a:prstGeom>
          <a:noFill/>
          <a:ln>
            <a:noFill/>
          </a:ln>
        </p:spPr>
        <p:txBody>
          <a:bodyPr/>
          <a:lstStyle/>
          <a:p>
            <a:endParaRPr/>
          </a:p>
        </p:txBody>
      </p:sp>
      <p:pic>
        <p:nvPicPr>
          <p:cNvPr id="1074" name="Object 1074" descr="Ardurra logo"/>
          <p:cNvPicPr>
            <a:picLocks noChangeAspect="1"/>
          </p:cNvPicPr>
          <p:nvPr/>
        </p:nvPicPr>
        <p:blipFill>
          <a:blip r:embed="rId59"/>
          <a:stretch>
            <a:fillRect/>
          </a:stretch>
        </p:blipFill>
        <p:spPr>
          <a:xfrm>
            <a:off x="5106501" y="3572426"/>
            <a:ext cx="642011" cy="109817"/>
          </a:xfrm>
          <a:prstGeom prst="rect">
            <a:avLst/>
          </a:prstGeom>
        </p:spPr>
      </p:pic>
      <p:sp>
        <p:nvSpPr>
          <p:cNvPr id="63" name="Object 63"/>
          <p:cNvSpPr/>
          <p:nvPr/>
        </p:nvSpPr>
        <p:spPr>
          <a:xfrm>
            <a:off x="4257720" y="3782835"/>
            <a:ext cx="746525" cy="235000"/>
          </a:xfrm>
          <a:prstGeom prst="rect">
            <a:avLst/>
          </a:prstGeom>
          <a:noFill/>
          <a:ln>
            <a:noFill/>
          </a:ln>
        </p:spPr>
        <p:txBody>
          <a:bodyPr/>
          <a:lstStyle/>
          <a:p>
            <a:endParaRPr/>
          </a:p>
        </p:txBody>
      </p:sp>
      <p:pic>
        <p:nvPicPr>
          <p:cNvPr id="1075" name="Object 1075" descr="Salas O'Brien logo"/>
          <p:cNvPicPr>
            <a:picLocks noChangeAspect="1"/>
          </p:cNvPicPr>
          <p:nvPr/>
        </p:nvPicPr>
        <p:blipFill>
          <a:blip r:embed="rId60"/>
          <a:stretch>
            <a:fillRect/>
          </a:stretch>
        </p:blipFill>
        <p:spPr>
          <a:xfrm>
            <a:off x="4309976" y="3833045"/>
            <a:ext cx="642011" cy="134579"/>
          </a:xfrm>
          <a:prstGeom prst="rect">
            <a:avLst/>
          </a:prstGeom>
        </p:spPr>
      </p:pic>
      <p:sp>
        <p:nvSpPr>
          <p:cNvPr id="64" name="Object 64"/>
          <p:cNvSpPr/>
          <p:nvPr/>
        </p:nvSpPr>
        <p:spPr>
          <a:xfrm>
            <a:off x="5054245" y="3782835"/>
            <a:ext cx="746525" cy="235000"/>
          </a:xfrm>
          <a:prstGeom prst="rect">
            <a:avLst/>
          </a:prstGeom>
          <a:noFill/>
          <a:ln>
            <a:noFill/>
          </a:ln>
        </p:spPr>
        <p:txBody>
          <a:bodyPr/>
          <a:lstStyle/>
          <a:p>
            <a:endParaRPr/>
          </a:p>
        </p:txBody>
      </p:sp>
      <p:pic>
        <p:nvPicPr>
          <p:cNvPr id="1076" name="Object 1076" descr="SAM logo"/>
          <p:cNvPicPr>
            <a:picLocks noChangeAspect="1"/>
          </p:cNvPicPr>
          <p:nvPr/>
        </p:nvPicPr>
        <p:blipFill>
          <a:blip r:embed="rId61"/>
          <a:stretch>
            <a:fillRect/>
          </a:stretch>
        </p:blipFill>
        <p:spPr>
          <a:xfrm>
            <a:off x="5189842" y="3811035"/>
            <a:ext cx="475329" cy="178600"/>
          </a:xfrm>
          <a:prstGeom prst="rect">
            <a:avLst/>
          </a:prstGeom>
        </p:spPr>
      </p:pic>
      <p:sp>
        <p:nvSpPr>
          <p:cNvPr id="69" name="Object 69"/>
          <p:cNvSpPr/>
          <p:nvPr/>
        </p:nvSpPr>
        <p:spPr>
          <a:xfrm>
            <a:off x="4257720" y="4055835"/>
            <a:ext cx="746525" cy="235000"/>
          </a:xfrm>
          <a:prstGeom prst="rect">
            <a:avLst/>
          </a:prstGeom>
          <a:noFill/>
          <a:ln>
            <a:noFill/>
          </a:ln>
        </p:spPr>
        <p:txBody>
          <a:bodyPr/>
          <a:lstStyle/>
          <a:p>
            <a:endParaRPr/>
          </a:p>
        </p:txBody>
      </p:sp>
      <p:pic>
        <p:nvPicPr>
          <p:cNvPr id="1077" name="Object 1077" descr="Pape-Dawson logo"/>
          <p:cNvPicPr>
            <a:picLocks noChangeAspect="1"/>
          </p:cNvPicPr>
          <p:nvPr/>
        </p:nvPicPr>
        <p:blipFill>
          <a:blip r:embed="rId62"/>
          <a:stretch>
            <a:fillRect/>
          </a:stretch>
        </p:blipFill>
        <p:spPr>
          <a:xfrm>
            <a:off x="4309976" y="4150222"/>
            <a:ext cx="642011" cy="46224"/>
          </a:xfrm>
          <a:prstGeom prst="rect">
            <a:avLst/>
          </a:prstGeom>
        </p:spPr>
      </p:pic>
      <p:sp>
        <p:nvSpPr>
          <p:cNvPr id="70" name="Object 70"/>
          <p:cNvSpPr/>
          <p:nvPr/>
        </p:nvSpPr>
        <p:spPr>
          <a:xfrm>
            <a:off x="5054245" y="4055835"/>
            <a:ext cx="746525" cy="235000"/>
          </a:xfrm>
          <a:prstGeom prst="rect">
            <a:avLst/>
          </a:prstGeom>
          <a:noFill/>
          <a:ln>
            <a:noFill/>
          </a:ln>
        </p:spPr>
        <p:txBody>
          <a:bodyPr/>
          <a:lstStyle/>
          <a:p>
            <a:endParaRPr/>
          </a:p>
        </p:txBody>
      </p:sp>
      <p:pic>
        <p:nvPicPr>
          <p:cNvPr id="1078" name="Object 1078" descr="Prime AE logo"/>
          <p:cNvPicPr>
            <a:picLocks noChangeAspect="1"/>
          </p:cNvPicPr>
          <p:nvPr/>
        </p:nvPicPr>
        <p:blipFill>
          <a:blip r:embed="rId63"/>
          <a:stretch>
            <a:fillRect/>
          </a:stretch>
        </p:blipFill>
        <p:spPr>
          <a:xfrm>
            <a:off x="5176351" y="4084035"/>
            <a:ext cx="502312" cy="178600"/>
          </a:xfrm>
          <a:prstGeom prst="rect">
            <a:avLst/>
          </a:prstGeom>
        </p:spPr>
      </p:pic>
      <p:sp>
        <p:nvSpPr>
          <p:cNvPr id="71" name="Object 71"/>
          <p:cNvSpPr/>
          <p:nvPr/>
        </p:nvSpPr>
        <p:spPr>
          <a:xfrm>
            <a:off x="4257720" y="4328835"/>
            <a:ext cx="746525" cy="235000"/>
          </a:xfrm>
          <a:prstGeom prst="rect">
            <a:avLst/>
          </a:prstGeom>
          <a:noFill/>
          <a:ln>
            <a:noFill/>
          </a:ln>
        </p:spPr>
        <p:txBody>
          <a:bodyPr/>
          <a:lstStyle/>
          <a:p>
            <a:endParaRPr/>
          </a:p>
        </p:txBody>
      </p:sp>
      <p:pic>
        <p:nvPicPr>
          <p:cNvPr id="1079" name="Object 1079" descr="GHK Capital Partners logo"/>
          <p:cNvPicPr>
            <a:picLocks noChangeAspect="1"/>
          </p:cNvPicPr>
          <p:nvPr/>
        </p:nvPicPr>
        <p:blipFill>
          <a:blip r:embed="rId64"/>
          <a:stretch>
            <a:fillRect/>
          </a:stretch>
        </p:blipFill>
        <p:spPr>
          <a:xfrm>
            <a:off x="4468101" y="4357035"/>
            <a:ext cx="325761" cy="178600"/>
          </a:xfrm>
          <a:prstGeom prst="rect">
            <a:avLst/>
          </a:prstGeom>
        </p:spPr>
      </p:pic>
      <p:sp>
        <p:nvSpPr>
          <p:cNvPr id="72" name="Object 72"/>
          <p:cNvSpPr/>
          <p:nvPr/>
        </p:nvSpPr>
        <p:spPr>
          <a:xfrm>
            <a:off x="5054245" y="4328835"/>
            <a:ext cx="746525" cy="235000"/>
          </a:xfrm>
          <a:prstGeom prst="rect">
            <a:avLst/>
          </a:prstGeom>
          <a:noFill/>
          <a:ln>
            <a:noFill/>
          </a:ln>
        </p:spPr>
        <p:txBody>
          <a:bodyPr/>
          <a:lstStyle/>
          <a:p>
            <a:endParaRPr/>
          </a:p>
        </p:txBody>
      </p:sp>
      <p:sp>
        <p:nvSpPr>
          <p:cNvPr id="1080" name="Object 1080"/>
          <p:cNvSpPr txBox="1"/>
          <p:nvPr/>
        </p:nvSpPr>
        <p:spPr>
          <a:xfrm>
            <a:off x="5084245" y="432883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Control Point Associates</a:t>
            </a:r>
            <a:endParaRPr lang="en-US" sz="650" dirty="0"/>
          </a:p>
        </p:txBody>
      </p:sp>
      <p:sp>
        <p:nvSpPr>
          <p:cNvPr id="1081" name="Object 1081"/>
          <p:cNvSpPr/>
          <p:nvPr/>
        </p:nvSpPr>
        <p:spPr>
          <a:xfrm>
            <a:off x="4257720" y="4601835"/>
            <a:ext cx="746525" cy="235000"/>
          </a:xfrm>
          <a:prstGeom prst="rect">
            <a:avLst/>
          </a:prstGeom>
          <a:noFill/>
          <a:ln>
            <a:noFill/>
          </a:ln>
        </p:spPr>
        <p:txBody>
          <a:bodyPr/>
          <a:lstStyle/>
          <a:p>
            <a:endParaRPr/>
          </a:p>
        </p:txBody>
      </p:sp>
      <p:pic>
        <p:nvPicPr>
          <p:cNvPr id="1082" name="Object 1082" descr="BLEW logo"/>
          <p:cNvPicPr>
            <a:picLocks noChangeAspect="1"/>
          </p:cNvPicPr>
          <p:nvPr/>
        </p:nvPicPr>
        <p:blipFill>
          <a:blip r:embed="rId65"/>
          <a:stretch>
            <a:fillRect/>
          </a:stretch>
        </p:blipFill>
        <p:spPr>
          <a:xfrm>
            <a:off x="4309976" y="4632640"/>
            <a:ext cx="642011" cy="173389"/>
          </a:xfrm>
          <a:prstGeom prst="rect">
            <a:avLst/>
          </a:prstGeom>
        </p:spPr>
      </p:pic>
      <p:sp>
        <p:nvSpPr>
          <p:cNvPr id="73" name="Object 73"/>
          <p:cNvSpPr/>
          <p:nvPr/>
        </p:nvSpPr>
        <p:spPr>
          <a:xfrm>
            <a:off x="4257720" y="4934835"/>
            <a:ext cx="1543050" cy="9510"/>
          </a:xfrm>
          <a:prstGeom prst="rect">
            <a:avLst/>
          </a:prstGeom>
          <a:solidFill>
            <a:srgbClr val="E3DCD3"/>
          </a:solidFill>
          <a:ln/>
        </p:spPr>
        <p:txBody>
          <a:bodyPr/>
          <a:lstStyle/>
          <a:p>
            <a:endParaRPr/>
          </a:p>
        </p:txBody>
      </p:sp>
      <p:sp>
        <p:nvSpPr>
          <p:cNvPr id="1083" name="Object 1083"/>
          <p:cNvSpPr txBox="1"/>
          <p:nvPr/>
        </p:nvSpPr>
        <p:spPr>
          <a:xfrm>
            <a:off x="4257720" y="5044835"/>
            <a:ext cx="1269370"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FORENSIC ENGINEERING</a:t>
            </a:r>
            <a:endParaRPr lang="en-US" sz="550" dirty="0"/>
          </a:p>
        </p:txBody>
      </p:sp>
      <p:sp>
        <p:nvSpPr>
          <p:cNvPr id="1084" name="Object 1084"/>
          <p:cNvSpPr/>
          <p:nvPr/>
        </p:nvSpPr>
        <p:spPr>
          <a:xfrm>
            <a:off x="4257720" y="5218645"/>
            <a:ext cx="746525" cy="235000"/>
          </a:xfrm>
          <a:prstGeom prst="rect">
            <a:avLst/>
          </a:prstGeom>
          <a:noFill/>
          <a:ln>
            <a:noFill/>
          </a:ln>
        </p:spPr>
        <p:txBody>
          <a:bodyPr/>
          <a:lstStyle/>
          <a:p>
            <a:endParaRPr/>
          </a:p>
        </p:txBody>
      </p:sp>
      <p:pic>
        <p:nvPicPr>
          <p:cNvPr id="1085" name="Object 1085" descr="J.S. Held logo"/>
          <p:cNvPicPr>
            <a:picLocks noChangeAspect="1"/>
          </p:cNvPicPr>
          <p:nvPr/>
        </p:nvPicPr>
        <p:blipFill>
          <a:blip r:embed="rId66"/>
          <a:stretch>
            <a:fillRect/>
          </a:stretch>
        </p:blipFill>
        <p:spPr>
          <a:xfrm>
            <a:off x="4355109" y="5246845"/>
            <a:ext cx="551746" cy="178600"/>
          </a:xfrm>
          <a:prstGeom prst="rect">
            <a:avLst/>
          </a:prstGeom>
        </p:spPr>
      </p:pic>
      <p:sp>
        <p:nvSpPr>
          <p:cNvPr id="74" name="Object 74"/>
          <p:cNvSpPr txBox="1"/>
          <p:nvPr/>
        </p:nvSpPr>
        <p:spPr>
          <a:xfrm>
            <a:off x="612456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86" name="Object 1086"/>
          <p:cNvSpPr/>
          <p:nvPr/>
        </p:nvSpPr>
        <p:spPr>
          <a:xfrm>
            <a:off x="6124560" y="1950215"/>
            <a:ext cx="746525" cy="235000"/>
          </a:xfrm>
          <a:prstGeom prst="rect">
            <a:avLst/>
          </a:prstGeom>
          <a:noFill/>
          <a:ln>
            <a:noFill/>
          </a:ln>
        </p:spPr>
        <p:txBody>
          <a:bodyPr/>
          <a:lstStyle/>
          <a:p>
            <a:endParaRPr/>
          </a:p>
        </p:txBody>
      </p:sp>
      <p:pic>
        <p:nvPicPr>
          <p:cNvPr id="1087" name="Object 1087" descr="Brown &amp; Brown logo"/>
          <p:cNvPicPr>
            <a:picLocks noChangeAspect="1"/>
          </p:cNvPicPr>
          <p:nvPr/>
        </p:nvPicPr>
        <p:blipFill>
          <a:blip r:embed="rId67"/>
          <a:stretch>
            <a:fillRect/>
          </a:stretch>
        </p:blipFill>
        <p:spPr>
          <a:xfrm>
            <a:off x="6176816" y="2022774"/>
            <a:ext cx="642011" cy="89881"/>
          </a:xfrm>
          <a:prstGeom prst="rect">
            <a:avLst/>
          </a:prstGeom>
        </p:spPr>
      </p:pic>
      <p:sp>
        <p:nvSpPr>
          <p:cNvPr id="75" name="Object 75"/>
          <p:cNvSpPr/>
          <p:nvPr/>
        </p:nvSpPr>
        <p:spPr>
          <a:xfrm>
            <a:off x="6921085" y="1950215"/>
            <a:ext cx="746525" cy="235000"/>
          </a:xfrm>
          <a:prstGeom prst="rect">
            <a:avLst/>
          </a:prstGeom>
          <a:noFill/>
          <a:ln>
            <a:noFill/>
          </a:ln>
        </p:spPr>
        <p:txBody>
          <a:bodyPr/>
          <a:lstStyle/>
          <a:p>
            <a:endParaRPr/>
          </a:p>
        </p:txBody>
      </p:sp>
      <p:pic>
        <p:nvPicPr>
          <p:cNvPr id="1088" name="Object 1088" descr="Crawford logo"/>
          <p:cNvPicPr>
            <a:picLocks noChangeAspect="1"/>
          </p:cNvPicPr>
          <p:nvPr/>
        </p:nvPicPr>
        <p:blipFill>
          <a:blip r:embed="rId68"/>
          <a:stretch>
            <a:fillRect/>
          </a:stretch>
        </p:blipFill>
        <p:spPr>
          <a:xfrm>
            <a:off x="6973341" y="2014214"/>
            <a:ext cx="642011" cy="107001"/>
          </a:xfrm>
          <a:prstGeom prst="rect">
            <a:avLst/>
          </a:prstGeom>
        </p:spPr>
      </p:pic>
      <p:sp>
        <p:nvSpPr>
          <p:cNvPr id="76" name="Object 76"/>
          <p:cNvSpPr/>
          <p:nvPr/>
        </p:nvSpPr>
        <p:spPr>
          <a:xfrm>
            <a:off x="6124560" y="2223215"/>
            <a:ext cx="746525" cy="235000"/>
          </a:xfrm>
          <a:prstGeom prst="rect">
            <a:avLst/>
          </a:prstGeom>
          <a:noFill/>
          <a:ln>
            <a:noFill/>
          </a:ln>
        </p:spPr>
        <p:txBody>
          <a:bodyPr/>
          <a:lstStyle/>
          <a:p>
            <a:endParaRPr/>
          </a:p>
        </p:txBody>
      </p:sp>
      <p:pic>
        <p:nvPicPr>
          <p:cNvPr id="1089" name="Object 1089" descr="WTW logo"/>
          <p:cNvPicPr>
            <a:picLocks noChangeAspect="1"/>
          </p:cNvPicPr>
          <p:nvPr/>
        </p:nvPicPr>
        <p:blipFill>
          <a:blip r:embed="rId69"/>
          <a:stretch>
            <a:fillRect/>
          </a:stretch>
        </p:blipFill>
        <p:spPr>
          <a:xfrm>
            <a:off x="6235175" y="2251415"/>
            <a:ext cx="525294" cy="178600"/>
          </a:xfrm>
          <a:prstGeom prst="rect">
            <a:avLst/>
          </a:prstGeom>
        </p:spPr>
      </p:pic>
      <p:sp>
        <p:nvSpPr>
          <p:cNvPr id="77" name="Object 77"/>
          <p:cNvSpPr/>
          <p:nvPr/>
        </p:nvSpPr>
        <p:spPr>
          <a:xfrm>
            <a:off x="6921085" y="2223215"/>
            <a:ext cx="746525" cy="235000"/>
          </a:xfrm>
          <a:prstGeom prst="rect">
            <a:avLst/>
          </a:prstGeom>
          <a:noFill/>
          <a:ln>
            <a:noFill/>
          </a:ln>
        </p:spPr>
        <p:txBody>
          <a:bodyPr/>
          <a:lstStyle/>
          <a:p>
            <a:endParaRPr/>
          </a:p>
        </p:txBody>
      </p:sp>
      <p:pic>
        <p:nvPicPr>
          <p:cNvPr id="1090" name="Object 1090" descr="Ryan Specialty logo"/>
          <p:cNvPicPr>
            <a:picLocks noChangeAspect="1"/>
          </p:cNvPicPr>
          <p:nvPr/>
        </p:nvPicPr>
        <p:blipFill>
          <a:blip r:embed="rId70"/>
          <a:stretch>
            <a:fillRect/>
          </a:stretch>
        </p:blipFill>
        <p:spPr>
          <a:xfrm>
            <a:off x="7081143" y="2251415"/>
            <a:ext cx="426407" cy="178600"/>
          </a:xfrm>
          <a:prstGeom prst="rect">
            <a:avLst/>
          </a:prstGeom>
        </p:spPr>
      </p:pic>
      <p:sp>
        <p:nvSpPr>
          <p:cNvPr id="78" name="Object 78"/>
          <p:cNvSpPr/>
          <p:nvPr/>
        </p:nvSpPr>
        <p:spPr>
          <a:xfrm>
            <a:off x="6124560" y="2496215"/>
            <a:ext cx="746525" cy="235000"/>
          </a:xfrm>
          <a:prstGeom prst="rect">
            <a:avLst/>
          </a:prstGeom>
          <a:noFill/>
          <a:ln>
            <a:noFill/>
          </a:ln>
        </p:spPr>
        <p:txBody>
          <a:bodyPr/>
          <a:lstStyle/>
          <a:p>
            <a:endParaRPr/>
          </a:p>
        </p:txBody>
      </p:sp>
      <p:pic>
        <p:nvPicPr>
          <p:cNvPr id="1091" name="Object 1091" descr="Aon logo"/>
          <p:cNvPicPr>
            <a:picLocks noChangeAspect="1"/>
          </p:cNvPicPr>
          <p:nvPr/>
        </p:nvPicPr>
        <p:blipFill>
          <a:blip r:embed="rId71"/>
          <a:stretch>
            <a:fillRect/>
          </a:stretch>
        </p:blipFill>
        <p:spPr>
          <a:xfrm>
            <a:off x="6262169" y="2524415"/>
            <a:ext cx="471305" cy="178600"/>
          </a:xfrm>
          <a:prstGeom prst="rect">
            <a:avLst/>
          </a:prstGeom>
        </p:spPr>
      </p:pic>
      <p:sp>
        <p:nvSpPr>
          <p:cNvPr id="79" name="Object 79"/>
          <p:cNvSpPr/>
          <p:nvPr/>
        </p:nvSpPr>
        <p:spPr>
          <a:xfrm>
            <a:off x="6921085" y="2496215"/>
            <a:ext cx="746525" cy="235000"/>
          </a:xfrm>
          <a:prstGeom prst="rect">
            <a:avLst/>
          </a:prstGeom>
          <a:noFill/>
          <a:ln>
            <a:noFill/>
          </a:ln>
        </p:spPr>
        <p:txBody>
          <a:bodyPr/>
          <a:lstStyle/>
          <a:p>
            <a:endParaRPr/>
          </a:p>
        </p:txBody>
      </p:sp>
      <p:pic>
        <p:nvPicPr>
          <p:cNvPr id="1092" name="Object 1092" descr="Gallagher logo"/>
          <p:cNvPicPr>
            <a:picLocks noChangeAspect="1"/>
          </p:cNvPicPr>
          <p:nvPr/>
        </p:nvPicPr>
        <p:blipFill>
          <a:blip r:embed="rId72"/>
          <a:stretch>
            <a:fillRect/>
          </a:stretch>
        </p:blipFill>
        <p:spPr>
          <a:xfrm>
            <a:off x="6973341" y="2562406"/>
            <a:ext cx="642011" cy="102616"/>
          </a:xfrm>
          <a:prstGeom prst="rect">
            <a:avLst/>
          </a:prstGeom>
        </p:spPr>
      </p:pic>
      <p:sp>
        <p:nvSpPr>
          <p:cNvPr id="80" name="Object 80"/>
          <p:cNvSpPr/>
          <p:nvPr/>
        </p:nvSpPr>
        <p:spPr>
          <a:xfrm>
            <a:off x="6124560" y="2769215"/>
            <a:ext cx="746525" cy="235000"/>
          </a:xfrm>
          <a:prstGeom prst="rect">
            <a:avLst/>
          </a:prstGeom>
          <a:noFill/>
          <a:ln>
            <a:noFill/>
          </a:ln>
        </p:spPr>
        <p:txBody>
          <a:bodyPr/>
          <a:lstStyle/>
          <a:p>
            <a:endParaRPr/>
          </a:p>
        </p:txBody>
      </p:sp>
      <p:pic>
        <p:nvPicPr>
          <p:cNvPr id="1093" name="Object 1093" descr="Marsh logo"/>
          <p:cNvPicPr>
            <a:picLocks noChangeAspect="1"/>
          </p:cNvPicPr>
          <p:nvPr/>
        </p:nvPicPr>
        <p:blipFill>
          <a:blip r:embed="rId73"/>
          <a:stretch>
            <a:fillRect/>
          </a:stretch>
        </p:blipFill>
        <p:spPr>
          <a:xfrm>
            <a:off x="6176816" y="2811813"/>
            <a:ext cx="642011" cy="149802"/>
          </a:xfrm>
          <a:prstGeom prst="rect">
            <a:avLst/>
          </a:prstGeom>
        </p:spPr>
      </p:pic>
      <p:sp>
        <p:nvSpPr>
          <p:cNvPr id="81" name="Object 81"/>
          <p:cNvSpPr/>
          <p:nvPr/>
        </p:nvSpPr>
        <p:spPr>
          <a:xfrm>
            <a:off x="6921085" y="2769215"/>
            <a:ext cx="746525" cy="235000"/>
          </a:xfrm>
          <a:prstGeom prst="rect">
            <a:avLst/>
          </a:prstGeom>
          <a:noFill/>
          <a:ln>
            <a:noFill/>
          </a:ln>
        </p:spPr>
        <p:txBody>
          <a:bodyPr/>
          <a:lstStyle/>
          <a:p>
            <a:endParaRPr/>
          </a:p>
        </p:txBody>
      </p:sp>
      <p:pic>
        <p:nvPicPr>
          <p:cNvPr id="1094" name="Object 1094" descr="The Baldwin Group logo"/>
          <p:cNvPicPr>
            <a:picLocks noChangeAspect="1"/>
          </p:cNvPicPr>
          <p:nvPr/>
        </p:nvPicPr>
        <p:blipFill>
          <a:blip r:embed="rId74"/>
          <a:stretch>
            <a:fillRect/>
          </a:stretch>
        </p:blipFill>
        <p:spPr>
          <a:xfrm>
            <a:off x="6973341" y="2843914"/>
            <a:ext cx="642011" cy="85601"/>
          </a:xfrm>
          <a:prstGeom prst="rect">
            <a:avLst/>
          </a:prstGeom>
        </p:spPr>
      </p:pic>
      <p:sp>
        <p:nvSpPr>
          <p:cNvPr id="82" name="Object 82"/>
          <p:cNvSpPr/>
          <p:nvPr/>
        </p:nvSpPr>
        <p:spPr>
          <a:xfrm>
            <a:off x="6124560" y="3042215"/>
            <a:ext cx="746525" cy="235000"/>
          </a:xfrm>
          <a:prstGeom prst="rect">
            <a:avLst/>
          </a:prstGeom>
          <a:noFill/>
          <a:ln>
            <a:noFill/>
          </a:ln>
        </p:spPr>
        <p:txBody>
          <a:bodyPr/>
          <a:lstStyle/>
          <a:p>
            <a:endParaRPr/>
          </a:p>
        </p:txBody>
      </p:sp>
      <p:pic>
        <p:nvPicPr>
          <p:cNvPr id="1095" name="Object 1095" descr="CBIZ logo"/>
          <p:cNvPicPr>
            <a:picLocks noChangeAspect="1"/>
          </p:cNvPicPr>
          <p:nvPr/>
        </p:nvPicPr>
        <p:blipFill>
          <a:blip r:embed="rId75"/>
          <a:stretch>
            <a:fillRect/>
          </a:stretch>
        </p:blipFill>
        <p:spPr>
          <a:xfrm>
            <a:off x="6176816" y="3075005"/>
            <a:ext cx="642011" cy="169419"/>
          </a:xfrm>
          <a:prstGeom prst="rect">
            <a:avLst/>
          </a:prstGeom>
        </p:spPr>
      </p:pic>
      <p:sp>
        <p:nvSpPr>
          <p:cNvPr id="83" name="Object 83"/>
          <p:cNvSpPr/>
          <p:nvPr/>
        </p:nvSpPr>
        <p:spPr>
          <a:xfrm>
            <a:off x="6124560" y="3375215"/>
            <a:ext cx="1543050" cy="9510"/>
          </a:xfrm>
          <a:prstGeom prst="rect">
            <a:avLst/>
          </a:prstGeom>
          <a:solidFill>
            <a:srgbClr val="E3DCD3"/>
          </a:solidFill>
          <a:ln/>
        </p:spPr>
        <p:txBody>
          <a:bodyPr/>
          <a:lstStyle/>
          <a:p>
            <a:endParaRPr/>
          </a:p>
        </p:txBody>
      </p:sp>
      <p:sp>
        <p:nvSpPr>
          <p:cNvPr id="1096" name="Object 1096"/>
          <p:cNvSpPr txBox="1"/>
          <p:nvPr/>
        </p:nvSpPr>
        <p:spPr>
          <a:xfrm>
            <a:off x="6124560" y="3485215"/>
            <a:ext cx="1259220"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INSURANCE BROKERAGE</a:t>
            </a:r>
            <a:endParaRPr lang="en-US" sz="550" dirty="0"/>
          </a:p>
        </p:txBody>
      </p:sp>
      <p:sp>
        <p:nvSpPr>
          <p:cNvPr id="1097" name="Object 1097"/>
          <p:cNvSpPr/>
          <p:nvPr/>
        </p:nvSpPr>
        <p:spPr>
          <a:xfrm>
            <a:off x="6124560" y="3659025"/>
            <a:ext cx="746525" cy="235000"/>
          </a:xfrm>
          <a:prstGeom prst="rect">
            <a:avLst/>
          </a:prstGeom>
          <a:noFill/>
          <a:ln>
            <a:noFill/>
          </a:ln>
        </p:spPr>
        <p:txBody>
          <a:bodyPr/>
          <a:lstStyle/>
          <a:p>
            <a:endParaRPr/>
          </a:p>
        </p:txBody>
      </p:sp>
      <p:pic>
        <p:nvPicPr>
          <p:cNvPr id="1098" name="Object 1098" descr="Inszone Insurance Services logo"/>
          <p:cNvPicPr>
            <a:picLocks noChangeAspect="1"/>
          </p:cNvPicPr>
          <p:nvPr/>
        </p:nvPicPr>
        <p:blipFill>
          <a:blip r:embed="rId76"/>
          <a:stretch>
            <a:fillRect/>
          </a:stretch>
        </p:blipFill>
        <p:spPr>
          <a:xfrm>
            <a:off x="6303161" y="3687225"/>
            <a:ext cx="389322" cy="178600"/>
          </a:xfrm>
          <a:prstGeom prst="rect">
            <a:avLst/>
          </a:prstGeom>
        </p:spPr>
      </p:pic>
      <p:sp>
        <p:nvSpPr>
          <p:cNvPr id="84" name="Object 84"/>
          <p:cNvSpPr/>
          <p:nvPr/>
        </p:nvSpPr>
        <p:spPr>
          <a:xfrm>
            <a:off x="6921085" y="3659025"/>
            <a:ext cx="746525" cy="235000"/>
          </a:xfrm>
          <a:prstGeom prst="rect">
            <a:avLst/>
          </a:prstGeom>
          <a:noFill/>
          <a:ln>
            <a:noFill/>
          </a:ln>
        </p:spPr>
        <p:txBody>
          <a:bodyPr/>
          <a:lstStyle/>
          <a:p>
            <a:endParaRPr/>
          </a:p>
        </p:txBody>
      </p:sp>
      <p:pic>
        <p:nvPicPr>
          <p:cNvPr id="1099" name="Object 1099" descr="World Insurance Associates logo"/>
          <p:cNvPicPr>
            <a:picLocks noChangeAspect="1"/>
          </p:cNvPicPr>
          <p:nvPr/>
        </p:nvPicPr>
        <p:blipFill>
          <a:blip r:embed="rId77"/>
          <a:stretch>
            <a:fillRect/>
          </a:stretch>
        </p:blipFill>
        <p:spPr>
          <a:xfrm>
            <a:off x="6973341" y="3707814"/>
            <a:ext cx="642011" cy="137420"/>
          </a:xfrm>
          <a:prstGeom prst="rect">
            <a:avLst/>
          </a:prstGeom>
        </p:spPr>
      </p:pic>
      <p:sp>
        <p:nvSpPr>
          <p:cNvPr id="85" name="Object 85"/>
          <p:cNvSpPr/>
          <p:nvPr/>
        </p:nvSpPr>
        <p:spPr>
          <a:xfrm>
            <a:off x="6124560" y="3932025"/>
            <a:ext cx="746525" cy="235000"/>
          </a:xfrm>
          <a:prstGeom prst="rect">
            <a:avLst/>
          </a:prstGeom>
          <a:noFill/>
          <a:ln>
            <a:noFill/>
          </a:ln>
        </p:spPr>
        <p:txBody>
          <a:bodyPr/>
          <a:lstStyle/>
          <a:p>
            <a:endParaRPr/>
          </a:p>
        </p:txBody>
      </p:sp>
      <p:pic>
        <p:nvPicPr>
          <p:cNvPr id="1100" name="Object 1100" descr="EPIC Insurance Brokers &amp; Consultants logo"/>
          <p:cNvPicPr>
            <a:picLocks noChangeAspect="1"/>
          </p:cNvPicPr>
          <p:nvPr/>
        </p:nvPicPr>
        <p:blipFill>
          <a:blip r:embed="rId78"/>
          <a:stretch>
            <a:fillRect/>
          </a:stretch>
        </p:blipFill>
        <p:spPr>
          <a:xfrm>
            <a:off x="6365312" y="3960225"/>
            <a:ext cx="265019" cy="178600"/>
          </a:xfrm>
          <a:prstGeom prst="rect">
            <a:avLst/>
          </a:prstGeom>
        </p:spPr>
      </p:pic>
      <p:sp>
        <p:nvSpPr>
          <p:cNvPr id="86" name="Object 86"/>
          <p:cNvSpPr/>
          <p:nvPr/>
        </p:nvSpPr>
        <p:spPr>
          <a:xfrm>
            <a:off x="6921085" y="3932025"/>
            <a:ext cx="746525" cy="235000"/>
          </a:xfrm>
          <a:prstGeom prst="rect">
            <a:avLst/>
          </a:prstGeom>
          <a:noFill/>
          <a:ln>
            <a:noFill/>
          </a:ln>
        </p:spPr>
        <p:txBody>
          <a:bodyPr/>
          <a:lstStyle/>
          <a:p>
            <a:endParaRPr/>
          </a:p>
        </p:txBody>
      </p:sp>
      <p:pic>
        <p:nvPicPr>
          <p:cNvPr id="1101" name="Object 1101" descr="King Risk Partners logo"/>
          <p:cNvPicPr>
            <a:picLocks noChangeAspect="1"/>
          </p:cNvPicPr>
          <p:nvPr/>
        </p:nvPicPr>
        <p:blipFill>
          <a:blip r:embed="rId79"/>
          <a:stretch>
            <a:fillRect/>
          </a:stretch>
        </p:blipFill>
        <p:spPr>
          <a:xfrm>
            <a:off x="7054293" y="3960225"/>
            <a:ext cx="480107" cy="178600"/>
          </a:xfrm>
          <a:prstGeom prst="rect">
            <a:avLst/>
          </a:prstGeom>
        </p:spPr>
      </p:pic>
      <p:sp>
        <p:nvSpPr>
          <p:cNvPr id="87" name="Object 87"/>
          <p:cNvSpPr/>
          <p:nvPr/>
        </p:nvSpPr>
        <p:spPr>
          <a:xfrm>
            <a:off x="6124560" y="4205025"/>
            <a:ext cx="746525" cy="235000"/>
          </a:xfrm>
          <a:prstGeom prst="rect">
            <a:avLst/>
          </a:prstGeom>
          <a:noFill/>
          <a:ln>
            <a:noFill/>
          </a:ln>
        </p:spPr>
        <p:txBody>
          <a:bodyPr/>
          <a:lstStyle/>
          <a:p>
            <a:endParaRPr/>
          </a:p>
        </p:txBody>
      </p:sp>
      <p:pic>
        <p:nvPicPr>
          <p:cNvPr id="1102" name="Object 1102" descr="RPS logo"/>
          <p:cNvPicPr>
            <a:picLocks noChangeAspect="1"/>
          </p:cNvPicPr>
          <p:nvPr/>
        </p:nvPicPr>
        <p:blipFill>
          <a:blip r:embed="rId80"/>
          <a:stretch>
            <a:fillRect/>
          </a:stretch>
        </p:blipFill>
        <p:spPr>
          <a:xfrm>
            <a:off x="6298492" y="4233225"/>
            <a:ext cx="398660" cy="178600"/>
          </a:xfrm>
          <a:prstGeom prst="rect">
            <a:avLst/>
          </a:prstGeom>
        </p:spPr>
      </p:pic>
      <p:sp>
        <p:nvSpPr>
          <p:cNvPr id="88" name="Object 88"/>
          <p:cNvSpPr/>
          <p:nvPr/>
        </p:nvSpPr>
        <p:spPr>
          <a:xfrm>
            <a:off x="6124560" y="4538025"/>
            <a:ext cx="1543050" cy="9510"/>
          </a:xfrm>
          <a:prstGeom prst="rect">
            <a:avLst/>
          </a:prstGeom>
          <a:solidFill>
            <a:srgbClr val="E3DCD3"/>
          </a:solidFill>
          <a:ln/>
        </p:spPr>
        <p:txBody>
          <a:bodyPr/>
          <a:lstStyle/>
          <a:p>
            <a:endParaRPr/>
          </a:p>
        </p:txBody>
      </p:sp>
      <p:sp>
        <p:nvSpPr>
          <p:cNvPr id="1103" name="Object 1103"/>
          <p:cNvSpPr txBox="1"/>
          <p:nvPr/>
        </p:nvSpPr>
        <p:spPr>
          <a:xfrm>
            <a:off x="6124560" y="4648025"/>
            <a:ext cx="1073048"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WEALTH AND OTHER</a:t>
            </a:r>
            <a:endParaRPr lang="en-US" sz="550" dirty="0"/>
          </a:p>
        </p:txBody>
      </p:sp>
      <p:sp>
        <p:nvSpPr>
          <p:cNvPr id="1104" name="Object 1104"/>
          <p:cNvSpPr/>
          <p:nvPr/>
        </p:nvSpPr>
        <p:spPr>
          <a:xfrm>
            <a:off x="6124560" y="4821835"/>
            <a:ext cx="746525" cy="235000"/>
          </a:xfrm>
          <a:prstGeom prst="rect">
            <a:avLst/>
          </a:prstGeom>
          <a:noFill/>
          <a:ln>
            <a:noFill/>
          </a:ln>
        </p:spPr>
        <p:txBody>
          <a:bodyPr/>
          <a:lstStyle/>
          <a:p>
            <a:endParaRPr/>
          </a:p>
        </p:txBody>
      </p:sp>
      <p:pic>
        <p:nvPicPr>
          <p:cNvPr id="1105" name="Object 1105" descr="Hightower logo"/>
          <p:cNvPicPr>
            <a:picLocks noChangeAspect="1"/>
          </p:cNvPicPr>
          <p:nvPr/>
        </p:nvPicPr>
        <p:blipFill>
          <a:blip r:embed="rId81"/>
          <a:stretch>
            <a:fillRect/>
          </a:stretch>
        </p:blipFill>
        <p:spPr>
          <a:xfrm>
            <a:off x="6176816" y="4880866"/>
            <a:ext cx="642011" cy="116937"/>
          </a:xfrm>
          <a:prstGeom prst="rect">
            <a:avLst/>
          </a:prstGeom>
        </p:spPr>
      </p:pic>
      <p:sp>
        <p:nvSpPr>
          <p:cNvPr id="89" name="Object 89"/>
          <p:cNvSpPr/>
          <p:nvPr/>
        </p:nvSpPr>
        <p:spPr>
          <a:xfrm>
            <a:off x="6921085" y="4821835"/>
            <a:ext cx="746525" cy="235000"/>
          </a:xfrm>
          <a:prstGeom prst="rect">
            <a:avLst/>
          </a:prstGeom>
          <a:noFill/>
          <a:ln>
            <a:noFill/>
          </a:ln>
        </p:spPr>
        <p:txBody>
          <a:bodyPr/>
          <a:lstStyle/>
          <a:p>
            <a:endParaRPr/>
          </a:p>
        </p:txBody>
      </p:sp>
      <p:pic>
        <p:nvPicPr>
          <p:cNvPr id="1106" name="Object 1106" descr="Mercer Advisors logo"/>
          <p:cNvPicPr>
            <a:picLocks noChangeAspect="1"/>
          </p:cNvPicPr>
          <p:nvPr/>
        </p:nvPicPr>
        <p:blipFill>
          <a:blip r:embed="rId82"/>
          <a:stretch>
            <a:fillRect/>
          </a:stretch>
        </p:blipFill>
        <p:spPr>
          <a:xfrm>
            <a:off x="6973341" y="4868000"/>
            <a:ext cx="642011" cy="142669"/>
          </a:xfrm>
          <a:prstGeom prst="rect">
            <a:avLst/>
          </a:prstGeom>
        </p:spPr>
      </p:pic>
      <p:sp>
        <p:nvSpPr>
          <p:cNvPr id="90" name="Object 90"/>
          <p:cNvSpPr/>
          <p:nvPr/>
        </p:nvSpPr>
        <p:spPr>
          <a:xfrm>
            <a:off x="6124560" y="5094835"/>
            <a:ext cx="746525" cy="235000"/>
          </a:xfrm>
          <a:prstGeom prst="rect">
            <a:avLst/>
          </a:prstGeom>
          <a:noFill/>
          <a:ln>
            <a:noFill/>
          </a:ln>
        </p:spPr>
        <p:txBody>
          <a:bodyPr/>
          <a:lstStyle/>
          <a:p>
            <a:endParaRPr/>
          </a:p>
        </p:txBody>
      </p:sp>
      <p:pic>
        <p:nvPicPr>
          <p:cNvPr id="1107" name="Object 1107" descr="Class Valuation logo"/>
          <p:cNvPicPr>
            <a:picLocks noChangeAspect="1"/>
          </p:cNvPicPr>
          <p:nvPr/>
        </p:nvPicPr>
        <p:blipFill>
          <a:blip r:embed="rId83"/>
          <a:stretch>
            <a:fillRect/>
          </a:stretch>
        </p:blipFill>
        <p:spPr>
          <a:xfrm>
            <a:off x="6176816" y="5165395"/>
            <a:ext cx="642011" cy="93879"/>
          </a:xfrm>
          <a:prstGeom prst="rect">
            <a:avLst/>
          </a:prstGeom>
        </p:spPr>
      </p:pic>
      <p:sp>
        <p:nvSpPr>
          <p:cNvPr id="91" name="Object 91"/>
          <p:cNvSpPr/>
          <p:nvPr/>
        </p:nvSpPr>
        <p:spPr>
          <a:xfrm>
            <a:off x="6921085" y="5094835"/>
            <a:ext cx="746525" cy="235000"/>
          </a:xfrm>
          <a:prstGeom prst="rect">
            <a:avLst/>
          </a:prstGeom>
          <a:noFill/>
          <a:ln>
            <a:noFill/>
          </a:ln>
        </p:spPr>
        <p:txBody>
          <a:bodyPr/>
          <a:lstStyle/>
          <a:p>
            <a:endParaRPr/>
          </a:p>
        </p:txBody>
      </p:sp>
      <p:pic>
        <p:nvPicPr>
          <p:cNvPr id="1108" name="Object 1108" descr="Broadridge logo"/>
          <p:cNvPicPr>
            <a:picLocks noChangeAspect="1"/>
          </p:cNvPicPr>
          <p:nvPr/>
        </p:nvPicPr>
        <p:blipFill>
          <a:blip r:embed="rId84"/>
          <a:stretch>
            <a:fillRect/>
          </a:stretch>
        </p:blipFill>
        <p:spPr>
          <a:xfrm>
            <a:off x="6973341" y="5140108"/>
            <a:ext cx="642011" cy="144452"/>
          </a:xfrm>
          <a:prstGeom prst="rect">
            <a:avLst/>
          </a:prstGeom>
        </p:spPr>
      </p:pic>
      <p:sp>
        <p:nvSpPr>
          <p:cNvPr id="92" name="Object 92"/>
          <p:cNvSpPr txBox="1"/>
          <p:nvPr/>
        </p:nvSpPr>
        <p:spPr>
          <a:xfrm>
            <a:off x="7991490" y="177640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LISTED COMPANIES</a:t>
            </a:r>
            <a:endParaRPr lang="en-US" sz="550" dirty="0"/>
          </a:p>
        </p:txBody>
      </p:sp>
      <p:sp>
        <p:nvSpPr>
          <p:cNvPr id="1109" name="Object 1109"/>
          <p:cNvSpPr/>
          <p:nvPr/>
        </p:nvSpPr>
        <p:spPr>
          <a:xfrm>
            <a:off x="7991490" y="1950215"/>
            <a:ext cx="746525" cy="235000"/>
          </a:xfrm>
          <a:prstGeom prst="rect">
            <a:avLst/>
          </a:prstGeom>
          <a:noFill/>
          <a:ln>
            <a:noFill/>
          </a:ln>
        </p:spPr>
        <p:txBody>
          <a:bodyPr/>
          <a:lstStyle/>
          <a:p>
            <a:endParaRPr/>
          </a:p>
        </p:txBody>
      </p:sp>
      <p:sp>
        <p:nvSpPr>
          <p:cNvPr id="1110" name="Object 1110"/>
          <p:cNvSpPr txBox="1"/>
          <p:nvPr/>
        </p:nvSpPr>
        <p:spPr>
          <a:xfrm>
            <a:off x="8021490" y="195021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AMN Healthcare</a:t>
            </a:r>
            <a:endParaRPr lang="en-US" sz="650" dirty="0"/>
          </a:p>
        </p:txBody>
      </p:sp>
      <p:sp>
        <p:nvSpPr>
          <p:cNvPr id="1111" name="Object 1111"/>
          <p:cNvSpPr/>
          <p:nvPr/>
        </p:nvSpPr>
        <p:spPr>
          <a:xfrm>
            <a:off x="8788015" y="1950215"/>
            <a:ext cx="746525" cy="235000"/>
          </a:xfrm>
          <a:prstGeom prst="rect">
            <a:avLst/>
          </a:prstGeom>
          <a:noFill/>
          <a:ln>
            <a:noFill/>
          </a:ln>
        </p:spPr>
        <p:txBody>
          <a:bodyPr/>
          <a:lstStyle/>
          <a:p>
            <a:endParaRPr/>
          </a:p>
        </p:txBody>
      </p:sp>
      <p:pic>
        <p:nvPicPr>
          <p:cNvPr id="1112" name="Object 1112" descr="Korn Ferry logo"/>
          <p:cNvPicPr>
            <a:picLocks noChangeAspect="1"/>
          </p:cNvPicPr>
          <p:nvPr/>
        </p:nvPicPr>
        <p:blipFill>
          <a:blip r:embed="rId85"/>
          <a:stretch>
            <a:fillRect/>
          </a:stretch>
        </p:blipFill>
        <p:spPr>
          <a:xfrm>
            <a:off x="8849765" y="1978415"/>
            <a:ext cx="623023" cy="178600"/>
          </a:xfrm>
          <a:prstGeom prst="rect">
            <a:avLst/>
          </a:prstGeom>
        </p:spPr>
      </p:pic>
      <p:sp>
        <p:nvSpPr>
          <p:cNvPr id="93" name="Object 93"/>
          <p:cNvSpPr/>
          <p:nvPr/>
        </p:nvSpPr>
        <p:spPr>
          <a:xfrm>
            <a:off x="7991490" y="2223215"/>
            <a:ext cx="746525" cy="235000"/>
          </a:xfrm>
          <a:prstGeom prst="rect">
            <a:avLst/>
          </a:prstGeom>
          <a:noFill/>
          <a:ln>
            <a:noFill/>
          </a:ln>
        </p:spPr>
        <p:txBody>
          <a:bodyPr/>
          <a:lstStyle/>
          <a:p>
            <a:endParaRPr/>
          </a:p>
        </p:txBody>
      </p:sp>
      <p:pic>
        <p:nvPicPr>
          <p:cNvPr id="1113" name="Object 1113" descr="Randstad logo"/>
          <p:cNvPicPr>
            <a:picLocks noChangeAspect="1"/>
          </p:cNvPicPr>
          <p:nvPr/>
        </p:nvPicPr>
        <p:blipFill>
          <a:blip r:embed="rId86"/>
          <a:stretch>
            <a:fillRect/>
          </a:stretch>
        </p:blipFill>
        <p:spPr>
          <a:xfrm>
            <a:off x="8043746" y="2292564"/>
            <a:ext cx="642011" cy="96301"/>
          </a:xfrm>
          <a:prstGeom prst="rect">
            <a:avLst/>
          </a:prstGeom>
        </p:spPr>
      </p:pic>
      <p:sp>
        <p:nvSpPr>
          <p:cNvPr id="94" name="Object 94"/>
          <p:cNvSpPr/>
          <p:nvPr/>
        </p:nvSpPr>
        <p:spPr>
          <a:xfrm>
            <a:off x="8788015" y="2223215"/>
            <a:ext cx="746525" cy="235000"/>
          </a:xfrm>
          <a:prstGeom prst="rect">
            <a:avLst/>
          </a:prstGeom>
          <a:noFill/>
          <a:ln>
            <a:noFill/>
          </a:ln>
        </p:spPr>
        <p:txBody>
          <a:bodyPr/>
          <a:lstStyle/>
          <a:p>
            <a:endParaRPr/>
          </a:p>
        </p:txBody>
      </p:sp>
      <p:pic>
        <p:nvPicPr>
          <p:cNvPr id="1114" name="Object 1114" descr="BBSI logo"/>
          <p:cNvPicPr>
            <a:picLocks noChangeAspect="1"/>
          </p:cNvPicPr>
          <p:nvPr/>
        </p:nvPicPr>
        <p:blipFill>
          <a:blip r:embed="rId87"/>
          <a:stretch>
            <a:fillRect/>
          </a:stretch>
        </p:blipFill>
        <p:spPr>
          <a:xfrm>
            <a:off x="8840271" y="2254043"/>
            <a:ext cx="642011" cy="173343"/>
          </a:xfrm>
          <a:prstGeom prst="rect">
            <a:avLst/>
          </a:prstGeom>
        </p:spPr>
      </p:pic>
      <p:sp>
        <p:nvSpPr>
          <p:cNvPr id="95" name="Object 95"/>
          <p:cNvSpPr/>
          <p:nvPr/>
        </p:nvSpPr>
        <p:spPr>
          <a:xfrm>
            <a:off x="7991490" y="2496215"/>
            <a:ext cx="746525" cy="235000"/>
          </a:xfrm>
          <a:prstGeom prst="rect">
            <a:avLst/>
          </a:prstGeom>
          <a:noFill/>
          <a:ln>
            <a:noFill/>
          </a:ln>
        </p:spPr>
        <p:txBody>
          <a:bodyPr/>
          <a:lstStyle/>
          <a:p>
            <a:endParaRPr/>
          </a:p>
        </p:txBody>
      </p:sp>
      <p:pic>
        <p:nvPicPr>
          <p:cNvPr id="1115" name="Object 1115" descr="TriNet logo"/>
          <p:cNvPicPr>
            <a:picLocks noChangeAspect="1"/>
          </p:cNvPicPr>
          <p:nvPr/>
        </p:nvPicPr>
        <p:blipFill>
          <a:blip r:embed="rId88"/>
          <a:stretch>
            <a:fillRect/>
          </a:stretch>
        </p:blipFill>
        <p:spPr>
          <a:xfrm>
            <a:off x="8080713" y="2524415"/>
            <a:ext cx="568077" cy="178600"/>
          </a:xfrm>
          <a:prstGeom prst="rect">
            <a:avLst/>
          </a:prstGeom>
        </p:spPr>
      </p:pic>
      <p:sp>
        <p:nvSpPr>
          <p:cNvPr id="96" name="Object 96"/>
          <p:cNvSpPr/>
          <p:nvPr/>
        </p:nvSpPr>
        <p:spPr>
          <a:xfrm>
            <a:off x="8788015" y="2496215"/>
            <a:ext cx="746525" cy="235000"/>
          </a:xfrm>
          <a:prstGeom prst="rect">
            <a:avLst/>
          </a:prstGeom>
          <a:noFill/>
          <a:ln>
            <a:noFill/>
          </a:ln>
        </p:spPr>
        <p:txBody>
          <a:bodyPr/>
          <a:lstStyle/>
          <a:p>
            <a:endParaRPr/>
          </a:p>
        </p:txBody>
      </p:sp>
      <p:pic>
        <p:nvPicPr>
          <p:cNvPr id="1116" name="Object 1116" descr="Kforce logo"/>
          <p:cNvPicPr>
            <a:picLocks noChangeAspect="1"/>
          </p:cNvPicPr>
          <p:nvPr/>
        </p:nvPicPr>
        <p:blipFill>
          <a:blip r:embed="rId89"/>
          <a:stretch>
            <a:fillRect/>
          </a:stretch>
        </p:blipFill>
        <p:spPr>
          <a:xfrm>
            <a:off x="8840271" y="2532162"/>
            <a:ext cx="642011" cy="163105"/>
          </a:xfrm>
          <a:prstGeom prst="rect">
            <a:avLst/>
          </a:prstGeom>
        </p:spPr>
      </p:pic>
      <p:sp>
        <p:nvSpPr>
          <p:cNvPr id="97" name="Object 97"/>
          <p:cNvSpPr/>
          <p:nvPr/>
        </p:nvSpPr>
        <p:spPr>
          <a:xfrm>
            <a:off x="7991490" y="2769215"/>
            <a:ext cx="746525" cy="235000"/>
          </a:xfrm>
          <a:prstGeom prst="rect">
            <a:avLst/>
          </a:prstGeom>
          <a:noFill/>
          <a:ln>
            <a:noFill/>
          </a:ln>
        </p:spPr>
        <p:txBody>
          <a:bodyPr/>
          <a:lstStyle/>
          <a:p>
            <a:endParaRPr/>
          </a:p>
        </p:txBody>
      </p:sp>
      <p:pic>
        <p:nvPicPr>
          <p:cNvPr id="1117" name="Object 1117" descr="ManpowerGroup logo"/>
          <p:cNvPicPr>
            <a:picLocks noChangeAspect="1"/>
          </p:cNvPicPr>
          <p:nvPr/>
        </p:nvPicPr>
        <p:blipFill>
          <a:blip r:embed="rId90"/>
          <a:stretch>
            <a:fillRect/>
          </a:stretch>
        </p:blipFill>
        <p:spPr>
          <a:xfrm>
            <a:off x="8043746" y="2828933"/>
            <a:ext cx="642011" cy="115562"/>
          </a:xfrm>
          <a:prstGeom prst="rect">
            <a:avLst/>
          </a:prstGeom>
        </p:spPr>
      </p:pic>
      <p:sp>
        <p:nvSpPr>
          <p:cNvPr id="98" name="Object 98"/>
          <p:cNvSpPr/>
          <p:nvPr/>
        </p:nvSpPr>
        <p:spPr>
          <a:xfrm>
            <a:off x="8788015" y="2769215"/>
            <a:ext cx="746525" cy="235000"/>
          </a:xfrm>
          <a:prstGeom prst="rect">
            <a:avLst/>
          </a:prstGeom>
          <a:noFill/>
          <a:ln>
            <a:noFill/>
          </a:ln>
        </p:spPr>
        <p:txBody>
          <a:bodyPr/>
          <a:lstStyle/>
          <a:p>
            <a:endParaRPr/>
          </a:p>
        </p:txBody>
      </p:sp>
      <p:pic>
        <p:nvPicPr>
          <p:cNvPr id="1118" name="Object 1118" descr="TrueBlue logo"/>
          <p:cNvPicPr>
            <a:picLocks noChangeAspect="1"/>
          </p:cNvPicPr>
          <p:nvPr/>
        </p:nvPicPr>
        <p:blipFill>
          <a:blip r:embed="rId91"/>
          <a:stretch>
            <a:fillRect/>
          </a:stretch>
        </p:blipFill>
        <p:spPr>
          <a:xfrm>
            <a:off x="8840271" y="2812241"/>
            <a:ext cx="642011" cy="148946"/>
          </a:xfrm>
          <a:prstGeom prst="rect">
            <a:avLst/>
          </a:prstGeom>
        </p:spPr>
      </p:pic>
      <p:sp>
        <p:nvSpPr>
          <p:cNvPr id="99" name="Object 99"/>
          <p:cNvSpPr/>
          <p:nvPr/>
        </p:nvSpPr>
        <p:spPr>
          <a:xfrm>
            <a:off x="7991490" y="3042215"/>
            <a:ext cx="746525" cy="235000"/>
          </a:xfrm>
          <a:prstGeom prst="rect">
            <a:avLst/>
          </a:prstGeom>
          <a:noFill/>
          <a:ln>
            <a:noFill/>
          </a:ln>
        </p:spPr>
        <p:txBody>
          <a:bodyPr/>
          <a:lstStyle/>
          <a:p>
            <a:endParaRPr/>
          </a:p>
        </p:txBody>
      </p:sp>
      <p:pic>
        <p:nvPicPr>
          <p:cNvPr id="1119" name="Object 1119" descr="Robert Half logo"/>
          <p:cNvPicPr>
            <a:picLocks noChangeAspect="1"/>
          </p:cNvPicPr>
          <p:nvPr/>
        </p:nvPicPr>
        <p:blipFill>
          <a:blip r:embed="rId92"/>
          <a:stretch>
            <a:fillRect/>
          </a:stretch>
        </p:blipFill>
        <p:spPr>
          <a:xfrm>
            <a:off x="8043746" y="3115238"/>
            <a:ext cx="642011" cy="88953"/>
          </a:xfrm>
          <a:prstGeom prst="rect">
            <a:avLst/>
          </a:prstGeom>
        </p:spPr>
      </p:pic>
      <p:sp>
        <p:nvSpPr>
          <p:cNvPr id="100" name="Object 100"/>
          <p:cNvSpPr/>
          <p:nvPr/>
        </p:nvSpPr>
        <p:spPr>
          <a:xfrm>
            <a:off x="8788015" y="3042215"/>
            <a:ext cx="746525" cy="235000"/>
          </a:xfrm>
          <a:prstGeom prst="rect">
            <a:avLst/>
          </a:prstGeom>
          <a:noFill/>
          <a:ln>
            <a:noFill/>
          </a:ln>
        </p:spPr>
        <p:txBody>
          <a:bodyPr/>
          <a:lstStyle/>
          <a:p>
            <a:endParaRPr/>
          </a:p>
        </p:txBody>
      </p:sp>
      <p:pic>
        <p:nvPicPr>
          <p:cNvPr id="1120" name="Object 1120" descr="Insperity logo"/>
          <p:cNvPicPr>
            <a:picLocks noChangeAspect="1"/>
          </p:cNvPicPr>
          <p:nvPr/>
        </p:nvPicPr>
        <p:blipFill>
          <a:blip r:embed="rId93"/>
          <a:stretch>
            <a:fillRect/>
          </a:stretch>
        </p:blipFill>
        <p:spPr>
          <a:xfrm>
            <a:off x="8840271" y="3091661"/>
            <a:ext cx="642011" cy="136106"/>
          </a:xfrm>
          <a:prstGeom prst="rect">
            <a:avLst/>
          </a:prstGeom>
        </p:spPr>
      </p:pic>
      <p:sp>
        <p:nvSpPr>
          <p:cNvPr id="101" name="Object 101"/>
          <p:cNvSpPr/>
          <p:nvPr/>
        </p:nvSpPr>
        <p:spPr>
          <a:xfrm>
            <a:off x="7991490" y="3375215"/>
            <a:ext cx="1543050" cy="9510"/>
          </a:xfrm>
          <a:prstGeom prst="rect">
            <a:avLst/>
          </a:prstGeom>
          <a:solidFill>
            <a:srgbClr val="E3DCD3"/>
          </a:solidFill>
          <a:ln/>
        </p:spPr>
        <p:txBody>
          <a:bodyPr/>
          <a:lstStyle/>
          <a:p>
            <a:endParaRPr/>
          </a:p>
        </p:txBody>
      </p:sp>
      <p:sp>
        <p:nvSpPr>
          <p:cNvPr id="1121" name="Object 1121"/>
          <p:cNvSpPr txBox="1"/>
          <p:nvPr/>
        </p:nvSpPr>
        <p:spPr>
          <a:xfrm>
            <a:off x="7991490" y="348521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STAFFING FIRMS</a:t>
            </a:r>
            <a:endParaRPr lang="en-US" sz="550" dirty="0"/>
          </a:p>
        </p:txBody>
      </p:sp>
      <p:sp>
        <p:nvSpPr>
          <p:cNvPr id="1122" name="Object 1122"/>
          <p:cNvSpPr/>
          <p:nvPr/>
        </p:nvSpPr>
        <p:spPr>
          <a:xfrm>
            <a:off x="7991490" y="3659025"/>
            <a:ext cx="746525" cy="235000"/>
          </a:xfrm>
          <a:prstGeom prst="rect">
            <a:avLst/>
          </a:prstGeom>
          <a:noFill/>
          <a:ln>
            <a:noFill/>
          </a:ln>
        </p:spPr>
        <p:txBody>
          <a:bodyPr/>
          <a:lstStyle/>
          <a:p>
            <a:endParaRPr/>
          </a:p>
        </p:txBody>
      </p:sp>
      <p:pic>
        <p:nvPicPr>
          <p:cNvPr id="1123" name="Object 1123" descr="Aerotek logo"/>
          <p:cNvPicPr>
            <a:picLocks noChangeAspect="1"/>
          </p:cNvPicPr>
          <p:nvPr/>
        </p:nvPicPr>
        <p:blipFill>
          <a:blip r:embed="rId94"/>
          <a:stretch>
            <a:fillRect/>
          </a:stretch>
        </p:blipFill>
        <p:spPr>
          <a:xfrm>
            <a:off x="8043746" y="3701995"/>
            <a:ext cx="642011" cy="149059"/>
          </a:xfrm>
          <a:prstGeom prst="rect">
            <a:avLst/>
          </a:prstGeom>
        </p:spPr>
      </p:pic>
      <p:sp>
        <p:nvSpPr>
          <p:cNvPr id="102" name="Object 102"/>
          <p:cNvSpPr/>
          <p:nvPr/>
        </p:nvSpPr>
        <p:spPr>
          <a:xfrm>
            <a:off x="8788015" y="3659025"/>
            <a:ext cx="746525" cy="235000"/>
          </a:xfrm>
          <a:prstGeom prst="rect">
            <a:avLst/>
          </a:prstGeom>
          <a:noFill/>
          <a:ln>
            <a:noFill/>
          </a:ln>
        </p:spPr>
        <p:txBody>
          <a:bodyPr/>
          <a:lstStyle/>
          <a:p>
            <a:endParaRPr/>
          </a:p>
        </p:txBody>
      </p:sp>
      <p:pic>
        <p:nvPicPr>
          <p:cNvPr id="1124" name="Object 1124" descr="ALKU logo"/>
          <p:cNvPicPr>
            <a:picLocks noChangeAspect="1"/>
          </p:cNvPicPr>
          <p:nvPr/>
        </p:nvPicPr>
        <p:blipFill>
          <a:blip r:embed="rId95"/>
          <a:stretch>
            <a:fillRect/>
          </a:stretch>
        </p:blipFill>
        <p:spPr>
          <a:xfrm>
            <a:off x="8918493" y="3687225"/>
            <a:ext cx="485568" cy="178600"/>
          </a:xfrm>
          <a:prstGeom prst="rect">
            <a:avLst/>
          </a:prstGeom>
        </p:spPr>
      </p:pic>
      <p:sp>
        <p:nvSpPr>
          <p:cNvPr id="103" name="Object 103"/>
          <p:cNvSpPr/>
          <p:nvPr/>
        </p:nvSpPr>
        <p:spPr>
          <a:xfrm>
            <a:off x="7991490" y="3932025"/>
            <a:ext cx="746525" cy="235000"/>
          </a:xfrm>
          <a:prstGeom prst="rect">
            <a:avLst/>
          </a:prstGeom>
          <a:noFill/>
          <a:ln>
            <a:noFill/>
          </a:ln>
        </p:spPr>
        <p:txBody>
          <a:bodyPr/>
          <a:lstStyle/>
          <a:p>
            <a:endParaRPr/>
          </a:p>
        </p:txBody>
      </p:sp>
      <p:pic>
        <p:nvPicPr>
          <p:cNvPr id="1125" name="Object 1125" descr="CHG Healthcare logo"/>
          <p:cNvPicPr>
            <a:picLocks noChangeAspect="1"/>
          </p:cNvPicPr>
          <p:nvPr/>
        </p:nvPicPr>
        <p:blipFill>
          <a:blip r:embed="rId96"/>
          <a:stretch>
            <a:fillRect/>
          </a:stretch>
        </p:blipFill>
        <p:spPr>
          <a:xfrm>
            <a:off x="8043746" y="3996024"/>
            <a:ext cx="642011" cy="107001"/>
          </a:xfrm>
          <a:prstGeom prst="rect">
            <a:avLst/>
          </a:prstGeom>
        </p:spPr>
      </p:pic>
      <p:sp>
        <p:nvSpPr>
          <p:cNvPr id="104" name="Object 104"/>
          <p:cNvSpPr/>
          <p:nvPr/>
        </p:nvSpPr>
        <p:spPr>
          <a:xfrm>
            <a:off x="8788015" y="3932025"/>
            <a:ext cx="746525" cy="235000"/>
          </a:xfrm>
          <a:prstGeom prst="rect">
            <a:avLst/>
          </a:prstGeom>
          <a:noFill/>
          <a:ln>
            <a:noFill/>
          </a:ln>
        </p:spPr>
        <p:txBody>
          <a:bodyPr/>
          <a:lstStyle/>
          <a:p>
            <a:endParaRPr/>
          </a:p>
        </p:txBody>
      </p:sp>
      <p:pic>
        <p:nvPicPr>
          <p:cNvPr id="1126" name="Object 1126" descr="Airswift logo"/>
          <p:cNvPicPr>
            <a:picLocks noChangeAspect="1"/>
          </p:cNvPicPr>
          <p:nvPr/>
        </p:nvPicPr>
        <p:blipFill>
          <a:blip r:embed="rId97"/>
          <a:stretch>
            <a:fillRect/>
          </a:stretch>
        </p:blipFill>
        <p:spPr>
          <a:xfrm>
            <a:off x="8961179" y="3960225"/>
            <a:ext cx="400196" cy="178600"/>
          </a:xfrm>
          <a:prstGeom prst="rect">
            <a:avLst/>
          </a:prstGeom>
        </p:spPr>
      </p:pic>
      <p:sp>
        <p:nvSpPr>
          <p:cNvPr id="105" name="Object 105"/>
          <p:cNvSpPr/>
          <p:nvPr/>
        </p:nvSpPr>
        <p:spPr>
          <a:xfrm>
            <a:off x="7991490" y="4205025"/>
            <a:ext cx="746525" cy="235000"/>
          </a:xfrm>
          <a:prstGeom prst="rect">
            <a:avLst/>
          </a:prstGeom>
          <a:noFill/>
          <a:ln>
            <a:noFill/>
          </a:ln>
        </p:spPr>
        <p:txBody>
          <a:bodyPr/>
          <a:lstStyle/>
          <a:p>
            <a:endParaRPr/>
          </a:p>
        </p:txBody>
      </p:sp>
      <p:pic>
        <p:nvPicPr>
          <p:cNvPr id="1127" name="Object 1127" descr="VeriWorks logo"/>
          <p:cNvPicPr>
            <a:picLocks noChangeAspect="1"/>
          </p:cNvPicPr>
          <p:nvPr/>
        </p:nvPicPr>
        <p:blipFill>
          <a:blip r:embed="rId98"/>
          <a:stretch>
            <a:fillRect/>
          </a:stretch>
        </p:blipFill>
        <p:spPr>
          <a:xfrm>
            <a:off x="8043746" y="4273139"/>
            <a:ext cx="642011" cy="98771"/>
          </a:xfrm>
          <a:prstGeom prst="rect">
            <a:avLst/>
          </a:prstGeom>
        </p:spPr>
      </p:pic>
      <p:sp>
        <p:nvSpPr>
          <p:cNvPr id="106" name="Object 106"/>
          <p:cNvSpPr/>
          <p:nvPr/>
        </p:nvSpPr>
        <p:spPr>
          <a:xfrm>
            <a:off x="8788015" y="4205025"/>
            <a:ext cx="746525" cy="235000"/>
          </a:xfrm>
          <a:prstGeom prst="rect">
            <a:avLst/>
          </a:prstGeom>
          <a:noFill/>
          <a:ln>
            <a:noFill/>
          </a:ln>
        </p:spPr>
        <p:txBody>
          <a:bodyPr/>
          <a:lstStyle/>
          <a:p>
            <a:endParaRPr/>
          </a:p>
        </p:txBody>
      </p:sp>
      <p:pic>
        <p:nvPicPr>
          <p:cNvPr id="1128" name="Object 1128" descr="HW Staffing Solutions logo"/>
          <p:cNvPicPr>
            <a:picLocks noChangeAspect="1"/>
          </p:cNvPicPr>
          <p:nvPr/>
        </p:nvPicPr>
        <p:blipFill>
          <a:blip r:embed="rId99"/>
          <a:stretch>
            <a:fillRect/>
          </a:stretch>
        </p:blipFill>
        <p:spPr>
          <a:xfrm>
            <a:off x="9036140" y="4233225"/>
            <a:ext cx="250275" cy="178600"/>
          </a:xfrm>
          <a:prstGeom prst="rect">
            <a:avLst/>
          </a:prstGeom>
        </p:spPr>
      </p:pic>
      <p:sp>
        <p:nvSpPr>
          <p:cNvPr id="107" name="Object 107"/>
          <p:cNvSpPr/>
          <p:nvPr/>
        </p:nvSpPr>
        <p:spPr>
          <a:xfrm>
            <a:off x="7991490" y="4478025"/>
            <a:ext cx="746525" cy="235000"/>
          </a:xfrm>
          <a:prstGeom prst="rect">
            <a:avLst/>
          </a:prstGeom>
          <a:noFill/>
          <a:ln>
            <a:noFill/>
          </a:ln>
        </p:spPr>
        <p:txBody>
          <a:bodyPr/>
          <a:lstStyle/>
          <a:p>
            <a:endParaRPr/>
          </a:p>
        </p:txBody>
      </p:sp>
      <p:pic>
        <p:nvPicPr>
          <p:cNvPr id="1129" name="Object 1129" descr="CTI Staffing logo"/>
          <p:cNvPicPr>
            <a:picLocks noChangeAspect="1"/>
          </p:cNvPicPr>
          <p:nvPr/>
        </p:nvPicPr>
        <p:blipFill>
          <a:blip r:embed="rId100"/>
          <a:stretch>
            <a:fillRect/>
          </a:stretch>
        </p:blipFill>
        <p:spPr>
          <a:xfrm>
            <a:off x="8229106" y="4506225"/>
            <a:ext cx="271291" cy="178600"/>
          </a:xfrm>
          <a:prstGeom prst="rect">
            <a:avLst/>
          </a:prstGeom>
        </p:spPr>
      </p:pic>
      <p:sp>
        <p:nvSpPr>
          <p:cNvPr id="108" name="Object 108"/>
          <p:cNvSpPr/>
          <p:nvPr/>
        </p:nvSpPr>
        <p:spPr>
          <a:xfrm>
            <a:off x="8788015" y="4478025"/>
            <a:ext cx="746525" cy="235000"/>
          </a:xfrm>
          <a:prstGeom prst="rect">
            <a:avLst/>
          </a:prstGeom>
          <a:noFill/>
          <a:ln>
            <a:noFill/>
          </a:ln>
        </p:spPr>
        <p:txBody>
          <a:bodyPr/>
          <a:lstStyle/>
          <a:p>
            <a:endParaRPr/>
          </a:p>
        </p:txBody>
      </p:sp>
      <p:pic>
        <p:nvPicPr>
          <p:cNvPr id="1130" name="Object 1130" descr="Care Career logo"/>
          <p:cNvPicPr>
            <a:picLocks noChangeAspect="1"/>
          </p:cNvPicPr>
          <p:nvPr/>
        </p:nvPicPr>
        <p:blipFill>
          <a:blip r:embed="rId101"/>
          <a:stretch>
            <a:fillRect/>
          </a:stretch>
        </p:blipFill>
        <p:spPr>
          <a:xfrm>
            <a:off x="8992044" y="4506225"/>
            <a:ext cx="338465" cy="178600"/>
          </a:xfrm>
          <a:prstGeom prst="rect">
            <a:avLst/>
          </a:prstGeom>
        </p:spPr>
      </p:pic>
      <p:sp>
        <p:nvSpPr>
          <p:cNvPr id="109" name="Object 109"/>
          <p:cNvSpPr/>
          <p:nvPr/>
        </p:nvSpPr>
        <p:spPr>
          <a:xfrm>
            <a:off x="7991490" y="4751025"/>
            <a:ext cx="746525" cy="235000"/>
          </a:xfrm>
          <a:prstGeom prst="rect">
            <a:avLst/>
          </a:prstGeom>
          <a:noFill/>
          <a:ln>
            <a:noFill/>
          </a:ln>
        </p:spPr>
        <p:txBody>
          <a:bodyPr/>
          <a:lstStyle/>
          <a:p>
            <a:endParaRPr/>
          </a:p>
        </p:txBody>
      </p:sp>
      <p:pic>
        <p:nvPicPr>
          <p:cNvPr id="1131" name="Object 1131" descr="Empire Workforce Solutions logo"/>
          <p:cNvPicPr>
            <a:picLocks noChangeAspect="1"/>
          </p:cNvPicPr>
          <p:nvPr/>
        </p:nvPicPr>
        <p:blipFill>
          <a:blip r:embed="rId102"/>
          <a:stretch>
            <a:fillRect/>
          </a:stretch>
        </p:blipFill>
        <p:spPr>
          <a:xfrm>
            <a:off x="8258951" y="4779225"/>
            <a:ext cx="211602" cy="178600"/>
          </a:xfrm>
          <a:prstGeom prst="rect">
            <a:avLst/>
          </a:prstGeom>
        </p:spPr>
      </p:pic>
      <p:sp>
        <p:nvSpPr>
          <p:cNvPr id="110" name="Object 110"/>
          <p:cNvSpPr/>
          <p:nvPr/>
        </p:nvSpPr>
        <p:spPr>
          <a:xfrm>
            <a:off x="7991490" y="5084025"/>
            <a:ext cx="1543050" cy="9510"/>
          </a:xfrm>
          <a:prstGeom prst="rect">
            <a:avLst/>
          </a:prstGeom>
          <a:solidFill>
            <a:srgbClr val="E3DCD3"/>
          </a:solidFill>
          <a:ln/>
        </p:spPr>
        <p:txBody>
          <a:bodyPr/>
          <a:lstStyle/>
          <a:p>
            <a:endParaRPr/>
          </a:p>
        </p:txBody>
      </p:sp>
      <p:sp>
        <p:nvSpPr>
          <p:cNvPr id="1132" name="Object 1132"/>
          <p:cNvSpPr txBox="1"/>
          <p:nvPr/>
        </p:nvSpPr>
        <p:spPr>
          <a:xfrm>
            <a:off x="7991490" y="519402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INVESTORS</a:t>
            </a:r>
            <a:endParaRPr lang="en-US" sz="550" dirty="0"/>
          </a:p>
        </p:txBody>
      </p:sp>
      <p:sp>
        <p:nvSpPr>
          <p:cNvPr id="1133" name="Object 1133"/>
          <p:cNvSpPr/>
          <p:nvPr/>
        </p:nvSpPr>
        <p:spPr>
          <a:xfrm>
            <a:off x="7991490" y="5367835"/>
            <a:ext cx="746525" cy="235000"/>
          </a:xfrm>
          <a:prstGeom prst="rect">
            <a:avLst/>
          </a:prstGeom>
          <a:noFill/>
          <a:ln>
            <a:noFill/>
          </a:ln>
        </p:spPr>
        <p:txBody>
          <a:bodyPr/>
          <a:lstStyle/>
          <a:p>
            <a:endParaRPr/>
          </a:p>
        </p:txBody>
      </p:sp>
      <p:pic>
        <p:nvPicPr>
          <p:cNvPr id="1134" name="Object 1134" descr="Concord Holdings logo"/>
          <p:cNvPicPr>
            <a:picLocks noChangeAspect="1"/>
          </p:cNvPicPr>
          <p:nvPr/>
        </p:nvPicPr>
        <p:blipFill>
          <a:blip r:embed="rId103"/>
          <a:stretch>
            <a:fillRect/>
          </a:stretch>
        </p:blipFill>
        <p:spPr>
          <a:xfrm>
            <a:off x="8043746" y="5447748"/>
            <a:ext cx="642011" cy="75172"/>
          </a:xfrm>
          <a:prstGeom prst="rect">
            <a:avLst/>
          </a:prstGeom>
        </p:spPr>
      </p:pic>
      <p:sp>
        <p:nvSpPr>
          <p:cNvPr id="111" name="Object 111"/>
          <p:cNvSpPr/>
          <p:nvPr/>
        </p:nvSpPr>
        <p:spPr>
          <a:xfrm>
            <a:off x="8788015" y="5367835"/>
            <a:ext cx="746525" cy="235000"/>
          </a:xfrm>
          <a:prstGeom prst="rect">
            <a:avLst/>
          </a:prstGeom>
          <a:noFill/>
          <a:ln>
            <a:noFill/>
          </a:ln>
        </p:spPr>
        <p:txBody>
          <a:bodyPr/>
          <a:lstStyle/>
          <a:p>
            <a:endParaRPr/>
          </a:p>
        </p:txBody>
      </p:sp>
      <p:pic>
        <p:nvPicPr>
          <p:cNvPr id="1135" name="Object 1135" descr="Red Dog Equity logo"/>
          <p:cNvPicPr>
            <a:picLocks noChangeAspect="1"/>
          </p:cNvPicPr>
          <p:nvPr/>
        </p:nvPicPr>
        <p:blipFill>
          <a:blip r:embed="rId104"/>
          <a:stretch>
            <a:fillRect/>
          </a:stretch>
        </p:blipFill>
        <p:spPr>
          <a:xfrm>
            <a:off x="8888593" y="5396035"/>
            <a:ext cx="545367" cy="178600"/>
          </a:xfrm>
          <a:prstGeom prst="rect">
            <a:avLst/>
          </a:prstGeom>
        </p:spPr>
      </p:pic>
      <p:sp>
        <p:nvSpPr>
          <p:cNvPr id="1136" name="Object 1136"/>
          <p:cNvSpPr txBox="1"/>
          <p:nvPr/>
        </p:nvSpPr>
        <p:spPr>
          <a:xfrm>
            <a:off x="5084245" y="521864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YA Group (THL Partners)</a:t>
            </a:r>
            <a:endParaRPr lang="en-US" sz="600" dirty="0"/>
          </a:p>
        </p:txBody>
      </p:sp>
      <p:sp>
        <p:nvSpPr>
          <p:cNvPr id="1137" name="Object 1137"/>
          <p:cNvSpPr txBox="1"/>
          <p:nvPr/>
        </p:nvSpPr>
        <p:spPr>
          <a:xfrm>
            <a:off x="4287720" y="5493000"/>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CodeGreen (Pinchin)</a:t>
            </a:r>
            <a:endParaRPr lang="en-US" sz="600" dirty="0"/>
          </a:p>
        </p:txBody>
      </p:sp>
      <p:sp>
        <p:nvSpPr>
          <p:cNvPr id="1138" name="Object 1138"/>
          <p:cNvSpPr txBox="1"/>
          <p:nvPr/>
        </p:nvSpPr>
        <p:spPr>
          <a:xfrm>
            <a:off x="8021490" y="56421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Meraki Capital</a:t>
            </a:r>
            <a:endParaRPr lang="en-US" sz="600" dirty="0"/>
          </a:p>
        </p:txBody>
      </p:sp>
      <p:sp>
        <p:nvSpPr>
          <p:cNvPr id="1139" name="Object 1139"/>
          <p:cNvSpPr txBox="1"/>
          <p:nvPr/>
        </p:nvSpPr>
        <p:spPr>
          <a:xfrm>
            <a:off x="8818015" y="56421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Knox Lane</a:t>
            </a:r>
            <a:endParaRPr lang="en-US" sz="600" dirty="0"/>
          </a:p>
        </p:txBody>
      </p:sp>
      <p:sp>
        <p:nvSpPr>
          <p:cNvPr id="1140" name="Object 1140"/>
          <p:cNvSpPr txBox="1"/>
          <p:nvPr/>
        </p:nvSpPr>
        <p:spPr>
          <a:xfrm>
            <a:off x="8021490" y="591647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TNC Capital Partners</a:t>
            </a:r>
            <a:endParaRPr lang="en-US" sz="600" dirty="0"/>
          </a:p>
        </p:txBody>
      </p:sp>
      <p:sp>
        <p:nvSpPr>
          <p:cNvPr id="1141" name="Object 1141"/>
          <p:cNvSpPr txBox="1"/>
          <p:nvPr/>
        </p:nvSpPr>
        <p:spPr>
          <a:xfrm>
            <a:off x="8818015" y="591647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ZRG (RFE Investment Partners)</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A man in a suit standing in front of an office tower"/>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372514"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03</a:t>
            </a:r>
            <a:endParaRPr lang="en-US" sz="9000" dirty="0"/>
          </a:p>
        </p:txBody>
      </p:sp>
      <p:sp>
        <p:nvSpPr>
          <p:cNvPr id="6" name="Object 6"/>
          <p:cNvSpPr txBox="1"/>
          <p:nvPr/>
        </p:nvSpPr>
        <p:spPr>
          <a:xfrm>
            <a:off x="609630" y="2895630"/>
            <a:ext cx="3993185"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Connect With Us</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067160"/>
            <a:ext cx="57150" cy="57150"/>
          </a:xfrm>
          <a:prstGeom prst="rect">
            <a:avLst/>
          </a:prstGeom>
          <a:solidFill>
            <a:srgbClr val="B68757"/>
          </a:solidFill>
          <a:ln/>
        </p:spPr>
        <p:txBody>
          <a:bodyPr/>
          <a:lstStyle/>
          <a:p>
            <a:endParaRPr/>
          </a:p>
        </p:txBody>
      </p:sp>
      <p:sp>
        <p:nvSpPr>
          <p:cNvPr id="13" name="Object 13"/>
          <p:cNvSpPr txBox="1"/>
          <p:nvPr/>
        </p:nvSpPr>
        <p:spPr>
          <a:xfrm>
            <a:off x="781080" y="4005255"/>
            <a:ext cx="598018"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Benchmark International</a:t>
            </a:r>
            <a:endParaRPr lang="en-US" sz="950" dirty="0"/>
          </a:p>
        </p:txBody>
      </p:sp>
      <p:sp>
        <p:nvSpPr>
          <p:cNvPr id="14" name="Object 14"/>
          <p:cNvSpPr/>
          <p:nvPr/>
        </p:nvSpPr>
        <p:spPr>
          <a:xfrm>
            <a:off x="609630" y="42672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4410060"/>
            <a:ext cx="57150" cy="57150"/>
          </a:xfrm>
          <a:prstGeom prst="rect">
            <a:avLst/>
          </a:prstGeom>
          <a:solidFill>
            <a:srgbClr val="B68757"/>
          </a:solidFill>
          <a:ln/>
        </p:spPr>
        <p:txBody>
          <a:bodyPr/>
          <a:lstStyle/>
          <a:p>
            <a:endParaRPr/>
          </a:p>
        </p:txBody>
      </p:sp>
      <p:sp>
        <p:nvSpPr>
          <p:cNvPr id="16" name="Object 16"/>
          <p:cNvSpPr txBox="1"/>
          <p:nvPr/>
        </p:nvSpPr>
        <p:spPr>
          <a:xfrm>
            <a:off x="781080" y="4348155"/>
            <a:ext cx="1465235"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Start a conversation</a:t>
            </a:r>
            <a:endParaRPr lang="en-US" sz="950" dirty="0"/>
          </a:p>
        </p:txBody>
      </p:sp>
      <p:sp>
        <p:nvSpPr>
          <p:cNvPr id="17" name="Object 17"/>
          <p:cNvSpPr/>
          <p:nvPr/>
        </p:nvSpPr>
        <p:spPr>
          <a:xfrm>
            <a:off x="609630" y="46101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4752960"/>
            <a:ext cx="57150" cy="57150"/>
          </a:xfrm>
          <a:prstGeom prst="rect">
            <a:avLst/>
          </a:prstGeom>
          <a:solidFill>
            <a:srgbClr val="B68757"/>
          </a:solidFill>
          <a:ln/>
        </p:spPr>
        <p:txBody>
          <a:bodyPr/>
          <a:lstStyle/>
          <a:p>
            <a:endParaRPr/>
          </a:p>
        </p:txBody>
      </p:sp>
      <p:sp>
        <p:nvSpPr>
          <p:cNvPr id="19" name="Object 19"/>
          <p:cNvSpPr txBox="1"/>
          <p:nvPr/>
        </p:nvSpPr>
        <p:spPr>
          <a:xfrm>
            <a:off x="781080" y="4691055"/>
            <a:ext cx="1419332"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Sources</a:t>
            </a:r>
            <a:endParaRPr lang="en-US" sz="950" dirty="0"/>
          </a:p>
        </p:txBody>
      </p:sp>
      <p:sp>
        <p:nvSpPr>
          <p:cNvPr id="20" name="Object 20"/>
          <p:cNvSpPr/>
          <p:nvPr/>
        </p:nvSpPr>
        <p:spPr>
          <a:xfrm>
            <a:off x="609630" y="4953030"/>
            <a:ext cx="3333720" cy="9510"/>
          </a:xfrm>
          <a:prstGeom prst="rect">
            <a:avLst/>
          </a:prstGeom>
          <a:solidFill>
            <a:srgbClr val="FFFFFF">
              <a:alpha val="16000"/>
            </a:srgbClr>
          </a:solidFill>
          <a:ln/>
        </p:spPr>
        <p:txBody>
          <a:bodyPr/>
          <a:lstStyle/>
          <a:p>
            <a:endParaRPr/>
          </a:p>
        </p:txBody>
      </p:sp>
      <p:pic>
        <p:nvPicPr>
          <p:cNvPr id="21" name="Object 21"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22" name="Object 22"/>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Object 5"/>
          <p:cNvSpPr txBox="1"/>
          <p:nvPr/>
        </p:nvSpPr>
        <p:spPr>
          <a:xfrm>
            <a:off x="419100" y="361760"/>
            <a:ext cx="46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BUSINESS SERVICES</a:t>
            </a:r>
            <a:r>
              <a:rPr sz="675" b="1" i="0" spc="195" dirty="0">
                <a:solidFill>
                  <a:srgbClr val="8C6239"/>
                </a:solidFill>
                <a:latin typeface="Quicksand"/>
              </a:rPr>
              <a:t>  |  QUARTERLY INDUSTRY REPORT</a:t>
            </a: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Benchmark International</a:t>
            </a:r>
          </a:p>
        </p:txBody>
      </p:sp>
      <p:sp>
        <p:nvSpPr>
          <p:cNvPr id="7" name="Object 7"/>
          <p:cNvSpPr txBox="1"/>
          <p:nvPr/>
        </p:nvSpPr>
        <p:spPr>
          <a:xfrm>
            <a:off x="419100" y="864394"/>
            <a:ext cx="6262836"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focused on five industries.</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0" name="Object 10" descr="Benchmark International emblem on a dark background"/>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Object 11" descr="Benchmark International logo"/>
          <p:cNvPicPr>
            <a:picLocks noChangeAspect="1"/>
          </p:cNvPicPr>
          <p:nvPr/>
        </p:nvPicPr>
        <p:blipFill>
          <a:blip r:embed="rId3"/>
          <a:stretch>
            <a:fillRect/>
          </a:stretch>
        </p:blipFill>
        <p:spPr>
          <a:xfrm>
            <a:off x="600738" y="1466850"/>
            <a:ext cx="2381250" cy="447675"/>
          </a:xfrm>
          <a:prstGeom prst="rect">
            <a:avLst/>
          </a:prstGeom>
        </p:spPr>
      </p:pic>
      <p:sp>
        <p:nvSpPr>
          <p:cNvPr id="12" name="Object 12"/>
          <p:cNvSpPr txBox="1"/>
          <p:nvPr/>
        </p:nvSpPr>
        <p:spPr>
          <a:xfrm>
            <a:off x="3192810" y="1445975"/>
            <a:ext cx="6265515" cy="338138"/>
          </a:xfrm>
          <a:prstGeom prst="rect">
            <a:avLst/>
          </a:prstGeom>
          <a:noFill/>
        </p:spPr>
        <p:txBody>
          <a:bodyPr wrap="square" lIns="0" tIns="0" rIns="0" bIns="0" anchor="t">
            <a:noAutofit/>
          </a:bodyPr>
          <a:lstStyle/>
          <a:p>
            <a:pPr>
              <a:lnSpc>
                <a:spcPts val="1575"/>
              </a:lnSpc>
            </a:pPr>
            <a:r>
              <a:rPr lang="en-US" sz="1000" dirty="0">
                <a:solidFill>
                  <a:srgbClr val="E8E2DA"/>
                </a:solidFill>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endParaRPr lang="en-US" sz="1000" dirty="0"/>
          </a:p>
        </p:txBody>
      </p:sp>
      <p:sp>
        <p:nvSpPr>
          <p:cNvPr id="13" name="Object 13"/>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4" name="Object 14"/>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Object 15"/>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Object 16"/>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7" name="Object 17"/>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Object 18"/>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Object 19"/>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0" name="Object 20"/>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Object 21"/>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Object 22"/>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3" name="Object 23"/>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Object 24"/>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Object 25"/>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pic>
        <p:nvPicPr>
          <p:cNvPr id="31" name="Object 31" descr="Award: Investment Banking Firm of the Year"/>
          <p:cNvPicPr>
            <a:picLocks noChangeAspect="1"/>
          </p:cNvPicPr>
          <p:nvPr/>
        </p:nvPicPr>
        <p:blipFill>
          <a:blip r:embed="rId4"/>
          <a:stretch>
            <a:fillRect/>
          </a:stretch>
        </p:blipFill>
        <p:spPr>
          <a:xfrm>
            <a:off x="514499" y="4086225"/>
            <a:ext cx="2014091" cy="1162050"/>
          </a:xfrm>
          <a:prstGeom prst="rect">
            <a:avLst/>
          </a:prstGeom>
        </p:spPr>
      </p:pic>
      <p:pic>
        <p:nvPicPr>
          <p:cNvPr id="37" name="Object 37" descr="Award: number one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pic>
        <p:nvPicPr>
          <p:cNvPr id="43" name="Object 43" descr="Award: number one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pic>
        <p:nvPicPr>
          <p:cNvPr id="49" name="Object 49" descr="Award: first in the category of investment advisers for unlisted deal flow"/>
          <p:cNvPicPr>
            <a:picLocks noChangeAspect="1"/>
          </p:cNvPicPr>
          <p:nvPr/>
        </p:nvPicPr>
        <p:blipFill>
          <a:blip r:embed="rId7"/>
          <a:stretch>
            <a:fillRect/>
          </a:stretch>
        </p:blipFill>
        <p:spPr>
          <a:xfrm>
            <a:off x="7529661" y="4086225"/>
            <a:ext cx="2014091" cy="1162050"/>
          </a:xfrm>
          <a:prstGeom prst="rect">
            <a:avLst/>
          </a:prstGeom>
        </p:spPr>
      </p:pic>
      <p:sp>
        <p:nvSpPr>
          <p:cNvPr id="50" name="Object 50"/>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1" name="Object 51"/>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2" name="Object 52"/>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3" name="Object 53" descr="Industrial icon"/>
          <p:cNvPicPr>
            <a:picLocks noChangeAspect="1"/>
          </p:cNvPicPr>
          <p:nvPr/>
        </p:nvPicPr>
        <p:blipFill>
          <a:blip r:embed="rId8"/>
          <a:stretch>
            <a:fillRect/>
          </a:stretch>
        </p:blipFill>
        <p:spPr>
          <a:xfrm>
            <a:off x="533400" y="6515100"/>
            <a:ext cx="285750" cy="285750"/>
          </a:xfrm>
          <a:prstGeom prst="rect">
            <a:avLst/>
          </a:prstGeom>
        </p:spPr>
      </p:pic>
      <p:sp>
        <p:nvSpPr>
          <p:cNvPr id="54" name="Object 54"/>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Object 55"/>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56" name="Object 56"/>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57" name="Object 57" descr="Business Services icon"/>
          <p:cNvPicPr>
            <a:picLocks noChangeAspect="1"/>
          </p:cNvPicPr>
          <p:nvPr/>
        </p:nvPicPr>
        <p:blipFill>
          <a:blip r:embed="rId9"/>
          <a:stretch>
            <a:fillRect/>
          </a:stretch>
        </p:blipFill>
        <p:spPr>
          <a:xfrm>
            <a:off x="2400300" y="6515100"/>
            <a:ext cx="285750" cy="285750"/>
          </a:xfrm>
          <a:prstGeom prst="rect">
            <a:avLst/>
          </a:prstGeom>
        </p:spPr>
      </p:pic>
      <p:sp>
        <p:nvSpPr>
          <p:cNvPr id="58" name="Object 58"/>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Object 59"/>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0" name="Object 60"/>
          <p:cNvSpPr/>
          <p:nvPr/>
        </p:nvSpPr>
        <p:spPr>
          <a:xfrm>
            <a:off x="4152900" y="6353175"/>
            <a:ext cx="1752600" cy="28575"/>
          </a:xfrm>
          <a:prstGeom prst="rect">
            <a:avLst/>
          </a:prstGeom>
          <a:solidFill>
            <a:srgbClr val="B68757"/>
          </a:solidFill>
          <a:ln>
            <a:noFill/>
          </a:ln>
        </p:spPr>
        <p:txBody>
          <a:bodyPr rtlCol="0" anchor="ctr"/>
          <a:lstStyle/>
          <a:p>
            <a:pPr algn="ctr"/>
            <a:endParaRPr/>
          </a:p>
        </p:txBody>
      </p:sp>
      <p:pic>
        <p:nvPicPr>
          <p:cNvPr id="61" name="Object 61" descr="Consumer icon"/>
          <p:cNvPicPr>
            <a:picLocks noChangeAspect="1"/>
          </p:cNvPicPr>
          <p:nvPr/>
        </p:nvPicPr>
        <p:blipFill>
          <a:blip r:embed="rId10"/>
          <a:stretch>
            <a:fillRect/>
          </a:stretch>
        </p:blipFill>
        <p:spPr>
          <a:xfrm>
            <a:off x="4267200" y="6515100"/>
            <a:ext cx="285750" cy="285750"/>
          </a:xfrm>
          <a:prstGeom prst="rect">
            <a:avLst/>
          </a:prstGeom>
        </p:spPr>
      </p:pic>
      <p:sp>
        <p:nvSpPr>
          <p:cNvPr id="62" name="Object 62"/>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Object 63"/>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4" name="Object 64"/>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5" name="Object 65" descr="Healthcare icon"/>
          <p:cNvPicPr>
            <a:picLocks noChangeAspect="1"/>
          </p:cNvPicPr>
          <p:nvPr/>
        </p:nvPicPr>
        <p:blipFill>
          <a:blip r:embed="rId11"/>
          <a:stretch>
            <a:fillRect/>
          </a:stretch>
        </p:blipFill>
        <p:spPr>
          <a:xfrm>
            <a:off x="6134100" y="6515100"/>
            <a:ext cx="285750" cy="285750"/>
          </a:xfrm>
          <a:prstGeom prst="rect">
            <a:avLst/>
          </a:prstGeom>
        </p:spPr>
      </p:pic>
      <p:sp>
        <p:nvSpPr>
          <p:cNvPr id="66" name="Object 66"/>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Object 67"/>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68" name="Object 68"/>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69" name="Object 69" descr="Technology icon"/>
          <p:cNvPicPr>
            <a:picLocks noChangeAspect="1"/>
          </p:cNvPicPr>
          <p:nvPr/>
        </p:nvPicPr>
        <p:blipFill>
          <a:blip r:embed="rId12"/>
          <a:stretch>
            <a:fillRect/>
          </a:stretch>
        </p:blipFill>
        <p:spPr>
          <a:xfrm>
            <a:off x="8001000" y="6515100"/>
            <a:ext cx="285750" cy="285750"/>
          </a:xfrm>
          <a:prstGeom prst="rect">
            <a:avLst/>
          </a:prstGeom>
        </p:spPr>
      </p:pic>
      <p:sp>
        <p:nvSpPr>
          <p:cNvPr id="70" name="Object 70"/>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Object 71"/>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72" name="Object 72"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3" name="Object 73"/>
          <p:cNvSpPr txBox="1"/>
          <p:nvPr/>
        </p:nvSpPr>
        <p:spPr>
          <a:xfrm>
            <a:off x="1543050" y="7091172"/>
            <a:ext cx="6709470"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u="sng" spc="8">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Object 74"/>
          <p:cNvSpPr txBox="1"/>
          <p:nvPr/>
        </p:nvSpPr>
        <p:spPr>
          <a:xfrm>
            <a:off x="9516219" y="7149370"/>
            <a:ext cx="123081"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Object 7"/>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AND WITHOUT OBLIGATION</a:t>
            </a:r>
          </a:p>
        </p:txBody>
      </p:sp>
      <p:sp>
        <p:nvSpPr>
          <p:cNvPr id="10" name="Object 10"/>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Object 11"/>
          <p:cNvSpPr/>
          <p:nvPr/>
        </p:nvSpPr>
        <p:spPr>
          <a:xfrm>
            <a:off x="419100" y="2924175"/>
            <a:ext cx="685800" cy="19050"/>
          </a:xfrm>
          <a:prstGeom prst="rect">
            <a:avLst/>
          </a:prstGeom>
          <a:solidFill>
            <a:srgbClr val="B68757"/>
          </a:solidFill>
          <a:ln>
            <a:noFill/>
          </a:ln>
        </p:spPr>
        <p:txBody>
          <a:bodyPr rtlCol="0" anchor="ctr"/>
          <a:lstStyle/>
          <a:p>
            <a:pPr algn="ctr"/>
            <a:endParaRPr/>
          </a:p>
        </p:txBody>
      </p:sp>
      <p:sp>
        <p:nvSpPr>
          <p:cNvPr id="12" name="Object 12"/>
          <p:cNvSpPr txBox="1"/>
          <p:nvPr/>
        </p:nvSpPr>
        <p:spPr>
          <a:xfrm>
            <a:off x="419100" y="3115437"/>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a:solidFill>
                  <a:srgbClr val="333231"/>
                </a:solidFill>
                <a:latin typeface="Quicksand"/>
              </a:rPr>
              <a:t>Owners considering a strategic sale, merger, or qualifying change-of-control transaction in the five sectors covered in this report, and the advisors who work with them, are welcome to call or email. The first step is a confidential conversation about your goals, your company, and your options.</a:t>
            </a:r>
          </a:p>
        </p:txBody>
      </p:sp>
      <p:sp>
        <p:nvSpPr>
          <p:cNvPr id="13" name="Object 13"/>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Object 14"/>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Object 15" descr="Photo of 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Object 16"/>
          <p:cNvSpPr txBox="1"/>
          <p:nvPr/>
        </p:nvSpPr>
        <p:spPr>
          <a:xfrm>
            <a:off x="1733550" y="4506087"/>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Object 17"/>
          <p:cNvSpPr txBox="1"/>
          <p:nvPr/>
        </p:nvSpPr>
        <p:spPr>
          <a:xfrm>
            <a:off x="1733550" y="4800410"/>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r>
              <a:rPr lang="en-US" sz="675" b="1" spc="165" dirty="0">
                <a:solidFill>
                  <a:srgbClr val="8C6239"/>
                </a:solidFill>
                <a:latin typeface="Quicksand"/>
              </a:rPr>
              <a:t/>
            </a:r>
            <a:r>
              <a:rPr sz="675" b="1" i="0" spc="165" dirty="0">
                <a:solidFill>
                  <a:srgbClr val="8C6239"/>
                </a:solidFill>
                <a:latin typeface="Quicksand"/>
              </a:rPr>
              <a:t/>
            </a:r>
          </a:p>
        </p:txBody>
      </p:sp>
      <p:sp>
        <p:nvSpPr>
          <p:cNvPr id="18" name="Object 18"/>
          <p:cNvSpPr txBox="1"/>
          <p:nvPr/>
        </p:nvSpPr>
        <p:spPr>
          <a:xfrm>
            <a:off x="1733550" y="5008816"/>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Object 19">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Object 20">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Object 30"/>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Object 31"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Object 32"/>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Object 33"/>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21</a:t>
            </a:r>
          </a:p>
        </p:txBody>
      </p:sp>
      <p:pic>
        <p:nvPicPr>
          <p:cNvPr id="22" name="Object 22" descr="Presenter leading a meeting around a conference table">
            <a:extLst>
              <a:ext uri="{FF2B5EF4-FFF2-40B4-BE49-F238E27FC236}"/>
            </a:extLst>
          </p:cNvPr>
          <p:cNvPicPr>
            <a:picLocks noChangeAspect="1"/>
          </p:cNvPicPr>
          <p:nvPr/>
        </p:nvPicPr>
        <p:blipFill>
          <a:blip r:embed="rId7"/>
          <a:srcRect l="31494" r="31494"/>
          <a:stretch>
            <a:fillRect/>
          </a:stretch>
        </p:blipFill>
        <p:spPr>
          <a:xfrm>
            <a:off x="6477000" y="1238250"/>
            <a:ext cx="3162300" cy="5695950"/>
          </a:xfrm>
          <a:prstGeom prst="rect">
            <a:avLst/>
          </a:prstGeom>
        </p:spPr>
      </p:pic>
      <p:sp>
        <p:nvSpPr>
          <p:cNvPr id="23" name="Object 23">
            <a:extLst>
              <a:ext uri="{FF2B5EF4-FFF2-40B4-BE49-F238E27FC236}"/>
            </a:extLst>
          </p:cNvPr>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94805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Sources</a:t>
            </a:r>
            <a:endParaRPr lang="en-US" sz="2050" dirty="0"/>
          </a:p>
        </p:txBody>
      </p:sp>
      <p:sp>
        <p:nvSpPr>
          <p:cNvPr id="6" name="Object 6"/>
          <p:cNvSpPr txBox="1"/>
          <p:nvPr/>
        </p:nvSpPr>
        <p:spPr>
          <a:xfrm>
            <a:off x="419070" y="883402"/>
            <a:ext cx="4075481"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Sources by page, as linked in this report</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txBox="1"/>
          <p:nvPr/>
        </p:nvSpPr>
        <p:spPr>
          <a:xfrm>
            <a:off x="419070" y="1238280"/>
            <a:ext cx="9220170" cy="3267060"/>
          </a:xfrm>
          <a:prstGeom prst="rect">
            <a:avLst/>
          </a:prstGeom>
          <a:noFill/>
          <a:ln/>
        </p:spPr>
        <p:txBody>
          <a:bodyPr wrap="square" lIns="0" tIns="0" rIns="0" bIns="0" numCol="3" spcCol="285750" rtlCol="0" anchor="t"/>
          <a:lstStyle/>
          <a:p>
            <a:pPr marL="0" indent="0" algn="l">
              <a:lnSpc>
                <a:spcPts val="1000"/>
              </a:lnSpc>
              <a:spcAft>
                <a:spcPts val="300"/>
              </a:spcAft>
              <a:buNone/>
            </a:pPr>
            <a:r>
              <a:rPr lang="en-US" sz="600" b="1" kern="0" spc="150" dirty="0">
                <a:solidFill>
                  <a:srgbClr val="1B1A1A"/>
                </a:solidFill>
                <a:latin typeface="+mn-lt" pitchFamily="34" charset="0"/>
              </a:rPr>
              <a:t>KEY TRENDS IN BUSINESS SERVICES</a:t>
            </a:r>
            <a:endParaRPr lang="en-US" sz="600" dirty="0"/>
          </a:p>
          <a:p>
            <a:pPr marL="0" indent="0" algn="l">
              <a:lnSpc>
                <a:spcPts val="1150"/>
              </a:lnSpc>
              <a:buNone/>
            </a:pPr>
            <a:r>
              <a:rPr lang="en-US" sz="750" u="sng" dirty="0">
                <a:solidFill>
                  <a:srgbClr val="8C6239"/>
                </a:solidFill>
                <a:latin typeface="+mn-lt" pitchFamily="34" charset="0"/>
                <a:hlinkClick r:id="rId3"/>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
              </a:rPr>
              <a:t>Pye-Barker, March 17</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6"/>
              </a:rPr>
              <a:t>Federal Reserve</a:t>
            </a:r>
            <a:r>
              <a:rPr lang="en-US" sz="750" dirty="0">
                <a:solidFill>
                  <a:srgbClr val="333231"/>
                </a:solidFill>
                <a:latin typeface="+mn-lt" pitchFamily="34" charset="0"/>
              </a:rPr>
              <a:t>; </a:t>
            </a:r>
            <a:r>
              <a:rPr lang="en-US" sz="750" u="sng" dirty="0">
                <a:solidFill>
                  <a:srgbClr val="8C6239"/>
                </a:solidFill>
                <a:latin typeface="+mn-lt" pitchFamily="34" charset="0"/>
                <a:hlinkClick r:id="rId7"/>
              </a:rPr>
              <a:t>FRED series GS10</a:t>
            </a:r>
            <a:r>
              <a:rPr lang="en-US" sz="750" dirty="0">
                <a:solidFill>
                  <a:srgbClr val="333231"/>
                </a:solidFill>
                <a:latin typeface="+mn-lt" pitchFamily="34" charset="0"/>
              </a:rPr>
              <a:t>; </a:t>
            </a: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9"/>
              </a:rPr>
              <a:t>ACEC</a:t>
            </a:r>
            <a:r>
              <a:rPr lang="en-US" sz="750" dirty="0">
                <a:solidFill>
                  <a:srgbClr val="333231"/>
                </a:solidFill>
                <a:latin typeface="+mn-lt" pitchFamily="34" charset="0"/>
              </a:rPr>
              <a:t>; </a:t>
            </a:r>
            <a:r>
              <a:rPr lang="en-US" sz="750" u="sng" dirty="0">
                <a:solidFill>
                  <a:srgbClr val="8C6239"/>
                </a:solidFill>
                <a:latin typeface="+mn-lt" pitchFamily="34" charset="0"/>
                <a:hlinkClick r:id="rId10"/>
              </a:rPr>
              <a:t>Bowman</a:t>
            </a:r>
            <a:r>
              <a:rPr lang="en-US" sz="750" dirty="0">
                <a:solidFill>
                  <a:srgbClr val="333231"/>
                </a:solidFill>
                <a:latin typeface="+mn-lt" pitchFamily="34" charset="0"/>
              </a:rPr>
              <a:t>; </a:t>
            </a:r>
            <a:r>
              <a:rPr lang="en-US" sz="750" u="sng" dirty="0">
                <a:solidFill>
                  <a:srgbClr val="8C6239"/>
                </a:solidFill>
                <a:latin typeface="+mn-lt" pitchFamily="34" charset="0"/>
                <a:hlinkClick r:id="rId11"/>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12"/>
              </a:rPr>
              <a:t>Insurance Journal, September 21</a:t>
            </a:r>
            <a:r>
              <a:rPr lang="en-US" sz="750" dirty="0">
                <a:solidFill>
                  <a:srgbClr val="333231"/>
                </a:solidFill>
                <a:latin typeface="+mn-lt" pitchFamily="34" charset="0"/>
              </a:rPr>
              <a:t>; </a:t>
            </a:r>
            <a:r>
              <a:rPr lang="en-US" sz="750" u="sng" dirty="0">
                <a:solidFill>
                  <a:srgbClr val="8C6239"/>
                </a:solidFill>
                <a:latin typeface="+mn-lt" pitchFamily="34" charset="0"/>
                <a:hlinkClick r:id="rId13"/>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14"/>
              </a:rPr>
              <a:t>FRED series TEMPHELPS</a:t>
            </a:r>
            <a:r>
              <a:rPr lang="en-US" sz="750" dirty="0">
                <a:solidFill>
                  <a:srgbClr val="333231"/>
                </a:solidFill>
                <a:latin typeface="+mn-lt" pitchFamily="34" charset="0"/>
              </a:rPr>
              <a:t>; </a:t>
            </a:r>
            <a:r>
              <a:rPr lang="en-US" sz="750" u="sng" dirty="0">
                <a:solidFill>
                  <a:srgbClr val="8C6239"/>
                </a:solidFill>
                <a:latin typeface="+mn-lt" pitchFamily="34" charset="0"/>
                <a:hlinkClick r:id="rId15"/>
              </a:rPr>
              <a:t>MediaPost composite</a:t>
            </a:r>
            <a:r>
              <a:rPr lang="en-US" sz="750" dirty="0">
                <a:solidFill>
                  <a:srgbClr val="333231"/>
                </a:solidFill>
                <a:latin typeface="+mn-lt" pitchFamily="34" charset="0"/>
              </a:rPr>
              <a:t>; </a:t>
            </a:r>
            <a:r>
              <a:rPr lang="en-US" sz="750" u="sng" dirty="0">
                <a:solidFill>
                  <a:srgbClr val="8C6239"/>
                </a:solidFill>
                <a:latin typeface="+mn-lt" pitchFamily="34" charset="0"/>
                <a:hlinkClick r:id="rId16"/>
              </a:rPr>
              <a:t>Gartner via Marketing Dive</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r>
              <a:rPr lang="en-US" sz="750" dirty="0">
                <a:solidFill>
                  <a:srgbClr val="333231"/>
                </a:solidFill>
                <a:latin typeface="+mn-lt" pitchFamily="34" charset="0"/>
              </a:rPr>
              <a:t>; </a:t>
            </a:r>
            <a:r>
              <a:rPr lang="en-US" sz="750" u="sng" dirty="0">
                <a:solidFill>
                  <a:srgbClr val="8C6239"/>
                </a:solidFill>
                <a:latin typeface="+mn-lt" pitchFamily="34" charset="0"/>
                <a:hlinkClick r:id="rId18"/>
              </a:rPr>
              <a:t>IBBA and M&amp;A Source release</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PERSPECTIVES ON FIVE SECTORS</a:t>
            </a:r>
            <a:endParaRPr lang="en-US" sz="600" dirty="0"/>
          </a:p>
          <a:p>
            <a:pPr marL="0" indent="0" algn="l">
              <a:lnSpc>
                <a:spcPts val="1150"/>
              </a:lnSpc>
              <a:buNone/>
            </a:pPr>
            <a:r>
              <a:rPr lang="en-US" sz="750" u="sng" dirty="0">
                <a:solidFill>
                  <a:srgbClr val="8C6239"/>
                </a:solidFill>
                <a:latin typeface="+mn-lt" pitchFamily="34" charset="0"/>
                <a:hlinkClick r:id="rId19"/>
              </a:rPr>
              <a:t>SDM</a:t>
            </a:r>
            <a:r>
              <a:rPr lang="en-US" sz="750" dirty="0">
                <a:solidFill>
                  <a:srgbClr val="333231"/>
                </a:solidFill>
                <a:latin typeface="+mn-lt" pitchFamily="34" charset="0"/>
              </a:rPr>
              <a:t>; </a:t>
            </a:r>
            <a:r>
              <a:rPr lang="en-US" sz="750" u="sng" dirty="0">
                <a:solidFill>
                  <a:srgbClr val="8C6239"/>
                </a:solidFill>
                <a:latin typeface="+mn-lt" pitchFamily="34" charset="0"/>
                <a:hlinkClick r:id="rId20"/>
              </a:rPr>
              <a:t>SGS</a:t>
            </a:r>
            <a:r>
              <a:rPr lang="en-US" sz="750" dirty="0">
                <a:solidFill>
                  <a:srgbClr val="333231"/>
                </a:solidFill>
                <a:latin typeface="+mn-lt" pitchFamily="34" charset="0"/>
              </a:rPr>
              <a:t>; </a:t>
            </a:r>
            <a:r>
              <a:rPr lang="en-US" sz="750" u="sng" dirty="0">
                <a:solidFill>
                  <a:srgbClr val="8C6239"/>
                </a:solidFill>
                <a:latin typeface="+mn-lt" pitchFamily="34" charset="0"/>
                <a:hlinkClick r:id="rId21"/>
              </a:rPr>
              <a:t>IAB and PwC</a:t>
            </a:r>
            <a:r>
              <a:rPr lang="en-US" sz="750" dirty="0">
                <a:solidFill>
                  <a:srgbClr val="333231"/>
                </a:solidFill>
                <a:latin typeface="+mn-lt" pitchFamily="34" charset="0"/>
              </a:rPr>
              <a:t>; </a:t>
            </a:r>
            <a:r>
              <a:rPr lang="en-US" sz="750" u="sng" dirty="0">
                <a:solidFill>
                  <a:srgbClr val="8C6239"/>
                </a:solidFill>
                <a:latin typeface="+mn-lt" pitchFamily="34" charset="0"/>
                <a:hlinkClick r:id="rId22"/>
              </a:rPr>
              <a:t>ASI</a:t>
            </a:r>
            <a:r>
              <a:rPr lang="en-US" sz="750" dirty="0">
                <a:solidFill>
                  <a:srgbClr val="333231"/>
                </a:solidFill>
                <a:latin typeface="+mn-lt" pitchFamily="34" charset="0"/>
              </a:rPr>
              <a:t>; </a:t>
            </a:r>
            <a:r>
              <a:rPr lang="en-US" sz="750" u="sng" dirty="0">
                <a:solidFill>
                  <a:srgbClr val="8C6239"/>
                </a:solidFill>
                <a:latin typeface="+mn-lt" pitchFamily="34" charset="0"/>
                <a:hlinkClick r:id="rId23"/>
              </a:rPr>
              <a:t>ENR</a:t>
            </a:r>
            <a:r>
              <a:rPr lang="en-US" sz="750" dirty="0">
                <a:solidFill>
                  <a:srgbClr val="333231"/>
                </a:solidFill>
                <a:latin typeface="+mn-lt" pitchFamily="34" charset="0"/>
              </a:rPr>
              <a:t>; </a:t>
            </a:r>
            <a:r>
              <a:rPr lang="en-US" sz="750" u="sng" dirty="0">
                <a:solidFill>
                  <a:srgbClr val="8C6239"/>
                </a:solidFill>
                <a:latin typeface="+mn-lt" pitchFamily="34" charset="0"/>
                <a:hlinkClick r:id="rId24"/>
              </a:rPr>
              <a:t>PSMJ</a:t>
            </a:r>
            <a:r>
              <a:rPr lang="en-US" sz="750" dirty="0">
                <a:solidFill>
                  <a:srgbClr val="333231"/>
                </a:solidFill>
                <a:latin typeface="+mn-lt" pitchFamily="34" charset="0"/>
              </a:rPr>
              <a:t>; </a:t>
            </a:r>
            <a:r>
              <a:rPr lang="en-US" sz="750" u="sng" dirty="0">
                <a:solidFill>
                  <a:srgbClr val="8C6239"/>
                </a:solidFill>
                <a:latin typeface="+mn-lt" pitchFamily="34" charset="0"/>
                <a:hlinkClick r:id="rId25"/>
              </a:rPr>
              <a:t>AM Best via Risk &amp; Insurance</a:t>
            </a:r>
            <a:r>
              <a:rPr lang="en-US" sz="750" dirty="0">
                <a:solidFill>
                  <a:srgbClr val="333231"/>
                </a:solidFill>
                <a:latin typeface="+mn-lt" pitchFamily="34" charset="0"/>
              </a:rPr>
              <a:t>; </a:t>
            </a:r>
            <a:r>
              <a:rPr lang="en-US" sz="750" u="sng" dirty="0">
                <a:solidFill>
                  <a:srgbClr val="8C6239"/>
                </a:solidFill>
                <a:latin typeface="+mn-lt" pitchFamily="34" charset="0"/>
                <a:hlinkClick r:id="rId26"/>
              </a:rPr>
              <a:t>WealthManagement.com</a:t>
            </a:r>
            <a:r>
              <a:rPr lang="en-US" sz="750" dirty="0">
                <a:solidFill>
                  <a:srgbClr val="333231"/>
                </a:solidFill>
                <a:latin typeface="+mn-lt" pitchFamily="34" charset="0"/>
              </a:rPr>
              <a:t>; </a:t>
            </a:r>
            <a:r>
              <a:rPr lang="en-US" sz="750" u="sng" dirty="0">
                <a:solidFill>
                  <a:srgbClr val="8C6239"/>
                </a:solidFill>
                <a:latin typeface="+mn-lt" pitchFamily="34" charset="0"/>
                <a:hlinkClick r:id="rId27"/>
              </a:rPr>
              <a:t>ASA</a:t>
            </a:r>
            <a:r>
              <a:rPr lang="en-US" sz="750" dirty="0">
                <a:solidFill>
                  <a:srgbClr val="333231"/>
                </a:solidFill>
                <a:latin typeface="+mn-lt" pitchFamily="34" charset="0"/>
              </a:rPr>
              <a:t>; </a:t>
            </a:r>
            <a:r>
              <a:rPr lang="en-US" sz="750" u="sng" dirty="0">
                <a:solidFill>
                  <a:srgbClr val="8C6239"/>
                </a:solidFill>
                <a:latin typeface="+mn-lt" pitchFamily="34" charset="0"/>
                <a:hlinkClick r:id="rId28"/>
              </a:rPr>
              <a:t>Staffing Industry Analysts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WHAT WE'RE READING</a:t>
            </a:r>
            <a:endParaRPr lang="en-US" sz="600" dirty="0"/>
          </a:p>
          <a:p>
            <a:pPr marL="0" indent="0" algn="l">
              <a:lnSpc>
                <a:spcPts val="1150"/>
              </a:lnSpc>
              <a:buNone/>
            </a:pPr>
            <a:r>
              <a:rPr lang="en-US" sz="750" u="sng" dirty="0">
                <a:solidFill>
                  <a:srgbClr val="8C6239"/>
                </a:solidFill>
                <a:latin typeface="+mn-lt" pitchFamily="34" charset="0"/>
                <a:hlinkClick r:id="rId9"/>
              </a:rPr>
              <a:t>ACEC Research Institute</a:t>
            </a:r>
            <a:r>
              <a:rPr lang="en-US" sz="750" dirty="0">
                <a:solidFill>
                  <a:srgbClr val="333231"/>
                </a:solidFill>
                <a:latin typeface="+mn-lt" pitchFamily="34" charset="0"/>
              </a:rPr>
              <a:t>; </a:t>
            </a:r>
            <a:r>
              <a:rPr lang="en-US" sz="750" u="sng" dirty="0">
                <a:solidFill>
                  <a:srgbClr val="8C6239"/>
                </a:solidFill>
                <a:latin typeface="+mn-lt" pitchFamily="34" charset="0"/>
                <a:hlinkClick r:id="rId29"/>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11"/>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30"/>
              </a:rPr>
              <a:t>PitchBook</a:t>
            </a:r>
            <a:r>
              <a:rPr lang="en-US" sz="750" dirty="0">
                <a:solidFill>
                  <a:srgbClr val="333231"/>
                </a:solidFill>
                <a:latin typeface="+mn-lt" pitchFamily="34" charset="0"/>
              </a:rPr>
              <a:t>; </a:t>
            </a:r>
            <a:r>
              <a:rPr lang="en-US" sz="750" u="sng" dirty="0">
                <a:solidFill>
                  <a:srgbClr val="8C6239"/>
                </a:solidFill>
                <a:latin typeface="+mn-lt" pitchFamily="34" charset="0"/>
                <a:hlinkClick r:id="rId31"/>
              </a:rPr>
              <a:t>Reuters, via Investing.com</a:t>
            </a:r>
            <a:r>
              <a:rPr lang="en-US" sz="750" dirty="0">
                <a:solidFill>
                  <a:srgbClr val="333231"/>
                </a:solidFill>
                <a:latin typeface="+mn-lt" pitchFamily="34" charset="0"/>
              </a:rPr>
              <a:t>; </a:t>
            </a: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6"/>
              </a:rPr>
              <a:t>Federal Reserve</a:t>
            </a:r>
            <a:r>
              <a:rPr lang="en-US" sz="750" dirty="0">
                <a:solidFill>
                  <a:srgbClr val="333231"/>
                </a:solidFill>
                <a:latin typeface="+mn-lt" pitchFamily="34" charset="0"/>
              </a:rPr>
              <a:t>; </a:t>
            </a:r>
            <a:r>
              <a:rPr lang="en-US" sz="750" u="sng" dirty="0">
                <a:solidFill>
                  <a:srgbClr val="8C6239"/>
                </a:solidFill>
                <a:latin typeface="+mn-lt" pitchFamily="34" charset="0"/>
                <a:hlinkClick r:id="rId18"/>
              </a:rPr>
              <a:t>survey release</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FEATURE: FIRE AND LIFE SAFETY</a:t>
            </a:r>
            <a:endParaRPr lang="en-US" sz="600" dirty="0"/>
          </a:p>
          <a:p>
            <a:pPr marL="0" indent="0" algn="l">
              <a:lnSpc>
                <a:spcPts val="1150"/>
              </a:lnSpc>
              <a:buNone/>
            </a:pPr>
            <a:r>
              <a:rPr lang="en-US" sz="750" u="sng" dirty="0">
                <a:solidFill>
                  <a:srgbClr val="8C6239"/>
                </a:solidFill>
                <a:latin typeface="+mn-lt" pitchFamily="34" charset="0"/>
                <a:hlinkClick r:id="rId3"/>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
              </a:rPr>
              <a:t>Pye-Barker, March 17</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32"/>
              </a:rPr>
              <a:t>APi Group, December 10, 2025</a:t>
            </a:r>
            <a:r>
              <a:rPr lang="en-US" sz="750" dirty="0">
                <a:solidFill>
                  <a:srgbClr val="333231"/>
                </a:solidFill>
                <a:latin typeface="+mn-lt" pitchFamily="34" charset="0"/>
              </a:rPr>
              <a:t>; </a:t>
            </a:r>
            <a:r>
              <a:rPr lang="en-US" sz="750" u="sng" dirty="0">
                <a:solidFill>
                  <a:srgbClr val="8C6239"/>
                </a:solidFill>
                <a:latin typeface="+mn-lt" pitchFamily="34" charset="0"/>
                <a:hlinkClick r:id="rId33"/>
              </a:rPr>
              <a:t>APi Group, February 3, 2026</a:t>
            </a:r>
            <a:r>
              <a:rPr lang="en-US" sz="750" dirty="0">
                <a:solidFill>
                  <a:srgbClr val="333231"/>
                </a:solidFill>
                <a:latin typeface="+mn-lt" pitchFamily="34" charset="0"/>
              </a:rPr>
              <a:t>; </a:t>
            </a:r>
            <a:r>
              <a:rPr lang="en-US" sz="750" u="sng" dirty="0">
                <a:solidFill>
                  <a:srgbClr val="8C6239"/>
                </a:solidFill>
                <a:latin typeface="+mn-lt" pitchFamily="34" charset="0"/>
                <a:hlinkClick r:id="rId19"/>
              </a:rPr>
              <a:t>SDM</a:t>
            </a:r>
            <a:r>
              <a:rPr lang="en-US" sz="750" dirty="0">
                <a:solidFill>
                  <a:srgbClr val="333231"/>
                </a:solidFill>
                <a:latin typeface="+mn-lt" pitchFamily="34" charset="0"/>
              </a:rPr>
              <a:t>; </a:t>
            </a:r>
            <a:r>
              <a:rPr lang="en-US" sz="750" u="sng" dirty="0">
                <a:solidFill>
                  <a:srgbClr val="8C6239"/>
                </a:solidFill>
                <a:latin typeface="+mn-lt" pitchFamily="34" charset="0"/>
                <a:hlinkClick r:id="rId34"/>
              </a:rPr>
              <a:t>StockAnalysis</a:t>
            </a:r>
            <a:r>
              <a:rPr lang="en-US" sz="750" dirty="0">
                <a:solidFill>
                  <a:srgbClr val="333231"/>
                </a:solidFill>
                <a:latin typeface="+mn-lt" pitchFamily="34" charset="0"/>
              </a:rPr>
              <a:t>; </a:t>
            </a:r>
            <a:r>
              <a:rPr lang="en-US" sz="750" u="sng" dirty="0">
                <a:solidFill>
                  <a:srgbClr val="8C6239"/>
                </a:solidFill>
                <a:latin typeface="+mn-lt" pitchFamily="34" charset="0"/>
                <a:hlinkClick r:id="rId35"/>
              </a:rPr>
              <a:t>Union AlarmTronic</a:t>
            </a:r>
            <a:r>
              <a:rPr lang="en-US" sz="750" dirty="0">
                <a:solidFill>
                  <a:srgbClr val="333231"/>
                </a:solidFill>
                <a:latin typeface="+mn-lt" pitchFamily="34" charset="0"/>
              </a:rPr>
              <a:t>; </a:t>
            </a:r>
            <a:r>
              <a:rPr lang="en-US" sz="750" u="sng" dirty="0">
                <a:solidFill>
                  <a:srgbClr val="8C6239"/>
                </a:solidFill>
                <a:latin typeface="+mn-lt" pitchFamily="34" charset="0"/>
                <a:hlinkClick r:id="rId36"/>
              </a:rPr>
              <a:t>Suppression Systems, Inc.</a:t>
            </a:r>
            <a:r>
              <a:rPr lang="en-US" sz="750" dirty="0">
                <a:solidFill>
                  <a:srgbClr val="333231"/>
                </a:solidFill>
                <a:latin typeface="+mn-lt" pitchFamily="34" charset="0"/>
              </a:rPr>
              <a:t>; </a:t>
            </a:r>
            <a:r>
              <a:rPr lang="en-US" sz="750" u="sng" dirty="0">
                <a:solidFill>
                  <a:srgbClr val="8C6239"/>
                </a:solidFill>
                <a:latin typeface="+mn-lt" pitchFamily="34" charset="0"/>
                <a:hlinkClick r:id="rId37"/>
              </a:rPr>
              <a:t>Aegis Protective Services and Admiral Security Services</a:t>
            </a:r>
            <a:r>
              <a:rPr lang="en-US" sz="750" dirty="0">
                <a:solidFill>
                  <a:srgbClr val="333231"/>
                </a:solidFill>
                <a:latin typeface="+mn-lt" pitchFamily="34" charset="0"/>
              </a:rPr>
              <a:t>; </a:t>
            </a:r>
            <a:r>
              <a:rPr lang="en-US" sz="750" u="sng" dirty="0">
                <a:solidFill>
                  <a:srgbClr val="8C6239"/>
                </a:solidFill>
                <a:latin typeface="+mn-lt" pitchFamily="34" charset="0"/>
                <a:hlinkClick r:id="rId38"/>
              </a:rPr>
              <a:t>Southern Fire Control</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CLIENT SPOTLIGHT: THREE FIRE AND LIFE SAFETY SALES</a:t>
            </a:r>
            <a:endParaRPr lang="en-US" sz="600" dirty="0"/>
          </a:p>
          <a:p>
            <a:pPr marL="0" indent="0" algn="l">
              <a:lnSpc>
                <a:spcPts val="1150"/>
              </a:lnSpc>
              <a:buNone/>
            </a:pPr>
            <a:r>
              <a:rPr lang="en-US" sz="750" u="sng" dirty="0">
                <a:solidFill>
                  <a:srgbClr val="8C6239"/>
                </a:solidFill>
                <a:latin typeface="+mn-lt" pitchFamily="34" charset="0"/>
                <a:hlinkClick r:id="rId39">
                  <a:extLst>
                    <a:ext uri="{A12FA001-AC4F-418D-AE19-62706E023703}">
                      <ahyp:hlinkClr xmlns:ahyp="http://schemas.microsoft.com/office/drawing/2018/hyperlinkcolor" val="tx"/>
                    </a:ext>
                  </a:extLst>
                </a:hlinkClick>
              </a:rPr>
              <a:t>Cintas annual report</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SELECT RECENT BUSINESS SERVICES M&amp;A TRANSACTIONS</a:t>
            </a:r>
            <a:endParaRPr lang="en-US" sz="600" dirty="0"/>
          </a:p>
          <a:p>
            <a:pPr marL="0" indent="0" algn="l">
              <a:lnSpc>
                <a:spcPts val="1150"/>
              </a:lnSpc>
              <a:buNone/>
            </a:pPr>
            <a:r>
              <a:rPr lang="en-US" sz="750" u="sng" dirty="0">
                <a:solidFill>
                  <a:srgbClr val="8C6239"/>
                </a:solidFill>
                <a:latin typeface="+mn-lt" pitchFamily="34" charset="0"/>
                <a:hlinkClick r:id="rId35"/>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0"/>
              </a:rPr>
              <a:t>ASI</a:t>
            </a:r>
            <a:r>
              <a:rPr lang="en-US" sz="750" dirty="0">
                <a:solidFill>
                  <a:srgbClr val="333231"/>
                </a:solidFill>
                <a:latin typeface="+mn-lt" pitchFamily="34" charset="0"/>
              </a:rPr>
              <a:t>; </a:t>
            </a:r>
            <a:r>
              <a:rPr lang="en-US" sz="750" u="sng" dirty="0">
                <a:solidFill>
                  <a:srgbClr val="8C6239"/>
                </a:solidFill>
                <a:latin typeface="+mn-lt" pitchFamily="34" charset="0"/>
                <a:hlinkClick r:id="rId41"/>
              </a:rPr>
              <a:t>ASI Central</a:t>
            </a:r>
            <a:r>
              <a:rPr lang="en-US" sz="750" dirty="0">
                <a:solidFill>
                  <a:srgbClr val="333231"/>
                </a:solidFill>
                <a:latin typeface="+mn-lt" pitchFamily="34" charset="0"/>
              </a:rPr>
              <a:t>; </a:t>
            </a:r>
            <a:r>
              <a:rPr lang="en-US" sz="750" u="sng" dirty="0">
                <a:solidFill>
                  <a:srgbClr val="8C6239"/>
                </a:solidFill>
                <a:latin typeface="+mn-lt" pitchFamily="34" charset="0"/>
                <a:hlinkClick r:id="rId42"/>
              </a:rPr>
              <a:t>Bowman results</a:t>
            </a:r>
            <a:r>
              <a:rPr lang="en-US" sz="750" dirty="0">
                <a:solidFill>
                  <a:srgbClr val="333231"/>
                </a:solidFill>
                <a:latin typeface="+mn-lt" pitchFamily="34" charset="0"/>
              </a:rPr>
              <a:t>; </a:t>
            </a:r>
            <a:r>
              <a:rPr lang="en-US" sz="750" u="sng" dirty="0">
                <a:solidFill>
                  <a:srgbClr val="8C6239"/>
                </a:solidFill>
                <a:latin typeface="+mn-lt" pitchFamily="34" charset="0"/>
                <a:hlinkClick r:id="rId10"/>
              </a:rPr>
              <a:t>Bowman</a:t>
            </a:r>
            <a:r>
              <a:rPr lang="en-US" sz="750" dirty="0">
                <a:solidFill>
                  <a:srgbClr val="333231"/>
                </a:solidFill>
                <a:latin typeface="+mn-lt" pitchFamily="34" charset="0"/>
              </a:rPr>
              <a:t>; </a:t>
            </a:r>
            <a:r>
              <a:rPr lang="en-US" sz="750" u="sng" dirty="0">
                <a:solidFill>
                  <a:srgbClr val="8C6239"/>
                </a:solidFill>
                <a:latin typeface="+mn-lt" pitchFamily="34" charset="0"/>
                <a:hlinkClick r:id="rId43"/>
              </a:rPr>
              <a:t>Insurance Business</a:t>
            </a:r>
            <a:r>
              <a:rPr lang="en-US" sz="750" dirty="0">
                <a:solidFill>
                  <a:srgbClr val="333231"/>
                </a:solidFill>
                <a:latin typeface="+mn-lt" pitchFamily="34" charset="0"/>
              </a:rPr>
              <a:t>; </a:t>
            </a:r>
            <a:r>
              <a:rPr lang="en-US" sz="750" u="sng" dirty="0">
                <a:solidFill>
                  <a:srgbClr val="8C6239"/>
                </a:solidFill>
                <a:latin typeface="+mn-lt" pitchFamily="34" charset="0"/>
                <a:hlinkClick r:id="rId44"/>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45"/>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28"/>
              </a:rPr>
              <a:t>SIA forecast</a:t>
            </a:r>
            <a:r>
              <a:rPr lang="en-US" sz="750" dirty="0">
                <a:solidFill>
                  <a:srgbClr val="333231"/>
                </a:solidFill>
                <a:latin typeface="+mn-lt" pitchFamily="34" charset="0"/>
              </a:rPr>
              <a:t>; </a:t>
            </a:r>
            <a:r>
              <a:rPr lang="en-US" sz="750" u="sng" dirty="0">
                <a:solidFill>
                  <a:srgbClr val="8C6239"/>
                </a:solidFill>
                <a:latin typeface="+mn-lt" pitchFamily="34" charset="0"/>
                <a:hlinkClick r:id="rId46"/>
              </a:rPr>
              <a:t>Korn Ferry</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INTERNATIONAL'S BUSINESS SERVICES TRANSACTIONS</a:t>
            </a:r>
            <a:endParaRPr lang="en-US" sz="600" dirty="0"/>
          </a:p>
          <a:p>
            <a:pPr marL="0" indent="0" algn="l">
              <a:lnSpc>
                <a:spcPts val="1150"/>
              </a:lnSpc>
              <a:buNone/>
            </a:pPr>
            <a:r>
              <a:rPr lang="en-US" sz="750" u="sng" dirty="0">
                <a:solidFill>
                  <a:srgbClr val="8C6239"/>
                </a:solidFill>
                <a:latin typeface="+mn-lt" pitchFamily="34" charset="0"/>
                <a:hlinkClick r:id="rId47"/>
              </a:rPr>
              <a:t>Benchmark International</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PUBLIC COMPANIES: VALUATION</a:t>
            </a:r>
            <a:endParaRPr lang="en-US" sz="600" dirty="0"/>
          </a:p>
          <a:p>
            <a:pPr marL="0" indent="0" algn="l">
              <a:lnSpc>
                <a:spcPts val="1150"/>
              </a:lnSpc>
              <a:buNone/>
            </a:pP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r>
              <a:rPr lang="en-US" sz="750" dirty="0">
                <a:solidFill>
                  <a:srgbClr val="333231"/>
                </a:solidFill>
                <a:latin typeface="+mn-lt" pitchFamily="34" charset="0"/>
              </a:rPr>
              <a:t>; </a:t>
            </a:r>
            <a:r>
              <a:rPr lang="en-US" sz="750" u="sng" dirty="0">
                <a:solidFill>
                  <a:srgbClr val="8C6239"/>
                </a:solidFill>
                <a:latin typeface="+mn-lt" pitchFamily="34" charset="0"/>
                <a:hlinkClick r:id="rId34"/>
              </a:rPr>
              <a:t>StockAnalysis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PUBLIC COMPANIES: OPERATING AND VALUATION METRICS</a:t>
            </a:r>
            <a:endParaRPr lang="en-US" sz="600" dirty="0"/>
          </a:p>
          <a:p>
            <a:pPr marL="0" indent="0" algn="l">
              <a:lnSpc>
                <a:spcPts val="1150"/>
              </a:lnSpc>
              <a:buNone/>
            </a:pPr>
            <a:r>
              <a:rPr lang="en-US" sz="750" u="sng" dirty="0">
                <a:solidFill>
                  <a:srgbClr val="8C6239"/>
                </a:solidFill>
                <a:latin typeface="+mn-lt" pitchFamily="34" charset="0"/>
                <a:hlinkClick r:id="rId34">
                  <a:extLst>
                    <a:ext uri="{A12FA001-AC4F-418D-AE19-62706E023703}">
                      <ahyp:hlinkClr xmlns:ahyp="http://schemas.microsoft.com/office/drawing/2018/hyperlinkcolor" val="tx"/>
                    </a:ext>
                  </a:extLst>
                </a:hlinkClick>
              </a:rPr>
              <a:t>StockAnalysis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EARNINGS AND COMMENTARY</a:t>
            </a:r>
            <a:endParaRPr lang="en-US" sz="600" dirty="0"/>
          </a:p>
          <a:p>
            <a:pPr marL="0" indent="0" algn="l">
              <a:lnSpc>
                <a:spcPts val="1150"/>
              </a:lnSpc>
              <a:buNone/>
            </a:pPr>
            <a:r>
              <a:rPr lang="en-US" sz="750" u="sng" dirty="0">
                <a:solidFill>
                  <a:srgbClr val="8C6239"/>
                </a:solidFill>
                <a:latin typeface="+mn-lt" pitchFamily="34" charset="0"/>
                <a:hlinkClick r:id="rId48"/>
              </a:rPr>
              <a:t>Willdan Group</a:t>
            </a:r>
            <a:r>
              <a:rPr lang="en-US" sz="750" dirty="0">
                <a:solidFill>
                  <a:srgbClr val="333231"/>
                </a:solidFill>
                <a:latin typeface="+mn-lt" pitchFamily="34" charset="0"/>
              </a:rPr>
              <a:t>; </a:t>
            </a:r>
            <a:r>
              <a:rPr lang="en-US" sz="750" u="sng" dirty="0">
                <a:solidFill>
                  <a:srgbClr val="8C6239"/>
                </a:solidFill>
                <a:latin typeface="+mn-lt" pitchFamily="34" charset="0"/>
                <a:hlinkClick r:id="rId42"/>
              </a:rPr>
              <a:t>Bowman Consulting</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49"/>
              </a:rPr>
              <a:t>TrueBlue</a:t>
            </a:r>
            <a:r>
              <a:rPr lang="en-US" sz="750" dirty="0">
                <a:solidFill>
                  <a:srgbClr val="333231"/>
                </a:solidFill>
                <a:latin typeface="+mn-lt" pitchFamily="34" charset="0"/>
              </a:rPr>
              <a:t>; </a:t>
            </a:r>
            <a:r>
              <a:rPr lang="en-US" sz="750" u="sng" dirty="0">
                <a:solidFill>
                  <a:srgbClr val="8C6239"/>
                </a:solidFill>
                <a:latin typeface="+mn-lt" pitchFamily="34" charset="0"/>
                <a:hlinkClick r:id="rId50"/>
              </a:rPr>
              <a:t>Stantec</a:t>
            </a:r>
            <a:r>
              <a:rPr lang="en-US" sz="750" dirty="0">
                <a:solidFill>
                  <a:srgbClr val="333231"/>
                </a:solidFill>
                <a:latin typeface="+mn-lt" pitchFamily="34" charset="0"/>
              </a:rPr>
              <a:t>; </a:t>
            </a:r>
            <a:r>
              <a:rPr lang="en-US" sz="750" u="sng" dirty="0">
                <a:solidFill>
                  <a:srgbClr val="8C6239"/>
                </a:solidFill>
                <a:latin typeface="+mn-lt" pitchFamily="34" charset="0"/>
                <a:hlinkClick r:id="rId51"/>
              </a:rPr>
              <a:t>Stagwell</a:t>
            </a:r>
            <a:r>
              <a:rPr lang="en-US" sz="750" dirty="0">
                <a:solidFill>
                  <a:srgbClr val="333231"/>
                </a:solidFill>
                <a:latin typeface="+mn-lt" pitchFamily="34" charset="0"/>
              </a:rPr>
              <a:t>; </a:t>
            </a:r>
            <a:r>
              <a:rPr lang="en-US" sz="750" u="sng" dirty="0">
                <a:solidFill>
                  <a:srgbClr val="8C6239"/>
                </a:solidFill>
                <a:latin typeface="+mn-lt" pitchFamily="34" charset="0"/>
                <a:hlinkClick r:id="rId52"/>
              </a:rPr>
              <a:t>ManpowerGroup</a:t>
            </a:r>
            <a:r>
              <a:rPr lang="en-US" sz="750" dirty="0">
                <a:solidFill>
                  <a:srgbClr val="333231"/>
                </a:solidFill>
                <a:latin typeface="+mn-lt" pitchFamily="34" charset="0"/>
              </a:rPr>
              <a:t>; </a:t>
            </a:r>
            <a:r>
              <a:rPr lang="en-US" sz="750" u="sng" dirty="0">
                <a:solidFill>
                  <a:srgbClr val="8C6239"/>
                </a:solidFill>
                <a:latin typeface="+mn-lt" pitchFamily="34" charset="0"/>
                <a:hlinkClick r:id="rId53"/>
              </a:rPr>
              <a:t>Ryan Specialty</a:t>
            </a:r>
            <a:r>
              <a:rPr lang="en-US" sz="750" dirty="0">
                <a:solidFill>
                  <a:srgbClr val="333231"/>
                </a:solidFill>
                <a:latin typeface="+mn-lt" pitchFamily="34" charset="0"/>
              </a:rPr>
              <a:t>; </a:t>
            </a:r>
            <a:r>
              <a:rPr lang="en-US" sz="750" u="sng" dirty="0">
                <a:solidFill>
                  <a:srgbClr val="8C6239"/>
                </a:solidFill>
                <a:latin typeface="+mn-lt" pitchFamily="34" charset="0"/>
                <a:hlinkClick r:id="rId54"/>
              </a:rPr>
              <a:t>Korn Ferry</a:t>
            </a:r>
            <a:r>
              <a:rPr lang="en-US" sz="750" dirty="0">
                <a:solidFill>
                  <a:srgbClr val="333231"/>
                </a:solidFill>
                <a:latin typeface="+mn-lt" pitchFamily="34" charset="0"/>
              </a:rPr>
              <a:t>; </a:t>
            </a:r>
            <a:r>
              <a:rPr lang="en-US" sz="750" u="sng" dirty="0">
                <a:solidFill>
                  <a:srgbClr val="8C6239"/>
                </a:solidFill>
                <a:latin typeface="+mn-lt" pitchFamily="34" charset="0"/>
                <a:hlinkClick r:id="rId55"/>
              </a:rPr>
              <a:t>Accenture</a:t>
            </a:r>
            <a:r>
              <a:rPr lang="en-US" sz="750" dirty="0">
                <a:solidFill>
                  <a:srgbClr val="333231"/>
                </a:solidFill>
                <a:latin typeface="+mn-lt" pitchFamily="34" charset="0"/>
              </a:rPr>
              <a:t>; </a:t>
            </a:r>
            <a:r>
              <a:rPr lang="en-US" sz="750" u="sng" dirty="0">
                <a:solidFill>
                  <a:srgbClr val="8C6239"/>
                </a:solidFill>
                <a:latin typeface="+mn-lt" pitchFamily="34" charset="0"/>
                <a:hlinkClick r:id="rId56"/>
              </a:rPr>
              <a:t>UL Solutions</a:t>
            </a:r>
            <a:r>
              <a:rPr lang="en-US" sz="750" dirty="0">
                <a:solidFill>
                  <a:srgbClr val="333231"/>
                </a:solidFill>
                <a:latin typeface="+mn-lt" pitchFamily="34" charset="0"/>
              </a:rPr>
              <a:t>; </a:t>
            </a:r>
            <a:r>
              <a:rPr lang="en-US" sz="750" u="sng" dirty="0">
                <a:solidFill>
                  <a:srgbClr val="8C6239"/>
                </a:solidFill>
                <a:latin typeface="+mn-lt" pitchFamily="34" charset="0"/>
                <a:hlinkClick r:id="rId57"/>
              </a:rPr>
              <a:t>Kforce</a:t>
            </a:r>
            <a:r>
              <a:rPr lang="en-US" sz="750" dirty="0">
                <a:solidFill>
                  <a:srgbClr val="333231"/>
                </a:solidFill>
                <a:latin typeface="+mn-lt" pitchFamily="34" charset="0"/>
              </a:rPr>
              <a:t>; </a:t>
            </a:r>
            <a:r>
              <a:rPr lang="en-US" sz="750" u="sng" dirty="0">
                <a:solidFill>
                  <a:srgbClr val="8C6239"/>
                </a:solidFill>
                <a:latin typeface="+mn-lt" pitchFamily="34" charset="0"/>
                <a:hlinkClick r:id="rId58"/>
              </a:rPr>
              <a:t>ABM Industries</a:t>
            </a:r>
            <a:r>
              <a:rPr lang="en-US" sz="750" dirty="0">
                <a:solidFill>
                  <a:srgbClr val="333231"/>
                </a:solidFill>
                <a:latin typeface="+mn-lt" pitchFamily="34" charset="0"/>
              </a:rPr>
              <a:t>; </a:t>
            </a:r>
            <a:r>
              <a:rPr lang="en-US" sz="750" u="sng" dirty="0">
                <a:solidFill>
                  <a:srgbClr val="8C6239"/>
                </a:solidFill>
                <a:latin typeface="+mn-lt" pitchFamily="34" charset="0"/>
                <a:hlinkClick r:id="rId59"/>
              </a:rPr>
              <a:t>FirstService</a:t>
            </a:r>
            <a:r>
              <a:rPr lang="en-US" sz="750" dirty="0">
                <a:solidFill>
                  <a:srgbClr val="333231"/>
                </a:solidFill>
                <a:latin typeface="+mn-lt" pitchFamily="34" charset="0"/>
              </a:rPr>
              <a:t>; </a:t>
            </a:r>
            <a:r>
              <a:rPr lang="en-US" sz="750" u="sng" dirty="0">
                <a:solidFill>
                  <a:srgbClr val="8C6239"/>
                </a:solidFill>
                <a:latin typeface="+mn-lt" pitchFamily="34" charset="0"/>
                <a:hlinkClick r:id="rId60"/>
              </a:rPr>
              <a:t>Advantage Solutions</a:t>
            </a:r>
            <a:r>
              <a:rPr lang="en-US" sz="750" dirty="0">
                <a:solidFill>
                  <a:srgbClr val="333231"/>
                </a:solidFill>
                <a:latin typeface="+mn-lt" pitchFamily="34" charset="0"/>
              </a:rPr>
              <a:t>; </a:t>
            </a:r>
            <a:r>
              <a:rPr lang="en-US" sz="750" u="sng" dirty="0">
                <a:solidFill>
                  <a:srgbClr val="8C6239"/>
                </a:solidFill>
                <a:latin typeface="+mn-lt" pitchFamily="34" charset="0"/>
                <a:hlinkClick r:id="rId61"/>
              </a:rPr>
              <a:t>BrightView</a:t>
            </a:r>
            <a:r>
              <a:rPr lang="en-US" sz="750" dirty="0">
                <a:solidFill>
                  <a:srgbClr val="333231"/>
                </a:solidFill>
                <a:latin typeface="+mn-lt" pitchFamily="34" charset="0"/>
              </a:rPr>
              <a:t>; </a:t>
            </a:r>
            <a:r>
              <a:rPr lang="en-US" sz="750" u="sng" dirty="0">
                <a:solidFill>
                  <a:srgbClr val="8C6239"/>
                </a:solidFill>
                <a:latin typeface="+mn-lt" pitchFamily="34" charset="0"/>
                <a:hlinkClick r:id="rId62"/>
              </a:rPr>
              <a:t>Crawford &amp; Company</a:t>
            </a:r>
            <a:r>
              <a:rPr lang="en-US" sz="750" dirty="0">
                <a:solidFill>
                  <a:srgbClr val="333231"/>
                </a:solidFill>
                <a:latin typeface="+mn-lt" pitchFamily="34" charset="0"/>
              </a:rPr>
              <a:t>; </a:t>
            </a:r>
            <a:r>
              <a:rPr lang="en-US" sz="750" u="sng" dirty="0">
                <a:solidFill>
                  <a:srgbClr val="8C6239"/>
                </a:solidFill>
                <a:latin typeface="+mn-lt" pitchFamily="34" charset="0"/>
                <a:hlinkClick r:id="rId63"/>
              </a:rPr>
              <a:t>Robert Half</a:t>
            </a:r>
            <a:r>
              <a:rPr lang="en-US" sz="750" dirty="0">
                <a:solidFill>
                  <a:srgbClr val="333231"/>
                </a:solidFill>
                <a:latin typeface="+mn-lt" pitchFamily="34" charset="0"/>
              </a:rPr>
              <a:t>; </a:t>
            </a:r>
            <a:r>
              <a:rPr lang="en-US" sz="750" u="sng" dirty="0">
                <a:solidFill>
                  <a:srgbClr val="8C6239"/>
                </a:solidFill>
                <a:latin typeface="+mn-lt" pitchFamily="34" charset="0"/>
                <a:hlinkClick r:id="rId64"/>
              </a:rPr>
              <a:t>Tetra Tech</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ECONOMIC TRENDS</a:t>
            </a:r>
            <a:endParaRPr lang="en-US" sz="600" dirty="0"/>
          </a:p>
          <a:p>
            <a:pPr marL="0" indent="0" algn="l">
              <a:lnSpc>
                <a:spcPts val="1150"/>
              </a:lnSpc>
              <a:buNone/>
            </a:pPr>
            <a:r>
              <a:rPr lang="en-US" sz="750" u="sng" dirty="0">
                <a:solidFill>
                  <a:srgbClr val="8C6239"/>
                </a:solidFill>
                <a:latin typeface="+mn-lt" pitchFamily="34" charset="0"/>
                <a:hlinkClick r:id="rId65">
                  <a:extLst>
                    <a:ext uri="{A12FA001-AC4F-418D-AE19-62706E023703}">
                      <ahyp:hlinkClr xmlns:ahyp="http://schemas.microsoft.com/office/drawing/2018/hyperlinkcolor" val="tx"/>
                    </a:ext>
                  </a:extLst>
                </a:hlinkClick>
              </a:rPr>
              <a:t>FRED series A191RL1Q225SBEA</a:t>
            </a:r>
            <a:r>
              <a:rPr lang="en-US" sz="750" dirty="0">
                <a:solidFill>
                  <a:srgbClr val="333231"/>
                </a:solidFill>
                <a:latin typeface="+mn-lt" pitchFamily="34" charset="0"/>
              </a:rPr>
              <a:t>; </a:t>
            </a:r>
            <a:r>
              <a:rPr lang="en-US" sz="750" u="sng" dirty="0">
                <a:solidFill>
                  <a:srgbClr val="8C6239"/>
                </a:solidFill>
                <a:latin typeface="+mn-lt" pitchFamily="34" charset="0"/>
                <a:hlinkClick r:id="rId66">
                  <a:extLst>
                    <a:ext uri="{A12FA001-AC4F-418D-AE19-62706E023703}">
                      <ahyp:hlinkClr xmlns:ahyp="http://schemas.microsoft.com/office/drawing/2018/hyperlinkcolor" val="tx"/>
                    </a:ext>
                  </a:extLst>
                </a:hlinkClick>
              </a:rPr>
              <a:t>FRED series UNRATE</a:t>
            </a:r>
            <a:r>
              <a:rPr lang="en-US" sz="750" dirty="0">
                <a:solidFill>
                  <a:srgbClr val="333231"/>
                </a:solidFill>
                <a:latin typeface="+mn-lt" pitchFamily="34" charset="0"/>
              </a:rPr>
              <a:t>; </a:t>
            </a:r>
            <a:r>
              <a:rPr lang="en-US" sz="750" u="sng" dirty="0">
                <a:solidFill>
                  <a:srgbClr val="8C6239"/>
                </a:solidFill>
                <a:latin typeface="+mn-lt" pitchFamily="34" charset="0"/>
                <a:hlinkClick r:id="rId67">
                  <a:extLst>
                    <a:ext uri="{A12FA001-AC4F-418D-AE19-62706E023703}">
                      <ahyp:hlinkClr xmlns:ahyp="http://schemas.microsoft.com/office/drawing/2018/hyperlinkcolor" val="tx"/>
                    </a:ext>
                  </a:extLst>
                </a:hlinkClick>
              </a:rPr>
              <a:t>FRED series PAYEMS</a:t>
            </a:r>
            <a:r>
              <a:rPr lang="en-US" sz="750" dirty="0">
                <a:solidFill>
                  <a:srgbClr val="333231"/>
                </a:solidFill>
                <a:latin typeface="+mn-lt" pitchFamily="34" charset="0"/>
              </a:rPr>
              <a:t>; </a:t>
            </a:r>
            <a:r>
              <a:rPr lang="en-US" sz="75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FRED series GS10</a:t>
            </a:r>
            <a:r>
              <a:rPr lang="en-US" sz="750" dirty="0">
                <a:solidFill>
                  <a:srgbClr val="333231"/>
                </a:solidFill>
                <a:latin typeface="+mn-lt" pitchFamily="34" charset="0"/>
              </a:rPr>
              <a:t>; </a:t>
            </a:r>
            <a:r>
              <a:rPr lang="en-US" sz="750" u="sng" dirty="0">
                <a:solidFill>
                  <a:srgbClr val="8C6239"/>
                </a:solidFill>
                <a:latin typeface="+mn-lt" pitchFamily="34" charset="0"/>
                <a:hlinkClick r:id="rId68">
                  <a:extLst>
                    <a:ext uri="{A12FA001-AC4F-418D-AE19-62706E023703}">
                      <ahyp:hlinkClr xmlns:ahyp="http://schemas.microsoft.com/office/drawing/2018/hyperlinkcolor" val="tx"/>
                    </a:ext>
                  </a:extLst>
                </a:hlinkClick>
              </a:rPr>
              <a:t>FRED series FEDFUNDS</a:t>
            </a:r>
            <a:r>
              <a:rPr lang="en-US" sz="750" dirty="0">
                <a:solidFill>
                  <a:srgbClr val="333231"/>
                </a:solidFill>
                <a:latin typeface="+mn-lt" pitchFamily="34" charset="0"/>
              </a:rPr>
              <a:t>; </a:t>
            </a:r>
            <a:r>
              <a:rPr lang="en-US" sz="750" u="sng" dirty="0">
                <a:solidFill>
                  <a:srgbClr val="8C6239"/>
                </a:solidFill>
                <a:latin typeface="+mn-lt" pitchFamily="34" charset="0"/>
                <a:hlinkClick r:id="rId14">
                  <a:extLst>
                    <a:ext uri="{A12FA001-AC4F-418D-AE19-62706E023703}">
                      <ahyp:hlinkClr xmlns:ahyp="http://schemas.microsoft.com/office/drawing/2018/hyperlinkcolor" val="tx"/>
                    </a:ext>
                  </a:extLst>
                </a:hlinkClick>
              </a:rPr>
              <a:t>FRED series TEMPHELPS</a:t>
            </a:r>
            <a:r>
              <a:rPr lang="en-US" sz="750" dirty="0">
                <a:solidFill>
                  <a:srgbClr val="333231"/>
                </a:solidFill>
                <a:latin typeface="+mn-lt" pitchFamily="34" charset="0"/>
              </a:rPr>
              <a:t>; </a:t>
            </a:r>
            <a:r>
              <a:rPr lang="en-US" sz="750" u="sng" dirty="0">
                <a:solidFill>
                  <a:srgbClr val="8C6239"/>
                </a:solidFill>
                <a:latin typeface="+mn-lt" pitchFamily="34" charset="0"/>
                <a:hlinkClick r:id="rId69">
                  <a:extLst>
                    <a:ext uri="{A12FA001-AC4F-418D-AE19-62706E023703}">
                      <ahyp:hlinkClr xmlns:ahyp="http://schemas.microsoft.com/office/drawing/2018/hyperlinkcolor" val="tx"/>
                    </a:ext>
                  </a:extLst>
                </a:hlinkClick>
              </a:rPr>
              <a:t>FRED series CES6054130001</a:t>
            </a:r>
            <a:r>
              <a:rPr lang="en-US" sz="750" dirty="0">
                <a:solidFill>
                  <a:srgbClr val="333231"/>
                </a:solidFill>
                <a:latin typeface="+mn-lt" pitchFamily="34" charset="0"/>
              </a:rPr>
              <a:t>; </a:t>
            </a:r>
            <a:r>
              <a:rPr lang="en-US" sz="750" u="sng" dirty="0">
                <a:solidFill>
                  <a:srgbClr val="8C6239"/>
                </a:solidFill>
                <a:latin typeface="+mn-lt" pitchFamily="34" charset="0"/>
                <a:hlinkClick r:id="rId70">
                  <a:extLst>
                    <a:ext uri="{A12FA001-AC4F-418D-AE19-62706E023703}">
                      <ahyp:hlinkClr xmlns:ahyp="http://schemas.microsoft.com/office/drawing/2018/hyperlinkcolor" val="tx"/>
                    </a:ext>
                  </a:extLst>
                </a:hlinkClick>
              </a:rPr>
              <a:t>FRED series CES6056170001</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SELECT PARTICIPANTS</a:t>
            </a:r>
            <a:endParaRPr lang="en-US" sz="600" dirty="0"/>
          </a:p>
          <a:p>
            <a:pPr marL="0" indent="0" algn="l">
              <a:lnSpc>
                <a:spcPts val="1150"/>
              </a:lnSpc>
              <a:buNone/>
            </a:pPr>
            <a:r>
              <a:rPr lang="en-US" sz="750" u="sng" dirty="0">
                <a:solidFill>
                  <a:srgbClr val="8C6239"/>
                </a:solidFill>
                <a:latin typeface="+mn-lt" pitchFamily="34" charset="0"/>
                <a:hlinkClick r:id="rId34"/>
              </a:rPr>
              <a:t>StockAnalysis</a:t>
            </a:r>
            <a:r>
              <a:rPr lang="en-US" sz="750" dirty="0">
                <a:solidFill>
                  <a:srgbClr val="333231"/>
                </a:solidFill>
                <a:latin typeface="+mn-lt" pitchFamily="34" charset="0"/>
              </a:rPr>
              <a:t>; </a:t>
            </a:r>
            <a:r>
              <a:rPr lang="en-US" sz="750" u="sng" dirty="0">
                <a:solidFill>
                  <a:srgbClr val="8C6239"/>
                </a:solidFill>
                <a:latin typeface="+mn-lt" pitchFamily="34" charset="0"/>
                <a:hlinkClick r:id="rId71"/>
              </a:rPr>
              <a:t>Staffing Industry Analysts: Knox Lane and Cross Country</a:t>
            </a:r>
            <a:r>
              <a:rPr lang="en-US" sz="750" dirty="0">
                <a:solidFill>
                  <a:srgbClr val="333231"/>
                </a:solidFill>
                <a:latin typeface="+mn-lt" pitchFamily="34" charset="0"/>
              </a:rPr>
              <a:t>; </a:t>
            </a:r>
            <a:r>
              <a:rPr lang="en-US" sz="750" u="sng" dirty="0">
                <a:solidFill>
                  <a:srgbClr val="8C6239"/>
                </a:solidFill>
                <a:latin typeface="+mn-lt" pitchFamily="34" charset="0"/>
                <a:hlinkClick r:id="rId72"/>
              </a:rPr>
              <a:t>Meraki Capital and Tessero</a:t>
            </a:r>
            <a:r>
              <a:rPr lang="en-US" sz="750" dirty="0">
                <a:solidFill>
                  <a:srgbClr val="333231"/>
                </a:solidFill>
                <a:latin typeface="+mn-lt" pitchFamily="34" charset="0"/>
              </a:rPr>
              <a:t>; </a:t>
            </a:r>
            <a:r>
              <a:rPr lang="en-US" sz="750" u="sng" dirty="0">
                <a:solidFill>
                  <a:srgbClr val="8C6239"/>
                </a:solidFill>
                <a:latin typeface="+mn-lt" pitchFamily="34" charset="0"/>
                <a:hlinkClick r:id="rId73"/>
              </a:rPr>
              <a:t>TNC Capital Partners and Aplin</a:t>
            </a:r>
            <a:r>
              <a:rPr lang="en-US" sz="750" dirty="0">
                <a:solidFill>
                  <a:srgbClr val="333231"/>
                </a:solidFill>
                <a:latin typeface="+mn-lt" pitchFamily="34" charset="0"/>
              </a:rPr>
              <a:t>; </a:t>
            </a:r>
            <a:r>
              <a:rPr lang="en-US" sz="750" u="sng" dirty="0">
                <a:solidFill>
                  <a:srgbClr val="8C6239"/>
                </a:solidFill>
                <a:latin typeface="+mn-lt" pitchFamily="34" charset="0"/>
                <a:hlinkClick r:id="rId74"/>
              </a:rPr>
              <a:t>ZRG and Howard Fischer Associates</a:t>
            </a:r>
            <a:r>
              <a:rPr lang="en-US" sz="750" dirty="0">
                <a:solidFill>
                  <a:srgbClr val="333231"/>
                </a:solidFill>
                <a:latin typeface="+mn-lt" pitchFamily="34" charset="0"/>
              </a:rPr>
              <a:t>; </a:t>
            </a:r>
            <a:r>
              <a:rPr lang="en-US" sz="750" u="sng" dirty="0">
                <a:solidFill>
                  <a:srgbClr val="8C6239"/>
                </a:solidFill>
                <a:latin typeface="+mn-lt" pitchFamily="34" charset="0"/>
                <a:hlinkClick r:id="rId75"/>
              </a:rPr>
              <a:t>YA Group and InQuis Global</a:t>
            </a:r>
            <a:r>
              <a:rPr lang="en-US" sz="750" dirty="0">
                <a:solidFill>
                  <a:srgbClr val="333231"/>
                </a:solidFill>
                <a:latin typeface="+mn-lt" pitchFamily="34" charset="0"/>
              </a:rPr>
              <a:t>; </a:t>
            </a:r>
            <a:r>
              <a:rPr lang="en-US" sz="750" u="sng" dirty="0">
                <a:solidFill>
                  <a:srgbClr val="8C6239"/>
                </a:solidFill>
                <a:latin typeface="+mn-lt" pitchFamily="34" charset="0"/>
                <a:hlinkClick r:id="rId76"/>
              </a:rPr>
              <a:t>CodeGreen and Diaz Architect</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a:t>
            </a:r>
            <a:endParaRPr lang="en-US" sz="600" dirty="0"/>
          </a:p>
          <a:p>
            <a:pPr marL="0" indent="0" algn="l">
              <a:lnSpc>
                <a:spcPts val="1150"/>
              </a:lnSpc>
              <a:buNone/>
            </a:pPr>
            <a:r>
              <a:rPr lang="en-US" sz="750" u="sng" dirty="0">
                <a:solidFill>
                  <a:srgbClr val="8C6239"/>
                </a:solidFill>
                <a:latin typeface="+mn-lt" pitchFamily="34" charset="0"/>
                <a:hlinkClick r:id="rId47">
                  <a:extLst>
                    <a:ext uri="{A12FA001-AC4F-418D-AE19-62706E023703}">
                      <ahyp:hlinkClr xmlns:ahyp="http://schemas.microsoft.com/office/drawing/2018/hyperlinkcolor" val="tx"/>
                    </a:ext>
                  </a:extLst>
                </a:hlinkClick>
              </a:rPr>
              <a:t>benchmarkintl.com</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 RECORDS</a:t>
            </a:r>
            <a:endParaRPr lang="en-US" sz="600" dirty="0"/>
          </a:p>
          <a:p>
            <a:pPr marL="0" indent="0" algn="l">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r>
              <a:rPr lang="en-US" sz="750" u="sng" dirty="0">
                <a:solidFill>
                  <a:srgbClr val="8C6239"/>
                </a:solidFill>
                <a:latin typeface="+mn-lt" pitchFamily="34" charset="0"/>
                <a:hlinkClick r:id="rId77"/>
              </a:rPr>
              <a:t>benchmarkintl.com/insights</a:t>
            </a:r>
            <a:r>
              <a:rPr lang="en-US" sz="750" dirty="0">
                <a:solidFill>
                  <a:srgbClr val="333231"/>
                </a:solidFill>
                <a:latin typeface="+mn-lt" pitchFamily="34" charset="0"/>
              </a:rPr>
              <a:t>, each linked from its card or tile.</a:t>
            </a:r>
            <a:endParaRPr lang="en-US" sz="600" dirty="0"/>
          </a:p>
        </p:txBody>
      </p:sp>
      <p:sp>
        <p:nvSpPr>
          <p:cNvPr id="9" name="Object 9"/>
          <p:cNvSpPr/>
          <p:nvPr/>
        </p:nvSpPr>
        <p:spPr>
          <a:xfrm>
            <a:off x="419070" y="7029450"/>
            <a:ext cx="9220170" cy="9510"/>
          </a:xfrm>
          <a:prstGeom prst="ellipse">
            <a:avLst/>
          </a:prstGeom>
          <a:solidFill>
            <a:srgbClr val="E3DCD3"/>
          </a:solidFill>
          <a:ln/>
        </p:spPr>
        <p:txBody>
          <a:bodyPr/>
          <a:lstStyle/>
          <a:p>
            <a:endParaRPr/>
          </a:p>
        </p:txBody>
      </p:sp>
      <p:pic>
        <p:nvPicPr>
          <p:cNvPr id="10" name="Object 10" descr="Benchmark International"/>
          <p:cNvPicPr>
            <a:picLocks noChangeAspect="1"/>
          </p:cNvPicPr>
          <p:nvPr/>
        </p:nvPicPr>
        <p:blipFill>
          <a:blip r:embed="rId78"/>
          <a:stretch>
            <a:fillRect/>
          </a:stretch>
        </p:blipFill>
        <p:spPr>
          <a:xfrm>
            <a:off x="419070" y="7143750"/>
            <a:ext cx="914400" cy="171450"/>
          </a:xfrm>
          <a:prstGeom prst="rect">
            <a:avLst/>
          </a:prstGeom>
        </p:spPr>
      </p:pic>
      <p:sp>
        <p:nvSpPr>
          <p:cNvPr id="12" name="Object 12"/>
          <p:cNvSpPr txBox="1"/>
          <p:nvPr/>
        </p:nvSpPr>
        <p:spPr>
          <a:xfrm>
            <a:off x="9514423"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22</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M&amp;A Industry Report | Benchmark International</dc:title>
  <dc:subject>Business Services mergers and acquisitions: deal activity, valuations, and what buyers are paying for, Q4 2026</dc:subject>
  <dc:creator>Jared Hardin, Benchmark International</dc:creator>
  <cp:lastModifiedBy>Jared Hardin</cp:lastModifiedBy>
  <cp:keywords>Business Services M&amp;A, middle market, sell-side M&amp;A, Q4 2026, Benchmark International</cp:keywords>
</cp:coreProperties>
</file>