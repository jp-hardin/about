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segment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1" Type="http://schemas.openxmlformats.org/officeDocument/2006/relationships/image" Target="../media/image-3-1.png"/><Relationship Id="rId4" Type="http://schemas.openxmlformats.org/officeDocument/2006/relationships/image" Target="../media/image-3-2.png"/><Relationship Id="rId8" Type="http://schemas.openxmlformats.org/officeDocument/2006/relationships/image" Target="../media/image-3-3.png"/><Relationship Id="rId11" Type="http://schemas.openxmlformats.org/officeDocument/2006/relationships/image" Target="../media/image-3-4.png"/><Relationship Id="rId14" Type="http://schemas.openxmlformats.org/officeDocument/2006/relationships/image" Target="../media/image-3-5.png"/><Relationship Id="rId17" Type="http://schemas.openxmlformats.org/officeDocument/2006/relationships/image" Target="../media/image-3-6.png"/><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2" Type="http://schemas.openxmlformats.org/officeDocument/2006/relationships/hyperlink" Target="https://jp-hardin.github.io/about/mid-market-practice/insights/business-services-industry-report-q4-2026.html" TargetMode="External"/><Relationship Id="rId1" Type="http://schemas.openxmlformats.org/officeDocument/2006/relationships/image" Target="../media/image-4-1.png"/><Relationship Id="rId2"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3" Type="http://schemas.openxmlformats.org/officeDocument/2006/relationships/image" Target="../media/image-4-7.png"/><Relationship Id="rId14" Type="http://schemas.openxmlformats.org/officeDocument/2006/relationships/image" Target="../media/image-4-8.png"/><Relationship Id="rId17" Type="http://schemas.openxmlformats.org/officeDocument/2006/relationships/image" Target="../media/image-4-9.png"/><Relationship Id="rId18" Type="http://schemas.openxmlformats.org/officeDocument/2006/relationships/image" Target="../media/image-4-10.png"/><Relationship Id="rId21" Type="http://schemas.openxmlformats.org/officeDocument/2006/relationships/image" Target="../media/image-4-11.png"/><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8" Type="http://schemas.openxmlformats.org/officeDocument/2006/relationships/chart" Target="/ppt/charts/chart1.xml"/><Relationship Id="rId1" Type="http://schemas.openxmlformats.org/officeDocument/2006/relationships/image" Target="../media/image-6-1.png"/><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8" Type="http://schemas.openxmlformats.org/officeDocument/2006/relationships/image" Target="../media/image-8-5.png"/><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2" Type="http://schemas.openxmlformats.org/officeDocument/2006/relationships/hyperlink" Target="https://jp-hardin.github.io/about/mid-market-practice/insights/business-services-industry-report-q4-2026.html" TargetMode="External"/><Relationship Id="rId11" Type="http://schemas.openxmlformats.org/officeDocument/2006/relationships/image" Target="../media/image-9-1.png"/><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9" Type="http://schemas.openxmlformats.org/officeDocument/2006/relationships/hyperlink" Target="https://jp-hardin.github.io/about/mid-market-practice/insights/business-services-industry-report-q4-2026.html" TargetMode="External"/><Relationship Id="rId3" Type="http://schemas.openxmlformats.org/officeDocument/2006/relationships/image" Target="../media/image-10-1.png"/><Relationship Id="rId4"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image" Target="../media/image-10-6.png"/><Relationship Id="rId13" Type="http://schemas.openxmlformats.org/officeDocument/2006/relationships/image" Target="../media/image-10-7.png"/><Relationship Id="rId14" Type="http://schemas.openxmlformats.org/officeDocument/2006/relationships/image" Target="../media/image-10-8.png"/><Relationship Id="rId16" Type="http://schemas.openxmlformats.org/officeDocument/2006/relationships/image" Target="../media/image-10-9.png"/><Relationship Id="rId17" Type="http://schemas.openxmlformats.org/officeDocument/2006/relationships/image" Target="../media/image-10-10.png"/><Relationship Id="rId19" Type="http://schemas.openxmlformats.org/officeDocument/2006/relationships/image" Target="../media/image-10-11.png"/><Relationship Id="rId20" Type="http://schemas.openxmlformats.org/officeDocument/2006/relationships/image" Target="../media/image-10-12.png"/><Relationship Id="rId22" Type="http://schemas.openxmlformats.org/officeDocument/2006/relationships/image" Target="../media/image-10-13.png"/><Relationship Id="rId23" Type="http://schemas.openxmlformats.org/officeDocument/2006/relationships/image" Target="../media/image-10-14.png"/><Relationship Id="rId28" Type="http://schemas.openxmlformats.org/officeDocument/2006/relationships/image" Target="../media/image-10-15.png"/><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4" Type="http://schemas.openxmlformats.org/officeDocument/2006/relationships/hyperlink" Target="https://stockanalysis.com/" TargetMode="External"/><Relationship Id="rId1" Type="http://schemas.openxmlformats.org/officeDocument/2006/relationships/chart" Target="/ppt/charts/chart2.xml"/><Relationship Id="rId2" Type="http://schemas.openxmlformats.org/officeDocument/2006/relationships/chart" Target="/ppt/charts/chart3.xml"/><Relationship Id="rId53" Type="http://schemas.openxmlformats.org/officeDocument/2006/relationships/image" Target="../media/image-11-1.png"/><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stockanalysis.com/" TargetMode="External"/><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chart" Target="/ppt/charts/chart7.xml"/><Relationship Id="rId5"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 Type="http://schemas.openxmlformats.org/officeDocument/2006/relationships/chart" Target="/ppt/charts/chart8.xml"/><Relationship Id="rId2" Type="http://schemas.openxmlformats.org/officeDocument/2006/relationships/image" Target="../media/image-13-1.png"/><Relationship Id="rId7" Type="http://schemas.openxmlformats.org/officeDocument/2006/relationships/image" Target="../media/image-13-2.png"/><Relationship Id="rId12" Type="http://schemas.openxmlformats.org/officeDocument/2006/relationships/image" Target="../media/image-13-3.png"/><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3" Type="http://schemas.openxmlformats.org/officeDocument/2006/relationships/hyperlink" Target="https://fred.stlouisfed.org/series/UNRATE" TargetMode="External"/><Relationship Id="rId5" Type="http://schemas.openxmlformats.org/officeDocument/2006/relationships/hyperlink" Target="https://fred.stlouisfed.org/series/PAYEMS" TargetMode="Externa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10" Type="http://schemas.openxmlformats.org/officeDocument/2006/relationships/hyperlink" Target="https://fred.stlouisfed.org/series/TEMPHELPS" TargetMode="Externa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2" Type="http://schemas.openxmlformats.org/officeDocument/2006/relationships/chart" Target="/ppt/charts/chart9.xml"/><Relationship Id="rId4" Type="http://schemas.openxmlformats.org/officeDocument/2006/relationships/chart" Target="/ppt/charts/chart10.xml"/><Relationship Id="rId6" Type="http://schemas.openxmlformats.org/officeDocument/2006/relationships/chart" Target="/ppt/charts/chart11.xml"/><Relationship Id="rId9" Type="http://schemas.openxmlformats.org/officeDocument/2006/relationships/chart" Target="/ppt/charts/chart12.xml"/><Relationship Id="rId11" Type="http://schemas.openxmlformats.org/officeDocument/2006/relationships/chart" Target="/ppt/charts/chart13.xml"/><Relationship Id="rId14" Type="http://schemas.openxmlformats.org/officeDocument/2006/relationships/chart" Target="/pp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7" Type="http://schemas.openxmlformats.org/officeDocument/2006/relationships/hyperlink" Target="https://jp-hardin.github.io/about/mid-market-practice/insights/business-services-industry-report-q4-2026.html" TargetMode="Externa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1" Type="http://schemas.openxmlformats.org/officeDocument/2006/relationships/image" Target="../media/image-17-1.png"/><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3" Type="http://schemas.openxmlformats.org/officeDocument/2006/relationships/hyperlink" Target="https://www.benchmarkintl.com/about/our-success/" TargetMode="Externa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sp>
      <p:pic>
        <p:nvPicPr>
          <p:cNvPr id="4" name="Picture e4" descr="/tmp/claude-0/-home-claude-about/79682efa-f64a-5682-a2ae-625886ef5313/scratchpad/brief/pptx/media/s01_02.png">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BENCHMARK CAPITAL MARKETS</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SECTOR BRIEF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segments,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SECTOR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the buyer landscape</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2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1900946"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sp>
      <p:sp>
        <p:nvSpPr>
          <p:cNvPr id="8" name="Shape e11s0"/>
          <p:cNvSpPr/>
          <p:nvPr/>
        </p:nvSpPr>
        <p:spPr>
          <a:xfrm>
            <a:off x="609630" y="3924330"/>
            <a:ext cx="3333720" cy="9510"/>
          </a:xfrm>
          <a:prstGeom prst="rect">
            <a:avLst/>
          </a:prstGeom>
          <a:solidFill>
            <a:srgbClr val="FFFFFF">
              <a:alpha val="16000"/>
            </a:srgbClr>
          </a:solidFill>
          <a:ln/>
        </p:spPr>
      </p:sp>
      <p:sp>
        <p:nvSpPr>
          <p:cNvPr id="9" name="Shape e12"/>
          <p:cNvSpPr/>
          <p:nvPr/>
        </p:nvSpPr>
        <p:spPr>
          <a:xfrm>
            <a:off x="609630" y="4067160"/>
            <a:ext cx="57150" cy="57150"/>
          </a:xfrm>
          <a:prstGeom prst="rect">
            <a:avLst/>
          </a:prstGeom>
          <a:solidFill>
            <a:srgbClr val="B68757"/>
          </a:solidFill>
          <a:ln/>
        </p:spPr>
      </p:sp>
      <p:sp>
        <p:nvSpPr>
          <p:cNvPr id="10" name="Text e13"/>
          <p:cNvSpPr txBox="1"/>
          <p:nvPr/>
        </p:nvSpPr>
        <p:spPr>
          <a:xfrm>
            <a:off x="781080" y="4005255"/>
            <a:ext cx="18176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Key trends in business services</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sp>
      <p:sp>
        <p:nvSpPr>
          <p:cNvPr id="12" name="Shape e15"/>
          <p:cNvSpPr/>
          <p:nvPr/>
        </p:nvSpPr>
        <p:spPr>
          <a:xfrm>
            <a:off x="609630" y="4410060"/>
            <a:ext cx="57150" cy="57150"/>
          </a:xfrm>
          <a:prstGeom prst="rect">
            <a:avLst/>
          </a:prstGeom>
          <a:solidFill>
            <a:srgbClr val="B68757"/>
          </a:solidFill>
          <a:ln/>
        </p:spPr>
      </p:sp>
      <p:sp>
        <p:nvSpPr>
          <p:cNvPr id="13" name="Text e16"/>
          <p:cNvSpPr txBox="1"/>
          <p:nvPr/>
        </p:nvSpPr>
        <p:spPr>
          <a:xfrm>
            <a:off x="781080" y="4348155"/>
            <a:ext cx="177997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Perspectives on five segments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sp>
      <p:sp>
        <p:nvSpPr>
          <p:cNvPr id="15" name="Shape e18"/>
          <p:cNvSpPr/>
          <p:nvPr/>
        </p:nvSpPr>
        <p:spPr>
          <a:xfrm>
            <a:off x="609630" y="4752960"/>
            <a:ext cx="57150" cy="57150"/>
          </a:xfrm>
          <a:prstGeom prst="rect">
            <a:avLst/>
          </a:prstGeom>
          <a:solidFill>
            <a:srgbClr val="B68757"/>
          </a:solidFill>
          <a:ln/>
        </p:spPr>
      </p:sp>
      <p:sp>
        <p:nvSpPr>
          <p:cNvPr id="16" name="Text e19"/>
          <p:cNvSpPr txBox="1"/>
          <p:nvPr/>
        </p:nvSpPr>
        <p:spPr>
          <a:xfrm>
            <a:off x="781080" y="4691055"/>
            <a:ext cx="11657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What we're reading</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sp>
      <p:sp>
        <p:nvSpPr>
          <p:cNvPr id="18" name="Shape e21"/>
          <p:cNvSpPr/>
          <p:nvPr/>
        </p:nvSpPr>
        <p:spPr>
          <a:xfrm>
            <a:off x="609630" y="5095860"/>
            <a:ext cx="57150" cy="57150"/>
          </a:xfrm>
          <a:prstGeom prst="rect">
            <a:avLst/>
          </a:prstGeom>
          <a:solidFill>
            <a:srgbClr val="B68757"/>
          </a:solidFill>
          <a:ln/>
        </p:spPr>
      </p:sp>
      <p:sp>
        <p:nvSpPr>
          <p:cNvPr id="19" name="Text e22"/>
          <p:cNvSpPr txBox="1"/>
          <p:nvPr/>
        </p:nvSpPr>
        <p:spPr>
          <a:xfrm>
            <a:off x="781080" y="5033955"/>
            <a:ext cx="1582003"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Feature: fire and life safety</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segments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4524360" cy="1568379"/>
          </a:xfrm>
          <a:prstGeom prst="rect">
            <a:avLst/>
          </a:prstGeom>
          <a:solidFill>
            <a:srgbClr val="FAF7F3"/>
          </a:solidFill>
          <a:ln/>
        </p:spPr>
      </p:sp>
      <p:sp>
        <p:nvSpPr>
          <p:cNvPr id="9" name="Shape e9s0"/>
          <p:cNvSpPr/>
          <p:nvPr/>
        </p:nvSpPr>
        <p:spPr>
          <a:xfrm>
            <a:off x="419070" y="1238280"/>
            <a:ext cx="4524360" cy="28621"/>
          </a:xfrm>
          <a:prstGeom prst="rect">
            <a:avLst/>
          </a:prstGeom>
          <a:solidFill>
            <a:srgbClr val="B68757"/>
          </a:solidFill>
          <a:ln/>
        </p:spPr>
      </p:sp>
      <p:sp>
        <p:nvSpPr>
          <p:cNvPr id="10" name="Shape e11"/>
          <p:cNvSpPr/>
          <p:nvPr/>
        </p:nvSpPr>
        <p:spPr>
          <a:xfrm>
            <a:off x="590520" y="1381110"/>
            <a:ext cx="381030" cy="381030"/>
          </a:xfrm>
          <a:prstGeom prst="ellipse">
            <a:avLst/>
          </a:prstGeom>
          <a:solidFill>
            <a:srgbClr val="1B1A1A"/>
          </a:solidFill>
          <a:ln/>
        </p:spPr>
      </p:sp>
      <p:pic>
        <p:nvPicPr>
          <p:cNvPr id="11" name="Icon e12" descr="/tmp/claude-0/-home-claude-about/79682efa-f64a-5682-a2ae-625886ef5313/scratchpad/brief/pptx/media/s03_01.png">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sp>
      <p:sp>
        <p:nvSpPr>
          <p:cNvPr id="18" name="Shape e17s0"/>
          <p:cNvSpPr/>
          <p:nvPr/>
        </p:nvSpPr>
        <p:spPr>
          <a:xfrm>
            <a:off x="5114971" y="1238280"/>
            <a:ext cx="4524360" cy="28621"/>
          </a:xfrm>
          <a:prstGeom prst="rect">
            <a:avLst/>
          </a:prstGeom>
          <a:solidFill>
            <a:srgbClr val="B68757"/>
          </a:solidFill>
          <a:ln/>
        </p:spPr>
      </p:sp>
      <p:sp>
        <p:nvSpPr>
          <p:cNvPr id="19" name="Shape e19"/>
          <p:cNvSpPr/>
          <p:nvPr/>
        </p:nvSpPr>
        <p:spPr>
          <a:xfrm>
            <a:off x="5286421" y="1381110"/>
            <a:ext cx="381030" cy="381030"/>
          </a:xfrm>
          <a:prstGeom prst="ellipse">
            <a:avLst/>
          </a:prstGeom>
          <a:solidFill>
            <a:srgbClr val="1B1A1A"/>
          </a:solidFill>
          <a:ln/>
        </p:spPr>
      </p:sp>
      <p:pic>
        <p:nvPicPr>
          <p:cNvPr id="20" name="Icon e20" descr="/tmp/claude-0/-home-claude-about/79682efa-f64a-5682-a2ae-625886ef5313/scratchpad/brief/pptx/media/s03_02.png">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sp>
      <p:sp>
        <p:nvSpPr>
          <p:cNvPr id="27" name="Shape e25s0"/>
          <p:cNvSpPr/>
          <p:nvPr/>
        </p:nvSpPr>
        <p:spPr>
          <a:xfrm>
            <a:off x="419070" y="2930469"/>
            <a:ext cx="4524360" cy="28621"/>
          </a:xfrm>
          <a:prstGeom prst="rect">
            <a:avLst/>
          </a:prstGeom>
          <a:solidFill>
            <a:srgbClr val="B68757"/>
          </a:solidFill>
          <a:ln/>
        </p:spPr>
      </p:sp>
      <p:sp>
        <p:nvSpPr>
          <p:cNvPr id="28" name="Shape e27"/>
          <p:cNvSpPr/>
          <p:nvPr/>
        </p:nvSpPr>
        <p:spPr>
          <a:xfrm>
            <a:off x="590520" y="3073298"/>
            <a:ext cx="381030" cy="381030"/>
          </a:xfrm>
          <a:prstGeom prst="ellipse">
            <a:avLst/>
          </a:prstGeom>
          <a:solidFill>
            <a:srgbClr val="1B1A1A"/>
          </a:solidFill>
          <a:ln/>
        </p:spPr>
      </p:sp>
      <p:pic>
        <p:nvPicPr>
          <p:cNvPr id="29" name="Icon e28" descr="/tmp/claude-0/-home-claude-about/79682efa-f64a-5682-a2ae-625886ef5313/scratchpad/brief/pptx/media/s03_03.png">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sp>
      <p:sp>
        <p:nvSpPr>
          <p:cNvPr id="36" name="Shape e33s0"/>
          <p:cNvSpPr/>
          <p:nvPr/>
        </p:nvSpPr>
        <p:spPr>
          <a:xfrm>
            <a:off x="5114971" y="2930469"/>
            <a:ext cx="4524360" cy="28621"/>
          </a:xfrm>
          <a:prstGeom prst="rect">
            <a:avLst/>
          </a:prstGeom>
          <a:solidFill>
            <a:srgbClr val="B68757"/>
          </a:solidFill>
          <a:ln/>
        </p:spPr>
      </p:sp>
      <p:sp>
        <p:nvSpPr>
          <p:cNvPr id="37" name="Shape e35"/>
          <p:cNvSpPr/>
          <p:nvPr/>
        </p:nvSpPr>
        <p:spPr>
          <a:xfrm>
            <a:off x="5286421" y="3073298"/>
            <a:ext cx="381030" cy="381030"/>
          </a:xfrm>
          <a:prstGeom prst="ellipse">
            <a:avLst/>
          </a:prstGeom>
          <a:solidFill>
            <a:srgbClr val="1B1A1A"/>
          </a:solidFill>
          <a:ln/>
        </p:spPr>
      </p:sp>
      <p:pic>
        <p:nvPicPr>
          <p:cNvPr id="38" name="Icon e36" descr="/tmp/claude-0/-home-claude-about/79682efa-f64a-5682-a2ae-625886ef5313/scratchpad/brief/pptx/media/s03_04.png">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sp>
      <p:sp>
        <p:nvSpPr>
          <p:cNvPr id="45" name="Shape e41s0"/>
          <p:cNvSpPr/>
          <p:nvPr/>
        </p:nvSpPr>
        <p:spPr>
          <a:xfrm>
            <a:off x="419070" y="4622749"/>
            <a:ext cx="4524360" cy="28621"/>
          </a:xfrm>
          <a:prstGeom prst="rect">
            <a:avLst/>
          </a:prstGeom>
          <a:solidFill>
            <a:srgbClr val="B68757"/>
          </a:solidFill>
          <a:ln/>
        </p:spPr>
      </p:sp>
      <p:sp>
        <p:nvSpPr>
          <p:cNvPr id="46" name="Shape e43"/>
          <p:cNvSpPr/>
          <p:nvPr/>
        </p:nvSpPr>
        <p:spPr>
          <a:xfrm>
            <a:off x="590520" y="4765670"/>
            <a:ext cx="381030" cy="381030"/>
          </a:xfrm>
          <a:prstGeom prst="ellipse">
            <a:avLst/>
          </a:prstGeom>
          <a:solidFill>
            <a:srgbClr val="1B1A1A"/>
          </a:solidFill>
          <a:ln/>
        </p:spPr>
      </p:sp>
      <p:pic>
        <p:nvPicPr>
          <p:cNvPr id="47" name="Icon e44" descr="/tmp/claude-0/-home-claude-about/79682efa-f64a-5682-a2ae-625886ef5313/scratchpad/brief/pptx/media/s03_05.png">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the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sp>
      <p:sp>
        <p:nvSpPr>
          <p:cNvPr id="54" name="Shape e49s0"/>
          <p:cNvSpPr/>
          <p:nvPr/>
        </p:nvSpPr>
        <p:spPr>
          <a:xfrm>
            <a:off x="5114971" y="4622749"/>
            <a:ext cx="4524360" cy="28621"/>
          </a:xfrm>
          <a:prstGeom prst="rect">
            <a:avLst/>
          </a:prstGeom>
          <a:solidFill>
            <a:srgbClr val="B68757"/>
          </a:solidFill>
          <a:ln/>
        </p:spPr>
      </p:sp>
      <p:sp>
        <p:nvSpPr>
          <p:cNvPr id="55" name="Shape e51"/>
          <p:cNvSpPr/>
          <p:nvPr/>
        </p:nvSpPr>
        <p:spPr>
          <a:xfrm>
            <a:off x="5286421" y="4765670"/>
            <a:ext cx="381030" cy="381030"/>
          </a:xfrm>
          <a:prstGeom prst="ellipse">
            <a:avLst/>
          </a:prstGeom>
          <a:solidFill>
            <a:srgbClr val="1B1A1A"/>
          </a:solidFill>
          <a:ln/>
        </p:spPr>
      </p:sp>
      <p:pic>
        <p:nvPicPr>
          <p:cNvPr id="56" name="Icon e52" descr="/tmp/claude-0/-home-claude-about/79682efa-f64a-5682-a2ae-625886ef5313/scratchpad/brief/pptx/media/s03_06.png">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Segments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segment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sp>
      <p:sp>
        <p:nvSpPr>
          <p:cNvPr id="9" name="Shape e10"/>
          <p:cNvSpPr/>
          <p:nvPr/>
        </p:nvSpPr>
        <p:spPr>
          <a:xfrm>
            <a:off x="428671" y="1247790"/>
            <a:ext cx="2952780" cy="381030"/>
          </a:xfrm>
          <a:prstGeom prst="rect">
            <a:avLst/>
          </a:prstGeom>
          <a:solidFill>
            <a:srgbClr val="1B1A1A"/>
          </a:solidFill>
          <a:ln/>
        </p:spPr>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descr="/tmp/claude-0/-home-claude-about/79682efa-f64a-5682-a2ae-625886ef5313/scratchpad/brief/pptx/media/s04_02.png">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sp>
      <p:sp>
        <p:nvSpPr>
          <p:cNvPr id="21" name="Shape e28"/>
          <p:cNvSpPr/>
          <p:nvPr/>
        </p:nvSpPr>
        <p:spPr>
          <a:xfrm>
            <a:off x="3552810" y="1247790"/>
            <a:ext cx="2952780" cy="381030"/>
          </a:xfrm>
          <a:prstGeom prst="rect">
            <a:avLst/>
          </a:prstGeom>
          <a:solidFill>
            <a:srgbClr val="1B1A1A"/>
          </a:solidFill>
          <a:ln/>
        </p:spPr>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descr="/tmp/claude-0/-home-claude-about/79682efa-f64a-5682-a2ae-625886ef5313/scratchpad/brief/pptx/media/s04_04.png">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specialists with data or a vertical focus are in demand.</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sp>
      <p:sp>
        <p:nvSpPr>
          <p:cNvPr id="33" name="Shape e46"/>
          <p:cNvSpPr/>
          <p:nvPr/>
        </p:nvSpPr>
        <p:spPr>
          <a:xfrm>
            <a:off x="6677040" y="1247790"/>
            <a:ext cx="2952780" cy="381030"/>
          </a:xfrm>
          <a:prstGeom prst="rect">
            <a:avLst/>
          </a:prstGeom>
          <a:solidFill>
            <a:srgbClr val="1B1A1A"/>
          </a:solidFill>
          <a:ln/>
        </p:spPr>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descr="/tmp/claude-0/-home-claude-about/79682efa-f64a-5682-a2ae-625886ef5313/scratchpad/brief/pptx/media/s04_06.png">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sp>
      <p:sp>
        <p:nvSpPr>
          <p:cNvPr id="45" name="Shape e64"/>
          <p:cNvSpPr/>
          <p:nvPr/>
        </p:nvSpPr>
        <p:spPr>
          <a:xfrm>
            <a:off x="428671" y="4157685"/>
            <a:ext cx="2952780" cy="381030"/>
          </a:xfrm>
          <a:prstGeom prst="rect">
            <a:avLst/>
          </a:prstGeom>
          <a:solidFill>
            <a:srgbClr val="1B1A1A"/>
          </a:solidFill>
          <a:ln/>
        </p:spPr>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descr="/tmp/claude-0/-home-claude-about/79682efa-f64a-5682-a2ae-625886ef5313/scratchpad/brief/pptx/media/s04_08.png">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sp>
      <p:sp>
        <p:nvSpPr>
          <p:cNvPr id="57" name="Shape e82"/>
          <p:cNvSpPr/>
          <p:nvPr/>
        </p:nvSpPr>
        <p:spPr>
          <a:xfrm>
            <a:off x="3552810" y="4157685"/>
            <a:ext cx="2952780" cy="381030"/>
          </a:xfrm>
          <a:prstGeom prst="rect">
            <a:avLst/>
          </a:prstGeom>
          <a:solidFill>
            <a:srgbClr val="1B1A1A"/>
          </a:solidFill>
          <a:ln/>
        </p:spPr>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descr="/tmp/claude-0/-home-claude-about/79682efa-f64a-5682-a2ae-625886ef5313/scratchpad/brief/pptx/media/s04_10.png">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SEGMENTS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 and cited in the </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full Q4 2026 report</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sp>
      <p:sp>
        <p:nvSpPr>
          <p:cNvPr id="10" name="Shape e12"/>
          <p:cNvSpPr/>
          <p:nvPr/>
        </p:nvSpPr>
        <p:spPr>
          <a:xfrm>
            <a:off x="419070" y="1438260"/>
            <a:ext cx="2971800" cy="2562240"/>
          </a:xfrm>
          <a:prstGeom prst="rect">
            <a:avLst/>
          </a:prstGeom>
          <a:solidFill>
            <a:srgbClr val="FAF7F3"/>
          </a:solidFill>
          <a:ln/>
        </p:spPr>
      </p:sp>
      <p:sp>
        <p:nvSpPr>
          <p:cNvPr id="11" name="Shape e12s0"/>
          <p:cNvSpPr/>
          <p:nvPr/>
        </p:nvSpPr>
        <p:spPr>
          <a:xfrm>
            <a:off x="419070" y="1438260"/>
            <a:ext cx="2971800" cy="28621"/>
          </a:xfrm>
          <a:prstGeom prst="rect">
            <a:avLst/>
          </a:prstGeom>
          <a:solidFill>
            <a:srgbClr val="B68757"/>
          </a:solidFill>
          <a:ln/>
        </p:spPr>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sp>
      <p:sp>
        <p:nvSpPr>
          <p:cNvPr id="21" name="Shape e21s0"/>
          <p:cNvSpPr/>
          <p:nvPr/>
        </p:nvSpPr>
        <p:spPr>
          <a:xfrm>
            <a:off x="3543300" y="1438260"/>
            <a:ext cx="2971800" cy="28621"/>
          </a:xfrm>
          <a:prstGeom prst="rect">
            <a:avLst/>
          </a:prstGeom>
          <a:solidFill>
            <a:srgbClr val="B68757"/>
          </a:solidFill>
          <a:ln/>
        </p:spPr>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sp>
      <p:sp>
        <p:nvSpPr>
          <p:cNvPr id="31" name="Shape e30s0"/>
          <p:cNvSpPr/>
          <p:nvPr/>
        </p:nvSpPr>
        <p:spPr>
          <a:xfrm>
            <a:off x="6667530" y="1438260"/>
            <a:ext cx="2971800" cy="28621"/>
          </a:xfrm>
          <a:prstGeom prst="rect">
            <a:avLst/>
          </a:prstGeom>
          <a:solidFill>
            <a:srgbClr val="B68757"/>
          </a:solidFill>
          <a:ln/>
        </p:spPr>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fell 0.5%, and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sp>
      <p:sp>
        <p:nvSpPr>
          <p:cNvPr id="42" name="Shape e43"/>
          <p:cNvSpPr/>
          <p:nvPr/>
        </p:nvSpPr>
        <p:spPr>
          <a:xfrm>
            <a:off x="419070" y="4372021"/>
            <a:ext cx="2971800" cy="2562240"/>
          </a:xfrm>
          <a:prstGeom prst="rect">
            <a:avLst/>
          </a:prstGeom>
          <a:solidFill>
            <a:srgbClr val="FAF7F3"/>
          </a:solidFill>
          <a:ln/>
        </p:spPr>
      </p:sp>
      <p:sp>
        <p:nvSpPr>
          <p:cNvPr id="43" name="Shape e43s0"/>
          <p:cNvSpPr/>
          <p:nvPr/>
        </p:nvSpPr>
        <p:spPr>
          <a:xfrm>
            <a:off x="419070" y="4372021"/>
            <a:ext cx="2971800" cy="28621"/>
          </a:xfrm>
          <a:prstGeom prst="rect">
            <a:avLst/>
          </a:prstGeom>
          <a:solidFill>
            <a:srgbClr val="B68757"/>
          </a:solidFill>
          <a:ln/>
        </p:spPr>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sp>
      <p:sp>
        <p:nvSpPr>
          <p:cNvPr id="53" name="Shape e52s0"/>
          <p:cNvSpPr/>
          <p:nvPr/>
        </p:nvSpPr>
        <p:spPr>
          <a:xfrm>
            <a:off x="3543300" y="4372021"/>
            <a:ext cx="2971800" cy="28621"/>
          </a:xfrm>
          <a:prstGeom prst="rect">
            <a:avLst/>
          </a:prstGeom>
          <a:solidFill>
            <a:srgbClr val="B68757"/>
          </a:solidFill>
          <a:ln/>
        </p:spPr>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sp>
      <p:sp>
        <p:nvSpPr>
          <p:cNvPr id="63" name="Shape e61s0"/>
          <p:cNvSpPr/>
          <p:nvPr/>
        </p:nvSpPr>
        <p:spPr>
          <a:xfrm>
            <a:off x="6667530" y="4372021"/>
            <a:ext cx="2971800" cy="28621"/>
          </a:xfrm>
          <a:prstGeom prst="rect">
            <a:avLst/>
          </a:prstGeom>
          <a:solidFill>
            <a:srgbClr val="B68757"/>
          </a:solidFill>
          <a:ln/>
        </p:spPr>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11"/>
          <p:cNvSpPr/>
          <p:nvPr/>
        </p:nvSpPr>
        <p:spPr>
          <a:xfrm>
            <a:off x="419070" y="1238280"/>
            <a:ext cx="2667030" cy="1333470"/>
          </a:xfrm>
          <a:prstGeom prst="rect">
            <a:avLst/>
          </a:prstGeom>
          <a:solidFill>
            <a:srgbClr val="1B1A1A"/>
          </a:solidFill>
          <a:ln/>
        </p:spPr>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SECTOR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eighteen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sp>
      <p:sp>
        <p:nvSpPr>
          <p:cNvPr id="26" name="Shape e37"/>
          <p:cNvSpPr/>
          <p:nvPr/>
        </p:nvSpPr>
        <p:spPr>
          <a:xfrm>
            <a:off x="3257550" y="1238280"/>
            <a:ext cx="1509674" cy="1219170"/>
          </a:xfrm>
          <a:prstGeom prst="rect">
            <a:avLst/>
          </a:prstGeom>
          <a:solidFill>
            <a:srgbClr val="FAF7F3"/>
          </a:solidFill>
          <a:ln/>
        </p:spPr>
      </p:sp>
      <p:sp>
        <p:nvSpPr>
          <p:cNvPr id="27" name="Shape e37s0"/>
          <p:cNvSpPr/>
          <p:nvPr/>
        </p:nvSpPr>
        <p:spPr>
          <a:xfrm>
            <a:off x="3257550" y="1238280"/>
            <a:ext cx="1509674" cy="28621"/>
          </a:xfrm>
          <a:prstGeom prst="rect">
            <a:avLst/>
          </a:prstGeom>
          <a:solidFill>
            <a:srgbClr val="B68757"/>
          </a:solidFill>
          <a:ln/>
        </p:spPr>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sp>
      <p:sp>
        <p:nvSpPr>
          <p:cNvPr id="31" name="Shape e40s0"/>
          <p:cNvSpPr/>
          <p:nvPr/>
        </p:nvSpPr>
        <p:spPr>
          <a:xfrm>
            <a:off x="4881524" y="1238280"/>
            <a:ext cx="1509674" cy="28621"/>
          </a:xfrm>
          <a:prstGeom prst="rect">
            <a:avLst/>
          </a:prstGeom>
          <a:solidFill>
            <a:srgbClr val="B68757"/>
          </a:solidFill>
          <a:ln/>
        </p:spPr>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sp>
      <p:sp>
        <p:nvSpPr>
          <p:cNvPr id="35" name="Shape e43s0"/>
          <p:cNvSpPr/>
          <p:nvPr/>
        </p:nvSpPr>
        <p:spPr>
          <a:xfrm>
            <a:off x="6505590" y="1238280"/>
            <a:ext cx="1509674" cy="28621"/>
          </a:xfrm>
          <a:prstGeom prst="rect">
            <a:avLst/>
          </a:prstGeom>
          <a:solidFill>
            <a:srgbClr val="B68757"/>
          </a:solidFill>
          <a:ln/>
        </p:spPr>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sp>
      <p:sp>
        <p:nvSpPr>
          <p:cNvPr id="39" name="Shape e46s0"/>
          <p:cNvSpPr/>
          <p:nvPr/>
        </p:nvSpPr>
        <p:spPr>
          <a:xfrm>
            <a:off x="8129565" y="1238280"/>
            <a:ext cx="1509674" cy="28621"/>
          </a:xfrm>
          <a:prstGeom prst="rect">
            <a:avLst/>
          </a:prstGeom>
          <a:solidFill>
            <a:srgbClr val="B68757"/>
          </a:solidFill>
          <a:ln/>
        </p:spPr>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sp>
      <p:sp>
        <p:nvSpPr>
          <p:cNvPr id="43" name="Shape e50s0"/>
          <p:cNvSpPr/>
          <p:nvPr/>
        </p:nvSpPr>
        <p:spPr>
          <a:xfrm>
            <a:off x="3257550" y="2590770"/>
            <a:ext cx="2438430" cy="28621"/>
          </a:xfrm>
          <a:prstGeom prst="rect">
            <a:avLst/>
          </a:prstGeom>
          <a:solidFill>
            <a:srgbClr val="B68757"/>
          </a:solidFill>
          <a:ln/>
        </p:spPr>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7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Sector Activity</a:t>
            </a:r>
            <a:endParaRPr lang="en-US" sz="4050" dirty="0"/>
          </a:p>
        </p:txBody>
      </p:sp>
      <p:sp>
        <p:nvSpPr>
          <p:cNvPr id="7" name="Shape e9"/>
          <p:cNvSpPr/>
          <p:nvPr/>
        </p:nvSpPr>
        <p:spPr>
          <a:xfrm>
            <a:off x="609630" y="3714750"/>
            <a:ext cx="914400" cy="19020"/>
          </a:xfrm>
          <a:prstGeom prst="rect">
            <a:avLst/>
          </a:prstGeom>
          <a:solidFill>
            <a:srgbClr val="B68757"/>
          </a:solidFill>
          <a:ln/>
        </p:spPr>
      </p:sp>
      <p:sp>
        <p:nvSpPr>
          <p:cNvPr id="8" name="Shape e11s0"/>
          <p:cNvSpPr/>
          <p:nvPr/>
        </p:nvSpPr>
        <p:spPr>
          <a:xfrm>
            <a:off x="609630" y="3924330"/>
            <a:ext cx="3333720" cy="9510"/>
          </a:xfrm>
          <a:prstGeom prst="rect">
            <a:avLst/>
          </a:prstGeom>
          <a:solidFill>
            <a:srgbClr val="FFFFFF">
              <a:alpha val="16000"/>
            </a:srgbClr>
          </a:solidFill>
          <a:ln/>
        </p:spPr>
      </p:sp>
      <p:sp>
        <p:nvSpPr>
          <p:cNvPr id="9" name="Shape e12"/>
          <p:cNvSpPr/>
          <p:nvPr/>
        </p:nvSpPr>
        <p:spPr>
          <a:xfrm>
            <a:off x="609630" y="4067160"/>
            <a:ext cx="57150" cy="57150"/>
          </a:xfrm>
          <a:prstGeom prst="rect">
            <a:avLst/>
          </a:prstGeom>
          <a:solidFill>
            <a:srgbClr val="B68757"/>
          </a:solidFill>
          <a:ln/>
        </p:spPr>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sp>
      <p:sp>
        <p:nvSpPr>
          <p:cNvPr id="12" name="Shape e15"/>
          <p:cNvSpPr/>
          <p:nvPr/>
        </p:nvSpPr>
        <p:spPr>
          <a:xfrm>
            <a:off x="609630" y="4410060"/>
            <a:ext cx="57150" cy="57150"/>
          </a:xfrm>
          <a:prstGeom prst="rect">
            <a:avLst/>
          </a:prstGeom>
          <a:solidFill>
            <a:srgbClr val="B68757"/>
          </a:solidFill>
          <a:ln/>
        </p:spPr>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sp>
      <p:sp>
        <p:nvSpPr>
          <p:cNvPr id="15" name="Shape e18"/>
          <p:cNvSpPr/>
          <p:nvPr/>
        </p:nvSpPr>
        <p:spPr>
          <a:xfrm>
            <a:off x="609630" y="4752960"/>
            <a:ext cx="57150" cy="57150"/>
          </a:xfrm>
          <a:prstGeom prst="rect">
            <a:avLst/>
          </a:prstGeom>
          <a:solidFill>
            <a:srgbClr val="B68757"/>
          </a:solidFill>
          <a:ln/>
        </p:spPr>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sp>
      <p:sp>
        <p:nvSpPr>
          <p:cNvPr id="18" name="Shape e21"/>
          <p:cNvSpPr/>
          <p:nvPr/>
        </p:nvSpPr>
        <p:spPr>
          <a:xfrm>
            <a:off x="609630" y="5095860"/>
            <a:ext cx="57150" cy="57150"/>
          </a:xfrm>
          <a:prstGeom prst="rect">
            <a:avLst/>
          </a:prstGeom>
          <a:solidFill>
            <a:srgbClr val="B68757"/>
          </a:solidFill>
          <a:ln/>
        </p:spPr>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sp>
      <p:sp>
        <p:nvSpPr>
          <p:cNvPr id="21" name="Shape e24"/>
          <p:cNvSpPr/>
          <p:nvPr/>
        </p:nvSpPr>
        <p:spPr>
          <a:xfrm>
            <a:off x="609630" y="5438760"/>
            <a:ext cx="57150" cy="57150"/>
          </a:xfrm>
          <a:prstGeom prst="rect">
            <a:avLst/>
          </a:prstGeom>
          <a:solidFill>
            <a:srgbClr val="B68757"/>
          </a:solidFill>
          <a:ln/>
        </p:spPr>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sp>
      <p:sp>
        <p:nvSpPr>
          <p:cNvPr id="24" name="Shape e27"/>
          <p:cNvSpPr/>
          <p:nvPr/>
        </p:nvSpPr>
        <p:spPr>
          <a:xfrm>
            <a:off x="609630" y="5781660"/>
            <a:ext cx="57150" cy="57150"/>
          </a:xfrm>
          <a:prstGeom prst="rect">
            <a:avLst/>
          </a:prstGeom>
          <a:solidFill>
            <a:srgbClr val="B68757"/>
          </a:solidFill>
          <a:ln/>
        </p:spPr>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sp>
      <p:sp>
        <p:nvSpPr>
          <p:cNvPr id="27" name="Shape e30"/>
          <p:cNvSpPr/>
          <p:nvPr/>
        </p:nvSpPr>
        <p:spPr>
          <a:xfrm>
            <a:off x="609630" y="6124560"/>
            <a:ext cx="57150" cy="57150"/>
          </a:xfrm>
          <a:prstGeom prst="rect">
            <a:avLst/>
          </a:prstGeom>
          <a:solidFill>
            <a:srgbClr val="B68757"/>
          </a:solidFill>
          <a:ln/>
        </p:spPr>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Landscape of select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10"/>
          <p:cNvSpPr/>
          <p:nvPr/>
        </p:nvSpPr>
        <p:spPr>
          <a:xfrm>
            <a:off x="419070" y="1238280"/>
            <a:ext cx="2971800" cy="3390870"/>
          </a:xfrm>
          <a:prstGeom prst="rect">
            <a:avLst/>
          </a:prstGeom>
          <a:solidFill>
            <a:srgbClr val="FAF7F3"/>
          </a:solidFill>
          <a:ln/>
        </p:spPr>
      </p:sp>
      <p:sp>
        <p:nvSpPr>
          <p:cNvPr id="9" name="Shape e10s0"/>
          <p:cNvSpPr/>
          <p:nvPr/>
        </p:nvSpPr>
        <p:spPr>
          <a:xfrm>
            <a:off x="419070" y="1238280"/>
            <a:ext cx="2971800" cy="28621"/>
          </a:xfrm>
          <a:prstGeom prst="rect">
            <a:avLst/>
          </a:prstGeom>
          <a:solidFill>
            <a:srgbClr val="B68757"/>
          </a:solidFill>
          <a:ln/>
        </p:spPr>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sp>
      <p:sp>
        <p:nvSpPr>
          <p:cNvPr id="24" name="Shape e28s0"/>
          <p:cNvSpPr/>
          <p:nvPr/>
        </p:nvSpPr>
        <p:spPr>
          <a:xfrm>
            <a:off x="3543300" y="1238280"/>
            <a:ext cx="2971800" cy="28621"/>
          </a:xfrm>
          <a:prstGeom prst="rect">
            <a:avLst/>
          </a:prstGeom>
          <a:solidFill>
            <a:srgbClr val="B68757"/>
          </a:solidFill>
          <a:ln/>
        </p:spPr>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sp>
      <p:sp>
        <p:nvSpPr>
          <p:cNvPr id="39" name="Shape e46s0"/>
          <p:cNvSpPr/>
          <p:nvPr/>
        </p:nvSpPr>
        <p:spPr>
          <a:xfrm>
            <a:off x="6667530" y="1238280"/>
            <a:ext cx="2971800" cy="28621"/>
          </a:xfrm>
          <a:prstGeom prst="rect">
            <a:avLst/>
          </a:prstGeom>
          <a:solidFill>
            <a:srgbClr val="B68757"/>
          </a:solidFill>
          <a:ln/>
        </p:spPr>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sp>
      <p:pic>
        <p:nvPicPr>
          <p:cNvPr id="57" name="Icon e73" descr="/tmp/claude-0/-home-claude-about/79682efa-f64a-5682-a2ae-625886ef5313/scratchpad/brief/pptx/media/s08_07.png">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sp>
      <p:pic>
        <p:nvPicPr>
          <p:cNvPr id="61" name="Icon e79" descr="/tmp/claude-0/-home-claude-about/79682efa-f64a-5682-a2ae-625886ef5313/scratchpad/brief/pptx/media/s08_08.png">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sp>
      <p:pic>
        <p:nvPicPr>
          <p:cNvPr id="65" name="Icon e85" descr="/tmp/claude-0/-home-claude-about/79682efa-f64a-5682-a2ae-625886ef5313/scratchpad/brief/pptx/media/s08_09.png">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segment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2971800" cy="2781330"/>
          </a:xfrm>
          <a:prstGeom prst="rect">
            <a:avLst/>
          </a:prstGeom>
          <a:solidFill>
            <a:srgbClr val="FAF7F3"/>
          </a:solidFill>
          <a:ln/>
        </p:spPr>
      </p:sp>
      <p:sp>
        <p:nvSpPr>
          <p:cNvPr id="9" name="Shape e9s0"/>
          <p:cNvSpPr/>
          <p:nvPr/>
        </p:nvSpPr>
        <p:spPr>
          <a:xfrm>
            <a:off x="419070" y="1238280"/>
            <a:ext cx="2971800" cy="28621"/>
          </a:xfrm>
          <a:prstGeom prst="rect">
            <a:avLst/>
          </a:prstGeom>
          <a:solidFill>
            <a:srgbClr val="B68757"/>
          </a:solidFill>
          <a:ln/>
        </p:spPr>
      </p:sp>
      <p:sp>
        <p:nvSpPr>
          <p:cNvPr id="10" name="Shape e11"/>
          <p:cNvSpPr/>
          <p:nvPr/>
        </p:nvSpPr>
        <p:spPr>
          <a:xfrm>
            <a:off x="561990" y="1371600"/>
            <a:ext cx="938814" cy="142921"/>
          </a:xfrm>
          <a:prstGeom prst="rect">
            <a:avLst/>
          </a:prstGeom>
          <a:solidFill>
            <a:srgbClr val="1B1A1A"/>
          </a:solidFill>
          <a:ln/>
        </p:spPr>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sp>
      <p:sp>
        <p:nvSpPr>
          <p:cNvPr id="23" name="Shape e20s0"/>
          <p:cNvSpPr/>
          <p:nvPr/>
        </p:nvSpPr>
        <p:spPr>
          <a:xfrm>
            <a:off x="3543300" y="1238280"/>
            <a:ext cx="2971800" cy="28621"/>
          </a:xfrm>
          <a:prstGeom prst="rect">
            <a:avLst/>
          </a:prstGeom>
          <a:solidFill>
            <a:srgbClr val="B68757"/>
          </a:solidFill>
          <a:ln/>
        </p:spPr>
      </p:sp>
      <p:sp>
        <p:nvSpPr>
          <p:cNvPr id="24" name="Shape e22"/>
          <p:cNvSpPr/>
          <p:nvPr/>
        </p:nvSpPr>
        <p:spPr>
          <a:xfrm>
            <a:off x="3686221" y="1404976"/>
            <a:ext cx="834207" cy="142921"/>
          </a:xfrm>
          <a:prstGeom prst="rect">
            <a:avLst/>
          </a:prstGeom>
          <a:solidFill>
            <a:srgbClr val="1B1A1A"/>
          </a:solidFill>
          <a:ln/>
        </p:spPr>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sp>
      <p:sp>
        <p:nvSpPr>
          <p:cNvPr id="37" name="Shape e31s0"/>
          <p:cNvSpPr/>
          <p:nvPr/>
        </p:nvSpPr>
        <p:spPr>
          <a:xfrm>
            <a:off x="6667530" y="1238280"/>
            <a:ext cx="2971800" cy="28621"/>
          </a:xfrm>
          <a:prstGeom prst="rect">
            <a:avLst/>
          </a:prstGeom>
          <a:solidFill>
            <a:srgbClr val="B68757"/>
          </a:solidFill>
          <a:ln/>
        </p:spPr>
      </p:sp>
      <p:sp>
        <p:nvSpPr>
          <p:cNvPr id="38" name="Shape e33"/>
          <p:cNvSpPr/>
          <p:nvPr/>
        </p:nvSpPr>
        <p:spPr>
          <a:xfrm>
            <a:off x="6810360" y="1404976"/>
            <a:ext cx="767822" cy="142921"/>
          </a:xfrm>
          <a:prstGeom prst="rect">
            <a:avLst/>
          </a:prstGeom>
          <a:solidFill>
            <a:srgbClr val="1B1A1A"/>
          </a:solidFill>
          <a:ln/>
        </p:spPr>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sp>
      <p:sp>
        <p:nvSpPr>
          <p:cNvPr id="51" name="Shape e42s0"/>
          <p:cNvSpPr/>
          <p:nvPr/>
        </p:nvSpPr>
        <p:spPr>
          <a:xfrm>
            <a:off x="419070" y="4152930"/>
            <a:ext cx="2971800" cy="28621"/>
          </a:xfrm>
          <a:prstGeom prst="rect">
            <a:avLst/>
          </a:prstGeom>
          <a:solidFill>
            <a:srgbClr val="B68757"/>
          </a:solidFill>
          <a:ln/>
        </p:spPr>
      </p:sp>
      <p:sp>
        <p:nvSpPr>
          <p:cNvPr id="52" name="Shape e44"/>
          <p:cNvSpPr/>
          <p:nvPr/>
        </p:nvSpPr>
        <p:spPr>
          <a:xfrm>
            <a:off x="561990" y="4286250"/>
            <a:ext cx="767822" cy="142921"/>
          </a:xfrm>
          <a:prstGeom prst="rect">
            <a:avLst/>
          </a:prstGeom>
          <a:solidFill>
            <a:srgbClr val="1B1A1A"/>
          </a:solidFill>
          <a:ln/>
        </p:spPr>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sp>
      <p:sp>
        <p:nvSpPr>
          <p:cNvPr id="65" name="Shape e53s0"/>
          <p:cNvSpPr/>
          <p:nvPr/>
        </p:nvSpPr>
        <p:spPr>
          <a:xfrm>
            <a:off x="3543300" y="4152930"/>
            <a:ext cx="2971800" cy="28621"/>
          </a:xfrm>
          <a:prstGeom prst="rect">
            <a:avLst/>
          </a:prstGeom>
          <a:solidFill>
            <a:srgbClr val="B68757"/>
          </a:solidFill>
          <a:ln/>
        </p:spPr>
      </p:sp>
      <p:sp>
        <p:nvSpPr>
          <p:cNvPr id="66" name="Shape e55"/>
          <p:cNvSpPr/>
          <p:nvPr/>
        </p:nvSpPr>
        <p:spPr>
          <a:xfrm>
            <a:off x="3686221" y="4286250"/>
            <a:ext cx="938814" cy="142921"/>
          </a:xfrm>
          <a:prstGeom prst="rect">
            <a:avLst/>
          </a:prstGeom>
          <a:solidFill>
            <a:srgbClr val="1B1A1A"/>
          </a:solidFill>
          <a:ln/>
        </p:spPr>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The 2026 forecast for industrial staffing revenue was raised to growth of 7% from 1% in September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sp>
      <p:sp>
        <p:nvSpPr>
          <p:cNvPr id="79" name="Shape e64s0"/>
          <p:cNvSpPr/>
          <p:nvPr/>
        </p:nvSpPr>
        <p:spPr>
          <a:xfrm>
            <a:off x="6667530" y="4152930"/>
            <a:ext cx="2971800" cy="28621"/>
          </a:xfrm>
          <a:prstGeom prst="rect">
            <a:avLst/>
          </a:prstGeom>
          <a:solidFill>
            <a:srgbClr val="B68757"/>
          </a:solidFill>
          <a:ln/>
        </p:spPr>
      </p:sp>
      <p:sp>
        <p:nvSpPr>
          <p:cNvPr id="80" name="Shape e66"/>
          <p:cNvSpPr/>
          <p:nvPr/>
        </p:nvSpPr>
        <p:spPr>
          <a:xfrm>
            <a:off x="6810360" y="4286250"/>
            <a:ext cx="638434" cy="142921"/>
          </a:xfrm>
          <a:prstGeom prst="rect">
            <a:avLst/>
          </a:prstGeom>
          <a:solidFill>
            <a:srgbClr val="1B1A1A"/>
          </a:solidFill>
          <a:ln/>
        </p:spPr>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 and further transactions in each segment are in the </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full report</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1866930" cy="5695980"/>
          </a:xfrm>
          <a:prstGeom prst="rect">
            <a:avLst/>
          </a:prstGeom>
          <a:solidFill>
            <a:srgbClr val="1B1A1A"/>
          </a:solidFill>
          <a:ln/>
        </p:spPr>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segments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sellers named in the full report,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sp>
      <p:sp>
        <p:nvSpPr>
          <p:cNvPr id="22" name="Shape e22s0"/>
          <p:cNvSpPr/>
          <p:nvPr/>
        </p:nvSpPr>
        <p:spPr>
          <a:xfrm>
            <a:off x="2419320" y="1238280"/>
            <a:ext cx="1719255" cy="28621"/>
          </a:xfrm>
          <a:prstGeom prst="rect">
            <a:avLst/>
          </a:prstGeom>
          <a:solidFill>
            <a:srgbClr val="B68757"/>
          </a:solidFill>
          <a:ln/>
        </p:spPr>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sp>
      <p:sp>
        <p:nvSpPr>
          <p:cNvPr id="31" name="Shape e30s0"/>
          <p:cNvSpPr/>
          <p:nvPr/>
        </p:nvSpPr>
        <p:spPr>
          <a:xfrm>
            <a:off x="4252874" y="1238280"/>
            <a:ext cx="1719255" cy="28621"/>
          </a:xfrm>
          <a:prstGeom prst="rect">
            <a:avLst/>
          </a:prstGeom>
          <a:solidFill>
            <a:srgbClr val="B68757"/>
          </a:solidFill>
          <a:ln/>
        </p:spPr>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sp>
      <p:sp>
        <p:nvSpPr>
          <p:cNvPr id="40" name="Shape e38s0"/>
          <p:cNvSpPr/>
          <p:nvPr/>
        </p:nvSpPr>
        <p:spPr>
          <a:xfrm>
            <a:off x="6086521" y="1238280"/>
            <a:ext cx="1719255" cy="28621"/>
          </a:xfrm>
          <a:prstGeom prst="rect">
            <a:avLst/>
          </a:prstGeom>
          <a:solidFill>
            <a:srgbClr val="B68757"/>
          </a:solidFill>
          <a:ln/>
        </p:spPr>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sp>
      <p:sp>
        <p:nvSpPr>
          <p:cNvPr id="49" name="Shape e46s0"/>
          <p:cNvSpPr/>
          <p:nvPr/>
        </p:nvSpPr>
        <p:spPr>
          <a:xfrm>
            <a:off x="7920076" y="1238280"/>
            <a:ext cx="1719255" cy="28621"/>
          </a:xfrm>
          <a:prstGeom prst="rect">
            <a:avLst/>
          </a:prstGeom>
          <a:solidFill>
            <a:srgbClr val="B68757"/>
          </a:solidFill>
          <a:ln/>
        </p:spPr>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sp>
      <p:sp>
        <p:nvSpPr>
          <p:cNvPr id="58" name="Shape e52s0"/>
          <p:cNvSpPr/>
          <p:nvPr/>
        </p:nvSpPr>
        <p:spPr>
          <a:xfrm>
            <a:off x="2419320" y="3174980"/>
            <a:ext cx="1719255" cy="28621"/>
          </a:xfrm>
          <a:prstGeom prst="rect">
            <a:avLst/>
          </a:prstGeom>
          <a:solidFill>
            <a:srgbClr val="B68757"/>
          </a:solidFill>
          <a:ln/>
        </p:spPr>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sp>
      <p:sp>
        <p:nvSpPr>
          <p:cNvPr id="67" name="Shape e60s0"/>
          <p:cNvSpPr/>
          <p:nvPr/>
        </p:nvSpPr>
        <p:spPr>
          <a:xfrm>
            <a:off x="4252874" y="3174980"/>
            <a:ext cx="1719255" cy="28621"/>
          </a:xfrm>
          <a:prstGeom prst="rect">
            <a:avLst/>
          </a:prstGeom>
          <a:solidFill>
            <a:srgbClr val="B68757"/>
          </a:solidFill>
          <a:ln/>
        </p:spPr>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sp>
      <p:sp>
        <p:nvSpPr>
          <p:cNvPr id="76" name="Shape e68s0"/>
          <p:cNvSpPr/>
          <p:nvPr/>
        </p:nvSpPr>
        <p:spPr>
          <a:xfrm>
            <a:off x="6086521" y="3174980"/>
            <a:ext cx="1719255" cy="28621"/>
          </a:xfrm>
          <a:prstGeom prst="rect">
            <a:avLst/>
          </a:prstGeom>
          <a:solidFill>
            <a:srgbClr val="B68757"/>
          </a:solidFill>
          <a:ln/>
        </p:spPr>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sp>
      <p:sp>
        <p:nvSpPr>
          <p:cNvPr id="85" name="Shape e76s0"/>
          <p:cNvSpPr/>
          <p:nvPr/>
        </p:nvSpPr>
        <p:spPr>
          <a:xfrm>
            <a:off x="7920076" y="3174980"/>
            <a:ext cx="1719255" cy="28621"/>
          </a:xfrm>
          <a:prstGeom prst="rect">
            <a:avLst/>
          </a:prstGeom>
          <a:solidFill>
            <a:srgbClr val="B68757"/>
          </a:solidFill>
          <a:ln/>
        </p:spPr>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sp>
      <p:sp>
        <p:nvSpPr>
          <p:cNvPr id="94" name="Shape e84s0"/>
          <p:cNvSpPr/>
          <p:nvPr/>
        </p:nvSpPr>
        <p:spPr>
          <a:xfrm>
            <a:off x="2419320" y="5111679"/>
            <a:ext cx="1719255" cy="28621"/>
          </a:xfrm>
          <a:prstGeom prst="rect">
            <a:avLst/>
          </a:prstGeom>
          <a:solidFill>
            <a:srgbClr val="B68757"/>
          </a:solidFill>
          <a:ln/>
        </p:spPr>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sp>
      <p:sp>
        <p:nvSpPr>
          <p:cNvPr id="103" name="Shape e90s0"/>
          <p:cNvSpPr/>
          <p:nvPr/>
        </p:nvSpPr>
        <p:spPr>
          <a:xfrm>
            <a:off x="4252874" y="5111679"/>
            <a:ext cx="1719255" cy="28621"/>
          </a:xfrm>
          <a:prstGeom prst="rect">
            <a:avLst/>
          </a:prstGeom>
          <a:solidFill>
            <a:srgbClr val="B68757"/>
          </a:solidFill>
          <a:ln/>
        </p:spPr>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sp>
      <p:sp>
        <p:nvSpPr>
          <p:cNvPr id="112" name="Shape e96s0"/>
          <p:cNvSpPr/>
          <p:nvPr/>
        </p:nvSpPr>
        <p:spPr>
          <a:xfrm>
            <a:off x="6086521" y="5111679"/>
            <a:ext cx="1719255" cy="28621"/>
          </a:xfrm>
          <a:prstGeom prst="rect">
            <a:avLst/>
          </a:prstGeom>
          <a:solidFill>
            <a:srgbClr val="B68757"/>
          </a:solidFill>
          <a:ln/>
        </p:spPr>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sp>
      <p:sp>
        <p:nvSpPr>
          <p:cNvPr id="121" name="Shape e102s0"/>
          <p:cNvSpPr/>
          <p:nvPr/>
        </p:nvSpPr>
        <p:spPr>
          <a:xfrm>
            <a:off x="7920076" y="5111679"/>
            <a:ext cx="1719255" cy="28621"/>
          </a:xfrm>
          <a:prstGeom prst="rect">
            <a:avLst/>
          </a:prstGeom>
          <a:solidFill>
            <a:srgbClr val="B68757"/>
          </a:solidFill>
          <a:ln/>
        </p:spPr>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 and the rest are in the </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full report</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segments, and each segment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10"/>
          <p:cNvSpPr/>
          <p:nvPr/>
        </p:nvSpPr>
        <p:spPr>
          <a:xfrm>
            <a:off x="419070" y="1238280"/>
            <a:ext cx="2762220" cy="3810030"/>
          </a:xfrm>
          <a:prstGeom prst="rect">
            <a:avLst/>
          </a:prstGeom>
          <a:solidFill>
            <a:srgbClr val="FAF7F3"/>
          </a:solidFill>
          <a:ln/>
        </p:spPr>
      </p:sp>
      <p:sp>
        <p:nvSpPr>
          <p:cNvPr id="9" name="Shape e10s0"/>
          <p:cNvSpPr/>
          <p:nvPr/>
        </p:nvSpPr>
        <p:spPr>
          <a:xfrm>
            <a:off x="419070" y="1238280"/>
            <a:ext cx="2762220" cy="28621"/>
          </a:xfrm>
          <a:prstGeom prst="rect">
            <a:avLst/>
          </a:prstGeom>
          <a:solidFill>
            <a:srgbClr val="B68757"/>
          </a:solidFill>
          <a:ln/>
        </p:spPr>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segment</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sp>
      <p:sp>
        <p:nvSpPr>
          <p:cNvPr id="16" name="Shape e15s0"/>
          <p:cNvSpPr/>
          <p:nvPr/>
        </p:nvSpPr>
        <p:spPr>
          <a:xfrm>
            <a:off x="3314700" y="1238280"/>
            <a:ext cx="3943350" cy="28621"/>
          </a:xfrm>
          <a:prstGeom prst="rect">
            <a:avLst/>
          </a:prstGeom>
          <a:solidFill>
            <a:srgbClr val="B68757"/>
          </a:solidFill>
          <a:ln/>
        </p:spPr>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4524360" cy="2781330"/>
          </a:xfrm>
          <a:prstGeom prst="rect">
            <a:avLst/>
          </a:prstGeom>
          <a:solidFill>
            <a:srgbClr val="FAF7F3"/>
          </a:solidFill>
          <a:ln/>
        </p:spPr>
      </p:sp>
      <p:sp>
        <p:nvSpPr>
          <p:cNvPr id="9" name="Shape e9s0"/>
          <p:cNvSpPr/>
          <p:nvPr/>
        </p:nvSpPr>
        <p:spPr>
          <a:xfrm>
            <a:off x="419070" y="1238280"/>
            <a:ext cx="4524360" cy="28621"/>
          </a:xfrm>
          <a:prstGeom prst="rect">
            <a:avLst/>
          </a:prstGeom>
          <a:solidFill>
            <a:srgbClr val="B68757"/>
          </a:solidFill>
          <a:ln/>
        </p:spPr>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sp>
      <p:sp>
        <p:nvSpPr>
          <p:cNvPr id="16" name="Shape e14s0"/>
          <p:cNvSpPr/>
          <p:nvPr/>
        </p:nvSpPr>
        <p:spPr>
          <a:xfrm>
            <a:off x="5114971" y="1238280"/>
            <a:ext cx="4524360" cy="28621"/>
          </a:xfrm>
          <a:prstGeom prst="rect">
            <a:avLst/>
          </a:prstGeom>
          <a:solidFill>
            <a:srgbClr val="B68757"/>
          </a:solidFill>
          <a:ln/>
        </p:spPr>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sp>
      <p:sp>
        <p:nvSpPr>
          <p:cNvPr id="23" name="Shape e19s0"/>
          <p:cNvSpPr/>
          <p:nvPr/>
        </p:nvSpPr>
        <p:spPr>
          <a:xfrm>
            <a:off x="419070" y="4152930"/>
            <a:ext cx="4524360" cy="28621"/>
          </a:xfrm>
          <a:prstGeom prst="rect">
            <a:avLst/>
          </a:prstGeom>
          <a:solidFill>
            <a:srgbClr val="B68757"/>
          </a:solidFill>
          <a:ln/>
        </p:spPr>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sp>
      <p:sp>
        <p:nvSpPr>
          <p:cNvPr id="30" name="Shape e24s0"/>
          <p:cNvSpPr/>
          <p:nvPr/>
        </p:nvSpPr>
        <p:spPr>
          <a:xfrm>
            <a:off x="5114971" y="4152930"/>
            <a:ext cx="4524360" cy="28621"/>
          </a:xfrm>
          <a:prstGeom prst="rect">
            <a:avLst/>
          </a:prstGeom>
          <a:solidFill>
            <a:srgbClr val="B68757"/>
          </a:solidFill>
          <a:ln/>
        </p:spPr>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segment.</a:t>
            </a:r>
            <a:endParaRPr lang="en-US" sz="750" dirty="0"/>
          </a:p>
        </p:txBody>
      </p:sp>
      <p:sp>
        <p:nvSpPr>
          <p:cNvPr id="36" name="Shape e29"/>
          <p:cNvSpPr/>
          <p:nvPr/>
        </p:nvSpPr>
        <p:spPr>
          <a:xfrm>
            <a:off x="419070" y="7029450"/>
            <a:ext cx="9220170" cy="9510"/>
          </a:xfrm>
          <a:prstGeom prst="ellipse">
            <a:avLst/>
          </a:prstGeom>
          <a:solidFill>
            <a:srgbClr val="E3DCD3"/>
          </a:solidFill>
          <a:ln/>
        </p:spPr>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segment with a published figure, between 7 and 12 companies a segment.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2762220" cy="5695980"/>
          </a:xfrm>
          <a:prstGeom prst="rect">
            <a:avLst/>
          </a:prstGeom>
          <a:solidFill>
            <a:srgbClr val="FAF7F3"/>
          </a:solidFill>
          <a:ln/>
        </p:spPr>
      </p:sp>
      <p:sp>
        <p:nvSpPr>
          <p:cNvPr id="9" name="Shape e9s0"/>
          <p:cNvSpPr/>
          <p:nvPr/>
        </p:nvSpPr>
        <p:spPr>
          <a:xfrm>
            <a:off x="419070" y="1238280"/>
            <a:ext cx="2762220" cy="28621"/>
          </a:xfrm>
          <a:prstGeom prst="rect">
            <a:avLst/>
          </a:prstGeom>
          <a:solidFill>
            <a:srgbClr val="B68757"/>
          </a:solidFill>
          <a:ln/>
        </p:spPr>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sp>
      <p:pic>
        <p:nvPicPr>
          <p:cNvPr id="14" name="Icon e15" descr="/tmp/claude-0/-home-claude-about/79682efa-f64a-5682-a2ae-625886ef5313/scratchpad/brief/pptx/media/s13_01.png">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sp>
      <p:sp>
        <p:nvSpPr>
          <p:cNvPr id="29" name="Shape e29s0"/>
          <p:cNvSpPr/>
          <p:nvPr/>
        </p:nvSpPr>
        <p:spPr>
          <a:xfrm>
            <a:off x="3314700" y="6143671"/>
            <a:ext cx="2019270" cy="28621"/>
          </a:xfrm>
          <a:prstGeom prst="rect">
            <a:avLst/>
          </a:prstGeom>
          <a:solidFill>
            <a:srgbClr val="B68757"/>
          </a:solidFill>
          <a:ln/>
        </p:spPr>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sp>
      <p:pic>
        <p:nvPicPr>
          <p:cNvPr id="33" name="Icon e34" descr="/tmp/claude-0/-home-claude-about/79682efa-f64a-5682-a2ae-625886ef5313/scratchpad/brief/pptx/media/s13_02.png">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sp>
      <p:sp>
        <p:nvSpPr>
          <p:cNvPr id="48" name="Shape e48s0"/>
          <p:cNvSpPr/>
          <p:nvPr/>
        </p:nvSpPr>
        <p:spPr>
          <a:xfrm>
            <a:off x="5467380" y="6000750"/>
            <a:ext cx="2019270" cy="28621"/>
          </a:xfrm>
          <a:prstGeom prst="rect">
            <a:avLst/>
          </a:prstGeom>
          <a:solidFill>
            <a:srgbClr val="B68757"/>
          </a:solidFill>
          <a:ln/>
        </p:spPr>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sp>
      <p:pic>
        <p:nvPicPr>
          <p:cNvPr id="52" name="Icon e53" descr="/tmp/claude-0/-home-claude-about/79682efa-f64a-5682-a2ae-625886ef5313/scratchpad/brief/pptx/media/s13_03.png">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sp>
      <p:sp>
        <p:nvSpPr>
          <p:cNvPr id="67" name="Shape e67s0"/>
          <p:cNvSpPr/>
          <p:nvPr/>
        </p:nvSpPr>
        <p:spPr>
          <a:xfrm>
            <a:off x="7619970" y="6000750"/>
            <a:ext cx="2019270" cy="28621"/>
          </a:xfrm>
          <a:prstGeom prst="rect">
            <a:avLst/>
          </a:prstGeom>
          <a:solidFill>
            <a:srgbClr val="B68757"/>
          </a:solidFill>
          <a:ln/>
        </p:spPr>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2971800" cy="2781330"/>
          </a:xfrm>
          <a:prstGeom prst="rect">
            <a:avLst/>
          </a:prstGeom>
          <a:solidFill>
            <a:srgbClr val="FAF7F3"/>
          </a:solidFill>
          <a:ln/>
        </p:spPr>
      </p:sp>
      <p:sp>
        <p:nvSpPr>
          <p:cNvPr id="9" name="Shape e9s0"/>
          <p:cNvSpPr/>
          <p:nvPr/>
        </p:nvSpPr>
        <p:spPr>
          <a:xfrm>
            <a:off x="419070" y="1238280"/>
            <a:ext cx="2971800" cy="28621"/>
          </a:xfrm>
          <a:prstGeom prst="rect">
            <a:avLst/>
          </a:prstGeom>
          <a:solidFill>
            <a:srgbClr val="B68757"/>
          </a:solidFill>
          <a:ln/>
        </p:spPr>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sp>
      <p:sp>
        <p:nvSpPr>
          <p:cNvPr id="16" name="Shape e14s0"/>
          <p:cNvSpPr/>
          <p:nvPr/>
        </p:nvSpPr>
        <p:spPr>
          <a:xfrm>
            <a:off x="3543300" y="1238280"/>
            <a:ext cx="2971800" cy="28621"/>
          </a:xfrm>
          <a:prstGeom prst="rect">
            <a:avLst/>
          </a:prstGeom>
          <a:solidFill>
            <a:srgbClr val="B68757"/>
          </a:solidFill>
          <a:ln/>
        </p:spPr>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sp>
      <p:sp>
        <p:nvSpPr>
          <p:cNvPr id="23" name="Shape e19s0"/>
          <p:cNvSpPr/>
          <p:nvPr/>
        </p:nvSpPr>
        <p:spPr>
          <a:xfrm>
            <a:off x="6667530" y="1238280"/>
            <a:ext cx="2971800" cy="28621"/>
          </a:xfrm>
          <a:prstGeom prst="rect">
            <a:avLst/>
          </a:prstGeom>
          <a:solidFill>
            <a:srgbClr val="B68757"/>
          </a:solidFill>
          <a:ln/>
        </p:spPr>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sp>
      <p:sp>
        <p:nvSpPr>
          <p:cNvPr id="30" name="Shape e24s0"/>
          <p:cNvSpPr/>
          <p:nvPr/>
        </p:nvSpPr>
        <p:spPr>
          <a:xfrm>
            <a:off x="419070" y="4152930"/>
            <a:ext cx="2971800" cy="28621"/>
          </a:xfrm>
          <a:prstGeom prst="rect">
            <a:avLst/>
          </a:prstGeom>
          <a:solidFill>
            <a:srgbClr val="B68757"/>
          </a:solidFill>
          <a:ln/>
        </p:spPr>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sp>
      <p:sp>
        <p:nvSpPr>
          <p:cNvPr id="38" name="Shape e33s0"/>
          <p:cNvSpPr/>
          <p:nvPr/>
        </p:nvSpPr>
        <p:spPr>
          <a:xfrm>
            <a:off x="552480" y="6348405"/>
            <a:ext cx="2705070" cy="9510"/>
          </a:xfrm>
          <a:prstGeom prst="rect">
            <a:avLst/>
          </a:prstGeom>
          <a:solidFill>
            <a:srgbClr val="E3DCD3"/>
          </a:solidFill>
          <a:ln/>
        </p:spPr>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sp>
      <p:sp>
        <p:nvSpPr>
          <p:cNvPr id="41" name="Shape e34s0"/>
          <p:cNvSpPr/>
          <p:nvPr/>
        </p:nvSpPr>
        <p:spPr>
          <a:xfrm>
            <a:off x="3543300" y="4152930"/>
            <a:ext cx="2971800" cy="28621"/>
          </a:xfrm>
          <a:prstGeom prst="rect">
            <a:avLst/>
          </a:prstGeom>
          <a:solidFill>
            <a:srgbClr val="B68757"/>
          </a:solidFill>
          <a:ln/>
        </p:spPr>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sp>
      <p:sp>
        <p:nvSpPr>
          <p:cNvPr id="48" name="Shape e39s0"/>
          <p:cNvSpPr/>
          <p:nvPr/>
        </p:nvSpPr>
        <p:spPr>
          <a:xfrm>
            <a:off x="6667530" y="4152930"/>
            <a:ext cx="2971800" cy="28621"/>
          </a:xfrm>
          <a:prstGeom prst="rect">
            <a:avLst/>
          </a:prstGeom>
          <a:solidFill>
            <a:srgbClr val="B68757"/>
          </a:solidFill>
          <a:ln/>
        </p:spPr>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sp>
      <p:sp>
        <p:nvSpPr>
          <p:cNvPr id="56" name="Shape e48s0"/>
          <p:cNvSpPr/>
          <p:nvPr/>
        </p:nvSpPr>
        <p:spPr>
          <a:xfrm>
            <a:off x="6800850" y="6348405"/>
            <a:ext cx="2705070" cy="9510"/>
          </a:xfrm>
          <a:prstGeom prst="rect">
            <a:avLst/>
          </a:prstGeom>
          <a:solidFill>
            <a:srgbClr val="E3DCD3"/>
          </a:solidFill>
          <a:ln/>
        </p:spPr>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Landscape: Select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segment,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1752630" cy="5695980"/>
          </a:xfrm>
          <a:prstGeom prst="rect">
            <a:avLst/>
          </a:prstGeom>
          <a:solidFill>
            <a:srgbClr val="FAF7F3"/>
          </a:solidFill>
          <a:ln/>
        </p:spPr>
      </p:sp>
      <p:sp>
        <p:nvSpPr>
          <p:cNvPr id="9" name="Shape e10"/>
          <p:cNvSpPr/>
          <p:nvPr/>
        </p:nvSpPr>
        <p:spPr>
          <a:xfrm>
            <a:off x="419070" y="1238280"/>
            <a:ext cx="1752630" cy="438180"/>
          </a:xfrm>
          <a:prstGeom prst="rect">
            <a:avLst/>
          </a:prstGeom>
          <a:solidFill>
            <a:srgbClr val="1B1A1A"/>
          </a:solidFill>
          <a:ln/>
        </p:spPr>
      </p:sp>
      <p:pic>
        <p:nvPicPr>
          <p:cNvPr id="10" name="Icon e11" descr="/tmp/claude-0/-home-claude-about/79682efa-f64a-5682-a2ae-625886ef5313/scratchpad/brief/pptx/media/s15_01.png">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sp>
      <p:sp>
        <p:nvSpPr>
          <p:cNvPr id="66" name="Shape e71"/>
          <p:cNvSpPr/>
          <p:nvPr/>
        </p:nvSpPr>
        <p:spPr>
          <a:xfrm>
            <a:off x="2286000" y="1238280"/>
            <a:ext cx="1752630" cy="438180"/>
          </a:xfrm>
          <a:prstGeom prst="rect">
            <a:avLst/>
          </a:prstGeom>
          <a:solidFill>
            <a:srgbClr val="1B1A1A"/>
          </a:solidFill>
          <a:ln/>
        </p:spPr>
      </p:sp>
      <p:pic>
        <p:nvPicPr>
          <p:cNvPr id="67" name="Icon e72" descr="/tmp/claude-0/-home-claude-about/79682efa-f64a-5682-a2ae-625886ef5313/scratchpad/brief/pptx/media/s15_02.png">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sp>
      <p:sp>
        <p:nvSpPr>
          <p:cNvPr id="119" name="Shape e126"/>
          <p:cNvSpPr/>
          <p:nvPr/>
        </p:nvSpPr>
        <p:spPr>
          <a:xfrm>
            <a:off x="4152930" y="1238280"/>
            <a:ext cx="1752630" cy="438180"/>
          </a:xfrm>
          <a:prstGeom prst="rect">
            <a:avLst/>
          </a:prstGeom>
          <a:solidFill>
            <a:srgbClr val="1B1A1A"/>
          </a:solidFill>
          <a:ln/>
        </p:spPr>
      </p:sp>
      <p:pic>
        <p:nvPicPr>
          <p:cNvPr id="120" name="Icon e127" descr="/tmp/claude-0/-home-claude-about/79682efa-f64a-5682-a2ae-625886ef5313/scratchpad/brief/pptx/media/s15_03.png">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sp>
      <p:sp>
        <p:nvSpPr>
          <p:cNvPr id="163" name="Shape e171"/>
          <p:cNvSpPr/>
          <p:nvPr/>
        </p:nvSpPr>
        <p:spPr>
          <a:xfrm>
            <a:off x="6019770" y="1238280"/>
            <a:ext cx="1752630" cy="438180"/>
          </a:xfrm>
          <a:prstGeom prst="rect">
            <a:avLst/>
          </a:prstGeom>
          <a:solidFill>
            <a:srgbClr val="1B1A1A"/>
          </a:solidFill>
          <a:ln/>
        </p:spPr>
      </p:sp>
      <p:pic>
        <p:nvPicPr>
          <p:cNvPr id="164" name="Icon e172" descr="/tmp/claude-0/-home-claude-about/79682efa-f64a-5682-a2ae-625886ef5313/scratchpad/brief/pptx/media/s15_04.png">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sp>
      <p:sp>
        <p:nvSpPr>
          <p:cNvPr id="205" name="Shape e215"/>
          <p:cNvSpPr/>
          <p:nvPr/>
        </p:nvSpPr>
        <p:spPr>
          <a:xfrm>
            <a:off x="7886700" y="1238280"/>
            <a:ext cx="1752630" cy="438180"/>
          </a:xfrm>
          <a:prstGeom prst="rect">
            <a:avLst/>
          </a:prstGeom>
          <a:solidFill>
            <a:srgbClr val="1B1A1A"/>
          </a:solidFill>
          <a:ln/>
        </p:spPr>
      </p:sp>
      <p:pic>
        <p:nvPicPr>
          <p:cNvPr id="206" name="Icon e216" descr="/tmp/claude-0/-home-claude-about/79682efa-f64a-5682-a2ae-625886ef5313/scratchpad/brief/pptx/media/s15_05.png">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 and cited in the </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full report</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16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sp>
      <p:sp>
        <p:nvSpPr>
          <p:cNvPr id="8" name="Shape e11s0"/>
          <p:cNvSpPr/>
          <p:nvPr/>
        </p:nvSpPr>
        <p:spPr>
          <a:xfrm>
            <a:off x="609630" y="3924330"/>
            <a:ext cx="3333720" cy="9510"/>
          </a:xfrm>
          <a:prstGeom prst="rect">
            <a:avLst/>
          </a:prstGeom>
          <a:solidFill>
            <a:srgbClr val="FFFFFF">
              <a:alpha val="16000"/>
            </a:srgbClr>
          </a:solidFill>
          <a:ln/>
        </p:spPr>
      </p:sp>
      <p:sp>
        <p:nvSpPr>
          <p:cNvPr id="9" name="Shape e12"/>
          <p:cNvSpPr/>
          <p:nvPr/>
        </p:nvSpPr>
        <p:spPr>
          <a:xfrm>
            <a:off x="609630" y="4067160"/>
            <a:ext cx="57150" cy="57150"/>
          </a:xfrm>
          <a:prstGeom prst="rect">
            <a:avLst/>
          </a:prstGeom>
          <a:solidFill>
            <a:srgbClr val="B68757"/>
          </a:solidFill>
          <a:ln/>
        </p:spPr>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sp>
      <p:sp>
        <p:nvSpPr>
          <p:cNvPr id="12" name="Shape e15"/>
          <p:cNvSpPr/>
          <p:nvPr/>
        </p:nvSpPr>
        <p:spPr>
          <a:xfrm>
            <a:off x="609630" y="4410060"/>
            <a:ext cx="57150" cy="57150"/>
          </a:xfrm>
          <a:prstGeom prst="rect">
            <a:avLst/>
          </a:prstGeom>
          <a:solidFill>
            <a:srgbClr val="B68757"/>
          </a:solidFill>
          <a:ln/>
        </p:spPr>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sp>
      <p:sp>
        <p:nvSpPr>
          <p:cNvPr id="15" name="Shape e18"/>
          <p:cNvSpPr/>
          <p:nvPr/>
        </p:nvSpPr>
        <p:spPr>
          <a:xfrm>
            <a:off x="609630" y="4752960"/>
            <a:ext cx="57150" cy="57150"/>
          </a:xfrm>
          <a:prstGeom prst="rect">
            <a:avLst/>
          </a:prstGeom>
          <a:solidFill>
            <a:srgbClr val="B68757"/>
          </a:solidFill>
          <a:ln/>
        </p:spPr>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sp>
      <p:sp>
        <p:nvSpPr>
          <p:cNvPr id="18" name="Shape e21"/>
          <p:cNvSpPr/>
          <p:nvPr/>
        </p:nvSpPr>
        <p:spPr>
          <a:xfrm>
            <a:off x="609630" y="5095860"/>
            <a:ext cx="57150" cy="57150"/>
          </a:xfrm>
          <a:prstGeom prst="rect">
            <a:avLst/>
          </a:prstGeom>
          <a:solidFill>
            <a:srgbClr val="B68757"/>
          </a:solidFill>
          <a:ln/>
        </p:spPr>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Owners considering a sale, a recapitalization or a growth partnership in any of the five segments, and the accountants, attorneys and wealth advisors who work with them, are welcome to call or write.</a:t>
            </a:r>
            <a:endParaRPr lang="en-US" sz="1050" dirty="0"/>
          </a:p>
        </p:txBody>
      </p:sp>
      <p:sp>
        <p:nvSpPr>
          <p:cNvPr id="12" name="Shape e14"/>
          <p:cNvSpPr/>
          <p:nvPr/>
        </p:nvSpPr>
        <p:spPr>
          <a:xfrm>
            <a:off x="419070" y="4533870"/>
            <a:ext cx="4762470" cy="1323960"/>
          </a:xfrm>
          <a:prstGeom prst="rect">
            <a:avLst/>
          </a:prstGeom>
          <a:solidFill>
            <a:srgbClr val="FAF7F3"/>
          </a:solidFill>
          <a:ln/>
        </p:spPr>
      </p:sp>
      <p:sp>
        <p:nvSpPr>
          <p:cNvPr id="13" name="Shape e14s0"/>
          <p:cNvSpPr/>
          <p:nvPr/>
        </p:nvSpPr>
        <p:spPr>
          <a:xfrm>
            <a:off x="419070" y="4533870"/>
            <a:ext cx="4762470" cy="28621"/>
          </a:xfrm>
          <a:prstGeom prst="rect">
            <a:avLst/>
          </a:prstGeom>
          <a:solidFill>
            <a:srgbClr val="B68757"/>
          </a:solidFill>
          <a:ln/>
        </p:spPr>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 BENCHMARK CAPITAL MARKETS</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FULL Q4 2026 REPORT</a:t>
            </a:r>
            <a:endParaRPr lang="en-US" sz="700" dirty="0"/>
          </a:p>
        </p:txBody>
      </p:sp>
      <p:sp>
        <p:nvSpPr>
          <p:cNvPr id="22" name="Shape e23"/>
          <p:cNvSpPr/>
          <p:nvPr/>
        </p:nvSpPr>
        <p:spPr>
          <a:xfrm>
            <a:off x="5848320" y="1238280"/>
            <a:ext cx="3790920" cy="5695980"/>
          </a:xfrm>
          <a:prstGeom prst="rect">
            <a:avLst/>
          </a:prstGeom>
          <a:solidFill>
            <a:srgbClr val="1B1A1A"/>
          </a:solidFill>
          <a:ln/>
        </p:spPr>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4" name="Shape e26"/>
          <p:cNvSpPr/>
          <p:nvPr/>
        </p:nvSpPr>
        <p:spPr>
          <a:xfrm>
            <a:off x="6076920" y="5429250"/>
            <a:ext cx="3333720" cy="1276320"/>
          </a:xfrm>
          <a:prstGeom prst="rect">
            <a:avLst/>
          </a:prstGeom>
          <a:solidFill>
            <a:srgbClr val="FFFFFF">
              <a:alpha val="0"/>
            </a:srgbClr>
          </a:solidFill>
          <a:ln w="12700">
            <a:solidFill>
              <a:srgbClr val="D3AE84"/>
            </a:solidFill>
            <a:prstDash val="dash"/>
          </a:ln>
        </p:spPr>
      </p:sp>
      <p:sp>
        <p:nvSpPr>
          <p:cNvPr id="25" name="Text e27"/>
          <p:cNvSpPr txBox="1"/>
          <p:nvPr/>
        </p:nvSpPr>
        <p:spPr>
          <a:xfrm>
            <a:off x="6257971" y="5591190"/>
            <a:ext cx="106811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UPCOMING EVENT</a:t>
            </a:r>
            <a:endParaRPr lang="en-US" sz="700" dirty="0"/>
          </a:p>
        </p:txBody>
      </p:sp>
      <p:sp>
        <p:nvSpPr>
          <p:cNvPr id="26" name="Text e28"/>
          <p:cNvSpPr txBox="1"/>
          <p:nvPr/>
        </p:nvSpPr>
        <p:spPr>
          <a:xfrm>
            <a:off x="6257971" y="5772150"/>
            <a:ext cx="2684404" cy="247620"/>
          </a:xfrm>
          <a:prstGeom prst="rect">
            <a:avLst/>
          </a:prstGeom>
          <a:noFill/>
          <a:ln/>
        </p:spPr>
        <p:txBody>
          <a:bodyPr wrap="none" lIns="0" tIns="0" rIns="0" bIns="0" rtlCol="0" anchor="t"/>
          <a:lstStyle/>
          <a:p>
            <a:pPr algn="l" indent="0" marL="0">
              <a:lnSpc>
                <a:spcPts val="1950"/>
              </a:lnSpc>
              <a:buNone/>
            </a:pPr>
            <a:r>
              <a:rPr lang="en-US" sz="1500" b="1" dirty="0">
                <a:solidFill>
                  <a:srgbClr val="FFFFFF"/>
                </a:solidFill>
                <a:latin typeface="+mj-lt" pitchFamily="34" charset="0"/>
              </a:rPr>
              <a:t>Event name, dates and location</a:t>
            </a:r>
            <a:endParaRPr lang="en-US" sz="1500" dirty="0"/>
          </a:p>
        </p:txBody>
      </p:sp>
      <p:sp>
        <p:nvSpPr>
          <p:cNvPr id="27" name="Text e29"/>
          <p:cNvSpPr txBox="1"/>
          <p:nvPr/>
        </p:nvSpPr>
        <p:spPr>
          <a:xfrm>
            <a:off x="6257971" y="6057900"/>
            <a:ext cx="2971800" cy="485821"/>
          </a:xfrm>
          <a:prstGeom prst="rect">
            <a:avLst/>
          </a:prstGeom>
          <a:noFill/>
          <a:ln/>
        </p:spPr>
        <p:txBody>
          <a:bodyPr wrap="square" lIns="0" tIns="0" rIns="0" bIns="0" rtlCol="0" anchor="t"/>
          <a:lstStyle/>
          <a:p>
            <a:pPr algn="l" indent="0" marL="0">
              <a:lnSpc>
                <a:spcPts val="1300"/>
              </a:lnSpc>
              <a:buNone/>
            </a:pPr>
            <a:r>
              <a:rPr lang="en-US" sz="850" dirty="0">
                <a:solidFill>
                  <a:srgbClr val="E8E2DA"/>
                </a:solidFill>
                <a:latin typeface="+mn-lt" pitchFamily="34" charset="0"/>
              </a:rPr>
              <a:t>This panel is reserved for the next conference or event where the Benchmark Capital Markets team will be meeting business services owners.</a:t>
            </a:r>
            <a:endParaRPr lang="en-US" sz="850" dirty="0"/>
          </a:p>
        </p:txBody>
      </p:sp>
      <p:sp>
        <p:nvSpPr>
          <p:cNvPr id="28" name="Shape e30"/>
          <p:cNvSpPr/>
          <p:nvPr/>
        </p:nvSpPr>
        <p:spPr>
          <a:xfrm>
            <a:off x="419070" y="7029450"/>
            <a:ext cx="9220170" cy="9510"/>
          </a:xfrm>
          <a:prstGeom prst="ellipse">
            <a:avLst/>
          </a:prstGeom>
          <a:solidFill>
            <a:srgbClr val="E3DCD3"/>
          </a:solidFill>
          <a:ln/>
        </p:spPr>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Capital Markets,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Benchmark Capital Markets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2038380" cy="5695980"/>
          </a:xfrm>
          <a:prstGeom prst="rect">
            <a:avLst/>
          </a:prstGeom>
          <a:solidFill>
            <a:srgbClr val="1B1A1A"/>
          </a:solidFill>
          <a:ln/>
        </p:spPr>
      </p:sp>
      <p:pic>
        <p:nvPicPr>
          <p:cNvPr id="9" name="Picture e10" descr="/tmp/claude-0/-home-claude-about/79682efa-f64a-5682-a2ae-625886ef5313/scratchpad/brief/pptx/media/s18_01.png">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Benchmark Capital Markets</a:t>
            </a:r>
            <a:endParaRPr lang="en-US" sz="1750" dirty="0"/>
          </a:p>
        </p:txBody>
      </p:sp>
      <p:sp>
        <p:nvSpPr>
          <p:cNvPr id="11" name="Shape e13"/>
          <p:cNvSpPr/>
          <p:nvPr/>
        </p:nvSpPr>
        <p:spPr>
          <a:xfrm>
            <a:off x="609630" y="2114550"/>
            <a:ext cx="533370" cy="19020"/>
          </a:xfrm>
          <a:prstGeom prst="rect">
            <a:avLst/>
          </a:prstGeom>
          <a:solidFill>
            <a:srgbClr val="B68757"/>
          </a:solidFill>
          <a:ln/>
        </p:spPr>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in sales, recapitalizations and growth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sp>
      <p:sp>
        <p:nvSpPr>
          <p:cNvPr id="24" name="Shape e28s0"/>
          <p:cNvSpPr/>
          <p:nvPr/>
        </p:nvSpPr>
        <p:spPr>
          <a:xfrm>
            <a:off x="2628900" y="1238280"/>
            <a:ext cx="1652595" cy="28621"/>
          </a:xfrm>
          <a:prstGeom prst="rect">
            <a:avLst/>
          </a:prstGeom>
          <a:solidFill>
            <a:srgbClr val="B68757"/>
          </a:solidFill>
          <a:ln/>
        </p:spPr>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sp>
      <p:sp>
        <p:nvSpPr>
          <p:cNvPr id="29" name="Shape e32s0"/>
          <p:cNvSpPr/>
          <p:nvPr/>
        </p:nvSpPr>
        <p:spPr>
          <a:xfrm>
            <a:off x="4414815" y="1238280"/>
            <a:ext cx="1652595" cy="28621"/>
          </a:xfrm>
          <a:prstGeom prst="rect">
            <a:avLst/>
          </a:prstGeom>
          <a:solidFill>
            <a:srgbClr val="B68757"/>
          </a:solidFill>
          <a:ln/>
        </p:spPr>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sp>
      <p:sp>
        <p:nvSpPr>
          <p:cNvPr id="35" name="Shape e37s0"/>
          <p:cNvSpPr/>
          <p:nvPr/>
        </p:nvSpPr>
        <p:spPr>
          <a:xfrm>
            <a:off x="6200821" y="1238280"/>
            <a:ext cx="1652595" cy="28621"/>
          </a:xfrm>
          <a:prstGeom prst="rect">
            <a:avLst/>
          </a:prstGeom>
          <a:solidFill>
            <a:srgbClr val="B68757"/>
          </a:solidFill>
          <a:ln/>
        </p:spPr>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sp>
      <p:sp>
        <p:nvSpPr>
          <p:cNvPr id="40" name="Shape e41s0"/>
          <p:cNvSpPr/>
          <p:nvPr/>
        </p:nvSpPr>
        <p:spPr>
          <a:xfrm>
            <a:off x="7986735" y="1238280"/>
            <a:ext cx="1652595" cy="28621"/>
          </a:xfrm>
          <a:prstGeom prst="rect">
            <a:avLst/>
          </a:prstGeom>
          <a:solidFill>
            <a:srgbClr val="B68757"/>
          </a:solidFill>
          <a:ln/>
        </p:spPr>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3365"/>
            <a:ext cx="834481"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395795"/>
            <a:ext cx="105092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3365"/>
            <a:ext cx="840242"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395795"/>
            <a:ext cx="105092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3365"/>
            <a:ext cx="751545"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395795"/>
            <a:ext cx="950885"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3955"/>
            <a:ext cx="919338"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86385"/>
            <a:ext cx="137160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3955"/>
            <a:ext cx="8800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86385"/>
            <a:ext cx="137160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0615"/>
            <a:ext cx="654528"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3045"/>
            <a:ext cx="634136"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descr="/tmp/claude-0/-home-claude-about/79682efa-f64a-5682-a2ae-625886ef5313/scratchpad/brief/pptx/media/s18_12.png">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descr="/tmp/claude-0/-home-claude-about/79682efa-f64a-5682-a2ae-625886ef5313/scratchpad/brief/pptx/media/s18_13.png">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descr="/tmp/claude-0/-home-claude-about/79682efa-f64a-5682-a2ae-625886ef5313/scratchpad/brief/pptx/media/s18_14.png">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descr="/tmp/claude-0/-home-claude-about/79682efa-f64a-5682-a2ae-625886ef5313/scratchpad/brief/pptx/media/s18_15.png">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descr="/tmp/claude-0/-home-claude-about/79682efa-f64a-5682-a2ae-625886ef5313/scratchpad/brief/pptx/media/s18_16.png">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Benchmark Capital Markets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Benchmark Capital Markets focused on five industries.</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Shape e9"/>
          <p:cNvSpPr/>
          <p:nvPr/>
        </p:nvSpPr>
        <p:spPr>
          <a:xfrm>
            <a:off x="419070" y="1238280"/>
            <a:ext cx="9220170" cy="2286000"/>
          </a:xfrm>
          <a:prstGeom prst="rect">
            <a:avLst/>
          </a:prstGeom>
          <a:solidFill>
            <a:srgbClr val="1B1A1A"/>
          </a:solidFill>
          <a:ln/>
        </p:spPr>
      </p:sp>
      <p:pic>
        <p:nvPicPr>
          <p:cNvPr id="9" name="Picture e10" descr="/tmp/claude-0/-home-claude-about/79682efa-f64a-5682-a2ae-625886ef5313/scratchpad/brief/pptx/media/s19_01.png">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Benchmark Capital Markets (BCM) is the part of Benchmark International that advises owners of privately held companies on sales, recapitalizations and growth partnerships across five industries.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Benchmark Capital Markets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industry groups with dedicated sector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sp>
      <p:sp>
        <p:nvSpPr>
          <p:cNvPr id="26" name="Shape e30s0"/>
          <p:cNvSpPr/>
          <p:nvPr/>
        </p:nvSpPr>
        <p:spPr>
          <a:xfrm>
            <a:off x="419070" y="3924330"/>
            <a:ext cx="2205076" cy="28621"/>
          </a:xfrm>
          <a:prstGeom prst="rect">
            <a:avLst/>
          </a:prstGeom>
          <a:solidFill>
            <a:srgbClr val="B68757"/>
          </a:solidFill>
          <a:ln/>
        </p:spPr>
      </p:sp>
      <p:sp>
        <p:nvSpPr>
          <p:cNvPr id="27" name="Shape e30s1"/>
          <p:cNvSpPr/>
          <p:nvPr/>
        </p:nvSpPr>
        <p:spPr>
          <a:xfrm>
            <a:off x="2614635" y="3924330"/>
            <a:ext cx="9510" cy="1466880"/>
          </a:xfrm>
          <a:prstGeom prst="rect">
            <a:avLst/>
          </a:prstGeom>
          <a:solidFill>
            <a:srgbClr val="E3DCD3"/>
          </a:solidFill>
          <a:ln/>
        </p:spPr>
      </p:sp>
      <p:sp>
        <p:nvSpPr>
          <p:cNvPr id="28" name="Shape e30s2"/>
          <p:cNvSpPr/>
          <p:nvPr/>
        </p:nvSpPr>
        <p:spPr>
          <a:xfrm>
            <a:off x="419070" y="5381610"/>
            <a:ext cx="2205076" cy="9510"/>
          </a:xfrm>
          <a:prstGeom prst="rect">
            <a:avLst/>
          </a:prstGeom>
          <a:solidFill>
            <a:srgbClr val="E3DCD3"/>
          </a:solidFill>
          <a:ln/>
        </p:spPr>
      </p:sp>
      <p:sp>
        <p:nvSpPr>
          <p:cNvPr id="29" name="Shape e30s3"/>
          <p:cNvSpPr/>
          <p:nvPr/>
        </p:nvSpPr>
        <p:spPr>
          <a:xfrm>
            <a:off x="419070" y="3924330"/>
            <a:ext cx="9510" cy="1466880"/>
          </a:xfrm>
          <a:prstGeom prst="rect">
            <a:avLst/>
          </a:prstGeom>
          <a:solidFill>
            <a:srgbClr val="E3DCD3"/>
          </a:solidFill>
          <a:ln/>
        </p:spPr>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sp>
      <p:sp>
        <p:nvSpPr>
          <p:cNvPr id="32" name="Shape e32s0"/>
          <p:cNvSpPr/>
          <p:nvPr/>
        </p:nvSpPr>
        <p:spPr>
          <a:xfrm>
            <a:off x="2757465" y="3924330"/>
            <a:ext cx="2205076" cy="28621"/>
          </a:xfrm>
          <a:prstGeom prst="rect">
            <a:avLst/>
          </a:prstGeom>
          <a:solidFill>
            <a:srgbClr val="B68757"/>
          </a:solidFill>
          <a:ln/>
        </p:spPr>
      </p:sp>
      <p:sp>
        <p:nvSpPr>
          <p:cNvPr id="33" name="Shape e32s1"/>
          <p:cNvSpPr/>
          <p:nvPr/>
        </p:nvSpPr>
        <p:spPr>
          <a:xfrm>
            <a:off x="4953030" y="3924330"/>
            <a:ext cx="9510" cy="1466880"/>
          </a:xfrm>
          <a:prstGeom prst="rect">
            <a:avLst/>
          </a:prstGeom>
          <a:solidFill>
            <a:srgbClr val="E3DCD3"/>
          </a:solidFill>
          <a:ln/>
        </p:spPr>
      </p:sp>
      <p:sp>
        <p:nvSpPr>
          <p:cNvPr id="34" name="Shape e32s2"/>
          <p:cNvSpPr/>
          <p:nvPr/>
        </p:nvSpPr>
        <p:spPr>
          <a:xfrm>
            <a:off x="2757465" y="5381610"/>
            <a:ext cx="2205076" cy="9510"/>
          </a:xfrm>
          <a:prstGeom prst="rect">
            <a:avLst/>
          </a:prstGeom>
          <a:solidFill>
            <a:srgbClr val="E3DCD3"/>
          </a:solidFill>
          <a:ln/>
        </p:spPr>
      </p:sp>
      <p:sp>
        <p:nvSpPr>
          <p:cNvPr id="35" name="Shape e32s3"/>
          <p:cNvSpPr/>
          <p:nvPr/>
        </p:nvSpPr>
        <p:spPr>
          <a:xfrm>
            <a:off x="2757465" y="3924330"/>
            <a:ext cx="9510" cy="1466880"/>
          </a:xfrm>
          <a:prstGeom prst="rect">
            <a:avLst/>
          </a:prstGeom>
          <a:solidFill>
            <a:srgbClr val="E3DCD3"/>
          </a:solidFill>
          <a:ln/>
        </p:spPr>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sp>
      <p:sp>
        <p:nvSpPr>
          <p:cNvPr id="38" name="Shape e34s0"/>
          <p:cNvSpPr/>
          <p:nvPr/>
        </p:nvSpPr>
        <p:spPr>
          <a:xfrm>
            <a:off x="5095860" y="3924330"/>
            <a:ext cx="2205076" cy="28621"/>
          </a:xfrm>
          <a:prstGeom prst="rect">
            <a:avLst/>
          </a:prstGeom>
          <a:solidFill>
            <a:srgbClr val="B68757"/>
          </a:solidFill>
          <a:ln/>
        </p:spPr>
      </p:sp>
      <p:sp>
        <p:nvSpPr>
          <p:cNvPr id="39" name="Shape e34s1"/>
          <p:cNvSpPr/>
          <p:nvPr/>
        </p:nvSpPr>
        <p:spPr>
          <a:xfrm>
            <a:off x="7291426" y="3924330"/>
            <a:ext cx="9510" cy="1466880"/>
          </a:xfrm>
          <a:prstGeom prst="rect">
            <a:avLst/>
          </a:prstGeom>
          <a:solidFill>
            <a:srgbClr val="E3DCD3"/>
          </a:solidFill>
          <a:ln/>
        </p:spPr>
      </p:sp>
      <p:sp>
        <p:nvSpPr>
          <p:cNvPr id="40" name="Shape e34s2"/>
          <p:cNvSpPr/>
          <p:nvPr/>
        </p:nvSpPr>
        <p:spPr>
          <a:xfrm>
            <a:off x="5095860" y="5381610"/>
            <a:ext cx="2205076" cy="9510"/>
          </a:xfrm>
          <a:prstGeom prst="rect">
            <a:avLst/>
          </a:prstGeom>
          <a:solidFill>
            <a:srgbClr val="E3DCD3"/>
          </a:solidFill>
          <a:ln/>
        </p:spPr>
      </p:sp>
      <p:sp>
        <p:nvSpPr>
          <p:cNvPr id="41" name="Shape e34s3"/>
          <p:cNvSpPr/>
          <p:nvPr/>
        </p:nvSpPr>
        <p:spPr>
          <a:xfrm>
            <a:off x="5095860" y="3924330"/>
            <a:ext cx="9510" cy="1466880"/>
          </a:xfrm>
          <a:prstGeom prst="rect">
            <a:avLst/>
          </a:prstGeom>
          <a:solidFill>
            <a:srgbClr val="E3DCD3"/>
          </a:solidFill>
          <a:ln/>
        </p:spPr>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sp>
      <p:sp>
        <p:nvSpPr>
          <p:cNvPr id="44" name="Shape e36s0"/>
          <p:cNvSpPr/>
          <p:nvPr/>
        </p:nvSpPr>
        <p:spPr>
          <a:xfrm>
            <a:off x="7434255" y="3924330"/>
            <a:ext cx="2205076" cy="28621"/>
          </a:xfrm>
          <a:prstGeom prst="rect">
            <a:avLst/>
          </a:prstGeom>
          <a:solidFill>
            <a:srgbClr val="B68757"/>
          </a:solidFill>
          <a:ln/>
        </p:spPr>
      </p:sp>
      <p:sp>
        <p:nvSpPr>
          <p:cNvPr id="45" name="Shape e36s1"/>
          <p:cNvSpPr/>
          <p:nvPr/>
        </p:nvSpPr>
        <p:spPr>
          <a:xfrm>
            <a:off x="9629821" y="3924330"/>
            <a:ext cx="9510" cy="1466880"/>
          </a:xfrm>
          <a:prstGeom prst="rect">
            <a:avLst/>
          </a:prstGeom>
          <a:solidFill>
            <a:srgbClr val="E3DCD3"/>
          </a:solidFill>
          <a:ln/>
        </p:spPr>
      </p:sp>
      <p:sp>
        <p:nvSpPr>
          <p:cNvPr id="46" name="Shape e36s2"/>
          <p:cNvSpPr/>
          <p:nvPr/>
        </p:nvSpPr>
        <p:spPr>
          <a:xfrm>
            <a:off x="7434255" y="5381610"/>
            <a:ext cx="2205076" cy="9510"/>
          </a:xfrm>
          <a:prstGeom prst="rect">
            <a:avLst/>
          </a:prstGeom>
          <a:solidFill>
            <a:srgbClr val="E3DCD3"/>
          </a:solidFill>
          <a:ln/>
        </p:spPr>
      </p:sp>
      <p:sp>
        <p:nvSpPr>
          <p:cNvPr id="47" name="Shape e36s3"/>
          <p:cNvSpPr/>
          <p:nvPr/>
        </p:nvSpPr>
        <p:spPr>
          <a:xfrm>
            <a:off x="7434255" y="3924330"/>
            <a:ext cx="9510" cy="1466880"/>
          </a:xfrm>
          <a:prstGeom prst="rect">
            <a:avLst/>
          </a:prstGeom>
          <a:solidFill>
            <a:srgbClr val="E3DCD3"/>
          </a:solidFill>
          <a:ln/>
        </p:spPr>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INDUSTRY GROUPS</a:t>
            </a:r>
            <a:endParaRPr lang="en-US" sz="700" dirty="0"/>
          </a:p>
        </p:txBody>
      </p:sp>
      <p:sp>
        <p:nvSpPr>
          <p:cNvPr id="50" name="Shape e41"/>
          <p:cNvSpPr/>
          <p:nvPr/>
        </p:nvSpPr>
        <p:spPr>
          <a:xfrm>
            <a:off x="419070" y="6429421"/>
            <a:ext cx="1752630" cy="504840"/>
          </a:xfrm>
          <a:prstGeom prst="rect">
            <a:avLst/>
          </a:prstGeom>
          <a:solidFill>
            <a:srgbClr val="FAF7F3"/>
          </a:solidFill>
          <a:ln/>
        </p:spPr>
      </p:sp>
      <p:sp>
        <p:nvSpPr>
          <p:cNvPr id="51" name="Shape e41s0"/>
          <p:cNvSpPr/>
          <p:nvPr/>
        </p:nvSpPr>
        <p:spPr>
          <a:xfrm>
            <a:off x="419070" y="6429421"/>
            <a:ext cx="1752630" cy="28621"/>
          </a:xfrm>
          <a:prstGeom prst="rect">
            <a:avLst/>
          </a:prstGeom>
          <a:solidFill>
            <a:srgbClr val="B68757"/>
          </a:solidFill>
          <a:ln/>
        </p:spPr>
      </p:sp>
      <p:pic>
        <p:nvPicPr>
          <p:cNvPr id="52" name="Icon e42" descr="/tmp/claude-0/-home-claude-about/79682efa-f64a-5682-a2ae-625886ef5313/scratchpad/brief/pptx/media/s19_07.png">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sp>
      <p:sp>
        <p:nvSpPr>
          <p:cNvPr id="55" name="Shape e44s0"/>
          <p:cNvSpPr/>
          <p:nvPr/>
        </p:nvSpPr>
        <p:spPr>
          <a:xfrm>
            <a:off x="2286000" y="6429421"/>
            <a:ext cx="1752630" cy="28621"/>
          </a:xfrm>
          <a:prstGeom prst="rect">
            <a:avLst/>
          </a:prstGeom>
          <a:solidFill>
            <a:srgbClr val="1B1A1A"/>
          </a:solidFill>
          <a:ln/>
        </p:spPr>
      </p:sp>
      <p:pic>
        <p:nvPicPr>
          <p:cNvPr id="56" name="Icon e45" descr="/tmp/claude-0/-home-claude-about/79682efa-f64a-5682-a2ae-625886ef5313/scratchpad/brief/pptx/media/s19_08.png">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sp>
      <p:sp>
        <p:nvSpPr>
          <p:cNvPr id="59" name="Shape e47s0"/>
          <p:cNvSpPr/>
          <p:nvPr/>
        </p:nvSpPr>
        <p:spPr>
          <a:xfrm>
            <a:off x="4152930" y="6429421"/>
            <a:ext cx="1752630" cy="28621"/>
          </a:xfrm>
          <a:prstGeom prst="rect">
            <a:avLst/>
          </a:prstGeom>
          <a:solidFill>
            <a:srgbClr val="B68757"/>
          </a:solidFill>
          <a:ln/>
        </p:spPr>
      </p:sp>
      <p:pic>
        <p:nvPicPr>
          <p:cNvPr id="60" name="Icon e48" descr="/tmp/claude-0/-home-claude-about/79682efa-f64a-5682-a2ae-625886ef5313/scratchpad/brief/pptx/media/s19_09.png">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sp>
      <p:sp>
        <p:nvSpPr>
          <p:cNvPr id="63" name="Shape e50s0"/>
          <p:cNvSpPr/>
          <p:nvPr/>
        </p:nvSpPr>
        <p:spPr>
          <a:xfrm>
            <a:off x="6019770" y="6429421"/>
            <a:ext cx="1752630" cy="28621"/>
          </a:xfrm>
          <a:prstGeom prst="rect">
            <a:avLst/>
          </a:prstGeom>
          <a:solidFill>
            <a:srgbClr val="B68757"/>
          </a:solidFill>
          <a:ln/>
        </p:spPr>
      </p:sp>
      <p:pic>
        <p:nvPicPr>
          <p:cNvPr id="64" name="Icon e51" descr="/tmp/claude-0/-home-claude-about/79682efa-f64a-5682-a2ae-625886ef5313/scratchpad/brief/pptx/media/s19_10.png">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sp>
      <p:sp>
        <p:nvSpPr>
          <p:cNvPr id="67" name="Shape e53s0"/>
          <p:cNvSpPr/>
          <p:nvPr/>
        </p:nvSpPr>
        <p:spPr>
          <a:xfrm>
            <a:off x="7886700" y="6429421"/>
            <a:ext cx="1752630" cy="28621"/>
          </a:xfrm>
          <a:prstGeom prst="rect">
            <a:avLst/>
          </a:prstGeom>
          <a:solidFill>
            <a:srgbClr val="B68757"/>
          </a:solidFill>
          <a:ln/>
        </p:spPr>
      </p:sp>
      <p:pic>
        <p:nvPicPr>
          <p:cNvPr id="68" name="Icon e54" descr="/tmp/claude-0/-home-claude-about/79682efa-f64a-5682-a2ae-625886ef5313/scratchpad/brief/pptx/media/s19_11.png">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Benchmark Capital Markets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Benchmark Capital Markets (BCM)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SEGMENTS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full Q4 2026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full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full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LANDSCAPE: SELECT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full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Sector Brief</dc:title>
  <dc:subject>Quarterly sector brief, Q4 2026</dc:subject>
  <dc:creator>Jared Hardin, Benchmark Capital Markets</dc:creator>
  <cp:lastModifiedBy>Jared Hardin, Benchmark Capital Markets</cp:lastModifiedBy>
  <cp:revision>1</cp:revision>
  <dcterms:created xsi:type="dcterms:W3CDTF">2026-10-12T16:54:45Z</dcterms:created>
  <dcterms:modified xsi:type="dcterms:W3CDTF">2026-10-12T16:54:45Z</dcterms:modified>
</cp:coreProperties>
</file>