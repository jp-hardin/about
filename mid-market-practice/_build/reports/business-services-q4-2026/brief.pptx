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segment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 Id="rId10" Type="http://schemas.openxmlformats.org/officeDocument/2006/relationships/hyperlink" Target="https://www.linkedin.com/in/jared-p-hardin" TargetMode="Externa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https://www.linkedin.com/in/jordanhoutz" TargetMode="External"/><Relationship Id="rId24" Type="http://schemas.openxmlformats.org/officeDocument/2006/relationships/hyperlink" Target="https://www.linkedin.com/in/jared-p-hardin" TargetMode="External"/><Relationship Id="rId25" Type="http://schemas.openxmlformats.org/officeDocument/2006/relationships/hyperlink" Target="tel:8138982372" TargetMode="External"/><Relationship Id="rId26" Type="http://schemas.openxmlformats.org/officeDocument/2006/relationships/hyperlink" Target="mailto:azykov@benchmarkintl.com" TargetMode="External"/><Relationship Id="rId27" Type="http://schemas.openxmlformats.org/officeDocument/2006/relationships/hyperlink" Target="https://www.linkedin.com/in/alex-zykov-787646b" TargetMode="External"/><Relationship Id="rId28" Type="http://schemas.openxmlformats.org/officeDocument/2006/relationships/hyperlink" Target="tel:8138982397" TargetMode="External"/><Relationship Id="rId29" Type="http://schemas.openxmlformats.org/officeDocument/2006/relationships/hyperlink" Target="mailto:hess@benchmarkintl.com" TargetMode="External"/><Relationship Id="rId30" Type="http://schemas.openxmlformats.org/officeDocument/2006/relationships/hyperlink" Target="https://www.linkedin.com/in/shannon-l-hess" TargetMode="External"/><Relationship Id="rId31" Type="http://schemas.openxmlformats.org/officeDocument/2006/relationships/hyperlink" Target="tel:8138982357" TargetMode="External"/><Relationship Id="rId32" Type="http://schemas.openxmlformats.org/officeDocument/2006/relationships/hyperlink" Target="mailto:garten@benchmarkintl.com" TargetMode="External"/><Relationship Id="rId33" Type="http://schemas.openxmlformats.org/officeDocument/2006/relationships/hyperlink" Target="https://www.linkedin.com/in/sunny-yang-garten-28a11010" TargetMode="External"/><Relationship Id="rId34" Type="http://schemas.openxmlformats.org/officeDocument/2006/relationships/hyperlink" Target="tel:8133844972" TargetMode="External"/><Relationship Id="rId35" Type="http://schemas.openxmlformats.org/officeDocument/2006/relationships/hyperlink" Target="mailto:mwynn@benchmarkintl.com" TargetMode="External"/><Relationship Id="rId36" Type="http://schemas.openxmlformats.org/officeDocument/2006/relationships/hyperlink" Target="tel:8133876046" TargetMode="External"/><Relationship Id="rId37" Type="http://schemas.openxmlformats.org/officeDocument/2006/relationships/hyperlink" Target="mailto:abarr@benchmarkintl.com" TargetMode="External"/><Relationship Id="rId38" Type="http://schemas.openxmlformats.org/officeDocument/2006/relationships/hyperlink" Target="https://www.linkedin.com/in/alexandra-barr-400531104" TargetMode="External"/><Relationship Id="rId39" Type="http://schemas.openxmlformats.org/officeDocument/2006/relationships/hyperlink" Target="tel:8138982398" TargetMode="External"/><Relationship Id="rId40" Type="http://schemas.openxmlformats.org/officeDocument/2006/relationships/hyperlink" Target="mailto:jwarren@benchmarkintl.com" TargetMode="External"/><Relationship Id="rId41" Type="http://schemas.openxmlformats.org/officeDocument/2006/relationships/hyperlink" Target="https://www.linkedin.com/in/josiah-warren" TargetMode="External"/><Relationship Id="rId42" Type="http://schemas.openxmlformats.org/officeDocument/2006/relationships/hyperlink" Target="tel:8137716318" TargetMode="External"/><Relationship Id="rId43" Type="http://schemas.openxmlformats.org/officeDocument/2006/relationships/hyperlink" Target="mailto:lernst@benchmarkintl.com" TargetMode="External"/><Relationship Id="rId44" Type="http://schemas.openxmlformats.org/officeDocument/2006/relationships/hyperlink" Target="https://www.linkedin.com/in/lukesernst" TargetMode="External"/><Relationship Id="rId45" Type="http://schemas.openxmlformats.org/officeDocument/2006/relationships/hyperlink" Target="mailto:mm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descr="/tmp/claude-0/-home-claude-about/79682efa-f64a-5682-a2ae-625886ef5313/scratchpad/brief/pptx/media/s01_02.png">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SECTOR REPORT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segments,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SECTOR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the buyer landscape</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2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1900946"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8176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Key trends in business services</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77997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Perspectives on five segments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1657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What we're reading</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582003"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Feature: fire and life safety</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segments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descr="/tmp/claude-0/-home-claude-about/79682efa-f64a-5682-a2ae-625886ef5313/scratchpad/brief/pptx/media/s03_01.png">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descr="/tmp/claude-0/-home-claude-about/79682efa-f64a-5682-a2ae-625886ef5313/scratchpad/brief/pptx/media/s03_02.png">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descr="/tmp/claude-0/-home-claude-about/79682efa-f64a-5682-a2ae-625886ef5313/scratchpad/brief/pptx/media/s03_03.png">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descr="/tmp/claude-0/-home-claude-about/79682efa-f64a-5682-a2ae-625886ef5313/scratchpad/brief/pptx/media/s03_04.png">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descr="/tmp/claude-0/-home-claude-about/79682efa-f64a-5682-a2ae-625886ef5313/scratchpad/brief/pptx/media/s03_05.png">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the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descr="/tmp/claude-0/-home-claude-about/79682efa-f64a-5682-a2ae-625886ef5313/scratchpad/brief/pptx/media/s03_06.png">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Segments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segment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descr="/tmp/claude-0/-home-claude-about/79682efa-f64a-5682-a2ae-625886ef5313/scratchpad/brief/pptx/media/s04_02.png">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descr="/tmp/claude-0/-home-claude-about/79682efa-f64a-5682-a2ae-625886ef5313/scratchpad/brief/pptx/media/s04_04.png">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specialists with data or a vertical focus are in demand.</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descr="/tmp/claude-0/-home-claude-about/79682efa-f64a-5682-a2ae-625886ef5313/scratchpad/brief/pptx/media/s04_06.png">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descr="/tmp/claude-0/-home-claude-about/79682efa-f64a-5682-a2ae-625886ef5313/scratchpad/brief/pptx/media/s04_08.png">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descr="/tmp/claude-0/-home-claude-about/79682efa-f64a-5682-a2ae-625886ef5313/scratchpad/brief/pptx/media/s04_10.png">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SEGMENTS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 and cited in the </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full Q4 2026 report</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fell 0.5%, and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SECTOR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eighteen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7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Sector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Landscape of select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descr="/tmp/claude-0/-home-claude-about/79682efa-f64a-5682-a2ae-625886ef5313/scratchpad/brief/pptx/media/s08_07.png">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descr="/tmp/claude-0/-home-claude-about/79682efa-f64a-5682-a2ae-625886ef5313/scratchpad/brief/pptx/media/s08_08.png">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descr="/tmp/claude-0/-home-claude-about/79682efa-f64a-5682-a2ae-625886ef5313/scratchpad/brief/pptx/media/s08_09.png">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segment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The 2026 forecast for industrial staffing revenue was raised to growth of 7% from 1% in September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report. Company names are the property of their owners. Transactions advised by Benchmark International follow on the next page, and further transactions in each segment are in the </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segments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sellers named in the full report,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 and the rest are in the </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segments, and each segment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segment</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segment.</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segment with a published figure, between 7 and 12 companies a segment.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descr="/tmp/claude-0/-home-claude-about/79682efa-f64a-5682-a2ae-625886ef5313/scratchpad/brief/pptx/media/s13_01.png">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descr="/tmp/claude-0/-home-claude-about/79682efa-f64a-5682-a2ae-625886ef5313/scratchpad/brief/pptx/media/s13_02.png">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descr="/tmp/claude-0/-home-claude-about/79682efa-f64a-5682-a2ae-625886ef5313/scratchpad/brief/pptx/media/s13_03.png">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Landscape: Select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segment,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descr="/tmp/claude-0/-home-claude-about/79682efa-f64a-5682-a2ae-625886ef5313/scratchpad/brief/pptx/media/s15_01.png">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descr="/tmp/claude-0/-home-claude-about/79682efa-f64a-5682-a2ae-625886ef5313/scratchpad/brief/pptx/media/s15_02.png">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descr="/tmp/claude-0/-home-claude-about/79682efa-f64a-5682-a2ae-625886ef5313/scratchpad/brief/pptx/media/s15_03.png">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descr="/tmp/claude-0/-home-claude-about/79682efa-f64a-5682-a2ae-625886ef5313/scratchpad/brief/pptx/media/s15_04.png">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descr="/tmp/claude-0/-home-claude-about/79682efa-f64a-5682-a2ae-625886ef5313/scratchpad/brief/pptx/media/s15_05.png">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 and cited in the </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16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recapitalization or a growth partnership in any of the five segments,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 MIDDLE MARKET</a:t>
            </a:r>
            <a:endParaRPr lang="en-US" sz="7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FULL Q4 2026 REPORT</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4" name="Shape e26"/>
          <p:cNvSpPr/>
          <p:nvPr/>
        </p:nvSpPr>
        <p:spPr>
          <a:xfrm>
            <a:off x="6076920" y="5429250"/>
            <a:ext cx="3333720" cy="1276320"/>
          </a:xfrm>
          <a:prstGeom prst="rect">
            <a:avLst/>
          </a:prstGeom>
          <a:solidFill>
            <a:srgbClr val="FFFFFF">
              <a:alpha val="0"/>
            </a:srgbClr>
          </a:solidFill>
          <a:ln w="12700">
            <a:solidFill>
              <a:srgbClr val="D3AE84"/>
            </a:solidFill>
            <a:prstDash val="dash"/>
          </a:ln>
        </p:spPr>
        <p:txBody>
          <a:bodyPr/>
          <a:p/>
        </p:txBody>
      </p:sp>
      <p:sp>
        <p:nvSpPr>
          <p:cNvPr id="25" name="Text e27"/>
          <p:cNvSpPr txBox="1"/>
          <p:nvPr/>
        </p:nvSpPr>
        <p:spPr>
          <a:xfrm>
            <a:off x="6257971" y="5591190"/>
            <a:ext cx="106811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UPCOMING EVENT</a:t>
            </a:r>
            <a:endParaRPr lang="en-US" sz="700" dirty="0"/>
          </a:p>
        </p:txBody>
      </p:sp>
      <p:sp>
        <p:nvSpPr>
          <p:cNvPr id="26" name="Text e28"/>
          <p:cNvSpPr txBox="1"/>
          <p:nvPr/>
        </p:nvSpPr>
        <p:spPr>
          <a:xfrm>
            <a:off x="6257971" y="5772150"/>
            <a:ext cx="2684404" cy="247620"/>
          </a:xfrm>
          <a:prstGeom prst="rect">
            <a:avLst/>
          </a:prstGeom>
          <a:noFill/>
          <a:ln/>
        </p:spPr>
        <p:txBody>
          <a:bodyPr wrap="none" lIns="0" tIns="0" rIns="0" bIns="0" rtlCol="0" anchor="t"/>
          <a:lstStyle/>
          <a:p>
            <a:pPr algn="l" indent="0" marL="0">
              <a:lnSpc>
                <a:spcPts val="1950"/>
              </a:lnSpc>
              <a:buNone/>
            </a:pPr>
            <a:r>
              <a:rPr lang="en-US" sz="1500" b="1" dirty="0">
                <a:solidFill>
                  <a:srgbClr val="FFFFFF"/>
                </a:solidFill>
                <a:latin typeface="+mj-lt" pitchFamily="34" charset="0"/>
              </a:rPr>
              <a:t>Event name, dates and location</a:t>
            </a:r>
            <a:endParaRPr lang="en-US" sz="1500" dirty="0"/>
          </a:p>
        </p:txBody>
      </p:sp>
      <p:sp>
        <p:nvSpPr>
          <p:cNvPr id="27" name="Text e29"/>
          <p:cNvSpPr txBox="1"/>
          <p:nvPr/>
        </p:nvSpPr>
        <p:spPr>
          <a:xfrm>
            <a:off x="6257971" y="6057900"/>
            <a:ext cx="2971800" cy="485821"/>
          </a:xfrm>
          <a:prstGeom prst="rect">
            <a:avLst/>
          </a:prstGeom>
          <a:noFill/>
          <a:ln/>
        </p:spPr>
        <p:txBody>
          <a:bodyPr wrap="square" lIns="0" tIns="0" rIns="0" bIns="0" rtlCol="0" anchor="t"/>
          <a:lstStyle/>
          <a:p>
            <a:pPr algn="l" indent="0" marL="0">
              <a:lnSpc>
                <a:spcPts val="1300"/>
              </a:lnSpc>
              <a:buNone/>
            </a:pPr>
            <a:r>
              <a:rPr lang="en-US" sz="850" dirty="0">
                <a:solidFill>
                  <a:srgbClr val="E8E2DA"/>
                </a:solidFill>
                <a:latin typeface="+mn-lt" pitchFamily="34" charset="0"/>
              </a:rPr>
              <a:t>This panel is reserved for the next conference or event where the Middle Market team will be meeting business services owners.</a:t>
            </a:r>
            <a:endParaRPr lang="en-US" sz="850" dirty="0"/>
          </a:p>
        </p:txBody>
      </p:sp>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
        <p:nvSpPr>
          <p:cNvPr id="32" name="Contact Jared Hardin"/>
          <p:cNvSpPr txBox="1"/>
          <p:nvPr/>
        </p:nvSpPr>
        <p:spPr>
          <a:xfrm>
            <a:off x="1737360" y="5248656"/>
            <a:ext cx="3163824" cy="411479"/>
          </a:xfrm>
          <a:prstGeom prst="rect">
            <a:avLst/>
          </a:prstGeom>
          <a:noFill/>
        </p:spPr>
        <p:txBody>
          <a:bodyPr wrap="square" lIns="0" tIns="0" rIns="0" bIns="0" anchor="t">
            <a:spAutoFit/>
          </a:bodyPr>
          <a:lstStyle/>
          <a:p>
            <a:pPr algn="l" indent="0" marL="0">
              <a:lnSpc>
                <a:spcPts val="1080"/>
              </a:lnSpc>
              <a:buNone/>
            </a:pPr>
            <a:r>
              <a:rPr lang="en-US" sz="800" dirty="0" u="sng">
                <a:solidFill>
                  <a:srgbClr val="8C6239"/>
                </a:solidFill>
                <a:latin typeface="+mn-lt" pitchFamily="34" charset="0"/>
                <a:hlinkClick r:id="rId2">
                  <a:extLst>
                    <a:ext uri="{A12FA001-AC4F-418D-AE19-62706E023703}">
                      <ahyp:hlinkClr xmlns:ahyp="http://schemas.microsoft.com/office/drawing/2018/hyperlinkcolor" val="tx"/>
                    </a:ext>
                  </a:extLst>
                </a:hlinkClick>
              </a:rPr>
              <a:t>813-771-6675</a:t>
            </a:r>
          </a:p>
          <a:p>
            <a:pPr algn="l" indent="0" marL="0">
              <a:lnSpc>
                <a:spcPts val="1080"/>
              </a:lnSpc>
              <a:buNone/>
            </a:pPr>
            <a:r>
              <a:rPr lang="en-US" sz="800" dirty="0" u="sng">
                <a:solidFill>
                  <a:srgbClr val="8C6239"/>
                </a:solidFill>
                <a:latin typeface="+mn-lt" pitchFamily="34" charset="0"/>
                <a:hlinkClick r:id="rId3">
                  <a:extLst>
                    <a:ext uri="{A12FA001-AC4F-418D-AE19-62706E023703}">
                      <ahyp:hlinkClr xmlns:ahyp="http://schemas.microsoft.com/office/drawing/2018/hyperlinkcolor" val="tx"/>
                    </a:ext>
                  </a:extLst>
                </a:hlinkClick>
              </a:rPr>
              <a:t>j.hardin@benchmarkintl.com</a:t>
            </a:r>
          </a:p>
          <a:p>
            <a:pPr algn="l" indent="0" marL="0">
              <a:lnSpc>
                <a:spcPts val="1080"/>
              </a:lnSpc>
              <a:buNone/>
            </a:pPr>
            <a:r>
              <a:rPr lang="en-US" sz="800" dirty="0" u="sng">
                <a:solidFill>
                  <a:srgbClr val="8C6239"/>
                </a:solidFill>
                <a:latin typeface="+mn-lt" pitchFamily="34" charset="0"/>
                <a:hlinkClick r:id="rId10">
                  <a:extLst>
                    <a:ext uri="{A12FA001-AC4F-418D-AE19-62706E023703}">
                      <ahyp:hlinkClr xmlns:ahyp="http://schemas.microsoft.com/office/drawing/2018/hyperlinkcolor" val="tx"/>
                    </a:ext>
                  </a:extLst>
                </a:hlinkClick>
              </a:rPr>
              <a:t>LinkedIn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descr="/tmp/claude-0/-home-claude-about/79682efa-f64a-5682-a2ae-625886ef5313/scratchpad/brief/pptx/media/s18_01.png">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sales, recapitalizations and growth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060668"/>
            <a:ext cx="834481"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202400"/>
            <a:ext cx="1737360" cy="128016"/>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060668"/>
            <a:ext cx="840242"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202400"/>
            <a:ext cx="1737360" cy="128016"/>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060668"/>
            <a:ext cx="751545"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202400"/>
            <a:ext cx="1737360" cy="128016"/>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4917918"/>
            <a:ext cx="919338"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059650"/>
            <a:ext cx="1737360" cy="128016"/>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4917918"/>
            <a:ext cx="8800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059650"/>
            <a:ext cx="1737360" cy="128016"/>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4917918"/>
            <a:ext cx="654528"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059650"/>
            <a:ext cx="1737360" cy="128016"/>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descr="/tmp/claude-0/-home-claude-about/79682efa-f64a-5682-a2ae-625886ef5313/scratchpad/brief/pptx/media/s18_12.png">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descr="/tmp/claude-0/-home-claude-about/79682efa-f64a-5682-a2ae-625886ef5313/scratchpad/brief/pptx/media/s18_13.png">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descr="/tmp/claude-0/-home-claude-about/79682efa-f64a-5682-a2ae-625886ef5313/scratchpad/brief/pptx/media/s18_14.png">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descr="/tmp/claude-0/-home-claude-about/79682efa-f64a-5682-a2ae-625886ef5313/scratchpad/brief/pptx/media/s18_15.png">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descr="/tmp/claude-0/-home-claude-about/79682efa-f64a-5682-a2ae-625886ef5313/scratchpad/brief/pptx/media/s18_16.png">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Contact Jordan Houtz"/>
          <p:cNvSpPr txBox="1"/>
          <p:nvPr/>
        </p:nvSpPr>
        <p:spPr>
          <a:xfrm>
            <a:off x="2558354" y="3163824"/>
            <a:ext cx="1792224" cy="384048"/>
          </a:xfrm>
          <a:prstGeom prst="rect">
            <a:avLst/>
          </a:prstGeom>
          <a:noFill/>
        </p:spPr>
        <p:txBody>
          <a:bodyPr wrap="square" lIns="0" tIns="0" rIns="0" bIns="0" anchor="t">
            <a:spAutoFit/>
          </a:bodyPr>
          <a:lstStyle/>
          <a:p>
            <a:pPr algn="ctr" indent="0" marL="0">
              <a:lnSpc>
                <a:spcPts val="1008"/>
              </a:lnSpc>
              <a:buNone/>
            </a:pPr>
            <a:r>
              <a:rPr lang="en-US" sz="750" dirty="0" u="sng">
                <a:solidFill>
                  <a:srgbClr val="8C6239"/>
                </a:solidFill>
                <a:latin typeface="+mn-lt" pitchFamily="34" charset="0"/>
                <a:hlinkClick r:id="rId4">
                  <a:extLst>
                    <a:ext uri="{A12FA001-AC4F-418D-AE19-62706E023703}">
                      <ahyp:hlinkClr xmlns:ahyp="http://schemas.microsoft.com/office/drawing/2018/hyperlinkcolor" val="tx"/>
                    </a:ext>
                  </a:extLst>
                </a:hlinkClick>
              </a:rPr>
              <a:t>813-771-6675 (team line)</a:t>
            </a:r>
          </a:p>
          <a:p>
            <a:pPr algn="ctr" indent="0" marL="0">
              <a:lnSpc>
                <a:spcPts val="1008"/>
              </a:lnSpc>
              <a:buNone/>
            </a:pPr>
            <a:r>
              <a:rPr lang="en-US" sz="750" dirty="0" u="sng">
                <a:solidFill>
                  <a:srgbClr val="8C6239"/>
                </a:solidFill>
                <a:latin typeface="+mn-lt" pitchFamily="34" charset="0"/>
                <a:hlinkClick r:id="rId22">
                  <a:extLst>
                    <a:ext uri="{A12FA001-AC4F-418D-AE19-62706E023703}">
                      <ahyp:hlinkClr xmlns:ahyp="http://schemas.microsoft.com/office/drawing/2018/hyperlinkcolor" val="tx"/>
                    </a:ext>
                  </a:extLst>
                </a:hlinkClick>
              </a:rPr>
              <a:t>jhoutz@benchmarkintl.com</a:t>
            </a:r>
          </a:p>
          <a:p>
            <a:pPr algn="ctr" indent="0" marL="0">
              <a:lnSpc>
                <a:spcPts val="1008"/>
              </a:lnSpc>
              <a:buNone/>
            </a:pPr>
            <a:r>
              <a:rPr lang="en-US" sz="750" dirty="0" u="sng">
                <a:solidFill>
                  <a:srgbClr val="8C6239"/>
                </a:solidFill>
                <a:latin typeface="+mn-lt" pitchFamily="34" charset="0"/>
                <a:hlinkClick r:id="rId23">
                  <a:extLst>
                    <a:ext uri="{A12FA001-AC4F-418D-AE19-62706E023703}">
                      <ahyp:hlinkClr xmlns:ahyp="http://schemas.microsoft.com/office/drawing/2018/hyperlinkcolor" val="tx"/>
                    </a:ext>
                  </a:extLst>
                </a:hlinkClick>
              </a:rPr>
              <a:t>LinkedIn</a:t>
            </a:r>
          </a:p>
        </p:txBody>
      </p:sp>
      <p:sp>
        <p:nvSpPr>
          <p:cNvPr id="85" name="Contact Jared Hardin"/>
          <p:cNvSpPr txBox="1"/>
          <p:nvPr/>
        </p:nvSpPr>
        <p:spPr>
          <a:xfrm>
            <a:off x="4345640" y="3163824"/>
            <a:ext cx="1792224" cy="384048"/>
          </a:xfrm>
          <a:prstGeom prst="rect">
            <a:avLst/>
          </a:prstGeom>
          <a:noFill/>
        </p:spPr>
        <p:txBody>
          <a:bodyPr wrap="square" lIns="0" tIns="0" rIns="0" bIns="0" anchor="t">
            <a:spAutoFit/>
          </a:bodyPr>
          <a:lstStyle/>
          <a:p>
            <a:pPr algn="ctr" indent="0" marL="0">
              <a:lnSpc>
                <a:spcPts val="1008"/>
              </a:lnSpc>
              <a:buNone/>
            </a:pPr>
            <a:r>
              <a:rPr lang="en-US" sz="750" dirty="0" u="sng">
                <a:solidFill>
                  <a:srgbClr val="8C6239"/>
                </a:solidFill>
                <a:latin typeface="+mn-lt" pitchFamily="34" charset="0"/>
                <a:hlinkClick r:id="rId4">
                  <a:extLst>
                    <a:ext uri="{A12FA001-AC4F-418D-AE19-62706E023703}">
                      <ahyp:hlinkClr xmlns:ahyp="http://schemas.microsoft.com/office/drawing/2018/hyperlinkcolor" val="tx"/>
                    </a:ext>
                  </a:extLst>
                </a:hlinkClick>
              </a:rPr>
              <a:t>813-771-6675</a:t>
            </a:r>
          </a:p>
          <a:p>
            <a:pPr algn="ctr" indent="0" marL="0">
              <a:lnSpc>
                <a:spcPts val="1008"/>
              </a:lnSpc>
              <a:buNone/>
            </a:pPr>
            <a:r>
              <a:rPr lang="en-US" sz="750" dirty="0" u="sng">
                <a:solidFill>
                  <a:srgbClr val="8C6239"/>
                </a:solidFill>
                <a:latin typeface="+mn-lt" pitchFamily="34" charset="0"/>
                <a:hlinkClick r:id="rId5">
                  <a:extLst>
                    <a:ext uri="{A12FA001-AC4F-418D-AE19-62706E023703}">
                      <ahyp:hlinkClr xmlns:ahyp="http://schemas.microsoft.com/office/drawing/2018/hyperlinkcolor" val="tx"/>
                    </a:ext>
                  </a:extLst>
                </a:hlinkClick>
              </a:rPr>
              <a:t>j.hardin@benchmarkintl.com</a:t>
            </a:r>
          </a:p>
          <a:p>
            <a:pPr algn="ctr" indent="0" marL="0">
              <a:lnSpc>
                <a:spcPts val="1008"/>
              </a:lnSpc>
              <a:buNone/>
            </a:pPr>
            <a:r>
              <a:rPr lang="en-US" sz="750" dirty="0" u="sng">
                <a:solidFill>
                  <a:srgbClr val="8C6239"/>
                </a:solidFill>
                <a:latin typeface="+mn-lt" pitchFamily="34" charset="0"/>
                <a:hlinkClick r:id="rId24">
                  <a:extLst>
                    <a:ext uri="{A12FA001-AC4F-418D-AE19-62706E023703}">
                      <ahyp:hlinkClr xmlns:ahyp="http://schemas.microsoft.com/office/drawing/2018/hyperlinkcolor" val="tx"/>
                    </a:ext>
                  </a:extLst>
                </a:hlinkClick>
              </a:rPr>
              <a:t>LinkedIn</a:t>
            </a:r>
          </a:p>
        </p:txBody>
      </p:sp>
      <p:sp>
        <p:nvSpPr>
          <p:cNvPr id="86" name="Contact Alex Zykov"/>
          <p:cNvSpPr txBox="1"/>
          <p:nvPr/>
        </p:nvSpPr>
        <p:spPr>
          <a:xfrm>
            <a:off x="6131966" y="3163824"/>
            <a:ext cx="1792224" cy="384048"/>
          </a:xfrm>
          <a:prstGeom prst="rect">
            <a:avLst/>
          </a:prstGeom>
          <a:noFill/>
        </p:spPr>
        <p:txBody>
          <a:bodyPr wrap="square" lIns="0" tIns="0" rIns="0" bIns="0" anchor="t">
            <a:spAutoFit/>
          </a:bodyPr>
          <a:lstStyle/>
          <a:p>
            <a:pPr algn="ctr" indent="0" marL="0">
              <a:lnSpc>
                <a:spcPts val="1008"/>
              </a:lnSpc>
              <a:buNone/>
            </a:pPr>
            <a:r>
              <a:rPr lang="en-US" sz="750" dirty="0" u="sng">
                <a:solidFill>
                  <a:srgbClr val="8C6239"/>
                </a:solidFill>
                <a:latin typeface="+mn-lt" pitchFamily="34" charset="0"/>
                <a:hlinkClick r:id="rId25">
                  <a:extLst>
                    <a:ext uri="{A12FA001-AC4F-418D-AE19-62706E023703}">
                      <ahyp:hlinkClr xmlns:ahyp="http://schemas.microsoft.com/office/drawing/2018/hyperlinkcolor" val="tx"/>
                    </a:ext>
                  </a:extLst>
                </a:hlinkClick>
              </a:rPr>
              <a:t>813-898-2372</a:t>
            </a:r>
          </a:p>
          <a:p>
            <a:pPr algn="ctr" indent="0" marL="0">
              <a:lnSpc>
                <a:spcPts val="1008"/>
              </a:lnSpc>
              <a:buNone/>
            </a:pPr>
            <a:r>
              <a:rPr lang="en-US" sz="750" dirty="0" u="sng">
                <a:solidFill>
                  <a:srgbClr val="8C6239"/>
                </a:solidFill>
                <a:latin typeface="+mn-lt" pitchFamily="34" charset="0"/>
                <a:hlinkClick r:id="rId26">
                  <a:extLst>
                    <a:ext uri="{A12FA001-AC4F-418D-AE19-62706E023703}">
                      <ahyp:hlinkClr xmlns:ahyp="http://schemas.microsoft.com/office/drawing/2018/hyperlinkcolor" val="tx"/>
                    </a:ext>
                  </a:extLst>
                </a:hlinkClick>
              </a:rPr>
              <a:t>azykov@benchmarkintl.com</a:t>
            </a:r>
          </a:p>
          <a:p>
            <a:pPr algn="ctr" indent="0" marL="0">
              <a:lnSpc>
                <a:spcPts val="1008"/>
              </a:lnSpc>
              <a:buNone/>
            </a:pPr>
            <a:r>
              <a:rPr lang="en-US" sz="750" dirty="0" u="sng">
                <a:solidFill>
                  <a:srgbClr val="8C6239"/>
                </a:solidFill>
                <a:latin typeface="+mn-lt" pitchFamily="34" charset="0"/>
                <a:hlinkClick r:id="rId27">
                  <a:extLst>
                    <a:ext uri="{A12FA001-AC4F-418D-AE19-62706E023703}">
                      <ahyp:hlinkClr xmlns:ahyp="http://schemas.microsoft.com/office/drawing/2018/hyperlinkcolor" val="tx"/>
                    </a:ext>
                  </a:extLst>
                </a:hlinkClick>
              </a:rPr>
              <a:t>LinkedIn</a:t>
            </a:r>
          </a:p>
        </p:txBody>
      </p:sp>
      <p:sp>
        <p:nvSpPr>
          <p:cNvPr id="87" name="Contact Shannon Hess"/>
          <p:cNvSpPr txBox="1"/>
          <p:nvPr/>
        </p:nvSpPr>
        <p:spPr>
          <a:xfrm>
            <a:off x="7914681" y="3163824"/>
            <a:ext cx="1792224" cy="384048"/>
          </a:xfrm>
          <a:prstGeom prst="rect">
            <a:avLst/>
          </a:prstGeom>
          <a:noFill/>
        </p:spPr>
        <p:txBody>
          <a:bodyPr wrap="square" lIns="0" tIns="0" rIns="0" bIns="0" anchor="t">
            <a:spAutoFit/>
          </a:bodyPr>
          <a:lstStyle/>
          <a:p>
            <a:pPr algn="ctr" indent="0" marL="0">
              <a:lnSpc>
                <a:spcPts val="1008"/>
              </a:lnSpc>
              <a:buNone/>
            </a:pPr>
            <a:r>
              <a:rPr lang="en-US" sz="750" dirty="0" u="sng">
                <a:solidFill>
                  <a:srgbClr val="8C6239"/>
                </a:solidFill>
                <a:latin typeface="+mn-lt" pitchFamily="34" charset="0"/>
                <a:hlinkClick r:id="rId28">
                  <a:extLst>
                    <a:ext uri="{A12FA001-AC4F-418D-AE19-62706E023703}">
                      <ahyp:hlinkClr xmlns:ahyp="http://schemas.microsoft.com/office/drawing/2018/hyperlinkcolor" val="tx"/>
                    </a:ext>
                  </a:extLst>
                </a:hlinkClick>
              </a:rPr>
              <a:t>813-898-2397</a:t>
            </a:r>
          </a:p>
          <a:p>
            <a:pPr algn="ctr" indent="0" marL="0">
              <a:lnSpc>
                <a:spcPts val="1008"/>
              </a:lnSpc>
              <a:buNone/>
            </a:pPr>
            <a:r>
              <a:rPr lang="en-US" sz="750" dirty="0" u="sng">
                <a:solidFill>
                  <a:srgbClr val="8C6239"/>
                </a:solidFill>
                <a:latin typeface="+mn-lt" pitchFamily="34" charset="0"/>
                <a:hlinkClick r:id="rId29">
                  <a:extLst>
                    <a:ext uri="{A12FA001-AC4F-418D-AE19-62706E023703}">
                      <ahyp:hlinkClr xmlns:ahyp="http://schemas.microsoft.com/office/drawing/2018/hyperlinkcolor" val="tx"/>
                    </a:ext>
                  </a:extLst>
                </a:hlinkClick>
              </a:rPr>
              <a:t>hess@benchmarkintl.com</a:t>
            </a:r>
          </a:p>
          <a:p>
            <a:pPr algn="ctr" indent="0" marL="0">
              <a:lnSpc>
                <a:spcPts val="1008"/>
              </a:lnSpc>
              <a:buNone/>
            </a:pPr>
            <a:r>
              <a:rPr lang="en-US" sz="750" dirty="0" u="sng">
                <a:solidFill>
                  <a:srgbClr val="8C6239"/>
                </a:solidFill>
                <a:latin typeface="+mn-lt" pitchFamily="34" charset="0"/>
                <a:hlinkClick r:id="rId30">
                  <a:extLst>
                    <a:ext uri="{A12FA001-AC4F-418D-AE19-62706E023703}">
                      <ahyp:hlinkClr xmlns:ahyp="http://schemas.microsoft.com/office/drawing/2018/hyperlinkcolor" val="tx"/>
                    </a:ext>
                  </a:extLst>
                </a:hlinkClick>
              </a:rPr>
              <a:t>LinkedIn</a:t>
            </a:r>
          </a:p>
        </p:txBody>
      </p:sp>
      <p:sp>
        <p:nvSpPr>
          <p:cNvPr id="88" name="Contact Sunny Garten"/>
          <p:cNvSpPr txBox="1"/>
          <p:nvPr/>
        </p:nvSpPr>
        <p:spPr>
          <a:xfrm>
            <a:off x="3381360" y="4339560"/>
            <a:ext cx="1737360" cy="3429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31">
                  <a:extLst>
                    <a:ext uri="{A12FA001-AC4F-418D-AE19-62706E023703}">
                      <ahyp:hlinkClr xmlns:ahyp="http://schemas.microsoft.com/office/drawing/2018/hyperlinkcolor" val="tx"/>
                    </a:ext>
                  </a:extLst>
                </a:hlinkClick>
              </a:rPr>
              <a:t>813-898-2357</a:t>
            </a:r>
          </a:p>
          <a:p>
            <a:pPr algn="l" indent="0" marL="0">
              <a:lnSpc>
                <a:spcPts val="900"/>
              </a:lnSpc>
              <a:buNone/>
            </a:pPr>
            <a:r>
              <a:rPr lang="en-US" sz="700" dirty="0" u="sng">
                <a:solidFill>
                  <a:srgbClr val="8C6239"/>
                </a:solidFill>
                <a:latin typeface="+mn-lt" pitchFamily="34" charset="0"/>
                <a:hlinkClick r:id="rId32">
                  <a:extLst>
                    <a:ext uri="{A12FA001-AC4F-418D-AE19-62706E023703}">
                      <ahyp:hlinkClr xmlns:ahyp="http://schemas.microsoft.com/office/drawing/2018/hyperlinkcolor" val="tx"/>
                    </a:ext>
                  </a:extLst>
                </a:hlinkClick>
              </a:rPr>
              <a:t>garten@benchmarkintl.com</a:t>
            </a:r>
          </a:p>
          <a:p>
            <a:pPr algn="l" indent="0" marL="0">
              <a:lnSpc>
                <a:spcPts val="900"/>
              </a:lnSpc>
              <a:buNone/>
            </a:pPr>
            <a:r>
              <a:rPr lang="en-US" sz="700" dirty="0" u="sng">
                <a:solidFill>
                  <a:srgbClr val="8C6239"/>
                </a:solidFill>
                <a:latin typeface="+mn-lt" pitchFamily="34" charset="0"/>
                <a:hlinkClick r:id="rId33">
                  <a:extLst>
                    <a:ext uri="{A12FA001-AC4F-418D-AE19-62706E023703}">
                      <ahyp:hlinkClr xmlns:ahyp="http://schemas.microsoft.com/office/drawing/2018/hyperlinkcolor" val="tx"/>
                    </a:ext>
                  </a:extLst>
                </a:hlinkClick>
              </a:rPr>
              <a:t>LinkedIn</a:t>
            </a:r>
          </a:p>
        </p:txBody>
      </p:sp>
      <p:sp>
        <p:nvSpPr>
          <p:cNvPr id="89" name="Contact Michael Wynn"/>
          <p:cNvSpPr txBox="1"/>
          <p:nvPr/>
        </p:nvSpPr>
        <p:spPr>
          <a:xfrm>
            <a:off x="5762640" y="4339560"/>
            <a:ext cx="1737360" cy="2286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34">
                  <a:extLst>
                    <a:ext uri="{A12FA001-AC4F-418D-AE19-62706E023703}">
                      <ahyp:hlinkClr xmlns:ahyp="http://schemas.microsoft.com/office/drawing/2018/hyperlinkcolor" val="tx"/>
                    </a:ext>
                  </a:extLst>
                </a:hlinkClick>
              </a:rPr>
              <a:t>813-384-4972</a:t>
            </a:r>
          </a:p>
          <a:p>
            <a:pPr algn="l" indent="0" marL="0">
              <a:lnSpc>
                <a:spcPts val="900"/>
              </a:lnSpc>
              <a:buNone/>
            </a:pPr>
            <a:r>
              <a:rPr lang="en-US" sz="700" dirty="0" u="sng">
                <a:solidFill>
                  <a:srgbClr val="8C6239"/>
                </a:solidFill>
                <a:latin typeface="+mn-lt" pitchFamily="34" charset="0"/>
                <a:hlinkClick r:id="rId35">
                  <a:extLst>
                    <a:ext uri="{A12FA001-AC4F-418D-AE19-62706E023703}">
                      <ahyp:hlinkClr xmlns:ahyp="http://schemas.microsoft.com/office/drawing/2018/hyperlinkcolor" val="tx"/>
                    </a:ext>
                  </a:extLst>
                </a:hlinkClick>
              </a:rPr>
              <a:t>mwynn@benchmarkintl.com</a:t>
            </a:r>
          </a:p>
        </p:txBody>
      </p:sp>
      <p:sp>
        <p:nvSpPr>
          <p:cNvPr id="90" name="Contact Alexandra Barr"/>
          <p:cNvSpPr txBox="1"/>
          <p:nvPr/>
        </p:nvSpPr>
        <p:spPr>
          <a:xfrm>
            <a:off x="3381360" y="5196810"/>
            <a:ext cx="1737360" cy="3429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36">
                  <a:extLst>
                    <a:ext uri="{A12FA001-AC4F-418D-AE19-62706E023703}">
                      <ahyp:hlinkClr xmlns:ahyp="http://schemas.microsoft.com/office/drawing/2018/hyperlinkcolor" val="tx"/>
                    </a:ext>
                  </a:extLst>
                </a:hlinkClick>
              </a:rPr>
              <a:t>813-387-6046</a:t>
            </a:r>
          </a:p>
          <a:p>
            <a:pPr algn="l" indent="0" marL="0">
              <a:lnSpc>
                <a:spcPts val="900"/>
              </a:lnSpc>
              <a:buNone/>
            </a:pPr>
            <a:r>
              <a:rPr lang="en-US" sz="700" dirty="0" u="sng">
                <a:solidFill>
                  <a:srgbClr val="8C6239"/>
                </a:solidFill>
                <a:latin typeface="+mn-lt" pitchFamily="34" charset="0"/>
                <a:hlinkClick r:id="rId37">
                  <a:extLst>
                    <a:ext uri="{A12FA001-AC4F-418D-AE19-62706E023703}">
                      <ahyp:hlinkClr xmlns:ahyp="http://schemas.microsoft.com/office/drawing/2018/hyperlinkcolor" val="tx"/>
                    </a:ext>
                  </a:extLst>
                </a:hlinkClick>
              </a:rPr>
              <a:t>abarr@benchmarkintl.com</a:t>
            </a:r>
          </a:p>
          <a:p>
            <a:pPr algn="l" indent="0" marL="0">
              <a:lnSpc>
                <a:spcPts val="900"/>
              </a:lnSpc>
              <a:buNone/>
            </a:pPr>
            <a:r>
              <a:rPr lang="en-US" sz="700" dirty="0" u="sng">
                <a:solidFill>
                  <a:srgbClr val="8C6239"/>
                </a:solidFill>
                <a:latin typeface="+mn-lt" pitchFamily="34" charset="0"/>
                <a:hlinkClick r:id="rId38">
                  <a:extLst>
                    <a:ext uri="{A12FA001-AC4F-418D-AE19-62706E023703}">
                      <ahyp:hlinkClr xmlns:ahyp="http://schemas.microsoft.com/office/drawing/2018/hyperlinkcolor" val="tx"/>
                    </a:ext>
                  </a:extLst>
                </a:hlinkClick>
              </a:rPr>
              <a:t>LinkedIn</a:t>
            </a:r>
          </a:p>
        </p:txBody>
      </p:sp>
      <p:sp>
        <p:nvSpPr>
          <p:cNvPr id="91" name="Contact Josiah Warren"/>
          <p:cNvSpPr txBox="1"/>
          <p:nvPr/>
        </p:nvSpPr>
        <p:spPr>
          <a:xfrm>
            <a:off x="5762640" y="5196810"/>
            <a:ext cx="1737360" cy="3429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39">
                  <a:extLst>
                    <a:ext uri="{A12FA001-AC4F-418D-AE19-62706E023703}">
                      <ahyp:hlinkClr xmlns:ahyp="http://schemas.microsoft.com/office/drawing/2018/hyperlinkcolor" val="tx"/>
                    </a:ext>
                  </a:extLst>
                </a:hlinkClick>
              </a:rPr>
              <a:t>813-898-2398</a:t>
            </a:r>
          </a:p>
          <a:p>
            <a:pPr algn="l" indent="0" marL="0">
              <a:lnSpc>
                <a:spcPts val="900"/>
              </a:lnSpc>
              <a:buNone/>
            </a:pPr>
            <a:r>
              <a:rPr lang="en-US" sz="700" dirty="0" u="sng">
                <a:solidFill>
                  <a:srgbClr val="8C6239"/>
                </a:solidFill>
                <a:latin typeface="+mn-lt" pitchFamily="34" charset="0"/>
                <a:hlinkClick r:id="rId40">
                  <a:extLst>
                    <a:ext uri="{A12FA001-AC4F-418D-AE19-62706E023703}">
                      <ahyp:hlinkClr xmlns:ahyp="http://schemas.microsoft.com/office/drawing/2018/hyperlinkcolor" val="tx"/>
                    </a:ext>
                  </a:extLst>
                </a:hlinkClick>
              </a:rPr>
              <a:t>jwarren@benchmarkintl.com</a:t>
            </a:r>
          </a:p>
          <a:p>
            <a:pPr algn="l" indent="0" marL="0">
              <a:lnSpc>
                <a:spcPts val="900"/>
              </a:lnSpc>
              <a:buNone/>
            </a:pPr>
            <a:r>
              <a:rPr lang="en-US" sz="700" dirty="0" u="sng">
                <a:solidFill>
                  <a:srgbClr val="8C6239"/>
                </a:solidFill>
                <a:latin typeface="+mn-lt" pitchFamily="34" charset="0"/>
                <a:hlinkClick r:id="rId41">
                  <a:extLst>
                    <a:ext uri="{A12FA001-AC4F-418D-AE19-62706E023703}">
                      <ahyp:hlinkClr xmlns:ahyp="http://schemas.microsoft.com/office/drawing/2018/hyperlinkcolor" val="tx"/>
                    </a:ext>
                  </a:extLst>
                </a:hlinkClick>
              </a:rPr>
              <a:t>LinkedIn</a:t>
            </a:r>
          </a:p>
        </p:txBody>
      </p:sp>
      <p:sp>
        <p:nvSpPr>
          <p:cNvPr id="92" name="Contact Luke Ernst"/>
          <p:cNvSpPr txBox="1"/>
          <p:nvPr/>
        </p:nvSpPr>
        <p:spPr>
          <a:xfrm>
            <a:off x="8143921" y="5196810"/>
            <a:ext cx="1737360" cy="3429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42">
                  <a:extLst>
                    <a:ext uri="{A12FA001-AC4F-418D-AE19-62706E023703}">
                      <ahyp:hlinkClr xmlns:ahyp="http://schemas.microsoft.com/office/drawing/2018/hyperlinkcolor" val="tx"/>
                    </a:ext>
                  </a:extLst>
                </a:hlinkClick>
              </a:rPr>
              <a:t>813-771-6318</a:t>
            </a:r>
          </a:p>
          <a:p>
            <a:pPr algn="l" indent="0" marL="0">
              <a:lnSpc>
                <a:spcPts val="900"/>
              </a:lnSpc>
              <a:buNone/>
            </a:pPr>
            <a:r>
              <a:rPr lang="en-US" sz="700" dirty="0" u="sng">
                <a:solidFill>
                  <a:srgbClr val="8C6239"/>
                </a:solidFill>
                <a:latin typeface="+mn-lt" pitchFamily="34" charset="0"/>
                <a:hlinkClick r:id="rId43">
                  <a:extLst>
                    <a:ext uri="{A12FA001-AC4F-418D-AE19-62706E023703}">
                      <ahyp:hlinkClr xmlns:ahyp="http://schemas.microsoft.com/office/drawing/2018/hyperlinkcolor" val="tx"/>
                    </a:ext>
                  </a:extLst>
                </a:hlinkClick>
              </a:rPr>
              <a:t>lernst@benchmarkintl.com</a:t>
            </a:r>
          </a:p>
          <a:p>
            <a:pPr algn="l" indent="0" marL="0">
              <a:lnSpc>
                <a:spcPts val="900"/>
              </a:lnSpc>
              <a:buNone/>
            </a:pPr>
            <a:r>
              <a:rPr lang="en-US" sz="700" dirty="0" u="sng">
                <a:solidFill>
                  <a:srgbClr val="8C6239"/>
                </a:solidFill>
                <a:latin typeface="+mn-lt" pitchFamily="34" charset="0"/>
                <a:hlinkClick r:id="rId44">
                  <a:extLst>
                    <a:ext uri="{A12FA001-AC4F-418D-AE19-62706E023703}">
                      <ahyp:hlinkClr xmlns:ahyp="http://schemas.microsoft.com/office/drawing/2018/hyperlinkcolor" val="tx"/>
                    </a:ext>
                  </a:extLst>
                </a:hlinkClick>
              </a:rPr>
              <a:t>LinkedIn</a:t>
            </a:r>
          </a:p>
        </p:txBody>
      </p:sp>
      <p:sp>
        <p:nvSpPr>
          <p:cNvPr id="93" name="Contact Jason Lisiak"/>
          <p:cNvSpPr txBox="1"/>
          <p:nvPr/>
        </p:nvSpPr>
        <p:spPr>
          <a:xfrm>
            <a:off x="8143921" y="4339560"/>
            <a:ext cx="1737360" cy="228600"/>
          </a:xfrm>
          <a:prstGeom prst="rect">
            <a:avLst/>
          </a:prstGeom>
          <a:noFill/>
        </p:spPr>
        <p:txBody>
          <a:bodyPr wrap="square" lIns="0" tIns="0" rIns="0" bIns="0" anchor="t">
            <a:spAutoFit/>
          </a:bodyPr>
          <a:lstStyle/>
          <a:p>
            <a:pPr algn="l" indent="0" marL="0">
              <a:lnSpc>
                <a:spcPts val="900"/>
              </a:lnSpc>
              <a:buNone/>
            </a:pPr>
            <a:r>
              <a:rPr lang="en-US" sz="700" dirty="0" u="sng">
                <a:solidFill>
                  <a:srgbClr val="8C6239"/>
                </a:solidFill>
                <a:latin typeface="+mn-lt" pitchFamily="34" charset="0"/>
                <a:hlinkClick r:id="rId4">
                  <a:extLst>
                    <a:ext uri="{A12FA001-AC4F-418D-AE19-62706E023703}">
                      <ahyp:hlinkClr xmlns:ahyp="http://schemas.microsoft.com/office/drawing/2018/hyperlinkcolor" val="tx"/>
                    </a:ext>
                  </a:extLst>
                </a:hlinkClick>
              </a:rPr>
              <a:t>813-771-6675 (team line)</a:t>
            </a:r>
          </a:p>
          <a:p>
            <a:pPr algn="l" indent="0" marL="0">
              <a:lnSpc>
                <a:spcPts val="900"/>
              </a:lnSpc>
              <a:buNone/>
            </a:pPr>
            <a:r>
              <a:rPr lang="en-US" sz="700" dirty="0" u="sng">
                <a:solidFill>
                  <a:srgbClr val="8C6239"/>
                </a:solidFill>
                <a:latin typeface="+mn-lt" pitchFamily="34" charset="0"/>
                <a:hlinkClick r:id="rId45">
                  <a:extLst>
                    <a:ext uri="{A12FA001-AC4F-418D-AE19-62706E023703}">
                      <ahyp:hlinkClr xmlns:ahyp="http://schemas.microsoft.com/office/drawing/2018/hyperlinkcolor" val="tx"/>
                    </a:ext>
                  </a:extLst>
                </a:hlinkClick>
              </a:rPr>
              <a:t>mmt@benchmarkintl.com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Middle Market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descr="/tmp/claude-0/-home-claude-about/79682efa-f64a-5682-a2ae-625886ef5313/scratchpad/brief/pptx/media/s19_01.png">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Middle Market is the part of Benchmark International that advises owners of privately held companies on sales, recapitalizations and growth partnerships across five industries.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Middle Market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sector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descr="/tmp/claude-0/-home-claude-about/79682efa-f64a-5682-a2ae-625886ef5313/scratchpad/brief/pptx/media/s19_07.png">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descr="/tmp/claude-0/-home-claude-about/79682efa-f64a-5682-a2ae-625886ef5313/scratchpad/brief/pptx/media/s19_08.png">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descr="/tmp/claude-0/-home-claude-about/79682efa-f64a-5682-a2ae-625886ef5313/scratchpad/brief/pptx/media/s19_09.png">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descr="/tmp/claude-0/-home-claude-about/79682efa-f64a-5682-a2ae-625886ef5313/scratchpad/brief/pptx/media/s19_10.png">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descr="/tmp/claude-0/-home-claude-about/79682efa-f64a-5682-a2ae-625886ef5313/scratchpad/brief/pptx/media/s19_11.png">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report.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Middle Market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SECTOR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SEGMENTS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full Q4 2026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LANDSCAPE: SELECT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Sector Brief</dc:title>
  <dc:subject>Quarterly sector brief, Q4 2026</dc:subject>
  <dc:creator>Jared Hardin, Benchmark Capital Markets</dc:creator>
  <cp:lastModifiedBy>Jared Hardin, Benchmark Capital Markets</cp:lastModifiedBy>
  <cp:revision>1</cp:revision>
  <dcterms:created xsi:type="dcterms:W3CDTF">2026-10-12T16:54:45Z</dcterms:created>
  <dcterms:modified xsi:type="dcterms:W3CDTF">2026-10-12T16:54:45Z</dcterms:modified>
</cp:coreProperties>
</file>