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segment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descr="/tmp/claude-0/-home-claude-about/79682efa-f64a-5682-a2ae-625886ef5313/scratchpad/brief/pptx/media/s01_02.png">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SECTOR BRIEF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segments,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SECTOR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the buyer landscape</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2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3810000"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
        <p:nvSpPr>
          <p:cNvPr id="23" name="TextBox 22"/>
          <p:cNvSpPr txBox="1"/>
          <p:nvPr/>
        </p:nvSpPr>
        <p:spPr>
          <a:xfrm>
            <a:off x="609630" y="3835370"/>
            <a:ext cx="3810000" cy="302263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50" b="1">
                <a:solidFill>
                  <a:srgbClr val="C99A6A"/>
                </a:solidFill>
                <a:latin typeface="+mn-lt"/>
              </a:rPr>
              <a:t>01  </a:t>
            </a:r>
            <a:r>
              <a:rPr sz="850" b="1">
                <a:solidFill>
                  <a:srgbClr val="FFFFFF"/>
                </a:solidFill>
                <a:latin typeface="+mn-lt"/>
              </a:rPr>
              <a:t>Inspection revenue draws the most buyers</a:t>
            </a:r>
          </a:p>
          <a:p>
            <a:pPr>
              <a:lnSpc>
                <a:spcPct val="120000"/>
              </a:lnSpc>
            </a:pPr>
            <a:r>
              <a:rPr sz="800" b="0">
                <a:solidFill>
                  <a:srgbClr val="D9D2C9"/>
                </a:solidFill>
                <a:latin typeface="+mn-lt"/>
              </a:rPr>
              <a:t>Pye-Barker completed 22 acquisitions in the first half of 2026 after 57 in 2025, so owners with contracted inspection, monitoring and service work are meeting the deepest pool of acquirers.</a:t>
            </a:r>
          </a:p>
          <a:p>
            <a:pPr>
              <a:spcBef>
                <a:spcPts val="600"/>
              </a:spcBef>
            </a:pPr>
            <a:r>
              <a:rPr sz="850" b="1">
                <a:solidFill>
                  <a:srgbClr val="C99A6A"/>
                </a:solidFill>
                <a:latin typeface="+mn-lt"/>
              </a:rPr>
              <a:t>02  </a:t>
            </a:r>
            <a:r>
              <a:rPr sz="850" b="1">
                <a:solidFill>
                  <a:srgbClr val="FFFFFF"/>
                </a:solidFill>
                <a:latin typeface="+mn-lt"/>
              </a:rPr>
              <a:t>Costlier debt rewards documented earnings</a:t>
            </a:r>
          </a:p>
          <a:p>
            <a:pPr>
              <a:lnSpc>
                <a:spcPct val="120000"/>
              </a:lnSpc>
            </a:pPr>
            <a:r>
              <a:rPr sz="800" b="0">
                <a:solidFill>
                  <a:srgbClr val="D9D2C9"/>
                </a:solidFill>
                <a:latin typeface="+mn-lt"/>
              </a:rPr>
              <a:t>The Federal Reserve raised its target range on September 16 and debt on platform acquisitions fell to 2.9x EBITDA from 3.4x, so buyers now pay most for documented earnings and contracted customers.</a:t>
            </a:r>
          </a:p>
          <a:p>
            <a:pPr>
              <a:spcBef>
                <a:spcPts val="600"/>
              </a:spcBef>
            </a:pPr>
            <a:r>
              <a:rPr sz="850" b="1">
                <a:solidFill>
                  <a:srgbClr val="C99A6A"/>
                </a:solidFill>
                <a:latin typeface="+mn-lt"/>
              </a:rPr>
              <a:t>03  </a:t>
            </a:r>
            <a:r>
              <a:rPr sz="850" b="1">
                <a:solidFill>
                  <a:srgbClr val="FFFFFF"/>
                </a:solidFill>
                <a:latin typeface="+mn-lt"/>
              </a:rPr>
              <a:t>Licensed staff and backlog set engineering value</a:t>
            </a:r>
          </a:p>
          <a:p>
            <a:pPr>
              <a:lnSpc>
                <a:spcPct val="120000"/>
              </a:lnSpc>
            </a:pPr>
            <a:r>
              <a:rPr sz="800" b="0">
                <a:solidFill>
                  <a:srgbClr val="D9D2C9"/>
                </a:solidFill>
                <a:latin typeface="+mn-lt"/>
              </a:rPr>
              <a:t>Bernhard Capital agreed to buy Bowman at a 58% premium while 88% of engineering firms report open positions, so a year of funded backlog and licensed staff drive the price.</a:t>
            </a:r>
          </a:p>
          <a:p>
            <a:pPr>
              <a:spcBef>
                <a:spcPts val="600"/>
              </a:spcBef>
            </a:pPr>
            <a:r>
              <a:rPr sz="850" b="1">
                <a:solidFill>
                  <a:srgbClr val="C99A6A"/>
                </a:solidFill>
                <a:latin typeface="+mn-lt"/>
              </a:rPr>
              <a:t>04  </a:t>
            </a:r>
            <a:r>
              <a:rPr sz="850" b="1">
                <a:solidFill>
                  <a:srgbClr val="FFFFFF"/>
                </a:solidFill>
                <a:latin typeface="+mn-lt"/>
              </a:rPr>
              <a:t>Prepared sellers still draw several offers</a:t>
            </a:r>
          </a:p>
          <a:p>
            <a:pPr>
              <a:lnSpc>
                <a:spcPct val="120000"/>
              </a:lnSpc>
            </a:pPr>
            <a:r>
              <a:rPr sz="800" b="0">
                <a:solidFill>
                  <a:srgbClr val="D9D2C9"/>
                </a:solidFill>
                <a:latin typeface="+mn-lt"/>
              </a:rPr>
              <a:t>Completed middle-market deals averaged 7.0x EBITDA in the second quarter and 87% of sales above $5 million drew three or more offers, so owners should keep every client below a fifth of revenue.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segments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descr="/tmp/claude-0/-home-claude-about/79682efa-f64a-5682-a2ae-625886ef5313/scratchpad/brief/pptx/media/s03_01.png">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descr="/tmp/claude-0/-home-claude-about/79682efa-f64a-5682-a2ae-625886ef5313/scratchpad/brief/pptx/media/s03_02.png">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descr="/tmp/claude-0/-home-claude-about/79682efa-f64a-5682-a2ae-625886ef5313/scratchpad/brief/pptx/media/s03_03.png">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descr="/tmp/claude-0/-home-claude-about/79682efa-f64a-5682-a2ae-625886ef5313/scratchpad/brief/pptx/media/s03_04.png">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descr="/tmp/claude-0/-home-claude-about/79682efa-f64a-5682-a2ae-625886ef5313/scratchpad/brief/pptx/media/s03_05.png">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descr="/tmp/claude-0/-home-claude-about/79682efa-f64a-5682-a2ae-625886ef5313/scratchpad/brief/pptx/media/s03_06.png">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Segments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segment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descr="/tmp/claude-0/-home-claude-about/79682efa-f64a-5682-a2ae-625886ef5313/scratchpad/brief/pptx/media/s04_02.png">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descr="/tmp/claude-0/-home-claude-about/79682efa-f64a-5682-a2ae-625886ef5313/scratchpad/brief/pptx/media/s04_04.png">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descr="/tmp/claude-0/-home-claude-about/79682efa-f64a-5682-a2ae-625886ef5313/scratchpad/brief/pptx/media/s04_06.png">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descr="/tmp/claude-0/-home-claude-about/79682efa-f64a-5682-a2ae-625886ef5313/scratchpad/brief/pptx/media/s04_08.png">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descr="/tmp/claude-0/-home-claude-about/79682efa-f64a-5682-a2ae-625886ef5313/scratchpad/brief/pptx/media/s04_10.png">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SEGMENTS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SECTOR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7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Sector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Landscape of select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descr="/tmp/claude-0/-home-claude-about/79682efa-f64a-5682-a2ae-625886ef5313/scratchpad/brief/pptx/media/s08_07.png">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descr="/tmp/claude-0/-home-claude-about/79682efa-f64a-5682-a2ae-625886ef5313/scratchpad/brief/pptx/media/s08_08.png">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descr="/tmp/claude-0/-home-claude-about/79682efa-f64a-5682-a2ae-625886ef5313/scratchpad/brief/pptx/media/s08_09.png">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segment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segments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segments, and each segment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segment</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segment.</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segment with a published figure, between 7 and 12 companies a segment.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descr="/tmp/claude-0/-home-claude-about/79682efa-f64a-5682-a2ae-625886ef5313/scratchpad/brief/pptx/media/s13_01.png">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descr="/tmp/claude-0/-home-claude-about/79682efa-f64a-5682-a2ae-625886ef5313/scratchpad/brief/pptx/media/s13_02.png">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descr="/tmp/claude-0/-home-claude-about/79682efa-f64a-5682-a2ae-625886ef5313/scratchpad/brief/pptx/media/s13_03.png">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Landscape: Select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segment,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descr="/tmp/claude-0/-home-claude-about/79682efa-f64a-5682-a2ae-625886ef5313/scratchpad/brief/pptx/media/s15_01.png">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descr="/tmp/claude-0/-home-claude-about/79682efa-f64a-5682-a2ae-625886ef5313/scratchpad/brief/pptx/media/s15_02.png">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descr="/tmp/claude-0/-home-claude-about/79682efa-f64a-5682-a2ae-625886ef5313/scratchpad/brief/pptx/media/s15_03.png">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descr="/tmp/claude-0/-home-claude-about/79682efa-f64a-5682-a2ae-625886ef5313/scratchpad/brief/pptx/media/s15_04.png">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descr="/tmp/claude-0/-home-claude-about/79682efa-f64a-5682-a2ae-625886ef5313/scratchpad/brief/pptx/media/s15_05.png">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16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Owners considering a sale, a recapitalization or a growth partnership in any of the five segments, and the accountants, attorneys and wealth advisors who work with them, are welcome to call or write.</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descr="/tmp/claude-0/-home-claude-about/79682efa-f64a-5682-a2ae-625886ef5313/scratchpad/brief/pptx/media/s18_01.png">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in sales, recapitalizations and growth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0957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2481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0957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2481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0957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2481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495297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05400"/>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495297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05400"/>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49529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1054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descr="/tmp/claude-0/-home-claude-about/79682efa-f64a-5682-a2ae-625886ef5313/scratchpad/brief/pptx/media/s18_12.png">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descr="/tmp/claude-0/-home-claude-about/79682efa-f64a-5682-a2ae-625886ef5313/scratchpad/brief/pptx/media/s18_13.png">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descr="/tmp/claude-0/-home-claude-about/79682efa-f64a-5682-a2ae-625886ef5313/scratchpad/brief/pptx/media/s18_14.png">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descr="/tmp/claude-0/-home-claude-about/79682efa-f64a-5682-a2ae-625886ef5313/scratchpad/brief/pptx/media/s18_15.png">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descr="/tmp/claude-0/-home-claude-about/79682efa-f64a-5682-a2ae-625886ef5313/scratchpad/brief/pptx/media/s18_16.png">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
        <p:nvSpPr>
          <p:cNvPr id="85" name="Text: azykov@benchmarkintl.com"/>
          <p:cNvSpPr txBox="1"/>
          <p:nvPr/>
        </p:nvSpPr>
        <p:spPr>
          <a:xfrm>
            <a:off x="6342278"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813-898-2372</a:t>
            </a:r>
            <a:endParaRPr lang="en-US" sz="800" dirty="0"/>
          </a:p>
          <a:p>
            <a:pPr algn="ctr" indent="0" marL="0">
              <a:lnSpc>
                <a:spcPts val="1200"/>
              </a:lnSpc>
              <a:buNone/>
            </a:pPr>
            <a:r>
              <a:rPr lang="en-US" sz="80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azykov@benchmarkintl.com</a:t>
            </a:r>
            <a:endParaRPr lang="en-US" sz="800" dirty="0"/>
          </a:p>
        </p:txBody>
      </p:sp>
      <p:sp>
        <p:nvSpPr>
          <p:cNvPr id="86" name="Text: hess@benchmarkintl.com"/>
          <p:cNvSpPr txBox="1"/>
          <p:nvPr/>
        </p:nvSpPr>
        <p:spPr>
          <a:xfrm>
            <a:off x="8124993"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813-898-2397</a:t>
            </a:r>
            <a:endParaRPr lang="en-US" sz="800" dirty="0"/>
          </a:p>
          <a:p>
            <a:pPr algn="ctr" indent="0" marL="0">
              <a:lnSpc>
                <a:spcPts val="1200"/>
              </a:lnSpc>
              <a:buNone/>
            </a:pPr>
            <a:r>
              <a:rPr lang="en-US" sz="80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hess@benchmarkintl.com</a:t>
            </a:r>
            <a:endParaRPr lang="en-US" sz="800" dirty="0"/>
          </a:p>
        </p:txBody>
      </p:sp>
      <p:sp>
        <p:nvSpPr>
          <p:cNvPr id="87" name="Text: garten@benchmarkintl.com"/>
          <p:cNvSpPr txBox="1"/>
          <p:nvPr/>
        </p:nvSpPr>
        <p:spPr>
          <a:xfrm>
            <a:off x="3381360" y="4394200"/>
            <a:ext cx="141920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813-898-2357</a:t>
            </a:r>
            <a:endParaRPr lang="en-US" sz="800" dirty="0"/>
          </a:p>
          <a:p>
            <a:pPr algn="l" indent="0" marL="0">
              <a:lnSpc>
                <a:spcPts val="850"/>
              </a:lnSpc>
              <a:buNone/>
            </a:pPr>
            <a:r>
              <a:rPr lang="en-US" sz="675"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garten@benchmarkintl.com</a:t>
            </a:r>
            <a:endParaRPr lang="en-US" sz="800" dirty="0"/>
          </a:p>
        </p:txBody>
      </p:sp>
      <p:sp>
        <p:nvSpPr>
          <p:cNvPr id="88" name="Text: mwynn@benchmarkintl.com"/>
          <p:cNvSpPr txBox="1"/>
          <p:nvPr/>
        </p:nvSpPr>
        <p:spPr>
          <a:xfrm>
            <a:off x="5762640" y="4394200"/>
            <a:ext cx="1419210"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813-384-4972</a:t>
            </a:r>
            <a:endParaRPr lang="en-US" sz="800" dirty="0"/>
          </a:p>
          <a:p>
            <a:pPr algn="l" indent="0" marL="0">
              <a:lnSpc>
                <a:spcPts val="850"/>
              </a:lnSpc>
              <a:buNone/>
            </a:pPr>
            <a:r>
              <a:rPr lang="en-US" sz="675"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mwynn@benchmarkintl.com</a:t>
            </a:r>
            <a:endParaRPr lang="en-US" sz="800" dirty="0"/>
          </a:p>
        </p:txBody>
      </p:sp>
      <p:sp>
        <p:nvSpPr>
          <p:cNvPr id="89" name="Text: jlisiak@benchmarkintl.com"/>
          <p:cNvSpPr txBox="1"/>
          <p:nvPr/>
        </p:nvSpPr>
        <p:spPr>
          <a:xfrm>
            <a:off x="8143921" y="4394200"/>
            <a:ext cx="141911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jlisiak@benchmarkintl.com</a:t>
            </a:r>
            <a:endParaRPr lang="en-US" sz="800" dirty="0"/>
          </a:p>
        </p:txBody>
      </p:sp>
      <p:sp>
        <p:nvSpPr>
          <p:cNvPr id="90" name="Text: abarr@benchmarkintl.com"/>
          <p:cNvSpPr txBox="1"/>
          <p:nvPr/>
        </p:nvSpPr>
        <p:spPr>
          <a:xfrm>
            <a:off x="3381360" y="5251450"/>
            <a:ext cx="141920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813-387-6046</a:t>
            </a:r>
            <a:endParaRPr lang="en-US" sz="800" dirty="0"/>
          </a:p>
          <a:p>
            <a:pPr algn="l" indent="0" marL="0">
              <a:lnSpc>
                <a:spcPts val="850"/>
              </a:lnSpc>
              <a:buNone/>
            </a:pPr>
            <a:r>
              <a:rPr lang="en-US" sz="675"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abarr@benchmarkintl.com</a:t>
            </a:r>
            <a:endParaRPr lang="en-US" sz="800" dirty="0"/>
          </a:p>
        </p:txBody>
      </p:sp>
      <p:sp>
        <p:nvSpPr>
          <p:cNvPr id="91" name="Text: jwarren@benchmarkintl.com"/>
          <p:cNvSpPr txBox="1"/>
          <p:nvPr/>
        </p:nvSpPr>
        <p:spPr>
          <a:xfrm>
            <a:off x="5762640" y="5251450"/>
            <a:ext cx="1419210"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813-898-2398</a:t>
            </a:r>
            <a:endParaRPr lang="en-US" sz="800" dirty="0"/>
          </a:p>
          <a:p>
            <a:pPr algn="l" indent="0" marL="0">
              <a:lnSpc>
                <a:spcPts val="850"/>
              </a:lnSpc>
              <a:buNone/>
            </a:pPr>
            <a:r>
              <a:rPr lang="en-US" sz="675"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jwarren@benchmarkintl.com</a:t>
            </a:r>
            <a:endParaRPr lang="en-US" sz="800" dirty="0"/>
          </a:p>
        </p:txBody>
      </p:sp>
      <p:sp>
        <p:nvSpPr>
          <p:cNvPr id="92" name="Text: lernst@benchmarkintl.com"/>
          <p:cNvSpPr txBox="1"/>
          <p:nvPr/>
        </p:nvSpPr>
        <p:spPr>
          <a:xfrm>
            <a:off x="8143921" y="5251450"/>
            <a:ext cx="141911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813-771-6318</a:t>
            </a:r>
            <a:endParaRPr lang="en-US" sz="800" dirty="0"/>
          </a:p>
          <a:p>
            <a:pPr algn="l" indent="0" marL="0">
              <a:lnSpc>
                <a:spcPts val="850"/>
              </a:lnSpc>
              <a:buNone/>
            </a:pPr>
            <a:r>
              <a:rPr lang="en-US" sz="675"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lernst@benchmarkintl.com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sectors.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descr="/tmp/claude-0/-home-claude-about/79682efa-f64a-5682-a2ae-625886ef5313/scratchpad/brief/pptx/media/s19_01.png">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on sales, recapitalizations and growth partnerships across five sectors.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sector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SECTOR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descr="/tmp/claude-0/-home-claude-about/79682efa-f64a-5682-a2ae-625886ef5313/scratchpad/brief/pptx/media/s19_07.png">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descr="/tmp/claude-0/-home-claude-about/79682efa-f64a-5682-a2ae-625886ef5313/scratchpad/brief/pptx/media/s19_08.png">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descr="/tmp/claude-0/-home-claude-about/79682efa-f64a-5682-a2ae-625886ef5313/scratchpad/brief/pptx/media/s19_09.png">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descr="/tmp/claude-0/-home-claude-about/79682efa-f64a-5682-a2ae-625886ef5313/scratchpad/brief/pptx/media/s19_10.png">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descr="/tmp/claude-0/-home-claude-about/79682efa-f64a-5682-a2ae-625886ef5313/scratchpad/brief/pptx/media/s19_11.png">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SEGMENTS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LANDSCAPE: SELECT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Sector Brief</dc:title>
  <dc:subject>Quarterly sector brief, Q4 2026</dc:subject>
  <dc:creator>Jared Hardin, Benchmark Capital Markets</dc:creator>
  <cp:lastModifiedBy>Jared Hardin, Benchmark Capital Markets</cp:lastModifiedBy>
  <cp:revision>1</cp:revision>
  <dcterms:created xsi:type="dcterms:W3CDTF">2026-10-12T16:54:45Z</dcterms:created>
  <dcterms:modified xsi:type="dcterms:W3CDTF">2026-10-12T16:54:45Z</dcterms:modified>
</cp:coreProperties>
</file>