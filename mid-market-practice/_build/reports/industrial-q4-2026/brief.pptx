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none" lIns="0" tIns="0" rIns="0" bIns="0" rtlCol="0" anchor="ctr"/>
          <a:lstStyle/>
          <a:p>
            <a:pPr marL="0" indent="0">
              <a:buNone/>
            </a:pPr>
            <a:r>
              <a:rPr lang="en-US" sz="675" b="1" kern="0" spc="220" dirty="0">
                <a:solidFill>
                  <a:srgbClr val="8C6239"/>
                </a:solidFill>
              </a:rPr>
              <a:t>INDUSTRIALS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none" lIns="0" tIns="0" rIns="0" bIns="0" rtlCol="0" anchor="ctr"/>
          <a:lstStyle/>
          <a:p>
            <a:pPr marL="0" indent="0">
              <a:buNone/>
            </a:pPr>
            <a:r>
              <a:rPr lang="en-US" sz="675" b="1" kern="0" spc="220" dirty="0">
                <a:solidFill>
                  <a:srgbClr val="D3AE84"/>
                </a:solidFill>
              </a:rPr>
              <a:t>INDUSTRIALS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INDUSTRIALS</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Industry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sector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earns the premium</a:t>
            </a:r>
          </a:p>
          <a:p>
            <a:pPr>
              <a:lnSpc>
                <a:spcPct val="120000"/>
              </a:lnSpc>
            </a:pPr>
            <a:r>
              <a:rPr sz="750" b="0">
                <a:solidFill>
                  <a:srgbClr val="D9D2C9"/>
                </a:solidFill>
                <a:latin typeface="+mn-lt"/>
              </a:rPr>
              <a:t>Quanta Services ended June with $53.4 billion of backlog, up from $35.8 billion. A buyer will ask how much of yours is tied to funded power and data center work.</a:t>
            </a:r>
          </a:p>
          <a:p>
            <a:pPr>
              <a:spcBef>
                <a:spcPts val="600"/>
              </a:spcBef>
            </a:pPr>
            <a:r>
              <a:rPr sz="800" b="1">
                <a:solidFill>
                  <a:srgbClr val="C99A6A"/>
                </a:solidFill>
                <a:latin typeface="+mn-lt"/>
              </a:rPr>
              <a:t>02  </a:t>
            </a:r>
            <a:r>
              <a:rPr sz="800" b="1">
                <a:solidFill>
                  <a:srgbClr val="FFFFFF"/>
                </a:solidFill>
                <a:latin typeface="+mn-lt"/>
              </a:rPr>
              <a:t>The likely buyer is an operating platform</a:t>
            </a:r>
          </a:p>
          <a:p>
            <a:pPr>
              <a:lnSpc>
                <a:spcPct val="120000"/>
              </a:lnSpc>
            </a:pPr>
            <a:r>
              <a:rPr sz="750" b="0">
                <a:solidFill>
                  <a:srgbClr val="D9D2C9"/>
                </a:solidFill>
                <a:latin typeface="+mn-lt"/>
              </a:rPr>
              <a:t>Add-ons made up about three-quarters of buyouts in the second quarter, and Pye-Barker Fire &amp; Safety completed 22 acquisitions in the first half. Expect a sponsor that already knows the trade.</a:t>
            </a:r>
          </a:p>
          <a:p>
            <a:pPr>
              <a:spcBef>
                <a:spcPts val="600"/>
              </a:spcBef>
            </a:pPr>
            <a:r>
              <a:rPr sz="800" b="1">
                <a:solidFill>
                  <a:srgbClr val="C99A6A"/>
                </a:solidFill>
                <a:latin typeface="+mn-lt"/>
              </a:rPr>
              <a:t>03  </a:t>
            </a:r>
            <a:r>
              <a:rPr sz="800" b="1">
                <a:solidFill>
                  <a:srgbClr val="FFFFFF"/>
                </a:solidFill>
                <a:latin typeface="+mn-lt"/>
              </a:rPr>
              <a:t>Report service revenue on its own line</a:t>
            </a:r>
          </a:p>
          <a:p>
            <a:pPr>
              <a:lnSpc>
                <a:spcPct val="120000"/>
              </a:lnSpc>
            </a:pPr>
            <a:r>
              <a:rPr sz="750" b="0">
                <a:solidFill>
                  <a:srgbClr val="D9D2C9"/>
                </a:solidFill>
                <a:latin typeface="+mn-lt"/>
              </a:rPr>
              <a:t>APi Group is working toward 60% of revenue from inspection and service. Buyers pay more for service, repair, and aftermarket revenue when it is reported apart from projects, with its renewal history.</a:t>
            </a:r>
          </a:p>
          <a:p>
            <a:pPr>
              <a:spcBef>
                <a:spcPts val="600"/>
              </a:spcBef>
            </a:pPr>
            <a:r>
              <a:rPr sz="800" b="1">
                <a:solidFill>
                  <a:srgbClr val="C99A6A"/>
                </a:solidFill>
                <a:latin typeface="+mn-lt"/>
              </a:rPr>
              <a:t>04  </a:t>
            </a:r>
            <a:r>
              <a:rPr sz="800" b="1">
                <a:solidFill>
                  <a:srgbClr val="FFFFFF"/>
                </a:solidFill>
                <a:latin typeface="+mn-lt"/>
              </a:rPr>
              <a:t>Financing costs more and buyers are choosier</a:t>
            </a:r>
          </a:p>
          <a:p>
            <a:pPr>
              <a:lnSpc>
                <a:spcPct val="120000"/>
              </a:lnSpc>
            </a:pPr>
            <a:r>
              <a:rPr sz="750" b="0">
                <a:solidFill>
                  <a:srgbClr val="D9D2C9"/>
                </a:solidFill>
                <a:latin typeface="+mn-lt"/>
              </a:rPr>
              <a:t>The Federal Reserve raised its target range to 3.75% to 4.00% on September 16. GF Data's average multiple eased to 7.0 times trailing adjusted EBITDA, from 7.3 times.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Sector</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SECTOR</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SECTOR</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650000" cy="226695"/>
          </a:xfrm>
          <a:prstGeom prst="rect">
            <a:avLst/>
          </a:prstGeom>
          <a:noFill/>
          <a:ln/>
        </p:spPr>
        <p:txBody>
          <a:bodyPr wrap="none" lIns="0" tIns="0" rIns="0" bIns="0" rtlCol="0" anchor="t"/>
          <a:lstStyle/>
          <a:p>
            <a:pPr marL="0" indent="0">
              <a:buNone/>
            </a:pPr>
            <a:r>
              <a:rPr lang="en-US" sz="600" b="1" kern="0" spc="120" dirty="0">
                <a:solidFill>
                  <a:srgbClr val="8C6239"/>
                </a:solidFill>
              </a:rPr>
              <a:t>MANAGING DIRECTOR</a:t>
            </a:r>
            <a:br>
              <a:rPr lang="en-US" sz="600" b="1" kern="0" spc="120" dirty="0">
                <a:solidFill>
                  <a:srgbClr val="8C6239"/>
                </a:solidFill>
              </a:rPr>
            </a:br>
            <a:r>
              <a:rPr lang="en-US" sz="600" b="1" kern="0" spc="120" dirty="0">
                <a:solidFill>
                  <a:srgbClr val="8C6239"/>
                </a:solidFill>
              </a:rPr>
              <a:t>HEAD OF MIDDLE MARKET</a:t>
            </a:r>
            <a:endParaRPr lang="en-US" sz="600" dirty="0"/>
          </a:p>
        </p:txBody>
      </p:sp>
      <p:sp>
        <p:nvSpPr>
          <p:cNvPr id="53" name="Text 48"/>
          <p:cNvSpPr txBox="1"/>
          <p:nvPr/>
        </p:nvSpPr>
        <p:spPr>
          <a:xfrm>
            <a:off x="8020050" y="614172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Industry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sector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sectors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sector,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sectors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SECTOR</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sectors.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sectors.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on strategic sales, mergers, and qualifying change-of-control transactions.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We welcome calls from owners considering a strategic sale, merger, or change-of-control transaction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233210"/>
          </a:xfrm>
          <a:prstGeom prst="rect">
            <a:avLst/>
          </a:prstGeom>
          <a:noFill/>
          <a:ln/>
        </p:spPr>
        <p:txBody>
          <a:bodyPr wrap="none" lIns="0" tIns="0" rIns="0" bIns="0" rtlCol="0" anchor="t"/>
          <a:lstStyle/>
          <a:p>
            <a:pPr marL="0" indent="0">
              <a:buNone/>
            </a:pPr>
            <a:r>
              <a:rPr lang="en-US" sz="638" b="1" kern="0" spc="150" dirty="0">
                <a:solidFill>
                  <a:srgbClr val="8C6239"/>
                </a:solidFill>
              </a:rPr>
              <a:t>MANAGING DIRECTOR</a:t>
            </a:r>
            <a:br>
              <a:rPr lang="en-US" sz="638" b="1" kern="0" spc="150" dirty="0">
                <a:solidFill>
                  <a:srgbClr val="8C6239"/>
                </a:solidFill>
              </a:rPr>
            </a:br>
            <a:r>
              <a:rPr lang="en-US" sz="638" b="1" kern="0" spc="150" dirty="0">
                <a:solidFill>
                  <a:srgbClr val="8C6239"/>
                </a:solidFill>
              </a:rPr>
              <a:t>HEAD OF MIDDLE MARKET</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strategic sale to a merger or change-of-control transaction,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INDUSTRIALS COVERAGE</a:t>
            </a:r>
            <a:endParaRPr lang="en-US" sz="675" dirty="0"/>
          </a:p>
        </p:txBody>
      </p:sp>
      <p:pic>
        <p:nvPicPr>
          <p:cNvPr id="57" name="Image 5"/>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690785"/>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INDUSTRIALS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on strategic sales, mergers, and qualifying change-of-control transactions.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637263" y="2971800"/>
            <a:ext cx="1650000" cy="233210"/>
          </a:xfrm>
          <a:prstGeom prst="rect">
            <a:avLst/>
          </a:prstGeom>
          <a:noFill/>
        </p:spPr>
        <p:txBody>
          <a:bodyPr wrap="none" lIns="0" tIns="0" rIns="0" bIns="0" anchor="t">
            <a:spAutoFit/>
          </a:bodyPr>
          <a:lstStyle/>
          <a:p>
            <a:pPr algn="ctr">
              <a:lnSpc>
                <a:spcPts val="975"/>
              </a:lnSpc>
            </a:pPr>
            <a:r>
              <a:rPr sz="638" b="1" i="0" spc="105">
                <a:solidFill>
                  <a:srgbClr val="8C6239"/>
                </a:solidFill>
                <a:latin typeface="Calibri"/>
              </a:rPr>
              <a:t>MANAGING DIRECTOR</a:t>
            </a:r>
            <a:br>
              <a:rPr sz="638" b="1" i="0" spc="105">
                <a:solidFill>
                  <a:srgbClr val="8C6239"/>
                </a:solidFill>
                <a:latin typeface="Calibri"/>
              </a:rPr>
            </a:br>
            <a:r>
              <a:rPr sz="638" b="1" i="0" spc="105">
                <a:solidFill>
                  <a:srgbClr val="8C6239"/>
                </a:solidFill>
                <a:latin typeface="Calibri"/>
              </a:rPr>
              <a:t>HEAD OF MIDDLE MARKET</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 CFA</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INDUSTRIALS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271685"/>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industry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Industrials Q4 2026 M&amp;A Industry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International</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Industrials Q4 2026 Industry Report</dc:title>
  <dc:subject>Industrials quarterly industry report, Q4 2026</dc:subject>
  <dc:creator>Jared Hardin, Benchmark International</dc:creator>
  <cp:lastModifiedBy>Benchmark International</cp:lastModifiedBy>
  <cp:revision>3</cp:revision>
  <dcterms:created xsi:type="dcterms:W3CDTF">2026-10-12T16:51:24Z</dcterms:created>
  <dcterms:modified xsi:type="dcterms:W3CDTF">2026-10-13T16:46:10Z</dcterms:modified>
  <dc:description/>
  <cp:keywords/>
</cp:coreProperties>
</file>