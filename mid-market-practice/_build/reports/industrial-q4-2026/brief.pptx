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0.jpg" ContentType="image/jpg"/>
  <Override PartName="/ppt/media/image11.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5.jpg" ContentType="image/jpg"/>
  <Override PartName="/ppt/media/image26.jpg" ContentType="image/jpg"/>
  <Override PartName="/ppt/media/image27.jpg" ContentType="image/jpg"/>
  <Override PartName="/ppt/media/image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3" r:id="rId24"/>
    <p:sldId id="271" r:id="rId17"/>
    <p:sldId id="272" r:id="rId18"/>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Lst>
        </p14:section>
        <p14:section name="01 Insights" id="{D8E30133-3877-BB0F-19E1-208C4C7078A5}">
          <p14:sldIdLst>
            <p14:sldId id="257"/>
            <p14:sldId id="258"/>
            <p14:sldId id="259"/>
            <p14:sldId id="260"/>
          </p14:sldIdLst>
        </p14:section>
        <p14:section name="02 Sector Activity" id="{E5B8BA2E-C5BC-F754-C45C-51894EAF5447}">
          <p14:sldIdLst>
            <p14:sldId id="261"/>
            <p14:sldId id="262"/>
            <p14:sldId id="263"/>
            <p14:sldId id="264"/>
            <p14:sldId id="265"/>
            <p14:sldId id="266"/>
            <p14:sldId id="267"/>
            <p14:sldId id="268"/>
          </p14:sldIdLst>
        </p14:section>
        <p14:section name="03 Connect With Us" id="{2E69D56B-EA9A-A964-C58F-363DD058E786}">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 progress</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14</c:v>
                </c:pt>
                <c:pt idx="1">
                  <c:v>28</c:v>
                </c:pt>
                <c:pt idx="2">
                  <c:v>118</c:v>
                </c:pt>
                <c:pt idx="3">
                  <c:v>24</c:v>
                </c:pt>
                <c:pt idx="4">
                  <c:v>28</c:v>
                </c:pt>
              </c:numCache>
            </c:numRef>
          </c:val>
          <c:extLst>
            <c:ext xmlns:c16="http://schemas.microsoft.com/office/drawing/2014/chart" uri="{C3380CC4-5D6E-409C-BE32-E72D297353CC}">
              <c16:uniqueId val="{00000000-29FC-4EDA-9D95-F9C7F1459B03}"/>
            </c:ext>
          </c:extLst>
        </c:ser>
        <c:ser>
          <c:idx val="1"/>
          <c:order val="1"/>
          <c:tx>
            <c:strRef>
              <c:f>Sheet1!$C$1</c:f>
              <c:strCache>
                <c:ptCount val="1"/>
                <c:pt idx="0">
                  <c:v>Closed</c:v>
                </c:pt>
              </c:strCache>
            </c:strRef>
          </c:tx>
          <c:spPr>
            <a:solidFill>
              <a:srgbClr val="B68757"/>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Sheet1!$C$2:$C$6</c:f>
              <c:numCache>
                <c:formatCode>General</c:formatCode>
                <c:ptCount val="5"/>
                <c:pt idx="0">
                  <c:v>3</c:v>
                </c:pt>
                <c:pt idx="1">
                  <c:v>7</c:v>
                </c:pt>
                <c:pt idx="2">
                  <c:v>45</c:v>
                </c:pt>
                <c:pt idx="3">
                  <c:v>8</c:v>
                </c:pt>
                <c:pt idx="4">
                  <c:v>22</c:v>
                </c:pt>
              </c:numCache>
            </c:numRef>
          </c:val>
          <c:extLst>
            <c:ext xmlns:c16="http://schemas.microsoft.com/office/drawing/2014/chart" uri="{C3380CC4-5D6E-409C-BE32-E72D297353CC}">
              <c16:uniqueId val="{00000001-29FC-4EDA-9D95-F9C7F1459B03}"/>
            </c:ext>
          </c:extLst>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t"/>
      <c:overlay val="0"/>
      <c:txPr>
        <a:bodyPr/>
        <a:lstStyle/>
        <a:p>
          <a:pPr>
            <a:defRPr sz="750">
              <a:solidFill>
                <a:srgbClr val="6F6A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0311-4A30-8735-85EC7D903A6C}"/>
              </c:ext>
            </c:extLst>
          </c:dPt>
          <c:dPt>
            <c:idx val="1"/>
            <c:invertIfNegative val="0"/>
            <c:bubble3D val="0"/>
            <c:extLst>
              <c:ext xmlns:c16="http://schemas.microsoft.com/office/drawing/2014/chart" uri="{C3380CC4-5D6E-409C-BE32-E72D297353CC}">
                <c16:uniqueId val="{00000003-0311-4A30-8735-85EC7D903A6C}"/>
              </c:ext>
            </c:extLst>
          </c:dPt>
          <c:dPt>
            <c:idx val="2"/>
            <c:invertIfNegative val="0"/>
            <c:bubble3D val="0"/>
            <c:extLst>
              <c:ext xmlns:c16="http://schemas.microsoft.com/office/drawing/2014/chart" uri="{C3380CC4-5D6E-409C-BE32-E72D297353CC}">
                <c16:uniqueId val="{00000005-0311-4A30-8735-85EC7D903A6C}"/>
              </c:ext>
            </c:extLst>
          </c:dPt>
          <c:dPt>
            <c:idx val="3"/>
            <c:invertIfNegative val="0"/>
            <c:bubble3D val="0"/>
            <c:extLst>
              <c:ext xmlns:c16="http://schemas.microsoft.com/office/drawing/2014/chart" uri="{C3380CC4-5D6E-409C-BE32-E72D297353CC}">
                <c16:uniqueId val="{00000007-0311-4A30-8735-85EC7D903A6C}"/>
              </c:ext>
            </c:extLst>
          </c:dPt>
          <c:dPt>
            <c:idx val="4"/>
            <c:invertIfNegative val="0"/>
            <c:bubble3D val="0"/>
            <c:extLst>
              <c:ext xmlns:c16="http://schemas.microsoft.com/office/drawing/2014/chart" uri="{C3380CC4-5D6E-409C-BE32-E72D297353CC}">
                <c16:uniqueId val="{00000009-0311-4A30-8735-85EC7D903A6C}"/>
              </c:ext>
            </c:extLst>
          </c:dPt>
          <c:dPt>
            <c:idx val="5"/>
            <c:invertIfNegative val="0"/>
            <c:bubble3D val="0"/>
            <c:spPr>
              <a:solidFill>
                <a:srgbClr val="B68757"/>
              </a:solidFill>
              <a:effectLst/>
            </c:spPr>
            <c:extLst>
              <c:ext xmlns:c16="http://schemas.microsoft.com/office/drawing/2014/chart" uri="{C3380CC4-5D6E-409C-BE32-E72D297353CC}">
                <c16:uniqueId val="{0000000B-0311-4A30-8735-85EC7D903A6C}"/>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15.7</c:v>
                </c:pt>
                <c:pt idx="1">
                  <c:v>12.8</c:v>
                </c:pt>
                <c:pt idx="2">
                  <c:v>14.9</c:v>
                </c:pt>
                <c:pt idx="3">
                  <c:v>15.6</c:v>
                </c:pt>
                <c:pt idx="4">
                  <c:v>18</c:v>
                </c:pt>
                <c:pt idx="5">
                  <c:v>23</c:v>
                </c:pt>
              </c:numCache>
            </c:numRef>
          </c:val>
          <c:extLst>
            <c:ext xmlns:c16="http://schemas.microsoft.com/office/drawing/2014/chart" uri="{C3380CC4-5D6E-409C-BE32-E72D297353CC}">
              <c16:uniqueId val="{0000000C-0311-4A30-8735-85EC7D903A6C}"/>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D35B-45A6-846A-E41593B4D1C9}"/>
              </c:ext>
            </c:extLst>
          </c:dPt>
          <c:dPt>
            <c:idx val="1"/>
            <c:invertIfNegative val="0"/>
            <c:bubble3D val="0"/>
            <c:extLst>
              <c:ext xmlns:c16="http://schemas.microsoft.com/office/drawing/2014/chart" uri="{C3380CC4-5D6E-409C-BE32-E72D297353CC}">
                <c16:uniqueId val="{00000003-D35B-45A6-846A-E41593B4D1C9}"/>
              </c:ext>
            </c:extLst>
          </c:dPt>
          <c:dPt>
            <c:idx val="2"/>
            <c:invertIfNegative val="0"/>
            <c:bubble3D val="0"/>
            <c:extLst>
              <c:ext xmlns:c16="http://schemas.microsoft.com/office/drawing/2014/chart" uri="{C3380CC4-5D6E-409C-BE32-E72D297353CC}">
                <c16:uniqueId val="{00000005-D35B-45A6-846A-E41593B4D1C9}"/>
              </c:ext>
            </c:extLst>
          </c:dPt>
          <c:dPt>
            <c:idx val="3"/>
            <c:invertIfNegative val="0"/>
            <c:bubble3D val="0"/>
            <c:extLst>
              <c:ext xmlns:c16="http://schemas.microsoft.com/office/drawing/2014/chart" uri="{C3380CC4-5D6E-409C-BE32-E72D297353CC}">
                <c16:uniqueId val="{00000007-D35B-45A6-846A-E41593B4D1C9}"/>
              </c:ext>
            </c:extLst>
          </c:dPt>
          <c:dPt>
            <c:idx val="4"/>
            <c:invertIfNegative val="0"/>
            <c:bubble3D val="0"/>
            <c:extLst>
              <c:ext xmlns:c16="http://schemas.microsoft.com/office/drawing/2014/chart" uri="{C3380CC4-5D6E-409C-BE32-E72D297353CC}">
                <c16:uniqueId val="{00000009-D35B-45A6-846A-E41593B4D1C9}"/>
              </c:ext>
            </c:extLst>
          </c:dPt>
          <c:dPt>
            <c:idx val="5"/>
            <c:invertIfNegative val="0"/>
            <c:bubble3D val="0"/>
            <c:spPr>
              <a:solidFill>
                <a:srgbClr val="B68757"/>
              </a:solidFill>
              <a:effectLst/>
            </c:spPr>
            <c:extLst>
              <c:ext xmlns:c16="http://schemas.microsoft.com/office/drawing/2014/chart" uri="{C3380CC4-5D6E-409C-BE32-E72D297353CC}">
                <c16:uniqueId val="{0000000B-D35B-45A6-846A-E41593B4D1C9}"/>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10.5</c:v>
                </c:pt>
                <c:pt idx="2">
                  <c:v>13.5</c:v>
                </c:pt>
                <c:pt idx="3">
                  <c:v>14.3</c:v>
                </c:pt>
                <c:pt idx="4">
                  <c:v>14.9</c:v>
                </c:pt>
                <c:pt idx="5">
                  <c:v>17.7</c:v>
                </c:pt>
              </c:numCache>
            </c:numRef>
          </c:val>
          <c:extLst>
            <c:ext xmlns:c16="http://schemas.microsoft.com/office/drawing/2014/chart" uri="{C3380CC4-5D6E-409C-BE32-E72D297353CC}">
              <c16:uniqueId val="{0000000C-D35B-45A6-846A-E41593B4D1C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B2D1-430F-968B-24BD9A9EBE98}"/>
              </c:ext>
            </c:extLst>
          </c:dPt>
          <c:dPt>
            <c:idx val="1"/>
            <c:invertIfNegative val="0"/>
            <c:bubble3D val="0"/>
            <c:extLst>
              <c:ext xmlns:c16="http://schemas.microsoft.com/office/drawing/2014/chart" uri="{C3380CC4-5D6E-409C-BE32-E72D297353CC}">
                <c16:uniqueId val="{00000003-B2D1-430F-968B-24BD9A9EBE98}"/>
              </c:ext>
            </c:extLst>
          </c:dPt>
          <c:dPt>
            <c:idx val="2"/>
            <c:invertIfNegative val="0"/>
            <c:bubble3D val="0"/>
            <c:extLst>
              <c:ext xmlns:c16="http://schemas.microsoft.com/office/drawing/2014/chart" uri="{C3380CC4-5D6E-409C-BE32-E72D297353CC}">
                <c16:uniqueId val="{00000005-B2D1-430F-968B-24BD9A9EBE98}"/>
              </c:ext>
            </c:extLst>
          </c:dPt>
          <c:dPt>
            <c:idx val="3"/>
            <c:invertIfNegative val="0"/>
            <c:bubble3D val="0"/>
            <c:extLst>
              <c:ext xmlns:c16="http://schemas.microsoft.com/office/drawing/2014/chart" uri="{C3380CC4-5D6E-409C-BE32-E72D297353CC}">
                <c16:uniqueId val="{00000007-B2D1-430F-968B-24BD9A9EBE98}"/>
              </c:ext>
            </c:extLst>
          </c:dPt>
          <c:dPt>
            <c:idx val="4"/>
            <c:invertIfNegative val="0"/>
            <c:bubble3D val="0"/>
            <c:extLst>
              <c:ext xmlns:c16="http://schemas.microsoft.com/office/drawing/2014/chart" uri="{C3380CC4-5D6E-409C-BE32-E72D297353CC}">
                <c16:uniqueId val="{00000009-B2D1-430F-968B-24BD9A9EBE98}"/>
              </c:ext>
            </c:extLst>
          </c:dPt>
          <c:dPt>
            <c:idx val="5"/>
            <c:invertIfNegative val="0"/>
            <c:bubble3D val="0"/>
            <c:spPr>
              <a:solidFill>
                <a:srgbClr val="B68757"/>
              </a:solidFill>
              <a:effectLst/>
            </c:spPr>
            <c:extLst>
              <c:ext xmlns:c16="http://schemas.microsoft.com/office/drawing/2014/chart" uri="{C3380CC4-5D6E-409C-BE32-E72D297353CC}">
                <c16:uniqueId val="{0000000B-B2D1-430F-968B-24BD9A9EBE98}"/>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12.7</c:v>
                </c:pt>
                <c:pt idx="1">
                  <c:v>10</c:v>
                </c:pt>
                <c:pt idx="2">
                  <c:v>13.6</c:v>
                </c:pt>
                <c:pt idx="3">
                  <c:v>15.2</c:v>
                </c:pt>
                <c:pt idx="4">
                  <c:v>16.7</c:v>
                </c:pt>
                <c:pt idx="5">
                  <c:v>15.1</c:v>
                </c:pt>
              </c:numCache>
            </c:numRef>
          </c:val>
          <c:extLst>
            <c:ext xmlns:c16="http://schemas.microsoft.com/office/drawing/2014/chart" uri="{C3380CC4-5D6E-409C-BE32-E72D297353CC}">
              <c16:uniqueId val="{0000000C-B2D1-430F-968B-24BD9A9EBE98}"/>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813B-4D3B-8898-A7C1DB3CBE2D}"/>
              </c:ext>
            </c:extLst>
          </c:dPt>
          <c:dPt>
            <c:idx val="1"/>
            <c:invertIfNegative val="0"/>
            <c:bubble3D val="0"/>
            <c:extLst>
              <c:ext xmlns:c16="http://schemas.microsoft.com/office/drawing/2014/chart" uri="{C3380CC4-5D6E-409C-BE32-E72D297353CC}">
                <c16:uniqueId val="{00000003-813B-4D3B-8898-A7C1DB3CBE2D}"/>
              </c:ext>
            </c:extLst>
          </c:dPt>
          <c:dPt>
            <c:idx val="2"/>
            <c:invertIfNegative val="0"/>
            <c:bubble3D val="0"/>
            <c:extLst>
              <c:ext xmlns:c16="http://schemas.microsoft.com/office/drawing/2014/chart" uri="{C3380CC4-5D6E-409C-BE32-E72D297353CC}">
                <c16:uniqueId val="{00000005-813B-4D3B-8898-A7C1DB3CBE2D}"/>
              </c:ext>
            </c:extLst>
          </c:dPt>
          <c:dPt>
            <c:idx val="3"/>
            <c:invertIfNegative val="0"/>
            <c:bubble3D val="0"/>
            <c:extLst>
              <c:ext xmlns:c16="http://schemas.microsoft.com/office/drawing/2014/chart" uri="{C3380CC4-5D6E-409C-BE32-E72D297353CC}">
                <c16:uniqueId val="{00000007-813B-4D3B-8898-A7C1DB3CBE2D}"/>
              </c:ext>
            </c:extLst>
          </c:dPt>
          <c:dPt>
            <c:idx val="4"/>
            <c:invertIfNegative val="0"/>
            <c:bubble3D val="0"/>
            <c:extLst>
              <c:ext xmlns:c16="http://schemas.microsoft.com/office/drawing/2014/chart" uri="{C3380CC4-5D6E-409C-BE32-E72D297353CC}">
                <c16:uniqueId val="{00000009-813B-4D3B-8898-A7C1DB3CBE2D}"/>
              </c:ext>
            </c:extLst>
          </c:dPt>
          <c:dPt>
            <c:idx val="5"/>
            <c:invertIfNegative val="0"/>
            <c:bubble3D val="0"/>
            <c:spPr>
              <a:solidFill>
                <a:srgbClr val="B68757"/>
              </a:solidFill>
              <a:effectLst/>
            </c:spPr>
            <c:extLst>
              <c:ext xmlns:c16="http://schemas.microsoft.com/office/drawing/2014/chart" uri="{C3380CC4-5D6E-409C-BE32-E72D297353CC}">
                <c16:uniqueId val="{0000000B-813B-4D3B-8898-A7C1DB3CBE2D}"/>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23.9</c:v>
                </c:pt>
                <c:pt idx="1">
                  <c:v>17.399999999999999</c:v>
                </c:pt>
                <c:pt idx="2">
                  <c:v>18.600000000000001</c:v>
                </c:pt>
                <c:pt idx="3">
                  <c:v>16.7</c:v>
                </c:pt>
                <c:pt idx="4">
                  <c:v>18.2</c:v>
                </c:pt>
                <c:pt idx="5">
                  <c:v>16.2</c:v>
                </c:pt>
              </c:numCache>
            </c:numRef>
          </c:val>
          <c:extLst>
            <c:ext xmlns:c16="http://schemas.microsoft.com/office/drawing/2014/chart" uri="{C3380CC4-5D6E-409C-BE32-E72D297353CC}">
              <c16:uniqueId val="{0000000C-813B-4D3B-8898-A7C1DB3CBE2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5FAB-42BF-B3C0-0E21DDD66956}"/>
              </c:ext>
            </c:extLst>
          </c:dPt>
          <c:dPt>
            <c:idx val="1"/>
            <c:invertIfNegative val="0"/>
            <c:bubble3D val="0"/>
            <c:extLst>
              <c:ext xmlns:c16="http://schemas.microsoft.com/office/drawing/2014/chart" uri="{C3380CC4-5D6E-409C-BE32-E72D297353CC}">
                <c16:uniqueId val="{00000003-5FAB-42BF-B3C0-0E21DDD66956}"/>
              </c:ext>
            </c:extLst>
          </c:dPt>
          <c:dPt>
            <c:idx val="2"/>
            <c:invertIfNegative val="0"/>
            <c:bubble3D val="0"/>
            <c:extLst>
              <c:ext xmlns:c16="http://schemas.microsoft.com/office/drawing/2014/chart" uri="{C3380CC4-5D6E-409C-BE32-E72D297353CC}">
                <c16:uniqueId val="{00000005-5FAB-42BF-B3C0-0E21DDD66956}"/>
              </c:ext>
            </c:extLst>
          </c:dPt>
          <c:dPt>
            <c:idx val="3"/>
            <c:invertIfNegative val="0"/>
            <c:bubble3D val="0"/>
            <c:extLst>
              <c:ext xmlns:c16="http://schemas.microsoft.com/office/drawing/2014/chart" uri="{C3380CC4-5D6E-409C-BE32-E72D297353CC}">
                <c16:uniqueId val="{00000007-5FAB-42BF-B3C0-0E21DDD66956}"/>
              </c:ext>
            </c:extLst>
          </c:dPt>
          <c:dPt>
            <c:idx val="4"/>
            <c:invertIfNegative val="0"/>
            <c:bubble3D val="0"/>
            <c:extLst>
              <c:ext xmlns:c16="http://schemas.microsoft.com/office/drawing/2014/chart" uri="{C3380CC4-5D6E-409C-BE32-E72D297353CC}">
                <c16:uniqueId val="{00000009-5FAB-42BF-B3C0-0E21DDD66956}"/>
              </c:ext>
            </c:extLst>
          </c:dPt>
          <c:dPt>
            <c:idx val="5"/>
            <c:invertIfNegative val="0"/>
            <c:bubble3D val="0"/>
            <c:spPr>
              <a:solidFill>
                <a:srgbClr val="B68757"/>
              </a:solidFill>
              <a:effectLst/>
            </c:spPr>
            <c:extLst>
              <c:ext xmlns:c16="http://schemas.microsoft.com/office/drawing/2014/chart" uri="{C3380CC4-5D6E-409C-BE32-E72D297353CC}">
                <c16:uniqueId val="{0000000B-5FAB-42BF-B3C0-0E21DDD66956}"/>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11.7</c:v>
                </c:pt>
                <c:pt idx="1">
                  <c:v>9.3000000000000007</c:v>
                </c:pt>
                <c:pt idx="2">
                  <c:v>12.2</c:v>
                </c:pt>
                <c:pt idx="3">
                  <c:v>11.5</c:v>
                </c:pt>
                <c:pt idx="4">
                  <c:v>11.1</c:v>
                </c:pt>
                <c:pt idx="5">
                  <c:v>12.7</c:v>
                </c:pt>
              </c:numCache>
            </c:numRef>
          </c:val>
          <c:extLst>
            <c:ext xmlns:c16="http://schemas.microsoft.com/office/drawing/2014/chart" uri="{C3380CC4-5D6E-409C-BE32-E72D297353CC}">
              <c16:uniqueId val="{0000000C-5FAB-42BF-B3C0-0E21DDD6695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5.3</c:v>
                </c:pt>
                <c:pt idx="1">
                  <c:v>5.4</c:v>
                </c:pt>
                <c:pt idx="2">
                  <c:v>22.2</c:v>
                </c:pt>
                <c:pt idx="3">
                  <c:v>10.199999999999999</c:v>
                </c:pt>
                <c:pt idx="4">
                  <c:v>11.3</c:v>
                </c:pt>
              </c:numCache>
            </c:numRef>
          </c:val>
          <c:extLst>
            <c:ext xmlns:c16="http://schemas.microsoft.com/office/drawing/2014/chart" uri="{C3380CC4-5D6E-409C-BE32-E72D297353CC}">
              <c16:uniqueId val="{00000000-43E8-486E-BB0F-2BF887FE310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1.1000000000000001</c:v>
                </c:pt>
                <c:pt idx="1">
                  <c:v>16.5</c:v>
                </c:pt>
                <c:pt idx="2">
                  <c:v>30.9</c:v>
                </c:pt>
                <c:pt idx="3">
                  <c:v>9.3000000000000007</c:v>
                </c:pt>
                <c:pt idx="4">
                  <c:v>10.7</c:v>
                </c:pt>
              </c:numCache>
            </c:numRef>
          </c:val>
          <c:extLst>
            <c:ext xmlns:c16="http://schemas.microsoft.com/office/drawing/2014/chart" uri="{C3380CC4-5D6E-409C-BE32-E72D297353CC}">
              <c16:uniqueId val="{00000000-BB78-4FA6-8D7E-1D5546EA30A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10.5</c:v>
                </c:pt>
                <c:pt idx="1">
                  <c:v>20.3</c:v>
                </c:pt>
                <c:pt idx="2">
                  <c:v>10.199999999999999</c:v>
                </c:pt>
                <c:pt idx="3">
                  <c:v>11.9</c:v>
                </c:pt>
                <c:pt idx="4">
                  <c:v>20.9</c:v>
                </c:pt>
              </c:numCache>
            </c:numRef>
          </c:val>
          <c:extLst>
            <c:ext xmlns:c16="http://schemas.microsoft.com/office/drawing/2014/chart" uri="{C3380CC4-5D6E-409C-BE32-E72D297353CC}">
              <c16:uniqueId val="{00000000-7E20-4FB5-874B-7D8A2FA73E9B}"/>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61.3</c:v>
                </c:pt>
                <c:pt idx="1">
                  <c:v>49.4</c:v>
                </c:pt>
                <c:pt idx="2">
                  <c:v>74</c:v>
                </c:pt>
                <c:pt idx="3">
                  <c:v>49.9</c:v>
                </c:pt>
                <c:pt idx="4">
                  <c:v>64.2</c:v>
                </c:pt>
              </c:numCache>
            </c:numRef>
          </c:val>
          <c:extLst>
            <c:ext xmlns:c16="http://schemas.microsoft.com/office/drawing/2014/chart" uri="{C3380CC4-5D6E-409C-BE32-E72D297353CC}">
              <c16:uniqueId val="{00000000-D772-4EEA-B058-27894F6FCA4A}"/>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23</c:v>
                </c:pt>
                <c:pt idx="1">
                  <c:v>17.7</c:v>
                </c:pt>
                <c:pt idx="2">
                  <c:v>15.1</c:v>
                </c:pt>
                <c:pt idx="3">
                  <c:v>16.2</c:v>
                </c:pt>
                <c:pt idx="4">
                  <c:v>12.7</c:v>
                </c:pt>
              </c:numCache>
            </c:numRef>
          </c:val>
          <c:extLst>
            <c:ext xmlns:c16="http://schemas.microsoft.com/office/drawing/2014/chart" uri="{C3380CC4-5D6E-409C-BE32-E72D297353CC}">
              <c16:uniqueId val="{00000000-F4C5-4564-AF41-0AD5E4E39E61}"/>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18</c:v>
                </c:pt>
                <c:pt idx="1">
                  <c:v>14.9</c:v>
                </c:pt>
                <c:pt idx="2">
                  <c:v>16.7</c:v>
                </c:pt>
                <c:pt idx="3">
                  <c:v>18.2</c:v>
                </c:pt>
                <c:pt idx="4">
                  <c:v>11.1</c:v>
                </c:pt>
              </c:numCache>
            </c:numRef>
          </c:val>
          <c:extLst>
            <c:ext xmlns:c16="http://schemas.microsoft.com/office/drawing/2014/chart" uri="{C3380CC4-5D6E-409C-BE32-E72D297353CC}">
              <c16:uniqueId val="{00000000-EB89-48AB-AB26-8DF39E4EEA27}"/>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29</c:v>
                </c:pt>
                <c:pt idx="1">
                  <c:v>33.200000000000003</c:v>
                </c:pt>
                <c:pt idx="2">
                  <c:v>-8.6</c:v>
                </c:pt>
                <c:pt idx="3">
                  <c:v>-6.6</c:v>
                </c:pt>
                <c:pt idx="4">
                  <c:v>43.1</c:v>
                </c:pt>
              </c:numCache>
            </c:numRef>
          </c:val>
          <c:extLst>
            <c:ext xmlns:c16="http://schemas.microsoft.com/office/drawing/2014/chart" uri="{C3380CC4-5D6E-409C-BE32-E72D297353CC}">
              <c16:uniqueId val="{00000000-5E5D-40B3-A104-A6FF08504EC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1.5</c:v>
                </c:pt>
                <c:pt idx="1">
                  <c:v>1.9</c:v>
                </c:pt>
                <c:pt idx="2">
                  <c:v>0.4</c:v>
                </c:pt>
                <c:pt idx="3">
                  <c:v>2.1</c:v>
                </c:pt>
                <c:pt idx="4">
                  <c:v>1.5</c:v>
                </c:pt>
              </c:numCache>
            </c:numRef>
          </c:val>
          <c:extLst>
            <c:ext xmlns:c16="http://schemas.microsoft.com/office/drawing/2014/chart" uri="{C3380CC4-5D6E-409C-BE32-E72D297353CC}">
              <c16:uniqueId val="{00000000-36A4-469F-806C-AD0D5405D8F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extLst>
            <c:ext xmlns:c16="http://schemas.microsoft.com/office/drawing/2014/chart" uri="{C3380CC4-5D6E-409C-BE32-E72D297353CC}">
              <c16:uniqueId val="{00000000-0F80-4467-847D-A1B46C871C3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75.730900000000005</c:v>
                </c:pt>
              </c:numCache>
            </c:numRef>
          </c:val>
          <c:smooth val="0"/>
          <c:extLst>
            <c:ext xmlns:c16="http://schemas.microsoft.com/office/drawing/2014/chart" uri="{C3380CC4-5D6E-409C-BE32-E72D297353CC}">
              <c16:uniqueId val="{00000000-1263-4FE5-975C-629F718114F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extLst>
            <c:ext xmlns:c16="http://schemas.microsoft.com/office/drawing/2014/chart" uri="{C3380CC4-5D6E-409C-BE32-E72D297353CC}">
              <c16:uniqueId val="{00000000-B46C-4FED-A524-EE19F92CDB2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extLst>
            <c:ext xmlns:c16="http://schemas.microsoft.com/office/drawing/2014/chart" uri="{C3380CC4-5D6E-409C-BE32-E72D297353CC}">
              <c16:uniqueId val="{00000000-4B0A-486A-BE8F-D9F494FB5A2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extLst>
            <c:ext xmlns:c16="http://schemas.microsoft.com/office/drawing/2014/chart" uri="{C3380CC4-5D6E-409C-BE32-E72D297353CC}">
              <c16:uniqueId val="{00000000-7848-40A4-9C2B-AB7D3546BAC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extLst>
            <c:ext xmlns:c16="http://schemas.microsoft.com/office/drawing/2014/chart" uri="{C3380CC4-5D6E-409C-BE32-E72D297353CC}">
              <c16:uniqueId val="{00000000-108C-4100-8319-504A83E2976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extLst>
            <c:ext xmlns:c16="http://schemas.microsoft.com/office/drawing/2014/chart" uri="{C3380CC4-5D6E-409C-BE32-E72D297353CC}">
              <c16:uniqueId val="{00000000-3C73-494B-BA84-FBE36A044168}"/>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extLst>
            <c:ext xmlns:c16="http://schemas.microsoft.com/office/drawing/2014/chart" uri="{C3380CC4-5D6E-409C-BE32-E72D297353CC}">
              <c16:uniqueId val="{00000000-BACC-4D10-96A8-7A40C7DD61FE}"/>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759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none" lIns="0" tIns="0" rIns="0" bIns="0" rtlCol="0" anchor="ctr"/>
          <a:lstStyle/>
          <a:p>
            <a:pPr marL="0" indent="0">
              <a:buNone/>
            </a:pPr>
            <a:r>
              <a:rPr lang="en-US" sz="675" b="1" kern="0" spc="220" dirty="0">
                <a:solidFill>
                  <a:srgbClr val="8C6239"/>
                </a:solidFill>
              </a:rPr>
              <a:t>INDUSTRIAL  |  QUARTERLY INDUSTRY REPORT</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MIDDLE MARKET</a:t>
            </a:r>
            <a:endParaRPr lang="en-US" sz="638" dirty="0"/>
          </a:p>
        </p:txBody>
      </p:sp>
      <p:sp>
        <p:nvSpPr>
          <p:cNvPr id="5" name="Text 1"/>
          <p:cNvSpPr/>
          <p:nvPr/>
        </p:nvSpPr>
        <p:spPr>
          <a:xfrm>
            <a:off x="609600" y="590550"/>
            <a:ext cx="4572000" cy="171450"/>
          </a:xfrm>
          <a:prstGeom prst="rect">
            <a:avLst/>
          </a:prstGeom>
          <a:noFill/>
          <a:ln/>
        </p:spPr>
        <p:txBody>
          <a:bodyPr wrap="none" lIns="0" tIns="0" rIns="0" bIns="0" rtlCol="0" anchor="ctr"/>
          <a:lstStyle/>
          <a:p>
            <a:pPr marL="0" indent="0">
              <a:buNone/>
            </a:pPr>
            <a:r>
              <a:rPr lang="en-US" sz="675" b="1" kern="0" spc="220" dirty="0">
                <a:solidFill>
                  <a:srgbClr val="D3AE84"/>
                </a:solidFill>
              </a:rPr>
              <a:t>INDUSTRIAL  |  QUARTERLY INDUSTRY REPORT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12.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13.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14.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mdm.com/?p=436875"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17.jpg"/><Relationship Id="rId10" Type="http://schemas.openxmlformats.org/officeDocument/2006/relationships/hyperlink" Target="tel:8137716675" TargetMode="External"/><Relationship Id="rId11" Type="http://schemas.openxmlformats.org/officeDocument/2006/relationships/hyperlink" Target="mailto:j.hardin@benchmarkintl.com" TargetMode="External"/><Relationship Id="rId12" Type="http://schemas.openxmlformats.org/officeDocument/2006/relationships/image" Target="../media/image18.jpg"/><Relationship Id="rId13" Type="http://schemas.openxmlformats.org/officeDocument/2006/relationships/hyperlink" Target="https://jp-hardin.github.io/about/mid-market-practice/transactions.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stockanalysis.com/" TargetMode="External"/><Relationship Id="rId4" Type="http://schemas.openxmlformats.org/officeDocument/2006/relationships/image" Target="../media/image20.png"/><Relationship Id="rId5" Type="http://schemas.openxmlformats.org/officeDocument/2006/relationships/chart" Target="../charts/chart2.xml"/><Relationship Id="rId6" Type="http://schemas.openxmlformats.org/officeDocument/2006/relationships/image" Target="../media/image21.png"/><Relationship Id="rId7" Type="http://schemas.openxmlformats.org/officeDocument/2006/relationships/chart" Target="../charts/chart3.xml"/><Relationship Id="rId8" Type="http://schemas.openxmlformats.org/officeDocument/2006/relationships/image" Target="../media/image22.png"/><Relationship Id="rId9" Type="http://schemas.openxmlformats.org/officeDocument/2006/relationships/chart" Target="../charts/chart4.xml"/><Relationship Id="rId10" Type="http://schemas.openxmlformats.org/officeDocument/2006/relationships/image" Target="../media/image23.png"/><Relationship Id="rId11" Type="http://schemas.openxmlformats.org/officeDocument/2006/relationships/chart" Target="../charts/chart5.xml"/><Relationship Id="rId12" Type="http://schemas.openxmlformats.org/officeDocument/2006/relationships/image" Target="../media/image24.png"/><Relationship Id="rId13" Type="http://schemas.openxmlformats.org/officeDocument/2006/relationships/chart" Target="../charts/chart6.xm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ibba.org/wp-content/uploads/2026/08/mp-highlights-q2-2026.pdf" TargetMode="External"/><Relationship Id="rId16" Type="http://schemas.openxmlformats.org/officeDocument/2006/relationships/hyperlink" Target="https://digitalcommons.pepperdine.edu/gsbm_pcm_pcmr/1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stockanalysis.com/" TargetMode="Externa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chart" Target="../charts/char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stockanalysis.com/" TargetMode="Externa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 Id="rId7" Type="http://schemas.openxmlformats.org/officeDocument/2006/relationships/chart" Target="../charts/char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benchmarkintl.com/" TargetMode="External"/><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18.jpg"/><Relationship Id="rId8" Type="http://schemas.openxmlformats.org/officeDocument/2006/relationships/image" Target="../media/image26.jpg"/><Relationship Id="rId9" Type="http://schemas.openxmlformats.org/officeDocument/2006/relationships/image" Target="../media/image27.jpg"/><Relationship Id="rId10" Type="http://schemas.openxmlformats.org/officeDocument/2006/relationships/hyperlink" Target="https://jp-hardin.github.io/about/mid-market-practice/insights/industrial-industry-report-q4-2026.html" TargetMode="External"/><Relationship Id="rId11" Type="http://schemas.openxmlformats.org/officeDocument/2006/relationships/image" Target="../media/image3.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 Id="rId16" Type="http://schemas.openxmlformats.org/officeDocument/2006/relationships/image" Target="../media/image9.png"/><Relationship Id="rId17" Type="http://schemas.openxmlformats.org/officeDocument/2006/relationships/hyperlink" Target="mailto:jhoutz@benchmarkintl.com" TargetMode="External"/><Relationship Id="rId18" Type="http://schemas.openxmlformats.org/officeDocument/2006/relationships/hyperlink" Target="tel:8138982372" TargetMode="External"/><Relationship Id="rId19" Type="http://schemas.openxmlformats.org/officeDocument/2006/relationships/hyperlink" Target="mailto:azykov@benchmarkintl.com" TargetMode="External"/><Relationship Id="rId20" Type="http://schemas.openxmlformats.org/officeDocument/2006/relationships/hyperlink" Target="tel:8138982397" TargetMode="External"/><Relationship Id="rId21" Type="http://schemas.openxmlformats.org/officeDocument/2006/relationships/hyperlink" Target="mailto:hess@benchmarkintl.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18.jpg"/><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26.jpg"/><Relationship Id="rId8" Type="http://schemas.openxmlformats.org/officeDocument/2006/relationships/image" Target="../media/image27.jpg"/><Relationship Id="rId9" Type="http://schemas.openxmlformats.org/officeDocument/2006/relationships/image" Target="../media/image28.jpg"/><Relationship Id="rId10" Type="http://schemas.openxmlformats.org/officeDocument/2006/relationships/image" Target="../media/image29.jpg"/><Relationship Id="rId11" Type="http://schemas.openxmlformats.org/officeDocument/2006/relationships/image" Target="../media/image30.jpg"/><Relationship Id="rId12" Type="http://schemas.openxmlformats.org/officeDocument/2006/relationships/image" Target="../media/image31.jpg"/><Relationship Id="rId13" Type="http://schemas.openxmlformats.org/officeDocument/2006/relationships/image" Target="../media/image32.jpg"/><Relationship Id="rId14" Type="http://schemas.openxmlformats.org/officeDocument/2006/relationships/image" Target="../media/image33.jpg"/><Relationship Id="rId15" Type="http://schemas.openxmlformats.org/officeDocument/2006/relationships/image" Target="../media/image34.png"/><Relationship Id="rId16" Type="http://schemas.openxmlformats.org/officeDocument/2006/relationships/image" Target="../media/image35.png"/><Relationship Id="rId17" Type="http://schemas.openxmlformats.org/officeDocument/2006/relationships/image" Target="../media/image36.png"/><Relationship Id="rId18" Type="http://schemas.openxmlformats.org/officeDocument/2006/relationships/image" Target="../media/image37.png"/><Relationship Id="rId19" Type="http://schemas.openxmlformats.org/officeDocument/2006/relationships/image" Target="../media/image38.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mdm.com/news/research/economic-trends/u-s-metalworking-machinery-orders-slide-in-july/" TargetMode="External"/><Relationship Id="rId5" Type="http://schemas.openxmlformats.org/officeDocument/2006/relationships/hyperlink" Target="https://www.federalreserve.gov/releases/g17/current/default.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pyebarkerfs.com/?p=22122" TargetMode="External"/><Relationship Id="rId8" Type="http://schemas.openxmlformats.org/officeDocument/2006/relationships/hyperlink" Target="https://www.sec.gov/Archives/edgar/data/1035983/000110465926086255/fix-20260723xex99d1.htm" TargetMode="External"/><Relationship Id="rId9" Type="http://schemas.openxmlformats.org/officeDocument/2006/relationships/hyperlink" Target="https://aashtojournal.transportation.org/?p=41360" TargetMode="External"/><Relationship Id="rId10" Type="http://schemas.openxmlformats.org/officeDocument/2006/relationships/hyperlink" Target="https://www.businesswire.com/news/home/20251210396417/en/APi-Group-Announces-Acquisition-of-CertaSite-and-Provides-Full-Year-2025-Update" TargetMode="External"/><Relationship Id="rId11" Type="http://schemas.openxmlformats.org/officeDocument/2006/relationships/hyperlink" Target="https://www.transcat.com/news/post/transcat-reports-strong-fiscal-first-quarter-2027-financial-results" TargetMode="External"/><Relationship Id="rId12" Type="http://schemas.openxmlformats.org/officeDocument/2006/relationships/hyperlink" Target="https://www.globalbankingandfinance.com/global-m-deal-rush-fades-third-quarter-rising-borrowing/" TargetMode="External"/><Relationship Id="rId13" Type="http://schemas.openxmlformats.org/officeDocument/2006/relationships/hyperlink" Target="https://www.federalreserve.gov/newsevents/pressreleases/monetary20260916a.htm"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eia.gov/outlooks/steo/report/elec_coal_renew.php" TargetMode="External"/><Relationship Id="rId16" Type="http://schemas.openxmlformats.org/officeDocument/2006/relationships/hyperlink" Target="https://www.powermag.com/nerc-warns-long-term-grid-reliability-risks-mounting/" TargetMode="External"/><Relationship Id="rId17" Type="http://schemas.openxmlformats.org/officeDocument/2006/relationships/hyperlink" Target="https://www.prnewswire.com/news-releases/meta-reports-second-quarter-2026-results-302838214.html" TargetMode="External"/><Relationship Id="rId18" Type="http://schemas.openxmlformats.org/officeDocument/2006/relationships/hyperlink" Target="https://www.sec.gov/Archives/edgar/data/0001996810/000199681026000147/gevpressrelease2q26.htm" TargetMode="External"/><Relationship Id="rId19" Type="http://schemas.openxmlformats.org/officeDocument/2006/relationships/hyperlink" Target="https://www.ajot.com/news/us-power-companies-scramble-to-secure-equipment-as-surging-data-center-demand-strains-supplies" TargetMode="External"/><Relationship Id="rId20" Type="http://schemas.openxmlformats.org/officeDocument/2006/relationships/hyperlink" Target="https://www.sec.gov/Archives/edgar/data/0001474735/000143774926024731/ex_994826.htm" TargetMode="External"/><Relationship Id="rId21" Type="http://schemas.openxmlformats.org/officeDocument/2006/relationships/hyperlink" Target="https://www.globenewswire.com/news-release/2026/08/24/3349571/0/en/nvent-to-acquire-maverick-power.html" TargetMode="External"/><Relationship Id="rId22" Type="http://schemas.openxmlformats.org/officeDocument/2006/relationships/hyperlink" Target="https://www.sec.gov/Archives/edgar/data/105634/000010563426000112/eme-ex991_2026630xq2.htm" TargetMode="External"/><Relationship Id="rId23" Type="http://schemas.openxmlformats.org/officeDocument/2006/relationships/hyperlink" Target="https://www.globenewswire.com/news-release/2026/09/15/3362305/0/en/abc-survey-1-in-6-members-perform-data-center-work-backlog-rebounds-in-august.html" TargetMode="External"/><Relationship Id="rId24" Type="http://schemas.openxmlformats.org/officeDocument/2006/relationships/hyperlink" Target="https://www.businesswire.com/news/home/20260804326592/en/Limbach-Reports-Second-Quarter-2026-Results" TargetMode="External"/><Relationship Id="rId25" Type="http://schemas.openxmlformats.org/officeDocument/2006/relationships/hyperlink" Target="https://dallasinnovates.com/north-texas-mission-critical-group-acquires-txla-systems/" TargetMode="External"/><Relationship Id="rId26" Type="http://schemas.openxmlformats.org/officeDocument/2006/relationships/hyperlink" Target="https://distributionstrategy.com/2026/07/mission-critical-group-makes-play-for-transformer-supply/" TargetMode="External"/><Relationship Id="rId27" Type="http://schemas.openxmlformats.org/officeDocument/2006/relationships/hyperlink" Target="https://www.mdm.com/?p=436875" TargetMode="External"/><Relationship Id="rId28" Type="http://schemas.openxmlformats.org/officeDocument/2006/relationships/hyperlink" Target="https://vertikal.net/en/news/story/49180/jk-takes-360" TargetMode="External"/><Relationship Id="rId29" Type="http://schemas.openxmlformats.org/officeDocument/2006/relationships/hyperlink" Target="https://www.rwbaird.com/siteassets/gib/pdf/electrical-power-solutions-sector-update-september-2026.pdf"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featured/featured-blog/ferguson-makes-1-6b-flow-control-bet-with-floworks-deal/" TargetMode="External"/><Relationship Id="rId42" Type="http://schemas.openxmlformats.org/officeDocument/2006/relationships/hyperlink" Target="https://www.mdm.com/news/top-distributor-sectors/gases-welding-equipment/meritus-gas-partners-adds-5-dfw-locations-with-acquisition-of-metroplex-welding-supply/" TargetMode="External"/><Relationship Id="rId43" Type="http://schemas.openxmlformats.org/officeDocument/2006/relationships/hyperlink" Target="https://pulse2.com/limbach-acquires-1901-for-63-million-plus-up-to-6-million-in-earnouts/" TargetMode="External"/><Relationship Id="rId44" Type="http://schemas.openxmlformats.org/officeDocument/2006/relationships/hyperlink" Target="https://www.rermag.com/mergers-acquisitions/news/55397729/bay-crane-acquires-clark-rigging-rental-growing-its-upstate-new-york-presence" TargetMode="External"/><Relationship Id="rId45" Type="http://schemas.openxmlformats.org/officeDocument/2006/relationships/hyperlink" Target="https://wasteadvantagemag.com/clean-harbors-to-acquire-enviroserve/" TargetMode="External"/><Relationship Id="rId46" Type="http://schemas.openxmlformats.org/officeDocument/2006/relationships/hyperlink" Target="https://www.sec.gov/Archives/edgar/data/0000822818/000082281826000031/clh-q22026pressrelease.htm" TargetMode="External"/><Relationship Id="rId47" Type="http://schemas.openxmlformats.org/officeDocument/2006/relationships/hyperlink" Target="https://www.sec.gov/Archives/edgar/data/0001929561/000114036126038548/ef20083265_ex99-1.htm" TargetMode="External"/><Relationship Id="rId48" Type="http://schemas.openxmlformats.org/officeDocument/2006/relationships/hyperlink" Target="https://www.benchmarkintl.com/insights/completed-transactions/benchmark-international-successfully-facilitated-the-transaction-between-the-carmi-companies-and-the-nearshore-company/" TargetMode="External"/><Relationship Id="rId49" Type="http://schemas.openxmlformats.org/officeDocument/2006/relationships/hyperlink" Target="https://www.benchmarkintl.com/insights/completed-transactions/benchmark-international-successfully-facilitated-the-transaction-between-fps-technologies-inc-and-cintas-corporation/" TargetMode="External"/><Relationship Id="rId50" Type="http://schemas.openxmlformats.org/officeDocument/2006/relationships/hyperlink" Target="https://www.benchmarkintl.com/insights/completed-transactions/benchmark-international-successfully-facilitated-the-transaction-between-maxvac-inc-and-dxp-enterprises-inc/" TargetMode="External"/><Relationship Id="rId51" Type="http://schemas.openxmlformats.org/officeDocument/2006/relationships/hyperlink" Target="https://www.benchmarkintl.com/insights/completed-transactions/benchmark-international-facilitated-the-transaction-of-trinity-industrial-services-llc-and-aecon-group-inc/" TargetMode="External"/><Relationship Id="rId52" Type="http://schemas.openxmlformats.org/officeDocument/2006/relationships/hyperlink" Target="https://www.benchmarkintl.com/insights/completed-transactions/benchmark-international-successfully-facilitated-the-transaction-of-invocon-inc-and-cemtrex-inc/" TargetMode="External"/><Relationship Id="rId53" Type="http://schemas.openxmlformats.org/officeDocument/2006/relationships/hyperlink" Target="https://www.benchmarkintl.com/insights/completed-transactions/benchmark-international-successfully-facilitated-the-transaction-between-climate-engineering-inc-and-harris-company/" TargetMode="External"/><Relationship Id="rId54" Type="http://schemas.openxmlformats.org/officeDocument/2006/relationships/hyperlink" Target="https://www.benchmarkintl.com/insights/completed-transactions/benchmark-international-successfully-facilitated-a-transaction-between-briggs-engineering-testing-and-phenna-group/" TargetMode="External"/><Relationship Id="rId55"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6" Type="http://schemas.openxmlformats.org/officeDocument/2006/relationships/hyperlink" Target="https://www.benchmarkintl.com/insights/completed-transactions/benchmark-international-successfully-facilitated-the-transaction-between-wesco-chemicals-inc-and-apex-water-and-process-inc/" TargetMode="External"/><Relationship Id="rId57" Type="http://schemas.openxmlformats.org/officeDocument/2006/relationships/hyperlink" Target="https://www.benchmarkintl.com/insights/benchmark-international-successfully-facilitated-the-transaction-between-dw-industries-and-tipco-technologies/" TargetMode="External"/><Relationship Id="rId58" Type="http://schemas.openxmlformats.org/officeDocument/2006/relationships/hyperlink" Target="https://www.benchmarkintl.com/insights/completed-transactions/benchmark-international-successfully-facilitated-the-transaction-between-at-parker-inc-and-assessimus-group-gmbh/" TargetMode="External"/><Relationship Id="rId59" Type="http://schemas.openxmlformats.org/officeDocument/2006/relationships/hyperlink" Target="https://www.benchmarkintl.com/insights/completed-transactions/benchmark-international-successfully-facilitated-the-transaction-between-clark-crane-and-capital-extension-crane-lift/" TargetMode="External"/><Relationship Id="rId60" Type="http://schemas.openxmlformats.org/officeDocument/2006/relationships/hyperlink" Target="https://www.benchmarkintl.com/insights/completed-transactions/benchmark-international-facilitated-the-transaction-of-christian-network-international-to-symbia-logistics/" TargetMode="External"/><Relationship Id="rId61" Type="http://schemas.openxmlformats.org/officeDocument/2006/relationships/hyperlink" Target="https://www.benchmarkintl.com/" TargetMode="External"/><Relationship Id="rId62" Type="http://schemas.openxmlformats.org/officeDocument/2006/relationships/hyperlink" Target="https://jp-hardin.github.io/about/mid-market-practice/insights/industrial-industry-report-q4-2026.html" TargetMode="External"/><Relationship Id="rId63" Type="http://schemas.openxmlformats.org/officeDocument/2006/relationships/hyperlink" Target="https://www.ibba.org/wp-content/uploads/2026/08/mp-highlights-q2-2026.pdf" TargetMode="External"/><Relationship Id="rId64" Type="http://schemas.openxmlformats.org/officeDocument/2006/relationships/hyperlink" Target="https://digitalcommons.pepperdine.edu/gsbm_pcm_pcmr/19" TargetMode="External"/><Relationship Id="rId65" Type="http://schemas.openxmlformats.org/officeDocument/2006/relationships/hyperlink" Target="https://stockanalysis.com/" TargetMode="External"/><Relationship Id="rId66" Type="http://schemas.openxmlformats.org/officeDocument/2006/relationships/hyperlink" Target="https://fred.stlouisfed.org/series/NEWORDER" TargetMode="External"/><Relationship Id="rId67" Type="http://schemas.openxmlformats.org/officeDocument/2006/relationships/hyperlink" Target="https://fred.stlouisfed.org/series/MCUMFN" TargetMode="External"/><Relationship Id="rId68" Type="http://schemas.openxmlformats.org/officeDocument/2006/relationships/hyperlink" Target="https://fred.stlouisfed.org/series/TTLCONS" TargetMode="External"/><Relationship Id="rId69" Type="http://schemas.openxmlformats.org/officeDocument/2006/relationships/hyperlink" Target="https://fred.stlouisfed.org/series/TLMFGCONS" TargetMode="External"/><Relationship Id="rId70" Type="http://schemas.openxmlformats.org/officeDocument/2006/relationships/hyperlink" Target="https://fred.stlouisfed.org/series/WPU1017" TargetMode="External"/><Relationship Id="rId71" Type="http://schemas.openxmlformats.org/officeDocument/2006/relationships/hyperlink" Target="https://fred.stlouisfed.org/series/GASDESM" TargetMode="External"/><Relationship Id="rId72" Type="http://schemas.openxmlformats.org/officeDocument/2006/relationships/hyperlink" Target="https://fred.stlouisfed.org/series/FRGSHPUSM649NCIS" TargetMode="External"/><Relationship Id="rId73" Type="http://schemas.openxmlformats.org/officeDocument/2006/relationships/hyperlink" Target="https://fred.stlouisfed.org/series/GS10"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p:cNvPicPr>
            <a:picLocks noChangeAspect="1"/>
          </p:cNvPicPr>
          <p:nvPr/>
        </p:nvPicPr>
        <p:blipFill>
          <a:blip r:embed="rId4"/>
          <a:stretch>
            <a:fillRect/>
          </a:stretch>
        </p:blipFill>
        <p:spPr>
          <a:xfrm>
            <a:off x="609600" y="571500"/>
            <a:ext cx="2438400" cy="457200"/>
          </a:xfrm>
          <a:prstGeom prst="rect">
            <a:avLst/>
          </a:prstGeom>
        </p:spPr>
      </p:pic>
      <p:sp>
        <p:nvSpPr>
          <p:cNvPr id="7" name="Text 3"/>
          <p:cNvSpPr txBox="1"/>
          <p:nvPr/>
        </p:nvSpPr>
        <p:spPr>
          <a:xfrm>
            <a:off x="609600" y="1143000"/>
            <a:ext cx="3810000" cy="171450"/>
          </a:xfrm>
          <a:prstGeom prst="rect">
            <a:avLst/>
          </a:prstGeom>
          <a:noFill/>
          <a:ln/>
        </p:spPr>
        <p:txBody>
          <a:bodyPr wrap="square" lIns="0" tIns="0" rIns="0" bIns="0" rtlCol="0" anchor="t"/>
          <a:lstStyle/>
          <a:p>
            <a:pPr marL="0" indent="0">
              <a:buNone/>
            </a:pPr>
            <a:r>
              <a:rPr lang="en-US" sz="750" b="1" kern="0" spc="300" dirty="0">
                <a:solidFill>
                  <a:srgbClr val="D3AE84"/>
                </a:solidFill>
              </a:rPr>
              <a:t>MIDDLE MARKET</a:t>
            </a:r>
            <a:endParaRPr lang="en-US" sz="750" dirty="0"/>
          </a:p>
        </p:txBody>
      </p:sp>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INDUSTRY REPORT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the deal market has become more selective and buyers are paying the most for power, data center, aerospace and service revenue.</a:t>
            </a:r>
            <a:endParaRPr lang="en-US" sz="1500" dirty="0"/>
          </a:p>
        </p:txBody>
      </p:sp>
      <p:pic>
        <p:nvPicPr>
          <p:cNvPr id="12" name="Image 2"/>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670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Market insights, the power demand buildout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Industry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Recent transactions, public company valuation and operating metrics, and economic trends</a:t>
            </a:r>
            <a:endParaRPr lang="en-US" sz="825" dirty="0"/>
          </a:p>
        </p:txBody>
      </p:sp>
      <p:sp>
        <p:nvSpPr>
          <p:cNvPr id="34" name="Shape 25"/>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6"/>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7"/>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Connect With Us</a:t>
            </a:r>
            <a:endParaRPr lang="en-US" sz="1350" dirty="0"/>
          </a:p>
        </p:txBody>
      </p:sp>
      <p:sp>
        <p:nvSpPr>
          <p:cNvPr id="37" name="Text 28"/>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The Middle Market industrial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and acquirers in every industrial sector are buying capacity that already exists because skilled labor is scarce and new equipment takes a long time to arrive. Borrowing costs rose in September, and buyers have become more selective about what they pay for.</a:t>
            </a:r>
            <a:endParaRPr lang="en-US" sz="1013" dirty="0"/>
          </a:p>
        </p:txBody>
      </p:sp>
      <p:sp>
        <p:nvSpPr>
          <p:cNvPr id="9" name="TextBox 8"/>
          <p:cNvSpPr txBox="1"/>
          <p:nvPr/>
        </p:nvSpPr>
        <p:spPr>
          <a:xfrm>
            <a:off x="609600" y="4724400"/>
            <a:ext cx="4826000" cy="208280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00" b="1">
                <a:solidFill>
                  <a:srgbClr val="C99A6A"/>
                </a:solidFill>
                <a:latin typeface="+mn-lt"/>
              </a:rPr>
              <a:t>01  </a:t>
            </a:r>
            <a:r>
              <a:rPr sz="800" b="1">
                <a:solidFill>
                  <a:srgbClr val="FFFFFF"/>
                </a:solidFill>
                <a:latin typeface="+mn-lt"/>
              </a:rPr>
              <a:t>Power and data center work earns the premium</a:t>
            </a:r>
          </a:p>
          <a:p>
            <a:pPr>
              <a:lnSpc>
                <a:spcPct val="120000"/>
              </a:lnSpc>
            </a:pPr>
            <a:r>
              <a:rPr sz="750" b="0">
                <a:solidFill>
                  <a:srgbClr val="D9D2C9"/>
                </a:solidFill>
                <a:latin typeface="+mn-lt"/>
              </a:rPr>
              <a:t>Quanta Services ended June with $53.4 billion of backlog, up from $35.8 billion. A buyer will ask how much of yours is tied to funded power and data center work.</a:t>
            </a:r>
          </a:p>
          <a:p>
            <a:pPr>
              <a:spcBef>
                <a:spcPts val="600"/>
              </a:spcBef>
            </a:pPr>
            <a:r>
              <a:rPr sz="800" b="1">
                <a:solidFill>
                  <a:srgbClr val="C99A6A"/>
                </a:solidFill>
                <a:latin typeface="+mn-lt"/>
              </a:rPr>
              <a:t>02  </a:t>
            </a:r>
            <a:r>
              <a:rPr sz="800" b="1">
                <a:solidFill>
                  <a:srgbClr val="FFFFFF"/>
                </a:solidFill>
                <a:latin typeface="+mn-lt"/>
              </a:rPr>
              <a:t>The likely buyer is an operating platform</a:t>
            </a:r>
          </a:p>
          <a:p>
            <a:pPr>
              <a:lnSpc>
                <a:spcPct val="120000"/>
              </a:lnSpc>
            </a:pPr>
            <a:r>
              <a:rPr sz="750" b="0">
                <a:solidFill>
                  <a:srgbClr val="D9D2C9"/>
                </a:solidFill>
                <a:latin typeface="+mn-lt"/>
              </a:rPr>
              <a:t>Add-ons made up about three-quarters of buyouts in the second quarter, and Pye-Barker Fire &amp; Safety completed 22 acquisitions in the first half. Expect a sponsor that already knows the trade.</a:t>
            </a:r>
          </a:p>
          <a:p>
            <a:pPr>
              <a:spcBef>
                <a:spcPts val="600"/>
              </a:spcBef>
            </a:pPr>
            <a:r>
              <a:rPr sz="800" b="1">
                <a:solidFill>
                  <a:srgbClr val="C99A6A"/>
                </a:solidFill>
                <a:latin typeface="+mn-lt"/>
              </a:rPr>
              <a:t>03  </a:t>
            </a:r>
            <a:r>
              <a:rPr sz="800" b="1">
                <a:solidFill>
                  <a:srgbClr val="FFFFFF"/>
                </a:solidFill>
                <a:latin typeface="+mn-lt"/>
              </a:rPr>
              <a:t>Report service revenue on its own line</a:t>
            </a:r>
          </a:p>
          <a:p>
            <a:pPr>
              <a:lnSpc>
                <a:spcPct val="120000"/>
              </a:lnSpc>
            </a:pPr>
            <a:r>
              <a:rPr sz="750" b="0">
                <a:solidFill>
                  <a:srgbClr val="D9D2C9"/>
                </a:solidFill>
                <a:latin typeface="+mn-lt"/>
              </a:rPr>
              <a:t>APi Group is working toward 60% of revenue from inspection and service. Buyers pay more for service, repair and aftermarket revenue when it is reported apart from projects, with its renewal history.</a:t>
            </a:r>
          </a:p>
          <a:p>
            <a:pPr>
              <a:spcBef>
                <a:spcPts val="600"/>
              </a:spcBef>
            </a:pPr>
            <a:r>
              <a:rPr sz="800" b="1">
                <a:solidFill>
                  <a:srgbClr val="C99A6A"/>
                </a:solidFill>
                <a:latin typeface="+mn-lt"/>
              </a:rPr>
              <a:t>04  </a:t>
            </a:r>
            <a:r>
              <a:rPr sz="800" b="1">
                <a:solidFill>
                  <a:srgbClr val="FFFFFF"/>
                </a:solidFill>
                <a:latin typeface="+mn-lt"/>
              </a:rPr>
              <a:t>Financing costs more and buyers are choosier</a:t>
            </a:r>
          </a:p>
          <a:p>
            <a:pPr>
              <a:lnSpc>
                <a:spcPct val="120000"/>
              </a:lnSpc>
            </a:pPr>
            <a:r>
              <a:rPr sz="750" b="0">
                <a:solidFill>
                  <a:srgbClr val="D9D2C9"/>
                </a:solidFill>
                <a:latin typeface="+mn-lt"/>
              </a:rPr>
              <a:t>The Federal Reserve raised its target range to 3.75% to 4.00% on September 16. GF Data's average multiple eased to 7.0 times trailing adjusted EBITDA, from 7.3 times.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is broad, buyers are organized around platforms and financing became more expensive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private equity platforms are still buying machining, distribution, contracting, environmental and logistics capacity that already exists.</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Capacity utilization of 75.7% leaves most plants room to take on more work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a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expired on September 30 and highway programs are running under a continuing resolution through December 11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more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The Buildout Reaches Every Industrial Sector</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is growing about 2% a year, the equipment to meet it is sold out years ahead and acquirers are buying existing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AI Bottleneck Is Power, Not Chips</a:t>
            </a:r>
          </a:p>
          <a:p>
            <a:pPr>
              <a:lnSpc>
                <a:spcPct val="100000"/>
              </a:lnSpc>
            </a:pPr>
            <a:endParaRPr lang="en-US" sz="800" i="1" dirty="0"/>
          </a:p>
          <a:p>
            <a:r>
              <a:rPr lang="en-US" sz="800" i="1" dirty="0"/>
              <a:t>“So, it’s interesting as they continue to announce all the data centers and data center sites. I’ve sort of always had a strong view that energy would be the constraint.” Greg Abel, CEO, Berkshire Hathaway (</a:t>
            </a:r>
            <a:r>
              <a:rPr lang="en-US" sz="800" u="sng" dirty="0">
                <a:hlinkClick r:id="rId9"/>
              </a:rPr>
              <a:t>CNBC</a:t>
            </a:r>
            <a:r>
              <a:rPr lang="en-US" sz="800" u="sng" dirty="0"/>
              <a:t>)</a:t>
            </a:r>
            <a:endParaRPr lang="en-US" sz="800" dirty="0"/>
          </a:p>
          <a:p>
            <a:pPr>
              <a:lnSpc>
                <a:spcPct val="100000"/>
              </a:lnSpc>
            </a:pPr>
            <a:endParaRPr lang="en-US" sz="800" i="1"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 Toby Rice, CEO, EQT (EQT Corporation)</a:t>
            </a:r>
            <a:r>
              <a:rPr lang="en-US" sz="800" u="sng" dirty="0">
                <a:hlinkClick r:id="rId10"/>
              </a:rPr>
              <a:t/>
            </a:r>
            <a:r>
              <a:rPr lang="en-US" sz="800" u="sng" dirty="0"/>
              <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 Satya Nadella, CEO, Microsoft (</a:t>
            </a:r>
            <a:r>
              <a:rPr lang="en-US" sz="800" u="sng" dirty="0">
                <a:hlinkClick r:id="rId11"/>
              </a:rPr>
              <a:t>Bg2 Pod</a:t>
            </a:r>
            <a:r>
              <a:rPr lang="en-US" sz="800" i="1" dirty="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SECTOR</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and put the upfront payment at 11.5 times anticipated 2026 adjusted EBITDA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and contractors with power, utility and data center customers have kept growing in a year when refiners deferred turnaround work to 2027.</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guidance after its gross margin fell to 21.5% from 28.0%, citing competition for skilled labor and materials in data center markets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and electrical testing and commissioning is the most contested category in the power subsector.</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Spending on data center construction was more than 73% higher in August than a year earlier (</a:t>
            </a:r>
            <a:r>
              <a:rPr lang="en-US" sz="795" u="sng" dirty="0">
                <a:solidFill>
                  <a:srgbClr val="8C6239"/>
                </a:solidFill>
                <a:hlinkClick r:id="rId23" tooltip="https://www.mdm.com/?p=436875">
                  <a:extLst>
                    <a:ext uri="{A12FA001-AC4F-418D-AE19-62706E023703}">
                      <ahyp:hlinkClr xmlns:ahyp="http://schemas.microsoft.com/office/drawing/2018/hyperlinkcolor" val="tx"/>
                    </a:ext>
                  </a:extLst>
                </a:hlinkClick>
              </a:rPr>
              <a:t>ABC analysis reported by MDM</a:t>
            </a:r>
            <a:r>
              <a:rPr lang="en-US" sz="795" dirty="0">
                <a:solidFill>
                  <a:srgbClr val="333231"/>
                </a:solidFill>
              </a:rPr>
              <a:t>), and JK Technology Services bought a Virginia rigging company that works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p:cNvPicPr>
            <a:picLocks noChangeAspect="1"/>
          </p:cNvPicPr>
          <p:nvPr/>
        </p:nvPicPr>
        <p:blipFill>
          <a:blip r:embed="rId25"/>
          <a:srcRect/>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Benchmark International counts are for the 24 months to September 30, 2026 and for engagements in progress as of October 1, 2026.</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0" name="Text 7"/>
          <p:cNvSpPr txBox="1"/>
          <p:nvPr/>
        </p:nvSpPr>
        <p:spPr>
          <a:xfrm>
            <a:off x="647700" y="3600450"/>
            <a:ext cx="2266950" cy="53340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CARMI COMPANIES</a:t>
            </a:r>
            <a:endParaRPr lang="en-US" sz="1275" dirty="0"/>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3" name="Text 10"/>
          <p:cNvSpPr txBox="1"/>
          <p:nvPr/>
        </p:nvSpPr>
        <p:spPr>
          <a:xfrm>
            <a:off x="742950" y="4457700"/>
            <a:ext cx="2076450" cy="66675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NEARSHORE COMPANY</a:t>
            </a:r>
            <a:endParaRPr lang="en-US" sz="1275" dirty="0"/>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$35.9 billion of it moved through Port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founder-owned customs broker in Laredo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1600200"/>
          </a:xfrm>
          <a:prstGeom prst="rect">
            <a:avLst/>
          </a:prstGeom>
          <a:solidFill>
            <a:srgbClr val="FAF7F3"/>
          </a:solidFill>
          <a:ln/>
        </p:spPr>
        <p:txBody>
          <a:bodyPr/>
          <a:lstStyle/>
          <a:p>
            <a:endParaRPr lang="en-US"/>
          </a:p>
        </p:txBody>
      </p:sp>
      <p:sp>
        <p:nvSpPr>
          <p:cNvPr id="32" name="Shape 29"/>
          <p:cNvSpPr/>
          <p:nvPr/>
        </p:nvSpPr>
        <p:spPr>
          <a:xfrm>
            <a:off x="7324725" y="1238250"/>
            <a:ext cx="0" cy="160020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713" dirty="0">
                <a:solidFill>
                  <a:srgbClr val="6F6A66"/>
                </a:solidFill>
              </a:rPr>
              <a:t>Gaurang Shastri, Managing Director, Lincoln International, speaking to Transport Topics (</a:t>
            </a:r>
            <a:r>
              <a:rPr lang="en-US" sz="713"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13" dirty="0">
                <a:solidFill>
                  <a:srgbClr val="6F6A66"/>
                </a:solidFill>
              </a:rPr>
              <a:t>)</a:t>
            </a:r>
            <a:endParaRPr lang="en-US" sz="713" dirty="0"/>
          </a:p>
        </p:txBody>
      </p:sp>
      <p:sp>
        <p:nvSpPr>
          <p:cNvPr id="35" name="Segment counts"/>
          <p:cNvSpPr/>
          <p:nvPr/>
        </p:nvSpPr>
        <p:spPr>
          <a:xfrm>
            <a:off x="7315200" y="2971800"/>
            <a:ext cx="2324100" cy="876300"/>
          </a:xfrm>
          <a:prstGeom prst="rect">
            <a:avLst/>
          </a:prstGeom>
          <a:solidFill>
            <a:srgbClr val="FFFFFF"/>
          </a:solidFill>
          <a:ln w="9525">
            <a:solidFill>
              <a:srgbClr val="E3DCD3"/>
            </a:solidFill>
            <a:prstDash val="solid"/>
          </a:ln>
        </p:spPr>
        <p:txBody>
          <a:bodyPr/>
          <a:lstStyle/>
          <a:p>
            <a:endParaRPr lang="en-US"/>
          </a:p>
        </p:txBody>
      </p:sp>
      <p:sp>
        <p:nvSpPr>
          <p:cNvPr id="36" name="Text 33"/>
          <p:cNvSpPr txBox="1"/>
          <p:nvPr/>
        </p:nvSpPr>
        <p:spPr>
          <a:xfrm>
            <a:off x="7486650" y="3086100"/>
            <a:ext cx="20383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 THIS SECTOR</a:t>
            </a:r>
            <a:endParaRPr lang="en-US" sz="675" dirty="0"/>
          </a:p>
        </p:txBody>
      </p:sp>
      <p:sp>
        <p:nvSpPr>
          <p:cNvPr id="37" name="Text 34"/>
          <p:cNvSpPr txBox="1"/>
          <p:nvPr/>
        </p:nvSpPr>
        <p:spPr>
          <a:xfrm>
            <a:off x="748665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3</a:t>
            </a:r>
            <a:endParaRPr lang="en-US" sz="1950" dirty="0"/>
          </a:p>
        </p:txBody>
      </p:sp>
      <p:sp>
        <p:nvSpPr>
          <p:cNvPr id="38" name="Text 35"/>
          <p:cNvSpPr txBox="1"/>
          <p:nvPr/>
        </p:nvSpPr>
        <p:spPr>
          <a:xfrm>
            <a:off x="7486650" y="3543300"/>
            <a:ext cx="95250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transactions closed in the past 24 months</a:t>
            </a:r>
            <a:endParaRPr lang="en-US" sz="713" dirty="0"/>
          </a:p>
        </p:txBody>
      </p:sp>
      <p:sp>
        <p:nvSpPr>
          <p:cNvPr id="39" name="Text 36"/>
          <p:cNvSpPr txBox="1"/>
          <p:nvPr/>
        </p:nvSpPr>
        <p:spPr>
          <a:xfrm>
            <a:off x="861060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14</a:t>
            </a:r>
            <a:endParaRPr lang="en-US" sz="1950" dirty="0"/>
          </a:p>
        </p:txBody>
      </p:sp>
      <p:sp>
        <p:nvSpPr>
          <p:cNvPr id="40" name="Text 37"/>
          <p:cNvSpPr txBox="1"/>
          <p:nvPr/>
        </p:nvSpPr>
        <p:spPr>
          <a:xfrm>
            <a:off x="8610600" y="3543300"/>
            <a:ext cx="85725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engagements in progress</a:t>
            </a:r>
            <a:endParaRPr lang="en-US" sz="713"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53" name="Text 48"/>
          <p:cNvSpPr txBox="1"/>
          <p:nvPr/>
        </p:nvSpPr>
        <p:spPr>
          <a:xfrm>
            <a:off x="8020050" y="6038850"/>
            <a:ext cx="1524000" cy="304800"/>
          </a:xfrm>
          <a:prstGeom prst="rect">
            <a:avLst/>
          </a:prstGeom>
          <a:noFill/>
          <a:ln/>
        </p:spPr>
        <p:txBody>
          <a:bodyPr wrap="square" lIns="0" tIns="0" rIns="0" bIns="0" rtlCol="0" anchor="t"/>
          <a:lstStyle/>
          <a:p>
            <a:pPr marL="0" indent="0">
              <a:lnSpc>
                <a:spcPts val="1050"/>
              </a:lnSpc>
              <a:buNone/>
            </a:pPr>
            <a:r>
              <a:rPr lang="en-US" sz="750" dirty="0">
                <a:solidFill>
                  <a:srgbClr val="6F6A66"/>
                </a:solidFill>
              </a:rPr>
              <a:t/>
            </a:r>
            <a:endParaRPr lang="en-US" sz="750" dirty="0"/>
          </a:p>
        </p:txBody>
      </p:sp>
      <p:sp>
        <p:nvSpPr>
          <p:cNvPr id="54" name="Text 49"/>
          <p:cNvSpPr/>
          <p:nvPr/>
        </p:nvSpPr>
        <p:spPr>
          <a:xfrm>
            <a:off x="7315200" y="6572250"/>
            <a:ext cx="2324100" cy="30480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675" b="1" u="sng" kern="0" spc="150" dirty="0">
                <a:solidFill>
                  <a:srgbClr val="1B1A1A"/>
                </a:solidFill>
                <a:hlinkClick r:id="rId13">
                  <a:extLst>
                    <a:ext uri="{A12FA001-AC4F-418D-AE19-62706E023703}">
                      <ahyp:hlinkClr xmlns:ahyp="http://schemas.microsoft.com/office/drawing/2018/hyperlinkcolor" val="tx"/>
                    </a:ext>
                  </a:extLst>
                </a:hlinkClick>
              </a:rPr>
              <a:t>VIEW MORE TRANSACTIONS</a:t>
            </a:r>
            <a:endParaRPr lang="en-US" sz="675"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Industry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in every industrial sector during 2026, with sellers that ranged from founder-owned machine shops and customs brokers to companies bought by public acquirers for several billion dollars. Listed industrial companies trade at a median of 16.2 times EBITDA, and the indicators behind demand and financing are pointing in different directions.</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6"/>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20" name="Text 17"/>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1" name="Shape 18"/>
          <p:cNvSpPr/>
          <p:nvPr/>
        </p:nvSpPr>
        <p:spPr>
          <a:xfrm>
            <a:off x="609600" y="67056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9.</a:t>
            </a:r>
            <a:endParaRPr lang="en-US" sz="67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by our calculation, for a business with a margin above 35%.</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Meritus has announced at least five acquisitions in 2026, four of them since July, and nearly every product line now has a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expected 2027 adjusted EBITDA, by our calculation, just below the 6 to 9 times at which project-based contractors have traded.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sectors across pages 7 and 8.</a:t>
            </a:r>
            <a:endParaRPr lang="en-US" sz="675"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agreement followed Clean Harbors’ $305 million deal for ES&amp;H, which it described as 8.7 times EBITDA after synergies (</a:t>
                      </a:r>
                      <a:r>
                        <a:rPr lang="en-US" sz="780" u="sng" dirty="0">
                          <a:solidFill>
                            <a:srgbClr val="8C6239"/>
                          </a:solidFill>
                          <a:hlinkClick r:id="rId5" tooltip="https://www.sec.gov/Archives/edgar/data/0000822818/000082281826000031/clh-q22026pressrelease.htm">
                            <a:extLst>
                              <a:ext uri="{A12FA001-AC4F-418D-AE19-62706E023703}">
                                <ahyp:hlinkClr xmlns:ahyp="http://schemas.microsoft.com/office/drawing/2018/hyperlinkcolor" val="tx"/>
                              </a:ext>
                            </a:extLst>
                          </a:hlinkClick>
                        </a:rPr>
                        <a:t>Clean Harbors</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sector,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engagements in progress are shown in aggregate. Fifty-nine of the 85 closed transactions have been announced publicly.</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sectors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0" name="Text 8"/>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212</a:t>
            </a:r>
            <a:endParaRPr lang="en-US" sz="3000" dirty="0"/>
          </a:p>
        </p:txBody>
      </p:sp>
      <p:sp>
        <p:nvSpPr>
          <p:cNvPr id="11" name="Text 9"/>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engagements in progress as of October 1, 2026</a:t>
            </a:r>
            <a:endParaRPr lang="en-US" sz="795" dirty="0"/>
          </a:p>
        </p:txBody>
      </p:sp>
      <p:sp>
        <p:nvSpPr>
          <p:cNvPr id="12" name="Shape 10"/>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42100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46672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58483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5943600"/>
            <a:ext cx="1371600" cy="914400"/>
          </a:xfrm>
          <a:prstGeom prst="rect">
            <a:avLst/>
          </a:prstGeom>
          <a:noFill/>
          <a:ln/>
        </p:spPr>
        <p:txBody>
          <a:bodyPr wrap="square" lIns="0" tIns="0" rIns="0" bIns="0" rtlCol="0" anchor="t"/>
          <a:lstStyle/>
          <a:p>
            <a:pPr marL="0" indent="0">
              <a:lnSpc>
                <a:spcPts val="1050"/>
              </a:lnSpc>
              <a:buNone/>
            </a:pPr>
            <a:r>
              <a:rPr lang="en-US" sz="720" dirty="0">
                <a:solidFill>
                  <a:srgbClr val="E8E2DA"/>
                </a:solidFill>
              </a:rPr>
              <a:t>Ranked the leading privately owned sell-side M&amp;A advisor in the world in PitchBook’s Q2 2026 Global League Tables (</a:t>
            </a:r>
            <a:r>
              <a:rPr lang="en-US" sz="72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720" dirty="0">
                <a:solidFill>
                  <a:srgbClr val="E8E2DA"/>
                </a:solidFill>
              </a:rPr>
              <a:t>).</a:t>
            </a:r>
            <a:endParaRPr lang="en-US" sz="72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SECTOR</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8" name="Text 24"/>
          <p:cNvSpPr txBox="1"/>
          <p:nvPr/>
        </p:nvSpPr>
        <p:spPr>
          <a:xfrm>
            <a:off x="504825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CINTAS CORPORATION</a:t>
            </a:r>
            <a:endParaRPr lang="en-US" sz="675" dirty="0"/>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6" name="Text 32"/>
          <p:cNvSpPr txBox="1"/>
          <p:nvPr/>
        </p:nvSpPr>
        <p:spPr>
          <a:xfrm>
            <a:off x="6638925"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DXP ENTERPRISES, INC.</a:t>
            </a:r>
            <a:endParaRPr lang="en-US" sz="675" dirty="0"/>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4" name="Text 40"/>
          <p:cNvSpPr txBox="1"/>
          <p:nvPr/>
        </p:nvSpPr>
        <p:spPr>
          <a:xfrm>
            <a:off x="822960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AECON GROUP INC.</a:t>
            </a:r>
            <a:endParaRPr lang="en-US" sz="675" dirty="0"/>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2" name="Text 48"/>
          <p:cNvSpPr txBox="1"/>
          <p:nvPr/>
        </p:nvSpPr>
        <p:spPr>
          <a:xfrm>
            <a:off x="504825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CEMTREX, INC.</a:t>
            </a:r>
            <a:endParaRPr lang="en-US" sz="675" dirty="0"/>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0" name="Text 56"/>
          <p:cNvSpPr txBox="1"/>
          <p:nvPr/>
        </p:nvSpPr>
        <p:spPr>
          <a:xfrm>
            <a:off x="6638925"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HARRIS COMPANY</a:t>
            </a:r>
            <a:endParaRPr lang="en-US" sz="675" dirty="0"/>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8" name="Text 64"/>
          <p:cNvSpPr txBox="1"/>
          <p:nvPr/>
        </p:nvSpPr>
        <p:spPr>
          <a:xfrm>
            <a:off x="822960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PHENNA GROUP</a:t>
            </a:r>
            <a:endParaRPr lang="en-US" sz="675" dirty="0"/>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6" name="Text 72"/>
          <p:cNvSpPr txBox="1"/>
          <p:nvPr/>
        </p:nvSpPr>
        <p:spPr>
          <a:xfrm>
            <a:off x="504825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TRIUMVIRATE ENVIRONMENTAL</a:t>
            </a:r>
            <a:endParaRPr lang="en-US" sz="675" dirty="0"/>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4" name="Text 80"/>
          <p:cNvSpPr txBox="1"/>
          <p:nvPr/>
        </p:nvSpPr>
        <p:spPr>
          <a:xfrm>
            <a:off x="6638925"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APEX WATER AND PROCESS INC.</a:t>
            </a:r>
            <a:endParaRPr lang="en-US" sz="675" dirty="0"/>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2" name="Text 88"/>
          <p:cNvSpPr txBox="1"/>
          <p:nvPr/>
        </p:nvSpPr>
        <p:spPr>
          <a:xfrm>
            <a:off x="822960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TIPCO TECHNOLOGIES</a:t>
            </a:r>
            <a:endParaRPr lang="en-US" sz="675" dirty="0"/>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0" name="Text 96"/>
          <p:cNvSpPr txBox="1"/>
          <p:nvPr/>
        </p:nvSpPr>
        <p:spPr>
          <a:xfrm>
            <a:off x="504825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ASSESSIMUS GROUP GMBH</a:t>
            </a:r>
            <a:endParaRPr lang="en-US" sz="675" dirty="0"/>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8" name="Text 104"/>
          <p:cNvSpPr txBox="1"/>
          <p:nvPr/>
        </p:nvSpPr>
        <p:spPr>
          <a:xfrm>
            <a:off x="6638925"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CAPITAL EXTENSION CRANE &amp; LIFT</a:t>
            </a:r>
            <a:endParaRPr lang="en-US" sz="675" dirty="0"/>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6" name="Text 112"/>
          <p:cNvSpPr txBox="1"/>
          <p:nvPr/>
        </p:nvSpPr>
        <p:spPr>
          <a:xfrm>
            <a:off x="822960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SYMBIA LOGISTICS</a:t>
            </a:r>
            <a:endParaRPr lang="en-US" sz="675" dirty="0"/>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Manufacturing, distribution and transportation companies trade above every year-end multiple of the past five years.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38 listed companies at each company’s fiscal year-end from 2021 to 2025 and today; the five-year high, low and median under each chart use the year-end values.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with share prices from September 28 to October 7, 2026. Multiples use reported EBITDA.</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p:cNvPicPr>
            <a:picLocks noChangeAspect="1"/>
          </p:cNvPicPr>
          <p:nvPr/>
        </p:nvPicPr>
        <p:blipFill>
          <a:blip r:embed="rId4"/>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23.0x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+7.3x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Parker Hannifin, Rockwell Automation, ITT, Flowserve, Franklin Electric, Sanmina, Howmet Aerospace</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6"/>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17.7x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14.3x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APi, WESCO</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p:cNvPicPr>
            <a:picLocks noChangeAspect="1"/>
          </p:cNvPicPr>
          <p:nvPr/>
        </p:nvPicPr>
        <p:blipFill>
          <a:blip r:embed="rId8"/>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15.1x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16.6x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Comfort Systems USA, EMCOR, IES, Limbach, Granite Construction, Construction Partners, Builders FirstSource, Watsco</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p:cNvPicPr>
            <a:picLocks noChangeAspect="1"/>
          </p:cNvPicPr>
          <p:nvPr/>
        </p:nvPicPr>
        <p:blipFill>
          <a:blip r:embed="rId10"/>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16.2x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23.9x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−2.0x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Xylem, Willdan</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p:cNvPicPr>
            <a:picLocks noChangeAspect="1"/>
          </p:cNvPicPr>
          <p:nvPr/>
        </p:nvPicPr>
        <p:blipFill>
          <a:blip r:embed="rId12"/>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12.7x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51" name="Table 4"/>
          <p:cNvGraphicFramePr>
            <a:graphicFrameLocks noGrp="1"/>
          </p:cNvGraphicFramePr>
          <p:nvPr>
            <p:extLst>
              <p:ext uri="{D42A27DB-BD31-4B8C-83A1-F6EECF244321}">
                <p14:modId xmlns:p14="http://schemas.microsoft.com/office/powerpoint/2010/main" val="1579011935"/>
              </p:ext>
            </p:extLst>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Kirby, Landstar System, Schneider National</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sectors.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5924550"/>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5"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5924550"/>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6"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companies are growing revenue about 22% a year, and manufacturers earn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Trailing periods end between April and July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43% in a year and still trade at the lowest multiple of EBITDA of the five sectors.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Year-end 2025 multiples stand in for the forward multiples that a licensed data service would provide. Three of the eight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September 28 to October 7,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7 manufacturing, 8 of 8 distribution, 4 of 8 building, 3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Capital goods orders are 14% above a year ago, diesel is up 68% and the 10-year Treasury yield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571625"/>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75.7%</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−0.1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571625"/>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571625"/>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571625"/>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571625"/>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571625"/>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571625"/>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571625"/>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Connect With Us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in majority and control transactions and strategic partnerships. The first step is a confidential conversation about your goals, your company and your options, with no pressure and no commitment.</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Our team</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17</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Important disclosures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3"/>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18</a:t>
            </a:r>
            <a:endParaRPr lang="en-US" sz="825" dirty="0"/>
          </a:p>
        </p:txBody>
      </p:sp>
      <p:sp>
        <p:nvSpPr>
          <p:cNvPr id="20" name="Text 14"/>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21" name="Shape 12"/>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Connect With Our Team</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first conversation is confidential and carries no obligation.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Ranking based on PitchBook’s Q2 2026 Global League Tables, as published at </a:t>
            </a:r>
            <a:r>
              <a:rPr lang="en-US" sz="675" u="sng" dirty="0">
                <a:solidFill>
                  <a:srgbClr val="8C6239"/>
                </a:solidFill>
                <a:hlinkClick r:id="rId3" tooltip="https://www.benchmarkintl.com/">
                  <a:extLst>
                    <a:ext uri="{A12FA001-AC4F-418D-AE19-62706E023703}">
                      <ahyp:hlinkClr xmlns:ahyp="http://schemas.microsoft.com/office/drawing/2018/hyperlinkcolor" val="tx"/>
                    </a:ext>
                  </a:extLst>
                </a:hlinkClick>
              </a:rPr>
              <a:t>benchmarkintl.com</a:t>
            </a:r>
            <a:r>
              <a:rPr lang="en-US" sz="675" dirty="0">
                <a:solidFill>
                  <a:srgbClr val="6F6A66"/>
                </a:solidFill>
              </a:rPr>
              <a:t>. Team as listed on the Middle Market site in October 2026.</a:t>
            </a:r>
            <a:endParaRPr lang="en-US" sz="675" dirty="0"/>
          </a:p>
        </p:txBody>
      </p:sp>
      <p:sp>
        <p:nvSpPr>
          <p:cNvPr id="5" name="Text 3"/>
          <p:cNvSpPr txBox="1"/>
          <p:nvPr/>
        </p:nvSpPr>
        <p:spPr>
          <a:xfrm>
            <a:off x="419100" y="1257300"/>
            <a:ext cx="5715000" cy="133350"/>
          </a:xfrm>
          <a:prstGeom prst="rect">
            <a:avLst/>
          </a:prstGeom>
          <a:noFill/>
          <a:ln/>
        </p:spPr>
        <p:txBody>
          <a:bodyPr wrap="square" lIns="0" tIns="0" rIns="0" bIns="0" rtlCol="0" anchor="t"/>
          <a:lstStyle/>
          <a:p>
            <a:pPr marL="0" indent="0">
              <a:buNone/>
            </a:pPr>
            <a:r>
              <a:rPr lang="en-US" sz="675" b="1" kern="0" spc="200" dirty="0">
                <a:solidFill>
                  <a:srgbClr val="8C6239"/>
                </a:solidFill>
              </a:rPr>
              <a:t>CONFIDENTIAL. NO PRESSURE. NO COMMITMENTS.</a:t>
            </a:r>
            <a:endParaRPr lang="en-US" sz="675" dirty="0"/>
          </a:p>
        </p:txBody>
      </p:sp>
      <p:sp>
        <p:nvSpPr>
          <p:cNvPr id="6" name="Text 4"/>
          <p:cNvSpPr txBox="1"/>
          <p:nvPr/>
        </p:nvSpPr>
        <p:spPr>
          <a:xfrm>
            <a:off x="419100" y="1428750"/>
            <a:ext cx="6096000" cy="438150"/>
          </a:xfrm>
          <a:prstGeom prst="rect">
            <a:avLst/>
          </a:prstGeom>
          <a:noFill/>
          <a:ln/>
        </p:spPr>
        <p:txBody>
          <a:bodyPr wrap="square" lIns="0" tIns="0" rIns="0" bIns="0" rtlCol="0" anchor="t"/>
          <a:lstStyle/>
          <a:p>
            <a:pPr marL="0" indent="0">
              <a:buNone/>
            </a:pPr>
            <a:r>
              <a:rPr lang="en-US" sz="2700" b="1" dirty="0">
                <a:solidFill>
                  <a:srgbClr val="1B1A1A"/>
                </a:solidFill>
                <a:latin typeface="+mj-lt" pitchFamily="34" charset="0"/>
              </a:rPr>
              <a:t>It all starts with a conversation.</a:t>
            </a:r>
            <a:endParaRPr lang="en-US" sz="2700" dirty="0"/>
          </a:p>
        </p:txBody>
      </p:sp>
      <p:sp>
        <p:nvSpPr>
          <p:cNvPr id="7" name="Text 5"/>
          <p:cNvSpPr txBox="1"/>
          <p:nvPr/>
        </p:nvSpPr>
        <p:spPr>
          <a:xfrm>
            <a:off x="419100" y="1943100"/>
            <a:ext cx="5810250" cy="952500"/>
          </a:xfrm>
          <a:prstGeom prst="rect">
            <a:avLst/>
          </a:prstGeom>
          <a:noFill/>
          <a:ln/>
        </p:spPr>
        <p:txBody>
          <a:bodyPr wrap="square" lIns="0" tIns="0" rIns="0" bIns="0" rtlCol="0" anchor="t"/>
          <a:lstStyle/>
          <a:p>
            <a:pPr marL="0" indent="0">
              <a:lnSpc>
                <a:spcPts val="1463"/>
              </a:lnSpc>
              <a:buNone/>
            </a:pPr>
            <a:r>
              <a:rPr lang="en-US" sz="938" dirty="0">
                <a:solidFill>
                  <a:srgbClr val="333231"/>
                </a:solidFill>
              </a:rPr>
              <a:t>Owners considering a sale, a majority or control transaction or a strategic partnership in any of the five industrial sectors,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8" name="Jared Hardin card"/>
          <p:cNvSpPr/>
          <p:nvPr/>
        </p:nvSpPr>
        <p:spPr>
          <a:xfrm>
            <a:off x="419100" y="3009900"/>
            <a:ext cx="2971800" cy="1047750"/>
          </a:xfrm>
          <a:prstGeom prst="rect">
            <a:avLst/>
          </a:prstGeom>
          <a:solidFill>
            <a:srgbClr val="FAF7F3"/>
          </a:solidFill>
          <a:ln/>
        </p:spPr>
        <p:txBody>
          <a:bodyPr/>
          <a:lstStyle/>
          <a:p>
            <a:endParaRPr lang="en-US"/>
          </a:p>
        </p:txBody>
      </p:sp>
      <p:sp>
        <p:nvSpPr>
          <p:cNvPr id="9" name="Shape 7"/>
          <p:cNvSpPr/>
          <p:nvPr/>
        </p:nvSpPr>
        <p:spPr>
          <a:xfrm>
            <a:off x="419100" y="3009900"/>
            <a:ext cx="2971800" cy="28575"/>
          </a:xfrm>
          <a:prstGeom prst="rect">
            <a:avLst/>
          </a:prstGeom>
          <a:solidFill>
            <a:srgbClr val="B68757"/>
          </a:solidFill>
          <a:ln/>
        </p:spPr>
        <p:txBody>
          <a:bodyPr/>
          <a:lstStyle/>
          <a:p>
            <a:endParaRPr lang="en-US"/>
          </a:p>
        </p:txBody>
      </p:sp>
      <p:pic>
        <p:nvPicPr>
          <p:cNvPr id="10" name="Image 0"/>
          <p:cNvPicPr>
            <a:picLocks noChangeAspect="1"/>
          </p:cNvPicPr>
          <p:nvPr/>
        </p:nvPicPr>
        <p:blipFill>
          <a:blip r:embed="rId4"/>
          <a:stretch>
            <a:fillRect/>
          </a:stretch>
        </p:blipFill>
        <p:spPr>
          <a:xfrm>
            <a:off x="590550" y="3162300"/>
            <a:ext cx="762000" cy="762000"/>
          </a:xfrm>
          <a:prstGeom prst="ellipse">
            <a:avLst/>
          </a:prstGeom>
        </p:spPr>
      </p:pic>
      <p:sp>
        <p:nvSpPr>
          <p:cNvPr id="11" name="Text 8"/>
          <p:cNvSpPr txBox="1"/>
          <p:nvPr/>
        </p:nvSpPr>
        <p:spPr>
          <a:xfrm>
            <a:off x="15049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Jared Hardin</a:t>
            </a:r>
            <a:endParaRPr lang="en-US" sz="1500" dirty="0"/>
          </a:p>
        </p:txBody>
      </p:sp>
      <p:sp>
        <p:nvSpPr>
          <p:cNvPr id="12" name="Text 9"/>
          <p:cNvSpPr txBox="1"/>
          <p:nvPr/>
        </p:nvSpPr>
        <p:spPr>
          <a:xfrm>
            <a:off x="15049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3" name="Text 10"/>
          <p:cNvSpPr txBox="1"/>
          <p:nvPr/>
        </p:nvSpPr>
        <p:spPr>
          <a:xfrm>
            <a:off x="15049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6">
                  <a:extLst>
                    <a:ext uri="{A12FA001-AC4F-418D-AE19-62706E023703}">
                      <ahyp:hlinkClr xmlns:ahyp="http://schemas.microsoft.com/office/drawing/2018/hyperlinkcolor" val="tx"/>
                    </a:ext>
                  </a:extLst>
                </a:hlinkClick>
              </a:rPr>
              <a:t>j.hardin@benchmarkintl.com</a:t>
            </a:r>
            <a:endParaRPr lang="en-US" sz="810" dirty="0"/>
          </a:p>
        </p:txBody>
      </p:sp>
      <p:sp>
        <p:nvSpPr>
          <p:cNvPr id="14" name="Jordan Houtz card"/>
          <p:cNvSpPr/>
          <p:nvPr/>
        </p:nvSpPr>
        <p:spPr>
          <a:xfrm>
            <a:off x="3505200" y="3009900"/>
            <a:ext cx="2971800" cy="1047750"/>
          </a:xfrm>
          <a:prstGeom prst="rect">
            <a:avLst/>
          </a:prstGeom>
          <a:solidFill>
            <a:srgbClr val="FAF7F3"/>
          </a:solidFill>
          <a:ln/>
        </p:spPr>
        <p:txBody>
          <a:bodyPr/>
          <a:lstStyle/>
          <a:p>
            <a:endParaRPr lang="en-US"/>
          </a:p>
        </p:txBody>
      </p:sp>
      <p:sp>
        <p:nvSpPr>
          <p:cNvPr id="15" name="Shape 12"/>
          <p:cNvSpPr/>
          <p:nvPr/>
        </p:nvSpPr>
        <p:spPr>
          <a:xfrm>
            <a:off x="3505200" y="3009900"/>
            <a:ext cx="297180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7"/>
          <a:stretch>
            <a:fillRect/>
          </a:stretch>
        </p:blipFill>
        <p:spPr>
          <a:xfrm>
            <a:off x="3676650" y="3162300"/>
            <a:ext cx="762000" cy="762000"/>
          </a:xfrm>
          <a:prstGeom prst="ellipse">
            <a:avLst/>
          </a:prstGeom>
        </p:spPr>
      </p:pic>
      <p:sp>
        <p:nvSpPr>
          <p:cNvPr id="17" name="Text 13"/>
          <p:cNvSpPr txBox="1"/>
          <p:nvPr/>
        </p:nvSpPr>
        <p:spPr>
          <a:xfrm>
            <a:off x="45910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Jordan Houtz</a:t>
            </a:r>
            <a:endParaRPr lang="en-US" sz="1500" dirty="0"/>
          </a:p>
        </p:txBody>
      </p:sp>
      <p:sp>
        <p:nvSpPr>
          <p:cNvPr id="18" name="Text 14"/>
          <p:cNvSpPr txBox="1"/>
          <p:nvPr/>
        </p:nvSpPr>
        <p:spPr>
          <a:xfrm>
            <a:off x="45910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20" name="Alex Zykov card"/>
          <p:cNvSpPr/>
          <p:nvPr/>
        </p:nvSpPr>
        <p:spPr>
          <a:xfrm>
            <a:off x="419100" y="4171950"/>
            <a:ext cx="2971800" cy="1047750"/>
          </a:xfrm>
          <a:prstGeom prst="rect">
            <a:avLst/>
          </a:prstGeom>
          <a:solidFill>
            <a:srgbClr val="FAF7F3"/>
          </a:solidFill>
          <a:ln/>
        </p:spPr>
        <p:txBody>
          <a:bodyPr/>
          <a:lstStyle/>
          <a:p>
            <a:endParaRPr lang="en-US"/>
          </a:p>
        </p:txBody>
      </p:sp>
      <p:sp>
        <p:nvSpPr>
          <p:cNvPr id="21" name="Shape 17"/>
          <p:cNvSpPr/>
          <p:nvPr/>
        </p:nvSpPr>
        <p:spPr>
          <a:xfrm>
            <a:off x="419100" y="4171950"/>
            <a:ext cx="2971800" cy="28575"/>
          </a:xfrm>
          <a:prstGeom prst="rect">
            <a:avLst/>
          </a:prstGeom>
          <a:solidFill>
            <a:srgbClr val="B68757"/>
          </a:solidFill>
          <a:ln/>
        </p:spPr>
        <p:txBody>
          <a:bodyPr/>
          <a:lstStyle/>
          <a:p>
            <a:endParaRPr lang="en-US"/>
          </a:p>
        </p:txBody>
      </p:sp>
      <p:pic>
        <p:nvPicPr>
          <p:cNvPr id="22" name="Image 2"/>
          <p:cNvPicPr>
            <a:picLocks noChangeAspect="1"/>
          </p:cNvPicPr>
          <p:nvPr/>
        </p:nvPicPr>
        <p:blipFill>
          <a:blip r:embed="rId8"/>
          <a:stretch>
            <a:fillRect/>
          </a:stretch>
        </p:blipFill>
        <p:spPr>
          <a:xfrm>
            <a:off x="590550" y="4324350"/>
            <a:ext cx="762000" cy="762000"/>
          </a:xfrm>
          <a:prstGeom prst="ellipse">
            <a:avLst/>
          </a:prstGeom>
        </p:spPr>
      </p:pic>
      <p:sp>
        <p:nvSpPr>
          <p:cNvPr id="23" name="Text 18"/>
          <p:cNvSpPr txBox="1"/>
          <p:nvPr/>
        </p:nvSpPr>
        <p:spPr>
          <a:xfrm>
            <a:off x="15049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Alex Zykov</a:t>
            </a:r>
            <a:endParaRPr lang="en-US" sz="1500" dirty="0"/>
          </a:p>
        </p:txBody>
      </p:sp>
      <p:sp>
        <p:nvSpPr>
          <p:cNvPr id="24" name="Text 19"/>
          <p:cNvSpPr txBox="1"/>
          <p:nvPr/>
        </p:nvSpPr>
        <p:spPr>
          <a:xfrm>
            <a:off x="15049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TRANSACTION DIRECTOR</a:t>
            </a:r>
            <a:endParaRPr lang="en-US" sz="638" dirty="0"/>
          </a:p>
        </p:txBody>
      </p:sp>
      <p:sp>
        <p:nvSpPr>
          <p:cNvPr id="26" name="Shannon Hess card"/>
          <p:cNvSpPr/>
          <p:nvPr/>
        </p:nvSpPr>
        <p:spPr>
          <a:xfrm>
            <a:off x="3505200" y="4171950"/>
            <a:ext cx="2971800" cy="1047750"/>
          </a:xfrm>
          <a:prstGeom prst="rect">
            <a:avLst/>
          </a:prstGeom>
          <a:solidFill>
            <a:srgbClr val="FAF7F3"/>
          </a:solidFill>
          <a:ln/>
        </p:spPr>
        <p:txBody>
          <a:bodyPr/>
          <a:lstStyle/>
          <a:p>
            <a:endParaRPr lang="en-US"/>
          </a:p>
        </p:txBody>
      </p:sp>
      <p:sp>
        <p:nvSpPr>
          <p:cNvPr id="27" name="Shape 22"/>
          <p:cNvSpPr/>
          <p:nvPr/>
        </p:nvSpPr>
        <p:spPr>
          <a:xfrm>
            <a:off x="3505200" y="4171950"/>
            <a:ext cx="2971800" cy="28575"/>
          </a:xfrm>
          <a:prstGeom prst="rect">
            <a:avLst/>
          </a:prstGeom>
          <a:solidFill>
            <a:srgbClr val="B68757"/>
          </a:solidFill>
          <a:ln/>
        </p:spPr>
        <p:txBody>
          <a:bodyPr/>
          <a:lstStyle/>
          <a:p>
            <a:endParaRPr lang="en-US"/>
          </a:p>
        </p:txBody>
      </p:sp>
      <p:pic>
        <p:nvPicPr>
          <p:cNvPr id="28" name="Image 3"/>
          <p:cNvPicPr>
            <a:picLocks noChangeAspect="1"/>
          </p:cNvPicPr>
          <p:nvPr/>
        </p:nvPicPr>
        <p:blipFill>
          <a:blip r:embed="rId9"/>
          <a:stretch>
            <a:fillRect/>
          </a:stretch>
        </p:blipFill>
        <p:spPr>
          <a:xfrm>
            <a:off x="3676650" y="4324350"/>
            <a:ext cx="762000" cy="762000"/>
          </a:xfrm>
          <a:prstGeom prst="ellipse">
            <a:avLst/>
          </a:prstGeom>
        </p:spPr>
      </p:pic>
      <p:sp>
        <p:nvSpPr>
          <p:cNvPr id="29" name="Text 23"/>
          <p:cNvSpPr txBox="1"/>
          <p:nvPr/>
        </p:nvSpPr>
        <p:spPr>
          <a:xfrm>
            <a:off x="45910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Shannon Hess</a:t>
            </a:r>
            <a:endParaRPr lang="en-US" sz="1500" dirty="0"/>
          </a:p>
        </p:txBody>
      </p:sp>
      <p:sp>
        <p:nvSpPr>
          <p:cNvPr id="30" name="Text 24"/>
          <p:cNvSpPr txBox="1"/>
          <p:nvPr/>
        </p:nvSpPr>
        <p:spPr>
          <a:xfrm>
            <a:off x="45910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CLIENT ENGAGEMENT DIRECTOR</a:t>
            </a:r>
            <a:endParaRPr lang="en-US" sz="638" dirty="0"/>
          </a:p>
        </p:txBody>
      </p:sp>
      <p:sp>
        <p:nvSpPr>
          <p:cNvPr id="32" name="Shape 26"/>
          <p:cNvSpPr/>
          <p:nvPr/>
        </p:nvSpPr>
        <p:spPr>
          <a:xfrm>
            <a:off x="419100" y="5353050"/>
            <a:ext cx="1905000" cy="0"/>
          </a:xfrm>
          <a:prstGeom prst="line">
            <a:avLst/>
          </a:prstGeom>
          <a:noFill/>
          <a:ln w="9525">
            <a:solidFill>
              <a:srgbClr val="E3DCD3"/>
            </a:solidFill>
            <a:prstDash val="solid"/>
          </a:ln>
        </p:spPr>
        <p:txBody>
          <a:bodyPr/>
          <a:lstStyle/>
          <a:p>
            <a:endParaRPr lang="en-US"/>
          </a:p>
        </p:txBody>
      </p:sp>
      <p:sp>
        <p:nvSpPr>
          <p:cNvPr id="33" name="Text 27"/>
          <p:cNvSpPr txBox="1"/>
          <p:nvPr/>
        </p:nvSpPr>
        <p:spPr>
          <a:xfrm>
            <a:off x="4191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01</a:t>
            </a:r>
            <a:endParaRPr lang="en-US" sz="1350" dirty="0"/>
          </a:p>
        </p:txBody>
      </p:sp>
      <p:sp>
        <p:nvSpPr>
          <p:cNvPr id="34" name="Text 28"/>
          <p:cNvSpPr txBox="1"/>
          <p:nvPr/>
        </p:nvSpPr>
        <p:spPr>
          <a:xfrm>
            <a:off x="7239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Share a few details</a:t>
            </a:r>
            <a:endParaRPr lang="en-US" sz="863" dirty="0"/>
          </a:p>
        </p:txBody>
      </p:sp>
      <p:sp>
        <p:nvSpPr>
          <p:cNvPr id="35" name="Text 29"/>
          <p:cNvSpPr txBox="1"/>
          <p:nvPr/>
        </p:nvSpPr>
        <p:spPr>
          <a:xfrm>
            <a:off x="7239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Tell us about your company and what you are considering. Everything you share is held in strict confidence.</a:t>
            </a:r>
            <a:endParaRPr lang="en-US" sz="765" dirty="0"/>
          </a:p>
        </p:txBody>
      </p:sp>
      <p:sp>
        <p:nvSpPr>
          <p:cNvPr id="36" name="Shape 30"/>
          <p:cNvSpPr/>
          <p:nvPr/>
        </p:nvSpPr>
        <p:spPr>
          <a:xfrm>
            <a:off x="2457450" y="5353050"/>
            <a:ext cx="1905000" cy="0"/>
          </a:xfrm>
          <a:prstGeom prst="line">
            <a:avLst/>
          </a:prstGeom>
          <a:noFill/>
          <a:ln w="9525">
            <a:solidFill>
              <a:srgbClr val="E3DCD3"/>
            </a:solidFill>
            <a:prstDash val="solid"/>
          </a:ln>
        </p:spPr>
        <p:txBody>
          <a:bodyPr/>
          <a:lstStyle/>
          <a:p>
            <a:endParaRPr lang="en-US"/>
          </a:p>
        </p:txBody>
      </p:sp>
      <p:sp>
        <p:nvSpPr>
          <p:cNvPr id="37" name="Text 31"/>
          <p:cNvSpPr txBox="1"/>
          <p:nvPr/>
        </p:nvSpPr>
        <p:spPr>
          <a:xfrm>
            <a:off x="245745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02</a:t>
            </a:r>
            <a:endParaRPr lang="en-US" sz="1350" dirty="0"/>
          </a:p>
        </p:txBody>
      </p:sp>
      <p:sp>
        <p:nvSpPr>
          <p:cNvPr id="38" name="Text 32"/>
          <p:cNvSpPr txBox="1"/>
          <p:nvPr/>
        </p:nvSpPr>
        <p:spPr>
          <a:xfrm>
            <a:off x="276225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Talk with a Managing Director</a:t>
            </a:r>
            <a:endParaRPr lang="en-US" sz="863" dirty="0"/>
          </a:p>
        </p:txBody>
      </p:sp>
      <p:sp>
        <p:nvSpPr>
          <p:cNvPr id="39" name="Text 33"/>
          <p:cNvSpPr txBox="1"/>
          <p:nvPr/>
        </p:nvSpPr>
        <p:spPr>
          <a:xfrm>
            <a:off x="276225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A senior member of the team will set up a private conversation at a time that suits you.</a:t>
            </a:r>
            <a:endParaRPr lang="en-US" sz="765" dirty="0"/>
          </a:p>
        </p:txBody>
      </p:sp>
      <p:sp>
        <p:nvSpPr>
          <p:cNvPr id="40" name="Shape 34"/>
          <p:cNvSpPr/>
          <p:nvPr/>
        </p:nvSpPr>
        <p:spPr>
          <a:xfrm>
            <a:off x="4495800" y="5353050"/>
            <a:ext cx="1905000" cy="0"/>
          </a:xfrm>
          <a:prstGeom prst="line">
            <a:avLst/>
          </a:prstGeom>
          <a:noFill/>
          <a:ln w="9525">
            <a:solidFill>
              <a:srgbClr val="E3DCD3"/>
            </a:solidFill>
            <a:prstDash val="solid"/>
          </a:ln>
        </p:spPr>
        <p:txBody>
          <a:bodyPr/>
          <a:lstStyle/>
          <a:p>
            <a:endParaRPr lang="en-US"/>
          </a:p>
        </p:txBody>
      </p:sp>
      <p:sp>
        <p:nvSpPr>
          <p:cNvPr id="41" name="Text 35"/>
          <p:cNvSpPr txBox="1"/>
          <p:nvPr/>
        </p:nvSpPr>
        <p:spPr>
          <a:xfrm>
            <a:off x="44958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03</a:t>
            </a:r>
            <a:endParaRPr lang="en-US" sz="1350" dirty="0"/>
          </a:p>
        </p:txBody>
      </p:sp>
      <p:sp>
        <p:nvSpPr>
          <p:cNvPr id="42" name="Text 36"/>
          <p:cNvSpPr txBox="1"/>
          <p:nvPr/>
        </p:nvSpPr>
        <p:spPr>
          <a:xfrm>
            <a:off x="48006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See your options clearly</a:t>
            </a:r>
            <a:endParaRPr lang="en-US" sz="863" dirty="0"/>
          </a:p>
        </p:txBody>
      </p:sp>
      <p:sp>
        <p:nvSpPr>
          <p:cNvPr id="43" name="Text 37"/>
          <p:cNvSpPr txBox="1"/>
          <p:nvPr/>
        </p:nvSpPr>
        <p:spPr>
          <a:xfrm>
            <a:off x="48006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Understand the paths available, from a full sale to a strategic partnership, and what each could mean for you.</a:t>
            </a:r>
            <a:endParaRPr lang="en-US" sz="765" dirty="0"/>
          </a:p>
        </p:txBody>
      </p:sp>
      <p:sp>
        <p:nvSpPr>
          <p:cNvPr id="44" name="Text 38"/>
          <p:cNvSpPr/>
          <p:nvPr/>
        </p:nvSpPr>
        <p:spPr>
          <a:xfrm>
            <a:off x="419100" y="6534150"/>
            <a:ext cx="2038350" cy="361950"/>
          </a:xfrm>
          <a:prstGeom prst="rect">
            <a:avLst/>
          </a:prstGeom>
          <a:solidFill>
            <a:srgbClr val="B68757"/>
          </a:solidFill>
          <a:ln/>
        </p:spPr>
        <p:txBody>
          <a:bodyPr wrap="square" lIns="0" tIns="0" rIns="0" bIns="0" rtlCol="0" anchor="ctr"/>
          <a:lstStyle/>
          <a:p>
            <a:pPr marL="0" indent="0" algn="ctr">
              <a:buNone/>
            </a:pPr>
            <a:r>
              <a:rPr lang="en-US" sz="713" b="1" u="sng" kern="0" spc="160" dirty="0">
                <a:solidFill>
                  <a:srgbClr val="FFFFFF"/>
                </a:solidFill>
                <a:hlinkClick r:id="rId6">
                  <a:extLst>
                    <a:ext uri="{A12FA001-AC4F-418D-AE19-62706E023703}">
                      <ahyp:hlinkClr xmlns:ahyp="http://schemas.microsoft.com/office/drawing/2018/hyperlinkcolor" val="tx"/>
                    </a:ext>
                  </a:extLst>
                </a:hlinkClick>
              </a:rPr>
              <a:t>SCHEDULE A CONVERSATION</a:t>
            </a:r>
            <a:endParaRPr lang="en-US" sz="713" dirty="0"/>
          </a:p>
        </p:txBody>
      </p:sp>
      <p:sp>
        <p:nvSpPr>
          <p:cNvPr id="45" name="Text 39"/>
          <p:cNvSpPr/>
          <p:nvPr/>
        </p:nvSpPr>
        <p:spPr>
          <a:xfrm>
            <a:off x="2571750" y="6534150"/>
            <a:ext cx="3009900" cy="36195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713" b="1" u="sng" kern="0" spc="160" dirty="0">
                <a:solidFill>
                  <a:srgbClr val="1B1A1A"/>
                </a:solidFill>
                <a:hlinkClick r:id="rId10">
                  <a:extLst>
                    <a:ext uri="{A12FA001-AC4F-418D-AE19-62706E023703}">
                      <ahyp:hlinkClr xmlns:ahyp="http://schemas.microsoft.com/office/drawing/2018/hyperlinkcolor" val="tx"/>
                    </a:ext>
                  </a:extLst>
                </a:hlinkClick>
              </a:rPr>
              <a:t>READ THE REPORT ONLINE</a:t>
            </a:r>
            <a:endParaRPr lang="en-US" sz="713" dirty="0"/>
          </a:p>
        </p:txBody>
      </p:sp>
      <p:sp>
        <p:nvSpPr>
          <p:cNvPr id="46" name="Firm panel"/>
          <p:cNvSpPr/>
          <p:nvPr/>
        </p:nvSpPr>
        <p:spPr>
          <a:xfrm>
            <a:off x="6915150" y="1238250"/>
            <a:ext cx="2724150" cy="5695950"/>
          </a:xfrm>
          <a:prstGeom prst="rect">
            <a:avLst/>
          </a:prstGeom>
          <a:solidFill>
            <a:srgbClr val="1B1A1A"/>
          </a:solidFill>
          <a:ln/>
        </p:spPr>
        <p:txBody>
          <a:bodyPr/>
          <a:lstStyle/>
          <a:p>
            <a:endParaRPr lang="en-US"/>
          </a:p>
        </p:txBody>
      </p:sp>
      <p:pic>
        <p:nvPicPr>
          <p:cNvPr id="47" name="Image 4"/>
          <p:cNvPicPr>
            <a:picLocks noChangeAspect="1"/>
          </p:cNvPicPr>
          <p:nvPr/>
        </p:nvPicPr>
        <p:blipFill>
          <a:blip r:embed="rId11"/>
          <a:stretch>
            <a:fillRect/>
          </a:stretch>
        </p:blipFill>
        <p:spPr>
          <a:xfrm>
            <a:off x="7143750" y="1485900"/>
            <a:ext cx="1638300" cy="304800"/>
          </a:xfrm>
          <a:prstGeom prst="rect">
            <a:avLst/>
          </a:prstGeom>
        </p:spPr>
      </p:pic>
      <p:sp>
        <p:nvSpPr>
          <p:cNvPr id="48" name="Text 41"/>
          <p:cNvSpPr txBox="1"/>
          <p:nvPr/>
        </p:nvSpPr>
        <p:spPr>
          <a:xfrm>
            <a:off x="7143750" y="1866900"/>
            <a:ext cx="2286000" cy="133350"/>
          </a:xfrm>
          <a:prstGeom prst="rect">
            <a:avLst/>
          </a:prstGeom>
          <a:noFill/>
          <a:ln/>
        </p:spPr>
        <p:txBody>
          <a:bodyPr wrap="square" lIns="0" tIns="0" rIns="0" bIns="0" rtlCol="0" anchor="t"/>
          <a:lstStyle/>
          <a:p>
            <a:pPr marL="0" indent="0">
              <a:buNone/>
            </a:pPr>
            <a:r>
              <a:rPr lang="en-US" sz="675" b="1" kern="0" spc="200" dirty="0">
                <a:solidFill>
                  <a:srgbClr val="8C6239"/>
                </a:solidFill>
              </a:rPr>
              <a:t>MIDDLE MARKET</a:t>
            </a:r>
            <a:endParaRPr lang="en-US" sz="675" dirty="0"/>
          </a:p>
        </p:txBody>
      </p:sp>
      <p:sp>
        <p:nvSpPr>
          <p:cNvPr id="49" name="Text 42"/>
          <p:cNvSpPr txBox="1"/>
          <p:nvPr/>
        </p:nvSpPr>
        <p:spPr>
          <a:xfrm>
            <a:off x="71437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a:t>
            </a:r>
            <a:endParaRPr lang="en-US" sz="1950" dirty="0"/>
          </a:p>
        </p:txBody>
      </p:sp>
      <p:sp>
        <p:nvSpPr>
          <p:cNvPr id="50" name="Text 43"/>
          <p:cNvSpPr txBox="1"/>
          <p:nvPr/>
        </p:nvSpPr>
        <p:spPr>
          <a:xfrm>
            <a:off x="71437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Privately owned sell-side M&amp;A advisor worldwide</a:t>
            </a:r>
            <a:endParaRPr lang="en-US" sz="705" dirty="0"/>
          </a:p>
        </p:txBody>
      </p:sp>
      <p:sp>
        <p:nvSpPr>
          <p:cNvPr id="51" name="Text 44"/>
          <p:cNvSpPr txBox="1"/>
          <p:nvPr/>
        </p:nvSpPr>
        <p:spPr>
          <a:xfrm>
            <a:off x="83629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15</a:t>
            </a:r>
            <a:endParaRPr lang="en-US" sz="1950" dirty="0"/>
          </a:p>
        </p:txBody>
      </p:sp>
      <p:sp>
        <p:nvSpPr>
          <p:cNvPr id="52" name="Text 45"/>
          <p:cNvSpPr txBox="1"/>
          <p:nvPr/>
        </p:nvSpPr>
        <p:spPr>
          <a:xfrm>
            <a:off x="83629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Global offices across the Americas, Europe and Africa</a:t>
            </a:r>
            <a:endParaRPr lang="en-US" sz="705" dirty="0"/>
          </a:p>
        </p:txBody>
      </p:sp>
      <p:sp>
        <p:nvSpPr>
          <p:cNvPr id="53" name="Text 46"/>
          <p:cNvSpPr txBox="1"/>
          <p:nvPr/>
        </p:nvSpPr>
        <p:spPr>
          <a:xfrm>
            <a:off x="7143750" y="2857500"/>
            <a:ext cx="22860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$50M to $500M</a:t>
            </a:r>
            <a:endParaRPr lang="en-US" sz="1800" dirty="0"/>
          </a:p>
        </p:txBody>
      </p:sp>
      <p:sp>
        <p:nvSpPr>
          <p:cNvPr id="54" name="Text 47"/>
          <p:cNvSpPr txBox="1"/>
          <p:nvPr/>
        </p:nvSpPr>
        <p:spPr>
          <a:xfrm>
            <a:off x="7143750" y="3162300"/>
            <a:ext cx="2286000" cy="152400"/>
          </a:xfrm>
          <a:prstGeom prst="rect">
            <a:avLst/>
          </a:prstGeom>
          <a:noFill/>
          <a:ln/>
        </p:spPr>
        <p:txBody>
          <a:bodyPr wrap="square" lIns="0" tIns="0" rIns="0" bIns="0" rtlCol="0" anchor="t"/>
          <a:lstStyle/>
          <a:p>
            <a:pPr marL="0" indent="0">
              <a:buNone/>
            </a:pPr>
            <a:r>
              <a:rPr lang="en-US" sz="705" dirty="0">
                <a:solidFill>
                  <a:srgbClr val="E8E2DA"/>
                </a:solidFill>
              </a:rPr>
              <a:t>Total enterprise value range the team serves</a:t>
            </a:r>
            <a:endParaRPr lang="en-US" sz="705" dirty="0"/>
          </a:p>
        </p:txBody>
      </p:sp>
      <p:sp>
        <p:nvSpPr>
          <p:cNvPr id="55" name="Shape 48"/>
          <p:cNvSpPr/>
          <p:nvPr/>
        </p:nvSpPr>
        <p:spPr>
          <a:xfrm>
            <a:off x="7143750" y="3448050"/>
            <a:ext cx="2266950" cy="0"/>
          </a:xfrm>
          <a:prstGeom prst="line">
            <a:avLst/>
          </a:prstGeom>
          <a:noFill/>
          <a:ln w="9525">
            <a:solidFill>
              <a:srgbClr val="5B4E40"/>
            </a:solidFill>
            <a:prstDash val="solid"/>
          </a:ln>
        </p:spPr>
        <p:txBody>
          <a:bodyPr/>
          <a:lstStyle/>
          <a:p>
            <a:endParaRPr lang="en-US"/>
          </a:p>
        </p:txBody>
      </p:sp>
      <p:sp>
        <p:nvSpPr>
          <p:cNvPr id="56" name="Text 49"/>
          <p:cNvSpPr txBox="1"/>
          <p:nvPr/>
        </p:nvSpPr>
        <p:spPr>
          <a:xfrm>
            <a:off x="7143750" y="35433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INDUSTRIAL COVERAGE</a:t>
            </a:r>
            <a:endParaRPr lang="en-US" sz="675" dirty="0"/>
          </a:p>
        </p:txBody>
      </p:sp>
      <p:pic>
        <p:nvPicPr>
          <p:cNvPr id="57" name="Image 5"/>
          <p:cNvPicPr>
            <a:picLocks noChangeAspect="1"/>
          </p:cNvPicPr>
          <p:nvPr/>
        </p:nvPicPr>
        <p:blipFill>
          <a:blip r:embed="rId12"/>
          <a:stretch>
            <a:fillRect/>
          </a:stretch>
        </p:blipFill>
        <p:spPr>
          <a:xfrm>
            <a:off x="7143750" y="3771900"/>
            <a:ext cx="142875" cy="142875"/>
          </a:xfrm>
          <a:prstGeom prst="rect">
            <a:avLst/>
          </a:prstGeom>
        </p:spPr>
      </p:pic>
      <p:sp>
        <p:nvSpPr>
          <p:cNvPr id="58" name="Text 50"/>
          <p:cNvSpPr txBox="1"/>
          <p:nvPr/>
        </p:nvSpPr>
        <p:spPr>
          <a:xfrm>
            <a:off x="7372350" y="3752850"/>
            <a:ext cx="2038350" cy="190500"/>
          </a:xfrm>
          <a:prstGeom prst="rect">
            <a:avLst/>
          </a:prstGeom>
          <a:noFill/>
          <a:ln/>
        </p:spPr>
        <p:txBody>
          <a:bodyPr wrap="square" lIns="0" tIns="0" rIns="0" bIns="0" rtlCol="0" anchor="ctr"/>
          <a:lstStyle/>
          <a:p>
            <a:pPr marL="0" indent="0">
              <a:buNone/>
            </a:pPr>
            <a:r>
              <a:rPr lang="en-US" sz="810" dirty="0">
                <a:solidFill>
                  <a:srgbClr val="F4EFE8"/>
                </a:solidFill>
              </a:rPr>
              <a:t>Manufacturing &amp; Industrial Technology</a:t>
            </a:r>
            <a:endParaRPr lang="en-US" sz="810" dirty="0"/>
          </a:p>
        </p:txBody>
      </p:sp>
      <p:pic>
        <p:nvPicPr>
          <p:cNvPr id="59" name="Image 6"/>
          <p:cNvPicPr>
            <a:picLocks noChangeAspect="1"/>
          </p:cNvPicPr>
          <p:nvPr/>
        </p:nvPicPr>
        <p:blipFill>
          <a:blip r:embed="rId13"/>
          <a:stretch>
            <a:fillRect/>
          </a:stretch>
        </p:blipFill>
        <p:spPr>
          <a:xfrm>
            <a:off x="7143750" y="4019550"/>
            <a:ext cx="142875" cy="142875"/>
          </a:xfrm>
          <a:prstGeom prst="rect">
            <a:avLst/>
          </a:prstGeom>
        </p:spPr>
      </p:pic>
      <p:sp>
        <p:nvSpPr>
          <p:cNvPr id="60" name="Text 51"/>
          <p:cNvSpPr txBox="1"/>
          <p:nvPr/>
        </p:nvSpPr>
        <p:spPr>
          <a:xfrm>
            <a:off x="7372350" y="4000500"/>
            <a:ext cx="2038350" cy="190500"/>
          </a:xfrm>
          <a:prstGeom prst="rect">
            <a:avLst/>
          </a:prstGeom>
          <a:noFill/>
          <a:ln/>
        </p:spPr>
        <p:txBody>
          <a:bodyPr wrap="square" lIns="0" tIns="0" rIns="0" bIns="0" rtlCol="0" anchor="ctr"/>
          <a:lstStyle/>
          <a:p>
            <a:pPr marL="0" indent="0">
              <a:buNone/>
            </a:pPr>
            <a:r>
              <a:rPr lang="en-US" sz="810" dirty="0">
                <a:solidFill>
                  <a:srgbClr val="F4EFE8"/>
                </a:solidFill>
              </a:rPr>
              <a:t>Industrial Distribution &amp; Services</a:t>
            </a:r>
            <a:endParaRPr lang="en-US" sz="810" dirty="0"/>
          </a:p>
        </p:txBody>
      </p:sp>
      <p:pic>
        <p:nvPicPr>
          <p:cNvPr id="61" name="Image 7"/>
          <p:cNvPicPr>
            <a:picLocks noChangeAspect="1"/>
          </p:cNvPicPr>
          <p:nvPr/>
        </p:nvPicPr>
        <p:blipFill>
          <a:blip r:embed="rId14"/>
          <a:stretch>
            <a:fillRect/>
          </a:stretch>
        </p:blipFill>
        <p:spPr>
          <a:xfrm>
            <a:off x="7143750" y="4267200"/>
            <a:ext cx="142875" cy="142875"/>
          </a:xfrm>
          <a:prstGeom prst="rect">
            <a:avLst/>
          </a:prstGeom>
        </p:spPr>
      </p:pic>
      <p:sp>
        <p:nvSpPr>
          <p:cNvPr id="62" name="Text 52"/>
          <p:cNvSpPr txBox="1"/>
          <p:nvPr/>
        </p:nvSpPr>
        <p:spPr>
          <a:xfrm>
            <a:off x="7372350" y="4248150"/>
            <a:ext cx="2038350" cy="190500"/>
          </a:xfrm>
          <a:prstGeom prst="rect">
            <a:avLst/>
          </a:prstGeom>
          <a:noFill/>
          <a:ln/>
        </p:spPr>
        <p:txBody>
          <a:bodyPr wrap="square" lIns="0" tIns="0" rIns="0" bIns="0" rtlCol="0" anchor="ctr"/>
          <a:lstStyle/>
          <a:p>
            <a:pPr marL="0" indent="0">
              <a:buNone/>
            </a:pPr>
            <a:r>
              <a:rPr lang="en-US" sz="810" dirty="0">
                <a:solidFill>
                  <a:srgbClr val="F4EFE8"/>
                </a:solidFill>
              </a:rPr>
              <a:t>Building Products &amp; Construction Services</a:t>
            </a:r>
            <a:endParaRPr lang="en-US" sz="810" dirty="0"/>
          </a:p>
        </p:txBody>
      </p:sp>
      <p:pic>
        <p:nvPicPr>
          <p:cNvPr id="63" name="Image 8"/>
          <p:cNvPicPr>
            <a:picLocks noChangeAspect="1"/>
          </p:cNvPicPr>
          <p:nvPr/>
        </p:nvPicPr>
        <p:blipFill>
          <a:blip r:embed="rId15"/>
          <a:stretch>
            <a:fillRect/>
          </a:stretch>
        </p:blipFill>
        <p:spPr>
          <a:xfrm>
            <a:off x="7143750" y="4514850"/>
            <a:ext cx="142875" cy="142875"/>
          </a:xfrm>
          <a:prstGeom prst="rect">
            <a:avLst/>
          </a:prstGeom>
        </p:spPr>
      </p:pic>
      <p:sp>
        <p:nvSpPr>
          <p:cNvPr id="64" name="Text 53"/>
          <p:cNvSpPr txBox="1"/>
          <p:nvPr/>
        </p:nvSpPr>
        <p:spPr>
          <a:xfrm>
            <a:off x="7372350" y="4495800"/>
            <a:ext cx="2038350" cy="190500"/>
          </a:xfrm>
          <a:prstGeom prst="rect">
            <a:avLst/>
          </a:prstGeom>
          <a:noFill/>
          <a:ln/>
        </p:spPr>
        <p:txBody>
          <a:bodyPr wrap="square" lIns="0" tIns="0" rIns="0" bIns="0" rtlCol="0" anchor="ctr"/>
          <a:lstStyle/>
          <a:p>
            <a:pPr marL="0" indent="0">
              <a:buNone/>
            </a:pPr>
            <a:r>
              <a:rPr lang="en-US" sz="810" dirty="0">
                <a:solidFill>
                  <a:srgbClr val="F4EFE8"/>
                </a:solidFill>
              </a:rPr>
              <a:t>Energy, Power &amp; Environmental Services</a:t>
            </a:r>
            <a:endParaRPr lang="en-US" sz="810" dirty="0"/>
          </a:p>
        </p:txBody>
      </p:sp>
      <p:pic>
        <p:nvPicPr>
          <p:cNvPr id="65" name="Image 9"/>
          <p:cNvPicPr>
            <a:picLocks noChangeAspect="1"/>
          </p:cNvPicPr>
          <p:nvPr/>
        </p:nvPicPr>
        <p:blipFill>
          <a:blip r:embed="rId16"/>
          <a:stretch>
            <a:fillRect/>
          </a:stretch>
        </p:blipFill>
        <p:spPr>
          <a:xfrm>
            <a:off x="7143750" y="4762500"/>
            <a:ext cx="142875" cy="142875"/>
          </a:xfrm>
          <a:prstGeom prst="rect">
            <a:avLst/>
          </a:prstGeom>
        </p:spPr>
      </p:pic>
      <p:sp>
        <p:nvSpPr>
          <p:cNvPr id="66" name="Text 54"/>
          <p:cNvSpPr txBox="1"/>
          <p:nvPr/>
        </p:nvSpPr>
        <p:spPr>
          <a:xfrm>
            <a:off x="7372350" y="4743450"/>
            <a:ext cx="2038350" cy="190500"/>
          </a:xfrm>
          <a:prstGeom prst="rect">
            <a:avLst/>
          </a:prstGeom>
          <a:noFill/>
          <a:ln/>
        </p:spPr>
        <p:txBody>
          <a:bodyPr wrap="square" lIns="0" tIns="0" rIns="0" bIns="0" rtlCol="0" anchor="ctr"/>
          <a:lstStyle/>
          <a:p>
            <a:pPr marL="0" indent="0">
              <a:buNone/>
            </a:pPr>
            <a:r>
              <a:rPr lang="en-US" sz="810" dirty="0">
                <a:solidFill>
                  <a:srgbClr val="F4EFE8"/>
                </a:solidFill>
              </a:rPr>
              <a:t>Transportation &amp; Logistics</a:t>
            </a:r>
            <a:endParaRPr lang="en-US" sz="810" dirty="0"/>
          </a:p>
        </p:txBody>
      </p:sp>
      <p:sp>
        <p:nvSpPr>
          <p:cNvPr id="67" name="Shape 55"/>
          <p:cNvSpPr/>
          <p:nvPr/>
        </p:nvSpPr>
        <p:spPr>
          <a:xfrm>
            <a:off x="7143750" y="5086350"/>
            <a:ext cx="2266950" cy="0"/>
          </a:xfrm>
          <a:prstGeom prst="line">
            <a:avLst/>
          </a:prstGeom>
          <a:noFill/>
          <a:ln w="9525">
            <a:solidFill>
              <a:srgbClr val="5B4E40"/>
            </a:solidFill>
            <a:prstDash val="solid"/>
          </a:ln>
        </p:spPr>
        <p:txBody>
          <a:bodyPr/>
          <a:lstStyle/>
          <a:p>
            <a:endParaRPr lang="en-US"/>
          </a:p>
        </p:txBody>
      </p:sp>
      <p:sp>
        <p:nvSpPr>
          <p:cNvPr id="68" name="Text 56"/>
          <p:cNvSpPr txBox="1"/>
          <p:nvPr/>
        </p:nvSpPr>
        <p:spPr>
          <a:xfrm>
            <a:off x="7143750" y="51816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AMERICAS HEADQUARTERS</a:t>
            </a:r>
            <a:endParaRPr lang="en-US" sz="675" dirty="0"/>
          </a:p>
        </p:txBody>
      </p:sp>
      <p:sp>
        <p:nvSpPr>
          <p:cNvPr id="69" name="Text 57"/>
          <p:cNvSpPr txBox="1"/>
          <p:nvPr/>
        </p:nvSpPr>
        <p:spPr>
          <a:xfrm>
            <a:off x="7143750" y="5353050"/>
            <a:ext cx="2266950" cy="457200"/>
          </a:xfrm>
          <a:prstGeom prst="rect">
            <a:avLst/>
          </a:prstGeom>
          <a:noFill/>
          <a:ln/>
        </p:spPr>
        <p:txBody>
          <a:bodyPr wrap="square" lIns="0" tIns="0" rIns="0" bIns="0" rtlCol="0" anchor="t"/>
          <a:lstStyle/>
          <a:p>
            <a:pPr marL="0" indent="0">
              <a:lnSpc>
                <a:spcPts val="1125"/>
              </a:lnSpc>
              <a:buNone/>
            </a:pPr>
            <a:r>
              <a:rPr lang="en-US" sz="780" dirty="0">
                <a:solidFill>
                  <a:srgbClr val="E8E2DA"/>
                </a:solidFill>
              </a:rPr>
              <a:t>4030 West Boy Scout Blvd., Suite 500</a:t>
            </a:r>
            <a:endParaRPr lang="en-US" sz="780" dirty="0"/>
          </a:p>
          <a:p>
            <a:pPr marL="0" indent="0">
              <a:lnSpc>
                <a:spcPts val="1125"/>
              </a:lnSpc>
              <a:buNone/>
            </a:pPr>
            <a:r>
              <a:rPr lang="en-US" sz="780" dirty="0">
                <a:solidFill>
                  <a:srgbClr val="E8E2DA"/>
                </a:solidFill>
              </a:rPr>
              <a:t>Tampa, FL 33607</a:t>
            </a:r>
            <a:endParaRPr lang="en-US" sz="780" dirty="0"/>
          </a:p>
          <a:p>
            <a:pPr marL="0" indent="0">
              <a:lnSpc>
                <a:spcPts val="1125"/>
              </a:lnSpc>
              <a:buNone/>
            </a:pPr>
            <a:r>
              <a:rPr lang="en-US" sz="780" dirty="0">
                <a:solidFill>
                  <a:srgbClr val="E8E2DA"/>
                </a:solidFill>
              </a:rPr>
              <a:t>+1 813 898 2350</a:t>
            </a:r>
            <a:endParaRPr lang="en-US" sz="780" dirty="0"/>
          </a:p>
        </p:txBody>
      </p:sp>
      <p:sp>
        <p:nvSpPr>
          <p:cNvPr id="70" name="Text 58"/>
          <p:cNvSpPr txBox="1"/>
          <p:nvPr/>
        </p:nvSpPr>
        <p:spPr>
          <a:xfrm>
            <a:off x="7143750" y="5886450"/>
            <a:ext cx="2266950" cy="914400"/>
          </a:xfrm>
          <a:prstGeom prst="rect">
            <a:avLst/>
          </a:prstGeom>
          <a:noFill/>
          <a:ln/>
        </p:spPr>
        <p:txBody>
          <a:bodyPr wrap="square" lIns="0" tIns="0" rIns="0" bIns="0" rtlCol="0" anchor="t"/>
          <a:lstStyle/>
          <a:p>
            <a:pPr marL="0" indent="0">
              <a:lnSpc>
                <a:spcPts val="1013"/>
              </a:lnSpc>
              <a:buNone/>
            </a:pPr>
            <a:r>
              <a:rPr lang="en-US" sz="705" b="1" dirty="0">
                <a:solidFill>
                  <a:srgbClr val="E8E2DA"/>
                </a:solidFill>
              </a:rPr>
              <a:t>Europe  </a:t>
            </a:r>
            <a:r>
              <a:rPr lang="en-US" sz="705" dirty="0">
                <a:solidFill>
                  <a:srgbClr val="C9C2B8"/>
                </a:solidFill>
              </a:rPr>
              <a:t>One New Bailey, 4 Stanley St., Manchester, M3 5JL</a:t>
            </a:r>
            <a:endParaRPr lang="en-US" sz="705" dirty="0"/>
          </a:p>
          <a:p>
            <a:pPr marL="0" indent="0">
              <a:lnSpc>
                <a:spcPts val="1013"/>
              </a:lnSpc>
              <a:buNone/>
            </a:pPr>
            <a:r>
              <a:rPr lang="en-US" sz="705" b="1" dirty="0">
                <a:solidFill>
                  <a:srgbClr val="E8E2DA"/>
                </a:solidFill>
              </a:rPr>
              <a:t>Africa  </a:t>
            </a:r>
            <a:r>
              <a:rPr lang="en-US" sz="705" dirty="0">
                <a:solidFill>
                  <a:srgbClr val="C9C2B8"/>
                </a:solidFill>
              </a:rPr>
              <a:t>Airport Office Park, Freight Rd., Cape Town Airport, 7525</a:t>
            </a:r>
            <a:endParaRPr lang="en-US" sz="705" dirty="0"/>
          </a:p>
        </p:txBody>
      </p:sp>
      <p:sp>
        <p:nvSpPr>
          <p:cNvPr id="71"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sp>
        <p:nvSpPr>
          <p:cNvPr id="72" name="Text: jhoutz@benchmarkintl.com"/>
          <p:cNvSpPr txBox="1"/>
          <p:nvPr/>
        </p:nvSpPr>
        <p:spPr>
          <a:xfrm>
            <a:off x="45910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17">
                  <a:extLst>
                    <a:ext uri="{A12FA001-AC4F-418D-AE19-62706E023703}">
                      <ahyp:hlinkClr xmlns:ahyp="http://schemas.microsoft.com/office/drawing/2018/hyperlinkcolor" val="tx"/>
                    </a:ext>
                  </a:extLst>
                </a:hlinkClick>
              </a:rPr>
              <a:t>jhoutz@benchmarkintl.com</a:t>
            </a:r>
            <a:endParaRPr lang="en-US" sz="81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INDUSTRIAL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in majority and control transactions and strategic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INDUSTRIAL COVERAGE</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
        <p:nvSpPr>
          <p:cNvPr id="106" name="Text: jhoutz@benchmarkintl.com"/>
          <p:cNvSpPr txBox="1"/>
          <p:nvPr/>
        </p:nvSpPr>
        <p:spPr>
          <a:xfrm>
            <a:off x="2835920"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
        <p:nvSpPr>
          <p:cNvPr id="115" name="Text: Provider Services"/>
          <p:cNvSpPr txBox="1"/>
          <p:nvPr/>
        </p:nvSpPr>
        <p:spPr>
          <a:xfrm>
            <a:off x="26289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Manufacturing &amp; Industrial Technology</a:t>
            </a:r>
          </a:p>
        </p:txBody>
      </p:sp>
      <p:sp>
        <p:nvSpPr>
          <p:cNvPr id="116" name="Text: Provider Services"/>
          <p:cNvSpPr txBox="1"/>
          <p:nvPr/>
        </p:nvSpPr>
        <p:spPr>
          <a:xfrm>
            <a:off x="49657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Industrial Distribution &amp; Services</a:t>
            </a:r>
          </a:p>
        </p:txBody>
      </p:sp>
      <p:sp>
        <p:nvSpPr>
          <p:cNvPr id="117" name="Text: Provider Services"/>
          <p:cNvSpPr txBox="1"/>
          <p:nvPr/>
        </p:nvSpPr>
        <p:spPr>
          <a:xfrm>
            <a:off x="73025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Building Products &amp; Construction Services</a:t>
            </a:r>
          </a:p>
        </p:txBody>
      </p:sp>
      <p:sp>
        <p:nvSpPr>
          <p:cNvPr id="118" name="Text: Provider Services"/>
          <p:cNvSpPr txBox="1"/>
          <p:nvPr/>
        </p:nvSpPr>
        <p:spPr>
          <a:xfrm>
            <a:off x="26289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Energy, Power &amp; Environmental Services</a:t>
            </a:r>
          </a:p>
        </p:txBody>
      </p:sp>
      <p:sp>
        <p:nvSpPr>
          <p:cNvPr id="119" name="Text: Provider Services"/>
          <p:cNvSpPr txBox="1"/>
          <p:nvPr/>
        </p:nvSpPr>
        <p:spPr>
          <a:xfrm>
            <a:off x="49657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Transportation &amp; Logistics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These disclosures apply to this brief and to the Middle Market industry reports.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brief is as of October 7, 2026 unless stated otherwise.</a:t>
            </a:r>
            <a:endParaRPr lang="en-US" sz="675" dirty="0"/>
          </a:p>
        </p:txBody>
      </p:sp>
      <p:sp>
        <p:nvSpPr>
          <p:cNvPr id="5" name="Text 3"/>
          <p:cNvSpPr txBox="1"/>
          <p:nvPr/>
        </p:nvSpPr>
        <p:spPr>
          <a:xfrm>
            <a:off x="41910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520065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Every figure in this brief links to the page it came from, and the same links are collected here by section.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were gathered from these sources between October 2 and October 7, 2026.</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INSIGHTS (PAGES 3 TO 5)</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5"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6"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7"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8" tooltip="https://www.sec.gov/Archives/edgar/data/1035983/000110465926086255/fix-20260723xex99d1.htm">
                  <a:extLst>
                    <a:ext uri="{A12FA001-AC4F-418D-AE19-62706E023703}">
                      <ahyp:hlinkClr xmlns:ahyp="http://schemas.microsoft.com/office/drawing/2018/hyperlinkcolor" val="tx"/>
                    </a:ext>
                  </a:extLst>
                </a:hlinkClick>
              </a:rPr>
              <a:t>Comfort Systems USA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9"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0"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1"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2"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3"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5"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6"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7"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8"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19"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0"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1"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2"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3"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4"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5"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7" tooltip="https://www.mdm.com/?p=436875">
                  <a:extLst>
                    <a:ext uri="{A12FA001-AC4F-418D-AE19-62706E023703}">
                      <ahyp:hlinkClr xmlns:ahyp="http://schemas.microsoft.com/office/drawing/2018/hyperlinkcolor" val="tx"/>
                    </a:ext>
                  </a:extLst>
                </a:hlinkClick>
              </a:rPr>
              <a:t>ABC analysis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28"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29" tooltip="https://www.rwbaird.com/siteassets/gib/pdf/electrical-power-solutions-sector-update-september-2026.pdf">
                  <a:extLst>
                    <a:ext uri="{A12FA001-AC4F-418D-AE19-62706E023703}">
                      <ahyp:hlinkClr xmlns:ahyp="http://schemas.microsoft.com/office/drawing/2018/hyperlinkcolor" val="tx"/>
                    </a:ext>
                  </a:extLst>
                </a:hlinkClick>
              </a:rPr>
              <a:t>Baird’s Perspectives on the Electrical Power Solutions Market, September 2026</a:t>
            </a:r>
            <a:r>
              <a:rPr lang="en-US" sz="720" dirty="0">
                <a:solidFill>
                  <a:srgbClr val="6F6A66"/>
                </a:solidFill>
              </a:rPr>
              <a:t>  rwbaird.com</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800" u="sng" dirty="0">
                <a:hlinkClick r:id="rId34"/>
              </a:rPr>
              <a:t>Bg2 Pod</a:t>
            </a:r>
            <a:r>
              <a:rPr lang="en-US" sz="720" dirty="0"/>
              <a:t> </a:t>
            </a:r>
            <a:r>
              <a:rPr lang="en-US" sz="720" dirty="0">
                <a:solidFill>
                  <a:srgbClr val="6F6A66"/>
                </a:solidFill>
              </a:rPr>
              <a:t>bg2pod.com</a:t>
            </a:r>
          </a:p>
          <a:p>
            <a:pPr>
              <a:lnSpc>
                <a:spcPct val="100000"/>
              </a:lnSpc>
            </a:pPr>
            <a:r>
              <a:rPr lang="en-US" sz="800" dirty="0">
                <a:hlinkClick r:id="rId35"/>
              </a:rPr>
              <a:t>CNBC</a:t>
            </a:r>
            <a:r>
              <a:rPr lang="en-US" sz="80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800" u="sng" dirty="0">
                <a:hlinkClick r:id="rId37"/>
              </a:rPr>
              <a:t>Quanta Services</a:t>
            </a:r>
            <a:r>
              <a:rPr lang="en-US" sz="80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7 AND 8)</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featured/featured-blog/ferguson-makes-1-6b-flow-control-bet-with-floworks-deal/">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3"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4"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5"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6"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5, 9 AND 15)</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1"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2" tooltip="https://jp-hardin.github.io/about/mid-market-practice/insights/industrial-industry-report-q4-2026.html">
                  <a:extLst>
                    <a:ext uri="{A12FA001-AC4F-418D-AE19-62706E023703}">
                      <ahyp:hlinkClr xmlns:ahyp="http://schemas.microsoft.com/office/drawing/2018/hyperlinkcolor" val="tx"/>
                    </a:ext>
                  </a:extLst>
                </a:hlinkClick>
              </a:rPr>
              <a:t>Middle Market: Industrial Q4 2026 M&amp;A Industry Report</a:t>
            </a:r>
            <a:r>
              <a:rPr lang="en-US" sz="720" dirty="0">
                <a:solidFill>
                  <a:srgbClr val="6F6A66"/>
                </a:solidFill>
              </a:rPr>
              <a:t>  jp-hardin.github.io</a:t>
            </a:r>
            <a:endParaRPr lang="en-US" sz="720" dirty="0"/>
          </a:p>
        </p:txBody>
      </p:sp>
      <p:sp>
        <p:nvSpPr>
          <p:cNvPr id="7" name="Text 5"/>
          <p:cNvSpPr txBox="1"/>
          <p:nvPr/>
        </p:nvSpPr>
        <p:spPr>
          <a:xfrm>
            <a:off x="6731000" y="1257300"/>
            <a:ext cx="2908300" cy="285750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10 TO 13)</a:t>
            </a:r>
            <a:endParaRPr lang="en-US" sz="720" dirty="0"/>
          </a:p>
          <a:p>
            <a:pPr marL="0" indent="0">
              <a:lnSpc>
                <a:spcPts val="990"/>
              </a:lnSpc>
              <a:buNone/>
            </a:pPr>
            <a:r>
              <a:rPr lang="en-US" sz="720" u="sng" dirty="0">
                <a:solidFill>
                  <a:srgbClr val="8C6239"/>
                </a:solidFill>
                <a:hlinkClick r:id="rId63"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4"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5"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6"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2"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3"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How the figures were gathered. </a:t>
            </a:r>
            <a:r>
              <a:rPr lang="en-US" sz="720" dirty="0">
                <a:solidFill>
                  <a:srgbClr val="333231"/>
                </a:solidFill>
              </a:rPr>
              <a:t>Listed-company figures are from StockAnalysis and use reported results. Economic series are from FRED. Benchmark International figures are from the firm’s transaction records as of October 1, 2026. Subscription and registration sources that would add depth, including GF Data, PitchBook and S&amp;P Capital IQ, are listed in a separate one-page companion.</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6107</Words>
  <Application>Microsoft Office PowerPoint</Application>
  <PresentationFormat>Custom</PresentationFormat>
  <Paragraphs>635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Benchmark International</vt:lpstr>
      <vt:lpstr>PowerPoint Presentation</vt:lpstr>
      <vt:lpstr>Insights</vt:lpstr>
      <vt:lpstr>Market Insights: Q4 2026</vt:lpstr>
      <vt:lpstr>Power Demand: The Buildout Reaches Every Industrial Segment</vt:lpstr>
      <vt:lpstr>Featured Engagement: The Carmi Companies</vt:lpstr>
      <vt:lpstr>Sector Activity</vt:lpstr>
      <vt:lpstr>Select Recent Industrial Transactions</vt:lpstr>
      <vt:lpstr>Select Recent Industrial Transactions (Continued)</vt:lpstr>
      <vt:lpstr>Benchmark International’s Industrial Transactions</vt:lpstr>
      <vt:lpstr>Public Company Performance and Trends: Valuation History</vt:lpstr>
      <vt:lpstr>Public Company Performance and Trends: Operating Metrics</vt:lpstr>
      <vt:lpstr>Public Company Performance and Trends: Valuation Metrics</vt:lpstr>
      <vt:lpstr>Economic Trends</vt:lpstr>
      <vt:lpstr>Connect With Us</vt:lpstr>
      <vt:lpstr>Connect With Our Team</vt:lpstr>
      <vt:lpstr>Important Disclosures</vt:lpstr>
      <vt:lpstr>Sources</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 Q4 2026 Industry Report</dc:title>
  <dc:subject>Industrial quarterly industry report, Q4 2026</dc:subject>
  <dc:creator>Jared Hardin, Benchmark International</dc:creator>
  <cp:lastModifiedBy>Benchmark International</cp:lastModifiedBy>
  <cp:revision>3</cp:revision>
  <dcterms:created xsi:type="dcterms:W3CDTF">2026-10-12T16:51:24Z</dcterms:created>
  <dcterms:modified xsi:type="dcterms:W3CDTF">2026-10-13T16:46:10Z</dcterms:modified>
  <dc:description/>
  <cp:keywords/>
</cp:coreProperties>
</file>