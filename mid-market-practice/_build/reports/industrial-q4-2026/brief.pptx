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none" lIns="0" tIns="0" rIns="0" bIns="0" rtlCol="0" anchor="ctr"/>
          <a:lstStyle/>
          <a:p>
            <a:pPr marL="0" indent="0">
              <a:buNone/>
            </a:pPr>
            <a:r>
              <a:rPr lang="en-US" sz="675" b="1" kern="0" spc="220" dirty="0">
                <a:solidFill>
                  <a:srgbClr val="8C6239"/>
                </a:solidFill>
              </a:rPr>
              <a:t>INDUSTRIAL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none" lIns="0" tIns="0" rIns="0" bIns="0" rtlCol="0" anchor="ctr"/>
          <a:lstStyle/>
          <a:p>
            <a:pPr marL="0" indent="0">
              <a:buNone/>
            </a:pPr>
            <a:r>
              <a:rPr lang="en-US" sz="675" b="1" kern="0" spc="220" dirty="0">
                <a:solidFill>
                  <a:srgbClr val="D3AE84"/>
                </a:solidFill>
              </a:rPr>
              <a:t>INDUSTRIAL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Industry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sector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earns the premium</a:t>
            </a:r>
          </a:p>
          <a:p>
            <a:pPr>
              <a:lnSpc>
                <a:spcPct val="120000"/>
              </a:lnSpc>
            </a:pPr>
            <a:r>
              <a:rPr sz="750" b="0">
                <a:solidFill>
                  <a:srgbClr val="D9D2C9"/>
                </a:solidFill>
                <a:latin typeface="+mn-lt"/>
              </a:rPr>
              <a:t>Quanta Services ended June with $53.4 billion of backlog, up from $35.8 billion. A buyer will ask how much of yours is tied to funded power and data center work.</a:t>
            </a:r>
          </a:p>
          <a:p>
            <a:pPr>
              <a:spcBef>
                <a:spcPts val="600"/>
              </a:spcBef>
            </a:pPr>
            <a:r>
              <a:rPr sz="800" b="1">
                <a:solidFill>
                  <a:srgbClr val="C99A6A"/>
                </a:solidFill>
                <a:latin typeface="+mn-lt"/>
              </a:rPr>
              <a:t>02  </a:t>
            </a:r>
            <a:r>
              <a:rPr sz="800" b="1">
                <a:solidFill>
                  <a:srgbClr val="FFFFFF"/>
                </a:solidFill>
                <a:latin typeface="+mn-lt"/>
              </a:rPr>
              <a:t>The likely buyer is an operating platform</a:t>
            </a:r>
          </a:p>
          <a:p>
            <a:pPr>
              <a:lnSpc>
                <a:spcPct val="120000"/>
              </a:lnSpc>
            </a:pPr>
            <a:r>
              <a:rPr sz="750" b="0">
                <a:solidFill>
                  <a:srgbClr val="D9D2C9"/>
                </a:solidFill>
                <a:latin typeface="+mn-lt"/>
              </a:rPr>
              <a:t>Add-ons made up about three-quarters of buyouts in the second quarter, and Pye-Barker Fire &amp; Safety completed 22 acquisitions in the first half. Expect a sponsor that already knows the trade.</a:t>
            </a:r>
          </a:p>
          <a:p>
            <a:pPr>
              <a:spcBef>
                <a:spcPts val="600"/>
              </a:spcBef>
            </a:pPr>
            <a:r>
              <a:rPr sz="800" b="1">
                <a:solidFill>
                  <a:srgbClr val="C99A6A"/>
                </a:solidFill>
                <a:latin typeface="+mn-lt"/>
              </a:rPr>
              <a:t>03  </a:t>
            </a:r>
            <a:r>
              <a:rPr sz="800" b="1">
                <a:solidFill>
                  <a:srgbClr val="FFFFFF"/>
                </a:solidFill>
                <a:latin typeface="+mn-lt"/>
              </a:rPr>
              <a:t>Report service revenue on its own line</a:t>
            </a:r>
          </a:p>
          <a:p>
            <a:pPr>
              <a:lnSpc>
                <a:spcPct val="120000"/>
              </a:lnSpc>
            </a:pPr>
            <a:r>
              <a:rPr sz="750" b="0">
                <a:solidFill>
                  <a:srgbClr val="D9D2C9"/>
                </a:solidFill>
                <a:latin typeface="+mn-lt"/>
              </a:rPr>
              <a:t>APi Group is working toward 60% of revenue from inspection and service. Buyers pay more for service, repair and aftermarket revenue when it is reported apart from projects, with its renewal history.</a:t>
            </a:r>
          </a:p>
          <a:p>
            <a:pPr>
              <a:spcBef>
                <a:spcPts val="600"/>
              </a:spcBef>
            </a:pPr>
            <a:r>
              <a:rPr sz="800" b="1">
                <a:solidFill>
                  <a:srgbClr val="C99A6A"/>
                </a:solidFill>
                <a:latin typeface="+mn-lt"/>
              </a:rPr>
              <a:t>04  </a:t>
            </a:r>
            <a:r>
              <a:rPr sz="800" b="1">
                <a:solidFill>
                  <a:srgbClr val="FFFFFF"/>
                </a:solidFill>
                <a:latin typeface="+mn-lt"/>
              </a:rPr>
              <a:t>Financing costs more and buyers are choosier</a:t>
            </a:r>
          </a:p>
          <a:p>
            <a:pPr>
              <a:lnSpc>
                <a:spcPct val="120000"/>
              </a:lnSpc>
            </a:pPr>
            <a:r>
              <a:rPr sz="750" b="0">
                <a:solidFill>
                  <a:srgbClr val="D9D2C9"/>
                </a:solidFill>
                <a:latin typeface="+mn-lt"/>
              </a:rPr>
              <a:t>The Federal Reserve raised its target range to 3.75% to 4.00% on September 16. GF Data's average multiple eased to 7.0 times trailing adjusted EBITDA, from 7.3 times.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Sector</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SECTOR</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SECTOR</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Industry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sector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sectors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sector,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sectors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SECTOR</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sectors.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sectors.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from majority and control transactions to strategic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We welcome calls from owners considering a sale or strategic partnership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full sale to a strategic partnership,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INDUSTRIAL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from majority and control transactions to strategic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industry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Industry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International</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Industry Report</dc:title>
  <dc:subject>Industrial quarterly industry report, Q4 2026</dc:subject>
  <dc:creator>Jared Hardin, Benchmark International</dc:creator>
  <cp:lastModifiedBy>Benchmark International</cp:lastModifiedBy>
  <cp:revision>3</cp:revision>
  <dcterms:created xsi:type="dcterms:W3CDTF">2026-10-12T16:51:24Z</dcterms:created>
  <dcterms:modified xsi:type="dcterms:W3CDTF">2026-10-13T16:46:10Z</dcterms:modified>
  <dc:description/>
  <cp:keywords/>
</cp:coreProperties>
</file>