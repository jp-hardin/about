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29.jpg" ContentType="image/jpg"/>
  <Override PartName="/ppt/media/image2.jpg" ContentType="image/jpg"/>
  <Override PartName="/ppt/media/image20.jpg" ContentType="image/jpg"/>
  <Override PartName="/ppt/media/image22.jpg" ContentType="image/jpg"/>
  <Override PartName="/ppt/media/image23.jpg" ContentType="image/jpg"/>
  <Override PartName="/ppt/media/image4.jpg" ContentType="image/jpg"/>
  <Override PartName="/ppt/media/image65.jpg" ContentType="image/jpg"/>
  <Override PartName="/ppt/media/image66.jpg" ContentType="image/jpg"/>
  <Override PartName="/ppt/media/image67.jpg" ContentType="image/jpg"/>
  <Override PartName="/ppt/media/image68.jpg" ContentType="image/jpg"/>
  <Override PartName="/ppt/media/image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71" r:id="rId3"/>
    <p:sldId id="278" r:id="rId4"/>
    <p:sldId id="257" r:id="rId5"/>
    <p:sldId id="258" r:id="rId6"/>
    <p:sldId id="279" r:id="rId7"/>
    <p:sldId id="259" r:id="rId8"/>
    <p:sldId id="280" r:id="rId9"/>
    <p:sldId id="276" r:id="rId10"/>
    <p:sldId id="281" r:id="rId11"/>
    <p:sldId id="260" r:id="rId12"/>
    <p:sldId id="261" r:id="rId13"/>
    <p:sldId id="262" r:id="rId14"/>
    <p:sldId id="263" r:id="rId15"/>
    <p:sldId id="264" r:id="rId16"/>
    <p:sldId id="265" r:id="rId17"/>
    <p:sldId id="266" r:id="rId18"/>
    <p:sldId id="267" r:id="rId19"/>
    <p:sldId id="282" r:id="rId20"/>
    <p:sldId id="268" r:id="rId21"/>
    <p:sldId id="283" r:id="rId22"/>
    <p:sldId id="284" r:id="rId23"/>
    <p:sldId id="277" r:id="rId24"/>
    <p:sldId id="270" r:id="rId25"/>
    <p:sldId id="272" r:id="rId26"/>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 id="271"/>
            <p14:sldId id="278"/>
          </p14:sldIdLst>
        </p14:section>
        <p14:section name="01 Insights" id="{D8E30133-3877-BB0F-19E1-208C4C7078A5}">
          <p14:sldIdLst>
            <p14:sldId id="257"/>
            <p14:sldId id="258"/>
            <p14:sldId id="279"/>
            <p14:sldId id="259"/>
            <p14:sldId id="280"/>
            <p14:sldId id="276"/>
            <p14:sldId id="281"/>
            <p14:sldId id="260"/>
          </p14:sldIdLst>
        </p14:section>
        <p14:section name="02 Sector Activity" id="{E5B8BA2E-C5BC-F754-C45C-51894EAF5447}">
          <p14:sldIdLst>
            <p14:sldId id="261"/>
            <p14:sldId id="262"/>
            <p14:sldId id="263"/>
            <p14:sldId id="264"/>
            <p14:sldId id="265"/>
            <p14:sldId id="266"/>
            <p14:sldId id="267"/>
            <p14:sldId id="282"/>
            <p14:sldId id="268"/>
            <p14:sldId id="283"/>
          </p14:sldIdLst>
        </p14:section>
        <p14:section name="03 About Benchmark" id="{2E69D56B-EA9A-A964-C58F-363DD058E786}">
          <p14:sldIdLst>
            <p14:sldId id="284"/>
            <p14:sldId id="277"/>
            <p14:sldId id="270"/>
            <p14:sldId id="27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Closed</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3</c:v>
                </c:pt>
                <c:pt idx="1">
                  <c:v>7</c:v>
                </c:pt>
                <c:pt idx="2">
                  <c:v>45</c:v>
                </c:pt>
                <c:pt idx="3">
                  <c:v>8</c:v>
                </c:pt>
                <c:pt idx="4">
                  <c:v>22</c:v>
                </c:pt>
              </c:numCache>
            </c:numRef>
          </c:val>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15.5</c:v>
                </c:pt>
                <c:pt idx="1">
                  <c:v>12.8</c:v>
                </c:pt>
                <c:pt idx="2">
                  <c:v>14.9</c:v>
                </c:pt>
                <c:pt idx="3">
                  <c:v>15.2</c:v>
                </c:pt>
                <c:pt idx="4">
                  <c:v>17.8</c:v>
                </c:pt>
                <c:pt idx="5">
                  <c:v>17.3</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9.9</c:v>
                </c:pt>
                <c:pt idx="2">
                  <c:v>13.2</c:v>
                </c:pt>
                <c:pt idx="3">
                  <c:v>12.6</c:v>
                </c:pt>
                <c:pt idx="4">
                  <c:v>13.1</c:v>
                </c:pt>
                <c:pt idx="5">
                  <c:v>17</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15.1</c:v>
                </c:pt>
                <c:pt idx="1">
                  <c:v>10.9</c:v>
                </c:pt>
                <c:pt idx="2">
                  <c:v>14.7</c:v>
                </c:pt>
                <c:pt idx="3">
                  <c:v>16</c:v>
                </c:pt>
                <c:pt idx="4">
                  <c:v>17.899999999999999</c:v>
                </c:pt>
                <c:pt idx="5">
                  <c:v>15.8</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16.399999999999999</c:v>
                </c:pt>
                <c:pt idx="1">
                  <c:v>12.2</c:v>
                </c:pt>
                <c:pt idx="2">
                  <c:v>15.8</c:v>
                </c:pt>
                <c:pt idx="3">
                  <c:v>18</c:v>
                </c:pt>
                <c:pt idx="4">
                  <c:v>16.600000000000001</c:v>
                </c:pt>
                <c:pt idx="5">
                  <c:v>16.3</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8.1999999999999993</c:v>
                </c:pt>
                <c:pt idx="1">
                  <c:v>6.2</c:v>
                </c:pt>
                <c:pt idx="2">
                  <c:v>12.2</c:v>
                </c:pt>
                <c:pt idx="3">
                  <c:v>11.4</c:v>
                </c:pt>
                <c:pt idx="4">
                  <c:v>11.1</c:v>
                </c:pt>
                <c:pt idx="5">
                  <c:v>12.2</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4.0999999999999996</c:v>
                </c:pt>
                <c:pt idx="1">
                  <c:v>5.4</c:v>
                </c:pt>
                <c:pt idx="2">
                  <c:v>21.8</c:v>
                </c:pt>
                <c:pt idx="3">
                  <c:v>8.6</c:v>
                </c:pt>
                <c:pt idx="4">
                  <c:v>8.8000000000000007</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-0.8</c:v>
                </c:pt>
                <c:pt idx="1">
                  <c:v>21.2</c:v>
                </c:pt>
                <c:pt idx="2">
                  <c:v>28</c:v>
                </c:pt>
                <c:pt idx="3">
                  <c:v>5.6</c:v>
                </c:pt>
                <c:pt idx="4">
                  <c:v>9.1</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10.1</c:v>
                </c:pt>
                <c:pt idx="1">
                  <c:v>16.8</c:v>
                </c:pt>
                <c:pt idx="2">
                  <c:v>10.7</c:v>
                </c:pt>
                <c:pt idx="3">
                  <c:v>11.2</c:v>
                </c:pt>
                <c:pt idx="4">
                  <c:v>22.1</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64.7</c:v>
                </c:pt>
                <c:pt idx="1">
                  <c:v>44.7</c:v>
                </c:pt>
                <c:pt idx="2">
                  <c:v>62.6</c:v>
                </c:pt>
                <c:pt idx="3">
                  <c:v>49.9</c:v>
                </c:pt>
                <c:pt idx="4">
                  <c:v>61.5</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17.3</c:v>
                </c:pt>
                <c:pt idx="1">
                  <c:v>17</c:v>
                </c:pt>
                <c:pt idx="2">
                  <c:v>15.8</c:v>
                </c:pt>
                <c:pt idx="3">
                  <c:v>16.3</c:v>
                </c:pt>
                <c:pt idx="4">
                  <c:v>12.2</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17.8</c:v>
                </c:pt>
                <c:pt idx="1">
                  <c:v>13.1</c:v>
                </c:pt>
                <c:pt idx="2">
                  <c:v>17.899999999999999</c:v>
                </c:pt>
                <c:pt idx="3">
                  <c:v>16.600000000000001</c:v>
                </c:pt>
                <c:pt idx="4">
                  <c:v>11.1</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17.899999999999999</c:v>
                </c:pt>
                <c:pt idx="1">
                  <c:v>36.1</c:v>
                </c:pt>
                <c:pt idx="2">
                  <c:v>3.2</c:v>
                </c:pt>
                <c:pt idx="3">
                  <c:v>2.6</c:v>
                </c:pt>
                <c:pt idx="4">
                  <c:v>38.9</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1.3</c:v>
                </c:pt>
                <c:pt idx="1">
                  <c:v>0.9</c:v>
                </c:pt>
                <c:pt idx="2">
                  <c:v>0.7</c:v>
                </c:pt>
                <c:pt idx="3">
                  <c:v>2.5</c:v>
                </c:pt>
                <c:pt idx="4">
                  <c:v>1</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75.8</c:v>
                </c:pt>
                <c:pt idx="59">
                  <c:v>75.900000000000006</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Advance Mfg. Co.: https://m.advancemfg.com/</a:t>
            </a:r>
          </a:p>
          <a:p>
            <a:r>
              <a:t>FloWorks: https://www.gofloworks.com/</a:t>
            </a:r>
          </a:p>
          <a:p>
            <a:r>
              <a:t>Ferguson: https://www.ferguson.com/</a:t>
            </a:r>
          </a:p>
          <a:p>
            <a:r>
              <a:t>Metroplex Welding Supply: https://www.metroweld.com/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EELCO: https://uscustombroker.com/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Apex Water + Process: https://teamapex.com/</a:t>
            </a:r>
          </a:p>
          <a:p>
            <a:r>
              <a:t>Capital Extension Crane &amp; Lift: https://www.capexlift.com/</a:t>
            </a:r>
          </a:p>
          <a:p>
            <a:r>
              <a:t>Apex and Capital Extension marks sourced from teamapex.com and capexlift.com.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Sponsor sector evidence: manufacturing: CORE (Fathom, Cadrex), Wynnchurch (Hydraulic Technologies), AIP (ADDMAN), and Centerbridge (Precinmac). Distribution: AEA (Meritus), Audax (Krayden), Gryphon (Vessco), Wynnchurch (ORS Nasco). Building: Huron (Exigent), Gryphon (North American Essential Home Services), Altas and Leonard Green (Pye-Barker). Energy/environmental: Emerald Lake (Mission Critical Group), One Rock (portfolio in business and environmental services), Bernhard (Allied Power, utilities), Gryphon (Vessco water equipment). Logistics: AEA (Redwood), H.I.G. (Ascent), Greenbriar (sector strategy), Audax (Lanter Delivery Systems). Sponsors are selected for relevant investment experience; inclusion does not imply ownership of every adjacent buyer or a live mandate.</a:t>
            </a:r>
          </a:p>
          <a:p>
            <a:r>
              <a:t>Centerbridge Partners: https://www.centerbridge.com/</a:t>
            </a:r>
          </a:p>
          <a:p>
            <a:r>
              <a:t>CORE Industrial Partners: https://coreipfund.com/portfolio/</a:t>
            </a:r>
          </a:p>
          <a:p>
            <a:r>
              <a:t>Wynnchurch Capital: https://www.wynnchurch.com/portfolio</a:t>
            </a:r>
          </a:p>
          <a:p>
            <a:r>
              <a:t>American Industrial Partners: https://americanindustrial.com/portfolio/</a:t>
            </a:r>
          </a:p>
          <a:p>
            <a:r>
              <a:t>AEA Investors: https://www.aeainvestors.com/portfolio/</a:t>
            </a:r>
          </a:p>
          <a:p>
            <a:r>
              <a:t>Audax Private Equity: https://audaxprivateequity.com/portfolio</a:t>
            </a:r>
          </a:p>
          <a:p>
            <a:r>
              <a:t>Gryphon Investors: https://www.gryphon-inv.com/companies/vessco/</a:t>
            </a:r>
          </a:p>
          <a:p>
            <a:r>
              <a:t>Huron Capital: https://www.huroncapital.com/news/huron-capitals-the-exigent-group-acquires-superior-building-services-in-ohio/</a:t>
            </a:r>
          </a:p>
          <a:p>
            <a:r>
              <a:t>Altas Partners: https://www.altas.com/businesses</a:t>
            </a:r>
          </a:p>
          <a:p>
            <a:r>
              <a:t>Leonard Green &amp; Partners: https://www.leonardgreen.com/portfolio/</a:t>
            </a:r>
          </a:p>
          <a:p>
            <a:r>
              <a:t>Emerald Lake Capital Management: https://www.elcm.com/portfolios/</a:t>
            </a:r>
          </a:p>
          <a:p>
            <a:r>
              <a:t>One Rock Capital Partners: https://www.onerock.com/portfolio/</a:t>
            </a:r>
          </a:p>
          <a:p>
            <a:r>
              <a:t>Bernhard Capital Partners: https://www.bernhardcapital.com/portfolio/</a:t>
            </a:r>
          </a:p>
          <a:p>
            <a:r>
              <a:t>H.I.G. Capital: https://hig.com/news/h-i-g-capital-signs-definitive-agreement-to-acquire-ascent-global-logistics/</a:t>
            </a:r>
          </a:p>
          <a:p>
            <a:r>
              <a:t>Greenbriar Equity Group: https://www.greenbriar.com/</a:t>
            </a:r>
          </a:p>
          <a:p>
            <a:r>
              <a:t>Gryphon NAEHS: https://www.gryphon-inv.com/companies/north-american-essential-home-services-naehs/</a:t>
            </a:r>
          </a:p>
          <a:p>
            <a:r>
              <a:t>Wynnchurch Hydraulic Technologies: https://www.wynnchurch.com/portfolio/hydraulic-technologies</a:t>
            </a:r>
          </a:p>
          <a:p>
            <a:r>
              <a:t>Wynnchurch ORS Nasco: https://www.wynnchurch.com/news/ors-nasco-acquires-techniweld-powerweld-and-three-essendant-brands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descr="Benchmark International emblem on a dark background"/>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descr="Benchmark International logo"/>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13.jpg"/><Relationship Id="rId8" Type="http://schemas.openxmlformats.org/officeDocument/2006/relationships/image" Target="../media/image14.jpg"/><Relationship Id="rId9" Type="http://schemas.openxmlformats.org/officeDocument/2006/relationships/image" Target="../media/image15.jpg"/><Relationship Id="rId10" Type="http://schemas.openxmlformats.org/officeDocument/2006/relationships/image" Target="../media/image16.jpg"/><Relationship Id="rId11" Type="http://schemas.openxmlformats.org/officeDocument/2006/relationships/image" Target="../media/image17.jpg"/><Relationship Id="rId12" Type="http://schemas.openxmlformats.org/officeDocument/2006/relationships/image" Target="../media/image18.jpg"/><Relationship Id="rId13" Type="http://schemas.openxmlformats.org/officeDocument/2006/relationships/image" Target="../media/image19.jpg"/><Relationship Id="rId14" Type="http://schemas.openxmlformats.org/officeDocument/2006/relationships/image" Target="../media/image20.jpg"/><Relationship Id="rId15" Type="http://schemas.openxmlformats.org/officeDocument/2006/relationships/image" Target="../media/image5.png"/><Relationship Id="rId16" Type="http://schemas.openxmlformats.org/officeDocument/2006/relationships/image" Target="../media/image6.png"/><Relationship Id="rId17" Type="http://schemas.openxmlformats.org/officeDocument/2006/relationships/image" Target="../media/image7.png"/><Relationship Id="rId18" Type="http://schemas.openxmlformats.org/officeDocument/2006/relationships/image" Target="../media/image8.png"/><Relationship Id="rId19" Type="http://schemas.openxmlformats.org/officeDocument/2006/relationships/image" Target="../media/image9.png"/><Relationship Id="rId20" Type="http://schemas.openxmlformats.org/officeDocument/2006/relationships/image" Target="../media/image21.png"/><Relationship Id="rId21" Type="http://schemas.openxmlformats.org/officeDocument/2006/relationships/hyperlink" Target="tel:8137716675" TargetMode="Externa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3.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24.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25.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26.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6.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 Id="rId15" Type="http://schemas.openxmlformats.org/officeDocument/2006/relationships/image" Target="../media/image38.png"/><Relationship Id="rId16" Type="http://schemas.openxmlformats.org/officeDocument/2006/relationships/image" Target="../media/image39.png"/><Relationship Id="rId17" Type="http://schemas.openxmlformats.org/officeDocument/2006/relationships/image" Target="../media/image40.png"/><Relationship Id="rId18" Type="http://schemas.openxmlformats.org/officeDocument/2006/relationships/image" Target="../media/image41.png"/><Relationship Id="rId19" Type="http://schemas.openxmlformats.org/officeDocument/2006/relationships/image" Target="../media/image42.png"/><Relationship Id="rId20" Type="http://schemas.openxmlformats.org/officeDocument/2006/relationships/image" Target="../media/image7.png"/><Relationship Id="rId21" Type="http://schemas.openxmlformats.org/officeDocument/2006/relationships/image" Target="../media/image43.png"/><Relationship Id="rId22" Type="http://schemas.openxmlformats.org/officeDocument/2006/relationships/image" Target="../media/image44.png"/><Relationship Id="rId23" Type="http://schemas.openxmlformats.org/officeDocument/2006/relationships/image" Target="../media/image45.png"/><Relationship Id="rId24" Type="http://schemas.openxmlformats.org/officeDocument/2006/relationships/image" Target="../media/image46.png"/><Relationship Id="rId25" Type="http://schemas.openxmlformats.org/officeDocument/2006/relationships/image" Target="../media/image47.png"/><Relationship Id="rId26" Type="http://schemas.openxmlformats.org/officeDocument/2006/relationships/image" Target="../media/image48.png"/><Relationship Id="rId27" Type="http://schemas.openxmlformats.org/officeDocument/2006/relationships/image" Target="../media/image49.png"/><Relationship Id="rId28" Type="http://schemas.openxmlformats.org/officeDocument/2006/relationships/image" Target="../media/image50.png"/><Relationship Id="rId29" Type="http://schemas.openxmlformats.org/officeDocument/2006/relationships/image" Target="../media/image8.png"/><Relationship Id="rId30" Type="http://schemas.openxmlformats.org/officeDocument/2006/relationships/image" Target="../media/image51.png"/><Relationship Id="rId31" Type="http://schemas.openxmlformats.org/officeDocument/2006/relationships/image" Target="../media/image52.png"/><Relationship Id="rId32" Type="http://schemas.openxmlformats.org/officeDocument/2006/relationships/image" Target="../media/image53.png"/><Relationship Id="rId33" Type="http://schemas.openxmlformats.org/officeDocument/2006/relationships/image" Target="../media/image54.png"/><Relationship Id="rId34" Type="http://schemas.openxmlformats.org/officeDocument/2006/relationships/image" Target="../media/image55.png"/><Relationship Id="rId35" Type="http://schemas.openxmlformats.org/officeDocument/2006/relationships/image" Target="../media/image56.png"/><Relationship Id="rId36" Type="http://schemas.openxmlformats.org/officeDocument/2006/relationships/image" Target="../media/image57.png"/><Relationship Id="rId37" Type="http://schemas.openxmlformats.org/officeDocument/2006/relationships/image" Target="../media/image58.png"/><Relationship Id="rId38" Type="http://schemas.openxmlformats.org/officeDocument/2006/relationships/image" Target="../media/image9.png"/><Relationship Id="rId39" Type="http://schemas.openxmlformats.org/officeDocument/2006/relationships/image" Target="../media/image59.png"/><Relationship Id="rId40" Type="http://schemas.openxmlformats.org/officeDocument/2006/relationships/image" Target="../media/image60.png"/><Relationship Id="rId41" Type="http://schemas.openxmlformats.org/officeDocument/2006/relationships/image" Target="../media/image61.png"/><Relationship Id="rId42" Type="http://schemas.openxmlformats.org/officeDocument/2006/relationships/image" Target="../media/image62.png"/><Relationship Id="rId43" Type="http://schemas.openxmlformats.org/officeDocument/2006/relationships/image" Target="../media/image63.png"/><Relationship Id="rId4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constructiondive.com/news/data-center-construction-spending-august/831954/"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6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prnewswire.com/news-releases/manufacturing-pmi-at-54-5-september-2026-ism-manufacturing-pmi-report-302894520.html" TargetMode="External"/><Relationship Id="rId3" Type="http://schemas.openxmlformats.org/officeDocument/2006/relationships/hyperlink" Target="https://www.kitco.com/news/off-the-wire/2026-07-09/us-power-companies-scramble-secure-equipment-surging-data-center" TargetMode="External"/><Relationship Id="rId4" Type="http://schemas.openxmlformats.org/officeDocument/2006/relationships/hyperlink" Target="https://www.acg.org/news-trends/news/gf-data-reports-show-steady-middle-market-deal-flow-amid-more-selective" TargetMode="External"/><Relationship Id="rId5" Type="http://schemas.openxmlformats.org/officeDocument/2006/relationships/hyperlink" Target="https://www.freightwaves.com/news/mexico-remains-top-us-trading-partner-as-august-commerce-hits-94-3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67.jpg"/><Relationship Id="rId10" Type="http://schemas.openxmlformats.org/officeDocument/2006/relationships/hyperlink" Target="tel:2102417990" TargetMode="External"/><Relationship Id="rId11" Type="http://schemas.openxmlformats.org/officeDocument/2006/relationships/hyperlink" Target="mailto:j.hardin@benchmarkintl.com" TargetMode="External"/><Relationship Id="rId12" Type="http://schemas.openxmlformats.org/officeDocument/2006/relationships/image" Target="../media/image68.jpg"/><Relationship Id="rId13" Type="http://schemas.openxmlformats.org/officeDocument/2006/relationships/hyperlink" Target="tel:8137716675" TargetMode="External"/><Relationship Id="rId14" Type="http://schemas.openxmlformats.org/officeDocument/2006/relationships/hyperlink" Target="mailto:jhoutz@benchmarkintl.com" TargetMode="External"/><Relationship Id="rId15" Type="http://schemas.openxmlformats.org/officeDocument/2006/relationships/image" Target="../media/image69.png"/><Relationship Id="rId16" Type="http://schemas.openxmlformats.org/officeDocument/2006/relationships/image" Target="../media/image7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7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 Id="rId9" Type="http://schemas.openxmlformats.org/officeDocument/2006/relationships/image" Target="../media/image72.png"/><Relationship Id="rId10" Type="http://schemas.openxmlformats.org/officeDocument/2006/relationships/image" Target="../media/image31.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46.png"/><Relationship Id="rId15" Type="http://schemas.openxmlformats.org/officeDocument/2006/relationships/image" Target="../media/image76.png"/><Relationship Id="rId16" Type="http://schemas.openxmlformats.org/officeDocument/2006/relationships/image" Target="../media/image77.png"/><Relationship Id="rId17" Type="http://schemas.openxmlformats.org/officeDocument/2006/relationships/image" Target="../media/image78.png"/><Relationship Id="rId18" Type="http://schemas.openxmlformats.org/officeDocument/2006/relationships/image" Target="../media/image7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 Id="rId9" Type="http://schemas.openxmlformats.org/officeDocument/2006/relationships/image" Target="../media/image80.png"/><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53.png"/><Relationship Id="rId13" Type="http://schemas.openxmlformats.org/officeDocument/2006/relationships/image" Target="../media/image83.png"/><Relationship Id="rId14" Type="http://schemas.openxmlformats.org/officeDocument/2006/relationships/image" Target="../media/image84.png"/><Relationship Id="rId15" Type="http://schemas.openxmlformats.org/officeDocument/2006/relationships/image" Target="../media/image85.png"/><Relationship Id="rId16" Type="http://schemas.openxmlformats.org/officeDocument/2006/relationships/image" Target="../media/image61.png"/><Relationship Id="rId17" Type="http://schemas.openxmlformats.org/officeDocument/2006/relationships/image" Target="../media/image86.png"/><Relationship Id="rId18" Type="http://schemas.openxmlformats.org/officeDocument/2006/relationships/image" Target="../media/image8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 Id="rId17" Type="http://schemas.openxmlformats.org/officeDocument/2006/relationships/image" Target="../media/image88.png"/><Relationship Id="rId18" Type="http://schemas.openxmlformats.org/officeDocument/2006/relationships/image" Target="../media/image89.png"/><Relationship Id="rId19" Type="http://schemas.openxmlformats.org/officeDocument/2006/relationships/image" Target="../media/image90.png"/><Relationship Id="rId20" Type="http://schemas.openxmlformats.org/officeDocument/2006/relationships/image" Target="../media/image91.png"/><Relationship Id="rId21" Type="http://schemas.openxmlformats.org/officeDocument/2006/relationships/image" Target="../media/image92.png"/><Relationship Id="rId22" Type="http://schemas.openxmlformats.org/officeDocument/2006/relationships/image" Target="../media/image93.png"/><Relationship Id="rId23" Type="http://schemas.openxmlformats.org/officeDocument/2006/relationships/image" Target="../media/image94.png"/><Relationship Id="rId24" Type="http://schemas.openxmlformats.org/officeDocument/2006/relationships/image" Target="../media/image95.png"/><Relationship Id="rId25" Type="http://schemas.openxmlformats.org/officeDocument/2006/relationships/image" Target="../media/image96.png"/><Relationship Id="rId26" Type="http://schemas.openxmlformats.org/officeDocument/2006/relationships/image" Target="../media/image97.png"/><Relationship Id="rId27" Type="http://schemas.openxmlformats.org/officeDocument/2006/relationships/image" Target="../media/image98.png"/><Relationship Id="rId28" Type="http://schemas.openxmlformats.org/officeDocument/2006/relationships/image" Target="../media/image9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00.png"/><Relationship Id="rId4" Type="http://schemas.openxmlformats.org/officeDocument/2006/relationships/chart" Target="../charts/chart2.xml"/><Relationship Id="rId5" Type="http://schemas.openxmlformats.org/officeDocument/2006/relationships/image" Target="../media/image101.png"/><Relationship Id="rId6" Type="http://schemas.openxmlformats.org/officeDocument/2006/relationships/chart" Target="../charts/chart3.xml"/><Relationship Id="rId7" Type="http://schemas.openxmlformats.org/officeDocument/2006/relationships/image" Target="../media/image102.png"/><Relationship Id="rId8" Type="http://schemas.openxmlformats.org/officeDocument/2006/relationships/chart" Target="../charts/chart4.xml"/><Relationship Id="rId9" Type="http://schemas.openxmlformats.org/officeDocument/2006/relationships/image" Target="../media/image103.png"/><Relationship Id="rId10" Type="http://schemas.openxmlformats.org/officeDocument/2006/relationships/chart" Target="../charts/chart5.xml"/><Relationship Id="rId11" Type="http://schemas.openxmlformats.org/officeDocument/2006/relationships/image" Target="../media/image104.png"/><Relationship Id="rId12" Type="http://schemas.openxmlformats.org/officeDocument/2006/relationships/chart" Target="../charts/chart6.xml"/><Relationship Id="rId13" Type="http://schemas.openxmlformats.org/officeDocument/2006/relationships/hyperlink" Target="https://www.acg.org/news-trends/news/gf-data-reports-show-steady-middle-market-deal-flow-amid-more-selective"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digitalcommons.pepperdine.edu/gsbm_pcm_pcmr/1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chart" Target="../charts/chart9.xml"/><Relationship Id="rId6"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105.png"/><Relationship Id="rId12" Type="http://schemas.openxmlformats.org/officeDocument/2006/relationships/image" Target="../media/image73.png"/><Relationship Id="rId13" Type="http://schemas.openxmlformats.org/officeDocument/2006/relationships/image" Target="../media/image39.png"/><Relationship Id="rId14" Type="http://schemas.openxmlformats.org/officeDocument/2006/relationships/image" Target="../media/image91.png"/><Relationship Id="rId15" Type="http://schemas.openxmlformats.org/officeDocument/2006/relationships/image" Target="../media/image96.png"/><Relationship Id="rId16" Type="http://schemas.openxmlformats.org/officeDocument/2006/relationships/image" Target="../media/image6.png"/><Relationship Id="rId17" Type="http://schemas.openxmlformats.org/officeDocument/2006/relationships/image" Target="../media/image35.png"/><Relationship Id="rId18" Type="http://schemas.openxmlformats.org/officeDocument/2006/relationships/image" Target="../media/image36.png"/><Relationship Id="rId19" Type="http://schemas.openxmlformats.org/officeDocument/2006/relationships/image" Target="../media/image37.png"/><Relationship Id="rId20" Type="http://schemas.openxmlformats.org/officeDocument/2006/relationships/image" Target="../media/image38.png"/><Relationship Id="rId21" Type="http://schemas.openxmlformats.org/officeDocument/2006/relationships/image" Target="../media/image40.png"/><Relationship Id="rId22" Type="http://schemas.openxmlformats.org/officeDocument/2006/relationships/image" Target="../media/image41.png"/><Relationship Id="rId23" Type="http://schemas.openxmlformats.org/officeDocument/2006/relationships/image" Target="../media/image42.png"/><Relationship Id="rId24" Type="http://schemas.openxmlformats.org/officeDocument/2006/relationships/image" Target="../media/image106.png"/><Relationship Id="rId25" Type="http://schemas.openxmlformats.org/officeDocument/2006/relationships/image" Target="../media/image74.png"/><Relationship Id="rId26" Type="http://schemas.openxmlformats.org/officeDocument/2006/relationships/image" Target="../media/image107.png"/><Relationship Id="rId27" Type="http://schemas.openxmlformats.org/officeDocument/2006/relationships/image" Target="../media/image108.png"/><Relationship Id="rId28" Type="http://schemas.openxmlformats.org/officeDocument/2006/relationships/image" Target="../media/image90.png"/><Relationship Id="rId29" Type="http://schemas.openxmlformats.org/officeDocument/2006/relationships/image" Target="../media/image7.png"/><Relationship Id="rId30" Type="http://schemas.openxmlformats.org/officeDocument/2006/relationships/image" Target="../media/image43.png"/><Relationship Id="rId31" Type="http://schemas.openxmlformats.org/officeDocument/2006/relationships/image" Target="../media/image44.png"/><Relationship Id="rId32" Type="http://schemas.openxmlformats.org/officeDocument/2006/relationships/image" Target="../media/image45.png"/><Relationship Id="rId33" Type="http://schemas.openxmlformats.org/officeDocument/2006/relationships/image" Target="../media/image46.png"/><Relationship Id="rId34" Type="http://schemas.openxmlformats.org/officeDocument/2006/relationships/image" Target="../media/image47.png"/><Relationship Id="rId35" Type="http://schemas.openxmlformats.org/officeDocument/2006/relationships/image" Target="../media/image48.png"/><Relationship Id="rId36" Type="http://schemas.openxmlformats.org/officeDocument/2006/relationships/image" Target="../media/image49.png"/><Relationship Id="rId37" Type="http://schemas.openxmlformats.org/officeDocument/2006/relationships/image" Target="../media/image50.png"/><Relationship Id="rId38" Type="http://schemas.openxmlformats.org/officeDocument/2006/relationships/image" Target="../media/image81.png"/><Relationship Id="rId39" Type="http://schemas.openxmlformats.org/officeDocument/2006/relationships/image" Target="../media/image92.png"/><Relationship Id="rId40" Type="http://schemas.openxmlformats.org/officeDocument/2006/relationships/image" Target="../media/image93.png"/><Relationship Id="rId41" Type="http://schemas.openxmlformats.org/officeDocument/2006/relationships/image" Target="../media/image109.png"/><Relationship Id="rId42" Type="http://schemas.openxmlformats.org/officeDocument/2006/relationships/image" Target="../media/image8.png"/><Relationship Id="rId43" Type="http://schemas.openxmlformats.org/officeDocument/2006/relationships/image" Target="../media/image51.png"/><Relationship Id="rId44" Type="http://schemas.openxmlformats.org/officeDocument/2006/relationships/image" Target="../media/image52.png"/><Relationship Id="rId45" Type="http://schemas.openxmlformats.org/officeDocument/2006/relationships/image" Target="../media/image53.png"/><Relationship Id="rId46" Type="http://schemas.openxmlformats.org/officeDocument/2006/relationships/image" Target="../media/image54.png"/><Relationship Id="rId47" Type="http://schemas.openxmlformats.org/officeDocument/2006/relationships/image" Target="../media/image55.png"/><Relationship Id="rId48" Type="http://schemas.openxmlformats.org/officeDocument/2006/relationships/image" Target="../media/image56.png"/><Relationship Id="rId49" Type="http://schemas.openxmlformats.org/officeDocument/2006/relationships/image" Target="../media/image57.png"/><Relationship Id="rId50" Type="http://schemas.openxmlformats.org/officeDocument/2006/relationships/image" Target="../media/image58.png"/><Relationship Id="rId51" Type="http://schemas.openxmlformats.org/officeDocument/2006/relationships/image" Target="../media/image84.png"/><Relationship Id="rId52" Type="http://schemas.openxmlformats.org/officeDocument/2006/relationships/image" Target="../media/image94.png"/><Relationship Id="rId53" Type="http://schemas.openxmlformats.org/officeDocument/2006/relationships/image" Target="../media/image9.png"/><Relationship Id="rId54" Type="http://schemas.openxmlformats.org/officeDocument/2006/relationships/image" Target="../media/image59.png"/><Relationship Id="rId55" Type="http://schemas.openxmlformats.org/officeDocument/2006/relationships/image" Target="../media/image60.png"/><Relationship Id="rId56" Type="http://schemas.openxmlformats.org/officeDocument/2006/relationships/image" Target="../media/image61.png"/><Relationship Id="rId57" Type="http://schemas.openxmlformats.org/officeDocument/2006/relationships/image" Target="../media/image62.png"/><Relationship Id="rId58" Type="http://schemas.openxmlformats.org/officeDocument/2006/relationships/image" Target="../media/image63.png"/><Relationship Id="rId59" Type="http://schemas.openxmlformats.org/officeDocument/2006/relationships/image" Target="../media/image64.png"/><Relationship Id="rId60" Type="http://schemas.openxmlformats.org/officeDocument/2006/relationships/image" Target="../media/image86.png"/><Relationship Id="rId61" Type="http://schemas.openxmlformats.org/officeDocument/2006/relationships/image" Target="../media/image110.png"/><Relationship Id="rId62" Type="http://schemas.openxmlformats.org/officeDocument/2006/relationships/image" Target="../media/image97.png"/><Relationship Id="rId63" Type="http://schemas.openxmlformats.org/officeDocument/2006/relationships/image" Target="../media/image111.png"/><Relationship Id="rId64" Type="http://schemas.openxmlformats.org/officeDocument/2006/relationships/image" Target="../media/image112.png"/><Relationship Id="rId65" Type="http://schemas.openxmlformats.org/officeDocument/2006/relationships/image" Target="../media/image113.png"/><Relationship Id="rId66" Type="http://schemas.openxmlformats.org/officeDocument/2006/relationships/image" Target="../media/image114.png"/><Relationship Id="rId67" Type="http://schemas.openxmlformats.org/officeDocument/2006/relationships/image" Target="../media/image115.png"/><Relationship Id="rId68" Type="http://schemas.openxmlformats.org/officeDocument/2006/relationships/image" Target="../media/image116.png"/><Relationship Id="rId69" Type="http://schemas.openxmlformats.org/officeDocument/2006/relationships/image" Target="../media/image117.png"/><Relationship Id="rId70" Type="http://schemas.openxmlformats.org/officeDocument/2006/relationships/image" Target="../media/image118.png"/><Relationship Id="rId71" Type="http://schemas.openxmlformats.org/officeDocument/2006/relationships/image" Target="../media/image119.png"/><Relationship Id="rId72" Type="http://schemas.openxmlformats.org/officeDocument/2006/relationships/image" Target="../media/image120.png"/><Relationship Id="rId73" Type="http://schemas.openxmlformats.org/officeDocument/2006/relationships/image" Target="../media/image121.png"/><Relationship Id="rId74" Type="http://schemas.openxmlformats.org/officeDocument/2006/relationships/image" Target="../media/image122.png"/><Relationship Id="rId75" Type="http://schemas.openxmlformats.org/officeDocument/2006/relationships/image" Target="../media/image123.png"/><Relationship Id="rId76" Type="http://schemas.openxmlformats.org/officeDocument/2006/relationships/image" Target="../media/image124.png"/><Relationship Id="rId77" Type="http://schemas.openxmlformats.org/officeDocument/2006/relationships/image" Target="../media/image125.png"/><Relationship Id="rId78" Type="http://schemas.openxmlformats.org/officeDocument/2006/relationships/image" Target="../media/image126.png"/><Relationship Id="rId79" Type="http://schemas.openxmlformats.org/officeDocument/2006/relationships/image" Target="../media/image127.png"/><Relationship Id="rId80" Type="http://schemas.openxmlformats.org/officeDocument/2006/relationships/image" Target="../media/image99.png"/><Relationship Id="rId81" Type="http://schemas.openxmlformats.org/officeDocument/2006/relationships/image" Target="../media/image98.png"/><Relationship Id="rId82" Type="http://schemas.openxmlformats.org/officeDocument/2006/relationships/image" Target="../media/image1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jpg"/><Relationship Id="rId3" Type="http://schemas.openxmlformats.org/officeDocument/2006/relationships/image" Target="../media/image3.png"/><Relationship Id="rId4" Type="http://schemas.openxmlformats.org/officeDocument/2006/relationships/image" Target="../media/image130.png"/><Relationship Id="rId5" Type="http://schemas.openxmlformats.org/officeDocument/2006/relationships/image" Target="../media/image131.png"/><Relationship Id="rId6" Type="http://schemas.openxmlformats.org/officeDocument/2006/relationships/image" Target="../media/image132.png"/><Relationship Id="rId7" Type="http://schemas.openxmlformats.org/officeDocument/2006/relationships/image" Target="../media/image133.png"/><Relationship Id="rId8" Type="http://schemas.openxmlformats.org/officeDocument/2006/relationships/image" Target="../media/image134.png"/><Relationship Id="rId9" Type="http://schemas.openxmlformats.org/officeDocument/2006/relationships/image" Target="../media/image135.png"/><Relationship Id="rId10" Type="http://schemas.openxmlformats.org/officeDocument/2006/relationships/image" Target="../media/image136.png"/><Relationship Id="rId11" Type="http://schemas.openxmlformats.org/officeDocument/2006/relationships/image" Target="../media/image137.png"/><Relationship Id="rId12" Type="http://schemas.openxmlformats.org/officeDocument/2006/relationships/image" Target="../media/image138.png"/><Relationship Id="rId13" Type="http://schemas.openxmlformats.org/officeDocument/2006/relationships/image" Target="../media/image21.png"/><Relationship Id="rId14" Type="http://schemas.openxmlformats.org/officeDocument/2006/relationships/hyperlink" Target="https://www.benchmarkintl.com/about/our-succes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 TargetMode="External"/><Relationship Id="rId6" Type="http://schemas.openxmlformats.org/officeDocument/2006/relationships/image" Target="../media/image21.png"/><Relationship Id="rId7"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acg.org/news-trends/news/gf-data-reports-show-steady-middle-market-deal-flow-amid-more-selective" TargetMode="External"/><Relationship Id="rId5" Type="http://schemas.openxmlformats.org/officeDocument/2006/relationships/hyperlink" Target="https://www.freightwaves.com/news/mexico-remains-top-us-trading-partner-as-august-commerce-hits-94-3b" TargetMode="External"/><Relationship Id="rId6" Type="http://schemas.openxmlformats.org/officeDocument/2006/relationships/hyperlink" Target="https://www.kitco.com/news/off-the-wire/2026-07-09/us-power-companies-scramble-secure-equipment-surging-data-center" TargetMode="External"/><Relationship Id="rId7" Type="http://schemas.openxmlformats.org/officeDocument/2006/relationships/hyperlink" Target="https://www.mdm.com/news/research/economic-trends/u-s-metalworking-machinery-orders-slide-in-july/" TargetMode="External"/><Relationship Id="rId8" Type="http://schemas.openxmlformats.org/officeDocument/2006/relationships/hyperlink" Target="https://www.federalreserve.gov/releases/g17/current/default.htm" TargetMode="External"/><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hyperlink" Target="https://aashtojournal.transportation.org/?p=41360" TargetMode="External"/><Relationship Id="rId12" Type="http://schemas.openxmlformats.org/officeDocument/2006/relationships/hyperlink" Target="https://www.businesswire.com/news/home/20251210396417/en/APi-Group-Announces-Acquisition-of-CertaSite-and-Provides-Full-Year-2025-Update" TargetMode="External"/><Relationship Id="rId13" Type="http://schemas.openxmlformats.org/officeDocument/2006/relationships/hyperlink" Target="https://www.transcat.com/news/post/transcat-reports-strong-fiscal-first-quarter-2027-financial-results" TargetMode="External"/><Relationship Id="rId14" Type="http://schemas.openxmlformats.org/officeDocument/2006/relationships/hyperlink" Target="https://www.globalbankingandfinance.com/global-m-deal-rush-fades-third-quarter-rising-borrowing/" TargetMode="External"/><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eia.gov/outlooks/steo/report/elec_coal_renew.php" TargetMode="External"/><Relationship Id="rId17" Type="http://schemas.openxmlformats.org/officeDocument/2006/relationships/hyperlink" Target="https://www.powermag.com/nerc-warns-long-term-grid-reliability-risks-mounting/" TargetMode="External"/><Relationship Id="rId18" Type="http://schemas.openxmlformats.org/officeDocument/2006/relationships/hyperlink" Target="https://www.prnewswire.com/news-releases/meta-reports-second-quarter-2026-results-302838214.html" TargetMode="External"/><Relationship Id="rId19" Type="http://schemas.openxmlformats.org/officeDocument/2006/relationships/hyperlink" Target="https://www.sec.gov/Archives/edgar/data/0001996810/000199681026000147/gevpressrelease2q26.htm" TargetMode="External"/><Relationship Id="rId20" Type="http://schemas.openxmlformats.org/officeDocument/2006/relationships/hyperlink" Target="https://www.ajot.com/news/us-power-companies-scramble-to-secure-equipment-as-surging-data-center-demand-strains-supplies" TargetMode="External"/><Relationship Id="rId21" Type="http://schemas.openxmlformats.org/officeDocument/2006/relationships/hyperlink" Target="https://www.sec.gov/Archives/edgar/data/0001474735/000143774926024731/ex_994826.htm" TargetMode="External"/><Relationship Id="rId22" Type="http://schemas.openxmlformats.org/officeDocument/2006/relationships/hyperlink" Target="https://www.globenewswire.com/news-release/2026/08/24/3349571/0/en/nvent-to-acquire-maverick-power.html" TargetMode="External"/><Relationship Id="rId23" Type="http://schemas.openxmlformats.org/officeDocument/2006/relationships/hyperlink" Target="https://www.sec.gov/Archives/edgar/data/105634/000010563426000112/eme-ex991_2026630xq2.htm" TargetMode="External"/><Relationship Id="rId24" Type="http://schemas.openxmlformats.org/officeDocument/2006/relationships/hyperlink" Target="https://www.globenewswire.com/news-release/2026/09/15/3362305/0/en/abc-survey-1-in-6-members-perform-data-center-work-backlog-rebounds-in-august.html" TargetMode="External"/><Relationship Id="rId25" Type="http://schemas.openxmlformats.org/officeDocument/2006/relationships/hyperlink" Target="https://www.businesswire.com/news/home/20260804326592/en/Limbach-Reports-Second-Quarter-2026-Results" TargetMode="External"/><Relationship Id="rId26" Type="http://schemas.openxmlformats.org/officeDocument/2006/relationships/hyperlink" Target="https://dallasinnovates.com/north-texas-mission-critical-group-acquires-txla-systems/" TargetMode="External"/><Relationship Id="rId27" Type="http://schemas.openxmlformats.org/officeDocument/2006/relationships/hyperlink" Target="https://distributionstrategy.com/2026/07/mission-critical-group-makes-play-for-transformer-supply/" TargetMode="External"/><Relationship Id="rId28" Type="http://schemas.openxmlformats.org/officeDocument/2006/relationships/hyperlink" Target="https://www.constructiondive.com/news/data-center-construction-spending-august/831954/" TargetMode="External"/><Relationship Id="rId29" Type="http://schemas.openxmlformats.org/officeDocument/2006/relationships/hyperlink" Target="https://vertikal.net/en/news/story/49180/jk-takes-360"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top-distributor-sectors/gases-welding-equipment/meritus-gas-partners-adds-5-dfw-locations-with-acquisition-of-metroplex-welding-supply/" TargetMode="External"/><Relationship Id="rId42" Type="http://schemas.openxmlformats.org/officeDocument/2006/relationships/hyperlink" Target="https://pulse2.com/limbach-acquires-1901-for-63-million-plus-up-to-6-million-in-earnouts/" TargetMode="External"/><Relationship Id="rId43" Type="http://schemas.openxmlformats.org/officeDocument/2006/relationships/hyperlink" Target="https://www.rermag.com/mergers-acquisitions/news/55397729/bay-crane-acquires-clark-rigging-rental-growing-its-upstate-new-york-presence" TargetMode="External"/><Relationship Id="rId44" Type="http://schemas.openxmlformats.org/officeDocument/2006/relationships/hyperlink" Target="https://wasteadvantagemag.com/clean-harbors-to-acquire-enviroserve/" TargetMode="External"/><Relationship Id="rId45" Type="http://schemas.openxmlformats.org/officeDocument/2006/relationships/hyperlink" Target="https://www.sec.gov/Archives/edgar/data/0000822818/000082281826000031/clh-q22026pressrelease.htm" TargetMode="External"/><Relationship Id="rId46" Type="http://schemas.openxmlformats.org/officeDocument/2006/relationships/hyperlink" Target="https://www.sec.gov/Archives/edgar/data/0001929561/000114036126038548/ef20083265_ex99-1.htm" TargetMode="External"/><Relationship Id="rId47" Type="http://schemas.openxmlformats.org/officeDocument/2006/relationships/hyperlink" Target="https://www.benchmarkintl.com/insights/completed-transactions/benchmark-international-successfully-facilitated-the-transaction-between-the-carmi-companies-and-the-nearshore-company/" TargetMode="External"/><Relationship Id="rId48" Type="http://schemas.openxmlformats.org/officeDocument/2006/relationships/hyperlink" Target="https://www.benchmarkintl.com/insights/completed-transactions/benchmark-international-successfully-facilitated-the-transaction-between-fps-technologies-inc-and-cintas-corporation/" TargetMode="External"/><Relationship Id="rId49" Type="http://schemas.openxmlformats.org/officeDocument/2006/relationships/hyperlink" Target="https://www.benchmarkintl.com/insights/completed-transactions/benchmark-international-successfully-facilitated-the-transaction-between-maxvac-inc-and-dxp-enterprises-inc/" TargetMode="External"/><Relationship Id="rId50" Type="http://schemas.openxmlformats.org/officeDocument/2006/relationships/hyperlink" Target="https://www.benchmarkintl.com/insights/completed-transactions/benchmark-international-facilitated-the-transaction-of-trinity-industrial-services-llc-and-aecon-group-inc/" TargetMode="External"/><Relationship Id="rId51" Type="http://schemas.openxmlformats.org/officeDocument/2006/relationships/hyperlink" Target="https://www.benchmarkintl.com/insights/completed-transactions/benchmark-international-successfully-facilitated-the-transaction-of-invocon-inc-and-cemtrex-inc/" TargetMode="External"/><Relationship Id="rId52" Type="http://schemas.openxmlformats.org/officeDocument/2006/relationships/hyperlink" Target="https://www.benchmarkintl.com/insights/completed-transactions/benchmark-international-successfully-facilitated-the-transaction-between-climate-engineering-inc-and-harris-company/" TargetMode="External"/><Relationship Id="rId53" Type="http://schemas.openxmlformats.org/officeDocument/2006/relationships/hyperlink" Target="https://www.benchmarkintl.com/insights/completed-transactions/benchmark-international-successfully-facilitated-a-transaction-between-briggs-engineering-testing-and-phenna-group/" TargetMode="External"/><Relationship Id="rId54"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5" Type="http://schemas.openxmlformats.org/officeDocument/2006/relationships/hyperlink" Target="https://www.benchmarkintl.com/insights/completed-transactions/benchmark-international-successfully-facilitated-the-transaction-between-wesco-chemicals-inc-and-apex-water-and-process-inc/" TargetMode="External"/><Relationship Id="rId56" Type="http://schemas.openxmlformats.org/officeDocument/2006/relationships/hyperlink" Target="https://www.benchmarkintl.com/insights/benchmark-international-successfully-facilitated-the-transaction-between-dw-industries-and-tipco-technologies/" TargetMode="External"/><Relationship Id="rId57" Type="http://schemas.openxmlformats.org/officeDocument/2006/relationships/hyperlink" Target="https://www.benchmarkintl.com/insights/completed-transactions/benchmark-international-successfully-facilitated-the-transaction-between-at-parker-inc-and-assessimus-group-gmbh/" TargetMode="External"/><Relationship Id="rId58" Type="http://schemas.openxmlformats.org/officeDocument/2006/relationships/hyperlink" Target="https://www.benchmarkintl.com/insights/completed-transactions/benchmark-international-successfully-facilitated-the-transaction-between-clark-crane-and-capital-extension-crane-lift/" TargetMode="External"/><Relationship Id="rId59" Type="http://schemas.openxmlformats.org/officeDocument/2006/relationships/hyperlink" Target="https://www.benchmarkintl.com/insights/completed-transactions/benchmark-international-facilitated-the-transaction-of-christian-network-international-to-symbia-logistics/" TargetMode="External"/><Relationship Id="rId60" Type="http://schemas.openxmlformats.org/officeDocument/2006/relationships/hyperlink" Target="https://www.benchmarkintl.com/"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digitalcommons.pepperdine.edu/gsbm_pcm_pcmr/19" TargetMode="External"/><Relationship Id="rId63" Type="http://schemas.openxmlformats.org/officeDocument/2006/relationships/hyperlink" Target="https://stockanalysis.com/" TargetMode="External"/><Relationship Id="rId64" Type="http://schemas.openxmlformats.org/officeDocument/2006/relationships/hyperlink" Target="https://fred.stlouisfed.org/series/NEWORDER" TargetMode="External"/><Relationship Id="rId65" Type="http://schemas.openxmlformats.org/officeDocument/2006/relationships/hyperlink" Target="https://fred.stlouisfed.org/series/MCUMFN" TargetMode="External"/><Relationship Id="rId66" Type="http://schemas.openxmlformats.org/officeDocument/2006/relationships/hyperlink" Target="https://fred.stlouisfed.org/series/TTLCONS" TargetMode="External"/><Relationship Id="rId67" Type="http://schemas.openxmlformats.org/officeDocument/2006/relationships/hyperlink" Target="https://fred.stlouisfed.org/series/TLMFGCONS" TargetMode="External"/><Relationship Id="rId68" Type="http://schemas.openxmlformats.org/officeDocument/2006/relationships/hyperlink" Target="https://fred.stlouisfed.org/series/WPU1017" TargetMode="External"/><Relationship Id="rId69" Type="http://schemas.openxmlformats.org/officeDocument/2006/relationships/hyperlink" Target="https://fred.stlouisfed.org/series/GASDESM" TargetMode="External"/><Relationship Id="rId70" Type="http://schemas.openxmlformats.org/officeDocument/2006/relationships/hyperlink" Target="https://fred.stlouisfed.org/series/FRGSHPUSM649NCIS" TargetMode="External"/><Relationship Id="rId71" Type="http://schemas.openxmlformats.org/officeDocument/2006/relationships/hyperlink" Target="https://fred.stlouisfed.org/series/GS10" TargetMode="External"/><Relationship Id="rId72" Type="http://schemas.openxmlformats.org/officeDocument/2006/relationships/hyperlink" Target="https://www.centerbridge.com/" TargetMode="External"/><Relationship Id="rId73" Type="http://schemas.openxmlformats.org/officeDocument/2006/relationships/hyperlink" Target="https://coreipfund.com/portfolio/" TargetMode="External"/><Relationship Id="rId74" Type="http://schemas.openxmlformats.org/officeDocument/2006/relationships/hyperlink" Target="https://www.wynnchurch.com/portfolio" TargetMode="External"/><Relationship Id="rId75" Type="http://schemas.openxmlformats.org/officeDocument/2006/relationships/hyperlink" Target="https://americanindustrial.com/portfolio/" TargetMode="External"/><Relationship Id="rId76" Type="http://schemas.openxmlformats.org/officeDocument/2006/relationships/hyperlink" Target="https://www.aeainvestors.com/portfolio/" TargetMode="External"/><Relationship Id="rId77" Type="http://schemas.openxmlformats.org/officeDocument/2006/relationships/hyperlink" Target="https://audaxprivateequity.com/portfolio" TargetMode="External"/><Relationship Id="rId78" Type="http://schemas.openxmlformats.org/officeDocument/2006/relationships/hyperlink" Target="https://www.gryphon-inv.com/companies/vessco/" TargetMode="External"/><Relationship Id="rId79" Type="http://schemas.openxmlformats.org/officeDocument/2006/relationships/hyperlink" Target="https://www.huroncapital.com/news/huron-capitals-the-exigent-group-acquires-superior-building-services-in-ohio/" TargetMode="External"/><Relationship Id="rId80" Type="http://schemas.openxmlformats.org/officeDocument/2006/relationships/hyperlink" Target="https://www.altas.com/businesses" TargetMode="External"/><Relationship Id="rId81" Type="http://schemas.openxmlformats.org/officeDocument/2006/relationships/hyperlink" Target="https://www.leonardgreen.com/portfolio/" TargetMode="External"/><Relationship Id="rId82" Type="http://schemas.openxmlformats.org/officeDocument/2006/relationships/hyperlink" Target="https://www.elcm.com/portfolios/" TargetMode="External"/><Relationship Id="rId83" Type="http://schemas.openxmlformats.org/officeDocument/2006/relationships/hyperlink" Target="https://www.onerock.com/portfolio/" TargetMode="External"/><Relationship Id="rId84" Type="http://schemas.openxmlformats.org/officeDocument/2006/relationships/hyperlink" Target="https://www.bernhardcapital.com/portfolio/" TargetMode="External"/><Relationship Id="rId85" Type="http://schemas.openxmlformats.org/officeDocument/2006/relationships/hyperlink" Target="https://hig.com/news/h-i-g-capital-signs-definitive-agreement-to-acquire-ascent-global-logistics/" TargetMode="External"/><Relationship Id="rId86" Type="http://schemas.openxmlformats.org/officeDocument/2006/relationships/hyperlink" Target="https://www.greenbriar.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parks from cutting steel tube in a fabrication shop"/>
          <p:cNvPicPr>
            <a:picLocks noChangeAspect="1"/>
          </p:cNvPicPr>
          <p:nvPr/>
        </p:nvPicPr>
        <p:blipFill>
          <a:blip r:embed="rId3"/>
          <a:srcRect l="16299" r="16299"/>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descr="Benchmark International logo"/>
          <p:cNvPicPr>
            <a:picLocks noChangeAspect="1"/>
          </p:cNvPicPr>
          <p:nvPr/>
        </p:nvPicPr>
        <p:blipFill>
          <a:blip r:embed="rId4"/>
          <a:stretch>
            <a:fillRect/>
          </a:stretch>
        </p:blipFill>
        <p:spPr>
          <a:xfrm>
            <a:off x="609600" y="571500"/>
            <a:ext cx="2438400" cy="457200"/>
          </a:xfrm>
          <a:prstGeom prst="rect">
            <a:avLst/>
          </a:prstGeom>
        </p:spPr>
      </p:pic>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INDUSTRIALS</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and financing costs more. Buyers are paying the most for what they cannot build in time: power and data center work, certified aerospace machining, and the service revenue that codes and regulations require.</a:t>
            </a:r>
            <a:endParaRPr lang="en-US" sz="1500" dirty="0"/>
          </a:p>
        </p:txBody>
      </p:sp>
      <p:pic>
        <p:nvPicPr>
          <p:cNvPr id="12" name="Image 2" descr="Manufacturing icon"/>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descr="Distribution icon"/>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descr="Construction icon"/>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descr="Energy and power icon"/>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descr="Transportation icon"/>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289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Segment perspectives, the power demand buildout, our view,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Transactions, public company metrics, earnings commentary, economic trends, and market participants</a:t>
            </a:r>
            <a:endParaRPr lang="en-US" sz="825" dirty="0"/>
          </a:p>
        </p:txBody>
      </p:sp>
      <p:sp>
        <p:nvSpPr>
          <p:cNvPr id="34" name="Shape 21"/>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2"/>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3"/>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About Benchmark</a:t>
            </a:r>
            <a:endParaRPr lang="en-US" sz="1350" dirty="0"/>
          </a:p>
        </p:txBody>
      </p:sp>
      <p:sp>
        <p:nvSpPr>
          <p:cNvPr id="37" name="Text 24"/>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Benchmark and the Middle Market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report is as of October 19, 2026, unless stated otherwise.</a:t>
            </a:r>
            <a:endParaRPr lang="en-US" sz="675" dirty="0"/>
          </a:p>
        </p:txBody>
      </p:sp>
      <p:sp>
        <p:nvSpPr>
          <p:cNvPr id="5" name="Text 3"/>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2764185"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INDUSTRIALS  |</a:t>
            </a:r>
            <a:r>
              <a:rPr sz="675" b="1" i="0" spc="195" dirty="0">
                <a:solidFill>
                  <a:srgbClr val="8C6239"/>
                </a:solidFill>
                <a:latin typeface="Quicksand"/>
              </a:rPr>
              <a:t>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7" name="TextBox 6"/>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dirty="0">
                <a:solidFill>
                  <a:srgbClr val="6F6A66"/>
                </a:solidFill>
                <a:latin typeface="Quicksand"/>
              </a:rPr>
              <a:t>The Mid</a:t>
            </a:r>
            <a:r>
              <a:rPr lang="en-US" sz="938" b="0" i="0" spc="15" dirty="0">
                <a:solidFill>
                  <a:srgbClr val="6F6A66"/>
                </a:solidFill>
                <a:latin typeface="Quicksand"/>
              </a:rPr>
              <a:t>dle </a:t>
            </a:r>
            <a:r>
              <a:rPr sz="938" b="0" i="0" spc="15" dirty="0">
                <a:solidFill>
                  <a:srgbClr val="6F6A66"/>
                </a:solidFill>
                <a:latin typeface="Quicksand"/>
              </a:rPr>
              <a:t>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10" name="Picture" descr="Benchmark International emblem on a dark background"/>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2" name="Panel"/>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3" name="TextBox 12"/>
          <p:cNvSpPr txBox="1"/>
          <p:nvPr/>
        </p:nvSpPr>
        <p:spPr>
          <a:xfrm>
            <a:off x="609600" y="2130171"/>
            <a:ext cx="1733550" cy="1228725"/>
          </a:xfrm>
          <a:prstGeom prst="rect">
            <a:avLst/>
          </a:prstGeom>
          <a:noFill/>
        </p:spPr>
        <p:txBody>
          <a:bodyPr wrap="square" lIns="0" tIns="0" rIns="0" bIns="0" anchor="t">
            <a:noAutofit/>
          </a:bodyPr>
          <a:lstStyle/>
          <a:p>
            <a:pPr algn="l">
              <a:lnSpc>
                <a:spcPts val="1425"/>
              </a:lnSpc>
              <a:spcBef>
                <a:spcPts val="0"/>
              </a:spcBef>
              <a:spcAft>
                <a:spcPts val="0"/>
              </a:spcAft>
            </a:pPr>
            <a:r>
              <a:rPr sz="900" b="0" i="0" spc="15" dirty="0">
                <a:solidFill>
                  <a:srgbClr val="E8E2DA"/>
                </a:solidFill>
                <a:latin typeface="Quicksand"/>
              </a:rPr>
              <a:t>The Mid</a:t>
            </a:r>
            <a:r>
              <a:rPr lang="en-US" sz="900" spc="15" dirty="0">
                <a:solidFill>
                  <a:srgbClr val="E8E2DA"/>
                </a:solidFill>
                <a:latin typeface="Quicksand"/>
              </a:rPr>
              <a:t>dle </a:t>
            </a:r>
            <a:r>
              <a:rPr sz="90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4" name="TextBox 13"/>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6" name="TextBox 15"/>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9" name="TextBox 18"/>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2" name="TextBox 21"/>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6" name="Picture" descr="Photo of 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br>
              <a:rPr lang="en-US" sz="638" b="1" i="0" spc="105" dirty="0">
                <a:solidFill>
                  <a:srgbClr val="8C6239"/>
                </a:solidFill>
                <a:latin typeface="Quicksand"/>
              </a:rPr>
            </a:br>
            <a:r>
              <a:rPr lang="en-US" sz="638" b="1" i="0" spc="105" dirty="0">
                <a:solidFill>
                  <a:srgbClr val="8C6239"/>
                </a:solidFill>
                <a:latin typeface="Quicksand"/>
              </a:rPr>
              <a:t>HEAD OF MIDDLE MARKET</a:t>
            </a:r>
            <a:endParaRPr sz="638" b="1" i="0" spc="105" dirty="0">
              <a:solidFill>
                <a:srgbClr val="8C6239"/>
              </a:solidFill>
              <a:latin typeface="Quicksand"/>
            </a:endParaRPr>
          </a:p>
        </p:txBody>
      </p:sp>
      <p:sp>
        <p:nvSpPr>
          <p:cNvPr id="29" name="Panel"/>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30" name="Rule"/>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31" name="Picture" descr="Photo of Jared Hardin"/>
          <p:cNvPicPr>
            <a:picLocks noChangeAspect="1"/>
          </p:cNvPicPr>
          <p:nvPr/>
        </p:nvPicPr>
        <p:blipFill>
          <a:blip r:embed="rId4"/>
          <a:stretch>
            <a:fillRect/>
          </a:stretch>
        </p:blipFill>
        <p:spPr>
          <a:xfrm>
            <a:off x="4669631" y="1438275"/>
            <a:ext cx="1143000" cy="1143000"/>
          </a:xfrm>
          <a:prstGeom prst="ellipse">
            <a:avLst/>
          </a:prstGeom>
        </p:spPr>
      </p:pic>
      <p:sp>
        <p:nvSpPr>
          <p:cNvPr id="32" name="TextBox 31"/>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3" name="TextBox 32"/>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p>
        </p:txBody>
      </p:sp>
      <p:sp>
        <p:nvSpPr>
          <p:cNvPr id="34" name="TextBox 33"/>
          <p:cNvSpPr txBox="1"/>
          <p:nvPr/>
        </p:nvSpPr>
        <p:spPr>
          <a:xfrm>
            <a:off x="4373047" y="3449787"/>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5"/>
              </a:rPr>
              <a:t>210-241-7990</a:t>
            </a:r>
          </a:p>
          <a:p>
            <a:pPr algn="ctr">
              <a:lnSpc>
                <a:spcPts val="1200"/>
              </a:lnSpc>
              <a:spcBef>
                <a:spcPts val="0"/>
              </a:spcBef>
              <a:spcAft>
                <a:spcPts val="0"/>
              </a:spcAft>
            </a:pPr>
            <a:r>
              <a:rPr sz="788"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5" name="Panel"/>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6" name="Rule"/>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7" name="Picture" descr="Photo of Alex Zykov"/>
          <p:cNvPicPr>
            <a:picLocks noChangeAspect="1"/>
          </p:cNvPicPr>
          <p:nvPr/>
        </p:nvPicPr>
        <p:blipFill>
          <a:blip r:embed="rId7"/>
          <a:stretch>
            <a:fillRect/>
          </a:stretch>
        </p:blipFill>
        <p:spPr>
          <a:xfrm>
            <a:off x="6455569" y="1438275"/>
            <a:ext cx="1143000" cy="1143000"/>
          </a:xfrm>
          <a:prstGeom prst="ellipse">
            <a:avLst/>
          </a:prstGeom>
        </p:spPr>
      </p:pic>
      <p:sp>
        <p:nvSpPr>
          <p:cNvPr id="38" name="TextBox 37"/>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9" name="TextBox 38"/>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TRANSACTION DIRECTOR</a:t>
            </a:r>
          </a:p>
        </p:txBody>
      </p:sp>
      <p:sp>
        <p:nvSpPr>
          <p:cNvPr id="40" name="Panel"/>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41" name="Rule"/>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2" name="Picture" descr="Photo of Shannon Hess"/>
          <p:cNvPicPr>
            <a:picLocks noChangeAspect="1"/>
          </p:cNvPicPr>
          <p:nvPr/>
        </p:nvPicPr>
        <p:blipFill>
          <a:blip r:embed="rId8"/>
          <a:stretch>
            <a:fillRect/>
          </a:stretch>
        </p:blipFill>
        <p:spPr>
          <a:xfrm>
            <a:off x="8241506" y="1438275"/>
            <a:ext cx="1143000" cy="1143000"/>
          </a:xfrm>
          <a:prstGeom prst="ellipse">
            <a:avLst/>
          </a:prstGeom>
        </p:spPr>
      </p:pic>
      <p:sp>
        <p:nvSpPr>
          <p:cNvPr id="43" name="TextBox 42"/>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4" name="TextBox 43"/>
          <p:cNvSpPr txBox="1"/>
          <p:nvPr/>
        </p:nvSpPr>
        <p:spPr>
          <a:xfrm>
            <a:off x="8062912" y="3017167"/>
            <a:ext cx="1500188" cy="274320"/>
          </a:xfrm>
          <a:prstGeom prst="rect">
            <a:avLst/>
          </a:prstGeom>
          <a:noFill/>
        </p:spPr>
        <p:txBody>
          <a:bodyPr wrap="square" lIns="0" tIns="0" rIns="0" bIns="0" anchor="t">
            <a:noAutofit/>
          </a:bodyPr>
          <a:lstStyle/>
          <a:p>
            <a:pPr algn="ctr">
              <a:lnSpc>
                <a:spcPts val="975"/>
              </a:lnSpc>
              <a:spcBef>
                <a:spcPts val="0"/>
              </a:spcBef>
              <a:spcAft>
                <a:spcPts val="0"/>
              </a:spcAft>
            </a:pPr>
            <a:r>
              <a:rPr sz="638" b="1" i="0" spc="105" dirty="0">
                <a:solidFill>
                  <a:srgbClr val="8C6239"/>
                </a:solidFill>
                <a:latin typeface="Quicksand"/>
              </a:rPr>
              <a:t>CLIENT ENGAGEMENT DIRECTOR</a:t>
            </a:r>
          </a:p>
        </p:txBody>
      </p:sp>
      <p:sp>
        <p:nvSpPr>
          <p:cNvPr id="45" name="Panel"/>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6" name="Picture" descr="Photo of Sunny Garten"/>
          <p:cNvPicPr>
            <a:picLocks noChangeAspect="1"/>
          </p:cNvPicPr>
          <p:nvPr/>
        </p:nvPicPr>
        <p:blipFill>
          <a:blip r:embed="rId9"/>
          <a:stretch>
            <a:fillRect/>
          </a:stretch>
        </p:blipFill>
        <p:spPr>
          <a:xfrm>
            <a:off x="2752725" y="4133850"/>
            <a:ext cx="514350" cy="514350"/>
          </a:xfrm>
          <a:prstGeom prst="ellipse">
            <a:avLst/>
          </a:prstGeom>
        </p:spPr>
      </p:pic>
      <p:sp>
        <p:nvSpPr>
          <p:cNvPr id="47" name="TextBox 46"/>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48" name="TextBox 47"/>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49" name="Panel"/>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0" name="Picture" descr="Photo of Michael Wynn"/>
          <p:cNvPicPr>
            <a:picLocks noChangeAspect="1"/>
          </p:cNvPicPr>
          <p:nvPr/>
        </p:nvPicPr>
        <p:blipFill>
          <a:blip r:embed="rId10"/>
          <a:stretch>
            <a:fillRect/>
          </a:stretch>
        </p:blipFill>
        <p:spPr>
          <a:xfrm>
            <a:off x="5133975" y="4133850"/>
            <a:ext cx="514350" cy="514350"/>
          </a:xfrm>
          <a:prstGeom prst="ellipse">
            <a:avLst/>
          </a:prstGeom>
        </p:spPr>
      </p:pic>
      <p:sp>
        <p:nvSpPr>
          <p:cNvPr id="51" name="TextBox 50"/>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2" name="TextBox 51"/>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4" name="Picture" descr="Photo of Jason Lisiak"/>
          <p:cNvPicPr>
            <a:picLocks noChangeAspect="1"/>
          </p:cNvPicPr>
          <p:nvPr/>
        </p:nvPicPr>
        <p:blipFill>
          <a:blip r:embed="rId11"/>
          <a:stretch>
            <a:fillRect/>
          </a:stretch>
        </p:blipFill>
        <p:spPr>
          <a:xfrm>
            <a:off x="7515225" y="4133850"/>
            <a:ext cx="514350" cy="514350"/>
          </a:xfrm>
          <a:prstGeom prst="ellipse">
            <a:avLst/>
          </a:prstGeom>
        </p:spPr>
      </p:pic>
      <p:sp>
        <p:nvSpPr>
          <p:cNvPr id="55" name="TextBox 54"/>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JASON LISIAK, CFA</a:t>
            </a:r>
          </a:p>
        </p:txBody>
      </p:sp>
      <p:sp>
        <p:nvSpPr>
          <p:cNvPr id="56" name="TextBox 55"/>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57" name="Panel"/>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8" name="Picture" descr="Photo of Alexandra Barr"/>
          <p:cNvPicPr>
            <a:picLocks noChangeAspect="1"/>
          </p:cNvPicPr>
          <p:nvPr/>
        </p:nvPicPr>
        <p:blipFill>
          <a:blip r:embed="rId12"/>
          <a:stretch>
            <a:fillRect/>
          </a:stretch>
        </p:blipFill>
        <p:spPr>
          <a:xfrm>
            <a:off x="2752725" y="4991100"/>
            <a:ext cx="514350" cy="514350"/>
          </a:xfrm>
          <a:prstGeom prst="ellipse">
            <a:avLst/>
          </a:prstGeom>
        </p:spPr>
      </p:pic>
      <p:sp>
        <p:nvSpPr>
          <p:cNvPr id="59" name="TextBox 58"/>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0" name="TextBox 59"/>
          <p:cNvSpPr txBox="1"/>
          <p:nvPr/>
        </p:nvSpPr>
        <p:spPr>
          <a:xfrm>
            <a:off x="338137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1" name="Panel"/>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2" name="Picture" descr="Photo of Josiah Warren"/>
          <p:cNvPicPr>
            <a:picLocks noChangeAspect="1"/>
          </p:cNvPicPr>
          <p:nvPr/>
        </p:nvPicPr>
        <p:blipFill>
          <a:blip r:embed="rId13"/>
          <a:stretch>
            <a:fillRect/>
          </a:stretch>
        </p:blipFill>
        <p:spPr>
          <a:xfrm>
            <a:off x="5133975" y="4991100"/>
            <a:ext cx="514350" cy="514350"/>
          </a:xfrm>
          <a:prstGeom prst="ellipse">
            <a:avLst/>
          </a:prstGeom>
        </p:spPr>
      </p:pic>
      <p:sp>
        <p:nvSpPr>
          <p:cNvPr id="63" name="TextBox 62"/>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64" name="TextBox 63"/>
          <p:cNvSpPr txBox="1"/>
          <p:nvPr/>
        </p:nvSpPr>
        <p:spPr>
          <a:xfrm>
            <a:off x="576262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5" name="Panel"/>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6" name="Picture" descr="Photo of 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67" name="TextBox 66"/>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68" name="TextBox 67"/>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69" name="Rule"/>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70" name="TextBox 69"/>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638" b="1" i="0" spc="150">
                <a:solidFill>
                  <a:srgbClr val="8C6239"/>
                </a:solidFill>
                <a:latin typeface="Quicksand"/>
              </a:rPr>
              <a:t>INDUSTRIALS COVERAGE</a:t>
            </a:r>
          </a:p>
        </p:txBody>
      </p:sp>
      <p:pic>
        <p:nvPicPr>
          <p:cNvPr id="71" name="Graphic" descr="Manufacturing icon"/>
          <p:cNvPicPr>
            <a:picLocks noChangeAspect="1"/>
          </p:cNvPicPr>
          <p:nvPr/>
        </p:nvPicPr>
        <p:blipFill>
          <a:blip r:embed="rId15"/>
          <a:stretch>
            <a:fillRect/>
          </a:stretch>
        </p:blipFill>
        <p:spPr>
          <a:xfrm>
            <a:off x="2628900" y="6467475"/>
            <a:ext cx="190500" cy="190500"/>
          </a:xfrm>
          <a:prstGeom prst="rect">
            <a:avLst/>
          </a:prstGeom>
        </p:spPr>
      </p:pic>
      <p:sp>
        <p:nvSpPr>
          <p:cNvPr id="72" name="TextBox 71"/>
          <p:cNvSpPr txBox="1"/>
          <p:nvPr/>
        </p:nvSpPr>
        <p:spPr>
          <a:xfrm>
            <a:off x="2895600" y="6484715"/>
            <a:ext cx="1495127"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Manufacturing &amp; Industrial Tech</a:t>
            </a:r>
          </a:p>
        </p:txBody>
      </p:sp>
      <p:pic>
        <p:nvPicPr>
          <p:cNvPr id="73" name="Graphic" descr="Distribution icon"/>
          <p:cNvPicPr>
            <a:picLocks noChangeAspect="1"/>
          </p:cNvPicPr>
          <p:nvPr/>
        </p:nvPicPr>
        <p:blipFill>
          <a:blip r:embed="rId16"/>
          <a:stretch>
            <a:fillRect/>
          </a:stretch>
        </p:blipFill>
        <p:spPr>
          <a:xfrm>
            <a:off x="5010150" y="6467475"/>
            <a:ext cx="190500" cy="190500"/>
          </a:xfrm>
          <a:prstGeom prst="rect">
            <a:avLst/>
          </a:prstGeom>
        </p:spPr>
      </p:pic>
      <p:sp>
        <p:nvSpPr>
          <p:cNvPr id="74" name="TextBox 73"/>
          <p:cNvSpPr txBox="1"/>
          <p:nvPr/>
        </p:nvSpPr>
        <p:spPr>
          <a:xfrm>
            <a:off x="5276850" y="6484715"/>
            <a:ext cx="743248"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Distribution &amp; Services</a:t>
            </a:r>
          </a:p>
        </p:txBody>
      </p:sp>
      <p:pic>
        <p:nvPicPr>
          <p:cNvPr id="75" name="Graphic" descr="Construction icon"/>
          <p:cNvPicPr>
            <a:picLocks noChangeAspect="1"/>
          </p:cNvPicPr>
          <p:nvPr/>
        </p:nvPicPr>
        <p:blipFill>
          <a:blip r:embed="rId17"/>
          <a:stretch>
            <a:fillRect/>
          </a:stretch>
        </p:blipFill>
        <p:spPr>
          <a:xfrm>
            <a:off x="7391400" y="6467475"/>
            <a:ext cx="190500" cy="190500"/>
          </a:xfrm>
          <a:prstGeom prst="rect">
            <a:avLst/>
          </a:prstGeom>
        </p:spPr>
      </p:pic>
      <p:sp>
        <p:nvSpPr>
          <p:cNvPr id="76" name="TextBox 75"/>
          <p:cNvSpPr txBox="1"/>
          <p:nvPr/>
        </p:nvSpPr>
        <p:spPr>
          <a:xfrm>
            <a:off x="7658100" y="6484715"/>
            <a:ext cx="92600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Building &amp; Construction</a:t>
            </a:r>
          </a:p>
        </p:txBody>
      </p:sp>
      <p:pic>
        <p:nvPicPr>
          <p:cNvPr id="77" name="Graphic" descr="Energy and power icon"/>
          <p:cNvPicPr>
            <a:picLocks noChangeAspect="1"/>
          </p:cNvPicPr>
          <p:nvPr/>
        </p:nvPicPr>
        <p:blipFill>
          <a:blip r:embed="rId18"/>
          <a:stretch>
            <a:fillRect/>
          </a:stretch>
        </p:blipFill>
        <p:spPr>
          <a:xfrm>
            <a:off x="2628900" y="6743700"/>
            <a:ext cx="190500" cy="190500"/>
          </a:xfrm>
          <a:prstGeom prst="rect">
            <a:avLst/>
          </a:prstGeom>
        </p:spPr>
      </p:pic>
      <p:sp>
        <p:nvSpPr>
          <p:cNvPr id="78" name="TextBox 77"/>
          <p:cNvSpPr txBox="1"/>
          <p:nvPr/>
        </p:nvSpPr>
        <p:spPr>
          <a:xfrm>
            <a:off x="2895600" y="6760940"/>
            <a:ext cx="105042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Energy, Power &amp; Environmental</a:t>
            </a:r>
          </a:p>
        </p:txBody>
      </p:sp>
      <p:pic>
        <p:nvPicPr>
          <p:cNvPr id="79" name="Graphic" descr="Transportation icon"/>
          <p:cNvPicPr>
            <a:picLocks noChangeAspect="1"/>
          </p:cNvPicPr>
          <p:nvPr/>
        </p:nvPicPr>
        <p:blipFill>
          <a:blip r:embed="rId19"/>
          <a:stretch>
            <a:fillRect/>
          </a:stretch>
        </p:blipFill>
        <p:spPr>
          <a:xfrm>
            <a:off x="5010150" y="6743700"/>
            <a:ext cx="190500" cy="190500"/>
          </a:xfrm>
          <a:prstGeom prst="rect">
            <a:avLst/>
          </a:prstGeom>
        </p:spPr>
      </p:pic>
      <p:sp>
        <p:nvSpPr>
          <p:cNvPr id="80" name="TextBox 79"/>
          <p:cNvSpPr txBox="1"/>
          <p:nvPr/>
        </p:nvSpPr>
        <p:spPr>
          <a:xfrm>
            <a:off x="5276850" y="6760940"/>
            <a:ext cx="121041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Transportation &amp; Logistics</a:t>
            </a:r>
          </a:p>
        </p:txBody>
      </p:sp>
      <p:sp>
        <p:nvSpPr>
          <p:cNvPr id="83"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84" name="Graphic" descr="Benchmark International logo"/>
          <p:cNvPicPr>
            <a:picLocks noChangeAspect="1"/>
          </p:cNvPicPr>
          <p:nvPr/>
        </p:nvPicPr>
        <p:blipFill>
          <a:blip r:embed="rId20"/>
          <a:stretch>
            <a:fillRect/>
          </a:stretch>
        </p:blipFill>
        <p:spPr>
          <a:xfrm>
            <a:off x="419100" y="7143750"/>
            <a:ext cx="914400" cy="171450"/>
          </a:xfrm>
          <a:prstGeom prst="rect">
            <a:avLst/>
          </a:prstGeom>
        </p:spPr>
      </p:pic>
      <p:sp>
        <p:nvSpPr>
          <p:cNvPr id="85" name="TextBox 84"/>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team as of October 2026.</a:t>
            </a:r>
          </a:p>
        </p:txBody>
      </p:sp>
      <p:sp>
        <p:nvSpPr>
          <p:cNvPr id="86" name="TextBox 85"/>
          <p:cNvSpPr txBox="1"/>
          <p:nvPr/>
        </p:nvSpPr>
        <p:spPr>
          <a:xfrm>
            <a:off x="9515921" y="7149370"/>
            <a:ext cx="123379"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
        <p:nvSpPr>
          <p:cNvPr id="912" name="Contact Jordan"/>
          <p:cNvSpPr txBox="1"/>
          <p:nvPr/>
        </p:nvSpPr>
        <p:spPr>
          <a:xfrm>
            <a:off x="2569464"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1"/>
              </a:rPr>
              <a:t>813-771-6675</a:t>
            </a:r>
          </a:p>
          <a:p>
            <a:pPr algn="ctr">
              <a:lnSpc>
                <a:spcPts val="1200"/>
              </a:lnSpc>
              <a:spcBef>
                <a:spcPts val="0"/>
              </a:spcBef>
              <a:spcAft>
                <a:spcPts val="0"/>
              </a:spcAft>
            </a:pPr>
            <a:r>
              <a:rPr sz="788" b="0" i="0" u="sng" spc="15">
                <a:solidFill>
                  <a:srgbClr val="8C6239"/>
                </a:solidFill>
                <a:latin typeface="Quicksand"/>
                <a:hlinkClick r:id="rId22"/>
              </a:rPr>
              <a:t>jhoutz@benchmarkintl.com</a:t>
            </a:r>
          </a:p>
        </p:txBody>
      </p:sp>
      <p:sp>
        <p:nvSpPr>
          <p:cNvPr id="910" name="Contact Alex"/>
          <p:cNvSpPr txBox="1"/>
          <p:nvPr/>
        </p:nvSpPr>
        <p:spPr>
          <a:xfrm>
            <a:off x="6236208"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3"/>
              </a:rPr>
              <a:t>813-898-2372</a:t>
            </a:r>
          </a:p>
          <a:p>
            <a:pPr algn="ctr">
              <a:lnSpc>
                <a:spcPts val="1200"/>
              </a:lnSpc>
              <a:spcBef>
                <a:spcPts val="0"/>
              </a:spcBef>
              <a:spcAft>
                <a:spcPts val="0"/>
              </a:spcAft>
            </a:pPr>
            <a:r>
              <a:rPr sz="788" b="0" i="0" u="sng" spc="15">
                <a:solidFill>
                  <a:srgbClr val="8C6239"/>
                </a:solidFill>
                <a:latin typeface="Quicksand"/>
                <a:hlinkClick r:id="rId24"/>
              </a:rPr>
              <a:t>azykov@benchmarkintl.com</a:t>
            </a:r>
          </a:p>
        </p:txBody>
      </p:sp>
      <p:sp>
        <p:nvSpPr>
          <p:cNvPr id="913" name="Contact Shannon"/>
          <p:cNvSpPr txBox="1"/>
          <p:nvPr/>
        </p:nvSpPr>
        <p:spPr>
          <a:xfrm>
            <a:off x="7929741" y="3454845"/>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dirty="0">
                <a:solidFill>
                  <a:srgbClr val="8C6239"/>
                </a:solidFill>
                <a:latin typeface="Quicksand"/>
                <a:hlinkClick r:id="rId25"/>
              </a:rPr>
              <a:t>813-898-2397</a:t>
            </a:r>
          </a:p>
          <a:p>
            <a:pPr algn="ctr">
              <a:lnSpc>
                <a:spcPts val="1200"/>
              </a:lnSpc>
              <a:spcBef>
                <a:spcPts val="0"/>
              </a:spcBef>
              <a:spcAft>
                <a:spcPts val="0"/>
              </a:spcAft>
            </a:pPr>
            <a:r>
              <a:rPr sz="788" b="0" i="0" u="sng" spc="15" dirty="0">
                <a:solidFill>
                  <a:srgbClr val="8C6239"/>
                </a:solidFill>
                <a:latin typeface="Quicksand"/>
                <a:hlinkClick r:id="rId26"/>
              </a:rPr>
              <a:t>hess@benchmarkintl.com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Industrial robotic arms on an assembly line"/>
          <p:cNvPicPr>
            <a:picLocks noChangeAspect="1"/>
          </p:cNvPicPr>
          <p:nvPr/>
        </p:nvPicPr>
        <p:blipFill>
          <a:blip r:embed="rId3"/>
          <a:srcRect l="32462" r="32462"/>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2605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Acquirers across the industrial segments are buying capabilities they cannot build in time, because skilled labor is scarce, certifications take years, and new equipment is sold out well ahead. Borrowing costs rose in September, and buyers have become more selective about what they pay for.</a:t>
            </a:r>
            <a:endParaRPr lang="en-US" sz="1013" dirty="0"/>
          </a:p>
        </p:txBody>
      </p:sp>
      <p:sp>
        <p:nvSpPr>
          <p:cNvPr id="9" name="Shape 6"/>
          <p:cNvSpPr/>
          <p:nvPr/>
        </p:nvSpPr>
        <p:spPr>
          <a:xfrm>
            <a:off x="609600" y="47500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484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05</a:t>
            </a:r>
            <a:endParaRPr lang="en-US" sz="825" dirty="0"/>
          </a:p>
        </p:txBody>
      </p:sp>
      <p:sp>
        <p:nvSpPr>
          <p:cNvPr id="11" name="Text 8"/>
          <p:cNvSpPr txBox="1"/>
          <p:nvPr/>
        </p:nvSpPr>
        <p:spPr>
          <a:xfrm>
            <a:off x="971550" y="48262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insights for the fourth quarter of 2026</a:t>
            </a:r>
            <a:endParaRPr lang="en-US" sz="975" dirty="0"/>
          </a:p>
        </p:txBody>
      </p:sp>
      <p:sp>
        <p:nvSpPr>
          <p:cNvPr id="12" name="Shape 6"/>
          <p:cNvSpPr/>
          <p:nvPr/>
        </p:nvSpPr>
        <p:spPr>
          <a:xfrm>
            <a:off x="609600" y="5020000"/>
            <a:ext cx="4476750" cy="0"/>
          </a:xfrm>
          <a:prstGeom prst="line">
            <a:avLst/>
          </a:prstGeom>
          <a:noFill/>
          <a:ln w="9525">
            <a:solidFill>
              <a:srgbClr val="5B4E40"/>
            </a:solidFill>
            <a:prstDash val="solid"/>
          </a:ln>
        </p:spPr>
        <p:txBody>
          <a:bodyPr/>
          <a:lstStyle/>
          <a:p>
            <a:endParaRPr lang="en-US"/>
          </a:p>
        </p:txBody>
      </p:sp>
      <p:sp>
        <p:nvSpPr>
          <p:cNvPr id="13" name="Text 7"/>
          <p:cNvSpPr txBox="1"/>
          <p:nvPr/>
        </p:nvSpPr>
        <p:spPr>
          <a:xfrm>
            <a:off x="609600" y="511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06</a:t>
            </a:r>
            <a:endParaRPr lang="en-US" sz="825" dirty="0"/>
          </a:p>
        </p:txBody>
      </p:sp>
      <p:sp>
        <p:nvSpPr>
          <p:cNvPr id="14" name="Text 8"/>
          <p:cNvSpPr txBox="1"/>
          <p:nvPr/>
        </p:nvSpPr>
        <p:spPr>
          <a:xfrm>
            <a:off x="971550" y="5096200"/>
            <a:ext cx="4095750" cy="209550"/>
          </a:xfrm>
          <a:prstGeom prst="rect">
            <a:avLst/>
          </a:prstGeom>
          <a:noFill/>
          <a:ln/>
        </p:spPr>
        <p:txBody>
          <a:bodyPr wrap="square" lIns="0" tIns="0" rIns="0" bIns="0" rtlCol="0" anchor="t"/>
          <a:lstStyle/>
          <a:p>
            <a:pPr marL="0" indent="0">
              <a:buNone/>
            </a:pPr>
            <a:r>
              <a:rPr lang="en-US" sz="975" dirty="0">
                <a:solidFill>
                  <a:srgbClr val="F4EFE8"/>
                </a:solidFill>
              </a:rPr>
              <a:t>Perspectives on five segments</a:t>
            </a:r>
            <a:endParaRPr lang="en-US" sz="975" dirty="0"/>
          </a:p>
        </p:txBody>
      </p:sp>
      <p:sp>
        <p:nvSpPr>
          <p:cNvPr id="15" name="Shape 6"/>
          <p:cNvSpPr/>
          <p:nvPr/>
        </p:nvSpPr>
        <p:spPr>
          <a:xfrm>
            <a:off x="609600" y="5290000"/>
            <a:ext cx="4476750" cy="0"/>
          </a:xfrm>
          <a:prstGeom prst="line">
            <a:avLst/>
          </a:prstGeom>
          <a:noFill/>
          <a:ln w="9525">
            <a:solidFill>
              <a:srgbClr val="5B4E40"/>
            </a:solidFill>
            <a:prstDash val="solid"/>
          </a:ln>
        </p:spPr>
        <p:txBody>
          <a:bodyPr/>
          <a:lstStyle/>
          <a:p>
            <a:endParaRPr lang="en-US"/>
          </a:p>
        </p:txBody>
      </p:sp>
      <p:sp>
        <p:nvSpPr>
          <p:cNvPr id="16" name="Text 7"/>
          <p:cNvSpPr txBox="1"/>
          <p:nvPr/>
        </p:nvSpPr>
        <p:spPr>
          <a:xfrm>
            <a:off x="609600" y="538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7" name="Text 8"/>
          <p:cNvSpPr txBox="1"/>
          <p:nvPr/>
        </p:nvSpPr>
        <p:spPr>
          <a:xfrm>
            <a:off x="971550" y="5366200"/>
            <a:ext cx="4095750" cy="209550"/>
          </a:xfrm>
          <a:prstGeom prst="rect">
            <a:avLst/>
          </a:prstGeom>
          <a:noFill/>
          <a:ln/>
        </p:spPr>
        <p:txBody>
          <a:bodyPr wrap="square" lIns="0" tIns="0" rIns="0" bIns="0" rtlCol="0" anchor="t"/>
          <a:lstStyle/>
          <a:p>
            <a:pPr marL="0" indent="0">
              <a:buNone/>
            </a:pPr>
            <a:r>
              <a:rPr lang="en-US" sz="975" dirty="0">
                <a:solidFill>
                  <a:srgbClr val="F4EFE8"/>
                </a:solidFill>
              </a:rPr>
              <a:t>Power demand: how the buildout reaches the industrial segments</a:t>
            </a:r>
            <a:endParaRPr lang="en-US" sz="975" dirty="0"/>
          </a:p>
        </p:txBody>
      </p:sp>
      <p:sp>
        <p:nvSpPr>
          <p:cNvPr id="18" name="Shape 6"/>
          <p:cNvSpPr/>
          <p:nvPr/>
        </p:nvSpPr>
        <p:spPr>
          <a:xfrm>
            <a:off x="609600" y="5560000"/>
            <a:ext cx="4476750" cy="0"/>
          </a:xfrm>
          <a:prstGeom prst="line">
            <a:avLst/>
          </a:prstGeom>
          <a:noFill/>
          <a:ln w="9525">
            <a:solidFill>
              <a:srgbClr val="5B4E40"/>
            </a:solidFill>
            <a:prstDash val="solid"/>
          </a:ln>
        </p:spPr>
        <p:txBody>
          <a:bodyPr/>
          <a:lstStyle/>
          <a:p>
            <a:endParaRPr lang="en-US"/>
          </a:p>
        </p:txBody>
      </p:sp>
      <p:sp>
        <p:nvSpPr>
          <p:cNvPr id="19" name="Text 7"/>
          <p:cNvSpPr txBox="1"/>
          <p:nvPr/>
        </p:nvSpPr>
        <p:spPr>
          <a:xfrm>
            <a:off x="609600" y="565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08</a:t>
            </a:r>
            <a:endParaRPr lang="en-US" sz="825" dirty="0"/>
          </a:p>
        </p:txBody>
      </p:sp>
      <p:sp>
        <p:nvSpPr>
          <p:cNvPr id="20" name="Text 8"/>
          <p:cNvSpPr txBox="1"/>
          <p:nvPr/>
        </p:nvSpPr>
        <p:spPr>
          <a:xfrm>
            <a:off x="971550" y="5636200"/>
            <a:ext cx="4095750" cy="209550"/>
          </a:xfrm>
          <a:prstGeom prst="rect">
            <a:avLst/>
          </a:prstGeom>
          <a:noFill/>
          <a:ln/>
        </p:spPr>
        <p:txBody>
          <a:bodyPr wrap="square" lIns="0" tIns="0" rIns="0" bIns="0" rtlCol="0" anchor="t"/>
          <a:lstStyle/>
          <a:p>
            <a:pPr marL="0" indent="0">
              <a:buNone/>
            </a:pPr>
            <a:r>
              <a:rPr lang="en-US" sz="975" dirty="0">
                <a:solidFill>
                  <a:srgbClr val="F4EFE8"/>
                </a:solidFill>
              </a:rPr>
              <a:t>What we’re reading</a:t>
            </a:r>
            <a:endParaRPr lang="en-US" sz="975" dirty="0"/>
          </a:p>
        </p:txBody>
      </p:sp>
      <p:sp>
        <p:nvSpPr>
          <p:cNvPr id="21" name="Shape 6"/>
          <p:cNvSpPr/>
          <p:nvPr/>
        </p:nvSpPr>
        <p:spPr>
          <a:xfrm>
            <a:off x="609600" y="5830000"/>
            <a:ext cx="4476750" cy="0"/>
          </a:xfrm>
          <a:prstGeom prst="line">
            <a:avLst/>
          </a:prstGeom>
          <a:noFill/>
          <a:ln w="9525">
            <a:solidFill>
              <a:srgbClr val="5B4E40"/>
            </a:solidFill>
            <a:prstDash val="solid"/>
          </a:ln>
        </p:spPr>
        <p:txBody>
          <a:bodyPr/>
          <a:lstStyle/>
          <a:p>
            <a:endParaRPr lang="en-US"/>
          </a:p>
        </p:txBody>
      </p:sp>
      <p:sp>
        <p:nvSpPr>
          <p:cNvPr id="22" name="Text 7"/>
          <p:cNvSpPr txBox="1"/>
          <p:nvPr/>
        </p:nvSpPr>
        <p:spPr>
          <a:xfrm>
            <a:off x="609600" y="592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23" name="Text 8"/>
          <p:cNvSpPr txBox="1"/>
          <p:nvPr/>
        </p:nvSpPr>
        <p:spPr>
          <a:xfrm>
            <a:off x="971550" y="5906200"/>
            <a:ext cx="4095750" cy="209550"/>
          </a:xfrm>
          <a:prstGeom prst="rect">
            <a:avLst/>
          </a:prstGeom>
          <a:noFill/>
          <a:ln/>
        </p:spPr>
        <p:txBody>
          <a:bodyPr wrap="square" lIns="0" tIns="0" rIns="0" bIns="0" rtlCol="0" anchor="t"/>
          <a:lstStyle/>
          <a:p>
            <a:pPr marL="0" indent="0">
              <a:buNone/>
            </a:pPr>
            <a:r>
              <a:rPr lang="en-US" sz="975" dirty="0">
                <a:solidFill>
                  <a:srgbClr val="F4EFE8"/>
                </a:solidFill>
              </a:rPr>
              <a:t>Our view</a:t>
            </a:r>
            <a:endParaRPr lang="en-US" sz="975" dirty="0"/>
          </a:p>
        </p:txBody>
      </p:sp>
      <p:sp>
        <p:nvSpPr>
          <p:cNvPr id="24" name="Shape 6"/>
          <p:cNvSpPr/>
          <p:nvPr/>
        </p:nvSpPr>
        <p:spPr>
          <a:xfrm>
            <a:off x="609600" y="6100000"/>
            <a:ext cx="4476750" cy="0"/>
          </a:xfrm>
          <a:prstGeom prst="line">
            <a:avLst/>
          </a:prstGeom>
          <a:noFill/>
          <a:ln w="9525">
            <a:solidFill>
              <a:srgbClr val="5B4E40"/>
            </a:solidFill>
            <a:prstDash val="solid"/>
          </a:ln>
        </p:spPr>
        <p:txBody>
          <a:bodyPr/>
          <a:lstStyle/>
          <a:p>
            <a:endParaRPr lang="en-US"/>
          </a:p>
        </p:txBody>
      </p:sp>
      <p:sp>
        <p:nvSpPr>
          <p:cNvPr id="25" name="Text 7"/>
          <p:cNvSpPr txBox="1"/>
          <p:nvPr/>
        </p:nvSpPr>
        <p:spPr>
          <a:xfrm>
            <a:off x="609600" y="619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26" name="Text 8"/>
          <p:cNvSpPr txBox="1"/>
          <p:nvPr/>
        </p:nvSpPr>
        <p:spPr>
          <a:xfrm>
            <a:off x="971550" y="6176200"/>
            <a:ext cx="4095750" cy="209550"/>
          </a:xfrm>
          <a:prstGeom prst="rect">
            <a:avLst/>
          </a:prstGeom>
          <a:noFill/>
          <a:ln/>
        </p:spPr>
        <p:txBody>
          <a:bodyPr wrap="square" lIns="0" tIns="0" rIns="0" bIns="0" rtlCol="0" anchor="t"/>
          <a:lstStyle/>
          <a:p>
            <a:pPr marL="0" indent="0">
              <a:buNone/>
            </a:pPr>
            <a:r>
              <a:rPr lang="en-US" sz="975" dirty="0">
                <a:solidFill>
                  <a:srgbClr val="F4EFE8"/>
                </a:solidFill>
              </a:rPr>
              <a:t>Our view: segment outlook</a:t>
            </a:r>
            <a:endParaRPr lang="en-US" sz="975" dirty="0"/>
          </a:p>
        </p:txBody>
      </p:sp>
      <p:sp>
        <p:nvSpPr>
          <p:cNvPr id="27" name="Shape 6"/>
          <p:cNvSpPr/>
          <p:nvPr/>
        </p:nvSpPr>
        <p:spPr>
          <a:xfrm>
            <a:off x="609600" y="6370000"/>
            <a:ext cx="4476750" cy="0"/>
          </a:xfrm>
          <a:prstGeom prst="line">
            <a:avLst/>
          </a:prstGeom>
          <a:noFill/>
          <a:ln w="9525">
            <a:solidFill>
              <a:srgbClr val="5B4E40"/>
            </a:solidFill>
            <a:prstDash val="solid"/>
          </a:ln>
        </p:spPr>
        <p:txBody>
          <a:bodyPr/>
          <a:lstStyle/>
          <a:p>
            <a:endParaRPr lang="en-US"/>
          </a:p>
        </p:txBody>
      </p:sp>
      <p:sp>
        <p:nvSpPr>
          <p:cNvPr id="28" name="Text 7"/>
          <p:cNvSpPr txBox="1"/>
          <p:nvPr/>
        </p:nvSpPr>
        <p:spPr>
          <a:xfrm>
            <a:off x="609600" y="646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11</a:t>
            </a:r>
            <a:endParaRPr lang="en-US" sz="825" dirty="0"/>
          </a:p>
        </p:txBody>
      </p:sp>
      <p:sp>
        <p:nvSpPr>
          <p:cNvPr id="29" name="Text 8"/>
          <p:cNvSpPr txBox="1"/>
          <p:nvPr/>
        </p:nvSpPr>
        <p:spPr>
          <a:xfrm>
            <a:off x="971550" y="6446200"/>
            <a:ext cx="4095750" cy="209550"/>
          </a:xfrm>
          <a:prstGeom prst="rect">
            <a:avLst/>
          </a:prstGeom>
          <a:noFill/>
          <a:ln/>
        </p:spPr>
        <p:txBody>
          <a:bodyPr wrap="square" lIns="0" tIns="0" rIns="0" bIns="0" rtlCol="0" anchor="t"/>
          <a:lstStyle/>
          <a:p>
            <a:pPr marL="0" indent="0">
              <a:buNone/>
            </a:pPr>
            <a:r>
              <a:rPr lang="en-US" sz="975" dirty="0">
                <a:solidFill>
                  <a:srgbClr val="F4EFE8"/>
                </a:solidFill>
              </a:rPr>
              <a:t>Featured engagement: The Carmi Companies</a:t>
            </a:r>
            <a:endParaRPr lang="en-US" sz="975" dirty="0"/>
          </a:p>
        </p:txBody>
      </p:sp>
      <p:sp>
        <p:nvSpPr>
          <p:cNvPr id="30" name="Shape 6"/>
          <p:cNvSpPr/>
          <p:nvPr/>
        </p:nvSpPr>
        <p:spPr>
          <a:xfrm>
            <a:off x="609600" y="66400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spans the five segments, and buyers are acquiring through existing platforms. Higher financing costs in September reduced sponsors’ borrowing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descr="Technicians servicing industrial equipment"/>
          <p:cNvPicPr>
            <a:picLocks noChangeAspect="1"/>
          </p:cNvPicPr>
          <p:nvPr/>
        </p:nvPicPr>
        <p:blipFill>
          <a:blip r:embed="rId3"/>
          <a:srcRect l="17250" r="17250"/>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sponsor platforms are still buying machining, distribution, contracting, environmental, and logistics businesses for capabilities already in place.</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descr="Manufacturing icon"/>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Manufacturing capacity utilization was 75.9% in September, so the scarce inputs are skilled labor and certified capacity rather than floor space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descr="Layers icon"/>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 Q2 2026 (PitchBook)</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descr="Energy and power icon"/>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was extended only through December 11 under the continuing resolution signed in September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descr="Wrench icon"/>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descr="Percent icon"/>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 A sponsor that can borrow half a turn less bids less or moves more of the price into earn-outs; strategic buyers are affected less.</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dirty="0">
                <a:solidFill>
                  <a:srgbClr val="1B1A1A"/>
                </a:solidFill>
              </a:rPr>
              <a:t>Perspectives on Five Segments</a:t>
            </a:r>
          </a:p>
        </p:txBody>
      </p:sp>
      <p:sp>
        <p:nvSpPr>
          <p:cNvPr id="3" name="Text Placeholder 2"/>
          <p:cNvSpPr>
            <a:spLocks noGrp="1"/>
          </p:cNvSpPr>
          <p:nvPr>
            <p:ph type="body" idx="107"/>
          </p:nvPr>
        </p:nvSpPr>
        <p:spPr/>
        <p:txBody>
          <a:bodyPr/>
          <a:lstStyle/>
          <a:p>
            <a:r>
              <a:rPr lang="en-US" sz="938" b="0">
                <a:solidFill>
                  <a:srgbClr val="6F6A66"/>
                </a:solidFill>
              </a:rPr>
              <a:t>The five segments draw different buyers and respond to different drivers.</a:t>
            </a:r>
          </a:p>
        </p:txBody>
      </p:sp>
      <p:sp>
        <p:nvSpPr>
          <p:cNvPr id="4" name="Text Placeholder 3"/>
          <p:cNvSpPr>
            <a:spLocks noGrp="1"/>
          </p:cNvSpPr>
          <p:nvPr>
            <p:ph type="body" idx="108"/>
          </p:nvPr>
        </p:nvSpPr>
        <p:spPr/>
        <p:txBody>
          <a:bodyPr/>
          <a:lstStyle/>
          <a:p>
            <a:r>
              <a:rPr lang="en-US" sz="675" b="0">
                <a:solidFill>
                  <a:srgbClr val="6F6A66"/>
                </a:solidFill>
              </a:rPr>
              <a:t>Active buyers are drawn from the transactions on pages 13 to 15 and the sources on pages 5 and 7. Company names and logos are the property of their owners and are shown for identification.</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6</a:t>
            </a:fld>
            <a:endParaRPr lang="en-US"/>
          </a:p>
        </p:txBody>
      </p:sp>
      <p:sp>
        <p:nvSpPr>
          <p:cNvPr id="51" name="Manufacturing &amp; Industrial Tech card"/>
          <p:cNvSpPr/>
          <p:nvPr/>
        </p:nvSpPr>
        <p:spPr>
          <a:xfrm>
            <a:off x="419100" y="1238250"/>
            <a:ext cx="2997200" cy="2790825"/>
          </a:xfrm>
          <a:prstGeom prst="rect">
            <a:avLst/>
          </a:prstGeom>
          <a:solidFill>
            <a:srgbClr val="FFFFFF"/>
          </a:solidFill>
          <a:ln w="9525">
            <a:solidFill>
              <a:srgbClr val="E3DCD3"/>
            </a:solidFill>
          </a:ln>
        </p:spPr>
        <p:txBody>
          <a:bodyPr rtlCol="0" anchor="ctr"/>
          <a:lstStyle/>
          <a:p>
            <a:pPr algn="ctr"/>
            <a:endParaRPr/>
          </a:p>
        </p:txBody>
      </p:sp>
      <p:sp>
        <p:nvSpPr>
          <p:cNvPr id="52" name="Rectangle 51"/>
          <p:cNvSpPr/>
          <p:nvPr/>
        </p:nvSpPr>
        <p:spPr>
          <a:xfrm>
            <a:off x="419100" y="1238250"/>
            <a:ext cx="2997200" cy="330000"/>
          </a:xfrm>
          <a:prstGeom prst="rect">
            <a:avLst/>
          </a:prstGeom>
          <a:solidFill>
            <a:srgbClr val="1B1A1A"/>
          </a:solidFill>
          <a:ln>
            <a:noFill/>
          </a:ln>
        </p:spPr>
        <p:txBody>
          <a:bodyPr rtlCol="0" anchor="ctr"/>
          <a:lstStyle/>
          <a:p>
            <a:pPr algn="ctr"/>
            <a:endParaRPr/>
          </a:p>
        </p:txBody>
      </p:sp>
      <p:pic>
        <p:nvPicPr>
          <p:cNvPr id="53" name="Icon" descr="Manufacturing &amp; Industrial Tech"/>
          <p:cNvPicPr>
            <a:picLocks noChangeAspect="1"/>
          </p:cNvPicPr>
          <p:nvPr/>
        </p:nvPicPr>
        <p:blipFill>
          <a:blip r:embed="rId2"/>
          <a:stretch>
            <a:fillRect/>
          </a:stretch>
        </p:blipFill>
        <p:spPr>
          <a:xfrm>
            <a:off x="534100" y="1328250"/>
            <a:ext cx="150000" cy="150000"/>
          </a:xfrm>
          <a:prstGeom prst="rect">
            <a:avLst/>
          </a:prstGeom>
        </p:spPr>
      </p:pic>
      <p:sp>
        <p:nvSpPr>
          <p:cNvPr id="54" name="TextBox 53"/>
          <p:cNvSpPr txBox="1"/>
          <p:nvPr/>
        </p:nvSpPr>
        <p:spPr>
          <a:xfrm>
            <a:off x="749100" y="1358250"/>
            <a:ext cx="2597200" cy="120000"/>
          </a:xfrm>
          <a:prstGeom prst="rect">
            <a:avLst/>
          </a:prstGeom>
          <a:noFill/>
        </p:spPr>
        <p:txBody>
          <a:bodyPr wrap="square" lIns="0" tIns="0" rIns="0" bIns="0" anchor="t"/>
          <a:lstStyle/>
          <a:p>
            <a:pPr algn="l"/>
            <a:r>
              <a:rPr lang="en-US" sz="700" b="1" i="0" spc="100">
                <a:solidFill>
                  <a:srgbClr val="FFFFFF"/>
                </a:solidFill>
              </a:rPr>
              <a:t>MANUFACTURING &amp; INDUSTRIAL TECH</a:t>
            </a:r>
          </a:p>
        </p:txBody>
      </p:sp>
      <p:sp>
        <p:nvSpPr>
          <p:cNvPr id="55" name="TextBox 54"/>
          <p:cNvSpPr txBox="1"/>
          <p:nvPr/>
        </p:nvSpPr>
        <p:spPr>
          <a:xfrm>
            <a:off x="549100" y="1658250"/>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The segment earns the highest EBITDA margin of the five at 22.1% and trades at the highest multiple at 17.3x.</a:t>
            </a:r>
          </a:p>
        </p:txBody>
      </p:sp>
      <p:sp>
        <p:nvSpPr>
          <p:cNvPr id="56" name="TextBox 55"/>
          <p:cNvSpPr txBox="1"/>
          <p:nvPr/>
        </p:nvSpPr>
        <p:spPr>
          <a:xfrm>
            <a:off x="549100" y="2368250"/>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57" name="TextBox 56"/>
          <p:cNvSpPr txBox="1"/>
          <p:nvPr/>
        </p:nvSpPr>
        <p:spPr>
          <a:xfrm>
            <a:off x="549100" y="2538250"/>
            <a:ext cx="2737200" cy="420000"/>
          </a:xfrm>
          <a:prstGeom prst="rect">
            <a:avLst/>
          </a:prstGeom>
          <a:noFill/>
        </p:spPr>
        <p:txBody>
          <a:bodyPr wrap="square" lIns="0" tIns="0" rIns="0" bIns="0" anchor="t"/>
          <a:lstStyle/>
          <a:p>
            <a:pPr algn="l">
              <a:lnSpc>
                <a:spcPts val="1040"/>
              </a:lnSpc>
            </a:pPr>
            <a:r>
              <a:rPr lang="en-US" sz="750" b="0" i="0">
                <a:solidFill>
                  <a:srgbClr val="333231"/>
                </a:solidFill>
              </a:rPr>
              <a:t>nVent, Franklin Electric, Precinmac (Centerbridge Partners), DXP Enterprises, Cemtrex, and Assessimus Group.</a:t>
            </a:r>
          </a:p>
        </p:txBody>
      </p:sp>
      <p:sp>
        <p:nvSpPr>
          <p:cNvPr id="58" name="TextBox 57"/>
          <p:cNvSpPr txBox="1"/>
          <p:nvPr/>
        </p:nvSpPr>
        <p:spPr>
          <a:xfrm>
            <a:off x="549100" y="3028250"/>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59" name="Logo - Parker Hannifin" descr="Parker Hannifin logo"/>
          <p:cNvPicPr>
            <a:picLocks noChangeAspect="1"/>
          </p:cNvPicPr>
          <p:nvPr/>
        </p:nvPicPr>
        <p:blipFill>
          <a:blip r:embed="rId3"/>
          <a:stretch>
            <a:fillRect/>
          </a:stretch>
        </p:blipFill>
        <p:spPr>
          <a:xfrm>
            <a:off x="584100" y="3342513"/>
            <a:ext cx="614300" cy="126473"/>
          </a:xfrm>
          <a:prstGeom prst="rect">
            <a:avLst/>
          </a:prstGeom>
        </p:spPr>
      </p:pic>
      <p:pic>
        <p:nvPicPr>
          <p:cNvPr id="60" name="Logo - Rockwell Automation" descr="Rockwell Automation logo"/>
          <p:cNvPicPr>
            <a:picLocks noChangeAspect="1"/>
          </p:cNvPicPr>
          <p:nvPr/>
        </p:nvPicPr>
        <p:blipFill>
          <a:blip r:embed="rId4"/>
          <a:stretch>
            <a:fillRect/>
          </a:stretch>
        </p:blipFill>
        <p:spPr>
          <a:xfrm>
            <a:off x="1268400" y="3334815"/>
            <a:ext cx="614300" cy="141870"/>
          </a:xfrm>
          <a:prstGeom prst="rect">
            <a:avLst/>
          </a:prstGeom>
        </p:spPr>
      </p:pic>
      <p:pic>
        <p:nvPicPr>
          <p:cNvPr id="61" name="Logo - ITT" descr="ITT logo"/>
          <p:cNvPicPr>
            <a:picLocks noChangeAspect="1"/>
          </p:cNvPicPr>
          <p:nvPr/>
        </p:nvPicPr>
        <p:blipFill>
          <a:blip r:embed="rId5"/>
          <a:stretch>
            <a:fillRect/>
          </a:stretch>
        </p:blipFill>
        <p:spPr>
          <a:xfrm>
            <a:off x="2078242" y="3313250"/>
            <a:ext cx="363216" cy="185000"/>
          </a:xfrm>
          <a:prstGeom prst="rect">
            <a:avLst/>
          </a:prstGeom>
        </p:spPr>
      </p:pic>
      <p:pic>
        <p:nvPicPr>
          <p:cNvPr id="62" name="Logo - Flowserve" descr="Flowserve logo"/>
          <p:cNvPicPr>
            <a:picLocks noChangeAspect="1"/>
          </p:cNvPicPr>
          <p:nvPr/>
        </p:nvPicPr>
        <p:blipFill>
          <a:blip r:embed="rId6"/>
          <a:stretch>
            <a:fillRect/>
          </a:stretch>
        </p:blipFill>
        <p:spPr>
          <a:xfrm>
            <a:off x="2692550" y="3313250"/>
            <a:ext cx="503199" cy="185000"/>
          </a:xfrm>
          <a:prstGeom prst="rect">
            <a:avLst/>
          </a:prstGeom>
        </p:spPr>
      </p:pic>
      <p:pic>
        <p:nvPicPr>
          <p:cNvPr id="63" name="Logo - Franklin Electric" descr="Franklin Electric logo"/>
          <p:cNvPicPr>
            <a:picLocks noChangeAspect="1"/>
          </p:cNvPicPr>
          <p:nvPr/>
        </p:nvPicPr>
        <p:blipFill>
          <a:blip r:embed="rId7"/>
          <a:stretch>
            <a:fillRect/>
          </a:stretch>
        </p:blipFill>
        <p:spPr>
          <a:xfrm>
            <a:off x="584100" y="3587869"/>
            <a:ext cx="614300" cy="125762"/>
          </a:xfrm>
          <a:prstGeom prst="rect">
            <a:avLst/>
          </a:prstGeom>
        </p:spPr>
      </p:pic>
      <p:pic>
        <p:nvPicPr>
          <p:cNvPr id="64" name="Logo - Graco" descr="Graco logo"/>
          <p:cNvPicPr>
            <a:picLocks noChangeAspect="1"/>
          </p:cNvPicPr>
          <p:nvPr/>
        </p:nvPicPr>
        <p:blipFill>
          <a:blip r:embed="rId8"/>
          <a:stretch>
            <a:fillRect/>
          </a:stretch>
        </p:blipFill>
        <p:spPr>
          <a:xfrm>
            <a:off x="1268400" y="3604421"/>
            <a:ext cx="614300" cy="92657"/>
          </a:xfrm>
          <a:prstGeom prst="rect">
            <a:avLst/>
          </a:prstGeom>
        </p:spPr>
      </p:pic>
      <p:pic>
        <p:nvPicPr>
          <p:cNvPr id="65" name="Logo - Lincoln Electric" descr="Lincoln Electric logo"/>
          <p:cNvPicPr>
            <a:picLocks noChangeAspect="1"/>
          </p:cNvPicPr>
          <p:nvPr/>
        </p:nvPicPr>
        <p:blipFill>
          <a:blip r:embed="rId9"/>
          <a:stretch>
            <a:fillRect/>
          </a:stretch>
        </p:blipFill>
        <p:spPr>
          <a:xfrm>
            <a:off x="1979547" y="3558250"/>
            <a:ext cx="560606" cy="185000"/>
          </a:xfrm>
          <a:prstGeom prst="rect">
            <a:avLst/>
          </a:prstGeom>
        </p:spPr>
      </p:pic>
      <p:pic>
        <p:nvPicPr>
          <p:cNvPr id="66" name="Logo - Mueller Industries" descr="Mueller Industries logo"/>
          <p:cNvPicPr>
            <a:picLocks noChangeAspect="1"/>
          </p:cNvPicPr>
          <p:nvPr/>
        </p:nvPicPr>
        <p:blipFill>
          <a:blip r:embed="rId10"/>
          <a:stretch>
            <a:fillRect/>
          </a:stretch>
        </p:blipFill>
        <p:spPr>
          <a:xfrm>
            <a:off x="2637000" y="3571791"/>
            <a:ext cx="614300" cy="157917"/>
          </a:xfrm>
          <a:prstGeom prst="rect">
            <a:avLst/>
          </a:prstGeom>
        </p:spPr>
      </p:pic>
      <p:sp>
        <p:nvSpPr>
          <p:cNvPr id="67" name="Distribution &amp; Services card"/>
          <p:cNvSpPr/>
          <p:nvPr/>
        </p:nvSpPr>
        <p:spPr>
          <a:xfrm>
            <a:off x="3530600" y="1238250"/>
            <a:ext cx="2997200" cy="2790825"/>
          </a:xfrm>
          <a:prstGeom prst="rect">
            <a:avLst/>
          </a:prstGeom>
          <a:solidFill>
            <a:srgbClr val="FFFFFF"/>
          </a:solidFill>
          <a:ln w="9525">
            <a:solidFill>
              <a:srgbClr val="E3DCD3"/>
            </a:solidFill>
          </a:ln>
        </p:spPr>
        <p:txBody>
          <a:bodyPr rtlCol="0" anchor="ctr"/>
          <a:lstStyle/>
          <a:p>
            <a:pPr algn="ctr"/>
            <a:endParaRPr/>
          </a:p>
        </p:txBody>
      </p:sp>
      <p:sp>
        <p:nvSpPr>
          <p:cNvPr id="68" name="Rectangle 67"/>
          <p:cNvSpPr/>
          <p:nvPr/>
        </p:nvSpPr>
        <p:spPr>
          <a:xfrm>
            <a:off x="3530600" y="1238250"/>
            <a:ext cx="2997200" cy="330000"/>
          </a:xfrm>
          <a:prstGeom prst="rect">
            <a:avLst/>
          </a:prstGeom>
          <a:solidFill>
            <a:srgbClr val="1B1A1A"/>
          </a:solidFill>
          <a:ln>
            <a:noFill/>
          </a:ln>
        </p:spPr>
        <p:txBody>
          <a:bodyPr rtlCol="0" anchor="ctr"/>
          <a:lstStyle/>
          <a:p>
            <a:pPr algn="ctr"/>
            <a:endParaRPr/>
          </a:p>
        </p:txBody>
      </p:sp>
      <p:pic>
        <p:nvPicPr>
          <p:cNvPr id="69" name="Icon" descr="Distribution &amp; Services"/>
          <p:cNvPicPr>
            <a:picLocks noChangeAspect="1"/>
          </p:cNvPicPr>
          <p:nvPr/>
        </p:nvPicPr>
        <p:blipFill>
          <a:blip r:embed="rId11"/>
          <a:stretch>
            <a:fillRect/>
          </a:stretch>
        </p:blipFill>
        <p:spPr>
          <a:xfrm>
            <a:off x="3645600" y="1328250"/>
            <a:ext cx="150000" cy="150000"/>
          </a:xfrm>
          <a:prstGeom prst="rect">
            <a:avLst/>
          </a:prstGeom>
        </p:spPr>
      </p:pic>
      <p:sp>
        <p:nvSpPr>
          <p:cNvPr id="70" name="TextBox 69"/>
          <p:cNvSpPr txBox="1"/>
          <p:nvPr/>
        </p:nvSpPr>
        <p:spPr>
          <a:xfrm>
            <a:off x="3860600" y="1358250"/>
            <a:ext cx="2597200" cy="120000"/>
          </a:xfrm>
          <a:prstGeom prst="rect">
            <a:avLst/>
          </a:prstGeom>
          <a:noFill/>
        </p:spPr>
        <p:txBody>
          <a:bodyPr wrap="square" lIns="0" tIns="0" rIns="0" bIns="0" anchor="t"/>
          <a:lstStyle/>
          <a:p>
            <a:pPr algn="l"/>
            <a:r>
              <a:rPr lang="en-US" sz="700" b="1" i="0" spc="100">
                <a:solidFill>
                  <a:srgbClr val="FFFFFF"/>
                </a:solidFill>
              </a:rPr>
              <a:t>INDUSTRIAL DISTRIBUTION &amp; SERVICES</a:t>
            </a:r>
          </a:p>
        </p:txBody>
      </p:sp>
      <p:sp>
        <p:nvSpPr>
          <p:cNvPr id="71" name="TextBox 70"/>
          <p:cNvSpPr txBox="1"/>
          <p:nvPr/>
        </p:nvSpPr>
        <p:spPr>
          <a:xfrm>
            <a:off x="3660600" y="1658250"/>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Distributors now trade at 17.0x EBITDA against 13.1x at year-end 2025, and shares of the eight listed distributors rose over the year.</a:t>
            </a:r>
          </a:p>
        </p:txBody>
      </p:sp>
      <p:sp>
        <p:nvSpPr>
          <p:cNvPr id="72" name="TextBox 71"/>
          <p:cNvSpPr txBox="1"/>
          <p:nvPr/>
        </p:nvSpPr>
        <p:spPr>
          <a:xfrm>
            <a:off x="3660600" y="2368250"/>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73" name="TextBox 72"/>
          <p:cNvSpPr txBox="1"/>
          <p:nvPr/>
        </p:nvSpPr>
        <p:spPr>
          <a:xfrm>
            <a:off x="3660600" y="2538250"/>
            <a:ext cx="2737200" cy="420000"/>
          </a:xfrm>
          <a:prstGeom prst="rect">
            <a:avLst/>
          </a:prstGeom>
          <a:noFill/>
        </p:spPr>
        <p:txBody>
          <a:bodyPr wrap="square" lIns="0" tIns="0" rIns="0" bIns="0" anchor="t"/>
          <a:lstStyle/>
          <a:p>
            <a:pPr algn="l">
              <a:lnSpc>
                <a:spcPts val="1040"/>
              </a:lnSpc>
            </a:pPr>
            <a:r>
              <a:rPr lang="en-US" sz="750" b="0" i="0">
                <a:solidFill>
                  <a:srgbClr val="333231"/>
                </a:solidFill>
              </a:rPr>
              <a:t>Ferguson, Meritus Gas Partners (AEA Investors), Cintas, TIPCO Technologies, and Aecon Group.</a:t>
            </a:r>
          </a:p>
        </p:txBody>
      </p:sp>
      <p:sp>
        <p:nvSpPr>
          <p:cNvPr id="74" name="TextBox 73"/>
          <p:cNvSpPr txBox="1"/>
          <p:nvPr/>
        </p:nvSpPr>
        <p:spPr>
          <a:xfrm>
            <a:off x="3660600" y="3028250"/>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75" name="Logo - Fastenal" descr="Fastenal logo"/>
          <p:cNvPicPr>
            <a:picLocks noChangeAspect="1"/>
          </p:cNvPicPr>
          <p:nvPr/>
        </p:nvPicPr>
        <p:blipFill>
          <a:blip r:embed="rId12"/>
          <a:stretch>
            <a:fillRect/>
          </a:stretch>
        </p:blipFill>
        <p:spPr>
          <a:xfrm>
            <a:off x="3695600" y="3343236"/>
            <a:ext cx="614300" cy="125027"/>
          </a:xfrm>
          <a:prstGeom prst="rect">
            <a:avLst/>
          </a:prstGeom>
        </p:spPr>
      </p:pic>
      <p:pic>
        <p:nvPicPr>
          <p:cNvPr id="76" name="Logo - W.W. Grainger" descr="W.W. Grainger logo"/>
          <p:cNvPicPr>
            <a:picLocks noChangeAspect="1"/>
          </p:cNvPicPr>
          <p:nvPr/>
        </p:nvPicPr>
        <p:blipFill>
          <a:blip r:embed="rId13"/>
          <a:stretch>
            <a:fillRect/>
          </a:stretch>
        </p:blipFill>
        <p:spPr>
          <a:xfrm>
            <a:off x="4379900" y="3335557"/>
            <a:ext cx="614300" cy="140385"/>
          </a:xfrm>
          <a:prstGeom prst="rect">
            <a:avLst/>
          </a:prstGeom>
        </p:spPr>
      </p:pic>
      <p:pic>
        <p:nvPicPr>
          <p:cNvPr id="77" name="Logo - Applied Industrial" descr="Applied Industrial logo"/>
          <p:cNvPicPr>
            <a:picLocks noChangeAspect="1"/>
          </p:cNvPicPr>
          <p:nvPr/>
        </p:nvPicPr>
        <p:blipFill>
          <a:blip r:embed="rId14"/>
          <a:stretch>
            <a:fillRect/>
          </a:stretch>
        </p:blipFill>
        <p:spPr>
          <a:xfrm>
            <a:off x="5064200" y="3331354"/>
            <a:ext cx="614300" cy="148792"/>
          </a:xfrm>
          <a:prstGeom prst="rect">
            <a:avLst/>
          </a:prstGeom>
        </p:spPr>
      </p:pic>
      <p:pic>
        <p:nvPicPr>
          <p:cNvPr id="78" name="Logo - MSC Industrial" descr="MSC Industrial logo"/>
          <p:cNvPicPr>
            <a:picLocks noChangeAspect="1"/>
          </p:cNvPicPr>
          <p:nvPr/>
        </p:nvPicPr>
        <p:blipFill>
          <a:blip r:embed="rId15"/>
          <a:stretch>
            <a:fillRect/>
          </a:stretch>
        </p:blipFill>
        <p:spPr>
          <a:xfrm>
            <a:off x="5748500" y="3321497"/>
            <a:ext cx="614300" cy="168505"/>
          </a:xfrm>
          <a:prstGeom prst="rect">
            <a:avLst/>
          </a:prstGeom>
        </p:spPr>
      </p:pic>
      <p:pic>
        <p:nvPicPr>
          <p:cNvPr id="79" name="Logo - DXP Enterprises" descr="DXP Enterprises logo"/>
          <p:cNvPicPr>
            <a:picLocks noChangeAspect="1"/>
          </p:cNvPicPr>
          <p:nvPr/>
        </p:nvPicPr>
        <p:blipFill>
          <a:blip r:embed="rId16"/>
          <a:stretch>
            <a:fillRect/>
          </a:stretch>
        </p:blipFill>
        <p:spPr>
          <a:xfrm>
            <a:off x="3695600" y="3593087"/>
            <a:ext cx="614300" cy="115325"/>
          </a:xfrm>
          <a:prstGeom prst="rect">
            <a:avLst/>
          </a:prstGeom>
        </p:spPr>
      </p:pic>
      <p:pic>
        <p:nvPicPr>
          <p:cNvPr id="80" name="Logo - Distribution Solutions" descr="Distribution Solutions logo"/>
          <p:cNvPicPr>
            <a:picLocks noChangeAspect="1"/>
          </p:cNvPicPr>
          <p:nvPr/>
        </p:nvPicPr>
        <p:blipFill>
          <a:blip r:embed="rId17"/>
          <a:stretch>
            <a:fillRect/>
          </a:stretch>
        </p:blipFill>
        <p:spPr>
          <a:xfrm>
            <a:off x="4379900" y="3610774"/>
            <a:ext cx="614300" cy="79952"/>
          </a:xfrm>
          <a:prstGeom prst="rect">
            <a:avLst/>
          </a:prstGeom>
        </p:spPr>
      </p:pic>
      <p:pic>
        <p:nvPicPr>
          <p:cNvPr id="81" name="Logo - WESCO" descr="WESCO logo"/>
          <p:cNvPicPr>
            <a:picLocks noChangeAspect="1"/>
          </p:cNvPicPr>
          <p:nvPr/>
        </p:nvPicPr>
        <p:blipFill>
          <a:blip r:embed="rId18"/>
          <a:stretch>
            <a:fillRect/>
          </a:stretch>
        </p:blipFill>
        <p:spPr>
          <a:xfrm>
            <a:off x="5250335" y="3558250"/>
            <a:ext cx="242030" cy="185000"/>
          </a:xfrm>
          <a:prstGeom prst="rect">
            <a:avLst/>
          </a:prstGeom>
        </p:spPr>
      </p:pic>
      <p:pic>
        <p:nvPicPr>
          <p:cNvPr id="82" name="Logo - Global Industrial" descr="Global Industrial logo"/>
          <p:cNvPicPr>
            <a:picLocks noChangeAspect="1"/>
          </p:cNvPicPr>
          <p:nvPr/>
        </p:nvPicPr>
        <p:blipFill>
          <a:blip r:embed="rId19"/>
          <a:stretch>
            <a:fillRect/>
          </a:stretch>
        </p:blipFill>
        <p:spPr>
          <a:xfrm>
            <a:off x="5748500" y="3596579"/>
            <a:ext cx="614300" cy="108342"/>
          </a:xfrm>
          <a:prstGeom prst="rect">
            <a:avLst/>
          </a:prstGeom>
        </p:spPr>
      </p:pic>
      <p:sp>
        <p:nvSpPr>
          <p:cNvPr id="83" name="Building &amp; Construction card"/>
          <p:cNvSpPr/>
          <p:nvPr/>
        </p:nvSpPr>
        <p:spPr>
          <a:xfrm>
            <a:off x="6642100" y="1238250"/>
            <a:ext cx="2997200" cy="2790825"/>
          </a:xfrm>
          <a:prstGeom prst="rect">
            <a:avLst/>
          </a:prstGeom>
          <a:solidFill>
            <a:srgbClr val="FFFFFF"/>
          </a:solidFill>
          <a:ln w="9525">
            <a:solidFill>
              <a:srgbClr val="E3DCD3"/>
            </a:solidFill>
          </a:ln>
        </p:spPr>
        <p:txBody>
          <a:bodyPr rtlCol="0" anchor="ctr"/>
          <a:lstStyle/>
          <a:p>
            <a:pPr algn="ctr"/>
            <a:endParaRPr/>
          </a:p>
        </p:txBody>
      </p:sp>
      <p:sp>
        <p:nvSpPr>
          <p:cNvPr id="84" name="Rectangle 83"/>
          <p:cNvSpPr/>
          <p:nvPr/>
        </p:nvSpPr>
        <p:spPr>
          <a:xfrm>
            <a:off x="6642100" y="1238250"/>
            <a:ext cx="2997200" cy="330000"/>
          </a:xfrm>
          <a:prstGeom prst="rect">
            <a:avLst/>
          </a:prstGeom>
          <a:solidFill>
            <a:srgbClr val="1B1A1A"/>
          </a:solidFill>
          <a:ln>
            <a:noFill/>
          </a:ln>
        </p:spPr>
        <p:txBody>
          <a:bodyPr rtlCol="0" anchor="ctr"/>
          <a:lstStyle/>
          <a:p>
            <a:pPr algn="ctr"/>
            <a:endParaRPr/>
          </a:p>
        </p:txBody>
      </p:sp>
      <p:pic>
        <p:nvPicPr>
          <p:cNvPr id="85" name="Icon" descr="Building &amp; Construction"/>
          <p:cNvPicPr>
            <a:picLocks noChangeAspect="1"/>
          </p:cNvPicPr>
          <p:nvPr/>
        </p:nvPicPr>
        <p:blipFill>
          <a:blip r:embed="rId20"/>
          <a:stretch>
            <a:fillRect/>
          </a:stretch>
        </p:blipFill>
        <p:spPr>
          <a:xfrm>
            <a:off x="6757100" y="1328250"/>
            <a:ext cx="150000" cy="150000"/>
          </a:xfrm>
          <a:prstGeom prst="rect">
            <a:avLst/>
          </a:prstGeom>
        </p:spPr>
      </p:pic>
      <p:sp>
        <p:nvSpPr>
          <p:cNvPr id="86" name="TextBox 85"/>
          <p:cNvSpPr txBox="1"/>
          <p:nvPr/>
        </p:nvSpPr>
        <p:spPr>
          <a:xfrm>
            <a:off x="6972100" y="1358250"/>
            <a:ext cx="2597200" cy="120000"/>
          </a:xfrm>
          <a:prstGeom prst="rect">
            <a:avLst/>
          </a:prstGeom>
          <a:noFill/>
        </p:spPr>
        <p:txBody>
          <a:bodyPr wrap="square" lIns="0" tIns="0" rIns="0" bIns="0" anchor="t"/>
          <a:lstStyle/>
          <a:p>
            <a:pPr algn="l"/>
            <a:r>
              <a:rPr lang="en-US" sz="700" b="1" i="0" spc="100">
                <a:solidFill>
                  <a:srgbClr val="FFFFFF"/>
                </a:solidFill>
              </a:rPr>
              <a:t>BUILDING PRODUCTS &amp; CONSTRUCTION</a:t>
            </a:r>
          </a:p>
        </p:txBody>
      </p:sp>
      <p:sp>
        <p:nvSpPr>
          <p:cNvPr id="87" name="TextBox 86"/>
          <p:cNvSpPr txBox="1"/>
          <p:nvPr/>
        </p:nvSpPr>
        <p:spPr>
          <a:xfrm>
            <a:off x="6772100" y="1658250"/>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Listed contractors grew revenue 21.8% and EBITDA 28%, and Benchmark closed 45 transactions here, the most among the five segments.</a:t>
            </a:r>
          </a:p>
        </p:txBody>
      </p:sp>
      <p:sp>
        <p:nvSpPr>
          <p:cNvPr id="88" name="TextBox 87"/>
          <p:cNvSpPr txBox="1"/>
          <p:nvPr/>
        </p:nvSpPr>
        <p:spPr>
          <a:xfrm>
            <a:off x="6772100" y="2368250"/>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89" name="TextBox 88"/>
          <p:cNvSpPr txBox="1"/>
          <p:nvPr/>
        </p:nvSpPr>
        <p:spPr>
          <a:xfrm>
            <a:off x="6772100" y="2538250"/>
            <a:ext cx="2737200" cy="420000"/>
          </a:xfrm>
          <a:prstGeom prst="rect">
            <a:avLst/>
          </a:prstGeom>
          <a:noFill/>
        </p:spPr>
        <p:txBody>
          <a:bodyPr wrap="square" lIns="0" tIns="0" rIns="0" bIns="0" anchor="t"/>
          <a:lstStyle/>
          <a:p>
            <a:pPr algn="l">
              <a:lnSpc>
                <a:spcPts val="1040"/>
              </a:lnSpc>
            </a:pPr>
            <a:r>
              <a:rPr lang="en-US" sz="750" b="0" i="0">
                <a:solidFill>
                  <a:srgbClr val="333231"/>
                </a:solidFill>
              </a:rPr>
              <a:t>Limbach, Bay Crane, Harris Company, Phenna Group, and Capital Extension Crane &amp; Lift.</a:t>
            </a:r>
          </a:p>
        </p:txBody>
      </p:sp>
      <p:sp>
        <p:nvSpPr>
          <p:cNvPr id="90" name="TextBox 89"/>
          <p:cNvSpPr txBox="1"/>
          <p:nvPr/>
        </p:nvSpPr>
        <p:spPr>
          <a:xfrm>
            <a:off x="6772100" y="3028250"/>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91" name="Logo - Comfort Systems USA" descr="Comfort Systems USA logo"/>
          <p:cNvPicPr>
            <a:picLocks noChangeAspect="1"/>
          </p:cNvPicPr>
          <p:nvPr/>
        </p:nvPicPr>
        <p:blipFill>
          <a:blip r:embed="rId21"/>
          <a:stretch>
            <a:fillRect/>
          </a:stretch>
        </p:blipFill>
        <p:spPr>
          <a:xfrm>
            <a:off x="6807100" y="3350428"/>
            <a:ext cx="614300" cy="110644"/>
          </a:xfrm>
          <a:prstGeom prst="rect">
            <a:avLst/>
          </a:prstGeom>
        </p:spPr>
      </p:pic>
      <p:pic>
        <p:nvPicPr>
          <p:cNvPr id="92" name="Logo - EMCOR" descr="EMCOR logo"/>
          <p:cNvPicPr>
            <a:picLocks noChangeAspect="1"/>
          </p:cNvPicPr>
          <p:nvPr/>
        </p:nvPicPr>
        <p:blipFill>
          <a:blip r:embed="rId22"/>
          <a:stretch>
            <a:fillRect/>
          </a:stretch>
        </p:blipFill>
        <p:spPr>
          <a:xfrm>
            <a:off x="7491400" y="3334978"/>
            <a:ext cx="614300" cy="141543"/>
          </a:xfrm>
          <a:prstGeom prst="rect">
            <a:avLst/>
          </a:prstGeom>
        </p:spPr>
      </p:pic>
      <p:pic>
        <p:nvPicPr>
          <p:cNvPr id="93" name="Logo - IES Holdings" descr="IES Holdings logo"/>
          <p:cNvPicPr>
            <a:picLocks noChangeAspect="1"/>
          </p:cNvPicPr>
          <p:nvPr/>
        </p:nvPicPr>
        <p:blipFill>
          <a:blip r:embed="rId23"/>
          <a:stretch>
            <a:fillRect/>
          </a:stretch>
        </p:blipFill>
        <p:spPr>
          <a:xfrm>
            <a:off x="8315907" y="3313250"/>
            <a:ext cx="333886" cy="185000"/>
          </a:xfrm>
          <a:prstGeom prst="rect">
            <a:avLst/>
          </a:prstGeom>
        </p:spPr>
      </p:pic>
      <p:pic>
        <p:nvPicPr>
          <p:cNvPr id="94" name="Logo - Limbach" descr="Limbach logo"/>
          <p:cNvPicPr>
            <a:picLocks noChangeAspect="1"/>
          </p:cNvPicPr>
          <p:nvPr/>
        </p:nvPicPr>
        <p:blipFill>
          <a:blip r:embed="rId24"/>
          <a:stretch>
            <a:fillRect/>
          </a:stretch>
        </p:blipFill>
        <p:spPr>
          <a:xfrm>
            <a:off x="8860000" y="3348339"/>
            <a:ext cx="614300" cy="114822"/>
          </a:xfrm>
          <a:prstGeom prst="rect">
            <a:avLst/>
          </a:prstGeom>
        </p:spPr>
      </p:pic>
      <p:pic>
        <p:nvPicPr>
          <p:cNvPr id="95" name="Logo - Granite Construction" descr="Granite Construction logo"/>
          <p:cNvPicPr>
            <a:picLocks noChangeAspect="1"/>
          </p:cNvPicPr>
          <p:nvPr/>
        </p:nvPicPr>
        <p:blipFill>
          <a:blip r:embed="rId25"/>
          <a:stretch>
            <a:fillRect/>
          </a:stretch>
        </p:blipFill>
        <p:spPr>
          <a:xfrm>
            <a:off x="6807100" y="3603998"/>
            <a:ext cx="614300" cy="93504"/>
          </a:xfrm>
          <a:prstGeom prst="rect">
            <a:avLst/>
          </a:prstGeom>
        </p:spPr>
      </p:pic>
      <p:pic>
        <p:nvPicPr>
          <p:cNvPr id="96" name="Logo - Construction Partners" descr="Construction Partners logo"/>
          <p:cNvPicPr>
            <a:picLocks noChangeAspect="1"/>
          </p:cNvPicPr>
          <p:nvPr/>
        </p:nvPicPr>
        <p:blipFill>
          <a:blip r:embed="rId26"/>
          <a:stretch>
            <a:fillRect/>
          </a:stretch>
        </p:blipFill>
        <p:spPr>
          <a:xfrm>
            <a:off x="7491400" y="3632897"/>
            <a:ext cx="614300" cy="35706"/>
          </a:xfrm>
          <a:prstGeom prst="rect">
            <a:avLst/>
          </a:prstGeom>
        </p:spPr>
      </p:pic>
      <p:pic>
        <p:nvPicPr>
          <p:cNvPr id="97" name="Logo - Builders FirstSource" descr="Builders FirstSource logo"/>
          <p:cNvPicPr>
            <a:picLocks noChangeAspect="1"/>
          </p:cNvPicPr>
          <p:nvPr/>
        </p:nvPicPr>
        <p:blipFill>
          <a:blip r:embed="rId27"/>
          <a:stretch>
            <a:fillRect/>
          </a:stretch>
        </p:blipFill>
        <p:spPr>
          <a:xfrm>
            <a:off x="8175700" y="3574048"/>
            <a:ext cx="614300" cy="153404"/>
          </a:xfrm>
          <a:prstGeom prst="rect">
            <a:avLst/>
          </a:prstGeom>
        </p:spPr>
      </p:pic>
      <p:pic>
        <p:nvPicPr>
          <p:cNvPr id="98" name="Logo - Watsco" descr="Watsco logo"/>
          <p:cNvPicPr>
            <a:picLocks noChangeAspect="1"/>
          </p:cNvPicPr>
          <p:nvPr/>
        </p:nvPicPr>
        <p:blipFill>
          <a:blip r:embed="rId28"/>
          <a:stretch>
            <a:fillRect/>
          </a:stretch>
        </p:blipFill>
        <p:spPr>
          <a:xfrm>
            <a:off x="8860000" y="3593624"/>
            <a:ext cx="614300" cy="114251"/>
          </a:xfrm>
          <a:prstGeom prst="rect">
            <a:avLst/>
          </a:prstGeom>
        </p:spPr>
      </p:pic>
      <p:sp>
        <p:nvSpPr>
          <p:cNvPr id="99" name="TextBox 98"/>
          <p:cNvSpPr txBox="1"/>
          <p:nvPr/>
        </p:nvSpPr>
        <p:spPr>
          <a:xfrm>
            <a:off x="6772100" y="3798250"/>
            <a:ext cx="2737200" cy="230000"/>
          </a:xfrm>
          <a:prstGeom prst="rect">
            <a:avLst/>
          </a:prstGeom>
          <a:noFill/>
        </p:spPr>
        <p:txBody>
          <a:bodyPr wrap="square" lIns="0" tIns="0" rIns="0" bIns="0" anchor="t"/>
          <a:lstStyle/>
          <a:p>
            <a:pPr algn="l">
              <a:lnSpc>
                <a:spcPts val="900"/>
              </a:lnSpc>
            </a:pPr>
            <a:r>
              <a:rPr lang="en-US" sz="675" b="0" i="0">
                <a:solidFill>
                  <a:srgbClr val="6F6A66"/>
                </a:solidFill>
              </a:rPr>
              <a:t>Also: APi Group.</a:t>
            </a:r>
          </a:p>
        </p:txBody>
      </p:sp>
      <p:sp>
        <p:nvSpPr>
          <p:cNvPr id="100" name="Energy, Power &amp; Environmental card"/>
          <p:cNvSpPr/>
          <p:nvPr/>
        </p:nvSpPr>
        <p:spPr>
          <a:xfrm>
            <a:off x="419100" y="4143375"/>
            <a:ext cx="2997200" cy="2790825"/>
          </a:xfrm>
          <a:prstGeom prst="rect">
            <a:avLst/>
          </a:prstGeom>
          <a:solidFill>
            <a:srgbClr val="FFFFFF"/>
          </a:solidFill>
          <a:ln w="9525">
            <a:solidFill>
              <a:srgbClr val="E3DCD3"/>
            </a:solidFill>
          </a:ln>
        </p:spPr>
        <p:txBody>
          <a:bodyPr rtlCol="0" anchor="ctr"/>
          <a:lstStyle/>
          <a:p>
            <a:pPr algn="ctr"/>
            <a:endParaRPr/>
          </a:p>
        </p:txBody>
      </p:sp>
      <p:sp>
        <p:nvSpPr>
          <p:cNvPr id="101" name="Rectangle 100"/>
          <p:cNvSpPr/>
          <p:nvPr/>
        </p:nvSpPr>
        <p:spPr>
          <a:xfrm>
            <a:off x="419100" y="4143375"/>
            <a:ext cx="2997200" cy="330000"/>
          </a:xfrm>
          <a:prstGeom prst="rect">
            <a:avLst/>
          </a:prstGeom>
          <a:solidFill>
            <a:srgbClr val="1B1A1A"/>
          </a:solidFill>
          <a:ln>
            <a:noFill/>
          </a:ln>
        </p:spPr>
        <p:txBody>
          <a:bodyPr rtlCol="0" anchor="ctr"/>
          <a:lstStyle/>
          <a:p>
            <a:pPr algn="ctr"/>
            <a:endParaRPr/>
          </a:p>
        </p:txBody>
      </p:sp>
      <p:pic>
        <p:nvPicPr>
          <p:cNvPr id="102" name="Icon" descr="Energy, Power &amp; Environmental"/>
          <p:cNvPicPr>
            <a:picLocks noChangeAspect="1"/>
          </p:cNvPicPr>
          <p:nvPr/>
        </p:nvPicPr>
        <p:blipFill>
          <a:blip r:embed="rId29"/>
          <a:stretch>
            <a:fillRect/>
          </a:stretch>
        </p:blipFill>
        <p:spPr>
          <a:xfrm>
            <a:off x="534100" y="4233375"/>
            <a:ext cx="150000" cy="150000"/>
          </a:xfrm>
          <a:prstGeom prst="rect">
            <a:avLst/>
          </a:prstGeom>
        </p:spPr>
      </p:pic>
      <p:sp>
        <p:nvSpPr>
          <p:cNvPr id="103" name="TextBox 102"/>
          <p:cNvSpPr txBox="1"/>
          <p:nvPr/>
        </p:nvSpPr>
        <p:spPr>
          <a:xfrm>
            <a:off x="749100" y="4263375"/>
            <a:ext cx="2597200" cy="120000"/>
          </a:xfrm>
          <a:prstGeom prst="rect">
            <a:avLst/>
          </a:prstGeom>
          <a:noFill/>
        </p:spPr>
        <p:txBody>
          <a:bodyPr wrap="square" lIns="0" tIns="0" rIns="0" bIns="0" anchor="t"/>
          <a:lstStyle/>
          <a:p>
            <a:pPr algn="l"/>
            <a:r>
              <a:rPr lang="en-US" sz="700" b="1" i="0" spc="100">
                <a:solidFill>
                  <a:srgbClr val="FFFFFF"/>
                </a:solidFill>
              </a:rPr>
              <a:t>ENERGY, POWER &amp; ENVIRONMENTAL</a:t>
            </a:r>
          </a:p>
        </p:txBody>
      </p:sp>
      <p:sp>
        <p:nvSpPr>
          <p:cNvPr id="104" name="TextBox 103"/>
          <p:cNvSpPr txBox="1"/>
          <p:nvPr/>
        </p:nvSpPr>
        <p:spPr>
          <a:xfrm>
            <a:off x="549100" y="4563375"/>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The segment carries the heaviest leverage at 2.5x net debt to EBITDA and the lowest free cash flow conversion at 44.7%, while EBITDA grew 21.2%.</a:t>
            </a:r>
          </a:p>
        </p:txBody>
      </p:sp>
      <p:sp>
        <p:nvSpPr>
          <p:cNvPr id="105" name="TextBox 104"/>
          <p:cNvSpPr txBox="1"/>
          <p:nvPr/>
        </p:nvSpPr>
        <p:spPr>
          <a:xfrm>
            <a:off x="549100" y="5273375"/>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106" name="TextBox 105"/>
          <p:cNvSpPr txBox="1"/>
          <p:nvPr/>
        </p:nvSpPr>
        <p:spPr>
          <a:xfrm>
            <a:off x="549100" y="5443375"/>
            <a:ext cx="2737200" cy="420000"/>
          </a:xfrm>
          <a:prstGeom prst="rect">
            <a:avLst/>
          </a:prstGeom>
          <a:noFill/>
        </p:spPr>
        <p:txBody>
          <a:bodyPr wrap="square" lIns="0" tIns="0" rIns="0" bIns="0" anchor="t"/>
          <a:lstStyle/>
          <a:p>
            <a:pPr algn="l">
              <a:lnSpc>
                <a:spcPts val="1040"/>
              </a:lnSpc>
            </a:pPr>
            <a:r>
              <a:rPr lang="en-US" sz="750" b="0" i="0">
                <a:solidFill>
                  <a:srgbClr val="333231"/>
                </a:solidFill>
              </a:rPr>
              <a:t>Clean Harbors, Mission Critical Group (Emerald Lake Capital Management), Triumvirate Environmental, and Apex Water and Process.</a:t>
            </a:r>
          </a:p>
        </p:txBody>
      </p:sp>
      <p:sp>
        <p:nvSpPr>
          <p:cNvPr id="107" name="TextBox 106"/>
          <p:cNvSpPr txBox="1"/>
          <p:nvPr/>
        </p:nvSpPr>
        <p:spPr>
          <a:xfrm>
            <a:off x="549100" y="5933375"/>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108" name="Logo - Generac" descr="Generac logo"/>
          <p:cNvPicPr>
            <a:picLocks noChangeAspect="1"/>
          </p:cNvPicPr>
          <p:nvPr/>
        </p:nvPicPr>
        <p:blipFill>
          <a:blip r:embed="rId30"/>
          <a:stretch>
            <a:fillRect/>
          </a:stretch>
        </p:blipFill>
        <p:spPr>
          <a:xfrm>
            <a:off x="584100" y="6242486"/>
            <a:ext cx="614300" cy="136777"/>
          </a:xfrm>
          <a:prstGeom prst="rect">
            <a:avLst/>
          </a:prstGeom>
        </p:spPr>
      </p:pic>
      <p:pic>
        <p:nvPicPr>
          <p:cNvPr id="109" name="Logo - Quanta Services" descr="Quanta Services logo"/>
          <p:cNvPicPr>
            <a:picLocks noChangeAspect="1"/>
          </p:cNvPicPr>
          <p:nvPr/>
        </p:nvPicPr>
        <p:blipFill>
          <a:blip r:embed="rId31"/>
          <a:stretch>
            <a:fillRect/>
          </a:stretch>
        </p:blipFill>
        <p:spPr>
          <a:xfrm>
            <a:off x="1274925" y="6218375"/>
            <a:ext cx="601250" cy="185000"/>
          </a:xfrm>
          <a:prstGeom prst="rect">
            <a:avLst/>
          </a:prstGeom>
        </p:spPr>
      </p:pic>
      <p:pic>
        <p:nvPicPr>
          <p:cNvPr id="110" name="Logo - Clean Harbors" descr="Clean Harbors logo"/>
          <p:cNvPicPr>
            <a:picLocks noChangeAspect="1"/>
          </p:cNvPicPr>
          <p:nvPr/>
        </p:nvPicPr>
        <p:blipFill>
          <a:blip r:embed="rId32"/>
          <a:stretch>
            <a:fillRect/>
          </a:stretch>
        </p:blipFill>
        <p:spPr>
          <a:xfrm>
            <a:off x="1961794" y="6218375"/>
            <a:ext cx="596111" cy="185000"/>
          </a:xfrm>
          <a:prstGeom prst="rect">
            <a:avLst/>
          </a:prstGeom>
        </p:spPr>
      </p:pic>
      <p:pic>
        <p:nvPicPr>
          <p:cNvPr id="111" name="Logo - Republic Services" descr="Republic Services logo"/>
          <p:cNvPicPr>
            <a:picLocks noChangeAspect="1"/>
          </p:cNvPicPr>
          <p:nvPr/>
        </p:nvPicPr>
        <p:blipFill>
          <a:blip r:embed="rId33"/>
          <a:stretch>
            <a:fillRect/>
          </a:stretch>
        </p:blipFill>
        <p:spPr>
          <a:xfrm>
            <a:off x="2655126" y="6218375"/>
            <a:ext cx="578047" cy="185000"/>
          </a:xfrm>
          <a:prstGeom prst="rect">
            <a:avLst/>
          </a:prstGeom>
        </p:spPr>
      </p:pic>
      <p:pic>
        <p:nvPicPr>
          <p:cNvPr id="112" name="Logo - Waste Connections" descr="Waste Connections logo"/>
          <p:cNvPicPr>
            <a:picLocks noChangeAspect="1"/>
          </p:cNvPicPr>
          <p:nvPr/>
        </p:nvPicPr>
        <p:blipFill>
          <a:blip r:embed="rId34"/>
          <a:stretch>
            <a:fillRect/>
          </a:stretch>
        </p:blipFill>
        <p:spPr>
          <a:xfrm>
            <a:off x="584100" y="6482975"/>
            <a:ext cx="614300" cy="145799"/>
          </a:xfrm>
          <a:prstGeom prst="rect">
            <a:avLst/>
          </a:prstGeom>
        </p:spPr>
      </p:pic>
      <p:pic>
        <p:nvPicPr>
          <p:cNvPr id="113" name="Logo - Casella Waste Systems" descr="Casella Waste Systems logo"/>
          <p:cNvPicPr>
            <a:picLocks noChangeAspect="1"/>
          </p:cNvPicPr>
          <p:nvPr/>
        </p:nvPicPr>
        <p:blipFill>
          <a:blip r:embed="rId35"/>
          <a:stretch>
            <a:fillRect/>
          </a:stretch>
        </p:blipFill>
        <p:spPr>
          <a:xfrm>
            <a:off x="1268400" y="6472930"/>
            <a:ext cx="614300" cy="165889"/>
          </a:xfrm>
          <a:prstGeom prst="rect">
            <a:avLst/>
          </a:prstGeom>
        </p:spPr>
      </p:pic>
      <p:pic>
        <p:nvPicPr>
          <p:cNvPr id="114" name="Logo - MYR Group" descr="MYR Group logo"/>
          <p:cNvPicPr>
            <a:picLocks noChangeAspect="1"/>
          </p:cNvPicPr>
          <p:nvPr/>
        </p:nvPicPr>
        <p:blipFill>
          <a:blip r:embed="rId36"/>
          <a:stretch>
            <a:fillRect/>
          </a:stretch>
        </p:blipFill>
        <p:spPr>
          <a:xfrm>
            <a:off x="2059742" y="6463375"/>
            <a:ext cx="400216" cy="185000"/>
          </a:xfrm>
          <a:prstGeom prst="rect">
            <a:avLst/>
          </a:prstGeom>
        </p:spPr>
      </p:pic>
      <p:pic>
        <p:nvPicPr>
          <p:cNvPr id="115" name="Logo - Primoris Services" descr="Primoris Services logo"/>
          <p:cNvPicPr>
            <a:picLocks noChangeAspect="1"/>
          </p:cNvPicPr>
          <p:nvPr/>
        </p:nvPicPr>
        <p:blipFill>
          <a:blip r:embed="rId37"/>
          <a:stretch>
            <a:fillRect/>
          </a:stretch>
        </p:blipFill>
        <p:spPr>
          <a:xfrm>
            <a:off x="2738263" y="6463375"/>
            <a:ext cx="411774" cy="185000"/>
          </a:xfrm>
          <a:prstGeom prst="rect">
            <a:avLst/>
          </a:prstGeom>
        </p:spPr>
      </p:pic>
      <p:sp>
        <p:nvSpPr>
          <p:cNvPr id="116" name="Transportation &amp; Logistics card"/>
          <p:cNvSpPr/>
          <p:nvPr/>
        </p:nvSpPr>
        <p:spPr>
          <a:xfrm>
            <a:off x="3530600" y="4143375"/>
            <a:ext cx="2997200" cy="2790825"/>
          </a:xfrm>
          <a:prstGeom prst="rect">
            <a:avLst/>
          </a:prstGeom>
          <a:solidFill>
            <a:srgbClr val="FFFFFF"/>
          </a:solidFill>
          <a:ln w="9525">
            <a:solidFill>
              <a:srgbClr val="E3DCD3"/>
            </a:solidFill>
          </a:ln>
        </p:spPr>
        <p:txBody>
          <a:bodyPr rtlCol="0" anchor="ctr"/>
          <a:lstStyle/>
          <a:p>
            <a:pPr algn="ctr"/>
            <a:endParaRPr/>
          </a:p>
        </p:txBody>
      </p:sp>
      <p:sp>
        <p:nvSpPr>
          <p:cNvPr id="117" name="Rectangle 116"/>
          <p:cNvSpPr/>
          <p:nvPr/>
        </p:nvSpPr>
        <p:spPr>
          <a:xfrm>
            <a:off x="3530600" y="4143375"/>
            <a:ext cx="2997200" cy="330000"/>
          </a:xfrm>
          <a:prstGeom prst="rect">
            <a:avLst/>
          </a:prstGeom>
          <a:solidFill>
            <a:srgbClr val="1B1A1A"/>
          </a:solidFill>
          <a:ln>
            <a:noFill/>
          </a:ln>
        </p:spPr>
        <p:txBody>
          <a:bodyPr rtlCol="0" anchor="ctr"/>
          <a:lstStyle/>
          <a:p>
            <a:pPr algn="ctr"/>
            <a:endParaRPr/>
          </a:p>
        </p:txBody>
      </p:sp>
      <p:pic>
        <p:nvPicPr>
          <p:cNvPr id="118" name="Icon" descr="Transportation &amp; Logistics"/>
          <p:cNvPicPr>
            <a:picLocks noChangeAspect="1"/>
          </p:cNvPicPr>
          <p:nvPr/>
        </p:nvPicPr>
        <p:blipFill>
          <a:blip r:embed="rId38"/>
          <a:stretch>
            <a:fillRect/>
          </a:stretch>
        </p:blipFill>
        <p:spPr>
          <a:xfrm>
            <a:off x="3645600" y="4233375"/>
            <a:ext cx="150000" cy="150000"/>
          </a:xfrm>
          <a:prstGeom prst="rect">
            <a:avLst/>
          </a:prstGeom>
        </p:spPr>
      </p:pic>
      <p:sp>
        <p:nvSpPr>
          <p:cNvPr id="119" name="TextBox 118"/>
          <p:cNvSpPr txBox="1"/>
          <p:nvPr/>
        </p:nvSpPr>
        <p:spPr>
          <a:xfrm>
            <a:off x="3860600" y="4263375"/>
            <a:ext cx="2597200" cy="120000"/>
          </a:xfrm>
          <a:prstGeom prst="rect">
            <a:avLst/>
          </a:prstGeom>
          <a:noFill/>
        </p:spPr>
        <p:txBody>
          <a:bodyPr wrap="square" lIns="0" tIns="0" rIns="0" bIns="0" anchor="t"/>
          <a:lstStyle/>
          <a:p>
            <a:pPr algn="l"/>
            <a:r>
              <a:rPr lang="en-US" sz="700" b="1" i="0" spc="100">
                <a:solidFill>
                  <a:srgbClr val="FFFFFF"/>
                </a:solidFill>
              </a:rPr>
              <a:t>TRANSPORTATION &amp; LOGISTICS</a:t>
            </a:r>
          </a:p>
        </p:txBody>
      </p:sp>
      <p:sp>
        <p:nvSpPr>
          <p:cNvPr id="120" name="TextBox 119"/>
          <p:cNvSpPr txBox="1"/>
          <p:nvPr/>
        </p:nvSpPr>
        <p:spPr>
          <a:xfrm>
            <a:off x="3660600" y="4563375"/>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Shares rose 38.9% over the year and the segment still trades at the lowest multiple of the five at 12.2x, with EBITDA down 0.8%.</a:t>
            </a:r>
          </a:p>
        </p:txBody>
      </p:sp>
      <p:sp>
        <p:nvSpPr>
          <p:cNvPr id="121" name="TextBox 120"/>
          <p:cNvSpPr txBox="1"/>
          <p:nvPr/>
        </p:nvSpPr>
        <p:spPr>
          <a:xfrm>
            <a:off x="3660600" y="5273375"/>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122" name="TextBox 121"/>
          <p:cNvSpPr txBox="1"/>
          <p:nvPr/>
        </p:nvSpPr>
        <p:spPr>
          <a:xfrm>
            <a:off x="3660600" y="5443375"/>
            <a:ext cx="2737200" cy="420000"/>
          </a:xfrm>
          <a:prstGeom prst="rect">
            <a:avLst/>
          </a:prstGeom>
          <a:noFill/>
        </p:spPr>
        <p:txBody>
          <a:bodyPr wrap="square" lIns="0" tIns="0" rIns="0" bIns="0" anchor="t"/>
          <a:lstStyle/>
          <a:p>
            <a:pPr algn="l">
              <a:lnSpc>
                <a:spcPts val="1040"/>
              </a:lnSpc>
            </a:pPr>
            <a:r>
              <a:rPr lang="en-US" sz="750" b="0" i="0">
                <a:solidFill>
                  <a:srgbClr val="333231"/>
                </a:solidFill>
              </a:rPr>
              <a:t>C.H. Robinson, Redwood Logistics (AEA Investors), Imperative Logistics, and Symbia Logistics.</a:t>
            </a:r>
          </a:p>
        </p:txBody>
      </p:sp>
      <p:sp>
        <p:nvSpPr>
          <p:cNvPr id="123" name="TextBox 122"/>
          <p:cNvSpPr txBox="1"/>
          <p:nvPr/>
        </p:nvSpPr>
        <p:spPr>
          <a:xfrm>
            <a:off x="3660600" y="5933375"/>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124" name="Logo - J.B. Hunt" descr="J.B. Hunt logo"/>
          <p:cNvPicPr>
            <a:picLocks noChangeAspect="1"/>
          </p:cNvPicPr>
          <p:nvPr/>
        </p:nvPicPr>
        <p:blipFill>
          <a:blip r:embed="rId39"/>
          <a:stretch>
            <a:fillRect/>
          </a:stretch>
        </p:blipFill>
        <p:spPr>
          <a:xfrm>
            <a:off x="3695600" y="6232587"/>
            <a:ext cx="614300" cy="156576"/>
          </a:xfrm>
          <a:prstGeom prst="rect">
            <a:avLst/>
          </a:prstGeom>
        </p:spPr>
      </p:pic>
      <p:pic>
        <p:nvPicPr>
          <p:cNvPr id="125" name="Logo - Werner Enterprises" descr="Werner Enterprises logo"/>
          <p:cNvPicPr>
            <a:picLocks noChangeAspect="1"/>
          </p:cNvPicPr>
          <p:nvPr/>
        </p:nvPicPr>
        <p:blipFill>
          <a:blip r:embed="rId40"/>
          <a:stretch>
            <a:fillRect/>
          </a:stretch>
        </p:blipFill>
        <p:spPr>
          <a:xfrm>
            <a:off x="4379900" y="6232710"/>
            <a:ext cx="614300" cy="156329"/>
          </a:xfrm>
          <a:prstGeom prst="rect">
            <a:avLst/>
          </a:prstGeom>
        </p:spPr>
      </p:pic>
      <p:pic>
        <p:nvPicPr>
          <p:cNvPr id="126" name="Logo - C.H. Robinson" descr="C.H. Robinson logo"/>
          <p:cNvPicPr>
            <a:picLocks noChangeAspect="1"/>
          </p:cNvPicPr>
          <p:nvPr/>
        </p:nvPicPr>
        <p:blipFill>
          <a:blip r:embed="rId41"/>
          <a:stretch>
            <a:fillRect/>
          </a:stretch>
        </p:blipFill>
        <p:spPr>
          <a:xfrm>
            <a:off x="5064200" y="6242007"/>
            <a:ext cx="614300" cy="137735"/>
          </a:xfrm>
          <a:prstGeom prst="rect">
            <a:avLst/>
          </a:prstGeom>
        </p:spPr>
      </p:pic>
      <p:pic>
        <p:nvPicPr>
          <p:cNvPr id="127" name="Logo - Landstar System" descr="Landstar System logo"/>
          <p:cNvPicPr>
            <a:picLocks noChangeAspect="1"/>
          </p:cNvPicPr>
          <p:nvPr/>
        </p:nvPicPr>
        <p:blipFill>
          <a:blip r:embed="rId42"/>
          <a:stretch>
            <a:fillRect/>
          </a:stretch>
        </p:blipFill>
        <p:spPr>
          <a:xfrm>
            <a:off x="5748500" y="6254978"/>
            <a:ext cx="614300" cy="111794"/>
          </a:xfrm>
          <a:prstGeom prst="rect">
            <a:avLst/>
          </a:prstGeom>
        </p:spPr>
      </p:pic>
      <p:pic>
        <p:nvPicPr>
          <p:cNvPr id="128" name="Logo - Schneider National" descr="Schneider National logo"/>
          <p:cNvPicPr>
            <a:picLocks noChangeAspect="1"/>
          </p:cNvPicPr>
          <p:nvPr/>
        </p:nvPicPr>
        <p:blipFill>
          <a:blip r:embed="rId43"/>
          <a:stretch>
            <a:fillRect/>
          </a:stretch>
        </p:blipFill>
        <p:spPr>
          <a:xfrm>
            <a:off x="3695600" y="6495719"/>
            <a:ext cx="614300" cy="120311"/>
          </a:xfrm>
          <a:prstGeom prst="rect">
            <a:avLst/>
          </a:prstGeom>
        </p:spPr>
      </p:pic>
      <p:pic>
        <p:nvPicPr>
          <p:cNvPr id="129" name="Logo - ArcBest" descr="ArcBest logo"/>
          <p:cNvPicPr>
            <a:picLocks noChangeAspect="1"/>
          </p:cNvPicPr>
          <p:nvPr/>
        </p:nvPicPr>
        <p:blipFill>
          <a:blip r:embed="rId44"/>
          <a:stretch>
            <a:fillRect/>
          </a:stretch>
        </p:blipFill>
        <p:spPr>
          <a:xfrm>
            <a:off x="4379900" y="6498717"/>
            <a:ext cx="614300" cy="114315"/>
          </a:xfrm>
          <a:prstGeom prst="rect">
            <a:avLst/>
          </a:prstGeom>
        </p:spPr>
      </p:pic>
      <p:sp>
        <p:nvSpPr>
          <p:cNvPr id="130" name="TextBox 129"/>
          <p:cNvSpPr txBox="1"/>
          <p:nvPr/>
        </p:nvSpPr>
        <p:spPr>
          <a:xfrm>
            <a:off x="3660600" y="6703375"/>
            <a:ext cx="2737200" cy="230000"/>
          </a:xfrm>
          <a:prstGeom prst="rect">
            <a:avLst/>
          </a:prstGeom>
          <a:noFill/>
        </p:spPr>
        <p:txBody>
          <a:bodyPr wrap="square" lIns="0" tIns="0" rIns="0" bIns="0" anchor="t"/>
          <a:lstStyle/>
          <a:p>
            <a:pPr algn="l">
              <a:lnSpc>
                <a:spcPts val="900"/>
              </a:lnSpc>
            </a:pPr>
            <a:r>
              <a:rPr lang="en-US" sz="675" b="0" i="0">
                <a:solidFill>
                  <a:srgbClr val="6F6A66"/>
                </a:solidFill>
              </a:rPr>
              <a:t>Also: Knight-Swift.</a:t>
            </a:r>
          </a:p>
        </p:txBody>
      </p:sp>
      <p:sp>
        <p:nvSpPr>
          <p:cNvPr id="131" name="Segment scorecard"/>
          <p:cNvSpPr/>
          <p:nvPr/>
        </p:nvSpPr>
        <p:spPr>
          <a:xfrm>
            <a:off x="6642100" y="4143375"/>
            <a:ext cx="2997200" cy="2790825"/>
          </a:xfrm>
          <a:prstGeom prst="rect">
            <a:avLst/>
          </a:prstGeom>
          <a:solidFill>
            <a:srgbClr val="1B1A1A"/>
          </a:solidFill>
          <a:ln>
            <a:noFill/>
          </a:ln>
        </p:spPr>
        <p:txBody>
          <a:bodyPr rtlCol="0" anchor="ctr"/>
          <a:lstStyle/>
          <a:p>
            <a:pPr algn="ctr"/>
            <a:endParaRPr/>
          </a:p>
        </p:txBody>
      </p:sp>
      <p:sp>
        <p:nvSpPr>
          <p:cNvPr id="132" name="Rectangle 131"/>
          <p:cNvSpPr/>
          <p:nvPr/>
        </p:nvSpPr>
        <p:spPr>
          <a:xfrm>
            <a:off x="6642100" y="4143375"/>
            <a:ext cx="2997200" cy="28575"/>
          </a:xfrm>
          <a:prstGeom prst="rect">
            <a:avLst/>
          </a:prstGeom>
          <a:solidFill>
            <a:srgbClr val="B68757"/>
          </a:solidFill>
          <a:ln>
            <a:noFill/>
          </a:ln>
        </p:spPr>
        <p:txBody>
          <a:bodyPr rtlCol="0" anchor="ctr"/>
          <a:lstStyle/>
          <a:p>
            <a:pPr algn="ctr"/>
            <a:endParaRPr/>
          </a:p>
        </p:txBody>
      </p:sp>
      <p:sp>
        <p:nvSpPr>
          <p:cNvPr id="133" name="TextBox 132"/>
          <p:cNvSpPr txBox="1"/>
          <p:nvPr/>
        </p:nvSpPr>
        <p:spPr>
          <a:xfrm>
            <a:off x="6792100" y="4293375"/>
            <a:ext cx="2697200" cy="150000"/>
          </a:xfrm>
          <a:prstGeom prst="rect">
            <a:avLst/>
          </a:prstGeom>
          <a:noFill/>
        </p:spPr>
        <p:txBody>
          <a:bodyPr wrap="square" lIns="0" tIns="0" rIns="0" bIns="0" anchor="t"/>
          <a:lstStyle/>
          <a:p>
            <a:pPr algn="l"/>
            <a:r>
              <a:rPr lang="en-US" sz="675" b="1" i="0" spc="200">
                <a:solidFill>
                  <a:srgbClr val="B68757"/>
                </a:solidFill>
              </a:rPr>
              <a:t>SEGMENT SCORECARD</a:t>
            </a:r>
          </a:p>
        </p:txBody>
      </p:sp>
      <p:sp>
        <p:nvSpPr>
          <p:cNvPr id="134" name="TextBox 133"/>
          <p:cNvSpPr txBox="1"/>
          <p:nvPr/>
        </p:nvSpPr>
        <p:spPr>
          <a:xfrm>
            <a:off x="6792100" y="4473375"/>
            <a:ext cx="2697200" cy="330000"/>
          </a:xfrm>
          <a:prstGeom prst="rect">
            <a:avLst/>
          </a:prstGeom>
          <a:noFill/>
        </p:spPr>
        <p:txBody>
          <a:bodyPr wrap="square" lIns="0" tIns="0" rIns="0" bIns="0" anchor="t"/>
          <a:lstStyle/>
          <a:p>
            <a:pPr algn="l">
              <a:lnSpc>
                <a:spcPts val="950"/>
              </a:lnSpc>
            </a:pPr>
            <a:r>
              <a:rPr lang="en-US" sz="700" b="0" i="0">
                <a:solidFill>
                  <a:srgbClr val="E8E2DA"/>
                </a:solidFill>
              </a:rPr>
              <a:t>Listed company metrics from pages 16 to 18, with Benchmark International closed transactions by segment.</a:t>
            </a:r>
          </a:p>
        </p:txBody>
      </p:sp>
      <p:sp>
        <p:nvSpPr>
          <p:cNvPr id="135" name="TextBox 134"/>
          <p:cNvSpPr txBox="1"/>
          <p:nvPr/>
        </p:nvSpPr>
        <p:spPr>
          <a:xfrm>
            <a:off x="77921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EV / EBITDA</a:t>
            </a:r>
          </a:p>
        </p:txBody>
      </p:sp>
      <p:sp>
        <p:nvSpPr>
          <p:cNvPr id="136" name="TextBox 135"/>
          <p:cNvSpPr txBox="1"/>
          <p:nvPr/>
        </p:nvSpPr>
        <p:spPr>
          <a:xfrm>
            <a:off x="82164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Rev. growth</a:t>
            </a:r>
          </a:p>
        </p:txBody>
      </p:sp>
      <p:sp>
        <p:nvSpPr>
          <p:cNvPr id="137" name="TextBox 136"/>
          <p:cNvSpPr txBox="1"/>
          <p:nvPr/>
        </p:nvSpPr>
        <p:spPr>
          <a:xfrm>
            <a:off x="86407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EBITDA mgn.</a:t>
            </a:r>
          </a:p>
        </p:txBody>
      </p:sp>
      <p:sp>
        <p:nvSpPr>
          <p:cNvPr id="138" name="TextBox 137"/>
          <p:cNvSpPr txBox="1"/>
          <p:nvPr/>
        </p:nvSpPr>
        <p:spPr>
          <a:xfrm>
            <a:off x="90650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Deals</a:t>
            </a:r>
          </a:p>
        </p:txBody>
      </p:sp>
      <p:cxnSp>
        <p:nvCxnSpPr>
          <p:cNvPr id="139" name="Connector 138"/>
          <p:cNvCxnSpPr/>
          <p:nvPr/>
        </p:nvCxnSpPr>
        <p:spPr>
          <a:xfrm>
            <a:off x="6792100" y="5173375"/>
            <a:ext cx="2697200" cy="0"/>
          </a:xfrm>
          <a:prstGeom prst="line">
            <a:avLst/>
          </a:prstGeom>
          <a:ln w="9525">
            <a:solidFill>
              <a:srgbClr val="4A4745"/>
            </a:solidFill>
          </a:ln>
        </p:spPr>
      </p:cxnSp>
      <p:sp>
        <p:nvSpPr>
          <p:cNvPr id="140" name="TextBox 139"/>
          <p:cNvSpPr txBox="1"/>
          <p:nvPr/>
        </p:nvSpPr>
        <p:spPr>
          <a:xfrm>
            <a:off x="6792100" y="5273375"/>
            <a:ext cx="960000" cy="200000"/>
          </a:xfrm>
          <a:prstGeom prst="rect">
            <a:avLst/>
          </a:prstGeom>
          <a:noFill/>
        </p:spPr>
        <p:txBody>
          <a:bodyPr wrap="square" lIns="0" tIns="0" rIns="0" bIns="0" anchor="t"/>
          <a:lstStyle/>
          <a:p>
            <a:pPr algn="l">
              <a:lnSpc>
                <a:spcPts val="900"/>
              </a:lnSpc>
            </a:pPr>
            <a:r>
              <a:rPr lang="en-US" sz="700" b="0" i="0">
                <a:solidFill>
                  <a:srgbClr val="FFFFFF"/>
                </a:solidFill>
              </a:rPr>
              <a:t>Manufacturing &amp; Industrial Tech</a:t>
            </a:r>
          </a:p>
        </p:txBody>
      </p:sp>
      <p:sp>
        <p:nvSpPr>
          <p:cNvPr id="141" name="TextBox 140"/>
          <p:cNvSpPr txBox="1"/>
          <p:nvPr/>
        </p:nvSpPr>
        <p:spPr>
          <a:xfrm>
            <a:off x="7792100" y="5263375"/>
            <a:ext cx="424300" cy="200000"/>
          </a:xfrm>
          <a:prstGeom prst="rect">
            <a:avLst/>
          </a:prstGeom>
          <a:noFill/>
        </p:spPr>
        <p:txBody>
          <a:bodyPr wrap="square" lIns="0" tIns="0" rIns="0" bIns="0" anchor="t"/>
          <a:lstStyle/>
          <a:p>
            <a:pPr algn="r"/>
            <a:r>
              <a:rPr lang="en-US" sz="950" b="1" i="0">
                <a:solidFill>
                  <a:srgbClr val="FFFFFF"/>
                </a:solidFill>
                <a:latin typeface="+mj-lt"/>
              </a:rPr>
              <a:t>17.3x</a:t>
            </a:r>
          </a:p>
        </p:txBody>
      </p:sp>
      <p:sp>
        <p:nvSpPr>
          <p:cNvPr id="142" name="TextBox 141"/>
          <p:cNvSpPr txBox="1"/>
          <p:nvPr/>
        </p:nvSpPr>
        <p:spPr>
          <a:xfrm>
            <a:off x="8216400" y="5263375"/>
            <a:ext cx="424300" cy="200000"/>
          </a:xfrm>
          <a:prstGeom prst="rect">
            <a:avLst/>
          </a:prstGeom>
          <a:noFill/>
        </p:spPr>
        <p:txBody>
          <a:bodyPr wrap="square" lIns="0" tIns="0" rIns="0" bIns="0" anchor="t"/>
          <a:lstStyle/>
          <a:p>
            <a:pPr algn="r"/>
            <a:r>
              <a:rPr lang="en-US" sz="950" b="1" i="0">
                <a:solidFill>
                  <a:srgbClr val="FFFFFF"/>
                </a:solidFill>
                <a:latin typeface="+mj-lt"/>
              </a:rPr>
              <a:t>8.8%</a:t>
            </a:r>
          </a:p>
        </p:txBody>
      </p:sp>
      <p:sp>
        <p:nvSpPr>
          <p:cNvPr id="143" name="TextBox 142"/>
          <p:cNvSpPr txBox="1"/>
          <p:nvPr/>
        </p:nvSpPr>
        <p:spPr>
          <a:xfrm>
            <a:off x="8640700" y="5263375"/>
            <a:ext cx="424300" cy="200000"/>
          </a:xfrm>
          <a:prstGeom prst="rect">
            <a:avLst/>
          </a:prstGeom>
          <a:noFill/>
        </p:spPr>
        <p:txBody>
          <a:bodyPr wrap="square" lIns="0" tIns="0" rIns="0" bIns="0" anchor="t"/>
          <a:lstStyle/>
          <a:p>
            <a:pPr algn="r"/>
            <a:r>
              <a:rPr lang="en-US" sz="950" b="1" i="0">
                <a:solidFill>
                  <a:srgbClr val="FFFFFF"/>
                </a:solidFill>
                <a:latin typeface="+mj-lt"/>
              </a:rPr>
              <a:t>22.1%</a:t>
            </a:r>
          </a:p>
        </p:txBody>
      </p:sp>
      <p:sp>
        <p:nvSpPr>
          <p:cNvPr id="144" name="TextBox 143"/>
          <p:cNvSpPr txBox="1"/>
          <p:nvPr/>
        </p:nvSpPr>
        <p:spPr>
          <a:xfrm>
            <a:off x="9065000" y="5263375"/>
            <a:ext cx="424300" cy="200000"/>
          </a:xfrm>
          <a:prstGeom prst="rect">
            <a:avLst/>
          </a:prstGeom>
          <a:noFill/>
        </p:spPr>
        <p:txBody>
          <a:bodyPr wrap="square" lIns="0" tIns="0" rIns="0" bIns="0" anchor="t"/>
          <a:lstStyle/>
          <a:p>
            <a:pPr algn="r"/>
            <a:r>
              <a:rPr lang="en-US" sz="950" b="1" i="0">
                <a:solidFill>
                  <a:srgbClr val="FFFFFF"/>
                </a:solidFill>
                <a:latin typeface="+mj-lt"/>
              </a:rPr>
              <a:t>22</a:t>
            </a:r>
          </a:p>
        </p:txBody>
      </p:sp>
      <p:cxnSp>
        <p:nvCxnSpPr>
          <p:cNvPr id="145" name="Connector 144"/>
          <p:cNvCxnSpPr/>
          <p:nvPr/>
        </p:nvCxnSpPr>
        <p:spPr>
          <a:xfrm>
            <a:off x="6792100" y="5508375"/>
            <a:ext cx="2697200" cy="0"/>
          </a:xfrm>
          <a:prstGeom prst="line">
            <a:avLst/>
          </a:prstGeom>
          <a:ln w="9525">
            <a:solidFill>
              <a:srgbClr val="3A3836"/>
            </a:solidFill>
          </a:ln>
        </p:spPr>
      </p:cxnSp>
      <p:sp>
        <p:nvSpPr>
          <p:cNvPr id="146" name="TextBox 145"/>
          <p:cNvSpPr txBox="1"/>
          <p:nvPr/>
        </p:nvSpPr>
        <p:spPr>
          <a:xfrm>
            <a:off x="6792100" y="5543375"/>
            <a:ext cx="960000" cy="200000"/>
          </a:xfrm>
          <a:prstGeom prst="rect">
            <a:avLst/>
          </a:prstGeom>
          <a:noFill/>
        </p:spPr>
        <p:txBody>
          <a:bodyPr wrap="square" lIns="0" tIns="0" rIns="0" bIns="0" anchor="t"/>
          <a:lstStyle/>
          <a:p>
            <a:pPr algn="l">
              <a:lnSpc>
                <a:spcPts val="900"/>
              </a:lnSpc>
            </a:pPr>
            <a:r>
              <a:rPr lang="en-US" sz="700" b="0" i="0">
                <a:solidFill>
                  <a:srgbClr val="FFFFFF"/>
                </a:solidFill>
              </a:rPr>
              <a:t>Distribution &amp; Services</a:t>
            </a:r>
          </a:p>
        </p:txBody>
      </p:sp>
      <p:sp>
        <p:nvSpPr>
          <p:cNvPr id="147" name="TextBox 146"/>
          <p:cNvSpPr txBox="1"/>
          <p:nvPr/>
        </p:nvSpPr>
        <p:spPr>
          <a:xfrm>
            <a:off x="7792100" y="5533375"/>
            <a:ext cx="424300" cy="200000"/>
          </a:xfrm>
          <a:prstGeom prst="rect">
            <a:avLst/>
          </a:prstGeom>
          <a:noFill/>
        </p:spPr>
        <p:txBody>
          <a:bodyPr wrap="square" lIns="0" tIns="0" rIns="0" bIns="0" anchor="t"/>
          <a:lstStyle/>
          <a:p>
            <a:pPr algn="r"/>
            <a:r>
              <a:rPr lang="en-US" sz="950" b="1" i="0">
                <a:solidFill>
                  <a:srgbClr val="FFFFFF"/>
                </a:solidFill>
                <a:latin typeface="+mj-lt"/>
              </a:rPr>
              <a:t>17.0x</a:t>
            </a:r>
          </a:p>
        </p:txBody>
      </p:sp>
      <p:sp>
        <p:nvSpPr>
          <p:cNvPr id="148" name="TextBox 147"/>
          <p:cNvSpPr txBox="1"/>
          <p:nvPr/>
        </p:nvSpPr>
        <p:spPr>
          <a:xfrm>
            <a:off x="8216400" y="5533375"/>
            <a:ext cx="424300" cy="200000"/>
          </a:xfrm>
          <a:prstGeom prst="rect">
            <a:avLst/>
          </a:prstGeom>
          <a:noFill/>
        </p:spPr>
        <p:txBody>
          <a:bodyPr wrap="square" lIns="0" tIns="0" rIns="0" bIns="0" anchor="t"/>
          <a:lstStyle/>
          <a:p>
            <a:pPr algn="r"/>
            <a:r>
              <a:rPr lang="en-US" sz="950" b="1" i="0">
                <a:solidFill>
                  <a:srgbClr val="FFFFFF"/>
                </a:solidFill>
                <a:latin typeface="+mj-lt"/>
              </a:rPr>
              <a:t>8.6%</a:t>
            </a:r>
          </a:p>
        </p:txBody>
      </p:sp>
      <p:sp>
        <p:nvSpPr>
          <p:cNvPr id="149" name="TextBox 148"/>
          <p:cNvSpPr txBox="1"/>
          <p:nvPr/>
        </p:nvSpPr>
        <p:spPr>
          <a:xfrm>
            <a:off x="8640700" y="5533375"/>
            <a:ext cx="424300" cy="200000"/>
          </a:xfrm>
          <a:prstGeom prst="rect">
            <a:avLst/>
          </a:prstGeom>
          <a:noFill/>
        </p:spPr>
        <p:txBody>
          <a:bodyPr wrap="square" lIns="0" tIns="0" rIns="0" bIns="0" anchor="t"/>
          <a:lstStyle/>
          <a:p>
            <a:pPr algn="r"/>
            <a:r>
              <a:rPr lang="en-US" sz="950" b="1" i="0">
                <a:solidFill>
                  <a:srgbClr val="FFFFFF"/>
                </a:solidFill>
                <a:latin typeface="+mj-lt"/>
              </a:rPr>
              <a:t>11.2%</a:t>
            </a:r>
          </a:p>
        </p:txBody>
      </p:sp>
      <p:sp>
        <p:nvSpPr>
          <p:cNvPr id="150" name="TextBox 149"/>
          <p:cNvSpPr txBox="1"/>
          <p:nvPr/>
        </p:nvSpPr>
        <p:spPr>
          <a:xfrm>
            <a:off x="9065000" y="5533375"/>
            <a:ext cx="424300" cy="200000"/>
          </a:xfrm>
          <a:prstGeom prst="rect">
            <a:avLst/>
          </a:prstGeom>
          <a:noFill/>
        </p:spPr>
        <p:txBody>
          <a:bodyPr wrap="square" lIns="0" tIns="0" rIns="0" bIns="0" anchor="t"/>
          <a:lstStyle/>
          <a:p>
            <a:pPr algn="r"/>
            <a:r>
              <a:rPr lang="en-US" sz="950" b="1" i="0">
                <a:solidFill>
                  <a:srgbClr val="FFFFFF"/>
                </a:solidFill>
                <a:latin typeface="+mj-lt"/>
              </a:rPr>
              <a:t>8</a:t>
            </a:r>
          </a:p>
        </p:txBody>
      </p:sp>
      <p:cxnSp>
        <p:nvCxnSpPr>
          <p:cNvPr id="151" name="Connector 150"/>
          <p:cNvCxnSpPr/>
          <p:nvPr/>
        </p:nvCxnSpPr>
        <p:spPr>
          <a:xfrm>
            <a:off x="6792100" y="5778375"/>
            <a:ext cx="2697200" cy="0"/>
          </a:xfrm>
          <a:prstGeom prst="line">
            <a:avLst/>
          </a:prstGeom>
          <a:ln w="9525">
            <a:solidFill>
              <a:srgbClr val="3A3836"/>
            </a:solidFill>
          </a:ln>
        </p:spPr>
      </p:cxnSp>
      <p:sp>
        <p:nvSpPr>
          <p:cNvPr id="152" name="TextBox 151"/>
          <p:cNvSpPr txBox="1"/>
          <p:nvPr/>
        </p:nvSpPr>
        <p:spPr>
          <a:xfrm>
            <a:off x="6792100" y="5813375"/>
            <a:ext cx="960000" cy="200000"/>
          </a:xfrm>
          <a:prstGeom prst="rect">
            <a:avLst/>
          </a:prstGeom>
          <a:noFill/>
        </p:spPr>
        <p:txBody>
          <a:bodyPr wrap="square" lIns="0" tIns="0" rIns="0" bIns="0" anchor="t"/>
          <a:lstStyle/>
          <a:p>
            <a:pPr algn="l">
              <a:lnSpc>
                <a:spcPts val="900"/>
              </a:lnSpc>
            </a:pPr>
            <a:r>
              <a:rPr lang="en-US" sz="700" b="0" i="0">
                <a:solidFill>
                  <a:srgbClr val="FFFFFF"/>
                </a:solidFill>
              </a:rPr>
              <a:t>Building &amp; Construction</a:t>
            </a:r>
          </a:p>
        </p:txBody>
      </p:sp>
      <p:sp>
        <p:nvSpPr>
          <p:cNvPr id="153" name="TextBox 152"/>
          <p:cNvSpPr txBox="1"/>
          <p:nvPr/>
        </p:nvSpPr>
        <p:spPr>
          <a:xfrm>
            <a:off x="7792100" y="5803375"/>
            <a:ext cx="424300" cy="200000"/>
          </a:xfrm>
          <a:prstGeom prst="rect">
            <a:avLst/>
          </a:prstGeom>
          <a:noFill/>
        </p:spPr>
        <p:txBody>
          <a:bodyPr wrap="square" lIns="0" tIns="0" rIns="0" bIns="0" anchor="t"/>
          <a:lstStyle/>
          <a:p>
            <a:pPr algn="r"/>
            <a:r>
              <a:rPr lang="en-US" sz="950" b="1" i="0">
                <a:solidFill>
                  <a:srgbClr val="FFFFFF"/>
                </a:solidFill>
                <a:latin typeface="+mj-lt"/>
              </a:rPr>
              <a:t>15.8x</a:t>
            </a:r>
          </a:p>
        </p:txBody>
      </p:sp>
      <p:sp>
        <p:nvSpPr>
          <p:cNvPr id="154" name="TextBox 153"/>
          <p:cNvSpPr txBox="1"/>
          <p:nvPr/>
        </p:nvSpPr>
        <p:spPr>
          <a:xfrm>
            <a:off x="8216400" y="5803375"/>
            <a:ext cx="424300" cy="200000"/>
          </a:xfrm>
          <a:prstGeom prst="rect">
            <a:avLst/>
          </a:prstGeom>
          <a:noFill/>
        </p:spPr>
        <p:txBody>
          <a:bodyPr wrap="square" lIns="0" tIns="0" rIns="0" bIns="0" anchor="t"/>
          <a:lstStyle/>
          <a:p>
            <a:pPr algn="r"/>
            <a:r>
              <a:rPr lang="en-US" sz="950" b="1" i="0">
                <a:solidFill>
                  <a:srgbClr val="FFFFFF"/>
                </a:solidFill>
                <a:latin typeface="+mj-lt"/>
              </a:rPr>
              <a:t>21.8%</a:t>
            </a:r>
          </a:p>
        </p:txBody>
      </p:sp>
      <p:sp>
        <p:nvSpPr>
          <p:cNvPr id="155" name="TextBox 154"/>
          <p:cNvSpPr txBox="1"/>
          <p:nvPr/>
        </p:nvSpPr>
        <p:spPr>
          <a:xfrm>
            <a:off x="8640700" y="5803375"/>
            <a:ext cx="424300" cy="200000"/>
          </a:xfrm>
          <a:prstGeom prst="rect">
            <a:avLst/>
          </a:prstGeom>
          <a:noFill/>
        </p:spPr>
        <p:txBody>
          <a:bodyPr wrap="square" lIns="0" tIns="0" rIns="0" bIns="0" anchor="t"/>
          <a:lstStyle/>
          <a:p>
            <a:pPr algn="r"/>
            <a:r>
              <a:rPr lang="en-US" sz="950" b="1" i="0">
                <a:solidFill>
                  <a:srgbClr val="FFFFFF"/>
                </a:solidFill>
                <a:latin typeface="+mj-lt"/>
              </a:rPr>
              <a:t>10.7%</a:t>
            </a:r>
          </a:p>
        </p:txBody>
      </p:sp>
      <p:sp>
        <p:nvSpPr>
          <p:cNvPr id="156" name="TextBox 155"/>
          <p:cNvSpPr txBox="1"/>
          <p:nvPr/>
        </p:nvSpPr>
        <p:spPr>
          <a:xfrm>
            <a:off x="9065000" y="5803375"/>
            <a:ext cx="424300" cy="200000"/>
          </a:xfrm>
          <a:prstGeom prst="rect">
            <a:avLst/>
          </a:prstGeom>
          <a:noFill/>
        </p:spPr>
        <p:txBody>
          <a:bodyPr wrap="square" lIns="0" tIns="0" rIns="0" bIns="0" anchor="t"/>
          <a:lstStyle/>
          <a:p>
            <a:pPr algn="r"/>
            <a:r>
              <a:rPr lang="en-US" sz="950" b="1" i="0">
                <a:solidFill>
                  <a:srgbClr val="FFFFFF"/>
                </a:solidFill>
                <a:latin typeface="+mj-lt"/>
              </a:rPr>
              <a:t>45</a:t>
            </a:r>
          </a:p>
        </p:txBody>
      </p:sp>
      <p:cxnSp>
        <p:nvCxnSpPr>
          <p:cNvPr id="157" name="Connector 156"/>
          <p:cNvCxnSpPr/>
          <p:nvPr/>
        </p:nvCxnSpPr>
        <p:spPr>
          <a:xfrm>
            <a:off x="6792100" y="6048375"/>
            <a:ext cx="2697200" cy="0"/>
          </a:xfrm>
          <a:prstGeom prst="line">
            <a:avLst/>
          </a:prstGeom>
          <a:ln w="9525">
            <a:solidFill>
              <a:srgbClr val="3A3836"/>
            </a:solidFill>
          </a:ln>
        </p:spPr>
      </p:cxnSp>
      <p:sp>
        <p:nvSpPr>
          <p:cNvPr id="158" name="TextBox 157"/>
          <p:cNvSpPr txBox="1"/>
          <p:nvPr/>
        </p:nvSpPr>
        <p:spPr>
          <a:xfrm>
            <a:off x="6792100" y="6083375"/>
            <a:ext cx="960000" cy="200000"/>
          </a:xfrm>
          <a:prstGeom prst="rect">
            <a:avLst/>
          </a:prstGeom>
          <a:noFill/>
        </p:spPr>
        <p:txBody>
          <a:bodyPr wrap="square" lIns="0" tIns="0" rIns="0" bIns="0" anchor="t"/>
          <a:lstStyle/>
          <a:p>
            <a:pPr algn="l">
              <a:lnSpc>
                <a:spcPts val="900"/>
              </a:lnSpc>
            </a:pPr>
            <a:r>
              <a:rPr lang="en-US" sz="700" b="0" i="0">
                <a:solidFill>
                  <a:srgbClr val="FFFFFF"/>
                </a:solidFill>
              </a:rPr>
              <a:t>Energy, Power &amp; Environmental</a:t>
            </a:r>
          </a:p>
        </p:txBody>
      </p:sp>
      <p:sp>
        <p:nvSpPr>
          <p:cNvPr id="159" name="TextBox 158"/>
          <p:cNvSpPr txBox="1"/>
          <p:nvPr/>
        </p:nvSpPr>
        <p:spPr>
          <a:xfrm>
            <a:off x="7792100" y="6073375"/>
            <a:ext cx="424300" cy="200000"/>
          </a:xfrm>
          <a:prstGeom prst="rect">
            <a:avLst/>
          </a:prstGeom>
          <a:noFill/>
        </p:spPr>
        <p:txBody>
          <a:bodyPr wrap="square" lIns="0" tIns="0" rIns="0" bIns="0" anchor="t"/>
          <a:lstStyle/>
          <a:p>
            <a:pPr algn="r"/>
            <a:r>
              <a:rPr lang="en-US" sz="950" b="1" i="0">
                <a:solidFill>
                  <a:srgbClr val="FFFFFF"/>
                </a:solidFill>
                <a:latin typeface="+mj-lt"/>
              </a:rPr>
              <a:t>16.3x</a:t>
            </a:r>
          </a:p>
        </p:txBody>
      </p:sp>
      <p:sp>
        <p:nvSpPr>
          <p:cNvPr id="160" name="TextBox 159"/>
          <p:cNvSpPr txBox="1"/>
          <p:nvPr/>
        </p:nvSpPr>
        <p:spPr>
          <a:xfrm>
            <a:off x="8216400" y="6073375"/>
            <a:ext cx="424300" cy="200000"/>
          </a:xfrm>
          <a:prstGeom prst="rect">
            <a:avLst/>
          </a:prstGeom>
          <a:noFill/>
        </p:spPr>
        <p:txBody>
          <a:bodyPr wrap="square" lIns="0" tIns="0" rIns="0" bIns="0" anchor="t"/>
          <a:lstStyle/>
          <a:p>
            <a:pPr algn="r"/>
            <a:r>
              <a:rPr lang="en-US" sz="950" b="1" i="0">
                <a:solidFill>
                  <a:srgbClr val="FFFFFF"/>
                </a:solidFill>
                <a:latin typeface="+mj-lt"/>
              </a:rPr>
              <a:t>5.4%</a:t>
            </a:r>
          </a:p>
        </p:txBody>
      </p:sp>
      <p:sp>
        <p:nvSpPr>
          <p:cNvPr id="161" name="TextBox 160"/>
          <p:cNvSpPr txBox="1"/>
          <p:nvPr/>
        </p:nvSpPr>
        <p:spPr>
          <a:xfrm>
            <a:off x="8640700" y="6073375"/>
            <a:ext cx="424300" cy="200000"/>
          </a:xfrm>
          <a:prstGeom prst="rect">
            <a:avLst/>
          </a:prstGeom>
          <a:noFill/>
        </p:spPr>
        <p:txBody>
          <a:bodyPr wrap="square" lIns="0" tIns="0" rIns="0" bIns="0" anchor="t"/>
          <a:lstStyle/>
          <a:p>
            <a:pPr algn="r"/>
            <a:r>
              <a:rPr lang="en-US" sz="950" b="1" i="0">
                <a:solidFill>
                  <a:srgbClr val="FFFFFF"/>
                </a:solidFill>
                <a:latin typeface="+mj-lt"/>
              </a:rPr>
              <a:t>16.8%</a:t>
            </a:r>
          </a:p>
        </p:txBody>
      </p:sp>
      <p:sp>
        <p:nvSpPr>
          <p:cNvPr id="162" name="TextBox 161"/>
          <p:cNvSpPr txBox="1"/>
          <p:nvPr/>
        </p:nvSpPr>
        <p:spPr>
          <a:xfrm>
            <a:off x="9065000" y="6073375"/>
            <a:ext cx="424300" cy="200000"/>
          </a:xfrm>
          <a:prstGeom prst="rect">
            <a:avLst/>
          </a:prstGeom>
          <a:noFill/>
        </p:spPr>
        <p:txBody>
          <a:bodyPr wrap="square" lIns="0" tIns="0" rIns="0" bIns="0" anchor="t"/>
          <a:lstStyle/>
          <a:p>
            <a:pPr algn="r"/>
            <a:r>
              <a:rPr lang="en-US" sz="950" b="1" i="0">
                <a:solidFill>
                  <a:srgbClr val="FFFFFF"/>
                </a:solidFill>
                <a:latin typeface="+mj-lt"/>
              </a:rPr>
              <a:t>7</a:t>
            </a:r>
          </a:p>
        </p:txBody>
      </p:sp>
      <p:cxnSp>
        <p:nvCxnSpPr>
          <p:cNvPr id="163" name="Connector 162"/>
          <p:cNvCxnSpPr/>
          <p:nvPr/>
        </p:nvCxnSpPr>
        <p:spPr>
          <a:xfrm>
            <a:off x="6792100" y="6318375"/>
            <a:ext cx="2697200" cy="0"/>
          </a:xfrm>
          <a:prstGeom prst="line">
            <a:avLst/>
          </a:prstGeom>
          <a:ln w="9525">
            <a:solidFill>
              <a:srgbClr val="3A3836"/>
            </a:solidFill>
          </a:ln>
        </p:spPr>
      </p:cxnSp>
      <p:sp>
        <p:nvSpPr>
          <p:cNvPr id="164" name="TextBox 163"/>
          <p:cNvSpPr txBox="1"/>
          <p:nvPr/>
        </p:nvSpPr>
        <p:spPr>
          <a:xfrm>
            <a:off x="6792100" y="6353375"/>
            <a:ext cx="960000" cy="200000"/>
          </a:xfrm>
          <a:prstGeom prst="rect">
            <a:avLst/>
          </a:prstGeom>
          <a:noFill/>
        </p:spPr>
        <p:txBody>
          <a:bodyPr wrap="square" lIns="0" tIns="0" rIns="0" bIns="0" anchor="t"/>
          <a:lstStyle/>
          <a:p>
            <a:pPr algn="l">
              <a:lnSpc>
                <a:spcPts val="900"/>
              </a:lnSpc>
            </a:pPr>
            <a:r>
              <a:rPr lang="en-US" sz="700" b="0" i="0">
                <a:solidFill>
                  <a:srgbClr val="FFFFFF"/>
                </a:solidFill>
              </a:rPr>
              <a:t>Transportation &amp; Logistics</a:t>
            </a:r>
          </a:p>
        </p:txBody>
      </p:sp>
      <p:sp>
        <p:nvSpPr>
          <p:cNvPr id="165" name="TextBox 164"/>
          <p:cNvSpPr txBox="1"/>
          <p:nvPr/>
        </p:nvSpPr>
        <p:spPr>
          <a:xfrm>
            <a:off x="7792100" y="6343375"/>
            <a:ext cx="424300" cy="200000"/>
          </a:xfrm>
          <a:prstGeom prst="rect">
            <a:avLst/>
          </a:prstGeom>
          <a:noFill/>
        </p:spPr>
        <p:txBody>
          <a:bodyPr wrap="square" lIns="0" tIns="0" rIns="0" bIns="0" anchor="t"/>
          <a:lstStyle/>
          <a:p>
            <a:pPr algn="r"/>
            <a:r>
              <a:rPr lang="en-US" sz="950" b="1" i="0">
                <a:solidFill>
                  <a:srgbClr val="FFFFFF"/>
                </a:solidFill>
                <a:latin typeface="+mj-lt"/>
              </a:rPr>
              <a:t>12.2x</a:t>
            </a:r>
          </a:p>
        </p:txBody>
      </p:sp>
      <p:sp>
        <p:nvSpPr>
          <p:cNvPr id="166" name="TextBox 165"/>
          <p:cNvSpPr txBox="1"/>
          <p:nvPr/>
        </p:nvSpPr>
        <p:spPr>
          <a:xfrm>
            <a:off x="8216400" y="6343375"/>
            <a:ext cx="424300" cy="200000"/>
          </a:xfrm>
          <a:prstGeom prst="rect">
            <a:avLst/>
          </a:prstGeom>
          <a:noFill/>
        </p:spPr>
        <p:txBody>
          <a:bodyPr wrap="square" lIns="0" tIns="0" rIns="0" bIns="0" anchor="t"/>
          <a:lstStyle/>
          <a:p>
            <a:pPr algn="r"/>
            <a:r>
              <a:rPr lang="en-US" sz="950" b="1" i="0">
                <a:solidFill>
                  <a:srgbClr val="FFFFFF"/>
                </a:solidFill>
                <a:latin typeface="+mj-lt"/>
              </a:rPr>
              <a:t>4.1%</a:t>
            </a:r>
          </a:p>
        </p:txBody>
      </p:sp>
      <p:sp>
        <p:nvSpPr>
          <p:cNvPr id="167" name="TextBox 166"/>
          <p:cNvSpPr txBox="1"/>
          <p:nvPr/>
        </p:nvSpPr>
        <p:spPr>
          <a:xfrm>
            <a:off x="8640700" y="6343375"/>
            <a:ext cx="424300" cy="200000"/>
          </a:xfrm>
          <a:prstGeom prst="rect">
            <a:avLst/>
          </a:prstGeom>
          <a:noFill/>
        </p:spPr>
        <p:txBody>
          <a:bodyPr wrap="square" lIns="0" tIns="0" rIns="0" bIns="0" anchor="t"/>
          <a:lstStyle/>
          <a:p>
            <a:pPr algn="r"/>
            <a:r>
              <a:rPr lang="en-US" sz="950" b="1" i="0">
                <a:solidFill>
                  <a:srgbClr val="FFFFFF"/>
                </a:solidFill>
                <a:latin typeface="+mj-lt"/>
              </a:rPr>
              <a:t>10.1%</a:t>
            </a:r>
          </a:p>
        </p:txBody>
      </p:sp>
      <p:sp>
        <p:nvSpPr>
          <p:cNvPr id="168" name="TextBox 167"/>
          <p:cNvSpPr txBox="1"/>
          <p:nvPr/>
        </p:nvSpPr>
        <p:spPr>
          <a:xfrm>
            <a:off x="9065000" y="6343375"/>
            <a:ext cx="424300" cy="200000"/>
          </a:xfrm>
          <a:prstGeom prst="rect">
            <a:avLst/>
          </a:prstGeom>
          <a:noFill/>
        </p:spPr>
        <p:txBody>
          <a:bodyPr wrap="square" lIns="0" tIns="0" rIns="0" bIns="0" anchor="t"/>
          <a:lstStyle/>
          <a:p>
            <a:pPr algn="r"/>
            <a:r>
              <a:rPr lang="en-US" sz="950" b="1" i="0">
                <a:solidFill>
                  <a:srgbClr val="FFFFFF"/>
                </a:solidFill>
                <a:latin typeface="+mj-lt"/>
              </a:rPr>
              <a:t>3</a:t>
            </a:r>
          </a:p>
        </p:txBody>
      </p:sp>
      <p:sp>
        <p:nvSpPr>
          <p:cNvPr id="169" name="TextBox 168"/>
          <p:cNvSpPr txBox="1"/>
          <p:nvPr/>
        </p:nvSpPr>
        <p:spPr>
          <a:xfrm>
            <a:off x="6792100" y="6624200"/>
            <a:ext cx="2697200" cy="260000"/>
          </a:xfrm>
          <a:prstGeom prst="rect">
            <a:avLst/>
          </a:prstGeom>
          <a:noFill/>
        </p:spPr>
        <p:txBody>
          <a:bodyPr wrap="square" lIns="0" tIns="0" rIns="0" bIns="0" anchor="t"/>
          <a:lstStyle/>
          <a:p>
            <a:pPr algn="l">
              <a:lnSpc>
                <a:spcPts val="850"/>
              </a:lnSpc>
            </a:pPr>
            <a:r>
              <a:rPr lang="en-US" sz="650" b="0" i="0">
                <a:solidFill>
                  <a:srgbClr val="A8A29B"/>
                </a:solidFill>
              </a:rPr>
              <a:t>Closed deals are counts of Benchmark transactions.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How the Buildout Reaches the Industrial Segments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grows about 2% a year and the equipment is sold out years ahead, so acquirers buy the people, permits, and delivery slots already in place.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 Capacity and lead-time figures are as reported by the named company or outlet.</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Power is the constraint</a:t>
            </a:r>
          </a:p>
          <a:p>
            <a:pPr>
              <a:lnSpc>
                <a:spcPct val="100000"/>
              </a:lnSpc>
            </a:pPr>
            <a:endParaRPr lang="en-US" sz="800" i="1" dirty="0"/>
          </a:p>
          <a:p>
            <a:r>
              <a:rPr lang="en-US" sz="800" i="1" dirty="0"/>
              <a:t>“So, it’s interesting as they continue to announce all the data centers and data center sites. I’ve sort of always had the strong view that energy would be the constraint.”</a:t>
            </a:r>
            <a:endParaRPr lang="en-US" sz="800" dirty="0"/>
          </a:p>
          <a:p>
            <a:r>
              <a:rPr lang="en-US" sz="800" i="0" dirty="0"/>
              <a:t>Greg Abel, CEO, Berkshire Hathaway (</a:t>
            </a:r>
            <a:r>
              <a:rPr sz="800" i="0">
                <a:hlinkClick r:id="rId9"/>
              </a:rPr>
              <a:t>CNBC</a:t>
            </a:r>
            <a:r>
              <a:rPr sz="800" i="0"/>
              <a:t>)</a:t>
            </a:r>
            <a:endParaRPr lang="en-US" sz="800"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a:t>
            </a:r>
            <a:endParaRPr lang="en-US" sz="800" dirty="0"/>
          </a:p>
          <a:p>
            <a:r>
              <a:rPr lang="en-US" sz="800" i="0" dirty="0"/>
              <a:t>Toby Rice, CEO, EQT (</a:t>
            </a:r>
            <a:r>
              <a:rPr sz="800" i="0">
                <a:hlinkClick r:id="rId10"/>
              </a:rPr>
              <a:t>EQT Corporation</a:t>
            </a:r>
            <a:r>
              <a:rPr sz="800" i="0"/>
              <a:t>)</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a:t>
            </a:r>
          </a:p>
          <a:p>
            <a:r>
              <a:rPr lang="en-US" sz="800" i="0" dirty="0"/>
              <a:t>Satya Nadella, CEO, Microsoft (</a:t>
            </a:r>
            <a:r>
              <a:rPr sz="800" i="0">
                <a:hlinkClick r:id="rId11"/>
              </a:rPr>
              <a:t>Bg2 Pod</a:t>
            </a:r>
            <a:r>
              <a:rPr sz="800" i="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SEGMENT</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descr="Manufacturing icon"/>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which it put at 11.5 times anticipated 2026 adjusted EBITDA on the upfront payment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descr="Distribution icon"/>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The segment serves refining, petrochemical, utility, and power customers, where turnaround and maintenance work recurs on a schedule that an acquirer can underwrite.</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descr="Construction icon"/>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margin guidance after gross margin fell to 21.5% from 28.0%, mainly on the lower margins of an acquired business, with competition for skilled labor and materials in data center markets as a second factor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descr="Energy and power icon"/>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CORE keeps more than 1,000 transformers in inventory and delivers custom units in as little as 16 weeks, against lead times measured in years for new production.</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descr="Transportation icon"/>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Data center construction spending is up more than 73% over the past year (</a:t>
            </a:r>
            <a:r>
              <a:rPr lang="en-US" sz="795" u="sng" dirty="0">
                <a:solidFill>
                  <a:srgbClr val="8C6239"/>
                </a:solidFill>
                <a:hlinkClick r:id="rId23"/>
              </a:rPr>
              <a:t>ABC, reported by Construction Dive</a:t>
            </a:r>
            <a:r>
              <a:rPr lang="en-US" sz="795" dirty="0">
                <a:solidFill>
                  <a:srgbClr val="333231"/>
                </a:solidFill>
              </a:rPr>
              <a:t>), and the transformers, switchgear, and generators behind it move by heavy haul and project freight. JK Technology Services bought 360 Rigging, a Manassas, Virginia crane and rigging company that installs equipment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descr="Industrial plant at dusk"/>
          <p:cNvPicPr>
            <a:picLocks noChangeAspect="1"/>
          </p:cNvPicPr>
          <p:nvPr/>
        </p:nvPicPr>
        <p:blipFill>
          <a:blip r:embed="rId25"/>
          <a:srcRect t="13218" b="13218"/>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What We’re Reading</a:t>
            </a:r>
          </a:p>
        </p:txBody>
      </p:sp>
      <p:sp>
        <p:nvSpPr>
          <p:cNvPr id="3" name="Text Placeholder 2"/>
          <p:cNvSpPr>
            <a:spLocks noGrp="1"/>
          </p:cNvSpPr>
          <p:nvPr>
            <p:ph type="body" idx="107"/>
          </p:nvPr>
        </p:nvSpPr>
        <p:spPr/>
        <p:txBody>
          <a:bodyPr/>
          <a:lstStyle/>
          <a:p>
            <a:r>
              <a:rPr lang="en-US" sz="938" b="0">
                <a:solidFill>
                  <a:srgbClr val="6F6A66"/>
                </a:solidFill>
              </a:rPr>
              <a:t>Four pieces from the quarter that shape how buyers and owners are talking.</a:t>
            </a:r>
          </a:p>
        </p:txBody>
      </p:sp>
      <p:sp>
        <p:nvSpPr>
          <p:cNvPr id="4" name="Text Placeholder 3"/>
          <p:cNvSpPr>
            <a:spLocks noGrp="1"/>
          </p:cNvSpPr>
          <p:nvPr>
            <p:ph type="body" idx="108"/>
          </p:nvPr>
        </p:nvSpPr>
        <p:spPr/>
        <p:txBody>
          <a:bodyPr/>
          <a:lstStyle/>
          <a:p>
            <a:r>
              <a:rPr lang="en-US" sz="675" b="0">
                <a:solidFill>
                  <a:srgbClr val="6F6A66"/>
                </a:solidFill>
              </a:rPr>
              <a:t>Quotations are taken from the linked publications. Headlines and quotations remain the property of their publishers.</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
        <p:nvSpPr>
          <p:cNvPr id="51" name="Reading panel"/>
          <p:cNvSpPr/>
          <p:nvPr/>
        </p:nvSpPr>
        <p:spPr>
          <a:xfrm>
            <a:off x="419100" y="1238250"/>
            <a:ext cx="2400000" cy="5695950"/>
          </a:xfrm>
          <a:prstGeom prst="rect">
            <a:avLst/>
          </a:prstGeom>
          <a:solidFill>
            <a:srgbClr val="1B1A1A"/>
          </a:solidFill>
          <a:ln>
            <a:noFill/>
          </a:ln>
        </p:spPr>
        <p:txBody>
          <a:bodyPr rtlCol="0" anchor="ctr"/>
          <a:lstStyle/>
          <a:p>
            <a:pPr algn="ctr"/>
            <a:endParaRPr/>
          </a:p>
        </p:txBody>
      </p:sp>
      <p:sp>
        <p:nvSpPr>
          <p:cNvPr id="52" name="Rectangle 51"/>
          <p:cNvSpPr/>
          <p:nvPr/>
        </p:nvSpPr>
        <p:spPr>
          <a:xfrm>
            <a:off x="419100" y="1238250"/>
            <a:ext cx="2400000" cy="28575"/>
          </a:xfrm>
          <a:prstGeom prst="rect">
            <a:avLst/>
          </a:prstGeom>
          <a:solidFill>
            <a:srgbClr val="B68757"/>
          </a:solidFill>
          <a:ln>
            <a:noFill/>
          </a:ln>
        </p:spPr>
        <p:txBody>
          <a:bodyPr rtlCol="0" anchor="ctr"/>
          <a:lstStyle/>
          <a:p>
            <a:pPr algn="ctr"/>
            <a:endParaRPr/>
          </a:p>
        </p:txBody>
      </p:sp>
      <p:sp>
        <p:nvSpPr>
          <p:cNvPr id="53" name="TextBox 52"/>
          <p:cNvSpPr txBox="1"/>
          <p:nvPr/>
        </p:nvSpPr>
        <p:spPr>
          <a:xfrm>
            <a:off x="589100" y="1438250"/>
            <a:ext cx="2060000" cy="150000"/>
          </a:xfrm>
          <a:prstGeom prst="rect">
            <a:avLst/>
          </a:prstGeom>
          <a:noFill/>
        </p:spPr>
        <p:txBody>
          <a:bodyPr wrap="square" lIns="0" tIns="0" rIns="0" bIns="0" anchor="t"/>
          <a:lstStyle/>
          <a:p>
            <a:pPr algn="l"/>
            <a:r>
              <a:rPr lang="en-US" sz="675" b="1" i="0" spc="200">
                <a:solidFill>
                  <a:srgbClr val="B68757"/>
                </a:solidFill>
              </a:rPr>
              <a:t>FROM THE QUARTER</a:t>
            </a:r>
          </a:p>
        </p:txBody>
      </p:sp>
      <p:sp>
        <p:nvSpPr>
          <p:cNvPr id="54" name="TextBox 53"/>
          <p:cNvSpPr txBox="1"/>
          <p:nvPr/>
        </p:nvSpPr>
        <p:spPr>
          <a:xfrm>
            <a:off x="589100" y="1658250"/>
            <a:ext cx="2060000" cy="1300000"/>
          </a:xfrm>
          <a:prstGeom prst="rect">
            <a:avLst/>
          </a:prstGeom>
          <a:noFill/>
        </p:spPr>
        <p:txBody>
          <a:bodyPr wrap="square" lIns="0" tIns="0" rIns="0" bIns="0" anchor="t"/>
          <a:lstStyle/>
          <a:p>
            <a:pPr algn="l">
              <a:lnSpc>
                <a:spcPts val="1900"/>
              </a:lnSpc>
            </a:pPr>
            <a:r>
              <a:rPr lang="en-US" sz="1600" b="1" i="0">
                <a:solidFill>
                  <a:srgbClr val="FFFFFF"/>
                </a:solidFill>
                <a:latin typeface="+mj-lt"/>
              </a:rPr>
              <a:t>Reading list</a:t>
            </a:r>
          </a:p>
        </p:txBody>
      </p:sp>
      <p:sp>
        <p:nvSpPr>
          <p:cNvPr id="55" name="TextBox 54"/>
          <p:cNvSpPr txBox="1"/>
          <p:nvPr/>
        </p:nvSpPr>
        <p:spPr>
          <a:xfrm>
            <a:off x="589100" y="2738250"/>
            <a:ext cx="2060000" cy="3600000"/>
          </a:xfrm>
          <a:prstGeom prst="rect">
            <a:avLst/>
          </a:prstGeom>
          <a:noFill/>
        </p:spPr>
        <p:txBody>
          <a:bodyPr wrap="square" lIns="0" tIns="0" rIns="0" bIns="0" anchor="t"/>
          <a:lstStyle/>
          <a:p>
            <a:pPr algn="l">
              <a:lnSpc>
                <a:spcPts val="1200"/>
              </a:lnSpc>
            </a:pPr>
            <a:r>
              <a:rPr lang="en-US" sz="900" b="0" i="0" dirty="0">
                <a:solidFill>
                  <a:srgbClr val="E8E2DA"/>
                </a:solidFill>
              </a:rPr>
              <a:t>The four pieces cover manufacturing orders, grid equipment supply, middle-market financing terms, and cross-border freight volume, which are separate inputs to a sale process.</a:t>
            </a:r>
          </a:p>
          <a:p>
            <a:pPr algn="l">
              <a:lnSpc>
                <a:spcPts val="1200"/>
              </a:lnSpc>
              <a:spcBef>
                <a:spcPts val="800"/>
              </a:spcBef>
            </a:pPr>
            <a:r>
              <a:rPr lang="en-US" sz="900" b="0" i="0" dirty="0">
                <a:solidFill>
                  <a:srgbClr val="E8E2DA"/>
                </a:solidFill>
              </a:rPr>
              <a:t>The takeaways under the quotes tie the reading to what owners should have prepared before they go to market.</a:t>
            </a:r>
          </a:p>
        </p:txBody>
      </p:sp>
      <p:sp>
        <p:nvSpPr>
          <p:cNvPr id="56" name="Reading card 1"/>
          <p:cNvSpPr/>
          <p:nvPr/>
        </p:nvSpPr>
        <p:spPr>
          <a:xfrm>
            <a:off x="2933400" y="1238250"/>
            <a:ext cx="3295800" cy="2790825"/>
          </a:xfrm>
          <a:prstGeom prst="rect">
            <a:avLst/>
          </a:prstGeom>
          <a:solidFill>
            <a:srgbClr val="FFFFFF"/>
          </a:solidFill>
          <a:ln w="9525">
            <a:solidFill>
              <a:srgbClr val="E3DCD3"/>
            </a:solidFill>
          </a:ln>
        </p:spPr>
        <p:txBody>
          <a:bodyPr rtlCol="0" anchor="ctr"/>
          <a:lstStyle/>
          <a:p>
            <a:pPr algn="ctr"/>
            <a:endParaRPr/>
          </a:p>
        </p:txBody>
      </p:sp>
      <p:sp>
        <p:nvSpPr>
          <p:cNvPr id="57" name="TextBox 56"/>
          <p:cNvSpPr txBox="1"/>
          <p:nvPr/>
        </p:nvSpPr>
        <p:spPr>
          <a:xfrm>
            <a:off x="3073400" y="1368250"/>
            <a:ext cx="3015800" cy="150000"/>
          </a:xfrm>
          <a:prstGeom prst="rect">
            <a:avLst/>
          </a:prstGeom>
          <a:noFill/>
        </p:spPr>
        <p:txBody>
          <a:bodyPr wrap="square" lIns="0" tIns="0" rIns="0" bIns="0" anchor="t"/>
          <a:lstStyle/>
          <a:p>
            <a:pPr algn="l"/>
            <a:r>
              <a:rPr lang="en-US" sz="625" b="1" i="0" spc="200">
                <a:solidFill>
                  <a:srgbClr val="8C6239"/>
                </a:solidFill>
              </a:rPr>
              <a:t>ISM  |  1 OCTOBER 2026</a:t>
            </a:r>
          </a:p>
        </p:txBody>
      </p:sp>
      <p:sp>
        <p:nvSpPr>
          <p:cNvPr id="58" name="TextBox 57"/>
          <p:cNvSpPr txBox="1"/>
          <p:nvPr/>
        </p:nvSpPr>
        <p:spPr>
          <a:xfrm>
            <a:off x="3073400" y="1568250"/>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Manufacturing PMI® at 54.5%; September 2026 ISM® Manufacturing PMI® Report</a:t>
            </a:r>
          </a:p>
        </p:txBody>
      </p:sp>
      <p:sp>
        <p:nvSpPr>
          <p:cNvPr id="59" name="Rectangle 58"/>
          <p:cNvSpPr/>
          <p:nvPr/>
        </p:nvSpPr>
        <p:spPr>
          <a:xfrm>
            <a:off x="3073400" y="2168250"/>
            <a:ext cx="22860" cy="520000"/>
          </a:xfrm>
          <a:prstGeom prst="rect">
            <a:avLst/>
          </a:prstGeom>
          <a:solidFill>
            <a:srgbClr val="B68757"/>
          </a:solidFill>
          <a:ln>
            <a:noFill/>
          </a:ln>
        </p:spPr>
        <p:txBody>
          <a:bodyPr rtlCol="0" anchor="ctr"/>
          <a:lstStyle/>
          <a:p>
            <a:pPr algn="ctr"/>
            <a:endParaRPr/>
          </a:p>
        </p:txBody>
      </p:sp>
      <p:sp>
        <p:nvSpPr>
          <p:cNvPr id="60" name="TextBox 59"/>
          <p:cNvSpPr txBox="1"/>
          <p:nvPr/>
        </p:nvSpPr>
        <p:spPr>
          <a:xfrm>
            <a:off x="3163400" y="2158250"/>
            <a:ext cx="2925800" cy="560000"/>
          </a:xfrm>
          <a:prstGeom prst="rect">
            <a:avLst/>
          </a:prstGeom>
          <a:noFill/>
        </p:spPr>
        <p:txBody>
          <a:bodyPr wrap="square" lIns="0" tIns="0" rIns="0" bIns="0" anchor="t"/>
          <a:lstStyle/>
          <a:p>
            <a:pPr algn="l">
              <a:lnSpc>
                <a:spcPts val="1019"/>
              </a:lnSpc>
            </a:pPr>
            <a:r>
              <a:rPr lang="en-US" sz="760" b="0" i="1">
                <a:solidFill>
                  <a:srgbClr val="333231"/>
                </a:solidFill>
              </a:rPr>
              <a:t>“The New Orders Index expanded for the ninth consecutive month after four straight readings in contraction.”</a:t>
            </a:r>
          </a:p>
          <a:p>
            <a:pPr algn="l">
              <a:lnSpc>
                <a:spcPts val="850"/>
              </a:lnSpc>
              <a:spcBef>
                <a:spcPts val="200"/>
              </a:spcBef>
            </a:pPr>
            <a:r>
              <a:rPr lang="en-US" sz="650" b="0" i="0">
                <a:solidFill>
                  <a:srgbClr val="6F6A66"/>
                </a:solidFill>
              </a:rPr>
              <a:t>Susan Spence, Chair, ISM Manufacturing Business Survey Committee</a:t>
            </a:r>
          </a:p>
        </p:txBody>
      </p:sp>
      <p:sp>
        <p:nvSpPr>
          <p:cNvPr id="61" name="TextBox 60"/>
          <p:cNvSpPr txBox="1"/>
          <p:nvPr/>
        </p:nvSpPr>
        <p:spPr>
          <a:xfrm>
            <a:off x="3073400" y="2798250"/>
            <a:ext cx="3015800" cy="900000"/>
          </a:xfrm>
          <a:prstGeom prst="rect">
            <a:avLst/>
          </a:prstGeom>
          <a:noFill/>
        </p:spPr>
        <p:txBody>
          <a:bodyPr wrap="square" lIns="0" tIns="0" rIns="0" bIns="0" anchor="t"/>
          <a:lstStyle/>
          <a:p>
            <a:pPr algn="l">
              <a:lnSpc>
                <a:spcPts val="1050"/>
              </a:lnSpc>
            </a:pPr>
            <a:r>
              <a:rPr lang="en-US" sz="760" b="0" i="0">
                <a:solidFill>
                  <a:srgbClr val="333231"/>
                </a:solidFill>
              </a:rPr>
              <a:t>The September PMI reached 54.5%, and new orders have grown nine months running after four months of contraction, so an owner planning a sale should show two or three quarters of order growth in the monthly financials before going to market.</a:t>
            </a:r>
          </a:p>
        </p:txBody>
      </p:sp>
      <p:sp>
        <p:nvSpPr>
          <p:cNvPr id="62" name="Read button"/>
          <p:cNvSpPr/>
          <p:nvPr/>
        </p:nvSpPr>
        <p:spPr>
          <a:xfrm>
            <a:off x="3073400" y="3699075"/>
            <a:ext cx="900000" cy="200000"/>
          </a:xfrm>
          <a:prstGeom prst="rect">
            <a:avLst/>
          </a:prstGeom>
          <a:solidFill>
            <a:srgbClr val="1B1A1A"/>
          </a:solidFill>
          <a:ln>
            <a:noFill/>
          </a:ln>
        </p:spPr>
        <p:txBody>
          <a:bodyPr rtlCol="0" anchor="ctr"/>
          <a:lstStyle/>
          <a:p>
            <a:pPr algn="ctr"/>
            <a:endParaRPr/>
          </a:p>
        </p:txBody>
      </p:sp>
      <p:sp>
        <p:nvSpPr>
          <p:cNvPr id="63" name="TextBox 62"/>
          <p:cNvSpPr txBox="1"/>
          <p:nvPr/>
        </p:nvSpPr>
        <p:spPr>
          <a:xfrm>
            <a:off x="3073400" y="3699075"/>
            <a:ext cx="900000" cy="200000"/>
          </a:xfrm>
          <a:prstGeom prst="rect">
            <a:avLst/>
          </a:prstGeom>
          <a:noFill/>
        </p:spPr>
        <p:txBody>
          <a:bodyPr wrap="square" lIns="0" tIns="0" rIns="0" bIns="0" anchor="ctr"/>
          <a:lstStyle/>
          <a:p>
            <a:pPr algn="ctr"/>
            <a:r>
              <a:rPr lang="en-US" sz="625" b="1" i="0" spc="100">
                <a:solidFill>
                  <a:srgbClr val="FFFFFF"/>
                </a:solidFill>
                <a:hlinkClick r:id="rId2">
                  <a:extLst>
                    <a:ext uri="{A12FA001-AC4F-418D-AE19-62706E023703}">
                      <ahyp:hlinkClr xmlns:ahyp="http://schemas.microsoft.com/office/drawing/2018/hyperlinkcolor" val="tx"/>
                    </a:ext>
                  </a:extLst>
                </a:hlinkClick>
              </a:rPr>
              <a:t>READ HERE</a:t>
            </a:r>
          </a:p>
        </p:txBody>
      </p:sp>
      <p:sp>
        <p:nvSpPr>
          <p:cNvPr id="64" name="Reading card 2"/>
          <p:cNvSpPr/>
          <p:nvPr/>
        </p:nvSpPr>
        <p:spPr>
          <a:xfrm>
            <a:off x="6343500" y="1238250"/>
            <a:ext cx="3295800" cy="2790825"/>
          </a:xfrm>
          <a:prstGeom prst="rect">
            <a:avLst/>
          </a:prstGeom>
          <a:solidFill>
            <a:srgbClr val="FFFFFF"/>
          </a:solidFill>
          <a:ln w="9525">
            <a:solidFill>
              <a:srgbClr val="E3DCD3"/>
            </a:solidFill>
          </a:ln>
        </p:spPr>
        <p:txBody>
          <a:bodyPr rtlCol="0" anchor="ctr"/>
          <a:lstStyle/>
          <a:p>
            <a:pPr algn="ctr"/>
            <a:endParaRPr/>
          </a:p>
        </p:txBody>
      </p:sp>
      <p:sp>
        <p:nvSpPr>
          <p:cNvPr id="65" name="TextBox 64"/>
          <p:cNvSpPr txBox="1"/>
          <p:nvPr/>
        </p:nvSpPr>
        <p:spPr>
          <a:xfrm>
            <a:off x="6483500" y="1368250"/>
            <a:ext cx="3015800" cy="150000"/>
          </a:xfrm>
          <a:prstGeom prst="rect">
            <a:avLst/>
          </a:prstGeom>
          <a:noFill/>
        </p:spPr>
        <p:txBody>
          <a:bodyPr wrap="square" lIns="0" tIns="0" rIns="0" bIns="0" anchor="t"/>
          <a:lstStyle/>
          <a:p>
            <a:pPr algn="l"/>
            <a:r>
              <a:rPr lang="en-US" sz="625" b="1" i="0" spc="200">
                <a:solidFill>
                  <a:srgbClr val="8C6239"/>
                </a:solidFill>
              </a:rPr>
              <a:t>REUTERS (VIA KITCO NEWS)  |  9 JULY 2026</a:t>
            </a:r>
          </a:p>
        </p:txBody>
      </p:sp>
      <p:sp>
        <p:nvSpPr>
          <p:cNvPr id="66" name="TextBox 65"/>
          <p:cNvSpPr txBox="1"/>
          <p:nvPr/>
        </p:nvSpPr>
        <p:spPr>
          <a:xfrm>
            <a:off x="6483500" y="1568250"/>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US power companies scramble to secure equipment as surging data center demand strains supplies</a:t>
            </a:r>
          </a:p>
        </p:txBody>
      </p:sp>
      <p:sp>
        <p:nvSpPr>
          <p:cNvPr id="67" name="Rectangle 66"/>
          <p:cNvSpPr/>
          <p:nvPr/>
        </p:nvSpPr>
        <p:spPr>
          <a:xfrm>
            <a:off x="6483500" y="2168250"/>
            <a:ext cx="22860" cy="520000"/>
          </a:xfrm>
          <a:prstGeom prst="rect">
            <a:avLst/>
          </a:prstGeom>
          <a:solidFill>
            <a:srgbClr val="B68757"/>
          </a:solidFill>
          <a:ln>
            <a:noFill/>
          </a:ln>
        </p:spPr>
        <p:txBody>
          <a:bodyPr rtlCol="0" anchor="ctr"/>
          <a:lstStyle/>
          <a:p>
            <a:pPr algn="ctr"/>
            <a:endParaRPr/>
          </a:p>
        </p:txBody>
      </p:sp>
      <p:sp>
        <p:nvSpPr>
          <p:cNvPr id="68" name="TextBox 67"/>
          <p:cNvSpPr txBox="1"/>
          <p:nvPr/>
        </p:nvSpPr>
        <p:spPr>
          <a:xfrm>
            <a:off x="6573500" y="2158250"/>
            <a:ext cx="2925800" cy="560000"/>
          </a:xfrm>
          <a:prstGeom prst="rect">
            <a:avLst/>
          </a:prstGeom>
          <a:noFill/>
        </p:spPr>
        <p:txBody>
          <a:bodyPr wrap="square" lIns="0" tIns="0" rIns="0" bIns="0" anchor="t"/>
          <a:lstStyle/>
          <a:p>
            <a:pPr algn="l">
              <a:lnSpc>
                <a:spcPts val="1019"/>
              </a:lnSpc>
            </a:pPr>
            <a:r>
              <a:rPr lang="en-US" sz="760" b="0" i="1">
                <a:solidFill>
                  <a:srgbClr val="333231"/>
                </a:solidFill>
              </a:rPr>
              <a:t>“Equipment availability is becoming the biggest concern for developers as they value time to market so highly.”</a:t>
            </a:r>
          </a:p>
          <a:p>
            <a:pPr algn="l">
              <a:lnSpc>
                <a:spcPts val="850"/>
              </a:lnSpc>
              <a:spcBef>
                <a:spcPts val="200"/>
              </a:spcBef>
            </a:pPr>
            <a:r>
              <a:rPr lang="en-US" sz="650" b="0" i="0">
                <a:solidFill>
                  <a:srgbClr val="6F6A66"/>
                </a:solidFill>
              </a:rPr>
              <a:t>Ben Boucher, senior analyst, Wood Mackenzie</a:t>
            </a:r>
          </a:p>
        </p:txBody>
      </p:sp>
      <p:sp>
        <p:nvSpPr>
          <p:cNvPr id="69" name="TextBox 68"/>
          <p:cNvSpPr txBox="1"/>
          <p:nvPr/>
        </p:nvSpPr>
        <p:spPr>
          <a:xfrm>
            <a:off x="6483500" y="2798250"/>
            <a:ext cx="3015800" cy="900000"/>
          </a:xfrm>
          <a:prstGeom prst="rect">
            <a:avLst/>
          </a:prstGeom>
          <a:noFill/>
        </p:spPr>
        <p:txBody>
          <a:bodyPr wrap="square" lIns="0" tIns="0" rIns="0" bIns="0" anchor="t"/>
          <a:lstStyle/>
          <a:p>
            <a:pPr algn="l">
              <a:lnSpc>
                <a:spcPts val="1050"/>
              </a:lnSpc>
            </a:pPr>
            <a:r>
              <a:rPr lang="en-US" sz="760" b="0" i="0">
                <a:solidFill>
                  <a:srgbClr val="333231"/>
                </a:solidFill>
              </a:rPr>
              <a:t>Generator step-up transformer lead times passed 160 weeks against 143 weeks on average in 2024, and utilities now buy equipment for projects they expect five years ahead, so owners serving grid and data center work should document backlog, supplier agreements, and delivery slots before launching a process.</a:t>
            </a:r>
          </a:p>
        </p:txBody>
      </p:sp>
      <p:sp>
        <p:nvSpPr>
          <p:cNvPr id="70" name="Read button"/>
          <p:cNvSpPr/>
          <p:nvPr/>
        </p:nvSpPr>
        <p:spPr>
          <a:xfrm>
            <a:off x="6483500" y="3699075"/>
            <a:ext cx="900000" cy="200000"/>
          </a:xfrm>
          <a:prstGeom prst="rect">
            <a:avLst/>
          </a:prstGeom>
          <a:solidFill>
            <a:srgbClr val="1B1A1A"/>
          </a:solidFill>
          <a:ln>
            <a:noFill/>
          </a:ln>
        </p:spPr>
        <p:txBody>
          <a:bodyPr rtlCol="0" anchor="ctr"/>
          <a:lstStyle/>
          <a:p>
            <a:pPr algn="ctr"/>
            <a:endParaRPr/>
          </a:p>
        </p:txBody>
      </p:sp>
      <p:sp>
        <p:nvSpPr>
          <p:cNvPr id="71" name="TextBox 70"/>
          <p:cNvSpPr txBox="1"/>
          <p:nvPr/>
        </p:nvSpPr>
        <p:spPr>
          <a:xfrm>
            <a:off x="6483500" y="3699075"/>
            <a:ext cx="900000" cy="200000"/>
          </a:xfrm>
          <a:prstGeom prst="rect">
            <a:avLst/>
          </a:prstGeom>
          <a:noFill/>
        </p:spPr>
        <p:txBody>
          <a:bodyPr wrap="square" lIns="0" tIns="0" rIns="0" bIns="0" anchor="ctr"/>
          <a:lstStyle/>
          <a:p>
            <a:pPr algn="ctr"/>
            <a:r>
              <a:rPr lang="en-US" sz="625" b="1" i="0" spc="100">
                <a:solidFill>
                  <a:srgbClr val="FFFFFF"/>
                </a:solidFill>
                <a:hlinkClick r:id="rId3">
                  <a:extLst>
                    <a:ext uri="{A12FA001-AC4F-418D-AE19-62706E023703}">
                      <ahyp:hlinkClr xmlns:ahyp="http://schemas.microsoft.com/office/drawing/2018/hyperlinkcolor" val="tx"/>
                    </a:ext>
                  </a:extLst>
                </a:hlinkClick>
              </a:rPr>
              <a:t>READ HERE</a:t>
            </a:r>
          </a:p>
        </p:txBody>
      </p:sp>
      <p:sp>
        <p:nvSpPr>
          <p:cNvPr id="72" name="Reading card 3"/>
          <p:cNvSpPr/>
          <p:nvPr/>
        </p:nvSpPr>
        <p:spPr>
          <a:xfrm>
            <a:off x="2933400" y="4143375"/>
            <a:ext cx="3295800" cy="2790825"/>
          </a:xfrm>
          <a:prstGeom prst="rect">
            <a:avLst/>
          </a:prstGeom>
          <a:solidFill>
            <a:srgbClr val="FFFFFF"/>
          </a:solidFill>
          <a:ln w="9525">
            <a:solidFill>
              <a:srgbClr val="E3DCD3"/>
            </a:solidFill>
          </a:ln>
        </p:spPr>
        <p:txBody>
          <a:bodyPr rtlCol="0" anchor="ctr"/>
          <a:lstStyle/>
          <a:p>
            <a:pPr algn="ctr"/>
            <a:endParaRPr/>
          </a:p>
        </p:txBody>
      </p:sp>
      <p:sp>
        <p:nvSpPr>
          <p:cNvPr id="73" name="TextBox 72"/>
          <p:cNvSpPr txBox="1"/>
          <p:nvPr/>
        </p:nvSpPr>
        <p:spPr>
          <a:xfrm>
            <a:off x="3073400" y="4273375"/>
            <a:ext cx="3015800" cy="150000"/>
          </a:xfrm>
          <a:prstGeom prst="rect">
            <a:avLst/>
          </a:prstGeom>
          <a:noFill/>
        </p:spPr>
        <p:txBody>
          <a:bodyPr wrap="square" lIns="0" tIns="0" rIns="0" bIns="0" anchor="t"/>
          <a:lstStyle/>
          <a:p>
            <a:pPr algn="l"/>
            <a:r>
              <a:rPr lang="en-US" sz="625" b="1" i="0" spc="200">
                <a:solidFill>
                  <a:srgbClr val="8C6239"/>
                </a:solidFill>
              </a:rPr>
              <a:t>ACG (GF DATA)  |  27 AUGUST 2026</a:t>
            </a:r>
          </a:p>
        </p:txBody>
      </p:sp>
      <p:sp>
        <p:nvSpPr>
          <p:cNvPr id="74" name="TextBox 73"/>
          <p:cNvSpPr txBox="1"/>
          <p:nvPr/>
        </p:nvSpPr>
        <p:spPr>
          <a:xfrm>
            <a:off x="3073400" y="4473375"/>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GF Data Reports Show Steady Middle-Market Deal Flow Amid More Selective Financing Conditions in Q2</a:t>
            </a:r>
          </a:p>
        </p:txBody>
      </p:sp>
      <p:sp>
        <p:nvSpPr>
          <p:cNvPr id="75" name="Rectangle 74"/>
          <p:cNvSpPr/>
          <p:nvPr/>
        </p:nvSpPr>
        <p:spPr>
          <a:xfrm>
            <a:off x="3073400" y="5073375"/>
            <a:ext cx="22860" cy="520000"/>
          </a:xfrm>
          <a:prstGeom prst="rect">
            <a:avLst/>
          </a:prstGeom>
          <a:solidFill>
            <a:srgbClr val="B68757"/>
          </a:solidFill>
          <a:ln>
            <a:noFill/>
          </a:ln>
        </p:spPr>
        <p:txBody>
          <a:bodyPr rtlCol="0" anchor="ctr"/>
          <a:lstStyle/>
          <a:p>
            <a:pPr algn="ctr"/>
            <a:endParaRPr/>
          </a:p>
        </p:txBody>
      </p:sp>
      <p:sp>
        <p:nvSpPr>
          <p:cNvPr id="76" name="TextBox 75"/>
          <p:cNvSpPr txBox="1"/>
          <p:nvPr/>
        </p:nvSpPr>
        <p:spPr>
          <a:xfrm>
            <a:off x="3163400" y="5063375"/>
            <a:ext cx="2925800" cy="560000"/>
          </a:xfrm>
          <a:prstGeom prst="rect">
            <a:avLst/>
          </a:prstGeom>
          <a:noFill/>
        </p:spPr>
        <p:txBody>
          <a:bodyPr wrap="square" lIns="0" tIns="0" rIns="0" bIns="0" anchor="t"/>
          <a:lstStyle/>
          <a:p>
            <a:pPr algn="l">
              <a:lnSpc>
                <a:spcPts val="1019"/>
              </a:lnSpc>
            </a:pPr>
            <a:r>
              <a:rPr lang="en-US" sz="760" b="0" i="1">
                <a:solidFill>
                  <a:srgbClr val="333231"/>
                </a:solidFill>
              </a:rPr>
              <a:t>“Average total debt on platform transactions declined to 2.9x TTM EBITDA from 3.4x in Q1.”</a:t>
            </a:r>
          </a:p>
          <a:p>
            <a:pPr algn="l">
              <a:lnSpc>
                <a:spcPts val="850"/>
              </a:lnSpc>
              <a:spcBef>
                <a:spcPts val="200"/>
              </a:spcBef>
            </a:pPr>
            <a:r>
              <a:rPr lang="en-US" sz="650" b="0" i="0">
                <a:solidFill>
                  <a:srgbClr val="6F6A66"/>
                </a:solidFill>
              </a:rPr>
              <a:t>GF Data Leverage Report</a:t>
            </a:r>
          </a:p>
        </p:txBody>
      </p:sp>
      <p:sp>
        <p:nvSpPr>
          <p:cNvPr id="77" name="TextBox 76"/>
          <p:cNvSpPr txBox="1"/>
          <p:nvPr/>
        </p:nvSpPr>
        <p:spPr>
          <a:xfrm>
            <a:off x="3073400" y="5703375"/>
            <a:ext cx="3015800" cy="900000"/>
          </a:xfrm>
          <a:prstGeom prst="rect">
            <a:avLst/>
          </a:prstGeom>
          <a:noFill/>
        </p:spPr>
        <p:txBody>
          <a:bodyPr wrap="square" lIns="0" tIns="0" rIns="0" bIns="0" anchor="t"/>
          <a:lstStyle/>
          <a:p>
            <a:pPr algn="l">
              <a:lnSpc>
                <a:spcPts val="1050"/>
              </a:lnSpc>
            </a:pPr>
            <a:r>
              <a:rPr lang="en-US" sz="760" b="0" i="0">
                <a:solidFill>
                  <a:srgbClr val="333231"/>
                </a:solidFill>
              </a:rPr>
              <a:t>Average purchase multiples slipped to 7.0x from 7.3x across 85 completed deals in the second quarter while senior debt pricing rose to 7.8%, so sellers should expect price discipline and use a quality of earnings report to defend a premium.</a:t>
            </a:r>
          </a:p>
        </p:txBody>
      </p:sp>
      <p:sp>
        <p:nvSpPr>
          <p:cNvPr id="78" name="Read button"/>
          <p:cNvSpPr/>
          <p:nvPr/>
        </p:nvSpPr>
        <p:spPr>
          <a:xfrm>
            <a:off x="3073400" y="6604200"/>
            <a:ext cx="900000" cy="200000"/>
          </a:xfrm>
          <a:prstGeom prst="rect">
            <a:avLst/>
          </a:prstGeom>
          <a:solidFill>
            <a:srgbClr val="1B1A1A"/>
          </a:solidFill>
          <a:ln>
            <a:noFill/>
          </a:ln>
        </p:spPr>
        <p:txBody>
          <a:bodyPr rtlCol="0" anchor="ctr"/>
          <a:lstStyle/>
          <a:p>
            <a:pPr algn="ctr"/>
            <a:endParaRPr/>
          </a:p>
        </p:txBody>
      </p:sp>
      <p:sp>
        <p:nvSpPr>
          <p:cNvPr id="79" name="TextBox 78"/>
          <p:cNvSpPr txBox="1"/>
          <p:nvPr/>
        </p:nvSpPr>
        <p:spPr>
          <a:xfrm>
            <a:off x="3073400" y="6604200"/>
            <a:ext cx="900000" cy="200000"/>
          </a:xfrm>
          <a:prstGeom prst="rect">
            <a:avLst/>
          </a:prstGeom>
          <a:noFill/>
        </p:spPr>
        <p:txBody>
          <a:bodyPr wrap="square" lIns="0" tIns="0" rIns="0" bIns="0" anchor="ctr"/>
          <a:lstStyle/>
          <a:p>
            <a:pPr algn="ctr"/>
            <a:r>
              <a:rPr lang="en-US" sz="625" b="1" i="0" spc="100">
                <a:solidFill>
                  <a:srgbClr val="FFFFFF"/>
                </a:solidFill>
                <a:hlinkClick r:id="rId4">
                  <a:extLst>
                    <a:ext uri="{A12FA001-AC4F-418D-AE19-62706E023703}">
                      <ahyp:hlinkClr xmlns:ahyp="http://schemas.microsoft.com/office/drawing/2018/hyperlinkcolor" val="tx"/>
                    </a:ext>
                  </a:extLst>
                </a:hlinkClick>
              </a:rPr>
              <a:t>READ HERE</a:t>
            </a:r>
          </a:p>
        </p:txBody>
      </p:sp>
      <p:sp>
        <p:nvSpPr>
          <p:cNvPr id="80" name="Reading card 4"/>
          <p:cNvSpPr/>
          <p:nvPr/>
        </p:nvSpPr>
        <p:spPr>
          <a:xfrm>
            <a:off x="6343500" y="4143375"/>
            <a:ext cx="3295800" cy="2790825"/>
          </a:xfrm>
          <a:prstGeom prst="rect">
            <a:avLst/>
          </a:prstGeom>
          <a:solidFill>
            <a:srgbClr val="FFFFFF"/>
          </a:solidFill>
          <a:ln w="9525">
            <a:solidFill>
              <a:srgbClr val="E3DCD3"/>
            </a:solidFill>
          </a:ln>
        </p:spPr>
        <p:txBody>
          <a:bodyPr rtlCol="0" anchor="ctr"/>
          <a:lstStyle/>
          <a:p>
            <a:pPr algn="ctr"/>
            <a:endParaRPr/>
          </a:p>
        </p:txBody>
      </p:sp>
      <p:sp>
        <p:nvSpPr>
          <p:cNvPr id="81" name="TextBox 80"/>
          <p:cNvSpPr txBox="1"/>
          <p:nvPr/>
        </p:nvSpPr>
        <p:spPr>
          <a:xfrm>
            <a:off x="6483500" y="4273375"/>
            <a:ext cx="3015800" cy="150000"/>
          </a:xfrm>
          <a:prstGeom prst="rect">
            <a:avLst/>
          </a:prstGeom>
          <a:noFill/>
        </p:spPr>
        <p:txBody>
          <a:bodyPr wrap="square" lIns="0" tIns="0" rIns="0" bIns="0" anchor="t"/>
          <a:lstStyle/>
          <a:p>
            <a:pPr algn="l"/>
            <a:r>
              <a:rPr lang="en-US" sz="625" b="1" i="0" spc="200">
                <a:solidFill>
                  <a:srgbClr val="8C6239"/>
                </a:solidFill>
              </a:rPr>
              <a:t>FREIGHTWAVES  |  7 OCTOBER 2026</a:t>
            </a:r>
          </a:p>
        </p:txBody>
      </p:sp>
      <p:sp>
        <p:nvSpPr>
          <p:cNvPr id="82" name="TextBox 81"/>
          <p:cNvSpPr txBox="1"/>
          <p:nvPr/>
        </p:nvSpPr>
        <p:spPr>
          <a:xfrm>
            <a:off x="6483500" y="4473375"/>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Mexico remains top US trading partner as August commerce hits $94.3B</a:t>
            </a:r>
          </a:p>
        </p:txBody>
      </p:sp>
      <p:sp>
        <p:nvSpPr>
          <p:cNvPr id="83" name="Rectangle 82"/>
          <p:cNvSpPr/>
          <p:nvPr/>
        </p:nvSpPr>
        <p:spPr>
          <a:xfrm>
            <a:off x="6483500" y="5073375"/>
            <a:ext cx="22860" cy="520000"/>
          </a:xfrm>
          <a:prstGeom prst="rect">
            <a:avLst/>
          </a:prstGeom>
          <a:solidFill>
            <a:srgbClr val="B68757"/>
          </a:solidFill>
          <a:ln>
            <a:noFill/>
          </a:ln>
        </p:spPr>
        <p:txBody>
          <a:bodyPr rtlCol="0" anchor="ctr"/>
          <a:lstStyle/>
          <a:p>
            <a:pPr algn="ctr"/>
            <a:endParaRPr/>
          </a:p>
        </p:txBody>
      </p:sp>
      <p:sp>
        <p:nvSpPr>
          <p:cNvPr id="84" name="TextBox 83"/>
          <p:cNvSpPr txBox="1"/>
          <p:nvPr/>
        </p:nvSpPr>
        <p:spPr>
          <a:xfrm>
            <a:off x="6573500" y="5063375"/>
            <a:ext cx="2925800" cy="560000"/>
          </a:xfrm>
          <a:prstGeom prst="rect">
            <a:avLst/>
          </a:prstGeom>
          <a:noFill/>
        </p:spPr>
        <p:txBody>
          <a:bodyPr wrap="square" lIns="0" tIns="0" rIns="0" bIns="0" anchor="t"/>
          <a:lstStyle/>
          <a:p>
            <a:pPr algn="l">
              <a:lnSpc>
                <a:spcPts val="1019"/>
              </a:lnSpc>
            </a:pPr>
            <a:r>
              <a:rPr lang="en-US" sz="760" b="0" i="1">
                <a:solidFill>
                  <a:srgbClr val="333231"/>
                </a:solidFill>
              </a:rPr>
              <a:t>“Imports through Laredo totaled $26.23 billion, a 33.9% increase, while exports increased 18.3% to $12.34 billion.”</a:t>
            </a:r>
          </a:p>
          <a:p>
            <a:pPr algn="l">
              <a:lnSpc>
                <a:spcPts val="850"/>
              </a:lnSpc>
              <a:spcBef>
                <a:spcPts val="200"/>
              </a:spcBef>
            </a:pPr>
            <a:r>
              <a:rPr lang="en-US" sz="650" b="0" i="0">
                <a:solidFill>
                  <a:srgbClr val="6F6A66"/>
                </a:solidFill>
              </a:rPr>
              <a:t>Noi Mahoney, FreightWaves (reporting Census trade data)</a:t>
            </a:r>
          </a:p>
        </p:txBody>
      </p:sp>
      <p:sp>
        <p:nvSpPr>
          <p:cNvPr id="85" name="TextBox 84"/>
          <p:cNvSpPr txBox="1"/>
          <p:nvPr/>
        </p:nvSpPr>
        <p:spPr>
          <a:xfrm>
            <a:off x="6483500" y="5703375"/>
            <a:ext cx="3015800" cy="900000"/>
          </a:xfrm>
          <a:prstGeom prst="rect">
            <a:avLst/>
          </a:prstGeom>
          <a:noFill/>
        </p:spPr>
        <p:txBody>
          <a:bodyPr wrap="square" lIns="0" tIns="0" rIns="0" bIns="0" anchor="t"/>
          <a:lstStyle/>
          <a:p>
            <a:pPr algn="l">
              <a:lnSpc>
                <a:spcPts val="1050"/>
              </a:lnSpc>
            </a:pPr>
            <a:r>
              <a:rPr lang="en-US" sz="760" b="0" i="0">
                <a:solidFill>
                  <a:srgbClr val="333231"/>
                </a:solidFill>
              </a:rPr>
              <a:t>August trade between the US and Mexico reached $94.3 billion and Laredo two-way trade rose 28.5%, so owners with cross-border exposure should document customer mix, tariff pass-through terms, and lane concentration, which buyers test in diligence.</a:t>
            </a:r>
          </a:p>
        </p:txBody>
      </p:sp>
      <p:sp>
        <p:nvSpPr>
          <p:cNvPr id="86" name="Read button"/>
          <p:cNvSpPr/>
          <p:nvPr/>
        </p:nvSpPr>
        <p:spPr>
          <a:xfrm>
            <a:off x="6483500" y="6604200"/>
            <a:ext cx="900000" cy="200000"/>
          </a:xfrm>
          <a:prstGeom prst="rect">
            <a:avLst/>
          </a:prstGeom>
          <a:solidFill>
            <a:srgbClr val="1B1A1A"/>
          </a:solidFill>
          <a:ln>
            <a:noFill/>
          </a:ln>
        </p:spPr>
        <p:txBody>
          <a:bodyPr rtlCol="0" anchor="ctr"/>
          <a:lstStyle/>
          <a:p>
            <a:pPr algn="ctr"/>
            <a:endParaRPr/>
          </a:p>
        </p:txBody>
      </p:sp>
      <p:sp>
        <p:nvSpPr>
          <p:cNvPr id="87" name="TextBox 86"/>
          <p:cNvSpPr txBox="1"/>
          <p:nvPr/>
        </p:nvSpPr>
        <p:spPr>
          <a:xfrm>
            <a:off x="6483500" y="6604200"/>
            <a:ext cx="900000" cy="200000"/>
          </a:xfrm>
          <a:prstGeom prst="rect">
            <a:avLst/>
          </a:prstGeom>
          <a:noFill/>
        </p:spPr>
        <p:txBody>
          <a:bodyPr wrap="square" lIns="0" tIns="0" rIns="0" bIns="0" anchor="ctr"/>
          <a:lstStyle/>
          <a:p>
            <a:pPr algn="ctr"/>
            <a:r>
              <a:rPr lang="en-US" sz="625" b="1" i="0" spc="100">
                <a:solidFill>
                  <a:srgbClr val="FFFFFF"/>
                </a:solidFill>
                <a:hlinkClick r:id="rId5">
                  <a:extLst>
                    <a:ext uri="{A12FA001-AC4F-418D-AE19-62706E023703}">
                      <ahyp:hlinkClr xmlns:ahyp="http://schemas.microsoft.com/office/drawing/2018/hyperlinkcolor" val="tx"/>
                    </a:ext>
                  </a:extLst>
                </a:hlinkClick>
              </a:rPr>
              <a:t>READ HERE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Our View</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Five conclusions from the quarter, and what they mean for an owner planning a sale in 2027.</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Views are those of the Benchmark International Middle Market team as of October 19, 2026 and draw on the sources cited on pages 5, 7, and 25. They are opinions, and the price of any company depends on that business.</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sp>
        <p:nvSpPr>
          <p:cNvPr id="7" name="Shape 4"/>
          <p:cNvSpPr/>
          <p:nvPr/>
        </p:nvSpPr>
        <p:spPr>
          <a:xfrm>
            <a:off x="419100" y="1238250"/>
            <a:ext cx="2495550" cy="28575"/>
          </a:xfrm>
          <a:prstGeom prst="rect">
            <a:avLst/>
          </a:prstGeom>
          <a:solidFill>
            <a:srgbClr val="B68757"/>
          </a:solidFill>
          <a:ln/>
        </p:spPr>
        <p:txBody>
          <a:bodyPr/>
          <a:lstStyle/>
          <a:p>
            <a:endParaRPr lang="en-US"/>
          </a:p>
        </p:txBody>
      </p:sp>
      <p:sp>
        <p:nvSpPr>
          <p:cNvPr id="8" name="Text 5"/>
          <p:cNvSpPr txBox="1"/>
          <p:nvPr/>
        </p:nvSpPr>
        <p:spPr>
          <a:xfrm>
            <a:off x="628650" y="1476375"/>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OUR VIEW IN ONE LINE</a:t>
            </a:r>
            <a:endParaRPr lang="en-US" sz="675" dirty="0"/>
          </a:p>
        </p:txBody>
      </p:sp>
      <p:sp>
        <p:nvSpPr>
          <p:cNvPr id="9" name="Text 6"/>
          <p:cNvSpPr txBox="1"/>
          <p:nvPr/>
        </p:nvSpPr>
        <p:spPr>
          <a:xfrm>
            <a:off x="628650" y="1948815"/>
            <a:ext cx="2095500" cy="195616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Buyers are paying premiums for specialized capabilities. Higher borrowing costs affect the offers they can make.</a:t>
            </a:r>
            <a:endParaRPr lang="en-US" sz="1238" dirty="0"/>
          </a:p>
        </p:txBody>
      </p:sp>
      <p:sp>
        <p:nvSpPr>
          <p:cNvPr id="10" name="Text 7"/>
          <p:cNvSpPr txBox="1"/>
          <p:nvPr/>
        </p:nvSpPr>
        <p:spPr>
          <a:xfrm>
            <a:off x="628650" y="3810000"/>
            <a:ext cx="2095500" cy="2400000"/>
          </a:xfrm>
          <a:prstGeom prst="rect">
            <a:avLst/>
          </a:prstGeom>
          <a:noFill/>
          <a:ln/>
        </p:spPr>
        <p:txBody>
          <a:bodyPr wrap="square" lIns="0" tIns="0" rIns="0" bIns="0" rtlCol="0" anchor="t"/>
          <a:lstStyle/>
          <a:p>
            <a:pPr marL="0" indent="0">
              <a:lnSpc>
                <a:spcPts val="1238"/>
              </a:lnSpc>
              <a:buNone/>
            </a:pPr>
            <a:r>
              <a:rPr lang="en-US" sz="825" b="1" dirty="0">
                <a:solidFill>
                  <a:srgbClr val="E8E2DA"/>
                </a:solidFill>
              </a:rPr>
              <a:t>FOR AN OWNER GOING TO MARKET IN 2027</a:t>
            </a:r>
            <a:endParaRPr lang="en-US" sz="825" dirty="0"/>
          </a:p>
          <a:p>
            <a:pPr marL="0" indent="0">
              <a:lnSpc>
                <a:spcPts val="1238"/>
              </a:lnSpc>
              <a:spcBef>
                <a:spcPts val="600"/>
              </a:spcBef>
              <a:buNone/>
            </a:pPr>
            <a:r>
              <a:rPr lang="en-US" sz="900" b="0" dirty="0">
                <a:solidFill>
                  <a:srgbClr val="E8E2DA"/>
                </a:solidFill>
              </a:rPr>
              <a:t>Report service, inspection, and aftermarket revenue separately from project and product sales, with renewal history.</a:t>
            </a:r>
            <a:endParaRPr lang="en-US" sz="900" dirty="0"/>
          </a:p>
          <a:p>
            <a:pPr marL="0" indent="0">
              <a:lnSpc>
                <a:spcPts val="1238"/>
              </a:lnSpc>
              <a:spcBef>
                <a:spcPts val="600"/>
              </a:spcBef>
              <a:buNone/>
            </a:pPr>
            <a:r>
              <a:rPr lang="en-US" sz="900" b="0" dirty="0">
                <a:solidFill>
                  <a:srgbClr val="E8E2DA"/>
                </a:solidFill>
              </a:rPr>
              <a:t>Show backlog by end market and funded status, and name the technicians who will perform it.</a:t>
            </a:r>
            <a:endParaRPr lang="en-US" sz="900" dirty="0"/>
          </a:p>
          <a:p>
            <a:pPr marL="0" indent="0">
              <a:lnSpc>
                <a:spcPts val="1238"/>
              </a:lnSpc>
              <a:spcBef>
                <a:spcPts val="600"/>
              </a:spcBef>
              <a:buNone/>
            </a:pPr>
            <a:r>
              <a:rPr lang="en-US" sz="900" b="0" dirty="0">
                <a:solidFill>
                  <a:srgbClr val="E8E2DA"/>
                </a:solidFill>
              </a:rPr>
              <a:t>Document how steel, diesel, and transformer cost increases pass through each contract.</a:t>
            </a:r>
            <a:endParaRPr lang="en-US" sz="900" dirty="0"/>
          </a:p>
        </p:txBody>
      </p:sp>
      <p:sp>
        <p:nvSpPr>
          <p:cNvPr id="13" name="Text 9"/>
          <p:cNvSpPr txBox="1"/>
          <p:nvPr/>
        </p:nvSpPr>
        <p:spPr>
          <a:xfrm>
            <a:off x="3657600" y="1276350"/>
            <a:ext cx="5981700" cy="190500"/>
          </a:xfrm>
          <a:prstGeom prst="rect">
            <a:avLst/>
          </a:prstGeom>
          <a:noFill/>
          <a:ln/>
        </p:spPr>
        <p:txBody>
          <a:bodyPr wrap="square" lIns="0" tIns="0" rIns="0" bIns="0" rtlCol="0" anchor="t"/>
          <a:lstStyle/>
          <a:p>
            <a:pPr marL="0" indent="0">
              <a:buNone/>
            </a:pPr>
            <a:r>
              <a:rPr lang="en-US" sz="975" b="1" dirty="0">
                <a:solidFill>
                  <a:srgbClr val="1B1A1A"/>
                </a:solidFill>
              </a:rPr>
              <a:t>Specialized capabilities command higher prices</a:t>
            </a:r>
            <a:endParaRPr lang="en-US" sz="975" dirty="0"/>
          </a:p>
        </p:txBody>
      </p:sp>
      <p:sp>
        <p:nvSpPr>
          <p:cNvPr id="14" name="Text 10"/>
          <p:cNvSpPr txBox="1"/>
          <p:nvPr/>
        </p:nvSpPr>
        <p:spPr>
          <a:xfrm>
            <a:off x="3657600" y="149542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nVent paid 11.5 times for switchgear it could not build in time, Clean Harbors about 17 times standalone EBITDA for a route network, and Redwood and Imperative bought Laredo brokers for licenses and bonded space. A founder-owned company that holds a certification, a permit, a delivery slot, or a license that takes years to replicate is priced on that asset, at 8 to 12 times, against about 6 times for project and product capacity.</a:t>
            </a:r>
            <a:endParaRPr lang="en-US" sz="810" dirty="0"/>
          </a:p>
        </p:txBody>
      </p:sp>
      <p:sp>
        <p:nvSpPr>
          <p:cNvPr id="18" name="Shape 14"/>
          <p:cNvSpPr/>
          <p:nvPr/>
        </p:nvSpPr>
        <p:spPr>
          <a:xfrm>
            <a:off x="3124200" y="2301240"/>
            <a:ext cx="6515100" cy="0"/>
          </a:xfrm>
          <a:prstGeom prst="line">
            <a:avLst/>
          </a:prstGeom>
          <a:noFill/>
          <a:ln w="9525">
            <a:solidFill>
              <a:srgbClr val="E3DCD3"/>
            </a:solidFill>
            <a:prstDash val="solid"/>
          </a:ln>
        </p:spPr>
        <p:txBody>
          <a:bodyPr/>
          <a:lstStyle/>
          <a:p>
            <a:endParaRPr lang="en-US"/>
          </a:p>
        </p:txBody>
      </p:sp>
      <p:sp>
        <p:nvSpPr>
          <p:cNvPr id="21" name="Text 16"/>
          <p:cNvSpPr txBox="1"/>
          <p:nvPr/>
        </p:nvSpPr>
        <p:spPr>
          <a:xfrm>
            <a:off x="3657600" y="2415540"/>
            <a:ext cx="5981700" cy="190500"/>
          </a:xfrm>
          <a:prstGeom prst="rect">
            <a:avLst/>
          </a:prstGeom>
          <a:noFill/>
          <a:ln/>
        </p:spPr>
        <p:txBody>
          <a:bodyPr wrap="square" lIns="0" tIns="0" rIns="0" bIns="0" rtlCol="0" anchor="t"/>
          <a:lstStyle/>
          <a:p>
            <a:pPr marL="0" indent="0">
              <a:buNone/>
            </a:pPr>
            <a:r>
              <a:rPr lang="en-US" sz="975" b="1" dirty="0">
                <a:solidFill>
                  <a:srgbClr val="1B1A1A"/>
                </a:solidFill>
              </a:rPr>
              <a:t>Higher rates affect sponsor financing</a:t>
            </a:r>
            <a:endParaRPr lang="en-US" sz="975" dirty="0"/>
          </a:p>
        </p:txBody>
      </p:sp>
      <p:sp>
        <p:nvSpPr>
          <p:cNvPr id="22" name="Text 17"/>
          <p:cNvSpPr txBox="1"/>
          <p:nvPr/>
        </p:nvSpPr>
        <p:spPr>
          <a:xfrm>
            <a:off x="3657600" y="263461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With the funds rate at 3.75% to 4.00%, the 10-year near 5%, and sponsor leverage at 2.9 times, a platform bid carries half a turn less debt than it did in the spring. Strategic acquirers with cash and synergies are affected less, and we expect their share of mid-market industrial sales, 56% of our closed transactions over two years, to rise through 2027. Sponsor offers will lean on earn-outs and seller notes, and the structure deserves as much attention as the headline number.</a:t>
            </a:r>
            <a:endParaRPr lang="en-US" sz="810" dirty="0"/>
          </a:p>
        </p:txBody>
      </p:sp>
      <p:sp>
        <p:nvSpPr>
          <p:cNvPr id="26" name="Shape 21"/>
          <p:cNvSpPr/>
          <p:nvPr/>
        </p:nvSpPr>
        <p:spPr>
          <a:xfrm>
            <a:off x="3124200" y="3440430"/>
            <a:ext cx="6515100" cy="0"/>
          </a:xfrm>
          <a:prstGeom prst="line">
            <a:avLst/>
          </a:prstGeom>
          <a:noFill/>
          <a:ln w="9525">
            <a:solidFill>
              <a:srgbClr val="E3DCD3"/>
            </a:solidFill>
            <a:prstDash val="solid"/>
          </a:ln>
        </p:spPr>
        <p:txBody>
          <a:bodyPr/>
          <a:lstStyle/>
          <a:p>
            <a:endParaRPr lang="en-US"/>
          </a:p>
        </p:txBody>
      </p:sp>
      <p:sp>
        <p:nvSpPr>
          <p:cNvPr id="29" name="Text 23"/>
          <p:cNvSpPr txBox="1"/>
          <p:nvPr/>
        </p:nvSpPr>
        <p:spPr>
          <a:xfrm>
            <a:off x="3657600" y="3554730"/>
            <a:ext cx="5981700" cy="190500"/>
          </a:xfrm>
          <a:prstGeom prst="rect">
            <a:avLst/>
          </a:prstGeom>
          <a:noFill/>
          <a:ln/>
        </p:spPr>
        <p:txBody>
          <a:bodyPr wrap="square" lIns="0" tIns="0" rIns="0" bIns="0" rtlCol="0" anchor="t"/>
          <a:lstStyle/>
          <a:p>
            <a:pPr marL="0" indent="0">
              <a:buNone/>
            </a:pPr>
            <a:r>
              <a:rPr lang="en-US" sz="975" b="1" dirty="0">
                <a:solidFill>
                  <a:srgbClr val="1B1A1A"/>
                </a:solidFill>
              </a:rPr>
              <a:t>Data center work supports listed contractors’ growth</a:t>
            </a:r>
            <a:endParaRPr lang="en-US" sz="975" dirty="0"/>
          </a:p>
        </p:txBody>
      </p:sp>
      <p:sp>
        <p:nvSpPr>
          <p:cNvPr id="30" name="Text 24"/>
          <p:cNvSpPr txBox="1"/>
          <p:nvPr/>
        </p:nvSpPr>
        <p:spPr>
          <a:xfrm>
            <a:off x="3657600" y="3773805"/>
            <a:ext cx="5981700" cy="800100"/>
          </a:xfrm>
          <a:prstGeom prst="rect">
            <a:avLst/>
          </a:prstGeom>
          <a:noFill/>
          <a:ln/>
        </p:spPr>
        <p:txBody>
          <a:bodyPr wrap="square" lIns="0" tIns="0" rIns="0" bIns="0" rtlCol="0" anchor="t"/>
          <a:lstStyle/>
          <a:p>
            <a:pPr>
              <a:lnSpc>
                <a:spcPct val="100000"/>
              </a:lnSpc>
            </a:pPr>
            <a:r>
              <a:rPr lang="en-US" sz="810" dirty="0">
                <a:solidFill>
                  <a:srgbClr val="333231"/>
                </a:solidFill>
              </a:rPr>
              <a:t>Listed building products and construction companies grew revenue 22% while total construction spending fell 1.7% and manufacturing construction fell 19%. A mid-market contractor with funded data center backlog carries a premium, and one without it competes in a shrinking market for everything else. Limbach’s margin reset shows what happens when skilled labor is bid away, so buyers will underwrite the crews along with the backlog.</a:t>
            </a:r>
            <a:endParaRPr lang="en-US" sz="810" dirty="0"/>
          </a:p>
        </p:txBody>
      </p:sp>
      <p:sp>
        <p:nvSpPr>
          <p:cNvPr id="34" name="Shape 28"/>
          <p:cNvSpPr/>
          <p:nvPr/>
        </p:nvSpPr>
        <p:spPr>
          <a:xfrm>
            <a:off x="3124200" y="4579620"/>
            <a:ext cx="6515100" cy="0"/>
          </a:xfrm>
          <a:prstGeom prst="line">
            <a:avLst/>
          </a:prstGeom>
          <a:noFill/>
          <a:ln w="9525">
            <a:solidFill>
              <a:srgbClr val="E3DCD3"/>
            </a:solidFill>
            <a:prstDash val="solid"/>
          </a:ln>
        </p:spPr>
        <p:txBody>
          <a:bodyPr/>
          <a:lstStyle/>
          <a:p>
            <a:endParaRPr lang="en-US"/>
          </a:p>
        </p:txBody>
      </p:sp>
      <p:sp>
        <p:nvSpPr>
          <p:cNvPr id="37" name="Text 30"/>
          <p:cNvSpPr txBox="1"/>
          <p:nvPr/>
        </p:nvSpPr>
        <p:spPr>
          <a:xfrm>
            <a:off x="3657600" y="4693920"/>
            <a:ext cx="5981700" cy="19050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supports valuation</a:t>
            </a:r>
            <a:endParaRPr lang="en-US" sz="975" dirty="0"/>
          </a:p>
        </p:txBody>
      </p:sp>
      <p:sp>
        <p:nvSpPr>
          <p:cNvPr id="38" name="Text 31"/>
          <p:cNvSpPr txBox="1"/>
          <p:nvPr/>
        </p:nvSpPr>
        <p:spPr>
          <a:xfrm>
            <a:off x="3657600" y="491299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steering toward 60% inspection and service revenue, Transcat’s service line grew 27%, and a project contractor like 1901 Inc. changed hands at 5.7 times. Buyers pay for revenue that renews under codes, regulations, and maintenance schedules, and they will diligence the split. An owner who reports service, repair, inspection, and parts separately, with renewal history, sells a different company from one who reports a single revenue line.</a:t>
            </a:r>
            <a:endParaRPr lang="en-US" sz="810" dirty="0"/>
          </a:p>
        </p:txBody>
      </p:sp>
      <p:sp>
        <p:nvSpPr>
          <p:cNvPr id="42" name="Shape 35"/>
          <p:cNvSpPr/>
          <p:nvPr/>
        </p:nvSpPr>
        <p:spPr>
          <a:xfrm>
            <a:off x="3124200" y="5718810"/>
            <a:ext cx="6515100" cy="0"/>
          </a:xfrm>
          <a:prstGeom prst="line">
            <a:avLst/>
          </a:prstGeom>
          <a:noFill/>
          <a:ln w="9525">
            <a:solidFill>
              <a:srgbClr val="E3DCD3"/>
            </a:solidFill>
            <a:prstDash val="solid"/>
          </a:ln>
        </p:spPr>
        <p:txBody>
          <a:bodyPr/>
          <a:lstStyle/>
          <a:p>
            <a:endParaRPr lang="en-US"/>
          </a:p>
        </p:txBody>
      </p:sp>
      <p:sp>
        <p:nvSpPr>
          <p:cNvPr id="45" name="Text 37"/>
          <p:cNvSpPr txBox="1"/>
          <p:nvPr/>
        </p:nvSpPr>
        <p:spPr>
          <a:xfrm>
            <a:off x="3657600" y="5833110"/>
            <a:ext cx="5981700" cy="190500"/>
          </a:xfrm>
          <a:prstGeom prst="rect">
            <a:avLst/>
          </a:prstGeom>
          <a:noFill/>
          <a:ln/>
        </p:spPr>
        <p:txBody>
          <a:bodyPr wrap="square" lIns="0" tIns="0" rIns="0" bIns="0" rtlCol="0" anchor="t"/>
          <a:lstStyle/>
          <a:p>
            <a:pPr marL="0" indent="0">
              <a:buNone/>
            </a:pPr>
            <a:r>
              <a:rPr lang="en-US" sz="975" b="1" dirty="0">
                <a:solidFill>
                  <a:srgbClr val="1B1A1A"/>
                </a:solidFill>
              </a:rPr>
              <a:t>Freight recovery and demand for border services</a:t>
            </a:r>
            <a:endParaRPr lang="en-US" sz="975" dirty="0"/>
          </a:p>
        </p:txBody>
      </p:sp>
      <p:sp>
        <p:nvSpPr>
          <p:cNvPr id="46" name="Text 38"/>
          <p:cNvSpPr txBox="1"/>
          <p:nvPr/>
        </p:nvSpPr>
        <p:spPr>
          <a:xfrm>
            <a:off x="3657600" y="605218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Cass shipments are up 2.1% off a two-year low, transportation shares rose a median 39% in a year, and C.H. Robinson agreed to pay $5.8 billion for RXO with $300 million of synergies behind it. Diesel at $6.29 a gallon is testing surcharge pass-through, and US-Mexico trade at a record $94.8 billion a month is why logistics platforms are buying Laredo brokers. Customs licensing, bonded warehousing, and cross-border capability will be priced above asset-based capacity through 2027.</a:t>
            </a:r>
            <a:endParaRPr lang="en-US" sz="810"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
        <p:nvSpPr>
          <p:cNvPr id="6" name="Shape 14"/>
          <p:cNvSpPr/>
          <p:nvPr/>
        </p:nvSpPr>
        <p:spPr>
          <a:xfrm>
            <a:off x="628650" y="3581400"/>
            <a:ext cx="2095500" cy="0"/>
          </a:xfrm>
          <a:prstGeom prst="line">
            <a:avLst/>
          </a:prstGeom>
          <a:noFill/>
          <a:ln w="9525">
            <a:solidFill>
              <a:srgbClr val="E3DCD3"/>
            </a:solidFill>
            <a:prstDash val="solid"/>
          </a:ln>
        </p:spPr>
        <p:txBody>
          <a:bodyPr/>
          <a:lstStyle/>
          <a:p>
            <a:endParaRPr lang="en-US"/>
          </a:p>
        </p:txBody>
      </p:sp>
      <p:sp>
        <p:nvSpPr>
          <p:cNvPr id="27" name="Text 18"/>
          <p:cNvSpPr txBox="1"/>
          <p:nvPr/>
        </p:nvSpPr>
        <p:spPr>
          <a:xfrm>
            <a:off x="3124200" y="125730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11" name="Text 18"/>
          <p:cNvSpPr txBox="1"/>
          <p:nvPr/>
        </p:nvSpPr>
        <p:spPr>
          <a:xfrm>
            <a:off x="3124200" y="239649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12" name="Text 18"/>
          <p:cNvSpPr txBox="1"/>
          <p:nvPr/>
        </p:nvSpPr>
        <p:spPr>
          <a:xfrm>
            <a:off x="3124200" y="353568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15" name="Text 18"/>
          <p:cNvSpPr txBox="1"/>
          <p:nvPr/>
        </p:nvSpPr>
        <p:spPr>
          <a:xfrm>
            <a:off x="3124200" y="467487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04</a:t>
            </a:r>
            <a:endParaRPr lang="en-US" sz="1650" dirty="0"/>
          </a:p>
        </p:txBody>
      </p:sp>
      <p:sp>
        <p:nvSpPr>
          <p:cNvPr id="16" name="Text 18"/>
          <p:cNvSpPr txBox="1"/>
          <p:nvPr/>
        </p:nvSpPr>
        <p:spPr>
          <a:xfrm>
            <a:off x="3124200" y="581406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05</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Our View: Segment Outlook</a:t>
            </a:r>
          </a:p>
        </p:txBody>
      </p:sp>
      <p:sp>
        <p:nvSpPr>
          <p:cNvPr id="3" name="Text Placeholder 2"/>
          <p:cNvSpPr>
            <a:spLocks noGrp="1"/>
          </p:cNvSpPr>
          <p:nvPr>
            <p:ph type="body" idx="107"/>
          </p:nvPr>
        </p:nvSpPr>
        <p:spPr/>
        <p:txBody>
          <a:bodyPr/>
          <a:lstStyle/>
          <a:p>
            <a:r>
              <a:rPr lang="en-US" sz="938" b="0">
                <a:solidFill>
                  <a:srgbClr val="6F6A66"/>
                </a:solidFill>
              </a:rPr>
              <a:t>Demand for owner-operated businesses differs across the five segments.</a:t>
            </a:r>
          </a:p>
        </p:txBody>
      </p:sp>
      <p:sp>
        <p:nvSpPr>
          <p:cNvPr id="4" name="Text Placeholder 3"/>
          <p:cNvSpPr>
            <a:spLocks noGrp="1"/>
          </p:cNvSpPr>
          <p:nvPr>
            <p:ph type="body" idx="108"/>
          </p:nvPr>
        </p:nvSpPr>
        <p:spPr/>
        <p:txBody>
          <a:bodyPr/>
          <a:lstStyle/>
          <a:p>
            <a:r>
              <a:rPr lang="en-US" sz="675" b="0">
                <a:solidFill>
                  <a:srgbClr val="6F6A66"/>
                </a:solidFill>
              </a:rPr>
              <a:t>Demand ratings are Benchmark International judgments from the metrics on pages 16 to 18 and the sources on pages 5 and 7.</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
        <p:nvSpPr>
          <p:cNvPr id="51" name="Outlook panel"/>
          <p:cNvSpPr/>
          <p:nvPr/>
        </p:nvSpPr>
        <p:spPr>
          <a:xfrm>
            <a:off x="419100" y="1238250"/>
            <a:ext cx="2600000" cy="4300000"/>
          </a:xfrm>
          <a:prstGeom prst="rect">
            <a:avLst/>
          </a:prstGeom>
          <a:solidFill>
            <a:srgbClr val="1B1A1A"/>
          </a:solidFill>
          <a:ln>
            <a:noFill/>
          </a:ln>
        </p:spPr>
        <p:txBody>
          <a:bodyPr rtlCol="0" anchor="ctr"/>
          <a:lstStyle/>
          <a:p>
            <a:pPr algn="ctr"/>
            <a:endParaRPr/>
          </a:p>
        </p:txBody>
      </p:sp>
      <p:sp>
        <p:nvSpPr>
          <p:cNvPr id="52" name="Rectangle 51"/>
          <p:cNvSpPr/>
          <p:nvPr/>
        </p:nvSpPr>
        <p:spPr>
          <a:xfrm>
            <a:off x="419100" y="1238250"/>
            <a:ext cx="2600000" cy="28575"/>
          </a:xfrm>
          <a:prstGeom prst="rect">
            <a:avLst/>
          </a:prstGeom>
          <a:solidFill>
            <a:srgbClr val="B68757"/>
          </a:solidFill>
          <a:ln>
            <a:noFill/>
          </a:ln>
        </p:spPr>
        <p:txBody>
          <a:bodyPr rtlCol="0" anchor="ctr"/>
          <a:lstStyle/>
          <a:p>
            <a:pPr algn="ctr"/>
            <a:endParaRPr/>
          </a:p>
        </p:txBody>
      </p:sp>
      <p:sp>
        <p:nvSpPr>
          <p:cNvPr id="53" name="TextBox 52"/>
          <p:cNvSpPr txBox="1"/>
          <p:nvPr/>
        </p:nvSpPr>
        <p:spPr>
          <a:xfrm>
            <a:off x="589100" y="1438250"/>
            <a:ext cx="2260000" cy="150000"/>
          </a:xfrm>
          <a:prstGeom prst="rect">
            <a:avLst/>
          </a:prstGeom>
          <a:noFill/>
        </p:spPr>
        <p:txBody>
          <a:bodyPr wrap="square" lIns="0" tIns="0" rIns="0" bIns="0" anchor="t"/>
          <a:lstStyle/>
          <a:p>
            <a:pPr algn="l"/>
            <a:r>
              <a:rPr lang="en-US" sz="675" b="1" i="0" spc="200">
                <a:solidFill>
                  <a:srgbClr val="B68757"/>
                </a:solidFill>
              </a:rPr>
              <a:t>OUR VIEW</a:t>
            </a:r>
          </a:p>
        </p:txBody>
      </p:sp>
      <p:sp>
        <p:nvSpPr>
          <p:cNvPr id="54" name="TextBox 53"/>
          <p:cNvSpPr txBox="1"/>
          <p:nvPr/>
        </p:nvSpPr>
        <p:spPr>
          <a:xfrm>
            <a:off x="589100" y="1658250"/>
            <a:ext cx="2260000" cy="1100000"/>
          </a:xfrm>
          <a:prstGeom prst="rect">
            <a:avLst/>
          </a:prstGeom>
          <a:noFill/>
        </p:spPr>
        <p:txBody>
          <a:bodyPr wrap="square" lIns="0" tIns="0" rIns="0" bIns="0" anchor="t"/>
          <a:lstStyle/>
          <a:p>
            <a:pPr algn="l">
              <a:lnSpc>
                <a:spcPts val="1900"/>
              </a:lnSpc>
            </a:pPr>
            <a:r>
              <a:rPr lang="en-US" sz="1600" b="1" i="0">
                <a:solidFill>
                  <a:srgbClr val="FFFFFF"/>
                </a:solidFill>
                <a:latin typeface="+mj-lt"/>
              </a:rPr>
              <a:t>Buyer demand by segment</a:t>
            </a:r>
          </a:p>
        </p:txBody>
      </p:sp>
      <p:sp>
        <p:nvSpPr>
          <p:cNvPr id="55" name="TextBox 54"/>
          <p:cNvSpPr txBox="1"/>
          <p:nvPr/>
        </p:nvSpPr>
        <p:spPr>
          <a:xfrm>
            <a:off x="589100" y="2738250"/>
            <a:ext cx="2260000" cy="2400000"/>
          </a:xfrm>
          <a:prstGeom prst="rect">
            <a:avLst/>
          </a:prstGeom>
          <a:noFill/>
        </p:spPr>
        <p:txBody>
          <a:bodyPr wrap="square" lIns="0" tIns="0" rIns="0" bIns="0" anchor="t"/>
          <a:lstStyle/>
          <a:p>
            <a:pPr algn="l">
              <a:lnSpc>
                <a:spcPts val="1200"/>
              </a:lnSpc>
            </a:pPr>
            <a:r>
              <a:rPr lang="en-US" sz="1000" b="0" i="0" dirty="0">
                <a:solidFill>
                  <a:srgbClr val="E8E2DA"/>
                </a:solidFill>
              </a:rPr>
              <a:t>Ratings weigh listed-company growth, valuation, and cash conversion against Benchmark closings in the segment, on a scale of one to five.</a:t>
            </a:r>
          </a:p>
        </p:txBody>
      </p:sp>
      <p:sp>
        <p:nvSpPr>
          <p:cNvPr id="56" name="Ratings table"/>
          <p:cNvSpPr/>
          <p:nvPr/>
        </p:nvSpPr>
        <p:spPr>
          <a:xfrm>
            <a:off x="3133400" y="1238250"/>
            <a:ext cx="6505900" cy="4300000"/>
          </a:xfrm>
          <a:prstGeom prst="rect">
            <a:avLst/>
          </a:prstGeom>
          <a:solidFill>
            <a:srgbClr val="FFFFFF"/>
          </a:solidFill>
          <a:ln w="9525">
            <a:solidFill>
              <a:srgbClr val="E3DCD3"/>
            </a:solidFill>
          </a:ln>
        </p:spPr>
        <p:txBody>
          <a:bodyPr rtlCol="0" anchor="ctr"/>
          <a:lstStyle/>
          <a:p>
            <a:pPr algn="ctr"/>
            <a:endParaRPr/>
          </a:p>
        </p:txBody>
      </p:sp>
      <p:sp>
        <p:nvSpPr>
          <p:cNvPr id="57" name="TextBox 56"/>
          <p:cNvSpPr txBox="1"/>
          <p:nvPr/>
        </p:nvSpPr>
        <p:spPr>
          <a:xfrm>
            <a:off x="3283400" y="1368250"/>
            <a:ext cx="2500000" cy="200000"/>
          </a:xfrm>
          <a:prstGeom prst="rect">
            <a:avLst/>
          </a:prstGeom>
          <a:noFill/>
        </p:spPr>
        <p:txBody>
          <a:bodyPr wrap="square" lIns="0" tIns="0" rIns="0" bIns="0" anchor="t"/>
          <a:lstStyle/>
          <a:p>
            <a:pPr algn="l"/>
            <a:r>
              <a:rPr lang="en-US" sz="975" b="1" i="0">
                <a:solidFill>
                  <a:srgbClr val="1B1A1A"/>
                </a:solidFill>
                <a:latin typeface="+mj-lt"/>
              </a:rPr>
              <a:t>Energy, Power &amp; Environmental</a:t>
            </a:r>
          </a:p>
        </p:txBody>
      </p:sp>
      <p:sp>
        <p:nvSpPr>
          <p:cNvPr id="58" name="TextBox 57"/>
          <p:cNvSpPr txBox="1"/>
          <p:nvPr/>
        </p:nvSpPr>
        <p:spPr>
          <a:xfrm>
            <a:off x="3283400" y="163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Transformer lead times above 160 weeks and 21.2% EBITDA growth, offset by 2.5x leverage.</a:t>
            </a:r>
          </a:p>
        </p:txBody>
      </p:sp>
      <p:sp>
        <p:nvSpPr>
          <p:cNvPr id="59" name="Gauge dot"/>
          <p:cNvSpPr/>
          <p:nvPr/>
        </p:nvSpPr>
        <p:spPr>
          <a:xfrm>
            <a:off x="6133400" y="1518250"/>
            <a:ext cx="170000" cy="170000"/>
          </a:xfrm>
          <a:prstGeom prst="ellipse">
            <a:avLst/>
          </a:prstGeom>
          <a:solidFill>
            <a:srgbClr val="B68757"/>
          </a:solidFill>
          <a:ln>
            <a:noFill/>
          </a:ln>
        </p:spPr>
        <p:txBody>
          <a:bodyPr rtlCol="0" anchor="ctr"/>
          <a:lstStyle/>
          <a:p>
            <a:pPr algn="ctr"/>
            <a:endParaRPr/>
          </a:p>
        </p:txBody>
      </p:sp>
      <p:sp>
        <p:nvSpPr>
          <p:cNvPr id="60" name="Gauge dot"/>
          <p:cNvSpPr/>
          <p:nvPr/>
        </p:nvSpPr>
        <p:spPr>
          <a:xfrm>
            <a:off x="6403400" y="1518250"/>
            <a:ext cx="170000" cy="170000"/>
          </a:xfrm>
          <a:prstGeom prst="ellipse">
            <a:avLst/>
          </a:prstGeom>
          <a:solidFill>
            <a:srgbClr val="B68757"/>
          </a:solidFill>
          <a:ln>
            <a:noFill/>
          </a:ln>
        </p:spPr>
        <p:txBody>
          <a:bodyPr rtlCol="0" anchor="ctr"/>
          <a:lstStyle/>
          <a:p>
            <a:pPr algn="ctr"/>
            <a:endParaRPr/>
          </a:p>
        </p:txBody>
      </p:sp>
      <p:sp>
        <p:nvSpPr>
          <p:cNvPr id="61" name="Gauge dot"/>
          <p:cNvSpPr/>
          <p:nvPr/>
        </p:nvSpPr>
        <p:spPr>
          <a:xfrm>
            <a:off x="6673400" y="1518250"/>
            <a:ext cx="170000" cy="170000"/>
          </a:xfrm>
          <a:prstGeom prst="ellipse">
            <a:avLst/>
          </a:prstGeom>
          <a:solidFill>
            <a:srgbClr val="B68757"/>
          </a:solidFill>
          <a:ln>
            <a:noFill/>
          </a:ln>
        </p:spPr>
        <p:txBody>
          <a:bodyPr rtlCol="0" anchor="ctr"/>
          <a:lstStyle/>
          <a:p>
            <a:pPr algn="ctr"/>
            <a:endParaRPr/>
          </a:p>
        </p:txBody>
      </p:sp>
      <p:sp>
        <p:nvSpPr>
          <p:cNvPr id="62" name="Gauge dot"/>
          <p:cNvSpPr/>
          <p:nvPr/>
        </p:nvSpPr>
        <p:spPr>
          <a:xfrm>
            <a:off x="6943400" y="1518250"/>
            <a:ext cx="170000" cy="170000"/>
          </a:xfrm>
          <a:prstGeom prst="ellipse">
            <a:avLst/>
          </a:prstGeom>
          <a:solidFill>
            <a:srgbClr val="B68757"/>
          </a:solidFill>
          <a:ln>
            <a:noFill/>
          </a:ln>
        </p:spPr>
        <p:txBody>
          <a:bodyPr rtlCol="0" anchor="ctr"/>
          <a:lstStyle/>
          <a:p>
            <a:pPr algn="ctr"/>
            <a:endParaRPr/>
          </a:p>
        </p:txBody>
      </p:sp>
      <p:sp>
        <p:nvSpPr>
          <p:cNvPr id="63" name="Gauge dot"/>
          <p:cNvSpPr/>
          <p:nvPr/>
        </p:nvSpPr>
        <p:spPr>
          <a:xfrm>
            <a:off x="7213400" y="1518250"/>
            <a:ext cx="170000" cy="170000"/>
          </a:xfrm>
          <a:prstGeom prst="ellipse">
            <a:avLst/>
          </a:prstGeom>
          <a:solidFill>
            <a:srgbClr val="B68757"/>
          </a:solidFill>
          <a:ln>
            <a:noFill/>
          </a:ln>
        </p:spPr>
        <p:txBody>
          <a:bodyPr rtlCol="0" anchor="ctr"/>
          <a:lstStyle/>
          <a:p>
            <a:pPr algn="ctr"/>
            <a:endParaRPr/>
          </a:p>
        </p:txBody>
      </p:sp>
      <p:sp>
        <p:nvSpPr>
          <p:cNvPr id="64" name="TextBox 63"/>
          <p:cNvSpPr txBox="1"/>
          <p:nvPr/>
        </p:nvSpPr>
        <p:spPr>
          <a:xfrm>
            <a:off x="7633400" y="1488250"/>
            <a:ext cx="1400000" cy="230000"/>
          </a:xfrm>
          <a:prstGeom prst="rect">
            <a:avLst/>
          </a:prstGeom>
          <a:noFill/>
        </p:spPr>
        <p:txBody>
          <a:bodyPr wrap="square" lIns="0" tIns="0" rIns="0" bIns="0" anchor="t"/>
          <a:lstStyle/>
          <a:p>
            <a:pPr algn="l"/>
            <a:r>
              <a:rPr lang="en-US" sz="700" b="1" i="0" spc="100">
                <a:solidFill>
                  <a:srgbClr val="8C6239"/>
                </a:solidFill>
              </a:rPr>
              <a:t>STRONGEST</a:t>
            </a:r>
          </a:p>
        </p:txBody>
      </p:sp>
      <p:cxnSp>
        <p:nvCxnSpPr>
          <p:cNvPr id="65" name="Connector 64"/>
          <p:cNvCxnSpPr/>
          <p:nvPr/>
        </p:nvCxnSpPr>
        <p:spPr>
          <a:xfrm>
            <a:off x="3133400" y="2098250"/>
            <a:ext cx="6505900" cy="0"/>
          </a:xfrm>
          <a:prstGeom prst="line">
            <a:avLst/>
          </a:prstGeom>
          <a:ln w="9525">
            <a:solidFill>
              <a:srgbClr val="E3DCD3"/>
            </a:solidFill>
          </a:ln>
        </p:spPr>
      </p:cxnSp>
      <p:sp>
        <p:nvSpPr>
          <p:cNvPr id="66" name="TextBox 65"/>
          <p:cNvSpPr txBox="1"/>
          <p:nvPr/>
        </p:nvSpPr>
        <p:spPr>
          <a:xfrm>
            <a:off x="3283400" y="2228250"/>
            <a:ext cx="2500000" cy="200000"/>
          </a:xfrm>
          <a:prstGeom prst="rect">
            <a:avLst/>
          </a:prstGeom>
          <a:noFill/>
        </p:spPr>
        <p:txBody>
          <a:bodyPr wrap="square" lIns="0" tIns="0" rIns="0" bIns="0" anchor="t"/>
          <a:lstStyle/>
          <a:p>
            <a:pPr algn="l"/>
            <a:r>
              <a:rPr lang="en-US" sz="975" b="1" i="0">
                <a:solidFill>
                  <a:srgbClr val="1B1A1A"/>
                </a:solidFill>
                <a:latin typeface="+mj-lt"/>
              </a:rPr>
              <a:t>Building &amp; Construction</a:t>
            </a:r>
          </a:p>
        </p:txBody>
      </p:sp>
      <p:sp>
        <p:nvSpPr>
          <p:cNvPr id="67" name="TextBox 66"/>
          <p:cNvSpPr txBox="1"/>
          <p:nvPr/>
        </p:nvSpPr>
        <p:spPr>
          <a:xfrm>
            <a:off x="3283400" y="249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EBITDA up 28% on 21.8% revenue growth, and 45 Benchmark closings.</a:t>
            </a:r>
          </a:p>
        </p:txBody>
      </p:sp>
      <p:sp>
        <p:nvSpPr>
          <p:cNvPr id="68" name="Gauge dot"/>
          <p:cNvSpPr/>
          <p:nvPr/>
        </p:nvSpPr>
        <p:spPr>
          <a:xfrm>
            <a:off x="6133400" y="2378250"/>
            <a:ext cx="170000" cy="170000"/>
          </a:xfrm>
          <a:prstGeom prst="ellipse">
            <a:avLst/>
          </a:prstGeom>
          <a:solidFill>
            <a:srgbClr val="B68757"/>
          </a:solidFill>
          <a:ln>
            <a:noFill/>
          </a:ln>
        </p:spPr>
        <p:txBody>
          <a:bodyPr rtlCol="0" anchor="ctr"/>
          <a:lstStyle/>
          <a:p>
            <a:pPr algn="ctr"/>
            <a:endParaRPr/>
          </a:p>
        </p:txBody>
      </p:sp>
      <p:sp>
        <p:nvSpPr>
          <p:cNvPr id="69" name="Gauge dot"/>
          <p:cNvSpPr/>
          <p:nvPr/>
        </p:nvSpPr>
        <p:spPr>
          <a:xfrm>
            <a:off x="6403400" y="2378250"/>
            <a:ext cx="170000" cy="170000"/>
          </a:xfrm>
          <a:prstGeom prst="ellipse">
            <a:avLst/>
          </a:prstGeom>
          <a:solidFill>
            <a:srgbClr val="B68757"/>
          </a:solidFill>
          <a:ln>
            <a:noFill/>
          </a:ln>
        </p:spPr>
        <p:txBody>
          <a:bodyPr rtlCol="0" anchor="ctr"/>
          <a:lstStyle/>
          <a:p>
            <a:pPr algn="ctr"/>
            <a:endParaRPr/>
          </a:p>
        </p:txBody>
      </p:sp>
      <p:sp>
        <p:nvSpPr>
          <p:cNvPr id="70" name="Gauge dot"/>
          <p:cNvSpPr/>
          <p:nvPr/>
        </p:nvSpPr>
        <p:spPr>
          <a:xfrm>
            <a:off x="6673400" y="2378250"/>
            <a:ext cx="170000" cy="170000"/>
          </a:xfrm>
          <a:prstGeom prst="ellipse">
            <a:avLst/>
          </a:prstGeom>
          <a:solidFill>
            <a:srgbClr val="B68757"/>
          </a:solidFill>
          <a:ln>
            <a:noFill/>
          </a:ln>
        </p:spPr>
        <p:txBody>
          <a:bodyPr rtlCol="0" anchor="ctr"/>
          <a:lstStyle/>
          <a:p>
            <a:pPr algn="ctr"/>
            <a:endParaRPr/>
          </a:p>
        </p:txBody>
      </p:sp>
      <p:sp>
        <p:nvSpPr>
          <p:cNvPr id="71" name="Gauge dot"/>
          <p:cNvSpPr/>
          <p:nvPr/>
        </p:nvSpPr>
        <p:spPr>
          <a:xfrm>
            <a:off x="6943400" y="2378250"/>
            <a:ext cx="170000" cy="170000"/>
          </a:xfrm>
          <a:prstGeom prst="ellipse">
            <a:avLst/>
          </a:prstGeom>
          <a:solidFill>
            <a:srgbClr val="B68757"/>
          </a:solidFill>
          <a:ln>
            <a:noFill/>
          </a:ln>
        </p:spPr>
        <p:txBody>
          <a:bodyPr rtlCol="0" anchor="ctr"/>
          <a:lstStyle/>
          <a:p>
            <a:pPr algn="ctr"/>
            <a:endParaRPr/>
          </a:p>
        </p:txBody>
      </p:sp>
      <p:sp>
        <p:nvSpPr>
          <p:cNvPr id="72" name="Gauge dot"/>
          <p:cNvSpPr/>
          <p:nvPr/>
        </p:nvSpPr>
        <p:spPr>
          <a:xfrm>
            <a:off x="7213400" y="2378250"/>
            <a:ext cx="170000" cy="170000"/>
          </a:xfrm>
          <a:prstGeom prst="ellipse">
            <a:avLst/>
          </a:prstGeom>
          <a:noFill/>
          <a:ln w="9525">
            <a:solidFill>
              <a:srgbClr val="B68757"/>
            </a:solidFill>
          </a:ln>
        </p:spPr>
        <p:txBody>
          <a:bodyPr rtlCol="0" anchor="ctr"/>
          <a:lstStyle/>
          <a:p>
            <a:pPr algn="ctr"/>
            <a:endParaRPr/>
          </a:p>
        </p:txBody>
      </p:sp>
      <p:sp>
        <p:nvSpPr>
          <p:cNvPr id="73" name="TextBox 72"/>
          <p:cNvSpPr txBox="1"/>
          <p:nvPr/>
        </p:nvSpPr>
        <p:spPr>
          <a:xfrm>
            <a:off x="7633400" y="2348250"/>
            <a:ext cx="1400000" cy="230000"/>
          </a:xfrm>
          <a:prstGeom prst="rect">
            <a:avLst/>
          </a:prstGeom>
          <a:noFill/>
        </p:spPr>
        <p:txBody>
          <a:bodyPr wrap="square" lIns="0" tIns="0" rIns="0" bIns="0" anchor="t"/>
          <a:lstStyle/>
          <a:p>
            <a:pPr algn="l"/>
            <a:r>
              <a:rPr lang="en-US" sz="700" b="1" i="0" spc="100">
                <a:solidFill>
                  <a:srgbClr val="8C6239"/>
                </a:solidFill>
              </a:rPr>
              <a:t>STRONG</a:t>
            </a:r>
          </a:p>
        </p:txBody>
      </p:sp>
      <p:cxnSp>
        <p:nvCxnSpPr>
          <p:cNvPr id="74" name="Connector 73"/>
          <p:cNvCxnSpPr/>
          <p:nvPr/>
        </p:nvCxnSpPr>
        <p:spPr>
          <a:xfrm>
            <a:off x="3133400" y="2958250"/>
            <a:ext cx="6505900" cy="0"/>
          </a:xfrm>
          <a:prstGeom prst="line">
            <a:avLst/>
          </a:prstGeom>
          <a:ln w="9525">
            <a:solidFill>
              <a:srgbClr val="E3DCD3"/>
            </a:solidFill>
          </a:ln>
        </p:spPr>
      </p:cxnSp>
      <p:sp>
        <p:nvSpPr>
          <p:cNvPr id="75" name="TextBox 74"/>
          <p:cNvSpPr txBox="1"/>
          <p:nvPr/>
        </p:nvSpPr>
        <p:spPr>
          <a:xfrm>
            <a:off x="3283400" y="3088250"/>
            <a:ext cx="2500000" cy="200000"/>
          </a:xfrm>
          <a:prstGeom prst="rect">
            <a:avLst/>
          </a:prstGeom>
          <a:noFill/>
        </p:spPr>
        <p:txBody>
          <a:bodyPr wrap="square" lIns="0" tIns="0" rIns="0" bIns="0" anchor="t"/>
          <a:lstStyle/>
          <a:p>
            <a:pPr algn="l"/>
            <a:r>
              <a:rPr lang="en-US" sz="975" b="1" i="0">
                <a:solidFill>
                  <a:srgbClr val="1B1A1A"/>
                </a:solidFill>
                <a:latin typeface="+mj-lt"/>
              </a:rPr>
              <a:t>Manufacturing &amp; Industrial Tech</a:t>
            </a:r>
          </a:p>
        </p:txBody>
      </p:sp>
      <p:sp>
        <p:nvSpPr>
          <p:cNvPr id="76" name="TextBox 75"/>
          <p:cNvSpPr txBox="1"/>
          <p:nvPr/>
        </p:nvSpPr>
        <p:spPr>
          <a:xfrm>
            <a:off x="3283400" y="335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The highest margin at 22.1% and the highest multiple at 17.3x.</a:t>
            </a:r>
          </a:p>
        </p:txBody>
      </p:sp>
      <p:sp>
        <p:nvSpPr>
          <p:cNvPr id="77" name="Gauge dot"/>
          <p:cNvSpPr/>
          <p:nvPr/>
        </p:nvSpPr>
        <p:spPr>
          <a:xfrm>
            <a:off x="6133400" y="3238250"/>
            <a:ext cx="170000" cy="170000"/>
          </a:xfrm>
          <a:prstGeom prst="ellipse">
            <a:avLst/>
          </a:prstGeom>
          <a:solidFill>
            <a:srgbClr val="B68757"/>
          </a:solidFill>
          <a:ln>
            <a:noFill/>
          </a:ln>
        </p:spPr>
        <p:txBody>
          <a:bodyPr rtlCol="0" anchor="ctr"/>
          <a:lstStyle/>
          <a:p>
            <a:pPr algn="ctr"/>
            <a:endParaRPr/>
          </a:p>
        </p:txBody>
      </p:sp>
      <p:sp>
        <p:nvSpPr>
          <p:cNvPr id="78" name="Gauge dot"/>
          <p:cNvSpPr/>
          <p:nvPr/>
        </p:nvSpPr>
        <p:spPr>
          <a:xfrm>
            <a:off x="6403400" y="3238250"/>
            <a:ext cx="170000" cy="170000"/>
          </a:xfrm>
          <a:prstGeom prst="ellipse">
            <a:avLst/>
          </a:prstGeom>
          <a:solidFill>
            <a:srgbClr val="B68757"/>
          </a:solidFill>
          <a:ln>
            <a:noFill/>
          </a:ln>
        </p:spPr>
        <p:txBody>
          <a:bodyPr rtlCol="0" anchor="ctr"/>
          <a:lstStyle/>
          <a:p>
            <a:pPr algn="ctr"/>
            <a:endParaRPr/>
          </a:p>
        </p:txBody>
      </p:sp>
      <p:sp>
        <p:nvSpPr>
          <p:cNvPr id="79" name="Gauge dot"/>
          <p:cNvSpPr/>
          <p:nvPr/>
        </p:nvSpPr>
        <p:spPr>
          <a:xfrm>
            <a:off x="6673400" y="3238250"/>
            <a:ext cx="170000" cy="170000"/>
          </a:xfrm>
          <a:prstGeom prst="ellipse">
            <a:avLst/>
          </a:prstGeom>
          <a:solidFill>
            <a:srgbClr val="B68757"/>
          </a:solidFill>
          <a:ln>
            <a:noFill/>
          </a:ln>
        </p:spPr>
        <p:txBody>
          <a:bodyPr rtlCol="0" anchor="ctr"/>
          <a:lstStyle/>
          <a:p>
            <a:pPr algn="ctr"/>
            <a:endParaRPr/>
          </a:p>
        </p:txBody>
      </p:sp>
      <p:sp>
        <p:nvSpPr>
          <p:cNvPr id="80" name="Gauge dot"/>
          <p:cNvSpPr/>
          <p:nvPr/>
        </p:nvSpPr>
        <p:spPr>
          <a:xfrm>
            <a:off x="6943400" y="3238250"/>
            <a:ext cx="170000" cy="170000"/>
          </a:xfrm>
          <a:prstGeom prst="ellipse">
            <a:avLst/>
          </a:prstGeom>
          <a:solidFill>
            <a:srgbClr val="B68757"/>
          </a:solidFill>
          <a:ln>
            <a:noFill/>
          </a:ln>
        </p:spPr>
        <p:txBody>
          <a:bodyPr rtlCol="0" anchor="ctr"/>
          <a:lstStyle/>
          <a:p>
            <a:pPr algn="ctr"/>
            <a:endParaRPr/>
          </a:p>
        </p:txBody>
      </p:sp>
      <p:sp>
        <p:nvSpPr>
          <p:cNvPr id="81" name="Gauge dot"/>
          <p:cNvSpPr/>
          <p:nvPr/>
        </p:nvSpPr>
        <p:spPr>
          <a:xfrm>
            <a:off x="7213400" y="3238250"/>
            <a:ext cx="170000" cy="170000"/>
          </a:xfrm>
          <a:prstGeom prst="ellipse">
            <a:avLst/>
          </a:prstGeom>
          <a:noFill/>
          <a:ln w="9525">
            <a:solidFill>
              <a:srgbClr val="B68757"/>
            </a:solidFill>
          </a:ln>
        </p:spPr>
        <p:txBody>
          <a:bodyPr rtlCol="0" anchor="ctr"/>
          <a:lstStyle/>
          <a:p>
            <a:pPr algn="ctr"/>
            <a:endParaRPr/>
          </a:p>
        </p:txBody>
      </p:sp>
      <p:sp>
        <p:nvSpPr>
          <p:cNvPr id="82" name="TextBox 81"/>
          <p:cNvSpPr txBox="1"/>
          <p:nvPr/>
        </p:nvSpPr>
        <p:spPr>
          <a:xfrm>
            <a:off x="7633400" y="3208250"/>
            <a:ext cx="1400000" cy="230000"/>
          </a:xfrm>
          <a:prstGeom prst="rect">
            <a:avLst/>
          </a:prstGeom>
          <a:noFill/>
        </p:spPr>
        <p:txBody>
          <a:bodyPr wrap="square" lIns="0" tIns="0" rIns="0" bIns="0" anchor="t"/>
          <a:lstStyle/>
          <a:p>
            <a:pPr algn="l"/>
            <a:r>
              <a:rPr lang="en-US" sz="700" b="1" i="0" spc="100">
                <a:solidFill>
                  <a:srgbClr val="8C6239"/>
                </a:solidFill>
              </a:rPr>
              <a:t>STRONG</a:t>
            </a:r>
          </a:p>
        </p:txBody>
      </p:sp>
      <p:cxnSp>
        <p:nvCxnSpPr>
          <p:cNvPr id="83" name="Connector 82"/>
          <p:cNvCxnSpPr/>
          <p:nvPr/>
        </p:nvCxnSpPr>
        <p:spPr>
          <a:xfrm>
            <a:off x="3133400" y="3818250"/>
            <a:ext cx="6505900" cy="0"/>
          </a:xfrm>
          <a:prstGeom prst="line">
            <a:avLst/>
          </a:prstGeom>
          <a:ln w="9525">
            <a:solidFill>
              <a:srgbClr val="E3DCD3"/>
            </a:solidFill>
          </a:ln>
        </p:spPr>
      </p:cxnSp>
      <p:sp>
        <p:nvSpPr>
          <p:cNvPr id="84" name="TextBox 83"/>
          <p:cNvSpPr txBox="1"/>
          <p:nvPr/>
        </p:nvSpPr>
        <p:spPr>
          <a:xfrm>
            <a:off x="3283400" y="3948250"/>
            <a:ext cx="2500000" cy="200000"/>
          </a:xfrm>
          <a:prstGeom prst="rect">
            <a:avLst/>
          </a:prstGeom>
          <a:noFill/>
        </p:spPr>
        <p:txBody>
          <a:bodyPr wrap="square" lIns="0" tIns="0" rIns="0" bIns="0" anchor="t"/>
          <a:lstStyle/>
          <a:p>
            <a:pPr algn="l"/>
            <a:r>
              <a:rPr lang="en-US" sz="975" b="1" i="0">
                <a:solidFill>
                  <a:srgbClr val="1B1A1A"/>
                </a:solidFill>
                <a:latin typeface="+mj-lt"/>
              </a:rPr>
              <a:t>Distribution &amp; Services</a:t>
            </a:r>
          </a:p>
        </p:txBody>
      </p:sp>
      <p:sp>
        <p:nvSpPr>
          <p:cNvPr id="85" name="TextBox 84"/>
          <p:cNvSpPr txBox="1"/>
          <p:nvPr/>
        </p:nvSpPr>
        <p:spPr>
          <a:xfrm>
            <a:off x="3283400" y="421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17.0x against 13.1x at year-end 2025, with margins near 11%.</a:t>
            </a:r>
          </a:p>
        </p:txBody>
      </p:sp>
      <p:sp>
        <p:nvSpPr>
          <p:cNvPr id="86" name="Gauge dot"/>
          <p:cNvSpPr/>
          <p:nvPr/>
        </p:nvSpPr>
        <p:spPr>
          <a:xfrm>
            <a:off x="6133400" y="4098250"/>
            <a:ext cx="170000" cy="170000"/>
          </a:xfrm>
          <a:prstGeom prst="ellipse">
            <a:avLst/>
          </a:prstGeom>
          <a:solidFill>
            <a:srgbClr val="B68757"/>
          </a:solidFill>
          <a:ln>
            <a:noFill/>
          </a:ln>
        </p:spPr>
        <p:txBody>
          <a:bodyPr rtlCol="0" anchor="ctr"/>
          <a:lstStyle/>
          <a:p>
            <a:pPr algn="ctr"/>
            <a:endParaRPr/>
          </a:p>
        </p:txBody>
      </p:sp>
      <p:sp>
        <p:nvSpPr>
          <p:cNvPr id="87" name="Gauge dot"/>
          <p:cNvSpPr/>
          <p:nvPr/>
        </p:nvSpPr>
        <p:spPr>
          <a:xfrm>
            <a:off x="6403400" y="4098250"/>
            <a:ext cx="170000" cy="170000"/>
          </a:xfrm>
          <a:prstGeom prst="ellipse">
            <a:avLst/>
          </a:prstGeom>
          <a:solidFill>
            <a:srgbClr val="B68757"/>
          </a:solidFill>
          <a:ln>
            <a:noFill/>
          </a:ln>
        </p:spPr>
        <p:txBody>
          <a:bodyPr rtlCol="0" anchor="ctr"/>
          <a:lstStyle/>
          <a:p>
            <a:pPr algn="ctr"/>
            <a:endParaRPr/>
          </a:p>
        </p:txBody>
      </p:sp>
      <p:sp>
        <p:nvSpPr>
          <p:cNvPr id="88" name="Gauge dot"/>
          <p:cNvSpPr/>
          <p:nvPr/>
        </p:nvSpPr>
        <p:spPr>
          <a:xfrm>
            <a:off x="6673400" y="4098250"/>
            <a:ext cx="170000" cy="170000"/>
          </a:xfrm>
          <a:prstGeom prst="ellipse">
            <a:avLst/>
          </a:prstGeom>
          <a:solidFill>
            <a:srgbClr val="B68757"/>
          </a:solidFill>
          <a:ln>
            <a:noFill/>
          </a:ln>
        </p:spPr>
        <p:txBody>
          <a:bodyPr rtlCol="0" anchor="ctr"/>
          <a:lstStyle/>
          <a:p>
            <a:pPr algn="ctr"/>
            <a:endParaRPr/>
          </a:p>
        </p:txBody>
      </p:sp>
      <p:sp>
        <p:nvSpPr>
          <p:cNvPr id="89" name="Gauge dot"/>
          <p:cNvSpPr/>
          <p:nvPr/>
        </p:nvSpPr>
        <p:spPr>
          <a:xfrm>
            <a:off x="6943400" y="4098250"/>
            <a:ext cx="170000" cy="170000"/>
          </a:xfrm>
          <a:prstGeom prst="ellipse">
            <a:avLst/>
          </a:prstGeom>
          <a:noFill/>
          <a:ln w="9525">
            <a:solidFill>
              <a:srgbClr val="B68757"/>
            </a:solidFill>
          </a:ln>
        </p:spPr>
        <p:txBody>
          <a:bodyPr rtlCol="0" anchor="ctr"/>
          <a:lstStyle/>
          <a:p>
            <a:pPr algn="ctr"/>
            <a:endParaRPr/>
          </a:p>
        </p:txBody>
      </p:sp>
      <p:sp>
        <p:nvSpPr>
          <p:cNvPr id="90" name="Gauge dot"/>
          <p:cNvSpPr/>
          <p:nvPr/>
        </p:nvSpPr>
        <p:spPr>
          <a:xfrm>
            <a:off x="7213400" y="4098250"/>
            <a:ext cx="170000" cy="170000"/>
          </a:xfrm>
          <a:prstGeom prst="ellipse">
            <a:avLst/>
          </a:prstGeom>
          <a:noFill/>
          <a:ln w="9525">
            <a:solidFill>
              <a:srgbClr val="B68757"/>
            </a:solidFill>
          </a:ln>
        </p:spPr>
        <p:txBody>
          <a:bodyPr rtlCol="0" anchor="ctr"/>
          <a:lstStyle/>
          <a:p>
            <a:pPr algn="ctr"/>
            <a:endParaRPr/>
          </a:p>
        </p:txBody>
      </p:sp>
      <p:sp>
        <p:nvSpPr>
          <p:cNvPr id="91" name="TextBox 90"/>
          <p:cNvSpPr txBox="1"/>
          <p:nvPr/>
        </p:nvSpPr>
        <p:spPr>
          <a:xfrm>
            <a:off x="7633400" y="4068250"/>
            <a:ext cx="1400000" cy="230000"/>
          </a:xfrm>
          <a:prstGeom prst="rect">
            <a:avLst/>
          </a:prstGeom>
          <a:noFill/>
        </p:spPr>
        <p:txBody>
          <a:bodyPr wrap="square" lIns="0" tIns="0" rIns="0" bIns="0" anchor="t"/>
          <a:lstStyle/>
          <a:p>
            <a:pPr algn="l"/>
            <a:r>
              <a:rPr lang="en-US" sz="700" b="1" i="0" spc="100">
                <a:solidFill>
                  <a:srgbClr val="8C6239"/>
                </a:solidFill>
              </a:rPr>
              <a:t>STEADY</a:t>
            </a:r>
          </a:p>
        </p:txBody>
      </p:sp>
      <p:cxnSp>
        <p:nvCxnSpPr>
          <p:cNvPr id="92" name="Connector 91"/>
          <p:cNvCxnSpPr/>
          <p:nvPr/>
        </p:nvCxnSpPr>
        <p:spPr>
          <a:xfrm>
            <a:off x="3133400" y="4678250"/>
            <a:ext cx="6505900" cy="0"/>
          </a:xfrm>
          <a:prstGeom prst="line">
            <a:avLst/>
          </a:prstGeom>
          <a:ln w="9525">
            <a:solidFill>
              <a:srgbClr val="E3DCD3"/>
            </a:solidFill>
          </a:ln>
        </p:spPr>
      </p:cxnSp>
      <p:sp>
        <p:nvSpPr>
          <p:cNvPr id="93" name="TextBox 92"/>
          <p:cNvSpPr txBox="1"/>
          <p:nvPr/>
        </p:nvSpPr>
        <p:spPr>
          <a:xfrm>
            <a:off x="3283400" y="4808250"/>
            <a:ext cx="2500000" cy="200000"/>
          </a:xfrm>
          <a:prstGeom prst="rect">
            <a:avLst/>
          </a:prstGeom>
          <a:noFill/>
        </p:spPr>
        <p:txBody>
          <a:bodyPr wrap="square" lIns="0" tIns="0" rIns="0" bIns="0" anchor="t"/>
          <a:lstStyle/>
          <a:p>
            <a:pPr algn="l"/>
            <a:r>
              <a:rPr lang="en-US" sz="975" b="1" i="0">
                <a:solidFill>
                  <a:srgbClr val="1B1A1A"/>
                </a:solidFill>
                <a:latin typeface="+mj-lt"/>
              </a:rPr>
              <a:t>Transportation &amp; Logistics</a:t>
            </a:r>
          </a:p>
        </p:txBody>
      </p:sp>
      <p:sp>
        <p:nvSpPr>
          <p:cNvPr id="94" name="TextBox 93"/>
          <p:cNvSpPr txBox="1"/>
          <p:nvPr/>
        </p:nvSpPr>
        <p:spPr>
          <a:xfrm>
            <a:off x="3283400" y="507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Lowest multiple at 12.2x and EBITDA down 0.8%, with shares up 38.9%.</a:t>
            </a:r>
          </a:p>
        </p:txBody>
      </p:sp>
      <p:sp>
        <p:nvSpPr>
          <p:cNvPr id="95" name="Gauge dot"/>
          <p:cNvSpPr/>
          <p:nvPr/>
        </p:nvSpPr>
        <p:spPr>
          <a:xfrm>
            <a:off x="6133400" y="4958250"/>
            <a:ext cx="170000" cy="170000"/>
          </a:xfrm>
          <a:prstGeom prst="ellipse">
            <a:avLst/>
          </a:prstGeom>
          <a:solidFill>
            <a:srgbClr val="B68757"/>
          </a:solidFill>
          <a:ln>
            <a:noFill/>
          </a:ln>
        </p:spPr>
        <p:txBody>
          <a:bodyPr rtlCol="0" anchor="ctr"/>
          <a:lstStyle/>
          <a:p>
            <a:pPr algn="ctr"/>
            <a:endParaRPr/>
          </a:p>
        </p:txBody>
      </p:sp>
      <p:sp>
        <p:nvSpPr>
          <p:cNvPr id="96" name="Gauge dot"/>
          <p:cNvSpPr/>
          <p:nvPr/>
        </p:nvSpPr>
        <p:spPr>
          <a:xfrm>
            <a:off x="6403400" y="4958250"/>
            <a:ext cx="170000" cy="170000"/>
          </a:xfrm>
          <a:prstGeom prst="ellipse">
            <a:avLst/>
          </a:prstGeom>
          <a:solidFill>
            <a:srgbClr val="B68757"/>
          </a:solidFill>
          <a:ln>
            <a:noFill/>
          </a:ln>
        </p:spPr>
        <p:txBody>
          <a:bodyPr rtlCol="0" anchor="ctr"/>
          <a:lstStyle/>
          <a:p>
            <a:pPr algn="ctr"/>
            <a:endParaRPr/>
          </a:p>
        </p:txBody>
      </p:sp>
      <p:sp>
        <p:nvSpPr>
          <p:cNvPr id="97" name="Gauge dot"/>
          <p:cNvSpPr/>
          <p:nvPr/>
        </p:nvSpPr>
        <p:spPr>
          <a:xfrm>
            <a:off x="6673400" y="4958250"/>
            <a:ext cx="170000" cy="170000"/>
          </a:xfrm>
          <a:prstGeom prst="ellipse">
            <a:avLst/>
          </a:prstGeom>
          <a:noFill/>
          <a:ln w="9525">
            <a:solidFill>
              <a:srgbClr val="B68757"/>
            </a:solidFill>
          </a:ln>
        </p:spPr>
        <p:txBody>
          <a:bodyPr rtlCol="0" anchor="ctr"/>
          <a:lstStyle/>
          <a:p>
            <a:pPr algn="ctr"/>
            <a:endParaRPr/>
          </a:p>
        </p:txBody>
      </p:sp>
      <p:sp>
        <p:nvSpPr>
          <p:cNvPr id="98" name="Gauge dot"/>
          <p:cNvSpPr/>
          <p:nvPr/>
        </p:nvSpPr>
        <p:spPr>
          <a:xfrm>
            <a:off x="6943400" y="4958250"/>
            <a:ext cx="170000" cy="170000"/>
          </a:xfrm>
          <a:prstGeom prst="ellipse">
            <a:avLst/>
          </a:prstGeom>
          <a:noFill/>
          <a:ln w="9525">
            <a:solidFill>
              <a:srgbClr val="B68757"/>
            </a:solidFill>
          </a:ln>
        </p:spPr>
        <p:txBody>
          <a:bodyPr rtlCol="0" anchor="ctr"/>
          <a:lstStyle/>
          <a:p>
            <a:pPr algn="ctr"/>
            <a:endParaRPr/>
          </a:p>
        </p:txBody>
      </p:sp>
      <p:sp>
        <p:nvSpPr>
          <p:cNvPr id="99" name="Gauge dot"/>
          <p:cNvSpPr/>
          <p:nvPr/>
        </p:nvSpPr>
        <p:spPr>
          <a:xfrm>
            <a:off x="7213400" y="4958250"/>
            <a:ext cx="170000" cy="170000"/>
          </a:xfrm>
          <a:prstGeom prst="ellipse">
            <a:avLst/>
          </a:prstGeom>
          <a:noFill/>
          <a:ln w="9525">
            <a:solidFill>
              <a:srgbClr val="B68757"/>
            </a:solidFill>
          </a:ln>
        </p:spPr>
        <p:txBody>
          <a:bodyPr rtlCol="0" anchor="ctr"/>
          <a:lstStyle/>
          <a:p>
            <a:pPr algn="ctr"/>
            <a:endParaRPr/>
          </a:p>
        </p:txBody>
      </p:sp>
      <p:sp>
        <p:nvSpPr>
          <p:cNvPr id="100" name="TextBox 99"/>
          <p:cNvSpPr txBox="1"/>
          <p:nvPr/>
        </p:nvSpPr>
        <p:spPr>
          <a:xfrm>
            <a:off x="7633400" y="4928250"/>
            <a:ext cx="1400000" cy="230000"/>
          </a:xfrm>
          <a:prstGeom prst="rect">
            <a:avLst/>
          </a:prstGeom>
          <a:noFill/>
        </p:spPr>
        <p:txBody>
          <a:bodyPr wrap="square" lIns="0" tIns="0" rIns="0" bIns="0" anchor="t"/>
          <a:lstStyle/>
          <a:p>
            <a:pPr algn="l"/>
            <a:r>
              <a:rPr lang="en-US" sz="700" b="1" i="0" spc="100">
                <a:solidFill>
                  <a:srgbClr val="8C6239"/>
                </a:solidFill>
              </a:rPr>
              <a:t>MIXED</a:t>
            </a:r>
          </a:p>
        </p:txBody>
      </p:sp>
      <p:sp>
        <p:nvSpPr>
          <p:cNvPr id="101" name="Advice bar"/>
          <p:cNvSpPr/>
          <p:nvPr/>
        </p:nvSpPr>
        <p:spPr>
          <a:xfrm>
            <a:off x="419100" y="5652550"/>
            <a:ext cx="9220200" cy="1281650"/>
          </a:xfrm>
          <a:prstGeom prst="rect">
            <a:avLst/>
          </a:prstGeom>
          <a:solidFill>
            <a:srgbClr val="FAF7F3"/>
          </a:solidFill>
          <a:ln w="9525">
            <a:solidFill>
              <a:srgbClr val="E3DCD3"/>
            </a:solidFill>
          </a:ln>
        </p:spPr>
        <p:txBody>
          <a:bodyPr rtlCol="0" anchor="ctr"/>
          <a:lstStyle/>
          <a:p>
            <a:pPr algn="ctr"/>
            <a:endParaRPr/>
          </a:p>
        </p:txBody>
      </p:sp>
      <p:sp>
        <p:nvSpPr>
          <p:cNvPr id="102" name="TextBox 101"/>
          <p:cNvSpPr txBox="1"/>
          <p:nvPr/>
        </p:nvSpPr>
        <p:spPr>
          <a:xfrm>
            <a:off x="589100" y="5762550"/>
            <a:ext cx="3000000" cy="150000"/>
          </a:xfrm>
          <a:prstGeom prst="rect">
            <a:avLst/>
          </a:prstGeom>
          <a:noFill/>
        </p:spPr>
        <p:txBody>
          <a:bodyPr wrap="square" lIns="0" tIns="0" rIns="0" bIns="0" anchor="t"/>
          <a:lstStyle/>
          <a:p>
            <a:pPr algn="l"/>
            <a:r>
              <a:rPr lang="en-US" sz="675" b="1" i="0" spc="200">
                <a:solidFill>
                  <a:srgbClr val="8C6239"/>
                </a:solidFill>
              </a:rPr>
              <a:t>THREE STEPS WE ADVISE OWNERS TO TAKE</a:t>
            </a:r>
          </a:p>
        </p:txBody>
      </p:sp>
      <p:sp>
        <p:nvSpPr>
          <p:cNvPr id="103" name="TextBox 102"/>
          <p:cNvSpPr txBox="1"/>
          <p:nvPr/>
        </p:nvSpPr>
        <p:spPr>
          <a:xfrm>
            <a:off x="589100" y="5982550"/>
            <a:ext cx="2860066" cy="200000"/>
          </a:xfrm>
          <a:prstGeom prst="rect">
            <a:avLst/>
          </a:prstGeom>
          <a:noFill/>
        </p:spPr>
        <p:txBody>
          <a:bodyPr wrap="square" lIns="0" tIns="0" rIns="0" bIns="0" anchor="t"/>
          <a:lstStyle/>
          <a:p>
            <a:pPr algn="l"/>
            <a:r>
              <a:rPr lang="en-US" sz="900" b="1" i="0">
                <a:solidFill>
                  <a:srgbClr val="1B1A1A"/>
                </a:solidFill>
                <a:latin typeface="+mj-lt"/>
              </a:rPr>
              <a:t>1. Compare bids on proceeds</a:t>
            </a:r>
          </a:p>
        </p:txBody>
      </p:sp>
      <p:sp>
        <p:nvSpPr>
          <p:cNvPr id="104" name="TextBox 103"/>
          <p:cNvSpPr txBox="1"/>
          <p:nvPr/>
        </p:nvSpPr>
        <p:spPr>
          <a:xfrm>
            <a:off x="589100" y="6232550"/>
            <a:ext cx="2860066" cy="641650"/>
          </a:xfrm>
          <a:prstGeom prst="rect">
            <a:avLst/>
          </a:prstGeom>
          <a:noFill/>
        </p:spPr>
        <p:txBody>
          <a:bodyPr wrap="square" lIns="0" tIns="0" rIns="0" bIns="0" anchor="t"/>
          <a:lstStyle/>
          <a:p>
            <a:pPr algn="l">
              <a:lnSpc>
                <a:spcPts val="1050"/>
              </a:lnSpc>
            </a:pPr>
            <a:r>
              <a:rPr lang="en-US" sz="760" b="0" i="0">
                <a:solidFill>
                  <a:srgbClr val="333231"/>
                </a:solidFill>
              </a:rPr>
              <a:t>Sponsor platform leverage fell to 2.9x EBITDA from 3.4x, so owners should compare offers on cash at close, earn-out, and seller note terms rather than headline multiple alone.</a:t>
            </a:r>
          </a:p>
        </p:txBody>
      </p:sp>
      <p:sp>
        <p:nvSpPr>
          <p:cNvPr id="105" name="TextBox 104"/>
          <p:cNvSpPr txBox="1"/>
          <p:nvPr/>
        </p:nvSpPr>
        <p:spPr>
          <a:xfrm>
            <a:off x="3599166" y="5982550"/>
            <a:ext cx="2860066" cy="200000"/>
          </a:xfrm>
          <a:prstGeom prst="rect">
            <a:avLst/>
          </a:prstGeom>
          <a:noFill/>
        </p:spPr>
        <p:txBody>
          <a:bodyPr wrap="square" lIns="0" tIns="0" rIns="0" bIns="0" anchor="t"/>
          <a:lstStyle/>
          <a:p>
            <a:pPr algn="l"/>
            <a:r>
              <a:rPr lang="en-US" sz="900" b="1" i="0">
                <a:solidFill>
                  <a:srgbClr val="1B1A1A"/>
                </a:solidFill>
                <a:latin typeface="+mj-lt"/>
              </a:rPr>
              <a:t>2. Invite strategic buyers</a:t>
            </a:r>
          </a:p>
        </p:txBody>
      </p:sp>
      <p:sp>
        <p:nvSpPr>
          <p:cNvPr id="106" name="TextBox 105"/>
          <p:cNvSpPr txBox="1"/>
          <p:nvPr/>
        </p:nvSpPr>
        <p:spPr>
          <a:xfrm>
            <a:off x="3599166" y="6232550"/>
            <a:ext cx="2860066" cy="641650"/>
          </a:xfrm>
          <a:prstGeom prst="rect">
            <a:avLst/>
          </a:prstGeom>
          <a:noFill/>
        </p:spPr>
        <p:txBody>
          <a:bodyPr wrap="square" lIns="0" tIns="0" rIns="0" bIns="0" anchor="t"/>
          <a:lstStyle/>
          <a:p>
            <a:pPr algn="l">
              <a:lnSpc>
                <a:spcPts val="1050"/>
              </a:lnSpc>
            </a:pPr>
            <a:r>
              <a:rPr lang="en-US" sz="760" b="0" i="0">
                <a:solidFill>
                  <a:srgbClr val="333231"/>
                </a:solidFill>
              </a:rPr>
              <a:t>Strategic acquirers account for 56% of the transactions on pages 13 to 15, so a process should include them alongside sponsor platforms.</a:t>
            </a:r>
          </a:p>
        </p:txBody>
      </p:sp>
      <p:sp>
        <p:nvSpPr>
          <p:cNvPr id="107" name="TextBox 106"/>
          <p:cNvSpPr txBox="1"/>
          <p:nvPr/>
        </p:nvSpPr>
        <p:spPr>
          <a:xfrm>
            <a:off x="6609232" y="5982550"/>
            <a:ext cx="2860066" cy="200000"/>
          </a:xfrm>
          <a:prstGeom prst="rect">
            <a:avLst/>
          </a:prstGeom>
          <a:noFill/>
        </p:spPr>
        <p:txBody>
          <a:bodyPr wrap="square" lIns="0" tIns="0" rIns="0" bIns="0" anchor="t"/>
          <a:lstStyle/>
          <a:p>
            <a:pPr algn="l"/>
            <a:r>
              <a:rPr lang="en-US" sz="900" b="1" i="0">
                <a:solidFill>
                  <a:srgbClr val="1B1A1A"/>
                </a:solidFill>
                <a:latin typeface="+mj-lt"/>
              </a:rPr>
              <a:t>3. Document licenses and delivery slots</a:t>
            </a:r>
          </a:p>
        </p:txBody>
      </p:sp>
      <p:sp>
        <p:nvSpPr>
          <p:cNvPr id="108" name="TextBox 107"/>
          <p:cNvSpPr txBox="1"/>
          <p:nvPr/>
        </p:nvSpPr>
        <p:spPr>
          <a:xfrm>
            <a:off x="6609232" y="6232550"/>
            <a:ext cx="2860066" cy="641650"/>
          </a:xfrm>
          <a:prstGeom prst="rect">
            <a:avLst/>
          </a:prstGeom>
          <a:noFill/>
        </p:spPr>
        <p:txBody>
          <a:bodyPr wrap="square" lIns="0" tIns="0" rIns="0" bIns="0" anchor="t"/>
          <a:lstStyle/>
          <a:p>
            <a:pPr algn="l">
              <a:lnSpc>
                <a:spcPts val="1050"/>
              </a:lnSpc>
            </a:pPr>
            <a:r>
              <a:rPr lang="en-US" sz="760" b="0" i="0">
                <a:solidFill>
                  <a:srgbClr val="333231"/>
                </a:solidFill>
              </a:rPr>
              <a:t>Licenses, certifications, permits, and delivery slots belong in the first management presentation, because buyers have paid 8x to 12x for them against about 6x for businesses without them.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dated March 30, 2026. Trade and transaction figures are as reported by the linked sources.</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descr="Signing a document at a conference table"/>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$36.95 billion of it moved through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Laredo customs broker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2609850"/>
          </a:xfrm>
          <a:prstGeom prst="rect">
            <a:avLst/>
          </a:prstGeom>
          <a:solidFill>
            <a:srgbClr val="FAF7F3"/>
          </a:solidFill>
          <a:ln/>
        </p:spPr>
        <p:txBody>
          <a:bodyPr/>
          <a:lstStyle/>
          <a:p>
            <a:endParaRPr lang="en-US"/>
          </a:p>
        </p:txBody>
      </p:sp>
      <p:sp>
        <p:nvSpPr>
          <p:cNvPr id="32" name="Shape 29"/>
          <p:cNvSpPr/>
          <p:nvPr/>
        </p:nvSpPr>
        <p:spPr>
          <a:xfrm>
            <a:off x="7324725" y="1238250"/>
            <a:ext cx="0" cy="260985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800" dirty="0">
                <a:solidFill>
                  <a:srgbClr val="6F6A66"/>
                </a:solidFill>
              </a:rPr>
              <a:t>Gaurang Shastri, Managing Director, Lincoln International, speaking to Transport Topics (</a:t>
            </a:r>
            <a:r>
              <a:rPr lang="en-US" sz="800"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800" dirty="0">
                <a:solidFill>
                  <a:srgbClr val="6F6A66"/>
                </a:solidFill>
              </a:rPr>
              <a:t>)</a:t>
            </a:r>
            <a:endParaRPr lang="en-US" sz="800" dirty="0"/>
          </a:p>
        </p:txBody>
      </p:sp>
      <p:sp>
        <p:nvSpPr>
          <p:cNvPr id="35" name="Text 31"/>
          <p:cNvSpPr txBox="1"/>
          <p:nvPr/>
        </p:nvSpPr>
        <p:spPr>
          <a:xfrm>
            <a:off x="7486650" y="2895600"/>
            <a:ext cx="2000250" cy="1000000"/>
          </a:xfrm>
          <a:prstGeom prst="rect">
            <a:avLst/>
          </a:prstGeom>
          <a:noFill/>
          <a:ln/>
        </p:spPr>
        <p:txBody>
          <a:bodyPr wrap="square" lIns="0" tIns="0" rIns="0" bIns="0" rtlCol="0" anchor="t"/>
          <a:lstStyle/>
          <a:p>
            <a:pPr marL="0" indent="0">
              <a:lnSpc>
                <a:spcPts val="1013"/>
              </a:lnSpc>
              <a:buNone/>
            </a:pPr>
            <a:r>
              <a:rPr lang="en-US" sz="800" i="0" dirty="0">
                <a:solidFill>
                  <a:srgbClr val="6F6A66"/>
                </a:solidFill>
              </a:rPr>
              <a:t>Carmi’s brokerage licenses, bonded warehousing, and four decades of Laredo relationships are the capability. The trucks are the capacity, and buyers can rent those.</a:t>
            </a:r>
            <a:endParaRPr lang="en-US" sz="800"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descr="Photo of Jared Hardin"/>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210-241-7990</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descr="Photo of Jordan Houtz"/>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3">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4">
                  <a:extLst>
                    <a:ext uri="{A12FA001-AC4F-418D-AE19-62706E023703}">
                      <ahyp:hlinkClr xmlns:ahyp="http://schemas.microsoft.com/office/drawing/2018/hyperlinkcolor" val="tx"/>
                    </a:ext>
                  </a:extLst>
                </a:hlinkClick>
              </a:rPr>
              <a:t>jhoutz@benchmarkintl.com</a:t>
            </a:r>
            <a:endParaRPr lang="en-US" sz="750"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pic>
        <p:nvPicPr>
          <p:cNvPr id="56" name="Logo - The Carmi Companies" descr="The Carmi Companies logo"/>
          <p:cNvPicPr>
            <a:picLocks noChangeAspect="1"/>
          </p:cNvPicPr>
          <p:nvPr/>
        </p:nvPicPr>
        <p:blipFill>
          <a:blip r:embed="rId15"/>
          <a:stretch>
            <a:fillRect/>
          </a:stretch>
        </p:blipFill>
        <p:spPr>
          <a:xfrm>
            <a:off x="1394648" y="3750450"/>
            <a:ext cx="773053" cy="233400"/>
          </a:xfrm>
          <a:prstGeom prst="rect">
            <a:avLst/>
          </a:prstGeom>
        </p:spPr>
      </p:pic>
      <p:pic>
        <p:nvPicPr>
          <p:cNvPr id="57" name="Logo - The Nearshore Company" descr="The Nearshore Company logo"/>
          <p:cNvPicPr>
            <a:picLocks noChangeAspect="1"/>
          </p:cNvPicPr>
          <p:nvPr/>
        </p:nvPicPr>
        <p:blipFill>
          <a:blip r:embed="rId16"/>
          <a:stretch>
            <a:fillRect/>
          </a:stretch>
        </p:blipFill>
        <p:spPr>
          <a:xfrm>
            <a:off x="1204106" y="4657700"/>
            <a:ext cx="1154138" cy="2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Metal lathe turning a workpiece"/>
          <p:cNvPicPr>
            <a:picLocks noChangeAspect="1"/>
          </p:cNvPicPr>
          <p:nvPr/>
        </p:nvPicPr>
        <p:blipFill>
          <a:blip r:embed="rId3"/>
          <a:srcRect l="28860" r="28860"/>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070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across the five industrial segments during 2026, with sellers that ranged from founder-owned machine shops and customs brokers to companies bought by public acquirers for several billion dollars. The 40 listed companies tracked on page 16 trade at a median of 16.3 times trailing EBITDA, and the indicators behind demand and financing point in different directions.</a:t>
            </a:r>
            <a:endParaRPr lang="en-US" sz="1013" dirty="0"/>
          </a:p>
        </p:txBody>
      </p:sp>
      <p:sp>
        <p:nvSpPr>
          <p:cNvPr id="9" name="Shape 6"/>
          <p:cNvSpPr/>
          <p:nvPr/>
        </p:nvSpPr>
        <p:spPr>
          <a:xfrm>
            <a:off x="609600" y="47500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484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11" name="Text 8"/>
          <p:cNvSpPr txBox="1"/>
          <p:nvPr/>
        </p:nvSpPr>
        <p:spPr>
          <a:xfrm>
            <a:off x="971550" y="48262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6"/>
          <p:cNvSpPr/>
          <p:nvPr/>
        </p:nvSpPr>
        <p:spPr>
          <a:xfrm>
            <a:off x="609600" y="5020000"/>
            <a:ext cx="4476750" cy="0"/>
          </a:xfrm>
          <a:prstGeom prst="line">
            <a:avLst/>
          </a:prstGeom>
          <a:noFill/>
          <a:ln w="9525">
            <a:solidFill>
              <a:srgbClr val="5B4E40"/>
            </a:solidFill>
            <a:prstDash val="solid"/>
          </a:ln>
        </p:spPr>
        <p:txBody>
          <a:bodyPr/>
          <a:lstStyle/>
          <a:p>
            <a:endParaRPr lang="en-US"/>
          </a:p>
        </p:txBody>
      </p:sp>
      <p:sp>
        <p:nvSpPr>
          <p:cNvPr id="13" name="Text 7"/>
          <p:cNvSpPr txBox="1"/>
          <p:nvPr/>
        </p:nvSpPr>
        <p:spPr>
          <a:xfrm>
            <a:off x="609600" y="511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4" name="Text 8"/>
          <p:cNvSpPr txBox="1"/>
          <p:nvPr/>
        </p:nvSpPr>
        <p:spPr>
          <a:xfrm>
            <a:off x="971550" y="5096200"/>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6"/>
          <p:cNvSpPr/>
          <p:nvPr/>
        </p:nvSpPr>
        <p:spPr>
          <a:xfrm>
            <a:off x="609600" y="5290000"/>
            <a:ext cx="4476750" cy="0"/>
          </a:xfrm>
          <a:prstGeom prst="line">
            <a:avLst/>
          </a:prstGeom>
          <a:noFill/>
          <a:ln w="9525">
            <a:solidFill>
              <a:srgbClr val="5B4E40"/>
            </a:solidFill>
            <a:prstDash val="solid"/>
          </a:ln>
        </p:spPr>
        <p:txBody>
          <a:bodyPr/>
          <a:lstStyle/>
          <a:p>
            <a:endParaRPr lang="en-US"/>
          </a:p>
        </p:txBody>
      </p:sp>
      <p:sp>
        <p:nvSpPr>
          <p:cNvPr id="16" name="Text 7"/>
          <p:cNvSpPr txBox="1"/>
          <p:nvPr/>
        </p:nvSpPr>
        <p:spPr>
          <a:xfrm>
            <a:off x="609600" y="538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7" name="Text 8"/>
          <p:cNvSpPr txBox="1"/>
          <p:nvPr/>
        </p:nvSpPr>
        <p:spPr>
          <a:xfrm>
            <a:off x="971550" y="536620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6"/>
          <p:cNvSpPr/>
          <p:nvPr/>
        </p:nvSpPr>
        <p:spPr>
          <a:xfrm>
            <a:off x="609600" y="5560000"/>
            <a:ext cx="4476750" cy="0"/>
          </a:xfrm>
          <a:prstGeom prst="line">
            <a:avLst/>
          </a:prstGeom>
          <a:noFill/>
          <a:ln w="9525">
            <a:solidFill>
              <a:srgbClr val="5B4E40"/>
            </a:solidFill>
            <a:prstDash val="solid"/>
          </a:ln>
        </p:spPr>
        <p:txBody>
          <a:bodyPr/>
          <a:lstStyle/>
          <a:p>
            <a:endParaRPr lang="en-US"/>
          </a:p>
        </p:txBody>
      </p:sp>
      <p:sp>
        <p:nvSpPr>
          <p:cNvPr id="19" name="Text 7"/>
          <p:cNvSpPr txBox="1"/>
          <p:nvPr/>
        </p:nvSpPr>
        <p:spPr>
          <a:xfrm>
            <a:off x="609600" y="565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19</a:t>
            </a:r>
            <a:endParaRPr lang="en-US" sz="825" dirty="0"/>
          </a:p>
        </p:txBody>
      </p:sp>
      <p:sp>
        <p:nvSpPr>
          <p:cNvPr id="20" name="Text 8"/>
          <p:cNvSpPr txBox="1"/>
          <p:nvPr/>
        </p:nvSpPr>
        <p:spPr>
          <a:xfrm>
            <a:off x="971550" y="5636200"/>
            <a:ext cx="4095750" cy="209550"/>
          </a:xfrm>
          <a:prstGeom prst="rect">
            <a:avLst/>
          </a:prstGeom>
          <a:noFill/>
          <a:ln/>
        </p:spPr>
        <p:txBody>
          <a:bodyPr wrap="square" lIns="0" tIns="0" rIns="0" bIns="0" rtlCol="0" anchor="t"/>
          <a:lstStyle/>
          <a:p>
            <a:pPr marL="0" indent="0">
              <a:buNone/>
            </a:pPr>
            <a:r>
              <a:rPr lang="en-US" sz="975" dirty="0">
                <a:solidFill>
                  <a:srgbClr val="F4EFE8"/>
                </a:solidFill>
              </a:rPr>
              <a:t>Earnings and commentary</a:t>
            </a:r>
            <a:endParaRPr lang="en-US" sz="975" dirty="0"/>
          </a:p>
        </p:txBody>
      </p:sp>
      <p:sp>
        <p:nvSpPr>
          <p:cNvPr id="21" name="Shape 6"/>
          <p:cNvSpPr/>
          <p:nvPr/>
        </p:nvSpPr>
        <p:spPr>
          <a:xfrm>
            <a:off x="609600" y="5830000"/>
            <a:ext cx="4476750" cy="0"/>
          </a:xfrm>
          <a:prstGeom prst="line">
            <a:avLst/>
          </a:prstGeom>
          <a:noFill/>
          <a:ln w="9525">
            <a:solidFill>
              <a:srgbClr val="5B4E40"/>
            </a:solidFill>
            <a:prstDash val="solid"/>
          </a:ln>
        </p:spPr>
        <p:txBody>
          <a:bodyPr/>
          <a:lstStyle/>
          <a:p>
            <a:endParaRPr lang="en-US"/>
          </a:p>
        </p:txBody>
      </p:sp>
      <p:sp>
        <p:nvSpPr>
          <p:cNvPr id="22" name="Text 7"/>
          <p:cNvSpPr txBox="1"/>
          <p:nvPr/>
        </p:nvSpPr>
        <p:spPr>
          <a:xfrm>
            <a:off x="609600" y="592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20</a:t>
            </a:r>
            <a:endParaRPr lang="en-US" sz="825" dirty="0"/>
          </a:p>
        </p:txBody>
      </p:sp>
      <p:sp>
        <p:nvSpPr>
          <p:cNvPr id="23" name="Text 8"/>
          <p:cNvSpPr txBox="1"/>
          <p:nvPr/>
        </p:nvSpPr>
        <p:spPr>
          <a:xfrm>
            <a:off x="971550" y="5906200"/>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4" name="Shape 6"/>
          <p:cNvSpPr/>
          <p:nvPr/>
        </p:nvSpPr>
        <p:spPr>
          <a:xfrm>
            <a:off x="609600" y="6100000"/>
            <a:ext cx="4476750" cy="0"/>
          </a:xfrm>
          <a:prstGeom prst="line">
            <a:avLst/>
          </a:prstGeom>
          <a:noFill/>
          <a:ln w="9525">
            <a:solidFill>
              <a:srgbClr val="5B4E40"/>
            </a:solidFill>
            <a:prstDash val="solid"/>
          </a:ln>
        </p:spPr>
        <p:txBody>
          <a:bodyPr/>
          <a:lstStyle/>
          <a:p>
            <a:endParaRPr lang="en-US"/>
          </a:p>
        </p:txBody>
      </p:sp>
      <p:sp>
        <p:nvSpPr>
          <p:cNvPr id="25" name="Text 7"/>
          <p:cNvSpPr txBox="1"/>
          <p:nvPr/>
        </p:nvSpPr>
        <p:spPr>
          <a:xfrm>
            <a:off x="609600" y="619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21</a:t>
            </a:r>
            <a:endParaRPr lang="en-US" sz="825" dirty="0"/>
          </a:p>
        </p:txBody>
      </p:sp>
      <p:sp>
        <p:nvSpPr>
          <p:cNvPr id="26" name="Text 8"/>
          <p:cNvSpPr txBox="1"/>
          <p:nvPr/>
        </p:nvSpPr>
        <p:spPr>
          <a:xfrm>
            <a:off x="971550" y="61762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participants</a:t>
            </a:r>
            <a:endParaRPr lang="en-US" sz="975" dirty="0"/>
          </a:p>
        </p:txBody>
      </p:sp>
      <p:sp>
        <p:nvSpPr>
          <p:cNvPr id="27" name="Shape 6"/>
          <p:cNvSpPr/>
          <p:nvPr/>
        </p:nvSpPr>
        <p:spPr>
          <a:xfrm>
            <a:off x="609600" y="63700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15.</a:t>
            </a:r>
            <a:endParaRPr lang="en-US" sz="675" dirty="0"/>
          </a:p>
        </p:txBody>
      </p:sp>
      <p:graphicFrame>
        <p:nvGraphicFramePr>
          <p:cNvPr id="8" name="Table 0"/>
          <p:cNvGraphicFramePr>
            <a:graphicFrameLocks noGrp="1"/>
          </p:cNvGraphicFramePr>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3082650">
                  <a:extLst>
                    <a:ext uri="{9D8B030D-6E8A-4147-A177-3AD203B41FA5}">
                      <a16:colId xmlns:a16="http://schemas.microsoft.com/office/drawing/2014/main" val="20001"/>
                    </a:ext>
                  </a:extLst>
                </a:gridCol>
                <a:gridCol w="276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of $45 million on $115 million of revenue, a margin near 39%, for a business whose pumps are specified into its customers’ equipment.</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Metroplex was Meritus’s third announced acquisition of 2026, and most industrial product lines now have a sponsor-backed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in 2027,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the $11 million of 2027 adjusted EBITDA that Limbach expects, a 7.9% margin on $140 million of revenue, which is the profile of a project contractor rather than a service business.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pic>
        <p:nvPicPr>
          <p:cNvPr id="26" name="Logo - Cat Pumps" descr="Cat Pumps logo"/>
          <p:cNvPicPr>
            <a:picLocks noChangeAspect="1"/>
          </p:cNvPicPr>
          <p:nvPr/>
        </p:nvPicPr>
        <p:blipFill>
          <a:blip r:embed="rId9"/>
          <a:stretch>
            <a:fillRect/>
          </a:stretch>
        </p:blipFill>
        <p:spPr>
          <a:xfrm>
            <a:off x="3762500" y="1631825"/>
            <a:ext cx="740700" cy="270000"/>
          </a:xfrm>
          <a:prstGeom prst="rect">
            <a:avLst/>
          </a:prstGeom>
        </p:spPr>
      </p:pic>
      <p:pic>
        <p:nvPicPr>
          <p:cNvPr id="27" name="Logo - Franklin Electric" descr="Franklin Electric logo"/>
          <p:cNvPicPr>
            <a:picLocks noChangeAspect="1"/>
          </p:cNvPicPr>
          <p:nvPr/>
        </p:nvPicPr>
        <p:blipFill>
          <a:blip r:embed="rId10"/>
          <a:stretch>
            <a:fillRect/>
          </a:stretch>
        </p:blipFill>
        <p:spPr>
          <a:xfrm>
            <a:off x="3742850" y="2210982"/>
            <a:ext cx="780000" cy="159685"/>
          </a:xfrm>
          <a:prstGeom prst="rect">
            <a:avLst/>
          </a:prstGeom>
        </p:spPr>
      </p:pic>
      <p:pic>
        <p:nvPicPr>
          <p:cNvPr id="28" name="Logo - Precinmac" descr="Precinmac logo"/>
          <p:cNvPicPr>
            <a:picLocks noChangeAspect="1"/>
          </p:cNvPicPr>
          <p:nvPr/>
        </p:nvPicPr>
        <p:blipFill>
          <a:blip r:embed="rId11"/>
          <a:stretch>
            <a:fillRect/>
          </a:stretch>
        </p:blipFill>
        <p:spPr>
          <a:xfrm>
            <a:off x="3742850" y="3306636"/>
            <a:ext cx="780000" cy="140078"/>
          </a:xfrm>
          <a:prstGeom prst="rect">
            <a:avLst/>
          </a:prstGeom>
        </p:spPr>
      </p:pic>
      <p:pic>
        <p:nvPicPr>
          <p:cNvPr id="29" name="Logo - Meritus Gas Partners" descr="Meritus Gas Partners logo"/>
          <p:cNvPicPr>
            <a:picLocks noChangeAspect="1"/>
          </p:cNvPicPr>
          <p:nvPr/>
        </p:nvPicPr>
        <p:blipFill>
          <a:blip r:embed="rId12"/>
          <a:stretch>
            <a:fillRect/>
          </a:stretch>
        </p:blipFill>
        <p:spPr>
          <a:xfrm>
            <a:off x="3742850" y="5475575"/>
            <a:ext cx="780000" cy="145600"/>
          </a:xfrm>
          <a:prstGeom prst="rect">
            <a:avLst/>
          </a:prstGeom>
        </p:spPr>
      </p:pic>
      <p:pic>
        <p:nvPicPr>
          <p:cNvPr id="30" name="Logo - 1901 Inc." descr="1901 Inc. logo"/>
          <p:cNvPicPr>
            <a:picLocks noChangeAspect="1"/>
          </p:cNvPicPr>
          <p:nvPr/>
        </p:nvPicPr>
        <p:blipFill>
          <a:blip r:embed="rId13"/>
          <a:stretch>
            <a:fillRect/>
          </a:stretch>
        </p:blipFill>
        <p:spPr>
          <a:xfrm>
            <a:off x="3767302" y="5975225"/>
            <a:ext cx="731095" cy="270000"/>
          </a:xfrm>
          <a:prstGeom prst="rect">
            <a:avLst/>
          </a:prstGeom>
        </p:spPr>
      </p:pic>
      <p:pic>
        <p:nvPicPr>
          <p:cNvPr id="31" name="Logo - Limbach" descr="Limbach logo"/>
          <p:cNvPicPr>
            <a:picLocks noChangeAspect="1"/>
          </p:cNvPicPr>
          <p:nvPr/>
        </p:nvPicPr>
        <p:blipFill>
          <a:blip r:embed="rId14"/>
          <a:stretch>
            <a:fillRect/>
          </a:stretch>
        </p:blipFill>
        <p:spPr>
          <a:xfrm>
            <a:off x="3742850" y="6561328"/>
            <a:ext cx="780000" cy="145794"/>
          </a:xfrm>
          <a:prstGeom prst="rect">
            <a:avLst/>
          </a:prstGeom>
        </p:spPr>
      </p:pic>
      <p:pic>
        <p:nvPicPr>
          <p:cNvPr id="32" name="Logo - Advance Mfg. Co." descr="Advance Mfg. Co."/>
          <p:cNvPicPr>
            <a:picLocks noChangeAspect="1"/>
          </p:cNvPicPr>
          <p:nvPr/>
        </p:nvPicPr>
        <p:blipFill>
          <a:blip r:embed="rId15"/>
          <a:stretch/>
        </p:blipFill>
        <p:spPr>
          <a:xfrm>
            <a:off x="3805618" y="2734056"/>
            <a:ext cx="645795" cy="274320"/>
          </a:xfrm>
          <a:prstGeom prst="rect">
            <a:avLst/>
          </a:prstGeom>
        </p:spPr>
      </p:pic>
      <p:pic>
        <p:nvPicPr>
          <p:cNvPr id="33" name="Logo - FloWorks" descr="FloWorks"/>
          <p:cNvPicPr>
            <a:picLocks noChangeAspect="1"/>
          </p:cNvPicPr>
          <p:nvPr/>
        </p:nvPicPr>
        <p:blipFill>
          <a:blip r:embed="rId16"/>
          <a:stretch/>
        </p:blipFill>
        <p:spPr>
          <a:xfrm>
            <a:off x="3739896" y="3875060"/>
            <a:ext cx="777240" cy="150295"/>
          </a:xfrm>
          <a:prstGeom prst="rect">
            <a:avLst/>
          </a:prstGeom>
        </p:spPr>
      </p:pic>
      <p:pic>
        <p:nvPicPr>
          <p:cNvPr id="34" name="Logo - Ferguson" descr="Ferguson"/>
          <p:cNvPicPr>
            <a:picLocks noChangeAspect="1"/>
          </p:cNvPicPr>
          <p:nvPr/>
        </p:nvPicPr>
        <p:blipFill>
          <a:blip r:embed="rId17"/>
          <a:stretch/>
        </p:blipFill>
        <p:spPr>
          <a:xfrm>
            <a:off x="3739896" y="4422839"/>
            <a:ext cx="777240" cy="97155"/>
          </a:xfrm>
          <a:prstGeom prst="rect">
            <a:avLst/>
          </a:prstGeom>
        </p:spPr>
      </p:pic>
      <p:pic>
        <p:nvPicPr>
          <p:cNvPr id="35" name="Logo - Metroplex Welding Supply" descr="Metroplex Welding Supply"/>
          <p:cNvPicPr>
            <a:picLocks noChangeAspect="1"/>
          </p:cNvPicPr>
          <p:nvPr/>
        </p:nvPicPr>
        <p:blipFill>
          <a:blip r:embed="rId18"/>
          <a:stretch/>
        </p:blipFill>
        <p:spPr>
          <a:xfrm>
            <a:off x="3739896" y="4894613"/>
            <a:ext cx="777240" cy="26917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segments across pages 13 and 14.</a:t>
            </a:r>
            <a:endParaRPr lang="en-US" sz="675" dirty="0"/>
          </a:p>
        </p:txBody>
      </p:sp>
      <p:graphicFrame>
        <p:nvGraphicFramePr>
          <p:cNvPr id="9" name="Table 0"/>
          <p:cNvGraphicFramePr>
            <a:graphicFrameLocks noGrp="1"/>
          </p:cNvGraphicFramePr>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3082650">
                  <a:extLst>
                    <a:ext uri="{9D8B030D-6E8A-4147-A177-3AD203B41FA5}">
                      <a16:colId xmlns:a16="http://schemas.microsoft.com/office/drawing/2014/main" val="20001"/>
                    </a:ext>
                  </a:extLst>
                </a:gridCol>
                <a:gridCol w="276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 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about $250 million of revenue, and $27 million of adjusted EBITDA,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Clean Harbors put the price at about nine times adjusted EBITDA after synergies, or about 17 times standalone EBITDA, a month after agreeing to pay 8.7 times post-synergy EBITDA for ES&amp;H (</a:t>
                      </a:r>
                      <a:r>
                        <a:rPr lang="en-US" sz="780" dirty="0">
                          <a:solidFill>
                            <a:srgbClr val="333231"/>
                          </a:solidFill>
                          <a:hlinkClick r:id="rId5"/>
                        </a:rPr>
                        <a:t>Clean Harbors</a:t>
                      </a:r>
                      <a:r>
                        <a:rPr lang="en-US" sz="780" dirty="0">
                          <a:solidFill>
                            <a:srgbClr val="333231"/>
                          </a:solidFill>
                        </a:rPr>
                        <a:t>). A strategic acquirer with a route network pays for density that a sponsor cannot underwrite.</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14</a:t>
            </a:fld>
            <a:endParaRPr lang="en-US"/>
          </a:p>
        </p:txBody>
      </p:sp>
      <p:pic>
        <p:nvPicPr>
          <p:cNvPr id="26" name="Logo - Clark Rigging &amp; Rental" descr="Clark Rigging &amp; Rental logo"/>
          <p:cNvPicPr>
            <a:picLocks noChangeAspect="1"/>
          </p:cNvPicPr>
          <p:nvPr/>
        </p:nvPicPr>
        <p:blipFill>
          <a:blip r:embed="rId9"/>
          <a:stretch>
            <a:fillRect/>
          </a:stretch>
        </p:blipFill>
        <p:spPr>
          <a:xfrm>
            <a:off x="3742850" y="1684604"/>
            <a:ext cx="780000" cy="164441"/>
          </a:xfrm>
          <a:prstGeom prst="rect">
            <a:avLst/>
          </a:prstGeom>
        </p:spPr>
      </p:pic>
      <p:pic>
        <p:nvPicPr>
          <p:cNvPr id="27" name="Logo - Bay Crane" descr="Bay Crane logo"/>
          <p:cNvPicPr>
            <a:picLocks noChangeAspect="1"/>
          </p:cNvPicPr>
          <p:nvPr/>
        </p:nvPicPr>
        <p:blipFill>
          <a:blip r:embed="rId10"/>
          <a:stretch>
            <a:fillRect/>
          </a:stretch>
        </p:blipFill>
        <p:spPr>
          <a:xfrm>
            <a:off x="3742850" y="2217425"/>
            <a:ext cx="780000" cy="146800"/>
          </a:xfrm>
          <a:prstGeom prst="rect">
            <a:avLst/>
          </a:prstGeom>
        </p:spPr>
      </p:pic>
      <p:pic>
        <p:nvPicPr>
          <p:cNvPr id="28" name="Logo - EnviroServe" descr="EnviroServe logo"/>
          <p:cNvPicPr>
            <a:picLocks noChangeAspect="1"/>
          </p:cNvPicPr>
          <p:nvPr/>
        </p:nvPicPr>
        <p:blipFill>
          <a:blip r:embed="rId11"/>
          <a:stretch>
            <a:fillRect/>
          </a:stretch>
        </p:blipFill>
        <p:spPr>
          <a:xfrm>
            <a:off x="3742850" y="2807530"/>
            <a:ext cx="780000" cy="90289"/>
          </a:xfrm>
          <a:prstGeom prst="rect">
            <a:avLst/>
          </a:prstGeom>
        </p:spPr>
      </p:pic>
      <p:pic>
        <p:nvPicPr>
          <p:cNvPr id="29" name="Logo - Clean Harbors" descr="Clean Harbors logo"/>
          <p:cNvPicPr>
            <a:picLocks noChangeAspect="1"/>
          </p:cNvPicPr>
          <p:nvPr/>
        </p:nvPicPr>
        <p:blipFill>
          <a:blip r:embed="rId12"/>
          <a:stretch>
            <a:fillRect/>
          </a:stretch>
        </p:blipFill>
        <p:spPr>
          <a:xfrm>
            <a:off x="3742850" y="3255641"/>
            <a:ext cx="780000" cy="242068"/>
          </a:xfrm>
          <a:prstGeom prst="rect">
            <a:avLst/>
          </a:prstGeom>
        </p:spPr>
      </p:pic>
      <p:pic>
        <p:nvPicPr>
          <p:cNvPr id="30" name="Logo - CORE Transformers" descr="CORE Transformers logo"/>
          <p:cNvPicPr>
            <a:picLocks noChangeAspect="1"/>
          </p:cNvPicPr>
          <p:nvPr/>
        </p:nvPicPr>
        <p:blipFill>
          <a:blip r:embed="rId13"/>
          <a:stretch>
            <a:fillRect/>
          </a:stretch>
        </p:blipFill>
        <p:spPr>
          <a:xfrm>
            <a:off x="3742850" y="3816874"/>
            <a:ext cx="780000" cy="243302"/>
          </a:xfrm>
          <a:prstGeom prst="rect">
            <a:avLst/>
          </a:prstGeom>
        </p:spPr>
      </p:pic>
      <p:pic>
        <p:nvPicPr>
          <p:cNvPr id="31" name="Logo - Mission Critical Group" descr="Mission Critical Group logo"/>
          <p:cNvPicPr>
            <a:picLocks noChangeAspect="1"/>
          </p:cNvPicPr>
          <p:nvPr/>
        </p:nvPicPr>
        <p:blipFill>
          <a:blip r:embed="rId14"/>
          <a:stretch>
            <a:fillRect/>
          </a:stretch>
        </p:blipFill>
        <p:spPr>
          <a:xfrm>
            <a:off x="3749827" y="4327525"/>
            <a:ext cx="766046" cy="270000"/>
          </a:xfrm>
          <a:prstGeom prst="rect">
            <a:avLst/>
          </a:prstGeom>
        </p:spPr>
      </p:pic>
      <p:pic>
        <p:nvPicPr>
          <p:cNvPr id="32" name="Logo - RXO" descr="RXO logo"/>
          <p:cNvPicPr>
            <a:picLocks noChangeAspect="1"/>
          </p:cNvPicPr>
          <p:nvPr/>
        </p:nvPicPr>
        <p:blipFill>
          <a:blip r:embed="rId15"/>
          <a:stretch>
            <a:fillRect/>
          </a:stretch>
        </p:blipFill>
        <p:spPr>
          <a:xfrm>
            <a:off x="3748100" y="4889375"/>
            <a:ext cx="769500" cy="270000"/>
          </a:xfrm>
          <a:prstGeom prst="rect">
            <a:avLst/>
          </a:prstGeom>
        </p:spPr>
      </p:pic>
      <p:pic>
        <p:nvPicPr>
          <p:cNvPr id="33" name="Logo - C.H. Robinson" descr="C.H. Robinson logo"/>
          <p:cNvPicPr>
            <a:picLocks noChangeAspect="1"/>
          </p:cNvPicPr>
          <p:nvPr/>
        </p:nvPicPr>
        <p:blipFill>
          <a:blip r:embed="rId16"/>
          <a:stretch>
            <a:fillRect/>
          </a:stretch>
        </p:blipFill>
        <p:spPr>
          <a:xfrm>
            <a:off x="3742850" y="5460931"/>
            <a:ext cx="779999" cy="174887"/>
          </a:xfrm>
          <a:prstGeom prst="rect">
            <a:avLst/>
          </a:prstGeom>
        </p:spPr>
      </p:pic>
      <p:pic>
        <p:nvPicPr>
          <p:cNvPr id="34" name="Logo - Redwood Logistics" descr="Redwood Logistics logo"/>
          <p:cNvPicPr>
            <a:picLocks noChangeAspect="1"/>
          </p:cNvPicPr>
          <p:nvPr/>
        </p:nvPicPr>
        <p:blipFill>
          <a:blip r:embed="rId17"/>
          <a:stretch>
            <a:fillRect/>
          </a:stretch>
        </p:blipFill>
        <p:spPr>
          <a:xfrm>
            <a:off x="3742850" y="6580481"/>
            <a:ext cx="780000" cy="107487"/>
          </a:xfrm>
          <a:prstGeom prst="rect">
            <a:avLst/>
          </a:prstGeom>
        </p:spPr>
      </p:pic>
      <p:pic>
        <p:nvPicPr>
          <p:cNvPr id="35" name="Logo - EELCO" descr="EELCO"/>
          <p:cNvPicPr>
            <a:picLocks noChangeAspect="1"/>
          </p:cNvPicPr>
          <p:nvPr/>
        </p:nvPicPr>
        <p:blipFill>
          <a:blip r:embed="rId18"/>
          <a:stretch/>
        </p:blipFill>
        <p:spPr>
          <a:xfrm>
            <a:off x="3848898" y="5961888"/>
            <a:ext cx="559236" cy="2743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segment,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Fifty-nine of the 85 closed transactions have been announced publicly, and twelve of them are shown here.</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segments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4210050"/>
            <a:ext cx="1371600" cy="914400"/>
          </a:xfrm>
          <a:prstGeom prst="rect">
            <a:avLst/>
          </a:prstGeom>
          <a:noFill/>
          <a:ln/>
        </p:spPr>
        <p:txBody>
          <a:bodyPr wrap="square" lIns="0" tIns="0" rIns="0" bIns="0" rtlCol="0" anchor="t"/>
          <a:lstStyle/>
          <a:p>
            <a:pPr marL="0" indent="0">
              <a:lnSpc>
                <a:spcPts val="1050"/>
              </a:lnSpc>
              <a:buNone/>
            </a:pPr>
            <a:r>
              <a:rPr lang="en-US" sz="800" dirty="0">
                <a:solidFill>
                  <a:srgbClr val="E8E2DA"/>
                </a:solidFill>
              </a:rPr>
              <a:t>Ranked the leading privately owned sell-side M&amp;A advisor in the world in PitchBook’s Q2 2026 Global League Tables (</a:t>
            </a:r>
            <a:r>
              <a:rPr lang="en-US" sz="80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800" dirty="0">
                <a:solidFill>
                  <a:srgbClr val="E8E2DA"/>
                </a:solidFill>
              </a:rPr>
              <a:t>).</a:t>
            </a:r>
            <a:endParaRPr lang="en-US" sz="80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SEGMENT</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pic>
        <p:nvPicPr>
          <p:cNvPr id="120" name="Logo - Cintas" descr="Cintas logo"/>
          <p:cNvPicPr>
            <a:picLocks noChangeAspect="1"/>
          </p:cNvPicPr>
          <p:nvPr/>
        </p:nvPicPr>
        <p:blipFill>
          <a:blip r:embed="rId17"/>
          <a:stretch>
            <a:fillRect/>
          </a:stretch>
        </p:blipFill>
        <p:spPr>
          <a:xfrm>
            <a:off x="5415156" y="1973575"/>
            <a:ext cx="580637" cy="186700"/>
          </a:xfrm>
          <a:prstGeom prst="rect">
            <a:avLst/>
          </a:prstGeom>
        </p:spPr>
      </p:pic>
      <p:pic>
        <p:nvPicPr>
          <p:cNvPr id="121" name="Logo - DXP Enterprises" descr="DXP Enterprises logo"/>
          <p:cNvPicPr>
            <a:picLocks noChangeAspect="1"/>
          </p:cNvPicPr>
          <p:nvPr/>
        </p:nvPicPr>
        <p:blipFill>
          <a:blip r:embed="rId18"/>
          <a:stretch>
            <a:fillRect/>
          </a:stretch>
        </p:blipFill>
        <p:spPr>
          <a:xfrm>
            <a:off x="7156747" y="1973575"/>
            <a:ext cx="278805" cy="186700"/>
          </a:xfrm>
          <a:prstGeom prst="rect">
            <a:avLst/>
          </a:prstGeom>
        </p:spPr>
      </p:pic>
      <p:pic>
        <p:nvPicPr>
          <p:cNvPr id="122" name="Logo - Aecon" descr="Aecon logo"/>
          <p:cNvPicPr>
            <a:picLocks noChangeAspect="1"/>
          </p:cNvPicPr>
          <p:nvPr/>
        </p:nvPicPr>
        <p:blipFill>
          <a:blip r:embed="rId19"/>
          <a:stretch>
            <a:fillRect/>
          </a:stretch>
        </p:blipFill>
        <p:spPr>
          <a:xfrm>
            <a:off x="8305550" y="1979734"/>
            <a:ext cx="1162550" cy="174382"/>
          </a:xfrm>
          <a:prstGeom prst="rect">
            <a:avLst/>
          </a:prstGeom>
        </p:spPr>
      </p:pic>
      <p:pic>
        <p:nvPicPr>
          <p:cNvPr id="123" name="Logo - Cemtrex" descr="Cemtrex logo"/>
          <p:cNvPicPr>
            <a:picLocks noChangeAspect="1"/>
          </p:cNvPicPr>
          <p:nvPr/>
        </p:nvPicPr>
        <p:blipFill>
          <a:blip r:embed="rId20"/>
          <a:stretch>
            <a:fillRect/>
          </a:stretch>
        </p:blipFill>
        <p:spPr>
          <a:xfrm>
            <a:off x="5199122" y="3366606"/>
            <a:ext cx="1012706" cy="186700"/>
          </a:xfrm>
          <a:prstGeom prst="rect">
            <a:avLst/>
          </a:prstGeom>
        </p:spPr>
      </p:pic>
      <p:pic>
        <p:nvPicPr>
          <p:cNvPr id="124" name="Logo - Harris Company" descr="Harris Company logo"/>
          <p:cNvPicPr>
            <a:picLocks noChangeAspect="1"/>
          </p:cNvPicPr>
          <p:nvPr/>
        </p:nvPicPr>
        <p:blipFill>
          <a:blip r:embed="rId21"/>
          <a:stretch>
            <a:fillRect/>
          </a:stretch>
        </p:blipFill>
        <p:spPr>
          <a:xfrm>
            <a:off x="6926822" y="3366606"/>
            <a:ext cx="738655" cy="186700"/>
          </a:xfrm>
          <a:prstGeom prst="rect">
            <a:avLst/>
          </a:prstGeom>
        </p:spPr>
      </p:pic>
      <p:pic>
        <p:nvPicPr>
          <p:cNvPr id="125" name="Logo - Phenna Group" descr="Phenna Group logo"/>
          <p:cNvPicPr>
            <a:picLocks noChangeAspect="1"/>
          </p:cNvPicPr>
          <p:nvPr/>
        </p:nvPicPr>
        <p:blipFill>
          <a:blip r:embed="rId22"/>
          <a:stretch>
            <a:fillRect/>
          </a:stretch>
        </p:blipFill>
        <p:spPr>
          <a:xfrm>
            <a:off x="8563523" y="3366606"/>
            <a:ext cx="646604" cy="186700"/>
          </a:xfrm>
          <a:prstGeom prst="rect">
            <a:avLst/>
          </a:prstGeom>
        </p:spPr>
      </p:pic>
      <p:pic>
        <p:nvPicPr>
          <p:cNvPr id="126" name="Logo - Triumvirate Environmental" descr="Triumvirate Environmental logo"/>
          <p:cNvPicPr>
            <a:picLocks noChangeAspect="1"/>
          </p:cNvPicPr>
          <p:nvPr/>
        </p:nvPicPr>
        <p:blipFill>
          <a:blip r:embed="rId23"/>
          <a:stretch>
            <a:fillRect/>
          </a:stretch>
        </p:blipFill>
        <p:spPr>
          <a:xfrm>
            <a:off x="5207608" y="4759638"/>
            <a:ext cx="995733" cy="186700"/>
          </a:xfrm>
          <a:prstGeom prst="rect">
            <a:avLst/>
          </a:prstGeom>
        </p:spPr>
      </p:pic>
      <p:pic>
        <p:nvPicPr>
          <p:cNvPr id="127" name="Logo - TIPCO Technologies" descr="TIPCO Technologies logo"/>
          <p:cNvPicPr>
            <a:picLocks noChangeAspect="1"/>
          </p:cNvPicPr>
          <p:nvPr/>
        </p:nvPicPr>
        <p:blipFill>
          <a:blip r:embed="rId24"/>
          <a:stretch>
            <a:fillRect/>
          </a:stretch>
        </p:blipFill>
        <p:spPr>
          <a:xfrm>
            <a:off x="8650338" y="4759638"/>
            <a:ext cx="472973" cy="186700"/>
          </a:xfrm>
          <a:prstGeom prst="rect">
            <a:avLst/>
          </a:prstGeom>
        </p:spPr>
      </p:pic>
      <p:pic>
        <p:nvPicPr>
          <p:cNvPr id="128" name="Logo - Assessimus Group" descr="Assessimus Group logo"/>
          <p:cNvPicPr>
            <a:picLocks noChangeAspect="1"/>
          </p:cNvPicPr>
          <p:nvPr/>
        </p:nvPicPr>
        <p:blipFill>
          <a:blip r:embed="rId25"/>
          <a:stretch>
            <a:fillRect/>
          </a:stretch>
        </p:blipFill>
        <p:spPr>
          <a:xfrm>
            <a:off x="5212587" y="6152669"/>
            <a:ext cx="985776" cy="186700"/>
          </a:xfrm>
          <a:prstGeom prst="rect">
            <a:avLst/>
          </a:prstGeom>
        </p:spPr>
      </p:pic>
      <p:pic>
        <p:nvPicPr>
          <p:cNvPr id="129" name="Logo - Symbia Logistics" descr="Symbia Logistics logo"/>
          <p:cNvPicPr>
            <a:picLocks noChangeAspect="1"/>
          </p:cNvPicPr>
          <p:nvPr/>
        </p:nvPicPr>
        <p:blipFill>
          <a:blip r:embed="rId26"/>
          <a:stretch>
            <a:fillRect/>
          </a:stretch>
        </p:blipFill>
        <p:spPr>
          <a:xfrm>
            <a:off x="8625134" y="6152669"/>
            <a:ext cx="523382" cy="186700"/>
          </a:xfrm>
          <a:prstGeom prst="rect">
            <a:avLst/>
          </a:prstGeom>
        </p:spPr>
      </p:pic>
      <p:pic>
        <p:nvPicPr>
          <p:cNvPr id="130" name="Logo - Apex Water + Process" descr="Apex Water + Process"/>
          <p:cNvPicPr>
            <a:picLocks noChangeAspect="1"/>
          </p:cNvPicPr>
          <p:nvPr/>
        </p:nvPicPr>
        <p:blipFill>
          <a:blip r:embed="rId27"/>
          <a:stretch/>
        </p:blipFill>
        <p:spPr>
          <a:xfrm>
            <a:off x="6835301" y="4736592"/>
            <a:ext cx="914078" cy="219456"/>
          </a:xfrm>
          <a:prstGeom prst="rect">
            <a:avLst/>
          </a:prstGeom>
        </p:spPr>
      </p:pic>
      <p:pic>
        <p:nvPicPr>
          <p:cNvPr id="131" name="Logo - Capital Extension Crane &amp; Lift" descr="Capital Extension Crane &amp; Lift"/>
          <p:cNvPicPr>
            <a:picLocks noChangeAspect="1"/>
          </p:cNvPicPr>
          <p:nvPr/>
        </p:nvPicPr>
        <p:blipFill>
          <a:blip r:embed="rId28"/>
          <a:stretch/>
        </p:blipFill>
        <p:spPr>
          <a:xfrm>
            <a:off x="6913492" y="6126480"/>
            <a:ext cx="757696" cy="21945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Distribution companies trade above any year-end multiple of the past five years; manufacturing and energy have come off their 2025 levels.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40 listed companies at each company’s fiscal year-end from 2021 to 2025 and today; the five-year high, low, and median under each chart use the year-end values. Source: StockAnalysis, retrieved October 19, 2026, with share prices from October 9 to 19, 2026. Multiples use reported EBITDA, which runs below the adjusted EBITDA companies present. Parker Hannifin, Applied Industrial, and Distribution Solutions show no 2021 multiple and are excluded from that year.</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descr="Manufacturing icon"/>
          <p:cNvPicPr>
            <a:picLocks noChangeAspect="1"/>
          </p:cNvPicPr>
          <p:nvPr/>
        </p:nvPicPr>
        <p:blipFill>
          <a:blip r:embed="rId3"/>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17.3x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Table 0"/>
          <p:cNvGraphicFramePr>
            <a:graphicFrameLocks noGrp="1"/>
          </p:cNvGraphicFramePr>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17.8x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Parker Hannifin, Rockwell Automation, ITT, Flowserve, Franklin Electric, Graco, Lincoln Electric, Mueller Industries</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descr="Distribution icon"/>
          <p:cNvPicPr>
            <a:picLocks noChangeAspect="1"/>
          </p:cNvPicPr>
          <p:nvPr/>
        </p:nvPicPr>
        <p:blipFill>
          <a:blip r:embed="rId5"/>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17.0x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21" name="Table 1"/>
          <p:cNvGraphicFramePr>
            <a:graphicFrameLocks noGrp="1"/>
          </p:cNvGraphicFramePr>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WESCO, Global Industrial</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descr="Construction icon"/>
          <p:cNvPicPr>
            <a:picLocks noChangeAspect="1"/>
          </p:cNvPicPr>
          <p:nvPr/>
        </p:nvPicPr>
        <p:blipFill>
          <a:blip r:embed="rId7"/>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15.8x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31" name="Table 2"/>
          <p:cNvGraphicFramePr>
            <a:graphicFrameLocks noGrp="1"/>
          </p:cNvGraphicFramePr>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17.9x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+0.7x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9 companies: </a:t>
            </a:r>
            <a:r>
              <a:rPr lang="en-US" sz="645" dirty="0">
                <a:solidFill>
                  <a:srgbClr val="6F6A66"/>
                </a:solidFill>
              </a:rPr>
              <a:t>Comfort Systems USA, EMCOR, IES Holdings, Limbach, Granite Construction, Construction Partners, Builders FirstSource, Watsco, APi Group</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descr="Energy and power icon"/>
          <p:cNvPicPr>
            <a:picLocks noChangeAspect="1"/>
          </p:cNvPicPr>
          <p:nvPr/>
        </p:nvPicPr>
        <p:blipFill>
          <a:blip r:embed="rId9"/>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16.3x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41" name="Table 3"/>
          <p:cNvGraphicFramePr>
            <a:graphicFrameLocks noGrp="1"/>
          </p:cNvGraphicFramePr>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−0.1x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MYR Group, Primoris Services</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descr="Transportation icon"/>
          <p:cNvPicPr>
            <a:picLocks noChangeAspect="1"/>
          </p:cNvPicPr>
          <p:nvPr/>
        </p:nvPicPr>
        <p:blipFill>
          <a:blip r:embed="rId11"/>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12.2x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2"/>
          </a:graphicData>
        </a:graphic>
      </p:graphicFrame>
      <p:graphicFrame>
        <p:nvGraphicFramePr>
          <p:cNvPr id="51" name="Table 4"/>
          <p:cNvGraphicFramePr>
            <a:graphicFrameLocks noGrp="1"/>
          </p:cNvGraphicFramePr>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6.2x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Landstar System, Schneider National, ArcBest</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segments.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90564"/>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314414"/>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3"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6009614"/>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90564"/>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314414"/>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4"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6009614"/>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90564"/>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314414"/>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5"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Listed contractors grew revenue about 22% while total construction spending fell. Manufacturers reported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40 listed companies shown on page 16, grouped by segment. Source: StockAnalysis, retrieved October 19, 2026. Trailing periods end between May and September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3"/>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39% in a year and still trade at the lowest multiple of EBITDA of the five segments.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40 listed companies shown on page 16, grouped by segment. Source: StockAnalysis, retrieved October 19, 2026. Year-end 2025 multiples are shown beside today’s for comparison. Three of the nine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October 9 to 19,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3"/>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8 manufacturing, 8 of 8 distribution, 5 of 9 building, 5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Earnings and Commentary</a:t>
            </a:r>
          </a:p>
        </p:txBody>
      </p:sp>
      <p:sp>
        <p:nvSpPr>
          <p:cNvPr id="3" name="Text Placeholder 2"/>
          <p:cNvSpPr>
            <a:spLocks noGrp="1"/>
          </p:cNvSpPr>
          <p:nvPr>
            <p:ph type="body" idx="107"/>
          </p:nvPr>
        </p:nvSpPr>
        <p:spPr/>
        <p:txBody>
          <a:bodyPr/>
          <a:lstStyle/>
          <a:p>
            <a:r>
              <a:rPr lang="en-US" sz="938" b="0">
                <a:solidFill>
                  <a:srgbClr val="6F6A66"/>
                </a:solidFill>
              </a:rPr>
              <a:t>Revenue growth for the 40 listed companies and what management teams said.</a:t>
            </a:r>
          </a:p>
        </p:txBody>
      </p:sp>
      <p:sp>
        <p:nvSpPr>
          <p:cNvPr id="4" name="Text Placeholder 3"/>
          <p:cNvSpPr>
            <a:spLocks noGrp="1"/>
          </p:cNvSpPr>
          <p:nvPr>
            <p:ph type="body" idx="108"/>
          </p:nvPr>
        </p:nvSpPr>
        <p:spPr/>
        <p:txBody>
          <a:bodyPr/>
          <a:lstStyle/>
          <a:p>
            <a:r>
              <a:rPr lang="en-US" sz="675" b="0">
                <a:solidFill>
                  <a:srgbClr val="6F6A66"/>
                </a:solidFill>
              </a:rPr>
              <a:t>Revenue growth is year over year for the latest reported quarter of the 40 companies. Quotations come from company earnings releases and calls. Computed values were derived from reported revenue.</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19</a:t>
            </a:fld>
            <a:endParaRPr lang="en-US"/>
          </a:p>
        </p:txBody>
      </p:sp>
      <p:sp>
        <p:nvSpPr>
          <p:cNvPr id="51" name="TextBox 50"/>
          <p:cNvSpPr txBox="1"/>
          <p:nvPr/>
        </p:nvSpPr>
        <p:spPr>
          <a:xfrm>
            <a:off x="419100" y="1238250"/>
            <a:ext cx="4700000" cy="150000"/>
          </a:xfrm>
          <a:prstGeom prst="rect">
            <a:avLst/>
          </a:prstGeom>
          <a:noFill/>
        </p:spPr>
        <p:txBody>
          <a:bodyPr wrap="square" lIns="0" tIns="0" rIns="0" bIns="0" anchor="t"/>
          <a:lstStyle/>
          <a:p>
            <a:pPr algn="l"/>
            <a:r>
              <a:rPr lang="en-US" sz="675" b="1" i="0" spc="200">
                <a:solidFill>
                  <a:srgbClr val="8C6239"/>
                </a:solidFill>
              </a:rPr>
              <a:t>YEAR-OVER-YEAR REVENUE GROWTH, LATEST QUARTER</a:t>
            </a:r>
          </a:p>
        </p:txBody>
      </p:sp>
      <p:sp>
        <p:nvSpPr>
          <p:cNvPr id="52" name="Rectangle 51"/>
          <p:cNvSpPr/>
          <p:nvPr/>
        </p:nvSpPr>
        <p:spPr>
          <a:xfrm>
            <a:off x="419100" y="1453250"/>
            <a:ext cx="80000" cy="80000"/>
          </a:xfrm>
          <a:prstGeom prst="rect">
            <a:avLst/>
          </a:prstGeom>
          <a:solidFill>
            <a:srgbClr val="1B1A1A"/>
          </a:solidFill>
          <a:ln>
            <a:noFill/>
          </a:ln>
        </p:spPr>
        <p:txBody>
          <a:bodyPr rtlCol="0" anchor="ctr"/>
          <a:lstStyle/>
          <a:p>
            <a:pPr algn="ctr"/>
            <a:endParaRPr/>
          </a:p>
        </p:txBody>
      </p:sp>
      <p:sp>
        <p:nvSpPr>
          <p:cNvPr id="53" name="TextBox 52"/>
          <p:cNvSpPr txBox="1"/>
          <p:nvPr/>
        </p:nvSpPr>
        <p:spPr>
          <a:xfrm>
            <a:off x="529100" y="1428250"/>
            <a:ext cx="1450000" cy="130000"/>
          </a:xfrm>
          <a:prstGeom prst="rect">
            <a:avLst/>
          </a:prstGeom>
          <a:noFill/>
        </p:spPr>
        <p:txBody>
          <a:bodyPr wrap="square" lIns="0" tIns="0" rIns="0" bIns="0" anchor="t"/>
          <a:lstStyle/>
          <a:p>
            <a:pPr algn="l"/>
            <a:r>
              <a:rPr lang="en-US" sz="600" b="0" i="0">
                <a:solidFill>
                  <a:srgbClr val="6F6A66"/>
                </a:solidFill>
              </a:rPr>
              <a:t>Manufacturing &amp; Industrial Tech</a:t>
            </a:r>
          </a:p>
        </p:txBody>
      </p:sp>
      <p:sp>
        <p:nvSpPr>
          <p:cNvPr id="54" name="Rectangle 53"/>
          <p:cNvSpPr/>
          <p:nvPr/>
        </p:nvSpPr>
        <p:spPr>
          <a:xfrm>
            <a:off x="1999100" y="1453250"/>
            <a:ext cx="80000" cy="80000"/>
          </a:xfrm>
          <a:prstGeom prst="rect">
            <a:avLst/>
          </a:prstGeom>
          <a:solidFill>
            <a:srgbClr val="B68757"/>
          </a:solidFill>
          <a:ln>
            <a:noFill/>
          </a:ln>
        </p:spPr>
        <p:txBody>
          <a:bodyPr rtlCol="0" anchor="ctr"/>
          <a:lstStyle/>
          <a:p>
            <a:pPr algn="ctr"/>
            <a:endParaRPr/>
          </a:p>
        </p:txBody>
      </p:sp>
      <p:sp>
        <p:nvSpPr>
          <p:cNvPr id="55" name="TextBox 54"/>
          <p:cNvSpPr txBox="1"/>
          <p:nvPr/>
        </p:nvSpPr>
        <p:spPr>
          <a:xfrm>
            <a:off x="2109100" y="1428250"/>
            <a:ext cx="1450000" cy="130000"/>
          </a:xfrm>
          <a:prstGeom prst="rect">
            <a:avLst/>
          </a:prstGeom>
          <a:noFill/>
        </p:spPr>
        <p:txBody>
          <a:bodyPr wrap="square" lIns="0" tIns="0" rIns="0" bIns="0" anchor="t"/>
          <a:lstStyle/>
          <a:p>
            <a:pPr algn="l"/>
            <a:r>
              <a:rPr lang="en-US" sz="600" b="0" i="0">
                <a:solidFill>
                  <a:srgbClr val="6F6A66"/>
                </a:solidFill>
              </a:rPr>
              <a:t>Distribution &amp; Services</a:t>
            </a:r>
          </a:p>
        </p:txBody>
      </p:sp>
      <p:sp>
        <p:nvSpPr>
          <p:cNvPr id="56" name="Rectangle 55"/>
          <p:cNvSpPr/>
          <p:nvPr/>
        </p:nvSpPr>
        <p:spPr>
          <a:xfrm>
            <a:off x="3579100" y="1453250"/>
            <a:ext cx="80000" cy="80000"/>
          </a:xfrm>
          <a:prstGeom prst="rect">
            <a:avLst/>
          </a:prstGeom>
          <a:solidFill>
            <a:srgbClr val="8C6239"/>
          </a:solidFill>
          <a:ln>
            <a:noFill/>
          </a:ln>
        </p:spPr>
        <p:txBody>
          <a:bodyPr rtlCol="0" anchor="ctr"/>
          <a:lstStyle/>
          <a:p>
            <a:pPr algn="ctr"/>
            <a:endParaRPr/>
          </a:p>
        </p:txBody>
      </p:sp>
      <p:sp>
        <p:nvSpPr>
          <p:cNvPr id="57" name="TextBox 56"/>
          <p:cNvSpPr txBox="1"/>
          <p:nvPr/>
        </p:nvSpPr>
        <p:spPr>
          <a:xfrm>
            <a:off x="3689100" y="1428250"/>
            <a:ext cx="1450000" cy="130000"/>
          </a:xfrm>
          <a:prstGeom prst="rect">
            <a:avLst/>
          </a:prstGeom>
          <a:noFill/>
        </p:spPr>
        <p:txBody>
          <a:bodyPr wrap="square" lIns="0" tIns="0" rIns="0" bIns="0" anchor="t"/>
          <a:lstStyle/>
          <a:p>
            <a:pPr algn="l"/>
            <a:r>
              <a:rPr lang="en-US" sz="600" b="0" i="0">
                <a:solidFill>
                  <a:srgbClr val="6F6A66"/>
                </a:solidFill>
              </a:rPr>
              <a:t>Building &amp; Construction</a:t>
            </a:r>
          </a:p>
        </p:txBody>
      </p:sp>
      <p:sp>
        <p:nvSpPr>
          <p:cNvPr id="58" name="Rectangle 57"/>
          <p:cNvSpPr/>
          <p:nvPr/>
        </p:nvSpPr>
        <p:spPr>
          <a:xfrm>
            <a:off x="419100" y="1603250"/>
            <a:ext cx="80000" cy="80000"/>
          </a:xfrm>
          <a:prstGeom prst="rect">
            <a:avLst/>
          </a:prstGeom>
          <a:solidFill>
            <a:srgbClr val="7A746E"/>
          </a:solidFill>
          <a:ln>
            <a:noFill/>
          </a:ln>
        </p:spPr>
        <p:txBody>
          <a:bodyPr rtlCol="0" anchor="ctr"/>
          <a:lstStyle/>
          <a:p>
            <a:pPr algn="ctr"/>
            <a:endParaRPr/>
          </a:p>
        </p:txBody>
      </p:sp>
      <p:sp>
        <p:nvSpPr>
          <p:cNvPr id="59" name="TextBox 58"/>
          <p:cNvSpPr txBox="1"/>
          <p:nvPr/>
        </p:nvSpPr>
        <p:spPr>
          <a:xfrm>
            <a:off x="529100" y="1578250"/>
            <a:ext cx="1450000" cy="130000"/>
          </a:xfrm>
          <a:prstGeom prst="rect">
            <a:avLst/>
          </a:prstGeom>
          <a:noFill/>
        </p:spPr>
        <p:txBody>
          <a:bodyPr wrap="square" lIns="0" tIns="0" rIns="0" bIns="0" anchor="t"/>
          <a:lstStyle/>
          <a:p>
            <a:pPr algn="l"/>
            <a:r>
              <a:rPr lang="en-US" sz="600" b="0" i="0">
                <a:solidFill>
                  <a:srgbClr val="6F6A66"/>
                </a:solidFill>
              </a:rPr>
              <a:t>Energy, Power &amp; Environmental</a:t>
            </a:r>
          </a:p>
        </p:txBody>
      </p:sp>
      <p:sp>
        <p:nvSpPr>
          <p:cNvPr id="60" name="Rectangle 59"/>
          <p:cNvSpPr/>
          <p:nvPr/>
        </p:nvSpPr>
        <p:spPr>
          <a:xfrm>
            <a:off x="1999100" y="1603250"/>
            <a:ext cx="80000" cy="80000"/>
          </a:xfrm>
          <a:prstGeom prst="rect">
            <a:avLst/>
          </a:prstGeom>
          <a:solidFill>
            <a:srgbClr val="D3B89A"/>
          </a:solidFill>
          <a:ln>
            <a:noFill/>
          </a:ln>
        </p:spPr>
        <p:txBody>
          <a:bodyPr rtlCol="0" anchor="ctr"/>
          <a:lstStyle/>
          <a:p>
            <a:pPr algn="ctr"/>
            <a:endParaRPr/>
          </a:p>
        </p:txBody>
      </p:sp>
      <p:sp>
        <p:nvSpPr>
          <p:cNvPr id="61" name="TextBox 60"/>
          <p:cNvSpPr txBox="1"/>
          <p:nvPr/>
        </p:nvSpPr>
        <p:spPr>
          <a:xfrm>
            <a:off x="2109100" y="1578250"/>
            <a:ext cx="1450000" cy="130000"/>
          </a:xfrm>
          <a:prstGeom prst="rect">
            <a:avLst/>
          </a:prstGeom>
          <a:noFill/>
        </p:spPr>
        <p:txBody>
          <a:bodyPr wrap="square" lIns="0" tIns="0" rIns="0" bIns="0" anchor="t"/>
          <a:lstStyle/>
          <a:p>
            <a:pPr algn="l"/>
            <a:r>
              <a:rPr lang="en-US" sz="600" b="0" i="0">
                <a:solidFill>
                  <a:srgbClr val="6F6A66"/>
                </a:solidFill>
              </a:rPr>
              <a:t>Transportation &amp; Logistics</a:t>
            </a:r>
          </a:p>
        </p:txBody>
      </p:sp>
      <p:sp>
        <p:nvSpPr>
          <p:cNvPr id="62" name="TextBox 61"/>
          <p:cNvSpPr txBox="1"/>
          <p:nvPr/>
        </p:nvSpPr>
        <p:spPr>
          <a:xfrm>
            <a:off x="419100" y="1798250"/>
            <a:ext cx="820000" cy="232797"/>
          </a:xfrm>
          <a:prstGeom prst="rect">
            <a:avLst/>
          </a:prstGeom>
          <a:noFill/>
        </p:spPr>
        <p:txBody>
          <a:bodyPr wrap="square" lIns="0" tIns="0" rIns="0" bIns="0" anchor="ctr"/>
          <a:lstStyle/>
          <a:p>
            <a:pPr algn="l"/>
            <a:r>
              <a:rPr lang="en-US" sz="625" b="0" i="0">
                <a:solidFill>
                  <a:srgbClr val="333231"/>
                </a:solidFill>
              </a:rPr>
              <a:t>ITT</a:t>
            </a:r>
          </a:p>
        </p:txBody>
      </p:sp>
      <p:sp>
        <p:nvSpPr>
          <p:cNvPr id="63" name="Rectangle 62"/>
          <p:cNvSpPr/>
          <p:nvPr/>
        </p:nvSpPr>
        <p:spPr>
          <a:xfrm>
            <a:off x="1421125" y="1849465"/>
            <a:ext cx="827974" cy="130366"/>
          </a:xfrm>
          <a:prstGeom prst="rect">
            <a:avLst/>
          </a:prstGeom>
          <a:solidFill>
            <a:srgbClr val="1B1A1A"/>
          </a:solidFill>
          <a:ln>
            <a:noFill/>
          </a:ln>
        </p:spPr>
        <p:txBody>
          <a:bodyPr rtlCol="0" anchor="ctr"/>
          <a:lstStyle/>
          <a:p>
            <a:pPr algn="ctr"/>
            <a:endParaRPr/>
          </a:p>
        </p:txBody>
      </p:sp>
      <p:sp>
        <p:nvSpPr>
          <p:cNvPr id="64" name="TextBox 63"/>
          <p:cNvSpPr txBox="1"/>
          <p:nvPr/>
        </p:nvSpPr>
        <p:spPr>
          <a:xfrm>
            <a:off x="2269099" y="1798250"/>
            <a:ext cx="440000" cy="232797"/>
          </a:xfrm>
          <a:prstGeom prst="rect">
            <a:avLst/>
          </a:prstGeom>
          <a:noFill/>
        </p:spPr>
        <p:txBody>
          <a:bodyPr wrap="square" lIns="0" tIns="0" rIns="0" bIns="0" anchor="ctr"/>
          <a:lstStyle/>
          <a:p>
            <a:pPr algn="l"/>
            <a:r>
              <a:rPr lang="en-US" sz="600" b="1" i="0">
                <a:solidFill>
                  <a:srgbClr val="1B1A1A"/>
                </a:solidFill>
              </a:rPr>
              <a:t>51.5%</a:t>
            </a:r>
          </a:p>
        </p:txBody>
      </p:sp>
      <p:sp>
        <p:nvSpPr>
          <p:cNvPr id="65" name="TextBox 64"/>
          <p:cNvSpPr txBox="1"/>
          <p:nvPr/>
        </p:nvSpPr>
        <p:spPr>
          <a:xfrm>
            <a:off x="419100" y="2031047"/>
            <a:ext cx="820000" cy="232797"/>
          </a:xfrm>
          <a:prstGeom prst="rect">
            <a:avLst/>
          </a:prstGeom>
          <a:noFill/>
        </p:spPr>
        <p:txBody>
          <a:bodyPr wrap="square" lIns="0" tIns="0" rIns="0" bIns="0" anchor="ctr"/>
          <a:lstStyle/>
          <a:p>
            <a:pPr algn="l"/>
            <a:r>
              <a:rPr lang="en-US" sz="625" b="0" i="0">
                <a:solidFill>
                  <a:srgbClr val="333231"/>
                </a:solidFill>
              </a:rPr>
              <a:t>Comfort Systems USA</a:t>
            </a:r>
          </a:p>
        </p:txBody>
      </p:sp>
      <p:sp>
        <p:nvSpPr>
          <p:cNvPr id="66" name="Rectangle 65"/>
          <p:cNvSpPr/>
          <p:nvPr/>
        </p:nvSpPr>
        <p:spPr>
          <a:xfrm>
            <a:off x="1421125" y="2082262"/>
            <a:ext cx="803858" cy="130366"/>
          </a:xfrm>
          <a:prstGeom prst="rect">
            <a:avLst/>
          </a:prstGeom>
          <a:solidFill>
            <a:srgbClr val="8C6239"/>
          </a:solidFill>
          <a:ln>
            <a:noFill/>
          </a:ln>
        </p:spPr>
        <p:txBody>
          <a:bodyPr rtlCol="0" anchor="ctr"/>
          <a:lstStyle/>
          <a:p>
            <a:pPr algn="ctr"/>
            <a:endParaRPr/>
          </a:p>
        </p:txBody>
      </p:sp>
      <p:sp>
        <p:nvSpPr>
          <p:cNvPr id="67" name="TextBox 66"/>
          <p:cNvSpPr txBox="1"/>
          <p:nvPr/>
        </p:nvSpPr>
        <p:spPr>
          <a:xfrm>
            <a:off x="2244983" y="2031047"/>
            <a:ext cx="440000" cy="232797"/>
          </a:xfrm>
          <a:prstGeom prst="rect">
            <a:avLst/>
          </a:prstGeom>
          <a:noFill/>
        </p:spPr>
        <p:txBody>
          <a:bodyPr wrap="square" lIns="0" tIns="0" rIns="0" bIns="0" anchor="ctr"/>
          <a:lstStyle/>
          <a:p>
            <a:pPr algn="l"/>
            <a:r>
              <a:rPr lang="en-US" sz="600" b="1" i="0">
                <a:solidFill>
                  <a:srgbClr val="1B1A1A"/>
                </a:solidFill>
              </a:rPr>
              <a:t>50.0%</a:t>
            </a:r>
          </a:p>
        </p:txBody>
      </p:sp>
      <p:sp>
        <p:nvSpPr>
          <p:cNvPr id="68" name="TextBox 67"/>
          <p:cNvSpPr txBox="1"/>
          <p:nvPr/>
        </p:nvSpPr>
        <p:spPr>
          <a:xfrm>
            <a:off x="419100" y="2263844"/>
            <a:ext cx="820000" cy="232797"/>
          </a:xfrm>
          <a:prstGeom prst="rect">
            <a:avLst/>
          </a:prstGeom>
          <a:noFill/>
        </p:spPr>
        <p:txBody>
          <a:bodyPr wrap="square" lIns="0" tIns="0" rIns="0" bIns="0" anchor="ctr"/>
          <a:lstStyle/>
          <a:p>
            <a:pPr algn="l"/>
            <a:r>
              <a:rPr lang="en-US" sz="625" b="0" i="0">
                <a:solidFill>
                  <a:srgbClr val="333231"/>
                </a:solidFill>
              </a:rPr>
              <a:t>Quanta Services</a:t>
            </a:r>
          </a:p>
        </p:txBody>
      </p:sp>
      <p:sp>
        <p:nvSpPr>
          <p:cNvPr id="69" name="Rectangle 68"/>
          <p:cNvSpPr/>
          <p:nvPr/>
        </p:nvSpPr>
        <p:spPr>
          <a:xfrm>
            <a:off x="1421125" y="2315059"/>
            <a:ext cx="660771" cy="130366"/>
          </a:xfrm>
          <a:prstGeom prst="rect">
            <a:avLst/>
          </a:prstGeom>
          <a:solidFill>
            <a:srgbClr val="7A746E"/>
          </a:solidFill>
          <a:ln>
            <a:noFill/>
          </a:ln>
        </p:spPr>
        <p:txBody>
          <a:bodyPr rtlCol="0" anchor="ctr"/>
          <a:lstStyle/>
          <a:p>
            <a:pPr algn="ctr"/>
            <a:endParaRPr/>
          </a:p>
        </p:txBody>
      </p:sp>
      <p:sp>
        <p:nvSpPr>
          <p:cNvPr id="70" name="TextBox 69"/>
          <p:cNvSpPr txBox="1"/>
          <p:nvPr/>
        </p:nvSpPr>
        <p:spPr>
          <a:xfrm>
            <a:off x="2101896" y="2263844"/>
            <a:ext cx="440000" cy="232797"/>
          </a:xfrm>
          <a:prstGeom prst="rect">
            <a:avLst/>
          </a:prstGeom>
          <a:noFill/>
        </p:spPr>
        <p:txBody>
          <a:bodyPr wrap="square" lIns="0" tIns="0" rIns="0" bIns="0" anchor="ctr"/>
          <a:lstStyle/>
          <a:p>
            <a:pPr algn="l"/>
            <a:r>
              <a:rPr lang="en-US" sz="600" b="1" i="0">
                <a:solidFill>
                  <a:srgbClr val="1B1A1A"/>
                </a:solidFill>
              </a:rPr>
              <a:t>41.1%</a:t>
            </a:r>
          </a:p>
        </p:txBody>
      </p:sp>
      <p:sp>
        <p:nvSpPr>
          <p:cNvPr id="71" name="TextBox 70"/>
          <p:cNvSpPr txBox="1"/>
          <p:nvPr/>
        </p:nvSpPr>
        <p:spPr>
          <a:xfrm>
            <a:off x="419100" y="2496641"/>
            <a:ext cx="820000" cy="232797"/>
          </a:xfrm>
          <a:prstGeom prst="rect">
            <a:avLst/>
          </a:prstGeom>
          <a:noFill/>
        </p:spPr>
        <p:txBody>
          <a:bodyPr wrap="square" lIns="0" tIns="0" rIns="0" bIns="0" anchor="ctr"/>
          <a:lstStyle/>
          <a:p>
            <a:pPr algn="l"/>
            <a:r>
              <a:rPr lang="en-US" sz="625" b="0" i="0">
                <a:solidFill>
                  <a:srgbClr val="333231"/>
                </a:solidFill>
              </a:rPr>
              <a:t>IES Holdings</a:t>
            </a:r>
          </a:p>
        </p:txBody>
      </p:sp>
      <p:sp>
        <p:nvSpPr>
          <p:cNvPr id="72" name="Rectangle 71"/>
          <p:cNvSpPr/>
          <p:nvPr/>
        </p:nvSpPr>
        <p:spPr>
          <a:xfrm>
            <a:off x="1421125" y="2547856"/>
            <a:ext cx="643086" cy="130366"/>
          </a:xfrm>
          <a:prstGeom prst="rect">
            <a:avLst/>
          </a:prstGeom>
          <a:solidFill>
            <a:srgbClr val="8C6239"/>
          </a:solidFill>
          <a:ln>
            <a:noFill/>
          </a:ln>
        </p:spPr>
        <p:txBody>
          <a:bodyPr rtlCol="0" anchor="ctr"/>
          <a:lstStyle/>
          <a:p>
            <a:pPr algn="ctr"/>
            <a:endParaRPr/>
          </a:p>
        </p:txBody>
      </p:sp>
      <p:sp>
        <p:nvSpPr>
          <p:cNvPr id="73" name="TextBox 72"/>
          <p:cNvSpPr txBox="1"/>
          <p:nvPr/>
        </p:nvSpPr>
        <p:spPr>
          <a:xfrm>
            <a:off x="2084211" y="2496641"/>
            <a:ext cx="440000" cy="232797"/>
          </a:xfrm>
          <a:prstGeom prst="rect">
            <a:avLst/>
          </a:prstGeom>
          <a:noFill/>
        </p:spPr>
        <p:txBody>
          <a:bodyPr wrap="square" lIns="0" tIns="0" rIns="0" bIns="0" anchor="ctr"/>
          <a:lstStyle/>
          <a:p>
            <a:pPr algn="l"/>
            <a:r>
              <a:rPr lang="en-US" sz="600" b="1" i="0">
                <a:solidFill>
                  <a:srgbClr val="1B1A1A"/>
                </a:solidFill>
              </a:rPr>
              <a:t>40.0%</a:t>
            </a:r>
          </a:p>
        </p:txBody>
      </p:sp>
      <p:sp>
        <p:nvSpPr>
          <p:cNvPr id="74" name="TextBox 73"/>
          <p:cNvSpPr txBox="1"/>
          <p:nvPr/>
        </p:nvSpPr>
        <p:spPr>
          <a:xfrm>
            <a:off x="419100" y="2729438"/>
            <a:ext cx="820000" cy="232797"/>
          </a:xfrm>
          <a:prstGeom prst="rect">
            <a:avLst/>
          </a:prstGeom>
          <a:noFill/>
        </p:spPr>
        <p:txBody>
          <a:bodyPr wrap="square" lIns="0" tIns="0" rIns="0" bIns="0" anchor="ctr"/>
          <a:lstStyle/>
          <a:p>
            <a:pPr algn="l"/>
            <a:r>
              <a:rPr lang="en-US" sz="625" b="0" i="0">
                <a:solidFill>
                  <a:srgbClr val="333231"/>
                </a:solidFill>
              </a:rPr>
              <a:t>Granite Construction</a:t>
            </a:r>
          </a:p>
        </p:txBody>
      </p:sp>
      <p:sp>
        <p:nvSpPr>
          <p:cNvPr id="75" name="Rectangle 74"/>
          <p:cNvSpPr/>
          <p:nvPr/>
        </p:nvSpPr>
        <p:spPr>
          <a:xfrm>
            <a:off x="1421125" y="2780653"/>
            <a:ext cx="466237" cy="130366"/>
          </a:xfrm>
          <a:prstGeom prst="rect">
            <a:avLst/>
          </a:prstGeom>
          <a:solidFill>
            <a:srgbClr val="8C6239"/>
          </a:solidFill>
          <a:ln>
            <a:noFill/>
          </a:ln>
        </p:spPr>
        <p:txBody>
          <a:bodyPr rtlCol="0" anchor="ctr"/>
          <a:lstStyle/>
          <a:p>
            <a:pPr algn="ctr"/>
            <a:endParaRPr/>
          </a:p>
        </p:txBody>
      </p:sp>
      <p:sp>
        <p:nvSpPr>
          <p:cNvPr id="76" name="TextBox 75"/>
          <p:cNvSpPr txBox="1"/>
          <p:nvPr/>
        </p:nvSpPr>
        <p:spPr>
          <a:xfrm>
            <a:off x="1907362" y="2729438"/>
            <a:ext cx="440000" cy="232797"/>
          </a:xfrm>
          <a:prstGeom prst="rect">
            <a:avLst/>
          </a:prstGeom>
          <a:noFill/>
        </p:spPr>
        <p:txBody>
          <a:bodyPr wrap="square" lIns="0" tIns="0" rIns="0" bIns="0" anchor="ctr"/>
          <a:lstStyle/>
          <a:p>
            <a:pPr algn="l"/>
            <a:r>
              <a:rPr lang="en-US" sz="600" b="1" i="0">
                <a:solidFill>
                  <a:srgbClr val="1B1A1A"/>
                </a:solidFill>
              </a:rPr>
              <a:t>29.0%</a:t>
            </a:r>
          </a:p>
        </p:txBody>
      </p:sp>
      <p:sp>
        <p:nvSpPr>
          <p:cNvPr id="77" name="TextBox 76"/>
          <p:cNvSpPr txBox="1"/>
          <p:nvPr/>
        </p:nvSpPr>
        <p:spPr>
          <a:xfrm>
            <a:off x="419100" y="2962235"/>
            <a:ext cx="820000" cy="232797"/>
          </a:xfrm>
          <a:prstGeom prst="rect">
            <a:avLst/>
          </a:prstGeom>
          <a:noFill/>
        </p:spPr>
        <p:txBody>
          <a:bodyPr wrap="square" lIns="0" tIns="0" rIns="0" bIns="0" anchor="ctr"/>
          <a:lstStyle/>
          <a:p>
            <a:pPr algn="l"/>
            <a:r>
              <a:rPr lang="en-US" sz="625" b="0" i="0">
                <a:solidFill>
                  <a:srgbClr val="333231"/>
                </a:solidFill>
              </a:rPr>
              <a:t>Construction Partners</a:t>
            </a:r>
          </a:p>
        </p:txBody>
      </p:sp>
      <p:sp>
        <p:nvSpPr>
          <p:cNvPr id="78" name="Rectangle 77"/>
          <p:cNvSpPr/>
          <p:nvPr/>
        </p:nvSpPr>
        <p:spPr>
          <a:xfrm>
            <a:off x="1421125" y="3013450"/>
            <a:ext cx="453376" cy="130366"/>
          </a:xfrm>
          <a:prstGeom prst="rect">
            <a:avLst/>
          </a:prstGeom>
          <a:solidFill>
            <a:srgbClr val="8C6239"/>
          </a:solidFill>
          <a:ln>
            <a:noFill/>
          </a:ln>
        </p:spPr>
        <p:txBody>
          <a:bodyPr rtlCol="0" anchor="ctr"/>
          <a:lstStyle/>
          <a:p>
            <a:pPr algn="ctr"/>
            <a:endParaRPr/>
          </a:p>
        </p:txBody>
      </p:sp>
      <p:sp>
        <p:nvSpPr>
          <p:cNvPr id="79" name="TextBox 78"/>
          <p:cNvSpPr txBox="1"/>
          <p:nvPr/>
        </p:nvSpPr>
        <p:spPr>
          <a:xfrm>
            <a:off x="1894501" y="2962235"/>
            <a:ext cx="440000" cy="232797"/>
          </a:xfrm>
          <a:prstGeom prst="rect">
            <a:avLst/>
          </a:prstGeom>
          <a:noFill/>
        </p:spPr>
        <p:txBody>
          <a:bodyPr wrap="square" lIns="0" tIns="0" rIns="0" bIns="0" anchor="ctr"/>
          <a:lstStyle/>
          <a:p>
            <a:pPr algn="l"/>
            <a:r>
              <a:rPr lang="en-US" sz="600" b="1" i="0">
                <a:solidFill>
                  <a:srgbClr val="1B1A1A"/>
                </a:solidFill>
              </a:rPr>
              <a:t>28.2%</a:t>
            </a:r>
          </a:p>
        </p:txBody>
      </p:sp>
      <p:sp>
        <p:nvSpPr>
          <p:cNvPr id="80" name="TextBox 79"/>
          <p:cNvSpPr txBox="1"/>
          <p:nvPr/>
        </p:nvSpPr>
        <p:spPr>
          <a:xfrm>
            <a:off x="419100" y="3195032"/>
            <a:ext cx="820000" cy="232797"/>
          </a:xfrm>
          <a:prstGeom prst="rect">
            <a:avLst/>
          </a:prstGeom>
          <a:noFill/>
        </p:spPr>
        <p:txBody>
          <a:bodyPr wrap="square" lIns="0" tIns="0" rIns="0" bIns="0" anchor="ctr"/>
          <a:lstStyle/>
          <a:p>
            <a:pPr algn="l"/>
            <a:r>
              <a:rPr lang="en-US" sz="625" b="0" i="0">
                <a:solidFill>
                  <a:srgbClr val="333231"/>
                </a:solidFill>
              </a:rPr>
              <a:t>Mueller Industries</a:t>
            </a:r>
          </a:p>
        </p:txBody>
      </p:sp>
      <p:sp>
        <p:nvSpPr>
          <p:cNvPr id="81" name="Rectangle 80"/>
          <p:cNvSpPr/>
          <p:nvPr/>
        </p:nvSpPr>
        <p:spPr>
          <a:xfrm>
            <a:off x="1421125" y="3246247"/>
            <a:ext cx="409967" cy="130366"/>
          </a:xfrm>
          <a:prstGeom prst="rect">
            <a:avLst/>
          </a:prstGeom>
          <a:solidFill>
            <a:srgbClr val="1B1A1A"/>
          </a:solidFill>
          <a:ln>
            <a:noFill/>
          </a:ln>
        </p:spPr>
        <p:txBody>
          <a:bodyPr rtlCol="0" anchor="ctr"/>
          <a:lstStyle/>
          <a:p>
            <a:pPr algn="ctr"/>
            <a:endParaRPr/>
          </a:p>
        </p:txBody>
      </p:sp>
      <p:sp>
        <p:nvSpPr>
          <p:cNvPr id="82" name="TextBox 81"/>
          <p:cNvSpPr txBox="1"/>
          <p:nvPr/>
        </p:nvSpPr>
        <p:spPr>
          <a:xfrm>
            <a:off x="1851092" y="3195032"/>
            <a:ext cx="440000" cy="232797"/>
          </a:xfrm>
          <a:prstGeom prst="rect">
            <a:avLst/>
          </a:prstGeom>
          <a:noFill/>
        </p:spPr>
        <p:txBody>
          <a:bodyPr wrap="square" lIns="0" tIns="0" rIns="0" bIns="0" anchor="ctr"/>
          <a:lstStyle/>
          <a:p>
            <a:pPr algn="l"/>
            <a:r>
              <a:rPr lang="en-US" sz="600" b="1" i="0">
                <a:solidFill>
                  <a:srgbClr val="1B1A1A"/>
                </a:solidFill>
              </a:rPr>
              <a:t>25.5%</a:t>
            </a:r>
          </a:p>
        </p:txBody>
      </p:sp>
      <p:sp>
        <p:nvSpPr>
          <p:cNvPr id="83" name="TextBox 82"/>
          <p:cNvSpPr txBox="1"/>
          <p:nvPr/>
        </p:nvSpPr>
        <p:spPr>
          <a:xfrm>
            <a:off x="419100" y="3427829"/>
            <a:ext cx="820000" cy="232797"/>
          </a:xfrm>
          <a:prstGeom prst="rect">
            <a:avLst/>
          </a:prstGeom>
          <a:noFill/>
        </p:spPr>
        <p:txBody>
          <a:bodyPr wrap="square" lIns="0" tIns="0" rIns="0" bIns="0" anchor="ctr"/>
          <a:lstStyle/>
          <a:p>
            <a:pPr algn="l"/>
            <a:r>
              <a:rPr lang="en-US" sz="625" b="0" i="0">
                <a:solidFill>
                  <a:srgbClr val="333231"/>
                </a:solidFill>
              </a:rPr>
              <a:t>Werner</a:t>
            </a:r>
          </a:p>
        </p:txBody>
      </p:sp>
      <p:sp>
        <p:nvSpPr>
          <p:cNvPr id="84" name="Rectangle 83"/>
          <p:cNvSpPr/>
          <p:nvPr/>
        </p:nvSpPr>
        <p:spPr>
          <a:xfrm>
            <a:off x="1421125" y="3479044"/>
            <a:ext cx="385852" cy="130366"/>
          </a:xfrm>
          <a:prstGeom prst="rect">
            <a:avLst/>
          </a:prstGeom>
          <a:solidFill>
            <a:srgbClr val="D3B89A"/>
          </a:solidFill>
          <a:ln>
            <a:noFill/>
          </a:ln>
        </p:spPr>
        <p:txBody>
          <a:bodyPr rtlCol="0" anchor="ctr"/>
          <a:lstStyle/>
          <a:p>
            <a:pPr algn="ctr"/>
            <a:endParaRPr/>
          </a:p>
        </p:txBody>
      </p:sp>
      <p:sp>
        <p:nvSpPr>
          <p:cNvPr id="85" name="TextBox 84"/>
          <p:cNvSpPr txBox="1"/>
          <p:nvPr/>
        </p:nvSpPr>
        <p:spPr>
          <a:xfrm>
            <a:off x="1826977" y="3427829"/>
            <a:ext cx="440000" cy="232797"/>
          </a:xfrm>
          <a:prstGeom prst="rect">
            <a:avLst/>
          </a:prstGeom>
          <a:noFill/>
        </p:spPr>
        <p:txBody>
          <a:bodyPr wrap="square" lIns="0" tIns="0" rIns="0" bIns="0" anchor="ctr"/>
          <a:lstStyle/>
          <a:p>
            <a:pPr algn="l"/>
            <a:r>
              <a:rPr lang="en-US" sz="600" b="1" i="0">
                <a:solidFill>
                  <a:srgbClr val="1B1A1A"/>
                </a:solidFill>
              </a:rPr>
              <a:t>24.0%</a:t>
            </a:r>
          </a:p>
        </p:txBody>
      </p:sp>
      <p:sp>
        <p:nvSpPr>
          <p:cNvPr id="86" name="TextBox 85"/>
          <p:cNvSpPr txBox="1"/>
          <p:nvPr/>
        </p:nvSpPr>
        <p:spPr>
          <a:xfrm>
            <a:off x="419100" y="3660626"/>
            <a:ext cx="820000" cy="232797"/>
          </a:xfrm>
          <a:prstGeom prst="rect">
            <a:avLst/>
          </a:prstGeom>
          <a:noFill/>
        </p:spPr>
        <p:txBody>
          <a:bodyPr wrap="square" lIns="0" tIns="0" rIns="0" bIns="0" anchor="ctr"/>
          <a:lstStyle/>
          <a:p>
            <a:pPr algn="l"/>
            <a:r>
              <a:rPr lang="en-US" sz="625" b="0" i="0">
                <a:solidFill>
                  <a:srgbClr val="333231"/>
                </a:solidFill>
              </a:rPr>
              <a:t>Limbach</a:t>
            </a:r>
          </a:p>
        </p:txBody>
      </p:sp>
      <p:sp>
        <p:nvSpPr>
          <p:cNvPr id="87" name="Rectangle 86"/>
          <p:cNvSpPr/>
          <p:nvPr/>
        </p:nvSpPr>
        <p:spPr>
          <a:xfrm>
            <a:off x="1421125" y="3711841"/>
            <a:ext cx="352090" cy="130366"/>
          </a:xfrm>
          <a:prstGeom prst="rect">
            <a:avLst/>
          </a:prstGeom>
          <a:solidFill>
            <a:srgbClr val="8C6239"/>
          </a:solidFill>
          <a:ln>
            <a:noFill/>
          </a:ln>
        </p:spPr>
        <p:txBody>
          <a:bodyPr rtlCol="0" anchor="ctr"/>
          <a:lstStyle/>
          <a:p>
            <a:pPr algn="ctr"/>
            <a:endParaRPr/>
          </a:p>
        </p:txBody>
      </p:sp>
      <p:sp>
        <p:nvSpPr>
          <p:cNvPr id="88" name="TextBox 87"/>
          <p:cNvSpPr txBox="1"/>
          <p:nvPr/>
        </p:nvSpPr>
        <p:spPr>
          <a:xfrm>
            <a:off x="1793215" y="3660626"/>
            <a:ext cx="440000" cy="232797"/>
          </a:xfrm>
          <a:prstGeom prst="rect">
            <a:avLst/>
          </a:prstGeom>
          <a:noFill/>
        </p:spPr>
        <p:txBody>
          <a:bodyPr wrap="square" lIns="0" tIns="0" rIns="0" bIns="0" anchor="ctr"/>
          <a:lstStyle/>
          <a:p>
            <a:pPr algn="l"/>
            <a:r>
              <a:rPr lang="en-US" sz="600" b="1" i="0">
                <a:solidFill>
                  <a:srgbClr val="1B1A1A"/>
                </a:solidFill>
              </a:rPr>
              <a:t>21.9%</a:t>
            </a:r>
          </a:p>
        </p:txBody>
      </p:sp>
      <p:sp>
        <p:nvSpPr>
          <p:cNvPr id="89" name="TextBox 88"/>
          <p:cNvSpPr txBox="1"/>
          <p:nvPr/>
        </p:nvSpPr>
        <p:spPr>
          <a:xfrm>
            <a:off x="419100" y="3893423"/>
            <a:ext cx="820000" cy="232797"/>
          </a:xfrm>
          <a:prstGeom prst="rect">
            <a:avLst/>
          </a:prstGeom>
          <a:noFill/>
        </p:spPr>
        <p:txBody>
          <a:bodyPr wrap="square" lIns="0" tIns="0" rIns="0" bIns="0" anchor="ctr"/>
          <a:lstStyle/>
          <a:p>
            <a:pPr algn="l"/>
            <a:r>
              <a:rPr lang="en-US" sz="625" b="0" i="0">
                <a:solidFill>
                  <a:srgbClr val="333231"/>
                </a:solidFill>
              </a:rPr>
              <a:t>MYR Group</a:t>
            </a:r>
          </a:p>
        </p:txBody>
      </p:sp>
      <p:sp>
        <p:nvSpPr>
          <p:cNvPr id="90" name="Rectangle 89"/>
          <p:cNvSpPr/>
          <p:nvPr/>
        </p:nvSpPr>
        <p:spPr>
          <a:xfrm>
            <a:off x="1421125" y="3944638"/>
            <a:ext cx="323151" cy="130366"/>
          </a:xfrm>
          <a:prstGeom prst="rect">
            <a:avLst/>
          </a:prstGeom>
          <a:solidFill>
            <a:srgbClr val="7A746E"/>
          </a:solidFill>
          <a:ln>
            <a:noFill/>
          </a:ln>
        </p:spPr>
        <p:txBody>
          <a:bodyPr rtlCol="0" anchor="ctr"/>
          <a:lstStyle/>
          <a:p>
            <a:pPr algn="ctr"/>
            <a:endParaRPr/>
          </a:p>
        </p:txBody>
      </p:sp>
      <p:sp>
        <p:nvSpPr>
          <p:cNvPr id="91" name="TextBox 90"/>
          <p:cNvSpPr txBox="1"/>
          <p:nvPr/>
        </p:nvSpPr>
        <p:spPr>
          <a:xfrm>
            <a:off x="1764276" y="3893423"/>
            <a:ext cx="440000" cy="232797"/>
          </a:xfrm>
          <a:prstGeom prst="rect">
            <a:avLst/>
          </a:prstGeom>
          <a:noFill/>
        </p:spPr>
        <p:txBody>
          <a:bodyPr wrap="square" lIns="0" tIns="0" rIns="0" bIns="0" anchor="ctr"/>
          <a:lstStyle/>
          <a:p>
            <a:pPr algn="l"/>
            <a:r>
              <a:rPr lang="en-US" sz="600" b="1" i="0">
                <a:solidFill>
                  <a:srgbClr val="1B1A1A"/>
                </a:solidFill>
              </a:rPr>
              <a:t>20.1%</a:t>
            </a:r>
          </a:p>
        </p:txBody>
      </p:sp>
      <p:sp>
        <p:nvSpPr>
          <p:cNvPr id="92" name="TextBox 91"/>
          <p:cNvSpPr txBox="1"/>
          <p:nvPr/>
        </p:nvSpPr>
        <p:spPr>
          <a:xfrm>
            <a:off x="419100" y="4126220"/>
            <a:ext cx="820000" cy="232797"/>
          </a:xfrm>
          <a:prstGeom prst="rect">
            <a:avLst/>
          </a:prstGeom>
          <a:noFill/>
        </p:spPr>
        <p:txBody>
          <a:bodyPr wrap="square" lIns="0" tIns="0" rIns="0" bIns="0" anchor="ctr"/>
          <a:lstStyle/>
          <a:p>
            <a:pPr algn="l"/>
            <a:r>
              <a:rPr lang="en-US" sz="625" b="0" i="0">
                <a:solidFill>
                  <a:srgbClr val="333231"/>
                </a:solidFill>
              </a:rPr>
              <a:t>J.B. Hunt</a:t>
            </a:r>
          </a:p>
        </p:txBody>
      </p:sp>
      <p:sp>
        <p:nvSpPr>
          <p:cNvPr id="93" name="Rectangle 92"/>
          <p:cNvSpPr/>
          <p:nvPr/>
        </p:nvSpPr>
        <p:spPr>
          <a:xfrm>
            <a:off x="1421125" y="4177435"/>
            <a:ext cx="321543" cy="130366"/>
          </a:xfrm>
          <a:prstGeom prst="rect">
            <a:avLst/>
          </a:prstGeom>
          <a:solidFill>
            <a:srgbClr val="D3B89A"/>
          </a:solidFill>
          <a:ln>
            <a:noFill/>
          </a:ln>
        </p:spPr>
        <p:txBody>
          <a:bodyPr rtlCol="0" anchor="ctr"/>
          <a:lstStyle/>
          <a:p>
            <a:pPr algn="ctr"/>
            <a:endParaRPr/>
          </a:p>
        </p:txBody>
      </p:sp>
      <p:sp>
        <p:nvSpPr>
          <p:cNvPr id="94" name="TextBox 93"/>
          <p:cNvSpPr txBox="1"/>
          <p:nvPr/>
        </p:nvSpPr>
        <p:spPr>
          <a:xfrm>
            <a:off x="1762668" y="4126220"/>
            <a:ext cx="440000" cy="232797"/>
          </a:xfrm>
          <a:prstGeom prst="rect">
            <a:avLst/>
          </a:prstGeom>
          <a:noFill/>
        </p:spPr>
        <p:txBody>
          <a:bodyPr wrap="square" lIns="0" tIns="0" rIns="0" bIns="0" anchor="ctr"/>
          <a:lstStyle/>
          <a:p>
            <a:pPr algn="l"/>
            <a:r>
              <a:rPr lang="en-US" sz="600" b="1" i="0">
                <a:solidFill>
                  <a:srgbClr val="1B1A1A"/>
                </a:solidFill>
              </a:rPr>
              <a:t>20.0%</a:t>
            </a:r>
          </a:p>
        </p:txBody>
      </p:sp>
      <p:sp>
        <p:nvSpPr>
          <p:cNvPr id="95" name="TextBox 94"/>
          <p:cNvSpPr txBox="1"/>
          <p:nvPr/>
        </p:nvSpPr>
        <p:spPr>
          <a:xfrm>
            <a:off x="419100" y="4359017"/>
            <a:ext cx="820000" cy="232797"/>
          </a:xfrm>
          <a:prstGeom prst="rect">
            <a:avLst/>
          </a:prstGeom>
          <a:noFill/>
        </p:spPr>
        <p:txBody>
          <a:bodyPr wrap="square" lIns="0" tIns="0" rIns="0" bIns="0" anchor="ctr"/>
          <a:lstStyle/>
          <a:p>
            <a:pPr algn="l"/>
            <a:r>
              <a:rPr lang="en-US" sz="625" b="0" i="0">
                <a:solidFill>
                  <a:srgbClr val="333231"/>
                </a:solidFill>
              </a:rPr>
              <a:t>EMCOR</a:t>
            </a:r>
          </a:p>
        </p:txBody>
      </p:sp>
      <p:sp>
        <p:nvSpPr>
          <p:cNvPr id="96" name="Rectangle 95"/>
          <p:cNvSpPr/>
          <p:nvPr/>
        </p:nvSpPr>
        <p:spPr>
          <a:xfrm>
            <a:off x="1421125" y="4410232"/>
            <a:ext cx="318327" cy="130366"/>
          </a:xfrm>
          <a:prstGeom prst="rect">
            <a:avLst/>
          </a:prstGeom>
          <a:solidFill>
            <a:srgbClr val="8C6239"/>
          </a:solidFill>
          <a:ln>
            <a:noFill/>
          </a:ln>
        </p:spPr>
        <p:txBody>
          <a:bodyPr rtlCol="0" anchor="ctr"/>
          <a:lstStyle/>
          <a:p>
            <a:pPr algn="ctr"/>
            <a:endParaRPr/>
          </a:p>
        </p:txBody>
      </p:sp>
      <p:sp>
        <p:nvSpPr>
          <p:cNvPr id="97" name="TextBox 96"/>
          <p:cNvSpPr txBox="1"/>
          <p:nvPr/>
        </p:nvSpPr>
        <p:spPr>
          <a:xfrm>
            <a:off x="1759452" y="4359017"/>
            <a:ext cx="440000" cy="232797"/>
          </a:xfrm>
          <a:prstGeom prst="rect">
            <a:avLst/>
          </a:prstGeom>
          <a:noFill/>
        </p:spPr>
        <p:txBody>
          <a:bodyPr wrap="square" lIns="0" tIns="0" rIns="0" bIns="0" anchor="ctr"/>
          <a:lstStyle/>
          <a:p>
            <a:pPr algn="l"/>
            <a:r>
              <a:rPr lang="en-US" sz="600" b="1" i="0">
                <a:solidFill>
                  <a:srgbClr val="1B1A1A"/>
                </a:solidFill>
              </a:rPr>
              <a:t>19.8%</a:t>
            </a:r>
          </a:p>
        </p:txBody>
      </p:sp>
      <p:sp>
        <p:nvSpPr>
          <p:cNvPr id="98" name="TextBox 97"/>
          <p:cNvSpPr txBox="1"/>
          <p:nvPr/>
        </p:nvSpPr>
        <p:spPr>
          <a:xfrm>
            <a:off x="419100" y="4591814"/>
            <a:ext cx="820000" cy="232797"/>
          </a:xfrm>
          <a:prstGeom prst="rect">
            <a:avLst/>
          </a:prstGeom>
          <a:noFill/>
        </p:spPr>
        <p:txBody>
          <a:bodyPr wrap="square" lIns="0" tIns="0" rIns="0" bIns="0" anchor="ctr"/>
          <a:lstStyle/>
          <a:p>
            <a:pPr algn="l"/>
            <a:r>
              <a:rPr lang="en-US" sz="625" b="0" i="0">
                <a:solidFill>
                  <a:srgbClr val="333231"/>
                </a:solidFill>
              </a:rPr>
              <a:t>C.H. Robinson</a:t>
            </a:r>
          </a:p>
        </p:txBody>
      </p:sp>
      <p:sp>
        <p:nvSpPr>
          <p:cNvPr id="99" name="Rectangle 98"/>
          <p:cNvSpPr/>
          <p:nvPr/>
        </p:nvSpPr>
        <p:spPr>
          <a:xfrm>
            <a:off x="1421125" y="4643029"/>
            <a:ext cx="310289" cy="130366"/>
          </a:xfrm>
          <a:prstGeom prst="rect">
            <a:avLst/>
          </a:prstGeom>
          <a:solidFill>
            <a:srgbClr val="D3B89A"/>
          </a:solidFill>
          <a:ln>
            <a:noFill/>
          </a:ln>
        </p:spPr>
        <p:txBody>
          <a:bodyPr rtlCol="0" anchor="ctr"/>
          <a:lstStyle/>
          <a:p>
            <a:pPr algn="ctr"/>
            <a:endParaRPr/>
          </a:p>
        </p:txBody>
      </p:sp>
      <p:sp>
        <p:nvSpPr>
          <p:cNvPr id="100" name="TextBox 99"/>
          <p:cNvSpPr txBox="1"/>
          <p:nvPr/>
        </p:nvSpPr>
        <p:spPr>
          <a:xfrm>
            <a:off x="1751414" y="4591814"/>
            <a:ext cx="440000" cy="232797"/>
          </a:xfrm>
          <a:prstGeom prst="rect">
            <a:avLst/>
          </a:prstGeom>
          <a:noFill/>
        </p:spPr>
        <p:txBody>
          <a:bodyPr wrap="square" lIns="0" tIns="0" rIns="0" bIns="0" anchor="ctr"/>
          <a:lstStyle/>
          <a:p>
            <a:pPr algn="l"/>
            <a:r>
              <a:rPr lang="en-US" sz="600" b="1" i="0">
                <a:solidFill>
                  <a:srgbClr val="1B1A1A"/>
                </a:solidFill>
              </a:rPr>
              <a:t>19.3%</a:t>
            </a:r>
          </a:p>
        </p:txBody>
      </p:sp>
      <p:sp>
        <p:nvSpPr>
          <p:cNvPr id="101" name="TextBox 100"/>
          <p:cNvSpPr txBox="1"/>
          <p:nvPr/>
        </p:nvSpPr>
        <p:spPr>
          <a:xfrm>
            <a:off x="419100" y="4824611"/>
            <a:ext cx="820000" cy="232797"/>
          </a:xfrm>
          <a:prstGeom prst="rect">
            <a:avLst/>
          </a:prstGeom>
          <a:noFill/>
        </p:spPr>
        <p:txBody>
          <a:bodyPr wrap="square" lIns="0" tIns="0" rIns="0" bIns="0" anchor="ctr"/>
          <a:lstStyle/>
          <a:p>
            <a:pPr algn="l"/>
            <a:r>
              <a:rPr lang="en-US" sz="625" b="0" i="0">
                <a:solidFill>
                  <a:srgbClr val="333231"/>
                </a:solidFill>
              </a:rPr>
              <a:t>Landstar</a:t>
            </a:r>
          </a:p>
        </p:txBody>
      </p:sp>
      <p:sp>
        <p:nvSpPr>
          <p:cNvPr id="102" name="Rectangle 101"/>
          <p:cNvSpPr/>
          <p:nvPr/>
        </p:nvSpPr>
        <p:spPr>
          <a:xfrm>
            <a:off x="1421125" y="4875826"/>
            <a:ext cx="289389" cy="130366"/>
          </a:xfrm>
          <a:prstGeom prst="rect">
            <a:avLst/>
          </a:prstGeom>
          <a:solidFill>
            <a:srgbClr val="D3B89A"/>
          </a:solidFill>
          <a:ln>
            <a:noFill/>
          </a:ln>
        </p:spPr>
        <p:txBody>
          <a:bodyPr rtlCol="0" anchor="ctr"/>
          <a:lstStyle/>
          <a:p>
            <a:pPr algn="ctr"/>
            <a:endParaRPr/>
          </a:p>
        </p:txBody>
      </p:sp>
      <p:sp>
        <p:nvSpPr>
          <p:cNvPr id="103" name="TextBox 102"/>
          <p:cNvSpPr txBox="1"/>
          <p:nvPr/>
        </p:nvSpPr>
        <p:spPr>
          <a:xfrm>
            <a:off x="1730514" y="4824611"/>
            <a:ext cx="440000" cy="232797"/>
          </a:xfrm>
          <a:prstGeom prst="rect">
            <a:avLst/>
          </a:prstGeom>
          <a:noFill/>
        </p:spPr>
        <p:txBody>
          <a:bodyPr wrap="square" lIns="0" tIns="0" rIns="0" bIns="0" anchor="ctr"/>
          <a:lstStyle/>
          <a:p>
            <a:pPr algn="l"/>
            <a:r>
              <a:rPr lang="en-US" sz="600" b="1" i="0">
                <a:solidFill>
                  <a:srgbClr val="1B1A1A"/>
                </a:solidFill>
              </a:rPr>
              <a:t>18.0%</a:t>
            </a:r>
          </a:p>
        </p:txBody>
      </p:sp>
      <p:sp>
        <p:nvSpPr>
          <p:cNvPr id="104" name="TextBox 103"/>
          <p:cNvSpPr txBox="1"/>
          <p:nvPr/>
        </p:nvSpPr>
        <p:spPr>
          <a:xfrm>
            <a:off x="419100" y="5057408"/>
            <a:ext cx="820000" cy="232797"/>
          </a:xfrm>
          <a:prstGeom prst="rect">
            <a:avLst/>
          </a:prstGeom>
          <a:noFill/>
        </p:spPr>
        <p:txBody>
          <a:bodyPr wrap="square" lIns="0" tIns="0" rIns="0" bIns="0" anchor="ctr"/>
          <a:lstStyle/>
          <a:p>
            <a:pPr algn="l"/>
            <a:r>
              <a:rPr lang="en-US" sz="625" b="0" i="0">
                <a:solidFill>
                  <a:srgbClr val="333231"/>
                </a:solidFill>
              </a:rPr>
              <a:t>Casella Waste</a:t>
            </a:r>
          </a:p>
        </p:txBody>
      </p:sp>
      <p:sp>
        <p:nvSpPr>
          <p:cNvPr id="105" name="Rectangle 104"/>
          <p:cNvSpPr/>
          <p:nvPr/>
        </p:nvSpPr>
        <p:spPr>
          <a:xfrm>
            <a:off x="1421125" y="5108623"/>
            <a:ext cx="271704" cy="130366"/>
          </a:xfrm>
          <a:prstGeom prst="rect">
            <a:avLst/>
          </a:prstGeom>
          <a:solidFill>
            <a:srgbClr val="7A746E"/>
          </a:solidFill>
          <a:ln>
            <a:noFill/>
          </a:ln>
        </p:spPr>
        <p:txBody>
          <a:bodyPr rtlCol="0" anchor="ctr"/>
          <a:lstStyle/>
          <a:p>
            <a:pPr algn="ctr"/>
            <a:endParaRPr/>
          </a:p>
        </p:txBody>
      </p:sp>
      <p:sp>
        <p:nvSpPr>
          <p:cNvPr id="106" name="TextBox 105"/>
          <p:cNvSpPr txBox="1"/>
          <p:nvPr/>
        </p:nvSpPr>
        <p:spPr>
          <a:xfrm>
            <a:off x="1712829" y="5057408"/>
            <a:ext cx="440000" cy="232797"/>
          </a:xfrm>
          <a:prstGeom prst="rect">
            <a:avLst/>
          </a:prstGeom>
          <a:noFill/>
        </p:spPr>
        <p:txBody>
          <a:bodyPr wrap="square" lIns="0" tIns="0" rIns="0" bIns="0" anchor="ctr"/>
          <a:lstStyle/>
          <a:p>
            <a:pPr algn="l"/>
            <a:r>
              <a:rPr lang="en-US" sz="600" b="1" i="0">
                <a:solidFill>
                  <a:srgbClr val="1B1A1A"/>
                </a:solidFill>
              </a:rPr>
              <a:t>16.9%</a:t>
            </a:r>
          </a:p>
        </p:txBody>
      </p:sp>
      <p:sp>
        <p:nvSpPr>
          <p:cNvPr id="107" name="TextBox 106"/>
          <p:cNvSpPr txBox="1"/>
          <p:nvPr/>
        </p:nvSpPr>
        <p:spPr>
          <a:xfrm>
            <a:off x="419100" y="5290205"/>
            <a:ext cx="820000" cy="232797"/>
          </a:xfrm>
          <a:prstGeom prst="rect">
            <a:avLst/>
          </a:prstGeom>
          <a:noFill/>
        </p:spPr>
        <p:txBody>
          <a:bodyPr wrap="square" lIns="0" tIns="0" rIns="0" bIns="0" anchor="ctr"/>
          <a:lstStyle/>
          <a:p>
            <a:pPr algn="l"/>
            <a:r>
              <a:rPr lang="en-US" sz="625" b="0" i="0">
                <a:solidFill>
                  <a:srgbClr val="333231"/>
                </a:solidFill>
              </a:rPr>
              <a:t>ArcBest</a:t>
            </a:r>
          </a:p>
        </p:txBody>
      </p:sp>
      <p:sp>
        <p:nvSpPr>
          <p:cNvPr id="108" name="Rectangle 107"/>
          <p:cNvSpPr/>
          <p:nvPr/>
        </p:nvSpPr>
        <p:spPr>
          <a:xfrm>
            <a:off x="1421125" y="5341420"/>
            <a:ext cx="255627" cy="130366"/>
          </a:xfrm>
          <a:prstGeom prst="rect">
            <a:avLst/>
          </a:prstGeom>
          <a:solidFill>
            <a:srgbClr val="D3B89A"/>
          </a:solidFill>
          <a:ln>
            <a:noFill/>
          </a:ln>
        </p:spPr>
        <p:txBody>
          <a:bodyPr rtlCol="0" anchor="ctr"/>
          <a:lstStyle/>
          <a:p>
            <a:pPr algn="ctr"/>
            <a:endParaRPr/>
          </a:p>
        </p:txBody>
      </p:sp>
      <p:sp>
        <p:nvSpPr>
          <p:cNvPr id="109" name="TextBox 108"/>
          <p:cNvSpPr txBox="1"/>
          <p:nvPr/>
        </p:nvSpPr>
        <p:spPr>
          <a:xfrm>
            <a:off x="1696752" y="5290205"/>
            <a:ext cx="440000" cy="232797"/>
          </a:xfrm>
          <a:prstGeom prst="rect">
            <a:avLst/>
          </a:prstGeom>
          <a:noFill/>
        </p:spPr>
        <p:txBody>
          <a:bodyPr wrap="square" lIns="0" tIns="0" rIns="0" bIns="0" anchor="ctr"/>
          <a:lstStyle/>
          <a:p>
            <a:pPr algn="l"/>
            <a:r>
              <a:rPr lang="en-US" sz="600" b="1" i="0">
                <a:solidFill>
                  <a:srgbClr val="1B1A1A"/>
                </a:solidFill>
              </a:rPr>
              <a:t>15.9%</a:t>
            </a:r>
          </a:p>
        </p:txBody>
      </p:sp>
      <p:sp>
        <p:nvSpPr>
          <p:cNvPr id="110" name="TextBox 109"/>
          <p:cNvSpPr txBox="1"/>
          <p:nvPr/>
        </p:nvSpPr>
        <p:spPr>
          <a:xfrm>
            <a:off x="419100" y="5523002"/>
            <a:ext cx="820000" cy="232797"/>
          </a:xfrm>
          <a:prstGeom prst="rect">
            <a:avLst/>
          </a:prstGeom>
          <a:noFill/>
        </p:spPr>
        <p:txBody>
          <a:bodyPr wrap="square" lIns="0" tIns="0" rIns="0" bIns="0" anchor="ctr"/>
          <a:lstStyle/>
          <a:p>
            <a:pPr algn="l"/>
            <a:r>
              <a:rPr lang="en-US" sz="625" b="0" i="0">
                <a:solidFill>
                  <a:srgbClr val="333231"/>
                </a:solidFill>
              </a:rPr>
              <a:t>DXP Enterprises</a:t>
            </a:r>
          </a:p>
        </p:txBody>
      </p:sp>
      <p:sp>
        <p:nvSpPr>
          <p:cNvPr id="111" name="Rectangle 110"/>
          <p:cNvSpPr/>
          <p:nvPr/>
        </p:nvSpPr>
        <p:spPr>
          <a:xfrm>
            <a:off x="1421125" y="5574217"/>
            <a:ext cx="250803" cy="130366"/>
          </a:xfrm>
          <a:prstGeom prst="rect">
            <a:avLst/>
          </a:prstGeom>
          <a:solidFill>
            <a:srgbClr val="B68757"/>
          </a:solidFill>
          <a:ln>
            <a:noFill/>
          </a:ln>
        </p:spPr>
        <p:txBody>
          <a:bodyPr rtlCol="0" anchor="ctr"/>
          <a:lstStyle/>
          <a:p>
            <a:pPr algn="ctr"/>
            <a:endParaRPr/>
          </a:p>
        </p:txBody>
      </p:sp>
      <p:sp>
        <p:nvSpPr>
          <p:cNvPr id="112" name="TextBox 111"/>
          <p:cNvSpPr txBox="1"/>
          <p:nvPr/>
        </p:nvSpPr>
        <p:spPr>
          <a:xfrm>
            <a:off x="1691928" y="5523002"/>
            <a:ext cx="440000" cy="232797"/>
          </a:xfrm>
          <a:prstGeom prst="rect">
            <a:avLst/>
          </a:prstGeom>
          <a:noFill/>
        </p:spPr>
        <p:txBody>
          <a:bodyPr wrap="square" lIns="0" tIns="0" rIns="0" bIns="0" anchor="ctr"/>
          <a:lstStyle/>
          <a:p>
            <a:pPr algn="l"/>
            <a:r>
              <a:rPr lang="en-US" sz="600" b="1" i="0">
                <a:solidFill>
                  <a:srgbClr val="1B1A1A"/>
                </a:solidFill>
              </a:rPr>
              <a:t>15.6%</a:t>
            </a:r>
          </a:p>
        </p:txBody>
      </p:sp>
      <p:sp>
        <p:nvSpPr>
          <p:cNvPr id="113" name="TextBox 112"/>
          <p:cNvSpPr txBox="1"/>
          <p:nvPr/>
        </p:nvSpPr>
        <p:spPr>
          <a:xfrm>
            <a:off x="419100" y="5755799"/>
            <a:ext cx="820000" cy="232797"/>
          </a:xfrm>
          <a:prstGeom prst="rect">
            <a:avLst/>
          </a:prstGeom>
          <a:noFill/>
        </p:spPr>
        <p:txBody>
          <a:bodyPr wrap="square" lIns="0" tIns="0" rIns="0" bIns="0" anchor="ctr"/>
          <a:lstStyle/>
          <a:p>
            <a:pPr algn="l"/>
            <a:r>
              <a:rPr lang="en-US" sz="625" b="0" i="0">
                <a:solidFill>
                  <a:srgbClr val="333231"/>
                </a:solidFill>
              </a:rPr>
              <a:t>Fastenal</a:t>
            </a:r>
          </a:p>
        </p:txBody>
      </p:sp>
      <p:sp>
        <p:nvSpPr>
          <p:cNvPr id="114" name="Rectangle 113"/>
          <p:cNvSpPr/>
          <p:nvPr/>
        </p:nvSpPr>
        <p:spPr>
          <a:xfrm>
            <a:off x="1421125" y="5807014"/>
            <a:ext cx="249196" cy="130366"/>
          </a:xfrm>
          <a:prstGeom prst="rect">
            <a:avLst/>
          </a:prstGeom>
          <a:solidFill>
            <a:srgbClr val="B68757"/>
          </a:solidFill>
          <a:ln>
            <a:noFill/>
          </a:ln>
        </p:spPr>
        <p:txBody>
          <a:bodyPr rtlCol="0" anchor="ctr"/>
          <a:lstStyle/>
          <a:p>
            <a:pPr algn="ctr"/>
            <a:endParaRPr/>
          </a:p>
        </p:txBody>
      </p:sp>
      <p:sp>
        <p:nvSpPr>
          <p:cNvPr id="115" name="TextBox 114"/>
          <p:cNvSpPr txBox="1"/>
          <p:nvPr/>
        </p:nvSpPr>
        <p:spPr>
          <a:xfrm>
            <a:off x="1690321" y="5755799"/>
            <a:ext cx="440000" cy="232797"/>
          </a:xfrm>
          <a:prstGeom prst="rect">
            <a:avLst/>
          </a:prstGeom>
          <a:noFill/>
        </p:spPr>
        <p:txBody>
          <a:bodyPr wrap="square" lIns="0" tIns="0" rIns="0" bIns="0" anchor="ctr"/>
          <a:lstStyle/>
          <a:p>
            <a:pPr algn="l"/>
            <a:r>
              <a:rPr lang="en-US" sz="600" b="1" i="0">
                <a:solidFill>
                  <a:srgbClr val="1B1A1A"/>
                </a:solidFill>
              </a:rPr>
              <a:t>15.5%</a:t>
            </a:r>
          </a:p>
        </p:txBody>
      </p:sp>
      <p:sp>
        <p:nvSpPr>
          <p:cNvPr id="116" name="TextBox 115"/>
          <p:cNvSpPr txBox="1"/>
          <p:nvPr/>
        </p:nvSpPr>
        <p:spPr>
          <a:xfrm>
            <a:off x="419100" y="5988596"/>
            <a:ext cx="820000" cy="232797"/>
          </a:xfrm>
          <a:prstGeom prst="rect">
            <a:avLst/>
          </a:prstGeom>
          <a:noFill/>
        </p:spPr>
        <p:txBody>
          <a:bodyPr wrap="square" lIns="0" tIns="0" rIns="0" bIns="0" anchor="ctr"/>
          <a:lstStyle/>
          <a:p>
            <a:pPr algn="l"/>
            <a:r>
              <a:rPr lang="en-US" sz="625" b="0" i="0">
                <a:solidFill>
                  <a:srgbClr val="333231"/>
                </a:solidFill>
              </a:rPr>
              <a:t>APi Group</a:t>
            </a:r>
          </a:p>
        </p:txBody>
      </p:sp>
      <p:sp>
        <p:nvSpPr>
          <p:cNvPr id="117" name="Rectangle 116"/>
          <p:cNvSpPr/>
          <p:nvPr/>
        </p:nvSpPr>
        <p:spPr>
          <a:xfrm>
            <a:off x="1421125" y="6039811"/>
            <a:ext cx="213826" cy="130366"/>
          </a:xfrm>
          <a:prstGeom prst="rect">
            <a:avLst/>
          </a:prstGeom>
          <a:solidFill>
            <a:srgbClr val="8C6239"/>
          </a:solidFill>
          <a:ln>
            <a:noFill/>
          </a:ln>
        </p:spPr>
        <p:txBody>
          <a:bodyPr rtlCol="0" anchor="ctr"/>
          <a:lstStyle/>
          <a:p>
            <a:pPr algn="ctr"/>
            <a:endParaRPr/>
          </a:p>
        </p:txBody>
      </p:sp>
      <p:sp>
        <p:nvSpPr>
          <p:cNvPr id="118" name="TextBox 117"/>
          <p:cNvSpPr txBox="1"/>
          <p:nvPr/>
        </p:nvSpPr>
        <p:spPr>
          <a:xfrm>
            <a:off x="1654951" y="5988596"/>
            <a:ext cx="440000" cy="232797"/>
          </a:xfrm>
          <a:prstGeom prst="rect">
            <a:avLst/>
          </a:prstGeom>
          <a:noFill/>
        </p:spPr>
        <p:txBody>
          <a:bodyPr wrap="square" lIns="0" tIns="0" rIns="0" bIns="0" anchor="ctr"/>
          <a:lstStyle/>
          <a:p>
            <a:pPr algn="l"/>
            <a:r>
              <a:rPr lang="en-US" sz="600" b="1" i="0">
                <a:solidFill>
                  <a:srgbClr val="1B1A1A"/>
                </a:solidFill>
              </a:rPr>
              <a:t>13.3%</a:t>
            </a:r>
          </a:p>
        </p:txBody>
      </p:sp>
      <p:sp>
        <p:nvSpPr>
          <p:cNvPr id="119" name="TextBox 118"/>
          <p:cNvSpPr txBox="1"/>
          <p:nvPr/>
        </p:nvSpPr>
        <p:spPr>
          <a:xfrm>
            <a:off x="419100" y="6221393"/>
            <a:ext cx="820000" cy="232797"/>
          </a:xfrm>
          <a:prstGeom prst="rect">
            <a:avLst/>
          </a:prstGeom>
          <a:noFill/>
        </p:spPr>
        <p:txBody>
          <a:bodyPr wrap="square" lIns="0" tIns="0" rIns="0" bIns="0" anchor="ctr"/>
          <a:lstStyle/>
          <a:p>
            <a:pPr algn="l"/>
            <a:r>
              <a:rPr lang="en-US" sz="625" b="0" i="0">
                <a:solidFill>
                  <a:srgbClr val="333231"/>
                </a:solidFill>
              </a:rPr>
              <a:t>WESCO</a:t>
            </a:r>
          </a:p>
        </p:txBody>
      </p:sp>
      <p:sp>
        <p:nvSpPr>
          <p:cNvPr id="120" name="Rectangle 119"/>
          <p:cNvSpPr/>
          <p:nvPr/>
        </p:nvSpPr>
        <p:spPr>
          <a:xfrm>
            <a:off x="1421125" y="6272608"/>
            <a:ext cx="209003" cy="130366"/>
          </a:xfrm>
          <a:prstGeom prst="rect">
            <a:avLst/>
          </a:prstGeom>
          <a:solidFill>
            <a:srgbClr val="B68757"/>
          </a:solidFill>
          <a:ln>
            <a:noFill/>
          </a:ln>
        </p:spPr>
        <p:txBody>
          <a:bodyPr rtlCol="0" anchor="ctr"/>
          <a:lstStyle/>
          <a:p>
            <a:pPr algn="ctr"/>
            <a:endParaRPr/>
          </a:p>
        </p:txBody>
      </p:sp>
      <p:sp>
        <p:nvSpPr>
          <p:cNvPr id="121" name="TextBox 120"/>
          <p:cNvSpPr txBox="1"/>
          <p:nvPr/>
        </p:nvSpPr>
        <p:spPr>
          <a:xfrm>
            <a:off x="1650128" y="6221393"/>
            <a:ext cx="440000" cy="232797"/>
          </a:xfrm>
          <a:prstGeom prst="rect">
            <a:avLst/>
          </a:prstGeom>
          <a:noFill/>
        </p:spPr>
        <p:txBody>
          <a:bodyPr wrap="square" lIns="0" tIns="0" rIns="0" bIns="0" anchor="ctr"/>
          <a:lstStyle/>
          <a:p>
            <a:pPr algn="l"/>
            <a:r>
              <a:rPr lang="en-US" sz="600" b="1" i="0">
                <a:solidFill>
                  <a:srgbClr val="1B1A1A"/>
                </a:solidFill>
              </a:rPr>
              <a:t>13.0%</a:t>
            </a:r>
          </a:p>
        </p:txBody>
      </p:sp>
      <p:sp>
        <p:nvSpPr>
          <p:cNvPr id="122" name="TextBox 121"/>
          <p:cNvSpPr txBox="1"/>
          <p:nvPr/>
        </p:nvSpPr>
        <p:spPr>
          <a:xfrm>
            <a:off x="2789100" y="1798250"/>
            <a:ext cx="820000" cy="232797"/>
          </a:xfrm>
          <a:prstGeom prst="rect">
            <a:avLst/>
          </a:prstGeom>
          <a:noFill/>
        </p:spPr>
        <p:txBody>
          <a:bodyPr wrap="square" lIns="0" tIns="0" rIns="0" bIns="0" anchor="ctr"/>
          <a:lstStyle/>
          <a:p>
            <a:pPr algn="l"/>
            <a:r>
              <a:rPr lang="en-US" sz="625" b="0" i="0">
                <a:solidFill>
                  <a:srgbClr val="333231"/>
                </a:solidFill>
              </a:rPr>
              <a:t>Knight-Swift</a:t>
            </a:r>
          </a:p>
        </p:txBody>
      </p:sp>
      <p:sp>
        <p:nvSpPr>
          <p:cNvPr id="123" name="Rectangle 122"/>
          <p:cNvSpPr/>
          <p:nvPr/>
        </p:nvSpPr>
        <p:spPr>
          <a:xfrm>
            <a:off x="3791125" y="1849465"/>
            <a:ext cx="202572" cy="130366"/>
          </a:xfrm>
          <a:prstGeom prst="rect">
            <a:avLst/>
          </a:prstGeom>
          <a:solidFill>
            <a:srgbClr val="D3B89A"/>
          </a:solidFill>
          <a:ln>
            <a:noFill/>
          </a:ln>
        </p:spPr>
        <p:txBody>
          <a:bodyPr rtlCol="0" anchor="ctr"/>
          <a:lstStyle/>
          <a:p>
            <a:pPr algn="ctr"/>
            <a:endParaRPr/>
          </a:p>
        </p:txBody>
      </p:sp>
      <p:sp>
        <p:nvSpPr>
          <p:cNvPr id="124" name="TextBox 123"/>
          <p:cNvSpPr txBox="1"/>
          <p:nvPr/>
        </p:nvSpPr>
        <p:spPr>
          <a:xfrm>
            <a:off x="4013697" y="1798250"/>
            <a:ext cx="440000" cy="232797"/>
          </a:xfrm>
          <a:prstGeom prst="rect">
            <a:avLst/>
          </a:prstGeom>
          <a:noFill/>
        </p:spPr>
        <p:txBody>
          <a:bodyPr wrap="square" lIns="0" tIns="0" rIns="0" bIns="0" anchor="ctr"/>
          <a:lstStyle/>
          <a:p>
            <a:pPr algn="l"/>
            <a:r>
              <a:rPr lang="en-US" sz="600" b="1" i="0">
                <a:solidFill>
                  <a:srgbClr val="1B1A1A"/>
                </a:solidFill>
              </a:rPr>
              <a:t>12.6%</a:t>
            </a:r>
          </a:p>
        </p:txBody>
      </p:sp>
      <p:sp>
        <p:nvSpPr>
          <p:cNvPr id="125" name="TextBox 124"/>
          <p:cNvSpPr txBox="1"/>
          <p:nvPr/>
        </p:nvSpPr>
        <p:spPr>
          <a:xfrm>
            <a:off x="2789100" y="2031047"/>
            <a:ext cx="820000" cy="232797"/>
          </a:xfrm>
          <a:prstGeom prst="rect">
            <a:avLst/>
          </a:prstGeom>
          <a:noFill/>
        </p:spPr>
        <p:txBody>
          <a:bodyPr wrap="square" lIns="0" tIns="0" rIns="0" bIns="0" anchor="ctr"/>
          <a:lstStyle/>
          <a:p>
            <a:pPr algn="l"/>
            <a:r>
              <a:rPr lang="en-US" sz="625" b="0" i="0">
                <a:solidFill>
                  <a:srgbClr val="333231"/>
                </a:solidFill>
              </a:rPr>
              <a:t>Lincoln Electric</a:t>
            </a:r>
          </a:p>
        </p:txBody>
      </p:sp>
      <p:sp>
        <p:nvSpPr>
          <p:cNvPr id="126" name="Rectangle 125"/>
          <p:cNvSpPr/>
          <p:nvPr/>
        </p:nvSpPr>
        <p:spPr>
          <a:xfrm>
            <a:off x="3791125" y="2082262"/>
            <a:ext cx="192926" cy="130366"/>
          </a:xfrm>
          <a:prstGeom prst="rect">
            <a:avLst/>
          </a:prstGeom>
          <a:solidFill>
            <a:srgbClr val="1B1A1A"/>
          </a:solidFill>
          <a:ln>
            <a:noFill/>
          </a:ln>
        </p:spPr>
        <p:txBody>
          <a:bodyPr rtlCol="0" anchor="ctr"/>
          <a:lstStyle/>
          <a:p>
            <a:pPr algn="ctr"/>
            <a:endParaRPr/>
          </a:p>
        </p:txBody>
      </p:sp>
      <p:sp>
        <p:nvSpPr>
          <p:cNvPr id="127" name="TextBox 126"/>
          <p:cNvSpPr txBox="1"/>
          <p:nvPr/>
        </p:nvSpPr>
        <p:spPr>
          <a:xfrm>
            <a:off x="4004051" y="2031047"/>
            <a:ext cx="440000" cy="232797"/>
          </a:xfrm>
          <a:prstGeom prst="rect">
            <a:avLst/>
          </a:prstGeom>
          <a:noFill/>
        </p:spPr>
        <p:txBody>
          <a:bodyPr wrap="square" lIns="0" tIns="0" rIns="0" bIns="0" anchor="ctr"/>
          <a:lstStyle/>
          <a:p>
            <a:pPr algn="l"/>
            <a:r>
              <a:rPr lang="en-US" sz="600" b="1" i="0">
                <a:solidFill>
                  <a:srgbClr val="1B1A1A"/>
                </a:solidFill>
              </a:rPr>
              <a:t>12.0%</a:t>
            </a:r>
          </a:p>
        </p:txBody>
      </p:sp>
      <p:sp>
        <p:nvSpPr>
          <p:cNvPr id="128" name="TextBox 127"/>
          <p:cNvSpPr txBox="1"/>
          <p:nvPr/>
        </p:nvSpPr>
        <p:spPr>
          <a:xfrm>
            <a:off x="2789100" y="2263844"/>
            <a:ext cx="820000" cy="232797"/>
          </a:xfrm>
          <a:prstGeom prst="rect">
            <a:avLst/>
          </a:prstGeom>
          <a:noFill/>
        </p:spPr>
        <p:txBody>
          <a:bodyPr wrap="square" lIns="0" tIns="0" rIns="0" bIns="0" anchor="ctr"/>
          <a:lstStyle/>
          <a:p>
            <a:pPr algn="l"/>
            <a:r>
              <a:rPr lang="en-US" sz="625" b="0" i="0">
                <a:solidFill>
                  <a:srgbClr val="333231"/>
                </a:solidFill>
              </a:rPr>
              <a:t>Clean Harbors</a:t>
            </a:r>
          </a:p>
        </p:txBody>
      </p:sp>
      <p:sp>
        <p:nvSpPr>
          <p:cNvPr id="129" name="Rectangle 128"/>
          <p:cNvSpPr/>
          <p:nvPr/>
        </p:nvSpPr>
        <p:spPr>
          <a:xfrm>
            <a:off x="3791125" y="2315059"/>
            <a:ext cx="192926" cy="130366"/>
          </a:xfrm>
          <a:prstGeom prst="rect">
            <a:avLst/>
          </a:prstGeom>
          <a:solidFill>
            <a:srgbClr val="7A746E"/>
          </a:solidFill>
          <a:ln>
            <a:noFill/>
          </a:ln>
        </p:spPr>
        <p:txBody>
          <a:bodyPr rtlCol="0" anchor="ctr"/>
          <a:lstStyle/>
          <a:p>
            <a:pPr algn="ctr"/>
            <a:endParaRPr/>
          </a:p>
        </p:txBody>
      </p:sp>
      <p:sp>
        <p:nvSpPr>
          <p:cNvPr id="130" name="TextBox 129"/>
          <p:cNvSpPr txBox="1"/>
          <p:nvPr/>
        </p:nvSpPr>
        <p:spPr>
          <a:xfrm>
            <a:off x="4004051" y="2263844"/>
            <a:ext cx="440000" cy="232797"/>
          </a:xfrm>
          <a:prstGeom prst="rect">
            <a:avLst/>
          </a:prstGeom>
          <a:noFill/>
        </p:spPr>
        <p:txBody>
          <a:bodyPr wrap="square" lIns="0" tIns="0" rIns="0" bIns="0" anchor="ctr"/>
          <a:lstStyle/>
          <a:p>
            <a:pPr algn="l"/>
            <a:r>
              <a:rPr lang="en-US" sz="600" b="1" i="0">
                <a:solidFill>
                  <a:srgbClr val="1B1A1A"/>
                </a:solidFill>
              </a:rPr>
              <a:t>12.0%</a:t>
            </a:r>
          </a:p>
        </p:txBody>
      </p:sp>
      <p:sp>
        <p:nvSpPr>
          <p:cNvPr id="131" name="TextBox 130"/>
          <p:cNvSpPr txBox="1"/>
          <p:nvPr/>
        </p:nvSpPr>
        <p:spPr>
          <a:xfrm>
            <a:off x="2789100" y="2496641"/>
            <a:ext cx="820000" cy="232797"/>
          </a:xfrm>
          <a:prstGeom prst="rect">
            <a:avLst/>
          </a:prstGeom>
          <a:noFill/>
        </p:spPr>
        <p:txBody>
          <a:bodyPr wrap="square" lIns="0" tIns="0" rIns="0" bIns="0" anchor="ctr"/>
          <a:lstStyle/>
          <a:p>
            <a:pPr algn="l"/>
            <a:r>
              <a:rPr lang="en-US" sz="625" b="0" i="0">
                <a:solidFill>
                  <a:srgbClr val="333231"/>
                </a:solidFill>
              </a:rPr>
              <a:t>Distribution Solutions</a:t>
            </a:r>
          </a:p>
        </p:txBody>
      </p:sp>
      <p:sp>
        <p:nvSpPr>
          <p:cNvPr id="132" name="Rectangle 131"/>
          <p:cNvSpPr/>
          <p:nvPr/>
        </p:nvSpPr>
        <p:spPr>
          <a:xfrm>
            <a:off x="3791125" y="2547856"/>
            <a:ext cx="176848" cy="130366"/>
          </a:xfrm>
          <a:prstGeom prst="rect">
            <a:avLst/>
          </a:prstGeom>
          <a:solidFill>
            <a:srgbClr val="B68757"/>
          </a:solidFill>
          <a:ln>
            <a:noFill/>
          </a:ln>
        </p:spPr>
        <p:txBody>
          <a:bodyPr rtlCol="0" anchor="ctr"/>
          <a:lstStyle/>
          <a:p>
            <a:pPr algn="ctr"/>
            <a:endParaRPr/>
          </a:p>
        </p:txBody>
      </p:sp>
      <p:sp>
        <p:nvSpPr>
          <p:cNvPr id="133" name="TextBox 132"/>
          <p:cNvSpPr txBox="1"/>
          <p:nvPr/>
        </p:nvSpPr>
        <p:spPr>
          <a:xfrm>
            <a:off x="3987973" y="2496641"/>
            <a:ext cx="440000" cy="232797"/>
          </a:xfrm>
          <a:prstGeom prst="rect">
            <a:avLst/>
          </a:prstGeom>
          <a:noFill/>
        </p:spPr>
        <p:txBody>
          <a:bodyPr wrap="square" lIns="0" tIns="0" rIns="0" bIns="0" anchor="ctr"/>
          <a:lstStyle/>
          <a:p>
            <a:pPr algn="l"/>
            <a:r>
              <a:rPr lang="en-US" sz="600" b="1" i="0">
                <a:solidFill>
                  <a:srgbClr val="1B1A1A"/>
                </a:solidFill>
              </a:rPr>
              <a:t>11.0%</a:t>
            </a:r>
          </a:p>
        </p:txBody>
      </p:sp>
      <p:sp>
        <p:nvSpPr>
          <p:cNvPr id="134" name="TextBox 133"/>
          <p:cNvSpPr txBox="1"/>
          <p:nvPr/>
        </p:nvSpPr>
        <p:spPr>
          <a:xfrm>
            <a:off x="2789100" y="2729438"/>
            <a:ext cx="820000" cy="232797"/>
          </a:xfrm>
          <a:prstGeom prst="rect">
            <a:avLst/>
          </a:prstGeom>
          <a:noFill/>
        </p:spPr>
        <p:txBody>
          <a:bodyPr wrap="square" lIns="0" tIns="0" rIns="0" bIns="0" anchor="ctr"/>
          <a:lstStyle/>
          <a:p>
            <a:pPr algn="l"/>
            <a:r>
              <a:rPr lang="en-US" sz="625" b="0" i="0">
                <a:solidFill>
                  <a:srgbClr val="333231"/>
                </a:solidFill>
              </a:rPr>
              <a:t>Generac</a:t>
            </a:r>
          </a:p>
        </p:txBody>
      </p:sp>
      <p:sp>
        <p:nvSpPr>
          <p:cNvPr id="135" name="Rectangle 134"/>
          <p:cNvSpPr/>
          <p:nvPr/>
        </p:nvSpPr>
        <p:spPr>
          <a:xfrm>
            <a:off x="3791125" y="2780653"/>
            <a:ext cx="176848" cy="130366"/>
          </a:xfrm>
          <a:prstGeom prst="rect">
            <a:avLst/>
          </a:prstGeom>
          <a:solidFill>
            <a:srgbClr val="7A746E"/>
          </a:solidFill>
          <a:ln>
            <a:noFill/>
          </a:ln>
        </p:spPr>
        <p:txBody>
          <a:bodyPr rtlCol="0" anchor="ctr"/>
          <a:lstStyle/>
          <a:p>
            <a:pPr algn="ctr"/>
            <a:endParaRPr/>
          </a:p>
        </p:txBody>
      </p:sp>
      <p:sp>
        <p:nvSpPr>
          <p:cNvPr id="136" name="TextBox 135"/>
          <p:cNvSpPr txBox="1"/>
          <p:nvPr/>
        </p:nvSpPr>
        <p:spPr>
          <a:xfrm>
            <a:off x="3987973" y="2729438"/>
            <a:ext cx="440000" cy="232797"/>
          </a:xfrm>
          <a:prstGeom prst="rect">
            <a:avLst/>
          </a:prstGeom>
          <a:noFill/>
        </p:spPr>
        <p:txBody>
          <a:bodyPr wrap="square" lIns="0" tIns="0" rIns="0" bIns="0" anchor="ctr"/>
          <a:lstStyle/>
          <a:p>
            <a:pPr algn="l"/>
            <a:r>
              <a:rPr lang="en-US" sz="600" b="1" i="0">
                <a:solidFill>
                  <a:srgbClr val="1B1A1A"/>
                </a:solidFill>
              </a:rPr>
              <a:t>11.0%</a:t>
            </a:r>
          </a:p>
        </p:txBody>
      </p:sp>
      <p:sp>
        <p:nvSpPr>
          <p:cNvPr id="137" name="TextBox 136"/>
          <p:cNvSpPr txBox="1"/>
          <p:nvPr/>
        </p:nvSpPr>
        <p:spPr>
          <a:xfrm>
            <a:off x="2789100" y="2962235"/>
            <a:ext cx="820000" cy="232797"/>
          </a:xfrm>
          <a:prstGeom prst="rect">
            <a:avLst/>
          </a:prstGeom>
          <a:noFill/>
        </p:spPr>
        <p:txBody>
          <a:bodyPr wrap="square" lIns="0" tIns="0" rIns="0" bIns="0" anchor="ctr"/>
          <a:lstStyle/>
          <a:p>
            <a:pPr algn="l"/>
            <a:r>
              <a:rPr lang="en-US" sz="625" b="0" i="0">
                <a:solidFill>
                  <a:srgbClr val="333231"/>
                </a:solidFill>
              </a:rPr>
              <a:t>Applied Industrial</a:t>
            </a:r>
          </a:p>
        </p:txBody>
      </p:sp>
      <p:sp>
        <p:nvSpPr>
          <p:cNvPr id="138" name="Rectangle 137"/>
          <p:cNvSpPr/>
          <p:nvPr/>
        </p:nvSpPr>
        <p:spPr>
          <a:xfrm>
            <a:off x="3791125" y="3013450"/>
            <a:ext cx="167202" cy="130366"/>
          </a:xfrm>
          <a:prstGeom prst="rect">
            <a:avLst/>
          </a:prstGeom>
          <a:solidFill>
            <a:srgbClr val="B68757"/>
          </a:solidFill>
          <a:ln>
            <a:noFill/>
          </a:ln>
        </p:spPr>
        <p:txBody>
          <a:bodyPr rtlCol="0" anchor="ctr"/>
          <a:lstStyle/>
          <a:p>
            <a:pPr algn="ctr"/>
            <a:endParaRPr/>
          </a:p>
        </p:txBody>
      </p:sp>
      <p:sp>
        <p:nvSpPr>
          <p:cNvPr id="139" name="TextBox 138"/>
          <p:cNvSpPr txBox="1"/>
          <p:nvPr/>
        </p:nvSpPr>
        <p:spPr>
          <a:xfrm>
            <a:off x="3978327" y="2962235"/>
            <a:ext cx="440000" cy="232797"/>
          </a:xfrm>
          <a:prstGeom prst="rect">
            <a:avLst/>
          </a:prstGeom>
          <a:noFill/>
        </p:spPr>
        <p:txBody>
          <a:bodyPr wrap="square" lIns="0" tIns="0" rIns="0" bIns="0" anchor="ctr"/>
          <a:lstStyle/>
          <a:p>
            <a:pPr algn="l"/>
            <a:r>
              <a:rPr lang="en-US" sz="600" b="1" i="0">
                <a:solidFill>
                  <a:srgbClr val="1B1A1A"/>
                </a:solidFill>
              </a:rPr>
              <a:t>10.4%</a:t>
            </a:r>
          </a:p>
        </p:txBody>
      </p:sp>
      <p:sp>
        <p:nvSpPr>
          <p:cNvPr id="140" name="TextBox 139"/>
          <p:cNvSpPr txBox="1"/>
          <p:nvPr/>
        </p:nvSpPr>
        <p:spPr>
          <a:xfrm>
            <a:off x="2789100" y="3195032"/>
            <a:ext cx="820000" cy="232797"/>
          </a:xfrm>
          <a:prstGeom prst="rect">
            <a:avLst/>
          </a:prstGeom>
          <a:noFill/>
        </p:spPr>
        <p:txBody>
          <a:bodyPr wrap="square" lIns="0" tIns="0" rIns="0" bIns="0" anchor="ctr"/>
          <a:lstStyle/>
          <a:p>
            <a:pPr algn="l"/>
            <a:r>
              <a:rPr lang="en-US" sz="625" b="0" i="0">
                <a:solidFill>
                  <a:srgbClr val="333231"/>
                </a:solidFill>
              </a:rPr>
              <a:t>W.W. Grainger</a:t>
            </a:r>
          </a:p>
        </p:txBody>
      </p:sp>
      <p:sp>
        <p:nvSpPr>
          <p:cNvPr id="141" name="Rectangle 140"/>
          <p:cNvSpPr/>
          <p:nvPr/>
        </p:nvSpPr>
        <p:spPr>
          <a:xfrm>
            <a:off x="3791125" y="3246247"/>
            <a:ext cx="165594" cy="130366"/>
          </a:xfrm>
          <a:prstGeom prst="rect">
            <a:avLst/>
          </a:prstGeom>
          <a:solidFill>
            <a:srgbClr val="B68757"/>
          </a:solidFill>
          <a:ln>
            <a:noFill/>
          </a:ln>
        </p:spPr>
        <p:txBody>
          <a:bodyPr rtlCol="0" anchor="ctr"/>
          <a:lstStyle/>
          <a:p>
            <a:pPr algn="ctr"/>
            <a:endParaRPr/>
          </a:p>
        </p:txBody>
      </p:sp>
      <p:sp>
        <p:nvSpPr>
          <p:cNvPr id="142" name="TextBox 141"/>
          <p:cNvSpPr txBox="1"/>
          <p:nvPr/>
        </p:nvSpPr>
        <p:spPr>
          <a:xfrm>
            <a:off x="3976719" y="3195032"/>
            <a:ext cx="440000" cy="232797"/>
          </a:xfrm>
          <a:prstGeom prst="rect">
            <a:avLst/>
          </a:prstGeom>
          <a:noFill/>
        </p:spPr>
        <p:txBody>
          <a:bodyPr wrap="square" lIns="0" tIns="0" rIns="0" bIns="0" anchor="ctr"/>
          <a:lstStyle/>
          <a:p>
            <a:pPr algn="l"/>
            <a:r>
              <a:rPr lang="en-US" sz="600" b="1" i="0">
                <a:solidFill>
                  <a:srgbClr val="1B1A1A"/>
                </a:solidFill>
              </a:rPr>
              <a:t>10.3%</a:t>
            </a:r>
          </a:p>
        </p:txBody>
      </p:sp>
      <p:sp>
        <p:nvSpPr>
          <p:cNvPr id="143" name="TextBox 142"/>
          <p:cNvSpPr txBox="1"/>
          <p:nvPr/>
        </p:nvSpPr>
        <p:spPr>
          <a:xfrm>
            <a:off x="2789100" y="3427829"/>
            <a:ext cx="820000" cy="232797"/>
          </a:xfrm>
          <a:prstGeom prst="rect">
            <a:avLst/>
          </a:prstGeom>
          <a:noFill/>
        </p:spPr>
        <p:txBody>
          <a:bodyPr wrap="square" lIns="0" tIns="0" rIns="0" bIns="0" anchor="ctr"/>
          <a:lstStyle/>
          <a:p>
            <a:pPr algn="l"/>
            <a:r>
              <a:rPr lang="en-US" sz="625" b="0" i="0">
                <a:solidFill>
                  <a:srgbClr val="333231"/>
                </a:solidFill>
              </a:rPr>
              <a:t>Schneider</a:t>
            </a:r>
          </a:p>
        </p:txBody>
      </p:sp>
      <p:sp>
        <p:nvSpPr>
          <p:cNvPr id="144" name="Rectangle 143"/>
          <p:cNvSpPr/>
          <p:nvPr/>
        </p:nvSpPr>
        <p:spPr>
          <a:xfrm>
            <a:off x="3791125" y="3479044"/>
            <a:ext cx="160771" cy="130366"/>
          </a:xfrm>
          <a:prstGeom prst="rect">
            <a:avLst/>
          </a:prstGeom>
          <a:solidFill>
            <a:srgbClr val="D3B89A"/>
          </a:solidFill>
          <a:ln>
            <a:noFill/>
          </a:ln>
        </p:spPr>
        <p:txBody>
          <a:bodyPr rtlCol="0" anchor="ctr"/>
          <a:lstStyle/>
          <a:p>
            <a:pPr algn="ctr"/>
            <a:endParaRPr/>
          </a:p>
        </p:txBody>
      </p:sp>
      <p:sp>
        <p:nvSpPr>
          <p:cNvPr id="145" name="TextBox 144"/>
          <p:cNvSpPr txBox="1"/>
          <p:nvPr/>
        </p:nvSpPr>
        <p:spPr>
          <a:xfrm>
            <a:off x="3971896" y="3427829"/>
            <a:ext cx="440000" cy="232797"/>
          </a:xfrm>
          <a:prstGeom prst="rect">
            <a:avLst/>
          </a:prstGeom>
          <a:noFill/>
        </p:spPr>
        <p:txBody>
          <a:bodyPr wrap="square" lIns="0" tIns="0" rIns="0" bIns="0" anchor="ctr"/>
          <a:lstStyle/>
          <a:p>
            <a:pPr algn="l"/>
            <a:r>
              <a:rPr lang="en-US" sz="600" b="1" i="0">
                <a:solidFill>
                  <a:srgbClr val="1B1A1A"/>
                </a:solidFill>
              </a:rPr>
              <a:t>10.0%</a:t>
            </a:r>
          </a:p>
        </p:txBody>
      </p:sp>
      <p:sp>
        <p:nvSpPr>
          <p:cNvPr id="146" name="TextBox 145"/>
          <p:cNvSpPr txBox="1"/>
          <p:nvPr/>
        </p:nvSpPr>
        <p:spPr>
          <a:xfrm>
            <a:off x="2789100" y="3660626"/>
            <a:ext cx="820000" cy="232797"/>
          </a:xfrm>
          <a:prstGeom prst="rect">
            <a:avLst/>
          </a:prstGeom>
          <a:noFill/>
        </p:spPr>
        <p:txBody>
          <a:bodyPr wrap="square" lIns="0" tIns="0" rIns="0" bIns="0" anchor="ctr"/>
          <a:lstStyle/>
          <a:p>
            <a:pPr algn="l"/>
            <a:r>
              <a:rPr lang="en-US" sz="625" b="0" i="0">
                <a:solidFill>
                  <a:srgbClr val="333231"/>
                </a:solidFill>
              </a:rPr>
              <a:t>Parker Hannifin</a:t>
            </a:r>
          </a:p>
        </p:txBody>
      </p:sp>
      <p:sp>
        <p:nvSpPr>
          <p:cNvPr id="147" name="Rectangle 146"/>
          <p:cNvSpPr/>
          <p:nvPr/>
        </p:nvSpPr>
        <p:spPr>
          <a:xfrm>
            <a:off x="3791125" y="3711841"/>
            <a:ext cx="157556" cy="130366"/>
          </a:xfrm>
          <a:prstGeom prst="rect">
            <a:avLst/>
          </a:prstGeom>
          <a:solidFill>
            <a:srgbClr val="1B1A1A"/>
          </a:solidFill>
          <a:ln>
            <a:noFill/>
          </a:ln>
        </p:spPr>
        <p:txBody>
          <a:bodyPr rtlCol="0" anchor="ctr"/>
          <a:lstStyle/>
          <a:p>
            <a:pPr algn="ctr"/>
            <a:endParaRPr/>
          </a:p>
        </p:txBody>
      </p:sp>
      <p:sp>
        <p:nvSpPr>
          <p:cNvPr id="148" name="TextBox 147"/>
          <p:cNvSpPr txBox="1"/>
          <p:nvPr/>
        </p:nvSpPr>
        <p:spPr>
          <a:xfrm>
            <a:off x="3968681" y="3660626"/>
            <a:ext cx="440000" cy="232797"/>
          </a:xfrm>
          <a:prstGeom prst="rect">
            <a:avLst/>
          </a:prstGeom>
          <a:noFill/>
        </p:spPr>
        <p:txBody>
          <a:bodyPr wrap="square" lIns="0" tIns="0" rIns="0" bIns="0" anchor="ctr"/>
          <a:lstStyle/>
          <a:p>
            <a:pPr algn="l"/>
            <a:r>
              <a:rPr lang="en-US" sz="600" b="1" i="0">
                <a:solidFill>
                  <a:srgbClr val="1B1A1A"/>
                </a:solidFill>
              </a:rPr>
              <a:t>9.8%</a:t>
            </a:r>
          </a:p>
        </p:txBody>
      </p:sp>
      <p:sp>
        <p:nvSpPr>
          <p:cNvPr id="149" name="TextBox 148"/>
          <p:cNvSpPr txBox="1"/>
          <p:nvPr/>
        </p:nvSpPr>
        <p:spPr>
          <a:xfrm>
            <a:off x="2789100" y="3893423"/>
            <a:ext cx="820000" cy="232797"/>
          </a:xfrm>
          <a:prstGeom prst="rect">
            <a:avLst/>
          </a:prstGeom>
          <a:noFill/>
        </p:spPr>
        <p:txBody>
          <a:bodyPr wrap="square" lIns="0" tIns="0" rIns="0" bIns="0" anchor="ctr"/>
          <a:lstStyle/>
          <a:p>
            <a:pPr algn="l"/>
            <a:r>
              <a:rPr lang="en-US" sz="625" b="0" i="0">
                <a:solidFill>
                  <a:srgbClr val="333231"/>
                </a:solidFill>
              </a:rPr>
              <a:t>Rockwell Automation</a:t>
            </a:r>
          </a:p>
        </p:txBody>
      </p:sp>
      <p:sp>
        <p:nvSpPr>
          <p:cNvPr id="150" name="Rectangle 149"/>
          <p:cNvSpPr/>
          <p:nvPr/>
        </p:nvSpPr>
        <p:spPr>
          <a:xfrm>
            <a:off x="3791125" y="3944638"/>
            <a:ext cx="128617" cy="130366"/>
          </a:xfrm>
          <a:prstGeom prst="rect">
            <a:avLst/>
          </a:prstGeom>
          <a:solidFill>
            <a:srgbClr val="1B1A1A"/>
          </a:solidFill>
          <a:ln>
            <a:noFill/>
          </a:ln>
        </p:spPr>
        <p:txBody>
          <a:bodyPr rtlCol="0" anchor="ctr"/>
          <a:lstStyle/>
          <a:p>
            <a:pPr algn="ctr"/>
            <a:endParaRPr/>
          </a:p>
        </p:txBody>
      </p:sp>
      <p:sp>
        <p:nvSpPr>
          <p:cNvPr id="151" name="TextBox 150"/>
          <p:cNvSpPr txBox="1"/>
          <p:nvPr/>
        </p:nvSpPr>
        <p:spPr>
          <a:xfrm>
            <a:off x="3939742" y="3893423"/>
            <a:ext cx="440000" cy="232797"/>
          </a:xfrm>
          <a:prstGeom prst="rect">
            <a:avLst/>
          </a:prstGeom>
          <a:noFill/>
        </p:spPr>
        <p:txBody>
          <a:bodyPr wrap="square" lIns="0" tIns="0" rIns="0" bIns="0" anchor="ctr"/>
          <a:lstStyle/>
          <a:p>
            <a:pPr algn="l"/>
            <a:r>
              <a:rPr lang="en-US" sz="600" b="1" i="0">
                <a:solidFill>
                  <a:srgbClr val="1B1A1A"/>
                </a:solidFill>
              </a:rPr>
              <a:t>8.0%</a:t>
            </a:r>
          </a:p>
        </p:txBody>
      </p:sp>
      <p:sp>
        <p:nvSpPr>
          <p:cNvPr id="152" name="TextBox 151"/>
          <p:cNvSpPr txBox="1"/>
          <p:nvPr/>
        </p:nvSpPr>
        <p:spPr>
          <a:xfrm>
            <a:off x="2789100" y="4126220"/>
            <a:ext cx="820000" cy="232797"/>
          </a:xfrm>
          <a:prstGeom prst="rect">
            <a:avLst/>
          </a:prstGeom>
          <a:noFill/>
        </p:spPr>
        <p:txBody>
          <a:bodyPr wrap="square" lIns="0" tIns="0" rIns="0" bIns="0" anchor="ctr"/>
          <a:lstStyle/>
          <a:p>
            <a:pPr algn="l"/>
            <a:r>
              <a:rPr lang="en-US" sz="625" b="0" i="0">
                <a:solidFill>
                  <a:srgbClr val="333231"/>
                </a:solidFill>
              </a:rPr>
              <a:t>MSC Industrial</a:t>
            </a:r>
          </a:p>
        </p:txBody>
      </p:sp>
      <p:sp>
        <p:nvSpPr>
          <p:cNvPr id="153" name="Rectangle 152"/>
          <p:cNvSpPr/>
          <p:nvPr/>
        </p:nvSpPr>
        <p:spPr>
          <a:xfrm>
            <a:off x="3791125" y="4177435"/>
            <a:ext cx="125401" cy="130366"/>
          </a:xfrm>
          <a:prstGeom prst="rect">
            <a:avLst/>
          </a:prstGeom>
          <a:solidFill>
            <a:srgbClr val="B68757"/>
          </a:solidFill>
          <a:ln>
            <a:noFill/>
          </a:ln>
        </p:spPr>
        <p:txBody>
          <a:bodyPr rtlCol="0" anchor="ctr"/>
          <a:lstStyle/>
          <a:p>
            <a:pPr algn="ctr"/>
            <a:endParaRPr/>
          </a:p>
        </p:txBody>
      </p:sp>
      <p:sp>
        <p:nvSpPr>
          <p:cNvPr id="154" name="TextBox 153"/>
          <p:cNvSpPr txBox="1"/>
          <p:nvPr/>
        </p:nvSpPr>
        <p:spPr>
          <a:xfrm>
            <a:off x="3936526" y="4126220"/>
            <a:ext cx="440000" cy="232797"/>
          </a:xfrm>
          <a:prstGeom prst="rect">
            <a:avLst/>
          </a:prstGeom>
          <a:noFill/>
        </p:spPr>
        <p:txBody>
          <a:bodyPr wrap="square" lIns="0" tIns="0" rIns="0" bIns="0" anchor="ctr"/>
          <a:lstStyle/>
          <a:p>
            <a:pPr algn="l"/>
            <a:r>
              <a:rPr lang="en-US" sz="600" b="1" i="0">
                <a:solidFill>
                  <a:srgbClr val="1B1A1A"/>
                </a:solidFill>
              </a:rPr>
              <a:t>7.8%</a:t>
            </a:r>
          </a:p>
        </p:txBody>
      </p:sp>
      <p:sp>
        <p:nvSpPr>
          <p:cNvPr id="155" name="TextBox 154"/>
          <p:cNvSpPr txBox="1"/>
          <p:nvPr/>
        </p:nvSpPr>
        <p:spPr>
          <a:xfrm>
            <a:off x="2789100" y="4359017"/>
            <a:ext cx="820000" cy="232797"/>
          </a:xfrm>
          <a:prstGeom prst="rect">
            <a:avLst/>
          </a:prstGeom>
          <a:noFill/>
        </p:spPr>
        <p:txBody>
          <a:bodyPr wrap="square" lIns="0" tIns="0" rIns="0" bIns="0" anchor="ctr"/>
          <a:lstStyle/>
          <a:p>
            <a:pPr algn="l"/>
            <a:r>
              <a:rPr lang="en-US" sz="625" b="0" i="0">
                <a:solidFill>
                  <a:srgbClr val="333231"/>
                </a:solidFill>
              </a:rPr>
              <a:t>Global Industrial</a:t>
            </a:r>
          </a:p>
        </p:txBody>
      </p:sp>
      <p:sp>
        <p:nvSpPr>
          <p:cNvPr id="156" name="Rectangle 155"/>
          <p:cNvSpPr/>
          <p:nvPr/>
        </p:nvSpPr>
        <p:spPr>
          <a:xfrm>
            <a:off x="3791125" y="4410232"/>
            <a:ext cx="123794" cy="130366"/>
          </a:xfrm>
          <a:prstGeom prst="rect">
            <a:avLst/>
          </a:prstGeom>
          <a:solidFill>
            <a:srgbClr val="B68757"/>
          </a:solidFill>
          <a:ln>
            <a:noFill/>
          </a:ln>
        </p:spPr>
        <p:txBody>
          <a:bodyPr rtlCol="0" anchor="ctr"/>
          <a:lstStyle/>
          <a:p>
            <a:pPr algn="ctr"/>
            <a:endParaRPr/>
          </a:p>
        </p:txBody>
      </p:sp>
      <p:sp>
        <p:nvSpPr>
          <p:cNvPr id="157" name="TextBox 156"/>
          <p:cNvSpPr txBox="1"/>
          <p:nvPr/>
        </p:nvSpPr>
        <p:spPr>
          <a:xfrm>
            <a:off x="3934919" y="4359017"/>
            <a:ext cx="440000" cy="232797"/>
          </a:xfrm>
          <a:prstGeom prst="rect">
            <a:avLst/>
          </a:prstGeom>
          <a:noFill/>
        </p:spPr>
        <p:txBody>
          <a:bodyPr wrap="square" lIns="0" tIns="0" rIns="0" bIns="0" anchor="ctr"/>
          <a:lstStyle/>
          <a:p>
            <a:pPr algn="l"/>
            <a:r>
              <a:rPr lang="en-US" sz="600" b="1" i="0">
                <a:solidFill>
                  <a:srgbClr val="1B1A1A"/>
                </a:solidFill>
              </a:rPr>
              <a:t>7.7%</a:t>
            </a:r>
          </a:p>
        </p:txBody>
      </p:sp>
      <p:sp>
        <p:nvSpPr>
          <p:cNvPr id="158" name="TextBox 157"/>
          <p:cNvSpPr txBox="1"/>
          <p:nvPr/>
        </p:nvSpPr>
        <p:spPr>
          <a:xfrm>
            <a:off x="2789100" y="4591814"/>
            <a:ext cx="820000" cy="232797"/>
          </a:xfrm>
          <a:prstGeom prst="rect">
            <a:avLst/>
          </a:prstGeom>
          <a:noFill/>
        </p:spPr>
        <p:txBody>
          <a:bodyPr wrap="square" lIns="0" tIns="0" rIns="0" bIns="0" anchor="ctr"/>
          <a:lstStyle/>
          <a:p>
            <a:pPr algn="l"/>
            <a:r>
              <a:rPr lang="en-US" sz="625" b="0" i="0">
                <a:solidFill>
                  <a:srgbClr val="333231"/>
                </a:solidFill>
              </a:rPr>
              <a:t>Waste Connections</a:t>
            </a:r>
          </a:p>
        </p:txBody>
      </p:sp>
      <p:sp>
        <p:nvSpPr>
          <p:cNvPr id="159" name="Rectangle 158"/>
          <p:cNvSpPr/>
          <p:nvPr/>
        </p:nvSpPr>
        <p:spPr>
          <a:xfrm>
            <a:off x="3791125" y="4643029"/>
            <a:ext cx="102893" cy="130366"/>
          </a:xfrm>
          <a:prstGeom prst="rect">
            <a:avLst/>
          </a:prstGeom>
          <a:solidFill>
            <a:srgbClr val="7A746E"/>
          </a:solidFill>
          <a:ln>
            <a:noFill/>
          </a:ln>
        </p:spPr>
        <p:txBody>
          <a:bodyPr rtlCol="0" anchor="ctr"/>
          <a:lstStyle/>
          <a:p>
            <a:pPr algn="ctr"/>
            <a:endParaRPr/>
          </a:p>
        </p:txBody>
      </p:sp>
      <p:sp>
        <p:nvSpPr>
          <p:cNvPr id="160" name="TextBox 159"/>
          <p:cNvSpPr txBox="1"/>
          <p:nvPr/>
        </p:nvSpPr>
        <p:spPr>
          <a:xfrm>
            <a:off x="3914018" y="4591814"/>
            <a:ext cx="440000" cy="232797"/>
          </a:xfrm>
          <a:prstGeom prst="rect">
            <a:avLst/>
          </a:prstGeom>
          <a:noFill/>
        </p:spPr>
        <p:txBody>
          <a:bodyPr wrap="square" lIns="0" tIns="0" rIns="0" bIns="0" anchor="ctr"/>
          <a:lstStyle/>
          <a:p>
            <a:pPr algn="l"/>
            <a:r>
              <a:rPr lang="en-US" sz="600" b="1" i="0">
                <a:solidFill>
                  <a:srgbClr val="1B1A1A"/>
                </a:solidFill>
              </a:rPr>
              <a:t>6.4%</a:t>
            </a:r>
          </a:p>
        </p:txBody>
      </p:sp>
      <p:sp>
        <p:nvSpPr>
          <p:cNvPr id="161" name="TextBox 160"/>
          <p:cNvSpPr txBox="1"/>
          <p:nvPr/>
        </p:nvSpPr>
        <p:spPr>
          <a:xfrm>
            <a:off x="2789100" y="4824611"/>
            <a:ext cx="820000" cy="232797"/>
          </a:xfrm>
          <a:prstGeom prst="rect">
            <a:avLst/>
          </a:prstGeom>
          <a:noFill/>
        </p:spPr>
        <p:txBody>
          <a:bodyPr wrap="square" lIns="0" tIns="0" rIns="0" bIns="0" anchor="ctr"/>
          <a:lstStyle/>
          <a:p>
            <a:pPr algn="l"/>
            <a:r>
              <a:rPr lang="en-US" sz="625" b="0" i="0">
                <a:solidFill>
                  <a:srgbClr val="333231"/>
                </a:solidFill>
              </a:rPr>
              <a:t>Franklin Electric</a:t>
            </a:r>
          </a:p>
        </p:txBody>
      </p:sp>
      <p:sp>
        <p:nvSpPr>
          <p:cNvPr id="162" name="Rectangle 161"/>
          <p:cNvSpPr/>
          <p:nvPr/>
        </p:nvSpPr>
        <p:spPr>
          <a:xfrm>
            <a:off x="3791125" y="4875826"/>
            <a:ext cx="96463" cy="130366"/>
          </a:xfrm>
          <a:prstGeom prst="rect">
            <a:avLst/>
          </a:prstGeom>
          <a:solidFill>
            <a:srgbClr val="1B1A1A"/>
          </a:solidFill>
          <a:ln>
            <a:noFill/>
          </a:ln>
        </p:spPr>
        <p:txBody>
          <a:bodyPr rtlCol="0" anchor="ctr"/>
          <a:lstStyle/>
          <a:p>
            <a:pPr algn="ctr"/>
            <a:endParaRPr/>
          </a:p>
        </p:txBody>
      </p:sp>
      <p:sp>
        <p:nvSpPr>
          <p:cNvPr id="163" name="TextBox 162"/>
          <p:cNvSpPr txBox="1"/>
          <p:nvPr/>
        </p:nvSpPr>
        <p:spPr>
          <a:xfrm>
            <a:off x="3907588" y="4824611"/>
            <a:ext cx="440000" cy="232797"/>
          </a:xfrm>
          <a:prstGeom prst="rect">
            <a:avLst/>
          </a:prstGeom>
          <a:noFill/>
        </p:spPr>
        <p:txBody>
          <a:bodyPr wrap="square" lIns="0" tIns="0" rIns="0" bIns="0" anchor="ctr"/>
          <a:lstStyle/>
          <a:p>
            <a:pPr algn="l"/>
            <a:r>
              <a:rPr lang="en-US" sz="600" b="1" i="0">
                <a:solidFill>
                  <a:srgbClr val="1B1A1A"/>
                </a:solidFill>
              </a:rPr>
              <a:t>6.0%</a:t>
            </a:r>
          </a:p>
        </p:txBody>
      </p:sp>
      <p:sp>
        <p:nvSpPr>
          <p:cNvPr id="164" name="TextBox 163"/>
          <p:cNvSpPr txBox="1"/>
          <p:nvPr/>
        </p:nvSpPr>
        <p:spPr>
          <a:xfrm>
            <a:off x="2789100" y="5057408"/>
            <a:ext cx="820000" cy="232797"/>
          </a:xfrm>
          <a:prstGeom prst="rect">
            <a:avLst/>
          </a:prstGeom>
          <a:noFill/>
        </p:spPr>
        <p:txBody>
          <a:bodyPr wrap="square" lIns="0" tIns="0" rIns="0" bIns="0" anchor="ctr"/>
          <a:lstStyle/>
          <a:p>
            <a:pPr algn="l"/>
            <a:r>
              <a:rPr lang="en-US" sz="625" b="0" i="0">
                <a:solidFill>
                  <a:srgbClr val="333231"/>
                </a:solidFill>
              </a:rPr>
              <a:t>Republic Services</a:t>
            </a:r>
          </a:p>
        </p:txBody>
      </p:sp>
      <p:sp>
        <p:nvSpPr>
          <p:cNvPr id="165" name="Rectangle 164"/>
          <p:cNvSpPr/>
          <p:nvPr/>
        </p:nvSpPr>
        <p:spPr>
          <a:xfrm>
            <a:off x="3791125" y="5108623"/>
            <a:ext cx="73954" cy="130366"/>
          </a:xfrm>
          <a:prstGeom prst="rect">
            <a:avLst/>
          </a:prstGeom>
          <a:solidFill>
            <a:srgbClr val="7A746E"/>
          </a:solidFill>
          <a:ln>
            <a:noFill/>
          </a:ln>
        </p:spPr>
        <p:txBody>
          <a:bodyPr rtlCol="0" anchor="ctr"/>
          <a:lstStyle/>
          <a:p>
            <a:pPr algn="ctr"/>
            <a:endParaRPr/>
          </a:p>
        </p:txBody>
      </p:sp>
      <p:sp>
        <p:nvSpPr>
          <p:cNvPr id="166" name="TextBox 165"/>
          <p:cNvSpPr txBox="1"/>
          <p:nvPr/>
        </p:nvSpPr>
        <p:spPr>
          <a:xfrm>
            <a:off x="3885079" y="5057408"/>
            <a:ext cx="440000" cy="232797"/>
          </a:xfrm>
          <a:prstGeom prst="rect">
            <a:avLst/>
          </a:prstGeom>
          <a:noFill/>
        </p:spPr>
        <p:txBody>
          <a:bodyPr wrap="square" lIns="0" tIns="0" rIns="0" bIns="0" anchor="ctr"/>
          <a:lstStyle/>
          <a:p>
            <a:pPr algn="l"/>
            <a:r>
              <a:rPr lang="en-US" sz="600" b="1" i="0">
                <a:solidFill>
                  <a:srgbClr val="1B1A1A"/>
                </a:solidFill>
              </a:rPr>
              <a:t>4.6%</a:t>
            </a:r>
          </a:p>
        </p:txBody>
      </p:sp>
      <p:sp>
        <p:nvSpPr>
          <p:cNvPr id="167" name="TextBox 166"/>
          <p:cNvSpPr txBox="1"/>
          <p:nvPr/>
        </p:nvSpPr>
        <p:spPr>
          <a:xfrm>
            <a:off x="2789100" y="5290205"/>
            <a:ext cx="820000" cy="232797"/>
          </a:xfrm>
          <a:prstGeom prst="rect">
            <a:avLst/>
          </a:prstGeom>
          <a:noFill/>
        </p:spPr>
        <p:txBody>
          <a:bodyPr wrap="square" lIns="0" tIns="0" rIns="0" bIns="0" anchor="ctr"/>
          <a:lstStyle/>
          <a:p>
            <a:pPr algn="l"/>
            <a:r>
              <a:rPr lang="en-US" sz="625" b="0" i="0">
                <a:solidFill>
                  <a:srgbClr val="333231"/>
                </a:solidFill>
              </a:rPr>
              <a:t>Graco</a:t>
            </a:r>
          </a:p>
        </p:txBody>
      </p:sp>
      <p:sp>
        <p:nvSpPr>
          <p:cNvPr id="168" name="Rectangle 167"/>
          <p:cNvSpPr/>
          <p:nvPr/>
        </p:nvSpPr>
        <p:spPr>
          <a:xfrm>
            <a:off x="3791125" y="5341420"/>
            <a:ext cx="53054" cy="130366"/>
          </a:xfrm>
          <a:prstGeom prst="rect">
            <a:avLst/>
          </a:prstGeom>
          <a:solidFill>
            <a:srgbClr val="1B1A1A"/>
          </a:solidFill>
          <a:ln>
            <a:noFill/>
          </a:ln>
        </p:spPr>
        <p:txBody>
          <a:bodyPr rtlCol="0" anchor="ctr"/>
          <a:lstStyle/>
          <a:p>
            <a:pPr algn="ctr"/>
            <a:endParaRPr/>
          </a:p>
        </p:txBody>
      </p:sp>
      <p:sp>
        <p:nvSpPr>
          <p:cNvPr id="169" name="TextBox 168"/>
          <p:cNvSpPr txBox="1"/>
          <p:nvPr/>
        </p:nvSpPr>
        <p:spPr>
          <a:xfrm>
            <a:off x="3864179" y="5290205"/>
            <a:ext cx="440000" cy="232797"/>
          </a:xfrm>
          <a:prstGeom prst="rect">
            <a:avLst/>
          </a:prstGeom>
          <a:noFill/>
        </p:spPr>
        <p:txBody>
          <a:bodyPr wrap="square" lIns="0" tIns="0" rIns="0" bIns="0" anchor="ctr"/>
          <a:lstStyle/>
          <a:p>
            <a:pPr algn="l"/>
            <a:r>
              <a:rPr lang="en-US" sz="600" b="1" i="0">
                <a:solidFill>
                  <a:srgbClr val="1B1A1A"/>
                </a:solidFill>
              </a:rPr>
              <a:t>3.3%</a:t>
            </a:r>
          </a:p>
        </p:txBody>
      </p:sp>
      <p:sp>
        <p:nvSpPr>
          <p:cNvPr id="170" name="TextBox 169"/>
          <p:cNvSpPr txBox="1"/>
          <p:nvPr/>
        </p:nvSpPr>
        <p:spPr>
          <a:xfrm>
            <a:off x="2789100" y="5523002"/>
            <a:ext cx="820000" cy="232797"/>
          </a:xfrm>
          <a:prstGeom prst="rect">
            <a:avLst/>
          </a:prstGeom>
          <a:noFill/>
        </p:spPr>
        <p:txBody>
          <a:bodyPr wrap="square" lIns="0" tIns="0" rIns="0" bIns="0" anchor="ctr"/>
          <a:lstStyle/>
          <a:p>
            <a:pPr algn="l"/>
            <a:r>
              <a:rPr lang="en-US" sz="625" b="0" i="0">
                <a:solidFill>
                  <a:srgbClr val="333231"/>
                </a:solidFill>
              </a:rPr>
              <a:t>Watsco</a:t>
            </a:r>
          </a:p>
        </p:txBody>
      </p:sp>
      <p:sp>
        <p:nvSpPr>
          <p:cNvPr id="171" name="Rectangle 170"/>
          <p:cNvSpPr/>
          <p:nvPr/>
        </p:nvSpPr>
        <p:spPr>
          <a:xfrm>
            <a:off x="3791125" y="5574217"/>
            <a:ext cx="32154" cy="130366"/>
          </a:xfrm>
          <a:prstGeom prst="rect">
            <a:avLst/>
          </a:prstGeom>
          <a:solidFill>
            <a:srgbClr val="8C6239"/>
          </a:solidFill>
          <a:ln>
            <a:noFill/>
          </a:ln>
        </p:spPr>
        <p:txBody>
          <a:bodyPr rtlCol="0" anchor="ctr"/>
          <a:lstStyle/>
          <a:p>
            <a:pPr algn="ctr"/>
            <a:endParaRPr/>
          </a:p>
        </p:txBody>
      </p:sp>
      <p:sp>
        <p:nvSpPr>
          <p:cNvPr id="172" name="TextBox 171"/>
          <p:cNvSpPr txBox="1"/>
          <p:nvPr/>
        </p:nvSpPr>
        <p:spPr>
          <a:xfrm>
            <a:off x="3843279" y="5523002"/>
            <a:ext cx="440000" cy="232797"/>
          </a:xfrm>
          <a:prstGeom prst="rect">
            <a:avLst/>
          </a:prstGeom>
          <a:noFill/>
        </p:spPr>
        <p:txBody>
          <a:bodyPr wrap="square" lIns="0" tIns="0" rIns="0" bIns="0" anchor="ctr"/>
          <a:lstStyle/>
          <a:p>
            <a:pPr algn="l"/>
            <a:r>
              <a:rPr lang="en-US" sz="600" b="1" i="0">
                <a:solidFill>
                  <a:srgbClr val="1B1A1A"/>
                </a:solidFill>
              </a:rPr>
              <a:t>2.0%</a:t>
            </a:r>
          </a:p>
        </p:txBody>
      </p:sp>
      <p:sp>
        <p:nvSpPr>
          <p:cNvPr id="173" name="TextBox 172"/>
          <p:cNvSpPr txBox="1"/>
          <p:nvPr/>
        </p:nvSpPr>
        <p:spPr>
          <a:xfrm>
            <a:off x="2789100" y="5755799"/>
            <a:ext cx="820000" cy="232797"/>
          </a:xfrm>
          <a:prstGeom prst="rect">
            <a:avLst/>
          </a:prstGeom>
          <a:noFill/>
        </p:spPr>
        <p:txBody>
          <a:bodyPr wrap="square" lIns="0" tIns="0" rIns="0" bIns="0" anchor="ctr"/>
          <a:lstStyle/>
          <a:p>
            <a:pPr algn="l"/>
            <a:r>
              <a:rPr lang="en-US" sz="625" b="0" i="0">
                <a:solidFill>
                  <a:srgbClr val="333231"/>
                </a:solidFill>
              </a:rPr>
              <a:t>Flowserve</a:t>
            </a:r>
          </a:p>
        </p:txBody>
      </p:sp>
      <p:sp>
        <p:nvSpPr>
          <p:cNvPr id="174" name="Rectangle 173"/>
          <p:cNvSpPr/>
          <p:nvPr/>
        </p:nvSpPr>
        <p:spPr>
          <a:xfrm>
            <a:off x="3765402" y="5807014"/>
            <a:ext cx="25723" cy="130366"/>
          </a:xfrm>
          <a:prstGeom prst="rect">
            <a:avLst/>
          </a:prstGeom>
          <a:solidFill>
            <a:srgbClr val="1B1A1A"/>
          </a:solidFill>
          <a:ln>
            <a:noFill/>
          </a:ln>
        </p:spPr>
        <p:txBody>
          <a:bodyPr rtlCol="0" anchor="ctr"/>
          <a:lstStyle/>
          <a:p>
            <a:pPr algn="ctr"/>
            <a:endParaRPr/>
          </a:p>
        </p:txBody>
      </p:sp>
      <p:sp>
        <p:nvSpPr>
          <p:cNvPr id="175" name="TextBox 174"/>
          <p:cNvSpPr txBox="1"/>
          <p:nvPr/>
        </p:nvSpPr>
        <p:spPr>
          <a:xfrm>
            <a:off x="3305402" y="5755799"/>
            <a:ext cx="440000" cy="232797"/>
          </a:xfrm>
          <a:prstGeom prst="rect">
            <a:avLst/>
          </a:prstGeom>
          <a:noFill/>
        </p:spPr>
        <p:txBody>
          <a:bodyPr wrap="square" lIns="0" tIns="0" rIns="0" bIns="0" anchor="ctr"/>
          <a:lstStyle/>
          <a:p>
            <a:pPr algn="r"/>
            <a:r>
              <a:rPr lang="en-US" sz="600" b="1" i="0">
                <a:solidFill>
                  <a:srgbClr val="1B1A1A"/>
                </a:solidFill>
              </a:rPr>
              <a:t>-1.6%</a:t>
            </a:r>
          </a:p>
        </p:txBody>
      </p:sp>
      <p:sp>
        <p:nvSpPr>
          <p:cNvPr id="176" name="TextBox 175"/>
          <p:cNvSpPr txBox="1"/>
          <p:nvPr/>
        </p:nvSpPr>
        <p:spPr>
          <a:xfrm>
            <a:off x="2789100" y="5988596"/>
            <a:ext cx="820000" cy="232797"/>
          </a:xfrm>
          <a:prstGeom prst="rect">
            <a:avLst/>
          </a:prstGeom>
          <a:noFill/>
        </p:spPr>
        <p:txBody>
          <a:bodyPr wrap="square" lIns="0" tIns="0" rIns="0" bIns="0" anchor="ctr"/>
          <a:lstStyle/>
          <a:p>
            <a:pPr algn="l"/>
            <a:r>
              <a:rPr lang="en-US" sz="625" b="0" i="0">
                <a:solidFill>
                  <a:srgbClr val="333231"/>
                </a:solidFill>
              </a:rPr>
              <a:t>Builders FirstSource</a:t>
            </a:r>
          </a:p>
        </p:txBody>
      </p:sp>
      <p:sp>
        <p:nvSpPr>
          <p:cNvPr id="177" name="Rectangle 176"/>
          <p:cNvSpPr/>
          <p:nvPr/>
        </p:nvSpPr>
        <p:spPr>
          <a:xfrm>
            <a:off x="3649646" y="6039811"/>
            <a:ext cx="141479" cy="130366"/>
          </a:xfrm>
          <a:prstGeom prst="rect">
            <a:avLst/>
          </a:prstGeom>
          <a:solidFill>
            <a:srgbClr val="8C6239"/>
          </a:solidFill>
          <a:ln>
            <a:noFill/>
          </a:ln>
        </p:spPr>
        <p:txBody>
          <a:bodyPr rtlCol="0" anchor="ctr"/>
          <a:lstStyle/>
          <a:p>
            <a:pPr algn="ctr"/>
            <a:endParaRPr/>
          </a:p>
        </p:txBody>
      </p:sp>
      <p:sp>
        <p:nvSpPr>
          <p:cNvPr id="178" name="TextBox 177"/>
          <p:cNvSpPr txBox="1"/>
          <p:nvPr/>
        </p:nvSpPr>
        <p:spPr>
          <a:xfrm>
            <a:off x="3189646" y="5988596"/>
            <a:ext cx="440000" cy="232797"/>
          </a:xfrm>
          <a:prstGeom prst="rect">
            <a:avLst/>
          </a:prstGeom>
          <a:noFill/>
        </p:spPr>
        <p:txBody>
          <a:bodyPr wrap="square" lIns="0" tIns="0" rIns="0" bIns="0" anchor="ctr"/>
          <a:lstStyle/>
          <a:p>
            <a:pPr algn="r"/>
            <a:r>
              <a:rPr lang="en-US" sz="600" b="1" i="0">
                <a:solidFill>
                  <a:srgbClr val="1B1A1A"/>
                </a:solidFill>
              </a:rPr>
              <a:t>-8.8%</a:t>
            </a:r>
          </a:p>
        </p:txBody>
      </p:sp>
      <p:sp>
        <p:nvSpPr>
          <p:cNvPr id="179" name="TextBox 178"/>
          <p:cNvSpPr txBox="1"/>
          <p:nvPr/>
        </p:nvSpPr>
        <p:spPr>
          <a:xfrm>
            <a:off x="2789100" y="6221393"/>
            <a:ext cx="820000" cy="232797"/>
          </a:xfrm>
          <a:prstGeom prst="rect">
            <a:avLst/>
          </a:prstGeom>
          <a:noFill/>
        </p:spPr>
        <p:txBody>
          <a:bodyPr wrap="square" lIns="0" tIns="0" rIns="0" bIns="0" anchor="ctr"/>
          <a:lstStyle/>
          <a:p>
            <a:pPr algn="l"/>
            <a:r>
              <a:rPr lang="en-US" sz="625" b="0" i="0">
                <a:solidFill>
                  <a:srgbClr val="333231"/>
                </a:solidFill>
              </a:rPr>
              <a:t>Primoris Services</a:t>
            </a:r>
          </a:p>
        </p:txBody>
      </p:sp>
      <p:sp>
        <p:nvSpPr>
          <p:cNvPr id="180" name="Rectangle 179"/>
          <p:cNvSpPr/>
          <p:nvPr/>
        </p:nvSpPr>
        <p:spPr>
          <a:xfrm>
            <a:off x="3619100" y="6272608"/>
            <a:ext cx="172025" cy="130366"/>
          </a:xfrm>
          <a:prstGeom prst="rect">
            <a:avLst/>
          </a:prstGeom>
          <a:solidFill>
            <a:srgbClr val="7A746E"/>
          </a:solidFill>
          <a:ln>
            <a:noFill/>
          </a:ln>
        </p:spPr>
        <p:txBody>
          <a:bodyPr rtlCol="0" anchor="ctr"/>
          <a:lstStyle/>
          <a:p>
            <a:pPr algn="ctr"/>
            <a:endParaRPr/>
          </a:p>
        </p:txBody>
      </p:sp>
      <p:sp>
        <p:nvSpPr>
          <p:cNvPr id="181" name="TextBox 180"/>
          <p:cNvSpPr txBox="1"/>
          <p:nvPr/>
        </p:nvSpPr>
        <p:spPr>
          <a:xfrm>
            <a:off x="3159100" y="6221393"/>
            <a:ext cx="440000" cy="232797"/>
          </a:xfrm>
          <a:prstGeom prst="rect">
            <a:avLst/>
          </a:prstGeom>
          <a:noFill/>
        </p:spPr>
        <p:txBody>
          <a:bodyPr wrap="square" lIns="0" tIns="0" rIns="0" bIns="0" anchor="ctr"/>
          <a:lstStyle/>
          <a:p>
            <a:pPr algn="r"/>
            <a:r>
              <a:rPr lang="en-US" sz="600" b="1" i="0">
                <a:solidFill>
                  <a:srgbClr val="1B1A1A"/>
                </a:solidFill>
              </a:rPr>
              <a:t>-10.7%</a:t>
            </a:r>
          </a:p>
        </p:txBody>
      </p:sp>
      <p:sp>
        <p:nvSpPr>
          <p:cNvPr id="182" name="TextBox 181"/>
          <p:cNvSpPr txBox="1"/>
          <p:nvPr/>
        </p:nvSpPr>
        <p:spPr>
          <a:xfrm>
            <a:off x="419100" y="6494200"/>
            <a:ext cx="4700000" cy="420000"/>
          </a:xfrm>
          <a:prstGeom prst="rect">
            <a:avLst/>
          </a:prstGeom>
          <a:noFill/>
        </p:spPr>
        <p:txBody>
          <a:bodyPr wrap="square" lIns="0" tIns="0" rIns="0" bIns="0" anchor="t"/>
          <a:lstStyle/>
          <a:p>
            <a:pPr algn="l">
              <a:lnSpc>
                <a:spcPts val="830"/>
              </a:lnSpc>
            </a:pPr>
            <a:r>
              <a:rPr lang="en-US" sz="625" b="0" i="0">
                <a:solidFill>
                  <a:srgbClr val="6F6A66"/>
                </a:solidFill>
              </a:rPr>
              <a:t>ITT growth is acquisition-driven (organic 12.7%). Werner reflects its second-quarter figure. MSC reports a quarter ended May 30. Primoris has an accounting review noted in its filings.</a:t>
            </a:r>
          </a:p>
        </p:txBody>
      </p:sp>
      <p:cxnSp>
        <p:nvCxnSpPr>
          <p:cNvPr id="183" name="Connector 182"/>
          <p:cNvCxnSpPr/>
          <p:nvPr/>
        </p:nvCxnSpPr>
        <p:spPr>
          <a:xfrm>
            <a:off x="5199100" y="1238250"/>
            <a:ext cx="0" cy="5695950"/>
          </a:xfrm>
          <a:prstGeom prst="line">
            <a:avLst/>
          </a:prstGeom>
          <a:ln w="9525">
            <a:solidFill>
              <a:srgbClr val="E3DCD3"/>
            </a:solidFill>
          </a:ln>
        </p:spPr>
      </p:cxnSp>
      <p:sp>
        <p:nvSpPr>
          <p:cNvPr id="184" name="TextBox 183"/>
          <p:cNvSpPr txBox="1"/>
          <p:nvPr/>
        </p:nvSpPr>
        <p:spPr>
          <a:xfrm>
            <a:off x="5279100" y="1238250"/>
            <a:ext cx="4360200" cy="150000"/>
          </a:xfrm>
          <a:prstGeom prst="rect">
            <a:avLst/>
          </a:prstGeom>
          <a:noFill/>
        </p:spPr>
        <p:txBody>
          <a:bodyPr wrap="square" lIns="0" tIns="0" rIns="0" bIns="0" anchor="t"/>
          <a:lstStyle/>
          <a:p>
            <a:pPr algn="l"/>
            <a:r>
              <a:rPr lang="en-US" sz="675" b="1" i="0" spc="200">
                <a:solidFill>
                  <a:srgbClr val="8C6239"/>
                </a:solidFill>
              </a:rPr>
              <a:t>POWER AND DATA CENTER DEMAND</a:t>
            </a:r>
          </a:p>
        </p:txBody>
      </p:sp>
      <p:sp>
        <p:nvSpPr>
          <p:cNvPr id="185" name="TextBox 184"/>
          <p:cNvSpPr txBox="1"/>
          <p:nvPr/>
        </p:nvSpPr>
        <p:spPr>
          <a:xfrm>
            <a:off x="5279100" y="14282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“We have now posted four consecutive quarters of double-digit sales growth fueled by data centers.”</a:t>
            </a:r>
          </a:p>
          <a:p>
            <a:pPr algn="l">
              <a:lnSpc>
                <a:spcPts val="850"/>
              </a:lnSpc>
              <a:spcBef>
                <a:spcPts val="100"/>
              </a:spcBef>
            </a:pPr>
            <a:r>
              <a:rPr lang="en-US" sz="650" b="0" i="0">
                <a:solidFill>
                  <a:srgbClr val="6F6A66"/>
                </a:solidFill>
              </a:rPr>
              <a:t>John Engel, WESCO</a:t>
            </a:r>
          </a:p>
        </p:txBody>
      </p:sp>
      <p:sp>
        <p:nvSpPr>
          <p:cNvPr id="186" name="TextBox 185"/>
          <p:cNvSpPr txBox="1"/>
          <p:nvPr/>
        </p:nvSpPr>
        <p:spPr>
          <a:xfrm>
            <a:off x="5279100" y="20682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“Demand across our end markets remains resilient, led by power, nuclear, and energy security investments.”</a:t>
            </a:r>
          </a:p>
          <a:p>
            <a:pPr algn="l">
              <a:lnSpc>
                <a:spcPts val="850"/>
              </a:lnSpc>
              <a:spcBef>
                <a:spcPts val="100"/>
              </a:spcBef>
            </a:pPr>
            <a:r>
              <a:rPr lang="en-US" sz="650" b="0" i="0">
                <a:solidFill>
                  <a:srgbClr val="6F6A66"/>
                </a:solidFill>
              </a:rPr>
              <a:t>Scott Rowe, Flowserve</a:t>
            </a:r>
          </a:p>
        </p:txBody>
      </p:sp>
      <p:sp>
        <p:nvSpPr>
          <p:cNvPr id="187" name="TextBox 186"/>
          <p:cNvSpPr txBox="1"/>
          <p:nvPr/>
        </p:nvSpPr>
        <p:spPr>
          <a:xfrm>
            <a:off x="5279100" y="2708250"/>
            <a:ext cx="4360200" cy="300000"/>
          </a:xfrm>
          <a:prstGeom prst="rect">
            <a:avLst/>
          </a:prstGeom>
          <a:noFill/>
        </p:spPr>
        <p:txBody>
          <a:bodyPr wrap="square" lIns="0" tIns="0" rIns="0" bIns="0" anchor="t"/>
          <a:lstStyle/>
          <a:p>
            <a:pPr algn="l">
              <a:lnSpc>
                <a:spcPts val="950"/>
              </a:lnSpc>
            </a:pPr>
            <a:r>
              <a:rPr lang="en-US" sz="700" b="1" i="0">
                <a:solidFill>
                  <a:srgbClr val="8C6239"/>
                </a:solidFill>
              </a:rPr>
              <a:t>WESCO grew sales 13.0%, while Flowserve reported a 1.6% decline in its latest quarter.</a:t>
            </a:r>
          </a:p>
        </p:txBody>
      </p:sp>
      <p:cxnSp>
        <p:nvCxnSpPr>
          <p:cNvPr id="188" name="Connector 187"/>
          <p:cNvCxnSpPr/>
          <p:nvPr/>
        </p:nvCxnSpPr>
        <p:spPr>
          <a:xfrm>
            <a:off x="5279100" y="3076900"/>
            <a:ext cx="4360200" cy="0"/>
          </a:xfrm>
          <a:prstGeom prst="line">
            <a:avLst/>
          </a:prstGeom>
          <a:ln w="9525">
            <a:solidFill>
              <a:srgbClr val="E3DCD3"/>
            </a:solidFill>
          </a:ln>
        </p:spPr>
      </p:cxnSp>
      <p:sp>
        <p:nvSpPr>
          <p:cNvPr id="189" name="TextBox 188"/>
          <p:cNvSpPr txBox="1"/>
          <p:nvPr/>
        </p:nvSpPr>
        <p:spPr>
          <a:xfrm>
            <a:off x="5279100" y="3136900"/>
            <a:ext cx="4360200" cy="150000"/>
          </a:xfrm>
          <a:prstGeom prst="rect">
            <a:avLst/>
          </a:prstGeom>
          <a:noFill/>
        </p:spPr>
        <p:txBody>
          <a:bodyPr wrap="square" lIns="0" tIns="0" rIns="0" bIns="0" anchor="t"/>
          <a:lstStyle/>
          <a:p>
            <a:pPr algn="l"/>
            <a:r>
              <a:rPr lang="en-US" sz="675" b="1" i="0" spc="200">
                <a:solidFill>
                  <a:srgbClr val="8C6239"/>
                </a:solidFill>
              </a:rPr>
              <a:t>BACKLOG AND SERVICES</a:t>
            </a:r>
          </a:p>
        </p:txBody>
      </p:sp>
      <p:sp>
        <p:nvSpPr>
          <p:cNvPr id="190" name="TextBox 189"/>
          <p:cNvSpPr txBox="1"/>
          <p:nvPr/>
        </p:nvSpPr>
        <p:spPr>
          <a:xfrm>
            <a:off x="5279100" y="332690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“Our Remaining Performance Obligations are once again at a record level.”</a:t>
            </a:r>
          </a:p>
          <a:p>
            <a:pPr algn="l">
              <a:lnSpc>
                <a:spcPts val="850"/>
              </a:lnSpc>
              <a:spcBef>
                <a:spcPts val="100"/>
              </a:spcBef>
            </a:pPr>
            <a:r>
              <a:rPr lang="en-US" sz="650" b="0" i="0">
                <a:solidFill>
                  <a:srgbClr val="6F6A66"/>
                </a:solidFill>
              </a:rPr>
              <a:t>Tony Guzzi, EMCOR</a:t>
            </a:r>
          </a:p>
        </p:txBody>
      </p:sp>
      <p:sp>
        <p:nvSpPr>
          <p:cNvPr id="191" name="TextBox 190"/>
          <p:cNvSpPr txBox="1"/>
          <p:nvPr/>
        </p:nvSpPr>
        <p:spPr>
          <a:xfrm>
            <a:off x="5279100" y="396690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“Within the segment, Technical Services grew revenue 18% on strong demand for disposal and recycling services.”</a:t>
            </a:r>
          </a:p>
          <a:p>
            <a:pPr algn="l">
              <a:lnSpc>
                <a:spcPts val="850"/>
              </a:lnSpc>
              <a:spcBef>
                <a:spcPts val="100"/>
              </a:spcBef>
            </a:pPr>
            <a:r>
              <a:rPr lang="en-US" sz="650" b="0" i="0">
                <a:solidFill>
                  <a:srgbClr val="6F6A66"/>
                </a:solidFill>
              </a:rPr>
              <a:t>Eric Gerstenberg, Co-CEO, Clean Harbors</a:t>
            </a:r>
          </a:p>
        </p:txBody>
      </p:sp>
      <p:sp>
        <p:nvSpPr>
          <p:cNvPr id="192" name="TextBox 191"/>
          <p:cNvSpPr txBox="1"/>
          <p:nvPr/>
        </p:nvSpPr>
        <p:spPr>
          <a:xfrm>
            <a:off x="5279100" y="4606900"/>
            <a:ext cx="4360200" cy="300000"/>
          </a:xfrm>
          <a:prstGeom prst="rect">
            <a:avLst/>
          </a:prstGeom>
          <a:noFill/>
        </p:spPr>
        <p:txBody>
          <a:bodyPr wrap="square" lIns="0" tIns="0" rIns="0" bIns="0" anchor="t"/>
          <a:lstStyle/>
          <a:p>
            <a:pPr algn="l">
              <a:lnSpc>
                <a:spcPts val="950"/>
              </a:lnSpc>
            </a:pPr>
            <a:r>
              <a:rPr lang="en-US" sz="700" b="1" i="0">
                <a:solidFill>
                  <a:srgbClr val="8C6239"/>
                </a:solidFill>
              </a:rPr>
              <a:t>EMCOR grew revenue 19.8% and Clean Harbors grew 12%.</a:t>
            </a:r>
          </a:p>
        </p:txBody>
      </p:sp>
      <p:cxnSp>
        <p:nvCxnSpPr>
          <p:cNvPr id="193" name="Connector 192"/>
          <p:cNvCxnSpPr/>
          <p:nvPr/>
        </p:nvCxnSpPr>
        <p:spPr>
          <a:xfrm>
            <a:off x="5279100" y="4975550"/>
            <a:ext cx="4360200" cy="0"/>
          </a:xfrm>
          <a:prstGeom prst="line">
            <a:avLst/>
          </a:prstGeom>
          <a:ln w="9525">
            <a:solidFill>
              <a:srgbClr val="E3DCD3"/>
            </a:solidFill>
          </a:ln>
        </p:spPr>
      </p:cxnSp>
      <p:sp>
        <p:nvSpPr>
          <p:cNvPr id="194" name="TextBox 193"/>
          <p:cNvSpPr txBox="1"/>
          <p:nvPr/>
        </p:nvSpPr>
        <p:spPr>
          <a:xfrm>
            <a:off x="5279100" y="5035550"/>
            <a:ext cx="4360200" cy="150000"/>
          </a:xfrm>
          <a:prstGeom prst="rect">
            <a:avLst/>
          </a:prstGeom>
          <a:noFill/>
        </p:spPr>
        <p:txBody>
          <a:bodyPr wrap="square" lIns="0" tIns="0" rIns="0" bIns="0" anchor="t"/>
          <a:lstStyle/>
          <a:p>
            <a:pPr algn="l"/>
            <a:r>
              <a:rPr lang="en-US" sz="675" b="1" i="0" spc="200">
                <a:solidFill>
                  <a:srgbClr val="8C6239"/>
                </a:solidFill>
              </a:rPr>
              <a:t>DISTRIBUTION AND FREIGHT PRICING</a:t>
            </a:r>
          </a:p>
        </p:txBody>
      </p:sp>
      <p:sp>
        <p:nvSpPr>
          <p:cNvPr id="195" name="TextBox 194"/>
          <p:cNvSpPr txBox="1"/>
          <p:nvPr/>
        </p:nvSpPr>
        <p:spPr>
          <a:xfrm>
            <a:off x="5279100" y="52255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“That said, the demand recovery appears durable and increasingly influenced by structural and secular tailwinds.”</a:t>
            </a:r>
          </a:p>
          <a:p>
            <a:pPr algn="l">
              <a:lnSpc>
                <a:spcPts val="850"/>
              </a:lnSpc>
              <a:spcBef>
                <a:spcPts val="100"/>
              </a:spcBef>
            </a:pPr>
            <a:r>
              <a:rPr lang="en-US" sz="650" b="0" i="0">
                <a:solidFill>
                  <a:srgbClr val="6F6A66"/>
                </a:solidFill>
              </a:rPr>
              <a:t>Neil Schrimsher, Applied Industrial</a:t>
            </a:r>
          </a:p>
        </p:txBody>
      </p:sp>
      <p:sp>
        <p:nvSpPr>
          <p:cNvPr id="196" name="TextBox 195"/>
          <p:cNvSpPr txBox="1"/>
          <p:nvPr/>
        </p:nvSpPr>
        <p:spPr>
          <a:xfrm>
            <a:off x="5279100" y="58655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“We are seeing the strongest pricing improvement in the parts of our business where the industry is most capacity constrained.”</a:t>
            </a:r>
          </a:p>
          <a:p>
            <a:pPr algn="l">
              <a:lnSpc>
                <a:spcPts val="850"/>
              </a:lnSpc>
              <a:spcBef>
                <a:spcPts val="100"/>
              </a:spcBef>
            </a:pPr>
            <a:r>
              <a:rPr lang="en-US" sz="650" b="0" i="0">
                <a:solidFill>
                  <a:srgbClr val="6F6A66"/>
                </a:solidFill>
              </a:rPr>
              <a:t>Jim Filter, Schneider</a:t>
            </a:r>
          </a:p>
        </p:txBody>
      </p:sp>
      <p:sp>
        <p:nvSpPr>
          <p:cNvPr id="197" name="TextBox 196"/>
          <p:cNvSpPr txBox="1"/>
          <p:nvPr/>
        </p:nvSpPr>
        <p:spPr>
          <a:xfrm>
            <a:off x="5279100" y="6505550"/>
            <a:ext cx="4360200" cy="300000"/>
          </a:xfrm>
          <a:prstGeom prst="rect">
            <a:avLst/>
          </a:prstGeom>
          <a:noFill/>
        </p:spPr>
        <p:txBody>
          <a:bodyPr wrap="square" lIns="0" tIns="0" rIns="0" bIns="0" anchor="t"/>
          <a:lstStyle/>
          <a:p>
            <a:pPr algn="l">
              <a:lnSpc>
                <a:spcPts val="950"/>
              </a:lnSpc>
            </a:pPr>
            <a:r>
              <a:rPr lang="en-US" sz="700" b="1" i="0">
                <a:solidFill>
                  <a:srgbClr val="8C6239"/>
                </a:solidFill>
              </a:rPr>
              <a:t>Applied grew revenue 10.4% and Schneider grew 10%.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indicators are rising and so are the costs of serving it: steel is up 23%, diesel is up 68%, and the 10-year Treasury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capacity utilization (September 2026, from the G.17 release of October 16),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230000"/>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75.9%</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+0.2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230000"/>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230000"/>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230000"/>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230000"/>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230000"/>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230000"/>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230000"/>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20</a:t>
            </a:fld>
            <a:endParaRPr lang="en-US"/>
          </a:p>
        </p:txBody>
      </p:sp>
      <p:cxnSp>
        <p:nvCxnSpPr>
          <p:cNvPr id="86" name="Connector 85"/>
          <p:cNvCxnSpPr/>
          <p:nvPr/>
        </p:nvCxnSpPr>
        <p:spPr>
          <a:xfrm>
            <a:off x="457200" y="3478850"/>
            <a:ext cx="2143125" cy="0"/>
          </a:xfrm>
          <a:prstGeom prst="line">
            <a:avLst/>
          </a:prstGeom>
          <a:ln w="9525">
            <a:solidFill>
              <a:srgbClr val="E3DCD3"/>
            </a:solidFill>
          </a:ln>
        </p:spPr>
      </p:cxnSp>
      <p:sp>
        <p:nvSpPr>
          <p:cNvPr id="87" name="TextBox 86"/>
          <p:cNvSpPr txBox="1"/>
          <p:nvPr/>
        </p:nvSpPr>
        <p:spPr>
          <a:xfrm>
            <a:off x="542925"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88" name="TextBox 87"/>
          <p:cNvSpPr txBox="1"/>
          <p:nvPr/>
        </p:nvSpPr>
        <p:spPr>
          <a:xfrm>
            <a:off x="542925" y="3628850"/>
            <a:ext cx="700000" cy="150000"/>
          </a:xfrm>
          <a:prstGeom prst="rect">
            <a:avLst/>
          </a:prstGeom>
          <a:noFill/>
        </p:spPr>
        <p:txBody>
          <a:bodyPr wrap="square" lIns="0" tIns="0" rIns="0" bIns="0" anchor="t"/>
          <a:lstStyle/>
          <a:p>
            <a:pPr algn="l"/>
            <a:r>
              <a:rPr lang="en-US" sz="825" b="1" i="0">
                <a:solidFill>
                  <a:srgbClr val="1B1A1A"/>
                </a:solidFill>
                <a:latin typeface="+mj-lt"/>
              </a:rPr>
              <a:t>+14.1%</a:t>
            </a:r>
          </a:p>
        </p:txBody>
      </p:sp>
      <p:sp>
        <p:nvSpPr>
          <p:cNvPr id="89" name="TextBox 88"/>
          <p:cNvSpPr txBox="1"/>
          <p:nvPr/>
        </p:nvSpPr>
        <p:spPr>
          <a:xfrm>
            <a:off x="1257300"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90" name="TextBox 89"/>
          <p:cNvSpPr txBox="1"/>
          <p:nvPr/>
        </p:nvSpPr>
        <p:spPr>
          <a:xfrm>
            <a:off x="1257300" y="3628850"/>
            <a:ext cx="700000" cy="150000"/>
          </a:xfrm>
          <a:prstGeom prst="rect">
            <a:avLst/>
          </a:prstGeom>
          <a:noFill/>
        </p:spPr>
        <p:txBody>
          <a:bodyPr wrap="square" lIns="0" tIns="0" rIns="0" bIns="0" anchor="t"/>
          <a:lstStyle/>
          <a:p>
            <a:pPr algn="l"/>
            <a:r>
              <a:rPr lang="en-US" sz="825" b="1" i="0">
                <a:solidFill>
                  <a:srgbClr val="1B1A1A"/>
                </a:solidFill>
                <a:latin typeface="+mj-lt"/>
              </a:rPr>
              <a:t>+17.8%</a:t>
            </a:r>
          </a:p>
        </p:txBody>
      </p:sp>
      <p:sp>
        <p:nvSpPr>
          <p:cNvPr id="91" name="TextBox 90"/>
          <p:cNvSpPr txBox="1"/>
          <p:nvPr/>
        </p:nvSpPr>
        <p:spPr>
          <a:xfrm>
            <a:off x="1971675"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92" name="TextBox 91"/>
          <p:cNvSpPr txBox="1"/>
          <p:nvPr/>
        </p:nvSpPr>
        <p:spPr>
          <a:xfrm>
            <a:off x="1971675" y="3628850"/>
            <a:ext cx="700000" cy="150000"/>
          </a:xfrm>
          <a:prstGeom prst="rect">
            <a:avLst/>
          </a:prstGeom>
          <a:noFill/>
        </p:spPr>
        <p:txBody>
          <a:bodyPr wrap="square" lIns="0" tIns="0" rIns="0" bIns="0" anchor="t"/>
          <a:lstStyle/>
          <a:p>
            <a:pPr algn="l"/>
            <a:r>
              <a:rPr lang="en-US" sz="825" b="1" i="0">
                <a:solidFill>
                  <a:srgbClr val="1B1A1A"/>
                </a:solidFill>
                <a:latin typeface="+mj-lt"/>
              </a:rPr>
              <a:t>+21.4%</a:t>
            </a:r>
          </a:p>
        </p:txBody>
      </p:sp>
      <p:cxnSp>
        <p:nvCxnSpPr>
          <p:cNvPr id="93" name="Connector 92"/>
          <p:cNvCxnSpPr/>
          <p:nvPr/>
        </p:nvCxnSpPr>
        <p:spPr>
          <a:xfrm>
            <a:off x="2790825" y="3478850"/>
            <a:ext cx="2143125" cy="0"/>
          </a:xfrm>
          <a:prstGeom prst="line">
            <a:avLst/>
          </a:prstGeom>
          <a:ln w="9525">
            <a:solidFill>
              <a:srgbClr val="E3DCD3"/>
            </a:solidFill>
          </a:ln>
        </p:spPr>
      </p:cxnSp>
      <p:sp>
        <p:nvSpPr>
          <p:cNvPr id="94" name="TextBox 93"/>
          <p:cNvSpPr txBox="1"/>
          <p:nvPr/>
        </p:nvSpPr>
        <p:spPr>
          <a:xfrm>
            <a:off x="2876550"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95" name="TextBox 94"/>
          <p:cNvSpPr txBox="1"/>
          <p:nvPr/>
        </p:nvSpPr>
        <p:spPr>
          <a:xfrm>
            <a:off x="2876550" y="3628850"/>
            <a:ext cx="700000" cy="150000"/>
          </a:xfrm>
          <a:prstGeom prst="rect">
            <a:avLst/>
          </a:prstGeom>
          <a:noFill/>
        </p:spPr>
        <p:txBody>
          <a:bodyPr wrap="square" lIns="0" tIns="0" rIns="0" bIns="0" anchor="t"/>
          <a:lstStyle/>
          <a:p>
            <a:pPr algn="l"/>
            <a:r>
              <a:rPr lang="en-US" sz="825" b="1" i="0">
                <a:solidFill>
                  <a:srgbClr val="1B1A1A"/>
                </a:solidFill>
                <a:latin typeface="+mj-lt"/>
              </a:rPr>
              <a:t>+0.2 pts</a:t>
            </a:r>
          </a:p>
        </p:txBody>
      </p:sp>
      <p:sp>
        <p:nvSpPr>
          <p:cNvPr id="96" name="TextBox 95"/>
          <p:cNvSpPr txBox="1"/>
          <p:nvPr/>
        </p:nvSpPr>
        <p:spPr>
          <a:xfrm>
            <a:off x="3590925"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97" name="TextBox 96"/>
          <p:cNvSpPr txBox="1"/>
          <p:nvPr/>
        </p:nvSpPr>
        <p:spPr>
          <a:xfrm>
            <a:off x="3590925" y="3628850"/>
            <a:ext cx="700000" cy="150000"/>
          </a:xfrm>
          <a:prstGeom prst="rect">
            <a:avLst/>
          </a:prstGeom>
          <a:noFill/>
        </p:spPr>
        <p:txBody>
          <a:bodyPr wrap="square" lIns="0" tIns="0" rIns="0" bIns="0" anchor="t"/>
          <a:lstStyle/>
          <a:p>
            <a:pPr algn="l"/>
            <a:r>
              <a:rPr lang="en-US" sz="825" b="1" i="0">
                <a:solidFill>
                  <a:srgbClr val="1B1A1A"/>
                </a:solidFill>
                <a:latin typeface="+mj-lt"/>
              </a:rPr>
              <a:t>−0.7 pts</a:t>
            </a:r>
          </a:p>
        </p:txBody>
      </p:sp>
      <p:sp>
        <p:nvSpPr>
          <p:cNvPr id="98" name="TextBox 97"/>
          <p:cNvSpPr txBox="1"/>
          <p:nvPr/>
        </p:nvSpPr>
        <p:spPr>
          <a:xfrm>
            <a:off x="4305300"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99" name="TextBox 98"/>
          <p:cNvSpPr txBox="1"/>
          <p:nvPr/>
        </p:nvSpPr>
        <p:spPr>
          <a:xfrm>
            <a:off x="4305300" y="3628850"/>
            <a:ext cx="700000" cy="150000"/>
          </a:xfrm>
          <a:prstGeom prst="rect">
            <a:avLst/>
          </a:prstGeom>
          <a:noFill/>
        </p:spPr>
        <p:txBody>
          <a:bodyPr wrap="square" lIns="0" tIns="0" rIns="0" bIns="0" anchor="t"/>
          <a:lstStyle/>
          <a:p>
            <a:pPr algn="l"/>
            <a:r>
              <a:rPr lang="en-US" sz="825" b="1" i="0">
                <a:solidFill>
                  <a:srgbClr val="1B1A1A"/>
                </a:solidFill>
                <a:latin typeface="+mj-lt"/>
              </a:rPr>
              <a:t>−2.1 pts</a:t>
            </a:r>
          </a:p>
        </p:txBody>
      </p:sp>
      <p:cxnSp>
        <p:nvCxnSpPr>
          <p:cNvPr id="100" name="Connector 99"/>
          <p:cNvCxnSpPr/>
          <p:nvPr/>
        </p:nvCxnSpPr>
        <p:spPr>
          <a:xfrm>
            <a:off x="5124450" y="3478850"/>
            <a:ext cx="2143125" cy="0"/>
          </a:xfrm>
          <a:prstGeom prst="line">
            <a:avLst/>
          </a:prstGeom>
          <a:ln w="9525">
            <a:solidFill>
              <a:srgbClr val="E3DCD3"/>
            </a:solidFill>
          </a:ln>
        </p:spPr>
      </p:cxnSp>
      <p:sp>
        <p:nvSpPr>
          <p:cNvPr id="101" name="TextBox 100"/>
          <p:cNvSpPr txBox="1"/>
          <p:nvPr/>
        </p:nvSpPr>
        <p:spPr>
          <a:xfrm>
            <a:off x="5210175"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02" name="TextBox 101"/>
          <p:cNvSpPr txBox="1"/>
          <p:nvPr/>
        </p:nvSpPr>
        <p:spPr>
          <a:xfrm>
            <a:off x="5210175" y="3628850"/>
            <a:ext cx="700000" cy="150000"/>
          </a:xfrm>
          <a:prstGeom prst="rect">
            <a:avLst/>
          </a:prstGeom>
          <a:noFill/>
        </p:spPr>
        <p:txBody>
          <a:bodyPr wrap="square" lIns="0" tIns="0" rIns="0" bIns="0" anchor="t"/>
          <a:lstStyle/>
          <a:p>
            <a:pPr algn="l"/>
            <a:r>
              <a:rPr lang="en-US" sz="825" b="1" i="0">
                <a:solidFill>
                  <a:srgbClr val="1B1A1A"/>
                </a:solidFill>
                <a:latin typeface="+mj-lt"/>
              </a:rPr>
              <a:t>−1.7%</a:t>
            </a:r>
          </a:p>
        </p:txBody>
      </p:sp>
      <p:sp>
        <p:nvSpPr>
          <p:cNvPr id="103" name="TextBox 102"/>
          <p:cNvSpPr txBox="1"/>
          <p:nvPr/>
        </p:nvSpPr>
        <p:spPr>
          <a:xfrm>
            <a:off x="5924550"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04" name="TextBox 103"/>
          <p:cNvSpPr txBox="1"/>
          <p:nvPr/>
        </p:nvSpPr>
        <p:spPr>
          <a:xfrm>
            <a:off x="5924550" y="3628850"/>
            <a:ext cx="700000" cy="150000"/>
          </a:xfrm>
          <a:prstGeom prst="rect">
            <a:avLst/>
          </a:prstGeom>
          <a:noFill/>
        </p:spPr>
        <p:txBody>
          <a:bodyPr wrap="square" lIns="0" tIns="0" rIns="0" bIns="0" anchor="t"/>
          <a:lstStyle/>
          <a:p>
            <a:pPr algn="l"/>
            <a:r>
              <a:rPr lang="en-US" sz="825" b="1" i="0">
                <a:solidFill>
                  <a:srgbClr val="1B1A1A"/>
                </a:solidFill>
                <a:latin typeface="+mj-lt"/>
              </a:rPr>
              <a:t>+4.5%</a:t>
            </a:r>
          </a:p>
        </p:txBody>
      </p:sp>
      <p:sp>
        <p:nvSpPr>
          <p:cNvPr id="105" name="TextBox 104"/>
          <p:cNvSpPr txBox="1"/>
          <p:nvPr/>
        </p:nvSpPr>
        <p:spPr>
          <a:xfrm>
            <a:off x="6638925"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06" name="TextBox 105"/>
          <p:cNvSpPr txBox="1"/>
          <p:nvPr/>
        </p:nvSpPr>
        <p:spPr>
          <a:xfrm>
            <a:off x="6638925" y="3628850"/>
            <a:ext cx="700000" cy="150000"/>
          </a:xfrm>
          <a:prstGeom prst="rect">
            <a:avLst/>
          </a:prstGeom>
          <a:noFill/>
        </p:spPr>
        <p:txBody>
          <a:bodyPr wrap="square" lIns="0" tIns="0" rIns="0" bIns="0" anchor="t"/>
          <a:lstStyle/>
          <a:p>
            <a:pPr algn="l"/>
            <a:r>
              <a:rPr lang="en-US" sz="825" b="1" i="0">
                <a:solidFill>
                  <a:srgbClr val="1B1A1A"/>
                </a:solidFill>
                <a:latin typeface="+mj-lt"/>
              </a:rPr>
              <a:t>+30.5%</a:t>
            </a:r>
          </a:p>
        </p:txBody>
      </p:sp>
      <p:cxnSp>
        <p:nvCxnSpPr>
          <p:cNvPr id="107" name="Connector 106"/>
          <p:cNvCxnSpPr/>
          <p:nvPr/>
        </p:nvCxnSpPr>
        <p:spPr>
          <a:xfrm>
            <a:off x="7458075" y="3478850"/>
            <a:ext cx="2143125" cy="0"/>
          </a:xfrm>
          <a:prstGeom prst="line">
            <a:avLst/>
          </a:prstGeom>
          <a:ln w="9525">
            <a:solidFill>
              <a:srgbClr val="E3DCD3"/>
            </a:solidFill>
          </a:ln>
        </p:spPr>
      </p:cxnSp>
      <p:sp>
        <p:nvSpPr>
          <p:cNvPr id="108" name="TextBox 107"/>
          <p:cNvSpPr txBox="1"/>
          <p:nvPr/>
        </p:nvSpPr>
        <p:spPr>
          <a:xfrm>
            <a:off x="7543800"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09" name="TextBox 108"/>
          <p:cNvSpPr txBox="1"/>
          <p:nvPr/>
        </p:nvSpPr>
        <p:spPr>
          <a:xfrm>
            <a:off x="7543800" y="3628850"/>
            <a:ext cx="700000" cy="150000"/>
          </a:xfrm>
          <a:prstGeom prst="rect">
            <a:avLst/>
          </a:prstGeom>
          <a:noFill/>
        </p:spPr>
        <p:txBody>
          <a:bodyPr wrap="square" lIns="0" tIns="0" rIns="0" bIns="0" anchor="t"/>
          <a:lstStyle/>
          <a:p>
            <a:pPr algn="l"/>
            <a:r>
              <a:rPr lang="en-US" sz="825" b="1" i="0">
                <a:solidFill>
                  <a:srgbClr val="1B1A1A"/>
                </a:solidFill>
                <a:latin typeface="+mj-lt"/>
              </a:rPr>
              <a:t>−19.2%</a:t>
            </a:r>
          </a:p>
        </p:txBody>
      </p:sp>
      <p:sp>
        <p:nvSpPr>
          <p:cNvPr id="110" name="TextBox 109"/>
          <p:cNvSpPr txBox="1"/>
          <p:nvPr/>
        </p:nvSpPr>
        <p:spPr>
          <a:xfrm>
            <a:off x="8258175"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11" name="TextBox 110"/>
          <p:cNvSpPr txBox="1"/>
          <p:nvPr/>
        </p:nvSpPr>
        <p:spPr>
          <a:xfrm>
            <a:off x="8258175" y="3628850"/>
            <a:ext cx="700000" cy="150000"/>
          </a:xfrm>
          <a:prstGeom prst="rect">
            <a:avLst/>
          </a:prstGeom>
          <a:noFill/>
        </p:spPr>
        <p:txBody>
          <a:bodyPr wrap="square" lIns="0" tIns="0" rIns="0" bIns="0" anchor="t"/>
          <a:lstStyle/>
          <a:p>
            <a:pPr algn="l"/>
            <a:r>
              <a:rPr lang="en-US" sz="825" b="1" i="0">
                <a:solidFill>
                  <a:srgbClr val="1B1A1A"/>
                </a:solidFill>
                <a:latin typeface="+mj-lt"/>
              </a:rPr>
              <a:t>−17.3%</a:t>
            </a:r>
          </a:p>
        </p:txBody>
      </p:sp>
      <p:sp>
        <p:nvSpPr>
          <p:cNvPr id="112" name="TextBox 111"/>
          <p:cNvSpPr txBox="1"/>
          <p:nvPr/>
        </p:nvSpPr>
        <p:spPr>
          <a:xfrm>
            <a:off x="8972550"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13" name="TextBox 112"/>
          <p:cNvSpPr txBox="1"/>
          <p:nvPr/>
        </p:nvSpPr>
        <p:spPr>
          <a:xfrm>
            <a:off x="8972550" y="3628850"/>
            <a:ext cx="700000" cy="150000"/>
          </a:xfrm>
          <a:prstGeom prst="rect">
            <a:avLst/>
          </a:prstGeom>
          <a:noFill/>
        </p:spPr>
        <p:txBody>
          <a:bodyPr wrap="square" lIns="0" tIns="0" rIns="0" bIns="0" anchor="t"/>
          <a:lstStyle/>
          <a:p>
            <a:pPr algn="l"/>
            <a:r>
              <a:rPr lang="en-US" sz="825" b="1" i="0">
                <a:solidFill>
                  <a:srgbClr val="1B1A1A"/>
                </a:solidFill>
                <a:latin typeface="+mj-lt"/>
              </a:rPr>
              <a:t>+95.7%</a:t>
            </a:r>
          </a:p>
        </p:txBody>
      </p:sp>
      <p:cxnSp>
        <p:nvCxnSpPr>
          <p:cNvPr id="114" name="Connector 113"/>
          <p:cNvCxnSpPr/>
          <p:nvPr/>
        </p:nvCxnSpPr>
        <p:spPr>
          <a:xfrm>
            <a:off x="457200" y="6383975"/>
            <a:ext cx="2143125" cy="0"/>
          </a:xfrm>
          <a:prstGeom prst="line">
            <a:avLst/>
          </a:prstGeom>
          <a:ln w="9525">
            <a:solidFill>
              <a:srgbClr val="E3DCD3"/>
            </a:solidFill>
          </a:ln>
        </p:spPr>
      </p:cxnSp>
      <p:sp>
        <p:nvSpPr>
          <p:cNvPr id="115" name="TextBox 114"/>
          <p:cNvSpPr txBox="1"/>
          <p:nvPr/>
        </p:nvSpPr>
        <p:spPr>
          <a:xfrm>
            <a:off x="542925"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16" name="TextBox 115"/>
          <p:cNvSpPr txBox="1"/>
          <p:nvPr/>
        </p:nvSpPr>
        <p:spPr>
          <a:xfrm>
            <a:off x="542925" y="6533975"/>
            <a:ext cx="700000" cy="150000"/>
          </a:xfrm>
          <a:prstGeom prst="rect">
            <a:avLst/>
          </a:prstGeom>
          <a:noFill/>
        </p:spPr>
        <p:txBody>
          <a:bodyPr wrap="square" lIns="0" tIns="0" rIns="0" bIns="0" anchor="t"/>
          <a:lstStyle/>
          <a:p>
            <a:pPr algn="l"/>
            <a:r>
              <a:rPr lang="en-US" sz="825" b="1" i="0">
                <a:solidFill>
                  <a:srgbClr val="1B1A1A"/>
                </a:solidFill>
                <a:latin typeface="+mj-lt"/>
              </a:rPr>
              <a:t>+23.4%</a:t>
            </a:r>
          </a:p>
        </p:txBody>
      </p:sp>
      <p:sp>
        <p:nvSpPr>
          <p:cNvPr id="117" name="TextBox 116"/>
          <p:cNvSpPr txBox="1"/>
          <p:nvPr/>
        </p:nvSpPr>
        <p:spPr>
          <a:xfrm>
            <a:off x="1257300"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18" name="TextBox 117"/>
          <p:cNvSpPr txBox="1"/>
          <p:nvPr/>
        </p:nvSpPr>
        <p:spPr>
          <a:xfrm>
            <a:off x="1257300" y="6533975"/>
            <a:ext cx="700000" cy="150000"/>
          </a:xfrm>
          <a:prstGeom prst="rect">
            <a:avLst/>
          </a:prstGeom>
          <a:noFill/>
        </p:spPr>
        <p:txBody>
          <a:bodyPr wrap="square" lIns="0" tIns="0" rIns="0" bIns="0" anchor="t"/>
          <a:lstStyle/>
          <a:p>
            <a:pPr algn="l"/>
            <a:r>
              <a:rPr lang="en-US" sz="825" b="1" i="0">
                <a:solidFill>
                  <a:srgbClr val="1B1A1A"/>
                </a:solidFill>
                <a:latin typeface="+mj-lt"/>
              </a:rPr>
              <a:t>+18.0%</a:t>
            </a:r>
          </a:p>
        </p:txBody>
      </p:sp>
      <p:sp>
        <p:nvSpPr>
          <p:cNvPr id="119" name="TextBox 118"/>
          <p:cNvSpPr txBox="1"/>
          <p:nvPr/>
        </p:nvSpPr>
        <p:spPr>
          <a:xfrm>
            <a:off x="1971675"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20" name="TextBox 119"/>
          <p:cNvSpPr txBox="1"/>
          <p:nvPr/>
        </p:nvSpPr>
        <p:spPr>
          <a:xfrm>
            <a:off x="1971675" y="6533975"/>
            <a:ext cx="700000" cy="150000"/>
          </a:xfrm>
          <a:prstGeom prst="rect">
            <a:avLst/>
          </a:prstGeom>
          <a:noFill/>
        </p:spPr>
        <p:txBody>
          <a:bodyPr wrap="square" lIns="0" tIns="0" rIns="0" bIns="0" anchor="t"/>
          <a:lstStyle/>
          <a:p>
            <a:pPr algn="l"/>
            <a:r>
              <a:rPr lang="en-US" sz="825" b="1" i="0">
                <a:solidFill>
                  <a:srgbClr val="1B1A1A"/>
                </a:solidFill>
                <a:latin typeface="+mj-lt"/>
              </a:rPr>
              <a:t>−12.5%</a:t>
            </a:r>
          </a:p>
        </p:txBody>
      </p:sp>
      <p:cxnSp>
        <p:nvCxnSpPr>
          <p:cNvPr id="121" name="Connector 120"/>
          <p:cNvCxnSpPr/>
          <p:nvPr/>
        </p:nvCxnSpPr>
        <p:spPr>
          <a:xfrm>
            <a:off x="2790825" y="6383975"/>
            <a:ext cx="2143125" cy="0"/>
          </a:xfrm>
          <a:prstGeom prst="line">
            <a:avLst/>
          </a:prstGeom>
          <a:ln w="9525">
            <a:solidFill>
              <a:srgbClr val="E3DCD3"/>
            </a:solidFill>
          </a:ln>
        </p:spPr>
      </p:cxnSp>
      <p:sp>
        <p:nvSpPr>
          <p:cNvPr id="122" name="TextBox 121"/>
          <p:cNvSpPr txBox="1"/>
          <p:nvPr/>
        </p:nvSpPr>
        <p:spPr>
          <a:xfrm>
            <a:off x="2876550"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23" name="TextBox 122"/>
          <p:cNvSpPr txBox="1"/>
          <p:nvPr/>
        </p:nvSpPr>
        <p:spPr>
          <a:xfrm>
            <a:off x="2876550" y="6533975"/>
            <a:ext cx="700000" cy="150000"/>
          </a:xfrm>
          <a:prstGeom prst="rect">
            <a:avLst/>
          </a:prstGeom>
          <a:noFill/>
        </p:spPr>
        <p:txBody>
          <a:bodyPr wrap="square" lIns="0" tIns="0" rIns="0" bIns="0" anchor="t"/>
          <a:lstStyle/>
          <a:p>
            <a:pPr algn="l"/>
            <a:r>
              <a:rPr lang="en-US" sz="825" b="1" i="0">
                <a:solidFill>
                  <a:srgbClr val="1B1A1A"/>
                </a:solidFill>
                <a:latin typeface="+mj-lt"/>
              </a:rPr>
              <a:t>+67.8%</a:t>
            </a:r>
          </a:p>
        </p:txBody>
      </p:sp>
      <p:sp>
        <p:nvSpPr>
          <p:cNvPr id="124" name="TextBox 123"/>
          <p:cNvSpPr txBox="1"/>
          <p:nvPr/>
        </p:nvSpPr>
        <p:spPr>
          <a:xfrm>
            <a:off x="3590925"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25" name="TextBox 124"/>
          <p:cNvSpPr txBox="1"/>
          <p:nvPr/>
        </p:nvSpPr>
        <p:spPr>
          <a:xfrm>
            <a:off x="3590925" y="6533975"/>
            <a:ext cx="700000" cy="150000"/>
          </a:xfrm>
          <a:prstGeom prst="rect">
            <a:avLst/>
          </a:prstGeom>
          <a:noFill/>
        </p:spPr>
        <p:txBody>
          <a:bodyPr wrap="square" lIns="0" tIns="0" rIns="0" bIns="0" anchor="t"/>
          <a:lstStyle/>
          <a:p>
            <a:pPr algn="l"/>
            <a:r>
              <a:rPr lang="en-US" sz="825" b="1" i="0">
                <a:solidFill>
                  <a:srgbClr val="1B1A1A"/>
                </a:solidFill>
                <a:latin typeface="+mj-lt"/>
              </a:rPr>
              <a:t>+37.9%</a:t>
            </a:r>
          </a:p>
        </p:txBody>
      </p:sp>
      <p:sp>
        <p:nvSpPr>
          <p:cNvPr id="126" name="TextBox 125"/>
          <p:cNvSpPr txBox="1"/>
          <p:nvPr/>
        </p:nvSpPr>
        <p:spPr>
          <a:xfrm>
            <a:off x="4305300"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27" name="TextBox 126"/>
          <p:cNvSpPr txBox="1"/>
          <p:nvPr/>
        </p:nvSpPr>
        <p:spPr>
          <a:xfrm>
            <a:off x="4305300" y="6533975"/>
            <a:ext cx="700000" cy="150000"/>
          </a:xfrm>
          <a:prstGeom prst="rect">
            <a:avLst/>
          </a:prstGeom>
          <a:noFill/>
        </p:spPr>
        <p:txBody>
          <a:bodyPr wrap="square" lIns="0" tIns="0" rIns="0" bIns="0" anchor="t"/>
          <a:lstStyle/>
          <a:p>
            <a:pPr algn="l"/>
            <a:r>
              <a:rPr lang="en-US" sz="825" b="1" i="0">
                <a:solidFill>
                  <a:srgbClr val="1B1A1A"/>
                </a:solidFill>
                <a:latin typeface="+mj-lt"/>
              </a:rPr>
              <a:t>+74.2%</a:t>
            </a:r>
          </a:p>
        </p:txBody>
      </p:sp>
      <p:cxnSp>
        <p:nvCxnSpPr>
          <p:cNvPr id="128" name="Connector 127"/>
          <p:cNvCxnSpPr/>
          <p:nvPr/>
        </p:nvCxnSpPr>
        <p:spPr>
          <a:xfrm>
            <a:off x="5124450" y="6383975"/>
            <a:ext cx="2143125" cy="0"/>
          </a:xfrm>
          <a:prstGeom prst="line">
            <a:avLst/>
          </a:prstGeom>
          <a:ln w="9525">
            <a:solidFill>
              <a:srgbClr val="E3DCD3"/>
            </a:solidFill>
          </a:ln>
        </p:spPr>
      </p:cxnSp>
      <p:sp>
        <p:nvSpPr>
          <p:cNvPr id="129" name="TextBox 128"/>
          <p:cNvSpPr txBox="1"/>
          <p:nvPr/>
        </p:nvSpPr>
        <p:spPr>
          <a:xfrm>
            <a:off x="5210175"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30" name="TextBox 129"/>
          <p:cNvSpPr txBox="1"/>
          <p:nvPr/>
        </p:nvSpPr>
        <p:spPr>
          <a:xfrm>
            <a:off x="5210175" y="6533975"/>
            <a:ext cx="700000" cy="150000"/>
          </a:xfrm>
          <a:prstGeom prst="rect">
            <a:avLst/>
          </a:prstGeom>
          <a:noFill/>
        </p:spPr>
        <p:txBody>
          <a:bodyPr wrap="square" lIns="0" tIns="0" rIns="0" bIns="0" anchor="t"/>
          <a:lstStyle/>
          <a:p>
            <a:pPr algn="l"/>
            <a:r>
              <a:rPr lang="en-US" sz="825" b="1" i="0">
                <a:solidFill>
                  <a:srgbClr val="1B1A1A"/>
                </a:solidFill>
                <a:latin typeface="+mj-lt"/>
              </a:rPr>
              <a:t>+2.1%</a:t>
            </a:r>
          </a:p>
        </p:txBody>
      </p:sp>
      <p:sp>
        <p:nvSpPr>
          <p:cNvPr id="131" name="TextBox 130"/>
          <p:cNvSpPr txBox="1"/>
          <p:nvPr/>
        </p:nvSpPr>
        <p:spPr>
          <a:xfrm>
            <a:off x="5924550"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32" name="TextBox 131"/>
          <p:cNvSpPr txBox="1"/>
          <p:nvPr/>
        </p:nvSpPr>
        <p:spPr>
          <a:xfrm>
            <a:off x="5924550" y="6533975"/>
            <a:ext cx="700000" cy="150000"/>
          </a:xfrm>
          <a:prstGeom prst="rect">
            <a:avLst/>
          </a:prstGeom>
          <a:noFill/>
        </p:spPr>
        <p:txBody>
          <a:bodyPr wrap="square" lIns="0" tIns="0" rIns="0" bIns="0" anchor="t"/>
          <a:lstStyle/>
          <a:p>
            <a:pPr algn="l"/>
            <a:r>
              <a:rPr lang="en-US" sz="825" b="1" i="0">
                <a:solidFill>
                  <a:srgbClr val="1B1A1A"/>
                </a:solidFill>
                <a:latin typeface="+mj-lt"/>
              </a:rPr>
              <a:t>−9.2%</a:t>
            </a:r>
          </a:p>
        </p:txBody>
      </p:sp>
      <p:sp>
        <p:nvSpPr>
          <p:cNvPr id="133" name="TextBox 132"/>
          <p:cNvSpPr txBox="1"/>
          <p:nvPr/>
        </p:nvSpPr>
        <p:spPr>
          <a:xfrm>
            <a:off x="6638925"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34" name="TextBox 133"/>
          <p:cNvSpPr txBox="1"/>
          <p:nvPr/>
        </p:nvSpPr>
        <p:spPr>
          <a:xfrm>
            <a:off x="6638925" y="6533975"/>
            <a:ext cx="700000" cy="150000"/>
          </a:xfrm>
          <a:prstGeom prst="rect">
            <a:avLst/>
          </a:prstGeom>
          <a:noFill/>
        </p:spPr>
        <p:txBody>
          <a:bodyPr wrap="square" lIns="0" tIns="0" rIns="0" bIns="0" anchor="t"/>
          <a:lstStyle/>
          <a:p>
            <a:pPr algn="l"/>
            <a:r>
              <a:rPr lang="en-US" sz="825" b="1" i="0">
                <a:solidFill>
                  <a:srgbClr val="1B1A1A"/>
                </a:solidFill>
                <a:latin typeface="+mj-lt"/>
              </a:rPr>
              <a:t>−12.7%</a:t>
            </a:r>
          </a:p>
        </p:txBody>
      </p:sp>
      <p:cxnSp>
        <p:nvCxnSpPr>
          <p:cNvPr id="135" name="Connector 134"/>
          <p:cNvCxnSpPr/>
          <p:nvPr/>
        </p:nvCxnSpPr>
        <p:spPr>
          <a:xfrm>
            <a:off x="7458075" y="6383975"/>
            <a:ext cx="2143125" cy="0"/>
          </a:xfrm>
          <a:prstGeom prst="line">
            <a:avLst/>
          </a:prstGeom>
          <a:ln w="9525">
            <a:solidFill>
              <a:srgbClr val="E3DCD3"/>
            </a:solidFill>
          </a:ln>
        </p:spPr>
      </p:cxnSp>
      <p:sp>
        <p:nvSpPr>
          <p:cNvPr id="136" name="TextBox 135"/>
          <p:cNvSpPr txBox="1"/>
          <p:nvPr/>
        </p:nvSpPr>
        <p:spPr>
          <a:xfrm>
            <a:off x="7543800"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37" name="TextBox 136"/>
          <p:cNvSpPr txBox="1"/>
          <p:nvPr/>
        </p:nvSpPr>
        <p:spPr>
          <a:xfrm>
            <a:off x="7543800" y="6533975"/>
            <a:ext cx="700000" cy="150000"/>
          </a:xfrm>
          <a:prstGeom prst="rect">
            <a:avLst/>
          </a:prstGeom>
          <a:noFill/>
        </p:spPr>
        <p:txBody>
          <a:bodyPr wrap="square" lIns="0" tIns="0" rIns="0" bIns="0" anchor="t"/>
          <a:lstStyle/>
          <a:p>
            <a:pPr algn="l"/>
            <a:r>
              <a:rPr lang="en-US" sz="825" b="1" i="0">
                <a:solidFill>
                  <a:srgbClr val="1B1A1A"/>
                </a:solidFill>
                <a:latin typeface="+mj-lt"/>
              </a:rPr>
              <a:t>+0.87 pts</a:t>
            </a:r>
          </a:p>
        </p:txBody>
      </p:sp>
      <p:sp>
        <p:nvSpPr>
          <p:cNvPr id="138" name="TextBox 137"/>
          <p:cNvSpPr txBox="1"/>
          <p:nvPr/>
        </p:nvSpPr>
        <p:spPr>
          <a:xfrm>
            <a:off x="8258175"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39" name="TextBox 138"/>
          <p:cNvSpPr txBox="1"/>
          <p:nvPr/>
        </p:nvSpPr>
        <p:spPr>
          <a:xfrm>
            <a:off x="8258175" y="6533975"/>
            <a:ext cx="700000" cy="150000"/>
          </a:xfrm>
          <a:prstGeom prst="rect">
            <a:avLst/>
          </a:prstGeom>
          <a:noFill/>
        </p:spPr>
        <p:txBody>
          <a:bodyPr wrap="square" lIns="0" tIns="0" rIns="0" bIns="0" anchor="t"/>
          <a:lstStyle/>
          <a:p>
            <a:pPr algn="l"/>
            <a:r>
              <a:rPr lang="en-US" sz="825" b="1" i="0">
                <a:solidFill>
                  <a:srgbClr val="1B1A1A"/>
                </a:solidFill>
                <a:latin typeface="+mj-lt"/>
              </a:rPr>
              <a:t>+0.61 pts</a:t>
            </a:r>
          </a:p>
        </p:txBody>
      </p:sp>
      <p:sp>
        <p:nvSpPr>
          <p:cNvPr id="140" name="TextBox 139"/>
          <p:cNvSpPr txBox="1"/>
          <p:nvPr/>
        </p:nvSpPr>
        <p:spPr>
          <a:xfrm>
            <a:off x="8972550"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41" name="TextBox 140"/>
          <p:cNvSpPr txBox="1"/>
          <p:nvPr/>
        </p:nvSpPr>
        <p:spPr>
          <a:xfrm>
            <a:off x="8972550" y="6533975"/>
            <a:ext cx="700000" cy="150000"/>
          </a:xfrm>
          <a:prstGeom prst="rect">
            <a:avLst/>
          </a:prstGeom>
          <a:noFill/>
        </p:spPr>
        <p:txBody>
          <a:bodyPr wrap="square" lIns="0" tIns="0" rIns="0" bIns="0" anchor="t"/>
          <a:lstStyle/>
          <a:p>
            <a:pPr algn="l"/>
            <a:r>
              <a:rPr lang="en-US" sz="825" b="1" i="0">
                <a:solidFill>
                  <a:srgbClr val="1B1A1A"/>
                </a:solidFill>
                <a:latin typeface="+mj-lt"/>
              </a:rPr>
              <a:t>+3.4 pts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Select Market Participants</a:t>
            </a:r>
          </a:p>
        </p:txBody>
      </p:sp>
      <p:sp>
        <p:nvSpPr>
          <p:cNvPr id="3" name="Text Placeholder 2"/>
          <p:cNvSpPr>
            <a:spLocks noGrp="1"/>
          </p:cNvSpPr>
          <p:nvPr>
            <p:ph type="body" idx="107"/>
          </p:nvPr>
        </p:nvSpPr>
        <p:spPr/>
        <p:txBody>
          <a:bodyPr/>
          <a:lstStyle/>
          <a:p>
            <a:r>
              <a:rPr lang="en-US" sz="938" b="0">
                <a:solidFill>
                  <a:srgbClr val="6F6A66"/>
                </a:solidFill>
              </a:rPr>
              <a:t>Public reference companies, active buyers, and sponsors with relevant sector investment experience.</a:t>
            </a:r>
          </a:p>
        </p:txBody>
      </p:sp>
      <p:sp>
        <p:nvSpPr>
          <p:cNvPr id="4" name="Text Placeholder 3"/>
          <p:cNvSpPr>
            <a:spLocks noGrp="1"/>
          </p:cNvSpPr>
          <p:nvPr>
            <p:ph type="body" idx="108"/>
          </p:nvPr>
        </p:nvSpPr>
        <p:spPr/>
        <p:txBody>
          <a:bodyPr/>
          <a:lstStyle/>
          <a:p>
            <a:r>
              <a:rPr lang="en-US" sz="675" b="0">
                <a:solidFill>
                  <a:srgbClr val="6F6A66"/>
                </a:solidFill>
              </a:rPr>
              <a:t>Listed companies are from pages 16 to 18. Buyers are from this report. Sponsors have relevant sector investment experience and may appear in more than one segment. Sources updated October 27, 2026. Names and logos belong to their owners.</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21</a:t>
            </a:fld>
            <a:endParaRPr lang="en-US"/>
          </a:p>
        </p:txBody>
      </p:sp>
      <p:sp>
        <p:nvSpPr>
          <p:cNvPr id="51" name="Manufacturing &amp; Industrial Tech column"/>
          <p:cNvSpPr/>
          <p:nvPr/>
        </p:nvSpPr>
        <p:spPr>
          <a:xfrm>
            <a:off x="41910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52" name="Rectangle 51"/>
          <p:cNvSpPr/>
          <p:nvPr/>
        </p:nvSpPr>
        <p:spPr>
          <a:xfrm>
            <a:off x="419100" y="1238250"/>
            <a:ext cx="1796040" cy="520000"/>
          </a:xfrm>
          <a:prstGeom prst="rect">
            <a:avLst/>
          </a:prstGeom>
          <a:solidFill>
            <a:srgbClr val="1B1A1A"/>
          </a:solidFill>
          <a:ln>
            <a:noFill/>
          </a:ln>
        </p:spPr>
        <p:txBody>
          <a:bodyPr rtlCol="0" anchor="ctr"/>
          <a:lstStyle/>
          <a:p>
            <a:pPr algn="ctr"/>
            <a:endParaRPr/>
          </a:p>
        </p:txBody>
      </p:sp>
      <p:pic>
        <p:nvPicPr>
          <p:cNvPr id="53" name="Icon" descr="Manufacturing icon"/>
          <p:cNvPicPr>
            <a:picLocks noChangeAspect="1"/>
          </p:cNvPicPr>
          <p:nvPr/>
        </p:nvPicPr>
        <p:blipFill>
          <a:blip r:embed="rId2"/>
          <a:stretch>
            <a:fillRect/>
          </a:stretch>
        </p:blipFill>
        <p:spPr>
          <a:xfrm>
            <a:off x="474100" y="1283250"/>
            <a:ext cx="150000" cy="150000"/>
          </a:xfrm>
          <a:prstGeom prst="rect">
            <a:avLst/>
          </a:prstGeom>
        </p:spPr>
      </p:pic>
      <p:sp>
        <p:nvSpPr>
          <p:cNvPr id="54" name="TextBox 53"/>
          <p:cNvSpPr txBox="1"/>
          <p:nvPr/>
        </p:nvSpPr>
        <p:spPr>
          <a:xfrm>
            <a:off x="64910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MANUFACTURING &amp; INDUSTRIAL TECH</a:t>
            </a:r>
          </a:p>
        </p:txBody>
      </p:sp>
      <p:sp>
        <p:nvSpPr>
          <p:cNvPr id="55" name="TextBox 54"/>
          <p:cNvSpPr txBox="1"/>
          <p:nvPr/>
        </p:nvSpPr>
        <p:spPr>
          <a:xfrm>
            <a:off x="51910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56" name="Logo - Parker Hannifin" descr="Parker Hannifin"/>
          <p:cNvPicPr>
            <a:picLocks noChangeAspect="1"/>
          </p:cNvPicPr>
          <p:nvPr/>
        </p:nvPicPr>
        <p:blipFill>
          <a:blip r:embed="rId3"/>
          <a:stretch>
            <a:fillRect/>
          </a:stretch>
        </p:blipFill>
        <p:spPr>
          <a:xfrm>
            <a:off x="549100" y="2132277"/>
            <a:ext cx="738020" cy="151945"/>
          </a:xfrm>
          <a:prstGeom prst="rect">
            <a:avLst/>
          </a:prstGeom>
        </p:spPr>
      </p:pic>
      <p:pic>
        <p:nvPicPr>
          <p:cNvPr id="57" name="Logo - Rockwell Automation" descr="Rockwell Automation"/>
          <p:cNvPicPr>
            <a:picLocks noChangeAspect="1"/>
          </p:cNvPicPr>
          <p:nvPr/>
        </p:nvPicPr>
        <p:blipFill>
          <a:blip r:embed="rId4"/>
          <a:stretch>
            <a:fillRect/>
          </a:stretch>
        </p:blipFill>
        <p:spPr>
          <a:xfrm>
            <a:off x="1347120" y="2123028"/>
            <a:ext cx="738020" cy="170443"/>
          </a:xfrm>
          <a:prstGeom prst="rect">
            <a:avLst/>
          </a:prstGeom>
        </p:spPr>
      </p:pic>
      <p:pic>
        <p:nvPicPr>
          <p:cNvPr id="58" name="Logo - ITT" descr="ITT"/>
          <p:cNvPicPr>
            <a:picLocks noChangeAspect="1"/>
          </p:cNvPicPr>
          <p:nvPr/>
        </p:nvPicPr>
        <p:blipFill>
          <a:blip r:embed="rId5"/>
          <a:stretch>
            <a:fillRect/>
          </a:stretch>
        </p:blipFill>
        <p:spPr>
          <a:xfrm>
            <a:off x="672693" y="2383250"/>
            <a:ext cx="490833" cy="250000"/>
          </a:xfrm>
          <a:prstGeom prst="rect">
            <a:avLst/>
          </a:prstGeom>
        </p:spPr>
      </p:pic>
      <p:pic>
        <p:nvPicPr>
          <p:cNvPr id="59" name="Logo - Flowserve" descr="Flowserve"/>
          <p:cNvPicPr>
            <a:picLocks noChangeAspect="1"/>
          </p:cNvPicPr>
          <p:nvPr/>
        </p:nvPicPr>
        <p:blipFill>
          <a:blip r:embed="rId6"/>
          <a:stretch>
            <a:fillRect/>
          </a:stretch>
        </p:blipFill>
        <p:spPr>
          <a:xfrm>
            <a:off x="1376130" y="2383250"/>
            <a:ext cx="680000" cy="250000"/>
          </a:xfrm>
          <a:prstGeom prst="rect">
            <a:avLst/>
          </a:prstGeom>
        </p:spPr>
      </p:pic>
      <p:pic>
        <p:nvPicPr>
          <p:cNvPr id="60" name="Logo - Franklin Electric" descr="Franklin Electric"/>
          <p:cNvPicPr>
            <a:picLocks noChangeAspect="1"/>
          </p:cNvPicPr>
          <p:nvPr/>
        </p:nvPicPr>
        <p:blipFill>
          <a:blip r:embed="rId7"/>
          <a:stretch>
            <a:fillRect/>
          </a:stretch>
        </p:blipFill>
        <p:spPr>
          <a:xfrm>
            <a:off x="549100" y="2732705"/>
            <a:ext cx="738020" cy="151090"/>
          </a:xfrm>
          <a:prstGeom prst="rect">
            <a:avLst/>
          </a:prstGeom>
        </p:spPr>
      </p:pic>
      <p:pic>
        <p:nvPicPr>
          <p:cNvPr id="61" name="Logo - Graco" descr="Graco"/>
          <p:cNvPicPr>
            <a:picLocks noChangeAspect="1"/>
          </p:cNvPicPr>
          <p:nvPr/>
        </p:nvPicPr>
        <p:blipFill>
          <a:blip r:embed="rId8"/>
          <a:stretch>
            <a:fillRect/>
          </a:stretch>
        </p:blipFill>
        <p:spPr>
          <a:xfrm>
            <a:off x="1347120" y="2752590"/>
            <a:ext cx="738020" cy="111319"/>
          </a:xfrm>
          <a:prstGeom prst="rect">
            <a:avLst/>
          </a:prstGeom>
        </p:spPr>
      </p:pic>
      <p:pic>
        <p:nvPicPr>
          <p:cNvPr id="62" name="Logo - Lincoln Electric" descr="Lincoln Electric"/>
          <p:cNvPicPr>
            <a:picLocks noChangeAspect="1"/>
          </p:cNvPicPr>
          <p:nvPr/>
        </p:nvPicPr>
        <p:blipFill>
          <a:blip r:embed="rId9"/>
          <a:stretch>
            <a:fillRect/>
          </a:stretch>
        </p:blipFill>
        <p:spPr>
          <a:xfrm>
            <a:off x="549100" y="2986477"/>
            <a:ext cx="738020" cy="243546"/>
          </a:xfrm>
          <a:prstGeom prst="rect">
            <a:avLst/>
          </a:prstGeom>
        </p:spPr>
      </p:pic>
      <p:pic>
        <p:nvPicPr>
          <p:cNvPr id="63" name="Logo - Mueller Industries" descr="Mueller Industries"/>
          <p:cNvPicPr>
            <a:picLocks noChangeAspect="1"/>
          </p:cNvPicPr>
          <p:nvPr/>
        </p:nvPicPr>
        <p:blipFill>
          <a:blip r:embed="rId10"/>
          <a:stretch>
            <a:fillRect/>
          </a:stretch>
        </p:blipFill>
        <p:spPr>
          <a:xfrm>
            <a:off x="1347120" y="3013389"/>
            <a:ext cx="738019" cy="189722"/>
          </a:xfrm>
          <a:prstGeom prst="rect">
            <a:avLst/>
          </a:prstGeom>
        </p:spPr>
      </p:pic>
      <p:cxnSp>
        <p:nvCxnSpPr>
          <p:cNvPr id="64" name="Connector 63"/>
          <p:cNvCxnSpPr/>
          <p:nvPr/>
        </p:nvCxnSpPr>
        <p:spPr>
          <a:xfrm>
            <a:off x="519100" y="4128250"/>
            <a:ext cx="1596040" cy="0"/>
          </a:xfrm>
          <a:prstGeom prst="line">
            <a:avLst/>
          </a:prstGeom>
          <a:ln w="9525">
            <a:solidFill>
              <a:srgbClr val="E3DCD3"/>
            </a:solidFill>
          </a:ln>
        </p:spPr>
      </p:cxnSp>
      <p:sp>
        <p:nvSpPr>
          <p:cNvPr id="65" name="TextBox 64"/>
          <p:cNvSpPr txBox="1"/>
          <p:nvPr/>
        </p:nvSpPr>
        <p:spPr>
          <a:xfrm>
            <a:off x="51910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66" name="Logo - Maverick (nVent)" descr="Maverick (nVent)"/>
          <p:cNvPicPr>
            <a:picLocks noChangeAspect="1"/>
          </p:cNvPicPr>
          <p:nvPr/>
        </p:nvPicPr>
        <p:blipFill>
          <a:blip r:embed="rId11"/>
          <a:stretch>
            <a:fillRect/>
          </a:stretch>
        </p:blipFill>
        <p:spPr>
          <a:xfrm>
            <a:off x="725597" y="4413250"/>
            <a:ext cx="385026" cy="250000"/>
          </a:xfrm>
          <a:prstGeom prst="rect">
            <a:avLst/>
          </a:prstGeom>
        </p:spPr>
      </p:pic>
      <p:pic>
        <p:nvPicPr>
          <p:cNvPr id="67" name="Logo - Cat Pumps (Franklin Electric)" descr="Cat Pumps (Franklin Electric)"/>
          <p:cNvPicPr>
            <a:picLocks noChangeAspect="1"/>
          </p:cNvPicPr>
          <p:nvPr/>
        </p:nvPicPr>
        <p:blipFill>
          <a:blip r:embed="rId7"/>
          <a:stretch>
            <a:fillRect/>
          </a:stretch>
        </p:blipFill>
        <p:spPr>
          <a:xfrm>
            <a:off x="1347120" y="4462705"/>
            <a:ext cx="738020" cy="151090"/>
          </a:xfrm>
          <a:prstGeom prst="rect">
            <a:avLst/>
          </a:prstGeom>
        </p:spPr>
      </p:pic>
      <p:pic>
        <p:nvPicPr>
          <p:cNvPr id="68" name="Logo - Advance (Precinmac)" descr="Advance (Precinmac)"/>
          <p:cNvPicPr>
            <a:picLocks noChangeAspect="1"/>
          </p:cNvPicPr>
          <p:nvPr/>
        </p:nvPicPr>
        <p:blipFill>
          <a:blip r:embed="rId12"/>
          <a:stretch>
            <a:fillRect/>
          </a:stretch>
        </p:blipFill>
        <p:spPr>
          <a:xfrm>
            <a:off x="549100" y="4771980"/>
            <a:ext cx="738020" cy="132539"/>
          </a:xfrm>
          <a:prstGeom prst="rect">
            <a:avLst/>
          </a:prstGeom>
        </p:spPr>
      </p:pic>
      <p:pic>
        <p:nvPicPr>
          <p:cNvPr id="69" name="Logo - MaxVac (DXP)" descr="MaxVac (DXP)"/>
          <p:cNvPicPr>
            <a:picLocks noChangeAspect="1"/>
          </p:cNvPicPr>
          <p:nvPr/>
        </p:nvPicPr>
        <p:blipFill>
          <a:blip r:embed="rId13"/>
          <a:stretch>
            <a:fillRect/>
          </a:stretch>
        </p:blipFill>
        <p:spPr>
          <a:xfrm>
            <a:off x="1347120" y="4768974"/>
            <a:ext cx="738020" cy="138551"/>
          </a:xfrm>
          <a:prstGeom prst="rect">
            <a:avLst/>
          </a:prstGeom>
        </p:spPr>
      </p:pic>
      <p:pic>
        <p:nvPicPr>
          <p:cNvPr id="70" name="Logo - Invocon (Cemtrex)" descr="Invocon (Cemtrex)"/>
          <p:cNvPicPr>
            <a:picLocks noChangeAspect="1"/>
          </p:cNvPicPr>
          <p:nvPr/>
        </p:nvPicPr>
        <p:blipFill>
          <a:blip r:embed="rId14"/>
          <a:stretch>
            <a:fillRect/>
          </a:stretch>
        </p:blipFill>
        <p:spPr>
          <a:xfrm>
            <a:off x="549100" y="5070220"/>
            <a:ext cx="738020" cy="136059"/>
          </a:xfrm>
          <a:prstGeom prst="rect">
            <a:avLst/>
          </a:prstGeom>
        </p:spPr>
      </p:pic>
      <p:pic>
        <p:nvPicPr>
          <p:cNvPr id="71" name="Logo - A.T. Parker (Assessimus)" descr="A.T. Parker (Assessimus)"/>
          <p:cNvPicPr>
            <a:picLocks noChangeAspect="1"/>
          </p:cNvPicPr>
          <p:nvPr/>
        </p:nvPicPr>
        <p:blipFill>
          <a:blip r:embed="rId15"/>
          <a:stretch>
            <a:fillRect/>
          </a:stretch>
        </p:blipFill>
        <p:spPr>
          <a:xfrm>
            <a:off x="1347120" y="5068362"/>
            <a:ext cx="738020" cy="139776"/>
          </a:xfrm>
          <a:prstGeom prst="rect">
            <a:avLst/>
          </a:prstGeom>
        </p:spPr>
      </p:pic>
      <p:cxnSp>
        <p:nvCxnSpPr>
          <p:cNvPr id="72" name="Connector 71"/>
          <p:cNvCxnSpPr/>
          <p:nvPr/>
        </p:nvCxnSpPr>
        <p:spPr>
          <a:xfrm>
            <a:off x="519100" y="5486400"/>
            <a:ext cx="1596040" cy="0"/>
          </a:xfrm>
          <a:prstGeom prst="line">
            <a:avLst/>
          </a:prstGeom>
          <a:ln w="9525">
            <a:solidFill>
              <a:srgbClr val="E3DCD3"/>
            </a:solidFill>
          </a:ln>
        </p:spPr>
      </p:cxnSp>
      <p:sp>
        <p:nvSpPr>
          <p:cNvPr id="73" name="TextBox 72"/>
          <p:cNvSpPr txBox="1"/>
          <p:nvPr/>
        </p:nvSpPr>
        <p:spPr>
          <a:xfrm>
            <a:off x="51910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75" name="Distribution &amp; Services column"/>
          <p:cNvSpPr/>
          <p:nvPr/>
        </p:nvSpPr>
        <p:spPr>
          <a:xfrm>
            <a:off x="227514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76" name="Rectangle 75"/>
          <p:cNvSpPr/>
          <p:nvPr/>
        </p:nvSpPr>
        <p:spPr>
          <a:xfrm>
            <a:off x="2275140" y="1238250"/>
            <a:ext cx="1796040" cy="520000"/>
          </a:xfrm>
          <a:prstGeom prst="rect">
            <a:avLst/>
          </a:prstGeom>
          <a:solidFill>
            <a:srgbClr val="1B1A1A"/>
          </a:solidFill>
          <a:ln>
            <a:noFill/>
          </a:ln>
        </p:spPr>
        <p:txBody>
          <a:bodyPr rtlCol="0" anchor="ctr"/>
          <a:lstStyle/>
          <a:p>
            <a:pPr algn="ctr"/>
            <a:endParaRPr/>
          </a:p>
        </p:txBody>
      </p:sp>
      <p:pic>
        <p:nvPicPr>
          <p:cNvPr id="77" name="Icon" descr="Distribution icon"/>
          <p:cNvPicPr>
            <a:picLocks noChangeAspect="1"/>
          </p:cNvPicPr>
          <p:nvPr/>
        </p:nvPicPr>
        <p:blipFill>
          <a:blip r:embed="rId16"/>
          <a:stretch>
            <a:fillRect/>
          </a:stretch>
        </p:blipFill>
        <p:spPr>
          <a:xfrm>
            <a:off x="2330140" y="1283250"/>
            <a:ext cx="150000" cy="150000"/>
          </a:xfrm>
          <a:prstGeom prst="rect">
            <a:avLst/>
          </a:prstGeom>
        </p:spPr>
      </p:pic>
      <p:sp>
        <p:nvSpPr>
          <p:cNvPr id="78" name="TextBox 77"/>
          <p:cNvSpPr txBox="1"/>
          <p:nvPr/>
        </p:nvSpPr>
        <p:spPr>
          <a:xfrm>
            <a:off x="250514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DISTRIBUTION &amp; SERVICES</a:t>
            </a:r>
          </a:p>
        </p:txBody>
      </p:sp>
      <p:sp>
        <p:nvSpPr>
          <p:cNvPr id="79" name="TextBox 78"/>
          <p:cNvSpPr txBox="1"/>
          <p:nvPr/>
        </p:nvSpPr>
        <p:spPr>
          <a:xfrm>
            <a:off x="237514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80" name="Logo - Fastenal" descr="Fastenal"/>
          <p:cNvPicPr>
            <a:picLocks noChangeAspect="1"/>
          </p:cNvPicPr>
          <p:nvPr/>
        </p:nvPicPr>
        <p:blipFill>
          <a:blip r:embed="rId17"/>
          <a:stretch>
            <a:fillRect/>
          </a:stretch>
        </p:blipFill>
        <p:spPr>
          <a:xfrm>
            <a:off x="2405140" y="2133146"/>
            <a:ext cx="738020" cy="150207"/>
          </a:xfrm>
          <a:prstGeom prst="rect">
            <a:avLst/>
          </a:prstGeom>
        </p:spPr>
      </p:pic>
      <p:pic>
        <p:nvPicPr>
          <p:cNvPr id="81" name="Logo - W.W. Grainger" descr="W.W. Grainger"/>
          <p:cNvPicPr>
            <a:picLocks noChangeAspect="1"/>
          </p:cNvPicPr>
          <p:nvPr/>
        </p:nvPicPr>
        <p:blipFill>
          <a:blip r:embed="rId18"/>
          <a:stretch>
            <a:fillRect/>
          </a:stretch>
        </p:blipFill>
        <p:spPr>
          <a:xfrm>
            <a:off x="3203160" y="2123920"/>
            <a:ext cx="738020" cy="168659"/>
          </a:xfrm>
          <a:prstGeom prst="rect">
            <a:avLst/>
          </a:prstGeom>
        </p:spPr>
      </p:pic>
      <p:pic>
        <p:nvPicPr>
          <p:cNvPr id="82" name="Logo - Applied Industrial" descr="Applied Industrial"/>
          <p:cNvPicPr>
            <a:picLocks noChangeAspect="1"/>
          </p:cNvPicPr>
          <p:nvPr/>
        </p:nvPicPr>
        <p:blipFill>
          <a:blip r:embed="rId19"/>
          <a:stretch>
            <a:fillRect/>
          </a:stretch>
        </p:blipFill>
        <p:spPr>
          <a:xfrm>
            <a:off x="2405140" y="2418870"/>
            <a:ext cx="738020" cy="178759"/>
          </a:xfrm>
          <a:prstGeom prst="rect">
            <a:avLst/>
          </a:prstGeom>
        </p:spPr>
      </p:pic>
      <p:pic>
        <p:nvPicPr>
          <p:cNvPr id="83" name="Logo - MSC Industrial" descr="MSC Industrial"/>
          <p:cNvPicPr>
            <a:picLocks noChangeAspect="1"/>
          </p:cNvPicPr>
          <p:nvPr/>
        </p:nvPicPr>
        <p:blipFill>
          <a:blip r:embed="rId20"/>
          <a:stretch>
            <a:fillRect/>
          </a:stretch>
        </p:blipFill>
        <p:spPr>
          <a:xfrm>
            <a:off x="3203160" y="2407029"/>
            <a:ext cx="738020" cy="202442"/>
          </a:xfrm>
          <a:prstGeom prst="rect">
            <a:avLst/>
          </a:prstGeom>
        </p:spPr>
      </p:pic>
      <p:pic>
        <p:nvPicPr>
          <p:cNvPr id="84" name="Logo - DXP Enterprises" descr="DXP Enterprises"/>
          <p:cNvPicPr>
            <a:picLocks noChangeAspect="1"/>
          </p:cNvPicPr>
          <p:nvPr/>
        </p:nvPicPr>
        <p:blipFill>
          <a:blip r:embed="rId13"/>
          <a:stretch>
            <a:fillRect/>
          </a:stretch>
        </p:blipFill>
        <p:spPr>
          <a:xfrm>
            <a:off x="2405140" y="2738974"/>
            <a:ext cx="738020" cy="138551"/>
          </a:xfrm>
          <a:prstGeom prst="rect">
            <a:avLst/>
          </a:prstGeom>
        </p:spPr>
      </p:pic>
      <p:pic>
        <p:nvPicPr>
          <p:cNvPr id="85" name="Logo - Distribution Solutions" descr="Distribution Solutions"/>
          <p:cNvPicPr>
            <a:picLocks noChangeAspect="1"/>
          </p:cNvPicPr>
          <p:nvPr/>
        </p:nvPicPr>
        <p:blipFill>
          <a:blip r:embed="rId21"/>
          <a:stretch>
            <a:fillRect/>
          </a:stretch>
        </p:blipFill>
        <p:spPr>
          <a:xfrm>
            <a:off x="3203160" y="2760223"/>
            <a:ext cx="738020" cy="96054"/>
          </a:xfrm>
          <a:prstGeom prst="rect">
            <a:avLst/>
          </a:prstGeom>
        </p:spPr>
      </p:pic>
      <p:pic>
        <p:nvPicPr>
          <p:cNvPr id="86" name="Logo - WESCO" descr="WESCO"/>
          <p:cNvPicPr>
            <a:picLocks noChangeAspect="1"/>
          </p:cNvPicPr>
          <p:nvPr/>
        </p:nvPicPr>
        <p:blipFill>
          <a:blip r:embed="rId22"/>
          <a:stretch>
            <a:fillRect/>
          </a:stretch>
        </p:blipFill>
        <p:spPr>
          <a:xfrm>
            <a:off x="2610616" y="2983250"/>
            <a:ext cx="327067" cy="250000"/>
          </a:xfrm>
          <a:prstGeom prst="rect">
            <a:avLst/>
          </a:prstGeom>
        </p:spPr>
      </p:pic>
      <p:pic>
        <p:nvPicPr>
          <p:cNvPr id="87" name="Logo - Global Industrial" descr="Global Industrial"/>
          <p:cNvPicPr>
            <a:picLocks noChangeAspect="1"/>
          </p:cNvPicPr>
          <p:nvPr/>
        </p:nvPicPr>
        <p:blipFill>
          <a:blip r:embed="rId23"/>
          <a:stretch>
            <a:fillRect/>
          </a:stretch>
        </p:blipFill>
        <p:spPr>
          <a:xfrm>
            <a:off x="3203160" y="3043169"/>
            <a:ext cx="738020" cy="130162"/>
          </a:xfrm>
          <a:prstGeom prst="rect">
            <a:avLst/>
          </a:prstGeom>
        </p:spPr>
      </p:pic>
      <p:cxnSp>
        <p:nvCxnSpPr>
          <p:cNvPr id="88" name="Connector 87"/>
          <p:cNvCxnSpPr/>
          <p:nvPr/>
        </p:nvCxnSpPr>
        <p:spPr>
          <a:xfrm>
            <a:off x="2375140" y="4128250"/>
            <a:ext cx="1596040" cy="0"/>
          </a:xfrm>
          <a:prstGeom prst="line">
            <a:avLst/>
          </a:prstGeom>
          <a:ln w="9525">
            <a:solidFill>
              <a:srgbClr val="E3DCD3"/>
            </a:solidFill>
          </a:ln>
        </p:spPr>
      </p:cxnSp>
      <p:sp>
        <p:nvSpPr>
          <p:cNvPr id="89" name="TextBox 88"/>
          <p:cNvSpPr txBox="1"/>
          <p:nvPr/>
        </p:nvSpPr>
        <p:spPr>
          <a:xfrm>
            <a:off x="237514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90" name="Logo - Ferguson" descr="Ferguson"/>
          <p:cNvPicPr>
            <a:picLocks noChangeAspect="1"/>
          </p:cNvPicPr>
          <p:nvPr/>
        </p:nvPicPr>
        <p:blipFill>
          <a:blip r:embed="rId24"/>
          <a:stretch>
            <a:fillRect/>
          </a:stretch>
        </p:blipFill>
        <p:spPr>
          <a:xfrm>
            <a:off x="2405140" y="4492124"/>
            <a:ext cx="738020" cy="92252"/>
          </a:xfrm>
          <a:prstGeom prst="rect">
            <a:avLst/>
          </a:prstGeom>
        </p:spPr>
      </p:pic>
      <p:pic>
        <p:nvPicPr>
          <p:cNvPr id="91" name="Logo - Meritus Gas Partners" descr="Meritus Gas Partners"/>
          <p:cNvPicPr>
            <a:picLocks noChangeAspect="1"/>
          </p:cNvPicPr>
          <p:nvPr/>
        </p:nvPicPr>
        <p:blipFill>
          <a:blip r:embed="rId25"/>
          <a:stretch>
            <a:fillRect/>
          </a:stretch>
        </p:blipFill>
        <p:spPr>
          <a:xfrm>
            <a:off x="3203160" y="4469368"/>
            <a:ext cx="738020" cy="137763"/>
          </a:xfrm>
          <a:prstGeom prst="rect">
            <a:avLst/>
          </a:prstGeom>
        </p:spPr>
      </p:pic>
      <p:pic>
        <p:nvPicPr>
          <p:cNvPr id="92" name="Logo - Cintas" descr="Cintas"/>
          <p:cNvPicPr>
            <a:picLocks noChangeAspect="1"/>
          </p:cNvPicPr>
          <p:nvPr/>
        </p:nvPicPr>
        <p:blipFill>
          <a:blip r:embed="rId26"/>
          <a:stretch>
            <a:fillRect/>
          </a:stretch>
        </p:blipFill>
        <p:spPr>
          <a:xfrm>
            <a:off x="2437976" y="4713250"/>
            <a:ext cx="672348" cy="250000"/>
          </a:xfrm>
          <a:prstGeom prst="rect">
            <a:avLst/>
          </a:prstGeom>
        </p:spPr>
      </p:pic>
      <p:pic>
        <p:nvPicPr>
          <p:cNvPr id="93" name="Logo - TIPCO" descr="TIPCO"/>
          <p:cNvPicPr>
            <a:picLocks noChangeAspect="1"/>
          </p:cNvPicPr>
          <p:nvPr/>
        </p:nvPicPr>
        <p:blipFill>
          <a:blip r:embed="rId27"/>
          <a:stretch>
            <a:fillRect/>
          </a:stretch>
        </p:blipFill>
        <p:spPr>
          <a:xfrm>
            <a:off x="3203160" y="4737794"/>
            <a:ext cx="738020" cy="200912"/>
          </a:xfrm>
          <a:prstGeom prst="rect">
            <a:avLst/>
          </a:prstGeom>
        </p:spPr>
      </p:pic>
      <p:pic>
        <p:nvPicPr>
          <p:cNvPr id="94" name="Logo - Aecon" descr="Aecon"/>
          <p:cNvPicPr>
            <a:picLocks noChangeAspect="1"/>
          </p:cNvPicPr>
          <p:nvPr/>
        </p:nvPicPr>
        <p:blipFill>
          <a:blip r:embed="rId28"/>
          <a:stretch>
            <a:fillRect/>
          </a:stretch>
        </p:blipFill>
        <p:spPr>
          <a:xfrm>
            <a:off x="2405140" y="5082898"/>
            <a:ext cx="738020" cy="110703"/>
          </a:xfrm>
          <a:prstGeom prst="rect">
            <a:avLst/>
          </a:prstGeom>
        </p:spPr>
      </p:pic>
      <p:cxnSp>
        <p:nvCxnSpPr>
          <p:cNvPr id="95" name="Connector 94"/>
          <p:cNvCxnSpPr/>
          <p:nvPr/>
        </p:nvCxnSpPr>
        <p:spPr>
          <a:xfrm>
            <a:off x="2375140" y="5486400"/>
            <a:ext cx="1596040" cy="0"/>
          </a:xfrm>
          <a:prstGeom prst="line">
            <a:avLst/>
          </a:prstGeom>
          <a:ln w="9525">
            <a:solidFill>
              <a:srgbClr val="E3DCD3"/>
            </a:solidFill>
          </a:ln>
        </p:spPr>
      </p:cxnSp>
      <p:sp>
        <p:nvSpPr>
          <p:cNvPr id="96" name="TextBox 95"/>
          <p:cNvSpPr txBox="1"/>
          <p:nvPr/>
        </p:nvSpPr>
        <p:spPr>
          <a:xfrm>
            <a:off x="237514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98" name="Building &amp; Construction column"/>
          <p:cNvSpPr/>
          <p:nvPr/>
        </p:nvSpPr>
        <p:spPr>
          <a:xfrm>
            <a:off x="413118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99" name="Rectangle 98"/>
          <p:cNvSpPr/>
          <p:nvPr/>
        </p:nvSpPr>
        <p:spPr>
          <a:xfrm>
            <a:off x="4131180" y="1238250"/>
            <a:ext cx="1796040" cy="520000"/>
          </a:xfrm>
          <a:prstGeom prst="rect">
            <a:avLst/>
          </a:prstGeom>
          <a:solidFill>
            <a:srgbClr val="1B1A1A"/>
          </a:solidFill>
          <a:ln>
            <a:noFill/>
          </a:ln>
        </p:spPr>
        <p:txBody>
          <a:bodyPr rtlCol="0" anchor="ctr"/>
          <a:lstStyle/>
          <a:p>
            <a:pPr algn="ctr"/>
            <a:endParaRPr/>
          </a:p>
        </p:txBody>
      </p:sp>
      <p:pic>
        <p:nvPicPr>
          <p:cNvPr id="100" name="Icon" descr="Construction icon"/>
          <p:cNvPicPr>
            <a:picLocks noChangeAspect="1"/>
          </p:cNvPicPr>
          <p:nvPr/>
        </p:nvPicPr>
        <p:blipFill>
          <a:blip r:embed="rId29"/>
          <a:stretch>
            <a:fillRect/>
          </a:stretch>
        </p:blipFill>
        <p:spPr>
          <a:xfrm>
            <a:off x="4186180" y="1283250"/>
            <a:ext cx="150000" cy="150000"/>
          </a:xfrm>
          <a:prstGeom prst="rect">
            <a:avLst/>
          </a:prstGeom>
        </p:spPr>
      </p:pic>
      <p:sp>
        <p:nvSpPr>
          <p:cNvPr id="101" name="TextBox 100"/>
          <p:cNvSpPr txBox="1"/>
          <p:nvPr/>
        </p:nvSpPr>
        <p:spPr>
          <a:xfrm>
            <a:off x="436118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BUILDING &amp; CONSTRUCTION</a:t>
            </a:r>
          </a:p>
        </p:txBody>
      </p:sp>
      <p:sp>
        <p:nvSpPr>
          <p:cNvPr id="102" name="TextBox 101"/>
          <p:cNvSpPr txBox="1"/>
          <p:nvPr/>
        </p:nvSpPr>
        <p:spPr>
          <a:xfrm>
            <a:off x="423118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103" name="Logo - Comfort Systems USA" descr="Comfort Systems USA"/>
          <p:cNvPicPr>
            <a:picLocks noChangeAspect="1"/>
          </p:cNvPicPr>
          <p:nvPr/>
        </p:nvPicPr>
        <p:blipFill>
          <a:blip r:embed="rId30"/>
          <a:stretch>
            <a:fillRect/>
          </a:stretch>
        </p:blipFill>
        <p:spPr>
          <a:xfrm>
            <a:off x="4261180" y="2141786"/>
            <a:ext cx="738020" cy="132928"/>
          </a:xfrm>
          <a:prstGeom prst="rect">
            <a:avLst/>
          </a:prstGeom>
        </p:spPr>
      </p:pic>
      <p:pic>
        <p:nvPicPr>
          <p:cNvPr id="104" name="Logo - EMCOR" descr="EMCOR"/>
          <p:cNvPicPr>
            <a:picLocks noChangeAspect="1"/>
          </p:cNvPicPr>
          <p:nvPr/>
        </p:nvPicPr>
        <p:blipFill>
          <a:blip r:embed="rId31"/>
          <a:stretch>
            <a:fillRect/>
          </a:stretch>
        </p:blipFill>
        <p:spPr>
          <a:xfrm>
            <a:off x="5059200" y="2123225"/>
            <a:ext cx="738020" cy="170050"/>
          </a:xfrm>
          <a:prstGeom prst="rect">
            <a:avLst/>
          </a:prstGeom>
        </p:spPr>
      </p:pic>
      <p:pic>
        <p:nvPicPr>
          <p:cNvPr id="105" name="Logo - IES Holdings" descr="IES Holdings"/>
          <p:cNvPicPr>
            <a:picLocks noChangeAspect="1"/>
          </p:cNvPicPr>
          <p:nvPr/>
        </p:nvPicPr>
        <p:blipFill>
          <a:blip r:embed="rId32"/>
          <a:stretch>
            <a:fillRect/>
          </a:stretch>
        </p:blipFill>
        <p:spPr>
          <a:xfrm>
            <a:off x="4404591" y="2383250"/>
            <a:ext cx="451198" cy="250000"/>
          </a:xfrm>
          <a:prstGeom prst="rect">
            <a:avLst/>
          </a:prstGeom>
        </p:spPr>
      </p:pic>
      <p:pic>
        <p:nvPicPr>
          <p:cNvPr id="106" name="Logo - Limbach" descr="Limbach"/>
          <p:cNvPicPr>
            <a:picLocks noChangeAspect="1"/>
          </p:cNvPicPr>
          <p:nvPr/>
        </p:nvPicPr>
        <p:blipFill>
          <a:blip r:embed="rId33"/>
          <a:stretch>
            <a:fillRect/>
          </a:stretch>
        </p:blipFill>
        <p:spPr>
          <a:xfrm>
            <a:off x="5059200" y="2439276"/>
            <a:ext cx="738020" cy="137947"/>
          </a:xfrm>
          <a:prstGeom prst="rect">
            <a:avLst/>
          </a:prstGeom>
        </p:spPr>
      </p:pic>
      <p:pic>
        <p:nvPicPr>
          <p:cNvPr id="107" name="Logo - Granite Construction" descr="Granite Construction"/>
          <p:cNvPicPr>
            <a:picLocks noChangeAspect="1"/>
          </p:cNvPicPr>
          <p:nvPr/>
        </p:nvPicPr>
        <p:blipFill>
          <a:blip r:embed="rId34"/>
          <a:stretch>
            <a:fillRect/>
          </a:stretch>
        </p:blipFill>
        <p:spPr>
          <a:xfrm>
            <a:off x="4261180" y="2752082"/>
            <a:ext cx="738020" cy="112335"/>
          </a:xfrm>
          <a:prstGeom prst="rect">
            <a:avLst/>
          </a:prstGeom>
        </p:spPr>
      </p:pic>
      <p:pic>
        <p:nvPicPr>
          <p:cNvPr id="108" name="Logo - Construction Partners" descr="Construction Partners"/>
          <p:cNvPicPr>
            <a:picLocks noChangeAspect="1"/>
          </p:cNvPicPr>
          <p:nvPr/>
        </p:nvPicPr>
        <p:blipFill>
          <a:blip r:embed="rId35"/>
          <a:stretch>
            <a:fillRect/>
          </a:stretch>
        </p:blipFill>
        <p:spPr>
          <a:xfrm>
            <a:off x="5059200" y="2786801"/>
            <a:ext cx="738020" cy="42897"/>
          </a:xfrm>
          <a:prstGeom prst="rect">
            <a:avLst/>
          </a:prstGeom>
        </p:spPr>
      </p:pic>
      <p:pic>
        <p:nvPicPr>
          <p:cNvPr id="109" name="Logo - Builders FirstSource" descr="Builders FirstSource"/>
          <p:cNvPicPr>
            <a:picLocks noChangeAspect="1"/>
          </p:cNvPicPr>
          <p:nvPr/>
        </p:nvPicPr>
        <p:blipFill>
          <a:blip r:embed="rId36"/>
          <a:stretch>
            <a:fillRect/>
          </a:stretch>
        </p:blipFill>
        <p:spPr>
          <a:xfrm>
            <a:off x="4261180" y="3016100"/>
            <a:ext cx="738020" cy="184300"/>
          </a:xfrm>
          <a:prstGeom prst="rect">
            <a:avLst/>
          </a:prstGeom>
        </p:spPr>
      </p:pic>
      <p:pic>
        <p:nvPicPr>
          <p:cNvPr id="110" name="Logo - Watsco" descr="Watsco"/>
          <p:cNvPicPr>
            <a:picLocks noChangeAspect="1"/>
          </p:cNvPicPr>
          <p:nvPr/>
        </p:nvPicPr>
        <p:blipFill>
          <a:blip r:embed="rId37"/>
          <a:stretch>
            <a:fillRect/>
          </a:stretch>
        </p:blipFill>
        <p:spPr>
          <a:xfrm>
            <a:off x="5059200" y="3039619"/>
            <a:ext cx="738020" cy="137262"/>
          </a:xfrm>
          <a:prstGeom prst="rect">
            <a:avLst/>
          </a:prstGeom>
        </p:spPr>
      </p:pic>
      <p:cxnSp>
        <p:nvCxnSpPr>
          <p:cNvPr id="112" name="Connector 111"/>
          <p:cNvCxnSpPr/>
          <p:nvPr/>
        </p:nvCxnSpPr>
        <p:spPr>
          <a:xfrm>
            <a:off x="4231180" y="4128250"/>
            <a:ext cx="1596040" cy="0"/>
          </a:xfrm>
          <a:prstGeom prst="line">
            <a:avLst/>
          </a:prstGeom>
          <a:ln w="9525">
            <a:solidFill>
              <a:srgbClr val="E3DCD3"/>
            </a:solidFill>
          </a:ln>
        </p:spPr>
      </p:cxnSp>
      <p:sp>
        <p:nvSpPr>
          <p:cNvPr id="113" name="TextBox 112"/>
          <p:cNvSpPr txBox="1"/>
          <p:nvPr/>
        </p:nvSpPr>
        <p:spPr>
          <a:xfrm>
            <a:off x="423118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114" name="Logo - Limbach" descr="Limbach"/>
          <p:cNvPicPr>
            <a:picLocks noChangeAspect="1"/>
          </p:cNvPicPr>
          <p:nvPr/>
        </p:nvPicPr>
        <p:blipFill>
          <a:blip r:embed="rId33"/>
          <a:stretch>
            <a:fillRect/>
          </a:stretch>
        </p:blipFill>
        <p:spPr>
          <a:xfrm>
            <a:off x="4261180" y="4469276"/>
            <a:ext cx="738020" cy="137947"/>
          </a:xfrm>
          <a:prstGeom prst="rect">
            <a:avLst/>
          </a:prstGeom>
        </p:spPr>
      </p:pic>
      <p:pic>
        <p:nvPicPr>
          <p:cNvPr id="115" name="Logo - Bay Crane" descr="Bay Crane"/>
          <p:cNvPicPr>
            <a:picLocks noChangeAspect="1"/>
          </p:cNvPicPr>
          <p:nvPr/>
        </p:nvPicPr>
        <p:blipFill>
          <a:blip r:embed="rId38"/>
          <a:stretch>
            <a:fillRect/>
          </a:stretch>
        </p:blipFill>
        <p:spPr>
          <a:xfrm>
            <a:off x="5059200" y="4468800"/>
            <a:ext cx="738020" cy="138899"/>
          </a:xfrm>
          <a:prstGeom prst="rect">
            <a:avLst/>
          </a:prstGeom>
        </p:spPr>
      </p:pic>
      <p:pic>
        <p:nvPicPr>
          <p:cNvPr id="116" name="Logo - Harris" descr="Harris"/>
          <p:cNvPicPr>
            <a:picLocks noChangeAspect="1"/>
          </p:cNvPicPr>
          <p:nvPr/>
        </p:nvPicPr>
        <p:blipFill>
          <a:blip r:embed="rId39"/>
          <a:stretch>
            <a:fillRect/>
          </a:stretch>
        </p:blipFill>
        <p:spPr>
          <a:xfrm>
            <a:off x="4261180" y="4744980"/>
            <a:ext cx="738020" cy="186539"/>
          </a:xfrm>
          <a:prstGeom prst="rect">
            <a:avLst/>
          </a:prstGeom>
        </p:spPr>
      </p:pic>
      <p:pic>
        <p:nvPicPr>
          <p:cNvPr id="117" name="Logo - Phenna" descr="Phenna"/>
          <p:cNvPicPr>
            <a:picLocks noChangeAspect="1"/>
          </p:cNvPicPr>
          <p:nvPr/>
        </p:nvPicPr>
        <p:blipFill>
          <a:blip r:embed="rId40"/>
          <a:stretch>
            <a:fillRect/>
          </a:stretch>
        </p:blipFill>
        <p:spPr>
          <a:xfrm>
            <a:off x="5059200" y="4731702"/>
            <a:ext cx="738020" cy="213095"/>
          </a:xfrm>
          <a:prstGeom prst="rect">
            <a:avLst/>
          </a:prstGeom>
        </p:spPr>
      </p:pic>
      <p:pic>
        <p:nvPicPr>
          <p:cNvPr id="118" name="Logo - Pye-Barker" descr="Pye-Barker"/>
          <p:cNvPicPr>
            <a:picLocks noChangeAspect="1"/>
          </p:cNvPicPr>
          <p:nvPr/>
        </p:nvPicPr>
        <p:blipFill>
          <a:blip r:embed="rId41"/>
          <a:stretch>
            <a:fillRect/>
          </a:stretch>
        </p:blipFill>
        <p:spPr>
          <a:xfrm>
            <a:off x="4261180" y="5052567"/>
            <a:ext cx="738019" cy="171366"/>
          </a:xfrm>
          <a:prstGeom prst="rect">
            <a:avLst/>
          </a:prstGeom>
        </p:spPr>
      </p:pic>
      <p:cxnSp>
        <p:nvCxnSpPr>
          <p:cNvPr id="120" name="Connector 119"/>
          <p:cNvCxnSpPr/>
          <p:nvPr/>
        </p:nvCxnSpPr>
        <p:spPr>
          <a:xfrm>
            <a:off x="4231180" y="5486400"/>
            <a:ext cx="1596040" cy="0"/>
          </a:xfrm>
          <a:prstGeom prst="line">
            <a:avLst/>
          </a:prstGeom>
          <a:ln w="9525">
            <a:solidFill>
              <a:srgbClr val="E3DCD3"/>
            </a:solidFill>
          </a:ln>
        </p:spPr>
      </p:cxnSp>
      <p:sp>
        <p:nvSpPr>
          <p:cNvPr id="121" name="TextBox 120"/>
          <p:cNvSpPr txBox="1"/>
          <p:nvPr/>
        </p:nvSpPr>
        <p:spPr>
          <a:xfrm>
            <a:off x="423118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123" name="Energy, Power &amp; Environmental column"/>
          <p:cNvSpPr/>
          <p:nvPr/>
        </p:nvSpPr>
        <p:spPr>
          <a:xfrm>
            <a:off x="598722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124" name="Rectangle 123"/>
          <p:cNvSpPr/>
          <p:nvPr/>
        </p:nvSpPr>
        <p:spPr>
          <a:xfrm>
            <a:off x="5987220" y="1238250"/>
            <a:ext cx="1796040" cy="520000"/>
          </a:xfrm>
          <a:prstGeom prst="rect">
            <a:avLst/>
          </a:prstGeom>
          <a:solidFill>
            <a:srgbClr val="1B1A1A"/>
          </a:solidFill>
          <a:ln>
            <a:noFill/>
          </a:ln>
        </p:spPr>
        <p:txBody>
          <a:bodyPr rtlCol="0" anchor="ctr"/>
          <a:lstStyle/>
          <a:p>
            <a:pPr algn="ctr"/>
            <a:endParaRPr/>
          </a:p>
        </p:txBody>
      </p:sp>
      <p:pic>
        <p:nvPicPr>
          <p:cNvPr id="125" name="Icon" descr="Energy and power icon"/>
          <p:cNvPicPr>
            <a:picLocks noChangeAspect="1"/>
          </p:cNvPicPr>
          <p:nvPr/>
        </p:nvPicPr>
        <p:blipFill>
          <a:blip r:embed="rId42"/>
          <a:stretch>
            <a:fillRect/>
          </a:stretch>
        </p:blipFill>
        <p:spPr>
          <a:xfrm>
            <a:off x="6042220" y="1283250"/>
            <a:ext cx="150000" cy="150000"/>
          </a:xfrm>
          <a:prstGeom prst="rect">
            <a:avLst/>
          </a:prstGeom>
        </p:spPr>
      </p:pic>
      <p:sp>
        <p:nvSpPr>
          <p:cNvPr id="126" name="TextBox 125"/>
          <p:cNvSpPr txBox="1"/>
          <p:nvPr/>
        </p:nvSpPr>
        <p:spPr>
          <a:xfrm>
            <a:off x="621722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ENERGY, POWER &amp; ENVIRONMENTAL</a:t>
            </a:r>
          </a:p>
        </p:txBody>
      </p:sp>
      <p:sp>
        <p:nvSpPr>
          <p:cNvPr id="127" name="TextBox 126"/>
          <p:cNvSpPr txBox="1"/>
          <p:nvPr/>
        </p:nvSpPr>
        <p:spPr>
          <a:xfrm>
            <a:off x="608722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128" name="Logo - Generac" descr="Generac"/>
          <p:cNvPicPr>
            <a:picLocks noChangeAspect="1"/>
          </p:cNvPicPr>
          <p:nvPr/>
        </p:nvPicPr>
        <p:blipFill>
          <a:blip r:embed="rId43"/>
          <a:stretch>
            <a:fillRect/>
          </a:stretch>
        </p:blipFill>
        <p:spPr>
          <a:xfrm>
            <a:off x="6117220" y="2126088"/>
            <a:ext cx="738020" cy="164324"/>
          </a:xfrm>
          <a:prstGeom prst="rect">
            <a:avLst/>
          </a:prstGeom>
        </p:spPr>
      </p:pic>
      <p:pic>
        <p:nvPicPr>
          <p:cNvPr id="129" name="Logo - Quanta Services" descr="Quanta Services"/>
          <p:cNvPicPr>
            <a:picLocks noChangeAspect="1"/>
          </p:cNvPicPr>
          <p:nvPr/>
        </p:nvPicPr>
        <p:blipFill>
          <a:blip r:embed="rId44"/>
          <a:stretch>
            <a:fillRect/>
          </a:stretch>
        </p:blipFill>
        <p:spPr>
          <a:xfrm>
            <a:off x="6915240" y="2094708"/>
            <a:ext cx="738020" cy="227083"/>
          </a:xfrm>
          <a:prstGeom prst="rect">
            <a:avLst/>
          </a:prstGeom>
        </p:spPr>
      </p:pic>
      <p:pic>
        <p:nvPicPr>
          <p:cNvPr id="130" name="Logo - Clean Harbors" descr="Clean Harbors"/>
          <p:cNvPicPr>
            <a:picLocks noChangeAspect="1"/>
          </p:cNvPicPr>
          <p:nvPr/>
        </p:nvPicPr>
        <p:blipFill>
          <a:blip r:embed="rId45"/>
          <a:stretch>
            <a:fillRect/>
          </a:stretch>
        </p:blipFill>
        <p:spPr>
          <a:xfrm>
            <a:off x="6117220" y="2393730"/>
            <a:ext cx="738019" cy="229040"/>
          </a:xfrm>
          <a:prstGeom prst="rect">
            <a:avLst/>
          </a:prstGeom>
        </p:spPr>
      </p:pic>
      <p:pic>
        <p:nvPicPr>
          <p:cNvPr id="131" name="Logo - Republic Services" descr="Republic Services"/>
          <p:cNvPicPr>
            <a:picLocks noChangeAspect="1"/>
          </p:cNvPicPr>
          <p:nvPr/>
        </p:nvPicPr>
        <p:blipFill>
          <a:blip r:embed="rId46"/>
          <a:stretch>
            <a:fillRect/>
          </a:stretch>
        </p:blipFill>
        <p:spPr>
          <a:xfrm>
            <a:off x="6915240" y="2390151"/>
            <a:ext cx="738020" cy="236198"/>
          </a:xfrm>
          <a:prstGeom prst="rect">
            <a:avLst/>
          </a:prstGeom>
        </p:spPr>
      </p:pic>
      <p:pic>
        <p:nvPicPr>
          <p:cNvPr id="132" name="Logo - Waste Connections" descr="Waste Connections"/>
          <p:cNvPicPr>
            <a:picLocks noChangeAspect="1"/>
          </p:cNvPicPr>
          <p:nvPr/>
        </p:nvPicPr>
        <p:blipFill>
          <a:blip r:embed="rId47"/>
          <a:stretch>
            <a:fillRect/>
          </a:stretch>
        </p:blipFill>
        <p:spPr>
          <a:xfrm>
            <a:off x="6117220" y="2720669"/>
            <a:ext cx="738020" cy="175162"/>
          </a:xfrm>
          <a:prstGeom prst="rect">
            <a:avLst/>
          </a:prstGeom>
        </p:spPr>
      </p:pic>
      <p:pic>
        <p:nvPicPr>
          <p:cNvPr id="133" name="Logo - Casella Waste Systems" descr="Casella Waste Systems"/>
          <p:cNvPicPr>
            <a:picLocks noChangeAspect="1"/>
          </p:cNvPicPr>
          <p:nvPr/>
        </p:nvPicPr>
        <p:blipFill>
          <a:blip r:embed="rId48"/>
          <a:stretch>
            <a:fillRect/>
          </a:stretch>
        </p:blipFill>
        <p:spPr>
          <a:xfrm>
            <a:off x="6915240" y="2708600"/>
            <a:ext cx="738020" cy="199300"/>
          </a:xfrm>
          <a:prstGeom prst="rect">
            <a:avLst/>
          </a:prstGeom>
        </p:spPr>
      </p:pic>
      <p:pic>
        <p:nvPicPr>
          <p:cNvPr id="134" name="Logo - MYR Group" descr="MYR Group"/>
          <p:cNvPicPr>
            <a:picLocks noChangeAspect="1"/>
          </p:cNvPicPr>
          <p:nvPr/>
        </p:nvPicPr>
        <p:blipFill>
          <a:blip r:embed="rId49"/>
          <a:stretch>
            <a:fillRect/>
          </a:stretch>
        </p:blipFill>
        <p:spPr>
          <a:xfrm>
            <a:off x="6215813" y="2983250"/>
            <a:ext cx="540833" cy="250000"/>
          </a:xfrm>
          <a:prstGeom prst="rect">
            <a:avLst/>
          </a:prstGeom>
        </p:spPr>
      </p:pic>
      <p:pic>
        <p:nvPicPr>
          <p:cNvPr id="135" name="Logo - Primoris Services" descr="Primoris Services"/>
          <p:cNvPicPr>
            <a:picLocks noChangeAspect="1"/>
          </p:cNvPicPr>
          <p:nvPr/>
        </p:nvPicPr>
        <p:blipFill>
          <a:blip r:embed="rId50"/>
          <a:stretch>
            <a:fillRect/>
          </a:stretch>
        </p:blipFill>
        <p:spPr>
          <a:xfrm>
            <a:off x="7006024" y="2983250"/>
            <a:ext cx="556451" cy="250000"/>
          </a:xfrm>
          <a:prstGeom prst="rect">
            <a:avLst/>
          </a:prstGeom>
        </p:spPr>
      </p:pic>
      <p:cxnSp>
        <p:nvCxnSpPr>
          <p:cNvPr id="136" name="Connector 135"/>
          <p:cNvCxnSpPr/>
          <p:nvPr/>
        </p:nvCxnSpPr>
        <p:spPr>
          <a:xfrm>
            <a:off x="6087220" y="4128250"/>
            <a:ext cx="1596040" cy="0"/>
          </a:xfrm>
          <a:prstGeom prst="line">
            <a:avLst/>
          </a:prstGeom>
          <a:ln w="9525">
            <a:solidFill>
              <a:srgbClr val="E3DCD3"/>
            </a:solidFill>
          </a:ln>
        </p:spPr>
      </p:cxnSp>
      <p:sp>
        <p:nvSpPr>
          <p:cNvPr id="137" name="TextBox 136"/>
          <p:cNvSpPr txBox="1"/>
          <p:nvPr/>
        </p:nvSpPr>
        <p:spPr>
          <a:xfrm>
            <a:off x="608722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138" name="Logo - Clean Harbors" descr="Clean Harbors"/>
          <p:cNvPicPr>
            <a:picLocks noChangeAspect="1"/>
          </p:cNvPicPr>
          <p:nvPr/>
        </p:nvPicPr>
        <p:blipFill>
          <a:blip r:embed="rId45"/>
          <a:stretch>
            <a:fillRect/>
          </a:stretch>
        </p:blipFill>
        <p:spPr>
          <a:xfrm>
            <a:off x="6117220" y="4423730"/>
            <a:ext cx="738019" cy="229040"/>
          </a:xfrm>
          <a:prstGeom prst="rect">
            <a:avLst/>
          </a:prstGeom>
        </p:spPr>
      </p:pic>
      <p:pic>
        <p:nvPicPr>
          <p:cNvPr id="139" name="Logo - Mission Critical Group" descr="Mission Critical Group"/>
          <p:cNvPicPr>
            <a:picLocks noChangeAspect="1"/>
          </p:cNvPicPr>
          <p:nvPr/>
        </p:nvPicPr>
        <p:blipFill>
          <a:blip r:embed="rId51"/>
          <a:stretch>
            <a:fillRect/>
          </a:stretch>
        </p:blipFill>
        <p:spPr>
          <a:xfrm>
            <a:off x="6929599" y="4413250"/>
            <a:ext cx="709302" cy="249999"/>
          </a:xfrm>
          <a:prstGeom prst="rect">
            <a:avLst/>
          </a:prstGeom>
        </p:spPr>
      </p:pic>
      <p:pic>
        <p:nvPicPr>
          <p:cNvPr id="140" name="Logo - Triumvirate" descr="Triumvirate"/>
          <p:cNvPicPr>
            <a:picLocks noChangeAspect="1"/>
          </p:cNvPicPr>
          <p:nvPr/>
        </p:nvPicPr>
        <p:blipFill>
          <a:blip r:embed="rId52"/>
          <a:stretch>
            <a:fillRect/>
          </a:stretch>
        </p:blipFill>
        <p:spPr>
          <a:xfrm>
            <a:off x="6117220" y="4769061"/>
            <a:ext cx="738020" cy="138378"/>
          </a:xfrm>
          <a:prstGeom prst="rect">
            <a:avLst/>
          </a:prstGeom>
        </p:spPr>
      </p:pic>
      <p:cxnSp>
        <p:nvCxnSpPr>
          <p:cNvPr id="142" name="Connector 141"/>
          <p:cNvCxnSpPr/>
          <p:nvPr/>
        </p:nvCxnSpPr>
        <p:spPr>
          <a:xfrm>
            <a:off x="6087220" y="5486400"/>
            <a:ext cx="1596040" cy="0"/>
          </a:xfrm>
          <a:prstGeom prst="line">
            <a:avLst/>
          </a:prstGeom>
          <a:ln w="9525">
            <a:solidFill>
              <a:srgbClr val="E3DCD3"/>
            </a:solidFill>
          </a:ln>
        </p:spPr>
      </p:cxnSp>
      <p:sp>
        <p:nvSpPr>
          <p:cNvPr id="143" name="TextBox 142"/>
          <p:cNvSpPr txBox="1"/>
          <p:nvPr/>
        </p:nvSpPr>
        <p:spPr>
          <a:xfrm>
            <a:off x="608722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145" name="Transportation &amp; Logistics column"/>
          <p:cNvSpPr/>
          <p:nvPr/>
        </p:nvSpPr>
        <p:spPr>
          <a:xfrm>
            <a:off x="784326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146" name="Rectangle 145"/>
          <p:cNvSpPr/>
          <p:nvPr/>
        </p:nvSpPr>
        <p:spPr>
          <a:xfrm>
            <a:off x="7843260" y="1238250"/>
            <a:ext cx="1796040" cy="520000"/>
          </a:xfrm>
          <a:prstGeom prst="rect">
            <a:avLst/>
          </a:prstGeom>
          <a:solidFill>
            <a:srgbClr val="1B1A1A"/>
          </a:solidFill>
          <a:ln>
            <a:noFill/>
          </a:ln>
        </p:spPr>
        <p:txBody>
          <a:bodyPr rtlCol="0" anchor="ctr"/>
          <a:lstStyle/>
          <a:p>
            <a:pPr algn="ctr"/>
            <a:endParaRPr/>
          </a:p>
        </p:txBody>
      </p:sp>
      <p:pic>
        <p:nvPicPr>
          <p:cNvPr id="147" name="Icon" descr="Transportation icon"/>
          <p:cNvPicPr>
            <a:picLocks noChangeAspect="1"/>
          </p:cNvPicPr>
          <p:nvPr/>
        </p:nvPicPr>
        <p:blipFill>
          <a:blip r:embed="rId53"/>
          <a:stretch>
            <a:fillRect/>
          </a:stretch>
        </p:blipFill>
        <p:spPr>
          <a:xfrm>
            <a:off x="7898260" y="1283250"/>
            <a:ext cx="150000" cy="150000"/>
          </a:xfrm>
          <a:prstGeom prst="rect">
            <a:avLst/>
          </a:prstGeom>
        </p:spPr>
      </p:pic>
      <p:sp>
        <p:nvSpPr>
          <p:cNvPr id="148" name="TextBox 147"/>
          <p:cNvSpPr txBox="1"/>
          <p:nvPr/>
        </p:nvSpPr>
        <p:spPr>
          <a:xfrm>
            <a:off x="807326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TRANSPORTATION &amp; LOGISTICS</a:t>
            </a:r>
          </a:p>
        </p:txBody>
      </p:sp>
      <p:sp>
        <p:nvSpPr>
          <p:cNvPr id="149" name="TextBox 148"/>
          <p:cNvSpPr txBox="1"/>
          <p:nvPr/>
        </p:nvSpPr>
        <p:spPr>
          <a:xfrm>
            <a:off x="794326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150" name="Logo - J.B. Hunt" descr="J.B. Hunt"/>
          <p:cNvPicPr>
            <a:picLocks noChangeAspect="1"/>
          </p:cNvPicPr>
          <p:nvPr/>
        </p:nvPicPr>
        <p:blipFill>
          <a:blip r:embed="rId54"/>
          <a:stretch>
            <a:fillRect/>
          </a:stretch>
        </p:blipFill>
        <p:spPr>
          <a:xfrm>
            <a:off x="7973260" y="2114195"/>
            <a:ext cx="738020" cy="188110"/>
          </a:xfrm>
          <a:prstGeom prst="rect">
            <a:avLst/>
          </a:prstGeom>
        </p:spPr>
      </p:pic>
      <p:pic>
        <p:nvPicPr>
          <p:cNvPr id="151" name="Logo - Werner Enterprises" descr="Werner Enterprises"/>
          <p:cNvPicPr>
            <a:picLocks noChangeAspect="1"/>
          </p:cNvPicPr>
          <p:nvPr/>
        </p:nvPicPr>
        <p:blipFill>
          <a:blip r:embed="rId55"/>
          <a:stretch>
            <a:fillRect/>
          </a:stretch>
        </p:blipFill>
        <p:spPr>
          <a:xfrm>
            <a:off x="8771280" y="2114343"/>
            <a:ext cx="738020" cy="187813"/>
          </a:xfrm>
          <a:prstGeom prst="rect">
            <a:avLst/>
          </a:prstGeom>
        </p:spPr>
      </p:pic>
      <p:pic>
        <p:nvPicPr>
          <p:cNvPr id="152" name="Logo - C.H. Robinson" descr="C.H. Robinson"/>
          <p:cNvPicPr>
            <a:picLocks noChangeAspect="1"/>
          </p:cNvPicPr>
          <p:nvPr/>
        </p:nvPicPr>
        <p:blipFill>
          <a:blip r:embed="rId56"/>
          <a:stretch>
            <a:fillRect/>
          </a:stretch>
        </p:blipFill>
        <p:spPr>
          <a:xfrm>
            <a:off x="7973260" y="2425512"/>
            <a:ext cx="738020" cy="165475"/>
          </a:xfrm>
          <a:prstGeom prst="rect">
            <a:avLst/>
          </a:prstGeom>
        </p:spPr>
      </p:pic>
      <p:pic>
        <p:nvPicPr>
          <p:cNvPr id="153" name="Logo - Landstar System" descr="Landstar System"/>
          <p:cNvPicPr>
            <a:picLocks noChangeAspect="1"/>
          </p:cNvPicPr>
          <p:nvPr/>
        </p:nvPicPr>
        <p:blipFill>
          <a:blip r:embed="rId57"/>
          <a:stretch>
            <a:fillRect/>
          </a:stretch>
        </p:blipFill>
        <p:spPr>
          <a:xfrm>
            <a:off x="8771280" y="2441095"/>
            <a:ext cx="738020" cy="134310"/>
          </a:xfrm>
          <a:prstGeom prst="rect">
            <a:avLst/>
          </a:prstGeom>
        </p:spPr>
      </p:pic>
      <p:pic>
        <p:nvPicPr>
          <p:cNvPr id="154" name="Logo - Schneider National" descr="Schneider National"/>
          <p:cNvPicPr>
            <a:picLocks noChangeAspect="1"/>
          </p:cNvPicPr>
          <p:nvPr/>
        </p:nvPicPr>
        <p:blipFill>
          <a:blip r:embed="rId58"/>
          <a:stretch>
            <a:fillRect/>
          </a:stretch>
        </p:blipFill>
        <p:spPr>
          <a:xfrm>
            <a:off x="7973260" y="2735979"/>
            <a:ext cx="738020" cy="144541"/>
          </a:xfrm>
          <a:prstGeom prst="rect">
            <a:avLst/>
          </a:prstGeom>
        </p:spPr>
      </p:pic>
      <p:pic>
        <p:nvPicPr>
          <p:cNvPr id="155" name="Logo - ArcBest" descr="ArcBest"/>
          <p:cNvPicPr>
            <a:picLocks noChangeAspect="1"/>
          </p:cNvPicPr>
          <p:nvPr/>
        </p:nvPicPr>
        <p:blipFill>
          <a:blip r:embed="rId59"/>
          <a:stretch>
            <a:fillRect/>
          </a:stretch>
        </p:blipFill>
        <p:spPr>
          <a:xfrm>
            <a:off x="8771280" y="2739581"/>
            <a:ext cx="738020" cy="137338"/>
          </a:xfrm>
          <a:prstGeom prst="rect">
            <a:avLst/>
          </a:prstGeom>
        </p:spPr>
      </p:pic>
      <p:cxnSp>
        <p:nvCxnSpPr>
          <p:cNvPr id="157" name="Connector 156"/>
          <p:cNvCxnSpPr/>
          <p:nvPr/>
        </p:nvCxnSpPr>
        <p:spPr>
          <a:xfrm>
            <a:off x="7943260" y="4128250"/>
            <a:ext cx="1596040" cy="0"/>
          </a:xfrm>
          <a:prstGeom prst="line">
            <a:avLst/>
          </a:prstGeom>
          <a:ln w="9525">
            <a:solidFill>
              <a:srgbClr val="E3DCD3"/>
            </a:solidFill>
          </a:ln>
        </p:spPr>
      </p:cxnSp>
      <p:sp>
        <p:nvSpPr>
          <p:cNvPr id="158" name="TextBox 157"/>
          <p:cNvSpPr txBox="1"/>
          <p:nvPr/>
        </p:nvSpPr>
        <p:spPr>
          <a:xfrm>
            <a:off x="794326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159" name="Logo - C.H. Robinson" descr="C.H. Robinson"/>
          <p:cNvPicPr>
            <a:picLocks noChangeAspect="1"/>
          </p:cNvPicPr>
          <p:nvPr/>
        </p:nvPicPr>
        <p:blipFill>
          <a:blip r:embed="rId56"/>
          <a:stretch>
            <a:fillRect/>
          </a:stretch>
        </p:blipFill>
        <p:spPr>
          <a:xfrm>
            <a:off x="7973260" y="4455512"/>
            <a:ext cx="738020" cy="165475"/>
          </a:xfrm>
          <a:prstGeom prst="rect">
            <a:avLst/>
          </a:prstGeom>
        </p:spPr>
      </p:pic>
      <p:pic>
        <p:nvPicPr>
          <p:cNvPr id="160" name="Logo - Redwood Logistics" descr="Redwood Logistics"/>
          <p:cNvPicPr>
            <a:picLocks noChangeAspect="1"/>
          </p:cNvPicPr>
          <p:nvPr/>
        </p:nvPicPr>
        <p:blipFill>
          <a:blip r:embed="rId60"/>
          <a:stretch>
            <a:fillRect/>
          </a:stretch>
        </p:blipFill>
        <p:spPr>
          <a:xfrm>
            <a:off x="8771280" y="4487399"/>
            <a:ext cx="738020" cy="101702"/>
          </a:xfrm>
          <a:prstGeom prst="rect">
            <a:avLst/>
          </a:prstGeom>
        </p:spPr>
      </p:pic>
      <p:pic>
        <p:nvPicPr>
          <p:cNvPr id="161" name="Logo - Imperative" descr="Imperative"/>
          <p:cNvPicPr>
            <a:picLocks noChangeAspect="1"/>
          </p:cNvPicPr>
          <p:nvPr/>
        </p:nvPicPr>
        <p:blipFill>
          <a:blip r:embed="rId61"/>
          <a:stretch>
            <a:fillRect/>
          </a:stretch>
        </p:blipFill>
        <p:spPr>
          <a:xfrm>
            <a:off x="7973260" y="4765803"/>
            <a:ext cx="738020" cy="144893"/>
          </a:xfrm>
          <a:prstGeom prst="rect">
            <a:avLst/>
          </a:prstGeom>
        </p:spPr>
      </p:pic>
      <p:pic>
        <p:nvPicPr>
          <p:cNvPr id="162" name="Logo - Symbia" descr="Symbia"/>
          <p:cNvPicPr>
            <a:picLocks noChangeAspect="1"/>
          </p:cNvPicPr>
          <p:nvPr/>
        </p:nvPicPr>
        <p:blipFill>
          <a:blip r:embed="rId62"/>
          <a:stretch>
            <a:fillRect/>
          </a:stretch>
        </p:blipFill>
        <p:spPr>
          <a:xfrm>
            <a:off x="8789873" y="4713250"/>
            <a:ext cx="700833" cy="250000"/>
          </a:xfrm>
          <a:prstGeom prst="rect">
            <a:avLst/>
          </a:prstGeom>
        </p:spPr>
      </p:pic>
      <p:cxnSp>
        <p:nvCxnSpPr>
          <p:cNvPr id="163" name="Connector 162"/>
          <p:cNvCxnSpPr/>
          <p:nvPr/>
        </p:nvCxnSpPr>
        <p:spPr>
          <a:xfrm>
            <a:off x="7943260" y="5486400"/>
            <a:ext cx="1596040" cy="0"/>
          </a:xfrm>
          <a:prstGeom prst="line">
            <a:avLst/>
          </a:prstGeom>
          <a:ln w="9525">
            <a:solidFill>
              <a:srgbClr val="E3DCD3"/>
            </a:solidFill>
          </a:ln>
        </p:spPr>
      </p:cxnSp>
      <p:sp>
        <p:nvSpPr>
          <p:cNvPr id="164" name="TextBox 163"/>
          <p:cNvSpPr txBox="1"/>
          <p:nvPr/>
        </p:nvSpPr>
        <p:spPr>
          <a:xfrm>
            <a:off x="794326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pic>
        <p:nvPicPr>
          <p:cNvPr id="165" name="Logo - Centerbridge Partners" descr="Centerbridge Partners"/>
          <p:cNvPicPr>
            <a:picLocks noChangeAspect="1"/>
          </p:cNvPicPr>
          <p:nvPr/>
        </p:nvPicPr>
        <p:blipFill>
          <a:blip r:embed="rId63"/>
          <a:stretch/>
        </p:blipFill>
        <p:spPr>
          <a:xfrm>
            <a:off x="548640" y="5958931"/>
            <a:ext cx="740664" cy="207082"/>
          </a:xfrm>
          <a:prstGeom prst="rect">
            <a:avLst/>
          </a:prstGeom>
        </p:spPr>
      </p:pic>
      <p:pic>
        <p:nvPicPr>
          <p:cNvPr id="166" name="Logo - CORE Industrial Partners" descr="CORE Industrial Partners"/>
          <p:cNvPicPr>
            <a:picLocks noChangeAspect="1"/>
          </p:cNvPicPr>
          <p:nvPr/>
        </p:nvPicPr>
        <p:blipFill>
          <a:blip r:embed="rId64"/>
          <a:stretch/>
        </p:blipFill>
        <p:spPr>
          <a:xfrm>
            <a:off x="1344168" y="5927424"/>
            <a:ext cx="740664" cy="270096"/>
          </a:xfrm>
          <a:prstGeom prst="rect">
            <a:avLst/>
          </a:prstGeom>
        </p:spPr>
      </p:pic>
      <p:pic>
        <p:nvPicPr>
          <p:cNvPr id="167" name="Logo - Wynnchurch Capital" descr="Wynnchurch Capital"/>
          <p:cNvPicPr>
            <a:picLocks noChangeAspect="1"/>
          </p:cNvPicPr>
          <p:nvPr/>
        </p:nvPicPr>
        <p:blipFill>
          <a:blip r:embed="rId65"/>
          <a:stretch/>
        </p:blipFill>
        <p:spPr>
          <a:xfrm>
            <a:off x="548640" y="6486474"/>
            <a:ext cx="740664" cy="121259"/>
          </a:xfrm>
          <a:prstGeom prst="rect">
            <a:avLst/>
          </a:prstGeom>
        </p:spPr>
      </p:pic>
      <p:pic>
        <p:nvPicPr>
          <p:cNvPr id="168" name="Logo - American Industrial Partners" descr="American Industrial Partners"/>
          <p:cNvPicPr>
            <a:picLocks noChangeAspect="1"/>
          </p:cNvPicPr>
          <p:nvPr/>
        </p:nvPicPr>
        <p:blipFill>
          <a:blip r:embed="rId66"/>
          <a:stretch/>
        </p:blipFill>
        <p:spPr>
          <a:xfrm>
            <a:off x="1377287" y="6382512"/>
            <a:ext cx="674426" cy="329184"/>
          </a:xfrm>
          <a:prstGeom prst="rect">
            <a:avLst/>
          </a:prstGeom>
        </p:spPr>
      </p:pic>
      <p:pic>
        <p:nvPicPr>
          <p:cNvPr id="169" name="Logo - AEA Investors" descr="AEA Investors"/>
          <p:cNvPicPr>
            <a:picLocks noChangeAspect="1"/>
          </p:cNvPicPr>
          <p:nvPr/>
        </p:nvPicPr>
        <p:blipFill>
          <a:blip r:embed="rId67"/>
          <a:stretch/>
        </p:blipFill>
        <p:spPr>
          <a:xfrm>
            <a:off x="2517343" y="5897880"/>
            <a:ext cx="515722" cy="329184"/>
          </a:xfrm>
          <a:prstGeom prst="rect">
            <a:avLst/>
          </a:prstGeom>
        </p:spPr>
      </p:pic>
      <p:pic>
        <p:nvPicPr>
          <p:cNvPr id="170" name="Logo - Audax Private Equity" descr="Audax Private Equity"/>
          <p:cNvPicPr>
            <a:picLocks noChangeAspect="1"/>
          </p:cNvPicPr>
          <p:nvPr/>
        </p:nvPicPr>
        <p:blipFill>
          <a:blip r:embed="rId68"/>
          <a:stretch/>
        </p:blipFill>
        <p:spPr>
          <a:xfrm>
            <a:off x="3200400" y="6018495"/>
            <a:ext cx="740664" cy="87954"/>
          </a:xfrm>
          <a:prstGeom prst="rect">
            <a:avLst/>
          </a:prstGeom>
        </p:spPr>
      </p:pic>
      <p:pic>
        <p:nvPicPr>
          <p:cNvPr id="171" name="Logo - Gryphon Investors" descr="Gryphon Investors"/>
          <p:cNvPicPr>
            <a:picLocks noChangeAspect="1"/>
          </p:cNvPicPr>
          <p:nvPr/>
        </p:nvPicPr>
        <p:blipFill>
          <a:blip r:embed="rId69"/>
          <a:stretch/>
        </p:blipFill>
        <p:spPr>
          <a:xfrm>
            <a:off x="2404872" y="6435039"/>
            <a:ext cx="740664" cy="224130"/>
          </a:xfrm>
          <a:prstGeom prst="rect">
            <a:avLst/>
          </a:prstGeom>
        </p:spPr>
      </p:pic>
      <p:pic>
        <p:nvPicPr>
          <p:cNvPr id="172" name="Logo - Wynnchurch Capital" descr="Wynnchurch Capital"/>
          <p:cNvPicPr>
            <a:picLocks noChangeAspect="1"/>
          </p:cNvPicPr>
          <p:nvPr/>
        </p:nvPicPr>
        <p:blipFill>
          <a:blip r:embed="rId65"/>
          <a:stretch/>
        </p:blipFill>
        <p:spPr>
          <a:xfrm>
            <a:off x="3200400" y="6486474"/>
            <a:ext cx="740664" cy="121259"/>
          </a:xfrm>
          <a:prstGeom prst="rect">
            <a:avLst/>
          </a:prstGeom>
        </p:spPr>
      </p:pic>
      <p:pic>
        <p:nvPicPr>
          <p:cNvPr id="173" name="Logo - Huron Capital" descr="Huron Capital"/>
          <p:cNvPicPr>
            <a:picLocks noChangeAspect="1"/>
          </p:cNvPicPr>
          <p:nvPr/>
        </p:nvPicPr>
        <p:blipFill>
          <a:blip r:embed="rId70"/>
          <a:stretch/>
        </p:blipFill>
        <p:spPr>
          <a:xfrm>
            <a:off x="4261104" y="5979484"/>
            <a:ext cx="740664" cy="165975"/>
          </a:xfrm>
          <a:prstGeom prst="rect">
            <a:avLst/>
          </a:prstGeom>
        </p:spPr>
      </p:pic>
      <p:pic>
        <p:nvPicPr>
          <p:cNvPr id="174" name="Logo - Gryphon Investors" descr="Gryphon Investors"/>
          <p:cNvPicPr>
            <a:picLocks noChangeAspect="1"/>
          </p:cNvPicPr>
          <p:nvPr/>
        </p:nvPicPr>
        <p:blipFill>
          <a:blip r:embed="rId69"/>
          <a:stretch/>
        </p:blipFill>
        <p:spPr>
          <a:xfrm>
            <a:off x="5056632" y="5950407"/>
            <a:ext cx="740664" cy="224130"/>
          </a:xfrm>
          <a:prstGeom prst="rect">
            <a:avLst/>
          </a:prstGeom>
        </p:spPr>
      </p:pic>
      <p:pic>
        <p:nvPicPr>
          <p:cNvPr id="175" name="Logo - Altas Partners" descr="Altas Partners"/>
          <p:cNvPicPr>
            <a:picLocks noChangeAspect="1"/>
          </p:cNvPicPr>
          <p:nvPr/>
        </p:nvPicPr>
        <p:blipFill>
          <a:blip r:embed="rId71"/>
          <a:stretch/>
        </p:blipFill>
        <p:spPr>
          <a:xfrm>
            <a:off x="4261104" y="6482810"/>
            <a:ext cx="740664" cy="128588"/>
          </a:xfrm>
          <a:prstGeom prst="rect">
            <a:avLst/>
          </a:prstGeom>
        </p:spPr>
      </p:pic>
      <p:pic>
        <p:nvPicPr>
          <p:cNvPr id="176" name="Logo - Leonard Green &amp; Partners" descr="Leonard Green &amp; Partners"/>
          <p:cNvPicPr>
            <a:picLocks noChangeAspect="1"/>
          </p:cNvPicPr>
          <p:nvPr/>
        </p:nvPicPr>
        <p:blipFill>
          <a:blip r:embed="rId72"/>
          <a:stretch/>
        </p:blipFill>
        <p:spPr>
          <a:xfrm>
            <a:off x="5056632" y="6486198"/>
            <a:ext cx="740664" cy="121813"/>
          </a:xfrm>
          <a:prstGeom prst="rect">
            <a:avLst/>
          </a:prstGeom>
        </p:spPr>
      </p:pic>
      <p:pic>
        <p:nvPicPr>
          <p:cNvPr id="177" name="Logo - Emerald Lake Capital Management" descr="Emerald Lake Capital Management"/>
          <p:cNvPicPr>
            <a:picLocks noChangeAspect="1"/>
          </p:cNvPicPr>
          <p:nvPr/>
        </p:nvPicPr>
        <p:blipFill>
          <a:blip r:embed="rId73"/>
          <a:stretch/>
        </p:blipFill>
        <p:spPr>
          <a:xfrm>
            <a:off x="6117336" y="5991509"/>
            <a:ext cx="740664" cy="141927"/>
          </a:xfrm>
          <a:prstGeom prst="rect">
            <a:avLst/>
          </a:prstGeom>
        </p:spPr>
      </p:pic>
      <p:pic>
        <p:nvPicPr>
          <p:cNvPr id="178" name="Logo - One Rock Capital Partners" descr="One Rock Capital Partners"/>
          <p:cNvPicPr>
            <a:picLocks noChangeAspect="1"/>
          </p:cNvPicPr>
          <p:nvPr/>
        </p:nvPicPr>
        <p:blipFill>
          <a:blip r:embed="rId74"/>
          <a:stretch/>
        </p:blipFill>
        <p:spPr>
          <a:xfrm>
            <a:off x="6912864" y="5986541"/>
            <a:ext cx="740664" cy="151863"/>
          </a:xfrm>
          <a:prstGeom prst="rect">
            <a:avLst/>
          </a:prstGeom>
        </p:spPr>
      </p:pic>
      <p:pic>
        <p:nvPicPr>
          <p:cNvPr id="179" name="Logo - Bernhard Capital Partners" descr="Bernhard Capital Partners"/>
          <p:cNvPicPr>
            <a:picLocks noChangeAspect="1"/>
          </p:cNvPicPr>
          <p:nvPr/>
        </p:nvPicPr>
        <p:blipFill>
          <a:blip r:embed="rId75"/>
          <a:stretch/>
        </p:blipFill>
        <p:spPr>
          <a:xfrm>
            <a:off x="6244521" y="6382512"/>
            <a:ext cx="486295" cy="329184"/>
          </a:xfrm>
          <a:prstGeom prst="rect">
            <a:avLst/>
          </a:prstGeom>
        </p:spPr>
      </p:pic>
      <p:pic>
        <p:nvPicPr>
          <p:cNvPr id="180" name="Logo - Gryphon Investors" descr="Gryphon Investors"/>
          <p:cNvPicPr>
            <a:picLocks noChangeAspect="1"/>
          </p:cNvPicPr>
          <p:nvPr/>
        </p:nvPicPr>
        <p:blipFill>
          <a:blip r:embed="rId69"/>
          <a:stretch/>
        </p:blipFill>
        <p:spPr>
          <a:xfrm>
            <a:off x="6912864" y="6435039"/>
            <a:ext cx="740664" cy="224130"/>
          </a:xfrm>
          <a:prstGeom prst="rect">
            <a:avLst/>
          </a:prstGeom>
        </p:spPr>
      </p:pic>
      <p:pic>
        <p:nvPicPr>
          <p:cNvPr id="181" name="Logo - AEA Investors" descr="AEA Investors"/>
          <p:cNvPicPr>
            <a:picLocks noChangeAspect="1"/>
          </p:cNvPicPr>
          <p:nvPr/>
        </p:nvPicPr>
        <p:blipFill>
          <a:blip r:embed="rId67"/>
          <a:stretch/>
        </p:blipFill>
        <p:spPr>
          <a:xfrm>
            <a:off x="8086039" y="5897880"/>
            <a:ext cx="515722" cy="329184"/>
          </a:xfrm>
          <a:prstGeom prst="rect">
            <a:avLst/>
          </a:prstGeom>
        </p:spPr>
      </p:pic>
      <p:pic>
        <p:nvPicPr>
          <p:cNvPr id="182" name="Logo - H.I.G. Capital" descr="H.I.G. Capital"/>
          <p:cNvPicPr>
            <a:picLocks noChangeAspect="1"/>
          </p:cNvPicPr>
          <p:nvPr/>
        </p:nvPicPr>
        <p:blipFill>
          <a:blip r:embed="rId76"/>
          <a:stretch/>
        </p:blipFill>
        <p:spPr>
          <a:xfrm>
            <a:off x="8801347" y="5897880"/>
            <a:ext cx="676162" cy="329184"/>
          </a:xfrm>
          <a:prstGeom prst="rect">
            <a:avLst/>
          </a:prstGeom>
        </p:spPr>
      </p:pic>
      <p:pic>
        <p:nvPicPr>
          <p:cNvPr id="183" name="Logo - Greenbriar Equity Group" descr="Greenbriar Equity Group"/>
          <p:cNvPicPr>
            <a:picLocks noChangeAspect="1"/>
          </p:cNvPicPr>
          <p:nvPr/>
        </p:nvPicPr>
        <p:blipFill>
          <a:blip r:embed="rId77"/>
          <a:stretch/>
        </p:blipFill>
        <p:spPr>
          <a:xfrm>
            <a:off x="7973568" y="6505956"/>
            <a:ext cx="740664" cy="82296"/>
          </a:xfrm>
          <a:prstGeom prst="rect">
            <a:avLst/>
          </a:prstGeom>
        </p:spPr>
      </p:pic>
      <p:pic>
        <p:nvPicPr>
          <p:cNvPr id="184" name="Logo - Audax Private Equity" descr="Audax Private Equity"/>
          <p:cNvPicPr>
            <a:picLocks noChangeAspect="1"/>
          </p:cNvPicPr>
          <p:nvPr/>
        </p:nvPicPr>
        <p:blipFill>
          <a:blip r:embed="rId68"/>
          <a:stretch/>
        </p:blipFill>
        <p:spPr>
          <a:xfrm>
            <a:off x="8769096" y="6503127"/>
            <a:ext cx="740664" cy="87954"/>
          </a:xfrm>
          <a:prstGeom prst="rect">
            <a:avLst/>
          </a:prstGeom>
        </p:spPr>
      </p:pic>
      <p:pic>
        <p:nvPicPr>
          <p:cNvPr id="185" name="Logo - APi Group" descr="APi Group"/>
          <p:cNvPicPr>
            <a:picLocks noChangeAspect="1"/>
          </p:cNvPicPr>
          <p:nvPr/>
        </p:nvPicPr>
        <p:blipFill>
          <a:blip r:embed="rId78"/>
          <a:stretch/>
        </p:blipFill>
        <p:spPr>
          <a:xfrm>
            <a:off x="4358870" y="3319272"/>
            <a:ext cx="545132" cy="274320"/>
          </a:xfrm>
          <a:prstGeom prst="rect">
            <a:avLst/>
          </a:prstGeom>
        </p:spPr>
      </p:pic>
      <p:pic>
        <p:nvPicPr>
          <p:cNvPr id="186" name="Logo - Knight-Swift (Knight Transportation)" descr="Knight-Swift (Knight Transportation)"/>
          <p:cNvPicPr>
            <a:picLocks noChangeAspect="1"/>
          </p:cNvPicPr>
          <p:nvPr/>
        </p:nvPicPr>
        <p:blipFill>
          <a:blip r:embed="rId79"/>
          <a:stretch/>
        </p:blipFill>
        <p:spPr>
          <a:xfrm>
            <a:off x="7973568" y="3062465"/>
            <a:ext cx="740664" cy="184431"/>
          </a:xfrm>
          <a:prstGeom prst="rect">
            <a:avLst/>
          </a:prstGeom>
        </p:spPr>
      </p:pic>
      <p:pic>
        <p:nvPicPr>
          <p:cNvPr id="187" name="Logo - Capital Extension Crane &amp; Lift" descr="Capital Extension Crane &amp; Lift"/>
          <p:cNvPicPr>
            <a:picLocks noChangeAspect="1"/>
          </p:cNvPicPr>
          <p:nvPr/>
        </p:nvPicPr>
        <p:blipFill>
          <a:blip r:embed="rId80"/>
          <a:stretch/>
        </p:blipFill>
        <p:spPr>
          <a:xfrm>
            <a:off x="5056632" y="5049955"/>
            <a:ext cx="740664" cy="214523"/>
          </a:xfrm>
          <a:prstGeom prst="rect">
            <a:avLst/>
          </a:prstGeom>
        </p:spPr>
      </p:pic>
      <p:pic>
        <p:nvPicPr>
          <p:cNvPr id="188" name="Logo - Apex Water + Process" descr="Apex Water + Process"/>
          <p:cNvPicPr>
            <a:picLocks noChangeAspect="1"/>
          </p:cNvPicPr>
          <p:nvPr/>
        </p:nvPicPr>
        <p:blipFill>
          <a:blip r:embed="rId81"/>
          <a:stretch/>
        </p:blipFill>
        <p:spPr>
          <a:xfrm>
            <a:off x="6912864" y="4752837"/>
            <a:ext cx="740664" cy="177822"/>
          </a:xfrm>
          <a:prstGeom prst="rect">
            <a:avLst/>
          </a:prstGeom>
        </p:spPr>
      </p:pic>
      <p:pic>
        <p:nvPicPr>
          <p:cNvPr id="189" name="Logo - Knight-Swift (Swift Transportation)" descr="Knight-Swift (Swift Transportation)"/>
          <p:cNvPicPr>
            <a:picLocks noChangeAspect="1"/>
          </p:cNvPicPr>
          <p:nvPr/>
        </p:nvPicPr>
        <p:blipFill>
          <a:blip r:embed="rId82"/>
          <a:stretch/>
        </p:blipFill>
        <p:spPr>
          <a:xfrm>
            <a:off x="8813374" y="3017520"/>
            <a:ext cx="652108" cy="274320"/>
          </a:xfrm>
          <a:prstGeom prst="rect">
            <a:avLst/>
          </a:prstGeom>
        </p:spPr>
      </p:pic>
      <p:sp>
        <p:nvSpPr>
          <p:cNvPr id="190" name="Sponsor caption Centerbridge Partners"/>
          <p:cNvSpPr>
            <a:spLocks noGrp="1"/>
          </p:cNvSpPr>
          <p:nvPr/>
        </p:nvSpPr>
        <p:spPr>
          <a:xfrm>
            <a:off x="548640"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Centerbridge</a:t>
            </a:r>
          </a:p>
        </p:txBody>
      </p:sp>
      <p:sp>
        <p:nvSpPr>
          <p:cNvPr id="191" name="Sponsor caption CORE Industrial Partners"/>
          <p:cNvSpPr>
            <a:spLocks noGrp="1"/>
          </p:cNvSpPr>
          <p:nvPr/>
        </p:nvSpPr>
        <p:spPr>
          <a:xfrm>
            <a:off x="1344168"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CORE Industrial</a:t>
            </a:r>
          </a:p>
        </p:txBody>
      </p:sp>
      <p:sp>
        <p:nvSpPr>
          <p:cNvPr id="192" name="Sponsor caption Wynnchurch Capital"/>
          <p:cNvSpPr>
            <a:spLocks noGrp="1"/>
          </p:cNvSpPr>
          <p:nvPr/>
        </p:nvSpPr>
        <p:spPr>
          <a:xfrm>
            <a:off x="548640"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Wynnchurch</a:t>
            </a:r>
          </a:p>
        </p:txBody>
      </p:sp>
      <p:sp>
        <p:nvSpPr>
          <p:cNvPr id="193" name="Sponsor caption American Industrial Partners"/>
          <p:cNvSpPr>
            <a:spLocks noGrp="1"/>
          </p:cNvSpPr>
          <p:nvPr/>
        </p:nvSpPr>
        <p:spPr>
          <a:xfrm>
            <a:off x="1344168"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AIP</a:t>
            </a:r>
          </a:p>
        </p:txBody>
      </p:sp>
      <p:sp>
        <p:nvSpPr>
          <p:cNvPr id="194" name="Sponsor caption AEA Investors"/>
          <p:cNvSpPr>
            <a:spLocks noGrp="1"/>
          </p:cNvSpPr>
          <p:nvPr/>
        </p:nvSpPr>
        <p:spPr>
          <a:xfrm>
            <a:off x="2404872"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AEA Investors</a:t>
            </a:r>
          </a:p>
        </p:txBody>
      </p:sp>
      <p:sp>
        <p:nvSpPr>
          <p:cNvPr id="195" name="Sponsor caption Audax Private Equity"/>
          <p:cNvSpPr>
            <a:spLocks noGrp="1"/>
          </p:cNvSpPr>
          <p:nvPr/>
        </p:nvSpPr>
        <p:spPr>
          <a:xfrm>
            <a:off x="3200400"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Audax PE</a:t>
            </a:r>
          </a:p>
        </p:txBody>
      </p:sp>
      <p:sp>
        <p:nvSpPr>
          <p:cNvPr id="196" name="Sponsor caption Gryphon Investors"/>
          <p:cNvSpPr>
            <a:spLocks noGrp="1"/>
          </p:cNvSpPr>
          <p:nvPr/>
        </p:nvSpPr>
        <p:spPr>
          <a:xfrm>
            <a:off x="2404872"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Gryphon</a:t>
            </a:r>
          </a:p>
        </p:txBody>
      </p:sp>
      <p:sp>
        <p:nvSpPr>
          <p:cNvPr id="197" name="Sponsor caption Wynnchurch Capital"/>
          <p:cNvSpPr>
            <a:spLocks noGrp="1"/>
          </p:cNvSpPr>
          <p:nvPr/>
        </p:nvSpPr>
        <p:spPr>
          <a:xfrm>
            <a:off x="3200400"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Wynnchurch</a:t>
            </a:r>
          </a:p>
        </p:txBody>
      </p:sp>
      <p:sp>
        <p:nvSpPr>
          <p:cNvPr id="198" name="Sponsor caption Huron Capital"/>
          <p:cNvSpPr>
            <a:spLocks noGrp="1"/>
          </p:cNvSpPr>
          <p:nvPr/>
        </p:nvSpPr>
        <p:spPr>
          <a:xfrm>
            <a:off x="4261104"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Huron Capital</a:t>
            </a:r>
          </a:p>
        </p:txBody>
      </p:sp>
      <p:sp>
        <p:nvSpPr>
          <p:cNvPr id="199" name="Sponsor caption Gryphon Investors"/>
          <p:cNvSpPr>
            <a:spLocks noGrp="1"/>
          </p:cNvSpPr>
          <p:nvPr/>
        </p:nvSpPr>
        <p:spPr>
          <a:xfrm>
            <a:off x="5056632"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Gryphon</a:t>
            </a:r>
          </a:p>
        </p:txBody>
      </p:sp>
      <p:sp>
        <p:nvSpPr>
          <p:cNvPr id="200" name="Sponsor caption Altas Partners"/>
          <p:cNvSpPr>
            <a:spLocks noGrp="1"/>
          </p:cNvSpPr>
          <p:nvPr/>
        </p:nvSpPr>
        <p:spPr>
          <a:xfrm>
            <a:off x="4261104"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Altas Partners</a:t>
            </a:r>
          </a:p>
        </p:txBody>
      </p:sp>
      <p:sp>
        <p:nvSpPr>
          <p:cNvPr id="201" name="Sponsor caption Leonard Green &amp; Partners"/>
          <p:cNvSpPr>
            <a:spLocks noGrp="1"/>
          </p:cNvSpPr>
          <p:nvPr/>
        </p:nvSpPr>
        <p:spPr>
          <a:xfrm>
            <a:off x="5056632"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Leonard Green</a:t>
            </a:r>
          </a:p>
        </p:txBody>
      </p:sp>
      <p:sp>
        <p:nvSpPr>
          <p:cNvPr id="202" name="Sponsor caption Emerald Lake Capital Management"/>
          <p:cNvSpPr>
            <a:spLocks noGrp="1"/>
          </p:cNvSpPr>
          <p:nvPr/>
        </p:nvSpPr>
        <p:spPr>
          <a:xfrm>
            <a:off x="6117336"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Emerald Lake</a:t>
            </a:r>
          </a:p>
        </p:txBody>
      </p:sp>
      <p:sp>
        <p:nvSpPr>
          <p:cNvPr id="203" name="Sponsor caption One Rock Capital Partners"/>
          <p:cNvSpPr>
            <a:spLocks noGrp="1"/>
          </p:cNvSpPr>
          <p:nvPr/>
        </p:nvSpPr>
        <p:spPr>
          <a:xfrm>
            <a:off x="6912864"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One Rock</a:t>
            </a:r>
          </a:p>
        </p:txBody>
      </p:sp>
      <p:sp>
        <p:nvSpPr>
          <p:cNvPr id="204" name="Sponsor caption Bernhard Capital Partners"/>
          <p:cNvSpPr>
            <a:spLocks noGrp="1"/>
          </p:cNvSpPr>
          <p:nvPr/>
        </p:nvSpPr>
        <p:spPr>
          <a:xfrm>
            <a:off x="6117336"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Bernhard</a:t>
            </a:r>
          </a:p>
        </p:txBody>
      </p:sp>
      <p:sp>
        <p:nvSpPr>
          <p:cNvPr id="205" name="Sponsor caption Gryphon Investors"/>
          <p:cNvSpPr>
            <a:spLocks noGrp="1"/>
          </p:cNvSpPr>
          <p:nvPr/>
        </p:nvSpPr>
        <p:spPr>
          <a:xfrm>
            <a:off x="6912864"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Gryphon</a:t>
            </a:r>
          </a:p>
        </p:txBody>
      </p:sp>
      <p:sp>
        <p:nvSpPr>
          <p:cNvPr id="206" name="Sponsor caption AEA Investors"/>
          <p:cNvSpPr>
            <a:spLocks noGrp="1"/>
          </p:cNvSpPr>
          <p:nvPr/>
        </p:nvSpPr>
        <p:spPr>
          <a:xfrm>
            <a:off x="7973568"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AEA Investors</a:t>
            </a:r>
          </a:p>
        </p:txBody>
      </p:sp>
      <p:sp>
        <p:nvSpPr>
          <p:cNvPr id="207" name="Sponsor caption H.I.G. Capital"/>
          <p:cNvSpPr>
            <a:spLocks noGrp="1"/>
          </p:cNvSpPr>
          <p:nvPr/>
        </p:nvSpPr>
        <p:spPr>
          <a:xfrm>
            <a:off x="8769096"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H.I.G. Capital</a:t>
            </a:r>
          </a:p>
        </p:txBody>
      </p:sp>
      <p:sp>
        <p:nvSpPr>
          <p:cNvPr id="208" name="Sponsor caption Greenbriar Equity Group"/>
          <p:cNvSpPr>
            <a:spLocks noGrp="1"/>
          </p:cNvSpPr>
          <p:nvPr/>
        </p:nvSpPr>
        <p:spPr>
          <a:xfrm>
            <a:off x="7973568"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Greenbriar</a:t>
            </a:r>
          </a:p>
        </p:txBody>
      </p:sp>
      <p:sp>
        <p:nvSpPr>
          <p:cNvPr id="209" name="Sponsor caption Audax Private Equity"/>
          <p:cNvSpPr>
            <a:spLocks noGrp="1"/>
          </p:cNvSpPr>
          <p:nvPr/>
        </p:nvSpPr>
        <p:spPr>
          <a:xfrm>
            <a:off x="8769096"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Audax PE</a:t>
            </a:r>
          </a:p>
        </p:txBody>
      </p:sp>
      <p:sp>
        <p:nvSpPr>
          <p:cNvPr id="210" name="Knight-Swift parent label"/>
          <p:cNvSpPr>
            <a:spLocks noGrp="1"/>
          </p:cNvSpPr>
          <p:nvPr/>
        </p:nvSpPr>
        <p:spPr>
          <a:xfrm>
            <a:off x="7973568" y="3337560"/>
            <a:ext cx="1536192" cy="137160"/>
          </a:xfrm>
          <a:prstGeom prst="rect">
            <a:avLst/>
          </a:prstGeom>
          <a:noFill/>
          <a:ln w="0">
            <a:noFill/>
            <a:prstDash val="solid"/>
          </a:ln>
        </p:spPr>
        <p:txBody>
          <a:bodyPr/>
          <a:lstStyle>
            <a:defPPr algn="ctr">
              <a:defRPr sz="675">
                <a:solidFill>
                  <a:srgbClr val="756D67"/>
                </a:solidFill>
              </a:defRPr>
            </a:defPPr>
            <a:lvl1pPr algn="ctr">
              <a:defRPr sz="675">
                <a:solidFill>
                  <a:srgbClr val="756D67"/>
                </a:solidFill>
              </a:defRPr>
            </a:lvl1pPr>
            <a:lvl2pPr algn="ctr">
              <a:defRPr sz="675">
                <a:solidFill>
                  <a:srgbClr val="756D67"/>
                </a:solidFill>
              </a:defRPr>
            </a:lvl2pPr>
            <a:lvl3pPr algn="ctr">
              <a:defRPr sz="675">
                <a:solidFill>
                  <a:srgbClr val="756D67"/>
                </a:solidFill>
              </a:defRPr>
            </a:lvl3pPr>
            <a:lvl4pPr algn="ctr">
              <a:defRPr sz="675">
                <a:solidFill>
                  <a:srgbClr val="756D67"/>
                </a:solidFill>
              </a:defRPr>
            </a:lvl4pPr>
            <a:lvl5pPr algn="ctr">
              <a:defRPr sz="675">
                <a:solidFill>
                  <a:srgbClr val="756D67"/>
                </a:solidFill>
              </a:defRPr>
            </a:lvl5pPr>
            <a:lvl6pPr algn="ctr">
              <a:defRPr sz="675">
                <a:solidFill>
                  <a:srgbClr val="756D67"/>
                </a:solidFill>
              </a:defRPr>
            </a:lvl6pPr>
            <a:lvl7pPr algn="ctr">
              <a:defRPr sz="675">
                <a:solidFill>
                  <a:srgbClr val="756D67"/>
                </a:solidFill>
              </a:defRPr>
            </a:lvl7pPr>
            <a:lvl8pPr algn="ctr">
              <a:defRPr sz="675">
                <a:solidFill>
                  <a:srgbClr val="756D67"/>
                </a:solidFill>
              </a:defRPr>
            </a:lvl8pPr>
            <a:lvl9pPr algn="ctr">
              <a:defRPr sz="675">
                <a:solidFill>
                  <a:srgbClr val="756D67"/>
                </a:solidFill>
              </a:defRPr>
            </a:lvl9pPr>
          </a:lstStyle>
          <a:p>
            <a:pPr algn="ctr">
              <a:defRPr sz="675">
                <a:solidFill>
                  <a:srgbClr val="756D67"/>
                </a:solidFill>
              </a:defRPr>
            </a:pPr>
            <a:r>
              <a:rPr sz="675">
                <a:solidFill>
                  <a:srgbClr val="756D67"/>
                </a:solidFill>
              </a:rPr>
              <a:t>Knight-Swift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senter leading a meeting around a conference table"/>
          <p:cNvPicPr>
            <a:picLocks noChangeAspect="1"/>
          </p:cNvPicPr>
          <p:nvPr/>
        </p:nvPicPr>
        <p:blipFill>
          <a:blip r:embed="rId2"/>
          <a:srcRect l="31208" r="31208"/>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About Benchmark</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070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strategic sales, mergers, and qualifying change-of-control transactions. The first step is a confidential conversation about your goals, your company, and your options, with no pressure and no commitments.</a:t>
            </a:r>
            <a:endParaRPr lang="en-US" sz="1013" dirty="0"/>
          </a:p>
        </p:txBody>
      </p:sp>
      <p:sp>
        <p:nvSpPr>
          <p:cNvPr id="9" name="Shape 6"/>
          <p:cNvSpPr/>
          <p:nvPr/>
        </p:nvSpPr>
        <p:spPr>
          <a:xfrm>
            <a:off x="609600" y="47500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484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23</a:t>
            </a:r>
            <a:endParaRPr lang="en-US" sz="825" dirty="0"/>
          </a:p>
        </p:txBody>
      </p:sp>
      <p:sp>
        <p:nvSpPr>
          <p:cNvPr id="11" name="Text 8"/>
          <p:cNvSpPr txBox="1"/>
          <p:nvPr/>
        </p:nvSpPr>
        <p:spPr>
          <a:xfrm>
            <a:off x="971550" y="4826200"/>
            <a:ext cx="4095750" cy="209550"/>
          </a:xfrm>
          <a:prstGeom prst="rect">
            <a:avLst/>
          </a:prstGeom>
          <a:noFill/>
          <a:ln/>
        </p:spPr>
        <p:txBody>
          <a:bodyPr wrap="square" lIns="0" tIns="0" rIns="0" bIns="0" rtlCol="0" anchor="t"/>
          <a:lstStyle/>
          <a:p>
            <a:pPr marL="0" indent="0">
              <a:buNone/>
            </a:pPr>
            <a:r>
              <a:rPr lang="en-US" sz="975" dirty="0">
                <a:solidFill>
                  <a:srgbClr val="F4EFE8"/>
                </a:solidFill>
              </a:rPr>
              <a:t>About Benchmark International</a:t>
            </a:r>
            <a:endParaRPr lang="en-US" sz="975" dirty="0"/>
          </a:p>
        </p:txBody>
      </p:sp>
      <p:sp>
        <p:nvSpPr>
          <p:cNvPr id="12" name="Shape 6"/>
          <p:cNvSpPr/>
          <p:nvPr/>
        </p:nvSpPr>
        <p:spPr>
          <a:xfrm>
            <a:off x="609600" y="5020000"/>
            <a:ext cx="4476750" cy="0"/>
          </a:xfrm>
          <a:prstGeom prst="line">
            <a:avLst/>
          </a:prstGeom>
          <a:noFill/>
          <a:ln w="9525">
            <a:solidFill>
              <a:srgbClr val="5B4E40"/>
            </a:solidFill>
            <a:prstDash val="solid"/>
          </a:ln>
        </p:spPr>
        <p:txBody>
          <a:bodyPr/>
          <a:lstStyle/>
          <a:p>
            <a:endParaRPr lang="en-US"/>
          </a:p>
        </p:txBody>
      </p:sp>
      <p:sp>
        <p:nvSpPr>
          <p:cNvPr id="13" name="Text 7"/>
          <p:cNvSpPr txBox="1"/>
          <p:nvPr/>
        </p:nvSpPr>
        <p:spPr>
          <a:xfrm>
            <a:off x="609600" y="511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24</a:t>
            </a:r>
            <a:endParaRPr lang="en-US" sz="825" dirty="0"/>
          </a:p>
        </p:txBody>
      </p:sp>
      <p:sp>
        <p:nvSpPr>
          <p:cNvPr id="14" name="Text 8"/>
          <p:cNvSpPr txBox="1"/>
          <p:nvPr/>
        </p:nvSpPr>
        <p:spPr>
          <a:xfrm>
            <a:off x="971550" y="50962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5" name="Shape 6"/>
          <p:cNvSpPr/>
          <p:nvPr/>
        </p:nvSpPr>
        <p:spPr>
          <a:xfrm>
            <a:off x="609600" y="5290000"/>
            <a:ext cx="4476750" cy="0"/>
          </a:xfrm>
          <a:prstGeom prst="line">
            <a:avLst/>
          </a:prstGeom>
          <a:noFill/>
          <a:ln w="9525">
            <a:solidFill>
              <a:srgbClr val="5B4E40"/>
            </a:solidFill>
            <a:prstDash val="solid"/>
          </a:ln>
        </p:spPr>
        <p:txBody>
          <a:bodyPr/>
          <a:lstStyle/>
          <a:p>
            <a:endParaRPr lang="en-US"/>
          </a:p>
        </p:txBody>
      </p:sp>
      <p:sp>
        <p:nvSpPr>
          <p:cNvPr id="16" name="Text 7"/>
          <p:cNvSpPr txBox="1"/>
          <p:nvPr/>
        </p:nvSpPr>
        <p:spPr>
          <a:xfrm>
            <a:off x="609600" y="538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25</a:t>
            </a:r>
            <a:endParaRPr lang="en-US" sz="825" dirty="0"/>
          </a:p>
        </p:txBody>
      </p:sp>
      <p:sp>
        <p:nvSpPr>
          <p:cNvPr id="17" name="Text 8"/>
          <p:cNvSpPr txBox="1"/>
          <p:nvPr/>
        </p:nvSpPr>
        <p:spPr>
          <a:xfrm>
            <a:off x="971550" y="5366200"/>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18" name="Shape 6"/>
          <p:cNvSpPr/>
          <p:nvPr/>
        </p:nvSpPr>
        <p:spPr>
          <a:xfrm>
            <a:off x="609600" y="55600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2764185"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INDUSTRIALS  |</a:t>
            </a:r>
            <a:r>
              <a:rPr sz="675" b="1" i="0" spc="195" dirty="0">
                <a:solidFill>
                  <a:srgbClr val="8C6239"/>
                </a:solidFill>
                <a:latin typeface="Quicksand"/>
              </a:rPr>
              <a:t>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Benchmark International</a:t>
            </a:r>
          </a:p>
        </p:txBody>
      </p:sp>
      <p:sp>
        <p:nvSpPr>
          <p:cNvPr id="7" name="TextBox 6"/>
          <p:cNvSpPr txBox="1"/>
          <p:nvPr/>
        </p:nvSpPr>
        <p:spPr>
          <a:xfrm>
            <a:off x="419100" y="864394"/>
            <a:ext cx="6262836"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10" name="Picture" descr="Benchmark International emblem on a dark background"/>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Picture" descr="Benchmark International logo"/>
          <p:cNvPicPr>
            <a:picLocks noChangeAspect="1"/>
          </p:cNvPicPr>
          <p:nvPr/>
        </p:nvPicPr>
        <p:blipFill>
          <a:blip r:embed="rId3"/>
          <a:stretch>
            <a:fillRect/>
          </a:stretch>
        </p:blipFill>
        <p:spPr>
          <a:xfrm>
            <a:off x="600738" y="1466850"/>
            <a:ext cx="2381250" cy="447675"/>
          </a:xfrm>
          <a:prstGeom prst="rect">
            <a:avLst/>
          </a:prstGeom>
        </p:spPr>
      </p:pic>
      <p:sp>
        <p:nvSpPr>
          <p:cNvPr id="12" name="TextBox 11"/>
          <p:cNvSpPr txBox="1"/>
          <p:nvPr/>
        </p:nvSpPr>
        <p:spPr>
          <a:xfrm>
            <a:off x="3192810" y="1445975"/>
            <a:ext cx="6265515" cy="338138"/>
          </a:xfrm>
          <a:prstGeom prst="rect">
            <a:avLst/>
          </a:prstGeom>
          <a:noFill/>
        </p:spPr>
        <p:txBody>
          <a:bodyPr wrap="square" lIns="0" tIns="0" rIns="0" bIns="0" anchor="t">
            <a:noAutofit/>
          </a:bodyPr>
          <a:lstStyle/>
          <a:p>
            <a:pPr>
              <a:lnSpc>
                <a:spcPts val="1575"/>
              </a:lnSpc>
            </a:pPr>
            <a:r>
              <a:rPr lang="en-US" sz="1000" dirty="0">
                <a:solidFill>
                  <a:srgbClr val="E8E2DA"/>
                </a:solidFill>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endParaRPr lang="en-US" sz="1000" dirty="0"/>
          </a:p>
        </p:txBody>
      </p:sp>
      <p:sp>
        <p:nvSpPr>
          <p:cNvPr id="13" name="Rule"/>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4" name="TextBox 13"/>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739674"/>
            <a:ext cx="1807964" cy="5905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17" name="TextBox 16"/>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739674"/>
            <a:ext cx="2329160"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20" name="TextBox 19"/>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3" name="TextBox 22"/>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endParaRP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endParaRP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endParaRP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endParaRP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endParaRPr/>
          </a:p>
        </p:txBody>
      </p:sp>
      <p:pic>
        <p:nvPicPr>
          <p:cNvPr id="31" name="Picture" descr="Award: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endParaRP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endParaRP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endParaRP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endParaRP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endParaRPr/>
          </a:p>
        </p:txBody>
      </p:sp>
      <p:pic>
        <p:nvPicPr>
          <p:cNvPr id="37" name="Picture" descr="Award: number one sell-side exclusive M&amp;A advisor in the world"/>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endParaRP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endParaRP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endParaRP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endParaRP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endParaRPr/>
          </a:p>
        </p:txBody>
      </p:sp>
      <p:pic>
        <p:nvPicPr>
          <p:cNvPr id="43" name="Picture" descr="Award: number one privately held M&amp;A advisor worldwid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endParaRP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endParaRP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endParaRP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endParaRP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endParaRPr/>
          </a:p>
        </p:txBody>
      </p:sp>
      <p:pic>
        <p:nvPicPr>
          <p:cNvPr id="49" name="Picture" descr="Award: first in the category of investment advisers for unlisted deal flow"/>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FIVE INDUSTRY GROUPS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endParaRPr/>
          </a:p>
        </p:txBody>
      </p:sp>
      <p:pic>
        <p:nvPicPr>
          <p:cNvPr id="53" name="Graphic" descr="Industrial icon"/>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endParaRPr/>
          </a:p>
        </p:txBody>
      </p:sp>
      <p:pic>
        <p:nvPicPr>
          <p:cNvPr id="57" name="Graphic" descr="Business Services icon"/>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endParaRPr/>
          </a:p>
        </p:txBody>
      </p:sp>
      <p:pic>
        <p:nvPicPr>
          <p:cNvPr id="61" name="Graphic" descr="Consumer icon"/>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endParaRPr/>
          </a:p>
        </p:txBody>
      </p:sp>
      <p:pic>
        <p:nvPicPr>
          <p:cNvPr id="65" name="Graphic" descr="Healthcare icon"/>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68" name="Rule"/>
          <p:cNvSpPr/>
          <p:nvPr/>
        </p:nvSpPr>
        <p:spPr>
          <a:xfrm>
            <a:off x="7886700" y="6353175"/>
            <a:ext cx="1752600" cy="28575"/>
          </a:xfrm>
          <a:prstGeom prst="rect">
            <a:avLst/>
          </a:prstGeom>
          <a:solidFill>
            <a:srgbClr val="B68757"/>
          </a:solidFill>
          <a:ln>
            <a:noFill/>
          </a:ln>
        </p:spPr>
        <p:txBody>
          <a:bodyPr rtlCol="0" anchor="ctr"/>
          <a:lstStyle/>
          <a:p>
            <a:pPr algn="ctr"/>
            <a:endParaRPr/>
          </a:p>
        </p:txBody>
      </p:sp>
      <p:pic>
        <p:nvPicPr>
          <p:cNvPr id="69" name="Graphic" descr="Technology icon"/>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72" name="Graphic"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709470"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u="sng" spc="8">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2764185"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95">
                <a:solidFill>
                  <a:srgbClr val="8C6239"/>
                </a:solidFill>
                <a:latin typeface="Quicksand"/>
              </a:rPr>
              <a:t>INDUSTRIALS  |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TextBox 8"/>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6388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dirty="0">
                <a:solidFill>
                  <a:srgbClr val="1B1A1A"/>
                </a:solidFill>
                <a:latin typeface="Newsreader"/>
              </a:rPr>
              <a:t>It all starts with a conversation.</a:t>
            </a:r>
          </a:p>
        </p:txBody>
      </p:sp>
      <p:sp>
        <p:nvSpPr>
          <p:cNvPr id="11" name="Panel"/>
          <p:cNvSpPr/>
          <p:nvPr/>
        </p:nvSpPr>
        <p:spPr>
          <a:xfrm>
            <a:off x="419100" y="2523676"/>
            <a:ext cx="685800" cy="19050"/>
          </a:xfrm>
          <a:prstGeom prst="rect">
            <a:avLst/>
          </a:prstGeom>
          <a:solidFill>
            <a:srgbClr val="B68757"/>
          </a:solidFill>
          <a:ln>
            <a:noFill/>
          </a:ln>
        </p:spPr>
        <p:txBody>
          <a:bodyPr rtlCol="0" anchor="ctr"/>
          <a:lstStyle/>
          <a:p>
            <a:pPr algn="ctr"/>
            <a:endParaRPr/>
          </a:p>
        </p:txBody>
      </p:sp>
      <p:sp>
        <p:nvSpPr>
          <p:cNvPr id="12" name="TextBox 11"/>
          <p:cNvSpPr txBox="1"/>
          <p:nvPr/>
        </p:nvSpPr>
        <p:spPr>
          <a:xfrm>
            <a:off x="419100" y="2714938"/>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dirty="0">
                <a:solidFill>
                  <a:srgbClr val="333231"/>
                </a:solidFill>
                <a:latin typeface="Quicksand"/>
              </a:rPr>
              <a:t>Want to explore your options or know more? Our first step is always a confidential conversation exploring your goals, your company, and your options. Owners considering a strategic sale, merger, or qualifying change-of-control transaction in the five industrial segments, and the advisors who work with them, are welcome to call or email.</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5" name="Picture" descr="Photo of Jared Hardin"/>
          <p:cNvPicPr>
            <a:picLocks noChangeAspect="1"/>
          </p:cNvPicPr>
          <p:nvPr/>
        </p:nvPicPr>
        <p:blipFill>
          <a:blip r:embed="rId2"/>
          <a:stretch>
            <a:fillRect/>
          </a:stretch>
        </p:blipFill>
        <p:spPr>
          <a:xfrm>
            <a:off x="600075" y="4513327"/>
            <a:ext cx="914400" cy="914400"/>
          </a:xfrm>
          <a:prstGeom prst="ellipse">
            <a:avLst/>
          </a:prstGeom>
        </p:spPr>
      </p:pic>
      <p:sp>
        <p:nvSpPr>
          <p:cNvPr id="16" name="TextBox 15"/>
          <p:cNvSpPr txBox="1"/>
          <p:nvPr/>
        </p:nvSpPr>
        <p:spPr>
          <a:xfrm>
            <a:off x="1704975" y="4485514"/>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04975" y="4779837"/>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65" dirty="0">
                <a:solidFill>
                  <a:srgbClr val="8C6239"/>
                </a:solidFill>
                <a:latin typeface="Quicksand"/>
              </a:rPr>
              <a:t>MANAGING DIRECTOR</a:t>
            </a:r>
            <a:r>
              <a:rPr lang="en-US" sz="675" b="1" i="0" spc="165" dirty="0">
                <a:solidFill>
                  <a:srgbClr val="8C6239"/>
                </a:solidFill>
                <a:latin typeface="Quicksand"/>
              </a:rPr>
              <a:t/>
            </a:r>
            <a:r>
              <a:rPr sz="675" b="1" i="0" spc="165" dirty="0">
                <a:solidFill>
                  <a:srgbClr val="8C6239"/>
                </a:solidFill>
                <a:latin typeface="Quicksand"/>
              </a:rPr>
              <a:t/>
            </a:r>
          </a:p>
        </p:txBody>
      </p:sp>
      <p:sp>
        <p:nvSpPr>
          <p:cNvPr id="18" name="TextBox 17"/>
          <p:cNvSpPr txBox="1"/>
          <p:nvPr/>
        </p:nvSpPr>
        <p:spPr>
          <a:xfrm>
            <a:off x="1704975" y="4988243"/>
            <a:ext cx="2158008" cy="352425"/>
          </a:xfrm>
          <a:prstGeom prst="rect">
            <a:avLst/>
          </a:prstGeom>
          <a:noFill/>
        </p:spPr>
        <p:txBody>
          <a:bodyPr wrap="square" lIns="0" tIns="0" rIns="0" bIns="0" anchor="t">
            <a:noAutofit/>
          </a:bodyPr>
          <a:lstStyle/>
          <a:p>
            <a:pPr algn="l">
              <a:lnSpc>
                <a:spcPts val="1575"/>
              </a:lnSpc>
              <a:spcBef>
                <a:spcPts val="0"/>
              </a:spcBef>
              <a:spcAft>
                <a:spcPts val="0"/>
              </a:spcAft>
            </a:pPr>
            <a:r>
              <a:rPr sz="975" b="0" i="0" u="sng" spc="15">
                <a:solidFill>
                  <a:srgbClr val="8C6239"/>
                </a:solidFill>
                <a:latin typeface="Quicksand"/>
                <a:hlinkClick r:id="rId3"/>
              </a:rPr>
              <a:t>210-241-7990</a:t>
            </a:r>
          </a:p>
          <a:p>
            <a:pPr algn="l">
              <a:lnSpc>
                <a:spcPts val="1575"/>
              </a:lnSpc>
              <a:spcBef>
                <a:spcPts val="0"/>
              </a:spcBef>
              <a:spcAft>
                <a:spcPts val="0"/>
              </a:spcAft>
            </a:pPr>
            <a:r>
              <a:rPr sz="97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20" name="TextBox 19">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31" name="Graphic"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32" name="TextBox 31"/>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24</a:t>
            </a:r>
          </a:p>
        </p:txBody>
      </p:sp>
      <p:pic>
        <p:nvPicPr>
          <p:cNvPr id="22" name="Picture 21" descr="Presenter leading a meeting around a conference table"/>
          <p:cNvPicPr>
            <a:picLocks noChangeAspect="1"/>
          </p:cNvPicPr>
          <p:nvPr/>
        </p:nvPicPr>
        <p:blipFill>
          <a:blip r:embed="rId7"/>
          <a:srcRect l="31494" r="31494"/>
          <a:stretch>
            <a:fillRect/>
          </a:stretch>
        </p:blipFill>
        <p:spPr>
          <a:xfrm>
            <a:off x="6477000" y="1238250"/>
            <a:ext cx="3162300" cy="569595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Sources cited in this report, collected by section. Links in the slides open the page each figure came from.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Report sources gathered October 2 to 19, 2026. Sponsor and logo additions researched October 27,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720" b="1" kern="0" spc="120" dirty="0">
                <a:solidFill>
                  <a:srgbClr val="8C6239"/>
                </a:solidFill>
              </a:rPr>
              <a:t>INSIGHTS (PAGES 5 TO 11)</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acg.org/news-trends/news/gf-data-reports-show-steady-middle-market-deal-flow-amid-more-selective">
                  <a:extLst>
                    <a:ext uri="{A12FA001-AC4F-418D-AE19-62706E023703}">
                      <ahyp:hlinkClr xmlns:ahyp="http://schemas.microsoft.com/office/drawing/2018/hyperlinkcolor" val="tx"/>
                    </a:ext>
                  </a:extLst>
                </a:hlinkClick>
              </a:rPr>
              <a:t>ACG GF Data</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5" tooltip="https://www.freightwaves.com/news/mexico-remains-top-us-trading-partner-as-august-commerce-hits-94-3b">
                  <a:extLst>
                    <a:ext uri="{A12FA001-AC4F-418D-AE19-62706E023703}">
                      <ahyp:hlinkClr xmlns:ahyp="http://schemas.microsoft.com/office/drawing/2018/hyperlinkcolor" val="tx"/>
                    </a:ext>
                  </a:extLst>
                </a:hlinkClick>
              </a:rPr>
              <a:t>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6" tooltip="https://www.kitco.com/news/off-the-wire/2026-07-09/us-power-companies-scramble-secure-equipment-surging-data-center">
                  <a:extLst>
                    <a:ext uri="{A12FA001-AC4F-418D-AE19-62706E023703}">
                      <ahyp:hlinkClr xmlns:ahyp="http://schemas.microsoft.com/office/drawing/2018/hyperlinkcolor" val="tx"/>
                    </a:ext>
                  </a:extLst>
                </a:hlinkClick>
              </a:rPr>
              <a:t>Reuters via Kitco</a:t>
            </a:r>
            <a:r>
              <a:rPr lang="en-US" sz="720" dirty="0">
                <a:solidFill>
                  <a:srgbClr val="6F6A66"/>
                </a:solidFill>
              </a:rPr>
              <a:t>  kitco.com</a:t>
            </a:r>
            <a:endParaRPr lang="en-US" sz="720" dirty="0"/>
          </a:p>
          <a:p>
            <a:pPr marL="0" indent="0">
              <a:lnSpc>
                <a:spcPts val="990"/>
              </a:lnSpc>
              <a:buNone/>
            </a:pPr>
            <a:r>
              <a:rPr lang="en-US" sz="720" u="sng" dirty="0">
                <a:solidFill>
                  <a:srgbClr val="8C6239"/>
                </a:solidFill>
                <a:hlinkClick r:id="rId7"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8"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11"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2"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3"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4"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 via Global Banking &amp; Finance Review</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5"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6"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7"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8"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9"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0"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 via AJOT</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1"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2"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3"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4"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5"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6"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7"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8"/>
              </a:rPr>
              <a:t>ABC, reported by Construction Dive</a:t>
            </a:r>
            <a:r>
              <a:rPr lang="en-US" sz="720" dirty="0">
                <a:solidFill>
                  <a:srgbClr val="6F6A66"/>
                </a:solidFill>
              </a:rPr>
              <a:t>  constructiondive.com</a:t>
            </a:r>
            <a:endParaRPr lang="en-US" sz="720" dirty="0"/>
          </a:p>
          <a:p>
            <a:pPr marL="0" indent="0">
              <a:lnSpc>
                <a:spcPts val="990"/>
              </a:lnSpc>
              <a:buNone/>
            </a:pPr>
            <a:r>
              <a:rPr lang="en-US" sz="720" u="sng" dirty="0">
                <a:solidFill>
                  <a:srgbClr val="8C6239"/>
                </a:solidFill>
                <a:hlinkClick r:id="rId29"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720" u="sng" dirty="0">
                <a:hlinkClick r:id="rId34"/>
              </a:rPr>
              <a:t>Bg2 Pod</a:t>
            </a:r>
            <a:r>
              <a:rPr lang="en-US" sz="720" dirty="0"/>
              <a:t>  </a:t>
            </a:r>
            <a:r>
              <a:rPr lang="en-US" sz="720" dirty="0">
                <a:solidFill>
                  <a:srgbClr val="6F6A66"/>
                </a:solidFill>
              </a:rPr>
              <a:t>bg2pod.com</a:t>
            </a:r>
          </a:p>
          <a:p>
            <a:pPr>
              <a:lnSpc>
                <a:spcPct val="100000"/>
              </a:lnSpc>
            </a:pPr>
            <a:r>
              <a:rPr lang="en-US" sz="720" dirty="0">
                <a:hlinkClick r:id="rId35"/>
              </a:rPr>
              <a:t>CNBC</a:t>
            </a:r>
            <a:r>
              <a:rPr lang="en-US" sz="72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720" u="sng" dirty="0">
                <a:hlinkClick r:id="rId37"/>
              </a:rPr>
              <a:t>Quanta Services</a:t>
            </a:r>
            <a:r>
              <a:rPr lang="en-US" sz="72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13 AND 14)</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4"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5"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6"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6, 9, 10, 11, 15 AND 21)</a:t>
            </a:r>
            <a:endParaRPr lang="en-US" sz="720" dirty="0"/>
          </a:p>
          <a:p>
            <a:pPr marL="0" indent="0">
              <a:lnSpc>
                <a:spcPts val="990"/>
              </a:lnSpc>
              <a:buNone/>
            </a:pPr>
            <a:r>
              <a:rPr lang="en-US" sz="720" u="sng" dirty="0">
                <a:solidFill>
                  <a:srgbClr val="8C6239"/>
                </a:solidFill>
                <a:hlinkClick r:id="rId47"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p:txBody>
      </p:sp>
      <p:sp>
        <p:nvSpPr>
          <p:cNvPr id="7" name="Text 5"/>
          <p:cNvSpPr txBox="1"/>
          <p:nvPr/>
        </p:nvSpPr>
        <p:spPr>
          <a:xfrm>
            <a:off x="6731000" y="1257300"/>
            <a:ext cx="2908300" cy="210312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16 TO 21)</a:t>
            </a:r>
            <a:endParaRPr lang="en-US" sz="720" dirty="0"/>
          </a:p>
          <a:p>
            <a:pPr marL="0" indent="0">
              <a:lnSpc>
                <a:spcPts val="990"/>
              </a:lnSpc>
              <a:buNone/>
            </a:pPr>
            <a:r>
              <a:rPr lang="en-US" sz="720" u="sng" dirty="0">
                <a:solidFill>
                  <a:srgbClr val="8C6239"/>
                </a:solidFill>
                <a:hlinkClick r:id="rId61"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2"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3"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4"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5"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6"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a:p>
            <a:pPr marL="0" indent="0">
              <a:lnSpc>
                <a:spcPts val="990"/>
              </a:lnSpc>
              <a:buNone/>
            </a:pPr>
            <a:r>
              <a:rPr lang="en-US" sz="720" dirty="0">
                <a:solidFill>
                  <a:srgbClr val="8C6239"/>
                </a:solidFill>
              </a:rPr>
              <a:t>Company earnings releases and calls</a:t>
            </a:r>
            <a:r>
              <a:rPr lang="en-US" sz="720" dirty="0">
                <a:solidFill>
                  <a:srgbClr val="6F6A66"/>
                </a:solidFill>
              </a:rPr>
              <a:t>  investor relations sites</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Listed-company figures are from StockAnalysis and use reported EBITDA. Economic series are from FRED and the Federal Reserve G.17 release. Benchmark International figures are from the firm’s transaction records as of October 1, 2026. Private transaction values and multiples are as reported by the acquirer or calculated from the figures it disclosed.</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25</a:t>
            </a:fld>
            <a:endParaRPr lang="en-US"/>
          </a:p>
        </p:txBody>
      </p:sp>
      <p:sp>
        <p:nvSpPr>
          <p:cNvPr id="26" name="Sponsor sources heading"/>
          <p:cNvSpPr>
            <a:spLocks noGrp="1"/>
          </p:cNvSpPr>
          <p:nvPr/>
        </p:nvSpPr>
        <p:spPr>
          <a:xfrm>
            <a:off x="6729984" y="3474720"/>
            <a:ext cx="2907792" cy="182880"/>
          </a:xfrm>
          <a:prstGeom prst="rect">
            <a:avLst/>
          </a:prstGeom>
          <a:noFill/>
          <a:ln w="0">
            <a:noFill/>
            <a:prstDash val="solid"/>
          </a:ln>
        </p:spPr>
        <p:txBody>
          <a:bodyPr anchor="t"/>
          <a:lstStyle>
            <a:defPPr>
              <a:defRPr sz="710" b="1">
                <a:solidFill>
                  <a:srgbClr val="99622F"/>
                </a:solidFill>
              </a:defRPr>
            </a:defPPr>
            <a:lvl1pPr>
              <a:defRPr sz="710" b="1">
                <a:solidFill>
                  <a:srgbClr val="99622F"/>
                </a:solidFill>
              </a:defRPr>
            </a:lvl1pPr>
            <a:lvl2pPr>
              <a:defRPr sz="710" b="1">
                <a:solidFill>
                  <a:srgbClr val="99622F"/>
                </a:solidFill>
              </a:defRPr>
            </a:lvl2pPr>
            <a:lvl3pPr>
              <a:defRPr sz="710" b="1">
                <a:solidFill>
                  <a:srgbClr val="99622F"/>
                </a:solidFill>
              </a:defRPr>
            </a:lvl3pPr>
            <a:lvl4pPr>
              <a:defRPr sz="710" b="1">
                <a:solidFill>
                  <a:srgbClr val="99622F"/>
                </a:solidFill>
              </a:defRPr>
            </a:lvl4pPr>
            <a:lvl5pPr>
              <a:defRPr sz="710" b="1">
                <a:solidFill>
                  <a:srgbClr val="99622F"/>
                </a:solidFill>
              </a:defRPr>
            </a:lvl5pPr>
            <a:lvl6pPr>
              <a:defRPr sz="710" b="1">
                <a:solidFill>
                  <a:srgbClr val="99622F"/>
                </a:solidFill>
              </a:defRPr>
            </a:lvl6pPr>
            <a:lvl7pPr>
              <a:defRPr sz="710" b="1">
                <a:solidFill>
                  <a:srgbClr val="99622F"/>
                </a:solidFill>
              </a:defRPr>
            </a:lvl7pPr>
            <a:lvl8pPr>
              <a:defRPr sz="710" b="1">
                <a:solidFill>
                  <a:srgbClr val="99622F"/>
                </a:solidFill>
              </a:defRPr>
            </a:lvl8pPr>
            <a:lvl9pPr>
              <a:defRPr sz="710" b="1">
                <a:solidFill>
                  <a:srgbClr val="99622F"/>
                </a:solidFill>
              </a:defRPr>
            </a:lvl9pPr>
          </a:lstStyle>
          <a:p>
            <a:pPr>
              <a:defRPr sz="710" b="1">
                <a:solidFill>
                  <a:srgbClr val="99622F"/>
                </a:solidFill>
              </a:defRPr>
            </a:pPr>
            <a:r>
              <a:rPr sz="710" b="1">
                <a:solidFill>
                  <a:srgbClr val="99622F"/>
                </a:solidFill>
              </a:rPr>
              <a:t>SPONSORS AND LOGOS (PAGES 13 TO 15 AND 21)</a:t>
            </a:r>
          </a:p>
        </p:txBody>
      </p:sp>
      <p:sp>
        <p:nvSpPr>
          <p:cNvPr id="27" name="Source - centerbridge"/>
          <p:cNvSpPr>
            <a:spLocks noGrp="1"/>
          </p:cNvSpPr>
          <p:nvPr/>
        </p:nvSpPr>
        <p:spPr>
          <a:xfrm>
            <a:off x="6729984" y="37307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2"/>
              </a:rPr>
              <a:t>Centerbridge Partners</a:t>
            </a:r>
          </a:p>
        </p:txBody>
      </p:sp>
      <p:sp>
        <p:nvSpPr>
          <p:cNvPr id="28" name="Source - core"/>
          <p:cNvSpPr>
            <a:spLocks noGrp="1"/>
          </p:cNvSpPr>
          <p:nvPr/>
        </p:nvSpPr>
        <p:spPr>
          <a:xfrm>
            <a:off x="8211312" y="37307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3"/>
              </a:rPr>
              <a:t>CORE Industrial Partners</a:t>
            </a:r>
          </a:p>
        </p:txBody>
      </p:sp>
      <p:sp>
        <p:nvSpPr>
          <p:cNvPr id="29" name="Source - wynnchurch-dark"/>
          <p:cNvSpPr>
            <a:spLocks noGrp="1"/>
          </p:cNvSpPr>
          <p:nvPr/>
        </p:nvSpPr>
        <p:spPr>
          <a:xfrm>
            <a:off x="6729984" y="39136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4"/>
              </a:rPr>
              <a:t>Wynnchurch Capital</a:t>
            </a:r>
          </a:p>
        </p:txBody>
      </p:sp>
      <p:sp>
        <p:nvSpPr>
          <p:cNvPr id="30" name="Source - aip"/>
          <p:cNvSpPr>
            <a:spLocks noGrp="1"/>
          </p:cNvSpPr>
          <p:nvPr/>
        </p:nvSpPr>
        <p:spPr>
          <a:xfrm>
            <a:off x="8211312" y="39136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5"/>
              </a:rPr>
              <a:t>American Industrial Partners</a:t>
            </a:r>
          </a:p>
        </p:txBody>
      </p:sp>
      <p:sp>
        <p:nvSpPr>
          <p:cNvPr id="31" name="Source - aea"/>
          <p:cNvSpPr>
            <a:spLocks noGrp="1"/>
          </p:cNvSpPr>
          <p:nvPr/>
        </p:nvSpPr>
        <p:spPr>
          <a:xfrm>
            <a:off x="6729984" y="409651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6"/>
              </a:rPr>
              <a:t>AEA Investors</a:t>
            </a:r>
          </a:p>
        </p:txBody>
      </p:sp>
      <p:sp>
        <p:nvSpPr>
          <p:cNvPr id="32" name="Source - audax"/>
          <p:cNvSpPr>
            <a:spLocks noGrp="1"/>
          </p:cNvSpPr>
          <p:nvPr/>
        </p:nvSpPr>
        <p:spPr>
          <a:xfrm>
            <a:off x="8211312" y="409651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7"/>
              </a:rPr>
              <a:t>Audax Private Equity</a:t>
            </a:r>
          </a:p>
        </p:txBody>
      </p:sp>
      <p:sp>
        <p:nvSpPr>
          <p:cNvPr id="33" name="Source - gryphon"/>
          <p:cNvSpPr>
            <a:spLocks noGrp="1"/>
          </p:cNvSpPr>
          <p:nvPr/>
        </p:nvSpPr>
        <p:spPr>
          <a:xfrm>
            <a:off x="6729984" y="427939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8"/>
              </a:rPr>
              <a:t>Gryphon Investors</a:t>
            </a:r>
          </a:p>
        </p:txBody>
      </p:sp>
      <p:sp>
        <p:nvSpPr>
          <p:cNvPr id="34" name="Source - huron-final"/>
          <p:cNvSpPr>
            <a:spLocks noGrp="1"/>
          </p:cNvSpPr>
          <p:nvPr/>
        </p:nvSpPr>
        <p:spPr>
          <a:xfrm>
            <a:off x="8211312" y="427939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9"/>
              </a:rPr>
              <a:t>Huron Capital</a:t>
            </a:r>
          </a:p>
        </p:txBody>
      </p:sp>
      <p:sp>
        <p:nvSpPr>
          <p:cNvPr id="35" name="Source - altas"/>
          <p:cNvSpPr>
            <a:spLocks noGrp="1"/>
          </p:cNvSpPr>
          <p:nvPr/>
        </p:nvSpPr>
        <p:spPr>
          <a:xfrm>
            <a:off x="6729984" y="446227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0"/>
              </a:rPr>
              <a:t>Altas Partners</a:t>
            </a:r>
          </a:p>
        </p:txBody>
      </p:sp>
      <p:sp>
        <p:nvSpPr>
          <p:cNvPr id="36" name="Source - leonardgreen"/>
          <p:cNvSpPr>
            <a:spLocks noGrp="1"/>
          </p:cNvSpPr>
          <p:nvPr/>
        </p:nvSpPr>
        <p:spPr>
          <a:xfrm>
            <a:off x="8211312" y="446227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1"/>
              </a:rPr>
              <a:t>Leonard Green &amp; Partners</a:t>
            </a:r>
          </a:p>
        </p:txBody>
      </p:sp>
      <p:sp>
        <p:nvSpPr>
          <p:cNvPr id="37" name="Source - emeraldlake"/>
          <p:cNvSpPr>
            <a:spLocks noGrp="1"/>
          </p:cNvSpPr>
          <p:nvPr/>
        </p:nvSpPr>
        <p:spPr>
          <a:xfrm>
            <a:off x="6729984" y="46451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2"/>
              </a:rPr>
              <a:t>Emerald Lake Capital</a:t>
            </a:r>
          </a:p>
        </p:txBody>
      </p:sp>
      <p:sp>
        <p:nvSpPr>
          <p:cNvPr id="38" name="Source - onerock"/>
          <p:cNvSpPr>
            <a:spLocks noGrp="1"/>
          </p:cNvSpPr>
          <p:nvPr/>
        </p:nvSpPr>
        <p:spPr>
          <a:xfrm>
            <a:off x="8211312" y="46451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3"/>
              </a:rPr>
              <a:t>One Rock Capital Partners</a:t>
            </a:r>
          </a:p>
        </p:txBody>
      </p:sp>
      <p:sp>
        <p:nvSpPr>
          <p:cNvPr id="39" name="Source - bernhard"/>
          <p:cNvSpPr>
            <a:spLocks noGrp="1"/>
          </p:cNvSpPr>
          <p:nvPr/>
        </p:nvSpPr>
        <p:spPr>
          <a:xfrm>
            <a:off x="6729984" y="48280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4"/>
              </a:rPr>
              <a:t>Bernhard Capital Partners</a:t>
            </a:r>
          </a:p>
        </p:txBody>
      </p:sp>
      <p:sp>
        <p:nvSpPr>
          <p:cNvPr id="40" name="Source - hig"/>
          <p:cNvSpPr>
            <a:spLocks noGrp="1"/>
          </p:cNvSpPr>
          <p:nvPr/>
        </p:nvSpPr>
        <p:spPr>
          <a:xfrm>
            <a:off x="8211312" y="48280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5"/>
              </a:rPr>
              <a:t>H.I.G. Capital</a:t>
            </a:r>
          </a:p>
        </p:txBody>
      </p:sp>
      <p:sp>
        <p:nvSpPr>
          <p:cNvPr id="41" name="Source - greenbriar-only"/>
          <p:cNvSpPr>
            <a:spLocks noGrp="1"/>
          </p:cNvSpPr>
          <p:nvPr/>
        </p:nvSpPr>
        <p:spPr>
          <a:xfrm>
            <a:off x="6729984" y="501091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6"/>
              </a:rPr>
              <a:t>Greenbriar Equity Group</a:t>
            </a:r>
          </a:p>
        </p:txBody>
      </p:sp>
      <p:sp>
        <p:nvSpPr>
          <p:cNvPr id="42" name="Logo sources"/>
          <p:cNvSpPr>
            <a:spLocks noGrp="1"/>
          </p:cNvSpPr>
          <p:nvPr/>
        </p:nvSpPr>
        <p:spPr>
          <a:xfrm>
            <a:off x="6729984" y="5212080"/>
            <a:ext cx="2907792" cy="109728"/>
          </a:xfrm>
          <a:prstGeom prst="rect">
            <a:avLst/>
          </a:prstGeom>
          <a:noFill/>
          <a:ln w="0">
            <a:noFill/>
            <a:prstDash val="solid"/>
          </a:ln>
        </p:spPr>
        <p:txBody>
          <a:bodyPr anchor="t"/>
          <a:lstStyle>
            <a:defPPr>
              <a:defRPr sz="550" b="0">
                <a:solidFill>
                  <a:srgbClr val="756D67"/>
                </a:solidFill>
              </a:defRPr>
            </a:defPPr>
            <a:lvl1pPr>
              <a:defRPr sz="550" b="0">
                <a:solidFill>
                  <a:srgbClr val="756D67"/>
                </a:solidFill>
              </a:defRPr>
            </a:lvl1pPr>
            <a:lvl2pPr>
              <a:defRPr sz="550" b="0">
                <a:solidFill>
                  <a:srgbClr val="756D67"/>
                </a:solidFill>
              </a:defRPr>
            </a:lvl2pPr>
            <a:lvl3pPr>
              <a:defRPr sz="550" b="0">
                <a:solidFill>
                  <a:srgbClr val="756D67"/>
                </a:solidFill>
              </a:defRPr>
            </a:lvl3pPr>
            <a:lvl4pPr>
              <a:defRPr sz="550" b="0">
                <a:solidFill>
                  <a:srgbClr val="756D67"/>
                </a:solidFill>
              </a:defRPr>
            </a:lvl4pPr>
            <a:lvl5pPr>
              <a:defRPr sz="550" b="0">
                <a:solidFill>
                  <a:srgbClr val="756D67"/>
                </a:solidFill>
              </a:defRPr>
            </a:lvl5pPr>
            <a:lvl6pPr>
              <a:defRPr sz="550" b="0">
                <a:solidFill>
                  <a:srgbClr val="756D67"/>
                </a:solidFill>
              </a:defRPr>
            </a:lvl6pPr>
            <a:lvl7pPr>
              <a:defRPr sz="550" b="0">
                <a:solidFill>
                  <a:srgbClr val="756D67"/>
                </a:solidFill>
              </a:defRPr>
            </a:lvl7pPr>
            <a:lvl8pPr>
              <a:defRPr sz="550" b="0">
                <a:solidFill>
                  <a:srgbClr val="756D67"/>
                </a:solidFill>
              </a:defRPr>
            </a:lvl8pPr>
            <a:lvl9pPr>
              <a:defRPr sz="550" b="0">
                <a:solidFill>
                  <a:srgbClr val="756D67"/>
                </a:solidFill>
              </a:defRPr>
            </a:lvl9pPr>
          </a:lstStyle>
          <a:p>
            <a:pPr>
              <a:defRPr sz="550" b="0">
                <a:solidFill>
                  <a:srgbClr val="756D67"/>
                </a:solidFill>
              </a:defRPr>
            </a:pPr>
            <a:r>
              <a:rPr sz="550" b="0">
                <a:solidFill>
                  <a:srgbClr val="756D67"/>
                </a:solidFill>
              </a:rPr>
              <a:t>Logos: company websites and issuer media assets. Sponsor names link to portfolio or investment evidence.</a:t>
            </a:r>
          </a:p>
        </p:txBody>
      </p:sp>
    </p:spTree>
  </p:cSld>
  <p:clrMapOvr>
    <a:masterClrMapping/>
  </p:clrMapOvr>
</p:sld>
</file>

<file path=ppt/theme/theme1.xml><?xml version="1.0" encoding="utf-8"?>
<a:theme xmlns:a="http://schemas.openxmlformats.org/drawingml/2006/main" name="Benchmark International Middle Market">
  <a:themeElements>
    <a:clrScheme name="Benchmark International Middle Market">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Middle Mark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file>

<file path=docProps/core.xml><?xml version="1.0" encoding="utf-8"?>
<cp:coreProperties xmlns:cp="http://schemas.openxmlformats.org/package/2006/metadata/core-properties">
  <dc:title xmlns:dc="http://purl.org/dc/elements/1.1/">Industrials Q4 2026 M&amp;A Industry Report | Benchmark International</dc:title>
  <dc:subject xmlns:dc="http://purl.org/dc/elements/1.1/">Industrials mergers and acquisitions: deal activity, valuations, and what buyers are paying for, Q4 2026</dc:subject>
  <dc:creator xmlns:dc="http://purl.org/dc/elements/1.1/">Jared Hardin, Benchmark International</dc:creator>
  <cp:lastModifiedBy>Jared Hardin</cp:lastModifiedBy>
  <cp:keywords>Industrials M&amp;A, middle market, sell-side M&amp;A, Q4 2026, Benchmark International</cp:keywords>
</cp:coreProperties>
</file>