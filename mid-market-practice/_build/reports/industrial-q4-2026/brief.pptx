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square" lIns="0" tIns="0" rIns="0" bIns="0" rtlCol="0" anchor="ctr"/>
          <a:lstStyle/>
          <a:p>
            <a:pPr marL="0" indent="0">
              <a:buNone/>
            </a:pPr>
            <a:r>
              <a:rPr lang="en-US" sz="675" b="1" kern="0" spc="220" dirty="0">
                <a:solidFill>
                  <a:srgbClr val="8C6239"/>
                </a:solidFill>
              </a:rPr>
              <a:t>INDUSTRIAL  |  QUARTERLY SECTOR BRIEF</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descr="/tmp/claude-0/-home-claude-about/b7ea608c-3502-5da6-986c-4c57d144c940/scratchpad/brief/assets/logo-black.png"/>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descr="/tmp/claude-0/-home-claude-about/b7ea608c-3502-5da6-986c-4c57d144c940/scratchpad/brief/assets/knot.jpg"/>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descr="/tmp/claude-0/-home-claude-about/b7ea608c-3502-5da6-986c-4c57d144c940/scratchpad/brief/assets/logo-white.png"/>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BENCHMARK CAPITAL MARKETS</a:t>
            </a:r>
            <a:endParaRPr lang="en-US" sz="638" dirty="0"/>
          </a:p>
        </p:txBody>
      </p:sp>
      <p:sp>
        <p:nvSpPr>
          <p:cNvPr id="5" name="Text 1"/>
          <p:cNvSpPr/>
          <p:nvPr/>
        </p:nvSpPr>
        <p:spPr>
          <a:xfrm>
            <a:off x="609600" y="590550"/>
            <a:ext cx="4572000" cy="171450"/>
          </a:xfrm>
          <a:prstGeom prst="rect">
            <a:avLst/>
          </a:prstGeom>
          <a:noFill/>
          <a:ln/>
        </p:spPr>
        <p:txBody>
          <a:bodyPr wrap="square" lIns="0" tIns="0" rIns="0" bIns="0" rtlCol="0" anchor="ctr"/>
          <a:lstStyle/>
          <a:p>
            <a:pPr marL="0" indent="0">
              <a:buNone/>
            </a:pPr>
            <a:r>
              <a:rPr lang="en-US" sz="675" b="1" kern="0" spc="220" dirty="0">
                <a:solidFill>
                  <a:srgbClr val="D3AE84"/>
                </a:solidFill>
              </a:rPr>
              <a:t>INDUSTRIAL  |  QUARTERLY SECTOR BRIEF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about/b7ea608c-3502-5da6-986c-4c57d144c940/scratchpad/brief/assets/hero.jpg"/>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descr="/tmp/claude-0/-home-claude-about/b7ea608c-3502-5da6-986c-4c57d144c940/scratchpad/brief/assets/logo-white.png"/>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SECTOR BRIEF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descr="/tmp/claude-0/-home-claude-about/b7ea608c-3502-5da6-986c-4c57d144c940/scratchpad/brief/pptx/icons/factory_lg.png"/>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descr="/tmp/claude-0/-home-claude-about/b7ea608c-3502-5da6-986c-4c57d144c940/scratchpad/brief/pptx/icons/boxes_lg.png"/>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descr="/tmp/claude-0/-home-claude-about/b7ea608c-3502-5da6-986c-4c57d144c940/scratchpad/brief/pptx/icons/building_lg.png"/>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descr="/tmp/claude-0/-home-claude-about/b7ea608c-3502-5da6-986c-4c57d144c940/scratchpad/brief/pptx/icons/bolt_lg.png"/>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descr="/tmp/claude-0/-home-claude-about/b7ea608c-3502-5da6-986c-4c57d144c940/scratchpad/brief/pptx/icons/truck_lg.png"/>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Sector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claude-about/b7ea608c-3502-5da6-986c-4c57d144c940/scratchpad/brief/assets/robots.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segment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03</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Market insights for the fourth quarter of 2026</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04</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Power demand: the buildout reaches every industrial segment</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05</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Featured engagement: The Carmi Companies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technicians.jpg"/>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descr="/tmp/claude-0/-home-claude-about/b7ea608c-3502-5da6-986c-4c57d144c940/scratchpad/brief/pptx/icons/factory_lg.png"/>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descr="/tmp/claude-0/-home-claude-about/b7ea608c-3502-5da6-986c-4c57d144c940/scratchpad/brief/pptx/icons/layers_lg.png"/>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descr="/tmp/claude-0/-home-claude-about/b7ea608c-3502-5da6-986c-4c57d144c940/scratchpad/brief/pptx/icons/wrench_lg.png"/>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descr="/tmp/claude-0/-home-claude-about/b7ea608c-3502-5da6-986c-4c57d144c940/scratchpad/brief/pptx/icons/percent_lg.png"/>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Segment</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SEGMENT</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descr="/tmp/claude-0/-home-claude-about/b7ea608c-3502-5da6-986c-4c57d144c940/scratchpad/brief/pptx/icons/factory_lg.png"/>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descr="/tmp/claude-0/-home-claude-about/b7ea608c-3502-5da6-986c-4c57d144c940/scratchpad/brief/pptx/icons/boxes_lg.png"/>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descr="/tmp/claude-0/-home-claude-about/b7ea608c-3502-5da6-986c-4c57d144c940/scratchpad/brief/pptx/icons/building_lg.png"/>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descr="/tmp/claude-0/-home-claude-about/b7ea608c-3502-5da6-986c-4c57d144c940/scratchpad/brief/pptx/icons/truck_lg.png"/>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descr="/tmp/claude-0/-home-claude-about/b7ea608c-3502-5da6-986c-4c57d144c940/scratchpad/brief/assets/plant.jpg"/>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signing.jpg"/>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SEGMENT</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descr="/tmp/claude-0/-home-claude-about/b7ea608c-3502-5da6-986c-4c57d144c940/scratchpad/brief/assets/jared-hardin.jpg"/>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descr="/tmp/claude-0/-home-claude-about/b7ea608c-3502-5da6-986c-4c57d144c940/scratchpad/brief/assets/jordan-houtz.jpg"/>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claude-about/b7ea608c-3502-5da6-986c-4c57d144c940/scratchpad/brief/assets/lathe.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Sector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segment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segments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segment,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segments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SEGMENT</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descr="/tmp/claude-0/-home-claude-about/b7ea608c-3502-5da6-986c-4c57d144c940/scratchpad/brief/pptx/icons/factory_dg.png"/>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pptx/icons/boxes_dg.png"/>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descr="/tmp/claude-0/-home-claude-about/b7ea608c-3502-5da6-986c-4c57d144c940/scratchpad/brief/pptx/icons/building_dg.png"/>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descr="/tmp/claude-0/-home-claude-about/b7ea608c-3502-5da6-986c-4c57d144c940/scratchpad/brief/pptx/icons/bolt_dg.png"/>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descr="/tmp/claude-0/-home-claude-about/b7ea608c-3502-5da6-986c-4c57d144c940/scratchpad/brief/pptx/icons/truck_dg.png"/>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segments.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segments.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claude-about/b7ea608c-3502-5da6-986c-4c57d144c940/scratchpad/brief/assets/meeting.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recapitalization or a growth partnership in any of the five industrial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descr="/tmp/claude-0/-home-claude-about/b7ea608c-3502-5da6-986c-4c57d144c940/scratchpad/brief/assets/jared-hardin.jpg"/>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assets/jordan-houtz.jpg"/>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9" name="Text 15"/>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
            </a:r>
            <a:endParaRPr lang="en-US" sz="810"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descr="/tmp/claude-0/-home-claude-about/b7ea608c-3502-5da6-986c-4c57d144c940/scratchpad/brief/assets/alex-zykov.jpg"/>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5" name="Text 20"/>
          <p:cNvSpPr txBox="1"/>
          <p:nvPr/>
        </p:nvSpPr>
        <p:spPr>
          <a:xfrm>
            <a:off x="1504950" y="474345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Leads execution from onboarding through signing and closing</a:t>
            </a:r>
            <a:endParaRPr lang="en-US" sz="810"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descr="/tmp/claude-0/-home-claude-about/b7ea608c-3502-5da6-986c-4c57d144c940/scratchpad/brief/assets/shannon-hess.jpg"/>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1" name="Text 25"/>
          <p:cNvSpPr txBox="1"/>
          <p:nvPr/>
        </p:nvSpPr>
        <p:spPr>
          <a:xfrm>
            <a:off x="4591050" y="474345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An additional point of contact for owners considering an engagement</a:t>
            </a:r>
            <a:endParaRPr lang="en-US" sz="810"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partial recapitalization to a full sale,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FULL Q4 2026 INDUSTRIAL REPORT</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descr="/tmp/claude-0/-home-claude-about/b7ea608c-3502-5da6-986c-4c57d144c940/scratchpad/brief/assets/logo-white.png"/>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descr="/tmp/claude-0/-home-claude-about/b7ea608c-3502-5da6-986c-4c57d144c940/scratchpad/brief/pptx/icons/factory_lg.png"/>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descr="/tmp/claude-0/-home-claude-about/b7ea608c-3502-5da6-986c-4c57d144c940/scratchpad/brief/pptx/icons/boxes_lg.png"/>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descr="/tmp/claude-0/-home-claude-about/b7ea608c-3502-5da6-986c-4c57d144c940/scratchpad/brief/pptx/icons/building_lg.png"/>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descr="/tmp/claude-0/-home-claude-about/b7ea608c-3502-5da6-986c-4c57d144c940/scratchpad/brief/pptx/icons/bolt_lg.png"/>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descr="/tmp/claude-0/-home-claude-about/b7ea608c-3502-5da6-986c-4c57d144c940/scratchpad/brief/pptx/icons/truck_lg.png"/>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sector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 The full Q4 2026 Industrial report carries the longer source list behind the five segment chapters.</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Sector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Capital Markets</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Sector Brief</dc:title>
  <dc:subject>Quarterly sector brief, October 2026</dc:subject>
  <dc:creator>Jared Hardin, Benchmark Capital Markets</dc:creator>
  <cp:lastModifiedBy>Jason Lisiak</cp:lastModifiedBy>
  <cp:revision>3</cp:revision>
  <dcterms:created xsi:type="dcterms:W3CDTF">2026-10-12T16:51:24Z</dcterms:created>
  <dcterms:modified xsi:type="dcterms:W3CDTF">2026-10-13T16:46:10Z</dcterms:modified>
</cp:coreProperties>
</file>