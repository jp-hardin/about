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INDUSTRIALS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INDUSTRIALS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INDUSTRIALS</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650000" cy="226695"/>
          </a:xfrm>
          <a:prstGeom prst="rect">
            <a:avLst/>
          </a:prstGeom>
          <a:noFill/>
          <a:ln/>
        </p:spPr>
        <p:txBody>
          <a:bodyPr wrap="none" lIns="0" tIns="0" rIns="0" bIns="0" rtlCol="0" anchor="t"/>
          <a:lstStyle/>
          <a:p>
            <a:pPr marL="0" indent="0">
              <a:buNone/>
            </a:pPr>
            <a:r>
              <a:rPr lang="en-US" sz="600" b="1" kern="0" spc="120" dirty="0">
                <a:solidFill>
                  <a:srgbClr val="8C6239"/>
                </a:solidFill>
              </a:rPr>
              <a:t>MANAGING DIRECTOR</a:t>
            </a:r>
            <a:br>
              <a:rPr lang="en-US" sz="600" b="1" kern="0" spc="120" dirty="0">
                <a:solidFill>
                  <a:srgbClr val="8C6239"/>
                </a:solidFill>
              </a:rPr>
            </a:br>
            <a:r>
              <a:rPr lang="en-US" sz="600" b="1" kern="0" spc="120" dirty="0">
                <a:solidFill>
                  <a:srgbClr val="8C6239"/>
                </a:solidFill>
              </a:rPr>
              <a:t>HEAD OF MIDDLE MARKET</a:t>
            </a:r>
            <a:endParaRPr lang="en-US" sz="600" dirty="0"/>
          </a:p>
        </p:txBody>
      </p:sp>
      <p:sp>
        <p:nvSpPr>
          <p:cNvPr id="53" name="Text 48"/>
          <p:cNvSpPr txBox="1"/>
          <p:nvPr/>
        </p:nvSpPr>
        <p:spPr>
          <a:xfrm>
            <a:off x="8020050" y="614172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on strategic sales, mergers, and qualifying change-of-control transactions.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We welcome calls from owners considering a strategic sale, merger or change-of-control transaction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233210"/>
          </a:xfrm>
          <a:prstGeom prst="rect">
            <a:avLst/>
          </a:prstGeom>
          <a:noFill/>
          <a:ln/>
        </p:spPr>
        <p:txBody>
          <a:bodyPr wrap="none" lIns="0" tIns="0" rIns="0" bIns="0" rtlCol="0" anchor="t"/>
          <a:lstStyle/>
          <a:p>
            <a:pPr marL="0" indent="0">
              <a:buNone/>
            </a:pPr>
            <a:r>
              <a:rPr lang="en-US" sz="638" b="1" kern="0" spc="150" dirty="0">
                <a:solidFill>
                  <a:srgbClr val="8C6239"/>
                </a:solidFill>
              </a:rPr>
              <a:t>MANAGING DIRECTOR</a:t>
            </a:r>
            <a:br>
              <a:rPr lang="en-US" sz="638" b="1" kern="0" spc="150" dirty="0">
                <a:solidFill>
                  <a:srgbClr val="8C6239"/>
                </a:solidFill>
              </a:rPr>
            </a:br>
            <a:r>
              <a:rPr lang="en-US" sz="638" b="1" kern="0" spc="150" dirty="0">
                <a:solidFill>
                  <a:srgbClr val="8C6239"/>
                </a:solidFill>
              </a:rPr>
              <a:t>HEAD OF MIDDLE MARKET</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strategic sale to a merger or change-of-control transaction,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INDUSTRIALS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690785"/>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INDUSTRIALS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on strategic sales, mergers, and qualifying change-of-control transactions.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INDUSTRIALS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Industrials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Industrials Q4 2026 Industry Report</dc:title>
  <dc:subject>Industrials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