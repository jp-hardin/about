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11.xml" ContentType="application/vnd.openxmlformats-officedocument.presentationml.notes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notesSlides/notesSlide12.xml" ContentType="application/vnd.openxmlformats-officedocument.presentationml.notes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notesSlides/notesSlide13.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SECTOR BRIEF</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tmp/claude-0/-home-claude-about/b7ea608c-3502-5da6-986c-4c57d144c940/scratchpad/brief/assets/logo-black.png"/>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tmp/claude-0/-home-claude-about/b7ea608c-3502-5da6-986c-4c57d144c940/scratchpad/brief/assets/knot.jpg"/>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tmp/claude-0/-home-claude-about/b7ea608c-3502-5da6-986c-4c57d144c940/scratchpad/brief/assets/logo-white.png"/>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BENCHMARK CAPITAL MARKETS</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SECTOR BRIEF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jp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3.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hyperlink" Target="https://aashtojournal.transportation.org/?p=41360" TargetMode="External"/><Relationship Id="rId18" Type="http://schemas.openxmlformats.org/officeDocument/2006/relationships/hyperlink" Target="https://www.globalbankingandfinance.com/global-m-deal-rush-fades-third-quarter-rising-borrowing/" TargetMode="External"/><Relationship Id="rId3" Type="http://schemas.openxmlformats.org/officeDocument/2006/relationships/image" Target="../media/image11.jpg"/><Relationship Id="rId7" Type="http://schemas.openxmlformats.org/officeDocument/2006/relationships/hyperlink" Target="https://www.federalreserve.gov/releases/g17/current/default.htm" TargetMode="External"/><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7" Type="http://schemas.openxmlformats.org/officeDocument/2006/relationships/image" Target="../media/image14.png"/><Relationship Id="rId2" Type="http://schemas.openxmlformats.org/officeDocument/2006/relationships/notesSlide" Target="../notesSlides/notesSlide3.xml"/><Relationship Id="rId16" Type="http://schemas.openxmlformats.org/officeDocument/2006/relationships/hyperlink" Target="https://www.transcat.com/news/post/transcat-reports-strong-fiscal-first-quarter-2027-financial-results" TargetMode="External"/><Relationship Id="rId20" Type="http://schemas.openxmlformats.org/officeDocument/2006/relationships/hyperlink" Target="https://www.acg.org/news-trends/news/gf-data-reports-show-steady-middle-market-deal-flow-amid-more-selective" TargetMode="External"/><Relationship Id="rId1" Type="http://schemas.openxmlformats.org/officeDocument/2006/relationships/slideLayout" Target="../slideLayouts/slideLayout2.xml"/><Relationship Id="rId6" Type="http://schemas.openxmlformats.org/officeDocument/2006/relationships/hyperlink" Target="https://www.mdm.com/news/research/economic-trends/u-s-metalworking-machinery-orders-slide-in-july/" TargetMode="External"/><Relationship Id="rId11" Type="http://schemas.openxmlformats.org/officeDocument/2006/relationships/image" Target="../media/image8.png"/><Relationship Id="rId5" Type="http://schemas.openxmlformats.org/officeDocument/2006/relationships/hyperlink" Target="https://www.prnewswire.com/news-releases/manufacturing-pmi-at-54-5-september-2026-ism-manufacturing-pmi-report-302894520.html" TargetMode="External"/><Relationship Id="rId15" Type="http://schemas.openxmlformats.org/officeDocument/2006/relationships/hyperlink" Target="https://www.businesswire.com/news/home/20251210396417/en/APi-Group-Announces-Acquisition-of-CertaSite-and-Provides-Full-Year-2025-Update" TargetMode="External"/><Relationship Id="rId10" Type="http://schemas.openxmlformats.org/officeDocument/2006/relationships/hyperlink" Target="https://pyebarkerfs.com/?p=22122" TargetMode="External"/><Relationship Id="rId19" Type="http://schemas.openxmlformats.org/officeDocument/2006/relationships/hyperlink" Target="https://www.federalreserve.gov/newsevents/pressreleases/monetary20260916a.htm" TargetMode="External"/><Relationship Id="rId4" Type="http://schemas.openxmlformats.org/officeDocument/2006/relationships/image" Target="../media/image5.png"/><Relationship Id="rId9" Type="http://schemas.openxmlformats.org/officeDocument/2006/relationships/hyperlink" Target="https://pitchbook.brightspotcdn.com/40/42/bbeb88094080abaea3d7c87530b8/q2-2026-us-pe-breakdown.pdf" TargetMode="External"/><Relationship Id="rId1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hyperlink" Target="https://www.sec.gov/Archives/edgar/data/0001474735/000143774926024731/ex_994826.htm" TargetMode="External"/><Relationship Id="rId13" Type="http://schemas.openxmlformats.org/officeDocument/2006/relationships/hyperlink" Target="https://www.globenewswire.com/news-release/2026/08/24/3349571/0/en/nvent-to-acquire-maverick-power.html" TargetMode="External"/><Relationship Id="rId18" Type="http://schemas.openxmlformats.org/officeDocument/2006/relationships/hyperlink" Target="https://www.businesswire.com/news/home/20260804326592/en/Limbach-Reports-Second-Quarter-2026-Results" TargetMode="External"/><Relationship Id="rId3" Type="http://schemas.openxmlformats.org/officeDocument/2006/relationships/hyperlink" Target="https://www.eia.gov/outlooks/steo/report/elec_coal_renew.php" TargetMode="External"/><Relationship Id="rId21"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ajot.com/news/us-power-companies-scramble-to-secure-equipment-as-surging-data-center-demand-strains-supplies" TargetMode="External"/><Relationship Id="rId12" Type="http://schemas.openxmlformats.org/officeDocument/2006/relationships/image" Target="../media/image5.png"/><Relationship Id="rId17" Type="http://schemas.openxmlformats.org/officeDocument/2006/relationships/hyperlink" Target="https://www.globenewswire.com/news-release/2026/09/15/3362305/0/en/abc-survey-1-in-6-members-perform-data-center-work-backlog-rebounds-in-august.html" TargetMode="External"/><Relationship Id="rId25" Type="http://schemas.openxmlformats.org/officeDocument/2006/relationships/image" Target="../media/image15.jpg"/><Relationship Id="rId2" Type="http://schemas.openxmlformats.org/officeDocument/2006/relationships/notesSlide" Target="../notesSlides/notesSlide4.xml"/><Relationship Id="rId16" Type="http://schemas.openxmlformats.org/officeDocument/2006/relationships/image" Target="../media/image7.png"/><Relationship Id="rId20" Type="http://schemas.openxmlformats.org/officeDocument/2006/relationships/hyperlink" Target="https://dallasinnovates.com/north-texas-mission-critical-group-acquires-txla-systems/" TargetMode="External"/><Relationship Id="rId1" Type="http://schemas.openxmlformats.org/officeDocument/2006/relationships/slideLayout" Target="../slideLayouts/slideLayout2.xml"/><Relationship Id="rId6" Type="http://schemas.openxmlformats.org/officeDocument/2006/relationships/hyperlink" Target="https://www.sec.gov/Archives/edgar/data/0001996810/000199681026000147/gevpressrelease2q26.htm" TargetMode="External"/><Relationship Id="rId11" Type="http://schemas.openxmlformats.org/officeDocument/2006/relationships/hyperlink" Target="https://www.youtube.com/watch?v=Gnl833wXRz0" TargetMode="External"/><Relationship Id="rId24" Type="http://schemas.openxmlformats.org/officeDocument/2006/relationships/hyperlink" Target="https://vertikal.net/en/news/story/49180/jk-takes-360" TargetMode="External"/><Relationship Id="rId5" Type="http://schemas.openxmlformats.org/officeDocument/2006/relationships/hyperlink" Target="https://www.prnewswire.com/news-releases/meta-reports-second-quarter-2026-results-302838214.html" TargetMode="External"/><Relationship Id="rId15"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mdm.com/?p=436875" TargetMode="External"/><Relationship Id="rId10" Type="http://schemas.openxmlformats.org/officeDocument/2006/relationships/hyperlink" Target="https://www.youtube.com/watch?v=AhYQUjd_n78" TargetMode="External"/><Relationship Id="rId19" Type="http://schemas.openxmlformats.org/officeDocument/2006/relationships/image" Target="../media/image8.png"/><Relationship Id="rId4" Type="http://schemas.openxmlformats.org/officeDocument/2006/relationships/hyperlink" Target="https://www.powermag.com/nerc-warns-long-term-grid-reliability-risks-mounting/" TargetMode="External"/><Relationship Id="rId9" Type="http://schemas.openxmlformats.org/officeDocument/2006/relationships/hyperlink" Target="https://www.cnbc.com/2026/09/02/cnbc-exclusive-transcript-berkshire-hathaway-ceo-greg-abel-speaks-with-cnbcs-squawk-box-today.html" TargetMode="External"/><Relationship Id="rId14" Type="http://schemas.openxmlformats.org/officeDocument/2006/relationships/image" Target="../media/image6.png"/><Relationship Id="rId22"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hyperlink" Target="https://www.lincolninternational.com/perspectives/in-the-press/transport-topics-transport-ma-builds-momentum-alongside-freight-market/" TargetMode="External"/><Relationship Id="rId13" Type="http://schemas.openxmlformats.org/officeDocument/2006/relationships/hyperlink" Target="https://jp-hardin.github.io/about/mid-market-practice/transactions.html" TargetMode="External"/><Relationship Id="rId3" Type="http://schemas.openxmlformats.org/officeDocument/2006/relationships/image" Target="../media/image16.jpg"/><Relationship Id="rId7" Type="http://schemas.openxmlformats.org/officeDocument/2006/relationships/hyperlink" Target="https://www.freightwaves.com/news/from-trucks-to-trade-compliance-logistics-firms-make-strategic-buys" TargetMode="External"/><Relationship Id="rId12" Type="http://schemas.openxmlformats.org/officeDocument/2006/relationships/image" Target="../media/image18.jp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www.freightwaves.com/news/redwood-logistics-acquires-laredo-customs-broker-eelco" TargetMode="External"/><Relationship Id="rId11" Type="http://schemas.openxmlformats.org/officeDocument/2006/relationships/hyperlink" Target="mailto:j.hardin@benchmarkintl.com" TargetMode="External"/><Relationship Id="rId5" Type="http://schemas.openxmlformats.org/officeDocument/2006/relationships/hyperlink" Target="https://www.freightwaves.com/news/us-mexico-trade-smashes-monthly-record-at-nearly-95b" TargetMode="External"/><Relationship Id="rId10" Type="http://schemas.openxmlformats.org/officeDocument/2006/relationships/hyperlink" Target="tel:8137716675" TargetMode="External"/><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9" Type="http://schemas.openxmlformats.org/officeDocument/2006/relationships/image" Target="../media/image17.jpg"/></Relationships>
</file>

<file path=ppt/slides/_rels/slide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hyperlink" Target="https://pulse2.com/limbach-acquires-1901-for-63-million-plus-up-to-6-million-in-earnouts/" TargetMode="External"/><Relationship Id="rId3" Type="http://schemas.openxmlformats.org/officeDocument/2006/relationships/hyperlink" Target="https://www.franklin-electric.com/company/news/2026/franklin-electric-acquires-cat-pumps-expanding-commercial-and-industrial-flow-control-platform/"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www.mdm.com/news/featured/featured-blog/ferguson-makes-1-6b-flow-control-bet-with-floworks-dea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4" Type="http://schemas.openxmlformats.org/officeDocument/2006/relationships/hyperlink" Target="https://www.prnewswire.com/news-releases/precinmac-lp-announces-the-acquisition-of-massachusetts-based-advance-mfg-co-inc-302818691.html"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freightwaves.com/news/redwood-logistics-acquires-laredo-customs-broker-eelco" TargetMode="External"/><Relationship Id="rId3" Type="http://schemas.openxmlformats.org/officeDocument/2006/relationships/hyperlink" Target="https://www.rermag.com/mergers-acquisitions/news/55397729/bay-crane-acquires-clark-rigging-rental-growing-its-upstate-new-york-presence" TargetMode="External"/><Relationship Id="rId7" Type="http://schemas.openxmlformats.org/officeDocument/2006/relationships/hyperlink" Target="https://www.sec.gov/Archives/edgar/data/0001929561/000114036126038548/ef20083265_ex99-1.ht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distributionstrategy.com/2026/07/mission-critical-group-makes-play-for-transformer-supply/" TargetMode="External"/><Relationship Id="rId5" Type="http://schemas.openxmlformats.org/officeDocument/2006/relationships/hyperlink" Target="https://www.sec.gov/Archives/edgar/data/0000822818/000082281826000031/clh-q22026pressrelease.htm" TargetMode="External"/><Relationship Id="rId4" Type="http://schemas.openxmlformats.org/officeDocument/2006/relationships/hyperlink" Target="https://wasteadvantagemag.com/clean-harbors-to-acquire-enviroserve/"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www.benchmarkintl.com/insights/completed-transactions/benchmark-international-successfully-facilitated-the-transaction-of-invocon-inc-and-cemtrex-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3" Type="http://schemas.openxmlformats.org/officeDocument/2006/relationships/hyperlink" Target="https://www.benchmarkintl.com/"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2" Type="http://schemas.openxmlformats.org/officeDocument/2006/relationships/notesSlide" Target="../notesSlides/notesSlide9.xm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 Id="rId1" Type="http://schemas.openxmlformats.org/officeDocument/2006/relationships/slideLayout" Target="../slideLayouts/slideLayout2.xm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4" Type="http://schemas.openxmlformats.org/officeDocument/2006/relationships/chart" Target="../charts/chart1.xm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chart" Target="../charts/chart6.xml"/><Relationship Id="rId3" Type="http://schemas.openxmlformats.org/officeDocument/2006/relationships/hyperlink" Target="https://stockanalysis.com/" TargetMode="External"/><Relationship Id="rId7" Type="http://schemas.openxmlformats.org/officeDocument/2006/relationships/chart" Target="../charts/chart3.xml"/><Relationship Id="rId12" Type="http://schemas.openxmlformats.org/officeDocument/2006/relationships/image" Target="../media/image24.png"/><Relationship Id="rId2" Type="http://schemas.openxmlformats.org/officeDocument/2006/relationships/notesSlide" Target="../notesSlides/notesSlide10.xml"/><Relationship Id="rId16" Type="http://schemas.openxmlformats.org/officeDocument/2006/relationships/hyperlink" Target="https://digitalcommons.pepperdine.edu/gsbm_pcm_pcmr/19" TargetMode="Externa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chart" Target="../charts/chart5.xml"/><Relationship Id="rId5" Type="http://schemas.openxmlformats.org/officeDocument/2006/relationships/chart" Target="../charts/chart2.xml"/><Relationship Id="rId15" Type="http://schemas.openxmlformats.org/officeDocument/2006/relationships/hyperlink" Target="https://www.ibba.org/wp-content/uploads/2026/08/mp-highlights-q2-2026.pdf" TargetMode="External"/><Relationship Id="rId10" Type="http://schemas.openxmlformats.org/officeDocument/2006/relationships/image" Target="../media/image23.png"/><Relationship Id="rId4" Type="http://schemas.openxmlformats.org/officeDocument/2006/relationships/image" Target="../media/image20.png"/><Relationship Id="rId9" Type="http://schemas.openxmlformats.org/officeDocument/2006/relationships/chart" Target="../charts/chart4.xml"/><Relationship Id="rId14" Type="http://schemas.openxmlformats.org/officeDocument/2006/relationships/hyperlink" Target="https://www.acg.org/news-trends/news/gf-data-reports-show-steady-middle-market-deal-flow-amid-more-selectiv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stockanalysis.com/" TargetMode="External"/><Relationship Id="rId7" Type="http://schemas.openxmlformats.org/officeDocument/2006/relationships/chart" Target="../charts/chart10.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chart" Target="../charts/chart9.xml"/><Relationship Id="rId5" Type="http://schemas.openxmlformats.org/officeDocument/2006/relationships/chart" Target="../charts/chart8.xml"/><Relationship Id="rId4" Type="http://schemas.openxmlformats.org/officeDocument/2006/relationships/chart" Target="../charts/chart7.xml"/></Relationships>
</file>

<file path=ppt/slides/_rels/slide12.xml.rels><?xml version="1.0" encoding="UTF-8" standalone="yes"?>
<Relationships xmlns="http://schemas.openxmlformats.org/package/2006/relationships"><Relationship Id="rId3" Type="http://schemas.openxmlformats.org/officeDocument/2006/relationships/hyperlink" Target="https://stockanalysis.com/" TargetMode="External"/><Relationship Id="rId7" Type="http://schemas.openxmlformats.org/officeDocument/2006/relationships/chart" Target="../charts/chart14.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chart" Target="../charts/chart13.xml"/><Relationship Id="rId5" Type="http://schemas.openxmlformats.org/officeDocument/2006/relationships/chart" Target="../charts/chart12.xml"/><Relationship Id="rId4" Type="http://schemas.openxmlformats.org/officeDocument/2006/relationships/chart" Target="../charts/chart11.xml"/></Relationships>
</file>

<file path=ppt/slides/_rels/slide13.xml.rels><?xml version="1.0" encoding="UTF-8" standalone="yes"?>
<Relationships xmlns="http://schemas.openxmlformats.org/package/2006/relationships"><Relationship Id="rId8" Type="http://schemas.openxmlformats.org/officeDocument/2006/relationships/hyperlink" Target="https://fred.stlouisfed.org/series/TTLCONS" TargetMode="External"/><Relationship Id="rId13" Type="http://schemas.openxmlformats.org/officeDocument/2006/relationships/chart" Target="../charts/chart20.xml"/><Relationship Id="rId18" Type="http://schemas.openxmlformats.org/officeDocument/2006/relationships/hyperlink" Target="https://fred.stlouisfed.org/series/GS10" TargetMode="External"/><Relationship Id="rId3" Type="http://schemas.openxmlformats.org/officeDocument/2006/relationships/chart" Target="../charts/chart15.xml"/><Relationship Id="rId7" Type="http://schemas.openxmlformats.org/officeDocument/2006/relationships/chart" Target="../charts/chart17.xml"/><Relationship Id="rId12" Type="http://schemas.openxmlformats.org/officeDocument/2006/relationships/hyperlink" Target="https://fred.stlouisfed.org/series/WPU1017" TargetMode="External"/><Relationship Id="rId17" Type="http://schemas.openxmlformats.org/officeDocument/2006/relationships/chart" Target="../charts/chart22.xml"/><Relationship Id="rId2" Type="http://schemas.openxmlformats.org/officeDocument/2006/relationships/notesSlide" Target="../notesSlides/notesSlide13.xml"/><Relationship Id="rId16" Type="http://schemas.openxmlformats.org/officeDocument/2006/relationships/hyperlink" Target="https://fred.stlouisfed.org/series/FRGSHPUSM649NCIS" TargetMode="External"/><Relationship Id="rId1" Type="http://schemas.openxmlformats.org/officeDocument/2006/relationships/slideLayout" Target="../slideLayouts/slideLayout2.xml"/><Relationship Id="rId6" Type="http://schemas.openxmlformats.org/officeDocument/2006/relationships/hyperlink" Target="https://fred.stlouisfed.org/series/MCUMFN" TargetMode="External"/><Relationship Id="rId11" Type="http://schemas.openxmlformats.org/officeDocument/2006/relationships/chart" Target="../charts/chart19.xml"/><Relationship Id="rId5" Type="http://schemas.openxmlformats.org/officeDocument/2006/relationships/chart" Target="../charts/chart16.xml"/><Relationship Id="rId15" Type="http://schemas.openxmlformats.org/officeDocument/2006/relationships/chart" Target="../charts/chart21.xml"/><Relationship Id="rId10" Type="http://schemas.openxmlformats.org/officeDocument/2006/relationships/hyperlink" Target="https://fred.stlouisfed.org/series/TLMFGCONS" TargetMode="External"/><Relationship Id="rId4" Type="http://schemas.openxmlformats.org/officeDocument/2006/relationships/hyperlink" Target="https://fred.stlouisfed.org/series/NEWORDER" TargetMode="External"/><Relationship Id="rId9" Type="http://schemas.openxmlformats.org/officeDocument/2006/relationships/chart" Target="../charts/chart18.xml"/><Relationship Id="rId14" Type="http://schemas.openxmlformats.org/officeDocument/2006/relationships/hyperlink" Target="https://fred.stlouisfed.org/series/GASDESM"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26.jpg"/><Relationship Id="rId13" Type="http://schemas.openxmlformats.org/officeDocument/2006/relationships/image" Target="../media/image6.png"/><Relationship Id="rId3" Type="http://schemas.openxmlformats.org/officeDocument/2006/relationships/hyperlink" Target="https://www.benchmarkintl.com/" TargetMode="External"/><Relationship Id="rId7" Type="http://schemas.openxmlformats.org/officeDocument/2006/relationships/image" Target="../media/image18.jpg"/><Relationship Id="rId12" Type="http://schemas.openxmlformats.org/officeDocument/2006/relationships/image" Target="../media/image5.png"/><Relationship Id="rId2" Type="http://schemas.openxmlformats.org/officeDocument/2006/relationships/notesSlide" Target="../notesSlides/notesSlide15.xml"/><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hyperlink" Target="mailto:j.hardin@benchmarkintl.com" TargetMode="External"/><Relationship Id="rId11" Type="http://schemas.openxmlformats.org/officeDocument/2006/relationships/image" Target="../media/image3.png"/><Relationship Id="rId5" Type="http://schemas.openxmlformats.org/officeDocument/2006/relationships/hyperlink" Target="tel:8137716675" TargetMode="External"/><Relationship Id="rId15" Type="http://schemas.openxmlformats.org/officeDocument/2006/relationships/image" Target="../media/image8.png"/><Relationship Id="rId10" Type="http://schemas.openxmlformats.org/officeDocument/2006/relationships/hyperlink" Target="https://jp-hardin.github.io/about/mid-market-practice/insights/industrial-industry-report-q4-2026.html" TargetMode="External"/><Relationship Id="rId4" Type="http://schemas.openxmlformats.org/officeDocument/2006/relationships/image" Target="../media/image17.jpg"/><Relationship Id="rId9" Type="http://schemas.openxmlformats.org/officeDocument/2006/relationships/image" Target="../media/image27.jpg"/><Relationship Id="rId14" Type="http://schemas.openxmlformats.org/officeDocument/2006/relationships/image" Target="../media/image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6" Type="http://schemas.openxmlformats.org/officeDocument/2006/relationships/hyperlink" Target="https://distributionstrategy.com/2026/07/mission-critical-group-makes-play-for-transformer-supply/" TargetMode="External"/><Relationship Id="rId21" Type="http://schemas.openxmlformats.org/officeDocument/2006/relationships/hyperlink" Target="https://www.globenewswire.com/news-release/2026/08/24/3349571/0/en/nvent-to-acquire-maverick-power.htm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7" Type="http://schemas.openxmlformats.org/officeDocument/2006/relationships/hyperlink" Target="https://www.sec.gov/Archives/edgar/data/0001929561/000114036126038548/ef20083265_ex99-1.htm" TargetMode="External"/><Relationship Id="rId63" Type="http://schemas.openxmlformats.org/officeDocument/2006/relationships/hyperlink" Target="https://www.ibba.org/wp-content/uploads/2026/08/mp-highlights-q2-2026.pdf" TargetMode="External"/><Relationship Id="rId68" Type="http://schemas.openxmlformats.org/officeDocument/2006/relationships/hyperlink" Target="https://fred.stlouisfed.org/series/TTLCONS" TargetMode="External"/><Relationship Id="rId2" Type="http://schemas.openxmlformats.org/officeDocument/2006/relationships/notesSlide" Target="../notesSlides/notesSlide17.xml"/><Relationship Id="rId16" Type="http://schemas.openxmlformats.org/officeDocument/2006/relationships/hyperlink" Target="https://www.powermag.com/nerc-warns-long-term-grid-reliability-risks-mounting/" TargetMode="External"/><Relationship Id="rId29" Type="http://schemas.openxmlformats.org/officeDocument/2006/relationships/hyperlink" Target="https://www.rwbaird.com/siteassets/gib/pdf/electrical-power-solutions-sector-update-september-2026.pdf" TargetMode="External"/><Relationship Id="rId11" Type="http://schemas.openxmlformats.org/officeDocument/2006/relationships/hyperlink" Target="https://www.transcat.com/news/post/transcat-reports-strong-fiscal-first-quarter-2027-financial-results" TargetMode="External"/><Relationship Id="rId24" Type="http://schemas.openxmlformats.org/officeDocument/2006/relationships/hyperlink" Target="https://www.businesswire.com/news/home/20260804326592/en/Limbach-Reports-Second-Quarter-2026-Results" TargetMode="External"/><Relationship Id="rId32" Type="http://schemas.openxmlformats.org/officeDocument/2006/relationships/hyperlink" Target="https://www.freightwaves.com/news/from-trucks-to-trade-compliance-logistics-firms-make-strategic-buys"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5" Type="http://schemas.openxmlformats.org/officeDocument/2006/relationships/hyperlink" Target="https://wasteadvantagemag.com/clean-harbors-to-acquire-enviroserve/"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66" Type="http://schemas.openxmlformats.org/officeDocument/2006/relationships/hyperlink" Target="https://fred.stlouisfed.org/series/NEWORDER" TargetMode="External"/><Relationship Id="rId5" Type="http://schemas.openxmlformats.org/officeDocument/2006/relationships/hyperlink" Target="https://www.federalreserve.gov/releases/g17/current/default.htm" TargetMode="External"/><Relationship Id="rId61" Type="http://schemas.openxmlformats.org/officeDocument/2006/relationships/hyperlink" Target="https://www.benchmarkintl.com/" TargetMode="External"/><Relationship Id="rId19" Type="http://schemas.openxmlformats.org/officeDocument/2006/relationships/hyperlink" Target="https://www.ajot.com/news/us-power-companies-scramble-to-secure-equipment-as-surging-data-center-demand-strains-supplies" TargetMode="External"/><Relationship Id="rId14" Type="http://schemas.openxmlformats.org/officeDocument/2006/relationships/hyperlink" Target="https://www.acg.org/news-trends/news/gf-data-reports-show-steady-middle-market-deal-flow-amid-more-selective" TargetMode="External"/><Relationship Id="rId22" Type="http://schemas.openxmlformats.org/officeDocument/2006/relationships/hyperlink" Target="https://www.sec.gov/Archives/edgar/data/105634/000010563426000112/eme-ex991_2026630xq2.htm" TargetMode="External"/><Relationship Id="rId27" Type="http://schemas.openxmlformats.org/officeDocument/2006/relationships/hyperlink" Target="https://www.mdm.com/?p=436875" TargetMode="External"/><Relationship Id="rId30" Type="http://schemas.openxmlformats.org/officeDocument/2006/relationships/hyperlink" Target="https://www.freightwaves.com/news/us-mexico-trade-smashes-monthly-record-at-nearly-95b" TargetMode="External"/><Relationship Id="rId35" Type="http://schemas.openxmlformats.org/officeDocument/2006/relationships/hyperlink" Target="https://www.cnbc.com/2026/09/02/cnbc-exclusive-transcript-berkshire-hathaway-ceo-greg-abel-speaks-with-cnbcs-squawk-box-today.html" TargetMode="External"/><Relationship Id="rId43" Type="http://schemas.openxmlformats.org/officeDocument/2006/relationships/hyperlink" Target="https://pulse2.com/limbach-acquires-1901-for-63-million-plus-up-to-6-million-in-earnouts/"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64" Type="http://schemas.openxmlformats.org/officeDocument/2006/relationships/hyperlink" Target="https://digitalcommons.pepperdine.edu/gsbm_pcm_pcmr/19" TargetMode="External"/><Relationship Id="rId69" Type="http://schemas.openxmlformats.org/officeDocument/2006/relationships/hyperlink" Target="https://fred.stlouisfed.org/series/TLMFGCONS" TargetMode="External"/><Relationship Id="rId8" Type="http://schemas.openxmlformats.org/officeDocument/2006/relationships/hyperlink" Target="https://www.sec.gov/Archives/edgar/data/1035983/000110465926086255/fix-20260723xex99d1.htm"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72" Type="http://schemas.openxmlformats.org/officeDocument/2006/relationships/hyperlink" Target="https://fred.stlouisfed.org/series/FRGSHPUSM649NCIS" TargetMode="External"/><Relationship Id="rId3" Type="http://schemas.openxmlformats.org/officeDocument/2006/relationships/hyperlink" Target="https://www.prnewswire.com/news-releases/manufacturing-pmi-at-54-5-september-2026-ism-manufacturing-pmi-report-302894520.html" TargetMode="External"/><Relationship Id="rId12" Type="http://schemas.openxmlformats.org/officeDocument/2006/relationships/hyperlink" Target="https://www.globalbankingandfinance.com/global-m-deal-rush-fades-third-quarter-rising-borrowing/" TargetMode="External"/><Relationship Id="rId17" Type="http://schemas.openxmlformats.org/officeDocument/2006/relationships/hyperlink" Target="https://www.prnewswire.com/news-releases/meta-reports-second-quarter-2026-results-302838214.html" TargetMode="External"/><Relationship Id="rId25" Type="http://schemas.openxmlformats.org/officeDocument/2006/relationships/hyperlink" Target="https://dallasinnovates.com/north-texas-mission-critical-group-acquires-txla-systems/" TargetMode="External"/><Relationship Id="rId33" Type="http://schemas.openxmlformats.org/officeDocument/2006/relationships/hyperlink" Target="https://www.lincolninternational.com/perspectives/in-the-press/transport-topics-transport-ma-builds-momentum-alongside-freight-market/"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46" Type="http://schemas.openxmlformats.org/officeDocument/2006/relationships/hyperlink" Target="https://www.sec.gov/Archives/edgar/data/0000822818/000082281826000031/clh-q22026pressrelease.htm"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7" Type="http://schemas.openxmlformats.org/officeDocument/2006/relationships/hyperlink" Target="https://fred.stlouisfed.org/series/MCUMFN" TargetMode="External"/><Relationship Id="rId20" Type="http://schemas.openxmlformats.org/officeDocument/2006/relationships/hyperlink" Target="https://www.sec.gov/Archives/edgar/data/0001474735/000143774926024731/ex_994826.htm" TargetMode="External"/><Relationship Id="rId41" Type="http://schemas.openxmlformats.org/officeDocument/2006/relationships/hyperlink" Target="https://www.mdm.com/news/featured/featured-blog/ferguson-makes-1-6b-flow-control-bet-with-floworks-deal/"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62" Type="http://schemas.openxmlformats.org/officeDocument/2006/relationships/hyperlink" Target="https://jp-hardin.github.io/about/mid-market-practice/insights/industrial-industry-report-q4-2026.html" TargetMode="External"/><Relationship Id="rId70" Type="http://schemas.openxmlformats.org/officeDocument/2006/relationships/hyperlink" Target="https://fred.stlouisfed.org/series/WPU1017" TargetMode="External"/><Relationship Id="rId1" Type="http://schemas.openxmlformats.org/officeDocument/2006/relationships/slideLayout" Target="../slideLayouts/slideLayout2.xml"/><Relationship Id="rId6" Type="http://schemas.openxmlformats.org/officeDocument/2006/relationships/hyperlink" Target="https://pitchbook.brightspotcdn.com/40/42/bbeb88094080abaea3d7c87530b8/q2-2026-us-pe-breakdown.pdf" TargetMode="External"/><Relationship Id="rId15" Type="http://schemas.openxmlformats.org/officeDocument/2006/relationships/hyperlink" Target="https://www.eia.gov/outlooks/steo/report/elec_coal_renew.php" TargetMode="External"/><Relationship Id="rId23" Type="http://schemas.openxmlformats.org/officeDocument/2006/relationships/hyperlink" Target="https://www.globenewswire.com/news-release/2026/09/15/3362305/0/en/abc-survey-1-in-6-members-perform-data-center-work-backlog-rebounds-in-august.html" TargetMode="External"/><Relationship Id="rId28" Type="http://schemas.openxmlformats.org/officeDocument/2006/relationships/hyperlink" Target="https://vertikal.net/en/news/story/49180/jk-takes-360" TargetMode="External"/><Relationship Id="rId36" Type="http://schemas.openxmlformats.org/officeDocument/2006/relationships/hyperlink" Target="https://www.youtube.com/watch?v=AhYQUjd_n78"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10" Type="http://schemas.openxmlformats.org/officeDocument/2006/relationships/hyperlink" Target="https://www.businesswire.com/news/home/20251210396417/en/APi-Group-Announces-Acquisition-of-CertaSite-and-Provides-Full-Year-2025-Update" TargetMode="External"/><Relationship Id="rId31" Type="http://schemas.openxmlformats.org/officeDocument/2006/relationships/hyperlink" Target="https://www.freightwaves.com/news/redwood-logistics-acquires-laredo-customs-broker-eelco" TargetMode="External"/><Relationship Id="rId44" Type="http://schemas.openxmlformats.org/officeDocument/2006/relationships/hyperlink" Target="https://www.rermag.com/mergers-acquisitions/news/55397729/bay-crane-acquires-clark-rigging-rental-growing-its-upstate-new-york-presence"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5" Type="http://schemas.openxmlformats.org/officeDocument/2006/relationships/hyperlink" Target="https://stockanalysis.com/" TargetMode="External"/><Relationship Id="rId73" Type="http://schemas.openxmlformats.org/officeDocument/2006/relationships/hyperlink" Target="https://fred.stlouisfed.org/series/GS10" TargetMode="External"/><Relationship Id="rId4" Type="http://schemas.openxmlformats.org/officeDocument/2006/relationships/hyperlink" Target="https://www.mdm.com/news/research/economic-trends/u-s-metalworking-machinery-orders-slide-in-july/" TargetMode="External"/><Relationship Id="rId9" Type="http://schemas.openxmlformats.org/officeDocument/2006/relationships/hyperlink" Target="https://aashtojournal.transportation.org/?p=41360" TargetMode="External"/><Relationship Id="rId13" Type="http://schemas.openxmlformats.org/officeDocument/2006/relationships/hyperlink" Target="https://www.federalreserve.gov/newsevents/pressreleases/monetary20260916a.htm" TargetMode="External"/><Relationship Id="rId18" Type="http://schemas.openxmlformats.org/officeDocument/2006/relationships/hyperlink" Target="https://www.sec.gov/Archives/edgar/data/0001996810/000199681026000147/gevpressrelease2q26.htm" TargetMode="External"/><Relationship Id="rId39" Type="http://schemas.openxmlformats.org/officeDocument/2006/relationships/hyperlink" Target="https://www.prnewswire.com/news-releases/precinmac-lp-announces-the-acquisition-of-massachusetts-based-advance-mfg-co-inc-302818691.html" TargetMode="External"/><Relationship Id="rId34" Type="http://schemas.openxmlformats.org/officeDocument/2006/relationships/hyperlink" Target="https://www.youtube.com/watch?v=Gnl833wXRz0"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7" Type="http://schemas.openxmlformats.org/officeDocument/2006/relationships/hyperlink" Target="https://pyebarkerfs.com/?p=22122" TargetMode="External"/><Relationship Id="rId71" Type="http://schemas.openxmlformats.org/officeDocument/2006/relationships/hyperlink" Target="https://fred.stlouisfed.org/series/GASDES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claude-about/b7ea608c-3502-5da6-986c-4c57d144c940/scratchpad/brief/assets/hero.jpg"/>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tmp/claude-0/-home-claude-about/b7ea608c-3502-5da6-986c-4c57d144c940/scratchpad/brief/assets/logo-white.png"/>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BENCHMARK CAPITAL MARKETS</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SECTOR BRIEF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descr="/tmp/claude-0/-home-claude-about/b7ea608c-3502-5da6-986c-4c57d144c940/scratchpad/brief/pptx/icons/factory_lg.png"/>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tmp/claude-0/-home-claude-about/b7ea608c-3502-5da6-986c-4c57d144c940/scratchpad/brief/pptx/icons/boxes_lg.png"/>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tmp/claude-0/-home-claude-about/b7ea608c-3502-5da6-986c-4c57d144c940/scratchpad/brief/pptx/icons/building_lg.png"/>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tmp/claude-0/-home-claude-about/b7ea608c-3502-5da6-986c-4c57d144c940/scratchpad/brief/pptx/icons/bolt_lg.png"/>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mp/claude-0/-home-claude-about/b7ea608c-3502-5da6-986c-4c57d144c940/scratchpad/brief/pptx/icons/truck_lg.png"/>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Benchmark Capital Markets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claude-about/b7ea608c-3502-5da6-986c-4c57d144c940/scratchpad/brief/assets/robots.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segment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03</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insights for the fourth quarter of 2026</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04</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Power demand: the buildout reaches every industrial segment</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05</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Featured engagement: The Carmi Companies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technicians.jpg"/>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tmp/claude-0/-home-claude-about/b7ea608c-3502-5da6-986c-4c57d144c940/scratchpad/brief/pptx/icons/factory_lg.png"/>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tmp/claude-0/-home-claude-about/b7ea608c-3502-5da6-986c-4c57d144c940/scratchpad/brief/pptx/icons/layers_lg.png"/>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tmp/claude-0/-home-claude-about/b7ea608c-3502-5da6-986c-4c57d144c940/scratchpad/brief/pptx/icons/wrench_lg.png"/>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tmp/claude-0/-home-claude-about/b7ea608c-3502-5da6-986c-4c57d144c940/scratchpad/brief/pptx/icons/percent_lg.png"/>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Segment</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 Toby Rice, CEO, EQT  (</a:t>
            </a:r>
            <a:r>
              <a:rPr lang="en-US" sz="800" u="sng" dirty="0">
                <a:hlinkClick r:id="rId10"/>
              </a:rPr>
              <a:t>EQT Corporation</a:t>
            </a:r>
            <a:r>
              <a:rPr lang="en-US" sz="800" u="sng" dirty="0"/>
              <a:t>)</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SEGMENT</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tmp/claude-0/-home-claude-about/b7ea608c-3502-5da6-986c-4c57d144c940/scratchpad/brief/pptx/icons/factory_lg.png"/>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which it put at 11.5 times anticipated 2026 adjusted EBITDA on the upfront payment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tmp/claude-0/-home-claude-about/b7ea608c-3502-5da6-986c-4c57d144c940/scratchpad/brief/pptx/icons/boxes_lg.png"/>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tmp/claude-0/-home-claude-about/b7ea608c-3502-5da6-986c-4c57d144c940/scratchpad/brief/pptx/icons/building_lg.png"/>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tmp/claude-0/-home-claude-about/b7ea608c-3502-5da6-986c-4c57d144c940/scratchpad/brief/pptx/icons/bolt_lg.png"/>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mp/claude-0/-home-claude-about/b7ea608c-3502-5da6-986c-4c57d144c940/scratchpad/brief/pptx/icons/truck_lg.png"/>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tmp/claude-0/-home-claude-about/b7ea608c-3502-5da6-986c-4c57d144c940/scratchpad/brief/assets/plant.jpg"/>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tmp/claude-0/-home-claude-about/b7ea608c-3502-5da6-986c-4c57d144c940/scratchpad/brief/assets/signing.jpg"/>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SEGMENT</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tmp/claude-0/-home-claude-about/b7ea608c-3502-5da6-986c-4c57d144c940/scratchpad/brief/assets/jared-hardin.jpg"/>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tmp/claude-0/-home-claude-about/b7ea608c-3502-5da6-986c-4c57d144c940/scratchpad/brief/assets/jordan-houtz.jpg"/>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Head of Benchmark Capital Markets</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claude-about/b7ea608c-3502-5da6-986c-4c57d144c940/scratchpad/brief/assets/lathe.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segment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segments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 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agreement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segment,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segments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SEGMENT</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tmp/claude-0/-home-claude-about/b7ea608c-3502-5da6-986c-4c57d144c940/scratchpad/brief/pptx/icons/factory_dg.png"/>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pptx/icons/boxes_dg.png"/>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tmp/claude-0/-home-claude-about/b7ea608c-3502-5da6-986c-4c57d144c940/scratchpad/brief/pptx/icons/building_dg.png"/>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tmp/claude-0/-home-claude-about/b7ea608c-3502-5da6-986c-4c57d144c940/scratchpad/brief/pptx/icons/bolt_dg.png"/>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mp/claude-0/-home-claude-about/b7ea608c-3502-5da6-986c-4c57d144c940/scratchpad/brief/pptx/icons/truck_dg.png"/>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segments.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segments.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segment.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claude-about/b7ea608c-3502-5da6-986c-4c57d144c940/scratchpad/brief/assets/meeting.jpg"/>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Capital Markets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Benchmark Capital Markets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Owners considering a sale, a recapitalization or a growth partnership in any of the five industrial segments, and the accountants, attorneys and wealth advisors who work with them, are welcome to call or write. Every engagement is led by the Benchmark Capital Markets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descr="/tmp/claude-0/-home-claude-about/b7ea608c-3502-5da6-986c-4c57d144c940/scratchpad/brief/assets/jared-hardin.jpg"/>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descr="/tmp/claude-0/-home-claude-about/b7ea608c-3502-5da6-986c-4c57d144c940/scratchpad/brief/assets/jordan-houtz.jpg"/>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9" name="Text 15"/>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Head of Benchmark Capital Markets</a:t>
            </a:r>
            <a:endParaRPr lang="en-US" sz="810"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descr="/tmp/claude-0/-home-claude-about/b7ea608c-3502-5da6-986c-4c57d144c940/scratchpad/brief/assets/alex-zykov.jpg"/>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5" name="Text 20"/>
          <p:cNvSpPr txBox="1"/>
          <p:nvPr/>
        </p:nvSpPr>
        <p:spPr>
          <a:xfrm>
            <a:off x="1504950" y="474345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Leads execution from onboarding through signing and closing</a:t>
            </a:r>
            <a:endParaRPr lang="en-US" sz="810"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descr="/tmp/claude-0/-home-claude-about/b7ea608c-3502-5da6-986c-4c57d144c940/scratchpad/brief/assets/shannon-hess.jpg"/>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1" name="Text 25"/>
          <p:cNvSpPr txBox="1"/>
          <p:nvPr/>
        </p:nvSpPr>
        <p:spPr>
          <a:xfrm>
            <a:off x="4591050" y="4743450"/>
            <a:ext cx="1790700" cy="381000"/>
          </a:xfrm>
          <a:prstGeom prst="rect">
            <a:avLst/>
          </a:prstGeom>
          <a:noFill/>
          <a:ln/>
        </p:spPr>
        <p:txBody>
          <a:bodyPr wrap="square" lIns="0" tIns="0" rIns="0" bIns="0" rtlCol="0" anchor="t"/>
          <a:lstStyle/>
          <a:p>
            <a:pPr marL="0" indent="0">
              <a:lnSpc>
                <a:spcPts val="1125"/>
              </a:lnSpc>
              <a:buNone/>
            </a:pPr>
            <a:r>
              <a:rPr lang="en-US" sz="810" dirty="0">
                <a:solidFill>
                  <a:srgbClr val="6F6A66"/>
                </a:solidFill>
              </a:rPr>
              <a:t>An additional point of contact for owners considering an engagement</a:t>
            </a:r>
            <a:endParaRPr lang="en-US" sz="810"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partial recapitalization to a full sale,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FULL Q4 2026 INDUSTRIAL REPORT</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descr="/tmp/claude-0/-home-claude-about/b7ea608c-3502-5da6-986c-4c57d144c940/scratchpad/brief/assets/logo-white.png"/>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CAPITAL MARKETS</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descr="/tmp/claude-0/-home-claude-about/b7ea608c-3502-5da6-986c-4c57d144c940/scratchpad/brief/pptx/icons/factory_lg.png"/>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descr="/tmp/claude-0/-home-claude-about/b7ea608c-3502-5da6-986c-4c57d144c940/scratchpad/brief/pptx/icons/boxes_lg.png"/>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descr="/tmp/claude-0/-home-claude-about/b7ea608c-3502-5da6-986c-4c57d144c940/scratchpad/brief/pptx/icons/building_lg.png"/>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descr="/tmp/claude-0/-home-claude-about/b7ea608c-3502-5da6-986c-4c57d144c940/scratchpad/brief/pptx/icons/bolt_lg.png"/>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descr="/tmp/claude-0/-home-claude-about/b7ea608c-3502-5da6-986c-4c57d144c940/scratchpad/brief/pptx/icons/truck_lg.png"/>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Benchmark Capital Markets sector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Capital Markets (BCM)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 The full Q4 2026 Industrial report carries the longer source list behind the five segment chapters.</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Benchmark Capital Markets: Industrial M&amp;A Report, Q4 2026</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Capital Markets</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Sector Brief</dc:title>
  <dc:subject>Quarterly sector brief, October 2026</dc:subject>
  <dc:creator>Jared Hardin, Benchmark Capital Markets</dc:creator>
  <cp:lastModifiedBy>Jason Lisiak</cp:lastModifiedBy>
  <cp:revision>3</cp:revision>
  <dcterms:created xsi:type="dcterms:W3CDTF">2026-10-12T16:51:24Z</dcterms:created>
  <dcterms:modified xsi:type="dcterms:W3CDTF">2026-10-13T16:46:10Z</dcterms:modified>
</cp:coreProperties>
</file>