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media/image10.jpg" ContentType="image/jpg"/>
  <Override PartName="/ppt/media/image11.jpg" ContentType="image/jpg"/>
  <Override PartName="/ppt/media/image15.jpg" ContentType="image/jpg"/>
  <Override PartName="/ppt/media/image16.jpg" ContentType="image/jpg"/>
  <Override PartName="/ppt/media/image17.jpg" ContentType="image/jpg"/>
  <Override PartName="/ppt/media/image18.jpg" ContentType="image/jpg"/>
  <Override PartName="/ppt/media/image19.jpg" ContentType="image/jpg"/>
  <Override PartName="/ppt/media/image2.jpg" ContentType="image/jpg"/>
  <Override PartName="/ppt/media/image25.jpg" ContentType="image/jpg"/>
  <Override PartName="/ppt/media/image26.jpg" ContentType="image/jpg"/>
  <Override PartName="/ppt/media/image27.jpg" ContentType="image/jpg"/>
  <Override PartName="/ppt/media/image4.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C4257B2-3684-0462-07B5-1852DD144E4E}">
          <p14:sldIdLst>
            <p14:sldId id="256"/>
          </p14:sldIdLst>
        </p14:section>
        <p14:section name="01 Insights" id="{D8E30133-3877-BB0F-19E1-208C4C7078A5}">
          <p14:sldIdLst>
            <p14:sldId id="257"/>
            <p14:sldId id="258"/>
            <p14:sldId id="259"/>
            <p14:sldId id="260"/>
          </p14:sldIdLst>
        </p14:section>
        <p14:section name="02 Sector Activity" id="{E5B8BA2E-C5BC-F754-C45C-51894EAF5447}">
          <p14:sldIdLst>
            <p14:sldId id="261"/>
            <p14:sldId id="262"/>
            <p14:sldId id="263"/>
            <p14:sldId id="264"/>
            <p14:sldId id="265"/>
            <p14:sldId id="266"/>
            <p14:sldId id="267"/>
            <p14:sldId id="268"/>
          </p14:sldIdLst>
        </p14:section>
        <p14:section name="03 Connect With Us" id="{2E69D56B-EA9A-A964-C58F-363DD058E786}">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3" d="100"/>
          <a:sy n="103" d="100"/>
        </p:scale>
        <p:origin x="106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In progress</c:v>
                </c:pt>
              </c:strCache>
            </c:strRef>
          </c:tx>
          <c:spPr>
            <a:solidFill>
              <a:srgbClr val="C3BDB6"/>
            </a:solidFill>
            <a:effectLst/>
          </c:spPr>
          <c:invertIfNegative val="0"/>
          <c:dLbls>
            <c:numFmt formatCode="#,##0" sourceLinked="0"/>
            <c:spPr>
              <a:noFill/>
              <a:ln>
                <a:noFill/>
              </a:ln>
              <a:effectLst/>
            </c:spPr>
            <c:txPr>
              <a:bodyPr/>
              <a:lstStyle/>
              <a:p>
                <a:pPr>
                  <a:defRPr sz="75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Transportation &amp; Logistics</c:v>
                </c:pt>
                <c:pt idx="1">
                  <c:v>Energy, Power &amp; Environmental</c:v>
                </c:pt>
                <c:pt idx="2">
                  <c:v>Building Products &amp; Construction</c:v>
                </c:pt>
                <c:pt idx="3">
                  <c:v>Distribution &amp; Services</c:v>
                </c:pt>
                <c:pt idx="4">
                  <c:v>Manufacturing &amp; Industrial Tech</c:v>
                </c:pt>
              </c:strCache>
            </c:strRef>
          </c:cat>
          <c:val>
            <c:numRef>
              <c:f>Sheet1!$B$2:$B$6</c:f>
              <c:numCache>
                <c:formatCode>General</c:formatCode>
                <c:ptCount val="5"/>
                <c:pt idx="0">
                  <c:v>14</c:v>
                </c:pt>
                <c:pt idx="1">
                  <c:v>28</c:v>
                </c:pt>
                <c:pt idx="2">
                  <c:v>118</c:v>
                </c:pt>
                <c:pt idx="3">
                  <c:v>24</c:v>
                </c:pt>
                <c:pt idx="4">
                  <c:v>28</c:v>
                </c:pt>
              </c:numCache>
            </c:numRef>
          </c:val>
          <c:extLst>
            <c:ext xmlns:c16="http://schemas.microsoft.com/office/drawing/2014/chart" uri="{C3380CC4-5D6E-409C-BE32-E72D297353CC}">
              <c16:uniqueId val="{00000000-29FC-4EDA-9D95-F9C7F1459B03}"/>
            </c:ext>
          </c:extLst>
        </c:ser>
        <c:ser>
          <c:idx val="1"/>
          <c:order val="1"/>
          <c:tx>
            <c:strRef>
              <c:f>Sheet1!$C$1</c:f>
              <c:strCache>
                <c:ptCount val="1"/>
                <c:pt idx="0">
                  <c:v>Closed</c:v>
                </c:pt>
              </c:strCache>
            </c:strRef>
          </c:tx>
          <c:spPr>
            <a:solidFill>
              <a:srgbClr val="B68757"/>
            </a:solidFill>
            <a:effectLst/>
          </c:spPr>
          <c:invertIfNegative val="0"/>
          <c:dLbls>
            <c:numFmt formatCode="#,##0" sourceLinked="0"/>
            <c:spPr>
              <a:noFill/>
              <a:ln>
                <a:noFill/>
              </a:ln>
              <a:effectLst/>
            </c:spPr>
            <c:txPr>
              <a:bodyPr/>
              <a:lstStyle/>
              <a:p>
                <a:pPr>
                  <a:defRPr sz="75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Transportation &amp; Logistics</c:v>
                </c:pt>
                <c:pt idx="1">
                  <c:v>Energy, Power &amp; Environmental</c:v>
                </c:pt>
                <c:pt idx="2">
                  <c:v>Building Products &amp; Construction</c:v>
                </c:pt>
                <c:pt idx="3">
                  <c:v>Distribution &amp; Services</c:v>
                </c:pt>
                <c:pt idx="4">
                  <c:v>Manufacturing &amp; Industrial Tech</c:v>
                </c:pt>
              </c:strCache>
            </c:strRef>
          </c:cat>
          <c:val>
            <c:numRef>
              <c:f>Sheet1!$C$2:$C$6</c:f>
              <c:numCache>
                <c:formatCode>General</c:formatCode>
                <c:ptCount val="5"/>
                <c:pt idx="0">
                  <c:v>3</c:v>
                </c:pt>
                <c:pt idx="1">
                  <c:v>7</c:v>
                </c:pt>
                <c:pt idx="2">
                  <c:v>45</c:v>
                </c:pt>
                <c:pt idx="3">
                  <c:v>8</c:v>
                </c:pt>
                <c:pt idx="4">
                  <c:v>22</c:v>
                </c:pt>
              </c:numCache>
            </c:numRef>
          </c:val>
          <c:extLst>
            <c:ext xmlns:c16="http://schemas.microsoft.com/office/drawing/2014/chart" uri="{C3380CC4-5D6E-409C-BE32-E72D297353CC}">
              <c16:uniqueId val="{00000001-29FC-4EDA-9D95-F9C7F1459B03}"/>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legend>
      <c:legendPos val="t"/>
      <c:overlay val="0"/>
      <c:txPr>
        <a:bodyPr/>
        <a:lstStyle/>
        <a:p>
          <a:pPr>
            <a:defRPr sz="750">
              <a:solidFill>
                <a:srgbClr val="6F6A6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EV / EBITDA</c:v>
                </c:pt>
              </c:strCache>
            </c:strRef>
          </c:tx>
          <c:spPr>
            <a:solidFill>
              <a:srgbClr val="C3BDB6"/>
            </a:solidFill>
            <a:effectLst/>
          </c:spPr>
          <c:invertIfNegative val="0"/>
          <c:dPt>
            <c:idx val="0"/>
            <c:invertIfNegative val="0"/>
            <c:bubble3D val="0"/>
            <c:extLst>
              <c:ext xmlns:c16="http://schemas.microsoft.com/office/drawing/2014/chart" uri="{C3380CC4-5D6E-409C-BE32-E72D297353CC}">
                <c16:uniqueId val="{00000001-0311-4A30-8735-85EC7D903A6C}"/>
              </c:ext>
            </c:extLst>
          </c:dPt>
          <c:dPt>
            <c:idx val="1"/>
            <c:invertIfNegative val="0"/>
            <c:bubble3D val="0"/>
            <c:extLst>
              <c:ext xmlns:c16="http://schemas.microsoft.com/office/drawing/2014/chart" uri="{C3380CC4-5D6E-409C-BE32-E72D297353CC}">
                <c16:uniqueId val="{00000003-0311-4A30-8735-85EC7D903A6C}"/>
              </c:ext>
            </c:extLst>
          </c:dPt>
          <c:dPt>
            <c:idx val="2"/>
            <c:invertIfNegative val="0"/>
            <c:bubble3D val="0"/>
            <c:extLst>
              <c:ext xmlns:c16="http://schemas.microsoft.com/office/drawing/2014/chart" uri="{C3380CC4-5D6E-409C-BE32-E72D297353CC}">
                <c16:uniqueId val="{00000005-0311-4A30-8735-85EC7D903A6C}"/>
              </c:ext>
            </c:extLst>
          </c:dPt>
          <c:dPt>
            <c:idx val="3"/>
            <c:invertIfNegative val="0"/>
            <c:bubble3D val="0"/>
            <c:extLst>
              <c:ext xmlns:c16="http://schemas.microsoft.com/office/drawing/2014/chart" uri="{C3380CC4-5D6E-409C-BE32-E72D297353CC}">
                <c16:uniqueId val="{00000007-0311-4A30-8735-85EC7D903A6C}"/>
              </c:ext>
            </c:extLst>
          </c:dPt>
          <c:dPt>
            <c:idx val="4"/>
            <c:invertIfNegative val="0"/>
            <c:bubble3D val="0"/>
            <c:extLst>
              <c:ext xmlns:c16="http://schemas.microsoft.com/office/drawing/2014/chart" uri="{C3380CC4-5D6E-409C-BE32-E72D297353CC}">
                <c16:uniqueId val="{00000009-0311-4A30-8735-85EC7D903A6C}"/>
              </c:ext>
            </c:extLst>
          </c:dPt>
          <c:dPt>
            <c:idx val="5"/>
            <c:invertIfNegative val="0"/>
            <c:bubble3D val="0"/>
            <c:spPr>
              <a:solidFill>
                <a:srgbClr val="B68757"/>
              </a:solidFill>
              <a:effectLst/>
            </c:spPr>
            <c:extLst>
              <c:ext xmlns:c16="http://schemas.microsoft.com/office/drawing/2014/chart" uri="{C3380CC4-5D6E-409C-BE32-E72D297353CC}">
                <c16:uniqueId val="{0000000B-0311-4A30-8735-85EC7D903A6C}"/>
              </c:ext>
            </c:extLst>
          </c:dPt>
          <c:dLbls>
            <c:numFmt formatCode="0.0" sourceLinked="0"/>
            <c:spPr>
              <a:noFill/>
              <a:ln>
                <a:noFill/>
              </a:ln>
              <a:effectLst/>
            </c:spPr>
            <c:txPr>
              <a:bodyPr/>
              <a:lstStyle/>
              <a:p>
                <a:pPr>
                  <a:defRPr sz="70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2021</c:v>
                </c:pt>
                <c:pt idx="1">
                  <c:v>2022</c:v>
                </c:pt>
                <c:pt idx="2">
                  <c:v>2023</c:v>
                </c:pt>
                <c:pt idx="3">
                  <c:v>2024</c:v>
                </c:pt>
                <c:pt idx="4">
                  <c:v>2025</c:v>
                </c:pt>
                <c:pt idx="5">
                  <c:v>Now</c:v>
                </c:pt>
              </c:strCache>
            </c:strRef>
          </c:cat>
          <c:val>
            <c:numRef>
              <c:f>Sheet1!$B$2:$B$7</c:f>
              <c:numCache>
                <c:formatCode>General</c:formatCode>
                <c:ptCount val="6"/>
                <c:pt idx="0">
                  <c:v>15.7</c:v>
                </c:pt>
                <c:pt idx="1">
                  <c:v>12.8</c:v>
                </c:pt>
                <c:pt idx="2">
                  <c:v>14.9</c:v>
                </c:pt>
                <c:pt idx="3">
                  <c:v>15.6</c:v>
                </c:pt>
                <c:pt idx="4">
                  <c:v>18</c:v>
                </c:pt>
                <c:pt idx="5">
                  <c:v>23</c:v>
                </c:pt>
              </c:numCache>
            </c:numRef>
          </c:val>
          <c:extLst>
            <c:ext xmlns:c16="http://schemas.microsoft.com/office/drawing/2014/chart" uri="{C3380CC4-5D6E-409C-BE32-E72D297353CC}">
              <c16:uniqueId val="{0000000C-0311-4A30-8735-85EC7D903A6C}"/>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max val="27"/>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EV / EBITDA</c:v>
                </c:pt>
              </c:strCache>
            </c:strRef>
          </c:tx>
          <c:spPr>
            <a:solidFill>
              <a:srgbClr val="C3BDB6"/>
            </a:solidFill>
            <a:effectLst/>
          </c:spPr>
          <c:invertIfNegative val="0"/>
          <c:dPt>
            <c:idx val="0"/>
            <c:invertIfNegative val="0"/>
            <c:bubble3D val="0"/>
            <c:extLst>
              <c:ext xmlns:c16="http://schemas.microsoft.com/office/drawing/2014/chart" uri="{C3380CC4-5D6E-409C-BE32-E72D297353CC}">
                <c16:uniqueId val="{00000001-D35B-45A6-846A-E41593B4D1C9}"/>
              </c:ext>
            </c:extLst>
          </c:dPt>
          <c:dPt>
            <c:idx val="1"/>
            <c:invertIfNegative val="0"/>
            <c:bubble3D val="0"/>
            <c:extLst>
              <c:ext xmlns:c16="http://schemas.microsoft.com/office/drawing/2014/chart" uri="{C3380CC4-5D6E-409C-BE32-E72D297353CC}">
                <c16:uniqueId val="{00000003-D35B-45A6-846A-E41593B4D1C9}"/>
              </c:ext>
            </c:extLst>
          </c:dPt>
          <c:dPt>
            <c:idx val="2"/>
            <c:invertIfNegative val="0"/>
            <c:bubble3D val="0"/>
            <c:extLst>
              <c:ext xmlns:c16="http://schemas.microsoft.com/office/drawing/2014/chart" uri="{C3380CC4-5D6E-409C-BE32-E72D297353CC}">
                <c16:uniqueId val="{00000005-D35B-45A6-846A-E41593B4D1C9}"/>
              </c:ext>
            </c:extLst>
          </c:dPt>
          <c:dPt>
            <c:idx val="3"/>
            <c:invertIfNegative val="0"/>
            <c:bubble3D val="0"/>
            <c:extLst>
              <c:ext xmlns:c16="http://schemas.microsoft.com/office/drawing/2014/chart" uri="{C3380CC4-5D6E-409C-BE32-E72D297353CC}">
                <c16:uniqueId val="{00000007-D35B-45A6-846A-E41593B4D1C9}"/>
              </c:ext>
            </c:extLst>
          </c:dPt>
          <c:dPt>
            <c:idx val="4"/>
            <c:invertIfNegative val="0"/>
            <c:bubble3D val="0"/>
            <c:extLst>
              <c:ext xmlns:c16="http://schemas.microsoft.com/office/drawing/2014/chart" uri="{C3380CC4-5D6E-409C-BE32-E72D297353CC}">
                <c16:uniqueId val="{00000009-D35B-45A6-846A-E41593B4D1C9}"/>
              </c:ext>
            </c:extLst>
          </c:dPt>
          <c:dPt>
            <c:idx val="5"/>
            <c:invertIfNegative val="0"/>
            <c:bubble3D val="0"/>
            <c:spPr>
              <a:solidFill>
                <a:srgbClr val="B68757"/>
              </a:solidFill>
              <a:effectLst/>
            </c:spPr>
            <c:extLst>
              <c:ext xmlns:c16="http://schemas.microsoft.com/office/drawing/2014/chart" uri="{C3380CC4-5D6E-409C-BE32-E72D297353CC}">
                <c16:uniqueId val="{0000000B-D35B-45A6-846A-E41593B4D1C9}"/>
              </c:ext>
            </c:extLst>
          </c:dPt>
          <c:dLbls>
            <c:numFmt formatCode="0.0" sourceLinked="0"/>
            <c:spPr>
              <a:noFill/>
              <a:ln>
                <a:noFill/>
              </a:ln>
              <a:effectLst/>
            </c:spPr>
            <c:txPr>
              <a:bodyPr/>
              <a:lstStyle/>
              <a:p>
                <a:pPr>
                  <a:defRPr sz="70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2021</c:v>
                </c:pt>
                <c:pt idx="1">
                  <c:v>2022</c:v>
                </c:pt>
                <c:pt idx="2">
                  <c:v>2023</c:v>
                </c:pt>
                <c:pt idx="3">
                  <c:v>2024</c:v>
                </c:pt>
                <c:pt idx="4">
                  <c:v>2025</c:v>
                </c:pt>
                <c:pt idx="5">
                  <c:v>Now</c:v>
                </c:pt>
              </c:strCache>
            </c:strRef>
          </c:cat>
          <c:val>
            <c:numRef>
              <c:f>Sheet1!$B$2:$B$7</c:f>
              <c:numCache>
                <c:formatCode>General</c:formatCode>
                <c:ptCount val="6"/>
                <c:pt idx="0">
                  <c:v>15</c:v>
                </c:pt>
                <c:pt idx="1">
                  <c:v>10.5</c:v>
                </c:pt>
                <c:pt idx="2">
                  <c:v>13.5</c:v>
                </c:pt>
                <c:pt idx="3">
                  <c:v>14.3</c:v>
                </c:pt>
                <c:pt idx="4">
                  <c:v>14.9</c:v>
                </c:pt>
                <c:pt idx="5">
                  <c:v>17.7</c:v>
                </c:pt>
              </c:numCache>
            </c:numRef>
          </c:val>
          <c:extLst>
            <c:ext xmlns:c16="http://schemas.microsoft.com/office/drawing/2014/chart" uri="{C3380CC4-5D6E-409C-BE32-E72D297353CC}">
              <c16:uniqueId val="{0000000C-D35B-45A6-846A-E41593B4D1C9}"/>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max val="27"/>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EV / EBITDA</c:v>
                </c:pt>
              </c:strCache>
            </c:strRef>
          </c:tx>
          <c:spPr>
            <a:solidFill>
              <a:srgbClr val="C3BDB6"/>
            </a:solidFill>
            <a:effectLst/>
          </c:spPr>
          <c:invertIfNegative val="0"/>
          <c:dPt>
            <c:idx val="0"/>
            <c:invertIfNegative val="0"/>
            <c:bubble3D val="0"/>
            <c:extLst>
              <c:ext xmlns:c16="http://schemas.microsoft.com/office/drawing/2014/chart" uri="{C3380CC4-5D6E-409C-BE32-E72D297353CC}">
                <c16:uniqueId val="{00000001-B2D1-430F-968B-24BD9A9EBE98}"/>
              </c:ext>
            </c:extLst>
          </c:dPt>
          <c:dPt>
            <c:idx val="1"/>
            <c:invertIfNegative val="0"/>
            <c:bubble3D val="0"/>
            <c:extLst>
              <c:ext xmlns:c16="http://schemas.microsoft.com/office/drawing/2014/chart" uri="{C3380CC4-5D6E-409C-BE32-E72D297353CC}">
                <c16:uniqueId val="{00000003-B2D1-430F-968B-24BD9A9EBE98}"/>
              </c:ext>
            </c:extLst>
          </c:dPt>
          <c:dPt>
            <c:idx val="2"/>
            <c:invertIfNegative val="0"/>
            <c:bubble3D val="0"/>
            <c:extLst>
              <c:ext xmlns:c16="http://schemas.microsoft.com/office/drawing/2014/chart" uri="{C3380CC4-5D6E-409C-BE32-E72D297353CC}">
                <c16:uniqueId val="{00000005-B2D1-430F-968B-24BD9A9EBE98}"/>
              </c:ext>
            </c:extLst>
          </c:dPt>
          <c:dPt>
            <c:idx val="3"/>
            <c:invertIfNegative val="0"/>
            <c:bubble3D val="0"/>
            <c:extLst>
              <c:ext xmlns:c16="http://schemas.microsoft.com/office/drawing/2014/chart" uri="{C3380CC4-5D6E-409C-BE32-E72D297353CC}">
                <c16:uniqueId val="{00000007-B2D1-430F-968B-24BD9A9EBE98}"/>
              </c:ext>
            </c:extLst>
          </c:dPt>
          <c:dPt>
            <c:idx val="4"/>
            <c:invertIfNegative val="0"/>
            <c:bubble3D val="0"/>
            <c:extLst>
              <c:ext xmlns:c16="http://schemas.microsoft.com/office/drawing/2014/chart" uri="{C3380CC4-5D6E-409C-BE32-E72D297353CC}">
                <c16:uniqueId val="{00000009-B2D1-430F-968B-24BD9A9EBE98}"/>
              </c:ext>
            </c:extLst>
          </c:dPt>
          <c:dPt>
            <c:idx val="5"/>
            <c:invertIfNegative val="0"/>
            <c:bubble3D val="0"/>
            <c:spPr>
              <a:solidFill>
                <a:srgbClr val="B68757"/>
              </a:solidFill>
              <a:effectLst/>
            </c:spPr>
            <c:extLst>
              <c:ext xmlns:c16="http://schemas.microsoft.com/office/drawing/2014/chart" uri="{C3380CC4-5D6E-409C-BE32-E72D297353CC}">
                <c16:uniqueId val="{0000000B-B2D1-430F-968B-24BD9A9EBE98}"/>
              </c:ext>
            </c:extLst>
          </c:dPt>
          <c:dLbls>
            <c:numFmt formatCode="0.0" sourceLinked="0"/>
            <c:spPr>
              <a:noFill/>
              <a:ln>
                <a:noFill/>
              </a:ln>
              <a:effectLst/>
            </c:spPr>
            <c:txPr>
              <a:bodyPr/>
              <a:lstStyle/>
              <a:p>
                <a:pPr>
                  <a:defRPr sz="70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2021</c:v>
                </c:pt>
                <c:pt idx="1">
                  <c:v>2022</c:v>
                </c:pt>
                <c:pt idx="2">
                  <c:v>2023</c:v>
                </c:pt>
                <c:pt idx="3">
                  <c:v>2024</c:v>
                </c:pt>
                <c:pt idx="4">
                  <c:v>2025</c:v>
                </c:pt>
                <c:pt idx="5">
                  <c:v>Now</c:v>
                </c:pt>
              </c:strCache>
            </c:strRef>
          </c:cat>
          <c:val>
            <c:numRef>
              <c:f>Sheet1!$B$2:$B$7</c:f>
              <c:numCache>
                <c:formatCode>General</c:formatCode>
                <c:ptCount val="6"/>
                <c:pt idx="0">
                  <c:v>12.7</c:v>
                </c:pt>
                <c:pt idx="1">
                  <c:v>10</c:v>
                </c:pt>
                <c:pt idx="2">
                  <c:v>13.6</c:v>
                </c:pt>
                <c:pt idx="3">
                  <c:v>15.2</c:v>
                </c:pt>
                <c:pt idx="4">
                  <c:v>16.7</c:v>
                </c:pt>
                <c:pt idx="5">
                  <c:v>15.1</c:v>
                </c:pt>
              </c:numCache>
            </c:numRef>
          </c:val>
          <c:extLst>
            <c:ext xmlns:c16="http://schemas.microsoft.com/office/drawing/2014/chart" uri="{C3380CC4-5D6E-409C-BE32-E72D297353CC}">
              <c16:uniqueId val="{0000000C-B2D1-430F-968B-24BD9A9EBE98}"/>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max val="27"/>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EV / EBITDA</c:v>
                </c:pt>
              </c:strCache>
            </c:strRef>
          </c:tx>
          <c:spPr>
            <a:solidFill>
              <a:srgbClr val="C3BDB6"/>
            </a:solidFill>
            <a:effectLst/>
          </c:spPr>
          <c:invertIfNegative val="0"/>
          <c:dPt>
            <c:idx val="0"/>
            <c:invertIfNegative val="0"/>
            <c:bubble3D val="0"/>
            <c:extLst>
              <c:ext xmlns:c16="http://schemas.microsoft.com/office/drawing/2014/chart" uri="{C3380CC4-5D6E-409C-BE32-E72D297353CC}">
                <c16:uniqueId val="{00000001-813B-4D3B-8898-A7C1DB3CBE2D}"/>
              </c:ext>
            </c:extLst>
          </c:dPt>
          <c:dPt>
            <c:idx val="1"/>
            <c:invertIfNegative val="0"/>
            <c:bubble3D val="0"/>
            <c:extLst>
              <c:ext xmlns:c16="http://schemas.microsoft.com/office/drawing/2014/chart" uri="{C3380CC4-5D6E-409C-BE32-E72D297353CC}">
                <c16:uniqueId val="{00000003-813B-4D3B-8898-A7C1DB3CBE2D}"/>
              </c:ext>
            </c:extLst>
          </c:dPt>
          <c:dPt>
            <c:idx val="2"/>
            <c:invertIfNegative val="0"/>
            <c:bubble3D val="0"/>
            <c:extLst>
              <c:ext xmlns:c16="http://schemas.microsoft.com/office/drawing/2014/chart" uri="{C3380CC4-5D6E-409C-BE32-E72D297353CC}">
                <c16:uniqueId val="{00000005-813B-4D3B-8898-A7C1DB3CBE2D}"/>
              </c:ext>
            </c:extLst>
          </c:dPt>
          <c:dPt>
            <c:idx val="3"/>
            <c:invertIfNegative val="0"/>
            <c:bubble3D val="0"/>
            <c:extLst>
              <c:ext xmlns:c16="http://schemas.microsoft.com/office/drawing/2014/chart" uri="{C3380CC4-5D6E-409C-BE32-E72D297353CC}">
                <c16:uniqueId val="{00000007-813B-4D3B-8898-A7C1DB3CBE2D}"/>
              </c:ext>
            </c:extLst>
          </c:dPt>
          <c:dPt>
            <c:idx val="4"/>
            <c:invertIfNegative val="0"/>
            <c:bubble3D val="0"/>
            <c:extLst>
              <c:ext xmlns:c16="http://schemas.microsoft.com/office/drawing/2014/chart" uri="{C3380CC4-5D6E-409C-BE32-E72D297353CC}">
                <c16:uniqueId val="{00000009-813B-4D3B-8898-A7C1DB3CBE2D}"/>
              </c:ext>
            </c:extLst>
          </c:dPt>
          <c:dPt>
            <c:idx val="5"/>
            <c:invertIfNegative val="0"/>
            <c:bubble3D val="0"/>
            <c:spPr>
              <a:solidFill>
                <a:srgbClr val="B68757"/>
              </a:solidFill>
              <a:effectLst/>
            </c:spPr>
            <c:extLst>
              <c:ext xmlns:c16="http://schemas.microsoft.com/office/drawing/2014/chart" uri="{C3380CC4-5D6E-409C-BE32-E72D297353CC}">
                <c16:uniqueId val="{0000000B-813B-4D3B-8898-A7C1DB3CBE2D}"/>
              </c:ext>
            </c:extLst>
          </c:dPt>
          <c:dLbls>
            <c:numFmt formatCode="0.0" sourceLinked="0"/>
            <c:spPr>
              <a:noFill/>
              <a:ln>
                <a:noFill/>
              </a:ln>
              <a:effectLst/>
            </c:spPr>
            <c:txPr>
              <a:bodyPr/>
              <a:lstStyle/>
              <a:p>
                <a:pPr>
                  <a:defRPr sz="70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2021</c:v>
                </c:pt>
                <c:pt idx="1">
                  <c:v>2022</c:v>
                </c:pt>
                <c:pt idx="2">
                  <c:v>2023</c:v>
                </c:pt>
                <c:pt idx="3">
                  <c:v>2024</c:v>
                </c:pt>
                <c:pt idx="4">
                  <c:v>2025</c:v>
                </c:pt>
                <c:pt idx="5">
                  <c:v>Now</c:v>
                </c:pt>
              </c:strCache>
            </c:strRef>
          </c:cat>
          <c:val>
            <c:numRef>
              <c:f>Sheet1!$B$2:$B$7</c:f>
              <c:numCache>
                <c:formatCode>General</c:formatCode>
                <c:ptCount val="6"/>
                <c:pt idx="0">
                  <c:v>23.9</c:v>
                </c:pt>
                <c:pt idx="1">
                  <c:v>17.399999999999999</c:v>
                </c:pt>
                <c:pt idx="2">
                  <c:v>18.600000000000001</c:v>
                </c:pt>
                <c:pt idx="3">
                  <c:v>16.7</c:v>
                </c:pt>
                <c:pt idx="4">
                  <c:v>18.2</c:v>
                </c:pt>
                <c:pt idx="5">
                  <c:v>16.2</c:v>
                </c:pt>
              </c:numCache>
            </c:numRef>
          </c:val>
          <c:extLst>
            <c:ext xmlns:c16="http://schemas.microsoft.com/office/drawing/2014/chart" uri="{C3380CC4-5D6E-409C-BE32-E72D297353CC}">
              <c16:uniqueId val="{0000000C-813B-4D3B-8898-A7C1DB3CBE2D}"/>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max val="27"/>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EV / EBITDA</c:v>
                </c:pt>
              </c:strCache>
            </c:strRef>
          </c:tx>
          <c:spPr>
            <a:solidFill>
              <a:srgbClr val="C3BDB6"/>
            </a:solidFill>
            <a:effectLst/>
          </c:spPr>
          <c:invertIfNegative val="0"/>
          <c:dPt>
            <c:idx val="0"/>
            <c:invertIfNegative val="0"/>
            <c:bubble3D val="0"/>
            <c:extLst>
              <c:ext xmlns:c16="http://schemas.microsoft.com/office/drawing/2014/chart" uri="{C3380CC4-5D6E-409C-BE32-E72D297353CC}">
                <c16:uniqueId val="{00000001-5FAB-42BF-B3C0-0E21DDD66956}"/>
              </c:ext>
            </c:extLst>
          </c:dPt>
          <c:dPt>
            <c:idx val="1"/>
            <c:invertIfNegative val="0"/>
            <c:bubble3D val="0"/>
            <c:extLst>
              <c:ext xmlns:c16="http://schemas.microsoft.com/office/drawing/2014/chart" uri="{C3380CC4-5D6E-409C-BE32-E72D297353CC}">
                <c16:uniqueId val="{00000003-5FAB-42BF-B3C0-0E21DDD66956}"/>
              </c:ext>
            </c:extLst>
          </c:dPt>
          <c:dPt>
            <c:idx val="2"/>
            <c:invertIfNegative val="0"/>
            <c:bubble3D val="0"/>
            <c:extLst>
              <c:ext xmlns:c16="http://schemas.microsoft.com/office/drawing/2014/chart" uri="{C3380CC4-5D6E-409C-BE32-E72D297353CC}">
                <c16:uniqueId val="{00000005-5FAB-42BF-B3C0-0E21DDD66956}"/>
              </c:ext>
            </c:extLst>
          </c:dPt>
          <c:dPt>
            <c:idx val="3"/>
            <c:invertIfNegative val="0"/>
            <c:bubble3D val="0"/>
            <c:extLst>
              <c:ext xmlns:c16="http://schemas.microsoft.com/office/drawing/2014/chart" uri="{C3380CC4-5D6E-409C-BE32-E72D297353CC}">
                <c16:uniqueId val="{00000007-5FAB-42BF-B3C0-0E21DDD66956}"/>
              </c:ext>
            </c:extLst>
          </c:dPt>
          <c:dPt>
            <c:idx val="4"/>
            <c:invertIfNegative val="0"/>
            <c:bubble3D val="0"/>
            <c:extLst>
              <c:ext xmlns:c16="http://schemas.microsoft.com/office/drawing/2014/chart" uri="{C3380CC4-5D6E-409C-BE32-E72D297353CC}">
                <c16:uniqueId val="{00000009-5FAB-42BF-B3C0-0E21DDD66956}"/>
              </c:ext>
            </c:extLst>
          </c:dPt>
          <c:dPt>
            <c:idx val="5"/>
            <c:invertIfNegative val="0"/>
            <c:bubble3D val="0"/>
            <c:spPr>
              <a:solidFill>
                <a:srgbClr val="B68757"/>
              </a:solidFill>
              <a:effectLst/>
            </c:spPr>
            <c:extLst>
              <c:ext xmlns:c16="http://schemas.microsoft.com/office/drawing/2014/chart" uri="{C3380CC4-5D6E-409C-BE32-E72D297353CC}">
                <c16:uniqueId val="{0000000B-5FAB-42BF-B3C0-0E21DDD66956}"/>
              </c:ext>
            </c:extLst>
          </c:dPt>
          <c:dLbls>
            <c:numFmt formatCode="0.0" sourceLinked="0"/>
            <c:spPr>
              <a:noFill/>
              <a:ln>
                <a:noFill/>
              </a:ln>
              <a:effectLst/>
            </c:spPr>
            <c:txPr>
              <a:bodyPr/>
              <a:lstStyle/>
              <a:p>
                <a:pPr>
                  <a:defRPr sz="70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2021</c:v>
                </c:pt>
                <c:pt idx="1">
                  <c:v>2022</c:v>
                </c:pt>
                <c:pt idx="2">
                  <c:v>2023</c:v>
                </c:pt>
                <c:pt idx="3">
                  <c:v>2024</c:v>
                </c:pt>
                <c:pt idx="4">
                  <c:v>2025</c:v>
                </c:pt>
                <c:pt idx="5">
                  <c:v>Now</c:v>
                </c:pt>
              </c:strCache>
            </c:strRef>
          </c:cat>
          <c:val>
            <c:numRef>
              <c:f>Sheet1!$B$2:$B$7</c:f>
              <c:numCache>
                <c:formatCode>General</c:formatCode>
                <c:ptCount val="6"/>
                <c:pt idx="0">
                  <c:v>11.7</c:v>
                </c:pt>
                <c:pt idx="1">
                  <c:v>9.3000000000000007</c:v>
                </c:pt>
                <c:pt idx="2">
                  <c:v>12.2</c:v>
                </c:pt>
                <c:pt idx="3">
                  <c:v>11.5</c:v>
                </c:pt>
                <c:pt idx="4">
                  <c:v>11.1</c:v>
                </c:pt>
                <c:pt idx="5">
                  <c:v>12.7</c:v>
                </c:pt>
              </c:numCache>
            </c:numRef>
          </c:val>
          <c:extLst>
            <c:ext xmlns:c16="http://schemas.microsoft.com/office/drawing/2014/chart" uri="{C3380CC4-5D6E-409C-BE32-E72D297353CC}">
              <c16:uniqueId val="{0000000C-5FAB-42BF-B3C0-0E21DDD6695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max val="27"/>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Median revenue growth</c:v>
                </c:pt>
              </c:strCache>
            </c:strRef>
          </c:tx>
          <c:spPr>
            <a:solidFill>
              <a:srgbClr val="B68757"/>
            </a:solidFill>
            <a:effectLst/>
          </c:spPr>
          <c:invertIfNegative val="0"/>
          <c:dLbls>
            <c:numFmt formatCode="\+0.0&quot;%&quot;;\−0.0&quot;%&quot;" sourceLinked="0"/>
            <c:spPr>
              <a:noFill/>
              <a:ln>
                <a:noFill/>
              </a:ln>
              <a:effectLst/>
            </c:spPr>
            <c:txPr>
              <a:bodyPr/>
              <a:lstStyle/>
              <a:p>
                <a:pPr>
                  <a:defRPr sz="75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Transportation &amp; Logistics</c:v>
                </c:pt>
                <c:pt idx="1">
                  <c:v>Energy, Power &amp; Environmental</c:v>
                </c:pt>
                <c:pt idx="2">
                  <c:v>Building Products &amp; Construction</c:v>
                </c:pt>
                <c:pt idx="3">
                  <c:v>Distribution &amp; Services</c:v>
                </c:pt>
                <c:pt idx="4">
                  <c:v>Manufacturing &amp; Industrial Tech</c:v>
                </c:pt>
              </c:strCache>
            </c:strRef>
          </c:cat>
          <c:val>
            <c:numRef>
              <c:f>Sheet1!$B$2:$B$6</c:f>
              <c:numCache>
                <c:formatCode>General</c:formatCode>
                <c:ptCount val="5"/>
                <c:pt idx="0">
                  <c:v>5.3</c:v>
                </c:pt>
                <c:pt idx="1">
                  <c:v>5.4</c:v>
                </c:pt>
                <c:pt idx="2">
                  <c:v>22.2</c:v>
                </c:pt>
                <c:pt idx="3">
                  <c:v>10.199999999999999</c:v>
                </c:pt>
                <c:pt idx="4">
                  <c:v>11.3</c:v>
                </c:pt>
              </c:numCache>
            </c:numRef>
          </c:val>
          <c:extLst>
            <c:ext xmlns:c16="http://schemas.microsoft.com/office/drawing/2014/chart" uri="{C3380CC4-5D6E-409C-BE32-E72D297353CC}">
              <c16:uniqueId val="{00000000-43E8-486E-BB0F-2BF887FE310F}"/>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Median EBITDA growth</c:v>
                </c:pt>
              </c:strCache>
            </c:strRef>
          </c:tx>
          <c:spPr>
            <a:solidFill>
              <a:srgbClr val="B68757"/>
            </a:solidFill>
            <a:effectLst/>
          </c:spPr>
          <c:invertIfNegative val="0"/>
          <c:dLbls>
            <c:numFmt formatCode="\+0.0&quot;%&quot;;\−0.0&quot;%&quot;" sourceLinked="0"/>
            <c:spPr>
              <a:noFill/>
              <a:ln>
                <a:noFill/>
              </a:ln>
              <a:effectLst/>
            </c:spPr>
            <c:txPr>
              <a:bodyPr/>
              <a:lstStyle/>
              <a:p>
                <a:pPr>
                  <a:defRPr sz="75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Transportation &amp; Logistics</c:v>
                </c:pt>
                <c:pt idx="1">
                  <c:v>Energy, Power &amp; Environmental</c:v>
                </c:pt>
                <c:pt idx="2">
                  <c:v>Building Products &amp; Construction</c:v>
                </c:pt>
                <c:pt idx="3">
                  <c:v>Distribution &amp; Services</c:v>
                </c:pt>
                <c:pt idx="4">
                  <c:v>Manufacturing &amp; Industrial Tech</c:v>
                </c:pt>
              </c:strCache>
            </c:strRef>
          </c:cat>
          <c:val>
            <c:numRef>
              <c:f>Sheet1!$B$2:$B$6</c:f>
              <c:numCache>
                <c:formatCode>General</c:formatCode>
                <c:ptCount val="5"/>
                <c:pt idx="0">
                  <c:v>1.1000000000000001</c:v>
                </c:pt>
                <c:pt idx="1">
                  <c:v>16.5</c:v>
                </c:pt>
                <c:pt idx="2">
                  <c:v>30.9</c:v>
                </c:pt>
                <c:pt idx="3">
                  <c:v>9.3000000000000007</c:v>
                </c:pt>
                <c:pt idx="4">
                  <c:v>10.7</c:v>
                </c:pt>
              </c:numCache>
            </c:numRef>
          </c:val>
          <c:extLst>
            <c:ext xmlns:c16="http://schemas.microsoft.com/office/drawing/2014/chart" uri="{C3380CC4-5D6E-409C-BE32-E72D297353CC}">
              <c16:uniqueId val="{00000000-BB78-4FA6-8D7E-1D5546EA30AF}"/>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Median EBITDA margin</c:v>
                </c:pt>
              </c:strCache>
            </c:strRef>
          </c:tx>
          <c:spPr>
            <a:solidFill>
              <a:srgbClr val="B68757"/>
            </a:solidFill>
            <a:effectLst/>
          </c:spPr>
          <c:invertIfNegative val="0"/>
          <c:dLbls>
            <c:numFmt formatCode="0.0&quot;%&quot;" sourceLinked="0"/>
            <c:spPr>
              <a:noFill/>
              <a:ln>
                <a:noFill/>
              </a:ln>
              <a:effectLst/>
            </c:spPr>
            <c:txPr>
              <a:bodyPr/>
              <a:lstStyle/>
              <a:p>
                <a:pPr>
                  <a:defRPr sz="75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Transportation &amp; Logistics</c:v>
                </c:pt>
                <c:pt idx="1">
                  <c:v>Energy, Power &amp; Environmental</c:v>
                </c:pt>
                <c:pt idx="2">
                  <c:v>Building Products &amp; Construction</c:v>
                </c:pt>
                <c:pt idx="3">
                  <c:v>Distribution &amp; Services</c:v>
                </c:pt>
                <c:pt idx="4">
                  <c:v>Manufacturing &amp; Industrial Tech</c:v>
                </c:pt>
              </c:strCache>
            </c:strRef>
          </c:cat>
          <c:val>
            <c:numRef>
              <c:f>Sheet1!$B$2:$B$6</c:f>
              <c:numCache>
                <c:formatCode>General</c:formatCode>
                <c:ptCount val="5"/>
                <c:pt idx="0">
                  <c:v>10.5</c:v>
                </c:pt>
                <c:pt idx="1">
                  <c:v>20.3</c:v>
                </c:pt>
                <c:pt idx="2">
                  <c:v>10.199999999999999</c:v>
                </c:pt>
                <c:pt idx="3">
                  <c:v>11.9</c:v>
                </c:pt>
                <c:pt idx="4">
                  <c:v>20.9</c:v>
                </c:pt>
              </c:numCache>
            </c:numRef>
          </c:val>
          <c:extLst>
            <c:ext xmlns:c16="http://schemas.microsoft.com/office/drawing/2014/chart" uri="{C3380CC4-5D6E-409C-BE32-E72D297353CC}">
              <c16:uniqueId val="{00000000-7E20-4FB5-874B-7D8A2FA73E9B}"/>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Median free cash flow conversion</c:v>
                </c:pt>
              </c:strCache>
            </c:strRef>
          </c:tx>
          <c:spPr>
            <a:solidFill>
              <a:srgbClr val="B68757"/>
            </a:solidFill>
            <a:effectLst/>
          </c:spPr>
          <c:invertIfNegative val="0"/>
          <c:dLbls>
            <c:numFmt formatCode="0&quot;%&quot;" sourceLinked="0"/>
            <c:spPr>
              <a:noFill/>
              <a:ln>
                <a:noFill/>
              </a:ln>
              <a:effectLst/>
            </c:spPr>
            <c:txPr>
              <a:bodyPr/>
              <a:lstStyle/>
              <a:p>
                <a:pPr>
                  <a:defRPr sz="75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Transportation &amp; Logistics</c:v>
                </c:pt>
                <c:pt idx="1">
                  <c:v>Energy, Power &amp; Environmental</c:v>
                </c:pt>
                <c:pt idx="2">
                  <c:v>Building Products &amp; Construction</c:v>
                </c:pt>
                <c:pt idx="3">
                  <c:v>Distribution &amp; Services</c:v>
                </c:pt>
                <c:pt idx="4">
                  <c:v>Manufacturing &amp; Industrial Tech</c:v>
                </c:pt>
              </c:strCache>
            </c:strRef>
          </c:cat>
          <c:val>
            <c:numRef>
              <c:f>Sheet1!$B$2:$B$6</c:f>
              <c:numCache>
                <c:formatCode>General</c:formatCode>
                <c:ptCount val="5"/>
                <c:pt idx="0">
                  <c:v>61.3</c:v>
                </c:pt>
                <c:pt idx="1">
                  <c:v>49.4</c:v>
                </c:pt>
                <c:pt idx="2">
                  <c:v>74</c:v>
                </c:pt>
                <c:pt idx="3">
                  <c:v>49.9</c:v>
                </c:pt>
                <c:pt idx="4">
                  <c:v>64.2</c:v>
                </c:pt>
              </c:numCache>
            </c:numRef>
          </c:val>
          <c:extLst>
            <c:ext xmlns:c16="http://schemas.microsoft.com/office/drawing/2014/chart" uri="{C3380CC4-5D6E-409C-BE32-E72D297353CC}">
              <c16:uniqueId val="{00000000-D772-4EEA-B058-27894F6FCA4A}"/>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enterprise value to trailing EBITDA</c:v>
                </c:pt>
              </c:strCache>
            </c:strRef>
          </c:tx>
          <c:spPr>
            <a:solidFill>
              <a:srgbClr val="B68757"/>
            </a:solidFill>
            <a:effectLst/>
          </c:spPr>
          <c:invertIfNegative val="0"/>
          <c:dLbls>
            <c:numFmt formatCode="0.0&quot;x&quot;" sourceLinked="0"/>
            <c:spPr>
              <a:noFill/>
              <a:ln>
                <a:noFill/>
              </a:ln>
              <a:effectLst/>
            </c:spPr>
            <c:txPr>
              <a:bodyPr/>
              <a:lstStyle/>
              <a:p>
                <a:pPr>
                  <a:defRPr sz="75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Manufacturing</c:v>
                </c:pt>
                <c:pt idx="1">
                  <c:v>Distribution</c:v>
                </c:pt>
                <c:pt idx="2">
                  <c:v>Building</c:v>
                </c:pt>
                <c:pt idx="3">
                  <c:v>Energy &amp; Env.</c:v>
                </c:pt>
                <c:pt idx="4">
                  <c:v>Transport</c:v>
                </c:pt>
              </c:strCache>
            </c:strRef>
          </c:cat>
          <c:val>
            <c:numRef>
              <c:f>Sheet1!$B$2:$B$6</c:f>
              <c:numCache>
                <c:formatCode>General</c:formatCode>
                <c:ptCount val="5"/>
                <c:pt idx="0">
                  <c:v>23</c:v>
                </c:pt>
                <c:pt idx="1">
                  <c:v>17.7</c:v>
                </c:pt>
                <c:pt idx="2">
                  <c:v>15.1</c:v>
                </c:pt>
                <c:pt idx="3">
                  <c:v>16.2</c:v>
                </c:pt>
                <c:pt idx="4">
                  <c:v>12.7</c:v>
                </c:pt>
              </c:numCache>
            </c:numRef>
          </c:val>
          <c:extLst>
            <c:ext xmlns:c16="http://schemas.microsoft.com/office/drawing/2014/chart" uri="{C3380CC4-5D6E-409C-BE32-E72D297353CC}">
              <c16:uniqueId val="{00000000-F4C5-4564-AF41-0AD5E4E39E61}"/>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enterprise value to EBITDA at fiscal year-end 2025</c:v>
                </c:pt>
              </c:strCache>
            </c:strRef>
          </c:tx>
          <c:spPr>
            <a:solidFill>
              <a:srgbClr val="C3BDB6"/>
            </a:solidFill>
            <a:effectLst/>
          </c:spPr>
          <c:invertIfNegative val="0"/>
          <c:dLbls>
            <c:numFmt formatCode="0.0&quot;x&quot;" sourceLinked="0"/>
            <c:spPr>
              <a:noFill/>
              <a:ln>
                <a:noFill/>
              </a:ln>
              <a:effectLst/>
            </c:spPr>
            <c:txPr>
              <a:bodyPr/>
              <a:lstStyle/>
              <a:p>
                <a:pPr>
                  <a:defRPr sz="75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Manufacturing</c:v>
                </c:pt>
                <c:pt idx="1">
                  <c:v>Distribution</c:v>
                </c:pt>
                <c:pt idx="2">
                  <c:v>Building</c:v>
                </c:pt>
                <c:pt idx="3">
                  <c:v>Energy &amp; Env.</c:v>
                </c:pt>
                <c:pt idx="4">
                  <c:v>Transport</c:v>
                </c:pt>
              </c:strCache>
            </c:strRef>
          </c:cat>
          <c:val>
            <c:numRef>
              <c:f>Sheet1!$B$2:$B$6</c:f>
              <c:numCache>
                <c:formatCode>General</c:formatCode>
                <c:ptCount val="5"/>
                <c:pt idx="0">
                  <c:v>18</c:v>
                </c:pt>
                <c:pt idx="1">
                  <c:v>14.9</c:v>
                </c:pt>
                <c:pt idx="2">
                  <c:v>16.7</c:v>
                </c:pt>
                <c:pt idx="3">
                  <c:v>18.2</c:v>
                </c:pt>
                <c:pt idx="4">
                  <c:v>11.1</c:v>
                </c:pt>
              </c:numCache>
            </c:numRef>
          </c:val>
          <c:extLst>
            <c:ext xmlns:c16="http://schemas.microsoft.com/office/drawing/2014/chart" uri="{C3380CC4-5D6E-409C-BE32-E72D297353CC}">
              <c16:uniqueId val="{00000000-EB89-48AB-AB26-8DF39E4EEA27}"/>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change in share price over 52 weeks</c:v>
                </c:pt>
              </c:strCache>
            </c:strRef>
          </c:tx>
          <c:spPr>
            <a:solidFill>
              <a:srgbClr val="B68757"/>
            </a:solidFill>
            <a:effectLst/>
          </c:spPr>
          <c:invertIfNegative val="0"/>
          <c:dLbls>
            <c:numFmt formatCode="\+0.0&quot;%&quot;;\−0.0&quot;%&quot;" sourceLinked="0"/>
            <c:spPr>
              <a:noFill/>
              <a:ln>
                <a:noFill/>
              </a:ln>
              <a:effectLst/>
            </c:spPr>
            <c:txPr>
              <a:bodyPr/>
              <a:lstStyle/>
              <a:p>
                <a:pPr>
                  <a:defRPr sz="75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Manufacturing</c:v>
                </c:pt>
                <c:pt idx="1">
                  <c:v>Distribution</c:v>
                </c:pt>
                <c:pt idx="2">
                  <c:v>Building</c:v>
                </c:pt>
                <c:pt idx="3">
                  <c:v>Energy &amp; Env.</c:v>
                </c:pt>
                <c:pt idx="4">
                  <c:v>Transport</c:v>
                </c:pt>
              </c:strCache>
            </c:strRef>
          </c:cat>
          <c:val>
            <c:numRef>
              <c:f>Sheet1!$B$2:$B$6</c:f>
              <c:numCache>
                <c:formatCode>General</c:formatCode>
                <c:ptCount val="5"/>
                <c:pt idx="0">
                  <c:v>29</c:v>
                </c:pt>
                <c:pt idx="1">
                  <c:v>33.200000000000003</c:v>
                </c:pt>
                <c:pt idx="2">
                  <c:v>-8.6</c:v>
                </c:pt>
                <c:pt idx="3">
                  <c:v>-6.6</c:v>
                </c:pt>
                <c:pt idx="4">
                  <c:v>43.1</c:v>
                </c:pt>
              </c:numCache>
            </c:numRef>
          </c:val>
          <c:extLst>
            <c:ext xmlns:c16="http://schemas.microsoft.com/office/drawing/2014/chart" uri="{C3380CC4-5D6E-409C-BE32-E72D297353CC}">
              <c16:uniqueId val="{00000000-5E5D-40B3-A104-A6FF08504EC9}"/>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net debt to trailing EBITDA</c:v>
                </c:pt>
              </c:strCache>
            </c:strRef>
          </c:tx>
          <c:spPr>
            <a:solidFill>
              <a:srgbClr val="8C6239"/>
            </a:solidFill>
            <a:effectLst/>
          </c:spPr>
          <c:invertIfNegative val="0"/>
          <c:dLbls>
            <c:numFmt formatCode="0.0&quot;x&quot;" sourceLinked="0"/>
            <c:spPr>
              <a:noFill/>
              <a:ln>
                <a:noFill/>
              </a:ln>
              <a:effectLst/>
            </c:spPr>
            <c:txPr>
              <a:bodyPr/>
              <a:lstStyle/>
              <a:p>
                <a:pPr>
                  <a:defRPr sz="750" b="0" i="0" u="none" strike="noStrike">
                    <a:solidFill>
                      <a:srgbClr val="1B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Manufacturing</c:v>
                </c:pt>
                <c:pt idx="1">
                  <c:v>Distribution</c:v>
                </c:pt>
                <c:pt idx="2">
                  <c:v>Building</c:v>
                </c:pt>
                <c:pt idx="3">
                  <c:v>Energy &amp; Env.</c:v>
                </c:pt>
                <c:pt idx="4">
                  <c:v>Transport</c:v>
                </c:pt>
              </c:strCache>
            </c:strRef>
          </c:cat>
          <c:val>
            <c:numRef>
              <c:f>Sheet1!$B$2:$B$6</c:f>
              <c:numCache>
                <c:formatCode>General</c:formatCode>
                <c:ptCount val="5"/>
                <c:pt idx="0">
                  <c:v>1.5</c:v>
                </c:pt>
                <c:pt idx="1">
                  <c:v>1.9</c:v>
                </c:pt>
                <c:pt idx="2">
                  <c:v>0.4</c:v>
                </c:pt>
                <c:pt idx="3">
                  <c:v>2.1</c:v>
                </c:pt>
                <c:pt idx="4">
                  <c:v>1.5</c:v>
                </c:pt>
              </c:numCache>
            </c:numRef>
          </c:val>
          <c:extLst>
            <c:ext xmlns:c16="http://schemas.microsoft.com/office/drawing/2014/chart" uri="{C3380CC4-5D6E-409C-BE32-E72D297353CC}">
              <c16:uniqueId val="{00000000-36A4-469F-806C-AD0D5405D8F9}"/>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33323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Core capital goods orders</c:v>
                </c:pt>
              </c:strCache>
            </c:strRef>
          </c:tx>
          <c:spPr>
            <a:ln w="19050" cap="flat">
              <a:solidFill>
                <a:srgbClr val="8C6239"/>
              </a:solidFill>
              <a:prstDash val="solid"/>
              <a:round/>
            </a:ln>
            <a:effectLst/>
          </c:spPr>
          <c:marker>
            <c:symbol val="none"/>
          </c:marker>
          <c:cat>
            <c:strRef>
              <c:f>Sheet1!$A$2:$A$60</c:f>
              <c:strCache>
                <c:ptCount val="59"/>
                <c:pt idx="0">
                  <c:v>Oct 21</c:v>
                </c:pt>
                <c:pt idx="1">
                  <c:v>Nov 21</c:v>
                </c:pt>
                <c:pt idx="2">
                  <c:v>Dec 21</c:v>
                </c:pt>
                <c:pt idx="3">
                  <c:v>Jan 22</c:v>
                </c:pt>
                <c:pt idx="4">
                  <c:v>Feb 22</c:v>
                </c:pt>
                <c:pt idx="5">
                  <c:v>Mar 22</c:v>
                </c:pt>
                <c:pt idx="6">
                  <c:v>Apr 22</c:v>
                </c:pt>
                <c:pt idx="7">
                  <c:v>May 22</c:v>
                </c:pt>
                <c:pt idx="8">
                  <c:v>Jun 22</c:v>
                </c:pt>
                <c:pt idx="9">
                  <c:v>Jul 22</c:v>
                </c:pt>
                <c:pt idx="10">
                  <c:v>Aug 22</c:v>
                </c:pt>
                <c:pt idx="11">
                  <c:v>Sep 22</c:v>
                </c:pt>
                <c:pt idx="12">
                  <c:v>Oct 22</c:v>
                </c:pt>
                <c:pt idx="13">
                  <c:v>Nov 22</c:v>
                </c:pt>
                <c:pt idx="14">
                  <c:v>Dec 22</c:v>
                </c:pt>
                <c:pt idx="15">
                  <c:v>Jan 23</c:v>
                </c:pt>
                <c:pt idx="16">
                  <c:v>Feb 23</c:v>
                </c:pt>
                <c:pt idx="17">
                  <c:v>Mar 23</c:v>
                </c:pt>
                <c:pt idx="18">
                  <c:v>Apr 23</c:v>
                </c:pt>
                <c:pt idx="19">
                  <c:v>May 23</c:v>
                </c:pt>
                <c:pt idx="20">
                  <c:v>Jun 23</c:v>
                </c:pt>
                <c:pt idx="21">
                  <c:v>Jul 23</c:v>
                </c:pt>
                <c:pt idx="22">
                  <c:v>Aug 23</c:v>
                </c:pt>
                <c:pt idx="23">
                  <c:v>Sep 23</c:v>
                </c:pt>
                <c:pt idx="24">
                  <c:v>Oct 23</c:v>
                </c:pt>
                <c:pt idx="25">
                  <c:v>Nov 23</c:v>
                </c:pt>
                <c:pt idx="26">
                  <c:v>Dec 23</c:v>
                </c:pt>
                <c:pt idx="27">
                  <c:v>Jan 24</c:v>
                </c:pt>
                <c:pt idx="28">
                  <c:v>Feb 24</c:v>
                </c:pt>
                <c:pt idx="29">
                  <c:v>Mar 24</c:v>
                </c:pt>
                <c:pt idx="30">
                  <c:v>Apr 24</c:v>
                </c:pt>
                <c:pt idx="31">
                  <c:v>May 24</c:v>
                </c:pt>
                <c:pt idx="32">
                  <c:v>Jun 24</c:v>
                </c:pt>
                <c:pt idx="33">
                  <c:v>Jul 24</c:v>
                </c:pt>
                <c:pt idx="34">
                  <c:v>Aug 24</c:v>
                </c:pt>
                <c:pt idx="35">
                  <c:v>Sep 24</c:v>
                </c:pt>
                <c:pt idx="36">
                  <c:v>Oct 24</c:v>
                </c:pt>
                <c:pt idx="37">
                  <c:v>Nov 24</c:v>
                </c:pt>
                <c:pt idx="38">
                  <c:v>Dec 24</c:v>
                </c:pt>
                <c:pt idx="39">
                  <c:v>Jan 25</c:v>
                </c:pt>
                <c:pt idx="40">
                  <c:v>Feb 25</c:v>
                </c:pt>
                <c:pt idx="41">
                  <c:v>Mar 25</c:v>
                </c:pt>
                <c:pt idx="42">
                  <c:v>Apr 25</c:v>
                </c:pt>
                <c:pt idx="43">
                  <c:v>May 25</c:v>
                </c:pt>
                <c:pt idx="44">
                  <c:v>Jun 25</c:v>
                </c:pt>
                <c:pt idx="45">
                  <c:v>Jul 25</c:v>
                </c:pt>
                <c:pt idx="46">
                  <c:v>Aug 25</c:v>
                </c:pt>
                <c:pt idx="47">
                  <c:v>Sep 25</c:v>
                </c:pt>
                <c:pt idx="48">
                  <c:v>Oct 25</c:v>
                </c:pt>
                <c:pt idx="49">
                  <c:v>Nov 25</c:v>
                </c:pt>
                <c:pt idx="50">
                  <c:v>Dec 25</c:v>
                </c:pt>
                <c:pt idx="51">
                  <c:v>Jan 26</c:v>
                </c:pt>
                <c:pt idx="52">
                  <c:v>Feb 26</c:v>
                </c:pt>
                <c:pt idx="53">
                  <c:v>Mar 26</c:v>
                </c:pt>
                <c:pt idx="54">
                  <c:v>Apr 26</c:v>
                </c:pt>
                <c:pt idx="55">
                  <c:v>May 26</c:v>
                </c:pt>
                <c:pt idx="56">
                  <c:v>Jun 26</c:v>
                </c:pt>
                <c:pt idx="57">
                  <c:v>Jul 26</c:v>
                </c:pt>
                <c:pt idx="58">
                  <c:v>Aug 26</c:v>
                </c:pt>
              </c:strCache>
            </c:strRef>
          </c:cat>
          <c:val>
            <c:numRef>
              <c:f>Sheet1!$B$2:$B$60</c:f>
              <c:numCache>
                <c:formatCode>General</c:formatCode>
                <c:ptCount val="59"/>
                <c:pt idx="0">
                  <c:v>72200</c:v>
                </c:pt>
                <c:pt idx="1">
                  <c:v>72662</c:v>
                </c:pt>
                <c:pt idx="2">
                  <c:v>73257</c:v>
                </c:pt>
                <c:pt idx="3">
                  <c:v>75242</c:v>
                </c:pt>
                <c:pt idx="4">
                  <c:v>75311</c:v>
                </c:pt>
                <c:pt idx="5">
                  <c:v>76146</c:v>
                </c:pt>
                <c:pt idx="6">
                  <c:v>75944</c:v>
                </c:pt>
                <c:pt idx="7">
                  <c:v>76640</c:v>
                </c:pt>
                <c:pt idx="8">
                  <c:v>77118</c:v>
                </c:pt>
                <c:pt idx="9">
                  <c:v>77167</c:v>
                </c:pt>
                <c:pt idx="10">
                  <c:v>78114</c:v>
                </c:pt>
                <c:pt idx="11">
                  <c:v>76945</c:v>
                </c:pt>
                <c:pt idx="12">
                  <c:v>77151</c:v>
                </c:pt>
                <c:pt idx="13">
                  <c:v>76483</c:v>
                </c:pt>
                <c:pt idx="14">
                  <c:v>76113</c:v>
                </c:pt>
                <c:pt idx="15">
                  <c:v>75395</c:v>
                </c:pt>
                <c:pt idx="16">
                  <c:v>74193</c:v>
                </c:pt>
                <c:pt idx="17">
                  <c:v>73852</c:v>
                </c:pt>
                <c:pt idx="18">
                  <c:v>74424</c:v>
                </c:pt>
                <c:pt idx="19">
                  <c:v>75363</c:v>
                </c:pt>
                <c:pt idx="20">
                  <c:v>74769</c:v>
                </c:pt>
                <c:pt idx="21">
                  <c:v>75140</c:v>
                </c:pt>
                <c:pt idx="22">
                  <c:v>74387</c:v>
                </c:pt>
                <c:pt idx="23">
                  <c:v>74534</c:v>
                </c:pt>
                <c:pt idx="24">
                  <c:v>74163</c:v>
                </c:pt>
                <c:pt idx="25">
                  <c:v>74284</c:v>
                </c:pt>
                <c:pt idx="26">
                  <c:v>74073</c:v>
                </c:pt>
                <c:pt idx="27">
                  <c:v>73668</c:v>
                </c:pt>
                <c:pt idx="28">
                  <c:v>73969</c:v>
                </c:pt>
                <c:pt idx="29">
                  <c:v>73986</c:v>
                </c:pt>
                <c:pt idx="30">
                  <c:v>74040</c:v>
                </c:pt>
                <c:pt idx="31">
                  <c:v>73137</c:v>
                </c:pt>
                <c:pt idx="32">
                  <c:v>73544</c:v>
                </c:pt>
                <c:pt idx="33">
                  <c:v>73430</c:v>
                </c:pt>
                <c:pt idx="34">
                  <c:v>73738</c:v>
                </c:pt>
                <c:pt idx="35">
                  <c:v>74487</c:v>
                </c:pt>
                <c:pt idx="36">
                  <c:v>73440</c:v>
                </c:pt>
                <c:pt idx="37">
                  <c:v>74311</c:v>
                </c:pt>
                <c:pt idx="38">
                  <c:v>74595</c:v>
                </c:pt>
                <c:pt idx="39">
                  <c:v>75971</c:v>
                </c:pt>
                <c:pt idx="40">
                  <c:v>75561</c:v>
                </c:pt>
                <c:pt idx="41">
                  <c:v>75781</c:v>
                </c:pt>
                <c:pt idx="42">
                  <c:v>74631</c:v>
                </c:pt>
                <c:pt idx="43">
                  <c:v>76049</c:v>
                </c:pt>
                <c:pt idx="44">
                  <c:v>75608</c:v>
                </c:pt>
                <c:pt idx="45">
                  <c:v>76154</c:v>
                </c:pt>
                <c:pt idx="46">
                  <c:v>76806</c:v>
                </c:pt>
                <c:pt idx="47">
                  <c:v>77591</c:v>
                </c:pt>
                <c:pt idx="48">
                  <c:v>77948</c:v>
                </c:pt>
                <c:pt idx="49">
                  <c:v>78621</c:v>
                </c:pt>
                <c:pt idx="50">
                  <c:v>79262</c:v>
                </c:pt>
                <c:pt idx="51">
                  <c:v>78990</c:v>
                </c:pt>
                <c:pt idx="52">
                  <c:v>80235</c:v>
                </c:pt>
                <c:pt idx="53">
                  <c:v>83296</c:v>
                </c:pt>
                <c:pt idx="54">
                  <c:v>82778</c:v>
                </c:pt>
                <c:pt idx="55">
                  <c:v>84360</c:v>
                </c:pt>
                <c:pt idx="56">
                  <c:v>85757</c:v>
                </c:pt>
                <c:pt idx="57">
                  <c:v>86295</c:v>
                </c:pt>
                <c:pt idx="58">
                  <c:v>87640</c:v>
                </c:pt>
              </c:numCache>
            </c:numRef>
          </c:val>
          <c:smooth val="0"/>
          <c:extLst>
            <c:ext xmlns:c16="http://schemas.microsoft.com/office/drawing/2014/chart" uri="{C3380CC4-5D6E-409C-BE32-E72D297353CC}">
              <c16:uniqueId val="{00000000-0F80-4467-847D-A1B46C871C3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50" b="0" i="0" u="none" strike="noStrike">
                <a:solidFill>
                  <a:srgbClr val="333231"/>
                </a:solidFill>
                <a:latin typeface="+mn-lt"/>
              </a:defRPr>
            </a:pPr>
            <a:endParaRPr lang="en-US"/>
          </a:p>
        </c:txPr>
        <c:crossAx val="2094734552"/>
        <c:crosses val="autoZero"/>
        <c:auto val="1"/>
        <c:lblAlgn val="ctr"/>
        <c:lblOffset val="100"/>
        <c:tickLblSkip val="12"/>
        <c:noMultiLvlLbl val="1"/>
      </c:catAx>
      <c:valAx>
        <c:axId val="2094734552"/>
        <c:scaling>
          <c:orientation val="minMax"/>
          <c:max val="89500"/>
          <c:min val="70300"/>
        </c:scaling>
        <c:delete val="1"/>
        <c:axPos val="l"/>
        <c:majorGridlines>
          <c:spPr>
            <a:ln w="6350" cap="flat">
              <a:solidFill>
                <a:srgbClr val="E3DCD3"/>
              </a:solidFill>
              <a:prstDash val="solid"/>
              <a:round/>
            </a:ln>
          </c:spPr>
        </c:majorGridlines>
        <c:numFmt formatCode="#,##0"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Manufacturing capacity utilization</c:v>
                </c:pt>
              </c:strCache>
            </c:strRef>
          </c:tx>
          <c:spPr>
            <a:ln w="19050" cap="flat">
              <a:solidFill>
                <a:srgbClr val="8C6239"/>
              </a:solidFill>
              <a:prstDash val="solid"/>
              <a:round/>
            </a:ln>
            <a:effectLst/>
          </c:spPr>
          <c:marker>
            <c:symbol val="none"/>
          </c:marker>
          <c:cat>
            <c:strRef>
              <c:f>Sheet1!$A$2:$A$60</c:f>
              <c:strCache>
                <c:ptCount val="59"/>
                <c:pt idx="0">
                  <c:v>Oct 21</c:v>
                </c:pt>
                <c:pt idx="1">
                  <c:v>Nov 21</c:v>
                </c:pt>
                <c:pt idx="2">
                  <c:v>Dec 21</c:v>
                </c:pt>
                <c:pt idx="3">
                  <c:v>Jan 22</c:v>
                </c:pt>
                <c:pt idx="4">
                  <c:v>Feb 22</c:v>
                </c:pt>
                <c:pt idx="5">
                  <c:v>Mar 22</c:v>
                </c:pt>
                <c:pt idx="6">
                  <c:v>Apr 22</c:v>
                </c:pt>
                <c:pt idx="7">
                  <c:v>May 22</c:v>
                </c:pt>
                <c:pt idx="8">
                  <c:v>Jun 22</c:v>
                </c:pt>
                <c:pt idx="9">
                  <c:v>Jul 22</c:v>
                </c:pt>
                <c:pt idx="10">
                  <c:v>Aug 22</c:v>
                </c:pt>
                <c:pt idx="11">
                  <c:v>Sep 22</c:v>
                </c:pt>
                <c:pt idx="12">
                  <c:v>Oct 22</c:v>
                </c:pt>
                <c:pt idx="13">
                  <c:v>Nov 22</c:v>
                </c:pt>
                <c:pt idx="14">
                  <c:v>Dec 22</c:v>
                </c:pt>
                <c:pt idx="15">
                  <c:v>Jan 23</c:v>
                </c:pt>
                <c:pt idx="16">
                  <c:v>Feb 23</c:v>
                </c:pt>
                <c:pt idx="17">
                  <c:v>Mar 23</c:v>
                </c:pt>
                <c:pt idx="18">
                  <c:v>Apr 23</c:v>
                </c:pt>
                <c:pt idx="19">
                  <c:v>May 23</c:v>
                </c:pt>
                <c:pt idx="20">
                  <c:v>Jun 23</c:v>
                </c:pt>
                <c:pt idx="21">
                  <c:v>Jul 23</c:v>
                </c:pt>
                <c:pt idx="22">
                  <c:v>Aug 23</c:v>
                </c:pt>
                <c:pt idx="23">
                  <c:v>Sep 23</c:v>
                </c:pt>
                <c:pt idx="24">
                  <c:v>Oct 23</c:v>
                </c:pt>
                <c:pt idx="25">
                  <c:v>Nov 23</c:v>
                </c:pt>
                <c:pt idx="26">
                  <c:v>Dec 23</c:v>
                </c:pt>
                <c:pt idx="27">
                  <c:v>Jan 24</c:v>
                </c:pt>
                <c:pt idx="28">
                  <c:v>Feb 24</c:v>
                </c:pt>
                <c:pt idx="29">
                  <c:v>Mar 24</c:v>
                </c:pt>
                <c:pt idx="30">
                  <c:v>Apr 24</c:v>
                </c:pt>
                <c:pt idx="31">
                  <c:v>May 24</c:v>
                </c:pt>
                <c:pt idx="32">
                  <c:v>Jun 24</c:v>
                </c:pt>
                <c:pt idx="33">
                  <c:v>Jul 24</c:v>
                </c:pt>
                <c:pt idx="34">
                  <c:v>Aug 24</c:v>
                </c:pt>
                <c:pt idx="35">
                  <c:v>Sep 24</c:v>
                </c:pt>
                <c:pt idx="36">
                  <c:v>Oct 24</c:v>
                </c:pt>
                <c:pt idx="37">
                  <c:v>Nov 24</c:v>
                </c:pt>
                <c:pt idx="38">
                  <c:v>Dec 24</c:v>
                </c:pt>
                <c:pt idx="39">
                  <c:v>Jan 25</c:v>
                </c:pt>
                <c:pt idx="40">
                  <c:v>Feb 25</c:v>
                </c:pt>
                <c:pt idx="41">
                  <c:v>Mar 25</c:v>
                </c:pt>
                <c:pt idx="42">
                  <c:v>Apr 25</c:v>
                </c:pt>
                <c:pt idx="43">
                  <c:v>May 25</c:v>
                </c:pt>
                <c:pt idx="44">
                  <c:v>Jun 25</c:v>
                </c:pt>
                <c:pt idx="45">
                  <c:v>Jul 25</c:v>
                </c:pt>
                <c:pt idx="46">
                  <c:v>Aug 25</c:v>
                </c:pt>
                <c:pt idx="47">
                  <c:v>Sep 25</c:v>
                </c:pt>
                <c:pt idx="48">
                  <c:v>Oct 25</c:v>
                </c:pt>
                <c:pt idx="49">
                  <c:v>Nov 25</c:v>
                </c:pt>
                <c:pt idx="50">
                  <c:v>Dec 25</c:v>
                </c:pt>
                <c:pt idx="51">
                  <c:v>Jan 26</c:v>
                </c:pt>
                <c:pt idx="52">
                  <c:v>Feb 26</c:v>
                </c:pt>
                <c:pt idx="53">
                  <c:v>Mar 26</c:v>
                </c:pt>
                <c:pt idx="54">
                  <c:v>Apr 26</c:v>
                </c:pt>
                <c:pt idx="55">
                  <c:v>May 26</c:v>
                </c:pt>
                <c:pt idx="56">
                  <c:v>Jun 26</c:v>
                </c:pt>
                <c:pt idx="57">
                  <c:v>Jul 26</c:v>
                </c:pt>
                <c:pt idx="58">
                  <c:v>Aug 26</c:v>
                </c:pt>
              </c:strCache>
            </c:strRef>
          </c:cat>
          <c:val>
            <c:numRef>
              <c:f>Sheet1!$B$2:$B$60</c:f>
              <c:numCache>
                <c:formatCode>General</c:formatCode>
                <c:ptCount val="59"/>
                <c:pt idx="0">
                  <c:v>77.9803</c:v>
                </c:pt>
                <c:pt idx="1">
                  <c:v>78.438999999999993</c:v>
                </c:pt>
                <c:pt idx="2">
                  <c:v>78.340400000000002</c:v>
                </c:pt>
                <c:pt idx="3">
                  <c:v>77.584999999999994</c:v>
                </c:pt>
                <c:pt idx="4">
                  <c:v>78.026200000000003</c:v>
                </c:pt>
                <c:pt idx="5">
                  <c:v>78.370500000000007</c:v>
                </c:pt>
                <c:pt idx="6">
                  <c:v>78.319100000000006</c:v>
                </c:pt>
                <c:pt idx="7">
                  <c:v>77.957499999999996</c:v>
                </c:pt>
                <c:pt idx="8">
                  <c:v>77.515000000000001</c:v>
                </c:pt>
                <c:pt idx="9">
                  <c:v>77.565899999999999</c:v>
                </c:pt>
                <c:pt idx="10">
                  <c:v>77.533500000000004</c:v>
                </c:pt>
                <c:pt idx="11">
                  <c:v>77.507900000000006</c:v>
                </c:pt>
                <c:pt idx="12">
                  <c:v>77.680499999999995</c:v>
                </c:pt>
                <c:pt idx="13">
                  <c:v>77.037300000000002</c:v>
                </c:pt>
                <c:pt idx="14">
                  <c:v>75.667299999999997</c:v>
                </c:pt>
                <c:pt idx="15">
                  <c:v>76.965900000000005</c:v>
                </c:pt>
                <c:pt idx="16">
                  <c:v>76.975300000000004</c:v>
                </c:pt>
                <c:pt idx="17">
                  <c:v>76.4495</c:v>
                </c:pt>
                <c:pt idx="18">
                  <c:v>77.141400000000004</c:v>
                </c:pt>
                <c:pt idx="19">
                  <c:v>76.965900000000005</c:v>
                </c:pt>
                <c:pt idx="20">
                  <c:v>76.397999999999996</c:v>
                </c:pt>
                <c:pt idx="21">
                  <c:v>76.664000000000001</c:v>
                </c:pt>
                <c:pt idx="22">
                  <c:v>76.590900000000005</c:v>
                </c:pt>
                <c:pt idx="23">
                  <c:v>76.579700000000003</c:v>
                </c:pt>
                <c:pt idx="24">
                  <c:v>76.129900000000006</c:v>
                </c:pt>
                <c:pt idx="25">
                  <c:v>76.449799999999996</c:v>
                </c:pt>
                <c:pt idx="26">
                  <c:v>76.402199999999993</c:v>
                </c:pt>
                <c:pt idx="27">
                  <c:v>75.179900000000004</c:v>
                </c:pt>
                <c:pt idx="28">
                  <c:v>76.083799999999997</c:v>
                </c:pt>
                <c:pt idx="29">
                  <c:v>76.142099999999999</c:v>
                </c:pt>
                <c:pt idx="30">
                  <c:v>75.682100000000005</c:v>
                </c:pt>
                <c:pt idx="31">
                  <c:v>76.056100000000001</c:v>
                </c:pt>
                <c:pt idx="32">
                  <c:v>75.864999999999995</c:v>
                </c:pt>
                <c:pt idx="33">
                  <c:v>75.217100000000002</c:v>
                </c:pt>
                <c:pt idx="34">
                  <c:v>75.519800000000004</c:v>
                </c:pt>
                <c:pt idx="35">
                  <c:v>75.041600000000003</c:v>
                </c:pt>
                <c:pt idx="36">
                  <c:v>74.480500000000006</c:v>
                </c:pt>
                <c:pt idx="37">
                  <c:v>74.6357</c:v>
                </c:pt>
                <c:pt idx="38">
                  <c:v>74.903599999999997</c:v>
                </c:pt>
                <c:pt idx="39">
                  <c:v>74.536000000000001</c:v>
                </c:pt>
                <c:pt idx="40">
                  <c:v>75.389799999999994</c:v>
                </c:pt>
                <c:pt idx="41">
                  <c:v>75.654300000000006</c:v>
                </c:pt>
                <c:pt idx="42">
                  <c:v>75.534099999999995</c:v>
                </c:pt>
                <c:pt idx="43">
                  <c:v>75.393000000000001</c:v>
                </c:pt>
                <c:pt idx="44">
                  <c:v>75.571200000000005</c:v>
                </c:pt>
                <c:pt idx="45">
                  <c:v>75.870699999999999</c:v>
                </c:pt>
                <c:pt idx="46">
                  <c:v>75.801400000000001</c:v>
                </c:pt>
                <c:pt idx="47">
                  <c:v>75.691800000000001</c:v>
                </c:pt>
                <c:pt idx="48">
                  <c:v>74.966200000000001</c:v>
                </c:pt>
                <c:pt idx="49">
                  <c:v>74.820499999999996</c:v>
                </c:pt>
                <c:pt idx="50">
                  <c:v>74.627899999999997</c:v>
                </c:pt>
                <c:pt idx="51">
                  <c:v>74.638800000000003</c:v>
                </c:pt>
                <c:pt idx="52">
                  <c:v>75.071200000000005</c:v>
                </c:pt>
                <c:pt idx="53">
                  <c:v>75.280199999999994</c:v>
                </c:pt>
                <c:pt idx="54">
                  <c:v>75.802700000000002</c:v>
                </c:pt>
                <c:pt idx="55">
                  <c:v>75.8339</c:v>
                </c:pt>
                <c:pt idx="56">
                  <c:v>75.967600000000004</c:v>
                </c:pt>
                <c:pt idx="57">
                  <c:v>76.024199999999993</c:v>
                </c:pt>
                <c:pt idx="58">
                  <c:v>75.730900000000005</c:v>
                </c:pt>
              </c:numCache>
            </c:numRef>
          </c:val>
          <c:smooth val="0"/>
          <c:extLst>
            <c:ext xmlns:c16="http://schemas.microsoft.com/office/drawing/2014/chart" uri="{C3380CC4-5D6E-409C-BE32-E72D297353CC}">
              <c16:uniqueId val="{00000000-1263-4FE5-975C-629F718114F5}"/>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50" b="0" i="0" u="none" strike="noStrike">
                <a:solidFill>
                  <a:srgbClr val="333231"/>
                </a:solidFill>
                <a:latin typeface="+mn-lt"/>
              </a:defRPr>
            </a:pPr>
            <a:endParaRPr lang="en-US"/>
          </a:p>
        </c:txPr>
        <c:crossAx val="2094734552"/>
        <c:crosses val="autoZero"/>
        <c:auto val="1"/>
        <c:lblAlgn val="ctr"/>
        <c:lblOffset val="100"/>
        <c:tickLblSkip val="12"/>
        <c:noMultiLvlLbl val="1"/>
      </c:catAx>
      <c:valAx>
        <c:axId val="2094734552"/>
        <c:scaling>
          <c:orientation val="minMax"/>
          <c:max val="78.900000000000006"/>
          <c:min val="74"/>
        </c:scaling>
        <c:delete val="1"/>
        <c:axPos val="l"/>
        <c:majorGridlines>
          <c:spPr>
            <a:ln w="6350" cap="flat">
              <a:solidFill>
                <a:srgbClr val="E3DCD3"/>
              </a:solidFill>
              <a:prstDash val="solid"/>
              <a:round/>
            </a:ln>
          </c:spPr>
        </c:majorGridlines>
        <c:numFmt formatCode="0"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Total construction spending</c:v>
                </c:pt>
              </c:strCache>
            </c:strRef>
          </c:tx>
          <c:spPr>
            <a:ln w="19050" cap="flat">
              <a:solidFill>
                <a:srgbClr val="8C6239"/>
              </a:solidFill>
              <a:prstDash val="solid"/>
              <a:round/>
            </a:ln>
            <a:effectLst/>
          </c:spPr>
          <c:marker>
            <c:symbol val="none"/>
          </c:marker>
          <c:cat>
            <c:strRef>
              <c:f>Sheet1!$A$2:$A$60</c:f>
              <c:strCache>
                <c:ptCount val="59"/>
                <c:pt idx="0">
                  <c:v>Oct 21</c:v>
                </c:pt>
                <c:pt idx="1">
                  <c:v>Nov 21</c:v>
                </c:pt>
                <c:pt idx="2">
                  <c:v>Dec 21</c:v>
                </c:pt>
                <c:pt idx="3">
                  <c:v>Jan 22</c:v>
                </c:pt>
                <c:pt idx="4">
                  <c:v>Feb 22</c:v>
                </c:pt>
                <c:pt idx="5">
                  <c:v>Mar 22</c:v>
                </c:pt>
                <c:pt idx="6">
                  <c:v>Apr 22</c:v>
                </c:pt>
                <c:pt idx="7">
                  <c:v>May 22</c:v>
                </c:pt>
                <c:pt idx="8">
                  <c:v>Jun 22</c:v>
                </c:pt>
                <c:pt idx="9">
                  <c:v>Jul 22</c:v>
                </c:pt>
                <c:pt idx="10">
                  <c:v>Aug 22</c:v>
                </c:pt>
                <c:pt idx="11">
                  <c:v>Sep 22</c:v>
                </c:pt>
                <c:pt idx="12">
                  <c:v>Oct 22</c:v>
                </c:pt>
                <c:pt idx="13">
                  <c:v>Nov 22</c:v>
                </c:pt>
                <c:pt idx="14">
                  <c:v>Dec 22</c:v>
                </c:pt>
                <c:pt idx="15">
                  <c:v>Jan 23</c:v>
                </c:pt>
                <c:pt idx="16">
                  <c:v>Feb 23</c:v>
                </c:pt>
                <c:pt idx="17">
                  <c:v>Mar 23</c:v>
                </c:pt>
                <c:pt idx="18">
                  <c:v>Apr 23</c:v>
                </c:pt>
                <c:pt idx="19">
                  <c:v>May 23</c:v>
                </c:pt>
                <c:pt idx="20">
                  <c:v>Jun 23</c:v>
                </c:pt>
                <c:pt idx="21">
                  <c:v>Jul 23</c:v>
                </c:pt>
                <c:pt idx="22">
                  <c:v>Aug 23</c:v>
                </c:pt>
                <c:pt idx="23">
                  <c:v>Sep 23</c:v>
                </c:pt>
                <c:pt idx="24">
                  <c:v>Oct 23</c:v>
                </c:pt>
                <c:pt idx="25">
                  <c:v>Nov 23</c:v>
                </c:pt>
                <c:pt idx="26">
                  <c:v>Dec 23</c:v>
                </c:pt>
                <c:pt idx="27">
                  <c:v>Jan 24</c:v>
                </c:pt>
                <c:pt idx="28">
                  <c:v>Feb 24</c:v>
                </c:pt>
                <c:pt idx="29">
                  <c:v>Mar 24</c:v>
                </c:pt>
                <c:pt idx="30">
                  <c:v>Apr 24</c:v>
                </c:pt>
                <c:pt idx="31">
                  <c:v>May 24</c:v>
                </c:pt>
                <c:pt idx="32">
                  <c:v>Jun 24</c:v>
                </c:pt>
                <c:pt idx="33">
                  <c:v>Jul 24</c:v>
                </c:pt>
                <c:pt idx="34">
                  <c:v>Aug 24</c:v>
                </c:pt>
                <c:pt idx="35">
                  <c:v>Sep 24</c:v>
                </c:pt>
                <c:pt idx="36">
                  <c:v>Oct 24</c:v>
                </c:pt>
                <c:pt idx="37">
                  <c:v>Nov 24</c:v>
                </c:pt>
                <c:pt idx="38">
                  <c:v>Dec 24</c:v>
                </c:pt>
                <c:pt idx="39">
                  <c:v>Jan 25</c:v>
                </c:pt>
                <c:pt idx="40">
                  <c:v>Feb 25</c:v>
                </c:pt>
                <c:pt idx="41">
                  <c:v>Mar 25</c:v>
                </c:pt>
                <c:pt idx="42">
                  <c:v>Apr 25</c:v>
                </c:pt>
                <c:pt idx="43">
                  <c:v>May 25</c:v>
                </c:pt>
                <c:pt idx="44">
                  <c:v>Jun 25</c:v>
                </c:pt>
                <c:pt idx="45">
                  <c:v>Jul 25</c:v>
                </c:pt>
                <c:pt idx="46">
                  <c:v>Aug 25</c:v>
                </c:pt>
                <c:pt idx="47">
                  <c:v>Sep 25</c:v>
                </c:pt>
                <c:pt idx="48">
                  <c:v>Oct 25</c:v>
                </c:pt>
                <c:pt idx="49">
                  <c:v>Nov 25</c:v>
                </c:pt>
                <c:pt idx="50">
                  <c:v>Dec 25</c:v>
                </c:pt>
                <c:pt idx="51">
                  <c:v>Jan 26</c:v>
                </c:pt>
                <c:pt idx="52">
                  <c:v>Feb 26</c:v>
                </c:pt>
                <c:pt idx="53">
                  <c:v>Mar 26</c:v>
                </c:pt>
                <c:pt idx="54">
                  <c:v>Apr 26</c:v>
                </c:pt>
                <c:pt idx="55">
                  <c:v>May 26</c:v>
                </c:pt>
                <c:pt idx="56">
                  <c:v>Jun 26</c:v>
                </c:pt>
                <c:pt idx="57">
                  <c:v>Jul 26</c:v>
                </c:pt>
                <c:pt idx="58">
                  <c:v>Aug 26</c:v>
                </c:pt>
              </c:strCache>
            </c:strRef>
          </c:cat>
          <c:val>
            <c:numRef>
              <c:f>Sheet1!$B$2:$B$60</c:f>
              <c:numCache>
                <c:formatCode>General</c:formatCode>
                <c:ptCount val="59"/>
                <c:pt idx="0">
                  <c:v>1688747</c:v>
                </c:pt>
                <c:pt idx="1">
                  <c:v>1731869</c:v>
                </c:pt>
                <c:pt idx="2">
                  <c:v>1762351</c:v>
                </c:pt>
                <c:pt idx="3">
                  <c:v>1807763</c:v>
                </c:pt>
                <c:pt idx="4">
                  <c:v>1842072</c:v>
                </c:pt>
                <c:pt idx="5">
                  <c:v>1877402</c:v>
                </c:pt>
                <c:pt idx="6">
                  <c:v>1913147</c:v>
                </c:pt>
                <c:pt idx="7">
                  <c:v>1923964</c:v>
                </c:pt>
                <c:pt idx="8">
                  <c:v>1920269</c:v>
                </c:pt>
                <c:pt idx="9">
                  <c:v>1923856</c:v>
                </c:pt>
                <c:pt idx="10">
                  <c:v>1918061</c:v>
                </c:pt>
                <c:pt idx="11">
                  <c:v>1917890</c:v>
                </c:pt>
                <c:pt idx="12">
                  <c:v>1914367</c:v>
                </c:pt>
                <c:pt idx="13">
                  <c:v>1919538</c:v>
                </c:pt>
                <c:pt idx="14">
                  <c:v>1926876</c:v>
                </c:pt>
                <c:pt idx="15">
                  <c:v>1957618</c:v>
                </c:pt>
                <c:pt idx="16">
                  <c:v>1971178</c:v>
                </c:pt>
                <c:pt idx="17">
                  <c:v>2000432</c:v>
                </c:pt>
                <c:pt idx="18">
                  <c:v>2028917</c:v>
                </c:pt>
                <c:pt idx="19">
                  <c:v>2053902</c:v>
                </c:pt>
                <c:pt idx="20">
                  <c:v>2074232</c:v>
                </c:pt>
                <c:pt idx="21">
                  <c:v>2083615</c:v>
                </c:pt>
                <c:pt idx="22">
                  <c:v>2108452</c:v>
                </c:pt>
                <c:pt idx="23">
                  <c:v>2117176</c:v>
                </c:pt>
                <c:pt idx="24">
                  <c:v>2139594</c:v>
                </c:pt>
                <c:pt idx="25">
                  <c:v>2170325</c:v>
                </c:pt>
                <c:pt idx="26">
                  <c:v>2174846</c:v>
                </c:pt>
                <c:pt idx="27">
                  <c:v>2191633</c:v>
                </c:pt>
                <c:pt idx="28">
                  <c:v>2220925</c:v>
                </c:pt>
                <c:pt idx="29">
                  <c:v>2214113</c:v>
                </c:pt>
                <c:pt idx="30">
                  <c:v>2220689</c:v>
                </c:pt>
                <c:pt idx="31">
                  <c:v>2232845</c:v>
                </c:pt>
                <c:pt idx="32">
                  <c:v>2238643</c:v>
                </c:pt>
                <c:pt idx="33">
                  <c:v>2240441</c:v>
                </c:pt>
                <c:pt idx="34">
                  <c:v>2245978</c:v>
                </c:pt>
                <c:pt idx="35">
                  <c:v>2263103</c:v>
                </c:pt>
                <c:pt idx="36">
                  <c:v>2263823</c:v>
                </c:pt>
                <c:pt idx="37">
                  <c:v>2262637</c:v>
                </c:pt>
                <c:pt idx="38">
                  <c:v>2258822</c:v>
                </c:pt>
                <c:pt idx="39">
                  <c:v>2261053</c:v>
                </c:pt>
                <c:pt idx="40">
                  <c:v>2265811</c:v>
                </c:pt>
                <c:pt idx="41">
                  <c:v>2256260</c:v>
                </c:pt>
                <c:pt idx="42">
                  <c:v>2263809</c:v>
                </c:pt>
                <c:pt idx="43">
                  <c:v>2244426</c:v>
                </c:pt>
                <c:pt idx="44">
                  <c:v>2237719</c:v>
                </c:pt>
                <c:pt idx="45">
                  <c:v>2242633</c:v>
                </c:pt>
                <c:pt idx="46">
                  <c:v>2242024</c:v>
                </c:pt>
                <c:pt idx="47">
                  <c:v>2245799</c:v>
                </c:pt>
                <c:pt idx="48">
                  <c:v>2241141</c:v>
                </c:pt>
                <c:pt idx="49">
                  <c:v>2220726</c:v>
                </c:pt>
                <c:pt idx="50">
                  <c:v>2215955</c:v>
                </c:pt>
                <c:pt idx="51">
                  <c:v>2195636</c:v>
                </c:pt>
                <c:pt idx="52">
                  <c:v>2189683</c:v>
                </c:pt>
                <c:pt idx="53">
                  <c:v>2199399</c:v>
                </c:pt>
                <c:pt idx="54">
                  <c:v>2168231</c:v>
                </c:pt>
                <c:pt idx="55">
                  <c:v>2168396</c:v>
                </c:pt>
                <c:pt idx="56">
                  <c:v>2187350</c:v>
                </c:pt>
                <c:pt idx="57">
                  <c:v>2184474</c:v>
                </c:pt>
                <c:pt idx="58">
                  <c:v>2203129</c:v>
                </c:pt>
              </c:numCache>
            </c:numRef>
          </c:val>
          <c:smooth val="0"/>
          <c:extLst>
            <c:ext xmlns:c16="http://schemas.microsoft.com/office/drawing/2014/chart" uri="{C3380CC4-5D6E-409C-BE32-E72D297353CC}">
              <c16:uniqueId val="{00000000-B46C-4FED-A524-EE19F92CDB2A}"/>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50" b="0" i="0" u="none" strike="noStrike">
                <a:solidFill>
                  <a:srgbClr val="333231"/>
                </a:solidFill>
                <a:latin typeface="+mn-lt"/>
              </a:defRPr>
            </a:pPr>
            <a:endParaRPr lang="en-US"/>
          </a:p>
        </c:txPr>
        <c:crossAx val="2094734552"/>
        <c:crosses val="autoZero"/>
        <c:auto val="1"/>
        <c:lblAlgn val="ctr"/>
        <c:lblOffset val="100"/>
        <c:tickLblSkip val="12"/>
        <c:noMultiLvlLbl val="1"/>
      </c:catAx>
      <c:valAx>
        <c:axId val="2094734552"/>
        <c:scaling>
          <c:orientation val="minMax"/>
          <c:max val="2340000"/>
          <c:min val="1620000"/>
        </c:scaling>
        <c:delete val="1"/>
        <c:axPos val="l"/>
        <c:majorGridlines>
          <c:spPr>
            <a:ln w="6350" cap="flat">
              <a:solidFill>
                <a:srgbClr val="E3DCD3"/>
              </a:solidFill>
              <a:prstDash val="solid"/>
              <a:round/>
            </a:ln>
          </c:spPr>
        </c:majorGridlines>
        <c:numFmt formatCode="#,##0"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Manufacturing construction</c:v>
                </c:pt>
              </c:strCache>
            </c:strRef>
          </c:tx>
          <c:spPr>
            <a:ln w="19050" cap="flat">
              <a:solidFill>
                <a:srgbClr val="8C6239"/>
              </a:solidFill>
              <a:prstDash val="solid"/>
              <a:round/>
            </a:ln>
            <a:effectLst/>
          </c:spPr>
          <c:marker>
            <c:symbol val="none"/>
          </c:marker>
          <c:cat>
            <c:strRef>
              <c:f>Sheet1!$A$2:$A$60</c:f>
              <c:strCache>
                <c:ptCount val="59"/>
                <c:pt idx="0">
                  <c:v>Oct 21</c:v>
                </c:pt>
                <c:pt idx="1">
                  <c:v>Nov 21</c:v>
                </c:pt>
                <c:pt idx="2">
                  <c:v>Dec 21</c:v>
                </c:pt>
                <c:pt idx="3">
                  <c:v>Jan 22</c:v>
                </c:pt>
                <c:pt idx="4">
                  <c:v>Feb 22</c:v>
                </c:pt>
                <c:pt idx="5">
                  <c:v>Mar 22</c:v>
                </c:pt>
                <c:pt idx="6">
                  <c:v>Apr 22</c:v>
                </c:pt>
                <c:pt idx="7">
                  <c:v>May 22</c:v>
                </c:pt>
                <c:pt idx="8">
                  <c:v>Jun 22</c:v>
                </c:pt>
                <c:pt idx="9">
                  <c:v>Jul 22</c:v>
                </c:pt>
                <c:pt idx="10">
                  <c:v>Aug 22</c:v>
                </c:pt>
                <c:pt idx="11">
                  <c:v>Sep 22</c:v>
                </c:pt>
                <c:pt idx="12">
                  <c:v>Oct 22</c:v>
                </c:pt>
                <c:pt idx="13">
                  <c:v>Nov 22</c:v>
                </c:pt>
                <c:pt idx="14">
                  <c:v>Dec 22</c:v>
                </c:pt>
                <c:pt idx="15">
                  <c:v>Jan 23</c:v>
                </c:pt>
                <c:pt idx="16">
                  <c:v>Feb 23</c:v>
                </c:pt>
                <c:pt idx="17">
                  <c:v>Mar 23</c:v>
                </c:pt>
                <c:pt idx="18">
                  <c:v>Apr 23</c:v>
                </c:pt>
                <c:pt idx="19">
                  <c:v>May 23</c:v>
                </c:pt>
                <c:pt idx="20">
                  <c:v>Jun 23</c:v>
                </c:pt>
                <c:pt idx="21">
                  <c:v>Jul 23</c:v>
                </c:pt>
                <c:pt idx="22">
                  <c:v>Aug 23</c:v>
                </c:pt>
                <c:pt idx="23">
                  <c:v>Sep 23</c:v>
                </c:pt>
                <c:pt idx="24">
                  <c:v>Oct 23</c:v>
                </c:pt>
                <c:pt idx="25">
                  <c:v>Nov 23</c:v>
                </c:pt>
                <c:pt idx="26">
                  <c:v>Dec 23</c:v>
                </c:pt>
                <c:pt idx="27">
                  <c:v>Jan 24</c:v>
                </c:pt>
                <c:pt idx="28">
                  <c:v>Feb 24</c:v>
                </c:pt>
                <c:pt idx="29">
                  <c:v>Mar 24</c:v>
                </c:pt>
                <c:pt idx="30">
                  <c:v>Apr 24</c:v>
                </c:pt>
                <c:pt idx="31">
                  <c:v>May 24</c:v>
                </c:pt>
                <c:pt idx="32">
                  <c:v>Jun 24</c:v>
                </c:pt>
                <c:pt idx="33">
                  <c:v>Jul 24</c:v>
                </c:pt>
                <c:pt idx="34">
                  <c:v>Aug 24</c:v>
                </c:pt>
                <c:pt idx="35">
                  <c:v>Sep 24</c:v>
                </c:pt>
                <c:pt idx="36">
                  <c:v>Oct 24</c:v>
                </c:pt>
                <c:pt idx="37">
                  <c:v>Nov 24</c:v>
                </c:pt>
                <c:pt idx="38">
                  <c:v>Dec 24</c:v>
                </c:pt>
                <c:pt idx="39">
                  <c:v>Jan 25</c:v>
                </c:pt>
                <c:pt idx="40">
                  <c:v>Feb 25</c:v>
                </c:pt>
                <c:pt idx="41">
                  <c:v>Mar 25</c:v>
                </c:pt>
                <c:pt idx="42">
                  <c:v>Apr 25</c:v>
                </c:pt>
                <c:pt idx="43">
                  <c:v>May 25</c:v>
                </c:pt>
                <c:pt idx="44">
                  <c:v>Jun 25</c:v>
                </c:pt>
                <c:pt idx="45">
                  <c:v>Jul 25</c:v>
                </c:pt>
                <c:pt idx="46">
                  <c:v>Aug 25</c:v>
                </c:pt>
                <c:pt idx="47">
                  <c:v>Sep 25</c:v>
                </c:pt>
                <c:pt idx="48">
                  <c:v>Oct 25</c:v>
                </c:pt>
                <c:pt idx="49">
                  <c:v>Nov 25</c:v>
                </c:pt>
                <c:pt idx="50">
                  <c:v>Dec 25</c:v>
                </c:pt>
                <c:pt idx="51">
                  <c:v>Jan 26</c:v>
                </c:pt>
                <c:pt idx="52">
                  <c:v>Feb 26</c:v>
                </c:pt>
                <c:pt idx="53">
                  <c:v>Mar 26</c:v>
                </c:pt>
                <c:pt idx="54">
                  <c:v>Apr 26</c:v>
                </c:pt>
                <c:pt idx="55">
                  <c:v>May 26</c:v>
                </c:pt>
                <c:pt idx="56">
                  <c:v>Jun 26</c:v>
                </c:pt>
                <c:pt idx="57">
                  <c:v>Jul 26</c:v>
                </c:pt>
                <c:pt idx="58">
                  <c:v>Aug 26</c:v>
                </c:pt>
              </c:strCache>
            </c:strRef>
          </c:cat>
          <c:val>
            <c:numRef>
              <c:f>Sheet1!$B$2:$B$60</c:f>
              <c:numCache>
                <c:formatCode>General</c:formatCode>
                <c:ptCount val="59"/>
                <c:pt idx="0">
                  <c:v>87210</c:v>
                </c:pt>
                <c:pt idx="1">
                  <c:v>93539</c:v>
                </c:pt>
                <c:pt idx="2">
                  <c:v>94605</c:v>
                </c:pt>
                <c:pt idx="3">
                  <c:v>97878</c:v>
                </c:pt>
                <c:pt idx="4">
                  <c:v>100267</c:v>
                </c:pt>
                <c:pt idx="5">
                  <c:v>104096</c:v>
                </c:pt>
                <c:pt idx="6">
                  <c:v>111586</c:v>
                </c:pt>
                <c:pt idx="7">
                  <c:v>116068</c:v>
                </c:pt>
                <c:pt idx="8">
                  <c:v>116675</c:v>
                </c:pt>
                <c:pt idx="9">
                  <c:v>127042</c:v>
                </c:pt>
                <c:pt idx="10">
                  <c:v>128104</c:v>
                </c:pt>
                <c:pt idx="11">
                  <c:v>139493</c:v>
                </c:pt>
                <c:pt idx="12">
                  <c:v>141436</c:v>
                </c:pt>
                <c:pt idx="13">
                  <c:v>153107</c:v>
                </c:pt>
                <c:pt idx="14">
                  <c:v>159231</c:v>
                </c:pt>
                <c:pt idx="15">
                  <c:v>172097</c:v>
                </c:pt>
                <c:pt idx="16">
                  <c:v>179099</c:v>
                </c:pt>
                <c:pt idx="17">
                  <c:v>187446</c:v>
                </c:pt>
                <c:pt idx="18">
                  <c:v>199222</c:v>
                </c:pt>
                <c:pt idx="19">
                  <c:v>197639</c:v>
                </c:pt>
                <c:pt idx="20">
                  <c:v>200828</c:v>
                </c:pt>
                <c:pt idx="21">
                  <c:v>202064</c:v>
                </c:pt>
                <c:pt idx="22">
                  <c:v>206423</c:v>
                </c:pt>
                <c:pt idx="23">
                  <c:v>205054</c:v>
                </c:pt>
                <c:pt idx="24">
                  <c:v>218795</c:v>
                </c:pt>
                <c:pt idx="25">
                  <c:v>226885</c:v>
                </c:pt>
                <c:pt idx="26">
                  <c:v>230263</c:v>
                </c:pt>
                <c:pt idx="27">
                  <c:v>233759</c:v>
                </c:pt>
                <c:pt idx="28">
                  <c:v>235216</c:v>
                </c:pt>
                <c:pt idx="29">
                  <c:v>238676</c:v>
                </c:pt>
                <c:pt idx="30">
                  <c:v>242376</c:v>
                </c:pt>
                <c:pt idx="31">
                  <c:v>243306</c:v>
                </c:pt>
                <c:pt idx="32">
                  <c:v>248899</c:v>
                </c:pt>
                <c:pt idx="33">
                  <c:v>248230</c:v>
                </c:pt>
                <c:pt idx="34">
                  <c:v>249757</c:v>
                </c:pt>
                <c:pt idx="35">
                  <c:v>250233</c:v>
                </c:pt>
                <c:pt idx="36">
                  <c:v>246526</c:v>
                </c:pt>
                <c:pt idx="37">
                  <c:v>250089</c:v>
                </c:pt>
                <c:pt idx="38">
                  <c:v>242048</c:v>
                </c:pt>
                <c:pt idx="39">
                  <c:v>237485</c:v>
                </c:pt>
                <c:pt idx="40">
                  <c:v>237155</c:v>
                </c:pt>
                <c:pt idx="41">
                  <c:v>227339</c:v>
                </c:pt>
                <c:pt idx="42">
                  <c:v>227640</c:v>
                </c:pt>
                <c:pt idx="43">
                  <c:v>223805</c:v>
                </c:pt>
                <c:pt idx="44">
                  <c:v>219564</c:v>
                </c:pt>
                <c:pt idx="45">
                  <c:v>215594</c:v>
                </c:pt>
                <c:pt idx="46">
                  <c:v>211142</c:v>
                </c:pt>
                <c:pt idx="47">
                  <c:v>205019</c:v>
                </c:pt>
                <c:pt idx="48">
                  <c:v>202687</c:v>
                </c:pt>
                <c:pt idx="49">
                  <c:v>195150</c:v>
                </c:pt>
                <c:pt idx="50">
                  <c:v>181798</c:v>
                </c:pt>
                <c:pt idx="51">
                  <c:v>184187</c:v>
                </c:pt>
                <c:pt idx="52">
                  <c:v>181879</c:v>
                </c:pt>
                <c:pt idx="53">
                  <c:v>179814</c:v>
                </c:pt>
                <c:pt idx="54">
                  <c:v>177023</c:v>
                </c:pt>
                <c:pt idx="55">
                  <c:v>173641</c:v>
                </c:pt>
                <c:pt idx="56">
                  <c:v>171232</c:v>
                </c:pt>
                <c:pt idx="57">
                  <c:v>170339</c:v>
                </c:pt>
                <c:pt idx="58">
                  <c:v>170701</c:v>
                </c:pt>
              </c:numCache>
            </c:numRef>
          </c:val>
          <c:smooth val="0"/>
          <c:extLst>
            <c:ext xmlns:c16="http://schemas.microsoft.com/office/drawing/2014/chart" uri="{C3380CC4-5D6E-409C-BE32-E72D297353CC}">
              <c16:uniqueId val="{00000000-4B0A-486A-BE8F-D9F494FB5A2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50" b="0" i="0" u="none" strike="noStrike">
                <a:solidFill>
                  <a:srgbClr val="333231"/>
                </a:solidFill>
                <a:latin typeface="+mn-lt"/>
              </a:defRPr>
            </a:pPr>
            <a:endParaRPr lang="en-US"/>
          </a:p>
        </c:txPr>
        <c:crossAx val="2094734552"/>
        <c:crosses val="autoZero"/>
        <c:auto val="1"/>
        <c:lblAlgn val="ctr"/>
        <c:lblOffset val="100"/>
        <c:tickLblSkip val="12"/>
        <c:noMultiLvlLbl val="1"/>
      </c:catAx>
      <c:valAx>
        <c:axId val="2094734552"/>
        <c:scaling>
          <c:orientation val="minMax"/>
          <c:max val="270000"/>
          <c:min val="67600"/>
        </c:scaling>
        <c:delete val="1"/>
        <c:axPos val="l"/>
        <c:majorGridlines>
          <c:spPr>
            <a:ln w="6350" cap="flat">
              <a:solidFill>
                <a:srgbClr val="E3DCD3"/>
              </a:solidFill>
              <a:prstDash val="solid"/>
              <a:round/>
            </a:ln>
          </c:spPr>
        </c:majorGridlines>
        <c:numFmt formatCode="#,##0"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Steel mill product prices</c:v>
                </c:pt>
              </c:strCache>
            </c:strRef>
          </c:tx>
          <c:spPr>
            <a:ln w="19050" cap="flat">
              <a:solidFill>
                <a:srgbClr val="8C6239"/>
              </a:solidFill>
              <a:prstDash val="solid"/>
              <a:round/>
            </a:ln>
            <a:effectLst/>
          </c:spPr>
          <c:marker>
            <c:symbol val="none"/>
          </c:marker>
          <c:cat>
            <c:strRef>
              <c:f>Sheet1!$A$2:$A$60</c:f>
              <c:strCache>
                <c:ptCount val="59"/>
                <c:pt idx="0">
                  <c:v>Oct 21</c:v>
                </c:pt>
                <c:pt idx="1">
                  <c:v>Nov 21</c:v>
                </c:pt>
                <c:pt idx="2">
                  <c:v>Dec 21</c:v>
                </c:pt>
                <c:pt idx="3">
                  <c:v>Jan 22</c:v>
                </c:pt>
                <c:pt idx="4">
                  <c:v>Feb 22</c:v>
                </c:pt>
                <c:pt idx="5">
                  <c:v>Mar 22</c:v>
                </c:pt>
                <c:pt idx="6">
                  <c:v>Apr 22</c:v>
                </c:pt>
                <c:pt idx="7">
                  <c:v>May 22</c:v>
                </c:pt>
                <c:pt idx="8">
                  <c:v>Jun 22</c:v>
                </c:pt>
                <c:pt idx="9">
                  <c:v>Jul 22</c:v>
                </c:pt>
                <c:pt idx="10">
                  <c:v>Aug 22</c:v>
                </c:pt>
                <c:pt idx="11">
                  <c:v>Sep 22</c:v>
                </c:pt>
                <c:pt idx="12">
                  <c:v>Oct 22</c:v>
                </c:pt>
                <c:pt idx="13">
                  <c:v>Nov 22</c:v>
                </c:pt>
                <c:pt idx="14">
                  <c:v>Dec 22</c:v>
                </c:pt>
                <c:pt idx="15">
                  <c:v>Jan 23</c:v>
                </c:pt>
                <c:pt idx="16">
                  <c:v>Feb 23</c:v>
                </c:pt>
                <c:pt idx="17">
                  <c:v>Mar 23</c:v>
                </c:pt>
                <c:pt idx="18">
                  <c:v>Apr 23</c:v>
                </c:pt>
                <c:pt idx="19">
                  <c:v>May 23</c:v>
                </c:pt>
                <c:pt idx="20">
                  <c:v>Jun 23</c:v>
                </c:pt>
                <c:pt idx="21">
                  <c:v>Jul 23</c:v>
                </c:pt>
                <c:pt idx="22">
                  <c:v>Aug 23</c:v>
                </c:pt>
                <c:pt idx="23">
                  <c:v>Sep 23</c:v>
                </c:pt>
                <c:pt idx="24">
                  <c:v>Oct 23</c:v>
                </c:pt>
                <c:pt idx="25">
                  <c:v>Nov 23</c:v>
                </c:pt>
                <c:pt idx="26">
                  <c:v>Dec 23</c:v>
                </c:pt>
                <c:pt idx="27">
                  <c:v>Jan 24</c:v>
                </c:pt>
                <c:pt idx="28">
                  <c:v>Feb 24</c:v>
                </c:pt>
                <c:pt idx="29">
                  <c:v>Mar 24</c:v>
                </c:pt>
                <c:pt idx="30">
                  <c:v>Apr 24</c:v>
                </c:pt>
                <c:pt idx="31">
                  <c:v>May 24</c:v>
                </c:pt>
                <c:pt idx="32">
                  <c:v>Jun 24</c:v>
                </c:pt>
                <c:pt idx="33">
                  <c:v>Jul 24</c:v>
                </c:pt>
                <c:pt idx="34">
                  <c:v>Aug 24</c:v>
                </c:pt>
                <c:pt idx="35">
                  <c:v>Sep 24</c:v>
                </c:pt>
                <c:pt idx="36">
                  <c:v>Oct 24</c:v>
                </c:pt>
                <c:pt idx="37">
                  <c:v>Nov 24</c:v>
                </c:pt>
                <c:pt idx="38">
                  <c:v>Dec 24</c:v>
                </c:pt>
                <c:pt idx="39">
                  <c:v>Jan 25</c:v>
                </c:pt>
                <c:pt idx="40">
                  <c:v>Feb 25</c:v>
                </c:pt>
                <c:pt idx="41">
                  <c:v>Mar 25</c:v>
                </c:pt>
                <c:pt idx="42">
                  <c:v>Apr 25</c:v>
                </c:pt>
                <c:pt idx="43">
                  <c:v>May 25</c:v>
                </c:pt>
                <c:pt idx="44">
                  <c:v>Jun 25</c:v>
                </c:pt>
                <c:pt idx="45">
                  <c:v>Jul 25</c:v>
                </c:pt>
                <c:pt idx="46">
                  <c:v>Aug 25</c:v>
                </c:pt>
                <c:pt idx="47">
                  <c:v>Sep 25</c:v>
                </c:pt>
                <c:pt idx="48">
                  <c:v>Oct 25</c:v>
                </c:pt>
                <c:pt idx="49">
                  <c:v>Nov 25</c:v>
                </c:pt>
                <c:pt idx="50">
                  <c:v>Dec 25</c:v>
                </c:pt>
                <c:pt idx="51">
                  <c:v>Jan 26</c:v>
                </c:pt>
                <c:pt idx="52">
                  <c:v>Feb 26</c:v>
                </c:pt>
                <c:pt idx="53">
                  <c:v>Mar 26</c:v>
                </c:pt>
                <c:pt idx="54">
                  <c:v>Apr 26</c:v>
                </c:pt>
                <c:pt idx="55">
                  <c:v>May 26</c:v>
                </c:pt>
                <c:pt idx="56">
                  <c:v>Jun 26</c:v>
                </c:pt>
                <c:pt idx="57">
                  <c:v>Jul 26</c:v>
                </c:pt>
                <c:pt idx="58">
                  <c:v>Aug 26</c:v>
                </c:pt>
              </c:strCache>
            </c:strRef>
          </c:cat>
          <c:val>
            <c:numRef>
              <c:f>Sheet1!$B$2:$B$60</c:f>
              <c:numCache>
                <c:formatCode>General</c:formatCode>
                <c:ptCount val="59"/>
                <c:pt idx="0">
                  <c:v>435.66899999999998</c:v>
                </c:pt>
                <c:pt idx="1">
                  <c:v>448.74599999999998</c:v>
                </c:pt>
                <c:pt idx="2">
                  <c:v>449.71100000000001</c:v>
                </c:pt>
                <c:pt idx="3">
                  <c:v>441.49700000000001</c:v>
                </c:pt>
                <c:pt idx="4">
                  <c:v>400.06700000000001</c:v>
                </c:pt>
                <c:pt idx="5">
                  <c:v>376.596</c:v>
                </c:pt>
                <c:pt idx="6">
                  <c:v>386.66300000000001</c:v>
                </c:pt>
                <c:pt idx="7">
                  <c:v>427.4</c:v>
                </c:pt>
                <c:pt idx="8">
                  <c:v>420.18299999999999</c:v>
                </c:pt>
                <c:pt idx="9">
                  <c:v>404.11200000000002</c:v>
                </c:pt>
                <c:pt idx="10">
                  <c:v>384.88499999999999</c:v>
                </c:pt>
                <c:pt idx="11">
                  <c:v>357.58699999999999</c:v>
                </c:pt>
                <c:pt idx="12">
                  <c:v>337.20600000000002</c:v>
                </c:pt>
                <c:pt idx="13">
                  <c:v>326.69799999999998</c:v>
                </c:pt>
                <c:pt idx="14">
                  <c:v>315.63</c:v>
                </c:pt>
                <c:pt idx="15">
                  <c:v>308.02199999999999</c:v>
                </c:pt>
                <c:pt idx="16">
                  <c:v>315.255</c:v>
                </c:pt>
                <c:pt idx="17">
                  <c:v>318.19</c:v>
                </c:pt>
                <c:pt idx="18">
                  <c:v>329.70499999999998</c:v>
                </c:pt>
                <c:pt idx="19">
                  <c:v>347.22399999999999</c:v>
                </c:pt>
                <c:pt idx="20">
                  <c:v>345.80099999999999</c:v>
                </c:pt>
                <c:pt idx="21">
                  <c:v>329.45</c:v>
                </c:pt>
                <c:pt idx="22">
                  <c:v>322.94</c:v>
                </c:pt>
                <c:pt idx="23">
                  <c:v>311.52199999999999</c:v>
                </c:pt>
                <c:pt idx="24">
                  <c:v>304.11200000000002</c:v>
                </c:pt>
                <c:pt idx="25">
                  <c:v>297.96699999999998</c:v>
                </c:pt>
                <c:pt idx="26">
                  <c:v>305.125</c:v>
                </c:pt>
                <c:pt idx="27">
                  <c:v>321.392</c:v>
                </c:pt>
                <c:pt idx="28">
                  <c:v>332.52</c:v>
                </c:pt>
                <c:pt idx="29">
                  <c:v>305.67700000000002</c:v>
                </c:pt>
                <c:pt idx="30">
                  <c:v>297.57299999999998</c:v>
                </c:pt>
                <c:pt idx="31">
                  <c:v>298.56400000000002</c:v>
                </c:pt>
                <c:pt idx="32">
                  <c:v>293.26900000000001</c:v>
                </c:pt>
                <c:pt idx="33">
                  <c:v>283.08999999999997</c:v>
                </c:pt>
                <c:pt idx="34">
                  <c:v>275.27999999999997</c:v>
                </c:pt>
                <c:pt idx="35">
                  <c:v>270.97000000000003</c:v>
                </c:pt>
                <c:pt idx="36">
                  <c:v>273.42200000000003</c:v>
                </c:pt>
                <c:pt idx="37">
                  <c:v>278.339</c:v>
                </c:pt>
                <c:pt idx="38">
                  <c:v>266.51100000000002</c:v>
                </c:pt>
                <c:pt idx="39">
                  <c:v>261.56299999999999</c:v>
                </c:pt>
                <c:pt idx="40">
                  <c:v>268.86500000000001</c:v>
                </c:pt>
                <c:pt idx="41">
                  <c:v>287.36200000000002</c:v>
                </c:pt>
                <c:pt idx="42">
                  <c:v>303.82900000000001</c:v>
                </c:pt>
                <c:pt idx="43">
                  <c:v>326.74299999999999</c:v>
                </c:pt>
                <c:pt idx="44">
                  <c:v>309.23099999999999</c:v>
                </c:pt>
                <c:pt idx="45">
                  <c:v>305.53800000000001</c:v>
                </c:pt>
                <c:pt idx="46">
                  <c:v>308.77199999999999</c:v>
                </c:pt>
                <c:pt idx="47">
                  <c:v>304.57900000000001</c:v>
                </c:pt>
                <c:pt idx="48">
                  <c:v>300.66500000000002</c:v>
                </c:pt>
                <c:pt idx="49">
                  <c:v>291.55599999999998</c:v>
                </c:pt>
                <c:pt idx="50">
                  <c:v>312.41000000000003</c:v>
                </c:pt>
                <c:pt idx="51">
                  <c:v>315.36900000000003</c:v>
                </c:pt>
                <c:pt idx="52">
                  <c:v>325.10500000000002</c:v>
                </c:pt>
                <c:pt idx="53">
                  <c:v>331.35700000000003</c:v>
                </c:pt>
                <c:pt idx="54">
                  <c:v>341.57</c:v>
                </c:pt>
                <c:pt idx="55">
                  <c:v>349.99700000000001</c:v>
                </c:pt>
                <c:pt idx="56">
                  <c:v>360.14800000000002</c:v>
                </c:pt>
                <c:pt idx="57">
                  <c:v>374.79300000000001</c:v>
                </c:pt>
                <c:pt idx="58">
                  <c:v>381.16199999999998</c:v>
                </c:pt>
              </c:numCache>
            </c:numRef>
          </c:val>
          <c:smooth val="0"/>
          <c:extLst>
            <c:ext xmlns:c16="http://schemas.microsoft.com/office/drawing/2014/chart" uri="{C3380CC4-5D6E-409C-BE32-E72D297353CC}">
              <c16:uniqueId val="{00000000-7848-40A4-9C2B-AB7D3546BAC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50" b="0" i="0" u="none" strike="noStrike">
                <a:solidFill>
                  <a:srgbClr val="333231"/>
                </a:solidFill>
                <a:latin typeface="+mn-lt"/>
              </a:defRPr>
            </a:pPr>
            <a:endParaRPr lang="en-US"/>
          </a:p>
        </c:txPr>
        <c:crossAx val="2094734552"/>
        <c:crosses val="autoZero"/>
        <c:auto val="1"/>
        <c:lblAlgn val="ctr"/>
        <c:lblOffset val="100"/>
        <c:tickLblSkip val="12"/>
        <c:noMultiLvlLbl val="1"/>
      </c:catAx>
      <c:valAx>
        <c:axId val="2094734552"/>
        <c:scaling>
          <c:orientation val="minMax"/>
          <c:max val="472"/>
          <c:min val="239"/>
        </c:scaling>
        <c:delete val="1"/>
        <c:axPos val="l"/>
        <c:majorGridlines>
          <c:spPr>
            <a:ln w="6350" cap="flat">
              <a:solidFill>
                <a:srgbClr val="E3DCD3"/>
              </a:solidFill>
              <a:prstDash val="solid"/>
              <a:round/>
            </a:ln>
          </c:spPr>
        </c:majorGridlines>
        <c:numFmt formatCode="0"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Diesel price</c:v>
                </c:pt>
              </c:strCache>
            </c:strRef>
          </c:tx>
          <c:spPr>
            <a:ln w="19050" cap="flat">
              <a:solidFill>
                <a:srgbClr val="8C6239"/>
              </a:solidFill>
              <a:prstDash val="solid"/>
              <a:round/>
            </a:ln>
            <a:effectLst/>
          </c:spPr>
          <c:marker>
            <c:symbol val="none"/>
          </c:marker>
          <c:cat>
            <c:strRef>
              <c:f>Sheet1!$A$2:$A$61</c:f>
              <c:strCache>
                <c:ptCount val="60"/>
                <c:pt idx="0">
                  <c:v>Oct 21</c:v>
                </c:pt>
                <c:pt idx="1">
                  <c:v>Nov 21</c:v>
                </c:pt>
                <c:pt idx="2">
                  <c:v>Dec 21</c:v>
                </c:pt>
                <c:pt idx="3">
                  <c:v>Jan 22</c:v>
                </c:pt>
                <c:pt idx="4">
                  <c:v>Feb 22</c:v>
                </c:pt>
                <c:pt idx="5">
                  <c:v>Mar 22</c:v>
                </c:pt>
                <c:pt idx="6">
                  <c:v>Apr 22</c:v>
                </c:pt>
                <c:pt idx="7">
                  <c:v>May 22</c:v>
                </c:pt>
                <c:pt idx="8">
                  <c:v>Jun 22</c:v>
                </c:pt>
                <c:pt idx="9">
                  <c:v>Jul 22</c:v>
                </c:pt>
                <c:pt idx="10">
                  <c:v>Aug 22</c:v>
                </c:pt>
                <c:pt idx="11">
                  <c:v>Sep 22</c:v>
                </c:pt>
                <c:pt idx="12">
                  <c:v>Oct 22</c:v>
                </c:pt>
                <c:pt idx="13">
                  <c:v>Nov 22</c:v>
                </c:pt>
                <c:pt idx="14">
                  <c:v>Dec 22</c:v>
                </c:pt>
                <c:pt idx="15">
                  <c:v>Jan 23</c:v>
                </c:pt>
                <c:pt idx="16">
                  <c:v>Feb 23</c:v>
                </c:pt>
                <c:pt idx="17">
                  <c:v>Mar 23</c:v>
                </c:pt>
                <c:pt idx="18">
                  <c:v>Apr 23</c:v>
                </c:pt>
                <c:pt idx="19">
                  <c:v>May 23</c:v>
                </c:pt>
                <c:pt idx="20">
                  <c:v>Jun 23</c:v>
                </c:pt>
                <c:pt idx="21">
                  <c:v>Jul 23</c:v>
                </c:pt>
                <c:pt idx="22">
                  <c:v>Aug 23</c:v>
                </c:pt>
                <c:pt idx="23">
                  <c:v>Sep 23</c:v>
                </c:pt>
                <c:pt idx="24">
                  <c:v>Oct 23</c:v>
                </c:pt>
                <c:pt idx="25">
                  <c:v>Nov 23</c:v>
                </c:pt>
                <c:pt idx="26">
                  <c:v>Dec 23</c:v>
                </c:pt>
                <c:pt idx="27">
                  <c:v>Jan 24</c:v>
                </c:pt>
                <c:pt idx="28">
                  <c:v>Feb 24</c:v>
                </c:pt>
                <c:pt idx="29">
                  <c:v>Mar 24</c:v>
                </c:pt>
                <c:pt idx="30">
                  <c:v>Apr 24</c:v>
                </c:pt>
                <c:pt idx="31">
                  <c:v>May 24</c:v>
                </c:pt>
                <c:pt idx="32">
                  <c:v>Jun 24</c:v>
                </c:pt>
                <c:pt idx="33">
                  <c:v>Jul 24</c:v>
                </c:pt>
                <c:pt idx="34">
                  <c:v>Aug 24</c:v>
                </c:pt>
                <c:pt idx="35">
                  <c:v>Sep 24</c:v>
                </c:pt>
                <c:pt idx="36">
                  <c:v>Oct 24</c:v>
                </c:pt>
                <c:pt idx="37">
                  <c:v>Nov 24</c:v>
                </c:pt>
                <c:pt idx="38">
                  <c:v>Dec 24</c:v>
                </c:pt>
                <c:pt idx="39">
                  <c:v>Jan 25</c:v>
                </c:pt>
                <c:pt idx="40">
                  <c:v>Feb 25</c:v>
                </c:pt>
                <c:pt idx="41">
                  <c:v>Mar 25</c:v>
                </c:pt>
                <c:pt idx="42">
                  <c:v>Apr 25</c:v>
                </c:pt>
                <c:pt idx="43">
                  <c:v>May 25</c:v>
                </c:pt>
                <c:pt idx="44">
                  <c:v>Jun 25</c:v>
                </c:pt>
                <c:pt idx="45">
                  <c:v>Jul 25</c:v>
                </c:pt>
                <c:pt idx="46">
                  <c:v>Aug 25</c:v>
                </c:pt>
                <c:pt idx="47">
                  <c:v>Sep 25</c:v>
                </c:pt>
                <c:pt idx="48">
                  <c:v>Oct 25</c:v>
                </c:pt>
                <c:pt idx="49">
                  <c:v>Nov 25</c:v>
                </c:pt>
                <c:pt idx="50">
                  <c:v>Dec 25</c:v>
                </c:pt>
                <c:pt idx="51">
                  <c:v>Jan 26</c:v>
                </c:pt>
                <c:pt idx="52">
                  <c:v>Feb 26</c:v>
                </c:pt>
                <c:pt idx="53">
                  <c:v>Mar 26</c:v>
                </c:pt>
                <c:pt idx="54">
                  <c:v>Apr 26</c:v>
                </c:pt>
                <c:pt idx="55">
                  <c:v>May 26</c:v>
                </c:pt>
                <c:pt idx="56">
                  <c:v>Jun 26</c:v>
                </c:pt>
                <c:pt idx="57">
                  <c:v>Jul 26</c:v>
                </c:pt>
                <c:pt idx="58">
                  <c:v>Aug 26</c:v>
                </c:pt>
                <c:pt idx="59">
                  <c:v>Sep 26</c:v>
                </c:pt>
              </c:strCache>
            </c:strRef>
          </c:cat>
          <c:val>
            <c:numRef>
              <c:f>Sheet1!$B$2:$B$61</c:f>
              <c:numCache>
                <c:formatCode>General</c:formatCode>
                <c:ptCount val="60"/>
                <c:pt idx="0">
                  <c:v>3.6120000000000001</c:v>
                </c:pt>
                <c:pt idx="1">
                  <c:v>3.7269999999999999</c:v>
                </c:pt>
                <c:pt idx="2">
                  <c:v>3.641</c:v>
                </c:pt>
                <c:pt idx="3">
                  <c:v>3.7240000000000002</c:v>
                </c:pt>
                <c:pt idx="4">
                  <c:v>4.032</c:v>
                </c:pt>
                <c:pt idx="5">
                  <c:v>5.1050000000000004</c:v>
                </c:pt>
                <c:pt idx="6">
                  <c:v>5.12</c:v>
                </c:pt>
                <c:pt idx="7">
                  <c:v>5.5709999999999997</c:v>
                </c:pt>
                <c:pt idx="8">
                  <c:v>5.7539999999999996</c:v>
                </c:pt>
                <c:pt idx="9">
                  <c:v>5.4859999999999998</c:v>
                </c:pt>
                <c:pt idx="10">
                  <c:v>5.0129999999999999</c:v>
                </c:pt>
                <c:pt idx="11">
                  <c:v>4.9930000000000003</c:v>
                </c:pt>
                <c:pt idx="12">
                  <c:v>5.2110000000000003</c:v>
                </c:pt>
                <c:pt idx="13">
                  <c:v>5.2549999999999999</c:v>
                </c:pt>
                <c:pt idx="14">
                  <c:v>4.7140000000000004</c:v>
                </c:pt>
                <c:pt idx="15">
                  <c:v>4.5759999999999996</c:v>
                </c:pt>
                <c:pt idx="16">
                  <c:v>4.4130000000000003</c:v>
                </c:pt>
                <c:pt idx="17">
                  <c:v>4.2110000000000003</c:v>
                </c:pt>
                <c:pt idx="18">
                  <c:v>4.0990000000000002</c:v>
                </c:pt>
                <c:pt idx="19">
                  <c:v>3.915</c:v>
                </c:pt>
                <c:pt idx="20">
                  <c:v>3.802</c:v>
                </c:pt>
                <c:pt idx="21">
                  <c:v>3.8820000000000001</c:v>
                </c:pt>
                <c:pt idx="22">
                  <c:v>4.37</c:v>
                </c:pt>
                <c:pt idx="23">
                  <c:v>4.5629999999999997</c:v>
                </c:pt>
                <c:pt idx="24">
                  <c:v>4.5069999999999997</c:v>
                </c:pt>
                <c:pt idx="25">
                  <c:v>4.2539999999999996</c:v>
                </c:pt>
                <c:pt idx="26">
                  <c:v>3.972</c:v>
                </c:pt>
                <c:pt idx="27">
                  <c:v>3.8540000000000001</c:v>
                </c:pt>
                <c:pt idx="28">
                  <c:v>4.0439999999999996</c:v>
                </c:pt>
                <c:pt idx="29">
                  <c:v>4.0220000000000002</c:v>
                </c:pt>
                <c:pt idx="30">
                  <c:v>4.0019999999999998</c:v>
                </c:pt>
                <c:pt idx="31">
                  <c:v>3.8220000000000001</c:v>
                </c:pt>
                <c:pt idx="32">
                  <c:v>3.722</c:v>
                </c:pt>
                <c:pt idx="33">
                  <c:v>3.81</c:v>
                </c:pt>
                <c:pt idx="34">
                  <c:v>3.7</c:v>
                </c:pt>
                <c:pt idx="35">
                  <c:v>3.5579999999999998</c:v>
                </c:pt>
                <c:pt idx="36">
                  <c:v>3.585</c:v>
                </c:pt>
                <c:pt idx="37">
                  <c:v>3.5219999999999998</c:v>
                </c:pt>
                <c:pt idx="38">
                  <c:v>3.4940000000000002</c:v>
                </c:pt>
                <c:pt idx="39">
                  <c:v>3.6339999999999999</c:v>
                </c:pt>
                <c:pt idx="40">
                  <c:v>3.6749999999999998</c:v>
                </c:pt>
                <c:pt idx="41">
                  <c:v>3.585</c:v>
                </c:pt>
                <c:pt idx="42">
                  <c:v>3.5670000000000002</c:v>
                </c:pt>
                <c:pt idx="43">
                  <c:v>3.4990000000000001</c:v>
                </c:pt>
                <c:pt idx="44">
                  <c:v>3.5990000000000002</c:v>
                </c:pt>
                <c:pt idx="45">
                  <c:v>3.7789999999999999</c:v>
                </c:pt>
                <c:pt idx="46">
                  <c:v>3.7440000000000002</c:v>
                </c:pt>
                <c:pt idx="47">
                  <c:v>3.7480000000000002</c:v>
                </c:pt>
                <c:pt idx="48">
                  <c:v>3.6789999999999998</c:v>
                </c:pt>
                <c:pt idx="49">
                  <c:v>3.8220000000000001</c:v>
                </c:pt>
                <c:pt idx="50">
                  <c:v>3.6150000000000002</c:v>
                </c:pt>
                <c:pt idx="51">
                  <c:v>3.5230000000000001</c:v>
                </c:pt>
                <c:pt idx="52">
                  <c:v>3.722</c:v>
                </c:pt>
                <c:pt idx="53">
                  <c:v>4.9210000000000003</c:v>
                </c:pt>
                <c:pt idx="54">
                  <c:v>5.5010000000000003</c:v>
                </c:pt>
                <c:pt idx="55">
                  <c:v>5.6</c:v>
                </c:pt>
                <c:pt idx="56">
                  <c:v>5.024</c:v>
                </c:pt>
                <c:pt idx="57">
                  <c:v>4.9550000000000001</c:v>
                </c:pt>
                <c:pt idx="58">
                  <c:v>5.4619999999999997</c:v>
                </c:pt>
                <c:pt idx="59">
                  <c:v>6.2910000000000004</c:v>
                </c:pt>
              </c:numCache>
            </c:numRef>
          </c:val>
          <c:smooth val="0"/>
          <c:extLst>
            <c:ext xmlns:c16="http://schemas.microsoft.com/office/drawing/2014/chart" uri="{C3380CC4-5D6E-409C-BE32-E72D297353CC}">
              <c16:uniqueId val="{00000000-108C-4100-8319-504A83E29765}"/>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50" b="0" i="0" u="none" strike="noStrike">
                <a:solidFill>
                  <a:srgbClr val="333231"/>
                </a:solidFill>
                <a:latin typeface="+mn-lt"/>
              </a:defRPr>
            </a:pPr>
            <a:endParaRPr lang="en-US"/>
          </a:p>
        </c:txPr>
        <c:crossAx val="2094734552"/>
        <c:crosses val="autoZero"/>
        <c:auto val="1"/>
        <c:lblAlgn val="ctr"/>
        <c:lblOffset val="100"/>
        <c:tickLblSkip val="12"/>
        <c:noMultiLvlLbl val="1"/>
      </c:catAx>
      <c:valAx>
        <c:axId val="2094734552"/>
        <c:scaling>
          <c:orientation val="minMax"/>
          <c:max val="6.63"/>
          <c:min val="3.16"/>
        </c:scaling>
        <c:delete val="1"/>
        <c:axPos val="l"/>
        <c:majorGridlines>
          <c:spPr>
            <a:ln w="6350" cap="flat">
              <a:solidFill>
                <a:srgbClr val="E3DCD3"/>
              </a:solidFill>
              <a:prstDash val="solid"/>
              <a:round/>
            </a:ln>
          </c:spPr>
        </c:majorGridlines>
        <c:numFmt formatCode="0.00"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Cass Freight Index: shipments</c:v>
                </c:pt>
              </c:strCache>
            </c:strRef>
          </c:tx>
          <c:spPr>
            <a:ln w="19050" cap="flat">
              <a:solidFill>
                <a:srgbClr val="8C6239"/>
              </a:solidFill>
              <a:prstDash val="solid"/>
              <a:round/>
            </a:ln>
            <a:effectLst/>
          </c:spPr>
          <c:marker>
            <c:symbol val="none"/>
          </c:marker>
          <c:cat>
            <c:strRef>
              <c:f>Sheet1!$A$2:$A$60</c:f>
              <c:strCache>
                <c:ptCount val="59"/>
                <c:pt idx="0">
                  <c:v>Oct 21</c:v>
                </c:pt>
                <c:pt idx="1">
                  <c:v>Nov 21</c:v>
                </c:pt>
                <c:pt idx="2">
                  <c:v>Dec 21</c:v>
                </c:pt>
                <c:pt idx="3">
                  <c:v>Jan 22</c:v>
                </c:pt>
                <c:pt idx="4">
                  <c:v>Feb 22</c:v>
                </c:pt>
                <c:pt idx="5">
                  <c:v>Mar 22</c:v>
                </c:pt>
                <c:pt idx="6">
                  <c:v>Apr 22</c:v>
                </c:pt>
                <c:pt idx="7">
                  <c:v>May 22</c:v>
                </c:pt>
                <c:pt idx="8">
                  <c:v>Jun 22</c:v>
                </c:pt>
                <c:pt idx="9">
                  <c:v>Jul 22</c:v>
                </c:pt>
                <c:pt idx="10">
                  <c:v>Aug 22</c:v>
                </c:pt>
                <c:pt idx="11">
                  <c:v>Sep 22</c:v>
                </c:pt>
                <c:pt idx="12">
                  <c:v>Oct 22</c:v>
                </c:pt>
                <c:pt idx="13">
                  <c:v>Nov 22</c:v>
                </c:pt>
                <c:pt idx="14">
                  <c:v>Dec 22</c:v>
                </c:pt>
                <c:pt idx="15">
                  <c:v>Jan 23</c:v>
                </c:pt>
                <c:pt idx="16">
                  <c:v>Feb 23</c:v>
                </c:pt>
                <c:pt idx="17">
                  <c:v>Mar 23</c:v>
                </c:pt>
                <c:pt idx="18">
                  <c:v>Apr 23</c:v>
                </c:pt>
                <c:pt idx="19">
                  <c:v>May 23</c:v>
                </c:pt>
                <c:pt idx="20">
                  <c:v>Jun 23</c:v>
                </c:pt>
                <c:pt idx="21">
                  <c:v>Jul 23</c:v>
                </c:pt>
                <c:pt idx="22">
                  <c:v>Aug 23</c:v>
                </c:pt>
                <c:pt idx="23">
                  <c:v>Sep 23</c:v>
                </c:pt>
                <c:pt idx="24">
                  <c:v>Oct 23</c:v>
                </c:pt>
                <c:pt idx="25">
                  <c:v>Nov 23</c:v>
                </c:pt>
                <c:pt idx="26">
                  <c:v>Dec 23</c:v>
                </c:pt>
                <c:pt idx="27">
                  <c:v>Jan 24</c:v>
                </c:pt>
                <c:pt idx="28">
                  <c:v>Feb 24</c:v>
                </c:pt>
                <c:pt idx="29">
                  <c:v>Mar 24</c:v>
                </c:pt>
                <c:pt idx="30">
                  <c:v>Apr 24</c:v>
                </c:pt>
                <c:pt idx="31">
                  <c:v>May 24</c:v>
                </c:pt>
                <c:pt idx="32">
                  <c:v>Jun 24</c:v>
                </c:pt>
                <c:pt idx="33">
                  <c:v>Jul 24</c:v>
                </c:pt>
                <c:pt idx="34">
                  <c:v>Aug 24</c:v>
                </c:pt>
                <c:pt idx="35">
                  <c:v>Sep 24</c:v>
                </c:pt>
                <c:pt idx="36">
                  <c:v>Oct 24</c:v>
                </c:pt>
                <c:pt idx="37">
                  <c:v>Nov 24</c:v>
                </c:pt>
                <c:pt idx="38">
                  <c:v>Dec 24</c:v>
                </c:pt>
                <c:pt idx="39">
                  <c:v>Jan 25</c:v>
                </c:pt>
                <c:pt idx="40">
                  <c:v>Feb 25</c:v>
                </c:pt>
                <c:pt idx="41">
                  <c:v>Mar 25</c:v>
                </c:pt>
                <c:pt idx="42">
                  <c:v>Apr 25</c:v>
                </c:pt>
                <c:pt idx="43">
                  <c:v>May 25</c:v>
                </c:pt>
                <c:pt idx="44">
                  <c:v>Jun 25</c:v>
                </c:pt>
                <c:pt idx="45">
                  <c:v>Jul 25</c:v>
                </c:pt>
                <c:pt idx="46">
                  <c:v>Aug 25</c:v>
                </c:pt>
                <c:pt idx="47">
                  <c:v>Sep 25</c:v>
                </c:pt>
                <c:pt idx="48">
                  <c:v>Oct 25</c:v>
                </c:pt>
                <c:pt idx="49">
                  <c:v>Nov 25</c:v>
                </c:pt>
                <c:pt idx="50">
                  <c:v>Dec 25</c:v>
                </c:pt>
                <c:pt idx="51">
                  <c:v>Jan 26</c:v>
                </c:pt>
                <c:pt idx="52">
                  <c:v>Feb 26</c:v>
                </c:pt>
                <c:pt idx="53">
                  <c:v>Mar 26</c:v>
                </c:pt>
                <c:pt idx="54">
                  <c:v>Apr 26</c:v>
                </c:pt>
                <c:pt idx="55">
                  <c:v>May 26</c:v>
                </c:pt>
                <c:pt idx="56">
                  <c:v>Jun 26</c:v>
                </c:pt>
                <c:pt idx="57">
                  <c:v>Jul 26</c:v>
                </c:pt>
                <c:pt idx="58">
                  <c:v>Aug 26</c:v>
                </c:pt>
              </c:strCache>
            </c:strRef>
          </c:cat>
          <c:val>
            <c:numRef>
              <c:f>Sheet1!$B$2:$B$60</c:f>
              <c:numCache>
                <c:formatCode>General</c:formatCode>
                <c:ptCount val="59"/>
                <c:pt idx="0">
                  <c:v>1.1890000000000001</c:v>
                </c:pt>
                <c:pt idx="1">
                  <c:v>1.206</c:v>
                </c:pt>
                <c:pt idx="2">
                  <c:v>1.208</c:v>
                </c:pt>
                <c:pt idx="3">
                  <c:v>1.0780000000000001</c:v>
                </c:pt>
                <c:pt idx="4">
                  <c:v>1.171</c:v>
                </c:pt>
                <c:pt idx="5">
                  <c:v>1.2030000000000001</c:v>
                </c:pt>
                <c:pt idx="6">
                  <c:v>1.1719999999999999</c:v>
                </c:pt>
                <c:pt idx="7">
                  <c:v>1.2350000000000001</c:v>
                </c:pt>
                <c:pt idx="8">
                  <c:v>1.2030000000000001</c:v>
                </c:pt>
                <c:pt idx="9">
                  <c:v>1.232</c:v>
                </c:pt>
                <c:pt idx="10">
                  <c:v>1.278</c:v>
                </c:pt>
                <c:pt idx="11">
                  <c:v>1.2410000000000001</c:v>
                </c:pt>
                <c:pt idx="12">
                  <c:v>1.224</c:v>
                </c:pt>
                <c:pt idx="13">
                  <c:v>1.2010000000000001</c:v>
                </c:pt>
                <c:pt idx="14">
                  <c:v>1.161</c:v>
                </c:pt>
                <c:pt idx="15">
                  <c:v>1.1240000000000001</c:v>
                </c:pt>
                <c:pt idx="16">
                  <c:v>1.167</c:v>
                </c:pt>
                <c:pt idx="17">
                  <c:v>1.155</c:v>
                </c:pt>
                <c:pt idx="18">
                  <c:v>1.1439999999999999</c:v>
                </c:pt>
                <c:pt idx="19">
                  <c:v>1.1659999999999999</c:v>
                </c:pt>
                <c:pt idx="20">
                  <c:v>1.147</c:v>
                </c:pt>
                <c:pt idx="21">
                  <c:v>1.1220000000000001</c:v>
                </c:pt>
                <c:pt idx="22">
                  <c:v>1.143</c:v>
                </c:pt>
                <c:pt idx="23">
                  <c:v>1.163</c:v>
                </c:pt>
                <c:pt idx="24">
                  <c:v>1.1080000000000001</c:v>
                </c:pt>
                <c:pt idx="25">
                  <c:v>1.0940000000000001</c:v>
                </c:pt>
                <c:pt idx="26">
                  <c:v>1.077</c:v>
                </c:pt>
                <c:pt idx="27">
                  <c:v>1.0389999999999999</c:v>
                </c:pt>
                <c:pt idx="28">
                  <c:v>1.115</c:v>
                </c:pt>
                <c:pt idx="29">
                  <c:v>1.113</c:v>
                </c:pt>
                <c:pt idx="30">
                  <c:v>1.0980000000000001</c:v>
                </c:pt>
                <c:pt idx="31">
                  <c:v>1.0980000000000001</c:v>
                </c:pt>
                <c:pt idx="32">
                  <c:v>1.0780000000000001</c:v>
                </c:pt>
                <c:pt idx="33">
                  <c:v>1.1100000000000001</c:v>
                </c:pt>
                <c:pt idx="34">
                  <c:v>1.121</c:v>
                </c:pt>
                <c:pt idx="35">
                  <c:v>1.1020000000000001</c:v>
                </c:pt>
                <c:pt idx="36">
                  <c:v>1.081</c:v>
                </c:pt>
                <c:pt idx="37">
                  <c:v>1.0860000000000001</c:v>
                </c:pt>
                <c:pt idx="38">
                  <c:v>1.0069999999999999</c:v>
                </c:pt>
                <c:pt idx="39">
                  <c:v>0.95399999999999996</c:v>
                </c:pt>
                <c:pt idx="40">
                  <c:v>1.054</c:v>
                </c:pt>
                <c:pt idx="41">
                  <c:v>1.054</c:v>
                </c:pt>
                <c:pt idx="42">
                  <c:v>1.0580000000000001</c:v>
                </c:pt>
                <c:pt idx="43">
                  <c:v>1.054</c:v>
                </c:pt>
                <c:pt idx="44">
                  <c:v>1.052</c:v>
                </c:pt>
                <c:pt idx="45">
                  <c:v>1.0329999999999999</c:v>
                </c:pt>
                <c:pt idx="46">
                  <c:v>1.0169999999999999</c:v>
                </c:pt>
                <c:pt idx="47">
                  <c:v>1.042</c:v>
                </c:pt>
                <c:pt idx="48">
                  <c:v>0.997</c:v>
                </c:pt>
                <c:pt idx="49">
                  <c:v>1.0038199999999999</c:v>
                </c:pt>
                <c:pt idx="50">
                  <c:v>0.93191000000000002</c:v>
                </c:pt>
                <c:pt idx="51">
                  <c:v>0.88600000000000001</c:v>
                </c:pt>
                <c:pt idx="52">
                  <c:v>0.97799999999999998</c:v>
                </c:pt>
                <c:pt idx="53">
                  <c:v>1.0069999999999999</c:v>
                </c:pt>
                <c:pt idx="54">
                  <c:v>1.0109999999999999</c:v>
                </c:pt>
                <c:pt idx="55">
                  <c:v>1.0409999999999999</c:v>
                </c:pt>
                <c:pt idx="56">
                  <c:v>1.0089999999999999</c:v>
                </c:pt>
                <c:pt idx="57">
                  <c:v>0.98299999999999998</c:v>
                </c:pt>
                <c:pt idx="58">
                  <c:v>1.038</c:v>
                </c:pt>
              </c:numCache>
            </c:numRef>
          </c:val>
          <c:smooth val="0"/>
          <c:extLst>
            <c:ext xmlns:c16="http://schemas.microsoft.com/office/drawing/2014/chart" uri="{C3380CC4-5D6E-409C-BE32-E72D297353CC}">
              <c16:uniqueId val="{00000000-3C73-494B-BA84-FBE36A044168}"/>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50" b="0" i="0" u="none" strike="noStrike">
                <a:solidFill>
                  <a:srgbClr val="333231"/>
                </a:solidFill>
                <a:latin typeface="+mn-lt"/>
              </a:defRPr>
            </a:pPr>
            <a:endParaRPr lang="en-US"/>
          </a:p>
        </c:txPr>
        <c:crossAx val="2094734552"/>
        <c:crosses val="autoZero"/>
        <c:auto val="1"/>
        <c:lblAlgn val="ctr"/>
        <c:lblOffset val="100"/>
        <c:tickLblSkip val="12"/>
        <c:noMultiLvlLbl val="1"/>
      </c:catAx>
      <c:valAx>
        <c:axId val="2094734552"/>
        <c:scaling>
          <c:orientation val="minMax"/>
          <c:max val="1.33"/>
          <c:min val="0.83899999999999997"/>
        </c:scaling>
        <c:delete val="1"/>
        <c:axPos val="l"/>
        <c:majorGridlines>
          <c:spPr>
            <a:ln w="6350" cap="flat">
              <a:solidFill>
                <a:srgbClr val="E3DCD3"/>
              </a:solidFill>
              <a:prstDash val="solid"/>
              <a:round/>
            </a:ln>
          </c:spPr>
        </c:majorGridlines>
        <c:numFmt formatCode="0.00"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10-year Treasury yield</c:v>
                </c:pt>
              </c:strCache>
            </c:strRef>
          </c:tx>
          <c:spPr>
            <a:ln w="19050" cap="flat">
              <a:solidFill>
                <a:srgbClr val="8C6239"/>
              </a:solidFill>
              <a:prstDash val="solid"/>
              <a:round/>
            </a:ln>
            <a:effectLst/>
          </c:spPr>
          <c:marker>
            <c:symbol val="none"/>
          </c:marker>
          <c:cat>
            <c:strRef>
              <c:f>Sheet1!$A$2:$A$61</c:f>
              <c:strCache>
                <c:ptCount val="60"/>
                <c:pt idx="0">
                  <c:v>Oct 21</c:v>
                </c:pt>
                <c:pt idx="1">
                  <c:v>Nov 21</c:v>
                </c:pt>
                <c:pt idx="2">
                  <c:v>Dec 21</c:v>
                </c:pt>
                <c:pt idx="3">
                  <c:v>Jan 22</c:v>
                </c:pt>
                <c:pt idx="4">
                  <c:v>Feb 22</c:v>
                </c:pt>
                <c:pt idx="5">
                  <c:v>Mar 22</c:v>
                </c:pt>
                <c:pt idx="6">
                  <c:v>Apr 22</c:v>
                </c:pt>
                <c:pt idx="7">
                  <c:v>May 22</c:v>
                </c:pt>
                <c:pt idx="8">
                  <c:v>Jun 22</c:v>
                </c:pt>
                <c:pt idx="9">
                  <c:v>Jul 22</c:v>
                </c:pt>
                <c:pt idx="10">
                  <c:v>Aug 22</c:v>
                </c:pt>
                <c:pt idx="11">
                  <c:v>Sep 22</c:v>
                </c:pt>
                <c:pt idx="12">
                  <c:v>Oct 22</c:v>
                </c:pt>
                <c:pt idx="13">
                  <c:v>Nov 22</c:v>
                </c:pt>
                <c:pt idx="14">
                  <c:v>Dec 22</c:v>
                </c:pt>
                <c:pt idx="15">
                  <c:v>Jan 23</c:v>
                </c:pt>
                <c:pt idx="16">
                  <c:v>Feb 23</c:v>
                </c:pt>
                <c:pt idx="17">
                  <c:v>Mar 23</c:v>
                </c:pt>
                <c:pt idx="18">
                  <c:v>Apr 23</c:v>
                </c:pt>
                <c:pt idx="19">
                  <c:v>May 23</c:v>
                </c:pt>
                <c:pt idx="20">
                  <c:v>Jun 23</c:v>
                </c:pt>
                <c:pt idx="21">
                  <c:v>Jul 23</c:v>
                </c:pt>
                <c:pt idx="22">
                  <c:v>Aug 23</c:v>
                </c:pt>
                <c:pt idx="23">
                  <c:v>Sep 23</c:v>
                </c:pt>
                <c:pt idx="24">
                  <c:v>Oct 23</c:v>
                </c:pt>
                <c:pt idx="25">
                  <c:v>Nov 23</c:v>
                </c:pt>
                <c:pt idx="26">
                  <c:v>Dec 23</c:v>
                </c:pt>
                <c:pt idx="27">
                  <c:v>Jan 24</c:v>
                </c:pt>
                <c:pt idx="28">
                  <c:v>Feb 24</c:v>
                </c:pt>
                <c:pt idx="29">
                  <c:v>Mar 24</c:v>
                </c:pt>
                <c:pt idx="30">
                  <c:v>Apr 24</c:v>
                </c:pt>
                <c:pt idx="31">
                  <c:v>May 24</c:v>
                </c:pt>
                <c:pt idx="32">
                  <c:v>Jun 24</c:v>
                </c:pt>
                <c:pt idx="33">
                  <c:v>Jul 24</c:v>
                </c:pt>
                <c:pt idx="34">
                  <c:v>Aug 24</c:v>
                </c:pt>
                <c:pt idx="35">
                  <c:v>Sep 24</c:v>
                </c:pt>
                <c:pt idx="36">
                  <c:v>Oct 24</c:v>
                </c:pt>
                <c:pt idx="37">
                  <c:v>Nov 24</c:v>
                </c:pt>
                <c:pt idx="38">
                  <c:v>Dec 24</c:v>
                </c:pt>
                <c:pt idx="39">
                  <c:v>Jan 25</c:v>
                </c:pt>
                <c:pt idx="40">
                  <c:v>Feb 25</c:v>
                </c:pt>
                <c:pt idx="41">
                  <c:v>Mar 25</c:v>
                </c:pt>
                <c:pt idx="42">
                  <c:v>Apr 25</c:v>
                </c:pt>
                <c:pt idx="43">
                  <c:v>May 25</c:v>
                </c:pt>
                <c:pt idx="44">
                  <c:v>Jun 25</c:v>
                </c:pt>
                <c:pt idx="45">
                  <c:v>Jul 25</c:v>
                </c:pt>
                <c:pt idx="46">
                  <c:v>Aug 25</c:v>
                </c:pt>
                <c:pt idx="47">
                  <c:v>Sep 25</c:v>
                </c:pt>
                <c:pt idx="48">
                  <c:v>Oct 25</c:v>
                </c:pt>
                <c:pt idx="49">
                  <c:v>Nov 25</c:v>
                </c:pt>
                <c:pt idx="50">
                  <c:v>Dec 25</c:v>
                </c:pt>
                <c:pt idx="51">
                  <c:v>Jan 26</c:v>
                </c:pt>
                <c:pt idx="52">
                  <c:v>Feb 26</c:v>
                </c:pt>
                <c:pt idx="53">
                  <c:v>Mar 26</c:v>
                </c:pt>
                <c:pt idx="54">
                  <c:v>Apr 26</c:v>
                </c:pt>
                <c:pt idx="55">
                  <c:v>May 26</c:v>
                </c:pt>
                <c:pt idx="56">
                  <c:v>Jun 26</c:v>
                </c:pt>
                <c:pt idx="57">
                  <c:v>Jul 26</c:v>
                </c:pt>
                <c:pt idx="58">
                  <c:v>Aug 26</c:v>
                </c:pt>
                <c:pt idx="59">
                  <c:v>Sep 26</c:v>
                </c:pt>
              </c:strCache>
            </c:strRef>
          </c:cat>
          <c:val>
            <c:numRef>
              <c:f>Sheet1!$B$2:$B$61</c:f>
              <c:numCache>
                <c:formatCode>General</c:formatCode>
                <c:ptCount val="60"/>
                <c:pt idx="0">
                  <c:v>1.58</c:v>
                </c:pt>
                <c:pt idx="1">
                  <c:v>1.56</c:v>
                </c:pt>
                <c:pt idx="2">
                  <c:v>1.47</c:v>
                </c:pt>
                <c:pt idx="3">
                  <c:v>1.76</c:v>
                </c:pt>
                <c:pt idx="4">
                  <c:v>1.93</c:v>
                </c:pt>
                <c:pt idx="5">
                  <c:v>2.13</c:v>
                </c:pt>
                <c:pt idx="6">
                  <c:v>2.75</c:v>
                </c:pt>
                <c:pt idx="7">
                  <c:v>2.9</c:v>
                </c:pt>
                <c:pt idx="8">
                  <c:v>3.14</c:v>
                </c:pt>
                <c:pt idx="9">
                  <c:v>2.9</c:v>
                </c:pt>
                <c:pt idx="10">
                  <c:v>2.9</c:v>
                </c:pt>
                <c:pt idx="11">
                  <c:v>3.52</c:v>
                </c:pt>
                <c:pt idx="12">
                  <c:v>3.98</c:v>
                </c:pt>
                <c:pt idx="13">
                  <c:v>3.89</c:v>
                </c:pt>
                <c:pt idx="14">
                  <c:v>3.62</c:v>
                </c:pt>
                <c:pt idx="15">
                  <c:v>3.53</c:v>
                </c:pt>
                <c:pt idx="16">
                  <c:v>3.75</c:v>
                </c:pt>
                <c:pt idx="17">
                  <c:v>3.66</c:v>
                </c:pt>
                <c:pt idx="18">
                  <c:v>3.46</c:v>
                </c:pt>
                <c:pt idx="19">
                  <c:v>3.57</c:v>
                </c:pt>
                <c:pt idx="20">
                  <c:v>3.75</c:v>
                </c:pt>
                <c:pt idx="21">
                  <c:v>3.9</c:v>
                </c:pt>
                <c:pt idx="22">
                  <c:v>4.17</c:v>
                </c:pt>
                <c:pt idx="23">
                  <c:v>4.38</c:v>
                </c:pt>
                <c:pt idx="24">
                  <c:v>4.8</c:v>
                </c:pt>
                <c:pt idx="25">
                  <c:v>4.5</c:v>
                </c:pt>
                <c:pt idx="26">
                  <c:v>4.0199999999999996</c:v>
                </c:pt>
                <c:pt idx="27">
                  <c:v>4.0599999999999996</c:v>
                </c:pt>
                <c:pt idx="28">
                  <c:v>4.21</c:v>
                </c:pt>
                <c:pt idx="29">
                  <c:v>4.21</c:v>
                </c:pt>
                <c:pt idx="30">
                  <c:v>4.54</c:v>
                </c:pt>
                <c:pt idx="31">
                  <c:v>4.4800000000000004</c:v>
                </c:pt>
                <c:pt idx="32">
                  <c:v>4.3099999999999996</c:v>
                </c:pt>
                <c:pt idx="33">
                  <c:v>4.25</c:v>
                </c:pt>
                <c:pt idx="34">
                  <c:v>3.87</c:v>
                </c:pt>
                <c:pt idx="35">
                  <c:v>3.72</c:v>
                </c:pt>
                <c:pt idx="36">
                  <c:v>4.0999999999999996</c:v>
                </c:pt>
                <c:pt idx="37">
                  <c:v>4.3600000000000003</c:v>
                </c:pt>
                <c:pt idx="38">
                  <c:v>4.3899999999999997</c:v>
                </c:pt>
                <c:pt idx="39">
                  <c:v>4.63</c:v>
                </c:pt>
                <c:pt idx="40">
                  <c:v>4.45</c:v>
                </c:pt>
                <c:pt idx="41">
                  <c:v>4.28</c:v>
                </c:pt>
                <c:pt idx="42">
                  <c:v>4.28</c:v>
                </c:pt>
                <c:pt idx="43">
                  <c:v>4.42</c:v>
                </c:pt>
                <c:pt idx="44">
                  <c:v>4.38</c:v>
                </c:pt>
                <c:pt idx="45">
                  <c:v>4.3899999999999997</c:v>
                </c:pt>
                <c:pt idx="46">
                  <c:v>4.26</c:v>
                </c:pt>
                <c:pt idx="47">
                  <c:v>4.12</c:v>
                </c:pt>
                <c:pt idx="48">
                  <c:v>4.0599999999999996</c:v>
                </c:pt>
                <c:pt idx="49">
                  <c:v>4.09</c:v>
                </c:pt>
                <c:pt idx="50">
                  <c:v>4.1399999999999997</c:v>
                </c:pt>
                <c:pt idx="51">
                  <c:v>4.21</c:v>
                </c:pt>
                <c:pt idx="52">
                  <c:v>4.13</c:v>
                </c:pt>
                <c:pt idx="53">
                  <c:v>4.25</c:v>
                </c:pt>
                <c:pt idx="54">
                  <c:v>4.32</c:v>
                </c:pt>
                <c:pt idx="55">
                  <c:v>4.4800000000000004</c:v>
                </c:pt>
                <c:pt idx="56">
                  <c:v>4.47</c:v>
                </c:pt>
                <c:pt idx="57">
                  <c:v>4.5999999999999996</c:v>
                </c:pt>
                <c:pt idx="58">
                  <c:v>4.68</c:v>
                </c:pt>
                <c:pt idx="59">
                  <c:v>4.99</c:v>
                </c:pt>
              </c:numCache>
            </c:numRef>
          </c:val>
          <c:smooth val="0"/>
          <c:extLst>
            <c:ext xmlns:c16="http://schemas.microsoft.com/office/drawing/2014/chart" uri="{C3380CC4-5D6E-409C-BE32-E72D297353CC}">
              <c16:uniqueId val="{00000000-BACC-4D10-96A8-7A40C7DD61FE}"/>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50" b="0" i="0" u="none" strike="noStrike">
                <a:solidFill>
                  <a:srgbClr val="333231"/>
                </a:solidFill>
                <a:latin typeface="+mn-lt"/>
              </a:defRPr>
            </a:pPr>
            <a:endParaRPr lang="en-US"/>
          </a:p>
        </c:txPr>
        <c:crossAx val="2094734552"/>
        <c:crosses val="autoZero"/>
        <c:auto val="1"/>
        <c:lblAlgn val="ctr"/>
        <c:lblOffset val="100"/>
        <c:tickLblSkip val="12"/>
        <c:noMultiLvlLbl val="1"/>
      </c:catAx>
      <c:valAx>
        <c:axId val="2094734552"/>
        <c:scaling>
          <c:orientation val="minMax"/>
          <c:max val="5.41"/>
          <c:min val="1.05"/>
        </c:scaling>
        <c:delete val="1"/>
        <c:axPos val="l"/>
        <c:majorGridlines>
          <c:spPr>
            <a:ln w="6350" cap="flat">
              <a:solidFill>
                <a:srgbClr val="E3DCD3"/>
              </a:solidFill>
              <a:prstDash val="solid"/>
              <a:round/>
            </a:ln>
          </c:spPr>
        </c:majorGridlines>
        <c:numFmt formatCode="0.0"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6759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7150" cy="7772400"/>
          </a:xfrm>
          <a:prstGeom prst="rect">
            <a:avLst/>
          </a:prstGeom>
          <a:solidFill>
            <a:srgbClr val="B68757"/>
          </a:solidFill>
          <a:ln/>
        </p:spPr>
        <p:txBody>
          <a:bodyPr/>
          <a:lstStyle/>
          <a:p>
            <a:endParaRPr lang="en-US"/>
          </a:p>
        </p:txBody>
      </p:sp>
      <p:sp>
        <p:nvSpPr>
          <p:cNvPr id="3" name="Text 1"/>
          <p:cNvSpPr/>
          <p:nvPr/>
        </p:nvSpPr>
        <p:spPr>
          <a:xfrm>
            <a:off x="419100" y="361950"/>
            <a:ext cx="4572000" cy="171450"/>
          </a:xfrm>
          <a:prstGeom prst="rect">
            <a:avLst/>
          </a:prstGeom>
          <a:noFill/>
          <a:ln/>
        </p:spPr>
        <p:txBody>
          <a:bodyPr wrap="square" lIns="0" tIns="0" rIns="0" bIns="0" rtlCol="0" anchor="ctr"/>
          <a:lstStyle/>
          <a:p>
            <a:pPr marL="0" indent="0">
              <a:buNone/>
            </a:pPr>
            <a:r>
              <a:rPr lang="en-US" sz="675" b="1" kern="0" spc="220" dirty="0">
                <a:solidFill>
                  <a:srgbClr val="8C6239"/>
                </a:solidFill>
              </a:rPr>
              <a:t>INDUSTRIAL  |  SECTOR REPORT</a:t>
            </a:r>
            <a:endParaRPr lang="en-US" sz="675" dirty="0"/>
          </a:p>
        </p:txBody>
      </p:sp>
      <p:sp>
        <p:nvSpPr>
          <p:cNvPr id="4" name="Text 2"/>
          <p:cNvSpPr/>
          <p:nvPr/>
        </p:nvSpPr>
        <p:spPr>
          <a:xfrm>
            <a:off x="7734300" y="342900"/>
            <a:ext cx="1905000" cy="190500"/>
          </a:xfrm>
          <a:prstGeom prst="rect">
            <a:avLst/>
          </a:prstGeom>
          <a:noFill/>
          <a:ln/>
        </p:spPr>
        <p:txBody>
          <a:bodyPr wrap="square" lIns="0" tIns="0" rIns="0" bIns="0" rtlCol="0" anchor="ctr"/>
          <a:lstStyle/>
          <a:p>
            <a:pPr marL="0" indent="0" algn="r">
              <a:buNone/>
            </a:pPr>
            <a:r>
              <a:rPr lang="en-US" sz="900" kern="0" spc="100" dirty="0">
                <a:solidFill>
                  <a:srgbClr val="6F6A66"/>
                </a:solidFill>
                <a:latin typeface="+mj-lt" pitchFamily="34" charset="0"/>
              </a:rPr>
              <a:t>Q4 2026</a:t>
            </a:r>
            <a:endParaRPr lang="en-US" sz="900" dirty="0"/>
          </a:p>
        </p:txBody>
      </p:sp>
      <p:sp>
        <p:nvSpPr>
          <p:cNvPr id="5" name="Shape 3"/>
          <p:cNvSpPr/>
          <p:nvPr/>
        </p:nvSpPr>
        <p:spPr>
          <a:xfrm>
            <a:off x="419100" y="1143000"/>
            <a:ext cx="9220200" cy="0"/>
          </a:xfrm>
          <a:prstGeom prst="line">
            <a:avLst/>
          </a:prstGeom>
          <a:noFill/>
          <a:ln w="9525">
            <a:solidFill>
              <a:srgbClr val="E3DCD3"/>
            </a:solidFill>
            <a:prstDash val="solid"/>
          </a:ln>
        </p:spPr>
        <p:txBody>
          <a:bodyPr/>
          <a:lstStyle/>
          <a:p>
            <a:endParaRPr lang="en-US"/>
          </a:p>
        </p:txBody>
      </p:sp>
      <p:sp>
        <p:nvSpPr>
          <p:cNvPr id="6" name="Shape 4"/>
          <p:cNvSpPr/>
          <p:nvPr/>
        </p:nvSpPr>
        <p:spPr>
          <a:xfrm>
            <a:off x="419100" y="7029450"/>
            <a:ext cx="9220200" cy="0"/>
          </a:xfrm>
          <a:prstGeom prst="line">
            <a:avLst/>
          </a:prstGeom>
          <a:noFill/>
          <a:ln w="9525">
            <a:solidFill>
              <a:srgbClr val="E3DCD3"/>
            </a:solidFill>
            <a:prstDash val="solid"/>
          </a:ln>
        </p:spPr>
        <p:txBody>
          <a:bodyPr/>
          <a:lstStyle/>
          <a:p>
            <a:endParaRPr lang="en-US"/>
          </a:p>
        </p:txBody>
      </p:sp>
      <p:pic>
        <p:nvPicPr>
          <p:cNvPr id="7" name="Image 0" descr="/tmp/claude-0/-home-claude-about/b7ea608c-3502-5da6-986c-4c57d144c940/scratchpad/brief/assets/logo-black.png"/>
          <p:cNvPicPr>
            <a:picLocks noChangeAspect="1"/>
          </p:cNvPicPr>
          <p:nvPr/>
        </p:nvPicPr>
        <p:blipFill>
          <a:blip r:embed="rId2"/>
          <a:stretch>
            <a:fillRect/>
          </a:stretch>
        </p:blipFill>
        <p:spPr>
          <a:xfrm>
            <a:off x="419100" y="7143750"/>
            <a:ext cx="914400" cy="171450"/>
          </a:xfrm>
          <a:prstGeom prst="rect">
            <a:avLst/>
          </a:prstGeom>
        </p:spPr>
      </p:pic>
      <p:sp>
        <p:nvSpPr>
          <p:cNvPr id="8" name="Text 5"/>
          <p:cNvSpPr>
            <a:spLocks noGrp="1"/>
          </p:cNvSpPr>
          <p:nvPr>
            <p:ph type="title" idx="106" hasCustomPrompt="1"/>
          </p:nvPr>
        </p:nvSpPr>
        <p:spPr>
          <a:xfrm>
            <a:off x="419100" y="514350"/>
            <a:ext cx="9220200" cy="361950"/>
          </a:xfrm>
          <a:prstGeom prst="rect">
            <a:avLst/>
          </a:prstGeom>
          <a:noFill/>
          <a:ln/>
        </p:spPr>
        <p:txBody>
          <a:bodyPr wrap="square" rtlCol="0"/>
          <a:lstStyle>
            <a:lvl1pPr marL="0" indent="0" algn="l">
              <a:buNone/>
              <a:defRPr lang="en-US" sz="2025" b="1" dirty="0">
                <a:solidFill>
                  <a:srgbClr val="1B1A1A"/>
                </a:solidFill>
              </a:defRPr>
            </a:lvl1pPr>
          </a:lstStyle>
          <a:p>
            <a:pPr marL="0" indent="0" algn="l">
              <a:buNone/>
            </a:pPr>
            <a:endParaRPr lang="en-US" sz="2025" dirty="0"/>
          </a:p>
        </p:txBody>
      </p:sp>
      <p:sp>
        <p:nvSpPr>
          <p:cNvPr id="9" name="Text 5"/>
          <p:cNvSpPr>
            <a:spLocks noGrp="1"/>
          </p:cNvSpPr>
          <p:nvPr>
            <p:ph type="body" idx="107" hasCustomPrompt="1"/>
          </p:nvPr>
        </p:nvSpPr>
        <p:spPr>
          <a:xfrm>
            <a:off x="419100" y="895350"/>
            <a:ext cx="9220200" cy="209550"/>
          </a:xfrm>
          <a:prstGeom prst="rect">
            <a:avLst/>
          </a:prstGeom>
          <a:noFill/>
          <a:ln/>
        </p:spPr>
        <p:txBody>
          <a:bodyPr wrap="square" rtlCol="0"/>
          <a:lstStyle>
            <a:lvl1pPr marL="0" indent="0">
              <a:buNone/>
              <a:defRPr lang="en-US" sz="938" dirty="0">
                <a:solidFill>
                  <a:srgbClr val="6F6A66"/>
                </a:solidFill>
              </a:defRPr>
            </a:lvl1pPr>
          </a:lstStyle>
          <a:p>
            <a:pPr marL="0" indent="0">
              <a:buNone/>
            </a:pPr>
            <a:endParaRPr lang="en-US" sz="938" dirty="0"/>
          </a:p>
        </p:txBody>
      </p:sp>
      <p:sp>
        <p:nvSpPr>
          <p:cNvPr id="10" name="Text 5"/>
          <p:cNvSpPr>
            <a:spLocks noGrp="1"/>
          </p:cNvSpPr>
          <p:nvPr>
            <p:ph type="body" idx="108" hasCustomPrompt="1"/>
          </p:nvPr>
        </p:nvSpPr>
        <p:spPr>
          <a:xfrm>
            <a:off x="1543050" y="7096125"/>
            <a:ext cx="7620000" cy="285750"/>
          </a:xfrm>
          <a:prstGeom prst="rect">
            <a:avLst/>
          </a:prstGeom>
          <a:noFill/>
          <a:ln/>
        </p:spPr>
        <p:txBody>
          <a:bodyPr wrap="square" rtlCol="0"/>
          <a:lstStyle>
            <a:lvl1pPr marL="0" indent="0">
              <a:buNone/>
              <a:defRPr lang="en-US" sz="675" dirty="0">
                <a:solidFill>
                  <a:srgbClr val="6F6A66"/>
                </a:solidFill>
              </a:defRPr>
            </a:lvl1pPr>
          </a:lstStyle>
          <a:p>
            <a:pPr marL="0" indent="0">
              <a:buNone/>
            </a:pPr>
            <a:endParaRPr lang="en-US" sz="675" dirty="0"/>
          </a:p>
        </p:txBody>
      </p:sp>
      <p:sp>
        <p:nvSpPr>
          <p:cNvPr id="25"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B1A1A"/>
        </a:solidFill>
        <a:effectLst/>
      </p:bgPr>
    </p:bg>
    <p:spTree>
      <p:nvGrpSpPr>
        <p:cNvPr id="1" name=""/>
        <p:cNvGrpSpPr/>
        <p:nvPr/>
      </p:nvGrpSpPr>
      <p:grpSpPr>
        <a:xfrm>
          <a:off x="0" y="0"/>
          <a:ext cx="0" cy="0"/>
          <a:chOff x="0" y="0"/>
          <a:chExt cx="0" cy="0"/>
        </a:xfrm>
      </p:grpSpPr>
      <p:pic>
        <p:nvPicPr>
          <p:cNvPr id="2" name="Image 0" descr="/tmp/claude-0/-home-claude-about/b7ea608c-3502-5da6-986c-4c57d144c940/scratchpad/brief/assets/knot.jpg"/>
          <p:cNvPicPr>
            <a:picLocks noChangeAspect="1"/>
          </p:cNvPicPr>
          <p:nvPr/>
        </p:nvPicPr>
        <p:blipFill>
          <a:blip r:embed="rId2">
            <a:alphaModFix amt="40000"/>
          </a:blip>
          <a:stretch>
            <a:fillRect/>
          </a:stretch>
        </p:blipFill>
        <p:spPr>
          <a:xfrm>
            <a:off x="-4095750" y="0"/>
            <a:ext cx="13820775" cy="7772400"/>
          </a:xfrm>
          <a:prstGeom prst="rect">
            <a:avLst/>
          </a:prstGeom>
        </p:spPr>
      </p:pic>
      <p:pic>
        <p:nvPicPr>
          <p:cNvPr id="3" name="Image 1" descr="/tmp/claude-0/-home-claude-about/b7ea608c-3502-5da6-986c-4c57d144c940/scratchpad/brief/assets/logo-white.png"/>
          <p:cNvPicPr>
            <a:picLocks noChangeAspect="1"/>
          </p:cNvPicPr>
          <p:nvPr/>
        </p:nvPicPr>
        <p:blipFill>
          <a:blip r:embed="rId3"/>
          <a:stretch>
            <a:fillRect/>
          </a:stretch>
        </p:blipFill>
        <p:spPr>
          <a:xfrm>
            <a:off x="609600" y="7029450"/>
            <a:ext cx="1428750" cy="266700"/>
          </a:xfrm>
          <a:prstGeom prst="rect">
            <a:avLst/>
          </a:prstGeom>
        </p:spPr>
      </p:pic>
      <p:sp>
        <p:nvSpPr>
          <p:cNvPr id="4" name="Text 0"/>
          <p:cNvSpPr/>
          <p:nvPr/>
        </p:nvSpPr>
        <p:spPr>
          <a:xfrm>
            <a:off x="2209800" y="7077075"/>
            <a:ext cx="2743200" cy="171450"/>
          </a:xfrm>
          <a:prstGeom prst="rect">
            <a:avLst/>
          </a:prstGeom>
          <a:noFill/>
          <a:ln/>
        </p:spPr>
        <p:txBody>
          <a:bodyPr wrap="square" lIns="0" tIns="0" rIns="0" bIns="0" rtlCol="0" anchor="ctr"/>
          <a:lstStyle/>
          <a:p>
            <a:pPr marL="0" indent="0">
              <a:buNone/>
            </a:pPr>
            <a:r>
              <a:rPr lang="en-US" sz="638" b="1" kern="0" spc="200" dirty="0">
                <a:solidFill>
                  <a:srgbClr val="D3AE84"/>
                </a:solidFill>
              </a:rPr>
              <a:t>MIDDLE MARKET</a:t>
            </a:r>
            <a:endParaRPr lang="en-US" sz="638" dirty="0"/>
          </a:p>
        </p:txBody>
      </p:sp>
      <p:sp>
        <p:nvSpPr>
          <p:cNvPr id="5" name="Text 1"/>
          <p:cNvSpPr/>
          <p:nvPr/>
        </p:nvSpPr>
        <p:spPr>
          <a:xfrm>
            <a:off x="609600" y="590550"/>
            <a:ext cx="4572000" cy="171450"/>
          </a:xfrm>
          <a:prstGeom prst="rect">
            <a:avLst/>
          </a:prstGeom>
          <a:noFill/>
          <a:ln/>
        </p:spPr>
        <p:txBody>
          <a:bodyPr wrap="square" lIns="0" tIns="0" rIns="0" bIns="0" rtlCol="0" anchor="ctr"/>
          <a:lstStyle/>
          <a:p>
            <a:pPr marL="0" indent="0">
              <a:buNone/>
            </a:pPr>
            <a:r>
              <a:rPr lang="en-US" sz="675" b="1" kern="0" spc="220" dirty="0">
                <a:solidFill>
                  <a:srgbClr val="D3AE84"/>
                </a:solidFill>
              </a:rPr>
              <a:t>INDUSTRIAL  |  SECTOR REPORT  |  Q4 2026</a:t>
            </a:r>
            <a:endParaRPr lang="en-US" sz="675" dirty="0"/>
          </a:p>
        </p:txBody>
      </p:sp>
      <p:sp>
        <p:nvSpPr>
          <p:cNvPr id="6" name="Text 2"/>
          <p:cNvSpPr>
            <a:spLocks noGrp="1"/>
          </p:cNvSpPr>
          <p:nvPr>
            <p:ph type="title" idx="104" hasCustomPrompt="1"/>
          </p:nvPr>
        </p:nvSpPr>
        <p:spPr>
          <a:xfrm>
            <a:off x="609600" y="2667000"/>
            <a:ext cx="4762500" cy="666750"/>
          </a:xfrm>
          <a:prstGeom prst="rect">
            <a:avLst/>
          </a:prstGeom>
          <a:noFill/>
          <a:ln/>
        </p:spPr>
        <p:txBody>
          <a:bodyPr wrap="square" rtlCol="0"/>
          <a:lstStyle>
            <a:lvl1pPr marL="0" indent="0" algn="l">
              <a:buNone/>
              <a:defRPr lang="en-US" sz="4050" b="1" dirty="0">
                <a:solidFill>
                  <a:srgbClr val="FFFFFF"/>
                </a:solidFill>
              </a:defRPr>
            </a:lvl1pPr>
          </a:lstStyle>
          <a:p>
            <a:pPr marL="0" indent="0" algn="l">
              <a:buNone/>
            </a:pPr>
            <a:endParaRPr lang="en-US" sz="40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B1A1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5.png"/><Relationship Id="rId5" Type="http://schemas.openxmlformats.org/officeDocument/2006/relationships/hyperlink" Target="https://www.prnewswire.com/news-releases/manufacturing-pmi-at-54-5-september-2026-ism-manufacturing-pmi-report-302894520.html" TargetMode="External"/><Relationship Id="rId6" Type="http://schemas.openxmlformats.org/officeDocument/2006/relationships/hyperlink" Target="https://www.mdm.com/news/research/economic-trends/u-s-metalworking-machinery-orders-slide-in-july/" TargetMode="External"/><Relationship Id="rId7" Type="http://schemas.openxmlformats.org/officeDocument/2006/relationships/hyperlink" Target="https://www.federalreserve.gov/releases/g17/current/default.htm" TargetMode="External"/><Relationship Id="rId8" Type="http://schemas.openxmlformats.org/officeDocument/2006/relationships/image" Target="../media/image12.png"/><Relationship Id="rId9" Type="http://schemas.openxmlformats.org/officeDocument/2006/relationships/hyperlink" Target="https://pitchbook.brightspotcdn.com/40/42/bbeb88094080abaea3d7c87530b8/q2-2026-us-pe-breakdown.pdf" TargetMode="External"/><Relationship Id="rId10" Type="http://schemas.openxmlformats.org/officeDocument/2006/relationships/hyperlink" Target="https://pyebarkerfs.com/?p=22122" TargetMode="External"/><Relationship Id="rId11" Type="http://schemas.openxmlformats.org/officeDocument/2006/relationships/image" Target="../media/image8.png"/><Relationship Id="rId12" Type="http://schemas.openxmlformats.org/officeDocument/2006/relationships/hyperlink" Target="https://investors.quantaservices.com/_assets/_27cda7558592cc1119359235c3a11955/quantaservices/news/2026-07-30_QUANTA_SERVICES_REPORTS_SECOND_QUARTER_2026_402.pdf" TargetMode="External"/><Relationship Id="rId13" Type="http://schemas.openxmlformats.org/officeDocument/2006/relationships/hyperlink" Target="https://aashtojournal.transportation.org/?p=41360" TargetMode="External"/><Relationship Id="rId14" Type="http://schemas.openxmlformats.org/officeDocument/2006/relationships/image" Target="../media/image13.png"/><Relationship Id="rId15" Type="http://schemas.openxmlformats.org/officeDocument/2006/relationships/hyperlink" Target="https://www.businesswire.com/news/home/20251210396417/en/APi-Group-Announces-Acquisition-of-CertaSite-and-Provides-Full-Year-2025-Update" TargetMode="External"/><Relationship Id="rId16" Type="http://schemas.openxmlformats.org/officeDocument/2006/relationships/hyperlink" Target="https://www.transcat.com/news/post/transcat-reports-strong-fiscal-first-quarter-2027-financial-results" TargetMode="External"/><Relationship Id="rId17" Type="http://schemas.openxmlformats.org/officeDocument/2006/relationships/image" Target="../media/image14.png"/><Relationship Id="rId18" Type="http://schemas.openxmlformats.org/officeDocument/2006/relationships/hyperlink" Target="https://www.globalbankingandfinance.com/global-m-deal-rush-fades-third-quarter-rising-borrowing/" TargetMode="External"/><Relationship Id="rId19" Type="http://schemas.openxmlformats.org/officeDocument/2006/relationships/hyperlink" Target="https://www.federalreserve.gov/newsevents/pressreleases/monetary20260916a.htm" TargetMode="External"/><Relationship Id="rId20" Type="http://schemas.openxmlformats.org/officeDocument/2006/relationships/hyperlink" Target="https://www.acg.org/news-trends/news/gf-data-reports-show-steady-middle-market-deal-flow-amid-more-selectiv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eia.gov/outlooks/steo/report/elec_coal_renew.php" TargetMode="External"/><Relationship Id="rId4" Type="http://schemas.openxmlformats.org/officeDocument/2006/relationships/hyperlink" Target="https://www.powermag.com/nerc-warns-long-term-grid-reliability-risks-mounting/" TargetMode="External"/><Relationship Id="rId5" Type="http://schemas.openxmlformats.org/officeDocument/2006/relationships/hyperlink" Target="https://www.prnewswire.com/news-releases/meta-reports-second-quarter-2026-results-302838214.html" TargetMode="External"/><Relationship Id="rId6" Type="http://schemas.openxmlformats.org/officeDocument/2006/relationships/hyperlink" Target="https://www.sec.gov/Archives/edgar/data/0001996810/000199681026000147/gevpressrelease2q26.htm" TargetMode="External"/><Relationship Id="rId7" Type="http://schemas.openxmlformats.org/officeDocument/2006/relationships/hyperlink" Target="https://www.ajot.com/news/us-power-companies-scramble-to-secure-equipment-as-surging-data-center-demand-strains-supplies" TargetMode="External"/><Relationship Id="rId8" Type="http://schemas.openxmlformats.org/officeDocument/2006/relationships/hyperlink" Target="https://www.sec.gov/Archives/edgar/data/0001474735/000143774926024731/ex_994826.htm" TargetMode="External"/><Relationship Id="rId9" Type="http://schemas.openxmlformats.org/officeDocument/2006/relationships/hyperlink" Target="https://www.cnbc.com/2026/09/02/cnbc-exclusive-transcript-berkshire-hathaway-ceo-greg-abel-speaks-with-cnbcs-squawk-box-today.html" TargetMode="External"/><Relationship Id="rId10" Type="http://schemas.openxmlformats.org/officeDocument/2006/relationships/hyperlink" Target="https://www.youtube.com/watch?v=AhYQUjd_n78" TargetMode="External"/><Relationship Id="rId11" Type="http://schemas.openxmlformats.org/officeDocument/2006/relationships/hyperlink" Target="https://www.youtube.com/watch?v=Gnl833wXRz0" TargetMode="External"/><Relationship Id="rId12" Type="http://schemas.openxmlformats.org/officeDocument/2006/relationships/image" Target="../media/image5.png"/><Relationship Id="rId13" Type="http://schemas.openxmlformats.org/officeDocument/2006/relationships/hyperlink" Target="https://www.globenewswire.com/news-release/2026/08/24/3349571/0/en/nvent-to-acquire-maverick-power.html" TargetMode="External"/><Relationship Id="rId14" Type="http://schemas.openxmlformats.org/officeDocument/2006/relationships/image" Target="../media/image6.png"/><Relationship Id="rId15" Type="http://schemas.openxmlformats.org/officeDocument/2006/relationships/hyperlink" Target="https://www.sec.gov/Archives/edgar/data/105634/000010563426000112/eme-ex991_2026630xq2.htm" TargetMode="External"/><Relationship Id="rId16" Type="http://schemas.openxmlformats.org/officeDocument/2006/relationships/image" Target="../media/image7.png"/><Relationship Id="rId17" Type="http://schemas.openxmlformats.org/officeDocument/2006/relationships/hyperlink" Target="https://www.globenewswire.com/news-release/2026/09/15/3362305/0/en/abc-survey-1-in-6-members-perform-data-center-work-backlog-rebounds-in-august.html" TargetMode="External"/><Relationship Id="rId18" Type="http://schemas.openxmlformats.org/officeDocument/2006/relationships/hyperlink" Target="https://www.businesswire.com/news/home/20260804326592/en/Limbach-Reports-Second-Quarter-2026-Results" TargetMode="External"/><Relationship Id="rId19" Type="http://schemas.openxmlformats.org/officeDocument/2006/relationships/image" Target="../media/image8.png"/><Relationship Id="rId20" Type="http://schemas.openxmlformats.org/officeDocument/2006/relationships/hyperlink" Target="https://dallasinnovates.com/north-texas-mission-critical-group-acquires-txla-systems/" TargetMode="External"/><Relationship Id="rId21" Type="http://schemas.openxmlformats.org/officeDocument/2006/relationships/hyperlink" Target="https://distributionstrategy.com/2026/07/mission-critical-group-makes-play-for-transformer-supply/" TargetMode="External"/><Relationship Id="rId22" Type="http://schemas.openxmlformats.org/officeDocument/2006/relationships/image" Target="../media/image9.png"/><Relationship Id="rId23" Type="http://schemas.openxmlformats.org/officeDocument/2006/relationships/hyperlink" Target="https://www.mdm.com/?p=436875" TargetMode="External"/><Relationship Id="rId24" Type="http://schemas.openxmlformats.org/officeDocument/2006/relationships/hyperlink" Target="https://vertikal.net/en/news/story/49180/jk-takes-360" TargetMode="External"/><Relationship Id="rId25"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jpg"/><Relationship Id="rId4" Type="http://schemas.openxmlformats.org/officeDocument/2006/relationships/hyperlink" Target="https://www.benchmarkintl.com/insights/completed-transactions/benchmark-international-successfully-facilitated-the-transaction-between-the-carmi-companies-and-the-nearshore-company/" TargetMode="External"/><Relationship Id="rId5" Type="http://schemas.openxmlformats.org/officeDocument/2006/relationships/hyperlink" Target="https://www.freightwaves.com/news/us-mexico-trade-smashes-monthly-record-at-nearly-95b" TargetMode="External"/><Relationship Id="rId6" Type="http://schemas.openxmlformats.org/officeDocument/2006/relationships/hyperlink" Target="https://www.freightwaves.com/news/redwood-logistics-acquires-laredo-customs-broker-eelco" TargetMode="External"/><Relationship Id="rId7" Type="http://schemas.openxmlformats.org/officeDocument/2006/relationships/hyperlink" Target="https://www.freightwaves.com/news/from-trucks-to-trade-compliance-logistics-firms-make-strategic-buys" TargetMode="External"/><Relationship Id="rId8" Type="http://schemas.openxmlformats.org/officeDocument/2006/relationships/hyperlink" Target="https://www.lincolninternational.com/perspectives/in-the-press/transport-topics-transport-ma-builds-momentum-alongside-freight-market/" TargetMode="External"/><Relationship Id="rId9" Type="http://schemas.openxmlformats.org/officeDocument/2006/relationships/image" Target="../media/image17.jpg"/><Relationship Id="rId10" Type="http://schemas.openxmlformats.org/officeDocument/2006/relationships/hyperlink" Target="tel:8137716675" TargetMode="External"/><Relationship Id="rId11" Type="http://schemas.openxmlformats.org/officeDocument/2006/relationships/hyperlink" Target="mailto:j.hardin@benchmarkintl.com" TargetMode="External"/><Relationship Id="rId12" Type="http://schemas.openxmlformats.org/officeDocument/2006/relationships/image" Target="../media/image18.jpg"/><Relationship Id="rId13" Type="http://schemas.openxmlformats.org/officeDocument/2006/relationships/hyperlink" Target="https://jp-hardin.github.io/about/mid-market-practice/transactions.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franklin-electric.com/company/news/2026/franklin-electric-acquires-cat-pumps-expanding-commercial-and-industrial-flow-control-platform/" TargetMode="External"/><Relationship Id="rId4" Type="http://schemas.openxmlformats.org/officeDocument/2006/relationships/hyperlink" Target="https://www.prnewswire.com/news-releases/precinmac-lp-announces-the-acquisition-of-massachusetts-based-advance-mfg-co-inc-302818691.html" TargetMode="External"/><Relationship Id="rId5" Type="http://schemas.openxmlformats.org/officeDocument/2006/relationships/hyperlink" Target="https://www.mdm.com/news/top-distributor-sectors/flow-control-top-distributor-sectors/ferguson-closes-1-6b-floworks-deal-deepening-flow-control-push/" TargetMode="External"/><Relationship Id="rId6" Type="http://schemas.openxmlformats.org/officeDocument/2006/relationships/hyperlink" Target="https://www.mdm.com/news/featured/featured-blog/ferguson-makes-1-6b-flow-control-bet-with-floworks-deal/" TargetMode="External"/><Relationship Id="rId7" Type="http://schemas.openxmlformats.org/officeDocument/2006/relationships/hyperlink" Target="https://www.mdm.com/news/top-distributor-sectors/gases-welding-equipment/meritus-gas-partners-adds-5-dfw-locations-with-acquisition-of-metroplex-welding-supply/" TargetMode="External"/><Relationship Id="rId8" Type="http://schemas.openxmlformats.org/officeDocument/2006/relationships/hyperlink" Target="https://pulse2.com/limbach-acquires-1901-for-63-million-plus-up-to-6-million-in-earnout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rermag.com/mergers-acquisitions/news/55397729/bay-crane-acquires-clark-rigging-rental-growing-its-upstate-new-york-presence" TargetMode="External"/><Relationship Id="rId4" Type="http://schemas.openxmlformats.org/officeDocument/2006/relationships/hyperlink" Target="https://wasteadvantagemag.com/clean-harbors-to-acquire-enviroserve/" TargetMode="External"/><Relationship Id="rId5" Type="http://schemas.openxmlformats.org/officeDocument/2006/relationships/hyperlink" Target="https://www.sec.gov/Archives/edgar/data/0000822818/000082281826000031/clh-q22026pressrelease.htm" TargetMode="External"/><Relationship Id="rId6" Type="http://schemas.openxmlformats.org/officeDocument/2006/relationships/hyperlink" Target="https://distributionstrategy.com/2026/07/mission-critical-group-makes-play-for-transformer-supply/" TargetMode="External"/><Relationship Id="rId7" Type="http://schemas.openxmlformats.org/officeDocument/2006/relationships/hyperlink" Target="https://www.sec.gov/Archives/edgar/data/0001929561/000114036126038548/ef20083265_ex99-1.htm" TargetMode="External"/><Relationship Id="rId8" Type="http://schemas.openxmlformats.org/officeDocument/2006/relationships/hyperlink" Target="https://www.freightwaves.com/news/redwood-logistics-acquires-laredo-customs-broker-eelco"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benchmarkintl.com/" TargetMode="External"/><Relationship Id="rId4" Type="http://schemas.openxmlformats.org/officeDocument/2006/relationships/chart" Target="../charts/chart1.xml"/><Relationship Id="rId5" Type="http://schemas.openxmlformats.org/officeDocument/2006/relationships/hyperlink" Target="https://www.benchmarkintl.com/insights/completed-transactions/benchmark-international-successfully-facilitated-the-transaction-between-fps-technologies-inc-and-cintas-corporation/" TargetMode="External"/><Relationship Id="rId6" Type="http://schemas.openxmlformats.org/officeDocument/2006/relationships/hyperlink" Target="https://www.benchmarkintl.com/insights/completed-transactions/benchmark-international-successfully-facilitated-the-transaction-between-maxvac-inc-and-dxp-enterprises-inc/" TargetMode="External"/><Relationship Id="rId7" Type="http://schemas.openxmlformats.org/officeDocument/2006/relationships/hyperlink" Target="https://www.benchmarkintl.com/insights/completed-transactions/benchmark-international-facilitated-the-transaction-of-trinity-industrial-services-llc-and-aecon-group-inc/" TargetMode="External"/><Relationship Id="rId8" Type="http://schemas.openxmlformats.org/officeDocument/2006/relationships/hyperlink" Target="https://www.benchmarkintl.com/insights/completed-transactions/benchmark-international-successfully-facilitated-the-transaction-of-invocon-inc-and-cemtrex-inc/" TargetMode="External"/><Relationship Id="rId9" Type="http://schemas.openxmlformats.org/officeDocument/2006/relationships/hyperlink" Target="https://www.benchmarkintl.com/insights/completed-transactions/benchmark-international-successfully-facilitated-the-transaction-between-climate-engineering-inc-and-harris-company/" TargetMode="External"/><Relationship Id="rId10" Type="http://schemas.openxmlformats.org/officeDocument/2006/relationships/hyperlink" Target="https://www.benchmarkintl.com/insights/completed-transactions/benchmark-international-successfully-facilitated-a-transaction-between-briggs-engineering-testing-and-phenna-group/" TargetMode="External"/><Relationship Id="rId11" Type="http://schemas.openxmlformats.org/officeDocument/2006/relationships/hyperlink" Target="https://www.benchmarkintl.com/insights/completed-transactions/benchmark-international-successfully-facilitated-the-transaction-of-capitol-plastics-recycling-inc-and-triumvirate-environmental/" TargetMode="External"/><Relationship Id="rId12" Type="http://schemas.openxmlformats.org/officeDocument/2006/relationships/hyperlink" Target="https://www.benchmarkintl.com/insights/completed-transactions/benchmark-international-successfully-facilitated-the-transaction-between-wesco-chemicals-inc-and-apex-water-and-process-inc/" TargetMode="External"/><Relationship Id="rId13" Type="http://schemas.openxmlformats.org/officeDocument/2006/relationships/hyperlink" Target="https://www.benchmarkintl.com/insights/benchmark-international-successfully-facilitated-the-transaction-between-dw-industries-and-tipco-technologies/" TargetMode="External"/><Relationship Id="rId14" Type="http://schemas.openxmlformats.org/officeDocument/2006/relationships/hyperlink" Target="https://www.benchmarkintl.com/insights/completed-transactions/benchmark-international-successfully-facilitated-the-transaction-between-at-parker-inc-and-assessimus-group-gmbh/" TargetMode="External"/><Relationship Id="rId15" Type="http://schemas.openxmlformats.org/officeDocument/2006/relationships/hyperlink" Target="https://www.benchmarkintl.com/insights/completed-transactions/benchmark-international-successfully-facilitated-the-transaction-between-clark-crane-and-capital-extension-crane-lift/" TargetMode="External"/><Relationship Id="rId16" Type="http://schemas.openxmlformats.org/officeDocument/2006/relationships/hyperlink" Target="https://www.benchmarkintl.com/insights/completed-transactions/benchmark-international-facilitated-the-transaction-of-christian-network-international-to-symbia-logistic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stockanalysis.com/" TargetMode="External"/><Relationship Id="rId4" Type="http://schemas.openxmlformats.org/officeDocument/2006/relationships/image" Target="../media/image20.png"/><Relationship Id="rId5" Type="http://schemas.openxmlformats.org/officeDocument/2006/relationships/chart" Target="../charts/chart2.xml"/><Relationship Id="rId6" Type="http://schemas.openxmlformats.org/officeDocument/2006/relationships/image" Target="../media/image21.png"/><Relationship Id="rId7" Type="http://schemas.openxmlformats.org/officeDocument/2006/relationships/chart" Target="../charts/chart3.xml"/><Relationship Id="rId8" Type="http://schemas.openxmlformats.org/officeDocument/2006/relationships/image" Target="../media/image22.png"/><Relationship Id="rId9" Type="http://schemas.openxmlformats.org/officeDocument/2006/relationships/chart" Target="../charts/chart4.xml"/><Relationship Id="rId10" Type="http://schemas.openxmlformats.org/officeDocument/2006/relationships/image" Target="../media/image23.png"/><Relationship Id="rId11" Type="http://schemas.openxmlformats.org/officeDocument/2006/relationships/chart" Target="../charts/chart5.xml"/><Relationship Id="rId12" Type="http://schemas.openxmlformats.org/officeDocument/2006/relationships/image" Target="../media/image24.png"/><Relationship Id="rId13" Type="http://schemas.openxmlformats.org/officeDocument/2006/relationships/chart" Target="../charts/chart6.xml"/><Relationship Id="rId14" Type="http://schemas.openxmlformats.org/officeDocument/2006/relationships/hyperlink" Target="https://www.acg.org/news-trends/news/gf-data-reports-show-steady-middle-market-deal-flow-amid-more-selective" TargetMode="External"/><Relationship Id="rId15" Type="http://schemas.openxmlformats.org/officeDocument/2006/relationships/hyperlink" Target="https://www.ibba.org/wp-content/uploads/2026/08/mp-highlights-q2-2026.pdf" TargetMode="External"/><Relationship Id="rId16" Type="http://schemas.openxmlformats.org/officeDocument/2006/relationships/hyperlink" Target="https://digitalcommons.pepperdine.edu/gsbm_pcm_pcmr/19"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stockanalysis.com/" TargetMode="Externa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chart" Target="../charts/char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stockanalysis.com/" TargetMode="External"/><Relationship Id="rId4" Type="http://schemas.openxmlformats.org/officeDocument/2006/relationships/chart" Target="../charts/chart11.xml"/><Relationship Id="rId5" Type="http://schemas.openxmlformats.org/officeDocument/2006/relationships/chart" Target="../charts/chart12.xml"/><Relationship Id="rId6" Type="http://schemas.openxmlformats.org/officeDocument/2006/relationships/chart" Target="../charts/chart13.xml"/><Relationship Id="rId7" Type="http://schemas.openxmlformats.org/officeDocument/2006/relationships/chart" Target="../charts/char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hart" Target="../charts/chart15.xml"/><Relationship Id="rId4" Type="http://schemas.openxmlformats.org/officeDocument/2006/relationships/hyperlink" Target="https://fred.stlouisfed.org/series/NEWORDER" TargetMode="External"/><Relationship Id="rId5" Type="http://schemas.openxmlformats.org/officeDocument/2006/relationships/chart" Target="../charts/chart16.xml"/><Relationship Id="rId6" Type="http://schemas.openxmlformats.org/officeDocument/2006/relationships/hyperlink" Target="https://fred.stlouisfed.org/series/MCUMFN" TargetMode="External"/><Relationship Id="rId7" Type="http://schemas.openxmlformats.org/officeDocument/2006/relationships/chart" Target="../charts/chart17.xml"/><Relationship Id="rId8" Type="http://schemas.openxmlformats.org/officeDocument/2006/relationships/hyperlink" Target="https://fred.stlouisfed.org/series/TTLCONS" TargetMode="External"/><Relationship Id="rId9" Type="http://schemas.openxmlformats.org/officeDocument/2006/relationships/chart" Target="../charts/chart18.xml"/><Relationship Id="rId10" Type="http://schemas.openxmlformats.org/officeDocument/2006/relationships/hyperlink" Target="https://fred.stlouisfed.org/series/TLMFGCONS" TargetMode="External"/><Relationship Id="rId11" Type="http://schemas.openxmlformats.org/officeDocument/2006/relationships/chart" Target="../charts/chart19.xml"/><Relationship Id="rId12" Type="http://schemas.openxmlformats.org/officeDocument/2006/relationships/hyperlink" Target="https://fred.stlouisfed.org/series/WPU1017" TargetMode="External"/><Relationship Id="rId13" Type="http://schemas.openxmlformats.org/officeDocument/2006/relationships/chart" Target="../charts/chart20.xml"/><Relationship Id="rId14" Type="http://schemas.openxmlformats.org/officeDocument/2006/relationships/hyperlink" Target="https://fred.stlouisfed.org/series/GASDESM" TargetMode="External"/><Relationship Id="rId15" Type="http://schemas.openxmlformats.org/officeDocument/2006/relationships/chart" Target="../charts/chart21.xml"/><Relationship Id="rId16" Type="http://schemas.openxmlformats.org/officeDocument/2006/relationships/hyperlink" Target="https://fred.stlouisfed.org/series/FRGSHPUSM649NCIS" TargetMode="External"/><Relationship Id="rId17" Type="http://schemas.openxmlformats.org/officeDocument/2006/relationships/chart" Target="../charts/chart22.xml"/><Relationship Id="rId18" Type="http://schemas.openxmlformats.org/officeDocument/2006/relationships/hyperlink" Target="https://fred.stlouisfed.org/series/GS1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www.benchmarkintl.com/" TargetMode="External"/><Relationship Id="rId4" Type="http://schemas.openxmlformats.org/officeDocument/2006/relationships/image" Target="../media/image17.jpg"/><Relationship Id="rId5" Type="http://schemas.openxmlformats.org/officeDocument/2006/relationships/hyperlink" Target="tel:8137716675" TargetMode="External"/><Relationship Id="rId6" Type="http://schemas.openxmlformats.org/officeDocument/2006/relationships/hyperlink" Target="mailto:j.hardin@benchmarkintl.com" TargetMode="External"/><Relationship Id="rId7" Type="http://schemas.openxmlformats.org/officeDocument/2006/relationships/image" Target="../media/image18.jpg"/><Relationship Id="rId8" Type="http://schemas.openxmlformats.org/officeDocument/2006/relationships/image" Target="../media/image26.jpg"/><Relationship Id="rId9" Type="http://schemas.openxmlformats.org/officeDocument/2006/relationships/image" Target="../media/image27.jpg"/><Relationship Id="rId10" Type="http://schemas.openxmlformats.org/officeDocument/2006/relationships/hyperlink" Target="https://jp-hardin.github.io/about/mid-market-practice/insights/industrial-industry-report-q4-2026.html" TargetMode="External"/><Relationship Id="rId11" Type="http://schemas.openxmlformats.org/officeDocument/2006/relationships/image" Target="../media/image3.png"/><Relationship Id="rId12" Type="http://schemas.openxmlformats.org/officeDocument/2006/relationships/image" Target="../media/image5.png"/><Relationship Id="rId13" Type="http://schemas.openxmlformats.org/officeDocument/2006/relationships/image" Target="../media/image6.png"/><Relationship Id="rId14" Type="http://schemas.openxmlformats.org/officeDocument/2006/relationships/image" Target="../media/image7.png"/><Relationship Id="rId15" Type="http://schemas.openxmlformats.org/officeDocument/2006/relationships/image" Target="../media/image8.png"/><Relationship Id="rId16" Type="http://schemas.openxmlformats.org/officeDocument/2006/relationships/image" Target="../media/image9.png"/><Relationship Id="rId17" Type="http://schemas.openxmlformats.org/officeDocument/2006/relationships/hyperlink" Target="https://www.linkedin.com/in/jared-p-hardin" TargetMode="External"/><Relationship Id="rId18" Type="http://schemas.openxmlformats.org/officeDocument/2006/relationships/hyperlink" Target="mailto:jhoutz@benchmarkintl.com" TargetMode="External"/><Relationship Id="rId19" Type="http://schemas.openxmlformats.org/officeDocument/2006/relationships/hyperlink" Target="https://www.linkedin.com/in/jordanhoutz" TargetMode="External"/><Relationship Id="rId20" Type="http://schemas.openxmlformats.org/officeDocument/2006/relationships/hyperlink" Target="tel:8138982372" TargetMode="External"/><Relationship Id="rId21" Type="http://schemas.openxmlformats.org/officeDocument/2006/relationships/hyperlink" Target="mailto:azykov@benchmarkintl.com" TargetMode="External"/><Relationship Id="rId22" Type="http://schemas.openxmlformats.org/officeDocument/2006/relationships/hyperlink" Target="https://www.linkedin.com/in/alex-zykov-787646b" TargetMode="External"/><Relationship Id="rId23" Type="http://schemas.openxmlformats.org/officeDocument/2006/relationships/hyperlink" Target="tel:8138982397" TargetMode="External"/><Relationship Id="rId24" Type="http://schemas.openxmlformats.org/officeDocument/2006/relationships/hyperlink" Target="mailto:hess@benchmarkintl.com" TargetMode="External"/><Relationship Id="rId25" Type="http://schemas.openxmlformats.org/officeDocument/2006/relationships/hyperlink" Target="https://www.linkedin.com/in/shannon-l-hes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prnewswire.com/news-releases/manufacturing-pmi-at-54-5-september-2026-ism-manufacturing-pmi-report-302894520.html" TargetMode="External"/><Relationship Id="rId4" Type="http://schemas.openxmlformats.org/officeDocument/2006/relationships/hyperlink" Target="https://www.mdm.com/news/research/economic-trends/u-s-metalworking-machinery-orders-slide-in-july/" TargetMode="External"/><Relationship Id="rId5" Type="http://schemas.openxmlformats.org/officeDocument/2006/relationships/hyperlink" Target="https://www.federalreserve.gov/releases/g17/current/default.htm" TargetMode="External"/><Relationship Id="rId6" Type="http://schemas.openxmlformats.org/officeDocument/2006/relationships/hyperlink" Target="https://pitchbook.brightspotcdn.com/40/42/bbeb88094080abaea3d7c87530b8/q2-2026-us-pe-breakdown.pdf" TargetMode="External"/><Relationship Id="rId7" Type="http://schemas.openxmlformats.org/officeDocument/2006/relationships/hyperlink" Target="https://pyebarkerfs.com/?p=22122" TargetMode="External"/><Relationship Id="rId8" Type="http://schemas.openxmlformats.org/officeDocument/2006/relationships/hyperlink" Target="https://www.sec.gov/Archives/edgar/data/1035983/000110465926086255/fix-20260723xex99d1.htm" TargetMode="External"/><Relationship Id="rId9" Type="http://schemas.openxmlformats.org/officeDocument/2006/relationships/hyperlink" Target="https://aashtojournal.transportation.org/?p=41360" TargetMode="External"/><Relationship Id="rId10" Type="http://schemas.openxmlformats.org/officeDocument/2006/relationships/hyperlink" Target="https://www.businesswire.com/news/home/20251210396417/en/APi-Group-Announces-Acquisition-of-CertaSite-and-Provides-Full-Year-2025-Update" TargetMode="External"/><Relationship Id="rId11" Type="http://schemas.openxmlformats.org/officeDocument/2006/relationships/hyperlink" Target="https://www.transcat.com/news/post/transcat-reports-strong-fiscal-first-quarter-2027-financial-results" TargetMode="External"/><Relationship Id="rId12" Type="http://schemas.openxmlformats.org/officeDocument/2006/relationships/hyperlink" Target="https://www.globalbankingandfinance.com/global-m-deal-rush-fades-third-quarter-rising-borrowing/" TargetMode="External"/><Relationship Id="rId13" Type="http://schemas.openxmlformats.org/officeDocument/2006/relationships/hyperlink" Target="https://www.federalreserve.gov/newsevents/pressreleases/monetary20260916a.htm" TargetMode="External"/><Relationship Id="rId14" Type="http://schemas.openxmlformats.org/officeDocument/2006/relationships/hyperlink" Target="https://www.acg.org/news-trends/news/gf-data-reports-show-steady-middle-market-deal-flow-amid-more-selective" TargetMode="External"/><Relationship Id="rId15" Type="http://schemas.openxmlformats.org/officeDocument/2006/relationships/hyperlink" Target="https://www.eia.gov/outlooks/steo/report/elec_coal_renew.php" TargetMode="External"/><Relationship Id="rId16" Type="http://schemas.openxmlformats.org/officeDocument/2006/relationships/hyperlink" Target="https://www.powermag.com/nerc-warns-long-term-grid-reliability-risks-mounting/" TargetMode="External"/><Relationship Id="rId17" Type="http://schemas.openxmlformats.org/officeDocument/2006/relationships/hyperlink" Target="https://www.prnewswire.com/news-releases/meta-reports-second-quarter-2026-results-302838214.html" TargetMode="External"/><Relationship Id="rId18" Type="http://schemas.openxmlformats.org/officeDocument/2006/relationships/hyperlink" Target="https://www.sec.gov/Archives/edgar/data/0001996810/000199681026000147/gevpressrelease2q26.htm" TargetMode="External"/><Relationship Id="rId19" Type="http://schemas.openxmlformats.org/officeDocument/2006/relationships/hyperlink" Target="https://www.ajot.com/news/us-power-companies-scramble-to-secure-equipment-as-surging-data-center-demand-strains-supplies" TargetMode="External"/><Relationship Id="rId20" Type="http://schemas.openxmlformats.org/officeDocument/2006/relationships/hyperlink" Target="https://www.sec.gov/Archives/edgar/data/0001474735/000143774926024731/ex_994826.htm" TargetMode="External"/><Relationship Id="rId21" Type="http://schemas.openxmlformats.org/officeDocument/2006/relationships/hyperlink" Target="https://www.globenewswire.com/news-release/2026/08/24/3349571/0/en/nvent-to-acquire-maverick-power.html" TargetMode="External"/><Relationship Id="rId22" Type="http://schemas.openxmlformats.org/officeDocument/2006/relationships/hyperlink" Target="https://www.sec.gov/Archives/edgar/data/105634/000010563426000112/eme-ex991_2026630xq2.htm" TargetMode="External"/><Relationship Id="rId23" Type="http://schemas.openxmlformats.org/officeDocument/2006/relationships/hyperlink" Target="https://www.globenewswire.com/news-release/2026/09/15/3362305/0/en/abc-survey-1-in-6-members-perform-data-center-work-backlog-rebounds-in-august.html" TargetMode="External"/><Relationship Id="rId24" Type="http://schemas.openxmlformats.org/officeDocument/2006/relationships/hyperlink" Target="https://www.businesswire.com/news/home/20260804326592/en/Limbach-Reports-Second-Quarter-2026-Results" TargetMode="External"/><Relationship Id="rId25" Type="http://schemas.openxmlformats.org/officeDocument/2006/relationships/hyperlink" Target="https://dallasinnovates.com/north-texas-mission-critical-group-acquires-txla-systems/" TargetMode="External"/><Relationship Id="rId26" Type="http://schemas.openxmlformats.org/officeDocument/2006/relationships/hyperlink" Target="https://distributionstrategy.com/2026/07/mission-critical-group-makes-play-for-transformer-supply/" TargetMode="External"/><Relationship Id="rId27" Type="http://schemas.openxmlformats.org/officeDocument/2006/relationships/hyperlink" Target="https://www.mdm.com/?p=436875" TargetMode="External"/><Relationship Id="rId28" Type="http://schemas.openxmlformats.org/officeDocument/2006/relationships/hyperlink" Target="https://vertikal.net/en/news/story/49180/jk-takes-360" TargetMode="External"/><Relationship Id="rId29" Type="http://schemas.openxmlformats.org/officeDocument/2006/relationships/hyperlink" Target="https://www.rwbaird.com/siteassets/gib/pdf/electrical-power-solutions-sector-update-september-2026.pdf" TargetMode="External"/><Relationship Id="rId30" Type="http://schemas.openxmlformats.org/officeDocument/2006/relationships/hyperlink" Target="https://www.freightwaves.com/news/us-mexico-trade-smashes-monthly-record-at-nearly-95b" TargetMode="External"/><Relationship Id="rId31" Type="http://schemas.openxmlformats.org/officeDocument/2006/relationships/hyperlink" Target="https://www.freightwaves.com/news/redwood-logistics-acquires-laredo-customs-broker-eelco" TargetMode="External"/><Relationship Id="rId32" Type="http://schemas.openxmlformats.org/officeDocument/2006/relationships/hyperlink" Target="https://www.freightwaves.com/news/from-trucks-to-trade-compliance-logistics-firms-make-strategic-buys" TargetMode="External"/><Relationship Id="rId33" Type="http://schemas.openxmlformats.org/officeDocument/2006/relationships/hyperlink" Target="https://www.lincolninternational.com/perspectives/in-the-press/transport-topics-transport-ma-builds-momentum-alongside-freight-market/" TargetMode="External"/><Relationship Id="rId34" Type="http://schemas.openxmlformats.org/officeDocument/2006/relationships/hyperlink" Target="https://www.youtube.com/watch?v=Gnl833wXRz0" TargetMode="External"/><Relationship Id="rId35" Type="http://schemas.openxmlformats.org/officeDocument/2006/relationships/hyperlink" Target="https://www.cnbc.com/2026/09/02/cnbc-exclusive-transcript-berkshire-hathaway-ceo-greg-abel-speaks-with-cnbcs-squawk-box-today.html" TargetMode="External"/><Relationship Id="rId36" Type="http://schemas.openxmlformats.org/officeDocument/2006/relationships/hyperlink" Target="https://www.youtube.com/watch?v=AhYQUjd_n78" TargetMode="External"/><Relationship Id="rId37" Type="http://schemas.openxmlformats.org/officeDocument/2006/relationships/hyperlink" Target="https://investors.quantaservices.com/_assets/_27cda7558592cc1119359235c3a11955/quantaservices/news/2026-07-30_QUANTA_SERVICES_REPORTS_SECOND_QUARTER_2026_402.pdf" TargetMode="External"/><Relationship Id="rId38" Type="http://schemas.openxmlformats.org/officeDocument/2006/relationships/hyperlink" Target="https://www.franklin-electric.com/company/news/2026/franklin-electric-acquires-cat-pumps-expanding-commercial-and-industrial-flow-control-platform/" TargetMode="External"/><Relationship Id="rId39" Type="http://schemas.openxmlformats.org/officeDocument/2006/relationships/hyperlink" Target="https://www.prnewswire.com/news-releases/precinmac-lp-announces-the-acquisition-of-massachusetts-based-advance-mfg-co-inc-302818691.html" TargetMode="External"/><Relationship Id="rId40" Type="http://schemas.openxmlformats.org/officeDocument/2006/relationships/hyperlink" Target="https://www.mdm.com/news/top-distributor-sectors/flow-control-top-distributor-sectors/ferguson-closes-1-6b-floworks-deal-deepening-flow-control-push/" TargetMode="External"/><Relationship Id="rId41" Type="http://schemas.openxmlformats.org/officeDocument/2006/relationships/hyperlink" Target="https://www.mdm.com/news/featured/featured-blog/ferguson-makes-1-6b-flow-control-bet-with-floworks-deal/" TargetMode="External"/><Relationship Id="rId42" Type="http://schemas.openxmlformats.org/officeDocument/2006/relationships/hyperlink" Target="https://www.mdm.com/news/top-distributor-sectors/gases-welding-equipment/meritus-gas-partners-adds-5-dfw-locations-with-acquisition-of-metroplex-welding-supply/" TargetMode="External"/><Relationship Id="rId43" Type="http://schemas.openxmlformats.org/officeDocument/2006/relationships/hyperlink" Target="https://pulse2.com/limbach-acquires-1901-for-63-million-plus-up-to-6-million-in-earnouts/" TargetMode="External"/><Relationship Id="rId44" Type="http://schemas.openxmlformats.org/officeDocument/2006/relationships/hyperlink" Target="https://www.rermag.com/mergers-acquisitions/news/55397729/bay-crane-acquires-clark-rigging-rental-growing-its-upstate-new-york-presence" TargetMode="External"/><Relationship Id="rId45" Type="http://schemas.openxmlformats.org/officeDocument/2006/relationships/hyperlink" Target="https://wasteadvantagemag.com/clean-harbors-to-acquire-enviroserve/" TargetMode="External"/><Relationship Id="rId46" Type="http://schemas.openxmlformats.org/officeDocument/2006/relationships/hyperlink" Target="https://www.sec.gov/Archives/edgar/data/0000822818/000082281826000031/clh-q22026pressrelease.htm" TargetMode="External"/><Relationship Id="rId47" Type="http://schemas.openxmlformats.org/officeDocument/2006/relationships/hyperlink" Target="https://www.sec.gov/Archives/edgar/data/0001929561/000114036126038548/ef20083265_ex99-1.htm" TargetMode="External"/><Relationship Id="rId48" Type="http://schemas.openxmlformats.org/officeDocument/2006/relationships/hyperlink" Target="https://www.benchmarkintl.com/insights/completed-transactions/benchmark-international-successfully-facilitated-the-transaction-between-the-carmi-companies-and-the-nearshore-company/" TargetMode="External"/><Relationship Id="rId49" Type="http://schemas.openxmlformats.org/officeDocument/2006/relationships/hyperlink" Target="https://www.benchmarkintl.com/insights/completed-transactions/benchmark-international-successfully-facilitated-the-transaction-between-fps-technologies-inc-and-cintas-corporation/" TargetMode="External"/><Relationship Id="rId50" Type="http://schemas.openxmlformats.org/officeDocument/2006/relationships/hyperlink" Target="https://www.benchmarkintl.com/insights/completed-transactions/benchmark-international-successfully-facilitated-the-transaction-between-maxvac-inc-and-dxp-enterprises-inc/" TargetMode="External"/><Relationship Id="rId51" Type="http://schemas.openxmlformats.org/officeDocument/2006/relationships/hyperlink" Target="https://www.benchmarkintl.com/insights/completed-transactions/benchmark-international-facilitated-the-transaction-of-trinity-industrial-services-llc-and-aecon-group-inc/" TargetMode="External"/><Relationship Id="rId52" Type="http://schemas.openxmlformats.org/officeDocument/2006/relationships/hyperlink" Target="https://www.benchmarkintl.com/insights/completed-transactions/benchmark-international-successfully-facilitated-the-transaction-of-invocon-inc-and-cemtrex-inc/" TargetMode="External"/><Relationship Id="rId53" Type="http://schemas.openxmlformats.org/officeDocument/2006/relationships/hyperlink" Target="https://www.benchmarkintl.com/insights/completed-transactions/benchmark-international-successfully-facilitated-the-transaction-between-climate-engineering-inc-and-harris-company/" TargetMode="External"/><Relationship Id="rId54" Type="http://schemas.openxmlformats.org/officeDocument/2006/relationships/hyperlink" Target="https://www.benchmarkintl.com/insights/completed-transactions/benchmark-international-successfully-facilitated-a-transaction-between-briggs-engineering-testing-and-phenna-group/" TargetMode="External"/><Relationship Id="rId55" Type="http://schemas.openxmlformats.org/officeDocument/2006/relationships/hyperlink" Target="https://www.benchmarkintl.com/insights/completed-transactions/benchmark-international-successfully-facilitated-the-transaction-of-capitol-plastics-recycling-inc-and-triumvirate-environmental/" TargetMode="External"/><Relationship Id="rId56" Type="http://schemas.openxmlformats.org/officeDocument/2006/relationships/hyperlink" Target="https://www.benchmarkintl.com/insights/completed-transactions/benchmark-international-successfully-facilitated-the-transaction-between-wesco-chemicals-inc-and-apex-water-and-process-inc/" TargetMode="External"/><Relationship Id="rId57" Type="http://schemas.openxmlformats.org/officeDocument/2006/relationships/hyperlink" Target="https://www.benchmarkintl.com/insights/benchmark-international-successfully-facilitated-the-transaction-between-dw-industries-and-tipco-technologies/" TargetMode="External"/><Relationship Id="rId58" Type="http://schemas.openxmlformats.org/officeDocument/2006/relationships/hyperlink" Target="https://www.benchmarkintl.com/insights/completed-transactions/benchmark-international-successfully-facilitated-the-transaction-between-at-parker-inc-and-assessimus-group-gmbh/" TargetMode="External"/><Relationship Id="rId59" Type="http://schemas.openxmlformats.org/officeDocument/2006/relationships/hyperlink" Target="https://www.benchmarkintl.com/insights/completed-transactions/benchmark-international-successfully-facilitated-the-transaction-between-clark-crane-and-capital-extension-crane-lift/" TargetMode="External"/><Relationship Id="rId60" Type="http://schemas.openxmlformats.org/officeDocument/2006/relationships/hyperlink" Target="https://www.benchmarkintl.com/insights/completed-transactions/benchmark-international-facilitated-the-transaction-of-christian-network-international-to-symbia-logistics/" TargetMode="External"/><Relationship Id="rId61" Type="http://schemas.openxmlformats.org/officeDocument/2006/relationships/hyperlink" Target="https://www.benchmarkintl.com/" TargetMode="External"/><Relationship Id="rId62" Type="http://schemas.openxmlformats.org/officeDocument/2006/relationships/hyperlink" Target="https://jp-hardin.github.io/about/mid-market-practice/insights/industrial-industry-report-q4-2026.html" TargetMode="External"/><Relationship Id="rId63" Type="http://schemas.openxmlformats.org/officeDocument/2006/relationships/hyperlink" Target="https://www.ibba.org/wp-content/uploads/2026/08/mp-highlights-q2-2026.pdf" TargetMode="External"/><Relationship Id="rId64" Type="http://schemas.openxmlformats.org/officeDocument/2006/relationships/hyperlink" Target="https://digitalcommons.pepperdine.edu/gsbm_pcm_pcmr/19" TargetMode="External"/><Relationship Id="rId65" Type="http://schemas.openxmlformats.org/officeDocument/2006/relationships/hyperlink" Target="https://stockanalysis.com/" TargetMode="External"/><Relationship Id="rId66" Type="http://schemas.openxmlformats.org/officeDocument/2006/relationships/hyperlink" Target="https://fred.stlouisfed.org/series/NEWORDER" TargetMode="External"/><Relationship Id="rId67" Type="http://schemas.openxmlformats.org/officeDocument/2006/relationships/hyperlink" Target="https://fred.stlouisfed.org/series/MCUMFN" TargetMode="External"/><Relationship Id="rId68" Type="http://schemas.openxmlformats.org/officeDocument/2006/relationships/hyperlink" Target="https://fred.stlouisfed.org/series/TTLCONS" TargetMode="External"/><Relationship Id="rId69" Type="http://schemas.openxmlformats.org/officeDocument/2006/relationships/hyperlink" Target="https://fred.stlouisfed.org/series/TLMFGCONS" TargetMode="External"/><Relationship Id="rId70" Type="http://schemas.openxmlformats.org/officeDocument/2006/relationships/hyperlink" Target="https://fred.stlouisfed.org/series/WPU1017" TargetMode="External"/><Relationship Id="rId71" Type="http://schemas.openxmlformats.org/officeDocument/2006/relationships/hyperlink" Target="https://fred.stlouisfed.org/series/GASDESM" TargetMode="External"/><Relationship Id="rId72" Type="http://schemas.openxmlformats.org/officeDocument/2006/relationships/hyperlink" Target="https://fred.stlouisfed.org/series/FRGSHPUSM649NCIS" TargetMode="External"/><Relationship Id="rId73" Type="http://schemas.openxmlformats.org/officeDocument/2006/relationships/hyperlink" Target="https://fred.stlouisfed.org/series/GS10"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about/b7ea608c-3502-5da6-986c-4c57d144c940/scratchpad/brief/assets/hero.jpg"/>
          <p:cNvPicPr>
            <a:picLocks noChangeAspect="1"/>
          </p:cNvPicPr>
          <p:nvPr/>
        </p:nvPicPr>
        <p:blipFill>
          <a:blip r:embed="rId3"/>
          <a:srcRect/>
          <a:stretch/>
        </p:blipFill>
        <p:spPr>
          <a:xfrm>
            <a:off x="0" y="0"/>
            <a:ext cx="10058400" cy="7772400"/>
          </a:xfrm>
          <a:prstGeom prst="rect">
            <a:avLst/>
          </a:prstGeom>
        </p:spPr>
      </p:pic>
      <p:sp>
        <p:nvSpPr>
          <p:cNvPr id="3" name="Photo shade"/>
          <p:cNvSpPr/>
          <p:nvPr/>
        </p:nvSpPr>
        <p:spPr>
          <a:xfrm>
            <a:off x="0" y="0"/>
            <a:ext cx="10058400" cy="7772400"/>
          </a:xfrm>
          <a:prstGeom prst="rect">
            <a:avLst/>
          </a:prstGeom>
          <a:solidFill>
            <a:srgbClr val="1B1A1A">
              <a:alpha val="75000"/>
            </a:srgbClr>
          </a:solidFill>
          <a:ln/>
        </p:spPr>
        <p:txBody>
          <a:bodyPr/>
          <a:lstStyle/>
          <a:p>
            <a:endParaRPr lang="en-US"/>
          </a:p>
        </p:txBody>
      </p:sp>
      <p:sp>
        <p:nvSpPr>
          <p:cNvPr id="4" name="Text shade"/>
          <p:cNvSpPr/>
          <p:nvPr/>
        </p:nvSpPr>
        <p:spPr>
          <a:xfrm>
            <a:off x="0" y="0"/>
            <a:ext cx="5715000" cy="7772400"/>
          </a:xfrm>
          <a:prstGeom prst="rect">
            <a:avLst/>
          </a:prstGeom>
          <a:solidFill>
            <a:srgbClr val="1B1A1A">
              <a:alpha val="55000"/>
            </a:srgbClr>
          </a:solidFill>
          <a:ln/>
        </p:spPr>
        <p:txBody>
          <a:bodyPr/>
          <a:lstStyle/>
          <a:p>
            <a:endParaRPr lang="en-US"/>
          </a:p>
        </p:txBody>
      </p:sp>
      <p:sp>
        <p:nvSpPr>
          <p:cNvPr id="5" name="Shape 2"/>
          <p:cNvSpPr/>
          <p:nvPr/>
        </p:nvSpPr>
        <p:spPr>
          <a:xfrm>
            <a:off x="0" y="0"/>
            <a:ext cx="57150" cy="7772400"/>
          </a:xfrm>
          <a:prstGeom prst="rect">
            <a:avLst/>
          </a:prstGeom>
          <a:solidFill>
            <a:srgbClr val="B68757"/>
          </a:solidFill>
          <a:ln/>
        </p:spPr>
        <p:txBody>
          <a:bodyPr/>
          <a:lstStyle/>
          <a:p>
            <a:endParaRPr lang="en-US"/>
          </a:p>
        </p:txBody>
      </p:sp>
      <p:pic>
        <p:nvPicPr>
          <p:cNvPr id="6" name="Image 1" descr="/tmp/claude-0/-home-claude-about/b7ea608c-3502-5da6-986c-4c57d144c940/scratchpad/brief/assets/logo-white.png"/>
          <p:cNvPicPr>
            <a:picLocks noChangeAspect="1"/>
          </p:cNvPicPr>
          <p:nvPr/>
        </p:nvPicPr>
        <p:blipFill>
          <a:blip r:embed="rId4"/>
          <a:stretch>
            <a:fillRect/>
          </a:stretch>
        </p:blipFill>
        <p:spPr>
          <a:xfrm>
            <a:off x="609600" y="571500"/>
            <a:ext cx="2438400" cy="457200"/>
          </a:xfrm>
          <a:prstGeom prst="rect">
            <a:avLst/>
          </a:prstGeom>
        </p:spPr>
      </p:pic>
      <p:sp>
        <p:nvSpPr>
          <p:cNvPr id="7" name="Text 3"/>
          <p:cNvSpPr txBox="1"/>
          <p:nvPr/>
        </p:nvSpPr>
        <p:spPr>
          <a:xfrm>
            <a:off x="609600" y="1143000"/>
            <a:ext cx="3810000" cy="171450"/>
          </a:xfrm>
          <a:prstGeom prst="rect">
            <a:avLst/>
          </a:prstGeom>
          <a:noFill/>
          <a:ln/>
        </p:spPr>
        <p:txBody>
          <a:bodyPr wrap="square" lIns="0" tIns="0" rIns="0" bIns="0" rtlCol="0" anchor="t"/>
          <a:lstStyle/>
          <a:p>
            <a:pPr marL="0" indent="0">
              <a:buNone/>
            </a:pPr>
            <a:r>
              <a:rPr lang="en-US" sz="750" b="1" kern="0" spc="300" dirty="0">
                <a:solidFill>
                  <a:srgbClr val="D3AE84"/>
                </a:solidFill>
              </a:rPr>
              <a:t>MIDDLE MARKET</a:t>
            </a:r>
            <a:endParaRPr lang="en-US" sz="750" dirty="0"/>
          </a:p>
        </p:txBody>
      </p:sp>
      <p:sp>
        <p:nvSpPr>
          <p:cNvPr id="8" name="Text 4"/>
          <p:cNvSpPr txBox="1"/>
          <p:nvPr/>
        </p:nvSpPr>
        <p:spPr>
          <a:xfrm>
            <a:off x="609600" y="2228850"/>
            <a:ext cx="4762500" cy="171450"/>
          </a:xfrm>
          <a:prstGeom prst="rect">
            <a:avLst/>
          </a:prstGeom>
          <a:noFill/>
          <a:ln/>
        </p:spPr>
        <p:txBody>
          <a:bodyPr wrap="square" lIns="0" tIns="0" rIns="0" bIns="0" rtlCol="0" anchor="t"/>
          <a:lstStyle/>
          <a:p>
            <a:pPr marL="0" indent="0">
              <a:buNone/>
            </a:pPr>
            <a:r>
              <a:rPr lang="en-US" sz="825" b="1" kern="0" spc="300" dirty="0">
                <a:solidFill>
                  <a:srgbClr val="D3AE84"/>
                </a:solidFill>
              </a:rPr>
              <a:t>SECTOR REPORT  |  Q4 2026</a:t>
            </a:r>
            <a:endParaRPr lang="en-US" sz="825" dirty="0"/>
          </a:p>
        </p:txBody>
      </p:sp>
      <p:sp>
        <p:nvSpPr>
          <p:cNvPr id="9" name="Text 5"/>
          <p:cNvSpPr txBox="1"/>
          <p:nvPr/>
        </p:nvSpPr>
        <p:spPr>
          <a:xfrm>
            <a:off x="571500" y="2457450"/>
            <a:ext cx="6667500" cy="952500"/>
          </a:xfrm>
          <a:prstGeom prst="rect">
            <a:avLst/>
          </a:prstGeom>
          <a:noFill/>
          <a:ln/>
        </p:spPr>
        <p:txBody>
          <a:bodyPr wrap="square" lIns="0" tIns="0" rIns="0" bIns="0" rtlCol="0" anchor="t"/>
          <a:lstStyle/>
          <a:p>
            <a:pPr marL="0" indent="0">
              <a:buNone/>
            </a:pPr>
            <a:r>
              <a:rPr lang="en-US" sz="6150" kern="0" spc="400" dirty="0">
                <a:solidFill>
                  <a:srgbClr val="FFFFFF"/>
                </a:solidFill>
                <a:latin typeface="+mj-lt" pitchFamily="34" charset="0"/>
              </a:rPr>
              <a:t>INDUSTRIAL</a:t>
            </a:r>
            <a:endParaRPr lang="en-US" sz="6150" dirty="0"/>
          </a:p>
        </p:txBody>
      </p:sp>
      <p:sp>
        <p:nvSpPr>
          <p:cNvPr id="10" name="Shape 6"/>
          <p:cNvSpPr/>
          <p:nvPr/>
        </p:nvSpPr>
        <p:spPr>
          <a:xfrm>
            <a:off x="609600" y="3486150"/>
            <a:ext cx="685800" cy="28575"/>
          </a:xfrm>
          <a:prstGeom prst="rect">
            <a:avLst/>
          </a:prstGeom>
          <a:solidFill>
            <a:srgbClr val="B68757"/>
          </a:solidFill>
          <a:ln/>
        </p:spPr>
        <p:txBody>
          <a:bodyPr/>
          <a:lstStyle/>
          <a:p>
            <a:endParaRPr lang="en-US"/>
          </a:p>
        </p:txBody>
      </p:sp>
      <p:sp>
        <p:nvSpPr>
          <p:cNvPr id="11" name="Text 7"/>
          <p:cNvSpPr txBox="1"/>
          <p:nvPr/>
        </p:nvSpPr>
        <p:spPr>
          <a:xfrm>
            <a:off x="609600" y="3714750"/>
            <a:ext cx="4857750" cy="952500"/>
          </a:xfrm>
          <a:prstGeom prst="rect">
            <a:avLst/>
          </a:prstGeom>
          <a:noFill/>
          <a:ln/>
        </p:spPr>
        <p:txBody>
          <a:bodyPr wrap="square" lIns="0" tIns="0" rIns="0" bIns="0" rtlCol="0" anchor="t"/>
          <a:lstStyle/>
          <a:p>
            <a:pPr marL="0" indent="0">
              <a:lnSpc>
                <a:spcPts val="2175"/>
              </a:lnSpc>
              <a:buNone/>
            </a:pPr>
            <a:r>
              <a:rPr lang="en-US" sz="1500" i="1" dirty="0">
                <a:solidFill>
                  <a:srgbClr val="F4EFE8"/>
                </a:solidFill>
                <a:latin typeface="+mj-lt" pitchFamily="34" charset="0"/>
              </a:rPr>
              <a:t>Order books are full, the deal market has become more selective, and buyers are paying the most for power, data center, aerospace and service revenue.</a:t>
            </a:r>
            <a:endParaRPr lang="en-US" sz="1500" dirty="0"/>
          </a:p>
        </p:txBody>
      </p:sp>
      <p:pic>
        <p:nvPicPr>
          <p:cNvPr id="12" name="Image 2" descr="/tmp/claude-0/-home-claude-about/b7ea608c-3502-5da6-986c-4c57d144c940/scratchpad/brief/pptx/icons/factory_lg.png"/>
          <p:cNvPicPr>
            <a:picLocks noChangeAspect="1"/>
          </p:cNvPicPr>
          <p:nvPr/>
        </p:nvPicPr>
        <p:blipFill>
          <a:blip r:embed="rId5"/>
          <a:stretch>
            <a:fillRect/>
          </a:stretch>
        </p:blipFill>
        <p:spPr>
          <a:xfrm>
            <a:off x="609600" y="5353050"/>
            <a:ext cx="142875" cy="142875"/>
          </a:xfrm>
          <a:prstGeom prst="rect">
            <a:avLst/>
          </a:prstGeom>
        </p:spPr>
      </p:pic>
      <p:sp>
        <p:nvSpPr>
          <p:cNvPr id="13" name="Text 8"/>
          <p:cNvSpPr txBox="1"/>
          <p:nvPr/>
        </p:nvSpPr>
        <p:spPr>
          <a:xfrm>
            <a:off x="838200" y="5334000"/>
            <a:ext cx="4000500" cy="190500"/>
          </a:xfrm>
          <a:prstGeom prst="rect">
            <a:avLst/>
          </a:prstGeom>
          <a:noFill/>
          <a:ln/>
        </p:spPr>
        <p:txBody>
          <a:bodyPr wrap="square" lIns="0" tIns="0" rIns="0" bIns="0" rtlCol="0" anchor="ctr"/>
          <a:lstStyle/>
          <a:p>
            <a:pPr marL="0" indent="0">
              <a:buNone/>
            </a:pPr>
            <a:r>
              <a:rPr lang="en-US" sz="863" dirty="0">
                <a:solidFill>
                  <a:srgbClr val="E8E2DA"/>
                </a:solidFill>
              </a:rPr>
              <a:t>Manufacturing &amp; Industrial Technology</a:t>
            </a:r>
            <a:endParaRPr lang="en-US" sz="863" dirty="0"/>
          </a:p>
        </p:txBody>
      </p:sp>
      <p:pic>
        <p:nvPicPr>
          <p:cNvPr id="14" name="Image 3" descr="/tmp/claude-0/-home-claude-about/b7ea608c-3502-5da6-986c-4c57d144c940/scratchpad/brief/pptx/icons/boxes_lg.png"/>
          <p:cNvPicPr>
            <a:picLocks noChangeAspect="1"/>
          </p:cNvPicPr>
          <p:nvPr/>
        </p:nvPicPr>
        <p:blipFill>
          <a:blip r:embed="rId6"/>
          <a:stretch>
            <a:fillRect/>
          </a:stretch>
        </p:blipFill>
        <p:spPr>
          <a:xfrm>
            <a:off x="609600" y="5572125"/>
            <a:ext cx="142875" cy="142875"/>
          </a:xfrm>
          <a:prstGeom prst="rect">
            <a:avLst/>
          </a:prstGeom>
        </p:spPr>
      </p:pic>
      <p:sp>
        <p:nvSpPr>
          <p:cNvPr id="15" name="Text 9"/>
          <p:cNvSpPr txBox="1"/>
          <p:nvPr/>
        </p:nvSpPr>
        <p:spPr>
          <a:xfrm>
            <a:off x="838200" y="5553075"/>
            <a:ext cx="4000500" cy="190500"/>
          </a:xfrm>
          <a:prstGeom prst="rect">
            <a:avLst/>
          </a:prstGeom>
          <a:noFill/>
          <a:ln/>
        </p:spPr>
        <p:txBody>
          <a:bodyPr wrap="square" lIns="0" tIns="0" rIns="0" bIns="0" rtlCol="0" anchor="ctr"/>
          <a:lstStyle/>
          <a:p>
            <a:pPr marL="0" indent="0">
              <a:buNone/>
            </a:pPr>
            <a:r>
              <a:rPr lang="en-US" sz="863" dirty="0">
                <a:solidFill>
                  <a:srgbClr val="E8E2DA"/>
                </a:solidFill>
              </a:rPr>
              <a:t>Industrial Distribution &amp; Services</a:t>
            </a:r>
            <a:endParaRPr lang="en-US" sz="863" dirty="0"/>
          </a:p>
        </p:txBody>
      </p:sp>
      <p:pic>
        <p:nvPicPr>
          <p:cNvPr id="16" name="Image 4" descr="/tmp/claude-0/-home-claude-about/b7ea608c-3502-5da6-986c-4c57d144c940/scratchpad/brief/pptx/icons/building_lg.png"/>
          <p:cNvPicPr>
            <a:picLocks noChangeAspect="1"/>
          </p:cNvPicPr>
          <p:nvPr/>
        </p:nvPicPr>
        <p:blipFill>
          <a:blip r:embed="rId7"/>
          <a:stretch>
            <a:fillRect/>
          </a:stretch>
        </p:blipFill>
        <p:spPr>
          <a:xfrm>
            <a:off x="609600" y="5791200"/>
            <a:ext cx="142875" cy="142875"/>
          </a:xfrm>
          <a:prstGeom prst="rect">
            <a:avLst/>
          </a:prstGeom>
        </p:spPr>
      </p:pic>
      <p:sp>
        <p:nvSpPr>
          <p:cNvPr id="17" name="Text 10"/>
          <p:cNvSpPr txBox="1"/>
          <p:nvPr/>
        </p:nvSpPr>
        <p:spPr>
          <a:xfrm>
            <a:off x="838200" y="5772150"/>
            <a:ext cx="4000500" cy="190500"/>
          </a:xfrm>
          <a:prstGeom prst="rect">
            <a:avLst/>
          </a:prstGeom>
          <a:noFill/>
          <a:ln/>
        </p:spPr>
        <p:txBody>
          <a:bodyPr wrap="square" lIns="0" tIns="0" rIns="0" bIns="0" rtlCol="0" anchor="ctr"/>
          <a:lstStyle/>
          <a:p>
            <a:pPr marL="0" indent="0">
              <a:buNone/>
            </a:pPr>
            <a:r>
              <a:rPr lang="en-US" sz="863" dirty="0">
                <a:solidFill>
                  <a:srgbClr val="E8E2DA"/>
                </a:solidFill>
              </a:rPr>
              <a:t>Building Products &amp; Construction Services</a:t>
            </a:r>
            <a:endParaRPr lang="en-US" sz="863" dirty="0"/>
          </a:p>
        </p:txBody>
      </p:sp>
      <p:pic>
        <p:nvPicPr>
          <p:cNvPr id="18" name="Image 5" descr="/tmp/claude-0/-home-claude-about/b7ea608c-3502-5da6-986c-4c57d144c940/scratchpad/brief/pptx/icons/bolt_lg.png"/>
          <p:cNvPicPr>
            <a:picLocks noChangeAspect="1"/>
          </p:cNvPicPr>
          <p:nvPr/>
        </p:nvPicPr>
        <p:blipFill>
          <a:blip r:embed="rId8"/>
          <a:stretch>
            <a:fillRect/>
          </a:stretch>
        </p:blipFill>
        <p:spPr>
          <a:xfrm>
            <a:off x="609600" y="6010275"/>
            <a:ext cx="142875" cy="142875"/>
          </a:xfrm>
          <a:prstGeom prst="rect">
            <a:avLst/>
          </a:prstGeom>
        </p:spPr>
      </p:pic>
      <p:sp>
        <p:nvSpPr>
          <p:cNvPr id="19" name="Text 11"/>
          <p:cNvSpPr txBox="1"/>
          <p:nvPr/>
        </p:nvSpPr>
        <p:spPr>
          <a:xfrm>
            <a:off x="838200" y="5991225"/>
            <a:ext cx="4000500" cy="190500"/>
          </a:xfrm>
          <a:prstGeom prst="rect">
            <a:avLst/>
          </a:prstGeom>
          <a:noFill/>
          <a:ln/>
        </p:spPr>
        <p:txBody>
          <a:bodyPr wrap="square" lIns="0" tIns="0" rIns="0" bIns="0" rtlCol="0" anchor="ctr"/>
          <a:lstStyle/>
          <a:p>
            <a:pPr marL="0" indent="0">
              <a:buNone/>
            </a:pPr>
            <a:r>
              <a:rPr lang="en-US" sz="863" dirty="0">
                <a:solidFill>
                  <a:srgbClr val="E8E2DA"/>
                </a:solidFill>
              </a:rPr>
              <a:t>Energy, Power &amp; Environmental Services</a:t>
            </a:r>
            <a:endParaRPr lang="en-US" sz="863" dirty="0"/>
          </a:p>
        </p:txBody>
      </p:sp>
      <p:pic>
        <p:nvPicPr>
          <p:cNvPr id="20" name="Image 6" descr="/tmp/claude-0/-home-claude-about/b7ea608c-3502-5da6-986c-4c57d144c940/scratchpad/brief/pptx/icons/truck_lg.png"/>
          <p:cNvPicPr>
            <a:picLocks noChangeAspect="1"/>
          </p:cNvPicPr>
          <p:nvPr/>
        </p:nvPicPr>
        <p:blipFill>
          <a:blip r:embed="rId9"/>
          <a:stretch>
            <a:fillRect/>
          </a:stretch>
        </p:blipFill>
        <p:spPr>
          <a:xfrm>
            <a:off x="609600" y="6229350"/>
            <a:ext cx="142875" cy="142875"/>
          </a:xfrm>
          <a:prstGeom prst="rect">
            <a:avLst/>
          </a:prstGeom>
        </p:spPr>
      </p:pic>
      <p:sp>
        <p:nvSpPr>
          <p:cNvPr id="21" name="Text 12"/>
          <p:cNvSpPr txBox="1"/>
          <p:nvPr/>
        </p:nvSpPr>
        <p:spPr>
          <a:xfrm>
            <a:off x="838200" y="6210300"/>
            <a:ext cx="4000500" cy="190500"/>
          </a:xfrm>
          <a:prstGeom prst="rect">
            <a:avLst/>
          </a:prstGeom>
          <a:noFill/>
          <a:ln/>
        </p:spPr>
        <p:txBody>
          <a:bodyPr wrap="square" lIns="0" tIns="0" rIns="0" bIns="0" rtlCol="0" anchor="ctr"/>
          <a:lstStyle/>
          <a:p>
            <a:pPr marL="0" indent="0">
              <a:buNone/>
            </a:pPr>
            <a:r>
              <a:rPr lang="en-US" sz="863" dirty="0">
                <a:solidFill>
                  <a:srgbClr val="E8E2DA"/>
                </a:solidFill>
              </a:rPr>
              <a:t>Transportation &amp; Logistics</a:t>
            </a:r>
            <a:endParaRPr lang="en-US" sz="863" dirty="0"/>
          </a:p>
        </p:txBody>
      </p:sp>
      <p:sp>
        <p:nvSpPr>
          <p:cNvPr id="22" name="Text 13"/>
          <p:cNvSpPr txBox="1"/>
          <p:nvPr/>
        </p:nvSpPr>
        <p:spPr>
          <a:xfrm>
            <a:off x="609600" y="7048500"/>
            <a:ext cx="4953000" cy="190500"/>
          </a:xfrm>
          <a:prstGeom prst="rect">
            <a:avLst/>
          </a:prstGeom>
          <a:noFill/>
          <a:ln/>
        </p:spPr>
        <p:txBody>
          <a:bodyPr wrap="square" lIns="0" tIns="0" rIns="0" bIns="0" rtlCol="0" anchor="t"/>
          <a:lstStyle/>
          <a:p>
            <a:pPr marL="0" indent="0">
              <a:buNone/>
            </a:pPr>
            <a:r>
              <a:rPr lang="en-US" sz="863" dirty="0">
                <a:solidFill>
                  <a:srgbClr val="D9D2C8"/>
                </a:solidFill>
              </a:rPr>
              <a:t>October 2026  |  Jared Hardin, Managing Director</a:t>
            </a:r>
            <a:endParaRPr lang="en-US" sz="863" dirty="0"/>
          </a:p>
        </p:txBody>
      </p:sp>
      <p:sp>
        <p:nvSpPr>
          <p:cNvPr id="23" name="Contents panel"/>
          <p:cNvSpPr/>
          <p:nvPr/>
        </p:nvSpPr>
        <p:spPr>
          <a:xfrm>
            <a:off x="6096000" y="4476750"/>
            <a:ext cx="3543300" cy="2667000"/>
          </a:xfrm>
          <a:prstGeom prst="rect">
            <a:avLst/>
          </a:prstGeom>
          <a:solidFill>
            <a:srgbClr val="1B1A1A">
              <a:alpha val="82000"/>
            </a:srgbClr>
          </a:solidFill>
          <a:ln/>
        </p:spPr>
        <p:txBody>
          <a:bodyPr/>
          <a:lstStyle/>
          <a:p>
            <a:endParaRPr lang="en-US"/>
          </a:p>
        </p:txBody>
      </p:sp>
      <p:sp>
        <p:nvSpPr>
          <p:cNvPr id="24" name="Shape 15"/>
          <p:cNvSpPr/>
          <p:nvPr/>
        </p:nvSpPr>
        <p:spPr>
          <a:xfrm>
            <a:off x="6096000" y="4476750"/>
            <a:ext cx="3543300" cy="28575"/>
          </a:xfrm>
          <a:prstGeom prst="rect">
            <a:avLst/>
          </a:prstGeom>
          <a:solidFill>
            <a:srgbClr val="B68757"/>
          </a:solidFill>
          <a:ln/>
        </p:spPr>
        <p:txBody>
          <a:bodyPr/>
          <a:lstStyle/>
          <a:p>
            <a:endParaRPr lang="en-US"/>
          </a:p>
        </p:txBody>
      </p:sp>
      <p:sp>
        <p:nvSpPr>
          <p:cNvPr id="25" name="Text 16"/>
          <p:cNvSpPr txBox="1"/>
          <p:nvPr/>
        </p:nvSpPr>
        <p:spPr>
          <a:xfrm>
            <a:off x="6343650" y="4705350"/>
            <a:ext cx="3048000" cy="152400"/>
          </a:xfrm>
          <a:prstGeom prst="rect">
            <a:avLst/>
          </a:prstGeom>
          <a:noFill/>
          <a:ln/>
        </p:spPr>
        <p:txBody>
          <a:bodyPr wrap="square" lIns="0" tIns="0" rIns="0" bIns="0" rtlCol="0" anchor="t"/>
          <a:lstStyle/>
          <a:p>
            <a:pPr marL="0" indent="0">
              <a:buNone/>
            </a:pPr>
            <a:r>
              <a:rPr lang="en-US" sz="750" b="1" kern="0" spc="250" dirty="0">
                <a:solidFill>
                  <a:srgbClr val="D3AE84"/>
                </a:solidFill>
              </a:rPr>
              <a:t>WHAT’S INCLUDED</a:t>
            </a:r>
            <a:endParaRPr lang="en-US" sz="750" dirty="0"/>
          </a:p>
        </p:txBody>
      </p:sp>
      <p:sp>
        <p:nvSpPr>
          <p:cNvPr id="26" name="Shape 17"/>
          <p:cNvSpPr/>
          <p:nvPr/>
        </p:nvSpPr>
        <p:spPr>
          <a:xfrm>
            <a:off x="6343650" y="4953000"/>
            <a:ext cx="3048000" cy="0"/>
          </a:xfrm>
          <a:prstGeom prst="line">
            <a:avLst/>
          </a:prstGeom>
          <a:noFill/>
          <a:ln w="9525">
            <a:solidFill>
              <a:srgbClr val="6B5A48"/>
            </a:solidFill>
            <a:prstDash val="solid"/>
          </a:ln>
        </p:spPr>
        <p:txBody>
          <a:bodyPr/>
          <a:lstStyle/>
          <a:p>
            <a:endParaRPr lang="en-US"/>
          </a:p>
        </p:txBody>
      </p:sp>
      <p:sp>
        <p:nvSpPr>
          <p:cNvPr id="27" name="Text 18"/>
          <p:cNvSpPr txBox="1"/>
          <p:nvPr/>
        </p:nvSpPr>
        <p:spPr>
          <a:xfrm>
            <a:off x="6343650" y="5067300"/>
            <a:ext cx="342900" cy="266700"/>
          </a:xfrm>
          <a:prstGeom prst="rect">
            <a:avLst/>
          </a:prstGeom>
          <a:noFill/>
          <a:ln/>
        </p:spPr>
        <p:txBody>
          <a:bodyPr wrap="square" lIns="0" tIns="0" rIns="0" bIns="0" rtlCol="0" anchor="t"/>
          <a:lstStyle/>
          <a:p>
            <a:pPr marL="0" indent="0">
              <a:buNone/>
            </a:pPr>
            <a:r>
              <a:rPr lang="en-US" sz="1650" dirty="0">
                <a:solidFill>
                  <a:srgbClr val="D3AE84"/>
                </a:solidFill>
                <a:latin typeface="+mj-lt" pitchFamily="34" charset="0"/>
              </a:rPr>
              <a:t>01</a:t>
            </a:r>
            <a:endParaRPr lang="en-US" sz="1650" dirty="0"/>
          </a:p>
        </p:txBody>
      </p:sp>
      <p:sp>
        <p:nvSpPr>
          <p:cNvPr id="28" name="Text 19"/>
          <p:cNvSpPr txBox="1"/>
          <p:nvPr/>
        </p:nvSpPr>
        <p:spPr>
          <a:xfrm>
            <a:off x="6838950" y="5057775"/>
            <a:ext cx="2552700" cy="228600"/>
          </a:xfrm>
          <a:prstGeom prst="rect">
            <a:avLst/>
          </a:prstGeom>
          <a:noFill/>
          <a:ln/>
        </p:spPr>
        <p:txBody>
          <a:bodyPr wrap="square" lIns="0" tIns="0" rIns="0" bIns="0" rtlCol="0" anchor="t"/>
          <a:lstStyle/>
          <a:p>
            <a:pPr marL="0" indent="0">
              <a:buNone/>
            </a:pPr>
            <a:r>
              <a:rPr lang="en-US" sz="1350" b="1" dirty="0">
                <a:solidFill>
                  <a:srgbClr val="FFFFFF"/>
                </a:solidFill>
                <a:latin typeface="+mj-lt" pitchFamily="34" charset="0"/>
              </a:rPr>
              <a:t>Insights</a:t>
            </a:r>
            <a:endParaRPr lang="en-US" sz="1350" dirty="0"/>
          </a:p>
        </p:txBody>
      </p:sp>
      <p:sp>
        <p:nvSpPr>
          <p:cNvPr id="29" name="Text 20"/>
          <p:cNvSpPr txBox="1"/>
          <p:nvPr/>
        </p:nvSpPr>
        <p:spPr>
          <a:xfrm>
            <a:off x="6838950" y="5286375"/>
            <a:ext cx="2552700" cy="323850"/>
          </a:xfrm>
          <a:prstGeom prst="rect">
            <a:avLst/>
          </a:prstGeom>
          <a:noFill/>
          <a:ln/>
        </p:spPr>
        <p:txBody>
          <a:bodyPr wrap="square" lIns="0" tIns="0" rIns="0" bIns="0" rtlCol="0" anchor="t"/>
          <a:lstStyle/>
          <a:p>
            <a:pPr marL="0" indent="0">
              <a:lnSpc>
                <a:spcPts val="1125"/>
              </a:lnSpc>
              <a:buNone/>
            </a:pPr>
            <a:r>
              <a:rPr lang="en-US" sz="825" dirty="0">
                <a:solidFill>
                  <a:srgbClr val="D9D2C8"/>
                </a:solidFill>
              </a:rPr>
              <a:t>Market insights, the power demand buildout and a featured engagement</a:t>
            </a:r>
            <a:endParaRPr lang="en-US" sz="825" dirty="0"/>
          </a:p>
        </p:txBody>
      </p:sp>
      <p:sp>
        <p:nvSpPr>
          <p:cNvPr id="30" name="Shape 21"/>
          <p:cNvSpPr/>
          <p:nvPr/>
        </p:nvSpPr>
        <p:spPr>
          <a:xfrm>
            <a:off x="6343650" y="5657850"/>
            <a:ext cx="3048000" cy="0"/>
          </a:xfrm>
          <a:prstGeom prst="line">
            <a:avLst/>
          </a:prstGeom>
          <a:noFill/>
          <a:ln w="9525">
            <a:solidFill>
              <a:srgbClr val="6B5A48"/>
            </a:solidFill>
            <a:prstDash val="solid"/>
          </a:ln>
        </p:spPr>
        <p:txBody>
          <a:bodyPr/>
          <a:lstStyle/>
          <a:p>
            <a:endParaRPr lang="en-US"/>
          </a:p>
        </p:txBody>
      </p:sp>
      <p:sp>
        <p:nvSpPr>
          <p:cNvPr id="31" name="Text 22"/>
          <p:cNvSpPr txBox="1"/>
          <p:nvPr/>
        </p:nvSpPr>
        <p:spPr>
          <a:xfrm>
            <a:off x="6343650" y="5772150"/>
            <a:ext cx="342900" cy="266700"/>
          </a:xfrm>
          <a:prstGeom prst="rect">
            <a:avLst/>
          </a:prstGeom>
          <a:noFill/>
          <a:ln/>
        </p:spPr>
        <p:txBody>
          <a:bodyPr wrap="square" lIns="0" tIns="0" rIns="0" bIns="0" rtlCol="0" anchor="t"/>
          <a:lstStyle/>
          <a:p>
            <a:pPr marL="0" indent="0">
              <a:buNone/>
            </a:pPr>
            <a:r>
              <a:rPr lang="en-US" sz="1650" dirty="0">
                <a:solidFill>
                  <a:srgbClr val="D3AE84"/>
                </a:solidFill>
                <a:latin typeface="+mj-lt" pitchFamily="34" charset="0"/>
              </a:rPr>
              <a:t>02</a:t>
            </a:r>
            <a:endParaRPr lang="en-US" sz="1650" dirty="0"/>
          </a:p>
        </p:txBody>
      </p:sp>
      <p:sp>
        <p:nvSpPr>
          <p:cNvPr id="32" name="Text 23"/>
          <p:cNvSpPr txBox="1"/>
          <p:nvPr/>
        </p:nvSpPr>
        <p:spPr>
          <a:xfrm>
            <a:off x="6838950" y="5762625"/>
            <a:ext cx="2552700" cy="228600"/>
          </a:xfrm>
          <a:prstGeom prst="rect">
            <a:avLst/>
          </a:prstGeom>
          <a:noFill/>
          <a:ln/>
        </p:spPr>
        <p:txBody>
          <a:bodyPr wrap="square" lIns="0" tIns="0" rIns="0" bIns="0" rtlCol="0" anchor="t"/>
          <a:lstStyle/>
          <a:p>
            <a:pPr marL="0" indent="0">
              <a:buNone/>
            </a:pPr>
            <a:r>
              <a:rPr lang="en-US" sz="1350" b="1" dirty="0">
                <a:solidFill>
                  <a:srgbClr val="FFFFFF"/>
                </a:solidFill>
                <a:latin typeface="+mj-lt" pitchFamily="34" charset="0"/>
              </a:rPr>
              <a:t>Sector Activity</a:t>
            </a:r>
            <a:endParaRPr lang="en-US" sz="1350" dirty="0"/>
          </a:p>
        </p:txBody>
      </p:sp>
      <p:sp>
        <p:nvSpPr>
          <p:cNvPr id="33" name="Text 24"/>
          <p:cNvSpPr txBox="1"/>
          <p:nvPr/>
        </p:nvSpPr>
        <p:spPr>
          <a:xfrm>
            <a:off x="6838950" y="5991225"/>
            <a:ext cx="2552700" cy="323850"/>
          </a:xfrm>
          <a:prstGeom prst="rect">
            <a:avLst/>
          </a:prstGeom>
          <a:noFill/>
          <a:ln/>
        </p:spPr>
        <p:txBody>
          <a:bodyPr wrap="square" lIns="0" tIns="0" rIns="0" bIns="0" rtlCol="0" anchor="t"/>
          <a:lstStyle/>
          <a:p>
            <a:pPr marL="0" indent="0">
              <a:lnSpc>
                <a:spcPts val="1125"/>
              </a:lnSpc>
              <a:buNone/>
            </a:pPr>
            <a:r>
              <a:rPr lang="en-US" sz="825" dirty="0">
                <a:solidFill>
                  <a:srgbClr val="D9D2C8"/>
                </a:solidFill>
              </a:rPr>
              <a:t>Recent transactions, public company valuation and operating metrics, and economic trends</a:t>
            </a:r>
            <a:endParaRPr lang="en-US" sz="825" dirty="0"/>
          </a:p>
        </p:txBody>
      </p:sp>
      <p:sp>
        <p:nvSpPr>
          <p:cNvPr id="34" name="Shape 25"/>
          <p:cNvSpPr/>
          <p:nvPr/>
        </p:nvSpPr>
        <p:spPr>
          <a:xfrm>
            <a:off x="6343650" y="6362700"/>
            <a:ext cx="3048000" cy="0"/>
          </a:xfrm>
          <a:prstGeom prst="line">
            <a:avLst/>
          </a:prstGeom>
          <a:noFill/>
          <a:ln w="9525">
            <a:solidFill>
              <a:srgbClr val="6B5A48"/>
            </a:solidFill>
            <a:prstDash val="solid"/>
          </a:ln>
        </p:spPr>
        <p:txBody>
          <a:bodyPr/>
          <a:lstStyle/>
          <a:p>
            <a:endParaRPr lang="en-US"/>
          </a:p>
        </p:txBody>
      </p:sp>
      <p:sp>
        <p:nvSpPr>
          <p:cNvPr id="35" name="Text 26"/>
          <p:cNvSpPr txBox="1"/>
          <p:nvPr/>
        </p:nvSpPr>
        <p:spPr>
          <a:xfrm>
            <a:off x="6343650" y="6477000"/>
            <a:ext cx="342900" cy="266700"/>
          </a:xfrm>
          <a:prstGeom prst="rect">
            <a:avLst/>
          </a:prstGeom>
          <a:noFill/>
          <a:ln/>
        </p:spPr>
        <p:txBody>
          <a:bodyPr wrap="square" lIns="0" tIns="0" rIns="0" bIns="0" rtlCol="0" anchor="t"/>
          <a:lstStyle/>
          <a:p>
            <a:pPr marL="0" indent="0">
              <a:buNone/>
            </a:pPr>
            <a:r>
              <a:rPr lang="en-US" sz="1650" dirty="0">
                <a:solidFill>
                  <a:srgbClr val="D3AE84"/>
                </a:solidFill>
                <a:latin typeface="+mj-lt" pitchFamily="34" charset="0"/>
              </a:rPr>
              <a:t>03</a:t>
            </a:r>
            <a:endParaRPr lang="en-US" sz="1650" dirty="0"/>
          </a:p>
        </p:txBody>
      </p:sp>
      <p:sp>
        <p:nvSpPr>
          <p:cNvPr id="36" name="Text 27"/>
          <p:cNvSpPr txBox="1"/>
          <p:nvPr/>
        </p:nvSpPr>
        <p:spPr>
          <a:xfrm>
            <a:off x="6838950" y="6467475"/>
            <a:ext cx="2552700" cy="228600"/>
          </a:xfrm>
          <a:prstGeom prst="rect">
            <a:avLst/>
          </a:prstGeom>
          <a:noFill/>
          <a:ln/>
        </p:spPr>
        <p:txBody>
          <a:bodyPr wrap="square" lIns="0" tIns="0" rIns="0" bIns="0" rtlCol="0" anchor="t"/>
          <a:lstStyle/>
          <a:p>
            <a:pPr marL="0" indent="0">
              <a:buNone/>
            </a:pPr>
            <a:r>
              <a:rPr lang="en-US" sz="1350" b="1" dirty="0">
                <a:solidFill>
                  <a:srgbClr val="FFFFFF"/>
                </a:solidFill>
                <a:latin typeface="+mj-lt" pitchFamily="34" charset="0"/>
              </a:rPr>
              <a:t>Connect With Us</a:t>
            </a:r>
            <a:endParaRPr lang="en-US" sz="1350" dirty="0"/>
          </a:p>
        </p:txBody>
      </p:sp>
      <p:sp>
        <p:nvSpPr>
          <p:cNvPr id="37" name="Text 28"/>
          <p:cNvSpPr txBox="1"/>
          <p:nvPr/>
        </p:nvSpPr>
        <p:spPr>
          <a:xfrm>
            <a:off x="6838950" y="6696075"/>
            <a:ext cx="2552700" cy="323850"/>
          </a:xfrm>
          <a:prstGeom prst="rect">
            <a:avLst/>
          </a:prstGeom>
          <a:noFill/>
          <a:ln/>
        </p:spPr>
        <p:txBody>
          <a:bodyPr wrap="square" lIns="0" tIns="0" rIns="0" bIns="0" rtlCol="0" anchor="t"/>
          <a:lstStyle/>
          <a:p>
            <a:pPr marL="0" indent="0">
              <a:lnSpc>
                <a:spcPts val="1125"/>
              </a:lnSpc>
              <a:buNone/>
            </a:pPr>
            <a:r>
              <a:rPr lang="en-US" sz="825" dirty="0">
                <a:solidFill>
                  <a:srgbClr val="D9D2C8"/>
                </a:solidFill>
              </a:rPr>
              <a:t>The Middle Market industrial team</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claude-0/-home-claude-about/b7ea608c-3502-5da6-986c-4c57d144c940/scratchpad/brief/assets/robots.jpg"/>
          <p:cNvPicPr>
            <a:picLocks noChangeAspect="1"/>
          </p:cNvPicPr>
          <p:nvPr/>
        </p:nvPicPr>
        <p:blipFill>
          <a:blip r:embed="rId3"/>
          <a:srcRect/>
          <a:stretch/>
        </p:blipFill>
        <p:spPr>
          <a:xfrm>
            <a:off x="5676900" y="0"/>
            <a:ext cx="4381500" cy="7772400"/>
          </a:xfrm>
          <a:prstGeom prst="rect">
            <a:avLst/>
          </a:prstGeom>
        </p:spPr>
      </p:pic>
      <p:sp>
        <p:nvSpPr>
          <p:cNvPr id="3" name="Photo edge shade"/>
          <p:cNvSpPr/>
          <p:nvPr/>
        </p:nvSpPr>
        <p:spPr>
          <a:xfrm>
            <a:off x="5676900" y="0"/>
            <a:ext cx="1333500" cy="7772400"/>
          </a:xfrm>
          <a:prstGeom prst="rect">
            <a:avLst/>
          </a:prstGeom>
          <a:solidFill>
            <a:srgbClr val="1B1A1A">
              <a:alpha val="30000"/>
            </a:srgbClr>
          </a:solidFill>
          <a:ln/>
        </p:spPr>
        <p:txBody>
          <a:bodyPr/>
          <a:lstStyle/>
          <a:p>
            <a:endParaRPr lang="en-US"/>
          </a:p>
        </p:txBody>
      </p:sp>
      <p:sp>
        <p:nvSpPr>
          <p:cNvPr id="4" name="Shape 1"/>
          <p:cNvSpPr/>
          <p:nvPr/>
        </p:nvSpPr>
        <p:spPr>
          <a:xfrm>
            <a:off x="5619750" y="0"/>
            <a:ext cx="57150" cy="7772400"/>
          </a:xfrm>
          <a:prstGeom prst="rect">
            <a:avLst/>
          </a:prstGeom>
          <a:solidFill>
            <a:srgbClr val="B68757"/>
          </a:solidFill>
          <a:ln/>
        </p:spPr>
        <p:txBody>
          <a:bodyPr/>
          <a:lstStyle/>
          <a:p>
            <a:endParaRPr lang="en-US"/>
          </a:p>
        </p:txBody>
      </p:sp>
      <p:sp>
        <p:nvSpPr>
          <p:cNvPr id="5" name="Text 2"/>
          <p:cNvSpPr txBox="1"/>
          <p:nvPr/>
        </p:nvSpPr>
        <p:spPr>
          <a:xfrm>
            <a:off x="571500" y="1333500"/>
            <a:ext cx="3810000" cy="1238250"/>
          </a:xfrm>
          <a:prstGeom prst="rect">
            <a:avLst/>
          </a:prstGeom>
          <a:noFill/>
          <a:ln/>
        </p:spPr>
        <p:txBody>
          <a:bodyPr wrap="square" lIns="0" tIns="0" rIns="0" bIns="0" rtlCol="0" anchor="t"/>
          <a:lstStyle/>
          <a:p>
            <a:pPr marL="0" indent="0">
              <a:buNone/>
            </a:pPr>
            <a:r>
              <a:rPr lang="en-US" sz="9000" kern="0" spc="200" dirty="0">
                <a:solidFill>
                  <a:srgbClr val="B68757"/>
                </a:solidFill>
                <a:latin typeface="+mj-lt" pitchFamily="34" charset="0"/>
              </a:rPr>
              <a:t>01</a:t>
            </a:r>
            <a:endParaRPr lang="en-US" sz="9000" dirty="0"/>
          </a:p>
        </p:txBody>
      </p:sp>
      <p:sp>
        <p:nvSpPr>
          <p:cNvPr id="6" name="Text 2"/>
          <p:cNvSpPr>
            <a:spLocks noGrp="1"/>
          </p:cNvSpPr>
          <p:nvPr>
            <p:ph type="title" idx="104" hasCustomPrompt="1"/>
          </p:nvPr>
        </p:nvSpPr>
        <p:spPr>
          <a:xfrm>
            <a:off x="609600" y="2667000"/>
            <a:ext cx="4762500" cy="666750"/>
          </a:xfrm>
          <a:prstGeom prst="rect">
            <a:avLst/>
          </a:prstGeom>
          <a:noFill/>
          <a:ln/>
        </p:spPr>
        <p:txBody>
          <a:bodyPr wrap="square" lIns="0" tIns="0" rIns="0" bIns="0" rtlCol="0" anchor="t"/>
          <a:lstStyle/>
          <a:p>
            <a:pPr marL="0" indent="0" algn="l">
              <a:buNone/>
            </a:pPr>
            <a:r>
              <a:rPr lang="en-US" sz="4050" b="1" dirty="0">
                <a:solidFill>
                  <a:srgbClr val="FFFFFF"/>
                </a:solidFill>
              </a:rPr>
              <a:t>Insights</a:t>
            </a:r>
            <a:endParaRPr lang="en-US" sz="4050" dirty="0"/>
          </a:p>
        </p:txBody>
      </p:sp>
      <p:sp>
        <p:nvSpPr>
          <p:cNvPr id="7" name="Shape 4"/>
          <p:cNvSpPr/>
          <p:nvPr/>
        </p:nvSpPr>
        <p:spPr>
          <a:xfrm>
            <a:off x="609600" y="3486150"/>
            <a:ext cx="609600" cy="19050"/>
          </a:xfrm>
          <a:prstGeom prst="rect">
            <a:avLst/>
          </a:prstGeom>
          <a:solidFill>
            <a:srgbClr val="B68757"/>
          </a:solidFill>
          <a:ln/>
        </p:spPr>
        <p:txBody>
          <a:bodyPr/>
          <a:lstStyle/>
          <a:p>
            <a:endParaRPr lang="en-US"/>
          </a:p>
        </p:txBody>
      </p:sp>
      <p:sp>
        <p:nvSpPr>
          <p:cNvPr id="8" name="Text 5"/>
          <p:cNvSpPr txBox="1"/>
          <p:nvPr/>
        </p:nvSpPr>
        <p:spPr>
          <a:xfrm>
            <a:off x="609600" y="3695700"/>
            <a:ext cx="4572000" cy="1428750"/>
          </a:xfrm>
          <a:prstGeom prst="rect">
            <a:avLst/>
          </a:prstGeom>
          <a:noFill/>
          <a:ln/>
        </p:spPr>
        <p:txBody>
          <a:bodyPr wrap="square" lIns="0" tIns="0" rIns="0" bIns="0" rtlCol="0" anchor="t"/>
          <a:lstStyle/>
          <a:p>
            <a:pPr marL="0" indent="0">
              <a:lnSpc>
                <a:spcPts val="1575"/>
              </a:lnSpc>
              <a:buNone/>
            </a:pPr>
            <a:r>
              <a:rPr lang="en-US" sz="1013" dirty="0">
                <a:solidFill>
                  <a:srgbClr val="E8E2DA"/>
                </a:solidFill>
              </a:rPr>
              <a:t>American manufacturing has expanded for nine consecutive months, and acquirers in every industrial segment are buying capacity that already exists because skilled labor is scarce and new equipment takes a long time to arrive. Borrowing costs rose in September, and buyers have become more selective about what they pay for.</a:t>
            </a:r>
            <a:endParaRPr lang="en-US" sz="1013" dirty="0"/>
          </a:p>
        </p:txBody>
      </p:sp>
      <p:sp>
        <p:nvSpPr>
          <p:cNvPr id="9" name="Shape 6"/>
          <p:cNvSpPr/>
          <p:nvPr/>
        </p:nvSpPr>
        <p:spPr>
          <a:xfrm>
            <a:off x="609600" y="5295900"/>
            <a:ext cx="4476750" cy="0"/>
          </a:xfrm>
          <a:prstGeom prst="line">
            <a:avLst/>
          </a:prstGeom>
          <a:noFill/>
          <a:ln w="9525">
            <a:solidFill>
              <a:srgbClr val="5B4E40"/>
            </a:solidFill>
            <a:prstDash val="solid"/>
          </a:ln>
        </p:spPr>
        <p:txBody>
          <a:bodyPr/>
          <a:lstStyle/>
          <a:p>
            <a:endParaRPr lang="en-US"/>
          </a:p>
        </p:txBody>
      </p:sp>
      <p:sp>
        <p:nvSpPr>
          <p:cNvPr id="10" name="Text 7"/>
          <p:cNvSpPr txBox="1"/>
          <p:nvPr/>
        </p:nvSpPr>
        <p:spPr>
          <a:xfrm>
            <a:off x="609600" y="5391150"/>
            <a:ext cx="285750" cy="171450"/>
          </a:xfrm>
          <a:prstGeom prst="rect">
            <a:avLst/>
          </a:prstGeom>
          <a:noFill/>
          <a:ln/>
        </p:spPr>
        <p:txBody>
          <a:bodyPr wrap="square" lIns="0" tIns="0" rIns="0" bIns="0" rtlCol="0" anchor="t"/>
          <a:lstStyle/>
          <a:p>
            <a:pPr marL="0" indent="0">
              <a:buNone/>
            </a:pPr>
            <a:r>
              <a:rPr lang="en-US" sz="825" dirty="0">
                <a:solidFill>
                  <a:srgbClr val="D3AE84"/>
                </a:solidFill>
                <a:latin typeface="+mj-lt" pitchFamily="34" charset="0"/>
              </a:rPr>
              <a:t>03</a:t>
            </a:r>
            <a:endParaRPr lang="en-US" sz="825" dirty="0"/>
          </a:p>
        </p:txBody>
      </p:sp>
      <p:sp>
        <p:nvSpPr>
          <p:cNvPr id="11" name="Text 8"/>
          <p:cNvSpPr txBox="1"/>
          <p:nvPr/>
        </p:nvSpPr>
        <p:spPr>
          <a:xfrm>
            <a:off x="971550" y="5372100"/>
            <a:ext cx="4095750" cy="209550"/>
          </a:xfrm>
          <a:prstGeom prst="rect">
            <a:avLst/>
          </a:prstGeom>
          <a:noFill/>
          <a:ln/>
        </p:spPr>
        <p:txBody>
          <a:bodyPr wrap="square" lIns="0" tIns="0" rIns="0" bIns="0" rtlCol="0" anchor="t"/>
          <a:lstStyle/>
          <a:p>
            <a:pPr marL="0" indent="0">
              <a:buNone/>
            </a:pPr>
            <a:r>
              <a:rPr lang="en-US" sz="975" dirty="0">
                <a:solidFill>
                  <a:srgbClr val="F4EFE8"/>
                </a:solidFill>
              </a:rPr>
              <a:t>Market insights for the fourth quarter of 2026</a:t>
            </a:r>
            <a:endParaRPr lang="en-US" sz="975" dirty="0"/>
          </a:p>
        </p:txBody>
      </p:sp>
      <p:sp>
        <p:nvSpPr>
          <p:cNvPr id="12" name="Shape 9"/>
          <p:cNvSpPr/>
          <p:nvPr/>
        </p:nvSpPr>
        <p:spPr>
          <a:xfrm>
            <a:off x="609600" y="5648325"/>
            <a:ext cx="4476750" cy="0"/>
          </a:xfrm>
          <a:prstGeom prst="line">
            <a:avLst/>
          </a:prstGeom>
          <a:noFill/>
          <a:ln w="9525">
            <a:solidFill>
              <a:srgbClr val="5B4E40"/>
            </a:solidFill>
            <a:prstDash val="solid"/>
          </a:ln>
        </p:spPr>
        <p:txBody>
          <a:bodyPr/>
          <a:lstStyle/>
          <a:p>
            <a:endParaRPr lang="en-US"/>
          </a:p>
        </p:txBody>
      </p:sp>
      <p:sp>
        <p:nvSpPr>
          <p:cNvPr id="13" name="Text 10"/>
          <p:cNvSpPr txBox="1"/>
          <p:nvPr/>
        </p:nvSpPr>
        <p:spPr>
          <a:xfrm>
            <a:off x="609600" y="5743575"/>
            <a:ext cx="285750" cy="171450"/>
          </a:xfrm>
          <a:prstGeom prst="rect">
            <a:avLst/>
          </a:prstGeom>
          <a:noFill/>
          <a:ln/>
        </p:spPr>
        <p:txBody>
          <a:bodyPr wrap="square" lIns="0" tIns="0" rIns="0" bIns="0" rtlCol="0" anchor="t"/>
          <a:lstStyle/>
          <a:p>
            <a:pPr marL="0" indent="0">
              <a:buNone/>
            </a:pPr>
            <a:r>
              <a:rPr lang="en-US" sz="825" dirty="0">
                <a:solidFill>
                  <a:srgbClr val="D3AE84"/>
                </a:solidFill>
                <a:latin typeface="+mj-lt" pitchFamily="34" charset="0"/>
              </a:rPr>
              <a:t>04</a:t>
            </a:r>
            <a:endParaRPr lang="en-US" sz="825" dirty="0"/>
          </a:p>
        </p:txBody>
      </p:sp>
      <p:sp>
        <p:nvSpPr>
          <p:cNvPr id="14" name="Text 11"/>
          <p:cNvSpPr txBox="1"/>
          <p:nvPr/>
        </p:nvSpPr>
        <p:spPr>
          <a:xfrm>
            <a:off x="971550" y="5724525"/>
            <a:ext cx="4095750" cy="209550"/>
          </a:xfrm>
          <a:prstGeom prst="rect">
            <a:avLst/>
          </a:prstGeom>
          <a:noFill/>
          <a:ln/>
        </p:spPr>
        <p:txBody>
          <a:bodyPr wrap="square" lIns="0" tIns="0" rIns="0" bIns="0" rtlCol="0" anchor="t"/>
          <a:lstStyle/>
          <a:p>
            <a:pPr marL="0" indent="0">
              <a:buNone/>
            </a:pPr>
            <a:r>
              <a:rPr lang="en-US" sz="975" dirty="0">
                <a:solidFill>
                  <a:srgbClr val="F4EFE8"/>
                </a:solidFill>
              </a:rPr>
              <a:t>Power demand: the buildout reaches every industrial segment</a:t>
            </a:r>
            <a:endParaRPr lang="en-US" sz="975" dirty="0"/>
          </a:p>
        </p:txBody>
      </p:sp>
      <p:sp>
        <p:nvSpPr>
          <p:cNvPr id="15" name="Shape 12"/>
          <p:cNvSpPr/>
          <p:nvPr/>
        </p:nvSpPr>
        <p:spPr>
          <a:xfrm>
            <a:off x="609600" y="6000750"/>
            <a:ext cx="4476750" cy="0"/>
          </a:xfrm>
          <a:prstGeom prst="line">
            <a:avLst/>
          </a:prstGeom>
          <a:noFill/>
          <a:ln w="9525">
            <a:solidFill>
              <a:srgbClr val="5B4E40"/>
            </a:solidFill>
            <a:prstDash val="solid"/>
          </a:ln>
        </p:spPr>
        <p:txBody>
          <a:bodyPr/>
          <a:lstStyle/>
          <a:p>
            <a:endParaRPr lang="en-US"/>
          </a:p>
        </p:txBody>
      </p:sp>
      <p:sp>
        <p:nvSpPr>
          <p:cNvPr id="16" name="Text 13"/>
          <p:cNvSpPr txBox="1"/>
          <p:nvPr/>
        </p:nvSpPr>
        <p:spPr>
          <a:xfrm>
            <a:off x="609600" y="6096000"/>
            <a:ext cx="285750" cy="171450"/>
          </a:xfrm>
          <a:prstGeom prst="rect">
            <a:avLst/>
          </a:prstGeom>
          <a:noFill/>
          <a:ln/>
        </p:spPr>
        <p:txBody>
          <a:bodyPr wrap="square" lIns="0" tIns="0" rIns="0" bIns="0" rtlCol="0" anchor="t"/>
          <a:lstStyle/>
          <a:p>
            <a:pPr marL="0" indent="0">
              <a:buNone/>
            </a:pPr>
            <a:r>
              <a:rPr lang="en-US" sz="825" dirty="0">
                <a:solidFill>
                  <a:srgbClr val="D3AE84"/>
                </a:solidFill>
                <a:latin typeface="+mj-lt" pitchFamily="34" charset="0"/>
              </a:rPr>
              <a:t>05</a:t>
            </a:r>
            <a:endParaRPr lang="en-US" sz="825" dirty="0"/>
          </a:p>
        </p:txBody>
      </p:sp>
      <p:sp>
        <p:nvSpPr>
          <p:cNvPr id="17" name="Text 14"/>
          <p:cNvSpPr txBox="1"/>
          <p:nvPr/>
        </p:nvSpPr>
        <p:spPr>
          <a:xfrm>
            <a:off x="971550" y="6076950"/>
            <a:ext cx="4095750" cy="209550"/>
          </a:xfrm>
          <a:prstGeom prst="rect">
            <a:avLst/>
          </a:prstGeom>
          <a:noFill/>
          <a:ln/>
        </p:spPr>
        <p:txBody>
          <a:bodyPr wrap="square" lIns="0" tIns="0" rIns="0" bIns="0" rtlCol="0" anchor="t"/>
          <a:lstStyle/>
          <a:p>
            <a:pPr marL="0" indent="0">
              <a:buNone/>
            </a:pPr>
            <a:r>
              <a:rPr lang="en-US" sz="975" dirty="0">
                <a:solidFill>
                  <a:srgbClr val="F4EFE8"/>
                </a:solidFill>
              </a:rPr>
              <a:t>Featured engagement: The Carmi Companies</a:t>
            </a:r>
            <a:endParaRPr lang="en-US" sz="975" dirty="0"/>
          </a:p>
        </p:txBody>
      </p:sp>
      <p:sp>
        <p:nvSpPr>
          <p:cNvPr id="18" name="Shape 15"/>
          <p:cNvSpPr/>
          <p:nvPr/>
        </p:nvSpPr>
        <p:spPr>
          <a:xfrm>
            <a:off x="609600" y="6353175"/>
            <a:ext cx="4476750" cy="0"/>
          </a:xfrm>
          <a:prstGeom prst="line">
            <a:avLst/>
          </a:prstGeom>
          <a:noFill/>
          <a:ln w="9525">
            <a:solidFill>
              <a:srgbClr val="5B4E40"/>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Market Insights: Q4 2026</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Demand is broad, buyers are organized around platforms, and financing became more expensive in September.</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Figures are as reported by the linked sources. Middle-market multiple and debt figures are GF Data sponsor-reported averages for the first and second quarters of 2026.</a:t>
            </a:r>
            <a:endParaRPr lang="en-US" sz="675" dirty="0"/>
          </a:p>
        </p:txBody>
      </p:sp>
      <p:sp>
        <p:nvSpPr>
          <p:cNvPr id="5" name="Owners panel"/>
          <p:cNvSpPr/>
          <p:nvPr/>
        </p:nvSpPr>
        <p:spPr>
          <a:xfrm>
            <a:off x="419100" y="1238250"/>
            <a:ext cx="2495550" cy="5695950"/>
          </a:xfrm>
          <a:prstGeom prst="rect">
            <a:avLst/>
          </a:prstGeom>
          <a:solidFill>
            <a:srgbClr val="1B1A1A"/>
          </a:solidFill>
          <a:ln/>
        </p:spPr>
        <p:txBody>
          <a:bodyPr/>
          <a:lstStyle/>
          <a:p>
            <a:endParaRPr lang="en-US"/>
          </a:p>
        </p:txBody>
      </p:sp>
      <p:pic>
        <p:nvPicPr>
          <p:cNvPr id="6" name="Image 0" descr="/tmp/claude-0/-home-claude-about/b7ea608c-3502-5da6-986c-4c57d144c940/scratchpad/brief/assets/technicians.jpg"/>
          <p:cNvPicPr>
            <a:picLocks noChangeAspect="1"/>
          </p:cNvPicPr>
          <p:nvPr/>
        </p:nvPicPr>
        <p:blipFill>
          <a:blip r:embed="rId3"/>
          <a:srcRect/>
          <a:stretch/>
        </p:blipFill>
        <p:spPr>
          <a:xfrm>
            <a:off x="419100" y="1238250"/>
            <a:ext cx="2495550" cy="2857500"/>
          </a:xfrm>
          <a:prstGeom prst="rect">
            <a:avLst/>
          </a:prstGeom>
        </p:spPr>
      </p:pic>
      <p:sp>
        <p:nvSpPr>
          <p:cNvPr id="7" name="Shape 4"/>
          <p:cNvSpPr/>
          <p:nvPr/>
        </p:nvSpPr>
        <p:spPr>
          <a:xfrm>
            <a:off x="419100" y="4067175"/>
            <a:ext cx="2495550" cy="28575"/>
          </a:xfrm>
          <a:prstGeom prst="rect">
            <a:avLst/>
          </a:prstGeom>
          <a:solidFill>
            <a:srgbClr val="B68757"/>
          </a:solidFill>
          <a:ln/>
        </p:spPr>
        <p:txBody>
          <a:bodyPr/>
          <a:lstStyle/>
          <a:p>
            <a:endParaRPr lang="en-US"/>
          </a:p>
        </p:txBody>
      </p:sp>
      <p:sp>
        <p:nvSpPr>
          <p:cNvPr id="8" name="Text 5"/>
          <p:cNvSpPr txBox="1"/>
          <p:nvPr/>
        </p:nvSpPr>
        <p:spPr>
          <a:xfrm>
            <a:off x="628650" y="4305300"/>
            <a:ext cx="2095500" cy="152400"/>
          </a:xfrm>
          <a:prstGeom prst="rect">
            <a:avLst/>
          </a:prstGeom>
          <a:noFill/>
          <a:ln/>
        </p:spPr>
        <p:txBody>
          <a:bodyPr wrap="square" lIns="0" tIns="0" rIns="0" bIns="0" rtlCol="0" anchor="t"/>
          <a:lstStyle/>
          <a:p>
            <a:pPr marL="0" indent="0">
              <a:buNone/>
            </a:pPr>
            <a:r>
              <a:rPr lang="en-US" sz="675" b="1" kern="0" spc="200" dirty="0">
                <a:solidFill>
                  <a:srgbClr val="8C6239"/>
                </a:solidFill>
              </a:rPr>
              <a:t>WHAT IT MEANS FOR OWNERS</a:t>
            </a:r>
            <a:endParaRPr lang="en-US" sz="675" dirty="0"/>
          </a:p>
        </p:txBody>
      </p:sp>
      <p:sp>
        <p:nvSpPr>
          <p:cNvPr id="9" name="Text 6"/>
          <p:cNvSpPr txBox="1"/>
          <p:nvPr/>
        </p:nvSpPr>
        <p:spPr>
          <a:xfrm>
            <a:off x="628650" y="4533900"/>
            <a:ext cx="2095500" cy="1428750"/>
          </a:xfrm>
          <a:prstGeom prst="rect">
            <a:avLst/>
          </a:prstGeom>
          <a:noFill/>
          <a:ln/>
        </p:spPr>
        <p:txBody>
          <a:bodyPr wrap="square" lIns="0" tIns="0" rIns="0" bIns="0" rtlCol="0" anchor="t"/>
          <a:lstStyle/>
          <a:p>
            <a:pPr marL="0" indent="0">
              <a:lnSpc>
                <a:spcPts val="1800"/>
              </a:lnSpc>
              <a:buNone/>
            </a:pPr>
            <a:r>
              <a:rPr lang="en-US" sz="1238" i="1" dirty="0">
                <a:solidFill>
                  <a:srgbClr val="FFFFFF"/>
                </a:solidFill>
                <a:latin typeface="+mj-lt" pitchFamily="34" charset="0"/>
              </a:rPr>
              <a:t>Strategic acquirers and private equity platforms are still buying machining, distribution, contracting, environmental and logistics capacity that already exists.</a:t>
            </a:r>
            <a:endParaRPr lang="en-US" sz="1238" dirty="0"/>
          </a:p>
        </p:txBody>
      </p:sp>
      <p:sp>
        <p:nvSpPr>
          <p:cNvPr id="10" name="Text 7"/>
          <p:cNvSpPr txBox="1"/>
          <p:nvPr/>
        </p:nvSpPr>
        <p:spPr>
          <a:xfrm>
            <a:off x="628650" y="6057900"/>
            <a:ext cx="2095500" cy="762000"/>
          </a:xfrm>
          <a:prstGeom prst="rect">
            <a:avLst/>
          </a:prstGeom>
          <a:noFill/>
          <a:ln/>
        </p:spPr>
        <p:txBody>
          <a:bodyPr wrap="square" lIns="0" tIns="0" rIns="0" bIns="0" rtlCol="0" anchor="t"/>
          <a:lstStyle/>
          <a:p>
            <a:pPr marL="0" indent="0">
              <a:lnSpc>
                <a:spcPts val="1238"/>
              </a:lnSpc>
              <a:buNone/>
            </a:pPr>
            <a:r>
              <a:rPr lang="en-US" sz="825" dirty="0">
                <a:solidFill>
                  <a:srgbClr val="E8E2DA"/>
                </a:solidFill>
              </a:rPr>
              <a:t>They are paying the most for companies tied to power, data centers, aerospace and service work that codes and regulations require.</a:t>
            </a:r>
            <a:endParaRPr lang="en-US" sz="825" dirty="0"/>
          </a:p>
        </p:txBody>
      </p:sp>
      <p:sp>
        <p:nvSpPr>
          <p:cNvPr id="11" name="Shape 8"/>
          <p:cNvSpPr/>
          <p:nvPr/>
        </p:nvSpPr>
        <p:spPr>
          <a:xfrm>
            <a:off x="3124200" y="1617345"/>
            <a:ext cx="381000" cy="381000"/>
          </a:xfrm>
          <a:prstGeom prst="ellipse">
            <a:avLst/>
          </a:prstGeom>
          <a:solidFill>
            <a:srgbClr val="1B1A1A"/>
          </a:solidFill>
          <a:ln/>
        </p:spPr>
        <p:txBody>
          <a:bodyPr/>
          <a:lstStyle/>
          <a:p>
            <a:endParaRPr lang="en-US"/>
          </a:p>
        </p:txBody>
      </p:sp>
      <p:pic>
        <p:nvPicPr>
          <p:cNvPr id="12" name="Image 1" descr="/tmp/claude-0/-home-claude-about/b7ea608c-3502-5da6-986c-4c57d144c940/scratchpad/brief/pptx/icons/factory_lg.png"/>
          <p:cNvPicPr>
            <a:picLocks noChangeAspect="1"/>
          </p:cNvPicPr>
          <p:nvPr/>
        </p:nvPicPr>
        <p:blipFill>
          <a:blip r:embed="rId4"/>
          <a:stretch>
            <a:fillRect/>
          </a:stretch>
        </p:blipFill>
        <p:spPr>
          <a:xfrm>
            <a:off x="3219450" y="1712595"/>
            <a:ext cx="190500" cy="190500"/>
          </a:xfrm>
          <a:prstGeom prst="rect">
            <a:avLst/>
          </a:prstGeom>
        </p:spPr>
      </p:pic>
      <p:sp>
        <p:nvSpPr>
          <p:cNvPr id="13" name="Text 9"/>
          <p:cNvSpPr txBox="1"/>
          <p:nvPr/>
        </p:nvSpPr>
        <p:spPr>
          <a:xfrm>
            <a:off x="3657600" y="1333500"/>
            <a:ext cx="4476750" cy="171450"/>
          </a:xfrm>
          <a:prstGeom prst="rect">
            <a:avLst/>
          </a:prstGeom>
          <a:noFill/>
          <a:ln/>
        </p:spPr>
        <p:txBody>
          <a:bodyPr wrap="square" lIns="0" tIns="0" rIns="0" bIns="0" rtlCol="0" anchor="t"/>
          <a:lstStyle/>
          <a:p>
            <a:pPr marL="0" indent="0">
              <a:buNone/>
            </a:pPr>
            <a:r>
              <a:rPr lang="en-US" sz="975" b="1" dirty="0">
                <a:solidFill>
                  <a:srgbClr val="1B1A1A"/>
                </a:solidFill>
              </a:rPr>
              <a:t>Domestic manufacturing demand is broad</a:t>
            </a:r>
            <a:endParaRPr lang="en-US" sz="975" dirty="0"/>
          </a:p>
        </p:txBody>
      </p:sp>
      <p:sp>
        <p:nvSpPr>
          <p:cNvPr id="14" name="Text 10"/>
          <p:cNvSpPr txBox="1"/>
          <p:nvPr/>
        </p:nvSpPr>
        <p:spPr>
          <a:xfrm>
            <a:off x="3657600" y="1524000"/>
            <a:ext cx="4476750" cy="815340"/>
          </a:xfrm>
          <a:prstGeom prst="rect">
            <a:avLst/>
          </a:prstGeom>
          <a:noFill/>
          <a:ln/>
        </p:spPr>
        <p:txBody>
          <a:bodyPr wrap="square" lIns="0" tIns="0" rIns="0" bIns="0" rtlCol="0" anchor="t"/>
          <a:lstStyle/>
          <a:p>
            <a:pPr marL="0" indent="0">
              <a:lnSpc>
                <a:spcPts val="1163"/>
              </a:lnSpc>
              <a:buNone/>
            </a:pPr>
            <a:r>
              <a:rPr lang="en-US" sz="810" dirty="0">
                <a:solidFill>
                  <a:srgbClr val="333231"/>
                </a:solidFill>
              </a:rPr>
              <a:t>The ISM Manufacturing PMI was 54.5 in September, its ninth consecutive month of expansion, and orders for manufacturing technology reached $4.03 billion in the first seven months of the year, 37.1% ahead of 2025 (</a:t>
            </a:r>
            <a:r>
              <a:rPr lang="en-US" sz="810" u="sng" dirty="0">
                <a:solidFill>
                  <a:srgbClr val="8C6239"/>
                </a:solidFill>
                <a:hlinkClick r:id="rId5" tooltip="https://www.prnewswire.com/news-releases/manufacturing-pmi-at-54-5-september-2026-ism-manufacturing-pmi-report-302894520.html">
                  <a:extLst>
                    <a:ext uri="{A12FA001-AC4F-418D-AE19-62706E023703}">
                      <ahyp:hlinkClr xmlns:ahyp="http://schemas.microsoft.com/office/drawing/2018/hyperlinkcolor" val="tx"/>
                    </a:ext>
                  </a:extLst>
                </a:hlinkClick>
              </a:rPr>
              <a:t>ISM</a:t>
            </a:r>
            <a:r>
              <a:rPr lang="en-US" sz="810" dirty="0">
                <a:solidFill>
                  <a:srgbClr val="333231"/>
                </a:solidFill>
              </a:rPr>
              <a:t>; </a:t>
            </a:r>
            <a:r>
              <a:rPr lang="en-US" sz="810" u="sng" dirty="0">
                <a:solidFill>
                  <a:srgbClr val="8C6239"/>
                </a:solidFill>
                <a:hlinkClick r:id="rId6" tooltip="https://www.mdm.com/news/research/economic-trends/u-s-metalworking-machinery-orders-slide-in-july/">
                  <a:extLst>
                    <a:ext uri="{A12FA001-AC4F-418D-AE19-62706E023703}">
                      <ahyp:hlinkClr xmlns:ahyp="http://schemas.microsoft.com/office/drawing/2018/hyperlinkcolor" val="tx"/>
                    </a:ext>
                  </a:extLst>
                </a:hlinkClick>
              </a:rPr>
              <a:t>AMT data reported by MDM</a:t>
            </a:r>
            <a:r>
              <a:rPr lang="en-US" sz="810" dirty="0">
                <a:solidFill>
                  <a:srgbClr val="333231"/>
                </a:solidFill>
              </a:rPr>
              <a:t>). Capacity utilization of 75.7% leaves most plants room to take on more work (</a:t>
            </a:r>
            <a:r>
              <a:rPr lang="en-US" sz="810" u="sng" dirty="0">
                <a:solidFill>
                  <a:srgbClr val="8C6239"/>
                </a:solidFill>
                <a:hlinkClick r:id="rId7" tooltip="https://www.federalreserve.gov/releases/g17/current/default.htm">
                  <a:extLst>
                    <a:ext uri="{A12FA001-AC4F-418D-AE19-62706E023703}">
                      <ahyp:hlinkClr xmlns:ahyp="http://schemas.microsoft.com/office/drawing/2018/hyperlinkcolor" val="tx"/>
                    </a:ext>
                  </a:extLst>
                </a:hlinkClick>
              </a:rPr>
              <a:t>Federal Reserve G.17</a:t>
            </a:r>
            <a:r>
              <a:rPr lang="en-US" sz="810" dirty="0">
                <a:solidFill>
                  <a:srgbClr val="333231"/>
                </a:solidFill>
              </a:rPr>
              <a:t>).</a:t>
            </a:r>
            <a:endParaRPr lang="en-US" sz="810" dirty="0"/>
          </a:p>
        </p:txBody>
      </p:sp>
      <p:sp>
        <p:nvSpPr>
          <p:cNvPr id="15" name="Shape 11"/>
          <p:cNvSpPr/>
          <p:nvPr/>
        </p:nvSpPr>
        <p:spPr>
          <a:xfrm>
            <a:off x="8324850" y="1524000"/>
            <a:ext cx="0" cy="552450"/>
          </a:xfrm>
          <a:prstGeom prst="line">
            <a:avLst/>
          </a:prstGeom>
          <a:noFill/>
          <a:ln w="19050">
            <a:solidFill>
              <a:srgbClr val="B68757"/>
            </a:solidFill>
            <a:prstDash val="solid"/>
          </a:ln>
        </p:spPr>
        <p:txBody>
          <a:bodyPr/>
          <a:lstStyle/>
          <a:p>
            <a:endParaRPr lang="en-US"/>
          </a:p>
        </p:txBody>
      </p:sp>
      <p:sp>
        <p:nvSpPr>
          <p:cNvPr id="16" name="Text 12"/>
          <p:cNvSpPr txBox="1"/>
          <p:nvPr/>
        </p:nvSpPr>
        <p:spPr>
          <a:xfrm>
            <a:off x="8458200" y="1524000"/>
            <a:ext cx="1181100" cy="323850"/>
          </a:xfrm>
          <a:prstGeom prst="rect">
            <a:avLst/>
          </a:prstGeom>
          <a:noFill/>
          <a:ln/>
        </p:spPr>
        <p:txBody>
          <a:bodyPr wrap="square" lIns="0" tIns="0" rIns="0" bIns="0" rtlCol="0" anchor="t"/>
          <a:lstStyle/>
          <a:p>
            <a:pPr marL="0" indent="0">
              <a:buNone/>
            </a:pPr>
            <a:r>
              <a:rPr lang="en-US" sz="2100" b="1" dirty="0">
                <a:solidFill>
                  <a:srgbClr val="8C6239"/>
                </a:solidFill>
                <a:latin typeface="+mj-lt" pitchFamily="34" charset="0"/>
              </a:rPr>
              <a:t>54.5</a:t>
            </a:r>
            <a:endParaRPr lang="en-US" sz="2100" dirty="0"/>
          </a:p>
        </p:txBody>
      </p:sp>
      <p:sp>
        <p:nvSpPr>
          <p:cNvPr id="17" name="Text 13"/>
          <p:cNvSpPr txBox="1"/>
          <p:nvPr/>
        </p:nvSpPr>
        <p:spPr>
          <a:xfrm>
            <a:off x="8458200" y="1866900"/>
            <a:ext cx="1181100" cy="285750"/>
          </a:xfrm>
          <a:prstGeom prst="rect">
            <a:avLst/>
          </a:prstGeom>
          <a:noFill/>
          <a:ln/>
        </p:spPr>
        <p:txBody>
          <a:bodyPr wrap="square" lIns="0" tIns="0" rIns="0" bIns="0" rtlCol="0" anchor="t"/>
          <a:lstStyle/>
          <a:p>
            <a:pPr marL="0" indent="0">
              <a:lnSpc>
                <a:spcPts val="938"/>
              </a:lnSpc>
              <a:buNone/>
            </a:pPr>
            <a:r>
              <a:rPr lang="en-US" sz="675" dirty="0">
                <a:solidFill>
                  <a:srgbClr val="6F6A66"/>
                </a:solidFill>
              </a:rPr>
              <a:t>ISM Manufacturing PMI, September</a:t>
            </a:r>
            <a:endParaRPr lang="en-US" sz="675" dirty="0"/>
          </a:p>
        </p:txBody>
      </p:sp>
      <p:sp>
        <p:nvSpPr>
          <p:cNvPr id="18" name="Shape 14"/>
          <p:cNvSpPr/>
          <p:nvPr/>
        </p:nvSpPr>
        <p:spPr>
          <a:xfrm>
            <a:off x="3124200" y="2377440"/>
            <a:ext cx="6515100" cy="0"/>
          </a:xfrm>
          <a:prstGeom prst="line">
            <a:avLst/>
          </a:prstGeom>
          <a:noFill/>
          <a:ln w="9525">
            <a:solidFill>
              <a:srgbClr val="E3DCD3"/>
            </a:solidFill>
            <a:prstDash val="solid"/>
          </a:ln>
        </p:spPr>
        <p:txBody>
          <a:bodyPr/>
          <a:lstStyle/>
          <a:p>
            <a:endParaRPr lang="en-US"/>
          </a:p>
        </p:txBody>
      </p:sp>
      <p:sp>
        <p:nvSpPr>
          <p:cNvPr id="19" name="Shape 15"/>
          <p:cNvSpPr/>
          <p:nvPr/>
        </p:nvSpPr>
        <p:spPr>
          <a:xfrm>
            <a:off x="3124200" y="2756535"/>
            <a:ext cx="381000" cy="381000"/>
          </a:xfrm>
          <a:prstGeom prst="ellipse">
            <a:avLst/>
          </a:prstGeom>
          <a:solidFill>
            <a:srgbClr val="1B1A1A"/>
          </a:solidFill>
          <a:ln/>
        </p:spPr>
        <p:txBody>
          <a:bodyPr/>
          <a:lstStyle/>
          <a:p>
            <a:endParaRPr lang="en-US"/>
          </a:p>
        </p:txBody>
      </p:sp>
      <p:pic>
        <p:nvPicPr>
          <p:cNvPr id="20" name="Image 2" descr="/tmp/claude-0/-home-claude-about/b7ea608c-3502-5da6-986c-4c57d144c940/scratchpad/brief/pptx/icons/layers_lg.png"/>
          <p:cNvPicPr>
            <a:picLocks noChangeAspect="1"/>
          </p:cNvPicPr>
          <p:nvPr/>
        </p:nvPicPr>
        <p:blipFill>
          <a:blip r:embed="rId8"/>
          <a:stretch>
            <a:fillRect/>
          </a:stretch>
        </p:blipFill>
        <p:spPr>
          <a:xfrm>
            <a:off x="3219450" y="2851785"/>
            <a:ext cx="190500" cy="190500"/>
          </a:xfrm>
          <a:prstGeom prst="rect">
            <a:avLst/>
          </a:prstGeom>
        </p:spPr>
      </p:pic>
      <p:sp>
        <p:nvSpPr>
          <p:cNvPr id="21" name="Text 16"/>
          <p:cNvSpPr txBox="1"/>
          <p:nvPr/>
        </p:nvSpPr>
        <p:spPr>
          <a:xfrm>
            <a:off x="3657600" y="2472690"/>
            <a:ext cx="4476750" cy="171450"/>
          </a:xfrm>
          <a:prstGeom prst="rect">
            <a:avLst/>
          </a:prstGeom>
          <a:noFill/>
          <a:ln/>
        </p:spPr>
        <p:txBody>
          <a:bodyPr wrap="square" lIns="0" tIns="0" rIns="0" bIns="0" rtlCol="0" anchor="t"/>
          <a:lstStyle/>
          <a:p>
            <a:pPr marL="0" indent="0">
              <a:buNone/>
            </a:pPr>
            <a:r>
              <a:rPr lang="en-US" sz="975" b="1" dirty="0">
                <a:solidFill>
                  <a:srgbClr val="1B1A1A"/>
                </a:solidFill>
              </a:rPr>
              <a:t>Private equity is buying through platforms it already owns</a:t>
            </a:r>
            <a:endParaRPr lang="en-US" sz="975" dirty="0"/>
          </a:p>
        </p:txBody>
      </p:sp>
      <p:sp>
        <p:nvSpPr>
          <p:cNvPr id="22" name="Text 17"/>
          <p:cNvSpPr txBox="1"/>
          <p:nvPr/>
        </p:nvSpPr>
        <p:spPr>
          <a:xfrm>
            <a:off x="3657600" y="2663190"/>
            <a:ext cx="4476750" cy="815340"/>
          </a:xfrm>
          <a:prstGeom prst="rect">
            <a:avLst/>
          </a:prstGeom>
          <a:noFill/>
          <a:ln/>
        </p:spPr>
        <p:txBody>
          <a:bodyPr wrap="square" lIns="0" tIns="0" rIns="0" bIns="0" rtlCol="0" anchor="t"/>
          <a:lstStyle/>
          <a:p>
            <a:pPr marL="0" indent="0">
              <a:lnSpc>
                <a:spcPts val="1163"/>
              </a:lnSpc>
              <a:buNone/>
            </a:pPr>
            <a:r>
              <a:rPr lang="en-US" sz="810" dirty="0">
                <a:solidFill>
                  <a:srgbClr val="333231"/>
                </a:solidFill>
              </a:rPr>
              <a:t>Add-on acquisitions made up about three-quarters of all buyouts in the second quarter (</a:t>
            </a:r>
            <a:r>
              <a:rPr lang="en-US" sz="810" u="sng" dirty="0">
                <a:solidFill>
                  <a:srgbClr val="8C6239"/>
                </a:solidFill>
                <a:hlinkClick r:id="rId9" tooltip="https://pitchbook.brightspotcdn.com/40/42/bbeb88094080abaea3d7c87530b8/q2-2026-us-pe-breakdown.pdf">
                  <a:extLst>
                    <a:ext uri="{A12FA001-AC4F-418D-AE19-62706E023703}">
                      <ahyp:hlinkClr xmlns:ahyp="http://schemas.microsoft.com/office/drawing/2018/hyperlinkcolor" val="tx"/>
                    </a:ext>
                  </a:extLst>
                </a:hlinkClick>
              </a:rPr>
              <a:t>PitchBook</a:t>
            </a:r>
            <a:r>
              <a:rPr lang="en-US" sz="810" dirty="0">
                <a:solidFill>
                  <a:srgbClr val="333231"/>
                </a:solidFill>
              </a:rPr>
              <a:t>), and Pye-Barker Fire &amp; Safety completed 22 acquisitions in the first half of the year alone (</a:t>
            </a:r>
            <a:r>
              <a:rPr lang="en-US" sz="810" u="sng" dirty="0">
                <a:solidFill>
                  <a:srgbClr val="8C6239"/>
                </a:solidFill>
                <a:hlinkClick r:id="rId10" tooltip="https://pyebarkerfs.com/?p=22122">
                  <a:extLst>
                    <a:ext uri="{A12FA001-AC4F-418D-AE19-62706E023703}">
                      <ahyp:hlinkClr xmlns:ahyp="http://schemas.microsoft.com/office/drawing/2018/hyperlinkcolor" val="tx"/>
                    </a:ext>
                  </a:extLst>
                </a:hlinkClick>
              </a:rPr>
              <a:t>Pye-Barker</a:t>
            </a:r>
            <a:r>
              <a:rPr lang="en-US" sz="810" dirty="0">
                <a:solidFill>
                  <a:srgbClr val="333231"/>
                </a:solidFill>
              </a:rPr>
              <a:t>). The sponsor at the table for a founder-owned industrial company is usually an operating platform that already knows its trade.</a:t>
            </a:r>
            <a:endParaRPr lang="en-US" sz="810" dirty="0"/>
          </a:p>
        </p:txBody>
      </p:sp>
      <p:sp>
        <p:nvSpPr>
          <p:cNvPr id="23" name="Shape 18"/>
          <p:cNvSpPr/>
          <p:nvPr/>
        </p:nvSpPr>
        <p:spPr>
          <a:xfrm>
            <a:off x="8324850" y="2663190"/>
            <a:ext cx="0" cy="552450"/>
          </a:xfrm>
          <a:prstGeom prst="line">
            <a:avLst/>
          </a:prstGeom>
          <a:noFill/>
          <a:ln w="19050">
            <a:solidFill>
              <a:srgbClr val="B68757"/>
            </a:solidFill>
            <a:prstDash val="solid"/>
          </a:ln>
        </p:spPr>
        <p:txBody>
          <a:bodyPr/>
          <a:lstStyle/>
          <a:p>
            <a:endParaRPr lang="en-US"/>
          </a:p>
        </p:txBody>
      </p:sp>
      <p:sp>
        <p:nvSpPr>
          <p:cNvPr id="24" name="Text 19"/>
          <p:cNvSpPr txBox="1"/>
          <p:nvPr/>
        </p:nvSpPr>
        <p:spPr>
          <a:xfrm>
            <a:off x="8458200" y="2663190"/>
            <a:ext cx="1181100" cy="323850"/>
          </a:xfrm>
          <a:prstGeom prst="rect">
            <a:avLst/>
          </a:prstGeom>
          <a:noFill/>
          <a:ln/>
        </p:spPr>
        <p:txBody>
          <a:bodyPr wrap="square" lIns="0" tIns="0" rIns="0" bIns="0" rtlCol="0" anchor="t"/>
          <a:lstStyle/>
          <a:p>
            <a:pPr marL="0" indent="0">
              <a:buNone/>
            </a:pPr>
            <a:r>
              <a:rPr lang="en-US" sz="2100" b="1" dirty="0">
                <a:solidFill>
                  <a:srgbClr val="8C6239"/>
                </a:solidFill>
                <a:latin typeface="+mj-lt" pitchFamily="34" charset="0"/>
              </a:rPr>
              <a:t>13,509</a:t>
            </a:r>
            <a:endParaRPr lang="en-US" sz="2100" dirty="0"/>
          </a:p>
        </p:txBody>
      </p:sp>
      <p:sp>
        <p:nvSpPr>
          <p:cNvPr id="25" name="Text 20"/>
          <p:cNvSpPr txBox="1"/>
          <p:nvPr/>
        </p:nvSpPr>
        <p:spPr>
          <a:xfrm>
            <a:off x="8458200" y="3006090"/>
            <a:ext cx="1181100" cy="285750"/>
          </a:xfrm>
          <a:prstGeom prst="rect">
            <a:avLst/>
          </a:prstGeom>
          <a:noFill/>
          <a:ln/>
        </p:spPr>
        <p:txBody>
          <a:bodyPr wrap="square" lIns="0" tIns="0" rIns="0" bIns="0" rtlCol="0" anchor="t"/>
          <a:lstStyle/>
          <a:p>
            <a:pPr marL="0" indent="0">
              <a:lnSpc>
                <a:spcPts val="938"/>
              </a:lnSpc>
              <a:buNone/>
            </a:pPr>
            <a:r>
              <a:rPr lang="en-US" sz="675" dirty="0">
                <a:solidFill>
                  <a:srgbClr val="6F6A66"/>
                </a:solidFill>
              </a:rPr>
              <a:t>US companies held by private equity</a:t>
            </a:r>
            <a:endParaRPr lang="en-US" sz="675" dirty="0"/>
          </a:p>
        </p:txBody>
      </p:sp>
      <p:sp>
        <p:nvSpPr>
          <p:cNvPr id="26" name="Shape 21"/>
          <p:cNvSpPr/>
          <p:nvPr/>
        </p:nvSpPr>
        <p:spPr>
          <a:xfrm>
            <a:off x="3124200" y="3516630"/>
            <a:ext cx="6515100" cy="0"/>
          </a:xfrm>
          <a:prstGeom prst="line">
            <a:avLst/>
          </a:prstGeom>
          <a:noFill/>
          <a:ln w="9525">
            <a:solidFill>
              <a:srgbClr val="E3DCD3"/>
            </a:solidFill>
            <a:prstDash val="solid"/>
          </a:ln>
        </p:spPr>
        <p:txBody>
          <a:bodyPr/>
          <a:lstStyle/>
          <a:p>
            <a:endParaRPr lang="en-US"/>
          </a:p>
        </p:txBody>
      </p:sp>
      <p:sp>
        <p:nvSpPr>
          <p:cNvPr id="27" name="Shape 22"/>
          <p:cNvSpPr/>
          <p:nvPr/>
        </p:nvSpPr>
        <p:spPr>
          <a:xfrm>
            <a:off x="3124200" y="3895725"/>
            <a:ext cx="381000" cy="381000"/>
          </a:xfrm>
          <a:prstGeom prst="ellipse">
            <a:avLst/>
          </a:prstGeom>
          <a:solidFill>
            <a:srgbClr val="1B1A1A"/>
          </a:solidFill>
          <a:ln/>
        </p:spPr>
        <p:txBody>
          <a:bodyPr/>
          <a:lstStyle/>
          <a:p>
            <a:endParaRPr lang="en-US"/>
          </a:p>
        </p:txBody>
      </p:sp>
      <p:pic>
        <p:nvPicPr>
          <p:cNvPr id="28" name="Image 3" descr="/tmp/claude-0/-home-claude-about/b7ea608c-3502-5da6-986c-4c57d144c940/scratchpad/brief/pptx/icons/bolt_lg.png"/>
          <p:cNvPicPr>
            <a:picLocks noChangeAspect="1"/>
          </p:cNvPicPr>
          <p:nvPr/>
        </p:nvPicPr>
        <p:blipFill>
          <a:blip r:embed="rId11"/>
          <a:stretch>
            <a:fillRect/>
          </a:stretch>
        </p:blipFill>
        <p:spPr>
          <a:xfrm>
            <a:off x="3219450" y="3990975"/>
            <a:ext cx="190500" cy="190500"/>
          </a:xfrm>
          <a:prstGeom prst="rect">
            <a:avLst/>
          </a:prstGeom>
        </p:spPr>
      </p:pic>
      <p:sp>
        <p:nvSpPr>
          <p:cNvPr id="29" name="Text 23"/>
          <p:cNvSpPr txBox="1"/>
          <p:nvPr/>
        </p:nvSpPr>
        <p:spPr>
          <a:xfrm>
            <a:off x="3657600" y="3611880"/>
            <a:ext cx="4476750" cy="171450"/>
          </a:xfrm>
          <a:prstGeom prst="rect">
            <a:avLst/>
          </a:prstGeom>
          <a:noFill/>
          <a:ln/>
        </p:spPr>
        <p:txBody>
          <a:bodyPr wrap="square" lIns="0" tIns="0" rIns="0" bIns="0" rtlCol="0" anchor="t"/>
          <a:lstStyle/>
          <a:p>
            <a:pPr marL="0" indent="0">
              <a:buNone/>
            </a:pPr>
            <a:r>
              <a:rPr lang="en-US" sz="975" b="1" dirty="0">
                <a:solidFill>
                  <a:srgbClr val="1B1A1A"/>
                </a:solidFill>
              </a:rPr>
              <a:t>Power and data center work is the strongest source of demand</a:t>
            </a:r>
            <a:endParaRPr lang="en-US" sz="975" dirty="0"/>
          </a:p>
        </p:txBody>
      </p:sp>
      <p:sp>
        <p:nvSpPr>
          <p:cNvPr id="30" name="Text 24"/>
          <p:cNvSpPr txBox="1"/>
          <p:nvPr/>
        </p:nvSpPr>
        <p:spPr>
          <a:xfrm>
            <a:off x="3657600" y="3802380"/>
            <a:ext cx="4476750" cy="815340"/>
          </a:xfrm>
          <a:prstGeom prst="rect">
            <a:avLst/>
          </a:prstGeom>
          <a:noFill/>
          <a:ln/>
        </p:spPr>
        <p:txBody>
          <a:bodyPr wrap="square" lIns="0" tIns="0" rIns="0" bIns="0" rtlCol="0" anchor="t"/>
          <a:lstStyle/>
          <a:p>
            <a:pPr>
              <a:lnSpc>
                <a:spcPct val="100000"/>
              </a:lnSpc>
            </a:pPr>
            <a:r>
              <a:rPr lang="en-US" sz="810" dirty="0">
                <a:solidFill>
                  <a:srgbClr val="333231"/>
                </a:solidFill>
              </a:rPr>
              <a:t>Quanta Services ended June with backlog of $53.4 billion against $35.8 billion a year earlier (</a:t>
            </a:r>
            <a:r>
              <a:rPr lang="en-US" sz="900" dirty="0">
                <a:hlinkClick r:id="rId12"/>
              </a:rPr>
              <a:t>Quanta Services</a:t>
            </a:r>
            <a:r>
              <a:rPr lang="en-US" sz="900" dirty="0"/>
              <a:t>)</a:t>
            </a:r>
            <a:r>
              <a:rPr lang="en-US" sz="810" dirty="0">
                <a:solidFill>
                  <a:srgbClr val="333231"/>
                </a:solidFill>
              </a:rPr>
              <a:t>. Public infrastructure funding is less certain, because the surface transportation authorization expired on September 30 and highway programs are running under a continuing resolution through December 11 (</a:t>
            </a:r>
            <a:r>
              <a:rPr lang="en-US" sz="810" u="sng" dirty="0">
                <a:solidFill>
                  <a:srgbClr val="8C6239"/>
                </a:solidFill>
                <a:hlinkClick r:id="rId13" tooltip="https://aashtojournal.transportation.org/?p=41360">
                  <a:extLst>
                    <a:ext uri="{A12FA001-AC4F-418D-AE19-62706E023703}">
                      <ahyp:hlinkClr xmlns:ahyp="http://schemas.microsoft.com/office/drawing/2018/hyperlinkcolor" val="tx"/>
                    </a:ext>
                  </a:extLst>
                </a:hlinkClick>
              </a:rPr>
              <a:t>AASHTO Journal</a:t>
            </a:r>
            <a:r>
              <a:rPr lang="en-US" sz="810" dirty="0">
                <a:solidFill>
                  <a:srgbClr val="333231"/>
                </a:solidFill>
              </a:rPr>
              <a:t>).</a:t>
            </a:r>
            <a:endParaRPr lang="en-US" sz="810" dirty="0"/>
          </a:p>
        </p:txBody>
      </p:sp>
      <p:sp>
        <p:nvSpPr>
          <p:cNvPr id="31" name="Shape 25"/>
          <p:cNvSpPr/>
          <p:nvPr/>
        </p:nvSpPr>
        <p:spPr>
          <a:xfrm>
            <a:off x="8324850" y="3802380"/>
            <a:ext cx="0" cy="552450"/>
          </a:xfrm>
          <a:prstGeom prst="line">
            <a:avLst/>
          </a:prstGeom>
          <a:noFill/>
          <a:ln w="19050">
            <a:solidFill>
              <a:srgbClr val="B68757"/>
            </a:solidFill>
            <a:prstDash val="solid"/>
          </a:ln>
        </p:spPr>
        <p:txBody>
          <a:bodyPr/>
          <a:lstStyle/>
          <a:p>
            <a:endParaRPr lang="en-US"/>
          </a:p>
        </p:txBody>
      </p:sp>
      <p:sp>
        <p:nvSpPr>
          <p:cNvPr id="32" name="Text 26"/>
          <p:cNvSpPr txBox="1"/>
          <p:nvPr/>
        </p:nvSpPr>
        <p:spPr>
          <a:xfrm>
            <a:off x="8458200" y="3802380"/>
            <a:ext cx="1181100" cy="323850"/>
          </a:xfrm>
          <a:prstGeom prst="rect">
            <a:avLst/>
          </a:prstGeom>
          <a:noFill/>
          <a:ln/>
        </p:spPr>
        <p:txBody>
          <a:bodyPr wrap="square" lIns="0" tIns="0" rIns="0" bIns="0" rtlCol="0" anchor="t"/>
          <a:lstStyle/>
          <a:p>
            <a:pPr marL="0" indent="0">
              <a:buNone/>
            </a:pPr>
            <a:r>
              <a:rPr lang="en-US" sz="2100" b="1" dirty="0">
                <a:solidFill>
                  <a:srgbClr val="8C6239"/>
                </a:solidFill>
                <a:latin typeface="+mj-lt" pitchFamily="34" charset="0"/>
              </a:rPr>
              <a:t>$53.4B</a:t>
            </a:r>
            <a:endParaRPr lang="en-US" sz="2100" dirty="0"/>
          </a:p>
        </p:txBody>
      </p:sp>
      <p:sp>
        <p:nvSpPr>
          <p:cNvPr id="33" name="Text 27"/>
          <p:cNvSpPr txBox="1"/>
          <p:nvPr/>
        </p:nvSpPr>
        <p:spPr>
          <a:xfrm>
            <a:off x="8458200" y="4145280"/>
            <a:ext cx="1181100" cy="285750"/>
          </a:xfrm>
          <a:prstGeom prst="rect">
            <a:avLst/>
          </a:prstGeom>
          <a:noFill/>
          <a:ln/>
        </p:spPr>
        <p:txBody>
          <a:bodyPr wrap="square" lIns="0" tIns="0" rIns="0" bIns="0" rtlCol="0" anchor="t"/>
          <a:lstStyle/>
          <a:p>
            <a:pPr marL="0" indent="0">
              <a:lnSpc>
                <a:spcPts val="938"/>
              </a:lnSpc>
              <a:buNone/>
            </a:pPr>
            <a:r>
              <a:rPr lang="en-US" sz="675" dirty="0"/>
              <a:t>Quanta Services total backlog June 2026</a:t>
            </a:r>
          </a:p>
        </p:txBody>
      </p:sp>
      <p:sp>
        <p:nvSpPr>
          <p:cNvPr id="34" name="Shape 28"/>
          <p:cNvSpPr/>
          <p:nvPr/>
        </p:nvSpPr>
        <p:spPr>
          <a:xfrm>
            <a:off x="3124200" y="4655820"/>
            <a:ext cx="6515100" cy="0"/>
          </a:xfrm>
          <a:prstGeom prst="line">
            <a:avLst/>
          </a:prstGeom>
          <a:noFill/>
          <a:ln w="9525">
            <a:solidFill>
              <a:srgbClr val="E3DCD3"/>
            </a:solidFill>
            <a:prstDash val="solid"/>
          </a:ln>
        </p:spPr>
        <p:txBody>
          <a:bodyPr/>
          <a:lstStyle/>
          <a:p>
            <a:endParaRPr lang="en-US"/>
          </a:p>
        </p:txBody>
      </p:sp>
      <p:sp>
        <p:nvSpPr>
          <p:cNvPr id="35" name="Shape 29"/>
          <p:cNvSpPr/>
          <p:nvPr/>
        </p:nvSpPr>
        <p:spPr>
          <a:xfrm>
            <a:off x="3124200" y="5034915"/>
            <a:ext cx="381000" cy="381000"/>
          </a:xfrm>
          <a:prstGeom prst="ellipse">
            <a:avLst/>
          </a:prstGeom>
          <a:solidFill>
            <a:srgbClr val="1B1A1A"/>
          </a:solidFill>
          <a:ln/>
        </p:spPr>
        <p:txBody>
          <a:bodyPr/>
          <a:lstStyle/>
          <a:p>
            <a:endParaRPr lang="en-US"/>
          </a:p>
        </p:txBody>
      </p:sp>
      <p:pic>
        <p:nvPicPr>
          <p:cNvPr id="36" name="Image 4" descr="/tmp/claude-0/-home-claude-about/b7ea608c-3502-5da6-986c-4c57d144c940/scratchpad/brief/pptx/icons/wrench_lg.png"/>
          <p:cNvPicPr>
            <a:picLocks noChangeAspect="1"/>
          </p:cNvPicPr>
          <p:nvPr/>
        </p:nvPicPr>
        <p:blipFill>
          <a:blip r:embed="rId14"/>
          <a:stretch>
            <a:fillRect/>
          </a:stretch>
        </p:blipFill>
        <p:spPr>
          <a:xfrm>
            <a:off x="3219450" y="5130165"/>
            <a:ext cx="190500" cy="190500"/>
          </a:xfrm>
          <a:prstGeom prst="rect">
            <a:avLst/>
          </a:prstGeom>
        </p:spPr>
      </p:pic>
      <p:sp>
        <p:nvSpPr>
          <p:cNvPr id="37" name="Text 30"/>
          <p:cNvSpPr txBox="1"/>
          <p:nvPr/>
        </p:nvSpPr>
        <p:spPr>
          <a:xfrm>
            <a:off x="3657600" y="4751070"/>
            <a:ext cx="4476750" cy="171450"/>
          </a:xfrm>
          <a:prstGeom prst="rect">
            <a:avLst/>
          </a:prstGeom>
          <a:noFill/>
          <a:ln/>
        </p:spPr>
        <p:txBody>
          <a:bodyPr wrap="square" lIns="0" tIns="0" rIns="0" bIns="0" rtlCol="0" anchor="t"/>
          <a:lstStyle/>
          <a:p>
            <a:pPr marL="0" indent="0">
              <a:buNone/>
            </a:pPr>
            <a:r>
              <a:rPr lang="en-US" sz="975" b="1" dirty="0">
                <a:solidFill>
                  <a:srgbClr val="1B1A1A"/>
                </a:solidFill>
              </a:rPr>
              <a:t>Recurring service revenue is valued above project revenue</a:t>
            </a:r>
            <a:endParaRPr lang="en-US" sz="975" dirty="0"/>
          </a:p>
        </p:txBody>
      </p:sp>
      <p:sp>
        <p:nvSpPr>
          <p:cNvPr id="38" name="Text 31"/>
          <p:cNvSpPr txBox="1"/>
          <p:nvPr/>
        </p:nvSpPr>
        <p:spPr>
          <a:xfrm>
            <a:off x="3657600" y="4941570"/>
            <a:ext cx="4476750" cy="815340"/>
          </a:xfrm>
          <a:prstGeom prst="rect">
            <a:avLst/>
          </a:prstGeom>
          <a:noFill/>
          <a:ln/>
        </p:spPr>
        <p:txBody>
          <a:bodyPr wrap="square" lIns="0" tIns="0" rIns="0" bIns="0" rtlCol="0" anchor="t"/>
          <a:lstStyle/>
          <a:p>
            <a:pPr marL="0" indent="0">
              <a:lnSpc>
                <a:spcPts val="1163"/>
              </a:lnSpc>
              <a:buNone/>
            </a:pPr>
            <a:r>
              <a:rPr lang="en-US" sz="810" dirty="0">
                <a:solidFill>
                  <a:srgbClr val="333231"/>
                </a:solidFill>
              </a:rPr>
              <a:t>APi Group is working toward 60% of revenue from inspection and service, and Transcat’s service revenue grew 27% (</a:t>
            </a:r>
            <a:r>
              <a:rPr lang="en-US" sz="810" u="sng" dirty="0">
                <a:solidFill>
                  <a:srgbClr val="8C6239"/>
                </a:solidFill>
                <a:hlinkClick r:id="rId15" tooltip="https://www.businesswire.com/news/home/20251210396417/en/APi-Group-Announces-Acquisition-of-CertaSite-and-Provides-Full-Year-2025-Update">
                  <a:extLst>
                    <a:ext uri="{A12FA001-AC4F-418D-AE19-62706E023703}">
                      <ahyp:hlinkClr xmlns:ahyp="http://schemas.microsoft.com/office/drawing/2018/hyperlinkcolor" val="tx"/>
                    </a:ext>
                  </a:extLst>
                </a:hlinkClick>
              </a:rPr>
              <a:t>APi Group</a:t>
            </a:r>
            <a:r>
              <a:rPr lang="en-US" sz="810" dirty="0">
                <a:solidFill>
                  <a:srgbClr val="333231"/>
                </a:solidFill>
              </a:rPr>
              <a:t>; </a:t>
            </a:r>
            <a:r>
              <a:rPr lang="en-US" sz="810" u="sng" dirty="0">
                <a:solidFill>
                  <a:srgbClr val="8C6239"/>
                </a:solidFill>
                <a:hlinkClick r:id="rId16" tooltip="https://www.transcat.com/news/post/transcat-reports-strong-fiscal-first-quarter-2027-financial-results">
                  <a:extLst>
                    <a:ext uri="{A12FA001-AC4F-418D-AE19-62706E023703}">
                      <ahyp:hlinkClr xmlns:ahyp="http://schemas.microsoft.com/office/drawing/2018/hyperlinkcolor" val="tx"/>
                    </a:ext>
                  </a:extLst>
                </a:hlinkClick>
              </a:rPr>
              <a:t>Transcat</a:t>
            </a:r>
            <a:r>
              <a:rPr lang="en-US" sz="810" dirty="0">
                <a:solidFill>
                  <a:srgbClr val="333231"/>
                </a:solidFill>
              </a:rPr>
              <a:t>). Buyers pay for service, repair, inspection and aftermarket parts revenue when an owner reports it separately from project and product sales, with the renewal history behind it.</a:t>
            </a:r>
            <a:endParaRPr lang="en-US" sz="810" dirty="0"/>
          </a:p>
        </p:txBody>
      </p:sp>
      <p:sp>
        <p:nvSpPr>
          <p:cNvPr id="39" name="Shape 32"/>
          <p:cNvSpPr/>
          <p:nvPr/>
        </p:nvSpPr>
        <p:spPr>
          <a:xfrm>
            <a:off x="8324850" y="4941570"/>
            <a:ext cx="0" cy="552450"/>
          </a:xfrm>
          <a:prstGeom prst="line">
            <a:avLst/>
          </a:prstGeom>
          <a:noFill/>
          <a:ln w="19050">
            <a:solidFill>
              <a:srgbClr val="B68757"/>
            </a:solidFill>
            <a:prstDash val="solid"/>
          </a:ln>
        </p:spPr>
        <p:txBody>
          <a:bodyPr/>
          <a:lstStyle/>
          <a:p>
            <a:endParaRPr lang="en-US"/>
          </a:p>
        </p:txBody>
      </p:sp>
      <p:sp>
        <p:nvSpPr>
          <p:cNvPr id="40" name="Text 33"/>
          <p:cNvSpPr txBox="1"/>
          <p:nvPr/>
        </p:nvSpPr>
        <p:spPr>
          <a:xfrm>
            <a:off x="8458200" y="4941570"/>
            <a:ext cx="1181100" cy="323850"/>
          </a:xfrm>
          <a:prstGeom prst="rect">
            <a:avLst/>
          </a:prstGeom>
          <a:noFill/>
          <a:ln/>
        </p:spPr>
        <p:txBody>
          <a:bodyPr wrap="square" lIns="0" tIns="0" rIns="0" bIns="0" rtlCol="0" anchor="t"/>
          <a:lstStyle/>
          <a:p>
            <a:pPr marL="0" indent="0">
              <a:buNone/>
            </a:pPr>
            <a:r>
              <a:rPr lang="en-US" sz="2100" b="1" dirty="0">
                <a:solidFill>
                  <a:srgbClr val="8C6239"/>
                </a:solidFill>
                <a:latin typeface="+mj-lt" pitchFamily="34" charset="0"/>
              </a:rPr>
              <a:t>60%</a:t>
            </a:r>
            <a:endParaRPr lang="en-US" sz="2100" dirty="0"/>
          </a:p>
        </p:txBody>
      </p:sp>
      <p:sp>
        <p:nvSpPr>
          <p:cNvPr id="41" name="Text 34"/>
          <p:cNvSpPr txBox="1"/>
          <p:nvPr/>
        </p:nvSpPr>
        <p:spPr>
          <a:xfrm>
            <a:off x="8458200" y="5284470"/>
            <a:ext cx="1181100" cy="285750"/>
          </a:xfrm>
          <a:prstGeom prst="rect">
            <a:avLst/>
          </a:prstGeom>
          <a:noFill/>
          <a:ln/>
        </p:spPr>
        <p:txBody>
          <a:bodyPr wrap="square" lIns="0" tIns="0" rIns="0" bIns="0" rtlCol="0" anchor="t"/>
          <a:lstStyle/>
          <a:p>
            <a:pPr marL="0" indent="0">
              <a:lnSpc>
                <a:spcPts val="938"/>
              </a:lnSpc>
              <a:buNone/>
            </a:pPr>
            <a:r>
              <a:rPr lang="en-US" sz="675" dirty="0">
                <a:solidFill>
                  <a:srgbClr val="6F6A66"/>
                </a:solidFill>
              </a:rPr>
              <a:t>APi Group target for inspection and service revenue</a:t>
            </a:r>
            <a:endParaRPr lang="en-US" sz="675" dirty="0"/>
          </a:p>
        </p:txBody>
      </p:sp>
      <p:sp>
        <p:nvSpPr>
          <p:cNvPr id="42" name="Shape 35"/>
          <p:cNvSpPr/>
          <p:nvPr/>
        </p:nvSpPr>
        <p:spPr>
          <a:xfrm>
            <a:off x="3124200" y="5795010"/>
            <a:ext cx="6515100" cy="0"/>
          </a:xfrm>
          <a:prstGeom prst="line">
            <a:avLst/>
          </a:prstGeom>
          <a:noFill/>
          <a:ln w="9525">
            <a:solidFill>
              <a:srgbClr val="E3DCD3"/>
            </a:solidFill>
            <a:prstDash val="solid"/>
          </a:ln>
        </p:spPr>
        <p:txBody>
          <a:bodyPr/>
          <a:lstStyle/>
          <a:p>
            <a:endParaRPr lang="en-US"/>
          </a:p>
        </p:txBody>
      </p:sp>
      <p:sp>
        <p:nvSpPr>
          <p:cNvPr id="43" name="Shape 36"/>
          <p:cNvSpPr/>
          <p:nvPr/>
        </p:nvSpPr>
        <p:spPr>
          <a:xfrm>
            <a:off x="3124200" y="6174105"/>
            <a:ext cx="381000" cy="381000"/>
          </a:xfrm>
          <a:prstGeom prst="ellipse">
            <a:avLst/>
          </a:prstGeom>
          <a:solidFill>
            <a:srgbClr val="1B1A1A"/>
          </a:solidFill>
          <a:ln/>
        </p:spPr>
        <p:txBody>
          <a:bodyPr/>
          <a:lstStyle/>
          <a:p>
            <a:endParaRPr lang="en-US"/>
          </a:p>
        </p:txBody>
      </p:sp>
      <p:pic>
        <p:nvPicPr>
          <p:cNvPr id="44" name="Image 5" descr="/tmp/claude-0/-home-claude-about/b7ea608c-3502-5da6-986c-4c57d144c940/scratchpad/brief/pptx/icons/percent_lg.png"/>
          <p:cNvPicPr>
            <a:picLocks noChangeAspect="1"/>
          </p:cNvPicPr>
          <p:nvPr/>
        </p:nvPicPr>
        <p:blipFill>
          <a:blip r:embed="rId17"/>
          <a:stretch>
            <a:fillRect/>
          </a:stretch>
        </p:blipFill>
        <p:spPr>
          <a:xfrm>
            <a:off x="3219450" y="6269355"/>
            <a:ext cx="190500" cy="190500"/>
          </a:xfrm>
          <a:prstGeom prst="rect">
            <a:avLst/>
          </a:prstGeom>
        </p:spPr>
      </p:pic>
      <p:sp>
        <p:nvSpPr>
          <p:cNvPr id="45" name="Text 37"/>
          <p:cNvSpPr txBox="1"/>
          <p:nvPr/>
        </p:nvSpPr>
        <p:spPr>
          <a:xfrm>
            <a:off x="3657600" y="5890260"/>
            <a:ext cx="4476750" cy="171450"/>
          </a:xfrm>
          <a:prstGeom prst="rect">
            <a:avLst/>
          </a:prstGeom>
          <a:noFill/>
          <a:ln/>
        </p:spPr>
        <p:txBody>
          <a:bodyPr wrap="square" lIns="0" tIns="0" rIns="0" bIns="0" rtlCol="0" anchor="t"/>
          <a:lstStyle/>
          <a:p>
            <a:pPr marL="0" indent="0">
              <a:buNone/>
            </a:pPr>
            <a:r>
              <a:rPr lang="en-US" sz="975" b="1" dirty="0">
                <a:solidFill>
                  <a:srgbClr val="1B1A1A"/>
                </a:solidFill>
              </a:rPr>
              <a:t>Financing costs more and buyers are more selective</a:t>
            </a:r>
            <a:endParaRPr lang="en-US" sz="975" dirty="0"/>
          </a:p>
        </p:txBody>
      </p:sp>
      <p:sp>
        <p:nvSpPr>
          <p:cNvPr id="46" name="Text 38"/>
          <p:cNvSpPr txBox="1"/>
          <p:nvPr/>
        </p:nvSpPr>
        <p:spPr>
          <a:xfrm>
            <a:off x="3657600" y="6080760"/>
            <a:ext cx="4476750" cy="815340"/>
          </a:xfrm>
          <a:prstGeom prst="rect">
            <a:avLst/>
          </a:prstGeom>
          <a:noFill/>
          <a:ln/>
        </p:spPr>
        <p:txBody>
          <a:bodyPr wrap="square" lIns="0" tIns="0" rIns="0" bIns="0" rtlCol="0" anchor="t"/>
          <a:lstStyle/>
          <a:p>
            <a:pPr marL="0" indent="0">
              <a:lnSpc>
                <a:spcPts val="1163"/>
              </a:lnSpc>
              <a:buNone/>
            </a:pPr>
            <a:r>
              <a:rPr lang="en-US" sz="810" dirty="0">
                <a:solidFill>
                  <a:srgbClr val="333231"/>
                </a:solidFill>
              </a:rPr>
              <a:t>Global M&amp;A value fell 41% from the second quarter to $993 billion in the third, and the Federal Reserve raised its target range to 3.75% to 4.00% on September 16 (</a:t>
            </a:r>
            <a:r>
              <a:rPr lang="en-US" sz="810" u="sng" dirty="0">
                <a:solidFill>
                  <a:srgbClr val="8C6239"/>
                </a:solidFill>
                <a:hlinkClick r:id="rId18" tooltip="https://www.globalbankingandfinance.com/global-m-deal-rush-fades-third-quarter-rising-borrowing/">
                  <a:extLst>
                    <a:ext uri="{A12FA001-AC4F-418D-AE19-62706E023703}">
                      <ahyp:hlinkClr xmlns:ahyp="http://schemas.microsoft.com/office/drawing/2018/hyperlinkcolor" val="tx"/>
                    </a:ext>
                  </a:extLst>
                </a:hlinkClick>
              </a:rPr>
              <a:t>LSEG data reported by Reuters</a:t>
            </a:r>
            <a:r>
              <a:rPr lang="en-US" sz="810" dirty="0">
                <a:solidFill>
                  <a:srgbClr val="333231"/>
                </a:solidFill>
              </a:rPr>
              <a:t>; </a:t>
            </a:r>
            <a:r>
              <a:rPr lang="en-US" sz="810" u="sng" dirty="0">
                <a:solidFill>
                  <a:srgbClr val="8C6239"/>
                </a:solidFill>
                <a:hlinkClick r:id="rId19" tooltip="https://www.federalreserve.gov/newsevents/pressreleases/monetary20260916a.htm">
                  <a:extLst>
                    <a:ext uri="{A12FA001-AC4F-418D-AE19-62706E023703}">
                      <ahyp:hlinkClr xmlns:ahyp="http://schemas.microsoft.com/office/drawing/2018/hyperlinkcolor" val="tx"/>
                    </a:ext>
                  </a:extLst>
                </a:hlinkClick>
              </a:rPr>
              <a:t>Federal Reserve</a:t>
            </a:r>
            <a:r>
              <a:rPr lang="en-US" sz="810" dirty="0">
                <a:solidFill>
                  <a:srgbClr val="333231"/>
                </a:solidFill>
              </a:rPr>
              <a:t>). GF Data’s average multiple eased to 7.0 times trailing adjusted EBITDA from 7.3 times, and debt on platform acquisitions fell to 2.9 times from 3.4 times (</a:t>
            </a:r>
            <a:r>
              <a:rPr lang="en-US" sz="810" u="sng" dirty="0">
                <a:solidFill>
                  <a:srgbClr val="8C6239"/>
                </a:solidFill>
                <a:hlinkClick r:id="rId20" tooltip="https://www.acg.org/news-trends/news/gf-data-reports-show-steady-middle-market-deal-flow-amid-more-selective">
                  <a:extLst>
                    <a:ext uri="{A12FA001-AC4F-418D-AE19-62706E023703}">
                      <ahyp:hlinkClr xmlns:ahyp="http://schemas.microsoft.com/office/drawing/2018/hyperlinkcolor" val="tx"/>
                    </a:ext>
                  </a:extLst>
                </a:hlinkClick>
              </a:rPr>
              <a:t>GF Data via ACG</a:t>
            </a:r>
            <a:r>
              <a:rPr lang="en-US" sz="810" dirty="0">
                <a:solidFill>
                  <a:srgbClr val="333231"/>
                </a:solidFill>
              </a:rPr>
              <a:t>).</a:t>
            </a:r>
            <a:endParaRPr lang="en-US" sz="810" dirty="0"/>
          </a:p>
        </p:txBody>
      </p:sp>
      <p:sp>
        <p:nvSpPr>
          <p:cNvPr id="47" name="Shape 39"/>
          <p:cNvSpPr/>
          <p:nvPr/>
        </p:nvSpPr>
        <p:spPr>
          <a:xfrm>
            <a:off x="8324850" y="6080760"/>
            <a:ext cx="0" cy="552450"/>
          </a:xfrm>
          <a:prstGeom prst="line">
            <a:avLst/>
          </a:prstGeom>
          <a:noFill/>
          <a:ln w="19050">
            <a:solidFill>
              <a:srgbClr val="B68757"/>
            </a:solidFill>
            <a:prstDash val="solid"/>
          </a:ln>
        </p:spPr>
        <p:txBody>
          <a:bodyPr/>
          <a:lstStyle/>
          <a:p>
            <a:endParaRPr lang="en-US"/>
          </a:p>
        </p:txBody>
      </p:sp>
      <p:sp>
        <p:nvSpPr>
          <p:cNvPr id="48" name="Text 40"/>
          <p:cNvSpPr txBox="1"/>
          <p:nvPr/>
        </p:nvSpPr>
        <p:spPr>
          <a:xfrm>
            <a:off x="8458200" y="6080760"/>
            <a:ext cx="1181100" cy="323850"/>
          </a:xfrm>
          <a:prstGeom prst="rect">
            <a:avLst/>
          </a:prstGeom>
          <a:noFill/>
          <a:ln/>
        </p:spPr>
        <p:txBody>
          <a:bodyPr wrap="square" lIns="0" tIns="0" rIns="0" bIns="0" rtlCol="0" anchor="t"/>
          <a:lstStyle/>
          <a:p>
            <a:pPr marL="0" indent="0">
              <a:buNone/>
            </a:pPr>
            <a:r>
              <a:rPr lang="en-US" sz="2100" b="1" dirty="0">
                <a:solidFill>
                  <a:srgbClr val="8C6239"/>
                </a:solidFill>
                <a:latin typeface="+mj-lt" pitchFamily="34" charset="0"/>
              </a:rPr>
              <a:t>7.0x</a:t>
            </a:r>
            <a:endParaRPr lang="en-US" sz="2100" dirty="0"/>
          </a:p>
        </p:txBody>
      </p:sp>
      <p:sp>
        <p:nvSpPr>
          <p:cNvPr id="49" name="Text 41"/>
          <p:cNvSpPr txBox="1"/>
          <p:nvPr/>
        </p:nvSpPr>
        <p:spPr>
          <a:xfrm>
            <a:off x="8458200" y="6423660"/>
            <a:ext cx="1181100" cy="285750"/>
          </a:xfrm>
          <a:prstGeom prst="rect">
            <a:avLst/>
          </a:prstGeom>
          <a:noFill/>
          <a:ln/>
        </p:spPr>
        <p:txBody>
          <a:bodyPr wrap="square" lIns="0" tIns="0" rIns="0" bIns="0" rtlCol="0" anchor="t"/>
          <a:lstStyle/>
          <a:p>
            <a:pPr marL="0" indent="0">
              <a:lnSpc>
                <a:spcPts val="938"/>
              </a:lnSpc>
              <a:buNone/>
            </a:pPr>
            <a:r>
              <a:rPr lang="en-US" sz="675" dirty="0">
                <a:solidFill>
                  <a:srgbClr val="6F6A66"/>
                </a:solidFill>
              </a:rPr>
              <a:t>Average middle-market multiple of EBITDA, Q2</a:t>
            </a:r>
            <a:endParaRPr lang="en-US" sz="675" dirty="0"/>
          </a:p>
        </p:txBody>
      </p:sp>
      <p:sp>
        <p:nvSpPr>
          <p:cNvPr id="50"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Power Demand: The Buildout Reaches Every Industrial Segment</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Electricity demand is growing about 2% a year, the equipment to meet it is sold out years ahead, and acquirers are buying existing capacity.</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Transaction values and multiples are as stated by the acquirer in the linked announcement. Backlog figures are from company second-quarter reports and the ABC member survey for August 2026.</a:t>
            </a:r>
            <a:endParaRPr lang="en-US" sz="675" dirty="0"/>
          </a:p>
        </p:txBody>
      </p:sp>
      <p:sp>
        <p:nvSpPr>
          <p:cNvPr id="5" name="Text 3"/>
          <p:cNvSpPr txBox="1"/>
          <p:nvPr/>
        </p:nvSpPr>
        <p:spPr>
          <a:xfrm>
            <a:off x="419100" y="1238250"/>
            <a:ext cx="2724150" cy="1333500"/>
          </a:xfrm>
          <a:prstGeom prst="rect">
            <a:avLst/>
          </a:prstGeom>
          <a:noFill/>
          <a:ln/>
        </p:spPr>
        <p:txBody>
          <a:bodyPr wrap="square" lIns="0" tIns="0" rIns="0" bIns="0" rtlCol="0" anchor="t"/>
          <a:lstStyle/>
          <a:p>
            <a:pPr marL="0" indent="0">
              <a:lnSpc>
                <a:spcPts val="1335"/>
              </a:lnSpc>
              <a:buNone/>
            </a:pPr>
            <a:r>
              <a:rPr lang="en-US" sz="885" dirty="0">
                <a:solidFill>
                  <a:srgbClr val="333231"/>
                </a:solidFill>
              </a:rPr>
              <a:t>The Energy Information Administration expects US electricity sales to grow about 2% in 2026 and again in 2027, driven by data center development and commercial and industrial activity (</a:t>
            </a:r>
            <a:r>
              <a:rPr lang="en-US" sz="885" u="sng" dirty="0">
                <a:solidFill>
                  <a:srgbClr val="8C6239"/>
                </a:solidFill>
                <a:hlinkClick r:id="rId3" tooltip="https://www.eia.gov/outlooks/steo/report/elec_coal_renew.php">
                  <a:extLst>
                    <a:ext uri="{A12FA001-AC4F-418D-AE19-62706E023703}">
                      <ahyp:hlinkClr xmlns:ahyp="http://schemas.microsoft.com/office/drawing/2018/hyperlinkcolor" val="tx"/>
                    </a:ext>
                  </a:extLst>
                </a:hlinkClick>
              </a:rPr>
              <a:t>EIA</a:t>
            </a:r>
            <a:r>
              <a:rPr lang="en-US" sz="885" dirty="0">
                <a:solidFill>
                  <a:srgbClr val="333231"/>
                </a:solidFill>
              </a:rPr>
              <a:t>). NERC raised its 10-year forecast of summer peak demand growth to 224 gigawatts from 132 (</a:t>
            </a:r>
            <a:r>
              <a:rPr lang="en-US" sz="885" u="sng" dirty="0">
                <a:solidFill>
                  <a:srgbClr val="8C6239"/>
                </a:solidFill>
                <a:hlinkClick r:id="rId4" tooltip="https://www.powermag.com/nerc-warns-long-term-grid-reliability-risks-mounting/">
                  <a:extLst>
                    <a:ext uri="{A12FA001-AC4F-418D-AE19-62706E023703}">
                      <ahyp:hlinkClr xmlns:ahyp="http://schemas.microsoft.com/office/drawing/2018/hyperlinkcolor" val="tx"/>
                    </a:ext>
                  </a:extLst>
                </a:hlinkClick>
              </a:rPr>
              <a:t>POWER Magazine</a:t>
            </a:r>
            <a:r>
              <a:rPr lang="en-US" sz="885" dirty="0">
                <a:solidFill>
                  <a:srgbClr val="333231"/>
                </a:solidFill>
              </a:rPr>
              <a:t>), and Meta alone expects capital expenditures of $130 billion to $145 billion in 2026 (</a:t>
            </a:r>
            <a:r>
              <a:rPr lang="en-US" sz="885" u="sng" dirty="0">
                <a:solidFill>
                  <a:srgbClr val="8C6239"/>
                </a:solidFill>
                <a:hlinkClick r:id="rId5" tooltip="https://www.prnewswire.com/news-releases/meta-reports-second-quarter-2026-results-302838214.html">
                  <a:extLst>
                    <a:ext uri="{A12FA001-AC4F-418D-AE19-62706E023703}">
                      <ahyp:hlinkClr xmlns:ahyp="http://schemas.microsoft.com/office/drawing/2018/hyperlinkcolor" val="tx"/>
                    </a:ext>
                  </a:extLst>
                </a:hlinkClick>
              </a:rPr>
              <a:t>Meta</a:t>
            </a:r>
            <a:r>
              <a:rPr lang="en-US" sz="885" dirty="0">
                <a:solidFill>
                  <a:srgbClr val="333231"/>
                </a:solidFill>
              </a:rPr>
              <a:t>).</a:t>
            </a:r>
            <a:endParaRPr lang="en-US" sz="885" dirty="0"/>
          </a:p>
        </p:txBody>
      </p:sp>
      <p:sp>
        <p:nvSpPr>
          <p:cNvPr id="6" name="Text 4"/>
          <p:cNvSpPr txBox="1"/>
          <p:nvPr/>
        </p:nvSpPr>
        <p:spPr>
          <a:xfrm>
            <a:off x="419100" y="2686050"/>
            <a:ext cx="2724150" cy="1714500"/>
          </a:xfrm>
          <a:prstGeom prst="rect">
            <a:avLst/>
          </a:prstGeom>
          <a:noFill/>
          <a:ln/>
        </p:spPr>
        <p:txBody>
          <a:bodyPr wrap="square" lIns="0" tIns="0" rIns="0" bIns="0" rtlCol="0" anchor="t"/>
          <a:lstStyle/>
          <a:p>
            <a:pPr marL="0" indent="0">
              <a:lnSpc>
                <a:spcPts val="1335"/>
              </a:lnSpc>
              <a:buNone/>
            </a:pPr>
            <a:r>
              <a:rPr lang="en-US" sz="885" dirty="0">
                <a:solidFill>
                  <a:srgbClr val="333231"/>
                </a:solidFill>
              </a:rPr>
              <a:t>The equipment needed to meet that demand is committed years ahead. GE Vernova’s gas turbine backlog and slot reservations rose to 116 gigawatts from 100 during the second quarter (</a:t>
            </a:r>
            <a:r>
              <a:rPr lang="en-US" sz="885" u="sng" dirty="0">
                <a:solidFill>
                  <a:srgbClr val="8C6239"/>
                </a:solidFill>
                <a:hlinkClick r:id="rId6" tooltip="https://www.sec.gov/Archives/edgar/data/0001996810/000199681026000147/gevpressrelease2q26.htm">
                  <a:extLst>
                    <a:ext uri="{A12FA001-AC4F-418D-AE19-62706E023703}">
                      <ahyp:hlinkClr xmlns:ahyp="http://schemas.microsoft.com/office/drawing/2018/hyperlinkcolor" val="tx"/>
                    </a:ext>
                  </a:extLst>
                </a:hlinkClick>
              </a:rPr>
              <a:t>GE Vernova</a:t>
            </a:r>
            <a:r>
              <a:rPr lang="en-US" sz="885" dirty="0">
                <a:solidFill>
                  <a:srgbClr val="333231"/>
                </a:solidFill>
              </a:rPr>
              <a:t>), and lead times for generator step-up transformers reached 160 weeks in the first quarter (</a:t>
            </a:r>
            <a:r>
              <a:rPr lang="en-US" sz="885" u="sng" dirty="0">
                <a:solidFill>
                  <a:srgbClr val="8C6239"/>
                </a:solidFill>
                <a:hlinkClick r:id="rId7" tooltip="https://www.ajot.com/news/us-power-companies-scramble-to-secure-equipment-as-surging-data-center-demand-strains-supplies">
                  <a:extLst>
                    <a:ext uri="{A12FA001-AC4F-418D-AE19-62706E023703}">
                      <ahyp:hlinkClr xmlns:ahyp="http://schemas.microsoft.com/office/drawing/2018/hyperlinkcolor" val="tx"/>
                    </a:ext>
                  </a:extLst>
                </a:hlinkClick>
              </a:rPr>
              <a:t>Reuters, citing Wood Mackenzie</a:t>
            </a:r>
            <a:r>
              <a:rPr lang="en-US" sz="885" dirty="0">
                <a:solidFill>
                  <a:srgbClr val="333231"/>
                </a:solidFill>
              </a:rPr>
              <a:t>). Generac’s commercial and industrial sales grew 29% and its data center backlog reached about $1.6 billion (</a:t>
            </a:r>
            <a:r>
              <a:rPr lang="en-US" sz="885" u="sng" dirty="0">
                <a:solidFill>
                  <a:srgbClr val="8C6239"/>
                </a:solidFill>
                <a:hlinkClick r:id="rId8" tooltip="https://www.sec.gov/Archives/edgar/data/0001474735/000143774926024731/ex_994826.htm">
                  <a:extLst>
                    <a:ext uri="{A12FA001-AC4F-418D-AE19-62706E023703}">
                      <ahyp:hlinkClr xmlns:ahyp="http://schemas.microsoft.com/office/drawing/2018/hyperlinkcolor" val="tx"/>
                    </a:ext>
                  </a:extLst>
                </a:hlinkClick>
              </a:rPr>
              <a:t>Generac</a:t>
            </a:r>
            <a:r>
              <a:rPr lang="en-US" sz="885" dirty="0">
                <a:solidFill>
                  <a:srgbClr val="333231"/>
                </a:solidFill>
              </a:rPr>
              <a:t>).</a:t>
            </a:r>
            <a:endParaRPr lang="en-US" sz="885" dirty="0"/>
          </a:p>
        </p:txBody>
      </p:sp>
      <p:sp>
        <p:nvSpPr>
          <p:cNvPr id="7" name="Shape 5"/>
          <p:cNvSpPr/>
          <p:nvPr/>
        </p:nvSpPr>
        <p:spPr>
          <a:xfrm flipH="1">
            <a:off x="407339" y="4171950"/>
            <a:ext cx="21285" cy="2676330"/>
          </a:xfrm>
          <a:prstGeom prst="line">
            <a:avLst/>
          </a:prstGeom>
          <a:noFill/>
          <a:ln w="28575">
            <a:solidFill>
              <a:srgbClr val="B68757"/>
            </a:solidFill>
            <a:prstDash val="solid"/>
          </a:ln>
        </p:spPr>
        <p:txBody>
          <a:bodyPr/>
          <a:lstStyle/>
          <a:p>
            <a:endParaRPr lang="en-US"/>
          </a:p>
        </p:txBody>
      </p:sp>
      <p:sp>
        <p:nvSpPr>
          <p:cNvPr id="8" name="Text 6"/>
          <p:cNvSpPr txBox="1"/>
          <p:nvPr/>
        </p:nvSpPr>
        <p:spPr>
          <a:xfrm>
            <a:off x="521640" y="4181669"/>
            <a:ext cx="2571750" cy="2676331"/>
          </a:xfrm>
          <a:prstGeom prst="rect">
            <a:avLst/>
          </a:prstGeom>
          <a:noFill/>
          <a:ln/>
        </p:spPr>
        <p:txBody>
          <a:bodyPr wrap="square" lIns="0" tIns="0" rIns="0" bIns="0" rtlCol="0" anchor="t"/>
          <a:lstStyle/>
          <a:p>
            <a:pPr marL="0" indent="0">
              <a:lnSpc>
                <a:spcPts val="1575"/>
              </a:lnSpc>
              <a:buNone/>
            </a:pPr>
            <a:r>
              <a:rPr lang="en-US" sz="1088" b="1" i="1" dirty="0"/>
              <a:t>AI Bottleneck Is Power, Not Chips</a:t>
            </a:r>
          </a:p>
          <a:p>
            <a:pPr>
              <a:lnSpc>
                <a:spcPct val="100000"/>
              </a:lnSpc>
            </a:pPr>
            <a:endParaRPr lang="en-US" sz="800" i="1" dirty="0"/>
          </a:p>
          <a:p>
            <a:r>
              <a:rPr lang="en-US" sz="800" i="1" dirty="0"/>
              <a:t>“So, it’s interesting as they continue to announce all the data centers and data center sites. I’ve sort of always had a strong view that energy would be the constraint” — Greg Abel, CEO, Berkshire Hathaway (</a:t>
            </a:r>
            <a:r>
              <a:rPr lang="en-US" sz="800" u="sng" dirty="0">
                <a:hlinkClick r:id="rId9"/>
              </a:rPr>
              <a:t>CNBC</a:t>
            </a:r>
            <a:r>
              <a:rPr lang="en-US" sz="800" u="sng" dirty="0"/>
              <a:t>)</a:t>
            </a:r>
            <a:endParaRPr lang="en-US" sz="800" dirty="0"/>
          </a:p>
          <a:p>
            <a:pPr>
              <a:lnSpc>
                <a:spcPct val="100000"/>
              </a:lnSpc>
            </a:pPr>
            <a:endParaRPr lang="en-US" sz="800" i="1" dirty="0"/>
          </a:p>
          <a:p>
            <a:pPr>
              <a:lnSpc>
                <a:spcPct val="100000"/>
              </a:lnSpc>
            </a:pPr>
            <a:endParaRPr lang="en-US" sz="800" i="1" dirty="0"/>
          </a:p>
          <a:p>
            <a:r>
              <a:rPr lang="en-US" sz="800" i="1" dirty="0"/>
              <a:t>“Well, I don't think it's going to come down to chips or the models that people create or the apps that we develop. I think the consistent theme you hear here is can we get the power generation to power these massive data centers.”  - Toby Rice, CEO, EQT  (</a:t>
            </a:r>
            <a:r>
              <a:rPr lang="en-US" sz="800" u="sng" dirty="0">
                <a:hlinkClick r:id="rId10"/>
              </a:rPr>
              <a:t>EQT Corporation</a:t>
            </a:r>
            <a:r>
              <a:rPr lang="en-US" sz="800" u="sng" dirty="0"/>
              <a:t>)</a:t>
            </a:r>
            <a:endParaRPr lang="en-US" sz="800" dirty="0"/>
          </a:p>
          <a:p>
            <a:pPr>
              <a:lnSpc>
                <a:spcPct val="100000"/>
              </a:lnSpc>
            </a:pPr>
            <a:endParaRPr lang="en-US" sz="1000" i="1" dirty="0"/>
          </a:p>
          <a:p>
            <a:r>
              <a:rPr lang="en-US" sz="800" i="1" dirty="0"/>
              <a:t>“quite frankly, the biggest issue we are now having is not a compute glut, but it's a power and it's sort of the ability to get the builds done fast enough close to power. So, if you can't do that, you may actually have a bunch of chips sitting in inventory that I can't plug in.” — Satya Nadella, CEO, Microsoft (</a:t>
            </a:r>
            <a:r>
              <a:rPr lang="en-US" sz="800" u="sng" dirty="0">
                <a:hlinkClick r:id="rId11"/>
              </a:rPr>
              <a:t>Bg2 Pod</a:t>
            </a:r>
            <a:r>
              <a:rPr lang="en-US" sz="800" i="1" dirty="0"/>
              <a:t>)</a:t>
            </a:r>
          </a:p>
          <a:p>
            <a:pPr marL="0" indent="0">
              <a:lnSpc>
                <a:spcPts val="1575"/>
              </a:lnSpc>
              <a:buNone/>
            </a:pPr>
            <a:endParaRPr lang="en-US" sz="1088" b="1" i="1" dirty="0"/>
          </a:p>
        </p:txBody>
      </p:sp>
      <p:sp>
        <p:nvSpPr>
          <p:cNvPr id="10" name="Text 8"/>
          <p:cNvSpPr txBox="1"/>
          <p:nvPr/>
        </p:nvSpPr>
        <p:spPr>
          <a:xfrm>
            <a:off x="3352800" y="1238250"/>
            <a:ext cx="3867150" cy="152400"/>
          </a:xfrm>
          <a:prstGeom prst="rect">
            <a:avLst/>
          </a:prstGeom>
          <a:noFill/>
          <a:ln/>
        </p:spPr>
        <p:txBody>
          <a:bodyPr wrap="square" lIns="0" tIns="0" rIns="0" bIns="0" rtlCol="0" anchor="t"/>
          <a:lstStyle/>
          <a:p>
            <a:pPr marL="0" indent="0">
              <a:buNone/>
            </a:pPr>
            <a:r>
              <a:rPr lang="en-US" sz="675" b="1" kern="0" spc="200" dirty="0">
                <a:solidFill>
                  <a:srgbClr val="8C6239"/>
                </a:solidFill>
              </a:rPr>
              <a:t>HOW THE DEMAND REACHES EACH SEGMENT</a:t>
            </a:r>
            <a:endParaRPr lang="en-US" sz="675" dirty="0"/>
          </a:p>
        </p:txBody>
      </p:sp>
      <p:sp>
        <p:nvSpPr>
          <p:cNvPr id="11" name="Shape 9"/>
          <p:cNvSpPr/>
          <p:nvPr/>
        </p:nvSpPr>
        <p:spPr>
          <a:xfrm>
            <a:off x="3352800" y="1447800"/>
            <a:ext cx="3867150" cy="0"/>
          </a:xfrm>
          <a:prstGeom prst="line">
            <a:avLst/>
          </a:prstGeom>
          <a:noFill/>
          <a:ln w="9525">
            <a:solidFill>
              <a:srgbClr val="E3DCD3"/>
            </a:solidFill>
            <a:prstDash val="solid"/>
          </a:ln>
        </p:spPr>
        <p:txBody>
          <a:bodyPr/>
          <a:lstStyle/>
          <a:p>
            <a:endParaRPr lang="en-US"/>
          </a:p>
        </p:txBody>
      </p:sp>
      <p:sp>
        <p:nvSpPr>
          <p:cNvPr id="12" name="Shape 10"/>
          <p:cNvSpPr/>
          <p:nvPr/>
        </p:nvSpPr>
        <p:spPr>
          <a:xfrm>
            <a:off x="3352800" y="1552575"/>
            <a:ext cx="285750" cy="285750"/>
          </a:xfrm>
          <a:prstGeom prst="ellipse">
            <a:avLst/>
          </a:prstGeom>
          <a:solidFill>
            <a:srgbClr val="1B1A1A"/>
          </a:solidFill>
          <a:ln/>
        </p:spPr>
        <p:txBody>
          <a:bodyPr/>
          <a:lstStyle/>
          <a:p>
            <a:endParaRPr lang="en-US"/>
          </a:p>
        </p:txBody>
      </p:sp>
      <p:pic>
        <p:nvPicPr>
          <p:cNvPr id="13" name="Image 0" descr="/tmp/claude-0/-home-claude-about/b7ea608c-3502-5da6-986c-4c57d144c940/scratchpad/brief/pptx/icons/factory_lg.png"/>
          <p:cNvPicPr>
            <a:picLocks noChangeAspect="1"/>
          </p:cNvPicPr>
          <p:nvPr/>
        </p:nvPicPr>
        <p:blipFill>
          <a:blip r:embed="rId12"/>
          <a:stretch>
            <a:fillRect/>
          </a:stretch>
        </p:blipFill>
        <p:spPr>
          <a:xfrm>
            <a:off x="3419475" y="1619250"/>
            <a:ext cx="152400" cy="152400"/>
          </a:xfrm>
          <a:prstGeom prst="rect">
            <a:avLst/>
          </a:prstGeom>
        </p:spPr>
      </p:pic>
      <p:sp>
        <p:nvSpPr>
          <p:cNvPr id="14" name="Text 11"/>
          <p:cNvSpPr txBox="1"/>
          <p:nvPr/>
        </p:nvSpPr>
        <p:spPr>
          <a:xfrm>
            <a:off x="3752850" y="1543050"/>
            <a:ext cx="3467100" cy="142875"/>
          </a:xfrm>
          <a:prstGeom prst="rect">
            <a:avLst/>
          </a:prstGeom>
          <a:noFill/>
          <a:ln/>
        </p:spPr>
        <p:txBody>
          <a:bodyPr wrap="square" lIns="0" tIns="0" rIns="0" bIns="0" rtlCol="0" anchor="t"/>
          <a:lstStyle/>
          <a:p>
            <a:pPr marL="0" indent="0">
              <a:buNone/>
            </a:pPr>
            <a:r>
              <a:rPr lang="en-US" sz="750" b="1" kern="0" spc="100" dirty="0">
                <a:solidFill>
                  <a:srgbClr val="8C6239"/>
                </a:solidFill>
              </a:rPr>
              <a:t>MANUFACTURING &amp; INDUSTRIAL TECHNOLOGY</a:t>
            </a:r>
            <a:endParaRPr lang="en-US" sz="750" dirty="0"/>
          </a:p>
        </p:txBody>
      </p:sp>
      <p:sp>
        <p:nvSpPr>
          <p:cNvPr id="15" name="Text 12"/>
          <p:cNvSpPr txBox="1"/>
          <p:nvPr/>
        </p:nvSpPr>
        <p:spPr>
          <a:xfrm>
            <a:off x="3752850" y="1704975"/>
            <a:ext cx="3467100" cy="800100"/>
          </a:xfrm>
          <a:prstGeom prst="rect">
            <a:avLst/>
          </a:prstGeom>
          <a:noFill/>
          <a:ln/>
        </p:spPr>
        <p:txBody>
          <a:bodyPr wrap="square" lIns="0" tIns="0" rIns="0" bIns="0" rtlCol="0" anchor="t"/>
          <a:lstStyle/>
          <a:p>
            <a:pPr marL="0" indent="0">
              <a:lnSpc>
                <a:spcPts val="1125"/>
              </a:lnSpc>
              <a:buNone/>
            </a:pPr>
            <a:r>
              <a:rPr lang="en-US" sz="795" dirty="0">
                <a:solidFill>
                  <a:srgbClr val="333231"/>
                </a:solidFill>
              </a:rPr>
              <a:t>nVent agreed to buy Maverick Power, a Texas maker of switchgear and modular power for data centers, for $1.75 billion plus up to $550 million, which it put at 11.5 times anticipated 2026 adjusted EBITDA on the upfront payment (</a:t>
            </a:r>
            <a:r>
              <a:rPr lang="en-US" sz="795" u="sng" dirty="0">
                <a:solidFill>
                  <a:srgbClr val="8C6239"/>
                </a:solidFill>
                <a:hlinkClick r:id="rId13" tooltip="https://www.globenewswire.com/news-release/2026/08/24/3349571/0/en/nvent-to-acquire-maverick-power.html">
                  <a:extLst>
                    <a:ext uri="{A12FA001-AC4F-418D-AE19-62706E023703}">
                      <ahyp:hlinkClr xmlns:ahyp="http://schemas.microsoft.com/office/drawing/2018/hyperlinkcolor" val="tx"/>
                    </a:ext>
                  </a:extLst>
                </a:hlinkClick>
              </a:rPr>
              <a:t>nVent</a:t>
            </a:r>
            <a:r>
              <a:rPr lang="en-US" sz="795" dirty="0">
                <a:solidFill>
                  <a:srgbClr val="333231"/>
                </a:solidFill>
              </a:rPr>
              <a:t>).</a:t>
            </a:r>
            <a:endParaRPr lang="en-US" sz="795" dirty="0"/>
          </a:p>
        </p:txBody>
      </p:sp>
      <p:sp>
        <p:nvSpPr>
          <p:cNvPr id="16" name="Shape 13"/>
          <p:cNvSpPr/>
          <p:nvPr/>
        </p:nvSpPr>
        <p:spPr>
          <a:xfrm>
            <a:off x="3352800" y="2533650"/>
            <a:ext cx="3867150" cy="0"/>
          </a:xfrm>
          <a:prstGeom prst="line">
            <a:avLst/>
          </a:prstGeom>
          <a:noFill/>
          <a:ln w="9525">
            <a:solidFill>
              <a:srgbClr val="E3DCD3"/>
            </a:solidFill>
            <a:prstDash val="solid"/>
          </a:ln>
        </p:spPr>
        <p:txBody>
          <a:bodyPr/>
          <a:lstStyle/>
          <a:p>
            <a:endParaRPr lang="en-US"/>
          </a:p>
        </p:txBody>
      </p:sp>
      <p:sp>
        <p:nvSpPr>
          <p:cNvPr id="17" name="Shape 14"/>
          <p:cNvSpPr/>
          <p:nvPr/>
        </p:nvSpPr>
        <p:spPr>
          <a:xfrm>
            <a:off x="3352800" y="2638425"/>
            <a:ext cx="285750" cy="285750"/>
          </a:xfrm>
          <a:prstGeom prst="ellipse">
            <a:avLst/>
          </a:prstGeom>
          <a:solidFill>
            <a:srgbClr val="1B1A1A"/>
          </a:solidFill>
          <a:ln/>
        </p:spPr>
        <p:txBody>
          <a:bodyPr/>
          <a:lstStyle/>
          <a:p>
            <a:endParaRPr lang="en-US"/>
          </a:p>
        </p:txBody>
      </p:sp>
      <p:pic>
        <p:nvPicPr>
          <p:cNvPr id="18" name="Image 1" descr="/tmp/claude-0/-home-claude-about/b7ea608c-3502-5da6-986c-4c57d144c940/scratchpad/brief/pptx/icons/boxes_lg.png"/>
          <p:cNvPicPr>
            <a:picLocks noChangeAspect="1"/>
          </p:cNvPicPr>
          <p:nvPr/>
        </p:nvPicPr>
        <p:blipFill>
          <a:blip r:embed="rId14"/>
          <a:stretch>
            <a:fillRect/>
          </a:stretch>
        </p:blipFill>
        <p:spPr>
          <a:xfrm>
            <a:off x="3419475" y="2705100"/>
            <a:ext cx="152400" cy="152400"/>
          </a:xfrm>
          <a:prstGeom prst="rect">
            <a:avLst/>
          </a:prstGeom>
        </p:spPr>
      </p:pic>
      <p:sp>
        <p:nvSpPr>
          <p:cNvPr id="19" name="Text 15"/>
          <p:cNvSpPr txBox="1"/>
          <p:nvPr/>
        </p:nvSpPr>
        <p:spPr>
          <a:xfrm>
            <a:off x="3752850" y="2628900"/>
            <a:ext cx="3467100" cy="142875"/>
          </a:xfrm>
          <a:prstGeom prst="rect">
            <a:avLst/>
          </a:prstGeom>
          <a:noFill/>
          <a:ln/>
        </p:spPr>
        <p:txBody>
          <a:bodyPr wrap="square" lIns="0" tIns="0" rIns="0" bIns="0" rtlCol="0" anchor="t"/>
          <a:lstStyle/>
          <a:p>
            <a:pPr marL="0" indent="0">
              <a:buNone/>
            </a:pPr>
            <a:r>
              <a:rPr lang="en-US" sz="750" b="1" kern="0" spc="100" dirty="0">
                <a:solidFill>
                  <a:srgbClr val="8C6239"/>
                </a:solidFill>
              </a:rPr>
              <a:t>INDUSTRIAL DISTRIBUTION &amp; SERVICES</a:t>
            </a:r>
            <a:endParaRPr lang="en-US" sz="750" dirty="0"/>
          </a:p>
        </p:txBody>
      </p:sp>
      <p:sp>
        <p:nvSpPr>
          <p:cNvPr id="20" name="Text 16"/>
          <p:cNvSpPr txBox="1"/>
          <p:nvPr/>
        </p:nvSpPr>
        <p:spPr>
          <a:xfrm>
            <a:off x="3752850" y="2790825"/>
            <a:ext cx="3467100" cy="800100"/>
          </a:xfrm>
          <a:prstGeom prst="rect">
            <a:avLst/>
          </a:prstGeom>
          <a:noFill/>
          <a:ln/>
        </p:spPr>
        <p:txBody>
          <a:bodyPr wrap="square" lIns="0" tIns="0" rIns="0" bIns="0" rtlCol="0" anchor="t"/>
          <a:lstStyle/>
          <a:p>
            <a:pPr marL="0" indent="0">
              <a:lnSpc>
                <a:spcPts val="1125"/>
              </a:lnSpc>
              <a:buNone/>
            </a:pPr>
            <a:r>
              <a:rPr lang="en-US" sz="795" dirty="0">
                <a:solidFill>
                  <a:srgbClr val="333231"/>
                </a:solidFill>
              </a:rPr>
              <a:t>EMCOR’s US Industrial Services segment grew 25.9% in the second quarter (</a:t>
            </a:r>
            <a:r>
              <a:rPr lang="en-US" sz="795" u="sng" dirty="0">
                <a:solidFill>
                  <a:srgbClr val="8C6239"/>
                </a:solidFill>
                <a:hlinkClick r:id="rId15" tooltip="https://www.sec.gov/Archives/edgar/data/105634/000010563426000112/eme-ex991_2026630xq2.htm">
                  <a:extLst>
                    <a:ext uri="{A12FA001-AC4F-418D-AE19-62706E023703}">
                      <ahyp:hlinkClr xmlns:ahyp="http://schemas.microsoft.com/office/drawing/2018/hyperlinkcolor" val="tx"/>
                    </a:ext>
                  </a:extLst>
                </a:hlinkClick>
              </a:rPr>
              <a:t>EMCOR</a:t>
            </a:r>
            <a:r>
              <a:rPr lang="en-US" sz="795" dirty="0">
                <a:solidFill>
                  <a:srgbClr val="333231"/>
                </a:solidFill>
              </a:rPr>
              <a:t>), and contractors with power, utility and data center customers have kept growing in a year when refiners deferred turnaround work to 2027.</a:t>
            </a:r>
            <a:endParaRPr lang="en-US" sz="795" dirty="0"/>
          </a:p>
        </p:txBody>
      </p:sp>
      <p:sp>
        <p:nvSpPr>
          <p:cNvPr id="21" name="Shape 17"/>
          <p:cNvSpPr/>
          <p:nvPr/>
        </p:nvSpPr>
        <p:spPr>
          <a:xfrm>
            <a:off x="3352800" y="3619500"/>
            <a:ext cx="3867150" cy="0"/>
          </a:xfrm>
          <a:prstGeom prst="line">
            <a:avLst/>
          </a:prstGeom>
          <a:noFill/>
          <a:ln w="9525">
            <a:solidFill>
              <a:srgbClr val="E3DCD3"/>
            </a:solidFill>
            <a:prstDash val="solid"/>
          </a:ln>
        </p:spPr>
        <p:txBody>
          <a:bodyPr/>
          <a:lstStyle/>
          <a:p>
            <a:endParaRPr lang="en-US"/>
          </a:p>
        </p:txBody>
      </p:sp>
      <p:sp>
        <p:nvSpPr>
          <p:cNvPr id="22" name="Shape 18"/>
          <p:cNvSpPr/>
          <p:nvPr/>
        </p:nvSpPr>
        <p:spPr>
          <a:xfrm>
            <a:off x="3352800" y="3724275"/>
            <a:ext cx="285750" cy="285750"/>
          </a:xfrm>
          <a:prstGeom prst="ellipse">
            <a:avLst/>
          </a:prstGeom>
          <a:solidFill>
            <a:srgbClr val="1B1A1A"/>
          </a:solidFill>
          <a:ln/>
        </p:spPr>
        <p:txBody>
          <a:bodyPr/>
          <a:lstStyle/>
          <a:p>
            <a:endParaRPr lang="en-US"/>
          </a:p>
        </p:txBody>
      </p:sp>
      <p:pic>
        <p:nvPicPr>
          <p:cNvPr id="23" name="Image 2" descr="/tmp/claude-0/-home-claude-about/b7ea608c-3502-5da6-986c-4c57d144c940/scratchpad/brief/pptx/icons/building_lg.png"/>
          <p:cNvPicPr>
            <a:picLocks noChangeAspect="1"/>
          </p:cNvPicPr>
          <p:nvPr/>
        </p:nvPicPr>
        <p:blipFill>
          <a:blip r:embed="rId16"/>
          <a:stretch>
            <a:fillRect/>
          </a:stretch>
        </p:blipFill>
        <p:spPr>
          <a:xfrm>
            <a:off x="3419475" y="3790950"/>
            <a:ext cx="152400" cy="152400"/>
          </a:xfrm>
          <a:prstGeom prst="rect">
            <a:avLst/>
          </a:prstGeom>
        </p:spPr>
      </p:pic>
      <p:sp>
        <p:nvSpPr>
          <p:cNvPr id="24" name="Text 19"/>
          <p:cNvSpPr txBox="1"/>
          <p:nvPr/>
        </p:nvSpPr>
        <p:spPr>
          <a:xfrm>
            <a:off x="3752850" y="3714750"/>
            <a:ext cx="3467100" cy="142875"/>
          </a:xfrm>
          <a:prstGeom prst="rect">
            <a:avLst/>
          </a:prstGeom>
          <a:noFill/>
          <a:ln/>
        </p:spPr>
        <p:txBody>
          <a:bodyPr wrap="square" lIns="0" tIns="0" rIns="0" bIns="0" rtlCol="0" anchor="t"/>
          <a:lstStyle/>
          <a:p>
            <a:pPr marL="0" indent="0">
              <a:buNone/>
            </a:pPr>
            <a:r>
              <a:rPr lang="en-US" sz="750" b="1" kern="0" spc="100" dirty="0">
                <a:solidFill>
                  <a:srgbClr val="8C6239"/>
                </a:solidFill>
              </a:rPr>
              <a:t>BUILDING PRODUCTS &amp; CONSTRUCTION SERVICES</a:t>
            </a:r>
            <a:endParaRPr lang="en-US" sz="750" dirty="0"/>
          </a:p>
        </p:txBody>
      </p:sp>
      <p:sp>
        <p:nvSpPr>
          <p:cNvPr id="25" name="Text 20"/>
          <p:cNvSpPr txBox="1"/>
          <p:nvPr/>
        </p:nvSpPr>
        <p:spPr>
          <a:xfrm>
            <a:off x="3752850" y="3876675"/>
            <a:ext cx="3467100" cy="800100"/>
          </a:xfrm>
          <a:prstGeom prst="rect">
            <a:avLst/>
          </a:prstGeom>
          <a:noFill/>
          <a:ln/>
        </p:spPr>
        <p:txBody>
          <a:bodyPr wrap="square" lIns="0" tIns="0" rIns="0" bIns="0" rtlCol="0" anchor="t"/>
          <a:lstStyle/>
          <a:p>
            <a:pPr marL="0" indent="0">
              <a:lnSpc>
                <a:spcPts val="1125"/>
              </a:lnSpc>
              <a:buNone/>
            </a:pPr>
            <a:r>
              <a:rPr lang="en-US" sz="795" dirty="0">
                <a:solidFill>
                  <a:srgbClr val="333231"/>
                </a:solidFill>
              </a:rPr>
              <a:t>Contractors doing data center work reported 9.9 months of backlog against 8.3 months for those that are not (</a:t>
            </a:r>
            <a:r>
              <a:rPr lang="en-US" sz="795" u="sng" dirty="0">
                <a:solidFill>
                  <a:srgbClr val="8C6239"/>
                </a:solidFill>
                <a:hlinkClick r:id="rId17" tooltip="https://www.globenewswire.com/news-release/2026/09/15/3362305/0/en/abc-survey-1-in-6-members-perform-data-center-work-backlog-rebounds-in-august.html">
                  <a:extLst>
                    <a:ext uri="{A12FA001-AC4F-418D-AE19-62706E023703}">
                      <ahyp:hlinkClr xmlns:ahyp="http://schemas.microsoft.com/office/drawing/2018/hyperlinkcolor" val="tx"/>
                    </a:ext>
                  </a:extLst>
                </a:hlinkClick>
              </a:rPr>
              <a:t>ABC</a:t>
            </a:r>
            <a:r>
              <a:rPr lang="en-US" sz="795" dirty="0">
                <a:solidFill>
                  <a:srgbClr val="333231"/>
                </a:solidFill>
              </a:rPr>
              <a:t>). Limbach lowered its guidance after its gross margin fell to 21.5% from 28.0%, citing competition for skilled labor and materials in data center markets (</a:t>
            </a:r>
            <a:r>
              <a:rPr lang="en-US" sz="795" u="sng" dirty="0">
                <a:solidFill>
                  <a:srgbClr val="8C6239"/>
                </a:solidFill>
                <a:hlinkClick r:id="rId18" tooltip="https://www.businesswire.com/news/home/20260804326592/en/Limbach-Reports-Second-Quarter-2026-Results">
                  <a:extLst>
                    <a:ext uri="{A12FA001-AC4F-418D-AE19-62706E023703}">
                      <ahyp:hlinkClr xmlns:ahyp="http://schemas.microsoft.com/office/drawing/2018/hyperlinkcolor" val="tx"/>
                    </a:ext>
                  </a:extLst>
                </a:hlinkClick>
              </a:rPr>
              <a:t>Limbach</a:t>
            </a:r>
            <a:r>
              <a:rPr lang="en-US" sz="795" dirty="0">
                <a:solidFill>
                  <a:srgbClr val="333231"/>
                </a:solidFill>
              </a:rPr>
              <a:t>).</a:t>
            </a:r>
            <a:endParaRPr lang="en-US" sz="795" dirty="0"/>
          </a:p>
        </p:txBody>
      </p:sp>
      <p:sp>
        <p:nvSpPr>
          <p:cNvPr id="26" name="Shape 21"/>
          <p:cNvSpPr/>
          <p:nvPr/>
        </p:nvSpPr>
        <p:spPr>
          <a:xfrm>
            <a:off x="3352800" y="4705350"/>
            <a:ext cx="3867150" cy="0"/>
          </a:xfrm>
          <a:prstGeom prst="line">
            <a:avLst/>
          </a:prstGeom>
          <a:noFill/>
          <a:ln w="9525">
            <a:solidFill>
              <a:srgbClr val="E3DCD3"/>
            </a:solidFill>
            <a:prstDash val="solid"/>
          </a:ln>
        </p:spPr>
        <p:txBody>
          <a:bodyPr/>
          <a:lstStyle/>
          <a:p>
            <a:endParaRPr lang="en-US"/>
          </a:p>
        </p:txBody>
      </p:sp>
      <p:sp>
        <p:nvSpPr>
          <p:cNvPr id="27" name="Shape 22"/>
          <p:cNvSpPr/>
          <p:nvPr/>
        </p:nvSpPr>
        <p:spPr>
          <a:xfrm>
            <a:off x="3352800" y="4810125"/>
            <a:ext cx="285750" cy="285750"/>
          </a:xfrm>
          <a:prstGeom prst="ellipse">
            <a:avLst/>
          </a:prstGeom>
          <a:solidFill>
            <a:srgbClr val="1B1A1A"/>
          </a:solidFill>
          <a:ln/>
        </p:spPr>
        <p:txBody>
          <a:bodyPr/>
          <a:lstStyle/>
          <a:p>
            <a:endParaRPr lang="en-US"/>
          </a:p>
        </p:txBody>
      </p:sp>
      <p:pic>
        <p:nvPicPr>
          <p:cNvPr id="28" name="Image 3" descr="/tmp/claude-0/-home-claude-about/b7ea608c-3502-5da6-986c-4c57d144c940/scratchpad/brief/pptx/icons/bolt_lg.png"/>
          <p:cNvPicPr>
            <a:picLocks noChangeAspect="1"/>
          </p:cNvPicPr>
          <p:nvPr/>
        </p:nvPicPr>
        <p:blipFill>
          <a:blip r:embed="rId19"/>
          <a:stretch>
            <a:fillRect/>
          </a:stretch>
        </p:blipFill>
        <p:spPr>
          <a:xfrm>
            <a:off x="3419475" y="4876800"/>
            <a:ext cx="152400" cy="152400"/>
          </a:xfrm>
          <a:prstGeom prst="rect">
            <a:avLst/>
          </a:prstGeom>
        </p:spPr>
      </p:pic>
      <p:sp>
        <p:nvSpPr>
          <p:cNvPr id="29" name="Text 23"/>
          <p:cNvSpPr txBox="1"/>
          <p:nvPr/>
        </p:nvSpPr>
        <p:spPr>
          <a:xfrm>
            <a:off x="3752850" y="4800600"/>
            <a:ext cx="3467100" cy="142875"/>
          </a:xfrm>
          <a:prstGeom prst="rect">
            <a:avLst/>
          </a:prstGeom>
          <a:noFill/>
          <a:ln/>
        </p:spPr>
        <p:txBody>
          <a:bodyPr wrap="square" lIns="0" tIns="0" rIns="0" bIns="0" rtlCol="0" anchor="t"/>
          <a:lstStyle/>
          <a:p>
            <a:pPr marL="0" indent="0">
              <a:buNone/>
            </a:pPr>
            <a:r>
              <a:rPr lang="en-US" sz="750" b="1" kern="0" spc="100" dirty="0">
                <a:solidFill>
                  <a:srgbClr val="8C6239"/>
                </a:solidFill>
              </a:rPr>
              <a:t>ENERGY, POWER &amp; ENVIRONMENTAL SERVICES</a:t>
            </a:r>
            <a:endParaRPr lang="en-US" sz="750" dirty="0"/>
          </a:p>
        </p:txBody>
      </p:sp>
      <p:sp>
        <p:nvSpPr>
          <p:cNvPr id="30" name="Text 24"/>
          <p:cNvSpPr txBox="1"/>
          <p:nvPr/>
        </p:nvSpPr>
        <p:spPr>
          <a:xfrm>
            <a:off x="3752850" y="4962525"/>
            <a:ext cx="3467100" cy="800100"/>
          </a:xfrm>
          <a:prstGeom prst="rect">
            <a:avLst/>
          </a:prstGeom>
          <a:noFill/>
          <a:ln/>
        </p:spPr>
        <p:txBody>
          <a:bodyPr wrap="square" lIns="0" tIns="0" rIns="0" bIns="0" rtlCol="0" anchor="t"/>
          <a:lstStyle/>
          <a:p>
            <a:pPr marL="0" indent="0">
              <a:lnSpc>
                <a:spcPts val="1125"/>
              </a:lnSpc>
              <a:buNone/>
            </a:pPr>
            <a:r>
              <a:rPr lang="en-US" sz="795" dirty="0">
                <a:solidFill>
                  <a:srgbClr val="333231"/>
                </a:solidFill>
              </a:rPr>
              <a:t>Mission Critical Group bought a Texas switchgear manufacturer and a transformer supplier within four months of each other (</a:t>
            </a:r>
            <a:r>
              <a:rPr lang="en-US" sz="795" u="sng" dirty="0">
                <a:solidFill>
                  <a:srgbClr val="8C6239"/>
                </a:solidFill>
                <a:hlinkClick r:id="rId20" tooltip="https://dallasinnovates.com/north-texas-mission-critical-group-acquires-txla-systems/">
                  <a:extLst>
                    <a:ext uri="{A12FA001-AC4F-418D-AE19-62706E023703}">
                      <ahyp:hlinkClr xmlns:ahyp="http://schemas.microsoft.com/office/drawing/2018/hyperlinkcolor" val="tx"/>
                    </a:ext>
                  </a:extLst>
                </a:hlinkClick>
              </a:rPr>
              <a:t>Dallas Innovates</a:t>
            </a:r>
            <a:r>
              <a:rPr lang="en-US" sz="795" dirty="0">
                <a:solidFill>
                  <a:srgbClr val="333231"/>
                </a:solidFill>
              </a:rPr>
              <a:t>; </a:t>
            </a:r>
            <a:r>
              <a:rPr lang="en-US" sz="795" u="sng" dirty="0">
                <a:solidFill>
                  <a:srgbClr val="8C6239"/>
                </a:solidFill>
                <a:hlinkClick r:id="rId21" tooltip="https://distributionstrategy.com/2026/07/mission-critical-group-makes-play-for-transformer-supply/">
                  <a:extLst>
                    <a:ext uri="{A12FA001-AC4F-418D-AE19-62706E023703}">
                      <ahyp:hlinkClr xmlns:ahyp="http://schemas.microsoft.com/office/drawing/2018/hyperlinkcolor" val="tx"/>
                    </a:ext>
                  </a:extLst>
                </a:hlinkClick>
              </a:rPr>
              <a:t>Distribution Strategy Group</a:t>
            </a:r>
            <a:r>
              <a:rPr lang="en-US" sz="795" dirty="0">
                <a:solidFill>
                  <a:srgbClr val="333231"/>
                </a:solidFill>
              </a:rPr>
              <a:t>), and electrical testing and commissioning is the most contested category in the power sub-sector.</a:t>
            </a:r>
            <a:endParaRPr lang="en-US" sz="795" dirty="0"/>
          </a:p>
        </p:txBody>
      </p:sp>
      <p:sp>
        <p:nvSpPr>
          <p:cNvPr id="31" name="Shape 25"/>
          <p:cNvSpPr/>
          <p:nvPr/>
        </p:nvSpPr>
        <p:spPr>
          <a:xfrm>
            <a:off x="3352800" y="5791200"/>
            <a:ext cx="3867150" cy="0"/>
          </a:xfrm>
          <a:prstGeom prst="line">
            <a:avLst/>
          </a:prstGeom>
          <a:noFill/>
          <a:ln w="9525">
            <a:solidFill>
              <a:srgbClr val="E3DCD3"/>
            </a:solidFill>
            <a:prstDash val="solid"/>
          </a:ln>
        </p:spPr>
        <p:txBody>
          <a:bodyPr/>
          <a:lstStyle/>
          <a:p>
            <a:endParaRPr lang="en-US"/>
          </a:p>
        </p:txBody>
      </p:sp>
      <p:sp>
        <p:nvSpPr>
          <p:cNvPr id="32" name="Shape 26"/>
          <p:cNvSpPr/>
          <p:nvPr/>
        </p:nvSpPr>
        <p:spPr>
          <a:xfrm>
            <a:off x="3352800" y="5895975"/>
            <a:ext cx="285750" cy="285750"/>
          </a:xfrm>
          <a:prstGeom prst="ellipse">
            <a:avLst/>
          </a:prstGeom>
          <a:solidFill>
            <a:srgbClr val="1B1A1A"/>
          </a:solidFill>
          <a:ln/>
        </p:spPr>
        <p:txBody>
          <a:bodyPr/>
          <a:lstStyle/>
          <a:p>
            <a:endParaRPr lang="en-US"/>
          </a:p>
        </p:txBody>
      </p:sp>
      <p:pic>
        <p:nvPicPr>
          <p:cNvPr id="33" name="Image 4" descr="/tmp/claude-0/-home-claude-about/b7ea608c-3502-5da6-986c-4c57d144c940/scratchpad/brief/pptx/icons/truck_lg.png"/>
          <p:cNvPicPr>
            <a:picLocks noChangeAspect="1"/>
          </p:cNvPicPr>
          <p:nvPr/>
        </p:nvPicPr>
        <p:blipFill>
          <a:blip r:embed="rId22"/>
          <a:stretch>
            <a:fillRect/>
          </a:stretch>
        </p:blipFill>
        <p:spPr>
          <a:xfrm>
            <a:off x="3419475" y="5962650"/>
            <a:ext cx="152400" cy="152400"/>
          </a:xfrm>
          <a:prstGeom prst="rect">
            <a:avLst/>
          </a:prstGeom>
        </p:spPr>
      </p:pic>
      <p:sp>
        <p:nvSpPr>
          <p:cNvPr id="34" name="Text 27"/>
          <p:cNvSpPr txBox="1"/>
          <p:nvPr/>
        </p:nvSpPr>
        <p:spPr>
          <a:xfrm>
            <a:off x="3752850" y="5886450"/>
            <a:ext cx="3467100" cy="142875"/>
          </a:xfrm>
          <a:prstGeom prst="rect">
            <a:avLst/>
          </a:prstGeom>
          <a:noFill/>
          <a:ln/>
        </p:spPr>
        <p:txBody>
          <a:bodyPr wrap="square" lIns="0" tIns="0" rIns="0" bIns="0" rtlCol="0" anchor="t"/>
          <a:lstStyle/>
          <a:p>
            <a:pPr marL="0" indent="0">
              <a:buNone/>
            </a:pPr>
            <a:r>
              <a:rPr lang="en-US" sz="750" b="1" kern="0" spc="100" dirty="0">
                <a:solidFill>
                  <a:srgbClr val="8C6239"/>
                </a:solidFill>
              </a:rPr>
              <a:t>TRANSPORTATION &amp; LOGISTICS</a:t>
            </a:r>
            <a:endParaRPr lang="en-US" sz="750" dirty="0"/>
          </a:p>
        </p:txBody>
      </p:sp>
      <p:sp>
        <p:nvSpPr>
          <p:cNvPr id="35" name="Text 28"/>
          <p:cNvSpPr txBox="1"/>
          <p:nvPr/>
        </p:nvSpPr>
        <p:spPr>
          <a:xfrm>
            <a:off x="3752850" y="6048375"/>
            <a:ext cx="3467100" cy="800100"/>
          </a:xfrm>
          <a:prstGeom prst="rect">
            <a:avLst/>
          </a:prstGeom>
          <a:noFill/>
          <a:ln/>
        </p:spPr>
        <p:txBody>
          <a:bodyPr wrap="square" lIns="0" tIns="0" rIns="0" bIns="0" rtlCol="0" anchor="t"/>
          <a:lstStyle/>
          <a:p>
            <a:pPr marL="0" indent="0">
              <a:lnSpc>
                <a:spcPts val="1125"/>
              </a:lnSpc>
              <a:buNone/>
            </a:pPr>
            <a:r>
              <a:rPr lang="en-US" sz="795" dirty="0">
                <a:solidFill>
                  <a:srgbClr val="333231"/>
                </a:solidFill>
              </a:rPr>
              <a:t>Spending on data center construction was more than 73% higher in August than a year earlier (</a:t>
            </a:r>
            <a:r>
              <a:rPr lang="en-US" sz="795" u="sng" dirty="0">
                <a:solidFill>
                  <a:srgbClr val="8C6239"/>
                </a:solidFill>
                <a:hlinkClick r:id="rId23" tooltip="https://www.mdm.com/?p=436875">
                  <a:extLst>
                    <a:ext uri="{A12FA001-AC4F-418D-AE19-62706E023703}">
                      <ahyp:hlinkClr xmlns:ahyp="http://schemas.microsoft.com/office/drawing/2018/hyperlinkcolor" val="tx"/>
                    </a:ext>
                  </a:extLst>
                </a:hlinkClick>
              </a:rPr>
              <a:t>ABC analysis reported by MDM</a:t>
            </a:r>
            <a:r>
              <a:rPr lang="en-US" sz="795" dirty="0">
                <a:solidFill>
                  <a:srgbClr val="333231"/>
                </a:solidFill>
              </a:rPr>
              <a:t>), and JK Technology Services bought a Virginia rigging company that works in data centers (</a:t>
            </a:r>
            <a:r>
              <a:rPr lang="en-US" sz="795" u="sng" dirty="0">
                <a:solidFill>
                  <a:srgbClr val="8C6239"/>
                </a:solidFill>
                <a:hlinkClick r:id="rId24" tooltip="https://vertikal.net/en/news/story/49180/jk-takes-360">
                  <a:extLst>
                    <a:ext uri="{A12FA001-AC4F-418D-AE19-62706E023703}">
                      <ahyp:hlinkClr xmlns:ahyp="http://schemas.microsoft.com/office/drawing/2018/hyperlinkcolor" val="tx"/>
                    </a:ext>
                  </a:extLst>
                </a:hlinkClick>
              </a:rPr>
              <a:t>Vertikal</a:t>
            </a:r>
            <a:r>
              <a:rPr lang="en-US" sz="795" dirty="0">
                <a:solidFill>
                  <a:srgbClr val="333231"/>
                </a:solidFill>
              </a:rPr>
              <a:t>).</a:t>
            </a:r>
            <a:endParaRPr lang="en-US" sz="795" dirty="0"/>
          </a:p>
        </p:txBody>
      </p:sp>
      <p:sp>
        <p:nvSpPr>
          <p:cNvPr id="36" name="Figures panel"/>
          <p:cNvSpPr/>
          <p:nvPr/>
        </p:nvSpPr>
        <p:spPr>
          <a:xfrm>
            <a:off x="7429500" y="1238250"/>
            <a:ext cx="2209800" cy="5695950"/>
          </a:xfrm>
          <a:prstGeom prst="rect">
            <a:avLst/>
          </a:prstGeom>
          <a:solidFill>
            <a:srgbClr val="1B1A1A"/>
          </a:solidFill>
          <a:ln/>
        </p:spPr>
        <p:txBody>
          <a:bodyPr/>
          <a:lstStyle/>
          <a:p>
            <a:endParaRPr lang="en-US"/>
          </a:p>
        </p:txBody>
      </p:sp>
      <p:pic>
        <p:nvPicPr>
          <p:cNvPr id="37" name="Image 5" descr="/tmp/claude-0/-home-claude-about/b7ea608c-3502-5da6-986c-4c57d144c940/scratchpad/brief/assets/plant.jpg"/>
          <p:cNvPicPr>
            <a:picLocks noChangeAspect="1"/>
          </p:cNvPicPr>
          <p:nvPr/>
        </p:nvPicPr>
        <p:blipFill>
          <a:blip r:embed="rId25"/>
          <a:srcRect/>
          <a:stretch/>
        </p:blipFill>
        <p:spPr>
          <a:xfrm>
            <a:off x="7429500" y="1238250"/>
            <a:ext cx="2209800" cy="1219200"/>
          </a:xfrm>
          <a:prstGeom prst="rect">
            <a:avLst/>
          </a:prstGeom>
        </p:spPr>
      </p:pic>
      <p:sp>
        <p:nvSpPr>
          <p:cNvPr id="38" name="Shape 30"/>
          <p:cNvSpPr/>
          <p:nvPr/>
        </p:nvSpPr>
        <p:spPr>
          <a:xfrm>
            <a:off x="7429500" y="2428875"/>
            <a:ext cx="2209800" cy="28575"/>
          </a:xfrm>
          <a:prstGeom prst="rect">
            <a:avLst/>
          </a:prstGeom>
          <a:solidFill>
            <a:srgbClr val="B68757"/>
          </a:solidFill>
          <a:ln/>
        </p:spPr>
        <p:txBody>
          <a:bodyPr/>
          <a:lstStyle/>
          <a:p>
            <a:endParaRPr lang="en-US"/>
          </a:p>
        </p:txBody>
      </p:sp>
      <p:sp>
        <p:nvSpPr>
          <p:cNvPr id="39" name="Text 31"/>
          <p:cNvSpPr txBox="1"/>
          <p:nvPr/>
        </p:nvSpPr>
        <p:spPr>
          <a:xfrm>
            <a:off x="7620000" y="2590800"/>
            <a:ext cx="1828800" cy="152400"/>
          </a:xfrm>
          <a:prstGeom prst="rect">
            <a:avLst/>
          </a:prstGeom>
          <a:noFill/>
          <a:ln/>
        </p:spPr>
        <p:txBody>
          <a:bodyPr wrap="square" lIns="0" tIns="0" rIns="0" bIns="0" rtlCol="0" anchor="t"/>
          <a:lstStyle/>
          <a:p>
            <a:pPr marL="0" indent="0">
              <a:buNone/>
            </a:pPr>
            <a:r>
              <a:rPr lang="en-US" sz="675" b="1" kern="0" spc="200" dirty="0">
                <a:solidFill>
                  <a:srgbClr val="8C6239"/>
                </a:solidFill>
              </a:rPr>
              <a:t>THE BUILDOUT IN FOUR FIGURES</a:t>
            </a:r>
            <a:endParaRPr lang="en-US" sz="675" dirty="0"/>
          </a:p>
        </p:txBody>
      </p:sp>
      <p:sp>
        <p:nvSpPr>
          <p:cNvPr id="40" name="Shape 32"/>
          <p:cNvSpPr/>
          <p:nvPr/>
        </p:nvSpPr>
        <p:spPr>
          <a:xfrm>
            <a:off x="7620000" y="2800350"/>
            <a:ext cx="1828800" cy="0"/>
          </a:xfrm>
          <a:prstGeom prst="line">
            <a:avLst/>
          </a:prstGeom>
          <a:noFill/>
          <a:ln w="9525">
            <a:solidFill>
              <a:srgbClr val="5B4E40"/>
            </a:solidFill>
            <a:prstDash val="solid"/>
          </a:ln>
        </p:spPr>
        <p:txBody>
          <a:bodyPr/>
          <a:lstStyle/>
          <a:p>
            <a:endParaRPr lang="en-US"/>
          </a:p>
        </p:txBody>
      </p:sp>
      <p:sp>
        <p:nvSpPr>
          <p:cNvPr id="41" name="Text 33"/>
          <p:cNvSpPr txBox="1"/>
          <p:nvPr/>
        </p:nvSpPr>
        <p:spPr>
          <a:xfrm>
            <a:off x="7620000" y="2876550"/>
            <a:ext cx="1828800" cy="266700"/>
          </a:xfrm>
          <a:prstGeom prst="rect">
            <a:avLst/>
          </a:prstGeom>
          <a:noFill/>
          <a:ln/>
        </p:spPr>
        <p:txBody>
          <a:bodyPr wrap="square" lIns="0" tIns="0" rIns="0" bIns="0" rtlCol="0" anchor="t"/>
          <a:lstStyle/>
          <a:p>
            <a:pPr marL="0" indent="0">
              <a:buNone/>
            </a:pPr>
            <a:r>
              <a:rPr lang="en-US" sz="1725" b="1" dirty="0">
                <a:solidFill>
                  <a:srgbClr val="D3AE84"/>
                </a:solidFill>
                <a:latin typeface="+mj-lt" pitchFamily="34" charset="0"/>
              </a:rPr>
              <a:t>224 GW</a:t>
            </a:r>
            <a:endParaRPr lang="en-US" sz="1725" dirty="0"/>
          </a:p>
        </p:txBody>
      </p:sp>
      <p:sp>
        <p:nvSpPr>
          <p:cNvPr id="42" name="Text 34"/>
          <p:cNvSpPr txBox="1"/>
          <p:nvPr/>
        </p:nvSpPr>
        <p:spPr>
          <a:xfrm>
            <a:off x="7620000" y="3152775"/>
            <a:ext cx="1828800" cy="304800"/>
          </a:xfrm>
          <a:prstGeom prst="rect">
            <a:avLst/>
          </a:prstGeom>
          <a:noFill/>
          <a:ln/>
        </p:spPr>
        <p:txBody>
          <a:bodyPr wrap="square" lIns="0" tIns="0" rIns="0" bIns="0" rtlCol="0" anchor="t"/>
          <a:lstStyle/>
          <a:p>
            <a:pPr marL="0" indent="0">
              <a:lnSpc>
                <a:spcPts val="1013"/>
              </a:lnSpc>
              <a:buNone/>
            </a:pPr>
            <a:r>
              <a:rPr lang="en-US" sz="720" dirty="0">
                <a:solidFill>
                  <a:srgbClr val="E8E2DA"/>
                </a:solidFill>
              </a:rPr>
              <a:t>NERC 10-year forecast of summer peak demand growth, raised from 132</a:t>
            </a:r>
            <a:endParaRPr lang="en-US" sz="720" dirty="0"/>
          </a:p>
        </p:txBody>
      </p:sp>
      <p:sp>
        <p:nvSpPr>
          <p:cNvPr id="43" name="Shape 35"/>
          <p:cNvSpPr/>
          <p:nvPr/>
        </p:nvSpPr>
        <p:spPr>
          <a:xfrm>
            <a:off x="7620000" y="3486150"/>
            <a:ext cx="1828800" cy="0"/>
          </a:xfrm>
          <a:prstGeom prst="line">
            <a:avLst/>
          </a:prstGeom>
          <a:noFill/>
          <a:ln w="9525">
            <a:solidFill>
              <a:srgbClr val="5B4E40"/>
            </a:solidFill>
            <a:prstDash val="solid"/>
          </a:ln>
        </p:spPr>
        <p:txBody>
          <a:bodyPr/>
          <a:lstStyle/>
          <a:p>
            <a:endParaRPr lang="en-US"/>
          </a:p>
        </p:txBody>
      </p:sp>
      <p:sp>
        <p:nvSpPr>
          <p:cNvPr id="44" name="Text 36"/>
          <p:cNvSpPr txBox="1"/>
          <p:nvPr/>
        </p:nvSpPr>
        <p:spPr>
          <a:xfrm>
            <a:off x="7620000" y="3562350"/>
            <a:ext cx="1828800" cy="266700"/>
          </a:xfrm>
          <a:prstGeom prst="rect">
            <a:avLst/>
          </a:prstGeom>
          <a:noFill/>
          <a:ln/>
        </p:spPr>
        <p:txBody>
          <a:bodyPr wrap="square" lIns="0" tIns="0" rIns="0" bIns="0" rtlCol="0" anchor="t"/>
          <a:lstStyle/>
          <a:p>
            <a:pPr marL="0" indent="0">
              <a:buNone/>
            </a:pPr>
            <a:r>
              <a:rPr lang="en-US" sz="1725" b="1" dirty="0">
                <a:solidFill>
                  <a:srgbClr val="D3AE84"/>
                </a:solidFill>
                <a:latin typeface="+mj-lt" pitchFamily="34" charset="0"/>
              </a:rPr>
              <a:t>116 GW</a:t>
            </a:r>
            <a:endParaRPr lang="en-US" sz="1725" dirty="0"/>
          </a:p>
        </p:txBody>
      </p:sp>
      <p:sp>
        <p:nvSpPr>
          <p:cNvPr id="45" name="Text 37"/>
          <p:cNvSpPr txBox="1"/>
          <p:nvPr/>
        </p:nvSpPr>
        <p:spPr>
          <a:xfrm>
            <a:off x="7620000" y="3838575"/>
            <a:ext cx="1828800" cy="304800"/>
          </a:xfrm>
          <a:prstGeom prst="rect">
            <a:avLst/>
          </a:prstGeom>
          <a:noFill/>
          <a:ln/>
        </p:spPr>
        <p:txBody>
          <a:bodyPr wrap="square" lIns="0" tIns="0" rIns="0" bIns="0" rtlCol="0" anchor="t"/>
          <a:lstStyle/>
          <a:p>
            <a:pPr marL="0" indent="0">
              <a:lnSpc>
                <a:spcPts val="1013"/>
              </a:lnSpc>
              <a:buNone/>
            </a:pPr>
            <a:r>
              <a:rPr lang="en-US" sz="720" dirty="0">
                <a:solidFill>
                  <a:srgbClr val="E8E2DA"/>
                </a:solidFill>
              </a:rPr>
              <a:t>GE Vernova gas turbine backlog and slot reservations</a:t>
            </a:r>
            <a:endParaRPr lang="en-US" sz="720" dirty="0"/>
          </a:p>
        </p:txBody>
      </p:sp>
      <p:sp>
        <p:nvSpPr>
          <p:cNvPr id="46" name="Shape 38"/>
          <p:cNvSpPr/>
          <p:nvPr/>
        </p:nvSpPr>
        <p:spPr>
          <a:xfrm>
            <a:off x="7620000" y="4171950"/>
            <a:ext cx="1828800" cy="0"/>
          </a:xfrm>
          <a:prstGeom prst="line">
            <a:avLst/>
          </a:prstGeom>
          <a:noFill/>
          <a:ln w="9525">
            <a:solidFill>
              <a:srgbClr val="5B4E40"/>
            </a:solidFill>
            <a:prstDash val="solid"/>
          </a:ln>
        </p:spPr>
        <p:txBody>
          <a:bodyPr/>
          <a:lstStyle/>
          <a:p>
            <a:endParaRPr lang="en-US"/>
          </a:p>
        </p:txBody>
      </p:sp>
      <p:sp>
        <p:nvSpPr>
          <p:cNvPr id="47" name="Text 39"/>
          <p:cNvSpPr txBox="1"/>
          <p:nvPr/>
        </p:nvSpPr>
        <p:spPr>
          <a:xfrm>
            <a:off x="7620000" y="4248150"/>
            <a:ext cx="1828800" cy="266700"/>
          </a:xfrm>
          <a:prstGeom prst="rect">
            <a:avLst/>
          </a:prstGeom>
          <a:noFill/>
          <a:ln/>
        </p:spPr>
        <p:txBody>
          <a:bodyPr wrap="square" lIns="0" tIns="0" rIns="0" bIns="0" rtlCol="0" anchor="t"/>
          <a:lstStyle/>
          <a:p>
            <a:pPr marL="0" indent="0">
              <a:buNone/>
            </a:pPr>
            <a:r>
              <a:rPr lang="en-US" sz="1725" b="1" dirty="0">
                <a:solidFill>
                  <a:srgbClr val="D3AE84"/>
                </a:solidFill>
                <a:latin typeface="+mj-lt" pitchFamily="34" charset="0"/>
              </a:rPr>
              <a:t>160 weeks</a:t>
            </a:r>
            <a:endParaRPr lang="en-US" sz="1725" dirty="0"/>
          </a:p>
        </p:txBody>
      </p:sp>
      <p:sp>
        <p:nvSpPr>
          <p:cNvPr id="48" name="Text 40"/>
          <p:cNvSpPr txBox="1"/>
          <p:nvPr/>
        </p:nvSpPr>
        <p:spPr>
          <a:xfrm>
            <a:off x="7620000" y="4524375"/>
            <a:ext cx="1828800" cy="304800"/>
          </a:xfrm>
          <a:prstGeom prst="rect">
            <a:avLst/>
          </a:prstGeom>
          <a:noFill/>
          <a:ln/>
        </p:spPr>
        <p:txBody>
          <a:bodyPr wrap="square" lIns="0" tIns="0" rIns="0" bIns="0" rtlCol="0" anchor="t"/>
          <a:lstStyle/>
          <a:p>
            <a:pPr marL="0" indent="0">
              <a:lnSpc>
                <a:spcPts val="1013"/>
              </a:lnSpc>
              <a:buNone/>
            </a:pPr>
            <a:r>
              <a:rPr lang="en-US" sz="720" dirty="0">
                <a:solidFill>
                  <a:srgbClr val="E8E2DA"/>
                </a:solidFill>
              </a:rPr>
              <a:t>Lead time for generator step-up transformers</a:t>
            </a:r>
            <a:endParaRPr lang="en-US" sz="720" dirty="0"/>
          </a:p>
        </p:txBody>
      </p:sp>
      <p:sp>
        <p:nvSpPr>
          <p:cNvPr id="49" name="Shape 41"/>
          <p:cNvSpPr/>
          <p:nvPr/>
        </p:nvSpPr>
        <p:spPr>
          <a:xfrm>
            <a:off x="7620000" y="4857750"/>
            <a:ext cx="1828800" cy="0"/>
          </a:xfrm>
          <a:prstGeom prst="line">
            <a:avLst/>
          </a:prstGeom>
          <a:noFill/>
          <a:ln w="9525">
            <a:solidFill>
              <a:srgbClr val="5B4E40"/>
            </a:solidFill>
            <a:prstDash val="solid"/>
          </a:ln>
        </p:spPr>
        <p:txBody>
          <a:bodyPr/>
          <a:lstStyle/>
          <a:p>
            <a:endParaRPr lang="en-US"/>
          </a:p>
        </p:txBody>
      </p:sp>
      <p:sp>
        <p:nvSpPr>
          <p:cNvPr id="50" name="Text 42"/>
          <p:cNvSpPr txBox="1"/>
          <p:nvPr/>
        </p:nvSpPr>
        <p:spPr>
          <a:xfrm>
            <a:off x="7620000" y="4933950"/>
            <a:ext cx="1828800" cy="266700"/>
          </a:xfrm>
          <a:prstGeom prst="rect">
            <a:avLst/>
          </a:prstGeom>
          <a:noFill/>
          <a:ln/>
        </p:spPr>
        <p:txBody>
          <a:bodyPr wrap="square" lIns="0" tIns="0" rIns="0" bIns="0" rtlCol="0" anchor="t"/>
          <a:lstStyle/>
          <a:p>
            <a:pPr marL="0" indent="0">
              <a:buNone/>
            </a:pPr>
            <a:r>
              <a:rPr lang="en-US" sz="1725" b="1" dirty="0">
                <a:solidFill>
                  <a:srgbClr val="D3AE84"/>
                </a:solidFill>
                <a:latin typeface="+mj-lt" pitchFamily="34" charset="0"/>
              </a:rPr>
              <a:t>9.9 months</a:t>
            </a:r>
            <a:endParaRPr lang="en-US" sz="1725" dirty="0"/>
          </a:p>
        </p:txBody>
      </p:sp>
      <p:sp>
        <p:nvSpPr>
          <p:cNvPr id="51" name="Text 43"/>
          <p:cNvSpPr txBox="1"/>
          <p:nvPr/>
        </p:nvSpPr>
        <p:spPr>
          <a:xfrm>
            <a:off x="7620000" y="5210175"/>
            <a:ext cx="1828800" cy="304800"/>
          </a:xfrm>
          <a:prstGeom prst="rect">
            <a:avLst/>
          </a:prstGeom>
          <a:noFill/>
          <a:ln/>
        </p:spPr>
        <p:txBody>
          <a:bodyPr wrap="square" lIns="0" tIns="0" rIns="0" bIns="0" rtlCol="0" anchor="t"/>
          <a:lstStyle/>
          <a:p>
            <a:pPr marL="0" indent="0">
              <a:lnSpc>
                <a:spcPts val="1013"/>
              </a:lnSpc>
              <a:buNone/>
            </a:pPr>
            <a:r>
              <a:rPr lang="en-US" sz="720" dirty="0">
                <a:solidFill>
                  <a:srgbClr val="E8E2DA"/>
                </a:solidFill>
              </a:rPr>
              <a:t>Backlog at contractors doing data center work</a:t>
            </a:r>
            <a:endParaRPr lang="en-US" sz="720" dirty="0"/>
          </a:p>
        </p:txBody>
      </p:sp>
      <p:sp>
        <p:nvSpPr>
          <p:cNvPr id="52" name="Shape 44"/>
          <p:cNvSpPr/>
          <p:nvPr/>
        </p:nvSpPr>
        <p:spPr>
          <a:xfrm>
            <a:off x="7620000" y="5581650"/>
            <a:ext cx="1828800" cy="0"/>
          </a:xfrm>
          <a:prstGeom prst="line">
            <a:avLst/>
          </a:prstGeom>
          <a:noFill/>
          <a:ln w="9525">
            <a:solidFill>
              <a:srgbClr val="5B4E40"/>
            </a:solidFill>
            <a:prstDash val="solid"/>
          </a:ln>
        </p:spPr>
        <p:txBody>
          <a:bodyPr/>
          <a:lstStyle/>
          <a:p>
            <a:endParaRPr lang="en-US"/>
          </a:p>
        </p:txBody>
      </p:sp>
      <p:sp>
        <p:nvSpPr>
          <p:cNvPr id="53" name="Text 45"/>
          <p:cNvSpPr txBox="1"/>
          <p:nvPr/>
        </p:nvSpPr>
        <p:spPr>
          <a:xfrm>
            <a:off x="7620000" y="5695950"/>
            <a:ext cx="1828800" cy="1181100"/>
          </a:xfrm>
          <a:prstGeom prst="rect">
            <a:avLst/>
          </a:prstGeom>
          <a:noFill/>
          <a:ln/>
        </p:spPr>
        <p:txBody>
          <a:bodyPr wrap="square" lIns="0" tIns="0" rIns="0" bIns="0" rtlCol="0" anchor="t"/>
          <a:lstStyle/>
          <a:p>
            <a:pPr marL="0" indent="0">
              <a:lnSpc>
                <a:spcPts val="1313"/>
              </a:lnSpc>
              <a:buNone/>
            </a:pPr>
            <a:r>
              <a:rPr lang="en-US" sz="938" i="1" dirty="0">
                <a:solidFill>
                  <a:srgbClr val="FFFFFF"/>
                </a:solidFill>
                <a:latin typeface="+mj-lt" pitchFamily="34" charset="0"/>
              </a:rPr>
              <a:t>A buyer will ask how much of the backlog is tied to funded power and data center work, and whether the company has the technicians to perform it at the margins it has earned so far.</a:t>
            </a:r>
            <a:endParaRPr lang="en-US" sz="938" dirty="0"/>
          </a:p>
        </p:txBody>
      </p:sp>
      <p:sp>
        <p:nvSpPr>
          <p:cNvPr id="54"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Featured Engagement: The Carmi Companies</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A Laredo logistics and customs brokerage group and a Mexico manufacturing services company have combined to form an end-to-end cross-border platform.</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Company descriptions are from the announcement on benchmarkintl.com. Benchmark International counts are for the 24 months to September 30, 2026 and for engagements in progress as of October 1, 2026.</a:t>
            </a:r>
            <a:endParaRPr lang="en-US" sz="675" dirty="0"/>
          </a:p>
        </p:txBody>
      </p:sp>
      <p:sp>
        <p:nvSpPr>
          <p:cNvPr id="5" name="Engagement panel"/>
          <p:cNvSpPr/>
          <p:nvPr/>
        </p:nvSpPr>
        <p:spPr>
          <a:xfrm>
            <a:off x="419100" y="1238250"/>
            <a:ext cx="2724150" cy="5695950"/>
          </a:xfrm>
          <a:prstGeom prst="rect">
            <a:avLst/>
          </a:prstGeom>
          <a:solidFill>
            <a:srgbClr val="1B1A1A"/>
          </a:solidFill>
          <a:ln/>
        </p:spPr>
        <p:txBody>
          <a:bodyPr/>
          <a:lstStyle/>
          <a:p>
            <a:endParaRPr lang="en-US"/>
          </a:p>
        </p:txBody>
      </p:sp>
      <p:pic>
        <p:nvPicPr>
          <p:cNvPr id="6" name="Image 0" descr="/tmp/claude-0/-home-claude-about/b7ea608c-3502-5da6-986c-4c57d144c940/scratchpad/brief/assets/signing.jpg"/>
          <p:cNvPicPr>
            <a:picLocks noChangeAspect="1"/>
          </p:cNvPicPr>
          <p:nvPr/>
        </p:nvPicPr>
        <p:blipFill>
          <a:blip r:embed="rId3"/>
          <a:srcRect/>
          <a:stretch/>
        </p:blipFill>
        <p:spPr>
          <a:xfrm>
            <a:off x="419100" y="1238250"/>
            <a:ext cx="2724150" cy="1866900"/>
          </a:xfrm>
          <a:prstGeom prst="rect">
            <a:avLst/>
          </a:prstGeom>
        </p:spPr>
      </p:pic>
      <p:sp>
        <p:nvSpPr>
          <p:cNvPr id="7" name="Shape 4"/>
          <p:cNvSpPr/>
          <p:nvPr/>
        </p:nvSpPr>
        <p:spPr>
          <a:xfrm>
            <a:off x="419100" y="3076575"/>
            <a:ext cx="2724150" cy="28575"/>
          </a:xfrm>
          <a:prstGeom prst="rect">
            <a:avLst/>
          </a:prstGeom>
          <a:solidFill>
            <a:srgbClr val="B68757"/>
          </a:solidFill>
          <a:ln/>
        </p:spPr>
        <p:txBody>
          <a:bodyPr/>
          <a:lstStyle/>
          <a:p>
            <a:endParaRPr lang="en-US"/>
          </a:p>
        </p:txBody>
      </p:sp>
      <p:sp>
        <p:nvSpPr>
          <p:cNvPr id="8" name="Text 5"/>
          <p:cNvSpPr txBox="1"/>
          <p:nvPr/>
        </p:nvSpPr>
        <p:spPr>
          <a:xfrm>
            <a:off x="647700" y="3352800"/>
            <a:ext cx="2266950" cy="133350"/>
          </a:xfrm>
          <a:prstGeom prst="rect">
            <a:avLst/>
          </a:prstGeom>
          <a:noFill/>
          <a:ln/>
        </p:spPr>
        <p:txBody>
          <a:bodyPr wrap="square" lIns="0" tIns="0" rIns="0" bIns="0" rtlCol="0" anchor="t"/>
          <a:lstStyle/>
          <a:p>
            <a:pPr marL="0" indent="0">
              <a:buNone/>
            </a:pPr>
            <a:r>
              <a:rPr lang="en-US" sz="675" b="1" kern="0" spc="200" dirty="0">
                <a:solidFill>
                  <a:srgbClr val="8C6239"/>
                </a:solidFill>
              </a:rPr>
              <a:t>BENCHMARK INTERNATIONAL ADVISED</a:t>
            </a:r>
            <a:endParaRPr lang="en-US" sz="675" dirty="0"/>
          </a:p>
        </p:txBody>
      </p:sp>
      <p:sp>
        <p:nvSpPr>
          <p:cNvPr id="9" name="Shape 6"/>
          <p:cNvSpPr/>
          <p:nvPr/>
        </p:nvSpPr>
        <p:spPr>
          <a:xfrm>
            <a:off x="647700" y="3600450"/>
            <a:ext cx="2266950" cy="533400"/>
          </a:xfrm>
          <a:prstGeom prst="rect">
            <a:avLst/>
          </a:prstGeom>
          <a:solidFill>
            <a:srgbClr val="FFFFFF"/>
          </a:solidFill>
          <a:ln/>
        </p:spPr>
        <p:txBody>
          <a:bodyPr/>
          <a:lstStyle/>
          <a:p>
            <a:endParaRPr lang="en-US"/>
          </a:p>
        </p:txBody>
      </p:sp>
      <p:sp>
        <p:nvSpPr>
          <p:cNvPr id="10" name="Text 7"/>
          <p:cNvSpPr txBox="1"/>
          <p:nvPr/>
        </p:nvSpPr>
        <p:spPr>
          <a:xfrm>
            <a:off x="647700" y="3600450"/>
            <a:ext cx="2266950" cy="533400"/>
          </a:xfrm>
          <a:prstGeom prst="rect">
            <a:avLst/>
          </a:prstGeom>
          <a:noFill/>
          <a:ln/>
        </p:spPr>
        <p:txBody>
          <a:bodyPr wrap="square" lIns="0" tIns="0" rIns="0" bIns="0" rtlCol="0" anchor="ctr"/>
          <a:lstStyle/>
          <a:p>
            <a:pPr marL="0" indent="0" algn="ctr">
              <a:buNone/>
            </a:pPr>
            <a:r>
              <a:rPr lang="en-US" sz="1275" kern="0" spc="100" dirty="0">
                <a:solidFill>
                  <a:srgbClr val="1B1A1A"/>
                </a:solidFill>
                <a:latin typeface="+mj-lt" pitchFamily="34" charset="0"/>
              </a:rPr>
              <a:t>THE CARMI COMPANIES</a:t>
            </a:r>
            <a:endParaRPr lang="en-US" sz="1275" dirty="0"/>
          </a:p>
        </p:txBody>
      </p:sp>
      <p:sp>
        <p:nvSpPr>
          <p:cNvPr id="11" name="Text 8"/>
          <p:cNvSpPr txBox="1"/>
          <p:nvPr/>
        </p:nvSpPr>
        <p:spPr>
          <a:xfrm>
            <a:off x="647700" y="4229100"/>
            <a:ext cx="2266950" cy="152400"/>
          </a:xfrm>
          <a:prstGeom prst="rect">
            <a:avLst/>
          </a:prstGeom>
          <a:noFill/>
          <a:ln/>
        </p:spPr>
        <p:txBody>
          <a:bodyPr wrap="square" lIns="0" tIns="0" rIns="0" bIns="0" rtlCol="0" anchor="t"/>
          <a:lstStyle/>
          <a:p>
            <a:pPr marL="0" indent="0" algn="ctr">
              <a:buNone/>
            </a:pPr>
            <a:r>
              <a:rPr lang="en-US" sz="675" kern="0" spc="150" dirty="0">
                <a:solidFill>
                  <a:srgbClr val="D9D2C8"/>
                </a:solidFill>
              </a:rPr>
              <a:t>ON ITS TRANSACTION WITH</a:t>
            </a:r>
            <a:endParaRPr lang="en-US" sz="675" dirty="0"/>
          </a:p>
        </p:txBody>
      </p:sp>
      <p:sp>
        <p:nvSpPr>
          <p:cNvPr id="12" name="Shape 9"/>
          <p:cNvSpPr/>
          <p:nvPr/>
        </p:nvSpPr>
        <p:spPr>
          <a:xfrm>
            <a:off x="647700" y="4457700"/>
            <a:ext cx="2266950" cy="666750"/>
          </a:xfrm>
          <a:prstGeom prst="rect">
            <a:avLst/>
          </a:prstGeom>
          <a:solidFill>
            <a:srgbClr val="FFFFFF"/>
          </a:solidFill>
          <a:ln/>
        </p:spPr>
        <p:txBody>
          <a:bodyPr/>
          <a:lstStyle/>
          <a:p>
            <a:endParaRPr lang="en-US"/>
          </a:p>
        </p:txBody>
      </p:sp>
      <p:sp>
        <p:nvSpPr>
          <p:cNvPr id="13" name="Text 10"/>
          <p:cNvSpPr txBox="1"/>
          <p:nvPr/>
        </p:nvSpPr>
        <p:spPr>
          <a:xfrm>
            <a:off x="742950" y="4457700"/>
            <a:ext cx="2076450" cy="666750"/>
          </a:xfrm>
          <a:prstGeom prst="rect">
            <a:avLst/>
          </a:prstGeom>
          <a:noFill/>
          <a:ln/>
        </p:spPr>
        <p:txBody>
          <a:bodyPr wrap="square" lIns="0" tIns="0" rIns="0" bIns="0" rtlCol="0" anchor="ctr"/>
          <a:lstStyle/>
          <a:p>
            <a:pPr marL="0" indent="0" algn="ctr">
              <a:buNone/>
            </a:pPr>
            <a:r>
              <a:rPr lang="en-US" sz="1275" kern="0" spc="100" dirty="0">
                <a:solidFill>
                  <a:srgbClr val="1B1A1A"/>
                </a:solidFill>
                <a:latin typeface="+mj-lt" pitchFamily="34" charset="0"/>
              </a:rPr>
              <a:t>THE NEARSHORE COMPANY</a:t>
            </a:r>
            <a:endParaRPr lang="en-US" sz="1275" dirty="0"/>
          </a:p>
        </p:txBody>
      </p:sp>
      <p:sp>
        <p:nvSpPr>
          <p:cNvPr id="14" name="Text 11"/>
          <p:cNvSpPr txBox="1"/>
          <p:nvPr/>
        </p:nvSpPr>
        <p:spPr>
          <a:xfrm>
            <a:off x="647700" y="5257800"/>
            <a:ext cx="2266950" cy="476250"/>
          </a:xfrm>
          <a:prstGeom prst="rect">
            <a:avLst/>
          </a:prstGeom>
          <a:noFill/>
          <a:ln/>
        </p:spPr>
        <p:txBody>
          <a:bodyPr wrap="square" lIns="0" tIns="0" rIns="0" bIns="0" rtlCol="0" anchor="t"/>
          <a:lstStyle/>
          <a:p>
            <a:pPr marL="0" indent="0" algn="ctr">
              <a:lnSpc>
                <a:spcPts val="1163"/>
              </a:lnSpc>
              <a:buNone/>
            </a:pPr>
            <a:r>
              <a:rPr lang="en-US" sz="788" dirty="0">
                <a:solidFill>
                  <a:srgbClr val="E8E2DA"/>
                </a:solidFill>
              </a:rPr>
              <a:t>Transportation &amp; Logistics</a:t>
            </a:r>
            <a:endParaRPr lang="en-US" sz="788" dirty="0"/>
          </a:p>
          <a:p>
            <a:pPr marL="0" indent="0" algn="ctr">
              <a:lnSpc>
                <a:spcPts val="1163"/>
              </a:lnSpc>
              <a:buNone/>
            </a:pPr>
            <a:r>
              <a:rPr lang="en-US" sz="788" dirty="0">
                <a:solidFill>
                  <a:srgbClr val="E8E2DA"/>
                </a:solidFill>
              </a:rPr>
              <a:t>Cross-border freight, customs brokerage and warehousing</a:t>
            </a:r>
            <a:endParaRPr lang="en-US" sz="788" dirty="0"/>
          </a:p>
        </p:txBody>
      </p:sp>
      <p:sp>
        <p:nvSpPr>
          <p:cNvPr id="15" name="Text 12"/>
          <p:cNvSpPr/>
          <p:nvPr/>
        </p:nvSpPr>
        <p:spPr>
          <a:xfrm>
            <a:off x="914400" y="5905500"/>
            <a:ext cx="1733550" cy="304800"/>
          </a:xfrm>
          <a:prstGeom prst="rect">
            <a:avLst/>
          </a:prstGeom>
          <a:solidFill>
            <a:srgbClr val="B68757"/>
          </a:solidFill>
          <a:ln/>
        </p:spPr>
        <p:txBody>
          <a:bodyPr wrap="square" lIns="0" tIns="0" rIns="0" bIns="0" rtlCol="0" anchor="ctr"/>
          <a:lstStyle/>
          <a:p>
            <a:pPr marL="0" indent="0" algn="ctr">
              <a:buNone/>
            </a:pPr>
            <a:r>
              <a:rPr lang="en-US" sz="675" b="1" u="sng" kern="0" spc="150" dirty="0">
                <a:solidFill>
                  <a:srgbClr val="FFFFFF"/>
                </a:solidFill>
                <a:hlinkClick r:id="rId4">
                  <a:extLst>
                    <a:ext uri="{A12FA001-AC4F-418D-AE19-62706E023703}">
                      <ahyp:hlinkClr xmlns:ahyp="http://schemas.microsoft.com/office/drawing/2018/hyperlinkcolor" val="tx"/>
                    </a:ext>
                  </a:extLst>
                </a:hlinkClick>
              </a:rPr>
              <a:t>READ THE ANNOUNCEMENT</a:t>
            </a:r>
            <a:endParaRPr lang="en-US" sz="675" dirty="0"/>
          </a:p>
        </p:txBody>
      </p:sp>
      <p:sp>
        <p:nvSpPr>
          <p:cNvPr id="16" name="Text 13"/>
          <p:cNvSpPr txBox="1"/>
          <p:nvPr/>
        </p:nvSpPr>
        <p:spPr>
          <a:xfrm>
            <a:off x="3352800" y="1238250"/>
            <a:ext cx="3752850" cy="133350"/>
          </a:xfrm>
          <a:prstGeom prst="rect">
            <a:avLst/>
          </a:prstGeom>
          <a:noFill/>
          <a:ln/>
        </p:spPr>
        <p:txBody>
          <a:bodyPr wrap="square" lIns="0" tIns="0" rIns="0" bIns="0" rtlCol="0" anchor="t"/>
          <a:lstStyle/>
          <a:p>
            <a:pPr marL="0" indent="0">
              <a:buNone/>
            </a:pPr>
            <a:r>
              <a:rPr lang="en-US" sz="675" b="1" kern="0" spc="200" dirty="0">
                <a:solidFill>
                  <a:srgbClr val="8C6239"/>
                </a:solidFill>
              </a:rPr>
              <a:t>THE CLIENT</a:t>
            </a:r>
            <a:endParaRPr lang="en-US" sz="675" dirty="0"/>
          </a:p>
        </p:txBody>
      </p:sp>
      <p:sp>
        <p:nvSpPr>
          <p:cNvPr id="17" name="Text 14"/>
          <p:cNvSpPr txBox="1"/>
          <p:nvPr/>
        </p:nvSpPr>
        <p:spPr>
          <a:xfrm>
            <a:off x="3352800" y="1400175"/>
            <a:ext cx="3752850" cy="228600"/>
          </a:xfrm>
          <a:prstGeom prst="rect">
            <a:avLst/>
          </a:prstGeom>
          <a:noFill/>
          <a:ln/>
        </p:spPr>
        <p:txBody>
          <a:bodyPr wrap="square" lIns="0" tIns="0" rIns="0" bIns="0" rtlCol="0" anchor="t"/>
          <a:lstStyle/>
          <a:p>
            <a:pPr marL="0" indent="0">
              <a:buNone/>
            </a:pPr>
            <a:r>
              <a:rPr lang="en-US" sz="1350" b="1" dirty="0">
                <a:solidFill>
                  <a:srgbClr val="1B1A1A"/>
                </a:solidFill>
                <a:latin typeface="+mj-lt" pitchFamily="34" charset="0"/>
              </a:rPr>
              <a:t>The Carmi Companies</a:t>
            </a:r>
            <a:endParaRPr lang="en-US" sz="1350" dirty="0"/>
          </a:p>
        </p:txBody>
      </p:sp>
      <p:sp>
        <p:nvSpPr>
          <p:cNvPr id="18" name="Text 15"/>
          <p:cNvSpPr txBox="1"/>
          <p:nvPr/>
        </p:nvSpPr>
        <p:spPr>
          <a:xfrm>
            <a:off x="3352800" y="1676400"/>
            <a:ext cx="3752850" cy="685800"/>
          </a:xfrm>
          <a:prstGeom prst="rect">
            <a:avLst/>
          </a:prstGeom>
          <a:noFill/>
          <a:ln/>
        </p:spPr>
        <p:txBody>
          <a:bodyPr wrap="square" lIns="0" tIns="0" rIns="0" bIns="0" rtlCol="0" anchor="t"/>
          <a:lstStyle/>
          <a:p>
            <a:pPr marL="0" indent="0">
              <a:lnSpc>
                <a:spcPts val="1335"/>
              </a:lnSpc>
              <a:buNone/>
            </a:pPr>
            <a:r>
              <a:rPr lang="en-US" sz="885" dirty="0">
                <a:solidFill>
                  <a:srgbClr val="333231"/>
                </a:solidFill>
              </a:rPr>
              <a:t>Founded in 1983 in Laredo, Texas, The Carmi Companies is a single-source logistics group that coordinates land, air and ocean freight and provides customs brokerage, warehousing and transloading.</a:t>
            </a:r>
            <a:endParaRPr lang="en-US" sz="885" dirty="0"/>
          </a:p>
        </p:txBody>
      </p:sp>
      <p:sp>
        <p:nvSpPr>
          <p:cNvPr id="19" name="Shape 16"/>
          <p:cNvSpPr/>
          <p:nvPr/>
        </p:nvSpPr>
        <p:spPr>
          <a:xfrm>
            <a:off x="3352800" y="2400300"/>
            <a:ext cx="3752850" cy="0"/>
          </a:xfrm>
          <a:prstGeom prst="line">
            <a:avLst/>
          </a:prstGeom>
          <a:noFill/>
          <a:ln w="9525">
            <a:solidFill>
              <a:srgbClr val="E3DCD3"/>
            </a:solidFill>
            <a:prstDash val="solid"/>
          </a:ln>
        </p:spPr>
        <p:txBody>
          <a:bodyPr/>
          <a:lstStyle/>
          <a:p>
            <a:endParaRPr lang="en-US"/>
          </a:p>
        </p:txBody>
      </p:sp>
      <p:sp>
        <p:nvSpPr>
          <p:cNvPr id="20" name="Text 17"/>
          <p:cNvSpPr txBox="1"/>
          <p:nvPr/>
        </p:nvSpPr>
        <p:spPr>
          <a:xfrm>
            <a:off x="3352800" y="2476500"/>
            <a:ext cx="3752850" cy="133350"/>
          </a:xfrm>
          <a:prstGeom prst="rect">
            <a:avLst/>
          </a:prstGeom>
          <a:noFill/>
          <a:ln/>
        </p:spPr>
        <p:txBody>
          <a:bodyPr wrap="square" lIns="0" tIns="0" rIns="0" bIns="0" rtlCol="0" anchor="t"/>
          <a:lstStyle/>
          <a:p>
            <a:pPr marL="0" indent="0">
              <a:buNone/>
            </a:pPr>
            <a:r>
              <a:rPr lang="en-US" sz="675" b="1" kern="0" spc="200" dirty="0">
                <a:solidFill>
                  <a:srgbClr val="8C6239"/>
                </a:solidFill>
              </a:rPr>
              <a:t>THE COUNTERPARTY</a:t>
            </a:r>
            <a:endParaRPr lang="en-US" sz="675" dirty="0"/>
          </a:p>
        </p:txBody>
      </p:sp>
      <p:sp>
        <p:nvSpPr>
          <p:cNvPr id="21" name="Text 18"/>
          <p:cNvSpPr txBox="1"/>
          <p:nvPr/>
        </p:nvSpPr>
        <p:spPr>
          <a:xfrm>
            <a:off x="3352800" y="2638425"/>
            <a:ext cx="3752850" cy="228600"/>
          </a:xfrm>
          <a:prstGeom prst="rect">
            <a:avLst/>
          </a:prstGeom>
          <a:noFill/>
          <a:ln/>
        </p:spPr>
        <p:txBody>
          <a:bodyPr wrap="square" lIns="0" tIns="0" rIns="0" bIns="0" rtlCol="0" anchor="t"/>
          <a:lstStyle/>
          <a:p>
            <a:pPr marL="0" indent="0">
              <a:buNone/>
            </a:pPr>
            <a:r>
              <a:rPr lang="en-US" sz="1350" b="1" dirty="0">
                <a:solidFill>
                  <a:srgbClr val="1B1A1A"/>
                </a:solidFill>
                <a:latin typeface="+mj-lt" pitchFamily="34" charset="0"/>
              </a:rPr>
              <a:t>The Nearshore Company</a:t>
            </a:r>
            <a:endParaRPr lang="en-US" sz="1350" dirty="0"/>
          </a:p>
        </p:txBody>
      </p:sp>
      <p:sp>
        <p:nvSpPr>
          <p:cNvPr id="22" name="Text 19"/>
          <p:cNvSpPr txBox="1"/>
          <p:nvPr/>
        </p:nvSpPr>
        <p:spPr>
          <a:xfrm>
            <a:off x="3352800" y="2914650"/>
            <a:ext cx="3752850" cy="590550"/>
          </a:xfrm>
          <a:prstGeom prst="rect">
            <a:avLst/>
          </a:prstGeom>
          <a:noFill/>
          <a:ln/>
        </p:spPr>
        <p:txBody>
          <a:bodyPr wrap="square" lIns="0" tIns="0" rIns="0" bIns="0" rtlCol="0" anchor="t"/>
          <a:lstStyle/>
          <a:p>
            <a:pPr marL="0" indent="0">
              <a:lnSpc>
                <a:spcPts val="1335"/>
              </a:lnSpc>
              <a:buNone/>
            </a:pPr>
            <a:r>
              <a:rPr lang="en-US" sz="885" dirty="0">
                <a:solidFill>
                  <a:srgbClr val="333231"/>
                </a:solidFill>
              </a:rPr>
              <a:t>Founded in 1992 in Brownsville, Texas, The Nearshore Company offers manufacturing facilities in Mexico together with employer-of-record services.</a:t>
            </a:r>
            <a:endParaRPr lang="en-US" sz="885" dirty="0"/>
          </a:p>
        </p:txBody>
      </p:sp>
      <p:sp>
        <p:nvSpPr>
          <p:cNvPr id="23" name="Shape 20"/>
          <p:cNvSpPr/>
          <p:nvPr/>
        </p:nvSpPr>
        <p:spPr>
          <a:xfrm>
            <a:off x="3352800" y="3543300"/>
            <a:ext cx="3752850" cy="0"/>
          </a:xfrm>
          <a:prstGeom prst="line">
            <a:avLst/>
          </a:prstGeom>
          <a:noFill/>
          <a:ln w="9525">
            <a:solidFill>
              <a:srgbClr val="E3DCD3"/>
            </a:solidFill>
            <a:prstDash val="solid"/>
          </a:ln>
        </p:spPr>
        <p:txBody>
          <a:bodyPr/>
          <a:lstStyle/>
          <a:p>
            <a:endParaRPr lang="en-US"/>
          </a:p>
        </p:txBody>
      </p:sp>
      <p:sp>
        <p:nvSpPr>
          <p:cNvPr id="24" name="Text 21"/>
          <p:cNvSpPr txBox="1"/>
          <p:nvPr/>
        </p:nvSpPr>
        <p:spPr>
          <a:xfrm>
            <a:off x="3352800" y="3619500"/>
            <a:ext cx="3752850" cy="133350"/>
          </a:xfrm>
          <a:prstGeom prst="rect">
            <a:avLst/>
          </a:prstGeom>
          <a:noFill/>
          <a:ln/>
        </p:spPr>
        <p:txBody>
          <a:bodyPr wrap="square" lIns="0" tIns="0" rIns="0" bIns="0" rtlCol="0" anchor="t"/>
          <a:lstStyle/>
          <a:p>
            <a:pPr marL="0" indent="0">
              <a:buNone/>
            </a:pPr>
            <a:r>
              <a:rPr lang="en-US" sz="675" b="1" kern="0" spc="200" dirty="0">
                <a:solidFill>
                  <a:srgbClr val="8C6239"/>
                </a:solidFill>
              </a:rPr>
              <a:t>THE RATIONALE</a:t>
            </a:r>
            <a:endParaRPr lang="en-US" sz="675" dirty="0"/>
          </a:p>
        </p:txBody>
      </p:sp>
      <p:sp>
        <p:nvSpPr>
          <p:cNvPr id="25" name="Text 22"/>
          <p:cNvSpPr txBox="1"/>
          <p:nvPr/>
        </p:nvSpPr>
        <p:spPr>
          <a:xfrm>
            <a:off x="3352800" y="3781425"/>
            <a:ext cx="3752850" cy="228600"/>
          </a:xfrm>
          <a:prstGeom prst="rect">
            <a:avLst/>
          </a:prstGeom>
          <a:noFill/>
          <a:ln/>
        </p:spPr>
        <p:txBody>
          <a:bodyPr wrap="square" lIns="0" tIns="0" rIns="0" bIns="0" rtlCol="0" anchor="t"/>
          <a:lstStyle/>
          <a:p>
            <a:pPr marL="0" indent="0">
              <a:buNone/>
            </a:pPr>
            <a:r>
              <a:rPr lang="en-US" sz="1350" b="1" dirty="0">
                <a:solidFill>
                  <a:srgbClr val="1B1A1A"/>
                </a:solidFill>
                <a:latin typeface="+mj-lt" pitchFamily="34" charset="0"/>
              </a:rPr>
              <a:t>An end-to-end cross-border platform</a:t>
            </a:r>
            <a:endParaRPr lang="en-US" sz="1350" dirty="0"/>
          </a:p>
        </p:txBody>
      </p:sp>
      <p:sp>
        <p:nvSpPr>
          <p:cNvPr id="26" name="Text 23"/>
          <p:cNvSpPr txBox="1"/>
          <p:nvPr/>
        </p:nvSpPr>
        <p:spPr>
          <a:xfrm>
            <a:off x="3352800" y="4057650"/>
            <a:ext cx="3752850" cy="647700"/>
          </a:xfrm>
          <a:prstGeom prst="rect">
            <a:avLst/>
          </a:prstGeom>
          <a:noFill/>
          <a:ln/>
        </p:spPr>
        <p:txBody>
          <a:bodyPr wrap="square" lIns="0" tIns="0" rIns="0" bIns="0" rtlCol="0" anchor="t"/>
          <a:lstStyle/>
          <a:p>
            <a:pPr marL="0" indent="0">
              <a:lnSpc>
                <a:spcPts val="1335"/>
              </a:lnSpc>
              <a:buNone/>
            </a:pPr>
            <a:r>
              <a:rPr lang="en-US" sz="885" dirty="0">
                <a:solidFill>
                  <a:srgbClr val="333231"/>
                </a:solidFill>
              </a:rPr>
              <a:t>The combination pairs The Nearshore Company’s Mexico manufacturing facilities and employer-of-record services with Carmi’s logistics to form an end-to-end cross-border platform.</a:t>
            </a:r>
            <a:endParaRPr lang="en-US" sz="885" dirty="0"/>
          </a:p>
        </p:txBody>
      </p:sp>
      <p:sp>
        <p:nvSpPr>
          <p:cNvPr id="27" name="Shape 24"/>
          <p:cNvSpPr/>
          <p:nvPr/>
        </p:nvSpPr>
        <p:spPr>
          <a:xfrm>
            <a:off x="3352800" y="4743450"/>
            <a:ext cx="3752850" cy="0"/>
          </a:xfrm>
          <a:prstGeom prst="line">
            <a:avLst/>
          </a:prstGeom>
          <a:noFill/>
          <a:ln w="9525">
            <a:solidFill>
              <a:srgbClr val="E3DCD3"/>
            </a:solidFill>
            <a:prstDash val="solid"/>
          </a:ln>
        </p:spPr>
        <p:txBody>
          <a:bodyPr/>
          <a:lstStyle/>
          <a:p>
            <a:endParaRPr lang="en-US"/>
          </a:p>
        </p:txBody>
      </p:sp>
      <p:sp>
        <p:nvSpPr>
          <p:cNvPr id="28" name="Text 25"/>
          <p:cNvSpPr txBox="1"/>
          <p:nvPr/>
        </p:nvSpPr>
        <p:spPr>
          <a:xfrm>
            <a:off x="3352800" y="4819650"/>
            <a:ext cx="3752850" cy="133350"/>
          </a:xfrm>
          <a:prstGeom prst="rect">
            <a:avLst/>
          </a:prstGeom>
          <a:noFill/>
          <a:ln/>
        </p:spPr>
        <p:txBody>
          <a:bodyPr wrap="square" lIns="0" tIns="0" rIns="0" bIns="0" rtlCol="0" anchor="t"/>
          <a:lstStyle/>
          <a:p>
            <a:pPr marL="0" indent="0">
              <a:buNone/>
            </a:pPr>
            <a:r>
              <a:rPr lang="en-US" sz="675" b="1" kern="0" spc="200" dirty="0">
                <a:solidFill>
                  <a:srgbClr val="8C6239"/>
                </a:solidFill>
              </a:rPr>
              <a:t>THE MARKET</a:t>
            </a:r>
            <a:endParaRPr lang="en-US" sz="675" dirty="0"/>
          </a:p>
        </p:txBody>
      </p:sp>
      <p:sp>
        <p:nvSpPr>
          <p:cNvPr id="29" name="Text 26"/>
          <p:cNvSpPr txBox="1"/>
          <p:nvPr/>
        </p:nvSpPr>
        <p:spPr>
          <a:xfrm>
            <a:off x="3352800" y="4981575"/>
            <a:ext cx="3752850" cy="228600"/>
          </a:xfrm>
          <a:prstGeom prst="rect">
            <a:avLst/>
          </a:prstGeom>
          <a:noFill/>
          <a:ln/>
        </p:spPr>
        <p:txBody>
          <a:bodyPr wrap="square" lIns="0" tIns="0" rIns="0" bIns="0" rtlCol="0" anchor="t"/>
          <a:lstStyle/>
          <a:p>
            <a:pPr marL="0" indent="0">
              <a:buNone/>
            </a:pPr>
            <a:r>
              <a:rPr lang="en-US" sz="1350" b="1" dirty="0">
                <a:solidFill>
                  <a:srgbClr val="1B1A1A"/>
                </a:solidFill>
                <a:latin typeface="+mj-lt" pitchFamily="34" charset="0"/>
              </a:rPr>
              <a:t>Buyers are paying for border capability</a:t>
            </a:r>
            <a:endParaRPr lang="en-US" sz="1350" dirty="0"/>
          </a:p>
        </p:txBody>
      </p:sp>
      <p:sp>
        <p:nvSpPr>
          <p:cNvPr id="30" name="Text 27"/>
          <p:cNvSpPr txBox="1"/>
          <p:nvPr/>
        </p:nvSpPr>
        <p:spPr>
          <a:xfrm>
            <a:off x="3352800" y="5257800"/>
            <a:ext cx="3752850" cy="1657350"/>
          </a:xfrm>
          <a:prstGeom prst="rect">
            <a:avLst/>
          </a:prstGeom>
          <a:noFill/>
          <a:ln/>
        </p:spPr>
        <p:txBody>
          <a:bodyPr wrap="square" lIns="0" tIns="0" rIns="0" bIns="0" rtlCol="0" anchor="t"/>
          <a:lstStyle/>
          <a:p>
            <a:pPr marL="0" indent="0">
              <a:lnSpc>
                <a:spcPts val="1335"/>
              </a:lnSpc>
              <a:buNone/>
            </a:pPr>
            <a:r>
              <a:rPr lang="en-US" sz="885" dirty="0">
                <a:solidFill>
                  <a:srgbClr val="333231"/>
                </a:solidFill>
              </a:rPr>
              <a:t>Trade with Mexico reached a monthly record of $94.8 billion in July, 27.5% above a year earlier, and $35.9 billion of it moved through Port Laredo (</a:t>
            </a:r>
            <a:r>
              <a:rPr lang="en-US" sz="885" u="sng" dirty="0">
                <a:solidFill>
                  <a:srgbClr val="8C6239"/>
                </a:solidFill>
                <a:hlinkClick r:id="rId5" tooltip="https://www.freightwaves.com/news/us-mexico-trade-smashes-monthly-record-at-nearly-95b">
                  <a:extLst>
                    <a:ext uri="{A12FA001-AC4F-418D-AE19-62706E023703}">
                      <ahyp:hlinkClr xmlns:ahyp="http://schemas.microsoft.com/office/drawing/2018/hyperlinkcolor" val="tx"/>
                    </a:ext>
                  </a:extLst>
                </a:hlinkClick>
              </a:rPr>
              <a:t>Census data reported by FreightWaves</a:t>
            </a:r>
            <a:r>
              <a:rPr lang="en-US" sz="885" dirty="0">
                <a:solidFill>
                  <a:srgbClr val="333231"/>
                </a:solidFill>
              </a:rPr>
              <a:t>). Logistics platforms have responded by buying brokers at the border, and Redwood Logistics and Imperative Logistics Group each acquired a founder-owned customs broker in Laredo this year (</a:t>
            </a:r>
            <a:r>
              <a:rPr lang="en-US" sz="885" u="sng" dirty="0">
                <a:solidFill>
                  <a:srgbClr val="8C6239"/>
                </a:solidFill>
                <a:hlinkClick r:id="rId6" tooltip="https://www.freightwaves.com/news/redwood-logistics-acquires-laredo-customs-broker-eelco">
                  <a:extLst>
                    <a:ext uri="{A12FA001-AC4F-418D-AE19-62706E023703}">
                      <ahyp:hlinkClr xmlns:ahyp="http://schemas.microsoft.com/office/drawing/2018/hyperlinkcolor" val="tx"/>
                    </a:ext>
                  </a:extLst>
                </a:hlinkClick>
              </a:rPr>
              <a:t>FreightWaves on EELCO</a:t>
            </a:r>
            <a:r>
              <a:rPr lang="en-US" sz="885" dirty="0">
                <a:solidFill>
                  <a:srgbClr val="333231"/>
                </a:solidFill>
              </a:rPr>
              <a:t>; </a:t>
            </a:r>
            <a:r>
              <a:rPr lang="en-US" sz="885" u="sng" dirty="0">
                <a:solidFill>
                  <a:srgbClr val="8C6239"/>
                </a:solidFill>
                <a:hlinkClick r:id="rId7" tooltip="https://www.freightwaves.com/news/from-trucks-to-trade-compliance-logistics-firms-make-strategic-buys">
                  <a:extLst>
                    <a:ext uri="{A12FA001-AC4F-418D-AE19-62706E023703}">
                      <ahyp:hlinkClr xmlns:ahyp="http://schemas.microsoft.com/office/drawing/2018/hyperlinkcolor" val="tx"/>
                    </a:ext>
                  </a:extLst>
                </a:hlinkClick>
              </a:rPr>
              <a:t>FreightWaves on Jose D. Gonzalez, CHB</a:t>
            </a:r>
            <a:r>
              <a:rPr lang="en-US" sz="885" dirty="0">
                <a:solidFill>
                  <a:srgbClr val="333231"/>
                </a:solidFill>
              </a:rPr>
              <a:t>).</a:t>
            </a:r>
            <a:endParaRPr lang="en-US" sz="885" dirty="0"/>
          </a:p>
        </p:txBody>
      </p:sp>
      <p:sp>
        <p:nvSpPr>
          <p:cNvPr id="31" name="Quote panel"/>
          <p:cNvSpPr/>
          <p:nvPr/>
        </p:nvSpPr>
        <p:spPr>
          <a:xfrm>
            <a:off x="7315200" y="1238250"/>
            <a:ext cx="2324100" cy="1600200"/>
          </a:xfrm>
          <a:prstGeom prst="rect">
            <a:avLst/>
          </a:prstGeom>
          <a:solidFill>
            <a:srgbClr val="FAF7F3"/>
          </a:solidFill>
          <a:ln/>
        </p:spPr>
        <p:txBody>
          <a:bodyPr/>
          <a:lstStyle/>
          <a:p>
            <a:endParaRPr lang="en-US"/>
          </a:p>
        </p:txBody>
      </p:sp>
      <p:sp>
        <p:nvSpPr>
          <p:cNvPr id="32" name="Shape 29"/>
          <p:cNvSpPr/>
          <p:nvPr/>
        </p:nvSpPr>
        <p:spPr>
          <a:xfrm>
            <a:off x="7324725" y="1238250"/>
            <a:ext cx="0" cy="1600200"/>
          </a:xfrm>
          <a:prstGeom prst="line">
            <a:avLst/>
          </a:prstGeom>
          <a:noFill/>
          <a:ln w="28575">
            <a:solidFill>
              <a:srgbClr val="B68757"/>
            </a:solidFill>
            <a:prstDash val="solid"/>
          </a:ln>
        </p:spPr>
        <p:txBody>
          <a:bodyPr/>
          <a:lstStyle/>
          <a:p>
            <a:endParaRPr lang="en-US"/>
          </a:p>
        </p:txBody>
      </p:sp>
      <p:sp>
        <p:nvSpPr>
          <p:cNvPr id="33" name="Text 30"/>
          <p:cNvSpPr txBox="1"/>
          <p:nvPr/>
        </p:nvSpPr>
        <p:spPr>
          <a:xfrm>
            <a:off x="7486650" y="1390650"/>
            <a:ext cx="2000250" cy="857250"/>
          </a:xfrm>
          <a:prstGeom prst="rect">
            <a:avLst/>
          </a:prstGeom>
          <a:noFill/>
          <a:ln/>
        </p:spPr>
        <p:txBody>
          <a:bodyPr wrap="square" lIns="0" tIns="0" rIns="0" bIns="0" rtlCol="0" anchor="t"/>
          <a:lstStyle/>
          <a:p>
            <a:pPr marL="0" indent="0">
              <a:lnSpc>
                <a:spcPts val="1650"/>
              </a:lnSpc>
              <a:buNone/>
            </a:pPr>
            <a:r>
              <a:rPr lang="en-US" sz="1125" i="1" dirty="0">
                <a:solidFill>
                  <a:srgbClr val="1B1A1A"/>
                </a:solidFill>
                <a:latin typeface="+mj-lt" pitchFamily="34" charset="0"/>
              </a:rPr>
              <a:t>“The simplest way to describe today’s market is that buyers are acquiring capabilities rather than capacity.”</a:t>
            </a:r>
            <a:endParaRPr lang="en-US" sz="1125" dirty="0"/>
          </a:p>
        </p:txBody>
      </p:sp>
      <p:sp>
        <p:nvSpPr>
          <p:cNvPr id="34" name="Text 31"/>
          <p:cNvSpPr txBox="1"/>
          <p:nvPr/>
        </p:nvSpPr>
        <p:spPr>
          <a:xfrm>
            <a:off x="7486650" y="2381250"/>
            <a:ext cx="2000250" cy="419100"/>
          </a:xfrm>
          <a:prstGeom prst="rect">
            <a:avLst/>
          </a:prstGeom>
          <a:noFill/>
          <a:ln/>
        </p:spPr>
        <p:txBody>
          <a:bodyPr wrap="square" lIns="0" tIns="0" rIns="0" bIns="0" rtlCol="0" anchor="t"/>
          <a:lstStyle/>
          <a:p>
            <a:pPr marL="0" indent="0">
              <a:lnSpc>
                <a:spcPts val="1013"/>
              </a:lnSpc>
              <a:buNone/>
            </a:pPr>
            <a:r>
              <a:rPr lang="en-US" sz="713" dirty="0">
                <a:solidFill>
                  <a:srgbClr val="6F6A66"/>
                </a:solidFill>
              </a:rPr>
              <a:t>Gaurang Shastri, Managing Director, Lincoln International, speaking to Transport Topics (</a:t>
            </a:r>
            <a:r>
              <a:rPr lang="en-US" sz="713" u="sng" dirty="0">
                <a:solidFill>
                  <a:srgbClr val="8C6239"/>
                </a:solidFill>
                <a:hlinkClick r:id="rId8" tooltip="https://www.lincolninternational.com/perspectives/in-the-press/transport-topics-transport-ma-builds-momentum-alongside-freight-market/">
                  <a:extLst>
                    <a:ext uri="{A12FA001-AC4F-418D-AE19-62706E023703}">
                      <ahyp:hlinkClr xmlns:ahyp="http://schemas.microsoft.com/office/drawing/2018/hyperlinkcolor" val="tx"/>
                    </a:ext>
                  </a:extLst>
                </a:hlinkClick>
              </a:rPr>
              <a:t>Lincoln International</a:t>
            </a:r>
            <a:r>
              <a:rPr lang="en-US" sz="713" dirty="0">
                <a:solidFill>
                  <a:srgbClr val="6F6A66"/>
                </a:solidFill>
              </a:rPr>
              <a:t>)</a:t>
            </a:r>
            <a:endParaRPr lang="en-US" sz="713" dirty="0"/>
          </a:p>
        </p:txBody>
      </p:sp>
      <p:sp>
        <p:nvSpPr>
          <p:cNvPr id="35" name="Segment counts"/>
          <p:cNvSpPr/>
          <p:nvPr/>
        </p:nvSpPr>
        <p:spPr>
          <a:xfrm>
            <a:off x="7315200" y="2971800"/>
            <a:ext cx="2324100" cy="876300"/>
          </a:xfrm>
          <a:prstGeom prst="rect">
            <a:avLst/>
          </a:prstGeom>
          <a:solidFill>
            <a:srgbClr val="FFFFFF"/>
          </a:solidFill>
          <a:ln w="9525">
            <a:solidFill>
              <a:srgbClr val="E3DCD3"/>
            </a:solidFill>
            <a:prstDash val="solid"/>
          </a:ln>
        </p:spPr>
        <p:txBody>
          <a:bodyPr/>
          <a:lstStyle/>
          <a:p>
            <a:endParaRPr lang="en-US"/>
          </a:p>
        </p:txBody>
      </p:sp>
      <p:sp>
        <p:nvSpPr>
          <p:cNvPr id="36" name="Text 33"/>
          <p:cNvSpPr txBox="1"/>
          <p:nvPr/>
        </p:nvSpPr>
        <p:spPr>
          <a:xfrm>
            <a:off x="7486650" y="3086100"/>
            <a:ext cx="2038350" cy="133350"/>
          </a:xfrm>
          <a:prstGeom prst="rect">
            <a:avLst/>
          </a:prstGeom>
          <a:noFill/>
          <a:ln/>
        </p:spPr>
        <p:txBody>
          <a:bodyPr wrap="square" lIns="0" tIns="0" rIns="0" bIns="0" rtlCol="0" anchor="t"/>
          <a:lstStyle/>
          <a:p>
            <a:pPr marL="0" indent="0">
              <a:buNone/>
            </a:pPr>
            <a:r>
              <a:rPr lang="en-US" sz="675" b="1" kern="0" spc="200" dirty="0">
                <a:solidFill>
                  <a:srgbClr val="8C6239"/>
                </a:solidFill>
              </a:rPr>
              <a:t>BENCHMARK IN THIS SEGMENT</a:t>
            </a:r>
            <a:endParaRPr lang="en-US" sz="675" dirty="0"/>
          </a:p>
        </p:txBody>
      </p:sp>
      <p:sp>
        <p:nvSpPr>
          <p:cNvPr id="37" name="Text 34"/>
          <p:cNvSpPr txBox="1"/>
          <p:nvPr/>
        </p:nvSpPr>
        <p:spPr>
          <a:xfrm>
            <a:off x="7486650" y="3257550"/>
            <a:ext cx="857250" cy="285750"/>
          </a:xfrm>
          <a:prstGeom prst="rect">
            <a:avLst/>
          </a:prstGeom>
          <a:noFill/>
          <a:ln/>
        </p:spPr>
        <p:txBody>
          <a:bodyPr wrap="square" lIns="0" tIns="0" rIns="0" bIns="0" rtlCol="0" anchor="t"/>
          <a:lstStyle/>
          <a:p>
            <a:pPr marL="0" indent="0">
              <a:buNone/>
            </a:pPr>
            <a:r>
              <a:rPr lang="en-US" sz="1950" b="1" dirty="0">
                <a:solidFill>
                  <a:srgbClr val="1B1A1A"/>
                </a:solidFill>
                <a:latin typeface="+mj-lt" pitchFamily="34" charset="0"/>
              </a:rPr>
              <a:t>3</a:t>
            </a:r>
            <a:endParaRPr lang="en-US" sz="1950" dirty="0"/>
          </a:p>
        </p:txBody>
      </p:sp>
      <p:sp>
        <p:nvSpPr>
          <p:cNvPr id="38" name="Text 35"/>
          <p:cNvSpPr txBox="1"/>
          <p:nvPr/>
        </p:nvSpPr>
        <p:spPr>
          <a:xfrm>
            <a:off x="7486650" y="3543300"/>
            <a:ext cx="952500" cy="266700"/>
          </a:xfrm>
          <a:prstGeom prst="rect">
            <a:avLst/>
          </a:prstGeom>
          <a:noFill/>
          <a:ln/>
        </p:spPr>
        <p:txBody>
          <a:bodyPr wrap="square" lIns="0" tIns="0" rIns="0" bIns="0" rtlCol="0" anchor="t"/>
          <a:lstStyle/>
          <a:p>
            <a:pPr marL="0" indent="0">
              <a:lnSpc>
                <a:spcPts val="975"/>
              </a:lnSpc>
              <a:buNone/>
            </a:pPr>
            <a:r>
              <a:rPr lang="en-US" sz="713" dirty="0">
                <a:solidFill>
                  <a:srgbClr val="6F6A66"/>
                </a:solidFill>
              </a:rPr>
              <a:t>transactions closed in the past 24 months</a:t>
            </a:r>
            <a:endParaRPr lang="en-US" sz="713" dirty="0"/>
          </a:p>
        </p:txBody>
      </p:sp>
      <p:sp>
        <p:nvSpPr>
          <p:cNvPr id="39" name="Text 36"/>
          <p:cNvSpPr txBox="1"/>
          <p:nvPr/>
        </p:nvSpPr>
        <p:spPr>
          <a:xfrm>
            <a:off x="8610600" y="3257550"/>
            <a:ext cx="857250" cy="285750"/>
          </a:xfrm>
          <a:prstGeom prst="rect">
            <a:avLst/>
          </a:prstGeom>
          <a:noFill/>
          <a:ln/>
        </p:spPr>
        <p:txBody>
          <a:bodyPr wrap="square" lIns="0" tIns="0" rIns="0" bIns="0" rtlCol="0" anchor="t"/>
          <a:lstStyle/>
          <a:p>
            <a:pPr marL="0" indent="0">
              <a:buNone/>
            </a:pPr>
            <a:r>
              <a:rPr lang="en-US" sz="1950" b="1" dirty="0">
                <a:solidFill>
                  <a:srgbClr val="1B1A1A"/>
                </a:solidFill>
                <a:latin typeface="+mj-lt" pitchFamily="34" charset="0"/>
              </a:rPr>
              <a:t>14</a:t>
            </a:r>
            <a:endParaRPr lang="en-US" sz="1950" dirty="0"/>
          </a:p>
        </p:txBody>
      </p:sp>
      <p:sp>
        <p:nvSpPr>
          <p:cNvPr id="40" name="Text 37"/>
          <p:cNvSpPr txBox="1"/>
          <p:nvPr/>
        </p:nvSpPr>
        <p:spPr>
          <a:xfrm>
            <a:off x="8610600" y="3543300"/>
            <a:ext cx="857250" cy="266700"/>
          </a:xfrm>
          <a:prstGeom prst="rect">
            <a:avLst/>
          </a:prstGeom>
          <a:noFill/>
          <a:ln/>
        </p:spPr>
        <p:txBody>
          <a:bodyPr wrap="square" lIns="0" tIns="0" rIns="0" bIns="0" rtlCol="0" anchor="t"/>
          <a:lstStyle/>
          <a:p>
            <a:pPr marL="0" indent="0">
              <a:lnSpc>
                <a:spcPts val="975"/>
              </a:lnSpc>
              <a:buNone/>
            </a:pPr>
            <a:r>
              <a:rPr lang="en-US" sz="713" dirty="0">
                <a:solidFill>
                  <a:srgbClr val="6F6A66"/>
                </a:solidFill>
              </a:rPr>
              <a:t>engagements in progress</a:t>
            </a:r>
            <a:endParaRPr lang="en-US" sz="713" dirty="0"/>
          </a:p>
        </p:txBody>
      </p:sp>
      <p:sp>
        <p:nvSpPr>
          <p:cNvPr id="41" name="Text 38"/>
          <p:cNvSpPr txBox="1"/>
          <p:nvPr/>
        </p:nvSpPr>
        <p:spPr>
          <a:xfrm>
            <a:off x="7315200" y="4514850"/>
            <a:ext cx="2324100" cy="133350"/>
          </a:xfrm>
          <a:prstGeom prst="rect">
            <a:avLst/>
          </a:prstGeom>
          <a:noFill/>
          <a:ln/>
        </p:spPr>
        <p:txBody>
          <a:bodyPr wrap="square" lIns="0" tIns="0" rIns="0" bIns="0" rtlCol="0" anchor="t"/>
          <a:lstStyle/>
          <a:p>
            <a:pPr marL="0" indent="0">
              <a:buNone/>
            </a:pPr>
            <a:r>
              <a:rPr lang="en-US" sz="675" b="1" kern="0" spc="200" dirty="0">
                <a:solidFill>
                  <a:srgbClr val="8C6239"/>
                </a:solidFill>
              </a:rPr>
              <a:t>TALK WITH THE TEAM</a:t>
            </a:r>
            <a:endParaRPr lang="en-US" sz="675" dirty="0"/>
          </a:p>
        </p:txBody>
      </p:sp>
      <p:sp>
        <p:nvSpPr>
          <p:cNvPr id="42" name="Jared Hardin card"/>
          <p:cNvSpPr/>
          <p:nvPr/>
        </p:nvSpPr>
        <p:spPr>
          <a:xfrm>
            <a:off x="7315200" y="4705350"/>
            <a:ext cx="2324100" cy="781050"/>
          </a:xfrm>
          <a:prstGeom prst="rect">
            <a:avLst/>
          </a:prstGeom>
          <a:solidFill>
            <a:srgbClr val="FAF7F3"/>
          </a:solidFill>
          <a:ln/>
        </p:spPr>
        <p:txBody>
          <a:bodyPr/>
          <a:lstStyle/>
          <a:p>
            <a:endParaRPr lang="en-US"/>
          </a:p>
        </p:txBody>
      </p:sp>
      <p:sp>
        <p:nvSpPr>
          <p:cNvPr id="43" name="Shape 40"/>
          <p:cNvSpPr/>
          <p:nvPr/>
        </p:nvSpPr>
        <p:spPr>
          <a:xfrm>
            <a:off x="7315200" y="4705350"/>
            <a:ext cx="2324100" cy="28575"/>
          </a:xfrm>
          <a:prstGeom prst="rect">
            <a:avLst/>
          </a:prstGeom>
          <a:solidFill>
            <a:srgbClr val="B68757"/>
          </a:solidFill>
          <a:ln/>
        </p:spPr>
        <p:txBody>
          <a:bodyPr/>
          <a:lstStyle/>
          <a:p>
            <a:endParaRPr lang="en-US"/>
          </a:p>
        </p:txBody>
      </p:sp>
      <p:pic>
        <p:nvPicPr>
          <p:cNvPr id="44" name="Image 1" descr="/tmp/claude-0/-home-claude-about/b7ea608c-3502-5da6-986c-4c57d144c940/scratchpad/brief/assets/jared-hardin.jpg"/>
          <p:cNvPicPr>
            <a:picLocks noChangeAspect="1"/>
          </p:cNvPicPr>
          <p:nvPr/>
        </p:nvPicPr>
        <p:blipFill>
          <a:blip r:embed="rId9"/>
          <a:stretch>
            <a:fillRect/>
          </a:stretch>
        </p:blipFill>
        <p:spPr>
          <a:xfrm>
            <a:off x="7429500" y="4867275"/>
            <a:ext cx="476250" cy="476250"/>
          </a:xfrm>
          <a:prstGeom prst="ellipse">
            <a:avLst/>
          </a:prstGeom>
        </p:spPr>
      </p:pic>
      <p:sp>
        <p:nvSpPr>
          <p:cNvPr id="45" name="Text 41"/>
          <p:cNvSpPr txBox="1"/>
          <p:nvPr/>
        </p:nvSpPr>
        <p:spPr>
          <a:xfrm>
            <a:off x="8020050" y="4819650"/>
            <a:ext cx="1524000" cy="190500"/>
          </a:xfrm>
          <a:prstGeom prst="rect">
            <a:avLst/>
          </a:prstGeom>
          <a:noFill/>
          <a:ln/>
        </p:spPr>
        <p:txBody>
          <a:bodyPr wrap="square" lIns="0" tIns="0" rIns="0" bIns="0" rtlCol="0" anchor="t"/>
          <a:lstStyle/>
          <a:p>
            <a:pPr marL="0" indent="0">
              <a:buNone/>
            </a:pPr>
            <a:r>
              <a:rPr lang="en-US" sz="1125" b="1" dirty="0">
                <a:solidFill>
                  <a:srgbClr val="1B1A1A"/>
                </a:solidFill>
                <a:latin typeface="+mj-lt" pitchFamily="34" charset="0"/>
              </a:rPr>
              <a:t>Jared Hardin</a:t>
            </a:r>
            <a:endParaRPr lang="en-US" sz="1125" dirty="0"/>
          </a:p>
        </p:txBody>
      </p:sp>
      <p:sp>
        <p:nvSpPr>
          <p:cNvPr id="46" name="Text 42"/>
          <p:cNvSpPr txBox="1"/>
          <p:nvPr/>
        </p:nvSpPr>
        <p:spPr>
          <a:xfrm>
            <a:off x="8020050" y="5010150"/>
            <a:ext cx="1524000" cy="123825"/>
          </a:xfrm>
          <a:prstGeom prst="rect">
            <a:avLst/>
          </a:prstGeom>
          <a:noFill/>
          <a:ln/>
        </p:spPr>
        <p:txBody>
          <a:bodyPr wrap="square" lIns="0" tIns="0" rIns="0" bIns="0" rtlCol="0" anchor="t"/>
          <a:lstStyle/>
          <a:p>
            <a:pPr marL="0" indent="0">
              <a:buNone/>
            </a:pPr>
            <a:r>
              <a:rPr lang="en-US" sz="600" b="1" kern="0" spc="120" dirty="0">
                <a:solidFill>
                  <a:srgbClr val="8C6239"/>
                </a:solidFill>
              </a:rPr>
              <a:t>MANAGING DIRECTOR</a:t>
            </a:r>
            <a:endParaRPr lang="en-US" sz="600" dirty="0"/>
          </a:p>
        </p:txBody>
      </p:sp>
      <p:sp>
        <p:nvSpPr>
          <p:cNvPr id="47" name="Text 43"/>
          <p:cNvSpPr txBox="1"/>
          <p:nvPr/>
        </p:nvSpPr>
        <p:spPr>
          <a:xfrm>
            <a:off x="8020050" y="5143500"/>
            <a:ext cx="1524000" cy="304800"/>
          </a:xfrm>
          <a:prstGeom prst="rect">
            <a:avLst/>
          </a:prstGeom>
          <a:noFill/>
          <a:ln/>
        </p:spPr>
        <p:txBody>
          <a:bodyPr wrap="square" lIns="0" tIns="0" rIns="0" bIns="0" rtlCol="0" anchor="t"/>
          <a:lstStyle/>
          <a:p>
            <a:pPr marL="0" indent="0">
              <a:lnSpc>
                <a:spcPts val="1050"/>
              </a:lnSpc>
              <a:buNone/>
            </a:pPr>
            <a:r>
              <a:rPr lang="en-US" sz="750" u="sng" dirty="0">
                <a:solidFill>
                  <a:srgbClr val="8C6239"/>
                </a:solidFill>
                <a:hlinkClick r:id="rId10">
                  <a:extLst>
                    <a:ext uri="{A12FA001-AC4F-418D-AE19-62706E023703}">
                      <ahyp:hlinkClr xmlns:ahyp="http://schemas.microsoft.com/office/drawing/2018/hyperlinkcolor" val="tx"/>
                    </a:ext>
                  </a:extLst>
                </a:hlinkClick>
              </a:rPr>
              <a:t>813-771-6675</a:t>
            </a:r>
            <a:endParaRPr lang="en-US" sz="750" dirty="0"/>
          </a:p>
          <a:p>
            <a:pPr marL="0" indent="0">
              <a:lnSpc>
                <a:spcPts val="1050"/>
              </a:lnSpc>
              <a:buNone/>
            </a:pPr>
            <a:r>
              <a:rPr lang="en-US" sz="750" u="sng" dirty="0">
                <a:solidFill>
                  <a:srgbClr val="8C6239"/>
                </a:solidFill>
                <a:hlinkClick r:id="rId11">
                  <a:extLst>
                    <a:ext uri="{A12FA001-AC4F-418D-AE19-62706E023703}">
                      <ahyp:hlinkClr xmlns:ahyp="http://schemas.microsoft.com/office/drawing/2018/hyperlinkcolor" val="tx"/>
                    </a:ext>
                  </a:extLst>
                </a:hlinkClick>
              </a:rPr>
              <a:t>j.hardin@benchmarkintl.com</a:t>
            </a:r>
            <a:endParaRPr lang="en-US" sz="750" dirty="0"/>
          </a:p>
        </p:txBody>
      </p:sp>
      <p:sp>
        <p:nvSpPr>
          <p:cNvPr id="48" name="Jordan Houtz card"/>
          <p:cNvSpPr/>
          <p:nvPr/>
        </p:nvSpPr>
        <p:spPr>
          <a:xfrm>
            <a:off x="7315200" y="5600700"/>
            <a:ext cx="2324100" cy="781050"/>
          </a:xfrm>
          <a:prstGeom prst="rect">
            <a:avLst/>
          </a:prstGeom>
          <a:solidFill>
            <a:srgbClr val="FAF7F3"/>
          </a:solidFill>
          <a:ln/>
        </p:spPr>
        <p:txBody>
          <a:bodyPr/>
          <a:lstStyle/>
          <a:p>
            <a:endParaRPr lang="en-US"/>
          </a:p>
        </p:txBody>
      </p:sp>
      <p:sp>
        <p:nvSpPr>
          <p:cNvPr id="49" name="Shape 45"/>
          <p:cNvSpPr/>
          <p:nvPr/>
        </p:nvSpPr>
        <p:spPr>
          <a:xfrm>
            <a:off x="7315200" y="5600700"/>
            <a:ext cx="2324100" cy="28575"/>
          </a:xfrm>
          <a:prstGeom prst="rect">
            <a:avLst/>
          </a:prstGeom>
          <a:solidFill>
            <a:srgbClr val="B68757"/>
          </a:solidFill>
          <a:ln/>
        </p:spPr>
        <p:txBody>
          <a:bodyPr/>
          <a:lstStyle/>
          <a:p>
            <a:endParaRPr lang="en-US"/>
          </a:p>
        </p:txBody>
      </p:sp>
      <p:pic>
        <p:nvPicPr>
          <p:cNvPr id="50" name="Image 2" descr="/tmp/claude-0/-home-claude-about/b7ea608c-3502-5da6-986c-4c57d144c940/scratchpad/brief/assets/jordan-houtz.jpg"/>
          <p:cNvPicPr>
            <a:picLocks noChangeAspect="1"/>
          </p:cNvPicPr>
          <p:nvPr/>
        </p:nvPicPr>
        <p:blipFill>
          <a:blip r:embed="rId12"/>
          <a:stretch>
            <a:fillRect/>
          </a:stretch>
        </p:blipFill>
        <p:spPr>
          <a:xfrm>
            <a:off x="7429500" y="5762625"/>
            <a:ext cx="476250" cy="476250"/>
          </a:xfrm>
          <a:prstGeom prst="ellipse">
            <a:avLst/>
          </a:prstGeom>
        </p:spPr>
      </p:pic>
      <p:sp>
        <p:nvSpPr>
          <p:cNvPr id="51" name="Text 46"/>
          <p:cNvSpPr txBox="1"/>
          <p:nvPr/>
        </p:nvSpPr>
        <p:spPr>
          <a:xfrm>
            <a:off x="8020050" y="5715000"/>
            <a:ext cx="1524000" cy="190500"/>
          </a:xfrm>
          <a:prstGeom prst="rect">
            <a:avLst/>
          </a:prstGeom>
          <a:noFill/>
          <a:ln/>
        </p:spPr>
        <p:txBody>
          <a:bodyPr wrap="square" lIns="0" tIns="0" rIns="0" bIns="0" rtlCol="0" anchor="t"/>
          <a:lstStyle/>
          <a:p>
            <a:pPr marL="0" indent="0">
              <a:buNone/>
            </a:pPr>
            <a:r>
              <a:rPr lang="en-US" sz="1125" b="1" dirty="0">
                <a:solidFill>
                  <a:srgbClr val="1B1A1A"/>
                </a:solidFill>
                <a:latin typeface="+mj-lt" pitchFamily="34" charset="0"/>
              </a:rPr>
              <a:t>Jordan Houtz</a:t>
            </a:r>
            <a:endParaRPr lang="en-US" sz="1125" dirty="0"/>
          </a:p>
        </p:txBody>
      </p:sp>
      <p:sp>
        <p:nvSpPr>
          <p:cNvPr id="52" name="Text 47"/>
          <p:cNvSpPr txBox="1"/>
          <p:nvPr/>
        </p:nvSpPr>
        <p:spPr>
          <a:xfrm>
            <a:off x="8020050" y="5905500"/>
            <a:ext cx="1524000" cy="123825"/>
          </a:xfrm>
          <a:prstGeom prst="rect">
            <a:avLst/>
          </a:prstGeom>
          <a:noFill/>
          <a:ln/>
        </p:spPr>
        <p:txBody>
          <a:bodyPr wrap="square" lIns="0" tIns="0" rIns="0" bIns="0" rtlCol="0" anchor="t"/>
          <a:lstStyle/>
          <a:p>
            <a:pPr marL="0" indent="0">
              <a:buNone/>
            </a:pPr>
            <a:r>
              <a:rPr lang="en-US" sz="600" b="1" kern="0" spc="120" dirty="0">
                <a:solidFill>
                  <a:srgbClr val="8C6239"/>
                </a:solidFill>
              </a:rPr>
              <a:t>MANAGING DIRECTOR</a:t>
            </a:r>
            <a:endParaRPr lang="en-US" sz="600" dirty="0"/>
          </a:p>
        </p:txBody>
      </p:sp>
      <p:sp>
        <p:nvSpPr>
          <p:cNvPr id="53" name="Text 48"/>
          <p:cNvSpPr txBox="1"/>
          <p:nvPr/>
        </p:nvSpPr>
        <p:spPr>
          <a:xfrm>
            <a:off x="8020050" y="6038850"/>
            <a:ext cx="1524000" cy="304800"/>
          </a:xfrm>
          <a:prstGeom prst="rect">
            <a:avLst/>
          </a:prstGeom>
          <a:noFill/>
          <a:ln/>
        </p:spPr>
        <p:txBody>
          <a:bodyPr wrap="square" lIns="0" tIns="0" rIns="0" bIns="0" rtlCol="0" anchor="t"/>
          <a:lstStyle/>
          <a:p>
            <a:pPr marL="0" indent="0">
              <a:lnSpc>
                <a:spcPts val="1050"/>
              </a:lnSpc>
              <a:buNone/>
            </a:pPr>
            <a:r>
              <a:rPr lang="en-US" sz="750" dirty="0">
                <a:solidFill>
                  <a:srgbClr val="6F6A66"/>
                </a:solidFill>
              </a:rPr>
              <a:t>Head of Middle Market</a:t>
            </a:r>
            <a:endParaRPr lang="en-US" sz="750" dirty="0"/>
          </a:p>
        </p:txBody>
      </p:sp>
      <p:sp>
        <p:nvSpPr>
          <p:cNvPr id="54" name="Text 49"/>
          <p:cNvSpPr/>
          <p:nvPr/>
        </p:nvSpPr>
        <p:spPr>
          <a:xfrm>
            <a:off x="7315200" y="6572250"/>
            <a:ext cx="2324100" cy="304800"/>
          </a:xfrm>
          <a:prstGeom prst="rect">
            <a:avLst/>
          </a:prstGeom>
          <a:solidFill>
            <a:srgbClr val="FFFFFF"/>
          </a:solidFill>
          <a:ln w="13970">
            <a:solidFill>
              <a:srgbClr val="1B1A1A"/>
            </a:solidFill>
          </a:ln>
        </p:spPr>
        <p:txBody>
          <a:bodyPr wrap="square" lIns="0" tIns="0" rIns="0" bIns="0" rtlCol="0" anchor="ctr"/>
          <a:lstStyle/>
          <a:p>
            <a:pPr marL="0" indent="0" algn="ctr">
              <a:buNone/>
            </a:pPr>
            <a:r>
              <a:rPr lang="en-US" sz="675" b="1" u="sng" kern="0" spc="150" dirty="0">
                <a:solidFill>
                  <a:srgbClr val="1B1A1A"/>
                </a:solidFill>
                <a:hlinkClick r:id="rId13">
                  <a:extLst>
                    <a:ext uri="{A12FA001-AC4F-418D-AE19-62706E023703}">
                      <ahyp:hlinkClr xmlns:ahyp="http://schemas.microsoft.com/office/drawing/2018/hyperlinkcolor" val="tx"/>
                    </a:ext>
                  </a:extLst>
                </a:hlinkClick>
              </a:rPr>
              <a:t>VIEW MORE TRANSACTIONS</a:t>
            </a:r>
            <a:endParaRPr lang="en-US" sz="675" dirty="0"/>
          </a:p>
        </p:txBody>
      </p:sp>
      <p:sp>
        <p:nvSpPr>
          <p:cNvPr id="55"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claude-0/-home-claude-about/b7ea608c-3502-5da6-986c-4c57d144c940/scratchpad/brief/assets/lathe.jpg"/>
          <p:cNvPicPr>
            <a:picLocks noChangeAspect="1"/>
          </p:cNvPicPr>
          <p:nvPr/>
        </p:nvPicPr>
        <p:blipFill>
          <a:blip r:embed="rId3"/>
          <a:srcRect/>
          <a:stretch/>
        </p:blipFill>
        <p:spPr>
          <a:xfrm>
            <a:off x="5676900" y="0"/>
            <a:ext cx="4381500" cy="7772400"/>
          </a:xfrm>
          <a:prstGeom prst="rect">
            <a:avLst/>
          </a:prstGeom>
        </p:spPr>
      </p:pic>
      <p:sp>
        <p:nvSpPr>
          <p:cNvPr id="3" name="Photo edge shade"/>
          <p:cNvSpPr/>
          <p:nvPr/>
        </p:nvSpPr>
        <p:spPr>
          <a:xfrm>
            <a:off x="5676900" y="0"/>
            <a:ext cx="1333500" cy="7772400"/>
          </a:xfrm>
          <a:prstGeom prst="rect">
            <a:avLst/>
          </a:prstGeom>
          <a:solidFill>
            <a:srgbClr val="1B1A1A">
              <a:alpha val="30000"/>
            </a:srgbClr>
          </a:solidFill>
          <a:ln/>
        </p:spPr>
        <p:txBody>
          <a:bodyPr/>
          <a:lstStyle/>
          <a:p>
            <a:endParaRPr lang="en-US"/>
          </a:p>
        </p:txBody>
      </p:sp>
      <p:sp>
        <p:nvSpPr>
          <p:cNvPr id="4" name="Shape 1"/>
          <p:cNvSpPr/>
          <p:nvPr/>
        </p:nvSpPr>
        <p:spPr>
          <a:xfrm>
            <a:off x="5619750" y="0"/>
            <a:ext cx="57150" cy="7772400"/>
          </a:xfrm>
          <a:prstGeom prst="rect">
            <a:avLst/>
          </a:prstGeom>
          <a:solidFill>
            <a:srgbClr val="B68757"/>
          </a:solidFill>
          <a:ln/>
        </p:spPr>
        <p:txBody>
          <a:bodyPr/>
          <a:lstStyle/>
          <a:p>
            <a:endParaRPr lang="en-US"/>
          </a:p>
        </p:txBody>
      </p:sp>
      <p:sp>
        <p:nvSpPr>
          <p:cNvPr id="5" name="Text 2"/>
          <p:cNvSpPr txBox="1"/>
          <p:nvPr/>
        </p:nvSpPr>
        <p:spPr>
          <a:xfrm>
            <a:off x="571500" y="1333500"/>
            <a:ext cx="3810000" cy="1238250"/>
          </a:xfrm>
          <a:prstGeom prst="rect">
            <a:avLst/>
          </a:prstGeom>
          <a:noFill/>
          <a:ln/>
        </p:spPr>
        <p:txBody>
          <a:bodyPr wrap="square" lIns="0" tIns="0" rIns="0" bIns="0" rtlCol="0" anchor="t"/>
          <a:lstStyle/>
          <a:p>
            <a:pPr marL="0" indent="0">
              <a:buNone/>
            </a:pPr>
            <a:r>
              <a:rPr lang="en-US" sz="9000" kern="0" spc="200" dirty="0">
                <a:solidFill>
                  <a:srgbClr val="B68757"/>
                </a:solidFill>
                <a:latin typeface="+mj-lt" pitchFamily="34" charset="0"/>
              </a:rPr>
              <a:t>02</a:t>
            </a:r>
            <a:endParaRPr lang="en-US" sz="9000" dirty="0"/>
          </a:p>
        </p:txBody>
      </p:sp>
      <p:sp>
        <p:nvSpPr>
          <p:cNvPr id="6" name="Text 2"/>
          <p:cNvSpPr>
            <a:spLocks noGrp="1"/>
          </p:cNvSpPr>
          <p:nvPr>
            <p:ph type="title" idx="104" hasCustomPrompt="1"/>
          </p:nvPr>
        </p:nvSpPr>
        <p:spPr>
          <a:xfrm>
            <a:off x="609600" y="2667000"/>
            <a:ext cx="4762500" cy="666750"/>
          </a:xfrm>
          <a:prstGeom prst="rect">
            <a:avLst/>
          </a:prstGeom>
          <a:noFill/>
          <a:ln/>
        </p:spPr>
        <p:txBody>
          <a:bodyPr wrap="square" lIns="0" tIns="0" rIns="0" bIns="0" rtlCol="0" anchor="t"/>
          <a:lstStyle/>
          <a:p>
            <a:pPr marL="0" indent="0" algn="l">
              <a:buNone/>
            </a:pPr>
            <a:r>
              <a:rPr lang="en-US" sz="4050" b="1" dirty="0">
                <a:solidFill>
                  <a:srgbClr val="FFFFFF"/>
                </a:solidFill>
              </a:rPr>
              <a:t>Sector Activity</a:t>
            </a:r>
            <a:endParaRPr lang="en-US" sz="4050" dirty="0"/>
          </a:p>
        </p:txBody>
      </p:sp>
      <p:sp>
        <p:nvSpPr>
          <p:cNvPr id="7" name="Shape 4"/>
          <p:cNvSpPr/>
          <p:nvPr/>
        </p:nvSpPr>
        <p:spPr>
          <a:xfrm>
            <a:off x="609600" y="3486150"/>
            <a:ext cx="609600" cy="19050"/>
          </a:xfrm>
          <a:prstGeom prst="rect">
            <a:avLst/>
          </a:prstGeom>
          <a:solidFill>
            <a:srgbClr val="B68757"/>
          </a:solidFill>
          <a:ln/>
        </p:spPr>
        <p:txBody>
          <a:bodyPr/>
          <a:lstStyle/>
          <a:p>
            <a:endParaRPr lang="en-US"/>
          </a:p>
        </p:txBody>
      </p:sp>
      <p:sp>
        <p:nvSpPr>
          <p:cNvPr id="8" name="Text 5"/>
          <p:cNvSpPr txBox="1"/>
          <p:nvPr/>
        </p:nvSpPr>
        <p:spPr>
          <a:xfrm>
            <a:off x="609600" y="3695700"/>
            <a:ext cx="4572000" cy="1428750"/>
          </a:xfrm>
          <a:prstGeom prst="rect">
            <a:avLst/>
          </a:prstGeom>
          <a:noFill/>
          <a:ln/>
        </p:spPr>
        <p:txBody>
          <a:bodyPr wrap="square" lIns="0" tIns="0" rIns="0" bIns="0" rtlCol="0" anchor="t"/>
          <a:lstStyle/>
          <a:p>
            <a:pPr marL="0" indent="0">
              <a:lnSpc>
                <a:spcPts val="1575"/>
              </a:lnSpc>
              <a:buNone/>
            </a:pPr>
            <a:r>
              <a:rPr lang="en-US" sz="1013" dirty="0">
                <a:solidFill>
                  <a:srgbClr val="E8E2DA"/>
                </a:solidFill>
              </a:rPr>
              <a:t>Acquirers announced transactions in every industrial segment during 2026, with sellers that ranged from founder-owned machine shops and customs brokers to companies bought by public acquirers for several billion dollars. Listed industrial companies trade at a median of 16.2 times EBITDA, and the indicators behind demand and financing are pointing in different directions.</a:t>
            </a:r>
            <a:endParaRPr lang="en-US" sz="1013" dirty="0"/>
          </a:p>
        </p:txBody>
      </p:sp>
      <p:sp>
        <p:nvSpPr>
          <p:cNvPr id="9" name="Shape 6"/>
          <p:cNvSpPr/>
          <p:nvPr/>
        </p:nvSpPr>
        <p:spPr>
          <a:xfrm>
            <a:off x="609600" y="5295900"/>
            <a:ext cx="4476750" cy="0"/>
          </a:xfrm>
          <a:prstGeom prst="line">
            <a:avLst/>
          </a:prstGeom>
          <a:noFill/>
          <a:ln w="9525">
            <a:solidFill>
              <a:srgbClr val="5B4E40"/>
            </a:solidFill>
            <a:prstDash val="solid"/>
          </a:ln>
        </p:spPr>
        <p:txBody>
          <a:bodyPr/>
          <a:lstStyle/>
          <a:p>
            <a:endParaRPr lang="en-US"/>
          </a:p>
        </p:txBody>
      </p:sp>
      <p:sp>
        <p:nvSpPr>
          <p:cNvPr id="10" name="Text 7"/>
          <p:cNvSpPr txBox="1"/>
          <p:nvPr/>
        </p:nvSpPr>
        <p:spPr>
          <a:xfrm>
            <a:off x="609600" y="5391150"/>
            <a:ext cx="285750" cy="171450"/>
          </a:xfrm>
          <a:prstGeom prst="rect">
            <a:avLst/>
          </a:prstGeom>
          <a:noFill/>
          <a:ln/>
        </p:spPr>
        <p:txBody>
          <a:bodyPr wrap="square" lIns="0" tIns="0" rIns="0" bIns="0" rtlCol="0" anchor="t"/>
          <a:lstStyle/>
          <a:p>
            <a:pPr marL="0" indent="0">
              <a:buNone/>
            </a:pPr>
            <a:r>
              <a:rPr lang="en-US" sz="825" dirty="0">
                <a:solidFill>
                  <a:srgbClr val="D3AE84"/>
                </a:solidFill>
                <a:latin typeface="+mj-lt" pitchFamily="34" charset="0"/>
              </a:rPr>
              <a:t>07</a:t>
            </a:r>
            <a:endParaRPr lang="en-US" sz="825" dirty="0"/>
          </a:p>
        </p:txBody>
      </p:sp>
      <p:sp>
        <p:nvSpPr>
          <p:cNvPr id="11" name="Text 8"/>
          <p:cNvSpPr txBox="1"/>
          <p:nvPr/>
        </p:nvSpPr>
        <p:spPr>
          <a:xfrm>
            <a:off x="971550" y="5372100"/>
            <a:ext cx="4095750" cy="209550"/>
          </a:xfrm>
          <a:prstGeom prst="rect">
            <a:avLst/>
          </a:prstGeom>
          <a:noFill/>
          <a:ln/>
        </p:spPr>
        <p:txBody>
          <a:bodyPr wrap="square" lIns="0" tIns="0" rIns="0" bIns="0" rtlCol="0" anchor="t"/>
          <a:lstStyle/>
          <a:p>
            <a:pPr marL="0" indent="0">
              <a:buNone/>
            </a:pPr>
            <a:r>
              <a:rPr lang="en-US" sz="975" dirty="0">
                <a:solidFill>
                  <a:srgbClr val="F4EFE8"/>
                </a:solidFill>
              </a:rPr>
              <a:t>Select recent industrial transactions</a:t>
            </a:r>
            <a:endParaRPr lang="en-US" sz="975" dirty="0"/>
          </a:p>
        </p:txBody>
      </p:sp>
      <p:sp>
        <p:nvSpPr>
          <p:cNvPr id="12" name="Shape 9"/>
          <p:cNvSpPr/>
          <p:nvPr/>
        </p:nvSpPr>
        <p:spPr>
          <a:xfrm>
            <a:off x="609600" y="5648325"/>
            <a:ext cx="4476750" cy="0"/>
          </a:xfrm>
          <a:prstGeom prst="line">
            <a:avLst/>
          </a:prstGeom>
          <a:noFill/>
          <a:ln w="9525">
            <a:solidFill>
              <a:srgbClr val="5B4E40"/>
            </a:solidFill>
            <a:prstDash val="solid"/>
          </a:ln>
        </p:spPr>
        <p:txBody>
          <a:bodyPr/>
          <a:lstStyle/>
          <a:p>
            <a:endParaRPr lang="en-US"/>
          </a:p>
        </p:txBody>
      </p:sp>
      <p:sp>
        <p:nvSpPr>
          <p:cNvPr id="13" name="Text 10"/>
          <p:cNvSpPr txBox="1"/>
          <p:nvPr/>
        </p:nvSpPr>
        <p:spPr>
          <a:xfrm>
            <a:off x="609600" y="5743575"/>
            <a:ext cx="285750" cy="171450"/>
          </a:xfrm>
          <a:prstGeom prst="rect">
            <a:avLst/>
          </a:prstGeom>
          <a:noFill/>
          <a:ln/>
        </p:spPr>
        <p:txBody>
          <a:bodyPr wrap="square" lIns="0" tIns="0" rIns="0" bIns="0" rtlCol="0" anchor="t"/>
          <a:lstStyle/>
          <a:p>
            <a:pPr marL="0" indent="0">
              <a:buNone/>
            </a:pPr>
            <a:r>
              <a:rPr lang="en-US" sz="825" dirty="0">
                <a:solidFill>
                  <a:srgbClr val="D3AE84"/>
                </a:solidFill>
                <a:latin typeface="+mj-lt" pitchFamily="34" charset="0"/>
              </a:rPr>
              <a:t>09</a:t>
            </a:r>
            <a:endParaRPr lang="en-US" sz="825" dirty="0"/>
          </a:p>
        </p:txBody>
      </p:sp>
      <p:sp>
        <p:nvSpPr>
          <p:cNvPr id="14" name="Text 11"/>
          <p:cNvSpPr txBox="1"/>
          <p:nvPr/>
        </p:nvSpPr>
        <p:spPr>
          <a:xfrm>
            <a:off x="971550" y="5724525"/>
            <a:ext cx="4095750" cy="209550"/>
          </a:xfrm>
          <a:prstGeom prst="rect">
            <a:avLst/>
          </a:prstGeom>
          <a:noFill/>
          <a:ln/>
        </p:spPr>
        <p:txBody>
          <a:bodyPr wrap="square" lIns="0" tIns="0" rIns="0" bIns="0" rtlCol="0" anchor="t"/>
          <a:lstStyle/>
          <a:p>
            <a:pPr marL="0" indent="0">
              <a:buNone/>
            </a:pPr>
            <a:r>
              <a:rPr lang="en-US" sz="975" dirty="0">
                <a:solidFill>
                  <a:srgbClr val="F4EFE8"/>
                </a:solidFill>
              </a:rPr>
              <a:t>Benchmark International’s industrial transactions</a:t>
            </a:r>
            <a:endParaRPr lang="en-US" sz="975" dirty="0"/>
          </a:p>
        </p:txBody>
      </p:sp>
      <p:sp>
        <p:nvSpPr>
          <p:cNvPr id="15" name="Shape 12"/>
          <p:cNvSpPr/>
          <p:nvPr/>
        </p:nvSpPr>
        <p:spPr>
          <a:xfrm>
            <a:off x="609600" y="6000750"/>
            <a:ext cx="4476750" cy="0"/>
          </a:xfrm>
          <a:prstGeom prst="line">
            <a:avLst/>
          </a:prstGeom>
          <a:noFill/>
          <a:ln w="9525">
            <a:solidFill>
              <a:srgbClr val="5B4E40"/>
            </a:solidFill>
            <a:prstDash val="solid"/>
          </a:ln>
        </p:spPr>
        <p:txBody>
          <a:bodyPr/>
          <a:lstStyle/>
          <a:p>
            <a:endParaRPr lang="en-US"/>
          </a:p>
        </p:txBody>
      </p:sp>
      <p:sp>
        <p:nvSpPr>
          <p:cNvPr id="16" name="Text 13"/>
          <p:cNvSpPr txBox="1"/>
          <p:nvPr/>
        </p:nvSpPr>
        <p:spPr>
          <a:xfrm>
            <a:off x="609600" y="6096000"/>
            <a:ext cx="285750" cy="171450"/>
          </a:xfrm>
          <a:prstGeom prst="rect">
            <a:avLst/>
          </a:prstGeom>
          <a:noFill/>
          <a:ln/>
        </p:spPr>
        <p:txBody>
          <a:bodyPr wrap="square" lIns="0" tIns="0" rIns="0" bIns="0" rtlCol="0" anchor="t"/>
          <a:lstStyle/>
          <a:p>
            <a:pPr marL="0" indent="0">
              <a:buNone/>
            </a:pPr>
            <a:r>
              <a:rPr lang="en-US" sz="825" dirty="0">
                <a:solidFill>
                  <a:srgbClr val="D3AE84"/>
                </a:solidFill>
                <a:latin typeface="+mj-lt" pitchFamily="34" charset="0"/>
              </a:rPr>
              <a:t>10</a:t>
            </a:r>
            <a:endParaRPr lang="en-US" sz="825" dirty="0"/>
          </a:p>
        </p:txBody>
      </p:sp>
      <p:sp>
        <p:nvSpPr>
          <p:cNvPr id="17" name="Text 14"/>
          <p:cNvSpPr txBox="1"/>
          <p:nvPr/>
        </p:nvSpPr>
        <p:spPr>
          <a:xfrm>
            <a:off x="971550" y="6076950"/>
            <a:ext cx="4095750" cy="209550"/>
          </a:xfrm>
          <a:prstGeom prst="rect">
            <a:avLst/>
          </a:prstGeom>
          <a:noFill/>
          <a:ln/>
        </p:spPr>
        <p:txBody>
          <a:bodyPr wrap="square" lIns="0" tIns="0" rIns="0" bIns="0" rtlCol="0" anchor="t"/>
          <a:lstStyle/>
          <a:p>
            <a:pPr marL="0" indent="0">
              <a:buNone/>
            </a:pPr>
            <a:r>
              <a:rPr lang="en-US" sz="975" dirty="0">
                <a:solidFill>
                  <a:srgbClr val="F4EFE8"/>
                </a:solidFill>
              </a:rPr>
              <a:t>Public company performance and trends</a:t>
            </a:r>
            <a:endParaRPr lang="en-US" sz="975" dirty="0"/>
          </a:p>
        </p:txBody>
      </p:sp>
      <p:sp>
        <p:nvSpPr>
          <p:cNvPr id="18" name="Shape 15"/>
          <p:cNvSpPr/>
          <p:nvPr/>
        </p:nvSpPr>
        <p:spPr>
          <a:xfrm>
            <a:off x="609600" y="6353175"/>
            <a:ext cx="4476750" cy="0"/>
          </a:xfrm>
          <a:prstGeom prst="line">
            <a:avLst/>
          </a:prstGeom>
          <a:noFill/>
          <a:ln w="9525">
            <a:solidFill>
              <a:srgbClr val="5B4E40"/>
            </a:solidFill>
            <a:prstDash val="solid"/>
          </a:ln>
        </p:spPr>
        <p:txBody>
          <a:bodyPr/>
          <a:lstStyle/>
          <a:p>
            <a:endParaRPr lang="en-US"/>
          </a:p>
        </p:txBody>
      </p:sp>
      <p:sp>
        <p:nvSpPr>
          <p:cNvPr id="19" name="Text 16"/>
          <p:cNvSpPr txBox="1"/>
          <p:nvPr/>
        </p:nvSpPr>
        <p:spPr>
          <a:xfrm>
            <a:off x="609600" y="6448425"/>
            <a:ext cx="285750" cy="171450"/>
          </a:xfrm>
          <a:prstGeom prst="rect">
            <a:avLst/>
          </a:prstGeom>
          <a:noFill/>
          <a:ln/>
        </p:spPr>
        <p:txBody>
          <a:bodyPr wrap="square" lIns="0" tIns="0" rIns="0" bIns="0" rtlCol="0" anchor="t"/>
          <a:lstStyle/>
          <a:p>
            <a:pPr marL="0" indent="0">
              <a:buNone/>
            </a:pPr>
            <a:r>
              <a:rPr lang="en-US" sz="825" dirty="0">
                <a:solidFill>
                  <a:srgbClr val="D3AE84"/>
                </a:solidFill>
                <a:latin typeface="+mj-lt" pitchFamily="34" charset="0"/>
              </a:rPr>
              <a:t>13</a:t>
            </a:r>
            <a:endParaRPr lang="en-US" sz="825" dirty="0"/>
          </a:p>
        </p:txBody>
      </p:sp>
      <p:sp>
        <p:nvSpPr>
          <p:cNvPr id="20" name="Text 17"/>
          <p:cNvSpPr txBox="1"/>
          <p:nvPr/>
        </p:nvSpPr>
        <p:spPr>
          <a:xfrm>
            <a:off x="971550" y="6429375"/>
            <a:ext cx="4095750" cy="209550"/>
          </a:xfrm>
          <a:prstGeom prst="rect">
            <a:avLst/>
          </a:prstGeom>
          <a:noFill/>
          <a:ln/>
        </p:spPr>
        <p:txBody>
          <a:bodyPr wrap="square" lIns="0" tIns="0" rIns="0" bIns="0" rtlCol="0" anchor="t"/>
          <a:lstStyle/>
          <a:p>
            <a:pPr marL="0" indent="0">
              <a:buNone/>
            </a:pPr>
            <a:r>
              <a:rPr lang="en-US" sz="975" dirty="0">
                <a:solidFill>
                  <a:srgbClr val="F4EFE8"/>
                </a:solidFill>
              </a:rPr>
              <a:t>Economic trends</a:t>
            </a:r>
            <a:endParaRPr lang="en-US" sz="975" dirty="0"/>
          </a:p>
        </p:txBody>
      </p:sp>
      <p:sp>
        <p:nvSpPr>
          <p:cNvPr id="21" name="Shape 18"/>
          <p:cNvSpPr/>
          <p:nvPr/>
        </p:nvSpPr>
        <p:spPr>
          <a:xfrm>
            <a:off x="609600" y="6705600"/>
            <a:ext cx="4476750" cy="0"/>
          </a:xfrm>
          <a:prstGeom prst="line">
            <a:avLst/>
          </a:prstGeom>
          <a:noFill/>
          <a:ln w="9525">
            <a:solidFill>
              <a:srgbClr val="5B4E40"/>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Select Recent Industrial Transactions</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Public acquirers disclosed prices of about 6 to 10 times EBITDA, and sponsor-owned platforms bought family-owned companies on undisclosed terms.</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Transaction values and multiples are as reported by the linked source or calculated from the figures it gives. Company names are the property of their owners and are shown for identification. Transactions advised by Benchmark International appear on page 9.</a:t>
            </a:r>
            <a:endParaRPr lang="en-US" sz="675"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9100" y="1238250"/>
          <a:ext cx="9220200" cy="5676900"/>
        </p:xfrm>
        <a:graphic>
          <a:graphicData uri="http://schemas.openxmlformats.org/drawingml/2006/table">
            <a:tbl>
              <a:tblPr/>
              <a:tblGrid>
                <a:gridCol w="1181100">
                  <a:extLst>
                    <a:ext uri="{9D8B030D-6E8A-4147-A177-3AD203B41FA5}">
                      <a16:colId xmlns:a16="http://schemas.microsoft.com/office/drawing/2014/main" val="20000"/>
                    </a:ext>
                  </a:extLst>
                </a:gridCol>
                <a:gridCol w="2152650">
                  <a:extLst>
                    <a:ext uri="{9D8B030D-6E8A-4147-A177-3AD203B41FA5}">
                      <a16:colId xmlns:a16="http://schemas.microsoft.com/office/drawing/2014/main" val="20001"/>
                    </a:ext>
                  </a:extLst>
                </a:gridCol>
                <a:gridCol w="369570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247650">
                <a:tc>
                  <a:txBody>
                    <a:bodyPr/>
                    <a:lstStyle/>
                    <a:p>
                      <a:pPr marL="0" indent="0">
                        <a:buNone/>
                      </a:pPr>
                      <a:r>
                        <a:rPr lang="en-US" sz="638" b="1" kern="0" spc="150" dirty="0">
                          <a:solidFill>
                            <a:srgbClr val="1B1A1A"/>
                          </a:solidFill>
                        </a:rPr>
                        <a:t>ANNOUNCED</a:t>
                      </a:r>
                      <a:endParaRPr lang="en-US" sz="638" dirty="0"/>
                    </a:p>
                  </a:txBody>
                  <a:tcPr marL="0" marR="76200" marT="25400" marB="63500"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buNone/>
                      </a:pPr>
                      <a:r>
                        <a:rPr lang="en-US" sz="638" b="1" kern="0" spc="150" dirty="0">
                          <a:solidFill>
                            <a:srgbClr val="1B1A1A"/>
                          </a:solidFill>
                        </a:rPr>
                        <a:t>TARGET AND ACQUIRER</a:t>
                      </a:r>
                      <a:endParaRPr lang="en-US" sz="638" dirty="0"/>
                    </a:p>
                  </a:txBody>
                  <a:tcPr marL="0" marR="76200" marT="25400" marB="63500"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buNone/>
                      </a:pPr>
                      <a:r>
                        <a:rPr lang="en-US" sz="638" b="1" kern="0" spc="150" dirty="0">
                          <a:solidFill>
                            <a:srgbClr val="1B1A1A"/>
                          </a:solidFill>
                        </a:rPr>
                        <a:t>BUSINESS AND TERMS</a:t>
                      </a:r>
                      <a:endParaRPr lang="en-US" sz="638" dirty="0"/>
                    </a:p>
                  </a:txBody>
                  <a:tcPr marL="0" marR="76200" marT="25400" marB="63500"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buNone/>
                      </a:pPr>
                      <a:r>
                        <a:rPr lang="en-US" sz="638" b="1" kern="0" spc="150" dirty="0">
                          <a:solidFill>
                            <a:srgbClr val="1B1A1A"/>
                          </a:solidFill>
                        </a:rPr>
                        <a:t>WHAT IT SHOWS</a:t>
                      </a:r>
                      <a:endParaRPr lang="en-US" sz="638" dirty="0"/>
                    </a:p>
                  </a:txBody>
                  <a:tcPr marL="0" marR="76200" marT="25400" marB="63500"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extLst>
                  <a:ext uri="{0D108BD9-81ED-4DB2-BD59-A6C34878D82A}">
                    <a16:rowId xmlns:a16="http://schemas.microsoft.com/office/drawing/2014/main" val="10000"/>
                  </a:ext>
                </a:extLst>
              </a:tr>
              <a:tr h="1085850">
                <a:tc>
                  <a:txBody>
                    <a:bodyPr/>
                    <a:lstStyle/>
                    <a:p>
                      <a:pPr marL="0" indent="0">
                        <a:buNone/>
                      </a:pPr>
                      <a:r>
                        <a:rPr lang="en-US" sz="638" b="1" kern="0" spc="120" dirty="0">
                          <a:solidFill>
                            <a:srgbClr val="8C6239"/>
                          </a:solidFill>
                        </a:rPr>
                        <a:t>SEPTEMBER 2026</a:t>
                      </a:r>
                      <a:endParaRPr lang="en-US" sz="1200" dirty="0"/>
                    </a:p>
                    <a:p>
                      <a:pPr marL="0" indent="0">
                        <a:buNone/>
                      </a:pPr>
                      <a:r>
                        <a:rPr lang="en-US" sz="638" dirty="0">
                          <a:solidFill>
                            <a:srgbClr val="6F6A66"/>
                          </a:solidFill>
                        </a:rPr>
                        <a:t>Manufacturing &amp; Industrial Tech</a:t>
                      </a:r>
                      <a:endParaRPr lang="en-US" sz="1200" dirty="0"/>
                    </a:p>
                  </a:txBody>
                  <a:tcPr marL="0" marR="127000" marT="76200" marB="76200" anchor="ctr">
                    <a:lnL w="0" cap="flat" cmpd="sng" algn="ctr">
                      <a:noFill/>
                    </a:lnL>
                    <a:lnR w="0" cap="flat" cmpd="sng" algn="ctr">
                      <a:noFill/>
                    </a:lnR>
                    <a:lnT w="19050" cap="flat" cmpd="sng" algn="ctr">
                      <a:solidFill>
                        <a:srgbClr val="B68757"/>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lgn="l">
                        <a:buNone/>
                      </a:pPr>
                      <a:r>
                        <a:rPr lang="en-US" sz="788" b="1" dirty="0">
                          <a:solidFill>
                            <a:srgbClr val="1B1A1A"/>
                          </a:solidFill>
                        </a:rPr>
                        <a:t>CAT PUMPS</a:t>
                      </a:r>
                      <a:endParaRPr lang="en-US" sz="1200" dirty="0"/>
                    </a:p>
                    <a:p>
                      <a:pPr marL="0" indent="0" algn="l">
                        <a:buNone/>
                      </a:pPr>
                      <a:r>
                        <a:rPr lang="en-US" sz="638" i="1" dirty="0">
                          <a:solidFill>
                            <a:srgbClr val="6F6A66"/>
                          </a:solidFill>
                        </a:rPr>
                        <a:t>acquired by</a:t>
                      </a:r>
                      <a:endParaRPr lang="en-US" sz="1200" dirty="0"/>
                    </a:p>
                    <a:p>
                      <a:pPr marL="0" indent="0" algn="l">
                        <a:buNone/>
                      </a:pPr>
                      <a:r>
                        <a:rPr lang="en-US" sz="788" b="1" dirty="0">
                          <a:solidFill>
                            <a:srgbClr val="1B1A1A"/>
                          </a:solidFill>
                        </a:rPr>
                        <a:t>FRANKLIN ELECTRIC</a:t>
                      </a:r>
                      <a:endParaRPr lang="en-US" sz="1200" dirty="0"/>
                    </a:p>
                  </a:txBody>
                  <a:tcPr marL="0" marR="127000" marT="76200" marB="76200" anchor="ctr">
                    <a:lnL w="0" cap="flat" cmpd="sng" algn="ctr">
                      <a:noFill/>
                    </a:lnL>
                    <a:lnR w="0" cap="flat" cmpd="sng" algn="ctr">
                      <a:noFill/>
                    </a:lnR>
                    <a:lnT w="19050" cap="flat" cmpd="sng" algn="ctr">
                      <a:solidFill>
                        <a:srgbClr val="B68757"/>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810" dirty="0">
                          <a:solidFill>
                            <a:srgbClr val="333231"/>
                          </a:solidFill>
                        </a:rPr>
                        <a:t>Franklin Electric acquired Cat Pumps, a Minneapolis maker of high-pressure pumps, for $350 million in cash plus up to $50 million in stock (</a:t>
                      </a:r>
                      <a:r>
                        <a:rPr lang="en-US" sz="810" u="sng" dirty="0">
                          <a:solidFill>
                            <a:srgbClr val="8C6239"/>
                          </a:solidFill>
                          <a:hlinkClick r:id="rId3" tooltip="https://www.franklin-electric.com/company/news/2026/franklin-electric-acquires-cat-pumps-expanding-commercial-and-industrial-flow-control-platform/">
                            <a:extLst>
                              <a:ext uri="{A12FA001-AC4F-418D-AE19-62706E023703}">
                                <ahyp:hlinkClr xmlns:ahyp="http://schemas.microsoft.com/office/drawing/2018/hyperlinkcolor" val="tx"/>
                              </a:ext>
                            </a:extLst>
                          </a:hlinkClick>
                        </a:rPr>
                        <a:t>Franklin Electric</a:t>
                      </a:r>
                      <a:r>
                        <a:rPr lang="en-US" sz="810" dirty="0">
                          <a:solidFill>
                            <a:srgbClr val="333231"/>
                          </a:solidFill>
                        </a:rPr>
                        <a:t>).</a:t>
                      </a:r>
                      <a:endParaRPr lang="en-US" sz="1200" dirty="0"/>
                    </a:p>
                  </a:txBody>
                  <a:tcPr marL="0" marR="127000" marT="76200" marB="76200" anchor="ctr">
                    <a:lnL w="0" cap="flat" cmpd="sng" algn="ctr">
                      <a:noFill/>
                    </a:lnL>
                    <a:lnR w="0" cap="flat" cmpd="sng" algn="ctr">
                      <a:noFill/>
                    </a:lnR>
                    <a:lnT w="19050" cap="flat" cmpd="sng" algn="ctr">
                      <a:solidFill>
                        <a:srgbClr val="B68757"/>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780" dirty="0">
                          <a:solidFill>
                            <a:srgbClr val="333231"/>
                          </a:solidFill>
                        </a:rPr>
                        <a:t>The upfront payment equals about 7.8 times 2025 adjusted EBITDA, by our calculation, for a business with a margin above 35%.</a:t>
                      </a:r>
                      <a:endParaRPr lang="en-US" sz="1200" dirty="0"/>
                    </a:p>
                  </a:txBody>
                  <a:tcPr marL="101600" marR="101600" marT="76200" marB="76200" anchor="ctr">
                    <a:lnL w="0" cap="flat" cmpd="sng" algn="ctr">
                      <a:noFill/>
                    </a:lnL>
                    <a:lnR w="0" cap="flat" cmpd="sng" algn="ctr">
                      <a:noFill/>
                    </a:lnR>
                    <a:lnT w="19050" cap="flat" cmpd="sng" algn="ctr">
                      <a:solidFill>
                        <a:srgbClr val="B68757"/>
                      </a:solidFill>
                      <a:prstDash val="solid"/>
                      <a:round/>
                      <a:headEnd type="none" w="med" len="med"/>
                      <a:tailEnd type="none" w="med" len="med"/>
                    </a:lnT>
                    <a:lnB w="9525" cap="flat" cmpd="sng" algn="ctr">
                      <a:solidFill>
                        <a:srgbClr val="E3DCD3"/>
                      </a:solidFill>
                      <a:prstDash val="solid"/>
                      <a:round/>
                      <a:headEnd type="none" w="med" len="med"/>
                      <a:tailEnd type="none" w="med" len="med"/>
                    </a:lnB>
                    <a:solidFill>
                      <a:srgbClr val="FAF7F3"/>
                    </a:solidFill>
                  </a:tcPr>
                </a:tc>
                <a:extLst>
                  <a:ext uri="{0D108BD9-81ED-4DB2-BD59-A6C34878D82A}">
                    <a16:rowId xmlns:a16="http://schemas.microsoft.com/office/drawing/2014/main" val="10001"/>
                  </a:ext>
                </a:extLst>
              </a:tr>
              <a:tr h="1085850">
                <a:tc>
                  <a:txBody>
                    <a:bodyPr/>
                    <a:lstStyle/>
                    <a:p>
                      <a:pPr marL="0" indent="0">
                        <a:buNone/>
                      </a:pPr>
                      <a:r>
                        <a:rPr lang="en-US" sz="638" b="1" kern="0" spc="120" dirty="0">
                          <a:solidFill>
                            <a:srgbClr val="8C6239"/>
                          </a:solidFill>
                        </a:rPr>
                        <a:t>JULY 2026</a:t>
                      </a:r>
                      <a:endParaRPr lang="en-US" sz="1200" dirty="0"/>
                    </a:p>
                    <a:p>
                      <a:pPr marL="0" indent="0">
                        <a:buNone/>
                      </a:pPr>
                      <a:r>
                        <a:rPr lang="en-US" sz="638" dirty="0">
                          <a:solidFill>
                            <a:srgbClr val="6F6A66"/>
                          </a:solidFill>
                        </a:rPr>
                        <a:t>Manufacturing &amp; Industrial Tech</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lgn="l">
                        <a:buNone/>
                      </a:pPr>
                      <a:r>
                        <a:rPr lang="en-US" sz="788" b="1" dirty="0">
                          <a:solidFill>
                            <a:srgbClr val="1B1A1A"/>
                          </a:solidFill>
                        </a:rPr>
                        <a:t>ADVANCE MFG. CO.</a:t>
                      </a:r>
                      <a:endParaRPr lang="en-US" sz="1200" dirty="0"/>
                    </a:p>
                    <a:p>
                      <a:pPr marL="0" indent="0" algn="l">
                        <a:buNone/>
                      </a:pPr>
                      <a:r>
                        <a:rPr lang="en-US" sz="638" i="1" dirty="0">
                          <a:solidFill>
                            <a:srgbClr val="6F6A66"/>
                          </a:solidFill>
                        </a:rPr>
                        <a:t>acquired by</a:t>
                      </a:r>
                      <a:endParaRPr lang="en-US" sz="1200" dirty="0"/>
                    </a:p>
                    <a:p>
                      <a:pPr marL="0" indent="0" algn="l">
                        <a:buNone/>
                      </a:pPr>
                      <a:r>
                        <a:rPr lang="en-US" sz="788" b="1" dirty="0">
                          <a:solidFill>
                            <a:srgbClr val="1B1A1A"/>
                          </a:solidFill>
                        </a:rPr>
                        <a:t>PRECINMAC</a:t>
                      </a:r>
                      <a:endParaRPr lang="en-US" sz="1200" dirty="0"/>
                    </a:p>
                    <a:p>
                      <a:pPr marL="0" indent="0" algn="l">
                        <a:buNone/>
                      </a:pPr>
                      <a:r>
                        <a:rPr lang="en-US" sz="638" dirty="0">
                          <a:solidFill>
                            <a:srgbClr val="6F6A66"/>
                          </a:solidFill>
                        </a:rPr>
                        <a:t>Centerbridge Partners</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810" dirty="0">
                          <a:solidFill>
                            <a:srgbClr val="333231"/>
                          </a:solidFill>
                        </a:rPr>
                        <a:t>Precinmac acquired Advance Mfg. Co. of Westfield, Massachusetts, family-owned since 1961, which supplies machined components, fabrications and Nadcap coating for defense and aerospace customers (</a:t>
                      </a:r>
                      <a:r>
                        <a:rPr lang="en-US" sz="810" u="sng" dirty="0">
                          <a:solidFill>
                            <a:srgbClr val="8C6239"/>
                          </a:solidFill>
                          <a:hlinkClick r:id="rId4" tooltip="https://www.prnewswire.com/news-releases/precinmac-lp-announces-the-acquisition-of-massachusetts-based-advance-mfg-co-inc-302818691.html">
                            <a:extLst>
                              <a:ext uri="{A12FA001-AC4F-418D-AE19-62706E023703}">
                                <ahyp:hlinkClr xmlns:ahyp="http://schemas.microsoft.com/office/drawing/2018/hyperlinkcolor" val="tx"/>
                              </a:ext>
                            </a:extLst>
                          </a:hlinkClick>
                        </a:rPr>
                        <a:t>Precinmac</a:t>
                      </a:r>
                      <a:r>
                        <a:rPr lang="en-US" sz="810" dirty="0">
                          <a:solidFill>
                            <a:srgbClr val="333231"/>
                          </a:solidFill>
                        </a:rPr>
                        <a:t>). Terms were not disclosed.</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780" dirty="0">
                          <a:solidFill>
                            <a:srgbClr val="333231"/>
                          </a:solidFill>
                        </a:rPr>
                        <a:t>Sponsor-owned platforms are assembling certified aerospace and defense machining capacity, and Precinmac had acquired Precision Aerospace Holdings of Dallas in April.</a:t>
                      </a:r>
                      <a:endParaRPr lang="en-US" sz="1200" dirty="0"/>
                    </a:p>
                  </a:txBody>
                  <a:tcPr marL="101600" marR="1016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solidFill>
                      <a:srgbClr val="FAF7F3"/>
                    </a:solidFill>
                  </a:tcPr>
                </a:tc>
                <a:extLst>
                  <a:ext uri="{0D108BD9-81ED-4DB2-BD59-A6C34878D82A}">
                    <a16:rowId xmlns:a16="http://schemas.microsoft.com/office/drawing/2014/main" val="10002"/>
                  </a:ext>
                </a:extLst>
              </a:tr>
              <a:tr h="1085850">
                <a:tc>
                  <a:txBody>
                    <a:bodyPr/>
                    <a:lstStyle/>
                    <a:p>
                      <a:pPr marL="0" indent="0">
                        <a:buNone/>
                      </a:pPr>
                      <a:r>
                        <a:rPr lang="en-US" sz="638" b="1" kern="0" spc="120" dirty="0">
                          <a:solidFill>
                            <a:srgbClr val="8C6239"/>
                          </a:solidFill>
                        </a:rPr>
                        <a:t>JULY 2026</a:t>
                      </a:r>
                      <a:endParaRPr lang="en-US" sz="1200" dirty="0"/>
                    </a:p>
                    <a:p>
                      <a:pPr marL="0" indent="0">
                        <a:buNone/>
                      </a:pPr>
                      <a:r>
                        <a:rPr lang="en-US" sz="638" dirty="0">
                          <a:solidFill>
                            <a:srgbClr val="6F6A66"/>
                          </a:solidFill>
                        </a:rPr>
                        <a:t>Distribution &amp; Services</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lgn="l">
                        <a:buNone/>
                      </a:pPr>
                      <a:r>
                        <a:rPr lang="en-US" sz="788" b="1" dirty="0">
                          <a:solidFill>
                            <a:srgbClr val="1B1A1A"/>
                          </a:solidFill>
                        </a:rPr>
                        <a:t>FLOWORKS</a:t>
                      </a:r>
                      <a:endParaRPr lang="en-US" sz="1200" dirty="0"/>
                    </a:p>
                    <a:p>
                      <a:pPr marL="0" indent="0" algn="l">
                        <a:buNone/>
                      </a:pPr>
                      <a:r>
                        <a:rPr lang="en-US" sz="638" i="1" dirty="0">
                          <a:solidFill>
                            <a:srgbClr val="6F6A66"/>
                          </a:solidFill>
                        </a:rPr>
                        <a:t>acquired by</a:t>
                      </a:r>
                      <a:endParaRPr lang="en-US" sz="1200" dirty="0"/>
                    </a:p>
                    <a:p>
                      <a:pPr marL="0" indent="0" algn="l">
                        <a:buNone/>
                      </a:pPr>
                      <a:r>
                        <a:rPr lang="en-US" sz="788" b="1" dirty="0">
                          <a:solidFill>
                            <a:srgbClr val="1B1A1A"/>
                          </a:solidFill>
                        </a:rPr>
                        <a:t>FERGUSON</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810" dirty="0">
                          <a:solidFill>
                            <a:srgbClr val="333231"/>
                          </a:solidFill>
                        </a:rPr>
                        <a:t>Ferguson agreed to buy FloWorks, a flow control distributor with about $1 billion of revenue, from Wynnchurch Capital for $1.6 billion and completed the purchase in August (</a:t>
                      </a:r>
                      <a:r>
                        <a:rPr lang="en-US" sz="810" u="sng" dirty="0">
                          <a:solidFill>
                            <a:srgbClr val="8C6239"/>
                          </a:solidFill>
                          <a:hlinkClick r:id="rId5" tooltip="https://www.mdm.com/news/top-distributor-sectors/flow-control-top-distributor-sectors/ferguson-closes-1-6b-floworks-deal-deepening-flow-control-push/">
                            <a:extLst>
                              <a:ext uri="{A12FA001-AC4F-418D-AE19-62706E023703}">
                                <ahyp:hlinkClr xmlns:ahyp="http://schemas.microsoft.com/office/drawing/2018/hyperlinkcolor" val="tx"/>
                              </a:ext>
                            </a:extLst>
                          </a:hlinkClick>
                        </a:rPr>
                        <a:t>MDM</a:t>
                      </a:r>
                      <a:r>
                        <a:rPr lang="en-US" sz="810" dirty="0">
                          <a:solidFill>
                            <a:srgbClr val="333231"/>
                          </a:solidFill>
                        </a:rPr>
                        <a:t>).</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780" dirty="0">
                          <a:solidFill>
                            <a:srgbClr val="333231"/>
                          </a:solidFill>
                        </a:rPr>
                        <a:t>Ferguson described the price as about 10 times trailing adjusted EBITDA after including roughly $45 million of expected synergies (</a:t>
                      </a:r>
                      <a:r>
                        <a:rPr lang="en-US" sz="780" u="sng" dirty="0">
                          <a:solidFill>
                            <a:srgbClr val="8C6239"/>
                          </a:solidFill>
                          <a:hlinkClick r:id="rId6" tooltip="https://www.mdm.com/news/featured/featured-blog/ferguson-makes-1-6b-flow-control-bet-with-floworks-deal/">
                            <a:extLst>
                              <a:ext uri="{A12FA001-AC4F-418D-AE19-62706E023703}">
                                <ahyp:hlinkClr xmlns:ahyp="http://schemas.microsoft.com/office/drawing/2018/hyperlinkcolor" val="tx"/>
                              </a:ext>
                            </a:extLst>
                          </a:hlinkClick>
                        </a:rPr>
                        <a:t>MDM</a:t>
                      </a:r>
                      <a:r>
                        <a:rPr lang="en-US" sz="780" dirty="0">
                          <a:solidFill>
                            <a:srgbClr val="333231"/>
                          </a:solidFill>
                        </a:rPr>
                        <a:t>).</a:t>
                      </a:r>
                      <a:endParaRPr lang="en-US" sz="1200" dirty="0"/>
                    </a:p>
                  </a:txBody>
                  <a:tcPr marL="101600" marR="1016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solidFill>
                      <a:srgbClr val="FAF7F3"/>
                    </a:solidFill>
                  </a:tcPr>
                </a:tc>
                <a:extLst>
                  <a:ext uri="{0D108BD9-81ED-4DB2-BD59-A6C34878D82A}">
                    <a16:rowId xmlns:a16="http://schemas.microsoft.com/office/drawing/2014/main" val="10003"/>
                  </a:ext>
                </a:extLst>
              </a:tr>
              <a:tr h="1085850">
                <a:tc>
                  <a:txBody>
                    <a:bodyPr/>
                    <a:lstStyle/>
                    <a:p>
                      <a:pPr marL="0" indent="0">
                        <a:buNone/>
                      </a:pPr>
                      <a:r>
                        <a:rPr lang="en-US" sz="638" b="1" kern="0" spc="120" dirty="0">
                          <a:solidFill>
                            <a:srgbClr val="8C6239"/>
                          </a:solidFill>
                        </a:rPr>
                        <a:t>JULY 2026</a:t>
                      </a:r>
                      <a:endParaRPr lang="en-US" sz="1200" dirty="0"/>
                    </a:p>
                    <a:p>
                      <a:pPr marL="0" indent="0">
                        <a:buNone/>
                      </a:pPr>
                      <a:r>
                        <a:rPr lang="en-US" sz="638" dirty="0">
                          <a:solidFill>
                            <a:srgbClr val="6F6A66"/>
                          </a:solidFill>
                        </a:rPr>
                        <a:t>Distribution &amp; Services</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lgn="l">
                        <a:buNone/>
                      </a:pPr>
                      <a:r>
                        <a:rPr lang="en-US" sz="788" b="1" dirty="0">
                          <a:solidFill>
                            <a:srgbClr val="1B1A1A"/>
                          </a:solidFill>
                        </a:rPr>
                        <a:t>METROPLEX WELDING SUPPLY</a:t>
                      </a:r>
                      <a:endParaRPr lang="en-US" sz="1200" dirty="0"/>
                    </a:p>
                    <a:p>
                      <a:pPr marL="0" indent="0" algn="l">
                        <a:buNone/>
                      </a:pPr>
                      <a:r>
                        <a:rPr lang="en-US" sz="638" i="1" dirty="0">
                          <a:solidFill>
                            <a:srgbClr val="6F6A66"/>
                          </a:solidFill>
                        </a:rPr>
                        <a:t>acquired by</a:t>
                      </a:r>
                      <a:endParaRPr lang="en-US" sz="1200" dirty="0"/>
                    </a:p>
                    <a:p>
                      <a:pPr marL="0" indent="0" algn="l">
                        <a:buNone/>
                      </a:pPr>
                      <a:r>
                        <a:rPr lang="en-US" sz="788" b="1" dirty="0">
                          <a:solidFill>
                            <a:srgbClr val="1B1A1A"/>
                          </a:solidFill>
                        </a:rPr>
                        <a:t>MERITUS GAS PARTNERS</a:t>
                      </a:r>
                      <a:endParaRPr lang="en-US" sz="1200" dirty="0"/>
                    </a:p>
                    <a:p>
                      <a:pPr marL="0" indent="0" algn="l">
                        <a:buNone/>
                      </a:pPr>
                      <a:r>
                        <a:rPr lang="en-US" sz="638" dirty="0">
                          <a:solidFill>
                            <a:srgbClr val="6F6A66"/>
                          </a:solidFill>
                        </a:rPr>
                        <a:t>AEA Investors</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810" dirty="0">
                          <a:solidFill>
                            <a:srgbClr val="333231"/>
                          </a:solidFill>
                        </a:rPr>
                        <a:t>Meritus Gas Partners acquired Metroplex Welding Supply of Dallas, a family-owned distributor of industrial gases and welding supplies founded in 1975 with five locations (</a:t>
                      </a:r>
                      <a:r>
                        <a:rPr lang="en-US" sz="810" u="sng" dirty="0">
                          <a:solidFill>
                            <a:srgbClr val="8C6239"/>
                          </a:solidFill>
                          <a:hlinkClick r:id="rId7" tooltip="https://www.mdm.com/news/top-distributor-sectors/gases-welding-equipment/meritus-gas-partners-adds-5-dfw-locations-with-acquisition-of-metroplex-welding-supply/">
                            <a:extLst>
                              <a:ext uri="{A12FA001-AC4F-418D-AE19-62706E023703}">
                                <ahyp:hlinkClr xmlns:ahyp="http://schemas.microsoft.com/office/drawing/2018/hyperlinkcolor" val="tx"/>
                              </a:ext>
                            </a:extLst>
                          </a:hlinkClick>
                        </a:rPr>
                        <a:t>MDM</a:t>
                      </a:r>
                      <a:r>
                        <a:rPr lang="en-US" sz="810" dirty="0">
                          <a:solidFill>
                            <a:srgbClr val="333231"/>
                          </a:solidFill>
                        </a:rPr>
                        <a:t>). Terms were not disclosed.</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780" dirty="0">
                          <a:solidFill>
                            <a:srgbClr val="333231"/>
                          </a:solidFill>
                        </a:rPr>
                        <a:t>Meritus announced at least five acquisitions in 2026, four of them since July, and nearly every product line now has a specialist acquirer of this kind.</a:t>
                      </a:r>
                      <a:endParaRPr lang="en-US" sz="1200" dirty="0"/>
                    </a:p>
                  </a:txBody>
                  <a:tcPr marL="101600" marR="1016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solidFill>
                      <a:srgbClr val="FAF7F3"/>
                    </a:solidFill>
                  </a:tcPr>
                </a:tc>
                <a:extLst>
                  <a:ext uri="{0D108BD9-81ED-4DB2-BD59-A6C34878D82A}">
                    <a16:rowId xmlns:a16="http://schemas.microsoft.com/office/drawing/2014/main" val="10004"/>
                  </a:ext>
                </a:extLst>
              </a:tr>
              <a:tr h="1085850">
                <a:tc>
                  <a:txBody>
                    <a:bodyPr/>
                    <a:lstStyle/>
                    <a:p>
                      <a:pPr marL="0" indent="0">
                        <a:buNone/>
                      </a:pPr>
                      <a:r>
                        <a:rPr lang="en-US" sz="638" b="1" kern="0" spc="120" dirty="0">
                          <a:solidFill>
                            <a:srgbClr val="8C6239"/>
                          </a:solidFill>
                        </a:rPr>
                        <a:t>SEPTEMBER 2026</a:t>
                      </a:r>
                      <a:endParaRPr lang="en-US" sz="1200" dirty="0"/>
                    </a:p>
                    <a:p>
                      <a:pPr marL="0" indent="0">
                        <a:buNone/>
                      </a:pPr>
                      <a:r>
                        <a:rPr lang="en-US" sz="638" dirty="0">
                          <a:solidFill>
                            <a:srgbClr val="6F6A66"/>
                          </a:solidFill>
                        </a:rPr>
                        <a:t>Building Products &amp; Construction</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lgn="l">
                        <a:buNone/>
                      </a:pPr>
                      <a:r>
                        <a:rPr lang="en-US" sz="788" b="1" dirty="0">
                          <a:solidFill>
                            <a:srgbClr val="1B1A1A"/>
                          </a:solidFill>
                        </a:rPr>
                        <a:t>1901 INC.</a:t>
                      </a:r>
                      <a:endParaRPr lang="en-US" sz="1200" dirty="0"/>
                    </a:p>
                    <a:p>
                      <a:pPr marL="0" indent="0" algn="l">
                        <a:buNone/>
                      </a:pPr>
                      <a:r>
                        <a:rPr lang="en-US" sz="638" i="1" dirty="0">
                          <a:solidFill>
                            <a:srgbClr val="6F6A66"/>
                          </a:solidFill>
                        </a:rPr>
                        <a:t>acquired by</a:t>
                      </a:r>
                      <a:endParaRPr lang="en-US" sz="1200" dirty="0"/>
                    </a:p>
                    <a:p>
                      <a:pPr marL="0" indent="0" algn="l">
                        <a:buNone/>
                      </a:pPr>
                      <a:r>
                        <a:rPr lang="en-US" sz="788" b="1" dirty="0">
                          <a:solidFill>
                            <a:srgbClr val="1B1A1A"/>
                          </a:solidFill>
                        </a:rPr>
                        <a:t>LIMBACH HOLDINGS</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810" dirty="0">
                          <a:solidFill>
                            <a:srgbClr val="333231"/>
                          </a:solidFill>
                        </a:rPr>
                        <a:t>Limbach acquired 1901 Inc., a mechanical, electrical and plumbing contractor in Madison, Wisconsin that it expects to contribute about $140 million of revenue, for $63 million plus an earn-out of up to $6 million (</a:t>
                      </a:r>
                      <a:r>
                        <a:rPr lang="en-US" sz="810" u="sng" dirty="0">
                          <a:solidFill>
                            <a:srgbClr val="8C6239"/>
                          </a:solidFill>
                          <a:hlinkClick r:id="rId8" tooltip="https://pulse2.com/limbach-acquires-1901-for-63-million-plus-up-to-6-million-in-earnouts/">
                            <a:extLst>
                              <a:ext uri="{A12FA001-AC4F-418D-AE19-62706E023703}">
                                <ahyp:hlinkClr xmlns:ahyp="http://schemas.microsoft.com/office/drawing/2018/hyperlinkcolor" val="tx"/>
                              </a:ext>
                            </a:extLst>
                          </a:hlinkClick>
                        </a:rPr>
                        <a:t>Pulse 2.0</a:t>
                      </a:r>
                      <a:r>
                        <a:rPr lang="en-US" sz="810" dirty="0">
                          <a:solidFill>
                            <a:srgbClr val="333231"/>
                          </a:solidFill>
                        </a:rPr>
                        <a:t>).</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780" dirty="0">
                          <a:solidFill>
                            <a:srgbClr val="333231"/>
                          </a:solidFill>
                        </a:rPr>
                        <a:t>The upfront payment is about 5.7 times expected 2027 adjusted EBITDA, by our calculation, just below the 6 to 9 times at which project-based contractors have traded.</a:t>
                      </a:r>
                      <a:endParaRPr lang="en-US" sz="1200" dirty="0"/>
                    </a:p>
                  </a:txBody>
                  <a:tcPr marL="101600" marR="1016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solidFill>
                      <a:srgbClr val="FAF7F3"/>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Select Recent Industrial Transactions (Continued)</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Buyers in power, environmental services and logistics paid for technicians, permits, equipment supply and border capability they did not already have.</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Transaction values and multiples are as reported by the linked source or calculated from the figures it gives. Company names are the property of their owners and are shown for identification. Two transactions are shown for each of the five industrial segments across pages 7 and 8.</a:t>
            </a:r>
            <a:endParaRPr lang="en-US" sz="675"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9100" y="1238250"/>
          <a:ext cx="9220200" cy="5676900"/>
        </p:xfrm>
        <a:graphic>
          <a:graphicData uri="http://schemas.openxmlformats.org/drawingml/2006/table">
            <a:tbl>
              <a:tblPr/>
              <a:tblGrid>
                <a:gridCol w="1181100">
                  <a:extLst>
                    <a:ext uri="{9D8B030D-6E8A-4147-A177-3AD203B41FA5}">
                      <a16:colId xmlns:a16="http://schemas.microsoft.com/office/drawing/2014/main" val="20000"/>
                    </a:ext>
                  </a:extLst>
                </a:gridCol>
                <a:gridCol w="2152650">
                  <a:extLst>
                    <a:ext uri="{9D8B030D-6E8A-4147-A177-3AD203B41FA5}">
                      <a16:colId xmlns:a16="http://schemas.microsoft.com/office/drawing/2014/main" val="20001"/>
                    </a:ext>
                  </a:extLst>
                </a:gridCol>
                <a:gridCol w="369570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247650">
                <a:tc>
                  <a:txBody>
                    <a:bodyPr/>
                    <a:lstStyle/>
                    <a:p>
                      <a:pPr marL="0" indent="0">
                        <a:buNone/>
                      </a:pPr>
                      <a:r>
                        <a:rPr lang="en-US" sz="638" b="1" kern="0" spc="150" dirty="0">
                          <a:solidFill>
                            <a:srgbClr val="1B1A1A"/>
                          </a:solidFill>
                        </a:rPr>
                        <a:t>ANNOUNCED</a:t>
                      </a:r>
                      <a:endParaRPr lang="en-US" sz="638" dirty="0"/>
                    </a:p>
                  </a:txBody>
                  <a:tcPr marL="0" marR="76200" marT="25400" marB="63500"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buNone/>
                      </a:pPr>
                      <a:r>
                        <a:rPr lang="en-US" sz="638" b="1" kern="0" spc="150" dirty="0">
                          <a:solidFill>
                            <a:srgbClr val="1B1A1A"/>
                          </a:solidFill>
                        </a:rPr>
                        <a:t>TARGET AND ACQUIRER</a:t>
                      </a:r>
                      <a:endParaRPr lang="en-US" sz="638" dirty="0"/>
                    </a:p>
                  </a:txBody>
                  <a:tcPr marL="0" marR="76200" marT="25400" marB="63500"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buNone/>
                      </a:pPr>
                      <a:r>
                        <a:rPr lang="en-US" sz="638" b="1" kern="0" spc="150" dirty="0">
                          <a:solidFill>
                            <a:srgbClr val="1B1A1A"/>
                          </a:solidFill>
                        </a:rPr>
                        <a:t>BUSINESS AND TERMS</a:t>
                      </a:r>
                      <a:endParaRPr lang="en-US" sz="638" dirty="0"/>
                    </a:p>
                  </a:txBody>
                  <a:tcPr marL="0" marR="76200" marT="25400" marB="63500"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buNone/>
                      </a:pPr>
                      <a:r>
                        <a:rPr lang="en-US" sz="638" b="1" kern="0" spc="150" dirty="0">
                          <a:solidFill>
                            <a:srgbClr val="1B1A1A"/>
                          </a:solidFill>
                        </a:rPr>
                        <a:t>WHAT IT SHOWS</a:t>
                      </a:r>
                      <a:endParaRPr lang="en-US" sz="638" dirty="0"/>
                    </a:p>
                  </a:txBody>
                  <a:tcPr marL="0" marR="76200" marT="25400" marB="63500"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extLst>
                  <a:ext uri="{0D108BD9-81ED-4DB2-BD59-A6C34878D82A}">
                    <a16:rowId xmlns:a16="http://schemas.microsoft.com/office/drawing/2014/main" val="10000"/>
                  </a:ext>
                </a:extLst>
              </a:tr>
              <a:tr h="1085850">
                <a:tc>
                  <a:txBody>
                    <a:bodyPr/>
                    <a:lstStyle/>
                    <a:p>
                      <a:pPr marL="0" indent="0">
                        <a:buNone/>
                      </a:pPr>
                      <a:r>
                        <a:rPr lang="en-US" sz="638" b="1" kern="0" spc="120" dirty="0">
                          <a:solidFill>
                            <a:srgbClr val="8C6239"/>
                          </a:solidFill>
                        </a:rPr>
                        <a:t>AUGUST 2026</a:t>
                      </a:r>
                      <a:endParaRPr lang="en-US" sz="1200" dirty="0"/>
                    </a:p>
                    <a:p>
                      <a:pPr marL="0" indent="0">
                        <a:buNone/>
                      </a:pPr>
                      <a:r>
                        <a:rPr lang="en-US" sz="638" dirty="0">
                          <a:solidFill>
                            <a:srgbClr val="6F6A66"/>
                          </a:solidFill>
                        </a:rPr>
                        <a:t>Building Products &amp; Construction</a:t>
                      </a:r>
                      <a:endParaRPr lang="en-US" sz="1200" dirty="0"/>
                    </a:p>
                  </a:txBody>
                  <a:tcPr marL="0" marR="127000" marT="76200" marB="76200" anchor="ctr">
                    <a:lnL w="0" cap="flat" cmpd="sng" algn="ctr">
                      <a:noFill/>
                    </a:lnL>
                    <a:lnR w="0" cap="flat" cmpd="sng" algn="ctr">
                      <a:noFill/>
                    </a:lnR>
                    <a:lnT w="19050" cap="flat" cmpd="sng" algn="ctr">
                      <a:solidFill>
                        <a:srgbClr val="B68757"/>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lgn="l">
                        <a:buNone/>
                      </a:pPr>
                      <a:r>
                        <a:rPr lang="en-US" sz="788" b="1" dirty="0">
                          <a:solidFill>
                            <a:srgbClr val="1B1A1A"/>
                          </a:solidFill>
                        </a:rPr>
                        <a:t>CLARK RIGGING &amp; RENTAL</a:t>
                      </a:r>
                      <a:endParaRPr lang="en-US" sz="1200" dirty="0"/>
                    </a:p>
                    <a:p>
                      <a:pPr marL="0" indent="0" algn="l">
                        <a:buNone/>
                      </a:pPr>
                      <a:r>
                        <a:rPr lang="en-US" sz="638" i="1" dirty="0">
                          <a:solidFill>
                            <a:srgbClr val="6F6A66"/>
                          </a:solidFill>
                        </a:rPr>
                        <a:t>acquired by</a:t>
                      </a:r>
                      <a:endParaRPr lang="en-US" sz="1200" dirty="0"/>
                    </a:p>
                    <a:p>
                      <a:pPr marL="0" indent="0" algn="l">
                        <a:buNone/>
                      </a:pPr>
                      <a:r>
                        <a:rPr lang="en-US" sz="788" b="1" dirty="0">
                          <a:solidFill>
                            <a:srgbClr val="1B1A1A"/>
                          </a:solidFill>
                        </a:rPr>
                        <a:t>BAY CRANE</a:t>
                      </a:r>
                      <a:endParaRPr lang="en-US" sz="1200" dirty="0"/>
                    </a:p>
                  </a:txBody>
                  <a:tcPr marL="0" marR="127000" marT="76200" marB="76200" anchor="ctr">
                    <a:lnL w="0" cap="flat" cmpd="sng" algn="ctr">
                      <a:noFill/>
                    </a:lnL>
                    <a:lnR w="0" cap="flat" cmpd="sng" algn="ctr">
                      <a:noFill/>
                    </a:lnR>
                    <a:lnT w="19050" cap="flat" cmpd="sng" algn="ctr">
                      <a:solidFill>
                        <a:srgbClr val="B68757"/>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810" dirty="0">
                          <a:solidFill>
                            <a:srgbClr val="333231"/>
                          </a:solidFill>
                        </a:rPr>
                        <a:t>Bay Crane acquired Clark Rigging &amp; Rental, a crane rental, rigging and heavy haul company in upstate New York that had been family-owned since 1954 (</a:t>
                      </a:r>
                      <a:r>
                        <a:rPr lang="en-US" sz="810" u="sng" dirty="0">
                          <a:solidFill>
                            <a:srgbClr val="8C6239"/>
                          </a:solidFill>
                          <a:hlinkClick r:id="rId3" tooltip="https://www.rermag.com/mergers-acquisitions/news/55397729/bay-crane-acquires-clark-rigging-rental-growing-its-upstate-new-york-presence">
                            <a:extLst>
                              <a:ext uri="{A12FA001-AC4F-418D-AE19-62706E023703}">
                                <ahyp:hlinkClr xmlns:ahyp="http://schemas.microsoft.com/office/drawing/2018/hyperlinkcolor" val="tx"/>
                              </a:ext>
                            </a:extLst>
                          </a:hlinkClick>
                        </a:rPr>
                        <a:t>RER</a:t>
                      </a:r>
                      <a:r>
                        <a:rPr lang="en-US" sz="810" dirty="0">
                          <a:solidFill>
                            <a:srgbClr val="333231"/>
                          </a:solidFill>
                        </a:rPr>
                        <a:t>). Terms were not disclosed.</a:t>
                      </a:r>
                      <a:endParaRPr lang="en-US" sz="1200" dirty="0"/>
                    </a:p>
                  </a:txBody>
                  <a:tcPr marL="0" marR="127000" marT="76200" marB="76200" anchor="ctr">
                    <a:lnL w="0" cap="flat" cmpd="sng" algn="ctr">
                      <a:noFill/>
                    </a:lnL>
                    <a:lnR w="0" cap="flat" cmpd="sng" algn="ctr">
                      <a:noFill/>
                    </a:lnR>
                    <a:lnT w="19050" cap="flat" cmpd="sng" algn="ctr">
                      <a:solidFill>
                        <a:srgbClr val="B68757"/>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780" dirty="0">
                          <a:solidFill>
                            <a:srgbClr val="333231"/>
                          </a:solidFill>
                        </a:rPr>
                        <a:t>Crane, rigging and pump rental each have an active acquirer buying family-owned regional operators.</a:t>
                      </a:r>
                      <a:endParaRPr lang="en-US" sz="1200" dirty="0"/>
                    </a:p>
                  </a:txBody>
                  <a:tcPr marL="101600" marR="101600" marT="76200" marB="76200" anchor="ctr">
                    <a:lnL w="0" cap="flat" cmpd="sng" algn="ctr">
                      <a:noFill/>
                    </a:lnL>
                    <a:lnR w="0" cap="flat" cmpd="sng" algn="ctr">
                      <a:noFill/>
                    </a:lnR>
                    <a:lnT w="19050" cap="flat" cmpd="sng" algn="ctr">
                      <a:solidFill>
                        <a:srgbClr val="B68757"/>
                      </a:solidFill>
                      <a:prstDash val="solid"/>
                      <a:round/>
                      <a:headEnd type="none" w="med" len="med"/>
                      <a:tailEnd type="none" w="med" len="med"/>
                    </a:lnT>
                    <a:lnB w="9525" cap="flat" cmpd="sng" algn="ctr">
                      <a:solidFill>
                        <a:srgbClr val="E3DCD3"/>
                      </a:solidFill>
                      <a:prstDash val="solid"/>
                      <a:round/>
                      <a:headEnd type="none" w="med" len="med"/>
                      <a:tailEnd type="none" w="med" len="med"/>
                    </a:lnB>
                    <a:solidFill>
                      <a:srgbClr val="FAF7F3"/>
                    </a:solidFill>
                  </a:tcPr>
                </a:tc>
                <a:extLst>
                  <a:ext uri="{0D108BD9-81ED-4DB2-BD59-A6C34878D82A}">
                    <a16:rowId xmlns:a16="http://schemas.microsoft.com/office/drawing/2014/main" val="10001"/>
                  </a:ext>
                </a:extLst>
              </a:tr>
              <a:tr h="1085850">
                <a:tc>
                  <a:txBody>
                    <a:bodyPr/>
                    <a:lstStyle/>
                    <a:p>
                      <a:pPr marL="0" indent="0">
                        <a:buNone/>
                      </a:pPr>
                      <a:r>
                        <a:rPr lang="en-US" sz="638" b="1" kern="0" spc="120" dirty="0">
                          <a:solidFill>
                            <a:srgbClr val="8C6239"/>
                          </a:solidFill>
                        </a:rPr>
                        <a:t>AUGUST 2026</a:t>
                      </a:r>
                      <a:endParaRPr lang="en-US" sz="1200" dirty="0"/>
                    </a:p>
                    <a:p>
                      <a:pPr marL="0" indent="0">
                        <a:buNone/>
                      </a:pPr>
                      <a:r>
                        <a:rPr lang="en-US" sz="638" dirty="0">
                          <a:solidFill>
                            <a:srgbClr val="6F6A66"/>
                          </a:solidFill>
                        </a:rPr>
                        <a:t>Energy, Power &amp; Environmental</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lgn="l">
                        <a:buNone/>
                      </a:pPr>
                      <a:r>
                        <a:rPr lang="en-US" sz="788" b="1" dirty="0">
                          <a:solidFill>
                            <a:srgbClr val="1B1A1A"/>
                          </a:solidFill>
                        </a:rPr>
                        <a:t>ENVIROSERVE</a:t>
                      </a:r>
                      <a:endParaRPr lang="en-US" sz="1200" dirty="0"/>
                    </a:p>
                    <a:p>
                      <a:pPr marL="0" indent="0" algn="l">
                        <a:buNone/>
                      </a:pPr>
                      <a:r>
                        <a:rPr lang="en-US" sz="638" i="1" dirty="0">
                          <a:solidFill>
                            <a:srgbClr val="6F6A66"/>
                          </a:solidFill>
                        </a:rPr>
                        <a:t>acquired by</a:t>
                      </a:r>
                      <a:endParaRPr lang="en-US" sz="1200" dirty="0"/>
                    </a:p>
                    <a:p>
                      <a:pPr marL="0" indent="0" algn="l">
                        <a:buNone/>
                      </a:pPr>
                      <a:r>
                        <a:rPr lang="en-US" sz="788" b="1" dirty="0">
                          <a:solidFill>
                            <a:srgbClr val="1B1A1A"/>
                          </a:solidFill>
                        </a:rPr>
                        <a:t>CLEAN HARBORS</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810" dirty="0">
                          <a:solidFill>
                            <a:srgbClr val="333231"/>
                          </a:solidFill>
                        </a:rPr>
                        <a:t>Clean Harbors agreed to buy EnviroServe, a remediation, industrial cleaning and emergency response company with 40 locations, from One Rock Capital Partners for $470 million (</a:t>
                      </a:r>
                      <a:r>
                        <a:rPr lang="en-US" sz="810" u="sng" dirty="0">
                          <a:solidFill>
                            <a:srgbClr val="8C6239"/>
                          </a:solidFill>
                          <a:hlinkClick r:id="rId4" tooltip="https://wasteadvantagemag.com/clean-harbors-to-acquire-enviroserve/">
                            <a:extLst>
                              <a:ext uri="{A12FA001-AC4F-418D-AE19-62706E023703}">
                                <ahyp:hlinkClr xmlns:ahyp="http://schemas.microsoft.com/office/drawing/2018/hyperlinkcolor" val="tx"/>
                              </a:ext>
                            </a:extLst>
                          </a:hlinkClick>
                        </a:rPr>
                        <a:t>Waste Advantage</a:t>
                      </a:r>
                      <a:r>
                        <a:rPr lang="en-US" sz="810" dirty="0">
                          <a:solidFill>
                            <a:srgbClr val="333231"/>
                          </a:solidFill>
                        </a:rPr>
                        <a:t>).</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780" dirty="0">
                          <a:solidFill>
                            <a:srgbClr val="333231"/>
                          </a:solidFill>
                        </a:rPr>
                        <a:t>The agreement followed Clean Harbors’ $305 million agreement for ES&amp;H, which it described as 8.7 times EBITDA after synergies (</a:t>
                      </a:r>
                      <a:r>
                        <a:rPr lang="en-US" sz="780" u="sng" dirty="0">
                          <a:solidFill>
                            <a:srgbClr val="8C6239"/>
                          </a:solidFill>
                          <a:hlinkClick r:id="rId5" tooltip="https://www.sec.gov/Archives/edgar/data/0000822818/000082281826000031/clh-q22026pressrelease.htm">
                            <a:extLst>
                              <a:ext uri="{A12FA001-AC4F-418D-AE19-62706E023703}">
                                <ahyp:hlinkClr xmlns:ahyp="http://schemas.microsoft.com/office/drawing/2018/hyperlinkcolor" val="tx"/>
                              </a:ext>
                            </a:extLst>
                          </a:hlinkClick>
                        </a:rPr>
                        <a:t>Clean Harbors</a:t>
                      </a:r>
                      <a:r>
                        <a:rPr lang="en-US" sz="780" dirty="0">
                          <a:solidFill>
                            <a:srgbClr val="333231"/>
                          </a:solidFill>
                        </a:rPr>
                        <a:t>).</a:t>
                      </a:r>
                      <a:endParaRPr lang="en-US" sz="1200" dirty="0"/>
                    </a:p>
                  </a:txBody>
                  <a:tcPr marL="101600" marR="1016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solidFill>
                      <a:srgbClr val="FAF7F3"/>
                    </a:solidFill>
                  </a:tcPr>
                </a:tc>
                <a:extLst>
                  <a:ext uri="{0D108BD9-81ED-4DB2-BD59-A6C34878D82A}">
                    <a16:rowId xmlns:a16="http://schemas.microsoft.com/office/drawing/2014/main" val="10002"/>
                  </a:ext>
                </a:extLst>
              </a:tr>
              <a:tr h="1085850">
                <a:tc>
                  <a:txBody>
                    <a:bodyPr/>
                    <a:lstStyle/>
                    <a:p>
                      <a:pPr marL="0" indent="0">
                        <a:buNone/>
                      </a:pPr>
                      <a:r>
                        <a:rPr lang="en-US" sz="638" b="1" kern="0" spc="120" dirty="0">
                          <a:solidFill>
                            <a:srgbClr val="8C6239"/>
                          </a:solidFill>
                        </a:rPr>
                        <a:t>JULY 2026</a:t>
                      </a:r>
                      <a:endParaRPr lang="en-US" sz="1200" dirty="0"/>
                    </a:p>
                    <a:p>
                      <a:pPr marL="0" indent="0">
                        <a:buNone/>
                      </a:pPr>
                      <a:r>
                        <a:rPr lang="en-US" sz="638" dirty="0">
                          <a:solidFill>
                            <a:srgbClr val="6F6A66"/>
                          </a:solidFill>
                        </a:rPr>
                        <a:t>Energy, Power &amp; Environmental</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lgn="l">
                        <a:buNone/>
                      </a:pPr>
                      <a:r>
                        <a:rPr lang="en-US" sz="788" b="1" dirty="0">
                          <a:solidFill>
                            <a:srgbClr val="1B1A1A"/>
                          </a:solidFill>
                        </a:rPr>
                        <a:t>CORE TRANSFORMERS</a:t>
                      </a:r>
                      <a:endParaRPr lang="en-US" sz="1200" dirty="0"/>
                    </a:p>
                    <a:p>
                      <a:pPr marL="0" indent="0" algn="l">
                        <a:buNone/>
                      </a:pPr>
                      <a:r>
                        <a:rPr lang="en-US" sz="638" i="1" dirty="0">
                          <a:solidFill>
                            <a:srgbClr val="6F6A66"/>
                          </a:solidFill>
                        </a:rPr>
                        <a:t>acquired by</a:t>
                      </a:r>
                      <a:endParaRPr lang="en-US" sz="1200" dirty="0"/>
                    </a:p>
                    <a:p>
                      <a:pPr marL="0" indent="0" algn="l">
                        <a:buNone/>
                      </a:pPr>
                      <a:r>
                        <a:rPr lang="en-US" sz="788" b="1" dirty="0">
                          <a:solidFill>
                            <a:srgbClr val="1B1A1A"/>
                          </a:solidFill>
                        </a:rPr>
                        <a:t>MISSION CRITICAL GROUP</a:t>
                      </a:r>
                      <a:endParaRPr lang="en-US" sz="1200" dirty="0"/>
                    </a:p>
                    <a:p>
                      <a:pPr marL="0" indent="0" algn="l">
                        <a:buNone/>
                      </a:pPr>
                      <a:r>
                        <a:rPr lang="en-US" sz="638" dirty="0">
                          <a:solidFill>
                            <a:srgbClr val="6F6A66"/>
                          </a:solidFill>
                        </a:rPr>
                        <a:t>Emerald Lake Capital Management</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810" dirty="0">
                          <a:solidFill>
                            <a:srgbClr val="333231"/>
                          </a:solidFill>
                        </a:rPr>
                        <a:t>Mission Critical Group acquired CORE Transformers, a founder-led supplier of new, made-to-order and remanufactured power transformers (</a:t>
                      </a:r>
                      <a:r>
                        <a:rPr lang="en-US" sz="810" u="sng" dirty="0">
                          <a:solidFill>
                            <a:srgbClr val="8C6239"/>
                          </a:solidFill>
                          <a:hlinkClick r:id="rId6" tooltip="https://distributionstrategy.com/2026/07/mission-critical-group-makes-play-for-transformer-supply/">
                            <a:extLst>
                              <a:ext uri="{A12FA001-AC4F-418D-AE19-62706E023703}">
                                <ahyp:hlinkClr xmlns:ahyp="http://schemas.microsoft.com/office/drawing/2018/hyperlinkcolor" val="tx"/>
                              </a:ext>
                            </a:extLst>
                          </a:hlinkClick>
                        </a:rPr>
                        <a:t>Distribution Strategy Group</a:t>
                      </a:r>
                      <a:r>
                        <a:rPr lang="en-US" sz="810" dirty="0">
                          <a:solidFill>
                            <a:srgbClr val="333231"/>
                          </a:solidFill>
                        </a:rPr>
                        <a:t>). Terms were not disclosed.</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780" dirty="0">
                          <a:solidFill>
                            <a:srgbClr val="333231"/>
                          </a:solidFill>
                        </a:rPr>
                        <a:t>It was the buyer’s second power equipment purchase in four months, after the Texas switchgear maker TxLa Systems.</a:t>
                      </a:r>
                      <a:endParaRPr lang="en-US" sz="1200" dirty="0"/>
                    </a:p>
                  </a:txBody>
                  <a:tcPr marL="101600" marR="1016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solidFill>
                      <a:srgbClr val="FAF7F3"/>
                    </a:solidFill>
                  </a:tcPr>
                </a:tc>
                <a:extLst>
                  <a:ext uri="{0D108BD9-81ED-4DB2-BD59-A6C34878D82A}">
                    <a16:rowId xmlns:a16="http://schemas.microsoft.com/office/drawing/2014/main" val="10003"/>
                  </a:ext>
                </a:extLst>
              </a:tr>
              <a:tr h="1085850">
                <a:tc>
                  <a:txBody>
                    <a:bodyPr/>
                    <a:lstStyle/>
                    <a:p>
                      <a:pPr marL="0" indent="0">
                        <a:buNone/>
                      </a:pPr>
                      <a:r>
                        <a:rPr lang="en-US" sz="638" b="1" kern="0" spc="120" dirty="0">
                          <a:solidFill>
                            <a:srgbClr val="8C6239"/>
                          </a:solidFill>
                        </a:rPr>
                        <a:t>OCTOBER 2026</a:t>
                      </a:r>
                      <a:endParaRPr lang="en-US" sz="1200" dirty="0"/>
                    </a:p>
                    <a:p>
                      <a:pPr marL="0" indent="0">
                        <a:buNone/>
                      </a:pPr>
                      <a:r>
                        <a:rPr lang="en-US" sz="638" dirty="0">
                          <a:solidFill>
                            <a:srgbClr val="6F6A66"/>
                          </a:solidFill>
                        </a:rPr>
                        <a:t>Transportation &amp; Logistics</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lgn="l">
                        <a:buNone/>
                      </a:pPr>
                      <a:r>
                        <a:rPr lang="en-US" sz="788" b="1" dirty="0">
                          <a:solidFill>
                            <a:srgbClr val="1B1A1A"/>
                          </a:solidFill>
                        </a:rPr>
                        <a:t>RXO</a:t>
                      </a:r>
                      <a:endParaRPr lang="en-US" sz="1200" dirty="0"/>
                    </a:p>
                    <a:p>
                      <a:pPr marL="0" indent="0" algn="l">
                        <a:buNone/>
                      </a:pPr>
                      <a:r>
                        <a:rPr lang="en-US" sz="638" i="1" dirty="0">
                          <a:solidFill>
                            <a:srgbClr val="6F6A66"/>
                          </a:solidFill>
                        </a:rPr>
                        <a:t>acquired by</a:t>
                      </a:r>
                      <a:endParaRPr lang="en-US" sz="1200" dirty="0"/>
                    </a:p>
                    <a:p>
                      <a:pPr marL="0" indent="0" algn="l">
                        <a:buNone/>
                      </a:pPr>
                      <a:r>
                        <a:rPr lang="en-US" sz="788" b="1" dirty="0">
                          <a:solidFill>
                            <a:srgbClr val="1B1A1A"/>
                          </a:solidFill>
                        </a:rPr>
                        <a:t>C.H. ROBINSON</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810" dirty="0">
                          <a:solidFill>
                            <a:srgbClr val="333231"/>
                          </a:solidFill>
                        </a:rPr>
                        <a:t>C.H. Robinson agreed on October 5 to acquire RXO, a truck brokerage, managed transportation and last-mile provider, at an implied value of $5.8 billion, a 29% premium to RXO’s last closing price (</a:t>
                      </a:r>
                      <a:r>
                        <a:rPr lang="en-US" sz="810" u="sng" dirty="0">
                          <a:solidFill>
                            <a:srgbClr val="8C6239"/>
                          </a:solidFill>
                          <a:hlinkClick r:id="rId7" tooltip="https://www.sec.gov/Archives/edgar/data/0001929561/000114036126038548/ef20083265_ex99-1.htm">
                            <a:extLst>
                              <a:ext uri="{A12FA001-AC4F-418D-AE19-62706E023703}">
                                <ahyp:hlinkClr xmlns:ahyp="http://schemas.microsoft.com/office/drawing/2018/hyperlinkcolor" val="tx"/>
                              </a:ext>
                            </a:extLst>
                          </a:hlinkClick>
                        </a:rPr>
                        <a:t>C.H. Robinson and RXO</a:t>
                      </a:r>
                      <a:r>
                        <a:rPr lang="en-US" sz="810" dirty="0">
                          <a:solidFill>
                            <a:srgbClr val="333231"/>
                          </a:solidFill>
                        </a:rPr>
                        <a:t>).</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780" dirty="0">
                          <a:solidFill>
                            <a:srgbClr val="333231"/>
                          </a:solidFill>
                        </a:rPr>
                        <a:t>About $300 million of expected annual cost savings supports the price at the top of the brokerage market.</a:t>
                      </a:r>
                      <a:endParaRPr lang="en-US" sz="1200" dirty="0"/>
                    </a:p>
                  </a:txBody>
                  <a:tcPr marL="101600" marR="1016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solidFill>
                      <a:srgbClr val="FAF7F3"/>
                    </a:solidFill>
                  </a:tcPr>
                </a:tc>
                <a:extLst>
                  <a:ext uri="{0D108BD9-81ED-4DB2-BD59-A6C34878D82A}">
                    <a16:rowId xmlns:a16="http://schemas.microsoft.com/office/drawing/2014/main" val="10004"/>
                  </a:ext>
                </a:extLst>
              </a:tr>
              <a:tr h="1085850">
                <a:tc>
                  <a:txBody>
                    <a:bodyPr/>
                    <a:lstStyle/>
                    <a:p>
                      <a:pPr marL="0" indent="0">
                        <a:buNone/>
                      </a:pPr>
                      <a:r>
                        <a:rPr lang="en-US" sz="638" b="1" kern="0" spc="120" dirty="0">
                          <a:solidFill>
                            <a:srgbClr val="8C6239"/>
                          </a:solidFill>
                        </a:rPr>
                        <a:t>MARCH 2026</a:t>
                      </a:r>
                      <a:endParaRPr lang="en-US" sz="1200" dirty="0"/>
                    </a:p>
                    <a:p>
                      <a:pPr marL="0" indent="0">
                        <a:buNone/>
                      </a:pPr>
                      <a:r>
                        <a:rPr lang="en-US" sz="638" dirty="0">
                          <a:solidFill>
                            <a:srgbClr val="6F6A66"/>
                          </a:solidFill>
                        </a:rPr>
                        <a:t>Transportation &amp; Logistics</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lgn="l">
                        <a:buNone/>
                      </a:pPr>
                      <a:r>
                        <a:rPr lang="en-US" sz="788" b="1" dirty="0">
                          <a:solidFill>
                            <a:srgbClr val="1B1A1A"/>
                          </a:solidFill>
                        </a:rPr>
                        <a:t>EELCO</a:t>
                      </a:r>
                      <a:endParaRPr lang="en-US" sz="1200" dirty="0"/>
                    </a:p>
                    <a:p>
                      <a:pPr marL="0" indent="0" algn="l">
                        <a:buNone/>
                      </a:pPr>
                      <a:r>
                        <a:rPr lang="en-US" sz="638" i="1" dirty="0">
                          <a:solidFill>
                            <a:srgbClr val="6F6A66"/>
                          </a:solidFill>
                        </a:rPr>
                        <a:t>acquired by</a:t>
                      </a:r>
                      <a:endParaRPr lang="en-US" sz="1200" dirty="0"/>
                    </a:p>
                    <a:p>
                      <a:pPr marL="0" indent="0" algn="l">
                        <a:buNone/>
                      </a:pPr>
                      <a:r>
                        <a:rPr lang="en-US" sz="788" b="1" dirty="0">
                          <a:solidFill>
                            <a:srgbClr val="1B1A1A"/>
                          </a:solidFill>
                        </a:rPr>
                        <a:t>REDWOOD LOGISTICS</a:t>
                      </a:r>
                      <a:endParaRPr lang="en-US" sz="1200" dirty="0"/>
                    </a:p>
                    <a:p>
                      <a:pPr marL="0" indent="0" algn="l">
                        <a:buNone/>
                      </a:pPr>
                      <a:r>
                        <a:rPr lang="en-US" sz="638" dirty="0">
                          <a:solidFill>
                            <a:srgbClr val="6F6A66"/>
                          </a:solidFill>
                        </a:rPr>
                        <a:t>AEA Investors</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810" dirty="0">
                          <a:solidFill>
                            <a:srgbClr val="333231"/>
                          </a:solidFill>
                        </a:rPr>
                        <a:t>Redwood Logistics acquired EELCO, a Laredo, Texas customs brokerage with a foreign-trade-zone warehouse that had been founder-owned since 1991 (</a:t>
                      </a:r>
                      <a:r>
                        <a:rPr lang="en-US" sz="810" u="sng" dirty="0">
                          <a:solidFill>
                            <a:srgbClr val="8C6239"/>
                          </a:solidFill>
                          <a:hlinkClick r:id="rId8" tooltip="https://www.freightwaves.com/news/redwood-logistics-acquires-laredo-customs-broker-eelco">
                            <a:extLst>
                              <a:ext uri="{A12FA001-AC4F-418D-AE19-62706E023703}">
                                <ahyp:hlinkClr xmlns:ahyp="http://schemas.microsoft.com/office/drawing/2018/hyperlinkcolor" val="tx"/>
                              </a:ext>
                            </a:extLst>
                          </a:hlinkClick>
                        </a:rPr>
                        <a:t>FreightWaves</a:t>
                      </a:r>
                      <a:r>
                        <a:rPr lang="en-US" sz="810" dirty="0">
                          <a:solidFill>
                            <a:srgbClr val="333231"/>
                          </a:solidFill>
                        </a:rPr>
                        <a:t>). Terms were not disclosed.</a:t>
                      </a:r>
                      <a:endParaRPr lang="en-US" sz="1200" dirty="0"/>
                    </a:p>
                  </a:txBody>
                  <a:tcPr marL="0" marR="1270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tcPr>
                </a:tc>
                <a:tc>
                  <a:txBody>
                    <a:bodyPr/>
                    <a:lstStyle/>
                    <a:p>
                      <a:pPr marL="0" indent="0">
                        <a:buNone/>
                      </a:pPr>
                      <a:r>
                        <a:rPr lang="en-US" sz="780" dirty="0">
                          <a:solidFill>
                            <a:srgbClr val="333231"/>
                          </a:solidFill>
                        </a:rPr>
                        <a:t>Logistics platforms are buying brokers at the border as trade with Mexico sets monthly records.</a:t>
                      </a:r>
                      <a:endParaRPr lang="en-US" sz="1200" dirty="0"/>
                    </a:p>
                  </a:txBody>
                  <a:tcPr marL="101600" marR="101600" marT="76200" marB="76200" anchor="ctr">
                    <a:lnL w="0" cap="flat" cmpd="sng" algn="ctr">
                      <a:noFill/>
                    </a:lnL>
                    <a:lnR w="0" cap="flat" cmpd="sng" algn="ctr">
                      <a:noFill/>
                    </a:lnR>
                    <a:lnT w="9525" cap="flat" cmpd="sng" algn="ctr">
                      <a:solidFill>
                        <a:srgbClr val="E3DCD3"/>
                      </a:solidFill>
                      <a:prstDash val="solid"/>
                      <a:round/>
                      <a:headEnd type="none" w="med" len="med"/>
                      <a:tailEnd type="none" w="med" len="med"/>
                    </a:lnT>
                    <a:lnB w="9525" cap="flat" cmpd="sng" algn="ctr">
                      <a:solidFill>
                        <a:srgbClr val="E3DCD3"/>
                      </a:solidFill>
                      <a:prstDash val="solid"/>
                      <a:round/>
                      <a:headEnd type="none" w="med" len="med"/>
                      <a:tailEnd type="none" w="med" len="med"/>
                    </a:lnB>
                    <a:solidFill>
                      <a:srgbClr val="FAF7F3"/>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Benchmark International’s Industrial Transactions</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Building products and construction services is the most active segment, and strategic acquirers were the buyers in more than half of the sales.</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Each tile links to the announcement on benchmarkintl.com. Counts are from Benchmark International’s transaction records for the 24 months to September 30, 2026; engagements in progress are shown in aggregate. Fifty-nine of the 85 closed transactions have been announced publicly.</a:t>
            </a:r>
            <a:endParaRPr lang="en-US" sz="675" dirty="0"/>
          </a:p>
        </p:txBody>
      </p:sp>
      <p:sp>
        <p:nvSpPr>
          <p:cNvPr id="5" name="Counts panel"/>
          <p:cNvSpPr/>
          <p:nvPr/>
        </p:nvSpPr>
        <p:spPr>
          <a:xfrm>
            <a:off x="419100" y="1238250"/>
            <a:ext cx="1752600" cy="5695950"/>
          </a:xfrm>
          <a:prstGeom prst="rect">
            <a:avLst/>
          </a:prstGeom>
          <a:solidFill>
            <a:srgbClr val="1B1A1A"/>
          </a:solidFill>
          <a:ln/>
        </p:spPr>
        <p:txBody>
          <a:bodyPr/>
          <a:lstStyle/>
          <a:p>
            <a:endParaRPr lang="en-US"/>
          </a:p>
        </p:txBody>
      </p:sp>
      <p:sp>
        <p:nvSpPr>
          <p:cNvPr id="6" name="Text 4"/>
          <p:cNvSpPr txBox="1"/>
          <p:nvPr/>
        </p:nvSpPr>
        <p:spPr>
          <a:xfrm>
            <a:off x="609600" y="1447800"/>
            <a:ext cx="1428750" cy="133350"/>
          </a:xfrm>
          <a:prstGeom prst="rect">
            <a:avLst/>
          </a:prstGeom>
          <a:noFill/>
          <a:ln/>
        </p:spPr>
        <p:txBody>
          <a:bodyPr wrap="square" lIns="0" tIns="0" rIns="0" bIns="0" rtlCol="0" anchor="t"/>
          <a:lstStyle/>
          <a:p>
            <a:pPr marL="0" indent="0">
              <a:buNone/>
            </a:pPr>
            <a:r>
              <a:rPr lang="en-US" sz="675" b="1" kern="0" spc="200" dirty="0">
                <a:solidFill>
                  <a:srgbClr val="8C6239"/>
                </a:solidFill>
              </a:rPr>
              <a:t>TRAILING 24 MONTHS</a:t>
            </a:r>
            <a:endParaRPr lang="en-US" sz="675" dirty="0"/>
          </a:p>
        </p:txBody>
      </p:sp>
      <p:sp>
        <p:nvSpPr>
          <p:cNvPr id="7" name="Text 5"/>
          <p:cNvSpPr txBox="1"/>
          <p:nvPr/>
        </p:nvSpPr>
        <p:spPr>
          <a:xfrm>
            <a:off x="609600" y="1695450"/>
            <a:ext cx="1371600" cy="438150"/>
          </a:xfrm>
          <a:prstGeom prst="rect">
            <a:avLst/>
          </a:prstGeom>
          <a:noFill/>
          <a:ln/>
        </p:spPr>
        <p:txBody>
          <a:bodyPr wrap="square" lIns="0" tIns="0" rIns="0" bIns="0" rtlCol="0" anchor="t"/>
          <a:lstStyle/>
          <a:p>
            <a:pPr marL="0" indent="0">
              <a:buNone/>
            </a:pPr>
            <a:r>
              <a:rPr lang="en-US" sz="3000" b="1" dirty="0">
                <a:solidFill>
                  <a:srgbClr val="D3AE84"/>
                </a:solidFill>
                <a:latin typeface="+mj-lt" pitchFamily="34" charset="0"/>
              </a:rPr>
              <a:t>85</a:t>
            </a:r>
            <a:endParaRPr lang="en-US" sz="3000" dirty="0"/>
          </a:p>
        </p:txBody>
      </p:sp>
      <p:sp>
        <p:nvSpPr>
          <p:cNvPr id="8" name="Text 6"/>
          <p:cNvSpPr txBox="1"/>
          <p:nvPr/>
        </p:nvSpPr>
        <p:spPr>
          <a:xfrm>
            <a:off x="609600" y="2152650"/>
            <a:ext cx="1371600" cy="609600"/>
          </a:xfrm>
          <a:prstGeom prst="rect">
            <a:avLst/>
          </a:prstGeom>
          <a:noFill/>
          <a:ln/>
        </p:spPr>
        <p:txBody>
          <a:bodyPr wrap="square" lIns="0" tIns="0" rIns="0" bIns="0" rtlCol="0" anchor="t"/>
          <a:lstStyle/>
          <a:p>
            <a:pPr marL="0" indent="0">
              <a:lnSpc>
                <a:spcPts val="1163"/>
              </a:lnSpc>
              <a:buNone/>
            </a:pPr>
            <a:r>
              <a:rPr lang="en-US" sz="795" dirty="0">
                <a:solidFill>
                  <a:srgbClr val="E8E2DA"/>
                </a:solidFill>
              </a:rPr>
              <a:t>industrial transactions closed in the five segments</a:t>
            </a:r>
            <a:endParaRPr lang="en-US" sz="795" dirty="0"/>
          </a:p>
        </p:txBody>
      </p:sp>
      <p:sp>
        <p:nvSpPr>
          <p:cNvPr id="9" name="Shape 7"/>
          <p:cNvSpPr/>
          <p:nvPr/>
        </p:nvSpPr>
        <p:spPr>
          <a:xfrm>
            <a:off x="609600" y="2838450"/>
            <a:ext cx="1371600" cy="0"/>
          </a:xfrm>
          <a:prstGeom prst="line">
            <a:avLst/>
          </a:prstGeom>
          <a:noFill/>
          <a:ln w="9525">
            <a:solidFill>
              <a:srgbClr val="5B4E40"/>
            </a:solidFill>
            <a:prstDash val="solid"/>
          </a:ln>
        </p:spPr>
        <p:txBody>
          <a:bodyPr/>
          <a:lstStyle/>
          <a:p>
            <a:endParaRPr lang="en-US"/>
          </a:p>
        </p:txBody>
      </p:sp>
      <p:sp>
        <p:nvSpPr>
          <p:cNvPr id="10" name="Text 8"/>
          <p:cNvSpPr txBox="1"/>
          <p:nvPr/>
        </p:nvSpPr>
        <p:spPr>
          <a:xfrm>
            <a:off x="609600" y="2952750"/>
            <a:ext cx="1371600" cy="438150"/>
          </a:xfrm>
          <a:prstGeom prst="rect">
            <a:avLst/>
          </a:prstGeom>
          <a:noFill/>
          <a:ln/>
        </p:spPr>
        <p:txBody>
          <a:bodyPr wrap="square" lIns="0" tIns="0" rIns="0" bIns="0" rtlCol="0" anchor="t"/>
          <a:lstStyle/>
          <a:p>
            <a:pPr marL="0" indent="0">
              <a:buNone/>
            </a:pPr>
            <a:r>
              <a:rPr lang="en-US" sz="3000" b="1" dirty="0">
                <a:solidFill>
                  <a:srgbClr val="D3AE84"/>
                </a:solidFill>
                <a:latin typeface="+mj-lt" pitchFamily="34" charset="0"/>
              </a:rPr>
              <a:t>212</a:t>
            </a:r>
            <a:endParaRPr lang="en-US" sz="3000" dirty="0"/>
          </a:p>
        </p:txBody>
      </p:sp>
      <p:sp>
        <p:nvSpPr>
          <p:cNvPr id="11" name="Text 9"/>
          <p:cNvSpPr txBox="1"/>
          <p:nvPr/>
        </p:nvSpPr>
        <p:spPr>
          <a:xfrm>
            <a:off x="609600" y="3409950"/>
            <a:ext cx="1371600" cy="609600"/>
          </a:xfrm>
          <a:prstGeom prst="rect">
            <a:avLst/>
          </a:prstGeom>
          <a:noFill/>
          <a:ln/>
        </p:spPr>
        <p:txBody>
          <a:bodyPr wrap="square" lIns="0" tIns="0" rIns="0" bIns="0" rtlCol="0" anchor="t"/>
          <a:lstStyle/>
          <a:p>
            <a:pPr marL="0" indent="0">
              <a:lnSpc>
                <a:spcPts val="1163"/>
              </a:lnSpc>
              <a:buNone/>
            </a:pPr>
            <a:r>
              <a:rPr lang="en-US" sz="795" dirty="0">
                <a:solidFill>
                  <a:srgbClr val="E8E2DA"/>
                </a:solidFill>
              </a:rPr>
              <a:t>industrial engagements in progress as of October 1, 2026</a:t>
            </a:r>
            <a:endParaRPr lang="en-US" sz="795" dirty="0"/>
          </a:p>
        </p:txBody>
      </p:sp>
      <p:sp>
        <p:nvSpPr>
          <p:cNvPr id="12" name="Shape 10"/>
          <p:cNvSpPr/>
          <p:nvPr/>
        </p:nvSpPr>
        <p:spPr>
          <a:xfrm>
            <a:off x="609600" y="4095750"/>
            <a:ext cx="1371600" cy="0"/>
          </a:xfrm>
          <a:prstGeom prst="line">
            <a:avLst/>
          </a:prstGeom>
          <a:noFill/>
          <a:ln w="9525">
            <a:solidFill>
              <a:srgbClr val="5B4E40"/>
            </a:solidFill>
            <a:prstDash val="solid"/>
          </a:ln>
        </p:spPr>
        <p:txBody>
          <a:bodyPr/>
          <a:lstStyle/>
          <a:p>
            <a:endParaRPr lang="en-US"/>
          </a:p>
        </p:txBody>
      </p:sp>
      <p:sp>
        <p:nvSpPr>
          <p:cNvPr id="13" name="Text 11"/>
          <p:cNvSpPr txBox="1"/>
          <p:nvPr/>
        </p:nvSpPr>
        <p:spPr>
          <a:xfrm>
            <a:off x="609600" y="4210050"/>
            <a:ext cx="1371600" cy="438150"/>
          </a:xfrm>
          <a:prstGeom prst="rect">
            <a:avLst/>
          </a:prstGeom>
          <a:noFill/>
          <a:ln/>
        </p:spPr>
        <p:txBody>
          <a:bodyPr wrap="square" lIns="0" tIns="0" rIns="0" bIns="0" rtlCol="0" anchor="t"/>
          <a:lstStyle/>
          <a:p>
            <a:pPr marL="0" indent="0">
              <a:buNone/>
            </a:pPr>
            <a:r>
              <a:rPr lang="en-US" sz="3000" b="1" dirty="0">
                <a:solidFill>
                  <a:srgbClr val="D3AE84"/>
                </a:solidFill>
                <a:latin typeface="+mj-lt" pitchFamily="34" charset="0"/>
              </a:rPr>
              <a:t>56%</a:t>
            </a:r>
            <a:endParaRPr lang="en-US" sz="3000" dirty="0"/>
          </a:p>
        </p:txBody>
      </p:sp>
      <p:sp>
        <p:nvSpPr>
          <p:cNvPr id="14" name="Text 12"/>
          <p:cNvSpPr txBox="1"/>
          <p:nvPr/>
        </p:nvSpPr>
        <p:spPr>
          <a:xfrm>
            <a:off x="609600" y="4667250"/>
            <a:ext cx="1371600" cy="609600"/>
          </a:xfrm>
          <a:prstGeom prst="rect">
            <a:avLst/>
          </a:prstGeom>
          <a:noFill/>
          <a:ln/>
        </p:spPr>
        <p:txBody>
          <a:bodyPr wrap="square" lIns="0" tIns="0" rIns="0" bIns="0" rtlCol="0" anchor="t"/>
          <a:lstStyle/>
          <a:p>
            <a:pPr marL="0" indent="0">
              <a:lnSpc>
                <a:spcPts val="1163"/>
              </a:lnSpc>
              <a:buNone/>
            </a:pPr>
            <a:r>
              <a:rPr lang="en-US" sz="795" dirty="0">
                <a:solidFill>
                  <a:srgbClr val="E8E2DA"/>
                </a:solidFill>
              </a:rPr>
              <a:t>of the 71 companies with a classified buyer were bought by a strategic acquirer</a:t>
            </a:r>
            <a:endParaRPr lang="en-US" sz="795" dirty="0"/>
          </a:p>
        </p:txBody>
      </p:sp>
      <p:sp>
        <p:nvSpPr>
          <p:cNvPr id="15" name="Shape 13"/>
          <p:cNvSpPr/>
          <p:nvPr/>
        </p:nvSpPr>
        <p:spPr>
          <a:xfrm>
            <a:off x="609600" y="5848350"/>
            <a:ext cx="1371600" cy="0"/>
          </a:xfrm>
          <a:prstGeom prst="line">
            <a:avLst/>
          </a:prstGeom>
          <a:noFill/>
          <a:ln w="9525">
            <a:solidFill>
              <a:srgbClr val="5B4E40"/>
            </a:solidFill>
            <a:prstDash val="solid"/>
          </a:ln>
        </p:spPr>
        <p:txBody>
          <a:bodyPr/>
          <a:lstStyle/>
          <a:p>
            <a:endParaRPr lang="en-US"/>
          </a:p>
        </p:txBody>
      </p:sp>
      <p:sp>
        <p:nvSpPr>
          <p:cNvPr id="16" name="Text 14"/>
          <p:cNvSpPr txBox="1"/>
          <p:nvPr/>
        </p:nvSpPr>
        <p:spPr>
          <a:xfrm>
            <a:off x="609600" y="5943600"/>
            <a:ext cx="1371600" cy="914400"/>
          </a:xfrm>
          <a:prstGeom prst="rect">
            <a:avLst/>
          </a:prstGeom>
          <a:noFill/>
          <a:ln/>
        </p:spPr>
        <p:txBody>
          <a:bodyPr wrap="square" lIns="0" tIns="0" rIns="0" bIns="0" rtlCol="0" anchor="t"/>
          <a:lstStyle/>
          <a:p>
            <a:pPr marL="0" indent="0">
              <a:lnSpc>
                <a:spcPts val="1050"/>
              </a:lnSpc>
              <a:buNone/>
            </a:pPr>
            <a:r>
              <a:rPr lang="en-US" sz="720" dirty="0">
                <a:solidFill>
                  <a:srgbClr val="E8E2DA"/>
                </a:solidFill>
              </a:rPr>
              <a:t>Ranked the leading privately owned sell-side M&amp;A advisor in the world in PitchBook’s Q2 2026 Global League Tables (</a:t>
            </a:r>
            <a:r>
              <a:rPr lang="en-US" sz="720" u="sng" dirty="0">
                <a:solidFill>
                  <a:srgbClr val="D3AE84"/>
                </a:solidFill>
                <a:hlinkClick r:id="rId3" tooltip="https://www.benchmarkintl.com/">
                  <a:extLst>
                    <a:ext uri="{A12FA001-AC4F-418D-AE19-62706E023703}">
                      <ahyp:hlinkClr xmlns:ahyp="http://schemas.microsoft.com/office/drawing/2018/hyperlinkcolor" val="tx"/>
                    </a:ext>
                  </a:extLst>
                </a:hlinkClick>
              </a:rPr>
              <a:t>Benchmark International</a:t>
            </a:r>
            <a:r>
              <a:rPr lang="en-US" sz="720" dirty="0">
                <a:solidFill>
                  <a:srgbClr val="E8E2DA"/>
                </a:solidFill>
              </a:rPr>
              <a:t>).</a:t>
            </a:r>
            <a:endParaRPr lang="en-US" sz="720" dirty="0"/>
          </a:p>
        </p:txBody>
      </p:sp>
      <p:sp>
        <p:nvSpPr>
          <p:cNvPr id="17" name="Text 15"/>
          <p:cNvSpPr txBox="1"/>
          <p:nvPr/>
        </p:nvSpPr>
        <p:spPr>
          <a:xfrm>
            <a:off x="2324100" y="1238250"/>
            <a:ext cx="2476500" cy="133350"/>
          </a:xfrm>
          <a:prstGeom prst="rect">
            <a:avLst/>
          </a:prstGeom>
          <a:noFill/>
          <a:ln/>
        </p:spPr>
        <p:txBody>
          <a:bodyPr wrap="square" lIns="0" tIns="0" rIns="0" bIns="0" rtlCol="0" anchor="t"/>
          <a:lstStyle/>
          <a:p>
            <a:pPr marL="0" indent="0">
              <a:buNone/>
            </a:pPr>
            <a:r>
              <a:rPr lang="en-US" sz="675" b="1" kern="0" spc="200" dirty="0">
                <a:solidFill>
                  <a:srgbClr val="8C6239"/>
                </a:solidFill>
              </a:rPr>
              <a:t>BY SEGMENT</a:t>
            </a:r>
            <a:endParaRPr lang="en-US" sz="675" dirty="0"/>
          </a:p>
        </p:txBody>
      </p:sp>
      <p:graphicFrame>
        <p:nvGraphicFramePr>
          <p:cNvPr id="18" name="Closed and in progress by segment"/>
          <p:cNvGraphicFramePr/>
          <p:nvPr/>
        </p:nvGraphicFramePr>
        <p:xfrm>
          <a:off x="2266950" y="1390650"/>
          <a:ext cx="2571750" cy="3676650"/>
        </p:xfrm>
        <a:graphic>
          <a:graphicData uri="http://schemas.openxmlformats.org/drawingml/2006/chart">
            <c:chart xmlns:c="http://schemas.openxmlformats.org/drawingml/2006/chart" xmlns:r="http://schemas.openxmlformats.org/officeDocument/2006/relationships" r:id="rId4"/>
          </a:graphicData>
        </a:graphic>
      </p:graphicFrame>
      <p:sp>
        <p:nvSpPr>
          <p:cNvPr id="19" name="Shape 16"/>
          <p:cNvSpPr/>
          <p:nvPr/>
        </p:nvSpPr>
        <p:spPr>
          <a:xfrm>
            <a:off x="2324100" y="5200650"/>
            <a:ext cx="2476500" cy="0"/>
          </a:xfrm>
          <a:prstGeom prst="line">
            <a:avLst/>
          </a:prstGeom>
          <a:noFill/>
          <a:ln w="19050">
            <a:solidFill>
              <a:srgbClr val="B68757"/>
            </a:solidFill>
            <a:prstDash val="solid"/>
          </a:ln>
        </p:spPr>
        <p:txBody>
          <a:bodyPr/>
          <a:lstStyle/>
          <a:p>
            <a:endParaRPr lang="en-US"/>
          </a:p>
        </p:txBody>
      </p:sp>
      <p:sp>
        <p:nvSpPr>
          <p:cNvPr id="20" name="Text 17"/>
          <p:cNvSpPr txBox="1"/>
          <p:nvPr/>
        </p:nvSpPr>
        <p:spPr>
          <a:xfrm>
            <a:off x="2324100" y="5295900"/>
            <a:ext cx="2476500" cy="133350"/>
          </a:xfrm>
          <a:prstGeom prst="rect">
            <a:avLst/>
          </a:prstGeom>
          <a:noFill/>
          <a:ln/>
        </p:spPr>
        <p:txBody>
          <a:bodyPr wrap="square" lIns="0" tIns="0" rIns="0" bIns="0" rtlCol="0" anchor="t"/>
          <a:lstStyle/>
          <a:p>
            <a:pPr marL="0" indent="0">
              <a:buNone/>
            </a:pPr>
            <a:r>
              <a:rPr lang="en-US" sz="675" b="1" kern="0" spc="200" dirty="0">
                <a:solidFill>
                  <a:srgbClr val="8C6239"/>
                </a:solidFill>
              </a:rPr>
              <a:t>WHO BOUGHT</a:t>
            </a:r>
            <a:endParaRPr lang="en-US" sz="675"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2324100" y="5486400"/>
          <a:ext cx="2476500" cy="1371600"/>
        </p:xfrm>
        <a:graphic>
          <a:graphicData uri="http://schemas.openxmlformats.org/drawingml/2006/table">
            <a:tbl>
              <a:tblPr/>
              <a:tblGrid>
                <a:gridCol w="161925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476250">
                  <a:extLst>
                    <a:ext uri="{9D8B030D-6E8A-4147-A177-3AD203B41FA5}">
                      <a16:colId xmlns:a16="http://schemas.microsoft.com/office/drawing/2014/main" val="20002"/>
                    </a:ext>
                  </a:extLst>
                </a:gridCol>
              </a:tblGrid>
              <a:tr h="342900">
                <a:tc>
                  <a:txBody>
                    <a:bodyPr/>
                    <a:lstStyle/>
                    <a:p>
                      <a:pPr marL="0" indent="0">
                        <a:buNone/>
                      </a:pPr>
                      <a:r>
                        <a:rPr lang="en-US" sz="720" dirty="0">
                          <a:solidFill>
                            <a:srgbClr val="333231"/>
                          </a:solidFill>
                        </a:rPr>
                        <a:t>Strategic acquirer</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tc>
                  <a:txBody>
                    <a:bodyPr/>
                    <a:lstStyle/>
                    <a:p>
                      <a:pPr marL="0" indent="0" algn="r">
                        <a:buNone/>
                      </a:pPr>
                      <a:r>
                        <a:rPr lang="en-US" sz="720" b="1" dirty="0">
                          <a:solidFill>
                            <a:srgbClr val="1B1A1A"/>
                          </a:solidFill>
                        </a:rPr>
                        <a:t>40</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tc>
                  <a:txBody>
                    <a:bodyPr/>
                    <a:lstStyle/>
                    <a:p>
                      <a:pPr marL="0" indent="0" algn="r">
                        <a:buNone/>
                      </a:pPr>
                      <a:r>
                        <a:rPr lang="en-US" sz="720" dirty="0">
                          <a:solidFill>
                            <a:srgbClr val="6F6A66"/>
                          </a:solidFill>
                        </a:rPr>
                        <a:t>56%</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extLst>
                  <a:ext uri="{0D108BD9-81ED-4DB2-BD59-A6C34878D82A}">
                    <a16:rowId xmlns:a16="http://schemas.microsoft.com/office/drawing/2014/main" val="10000"/>
                  </a:ext>
                </a:extLst>
              </a:tr>
              <a:tr h="342900">
                <a:tc>
                  <a:txBody>
                    <a:bodyPr/>
                    <a:lstStyle/>
                    <a:p>
                      <a:pPr marL="0" indent="0">
                        <a:buNone/>
                      </a:pPr>
                      <a:r>
                        <a:rPr lang="en-US" sz="720" dirty="0">
                          <a:solidFill>
                            <a:srgbClr val="333231"/>
                          </a:solidFill>
                        </a:rPr>
                        <a:t>Sponsor-owned platform</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tc>
                  <a:txBody>
                    <a:bodyPr/>
                    <a:lstStyle/>
                    <a:p>
                      <a:pPr marL="0" indent="0" algn="r">
                        <a:buNone/>
                      </a:pPr>
                      <a:r>
                        <a:rPr lang="en-US" sz="720" b="1" dirty="0">
                          <a:solidFill>
                            <a:srgbClr val="1B1A1A"/>
                          </a:solidFill>
                        </a:rPr>
                        <a:t>13</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tc>
                  <a:txBody>
                    <a:bodyPr/>
                    <a:lstStyle/>
                    <a:p>
                      <a:pPr marL="0" indent="0" algn="r">
                        <a:buNone/>
                      </a:pPr>
                      <a:r>
                        <a:rPr lang="en-US" sz="720" dirty="0">
                          <a:solidFill>
                            <a:srgbClr val="6F6A66"/>
                          </a:solidFill>
                        </a:rPr>
                        <a:t>18%</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marL="0" indent="0">
                        <a:buNone/>
                      </a:pPr>
                      <a:r>
                        <a:rPr lang="en-US" sz="720" dirty="0">
                          <a:solidFill>
                            <a:srgbClr val="333231"/>
                          </a:solidFill>
                        </a:rPr>
                        <a:t>Financial sponsor</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tc>
                  <a:txBody>
                    <a:bodyPr/>
                    <a:lstStyle/>
                    <a:p>
                      <a:pPr marL="0" indent="0" algn="r">
                        <a:buNone/>
                      </a:pPr>
                      <a:r>
                        <a:rPr lang="en-US" sz="720" b="1" dirty="0">
                          <a:solidFill>
                            <a:srgbClr val="1B1A1A"/>
                          </a:solidFill>
                        </a:rPr>
                        <a:t>10</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tc>
                  <a:txBody>
                    <a:bodyPr/>
                    <a:lstStyle/>
                    <a:p>
                      <a:pPr marL="0" indent="0" algn="r">
                        <a:buNone/>
                      </a:pPr>
                      <a:r>
                        <a:rPr lang="en-US" sz="720" dirty="0">
                          <a:solidFill>
                            <a:srgbClr val="6F6A66"/>
                          </a:solidFill>
                        </a:rPr>
                        <a:t>14%</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marL="0" indent="0">
                        <a:buNone/>
                      </a:pPr>
                      <a:r>
                        <a:rPr lang="en-US" sz="720" dirty="0">
                          <a:solidFill>
                            <a:srgbClr val="333231"/>
                          </a:solidFill>
                        </a:rPr>
                        <a:t>Individual investor</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tc>
                  <a:txBody>
                    <a:bodyPr/>
                    <a:lstStyle/>
                    <a:p>
                      <a:pPr marL="0" indent="0" algn="r">
                        <a:buNone/>
                      </a:pPr>
                      <a:r>
                        <a:rPr lang="en-US" sz="720" b="1" dirty="0">
                          <a:solidFill>
                            <a:srgbClr val="1B1A1A"/>
                          </a:solidFill>
                        </a:rPr>
                        <a:t>8</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tc>
                  <a:txBody>
                    <a:bodyPr/>
                    <a:lstStyle/>
                    <a:p>
                      <a:pPr marL="0" indent="0" algn="r">
                        <a:buNone/>
                      </a:pPr>
                      <a:r>
                        <a:rPr lang="en-US" sz="720" dirty="0">
                          <a:solidFill>
                            <a:srgbClr val="6F6A66"/>
                          </a:solidFill>
                        </a:rPr>
                        <a:t>11%</a:t>
                      </a:r>
                      <a:endParaRPr lang="en-US" sz="720" dirty="0"/>
                    </a:p>
                  </a:txBody>
                  <a:tcPr marL="50800" marR="50800" marT="25400" marB="25400" anchor="ctr">
                    <a:lnL w="6350" cap="flat" cmpd="sng" algn="ctr">
                      <a:solidFill>
                        <a:srgbClr val="E3DCD3"/>
                      </a:solidFill>
                      <a:prstDash val="solid"/>
                      <a:round/>
                      <a:headEnd type="none" w="med" len="med"/>
                      <a:tailEnd type="none" w="med" len="med"/>
                    </a:lnL>
                    <a:lnR w="6350" cap="flat" cmpd="sng" algn="ctr">
                      <a:solidFill>
                        <a:srgbClr val="E3DCD3"/>
                      </a:solidFill>
                      <a:prstDash val="solid"/>
                      <a:round/>
                      <a:headEnd type="none" w="med" len="med"/>
                      <a:tailEnd type="none" w="med" len="med"/>
                    </a:lnR>
                    <a:lnT w="6350" cap="flat" cmpd="sng" algn="ctr">
                      <a:solidFill>
                        <a:srgbClr val="E3DCD3"/>
                      </a:solidFill>
                      <a:prstDash val="solid"/>
                      <a:round/>
                      <a:headEnd type="none" w="med" len="med"/>
                      <a:tailEnd type="none" w="med" len="med"/>
                    </a:lnT>
                    <a:lnB w="6350" cap="flat" cmpd="sng" algn="ctr">
                      <a:solidFill>
                        <a:srgbClr val="E3DCD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2" name="Text 18"/>
          <p:cNvSpPr txBox="1"/>
          <p:nvPr/>
        </p:nvSpPr>
        <p:spPr>
          <a:xfrm>
            <a:off x="4953000" y="1238250"/>
            <a:ext cx="4686300" cy="133350"/>
          </a:xfrm>
          <a:prstGeom prst="rect">
            <a:avLst/>
          </a:prstGeom>
          <a:noFill/>
          <a:ln/>
        </p:spPr>
        <p:txBody>
          <a:bodyPr wrap="square" lIns="0" tIns="0" rIns="0" bIns="0" rtlCol="0" anchor="t"/>
          <a:lstStyle/>
          <a:p>
            <a:pPr marL="0" indent="0">
              <a:buNone/>
            </a:pPr>
            <a:r>
              <a:rPr lang="en-US" sz="675" b="1" kern="0" spc="200" dirty="0">
                <a:solidFill>
                  <a:srgbClr val="8C6239"/>
                </a:solidFill>
              </a:rPr>
              <a:t>SELECTED ANNOUNCED ENGAGEMENTS</a:t>
            </a:r>
            <a:endParaRPr lang="en-US" sz="675" dirty="0"/>
          </a:p>
        </p:txBody>
      </p:sp>
      <p:sp>
        <p:nvSpPr>
          <p:cNvPr id="23" name="FPS Technologies, Inc. tile"/>
          <p:cNvSpPr/>
          <p:nvPr/>
        </p:nvSpPr>
        <p:spPr>
          <a:xfrm>
            <a:off x="4953000" y="1447800"/>
            <a:ext cx="1504950" cy="1307306"/>
          </a:xfrm>
          <a:prstGeom prst="rect">
            <a:avLst/>
          </a:prstGeom>
          <a:solidFill>
            <a:srgbClr val="FFFFFF"/>
          </a:solidFill>
          <a:ln w="9525">
            <a:solidFill>
              <a:srgbClr val="E3DCD3"/>
            </a:solidFill>
            <a:prstDash val="solid"/>
          </a:ln>
        </p:spPr>
        <p:txBody>
          <a:bodyPr/>
          <a:lstStyle/>
          <a:p>
            <a:endParaRPr lang="en-US"/>
          </a:p>
        </p:txBody>
      </p:sp>
      <p:sp>
        <p:nvSpPr>
          <p:cNvPr id="24" name="Shape 20"/>
          <p:cNvSpPr/>
          <p:nvPr/>
        </p:nvSpPr>
        <p:spPr>
          <a:xfrm>
            <a:off x="4953000" y="1447800"/>
            <a:ext cx="1504950" cy="28575"/>
          </a:xfrm>
          <a:prstGeom prst="rect">
            <a:avLst/>
          </a:prstGeom>
          <a:solidFill>
            <a:srgbClr val="B68757"/>
          </a:solidFill>
          <a:ln/>
        </p:spPr>
        <p:txBody>
          <a:bodyPr/>
          <a:lstStyle/>
          <a:p>
            <a:endParaRPr lang="en-US"/>
          </a:p>
        </p:txBody>
      </p:sp>
      <p:sp>
        <p:nvSpPr>
          <p:cNvPr id="25" name="Text 21"/>
          <p:cNvSpPr txBox="1"/>
          <p:nvPr/>
        </p:nvSpPr>
        <p:spPr>
          <a:xfrm>
            <a:off x="5029200" y="1524000"/>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5" tooltip="Announcement on benchmarkintl.com">
                  <a:extLst>
                    <a:ext uri="{A12FA001-AC4F-418D-AE19-62706E023703}">
                      <ahyp:hlinkClr xmlns:ahyp="http://schemas.microsoft.com/office/drawing/2018/hyperlinkcolor" val="tx"/>
                    </a:ext>
                  </a:extLst>
                </a:hlinkClick>
              </a:rPr>
              <a:t>FPS Technologies, Inc.</a:t>
            </a:r>
            <a:endParaRPr lang="en-US" sz="750" dirty="0"/>
          </a:p>
        </p:txBody>
      </p:sp>
      <p:sp>
        <p:nvSpPr>
          <p:cNvPr id="26" name="Text 22"/>
          <p:cNvSpPr txBox="1"/>
          <p:nvPr/>
        </p:nvSpPr>
        <p:spPr>
          <a:xfrm>
            <a:off x="5029200" y="1800225"/>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27" name="Shape 23"/>
          <p:cNvSpPr/>
          <p:nvPr/>
        </p:nvSpPr>
        <p:spPr>
          <a:xfrm>
            <a:off x="5029200" y="1933575"/>
            <a:ext cx="1352550" cy="266700"/>
          </a:xfrm>
          <a:prstGeom prst="rect">
            <a:avLst/>
          </a:prstGeom>
          <a:solidFill>
            <a:srgbClr val="FAF7F3"/>
          </a:solidFill>
          <a:ln/>
        </p:spPr>
        <p:txBody>
          <a:bodyPr/>
          <a:lstStyle/>
          <a:p>
            <a:endParaRPr lang="en-US"/>
          </a:p>
        </p:txBody>
      </p:sp>
      <p:sp>
        <p:nvSpPr>
          <p:cNvPr id="28" name="Text 24"/>
          <p:cNvSpPr txBox="1"/>
          <p:nvPr/>
        </p:nvSpPr>
        <p:spPr>
          <a:xfrm>
            <a:off x="5048250" y="1933575"/>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CINTAS CORPORATION</a:t>
            </a:r>
            <a:endParaRPr lang="en-US" sz="675" dirty="0"/>
          </a:p>
        </p:txBody>
      </p:sp>
      <p:sp>
        <p:nvSpPr>
          <p:cNvPr id="29" name="Text 25"/>
          <p:cNvSpPr txBox="1"/>
          <p:nvPr/>
        </p:nvSpPr>
        <p:spPr>
          <a:xfrm>
            <a:off x="5029200" y="2247900"/>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Fire suppression and detection systems</a:t>
            </a:r>
            <a:endParaRPr lang="en-US" sz="690" dirty="0"/>
          </a:p>
        </p:txBody>
      </p:sp>
      <p:sp>
        <p:nvSpPr>
          <p:cNvPr id="30" name="Text 26"/>
          <p:cNvSpPr txBox="1"/>
          <p:nvPr/>
        </p:nvSpPr>
        <p:spPr>
          <a:xfrm>
            <a:off x="5029200" y="2602706"/>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DISTRIBUTION &amp; SERVICES</a:t>
            </a:r>
            <a:endParaRPr lang="en-US" sz="540" dirty="0"/>
          </a:p>
        </p:txBody>
      </p:sp>
      <p:sp>
        <p:nvSpPr>
          <p:cNvPr id="31" name="MaxVac Inc. tile"/>
          <p:cNvSpPr/>
          <p:nvPr/>
        </p:nvSpPr>
        <p:spPr>
          <a:xfrm>
            <a:off x="6543675" y="1447800"/>
            <a:ext cx="1504950" cy="1307306"/>
          </a:xfrm>
          <a:prstGeom prst="rect">
            <a:avLst/>
          </a:prstGeom>
          <a:solidFill>
            <a:srgbClr val="FFFFFF"/>
          </a:solidFill>
          <a:ln w="9525">
            <a:solidFill>
              <a:srgbClr val="E3DCD3"/>
            </a:solidFill>
            <a:prstDash val="solid"/>
          </a:ln>
        </p:spPr>
        <p:txBody>
          <a:bodyPr/>
          <a:lstStyle/>
          <a:p>
            <a:endParaRPr lang="en-US"/>
          </a:p>
        </p:txBody>
      </p:sp>
      <p:sp>
        <p:nvSpPr>
          <p:cNvPr id="32" name="Shape 28"/>
          <p:cNvSpPr/>
          <p:nvPr/>
        </p:nvSpPr>
        <p:spPr>
          <a:xfrm>
            <a:off x="6543675" y="1447800"/>
            <a:ext cx="1504950" cy="28575"/>
          </a:xfrm>
          <a:prstGeom prst="rect">
            <a:avLst/>
          </a:prstGeom>
          <a:solidFill>
            <a:srgbClr val="B68757"/>
          </a:solidFill>
          <a:ln/>
        </p:spPr>
        <p:txBody>
          <a:bodyPr/>
          <a:lstStyle/>
          <a:p>
            <a:endParaRPr lang="en-US"/>
          </a:p>
        </p:txBody>
      </p:sp>
      <p:sp>
        <p:nvSpPr>
          <p:cNvPr id="33" name="Text 29"/>
          <p:cNvSpPr txBox="1"/>
          <p:nvPr/>
        </p:nvSpPr>
        <p:spPr>
          <a:xfrm>
            <a:off x="6619875" y="1524000"/>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6" tooltip="Announcement on benchmarkintl.com">
                  <a:extLst>
                    <a:ext uri="{A12FA001-AC4F-418D-AE19-62706E023703}">
                      <ahyp:hlinkClr xmlns:ahyp="http://schemas.microsoft.com/office/drawing/2018/hyperlinkcolor" val="tx"/>
                    </a:ext>
                  </a:extLst>
                </a:hlinkClick>
              </a:rPr>
              <a:t>MaxVac Inc.</a:t>
            </a:r>
            <a:endParaRPr lang="en-US" sz="750" dirty="0"/>
          </a:p>
        </p:txBody>
      </p:sp>
      <p:sp>
        <p:nvSpPr>
          <p:cNvPr id="34" name="Text 30"/>
          <p:cNvSpPr txBox="1"/>
          <p:nvPr/>
        </p:nvSpPr>
        <p:spPr>
          <a:xfrm>
            <a:off x="6619875" y="1800225"/>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35" name="Shape 31"/>
          <p:cNvSpPr/>
          <p:nvPr/>
        </p:nvSpPr>
        <p:spPr>
          <a:xfrm>
            <a:off x="6619875" y="1933575"/>
            <a:ext cx="1352550" cy="266700"/>
          </a:xfrm>
          <a:prstGeom prst="rect">
            <a:avLst/>
          </a:prstGeom>
          <a:solidFill>
            <a:srgbClr val="FAF7F3"/>
          </a:solidFill>
          <a:ln/>
        </p:spPr>
        <p:txBody>
          <a:bodyPr/>
          <a:lstStyle/>
          <a:p>
            <a:endParaRPr lang="en-US"/>
          </a:p>
        </p:txBody>
      </p:sp>
      <p:sp>
        <p:nvSpPr>
          <p:cNvPr id="36" name="Text 32"/>
          <p:cNvSpPr txBox="1"/>
          <p:nvPr/>
        </p:nvSpPr>
        <p:spPr>
          <a:xfrm>
            <a:off x="6638925" y="1933575"/>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DXP ENTERPRISES, INC.</a:t>
            </a:r>
            <a:endParaRPr lang="en-US" sz="675" dirty="0"/>
          </a:p>
        </p:txBody>
      </p:sp>
      <p:sp>
        <p:nvSpPr>
          <p:cNvPr id="37" name="Text 33"/>
          <p:cNvSpPr txBox="1"/>
          <p:nvPr/>
        </p:nvSpPr>
        <p:spPr>
          <a:xfrm>
            <a:off x="6619875" y="2247900"/>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Sales, repair and maintenance of industrial vacuum pumps</a:t>
            </a:r>
            <a:endParaRPr lang="en-US" sz="690" dirty="0"/>
          </a:p>
        </p:txBody>
      </p:sp>
      <p:sp>
        <p:nvSpPr>
          <p:cNvPr id="38" name="Text 34"/>
          <p:cNvSpPr txBox="1"/>
          <p:nvPr/>
        </p:nvSpPr>
        <p:spPr>
          <a:xfrm>
            <a:off x="6619875" y="2602706"/>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MANUFACTURING</a:t>
            </a:r>
            <a:endParaRPr lang="en-US" sz="540" dirty="0"/>
          </a:p>
        </p:txBody>
      </p:sp>
      <p:sp>
        <p:nvSpPr>
          <p:cNvPr id="39" name="Trinity Industrial Services, LLC tile"/>
          <p:cNvSpPr/>
          <p:nvPr/>
        </p:nvSpPr>
        <p:spPr>
          <a:xfrm>
            <a:off x="8134350" y="1447800"/>
            <a:ext cx="1504950" cy="1307306"/>
          </a:xfrm>
          <a:prstGeom prst="rect">
            <a:avLst/>
          </a:prstGeom>
          <a:solidFill>
            <a:srgbClr val="FFFFFF"/>
          </a:solidFill>
          <a:ln w="9525">
            <a:solidFill>
              <a:srgbClr val="E3DCD3"/>
            </a:solidFill>
            <a:prstDash val="solid"/>
          </a:ln>
        </p:spPr>
        <p:txBody>
          <a:bodyPr/>
          <a:lstStyle/>
          <a:p>
            <a:endParaRPr lang="en-US"/>
          </a:p>
        </p:txBody>
      </p:sp>
      <p:sp>
        <p:nvSpPr>
          <p:cNvPr id="40" name="Shape 36"/>
          <p:cNvSpPr/>
          <p:nvPr/>
        </p:nvSpPr>
        <p:spPr>
          <a:xfrm>
            <a:off x="8134350" y="1447800"/>
            <a:ext cx="1504950" cy="28575"/>
          </a:xfrm>
          <a:prstGeom prst="rect">
            <a:avLst/>
          </a:prstGeom>
          <a:solidFill>
            <a:srgbClr val="B68757"/>
          </a:solidFill>
          <a:ln/>
        </p:spPr>
        <p:txBody>
          <a:bodyPr/>
          <a:lstStyle/>
          <a:p>
            <a:endParaRPr lang="en-US"/>
          </a:p>
        </p:txBody>
      </p:sp>
      <p:sp>
        <p:nvSpPr>
          <p:cNvPr id="41" name="Text 37"/>
          <p:cNvSpPr txBox="1"/>
          <p:nvPr/>
        </p:nvSpPr>
        <p:spPr>
          <a:xfrm>
            <a:off x="8210550" y="1524000"/>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7" tooltip="Announcement on benchmarkintl.com">
                  <a:extLst>
                    <a:ext uri="{A12FA001-AC4F-418D-AE19-62706E023703}">
                      <ahyp:hlinkClr xmlns:ahyp="http://schemas.microsoft.com/office/drawing/2018/hyperlinkcolor" val="tx"/>
                    </a:ext>
                  </a:extLst>
                </a:hlinkClick>
              </a:rPr>
              <a:t>Trinity Industrial Services, LLC</a:t>
            </a:r>
            <a:endParaRPr lang="en-US" sz="750" dirty="0"/>
          </a:p>
        </p:txBody>
      </p:sp>
      <p:sp>
        <p:nvSpPr>
          <p:cNvPr id="42" name="Text 38"/>
          <p:cNvSpPr txBox="1"/>
          <p:nvPr/>
        </p:nvSpPr>
        <p:spPr>
          <a:xfrm>
            <a:off x="8210550" y="1800225"/>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43" name="Shape 39"/>
          <p:cNvSpPr/>
          <p:nvPr/>
        </p:nvSpPr>
        <p:spPr>
          <a:xfrm>
            <a:off x="8210550" y="1933575"/>
            <a:ext cx="1352550" cy="266700"/>
          </a:xfrm>
          <a:prstGeom prst="rect">
            <a:avLst/>
          </a:prstGeom>
          <a:solidFill>
            <a:srgbClr val="FAF7F3"/>
          </a:solidFill>
          <a:ln/>
        </p:spPr>
        <p:txBody>
          <a:bodyPr/>
          <a:lstStyle/>
          <a:p>
            <a:endParaRPr lang="en-US"/>
          </a:p>
        </p:txBody>
      </p:sp>
      <p:sp>
        <p:nvSpPr>
          <p:cNvPr id="44" name="Text 40"/>
          <p:cNvSpPr txBox="1"/>
          <p:nvPr/>
        </p:nvSpPr>
        <p:spPr>
          <a:xfrm>
            <a:off x="8229600" y="1933575"/>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AECON GROUP INC.</a:t>
            </a:r>
            <a:endParaRPr lang="en-US" sz="675" dirty="0"/>
          </a:p>
        </p:txBody>
      </p:sp>
      <p:sp>
        <p:nvSpPr>
          <p:cNvPr id="45" name="Text 41"/>
          <p:cNvSpPr txBox="1"/>
          <p:nvPr/>
        </p:nvSpPr>
        <p:spPr>
          <a:xfrm>
            <a:off x="8210550" y="2247900"/>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Industrial maintenance, capital projects and turnarounds</a:t>
            </a:r>
            <a:endParaRPr lang="en-US" sz="690" dirty="0"/>
          </a:p>
        </p:txBody>
      </p:sp>
      <p:sp>
        <p:nvSpPr>
          <p:cNvPr id="46" name="Text 42"/>
          <p:cNvSpPr txBox="1"/>
          <p:nvPr/>
        </p:nvSpPr>
        <p:spPr>
          <a:xfrm>
            <a:off x="8210550" y="2602706"/>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DISTRIBUTION &amp; SERVICES</a:t>
            </a:r>
            <a:endParaRPr lang="en-US" sz="540" dirty="0"/>
          </a:p>
        </p:txBody>
      </p:sp>
      <p:sp>
        <p:nvSpPr>
          <p:cNvPr id="47" name="Invocon, Inc. tile"/>
          <p:cNvSpPr/>
          <p:nvPr/>
        </p:nvSpPr>
        <p:spPr>
          <a:xfrm>
            <a:off x="4953000" y="2840831"/>
            <a:ext cx="1504950" cy="1307306"/>
          </a:xfrm>
          <a:prstGeom prst="rect">
            <a:avLst/>
          </a:prstGeom>
          <a:solidFill>
            <a:srgbClr val="FFFFFF"/>
          </a:solidFill>
          <a:ln w="9525">
            <a:solidFill>
              <a:srgbClr val="E3DCD3"/>
            </a:solidFill>
            <a:prstDash val="solid"/>
          </a:ln>
        </p:spPr>
        <p:txBody>
          <a:bodyPr/>
          <a:lstStyle/>
          <a:p>
            <a:endParaRPr lang="en-US"/>
          </a:p>
        </p:txBody>
      </p:sp>
      <p:sp>
        <p:nvSpPr>
          <p:cNvPr id="48" name="Shape 44"/>
          <p:cNvSpPr/>
          <p:nvPr/>
        </p:nvSpPr>
        <p:spPr>
          <a:xfrm>
            <a:off x="4953000" y="2840831"/>
            <a:ext cx="1504950" cy="28575"/>
          </a:xfrm>
          <a:prstGeom prst="rect">
            <a:avLst/>
          </a:prstGeom>
          <a:solidFill>
            <a:srgbClr val="B68757"/>
          </a:solidFill>
          <a:ln/>
        </p:spPr>
        <p:txBody>
          <a:bodyPr/>
          <a:lstStyle/>
          <a:p>
            <a:endParaRPr lang="en-US"/>
          </a:p>
        </p:txBody>
      </p:sp>
      <p:sp>
        <p:nvSpPr>
          <p:cNvPr id="49" name="Text 45"/>
          <p:cNvSpPr txBox="1"/>
          <p:nvPr/>
        </p:nvSpPr>
        <p:spPr>
          <a:xfrm>
            <a:off x="5029200" y="2917031"/>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8" tooltip="Announcement on benchmarkintl.com">
                  <a:extLst>
                    <a:ext uri="{A12FA001-AC4F-418D-AE19-62706E023703}">
                      <ahyp:hlinkClr xmlns:ahyp="http://schemas.microsoft.com/office/drawing/2018/hyperlinkcolor" val="tx"/>
                    </a:ext>
                  </a:extLst>
                </a:hlinkClick>
              </a:rPr>
              <a:t>Invocon, Inc.</a:t>
            </a:r>
            <a:endParaRPr lang="en-US" sz="750" dirty="0"/>
          </a:p>
        </p:txBody>
      </p:sp>
      <p:sp>
        <p:nvSpPr>
          <p:cNvPr id="50" name="Text 46"/>
          <p:cNvSpPr txBox="1"/>
          <p:nvPr/>
        </p:nvSpPr>
        <p:spPr>
          <a:xfrm>
            <a:off x="5029200" y="3193256"/>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51" name="Shape 47"/>
          <p:cNvSpPr/>
          <p:nvPr/>
        </p:nvSpPr>
        <p:spPr>
          <a:xfrm>
            <a:off x="5029200" y="3326606"/>
            <a:ext cx="1352550" cy="266700"/>
          </a:xfrm>
          <a:prstGeom prst="rect">
            <a:avLst/>
          </a:prstGeom>
          <a:solidFill>
            <a:srgbClr val="FAF7F3"/>
          </a:solidFill>
          <a:ln/>
        </p:spPr>
        <p:txBody>
          <a:bodyPr/>
          <a:lstStyle/>
          <a:p>
            <a:endParaRPr lang="en-US"/>
          </a:p>
        </p:txBody>
      </p:sp>
      <p:sp>
        <p:nvSpPr>
          <p:cNvPr id="52" name="Text 48"/>
          <p:cNvSpPr txBox="1"/>
          <p:nvPr/>
        </p:nvSpPr>
        <p:spPr>
          <a:xfrm>
            <a:off x="5048250" y="3326606"/>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CEMTREX, INC.</a:t>
            </a:r>
            <a:endParaRPr lang="en-US" sz="675" dirty="0"/>
          </a:p>
        </p:txBody>
      </p:sp>
      <p:sp>
        <p:nvSpPr>
          <p:cNvPr id="53" name="Text 49"/>
          <p:cNvSpPr txBox="1"/>
          <p:nvPr/>
        </p:nvSpPr>
        <p:spPr>
          <a:xfrm>
            <a:off x="5029200" y="3640931"/>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Instrumentation and wireless sensing for aerospace platforms</a:t>
            </a:r>
            <a:endParaRPr lang="en-US" sz="690" dirty="0"/>
          </a:p>
        </p:txBody>
      </p:sp>
      <p:sp>
        <p:nvSpPr>
          <p:cNvPr id="54" name="Text 50"/>
          <p:cNvSpPr txBox="1"/>
          <p:nvPr/>
        </p:nvSpPr>
        <p:spPr>
          <a:xfrm>
            <a:off x="5029200" y="3995738"/>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MANUFACTURING</a:t>
            </a:r>
            <a:endParaRPr lang="en-US" sz="540" dirty="0"/>
          </a:p>
        </p:txBody>
      </p:sp>
      <p:sp>
        <p:nvSpPr>
          <p:cNvPr id="55" name="Climate Engineering, Inc. tile"/>
          <p:cNvSpPr/>
          <p:nvPr/>
        </p:nvSpPr>
        <p:spPr>
          <a:xfrm>
            <a:off x="6543675" y="2840831"/>
            <a:ext cx="1504950" cy="1307306"/>
          </a:xfrm>
          <a:prstGeom prst="rect">
            <a:avLst/>
          </a:prstGeom>
          <a:solidFill>
            <a:srgbClr val="FFFFFF"/>
          </a:solidFill>
          <a:ln w="9525">
            <a:solidFill>
              <a:srgbClr val="E3DCD3"/>
            </a:solidFill>
            <a:prstDash val="solid"/>
          </a:ln>
        </p:spPr>
        <p:txBody>
          <a:bodyPr/>
          <a:lstStyle/>
          <a:p>
            <a:endParaRPr lang="en-US"/>
          </a:p>
        </p:txBody>
      </p:sp>
      <p:sp>
        <p:nvSpPr>
          <p:cNvPr id="56" name="Shape 52"/>
          <p:cNvSpPr/>
          <p:nvPr/>
        </p:nvSpPr>
        <p:spPr>
          <a:xfrm>
            <a:off x="6543675" y="2840831"/>
            <a:ext cx="1504950" cy="28575"/>
          </a:xfrm>
          <a:prstGeom prst="rect">
            <a:avLst/>
          </a:prstGeom>
          <a:solidFill>
            <a:srgbClr val="B68757"/>
          </a:solidFill>
          <a:ln/>
        </p:spPr>
        <p:txBody>
          <a:bodyPr/>
          <a:lstStyle/>
          <a:p>
            <a:endParaRPr lang="en-US"/>
          </a:p>
        </p:txBody>
      </p:sp>
      <p:sp>
        <p:nvSpPr>
          <p:cNvPr id="57" name="Text 53"/>
          <p:cNvSpPr txBox="1"/>
          <p:nvPr/>
        </p:nvSpPr>
        <p:spPr>
          <a:xfrm>
            <a:off x="6619875" y="2917031"/>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9" tooltip="Announcement on benchmarkintl.com">
                  <a:extLst>
                    <a:ext uri="{A12FA001-AC4F-418D-AE19-62706E023703}">
                      <ahyp:hlinkClr xmlns:ahyp="http://schemas.microsoft.com/office/drawing/2018/hyperlinkcolor" val="tx"/>
                    </a:ext>
                  </a:extLst>
                </a:hlinkClick>
              </a:rPr>
              <a:t>Climate Engineering, Inc.</a:t>
            </a:r>
            <a:endParaRPr lang="en-US" sz="750" dirty="0"/>
          </a:p>
        </p:txBody>
      </p:sp>
      <p:sp>
        <p:nvSpPr>
          <p:cNvPr id="58" name="Text 54"/>
          <p:cNvSpPr txBox="1"/>
          <p:nvPr/>
        </p:nvSpPr>
        <p:spPr>
          <a:xfrm>
            <a:off x="6619875" y="3193256"/>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59" name="Shape 55"/>
          <p:cNvSpPr/>
          <p:nvPr/>
        </p:nvSpPr>
        <p:spPr>
          <a:xfrm>
            <a:off x="6619875" y="3326606"/>
            <a:ext cx="1352550" cy="266700"/>
          </a:xfrm>
          <a:prstGeom prst="rect">
            <a:avLst/>
          </a:prstGeom>
          <a:solidFill>
            <a:srgbClr val="FAF7F3"/>
          </a:solidFill>
          <a:ln/>
        </p:spPr>
        <p:txBody>
          <a:bodyPr/>
          <a:lstStyle/>
          <a:p>
            <a:endParaRPr lang="en-US"/>
          </a:p>
        </p:txBody>
      </p:sp>
      <p:sp>
        <p:nvSpPr>
          <p:cNvPr id="60" name="Text 56"/>
          <p:cNvSpPr txBox="1"/>
          <p:nvPr/>
        </p:nvSpPr>
        <p:spPr>
          <a:xfrm>
            <a:off x="6638925" y="3326606"/>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HARRIS COMPANY</a:t>
            </a:r>
            <a:endParaRPr lang="en-US" sz="675" dirty="0"/>
          </a:p>
        </p:txBody>
      </p:sp>
      <p:sp>
        <p:nvSpPr>
          <p:cNvPr id="61" name="Text 57"/>
          <p:cNvSpPr txBox="1"/>
          <p:nvPr/>
        </p:nvSpPr>
        <p:spPr>
          <a:xfrm>
            <a:off x="6619875" y="3640931"/>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Commercial HVAC and building automation</a:t>
            </a:r>
            <a:endParaRPr lang="en-US" sz="690" dirty="0"/>
          </a:p>
        </p:txBody>
      </p:sp>
      <p:sp>
        <p:nvSpPr>
          <p:cNvPr id="62" name="Text 58"/>
          <p:cNvSpPr txBox="1"/>
          <p:nvPr/>
        </p:nvSpPr>
        <p:spPr>
          <a:xfrm>
            <a:off x="6619875" y="3995738"/>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BUILDING &amp; CONSTRUCTION</a:t>
            </a:r>
            <a:endParaRPr lang="en-US" sz="540" dirty="0"/>
          </a:p>
        </p:txBody>
      </p:sp>
      <p:sp>
        <p:nvSpPr>
          <p:cNvPr id="63" name="Briggs Engineering &amp; Testing tile"/>
          <p:cNvSpPr/>
          <p:nvPr/>
        </p:nvSpPr>
        <p:spPr>
          <a:xfrm>
            <a:off x="8134350" y="2840831"/>
            <a:ext cx="1504950" cy="1307306"/>
          </a:xfrm>
          <a:prstGeom prst="rect">
            <a:avLst/>
          </a:prstGeom>
          <a:solidFill>
            <a:srgbClr val="FFFFFF"/>
          </a:solidFill>
          <a:ln w="9525">
            <a:solidFill>
              <a:srgbClr val="E3DCD3"/>
            </a:solidFill>
            <a:prstDash val="solid"/>
          </a:ln>
        </p:spPr>
        <p:txBody>
          <a:bodyPr/>
          <a:lstStyle/>
          <a:p>
            <a:endParaRPr lang="en-US"/>
          </a:p>
        </p:txBody>
      </p:sp>
      <p:sp>
        <p:nvSpPr>
          <p:cNvPr id="64" name="Shape 60"/>
          <p:cNvSpPr/>
          <p:nvPr/>
        </p:nvSpPr>
        <p:spPr>
          <a:xfrm>
            <a:off x="8134350" y="2840831"/>
            <a:ext cx="1504950" cy="28575"/>
          </a:xfrm>
          <a:prstGeom prst="rect">
            <a:avLst/>
          </a:prstGeom>
          <a:solidFill>
            <a:srgbClr val="B68757"/>
          </a:solidFill>
          <a:ln/>
        </p:spPr>
        <p:txBody>
          <a:bodyPr/>
          <a:lstStyle/>
          <a:p>
            <a:endParaRPr lang="en-US"/>
          </a:p>
        </p:txBody>
      </p:sp>
      <p:sp>
        <p:nvSpPr>
          <p:cNvPr id="65" name="Text 61"/>
          <p:cNvSpPr txBox="1"/>
          <p:nvPr/>
        </p:nvSpPr>
        <p:spPr>
          <a:xfrm>
            <a:off x="8210550" y="2917031"/>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10" tooltip="Announcement on benchmarkintl.com">
                  <a:extLst>
                    <a:ext uri="{A12FA001-AC4F-418D-AE19-62706E023703}">
                      <ahyp:hlinkClr xmlns:ahyp="http://schemas.microsoft.com/office/drawing/2018/hyperlinkcolor" val="tx"/>
                    </a:ext>
                  </a:extLst>
                </a:hlinkClick>
              </a:rPr>
              <a:t>Briggs Engineering &amp; Testing</a:t>
            </a:r>
            <a:endParaRPr lang="en-US" sz="750" dirty="0"/>
          </a:p>
        </p:txBody>
      </p:sp>
      <p:sp>
        <p:nvSpPr>
          <p:cNvPr id="66" name="Text 62"/>
          <p:cNvSpPr txBox="1"/>
          <p:nvPr/>
        </p:nvSpPr>
        <p:spPr>
          <a:xfrm>
            <a:off x="8210550" y="3193256"/>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67" name="Shape 63"/>
          <p:cNvSpPr/>
          <p:nvPr/>
        </p:nvSpPr>
        <p:spPr>
          <a:xfrm>
            <a:off x="8210550" y="3326606"/>
            <a:ext cx="1352550" cy="266700"/>
          </a:xfrm>
          <a:prstGeom prst="rect">
            <a:avLst/>
          </a:prstGeom>
          <a:solidFill>
            <a:srgbClr val="FAF7F3"/>
          </a:solidFill>
          <a:ln/>
        </p:spPr>
        <p:txBody>
          <a:bodyPr/>
          <a:lstStyle/>
          <a:p>
            <a:endParaRPr lang="en-US"/>
          </a:p>
        </p:txBody>
      </p:sp>
      <p:sp>
        <p:nvSpPr>
          <p:cNvPr id="68" name="Text 64"/>
          <p:cNvSpPr txBox="1"/>
          <p:nvPr/>
        </p:nvSpPr>
        <p:spPr>
          <a:xfrm>
            <a:off x="8229600" y="3326606"/>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PHENNA GROUP</a:t>
            </a:r>
            <a:endParaRPr lang="en-US" sz="675" dirty="0"/>
          </a:p>
        </p:txBody>
      </p:sp>
      <p:sp>
        <p:nvSpPr>
          <p:cNvPr id="69" name="Text 65"/>
          <p:cNvSpPr txBox="1"/>
          <p:nvPr/>
        </p:nvSpPr>
        <p:spPr>
          <a:xfrm>
            <a:off x="8210550" y="3640931"/>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Geotechnical and materials testing and special inspection</a:t>
            </a:r>
            <a:endParaRPr lang="en-US" sz="690" dirty="0"/>
          </a:p>
        </p:txBody>
      </p:sp>
      <p:sp>
        <p:nvSpPr>
          <p:cNvPr id="70" name="Text 66"/>
          <p:cNvSpPr txBox="1"/>
          <p:nvPr/>
        </p:nvSpPr>
        <p:spPr>
          <a:xfrm>
            <a:off x="8210550" y="3995738"/>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BUILDING &amp; CONSTRUCTION</a:t>
            </a:r>
            <a:endParaRPr lang="en-US" sz="540" dirty="0"/>
          </a:p>
        </p:txBody>
      </p:sp>
      <p:sp>
        <p:nvSpPr>
          <p:cNvPr id="71" name="Capitol Plastics Recycling Inc. tile"/>
          <p:cNvSpPr/>
          <p:nvPr/>
        </p:nvSpPr>
        <p:spPr>
          <a:xfrm>
            <a:off x="4953000" y="4233863"/>
            <a:ext cx="1504950" cy="1307306"/>
          </a:xfrm>
          <a:prstGeom prst="rect">
            <a:avLst/>
          </a:prstGeom>
          <a:solidFill>
            <a:srgbClr val="FFFFFF"/>
          </a:solidFill>
          <a:ln w="9525">
            <a:solidFill>
              <a:srgbClr val="E3DCD3"/>
            </a:solidFill>
            <a:prstDash val="solid"/>
          </a:ln>
        </p:spPr>
        <p:txBody>
          <a:bodyPr/>
          <a:lstStyle/>
          <a:p>
            <a:endParaRPr lang="en-US"/>
          </a:p>
        </p:txBody>
      </p:sp>
      <p:sp>
        <p:nvSpPr>
          <p:cNvPr id="72" name="Shape 68"/>
          <p:cNvSpPr/>
          <p:nvPr/>
        </p:nvSpPr>
        <p:spPr>
          <a:xfrm>
            <a:off x="4953000" y="4233863"/>
            <a:ext cx="1504950" cy="28575"/>
          </a:xfrm>
          <a:prstGeom prst="rect">
            <a:avLst/>
          </a:prstGeom>
          <a:solidFill>
            <a:srgbClr val="B68757"/>
          </a:solidFill>
          <a:ln/>
        </p:spPr>
        <p:txBody>
          <a:bodyPr/>
          <a:lstStyle/>
          <a:p>
            <a:endParaRPr lang="en-US"/>
          </a:p>
        </p:txBody>
      </p:sp>
      <p:sp>
        <p:nvSpPr>
          <p:cNvPr id="73" name="Text 69"/>
          <p:cNvSpPr txBox="1"/>
          <p:nvPr/>
        </p:nvSpPr>
        <p:spPr>
          <a:xfrm>
            <a:off x="5029200" y="4310063"/>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11" tooltip="Announcement on benchmarkintl.com">
                  <a:extLst>
                    <a:ext uri="{A12FA001-AC4F-418D-AE19-62706E023703}">
                      <ahyp:hlinkClr xmlns:ahyp="http://schemas.microsoft.com/office/drawing/2018/hyperlinkcolor" val="tx"/>
                    </a:ext>
                  </a:extLst>
                </a:hlinkClick>
              </a:rPr>
              <a:t>Capitol Plastics Recycling Inc.</a:t>
            </a:r>
            <a:endParaRPr lang="en-US" sz="750" dirty="0"/>
          </a:p>
        </p:txBody>
      </p:sp>
      <p:sp>
        <p:nvSpPr>
          <p:cNvPr id="74" name="Text 70"/>
          <p:cNvSpPr txBox="1"/>
          <p:nvPr/>
        </p:nvSpPr>
        <p:spPr>
          <a:xfrm>
            <a:off x="5029200" y="4586288"/>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75" name="Shape 71"/>
          <p:cNvSpPr/>
          <p:nvPr/>
        </p:nvSpPr>
        <p:spPr>
          <a:xfrm>
            <a:off x="5029200" y="4719638"/>
            <a:ext cx="1352550" cy="266700"/>
          </a:xfrm>
          <a:prstGeom prst="rect">
            <a:avLst/>
          </a:prstGeom>
          <a:solidFill>
            <a:srgbClr val="FAF7F3"/>
          </a:solidFill>
          <a:ln/>
        </p:spPr>
        <p:txBody>
          <a:bodyPr/>
          <a:lstStyle/>
          <a:p>
            <a:endParaRPr lang="en-US"/>
          </a:p>
        </p:txBody>
      </p:sp>
      <p:sp>
        <p:nvSpPr>
          <p:cNvPr id="76" name="Text 72"/>
          <p:cNvSpPr txBox="1"/>
          <p:nvPr/>
        </p:nvSpPr>
        <p:spPr>
          <a:xfrm>
            <a:off x="5048250" y="4719638"/>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TRIUMVIRATE ENVIRONMENTAL</a:t>
            </a:r>
            <a:endParaRPr lang="en-US" sz="675" dirty="0"/>
          </a:p>
        </p:txBody>
      </p:sp>
      <p:sp>
        <p:nvSpPr>
          <p:cNvPr id="77" name="Text 73"/>
          <p:cNvSpPr txBox="1"/>
          <p:nvPr/>
        </p:nvSpPr>
        <p:spPr>
          <a:xfrm>
            <a:off x="5029200" y="5033963"/>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Industrial plastics recycling</a:t>
            </a:r>
            <a:endParaRPr lang="en-US" sz="690" dirty="0"/>
          </a:p>
        </p:txBody>
      </p:sp>
      <p:sp>
        <p:nvSpPr>
          <p:cNvPr id="78" name="Text 74"/>
          <p:cNvSpPr txBox="1"/>
          <p:nvPr/>
        </p:nvSpPr>
        <p:spPr>
          <a:xfrm>
            <a:off x="5029200" y="5388769"/>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ENERGY &amp; ENVIRONMENTAL</a:t>
            </a:r>
            <a:endParaRPr lang="en-US" sz="540" dirty="0"/>
          </a:p>
        </p:txBody>
      </p:sp>
      <p:sp>
        <p:nvSpPr>
          <p:cNvPr id="79" name="WESCO Chemicals, Inc. tile"/>
          <p:cNvSpPr/>
          <p:nvPr/>
        </p:nvSpPr>
        <p:spPr>
          <a:xfrm>
            <a:off x="6543675" y="4233863"/>
            <a:ext cx="1504950" cy="1307306"/>
          </a:xfrm>
          <a:prstGeom prst="rect">
            <a:avLst/>
          </a:prstGeom>
          <a:solidFill>
            <a:srgbClr val="FFFFFF"/>
          </a:solidFill>
          <a:ln w="9525">
            <a:solidFill>
              <a:srgbClr val="E3DCD3"/>
            </a:solidFill>
            <a:prstDash val="solid"/>
          </a:ln>
        </p:spPr>
        <p:txBody>
          <a:bodyPr/>
          <a:lstStyle/>
          <a:p>
            <a:endParaRPr lang="en-US"/>
          </a:p>
        </p:txBody>
      </p:sp>
      <p:sp>
        <p:nvSpPr>
          <p:cNvPr id="80" name="Shape 76"/>
          <p:cNvSpPr/>
          <p:nvPr/>
        </p:nvSpPr>
        <p:spPr>
          <a:xfrm>
            <a:off x="6543675" y="4233863"/>
            <a:ext cx="1504950" cy="28575"/>
          </a:xfrm>
          <a:prstGeom prst="rect">
            <a:avLst/>
          </a:prstGeom>
          <a:solidFill>
            <a:srgbClr val="B68757"/>
          </a:solidFill>
          <a:ln/>
        </p:spPr>
        <p:txBody>
          <a:bodyPr/>
          <a:lstStyle/>
          <a:p>
            <a:endParaRPr lang="en-US"/>
          </a:p>
        </p:txBody>
      </p:sp>
      <p:sp>
        <p:nvSpPr>
          <p:cNvPr id="81" name="Text 77"/>
          <p:cNvSpPr txBox="1"/>
          <p:nvPr/>
        </p:nvSpPr>
        <p:spPr>
          <a:xfrm>
            <a:off x="6619875" y="4310063"/>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12" tooltip="Announcement on benchmarkintl.com">
                  <a:extLst>
                    <a:ext uri="{A12FA001-AC4F-418D-AE19-62706E023703}">
                      <ahyp:hlinkClr xmlns:ahyp="http://schemas.microsoft.com/office/drawing/2018/hyperlinkcolor" val="tx"/>
                    </a:ext>
                  </a:extLst>
                </a:hlinkClick>
              </a:rPr>
              <a:t>WESCO Chemicals, Inc.</a:t>
            </a:r>
            <a:endParaRPr lang="en-US" sz="750" dirty="0"/>
          </a:p>
        </p:txBody>
      </p:sp>
      <p:sp>
        <p:nvSpPr>
          <p:cNvPr id="82" name="Text 78"/>
          <p:cNvSpPr txBox="1"/>
          <p:nvPr/>
        </p:nvSpPr>
        <p:spPr>
          <a:xfrm>
            <a:off x="6619875" y="4586288"/>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83" name="Shape 79"/>
          <p:cNvSpPr/>
          <p:nvPr/>
        </p:nvSpPr>
        <p:spPr>
          <a:xfrm>
            <a:off x="6619875" y="4719638"/>
            <a:ext cx="1352550" cy="266700"/>
          </a:xfrm>
          <a:prstGeom prst="rect">
            <a:avLst/>
          </a:prstGeom>
          <a:solidFill>
            <a:srgbClr val="FAF7F3"/>
          </a:solidFill>
          <a:ln/>
        </p:spPr>
        <p:txBody>
          <a:bodyPr/>
          <a:lstStyle/>
          <a:p>
            <a:endParaRPr lang="en-US"/>
          </a:p>
        </p:txBody>
      </p:sp>
      <p:sp>
        <p:nvSpPr>
          <p:cNvPr id="84" name="Text 80"/>
          <p:cNvSpPr txBox="1"/>
          <p:nvPr/>
        </p:nvSpPr>
        <p:spPr>
          <a:xfrm>
            <a:off x="6638925" y="4719638"/>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APEX WATER AND PROCESS INC.</a:t>
            </a:r>
            <a:endParaRPr lang="en-US" sz="675" dirty="0"/>
          </a:p>
        </p:txBody>
      </p:sp>
      <p:sp>
        <p:nvSpPr>
          <p:cNvPr id="85" name="Text 81"/>
          <p:cNvSpPr txBox="1"/>
          <p:nvPr/>
        </p:nvSpPr>
        <p:spPr>
          <a:xfrm>
            <a:off x="6619875" y="5033963"/>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Water treatment chemical production and service</a:t>
            </a:r>
            <a:endParaRPr lang="en-US" sz="690" dirty="0"/>
          </a:p>
        </p:txBody>
      </p:sp>
      <p:sp>
        <p:nvSpPr>
          <p:cNvPr id="86" name="Text 82"/>
          <p:cNvSpPr txBox="1"/>
          <p:nvPr/>
        </p:nvSpPr>
        <p:spPr>
          <a:xfrm>
            <a:off x="6619875" y="5388769"/>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ENERGY &amp; ENVIRONMENTAL</a:t>
            </a:r>
            <a:endParaRPr lang="en-US" sz="540" dirty="0"/>
          </a:p>
        </p:txBody>
      </p:sp>
      <p:sp>
        <p:nvSpPr>
          <p:cNvPr id="87" name="DW Industries tile"/>
          <p:cNvSpPr/>
          <p:nvPr/>
        </p:nvSpPr>
        <p:spPr>
          <a:xfrm>
            <a:off x="8134350" y="4233863"/>
            <a:ext cx="1504950" cy="1307306"/>
          </a:xfrm>
          <a:prstGeom prst="rect">
            <a:avLst/>
          </a:prstGeom>
          <a:solidFill>
            <a:srgbClr val="FFFFFF"/>
          </a:solidFill>
          <a:ln w="9525">
            <a:solidFill>
              <a:srgbClr val="E3DCD3"/>
            </a:solidFill>
            <a:prstDash val="solid"/>
          </a:ln>
        </p:spPr>
        <p:txBody>
          <a:bodyPr/>
          <a:lstStyle/>
          <a:p>
            <a:endParaRPr lang="en-US"/>
          </a:p>
        </p:txBody>
      </p:sp>
      <p:sp>
        <p:nvSpPr>
          <p:cNvPr id="88" name="Shape 84"/>
          <p:cNvSpPr/>
          <p:nvPr/>
        </p:nvSpPr>
        <p:spPr>
          <a:xfrm>
            <a:off x="8134350" y="4233863"/>
            <a:ext cx="1504950" cy="28575"/>
          </a:xfrm>
          <a:prstGeom prst="rect">
            <a:avLst/>
          </a:prstGeom>
          <a:solidFill>
            <a:srgbClr val="B68757"/>
          </a:solidFill>
          <a:ln/>
        </p:spPr>
        <p:txBody>
          <a:bodyPr/>
          <a:lstStyle/>
          <a:p>
            <a:endParaRPr lang="en-US"/>
          </a:p>
        </p:txBody>
      </p:sp>
      <p:sp>
        <p:nvSpPr>
          <p:cNvPr id="89" name="Text 85"/>
          <p:cNvSpPr txBox="1"/>
          <p:nvPr/>
        </p:nvSpPr>
        <p:spPr>
          <a:xfrm>
            <a:off x="8210550" y="4310063"/>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13" tooltip="Announcement on benchmarkintl.com">
                  <a:extLst>
                    <a:ext uri="{A12FA001-AC4F-418D-AE19-62706E023703}">
                      <ahyp:hlinkClr xmlns:ahyp="http://schemas.microsoft.com/office/drawing/2018/hyperlinkcolor" val="tx"/>
                    </a:ext>
                  </a:extLst>
                </a:hlinkClick>
              </a:rPr>
              <a:t>DW Industries</a:t>
            </a:r>
            <a:endParaRPr lang="en-US" sz="750" dirty="0"/>
          </a:p>
        </p:txBody>
      </p:sp>
      <p:sp>
        <p:nvSpPr>
          <p:cNvPr id="90" name="Text 86"/>
          <p:cNvSpPr txBox="1"/>
          <p:nvPr/>
        </p:nvSpPr>
        <p:spPr>
          <a:xfrm>
            <a:off x="8210550" y="4586288"/>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91" name="Shape 87"/>
          <p:cNvSpPr/>
          <p:nvPr/>
        </p:nvSpPr>
        <p:spPr>
          <a:xfrm>
            <a:off x="8210550" y="4719638"/>
            <a:ext cx="1352550" cy="266700"/>
          </a:xfrm>
          <a:prstGeom prst="rect">
            <a:avLst/>
          </a:prstGeom>
          <a:solidFill>
            <a:srgbClr val="FAF7F3"/>
          </a:solidFill>
          <a:ln/>
        </p:spPr>
        <p:txBody>
          <a:bodyPr/>
          <a:lstStyle/>
          <a:p>
            <a:endParaRPr lang="en-US"/>
          </a:p>
        </p:txBody>
      </p:sp>
      <p:sp>
        <p:nvSpPr>
          <p:cNvPr id="92" name="Text 88"/>
          <p:cNvSpPr txBox="1"/>
          <p:nvPr/>
        </p:nvSpPr>
        <p:spPr>
          <a:xfrm>
            <a:off x="8229600" y="4719638"/>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TIPCO TECHNOLOGIES</a:t>
            </a:r>
            <a:endParaRPr lang="en-US" sz="675" dirty="0"/>
          </a:p>
        </p:txBody>
      </p:sp>
      <p:sp>
        <p:nvSpPr>
          <p:cNvPr id="93" name="Text 89"/>
          <p:cNvSpPr txBox="1"/>
          <p:nvPr/>
        </p:nvSpPr>
        <p:spPr>
          <a:xfrm>
            <a:off x="8210550" y="5033963"/>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Hose and hose assemblies for industrial customers</a:t>
            </a:r>
            <a:endParaRPr lang="en-US" sz="690" dirty="0"/>
          </a:p>
        </p:txBody>
      </p:sp>
      <p:sp>
        <p:nvSpPr>
          <p:cNvPr id="94" name="Text 90"/>
          <p:cNvSpPr txBox="1"/>
          <p:nvPr/>
        </p:nvSpPr>
        <p:spPr>
          <a:xfrm>
            <a:off x="8210550" y="5388769"/>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DISTRIBUTION &amp; SERVICES</a:t>
            </a:r>
            <a:endParaRPr lang="en-US" sz="540" dirty="0"/>
          </a:p>
        </p:txBody>
      </p:sp>
      <p:sp>
        <p:nvSpPr>
          <p:cNvPr id="95" name="A.T. Parker, Inc. (Solar Electronics) tile"/>
          <p:cNvSpPr/>
          <p:nvPr/>
        </p:nvSpPr>
        <p:spPr>
          <a:xfrm>
            <a:off x="4953000" y="5626894"/>
            <a:ext cx="1504950" cy="1307306"/>
          </a:xfrm>
          <a:prstGeom prst="rect">
            <a:avLst/>
          </a:prstGeom>
          <a:solidFill>
            <a:srgbClr val="FFFFFF"/>
          </a:solidFill>
          <a:ln w="9525">
            <a:solidFill>
              <a:srgbClr val="E3DCD3"/>
            </a:solidFill>
            <a:prstDash val="solid"/>
          </a:ln>
        </p:spPr>
        <p:txBody>
          <a:bodyPr/>
          <a:lstStyle/>
          <a:p>
            <a:endParaRPr lang="en-US"/>
          </a:p>
        </p:txBody>
      </p:sp>
      <p:sp>
        <p:nvSpPr>
          <p:cNvPr id="96" name="Shape 92"/>
          <p:cNvSpPr/>
          <p:nvPr/>
        </p:nvSpPr>
        <p:spPr>
          <a:xfrm>
            <a:off x="4953000" y="5626894"/>
            <a:ext cx="1504950" cy="28575"/>
          </a:xfrm>
          <a:prstGeom prst="rect">
            <a:avLst/>
          </a:prstGeom>
          <a:solidFill>
            <a:srgbClr val="B68757"/>
          </a:solidFill>
          <a:ln/>
        </p:spPr>
        <p:txBody>
          <a:bodyPr/>
          <a:lstStyle/>
          <a:p>
            <a:endParaRPr lang="en-US"/>
          </a:p>
        </p:txBody>
      </p:sp>
      <p:sp>
        <p:nvSpPr>
          <p:cNvPr id="97" name="Text 93"/>
          <p:cNvSpPr txBox="1"/>
          <p:nvPr/>
        </p:nvSpPr>
        <p:spPr>
          <a:xfrm>
            <a:off x="5029200" y="5703094"/>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14" tooltip="Announcement on benchmarkintl.com">
                  <a:extLst>
                    <a:ext uri="{A12FA001-AC4F-418D-AE19-62706E023703}">
                      <ahyp:hlinkClr xmlns:ahyp="http://schemas.microsoft.com/office/drawing/2018/hyperlinkcolor" val="tx"/>
                    </a:ext>
                  </a:extLst>
                </a:hlinkClick>
              </a:rPr>
              <a:t>A.T. Parker, Inc. (Solar Electronics)</a:t>
            </a:r>
            <a:endParaRPr lang="en-US" sz="750" dirty="0"/>
          </a:p>
        </p:txBody>
      </p:sp>
      <p:sp>
        <p:nvSpPr>
          <p:cNvPr id="98" name="Text 94"/>
          <p:cNvSpPr txBox="1"/>
          <p:nvPr/>
        </p:nvSpPr>
        <p:spPr>
          <a:xfrm>
            <a:off x="5029200" y="5979319"/>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99" name="Shape 95"/>
          <p:cNvSpPr/>
          <p:nvPr/>
        </p:nvSpPr>
        <p:spPr>
          <a:xfrm>
            <a:off x="5029200" y="6112669"/>
            <a:ext cx="1352550" cy="266700"/>
          </a:xfrm>
          <a:prstGeom prst="rect">
            <a:avLst/>
          </a:prstGeom>
          <a:solidFill>
            <a:srgbClr val="FAF7F3"/>
          </a:solidFill>
          <a:ln/>
        </p:spPr>
        <p:txBody>
          <a:bodyPr/>
          <a:lstStyle/>
          <a:p>
            <a:endParaRPr lang="en-US"/>
          </a:p>
        </p:txBody>
      </p:sp>
      <p:sp>
        <p:nvSpPr>
          <p:cNvPr id="100" name="Text 96"/>
          <p:cNvSpPr txBox="1"/>
          <p:nvPr/>
        </p:nvSpPr>
        <p:spPr>
          <a:xfrm>
            <a:off x="5048250" y="6112669"/>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ASSESSIMUS GROUP GMBH</a:t>
            </a:r>
            <a:endParaRPr lang="en-US" sz="675" dirty="0"/>
          </a:p>
        </p:txBody>
      </p:sp>
      <p:sp>
        <p:nvSpPr>
          <p:cNvPr id="101" name="Text 97"/>
          <p:cNvSpPr txBox="1"/>
          <p:nvPr/>
        </p:nvSpPr>
        <p:spPr>
          <a:xfrm>
            <a:off x="5029200" y="6426994"/>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Test equipment for electromagnetic interference</a:t>
            </a:r>
            <a:endParaRPr lang="en-US" sz="690" dirty="0"/>
          </a:p>
        </p:txBody>
      </p:sp>
      <p:sp>
        <p:nvSpPr>
          <p:cNvPr id="102" name="Text 98"/>
          <p:cNvSpPr txBox="1"/>
          <p:nvPr/>
        </p:nvSpPr>
        <p:spPr>
          <a:xfrm>
            <a:off x="5029200" y="6781800"/>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MANUFACTURING</a:t>
            </a:r>
            <a:endParaRPr lang="en-US" sz="540" dirty="0"/>
          </a:p>
        </p:txBody>
      </p:sp>
      <p:sp>
        <p:nvSpPr>
          <p:cNvPr id="103" name="Clark Crane, LLC tile"/>
          <p:cNvSpPr/>
          <p:nvPr/>
        </p:nvSpPr>
        <p:spPr>
          <a:xfrm>
            <a:off x="6543675" y="5626894"/>
            <a:ext cx="1504950" cy="1307306"/>
          </a:xfrm>
          <a:prstGeom prst="rect">
            <a:avLst/>
          </a:prstGeom>
          <a:solidFill>
            <a:srgbClr val="FFFFFF"/>
          </a:solidFill>
          <a:ln w="9525">
            <a:solidFill>
              <a:srgbClr val="E3DCD3"/>
            </a:solidFill>
            <a:prstDash val="solid"/>
          </a:ln>
        </p:spPr>
        <p:txBody>
          <a:bodyPr/>
          <a:lstStyle/>
          <a:p>
            <a:endParaRPr lang="en-US"/>
          </a:p>
        </p:txBody>
      </p:sp>
      <p:sp>
        <p:nvSpPr>
          <p:cNvPr id="104" name="Shape 100"/>
          <p:cNvSpPr/>
          <p:nvPr/>
        </p:nvSpPr>
        <p:spPr>
          <a:xfrm>
            <a:off x="6543675" y="5626894"/>
            <a:ext cx="1504950" cy="28575"/>
          </a:xfrm>
          <a:prstGeom prst="rect">
            <a:avLst/>
          </a:prstGeom>
          <a:solidFill>
            <a:srgbClr val="B68757"/>
          </a:solidFill>
          <a:ln/>
        </p:spPr>
        <p:txBody>
          <a:bodyPr/>
          <a:lstStyle/>
          <a:p>
            <a:endParaRPr lang="en-US"/>
          </a:p>
        </p:txBody>
      </p:sp>
      <p:sp>
        <p:nvSpPr>
          <p:cNvPr id="105" name="Text 101"/>
          <p:cNvSpPr txBox="1"/>
          <p:nvPr/>
        </p:nvSpPr>
        <p:spPr>
          <a:xfrm>
            <a:off x="6619875" y="5703094"/>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15" tooltip="Announcement on benchmarkintl.com">
                  <a:extLst>
                    <a:ext uri="{A12FA001-AC4F-418D-AE19-62706E023703}">
                      <ahyp:hlinkClr xmlns:ahyp="http://schemas.microsoft.com/office/drawing/2018/hyperlinkcolor" val="tx"/>
                    </a:ext>
                  </a:extLst>
                </a:hlinkClick>
              </a:rPr>
              <a:t>Clark Crane, LLC</a:t>
            </a:r>
            <a:endParaRPr lang="en-US" sz="750" dirty="0"/>
          </a:p>
        </p:txBody>
      </p:sp>
      <p:sp>
        <p:nvSpPr>
          <p:cNvPr id="106" name="Text 102"/>
          <p:cNvSpPr txBox="1"/>
          <p:nvPr/>
        </p:nvSpPr>
        <p:spPr>
          <a:xfrm>
            <a:off x="6619875" y="5979319"/>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107" name="Shape 103"/>
          <p:cNvSpPr/>
          <p:nvPr/>
        </p:nvSpPr>
        <p:spPr>
          <a:xfrm>
            <a:off x="6619875" y="6112669"/>
            <a:ext cx="1352550" cy="266700"/>
          </a:xfrm>
          <a:prstGeom prst="rect">
            <a:avLst/>
          </a:prstGeom>
          <a:solidFill>
            <a:srgbClr val="FAF7F3"/>
          </a:solidFill>
          <a:ln/>
        </p:spPr>
        <p:txBody>
          <a:bodyPr/>
          <a:lstStyle/>
          <a:p>
            <a:endParaRPr lang="en-US"/>
          </a:p>
        </p:txBody>
      </p:sp>
      <p:sp>
        <p:nvSpPr>
          <p:cNvPr id="108" name="Text 104"/>
          <p:cNvSpPr txBox="1"/>
          <p:nvPr/>
        </p:nvSpPr>
        <p:spPr>
          <a:xfrm>
            <a:off x="6638925" y="6112669"/>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CAPITAL EXTENSION CRANE &amp; LIFT</a:t>
            </a:r>
            <a:endParaRPr lang="en-US" sz="675" dirty="0"/>
          </a:p>
        </p:txBody>
      </p:sp>
      <p:sp>
        <p:nvSpPr>
          <p:cNvPr id="109" name="Text 105"/>
          <p:cNvSpPr txBox="1"/>
          <p:nvPr/>
        </p:nvSpPr>
        <p:spPr>
          <a:xfrm>
            <a:off x="6619875" y="6426994"/>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Crane rental and rigging</a:t>
            </a:r>
            <a:endParaRPr lang="en-US" sz="690" dirty="0"/>
          </a:p>
        </p:txBody>
      </p:sp>
      <p:sp>
        <p:nvSpPr>
          <p:cNvPr id="110" name="Text 106"/>
          <p:cNvSpPr txBox="1"/>
          <p:nvPr/>
        </p:nvSpPr>
        <p:spPr>
          <a:xfrm>
            <a:off x="6619875" y="6781800"/>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BUILDING &amp; CONSTRUCTION</a:t>
            </a:r>
            <a:endParaRPr lang="en-US" sz="540" dirty="0"/>
          </a:p>
        </p:txBody>
      </p:sp>
      <p:sp>
        <p:nvSpPr>
          <p:cNvPr id="111" name="Christian Network International tile"/>
          <p:cNvSpPr/>
          <p:nvPr/>
        </p:nvSpPr>
        <p:spPr>
          <a:xfrm>
            <a:off x="8134350" y="5626894"/>
            <a:ext cx="1504950" cy="1307306"/>
          </a:xfrm>
          <a:prstGeom prst="rect">
            <a:avLst/>
          </a:prstGeom>
          <a:solidFill>
            <a:srgbClr val="FFFFFF"/>
          </a:solidFill>
          <a:ln w="9525">
            <a:solidFill>
              <a:srgbClr val="E3DCD3"/>
            </a:solidFill>
            <a:prstDash val="solid"/>
          </a:ln>
        </p:spPr>
        <p:txBody>
          <a:bodyPr/>
          <a:lstStyle/>
          <a:p>
            <a:endParaRPr lang="en-US"/>
          </a:p>
        </p:txBody>
      </p:sp>
      <p:sp>
        <p:nvSpPr>
          <p:cNvPr id="112" name="Shape 108"/>
          <p:cNvSpPr/>
          <p:nvPr/>
        </p:nvSpPr>
        <p:spPr>
          <a:xfrm>
            <a:off x="8134350" y="5626894"/>
            <a:ext cx="1504950" cy="28575"/>
          </a:xfrm>
          <a:prstGeom prst="rect">
            <a:avLst/>
          </a:prstGeom>
          <a:solidFill>
            <a:srgbClr val="B68757"/>
          </a:solidFill>
          <a:ln/>
        </p:spPr>
        <p:txBody>
          <a:bodyPr/>
          <a:lstStyle/>
          <a:p>
            <a:endParaRPr lang="en-US"/>
          </a:p>
        </p:txBody>
      </p:sp>
      <p:sp>
        <p:nvSpPr>
          <p:cNvPr id="113" name="Text 109"/>
          <p:cNvSpPr txBox="1"/>
          <p:nvPr/>
        </p:nvSpPr>
        <p:spPr>
          <a:xfrm>
            <a:off x="8210550" y="5703094"/>
            <a:ext cx="1352550" cy="266700"/>
          </a:xfrm>
          <a:prstGeom prst="rect">
            <a:avLst/>
          </a:prstGeom>
          <a:noFill/>
          <a:ln/>
        </p:spPr>
        <p:txBody>
          <a:bodyPr wrap="square" lIns="0" tIns="0" rIns="0" bIns="0" rtlCol="0" anchor="ctr"/>
          <a:lstStyle/>
          <a:p>
            <a:pPr marL="0" indent="0" algn="ctr">
              <a:lnSpc>
                <a:spcPts val="938"/>
              </a:lnSpc>
              <a:buNone/>
            </a:pPr>
            <a:r>
              <a:rPr lang="en-US" sz="750" b="1" u="sng" dirty="0">
                <a:solidFill>
                  <a:srgbClr val="1B1A1A"/>
                </a:solidFill>
                <a:hlinkClick r:id="rId16" tooltip="Announcement on benchmarkintl.com">
                  <a:extLst>
                    <a:ext uri="{A12FA001-AC4F-418D-AE19-62706E023703}">
                      <ahyp:hlinkClr xmlns:ahyp="http://schemas.microsoft.com/office/drawing/2018/hyperlinkcolor" val="tx"/>
                    </a:ext>
                  </a:extLst>
                </a:hlinkClick>
              </a:rPr>
              <a:t>Christian Network International</a:t>
            </a:r>
            <a:endParaRPr lang="en-US" sz="750" dirty="0"/>
          </a:p>
        </p:txBody>
      </p:sp>
      <p:sp>
        <p:nvSpPr>
          <p:cNvPr id="114" name="Text 110"/>
          <p:cNvSpPr txBox="1"/>
          <p:nvPr/>
        </p:nvSpPr>
        <p:spPr>
          <a:xfrm>
            <a:off x="8210550" y="5979319"/>
            <a:ext cx="1352550" cy="114300"/>
          </a:xfrm>
          <a:prstGeom prst="rect">
            <a:avLst/>
          </a:prstGeom>
          <a:noFill/>
          <a:ln/>
        </p:spPr>
        <p:txBody>
          <a:bodyPr wrap="square" lIns="0" tIns="0" rIns="0" bIns="0" rtlCol="0" anchor="t"/>
          <a:lstStyle/>
          <a:p>
            <a:pPr marL="0" indent="0" algn="ctr">
              <a:buNone/>
            </a:pPr>
            <a:r>
              <a:rPr lang="en-US" sz="540" kern="0" spc="100" dirty="0">
                <a:solidFill>
                  <a:srgbClr val="6F6A66"/>
                </a:solidFill>
              </a:rPr>
              <a:t>HAS BEEN ACQUIRED BY</a:t>
            </a:r>
            <a:endParaRPr lang="en-US" sz="540" dirty="0"/>
          </a:p>
        </p:txBody>
      </p:sp>
      <p:sp>
        <p:nvSpPr>
          <p:cNvPr id="115" name="Shape 111"/>
          <p:cNvSpPr/>
          <p:nvPr/>
        </p:nvSpPr>
        <p:spPr>
          <a:xfrm>
            <a:off x="8210550" y="6112669"/>
            <a:ext cx="1352550" cy="266700"/>
          </a:xfrm>
          <a:prstGeom prst="rect">
            <a:avLst/>
          </a:prstGeom>
          <a:solidFill>
            <a:srgbClr val="FAF7F3"/>
          </a:solidFill>
          <a:ln/>
        </p:spPr>
        <p:txBody>
          <a:bodyPr/>
          <a:lstStyle/>
          <a:p>
            <a:endParaRPr lang="en-US"/>
          </a:p>
        </p:txBody>
      </p:sp>
      <p:sp>
        <p:nvSpPr>
          <p:cNvPr id="116" name="Text 112"/>
          <p:cNvSpPr txBox="1"/>
          <p:nvPr/>
        </p:nvSpPr>
        <p:spPr>
          <a:xfrm>
            <a:off x="8229600" y="6112669"/>
            <a:ext cx="1314450" cy="266700"/>
          </a:xfrm>
          <a:prstGeom prst="rect">
            <a:avLst/>
          </a:prstGeom>
          <a:noFill/>
          <a:ln/>
        </p:spPr>
        <p:txBody>
          <a:bodyPr wrap="square" lIns="0" tIns="0" rIns="0" bIns="0" rtlCol="0" anchor="ctr"/>
          <a:lstStyle/>
          <a:p>
            <a:pPr marL="0" indent="0" algn="ctr">
              <a:lnSpc>
                <a:spcPts val="863"/>
              </a:lnSpc>
              <a:buNone/>
            </a:pPr>
            <a:r>
              <a:rPr lang="en-US" sz="675" b="1" dirty="0">
                <a:solidFill>
                  <a:srgbClr val="1B1A1A"/>
                </a:solidFill>
              </a:rPr>
              <a:t>SYMBIA LOGISTICS</a:t>
            </a:r>
            <a:endParaRPr lang="en-US" sz="675" dirty="0"/>
          </a:p>
        </p:txBody>
      </p:sp>
      <p:sp>
        <p:nvSpPr>
          <p:cNvPr id="117" name="Text 113"/>
          <p:cNvSpPr txBox="1"/>
          <p:nvPr/>
        </p:nvSpPr>
        <p:spPr>
          <a:xfrm>
            <a:off x="8210550" y="6426994"/>
            <a:ext cx="1352550" cy="266700"/>
          </a:xfrm>
          <a:prstGeom prst="rect">
            <a:avLst/>
          </a:prstGeom>
          <a:noFill/>
          <a:ln/>
        </p:spPr>
        <p:txBody>
          <a:bodyPr wrap="square" lIns="0" tIns="0" rIns="0" bIns="0" rtlCol="0" anchor="t"/>
          <a:lstStyle/>
          <a:p>
            <a:pPr marL="0" indent="0" algn="ctr">
              <a:lnSpc>
                <a:spcPts val="900"/>
              </a:lnSpc>
              <a:buNone/>
            </a:pPr>
            <a:r>
              <a:rPr lang="en-US" sz="690" dirty="0">
                <a:solidFill>
                  <a:srgbClr val="333231"/>
                </a:solidFill>
              </a:rPr>
              <a:t>Fulfillment and distribution</a:t>
            </a:r>
            <a:endParaRPr lang="en-US" sz="690" dirty="0"/>
          </a:p>
        </p:txBody>
      </p:sp>
      <p:sp>
        <p:nvSpPr>
          <p:cNvPr id="118" name="Text 114"/>
          <p:cNvSpPr txBox="1"/>
          <p:nvPr/>
        </p:nvSpPr>
        <p:spPr>
          <a:xfrm>
            <a:off x="8210550" y="6781800"/>
            <a:ext cx="1352550" cy="114300"/>
          </a:xfrm>
          <a:prstGeom prst="rect">
            <a:avLst/>
          </a:prstGeom>
          <a:noFill/>
          <a:ln/>
        </p:spPr>
        <p:txBody>
          <a:bodyPr wrap="square" lIns="0" tIns="0" rIns="0" bIns="0" rtlCol="0" anchor="t"/>
          <a:lstStyle/>
          <a:p>
            <a:pPr marL="0" indent="0" algn="ctr">
              <a:buNone/>
            </a:pPr>
            <a:r>
              <a:rPr lang="en-US" sz="540" b="1" kern="0" spc="100" dirty="0">
                <a:solidFill>
                  <a:srgbClr val="8C6239"/>
                </a:solidFill>
              </a:rPr>
              <a:t>TRANSPORTATION</a:t>
            </a:r>
            <a:endParaRPr lang="en-US" sz="540" dirty="0"/>
          </a:p>
        </p:txBody>
      </p:sp>
      <p:sp>
        <p:nvSpPr>
          <p:cNvPr id="119"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Public Company Performance and Trends: Valuation History</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Manufacturing, distribution and transportation companies trade above every year-end multiple of the past five years.</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Median enterprise value to trailing EBITDA for 38 listed companies at each company’s fiscal year-end from 2021 to 2025 and today; the five-year high, low and median under each chart use the year-end values. Source: </a:t>
            </a:r>
            <a:r>
              <a:rPr lang="en-US" sz="675" u="sng" dirty="0">
                <a:solidFill>
                  <a:srgbClr val="8C6239"/>
                </a:solidFill>
                <a:hlinkClick r:id="rId3" tooltip="https://stockanalysis.com/">
                  <a:extLst>
                    <a:ext uri="{A12FA001-AC4F-418D-AE19-62706E023703}">
                      <ahyp:hlinkClr xmlns:ahyp="http://schemas.microsoft.com/office/drawing/2018/hyperlinkcolor" val="tx"/>
                    </a:ext>
                  </a:extLst>
                </a:hlinkClick>
              </a:rPr>
              <a:t>StockAnalysis</a:t>
            </a:r>
            <a:r>
              <a:rPr lang="en-US" sz="675" dirty="0">
                <a:solidFill>
                  <a:srgbClr val="6F6A66"/>
                </a:solidFill>
              </a:rPr>
              <a:t>, retrieved October 5 to 7, 2026, with share prices from September 28 to October 7, 2026. Multiples use reported EBITDA.</a:t>
            </a:r>
            <a:endParaRPr lang="en-US" sz="675" dirty="0"/>
          </a:p>
        </p:txBody>
      </p:sp>
      <p:sp>
        <p:nvSpPr>
          <p:cNvPr id="5" name="Manufacturing &amp; Industrial Tech panel"/>
          <p:cNvSpPr/>
          <p:nvPr/>
        </p:nvSpPr>
        <p:spPr>
          <a:xfrm>
            <a:off x="419100" y="1238250"/>
            <a:ext cx="1767840" cy="4438650"/>
          </a:xfrm>
          <a:prstGeom prst="rect">
            <a:avLst/>
          </a:prstGeom>
          <a:solidFill>
            <a:srgbClr val="FAF7F3"/>
          </a:solidFill>
          <a:ln/>
        </p:spPr>
        <p:txBody>
          <a:bodyPr/>
          <a:lstStyle/>
          <a:p>
            <a:endParaRPr lang="en-US"/>
          </a:p>
        </p:txBody>
      </p:sp>
      <p:sp>
        <p:nvSpPr>
          <p:cNvPr id="6" name="Shape 4"/>
          <p:cNvSpPr/>
          <p:nvPr/>
        </p:nvSpPr>
        <p:spPr>
          <a:xfrm>
            <a:off x="419100" y="1238250"/>
            <a:ext cx="1767840" cy="28575"/>
          </a:xfrm>
          <a:prstGeom prst="rect">
            <a:avLst/>
          </a:prstGeom>
          <a:solidFill>
            <a:srgbClr val="B68757"/>
          </a:solidFill>
          <a:ln/>
        </p:spPr>
        <p:txBody>
          <a:bodyPr/>
          <a:lstStyle/>
          <a:p>
            <a:endParaRPr lang="en-US"/>
          </a:p>
        </p:txBody>
      </p:sp>
      <p:pic>
        <p:nvPicPr>
          <p:cNvPr id="7" name="Image 0" descr="/tmp/claude-0/-home-claude-about/b7ea608c-3502-5da6-986c-4c57d144c940/scratchpad/brief/pptx/icons/factory_dg.png"/>
          <p:cNvPicPr>
            <a:picLocks noChangeAspect="1"/>
          </p:cNvPicPr>
          <p:nvPr/>
        </p:nvPicPr>
        <p:blipFill>
          <a:blip r:embed="rId4"/>
          <a:stretch>
            <a:fillRect/>
          </a:stretch>
        </p:blipFill>
        <p:spPr>
          <a:xfrm>
            <a:off x="533400" y="1409700"/>
            <a:ext cx="142875" cy="142875"/>
          </a:xfrm>
          <a:prstGeom prst="rect">
            <a:avLst/>
          </a:prstGeom>
        </p:spPr>
      </p:pic>
      <p:sp>
        <p:nvSpPr>
          <p:cNvPr id="8" name="Text 5"/>
          <p:cNvSpPr txBox="1"/>
          <p:nvPr/>
        </p:nvSpPr>
        <p:spPr>
          <a:xfrm>
            <a:off x="723900" y="1352550"/>
            <a:ext cx="1386840" cy="285750"/>
          </a:xfrm>
          <a:prstGeom prst="rect">
            <a:avLst/>
          </a:prstGeom>
          <a:noFill/>
          <a:ln/>
        </p:spPr>
        <p:txBody>
          <a:bodyPr wrap="square" lIns="0" tIns="0" rIns="0" bIns="0" rtlCol="0" anchor="ctr"/>
          <a:lstStyle/>
          <a:p>
            <a:pPr marL="0" indent="0">
              <a:lnSpc>
                <a:spcPts val="1013"/>
              </a:lnSpc>
              <a:buNone/>
            </a:pPr>
            <a:r>
              <a:rPr lang="en-US" sz="780" b="1" dirty="0">
                <a:solidFill>
                  <a:srgbClr val="1B1A1A"/>
                </a:solidFill>
              </a:rPr>
              <a:t>Manufacturing &amp; Industrial Tech</a:t>
            </a:r>
            <a:endParaRPr lang="en-US" sz="780" dirty="0"/>
          </a:p>
        </p:txBody>
      </p:sp>
      <p:sp>
        <p:nvSpPr>
          <p:cNvPr id="9" name="Text 6"/>
          <p:cNvSpPr txBox="1"/>
          <p:nvPr/>
        </p:nvSpPr>
        <p:spPr>
          <a:xfrm>
            <a:off x="533400" y="1676400"/>
            <a:ext cx="1577340" cy="342900"/>
          </a:xfrm>
          <a:prstGeom prst="rect">
            <a:avLst/>
          </a:prstGeom>
          <a:noFill/>
          <a:ln/>
        </p:spPr>
        <p:txBody>
          <a:bodyPr wrap="square" lIns="0" tIns="0" rIns="0" bIns="0" rtlCol="0" anchor="b"/>
          <a:lstStyle/>
          <a:p>
            <a:pPr marL="0" indent="0">
              <a:buNone/>
            </a:pPr>
            <a:r>
              <a:rPr lang="en-US" sz="2250" b="1" dirty="0">
                <a:solidFill>
                  <a:srgbClr val="8C6239"/>
                </a:solidFill>
                <a:latin typeface="+mj-lt" pitchFamily="34" charset="0"/>
              </a:rPr>
              <a:t>23.0x</a:t>
            </a:r>
            <a:r>
              <a:rPr lang="en-US" sz="675" dirty="0">
                <a:solidFill>
                  <a:srgbClr val="6F6A66"/>
                </a:solidFill>
              </a:rPr>
              <a:t>  median today</a:t>
            </a:r>
            <a:endParaRPr lang="en-US" sz="2250" dirty="0"/>
          </a:p>
        </p:txBody>
      </p:sp>
      <p:graphicFrame>
        <p:nvGraphicFramePr>
          <p:cNvPr id="10" name="Manufacturing &amp; Industrial Tech multiple history"/>
          <p:cNvGraphicFramePr/>
          <p:nvPr/>
        </p:nvGraphicFramePr>
        <p:xfrm>
          <a:off x="438150" y="2076450"/>
          <a:ext cx="1729740" cy="18669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14350" y="4000500"/>
          <a:ext cx="1577340" cy="800100"/>
        </p:xfrm>
        <a:graphic>
          <a:graphicData uri="http://schemas.openxmlformats.org/drawingml/2006/table">
            <a:tbl>
              <a:tblPr/>
              <a:tblGrid>
                <a:gridCol w="110109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tblGrid>
              <a:tr h="200025">
                <a:tc>
                  <a:txBody>
                    <a:bodyPr/>
                    <a:lstStyle/>
                    <a:p>
                      <a:pPr marL="0" indent="0">
                        <a:buNone/>
                      </a:pPr>
                      <a:r>
                        <a:rPr lang="en-US" sz="720" dirty="0">
                          <a:solidFill>
                            <a:srgbClr val="6F6A66"/>
                          </a:solidFill>
                        </a:rPr>
                        <a:t>Five-year high</a:t>
                      </a:r>
                      <a:endParaRPr lang="en-US" sz="720" dirty="0"/>
                    </a:p>
                  </a:txBody>
                  <a:tcPr marL="0" marR="0" marT="12700" marB="12700" anchor="ctr">
                    <a:lnL w="0" cap="flat" cmpd="sng" algn="ctr">
                      <a:noFill/>
                    </a:lnL>
                    <a:lnR w="0" cap="flat" cmpd="sng" algn="ctr">
                      <a:noFill/>
                    </a:lnR>
                    <a:lnT w="6350" cap="flat" cmpd="sng" algn="ctr">
                      <a:solidFill>
                        <a:srgbClr val="E3DCD3"/>
                      </a:solid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18.0x</a:t>
                      </a:r>
                      <a:endParaRPr lang="en-US" sz="720" dirty="0"/>
                    </a:p>
                  </a:txBody>
                  <a:tcPr marL="0" marR="0" marT="12700" marB="12700" anchor="ctr">
                    <a:lnL w="0" cap="flat" cmpd="sng" algn="ctr">
                      <a:noFill/>
                    </a:lnL>
                    <a:lnR w="0" cap="flat" cmpd="sng" algn="ctr">
                      <a:noFill/>
                    </a:lnR>
                    <a:lnT w="6350"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00"/>
                  </a:ext>
                </a:extLst>
              </a:tr>
              <a:tr h="200025">
                <a:tc>
                  <a:txBody>
                    <a:bodyPr/>
                    <a:lstStyle/>
                    <a:p>
                      <a:pPr marL="0" indent="0">
                        <a:buNone/>
                      </a:pPr>
                      <a:r>
                        <a:rPr lang="en-US" sz="720" dirty="0">
                          <a:solidFill>
                            <a:srgbClr val="6F6A66"/>
                          </a:solidFill>
                        </a:rPr>
                        <a:t>Five-year low</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12.8x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200025">
                <a:tc>
                  <a:txBody>
                    <a:bodyPr/>
                    <a:lstStyle/>
                    <a:p>
                      <a:pPr marL="0" indent="0">
                        <a:buNone/>
                      </a:pPr>
                      <a:r>
                        <a:rPr lang="en-US" sz="720" dirty="0">
                          <a:solidFill>
                            <a:srgbClr val="6F6A66"/>
                          </a:solidFill>
                        </a:rPr>
                        <a:t>Five-year median</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15.6x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200025">
                <a:tc>
                  <a:txBody>
                    <a:bodyPr/>
                    <a:lstStyle/>
                    <a:p>
                      <a:pPr marL="0" indent="0">
                        <a:buNone/>
                      </a:pPr>
                      <a:r>
                        <a:rPr lang="en-US" sz="720" dirty="0">
                          <a:solidFill>
                            <a:srgbClr val="6F6A66"/>
                          </a:solidFill>
                        </a:rPr>
                        <a:t>Today against the median</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+7.3x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bl>
          </a:graphicData>
        </a:graphic>
      </p:graphicFrame>
      <p:sp>
        <p:nvSpPr>
          <p:cNvPr id="12" name="Shape 7"/>
          <p:cNvSpPr/>
          <p:nvPr/>
        </p:nvSpPr>
        <p:spPr>
          <a:xfrm>
            <a:off x="514350" y="4914900"/>
            <a:ext cx="1577340" cy="0"/>
          </a:xfrm>
          <a:prstGeom prst="line">
            <a:avLst/>
          </a:prstGeom>
          <a:noFill/>
          <a:ln w="9525">
            <a:solidFill>
              <a:srgbClr val="E3DCD3"/>
            </a:solidFill>
            <a:prstDash val="solid"/>
          </a:ln>
        </p:spPr>
        <p:txBody>
          <a:bodyPr/>
          <a:lstStyle/>
          <a:p>
            <a:endParaRPr lang="en-US"/>
          </a:p>
        </p:txBody>
      </p:sp>
      <p:sp>
        <p:nvSpPr>
          <p:cNvPr id="13" name="Text 8"/>
          <p:cNvSpPr txBox="1"/>
          <p:nvPr/>
        </p:nvSpPr>
        <p:spPr>
          <a:xfrm>
            <a:off x="514350" y="4972050"/>
            <a:ext cx="1577340" cy="666750"/>
          </a:xfrm>
          <a:prstGeom prst="rect">
            <a:avLst/>
          </a:prstGeom>
          <a:noFill/>
          <a:ln/>
        </p:spPr>
        <p:txBody>
          <a:bodyPr wrap="square" lIns="0" tIns="0" rIns="0" bIns="0" rtlCol="0" anchor="t"/>
          <a:lstStyle/>
          <a:p>
            <a:pPr marL="0" indent="0">
              <a:lnSpc>
                <a:spcPts val="900"/>
              </a:lnSpc>
              <a:buNone/>
            </a:pPr>
            <a:r>
              <a:rPr lang="en-US" sz="645" b="1" dirty="0">
                <a:solidFill>
                  <a:srgbClr val="333231"/>
                </a:solidFill>
              </a:rPr>
              <a:t>7 companies: </a:t>
            </a:r>
            <a:r>
              <a:rPr lang="en-US" sz="645" dirty="0">
                <a:solidFill>
                  <a:srgbClr val="6F6A66"/>
                </a:solidFill>
              </a:rPr>
              <a:t>Parker Hannifin, Rockwell Automation, ITT, Flowserve, Franklin Electric, Sanmina, Howmet Aerospace</a:t>
            </a:r>
            <a:endParaRPr lang="en-US" sz="645" dirty="0"/>
          </a:p>
        </p:txBody>
      </p:sp>
      <p:sp>
        <p:nvSpPr>
          <p:cNvPr id="14" name="Distribution &amp; Services panel"/>
          <p:cNvSpPr/>
          <p:nvPr/>
        </p:nvSpPr>
        <p:spPr>
          <a:xfrm>
            <a:off x="2282190" y="1238250"/>
            <a:ext cx="1767840" cy="4438650"/>
          </a:xfrm>
          <a:prstGeom prst="rect">
            <a:avLst/>
          </a:prstGeom>
          <a:solidFill>
            <a:srgbClr val="FAF7F3"/>
          </a:solidFill>
          <a:ln/>
        </p:spPr>
        <p:txBody>
          <a:bodyPr/>
          <a:lstStyle/>
          <a:p>
            <a:endParaRPr lang="en-US"/>
          </a:p>
        </p:txBody>
      </p:sp>
      <p:sp>
        <p:nvSpPr>
          <p:cNvPr id="15" name="Shape 10"/>
          <p:cNvSpPr/>
          <p:nvPr/>
        </p:nvSpPr>
        <p:spPr>
          <a:xfrm>
            <a:off x="2282190" y="1238250"/>
            <a:ext cx="1767840" cy="28575"/>
          </a:xfrm>
          <a:prstGeom prst="rect">
            <a:avLst/>
          </a:prstGeom>
          <a:solidFill>
            <a:srgbClr val="B68757"/>
          </a:solidFill>
          <a:ln/>
        </p:spPr>
        <p:txBody>
          <a:bodyPr/>
          <a:lstStyle/>
          <a:p>
            <a:endParaRPr lang="en-US"/>
          </a:p>
        </p:txBody>
      </p:sp>
      <p:pic>
        <p:nvPicPr>
          <p:cNvPr id="16" name="Image 1" descr="/tmp/claude-0/-home-claude-about/b7ea608c-3502-5da6-986c-4c57d144c940/scratchpad/brief/pptx/icons/boxes_dg.png"/>
          <p:cNvPicPr>
            <a:picLocks noChangeAspect="1"/>
          </p:cNvPicPr>
          <p:nvPr/>
        </p:nvPicPr>
        <p:blipFill>
          <a:blip r:embed="rId6"/>
          <a:stretch>
            <a:fillRect/>
          </a:stretch>
        </p:blipFill>
        <p:spPr>
          <a:xfrm>
            <a:off x="2396490" y="1409700"/>
            <a:ext cx="142875" cy="142875"/>
          </a:xfrm>
          <a:prstGeom prst="rect">
            <a:avLst/>
          </a:prstGeom>
        </p:spPr>
      </p:pic>
      <p:sp>
        <p:nvSpPr>
          <p:cNvPr id="17" name="Text 11"/>
          <p:cNvSpPr txBox="1"/>
          <p:nvPr/>
        </p:nvSpPr>
        <p:spPr>
          <a:xfrm>
            <a:off x="2586990" y="1352550"/>
            <a:ext cx="1386840" cy="285750"/>
          </a:xfrm>
          <a:prstGeom prst="rect">
            <a:avLst/>
          </a:prstGeom>
          <a:noFill/>
          <a:ln/>
        </p:spPr>
        <p:txBody>
          <a:bodyPr wrap="square" lIns="0" tIns="0" rIns="0" bIns="0" rtlCol="0" anchor="ctr"/>
          <a:lstStyle/>
          <a:p>
            <a:pPr marL="0" indent="0">
              <a:lnSpc>
                <a:spcPts val="1013"/>
              </a:lnSpc>
              <a:buNone/>
            </a:pPr>
            <a:r>
              <a:rPr lang="en-US" sz="780" b="1" dirty="0">
                <a:solidFill>
                  <a:srgbClr val="1B1A1A"/>
                </a:solidFill>
              </a:rPr>
              <a:t>Distribution &amp; Services</a:t>
            </a:r>
            <a:endParaRPr lang="en-US" sz="780" dirty="0"/>
          </a:p>
        </p:txBody>
      </p:sp>
      <p:sp>
        <p:nvSpPr>
          <p:cNvPr id="18" name="Text 12"/>
          <p:cNvSpPr txBox="1"/>
          <p:nvPr/>
        </p:nvSpPr>
        <p:spPr>
          <a:xfrm>
            <a:off x="2396490" y="1676400"/>
            <a:ext cx="1577340" cy="342900"/>
          </a:xfrm>
          <a:prstGeom prst="rect">
            <a:avLst/>
          </a:prstGeom>
          <a:noFill/>
          <a:ln/>
        </p:spPr>
        <p:txBody>
          <a:bodyPr wrap="square" lIns="0" tIns="0" rIns="0" bIns="0" rtlCol="0" anchor="b"/>
          <a:lstStyle/>
          <a:p>
            <a:pPr marL="0" indent="0">
              <a:buNone/>
            </a:pPr>
            <a:r>
              <a:rPr lang="en-US" sz="2250" b="1" dirty="0">
                <a:solidFill>
                  <a:srgbClr val="8C6239"/>
                </a:solidFill>
                <a:latin typeface="+mj-lt" pitchFamily="34" charset="0"/>
              </a:rPr>
              <a:t>17.7x</a:t>
            </a:r>
            <a:r>
              <a:rPr lang="en-US" sz="675" dirty="0">
                <a:solidFill>
                  <a:srgbClr val="6F6A66"/>
                </a:solidFill>
              </a:rPr>
              <a:t>  median today</a:t>
            </a:r>
            <a:endParaRPr lang="en-US" sz="2250" dirty="0"/>
          </a:p>
        </p:txBody>
      </p:sp>
      <p:graphicFrame>
        <p:nvGraphicFramePr>
          <p:cNvPr id="19" name="Distribution &amp; Services multiple history"/>
          <p:cNvGraphicFramePr/>
          <p:nvPr/>
        </p:nvGraphicFramePr>
        <p:xfrm>
          <a:off x="2301240" y="2076450"/>
          <a:ext cx="1729740" cy="18669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2377440" y="4000500"/>
          <a:ext cx="1577340" cy="800100"/>
        </p:xfrm>
        <a:graphic>
          <a:graphicData uri="http://schemas.openxmlformats.org/drawingml/2006/table">
            <a:tbl>
              <a:tblPr/>
              <a:tblGrid>
                <a:gridCol w="110109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tblGrid>
              <a:tr h="200025">
                <a:tc>
                  <a:txBody>
                    <a:bodyPr/>
                    <a:lstStyle/>
                    <a:p>
                      <a:pPr marL="0" indent="0">
                        <a:buNone/>
                      </a:pPr>
                      <a:r>
                        <a:rPr lang="en-US" sz="720" dirty="0">
                          <a:solidFill>
                            <a:srgbClr val="6F6A66"/>
                          </a:solidFill>
                        </a:rPr>
                        <a:t>Five-year high</a:t>
                      </a:r>
                      <a:endParaRPr lang="en-US" sz="720" dirty="0"/>
                    </a:p>
                  </a:txBody>
                  <a:tcPr marL="0" marR="0" marT="12700" marB="12700" anchor="ctr">
                    <a:lnL w="0" cap="flat" cmpd="sng" algn="ctr">
                      <a:noFill/>
                    </a:lnL>
                    <a:lnR w="0" cap="flat" cmpd="sng" algn="ctr">
                      <a:noFill/>
                    </a:lnR>
                    <a:lnT w="6350" cap="flat" cmpd="sng" algn="ctr">
                      <a:solidFill>
                        <a:srgbClr val="E3DCD3"/>
                      </a:solid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15.0x</a:t>
                      </a:r>
                      <a:endParaRPr lang="en-US" sz="720" dirty="0"/>
                    </a:p>
                  </a:txBody>
                  <a:tcPr marL="0" marR="0" marT="12700" marB="12700" anchor="ctr">
                    <a:lnL w="0" cap="flat" cmpd="sng" algn="ctr">
                      <a:noFill/>
                    </a:lnL>
                    <a:lnR w="0" cap="flat" cmpd="sng" algn="ctr">
                      <a:noFill/>
                    </a:lnR>
                    <a:lnT w="6350"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00"/>
                  </a:ext>
                </a:extLst>
              </a:tr>
              <a:tr h="200025">
                <a:tc>
                  <a:txBody>
                    <a:bodyPr/>
                    <a:lstStyle/>
                    <a:p>
                      <a:pPr marL="0" indent="0">
                        <a:buNone/>
                      </a:pPr>
                      <a:r>
                        <a:rPr lang="en-US" sz="720" dirty="0">
                          <a:solidFill>
                            <a:srgbClr val="6F6A66"/>
                          </a:solidFill>
                        </a:rPr>
                        <a:t>Five-year low</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10.5x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200025">
                <a:tc>
                  <a:txBody>
                    <a:bodyPr/>
                    <a:lstStyle/>
                    <a:p>
                      <a:pPr marL="0" indent="0">
                        <a:buNone/>
                      </a:pPr>
                      <a:r>
                        <a:rPr lang="en-US" sz="720" dirty="0">
                          <a:solidFill>
                            <a:srgbClr val="6F6A66"/>
                          </a:solidFill>
                        </a:rPr>
                        <a:t>Five-year median</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14.3x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200025">
                <a:tc>
                  <a:txBody>
                    <a:bodyPr/>
                    <a:lstStyle/>
                    <a:p>
                      <a:pPr marL="0" indent="0">
                        <a:buNone/>
                      </a:pPr>
                      <a:r>
                        <a:rPr lang="en-US" sz="720" dirty="0">
                          <a:solidFill>
                            <a:srgbClr val="6F6A66"/>
                          </a:solidFill>
                        </a:rPr>
                        <a:t>Today against the median</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+3.4x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bl>
          </a:graphicData>
        </a:graphic>
      </p:graphicFrame>
      <p:sp>
        <p:nvSpPr>
          <p:cNvPr id="20" name="Shape 13"/>
          <p:cNvSpPr/>
          <p:nvPr/>
        </p:nvSpPr>
        <p:spPr>
          <a:xfrm>
            <a:off x="2377440" y="4914900"/>
            <a:ext cx="1577340" cy="0"/>
          </a:xfrm>
          <a:prstGeom prst="line">
            <a:avLst/>
          </a:prstGeom>
          <a:noFill/>
          <a:ln w="9525">
            <a:solidFill>
              <a:srgbClr val="E3DCD3"/>
            </a:solidFill>
            <a:prstDash val="solid"/>
          </a:ln>
        </p:spPr>
        <p:txBody>
          <a:bodyPr/>
          <a:lstStyle/>
          <a:p>
            <a:endParaRPr lang="en-US"/>
          </a:p>
        </p:txBody>
      </p:sp>
      <p:sp>
        <p:nvSpPr>
          <p:cNvPr id="22" name="Text 14"/>
          <p:cNvSpPr txBox="1"/>
          <p:nvPr/>
        </p:nvSpPr>
        <p:spPr>
          <a:xfrm>
            <a:off x="2377440" y="4972050"/>
            <a:ext cx="1577340" cy="666750"/>
          </a:xfrm>
          <a:prstGeom prst="rect">
            <a:avLst/>
          </a:prstGeom>
          <a:noFill/>
          <a:ln/>
        </p:spPr>
        <p:txBody>
          <a:bodyPr wrap="square" lIns="0" tIns="0" rIns="0" bIns="0" rtlCol="0" anchor="t"/>
          <a:lstStyle/>
          <a:p>
            <a:pPr marL="0" indent="0">
              <a:lnSpc>
                <a:spcPts val="900"/>
              </a:lnSpc>
              <a:buNone/>
            </a:pPr>
            <a:r>
              <a:rPr lang="en-US" sz="645" b="1" dirty="0">
                <a:solidFill>
                  <a:srgbClr val="333231"/>
                </a:solidFill>
              </a:rPr>
              <a:t>8 companies: </a:t>
            </a:r>
            <a:r>
              <a:rPr lang="en-US" sz="645" dirty="0">
                <a:solidFill>
                  <a:srgbClr val="6F6A66"/>
                </a:solidFill>
              </a:rPr>
              <a:t>Fastenal, W.W. Grainger, Applied Industrial Technologies, MSC Industrial Direct, DXP Enterprises, Distribution Solutions, APi, WESCO</a:t>
            </a:r>
            <a:endParaRPr lang="en-US" sz="645" dirty="0"/>
          </a:p>
        </p:txBody>
      </p:sp>
      <p:sp>
        <p:nvSpPr>
          <p:cNvPr id="23" name="Building Products &amp; Construction panel"/>
          <p:cNvSpPr/>
          <p:nvPr/>
        </p:nvSpPr>
        <p:spPr>
          <a:xfrm>
            <a:off x="4145280" y="1238250"/>
            <a:ext cx="1767840" cy="4438650"/>
          </a:xfrm>
          <a:prstGeom prst="rect">
            <a:avLst/>
          </a:prstGeom>
          <a:solidFill>
            <a:srgbClr val="FAF7F3"/>
          </a:solidFill>
          <a:ln/>
        </p:spPr>
        <p:txBody>
          <a:bodyPr/>
          <a:lstStyle/>
          <a:p>
            <a:endParaRPr lang="en-US"/>
          </a:p>
        </p:txBody>
      </p:sp>
      <p:sp>
        <p:nvSpPr>
          <p:cNvPr id="24" name="Shape 16"/>
          <p:cNvSpPr/>
          <p:nvPr/>
        </p:nvSpPr>
        <p:spPr>
          <a:xfrm>
            <a:off x="4145280" y="1238250"/>
            <a:ext cx="1767840" cy="28575"/>
          </a:xfrm>
          <a:prstGeom prst="rect">
            <a:avLst/>
          </a:prstGeom>
          <a:solidFill>
            <a:srgbClr val="B68757"/>
          </a:solidFill>
          <a:ln/>
        </p:spPr>
        <p:txBody>
          <a:bodyPr/>
          <a:lstStyle/>
          <a:p>
            <a:endParaRPr lang="en-US"/>
          </a:p>
        </p:txBody>
      </p:sp>
      <p:pic>
        <p:nvPicPr>
          <p:cNvPr id="25" name="Image 2" descr="/tmp/claude-0/-home-claude-about/b7ea608c-3502-5da6-986c-4c57d144c940/scratchpad/brief/pptx/icons/building_dg.png"/>
          <p:cNvPicPr>
            <a:picLocks noChangeAspect="1"/>
          </p:cNvPicPr>
          <p:nvPr/>
        </p:nvPicPr>
        <p:blipFill>
          <a:blip r:embed="rId8"/>
          <a:stretch>
            <a:fillRect/>
          </a:stretch>
        </p:blipFill>
        <p:spPr>
          <a:xfrm>
            <a:off x="4259580" y="1409700"/>
            <a:ext cx="142875" cy="142875"/>
          </a:xfrm>
          <a:prstGeom prst="rect">
            <a:avLst/>
          </a:prstGeom>
        </p:spPr>
      </p:pic>
      <p:sp>
        <p:nvSpPr>
          <p:cNvPr id="26" name="Text 17"/>
          <p:cNvSpPr txBox="1"/>
          <p:nvPr/>
        </p:nvSpPr>
        <p:spPr>
          <a:xfrm>
            <a:off x="4450080" y="1352550"/>
            <a:ext cx="1386840" cy="285750"/>
          </a:xfrm>
          <a:prstGeom prst="rect">
            <a:avLst/>
          </a:prstGeom>
          <a:noFill/>
          <a:ln/>
        </p:spPr>
        <p:txBody>
          <a:bodyPr wrap="square" lIns="0" tIns="0" rIns="0" bIns="0" rtlCol="0" anchor="ctr"/>
          <a:lstStyle/>
          <a:p>
            <a:pPr marL="0" indent="0">
              <a:lnSpc>
                <a:spcPts val="1013"/>
              </a:lnSpc>
              <a:buNone/>
            </a:pPr>
            <a:r>
              <a:rPr lang="en-US" sz="780" b="1" dirty="0">
                <a:solidFill>
                  <a:srgbClr val="1B1A1A"/>
                </a:solidFill>
              </a:rPr>
              <a:t>Building Products &amp; Construction</a:t>
            </a:r>
            <a:endParaRPr lang="en-US" sz="780" dirty="0"/>
          </a:p>
        </p:txBody>
      </p:sp>
      <p:sp>
        <p:nvSpPr>
          <p:cNvPr id="27" name="Text 18"/>
          <p:cNvSpPr txBox="1"/>
          <p:nvPr/>
        </p:nvSpPr>
        <p:spPr>
          <a:xfrm>
            <a:off x="4259580" y="1676400"/>
            <a:ext cx="1577340" cy="342900"/>
          </a:xfrm>
          <a:prstGeom prst="rect">
            <a:avLst/>
          </a:prstGeom>
          <a:noFill/>
          <a:ln/>
        </p:spPr>
        <p:txBody>
          <a:bodyPr wrap="square" lIns="0" tIns="0" rIns="0" bIns="0" rtlCol="0" anchor="b"/>
          <a:lstStyle/>
          <a:p>
            <a:pPr marL="0" indent="0">
              <a:buNone/>
            </a:pPr>
            <a:r>
              <a:rPr lang="en-US" sz="2250" b="1" dirty="0">
                <a:solidFill>
                  <a:srgbClr val="8C6239"/>
                </a:solidFill>
                <a:latin typeface="+mj-lt" pitchFamily="34" charset="0"/>
              </a:rPr>
              <a:t>15.1x</a:t>
            </a:r>
            <a:r>
              <a:rPr lang="en-US" sz="675" dirty="0">
                <a:solidFill>
                  <a:srgbClr val="6F6A66"/>
                </a:solidFill>
              </a:rPr>
              <a:t>  median today</a:t>
            </a:r>
            <a:endParaRPr lang="en-US" sz="2250" dirty="0"/>
          </a:p>
        </p:txBody>
      </p:sp>
      <p:graphicFrame>
        <p:nvGraphicFramePr>
          <p:cNvPr id="28" name="Building Products &amp; Construction multiple history"/>
          <p:cNvGraphicFramePr/>
          <p:nvPr/>
        </p:nvGraphicFramePr>
        <p:xfrm>
          <a:off x="4164330" y="2076450"/>
          <a:ext cx="1729740" cy="186690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1" name="Table 2"/>
          <p:cNvGraphicFramePr>
            <a:graphicFrameLocks noGrp="1"/>
          </p:cNvGraphicFramePr>
          <p:nvPr>
            <p:extLst>
              <p:ext uri="{D42A27DB-BD31-4B8C-83A1-F6EECF244321}">
                <p14:modId xmlns:p14="http://schemas.microsoft.com/office/powerpoint/2010/main" val="1579011935"/>
              </p:ext>
            </p:extLst>
          </p:nvPr>
        </p:nvGraphicFramePr>
        <p:xfrm>
          <a:off x="4240530" y="4000500"/>
          <a:ext cx="1577340" cy="800100"/>
        </p:xfrm>
        <a:graphic>
          <a:graphicData uri="http://schemas.openxmlformats.org/drawingml/2006/table">
            <a:tbl>
              <a:tblPr/>
              <a:tblGrid>
                <a:gridCol w="110109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tblGrid>
              <a:tr h="200025">
                <a:tc>
                  <a:txBody>
                    <a:bodyPr/>
                    <a:lstStyle/>
                    <a:p>
                      <a:pPr marL="0" indent="0">
                        <a:buNone/>
                      </a:pPr>
                      <a:r>
                        <a:rPr lang="en-US" sz="720" dirty="0">
                          <a:solidFill>
                            <a:srgbClr val="6F6A66"/>
                          </a:solidFill>
                        </a:rPr>
                        <a:t>Five-year high</a:t>
                      </a:r>
                      <a:endParaRPr lang="en-US" sz="720" dirty="0"/>
                    </a:p>
                  </a:txBody>
                  <a:tcPr marL="0" marR="0" marT="12700" marB="12700" anchor="ctr">
                    <a:lnL w="0" cap="flat" cmpd="sng" algn="ctr">
                      <a:noFill/>
                    </a:lnL>
                    <a:lnR w="0" cap="flat" cmpd="sng" algn="ctr">
                      <a:noFill/>
                    </a:lnR>
                    <a:lnT w="6350" cap="flat" cmpd="sng" algn="ctr">
                      <a:solidFill>
                        <a:srgbClr val="E3DCD3"/>
                      </a:solid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16.6x</a:t>
                      </a:r>
                      <a:endParaRPr lang="en-US" sz="720" dirty="0"/>
                    </a:p>
                  </a:txBody>
                  <a:tcPr marL="0" marR="0" marT="12700" marB="12700" anchor="ctr">
                    <a:lnL w="0" cap="flat" cmpd="sng" algn="ctr">
                      <a:noFill/>
                    </a:lnL>
                    <a:lnR w="0" cap="flat" cmpd="sng" algn="ctr">
                      <a:noFill/>
                    </a:lnR>
                    <a:lnT w="6350"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00"/>
                  </a:ext>
                </a:extLst>
              </a:tr>
              <a:tr h="200025">
                <a:tc>
                  <a:txBody>
                    <a:bodyPr/>
                    <a:lstStyle/>
                    <a:p>
                      <a:pPr marL="0" indent="0">
                        <a:buNone/>
                      </a:pPr>
                      <a:r>
                        <a:rPr lang="en-US" sz="720" dirty="0">
                          <a:solidFill>
                            <a:srgbClr val="6F6A66"/>
                          </a:solidFill>
                        </a:rPr>
                        <a:t>Five-year low</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9.9x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200025">
                <a:tc>
                  <a:txBody>
                    <a:bodyPr/>
                    <a:lstStyle/>
                    <a:p>
                      <a:pPr marL="0" indent="0">
                        <a:buNone/>
                      </a:pPr>
                      <a:r>
                        <a:rPr lang="en-US" sz="720" dirty="0">
                          <a:solidFill>
                            <a:srgbClr val="6F6A66"/>
                          </a:solidFill>
                        </a:rPr>
                        <a:t>Five-year median</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13.6x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200025">
                <a:tc>
                  <a:txBody>
                    <a:bodyPr/>
                    <a:lstStyle/>
                    <a:p>
                      <a:pPr marL="0" indent="0">
                        <a:buNone/>
                      </a:pPr>
                      <a:r>
                        <a:rPr lang="en-US" sz="720" dirty="0">
                          <a:solidFill>
                            <a:srgbClr val="6F6A66"/>
                          </a:solidFill>
                        </a:rPr>
                        <a:t>Today against the median</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+1.5x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bl>
          </a:graphicData>
        </a:graphic>
      </p:graphicFrame>
      <p:sp>
        <p:nvSpPr>
          <p:cNvPr id="30" name="Shape 19"/>
          <p:cNvSpPr/>
          <p:nvPr/>
        </p:nvSpPr>
        <p:spPr>
          <a:xfrm>
            <a:off x="4240530" y="4914900"/>
            <a:ext cx="1577340" cy="0"/>
          </a:xfrm>
          <a:prstGeom prst="line">
            <a:avLst/>
          </a:prstGeom>
          <a:noFill/>
          <a:ln w="9525">
            <a:solidFill>
              <a:srgbClr val="E3DCD3"/>
            </a:solidFill>
            <a:prstDash val="solid"/>
          </a:ln>
        </p:spPr>
        <p:txBody>
          <a:bodyPr/>
          <a:lstStyle/>
          <a:p>
            <a:endParaRPr lang="en-US"/>
          </a:p>
        </p:txBody>
      </p:sp>
      <p:sp>
        <p:nvSpPr>
          <p:cNvPr id="29" name="Text 20"/>
          <p:cNvSpPr txBox="1"/>
          <p:nvPr/>
        </p:nvSpPr>
        <p:spPr>
          <a:xfrm>
            <a:off x="4240530" y="4972050"/>
            <a:ext cx="1577340" cy="666750"/>
          </a:xfrm>
          <a:prstGeom prst="rect">
            <a:avLst/>
          </a:prstGeom>
          <a:noFill/>
          <a:ln/>
        </p:spPr>
        <p:txBody>
          <a:bodyPr wrap="square" lIns="0" tIns="0" rIns="0" bIns="0" rtlCol="0" anchor="t"/>
          <a:lstStyle/>
          <a:p>
            <a:pPr marL="0" indent="0">
              <a:lnSpc>
                <a:spcPts val="900"/>
              </a:lnSpc>
              <a:buNone/>
            </a:pPr>
            <a:r>
              <a:rPr lang="en-US" sz="645" b="1" dirty="0">
                <a:solidFill>
                  <a:srgbClr val="333231"/>
                </a:solidFill>
              </a:rPr>
              <a:t>8 companies: </a:t>
            </a:r>
            <a:r>
              <a:rPr lang="en-US" sz="645" dirty="0">
                <a:solidFill>
                  <a:srgbClr val="6F6A66"/>
                </a:solidFill>
              </a:rPr>
              <a:t>Comfort Systems USA, EMCOR, IES, Limbach, Granite Construction, Construction Partners, Builders FirstSource, Watsco</a:t>
            </a:r>
            <a:endParaRPr lang="en-US" sz="645" dirty="0"/>
          </a:p>
        </p:txBody>
      </p:sp>
      <p:sp>
        <p:nvSpPr>
          <p:cNvPr id="32" name="Energy, Power &amp; Environmental panel"/>
          <p:cNvSpPr/>
          <p:nvPr/>
        </p:nvSpPr>
        <p:spPr>
          <a:xfrm>
            <a:off x="6008370" y="1238250"/>
            <a:ext cx="1767840" cy="4438650"/>
          </a:xfrm>
          <a:prstGeom prst="rect">
            <a:avLst/>
          </a:prstGeom>
          <a:solidFill>
            <a:srgbClr val="FAF7F3"/>
          </a:solidFill>
          <a:ln/>
        </p:spPr>
        <p:txBody>
          <a:bodyPr/>
          <a:lstStyle/>
          <a:p>
            <a:endParaRPr lang="en-US"/>
          </a:p>
        </p:txBody>
      </p:sp>
      <p:sp>
        <p:nvSpPr>
          <p:cNvPr id="33" name="Shape 22"/>
          <p:cNvSpPr/>
          <p:nvPr/>
        </p:nvSpPr>
        <p:spPr>
          <a:xfrm>
            <a:off x="6008370" y="1238250"/>
            <a:ext cx="1767840" cy="28575"/>
          </a:xfrm>
          <a:prstGeom prst="rect">
            <a:avLst/>
          </a:prstGeom>
          <a:solidFill>
            <a:srgbClr val="B68757"/>
          </a:solidFill>
          <a:ln/>
        </p:spPr>
        <p:txBody>
          <a:bodyPr/>
          <a:lstStyle/>
          <a:p>
            <a:endParaRPr lang="en-US"/>
          </a:p>
        </p:txBody>
      </p:sp>
      <p:pic>
        <p:nvPicPr>
          <p:cNvPr id="34" name="Image 3" descr="/tmp/claude-0/-home-claude-about/b7ea608c-3502-5da6-986c-4c57d144c940/scratchpad/brief/pptx/icons/bolt_dg.png"/>
          <p:cNvPicPr>
            <a:picLocks noChangeAspect="1"/>
          </p:cNvPicPr>
          <p:nvPr/>
        </p:nvPicPr>
        <p:blipFill>
          <a:blip r:embed="rId10"/>
          <a:stretch>
            <a:fillRect/>
          </a:stretch>
        </p:blipFill>
        <p:spPr>
          <a:xfrm>
            <a:off x="6122670" y="1409700"/>
            <a:ext cx="142875" cy="142875"/>
          </a:xfrm>
          <a:prstGeom prst="rect">
            <a:avLst/>
          </a:prstGeom>
        </p:spPr>
      </p:pic>
      <p:sp>
        <p:nvSpPr>
          <p:cNvPr id="35" name="Text 23"/>
          <p:cNvSpPr txBox="1"/>
          <p:nvPr/>
        </p:nvSpPr>
        <p:spPr>
          <a:xfrm>
            <a:off x="6313170" y="1352550"/>
            <a:ext cx="1386840" cy="285750"/>
          </a:xfrm>
          <a:prstGeom prst="rect">
            <a:avLst/>
          </a:prstGeom>
          <a:noFill/>
          <a:ln/>
        </p:spPr>
        <p:txBody>
          <a:bodyPr wrap="square" lIns="0" tIns="0" rIns="0" bIns="0" rtlCol="0" anchor="ctr"/>
          <a:lstStyle/>
          <a:p>
            <a:pPr marL="0" indent="0">
              <a:lnSpc>
                <a:spcPts val="1013"/>
              </a:lnSpc>
              <a:buNone/>
            </a:pPr>
            <a:r>
              <a:rPr lang="en-US" sz="780" b="1" dirty="0">
                <a:solidFill>
                  <a:srgbClr val="1B1A1A"/>
                </a:solidFill>
              </a:rPr>
              <a:t>Energy, Power &amp; Environmental</a:t>
            </a:r>
            <a:endParaRPr lang="en-US" sz="780" dirty="0"/>
          </a:p>
        </p:txBody>
      </p:sp>
      <p:sp>
        <p:nvSpPr>
          <p:cNvPr id="36" name="Text 24"/>
          <p:cNvSpPr txBox="1"/>
          <p:nvPr/>
        </p:nvSpPr>
        <p:spPr>
          <a:xfrm>
            <a:off x="6122670" y="1676400"/>
            <a:ext cx="1577340" cy="342900"/>
          </a:xfrm>
          <a:prstGeom prst="rect">
            <a:avLst/>
          </a:prstGeom>
          <a:noFill/>
          <a:ln/>
        </p:spPr>
        <p:txBody>
          <a:bodyPr wrap="square" lIns="0" tIns="0" rIns="0" bIns="0" rtlCol="0" anchor="b"/>
          <a:lstStyle/>
          <a:p>
            <a:pPr marL="0" indent="0">
              <a:buNone/>
            </a:pPr>
            <a:r>
              <a:rPr lang="en-US" sz="2250" b="1" dirty="0">
                <a:solidFill>
                  <a:srgbClr val="8C6239"/>
                </a:solidFill>
                <a:latin typeface="+mj-lt" pitchFamily="34" charset="0"/>
              </a:rPr>
              <a:t>16.2x</a:t>
            </a:r>
            <a:r>
              <a:rPr lang="en-US" sz="675" dirty="0">
                <a:solidFill>
                  <a:srgbClr val="6F6A66"/>
                </a:solidFill>
              </a:rPr>
              <a:t>  median today</a:t>
            </a:r>
            <a:endParaRPr lang="en-US" sz="2250" dirty="0"/>
          </a:p>
        </p:txBody>
      </p:sp>
      <p:graphicFrame>
        <p:nvGraphicFramePr>
          <p:cNvPr id="37" name="Energy, Power &amp; Environmental multiple history"/>
          <p:cNvGraphicFramePr/>
          <p:nvPr/>
        </p:nvGraphicFramePr>
        <p:xfrm>
          <a:off x="6027420" y="2076450"/>
          <a:ext cx="1729740" cy="18669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41" name="Table 3"/>
          <p:cNvGraphicFramePr>
            <a:graphicFrameLocks noGrp="1"/>
          </p:cNvGraphicFramePr>
          <p:nvPr>
            <p:extLst>
              <p:ext uri="{D42A27DB-BD31-4B8C-83A1-F6EECF244321}">
                <p14:modId xmlns:p14="http://schemas.microsoft.com/office/powerpoint/2010/main" val="1579011935"/>
              </p:ext>
            </p:extLst>
          </p:nvPr>
        </p:nvGraphicFramePr>
        <p:xfrm>
          <a:off x="6103620" y="4000500"/>
          <a:ext cx="1577340" cy="800100"/>
        </p:xfrm>
        <a:graphic>
          <a:graphicData uri="http://schemas.openxmlformats.org/drawingml/2006/table">
            <a:tbl>
              <a:tblPr/>
              <a:tblGrid>
                <a:gridCol w="110109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tblGrid>
              <a:tr h="200025">
                <a:tc>
                  <a:txBody>
                    <a:bodyPr/>
                    <a:lstStyle/>
                    <a:p>
                      <a:pPr marL="0" indent="0">
                        <a:buNone/>
                      </a:pPr>
                      <a:r>
                        <a:rPr lang="en-US" sz="720" dirty="0">
                          <a:solidFill>
                            <a:srgbClr val="6F6A66"/>
                          </a:solidFill>
                        </a:rPr>
                        <a:t>Five-year high</a:t>
                      </a:r>
                      <a:endParaRPr lang="en-US" sz="720" dirty="0"/>
                    </a:p>
                  </a:txBody>
                  <a:tcPr marL="0" marR="0" marT="12700" marB="12700" anchor="ctr">
                    <a:lnL w="0" cap="flat" cmpd="sng" algn="ctr">
                      <a:noFill/>
                    </a:lnL>
                    <a:lnR w="0" cap="flat" cmpd="sng" algn="ctr">
                      <a:noFill/>
                    </a:lnR>
                    <a:lnT w="6350" cap="flat" cmpd="sng" algn="ctr">
                      <a:solidFill>
                        <a:srgbClr val="E3DCD3"/>
                      </a:solid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23.9x</a:t>
                      </a:r>
                      <a:endParaRPr lang="en-US" sz="720" dirty="0"/>
                    </a:p>
                  </a:txBody>
                  <a:tcPr marL="0" marR="0" marT="12700" marB="12700" anchor="ctr">
                    <a:lnL w="0" cap="flat" cmpd="sng" algn="ctr">
                      <a:noFill/>
                    </a:lnL>
                    <a:lnR w="0" cap="flat" cmpd="sng" algn="ctr">
                      <a:noFill/>
                    </a:lnR>
                    <a:lnT w="6350"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00"/>
                  </a:ext>
                </a:extLst>
              </a:tr>
              <a:tr h="200025">
                <a:tc>
                  <a:txBody>
                    <a:bodyPr/>
                    <a:lstStyle/>
                    <a:p>
                      <a:pPr marL="0" indent="0">
                        <a:buNone/>
                      </a:pPr>
                      <a:r>
                        <a:rPr lang="en-US" sz="720" dirty="0">
                          <a:solidFill>
                            <a:srgbClr val="6F6A66"/>
                          </a:solidFill>
                        </a:rPr>
                        <a:t>Five-year low</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16.7x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200025">
                <a:tc>
                  <a:txBody>
                    <a:bodyPr/>
                    <a:lstStyle/>
                    <a:p>
                      <a:pPr marL="0" indent="0">
                        <a:buNone/>
                      </a:pPr>
                      <a:r>
                        <a:rPr lang="en-US" sz="720" dirty="0">
                          <a:solidFill>
                            <a:srgbClr val="6F6A66"/>
                          </a:solidFill>
                        </a:rPr>
                        <a:t>Five-year median</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18.2x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200025">
                <a:tc>
                  <a:txBody>
                    <a:bodyPr/>
                    <a:lstStyle/>
                    <a:p>
                      <a:pPr marL="0" indent="0">
                        <a:buNone/>
                      </a:pPr>
                      <a:r>
                        <a:rPr lang="en-US" sz="720" dirty="0">
                          <a:solidFill>
                            <a:srgbClr val="6F6A66"/>
                          </a:solidFill>
                        </a:rPr>
                        <a:t>Today against the median</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−2.0x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bl>
          </a:graphicData>
        </a:graphic>
      </p:graphicFrame>
      <p:sp>
        <p:nvSpPr>
          <p:cNvPr id="39" name="Shape 25"/>
          <p:cNvSpPr/>
          <p:nvPr/>
        </p:nvSpPr>
        <p:spPr>
          <a:xfrm>
            <a:off x="6103620" y="4914900"/>
            <a:ext cx="1577340" cy="0"/>
          </a:xfrm>
          <a:prstGeom prst="line">
            <a:avLst/>
          </a:prstGeom>
          <a:noFill/>
          <a:ln w="9525">
            <a:solidFill>
              <a:srgbClr val="E3DCD3"/>
            </a:solidFill>
            <a:prstDash val="solid"/>
          </a:ln>
        </p:spPr>
        <p:txBody>
          <a:bodyPr/>
          <a:lstStyle/>
          <a:p>
            <a:endParaRPr lang="en-US"/>
          </a:p>
        </p:txBody>
      </p:sp>
      <p:sp>
        <p:nvSpPr>
          <p:cNvPr id="40" name="Text 26"/>
          <p:cNvSpPr txBox="1"/>
          <p:nvPr/>
        </p:nvSpPr>
        <p:spPr>
          <a:xfrm>
            <a:off x="6103620" y="4972050"/>
            <a:ext cx="1577340" cy="666750"/>
          </a:xfrm>
          <a:prstGeom prst="rect">
            <a:avLst/>
          </a:prstGeom>
          <a:noFill/>
          <a:ln/>
        </p:spPr>
        <p:txBody>
          <a:bodyPr wrap="square" lIns="0" tIns="0" rIns="0" bIns="0" rtlCol="0" anchor="t"/>
          <a:lstStyle/>
          <a:p>
            <a:pPr marL="0" indent="0">
              <a:lnSpc>
                <a:spcPts val="900"/>
              </a:lnSpc>
              <a:buNone/>
            </a:pPr>
            <a:r>
              <a:rPr lang="en-US" sz="645" b="1" dirty="0">
                <a:solidFill>
                  <a:srgbClr val="333231"/>
                </a:solidFill>
              </a:rPr>
              <a:t>8 companies: </a:t>
            </a:r>
            <a:r>
              <a:rPr lang="en-US" sz="645" dirty="0">
                <a:solidFill>
                  <a:srgbClr val="6F6A66"/>
                </a:solidFill>
              </a:rPr>
              <a:t>Generac, Quanta Services, Clean Harbors, Republic Services, Waste Connections, Casella Waste Systems, Xylem, Willdan</a:t>
            </a:r>
            <a:endParaRPr lang="en-US" sz="645" dirty="0"/>
          </a:p>
        </p:txBody>
      </p:sp>
      <p:sp>
        <p:nvSpPr>
          <p:cNvPr id="38" name="Transportation &amp; Logistics panel"/>
          <p:cNvSpPr/>
          <p:nvPr/>
        </p:nvSpPr>
        <p:spPr>
          <a:xfrm>
            <a:off x="7871460" y="1238250"/>
            <a:ext cx="1767840" cy="4438650"/>
          </a:xfrm>
          <a:prstGeom prst="rect">
            <a:avLst/>
          </a:prstGeom>
          <a:solidFill>
            <a:srgbClr val="FAF7F3"/>
          </a:solidFill>
          <a:ln/>
        </p:spPr>
        <p:txBody>
          <a:bodyPr/>
          <a:lstStyle/>
          <a:p>
            <a:endParaRPr lang="en-US"/>
          </a:p>
        </p:txBody>
      </p:sp>
      <p:sp>
        <p:nvSpPr>
          <p:cNvPr id="42" name="Shape 28"/>
          <p:cNvSpPr/>
          <p:nvPr/>
        </p:nvSpPr>
        <p:spPr>
          <a:xfrm>
            <a:off x="7871460" y="1238250"/>
            <a:ext cx="1767840" cy="28575"/>
          </a:xfrm>
          <a:prstGeom prst="rect">
            <a:avLst/>
          </a:prstGeom>
          <a:solidFill>
            <a:srgbClr val="B68757"/>
          </a:solidFill>
          <a:ln/>
        </p:spPr>
        <p:txBody>
          <a:bodyPr/>
          <a:lstStyle/>
          <a:p>
            <a:endParaRPr lang="en-US"/>
          </a:p>
        </p:txBody>
      </p:sp>
      <p:pic>
        <p:nvPicPr>
          <p:cNvPr id="43" name="Image 4" descr="/tmp/claude-0/-home-claude-about/b7ea608c-3502-5da6-986c-4c57d144c940/scratchpad/brief/pptx/icons/truck_dg.png"/>
          <p:cNvPicPr>
            <a:picLocks noChangeAspect="1"/>
          </p:cNvPicPr>
          <p:nvPr/>
        </p:nvPicPr>
        <p:blipFill>
          <a:blip r:embed="rId12"/>
          <a:stretch>
            <a:fillRect/>
          </a:stretch>
        </p:blipFill>
        <p:spPr>
          <a:xfrm>
            <a:off x="7985760" y="1409700"/>
            <a:ext cx="142875" cy="142875"/>
          </a:xfrm>
          <a:prstGeom prst="rect">
            <a:avLst/>
          </a:prstGeom>
        </p:spPr>
      </p:pic>
      <p:sp>
        <p:nvSpPr>
          <p:cNvPr id="44" name="Text 29"/>
          <p:cNvSpPr txBox="1"/>
          <p:nvPr/>
        </p:nvSpPr>
        <p:spPr>
          <a:xfrm>
            <a:off x="8176260" y="1352550"/>
            <a:ext cx="1386840" cy="285750"/>
          </a:xfrm>
          <a:prstGeom prst="rect">
            <a:avLst/>
          </a:prstGeom>
          <a:noFill/>
          <a:ln/>
        </p:spPr>
        <p:txBody>
          <a:bodyPr wrap="square" lIns="0" tIns="0" rIns="0" bIns="0" rtlCol="0" anchor="ctr"/>
          <a:lstStyle/>
          <a:p>
            <a:pPr marL="0" indent="0">
              <a:lnSpc>
                <a:spcPts val="1013"/>
              </a:lnSpc>
              <a:buNone/>
            </a:pPr>
            <a:r>
              <a:rPr lang="en-US" sz="780" b="1" dirty="0">
                <a:solidFill>
                  <a:srgbClr val="1B1A1A"/>
                </a:solidFill>
              </a:rPr>
              <a:t>Transportation &amp; Logistics</a:t>
            </a:r>
            <a:endParaRPr lang="en-US" sz="780" dirty="0"/>
          </a:p>
        </p:txBody>
      </p:sp>
      <p:sp>
        <p:nvSpPr>
          <p:cNvPr id="45" name="Text 30"/>
          <p:cNvSpPr txBox="1"/>
          <p:nvPr/>
        </p:nvSpPr>
        <p:spPr>
          <a:xfrm>
            <a:off x="7985760" y="1676400"/>
            <a:ext cx="1577340" cy="342900"/>
          </a:xfrm>
          <a:prstGeom prst="rect">
            <a:avLst/>
          </a:prstGeom>
          <a:noFill/>
          <a:ln/>
        </p:spPr>
        <p:txBody>
          <a:bodyPr wrap="square" lIns="0" tIns="0" rIns="0" bIns="0" rtlCol="0" anchor="b"/>
          <a:lstStyle/>
          <a:p>
            <a:pPr marL="0" indent="0">
              <a:buNone/>
            </a:pPr>
            <a:r>
              <a:rPr lang="en-US" sz="2250" b="1" dirty="0">
                <a:solidFill>
                  <a:srgbClr val="8C6239"/>
                </a:solidFill>
                <a:latin typeface="+mj-lt" pitchFamily="34" charset="0"/>
              </a:rPr>
              <a:t>12.7x</a:t>
            </a:r>
            <a:r>
              <a:rPr lang="en-US" sz="675" dirty="0">
                <a:solidFill>
                  <a:srgbClr val="6F6A66"/>
                </a:solidFill>
              </a:rPr>
              <a:t>  median today</a:t>
            </a:r>
            <a:endParaRPr lang="en-US" sz="2250" dirty="0"/>
          </a:p>
        </p:txBody>
      </p:sp>
      <p:graphicFrame>
        <p:nvGraphicFramePr>
          <p:cNvPr id="46" name="Transportation &amp; Logistics multiple history"/>
          <p:cNvGraphicFramePr/>
          <p:nvPr/>
        </p:nvGraphicFramePr>
        <p:xfrm>
          <a:off x="7890510" y="2076450"/>
          <a:ext cx="1729740" cy="1866900"/>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51" name="Table 4"/>
          <p:cNvGraphicFramePr>
            <a:graphicFrameLocks noGrp="1"/>
          </p:cNvGraphicFramePr>
          <p:nvPr>
            <p:extLst>
              <p:ext uri="{D42A27DB-BD31-4B8C-83A1-F6EECF244321}">
                <p14:modId xmlns:p14="http://schemas.microsoft.com/office/powerpoint/2010/main" val="1579011935"/>
              </p:ext>
            </p:extLst>
          </p:nvPr>
        </p:nvGraphicFramePr>
        <p:xfrm>
          <a:off x="7966710" y="4000500"/>
          <a:ext cx="1577340" cy="800100"/>
        </p:xfrm>
        <a:graphic>
          <a:graphicData uri="http://schemas.openxmlformats.org/drawingml/2006/table">
            <a:tbl>
              <a:tblPr/>
              <a:tblGrid>
                <a:gridCol w="110109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tblGrid>
              <a:tr h="200025">
                <a:tc>
                  <a:txBody>
                    <a:bodyPr/>
                    <a:lstStyle/>
                    <a:p>
                      <a:pPr marL="0" indent="0">
                        <a:buNone/>
                      </a:pPr>
                      <a:r>
                        <a:rPr lang="en-US" sz="720" dirty="0">
                          <a:solidFill>
                            <a:srgbClr val="6F6A66"/>
                          </a:solidFill>
                        </a:rPr>
                        <a:t>Five-year high</a:t>
                      </a:r>
                      <a:endParaRPr lang="en-US" sz="720" dirty="0"/>
                    </a:p>
                  </a:txBody>
                  <a:tcPr marL="0" marR="0" marT="12700" marB="12700" anchor="ctr">
                    <a:lnL w="0" cap="flat" cmpd="sng" algn="ctr">
                      <a:noFill/>
                    </a:lnL>
                    <a:lnR w="0" cap="flat" cmpd="sng" algn="ctr">
                      <a:noFill/>
                    </a:lnR>
                    <a:lnT w="6350" cap="flat" cmpd="sng" algn="ctr">
                      <a:solidFill>
                        <a:srgbClr val="E3DCD3"/>
                      </a:solid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12.2x</a:t>
                      </a:r>
                      <a:endParaRPr lang="en-US" sz="720" dirty="0"/>
                    </a:p>
                  </a:txBody>
                  <a:tcPr marL="0" marR="0" marT="12700" marB="12700" anchor="ctr">
                    <a:lnL w="0" cap="flat" cmpd="sng" algn="ctr">
                      <a:noFill/>
                    </a:lnL>
                    <a:lnR w="0" cap="flat" cmpd="sng" algn="ctr">
                      <a:noFill/>
                    </a:lnR>
                    <a:lnT w="6350"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00"/>
                  </a:ext>
                </a:extLst>
              </a:tr>
              <a:tr h="200025">
                <a:tc>
                  <a:txBody>
                    <a:bodyPr/>
                    <a:lstStyle/>
                    <a:p>
                      <a:pPr marL="0" indent="0">
                        <a:buNone/>
                      </a:pPr>
                      <a:r>
                        <a:rPr lang="en-US" sz="720" dirty="0">
                          <a:solidFill>
                            <a:srgbClr val="6F6A66"/>
                          </a:solidFill>
                        </a:rPr>
                        <a:t>Five-year low</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9.3x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200025">
                <a:tc>
                  <a:txBody>
                    <a:bodyPr/>
                    <a:lstStyle/>
                    <a:p>
                      <a:pPr marL="0" indent="0">
                        <a:buNone/>
                      </a:pPr>
                      <a:r>
                        <a:rPr lang="en-US" sz="720" dirty="0">
                          <a:solidFill>
                            <a:srgbClr val="6F6A66"/>
                          </a:solidFill>
                        </a:rPr>
                        <a:t>Five-year median</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11.4x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200025">
                <a:tc>
                  <a:txBody>
                    <a:bodyPr/>
                    <a:lstStyle/>
                    <a:p>
                      <a:pPr marL="0" indent="0">
                        <a:buNone/>
                      </a:pPr>
                      <a:r>
                        <a:rPr lang="en-US" sz="720" dirty="0">
                          <a:solidFill>
                            <a:srgbClr val="6F6A66"/>
                          </a:solidFill>
                        </a:rPr>
                        <a:t>Today against the median</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720" b="1" dirty="0">
                          <a:solidFill>
                            <a:srgbClr val="1B1A1A"/>
                          </a:solidFill>
                        </a:rPr>
                        <a:t>+1.3x</a:t>
                      </a:r>
                      <a:endParaRPr lang="en-US" sz="720" dirty="0"/>
                    </a:p>
                  </a:txBody>
                  <a:tcPr marL="0" marR="0" marT="12700" marB="127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bl>
          </a:graphicData>
        </a:graphic>
      </p:graphicFrame>
      <p:sp>
        <p:nvSpPr>
          <p:cNvPr id="48" name="Shape 31"/>
          <p:cNvSpPr/>
          <p:nvPr/>
        </p:nvSpPr>
        <p:spPr>
          <a:xfrm>
            <a:off x="7966710" y="4914900"/>
            <a:ext cx="1577340" cy="0"/>
          </a:xfrm>
          <a:prstGeom prst="line">
            <a:avLst/>
          </a:prstGeom>
          <a:noFill/>
          <a:ln w="9525">
            <a:solidFill>
              <a:srgbClr val="E3DCD3"/>
            </a:solidFill>
            <a:prstDash val="solid"/>
          </a:ln>
        </p:spPr>
        <p:txBody>
          <a:bodyPr/>
          <a:lstStyle/>
          <a:p>
            <a:endParaRPr lang="en-US"/>
          </a:p>
        </p:txBody>
      </p:sp>
      <p:sp>
        <p:nvSpPr>
          <p:cNvPr id="49" name="Text 32"/>
          <p:cNvSpPr txBox="1"/>
          <p:nvPr/>
        </p:nvSpPr>
        <p:spPr>
          <a:xfrm>
            <a:off x="7966710" y="4972050"/>
            <a:ext cx="1577340" cy="666750"/>
          </a:xfrm>
          <a:prstGeom prst="rect">
            <a:avLst/>
          </a:prstGeom>
          <a:noFill/>
          <a:ln/>
        </p:spPr>
        <p:txBody>
          <a:bodyPr wrap="square" lIns="0" tIns="0" rIns="0" bIns="0" rtlCol="0" anchor="t"/>
          <a:lstStyle/>
          <a:p>
            <a:pPr marL="0" indent="0">
              <a:lnSpc>
                <a:spcPts val="900"/>
              </a:lnSpc>
              <a:buNone/>
            </a:pPr>
            <a:r>
              <a:rPr lang="en-US" sz="645" b="1" dirty="0">
                <a:solidFill>
                  <a:srgbClr val="333231"/>
                </a:solidFill>
              </a:rPr>
              <a:t>7 companies: </a:t>
            </a:r>
            <a:r>
              <a:rPr lang="en-US" sz="645" dirty="0">
                <a:solidFill>
                  <a:srgbClr val="6F6A66"/>
                </a:solidFill>
              </a:rPr>
              <a:t>J.B. Hunt, Knight-Swift, Werner Enterprises, C.H. Robinson, Kirby, Landstar System, Schneider National</a:t>
            </a:r>
            <a:endParaRPr lang="en-US" sz="645" dirty="0"/>
          </a:p>
        </p:txBody>
      </p:sp>
      <p:sp>
        <p:nvSpPr>
          <p:cNvPr id="50" name="Private-market reference points"/>
          <p:cNvSpPr/>
          <p:nvPr/>
        </p:nvSpPr>
        <p:spPr>
          <a:xfrm>
            <a:off x="419100" y="5791200"/>
            <a:ext cx="9220200" cy="1143000"/>
          </a:xfrm>
          <a:prstGeom prst="rect">
            <a:avLst/>
          </a:prstGeom>
          <a:solidFill>
            <a:srgbClr val="1B1A1A"/>
          </a:solidFill>
          <a:ln/>
        </p:spPr>
        <p:txBody>
          <a:bodyPr/>
          <a:lstStyle/>
          <a:p>
            <a:endParaRPr lang="en-US"/>
          </a:p>
        </p:txBody>
      </p:sp>
      <p:sp>
        <p:nvSpPr>
          <p:cNvPr id="47" name="Text 34"/>
          <p:cNvSpPr txBox="1"/>
          <p:nvPr/>
        </p:nvSpPr>
        <p:spPr>
          <a:xfrm>
            <a:off x="609600" y="5924550"/>
            <a:ext cx="1809750" cy="266700"/>
          </a:xfrm>
          <a:prstGeom prst="rect">
            <a:avLst/>
          </a:prstGeom>
          <a:noFill/>
          <a:ln/>
        </p:spPr>
        <p:txBody>
          <a:bodyPr wrap="square" lIns="0" tIns="0" rIns="0" bIns="0" rtlCol="0" anchor="t"/>
          <a:lstStyle/>
          <a:p>
            <a:pPr marL="0" indent="0">
              <a:buNone/>
            </a:pPr>
            <a:r>
              <a:rPr lang="en-US" sz="675" b="1" kern="0" spc="200" dirty="0">
                <a:solidFill>
                  <a:srgbClr val="8C6239"/>
                </a:solidFill>
              </a:rPr>
              <a:t>PRIVATE-MARKET REFERENCE POINTS</a:t>
            </a:r>
            <a:endParaRPr lang="en-US" sz="675" dirty="0"/>
          </a:p>
        </p:txBody>
      </p:sp>
      <p:sp>
        <p:nvSpPr>
          <p:cNvPr id="52" name="Text 35"/>
          <p:cNvSpPr txBox="1"/>
          <p:nvPr/>
        </p:nvSpPr>
        <p:spPr>
          <a:xfrm>
            <a:off x="609600" y="6210300"/>
            <a:ext cx="1809750" cy="666750"/>
          </a:xfrm>
          <a:prstGeom prst="rect">
            <a:avLst/>
          </a:prstGeom>
          <a:noFill/>
          <a:ln/>
        </p:spPr>
        <p:txBody>
          <a:bodyPr wrap="square" lIns="0" tIns="0" rIns="0" bIns="0" rtlCol="0" anchor="t"/>
          <a:lstStyle/>
          <a:p>
            <a:pPr marL="0" indent="0">
              <a:lnSpc>
                <a:spcPts val="1200"/>
              </a:lnSpc>
              <a:buNone/>
            </a:pPr>
            <a:r>
              <a:rPr lang="en-US" sz="870" i="1" dirty="0">
                <a:solidFill>
                  <a:srgbClr val="FFFFFF"/>
                </a:solidFill>
                <a:latin typeface="+mj-lt" pitchFamily="34" charset="0"/>
              </a:rPr>
              <a:t>Listed multiples describe companies many times larger than a founder-owned business and show relative standing among the segments.</a:t>
            </a:r>
            <a:endParaRPr lang="en-US" sz="870" dirty="0"/>
          </a:p>
        </p:txBody>
      </p:sp>
      <p:sp>
        <p:nvSpPr>
          <p:cNvPr id="53" name="Shape 36"/>
          <p:cNvSpPr/>
          <p:nvPr/>
        </p:nvSpPr>
        <p:spPr>
          <a:xfrm>
            <a:off x="2628900" y="5924550"/>
            <a:ext cx="0" cy="895350"/>
          </a:xfrm>
          <a:prstGeom prst="line">
            <a:avLst/>
          </a:prstGeom>
          <a:noFill/>
          <a:ln w="9525">
            <a:solidFill>
              <a:srgbClr val="5B4E40"/>
            </a:solidFill>
            <a:prstDash val="solid"/>
          </a:ln>
        </p:spPr>
        <p:txBody>
          <a:bodyPr/>
          <a:lstStyle/>
          <a:p>
            <a:endParaRPr lang="en-US"/>
          </a:p>
        </p:txBody>
      </p:sp>
      <p:sp>
        <p:nvSpPr>
          <p:cNvPr id="54" name="Text 37"/>
          <p:cNvSpPr txBox="1"/>
          <p:nvPr/>
        </p:nvSpPr>
        <p:spPr>
          <a:xfrm>
            <a:off x="2781300" y="5905500"/>
            <a:ext cx="2095500" cy="285750"/>
          </a:xfrm>
          <a:prstGeom prst="rect">
            <a:avLst/>
          </a:prstGeom>
          <a:noFill/>
          <a:ln/>
        </p:spPr>
        <p:txBody>
          <a:bodyPr wrap="square" lIns="0" tIns="0" rIns="0" bIns="0" rtlCol="0" anchor="t"/>
          <a:lstStyle/>
          <a:p>
            <a:pPr marL="0" indent="0">
              <a:buNone/>
            </a:pPr>
            <a:r>
              <a:rPr lang="en-US" sz="1800" b="1" dirty="0">
                <a:solidFill>
                  <a:srgbClr val="D3AE84"/>
                </a:solidFill>
                <a:latin typeface="+mj-lt" pitchFamily="34" charset="0"/>
              </a:rPr>
              <a:t>7.0x</a:t>
            </a:r>
            <a:endParaRPr lang="en-US" sz="1800" dirty="0"/>
          </a:p>
        </p:txBody>
      </p:sp>
      <p:sp>
        <p:nvSpPr>
          <p:cNvPr id="55" name="Text 38"/>
          <p:cNvSpPr txBox="1"/>
          <p:nvPr/>
        </p:nvSpPr>
        <p:spPr>
          <a:xfrm>
            <a:off x="2781300" y="6229350"/>
            <a:ext cx="2114550" cy="628650"/>
          </a:xfrm>
          <a:prstGeom prst="rect">
            <a:avLst/>
          </a:prstGeom>
          <a:noFill/>
          <a:ln/>
        </p:spPr>
        <p:txBody>
          <a:bodyPr wrap="square" lIns="0" tIns="0" rIns="0" bIns="0" rtlCol="0" anchor="t"/>
          <a:lstStyle/>
          <a:p>
            <a:pPr marL="0" indent="0">
              <a:lnSpc>
                <a:spcPts val="1013"/>
              </a:lnSpc>
              <a:buNone/>
            </a:pPr>
            <a:r>
              <a:rPr lang="en-US" sz="720" dirty="0">
                <a:solidFill>
                  <a:srgbClr val="E8E2DA"/>
                </a:solidFill>
              </a:rPr>
              <a:t>Average for completed middle-market transactions in all industries in the second quarter of 2026 (</a:t>
            </a:r>
            <a:r>
              <a:rPr lang="en-US" sz="720" u="sng" dirty="0">
                <a:solidFill>
                  <a:srgbClr val="D3AE84"/>
                </a:solidFill>
                <a:hlinkClick r:id="rId14" tooltip="https://www.acg.org/news-trends/news/gf-data-reports-show-steady-middle-market-deal-flow-amid-more-selective">
                  <a:extLst>
                    <a:ext uri="{A12FA001-AC4F-418D-AE19-62706E023703}">
                      <ahyp:hlinkClr xmlns:ahyp="http://schemas.microsoft.com/office/drawing/2018/hyperlinkcolor" val="tx"/>
                    </a:ext>
                  </a:extLst>
                </a:hlinkClick>
              </a:rPr>
              <a:t>GF Data via ACG</a:t>
            </a:r>
            <a:r>
              <a:rPr lang="en-US" sz="720" dirty="0">
                <a:solidFill>
                  <a:srgbClr val="E8E2DA"/>
                </a:solidFill>
              </a:rPr>
              <a:t>)</a:t>
            </a:r>
            <a:endParaRPr lang="en-US" sz="720" dirty="0"/>
          </a:p>
        </p:txBody>
      </p:sp>
      <p:sp>
        <p:nvSpPr>
          <p:cNvPr id="56" name="Shape 39"/>
          <p:cNvSpPr/>
          <p:nvPr/>
        </p:nvSpPr>
        <p:spPr>
          <a:xfrm>
            <a:off x="4991100" y="5924550"/>
            <a:ext cx="0" cy="895350"/>
          </a:xfrm>
          <a:prstGeom prst="line">
            <a:avLst/>
          </a:prstGeom>
          <a:noFill/>
          <a:ln w="9525">
            <a:solidFill>
              <a:srgbClr val="5B4E40"/>
            </a:solidFill>
            <a:prstDash val="solid"/>
          </a:ln>
        </p:spPr>
        <p:txBody>
          <a:bodyPr/>
          <a:lstStyle/>
          <a:p>
            <a:endParaRPr lang="en-US"/>
          </a:p>
        </p:txBody>
      </p:sp>
      <p:sp>
        <p:nvSpPr>
          <p:cNvPr id="57" name="Text 40"/>
          <p:cNvSpPr txBox="1"/>
          <p:nvPr/>
        </p:nvSpPr>
        <p:spPr>
          <a:xfrm>
            <a:off x="5143500" y="5905500"/>
            <a:ext cx="2095500" cy="285750"/>
          </a:xfrm>
          <a:prstGeom prst="rect">
            <a:avLst/>
          </a:prstGeom>
          <a:noFill/>
          <a:ln/>
        </p:spPr>
        <p:txBody>
          <a:bodyPr wrap="square" lIns="0" tIns="0" rIns="0" bIns="0" rtlCol="0" anchor="t"/>
          <a:lstStyle/>
          <a:p>
            <a:pPr marL="0" indent="0">
              <a:buNone/>
            </a:pPr>
            <a:r>
              <a:rPr lang="en-US" sz="1800" b="1" dirty="0">
                <a:solidFill>
                  <a:srgbClr val="D3AE84"/>
                </a:solidFill>
                <a:latin typeface="+mj-lt" pitchFamily="34" charset="0"/>
              </a:rPr>
              <a:t>5.8x</a:t>
            </a:r>
            <a:endParaRPr lang="en-US" sz="1800" dirty="0"/>
          </a:p>
        </p:txBody>
      </p:sp>
      <p:sp>
        <p:nvSpPr>
          <p:cNvPr id="58" name="Text 41"/>
          <p:cNvSpPr txBox="1"/>
          <p:nvPr/>
        </p:nvSpPr>
        <p:spPr>
          <a:xfrm>
            <a:off x="5143500" y="6229350"/>
            <a:ext cx="2114550" cy="628650"/>
          </a:xfrm>
          <a:prstGeom prst="rect">
            <a:avLst/>
          </a:prstGeom>
          <a:noFill/>
          <a:ln/>
        </p:spPr>
        <p:txBody>
          <a:bodyPr wrap="square" lIns="0" tIns="0" rIns="0" bIns="0" rtlCol="0" anchor="t"/>
          <a:lstStyle/>
          <a:p>
            <a:pPr marL="0" indent="0">
              <a:lnSpc>
                <a:spcPts val="1013"/>
              </a:lnSpc>
              <a:buNone/>
            </a:pPr>
            <a:r>
              <a:rPr lang="en-US" sz="720" dirty="0">
                <a:solidFill>
                  <a:srgbClr val="E8E2DA"/>
                </a:solidFill>
              </a:rPr>
              <a:t>Median for transactions of $5 million to $50 million in all industries in the second quarter of 2026 (</a:t>
            </a:r>
            <a:r>
              <a:rPr lang="en-US" sz="720" u="sng" dirty="0">
                <a:solidFill>
                  <a:srgbClr val="D3AE84"/>
                </a:solidFill>
                <a:hlinkClick r:id="rId15" tooltip="https://www.ibba.org/wp-content/uploads/2026/08/mp-highlights-q2-2026.pdf">
                  <a:extLst>
                    <a:ext uri="{A12FA001-AC4F-418D-AE19-62706E023703}">
                      <ahyp:hlinkClr xmlns:ahyp="http://schemas.microsoft.com/office/drawing/2018/hyperlinkcolor" val="tx"/>
                    </a:ext>
                  </a:extLst>
                </a:hlinkClick>
              </a:rPr>
              <a:t>IBBA and M&amp;A Source</a:t>
            </a:r>
            <a:r>
              <a:rPr lang="en-US" sz="720" dirty="0">
                <a:solidFill>
                  <a:srgbClr val="E8E2DA"/>
                </a:solidFill>
              </a:rPr>
              <a:t>)</a:t>
            </a:r>
            <a:endParaRPr lang="en-US" sz="720" dirty="0"/>
          </a:p>
        </p:txBody>
      </p:sp>
      <p:sp>
        <p:nvSpPr>
          <p:cNvPr id="59" name="Shape 42"/>
          <p:cNvSpPr/>
          <p:nvPr/>
        </p:nvSpPr>
        <p:spPr>
          <a:xfrm>
            <a:off x="7353300" y="5924550"/>
            <a:ext cx="0" cy="895350"/>
          </a:xfrm>
          <a:prstGeom prst="line">
            <a:avLst/>
          </a:prstGeom>
          <a:noFill/>
          <a:ln w="9525">
            <a:solidFill>
              <a:srgbClr val="5B4E40"/>
            </a:solidFill>
            <a:prstDash val="solid"/>
          </a:ln>
        </p:spPr>
        <p:txBody>
          <a:bodyPr/>
          <a:lstStyle/>
          <a:p>
            <a:endParaRPr lang="en-US"/>
          </a:p>
        </p:txBody>
      </p:sp>
      <p:sp>
        <p:nvSpPr>
          <p:cNvPr id="60" name="Text 43"/>
          <p:cNvSpPr txBox="1"/>
          <p:nvPr/>
        </p:nvSpPr>
        <p:spPr>
          <a:xfrm>
            <a:off x="7505700" y="5905500"/>
            <a:ext cx="2095500" cy="285750"/>
          </a:xfrm>
          <a:prstGeom prst="rect">
            <a:avLst/>
          </a:prstGeom>
          <a:noFill/>
          <a:ln/>
        </p:spPr>
        <p:txBody>
          <a:bodyPr wrap="square" lIns="0" tIns="0" rIns="0" bIns="0" rtlCol="0" anchor="t"/>
          <a:lstStyle/>
          <a:p>
            <a:pPr marL="0" indent="0">
              <a:buNone/>
            </a:pPr>
            <a:r>
              <a:rPr lang="en-US" sz="1800" b="1" dirty="0">
                <a:solidFill>
                  <a:srgbClr val="D3AE84"/>
                </a:solidFill>
                <a:latin typeface="+mj-lt" pitchFamily="34" charset="0"/>
              </a:rPr>
              <a:t>5.0x to 8.0x</a:t>
            </a:r>
            <a:endParaRPr lang="en-US" sz="1800" dirty="0"/>
          </a:p>
        </p:txBody>
      </p:sp>
      <p:sp>
        <p:nvSpPr>
          <p:cNvPr id="61" name="Text 44"/>
          <p:cNvSpPr txBox="1"/>
          <p:nvPr/>
        </p:nvSpPr>
        <p:spPr>
          <a:xfrm>
            <a:off x="7505700" y="6229350"/>
            <a:ext cx="2114550" cy="628650"/>
          </a:xfrm>
          <a:prstGeom prst="rect">
            <a:avLst/>
          </a:prstGeom>
          <a:noFill/>
          <a:ln/>
        </p:spPr>
        <p:txBody>
          <a:bodyPr wrap="square" lIns="0" tIns="0" rIns="0" bIns="0" rtlCol="0" anchor="t"/>
          <a:lstStyle/>
          <a:p>
            <a:pPr marL="0" indent="0">
              <a:lnSpc>
                <a:spcPts val="1013"/>
              </a:lnSpc>
              <a:buNone/>
            </a:pPr>
            <a:r>
              <a:rPr lang="en-US" sz="720" dirty="0">
                <a:solidFill>
                  <a:srgbClr val="E8E2DA"/>
                </a:solidFill>
              </a:rPr>
              <a:t>Survey medians for manufacturing, wholesale and construction companies with $1 million to $25 million of EBITDA (</a:t>
            </a:r>
            <a:r>
              <a:rPr lang="en-US" sz="720" u="sng" dirty="0">
                <a:solidFill>
                  <a:srgbClr val="D3AE84"/>
                </a:solidFill>
                <a:hlinkClick r:id="rId16" tooltip="https://digitalcommons.pepperdine.edu/gsbm_pcm_pcmr/19">
                  <a:extLst>
                    <a:ext uri="{A12FA001-AC4F-418D-AE19-62706E023703}">
                      <ahyp:hlinkClr xmlns:ahyp="http://schemas.microsoft.com/office/drawing/2018/hyperlinkcolor" val="tx"/>
                    </a:ext>
                  </a:extLst>
                </a:hlinkClick>
              </a:rPr>
              <a:t>Pepperdine</a:t>
            </a:r>
            <a:r>
              <a:rPr lang="en-US" sz="720" dirty="0">
                <a:solidFill>
                  <a:srgbClr val="E8E2DA"/>
                </a:solidFill>
              </a:rPr>
              <a:t>)</a:t>
            </a:r>
            <a:endParaRPr lang="en-US" sz="720" dirty="0"/>
          </a:p>
        </p:txBody>
      </p:sp>
      <p:sp>
        <p:nvSpPr>
          <p:cNvPr id="62"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Public Company Performance and Trends: Operating Metrics</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Building products and construction companies are growing revenue about 22% a year, and manufacturers earn the highest margins.</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Medians of the 38 listed companies shown on page 10, grouped by segment. Source: </a:t>
            </a:r>
            <a:r>
              <a:rPr lang="en-US" sz="675" u="sng" dirty="0">
                <a:solidFill>
                  <a:srgbClr val="8C6239"/>
                </a:solidFill>
                <a:hlinkClick r:id="rId3" tooltip="https://stockanalysis.com/">
                  <a:extLst>
                    <a:ext uri="{A12FA001-AC4F-418D-AE19-62706E023703}">
                      <ahyp:hlinkClr xmlns:ahyp="http://schemas.microsoft.com/office/drawing/2018/hyperlinkcolor" val="tx"/>
                    </a:ext>
                  </a:extLst>
                </a:hlinkClick>
              </a:rPr>
              <a:t>StockAnalysis</a:t>
            </a:r>
            <a:r>
              <a:rPr lang="en-US" sz="675" dirty="0">
                <a:solidFill>
                  <a:srgbClr val="6F6A66"/>
                </a:solidFill>
              </a:rPr>
              <a:t>, retrieved October 5 to 7, 2026. Trailing periods end between April and July 2026. EBITDA is as reported and is lower than the adjusted EBITDA that companies present. Forward estimates are not included.</a:t>
            </a:r>
            <a:endParaRPr lang="en-US" sz="675" dirty="0"/>
          </a:p>
        </p:txBody>
      </p:sp>
      <p:sp>
        <p:nvSpPr>
          <p:cNvPr id="5" name="Median revenue growth"/>
          <p:cNvSpPr/>
          <p:nvPr/>
        </p:nvSpPr>
        <p:spPr>
          <a:xfrm>
            <a:off x="419100" y="1238250"/>
            <a:ext cx="4533900" cy="2781300"/>
          </a:xfrm>
          <a:prstGeom prst="rect">
            <a:avLst/>
          </a:prstGeom>
          <a:solidFill>
            <a:srgbClr val="FAF7F3"/>
          </a:solidFill>
          <a:ln/>
        </p:spPr>
        <p:txBody>
          <a:bodyPr/>
          <a:lstStyle/>
          <a:p>
            <a:endParaRPr lang="en-US"/>
          </a:p>
        </p:txBody>
      </p:sp>
      <p:sp>
        <p:nvSpPr>
          <p:cNvPr id="6" name="Shape 4"/>
          <p:cNvSpPr/>
          <p:nvPr/>
        </p:nvSpPr>
        <p:spPr>
          <a:xfrm>
            <a:off x="419100" y="1238250"/>
            <a:ext cx="4533900" cy="28575"/>
          </a:xfrm>
          <a:prstGeom prst="rect">
            <a:avLst/>
          </a:prstGeom>
          <a:solidFill>
            <a:srgbClr val="B68757"/>
          </a:solidFill>
          <a:ln/>
        </p:spPr>
        <p:txBody>
          <a:bodyPr/>
          <a:lstStyle/>
          <a:p>
            <a:endParaRPr lang="en-US"/>
          </a:p>
        </p:txBody>
      </p:sp>
      <p:sp>
        <p:nvSpPr>
          <p:cNvPr id="7" name="Text 5"/>
          <p:cNvSpPr txBox="1"/>
          <p:nvPr/>
        </p:nvSpPr>
        <p:spPr>
          <a:xfrm>
            <a:off x="590550" y="1371600"/>
            <a:ext cx="4191000" cy="171450"/>
          </a:xfrm>
          <a:prstGeom prst="rect">
            <a:avLst/>
          </a:prstGeom>
          <a:noFill/>
          <a:ln/>
        </p:spPr>
        <p:txBody>
          <a:bodyPr wrap="square" lIns="0" tIns="0" rIns="0" bIns="0" rtlCol="0" anchor="t"/>
          <a:lstStyle/>
          <a:p>
            <a:pPr marL="0" indent="0">
              <a:buNone/>
            </a:pPr>
            <a:r>
              <a:rPr lang="en-US" sz="938" b="1" dirty="0">
                <a:solidFill>
                  <a:srgbClr val="1B1A1A"/>
                </a:solidFill>
              </a:rPr>
              <a:t>Median revenue growth</a:t>
            </a:r>
            <a:endParaRPr lang="en-US" sz="938" dirty="0"/>
          </a:p>
        </p:txBody>
      </p:sp>
      <p:sp>
        <p:nvSpPr>
          <p:cNvPr id="8" name="Text 6"/>
          <p:cNvSpPr txBox="1"/>
          <p:nvPr/>
        </p:nvSpPr>
        <p:spPr>
          <a:xfrm>
            <a:off x="590550" y="1552575"/>
            <a:ext cx="4191000" cy="266700"/>
          </a:xfrm>
          <a:prstGeom prst="rect">
            <a:avLst/>
          </a:prstGeom>
          <a:noFill/>
          <a:ln/>
        </p:spPr>
        <p:txBody>
          <a:bodyPr wrap="square" lIns="0" tIns="0" rIns="0" bIns="0" rtlCol="0" anchor="t"/>
          <a:lstStyle/>
          <a:p>
            <a:pPr marL="0" indent="0">
              <a:lnSpc>
                <a:spcPts val="1013"/>
              </a:lnSpc>
              <a:buNone/>
            </a:pPr>
            <a:r>
              <a:rPr lang="en-US" sz="720" dirty="0">
                <a:solidFill>
                  <a:srgbClr val="6F6A66"/>
                </a:solidFill>
              </a:rPr>
              <a:t>Trailing twelve months against the prior twelve, including acquisitions</a:t>
            </a:r>
            <a:endParaRPr lang="en-US" sz="720" dirty="0"/>
          </a:p>
        </p:txBody>
      </p:sp>
      <p:graphicFrame>
        <p:nvGraphicFramePr>
          <p:cNvPr id="9" name="Median revenue growth"/>
          <p:cNvGraphicFramePr/>
          <p:nvPr/>
        </p:nvGraphicFramePr>
        <p:xfrm>
          <a:off x="514350" y="1790700"/>
          <a:ext cx="4305300" cy="2152650"/>
        </p:xfrm>
        <a:graphic>
          <a:graphicData uri="http://schemas.openxmlformats.org/drawingml/2006/chart">
            <c:chart xmlns:c="http://schemas.openxmlformats.org/drawingml/2006/chart" xmlns:r="http://schemas.openxmlformats.org/officeDocument/2006/relationships" r:id="rId4"/>
          </a:graphicData>
        </a:graphic>
      </p:graphicFrame>
      <p:sp>
        <p:nvSpPr>
          <p:cNvPr id="10" name="Median EBITDA growth"/>
          <p:cNvSpPr/>
          <p:nvPr/>
        </p:nvSpPr>
        <p:spPr>
          <a:xfrm>
            <a:off x="5105400" y="1238250"/>
            <a:ext cx="4533900" cy="2781300"/>
          </a:xfrm>
          <a:prstGeom prst="rect">
            <a:avLst/>
          </a:prstGeom>
          <a:solidFill>
            <a:srgbClr val="FAF7F3"/>
          </a:solidFill>
          <a:ln/>
        </p:spPr>
        <p:txBody>
          <a:bodyPr/>
          <a:lstStyle/>
          <a:p>
            <a:endParaRPr lang="en-US"/>
          </a:p>
        </p:txBody>
      </p:sp>
      <p:sp>
        <p:nvSpPr>
          <p:cNvPr id="11" name="Shape 8"/>
          <p:cNvSpPr/>
          <p:nvPr/>
        </p:nvSpPr>
        <p:spPr>
          <a:xfrm>
            <a:off x="5105400" y="1238250"/>
            <a:ext cx="4533900" cy="28575"/>
          </a:xfrm>
          <a:prstGeom prst="rect">
            <a:avLst/>
          </a:prstGeom>
          <a:solidFill>
            <a:srgbClr val="B68757"/>
          </a:solidFill>
          <a:ln/>
        </p:spPr>
        <p:txBody>
          <a:bodyPr/>
          <a:lstStyle/>
          <a:p>
            <a:endParaRPr lang="en-US"/>
          </a:p>
        </p:txBody>
      </p:sp>
      <p:sp>
        <p:nvSpPr>
          <p:cNvPr id="12" name="Text 9"/>
          <p:cNvSpPr txBox="1"/>
          <p:nvPr/>
        </p:nvSpPr>
        <p:spPr>
          <a:xfrm>
            <a:off x="5276850" y="1371600"/>
            <a:ext cx="4191000" cy="171450"/>
          </a:xfrm>
          <a:prstGeom prst="rect">
            <a:avLst/>
          </a:prstGeom>
          <a:noFill/>
          <a:ln/>
        </p:spPr>
        <p:txBody>
          <a:bodyPr wrap="square" lIns="0" tIns="0" rIns="0" bIns="0" rtlCol="0" anchor="t"/>
          <a:lstStyle/>
          <a:p>
            <a:pPr marL="0" indent="0">
              <a:buNone/>
            </a:pPr>
            <a:r>
              <a:rPr lang="en-US" sz="938" b="1" dirty="0">
                <a:solidFill>
                  <a:srgbClr val="1B1A1A"/>
                </a:solidFill>
              </a:rPr>
              <a:t>Median EBITDA growth</a:t>
            </a:r>
            <a:endParaRPr lang="en-US" sz="938" dirty="0"/>
          </a:p>
        </p:txBody>
      </p:sp>
      <p:sp>
        <p:nvSpPr>
          <p:cNvPr id="13" name="Text 10"/>
          <p:cNvSpPr txBox="1"/>
          <p:nvPr/>
        </p:nvSpPr>
        <p:spPr>
          <a:xfrm>
            <a:off x="5276850" y="1552575"/>
            <a:ext cx="4191000" cy="266700"/>
          </a:xfrm>
          <a:prstGeom prst="rect">
            <a:avLst/>
          </a:prstGeom>
          <a:noFill/>
          <a:ln/>
        </p:spPr>
        <p:txBody>
          <a:bodyPr wrap="square" lIns="0" tIns="0" rIns="0" bIns="0" rtlCol="0" anchor="t"/>
          <a:lstStyle/>
          <a:p>
            <a:pPr marL="0" indent="0">
              <a:lnSpc>
                <a:spcPts val="1013"/>
              </a:lnSpc>
              <a:buNone/>
            </a:pPr>
            <a:r>
              <a:rPr lang="en-US" sz="720" dirty="0">
                <a:solidFill>
                  <a:srgbClr val="6F6A66"/>
                </a:solidFill>
              </a:rPr>
              <a:t>Latest fiscal year against the prior fiscal year, on reported EBITDA</a:t>
            </a:r>
            <a:endParaRPr lang="en-US" sz="720" dirty="0"/>
          </a:p>
        </p:txBody>
      </p:sp>
      <p:graphicFrame>
        <p:nvGraphicFramePr>
          <p:cNvPr id="14" name="Median EBITDA growth"/>
          <p:cNvGraphicFramePr/>
          <p:nvPr/>
        </p:nvGraphicFramePr>
        <p:xfrm>
          <a:off x="5200650" y="1790700"/>
          <a:ext cx="4305300" cy="2152650"/>
        </p:xfrm>
        <a:graphic>
          <a:graphicData uri="http://schemas.openxmlformats.org/drawingml/2006/chart">
            <c:chart xmlns:c="http://schemas.openxmlformats.org/drawingml/2006/chart" xmlns:r="http://schemas.openxmlformats.org/officeDocument/2006/relationships" r:id="rId5"/>
          </a:graphicData>
        </a:graphic>
      </p:graphicFrame>
      <p:sp>
        <p:nvSpPr>
          <p:cNvPr id="15" name="Median EBITDA margin"/>
          <p:cNvSpPr/>
          <p:nvPr/>
        </p:nvSpPr>
        <p:spPr>
          <a:xfrm>
            <a:off x="419100" y="4152900"/>
            <a:ext cx="4533900" cy="2781300"/>
          </a:xfrm>
          <a:prstGeom prst="rect">
            <a:avLst/>
          </a:prstGeom>
          <a:solidFill>
            <a:srgbClr val="FAF7F3"/>
          </a:solidFill>
          <a:ln/>
        </p:spPr>
        <p:txBody>
          <a:bodyPr/>
          <a:lstStyle/>
          <a:p>
            <a:endParaRPr lang="en-US"/>
          </a:p>
        </p:txBody>
      </p:sp>
      <p:sp>
        <p:nvSpPr>
          <p:cNvPr id="16" name="Shape 12"/>
          <p:cNvSpPr/>
          <p:nvPr/>
        </p:nvSpPr>
        <p:spPr>
          <a:xfrm>
            <a:off x="419100" y="4152900"/>
            <a:ext cx="4533900" cy="28575"/>
          </a:xfrm>
          <a:prstGeom prst="rect">
            <a:avLst/>
          </a:prstGeom>
          <a:solidFill>
            <a:srgbClr val="B68757"/>
          </a:solidFill>
          <a:ln/>
        </p:spPr>
        <p:txBody>
          <a:bodyPr/>
          <a:lstStyle/>
          <a:p>
            <a:endParaRPr lang="en-US"/>
          </a:p>
        </p:txBody>
      </p:sp>
      <p:sp>
        <p:nvSpPr>
          <p:cNvPr id="17" name="Text 13"/>
          <p:cNvSpPr txBox="1"/>
          <p:nvPr/>
        </p:nvSpPr>
        <p:spPr>
          <a:xfrm>
            <a:off x="590550" y="4286250"/>
            <a:ext cx="4191000" cy="171450"/>
          </a:xfrm>
          <a:prstGeom prst="rect">
            <a:avLst/>
          </a:prstGeom>
          <a:noFill/>
          <a:ln/>
        </p:spPr>
        <p:txBody>
          <a:bodyPr wrap="square" lIns="0" tIns="0" rIns="0" bIns="0" rtlCol="0" anchor="t"/>
          <a:lstStyle/>
          <a:p>
            <a:pPr marL="0" indent="0">
              <a:buNone/>
            </a:pPr>
            <a:r>
              <a:rPr lang="en-US" sz="938" b="1" dirty="0">
                <a:solidFill>
                  <a:srgbClr val="1B1A1A"/>
                </a:solidFill>
              </a:rPr>
              <a:t>Median EBITDA margin</a:t>
            </a:r>
            <a:endParaRPr lang="en-US" sz="938" dirty="0"/>
          </a:p>
        </p:txBody>
      </p:sp>
      <p:sp>
        <p:nvSpPr>
          <p:cNvPr id="18" name="Text 14"/>
          <p:cNvSpPr txBox="1"/>
          <p:nvPr/>
        </p:nvSpPr>
        <p:spPr>
          <a:xfrm>
            <a:off x="590550" y="4467225"/>
            <a:ext cx="4191000" cy="266700"/>
          </a:xfrm>
          <a:prstGeom prst="rect">
            <a:avLst/>
          </a:prstGeom>
          <a:noFill/>
          <a:ln/>
        </p:spPr>
        <p:txBody>
          <a:bodyPr wrap="square" lIns="0" tIns="0" rIns="0" bIns="0" rtlCol="0" anchor="t"/>
          <a:lstStyle/>
          <a:p>
            <a:pPr marL="0" indent="0">
              <a:lnSpc>
                <a:spcPts val="1013"/>
              </a:lnSpc>
              <a:buNone/>
            </a:pPr>
            <a:r>
              <a:rPr lang="en-US" sz="720" dirty="0">
                <a:solidFill>
                  <a:srgbClr val="6F6A66"/>
                </a:solidFill>
              </a:rPr>
              <a:t>Trailing twelve months, on reported EBITDA</a:t>
            </a:r>
            <a:endParaRPr lang="en-US" sz="720" dirty="0"/>
          </a:p>
        </p:txBody>
      </p:sp>
      <p:graphicFrame>
        <p:nvGraphicFramePr>
          <p:cNvPr id="19" name="Median EBITDA margin"/>
          <p:cNvGraphicFramePr/>
          <p:nvPr/>
        </p:nvGraphicFramePr>
        <p:xfrm>
          <a:off x="514350" y="4705350"/>
          <a:ext cx="4305300" cy="2152650"/>
        </p:xfrm>
        <a:graphic>
          <a:graphicData uri="http://schemas.openxmlformats.org/drawingml/2006/chart">
            <c:chart xmlns:c="http://schemas.openxmlformats.org/drawingml/2006/chart" xmlns:r="http://schemas.openxmlformats.org/officeDocument/2006/relationships" r:id="rId6"/>
          </a:graphicData>
        </a:graphic>
      </p:graphicFrame>
      <p:sp>
        <p:nvSpPr>
          <p:cNvPr id="20" name="Median free cash flow conversion"/>
          <p:cNvSpPr/>
          <p:nvPr/>
        </p:nvSpPr>
        <p:spPr>
          <a:xfrm>
            <a:off x="5105400" y="4152900"/>
            <a:ext cx="4533900" cy="2781300"/>
          </a:xfrm>
          <a:prstGeom prst="rect">
            <a:avLst/>
          </a:prstGeom>
          <a:solidFill>
            <a:srgbClr val="FAF7F3"/>
          </a:solidFill>
          <a:ln/>
        </p:spPr>
        <p:txBody>
          <a:bodyPr/>
          <a:lstStyle/>
          <a:p>
            <a:endParaRPr lang="en-US"/>
          </a:p>
        </p:txBody>
      </p:sp>
      <p:sp>
        <p:nvSpPr>
          <p:cNvPr id="21" name="Shape 16"/>
          <p:cNvSpPr/>
          <p:nvPr/>
        </p:nvSpPr>
        <p:spPr>
          <a:xfrm>
            <a:off x="5105400" y="4152900"/>
            <a:ext cx="4533900" cy="28575"/>
          </a:xfrm>
          <a:prstGeom prst="rect">
            <a:avLst/>
          </a:prstGeom>
          <a:solidFill>
            <a:srgbClr val="B68757"/>
          </a:solidFill>
          <a:ln/>
        </p:spPr>
        <p:txBody>
          <a:bodyPr/>
          <a:lstStyle/>
          <a:p>
            <a:endParaRPr lang="en-US"/>
          </a:p>
        </p:txBody>
      </p:sp>
      <p:sp>
        <p:nvSpPr>
          <p:cNvPr id="22" name="Text 17"/>
          <p:cNvSpPr txBox="1"/>
          <p:nvPr/>
        </p:nvSpPr>
        <p:spPr>
          <a:xfrm>
            <a:off x="5276850" y="4286250"/>
            <a:ext cx="4191000" cy="171450"/>
          </a:xfrm>
          <a:prstGeom prst="rect">
            <a:avLst/>
          </a:prstGeom>
          <a:noFill/>
          <a:ln/>
        </p:spPr>
        <p:txBody>
          <a:bodyPr wrap="square" lIns="0" tIns="0" rIns="0" bIns="0" rtlCol="0" anchor="t"/>
          <a:lstStyle/>
          <a:p>
            <a:pPr marL="0" indent="0">
              <a:buNone/>
            </a:pPr>
            <a:r>
              <a:rPr lang="en-US" sz="938" b="1" dirty="0">
                <a:solidFill>
                  <a:srgbClr val="1B1A1A"/>
                </a:solidFill>
              </a:rPr>
              <a:t>Median free cash flow conversion</a:t>
            </a:r>
            <a:endParaRPr lang="en-US" sz="938" dirty="0"/>
          </a:p>
        </p:txBody>
      </p:sp>
      <p:sp>
        <p:nvSpPr>
          <p:cNvPr id="23" name="Text 18"/>
          <p:cNvSpPr txBox="1"/>
          <p:nvPr/>
        </p:nvSpPr>
        <p:spPr>
          <a:xfrm>
            <a:off x="5276850" y="4467225"/>
            <a:ext cx="4191000" cy="266700"/>
          </a:xfrm>
          <a:prstGeom prst="rect">
            <a:avLst/>
          </a:prstGeom>
          <a:noFill/>
          <a:ln/>
        </p:spPr>
        <p:txBody>
          <a:bodyPr wrap="square" lIns="0" tIns="0" rIns="0" bIns="0" rtlCol="0" anchor="t"/>
          <a:lstStyle/>
          <a:p>
            <a:pPr marL="0" indent="0">
              <a:lnSpc>
                <a:spcPts val="1013"/>
              </a:lnSpc>
              <a:buNone/>
            </a:pPr>
            <a:r>
              <a:rPr lang="en-US" sz="720" dirty="0">
                <a:solidFill>
                  <a:srgbClr val="6F6A66"/>
                </a:solidFill>
              </a:rPr>
              <a:t>Trailing free cash flow as a share of trailing EBITDA</a:t>
            </a:r>
            <a:endParaRPr lang="en-US" sz="720" dirty="0"/>
          </a:p>
        </p:txBody>
      </p:sp>
      <p:graphicFrame>
        <p:nvGraphicFramePr>
          <p:cNvPr id="24" name="Median free cash flow conversion"/>
          <p:cNvGraphicFramePr/>
          <p:nvPr/>
        </p:nvGraphicFramePr>
        <p:xfrm>
          <a:off x="5200650" y="4705350"/>
          <a:ext cx="4305300" cy="2152650"/>
        </p:xfrm>
        <a:graphic>
          <a:graphicData uri="http://schemas.openxmlformats.org/drawingml/2006/chart">
            <c:chart xmlns:c="http://schemas.openxmlformats.org/drawingml/2006/chart" xmlns:r="http://schemas.openxmlformats.org/officeDocument/2006/relationships" r:id="rId7"/>
          </a:graphicData>
        </a:graphic>
      </p:graphicFrame>
      <p:sp>
        <p:nvSpPr>
          <p:cNvPr id="25"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Public Company Performance and Trends: Valuation Metrics</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Transportation shares rose a median 43% in a year and still trade at the lowest multiple of EBITDA of the five segments.</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Medians of the 38 listed companies shown on page 10, grouped by segment. Source: </a:t>
            </a:r>
            <a:r>
              <a:rPr lang="en-US" sz="675" u="sng" dirty="0">
                <a:solidFill>
                  <a:srgbClr val="8C6239"/>
                </a:solidFill>
                <a:hlinkClick r:id="rId3" tooltip="https://stockanalysis.com/">
                  <a:extLst>
                    <a:ext uri="{A12FA001-AC4F-418D-AE19-62706E023703}">
                      <ahyp:hlinkClr xmlns:ahyp="http://schemas.microsoft.com/office/drawing/2018/hyperlinkcolor" val="tx"/>
                    </a:ext>
                  </a:extLst>
                </a:hlinkClick>
              </a:rPr>
              <a:t>StockAnalysis</a:t>
            </a:r>
            <a:r>
              <a:rPr lang="en-US" sz="675" dirty="0">
                <a:solidFill>
                  <a:srgbClr val="6F6A66"/>
                </a:solidFill>
              </a:rPr>
              <a:t>, retrieved October 5 to 7, 2026. Year-end 2025 multiples stand in for the forward multiples that a licensed data service would provide. Three of the eight building products and construction companies hold more cash than debt.</a:t>
            </a:r>
            <a:endParaRPr lang="en-US" sz="675" dirty="0"/>
          </a:p>
        </p:txBody>
      </p:sp>
      <p:sp>
        <p:nvSpPr>
          <p:cNvPr id="5" name="Median enterprise value to trailing EBITDA"/>
          <p:cNvSpPr/>
          <p:nvPr/>
        </p:nvSpPr>
        <p:spPr>
          <a:xfrm>
            <a:off x="419100" y="1238250"/>
            <a:ext cx="4533900" cy="2781300"/>
          </a:xfrm>
          <a:prstGeom prst="rect">
            <a:avLst/>
          </a:prstGeom>
          <a:solidFill>
            <a:srgbClr val="FAF7F3"/>
          </a:solidFill>
          <a:ln/>
        </p:spPr>
        <p:txBody>
          <a:bodyPr/>
          <a:lstStyle/>
          <a:p>
            <a:endParaRPr lang="en-US"/>
          </a:p>
        </p:txBody>
      </p:sp>
      <p:sp>
        <p:nvSpPr>
          <p:cNvPr id="6" name="Shape 4"/>
          <p:cNvSpPr/>
          <p:nvPr/>
        </p:nvSpPr>
        <p:spPr>
          <a:xfrm>
            <a:off x="419100" y="1238250"/>
            <a:ext cx="4533900" cy="28575"/>
          </a:xfrm>
          <a:prstGeom prst="rect">
            <a:avLst/>
          </a:prstGeom>
          <a:solidFill>
            <a:srgbClr val="B68757"/>
          </a:solidFill>
          <a:ln/>
        </p:spPr>
        <p:txBody>
          <a:bodyPr/>
          <a:lstStyle/>
          <a:p>
            <a:endParaRPr lang="en-US"/>
          </a:p>
        </p:txBody>
      </p:sp>
      <p:sp>
        <p:nvSpPr>
          <p:cNvPr id="7" name="Text 5"/>
          <p:cNvSpPr txBox="1"/>
          <p:nvPr/>
        </p:nvSpPr>
        <p:spPr>
          <a:xfrm>
            <a:off x="590550" y="1371600"/>
            <a:ext cx="4191000" cy="171450"/>
          </a:xfrm>
          <a:prstGeom prst="rect">
            <a:avLst/>
          </a:prstGeom>
          <a:noFill/>
          <a:ln/>
        </p:spPr>
        <p:txBody>
          <a:bodyPr wrap="square" lIns="0" tIns="0" rIns="0" bIns="0" rtlCol="0" anchor="t"/>
          <a:lstStyle/>
          <a:p>
            <a:pPr marL="0" indent="0">
              <a:buNone/>
            </a:pPr>
            <a:r>
              <a:rPr lang="en-US" sz="938" b="1" dirty="0">
                <a:solidFill>
                  <a:srgbClr val="1B1A1A"/>
                </a:solidFill>
              </a:rPr>
              <a:t>Median enterprise value to trailing EBITDA</a:t>
            </a:r>
            <a:endParaRPr lang="en-US" sz="938" dirty="0"/>
          </a:p>
        </p:txBody>
      </p:sp>
      <p:sp>
        <p:nvSpPr>
          <p:cNvPr id="8" name="Text 6"/>
          <p:cNvSpPr txBox="1"/>
          <p:nvPr/>
        </p:nvSpPr>
        <p:spPr>
          <a:xfrm>
            <a:off x="590550" y="1552575"/>
            <a:ext cx="4191000" cy="266700"/>
          </a:xfrm>
          <a:prstGeom prst="rect">
            <a:avLst/>
          </a:prstGeom>
          <a:noFill/>
          <a:ln/>
        </p:spPr>
        <p:txBody>
          <a:bodyPr wrap="square" lIns="0" tIns="0" rIns="0" bIns="0" rtlCol="0" anchor="t"/>
          <a:lstStyle/>
          <a:p>
            <a:pPr marL="0" indent="0">
              <a:lnSpc>
                <a:spcPts val="1013"/>
              </a:lnSpc>
              <a:buNone/>
            </a:pPr>
            <a:r>
              <a:rPr lang="en-US" sz="720" dirty="0">
                <a:solidFill>
                  <a:srgbClr val="6F6A66"/>
                </a:solidFill>
              </a:rPr>
              <a:t>Today, on share prices from September 28 to October 7, 2026</a:t>
            </a:r>
            <a:endParaRPr lang="en-US" sz="720" dirty="0"/>
          </a:p>
        </p:txBody>
      </p:sp>
      <p:graphicFrame>
        <p:nvGraphicFramePr>
          <p:cNvPr id="9" name="Median enterprise value to trailing EBITDA"/>
          <p:cNvGraphicFramePr/>
          <p:nvPr/>
        </p:nvGraphicFramePr>
        <p:xfrm>
          <a:off x="514350" y="1828800"/>
          <a:ext cx="4305300" cy="2114550"/>
        </p:xfrm>
        <a:graphic>
          <a:graphicData uri="http://schemas.openxmlformats.org/drawingml/2006/chart">
            <c:chart xmlns:c="http://schemas.openxmlformats.org/drawingml/2006/chart" xmlns:r="http://schemas.openxmlformats.org/officeDocument/2006/relationships" r:id="rId4"/>
          </a:graphicData>
        </a:graphic>
      </p:graphicFrame>
      <p:sp>
        <p:nvSpPr>
          <p:cNvPr id="10" name="Median enterprise value to EBITDA at fiscal year-end 2025"/>
          <p:cNvSpPr/>
          <p:nvPr/>
        </p:nvSpPr>
        <p:spPr>
          <a:xfrm>
            <a:off x="5105400" y="1238250"/>
            <a:ext cx="4533900" cy="2781300"/>
          </a:xfrm>
          <a:prstGeom prst="rect">
            <a:avLst/>
          </a:prstGeom>
          <a:solidFill>
            <a:srgbClr val="FAF7F3"/>
          </a:solidFill>
          <a:ln/>
        </p:spPr>
        <p:txBody>
          <a:bodyPr/>
          <a:lstStyle/>
          <a:p>
            <a:endParaRPr lang="en-US"/>
          </a:p>
        </p:txBody>
      </p:sp>
      <p:sp>
        <p:nvSpPr>
          <p:cNvPr id="11" name="Shape 8"/>
          <p:cNvSpPr/>
          <p:nvPr/>
        </p:nvSpPr>
        <p:spPr>
          <a:xfrm>
            <a:off x="5105400" y="1238250"/>
            <a:ext cx="4533900" cy="28575"/>
          </a:xfrm>
          <a:prstGeom prst="rect">
            <a:avLst/>
          </a:prstGeom>
          <a:solidFill>
            <a:srgbClr val="B68757"/>
          </a:solidFill>
          <a:ln/>
        </p:spPr>
        <p:txBody>
          <a:bodyPr/>
          <a:lstStyle/>
          <a:p>
            <a:endParaRPr lang="en-US"/>
          </a:p>
        </p:txBody>
      </p:sp>
      <p:sp>
        <p:nvSpPr>
          <p:cNvPr id="12" name="Text 9"/>
          <p:cNvSpPr txBox="1"/>
          <p:nvPr/>
        </p:nvSpPr>
        <p:spPr>
          <a:xfrm>
            <a:off x="5276850" y="1371600"/>
            <a:ext cx="4191000" cy="171450"/>
          </a:xfrm>
          <a:prstGeom prst="rect">
            <a:avLst/>
          </a:prstGeom>
          <a:noFill/>
          <a:ln/>
        </p:spPr>
        <p:txBody>
          <a:bodyPr wrap="square" lIns="0" tIns="0" rIns="0" bIns="0" rtlCol="0" anchor="t"/>
          <a:lstStyle/>
          <a:p>
            <a:pPr marL="0" indent="0">
              <a:buNone/>
            </a:pPr>
            <a:r>
              <a:rPr lang="en-US" sz="938" b="1" dirty="0">
                <a:solidFill>
                  <a:srgbClr val="1B1A1A"/>
                </a:solidFill>
              </a:rPr>
              <a:t>Median enterprise value to EBITDA at fiscal year-end 2025</a:t>
            </a:r>
            <a:endParaRPr lang="en-US" sz="938" dirty="0"/>
          </a:p>
        </p:txBody>
      </p:sp>
      <p:sp>
        <p:nvSpPr>
          <p:cNvPr id="13" name="Text 10"/>
          <p:cNvSpPr txBox="1"/>
          <p:nvPr/>
        </p:nvSpPr>
        <p:spPr>
          <a:xfrm>
            <a:off x="5276850" y="1552575"/>
            <a:ext cx="4191000" cy="266700"/>
          </a:xfrm>
          <a:prstGeom prst="rect">
            <a:avLst/>
          </a:prstGeom>
          <a:noFill/>
          <a:ln/>
        </p:spPr>
        <p:txBody>
          <a:bodyPr wrap="square" lIns="0" tIns="0" rIns="0" bIns="0" rtlCol="0" anchor="t"/>
          <a:lstStyle/>
          <a:p>
            <a:pPr marL="0" indent="0">
              <a:lnSpc>
                <a:spcPts val="1013"/>
              </a:lnSpc>
              <a:buNone/>
            </a:pPr>
            <a:r>
              <a:rPr lang="en-US" sz="720" dirty="0">
                <a:solidFill>
                  <a:srgbClr val="6F6A66"/>
                </a:solidFill>
              </a:rPr>
              <a:t>At each company’s 2025 fiscal year-end, for comparison with today</a:t>
            </a:r>
            <a:endParaRPr lang="en-US" sz="720" dirty="0"/>
          </a:p>
        </p:txBody>
      </p:sp>
      <p:graphicFrame>
        <p:nvGraphicFramePr>
          <p:cNvPr id="14" name="Median enterprise value to EBITDA at fiscal year-end 2025"/>
          <p:cNvGraphicFramePr/>
          <p:nvPr/>
        </p:nvGraphicFramePr>
        <p:xfrm>
          <a:off x="5200650" y="1828800"/>
          <a:ext cx="4305300" cy="2114550"/>
        </p:xfrm>
        <a:graphic>
          <a:graphicData uri="http://schemas.openxmlformats.org/drawingml/2006/chart">
            <c:chart xmlns:c="http://schemas.openxmlformats.org/drawingml/2006/chart" xmlns:r="http://schemas.openxmlformats.org/officeDocument/2006/relationships" r:id="rId5"/>
          </a:graphicData>
        </a:graphic>
      </p:graphicFrame>
      <p:sp>
        <p:nvSpPr>
          <p:cNvPr id="15" name="Median change in share price over 52 weeks"/>
          <p:cNvSpPr/>
          <p:nvPr/>
        </p:nvSpPr>
        <p:spPr>
          <a:xfrm>
            <a:off x="419100" y="4152900"/>
            <a:ext cx="4533900" cy="2781300"/>
          </a:xfrm>
          <a:prstGeom prst="rect">
            <a:avLst/>
          </a:prstGeom>
          <a:solidFill>
            <a:srgbClr val="FAF7F3"/>
          </a:solidFill>
          <a:ln/>
        </p:spPr>
        <p:txBody>
          <a:bodyPr/>
          <a:lstStyle/>
          <a:p>
            <a:endParaRPr lang="en-US"/>
          </a:p>
        </p:txBody>
      </p:sp>
      <p:sp>
        <p:nvSpPr>
          <p:cNvPr id="16" name="Shape 12"/>
          <p:cNvSpPr/>
          <p:nvPr/>
        </p:nvSpPr>
        <p:spPr>
          <a:xfrm>
            <a:off x="419100" y="4152900"/>
            <a:ext cx="4533900" cy="28575"/>
          </a:xfrm>
          <a:prstGeom prst="rect">
            <a:avLst/>
          </a:prstGeom>
          <a:solidFill>
            <a:srgbClr val="B68757"/>
          </a:solidFill>
          <a:ln/>
        </p:spPr>
        <p:txBody>
          <a:bodyPr/>
          <a:lstStyle/>
          <a:p>
            <a:endParaRPr lang="en-US"/>
          </a:p>
        </p:txBody>
      </p:sp>
      <p:sp>
        <p:nvSpPr>
          <p:cNvPr id="17" name="Text 13"/>
          <p:cNvSpPr txBox="1"/>
          <p:nvPr/>
        </p:nvSpPr>
        <p:spPr>
          <a:xfrm>
            <a:off x="590550" y="4286250"/>
            <a:ext cx="4191000" cy="171450"/>
          </a:xfrm>
          <a:prstGeom prst="rect">
            <a:avLst/>
          </a:prstGeom>
          <a:noFill/>
          <a:ln/>
        </p:spPr>
        <p:txBody>
          <a:bodyPr wrap="square" lIns="0" tIns="0" rIns="0" bIns="0" rtlCol="0" anchor="t"/>
          <a:lstStyle/>
          <a:p>
            <a:pPr marL="0" indent="0">
              <a:buNone/>
            </a:pPr>
            <a:r>
              <a:rPr lang="en-US" sz="938" b="1" dirty="0">
                <a:solidFill>
                  <a:srgbClr val="1B1A1A"/>
                </a:solidFill>
              </a:rPr>
              <a:t>Median change in share price over 52 weeks</a:t>
            </a:r>
            <a:endParaRPr lang="en-US" sz="938" dirty="0"/>
          </a:p>
        </p:txBody>
      </p:sp>
      <p:sp>
        <p:nvSpPr>
          <p:cNvPr id="18" name="Text 14"/>
          <p:cNvSpPr txBox="1"/>
          <p:nvPr/>
        </p:nvSpPr>
        <p:spPr>
          <a:xfrm>
            <a:off x="590550" y="4467225"/>
            <a:ext cx="4191000" cy="266700"/>
          </a:xfrm>
          <a:prstGeom prst="rect">
            <a:avLst/>
          </a:prstGeom>
          <a:noFill/>
          <a:ln/>
        </p:spPr>
        <p:txBody>
          <a:bodyPr wrap="square" lIns="0" tIns="0" rIns="0" bIns="0" rtlCol="0" anchor="t"/>
          <a:lstStyle/>
          <a:p>
            <a:pPr marL="0" indent="0">
              <a:lnSpc>
                <a:spcPts val="1013"/>
              </a:lnSpc>
              <a:buNone/>
            </a:pPr>
            <a:r>
              <a:rPr lang="en-US" sz="720" dirty="0">
                <a:solidFill>
                  <a:srgbClr val="6F6A66"/>
                </a:solidFill>
              </a:rPr>
              <a:t>Shares rose at 7 of 7 manufacturing, 8 of 8 distribution, 4 of 8 building, 3 of 8 energy, 7 of 7 transport companies</a:t>
            </a:r>
            <a:endParaRPr lang="en-US" sz="720" dirty="0"/>
          </a:p>
        </p:txBody>
      </p:sp>
      <p:graphicFrame>
        <p:nvGraphicFramePr>
          <p:cNvPr id="19" name="Median change in share price over 52 weeks"/>
          <p:cNvGraphicFramePr/>
          <p:nvPr/>
        </p:nvGraphicFramePr>
        <p:xfrm>
          <a:off x="514350" y="4743450"/>
          <a:ext cx="4305300" cy="2114550"/>
        </p:xfrm>
        <a:graphic>
          <a:graphicData uri="http://schemas.openxmlformats.org/drawingml/2006/chart">
            <c:chart xmlns:c="http://schemas.openxmlformats.org/drawingml/2006/chart" xmlns:r="http://schemas.openxmlformats.org/officeDocument/2006/relationships" r:id="rId6"/>
          </a:graphicData>
        </a:graphic>
      </p:graphicFrame>
      <p:sp>
        <p:nvSpPr>
          <p:cNvPr id="20" name="Median net debt to trailing EBITDA"/>
          <p:cNvSpPr/>
          <p:nvPr/>
        </p:nvSpPr>
        <p:spPr>
          <a:xfrm>
            <a:off x="5105400" y="4152900"/>
            <a:ext cx="4533900" cy="2781300"/>
          </a:xfrm>
          <a:prstGeom prst="rect">
            <a:avLst/>
          </a:prstGeom>
          <a:solidFill>
            <a:srgbClr val="FAF7F3"/>
          </a:solidFill>
          <a:ln/>
        </p:spPr>
        <p:txBody>
          <a:bodyPr/>
          <a:lstStyle/>
          <a:p>
            <a:endParaRPr lang="en-US"/>
          </a:p>
        </p:txBody>
      </p:sp>
      <p:sp>
        <p:nvSpPr>
          <p:cNvPr id="21" name="Shape 16"/>
          <p:cNvSpPr/>
          <p:nvPr/>
        </p:nvSpPr>
        <p:spPr>
          <a:xfrm>
            <a:off x="5105400" y="4152900"/>
            <a:ext cx="4533900" cy="28575"/>
          </a:xfrm>
          <a:prstGeom prst="rect">
            <a:avLst/>
          </a:prstGeom>
          <a:solidFill>
            <a:srgbClr val="B68757"/>
          </a:solidFill>
          <a:ln/>
        </p:spPr>
        <p:txBody>
          <a:bodyPr/>
          <a:lstStyle/>
          <a:p>
            <a:endParaRPr lang="en-US"/>
          </a:p>
        </p:txBody>
      </p:sp>
      <p:sp>
        <p:nvSpPr>
          <p:cNvPr id="22" name="Text 17"/>
          <p:cNvSpPr txBox="1"/>
          <p:nvPr/>
        </p:nvSpPr>
        <p:spPr>
          <a:xfrm>
            <a:off x="5276850" y="4286250"/>
            <a:ext cx="4191000" cy="171450"/>
          </a:xfrm>
          <a:prstGeom prst="rect">
            <a:avLst/>
          </a:prstGeom>
          <a:noFill/>
          <a:ln/>
        </p:spPr>
        <p:txBody>
          <a:bodyPr wrap="square" lIns="0" tIns="0" rIns="0" bIns="0" rtlCol="0" anchor="t"/>
          <a:lstStyle/>
          <a:p>
            <a:pPr marL="0" indent="0">
              <a:buNone/>
            </a:pPr>
            <a:r>
              <a:rPr lang="en-US" sz="938" b="1" dirty="0">
                <a:solidFill>
                  <a:srgbClr val="1B1A1A"/>
                </a:solidFill>
              </a:rPr>
              <a:t>Median net debt to trailing EBITDA</a:t>
            </a:r>
            <a:endParaRPr lang="en-US" sz="938" dirty="0"/>
          </a:p>
        </p:txBody>
      </p:sp>
      <p:sp>
        <p:nvSpPr>
          <p:cNvPr id="23" name="Text 18"/>
          <p:cNvSpPr txBox="1"/>
          <p:nvPr/>
        </p:nvSpPr>
        <p:spPr>
          <a:xfrm>
            <a:off x="5276850" y="4467225"/>
            <a:ext cx="4191000" cy="266700"/>
          </a:xfrm>
          <a:prstGeom prst="rect">
            <a:avLst/>
          </a:prstGeom>
          <a:noFill/>
          <a:ln/>
        </p:spPr>
        <p:txBody>
          <a:bodyPr wrap="square" lIns="0" tIns="0" rIns="0" bIns="0" rtlCol="0" anchor="t"/>
          <a:lstStyle/>
          <a:p>
            <a:pPr marL="0" indent="0">
              <a:lnSpc>
                <a:spcPts val="1013"/>
              </a:lnSpc>
              <a:buNone/>
            </a:pPr>
            <a:r>
              <a:rPr lang="en-US" sz="720" dirty="0">
                <a:solidFill>
                  <a:srgbClr val="6F6A66"/>
                </a:solidFill>
              </a:rPr>
              <a:t>Total debt less cash, divided by trailing reported EBITDA</a:t>
            </a:r>
            <a:endParaRPr lang="en-US" sz="720" dirty="0"/>
          </a:p>
        </p:txBody>
      </p:sp>
      <p:graphicFrame>
        <p:nvGraphicFramePr>
          <p:cNvPr id="24" name="Median net debt to trailing EBITDA"/>
          <p:cNvGraphicFramePr/>
          <p:nvPr/>
        </p:nvGraphicFramePr>
        <p:xfrm>
          <a:off x="5200650" y="4743450"/>
          <a:ext cx="4305300" cy="2114550"/>
        </p:xfrm>
        <a:graphic>
          <a:graphicData uri="http://schemas.openxmlformats.org/drawingml/2006/chart">
            <c:chart xmlns:c="http://schemas.openxmlformats.org/drawingml/2006/chart" xmlns:r="http://schemas.openxmlformats.org/officeDocument/2006/relationships" r:id="rId7"/>
          </a:graphicData>
        </a:graphic>
      </p:graphicFrame>
      <p:sp>
        <p:nvSpPr>
          <p:cNvPr id="25"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Economic Trends</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Capital goods orders are 14% above a year ago, diesel is up 68%, and the 10-year Treasury yield averaged 4.99% in September.</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Each series runs monthly from October 2021 to its latest reading, which is August 2026 for all series except diesel and the Treasury yield (September 2026). Recent months are preliminary and subject to revision.</a:t>
            </a:r>
            <a:endParaRPr lang="en-US" sz="675" dirty="0"/>
          </a:p>
        </p:txBody>
      </p:sp>
      <p:sp>
        <p:nvSpPr>
          <p:cNvPr id="5" name="Core capital goods orders"/>
          <p:cNvSpPr/>
          <p:nvPr/>
        </p:nvSpPr>
        <p:spPr>
          <a:xfrm>
            <a:off x="419100" y="1238250"/>
            <a:ext cx="2219325" cy="2790825"/>
          </a:xfrm>
          <a:prstGeom prst="rect">
            <a:avLst/>
          </a:prstGeom>
          <a:solidFill>
            <a:srgbClr val="FAF7F3"/>
          </a:solidFill>
          <a:ln/>
        </p:spPr>
        <p:txBody>
          <a:bodyPr/>
          <a:lstStyle/>
          <a:p>
            <a:endParaRPr lang="en-US"/>
          </a:p>
        </p:txBody>
      </p:sp>
      <p:sp>
        <p:nvSpPr>
          <p:cNvPr id="6" name="Shape 4"/>
          <p:cNvSpPr/>
          <p:nvPr/>
        </p:nvSpPr>
        <p:spPr>
          <a:xfrm>
            <a:off x="419100" y="1238250"/>
            <a:ext cx="2219325" cy="28575"/>
          </a:xfrm>
          <a:prstGeom prst="rect">
            <a:avLst/>
          </a:prstGeom>
          <a:solidFill>
            <a:srgbClr val="B68757"/>
          </a:solidFill>
          <a:ln/>
        </p:spPr>
        <p:txBody>
          <a:bodyPr/>
          <a:lstStyle/>
          <a:p>
            <a:endParaRPr lang="en-US"/>
          </a:p>
        </p:txBody>
      </p:sp>
      <p:sp>
        <p:nvSpPr>
          <p:cNvPr id="7" name="Text 5"/>
          <p:cNvSpPr txBox="1"/>
          <p:nvPr/>
        </p:nvSpPr>
        <p:spPr>
          <a:xfrm>
            <a:off x="542925" y="1352550"/>
            <a:ext cx="1971675" cy="152400"/>
          </a:xfrm>
          <a:prstGeom prst="rect">
            <a:avLst/>
          </a:prstGeom>
          <a:noFill/>
          <a:ln/>
        </p:spPr>
        <p:txBody>
          <a:bodyPr wrap="square" lIns="0" tIns="0" rIns="0" bIns="0" rtlCol="0" anchor="t"/>
          <a:lstStyle/>
          <a:p>
            <a:pPr marL="0" indent="0">
              <a:buNone/>
            </a:pPr>
            <a:r>
              <a:rPr lang="en-US" sz="855" b="1" dirty="0">
                <a:solidFill>
                  <a:srgbClr val="1B1A1A"/>
                </a:solidFill>
              </a:rPr>
              <a:t>Core capital goods orders</a:t>
            </a:r>
            <a:endParaRPr lang="en-US" sz="855" dirty="0"/>
          </a:p>
        </p:txBody>
      </p:sp>
      <p:sp>
        <p:nvSpPr>
          <p:cNvPr id="8" name="Text 6"/>
          <p:cNvSpPr txBox="1"/>
          <p:nvPr/>
        </p:nvSpPr>
        <p:spPr>
          <a:xfrm>
            <a:off x="542925" y="1514475"/>
            <a:ext cx="1971675" cy="247650"/>
          </a:xfrm>
          <a:prstGeom prst="rect">
            <a:avLst/>
          </a:prstGeom>
          <a:noFill/>
          <a:ln/>
        </p:spPr>
        <p:txBody>
          <a:bodyPr wrap="square" lIns="0" tIns="0" rIns="0" bIns="0" rtlCol="0" anchor="t"/>
          <a:lstStyle/>
          <a:p>
            <a:pPr marL="0" indent="0">
              <a:lnSpc>
                <a:spcPts val="900"/>
              </a:lnSpc>
              <a:buNone/>
            </a:pPr>
            <a:r>
              <a:rPr lang="en-US" sz="645" dirty="0">
                <a:solidFill>
                  <a:srgbClr val="6F6A66"/>
                </a:solidFill>
              </a:rPr>
              <a:t>Nondefense capital goods excluding aircraft, monthly, US Census Bureau</a:t>
            </a:r>
            <a:endParaRPr lang="en-US" sz="645" dirty="0"/>
          </a:p>
        </p:txBody>
      </p:sp>
      <p:sp>
        <p:nvSpPr>
          <p:cNvPr id="9" name="Text 7"/>
          <p:cNvSpPr txBox="1"/>
          <p:nvPr/>
        </p:nvSpPr>
        <p:spPr>
          <a:xfrm>
            <a:off x="542925" y="1790700"/>
            <a:ext cx="1143000" cy="266700"/>
          </a:xfrm>
          <a:prstGeom prst="rect">
            <a:avLst/>
          </a:prstGeom>
          <a:noFill/>
          <a:ln/>
        </p:spPr>
        <p:txBody>
          <a:bodyPr wrap="square" lIns="0" tIns="0" rIns="0" bIns="0" rtlCol="0" anchor="t"/>
          <a:lstStyle/>
          <a:p>
            <a:pPr marL="0" indent="0">
              <a:buNone/>
            </a:pPr>
            <a:r>
              <a:rPr lang="en-US" sz="1875" b="1" dirty="0">
                <a:solidFill>
                  <a:srgbClr val="8C6239"/>
                </a:solidFill>
                <a:latin typeface="+mj-lt" pitchFamily="34" charset="0"/>
              </a:rPr>
              <a:t>$87.6B</a:t>
            </a:r>
            <a:endParaRPr lang="en-US" sz="1875" dirty="0"/>
          </a:p>
        </p:txBody>
      </p:sp>
      <p:sp>
        <p:nvSpPr>
          <p:cNvPr id="10" name="Text 8"/>
          <p:cNvSpPr txBox="1"/>
          <p:nvPr/>
        </p:nvSpPr>
        <p:spPr>
          <a:xfrm>
            <a:off x="542925" y="2066925"/>
            <a:ext cx="1143000" cy="123825"/>
          </a:xfrm>
          <a:prstGeom prst="rect">
            <a:avLst/>
          </a:prstGeom>
          <a:noFill/>
          <a:ln/>
        </p:spPr>
        <p:txBody>
          <a:bodyPr wrap="square" lIns="0" tIns="0" rIns="0" bIns="0" rtlCol="0" anchor="t"/>
          <a:lstStyle/>
          <a:p>
            <a:pPr marL="0" indent="0">
              <a:buNone/>
            </a:pPr>
            <a:r>
              <a:rPr lang="en-US" sz="660" dirty="0">
                <a:solidFill>
                  <a:srgbClr val="6F6A66"/>
                </a:solidFill>
              </a:rPr>
              <a:t>Aug 2026</a:t>
            </a:r>
            <a:endParaRPr lang="en-US" sz="660" dirty="0"/>
          </a:p>
        </p:txBody>
      </p:sp>
      <p:sp>
        <p:nvSpPr>
          <p:cNvPr id="11" name="Text 9"/>
          <p:cNvSpPr txBox="1"/>
          <p:nvPr/>
        </p:nvSpPr>
        <p:spPr>
          <a:xfrm>
            <a:off x="1562100" y="1847850"/>
            <a:ext cx="952500" cy="152400"/>
          </a:xfrm>
          <a:prstGeom prst="rect">
            <a:avLst/>
          </a:prstGeom>
          <a:noFill/>
          <a:ln/>
        </p:spPr>
        <p:txBody>
          <a:bodyPr wrap="square" lIns="0" tIns="0" rIns="0" bIns="0" rtlCol="0" anchor="t"/>
          <a:lstStyle/>
          <a:p>
            <a:pPr marL="0" indent="0" algn="r">
              <a:buNone/>
            </a:pPr>
            <a:r>
              <a:rPr lang="en-US" sz="900" b="1" dirty="0">
                <a:solidFill>
                  <a:srgbClr val="1B1A1A"/>
                </a:solidFill>
              </a:rPr>
              <a:t>+14.1%</a:t>
            </a:r>
            <a:endParaRPr lang="en-US" sz="900" dirty="0"/>
          </a:p>
        </p:txBody>
      </p:sp>
      <p:sp>
        <p:nvSpPr>
          <p:cNvPr id="12" name="Text 10"/>
          <p:cNvSpPr txBox="1"/>
          <p:nvPr/>
        </p:nvSpPr>
        <p:spPr>
          <a:xfrm>
            <a:off x="1562100" y="2019300"/>
            <a:ext cx="952500" cy="123825"/>
          </a:xfrm>
          <a:prstGeom prst="rect">
            <a:avLst/>
          </a:prstGeom>
          <a:noFill/>
          <a:ln/>
        </p:spPr>
        <p:txBody>
          <a:bodyPr wrap="square" lIns="0" tIns="0" rIns="0" bIns="0" rtlCol="0" anchor="t"/>
          <a:lstStyle/>
          <a:p>
            <a:pPr marL="0" indent="0" algn="r">
              <a:buNone/>
            </a:pPr>
            <a:r>
              <a:rPr lang="en-US" sz="660" dirty="0">
                <a:solidFill>
                  <a:srgbClr val="6F6A66"/>
                </a:solidFill>
              </a:rPr>
              <a:t>over one year</a:t>
            </a:r>
            <a:endParaRPr lang="en-US" sz="660" dirty="0"/>
          </a:p>
        </p:txBody>
      </p:sp>
      <p:graphicFrame>
        <p:nvGraphicFramePr>
          <p:cNvPr id="13" name="Core capital goods orders"/>
          <p:cNvGraphicFramePr/>
          <p:nvPr/>
        </p:nvGraphicFramePr>
        <p:xfrm>
          <a:off x="457200" y="2228850"/>
          <a:ext cx="2143125" cy="1571625"/>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txBox="1"/>
          <p:nvPr/>
        </p:nvSpPr>
        <p:spPr>
          <a:xfrm>
            <a:off x="542925" y="3838575"/>
            <a:ext cx="1971675" cy="123825"/>
          </a:xfrm>
          <a:prstGeom prst="rect">
            <a:avLst/>
          </a:prstGeom>
          <a:noFill/>
          <a:ln/>
        </p:spPr>
        <p:txBody>
          <a:bodyPr wrap="square" lIns="0" tIns="0" rIns="0" bIns="0" rtlCol="0" anchor="t"/>
          <a:lstStyle/>
          <a:p>
            <a:pPr marL="0" indent="0">
              <a:buNone/>
            </a:pPr>
            <a:r>
              <a:rPr lang="en-US" sz="630" dirty="0">
                <a:solidFill>
                  <a:srgbClr val="6F6A66"/>
                </a:solidFill>
              </a:rPr>
              <a:t>Source: </a:t>
            </a:r>
            <a:r>
              <a:rPr lang="en-US" sz="630" u="sng" dirty="0">
                <a:solidFill>
                  <a:srgbClr val="8C6239"/>
                </a:solidFill>
                <a:hlinkClick r:id="rId4">
                  <a:extLst>
                    <a:ext uri="{A12FA001-AC4F-418D-AE19-62706E023703}">
                      <ahyp:hlinkClr xmlns:ahyp="http://schemas.microsoft.com/office/drawing/2018/hyperlinkcolor" val="tx"/>
                    </a:ext>
                  </a:extLst>
                </a:hlinkClick>
              </a:rPr>
              <a:t>FRED, series NEWORDER</a:t>
            </a:r>
            <a:endParaRPr lang="en-US" sz="630" dirty="0"/>
          </a:p>
        </p:txBody>
      </p:sp>
      <p:sp>
        <p:nvSpPr>
          <p:cNvPr id="15" name="Manufacturing capacity utilization"/>
          <p:cNvSpPr/>
          <p:nvPr/>
        </p:nvSpPr>
        <p:spPr>
          <a:xfrm>
            <a:off x="2752725" y="1238250"/>
            <a:ext cx="2219325" cy="2790825"/>
          </a:xfrm>
          <a:prstGeom prst="rect">
            <a:avLst/>
          </a:prstGeom>
          <a:solidFill>
            <a:srgbClr val="FAF7F3"/>
          </a:solidFill>
          <a:ln/>
        </p:spPr>
        <p:txBody>
          <a:bodyPr/>
          <a:lstStyle/>
          <a:p>
            <a:endParaRPr lang="en-US"/>
          </a:p>
        </p:txBody>
      </p:sp>
      <p:sp>
        <p:nvSpPr>
          <p:cNvPr id="16" name="Shape 13"/>
          <p:cNvSpPr/>
          <p:nvPr/>
        </p:nvSpPr>
        <p:spPr>
          <a:xfrm>
            <a:off x="2752725" y="1238250"/>
            <a:ext cx="2219325" cy="28575"/>
          </a:xfrm>
          <a:prstGeom prst="rect">
            <a:avLst/>
          </a:prstGeom>
          <a:solidFill>
            <a:srgbClr val="B68757"/>
          </a:solidFill>
          <a:ln/>
        </p:spPr>
        <p:txBody>
          <a:bodyPr/>
          <a:lstStyle/>
          <a:p>
            <a:endParaRPr lang="en-US"/>
          </a:p>
        </p:txBody>
      </p:sp>
      <p:sp>
        <p:nvSpPr>
          <p:cNvPr id="17" name="Text 14"/>
          <p:cNvSpPr txBox="1"/>
          <p:nvPr/>
        </p:nvSpPr>
        <p:spPr>
          <a:xfrm>
            <a:off x="2876550" y="1352550"/>
            <a:ext cx="1971675" cy="152400"/>
          </a:xfrm>
          <a:prstGeom prst="rect">
            <a:avLst/>
          </a:prstGeom>
          <a:noFill/>
          <a:ln/>
        </p:spPr>
        <p:txBody>
          <a:bodyPr wrap="square" lIns="0" tIns="0" rIns="0" bIns="0" rtlCol="0" anchor="t"/>
          <a:lstStyle/>
          <a:p>
            <a:pPr marL="0" indent="0">
              <a:buNone/>
            </a:pPr>
            <a:r>
              <a:rPr lang="en-US" sz="855" b="1" dirty="0">
                <a:solidFill>
                  <a:srgbClr val="1B1A1A"/>
                </a:solidFill>
              </a:rPr>
              <a:t>Manufacturing capacity utilization</a:t>
            </a:r>
            <a:endParaRPr lang="en-US" sz="855" dirty="0"/>
          </a:p>
        </p:txBody>
      </p:sp>
      <p:sp>
        <p:nvSpPr>
          <p:cNvPr id="18" name="Text 15"/>
          <p:cNvSpPr txBox="1"/>
          <p:nvPr/>
        </p:nvSpPr>
        <p:spPr>
          <a:xfrm>
            <a:off x="2876550" y="1514475"/>
            <a:ext cx="1971675" cy="247650"/>
          </a:xfrm>
          <a:prstGeom prst="rect">
            <a:avLst/>
          </a:prstGeom>
          <a:noFill/>
          <a:ln/>
        </p:spPr>
        <p:txBody>
          <a:bodyPr wrap="square" lIns="0" tIns="0" rIns="0" bIns="0" rtlCol="0" anchor="t"/>
          <a:lstStyle/>
          <a:p>
            <a:pPr marL="0" indent="0">
              <a:lnSpc>
                <a:spcPts val="900"/>
              </a:lnSpc>
              <a:buNone/>
            </a:pPr>
            <a:r>
              <a:rPr lang="en-US" sz="645" dirty="0">
                <a:solidFill>
                  <a:srgbClr val="6F6A66"/>
                </a:solidFill>
              </a:rPr>
              <a:t>Share of manufacturing capacity in use, Federal Reserve</a:t>
            </a:r>
            <a:endParaRPr lang="en-US" sz="645" dirty="0"/>
          </a:p>
        </p:txBody>
      </p:sp>
      <p:sp>
        <p:nvSpPr>
          <p:cNvPr id="19" name="Text 16"/>
          <p:cNvSpPr txBox="1"/>
          <p:nvPr/>
        </p:nvSpPr>
        <p:spPr>
          <a:xfrm>
            <a:off x="2876550" y="1790700"/>
            <a:ext cx="1143000" cy="266700"/>
          </a:xfrm>
          <a:prstGeom prst="rect">
            <a:avLst/>
          </a:prstGeom>
          <a:noFill/>
          <a:ln/>
        </p:spPr>
        <p:txBody>
          <a:bodyPr wrap="square" lIns="0" tIns="0" rIns="0" bIns="0" rtlCol="0" anchor="t"/>
          <a:lstStyle/>
          <a:p>
            <a:pPr marL="0" indent="0">
              <a:buNone/>
            </a:pPr>
            <a:r>
              <a:rPr lang="en-US" sz="1875" b="1" dirty="0">
                <a:solidFill>
                  <a:srgbClr val="8C6239"/>
                </a:solidFill>
                <a:latin typeface="+mj-lt" pitchFamily="34" charset="0"/>
              </a:rPr>
              <a:t>75.7%</a:t>
            </a:r>
            <a:endParaRPr lang="en-US" sz="1875" dirty="0"/>
          </a:p>
        </p:txBody>
      </p:sp>
      <p:sp>
        <p:nvSpPr>
          <p:cNvPr id="20" name="Text 17"/>
          <p:cNvSpPr txBox="1"/>
          <p:nvPr/>
        </p:nvSpPr>
        <p:spPr>
          <a:xfrm>
            <a:off x="2876550" y="2066925"/>
            <a:ext cx="1143000" cy="123825"/>
          </a:xfrm>
          <a:prstGeom prst="rect">
            <a:avLst/>
          </a:prstGeom>
          <a:noFill/>
          <a:ln/>
        </p:spPr>
        <p:txBody>
          <a:bodyPr wrap="square" lIns="0" tIns="0" rIns="0" bIns="0" rtlCol="0" anchor="t"/>
          <a:lstStyle/>
          <a:p>
            <a:pPr marL="0" indent="0">
              <a:buNone/>
            </a:pPr>
            <a:r>
              <a:rPr lang="en-US" sz="660" dirty="0">
                <a:solidFill>
                  <a:srgbClr val="6F6A66"/>
                </a:solidFill>
              </a:rPr>
              <a:t>Aug 2026</a:t>
            </a:r>
            <a:endParaRPr lang="en-US" sz="660" dirty="0"/>
          </a:p>
        </p:txBody>
      </p:sp>
      <p:sp>
        <p:nvSpPr>
          <p:cNvPr id="21" name="Text 18"/>
          <p:cNvSpPr txBox="1"/>
          <p:nvPr/>
        </p:nvSpPr>
        <p:spPr>
          <a:xfrm>
            <a:off x="3895725" y="1847850"/>
            <a:ext cx="952500" cy="152400"/>
          </a:xfrm>
          <a:prstGeom prst="rect">
            <a:avLst/>
          </a:prstGeom>
          <a:noFill/>
          <a:ln/>
        </p:spPr>
        <p:txBody>
          <a:bodyPr wrap="square" lIns="0" tIns="0" rIns="0" bIns="0" rtlCol="0" anchor="t"/>
          <a:lstStyle/>
          <a:p>
            <a:pPr marL="0" indent="0" algn="r">
              <a:buNone/>
            </a:pPr>
            <a:r>
              <a:rPr lang="en-US" sz="900" b="1" dirty="0">
                <a:solidFill>
                  <a:srgbClr val="1B1A1A"/>
                </a:solidFill>
              </a:rPr>
              <a:t>−0.1 pts</a:t>
            </a:r>
            <a:endParaRPr lang="en-US" sz="900" dirty="0"/>
          </a:p>
        </p:txBody>
      </p:sp>
      <p:sp>
        <p:nvSpPr>
          <p:cNvPr id="22" name="Text 19"/>
          <p:cNvSpPr txBox="1"/>
          <p:nvPr/>
        </p:nvSpPr>
        <p:spPr>
          <a:xfrm>
            <a:off x="3895725" y="2019300"/>
            <a:ext cx="952500" cy="123825"/>
          </a:xfrm>
          <a:prstGeom prst="rect">
            <a:avLst/>
          </a:prstGeom>
          <a:noFill/>
          <a:ln/>
        </p:spPr>
        <p:txBody>
          <a:bodyPr wrap="square" lIns="0" tIns="0" rIns="0" bIns="0" rtlCol="0" anchor="t"/>
          <a:lstStyle/>
          <a:p>
            <a:pPr marL="0" indent="0" algn="r">
              <a:buNone/>
            </a:pPr>
            <a:r>
              <a:rPr lang="en-US" sz="660" dirty="0">
                <a:solidFill>
                  <a:srgbClr val="6F6A66"/>
                </a:solidFill>
              </a:rPr>
              <a:t>over one year</a:t>
            </a:r>
            <a:endParaRPr lang="en-US" sz="660" dirty="0"/>
          </a:p>
        </p:txBody>
      </p:sp>
      <p:graphicFrame>
        <p:nvGraphicFramePr>
          <p:cNvPr id="23" name="Manufacturing capacity utilization"/>
          <p:cNvGraphicFramePr/>
          <p:nvPr/>
        </p:nvGraphicFramePr>
        <p:xfrm>
          <a:off x="2790825" y="2228850"/>
          <a:ext cx="2143125" cy="1571625"/>
        </p:xfrm>
        <a:graphic>
          <a:graphicData uri="http://schemas.openxmlformats.org/drawingml/2006/chart">
            <c:chart xmlns:c="http://schemas.openxmlformats.org/drawingml/2006/chart" xmlns:r="http://schemas.openxmlformats.org/officeDocument/2006/relationships" r:id="rId5"/>
          </a:graphicData>
        </a:graphic>
      </p:graphicFrame>
      <p:sp>
        <p:nvSpPr>
          <p:cNvPr id="24" name="Text 20"/>
          <p:cNvSpPr txBox="1"/>
          <p:nvPr/>
        </p:nvSpPr>
        <p:spPr>
          <a:xfrm>
            <a:off x="2876550" y="3838575"/>
            <a:ext cx="1971675" cy="123825"/>
          </a:xfrm>
          <a:prstGeom prst="rect">
            <a:avLst/>
          </a:prstGeom>
          <a:noFill/>
          <a:ln/>
        </p:spPr>
        <p:txBody>
          <a:bodyPr wrap="square" lIns="0" tIns="0" rIns="0" bIns="0" rtlCol="0" anchor="t"/>
          <a:lstStyle/>
          <a:p>
            <a:pPr marL="0" indent="0">
              <a:buNone/>
            </a:pPr>
            <a:r>
              <a:rPr lang="en-US" sz="630" dirty="0">
                <a:solidFill>
                  <a:srgbClr val="6F6A66"/>
                </a:solidFill>
              </a:rPr>
              <a:t>Source: </a:t>
            </a:r>
            <a:r>
              <a:rPr lang="en-US" sz="630" u="sng" dirty="0">
                <a:solidFill>
                  <a:srgbClr val="8C6239"/>
                </a:solidFill>
                <a:hlinkClick r:id="rId6">
                  <a:extLst>
                    <a:ext uri="{A12FA001-AC4F-418D-AE19-62706E023703}">
                      <ahyp:hlinkClr xmlns:ahyp="http://schemas.microsoft.com/office/drawing/2018/hyperlinkcolor" val="tx"/>
                    </a:ext>
                  </a:extLst>
                </a:hlinkClick>
              </a:rPr>
              <a:t>FRED, series MCUMFN</a:t>
            </a:r>
            <a:endParaRPr lang="en-US" sz="630" dirty="0"/>
          </a:p>
        </p:txBody>
      </p:sp>
      <p:sp>
        <p:nvSpPr>
          <p:cNvPr id="25" name="Total construction spending"/>
          <p:cNvSpPr/>
          <p:nvPr/>
        </p:nvSpPr>
        <p:spPr>
          <a:xfrm>
            <a:off x="5086350" y="1238250"/>
            <a:ext cx="2219325" cy="2790825"/>
          </a:xfrm>
          <a:prstGeom prst="rect">
            <a:avLst/>
          </a:prstGeom>
          <a:solidFill>
            <a:srgbClr val="FAF7F3"/>
          </a:solidFill>
          <a:ln/>
        </p:spPr>
        <p:txBody>
          <a:bodyPr/>
          <a:lstStyle/>
          <a:p>
            <a:endParaRPr lang="en-US"/>
          </a:p>
        </p:txBody>
      </p:sp>
      <p:sp>
        <p:nvSpPr>
          <p:cNvPr id="26" name="Shape 22"/>
          <p:cNvSpPr/>
          <p:nvPr/>
        </p:nvSpPr>
        <p:spPr>
          <a:xfrm>
            <a:off x="5086350" y="1238250"/>
            <a:ext cx="2219325" cy="28575"/>
          </a:xfrm>
          <a:prstGeom prst="rect">
            <a:avLst/>
          </a:prstGeom>
          <a:solidFill>
            <a:srgbClr val="B68757"/>
          </a:solidFill>
          <a:ln/>
        </p:spPr>
        <p:txBody>
          <a:bodyPr/>
          <a:lstStyle/>
          <a:p>
            <a:endParaRPr lang="en-US"/>
          </a:p>
        </p:txBody>
      </p:sp>
      <p:sp>
        <p:nvSpPr>
          <p:cNvPr id="27" name="Text 23"/>
          <p:cNvSpPr txBox="1"/>
          <p:nvPr/>
        </p:nvSpPr>
        <p:spPr>
          <a:xfrm>
            <a:off x="5210175" y="1352550"/>
            <a:ext cx="1971675" cy="152400"/>
          </a:xfrm>
          <a:prstGeom prst="rect">
            <a:avLst/>
          </a:prstGeom>
          <a:noFill/>
          <a:ln/>
        </p:spPr>
        <p:txBody>
          <a:bodyPr wrap="square" lIns="0" tIns="0" rIns="0" bIns="0" rtlCol="0" anchor="t"/>
          <a:lstStyle/>
          <a:p>
            <a:pPr marL="0" indent="0">
              <a:buNone/>
            </a:pPr>
            <a:r>
              <a:rPr lang="en-US" sz="855" b="1" dirty="0">
                <a:solidFill>
                  <a:srgbClr val="1B1A1A"/>
                </a:solidFill>
              </a:rPr>
              <a:t>Total construction spending</a:t>
            </a:r>
            <a:endParaRPr lang="en-US" sz="855" dirty="0"/>
          </a:p>
        </p:txBody>
      </p:sp>
      <p:sp>
        <p:nvSpPr>
          <p:cNvPr id="28" name="Text 24"/>
          <p:cNvSpPr txBox="1"/>
          <p:nvPr/>
        </p:nvSpPr>
        <p:spPr>
          <a:xfrm>
            <a:off x="5210175" y="1514475"/>
            <a:ext cx="1971675" cy="247650"/>
          </a:xfrm>
          <a:prstGeom prst="rect">
            <a:avLst/>
          </a:prstGeom>
          <a:noFill/>
          <a:ln/>
        </p:spPr>
        <p:txBody>
          <a:bodyPr wrap="square" lIns="0" tIns="0" rIns="0" bIns="0" rtlCol="0" anchor="t"/>
          <a:lstStyle/>
          <a:p>
            <a:pPr marL="0" indent="0">
              <a:lnSpc>
                <a:spcPts val="900"/>
              </a:lnSpc>
              <a:buNone/>
            </a:pPr>
            <a:r>
              <a:rPr lang="en-US" sz="645" dirty="0">
                <a:solidFill>
                  <a:srgbClr val="6F6A66"/>
                </a:solidFill>
              </a:rPr>
              <a:t>Seasonally adjusted annual rate, US Census Bureau</a:t>
            </a:r>
            <a:endParaRPr lang="en-US" sz="645" dirty="0"/>
          </a:p>
        </p:txBody>
      </p:sp>
      <p:sp>
        <p:nvSpPr>
          <p:cNvPr id="29" name="Text 25"/>
          <p:cNvSpPr txBox="1"/>
          <p:nvPr/>
        </p:nvSpPr>
        <p:spPr>
          <a:xfrm>
            <a:off x="5210175" y="1790700"/>
            <a:ext cx="1143000" cy="266700"/>
          </a:xfrm>
          <a:prstGeom prst="rect">
            <a:avLst/>
          </a:prstGeom>
          <a:noFill/>
          <a:ln/>
        </p:spPr>
        <p:txBody>
          <a:bodyPr wrap="square" lIns="0" tIns="0" rIns="0" bIns="0" rtlCol="0" anchor="t"/>
          <a:lstStyle/>
          <a:p>
            <a:pPr marL="0" indent="0">
              <a:buNone/>
            </a:pPr>
            <a:r>
              <a:rPr lang="en-US" sz="1875" b="1" dirty="0">
                <a:solidFill>
                  <a:srgbClr val="8C6239"/>
                </a:solidFill>
                <a:latin typeface="+mj-lt" pitchFamily="34" charset="0"/>
              </a:rPr>
              <a:t>$2.20T</a:t>
            </a:r>
            <a:endParaRPr lang="en-US" sz="1875" dirty="0"/>
          </a:p>
        </p:txBody>
      </p:sp>
      <p:sp>
        <p:nvSpPr>
          <p:cNvPr id="30" name="Text 26"/>
          <p:cNvSpPr txBox="1"/>
          <p:nvPr/>
        </p:nvSpPr>
        <p:spPr>
          <a:xfrm>
            <a:off x="5210175" y="2066925"/>
            <a:ext cx="1143000" cy="123825"/>
          </a:xfrm>
          <a:prstGeom prst="rect">
            <a:avLst/>
          </a:prstGeom>
          <a:noFill/>
          <a:ln/>
        </p:spPr>
        <p:txBody>
          <a:bodyPr wrap="square" lIns="0" tIns="0" rIns="0" bIns="0" rtlCol="0" anchor="t"/>
          <a:lstStyle/>
          <a:p>
            <a:pPr marL="0" indent="0">
              <a:buNone/>
            </a:pPr>
            <a:r>
              <a:rPr lang="en-US" sz="660" dirty="0">
                <a:solidFill>
                  <a:srgbClr val="6F6A66"/>
                </a:solidFill>
              </a:rPr>
              <a:t>Aug 2026</a:t>
            </a:r>
            <a:endParaRPr lang="en-US" sz="660" dirty="0"/>
          </a:p>
        </p:txBody>
      </p:sp>
      <p:sp>
        <p:nvSpPr>
          <p:cNvPr id="31" name="Text 27"/>
          <p:cNvSpPr txBox="1"/>
          <p:nvPr/>
        </p:nvSpPr>
        <p:spPr>
          <a:xfrm>
            <a:off x="6229350" y="1847850"/>
            <a:ext cx="952500" cy="152400"/>
          </a:xfrm>
          <a:prstGeom prst="rect">
            <a:avLst/>
          </a:prstGeom>
          <a:noFill/>
          <a:ln/>
        </p:spPr>
        <p:txBody>
          <a:bodyPr wrap="square" lIns="0" tIns="0" rIns="0" bIns="0" rtlCol="0" anchor="t"/>
          <a:lstStyle/>
          <a:p>
            <a:pPr marL="0" indent="0" algn="r">
              <a:buNone/>
            </a:pPr>
            <a:r>
              <a:rPr lang="en-US" sz="900" b="1" dirty="0">
                <a:solidFill>
                  <a:srgbClr val="1B1A1A"/>
                </a:solidFill>
              </a:rPr>
              <a:t>−1.7%</a:t>
            </a:r>
            <a:endParaRPr lang="en-US" sz="900" dirty="0"/>
          </a:p>
        </p:txBody>
      </p:sp>
      <p:sp>
        <p:nvSpPr>
          <p:cNvPr id="32" name="Text 28"/>
          <p:cNvSpPr txBox="1"/>
          <p:nvPr/>
        </p:nvSpPr>
        <p:spPr>
          <a:xfrm>
            <a:off x="6229350" y="2019300"/>
            <a:ext cx="952500" cy="123825"/>
          </a:xfrm>
          <a:prstGeom prst="rect">
            <a:avLst/>
          </a:prstGeom>
          <a:noFill/>
          <a:ln/>
        </p:spPr>
        <p:txBody>
          <a:bodyPr wrap="square" lIns="0" tIns="0" rIns="0" bIns="0" rtlCol="0" anchor="t"/>
          <a:lstStyle/>
          <a:p>
            <a:pPr marL="0" indent="0" algn="r">
              <a:buNone/>
            </a:pPr>
            <a:r>
              <a:rPr lang="en-US" sz="660" dirty="0">
                <a:solidFill>
                  <a:srgbClr val="6F6A66"/>
                </a:solidFill>
              </a:rPr>
              <a:t>over one year</a:t>
            </a:r>
            <a:endParaRPr lang="en-US" sz="660" dirty="0"/>
          </a:p>
        </p:txBody>
      </p:sp>
      <p:graphicFrame>
        <p:nvGraphicFramePr>
          <p:cNvPr id="33" name="Total construction spending"/>
          <p:cNvGraphicFramePr/>
          <p:nvPr/>
        </p:nvGraphicFramePr>
        <p:xfrm>
          <a:off x="5124450" y="2228850"/>
          <a:ext cx="2143125" cy="1571625"/>
        </p:xfrm>
        <a:graphic>
          <a:graphicData uri="http://schemas.openxmlformats.org/drawingml/2006/chart">
            <c:chart xmlns:c="http://schemas.openxmlformats.org/drawingml/2006/chart" xmlns:r="http://schemas.openxmlformats.org/officeDocument/2006/relationships" r:id="rId7"/>
          </a:graphicData>
        </a:graphic>
      </p:graphicFrame>
      <p:sp>
        <p:nvSpPr>
          <p:cNvPr id="34" name="Text 29"/>
          <p:cNvSpPr txBox="1"/>
          <p:nvPr/>
        </p:nvSpPr>
        <p:spPr>
          <a:xfrm>
            <a:off x="5210175" y="3838575"/>
            <a:ext cx="1971675" cy="123825"/>
          </a:xfrm>
          <a:prstGeom prst="rect">
            <a:avLst/>
          </a:prstGeom>
          <a:noFill/>
          <a:ln/>
        </p:spPr>
        <p:txBody>
          <a:bodyPr wrap="square" lIns="0" tIns="0" rIns="0" bIns="0" rtlCol="0" anchor="t"/>
          <a:lstStyle/>
          <a:p>
            <a:pPr marL="0" indent="0">
              <a:buNone/>
            </a:pPr>
            <a:r>
              <a:rPr lang="en-US" sz="630" dirty="0">
                <a:solidFill>
                  <a:srgbClr val="6F6A66"/>
                </a:solidFill>
              </a:rPr>
              <a:t>Source: </a:t>
            </a:r>
            <a:r>
              <a:rPr lang="en-US" sz="630" u="sng" dirty="0">
                <a:solidFill>
                  <a:srgbClr val="8C6239"/>
                </a:solidFill>
                <a:hlinkClick r:id="rId8">
                  <a:extLst>
                    <a:ext uri="{A12FA001-AC4F-418D-AE19-62706E023703}">
                      <ahyp:hlinkClr xmlns:ahyp="http://schemas.microsoft.com/office/drawing/2018/hyperlinkcolor" val="tx"/>
                    </a:ext>
                  </a:extLst>
                </a:hlinkClick>
              </a:rPr>
              <a:t>FRED, series TTLCONS</a:t>
            </a:r>
            <a:endParaRPr lang="en-US" sz="630" dirty="0"/>
          </a:p>
        </p:txBody>
      </p:sp>
      <p:sp>
        <p:nvSpPr>
          <p:cNvPr id="35" name="Manufacturing construction"/>
          <p:cNvSpPr/>
          <p:nvPr/>
        </p:nvSpPr>
        <p:spPr>
          <a:xfrm>
            <a:off x="7419975" y="1238250"/>
            <a:ext cx="2219325" cy="2790825"/>
          </a:xfrm>
          <a:prstGeom prst="rect">
            <a:avLst/>
          </a:prstGeom>
          <a:solidFill>
            <a:srgbClr val="FAF7F3"/>
          </a:solidFill>
          <a:ln/>
        </p:spPr>
        <p:txBody>
          <a:bodyPr/>
          <a:lstStyle/>
          <a:p>
            <a:endParaRPr lang="en-US"/>
          </a:p>
        </p:txBody>
      </p:sp>
      <p:sp>
        <p:nvSpPr>
          <p:cNvPr id="36" name="Shape 31"/>
          <p:cNvSpPr/>
          <p:nvPr/>
        </p:nvSpPr>
        <p:spPr>
          <a:xfrm>
            <a:off x="7419975" y="1238250"/>
            <a:ext cx="2219325" cy="28575"/>
          </a:xfrm>
          <a:prstGeom prst="rect">
            <a:avLst/>
          </a:prstGeom>
          <a:solidFill>
            <a:srgbClr val="B68757"/>
          </a:solidFill>
          <a:ln/>
        </p:spPr>
        <p:txBody>
          <a:bodyPr/>
          <a:lstStyle/>
          <a:p>
            <a:endParaRPr lang="en-US"/>
          </a:p>
        </p:txBody>
      </p:sp>
      <p:sp>
        <p:nvSpPr>
          <p:cNvPr id="37" name="Text 32"/>
          <p:cNvSpPr txBox="1"/>
          <p:nvPr/>
        </p:nvSpPr>
        <p:spPr>
          <a:xfrm>
            <a:off x="7543800" y="1352550"/>
            <a:ext cx="1971675" cy="152400"/>
          </a:xfrm>
          <a:prstGeom prst="rect">
            <a:avLst/>
          </a:prstGeom>
          <a:noFill/>
          <a:ln/>
        </p:spPr>
        <p:txBody>
          <a:bodyPr wrap="square" lIns="0" tIns="0" rIns="0" bIns="0" rtlCol="0" anchor="t"/>
          <a:lstStyle/>
          <a:p>
            <a:pPr marL="0" indent="0">
              <a:buNone/>
            </a:pPr>
            <a:r>
              <a:rPr lang="en-US" sz="855" b="1" dirty="0">
                <a:solidFill>
                  <a:srgbClr val="1B1A1A"/>
                </a:solidFill>
              </a:rPr>
              <a:t>Manufacturing construction</a:t>
            </a:r>
            <a:endParaRPr lang="en-US" sz="855" dirty="0"/>
          </a:p>
        </p:txBody>
      </p:sp>
      <p:sp>
        <p:nvSpPr>
          <p:cNvPr id="38" name="Text 33"/>
          <p:cNvSpPr txBox="1"/>
          <p:nvPr/>
        </p:nvSpPr>
        <p:spPr>
          <a:xfrm>
            <a:off x="7543800" y="1514475"/>
            <a:ext cx="1971675" cy="247650"/>
          </a:xfrm>
          <a:prstGeom prst="rect">
            <a:avLst/>
          </a:prstGeom>
          <a:noFill/>
          <a:ln/>
        </p:spPr>
        <p:txBody>
          <a:bodyPr wrap="square" lIns="0" tIns="0" rIns="0" bIns="0" rtlCol="0" anchor="t"/>
          <a:lstStyle/>
          <a:p>
            <a:pPr marL="0" indent="0">
              <a:lnSpc>
                <a:spcPts val="900"/>
              </a:lnSpc>
              <a:buNone/>
            </a:pPr>
            <a:r>
              <a:rPr lang="en-US" sz="645" dirty="0">
                <a:solidFill>
                  <a:srgbClr val="6F6A66"/>
                </a:solidFill>
              </a:rPr>
              <a:t>Spending at a seasonally adjusted annual rate, US Census Bureau</a:t>
            </a:r>
            <a:endParaRPr lang="en-US" sz="645" dirty="0"/>
          </a:p>
        </p:txBody>
      </p:sp>
      <p:sp>
        <p:nvSpPr>
          <p:cNvPr id="39" name="Text 34"/>
          <p:cNvSpPr txBox="1"/>
          <p:nvPr/>
        </p:nvSpPr>
        <p:spPr>
          <a:xfrm>
            <a:off x="7543800" y="1790700"/>
            <a:ext cx="1143000" cy="266700"/>
          </a:xfrm>
          <a:prstGeom prst="rect">
            <a:avLst/>
          </a:prstGeom>
          <a:noFill/>
          <a:ln/>
        </p:spPr>
        <p:txBody>
          <a:bodyPr wrap="square" lIns="0" tIns="0" rIns="0" bIns="0" rtlCol="0" anchor="t"/>
          <a:lstStyle/>
          <a:p>
            <a:pPr marL="0" indent="0">
              <a:buNone/>
            </a:pPr>
            <a:r>
              <a:rPr lang="en-US" sz="1875" b="1" dirty="0">
                <a:solidFill>
                  <a:srgbClr val="8C6239"/>
                </a:solidFill>
                <a:latin typeface="+mj-lt" pitchFamily="34" charset="0"/>
              </a:rPr>
              <a:t>$170.7B</a:t>
            </a:r>
            <a:endParaRPr lang="en-US" sz="1875" dirty="0"/>
          </a:p>
        </p:txBody>
      </p:sp>
      <p:sp>
        <p:nvSpPr>
          <p:cNvPr id="40" name="Text 35"/>
          <p:cNvSpPr txBox="1"/>
          <p:nvPr/>
        </p:nvSpPr>
        <p:spPr>
          <a:xfrm>
            <a:off x="7543800" y="2066925"/>
            <a:ext cx="1143000" cy="123825"/>
          </a:xfrm>
          <a:prstGeom prst="rect">
            <a:avLst/>
          </a:prstGeom>
          <a:noFill/>
          <a:ln/>
        </p:spPr>
        <p:txBody>
          <a:bodyPr wrap="square" lIns="0" tIns="0" rIns="0" bIns="0" rtlCol="0" anchor="t"/>
          <a:lstStyle/>
          <a:p>
            <a:pPr marL="0" indent="0">
              <a:buNone/>
            </a:pPr>
            <a:r>
              <a:rPr lang="en-US" sz="660" dirty="0">
                <a:solidFill>
                  <a:srgbClr val="6F6A66"/>
                </a:solidFill>
              </a:rPr>
              <a:t>Aug 2026</a:t>
            </a:r>
            <a:endParaRPr lang="en-US" sz="660" dirty="0"/>
          </a:p>
        </p:txBody>
      </p:sp>
      <p:sp>
        <p:nvSpPr>
          <p:cNvPr id="41" name="Text 36"/>
          <p:cNvSpPr txBox="1"/>
          <p:nvPr/>
        </p:nvSpPr>
        <p:spPr>
          <a:xfrm>
            <a:off x="8562975" y="1847850"/>
            <a:ext cx="952500" cy="152400"/>
          </a:xfrm>
          <a:prstGeom prst="rect">
            <a:avLst/>
          </a:prstGeom>
          <a:noFill/>
          <a:ln/>
        </p:spPr>
        <p:txBody>
          <a:bodyPr wrap="square" lIns="0" tIns="0" rIns="0" bIns="0" rtlCol="0" anchor="t"/>
          <a:lstStyle/>
          <a:p>
            <a:pPr marL="0" indent="0" algn="r">
              <a:buNone/>
            </a:pPr>
            <a:r>
              <a:rPr lang="en-US" sz="900" b="1" dirty="0">
                <a:solidFill>
                  <a:srgbClr val="1B1A1A"/>
                </a:solidFill>
              </a:rPr>
              <a:t>−19.2%</a:t>
            </a:r>
            <a:endParaRPr lang="en-US" sz="900" dirty="0"/>
          </a:p>
        </p:txBody>
      </p:sp>
      <p:sp>
        <p:nvSpPr>
          <p:cNvPr id="42" name="Text 37"/>
          <p:cNvSpPr txBox="1"/>
          <p:nvPr/>
        </p:nvSpPr>
        <p:spPr>
          <a:xfrm>
            <a:off x="8562975" y="2019300"/>
            <a:ext cx="952500" cy="123825"/>
          </a:xfrm>
          <a:prstGeom prst="rect">
            <a:avLst/>
          </a:prstGeom>
          <a:noFill/>
          <a:ln/>
        </p:spPr>
        <p:txBody>
          <a:bodyPr wrap="square" lIns="0" tIns="0" rIns="0" bIns="0" rtlCol="0" anchor="t"/>
          <a:lstStyle/>
          <a:p>
            <a:pPr marL="0" indent="0" algn="r">
              <a:buNone/>
            </a:pPr>
            <a:r>
              <a:rPr lang="en-US" sz="660" dirty="0">
                <a:solidFill>
                  <a:srgbClr val="6F6A66"/>
                </a:solidFill>
              </a:rPr>
              <a:t>over one year</a:t>
            </a:r>
            <a:endParaRPr lang="en-US" sz="660" dirty="0"/>
          </a:p>
        </p:txBody>
      </p:sp>
      <p:graphicFrame>
        <p:nvGraphicFramePr>
          <p:cNvPr id="43" name="Manufacturing construction"/>
          <p:cNvGraphicFramePr/>
          <p:nvPr/>
        </p:nvGraphicFramePr>
        <p:xfrm>
          <a:off x="7458075" y="2228850"/>
          <a:ext cx="2143125" cy="1571625"/>
        </p:xfrm>
        <a:graphic>
          <a:graphicData uri="http://schemas.openxmlformats.org/drawingml/2006/chart">
            <c:chart xmlns:c="http://schemas.openxmlformats.org/drawingml/2006/chart" xmlns:r="http://schemas.openxmlformats.org/officeDocument/2006/relationships" r:id="rId9"/>
          </a:graphicData>
        </a:graphic>
      </p:graphicFrame>
      <p:sp>
        <p:nvSpPr>
          <p:cNvPr id="44" name="Text 38"/>
          <p:cNvSpPr txBox="1"/>
          <p:nvPr/>
        </p:nvSpPr>
        <p:spPr>
          <a:xfrm>
            <a:off x="7543800" y="3838575"/>
            <a:ext cx="1971675" cy="123825"/>
          </a:xfrm>
          <a:prstGeom prst="rect">
            <a:avLst/>
          </a:prstGeom>
          <a:noFill/>
          <a:ln/>
        </p:spPr>
        <p:txBody>
          <a:bodyPr wrap="square" lIns="0" tIns="0" rIns="0" bIns="0" rtlCol="0" anchor="t"/>
          <a:lstStyle/>
          <a:p>
            <a:pPr marL="0" indent="0">
              <a:buNone/>
            </a:pPr>
            <a:r>
              <a:rPr lang="en-US" sz="630" dirty="0">
                <a:solidFill>
                  <a:srgbClr val="6F6A66"/>
                </a:solidFill>
              </a:rPr>
              <a:t>Source: </a:t>
            </a:r>
            <a:r>
              <a:rPr lang="en-US" sz="630" u="sng" dirty="0">
                <a:solidFill>
                  <a:srgbClr val="8C6239"/>
                </a:solidFill>
                <a:hlinkClick r:id="rId10">
                  <a:extLst>
                    <a:ext uri="{A12FA001-AC4F-418D-AE19-62706E023703}">
                      <ahyp:hlinkClr xmlns:ahyp="http://schemas.microsoft.com/office/drawing/2018/hyperlinkcolor" val="tx"/>
                    </a:ext>
                  </a:extLst>
                </a:hlinkClick>
              </a:rPr>
              <a:t>FRED, series TLMFGCONS</a:t>
            </a:r>
            <a:endParaRPr lang="en-US" sz="630" dirty="0"/>
          </a:p>
        </p:txBody>
      </p:sp>
      <p:sp>
        <p:nvSpPr>
          <p:cNvPr id="45" name="Steel mill product prices"/>
          <p:cNvSpPr/>
          <p:nvPr/>
        </p:nvSpPr>
        <p:spPr>
          <a:xfrm>
            <a:off x="419100" y="4143375"/>
            <a:ext cx="2219325" cy="2790825"/>
          </a:xfrm>
          <a:prstGeom prst="rect">
            <a:avLst/>
          </a:prstGeom>
          <a:solidFill>
            <a:srgbClr val="FAF7F3"/>
          </a:solidFill>
          <a:ln/>
        </p:spPr>
        <p:txBody>
          <a:bodyPr/>
          <a:lstStyle/>
          <a:p>
            <a:endParaRPr lang="en-US"/>
          </a:p>
        </p:txBody>
      </p:sp>
      <p:sp>
        <p:nvSpPr>
          <p:cNvPr id="46" name="Shape 40"/>
          <p:cNvSpPr/>
          <p:nvPr/>
        </p:nvSpPr>
        <p:spPr>
          <a:xfrm>
            <a:off x="419100" y="4143375"/>
            <a:ext cx="2219325" cy="28575"/>
          </a:xfrm>
          <a:prstGeom prst="rect">
            <a:avLst/>
          </a:prstGeom>
          <a:solidFill>
            <a:srgbClr val="B68757"/>
          </a:solidFill>
          <a:ln/>
        </p:spPr>
        <p:txBody>
          <a:bodyPr/>
          <a:lstStyle/>
          <a:p>
            <a:endParaRPr lang="en-US"/>
          </a:p>
        </p:txBody>
      </p:sp>
      <p:sp>
        <p:nvSpPr>
          <p:cNvPr id="47" name="Text 41"/>
          <p:cNvSpPr txBox="1"/>
          <p:nvPr/>
        </p:nvSpPr>
        <p:spPr>
          <a:xfrm>
            <a:off x="542925" y="4257675"/>
            <a:ext cx="1971675" cy="152400"/>
          </a:xfrm>
          <a:prstGeom prst="rect">
            <a:avLst/>
          </a:prstGeom>
          <a:noFill/>
          <a:ln/>
        </p:spPr>
        <p:txBody>
          <a:bodyPr wrap="square" lIns="0" tIns="0" rIns="0" bIns="0" rtlCol="0" anchor="t"/>
          <a:lstStyle/>
          <a:p>
            <a:pPr marL="0" indent="0">
              <a:buNone/>
            </a:pPr>
            <a:r>
              <a:rPr lang="en-US" sz="855" b="1" dirty="0">
                <a:solidFill>
                  <a:srgbClr val="1B1A1A"/>
                </a:solidFill>
              </a:rPr>
              <a:t>Steel mill product prices</a:t>
            </a:r>
            <a:endParaRPr lang="en-US" sz="855" dirty="0"/>
          </a:p>
        </p:txBody>
      </p:sp>
      <p:sp>
        <p:nvSpPr>
          <p:cNvPr id="48" name="Text 42"/>
          <p:cNvSpPr txBox="1"/>
          <p:nvPr/>
        </p:nvSpPr>
        <p:spPr>
          <a:xfrm>
            <a:off x="542925" y="4419600"/>
            <a:ext cx="1971675" cy="247650"/>
          </a:xfrm>
          <a:prstGeom prst="rect">
            <a:avLst/>
          </a:prstGeom>
          <a:noFill/>
          <a:ln/>
        </p:spPr>
        <p:txBody>
          <a:bodyPr wrap="square" lIns="0" tIns="0" rIns="0" bIns="0" rtlCol="0" anchor="t"/>
          <a:lstStyle/>
          <a:p>
            <a:pPr marL="0" indent="0">
              <a:lnSpc>
                <a:spcPts val="900"/>
              </a:lnSpc>
              <a:buNone/>
            </a:pPr>
            <a:r>
              <a:rPr lang="en-US" sz="645" dirty="0">
                <a:solidFill>
                  <a:srgbClr val="6F6A66"/>
                </a:solidFill>
              </a:rPr>
              <a:t>Producer price index, 1982 = 100, Bureau of Labor Statistics</a:t>
            </a:r>
            <a:endParaRPr lang="en-US" sz="645" dirty="0"/>
          </a:p>
        </p:txBody>
      </p:sp>
      <p:sp>
        <p:nvSpPr>
          <p:cNvPr id="49" name="Text 43"/>
          <p:cNvSpPr txBox="1"/>
          <p:nvPr/>
        </p:nvSpPr>
        <p:spPr>
          <a:xfrm>
            <a:off x="542925" y="4695825"/>
            <a:ext cx="1143000" cy="266700"/>
          </a:xfrm>
          <a:prstGeom prst="rect">
            <a:avLst/>
          </a:prstGeom>
          <a:noFill/>
          <a:ln/>
        </p:spPr>
        <p:txBody>
          <a:bodyPr wrap="square" lIns="0" tIns="0" rIns="0" bIns="0" rtlCol="0" anchor="t"/>
          <a:lstStyle/>
          <a:p>
            <a:pPr marL="0" indent="0">
              <a:buNone/>
            </a:pPr>
            <a:r>
              <a:rPr lang="en-US" sz="1875" b="1" dirty="0">
                <a:solidFill>
                  <a:srgbClr val="8C6239"/>
                </a:solidFill>
                <a:latin typeface="+mj-lt" pitchFamily="34" charset="0"/>
              </a:rPr>
              <a:t>381.2</a:t>
            </a:r>
            <a:endParaRPr lang="en-US" sz="1875" dirty="0"/>
          </a:p>
        </p:txBody>
      </p:sp>
      <p:sp>
        <p:nvSpPr>
          <p:cNvPr id="50" name="Text 44"/>
          <p:cNvSpPr txBox="1"/>
          <p:nvPr/>
        </p:nvSpPr>
        <p:spPr>
          <a:xfrm>
            <a:off x="542925" y="4972050"/>
            <a:ext cx="1143000" cy="123825"/>
          </a:xfrm>
          <a:prstGeom prst="rect">
            <a:avLst/>
          </a:prstGeom>
          <a:noFill/>
          <a:ln/>
        </p:spPr>
        <p:txBody>
          <a:bodyPr wrap="square" lIns="0" tIns="0" rIns="0" bIns="0" rtlCol="0" anchor="t"/>
          <a:lstStyle/>
          <a:p>
            <a:pPr marL="0" indent="0">
              <a:buNone/>
            </a:pPr>
            <a:r>
              <a:rPr lang="en-US" sz="660" dirty="0">
                <a:solidFill>
                  <a:srgbClr val="6F6A66"/>
                </a:solidFill>
              </a:rPr>
              <a:t>Aug 2026</a:t>
            </a:r>
            <a:endParaRPr lang="en-US" sz="660" dirty="0"/>
          </a:p>
        </p:txBody>
      </p:sp>
      <p:sp>
        <p:nvSpPr>
          <p:cNvPr id="51" name="Text 45"/>
          <p:cNvSpPr txBox="1"/>
          <p:nvPr/>
        </p:nvSpPr>
        <p:spPr>
          <a:xfrm>
            <a:off x="1562100" y="4752975"/>
            <a:ext cx="952500" cy="152400"/>
          </a:xfrm>
          <a:prstGeom prst="rect">
            <a:avLst/>
          </a:prstGeom>
          <a:noFill/>
          <a:ln/>
        </p:spPr>
        <p:txBody>
          <a:bodyPr wrap="square" lIns="0" tIns="0" rIns="0" bIns="0" rtlCol="0" anchor="t"/>
          <a:lstStyle/>
          <a:p>
            <a:pPr marL="0" indent="0" algn="r">
              <a:buNone/>
            </a:pPr>
            <a:r>
              <a:rPr lang="en-US" sz="900" b="1" dirty="0">
                <a:solidFill>
                  <a:srgbClr val="1B1A1A"/>
                </a:solidFill>
              </a:rPr>
              <a:t>+23.4%</a:t>
            </a:r>
            <a:endParaRPr lang="en-US" sz="900" dirty="0"/>
          </a:p>
        </p:txBody>
      </p:sp>
      <p:sp>
        <p:nvSpPr>
          <p:cNvPr id="52" name="Text 46"/>
          <p:cNvSpPr txBox="1"/>
          <p:nvPr/>
        </p:nvSpPr>
        <p:spPr>
          <a:xfrm>
            <a:off x="1562100" y="4924425"/>
            <a:ext cx="952500" cy="123825"/>
          </a:xfrm>
          <a:prstGeom prst="rect">
            <a:avLst/>
          </a:prstGeom>
          <a:noFill/>
          <a:ln/>
        </p:spPr>
        <p:txBody>
          <a:bodyPr wrap="square" lIns="0" tIns="0" rIns="0" bIns="0" rtlCol="0" anchor="t"/>
          <a:lstStyle/>
          <a:p>
            <a:pPr marL="0" indent="0" algn="r">
              <a:buNone/>
            </a:pPr>
            <a:r>
              <a:rPr lang="en-US" sz="660" dirty="0">
                <a:solidFill>
                  <a:srgbClr val="6F6A66"/>
                </a:solidFill>
              </a:rPr>
              <a:t>over one year</a:t>
            </a:r>
            <a:endParaRPr lang="en-US" sz="660" dirty="0"/>
          </a:p>
        </p:txBody>
      </p:sp>
      <p:graphicFrame>
        <p:nvGraphicFramePr>
          <p:cNvPr id="53" name="Steel mill product prices"/>
          <p:cNvGraphicFramePr/>
          <p:nvPr/>
        </p:nvGraphicFramePr>
        <p:xfrm>
          <a:off x="457200" y="5133975"/>
          <a:ext cx="2143125" cy="1571625"/>
        </p:xfrm>
        <a:graphic>
          <a:graphicData uri="http://schemas.openxmlformats.org/drawingml/2006/chart">
            <c:chart xmlns:c="http://schemas.openxmlformats.org/drawingml/2006/chart" xmlns:r="http://schemas.openxmlformats.org/officeDocument/2006/relationships" r:id="rId11"/>
          </a:graphicData>
        </a:graphic>
      </p:graphicFrame>
      <p:sp>
        <p:nvSpPr>
          <p:cNvPr id="54" name="Text 47"/>
          <p:cNvSpPr txBox="1"/>
          <p:nvPr/>
        </p:nvSpPr>
        <p:spPr>
          <a:xfrm>
            <a:off x="542925" y="6743700"/>
            <a:ext cx="1971675" cy="123825"/>
          </a:xfrm>
          <a:prstGeom prst="rect">
            <a:avLst/>
          </a:prstGeom>
          <a:noFill/>
          <a:ln/>
        </p:spPr>
        <p:txBody>
          <a:bodyPr wrap="square" lIns="0" tIns="0" rIns="0" bIns="0" rtlCol="0" anchor="t"/>
          <a:lstStyle/>
          <a:p>
            <a:pPr marL="0" indent="0">
              <a:buNone/>
            </a:pPr>
            <a:r>
              <a:rPr lang="en-US" sz="630" dirty="0">
                <a:solidFill>
                  <a:srgbClr val="6F6A66"/>
                </a:solidFill>
              </a:rPr>
              <a:t>Source: </a:t>
            </a:r>
            <a:r>
              <a:rPr lang="en-US" sz="630" u="sng" dirty="0">
                <a:solidFill>
                  <a:srgbClr val="8C6239"/>
                </a:solidFill>
                <a:hlinkClick r:id="rId12">
                  <a:extLst>
                    <a:ext uri="{A12FA001-AC4F-418D-AE19-62706E023703}">
                      <ahyp:hlinkClr xmlns:ahyp="http://schemas.microsoft.com/office/drawing/2018/hyperlinkcolor" val="tx"/>
                    </a:ext>
                  </a:extLst>
                </a:hlinkClick>
              </a:rPr>
              <a:t>FRED, series WPU1017</a:t>
            </a:r>
            <a:endParaRPr lang="en-US" sz="630" dirty="0"/>
          </a:p>
        </p:txBody>
      </p:sp>
      <p:sp>
        <p:nvSpPr>
          <p:cNvPr id="55" name="Diesel price"/>
          <p:cNvSpPr/>
          <p:nvPr/>
        </p:nvSpPr>
        <p:spPr>
          <a:xfrm>
            <a:off x="2752725" y="4143375"/>
            <a:ext cx="2219325" cy="2790825"/>
          </a:xfrm>
          <a:prstGeom prst="rect">
            <a:avLst/>
          </a:prstGeom>
          <a:solidFill>
            <a:srgbClr val="FAF7F3"/>
          </a:solidFill>
          <a:ln/>
        </p:spPr>
        <p:txBody>
          <a:bodyPr/>
          <a:lstStyle/>
          <a:p>
            <a:endParaRPr lang="en-US"/>
          </a:p>
        </p:txBody>
      </p:sp>
      <p:sp>
        <p:nvSpPr>
          <p:cNvPr id="56" name="Shape 49"/>
          <p:cNvSpPr/>
          <p:nvPr/>
        </p:nvSpPr>
        <p:spPr>
          <a:xfrm>
            <a:off x="2752725" y="4143375"/>
            <a:ext cx="2219325" cy="28575"/>
          </a:xfrm>
          <a:prstGeom prst="rect">
            <a:avLst/>
          </a:prstGeom>
          <a:solidFill>
            <a:srgbClr val="B68757"/>
          </a:solidFill>
          <a:ln/>
        </p:spPr>
        <p:txBody>
          <a:bodyPr/>
          <a:lstStyle/>
          <a:p>
            <a:endParaRPr lang="en-US"/>
          </a:p>
        </p:txBody>
      </p:sp>
      <p:sp>
        <p:nvSpPr>
          <p:cNvPr id="57" name="Text 50"/>
          <p:cNvSpPr txBox="1"/>
          <p:nvPr/>
        </p:nvSpPr>
        <p:spPr>
          <a:xfrm>
            <a:off x="2876550" y="4257675"/>
            <a:ext cx="1971675" cy="152400"/>
          </a:xfrm>
          <a:prstGeom prst="rect">
            <a:avLst/>
          </a:prstGeom>
          <a:noFill/>
          <a:ln/>
        </p:spPr>
        <p:txBody>
          <a:bodyPr wrap="square" lIns="0" tIns="0" rIns="0" bIns="0" rtlCol="0" anchor="t"/>
          <a:lstStyle/>
          <a:p>
            <a:pPr marL="0" indent="0">
              <a:buNone/>
            </a:pPr>
            <a:r>
              <a:rPr lang="en-US" sz="855" b="1" dirty="0">
                <a:solidFill>
                  <a:srgbClr val="1B1A1A"/>
                </a:solidFill>
              </a:rPr>
              <a:t>Diesel price</a:t>
            </a:r>
            <a:endParaRPr lang="en-US" sz="855" dirty="0"/>
          </a:p>
        </p:txBody>
      </p:sp>
      <p:sp>
        <p:nvSpPr>
          <p:cNvPr id="58" name="Text 51"/>
          <p:cNvSpPr txBox="1"/>
          <p:nvPr/>
        </p:nvSpPr>
        <p:spPr>
          <a:xfrm>
            <a:off x="2876550" y="4419600"/>
            <a:ext cx="1971675" cy="247650"/>
          </a:xfrm>
          <a:prstGeom prst="rect">
            <a:avLst/>
          </a:prstGeom>
          <a:noFill/>
          <a:ln/>
        </p:spPr>
        <p:txBody>
          <a:bodyPr wrap="square" lIns="0" tIns="0" rIns="0" bIns="0" rtlCol="0" anchor="t"/>
          <a:lstStyle/>
          <a:p>
            <a:pPr marL="0" indent="0">
              <a:lnSpc>
                <a:spcPts val="900"/>
              </a:lnSpc>
              <a:buNone/>
            </a:pPr>
            <a:r>
              <a:rPr lang="en-US" sz="645" dirty="0">
                <a:solidFill>
                  <a:srgbClr val="6F6A66"/>
                </a:solidFill>
              </a:rPr>
              <a:t>US average retail price per gallon, month end, EIA</a:t>
            </a:r>
            <a:endParaRPr lang="en-US" sz="645" dirty="0"/>
          </a:p>
        </p:txBody>
      </p:sp>
      <p:sp>
        <p:nvSpPr>
          <p:cNvPr id="59" name="Text 52"/>
          <p:cNvSpPr txBox="1"/>
          <p:nvPr/>
        </p:nvSpPr>
        <p:spPr>
          <a:xfrm>
            <a:off x="2876550" y="4695825"/>
            <a:ext cx="1143000" cy="266700"/>
          </a:xfrm>
          <a:prstGeom prst="rect">
            <a:avLst/>
          </a:prstGeom>
          <a:noFill/>
          <a:ln/>
        </p:spPr>
        <p:txBody>
          <a:bodyPr wrap="square" lIns="0" tIns="0" rIns="0" bIns="0" rtlCol="0" anchor="t"/>
          <a:lstStyle/>
          <a:p>
            <a:pPr marL="0" indent="0">
              <a:buNone/>
            </a:pPr>
            <a:r>
              <a:rPr lang="en-US" sz="1875" b="1" dirty="0">
                <a:solidFill>
                  <a:srgbClr val="8C6239"/>
                </a:solidFill>
                <a:latin typeface="+mj-lt" pitchFamily="34" charset="0"/>
              </a:rPr>
              <a:t>$6.29</a:t>
            </a:r>
            <a:endParaRPr lang="en-US" sz="1875" dirty="0"/>
          </a:p>
        </p:txBody>
      </p:sp>
      <p:sp>
        <p:nvSpPr>
          <p:cNvPr id="60" name="Text 53"/>
          <p:cNvSpPr txBox="1"/>
          <p:nvPr/>
        </p:nvSpPr>
        <p:spPr>
          <a:xfrm>
            <a:off x="2876550" y="4972050"/>
            <a:ext cx="1143000" cy="123825"/>
          </a:xfrm>
          <a:prstGeom prst="rect">
            <a:avLst/>
          </a:prstGeom>
          <a:noFill/>
          <a:ln/>
        </p:spPr>
        <p:txBody>
          <a:bodyPr wrap="square" lIns="0" tIns="0" rIns="0" bIns="0" rtlCol="0" anchor="t"/>
          <a:lstStyle/>
          <a:p>
            <a:pPr marL="0" indent="0">
              <a:buNone/>
            </a:pPr>
            <a:r>
              <a:rPr lang="en-US" sz="660" dirty="0">
                <a:solidFill>
                  <a:srgbClr val="6F6A66"/>
                </a:solidFill>
              </a:rPr>
              <a:t>Sep 2026</a:t>
            </a:r>
            <a:endParaRPr lang="en-US" sz="660" dirty="0"/>
          </a:p>
        </p:txBody>
      </p:sp>
      <p:sp>
        <p:nvSpPr>
          <p:cNvPr id="61" name="Text 54"/>
          <p:cNvSpPr txBox="1"/>
          <p:nvPr/>
        </p:nvSpPr>
        <p:spPr>
          <a:xfrm>
            <a:off x="3895725" y="4752975"/>
            <a:ext cx="952500" cy="152400"/>
          </a:xfrm>
          <a:prstGeom prst="rect">
            <a:avLst/>
          </a:prstGeom>
          <a:noFill/>
          <a:ln/>
        </p:spPr>
        <p:txBody>
          <a:bodyPr wrap="square" lIns="0" tIns="0" rIns="0" bIns="0" rtlCol="0" anchor="t"/>
          <a:lstStyle/>
          <a:p>
            <a:pPr marL="0" indent="0" algn="r">
              <a:buNone/>
            </a:pPr>
            <a:r>
              <a:rPr lang="en-US" sz="900" b="1" dirty="0">
                <a:solidFill>
                  <a:srgbClr val="1B1A1A"/>
                </a:solidFill>
              </a:rPr>
              <a:t>+67.8%</a:t>
            </a:r>
            <a:endParaRPr lang="en-US" sz="900" dirty="0"/>
          </a:p>
        </p:txBody>
      </p:sp>
      <p:sp>
        <p:nvSpPr>
          <p:cNvPr id="62" name="Text 55"/>
          <p:cNvSpPr txBox="1"/>
          <p:nvPr/>
        </p:nvSpPr>
        <p:spPr>
          <a:xfrm>
            <a:off x="3895725" y="4924425"/>
            <a:ext cx="952500" cy="123825"/>
          </a:xfrm>
          <a:prstGeom prst="rect">
            <a:avLst/>
          </a:prstGeom>
          <a:noFill/>
          <a:ln/>
        </p:spPr>
        <p:txBody>
          <a:bodyPr wrap="square" lIns="0" tIns="0" rIns="0" bIns="0" rtlCol="0" anchor="t"/>
          <a:lstStyle/>
          <a:p>
            <a:pPr marL="0" indent="0" algn="r">
              <a:buNone/>
            </a:pPr>
            <a:r>
              <a:rPr lang="en-US" sz="660" dirty="0">
                <a:solidFill>
                  <a:srgbClr val="6F6A66"/>
                </a:solidFill>
              </a:rPr>
              <a:t>over one year</a:t>
            </a:r>
            <a:endParaRPr lang="en-US" sz="660" dirty="0"/>
          </a:p>
        </p:txBody>
      </p:sp>
      <p:graphicFrame>
        <p:nvGraphicFramePr>
          <p:cNvPr id="63" name="Diesel price"/>
          <p:cNvGraphicFramePr/>
          <p:nvPr/>
        </p:nvGraphicFramePr>
        <p:xfrm>
          <a:off x="2790825" y="5133975"/>
          <a:ext cx="2143125" cy="1571625"/>
        </p:xfrm>
        <a:graphic>
          <a:graphicData uri="http://schemas.openxmlformats.org/drawingml/2006/chart">
            <c:chart xmlns:c="http://schemas.openxmlformats.org/drawingml/2006/chart" xmlns:r="http://schemas.openxmlformats.org/officeDocument/2006/relationships" r:id="rId13"/>
          </a:graphicData>
        </a:graphic>
      </p:graphicFrame>
      <p:sp>
        <p:nvSpPr>
          <p:cNvPr id="64" name="Text 56"/>
          <p:cNvSpPr txBox="1"/>
          <p:nvPr/>
        </p:nvSpPr>
        <p:spPr>
          <a:xfrm>
            <a:off x="2876550" y="6743700"/>
            <a:ext cx="1971675" cy="123825"/>
          </a:xfrm>
          <a:prstGeom prst="rect">
            <a:avLst/>
          </a:prstGeom>
          <a:noFill/>
          <a:ln/>
        </p:spPr>
        <p:txBody>
          <a:bodyPr wrap="square" lIns="0" tIns="0" rIns="0" bIns="0" rtlCol="0" anchor="t"/>
          <a:lstStyle/>
          <a:p>
            <a:pPr marL="0" indent="0">
              <a:buNone/>
            </a:pPr>
            <a:r>
              <a:rPr lang="en-US" sz="630" dirty="0">
                <a:solidFill>
                  <a:srgbClr val="6F6A66"/>
                </a:solidFill>
              </a:rPr>
              <a:t>Source: </a:t>
            </a:r>
            <a:r>
              <a:rPr lang="en-US" sz="630" u="sng" dirty="0">
                <a:solidFill>
                  <a:srgbClr val="8C6239"/>
                </a:solidFill>
                <a:hlinkClick r:id="rId14">
                  <a:extLst>
                    <a:ext uri="{A12FA001-AC4F-418D-AE19-62706E023703}">
                      <ahyp:hlinkClr xmlns:ahyp="http://schemas.microsoft.com/office/drawing/2018/hyperlinkcolor" val="tx"/>
                    </a:ext>
                  </a:extLst>
                </a:hlinkClick>
              </a:rPr>
              <a:t>FRED, series GASDESM</a:t>
            </a:r>
            <a:endParaRPr lang="en-US" sz="630" dirty="0"/>
          </a:p>
        </p:txBody>
      </p:sp>
      <p:sp>
        <p:nvSpPr>
          <p:cNvPr id="65" name="Cass Freight Index: shipments"/>
          <p:cNvSpPr/>
          <p:nvPr/>
        </p:nvSpPr>
        <p:spPr>
          <a:xfrm>
            <a:off x="5086350" y="4143375"/>
            <a:ext cx="2219325" cy="2790825"/>
          </a:xfrm>
          <a:prstGeom prst="rect">
            <a:avLst/>
          </a:prstGeom>
          <a:solidFill>
            <a:srgbClr val="FAF7F3"/>
          </a:solidFill>
          <a:ln/>
        </p:spPr>
        <p:txBody>
          <a:bodyPr/>
          <a:lstStyle/>
          <a:p>
            <a:endParaRPr lang="en-US"/>
          </a:p>
        </p:txBody>
      </p:sp>
      <p:sp>
        <p:nvSpPr>
          <p:cNvPr id="66" name="Shape 58"/>
          <p:cNvSpPr/>
          <p:nvPr/>
        </p:nvSpPr>
        <p:spPr>
          <a:xfrm>
            <a:off x="5086350" y="4143375"/>
            <a:ext cx="2219325" cy="28575"/>
          </a:xfrm>
          <a:prstGeom prst="rect">
            <a:avLst/>
          </a:prstGeom>
          <a:solidFill>
            <a:srgbClr val="B68757"/>
          </a:solidFill>
          <a:ln/>
        </p:spPr>
        <p:txBody>
          <a:bodyPr/>
          <a:lstStyle/>
          <a:p>
            <a:endParaRPr lang="en-US"/>
          </a:p>
        </p:txBody>
      </p:sp>
      <p:sp>
        <p:nvSpPr>
          <p:cNvPr id="67" name="Text 59"/>
          <p:cNvSpPr txBox="1"/>
          <p:nvPr/>
        </p:nvSpPr>
        <p:spPr>
          <a:xfrm>
            <a:off x="5210175" y="4257675"/>
            <a:ext cx="1971675" cy="152400"/>
          </a:xfrm>
          <a:prstGeom prst="rect">
            <a:avLst/>
          </a:prstGeom>
          <a:noFill/>
          <a:ln/>
        </p:spPr>
        <p:txBody>
          <a:bodyPr wrap="square" lIns="0" tIns="0" rIns="0" bIns="0" rtlCol="0" anchor="t"/>
          <a:lstStyle/>
          <a:p>
            <a:pPr marL="0" indent="0">
              <a:buNone/>
            </a:pPr>
            <a:r>
              <a:rPr lang="en-US" sz="855" b="1" dirty="0">
                <a:solidFill>
                  <a:srgbClr val="1B1A1A"/>
                </a:solidFill>
              </a:rPr>
              <a:t>Cass Freight Index: shipments</a:t>
            </a:r>
            <a:endParaRPr lang="en-US" sz="855" dirty="0"/>
          </a:p>
        </p:txBody>
      </p:sp>
      <p:sp>
        <p:nvSpPr>
          <p:cNvPr id="68" name="Text 60"/>
          <p:cNvSpPr txBox="1"/>
          <p:nvPr/>
        </p:nvSpPr>
        <p:spPr>
          <a:xfrm>
            <a:off x="5210175" y="4419600"/>
            <a:ext cx="1971675" cy="247650"/>
          </a:xfrm>
          <a:prstGeom prst="rect">
            <a:avLst/>
          </a:prstGeom>
          <a:noFill/>
          <a:ln/>
        </p:spPr>
        <p:txBody>
          <a:bodyPr wrap="square" lIns="0" tIns="0" rIns="0" bIns="0" rtlCol="0" anchor="t"/>
          <a:lstStyle/>
          <a:p>
            <a:pPr marL="0" indent="0">
              <a:lnSpc>
                <a:spcPts val="900"/>
              </a:lnSpc>
              <a:buNone/>
            </a:pPr>
            <a:r>
              <a:rPr lang="en-US" sz="645" dirty="0">
                <a:solidFill>
                  <a:srgbClr val="6F6A66"/>
                </a:solidFill>
              </a:rPr>
              <a:t>January 1990 = 1.00, Cass Information Systems</a:t>
            </a:r>
            <a:endParaRPr lang="en-US" sz="645" dirty="0"/>
          </a:p>
        </p:txBody>
      </p:sp>
      <p:sp>
        <p:nvSpPr>
          <p:cNvPr id="69" name="Text 61"/>
          <p:cNvSpPr txBox="1"/>
          <p:nvPr/>
        </p:nvSpPr>
        <p:spPr>
          <a:xfrm>
            <a:off x="5210175" y="4695825"/>
            <a:ext cx="1143000" cy="266700"/>
          </a:xfrm>
          <a:prstGeom prst="rect">
            <a:avLst/>
          </a:prstGeom>
          <a:noFill/>
          <a:ln/>
        </p:spPr>
        <p:txBody>
          <a:bodyPr wrap="square" lIns="0" tIns="0" rIns="0" bIns="0" rtlCol="0" anchor="t"/>
          <a:lstStyle/>
          <a:p>
            <a:pPr marL="0" indent="0">
              <a:buNone/>
            </a:pPr>
            <a:r>
              <a:rPr lang="en-US" sz="1875" b="1" dirty="0">
                <a:solidFill>
                  <a:srgbClr val="8C6239"/>
                </a:solidFill>
                <a:latin typeface="+mj-lt" pitchFamily="34" charset="0"/>
              </a:rPr>
              <a:t>1.038</a:t>
            </a:r>
            <a:endParaRPr lang="en-US" sz="1875" dirty="0"/>
          </a:p>
        </p:txBody>
      </p:sp>
      <p:sp>
        <p:nvSpPr>
          <p:cNvPr id="70" name="Text 62"/>
          <p:cNvSpPr txBox="1"/>
          <p:nvPr/>
        </p:nvSpPr>
        <p:spPr>
          <a:xfrm>
            <a:off x="5210175" y="4972050"/>
            <a:ext cx="1143000" cy="123825"/>
          </a:xfrm>
          <a:prstGeom prst="rect">
            <a:avLst/>
          </a:prstGeom>
          <a:noFill/>
          <a:ln/>
        </p:spPr>
        <p:txBody>
          <a:bodyPr wrap="square" lIns="0" tIns="0" rIns="0" bIns="0" rtlCol="0" anchor="t"/>
          <a:lstStyle/>
          <a:p>
            <a:pPr marL="0" indent="0">
              <a:buNone/>
            </a:pPr>
            <a:r>
              <a:rPr lang="en-US" sz="660" dirty="0">
                <a:solidFill>
                  <a:srgbClr val="6F6A66"/>
                </a:solidFill>
              </a:rPr>
              <a:t>Aug 2026</a:t>
            </a:r>
            <a:endParaRPr lang="en-US" sz="660" dirty="0"/>
          </a:p>
        </p:txBody>
      </p:sp>
      <p:sp>
        <p:nvSpPr>
          <p:cNvPr id="71" name="Text 63"/>
          <p:cNvSpPr txBox="1"/>
          <p:nvPr/>
        </p:nvSpPr>
        <p:spPr>
          <a:xfrm>
            <a:off x="6229350" y="4752975"/>
            <a:ext cx="952500" cy="152400"/>
          </a:xfrm>
          <a:prstGeom prst="rect">
            <a:avLst/>
          </a:prstGeom>
          <a:noFill/>
          <a:ln/>
        </p:spPr>
        <p:txBody>
          <a:bodyPr wrap="square" lIns="0" tIns="0" rIns="0" bIns="0" rtlCol="0" anchor="t"/>
          <a:lstStyle/>
          <a:p>
            <a:pPr marL="0" indent="0" algn="r">
              <a:buNone/>
            </a:pPr>
            <a:r>
              <a:rPr lang="en-US" sz="900" b="1" dirty="0">
                <a:solidFill>
                  <a:srgbClr val="1B1A1A"/>
                </a:solidFill>
              </a:rPr>
              <a:t>+2.1%</a:t>
            </a:r>
            <a:endParaRPr lang="en-US" sz="900" dirty="0"/>
          </a:p>
        </p:txBody>
      </p:sp>
      <p:sp>
        <p:nvSpPr>
          <p:cNvPr id="72" name="Text 64"/>
          <p:cNvSpPr txBox="1"/>
          <p:nvPr/>
        </p:nvSpPr>
        <p:spPr>
          <a:xfrm>
            <a:off x="6229350" y="4924425"/>
            <a:ext cx="952500" cy="123825"/>
          </a:xfrm>
          <a:prstGeom prst="rect">
            <a:avLst/>
          </a:prstGeom>
          <a:noFill/>
          <a:ln/>
        </p:spPr>
        <p:txBody>
          <a:bodyPr wrap="square" lIns="0" tIns="0" rIns="0" bIns="0" rtlCol="0" anchor="t"/>
          <a:lstStyle/>
          <a:p>
            <a:pPr marL="0" indent="0" algn="r">
              <a:buNone/>
            </a:pPr>
            <a:r>
              <a:rPr lang="en-US" sz="660" dirty="0">
                <a:solidFill>
                  <a:srgbClr val="6F6A66"/>
                </a:solidFill>
              </a:rPr>
              <a:t>over one year</a:t>
            </a:r>
            <a:endParaRPr lang="en-US" sz="660" dirty="0"/>
          </a:p>
        </p:txBody>
      </p:sp>
      <p:graphicFrame>
        <p:nvGraphicFramePr>
          <p:cNvPr id="73" name="Cass Freight Index: shipments"/>
          <p:cNvGraphicFramePr/>
          <p:nvPr/>
        </p:nvGraphicFramePr>
        <p:xfrm>
          <a:off x="5124450" y="5133975"/>
          <a:ext cx="2143125" cy="1571625"/>
        </p:xfrm>
        <a:graphic>
          <a:graphicData uri="http://schemas.openxmlformats.org/drawingml/2006/chart">
            <c:chart xmlns:c="http://schemas.openxmlformats.org/drawingml/2006/chart" xmlns:r="http://schemas.openxmlformats.org/officeDocument/2006/relationships" r:id="rId15"/>
          </a:graphicData>
        </a:graphic>
      </p:graphicFrame>
      <p:sp>
        <p:nvSpPr>
          <p:cNvPr id="74" name="Text 65"/>
          <p:cNvSpPr txBox="1"/>
          <p:nvPr/>
        </p:nvSpPr>
        <p:spPr>
          <a:xfrm>
            <a:off x="5210175" y="6743700"/>
            <a:ext cx="1971675" cy="123825"/>
          </a:xfrm>
          <a:prstGeom prst="rect">
            <a:avLst/>
          </a:prstGeom>
          <a:noFill/>
          <a:ln/>
        </p:spPr>
        <p:txBody>
          <a:bodyPr wrap="square" lIns="0" tIns="0" rIns="0" bIns="0" rtlCol="0" anchor="t"/>
          <a:lstStyle/>
          <a:p>
            <a:pPr marL="0" indent="0">
              <a:buNone/>
            </a:pPr>
            <a:r>
              <a:rPr lang="en-US" sz="630" dirty="0">
                <a:solidFill>
                  <a:srgbClr val="6F6A66"/>
                </a:solidFill>
              </a:rPr>
              <a:t>Source: </a:t>
            </a:r>
            <a:r>
              <a:rPr lang="en-US" sz="630" u="sng" dirty="0">
                <a:solidFill>
                  <a:srgbClr val="8C6239"/>
                </a:solidFill>
                <a:hlinkClick r:id="rId16">
                  <a:extLst>
                    <a:ext uri="{A12FA001-AC4F-418D-AE19-62706E023703}">
                      <ahyp:hlinkClr xmlns:ahyp="http://schemas.microsoft.com/office/drawing/2018/hyperlinkcolor" val="tx"/>
                    </a:ext>
                  </a:extLst>
                </a:hlinkClick>
              </a:rPr>
              <a:t>FRED, series FRGSHPUSM649NCIS</a:t>
            </a:r>
            <a:endParaRPr lang="en-US" sz="630" dirty="0"/>
          </a:p>
        </p:txBody>
      </p:sp>
      <p:sp>
        <p:nvSpPr>
          <p:cNvPr id="75" name="10-year Treasury yield"/>
          <p:cNvSpPr/>
          <p:nvPr/>
        </p:nvSpPr>
        <p:spPr>
          <a:xfrm>
            <a:off x="7419975" y="4143375"/>
            <a:ext cx="2219325" cy="2790825"/>
          </a:xfrm>
          <a:prstGeom prst="rect">
            <a:avLst/>
          </a:prstGeom>
          <a:solidFill>
            <a:srgbClr val="FAF7F3"/>
          </a:solidFill>
          <a:ln/>
        </p:spPr>
        <p:txBody>
          <a:bodyPr/>
          <a:lstStyle/>
          <a:p>
            <a:endParaRPr lang="en-US"/>
          </a:p>
        </p:txBody>
      </p:sp>
      <p:sp>
        <p:nvSpPr>
          <p:cNvPr id="76" name="Shape 67"/>
          <p:cNvSpPr/>
          <p:nvPr/>
        </p:nvSpPr>
        <p:spPr>
          <a:xfrm>
            <a:off x="7419975" y="4143375"/>
            <a:ext cx="2219325" cy="28575"/>
          </a:xfrm>
          <a:prstGeom prst="rect">
            <a:avLst/>
          </a:prstGeom>
          <a:solidFill>
            <a:srgbClr val="B68757"/>
          </a:solidFill>
          <a:ln/>
        </p:spPr>
        <p:txBody>
          <a:bodyPr/>
          <a:lstStyle/>
          <a:p>
            <a:endParaRPr lang="en-US"/>
          </a:p>
        </p:txBody>
      </p:sp>
      <p:sp>
        <p:nvSpPr>
          <p:cNvPr id="77" name="Text 68"/>
          <p:cNvSpPr txBox="1"/>
          <p:nvPr/>
        </p:nvSpPr>
        <p:spPr>
          <a:xfrm>
            <a:off x="7543800" y="4257675"/>
            <a:ext cx="1971675" cy="152400"/>
          </a:xfrm>
          <a:prstGeom prst="rect">
            <a:avLst/>
          </a:prstGeom>
          <a:noFill/>
          <a:ln/>
        </p:spPr>
        <p:txBody>
          <a:bodyPr wrap="square" lIns="0" tIns="0" rIns="0" bIns="0" rtlCol="0" anchor="t"/>
          <a:lstStyle/>
          <a:p>
            <a:pPr marL="0" indent="0">
              <a:buNone/>
            </a:pPr>
            <a:r>
              <a:rPr lang="en-US" sz="855" b="1" dirty="0">
                <a:solidFill>
                  <a:srgbClr val="1B1A1A"/>
                </a:solidFill>
              </a:rPr>
              <a:t>10-year Treasury yield</a:t>
            </a:r>
            <a:endParaRPr lang="en-US" sz="855" dirty="0"/>
          </a:p>
        </p:txBody>
      </p:sp>
      <p:sp>
        <p:nvSpPr>
          <p:cNvPr id="78" name="Text 69"/>
          <p:cNvSpPr txBox="1"/>
          <p:nvPr/>
        </p:nvSpPr>
        <p:spPr>
          <a:xfrm>
            <a:off x="7543800" y="4419600"/>
            <a:ext cx="1971675" cy="247650"/>
          </a:xfrm>
          <a:prstGeom prst="rect">
            <a:avLst/>
          </a:prstGeom>
          <a:noFill/>
          <a:ln/>
        </p:spPr>
        <p:txBody>
          <a:bodyPr wrap="square" lIns="0" tIns="0" rIns="0" bIns="0" rtlCol="0" anchor="t"/>
          <a:lstStyle/>
          <a:p>
            <a:pPr marL="0" indent="0">
              <a:lnSpc>
                <a:spcPts val="900"/>
              </a:lnSpc>
              <a:buNone/>
            </a:pPr>
            <a:r>
              <a:rPr lang="en-US" sz="645" dirty="0">
                <a:solidFill>
                  <a:srgbClr val="6F6A66"/>
                </a:solidFill>
              </a:rPr>
              <a:t>Monthly average of daily yields, Federal Reserve</a:t>
            </a:r>
            <a:endParaRPr lang="en-US" sz="645" dirty="0"/>
          </a:p>
        </p:txBody>
      </p:sp>
      <p:sp>
        <p:nvSpPr>
          <p:cNvPr id="79" name="Text 70"/>
          <p:cNvSpPr txBox="1"/>
          <p:nvPr/>
        </p:nvSpPr>
        <p:spPr>
          <a:xfrm>
            <a:off x="7543800" y="4695825"/>
            <a:ext cx="1143000" cy="266700"/>
          </a:xfrm>
          <a:prstGeom prst="rect">
            <a:avLst/>
          </a:prstGeom>
          <a:noFill/>
          <a:ln/>
        </p:spPr>
        <p:txBody>
          <a:bodyPr wrap="square" lIns="0" tIns="0" rIns="0" bIns="0" rtlCol="0" anchor="t"/>
          <a:lstStyle/>
          <a:p>
            <a:pPr marL="0" indent="0">
              <a:buNone/>
            </a:pPr>
            <a:r>
              <a:rPr lang="en-US" sz="1875" b="1" dirty="0">
                <a:solidFill>
                  <a:srgbClr val="8C6239"/>
                </a:solidFill>
                <a:latin typeface="+mj-lt" pitchFamily="34" charset="0"/>
              </a:rPr>
              <a:t>4.99%</a:t>
            </a:r>
            <a:endParaRPr lang="en-US" sz="1875" dirty="0"/>
          </a:p>
        </p:txBody>
      </p:sp>
      <p:sp>
        <p:nvSpPr>
          <p:cNvPr id="80" name="Text 71"/>
          <p:cNvSpPr txBox="1"/>
          <p:nvPr/>
        </p:nvSpPr>
        <p:spPr>
          <a:xfrm>
            <a:off x="7543800" y="4972050"/>
            <a:ext cx="1143000" cy="123825"/>
          </a:xfrm>
          <a:prstGeom prst="rect">
            <a:avLst/>
          </a:prstGeom>
          <a:noFill/>
          <a:ln/>
        </p:spPr>
        <p:txBody>
          <a:bodyPr wrap="square" lIns="0" tIns="0" rIns="0" bIns="0" rtlCol="0" anchor="t"/>
          <a:lstStyle/>
          <a:p>
            <a:pPr marL="0" indent="0">
              <a:buNone/>
            </a:pPr>
            <a:r>
              <a:rPr lang="en-US" sz="660" dirty="0">
                <a:solidFill>
                  <a:srgbClr val="6F6A66"/>
                </a:solidFill>
              </a:rPr>
              <a:t>Sep 2026</a:t>
            </a:r>
            <a:endParaRPr lang="en-US" sz="660" dirty="0"/>
          </a:p>
        </p:txBody>
      </p:sp>
      <p:sp>
        <p:nvSpPr>
          <p:cNvPr id="81" name="Text 72"/>
          <p:cNvSpPr txBox="1"/>
          <p:nvPr/>
        </p:nvSpPr>
        <p:spPr>
          <a:xfrm>
            <a:off x="8562975" y="4752975"/>
            <a:ext cx="952500" cy="152400"/>
          </a:xfrm>
          <a:prstGeom prst="rect">
            <a:avLst/>
          </a:prstGeom>
          <a:noFill/>
          <a:ln/>
        </p:spPr>
        <p:txBody>
          <a:bodyPr wrap="square" lIns="0" tIns="0" rIns="0" bIns="0" rtlCol="0" anchor="t"/>
          <a:lstStyle/>
          <a:p>
            <a:pPr marL="0" indent="0" algn="r">
              <a:buNone/>
            </a:pPr>
            <a:r>
              <a:rPr lang="en-US" sz="900" b="1" dirty="0">
                <a:solidFill>
                  <a:srgbClr val="1B1A1A"/>
                </a:solidFill>
              </a:rPr>
              <a:t>+0.87 pts</a:t>
            </a:r>
            <a:endParaRPr lang="en-US" sz="900" dirty="0"/>
          </a:p>
        </p:txBody>
      </p:sp>
      <p:sp>
        <p:nvSpPr>
          <p:cNvPr id="82" name="Text 73"/>
          <p:cNvSpPr txBox="1"/>
          <p:nvPr/>
        </p:nvSpPr>
        <p:spPr>
          <a:xfrm>
            <a:off x="8562975" y="4924425"/>
            <a:ext cx="952500" cy="123825"/>
          </a:xfrm>
          <a:prstGeom prst="rect">
            <a:avLst/>
          </a:prstGeom>
          <a:noFill/>
          <a:ln/>
        </p:spPr>
        <p:txBody>
          <a:bodyPr wrap="square" lIns="0" tIns="0" rIns="0" bIns="0" rtlCol="0" anchor="t"/>
          <a:lstStyle/>
          <a:p>
            <a:pPr marL="0" indent="0" algn="r">
              <a:buNone/>
            </a:pPr>
            <a:r>
              <a:rPr lang="en-US" sz="660" dirty="0">
                <a:solidFill>
                  <a:srgbClr val="6F6A66"/>
                </a:solidFill>
              </a:rPr>
              <a:t>over one year</a:t>
            </a:r>
            <a:endParaRPr lang="en-US" sz="660" dirty="0"/>
          </a:p>
        </p:txBody>
      </p:sp>
      <p:graphicFrame>
        <p:nvGraphicFramePr>
          <p:cNvPr id="83" name="10-year Treasury yield"/>
          <p:cNvGraphicFramePr/>
          <p:nvPr/>
        </p:nvGraphicFramePr>
        <p:xfrm>
          <a:off x="7458075" y="5133975"/>
          <a:ext cx="2143125" cy="1571625"/>
        </p:xfrm>
        <a:graphic>
          <a:graphicData uri="http://schemas.openxmlformats.org/drawingml/2006/chart">
            <c:chart xmlns:c="http://schemas.openxmlformats.org/drawingml/2006/chart" xmlns:r="http://schemas.openxmlformats.org/officeDocument/2006/relationships" r:id="rId17"/>
          </a:graphicData>
        </a:graphic>
      </p:graphicFrame>
      <p:sp>
        <p:nvSpPr>
          <p:cNvPr id="84" name="Text 74"/>
          <p:cNvSpPr txBox="1"/>
          <p:nvPr/>
        </p:nvSpPr>
        <p:spPr>
          <a:xfrm>
            <a:off x="7543800" y="6743700"/>
            <a:ext cx="1971675" cy="123825"/>
          </a:xfrm>
          <a:prstGeom prst="rect">
            <a:avLst/>
          </a:prstGeom>
          <a:noFill/>
          <a:ln/>
        </p:spPr>
        <p:txBody>
          <a:bodyPr wrap="square" lIns="0" tIns="0" rIns="0" bIns="0" rtlCol="0" anchor="t"/>
          <a:lstStyle/>
          <a:p>
            <a:pPr marL="0" indent="0">
              <a:buNone/>
            </a:pPr>
            <a:r>
              <a:rPr lang="en-US" sz="630" dirty="0">
                <a:solidFill>
                  <a:srgbClr val="6F6A66"/>
                </a:solidFill>
              </a:rPr>
              <a:t>Source: </a:t>
            </a:r>
            <a:r>
              <a:rPr lang="en-US" sz="630" u="sng" dirty="0">
                <a:solidFill>
                  <a:srgbClr val="8C6239"/>
                </a:solidFill>
                <a:hlinkClick r:id="rId18">
                  <a:extLst>
                    <a:ext uri="{A12FA001-AC4F-418D-AE19-62706E023703}">
                      <ahyp:hlinkClr xmlns:ahyp="http://schemas.microsoft.com/office/drawing/2018/hyperlinkcolor" val="tx"/>
                    </a:ext>
                  </a:extLst>
                </a:hlinkClick>
              </a:rPr>
              <a:t>FRED, series GS10</a:t>
            </a:r>
            <a:endParaRPr lang="en-US" sz="630" dirty="0"/>
          </a:p>
        </p:txBody>
      </p:sp>
      <p:sp>
        <p:nvSpPr>
          <p:cNvPr id="85"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mp/claude-0/-home-claude-about/b7ea608c-3502-5da6-986c-4c57d144c940/scratchpad/brief/assets/meeting.jpg"/>
          <p:cNvPicPr>
            <a:picLocks noChangeAspect="1"/>
          </p:cNvPicPr>
          <p:nvPr/>
        </p:nvPicPr>
        <p:blipFill>
          <a:blip r:embed="rId3"/>
          <a:srcRect/>
          <a:stretch/>
        </p:blipFill>
        <p:spPr>
          <a:xfrm>
            <a:off x="5676900" y="0"/>
            <a:ext cx="4381500" cy="7772400"/>
          </a:xfrm>
          <a:prstGeom prst="rect">
            <a:avLst/>
          </a:prstGeom>
        </p:spPr>
      </p:pic>
      <p:sp>
        <p:nvSpPr>
          <p:cNvPr id="3" name="Photo edge shade"/>
          <p:cNvSpPr/>
          <p:nvPr/>
        </p:nvSpPr>
        <p:spPr>
          <a:xfrm>
            <a:off x="5676900" y="0"/>
            <a:ext cx="1333500" cy="7772400"/>
          </a:xfrm>
          <a:prstGeom prst="rect">
            <a:avLst/>
          </a:prstGeom>
          <a:solidFill>
            <a:srgbClr val="1B1A1A">
              <a:alpha val="30000"/>
            </a:srgbClr>
          </a:solidFill>
          <a:ln/>
        </p:spPr>
        <p:txBody>
          <a:bodyPr/>
          <a:lstStyle/>
          <a:p>
            <a:endParaRPr lang="en-US"/>
          </a:p>
        </p:txBody>
      </p:sp>
      <p:sp>
        <p:nvSpPr>
          <p:cNvPr id="4" name="Shape 1"/>
          <p:cNvSpPr/>
          <p:nvPr/>
        </p:nvSpPr>
        <p:spPr>
          <a:xfrm>
            <a:off x="5619750" y="0"/>
            <a:ext cx="57150" cy="7772400"/>
          </a:xfrm>
          <a:prstGeom prst="rect">
            <a:avLst/>
          </a:prstGeom>
          <a:solidFill>
            <a:srgbClr val="B68757"/>
          </a:solidFill>
          <a:ln/>
        </p:spPr>
        <p:txBody>
          <a:bodyPr/>
          <a:lstStyle/>
          <a:p>
            <a:endParaRPr lang="en-US"/>
          </a:p>
        </p:txBody>
      </p:sp>
      <p:sp>
        <p:nvSpPr>
          <p:cNvPr id="5" name="Text 2"/>
          <p:cNvSpPr txBox="1"/>
          <p:nvPr/>
        </p:nvSpPr>
        <p:spPr>
          <a:xfrm>
            <a:off x="571500" y="1333500"/>
            <a:ext cx="3810000" cy="1238250"/>
          </a:xfrm>
          <a:prstGeom prst="rect">
            <a:avLst/>
          </a:prstGeom>
          <a:noFill/>
          <a:ln/>
        </p:spPr>
        <p:txBody>
          <a:bodyPr wrap="square" lIns="0" tIns="0" rIns="0" bIns="0" rtlCol="0" anchor="t"/>
          <a:lstStyle/>
          <a:p>
            <a:pPr marL="0" indent="0">
              <a:buNone/>
            </a:pPr>
            <a:r>
              <a:rPr lang="en-US" sz="9000" kern="0" spc="200" dirty="0">
                <a:solidFill>
                  <a:srgbClr val="B68757"/>
                </a:solidFill>
                <a:latin typeface="+mj-lt" pitchFamily="34" charset="0"/>
              </a:rPr>
              <a:t>03</a:t>
            </a:r>
            <a:endParaRPr lang="en-US" sz="9000" dirty="0"/>
          </a:p>
        </p:txBody>
      </p:sp>
      <p:sp>
        <p:nvSpPr>
          <p:cNvPr id="6" name="Text 2"/>
          <p:cNvSpPr>
            <a:spLocks noGrp="1"/>
          </p:cNvSpPr>
          <p:nvPr>
            <p:ph type="title" idx="104" hasCustomPrompt="1"/>
          </p:nvPr>
        </p:nvSpPr>
        <p:spPr>
          <a:xfrm>
            <a:off x="609600" y="2667000"/>
            <a:ext cx="4762500" cy="666750"/>
          </a:xfrm>
          <a:prstGeom prst="rect">
            <a:avLst/>
          </a:prstGeom>
          <a:noFill/>
          <a:ln/>
        </p:spPr>
        <p:txBody>
          <a:bodyPr wrap="square" lIns="0" tIns="0" rIns="0" bIns="0" rtlCol="0" anchor="t"/>
          <a:lstStyle/>
          <a:p>
            <a:pPr marL="0" indent="0" algn="l">
              <a:buNone/>
            </a:pPr>
            <a:r>
              <a:rPr lang="en-US" sz="4050" b="1" dirty="0">
                <a:solidFill>
                  <a:srgbClr val="FFFFFF"/>
                </a:solidFill>
              </a:rPr>
              <a:t>Connect With Us</a:t>
            </a:r>
            <a:endParaRPr lang="en-US" sz="4050" dirty="0"/>
          </a:p>
        </p:txBody>
      </p:sp>
      <p:sp>
        <p:nvSpPr>
          <p:cNvPr id="7" name="Shape 4"/>
          <p:cNvSpPr/>
          <p:nvPr/>
        </p:nvSpPr>
        <p:spPr>
          <a:xfrm>
            <a:off x="609600" y="3486150"/>
            <a:ext cx="609600" cy="19050"/>
          </a:xfrm>
          <a:prstGeom prst="rect">
            <a:avLst/>
          </a:prstGeom>
          <a:solidFill>
            <a:srgbClr val="B68757"/>
          </a:solidFill>
          <a:ln/>
        </p:spPr>
        <p:txBody>
          <a:bodyPr/>
          <a:lstStyle/>
          <a:p>
            <a:endParaRPr lang="en-US"/>
          </a:p>
        </p:txBody>
      </p:sp>
      <p:sp>
        <p:nvSpPr>
          <p:cNvPr id="8" name="Text 5"/>
          <p:cNvSpPr txBox="1"/>
          <p:nvPr/>
        </p:nvSpPr>
        <p:spPr>
          <a:xfrm>
            <a:off x="609600" y="3695700"/>
            <a:ext cx="4572000" cy="1428750"/>
          </a:xfrm>
          <a:prstGeom prst="rect">
            <a:avLst/>
          </a:prstGeom>
          <a:noFill/>
          <a:ln/>
        </p:spPr>
        <p:txBody>
          <a:bodyPr wrap="square" lIns="0" tIns="0" rIns="0" bIns="0" rtlCol="0" anchor="t"/>
          <a:lstStyle/>
          <a:p>
            <a:pPr marL="0" indent="0">
              <a:lnSpc>
                <a:spcPts val="1575"/>
              </a:lnSpc>
              <a:buNone/>
            </a:pPr>
            <a:r>
              <a:rPr lang="en-US" sz="1013" dirty="0">
                <a:solidFill>
                  <a:srgbClr val="E8E2DA"/>
                </a:solidFill>
              </a:rPr>
              <a:t>Middle Market represents owners of privately held companies with $50 million to $500 million of total enterprise value in sales, recapitalizations and growth partnerships. The first step is a confidential conversation about your goals, your company and your options, with no pressure and no commitment.</a:t>
            </a:r>
            <a:endParaRPr lang="en-US" sz="1013" dirty="0"/>
          </a:p>
        </p:txBody>
      </p:sp>
      <p:sp>
        <p:nvSpPr>
          <p:cNvPr id="9" name="Shape 6"/>
          <p:cNvSpPr/>
          <p:nvPr/>
        </p:nvSpPr>
        <p:spPr>
          <a:xfrm>
            <a:off x="609600" y="5295900"/>
            <a:ext cx="4476750" cy="0"/>
          </a:xfrm>
          <a:prstGeom prst="line">
            <a:avLst/>
          </a:prstGeom>
          <a:noFill/>
          <a:ln w="9525">
            <a:solidFill>
              <a:srgbClr val="5B4E40"/>
            </a:solidFill>
            <a:prstDash val="solid"/>
          </a:ln>
        </p:spPr>
        <p:txBody>
          <a:bodyPr/>
          <a:lstStyle/>
          <a:p>
            <a:endParaRPr lang="en-US"/>
          </a:p>
        </p:txBody>
      </p:sp>
      <p:sp>
        <p:nvSpPr>
          <p:cNvPr id="10" name="Text 7"/>
          <p:cNvSpPr txBox="1"/>
          <p:nvPr/>
        </p:nvSpPr>
        <p:spPr>
          <a:xfrm>
            <a:off x="609600" y="5391150"/>
            <a:ext cx="285750" cy="171450"/>
          </a:xfrm>
          <a:prstGeom prst="rect">
            <a:avLst/>
          </a:prstGeom>
          <a:noFill/>
          <a:ln/>
        </p:spPr>
        <p:txBody>
          <a:bodyPr wrap="square" lIns="0" tIns="0" rIns="0" bIns="0" rtlCol="0" anchor="t"/>
          <a:lstStyle/>
          <a:p>
            <a:pPr marL="0" indent="0">
              <a:buNone/>
            </a:pPr>
            <a:r>
              <a:rPr lang="en-US" sz="825" dirty="0">
                <a:solidFill>
                  <a:srgbClr val="D3AE84"/>
                </a:solidFill>
                <a:latin typeface="+mj-lt" pitchFamily="34" charset="0"/>
              </a:rPr>
              <a:t>15</a:t>
            </a:r>
            <a:endParaRPr lang="en-US" sz="825" dirty="0"/>
          </a:p>
        </p:txBody>
      </p:sp>
      <p:sp>
        <p:nvSpPr>
          <p:cNvPr id="11" name="Text 8"/>
          <p:cNvSpPr txBox="1"/>
          <p:nvPr/>
        </p:nvSpPr>
        <p:spPr>
          <a:xfrm>
            <a:off x="971550" y="5372100"/>
            <a:ext cx="4095750" cy="209550"/>
          </a:xfrm>
          <a:prstGeom prst="rect">
            <a:avLst/>
          </a:prstGeom>
          <a:noFill/>
          <a:ln/>
        </p:spPr>
        <p:txBody>
          <a:bodyPr wrap="square" lIns="0" tIns="0" rIns="0" bIns="0" rtlCol="0" anchor="t"/>
          <a:lstStyle/>
          <a:p>
            <a:pPr marL="0" indent="0">
              <a:buNone/>
            </a:pPr>
            <a:r>
              <a:rPr lang="en-US" sz="975" dirty="0">
                <a:solidFill>
                  <a:srgbClr val="F4EFE8"/>
                </a:solidFill>
              </a:rPr>
              <a:t>Connect with our team</a:t>
            </a:r>
            <a:endParaRPr lang="en-US" sz="975" dirty="0"/>
          </a:p>
        </p:txBody>
      </p:sp>
      <p:sp>
        <p:nvSpPr>
          <p:cNvPr id="12" name="Shape 9"/>
          <p:cNvSpPr/>
          <p:nvPr/>
        </p:nvSpPr>
        <p:spPr>
          <a:xfrm>
            <a:off x="609600" y="5648325"/>
            <a:ext cx="4476750" cy="0"/>
          </a:xfrm>
          <a:prstGeom prst="line">
            <a:avLst/>
          </a:prstGeom>
          <a:noFill/>
          <a:ln w="9525">
            <a:solidFill>
              <a:srgbClr val="5B4E40"/>
            </a:solidFill>
            <a:prstDash val="solid"/>
          </a:ln>
        </p:spPr>
        <p:txBody>
          <a:bodyPr/>
          <a:lstStyle/>
          <a:p>
            <a:endParaRPr lang="en-US"/>
          </a:p>
        </p:txBody>
      </p:sp>
      <p:sp>
        <p:nvSpPr>
          <p:cNvPr id="13" name="Text 10"/>
          <p:cNvSpPr txBox="1"/>
          <p:nvPr/>
        </p:nvSpPr>
        <p:spPr>
          <a:xfrm>
            <a:off x="609600" y="5743575"/>
            <a:ext cx="285750" cy="171450"/>
          </a:xfrm>
          <a:prstGeom prst="rect">
            <a:avLst/>
          </a:prstGeom>
          <a:noFill/>
          <a:ln/>
        </p:spPr>
        <p:txBody>
          <a:bodyPr wrap="square" lIns="0" tIns="0" rIns="0" bIns="0" rtlCol="0" anchor="t"/>
          <a:lstStyle/>
          <a:p>
            <a:pPr marL="0" indent="0">
              <a:buNone/>
            </a:pPr>
            <a:r>
              <a:rPr lang="en-US" sz="825" dirty="0">
                <a:solidFill>
                  <a:srgbClr val="D3AE84"/>
                </a:solidFill>
                <a:latin typeface="+mj-lt" pitchFamily="34" charset="0"/>
              </a:rPr>
              <a:t>16</a:t>
            </a:r>
            <a:endParaRPr lang="en-US" sz="825" dirty="0"/>
          </a:p>
        </p:txBody>
      </p:sp>
      <p:sp>
        <p:nvSpPr>
          <p:cNvPr id="14" name="Text 11"/>
          <p:cNvSpPr txBox="1"/>
          <p:nvPr/>
        </p:nvSpPr>
        <p:spPr>
          <a:xfrm>
            <a:off x="971550" y="5724525"/>
            <a:ext cx="4095750" cy="209550"/>
          </a:xfrm>
          <a:prstGeom prst="rect">
            <a:avLst/>
          </a:prstGeom>
          <a:noFill/>
          <a:ln/>
        </p:spPr>
        <p:txBody>
          <a:bodyPr wrap="square" lIns="0" tIns="0" rIns="0" bIns="0" rtlCol="0" anchor="t"/>
          <a:lstStyle/>
          <a:p>
            <a:pPr marL="0" indent="0">
              <a:buNone/>
            </a:pPr>
            <a:r>
              <a:rPr lang="en-US" sz="975" dirty="0">
                <a:solidFill>
                  <a:srgbClr val="F4EFE8"/>
                </a:solidFill>
              </a:rPr>
              <a:t>Important disclosures</a:t>
            </a:r>
            <a:endParaRPr lang="en-US" sz="975" dirty="0"/>
          </a:p>
        </p:txBody>
      </p:sp>
      <p:sp>
        <p:nvSpPr>
          <p:cNvPr id="15" name="Shape 12"/>
          <p:cNvSpPr/>
          <p:nvPr/>
        </p:nvSpPr>
        <p:spPr>
          <a:xfrm>
            <a:off x="609600" y="6000750"/>
            <a:ext cx="4476750" cy="0"/>
          </a:xfrm>
          <a:prstGeom prst="line">
            <a:avLst/>
          </a:prstGeom>
          <a:noFill/>
          <a:ln w="9525">
            <a:solidFill>
              <a:srgbClr val="5B4E40"/>
            </a:solidFill>
            <a:prstDash val="solid"/>
          </a:ln>
        </p:spPr>
        <p:txBody>
          <a:bodyPr/>
          <a:lstStyle/>
          <a:p>
            <a:endParaRPr lang="en-US"/>
          </a:p>
        </p:txBody>
      </p:sp>
      <p:sp>
        <p:nvSpPr>
          <p:cNvPr id="16" name="Text 13"/>
          <p:cNvSpPr txBox="1"/>
          <p:nvPr/>
        </p:nvSpPr>
        <p:spPr>
          <a:xfrm>
            <a:off x="609600" y="6096000"/>
            <a:ext cx="285750" cy="171450"/>
          </a:xfrm>
          <a:prstGeom prst="rect">
            <a:avLst/>
          </a:prstGeom>
          <a:noFill/>
          <a:ln/>
        </p:spPr>
        <p:txBody>
          <a:bodyPr wrap="square" lIns="0" tIns="0" rIns="0" bIns="0" rtlCol="0" anchor="t"/>
          <a:lstStyle/>
          <a:p>
            <a:pPr marL="0" indent="0">
              <a:buNone/>
            </a:pPr>
            <a:r>
              <a:rPr lang="en-US" sz="825" dirty="0">
                <a:solidFill>
                  <a:srgbClr val="D3AE84"/>
                </a:solidFill>
                <a:latin typeface="+mj-lt" pitchFamily="34" charset="0"/>
              </a:rPr>
              <a:t>17</a:t>
            </a:r>
            <a:endParaRPr lang="en-US" sz="825" dirty="0"/>
          </a:p>
        </p:txBody>
      </p:sp>
      <p:sp>
        <p:nvSpPr>
          <p:cNvPr id="17" name="Text 14"/>
          <p:cNvSpPr txBox="1"/>
          <p:nvPr/>
        </p:nvSpPr>
        <p:spPr>
          <a:xfrm>
            <a:off x="971550" y="6076950"/>
            <a:ext cx="4095750" cy="209550"/>
          </a:xfrm>
          <a:prstGeom prst="rect">
            <a:avLst/>
          </a:prstGeom>
          <a:noFill/>
          <a:ln/>
        </p:spPr>
        <p:txBody>
          <a:bodyPr wrap="square" lIns="0" tIns="0" rIns="0" bIns="0" rtlCol="0" anchor="t"/>
          <a:lstStyle/>
          <a:p>
            <a:pPr marL="0" indent="0">
              <a:buNone/>
            </a:pPr>
            <a:r>
              <a:rPr lang="en-US" sz="975" dirty="0">
                <a:solidFill>
                  <a:srgbClr val="F4EFE8"/>
                </a:solidFill>
              </a:rPr>
              <a:t>Sources</a:t>
            </a:r>
            <a:endParaRPr lang="en-US" sz="975" dirty="0"/>
          </a:p>
        </p:txBody>
      </p:sp>
      <p:sp>
        <p:nvSpPr>
          <p:cNvPr id="18" name="Shape 15"/>
          <p:cNvSpPr/>
          <p:nvPr/>
        </p:nvSpPr>
        <p:spPr>
          <a:xfrm>
            <a:off x="609600" y="6353175"/>
            <a:ext cx="4476750" cy="0"/>
          </a:xfrm>
          <a:prstGeom prst="line">
            <a:avLst/>
          </a:prstGeom>
          <a:noFill/>
          <a:ln w="9525">
            <a:solidFill>
              <a:srgbClr val="5B4E40"/>
            </a:solidFill>
            <a:prstDash val="solid"/>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Connect With Our Team</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A first conversation is confidential and carries no obligation.</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Ranking based on PitchBook’s Q2 2026 Global League Tables, as published at </a:t>
            </a:r>
            <a:r>
              <a:rPr lang="en-US" sz="675" u="sng" dirty="0">
                <a:solidFill>
                  <a:srgbClr val="8C6239"/>
                </a:solidFill>
                <a:hlinkClick r:id="rId3" tooltip="https://www.benchmarkintl.com/">
                  <a:extLst>
                    <a:ext uri="{A12FA001-AC4F-418D-AE19-62706E023703}">
                      <ahyp:hlinkClr xmlns:ahyp="http://schemas.microsoft.com/office/drawing/2018/hyperlinkcolor" val="tx"/>
                    </a:ext>
                  </a:extLst>
                </a:hlinkClick>
              </a:rPr>
              <a:t>benchmarkintl.com</a:t>
            </a:r>
            <a:r>
              <a:rPr lang="en-US" sz="675" dirty="0">
                <a:solidFill>
                  <a:srgbClr val="6F6A66"/>
                </a:solidFill>
              </a:rPr>
              <a:t>. Team as listed on the Middle Market site in October 2026.</a:t>
            </a:r>
            <a:endParaRPr lang="en-US" sz="675" dirty="0"/>
          </a:p>
        </p:txBody>
      </p:sp>
      <p:sp>
        <p:nvSpPr>
          <p:cNvPr id="5" name="Text 3"/>
          <p:cNvSpPr txBox="1"/>
          <p:nvPr/>
        </p:nvSpPr>
        <p:spPr>
          <a:xfrm>
            <a:off x="419100" y="1257300"/>
            <a:ext cx="5715000" cy="133350"/>
          </a:xfrm>
          <a:prstGeom prst="rect">
            <a:avLst/>
          </a:prstGeom>
          <a:noFill/>
          <a:ln/>
        </p:spPr>
        <p:txBody>
          <a:bodyPr wrap="square" lIns="0" tIns="0" rIns="0" bIns="0" rtlCol="0" anchor="t"/>
          <a:lstStyle/>
          <a:p>
            <a:pPr marL="0" indent="0">
              <a:buNone/>
            </a:pPr>
            <a:r>
              <a:rPr lang="en-US" sz="675" b="1" kern="0" spc="200" dirty="0">
                <a:solidFill>
                  <a:srgbClr val="8C6239"/>
                </a:solidFill>
              </a:rPr>
              <a:t>CONFIDENTIAL. NO PRESSURE. NO COMMITMENTS.</a:t>
            </a:r>
            <a:endParaRPr lang="en-US" sz="675" dirty="0"/>
          </a:p>
        </p:txBody>
      </p:sp>
      <p:sp>
        <p:nvSpPr>
          <p:cNvPr id="6" name="Text 4"/>
          <p:cNvSpPr txBox="1"/>
          <p:nvPr/>
        </p:nvSpPr>
        <p:spPr>
          <a:xfrm>
            <a:off x="419100" y="1428750"/>
            <a:ext cx="6096000" cy="438150"/>
          </a:xfrm>
          <a:prstGeom prst="rect">
            <a:avLst/>
          </a:prstGeom>
          <a:noFill/>
          <a:ln/>
        </p:spPr>
        <p:txBody>
          <a:bodyPr wrap="square" lIns="0" tIns="0" rIns="0" bIns="0" rtlCol="0" anchor="t"/>
          <a:lstStyle/>
          <a:p>
            <a:pPr marL="0" indent="0">
              <a:buNone/>
            </a:pPr>
            <a:r>
              <a:rPr lang="en-US" sz="2700" b="1" dirty="0">
                <a:solidFill>
                  <a:srgbClr val="1B1A1A"/>
                </a:solidFill>
                <a:latin typeface="+mj-lt" pitchFamily="34" charset="0"/>
              </a:rPr>
              <a:t>It all starts with a conversation.</a:t>
            </a:r>
            <a:endParaRPr lang="en-US" sz="2700" dirty="0"/>
          </a:p>
        </p:txBody>
      </p:sp>
      <p:sp>
        <p:nvSpPr>
          <p:cNvPr id="7" name="Text 5"/>
          <p:cNvSpPr txBox="1"/>
          <p:nvPr/>
        </p:nvSpPr>
        <p:spPr>
          <a:xfrm>
            <a:off x="419100" y="1943100"/>
            <a:ext cx="5810250" cy="952500"/>
          </a:xfrm>
          <a:prstGeom prst="rect">
            <a:avLst/>
          </a:prstGeom>
          <a:noFill/>
          <a:ln/>
        </p:spPr>
        <p:txBody>
          <a:bodyPr wrap="square" lIns="0" tIns="0" rIns="0" bIns="0" rtlCol="0" anchor="t"/>
          <a:lstStyle/>
          <a:p>
            <a:pPr marL="0" indent="0">
              <a:lnSpc>
                <a:spcPts val="1463"/>
              </a:lnSpc>
              <a:buNone/>
            </a:pPr>
            <a:r>
              <a:rPr lang="en-US" sz="938" dirty="0">
                <a:solidFill>
                  <a:srgbClr val="333231"/>
                </a:solidFill>
              </a:rPr>
              <a:t>Owners considering a sale, a recapitalization or a growth partnership in any of the five industrial segments, and the accountants, attorneys and wealth advisors who work with them, are welcome to call or write. Every engagement is led by the Middle Market team and backed by Benchmark International’s global network of strategic acquirers, private equity groups, family offices and independent sponsors.</a:t>
            </a:r>
            <a:endParaRPr lang="en-US" sz="938" dirty="0"/>
          </a:p>
        </p:txBody>
      </p:sp>
      <p:sp>
        <p:nvSpPr>
          <p:cNvPr id="8" name="Jared Hardin card"/>
          <p:cNvSpPr/>
          <p:nvPr/>
        </p:nvSpPr>
        <p:spPr>
          <a:xfrm>
            <a:off x="419100" y="3009900"/>
            <a:ext cx="2971800" cy="1047750"/>
          </a:xfrm>
          <a:prstGeom prst="rect">
            <a:avLst/>
          </a:prstGeom>
          <a:solidFill>
            <a:srgbClr val="FAF7F3"/>
          </a:solidFill>
          <a:ln/>
        </p:spPr>
        <p:txBody>
          <a:bodyPr/>
          <a:lstStyle/>
          <a:p>
            <a:endParaRPr lang="en-US"/>
          </a:p>
        </p:txBody>
      </p:sp>
      <p:sp>
        <p:nvSpPr>
          <p:cNvPr id="9" name="Shape 7"/>
          <p:cNvSpPr/>
          <p:nvPr/>
        </p:nvSpPr>
        <p:spPr>
          <a:xfrm>
            <a:off x="419100" y="3009900"/>
            <a:ext cx="2971800" cy="28575"/>
          </a:xfrm>
          <a:prstGeom prst="rect">
            <a:avLst/>
          </a:prstGeom>
          <a:solidFill>
            <a:srgbClr val="B68757"/>
          </a:solidFill>
          <a:ln/>
        </p:spPr>
        <p:txBody>
          <a:bodyPr/>
          <a:lstStyle/>
          <a:p>
            <a:endParaRPr lang="en-US"/>
          </a:p>
        </p:txBody>
      </p:sp>
      <p:pic>
        <p:nvPicPr>
          <p:cNvPr id="10" name="Image 0" descr="/tmp/claude-0/-home-claude-about/b7ea608c-3502-5da6-986c-4c57d144c940/scratchpad/brief/assets/jared-hardin.jpg"/>
          <p:cNvPicPr>
            <a:picLocks noChangeAspect="1"/>
          </p:cNvPicPr>
          <p:nvPr/>
        </p:nvPicPr>
        <p:blipFill>
          <a:blip r:embed="rId4"/>
          <a:stretch>
            <a:fillRect/>
          </a:stretch>
        </p:blipFill>
        <p:spPr>
          <a:xfrm>
            <a:off x="590550" y="3162300"/>
            <a:ext cx="762000" cy="762000"/>
          </a:xfrm>
          <a:prstGeom prst="ellipse">
            <a:avLst/>
          </a:prstGeom>
        </p:spPr>
      </p:pic>
      <p:sp>
        <p:nvSpPr>
          <p:cNvPr id="11" name="Text 8"/>
          <p:cNvSpPr txBox="1"/>
          <p:nvPr/>
        </p:nvSpPr>
        <p:spPr>
          <a:xfrm>
            <a:off x="1504950" y="3162300"/>
            <a:ext cx="1790700" cy="247650"/>
          </a:xfrm>
          <a:prstGeom prst="rect">
            <a:avLst/>
          </a:prstGeom>
          <a:noFill/>
          <a:ln/>
        </p:spPr>
        <p:txBody>
          <a:bodyPr wrap="square" lIns="0" tIns="0" rIns="0" bIns="0" rtlCol="0" anchor="t"/>
          <a:lstStyle/>
          <a:p>
            <a:pPr marL="0" indent="0">
              <a:buNone/>
            </a:pPr>
            <a:r>
              <a:rPr lang="en-US" sz="1500" b="1" dirty="0">
                <a:solidFill>
                  <a:srgbClr val="1B1A1A"/>
                </a:solidFill>
                <a:latin typeface="+mj-lt" pitchFamily="34" charset="0"/>
              </a:rPr>
              <a:t>Jared Hardin</a:t>
            </a:r>
            <a:endParaRPr lang="en-US" sz="1500" dirty="0"/>
          </a:p>
        </p:txBody>
      </p:sp>
      <p:sp>
        <p:nvSpPr>
          <p:cNvPr id="12" name="Text 9"/>
          <p:cNvSpPr txBox="1"/>
          <p:nvPr/>
        </p:nvSpPr>
        <p:spPr>
          <a:xfrm>
            <a:off x="1504950" y="3419475"/>
            <a:ext cx="1790700" cy="123825"/>
          </a:xfrm>
          <a:prstGeom prst="rect">
            <a:avLst/>
          </a:prstGeom>
          <a:noFill/>
          <a:ln/>
        </p:spPr>
        <p:txBody>
          <a:bodyPr wrap="square" lIns="0" tIns="0" rIns="0" bIns="0" rtlCol="0" anchor="t"/>
          <a:lstStyle/>
          <a:p>
            <a:pPr marL="0" indent="0">
              <a:buNone/>
            </a:pPr>
            <a:r>
              <a:rPr lang="en-US" sz="638" b="1" kern="0" spc="150" dirty="0">
                <a:solidFill>
                  <a:srgbClr val="8C6239"/>
                </a:solidFill>
              </a:rPr>
              <a:t>MANAGING DIRECTOR</a:t>
            </a:r>
            <a:endParaRPr lang="en-US" sz="638" dirty="0"/>
          </a:p>
        </p:txBody>
      </p:sp>
      <p:sp>
        <p:nvSpPr>
          <p:cNvPr id="14" name="Jordan Houtz card"/>
          <p:cNvSpPr/>
          <p:nvPr/>
        </p:nvSpPr>
        <p:spPr>
          <a:xfrm>
            <a:off x="3505200" y="3009900"/>
            <a:ext cx="2971800" cy="1047750"/>
          </a:xfrm>
          <a:prstGeom prst="rect">
            <a:avLst/>
          </a:prstGeom>
          <a:solidFill>
            <a:srgbClr val="FAF7F3"/>
          </a:solidFill>
          <a:ln/>
        </p:spPr>
        <p:txBody>
          <a:bodyPr/>
          <a:lstStyle/>
          <a:p>
            <a:endParaRPr lang="en-US"/>
          </a:p>
        </p:txBody>
      </p:sp>
      <p:sp>
        <p:nvSpPr>
          <p:cNvPr id="15" name="Shape 12"/>
          <p:cNvSpPr/>
          <p:nvPr/>
        </p:nvSpPr>
        <p:spPr>
          <a:xfrm>
            <a:off x="3505200" y="3009900"/>
            <a:ext cx="2971800" cy="28575"/>
          </a:xfrm>
          <a:prstGeom prst="rect">
            <a:avLst/>
          </a:prstGeom>
          <a:solidFill>
            <a:srgbClr val="B68757"/>
          </a:solidFill>
          <a:ln/>
        </p:spPr>
        <p:txBody>
          <a:bodyPr/>
          <a:lstStyle/>
          <a:p>
            <a:endParaRPr lang="en-US"/>
          </a:p>
        </p:txBody>
      </p:sp>
      <p:pic>
        <p:nvPicPr>
          <p:cNvPr id="16" name="Image 1" descr="/tmp/claude-0/-home-claude-about/b7ea608c-3502-5da6-986c-4c57d144c940/scratchpad/brief/assets/jordan-houtz.jpg"/>
          <p:cNvPicPr>
            <a:picLocks noChangeAspect="1"/>
          </p:cNvPicPr>
          <p:nvPr/>
        </p:nvPicPr>
        <p:blipFill>
          <a:blip r:embed="rId7"/>
          <a:stretch>
            <a:fillRect/>
          </a:stretch>
        </p:blipFill>
        <p:spPr>
          <a:xfrm>
            <a:off x="3676650" y="3162300"/>
            <a:ext cx="762000" cy="762000"/>
          </a:xfrm>
          <a:prstGeom prst="ellipse">
            <a:avLst/>
          </a:prstGeom>
        </p:spPr>
      </p:pic>
      <p:sp>
        <p:nvSpPr>
          <p:cNvPr id="17" name="Text 13"/>
          <p:cNvSpPr txBox="1"/>
          <p:nvPr/>
        </p:nvSpPr>
        <p:spPr>
          <a:xfrm>
            <a:off x="4591050" y="3162300"/>
            <a:ext cx="1790700" cy="247650"/>
          </a:xfrm>
          <a:prstGeom prst="rect">
            <a:avLst/>
          </a:prstGeom>
          <a:noFill/>
          <a:ln/>
        </p:spPr>
        <p:txBody>
          <a:bodyPr wrap="square" lIns="0" tIns="0" rIns="0" bIns="0" rtlCol="0" anchor="t"/>
          <a:lstStyle/>
          <a:p>
            <a:pPr marL="0" indent="0">
              <a:buNone/>
            </a:pPr>
            <a:r>
              <a:rPr lang="en-US" sz="1500" b="1" dirty="0">
                <a:solidFill>
                  <a:srgbClr val="1B1A1A"/>
                </a:solidFill>
                <a:latin typeface="+mj-lt" pitchFamily="34" charset="0"/>
              </a:rPr>
              <a:t>Jordan Houtz</a:t>
            </a:r>
            <a:endParaRPr lang="en-US" sz="1500" dirty="0"/>
          </a:p>
        </p:txBody>
      </p:sp>
      <p:sp>
        <p:nvSpPr>
          <p:cNvPr id="18" name="Text 14"/>
          <p:cNvSpPr txBox="1"/>
          <p:nvPr/>
        </p:nvSpPr>
        <p:spPr>
          <a:xfrm>
            <a:off x="4591050" y="3419475"/>
            <a:ext cx="1790700" cy="123825"/>
          </a:xfrm>
          <a:prstGeom prst="rect">
            <a:avLst/>
          </a:prstGeom>
          <a:noFill/>
          <a:ln/>
        </p:spPr>
        <p:txBody>
          <a:bodyPr wrap="square" lIns="0" tIns="0" rIns="0" bIns="0" rtlCol="0" anchor="t"/>
          <a:lstStyle/>
          <a:p>
            <a:pPr marL="0" indent="0">
              <a:buNone/>
            </a:pPr>
            <a:r>
              <a:rPr lang="en-US" sz="638" b="1" kern="0" spc="150" dirty="0">
                <a:solidFill>
                  <a:srgbClr val="8C6239"/>
                </a:solidFill>
              </a:rPr>
              <a:t>MANAGING DIRECTOR</a:t>
            </a:r>
            <a:endParaRPr lang="en-US" sz="638" dirty="0"/>
          </a:p>
        </p:txBody>
      </p:sp>
      <p:sp>
        <p:nvSpPr>
          <p:cNvPr id="20" name="Alex Zykov card"/>
          <p:cNvSpPr/>
          <p:nvPr/>
        </p:nvSpPr>
        <p:spPr>
          <a:xfrm>
            <a:off x="419100" y="4171950"/>
            <a:ext cx="2971800" cy="1047750"/>
          </a:xfrm>
          <a:prstGeom prst="rect">
            <a:avLst/>
          </a:prstGeom>
          <a:solidFill>
            <a:srgbClr val="FAF7F3"/>
          </a:solidFill>
          <a:ln/>
        </p:spPr>
        <p:txBody>
          <a:bodyPr/>
          <a:lstStyle/>
          <a:p>
            <a:endParaRPr lang="en-US"/>
          </a:p>
        </p:txBody>
      </p:sp>
      <p:sp>
        <p:nvSpPr>
          <p:cNvPr id="21" name="Shape 17"/>
          <p:cNvSpPr/>
          <p:nvPr/>
        </p:nvSpPr>
        <p:spPr>
          <a:xfrm>
            <a:off x="419100" y="4171950"/>
            <a:ext cx="2971800" cy="28575"/>
          </a:xfrm>
          <a:prstGeom prst="rect">
            <a:avLst/>
          </a:prstGeom>
          <a:solidFill>
            <a:srgbClr val="B68757"/>
          </a:solidFill>
          <a:ln/>
        </p:spPr>
        <p:txBody>
          <a:bodyPr/>
          <a:lstStyle/>
          <a:p>
            <a:endParaRPr lang="en-US"/>
          </a:p>
        </p:txBody>
      </p:sp>
      <p:pic>
        <p:nvPicPr>
          <p:cNvPr id="22" name="Image 2" descr="/tmp/claude-0/-home-claude-about/b7ea608c-3502-5da6-986c-4c57d144c940/scratchpad/brief/assets/alex-zykov.jpg"/>
          <p:cNvPicPr>
            <a:picLocks noChangeAspect="1"/>
          </p:cNvPicPr>
          <p:nvPr/>
        </p:nvPicPr>
        <p:blipFill>
          <a:blip r:embed="rId8"/>
          <a:stretch>
            <a:fillRect/>
          </a:stretch>
        </p:blipFill>
        <p:spPr>
          <a:xfrm>
            <a:off x="590550" y="4324350"/>
            <a:ext cx="762000" cy="762000"/>
          </a:xfrm>
          <a:prstGeom prst="ellipse">
            <a:avLst/>
          </a:prstGeom>
        </p:spPr>
      </p:pic>
      <p:sp>
        <p:nvSpPr>
          <p:cNvPr id="23" name="Text 18"/>
          <p:cNvSpPr txBox="1"/>
          <p:nvPr/>
        </p:nvSpPr>
        <p:spPr>
          <a:xfrm>
            <a:off x="1504950" y="4324350"/>
            <a:ext cx="1790700" cy="247650"/>
          </a:xfrm>
          <a:prstGeom prst="rect">
            <a:avLst/>
          </a:prstGeom>
          <a:noFill/>
          <a:ln/>
        </p:spPr>
        <p:txBody>
          <a:bodyPr wrap="square" lIns="0" tIns="0" rIns="0" bIns="0" rtlCol="0" anchor="t"/>
          <a:lstStyle/>
          <a:p>
            <a:pPr marL="0" indent="0">
              <a:buNone/>
            </a:pPr>
            <a:r>
              <a:rPr lang="en-US" sz="1500" b="1" dirty="0">
                <a:solidFill>
                  <a:srgbClr val="1B1A1A"/>
                </a:solidFill>
                <a:latin typeface="+mj-lt" pitchFamily="34" charset="0"/>
              </a:rPr>
              <a:t>Alex Zykov</a:t>
            </a:r>
            <a:endParaRPr lang="en-US" sz="1500" dirty="0"/>
          </a:p>
        </p:txBody>
      </p:sp>
      <p:sp>
        <p:nvSpPr>
          <p:cNvPr id="24" name="Text 19"/>
          <p:cNvSpPr txBox="1"/>
          <p:nvPr/>
        </p:nvSpPr>
        <p:spPr>
          <a:xfrm>
            <a:off x="1504950" y="4581525"/>
            <a:ext cx="1790700" cy="123825"/>
          </a:xfrm>
          <a:prstGeom prst="rect">
            <a:avLst/>
          </a:prstGeom>
          <a:noFill/>
          <a:ln/>
        </p:spPr>
        <p:txBody>
          <a:bodyPr wrap="square" lIns="0" tIns="0" rIns="0" bIns="0" rtlCol="0" anchor="t"/>
          <a:lstStyle/>
          <a:p>
            <a:pPr marL="0" indent="0">
              <a:buNone/>
            </a:pPr>
            <a:r>
              <a:rPr lang="en-US" sz="638" b="1" kern="0" spc="150" dirty="0">
                <a:solidFill>
                  <a:srgbClr val="8C6239"/>
                </a:solidFill>
              </a:rPr>
              <a:t>TRANSACTION DIRECTOR</a:t>
            </a:r>
            <a:endParaRPr lang="en-US" sz="638" dirty="0"/>
          </a:p>
        </p:txBody>
      </p:sp>
      <p:sp>
        <p:nvSpPr>
          <p:cNvPr id="26" name="Shannon Hess card"/>
          <p:cNvSpPr/>
          <p:nvPr/>
        </p:nvSpPr>
        <p:spPr>
          <a:xfrm>
            <a:off x="3505200" y="4171950"/>
            <a:ext cx="2971800" cy="1047750"/>
          </a:xfrm>
          <a:prstGeom prst="rect">
            <a:avLst/>
          </a:prstGeom>
          <a:solidFill>
            <a:srgbClr val="FAF7F3"/>
          </a:solidFill>
          <a:ln/>
        </p:spPr>
        <p:txBody>
          <a:bodyPr/>
          <a:lstStyle/>
          <a:p>
            <a:endParaRPr lang="en-US"/>
          </a:p>
        </p:txBody>
      </p:sp>
      <p:sp>
        <p:nvSpPr>
          <p:cNvPr id="27" name="Shape 22"/>
          <p:cNvSpPr/>
          <p:nvPr/>
        </p:nvSpPr>
        <p:spPr>
          <a:xfrm>
            <a:off x="3505200" y="4171950"/>
            <a:ext cx="2971800" cy="28575"/>
          </a:xfrm>
          <a:prstGeom prst="rect">
            <a:avLst/>
          </a:prstGeom>
          <a:solidFill>
            <a:srgbClr val="B68757"/>
          </a:solidFill>
          <a:ln/>
        </p:spPr>
        <p:txBody>
          <a:bodyPr/>
          <a:lstStyle/>
          <a:p>
            <a:endParaRPr lang="en-US"/>
          </a:p>
        </p:txBody>
      </p:sp>
      <p:pic>
        <p:nvPicPr>
          <p:cNvPr id="28" name="Image 3" descr="/tmp/claude-0/-home-claude-about/b7ea608c-3502-5da6-986c-4c57d144c940/scratchpad/brief/assets/shannon-hess.jpg"/>
          <p:cNvPicPr>
            <a:picLocks noChangeAspect="1"/>
          </p:cNvPicPr>
          <p:nvPr/>
        </p:nvPicPr>
        <p:blipFill>
          <a:blip r:embed="rId9"/>
          <a:stretch>
            <a:fillRect/>
          </a:stretch>
        </p:blipFill>
        <p:spPr>
          <a:xfrm>
            <a:off x="3676650" y="4324350"/>
            <a:ext cx="762000" cy="762000"/>
          </a:xfrm>
          <a:prstGeom prst="ellipse">
            <a:avLst/>
          </a:prstGeom>
        </p:spPr>
      </p:pic>
      <p:sp>
        <p:nvSpPr>
          <p:cNvPr id="29" name="Text 23"/>
          <p:cNvSpPr txBox="1"/>
          <p:nvPr/>
        </p:nvSpPr>
        <p:spPr>
          <a:xfrm>
            <a:off x="4591050" y="4324350"/>
            <a:ext cx="1790700" cy="247650"/>
          </a:xfrm>
          <a:prstGeom prst="rect">
            <a:avLst/>
          </a:prstGeom>
          <a:noFill/>
          <a:ln/>
        </p:spPr>
        <p:txBody>
          <a:bodyPr wrap="square" lIns="0" tIns="0" rIns="0" bIns="0" rtlCol="0" anchor="t"/>
          <a:lstStyle/>
          <a:p>
            <a:pPr marL="0" indent="0">
              <a:buNone/>
            </a:pPr>
            <a:r>
              <a:rPr lang="en-US" sz="1500" b="1" dirty="0">
                <a:solidFill>
                  <a:srgbClr val="1B1A1A"/>
                </a:solidFill>
                <a:latin typeface="+mj-lt" pitchFamily="34" charset="0"/>
              </a:rPr>
              <a:t>Shannon Hess</a:t>
            </a:r>
            <a:endParaRPr lang="en-US" sz="1500" dirty="0"/>
          </a:p>
        </p:txBody>
      </p:sp>
      <p:sp>
        <p:nvSpPr>
          <p:cNvPr id="30" name="Text 24"/>
          <p:cNvSpPr txBox="1"/>
          <p:nvPr/>
        </p:nvSpPr>
        <p:spPr>
          <a:xfrm>
            <a:off x="4591050" y="4581525"/>
            <a:ext cx="1790700" cy="123825"/>
          </a:xfrm>
          <a:prstGeom prst="rect">
            <a:avLst/>
          </a:prstGeom>
          <a:noFill/>
          <a:ln/>
        </p:spPr>
        <p:txBody>
          <a:bodyPr wrap="square" lIns="0" tIns="0" rIns="0" bIns="0" rtlCol="0" anchor="t"/>
          <a:lstStyle/>
          <a:p>
            <a:pPr marL="0" indent="0">
              <a:buNone/>
            </a:pPr>
            <a:r>
              <a:rPr lang="en-US" sz="638" b="1" kern="0" spc="150" dirty="0">
                <a:solidFill>
                  <a:srgbClr val="8C6239"/>
                </a:solidFill>
              </a:rPr>
              <a:t>CLIENT ENGAGEMENT DIRECTOR</a:t>
            </a:r>
            <a:endParaRPr lang="en-US" sz="638" dirty="0"/>
          </a:p>
        </p:txBody>
      </p:sp>
      <p:sp>
        <p:nvSpPr>
          <p:cNvPr id="32" name="Shape 26"/>
          <p:cNvSpPr/>
          <p:nvPr/>
        </p:nvSpPr>
        <p:spPr>
          <a:xfrm>
            <a:off x="419100" y="5353050"/>
            <a:ext cx="1905000" cy="0"/>
          </a:xfrm>
          <a:prstGeom prst="line">
            <a:avLst/>
          </a:prstGeom>
          <a:noFill/>
          <a:ln w="9525">
            <a:solidFill>
              <a:srgbClr val="E3DCD3"/>
            </a:solidFill>
            <a:prstDash val="solid"/>
          </a:ln>
        </p:spPr>
        <p:txBody>
          <a:bodyPr/>
          <a:lstStyle/>
          <a:p>
            <a:endParaRPr lang="en-US"/>
          </a:p>
        </p:txBody>
      </p:sp>
      <p:sp>
        <p:nvSpPr>
          <p:cNvPr id="33" name="Text 27"/>
          <p:cNvSpPr txBox="1"/>
          <p:nvPr/>
        </p:nvSpPr>
        <p:spPr>
          <a:xfrm>
            <a:off x="419100" y="5438775"/>
            <a:ext cx="266700" cy="209550"/>
          </a:xfrm>
          <a:prstGeom prst="rect">
            <a:avLst/>
          </a:prstGeom>
          <a:noFill/>
          <a:ln/>
        </p:spPr>
        <p:txBody>
          <a:bodyPr wrap="square" lIns="0" tIns="0" rIns="0" bIns="0" rtlCol="0" anchor="t"/>
          <a:lstStyle/>
          <a:p>
            <a:pPr marL="0" indent="0">
              <a:buNone/>
            </a:pPr>
            <a:r>
              <a:rPr lang="en-US" sz="1350" dirty="0">
                <a:solidFill>
                  <a:srgbClr val="B68757"/>
                </a:solidFill>
                <a:latin typeface="+mj-lt" pitchFamily="34" charset="0"/>
              </a:rPr>
              <a:t>01</a:t>
            </a:r>
            <a:endParaRPr lang="en-US" sz="1350" dirty="0"/>
          </a:p>
        </p:txBody>
      </p:sp>
      <p:sp>
        <p:nvSpPr>
          <p:cNvPr id="34" name="Text 28"/>
          <p:cNvSpPr txBox="1"/>
          <p:nvPr/>
        </p:nvSpPr>
        <p:spPr>
          <a:xfrm>
            <a:off x="723900" y="5438775"/>
            <a:ext cx="1600200" cy="152400"/>
          </a:xfrm>
          <a:prstGeom prst="rect">
            <a:avLst/>
          </a:prstGeom>
          <a:noFill/>
          <a:ln/>
        </p:spPr>
        <p:txBody>
          <a:bodyPr wrap="square" lIns="0" tIns="0" rIns="0" bIns="0" rtlCol="0" anchor="t"/>
          <a:lstStyle/>
          <a:p>
            <a:pPr marL="0" indent="0">
              <a:buNone/>
            </a:pPr>
            <a:r>
              <a:rPr lang="en-US" sz="863" b="1" dirty="0">
                <a:solidFill>
                  <a:srgbClr val="1B1A1A"/>
                </a:solidFill>
              </a:rPr>
              <a:t>Share a few details</a:t>
            </a:r>
            <a:endParaRPr lang="en-US" sz="863" dirty="0"/>
          </a:p>
        </p:txBody>
      </p:sp>
      <p:sp>
        <p:nvSpPr>
          <p:cNvPr id="35" name="Text 29"/>
          <p:cNvSpPr txBox="1"/>
          <p:nvPr/>
        </p:nvSpPr>
        <p:spPr>
          <a:xfrm>
            <a:off x="723900" y="5610225"/>
            <a:ext cx="1600200" cy="609600"/>
          </a:xfrm>
          <a:prstGeom prst="rect">
            <a:avLst/>
          </a:prstGeom>
          <a:noFill/>
          <a:ln/>
        </p:spPr>
        <p:txBody>
          <a:bodyPr wrap="square" lIns="0" tIns="0" rIns="0" bIns="0" rtlCol="0" anchor="t"/>
          <a:lstStyle/>
          <a:p>
            <a:pPr marL="0" indent="0">
              <a:lnSpc>
                <a:spcPts val="1088"/>
              </a:lnSpc>
              <a:buNone/>
            </a:pPr>
            <a:r>
              <a:rPr lang="en-US" sz="765" dirty="0">
                <a:solidFill>
                  <a:srgbClr val="6F6A66"/>
                </a:solidFill>
              </a:rPr>
              <a:t>Tell us about your company and what you are considering. Everything you share is held in strict confidence.</a:t>
            </a:r>
            <a:endParaRPr lang="en-US" sz="765" dirty="0"/>
          </a:p>
        </p:txBody>
      </p:sp>
      <p:sp>
        <p:nvSpPr>
          <p:cNvPr id="36" name="Shape 30"/>
          <p:cNvSpPr/>
          <p:nvPr/>
        </p:nvSpPr>
        <p:spPr>
          <a:xfrm>
            <a:off x="2457450" y="5353050"/>
            <a:ext cx="1905000" cy="0"/>
          </a:xfrm>
          <a:prstGeom prst="line">
            <a:avLst/>
          </a:prstGeom>
          <a:noFill/>
          <a:ln w="9525">
            <a:solidFill>
              <a:srgbClr val="E3DCD3"/>
            </a:solidFill>
            <a:prstDash val="solid"/>
          </a:ln>
        </p:spPr>
        <p:txBody>
          <a:bodyPr/>
          <a:lstStyle/>
          <a:p>
            <a:endParaRPr lang="en-US"/>
          </a:p>
        </p:txBody>
      </p:sp>
      <p:sp>
        <p:nvSpPr>
          <p:cNvPr id="37" name="Text 31"/>
          <p:cNvSpPr txBox="1"/>
          <p:nvPr/>
        </p:nvSpPr>
        <p:spPr>
          <a:xfrm>
            <a:off x="2457450" y="5438775"/>
            <a:ext cx="266700" cy="209550"/>
          </a:xfrm>
          <a:prstGeom prst="rect">
            <a:avLst/>
          </a:prstGeom>
          <a:noFill/>
          <a:ln/>
        </p:spPr>
        <p:txBody>
          <a:bodyPr wrap="square" lIns="0" tIns="0" rIns="0" bIns="0" rtlCol="0" anchor="t"/>
          <a:lstStyle/>
          <a:p>
            <a:pPr marL="0" indent="0">
              <a:buNone/>
            </a:pPr>
            <a:r>
              <a:rPr lang="en-US" sz="1350" dirty="0">
                <a:solidFill>
                  <a:srgbClr val="B68757"/>
                </a:solidFill>
                <a:latin typeface="+mj-lt" pitchFamily="34" charset="0"/>
              </a:rPr>
              <a:t>02</a:t>
            </a:r>
            <a:endParaRPr lang="en-US" sz="1350" dirty="0"/>
          </a:p>
        </p:txBody>
      </p:sp>
      <p:sp>
        <p:nvSpPr>
          <p:cNvPr id="38" name="Text 32"/>
          <p:cNvSpPr txBox="1"/>
          <p:nvPr/>
        </p:nvSpPr>
        <p:spPr>
          <a:xfrm>
            <a:off x="2762250" y="5438775"/>
            <a:ext cx="1600200" cy="152400"/>
          </a:xfrm>
          <a:prstGeom prst="rect">
            <a:avLst/>
          </a:prstGeom>
          <a:noFill/>
          <a:ln/>
        </p:spPr>
        <p:txBody>
          <a:bodyPr wrap="square" lIns="0" tIns="0" rIns="0" bIns="0" rtlCol="0" anchor="t"/>
          <a:lstStyle/>
          <a:p>
            <a:pPr marL="0" indent="0">
              <a:buNone/>
            </a:pPr>
            <a:r>
              <a:rPr lang="en-US" sz="863" b="1" dirty="0">
                <a:solidFill>
                  <a:srgbClr val="1B1A1A"/>
                </a:solidFill>
              </a:rPr>
              <a:t>Talk with a Managing Director</a:t>
            </a:r>
            <a:endParaRPr lang="en-US" sz="863" dirty="0"/>
          </a:p>
        </p:txBody>
      </p:sp>
      <p:sp>
        <p:nvSpPr>
          <p:cNvPr id="39" name="Text 33"/>
          <p:cNvSpPr txBox="1"/>
          <p:nvPr/>
        </p:nvSpPr>
        <p:spPr>
          <a:xfrm>
            <a:off x="2762250" y="5610225"/>
            <a:ext cx="1600200" cy="609600"/>
          </a:xfrm>
          <a:prstGeom prst="rect">
            <a:avLst/>
          </a:prstGeom>
          <a:noFill/>
          <a:ln/>
        </p:spPr>
        <p:txBody>
          <a:bodyPr wrap="square" lIns="0" tIns="0" rIns="0" bIns="0" rtlCol="0" anchor="t"/>
          <a:lstStyle/>
          <a:p>
            <a:pPr marL="0" indent="0">
              <a:lnSpc>
                <a:spcPts val="1088"/>
              </a:lnSpc>
              <a:buNone/>
            </a:pPr>
            <a:r>
              <a:rPr lang="en-US" sz="765" dirty="0">
                <a:solidFill>
                  <a:srgbClr val="6F6A66"/>
                </a:solidFill>
              </a:rPr>
              <a:t>A senior member of the team will set up a private conversation at a time that suits you.</a:t>
            </a:r>
            <a:endParaRPr lang="en-US" sz="765" dirty="0"/>
          </a:p>
        </p:txBody>
      </p:sp>
      <p:sp>
        <p:nvSpPr>
          <p:cNvPr id="40" name="Shape 34"/>
          <p:cNvSpPr/>
          <p:nvPr/>
        </p:nvSpPr>
        <p:spPr>
          <a:xfrm>
            <a:off x="4495800" y="5353050"/>
            <a:ext cx="1905000" cy="0"/>
          </a:xfrm>
          <a:prstGeom prst="line">
            <a:avLst/>
          </a:prstGeom>
          <a:noFill/>
          <a:ln w="9525">
            <a:solidFill>
              <a:srgbClr val="E3DCD3"/>
            </a:solidFill>
            <a:prstDash val="solid"/>
          </a:ln>
        </p:spPr>
        <p:txBody>
          <a:bodyPr/>
          <a:lstStyle/>
          <a:p>
            <a:endParaRPr lang="en-US"/>
          </a:p>
        </p:txBody>
      </p:sp>
      <p:sp>
        <p:nvSpPr>
          <p:cNvPr id="41" name="Text 35"/>
          <p:cNvSpPr txBox="1"/>
          <p:nvPr/>
        </p:nvSpPr>
        <p:spPr>
          <a:xfrm>
            <a:off x="4495800" y="5438775"/>
            <a:ext cx="266700" cy="209550"/>
          </a:xfrm>
          <a:prstGeom prst="rect">
            <a:avLst/>
          </a:prstGeom>
          <a:noFill/>
          <a:ln/>
        </p:spPr>
        <p:txBody>
          <a:bodyPr wrap="square" lIns="0" tIns="0" rIns="0" bIns="0" rtlCol="0" anchor="t"/>
          <a:lstStyle/>
          <a:p>
            <a:pPr marL="0" indent="0">
              <a:buNone/>
            </a:pPr>
            <a:r>
              <a:rPr lang="en-US" sz="1350" dirty="0">
                <a:solidFill>
                  <a:srgbClr val="B68757"/>
                </a:solidFill>
                <a:latin typeface="+mj-lt" pitchFamily="34" charset="0"/>
              </a:rPr>
              <a:t>03</a:t>
            </a:r>
            <a:endParaRPr lang="en-US" sz="1350" dirty="0"/>
          </a:p>
        </p:txBody>
      </p:sp>
      <p:sp>
        <p:nvSpPr>
          <p:cNvPr id="42" name="Text 36"/>
          <p:cNvSpPr txBox="1"/>
          <p:nvPr/>
        </p:nvSpPr>
        <p:spPr>
          <a:xfrm>
            <a:off x="4800600" y="5438775"/>
            <a:ext cx="1600200" cy="152400"/>
          </a:xfrm>
          <a:prstGeom prst="rect">
            <a:avLst/>
          </a:prstGeom>
          <a:noFill/>
          <a:ln/>
        </p:spPr>
        <p:txBody>
          <a:bodyPr wrap="square" lIns="0" tIns="0" rIns="0" bIns="0" rtlCol="0" anchor="t"/>
          <a:lstStyle/>
          <a:p>
            <a:pPr marL="0" indent="0">
              <a:buNone/>
            </a:pPr>
            <a:r>
              <a:rPr lang="en-US" sz="863" b="1" dirty="0">
                <a:solidFill>
                  <a:srgbClr val="1B1A1A"/>
                </a:solidFill>
              </a:rPr>
              <a:t>See your options clearly</a:t>
            </a:r>
            <a:endParaRPr lang="en-US" sz="863" dirty="0"/>
          </a:p>
        </p:txBody>
      </p:sp>
      <p:sp>
        <p:nvSpPr>
          <p:cNvPr id="43" name="Text 37"/>
          <p:cNvSpPr txBox="1"/>
          <p:nvPr/>
        </p:nvSpPr>
        <p:spPr>
          <a:xfrm>
            <a:off x="4800600" y="5610225"/>
            <a:ext cx="1600200" cy="609600"/>
          </a:xfrm>
          <a:prstGeom prst="rect">
            <a:avLst/>
          </a:prstGeom>
          <a:noFill/>
          <a:ln/>
        </p:spPr>
        <p:txBody>
          <a:bodyPr wrap="square" lIns="0" tIns="0" rIns="0" bIns="0" rtlCol="0" anchor="t"/>
          <a:lstStyle/>
          <a:p>
            <a:pPr marL="0" indent="0">
              <a:lnSpc>
                <a:spcPts val="1088"/>
              </a:lnSpc>
              <a:buNone/>
            </a:pPr>
            <a:r>
              <a:rPr lang="en-US" sz="765" dirty="0">
                <a:solidFill>
                  <a:srgbClr val="6F6A66"/>
                </a:solidFill>
              </a:rPr>
              <a:t>Understand the paths available, from a partial recapitalization to a full sale, and what each could mean for you.</a:t>
            </a:r>
            <a:endParaRPr lang="en-US" sz="765" dirty="0"/>
          </a:p>
        </p:txBody>
      </p:sp>
      <p:sp>
        <p:nvSpPr>
          <p:cNvPr id="44" name="Text 38"/>
          <p:cNvSpPr/>
          <p:nvPr/>
        </p:nvSpPr>
        <p:spPr>
          <a:xfrm>
            <a:off x="419100" y="6534150"/>
            <a:ext cx="2038350" cy="361950"/>
          </a:xfrm>
          <a:prstGeom prst="rect">
            <a:avLst/>
          </a:prstGeom>
          <a:solidFill>
            <a:srgbClr val="B68757"/>
          </a:solidFill>
          <a:ln/>
        </p:spPr>
        <p:txBody>
          <a:bodyPr wrap="square" lIns="0" tIns="0" rIns="0" bIns="0" rtlCol="0" anchor="ctr"/>
          <a:lstStyle/>
          <a:p>
            <a:pPr marL="0" indent="0" algn="ctr">
              <a:buNone/>
            </a:pPr>
            <a:r>
              <a:rPr lang="en-US" sz="713" b="1" u="sng" kern="0" spc="160" dirty="0">
                <a:solidFill>
                  <a:srgbClr val="FFFFFF"/>
                </a:solidFill>
                <a:hlinkClick r:id="rId6">
                  <a:extLst>
                    <a:ext uri="{A12FA001-AC4F-418D-AE19-62706E023703}">
                      <ahyp:hlinkClr xmlns:ahyp="http://schemas.microsoft.com/office/drawing/2018/hyperlinkcolor" val="tx"/>
                    </a:ext>
                  </a:extLst>
                </a:hlinkClick>
              </a:rPr>
              <a:t>SCHEDULE A CONVERSATION</a:t>
            </a:r>
            <a:endParaRPr lang="en-US" sz="713" dirty="0"/>
          </a:p>
        </p:txBody>
      </p:sp>
      <p:sp>
        <p:nvSpPr>
          <p:cNvPr id="45" name="Text 39"/>
          <p:cNvSpPr/>
          <p:nvPr/>
        </p:nvSpPr>
        <p:spPr>
          <a:xfrm>
            <a:off x="2571750" y="6534150"/>
            <a:ext cx="3009900" cy="361950"/>
          </a:xfrm>
          <a:prstGeom prst="rect">
            <a:avLst/>
          </a:prstGeom>
          <a:solidFill>
            <a:srgbClr val="FFFFFF"/>
          </a:solidFill>
          <a:ln w="13970">
            <a:solidFill>
              <a:srgbClr val="1B1A1A"/>
            </a:solidFill>
          </a:ln>
        </p:spPr>
        <p:txBody>
          <a:bodyPr wrap="square" lIns="0" tIns="0" rIns="0" bIns="0" rtlCol="0" anchor="ctr"/>
          <a:lstStyle/>
          <a:p>
            <a:pPr marL="0" indent="0" algn="ctr">
              <a:buNone/>
            </a:pPr>
            <a:r>
              <a:rPr lang="en-US" sz="713" b="1" u="sng" kern="0" spc="160" dirty="0">
                <a:solidFill>
                  <a:srgbClr val="1B1A1A"/>
                </a:solidFill>
                <a:hlinkClick r:id="rId10">
                  <a:extLst>
                    <a:ext uri="{A12FA001-AC4F-418D-AE19-62706E023703}">
                      <ahyp:hlinkClr xmlns:ahyp="http://schemas.microsoft.com/office/drawing/2018/hyperlinkcolor" val="tx"/>
                    </a:ext>
                  </a:extLst>
                </a:hlinkClick>
              </a:rPr>
              <a:t>READ THE FULL Q4 2026 INDUSTRIAL REPORT</a:t>
            </a:r>
            <a:endParaRPr lang="en-US" sz="713" dirty="0"/>
          </a:p>
        </p:txBody>
      </p:sp>
      <p:sp>
        <p:nvSpPr>
          <p:cNvPr id="46" name="Firm panel"/>
          <p:cNvSpPr/>
          <p:nvPr/>
        </p:nvSpPr>
        <p:spPr>
          <a:xfrm>
            <a:off x="6915150" y="1238250"/>
            <a:ext cx="2724150" cy="5695950"/>
          </a:xfrm>
          <a:prstGeom prst="rect">
            <a:avLst/>
          </a:prstGeom>
          <a:solidFill>
            <a:srgbClr val="1B1A1A"/>
          </a:solidFill>
          <a:ln/>
        </p:spPr>
        <p:txBody>
          <a:bodyPr/>
          <a:lstStyle/>
          <a:p>
            <a:endParaRPr lang="en-US"/>
          </a:p>
        </p:txBody>
      </p:sp>
      <p:pic>
        <p:nvPicPr>
          <p:cNvPr id="47" name="Image 4" descr="/tmp/claude-0/-home-claude-about/b7ea608c-3502-5da6-986c-4c57d144c940/scratchpad/brief/assets/logo-white.png"/>
          <p:cNvPicPr>
            <a:picLocks noChangeAspect="1"/>
          </p:cNvPicPr>
          <p:nvPr/>
        </p:nvPicPr>
        <p:blipFill>
          <a:blip r:embed="rId11"/>
          <a:stretch>
            <a:fillRect/>
          </a:stretch>
        </p:blipFill>
        <p:spPr>
          <a:xfrm>
            <a:off x="7143750" y="1485900"/>
            <a:ext cx="1638300" cy="304800"/>
          </a:xfrm>
          <a:prstGeom prst="rect">
            <a:avLst/>
          </a:prstGeom>
        </p:spPr>
      </p:pic>
      <p:sp>
        <p:nvSpPr>
          <p:cNvPr id="48" name="Text 41"/>
          <p:cNvSpPr txBox="1"/>
          <p:nvPr/>
        </p:nvSpPr>
        <p:spPr>
          <a:xfrm>
            <a:off x="7143750" y="1866900"/>
            <a:ext cx="2286000" cy="133350"/>
          </a:xfrm>
          <a:prstGeom prst="rect">
            <a:avLst/>
          </a:prstGeom>
          <a:noFill/>
          <a:ln/>
        </p:spPr>
        <p:txBody>
          <a:bodyPr wrap="square" lIns="0" tIns="0" rIns="0" bIns="0" rtlCol="0" anchor="t"/>
          <a:lstStyle/>
          <a:p>
            <a:pPr marL="0" indent="0">
              <a:buNone/>
            </a:pPr>
            <a:r>
              <a:rPr lang="en-US" sz="675" b="1" kern="0" spc="200" dirty="0">
                <a:solidFill>
                  <a:srgbClr val="8C6239"/>
                </a:solidFill>
              </a:rPr>
              <a:t>MIDDLE MARKET</a:t>
            </a:r>
            <a:endParaRPr lang="en-US" sz="675" dirty="0"/>
          </a:p>
        </p:txBody>
      </p:sp>
      <p:sp>
        <p:nvSpPr>
          <p:cNvPr id="49" name="Text 42"/>
          <p:cNvSpPr txBox="1"/>
          <p:nvPr/>
        </p:nvSpPr>
        <p:spPr>
          <a:xfrm>
            <a:off x="7143750" y="2114550"/>
            <a:ext cx="1047750" cy="285750"/>
          </a:xfrm>
          <a:prstGeom prst="rect">
            <a:avLst/>
          </a:prstGeom>
          <a:noFill/>
          <a:ln/>
        </p:spPr>
        <p:txBody>
          <a:bodyPr wrap="square" lIns="0" tIns="0" rIns="0" bIns="0" rtlCol="0" anchor="t"/>
          <a:lstStyle/>
          <a:p>
            <a:pPr marL="0" indent="0">
              <a:buNone/>
            </a:pPr>
            <a:r>
              <a:rPr lang="en-US" sz="1950" b="1" dirty="0">
                <a:solidFill>
                  <a:srgbClr val="D3AE84"/>
                </a:solidFill>
                <a:latin typeface="+mj-lt" pitchFamily="34" charset="0"/>
              </a:rPr>
              <a:t>#1</a:t>
            </a:r>
            <a:endParaRPr lang="en-US" sz="1950" dirty="0"/>
          </a:p>
        </p:txBody>
      </p:sp>
      <p:sp>
        <p:nvSpPr>
          <p:cNvPr id="50" name="Text 43"/>
          <p:cNvSpPr txBox="1"/>
          <p:nvPr/>
        </p:nvSpPr>
        <p:spPr>
          <a:xfrm>
            <a:off x="7143750" y="2419350"/>
            <a:ext cx="1066800" cy="381000"/>
          </a:xfrm>
          <a:prstGeom prst="rect">
            <a:avLst/>
          </a:prstGeom>
          <a:noFill/>
          <a:ln/>
        </p:spPr>
        <p:txBody>
          <a:bodyPr wrap="square" lIns="0" tIns="0" rIns="0" bIns="0" rtlCol="0" anchor="t"/>
          <a:lstStyle/>
          <a:p>
            <a:pPr marL="0" indent="0">
              <a:lnSpc>
                <a:spcPts val="975"/>
              </a:lnSpc>
              <a:buNone/>
            </a:pPr>
            <a:r>
              <a:rPr lang="en-US" sz="705" dirty="0">
                <a:solidFill>
                  <a:srgbClr val="E8E2DA"/>
                </a:solidFill>
              </a:rPr>
              <a:t>Privately owned sell-side M&amp;A advisor worldwide</a:t>
            </a:r>
            <a:endParaRPr lang="en-US" sz="705" dirty="0"/>
          </a:p>
        </p:txBody>
      </p:sp>
      <p:sp>
        <p:nvSpPr>
          <p:cNvPr id="51" name="Text 44"/>
          <p:cNvSpPr txBox="1"/>
          <p:nvPr/>
        </p:nvSpPr>
        <p:spPr>
          <a:xfrm>
            <a:off x="8362950" y="2114550"/>
            <a:ext cx="1047750" cy="285750"/>
          </a:xfrm>
          <a:prstGeom prst="rect">
            <a:avLst/>
          </a:prstGeom>
          <a:noFill/>
          <a:ln/>
        </p:spPr>
        <p:txBody>
          <a:bodyPr wrap="square" lIns="0" tIns="0" rIns="0" bIns="0" rtlCol="0" anchor="t"/>
          <a:lstStyle/>
          <a:p>
            <a:pPr marL="0" indent="0">
              <a:buNone/>
            </a:pPr>
            <a:r>
              <a:rPr lang="en-US" sz="1950" b="1" dirty="0">
                <a:solidFill>
                  <a:srgbClr val="D3AE84"/>
                </a:solidFill>
                <a:latin typeface="+mj-lt" pitchFamily="34" charset="0"/>
              </a:rPr>
              <a:t>15</a:t>
            </a:r>
            <a:endParaRPr lang="en-US" sz="1950" dirty="0"/>
          </a:p>
        </p:txBody>
      </p:sp>
      <p:sp>
        <p:nvSpPr>
          <p:cNvPr id="52" name="Text 45"/>
          <p:cNvSpPr txBox="1"/>
          <p:nvPr/>
        </p:nvSpPr>
        <p:spPr>
          <a:xfrm>
            <a:off x="8362950" y="2419350"/>
            <a:ext cx="1066800" cy="381000"/>
          </a:xfrm>
          <a:prstGeom prst="rect">
            <a:avLst/>
          </a:prstGeom>
          <a:noFill/>
          <a:ln/>
        </p:spPr>
        <p:txBody>
          <a:bodyPr wrap="square" lIns="0" tIns="0" rIns="0" bIns="0" rtlCol="0" anchor="t"/>
          <a:lstStyle/>
          <a:p>
            <a:pPr marL="0" indent="0">
              <a:lnSpc>
                <a:spcPts val="975"/>
              </a:lnSpc>
              <a:buNone/>
            </a:pPr>
            <a:r>
              <a:rPr lang="en-US" sz="705" dirty="0">
                <a:solidFill>
                  <a:srgbClr val="E8E2DA"/>
                </a:solidFill>
              </a:rPr>
              <a:t>Global offices across the Americas, Europe and Africa</a:t>
            </a:r>
            <a:endParaRPr lang="en-US" sz="705" dirty="0"/>
          </a:p>
        </p:txBody>
      </p:sp>
      <p:sp>
        <p:nvSpPr>
          <p:cNvPr id="53" name="Text 46"/>
          <p:cNvSpPr txBox="1"/>
          <p:nvPr/>
        </p:nvSpPr>
        <p:spPr>
          <a:xfrm>
            <a:off x="7143750" y="2857500"/>
            <a:ext cx="2286000" cy="285750"/>
          </a:xfrm>
          <a:prstGeom prst="rect">
            <a:avLst/>
          </a:prstGeom>
          <a:noFill/>
          <a:ln/>
        </p:spPr>
        <p:txBody>
          <a:bodyPr wrap="square" lIns="0" tIns="0" rIns="0" bIns="0" rtlCol="0" anchor="t"/>
          <a:lstStyle/>
          <a:p>
            <a:pPr marL="0" indent="0">
              <a:buNone/>
            </a:pPr>
            <a:r>
              <a:rPr lang="en-US" sz="1800" b="1" dirty="0">
                <a:solidFill>
                  <a:srgbClr val="D3AE84"/>
                </a:solidFill>
                <a:latin typeface="+mj-lt" pitchFamily="34" charset="0"/>
              </a:rPr>
              <a:t>$50M to $500M</a:t>
            </a:r>
            <a:endParaRPr lang="en-US" sz="1800" dirty="0"/>
          </a:p>
        </p:txBody>
      </p:sp>
      <p:sp>
        <p:nvSpPr>
          <p:cNvPr id="54" name="Text 47"/>
          <p:cNvSpPr txBox="1"/>
          <p:nvPr/>
        </p:nvSpPr>
        <p:spPr>
          <a:xfrm>
            <a:off x="7143750" y="3162300"/>
            <a:ext cx="2286000" cy="152400"/>
          </a:xfrm>
          <a:prstGeom prst="rect">
            <a:avLst/>
          </a:prstGeom>
          <a:noFill/>
          <a:ln/>
        </p:spPr>
        <p:txBody>
          <a:bodyPr wrap="square" lIns="0" tIns="0" rIns="0" bIns="0" rtlCol="0" anchor="t"/>
          <a:lstStyle/>
          <a:p>
            <a:pPr marL="0" indent="0">
              <a:buNone/>
            </a:pPr>
            <a:r>
              <a:rPr lang="en-US" sz="705" dirty="0">
                <a:solidFill>
                  <a:srgbClr val="E8E2DA"/>
                </a:solidFill>
              </a:rPr>
              <a:t>Total enterprise value range the team serves</a:t>
            </a:r>
            <a:endParaRPr lang="en-US" sz="705" dirty="0"/>
          </a:p>
        </p:txBody>
      </p:sp>
      <p:sp>
        <p:nvSpPr>
          <p:cNvPr id="55" name="Shape 48"/>
          <p:cNvSpPr/>
          <p:nvPr/>
        </p:nvSpPr>
        <p:spPr>
          <a:xfrm>
            <a:off x="7143750" y="3448050"/>
            <a:ext cx="2266950" cy="0"/>
          </a:xfrm>
          <a:prstGeom prst="line">
            <a:avLst/>
          </a:prstGeom>
          <a:noFill/>
          <a:ln w="9525">
            <a:solidFill>
              <a:srgbClr val="5B4E40"/>
            </a:solidFill>
            <a:prstDash val="solid"/>
          </a:ln>
        </p:spPr>
        <p:txBody>
          <a:bodyPr/>
          <a:lstStyle/>
          <a:p>
            <a:endParaRPr lang="en-US"/>
          </a:p>
        </p:txBody>
      </p:sp>
      <p:sp>
        <p:nvSpPr>
          <p:cNvPr id="56" name="Text 49"/>
          <p:cNvSpPr txBox="1"/>
          <p:nvPr/>
        </p:nvSpPr>
        <p:spPr>
          <a:xfrm>
            <a:off x="7143750" y="3543300"/>
            <a:ext cx="2266950" cy="133350"/>
          </a:xfrm>
          <a:prstGeom prst="rect">
            <a:avLst/>
          </a:prstGeom>
          <a:noFill/>
          <a:ln/>
        </p:spPr>
        <p:txBody>
          <a:bodyPr wrap="square" lIns="0" tIns="0" rIns="0" bIns="0" rtlCol="0" anchor="t"/>
          <a:lstStyle/>
          <a:p>
            <a:pPr marL="0" indent="0">
              <a:buNone/>
            </a:pPr>
            <a:r>
              <a:rPr lang="en-US" sz="675" b="1" kern="0" spc="200" dirty="0">
                <a:solidFill>
                  <a:srgbClr val="8C6239"/>
                </a:solidFill>
              </a:rPr>
              <a:t>INDUSTRIAL COVERAGE</a:t>
            </a:r>
            <a:endParaRPr lang="en-US" sz="675" dirty="0"/>
          </a:p>
        </p:txBody>
      </p:sp>
      <p:pic>
        <p:nvPicPr>
          <p:cNvPr id="57" name="Image 5" descr="/tmp/claude-0/-home-claude-about/b7ea608c-3502-5da6-986c-4c57d144c940/scratchpad/brief/pptx/icons/factory_lg.png"/>
          <p:cNvPicPr>
            <a:picLocks noChangeAspect="1"/>
          </p:cNvPicPr>
          <p:nvPr/>
        </p:nvPicPr>
        <p:blipFill>
          <a:blip r:embed="rId12"/>
          <a:stretch>
            <a:fillRect/>
          </a:stretch>
        </p:blipFill>
        <p:spPr>
          <a:xfrm>
            <a:off x="7143750" y="3771900"/>
            <a:ext cx="142875" cy="142875"/>
          </a:xfrm>
          <a:prstGeom prst="rect">
            <a:avLst/>
          </a:prstGeom>
        </p:spPr>
      </p:pic>
      <p:sp>
        <p:nvSpPr>
          <p:cNvPr id="58" name="Text 50"/>
          <p:cNvSpPr txBox="1"/>
          <p:nvPr/>
        </p:nvSpPr>
        <p:spPr>
          <a:xfrm>
            <a:off x="7372350" y="3752850"/>
            <a:ext cx="2038350" cy="190500"/>
          </a:xfrm>
          <a:prstGeom prst="rect">
            <a:avLst/>
          </a:prstGeom>
          <a:noFill/>
          <a:ln/>
        </p:spPr>
        <p:txBody>
          <a:bodyPr wrap="square" lIns="0" tIns="0" rIns="0" bIns="0" rtlCol="0" anchor="ctr"/>
          <a:lstStyle/>
          <a:p>
            <a:pPr marL="0" indent="0">
              <a:buNone/>
            </a:pPr>
            <a:r>
              <a:rPr lang="en-US" sz="810" dirty="0">
                <a:solidFill>
                  <a:srgbClr val="F4EFE8"/>
                </a:solidFill>
              </a:rPr>
              <a:t>Manufacturing &amp; Industrial Technology</a:t>
            </a:r>
            <a:endParaRPr lang="en-US" sz="810" dirty="0"/>
          </a:p>
        </p:txBody>
      </p:sp>
      <p:pic>
        <p:nvPicPr>
          <p:cNvPr id="59" name="Image 6" descr="/tmp/claude-0/-home-claude-about/b7ea608c-3502-5da6-986c-4c57d144c940/scratchpad/brief/pptx/icons/boxes_lg.png"/>
          <p:cNvPicPr>
            <a:picLocks noChangeAspect="1"/>
          </p:cNvPicPr>
          <p:nvPr/>
        </p:nvPicPr>
        <p:blipFill>
          <a:blip r:embed="rId13"/>
          <a:stretch>
            <a:fillRect/>
          </a:stretch>
        </p:blipFill>
        <p:spPr>
          <a:xfrm>
            <a:off x="7143750" y="4019550"/>
            <a:ext cx="142875" cy="142875"/>
          </a:xfrm>
          <a:prstGeom prst="rect">
            <a:avLst/>
          </a:prstGeom>
        </p:spPr>
      </p:pic>
      <p:sp>
        <p:nvSpPr>
          <p:cNvPr id="60" name="Text 51"/>
          <p:cNvSpPr txBox="1"/>
          <p:nvPr/>
        </p:nvSpPr>
        <p:spPr>
          <a:xfrm>
            <a:off x="7372350" y="4000500"/>
            <a:ext cx="2038350" cy="190500"/>
          </a:xfrm>
          <a:prstGeom prst="rect">
            <a:avLst/>
          </a:prstGeom>
          <a:noFill/>
          <a:ln/>
        </p:spPr>
        <p:txBody>
          <a:bodyPr wrap="square" lIns="0" tIns="0" rIns="0" bIns="0" rtlCol="0" anchor="ctr"/>
          <a:lstStyle/>
          <a:p>
            <a:pPr marL="0" indent="0">
              <a:buNone/>
            </a:pPr>
            <a:r>
              <a:rPr lang="en-US" sz="810" dirty="0">
                <a:solidFill>
                  <a:srgbClr val="F4EFE8"/>
                </a:solidFill>
              </a:rPr>
              <a:t>Industrial Distribution &amp; Services</a:t>
            </a:r>
            <a:endParaRPr lang="en-US" sz="810" dirty="0"/>
          </a:p>
        </p:txBody>
      </p:sp>
      <p:pic>
        <p:nvPicPr>
          <p:cNvPr id="61" name="Image 7" descr="/tmp/claude-0/-home-claude-about/b7ea608c-3502-5da6-986c-4c57d144c940/scratchpad/brief/pptx/icons/building_lg.png"/>
          <p:cNvPicPr>
            <a:picLocks noChangeAspect="1"/>
          </p:cNvPicPr>
          <p:nvPr/>
        </p:nvPicPr>
        <p:blipFill>
          <a:blip r:embed="rId14"/>
          <a:stretch>
            <a:fillRect/>
          </a:stretch>
        </p:blipFill>
        <p:spPr>
          <a:xfrm>
            <a:off x="7143750" y="4267200"/>
            <a:ext cx="142875" cy="142875"/>
          </a:xfrm>
          <a:prstGeom prst="rect">
            <a:avLst/>
          </a:prstGeom>
        </p:spPr>
      </p:pic>
      <p:sp>
        <p:nvSpPr>
          <p:cNvPr id="62" name="Text 52"/>
          <p:cNvSpPr txBox="1"/>
          <p:nvPr/>
        </p:nvSpPr>
        <p:spPr>
          <a:xfrm>
            <a:off x="7372350" y="4248150"/>
            <a:ext cx="2038350" cy="190500"/>
          </a:xfrm>
          <a:prstGeom prst="rect">
            <a:avLst/>
          </a:prstGeom>
          <a:noFill/>
          <a:ln/>
        </p:spPr>
        <p:txBody>
          <a:bodyPr wrap="square" lIns="0" tIns="0" rIns="0" bIns="0" rtlCol="0" anchor="ctr"/>
          <a:lstStyle/>
          <a:p>
            <a:pPr marL="0" indent="0">
              <a:buNone/>
            </a:pPr>
            <a:r>
              <a:rPr lang="en-US" sz="810" dirty="0">
                <a:solidFill>
                  <a:srgbClr val="F4EFE8"/>
                </a:solidFill>
              </a:rPr>
              <a:t>Building Products &amp; Construction Services</a:t>
            </a:r>
            <a:endParaRPr lang="en-US" sz="810" dirty="0"/>
          </a:p>
        </p:txBody>
      </p:sp>
      <p:pic>
        <p:nvPicPr>
          <p:cNvPr id="63" name="Image 8" descr="/tmp/claude-0/-home-claude-about/b7ea608c-3502-5da6-986c-4c57d144c940/scratchpad/brief/pptx/icons/bolt_lg.png"/>
          <p:cNvPicPr>
            <a:picLocks noChangeAspect="1"/>
          </p:cNvPicPr>
          <p:nvPr/>
        </p:nvPicPr>
        <p:blipFill>
          <a:blip r:embed="rId15"/>
          <a:stretch>
            <a:fillRect/>
          </a:stretch>
        </p:blipFill>
        <p:spPr>
          <a:xfrm>
            <a:off x="7143750" y="4514850"/>
            <a:ext cx="142875" cy="142875"/>
          </a:xfrm>
          <a:prstGeom prst="rect">
            <a:avLst/>
          </a:prstGeom>
        </p:spPr>
      </p:pic>
      <p:sp>
        <p:nvSpPr>
          <p:cNvPr id="64" name="Text 53"/>
          <p:cNvSpPr txBox="1"/>
          <p:nvPr/>
        </p:nvSpPr>
        <p:spPr>
          <a:xfrm>
            <a:off x="7372350" y="4495800"/>
            <a:ext cx="2038350" cy="190500"/>
          </a:xfrm>
          <a:prstGeom prst="rect">
            <a:avLst/>
          </a:prstGeom>
          <a:noFill/>
          <a:ln/>
        </p:spPr>
        <p:txBody>
          <a:bodyPr wrap="square" lIns="0" tIns="0" rIns="0" bIns="0" rtlCol="0" anchor="ctr"/>
          <a:lstStyle/>
          <a:p>
            <a:pPr marL="0" indent="0">
              <a:buNone/>
            </a:pPr>
            <a:r>
              <a:rPr lang="en-US" sz="810" dirty="0">
                <a:solidFill>
                  <a:srgbClr val="F4EFE8"/>
                </a:solidFill>
              </a:rPr>
              <a:t>Energy, Power &amp; Environmental Services</a:t>
            </a:r>
            <a:endParaRPr lang="en-US" sz="810" dirty="0"/>
          </a:p>
        </p:txBody>
      </p:sp>
      <p:pic>
        <p:nvPicPr>
          <p:cNvPr id="65" name="Image 9" descr="/tmp/claude-0/-home-claude-about/b7ea608c-3502-5da6-986c-4c57d144c940/scratchpad/brief/pptx/icons/truck_lg.png"/>
          <p:cNvPicPr>
            <a:picLocks noChangeAspect="1"/>
          </p:cNvPicPr>
          <p:nvPr/>
        </p:nvPicPr>
        <p:blipFill>
          <a:blip r:embed="rId16"/>
          <a:stretch>
            <a:fillRect/>
          </a:stretch>
        </p:blipFill>
        <p:spPr>
          <a:xfrm>
            <a:off x="7143750" y="4762500"/>
            <a:ext cx="142875" cy="142875"/>
          </a:xfrm>
          <a:prstGeom prst="rect">
            <a:avLst/>
          </a:prstGeom>
        </p:spPr>
      </p:pic>
      <p:sp>
        <p:nvSpPr>
          <p:cNvPr id="66" name="Text 54"/>
          <p:cNvSpPr txBox="1"/>
          <p:nvPr/>
        </p:nvSpPr>
        <p:spPr>
          <a:xfrm>
            <a:off x="7372350" y="4743450"/>
            <a:ext cx="2038350" cy="190500"/>
          </a:xfrm>
          <a:prstGeom prst="rect">
            <a:avLst/>
          </a:prstGeom>
          <a:noFill/>
          <a:ln/>
        </p:spPr>
        <p:txBody>
          <a:bodyPr wrap="square" lIns="0" tIns="0" rIns="0" bIns="0" rtlCol="0" anchor="ctr"/>
          <a:lstStyle/>
          <a:p>
            <a:pPr marL="0" indent="0">
              <a:buNone/>
            </a:pPr>
            <a:r>
              <a:rPr lang="en-US" sz="810" dirty="0">
                <a:solidFill>
                  <a:srgbClr val="F4EFE8"/>
                </a:solidFill>
              </a:rPr>
              <a:t>Transportation &amp; Logistics</a:t>
            </a:r>
            <a:endParaRPr lang="en-US" sz="810" dirty="0"/>
          </a:p>
        </p:txBody>
      </p:sp>
      <p:sp>
        <p:nvSpPr>
          <p:cNvPr id="67" name="Shape 55"/>
          <p:cNvSpPr/>
          <p:nvPr/>
        </p:nvSpPr>
        <p:spPr>
          <a:xfrm>
            <a:off x="7143750" y="5086350"/>
            <a:ext cx="2266950" cy="0"/>
          </a:xfrm>
          <a:prstGeom prst="line">
            <a:avLst/>
          </a:prstGeom>
          <a:noFill/>
          <a:ln w="9525">
            <a:solidFill>
              <a:srgbClr val="5B4E40"/>
            </a:solidFill>
            <a:prstDash val="solid"/>
          </a:ln>
        </p:spPr>
        <p:txBody>
          <a:bodyPr/>
          <a:lstStyle/>
          <a:p>
            <a:endParaRPr lang="en-US"/>
          </a:p>
        </p:txBody>
      </p:sp>
      <p:sp>
        <p:nvSpPr>
          <p:cNvPr id="68" name="Text 56"/>
          <p:cNvSpPr txBox="1"/>
          <p:nvPr/>
        </p:nvSpPr>
        <p:spPr>
          <a:xfrm>
            <a:off x="7143750" y="5181600"/>
            <a:ext cx="2266950" cy="133350"/>
          </a:xfrm>
          <a:prstGeom prst="rect">
            <a:avLst/>
          </a:prstGeom>
          <a:noFill/>
          <a:ln/>
        </p:spPr>
        <p:txBody>
          <a:bodyPr wrap="square" lIns="0" tIns="0" rIns="0" bIns="0" rtlCol="0" anchor="t"/>
          <a:lstStyle/>
          <a:p>
            <a:pPr marL="0" indent="0">
              <a:buNone/>
            </a:pPr>
            <a:r>
              <a:rPr lang="en-US" sz="675" b="1" kern="0" spc="200" dirty="0">
                <a:solidFill>
                  <a:srgbClr val="8C6239"/>
                </a:solidFill>
              </a:rPr>
              <a:t>AMERICAS HEADQUARTERS</a:t>
            </a:r>
            <a:endParaRPr lang="en-US" sz="675" dirty="0"/>
          </a:p>
        </p:txBody>
      </p:sp>
      <p:sp>
        <p:nvSpPr>
          <p:cNvPr id="69" name="Text 57"/>
          <p:cNvSpPr txBox="1"/>
          <p:nvPr/>
        </p:nvSpPr>
        <p:spPr>
          <a:xfrm>
            <a:off x="7143750" y="5353050"/>
            <a:ext cx="2266950" cy="457200"/>
          </a:xfrm>
          <a:prstGeom prst="rect">
            <a:avLst/>
          </a:prstGeom>
          <a:noFill/>
          <a:ln/>
        </p:spPr>
        <p:txBody>
          <a:bodyPr wrap="square" lIns="0" tIns="0" rIns="0" bIns="0" rtlCol="0" anchor="t"/>
          <a:lstStyle/>
          <a:p>
            <a:pPr marL="0" indent="0">
              <a:lnSpc>
                <a:spcPts val="1125"/>
              </a:lnSpc>
              <a:buNone/>
            </a:pPr>
            <a:r>
              <a:rPr lang="en-US" sz="780" dirty="0">
                <a:solidFill>
                  <a:srgbClr val="E8E2DA"/>
                </a:solidFill>
              </a:rPr>
              <a:t>4030 West Boy Scout Blvd., Suite 500</a:t>
            </a:r>
            <a:endParaRPr lang="en-US" sz="780" dirty="0"/>
          </a:p>
          <a:p>
            <a:pPr marL="0" indent="0">
              <a:lnSpc>
                <a:spcPts val="1125"/>
              </a:lnSpc>
              <a:buNone/>
            </a:pPr>
            <a:r>
              <a:rPr lang="en-US" sz="780" dirty="0">
                <a:solidFill>
                  <a:srgbClr val="E8E2DA"/>
                </a:solidFill>
              </a:rPr>
              <a:t>Tampa, FL 33607</a:t>
            </a:r>
            <a:endParaRPr lang="en-US" sz="780" dirty="0"/>
          </a:p>
          <a:p>
            <a:pPr marL="0" indent="0">
              <a:lnSpc>
                <a:spcPts val="1125"/>
              </a:lnSpc>
              <a:buNone/>
            </a:pPr>
            <a:r>
              <a:rPr lang="en-US" sz="780" dirty="0">
                <a:solidFill>
                  <a:srgbClr val="E8E2DA"/>
                </a:solidFill>
              </a:rPr>
              <a:t>+1 813 898 2350</a:t>
            </a:r>
            <a:endParaRPr lang="en-US" sz="780" dirty="0"/>
          </a:p>
        </p:txBody>
      </p:sp>
      <p:sp>
        <p:nvSpPr>
          <p:cNvPr id="70" name="Text 58"/>
          <p:cNvSpPr txBox="1"/>
          <p:nvPr/>
        </p:nvSpPr>
        <p:spPr>
          <a:xfrm>
            <a:off x="7143750" y="5886450"/>
            <a:ext cx="2266950" cy="914400"/>
          </a:xfrm>
          <a:prstGeom prst="rect">
            <a:avLst/>
          </a:prstGeom>
          <a:noFill/>
          <a:ln/>
        </p:spPr>
        <p:txBody>
          <a:bodyPr wrap="square" lIns="0" tIns="0" rIns="0" bIns="0" rtlCol="0" anchor="t"/>
          <a:lstStyle/>
          <a:p>
            <a:pPr marL="0" indent="0">
              <a:lnSpc>
                <a:spcPts val="1013"/>
              </a:lnSpc>
              <a:buNone/>
            </a:pPr>
            <a:r>
              <a:rPr lang="en-US" sz="705" b="1" dirty="0">
                <a:solidFill>
                  <a:srgbClr val="E8E2DA"/>
                </a:solidFill>
              </a:rPr>
              <a:t>Europe  </a:t>
            </a:r>
            <a:r>
              <a:rPr lang="en-US" sz="705" dirty="0">
                <a:solidFill>
                  <a:srgbClr val="C9C2B8"/>
                </a:solidFill>
              </a:rPr>
              <a:t>One New Bailey, 4 Stanley St., Manchester, M3 5JL</a:t>
            </a:r>
            <a:endParaRPr lang="en-US" sz="705" dirty="0"/>
          </a:p>
          <a:p>
            <a:pPr marL="0" indent="0">
              <a:lnSpc>
                <a:spcPts val="1013"/>
              </a:lnSpc>
              <a:buNone/>
            </a:pPr>
            <a:r>
              <a:rPr lang="en-US" sz="705" b="1" dirty="0">
                <a:solidFill>
                  <a:srgbClr val="E8E2DA"/>
                </a:solidFill>
              </a:rPr>
              <a:t>Africa  </a:t>
            </a:r>
            <a:r>
              <a:rPr lang="en-US" sz="705" dirty="0">
                <a:solidFill>
                  <a:srgbClr val="C9C2B8"/>
                </a:solidFill>
              </a:rPr>
              <a:t>Airport Office Park, Freight Rd., Cape Town Airport, 7525</a:t>
            </a:r>
            <a:endParaRPr lang="en-US" sz="705" dirty="0"/>
          </a:p>
        </p:txBody>
      </p:sp>
      <p:sp>
        <p:nvSpPr>
          <p:cNvPr id="71"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15</a:t>
            </a:fld>
            <a:endParaRPr lang="en-US"/>
          </a:p>
        </p:txBody>
      </p:sp>
      <p:sp>
        <p:nvSpPr>
          <p:cNvPr id="72" name="Contact Jared Hardin"/>
          <p:cNvSpPr txBox="1"/>
          <p:nvPr/>
        </p:nvSpPr>
        <p:spPr>
          <a:xfrm>
            <a:off x="1508760" y="3593592"/>
            <a:ext cx="1792224" cy="370332"/>
          </a:xfrm>
          <a:prstGeom prst="rect">
            <a:avLst/>
          </a:prstGeom>
          <a:noFill/>
        </p:spPr>
        <p:txBody>
          <a:bodyPr wrap="square" lIns="0" tIns="0" rIns="0" bIns="0" anchor="t">
            <a:spAutoFit/>
          </a:bodyPr>
          <a:lstStyle/>
          <a:p>
            <a:pPr algn="l" indent="0" marL="0">
              <a:lnSpc>
                <a:spcPts val="972"/>
              </a:lnSpc>
              <a:buNone/>
            </a:pPr>
            <a:r>
              <a:rPr lang="en-US" sz="750" dirty="0" u="sng">
                <a:solidFill>
                  <a:srgbClr val="8C6239"/>
                </a:solidFill>
                <a:latin typeface="+mn-lt" pitchFamily="34" charset="0"/>
                <a:hlinkClick r:id="rId5">
                  <a:extLst>
                    <a:ext uri="{A12FA001-AC4F-418D-AE19-62706E023703}">
                      <ahyp:hlinkClr xmlns:ahyp="http://schemas.microsoft.com/office/drawing/2018/hyperlinkcolor" val="tx"/>
                    </a:ext>
                  </a:extLst>
                </a:hlinkClick>
              </a:rPr>
              <a:t>813-771-6675</a:t>
            </a:r>
          </a:p>
          <a:p>
            <a:pPr algn="l" indent="0" marL="0">
              <a:lnSpc>
                <a:spcPts val="972"/>
              </a:lnSpc>
              <a:buNone/>
            </a:pPr>
            <a:r>
              <a:rPr lang="en-US" sz="750" dirty="0" u="sng">
                <a:solidFill>
                  <a:srgbClr val="8C6239"/>
                </a:solidFill>
                <a:latin typeface="+mn-lt" pitchFamily="34" charset="0"/>
                <a:hlinkClick r:id="rId6">
                  <a:extLst>
                    <a:ext uri="{A12FA001-AC4F-418D-AE19-62706E023703}">
                      <ahyp:hlinkClr xmlns:ahyp="http://schemas.microsoft.com/office/drawing/2018/hyperlinkcolor" val="tx"/>
                    </a:ext>
                  </a:extLst>
                </a:hlinkClick>
              </a:rPr>
              <a:t>j.hardin@benchmarkintl.com</a:t>
            </a:r>
          </a:p>
          <a:p>
            <a:pPr algn="l" indent="0" marL="0">
              <a:lnSpc>
                <a:spcPts val="972"/>
              </a:lnSpc>
              <a:buNone/>
            </a:pPr>
            <a:r>
              <a:rPr lang="en-US" sz="750" dirty="0" u="sng">
                <a:solidFill>
                  <a:srgbClr val="8C6239"/>
                </a:solidFill>
                <a:latin typeface="+mn-lt" pitchFamily="34" charset="0"/>
                <a:hlinkClick r:id="rId17">
                  <a:extLst>
                    <a:ext uri="{A12FA001-AC4F-418D-AE19-62706E023703}">
                      <ahyp:hlinkClr xmlns:ahyp="http://schemas.microsoft.com/office/drawing/2018/hyperlinkcolor" val="tx"/>
                    </a:ext>
                  </a:extLst>
                </a:hlinkClick>
              </a:rPr>
              <a:t>LinkedIn</a:t>
            </a:r>
          </a:p>
        </p:txBody>
      </p:sp>
      <p:sp>
        <p:nvSpPr>
          <p:cNvPr id="73" name="Contact Jordan Houtz"/>
          <p:cNvSpPr txBox="1"/>
          <p:nvPr/>
        </p:nvSpPr>
        <p:spPr>
          <a:xfrm>
            <a:off x="4590288" y="3593592"/>
            <a:ext cx="1792224" cy="493776"/>
          </a:xfrm>
          <a:prstGeom prst="rect">
            <a:avLst/>
          </a:prstGeom>
          <a:noFill/>
        </p:spPr>
        <p:txBody>
          <a:bodyPr wrap="square" lIns="0" tIns="0" rIns="0" bIns="0" anchor="t">
            <a:spAutoFit/>
          </a:bodyPr>
          <a:lstStyle/>
          <a:p>
            <a:pPr algn="l" indent="0" marL="0">
              <a:lnSpc>
                <a:spcPts val="972"/>
              </a:lnSpc>
              <a:buNone/>
            </a:pPr>
            <a:r>
              <a:rPr lang="en-US" sz="750" dirty="0">
                <a:solidFill>
                  <a:srgbClr val="6F6A66"/>
                </a:solidFill>
                <a:latin typeface="+mn-lt" pitchFamily="34" charset="0"/>
              </a:rPr>
              <a:t>Head of Middle Market</a:t>
            </a:r>
          </a:p>
          <a:p>
            <a:pPr algn="l" indent="0" marL="0">
              <a:lnSpc>
                <a:spcPts val="972"/>
              </a:lnSpc>
              <a:buNone/>
            </a:pPr>
            <a:r>
              <a:rPr lang="en-US" sz="750" dirty="0" u="sng">
                <a:solidFill>
                  <a:srgbClr val="8C6239"/>
                </a:solidFill>
                <a:latin typeface="+mn-lt" pitchFamily="34" charset="0"/>
                <a:hlinkClick r:id="rId5">
                  <a:extLst>
                    <a:ext uri="{A12FA001-AC4F-418D-AE19-62706E023703}">
                      <ahyp:hlinkClr xmlns:ahyp="http://schemas.microsoft.com/office/drawing/2018/hyperlinkcolor" val="tx"/>
                    </a:ext>
                  </a:extLst>
                </a:hlinkClick>
              </a:rPr>
              <a:t>813-771-6675 (team line)</a:t>
            </a:r>
          </a:p>
          <a:p>
            <a:pPr algn="l" indent="0" marL="0">
              <a:lnSpc>
                <a:spcPts val="972"/>
              </a:lnSpc>
              <a:buNone/>
            </a:pPr>
            <a:r>
              <a:rPr lang="en-US" sz="750" dirty="0" u="sng">
                <a:solidFill>
                  <a:srgbClr val="8C6239"/>
                </a:solidFill>
                <a:latin typeface="+mn-lt" pitchFamily="34" charset="0"/>
                <a:hlinkClick r:id="rId18">
                  <a:extLst>
                    <a:ext uri="{A12FA001-AC4F-418D-AE19-62706E023703}">
                      <ahyp:hlinkClr xmlns:ahyp="http://schemas.microsoft.com/office/drawing/2018/hyperlinkcolor" val="tx"/>
                    </a:ext>
                  </a:extLst>
                </a:hlinkClick>
              </a:rPr>
              <a:t>jhoutz@benchmarkintl.com</a:t>
            </a:r>
          </a:p>
          <a:p>
            <a:pPr algn="l" indent="0" marL="0">
              <a:lnSpc>
                <a:spcPts val="972"/>
              </a:lnSpc>
              <a:buNone/>
            </a:pPr>
            <a:r>
              <a:rPr lang="en-US" sz="750" dirty="0" u="sng">
                <a:solidFill>
                  <a:srgbClr val="8C6239"/>
                </a:solidFill>
                <a:latin typeface="+mn-lt" pitchFamily="34" charset="0"/>
                <a:hlinkClick r:id="rId19">
                  <a:extLst>
                    <a:ext uri="{A12FA001-AC4F-418D-AE19-62706E023703}">
                      <ahyp:hlinkClr xmlns:ahyp="http://schemas.microsoft.com/office/drawing/2018/hyperlinkcolor" val="tx"/>
                    </a:ext>
                  </a:extLst>
                </a:hlinkClick>
              </a:rPr>
              <a:t>LinkedIn</a:t>
            </a:r>
          </a:p>
        </p:txBody>
      </p:sp>
      <p:sp>
        <p:nvSpPr>
          <p:cNvPr id="74" name="Contact Alex Zykov"/>
          <p:cNvSpPr txBox="1"/>
          <p:nvPr/>
        </p:nvSpPr>
        <p:spPr>
          <a:xfrm>
            <a:off x="1508760" y="4754880"/>
            <a:ext cx="1792224" cy="370332"/>
          </a:xfrm>
          <a:prstGeom prst="rect">
            <a:avLst/>
          </a:prstGeom>
          <a:noFill/>
        </p:spPr>
        <p:txBody>
          <a:bodyPr wrap="square" lIns="0" tIns="0" rIns="0" bIns="0" anchor="t">
            <a:spAutoFit/>
          </a:bodyPr>
          <a:lstStyle/>
          <a:p>
            <a:pPr algn="l" indent="0" marL="0">
              <a:lnSpc>
                <a:spcPts val="972"/>
              </a:lnSpc>
              <a:buNone/>
            </a:pPr>
            <a:r>
              <a:rPr lang="en-US" sz="750" dirty="0" u="sng">
                <a:solidFill>
                  <a:srgbClr val="8C6239"/>
                </a:solidFill>
                <a:latin typeface="+mn-lt" pitchFamily="34" charset="0"/>
                <a:hlinkClick r:id="rId20">
                  <a:extLst>
                    <a:ext uri="{A12FA001-AC4F-418D-AE19-62706E023703}">
                      <ahyp:hlinkClr xmlns:ahyp="http://schemas.microsoft.com/office/drawing/2018/hyperlinkcolor" val="tx"/>
                    </a:ext>
                  </a:extLst>
                </a:hlinkClick>
              </a:rPr>
              <a:t>813-898-2372</a:t>
            </a:r>
          </a:p>
          <a:p>
            <a:pPr algn="l" indent="0" marL="0">
              <a:lnSpc>
                <a:spcPts val="972"/>
              </a:lnSpc>
              <a:buNone/>
            </a:pPr>
            <a:r>
              <a:rPr lang="en-US" sz="750" dirty="0" u="sng">
                <a:solidFill>
                  <a:srgbClr val="8C6239"/>
                </a:solidFill>
                <a:latin typeface="+mn-lt" pitchFamily="34" charset="0"/>
                <a:hlinkClick r:id="rId21">
                  <a:extLst>
                    <a:ext uri="{A12FA001-AC4F-418D-AE19-62706E023703}">
                      <ahyp:hlinkClr xmlns:ahyp="http://schemas.microsoft.com/office/drawing/2018/hyperlinkcolor" val="tx"/>
                    </a:ext>
                  </a:extLst>
                </a:hlinkClick>
              </a:rPr>
              <a:t>azykov@benchmarkintl.com</a:t>
            </a:r>
          </a:p>
          <a:p>
            <a:pPr algn="l" indent="0" marL="0">
              <a:lnSpc>
                <a:spcPts val="972"/>
              </a:lnSpc>
              <a:buNone/>
            </a:pPr>
            <a:r>
              <a:rPr lang="en-US" sz="750" dirty="0" u="sng">
                <a:solidFill>
                  <a:srgbClr val="8C6239"/>
                </a:solidFill>
                <a:latin typeface="+mn-lt" pitchFamily="34" charset="0"/>
                <a:hlinkClick r:id="rId22">
                  <a:extLst>
                    <a:ext uri="{A12FA001-AC4F-418D-AE19-62706E023703}">
                      <ahyp:hlinkClr xmlns:ahyp="http://schemas.microsoft.com/office/drawing/2018/hyperlinkcolor" val="tx"/>
                    </a:ext>
                  </a:extLst>
                </a:hlinkClick>
              </a:rPr>
              <a:t>LinkedIn</a:t>
            </a:r>
          </a:p>
        </p:txBody>
      </p:sp>
      <p:sp>
        <p:nvSpPr>
          <p:cNvPr id="75" name="Contact Shannon Hess"/>
          <p:cNvSpPr txBox="1"/>
          <p:nvPr/>
        </p:nvSpPr>
        <p:spPr>
          <a:xfrm>
            <a:off x="4590288" y="4754880"/>
            <a:ext cx="1792224" cy="370332"/>
          </a:xfrm>
          <a:prstGeom prst="rect">
            <a:avLst/>
          </a:prstGeom>
          <a:noFill/>
        </p:spPr>
        <p:txBody>
          <a:bodyPr wrap="square" lIns="0" tIns="0" rIns="0" bIns="0" anchor="t">
            <a:spAutoFit/>
          </a:bodyPr>
          <a:lstStyle/>
          <a:p>
            <a:pPr algn="l" indent="0" marL="0">
              <a:lnSpc>
                <a:spcPts val="972"/>
              </a:lnSpc>
              <a:buNone/>
            </a:pPr>
            <a:r>
              <a:rPr lang="en-US" sz="750" dirty="0" u="sng">
                <a:solidFill>
                  <a:srgbClr val="8C6239"/>
                </a:solidFill>
                <a:latin typeface="+mn-lt" pitchFamily="34" charset="0"/>
                <a:hlinkClick r:id="rId23">
                  <a:extLst>
                    <a:ext uri="{A12FA001-AC4F-418D-AE19-62706E023703}">
                      <ahyp:hlinkClr xmlns:ahyp="http://schemas.microsoft.com/office/drawing/2018/hyperlinkcolor" val="tx"/>
                    </a:ext>
                  </a:extLst>
                </a:hlinkClick>
              </a:rPr>
              <a:t>813-898-2397</a:t>
            </a:r>
          </a:p>
          <a:p>
            <a:pPr algn="l" indent="0" marL="0">
              <a:lnSpc>
                <a:spcPts val="972"/>
              </a:lnSpc>
              <a:buNone/>
            </a:pPr>
            <a:r>
              <a:rPr lang="en-US" sz="750" dirty="0" u="sng">
                <a:solidFill>
                  <a:srgbClr val="8C6239"/>
                </a:solidFill>
                <a:latin typeface="+mn-lt" pitchFamily="34" charset="0"/>
                <a:hlinkClick r:id="rId24">
                  <a:extLst>
                    <a:ext uri="{A12FA001-AC4F-418D-AE19-62706E023703}">
                      <ahyp:hlinkClr xmlns:ahyp="http://schemas.microsoft.com/office/drawing/2018/hyperlinkcolor" val="tx"/>
                    </a:ext>
                  </a:extLst>
                </a:hlinkClick>
              </a:rPr>
              <a:t>hess@benchmarkintl.com</a:t>
            </a:r>
          </a:p>
          <a:p>
            <a:pPr algn="l" indent="0" marL="0">
              <a:lnSpc>
                <a:spcPts val="972"/>
              </a:lnSpc>
              <a:buNone/>
            </a:pPr>
            <a:r>
              <a:rPr lang="en-US" sz="750" dirty="0" u="sng">
                <a:solidFill>
                  <a:srgbClr val="8C6239"/>
                </a:solidFill>
                <a:latin typeface="+mn-lt" pitchFamily="34" charset="0"/>
                <a:hlinkClick r:id="rId25">
                  <a:extLst>
                    <a:ext uri="{A12FA001-AC4F-418D-AE19-62706E023703}">
                      <ahyp:hlinkClr xmlns:ahyp="http://schemas.microsoft.com/office/drawing/2018/hyperlinkcolor" val="tx"/>
                    </a:ext>
                  </a:extLst>
                </a:hlinkClick>
              </a:rPr>
              <a:t>LinkedIn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Important Disclosures</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These disclosures apply to this report and to the Middle Market sector reports.</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Information in this report is as of October 7, 2026 unless stated otherwise.</a:t>
            </a:r>
            <a:endParaRPr lang="en-US" sz="675" dirty="0"/>
          </a:p>
        </p:txBody>
      </p:sp>
      <p:sp>
        <p:nvSpPr>
          <p:cNvPr id="5" name="Text 3"/>
          <p:cNvSpPr txBox="1"/>
          <p:nvPr/>
        </p:nvSpPr>
        <p:spPr>
          <a:xfrm>
            <a:off x="419100" y="1257300"/>
            <a:ext cx="4438650" cy="5657850"/>
          </a:xfrm>
          <a:prstGeom prst="rect">
            <a:avLst/>
          </a:prstGeom>
          <a:noFill/>
          <a:ln/>
        </p:spPr>
        <p:txBody>
          <a:bodyPr wrap="square" lIns="0" tIns="0" rIns="0" bIns="0" rtlCol="0" anchor="t"/>
          <a:lstStyle/>
          <a:p>
            <a:pPr marL="0" indent="0">
              <a:lnSpc>
                <a:spcPts val="1290"/>
              </a:lnSpc>
              <a:spcAft>
                <a:spcPts val="800"/>
              </a:spcAft>
              <a:buNone/>
            </a:pPr>
            <a:r>
              <a:rPr lang="en-US" sz="855" dirty="0">
                <a:solidFill>
                  <a:srgbClr val="333231"/>
                </a:solidFill>
              </a:rPr>
              <a:t>“Benchmark International” refers to the Benchmark International group of companies, which provide merger and acquisition advisory services to business owners through offices around the world. Middle Market is part of Benchmark International. Any reference to Benchmark International in this material includes its affiliated companies, as the context requires.</a:t>
            </a:r>
            <a:endParaRPr lang="en-US" sz="855" dirty="0"/>
          </a:p>
          <a:p>
            <a:pPr marL="0" indent="0">
              <a:lnSpc>
                <a:spcPts val="1290"/>
              </a:lnSpc>
              <a:spcAft>
                <a:spcPts val="800"/>
              </a:spcAft>
              <a:buNone/>
            </a:pPr>
            <a:r>
              <a:rPr lang="en-US" sz="855" dirty="0">
                <a:solidFill>
                  <a:srgbClr val="333231"/>
                </a:solidFill>
              </a:rPr>
              <a:t>Benchmark International and its affiliates may have had, may currently have, or may in the future have business relationships with companies named in this material, with potential parties to a transaction and their related persons, or with their competitors, customers or suppliers. When Benchmark International is engaged to provide advisory services in a transaction, it acts only for its client in connection with that transaction.</a:t>
            </a:r>
            <a:endParaRPr lang="en-US" sz="855" dirty="0"/>
          </a:p>
          <a:p>
            <a:pPr marL="0" indent="0">
              <a:lnSpc>
                <a:spcPts val="1290"/>
              </a:lnSpc>
              <a:spcAft>
                <a:spcPts val="800"/>
              </a:spcAft>
              <a:buNone/>
            </a:pPr>
            <a:r>
              <a:rPr lang="en-US" sz="855" dirty="0">
                <a:solidFill>
                  <a:srgbClr val="333231"/>
                </a:solidFill>
              </a:rPr>
              <a:t>The distribution of this material in certain jurisdictions may be restricted by law, and accordingly, recipients of this material represent that they are able to receive it without contravention of any registration requirement or other legal restrictions in the jurisdictions in which they reside or in which they conduct business.</a:t>
            </a:r>
            <a:endParaRPr lang="en-US" sz="855" dirty="0"/>
          </a:p>
        </p:txBody>
      </p:sp>
      <p:sp>
        <p:nvSpPr>
          <p:cNvPr id="6" name="Text 4"/>
          <p:cNvSpPr txBox="1"/>
          <p:nvPr/>
        </p:nvSpPr>
        <p:spPr>
          <a:xfrm>
            <a:off x="5200650" y="1257300"/>
            <a:ext cx="4438650" cy="5657850"/>
          </a:xfrm>
          <a:prstGeom prst="rect">
            <a:avLst/>
          </a:prstGeom>
          <a:noFill/>
          <a:ln/>
        </p:spPr>
        <p:txBody>
          <a:bodyPr wrap="square" lIns="0" tIns="0" rIns="0" bIns="0" rtlCol="0" anchor="t"/>
          <a:lstStyle/>
          <a:p>
            <a:pPr marL="0" indent="0">
              <a:lnSpc>
                <a:spcPts val="1290"/>
              </a:lnSpc>
              <a:spcAft>
                <a:spcPts val="800"/>
              </a:spcAft>
              <a:buNone/>
            </a:pPr>
            <a:r>
              <a:rPr lang="en-US" sz="855" dirty="0">
                <a:solidFill>
                  <a:srgbClr val="333231"/>
                </a:solidFill>
              </a:rPr>
              <a:t>This material does not contain all the information needed to assess any transaction. You must conduct your own investigations and analyses. Benchmark International does not provide accounting, tax, investment, regulatory or legal advice to anyone. This material is for discussion and informational purposes only and is not a recommendation, offer or solicitation for the purchase or sale of any security or an invitation or inducement to engage in any transaction or investment activity. Benchmark International obtained the information in this material from public filings, company announcements, published reports and other third-party sources, together with its own transaction experience. Benchmark International has not independently verified such information, the information is current only as of the date stated, and no obligation is undertaken to provide updated or additional information. Transaction values, multiples and other figures are as publicly reported, and the price of any private company depends on that business. No representation or warranty, expressed or implied, is made in relation to the fairness, accuracy, correctness or completeness of the information, opinions or conclusions expressed herein. All forward-looking statements herein involve assumptions and elements of subjective judgment and analysis and are not facts. Past transactions are not indicative of future results, and nothing in this material guarantees future results or performance.</a:t>
            </a:r>
            <a:endParaRPr lang="en-US" sz="855" dirty="0"/>
          </a:p>
          <a:p>
            <a:pPr marL="0" indent="0">
              <a:lnSpc>
                <a:spcPts val="1290"/>
              </a:lnSpc>
              <a:spcAft>
                <a:spcPts val="800"/>
              </a:spcAft>
              <a:buNone/>
            </a:pPr>
            <a:r>
              <a:rPr lang="en-US" sz="855" dirty="0">
                <a:solidFill>
                  <a:srgbClr val="333231"/>
                </a:solidFill>
              </a:rPr>
              <a:t>Company names, logos and trademarks referenced in this material are the property of their respective owners and are used for identification only. Their use does not imply any affiliation with or endorsement by those owners.</a:t>
            </a:r>
            <a:endParaRPr lang="en-US" sz="855" dirty="0"/>
          </a:p>
          <a:p>
            <a:pPr marL="0" indent="0">
              <a:lnSpc>
                <a:spcPts val="1290"/>
              </a:lnSpc>
              <a:spcAft>
                <a:spcPts val="800"/>
              </a:spcAft>
              <a:buNone/>
            </a:pPr>
            <a:r>
              <a:rPr lang="en-US" sz="855" dirty="0">
                <a:solidFill>
                  <a:srgbClr val="333231"/>
                </a:solidFill>
              </a:rPr>
              <a:t>This material is only being distributed to, and only made available to, and directed at: (a) persons who are outside the United Kingdom; (b) persons in the United Kingdom who have professional experience in matters relating to investments falling within Article 19(5) of the UK Financial Services and Markets Act 2000 (Financial Promotion) Order 2005, as amended (the “Order”); (c) high net worth entities and other persons to whom it may otherwise lawfully be communicated falling within Article 49(2)(a) to (d) of the Order; or (d) any other person to whom this material may otherwise lawfully be communicated or caused to be communicated (all such persons in (b) to (d) together being referred to as “Relevant Persons”). This material must not be acted on or relied on by persons in the United Kingdom who are not Relevant Persons. In the United Kingdom, any investment or investment activity to which this material relates is only available to, and will be engaged with, Relevant Persons.</a:t>
            </a:r>
            <a:endParaRPr lang="en-US" sz="855" dirty="0"/>
          </a:p>
        </p:txBody>
      </p:sp>
      <p:sp>
        <p:nvSpPr>
          <p:cNvPr id="25"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419100" y="514350"/>
            <a:ext cx="9220200" cy="361950"/>
          </a:xfrm>
          <a:prstGeom prst="rect">
            <a:avLst/>
          </a:prstGeom>
          <a:noFill/>
          <a:ln/>
        </p:spPr>
        <p:txBody>
          <a:bodyPr wrap="square" lIns="0" tIns="0" rIns="0" bIns="0" rtlCol="0" anchor="t"/>
          <a:lstStyle/>
          <a:p>
            <a:pPr marL="0" indent="0" algn="l">
              <a:buNone/>
            </a:pPr>
            <a:r>
              <a:rPr lang="en-US" sz="2025" b="1" dirty="0">
                <a:solidFill>
                  <a:srgbClr val="1B1A1A"/>
                </a:solidFill>
              </a:rPr>
              <a:t>Sources</a:t>
            </a:r>
            <a:endParaRPr lang="en-US" sz="2025" dirty="0"/>
          </a:p>
        </p:txBody>
      </p:sp>
      <p:sp>
        <p:nvSpPr>
          <p:cNvPr id="3" name="Text 5"/>
          <p:cNvSpPr>
            <a:spLocks noGrp="1"/>
          </p:cNvSpPr>
          <p:nvPr>
            <p:ph type="body" idx="107" hasCustomPrompt="1"/>
          </p:nvPr>
        </p:nvSpPr>
        <p:spPr>
          <a:xfrm>
            <a:off x="419100" y="895350"/>
            <a:ext cx="9220200" cy="209550"/>
          </a:xfrm>
          <a:prstGeom prst="rect">
            <a:avLst/>
          </a:prstGeom>
          <a:noFill/>
          <a:ln/>
        </p:spPr>
        <p:txBody>
          <a:bodyPr wrap="square" lIns="0" tIns="0" rIns="0" bIns="0" rtlCol="0" anchor="t"/>
          <a:lstStyle/>
          <a:p>
            <a:pPr marL="0" indent="0">
              <a:buNone/>
            </a:pPr>
            <a:r>
              <a:rPr lang="en-US" sz="938" dirty="0">
                <a:solidFill>
                  <a:srgbClr val="6F6A66"/>
                </a:solidFill>
              </a:rPr>
              <a:t>Every figure in this report links to the page it came from, and the same links are collected here by section.</a:t>
            </a:r>
            <a:endParaRPr lang="en-US" sz="938" dirty="0"/>
          </a:p>
        </p:txBody>
      </p:sp>
      <p:sp>
        <p:nvSpPr>
          <p:cNvPr id="4" name="Text 5"/>
          <p:cNvSpPr>
            <a:spLocks noGrp="1"/>
          </p:cNvSpPr>
          <p:nvPr>
            <p:ph type="body" idx="108" hasCustomPrompt="1"/>
          </p:nvPr>
        </p:nvSpPr>
        <p:spPr>
          <a:xfrm>
            <a:off x="1543050" y="7096125"/>
            <a:ext cx="7620000" cy="285750"/>
          </a:xfrm>
          <a:prstGeom prst="rect">
            <a:avLst/>
          </a:prstGeom>
          <a:noFill/>
          <a:ln/>
        </p:spPr>
        <p:txBody>
          <a:bodyPr wrap="square" lIns="0" tIns="0" rIns="0" bIns="0" rtlCol="0" anchor="t"/>
          <a:lstStyle/>
          <a:p>
            <a:pPr marL="0" indent="0">
              <a:buNone/>
            </a:pPr>
            <a:r>
              <a:rPr lang="en-US" sz="675" dirty="0">
                <a:solidFill>
                  <a:srgbClr val="6F6A66"/>
                </a:solidFill>
              </a:rPr>
              <a:t>Figures were gathered from these sources between October 2 and October 7, 2026. The full Q4 2026 Industrial report carries the longer source list behind the five segment chapters.</a:t>
            </a:r>
            <a:endParaRPr lang="en-US" sz="675" dirty="0"/>
          </a:p>
        </p:txBody>
      </p:sp>
      <p:sp>
        <p:nvSpPr>
          <p:cNvPr id="5" name="Text 3"/>
          <p:cNvSpPr txBox="1"/>
          <p:nvPr/>
        </p:nvSpPr>
        <p:spPr>
          <a:xfrm>
            <a:off x="419100" y="1257300"/>
            <a:ext cx="2908300" cy="5657850"/>
          </a:xfrm>
          <a:prstGeom prst="rect">
            <a:avLst/>
          </a:prstGeom>
          <a:noFill/>
          <a:ln/>
        </p:spPr>
        <p:txBody>
          <a:bodyPr wrap="square" lIns="0" tIns="0" rIns="0" bIns="0" rtlCol="0" anchor="t"/>
          <a:lstStyle/>
          <a:p>
            <a:pPr marL="0" indent="0">
              <a:lnSpc>
                <a:spcPts val="990"/>
              </a:lnSpc>
              <a:spcAft>
                <a:spcPts val="300"/>
              </a:spcAft>
              <a:buNone/>
            </a:pPr>
            <a:r>
              <a:rPr lang="en-US" sz="638" b="1" kern="0" spc="120" dirty="0">
                <a:solidFill>
                  <a:srgbClr val="8C6239"/>
                </a:solidFill>
              </a:rPr>
              <a:t>INSIGHTS (PAGES 3 TO 5)</a:t>
            </a:r>
            <a:endParaRPr lang="en-US" sz="720" dirty="0"/>
          </a:p>
          <a:p>
            <a:pPr marL="0" indent="0">
              <a:lnSpc>
                <a:spcPts val="990"/>
              </a:lnSpc>
              <a:buNone/>
            </a:pPr>
            <a:r>
              <a:rPr lang="en-US" sz="720" u="sng" dirty="0">
                <a:solidFill>
                  <a:srgbClr val="8C6239"/>
                </a:solidFill>
                <a:hlinkClick r:id="rId3" tooltip="https://www.prnewswire.com/news-releases/manufacturing-pmi-at-54-5-september-2026-ism-manufacturing-pmi-report-302894520.html">
                  <a:extLst>
                    <a:ext uri="{A12FA001-AC4F-418D-AE19-62706E023703}">
                      <ahyp:hlinkClr xmlns:ahyp="http://schemas.microsoft.com/office/drawing/2018/hyperlinkcolor" val="tx"/>
                    </a:ext>
                  </a:extLst>
                </a:hlinkClick>
              </a:rPr>
              <a:t>ISM</a:t>
            </a:r>
            <a:r>
              <a:rPr lang="en-US" sz="720" dirty="0">
                <a:solidFill>
                  <a:srgbClr val="6F6A66"/>
                </a:solidFill>
              </a:rPr>
              <a:t>  prnewswire.com</a:t>
            </a:r>
            <a:endParaRPr lang="en-US" sz="720" dirty="0"/>
          </a:p>
          <a:p>
            <a:pPr marL="0" indent="0">
              <a:lnSpc>
                <a:spcPts val="990"/>
              </a:lnSpc>
              <a:buNone/>
            </a:pPr>
            <a:r>
              <a:rPr lang="en-US" sz="720" u="sng" dirty="0">
                <a:solidFill>
                  <a:srgbClr val="8C6239"/>
                </a:solidFill>
                <a:hlinkClick r:id="rId4" tooltip="https://www.mdm.com/news/research/economic-trends/u-s-metalworking-machinery-orders-slide-in-july/">
                  <a:extLst>
                    <a:ext uri="{A12FA001-AC4F-418D-AE19-62706E023703}">
                      <ahyp:hlinkClr xmlns:ahyp="http://schemas.microsoft.com/office/drawing/2018/hyperlinkcolor" val="tx"/>
                    </a:ext>
                  </a:extLst>
                </a:hlinkClick>
              </a:rPr>
              <a:t>AMT data reported by MDM</a:t>
            </a:r>
            <a:r>
              <a:rPr lang="en-US" sz="720" dirty="0">
                <a:solidFill>
                  <a:srgbClr val="6F6A66"/>
                </a:solidFill>
              </a:rPr>
              <a:t>  mdm.com</a:t>
            </a:r>
            <a:endParaRPr lang="en-US" sz="720" dirty="0"/>
          </a:p>
          <a:p>
            <a:pPr marL="0" indent="0">
              <a:lnSpc>
                <a:spcPts val="990"/>
              </a:lnSpc>
              <a:buNone/>
            </a:pPr>
            <a:r>
              <a:rPr lang="en-US" sz="720" u="sng" dirty="0">
                <a:solidFill>
                  <a:srgbClr val="8C6239"/>
                </a:solidFill>
                <a:hlinkClick r:id="rId5" tooltip="https://www.federalreserve.gov/releases/g17/current/default.htm">
                  <a:extLst>
                    <a:ext uri="{A12FA001-AC4F-418D-AE19-62706E023703}">
                      <ahyp:hlinkClr xmlns:ahyp="http://schemas.microsoft.com/office/drawing/2018/hyperlinkcolor" val="tx"/>
                    </a:ext>
                  </a:extLst>
                </a:hlinkClick>
              </a:rPr>
              <a:t>Federal Reserve G.17</a:t>
            </a:r>
            <a:r>
              <a:rPr lang="en-US" sz="720" dirty="0">
                <a:solidFill>
                  <a:srgbClr val="6F6A66"/>
                </a:solidFill>
              </a:rPr>
              <a:t>  federalreserve.gov</a:t>
            </a:r>
            <a:endParaRPr lang="en-US" sz="720" dirty="0"/>
          </a:p>
          <a:p>
            <a:pPr marL="0" indent="0">
              <a:lnSpc>
                <a:spcPts val="990"/>
              </a:lnSpc>
              <a:buNone/>
            </a:pPr>
            <a:r>
              <a:rPr lang="en-US" sz="720" u="sng" dirty="0">
                <a:solidFill>
                  <a:srgbClr val="8C6239"/>
                </a:solidFill>
                <a:hlinkClick r:id="rId6" tooltip="https://pitchbook.brightspotcdn.com/40/42/bbeb88094080abaea3d7c87530b8/q2-2026-us-pe-breakdown.pdf">
                  <a:extLst>
                    <a:ext uri="{A12FA001-AC4F-418D-AE19-62706E023703}">
                      <ahyp:hlinkClr xmlns:ahyp="http://schemas.microsoft.com/office/drawing/2018/hyperlinkcolor" val="tx"/>
                    </a:ext>
                  </a:extLst>
                </a:hlinkClick>
              </a:rPr>
              <a:t>PitchBook</a:t>
            </a:r>
            <a:r>
              <a:rPr lang="en-US" sz="720" dirty="0">
                <a:solidFill>
                  <a:srgbClr val="6F6A66"/>
                </a:solidFill>
              </a:rPr>
              <a:t>  pitchbook.brightspotcdn.com</a:t>
            </a:r>
            <a:endParaRPr lang="en-US" sz="720" dirty="0"/>
          </a:p>
          <a:p>
            <a:pPr marL="0" indent="0">
              <a:lnSpc>
                <a:spcPts val="990"/>
              </a:lnSpc>
              <a:buNone/>
            </a:pPr>
            <a:r>
              <a:rPr lang="en-US" sz="720" u="sng" dirty="0">
                <a:solidFill>
                  <a:srgbClr val="8C6239"/>
                </a:solidFill>
                <a:hlinkClick r:id="rId7" tooltip="https://pyebarkerfs.com/?p=22122">
                  <a:extLst>
                    <a:ext uri="{A12FA001-AC4F-418D-AE19-62706E023703}">
                      <ahyp:hlinkClr xmlns:ahyp="http://schemas.microsoft.com/office/drawing/2018/hyperlinkcolor" val="tx"/>
                    </a:ext>
                  </a:extLst>
                </a:hlinkClick>
              </a:rPr>
              <a:t>Pye-Barker</a:t>
            </a:r>
            <a:r>
              <a:rPr lang="en-US" sz="720" dirty="0">
                <a:solidFill>
                  <a:srgbClr val="6F6A66"/>
                </a:solidFill>
              </a:rPr>
              <a:t>  pyebarkerfs.com</a:t>
            </a:r>
            <a:endParaRPr lang="en-US" sz="720" dirty="0"/>
          </a:p>
          <a:p>
            <a:pPr marL="0" indent="0">
              <a:lnSpc>
                <a:spcPts val="990"/>
              </a:lnSpc>
              <a:buNone/>
            </a:pPr>
            <a:r>
              <a:rPr lang="en-US" sz="720" u="sng" dirty="0">
                <a:solidFill>
                  <a:srgbClr val="8C6239"/>
                </a:solidFill>
                <a:hlinkClick r:id="rId8" tooltip="https://www.sec.gov/Archives/edgar/data/1035983/000110465926086255/fix-20260723xex99d1.htm">
                  <a:extLst>
                    <a:ext uri="{A12FA001-AC4F-418D-AE19-62706E023703}">
                      <ahyp:hlinkClr xmlns:ahyp="http://schemas.microsoft.com/office/drawing/2018/hyperlinkcolor" val="tx"/>
                    </a:ext>
                  </a:extLst>
                </a:hlinkClick>
              </a:rPr>
              <a:t>Comfort Systems USA</a:t>
            </a:r>
            <a:r>
              <a:rPr lang="en-US" sz="720" dirty="0">
                <a:solidFill>
                  <a:srgbClr val="6F6A66"/>
                </a:solidFill>
              </a:rPr>
              <a:t>  sec.gov</a:t>
            </a:r>
            <a:endParaRPr lang="en-US" sz="720" dirty="0"/>
          </a:p>
          <a:p>
            <a:pPr marL="0" indent="0">
              <a:lnSpc>
                <a:spcPts val="990"/>
              </a:lnSpc>
              <a:buNone/>
            </a:pPr>
            <a:r>
              <a:rPr lang="en-US" sz="720" u="sng" dirty="0">
                <a:solidFill>
                  <a:srgbClr val="8C6239"/>
                </a:solidFill>
                <a:hlinkClick r:id="rId9" tooltip="https://aashtojournal.transportation.org/?p=41360">
                  <a:extLst>
                    <a:ext uri="{A12FA001-AC4F-418D-AE19-62706E023703}">
                      <ahyp:hlinkClr xmlns:ahyp="http://schemas.microsoft.com/office/drawing/2018/hyperlinkcolor" val="tx"/>
                    </a:ext>
                  </a:extLst>
                </a:hlinkClick>
              </a:rPr>
              <a:t>AASHTO Journal</a:t>
            </a:r>
            <a:r>
              <a:rPr lang="en-US" sz="720" dirty="0">
                <a:solidFill>
                  <a:srgbClr val="6F6A66"/>
                </a:solidFill>
              </a:rPr>
              <a:t>  aashtojournal.transportation.org</a:t>
            </a:r>
            <a:endParaRPr lang="en-US" sz="720" dirty="0"/>
          </a:p>
          <a:p>
            <a:pPr marL="0" indent="0">
              <a:lnSpc>
                <a:spcPts val="990"/>
              </a:lnSpc>
              <a:buNone/>
            </a:pPr>
            <a:r>
              <a:rPr lang="en-US" sz="720" u="sng" dirty="0">
                <a:solidFill>
                  <a:srgbClr val="8C6239"/>
                </a:solidFill>
                <a:hlinkClick r:id="rId10" tooltip="https://www.businesswire.com/news/home/20251210396417/en/APi-Group-Announces-Acquisition-of-CertaSite-and-Provides-Full-Year-2025-Update">
                  <a:extLst>
                    <a:ext uri="{A12FA001-AC4F-418D-AE19-62706E023703}">
                      <ahyp:hlinkClr xmlns:ahyp="http://schemas.microsoft.com/office/drawing/2018/hyperlinkcolor" val="tx"/>
                    </a:ext>
                  </a:extLst>
                </a:hlinkClick>
              </a:rPr>
              <a:t>APi Group</a:t>
            </a:r>
            <a:r>
              <a:rPr lang="en-US" sz="720" dirty="0">
                <a:solidFill>
                  <a:srgbClr val="6F6A66"/>
                </a:solidFill>
              </a:rPr>
              <a:t>  businesswire.com</a:t>
            </a:r>
            <a:endParaRPr lang="en-US" sz="720" dirty="0"/>
          </a:p>
          <a:p>
            <a:pPr marL="0" indent="0">
              <a:lnSpc>
                <a:spcPts val="990"/>
              </a:lnSpc>
              <a:buNone/>
            </a:pPr>
            <a:r>
              <a:rPr lang="en-US" sz="720" u="sng" dirty="0">
                <a:solidFill>
                  <a:srgbClr val="8C6239"/>
                </a:solidFill>
                <a:hlinkClick r:id="rId11" tooltip="https://www.transcat.com/news/post/transcat-reports-strong-fiscal-first-quarter-2027-financial-results">
                  <a:extLst>
                    <a:ext uri="{A12FA001-AC4F-418D-AE19-62706E023703}">
                      <ahyp:hlinkClr xmlns:ahyp="http://schemas.microsoft.com/office/drawing/2018/hyperlinkcolor" val="tx"/>
                    </a:ext>
                  </a:extLst>
                </a:hlinkClick>
              </a:rPr>
              <a:t>Transcat</a:t>
            </a:r>
            <a:r>
              <a:rPr lang="en-US" sz="720" dirty="0">
                <a:solidFill>
                  <a:srgbClr val="6F6A66"/>
                </a:solidFill>
              </a:rPr>
              <a:t>  transcat.com</a:t>
            </a:r>
            <a:endParaRPr lang="en-US" sz="720" dirty="0"/>
          </a:p>
          <a:p>
            <a:pPr marL="0" indent="0">
              <a:lnSpc>
                <a:spcPts val="990"/>
              </a:lnSpc>
              <a:buNone/>
            </a:pPr>
            <a:r>
              <a:rPr lang="en-US" sz="720" u="sng" dirty="0">
                <a:solidFill>
                  <a:srgbClr val="8C6239"/>
                </a:solidFill>
                <a:hlinkClick r:id="rId12" tooltip="https://www.globalbankingandfinance.com/global-m-deal-rush-fades-third-quarter-rising-borrowing/">
                  <a:extLst>
                    <a:ext uri="{A12FA001-AC4F-418D-AE19-62706E023703}">
                      <ahyp:hlinkClr xmlns:ahyp="http://schemas.microsoft.com/office/drawing/2018/hyperlinkcolor" val="tx"/>
                    </a:ext>
                  </a:extLst>
                </a:hlinkClick>
              </a:rPr>
              <a:t>LSEG data reported by Reuters</a:t>
            </a:r>
            <a:r>
              <a:rPr lang="en-US" sz="720" dirty="0">
                <a:solidFill>
                  <a:srgbClr val="6F6A66"/>
                </a:solidFill>
              </a:rPr>
              <a:t>  globalbankingandfinance.com</a:t>
            </a:r>
            <a:endParaRPr lang="en-US" sz="720" dirty="0"/>
          </a:p>
          <a:p>
            <a:pPr marL="0" indent="0">
              <a:lnSpc>
                <a:spcPts val="990"/>
              </a:lnSpc>
              <a:buNone/>
            </a:pPr>
            <a:r>
              <a:rPr lang="en-US" sz="720" u="sng" dirty="0">
                <a:solidFill>
                  <a:srgbClr val="8C6239"/>
                </a:solidFill>
                <a:hlinkClick r:id="rId13" tooltip="https://www.federalreserve.gov/newsevents/pressreleases/monetary20260916a.htm">
                  <a:extLst>
                    <a:ext uri="{A12FA001-AC4F-418D-AE19-62706E023703}">
                      <ahyp:hlinkClr xmlns:ahyp="http://schemas.microsoft.com/office/drawing/2018/hyperlinkcolor" val="tx"/>
                    </a:ext>
                  </a:extLst>
                </a:hlinkClick>
              </a:rPr>
              <a:t>Federal Reserve</a:t>
            </a:r>
            <a:r>
              <a:rPr lang="en-US" sz="720" dirty="0">
                <a:solidFill>
                  <a:srgbClr val="6F6A66"/>
                </a:solidFill>
              </a:rPr>
              <a:t>  federalreserve.gov</a:t>
            </a:r>
            <a:endParaRPr lang="en-US" sz="720" dirty="0"/>
          </a:p>
          <a:p>
            <a:pPr marL="0" indent="0">
              <a:lnSpc>
                <a:spcPts val="990"/>
              </a:lnSpc>
              <a:buNone/>
            </a:pPr>
            <a:r>
              <a:rPr lang="en-US" sz="720" u="sng" dirty="0">
                <a:solidFill>
                  <a:srgbClr val="8C6239"/>
                </a:solidFill>
                <a:hlinkClick r:id="rId14" tooltip="https://www.acg.org/news-trends/news/gf-data-reports-show-steady-middle-market-deal-flow-amid-more-selective">
                  <a:extLst>
                    <a:ext uri="{A12FA001-AC4F-418D-AE19-62706E023703}">
                      <ahyp:hlinkClr xmlns:ahyp="http://schemas.microsoft.com/office/drawing/2018/hyperlinkcolor" val="tx"/>
                    </a:ext>
                  </a:extLst>
                </a:hlinkClick>
              </a:rPr>
              <a:t>GF Data via ACG</a:t>
            </a:r>
            <a:r>
              <a:rPr lang="en-US" sz="720" dirty="0">
                <a:solidFill>
                  <a:srgbClr val="6F6A66"/>
                </a:solidFill>
              </a:rPr>
              <a:t>  acg.org</a:t>
            </a:r>
            <a:endParaRPr lang="en-US" sz="720" dirty="0"/>
          </a:p>
          <a:p>
            <a:pPr marL="0" indent="0">
              <a:lnSpc>
                <a:spcPts val="990"/>
              </a:lnSpc>
              <a:buNone/>
            </a:pPr>
            <a:r>
              <a:rPr lang="en-US" sz="720" u="sng" dirty="0">
                <a:solidFill>
                  <a:srgbClr val="8C6239"/>
                </a:solidFill>
                <a:hlinkClick r:id="rId15" tooltip="https://www.eia.gov/outlooks/steo/report/elec_coal_renew.php">
                  <a:extLst>
                    <a:ext uri="{A12FA001-AC4F-418D-AE19-62706E023703}">
                      <ahyp:hlinkClr xmlns:ahyp="http://schemas.microsoft.com/office/drawing/2018/hyperlinkcolor" val="tx"/>
                    </a:ext>
                  </a:extLst>
                </a:hlinkClick>
              </a:rPr>
              <a:t>EIA</a:t>
            </a:r>
            <a:r>
              <a:rPr lang="en-US" sz="720" dirty="0">
                <a:solidFill>
                  <a:srgbClr val="6F6A66"/>
                </a:solidFill>
              </a:rPr>
              <a:t>  eia.gov</a:t>
            </a:r>
            <a:endParaRPr lang="en-US" sz="720" dirty="0"/>
          </a:p>
          <a:p>
            <a:pPr marL="0" indent="0">
              <a:lnSpc>
                <a:spcPts val="990"/>
              </a:lnSpc>
              <a:buNone/>
            </a:pPr>
            <a:r>
              <a:rPr lang="en-US" sz="720" u="sng" dirty="0">
                <a:solidFill>
                  <a:srgbClr val="8C6239"/>
                </a:solidFill>
                <a:hlinkClick r:id="rId16" tooltip="https://www.powermag.com/nerc-warns-long-term-grid-reliability-risks-mounting/">
                  <a:extLst>
                    <a:ext uri="{A12FA001-AC4F-418D-AE19-62706E023703}">
                      <ahyp:hlinkClr xmlns:ahyp="http://schemas.microsoft.com/office/drawing/2018/hyperlinkcolor" val="tx"/>
                    </a:ext>
                  </a:extLst>
                </a:hlinkClick>
              </a:rPr>
              <a:t>POWER Magazine</a:t>
            </a:r>
            <a:r>
              <a:rPr lang="en-US" sz="720" dirty="0">
                <a:solidFill>
                  <a:srgbClr val="6F6A66"/>
                </a:solidFill>
              </a:rPr>
              <a:t>  powermag.com</a:t>
            </a:r>
            <a:endParaRPr lang="en-US" sz="720" dirty="0"/>
          </a:p>
          <a:p>
            <a:pPr marL="0" indent="0">
              <a:lnSpc>
                <a:spcPts val="990"/>
              </a:lnSpc>
              <a:buNone/>
            </a:pPr>
            <a:r>
              <a:rPr lang="en-US" sz="720" u="sng" dirty="0">
                <a:solidFill>
                  <a:srgbClr val="8C6239"/>
                </a:solidFill>
                <a:hlinkClick r:id="rId17" tooltip="https://www.prnewswire.com/news-releases/meta-reports-second-quarter-2026-results-302838214.html">
                  <a:extLst>
                    <a:ext uri="{A12FA001-AC4F-418D-AE19-62706E023703}">
                      <ahyp:hlinkClr xmlns:ahyp="http://schemas.microsoft.com/office/drawing/2018/hyperlinkcolor" val="tx"/>
                    </a:ext>
                  </a:extLst>
                </a:hlinkClick>
              </a:rPr>
              <a:t>Meta</a:t>
            </a:r>
            <a:r>
              <a:rPr lang="en-US" sz="720" dirty="0">
                <a:solidFill>
                  <a:srgbClr val="6F6A66"/>
                </a:solidFill>
              </a:rPr>
              <a:t>  prnewswire.com</a:t>
            </a:r>
            <a:endParaRPr lang="en-US" sz="720" dirty="0"/>
          </a:p>
          <a:p>
            <a:pPr marL="0" indent="0">
              <a:lnSpc>
                <a:spcPts val="990"/>
              </a:lnSpc>
              <a:buNone/>
            </a:pPr>
            <a:r>
              <a:rPr lang="en-US" sz="720" u="sng" dirty="0">
                <a:solidFill>
                  <a:srgbClr val="8C6239"/>
                </a:solidFill>
                <a:hlinkClick r:id="rId18" tooltip="https://www.sec.gov/Archives/edgar/data/0001996810/000199681026000147/gevpressrelease2q26.htm">
                  <a:extLst>
                    <a:ext uri="{A12FA001-AC4F-418D-AE19-62706E023703}">
                      <ahyp:hlinkClr xmlns:ahyp="http://schemas.microsoft.com/office/drawing/2018/hyperlinkcolor" val="tx"/>
                    </a:ext>
                  </a:extLst>
                </a:hlinkClick>
              </a:rPr>
              <a:t>GE Vernova</a:t>
            </a:r>
            <a:r>
              <a:rPr lang="en-US" sz="720" dirty="0">
                <a:solidFill>
                  <a:srgbClr val="6F6A66"/>
                </a:solidFill>
              </a:rPr>
              <a:t>  sec.gov</a:t>
            </a:r>
            <a:endParaRPr lang="en-US" sz="720" dirty="0"/>
          </a:p>
          <a:p>
            <a:pPr marL="0" indent="0">
              <a:lnSpc>
                <a:spcPts val="990"/>
              </a:lnSpc>
              <a:buNone/>
            </a:pPr>
            <a:r>
              <a:rPr lang="en-US" sz="720" u="sng" dirty="0">
                <a:solidFill>
                  <a:srgbClr val="8C6239"/>
                </a:solidFill>
                <a:hlinkClick r:id="rId19" tooltip="https://www.ajot.com/news/us-power-companies-scramble-to-secure-equipment-as-surging-data-center-demand-strains-supplies">
                  <a:extLst>
                    <a:ext uri="{A12FA001-AC4F-418D-AE19-62706E023703}">
                      <ahyp:hlinkClr xmlns:ahyp="http://schemas.microsoft.com/office/drawing/2018/hyperlinkcolor" val="tx"/>
                    </a:ext>
                  </a:extLst>
                </a:hlinkClick>
              </a:rPr>
              <a:t>Reuters, citing Wood Mackenzie</a:t>
            </a:r>
            <a:r>
              <a:rPr lang="en-US" sz="720" dirty="0">
                <a:solidFill>
                  <a:srgbClr val="6F6A66"/>
                </a:solidFill>
              </a:rPr>
              <a:t>  ajot.com</a:t>
            </a:r>
            <a:endParaRPr lang="en-US" sz="720" dirty="0"/>
          </a:p>
          <a:p>
            <a:pPr marL="0" indent="0">
              <a:lnSpc>
                <a:spcPts val="990"/>
              </a:lnSpc>
              <a:buNone/>
            </a:pPr>
            <a:r>
              <a:rPr lang="en-US" sz="720" u="sng" dirty="0">
                <a:solidFill>
                  <a:srgbClr val="8C6239"/>
                </a:solidFill>
                <a:hlinkClick r:id="rId20" tooltip="https://www.sec.gov/Archives/edgar/data/0001474735/000143774926024731/ex_994826.htm">
                  <a:extLst>
                    <a:ext uri="{A12FA001-AC4F-418D-AE19-62706E023703}">
                      <ahyp:hlinkClr xmlns:ahyp="http://schemas.microsoft.com/office/drawing/2018/hyperlinkcolor" val="tx"/>
                    </a:ext>
                  </a:extLst>
                </a:hlinkClick>
              </a:rPr>
              <a:t>Generac</a:t>
            </a:r>
            <a:r>
              <a:rPr lang="en-US" sz="720" dirty="0">
                <a:solidFill>
                  <a:srgbClr val="6F6A66"/>
                </a:solidFill>
              </a:rPr>
              <a:t>  sec.gov</a:t>
            </a:r>
            <a:endParaRPr lang="en-US" sz="720" dirty="0"/>
          </a:p>
          <a:p>
            <a:pPr marL="0" indent="0">
              <a:lnSpc>
                <a:spcPts val="990"/>
              </a:lnSpc>
              <a:buNone/>
            </a:pPr>
            <a:r>
              <a:rPr lang="en-US" sz="720" u="sng" dirty="0">
                <a:solidFill>
                  <a:srgbClr val="8C6239"/>
                </a:solidFill>
                <a:hlinkClick r:id="rId21" tooltip="https://www.globenewswire.com/news-release/2026/08/24/3349571/0/en/nvent-to-acquire-maverick-power.html">
                  <a:extLst>
                    <a:ext uri="{A12FA001-AC4F-418D-AE19-62706E023703}">
                      <ahyp:hlinkClr xmlns:ahyp="http://schemas.microsoft.com/office/drawing/2018/hyperlinkcolor" val="tx"/>
                    </a:ext>
                  </a:extLst>
                </a:hlinkClick>
              </a:rPr>
              <a:t>nVent</a:t>
            </a:r>
            <a:r>
              <a:rPr lang="en-US" sz="720" dirty="0">
                <a:solidFill>
                  <a:srgbClr val="6F6A66"/>
                </a:solidFill>
              </a:rPr>
              <a:t>  globenewswire.com</a:t>
            </a:r>
            <a:endParaRPr lang="en-US" sz="720" dirty="0"/>
          </a:p>
          <a:p>
            <a:pPr marL="0" indent="0">
              <a:lnSpc>
                <a:spcPts val="990"/>
              </a:lnSpc>
              <a:buNone/>
            </a:pPr>
            <a:r>
              <a:rPr lang="en-US" sz="720" u="sng" dirty="0">
                <a:solidFill>
                  <a:srgbClr val="8C6239"/>
                </a:solidFill>
                <a:hlinkClick r:id="rId22" tooltip="https://www.sec.gov/Archives/edgar/data/105634/000010563426000112/eme-ex991_2026630xq2.htm">
                  <a:extLst>
                    <a:ext uri="{A12FA001-AC4F-418D-AE19-62706E023703}">
                      <ahyp:hlinkClr xmlns:ahyp="http://schemas.microsoft.com/office/drawing/2018/hyperlinkcolor" val="tx"/>
                    </a:ext>
                  </a:extLst>
                </a:hlinkClick>
              </a:rPr>
              <a:t>EMCOR</a:t>
            </a:r>
            <a:r>
              <a:rPr lang="en-US" sz="720" dirty="0">
                <a:solidFill>
                  <a:srgbClr val="6F6A66"/>
                </a:solidFill>
              </a:rPr>
              <a:t>  sec.gov</a:t>
            </a:r>
            <a:endParaRPr lang="en-US" sz="720" dirty="0"/>
          </a:p>
          <a:p>
            <a:pPr marL="0" indent="0">
              <a:lnSpc>
                <a:spcPts val="990"/>
              </a:lnSpc>
              <a:buNone/>
            </a:pPr>
            <a:r>
              <a:rPr lang="en-US" sz="720" u="sng" dirty="0">
                <a:solidFill>
                  <a:srgbClr val="8C6239"/>
                </a:solidFill>
                <a:hlinkClick r:id="rId23" tooltip="https://www.globenewswire.com/news-release/2026/09/15/3362305/0/en/abc-survey-1-in-6-members-perform-data-center-work-backlog-rebounds-in-august.html">
                  <a:extLst>
                    <a:ext uri="{A12FA001-AC4F-418D-AE19-62706E023703}">
                      <ahyp:hlinkClr xmlns:ahyp="http://schemas.microsoft.com/office/drawing/2018/hyperlinkcolor" val="tx"/>
                    </a:ext>
                  </a:extLst>
                </a:hlinkClick>
              </a:rPr>
              <a:t>ABC</a:t>
            </a:r>
            <a:r>
              <a:rPr lang="en-US" sz="720" dirty="0">
                <a:solidFill>
                  <a:srgbClr val="6F6A66"/>
                </a:solidFill>
              </a:rPr>
              <a:t>  globenewswire.com</a:t>
            </a:r>
            <a:endParaRPr lang="en-US" sz="720" dirty="0"/>
          </a:p>
          <a:p>
            <a:pPr marL="0" indent="0">
              <a:lnSpc>
                <a:spcPts val="990"/>
              </a:lnSpc>
              <a:buNone/>
            </a:pPr>
            <a:r>
              <a:rPr lang="en-US" sz="720" u="sng" dirty="0">
                <a:solidFill>
                  <a:srgbClr val="8C6239"/>
                </a:solidFill>
                <a:hlinkClick r:id="rId24" tooltip="https://www.businesswire.com/news/home/20260804326592/en/Limbach-Reports-Second-Quarter-2026-Results">
                  <a:extLst>
                    <a:ext uri="{A12FA001-AC4F-418D-AE19-62706E023703}">
                      <ahyp:hlinkClr xmlns:ahyp="http://schemas.microsoft.com/office/drawing/2018/hyperlinkcolor" val="tx"/>
                    </a:ext>
                  </a:extLst>
                </a:hlinkClick>
              </a:rPr>
              <a:t>Limbach</a:t>
            </a:r>
            <a:r>
              <a:rPr lang="en-US" sz="720" dirty="0">
                <a:solidFill>
                  <a:srgbClr val="6F6A66"/>
                </a:solidFill>
              </a:rPr>
              <a:t>  businesswire.com</a:t>
            </a:r>
            <a:endParaRPr lang="en-US" sz="720" dirty="0"/>
          </a:p>
          <a:p>
            <a:pPr marL="0" indent="0">
              <a:lnSpc>
                <a:spcPts val="990"/>
              </a:lnSpc>
              <a:buNone/>
            </a:pPr>
            <a:r>
              <a:rPr lang="en-US" sz="720" u="sng" dirty="0">
                <a:solidFill>
                  <a:srgbClr val="8C6239"/>
                </a:solidFill>
                <a:hlinkClick r:id="rId25" tooltip="https://dallasinnovates.com/north-texas-mission-critical-group-acquires-txla-systems/">
                  <a:extLst>
                    <a:ext uri="{A12FA001-AC4F-418D-AE19-62706E023703}">
                      <ahyp:hlinkClr xmlns:ahyp="http://schemas.microsoft.com/office/drawing/2018/hyperlinkcolor" val="tx"/>
                    </a:ext>
                  </a:extLst>
                </a:hlinkClick>
              </a:rPr>
              <a:t>Dallas Innovates</a:t>
            </a:r>
            <a:r>
              <a:rPr lang="en-US" sz="720" dirty="0">
                <a:solidFill>
                  <a:srgbClr val="6F6A66"/>
                </a:solidFill>
              </a:rPr>
              <a:t>  dallasinnovates.com</a:t>
            </a:r>
            <a:endParaRPr lang="en-US" sz="720" dirty="0"/>
          </a:p>
          <a:p>
            <a:pPr marL="0" indent="0">
              <a:lnSpc>
                <a:spcPts val="990"/>
              </a:lnSpc>
              <a:buNone/>
            </a:pPr>
            <a:r>
              <a:rPr lang="en-US" sz="720" u="sng" dirty="0">
                <a:solidFill>
                  <a:srgbClr val="8C6239"/>
                </a:solidFill>
                <a:hlinkClick r:id="rId26" tooltip="https://distributionstrategy.com/2026/07/mission-critical-group-makes-play-for-transformer-supply/">
                  <a:extLst>
                    <a:ext uri="{A12FA001-AC4F-418D-AE19-62706E023703}">
                      <ahyp:hlinkClr xmlns:ahyp="http://schemas.microsoft.com/office/drawing/2018/hyperlinkcolor" val="tx"/>
                    </a:ext>
                  </a:extLst>
                </a:hlinkClick>
              </a:rPr>
              <a:t>Distribution Strategy Group</a:t>
            </a:r>
            <a:r>
              <a:rPr lang="en-US" sz="720" dirty="0">
                <a:solidFill>
                  <a:srgbClr val="6F6A66"/>
                </a:solidFill>
              </a:rPr>
              <a:t>  distributionstrategy.com</a:t>
            </a:r>
            <a:endParaRPr lang="en-US" sz="720" dirty="0"/>
          </a:p>
          <a:p>
            <a:pPr marL="0" indent="0">
              <a:lnSpc>
                <a:spcPts val="990"/>
              </a:lnSpc>
              <a:buNone/>
            </a:pPr>
            <a:r>
              <a:rPr lang="en-US" sz="720" u="sng" dirty="0">
                <a:solidFill>
                  <a:srgbClr val="8C6239"/>
                </a:solidFill>
                <a:hlinkClick r:id="rId27" tooltip="https://www.mdm.com/?p=436875">
                  <a:extLst>
                    <a:ext uri="{A12FA001-AC4F-418D-AE19-62706E023703}">
                      <ahyp:hlinkClr xmlns:ahyp="http://schemas.microsoft.com/office/drawing/2018/hyperlinkcolor" val="tx"/>
                    </a:ext>
                  </a:extLst>
                </a:hlinkClick>
              </a:rPr>
              <a:t>ABC analysis reported by MDM</a:t>
            </a:r>
            <a:r>
              <a:rPr lang="en-US" sz="720" dirty="0">
                <a:solidFill>
                  <a:srgbClr val="6F6A66"/>
                </a:solidFill>
              </a:rPr>
              <a:t>  mdm.com</a:t>
            </a:r>
            <a:endParaRPr lang="en-US" sz="720" dirty="0"/>
          </a:p>
          <a:p>
            <a:pPr marL="0" indent="0">
              <a:lnSpc>
                <a:spcPts val="990"/>
              </a:lnSpc>
              <a:buNone/>
            </a:pPr>
            <a:r>
              <a:rPr lang="en-US" sz="720" u="sng" dirty="0">
                <a:solidFill>
                  <a:srgbClr val="8C6239"/>
                </a:solidFill>
                <a:hlinkClick r:id="rId28" tooltip="https://vertikal.net/en/news/story/49180/jk-takes-360">
                  <a:extLst>
                    <a:ext uri="{A12FA001-AC4F-418D-AE19-62706E023703}">
                      <ahyp:hlinkClr xmlns:ahyp="http://schemas.microsoft.com/office/drawing/2018/hyperlinkcolor" val="tx"/>
                    </a:ext>
                  </a:extLst>
                </a:hlinkClick>
              </a:rPr>
              <a:t>Vertikal</a:t>
            </a:r>
            <a:r>
              <a:rPr lang="en-US" sz="720" dirty="0">
                <a:solidFill>
                  <a:srgbClr val="6F6A66"/>
                </a:solidFill>
              </a:rPr>
              <a:t>  vertikal.net</a:t>
            </a:r>
            <a:endParaRPr lang="en-US" sz="720" dirty="0"/>
          </a:p>
          <a:p>
            <a:pPr marL="0" indent="0">
              <a:lnSpc>
                <a:spcPts val="990"/>
              </a:lnSpc>
              <a:buNone/>
            </a:pPr>
            <a:r>
              <a:rPr lang="en-US" sz="720" u="sng" dirty="0">
                <a:solidFill>
                  <a:srgbClr val="8C6239"/>
                </a:solidFill>
                <a:hlinkClick r:id="rId29" tooltip="https://www.rwbaird.com/siteassets/gib/pdf/electrical-power-solutions-sector-update-september-2026.pdf">
                  <a:extLst>
                    <a:ext uri="{A12FA001-AC4F-418D-AE19-62706E023703}">
                      <ahyp:hlinkClr xmlns:ahyp="http://schemas.microsoft.com/office/drawing/2018/hyperlinkcolor" val="tx"/>
                    </a:ext>
                  </a:extLst>
                </a:hlinkClick>
              </a:rPr>
              <a:t>Baird’s Perspectives on the Electrical Power Solutions Market, September 2026</a:t>
            </a:r>
            <a:r>
              <a:rPr lang="en-US" sz="720" dirty="0">
                <a:solidFill>
                  <a:srgbClr val="6F6A66"/>
                </a:solidFill>
              </a:rPr>
              <a:t>  rwbaird.com</a:t>
            </a:r>
            <a:endParaRPr lang="en-US" sz="720" dirty="0"/>
          </a:p>
          <a:p>
            <a:pPr marL="0" indent="0">
              <a:lnSpc>
                <a:spcPts val="990"/>
              </a:lnSpc>
              <a:buNone/>
            </a:pPr>
            <a:r>
              <a:rPr lang="en-US" sz="720" u="sng" dirty="0">
                <a:solidFill>
                  <a:srgbClr val="8C6239"/>
                </a:solidFill>
                <a:hlinkClick r:id="rId30" tooltip="https://www.freightwaves.com/news/us-mexico-trade-smashes-monthly-record-at-nearly-95b">
                  <a:extLst>
                    <a:ext uri="{A12FA001-AC4F-418D-AE19-62706E023703}">
                      <ahyp:hlinkClr xmlns:ahyp="http://schemas.microsoft.com/office/drawing/2018/hyperlinkcolor" val="tx"/>
                    </a:ext>
                  </a:extLst>
                </a:hlinkClick>
              </a:rPr>
              <a:t>Census data reported by FreightWaves</a:t>
            </a:r>
            <a:r>
              <a:rPr lang="en-US" sz="720" dirty="0">
                <a:solidFill>
                  <a:srgbClr val="6F6A66"/>
                </a:solidFill>
              </a:rPr>
              <a:t>  freightwaves.com</a:t>
            </a:r>
            <a:endParaRPr lang="en-US" sz="720" dirty="0"/>
          </a:p>
          <a:p>
            <a:pPr marL="0" indent="0">
              <a:lnSpc>
                <a:spcPts val="990"/>
              </a:lnSpc>
              <a:buNone/>
            </a:pPr>
            <a:r>
              <a:rPr lang="en-US" sz="720" u="sng" dirty="0">
                <a:solidFill>
                  <a:srgbClr val="8C6239"/>
                </a:solidFill>
                <a:hlinkClick r:id="rId31" tooltip="https://www.freightwaves.com/news/redwood-logistics-acquires-laredo-customs-broker-eelco">
                  <a:extLst>
                    <a:ext uri="{A12FA001-AC4F-418D-AE19-62706E023703}">
                      <ahyp:hlinkClr xmlns:ahyp="http://schemas.microsoft.com/office/drawing/2018/hyperlinkcolor" val="tx"/>
                    </a:ext>
                  </a:extLst>
                </a:hlinkClick>
              </a:rPr>
              <a:t>FreightWaves on EELCO</a:t>
            </a:r>
            <a:r>
              <a:rPr lang="en-US" sz="720" dirty="0">
                <a:solidFill>
                  <a:srgbClr val="6F6A66"/>
                </a:solidFill>
              </a:rPr>
              <a:t>  freightwaves.com</a:t>
            </a:r>
            <a:endParaRPr lang="en-US" sz="720" dirty="0"/>
          </a:p>
          <a:p>
            <a:pPr marL="0" indent="0">
              <a:lnSpc>
                <a:spcPts val="990"/>
              </a:lnSpc>
              <a:buNone/>
            </a:pPr>
            <a:r>
              <a:rPr lang="en-US" sz="720" u="sng" dirty="0">
                <a:solidFill>
                  <a:srgbClr val="8C6239"/>
                </a:solidFill>
                <a:hlinkClick r:id="rId32" tooltip="https://www.freightwaves.com/news/from-trucks-to-trade-compliance-logistics-firms-make-strategic-buys">
                  <a:extLst>
                    <a:ext uri="{A12FA001-AC4F-418D-AE19-62706E023703}">
                      <ahyp:hlinkClr xmlns:ahyp="http://schemas.microsoft.com/office/drawing/2018/hyperlinkcolor" val="tx"/>
                    </a:ext>
                  </a:extLst>
                </a:hlinkClick>
              </a:rPr>
              <a:t>FreightWaves on Jose D. Gonzalez, CHB</a:t>
            </a:r>
            <a:r>
              <a:rPr lang="en-US" sz="720" dirty="0">
                <a:solidFill>
                  <a:srgbClr val="6F6A66"/>
                </a:solidFill>
              </a:rPr>
              <a:t>  freightwaves.com</a:t>
            </a:r>
            <a:endParaRPr lang="en-US" sz="720" dirty="0"/>
          </a:p>
          <a:p>
            <a:pPr marL="0" indent="0">
              <a:lnSpc>
                <a:spcPts val="990"/>
              </a:lnSpc>
              <a:buNone/>
            </a:pPr>
            <a:r>
              <a:rPr lang="en-US" sz="720" u="sng" dirty="0">
                <a:solidFill>
                  <a:srgbClr val="8C6239"/>
                </a:solidFill>
                <a:hlinkClick r:id="rId33" tooltip="https://www.lincolninternational.com/perspectives/in-the-press/transport-topics-transport-ma-builds-momentum-alongside-freight-market/">
                  <a:extLst>
                    <a:ext uri="{A12FA001-AC4F-418D-AE19-62706E023703}">
                      <ahyp:hlinkClr xmlns:ahyp="http://schemas.microsoft.com/office/drawing/2018/hyperlinkcolor" val="tx"/>
                    </a:ext>
                  </a:extLst>
                </a:hlinkClick>
              </a:rPr>
              <a:t>Lincoln International</a:t>
            </a:r>
            <a:r>
              <a:rPr lang="en-US" sz="720" dirty="0">
                <a:solidFill>
                  <a:srgbClr val="6F6A66"/>
                </a:solidFill>
              </a:rPr>
              <a:t>  lincolninternational.com</a:t>
            </a:r>
          </a:p>
          <a:p>
            <a:pPr>
              <a:lnSpc>
                <a:spcPct val="100000"/>
              </a:lnSpc>
            </a:pPr>
            <a:r>
              <a:rPr lang="en-US" sz="800" u="sng" dirty="0">
                <a:hlinkClick r:id="rId34"/>
              </a:rPr>
              <a:t>Bg2 Pod</a:t>
            </a:r>
            <a:r>
              <a:rPr lang="en-US" sz="720" dirty="0"/>
              <a:t> </a:t>
            </a:r>
            <a:r>
              <a:rPr lang="en-US" sz="720" dirty="0">
                <a:solidFill>
                  <a:srgbClr val="6F6A66"/>
                </a:solidFill>
              </a:rPr>
              <a:t>bg2pod.com</a:t>
            </a:r>
          </a:p>
          <a:p>
            <a:pPr>
              <a:lnSpc>
                <a:spcPct val="100000"/>
              </a:lnSpc>
            </a:pPr>
            <a:r>
              <a:rPr lang="en-US" sz="800" dirty="0">
                <a:hlinkClick r:id="rId35"/>
              </a:rPr>
              <a:t>CNBC</a:t>
            </a:r>
            <a:r>
              <a:rPr lang="en-US" sz="800" dirty="0"/>
              <a:t> </a:t>
            </a:r>
            <a:r>
              <a:rPr lang="en-US" sz="720" dirty="0">
                <a:solidFill>
                  <a:srgbClr val="6F6A66"/>
                </a:solidFill>
              </a:rPr>
              <a:t>cnbc.com</a:t>
            </a:r>
          </a:p>
          <a:p>
            <a:pPr>
              <a:lnSpc>
                <a:spcPct val="100000"/>
              </a:lnSpc>
            </a:pPr>
            <a:r>
              <a:rPr lang="en-US" sz="720" dirty="0">
                <a:solidFill>
                  <a:srgbClr val="6F6A66"/>
                </a:solidFill>
                <a:hlinkClick r:id="rId36"/>
              </a:rPr>
              <a:t>EQT Corporation</a:t>
            </a:r>
            <a:r>
              <a:rPr lang="en-US" sz="720" dirty="0">
                <a:solidFill>
                  <a:srgbClr val="6F6A66"/>
                </a:solidFill>
              </a:rPr>
              <a:t>  youtube.com/@EQTCorp</a:t>
            </a:r>
          </a:p>
          <a:p>
            <a:r>
              <a:rPr lang="en-US" sz="800" u="sng" dirty="0">
                <a:hlinkClick r:id="rId37"/>
              </a:rPr>
              <a:t>Quanta Services</a:t>
            </a:r>
            <a:r>
              <a:rPr lang="en-US" sz="800" u="sng" dirty="0"/>
              <a:t> </a:t>
            </a:r>
            <a:r>
              <a:rPr lang="en-US" sz="720" dirty="0">
                <a:solidFill>
                  <a:srgbClr val="6F6A66"/>
                </a:solidFill>
              </a:rPr>
              <a:t>quantaservices.com/</a:t>
            </a:r>
          </a:p>
          <a:p>
            <a:pPr>
              <a:lnSpc>
                <a:spcPct val="100000"/>
              </a:lnSpc>
            </a:pPr>
            <a:endParaRPr lang="en-US" sz="720" dirty="0">
              <a:solidFill>
                <a:srgbClr val="6F6A66"/>
              </a:solidFill>
            </a:endParaRPr>
          </a:p>
        </p:txBody>
      </p:sp>
      <p:sp>
        <p:nvSpPr>
          <p:cNvPr id="6" name="Text 4"/>
          <p:cNvSpPr txBox="1"/>
          <p:nvPr/>
        </p:nvSpPr>
        <p:spPr>
          <a:xfrm>
            <a:off x="3575050" y="1257300"/>
            <a:ext cx="2908300" cy="5657850"/>
          </a:xfrm>
          <a:prstGeom prst="rect">
            <a:avLst/>
          </a:prstGeom>
          <a:noFill/>
          <a:ln/>
        </p:spPr>
        <p:txBody>
          <a:bodyPr wrap="square" lIns="0" tIns="0" rIns="0" bIns="0" rtlCol="0" anchor="t"/>
          <a:lstStyle/>
          <a:p>
            <a:pPr marL="0" indent="0">
              <a:lnSpc>
                <a:spcPts val="990"/>
              </a:lnSpc>
              <a:spcAft>
                <a:spcPts val="300"/>
              </a:spcAft>
              <a:buNone/>
            </a:pPr>
            <a:r>
              <a:rPr lang="en-US" sz="638" b="1" kern="0" spc="120" dirty="0">
                <a:solidFill>
                  <a:srgbClr val="8C6239"/>
                </a:solidFill>
              </a:rPr>
              <a:t>TRANSACTIONS (PAGES 7 AND 8)</a:t>
            </a:r>
            <a:endParaRPr lang="en-US" sz="720" dirty="0"/>
          </a:p>
          <a:p>
            <a:pPr marL="0" indent="0">
              <a:lnSpc>
                <a:spcPts val="990"/>
              </a:lnSpc>
              <a:buNone/>
            </a:pPr>
            <a:r>
              <a:rPr lang="en-US" sz="720" u="sng" dirty="0">
                <a:solidFill>
                  <a:srgbClr val="8C6239"/>
                </a:solidFill>
                <a:hlinkClick r:id="rId38" tooltip="https://www.franklin-electric.com/company/news/2026/franklin-electric-acquires-cat-pumps-expanding-commercial-and-industrial-flow-control-platform/">
                  <a:extLst>
                    <a:ext uri="{A12FA001-AC4F-418D-AE19-62706E023703}">
                      <ahyp:hlinkClr xmlns:ahyp="http://schemas.microsoft.com/office/drawing/2018/hyperlinkcolor" val="tx"/>
                    </a:ext>
                  </a:extLst>
                </a:hlinkClick>
              </a:rPr>
              <a:t>Franklin Electric and Cat Pumps: Franklin Electric</a:t>
            </a:r>
            <a:r>
              <a:rPr lang="en-US" sz="720" dirty="0">
                <a:solidFill>
                  <a:srgbClr val="6F6A66"/>
                </a:solidFill>
              </a:rPr>
              <a:t>  franklin-electric.com</a:t>
            </a:r>
            <a:endParaRPr lang="en-US" sz="720" dirty="0"/>
          </a:p>
          <a:p>
            <a:pPr marL="0" indent="0">
              <a:lnSpc>
                <a:spcPts val="990"/>
              </a:lnSpc>
              <a:buNone/>
            </a:pPr>
            <a:r>
              <a:rPr lang="en-US" sz="720" u="sng" dirty="0">
                <a:solidFill>
                  <a:srgbClr val="8C6239"/>
                </a:solidFill>
                <a:hlinkClick r:id="rId39" tooltip="https://www.prnewswire.com/news-releases/precinmac-lp-announces-the-acquisition-of-massachusetts-based-advance-mfg-co-inc-302818691.html">
                  <a:extLst>
                    <a:ext uri="{A12FA001-AC4F-418D-AE19-62706E023703}">
                      <ahyp:hlinkClr xmlns:ahyp="http://schemas.microsoft.com/office/drawing/2018/hyperlinkcolor" val="tx"/>
                    </a:ext>
                  </a:extLst>
                </a:hlinkClick>
              </a:rPr>
              <a:t>Precinmac and Advance Mfg. Co.: Precinmac</a:t>
            </a:r>
            <a:r>
              <a:rPr lang="en-US" sz="720" dirty="0">
                <a:solidFill>
                  <a:srgbClr val="6F6A66"/>
                </a:solidFill>
              </a:rPr>
              <a:t>  prnewswire.com</a:t>
            </a:r>
            <a:endParaRPr lang="en-US" sz="720" dirty="0"/>
          </a:p>
          <a:p>
            <a:pPr marL="0" indent="0">
              <a:lnSpc>
                <a:spcPts val="990"/>
              </a:lnSpc>
              <a:buNone/>
            </a:pPr>
            <a:r>
              <a:rPr lang="en-US" sz="720" u="sng" dirty="0">
                <a:solidFill>
                  <a:srgbClr val="8C6239"/>
                </a:solidFill>
                <a:hlinkClick r:id="rId40" tooltip="https://www.mdm.com/news/top-distributor-sectors/flow-control-top-distributor-sectors/ferguson-closes-1-6b-floworks-deal-deepening-flow-control-push/">
                  <a:extLst>
                    <a:ext uri="{A12FA001-AC4F-418D-AE19-62706E023703}">
                      <ahyp:hlinkClr xmlns:ahyp="http://schemas.microsoft.com/office/drawing/2018/hyperlinkcolor" val="tx"/>
                    </a:ext>
                  </a:extLst>
                </a:hlinkClick>
              </a:rPr>
              <a:t>Ferguson and FloWorks: MDM</a:t>
            </a:r>
            <a:r>
              <a:rPr lang="en-US" sz="720" dirty="0">
                <a:solidFill>
                  <a:srgbClr val="6F6A66"/>
                </a:solidFill>
              </a:rPr>
              <a:t>  mdm.com</a:t>
            </a:r>
            <a:endParaRPr lang="en-US" sz="720" dirty="0"/>
          </a:p>
          <a:p>
            <a:pPr marL="0" indent="0">
              <a:lnSpc>
                <a:spcPts val="990"/>
              </a:lnSpc>
              <a:buNone/>
            </a:pPr>
            <a:r>
              <a:rPr lang="en-US" sz="720" u="sng" dirty="0">
                <a:solidFill>
                  <a:srgbClr val="8C6239"/>
                </a:solidFill>
                <a:hlinkClick r:id="rId41" tooltip="https://www.mdm.com/news/featured/featured-blog/ferguson-makes-1-6b-flow-control-bet-with-floworks-deal/">
                  <a:extLst>
                    <a:ext uri="{A12FA001-AC4F-418D-AE19-62706E023703}">
                      <ahyp:hlinkClr xmlns:ahyp="http://schemas.microsoft.com/office/drawing/2018/hyperlinkcolor" val="tx"/>
                    </a:ext>
                  </a:extLst>
                </a:hlinkClick>
              </a:rPr>
              <a:t>Ferguson and FloWorks: MDM</a:t>
            </a:r>
            <a:r>
              <a:rPr lang="en-US" sz="720" dirty="0">
                <a:solidFill>
                  <a:srgbClr val="6F6A66"/>
                </a:solidFill>
              </a:rPr>
              <a:t>  mdm.com</a:t>
            </a:r>
            <a:endParaRPr lang="en-US" sz="720" dirty="0"/>
          </a:p>
          <a:p>
            <a:pPr marL="0" indent="0">
              <a:lnSpc>
                <a:spcPts val="990"/>
              </a:lnSpc>
              <a:buNone/>
            </a:pPr>
            <a:r>
              <a:rPr lang="en-US" sz="720" u="sng" dirty="0">
                <a:solidFill>
                  <a:srgbClr val="8C6239"/>
                </a:solidFill>
                <a:hlinkClick r:id="rId42" tooltip="https://www.mdm.com/news/top-distributor-sectors/gases-welding-equipment/meritus-gas-partners-adds-5-dfw-locations-with-acquisition-of-metroplex-welding-supply/">
                  <a:extLst>
                    <a:ext uri="{A12FA001-AC4F-418D-AE19-62706E023703}">
                      <ahyp:hlinkClr xmlns:ahyp="http://schemas.microsoft.com/office/drawing/2018/hyperlinkcolor" val="tx"/>
                    </a:ext>
                  </a:extLst>
                </a:hlinkClick>
              </a:rPr>
              <a:t>Meritus Gas Partners and Metroplex Welding Supply: MDM</a:t>
            </a:r>
            <a:r>
              <a:rPr lang="en-US" sz="720" dirty="0">
                <a:solidFill>
                  <a:srgbClr val="6F6A66"/>
                </a:solidFill>
              </a:rPr>
              <a:t>  mdm.com</a:t>
            </a:r>
            <a:endParaRPr lang="en-US" sz="720" dirty="0"/>
          </a:p>
          <a:p>
            <a:pPr marL="0" indent="0">
              <a:lnSpc>
                <a:spcPts val="990"/>
              </a:lnSpc>
              <a:buNone/>
            </a:pPr>
            <a:r>
              <a:rPr lang="en-US" sz="720" u="sng" dirty="0">
                <a:solidFill>
                  <a:srgbClr val="8C6239"/>
                </a:solidFill>
                <a:hlinkClick r:id="rId43" tooltip="https://pulse2.com/limbach-acquires-1901-for-63-million-plus-up-to-6-million-in-earnouts/">
                  <a:extLst>
                    <a:ext uri="{A12FA001-AC4F-418D-AE19-62706E023703}">
                      <ahyp:hlinkClr xmlns:ahyp="http://schemas.microsoft.com/office/drawing/2018/hyperlinkcolor" val="tx"/>
                    </a:ext>
                  </a:extLst>
                </a:hlinkClick>
              </a:rPr>
              <a:t>Limbach Holdings and 1901 Inc.: Pulse 2.0</a:t>
            </a:r>
            <a:r>
              <a:rPr lang="en-US" sz="720" dirty="0">
                <a:solidFill>
                  <a:srgbClr val="6F6A66"/>
                </a:solidFill>
              </a:rPr>
              <a:t>  pulse2.com</a:t>
            </a:r>
            <a:endParaRPr lang="en-US" sz="720" dirty="0"/>
          </a:p>
          <a:p>
            <a:pPr marL="0" indent="0">
              <a:lnSpc>
                <a:spcPts val="990"/>
              </a:lnSpc>
              <a:buNone/>
            </a:pPr>
            <a:r>
              <a:rPr lang="en-US" sz="720" u="sng" dirty="0">
                <a:solidFill>
                  <a:srgbClr val="8C6239"/>
                </a:solidFill>
                <a:hlinkClick r:id="rId44" tooltip="https://www.rermag.com/mergers-acquisitions/news/55397729/bay-crane-acquires-clark-rigging-rental-growing-its-upstate-new-york-presence">
                  <a:extLst>
                    <a:ext uri="{A12FA001-AC4F-418D-AE19-62706E023703}">
                      <ahyp:hlinkClr xmlns:ahyp="http://schemas.microsoft.com/office/drawing/2018/hyperlinkcolor" val="tx"/>
                    </a:ext>
                  </a:extLst>
                </a:hlinkClick>
              </a:rPr>
              <a:t>Bay Crane and Clark Rigging &amp; Rental: RER</a:t>
            </a:r>
            <a:r>
              <a:rPr lang="en-US" sz="720" dirty="0">
                <a:solidFill>
                  <a:srgbClr val="6F6A66"/>
                </a:solidFill>
              </a:rPr>
              <a:t>  rermag.com</a:t>
            </a:r>
            <a:endParaRPr lang="en-US" sz="720" dirty="0"/>
          </a:p>
          <a:p>
            <a:pPr marL="0" indent="0">
              <a:lnSpc>
                <a:spcPts val="990"/>
              </a:lnSpc>
              <a:buNone/>
            </a:pPr>
            <a:r>
              <a:rPr lang="en-US" sz="720" u="sng" dirty="0">
                <a:solidFill>
                  <a:srgbClr val="8C6239"/>
                </a:solidFill>
                <a:hlinkClick r:id="rId45" tooltip="https://wasteadvantagemag.com/clean-harbors-to-acquire-enviroserve/">
                  <a:extLst>
                    <a:ext uri="{A12FA001-AC4F-418D-AE19-62706E023703}">
                      <ahyp:hlinkClr xmlns:ahyp="http://schemas.microsoft.com/office/drawing/2018/hyperlinkcolor" val="tx"/>
                    </a:ext>
                  </a:extLst>
                </a:hlinkClick>
              </a:rPr>
              <a:t>Clean Harbors and EnviroServe: Waste Advantage</a:t>
            </a:r>
            <a:r>
              <a:rPr lang="en-US" sz="720" dirty="0">
                <a:solidFill>
                  <a:srgbClr val="6F6A66"/>
                </a:solidFill>
              </a:rPr>
              <a:t>  wasteadvantagemag.com</a:t>
            </a:r>
            <a:endParaRPr lang="en-US" sz="720" dirty="0"/>
          </a:p>
          <a:p>
            <a:pPr marL="0" indent="0">
              <a:lnSpc>
                <a:spcPts val="990"/>
              </a:lnSpc>
              <a:buNone/>
            </a:pPr>
            <a:r>
              <a:rPr lang="en-US" sz="720" u="sng" dirty="0">
                <a:solidFill>
                  <a:srgbClr val="8C6239"/>
                </a:solidFill>
                <a:hlinkClick r:id="rId46" tooltip="https://www.sec.gov/Archives/edgar/data/0000822818/000082281826000031/clh-q22026pressrelease.htm">
                  <a:extLst>
                    <a:ext uri="{A12FA001-AC4F-418D-AE19-62706E023703}">
                      <ahyp:hlinkClr xmlns:ahyp="http://schemas.microsoft.com/office/drawing/2018/hyperlinkcolor" val="tx"/>
                    </a:ext>
                  </a:extLst>
                </a:hlinkClick>
              </a:rPr>
              <a:t>Clean Harbors and EnviroServe: Clean Harbors</a:t>
            </a:r>
            <a:r>
              <a:rPr lang="en-US" sz="720" dirty="0">
                <a:solidFill>
                  <a:srgbClr val="6F6A66"/>
                </a:solidFill>
              </a:rPr>
              <a:t>  sec.gov</a:t>
            </a:r>
            <a:endParaRPr lang="en-US" sz="720" dirty="0"/>
          </a:p>
          <a:p>
            <a:pPr marL="0" indent="0">
              <a:lnSpc>
                <a:spcPts val="990"/>
              </a:lnSpc>
              <a:buNone/>
            </a:pPr>
            <a:r>
              <a:rPr lang="en-US" sz="720" u="sng" dirty="0">
                <a:solidFill>
                  <a:srgbClr val="8C6239"/>
                </a:solidFill>
                <a:hlinkClick r:id="rId47" tooltip="https://www.sec.gov/Archives/edgar/data/0001929561/000114036126038548/ef20083265_ex99-1.htm">
                  <a:extLst>
                    <a:ext uri="{A12FA001-AC4F-418D-AE19-62706E023703}">
                      <ahyp:hlinkClr xmlns:ahyp="http://schemas.microsoft.com/office/drawing/2018/hyperlinkcolor" val="tx"/>
                    </a:ext>
                  </a:extLst>
                </a:hlinkClick>
              </a:rPr>
              <a:t>C.H. Robinson and RXO</a:t>
            </a:r>
            <a:r>
              <a:rPr lang="en-US" sz="720" dirty="0">
                <a:solidFill>
                  <a:srgbClr val="6F6A66"/>
                </a:solidFill>
              </a:rPr>
              <a:t>  sec.gov</a:t>
            </a:r>
            <a:endParaRPr lang="en-US" sz="720" dirty="0"/>
          </a:p>
          <a:p>
            <a:pPr marL="0" indent="0">
              <a:lnSpc>
                <a:spcPts val="990"/>
              </a:lnSpc>
              <a:spcBef>
                <a:spcPts val="800"/>
              </a:spcBef>
              <a:spcAft>
                <a:spcPts val="300"/>
              </a:spcAft>
              <a:buNone/>
            </a:pPr>
            <a:r>
              <a:rPr lang="en-US" sz="638" b="1" kern="0" spc="120" dirty="0">
                <a:solidFill>
                  <a:srgbClr val="8C6239"/>
                </a:solidFill>
              </a:rPr>
              <a:t>BENCHMARK INTERNATIONAL (PAGES 5, 9 AND 15)</a:t>
            </a:r>
            <a:endParaRPr lang="en-US" sz="720" dirty="0"/>
          </a:p>
          <a:p>
            <a:pPr marL="0" indent="0">
              <a:lnSpc>
                <a:spcPts val="990"/>
              </a:lnSpc>
              <a:buNone/>
            </a:pPr>
            <a:r>
              <a:rPr lang="en-US" sz="720" u="sng" dirty="0">
                <a:solidFill>
                  <a:srgbClr val="8C6239"/>
                </a:solidFill>
                <a:hlinkClick r:id="rId48" tooltip="https://www.benchmarkintl.com/insights/completed-transactions/benchmark-international-successfully-facilitated-the-transaction-between-the-carmi-companies-and-the-nearshore-company/">
                  <a:extLst>
                    <a:ext uri="{A12FA001-AC4F-418D-AE19-62706E023703}">
                      <ahyp:hlinkClr xmlns:ahyp="http://schemas.microsoft.com/office/drawing/2018/hyperlinkcolor" val="tx"/>
                    </a:ext>
                  </a:extLst>
                </a:hlinkClick>
              </a:rPr>
              <a:t>The Carmi Companies and The Nearshore Company</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49" tooltip="https://www.benchmarkintl.com/insights/completed-transactions/benchmark-international-successfully-facilitated-the-transaction-between-fps-technologies-inc-and-cintas-corporation/">
                  <a:extLst>
                    <a:ext uri="{A12FA001-AC4F-418D-AE19-62706E023703}">
                      <ahyp:hlinkClr xmlns:ahyp="http://schemas.microsoft.com/office/drawing/2018/hyperlinkcolor" val="tx"/>
                    </a:ext>
                  </a:extLst>
                </a:hlinkClick>
              </a:rPr>
              <a:t>FPS Technologies, Inc. and Cintas Corporation</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50" tooltip="https://www.benchmarkintl.com/insights/completed-transactions/benchmark-international-successfully-facilitated-the-transaction-between-maxvac-inc-and-dxp-enterprises-inc/">
                  <a:extLst>
                    <a:ext uri="{A12FA001-AC4F-418D-AE19-62706E023703}">
                      <ahyp:hlinkClr xmlns:ahyp="http://schemas.microsoft.com/office/drawing/2018/hyperlinkcolor" val="tx"/>
                    </a:ext>
                  </a:extLst>
                </a:hlinkClick>
              </a:rPr>
              <a:t>MaxVac Inc. and DXP Enterprises, Inc.</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51" tooltip="https://www.benchmarkintl.com/insights/completed-transactions/benchmark-international-facilitated-the-transaction-of-trinity-industrial-services-llc-and-aecon-group-inc/">
                  <a:extLst>
                    <a:ext uri="{A12FA001-AC4F-418D-AE19-62706E023703}">
                      <ahyp:hlinkClr xmlns:ahyp="http://schemas.microsoft.com/office/drawing/2018/hyperlinkcolor" val="tx"/>
                    </a:ext>
                  </a:extLst>
                </a:hlinkClick>
              </a:rPr>
              <a:t>Trinity Industrial Services, LLC and Aecon Group Inc.</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52" tooltip="https://www.benchmarkintl.com/insights/completed-transactions/benchmark-international-successfully-facilitated-the-transaction-of-invocon-inc-and-cemtrex-inc/">
                  <a:extLst>
                    <a:ext uri="{A12FA001-AC4F-418D-AE19-62706E023703}">
                      <ahyp:hlinkClr xmlns:ahyp="http://schemas.microsoft.com/office/drawing/2018/hyperlinkcolor" val="tx"/>
                    </a:ext>
                  </a:extLst>
                </a:hlinkClick>
              </a:rPr>
              <a:t>Invocon, Inc. and Cemtrex, Inc.</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53" tooltip="https://www.benchmarkintl.com/insights/completed-transactions/benchmark-international-successfully-facilitated-the-transaction-between-climate-engineering-inc-and-harris-company/">
                  <a:extLst>
                    <a:ext uri="{A12FA001-AC4F-418D-AE19-62706E023703}">
                      <ahyp:hlinkClr xmlns:ahyp="http://schemas.microsoft.com/office/drawing/2018/hyperlinkcolor" val="tx"/>
                    </a:ext>
                  </a:extLst>
                </a:hlinkClick>
              </a:rPr>
              <a:t>Climate Engineering, Inc. and Harris Company</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54" tooltip="https://www.benchmarkintl.com/insights/completed-transactions/benchmark-international-successfully-facilitated-a-transaction-between-briggs-engineering-testing-and-phenna-group/">
                  <a:extLst>
                    <a:ext uri="{A12FA001-AC4F-418D-AE19-62706E023703}">
                      <ahyp:hlinkClr xmlns:ahyp="http://schemas.microsoft.com/office/drawing/2018/hyperlinkcolor" val="tx"/>
                    </a:ext>
                  </a:extLst>
                </a:hlinkClick>
              </a:rPr>
              <a:t>Briggs Engineering &amp; Testing and Phenna Group</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55" tooltip="https://www.benchmarkintl.com/insights/completed-transactions/benchmark-international-successfully-facilitated-the-transaction-of-capitol-plastics-recycling-inc-and-triumvirate-environmental/">
                  <a:extLst>
                    <a:ext uri="{A12FA001-AC4F-418D-AE19-62706E023703}">
                      <ahyp:hlinkClr xmlns:ahyp="http://schemas.microsoft.com/office/drawing/2018/hyperlinkcolor" val="tx"/>
                    </a:ext>
                  </a:extLst>
                </a:hlinkClick>
              </a:rPr>
              <a:t>Capitol Plastics Recycling Inc. and Triumvirate Environmental</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56" tooltip="https://www.benchmarkintl.com/insights/completed-transactions/benchmark-international-successfully-facilitated-the-transaction-between-wesco-chemicals-inc-and-apex-water-and-process-inc/">
                  <a:extLst>
                    <a:ext uri="{A12FA001-AC4F-418D-AE19-62706E023703}">
                      <ahyp:hlinkClr xmlns:ahyp="http://schemas.microsoft.com/office/drawing/2018/hyperlinkcolor" val="tx"/>
                    </a:ext>
                  </a:extLst>
                </a:hlinkClick>
              </a:rPr>
              <a:t>WESCO Chemicals, Inc. and Apex Water and Process Inc.</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57" tooltip="https://www.benchmarkintl.com/insights/benchmark-international-successfully-facilitated-the-transaction-between-dw-industries-and-tipco-technologies/">
                  <a:extLst>
                    <a:ext uri="{A12FA001-AC4F-418D-AE19-62706E023703}">
                      <ahyp:hlinkClr xmlns:ahyp="http://schemas.microsoft.com/office/drawing/2018/hyperlinkcolor" val="tx"/>
                    </a:ext>
                  </a:extLst>
                </a:hlinkClick>
              </a:rPr>
              <a:t>DW Industries and TIPCO Technologies</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58" tooltip="https://www.benchmarkintl.com/insights/completed-transactions/benchmark-international-successfully-facilitated-the-transaction-between-at-parker-inc-and-assessimus-group-gmbh/">
                  <a:extLst>
                    <a:ext uri="{A12FA001-AC4F-418D-AE19-62706E023703}">
                      <ahyp:hlinkClr xmlns:ahyp="http://schemas.microsoft.com/office/drawing/2018/hyperlinkcolor" val="tx"/>
                    </a:ext>
                  </a:extLst>
                </a:hlinkClick>
              </a:rPr>
              <a:t>A.T. Parker, Inc. (Solar Electronics) and Assessimus Group GmbH</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59" tooltip="https://www.benchmarkintl.com/insights/completed-transactions/benchmark-international-successfully-facilitated-the-transaction-between-clark-crane-and-capital-extension-crane-lift/">
                  <a:extLst>
                    <a:ext uri="{A12FA001-AC4F-418D-AE19-62706E023703}">
                      <ahyp:hlinkClr xmlns:ahyp="http://schemas.microsoft.com/office/drawing/2018/hyperlinkcolor" val="tx"/>
                    </a:ext>
                  </a:extLst>
                </a:hlinkClick>
              </a:rPr>
              <a:t>Clark Crane, LLC and Capital Extension Crane &amp; Lift</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60" tooltip="https://www.benchmarkintl.com/insights/completed-transactions/benchmark-international-facilitated-the-transaction-of-christian-network-international-to-symbia-logistics/">
                  <a:extLst>
                    <a:ext uri="{A12FA001-AC4F-418D-AE19-62706E023703}">
                      <ahyp:hlinkClr xmlns:ahyp="http://schemas.microsoft.com/office/drawing/2018/hyperlinkcolor" val="tx"/>
                    </a:ext>
                  </a:extLst>
                </a:hlinkClick>
              </a:rPr>
              <a:t>Christian Network International and Symbia Logistics</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61" tooltip="https://www.benchmarkintl.com/">
                  <a:extLst>
                    <a:ext uri="{A12FA001-AC4F-418D-AE19-62706E023703}">
                      <ahyp:hlinkClr xmlns:ahyp="http://schemas.microsoft.com/office/drawing/2018/hyperlinkcolor" val="tx"/>
                    </a:ext>
                  </a:extLst>
                </a:hlinkClick>
              </a:rPr>
              <a:t>Benchmark International</a:t>
            </a:r>
            <a:r>
              <a:rPr lang="en-US" sz="720" dirty="0">
                <a:solidFill>
                  <a:srgbClr val="6F6A66"/>
                </a:solidFill>
              </a:rPr>
              <a:t>  benchmarkintl.com</a:t>
            </a:r>
            <a:endParaRPr lang="en-US" sz="720" dirty="0"/>
          </a:p>
          <a:p>
            <a:pPr marL="0" indent="0">
              <a:lnSpc>
                <a:spcPts val="990"/>
              </a:lnSpc>
              <a:buNone/>
            </a:pPr>
            <a:r>
              <a:rPr lang="en-US" sz="720" u="sng" dirty="0">
                <a:solidFill>
                  <a:srgbClr val="8C6239"/>
                </a:solidFill>
                <a:hlinkClick r:id="rId62" tooltip="https://jp-hardin.github.io/about/mid-market-practice/insights/industrial-industry-report-q4-2026.html">
                  <a:extLst>
                    <a:ext uri="{A12FA001-AC4F-418D-AE19-62706E023703}">
                      <ahyp:hlinkClr xmlns:ahyp="http://schemas.microsoft.com/office/drawing/2018/hyperlinkcolor" val="tx"/>
                    </a:ext>
                  </a:extLst>
                </a:hlinkClick>
              </a:rPr>
              <a:t>Middle Market: Industrial M&amp;A Report, Q4 2026</a:t>
            </a:r>
            <a:r>
              <a:rPr lang="en-US" sz="720" dirty="0">
                <a:solidFill>
                  <a:srgbClr val="6F6A66"/>
                </a:solidFill>
              </a:rPr>
              <a:t>  jp-hardin.github.io</a:t>
            </a:r>
            <a:endParaRPr lang="en-US" sz="720" dirty="0"/>
          </a:p>
        </p:txBody>
      </p:sp>
      <p:sp>
        <p:nvSpPr>
          <p:cNvPr id="7" name="Text 5"/>
          <p:cNvSpPr txBox="1"/>
          <p:nvPr/>
        </p:nvSpPr>
        <p:spPr>
          <a:xfrm>
            <a:off x="6731000" y="1257300"/>
            <a:ext cx="2908300" cy="2857500"/>
          </a:xfrm>
          <a:prstGeom prst="rect">
            <a:avLst/>
          </a:prstGeom>
          <a:noFill/>
          <a:ln/>
        </p:spPr>
        <p:txBody>
          <a:bodyPr wrap="square" lIns="0" tIns="0" rIns="0" bIns="0" rtlCol="0" anchor="t"/>
          <a:lstStyle/>
          <a:p>
            <a:pPr marL="0" indent="0">
              <a:lnSpc>
                <a:spcPts val="990"/>
              </a:lnSpc>
              <a:spcAft>
                <a:spcPts val="300"/>
              </a:spcAft>
              <a:buNone/>
            </a:pPr>
            <a:r>
              <a:rPr lang="en-US" sz="638" b="1" kern="0" spc="120" dirty="0">
                <a:solidFill>
                  <a:srgbClr val="8C6239"/>
                </a:solidFill>
              </a:rPr>
              <a:t>PUBLIC COMPANIES AND ECONOMIC TRENDS (PAGES 10 TO 13)</a:t>
            </a:r>
            <a:endParaRPr lang="en-US" sz="720" dirty="0"/>
          </a:p>
          <a:p>
            <a:pPr marL="0" indent="0">
              <a:lnSpc>
                <a:spcPts val="990"/>
              </a:lnSpc>
              <a:buNone/>
            </a:pPr>
            <a:r>
              <a:rPr lang="en-US" sz="720" u="sng" dirty="0">
                <a:solidFill>
                  <a:srgbClr val="8C6239"/>
                </a:solidFill>
                <a:hlinkClick r:id="rId63" tooltip="https://www.ibba.org/wp-content/uploads/2026/08/mp-highlights-q2-2026.pdf">
                  <a:extLst>
                    <a:ext uri="{A12FA001-AC4F-418D-AE19-62706E023703}">
                      <ahyp:hlinkClr xmlns:ahyp="http://schemas.microsoft.com/office/drawing/2018/hyperlinkcolor" val="tx"/>
                    </a:ext>
                  </a:extLst>
                </a:hlinkClick>
              </a:rPr>
              <a:t>IBBA and M&amp;A Source</a:t>
            </a:r>
            <a:r>
              <a:rPr lang="en-US" sz="720" dirty="0">
                <a:solidFill>
                  <a:srgbClr val="6F6A66"/>
                </a:solidFill>
              </a:rPr>
              <a:t>  ibba.org</a:t>
            </a:r>
            <a:endParaRPr lang="en-US" sz="720" dirty="0"/>
          </a:p>
          <a:p>
            <a:pPr marL="0" indent="0">
              <a:lnSpc>
                <a:spcPts val="990"/>
              </a:lnSpc>
              <a:buNone/>
            </a:pPr>
            <a:r>
              <a:rPr lang="en-US" sz="720" u="sng" dirty="0">
                <a:solidFill>
                  <a:srgbClr val="8C6239"/>
                </a:solidFill>
                <a:hlinkClick r:id="rId64" tooltip="https://digitalcommons.pepperdine.edu/gsbm_pcm_pcmr/19">
                  <a:extLst>
                    <a:ext uri="{A12FA001-AC4F-418D-AE19-62706E023703}">
                      <ahyp:hlinkClr xmlns:ahyp="http://schemas.microsoft.com/office/drawing/2018/hyperlinkcolor" val="tx"/>
                    </a:ext>
                  </a:extLst>
                </a:hlinkClick>
              </a:rPr>
              <a:t>Pepperdine</a:t>
            </a:r>
            <a:r>
              <a:rPr lang="en-US" sz="720" dirty="0">
                <a:solidFill>
                  <a:srgbClr val="6F6A66"/>
                </a:solidFill>
              </a:rPr>
              <a:t>  digitalcommons.pepperdine.edu</a:t>
            </a:r>
            <a:endParaRPr lang="en-US" sz="720" dirty="0"/>
          </a:p>
          <a:p>
            <a:pPr marL="0" indent="0">
              <a:lnSpc>
                <a:spcPts val="990"/>
              </a:lnSpc>
              <a:buNone/>
            </a:pPr>
            <a:r>
              <a:rPr lang="en-US" sz="720" u="sng" dirty="0">
                <a:solidFill>
                  <a:srgbClr val="8C6239"/>
                </a:solidFill>
                <a:hlinkClick r:id="rId65" tooltip="https://stockanalysis.com/">
                  <a:extLst>
                    <a:ext uri="{A12FA001-AC4F-418D-AE19-62706E023703}">
                      <ahyp:hlinkClr xmlns:ahyp="http://schemas.microsoft.com/office/drawing/2018/hyperlinkcolor" val="tx"/>
                    </a:ext>
                  </a:extLst>
                </a:hlinkClick>
              </a:rPr>
              <a:t>StockAnalysis</a:t>
            </a:r>
            <a:r>
              <a:rPr lang="en-US" sz="720" dirty="0">
                <a:solidFill>
                  <a:srgbClr val="6F6A66"/>
                </a:solidFill>
              </a:rPr>
              <a:t>  stockanalysis.com</a:t>
            </a:r>
            <a:endParaRPr lang="en-US" sz="720" dirty="0"/>
          </a:p>
          <a:p>
            <a:pPr marL="0" indent="0">
              <a:lnSpc>
                <a:spcPts val="990"/>
              </a:lnSpc>
              <a:buNone/>
            </a:pPr>
            <a:r>
              <a:rPr lang="en-US" sz="720" u="sng" dirty="0">
                <a:solidFill>
                  <a:srgbClr val="8C6239"/>
                </a:solidFill>
                <a:hlinkClick r:id="rId66" tooltip="https://fred.stlouisfed.org/series/NEWORDER">
                  <a:extLst>
                    <a:ext uri="{A12FA001-AC4F-418D-AE19-62706E023703}">
                      <ahyp:hlinkClr xmlns:ahyp="http://schemas.microsoft.com/office/drawing/2018/hyperlinkcolor" val="tx"/>
                    </a:ext>
                  </a:extLst>
                </a:hlinkClick>
              </a:rPr>
              <a:t>FRED: Core capital goods orders (NEWORDER)</a:t>
            </a:r>
            <a:r>
              <a:rPr lang="en-US" sz="720" dirty="0">
                <a:solidFill>
                  <a:srgbClr val="6F6A66"/>
                </a:solidFill>
              </a:rPr>
              <a:t>  fred.stlouisfed.org</a:t>
            </a:r>
            <a:endParaRPr lang="en-US" sz="720" dirty="0"/>
          </a:p>
          <a:p>
            <a:pPr marL="0" indent="0">
              <a:lnSpc>
                <a:spcPts val="990"/>
              </a:lnSpc>
              <a:buNone/>
            </a:pPr>
            <a:r>
              <a:rPr lang="en-US" sz="720" u="sng" dirty="0">
                <a:solidFill>
                  <a:srgbClr val="8C6239"/>
                </a:solidFill>
                <a:hlinkClick r:id="rId67" tooltip="https://fred.stlouisfed.org/series/MCUMFN">
                  <a:extLst>
                    <a:ext uri="{A12FA001-AC4F-418D-AE19-62706E023703}">
                      <ahyp:hlinkClr xmlns:ahyp="http://schemas.microsoft.com/office/drawing/2018/hyperlinkcolor" val="tx"/>
                    </a:ext>
                  </a:extLst>
                </a:hlinkClick>
              </a:rPr>
              <a:t>FRED: Manufacturing capacity utilization (MCUMFN)</a:t>
            </a:r>
            <a:r>
              <a:rPr lang="en-US" sz="720" dirty="0">
                <a:solidFill>
                  <a:srgbClr val="6F6A66"/>
                </a:solidFill>
              </a:rPr>
              <a:t>  fred.stlouisfed.org</a:t>
            </a:r>
            <a:endParaRPr lang="en-US" sz="720" dirty="0"/>
          </a:p>
          <a:p>
            <a:pPr marL="0" indent="0">
              <a:lnSpc>
                <a:spcPts val="990"/>
              </a:lnSpc>
              <a:buNone/>
            </a:pPr>
            <a:r>
              <a:rPr lang="en-US" sz="720" u="sng" dirty="0">
                <a:solidFill>
                  <a:srgbClr val="8C6239"/>
                </a:solidFill>
                <a:hlinkClick r:id="rId68" tooltip="https://fred.stlouisfed.org/series/TTLCONS">
                  <a:extLst>
                    <a:ext uri="{A12FA001-AC4F-418D-AE19-62706E023703}">
                      <ahyp:hlinkClr xmlns:ahyp="http://schemas.microsoft.com/office/drawing/2018/hyperlinkcolor" val="tx"/>
                    </a:ext>
                  </a:extLst>
                </a:hlinkClick>
              </a:rPr>
              <a:t>FRED: Total construction spending (TTLCONS)</a:t>
            </a:r>
            <a:r>
              <a:rPr lang="en-US" sz="720" dirty="0">
                <a:solidFill>
                  <a:srgbClr val="6F6A66"/>
                </a:solidFill>
              </a:rPr>
              <a:t>  fred.stlouisfed.org</a:t>
            </a:r>
            <a:endParaRPr lang="en-US" sz="720" dirty="0"/>
          </a:p>
          <a:p>
            <a:pPr marL="0" indent="0">
              <a:lnSpc>
                <a:spcPts val="990"/>
              </a:lnSpc>
              <a:buNone/>
            </a:pPr>
            <a:r>
              <a:rPr lang="en-US" sz="720" u="sng" dirty="0">
                <a:solidFill>
                  <a:srgbClr val="8C6239"/>
                </a:solidFill>
                <a:hlinkClick r:id="rId69" tooltip="https://fred.stlouisfed.org/series/TLMFGCONS">
                  <a:extLst>
                    <a:ext uri="{A12FA001-AC4F-418D-AE19-62706E023703}">
                      <ahyp:hlinkClr xmlns:ahyp="http://schemas.microsoft.com/office/drawing/2018/hyperlinkcolor" val="tx"/>
                    </a:ext>
                  </a:extLst>
                </a:hlinkClick>
              </a:rPr>
              <a:t>FRED: Manufacturing construction (TLMFGCONS)</a:t>
            </a:r>
            <a:r>
              <a:rPr lang="en-US" sz="720" dirty="0">
                <a:solidFill>
                  <a:srgbClr val="6F6A66"/>
                </a:solidFill>
              </a:rPr>
              <a:t>  fred.stlouisfed.org</a:t>
            </a:r>
            <a:endParaRPr lang="en-US" sz="720" dirty="0"/>
          </a:p>
          <a:p>
            <a:pPr marL="0" indent="0">
              <a:lnSpc>
                <a:spcPts val="990"/>
              </a:lnSpc>
              <a:buNone/>
            </a:pPr>
            <a:r>
              <a:rPr lang="en-US" sz="720" u="sng" dirty="0">
                <a:solidFill>
                  <a:srgbClr val="8C6239"/>
                </a:solidFill>
                <a:hlinkClick r:id="rId70" tooltip="https://fred.stlouisfed.org/series/WPU1017">
                  <a:extLst>
                    <a:ext uri="{A12FA001-AC4F-418D-AE19-62706E023703}">
                      <ahyp:hlinkClr xmlns:ahyp="http://schemas.microsoft.com/office/drawing/2018/hyperlinkcolor" val="tx"/>
                    </a:ext>
                  </a:extLst>
                </a:hlinkClick>
              </a:rPr>
              <a:t>FRED: Steel mill product prices (WPU1017)</a:t>
            </a:r>
            <a:r>
              <a:rPr lang="en-US" sz="720" dirty="0">
                <a:solidFill>
                  <a:srgbClr val="6F6A66"/>
                </a:solidFill>
              </a:rPr>
              <a:t>  fred.stlouisfed.org</a:t>
            </a:r>
            <a:endParaRPr lang="en-US" sz="720" dirty="0"/>
          </a:p>
          <a:p>
            <a:pPr marL="0" indent="0">
              <a:lnSpc>
                <a:spcPts val="990"/>
              </a:lnSpc>
              <a:buNone/>
            </a:pPr>
            <a:r>
              <a:rPr lang="en-US" sz="720" u="sng" dirty="0">
                <a:solidFill>
                  <a:srgbClr val="8C6239"/>
                </a:solidFill>
                <a:hlinkClick r:id="rId71" tooltip="https://fred.stlouisfed.org/series/GASDESM">
                  <a:extLst>
                    <a:ext uri="{A12FA001-AC4F-418D-AE19-62706E023703}">
                      <ahyp:hlinkClr xmlns:ahyp="http://schemas.microsoft.com/office/drawing/2018/hyperlinkcolor" val="tx"/>
                    </a:ext>
                  </a:extLst>
                </a:hlinkClick>
              </a:rPr>
              <a:t>FRED: Diesel price (GASDESM)</a:t>
            </a:r>
            <a:r>
              <a:rPr lang="en-US" sz="720" dirty="0">
                <a:solidFill>
                  <a:srgbClr val="6F6A66"/>
                </a:solidFill>
              </a:rPr>
              <a:t>  fred.stlouisfed.org</a:t>
            </a:r>
            <a:endParaRPr lang="en-US" sz="720" dirty="0"/>
          </a:p>
          <a:p>
            <a:pPr marL="0" indent="0">
              <a:lnSpc>
                <a:spcPts val="990"/>
              </a:lnSpc>
              <a:buNone/>
            </a:pPr>
            <a:r>
              <a:rPr lang="en-US" sz="720" u="sng" dirty="0">
                <a:solidFill>
                  <a:srgbClr val="8C6239"/>
                </a:solidFill>
                <a:hlinkClick r:id="rId72" tooltip="https://fred.stlouisfed.org/series/FRGSHPUSM649NCIS">
                  <a:extLst>
                    <a:ext uri="{A12FA001-AC4F-418D-AE19-62706E023703}">
                      <ahyp:hlinkClr xmlns:ahyp="http://schemas.microsoft.com/office/drawing/2018/hyperlinkcolor" val="tx"/>
                    </a:ext>
                  </a:extLst>
                </a:hlinkClick>
              </a:rPr>
              <a:t>FRED: Cass Freight Index: shipments (FRGSHPUSM649NCIS)</a:t>
            </a:r>
            <a:r>
              <a:rPr lang="en-US" sz="720" dirty="0">
                <a:solidFill>
                  <a:srgbClr val="6F6A66"/>
                </a:solidFill>
              </a:rPr>
              <a:t>  fred.stlouisfed.org</a:t>
            </a:r>
            <a:endParaRPr lang="en-US" sz="720" dirty="0"/>
          </a:p>
          <a:p>
            <a:pPr marL="0" indent="0">
              <a:lnSpc>
                <a:spcPts val="990"/>
              </a:lnSpc>
              <a:buNone/>
            </a:pPr>
            <a:r>
              <a:rPr lang="en-US" sz="720" u="sng" dirty="0">
                <a:solidFill>
                  <a:srgbClr val="8C6239"/>
                </a:solidFill>
                <a:hlinkClick r:id="rId73" tooltip="https://fred.stlouisfed.org/series/GS10">
                  <a:extLst>
                    <a:ext uri="{A12FA001-AC4F-418D-AE19-62706E023703}">
                      <ahyp:hlinkClr xmlns:ahyp="http://schemas.microsoft.com/office/drawing/2018/hyperlinkcolor" val="tx"/>
                    </a:ext>
                  </a:extLst>
                </a:hlinkClick>
              </a:rPr>
              <a:t>FRED: 10-year Treasury yield (GS10)</a:t>
            </a:r>
            <a:r>
              <a:rPr lang="en-US" sz="720" dirty="0">
                <a:solidFill>
                  <a:srgbClr val="6F6A66"/>
                </a:solidFill>
              </a:rPr>
              <a:t>  fred.stlouisfed.org</a:t>
            </a:r>
            <a:endParaRPr lang="en-US" sz="720" dirty="0"/>
          </a:p>
        </p:txBody>
      </p:sp>
      <p:sp>
        <p:nvSpPr>
          <p:cNvPr id="8" name="Method note"/>
          <p:cNvSpPr/>
          <p:nvPr/>
        </p:nvSpPr>
        <p:spPr>
          <a:xfrm>
            <a:off x="6731000" y="5334000"/>
            <a:ext cx="2908300" cy="1524000"/>
          </a:xfrm>
          <a:prstGeom prst="rect">
            <a:avLst/>
          </a:prstGeom>
          <a:solidFill>
            <a:srgbClr val="FAF7F3"/>
          </a:solidFill>
          <a:ln/>
        </p:spPr>
        <p:txBody>
          <a:bodyPr/>
          <a:lstStyle/>
          <a:p>
            <a:endParaRPr lang="en-US"/>
          </a:p>
        </p:txBody>
      </p:sp>
      <p:sp>
        <p:nvSpPr>
          <p:cNvPr id="9" name="Shape 7"/>
          <p:cNvSpPr/>
          <p:nvPr/>
        </p:nvSpPr>
        <p:spPr>
          <a:xfrm>
            <a:off x="6740525" y="5334000"/>
            <a:ext cx="0" cy="1524000"/>
          </a:xfrm>
          <a:prstGeom prst="line">
            <a:avLst/>
          </a:prstGeom>
          <a:noFill/>
          <a:ln w="28575">
            <a:solidFill>
              <a:srgbClr val="B68757"/>
            </a:solidFill>
            <a:prstDash val="solid"/>
          </a:ln>
        </p:spPr>
        <p:txBody>
          <a:bodyPr/>
          <a:lstStyle/>
          <a:p>
            <a:endParaRPr lang="en-US"/>
          </a:p>
        </p:txBody>
      </p:sp>
      <p:sp>
        <p:nvSpPr>
          <p:cNvPr id="10" name="Text 8"/>
          <p:cNvSpPr txBox="1"/>
          <p:nvPr/>
        </p:nvSpPr>
        <p:spPr>
          <a:xfrm>
            <a:off x="6845300" y="5448300"/>
            <a:ext cx="2679700" cy="1333500"/>
          </a:xfrm>
          <a:prstGeom prst="rect">
            <a:avLst/>
          </a:prstGeom>
          <a:noFill/>
          <a:ln/>
        </p:spPr>
        <p:txBody>
          <a:bodyPr wrap="square" lIns="0" tIns="0" rIns="0" bIns="0" rtlCol="0" anchor="t"/>
          <a:lstStyle/>
          <a:p>
            <a:pPr marL="0" indent="0">
              <a:lnSpc>
                <a:spcPts val="1050"/>
              </a:lnSpc>
              <a:buNone/>
            </a:pPr>
            <a:r>
              <a:rPr lang="en-US" sz="720" b="1" dirty="0">
                <a:solidFill>
                  <a:srgbClr val="1B1A1A"/>
                </a:solidFill>
              </a:rPr>
              <a:t>How the figures were gathered. </a:t>
            </a:r>
            <a:r>
              <a:rPr lang="en-US" sz="720" dirty="0">
                <a:solidFill>
                  <a:srgbClr val="333231"/>
                </a:solidFill>
              </a:rPr>
              <a:t>Listed-company figures are from StockAnalysis and use reported results. Economic series are from FRED. Benchmark International figures are from the firm’s transaction records as of October 1, 2026. Subscription and registration sources that would add depth, including GF Data, PitchBook and S&amp;P Capital IQ, are listed in a separate one-page companion.</a:t>
            </a:r>
            <a:endParaRPr lang="en-US" sz="720" dirty="0"/>
          </a:p>
        </p:txBody>
      </p:sp>
      <p:sp>
        <p:nvSpPr>
          <p:cNvPr id="25" name="Slide Number Placeholder 0"/>
          <p:cNvSpPr>
            <a:spLocks noGrp="1"/>
          </p:cNvSpPr>
          <p:nvPr>
            <p:ph type="sldNum" sz="quarter" idx="4294967295"/>
          </p:nvPr>
        </p:nvSpPr>
        <p:spPr>
          <a:xfrm>
            <a:off x="9258300" y="7143750"/>
            <a:ext cx="381000" cy="152400"/>
          </a:xfrm>
          <a:prstGeom prst="rect">
            <a:avLst/>
          </a:prstGeom>
          <a:extLst>
            <a:ext uri="{C572A759-6A51-4108-AA02-DFA0A04FC94B}">
              <ma14:wrappingTextBoxFlag xmlns="" xmlns:ma14="http://schemas.microsoft.com/office/mac/drawingml/2011/main" val="0"/>
            </a:ext>
          </a:extLst>
        </p:spPr>
        <p:txBody>
          <a:bodyPr lIns="0" tIns="0" rIns="0" bIns="0"/>
          <a:lstStyle>
            <a:lvl1pPr>
              <a:defRPr sz="713">
                <a:solidFill>
                  <a:srgbClr val="1B1A1A"/>
                </a:solidFill>
              </a:defRPr>
            </a:lvl1pPr>
          </a:lstStyle>
          <a:p>
            <a:pPr algn="r"/>
            <a:fld id="{F7021451-1387-4CA6-816F-3879F97B5CBC}" type="slidenum">
              <a:rPr lang="en-US" b="1"/>
              <a:t>17</a:t>
            </a:fld>
            <a:endParaRPr lang="en-US"/>
          </a:p>
        </p:txBody>
      </p:sp>
    </p:spTree>
  </p:cSld>
  <p:clrMapOvr>
    <a:masterClrMapping/>
  </p:clrMapOvr>
</p:sld>
</file>

<file path=ppt/theme/theme1.xml><?xml version="1.0" encoding="utf-8"?>
<a:theme xmlns:a="http://schemas.openxmlformats.org/drawingml/2006/main" name="Benchmark Capital Markets">
  <a:themeElements>
    <a:clrScheme name="Benchmark Capital Markets">
      <a:dk1>
        <a:srgbClr val="1B1A1A"/>
      </a:dk1>
      <a:lt1>
        <a:srgbClr val="FFFFFF"/>
      </a:lt1>
      <a:dk2>
        <a:srgbClr val="333231"/>
      </a:dk2>
      <a:lt2>
        <a:srgbClr val="FAF7F3"/>
      </a:lt2>
      <a:accent1>
        <a:srgbClr val="B68757"/>
      </a:accent1>
      <a:accent2>
        <a:srgbClr val="8C6239"/>
      </a:accent2>
      <a:accent3>
        <a:srgbClr val="D3AE84"/>
      </a:accent3>
      <a:accent4>
        <a:srgbClr val="6F6A66"/>
      </a:accent4>
      <a:accent5>
        <a:srgbClr val="C3BDB6"/>
      </a:accent5>
      <a:accent6>
        <a:srgbClr val="E3DCD3"/>
      </a:accent6>
      <a:hlink>
        <a:srgbClr val="8C6239"/>
      </a:hlink>
      <a:folHlink>
        <a:srgbClr val="5E4126"/>
      </a:folHlink>
    </a:clrScheme>
    <a:fontScheme name="Benchmark Capital Marke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6107</Words>
  <Application>Microsoft Office PowerPoint</Application>
  <PresentationFormat>Custom</PresentationFormat>
  <Paragraphs>635</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Benchmark Capital Markets</vt:lpstr>
      <vt:lpstr>PowerPoint Presentation</vt:lpstr>
      <vt:lpstr>Insights</vt:lpstr>
      <vt:lpstr>Market Insights: Q4 2026</vt:lpstr>
      <vt:lpstr>Power Demand: The Buildout Reaches Every Industrial Segment</vt:lpstr>
      <vt:lpstr>Featured Engagement: The Carmi Companies</vt:lpstr>
      <vt:lpstr>Sector Activity</vt:lpstr>
      <vt:lpstr>Select Recent Industrial Transactions</vt:lpstr>
      <vt:lpstr>Select Recent Industrial Transactions (Continued)</vt:lpstr>
      <vt:lpstr>Benchmark International’s Industrial Transactions</vt:lpstr>
      <vt:lpstr>Public Company Performance and Trends: Valuation History</vt:lpstr>
      <vt:lpstr>Public Company Performance and Trends: Operating Metrics</vt:lpstr>
      <vt:lpstr>Public Company Performance and Trends: Valuation Metrics</vt:lpstr>
      <vt:lpstr>Economic Trends</vt:lpstr>
      <vt:lpstr>Connect With Us</vt:lpstr>
      <vt:lpstr>Connect With Our Team</vt:lpstr>
      <vt:lpstr>Important Disclosures</vt:lpstr>
      <vt:lpstr>Sources</vt:lpstr>
    </vt:vector>
  </TitlesOfParts>
  <Company>Benchmark International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Q4 2026 Sector Brief</dc:title>
  <dc:subject>Quarterly sector brief, October 2026</dc:subject>
  <dc:creator>Jared Hardin, Benchmark Capital Markets</dc:creator>
  <cp:lastModifiedBy>Jason Lisiak</cp:lastModifiedBy>
  <cp:revision>3</cp:revision>
  <dcterms:created xsi:type="dcterms:W3CDTF">2026-10-12T16:51:24Z</dcterms:created>
  <dcterms:modified xsi:type="dcterms:W3CDTF">2026-10-13T16:46:10Z</dcterms:modified>
</cp:coreProperties>
</file>