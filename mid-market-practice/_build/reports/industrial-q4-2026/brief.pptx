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0.jpg" ContentType="image/jpg"/>
  <Override PartName="/ppt/media/image11.jpg" ContentType="image/jpg"/>
  <Override PartName="/ppt/media/image15.jpg" ContentType="image/jpg"/>
  <Override PartName="/ppt/media/image16.jpg" ContentType="image/jpg"/>
  <Override PartName="/ppt/media/image17.jpg" ContentType="image/jpg"/>
  <Override PartName="/ppt/media/image18.jpg" ContentType="image/jpg"/>
  <Override PartName="/ppt/media/image19.jpg" ContentType="image/jpg"/>
  <Override PartName="/ppt/media/image2.jpg" ContentType="image/jpg"/>
  <Override PartName="/ppt/media/image25.jpg" ContentType="image/jpg"/>
  <Override PartName="/ppt/media/image26.jpg" ContentType="image/jpg"/>
  <Override PartName="/ppt/media/image27.jpg" ContentType="image/jpg"/>
  <Override PartName="/ppt/media/image4.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3" r:id="rId24"/>
    <p:sldId id="271" r:id="rId17"/>
    <p:sldId id="272" r:id="rId18"/>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C4257B2-3684-0462-07B5-1852DD144E4E}">
          <p14:sldIdLst>
            <p14:sldId id="256"/>
          </p14:sldIdLst>
        </p14:section>
        <p14:section name="01 Insights" id="{D8E30133-3877-BB0F-19E1-208C4C7078A5}">
          <p14:sldIdLst>
            <p14:sldId id="257"/>
            <p14:sldId id="258"/>
            <p14:sldId id="259"/>
            <p14:sldId id="260"/>
          </p14:sldIdLst>
        </p14:section>
        <p14:section name="02 Sector Activity" id="{E5B8BA2E-C5BC-F754-C45C-51894EAF5447}">
          <p14:sldIdLst>
            <p14:sldId id="261"/>
            <p14:sldId id="262"/>
            <p14:sldId id="263"/>
            <p14:sldId id="264"/>
            <p14:sldId id="265"/>
            <p14:sldId id="266"/>
            <p14:sldId id="267"/>
            <p14:sldId id="268"/>
          </p14:sldIdLst>
        </p14:section>
        <p14:section name="03 Connect With Us" id="{2E69D56B-EA9A-A964-C58F-363DD058E786}">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In progress</c:v>
                </c:pt>
              </c:strCache>
            </c:strRef>
          </c:tx>
          <c:spPr>
            <a:solidFill>
              <a:srgbClr val="C3BDB6"/>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14</c:v>
                </c:pt>
                <c:pt idx="1">
                  <c:v>28</c:v>
                </c:pt>
                <c:pt idx="2">
                  <c:v>118</c:v>
                </c:pt>
                <c:pt idx="3">
                  <c:v>24</c:v>
                </c:pt>
                <c:pt idx="4">
                  <c:v>28</c:v>
                </c:pt>
              </c:numCache>
            </c:numRef>
          </c:val>
          <c:extLst>
            <c:ext xmlns:c16="http://schemas.microsoft.com/office/drawing/2014/chart" uri="{C3380CC4-5D6E-409C-BE32-E72D297353CC}">
              <c16:uniqueId val="{00000000-29FC-4EDA-9D95-F9C7F1459B03}"/>
            </c:ext>
          </c:extLst>
        </c:ser>
        <c:ser>
          <c:idx val="1"/>
          <c:order val="1"/>
          <c:tx>
            <c:strRef>
              <c:f>Sheet1!$C$1</c:f>
              <c:strCache>
                <c:ptCount val="1"/>
                <c:pt idx="0">
                  <c:v>Closed</c:v>
                </c:pt>
              </c:strCache>
            </c:strRef>
          </c:tx>
          <c:spPr>
            <a:solidFill>
              <a:srgbClr val="B68757"/>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Sheet1!$C$2:$C$6</c:f>
              <c:numCache>
                <c:formatCode>General</c:formatCode>
                <c:ptCount val="5"/>
                <c:pt idx="0">
                  <c:v>3</c:v>
                </c:pt>
                <c:pt idx="1">
                  <c:v>7</c:v>
                </c:pt>
                <c:pt idx="2">
                  <c:v>45</c:v>
                </c:pt>
                <c:pt idx="3">
                  <c:v>8</c:v>
                </c:pt>
                <c:pt idx="4">
                  <c:v>22</c:v>
                </c:pt>
              </c:numCache>
            </c:numRef>
          </c:val>
          <c:extLst>
            <c:ext xmlns:c16="http://schemas.microsoft.com/office/drawing/2014/chart" uri="{C3380CC4-5D6E-409C-BE32-E72D297353CC}">
              <c16:uniqueId val="{00000001-29FC-4EDA-9D95-F9C7F1459B03}"/>
            </c:ext>
          </c:extLst>
        </c:ser>
        <c:dLbls>
          <c:showLegendKey val="0"/>
          <c:showVal val="1"/>
          <c:showCatName val="0"/>
          <c:showSerName val="0"/>
          <c:showPercent val="0"/>
          <c:showBubbleSize val="0"/>
        </c:dLbls>
        <c:gapWidth val="2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t"/>
      <c:overlay val="0"/>
      <c:txPr>
        <a:bodyPr/>
        <a:lstStyle/>
        <a:p>
          <a:pPr>
            <a:defRPr sz="750">
              <a:solidFill>
                <a:srgbClr val="6F6A6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0311-4A30-8735-85EC7D903A6C}"/>
              </c:ext>
            </c:extLst>
          </c:dPt>
          <c:dPt>
            <c:idx val="1"/>
            <c:invertIfNegative val="0"/>
            <c:bubble3D val="0"/>
            <c:extLst>
              <c:ext xmlns:c16="http://schemas.microsoft.com/office/drawing/2014/chart" uri="{C3380CC4-5D6E-409C-BE32-E72D297353CC}">
                <c16:uniqueId val="{00000003-0311-4A30-8735-85EC7D903A6C}"/>
              </c:ext>
            </c:extLst>
          </c:dPt>
          <c:dPt>
            <c:idx val="2"/>
            <c:invertIfNegative val="0"/>
            <c:bubble3D val="0"/>
            <c:extLst>
              <c:ext xmlns:c16="http://schemas.microsoft.com/office/drawing/2014/chart" uri="{C3380CC4-5D6E-409C-BE32-E72D297353CC}">
                <c16:uniqueId val="{00000005-0311-4A30-8735-85EC7D903A6C}"/>
              </c:ext>
            </c:extLst>
          </c:dPt>
          <c:dPt>
            <c:idx val="3"/>
            <c:invertIfNegative val="0"/>
            <c:bubble3D val="0"/>
            <c:extLst>
              <c:ext xmlns:c16="http://schemas.microsoft.com/office/drawing/2014/chart" uri="{C3380CC4-5D6E-409C-BE32-E72D297353CC}">
                <c16:uniqueId val="{00000007-0311-4A30-8735-85EC7D903A6C}"/>
              </c:ext>
            </c:extLst>
          </c:dPt>
          <c:dPt>
            <c:idx val="4"/>
            <c:invertIfNegative val="0"/>
            <c:bubble3D val="0"/>
            <c:extLst>
              <c:ext xmlns:c16="http://schemas.microsoft.com/office/drawing/2014/chart" uri="{C3380CC4-5D6E-409C-BE32-E72D297353CC}">
                <c16:uniqueId val="{00000009-0311-4A30-8735-85EC7D903A6C}"/>
              </c:ext>
            </c:extLst>
          </c:dPt>
          <c:dPt>
            <c:idx val="5"/>
            <c:invertIfNegative val="0"/>
            <c:bubble3D val="0"/>
            <c:spPr>
              <a:solidFill>
                <a:srgbClr val="B68757"/>
              </a:solidFill>
              <a:effectLst/>
            </c:spPr>
            <c:extLst>
              <c:ext xmlns:c16="http://schemas.microsoft.com/office/drawing/2014/chart" uri="{C3380CC4-5D6E-409C-BE32-E72D297353CC}">
                <c16:uniqueId val="{0000000B-0311-4A30-8735-85EC7D903A6C}"/>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15.7</c:v>
                </c:pt>
                <c:pt idx="1">
                  <c:v>12.8</c:v>
                </c:pt>
                <c:pt idx="2">
                  <c:v>14.9</c:v>
                </c:pt>
                <c:pt idx="3">
                  <c:v>15.6</c:v>
                </c:pt>
                <c:pt idx="4">
                  <c:v>18</c:v>
                </c:pt>
                <c:pt idx="5">
                  <c:v>23</c:v>
                </c:pt>
              </c:numCache>
            </c:numRef>
          </c:val>
          <c:extLst>
            <c:ext xmlns:c16="http://schemas.microsoft.com/office/drawing/2014/chart" uri="{C3380CC4-5D6E-409C-BE32-E72D297353CC}">
              <c16:uniqueId val="{0000000C-0311-4A30-8735-85EC7D903A6C}"/>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D35B-45A6-846A-E41593B4D1C9}"/>
              </c:ext>
            </c:extLst>
          </c:dPt>
          <c:dPt>
            <c:idx val="1"/>
            <c:invertIfNegative val="0"/>
            <c:bubble3D val="0"/>
            <c:extLst>
              <c:ext xmlns:c16="http://schemas.microsoft.com/office/drawing/2014/chart" uri="{C3380CC4-5D6E-409C-BE32-E72D297353CC}">
                <c16:uniqueId val="{00000003-D35B-45A6-846A-E41593B4D1C9}"/>
              </c:ext>
            </c:extLst>
          </c:dPt>
          <c:dPt>
            <c:idx val="2"/>
            <c:invertIfNegative val="0"/>
            <c:bubble3D val="0"/>
            <c:extLst>
              <c:ext xmlns:c16="http://schemas.microsoft.com/office/drawing/2014/chart" uri="{C3380CC4-5D6E-409C-BE32-E72D297353CC}">
                <c16:uniqueId val="{00000005-D35B-45A6-846A-E41593B4D1C9}"/>
              </c:ext>
            </c:extLst>
          </c:dPt>
          <c:dPt>
            <c:idx val="3"/>
            <c:invertIfNegative val="0"/>
            <c:bubble3D val="0"/>
            <c:extLst>
              <c:ext xmlns:c16="http://schemas.microsoft.com/office/drawing/2014/chart" uri="{C3380CC4-5D6E-409C-BE32-E72D297353CC}">
                <c16:uniqueId val="{00000007-D35B-45A6-846A-E41593B4D1C9}"/>
              </c:ext>
            </c:extLst>
          </c:dPt>
          <c:dPt>
            <c:idx val="4"/>
            <c:invertIfNegative val="0"/>
            <c:bubble3D val="0"/>
            <c:extLst>
              <c:ext xmlns:c16="http://schemas.microsoft.com/office/drawing/2014/chart" uri="{C3380CC4-5D6E-409C-BE32-E72D297353CC}">
                <c16:uniqueId val="{00000009-D35B-45A6-846A-E41593B4D1C9}"/>
              </c:ext>
            </c:extLst>
          </c:dPt>
          <c:dPt>
            <c:idx val="5"/>
            <c:invertIfNegative val="0"/>
            <c:bubble3D val="0"/>
            <c:spPr>
              <a:solidFill>
                <a:srgbClr val="B68757"/>
              </a:solidFill>
              <a:effectLst/>
            </c:spPr>
            <c:extLst>
              <c:ext xmlns:c16="http://schemas.microsoft.com/office/drawing/2014/chart" uri="{C3380CC4-5D6E-409C-BE32-E72D297353CC}">
                <c16:uniqueId val="{0000000B-D35B-45A6-846A-E41593B4D1C9}"/>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c:v>
                </c:pt>
                <c:pt idx="1">
                  <c:v>10.5</c:v>
                </c:pt>
                <c:pt idx="2">
                  <c:v>13.5</c:v>
                </c:pt>
                <c:pt idx="3">
                  <c:v>14.3</c:v>
                </c:pt>
                <c:pt idx="4">
                  <c:v>14.9</c:v>
                </c:pt>
                <c:pt idx="5">
                  <c:v>17.7</c:v>
                </c:pt>
              </c:numCache>
            </c:numRef>
          </c:val>
          <c:extLst>
            <c:ext xmlns:c16="http://schemas.microsoft.com/office/drawing/2014/chart" uri="{C3380CC4-5D6E-409C-BE32-E72D297353CC}">
              <c16:uniqueId val="{0000000C-D35B-45A6-846A-E41593B4D1C9}"/>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B2D1-430F-968B-24BD9A9EBE98}"/>
              </c:ext>
            </c:extLst>
          </c:dPt>
          <c:dPt>
            <c:idx val="1"/>
            <c:invertIfNegative val="0"/>
            <c:bubble3D val="0"/>
            <c:extLst>
              <c:ext xmlns:c16="http://schemas.microsoft.com/office/drawing/2014/chart" uri="{C3380CC4-5D6E-409C-BE32-E72D297353CC}">
                <c16:uniqueId val="{00000003-B2D1-430F-968B-24BD9A9EBE98}"/>
              </c:ext>
            </c:extLst>
          </c:dPt>
          <c:dPt>
            <c:idx val="2"/>
            <c:invertIfNegative val="0"/>
            <c:bubble3D val="0"/>
            <c:extLst>
              <c:ext xmlns:c16="http://schemas.microsoft.com/office/drawing/2014/chart" uri="{C3380CC4-5D6E-409C-BE32-E72D297353CC}">
                <c16:uniqueId val="{00000005-B2D1-430F-968B-24BD9A9EBE98}"/>
              </c:ext>
            </c:extLst>
          </c:dPt>
          <c:dPt>
            <c:idx val="3"/>
            <c:invertIfNegative val="0"/>
            <c:bubble3D val="0"/>
            <c:extLst>
              <c:ext xmlns:c16="http://schemas.microsoft.com/office/drawing/2014/chart" uri="{C3380CC4-5D6E-409C-BE32-E72D297353CC}">
                <c16:uniqueId val="{00000007-B2D1-430F-968B-24BD9A9EBE98}"/>
              </c:ext>
            </c:extLst>
          </c:dPt>
          <c:dPt>
            <c:idx val="4"/>
            <c:invertIfNegative val="0"/>
            <c:bubble3D val="0"/>
            <c:extLst>
              <c:ext xmlns:c16="http://schemas.microsoft.com/office/drawing/2014/chart" uri="{C3380CC4-5D6E-409C-BE32-E72D297353CC}">
                <c16:uniqueId val="{00000009-B2D1-430F-968B-24BD9A9EBE98}"/>
              </c:ext>
            </c:extLst>
          </c:dPt>
          <c:dPt>
            <c:idx val="5"/>
            <c:invertIfNegative val="0"/>
            <c:bubble3D val="0"/>
            <c:spPr>
              <a:solidFill>
                <a:srgbClr val="B68757"/>
              </a:solidFill>
              <a:effectLst/>
            </c:spPr>
            <c:extLst>
              <c:ext xmlns:c16="http://schemas.microsoft.com/office/drawing/2014/chart" uri="{C3380CC4-5D6E-409C-BE32-E72D297353CC}">
                <c16:uniqueId val="{0000000B-B2D1-430F-968B-24BD9A9EBE98}"/>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12.7</c:v>
                </c:pt>
                <c:pt idx="1">
                  <c:v>10</c:v>
                </c:pt>
                <c:pt idx="2">
                  <c:v>13.6</c:v>
                </c:pt>
                <c:pt idx="3">
                  <c:v>15.2</c:v>
                </c:pt>
                <c:pt idx="4">
                  <c:v>16.7</c:v>
                </c:pt>
                <c:pt idx="5">
                  <c:v>15.1</c:v>
                </c:pt>
              </c:numCache>
            </c:numRef>
          </c:val>
          <c:extLst>
            <c:ext xmlns:c16="http://schemas.microsoft.com/office/drawing/2014/chart" uri="{C3380CC4-5D6E-409C-BE32-E72D297353CC}">
              <c16:uniqueId val="{0000000C-B2D1-430F-968B-24BD9A9EBE98}"/>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813B-4D3B-8898-A7C1DB3CBE2D}"/>
              </c:ext>
            </c:extLst>
          </c:dPt>
          <c:dPt>
            <c:idx val="1"/>
            <c:invertIfNegative val="0"/>
            <c:bubble3D val="0"/>
            <c:extLst>
              <c:ext xmlns:c16="http://schemas.microsoft.com/office/drawing/2014/chart" uri="{C3380CC4-5D6E-409C-BE32-E72D297353CC}">
                <c16:uniqueId val="{00000003-813B-4D3B-8898-A7C1DB3CBE2D}"/>
              </c:ext>
            </c:extLst>
          </c:dPt>
          <c:dPt>
            <c:idx val="2"/>
            <c:invertIfNegative val="0"/>
            <c:bubble3D val="0"/>
            <c:extLst>
              <c:ext xmlns:c16="http://schemas.microsoft.com/office/drawing/2014/chart" uri="{C3380CC4-5D6E-409C-BE32-E72D297353CC}">
                <c16:uniqueId val="{00000005-813B-4D3B-8898-A7C1DB3CBE2D}"/>
              </c:ext>
            </c:extLst>
          </c:dPt>
          <c:dPt>
            <c:idx val="3"/>
            <c:invertIfNegative val="0"/>
            <c:bubble3D val="0"/>
            <c:extLst>
              <c:ext xmlns:c16="http://schemas.microsoft.com/office/drawing/2014/chart" uri="{C3380CC4-5D6E-409C-BE32-E72D297353CC}">
                <c16:uniqueId val="{00000007-813B-4D3B-8898-A7C1DB3CBE2D}"/>
              </c:ext>
            </c:extLst>
          </c:dPt>
          <c:dPt>
            <c:idx val="4"/>
            <c:invertIfNegative val="0"/>
            <c:bubble3D val="0"/>
            <c:extLst>
              <c:ext xmlns:c16="http://schemas.microsoft.com/office/drawing/2014/chart" uri="{C3380CC4-5D6E-409C-BE32-E72D297353CC}">
                <c16:uniqueId val="{00000009-813B-4D3B-8898-A7C1DB3CBE2D}"/>
              </c:ext>
            </c:extLst>
          </c:dPt>
          <c:dPt>
            <c:idx val="5"/>
            <c:invertIfNegative val="0"/>
            <c:bubble3D val="0"/>
            <c:spPr>
              <a:solidFill>
                <a:srgbClr val="B68757"/>
              </a:solidFill>
              <a:effectLst/>
            </c:spPr>
            <c:extLst>
              <c:ext xmlns:c16="http://schemas.microsoft.com/office/drawing/2014/chart" uri="{C3380CC4-5D6E-409C-BE32-E72D297353CC}">
                <c16:uniqueId val="{0000000B-813B-4D3B-8898-A7C1DB3CBE2D}"/>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23.9</c:v>
                </c:pt>
                <c:pt idx="1">
                  <c:v>17.399999999999999</c:v>
                </c:pt>
                <c:pt idx="2">
                  <c:v>18.600000000000001</c:v>
                </c:pt>
                <c:pt idx="3">
                  <c:v>16.7</c:v>
                </c:pt>
                <c:pt idx="4">
                  <c:v>18.2</c:v>
                </c:pt>
                <c:pt idx="5">
                  <c:v>16.2</c:v>
                </c:pt>
              </c:numCache>
            </c:numRef>
          </c:val>
          <c:extLst>
            <c:ext xmlns:c16="http://schemas.microsoft.com/office/drawing/2014/chart" uri="{C3380CC4-5D6E-409C-BE32-E72D297353CC}">
              <c16:uniqueId val="{0000000C-813B-4D3B-8898-A7C1DB3CBE2D}"/>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5FAB-42BF-B3C0-0E21DDD66956}"/>
              </c:ext>
            </c:extLst>
          </c:dPt>
          <c:dPt>
            <c:idx val="1"/>
            <c:invertIfNegative val="0"/>
            <c:bubble3D val="0"/>
            <c:extLst>
              <c:ext xmlns:c16="http://schemas.microsoft.com/office/drawing/2014/chart" uri="{C3380CC4-5D6E-409C-BE32-E72D297353CC}">
                <c16:uniqueId val="{00000003-5FAB-42BF-B3C0-0E21DDD66956}"/>
              </c:ext>
            </c:extLst>
          </c:dPt>
          <c:dPt>
            <c:idx val="2"/>
            <c:invertIfNegative val="0"/>
            <c:bubble3D val="0"/>
            <c:extLst>
              <c:ext xmlns:c16="http://schemas.microsoft.com/office/drawing/2014/chart" uri="{C3380CC4-5D6E-409C-BE32-E72D297353CC}">
                <c16:uniqueId val="{00000005-5FAB-42BF-B3C0-0E21DDD66956}"/>
              </c:ext>
            </c:extLst>
          </c:dPt>
          <c:dPt>
            <c:idx val="3"/>
            <c:invertIfNegative val="0"/>
            <c:bubble3D val="0"/>
            <c:extLst>
              <c:ext xmlns:c16="http://schemas.microsoft.com/office/drawing/2014/chart" uri="{C3380CC4-5D6E-409C-BE32-E72D297353CC}">
                <c16:uniqueId val="{00000007-5FAB-42BF-B3C0-0E21DDD66956}"/>
              </c:ext>
            </c:extLst>
          </c:dPt>
          <c:dPt>
            <c:idx val="4"/>
            <c:invertIfNegative val="0"/>
            <c:bubble3D val="0"/>
            <c:extLst>
              <c:ext xmlns:c16="http://schemas.microsoft.com/office/drawing/2014/chart" uri="{C3380CC4-5D6E-409C-BE32-E72D297353CC}">
                <c16:uniqueId val="{00000009-5FAB-42BF-B3C0-0E21DDD66956}"/>
              </c:ext>
            </c:extLst>
          </c:dPt>
          <c:dPt>
            <c:idx val="5"/>
            <c:invertIfNegative val="0"/>
            <c:bubble3D val="0"/>
            <c:spPr>
              <a:solidFill>
                <a:srgbClr val="B68757"/>
              </a:solidFill>
              <a:effectLst/>
            </c:spPr>
            <c:extLst>
              <c:ext xmlns:c16="http://schemas.microsoft.com/office/drawing/2014/chart" uri="{C3380CC4-5D6E-409C-BE32-E72D297353CC}">
                <c16:uniqueId val="{0000000B-5FAB-42BF-B3C0-0E21DDD66956}"/>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11.7</c:v>
                </c:pt>
                <c:pt idx="1">
                  <c:v>9.3000000000000007</c:v>
                </c:pt>
                <c:pt idx="2">
                  <c:v>12.2</c:v>
                </c:pt>
                <c:pt idx="3">
                  <c:v>11.5</c:v>
                </c:pt>
                <c:pt idx="4">
                  <c:v>11.1</c:v>
                </c:pt>
                <c:pt idx="5">
                  <c:v>12.7</c:v>
                </c:pt>
              </c:numCache>
            </c:numRef>
          </c:val>
          <c:extLst>
            <c:ext xmlns:c16="http://schemas.microsoft.com/office/drawing/2014/chart" uri="{C3380CC4-5D6E-409C-BE32-E72D297353CC}">
              <c16:uniqueId val="{0000000C-5FAB-42BF-B3C0-0E21DDD66956}"/>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revenue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5.3</c:v>
                </c:pt>
                <c:pt idx="1">
                  <c:v>5.4</c:v>
                </c:pt>
                <c:pt idx="2">
                  <c:v>22.2</c:v>
                </c:pt>
                <c:pt idx="3">
                  <c:v>10.199999999999999</c:v>
                </c:pt>
                <c:pt idx="4">
                  <c:v>11.3</c:v>
                </c:pt>
              </c:numCache>
            </c:numRef>
          </c:val>
          <c:extLst>
            <c:ext xmlns:c16="http://schemas.microsoft.com/office/drawing/2014/chart" uri="{C3380CC4-5D6E-409C-BE32-E72D297353CC}">
              <c16:uniqueId val="{00000000-43E8-486E-BB0F-2BF887FE310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1.1000000000000001</c:v>
                </c:pt>
                <c:pt idx="1">
                  <c:v>16.5</c:v>
                </c:pt>
                <c:pt idx="2">
                  <c:v>30.9</c:v>
                </c:pt>
                <c:pt idx="3">
                  <c:v>9.3000000000000007</c:v>
                </c:pt>
                <c:pt idx="4">
                  <c:v>10.7</c:v>
                </c:pt>
              </c:numCache>
            </c:numRef>
          </c:val>
          <c:extLst>
            <c:ext xmlns:c16="http://schemas.microsoft.com/office/drawing/2014/chart" uri="{C3380CC4-5D6E-409C-BE32-E72D297353CC}">
              <c16:uniqueId val="{00000000-BB78-4FA6-8D7E-1D5546EA30A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margin</c:v>
                </c:pt>
              </c:strCache>
            </c:strRef>
          </c:tx>
          <c:spPr>
            <a:solidFill>
              <a:srgbClr val="B68757"/>
            </a:solidFill>
            <a:effectLst/>
          </c:spPr>
          <c:invertIfNegative val="0"/>
          <c:dLbls>
            <c:numFmt formatCode="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10.5</c:v>
                </c:pt>
                <c:pt idx="1">
                  <c:v>20.3</c:v>
                </c:pt>
                <c:pt idx="2">
                  <c:v>10.199999999999999</c:v>
                </c:pt>
                <c:pt idx="3">
                  <c:v>11.9</c:v>
                </c:pt>
                <c:pt idx="4">
                  <c:v>20.9</c:v>
                </c:pt>
              </c:numCache>
            </c:numRef>
          </c:val>
          <c:extLst>
            <c:ext xmlns:c16="http://schemas.microsoft.com/office/drawing/2014/chart" uri="{C3380CC4-5D6E-409C-BE32-E72D297353CC}">
              <c16:uniqueId val="{00000000-7E20-4FB5-874B-7D8A2FA73E9B}"/>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free cash flow conversion</c:v>
                </c:pt>
              </c:strCache>
            </c:strRef>
          </c:tx>
          <c:spPr>
            <a:solidFill>
              <a:srgbClr val="B68757"/>
            </a:solidFill>
            <a:effectLst/>
          </c:spPr>
          <c:invertIfNegative val="0"/>
          <c:dLbls>
            <c:numFmt formatCode="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61.3</c:v>
                </c:pt>
                <c:pt idx="1">
                  <c:v>49.4</c:v>
                </c:pt>
                <c:pt idx="2">
                  <c:v>74</c:v>
                </c:pt>
                <c:pt idx="3">
                  <c:v>49.9</c:v>
                </c:pt>
                <c:pt idx="4">
                  <c:v>64.2</c:v>
                </c:pt>
              </c:numCache>
            </c:numRef>
          </c:val>
          <c:extLst>
            <c:ext xmlns:c16="http://schemas.microsoft.com/office/drawing/2014/chart" uri="{C3380CC4-5D6E-409C-BE32-E72D297353CC}">
              <c16:uniqueId val="{00000000-D772-4EEA-B058-27894F6FCA4A}"/>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trailing EBITDA</c:v>
                </c:pt>
              </c:strCache>
            </c:strRef>
          </c:tx>
          <c:spPr>
            <a:solidFill>
              <a:srgbClr val="B68757"/>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23</c:v>
                </c:pt>
                <c:pt idx="1">
                  <c:v>17.7</c:v>
                </c:pt>
                <c:pt idx="2">
                  <c:v>15.1</c:v>
                </c:pt>
                <c:pt idx="3">
                  <c:v>16.2</c:v>
                </c:pt>
                <c:pt idx="4">
                  <c:v>12.7</c:v>
                </c:pt>
              </c:numCache>
            </c:numRef>
          </c:val>
          <c:extLst>
            <c:ext xmlns:c16="http://schemas.microsoft.com/office/drawing/2014/chart" uri="{C3380CC4-5D6E-409C-BE32-E72D297353CC}">
              <c16:uniqueId val="{00000000-F4C5-4564-AF41-0AD5E4E39E61}"/>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EBITDA at fiscal year-end 2025</c:v>
                </c:pt>
              </c:strCache>
            </c:strRef>
          </c:tx>
          <c:spPr>
            <a:solidFill>
              <a:srgbClr val="C3BDB6"/>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18</c:v>
                </c:pt>
                <c:pt idx="1">
                  <c:v>14.9</c:v>
                </c:pt>
                <c:pt idx="2">
                  <c:v>16.7</c:v>
                </c:pt>
                <c:pt idx="3">
                  <c:v>18.2</c:v>
                </c:pt>
                <c:pt idx="4">
                  <c:v>11.1</c:v>
                </c:pt>
              </c:numCache>
            </c:numRef>
          </c:val>
          <c:extLst>
            <c:ext xmlns:c16="http://schemas.microsoft.com/office/drawing/2014/chart" uri="{C3380CC4-5D6E-409C-BE32-E72D297353CC}">
              <c16:uniqueId val="{00000000-EB89-48AB-AB26-8DF39E4EEA27}"/>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change in share price over 52 weeks</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29</c:v>
                </c:pt>
                <c:pt idx="1">
                  <c:v>33.200000000000003</c:v>
                </c:pt>
                <c:pt idx="2">
                  <c:v>-8.6</c:v>
                </c:pt>
                <c:pt idx="3">
                  <c:v>-6.6</c:v>
                </c:pt>
                <c:pt idx="4">
                  <c:v>43.1</c:v>
                </c:pt>
              </c:numCache>
            </c:numRef>
          </c:val>
          <c:extLst>
            <c:ext xmlns:c16="http://schemas.microsoft.com/office/drawing/2014/chart" uri="{C3380CC4-5D6E-409C-BE32-E72D297353CC}">
              <c16:uniqueId val="{00000000-5E5D-40B3-A104-A6FF08504EC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net debt to trailing EBITDA</c:v>
                </c:pt>
              </c:strCache>
            </c:strRef>
          </c:tx>
          <c:spPr>
            <a:solidFill>
              <a:srgbClr val="8C6239"/>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1.5</c:v>
                </c:pt>
                <c:pt idx="1">
                  <c:v>1.9</c:v>
                </c:pt>
                <c:pt idx="2">
                  <c:v>0.4</c:v>
                </c:pt>
                <c:pt idx="3">
                  <c:v>2.1</c:v>
                </c:pt>
                <c:pt idx="4">
                  <c:v>1.5</c:v>
                </c:pt>
              </c:numCache>
            </c:numRef>
          </c:val>
          <c:extLst>
            <c:ext xmlns:c16="http://schemas.microsoft.com/office/drawing/2014/chart" uri="{C3380CC4-5D6E-409C-BE32-E72D297353CC}">
              <c16:uniqueId val="{00000000-36A4-469F-806C-AD0D5405D8F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Core capital goods orders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72200</c:v>
                </c:pt>
                <c:pt idx="1">
                  <c:v>72662</c:v>
                </c:pt>
                <c:pt idx="2">
                  <c:v>73257</c:v>
                </c:pt>
                <c:pt idx="3">
                  <c:v>75242</c:v>
                </c:pt>
                <c:pt idx="4">
                  <c:v>75311</c:v>
                </c:pt>
                <c:pt idx="5">
                  <c:v>76146</c:v>
                </c:pt>
                <c:pt idx="6">
                  <c:v>75944</c:v>
                </c:pt>
                <c:pt idx="7">
                  <c:v>76640</c:v>
                </c:pt>
                <c:pt idx="8">
                  <c:v>77118</c:v>
                </c:pt>
                <c:pt idx="9">
                  <c:v>77167</c:v>
                </c:pt>
                <c:pt idx="10">
                  <c:v>78114</c:v>
                </c:pt>
                <c:pt idx="11">
                  <c:v>76945</c:v>
                </c:pt>
                <c:pt idx="12">
                  <c:v>77151</c:v>
                </c:pt>
                <c:pt idx="13">
                  <c:v>76483</c:v>
                </c:pt>
                <c:pt idx="14">
                  <c:v>76113</c:v>
                </c:pt>
                <c:pt idx="15">
                  <c:v>75395</c:v>
                </c:pt>
                <c:pt idx="16">
                  <c:v>74193</c:v>
                </c:pt>
                <c:pt idx="17">
                  <c:v>73852</c:v>
                </c:pt>
                <c:pt idx="18">
                  <c:v>74424</c:v>
                </c:pt>
                <c:pt idx="19">
                  <c:v>75363</c:v>
                </c:pt>
                <c:pt idx="20">
                  <c:v>74769</c:v>
                </c:pt>
                <c:pt idx="21">
                  <c:v>75140</c:v>
                </c:pt>
                <c:pt idx="22">
                  <c:v>74387</c:v>
                </c:pt>
                <c:pt idx="23">
                  <c:v>74534</c:v>
                </c:pt>
                <c:pt idx="24">
                  <c:v>74163</c:v>
                </c:pt>
                <c:pt idx="25">
                  <c:v>74284</c:v>
                </c:pt>
                <c:pt idx="26">
                  <c:v>74073</c:v>
                </c:pt>
                <c:pt idx="27">
                  <c:v>73668</c:v>
                </c:pt>
                <c:pt idx="28">
                  <c:v>73969</c:v>
                </c:pt>
                <c:pt idx="29">
                  <c:v>73986</c:v>
                </c:pt>
                <c:pt idx="30">
                  <c:v>74040</c:v>
                </c:pt>
                <c:pt idx="31">
                  <c:v>73137</c:v>
                </c:pt>
                <c:pt idx="32">
                  <c:v>73544</c:v>
                </c:pt>
                <c:pt idx="33">
                  <c:v>73430</c:v>
                </c:pt>
                <c:pt idx="34">
                  <c:v>73738</c:v>
                </c:pt>
                <c:pt idx="35">
                  <c:v>74487</c:v>
                </c:pt>
                <c:pt idx="36">
                  <c:v>73440</c:v>
                </c:pt>
                <c:pt idx="37">
                  <c:v>74311</c:v>
                </c:pt>
                <c:pt idx="38">
                  <c:v>74595</c:v>
                </c:pt>
                <c:pt idx="39">
                  <c:v>75971</c:v>
                </c:pt>
                <c:pt idx="40">
                  <c:v>75561</c:v>
                </c:pt>
                <c:pt idx="41">
                  <c:v>75781</c:v>
                </c:pt>
                <c:pt idx="42">
                  <c:v>74631</c:v>
                </c:pt>
                <c:pt idx="43">
                  <c:v>76049</c:v>
                </c:pt>
                <c:pt idx="44">
                  <c:v>75608</c:v>
                </c:pt>
                <c:pt idx="45">
                  <c:v>76154</c:v>
                </c:pt>
                <c:pt idx="46">
                  <c:v>76806</c:v>
                </c:pt>
                <c:pt idx="47">
                  <c:v>77591</c:v>
                </c:pt>
                <c:pt idx="48">
                  <c:v>77948</c:v>
                </c:pt>
                <c:pt idx="49">
                  <c:v>78621</c:v>
                </c:pt>
                <c:pt idx="50">
                  <c:v>79262</c:v>
                </c:pt>
                <c:pt idx="51">
                  <c:v>78990</c:v>
                </c:pt>
                <c:pt idx="52">
                  <c:v>80235</c:v>
                </c:pt>
                <c:pt idx="53">
                  <c:v>83296</c:v>
                </c:pt>
                <c:pt idx="54">
                  <c:v>82778</c:v>
                </c:pt>
                <c:pt idx="55">
                  <c:v>84360</c:v>
                </c:pt>
                <c:pt idx="56">
                  <c:v>85757</c:v>
                </c:pt>
                <c:pt idx="57">
                  <c:v>86295</c:v>
                </c:pt>
                <c:pt idx="58">
                  <c:v>87640</c:v>
                </c:pt>
              </c:numCache>
            </c:numRef>
          </c:val>
          <c:smooth val="0"/>
          <c:extLst>
            <c:ext xmlns:c16="http://schemas.microsoft.com/office/drawing/2014/chart" uri="{C3380CC4-5D6E-409C-BE32-E72D297353CC}">
              <c16:uniqueId val="{00000000-0F80-4467-847D-A1B46C871C3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89500"/>
          <c:min val="703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capacity utilization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77.9803</c:v>
                </c:pt>
                <c:pt idx="1">
                  <c:v>78.438999999999993</c:v>
                </c:pt>
                <c:pt idx="2">
                  <c:v>78.340400000000002</c:v>
                </c:pt>
                <c:pt idx="3">
                  <c:v>77.584999999999994</c:v>
                </c:pt>
                <c:pt idx="4">
                  <c:v>78.026200000000003</c:v>
                </c:pt>
                <c:pt idx="5">
                  <c:v>78.370500000000007</c:v>
                </c:pt>
                <c:pt idx="6">
                  <c:v>78.319100000000006</c:v>
                </c:pt>
                <c:pt idx="7">
                  <c:v>77.957499999999996</c:v>
                </c:pt>
                <c:pt idx="8">
                  <c:v>77.515000000000001</c:v>
                </c:pt>
                <c:pt idx="9">
                  <c:v>77.565899999999999</c:v>
                </c:pt>
                <c:pt idx="10">
                  <c:v>77.533500000000004</c:v>
                </c:pt>
                <c:pt idx="11">
                  <c:v>77.507900000000006</c:v>
                </c:pt>
                <c:pt idx="12">
                  <c:v>77.680499999999995</c:v>
                </c:pt>
                <c:pt idx="13">
                  <c:v>77.037300000000002</c:v>
                </c:pt>
                <c:pt idx="14">
                  <c:v>75.667299999999997</c:v>
                </c:pt>
                <c:pt idx="15">
                  <c:v>76.965900000000005</c:v>
                </c:pt>
                <c:pt idx="16">
                  <c:v>76.975300000000004</c:v>
                </c:pt>
                <c:pt idx="17">
                  <c:v>76.4495</c:v>
                </c:pt>
                <c:pt idx="18">
                  <c:v>77.141400000000004</c:v>
                </c:pt>
                <c:pt idx="19">
                  <c:v>76.965900000000005</c:v>
                </c:pt>
                <c:pt idx="20">
                  <c:v>76.397999999999996</c:v>
                </c:pt>
                <c:pt idx="21">
                  <c:v>76.664000000000001</c:v>
                </c:pt>
                <c:pt idx="22">
                  <c:v>76.590900000000005</c:v>
                </c:pt>
                <c:pt idx="23">
                  <c:v>76.579700000000003</c:v>
                </c:pt>
                <c:pt idx="24">
                  <c:v>76.129900000000006</c:v>
                </c:pt>
                <c:pt idx="25">
                  <c:v>76.449799999999996</c:v>
                </c:pt>
                <c:pt idx="26">
                  <c:v>76.402199999999993</c:v>
                </c:pt>
                <c:pt idx="27">
                  <c:v>75.179900000000004</c:v>
                </c:pt>
                <c:pt idx="28">
                  <c:v>76.083799999999997</c:v>
                </c:pt>
                <c:pt idx="29">
                  <c:v>76.142099999999999</c:v>
                </c:pt>
                <c:pt idx="30">
                  <c:v>75.682100000000005</c:v>
                </c:pt>
                <c:pt idx="31">
                  <c:v>76.056100000000001</c:v>
                </c:pt>
                <c:pt idx="32">
                  <c:v>75.864999999999995</c:v>
                </c:pt>
                <c:pt idx="33">
                  <c:v>75.217100000000002</c:v>
                </c:pt>
                <c:pt idx="34">
                  <c:v>75.519800000000004</c:v>
                </c:pt>
                <c:pt idx="35">
                  <c:v>75.041600000000003</c:v>
                </c:pt>
                <c:pt idx="36">
                  <c:v>74.480500000000006</c:v>
                </c:pt>
                <c:pt idx="37">
                  <c:v>74.6357</c:v>
                </c:pt>
                <c:pt idx="38">
                  <c:v>74.903599999999997</c:v>
                </c:pt>
                <c:pt idx="39">
                  <c:v>74.536000000000001</c:v>
                </c:pt>
                <c:pt idx="40">
                  <c:v>75.389799999999994</c:v>
                </c:pt>
                <c:pt idx="41">
                  <c:v>75.654300000000006</c:v>
                </c:pt>
                <c:pt idx="42">
                  <c:v>75.534099999999995</c:v>
                </c:pt>
                <c:pt idx="43">
                  <c:v>75.393000000000001</c:v>
                </c:pt>
                <c:pt idx="44">
                  <c:v>75.571200000000005</c:v>
                </c:pt>
                <c:pt idx="45">
                  <c:v>75.870699999999999</c:v>
                </c:pt>
                <c:pt idx="46">
                  <c:v>75.801400000000001</c:v>
                </c:pt>
                <c:pt idx="47">
                  <c:v>75.691800000000001</c:v>
                </c:pt>
                <c:pt idx="48">
                  <c:v>74.966200000000001</c:v>
                </c:pt>
                <c:pt idx="49">
                  <c:v>74.820499999999996</c:v>
                </c:pt>
                <c:pt idx="50">
                  <c:v>74.627899999999997</c:v>
                </c:pt>
                <c:pt idx="51">
                  <c:v>74.638800000000003</c:v>
                </c:pt>
                <c:pt idx="52">
                  <c:v>75.071200000000005</c:v>
                </c:pt>
                <c:pt idx="53">
                  <c:v>75.280199999999994</c:v>
                </c:pt>
                <c:pt idx="54">
                  <c:v>75.802700000000002</c:v>
                </c:pt>
                <c:pt idx="55">
                  <c:v>75.8339</c:v>
                </c:pt>
                <c:pt idx="56">
                  <c:v>75.967600000000004</c:v>
                </c:pt>
                <c:pt idx="57">
                  <c:v>76.024199999999993</c:v>
                </c:pt>
                <c:pt idx="58">
                  <c:v>75.730900000000005</c:v>
                </c:pt>
              </c:numCache>
            </c:numRef>
          </c:val>
          <c:smooth val="0"/>
          <c:extLst>
            <c:ext xmlns:c16="http://schemas.microsoft.com/office/drawing/2014/chart" uri="{C3380CC4-5D6E-409C-BE32-E72D297353CC}">
              <c16:uniqueId val="{00000000-1263-4FE5-975C-629F718114F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78.900000000000006"/>
          <c:min val="74"/>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Total construction spending</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1688747</c:v>
                </c:pt>
                <c:pt idx="1">
                  <c:v>1731869</c:v>
                </c:pt>
                <c:pt idx="2">
                  <c:v>1762351</c:v>
                </c:pt>
                <c:pt idx="3">
                  <c:v>1807763</c:v>
                </c:pt>
                <c:pt idx="4">
                  <c:v>1842072</c:v>
                </c:pt>
                <c:pt idx="5">
                  <c:v>1877402</c:v>
                </c:pt>
                <c:pt idx="6">
                  <c:v>1913147</c:v>
                </c:pt>
                <c:pt idx="7">
                  <c:v>1923964</c:v>
                </c:pt>
                <c:pt idx="8">
                  <c:v>1920269</c:v>
                </c:pt>
                <c:pt idx="9">
                  <c:v>1923856</c:v>
                </c:pt>
                <c:pt idx="10">
                  <c:v>1918061</c:v>
                </c:pt>
                <c:pt idx="11">
                  <c:v>1917890</c:v>
                </c:pt>
                <c:pt idx="12">
                  <c:v>1914367</c:v>
                </c:pt>
                <c:pt idx="13">
                  <c:v>1919538</c:v>
                </c:pt>
                <c:pt idx="14">
                  <c:v>1926876</c:v>
                </c:pt>
                <c:pt idx="15">
                  <c:v>1957618</c:v>
                </c:pt>
                <c:pt idx="16">
                  <c:v>1971178</c:v>
                </c:pt>
                <c:pt idx="17">
                  <c:v>2000432</c:v>
                </c:pt>
                <c:pt idx="18">
                  <c:v>2028917</c:v>
                </c:pt>
                <c:pt idx="19">
                  <c:v>2053902</c:v>
                </c:pt>
                <c:pt idx="20">
                  <c:v>2074232</c:v>
                </c:pt>
                <c:pt idx="21">
                  <c:v>2083615</c:v>
                </c:pt>
                <c:pt idx="22">
                  <c:v>2108452</c:v>
                </c:pt>
                <c:pt idx="23">
                  <c:v>2117176</c:v>
                </c:pt>
                <c:pt idx="24">
                  <c:v>2139594</c:v>
                </c:pt>
                <c:pt idx="25">
                  <c:v>2170325</c:v>
                </c:pt>
                <c:pt idx="26">
                  <c:v>2174846</c:v>
                </c:pt>
                <c:pt idx="27">
                  <c:v>2191633</c:v>
                </c:pt>
                <c:pt idx="28">
                  <c:v>2220925</c:v>
                </c:pt>
                <c:pt idx="29">
                  <c:v>2214113</c:v>
                </c:pt>
                <c:pt idx="30">
                  <c:v>2220689</c:v>
                </c:pt>
                <c:pt idx="31">
                  <c:v>2232845</c:v>
                </c:pt>
                <c:pt idx="32">
                  <c:v>2238643</c:v>
                </c:pt>
                <c:pt idx="33">
                  <c:v>2240441</c:v>
                </c:pt>
                <c:pt idx="34">
                  <c:v>2245978</c:v>
                </c:pt>
                <c:pt idx="35">
                  <c:v>2263103</c:v>
                </c:pt>
                <c:pt idx="36">
                  <c:v>2263823</c:v>
                </c:pt>
                <c:pt idx="37">
                  <c:v>2262637</c:v>
                </c:pt>
                <c:pt idx="38">
                  <c:v>2258822</c:v>
                </c:pt>
                <c:pt idx="39">
                  <c:v>2261053</c:v>
                </c:pt>
                <c:pt idx="40">
                  <c:v>2265811</c:v>
                </c:pt>
                <c:pt idx="41">
                  <c:v>2256260</c:v>
                </c:pt>
                <c:pt idx="42">
                  <c:v>2263809</c:v>
                </c:pt>
                <c:pt idx="43">
                  <c:v>2244426</c:v>
                </c:pt>
                <c:pt idx="44">
                  <c:v>2237719</c:v>
                </c:pt>
                <c:pt idx="45">
                  <c:v>2242633</c:v>
                </c:pt>
                <c:pt idx="46">
                  <c:v>2242024</c:v>
                </c:pt>
                <c:pt idx="47">
                  <c:v>2245799</c:v>
                </c:pt>
                <c:pt idx="48">
                  <c:v>2241141</c:v>
                </c:pt>
                <c:pt idx="49">
                  <c:v>2220726</c:v>
                </c:pt>
                <c:pt idx="50">
                  <c:v>2215955</c:v>
                </c:pt>
                <c:pt idx="51">
                  <c:v>2195636</c:v>
                </c:pt>
                <c:pt idx="52">
                  <c:v>2189683</c:v>
                </c:pt>
                <c:pt idx="53">
                  <c:v>2199399</c:v>
                </c:pt>
                <c:pt idx="54">
                  <c:v>2168231</c:v>
                </c:pt>
                <c:pt idx="55">
                  <c:v>2168396</c:v>
                </c:pt>
                <c:pt idx="56">
                  <c:v>2187350</c:v>
                </c:pt>
                <c:pt idx="57">
                  <c:v>2184474</c:v>
                </c:pt>
                <c:pt idx="58">
                  <c:v>2203129</c:v>
                </c:pt>
              </c:numCache>
            </c:numRef>
          </c:val>
          <c:smooth val="0"/>
          <c:extLst>
            <c:ext xmlns:c16="http://schemas.microsoft.com/office/drawing/2014/chart" uri="{C3380CC4-5D6E-409C-BE32-E72D297353CC}">
              <c16:uniqueId val="{00000000-B46C-4FED-A524-EE19F92CDB2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340000"/>
          <c:min val="16200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construction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87210</c:v>
                </c:pt>
                <c:pt idx="1">
                  <c:v>93539</c:v>
                </c:pt>
                <c:pt idx="2">
                  <c:v>94605</c:v>
                </c:pt>
                <c:pt idx="3">
                  <c:v>97878</c:v>
                </c:pt>
                <c:pt idx="4">
                  <c:v>100267</c:v>
                </c:pt>
                <c:pt idx="5">
                  <c:v>104096</c:v>
                </c:pt>
                <c:pt idx="6">
                  <c:v>111586</c:v>
                </c:pt>
                <c:pt idx="7">
                  <c:v>116068</c:v>
                </c:pt>
                <c:pt idx="8">
                  <c:v>116675</c:v>
                </c:pt>
                <c:pt idx="9">
                  <c:v>127042</c:v>
                </c:pt>
                <c:pt idx="10">
                  <c:v>128104</c:v>
                </c:pt>
                <c:pt idx="11">
                  <c:v>139493</c:v>
                </c:pt>
                <c:pt idx="12">
                  <c:v>141436</c:v>
                </c:pt>
                <c:pt idx="13">
                  <c:v>153107</c:v>
                </c:pt>
                <c:pt idx="14">
                  <c:v>159231</c:v>
                </c:pt>
                <c:pt idx="15">
                  <c:v>172097</c:v>
                </c:pt>
                <c:pt idx="16">
                  <c:v>179099</c:v>
                </c:pt>
                <c:pt idx="17">
                  <c:v>187446</c:v>
                </c:pt>
                <c:pt idx="18">
                  <c:v>199222</c:v>
                </c:pt>
                <c:pt idx="19">
                  <c:v>197639</c:v>
                </c:pt>
                <c:pt idx="20">
                  <c:v>200828</c:v>
                </c:pt>
                <c:pt idx="21">
                  <c:v>202064</c:v>
                </c:pt>
                <c:pt idx="22">
                  <c:v>206423</c:v>
                </c:pt>
                <c:pt idx="23">
                  <c:v>205054</c:v>
                </c:pt>
                <c:pt idx="24">
                  <c:v>218795</c:v>
                </c:pt>
                <c:pt idx="25">
                  <c:v>226885</c:v>
                </c:pt>
                <c:pt idx="26">
                  <c:v>230263</c:v>
                </c:pt>
                <c:pt idx="27">
                  <c:v>233759</c:v>
                </c:pt>
                <c:pt idx="28">
                  <c:v>235216</c:v>
                </c:pt>
                <c:pt idx="29">
                  <c:v>238676</c:v>
                </c:pt>
                <c:pt idx="30">
                  <c:v>242376</c:v>
                </c:pt>
                <c:pt idx="31">
                  <c:v>243306</c:v>
                </c:pt>
                <c:pt idx="32">
                  <c:v>248899</c:v>
                </c:pt>
                <c:pt idx="33">
                  <c:v>248230</c:v>
                </c:pt>
                <c:pt idx="34">
                  <c:v>249757</c:v>
                </c:pt>
                <c:pt idx="35">
                  <c:v>250233</c:v>
                </c:pt>
                <c:pt idx="36">
                  <c:v>246526</c:v>
                </c:pt>
                <c:pt idx="37">
                  <c:v>250089</c:v>
                </c:pt>
                <c:pt idx="38">
                  <c:v>242048</c:v>
                </c:pt>
                <c:pt idx="39">
                  <c:v>237485</c:v>
                </c:pt>
                <c:pt idx="40">
                  <c:v>237155</c:v>
                </c:pt>
                <c:pt idx="41">
                  <c:v>227339</c:v>
                </c:pt>
                <c:pt idx="42">
                  <c:v>227640</c:v>
                </c:pt>
                <c:pt idx="43">
                  <c:v>223805</c:v>
                </c:pt>
                <c:pt idx="44">
                  <c:v>219564</c:v>
                </c:pt>
                <c:pt idx="45">
                  <c:v>215594</c:v>
                </c:pt>
                <c:pt idx="46">
                  <c:v>211142</c:v>
                </c:pt>
                <c:pt idx="47">
                  <c:v>205019</c:v>
                </c:pt>
                <c:pt idx="48">
                  <c:v>202687</c:v>
                </c:pt>
                <c:pt idx="49">
                  <c:v>195150</c:v>
                </c:pt>
                <c:pt idx="50">
                  <c:v>181798</c:v>
                </c:pt>
                <c:pt idx="51">
                  <c:v>184187</c:v>
                </c:pt>
                <c:pt idx="52">
                  <c:v>181879</c:v>
                </c:pt>
                <c:pt idx="53">
                  <c:v>179814</c:v>
                </c:pt>
                <c:pt idx="54">
                  <c:v>177023</c:v>
                </c:pt>
                <c:pt idx="55">
                  <c:v>173641</c:v>
                </c:pt>
                <c:pt idx="56">
                  <c:v>171232</c:v>
                </c:pt>
                <c:pt idx="57">
                  <c:v>170339</c:v>
                </c:pt>
                <c:pt idx="58">
                  <c:v>170701</c:v>
                </c:pt>
              </c:numCache>
            </c:numRef>
          </c:val>
          <c:smooth val="0"/>
          <c:extLst>
            <c:ext xmlns:c16="http://schemas.microsoft.com/office/drawing/2014/chart" uri="{C3380CC4-5D6E-409C-BE32-E72D297353CC}">
              <c16:uniqueId val="{00000000-4B0A-486A-BE8F-D9F494FB5A2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70000"/>
          <c:min val="676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Steel mill product prices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435.66899999999998</c:v>
                </c:pt>
                <c:pt idx="1">
                  <c:v>448.74599999999998</c:v>
                </c:pt>
                <c:pt idx="2">
                  <c:v>449.71100000000001</c:v>
                </c:pt>
                <c:pt idx="3">
                  <c:v>441.49700000000001</c:v>
                </c:pt>
                <c:pt idx="4">
                  <c:v>400.06700000000001</c:v>
                </c:pt>
                <c:pt idx="5">
                  <c:v>376.596</c:v>
                </c:pt>
                <c:pt idx="6">
                  <c:v>386.66300000000001</c:v>
                </c:pt>
                <c:pt idx="7">
                  <c:v>427.4</c:v>
                </c:pt>
                <c:pt idx="8">
                  <c:v>420.18299999999999</c:v>
                </c:pt>
                <c:pt idx="9">
                  <c:v>404.11200000000002</c:v>
                </c:pt>
                <c:pt idx="10">
                  <c:v>384.88499999999999</c:v>
                </c:pt>
                <c:pt idx="11">
                  <c:v>357.58699999999999</c:v>
                </c:pt>
                <c:pt idx="12">
                  <c:v>337.20600000000002</c:v>
                </c:pt>
                <c:pt idx="13">
                  <c:v>326.69799999999998</c:v>
                </c:pt>
                <c:pt idx="14">
                  <c:v>315.63</c:v>
                </c:pt>
                <c:pt idx="15">
                  <c:v>308.02199999999999</c:v>
                </c:pt>
                <c:pt idx="16">
                  <c:v>315.255</c:v>
                </c:pt>
                <c:pt idx="17">
                  <c:v>318.19</c:v>
                </c:pt>
                <c:pt idx="18">
                  <c:v>329.70499999999998</c:v>
                </c:pt>
                <c:pt idx="19">
                  <c:v>347.22399999999999</c:v>
                </c:pt>
                <c:pt idx="20">
                  <c:v>345.80099999999999</c:v>
                </c:pt>
                <c:pt idx="21">
                  <c:v>329.45</c:v>
                </c:pt>
                <c:pt idx="22">
                  <c:v>322.94</c:v>
                </c:pt>
                <c:pt idx="23">
                  <c:v>311.52199999999999</c:v>
                </c:pt>
                <c:pt idx="24">
                  <c:v>304.11200000000002</c:v>
                </c:pt>
                <c:pt idx="25">
                  <c:v>297.96699999999998</c:v>
                </c:pt>
                <c:pt idx="26">
                  <c:v>305.125</c:v>
                </c:pt>
                <c:pt idx="27">
                  <c:v>321.392</c:v>
                </c:pt>
                <c:pt idx="28">
                  <c:v>332.52</c:v>
                </c:pt>
                <c:pt idx="29">
                  <c:v>305.67700000000002</c:v>
                </c:pt>
                <c:pt idx="30">
                  <c:v>297.57299999999998</c:v>
                </c:pt>
                <c:pt idx="31">
                  <c:v>298.56400000000002</c:v>
                </c:pt>
                <c:pt idx="32">
                  <c:v>293.26900000000001</c:v>
                </c:pt>
                <c:pt idx="33">
                  <c:v>283.08999999999997</c:v>
                </c:pt>
                <c:pt idx="34">
                  <c:v>275.27999999999997</c:v>
                </c:pt>
                <c:pt idx="35">
                  <c:v>270.97000000000003</c:v>
                </c:pt>
                <c:pt idx="36">
                  <c:v>273.42200000000003</c:v>
                </c:pt>
                <c:pt idx="37">
                  <c:v>278.339</c:v>
                </c:pt>
                <c:pt idx="38">
                  <c:v>266.51100000000002</c:v>
                </c:pt>
                <c:pt idx="39">
                  <c:v>261.56299999999999</c:v>
                </c:pt>
                <c:pt idx="40">
                  <c:v>268.86500000000001</c:v>
                </c:pt>
                <c:pt idx="41">
                  <c:v>287.36200000000002</c:v>
                </c:pt>
                <c:pt idx="42">
                  <c:v>303.82900000000001</c:v>
                </c:pt>
                <c:pt idx="43">
                  <c:v>326.74299999999999</c:v>
                </c:pt>
                <c:pt idx="44">
                  <c:v>309.23099999999999</c:v>
                </c:pt>
                <c:pt idx="45">
                  <c:v>305.53800000000001</c:v>
                </c:pt>
                <c:pt idx="46">
                  <c:v>308.77199999999999</c:v>
                </c:pt>
                <c:pt idx="47">
                  <c:v>304.57900000000001</c:v>
                </c:pt>
                <c:pt idx="48">
                  <c:v>300.66500000000002</c:v>
                </c:pt>
                <c:pt idx="49">
                  <c:v>291.55599999999998</c:v>
                </c:pt>
                <c:pt idx="50">
                  <c:v>312.41000000000003</c:v>
                </c:pt>
                <c:pt idx="51">
                  <c:v>315.36900000000003</c:v>
                </c:pt>
                <c:pt idx="52">
                  <c:v>325.10500000000002</c:v>
                </c:pt>
                <c:pt idx="53">
                  <c:v>331.35700000000003</c:v>
                </c:pt>
                <c:pt idx="54">
                  <c:v>341.57</c:v>
                </c:pt>
                <c:pt idx="55">
                  <c:v>349.99700000000001</c:v>
                </c:pt>
                <c:pt idx="56">
                  <c:v>360.14800000000002</c:v>
                </c:pt>
                <c:pt idx="57">
                  <c:v>374.79300000000001</c:v>
                </c:pt>
                <c:pt idx="58">
                  <c:v>381.16199999999998</c:v>
                </c:pt>
              </c:numCache>
            </c:numRef>
          </c:val>
          <c:smooth val="0"/>
          <c:extLst>
            <c:ext xmlns:c16="http://schemas.microsoft.com/office/drawing/2014/chart" uri="{C3380CC4-5D6E-409C-BE32-E72D297353CC}">
              <c16:uniqueId val="{00000000-7848-40A4-9C2B-AB7D3546BAC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472"/>
          <c:min val="239"/>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Diesel price</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3.6120000000000001</c:v>
                </c:pt>
                <c:pt idx="1">
                  <c:v>3.7269999999999999</c:v>
                </c:pt>
                <c:pt idx="2">
                  <c:v>3.641</c:v>
                </c:pt>
                <c:pt idx="3">
                  <c:v>3.7240000000000002</c:v>
                </c:pt>
                <c:pt idx="4">
                  <c:v>4.032</c:v>
                </c:pt>
                <c:pt idx="5">
                  <c:v>5.1050000000000004</c:v>
                </c:pt>
                <c:pt idx="6">
                  <c:v>5.12</c:v>
                </c:pt>
                <c:pt idx="7">
                  <c:v>5.5709999999999997</c:v>
                </c:pt>
                <c:pt idx="8">
                  <c:v>5.7539999999999996</c:v>
                </c:pt>
                <c:pt idx="9">
                  <c:v>5.4859999999999998</c:v>
                </c:pt>
                <c:pt idx="10">
                  <c:v>5.0129999999999999</c:v>
                </c:pt>
                <c:pt idx="11">
                  <c:v>4.9930000000000003</c:v>
                </c:pt>
                <c:pt idx="12">
                  <c:v>5.2110000000000003</c:v>
                </c:pt>
                <c:pt idx="13">
                  <c:v>5.2549999999999999</c:v>
                </c:pt>
                <c:pt idx="14">
                  <c:v>4.7140000000000004</c:v>
                </c:pt>
                <c:pt idx="15">
                  <c:v>4.5759999999999996</c:v>
                </c:pt>
                <c:pt idx="16">
                  <c:v>4.4130000000000003</c:v>
                </c:pt>
                <c:pt idx="17">
                  <c:v>4.2110000000000003</c:v>
                </c:pt>
                <c:pt idx="18">
                  <c:v>4.0990000000000002</c:v>
                </c:pt>
                <c:pt idx="19">
                  <c:v>3.915</c:v>
                </c:pt>
                <c:pt idx="20">
                  <c:v>3.802</c:v>
                </c:pt>
                <c:pt idx="21">
                  <c:v>3.8820000000000001</c:v>
                </c:pt>
                <c:pt idx="22">
                  <c:v>4.37</c:v>
                </c:pt>
                <c:pt idx="23">
                  <c:v>4.5629999999999997</c:v>
                </c:pt>
                <c:pt idx="24">
                  <c:v>4.5069999999999997</c:v>
                </c:pt>
                <c:pt idx="25">
                  <c:v>4.2539999999999996</c:v>
                </c:pt>
                <c:pt idx="26">
                  <c:v>3.972</c:v>
                </c:pt>
                <c:pt idx="27">
                  <c:v>3.8540000000000001</c:v>
                </c:pt>
                <c:pt idx="28">
                  <c:v>4.0439999999999996</c:v>
                </c:pt>
                <c:pt idx="29">
                  <c:v>4.0220000000000002</c:v>
                </c:pt>
                <c:pt idx="30">
                  <c:v>4.0019999999999998</c:v>
                </c:pt>
                <c:pt idx="31">
                  <c:v>3.8220000000000001</c:v>
                </c:pt>
                <c:pt idx="32">
                  <c:v>3.722</c:v>
                </c:pt>
                <c:pt idx="33">
                  <c:v>3.81</c:v>
                </c:pt>
                <c:pt idx="34">
                  <c:v>3.7</c:v>
                </c:pt>
                <c:pt idx="35">
                  <c:v>3.5579999999999998</c:v>
                </c:pt>
                <c:pt idx="36">
                  <c:v>3.585</c:v>
                </c:pt>
                <c:pt idx="37">
                  <c:v>3.5219999999999998</c:v>
                </c:pt>
                <c:pt idx="38">
                  <c:v>3.4940000000000002</c:v>
                </c:pt>
                <c:pt idx="39">
                  <c:v>3.6339999999999999</c:v>
                </c:pt>
                <c:pt idx="40">
                  <c:v>3.6749999999999998</c:v>
                </c:pt>
                <c:pt idx="41">
                  <c:v>3.585</c:v>
                </c:pt>
                <c:pt idx="42">
                  <c:v>3.5670000000000002</c:v>
                </c:pt>
                <c:pt idx="43">
                  <c:v>3.4990000000000001</c:v>
                </c:pt>
                <c:pt idx="44">
                  <c:v>3.5990000000000002</c:v>
                </c:pt>
                <c:pt idx="45">
                  <c:v>3.7789999999999999</c:v>
                </c:pt>
                <c:pt idx="46">
                  <c:v>3.7440000000000002</c:v>
                </c:pt>
                <c:pt idx="47">
                  <c:v>3.7480000000000002</c:v>
                </c:pt>
                <c:pt idx="48">
                  <c:v>3.6789999999999998</c:v>
                </c:pt>
                <c:pt idx="49">
                  <c:v>3.8220000000000001</c:v>
                </c:pt>
                <c:pt idx="50">
                  <c:v>3.6150000000000002</c:v>
                </c:pt>
                <c:pt idx="51">
                  <c:v>3.5230000000000001</c:v>
                </c:pt>
                <c:pt idx="52">
                  <c:v>3.722</c:v>
                </c:pt>
                <c:pt idx="53">
                  <c:v>4.9210000000000003</c:v>
                </c:pt>
                <c:pt idx="54">
                  <c:v>5.5010000000000003</c:v>
                </c:pt>
                <c:pt idx="55">
                  <c:v>5.6</c:v>
                </c:pt>
                <c:pt idx="56">
                  <c:v>5.024</c:v>
                </c:pt>
                <c:pt idx="57">
                  <c:v>4.9550000000000001</c:v>
                </c:pt>
                <c:pt idx="58">
                  <c:v>5.4619999999999997</c:v>
                </c:pt>
                <c:pt idx="59">
                  <c:v>6.2910000000000004</c:v>
                </c:pt>
              </c:numCache>
            </c:numRef>
          </c:val>
          <c:smooth val="0"/>
          <c:extLst>
            <c:ext xmlns:c16="http://schemas.microsoft.com/office/drawing/2014/chart" uri="{C3380CC4-5D6E-409C-BE32-E72D297353CC}">
              <c16:uniqueId val="{00000000-108C-4100-8319-504A83E2976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6.63"/>
          <c:min val="3.16"/>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Cass Freight Index: shipments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1.1890000000000001</c:v>
                </c:pt>
                <c:pt idx="1">
                  <c:v>1.206</c:v>
                </c:pt>
                <c:pt idx="2">
                  <c:v>1.208</c:v>
                </c:pt>
                <c:pt idx="3">
                  <c:v>1.0780000000000001</c:v>
                </c:pt>
                <c:pt idx="4">
                  <c:v>1.171</c:v>
                </c:pt>
                <c:pt idx="5">
                  <c:v>1.2030000000000001</c:v>
                </c:pt>
                <c:pt idx="6">
                  <c:v>1.1719999999999999</c:v>
                </c:pt>
                <c:pt idx="7">
                  <c:v>1.2350000000000001</c:v>
                </c:pt>
                <c:pt idx="8">
                  <c:v>1.2030000000000001</c:v>
                </c:pt>
                <c:pt idx="9">
                  <c:v>1.232</c:v>
                </c:pt>
                <c:pt idx="10">
                  <c:v>1.278</c:v>
                </c:pt>
                <c:pt idx="11">
                  <c:v>1.2410000000000001</c:v>
                </c:pt>
                <c:pt idx="12">
                  <c:v>1.224</c:v>
                </c:pt>
                <c:pt idx="13">
                  <c:v>1.2010000000000001</c:v>
                </c:pt>
                <c:pt idx="14">
                  <c:v>1.161</c:v>
                </c:pt>
                <c:pt idx="15">
                  <c:v>1.1240000000000001</c:v>
                </c:pt>
                <c:pt idx="16">
                  <c:v>1.167</c:v>
                </c:pt>
                <c:pt idx="17">
                  <c:v>1.155</c:v>
                </c:pt>
                <c:pt idx="18">
                  <c:v>1.1439999999999999</c:v>
                </c:pt>
                <c:pt idx="19">
                  <c:v>1.1659999999999999</c:v>
                </c:pt>
                <c:pt idx="20">
                  <c:v>1.147</c:v>
                </c:pt>
                <c:pt idx="21">
                  <c:v>1.1220000000000001</c:v>
                </c:pt>
                <c:pt idx="22">
                  <c:v>1.143</c:v>
                </c:pt>
                <c:pt idx="23">
                  <c:v>1.163</c:v>
                </c:pt>
                <c:pt idx="24">
                  <c:v>1.1080000000000001</c:v>
                </c:pt>
                <c:pt idx="25">
                  <c:v>1.0940000000000001</c:v>
                </c:pt>
                <c:pt idx="26">
                  <c:v>1.077</c:v>
                </c:pt>
                <c:pt idx="27">
                  <c:v>1.0389999999999999</c:v>
                </c:pt>
                <c:pt idx="28">
                  <c:v>1.115</c:v>
                </c:pt>
                <c:pt idx="29">
                  <c:v>1.113</c:v>
                </c:pt>
                <c:pt idx="30">
                  <c:v>1.0980000000000001</c:v>
                </c:pt>
                <c:pt idx="31">
                  <c:v>1.0980000000000001</c:v>
                </c:pt>
                <c:pt idx="32">
                  <c:v>1.0780000000000001</c:v>
                </c:pt>
                <c:pt idx="33">
                  <c:v>1.1100000000000001</c:v>
                </c:pt>
                <c:pt idx="34">
                  <c:v>1.121</c:v>
                </c:pt>
                <c:pt idx="35">
                  <c:v>1.1020000000000001</c:v>
                </c:pt>
                <c:pt idx="36">
                  <c:v>1.081</c:v>
                </c:pt>
                <c:pt idx="37">
                  <c:v>1.0860000000000001</c:v>
                </c:pt>
                <c:pt idx="38">
                  <c:v>1.0069999999999999</c:v>
                </c:pt>
                <c:pt idx="39">
                  <c:v>0.95399999999999996</c:v>
                </c:pt>
                <c:pt idx="40">
                  <c:v>1.054</c:v>
                </c:pt>
                <c:pt idx="41">
                  <c:v>1.054</c:v>
                </c:pt>
                <c:pt idx="42">
                  <c:v>1.0580000000000001</c:v>
                </c:pt>
                <c:pt idx="43">
                  <c:v>1.054</c:v>
                </c:pt>
                <c:pt idx="44">
                  <c:v>1.052</c:v>
                </c:pt>
                <c:pt idx="45">
                  <c:v>1.0329999999999999</c:v>
                </c:pt>
                <c:pt idx="46">
                  <c:v>1.0169999999999999</c:v>
                </c:pt>
                <c:pt idx="47">
                  <c:v>1.042</c:v>
                </c:pt>
                <c:pt idx="48">
                  <c:v>0.997</c:v>
                </c:pt>
                <c:pt idx="49">
                  <c:v>1.0038199999999999</c:v>
                </c:pt>
                <c:pt idx="50">
                  <c:v>0.93191000000000002</c:v>
                </c:pt>
                <c:pt idx="51">
                  <c:v>0.88600000000000001</c:v>
                </c:pt>
                <c:pt idx="52">
                  <c:v>0.97799999999999998</c:v>
                </c:pt>
                <c:pt idx="53">
                  <c:v>1.0069999999999999</c:v>
                </c:pt>
                <c:pt idx="54">
                  <c:v>1.0109999999999999</c:v>
                </c:pt>
                <c:pt idx="55">
                  <c:v>1.0409999999999999</c:v>
                </c:pt>
                <c:pt idx="56">
                  <c:v>1.0089999999999999</c:v>
                </c:pt>
                <c:pt idx="57">
                  <c:v>0.98299999999999998</c:v>
                </c:pt>
                <c:pt idx="58">
                  <c:v>1.038</c:v>
                </c:pt>
              </c:numCache>
            </c:numRef>
          </c:val>
          <c:smooth val="0"/>
          <c:extLst>
            <c:ext xmlns:c16="http://schemas.microsoft.com/office/drawing/2014/chart" uri="{C3380CC4-5D6E-409C-BE32-E72D297353CC}">
              <c16:uniqueId val="{00000000-3C73-494B-BA84-FBE36A044168}"/>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1.33"/>
          <c:min val="0.83899999999999997"/>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10-year Treasury yield</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1.58</c:v>
                </c:pt>
                <c:pt idx="1">
                  <c:v>1.56</c:v>
                </c:pt>
                <c:pt idx="2">
                  <c:v>1.47</c:v>
                </c:pt>
                <c:pt idx="3">
                  <c:v>1.76</c:v>
                </c:pt>
                <c:pt idx="4">
                  <c:v>1.93</c:v>
                </c:pt>
                <c:pt idx="5">
                  <c:v>2.13</c:v>
                </c:pt>
                <c:pt idx="6">
                  <c:v>2.75</c:v>
                </c:pt>
                <c:pt idx="7">
                  <c:v>2.9</c:v>
                </c:pt>
                <c:pt idx="8">
                  <c:v>3.14</c:v>
                </c:pt>
                <c:pt idx="9">
                  <c:v>2.9</c:v>
                </c:pt>
                <c:pt idx="10">
                  <c:v>2.9</c:v>
                </c:pt>
                <c:pt idx="11">
                  <c:v>3.52</c:v>
                </c:pt>
                <c:pt idx="12">
                  <c:v>3.98</c:v>
                </c:pt>
                <c:pt idx="13">
                  <c:v>3.89</c:v>
                </c:pt>
                <c:pt idx="14">
                  <c:v>3.62</c:v>
                </c:pt>
                <c:pt idx="15">
                  <c:v>3.53</c:v>
                </c:pt>
                <c:pt idx="16">
                  <c:v>3.75</c:v>
                </c:pt>
                <c:pt idx="17">
                  <c:v>3.66</c:v>
                </c:pt>
                <c:pt idx="18">
                  <c:v>3.46</c:v>
                </c:pt>
                <c:pt idx="19">
                  <c:v>3.57</c:v>
                </c:pt>
                <c:pt idx="20">
                  <c:v>3.75</c:v>
                </c:pt>
                <c:pt idx="21">
                  <c:v>3.9</c:v>
                </c:pt>
                <c:pt idx="22">
                  <c:v>4.17</c:v>
                </c:pt>
                <c:pt idx="23">
                  <c:v>4.38</c:v>
                </c:pt>
                <c:pt idx="24">
                  <c:v>4.8</c:v>
                </c:pt>
                <c:pt idx="25">
                  <c:v>4.5</c:v>
                </c:pt>
                <c:pt idx="26">
                  <c:v>4.0199999999999996</c:v>
                </c:pt>
                <c:pt idx="27">
                  <c:v>4.0599999999999996</c:v>
                </c:pt>
                <c:pt idx="28">
                  <c:v>4.21</c:v>
                </c:pt>
                <c:pt idx="29">
                  <c:v>4.21</c:v>
                </c:pt>
                <c:pt idx="30">
                  <c:v>4.54</c:v>
                </c:pt>
                <c:pt idx="31">
                  <c:v>4.4800000000000004</c:v>
                </c:pt>
                <c:pt idx="32">
                  <c:v>4.3099999999999996</c:v>
                </c:pt>
                <c:pt idx="33">
                  <c:v>4.25</c:v>
                </c:pt>
                <c:pt idx="34">
                  <c:v>3.87</c:v>
                </c:pt>
                <c:pt idx="35">
                  <c:v>3.72</c:v>
                </c:pt>
                <c:pt idx="36">
                  <c:v>4.0999999999999996</c:v>
                </c:pt>
                <c:pt idx="37">
                  <c:v>4.3600000000000003</c:v>
                </c:pt>
                <c:pt idx="38">
                  <c:v>4.3899999999999997</c:v>
                </c:pt>
                <c:pt idx="39">
                  <c:v>4.63</c:v>
                </c:pt>
                <c:pt idx="40">
                  <c:v>4.45</c:v>
                </c:pt>
                <c:pt idx="41">
                  <c:v>4.28</c:v>
                </c:pt>
                <c:pt idx="42">
                  <c:v>4.28</c:v>
                </c:pt>
                <c:pt idx="43">
                  <c:v>4.42</c:v>
                </c:pt>
                <c:pt idx="44">
                  <c:v>4.38</c:v>
                </c:pt>
                <c:pt idx="45">
                  <c:v>4.3899999999999997</c:v>
                </c:pt>
                <c:pt idx="46">
                  <c:v>4.26</c:v>
                </c:pt>
                <c:pt idx="47">
                  <c:v>4.12</c:v>
                </c:pt>
                <c:pt idx="48">
                  <c:v>4.0599999999999996</c:v>
                </c:pt>
                <c:pt idx="49">
                  <c:v>4.09</c:v>
                </c:pt>
                <c:pt idx="50">
                  <c:v>4.1399999999999997</c:v>
                </c:pt>
                <c:pt idx="51">
                  <c:v>4.21</c:v>
                </c:pt>
                <c:pt idx="52">
                  <c:v>4.13</c:v>
                </c:pt>
                <c:pt idx="53">
                  <c:v>4.25</c:v>
                </c:pt>
                <c:pt idx="54">
                  <c:v>4.32</c:v>
                </c:pt>
                <c:pt idx="55">
                  <c:v>4.4800000000000004</c:v>
                </c:pt>
                <c:pt idx="56">
                  <c:v>4.47</c:v>
                </c:pt>
                <c:pt idx="57">
                  <c:v>4.5999999999999996</c:v>
                </c:pt>
                <c:pt idx="58">
                  <c:v>4.68</c:v>
                </c:pt>
                <c:pt idx="59">
                  <c:v>4.99</c:v>
                </c:pt>
              </c:numCache>
            </c:numRef>
          </c:val>
          <c:smooth val="0"/>
          <c:extLst>
            <c:ext xmlns:c16="http://schemas.microsoft.com/office/drawing/2014/chart" uri="{C3380CC4-5D6E-409C-BE32-E72D297353CC}">
              <c16:uniqueId val="{00000000-BACC-4D10-96A8-7A40C7DD61FE}"/>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5.41"/>
          <c:min val="1.05"/>
        </c:scaling>
        <c:delete val="1"/>
        <c:axPos val="l"/>
        <c:majorGridlines>
          <c:spPr>
            <a:ln w="6350" cap="flat">
              <a:solidFill>
                <a:srgbClr val="E3DCD3"/>
              </a:solidFill>
              <a:prstDash val="solid"/>
              <a:round/>
            </a:ln>
          </c:spPr>
        </c:majorGridlines>
        <c:numFmt formatCode="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67593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57150" cy="7772400"/>
          </a:xfrm>
          <a:prstGeom prst="rect">
            <a:avLst/>
          </a:prstGeom>
          <a:solidFill>
            <a:srgbClr val="B68757"/>
          </a:solidFill>
          <a:ln/>
        </p:spPr>
        <p:txBody>
          <a:bodyPr/>
          <a:lstStyle/>
          <a:p>
            <a:endParaRPr lang="en-US"/>
          </a:p>
        </p:txBody>
      </p:sp>
      <p:sp>
        <p:nvSpPr>
          <p:cNvPr id="3" name="Text 1"/>
          <p:cNvSpPr/>
          <p:nvPr/>
        </p:nvSpPr>
        <p:spPr>
          <a:xfrm>
            <a:off x="419100" y="361950"/>
            <a:ext cx="4572000" cy="171450"/>
          </a:xfrm>
          <a:prstGeom prst="rect">
            <a:avLst/>
          </a:prstGeom>
          <a:noFill/>
          <a:ln/>
        </p:spPr>
        <p:txBody>
          <a:bodyPr wrap="none" lIns="0" tIns="0" rIns="0" bIns="0" rtlCol="0" anchor="ctr"/>
          <a:lstStyle/>
          <a:p>
            <a:pPr marL="0" indent="0">
              <a:buNone/>
            </a:pPr>
            <a:r>
              <a:rPr lang="en-US" sz="675" b="1" kern="0" spc="220" dirty="0">
                <a:solidFill>
                  <a:srgbClr val="8C6239"/>
                </a:solidFill>
              </a:rPr>
              <a:t>INDUSTRIAL  |  QUARTERLY INDUSTRY REPORT</a:t>
            </a:r>
            <a:endParaRPr lang="en-US" sz="675" dirty="0"/>
          </a:p>
        </p:txBody>
      </p:sp>
      <p:sp>
        <p:nvSpPr>
          <p:cNvPr id="4" name="Text 2"/>
          <p:cNvSpPr/>
          <p:nvPr/>
        </p:nvSpPr>
        <p:spPr>
          <a:xfrm>
            <a:off x="7734300" y="342900"/>
            <a:ext cx="1905000" cy="190500"/>
          </a:xfrm>
          <a:prstGeom prst="rect">
            <a:avLst/>
          </a:prstGeom>
          <a:noFill/>
          <a:ln/>
        </p:spPr>
        <p:txBody>
          <a:bodyPr wrap="square" lIns="0" tIns="0" rIns="0" bIns="0" rtlCol="0" anchor="ctr"/>
          <a:lstStyle/>
          <a:p>
            <a:pPr marL="0" indent="0" algn="r">
              <a:buNone/>
            </a:pPr>
            <a:r>
              <a:rPr lang="en-US" sz="900" kern="0" spc="100" dirty="0">
                <a:solidFill>
                  <a:srgbClr val="6F6A66"/>
                </a:solidFill>
                <a:latin typeface="+mj-lt" pitchFamily="34" charset="0"/>
              </a:rPr>
              <a:t>Q4 2026</a:t>
            </a:r>
            <a:endParaRPr lang="en-US" sz="900" dirty="0"/>
          </a:p>
        </p:txBody>
      </p:sp>
      <p:sp>
        <p:nvSpPr>
          <p:cNvPr id="5" name="Shape 3"/>
          <p:cNvSpPr/>
          <p:nvPr/>
        </p:nvSpPr>
        <p:spPr>
          <a:xfrm>
            <a:off x="419100" y="1143000"/>
            <a:ext cx="9220200" cy="0"/>
          </a:xfrm>
          <a:prstGeom prst="line">
            <a:avLst/>
          </a:prstGeom>
          <a:noFill/>
          <a:ln w="9525">
            <a:solidFill>
              <a:srgbClr val="E3DCD3"/>
            </a:solidFill>
            <a:prstDash val="solid"/>
          </a:ln>
        </p:spPr>
        <p:txBody>
          <a:bodyPr/>
          <a:lstStyle/>
          <a:p>
            <a:endParaRPr lang="en-US"/>
          </a:p>
        </p:txBody>
      </p:sp>
      <p:sp>
        <p:nvSpPr>
          <p:cNvPr id="6" name="Shape 4"/>
          <p:cNvSpPr/>
          <p:nvPr/>
        </p:nvSpPr>
        <p:spPr>
          <a:xfrm>
            <a:off x="419100" y="7029450"/>
            <a:ext cx="9220200" cy="0"/>
          </a:xfrm>
          <a:prstGeom prst="line">
            <a:avLst/>
          </a:prstGeom>
          <a:noFill/>
          <a:ln w="9525">
            <a:solidFill>
              <a:srgbClr val="E3DCD3"/>
            </a:solidFill>
            <a:prstDash val="solid"/>
          </a:ln>
        </p:spPr>
        <p:txBody>
          <a:bodyPr/>
          <a:lstStyle/>
          <a:p>
            <a:endParaRPr lang="en-US"/>
          </a:p>
        </p:txBody>
      </p:sp>
      <p:pic>
        <p:nvPicPr>
          <p:cNvPr id="7" name="Image 0"/>
          <p:cNvPicPr>
            <a:picLocks noChangeAspect="1"/>
          </p:cNvPicPr>
          <p:nvPr/>
        </p:nvPicPr>
        <p:blipFill>
          <a:blip r:embed="rId2"/>
          <a:stretch>
            <a:fillRect/>
          </a:stretch>
        </p:blipFill>
        <p:spPr>
          <a:xfrm>
            <a:off x="419100" y="7143750"/>
            <a:ext cx="914400" cy="171450"/>
          </a:xfrm>
          <a:prstGeom prst="rect">
            <a:avLst/>
          </a:prstGeom>
        </p:spPr>
      </p:pic>
      <p:sp>
        <p:nvSpPr>
          <p:cNvPr id="8" name="Text 5"/>
          <p:cNvSpPr>
            <a:spLocks noGrp="1"/>
          </p:cNvSpPr>
          <p:nvPr>
            <p:ph type="title" idx="106" hasCustomPrompt="1"/>
          </p:nvPr>
        </p:nvSpPr>
        <p:spPr>
          <a:xfrm>
            <a:off x="419100" y="514350"/>
            <a:ext cx="9220200" cy="361950"/>
          </a:xfrm>
          <a:prstGeom prst="rect">
            <a:avLst/>
          </a:prstGeom>
          <a:noFill/>
          <a:ln/>
        </p:spPr>
        <p:txBody>
          <a:bodyPr wrap="square" rtlCol="0"/>
          <a:lstStyle>
            <a:lvl1pPr marL="0" indent="0" algn="l">
              <a:buNone/>
              <a:defRPr lang="en-US" sz="2025" b="1" dirty="0">
                <a:solidFill>
                  <a:srgbClr val="1B1A1A"/>
                </a:solidFill>
              </a:defRPr>
            </a:lvl1pPr>
          </a:lstStyle>
          <a:p>
            <a:pPr marL="0" indent="0" algn="l">
              <a:buNone/>
            </a:pPr>
            <a:endParaRPr lang="en-US" sz="2025" dirty="0"/>
          </a:p>
        </p:txBody>
      </p:sp>
      <p:sp>
        <p:nvSpPr>
          <p:cNvPr id="9" name="Text 5"/>
          <p:cNvSpPr>
            <a:spLocks noGrp="1"/>
          </p:cNvSpPr>
          <p:nvPr>
            <p:ph type="body" idx="107" hasCustomPrompt="1"/>
          </p:nvPr>
        </p:nvSpPr>
        <p:spPr>
          <a:xfrm>
            <a:off x="419100" y="895350"/>
            <a:ext cx="9220200" cy="209550"/>
          </a:xfrm>
          <a:prstGeom prst="rect">
            <a:avLst/>
          </a:prstGeom>
          <a:noFill/>
          <a:ln/>
        </p:spPr>
        <p:txBody>
          <a:bodyPr wrap="square" rtlCol="0"/>
          <a:lstStyle>
            <a:lvl1pPr marL="0" indent="0">
              <a:buNone/>
              <a:defRPr lang="en-US" sz="938" dirty="0">
                <a:solidFill>
                  <a:srgbClr val="6F6A66"/>
                </a:solidFill>
              </a:defRPr>
            </a:lvl1pPr>
          </a:lstStyle>
          <a:p>
            <a:pPr marL="0" indent="0">
              <a:buNone/>
            </a:pPr>
            <a:endParaRPr lang="en-US" sz="938" dirty="0"/>
          </a:p>
        </p:txBody>
      </p:sp>
      <p:sp>
        <p:nvSpPr>
          <p:cNvPr id="10" name="Text 5"/>
          <p:cNvSpPr>
            <a:spLocks noGrp="1"/>
          </p:cNvSpPr>
          <p:nvPr>
            <p:ph type="body" idx="108" hasCustomPrompt="1"/>
          </p:nvPr>
        </p:nvSpPr>
        <p:spPr>
          <a:xfrm>
            <a:off x="1543050" y="7096125"/>
            <a:ext cx="7620000" cy="285750"/>
          </a:xfrm>
          <a:prstGeom prst="rect">
            <a:avLst/>
          </a:prstGeom>
          <a:noFill/>
          <a:ln/>
        </p:spPr>
        <p:txBody>
          <a:bodyPr wrap="square" rtlCol="0"/>
          <a:lstStyle>
            <a:lvl1pPr marL="0" indent="0">
              <a:buNone/>
              <a:defRPr lang="en-US" sz="675" dirty="0">
                <a:solidFill>
                  <a:srgbClr val="6F6A66"/>
                </a:solidFill>
              </a:defRPr>
            </a:lvl1pPr>
          </a:lstStyle>
          <a:p>
            <a:pPr marL="0" indent="0">
              <a:buNone/>
            </a:pPr>
            <a:endParaRPr lang="en-US" sz="67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B1A1A"/>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2">
            <a:alphaModFix amt="40000"/>
          </a:blip>
          <a:stretch>
            <a:fillRect/>
          </a:stretch>
        </p:blipFill>
        <p:spPr>
          <a:xfrm>
            <a:off x="-4095750" y="0"/>
            <a:ext cx="13820775" cy="7772400"/>
          </a:xfrm>
          <a:prstGeom prst="rect">
            <a:avLst/>
          </a:prstGeom>
        </p:spPr>
      </p:pic>
      <p:pic>
        <p:nvPicPr>
          <p:cNvPr id="3" name="Image 1"/>
          <p:cNvPicPr>
            <a:picLocks noChangeAspect="1"/>
          </p:cNvPicPr>
          <p:nvPr/>
        </p:nvPicPr>
        <p:blipFill>
          <a:blip r:embed="rId3"/>
          <a:stretch>
            <a:fillRect/>
          </a:stretch>
        </p:blipFill>
        <p:spPr>
          <a:xfrm>
            <a:off x="609600" y="7029450"/>
            <a:ext cx="1428750" cy="266700"/>
          </a:xfrm>
          <a:prstGeom prst="rect">
            <a:avLst/>
          </a:prstGeom>
        </p:spPr>
      </p:pic>
      <p:sp>
        <p:nvSpPr>
          <p:cNvPr id="4" name="Text 0"/>
          <p:cNvSpPr/>
          <p:nvPr/>
        </p:nvSpPr>
        <p:spPr>
          <a:xfrm>
            <a:off x="2209800" y="7077075"/>
            <a:ext cx="2743200" cy="171450"/>
          </a:xfrm>
          <a:prstGeom prst="rect">
            <a:avLst/>
          </a:prstGeom>
          <a:noFill/>
          <a:ln/>
        </p:spPr>
        <p:txBody>
          <a:bodyPr wrap="square" lIns="0" tIns="0" rIns="0" bIns="0" rtlCol="0" anchor="ctr"/>
          <a:lstStyle/>
          <a:p>
            <a:pPr marL="0" indent="0">
              <a:buNone/>
            </a:pPr>
            <a:r>
              <a:rPr lang="en-US" sz="638" b="1" kern="0" spc="200" dirty="0">
                <a:solidFill>
                  <a:srgbClr val="D3AE84"/>
                </a:solidFill>
              </a:rPr>
              <a:t>MIDDLE MARKET</a:t>
            </a:r>
            <a:endParaRPr lang="en-US" sz="638" dirty="0"/>
          </a:p>
        </p:txBody>
      </p:sp>
      <p:sp>
        <p:nvSpPr>
          <p:cNvPr id="5" name="Text 1"/>
          <p:cNvSpPr/>
          <p:nvPr/>
        </p:nvSpPr>
        <p:spPr>
          <a:xfrm>
            <a:off x="609600" y="590550"/>
            <a:ext cx="4572000" cy="171450"/>
          </a:xfrm>
          <a:prstGeom prst="rect">
            <a:avLst/>
          </a:prstGeom>
          <a:noFill/>
          <a:ln/>
        </p:spPr>
        <p:txBody>
          <a:bodyPr wrap="none" lIns="0" tIns="0" rIns="0" bIns="0" rtlCol="0" anchor="ctr"/>
          <a:lstStyle/>
          <a:p>
            <a:pPr marL="0" indent="0">
              <a:buNone/>
            </a:pPr>
            <a:r>
              <a:rPr lang="en-US" sz="675" b="1" kern="0" spc="220" dirty="0">
                <a:solidFill>
                  <a:srgbClr val="D3AE84"/>
                </a:solidFill>
              </a:rPr>
              <a:t>INDUSTRIAL  |  QUARTERLY INDUSTRY REPORT  |  Q4 2026</a:t>
            </a:r>
            <a:endParaRPr lang="en-US" sz="675"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rtlCol="0"/>
          <a:lstStyle>
            <a:lvl1pPr marL="0" indent="0" algn="l">
              <a:buNone/>
              <a:defRPr lang="en-US" sz="4050" b="1" dirty="0">
                <a:solidFill>
                  <a:srgbClr val="FFFFFF"/>
                </a:solidFill>
              </a:defRPr>
            </a:lvl1pPr>
          </a:lstStyle>
          <a:p>
            <a:pPr marL="0" indent="0" algn="l">
              <a:buNone/>
            </a:pPr>
            <a:endParaRPr lang="en-US" sz="40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B1A1A"/>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4.jp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5.png"/><Relationship Id="rId5" Type="http://schemas.openxmlformats.org/officeDocument/2006/relationships/hyperlink" Target="https://www.prnewswire.com/news-releases/manufacturing-pmi-at-54-5-september-2026-ism-manufacturing-pmi-report-302894520.html" TargetMode="External"/><Relationship Id="rId6" Type="http://schemas.openxmlformats.org/officeDocument/2006/relationships/hyperlink" Target="https://www.mdm.com/news/research/economic-trends/u-s-metalworking-machinery-orders-slide-in-july/" TargetMode="External"/><Relationship Id="rId7" Type="http://schemas.openxmlformats.org/officeDocument/2006/relationships/hyperlink" Target="https://www.federalreserve.gov/releases/g17/current/default.htm" TargetMode="External"/><Relationship Id="rId8" Type="http://schemas.openxmlformats.org/officeDocument/2006/relationships/image" Target="../media/image12.png"/><Relationship Id="rId9" Type="http://schemas.openxmlformats.org/officeDocument/2006/relationships/hyperlink" Target="https://pitchbook.brightspotcdn.com/40/42/bbeb88094080abaea3d7c87530b8/q2-2026-us-pe-breakdown.pdf" TargetMode="External"/><Relationship Id="rId10" Type="http://schemas.openxmlformats.org/officeDocument/2006/relationships/hyperlink" Target="https://pyebarkerfs.com/?p=22122" TargetMode="External"/><Relationship Id="rId11" Type="http://schemas.openxmlformats.org/officeDocument/2006/relationships/image" Target="../media/image8.png"/><Relationship Id="rId12" Type="http://schemas.openxmlformats.org/officeDocument/2006/relationships/hyperlink" Target="https://investors.quantaservices.com/_assets/_27cda7558592cc1119359235c3a11955/quantaservices/news/2026-07-30_QUANTA_SERVICES_REPORTS_SECOND_QUARTER_2026_402.pdf" TargetMode="External"/><Relationship Id="rId13" Type="http://schemas.openxmlformats.org/officeDocument/2006/relationships/hyperlink" Target="https://aashtojournal.transportation.org/?p=41360" TargetMode="External"/><Relationship Id="rId14" Type="http://schemas.openxmlformats.org/officeDocument/2006/relationships/image" Target="../media/image13.png"/><Relationship Id="rId15" Type="http://schemas.openxmlformats.org/officeDocument/2006/relationships/hyperlink" Target="https://www.businesswire.com/news/home/20251210396417/en/APi-Group-Announces-Acquisition-of-CertaSite-and-Provides-Full-Year-2025-Update" TargetMode="External"/><Relationship Id="rId16" Type="http://schemas.openxmlformats.org/officeDocument/2006/relationships/hyperlink" Target="https://www.transcat.com/news/post/transcat-reports-strong-fiscal-first-quarter-2027-financial-results" TargetMode="External"/><Relationship Id="rId17" Type="http://schemas.openxmlformats.org/officeDocument/2006/relationships/image" Target="../media/image14.png"/><Relationship Id="rId18" Type="http://schemas.openxmlformats.org/officeDocument/2006/relationships/hyperlink" Target="https://www.globalbankingandfinance.com/global-m-deal-rush-fades-third-quarter-rising-borrowing/" TargetMode="External"/><Relationship Id="rId19" Type="http://schemas.openxmlformats.org/officeDocument/2006/relationships/hyperlink" Target="https://www.federalreserve.gov/newsevents/pressreleases/monetary20260916a.htm" TargetMode="External"/><Relationship Id="rId20" Type="http://schemas.openxmlformats.org/officeDocument/2006/relationships/hyperlink" Target="https://www.acg.org/news-trends/news/gf-data-reports-show-steady-middle-market-deal-flow-amid-more-selectiv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hyperlink" Target="https://www.eia.gov/outlooks/steo/report/elec_coal_renew.php" TargetMode="External"/><Relationship Id="rId4" Type="http://schemas.openxmlformats.org/officeDocument/2006/relationships/hyperlink" Target="https://www.powermag.com/nerc-warns-long-term-grid-reliability-risks-mounting/" TargetMode="External"/><Relationship Id="rId5" Type="http://schemas.openxmlformats.org/officeDocument/2006/relationships/hyperlink" Target="https://www.prnewswire.com/news-releases/meta-reports-second-quarter-2026-results-302838214.html" TargetMode="External"/><Relationship Id="rId6" Type="http://schemas.openxmlformats.org/officeDocument/2006/relationships/hyperlink" Target="https://www.sec.gov/Archives/edgar/data/0001996810/000199681026000147/gevpressrelease2q26.htm" TargetMode="External"/><Relationship Id="rId7" Type="http://schemas.openxmlformats.org/officeDocument/2006/relationships/hyperlink" Target="https://www.ajot.com/news/us-power-companies-scramble-to-secure-equipment-as-surging-data-center-demand-strains-supplies" TargetMode="External"/><Relationship Id="rId8" Type="http://schemas.openxmlformats.org/officeDocument/2006/relationships/hyperlink" Target="https://www.sec.gov/Archives/edgar/data/0001474735/000143774926024731/ex_994826.htm" TargetMode="External"/><Relationship Id="rId9" Type="http://schemas.openxmlformats.org/officeDocument/2006/relationships/hyperlink" Target="https://www.cnbc.com/2026/09/02/cnbc-exclusive-transcript-berkshire-hathaway-ceo-greg-abel-speaks-with-cnbcs-squawk-box-today.html" TargetMode="External"/><Relationship Id="rId10" Type="http://schemas.openxmlformats.org/officeDocument/2006/relationships/hyperlink" Target="https://www.youtube.com/watch?v=AhYQUjd_n78" TargetMode="External"/><Relationship Id="rId11" Type="http://schemas.openxmlformats.org/officeDocument/2006/relationships/hyperlink" Target="https://www.youtube.com/watch?v=Gnl833wXRz0" TargetMode="External"/><Relationship Id="rId12" Type="http://schemas.openxmlformats.org/officeDocument/2006/relationships/image" Target="../media/image5.png"/><Relationship Id="rId13" Type="http://schemas.openxmlformats.org/officeDocument/2006/relationships/hyperlink" Target="https://www.globenewswire.com/news-release/2026/08/24/3349571/0/en/nvent-to-acquire-maverick-power.html" TargetMode="External"/><Relationship Id="rId14" Type="http://schemas.openxmlformats.org/officeDocument/2006/relationships/image" Target="../media/image6.png"/><Relationship Id="rId15" Type="http://schemas.openxmlformats.org/officeDocument/2006/relationships/hyperlink" Target="https://www.sec.gov/Archives/edgar/data/105634/000010563426000112/eme-ex991_2026630xq2.htm" TargetMode="External"/><Relationship Id="rId16" Type="http://schemas.openxmlformats.org/officeDocument/2006/relationships/image" Target="../media/image7.png"/><Relationship Id="rId17" Type="http://schemas.openxmlformats.org/officeDocument/2006/relationships/hyperlink" Target="https://www.globenewswire.com/news-release/2026/09/15/3362305/0/en/abc-survey-1-in-6-members-perform-data-center-work-backlog-rebounds-in-august.html" TargetMode="External"/><Relationship Id="rId18" Type="http://schemas.openxmlformats.org/officeDocument/2006/relationships/hyperlink" Target="https://www.businesswire.com/news/home/20260804326592/en/Limbach-Reports-Second-Quarter-2026-Results" TargetMode="External"/><Relationship Id="rId19" Type="http://schemas.openxmlformats.org/officeDocument/2006/relationships/image" Target="../media/image8.png"/><Relationship Id="rId20" Type="http://schemas.openxmlformats.org/officeDocument/2006/relationships/hyperlink" Target="https://dallasinnovates.com/north-texas-mission-critical-group-acquires-txla-systems/" TargetMode="External"/><Relationship Id="rId21" Type="http://schemas.openxmlformats.org/officeDocument/2006/relationships/hyperlink" Target="https://distributionstrategy.com/2026/07/mission-critical-group-makes-play-for-transformer-supply/" TargetMode="External"/><Relationship Id="rId22" Type="http://schemas.openxmlformats.org/officeDocument/2006/relationships/image" Target="../media/image9.png"/><Relationship Id="rId23" Type="http://schemas.openxmlformats.org/officeDocument/2006/relationships/hyperlink" Target="https://www.mdm.com/?p=436875" TargetMode="External"/><Relationship Id="rId24" Type="http://schemas.openxmlformats.org/officeDocument/2006/relationships/hyperlink" Target="https://vertikal.net/en/news/story/49180/jk-takes-360" TargetMode="External"/><Relationship Id="rId25" Type="http://schemas.openxmlformats.org/officeDocument/2006/relationships/image" Target="../media/image1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6.jpg"/><Relationship Id="rId4" Type="http://schemas.openxmlformats.org/officeDocument/2006/relationships/hyperlink" Target="https://www.benchmarkintl.com/insights/completed-transactions/benchmark-international-successfully-facilitated-the-transaction-between-the-carmi-companies-and-the-nearshore-company/" TargetMode="External"/><Relationship Id="rId5" Type="http://schemas.openxmlformats.org/officeDocument/2006/relationships/hyperlink" Target="https://www.freightwaves.com/news/us-mexico-trade-smashes-monthly-record-at-nearly-95b" TargetMode="External"/><Relationship Id="rId6" Type="http://schemas.openxmlformats.org/officeDocument/2006/relationships/hyperlink" Target="https://www.freightwaves.com/news/redwood-logistics-acquires-laredo-customs-broker-eelco" TargetMode="External"/><Relationship Id="rId7" Type="http://schemas.openxmlformats.org/officeDocument/2006/relationships/hyperlink" Target="https://www.freightwaves.com/news/from-trucks-to-trade-compliance-logistics-firms-make-strategic-buys" TargetMode="External"/><Relationship Id="rId8" Type="http://schemas.openxmlformats.org/officeDocument/2006/relationships/hyperlink" Target="https://www.lincolninternational.com/perspectives/in-the-press/transport-topics-transport-ma-builds-momentum-alongside-freight-market/" TargetMode="External"/><Relationship Id="rId9" Type="http://schemas.openxmlformats.org/officeDocument/2006/relationships/image" Target="../media/image17.jpg"/><Relationship Id="rId10" Type="http://schemas.openxmlformats.org/officeDocument/2006/relationships/hyperlink" Target="tel:8137716675" TargetMode="External"/><Relationship Id="rId11" Type="http://schemas.openxmlformats.org/officeDocument/2006/relationships/hyperlink" Target="mailto:j.hardin@benchmarkintl.com" TargetMode="External"/><Relationship Id="rId12" Type="http://schemas.openxmlformats.org/officeDocument/2006/relationships/image" Target="../media/image18.jpg"/><Relationship Id="rId13" Type="http://schemas.openxmlformats.org/officeDocument/2006/relationships/hyperlink" Target="https://jp-hardin.github.io/about/mid-market-practice/transactions.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franklin-electric.com/company/news/2026/franklin-electric-acquires-cat-pumps-expanding-commercial-and-industrial-flow-control-platform/" TargetMode="External"/><Relationship Id="rId4" Type="http://schemas.openxmlformats.org/officeDocument/2006/relationships/hyperlink" Target="https://www.prnewswire.com/news-releases/precinmac-lp-announces-the-acquisition-of-massachusetts-based-advance-mfg-co-inc-302818691.html" TargetMode="External"/><Relationship Id="rId5" Type="http://schemas.openxmlformats.org/officeDocument/2006/relationships/hyperlink" Target="https://www.mdm.com/news/top-distributor-sectors/flow-control-top-distributor-sectors/ferguson-closes-1-6b-floworks-deal-deepening-flow-control-push/" TargetMode="External"/><Relationship Id="rId6" Type="http://schemas.openxmlformats.org/officeDocument/2006/relationships/hyperlink" Target="https://www.mdm.com/news/featured/featured-blog/ferguson-makes-1-6b-flow-control-bet-with-floworks-deal/" TargetMode="External"/><Relationship Id="rId7" Type="http://schemas.openxmlformats.org/officeDocument/2006/relationships/hyperlink" Target="https://www.mdm.com/news/top-distributor-sectors/gases-welding-equipment/meritus-gas-partners-adds-5-dfw-locations-with-acquisition-of-metroplex-welding-supply/" TargetMode="External"/><Relationship Id="rId8" Type="http://schemas.openxmlformats.org/officeDocument/2006/relationships/hyperlink" Target="https://pulse2.com/limbach-acquires-1901-for-63-million-plus-up-to-6-million-in-earnout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rermag.com/mergers-acquisitions/news/55397729/bay-crane-acquires-clark-rigging-rental-growing-its-upstate-new-york-presence" TargetMode="External"/><Relationship Id="rId4" Type="http://schemas.openxmlformats.org/officeDocument/2006/relationships/hyperlink" Target="https://wasteadvantagemag.com/clean-harbors-to-acquire-enviroserve/" TargetMode="External"/><Relationship Id="rId5" Type="http://schemas.openxmlformats.org/officeDocument/2006/relationships/hyperlink" Target="https://www.sec.gov/Archives/edgar/data/0000822818/000082281826000031/clh-q22026pressrelease.htm" TargetMode="External"/><Relationship Id="rId6" Type="http://schemas.openxmlformats.org/officeDocument/2006/relationships/hyperlink" Target="https://distributionstrategy.com/2026/07/mission-critical-group-makes-play-for-transformer-supply/" TargetMode="External"/><Relationship Id="rId7" Type="http://schemas.openxmlformats.org/officeDocument/2006/relationships/hyperlink" Target="https://www.sec.gov/Archives/edgar/data/0001929561/000114036126038548/ef20083265_ex99-1.htm" TargetMode="External"/><Relationship Id="rId8" Type="http://schemas.openxmlformats.org/officeDocument/2006/relationships/hyperlink" Target="https://www.freightwaves.com/news/redwood-logistics-acquires-laredo-customs-broker-eelco"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www.benchmarkintl.com/" TargetMode="External"/><Relationship Id="rId4" Type="http://schemas.openxmlformats.org/officeDocument/2006/relationships/chart" Target="../charts/chart1.xml"/><Relationship Id="rId5" Type="http://schemas.openxmlformats.org/officeDocument/2006/relationships/hyperlink" Target="https://www.benchmarkintl.com/insights/completed-transactions/benchmark-international-successfully-facilitated-the-transaction-between-fps-technologies-inc-and-cintas-corporation/" TargetMode="External"/><Relationship Id="rId6" Type="http://schemas.openxmlformats.org/officeDocument/2006/relationships/hyperlink" Target="https://www.benchmarkintl.com/insights/completed-transactions/benchmark-international-successfully-facilitated-the-transaction-between-maxvac-inc-and-dxp-enterprises-inc/" TargetMode="External"/><Relationship Id="rId7" Type="http://schemas.openxmlformats.org/officeDocument/2006/relationships/hyperlink" Target="https://www.benchmarkintl.com/insights/completed-transactions/benchmark-international-facilitated-the-transaction-of-trinity-industrial-services-llc-and-aecon-group-inc/" TargetMode="External"/><Relationship Id="rId8" Type="http://schemas.openxmlformats.org/officeDocument/2006/relationships/hyperlink" Target="https://www.benchmarkintl.com/insights/completed-transactions/benchmark-international-successfully-facilitated-the-transaction-of-invocon-inc-and-cemtrex-inc/" TargetMode="External"/><Relationship Id="rId9" Type="http://schemas.openxmlformats.org/officeDocument/2006/relationships/hyperlink" Target="https://www.benchmarkintl.com/insights/completed-transactions/benchmark-international-successfully-facilitated-the-transaction-between-climate-engineering-inc-and-harris-company/" TargetMode="External"/><Relationship Id="rId10" Type="http://schemas.openxmlformats.org/officeDocument/2006/relationships/hyperlink" Target="https://www.benchmarkintl.com/insights/completed-transactions/benchmark-international-successfully-facilitated-a-transaction-between-briggs-engineering-testing-and-phenna-group/" TargetMode="External"/><Relationship Id="rId11"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12" Type="http://schemas.openxmlformats.org/officeDocument/2006/relationships/hyperlink" Target="https://www.benchmarkintl.com/insights/completed-transactions/benchmark-international-successfully-facilitated-the-transaction-between-wesco-chemicals-inc-and-apex-water-and-process-inc/" TargetMode="External"/><Relationship Id="rId13" Type="http://schemas.openxmlformats.org/officeDocument/2006/relationships/hyperlink" Target="https://www.benchmarkintl.com/insights/benchmark-international-successfully-facilitated-the-transaction-between-dw-industries-and-tipco-technologies/" TargetMode="External"/><Relationship Id="rId14" Type="http://schemas.openxmlformats.org/officeDocument/2006/relationships/hyperlink" Target="https://www.benchmarkintl.com/insights/completed-transactions/benchmark-international-successfully-facilitated-the-transaction-between-at-parker-inc-and-assessimus-group-gmbh/" TargetMode="External"/><Relationship Id="rId15" Type="http://schemas.openxmlformats.org/officeDocument/2006/relationships/hyperlink" Target="https://www.benchmarkintl.com/insights/completed-transactions/benchmark-international-successfully-facilitated-the-transaction-between-clark-crane-and-capital-extension-crane-lift/" TargetMode="External"/><Relationship Id="rId16" Type="http://schemas.openxmlformats.org/officeDocument/2006/relationships/hyperlink" Target="https://www.benchmarkintl.com/insights/completed-transactions/benchmark-international-facilitated-the-transaction-of-christian-network-international-to-symbia-logistic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stockanalysis.com/" TargetMode="External"/><Relationship Id="rId4" Type="http://schemas.openxmlformats.org/officeDocument/2006/relationships/image" Target="../media/image20.png"/><Relationship Id="rId5" Type="http://schemas.openxmlformats.org/officeDocument/2006/relationships/chart" Target="../charts/chart2.xml"/><Relationship Id="rId6" Type="http://schemas.openxmlformats.org/officeDocument/2006/relationships/image" Target="../media/image21.png"/><Relationship Id="rId7" Type="http://schemas.openxmlformats.org/officeDocument/2006/relationships/chart" Target="../charts/chart3.xml"/><Relationship Id="rId8" Type="http://schemas.openxmlformats.org/officeDocument/2006/relationships/image" Target="../media/image22.png"/><Relationship Id="rId9" Type="http://schemas.openxmlformats.org/officeDocument/2006/relationships/chart" Target="../charts/chart4.xml"/><Relationship Id="rId10" Type="http://schemas.openxmlformats.org/officeDocument/2006/relationships/image" Target="../media/image23.png"/><Relationship Id="rId11" Type="http://schemas.openxmlformats.org/officeDocument/2006/relationships/chart" Target="../charts/chart5.xml"/><Relationship Id="rId12" Type="http://schemas.openxmlformats.org/officeDocument/2006/relationships/image" Target="../media/image24.png"/><Relationship Id="rId13" Type="http://schemas.openxmlformats.org/officeDocument/2006/relationships/chart" Target="../charts/chart6.xm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ibba.org/wp-content/uploads/2026/08/mp-highlights-q2-2026.pdf" TargetMode="External"/><Relationship Id="rId16" Type="http://schemas.openxmlformats.org/officeDocument/2006/relationships/hyperlink" Target="https://digitalcommons.pepperdine.edu/gsbm_pcm_pcmr/1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stockanalysis.com/" TargetMode="Externa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chart" Target="../charts/char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stockanalysis.com/" TargetMode="Externa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 Id="rId7" Type="http://schemas.openxmlformats.org/officeDocument/2006/relationships/chart" Target="../charts/chart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chart" Target="../charts/chart15.xml"/><Relationship Id="rId4" Type="http://schemas.openxmlformats.org/officeDocument/2006/relationships/hyperlink" Target="https://fred.stlouisfed.org/series/NEWORDER" TargetMode="External"/><Relationship Id="rId5" Type="http://schemas.openxmlformats.org/officeDocument/2006/relationships/chart" Target="../charts/chart16.xml"/><Relationship Id="rId6" Type="http://schemas.openxmlformats.org/officeDocument/2006/relationships/hyperlink" Target="https://fred.stlouisfed.org/series/MCUMFN" TargetMode="External"/><Relationship Id="rId7" Type="http://schemas.openxmlformats.org/officeDocument/2006/relationships/chart" Target="../charts/chart17.xml"/><Relationship Id="rId8" Type="http://schemas.openxmlformats.org/officeDocument/2006/relationships/hyperlink" Target="https://fred.stlouisfed.org/series/TTLCONS" TargetMode="External"/><Relationship Id="rId9" Type="http://schemas.openxmlformats.org/officeDocument/2006/relationships/chart" Target="../charts/chart18.xml"/><Relationship Id="rId10" Type="http://schemas.openxmlformats.org/officeDocument/2006/relationships/hyperlink" Target="https://fred.stlouisfed.org/series/TLMFGCONS" TargetMode="External"/><Relationship Id="rId11" Type="http://schemas.openxmlformats.org/officeDocument/2006/relationships/chart" Target="../charts/chart19.xml"/><Relationship Id="rId12" Type="http://schemas.openxmlformats.org/officeDocument/2006/relationships/hyperlink" Target="https://fred.stlouisfed.org/series/WPU1017" TargetMode="External"/><Relationship Id="rId13" Type="http://schemas.openxmlformats.org/officeDocument/2006/relationships/chart" Target="../charts/chart20.xml"/><Relationship Id="rId14" Type="http://schemas.openxmlformats.org/officeDocument/2006/relationships/hyperlink" Target="https://fred.stlouisfed.org/series/GASDESM" TargetMode="External"/><Relationship Id="rId15" Type="http://schemas.openxmlformats.org/officeDocument/2006/relationships/chart" Target="../charts/chart21.xml"/><Relationship Id="rId16" Type="http://schemas.openxmlformats.org/officeDocument/2006/relationships/hyperlink" Target="https://fred.stlouisfed.org/series/FRGSHPUSM649NCIS" TargetMode="External"/><Relationship Id="rId17" Type="http://schemas.openxmlformats.org/officeDocument/2006/relationships/chart" Target="../charts/chart22.xml"/><Relationship Id="rId18" Type="http://schemas.openxmlformats.org/officeDocument/2006/relationships/hyperlink" Target="https://fred.stlouisfed.org/series/GS1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www.benchmarkintl.com/" TargetMode="External"/><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18.jpg"/><Relationship Id="rId8" Type="http://schemas.openxmlformats.org/officeDocument/2006/relationships/image" Target="../media/image26.jpg"/><Relationship Id="rId9" Type="http://schemas.openxmlformats.org/officeDocument/2006/relationships/image" Target="../media/image27.jpg"/><Relationship Id="rId10" Type="http://schemas.openxmlformats.org/officeDocument/2006/relationships/hyperlink" Target="https://jp-hardin.github.io/about/mid-market-practice/insights/industrial-industry-report-q4-2026.html" TargetMode="External"/><Relationship Id="rId11" Type="http://schemas.openxmlformats.org/officeDocument/2006/relationships/image" Target="../media/image3.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8.png"/><Relationship Id="rId16" Type="http://schemas.openxmlformats.org/officeDocument/2006/relationships/image" Target="../media/image9.png"/><Relationship Id="rId17" Type="http://schemas.openxmlformats.org/officeDocument/2006/relationships/hyperlink" Target="mailto:jhoutz@benchmarkintl.com" TargetMode="External"/><Relationship Id="rId18" Type="http://schemas.openxmlformats.org/officeDocument/2006/relationships/hyperlink" Target="tel:8138982372" TargetMode="External"/><Relationship Id="rId19" Type="http://schemas.openxmlformats.org/officeDocument/2006/relationships/hyperlink" Target="mailto:azykov@benchmarkintl.com" TargetMode="External"/><Relationship Id="rId20" Type="http://schemas.openxmlformats.org/officeDocument/2006/relationships/hyperlink" Target="tel:8138982397" TargetMode="External"/><Relationship Id="rId21" Type="http://schemas.openxmlformats.org/officeDocument/2006/relationships/hyperlink" Target="mailto:hess@benchmarkintl.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 Id="rId3" Type="http://schemas.openxmlformats.org/officeDocument/2006/relationships/image" Target="../media/image18.jpg"/><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26.jpg"/><Relationship Id="rId8" Type="http://schemas.openxmlformats.org/officeDocument/2006/relationships/image" Target="../media/image27.jpg"/><Relationship Id="rId9" Type="http://schemas.openxmlformats.org/officeDocument/2006/relationships/image" Target="../media/image28.jpg"/><Relationship Id="rId10" Type="http://schemas.openxmlformats.org/officeDocument/2006/relationships/image" Target="../media/image29.jpg"/><Relationship Id="rId11" Type="http://schemas.openxmlformats.org/officeDocument/2006/relationships/image" Target="../media/image30.jpg"/><Relationship Id="rId12" Type="http://schemas.openxmlformats.org/officeDocument/2006/relationships/image" Target="../media/image31.jpg"/><Relationship Id="rId13" Type="http://schemas.openxmlformats.org/officeDocument/2006/relationships/image" Target="../media/image32.jpg"/><Relationship Id="rId14" Type="http://schemas.openxmlformats.org/officeDocument/2006/relationships/image" Target="../media/image33.jpg"/><Relationship Id="rId15" Type="http://schemas.openxmlformats.org/officeDocument/2006/relationships/image" Target="../media/image34.png"/><Relationship Id="rId16" Type="http://schemas.openxmlformats.org/officeDocument/2006/relationships/image" Target="../media/image35.png"/><Relationship Id="rId17" Type="http://schemas.openxmlformats.org/officeDocument/2006/relationships/image" Target="../media/image36.png"/><Relationship Id="rId18" Type="http://schemas.openxmlformats.org/officeDocument/2006/relationships/image" Target="../media/image37.png"/><Relationship Id="rId19" Type="http://schemas.openxmlformats.org/officeDocument/2006/relationships/image" Target="../media/image38.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www.prnewswire.com/news-releases/manufacturing-pmi-at-54-5-september-2026-ism-manufacturing-pmi-report-302894520.html" TargetMode="External"/><Relationship Id="rId4" Type="http://schemas.openxmlformats.org/officeDocument/2006/relationships/hyperlink" Target="https://www.mdm.com/news/research/economic-trends/u-s-metalworking-machinery-orders-slide-in-july/" TargetMode="External"/><Relationship Id="rId5" Type="http://schemas.openxmlformats.org/officeDocument/2006/relationships/hyperlink" Target="https://www.federalreserve.gov/releases/g17/current/default.htm" TargetMode="External"/><Relationship Id="rId6" Type="http://schemas.openxmlformats.org/officeDocument/2006/relationships/hyperlink" Target="https://pitchbook.brightspotcdn.com/40/42/bbeb88094080abaea3d7c87530b8/q2-2026-us-pe-breakdown.pdf" TargetMode="External"/><Relationship Id="rId7" Type="http://schemas.openxmlformats.org/officeDocument/2006/relationships/hyperlink" Target="https://pyebarkerfs.com/?p=22122" TargetMode="External"/><Relationship Id="rId8" Type="http://schemas.openxmlformats.org/officeDocument/2006/relationships/hyperlink" Target="https://www.sec.gov/Archives/edgar/data/1035983/000110465926086255/fix-20260723xex99d1.htm" TargetMode="External"/><Relationship Id="rId9" Type="http://schemas.openxmlformats.org/officeDocument/2006/relationships/hyperlink" Target="https://aashtojournal.transportation.org/?p=41360" TargetMode="External"/><Relationship Id="rId10" Type="http://schemas.openxmlformats.org/officeDocument/2006/relationships/hyperlink" Target="https://www.businesswire.com/news/home/20251210396417/en/APi-Group-Announces-Acquisition-of-CertaSite-and-Provides-Full-Year-2025-Update" TargetMode="External"/><Relationship Id="rId11" Type="http://schemas.openxmlformats.org/officeDocument/2006/relationships/hyperlink" Target="https://www.transcat.com/news/post/transcat-reports-strong-fiscal-first-quarter-2027-financial-results" TargetMode="External"/><Relationship Id="rId12" Type="http://schemas.openxmlformats.org/officeDocument/2006/relationships/hyperlink" Target="https://www.globalbankingandfinance.com/global-m-deal-rush-fades-third-quarter-rising-borrowing/" TargetMode="External"/><Relationship Id="rId13" Type="http://schemas.openxmlformats.org/officeDocument/2006/relationships/hyperlink" Target="https://www.federalreserve.gov/newsevents/pressreleases/monetary20260916a.htm"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eia.gov/outlooks/steo/report/elec_coal_renew.php" TargetMode="External"/><Relationship Id="rId16" Type="http://schemas.openxmlformats.org/officeDocument/2006/relationships/hyperlink" Target="https://www.powermag.com/nerc-warns-long-term-grid-reliability-risks-mounting/" TargetMode="External"/><Relationship Id="rId17" Type="http://schemas.openxmlformats.org/officeDocument/2006/relationships/hyperlink" Target="https://www.prnewswire.com/news-releases/meta-reports-second-quarter-2026-results-302838214.html" TargetMode="External"/><Relationship Id="rId18" Type="http://schemas.openxmlformats.org/officeDocument/2006/relationships/hyperlink" Target="https://www.sec.gov/Archives/edgar/data/0001996810/000199681026000147/gevpressrelease2q26.htm" TargetMode="External"/><Relationship Id="rId19" Type="http://schemas.openxmlformats.org/officeDocument/2006/relationships/hyperlink" Target="https://www.ajot.com/news/us-power-companies-scramble-to-secure-equipment-as-surging-data-center-demand-strains-supplies" TargetMode="External"/><Relationship Id="rId20" Type="http://schemas.openxmlformats.org/officeDocument/2006/relationships/hyperlink" Target="https://www.sec.gov/Archives/edgar/data/0001474735/000143774926024731/ex_994826.htm" TargetMode="External"/><Relationship Id="rId21" Type="http://schemas.openxmlformats.org/officeDocument/2006/relationships/hyperlink" Target="https://www.globenewswire.com/news-release/2026/08/24/3349571/0/en/nvent-to-acquire-maverick-power.html" TargetMode="External"/><Relationship Id="rId22" Type="http://schemas.openxmlformats.org/officeDocument/2006/relationships/hyperlink" Target="https://www.sec.gov/Archives/edgar/data/105634/000010563426000112/eme-ex991_2026630xq2.htm" TargetMode="External"/><Relationship Id="rId23" Type="http://schemas.openxmlformats.org/officeDocument/2006/relationships/hyperlink" Target="https://www.globenewswire.com/news-release/2026/09/15/3362305/0/en/abc-survey-1-in-6-members-perform-data-center-work-backlog-rebounds-in-august.html" TargetMode="External"/><Relationship Id="rId24" Type="http://schemas.openxmlformats.org/officeDocument/2006/relationships/hyperlink" Target="https://www.businesswire.com/news/home/20260804326592/en/Limbach-Reports-Second-Quarter-2026-Results" TargetMode="External"/><Relationship Id="rId25" Type="http://schemas.openxmlformats.org/officeDocument/2006/relationships/hyperlink" Target="https://dallasinnovates.com/north-texas-mission-critical-group-acquires-txla-systems/" TargetMode="External"/><Relationship Id="rId26" Type="http://schemas.openxmlformats.org/officeDocument/2006/relationships/hyperlink" Target="https://distributionstrategy.com/2026/07/mission-critical-group-makes-play-for-transformer-supply/" TargetMode="External"/><Relationship Id="rId27" Type="http://schemas.openxmlformats.org/officeDocument/2006/relationships/hyperlink" Target="https://www.mdm.com/?p=436875" TargetMode="External"/><Relationship Id="rId28" Type="http://schemas.openxmlformats.org/officeDocument/2006/relationships/hyperlink" Target="https://vertikal.net/en/news/story/49180/jk-takes-360" TargetMode="External"/><Relationship Id="rId29" Type="http://schemas.openxmlformats.org/officeDocument/2006/relationships/hyperlink" Target="https://www.rwbaird.com/siteassets/gib/pdf/electrical-power-solutions-sector-update-september-2026.pdf" TargetMode="External"/><Relationship Id="rId30" Type="http://schemas.openxmlformats.org/officeDocument/2006/relationships/hyperlink" Target="https://www.freightwaves.com/news/us-mexico-trade-smashes-monthly-record-at-nearly-95b" TargetMode="External"/><Relationship Id="rId31" Type="http://schemas.openxmlformats.org/officeDocument/2006/relationships/hyperlink" Target="https://www.freightwaves.com/news/redwood-logistics-acquires-laredo-customs-broker-eelco" TargetMode="External"/><Relationship Id="rId32" Type="http://schemas.openxmlformats.org/officeDocument/2006/relationships/hyperlink" Target="https://www.freightwaves.com/news/from-trucks-to-trade-compliance-logistics-firms-make-strategic-buys" TargetMode="External"/><Relationship Id="rId33" Type="http://schemas.openxmlformats.org/officeDocument/2006/relationships/hyperlink" Target="https://www.lincolninternational.com/perspectives/in-the-press/transport-topics-transport-ma-builds-momentum-alongside-freight-market/" TargetMode="External"/><Relationship Id="rId34" Type="http://schemas.openxmlformats.org/officeDocument/2006/relationships/hyperlink" Target="https://www.youtube.com/watch?v=Gnl833wXRz0" TargetMode="External"/><Relationship Id="rId35" Type="http://schemas.openxmlformats.org/officeDocument/2006/relationships/hyperlink" Target="https://www.cnbc.com/2026/09/02/cnbc-exclusive-transcript-berkshire-hathaway-ceo-greg-abel-speaks-with-cnbcs-squawk-box-today.html" TargetMode="External"/><Relationship Id="rId36" Type="http://schemas.openxmlformats.org/officeDocument/2006/relationships/hyperlink" Target="https://www.youtube.com/watch?v=AhYQUjd_n78" TargetMode="External"/><Relationship Id="rId37" Type="http://schemas.openxmlformats.org/officeDocument/2006/relationships/hyperlink" Target="https://investors.quantaservices.com/_assets/_27cda7558592cc1119359235c3a11955/quantaservices/news/2026-07-30_QUANTA_SERVICES_REPORTS_SECOND_QUARTER_2026_402.pdf" TargetMode="External"/><Relationship Id="rId38" Type="http://schemas.openxmlformats.org/officeDocument/2006/relationships/hyperlink" Target="https://www.franklin-electric.com/company/news/2026/franklin-electric-acquires-cat-pumps-expanding-commercial-and-industrial-flow-control-platform/" TargetMode="External"/><Relationship Id="rId39" Type="http://schemas.openxmlformats.org/officeDocument/2006/relationships/hyperlink" Target="https://www.prnewswire.com/news-releases/precinmac-lp-announces-the-acquisition-of-massachusetts-based-advance-mfg-co-inc-302818691.html" TargetMode="External"/><Relationship Id="rId40" Type="http://schemas.openxmlformats.org/officeDocument/2006/relationships/hyperlink" Target="https://www.mdm.com/news/top-distributor-sectors/flow-control-top-distributor-sectors/ferguson-closes-1-6b-floworks-deal-deepening-flow-control-push/" TargetMode="External"/><Relationship Id="rId41" Type="http://schemas.openxmlformats.org/officeDocument/2006/relationships/hyperlink" Target="https://www.mdm.com/news/featured/featured-blog/ferguson-makes-1-6b-flow-control-bet-with-floworks-deal/" TargetMode="External"/><Relationship Id="rId42" Type="http://schemas.openxmlformats.org/officeDocument/2006/relationships/hyperlink" Target="https://www.mdm.com/news/top-distributor-sectors/gases-welding-equipment/meritus-gas-partners-adds-5-dfw-locations-with-acquisition-of-metroplex-welding-supply/" TargetMode="External"/><Relationship Id="rId43" Type="http://schemas.openxmlformats.org/officeDocument/2006/relationships/hyperlink" Target="https://pulse2.com/limbach-acquires-1901-for-63-million-plus-up-to-6-million-in-earnouts/" TargetMode="External"/><Relationship Id="rId44" Type="http://schemas.openxmlformats.org/officeDocument/2006/relationships/hyperlink" Target="https://www.rermag.com/mergers-acquisitions/news/55397729/bay-crane-acquires-clark-rigging-rental-growing-its-upstate-new-york-presence" TargetMode="External"/><Relationship Id="rId45" Type="http://schemas.openxmlformats.org/officeDocument/2006/relationships/hyperlink" Target="https://wasteadvantagemag.com/clean-harbors-to-acquire-enviroserve/" TargetMode="External"/><Relationship Id="rId46" Type="http://schemas.openxmlformats.org/officeDocument/2006/relationships/hyperlink" Target="https://www.sec.gov/Archives/edgar/data/0000822818/000082281826000031/clh-q22026pressrelease.htm" TargetMode="External"/><Relationship Id="rId47" Type="http://schemas.openxmlformats.org/officeDocument/2006/relationships/hyperlink" Target="https://www.sec.gov/Archives/edgar/data/0001929561/000114036126038548/ef20083265_ex99-1.htm" TargetMode="External"/><Relationship Id="rId48" Type="http://schemas.openxmlformats.org/officeDocument/2006/relationships/hyperlink" Target="https://www.benchmarkintl.com/insights/completed-transactions/benchmark-international-successfully-facilitated-the-transaction-between-the-carmi-companies-and-the-nearshore-company/" TargetMode="External"/><Relationship Id="rId49" Type="http://schemas.openxmlformats.org/officeDocument/2006/relationships/hyperlink" Target="https://www.benchmarkintl.com/insights/completed-transactions/benchmark-international-successfully-facilitated-the-transaction-between-fps-technologies-inc-and-cintas-corporation/" TargetMode="External"/><Relationship Id="rId50" Type="http://schemas.openxmlformats.org/officeDocument/2006/relationships/hyperlink" Target="https://www.benchmarkintl.com/insights/completed-transactions/benchmark-international-successfully-facilitated-the-transaction-between-maxvac-inc-and-dxp-enterprises-inc/" TargetMode="External"/><Relationship Id="rId51" Type="http://schemas.openxmlformats.org/officeDocument/2006/relationships/hyperlink" Target="https://www.benchmarkintl.com/insights/completed-transactions/benchmark-international-facilitated-the-transaction-of-trinity-industrial-services-llc-and-aecon-group-inc/" TargetMode="External"/><Relationship Id="rId52" Type="http://schemas.openxmlformats.org/officeDocument/2006/relationships/hyperlink" Target="https://www.benchmarkintl.com/insights/completed-transactions/benchmark-international-successfully-facilitated-the-transaction-of-invocon-inc-and-cemtrex-inc/" TargetMode="External"/><Relationship Id="rId53" Type="http://schemas.openxmlformats.org/officeDocument/2006/relationships/hyperlink" Target="https://www.benchmarkintl.com/insights/completed-transactions/benchmark-international-successfully-facilitated-the-transaction-between-climate-engineering-inc-and-harris-company/" TargetMode="External"/><Relationship Id="rId54" Type="http://schemas.openxmlformats.org/officeDocument/2006/relationships/hyperlink" Target="https://www.benchmarkintl.com/insights/completed-transactions/benchmark-international-successfully-facilitated-a-transaction-between-briggs-engineering-testing-and-phenna-group/" TargetMode="External"/><Relationship Id="rId55"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56" Type="http://schemas.openxmlformats.org/officeDocument/2006/relationships/hyperlink" Target="https://www.benchmarkintl.com/insights/completed-transactions/benchmark-international-successfully-facilitated-the-transaction-between-wesco-chemicals-inc-and-apex-water-and-process-inc/" TargetMode="External"/><Relationship Id="rId57" Type="http://schemas.openxmlformats.org/officeDocument/2006/relationships/hyperlink" Target="https://www.benchmarkintl.com/insights/benchmark-international-successfully-facilitated-the-transaction-between-dw-industries-and-tipco-technologies/" TargetMode="External"/><Relationship Id="rId58" Type="http://schemas.openxmlformats.org/officeDocument/2006/relationships/hyperlink" Target="https://www.benchmarkintl.com/insights/completed-transactions/benchmark-international-successfully-facilitated-the-transaction-between-at-parker-inc-and-assessimus-group-gmbh/" TargetMode="External"/><Relationship Id="rId59" Type="http://schemas.openxmlformats.org/officeDocument/2006/relationships/hyperlink" Target="https://www.benchmarkintl.com/insights/completed-transactions/benchmark-international-successfully-facilitated-the-transaction-between-clark-crane-and-capital-extension-crane-lift/" TargetMode="External"/><Relationship Id="rId60" Type="http://schemas.openxmlformats.org/officeDocument/2006/relationships/hyperlink" Target="https://www.benchmarkintl.com/insights/completed-transactions/benchmark-international-facilitated-the-transaction-of-christian-network-international-to-symbia-logistics/" TargetMode="External"/><Relationship Id="rId61" Type="http://schemas.openxmlformats.org/officeDocument/2006/relationships/hyperlink" Target="https://www.benchmarkintl.com/" TargetMode="External"/><Relationship Id="rId62" Type="http://schemas.openxmlformats.org/officeDocument/2006/relationships/hyperlink" Target="https://jp-hardin.github.io/about/mid-market-practice/insights/industrial-industry-report-q4-2026.html" TargetMode="External"/><Relationship Id="rId63" Type="http://schemas.openxmlformats.org/officeDocument/2006/relationships/hyperlink" Target="https://www.ibba.org/wp-content/uploads/2026/08/mp-highlights-q2-2026.pdf" TargetMode="External"/><Relationship Id="rId64" Type="http://schemas.openxmlformats.org/officeDocument/2006/relationships/hyperlink" Target="https://digitalcommons.pepperdine.edu/gsbm_pcm_pcmr/19" TargetMode="External"/><Relationship Id="rId65" Type="http://schemas.openxmlformats.org/officeDocument/2006/relationships/hyperlink" Target="https://stockanalysis.com/" TargetMode="External"/><Relationship Id="rId66" Type="http://schemas.openxmlformats.org/officeDocument/2006/relationships/hyperlink" Target="https://fred.stlouisfed.org/series/NEWORDER" TargetMode="External"/><Relationship Id="rId67" Type="http://schemas.openxmlformats.org/officeDocument/2006/relationships/hyperlink" Target="https://fred.stlouisfed.org/series/MCUMFN" TargetMode="External"/><Relationship Id="rId68" Type="http://schemas.openxmlformats.org/officeDocument/2006/relationships/hyperlink" Target="https://fred.stlouisfed.org/series/TTLCONS" TargetMode="External"/><Relationship Id="rId69" Type="http://schemas.openxmlformats.org/officeDocument/2006/relationships/hyperlink" Target="https://fred.stlouisfed.org/series/TLMFGCONS" TargetMode="External"/><Relationship Id="rId70" Type="http://schemas.openxmlformats.org/officeDocument/2006/relationships/hyperlink" Target="https://fred.stlouisfed.org/series/WPU1017" TargetMode="External"/><Relationship Id="rId71" Type="http://schemas.openxmlformats.org/officeDocument/2006/relationships/hyperlink" Target="https://fred.stlouisfed.org/series/GASDESM" TargetMode="External"/><Relationship Id="rId72" Type="http://schemas.openxmlformats.org/officeDocument/2006/relationships/hyperlink" Target="https://fred.stlouisfed.org/series/FRGSHPUSM649NCIS" TargetMode="External"/><Relationship Id="rId73" Type="http://schemas.openxmlformats.org/officeDocument/2006/relationships/hyperlink" Target="https://fred.stlouisfed.org/series/GS10"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0058400" cy="7772400"/>
          </a:xfrm>
          <a:prstGeom prst="rect">
            <a:avLst/>
          </a:prstGeom>
        </p:spPr>
      </p:pic>
      <p:sp>
        <p:nvSpPr>
          <p:cNvPr id="3" name="Photo shade"/>
          <p:cNvSpPr/>
          <p:nvPr/>
        </p:nvSpPr>
        <p:spPr>
          <a:xfrm>
            <a:off x="0" y="0"/>
            <a:ext cx="10058400" cy="7772400"/>
          </a:xfrm>
          <a:prstGeom prst="rect">
            <a:avLst/>
          </a:prstGeom>
          <a:solidFill>
            <a:srgbClr val="1B1A1A">
              <a:alpha val="75000"/>
            </a:srgbClr>
          </a:solidFill>
          <a:ln/>
        </p:spPr>
        <p:txBody>
          <a:bodyPr/>
          <a:lstStyle/>
          <a:p>
            <a:endParaRPr lang="en-US"/>
          </a:p>
        </p:txBody>
      </p:sp>
      <p:sp>
        <p:nvSpPr>
          <p:cNvPr id="4" name="Text shade"/>
          <p:cNvSpPr/>
          <p:nvPr/>
        </p:nvSpPr>
        <p:spPr>
          <a:xfrm>
            <a:off x="0" y="0"/>
            <a:ext cx="5715000" cy="7772400"/>
          </a:xfrm>
          <a:prstGeom prst="rect">
            <a:avLst/>
          </a:prstGeom>
          <a:solidFill>
            <a:srgbClr val="1B1A1A">
              <a:alpha val="55000"/>
            </a:srgbClr>
          </a:solidFill>
          <a:ln/>
        </p:spPr>
        <p:txBody>
          <a:bodyPr/>
          <a:lstStyle/>
          <a:p>
            <a:endParaRPr lang="en-US"/>
          </a:p>
        </p:txBody>
      </p:sp>
      <p:sp>
        <p:nvSpPr>
          <p:cNvPr id="5" name="Shape 2"/>
          <p:cNvSpPr/>
          <p:nvPr/>
        </p:nvSpPr>
        <p:spPr>
          <a:xfrm>
            <a:off x="0" y="0"/>
            <a:ext cx="57150" cy="7772400"/>
          </a:xfrm>
          <a:prstGeom prst="rect">
            <a:avLst/>
          </a:prstGeom>
          <a:solidFill>
            <a:srgbClr val="B68757"/>
          </a:solidFill>
          <a:ln/>
        </p:spPr>
        <p:txBody>
          <a:bodyPr/>
          <a:lstStyle/>
          <a:p>
            <a:endParaRPr lang="en-US"/>
          </a:p>
        </p:txBody>
      </p:sp>
      <p:pic>
        <p:nvPicPr>
          <p:cNvPr id="6" name="Image 1"/>
          <p:cNvPicPr>
            <a:picLocks noChangeAspect="1"/>
          </p:cNvPicPr>
          <p:nvPr/>
        </p:nvPicPr>
        <p:blipFill>
          <a:blip r:embed="rId4"/>
          <a:stretch>
            <a:fillRect/>
          </a:stretch>
        </p:blipFill>
        <p:spPr>
          <a:xfrm>
            <a:off x="609600" y="571500"/>
            <a:ext cx="2438400" cy="457200"/>
          </a:xfrm>
          <a:prstGeom prst="rect">
            <a:avLst/>
          </a:prstGeom>
        </p:spPr>
      </p:pic>
      <p:sp>
        <p:nvSpPr>
          <p:cNvPr id="7" name="Text 3"/>
          <p:cNvSpPr txBox="1"/>
          <p:nvPr/>
        </p:nvSpPr>
        <p:spPr>
          <a:xfrm>
            <a:off x="609600" y="1143000"/>
            <a:ext cx="3810000" cy="171450"/>
          </a:xfrm>
          <a:prstGeom prst="rect">
            <a:avLst/>
          </a:prstGeom>
          <a:noFill/>
          <a:ln/>
        </p:spPr>
        <p:txBody>
          <a:bodyPr wrap="square" lIns="0" tIns="0" rIns="0" bIns="0" rtlCol="0" anchor="t"/>
          <a:lstStyle/>
          <a:p>
            <a:pPr marL="0" indent="0">
              <a:buNone/>
            </a:pPr>
            <a:r>
              <a:rPr lang="en-US" sz="750" b="1" kern="0" spc="300" dirty="0">
                <a:solidFill>
                  <a:srgbClr val="D3AE84"/>
                </a:solidFill>
              </a:rPr>
              <a:t>MIDDLE MARKET</a:t>
            </a:r>
            <a:endParaRPr lang="en-US" sz="750" dirty="0"/>
          </a:p>
        </p:txBody>
      </p:sp>
      <p:sp>
        <p:nvSpPr>
          <p:cNvPr id="8" name="Text 4"/>
          <p:cNvSpPr txBox="1"/>
          <p:nvPr/>
        </p:nvSpPr>
        <p:spPr>
          <a:xfrm>
            <a:off x="609600" y="2228850"/>
            <a:ext cx="4762500" cy="171450"/>
          </a:xfrm>
          <a:prstGeom prst="rect">
            <a:avLst/>
          </a:prstGeom>
          <a:noFill/>
          <a:ln/>
        </p:spPr>
        <p:txBody>
          <a:bodyPr wrap="square" lIns="0" tIns="0" rIns="0" bIns="0" rtlCol="0" anchor="t"/>
          <a:lstStyle/>
          <a:p>
            <a:pPr marL="0" indent="0">
              <a:buNone/>
            </a:pPr>
            <a:r>
              <a:rPr lang="en-US" sz="825" b="1" kern="0" spc="300" dirty="0">
                <a:solidFill>
                  <a:srgbClr val="D3AE84"/>
                </a:solidFill>
              </a:rPr>
              <a:t>QUARTERLY INDUSTRY REPORT  |  Q4 2026</a:t>
            </a:r>
            <a:endParaRPr lang="en-US" sz="825" dirty="0"/>
          </a:p>
        </p:txBody>
      </p:sp>
      <p:sp>
        <p:nvSpPr>
          <p:cNvPr id="9" name="Text 5"/>
          <p:cNvSpPr txBox="1"/>
          <p:nvPr/>
        </p:nvSpPr>
        <p:spPr>
          <a:xfrm>
            <a:off x="571500" y="2457450"/>
            <a:ext cx="6667500" cy="952500"/>
          </a:xfrm>
          <a:prstGeom prst="rect">
            <a:avLst/>
          </a:prstGeom>
          <a:noFill/>
          <a:ln/>
        </p:spPr>
        <p:txBody>
          <a:bodyPr wrap="square" lIns="0" tIns="0" rIns="0" bIns="0" rtlCol="0" anchor="t"/>
          <a:lstStyle/>
          <a:p>
            <a:pPr marL="0" indent="0">
              <a:buNone/>
            </a:pPr>
            <a:r>
              <a:rPr lang="en-US" sz="6150" kern="0" spc="400" dirty="0">
                <a:solidFill>
                  <a:srgbClr val="FFFFFF"/>
                </a:solidFill>
                <a:latin typeface="+mj-lt" pitchFamily="34" charset="0"/>
              </a:rPr>
              <a:t>INDUSTRIAL</a:t>
            </a:r>
            <a:endParaRPr lang="en-US" sz="6150" dirty="0"/>
          </a:p>
        </p:txBody>
      </p:sp>
      <p:sp>
        <p:nvSpPr>
          <p:cNvPr id="10" name="Shape 6"/>
          <p:cNvSpPr/>
          <p:nvPr/>
        </p:nvSpPr>
        <p:spPr>
          <a:xfrm>
            <a:off x="609600" y="3486150"/>
            <a:ext cx="685800" cy="28575"/>
          </a:xfrm>
          <a:prstGeom prst="rect">
            <a:avLst/>
          </a:prstGeom>
          <a:solidFill>
            <a:srgbClr val="B68757"/>
          </a:solidFill>
          <a:ln/>
        </p:spPr>
        <p:txBody>
          <a:bodyPr/>
          <a:lstStyle/>
          <a:p>
            <a:endParaRPr lang="en-US"/>
          </a:p>
        </p:txBody>
      </p:sp>
      <p:sp>
        <p:nvSpPr>
          <p:cNvPr id="11" name="Text 7"/>
          <p:cNvSpPr txBox="1"/>
          <p:nvPr/>
        </p:nvSpPr>
        <p:spPr>
          <a:xfrm>
            <a:off x="609600" y="3714750"/>
            <a:ext cx="4857750" cy="952500"/>
          </a:xfrm>
          <a:prstGeom prst="rect">
            <a:avLst/>
          </a:prstGeom>
          <a:noFill/>
          <a:ln/>
        </p:spPr>
        <p:txBody>
          <a:bodyPr wrap="square" lIns="0" tIns="0" rIns="0" bIns="0" rtlCol="0" anchor="t"/>
          <a:lstStyle/>
          <a:p>
            <a:pPr marL="0" indent="0">
              <a:lnSpc>
                <a:spcPts val="2175"/>
              </a:lnSpc>
              <a:buNone/>
            </a:pPr>
            <a:r>
              <a:rPr lang="en-US" sz="1500" i="1" dirty="0">
                <a:solidFill>
                  <a:srgbClr val="F4EFE8"/>
                </a:solidFill>
                <a:latin typeface="+mj-lt" pitchFamily="34" charset="0"/>
              </a:rPr>
              <a:t>Order books are full, the deal market has become more selective and buyers are paying the most for power, data center, aerospace and service revenue.</a:t>
            </a:r>
            <a:endParaRPr lang="en-US" sz="1500" dirty="0"/>
          </a:p>
        </p:txBody>
      </p:sp>
      <p:pic>
        <p:nvPicPr>
          <p:cNvPr id="12" name="Image 2"/>
          <p:cNvPicPr>
            <a:picLocks noChangeAspect="1"/>
          </p:cNvPicPr>
          <p:nvPr/>
        </p:nvPicPr>
        <p:blipFill>
          <a:blip r:embed="rId5"/>
          <a:stretch>
            <a:fillRect/>
          </a:stretch>
        </p:blipFill>
        <p:spPr>
          <a:xfrm>
            <a:off x="609600" y="5353050"/>
            <a:ext cx="142875" cy="142875"/>
          </a:xfrm>
          <a:prstGeom prst="rect">
            <a:avLst/>
          </a:prstGeom>
        </p:spPr>
      </p:pic>
      <p:sp>
        <p:nvSpPr>
          <p:cNvPr id="13" name="Text 8"/>
          <p:cNvSpPr txBox="1"/>
          <p:nvPr/>
        </p:nvSpPr>
        <p:spPr>
          <a:xfrm>
            <a:off x="838200" y="5334000"/>
            <a:ext cx="4000500" cy="190500"/>
          </a:xfrm>
          <a:prstGeom prst="rect">
            <a:avLst/>
          </a:prstGeom>
          <a:noFill/>
          <a:ln/>
        </p:spPr>
        <p:txBody>
          <a:bodyPr wrap="square" lIns="0" tIns="0" rIns="0" bIns="0" rtlCol="0" anchor="ctr"/>
          <a:lstStyle/>
          <a:p>
            <a:pPr marL="0" indent="0">
              <a:buNone/>
            </a:pPr>
            <a:r>
              <a:rPr lang="en-US" sz="863" dirty="0">
                <a:solidFill>
                  <a:srgbClr val="E8E2DA"/>
                </a:solidFill>
              </a:rPr>
              <a:t>Manufacturing &amp; Industrial Technology</a:t>
            </a:r>
            <a:endParaRPr lang="en-US" sz="863" dirty="0"/>
          </a:p>
        </p:txBody>
      </p:sp>
      <p:pic>
        <p:nvPicPr>
          <p:cNvPr id="14" name="Image 3"/>
          <p:cNvPicPr>
            <a:picLocks noChangeAspect="1"/>
          </p:cNvPicPr>
          <p:nvPr/>
        </p:nvPicPr>
        <p:blipFill>
          <a:blip r:embed="rId6"/>
          <a:stretch>
            <a:fillRect/>
          </a:stretch>
        </p:blipFill>
        <p:spPr>
          <a:xfrm>
            <a:off x="609600" y="5572125"/>
            <a:ext cx="142875" cy="142875"/>
          </a:xfrm>
          <a:prstGeom prst="rect">
            <a:avLst/>
          </a:prstGeom>
        </p:spPr>
      </p:pic>
      <p:sp>
        <p:nvSpPr>
          <p:cNvPr id="15" name="Text 9"/>
          <p:cNvSpPr txBox="1"/>
          <p:nvPr/>
        </p:nvSpPr>
        <p:spPr>
          <a:xfrm>
            <a:off x="838200" y="5553075"/>
            <a:ext cx="4000500" cy="190500"/>
          </a:xfrm>
          <a:prstGeom prst="rect">
            <a:avLst/>
          </a:prstGeom>
          <a:noFill/>
          <a:ln/>
        </p:spPr>
        <p:txBody>
          <a:bodyPr wrap="square" lIns="0" tIns="0" rIns="0" bIns="0" rtlCol="0" anchor="ctr"/>
          <a:lstStyle/>
          <a:p>
            <a:pPr marL="0" indent="0">
              <a:buNone/>
            </a:pPr>
            <a:r>
              <a:rPr lang="en-US" sz="863" dirty="0">
                <a:solidFill>
                  <a:srgbClr val="E8E2DA"/>
                </a:solidFill>
              </a:rPr>
              <a:t>Industrial Distribution &amp; Services</a:t>
            </a:r>
            <a:endParaRPr lang="en-US" sz="863" dirty="0"/>
          </a:p>
        </p:txBody>
      </p:sp>
      <p:pic>
        <p:nvPicPr>
          <p:cNvPr id="16" name="Image 4"/>
          <p:cNvPicPr>
            <a:picLocks noChangeAspect="1"/>
          </p:cNvPicPr>
          <p:nvPr/>
        </p:nvPicPr>
        <p:blipFill>
          <a:blip r:embed="rId7"/>
          <a:stretch>
            <a:fillRect/>
          </a:stretch>
        </p:blipFill>
        <p:spPr>
          <a:xfrm>
            <a:off x="609600" y="5791200"/>
            <a:ext cx="142875" cy="142875"/>
          </a:xfrm>
          <a:prstGeom prst="rect">
            <a:avLst/>
          </a:prstGeom>
        </p:spPr>
      </p:pic>
      <p:sp>
        <p:nvSpPr>
          <p:cNvPr id="17" name="Text 10"/>
          <p:cNvSpPr txBox="1"/>
          <p:nvPr/>
        </p:nvSpPr>
        <p:spPr>
          <a:xfrm>
            <a:off x="838200" y="5772150"/>
            <a:ext cx="4000500" cy="190500"/>
          </a:xfrm>
          <a:prstGeom prst="rect">
            <a:avLst/>
          </a:prstGeom>
          <a:noFill/>
          <a:ln/>
        </p:spPr>
        <p:txBody>
          <a:bodyPr wrap="square" lIns="0" tIns="0" rIns="0" bIns="0" rtlCol="0" anchor="ctr"/>
          <a:lstStyle/>
          <a:p>
            <a:pPr marL="0" indent="0">
              <a:buNone/>
            </a:pPr>
            <a:r>
              <a:rPr lang="en-US" sz="863" dirty="0">
                <a:solidFill>
                  <a:srgbClr val="E8E2DA"/>
                </a:solidFill>
              </a:rPr>
              <a:t>Building Products &amp; Construction Services</a:t>
            </a:r>
            <a:endParaRPr lang="en-US" sz="863" dirty="0"/>
          </a:p>
        </p:txBody>
      </p:sp>
      <p:pic>
        <p:nvPicPr>
          <p:cNvPr id="18" name="Image 5"/>
          <p:cNvPicPr>
            <a:picLocks noChangeAspect="1"/>
          </p:cNvPicPr>
          <p:nvPr/>
        </p:nvPicPr>
        <p:blipFill>
          <a:blip r:embed="rId8"/>
          <a:stretch>
            <a:fillRect/>
          </a:stretch>
        </p:blipFill>
        <p:spPr>
          <a:xfrm>
            <a:off x="609600" y="6010275"/>
            <a:ext cx="142875" cy="142875"/>
          </a:xfrm>
          <a:prstGeom prst="rect">
            <a:avLst/>
          </a:prstGeom>
        </p:spPr>
      </p:pic>
      <p:sp>
        <p:nvSpPr>
          <p:cNvPr id="19" name="Text 11"/>
          <p:cNvSpPr txBox="1"/>
          <p:nvPr/>
        </p:nvSpPr>
        <p:spPr>
          <a:xfrm>
            <a:off x="838200" y="5991225"/>
            <a:ext cx="4000500" cy="190500"/>
          </a:xfrm>
          <a:prstGeom prst="rect">
            <a:avLst/>
          </a:prstGeom>
          <a:noFill/>
          <a:ln/>
        </p:spPr>
        <p:txBody>
          <a:bodyPr wrap="square" lIns="0" tIns="0" rIns="0" bIns="0" rtlCol="0" anchor="ctr"/>
          <a:lstStyle/>
          <a:p>
            <a:pPr marL="0" indent="0">
              <a:buNone/>
            </a:pPr>
            <a:r>
              <a:rPr lang="en-US" sz="863" dirty="0">
                <a:solidFill>
                  <a:srgbClr val="E8E2DA"/>
                </a:solidFill>
              </a:rPr>
              <a:t>Energy, Power &amp; Environmental Services</a:t>
            </a:r>
            <a:endParaRPr lang="en-US" sz="863" dirty="0"/>
          </a:p>
        </p:txBody>
      </p:sp>
      <p:pic>
        <p:nvPicPr>
          <p:cNvPr id="20" name="Image 6"/>
          <p:cNvPicPr>
            <a:picLocks noChangeAspect="1"/>
          </p:cNvPicPr>
          <p:nvPr/>
        </p:nvPicPr>
        <p:blipFill>
          <a:blip r:embed="rId9"/>
          <a:stretch>
            <a:fillRect/>
          </a:stretch>
        </p:blipFill>
        <p:spPr>
          <a:xfrm>
            <a:off x="609600" y="6229350"/>
            <a:ext cx="142875" cy="142875"/>
          </a:xfrm>
          <a:prstGeom prst="rect">
            <a:avLst/>
          </a:prstGeom>
        </p:spPr>
      </p:pic>
      <p:sp>
        <p:nvSpPr>
          <p:cNvPr id="21" name="Text 12"/>
          <p:cNvSpPr txBox="1"/>
          <p:nvPr/>
        </p:nvSpPr>
        <p:spPr>
          <a:xfrm>
            <a:off x="838200" y="6210300"/>
            <a:ext cx="4000500" cy="190500"/>
          </a:xfrm>
          <a:prstGeom prst="rect">
            <a:avLst/>
          </a:prstGeom>
          <a:noFill/>
          <a:ln/>
        </p:spPr>
        <p:txBody>
          <a:bodyPr wrap="square" lIns="0" tIns="0" rIns="0" bIns="0" rtlCol="0" anchor="ctr"/>
          <a:lstStyle/>
          <a:p>
            <a:pPr marL="0" indent="0">
              <a:buNone/>
            </a:pPr>
            <a:r>
              <a:rPr lang="en-US" sz="863" dirty="0">
                <a:solidFill>
                  <a:srgbClr val="E8E2DA"/>
                </a:solidFill>
              </a:rPr>
              <a:t>Transportation &amp; Logistics</a:t>
            </a:r>
            <a:endParaRPr lang="en-US" sz="863" dirty="0"/>
          </a:p>
        </p:txBody>
      </p:sp>
      <p:sp>
        <p:nvSpPr>
          <p:cNvPr id="22" name="Text 13"/>
          <p:cNvSpPr txBox="1"/>
          <p:nvPr/>
        </p:nvSpPr>
        <p:spPr>
          <a:xfrm>
            <a:off x="609600" y="7048500"/>
            <a:ext cx="4953000" cy="190500"/>
          </a:xfrm>
          <a:prstGeom prst="rect">
            <a:avLst/>
          </a:prstGeom>
          <a:noFill/>
          <a:ln/>
        </p:spPr>
        <p:txBody>
          <a:bodyPr wrap="square" lIns="0" tIns="0" rIns="0" bIns="0" rtlCol="0" anchor="t"/>
          <a:lstStyle/>
          <a:p>
            <a:pPr marL="0" indent="0">
              <a:buNone/>
            </a:pPr>
            <a:r>
              <a:rPr lang="en-US" sz="863" dirty="0">
                <a:solidFill>
                  <a:srgbClr val="D9D2C8"/>
                </a:solidFill>
              </a:rPr>
              <a:t>October 2026  |  Jared Hardin, Managing Director</a:t>
            </a:r>
            <a:endParaRPr lang="en-US" sz="863" dirty="0"/>
          </a:p>
        </p:txBody>
      </p:sp>
      <p:sp>
        <p:nvSpPr>
          <p:cNvPr id="23" name="Contents panel"/>
          <p:cNvSpPr/>
          <p:nvPr/>
        </p:nvSpPr>
        <p:spPr>
          <a:xfrm>
            <a:off x="6096000" y="4476750"/>
            <a:ext cx="3543300" cy="2667000"/>
          </a:xfrm>
          <a:prstGeom prst="rect">
            <a:avLst/>
          </a:prstGeom>
          <a:solidFill>
            <a:srgbClr val="1B1A1A">
              <a:alpha val="82000"/>
            </a:srgbClr>
          </a:solidFill>
          <a:ln/>
        </p:spPr>
        <p:txBody>
          <a:bodyPr/>
          <a:lstStyle/>
          <a:p>
            <a:endParaRPr lang="en-US"/>
          </a:p>
        </p:txBody>
      </p:sp>
      <p:sp>
        <p:nvSpPr>
          <p:cNvPr id="24" name="Shape 15"/>
          <p:cNvSpPr/>
          <p:nvPr/>
        </p:nvSpPr>
        <p:spPr>
          <a:xfrm>
            <a:off x="6096000" y="4476750"/>
            <a:ext cx="3543300" cy="28575"/>
          </a:xfrm>
          <a:prstGeom prst="rect">
            <a:avLst/>
          </a:prstGeom>
          <a:solidFill>
            <a:srgbClr val="B68757"/>
          </a:solidFill>
          <a:ln/>
        </p:spPr>
        <p:txBody>
          <a:bodyPr/>
          <a:lstStyle/>
          <a:p>
            <a:endParaRPr lang="en-US"/>
          </a:p>
        </p:txBody>
      </p:sp>
      <p:sp>
        <p:nvSpPr>
          <p:cNvPr id="25" name="Text 16"/>
          <p:cNvSpPr txBox="1"/>
          <p:nvPr/>
        </p:nvSpPr>
        <p:spPr>
          <a:xfrm>
            <a:off x="6343650" y="4705350"/>
            <a:ext cx="3048000" cy="152400"/>
          </a:xfrm>
          <a:prstGeom prst="rect">
            <a:avLst/>
          </a:prstGeom>
          <a:noFill/>
          <a:ln/>
        </p:spPr>
        <p:txBody>
          <a:bodyPr wrap="square" lIns="0" tIns="0" rIns="0" bIns="0" rtlCol="0" anchor="t"/>
          <a:lstStyle/>
          <a:p>
            <a:pPr marL="0" indent="0">
              <a:buNone/>
            </a:pPr>
            <a:r>
              <a:rPr lang="en-US" sz="750" b="1" kern="0" spc="250" dirty="0">
                <a:solidFill>
                  <a:srgbClr val="D3AE84"/>
                </a:solidFill>
              </a:rPr>
              <a:t>WHAT’S INCLUDED</a:t>
            </a:r>
            <a:endParaRPr lang="en-US" sz="750" dirty="0"/>
          </a:p>
        </p:txBody>
      </p:sp>
      <p:sp>
        <p:nvSpPr>
          <p:cNvPr id="26" name="Shape 17"/>
          <p:cNvSpPr/>
          <p:nvPr/>
        </p:nvSpPr>
        <p:spPr>
          <a:xfrm>
            <a:off x="6343650" y="4953000"/>
            <a:ext cx="3048000" cy="0"/>
          </a:xfrm>
          <a:prstGeom prst="line">
            <a:avLst/>
          </a:prstGeom>
          <a:noFill/>
          <a:ln w="9525">
            <a:solidFill>
              <a:srgbClr val="6B5A48"/>
            </a:solidFill>
            <a:prstDash val="solid"/>
          </a:ln>
        </p:spPr>
        <p:txBody>
          <a:bodyPr/>
          <a:lstStyle/>
          <a:p>
            <a:endParaRPr lang="en-US"/>
          </a:p>
        </p:txBody>
      </p:sp>
      <p:sp>
        <p:nvSpPr>
          <p:cNvPr id="27" name="Text 18"/>
          <p:cNvSpPr txBox="1"/>
          <p:nvPr/>
        </p:nvSpPr>
        <p:spPr>
          <a:xfrm>
            <a:off x="6343650" y="50673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01</a:t>
            </a:r>
            <a:endParaRPr lang="en-US" sz="1650" dirty="0"/>
          </a:p>
        </p:txBody>
      </p:sp>
      <p:sp>
        <p:nvSpPr>
          <p:cNvPr id="28" name="Text 19"/>
          <p:cNvSpPr txBox="1"/>
          <p:nvPr/>
        </p:nvSpPr>
        <p:spPr>
          <a:xfrm>
            <a:off x="6838950" y="50577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Insights</a:t>
            </a:r>
            <a:endParaRPr lang="en-US" sz="1350" dirty="0"/>
          </a:p>
        </p:txBody>
      </p:sp>
      <p:sp>
        <p:nvSpPr>
          <p:cNvPr id="29" name="Text 20"/>
          <p:cNvSpPr txBox="1"/>
          <p:nvPr/>
        </p:nvSpPr>
        <p:spPr>
          <a:xfrm>
            <a:off x="6838950" y="52863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Market insights, the power demand buildout and a featured engagement</a:t>
            </a:r>
            <a:endParaRPr lang="en-US" sz="825" dirty="0"/>
          </a:p>
        </p:txBody>
      </p:sp>
      <p:sp>
        <p:nvSpPr>
          <p:cNvPr id="30" name="Shape 21"/>
          <p:cNvSpPr/>
          <p:nvPr/>
        </p:nvSpPr>
        <p:spPr>
          <a:xfrm>
            <a:off x="6343650" y="5657850"/>
            <a:ext cx="3048000" cy="0"/>
          </a:xfrm>
          <a:prstGeom prst="line">
            <a:avLst/>
          </a:prstGeom>
          <a:noFill/>
          <a:ln w="9525">
            <a:solidFill>
              <a:srgbClr val="6B5A48"/>
            </a:solidFill>
            <a:prstDash val="solid"/>
          </a:ln>
        </p:spPr>
        <p:txBody>
          <a:bodyPr/>
          <a:lstStyle/>
          <a:p>
            <a:endParaRPr lang="en-US"/>
          </a:p>
        </p:txBody>
      </p:sp>
      <p:sp>
        <p:nvSpPr>
          <p:cNvPr id="31" name="Text 22"/>
          <p:cNvSpPr txBox="1"/>
          <p:nvPr/>
        </p:nvSpPr>
        <p:spPr>
          <a:xfrm>
            <a:off x="6343650" y="577215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02</a:t>
            </a:r>
            <a:endParaRPr lang="en-US" sz="1650" dirty="0"/>
          </a:p>
        </p:txBody>
      </p:sp>
      <p:sp>
        <p:nvSpPr>
          <p:cNvPr id="32" name="Text 23"/>
          <p:cNvSpPr txBox="1"/>
          <p:nvPr/>
        </p:nvSpPr>
        <p:spPr>
          <a:xfrm>
            <a:off x="6838950" y="576262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Industry Activity</a:t>
            </a:r>
            <a:endParaRPr lang="en-US" sz="1350" dirty="0"/>
          </a:p>
        </p:txBody>
      </p:sp>
      <p:sp>
        <p:nvSpPr>
          <p:cNvPr id="33" name="Text 24"/>
          <p:cNvSpPr txBox="1"/>
          <p:nvPr/>
        </p:nvSpPr>
        <p:spPr>
          <a:xfrm>
            <a:off x="6838950" y="599122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Recent transactions, public company valuation and operating metrics, and economic trends</a:t>
            </a:r>
            <a:endParaRPr lang="en-US" sz="825" dirty="0"/>
          </a:p>
        </p:txBody>
      </p:sp>
      <p:sp>
        <p:nvSpPr>
          <p:cNvPr id="34" name="Shape 25"/>
          <p:cNvSpPr/>
          <p:nvPr/>
        </p:nvSpPr>
        <p:spPr>
          <a:xfrm>
            <a:off x="6343650" y="6362700"/>
            <a:ext cx="3048000" cy="0"/>
          </a:xfrm>
          <a:prstGeom prst="line">
            <a:avLst/>
          </a:prstGeom>
          <a:noFill/>
          <a:ln w="9525">
            <a:solidFill>
              <a:srgbClr val="6B5A48"/>
            </a:solidFill>
            <a:prstDash val="solid"/>
          </a:ln>
        </p:spPr>
        <p:txBody>
          <a:bodyPr/>
          <a:lstStyle/>
          <a:p>
            <a:endParaRPr lang="en-US"/>
          </a:p>
        </p:txBody>
      </p:sp>
      <p:sp>
        <p:nvSpPr>
          <p:cNvPr id="35" name="Text 26"/>
          <p:cNvSpPr txBox="1"/>
          <p:nvPr/>
        </p:nvSpPr>
        <p:spPr>
          <a:xfrm>
            <a:off x="6343650" y="64770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03</a:t>
            </a:r>
            <a:endParaRPr lang="en-US" sz="1650" dirty="0"/>
          </a:p>
        </p:txBody>
      </p:sp>
      <p:sp>
        <p:nvSpPr>
          <p:cNvPr id="36" name="Text 27"/>
          <p:cNvSpPr txBox="1"/>
          <p:nvPr/>
        </p:nvSpPr>
        <p:spPr>
          <a:xfrm>
            <a:off x="6838950" y="64674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Connect With Us</a:t>
            </a:r>
            <a:endParaRPr lang="en-US" sz="1350" dirty="0"/>
          </a:p>
        </p:txBody>
      </p:sp>
      <p:sp>
        <p:nvSpPr>
          <p:cNvPr id="37" name="Text 28"/>
          <p:cNvSpPr txBox="1"/>
          <p:nvPr/>
        </p:nvSpPr>
        <p:spPr>
          <a:xfrm>
            <a:off x="6838950" y="66960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The Middle Market industrial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01</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Insights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American manufacturing has expanded for nine consecutive months, and acquirers in every industrial sector are buying capacity that already exists because skilled labor is scarce and new equipment takes a long time to arrive. Borrowing costs rose in September, and buyers have become more selective about what they pay for.</a:t>
            </a:r>
            <a:endParaRPr lang="en-US" sz="1013" dirty="0"/>
          </a:p>
        </p:txBody>
      </p:sp>
      <p:sp>
        <p:nvSpPr>
          <p:cNvPr id="9" name="TextBox 8"/>
          <p:cNvSpPr txBox="1"/>
          <p:nvPr/>
        </p:nvSpPr>
        <p:spPr>
          <a:xfrm>
            <a:off x="609600" y="4724400"/>
            <a:ext cx="4826000" cy="2082800"/>
          </a:xfrm>
          <a:prstGeom prst="rect">
            <a:avLst/>
          </a:prstGeom>
          <a:noFill/>
        </p:spPr>
        <p:txBody>
          <a:bodyPr wrap="square" lIns="0" tIns="0" rIns="0" bIns="0">
            <a:spAutoFit/>
          </a:bodyPr>
          <a:lstStyle/>
          <a:p>
            <a:pPr>
              <a:spcAft>
                <a:spcPts val="500"/>
              </a:spcAft>
            </a:pPr>
            <a:r>
              <a:rPr sz="650" b="1" spc="200">
                <a:solidFill>
                  <a:srgbClr val="C99A6A"/>
                </a:solidFill>
                <a:latin typeface="+mn-lt"/>
              </a:rPr>
              <a:t>KEY INSIGHTS</a:t>
            </a:r>
          </a:p>
          <a:p>
            <a:pPr>
              <a:spcBef>
                <a:spcPts val="600"/>
              </a:spcBef>
            </a:pPr>
            <a:r>
              <a:rPr sz="800" b="1">
                <a:solidFill>
                  <a:srgbClr val="C99A6A"/>
                </a:solidFill>
                <a:latin typeface="+mn-lt"/>
              </a:rPr>
              <a:t>01  </a:t>
            </a:r>
            <a:r>
              <a:rPr sz="800" b="1">
                <a:solidFill>
                  <a:srgbClr val="FFFFFF"/>
                </a:solidFill>
                <a:latin typeface="+mn-lt"/>
              </a:rPr>
              <a:t>Power and data center work earns the premium</a:t>
            </a:r>
          </a:p>
          <a:p>
            <a:pPr>
              <a:lnSpc>
                <a:spcPct val="120000"/>
              </a:lnSpc>
            </a:pPr>
            <a:r>
              <a:rPr sz="750" b="0">
                <a:solidFill>
                  <a:srgbClr val="D9D2C9"/>
                </a:solidFill>
                <a:latin typeface="+mn-lt"/>
              </a:rPr>
              <a:t>Quanta Services ended June with $53.4 billion of backlog, up from $35.8 billion. A buyer will ask how much of yours is tied to funded power and data center work.</a:t>
            </a:r>
          </a:p>
          <a:p>
            <a:pPr>
              <a:spcBef>
                <a:spcPts val="600"/>
              </a:spcBef>
            </a:pPr>
            <a:r>
              <a:rPr sz="800" b="1">
                <a:solidFill>
                  <a:srgbClr val="C99A6A"/>
                </a:solidFill>
                <a:latin typeface="+mn-lt"/>
              </a:rPr>
              <a:t>02  </a:t>
            </a:r>
            <a:r>
              <a:rPr sz="800" b="1">
                <a:solidFill>
                  <a:srgbClr val="FFFFFF"/>
                </a:solidFill>
                <a:latin typeface="+mn-lt"/>
              </a:rPr>
              <a:t>The likely buyer is an operating platform</a:t>
            </a:r>
          </a:p>
          <a:p>
            <a:pPr>
              <a:lnSpc>
                <a:spcPct val="120000"/>
              </a:lnSpc>
            </a:pPr>
            <a:r>
              <a:rPr sz="750" b="0">
                <a:solidFill>
                  <a:srgbClr val="D9D2C9"/>
                </a:solidFill>
                <a:latin typeface="+mn-lt"/>
              </a:rPr>
              <a:t>Add-ons made up about three-quarters of buyouts in the second quarter, and Pye-Barker Fire &amp; Safety completed 22 acquisitions in the first half. Expect a sponsor that already knows the trade.</a:t>
            </a:r>
          </a:p>
          <a:p>
            <a:pPr>
              <a:spcBef>
                <a:spcPts val="600"/>
              </a:spcBef>
            </a:pPr>
            <a:r>
              <a:rPr sz="800" b="1">
                <a:solidFill>
                  <a:srgbClr val="C99A6A"/>
                </a:solidFill>
                <a:latin typeface="+mn-lt"/>
              </a:rPr>
              <a:t>03  </a:t>
            </a:r>
            <a:r>
              <a:rPr sz="800" b="1">
                <a:solidFill>
                  <a:srgbClr val="FFFFFF"/>
                </a:solidFill>
                <a:latin typeface="+mn-lt"/>
              </a:rPr>
              <a:t>Report service revenue on its own line</a:t>
            </a:r>
          </a:p>
          <a:p>
            <a:pPr>
              <a:lnSpc>
                <a:spcPct val="120000"/>
              </a:lnSpc>
            </a:pPr>
            <a:r>
              <a:rPr sz="750" b="0">
                <a:solidFill>
                  <a:srgbClr val="D9D2C9"/>
                </a:solidFill>
                <a:latin typeface="+mn-lt"/>
              </a:rPr>
              <a:t>APi Group is working toward 60% of revenue from inspection and service. Buyers pay more for service, repair and aftermarket revenue when it is reported apart from projects, with its renewal history.</a:t>
            </a:r>
          </a:p>
          <a:p>
            <a:pPr>
              <a:spcBef>
                <a:spcPts val="600"/>
              </a:spcBef>
            </a:pPr>
            <a:r>
              <a:rPr sz="800" b="1">
                <a:solidFill>
                  <a:srgbClr val="C99A6A"/>
                </a:solidFill>
                <a:latin typeface="+mn-lt"/>
              </a:rPr>
              <a:t>04  </a:t>
            </a:r>
            <a:r>
              <a:rPr sz="800" b="1">
                <a:solidFill>
                  <a:srgbClr val="FFFFFF"/>
                </a:solidFill>
                <a:latin typeface="+mn-lt"/>
              </a:rPr>
              <a:t>Financing costs more and buyers are choosier</a:t>
            </a:r>
          </a:p>
          <a:p>
            <a:pPr>
              <a:lnSpc>
                <a:spcPct val="120000"/>
              </a:lnSpc>
            </a:pPr>
            <a:r>
              <a:rPr sz="750" b="0">
                <a:solidFill>
                  <a:srgbClr val="D9D2C9"/>
                </a:solidFill>
                <a:latin typeface="+mn-lt"/>
              </a:rPr>
              <a:t>The Federal Reserve raised its target range to 3.75% to 4.00% on September 16. GF Data's average multiple eased to 7.0 times trailing adjusted EBITDA, from 7.3 times.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Market Insights: Q4 2026</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Demand is broad, buyers are organized around platforms and financing became more expensive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are as reported by the linked sources. Middle-market multiple and debt figures are GF Data sponsor-reported averages for the first and second quarters of 2026.</a:t>
            </a:r>
            <a:endParaRPr lang="en-US" sz="675" dirty="0"/>
          </a:p>
        </p:txBody>
      </p:sp>
      <p:sp>
        <p:nvSpPr>
          <p:cNvPr id="5" name="Owners panel"/>
          <p:cNvSpPr/>
          <p:nvPr/>
        </p:nvSpPr>
        <p:spPr>
          <a:xfrm>
            <a:off x="419100" y="1238250"/>
            <a:ext cx="2495550" cy="5695950"/>
          </a:xfrm>
          <a:prstGeom prst="rect">
            <a:avLst/>
          </a:prstGeom>
          <a:solidFill>
            <a:srgbClr val="1B1A1A"/>
          </a:solidFill>
          <a:ln/>
        </p:spPr>
        <p:txBody>
          <a:bodyPr/>
          <a:lstStyle/>
          <a:p>
            <a:endParaRPr lang="en-US"/>
          </a:p>
        </p:txBody>
      </p:sp>
      <p:pic>
        <p:nvPicPr>
          <p:cNvPr id="6" name="Image 0"/>
          <p:cNvPicPr>
            <a:picLocks noChangeAspect="1"/>
          </p:cNvPicPr>
          <p:nvPr/>
        </p:nvPicPr>
        <p:blipFill>
          <a:blip r:embed="rId3"/>
          <a:srcRect/>
          <a:stretch/>
        </p:blipFill>
        <p:spPr>
          <a:xfrm>
            <a:off x="419100" y="1238250"/>
            <a:ext cx="2495550" cy="2857500"/>
          </a:xfrm>
          <a:prstGeom prst="rect">
            <a:avLst/>
          </a:prstGeom>
        </p:spPr>
      </p:pic>
      <p:sp>
        <p:nvSpPr>
          <p:cNvPr id="7" name="Shape 4"/>
          <p:cNvSpPr/>
          <p:nvPr/>
        </p:nvSpPr>
        <p:spPr>
          <a:xfrm>
            <a:off x="419100" y="4067175"/>
            <a:ext cx="2495550" cy="28575"/>
          </a:xfrm>
          <a:prstGeom prst="rect">
            <a:avLst/>
          </a:prstGeom>
          <a:solidFill>
            <a:srgbClr val="B68757"/>
          </a:solidFill>
          <a:ln/>
        </p:spPr>
        <p:txBody>
          <a:bodyPr/>
          <a:lstStyle/>
          <a:p>
            <a:endParaRPr lang="en-US"/>
          </a:p>
        </p:txBody>
      </p:sp>
      <p:sp>
        <p:nvSpPr>
          <p:cNvPr id="8" name="Text 5"/>
          <p:cNvSpPr txBox="1"/>
          <p:nvPr/>
        </p:nvSpPr>
        <p:spPr>
          <a:xfrm>
            <a:off x="628650" y="4305300"/>
            <a:ext cx="2095500" cy="152400"/>
          </a:xfrm>
          <a:prstGeom prst="rect">
            <a:avLst/>
          </a:prstGeom>
          <a:noFill/>
          <a:ln/>
        </p:spPr>
        <p:txBody>
          <a:bodyPr wrap="square" lIns="0" tIns="0" rIns="0" bIns="0" rtlCol="0" anchor="t"/>
          <a:lstStyle/>
          <a:p>
            <a:pPr marL="0" indent="0">
              <a:buNone/>
            </a:pPr>
            <a:r>
              <a:rPr lang="en-US" sz="675" b="1" kern="0" spc="200" dirty="0">
                <a:solidFill>
                  <a:srgbClr val="8C6239"/>
                </a:solidFill>
              </a:rPr>
              <a:t>WHAT IT MEANS FOR OWNERS</a:t>
            </a:r>
            <a:endParaRPr lang="en-US" sz="675" dirty="0"/>
          </a:p>
        </p:txBody>
      </p:sp>
      <p:sp>
        <p:nvSpPr>
          <p:cNvPr id="9" name="Text 6"/>
          <p:cNvSpPr txBox="1"/>
          <p:nvPr/>
        </p:nvSpPr>
        <p:spPr>
          <a:xfrm>
            <a:off x="628650" y="4533900"/>
            <a:ext cx="2095500" cy="1428750"/>
          </a:xfrm>
          <a:prstGeom prst="rect">
            <a:avLst/>
          </a:prstGeom>
          <a:noFill/>
          <a:ln/>
        </p:spPr>
        <p:txBody>
          <a:bodyPr wrap="square" lIns="0" tIns="0" rIns="0" bIns="0" rtlCol="0" anchor="t"/>
          <a:lstStyle/>
          <a:p>
            <a:pPr marL="0" indent="0">
              <a:lnSpc>
                <a:spcPts val="1800"/>
              </a:lnSpc>
              <a:buNone/>
            </a:pPr>
            <a:r>
              <a:rPr lang="en-US" sz="1238" i="1" dirty="0">
                <a:solidFill>
                  <a:srgbClr val="FFFFFF"/>
                </a:solidFill>
                <a:latin typeface="+mj-lt" pitchFamily="34" charset="0"/>
              </a:rPr>
              <a:t>Strategic acquirers and private equity platforms are still buying machining, distribution, contracting, environmental and logistics capacity that already exists.</a:t>
            </a:r>
            <a:endParaRPr lang="en-US" sz="1238" dirty="0"/>
          </a:p>
        </p:txBody>
      </p:sp>
      <p:sp>
        <p:nvSpPr>
          <p:cNvPr id="10" name="Text 7"/>
          <p:cNvSpPr txBox="1"/>
          <p:nvPr/>
        </p:nvSpPr>
        <p:spPr>
          <a:xfrm>
            <a:off x="628650" y="6057900"/>
            <a:ext cx="2095500" cy="762000"/>
          </a:xfrm>
          <a:prstGeom prst="rect">
            <a:avLst/>
          </a:prstGeom>
          <a:noFill/>
          <a:ln/>
        </p:spPr>
        <p:txBody>
          <a:bodyPr wrap="square" lIns="0" tIns="0" rIns="0" bIns="0" rtlCol="0" anchor="t"/>
          <a:lstStyle/>
          <a:p>
            <a:pPr marL="0" indent="0">
              <a:lnSpc>
                <a:spcPts val="1238"/>
              </a:lnSpc>
              <a:buNone/>
            </a:pPr>
            <a:r>
              <a:rPr lang="en-US" sz="825" dirty="0">
                <a:solidFill>
                  <a:srgbClr val="E8E2DA"/>
                </a:solidFill>
              </a:rPr>
              <a:t>They are paying the most for companies tied to power, data centers, aerospace and service work that codes and regulations require.</a:t>
            </a:r>
            <a:endParaRPr lang="en-US" sz="825" dirty="0"/>
          </a:p>
        </p:txBody>
      </p:sp>
      <p:sp>
        <p:nvSpPr>
          <p:cNvPr id="11" name="Shape 8"/>
          <p:cNvSpPr/>
          <p:nvPr/>
        </p:nvSpPr>
        <p:spPr>
          <a:xfrm>
            <a:off x="3124200" y="1617345"/>
            <a:ext cx="381000" cy="381000"/>
          </a:xfrm>
          <a:prstGeom prst="ellipse">
            <a:avLst/>
          </a:prstGeom>
          <a:solidFill>
            <a:srgbClr val="1B1A1A"/>
          </a:solidFill>
          <a:ln/>
        </p:spPr>
        <p:txBody>
          <a:bodyPr/>
          <a:lstStyle/>
          <a:p>
            <a:endParaRPr lang="en-US"/>
          </a:p>
        </p:txBody>
      </p:sp>
      <p:pic>
        <p:nvPicPr>
          <p:cNvPr id="12" name="Image 1"/>
          <p:cNvPicPr>
            <a:picLocks noChangeAspect="1"/>
          </p:cNvPicPr>
          <p:nvPr/>
        </p:nvPicPr>
        <p:blipFill>
          <a:blip r:embed="rId4"/>
          <a:stretch>
            <a:fillRect/>
          </a:stretch>
        </p:blipFill>
        <p:spPr>
          <a:xfrm>
            <a:off x="3219450" y="1712595"/>
            <a:ext cx="190500" cy="190500"/>
          </a:xfrm>
          <a:prstGeom prst="rect">
            <a:avLst/>
          </a:prstGeom>
        </p:spPr>
      </p:pic>
      <p:sp>
        <p:nvSpPr>
          <p:cNvPr id="13" name="Text 9"/>
          <p:cNvSpPr txBox="1"/>
          <p:nvPr/>
        </p:nvSpPr>
        <p:spPr>
          <a:xfrm>
            <a:off x="3657600" y="1333500"/>
            <a:ext cx="4476750" cy="171450"/>
          </a:xfrm>
          <a:prstGeom prst="rect">
            <a:avLst/>
          </a:prstGeom>
          <a:noFill/>
          <a:ln/>
        </p:spPr>
        <p:txBody>
          <a:bodyPr wrap="square" lIns="0" tIns="0" rIns="0" bIns="0" rtlCol="0" anchor="t"/>
          <a:lstStyle/>
          <a:p>
            <a:pPr marL="0" indent="0">
              <a:buNone/>
            </a:pPr>
            <a:r>
              <a:rPr lang="en-US" sz="975" b="1" dirty="0">
                <a:solidFill>
                  <a:srgbClr val="1B1A1A"/>
                </a:solidFill>
              </a:rPr>
              <a:t>Domestic manufacturing demand is broad</a:t>
            </a:r>
            <a:endParaRPr lang="en-US" sz="975" dirty="0"/>
          </a:p>
        </p:txBody>
      </p:sp>
      <p:sp>
        <p:nvSpPr>
          <p:cNvPr id="14" name="Text 10"/>
          <p:cNvSpPr txBox="1"/>
          <p:nvPr/>
        </p:nvSpPr>
        <p:spPr>
          <a:xfrm>
            <a:off x="3657600" y="152400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The ISM Manufacturing PMI was 54.5 in September, its ninth consecutive month of expansion, and orders for manufacturing technology reached $4.03 billion in the first seven months of the year, 37.1% ahead of 2025 (</a:t>
            </a:r>
            <a:r>
              <a:rPr lang="en-US" sz="810" u="sng" dirty="0">
                <a:solidFill>
                  <a:srgbClr val="8C6239"/>
                </a:solidFill>
                <a:hlinkClick r:id="rId5"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810" dirty="0">
                <a:solidFill>
                  <a:srgbClr val="333231"/>
                </a:solidFill>
              </a:rPr>
              <a:t>; </a:t>
            </a:r>
            <a:r>
              <a:rPr lang="en-US" sz="810" u="sng" dirty="0">
                <a:solidFill>
                  <a:srgbClr val="8C6239"/>
                </a:solidFill>
                <a:hlinkClick r:id="rId6"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810" dirty="0">
                <a:solidFill>
                  <a:srgbClr val="333231"/>
                </a:solidFill>
              </a:rPr>
              <a:t>). Capacity utilization of 75.7% leaves most plants room to take on more work (</a:t>
            </a:r>
            <a:r>
              <a:rPr lang="en-US" sz="810" u="sng" dirty="0">
                <a:solidFill>
                  <a:srgbClr val="8C6239"/>
                </a:solidFill>
                <a:hlinkClick r:id="rId7" tooltip="https://www.federalreserve.gov/releases/g17/current/default.htm">
                  <a:extLst>
                    <a:ext uri="{A12FA001-AC4F-418D-AE19-62706E023703}">
                      <ahyp:hlinkClr xmlns:ahyp="http://schemas.microsoft.com/office/drawing/2018/hyperlinkcolor" val="tx"/>
                    </a:ext>
                  </a:extLst>
                </a:hlinkClick>
              </a:rPr>
              <a:t>Federal Reserve G.17</a:t>
            </a:r>
            <a:r>
              <a:rPr lang="en-US" sz="810" dirty="0">
                <a:solidFill>
                  <a:srgbClr val="333231"/>
                </a:solidFill>
              </a:rPr>
              <a:t>).</a:t>
            </a:r>
            <a:endParaRPr lang="en-US" sz="810" dirty="0"/>
          </a:p>
        </p:txBody>
      </p:sp>
      <p:sp>
        <p:nvSpPr>
          <p:cNvPr id="15" name="Shape 11"/>
          <p:cNvSpPr/>
          <p:nvPr/>
        </p:nvSpPr>
        <p:spPr>
          <a:xfrm>
            <a:off x="8324850" y="1524000"/>
            <a:ext cx="0" cy="552450"/>
          </a:xfrm>
          <a:prstGeom prst="line">
            <a:avLst/>
          </a:prstGeom>
          <a:noFill/>
          <a:ln w="19050">
            <a:solidFill>
              <a:srgbClr val="B68757"/>
            </a:solidFill>
            <a:prstDash val="solid"/>
          </a:ln>
        </p:spPr>
        <p:txBody>
          <a:bodyPr/>
          <a:lstStyle/>
          <a:p>
            <a:endParaRPr lang="en-US"/>
          </a:p>
        </p:txBody>
      </p:sp>
      <p:sp>
        <p:nvSpPr>
          <p:cNvPr id="16" name="Text 12"/>
          <p:cNvSpPr txBox="1"/>
          <p:nvPr/>
        </p:nvSpPr>
        <p:spPr>
          <a:xfrm>
            <a:off x="8458200" y="152400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54.5</a:t>
            </a:r>
            <a:endParaRPr lang="en-US" sz="2100" dirty="0"/>
          </a:p>
        </p:txBody>
      </p:sp>
      <p:sp>
        <p:nvSpPr>
          <p:cNvPr id="17" name="Text 13"/>
          <p:cNvSpPr txBox="1"/>
          <p:nvPr/>
        </p:nvSpPr>
        <p:spPr>
          <a:xfrm>
            <a:off x="8458200" y="186690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ISM Manufacturing PMI, September</a:t>
            </a:r>
            <a:endParaRPr lang="en-US" sz="675" dirty="0"/>
          </a:p>
        </p:txBody>
      </p:sp>
      <p:sp>
        <p:nvSpPr>
          <p:cNvPr id="18" name="Shape 14"/>
          <p:cNvSpPr/>
          <p:nvPr/>
        </p:nvSpPr>
        <p:spPr>
          <a:xfrm>
            <a:off x="3124200" y="2377440"/>
            <a:ext cx="6515100" cy="0"/>
          </a:xfrm>
          <a:prstGeom prst="line">
            <a:avLst/>
          </a:prstGeom>
          <a:noFill/>
          <a:ln w="9525">
            <a:solidFill>
              <a:srgbClr val="E3DCD3"/>
            </a:solidFill>
            <a:prstDash val="solid"/>
          </a:ln>
        </p:spPr>
        <p:txBody>
          <a:bodyPr/>
          <a:lstStyle/>
          <a:p>
            <a:endParaRPr lang="en-US"/>
          </a:p>
        </p:txBody>
      </p:sp>
      <p:sp>
        <p:nvSpPr>
          <p:cNvPr id="19" name="Shape 15"/>
          <p:cNvSpPr/>
          <p:nvPr/>
        </p:nvSpPr>
        <p:spPr>
          <a:xfrm>
            <a:off x="3124200" y="2756535"/>
            <a:ext cx="381000" cy="381000"/>
          </a:xfrm>
          <a:prstGeom prst="ellipse">
            <a:avLst/>
          </a:prstGeom>
          <a:solidFill>
            <a:srgbClr val="1B1A1A"/>
          </a:solidFill>
          <a:ln/>
        </p:spPr>
        <p:txBody>
          <a:bodyPr/>
          <a:lstStyle/>
          <a:p>
            <a:endParaRPr lang="en-US"/>
          </a:p>
        </p:txBody>
      </p:sp>
      <p:pic>
        <p:nvPicPr>
          <p:cNvPr id="20" name="Image 2"/>
          <p:cNvPicPr>
            <a:picLocks noChangeAspect="1"/>
          </p:cNvPicPr>
          <p:nvPr/>
        </p:nvPicPr>
        <p:blipFill>
          <a:blip r:embed="rId8"/>
          <a:stretch>
            <a:fillRect/>
          </a:stretch>
        </p:blipFill>
        <p:spPr>
          <a:xfrm>
            <a:off x="3219450" y="2851785"/>
            <a:ext cx="190500" cy="190500"/>
          </a:xfrm>
          <a:prstGeom prst="rect">
            <a:avLst/>
          </a:prstGeom>
        </p:spPr>
      </p:pic>
      <p:sp>
        <p:nvSpPr>
          <p:cNvPr id="21" name="Text 16"/>
          <p:cNvSpPr txBox="1"/>
          <p:nvPr/>
        </p:nvSpPr>
        <p:spPr>
          <a:xfrm>
            <a:off x="3657600" y="247269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Private equity is buying through platforms it already owns</a:t>
            </a:r>
            <a:endParaRPr lang="en-US" sz="975" dirty="0"/>
          </a:p>
        </p:txBody>
      </p:sp>
      <p:sp>
        <p:nvSpPr>
          <p:cNvPr id="22" name="Text 17"/>
          <p:cNvSpPr txBox="1"/>
          <p:nvPr/>
        </p:nvSpPr>
        <p:spPr>
          <a:xfrm>
            <a:off x="3657600" y="266319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Add-on acquisitions made up about three-quarters of all buyouts in the second quarter (</a:t>
            </a:r>
            <a:r>
              <a:rPr lang="en-US" sz="810" u="sng" dirty="0">
                <a:solidFill>
                  <a:srgbClr val="8C6239"/>
                </a:solidFill>
                <a:hlinkClick r:id="rId9"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810" dirty="0">
                <a:solidFill>
                  <a:srgbClr val="333231"/>
                </a:solidFill>
              </a:rPr>
              <a:t>), and Pye-Barker Fire &amp; Safety completed 22 acquisitions in the first half of the year alone (</a:t>
            </a:r>
            <a:r>
              <a:rPr lang="en-US" sz="810" u="sng" dirty="0">
                <a:solidFill>
                  <a:srgbClr val="8C6239"/>
                </a:solidFill>
                <a:hlinkClick r:id="rId10" tooltip="https://pyebarkerfs.com/?p=22122">
                  <a:extLst>
                    <a:ext uri="{A12FA001-AC4F-418D-AE19-62706E023703}">
                      <ahyp:hlinkClr xmlns:ahyp="http://schemas.microsoft.com/office/drawing/2018/hyperlinkcolor" val="tx"/>
                    </a:ext>
                  </a:extLst>
                </a:hlinkClick>
              </a:rPr>
              <a:t>Pye-Barker</a:t>
            </a:r>
            <a:r>
              <a:rPr lang="en-US" sz="810" dirty="0">
                <a:solidFill>
                  <a:srgbClr val="333231"/>
                </a:solidFill>
              </a:rPr>
              <a:t>). The sponsor at the table for a founder-owned industrial company is usually an operating platform that already knows its trade.</a:t>
            </a:r>
            <a:endParaRPr lang="en-US" sz="810" dirty="0"/>
          </a:p>
        </p:txBody>
      </p:sp>
      <p:sp>
        <p:nvSpPr>
          <p:cNvPr id="23" name="Shape 18"/>
          <p:cNvSpPr/>
          <p:nvPr/>
        </p:nvSpPr>
        <p:spPr>
          <a:xfrm>
            <a:off x="8324850" y="2663190"/>
            <a:ext cx="0" cy="552450"/>
          </a:xfrm>
          <a:prstGeom prst="line">
            <a:avLst/>
          </a:prstGeom>
          <a:noFill/>
          <a:ln w="19050">
            <a:solidFill>
              <a:srgbClr val="B68757"/>
            </a:solidFill>
            <a:prstDash val="solid"/>
          </a:ln>
        </p:spPr>
        <p:txBody>
          <a:bodyPr/>
          <a:lstStyle/>
          <a:p>
            <a:endParaRPr lang="en-US"/>
          </a:p>
        </p:txBody>
      </p:sp>
      <p:sp>
        <p:nvSpPr>
          <p:cNvPr id="24" name="Text 19"/>
          <p:cNvSpPr txBox="1"/>
          <p:nvPr/>
        </p:nvSpPr>
        <p:spPr>
          <a:xfrm>
            <a:off x="8458200" y="266319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13,509</a:t>
            </a:r>
            <a:endParaRPr lang="en-US" sz="2100" dirty="0"/>
          </a:p>
        </p:txBody>
      </p:sp>
      <p:sp>
        <p:nvSpPr>
          <p:cNvPr id="25" name="Text 20"/>
          <p:cNvSpPr txBox="1"/>
          <p:nvPr/>
        </p:nvSpPr>
        <p:spPr>
          <a:xfrm>
            <a:off x="8458200" y="300609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US companies held by private equity</a:t>
            </a:r>
            <a:endParaRPr lang="en-US" sz="675" dirty="0"/>
          </a:p>
        </p:txBody>
      </p:sp>
      <p:sp>
        <p:nvSpPr>
          <p:cNvPr id="26" name="Shape 21"/>
          <p:cNvSpPr/>
          <p:nvPr/>
        </p:nvSpPr>
        <p:spPr>
          <a:xfrm>
            <a:off x="3124200" y="3516630"/>
            <a:ext cx="651510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124200" y="3895725"/>
            <a:ext cx="381000" cy="381000"/>
          </a:xfrm>
          <a:prstGeom prst="ellipse">
            <a:avLst/>
          </a:prstGeom>
          <a:solidFill>
            <a:srgbClr val="1B1A1A"/>
          </a:solidFill>
          <a:ln/>
        </p:spPr>
        <p:txBody>
          <a:bodyPr/>
          <a:lstStyle/>
          <a:p>
            <a:endParaRPr lang="en-US"/>
          </a:p>
        </p:txBody>
      </p:sp>
      <p:pic>
        <p:nvPicPr>
          <p:cNvPr id="28" name="Image 3"/>
          <p:cNvPicPr>
            <a:picLocks noChangeAspect="1"/>
          </p:cNvPicPr>
          <p:nvPr/>
        </p:nvPicPr>
        <p:blipFill>
          <a:blip r:embed="rId11"/>
          <a:stretch>
            <a:fillRect/>
          </a:stretch>
        </p:blipFill>
        <p:spPr>
          <a:xfrm>
            <a:off x="3219450" y="3990975"/>
            <a:ext cx="190500" cy="190500"/>
          </a:xfrm>
          <a:prstGeom prst="rect">
            <a:avLst/>
          </a:prstGeom>
        </p:spPr>
      </p:pic>
      <p:sp>
        <p:nvSpPr>
          <p:cNvPr id="29" name="Text 23"/>
          <p:cNvSpPr txBox="1"/>
          <p:nvPr/>
        </p:nvSpPr>
        <p:spPr>
          <a:xfrm>
            <a:off x="3657600" y="361188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Power and data center work is the strongest source of demand</a:t>
            </a:r>
            <a:endParaRPr lang="en-US" sz="975" dirty="0"/>
          </a:p>
        </p:txBody>
      </p:sp>
      <p:sp>
        <p:nvSpPr>
          <p:cNvPr id="30" name="Text 24"/>
          <p:cNvSpPr txBox="1"/>
          <p:nvPr/>
        </p:nvSpPr>
        <p:spPr>
          <a:xfrm>
            <a:off x="3657600" y="3802380"/>
            <a:ext cx="4476750" cy="815340"/>
          </a:xfrm>
          <a:prstGeom prst="rect">
            <a:avLst/>
          </a:prstGeom>
          <a:noFill/>
          <a:ln/>
        </p:spPr>
        <p:txBody>
          <a:bodyPr wrap="square" lIns="0" tIns="0" rIns="0" bIns="0" rtlCol="0" anchor="t"/>
          <a:lstStyle/>
          <a:p>
            <a:pPr>
              <a:lnSpc>
                <a:spcPct val="100000"/>
              </a:lnSpc>
            </a:pPr>
            <a:r>
              <a:rPr lang="en-US" sz="810" dirty="0">
                <a:solidFill>
                  <a:srgbClr val="333231"/>
                </a:solidFill>
              </a:rPr>
              <a:t>Quanta Services ended June with a backlog of $53.4 billion against $35.8 billion a year earlier (</a:t>
            </a:r>
            <a:r>
              <a:rPr lang="en-US" sz="900" dirty="0">
                <a:hlinkClick r:id="rId12"/>
              </a:rPr>
              <a:t>Quanta Services</a:t>
            </a:r>
            <a:r>
              <a:rPr lang="en-US" sz="900" dirty="0"/>
              <a:t>)</a:t>
            </a:r>
            <a:r>
              <a:rPr lang="en-US" sz="810" dirty="0">
                <a:solidFill>
                  <a:srgbClr val="333231"/>
                </a:solidFill>
              </a:rPr>
              <a:t>. Public infrastructure funding is less certain, because the surface transportation authorization expired on September 30 and highway programs are running under a continuing resolution through December 11 (</a:t>
            </a:r>
            <a:r>
              <a:rPr lang="en-US" sz="810" u="sng" dirty="0">
                <a:solidFill>
                  <a:srgbClr val="8C6239"/>
                </a:solidFill>
                <a:hlinkClick r:id="rId13" tooltip="https://aashtojournal.transportation.org/?p=41360">
                  <a:extLst>
                    <a:ext uri="{A12FA001-AC4F-418D-AE19-62706E023703}">
                      <ahyp:hlinkClr xmlns:ahyp="http://schemas.microsoft.com/office/drawing/2018/hyperlinkcolor" val="tx"/>
                    </a:ext>
                  </a:extLst>
                </a:hlinkClick>
              </a:rPr>
              <a:t>AASHTO Journal</a:t>
            </a:r>
            <a:r>
              <a:rPr lang="en-US" sz="810" dirty="0">
                <a:solidFill>
                  <a:srgbClr val="333231"/>
                </a:solidFill>
              </a:rPr>
              <a:t>).</a:t>
            </a:r>
            <a:endParaRPr lang="en-US" sz="810" dirty="0"/>
          </a:p>
        </p:txBody>
      </p:sp>
      <p:sp>
        <p:nvSpPr>
          <p:cNvPr id="31" name="Shape 25"/>
          <p:cNvSpPr/>
          <p:nvPr/>
        </p:nvSpPr>
        <p:spPr>
          <a:xfrm>
            <a:off x="8324850" y="3802380"/>
            <a:ext cx="0" cy="552450"/>
          </a:xfrm>
          <a:prstGeom prst="line">
            <a:avLst/>
          </a:prstGeom>
          <a:noFill/>
          <a:ln w="19050">
            <a:solidFill>
              <a:srgbClr val="B68757"/>
            </a:solidFill>
            <a:prstDash val="solid"/>
          </a:ln>
        </p:spPr>
        <p:txBody>
          <a:bodyPr/>
          <a:lstStyle/>
          <a:p>
            <a:endParaRPr lang="en-US"/>
          </a:p>
        </p:txBody>
      </p:sp>
      <p:sp>
        <p:nvSpPr>
          <p:cNvPr id="32" name="Text 26"/>
          <p:cNvSpPr txBox="1"/>
          <p:nvPr/>
        </p:nvSpPr>
        <p:spPr>
          <a:xfrm>
            <a:off x="8458200" y="380238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$53.4B</a:t>
            </a:r>
            <a:endParaRPr lang="en-US" sz="2100" dirty="0"/>
          </a:p>
        </p:txBody>
      </p:sp>
      <p:sp>
        <p:nvSpPr>
          <p:cNvPr id="33" name="Text 27"/>
          <p:cNvSpPr txBox="1"/>
          <p:nvPr/>
        </p:nvSpPr>
        <p:spPr>
          <a:xfrm>
            <a:off x="8458200" y="4145280"/>
            <a:ext cx="1181100" cy="285750"/>
          </a:xfrm>
          <a:prstGeom prst="rect">
            <a:avLst/>
          </a:prstGeom>
          <a:noFill/>
          <a:ln/>
        </p:spPr>
        <p:txBody>
          <a:bodyPr wrap="square" lIns="0" tIns="0" rIns="0" bIns="0" rtlCol="0" anchor="t"/>
          <a:lstStyle/>
          <a:p>
            <a:pPr marL="0" indent="0">
              <a:lnSpc>
                <a:spcPts val="938"/>
              </a:lnSpc>
              <a:buNone/>
            </a:pPr>
            <a:r>
              <a:rPr lang="en-US" sz="675" dirty="0"/>
              <a:t>Quanta Services total backlog June 2026</a:t>
            </a:r>
          </a:p>
        </p:txBody>
      </p:sp>
      <p:sp>
        <p:nvSpPr>
          <p:cNvPr id="34" name="Shape 28"/>
          <p:cNvSpPr/>
          <p:nvPr/>
        </p:nvSpPr>
        <p:spPr>
          <a:xfrm>
            <a:off x="3124200" y="4655820"/>
            <a:ext cx="6515100" cy="0"/>
          </a:xfrm>
          <a:prstGeom prst="line">
            <a:avLst/>
          </a:prstGeom>
          <a:noFill/>
          <a:ln w="9525">
            <a:solidFill>
              <a:srgbClr val="E3DCD3"/>
            </a:solidFill>
            <a:prstDash val="solid"/>
          </a:ln>
        </p:spPr>
        <p:txBody>
          <a:bodyPr/>
          <a:lstStyle/>
          <a:p>
            <a:endParaRPr lang="en-US"/>
          </a:p>
        </p:txBody>
      </p:sp>
      <p:sp>
        <p:nvSpPr>
          <p:cNvPr id="35" name="Shape 29"/>
          <p:cNvSpPr/>
          <p:nvPr/>
        </p:nvSpPr>
        <p:spPr>
          <a:xfrm>
            <a:off x="3124200" y="5034915"/>
            <a:ext cx="381000" cy="381000"/>
          </a:xfrm>
          <a:prstGeom prst="ellipse">
            <a:avLst/>
          </a:prstGeom>
          <a:solidFill>
            <a:srgbClr val="1B1A1A"/>
          </a:solidFill>
          <a:ln/>
        </p:spPr>
        <p:txBody>
          <a:bodyPr/>
          <a:lstStyle/>
          <a:p>
            <a:endParaRPr lang="en-US"/>
          </a:p>
        </p:txBody>
      </p:sp>
      <p:pic>
        <p:nvPicPr>
          <p:cNvPr id="36" name="Image 4"/>
          <p:cNvPicPr>
            <a:picLocks noChangeAspect="1"/>
          </p:cNvPicPr>
          <p:nvPr/>
        </p:nvPicPr>
        <p:blipFill>
          <a:blip r:embed="rId14"/>
          <a:stretch>
            <a:fillRect/>
          </a:stretch>
        </p:blipFill>
        <p:spPr>
          <a:xfrm>
            <a:off x="3219450" y="5130165"/>
            <a:ext cx="190500" cy="190500"/>
          </a:xfrm>
          <a:prstGeom prst="rect">
            <a:avLst/>
          </a:prstGeom>
        </p:spPr>
      </p:pic>
      <p:sp>
        <p:nvSpPr>
          <p:cNvPr id="37" name="Text 30"/>
          <p:cNvSpPr txBox="1"/>
          <p:nvPr/>
        </p:nvSpPr>
        <p:spPr>
          <a:xfrm>
            <a:off x="3657600" y="4751070"/>
            <a:ext cx="4476750" cy="171450"/>
          </a:xfrm>
          <a:prstGeom prst="rect">
            <a:avLst/>
          </a:prstGeom>
          <a:noFill/>
          <a:ln/>
        </p:spPr>
        <p:txBody>
          <a:bodyPr wrap="square" lIns="0" tIns="0" rIns="0" bIns="0" rtlCol="0" anchor="t"/>
          <a:lstStyle/>
          <a:p>
            <a:pPr marL="0" indent="0">
              <a:buNone/>
            </a:pPr>
            <a:r>
              <a:rPr lang="en-US" sz="975" b="1" dirty="0">
                <a:solidFill>
                  <a:srgbClr val="1B1A1A"/>
                </a:solidFill>
              </a:rPr>
              <a:t>Recurring service revenue is valued above project revenue</a:t>
            </a:r>
            <a:endParaRPr lang="en-US" sz="975" dirty="0"/>
          </a:p>
        </p:txBody>
      </p:sp>
      <p:sp>
        <p:nvSpPr>
          <p:cNvPr id="38" name="Text 31"/>
          <p:cNvSpPr txBox="1"/>
          <p:nvPr/>
        </p:nvSpPr>
        <p:spPr>
          <a:xfrm>
            <a:off x="3657600" y="494157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APi Group is working toward 60% of revenue from inspection and service, and Transcat’s service revenue grew 27% (</a:t>
            </a:r>
            <a:r>
              <a:rPr lang="en-US" sz="810" u="sng" dirty="0">
                <a:solidFill>
                  <a:srgbClr val="8C6239"/>
                </a:solidFill>
                <a:hlinkClick r:id="rId15"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810" dirty="0">
                <a:solidFill>
                  <a:srgbClr val="333231"/>
                </a:solidFill>
              </a:rPr>
              <a:t>; </a:t>
            </a:r>
            <a:r>
              <a:rPr lang="en-US" sz="810" u="sng" dirty="0">
                <a:solidFill>
                  <a:srgbClr val="8C6239"/>
                </a:solidFill>
                <a:hlinkClick r:id="rId16"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810" dirty="0">
                <a:solidFill>
                  <a:srgbClr val="333231"/>
                </a:solidFill>
              </a:rPr>
              <a:t>). Buyers pay more for service, repair, inspection and aftermarket parts revenue when an owner reports it separately from project and product sales, with the renewal history behind it.</a:t>
            </a:r>
            <a:endParaRPr lang="en-US" sz="810" dirty="0"/>
          </a:p>
        </p:txBody>
      </p:sp>
      <p:sp>
        <p:nvSpPr>
          <p:cNvPr id="39" name="Shape 32"/>
          <p:cNvSpPr/>
          <p:nvPr/>
        </p:nvSpPr>
        <p:spPr>
          <a:xfrm>
            <a:off x="8324850" y="4941570"/>
            <a:ext cx="0" cy="552450"/>
          </a:xfrm>
          <a:prstGeom prst="line">
            <a:avLst/>
          </a:prstGeom>
          <a:noFill/>
          <a:ln w="19050">
            <a:solidFill>
              <a:srgbClr val="B68757"/>
            </a:solidFill>
            <a:prstDash val="solid"/>
          </a:ln>
        </p:spPr>
        <p:txBody>
          <a:bodyPr/>
          <a:lstStyle/>
          <a:p>
            <a:endParaRPr lang="en-US"/>
          </a:p>
        </p:txBody>
      </p:sp>
      <p:sp>
        <p:nvSpPr>
          <p:cNvPr id="40" name="Text 33"/>
          <p:cNvSpPr txBox="1"/>
          <p:nvPr/>
        </p:nvSpPr>
        <p:spPr>
          <a:xfrm>
            <a:off x="8458200" y="494157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60%</a:t>
            </a:r>
            <a:endParaRPr lang="en-US" sz="2100" dirty="0"/>
          </a:p>
        </p:txBody>
      </p:sp>
      <p:sp>
        <p:nvSpPr>
          <p:cNvPr id="41" name="Text 34"/>
          <p:cNvSpPr txBox="1"/>
          <p:nvPr/>
        </p:nvSpPr>
        <p:spPr>
          <a:xfrm>
            <a:off x="8458200" y="528447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APi Group target for inspection and service revenue</a:t>
            </a:r>
            <a:endParaRPr lang="en-US" sz="675" dirty="0"/>
          </a:p>
        </p:txBody>
      </p:sp>
      <p:sp>
        <p:nvSpPr>
          <p:cNvPr id="42" name="Shape 35"/>
          <p:cNvSpPr/>
          <p:nvPr/>
        </p:nvSpPr>
        <p:spPr>
          <a:xfrm>
            <a:off x="3124200" y="5795010"/>
            <a:ext cx="6515100" cy="0"/>
          </a:xfrm>
          <a:prstGeom prst="line">
            <a:avLst/>
          </a:prstGeom>
          <a:noFill/>
          <a:ln w="9525">
            <a:solidFill>
              <a:srgbClr val="E3DCD3"/>
            </a:solidFill>
            <a:prstDash val="solid"/>
          </a:ln>
        </p:spPr>
        <p:txBody>
          <a:bodyPr/>
          <a:lstStyle/>
          <a:p>
            <a:endParaRPr lang="en-US"/>
          </a:p>
        </p:txBody>
      </p:sp>
      <p:sp>
        <p:nvSpPr>
          <p:cNvPr id="43" name="Shape 36"/>
          <p:cNvSpPr/>
          <p:nvPr/>
        </p:nvSpPr>
        <p:spPr>
          <a:xfrm>
            <a:off x="3124200" y="6174105"/>
            <a:ext cx="381000" cy="381000"/>
          </a:xfrm>
          <a:prstGeom prst="ellipse">
            <a:avLst/>
          </a:prstGeom>
          <a:solidFill>
            <a:srgbClr val="1B1A1A"/>
          </a:solidFill>
          <a:ln/>
        </p:spPr>
        <p:txBody>
          <a:bodyPr/>
          <a:lstStyle/>
          <a:p>
            <a:endParaRPr lang="en-US"/>
          </a:p>
        </p:txBody>
      </p:sp>
      <p:pic>
        <p:nvPicPr>
          <p:cNvPr id="44" name="Image 5"/>
          <p:cNvPicPr>
            <a:picLocks noChangeAspect="1"/>
          </p:cNvPicPr>
          <p:nvPr/>
        </p:nvPicPr>
        <p:blipFill>
          <a:blip r:embed="rId17"/>
          <a:stretch>
            <a:fillRect/>
          </a:stretch>
        </p:blipFill>
        <p:spPr>
          <a:xfrm>
            <a:off x="3219450" y="6269355"/>
            <a:ext cx="190500" cy="190500"/>
          </a:xfrm>
          <a:prstGeom prst="rect">
            <a:avLst/>
          </a:prstGeom>
        </p:spPr>
      </p:pic>
      <p:sp>
        <p:nvSpPr>
          <p:cNvPr id="45" name="Text 37"/>
          <p:cNvSpPr txBox="1"/>
          <p:nvPr/>
        </p:nvSpPr>
        <p:spPr>
          <a:xfrm>
            <a:off x="3657600" y="5890260"/>
            <a:ext cx="4476750" cy="171450"/>
          </a:xfrm>
          <a:prstGeom prst="rect">
            <a:avLst/>
          </a:prstGeom>
          <a:noFill/>
          <a:ln/>
        </p:spPr>
        <p:txBody>
          <a:bodyPr wrap="square" lIns="0" tIns="0" rIns="0" bIns="0" rtlCol="0" anchor="t"/>
          <a:lstStyle/>
          <a:p>
            <a:pPr marL="0" indent="0">
              <a:buNone/>
            </a:pPr>
            <a:r>
              <a:rPr lang="en-US" sz="975" b="1" dirty="0">
                <a:solidFill>
                  <a:srgbClr val="1B1A1A"/>
                </a:solidFill>
              </a:rPr>
              <a:t>Financing costs more and buyers are more selective</a:t>
            </a:r>
            <a:endParaRPr lang="en-US" sz="975" dirty="0"/>
          </a:p>
        </p:txBody>
      </p:sp>
      <p:sp>
        <p:nvSpPr>
          <p:cNvPr id="46" name="Text 38"/>
          <p:cNvSpPr txBox="1"/>
          <p:nvPr/>
        </p:nvSpPr>
        <p:spPr>
          <a:xfrm>
            <a:off x="3657600" y="608076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Global M&amp;A value fell 41% from the second quarter to $993 billion in the third, and the Federal Reserve raised its target range to 3.75% to 4.00% on September 16 (</a:t>
            </a:r>
            <a:r>
              <a:rPr lang="en-US" sz="810" u="sng" dirty="0">
                <a:solidFill>
                  <a:srgbClr val="8C6239"/>
                </a:solidFill>
                <a:hlinkClick r:id="rId18"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810" dirty="0">
                <a:solidFill>
                  <a:srgbClr val="333231"/>
                </a:solidFill>
              </a:rPr>
              <a:t>; </a:t>
            </a:r>
            <a:r>
              <a:rPr lang="en-US" sz="810" u="sng" dirty="0">
                <a:solidFill>
                  <a:srgbClr val="8C6239"/>
                </a:solidFill>
                <a:hlinkClick r:id="rId19"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810" dirty="0">
                <a:solidFill>
                  <a:srgbClr val="333231"/>
                </a:solidFill>
              </a:rPr>
              <a:t>). GF Data’s average multiple eased to 7.0 times trailing adjusted EBITDA from 7.3 times, and debt on platform acquisitions fell to 2.9 times from 3.4 times (</a:t>
            </a:r>
            <a:r>
              <a:rPr lang="en-US" sz="810" u="sng" dirty="0">
                <a:solidFill>
                  <a:srgbClr val="8C6239"/>
                </a:solidFill>
                <a:hlinkClick r:id="rId20"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810" dirty="0">
                <a:solidFill>
                  <a:srgbClr val="333231"/>
                </a:solidFill>
              </a:rPr>
              <a:t>).</a:t>
            </a:r>
            <a:endParaRPr lang="en-US" sz="810" dirty="0"/>
          </a:p>
        </p:txBody>
      </p:sp>
      <p:sp>
        <p:nvSpPr>
          <p:cNvPr id="47" name="Shape 39"/>
          <p:cNvSpPr/>
          <p:nvPr/>
        </p:nvSpPr>
        <p:spPr>
          <a:xfrm>
            <a:off x="8324850" y="6080760"/>
            <a:ext cx="0" cy="552450"/>
          </a:xfrm>
          <a:prstGeom prst="line">
            <a:avLst/>
          </a:prstGeom>
          <a:noFill/>
          <a:ln w="19050">
            <a:solidFill>
              <a:srgbClr val="B68757"/>
            </a:solidFill>
            <a:prstDash val="solid"/>
          </a:ln>
        </p:spPr>
        <p:txBody>
          <a:bodyPr/>
          <a:lstStyle/>
          <a:p>
            <a:endParaRPr lang="en-US"/>
          </a:p>
        </p:txBody>
      </p:sp>
      <p:sp>
        <p:nvSpPr>
          <p:cNvPr id="48" name="Text 40"/>
          <p:cNvSpPr txBox="1"/>
          <p:nvPr/>
        </p:nvSpPr>
        <p:spPr>
          <a:xfrm>
            <a:off x="8458200" y="608076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7.0x</a:t>
            </a:r>
            <a:endParaRPr lang="en-US" sz="2100" dirty="0"/>
          </a:p>
        </p:txBody>
      </p:sp>
      <p:sp>
        <p:nvSpPr>
          <p:cNvPr id="49" name="Text 41"/>
          <p:cNvSpPr txBox="1"/>
          <p:nvPr/>
        </p:nvSpPr>
        <p:spPr>
          <a:xfrm>
            <a:off x="8458200" y="642366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Average middle-market multiple of EBITDA, Q2</a:t>
            </a:r>
            <a:endParaRPr lang="en-US" sz="675" dirty="0"/>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Power Demand: The Buildout Reaches Every Industrial Sector</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Electricity demand is growing about 2% a year, the equipment to meet it is sold out years ahead and acquirers are buying existing capacity.</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stated by the acquirer in the linked announcement. Backlog figures are from company second-quarter reports and the ABC member survey for August 2026.</a:t>
            </a:r>
            <a:endParaRPr lang="en-US" sz="675" dirty="0"/>
          </a:p>
        </p:txBody>
      </p:sp>
      <p:sp>
        <p:nvSpPr>
          <p:cNvPr id="5" name="Text 3"/>
          <p:cNvSpPr txBox="1"/>
          <p:nvPr/>
        </p:nvSpPr>
        <p:spPr>
          <a:xfrm>
            <a:off x="419100" y="1238250"/>
            <a:ext cx="2724150" cy="1333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Energy Information Administration expects US electricity sales to grow about 2% in 2026 and again in 2027, driven by data center development and commercial and industrial activity (</a:t>
            </a:r>
            <a:r>
              <a:rPr lang="en-US" sz="885" u="sng" dirty="0">
                <a:solidFill>
                  <a:srgbClr val="8C6239"/>
                </a:solidFill>
                <a:hlinkClick r:id="rId3" tooltip="https://www.eia.gov/outlooks/steo/report/elec_coal_renew.php">
                  <a:extLst>
                    <a:ext uri="{A12FA001-AC4F-418D-AE19-62706E023703}">
                      <ahyp:hlinkClr xmlns:ahyp="http://schemas.microsoft.com/office/drawing/2018/hyperlinkcolor" val="tx"/>
                    </a:ext>
                  </a:extLst>
                </a:hlinkClick>
              </a:rPr>
              <a:t>EIA</a:t>
            </a:r>
            <a:r>
              <a:rPr lang="en-US" sz="885" dirty="0">
                <a:solidFill>
                  <a:srgbClr val="333231"/>
                </a:solidFill>
              </a:rPr>
              <a:t>). NERC raised its 10-year forecast of summer peak demand growth to 224 gigawatts from 132 (</a:t>
            </a:r>
            <a:r>
              <a:rPr lang="en-US" sz="885" u="sng" dirty="0">
                <a:solidFill>
                  <a:srgbClr val="8C6239"/>
                </a:solidFill>
                <a:hlinkClick r:id="rId4" tooltip="https://www.powermag.com/nerc-warns-long-term-grid-reliability-risks-mounting/">
                  <a:extLst>
                    <a:ext uri="{A12FA001-AC4F-418D-AE19-62706E023703}">
                      <ahyp:hlinkClr xmlns:ahyp="http://schemas.microsoft.com/office/drawing/2018/hyperlinkcolor" val="tx"/>
                    </a:ext>
                  </a:extLst>
                </a:hlinkClick>
              </a:rPr>
              <a:t>POWER Magazine</a:t>
            </a:r>
            <a:r>
              <a:rPr lang="en-US" sz="885" dirty="0">
                <a:solidFill>
                  <a:srgbClr val="333231"/>
                </a:solidFill>
              </a:rPr>
              <a:t>), and Meta alone expects capital expenditures of $130 billion to $145 billion in 2026 (</a:t>
            </a:r>
            <a:r>
              <a:rPr lang="en-US" sz="885" u="sng" dirty="0">
                <a:solidFill>
                  <a:srgbClr val="8C6239"/>
                </a:solidFill>
                <a:hlinkClick r:id="rId5"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885" dirty="0">
                <a:solidFill>
                  <a:srgbClr val="333231"/>
                </a:solidFill>
              </a:rPr>
              <a:t>).</a:t>
            </a:r>
            <a:endParaRPr lang="en-US" sz="885" dirty="0"/>
          </a:p>
        </p:txBody>
      </p:sp>
      <p:sp>
        <p:nvSpPr>
          <p:cNvPr id="6" name="Text 4"/>
          <p:cNvSpPr txBox="1"/>
          <p:nvPr/>
        </p:nvSpPr>
        <p:spPr>
          <a:xfrm>
            <a:off x="419100" y="2686050"/>
            <a:ext cx="2724150" cy="1714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equipment needed to meet that demand is committed years ahead. GE Vernova’s gas turbine backlog and slot reservations rose to 116 gigawatts from 100 during the second quarter (</a:t>
            </a:r>
            <a:r>
              <a:rPr lang="en-US" sz="885" u="sng" dirty="0">
                <a:solidFill>
                  <a:srgbClr val="8C6239"/>
                </a:solidFill>
                <a:hlinkClick r:id="rId6"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885" dirty="0">
                <a:solidFill>
                  <a:srgbClr val="333231"/>
                </a:solidFill>
              </a:rPr>
              <a:t>), and lead times for generator step-up transformers reached 160 weeks in the first quarter (</a:t>
            </a:r>
            <a:r>
              <a:rPr lang="en-US" sz="885" u="sng" dirty="0">
                <a:solidFill>
                  <a:srgbClr val="8C6239"/>
                </a:solidFill>
                <a:hlinkClick r:id="rId7"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885" dirty="0">
                <a:solidFill>
                  <a:srgbClr val="333231"/>
                </a:solidFill>
              </a:rPr>
              <a:t>). Generac’s commercial and industrial sales grew 29% and its data center backlog reached about $1.6 billion (</a:t>
            </a:r>
            <a:r>
              <a:rPr lang="en-US" sz="885" u="sng" dirty="0">
                <a:solidFill>
                  <a:srgbClr val="8C6239"/>
                </a:solidFill>
                <a:hlinkClick r:id="rId8" tooltip="https://www.sec.gov/Archives/edgar/data/0001474735/000143774926024731/ex_994826.htm">
                  <a:extLst>
                    <a:ext uri="{A12FA001-AC4F-418D-AE19-62706E023703}">
                      <ahyp:hlinkClr xmlns:ahyp="http://schemas.microsoft.com/office/drawing/2018/hyperlinkcolor" val="tx"/>
                    </a:ext>
                  </a:extLst>
                </a:hlinkClick>
              </a:rPr>
              <a:t>Generac</a:t>
            </a:r>
            <a:r>
              <a:rPr lang="en-US" sz="885" dirty="0">
                <a:solidFill>
                  <a:srgbClr val="333231"/>
                </a:solidFill>
              </a:rPr>
              <a:t>).</a:t>
            </a:r>
            <a:endParaRPr lang="en-US" sz="885" dirty="0"/>
          </a:p>
        </p:txBody>
      </p:sp>
      <p:sp>
        <p:nvSpPr>
          <p:cNvPr id="7" name="Shape 5"/>
          <p:cNvSpPr/>
          <p:nvPr/>
        </p:nvSpPr>
        <p:spPr>
          <a:xfrm flipH="1">
            <a:off x="407339" y="4171950"/>
            <a:ext cx="21285" cy="2676330"/>
          </a:xfrm>
          <a:prstGeom prst="line">
            <a:avLst/>
          </a:prstGeom>
          <a:noFill/>
          <a:ln w="28575">
            <a:solidFill>
              <a:srgbClr val="B68757"/>
            </a:solidFill>
            <a:prstDash val="solid"/>
          </a:ln>
        </p:spPr>
        <p:txBody>
          <a:bodyPr/>
          <a:lstStyle/>
          <a:p>
            <a:endParaRPr lang="en-US"/>
          </a:p>
        </p:txBody>
      </p:sp>
      <p:sp>
        <p:nvSpPr>
          <p:cNvPr id="8" name="Text 6"/>
          <p:cNvSpPr txBox="1"/>
          <p:nvPr/>
        </p:nvSpPr>
        <p:spPr>
          <a:xfrm>
            <a:off x="521640" y="4181669"/>
            <a:ext cx="2571750" cy="2676331"/>
          </a:xfrm>
          <a:prstGeom prst="rect">
            <a:avLst/>
          </a:prstGeom>
          <a:noFill/>
          <a:ln/>
        </p:spPr>
        <p:txBody>
          <a:bodyPr wrap="square" lIns="0" tIns="0" rIns="0" bIns="0" rtlCol="0" anchor="t"/>
          <a:lstStyle/>
          <a:p>
            <a:pPr marL="0" indent="0">
              <a:lnSpc>
                <a:spcPts val="1575"/>
              </a:lnSpc>
              <a:buNone/>
            </a:pPr>
            <a:r>
              <a:rPr lang="en-US" sz="1088" b="1" i="1" dirty="0"/>
              <a:t>AI Bottleneck Is Power, Not Chips</a:t>
            </a:r>
          </a:p>
          <a:p>
            <a:pPr>
              <a:lnSpc>
                <a:spcPct val="100000"/>
              </a:lnSpc>
            </a:pPr>
            <a:endParaRPr lang="en-US" sz="800" i="1" dirty="0"/>
          </a:p>
          <a:p>
            <a:r>
              <a:rPr lang="en-US" sz="800" i="1" dirty="0"/>
              <a:t>“So, it’s interesting as they continue to announce all the data centers and data center sites. I’ve sort of always had a strong view that energy would be the constraint.” Greg Abel, CEO, Berkshire Hathaway (</a:t>
            </a:r>
            <a:r>
              <a:rPr lang="en-US" sz="800" u="sng" dirty="0">
                <a:hlinkClick r:id="rId9"/>
              </a:rPr>
              <a:t>CNBC</a:t>
            </a:r>
            <a:r>
              <a:rPr lang="en-US" sz="800" u="sng" dirty="0"/>
              <a:t>)</a:t>
            </a:r>
            <a:endParaRPr lang="en-US" sz="800" dirty="0"/>
          </a:p>
          <a:p>
            <a:pPr>
              <a:lnSpc>
                <a:spcPct val="100000"/>
              </a:lnSpc>
            </a:pPr>
            <a:endParaRPr lang="en-US" sz="800" i="1" dirty="0"/>
          </a:p>
          <a:p>
            <a:pPr>
              <a:lnSpc>
                <a:spcPct val="100000"/>
              </a:lnSpc>
            </a:pPr>
            <a:endParaRPr lang="en-US" sz="800" i="1" dirty="0"/>
          </a:p>
          <a:p>
            <a:r>
              <a:rPr lang="en-US" sz="800" i="1" dirty="0"/>
              <a:t>“Well, I don’t think it's going to come down to chips or the models that people create or the apps that we develop. I think the consistent theme you hear here is can we get the power generation to power these massive data centers.” Toby Rice, CEO, EQT (EQT Corporation)</a:t>
            </a:r>
            <a:r>
              <a:rPr lang="en-US" sz="800" u="sng" dirty="0">
                <a:hlinkClick r:id="rId10"/>
              </a:rPr>
              <a:t/>
            </a:r>
            <a:r>
              <a:rPr lang="en-US" sz="800" u="sng" dirty="0"/>
              <a:t/>
            </a:r>
            <a:endParaRPr lang="en-US" sz="800" dirty="0"/>
          </a:p>
          <a:p>
            <a:pPr>
              <a:lnSpc>
                <a:spcPct val="100000"/>
              </a:lnSpc>
            </a:pPr>
            <a:endParaRPr lang="en-US" sz="1000" i="1" dirty="0"/>
          </a:p>
          <a:p>
            <a:r>
              <a:rPr lang="en-US" sz="800" i="1" dirty="0"/>
              <a:t>“quite frankly, the biggest issue we are now having is not a compute glut, but it’s a power and it's sort of the ability to get the builds done fast enough close to power. So, if you can't do that, you may actually have a bunch of chips sitting in inventory that I can’t plug in.” Satya Nadella, CEO, Microsoft (</a:t>
            </a:r>
            <a:r>
              <a:rPr lang="en-US" sz="800" u="sng" dirty="0">
                <a:hlinkClick r:id="rId11"/>
              </a:rPr>
              <a:t>Bg2 Pod</a:t>
            </a:r>
            <a:r>
              <a:rPr lang="en-US" sz="800" i="1" dirty="0"/>
              <a:t>)</a:t>
            </a:r>
          </a:p>
          <a:p>
            <a:pPr marL="0" indent="0">
              <a:lnSpc>
                <a:spcPts val="1575"/>
              </a:lnSpc>
              <a:buNone/>
            </a:pPr>
            <a:endParaRPr lang="en-US" sz="1088" b="1" i="1" dirty="0"/>
          </a:p>
        </p:txBody>
      </p:sp>
      <p:sp>
        <p:nvSpPr>
          <p:cNvPr id="10" name="Text 8"/>
          <p:cNvSpPr txBox="1"/>
          <p:nvPr/>
        </p:nvSpPr>
        <p:spPr>
          <a:xfrm>
            <a:off x="3352800" y="1238250"/>
            <a:ext cx="3867150" cy="152400"/>
          </a:xfrm>
          <a:prstGeom prst="rect">
            <a:avLst/>
          </a:prstGeom>
          <a:noFill/>
          <a:ln/>
        </p:spPr>
        <p:txBody>
          <a:bodyPr wrap="square" lIns="0" tIns="0" rIns="0" bIns="0" rtlCol="0" anchor="t"/>
          <a:lstStyle/>
          <a:p>
            <a:pPr marL="0" indent="0">
              <a:buNone/>
            </a:pPr>
            <a:r>
              <a:rPr lang="en-US" sz="675" b="1" kern="0" spc="200" dirty="0">
                <a:solidFill>
                  <a:srgbClr val="8C6239"/>
                </a:solidFill>
              </a:rPr>
              <a:t>HOW THE DEMAND REACHES EACH SECTOR</a:t>
            </a:r>
            <a:endParaRPr lang="en-US" sz="675" dirty="0"/>
          </a:p>
        </p:txBody>
      </p:sp>
      <p:sp>
        <p:nvSpPr>
          <p:cNvPr id="11" name="Shape 9"/>
          <p:cNvSpPr/>
          <p:nvPr/>
        </p:nvSpPr>
        <p:spPr>
          <a:xfrm>
            <a:off x="3352800" y="1447800"/>
            <a:ext cx="3867150" cy="0"/>
          </a:xfrm>
          <a:prstGeom prst="line">
            <a:avLst/>
          </a:prstGeom>
          <a:noFill/>
          <a:ln w="9525">
            <a:solidFill>
              <a:srgbClr val="E3DCD3"/>
            </a:solidFill>
            <a:prstDash val="solid"/>
          </a:ln>
        </p:spPr>
        <p:txBody>
          <a:bodyPr/>
          <a:lstStyle/>
          <a:p>
            <a:endParaRPr lang="en-US"/>
          </a:p>
        </p:txBody>
      </p:sp>
      <p:sp>
        <p:nvSpPr>
          <p:cNvPr id="12" name="Shape 10"/>
          <p:cNvSpPr/>
          <p:nvPr/>
        </p:nvSpPr>
        <p:spPr>
          <a:xfrm>
            <a:off x="3352800" y="1552575"/>
            <a:ext cx="285750" cy="285750"/>
          </a:xfrm>
          <a:prstGeom prst="ellipse">
            <a:avLst/>
          </a:prstGeom>
          <a:solidFill>
            <a:srgbClr val="1B1A1A"/>
          </a:solidFill>
          <a:ln/>
        </p:spPr>
        <p:txBody>
          <a:bodyPr/>
          <a:lstStyle/>
          <a:p>
            <a:endParaRPr lang="en-US"/>
          </a:p>
        </p:txBody>
      </p:sp>
      <p:pic>
        <p:nvPicPr>
          <p:cNvPr id="13" name="Image 0"/>
          <p:cNvPicPr>
            <a:picLocks noChangeAspect="1"/>
          </p:cNvPicPr>
          <p:nvPr/>
        </p:nvPicPr>
        <p:blipFill>
          <a:blip r:embed="rId12"/>
          <a:stretch>
            <a:fillRect/>
          </a:stretch>
        </p:blipFill>
        <p:spPr>
          <a:xfrm>
            <a:off x="3419475" y="1619250"/>
            <a:ext cx="152400" cy="152400"/>
          </a:xfrm>
          <a:prstGeom prst="rect">
            <a:avLst/>
          </a:prstGeom>
        </p:spPr>
      </p:pic>
      <p:sp>
        <p:nvSpPr>
          <p:cNvPr id="14" name="Text 11"/>
          <p:cNvSpPr txBox="1"/>
          <p:nvPr/>
        </p:nvSpPr>
        <p:spPr>
          <a:xfrm>
            <a:off x="3752850" y="15430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MANUFACTURING &amp; INDUSTRIAL TECHNOLOGY</a:t>
            </a:r>
            <a:endParaRPr lang="en-US" sz="750" dirty="0"/>
          </a:p>
        </p:txBody>
      </p:sp>
      <p:sp>
        <p:nvSpPr>
          <p:cNvPr id="15" name="Text 12"/>
          <p:cNvSpPr txBox="1"/>
          <p:nvPr/>
        </p:nvSpPr>
        <p:spPr>
          <a:xfrm>
            <a:off x="3752850" y="17049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nVent agreed to buy Maverick Power, a Texas maker of switchgear and modular power for data centers, for $1.75 billion plus up to $550 million, and put the upfront payment at 11.5 times anticipated 2026 adjusted EBITDA (</a:t>
            </a:r>
            <a:r>
              <a:rPr lang="en-US" sz="795" u="sng" dirty="0">
                <a:solidFill>
                  <a:srgbClr val="8C6239"/>
                </a:solidFill>
                <a:hlinkClick r:id="rId13"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95" dirty="0">
                <a:solidFill>
                  <a:srgbClr val="333231"/>
                </a:solidFill>
              </a:rPr>
              <a:t>).</a:t>
            </a:r>
            <a:endParaRPr lang="en-US" sz="795" dirty="0"/>
          </a:p>
        </p:txBody>
      </p:sp>
      <p:sp>
        <p:nvSpPr>
          <p:cNvPr id="16" name="Shape 13"/>
          <p:cNvSpPr/>
          <p:nvPr/>
        </p:nvSpPr>
        <p:spPr>
          <a:xfrm>
            <a:off x="3352800" y="2533650"/>
            <a:ext cx="3867150" cy="0"/>
          </a:xfrm>
          <a:prstGeom prst="line">
            <a:avLst/>
          </a:prstGeom>
          <a:noFill/>
          <a:ln w="9525">
            <a:solidFill>
              <a:srgbClr val="E3DCD3"/>
            </a:solidFill>
            <a:prstDash val="solid"/>
          </a:ln>
        </p:spPr>
        <p:txBody>
          <a:bodyPr/>
          <a:lstStyle/>
          <a:p>
            <a:endParaRPr lang="en-US"/>
          </a:p>
        </p:txBody>
      </p:sp>
      <p:sp>
        <p:nvSpPr>
          <p:cNvPr id="17" name="Shape 14"/>
          <p:cNvSpPr/>
          <p:nvPr/>
        </p:nvSpPr>
        <p:spPr>
          <a:xfrm>
            <a:off x="3352800" y="2638425"/>
            <a:ext cx="285750" cy="285750"/>
          </a:xfrm>
          <a:prstGeom prst="ellipse">
            <a:avLst/>
          </a:prstGeom>
          <a:solidFill>
            <a:srgbClr val="1B1A1A"/>
          </a:solidFill>
          <a:ln/>
        </p:spPr>
        <p:txBody>
          <a:bodyPr/>
          <a:lstStyle/>
          <a:p>
            <a:endParaRPr lang="en-US"/>
          </a:p>
        </p:txBody>
      </p:sp>
      <p:pic>
        <p:nvPicPr>
          <p:cNvPr id="18" name="Image 1"/>
          <p:cNvPicPr>
            <a:picLocks noChangeAspect="1"/>
          </p:cNvPicPr>
          <p:nvPr/>
        </p:nvPicPr>
        <p:blipFill>
          <a:blip r:embed="rId14"/>
          <a:stretch>
            <a:fillRect/>
          </a:stretch>
        </p:blipFill>
        <p:spPr>
          <a:xfrm>
            <a:off x="3419475" y="2705100"/>
            <a:ext cx="152400" cy="152400"/>
          </a:xfrm>
          <a:prstGeom prst="rect">
            <a:avLst/>
          </a:prstGeom>
        </p:spPr>
      </p:pic>
      <p:sp>
        <p:nvSpPr>
          <p:cNvPr id="19" name="Text 15"/>
          <p:cNvSpPr txBox="1"/>
          <p:nvPr/>
        </p:nvSpPr>
        <p:spPr>
          <a:xfrm>
            <a:off x="3752850" y="26289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INDUSTRIAL DISTRIBUTION &amp; SERVICES</a:t>
            </a:r>
            <a:endParaRPr lang="en-US" sz="750" dirty="0"/>
          </a:p>
        </p:txBody>
      </p:sp>
      <p:sp>
        <p:nvSpPr>
          <p:cNvPr id="20" name="Text 16"/>
          <p:cNvSpPr txBox="1"/>
          <p:nvPr/>
        </p:nvSpPr>
        <p:spPr>
          <a:xfrm>
            <a:off x="3752850" y="27908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EMCOR’s US Industrial Services segment grew 25.9% in the second quarter (</a:t>
            </a:r>
            <a:r>
              <a:rPr lang="en-US" sz="795" u="sng" dirty="0">
                <a:solidFill>
                  <a:srgbClr val="8C6239"/>
                </a:solidFill>
                <a:hlinkClick r:id="rId15"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95" dirty="0">
                <a:solidFill>
                  <a:srgbClr val="333231"/>
                </a:solidFill>
              </a:rPr>
              <a:t>), and contractors with power, utility and data center customers have kept growing in a year when refiners deferred turnaround work to 2027.</a:t>
            </a:r>
            <a:endParaRPr lang="en-US" sz="795" dirty="0"/>
          </a:p>
        </p:txBody>
      </p:sp>
      <p:sp>
        <p:nvSpPr>
          <p:cNvPr id="21" name="Shape 17"/>
          <p:cNvSpPr/>
          <p:nvPr/>
        </p:nvSpPr>
        <p:spPr>
          <a:xfrm>
            <a:off x="3352800" y="3619500"/>
            <a:ext cx="3867150" cy="0"/>
          </a:xfrm>
          <a:prstGeom prst="line">
            <a:avLst/>
          </a:prstGeom>
          <a:noFill/>
          <a:ln w="9525">
            <a:solidFill>
              <a:srgbClr val="E3DCD3"/>
            </a:solidFill>
            <a:prstDash val="solid"/>
          </a:ln>
        </p:spPr>
        <p:txBody>
          <a:bodyPr/>
          <a:lstStyle/>
          <a:p>
            <a:endParaRPr lang="en-US"/>
          </a:p>
        </p:txBody>
      </p:sp>
      <p:sp>
        <p:nvSpPr>
          <p:cNvPr id="22" name="Shape 18"/>
          <p:cNvSpPr/>
          <p:nvPr/>
        </p:nvSpPr>
        <p:spPr>
          <a:xfrm>
            <a:off x="3352800" y="3724275"/>
            <a:ext cx="285750" cy="285750"/>
          </a:xfrm>
          <a:prstGeom prst="ellipse">
            <a:avLst/>
          </a:prstGeom>
          <a:solidFill>
            <a:srgbClr val="1B1A1A"/>
          </a:solidFill>
          <a:ln/>
        </p:spPr>
        <p:txBody>
          <a:bodyPr/>
          <a:lstStyle/>
          <a:p>
            <a:endParaRPr lang="en-US"/>
          </a:p>
        </p:txBody>
      </p:sp>
      <p:pic>
        <p:nvPicPr>
          <p:cNvPr id="23" name="Image 2"/>
          <p:cNvPicPr>
            <a:picLocks noChangeAspect="1"/>
          </p:cNvPicPr>
          <p:nvPr/>
        </p:nvPicPr>
        <p:blipFill>
          <a:blip r:embed="rId16"/>
          <a:stretch>
            <a:fillRect/>
          </a:stretch>
        </p:blipFill>
        <p:spPr>
          <a:xfrm>
            <a:off x="3419475" y="3790950"/>
            <a:ext cx="152400" cy="152400"/>
          </a:xfrm>
          <a:prstGeom prst="rect">
            <a:avLst/>
          </a:prstGeom>
        </p:spPr>
      </p:pic>
      <p:sp>
        <p:nvSpPr>
          <p:cNvPr id="24" name="Text 19"/>
          <p:cNvSpPr txBox="1"/>
          <p:nvPr/>
        </p:nvSpPr>
        <p:spPr>
          <a:xfrm>
            <a:off x="3752850" y="37147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BUILDING PRODUCTS &amp; CONSTRUCTION SERVICES</a:t>
            </a:r>
            <a:endParaRPr lang="en-US" sz="750" dirty="0"/>
          </a:p>
        </p:txBody>
      </p:sp>
      <p:sp>
        <p:nvSpPr>
          <p:cNvPr id="25" name="Text 20"/>
          <p:cNvSpPr txBox="1"/>
          <p:nvPr/>
        </p:nvSpPr>
        <p:spPr>
          <a:xfrm>
            <a:off x="3752850" y="38766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Contractors doing data center work reported 9.9 months of backlog against 8.3 months for those that are not (</a:t>
            </a:r>
            <a:r>
              <a:rPr lang="en-US" sz="795" u="sng" dirty="0">
                <a:solidFill>
                  <a:srgbClr val="8C6239"/>
                </a:solidFill>
                <a:hlinkClick r:id="rId17"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95" dirty="0">
                <a:solidFill>
                  <a:srgbClr val="333231"/>
                </a:solidFill>
              </a:rPr>
              <a:t>). Limbach lowered its guidance after its gross margin fell to 21.5% from 28.0%, citing competition for skilled labor and materials in data center markets (</a:t>
            </a:r>
            <a:r>
              <a:rPr lang="en-US" sz="795" u="sng" dirty="0">
                <a:solidFill>
                  <a:srgbClr val="8C6239"/>
                </a:solidFill>
                <a:hlinkClick r:id="rId18"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95" dirty="0">
                <a:solidFill>
                  <a:srgbClr val="333231"/>
                </a:solidFill>
              </a:rPr>
              <a:t>).</a:t>
            </a:r>
            <a:endParaRPr lang="en-US" sz="795" dirty="0"/>
          </a:p>
        </p:txBody>
      </p:sp>
      <p:sp>
        <p:nvSpPr>
          <p:cNvPr id="26" name="Shape 21"/>
          <p:cNvSpPr/>
          <p:nvPr/>
        </p:nvSpPr>
        <p:spPr>
          <a:xfrm>
            <a:off x="3352800" y="4705350"/>
            <a:ext cx="386715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352800" y="4810125"/>
            <a:ext cx="285750" cy="285750"/>
          </a:xfrm>
          <a:prstGeom prst="ellipse">
            <a:avLst/>
          </a:prstGeom>
          <a:solidFill>
            <a:srgbClr val="1B1A1A"/>
          </a:solidFill>
          <a:ln/>
        </p:spPr>
        <p:txBody>
          <a:bodyPr/>
          <a:lstStyle/>
          <a:p>
            <a:endParaRPr lang="en-US"/>
          </a:p>
        </p:txBody>
      </p:sp>
      <p:pic>
        <p:nvPicPr>
          <p:cNvPr id="28" name="Image 3"/>
          <p:cNvPicPr>
            <a:picLocks noChangeAspect="1"/>
          </p:cNvPicPr>
          <p:nvPr/>
        </p:nvPicPr>
        <p:blipFill>
          <a:blip r:embed="rId19"/>
          <a:stretch>
            <a:fillRect/>
          </a:stretch>
        </p:blipFill>
        <p:spPr>
          <a:xfrm>
            <a:off x="3419475" y="4876800"/>
            <a:ext cx="152400" cy="152400"/>
          </a:xfrm>
          <a:prstGeom prst="rect">
            <a:avLst/>
          </a:prstGeom>
        </p:spPr>
      </p:pic>
      <p:sp>
        <p:nvSpPr>
          <p:cNvPr id="29" name="Text 23"/>
          <p:cNvSpPr txBox="1"/>
          <p:nvPr/>
        </p:nvSpPr>
        <p:spPr>
          <a:xfrm>
            <a:off x="3752850" y="48006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ENERGY, POWER &amp; ENVIRONMENTAL SERVICES</a:t>
            </a:r>
            <a:endParaRPr lang="en-US" sz="750" dirty="0"/>
          </a:p>
        </p:txBody>
      </p:sp>
      <p:sp>
        <p:nvSpPr>
          <p:cNvPr id="30" name="Text 24"/>
          <p:cNvSpPr txBox="1"/>
          <p:nvPr/>
        </p:nvSpPr>
        <p:spPr>
          <a:xfrm>
            <a:off x="3752850" y="49625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Mission Critical Group bought a Texas switchgear manufacturer and a transformer supplier within four months of each other (</a:t>
            </a:r>
            <a:r>
              <a:rPr lang="en-US" sz="795" u="sng" dirty="0">
                <a:solidFill>
                  <a:srgbClr val="8C6239"/>
                </a:solidFill>
                <a:hlinkClick r:id="rId20"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95" dirty="0">
                <a:solidFill>
                  <a:srgbClr val="333231"/>
                </a:solidFill>
              </a:rPr>
              <a:t>; </a:t>
            </a:r>
            <a:r>
              <a:rPr lang="en-US" sz="795" u="sng" dirty="0">
                <a:solidFill>
                  <a:srgbClr val="8C6239"/>
                </a:solidFill>
                <a:hlinkClick r:id="rId21"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95" dirty="0">
                <a:solidFill>
                  <a:srgbClr val="333231"/>
                </a:solidFill>
              </a:rPr>
              <a:t>), and electrical testing and commissioning is the most contested category in the power sub-sector.</a:t>
            </a:r>
            <a:endParaRPr lang="en-US" sz="795" dirty="0"/>
          </a:p>
        </p:txBody>
      </p:sp>
      <p:sp>
        <p:nvSpPr>
          <p:cNvPr id="31" name="Shape 25"/>
          <p:cNvSpPr/>
          <p:nvPr/>
        </p:nvSpPr>
        <p:spPr>
          <a:xfrm>
            <a:off x="3352800" y="5791200"/>
            <a:ext cx="3867150" cy="0"/>
          </a:xfrm>
          <a:prstGeom prst="line">
            <a:avLst/>
          </a:prstGeom>
          <a:noFill/>
          <a:ln w="9525">
            <a:solidFill>
              <a:srgbClr val="E3DCD3"/>
            </a:solidFill>
            <a:prstDash val="solid"/>
          </a:ln>
        </p:spPr>
        <p:txBody>
          <a:bodyPr/>
          <a:lstStyle/>
          <a:p>
            <a:endParaRPr lang="en-US"/>
          </a:p>
        </p:txBody>
      </p:sp>
      <p:sp>
        <p:nvSpPr>
          <p:cNvPr id="32" name="Shape 26"/>
          <p:cNvSpPr/>
          <p:nvPr/>
        </p:nvSpPr>
        <p:spPr>
          <a:xfrm>
            <a:off x="3352800" y="5895975"/>
            <a:ext cx="285750" cy="285750"/>
          </a:xfrm>
          <a:prstGeom prst="ellipse">
            <a:avLst/>
          </a:prstGeom>
          <a:solidFill>
            <a:srgbClr val="1B1A1A"/>
          </a:solidFill>
          <a:ln/>
        </p:spPr>
        <p:txBody>
          <a:bodyPr/>
          <a:lstStyle/>
          <a:p>
            <a:endParaRPr lang="en-US"/>
          </a:p>
        </p:txBody>
      </p:sp>
      <p:pic>
        <p:nvPicPr>
          <p:cNvPr id="33" name="Image 4"/>
          <p:cNvPicPr>
            <a:picLocks noChangeAspect="1"/>
          </p:cNvPicPr>
          <p:nvPr/>
        </p:nvPicPr>
        <p:blipFill>
          <a:blip r:embed="rId22"/>
          <a:stretch>
            <a:fillRect/>
          </a:stretch>
        </p:blipFill>
        <p:spPr>
          <a:xfrm>
            <a:off x="3419475" y="5962650"/>
            <a:ext cx="152400" cy="152400"/>
          </a:xfrm>
          <a:prstGeom prst="rect">
            <a:avLst/>
          </a:prstGeom>
        </p:spPr>
      </p:pic>
      <p:sp>
        <p:nvSpPr>
          <p:cNvPr id="34" name="Text 27"/>
          <p:cNvSpPr txBox="1"/>
          <p:nvPr/>
        </p:nvSpPr>
        <p:spPr>
          <a:xfrm>
            <a:off x="3752850" y="58864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TRANSPORTATION &amp; LOGISTICS</a:t>
            </a:r>
            <a:endParaRPr lang="en-US" sz="750" dirty="0"/>
          </a:p>
        </p:txBody>
      </p:sp>
      <p:sp>
        <p:nvSpPr>
          <p:cNvPr id="35" name="Text 28"/>
          <p:cNvSpPr txBox="1"/>
          <p:nvPr/>
        </p:nvSpPr>
        <p:spPr>
          <a:xfrm>
            <a:off x="3752850" y="60483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Spending on data center construction was more than 73% higher in August than a year earlier (</a:t>
            </a:r>
            <a:r>
              <a:rPr lang="en-US" sz="795" u="sng" dirty="0">
                <a:solidFill>
                  <a:srgbClr val="8C6239"/>
                </a:solidFill>
                <a:hlinkClick r:id="rId23" tooltip="https://www.mdm.com/?p=436875">
                  <a:extLst>
                    <a:ext uri="{A12FA001-AC4F-418D-AE19-62706E023703}">
                      <ahyp:hlinkClr xmlns:ahyp="http://schemas.microsoft.com/office/drawing/2018/hyperlinkcolor" val="tx"/>
                    </a:ext>
                  </a:extLst>
                </a:hlinkClick>
              </a:rPr>
              <a:t>ABC analysis reported by MDM</a:t>
            </a:r>
            <a:r>
              <a:rPr lang="en-US" sz="795" dirty="0">
                <a:solidFill>
                  <a:srgbClr val="333231"/>
                </a:solidFill>
              </a:rPr>
              <a:t>), and JK Technology Services bought a Virginia rigging company that works in data centers (</a:t>
            </a:r>
            <a:r>
              <a:rPr lang="en-US" sz="795" u="sng" dirty="0">
                <a:solidFill>
                  <a:srgbClr val="8C6239"/>
                </a:solidFill>
                <a:hlinkClick r:id="rId24" tooltip="https://vertikal.net/en/news/story/49180/jk-takes-360">
                  <a:extLst>
                    <a:ext uri="{A12FA001-AC4F-418D-AE19-62706E023703}">
                      <ahyp:hlinkClr xmlns:ahyp="http://schemas.microsoft.com/office/drawing/2018/hyperlinkcolor" val="tx"/>
                    </a:ext>
                  </a:extLst>
                </a:hlinkClick>
              </a:rPr>
              <a:t>Vertikal</a:t>
            </a:r>
            <a:r>
              <a:rPr lang="en-US" sz="795" dirty="0">
                <a:solidFill>
                  <a:srgbClr val="333231"/>
                </a:solidFill>
              </a:rPr>
              <a:t>).</a:t>
            </a:r>
            <a:endParaRPr lang="en-US" sz="795" dirty="0"/>
          </a:p>
        </p:txBody>
      </p:sp>
      <p:sp>
        <p:nvSpPr>
          <p:cNvPr id="36" name="Figures panel"/>
          <p:cNvSpPr/>
          <p:nvPr/>
        </p:nvSpPr>
        <p:spPr>
          <a:xfrm>
            <a:off x="7429500" y="1238250"/>
            <a:ext cx="2209800" cy="5695950"/>
          </a:xfrm>
          <a:prstGeom prst="rect">
            <a:avLst/>
          </a:prstGeom>
          <a:solidFill>
            <a:srgbClr val="1B1A1A"/>
          </a:solidFill>
          <a:ln/>
        </p:spPr>
        <p:txBody>
          <a:bodyPr/>
          <a:lstStyle/>
          <a:p>
            <a:endParaRPr lang="en-US"/>
          </a:p>
        </p:txBody>
      </p:sp>
      <p:pic>
        <p:nvPicPr>
          <p:cNvPr id="37" name="Image 5"/>
          <p:cNvPicPr>
            <a:picLocks noChangeAspect="1"/>
          </p:cNvPicPr>
          <p:nvPr/>
        </p:nvPicPr>
        <p:blipFill>
          <a:blip r:embed="rId25"/>
          <a:srcRect/>
          <a:stretch/>
        </p:blipFill>
        <p:spPr>
          <a:xfrm>
            <a:off x="7429500" y="1238250"/>
            <a:ext cx="2209800" cy="1219200"/>
          </a:xfrm>
          <a:prstGeom prst="rect">
            <a:avLst/>
          </a:prstGeom>
        </p:spPr>
      </p:pic>
      <p:sp>
        <p:nvSpPr>
          <p:cNvPr id="38" name="Shape 30"/>
          <p:cNvSpPr/>
          <p:nvPr/>
        </p:nvSpPr>
        <p:spPr>
          <a:xfrm>
            <a:off x="7429500" y="2428875"/>
            <a:ext cx="2209800" cy="28575"/>
          </a:xfrm>
          <a:prstGeom prst="rect">
            <a:avLst/>
          </a:prstGeom>
          <a:solidFill>
            <a:srgbClr val="B68757"/>
          </a:solidFill>
          <a:ln/>
        </p:spPr>
        <p:txBody>
          <a:bodyPr/>
          <a:lstStyle/>
          <a:p>
            <a:endParaRPr lang="en-US"/>
          </a:p>
        </p:txBody>
      </p:sp>
      <p:sp>
        <p:nvSpPr>
          <p:cNvPr id="39" name="Text 31"/>
          <p:cNvSpPr txBox="1"/>
          <p:nvPr/>
        </p:nvSpPr>
        <p:spPr>
          <a:xfrm>
            <a:off x="7620000" y="2590800"/>
            <a:ext cx="1828800" cy="152400"/>
          </a:xfrm>
          <a:prstGeom prst="rect">
            <a:avLst/>
          </a:prstGeom>
          <a:noFill/>
          <a:ln/>
        </p:spPr>
        <p:txBody>
          <a:bodyPr wrap="square" lIns="0" tIns="0" rIns="0" bIns="0" rtlCol="0" anchor="t"/>
          <a:lstStyle/>
          <a:p>
            <a:pPr marL="0" indent="0">
              <a:buNone/>
            </a:pPr>
            <a:r>
              <a:rPr lang="en-US" sz="675" b="1" kern="0" spc="200" dirty="0">
                <a:solidFill>
                  <a:srgbClr val="8C6239"/>
                </a:solidFill>
              </a:rPr>
              <a:t>THE BUILDOUT IN FOUR FIGURES</a:t>
            </a:r>
            <a:endParaRPr lang="en-US" sz="675" dirty="0"/>
          </a:p>
        </p:txBody>
      </p:sp>
      <p:sp>
        <p:nvSpPr>
          <p:cNvPr id="40" name="Shape 32"/>
          <p:cNvSpPr/>
          <p:nvPr/>
        </p:nvSpPr>
        <p:spPr>
          <a:xfrm>
            <a:off x="7620000" y="2800350"/>
            <a:ext cx="1828800" cy="0"/>
          </a:xfrm>
          <a:prstGeom prst="line">
            <a:avLst/>
          </a:prstGeom>
          <a:noFill/>
          <a:ln w="9525">
            <a:solidFill>
              <a:srgbClr val="5B4E40"/>
            </a:solidFill>
            <a:prstDash val="solid"/>
          </a:ln>
        </p:spPr>
        <p:txBody>
          <a:bodyPr/>
          <a:lstStyle/>
          <a:p>
            <a:endParaRPr lang="en-US"/>
          </a:p>
        </p:txBody>
      </p:sp>
      <p:sp>
        <p:nvSpPr>
          <p:cNvPr id="41" name="Text 33"/>
          <p:cNvSpPr txBox="1"/>
          <p:nvPr/>
        </p:nvSpPr>
        <p:spPr>
          <a:xfrm>
            <a:off x="7620000" y="28765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224 GW</a:t>
            </a:r>
            <a:endParaRPr lang="en-US" sz="1725" dirty="0"/>
          </a:p>
        </p:txBody>
      </p:sp>
      <p:sp>
        <p:nvSpPr>
          <p:cNvPr id="42" name="Text 34"/>
          <p:cNvSpPr txBox="1"/>
          <p:nvPr/>
        </p:nvSpPr>
        <p:spPr>
          <a:xfrm>
            <a:off x="7620000" y="31527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NERC 10-year forecast of summer peak demand growth, raised from 132</a:t>
            </a:r>
            <a:endParaRPr lang="en-US" sz="720" dirty="0"/>
          </a:p>
        </p:txBody>
      </p:sp>
      <p:sp>
        <p:nvSpPr>
          <p:cNvPr id="43" name="Shape 35"/>
          <p:cNvSpPr/>
          <p:nvPr/>
        </p:nvSpPr>
        <p:spPr>
          <a:xfrm>
            <a:off x="7620000" y="3486150"/>
            <a:ext cx="1828800" cy="0"/>
          </a:xfrm>
          <a:prstGeom prst="line">
            <a:avLst/>
          </a:prstGeom>
          <a:noFill/>
          <a:ln w="9525">
            <a:solidFill>
              <a:srgbClr val="5B4E40"/>
            </a:solidFill>
            <a:prstDash val="solid"/>
          </a:ln>
        </p:spPr>
        <p:txBody>
          <a:bodyPr/>
          <a:lstStyle/>
          <a:p>
            <a:endParaRPr lang="en-US"/>
          </a:p>
        </p:txBody>
      </p:sp>
      <p:sp>
        <p:nvSpPr>
          <p:cNvPr id="44" name="Text 36"/>
          <p:cNvSpPr txBox="1"/>
          <p:nvPr/>
        </p:nvSpPr>
        <p:spPr>
          <a:xfrm>
            <a:off x="7620000" y="35623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116 GW</a:t>
            </a:r>
            <a:endParaRPr lang="en-US" sz="1725" dirty="0"/>
          </a:p>
        </p:txBody>
      </p:sp>
      <p:sp>
        <p:nvSpPr>
          <p:cNvPr id="45" name="Text 37"/>
          <p:cNvSpPr txBox="1"/>
          <p:nvPr/>
        </p:nvSpPr>
        <p:spPr>
          <a:xfrm>
            <a:off x="7620000" y="38385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GE Vernova gas turbine backlog and slot reservations</a:t>
            </a:r>
            <a:endParaRPr lang="en-US" sz="720" dirty="0"/>
          </a:p>
        </p:txBody>
      </p:sp>
      <p:sp>
        <p:nvSpPr>
          <p:cNvPr id="46" name="Shape 38"/>
          <p:cNvSpPr/>
          <p:nvPr/>
        </p:nvSpPr>
        <p:spPr>
          <a:xfrm>
            <a:off x="7620000" y="4171950"/>
            <a:ext cx="1828800" cy="0"/>
          </a:xfrm>
          <a:prstGeom prst="line">
            <a:avLst/>
          </a:prstGeom>
          <a:noFill/>
          <a:ln w="9525">
            <a:solidFill>
              <a:srgbClr val="5B4E40"/>
            </a:solidFill>
            <a:prstDash val="solid"/>
          </a:ln>
        </p:spPr>
        <p:txBody>
          <a:bodyPr/>
          <a:lstStyle/>
          <a:p>
            <a:endParaRPr lang="en-US"/>
          </a:p>
        </p:txBody>
      </p:sp>
      <p:sp>
        <p:nvSpPr>
          <p:cNvPr id="47" name="Text 39"/>
          <p:cNvSpPr txBox="1"/>
          <p:nvPr/>
        </p:nvSpPr>
        <p:spPr>
          <a:xfrm>
            <a:off x="7620000" y="42481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160 weeks</a:t>
            </a:r>
            <a:endParaRPr lang="en-US" sz="1725" dirty="0"/>
          </a:p>
        </p:txBody>
      </p:sp>
      <p:sp>
        <p:nvSpPr>
          <p:cNvPr id="48" name="Text 40"/>
          <p:cNvSpPr txBox="1"/>
          <p:nvPr/>
        </p:nvSpPr>
        <p:spPr>
          <a:xfrm>
            <a:off x="7620000" y="45243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Lead time for generator step-up transformers</a:t>
            </a:r>
            <a:endParaRPr lang="en-US" sz="720" dirty="0"/>
          </a:p>
        </p:txBody>
      </p:sp>
      <p:sp>
        <p:nvSpPr>
          <p:cNvPr id="49" name="Shape 41"/>
          <p:cNvSpPr/>
          <p:nvPr/>
        </p:nvSpPr>
        <p:spPr>
          <a:xfrm>
            <a:off x="7620000" y="4857750"/>
            <a:ext cx="1828800" cy="0"/>
          </a:xfrm>
          <a:prstGeom prst="line">
            <a:avLst/>
          </a:prstGeom>
          <a:noFill/>
          <a:ln w="9525">
            <a:solidFill>
              <a:srgbClr val="5B4E40"/>
            </a:solidFill>
            <a:prstDash val="solid"/>
          </a:ln>
        </p:spPr>
        <p:txBody>
          <a:bodyPr/>
          <a:lstStyle/>
          <a:p>
            <a:endParaRPr lang="en-US"/>
          </a:p>
        </p:txBody>
      </p:sp>
      <p:sp>
        <p:nvSpPr>
          <p:cNvPr id="50" name="Text 42"/>
          <p:cNvSpPr txBox="1"/>
          <p:nvPr/>
        </p:nvSpPr>
        <p:spPr>
          <a:xfrm>
            <a:off x="7620000" y="49339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9.9 months</a:t>
            </a:r>
            <a:endParaRPr lang="en-US" sz="1725" dirty="0"/>
          </a:p>
        </p:txBody>
      </p:sp>
      <p:sp>
        <p:nvSpPr>
          <p:cNvPr id="51" name="Text 43"/>
          <p:cNvSpPr txBox="1"/>
          <p:nvPr/>
        </p:nvSpPr>
        <p:spPr>
          <a:xfrm>
            <a:off x="7620000" y="52101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Backlog at contractors doing data center work</a:t>
            </a:r>
            <a:endParaRPr lang="en-US" sz="720" dirty="0"/>
          </a:p>
        </p:txBody>
      </p:sp>
      <p:sp>
        <p:nvSpPr>
          <p:cNvPr id="52" name="Shape 44"/>
          <p:cNvSpPr/>
          <p:nvPr/>
        </p:nvSpPr>
        <p:spPr>
          <a:xfrm>
            <a:off x="7620000" y="5581650"/>
            <a:ext cx="1828800" cy="0"/>
          </a:xfrm>
          <a:prstGeom prst="line">
            <a:avLst/>
          </a:prstGeom>
          <a:noFill/>
          <a:ln w="9525">
            <a:solidFill>
              <a:srgbClr val="5B4E40"/>
            </a:solidFill>
            <a:prstDash val="solid"/>
          </a:ln>
        </p:spPr>
        <p:txBody>
          <a:bodyPr/>
          <a:lstStyle/>
          <a:p>
            <a:endParaRPr lang="en-US"/>
          </a:p>
        </p:txBody>
      </p:sp>
      <p:sp>
        <p:nvSpPr>
          <p:cNvPr id="53" name="Text 45"/>
          <p:cNvSpPr txBox="1"/>
          <p:nvPr/>
        </p:nvSpPr>
        <p:spPr>
          <a:xfrm>
            <a:off x="7620000" y="5695950"/>
            <a:ext cx="1828800" cy="1181100"/>
          </a:xfrm>
          <a:prstGeom prst="rect">
            <a:avLst/>
          </a:prstGeom>
          <a:noFill/>
          <a:ln/>
        </p:spPr>
        <p:txBody>
          <a:bodyPr wrap="square" lIns="0" tIns="0" rIns="0" bIns="0" rtlCol="0" anchor="t"/>
          <a:lstStyle/>
          <a:p>
            <a:pPr marL="0" indent="0">
              <a:lnSpc>
                <a:spcPts val="1313"/>
              </a:lnSpc>
              <a:buNone/>
            </a:pPr>
            <a:r>
              <a:rPr lang="en-US" sz="938" i="1" dirty="0">
                <a:solidFill>
                  <a:srgbClr val="FFFFFF"/>
                </a:solidFill>
                <a:latin typeface="+mj-lt" pitchFamily="34" charset="0"/>
              </a:rPr>
              <a:t>A buyer will ask how much of the backlog is tied to funded power and data center work, and whether the company has the technicians to perform it at the margins it has earned so far.</a:t>
            </a:r>
            <a:endParaRPr lang="en-US" sz="938" dirty="0"/>
          </a:p>
        </p:txBody>
      </p:sp>
      <p:sp>
        <p:nvSpPr>
          <p:cNvPr id="54"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Featured Engagement: The Carmi Companies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Laredo logistics and customs brokerage group and a Mexico manufacturing services company have combined to form an end-to-end cross-border platform.</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Company descriptions are from the announcement on benchmarkintl.com. Benchmark International counts are for the 24 months to September 30, 2026 and for engagements in progress as of October 1, 2026.</a:t>
            </a:r>
            <a:endParaRPr lang="en-US" sz="675" dirty="0"/>
          </a:p>
        </p:txBody>
      </p:sp>
      <p:sp>
        <p:nvSpPr>
          <p:cNvPr id="5" name="Engagement panel"/>
          <p:cNvSpPr/>
          <p:nvPr/>
        </p:nvSpPr>
        <p:spPr>
          <a:xfrm>
            <a:off x="419100" y="1238250"/>
            <a:ext cx="2724150" cy="5695950"/>
          </a:xfrm>
          <a:prstGeom prst="rect">
            <a:avLst/>
          </a:prstGeom>
          <a:solidFill>
            <a:srgbClr val="1B1A1A"/>
          </a:solidFill>
          <a:ln/>
        </p:spPr>
        <p:txBody>
          <a:bodyPr/>
          <a:lstStyle/>
          <a:p>
            <a:endParaRPr lang="en-US"/>
          </a:p>
        </p:txBody>
      </p:sp>
      <p:pic>
        <p:nvPicPr>
          <p:cNvPr id="6" name="Image 0"/>
          <p:cNvPicPr>
            <a:picLocks noChangeAspect="1"/>
          </p:cNvPicPr>
          <p:nvPr/>
        </p:nvPicPr>
        <p:blipFill>
          <a:blip r:embed="rId3"/>
          <a:srcRect/>
          <a:stretch/>
        </p:blipFill>
        <p:spPr>
          <a:xfrm>
            <a:off x="419100" y="1238250"/>
            <a:ext cx="2724150" cy="1866900"/>
          </a:xfrm>
          <a:prstGeom prst="rect">
            <a:avLst/>
          </a:prstGeom>
        </p:spPr>
      </p:pic>
      <p:sp>
        <p:nvSpPr>
          <p:cNvPr id="7" name="Shape 4"/>
          <p:cNvSpPr/>
          <p:nvPr/>
        </p:nvSpPr>
        <p:spPr>
          <a:xfrm>
            <a:off x="419100" y="3076575"/>
            <a:ext cx="2724150" cy="28575"/>
          </a:xfrm>
          <a:prstGeom prst="rect">
            <a:avLst/>
          </a:prstGeom>
          <a:solidFill>
            <a:srgbClr val="B68757"/>
          </a:solidFill>
          <a:ln/>
        </p:spPr>
        <p:txBody>
          <a:bodyPr/>
          <a:lstStyle/>
          <a:p>
            <a:endParaRPr lang="en-US"/>
          </a:p>
        </p:txBody>
      </p:sp>
      <p:sp>
        <p:nvSpPr>
          <p:cNvPr id="8" name="Text 5"/>
          <p:cNvSpPr txBox="1"/>
          <p:nvPr/>
        </p:nvSpPr>
        <p:spPr>
          <a:xfrm>
            <a:off x="647700" y="33528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INTERNATIONAL ADVISED</a:t>
            </a:r>
            <a:endParaRPr lang="en-US" sz="675" dirty="0"/>
          </a:p>
        </p:txBody>
      </p:sp>
      <p:sp>
        <p:nvSpPr>
          <p:cNvPr id="9" name="Shape 6"/>
          <p:cNvSpPr/>
          <p:nvPr/>
        </p:nvSpPr>
        <p:spPr>
          <a:xfrm>
            <a:off x="647700" y="3600450"/>
            <a:ext cx="2266950" cy="533400"/>
          </a:xfrm>
          <a:prstGeom prst="rect">
            <a:avLst/>
          </a:prstGeom>
          <a:solidFill>
            <a:srgbClr val="FFFFFF"/>
          </a:solidFill>
          <a:ln/>
        </p:spPr>
        <p:txBody>
          <a:bodyPr/>
          <a:lstStyle/>
          <a:p>
            <a:endParaRPr lang="en-US"/>
          </a:p>
        </p:txBody>
      </p:sp>
      <p:sp>
        <p:nvSpPr>
          <p:cNvPr id="10" name="Text 7"/>
          <p:cNvSpPr txBox="1"/>
          <p:nvPr/>
        </p:nvSpPr>
        <p:spPr>
          <a:xfrm>
            <a:off x="647700" y="3600450"/>
            <a:ext cx="2266950" cy="53340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CARMI COMPANIES</a:t>
            </a:r>
            <a:endParaRPr lang="en-US" sz="1275" dirty="0"/>
          </a:p>
        </p:txBody>
      </p:sp>
      <p:sp>
        <p:nvSpPr>
          <p:cNvPr id="11" name="Text 8"/>
          <p:cNvSpPr txBox="1"/>
          <p:nvPr/>
        </p:nvSpPr>
        <p:spPr>
          <a:xfrm>
            <a:off x="647700" y="4229100"/>
            <a:ext cx="2266950" cy="152400"/>
          </a:xfrm>
          <a:prstGeom prst="rect">
            <a:avLst/>
          </a:prstGeom>
          <a:noFill/>
          <a:ln/>
        </p:spPr>
        <p:txBody>
          <a:bodyPr wrap="square" lIns="0" tIns="0" rIns="0" bIns="0" rtlCol="0" anchor="t"/>
          <a:lstStyle/>
          <a:p>
            <a:pPr marL="0" indent="0" algn="ctr">
              <a:buNone/>
            </a:pPr>
            <a:r>
              <a:rPr lang="en-US" sz="675" kern="0" spc="150" dirty="0">
                <a:solidFill>
                  <a:srgbClr val="D9D2C8"/>
                </a:solidFill>
              </a:rPr>
              <a:t>ON ITS TRANSACTION WITH</a:t>
            </a:r>
            <a:endParaRPr lang="en-US" sz="675" dirty="0"/>
          </a:p>
        </p:txBody>
      </p:sp>
      <p:sp>
        <p:nvSpPr>
          <p:cNvPr id="12" name="Shape 9"/>
          <p:cNvSpPr/>
          <p:nvPr/>
        </p:nvSpPr>
        <p:spPr>
          <a:xfrm>
            <a:off x="647700" y="4457700"/>
            <a:ext cx="2266950" cy="666750"/>
          </a:xfrm>
          <a:prstGeom prst="rect">
            <a:avLst/>
          </a:prstGeom>
          <a:solidFill>
            <a:srgbClr val="FFFFFF"/>
          </a:solidFill>
          <a:ln/>
        </p:spPr>
        <p:txBody>
          <a:bodyPr/>
          <a:lstStyle/>
          <a:p>
            <a:endParaRPr lang="en-US"/>
          </a:p>
        </p:txBody>
      </p:sp>
      <p:sp>
        <p:nvSpPr>
          <p:cNvPr id="13" name="Text 10"/>
          <p:cNvSpPr txBox="1"/>
          <p:nvPr/>
        </p:nvSpPr>
        <p:spPr>
          <a:xfrm>
            <a:off x="742950" y="4457700"/>
            <a:ext cx="2076450" cy="66675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NEARSHORE COMPANY</a:t>
            </a:r>
            <a:endParaRPr lang="en-US" sz="1275" dirty="0"/>
          </a:p>
        </p:txBody>
      </p:sp>
      <p:sp>
        <p:nvSpPr>
          <p:cNvPr id="14" name="Text 11"/>
          <p:cNvSpPr txBox="1"/>
          <p:nvPr/>
        </p:nvSpPr>
        <p:spPr>
          <a:xfrm>
            <a:off x="647700" y="5257800"/>
            <a:ext cx="2266950" cy="476250"/>
          </a:xfrm>
          <a:prstGeom prst="rect">
            <a:avLst/>
          </a:prstGeom>
          <a:noFill/>
          <a:ln/>
        </p:spPr>
        <p:txBody>
          <a:bodyPr wrap="square" lIns="0" tIns="0" rIns="0" bIns="0" rtlCol="0" anchor="t"/>
          <a:lstStyle/>
          <a:p>
            <a:pPr marL="0" indent="0" algn="ctr">
              <a:lnSpc>
                <a:spcPts val="1163"/>
              </a:lnSpc>
              <a:buNone/>
            </a:pPr>
            <a:r>
              <a:rPr lang="en-US" sz="788" dirty="0">
                <a:solidFill>
                  <a:srgbClr val="E8E2DA"/>
                </a:solidFill>
              </a:rPr>
              <a:t>Transportation &amp; Logistics</a:t>
            </a:r>
            <a:endParaRPr lang="en-US" sz="788" dirty="0"/>
          </a:p>
          <a:p>
            <a:pPr marL="0" indent="0" algn="ctr">
              <a:lnSpc>
                <a:spcPts val="1163"/>
              </a:lnSpc>
              <a:buNone/>
            </a:pPr>
            <a:r>
              <a:rPr lang="en-US" sz="788" dirty="0">
                <a:solidFill>
                  <a:srgbClr val="E8E2DA"/>
                </a:solidFill>
              </a:rPr>
              <a:t>Cross-border freight, customs brokerage and warehousing</a:t>
            </a:r>
            <a:endParaRPr lang="en-US" sz="788" dirty="0"/>
          </a:p>
        </p:txBody>
      </p:sp>
      <p:sp>
        <p:nvSpPr>
          <p:cNvPr id="15" name="Text 12"/>
          <p:cNvSpPr/>
          <p:nvPr/>
        </p:nvSpPr>
        <p:spPr>
          <a:xfrm>
            <a:off x="914400" y="5905500"/>
            <a:ext cx="1733550" cy="304800"/>
          </a:xfrm>
          <a:prstGeom prst="rect">
            <a:avLst/>
          </a:prstGeom>
          <a:solidFill>
            <a:srgbClr val="B68757"/>
          </a:solidFill>
          <a:ln/>
        </p:spPr>
        <p:txBody>
          <a:bodyPr wrap="square" lIns="0" tIns="0" rIns="0" bIns="0" rtlCol="0" anchor="ctr"/>
          <a:lstStyle/>
          <a:p>
            <a:pPr marL="0" indent="0" algn="ctr">
              <a:buNone/>
            </a:pPr>
            <a:r>
              <a:rPr lang="en-US" sz="675" b="1" u="sng" kern="0" spc="150" dirty="0">
                <a:solidFill>
                  <a:srgbClr val="FFFFFF"/>
                </a:solidFill>
                <a:hlinkClick r:id="rId4">
                  <a:extLst>
                    <a:ext uri="{A12FA001-AC4F-418D-AE19-62706E023703}">
                      <ahyp:hlinkClr xmlns:ahyp="http://schemas.microsoft.com/office/drawing/2018/hyperlinkcolor" val="tx"/>
                    </a:ext>
                  </a:extLst>
                </a:hlinkClick>
              </a:rPr>
              <a:t>READ THE ANNOUNCEMENT</a:t>
            </a:r>
            <a:endParaRPr lang="en-US" sz="675" dirty="0"/>
          </a:p>
        </p:txBody>
      </p:sp>
      <p:sp>
        <p:nvSpPr>
          <p:cNvPr id="16" name="Text 13"/>
          <p:cNvSpPr txBox="1"/>
          <p:nvPr/>
        </p:nvSpPr>
        <p:spPr>
          <a:xfrm>
            <a:off x="3352800" y="12382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CLIENT</a:t>
            </a:r>
            <a:endParaRPr lang="en-US" sz="675" dirty="0"/>
          </a:p>
        </p:txBody>
      </p:sp>
      <p:sp>
        <p:nvSpPr>
          <p:cNvPr id="17" name="Text 14"/>
          <p:cNvSpPr txBox="1"/>
          <p:nvPr/>
        </p:nvSpPr>
        <p:spPr>
          <a:xfrm>
            <a:off x="3352800" y="14001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Carmi Companies</a:t>
            </a:r>
            <a:endParaRPr lang="en-US" sz="1350" dirty="0"/>
          </a:p>
        </p:txBody>
      </p:sp>
      <p:sp>
        <p:nvSpPr>
          <p:cNvPr id="18" name="Text 15"/>
          <p:cNvSpPr txBox="1"/>
          <p:nvPr/>
        </p:nvSpPr>
        <p:spPr>
          <a:xfrm>
            <a:off x="3352800" y="1676400"/>
            <a:ext cx="3752850" cy="6858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1983 in Laredo, Texas, The Carmi Companies is a single-source logistics group that coordinates land, air and ocean freight and provides customs brokerage, warehousing and transloading.</a:t>
            </a:r>
            <a:endParaRPr lang="en-US" sz="885" dirty="0"/>
          </a:p>
        </p:txBody>
      </p:sp>
      <p:sp>
        <p:nvSpPr>
          <p:cNvPr id="19" name="Shape 16"/>
          <p:cNvSpPr/>
          <p:nvPr/>
        </p:nvSpPr>
        <p:spPr>
          <a:xfrm>
            <a:off x="3352800" y="2400300"/>
            <a:ext cx="3752850" cy="0"/>
          </a:xfrm>
          <a:prstGeom prst="line">
            <a:avLst/>
          </a:prstGeom>
          <a:noFill/>
          <a:ln w="9525">
            <a:solidFill>
              <a:srgbClr val="E3DCD3"/>
            </a:solidFill>
            <a:prstDash val="solid"/>
          </a:ln>
        </p:spPr>
        <p:txBody>
          <a:bodyPr/>
          <a:lstStyle/>
          <a:p>
            <a:endParaRPr lang="en-US"/>
          </a:p>
        </p:txBody>
      </p:sp>
      <p:sp>
        <p:nvSpPr>
          <p:cNvPr id="20" name="Text 17"/>
          <p:cNvSpPr txBox="1"/>
          <p:nvPr/>
        </p:nvSpPr>
        <p:spPr>
          <a:xfrm>
            <a:off x="3352800" y="2476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COUNTERPARTY</a:t>
            </a:r>
            <a:endParaRPr lang="en-US" sz="675" dirty="0"/>
          </a:p>
        </p:txBody>
      </p:sp>
      <p:sp>
        <p:nvSpPr>
          <p:cNvPr id="21" name="Text 18"/>
          <p:cNvSpPr txBox="1"/>
          <p:nvPr/>
        </p:nvSpPr>
        <p:spPr>
          <a:xfrm>
            <a:off x="3352800" y="2638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Nearshore Company</a:t>
            </a:r>
            <a:endParaRPr lang="en-US" sz="1350" dirty="0"/>
          </a:p>
        </p:txBody>
      </p:sp>
      <p:sp>
        <p:nvSpPr>
          <p:cNvPr id="22" name="Text 19"/>
          <p:cNvSpPr txBox="1"/>
          <p:nvPr/>
        </p:nvSpPr>
        <p:spPr>
          <a:xfrm>
            <a:off x="3352800" y="2914650"/>
            <a:ext cx="3752850" cy="5905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1992 in Brownsville, Texas, The Nearshore Company offers manufacturing facilities in Mexico together with employer-of-record services.</a:t>
            </a:r>
            <a:endParaRPr lang="en-US" sz="885" dirty="0"/>
          </a:p>
        </p:txBody>
      </p:sp>
      <p:sp>
        <p:nvSpPr>
          <p:cNvPr id="23" name="Shape 20"/>
          <p:cNvSpPr/>
          <p:nvPr/>
        </p:nvSpPr>
        <p:spPr>
          <a:xfrm>
            <a:off x="3352800" y="3543300"/>
            <a:ext cx="3752850" cy="0"/>
          </a:xfrm>
          <a:prstGeom prst="line">
            <a:avLst/>
          </a:prstGeom>
          <a:noFill/>
          <a:ln w="9525">
            <a:solidFill>
              <a:srgbClr val="E3DCD3"/>
            </a:solidFill>
            <a:prstDash val="solid"/>
          </a:ln>
        </p:spPr>
        <p:txBody>
          <a:bodyPr/>
          <a:lstStyle/>
          <a:p>
            <a:endParaRPr lang="en-US"/>
          </a:p>
        </p:txBody>
      </p:sp>
      <p:sp>
        <p:nvSpPr>
          <p:cNvPr id="24" name="Text 21"/>
          <p:cNvSpPr txBox="1"/>
          <p:nvPr/>
        </p:nvSpPr>
        <p:spPr>
          <a:xfrm>
            <a:off x="3352800" y="3619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RATIONALE</a:t>
            </a:r>
            <a:endParaRPr lang="en-US" sz="675" dirty="0"/>
          </a:p>
        </p:txBody>
      </p:sp>
      <p:sp>
        <p:nvSpPr>
          <p:cNvPr id="25" name="Text 22"/>
          <p:cNvSpPr txBox="1"/>
          <p:nvPr/>
        </p:nvSpPr>
        <p:spPr>
          <a:xfrm>
            <a:off x="3352800" y="3781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An end-to-end cross-border platform</a:t>
            </a:r>
            <a:endParaRPr lang="en-US" sz="1350" dirty="0"/>
          </a:p>
        </p:txBody>
      </p:sp>
      <p:sp>
        <p:nvSpPr>
          <p:cNvPr id="26" name="Text 23"/>
          <p:cNvSpPr txBox="1"/>
          <p:nvPr/>
        </p:nvSpPr>
        <p:spPr>
          <a:xfrm>
            <a:off x="3352800" y="4057650"/>
            <a:ext cx="3752850" cy="6477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combination pairs The Nearshore Company’s Mexico manufacturing facilities and employer-of-record services with Carmi’s logistics to form an end-to-end cross-border platform.</a:t>
            </a:r>
            <a:endParaRPr lang="en-US" sz="885" dirty="0"/>
          </a:p>
        </p:txBody>
      </p:sp>
      <p:sp>
        <p:nvSpPr>
          <p:cNvPr id="27" name="Shape 24"/>
          <p:cNvSpPr/>
          <p:nvPr/>
        </p:nvSpPr>
        <p:spPr>
          <a:xfrm>
            <a:off x="3352800" y="4743450"/>
            <a:ext cx="3752850" cy="0"/>
          </a:xfrm>
          <a:prstGeom prst="line">
            <a:avLst/>
          </a:prstGeom>
          <a:noFill/>
          <a:ln w="9525">
            <a:solidFill>
              <a:srgbClr val="E3DCD3"/>
            </a:solidFill>
            <a:prstDash val="solid"/>
          </a:ln>
        </p:spPr>
        <p:txBody>
          <a:bodyPr/>
          <a:lstStyle/>
          <a:p>
            <a:endParaRPr lang="en-US"/>
          </a:p>
        </p:txBody>
      </p:sp>
      <p:sp>
        <p:nvSpPr>
          <p:cNvPr id="28" name="Text 25"/>
          <p:cNvSpPr txBox="1"/>
          <p:nvPr/>
        </p:nvSpPr>
        <p:spPr>
          <a:xfrm>
            <a:off x="3352800" y="48196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MARKET</a:t>
            </a:r>
            <a:endParaRPr lang="en-US" sz="675" dirty="0"/>
          </a:p>
        </p:txBody>
      </p:sp>
      <p:sp>
        <p:nvSpPr>
          <p:cNvPr id="29" name="Text 26"/>
          <p:cNvSpPr txBox="1"/>
          <p:nvPr/>
        </p:nvSpPr>
        <p:spPr>
          <a:xfrm>
            <a:off x="3352800" y="49815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Buyers are paying for border capability</a:t>
            </a:r>
            <a:endParaRPr lang="en-US" sz="1350" dirty="0"/>
          </a:p>
        </p:txBody>
      </p:sp>
      <p:sp>
        <p:nvSpPr>
          <p:cNvPr id="30" name="Text 27"/>
          <p:cNvSpPr txBox="1"/>
          <p:nvPr/>
        </p:nvSpPr>
        <p:spPr>
          <a:xfrm>
            <a:off x="3352800" y="5257800"/>
            <a:ext cx="3752850" cy="16573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Trade with Mexico reached a monthly record of $94.8 billion in July, 27.5% above a year earlier, and $35.9 billion of it moved through Port Laredo (</a:t>
            </a:r>
            <a:r>
              <a:rPr lang="en-US" sz="885" u="sng" dirty="0">
                <a:solidFill>
                  <a:srgbClr val="8C6239"/>
                </a:solidFill>
                <a:hlinkClick r:id="rId5"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885" dirty="0">
                <a:solidFill>
                  <a:srgbClr val="333231"/>
                </a:solidFill>
              </a:rPr>
              <a:t>). Logistics platforms have responded by buying brokers at the border, and Redwood Logistics and Imperative Logistics Group each acquired a founder-owned customs broker in Laredo this year (</a:t>
            </a:r>
            <a:r>
              <a:rPr lang="en-US" sz="885" u="sng" dirty="0">
                <a:solidFill>
                  <a:srgbClr val="8C6239"/>
                </a:solidFill>
                <a:hlinkClick r:id="rId6"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885" dirty="0">
                <a:solidFill>
                  <a:srgbClr val="333231"/>
                </a:solidFill>
              </a:rPr>
              <a:t>; </a:t>
            </a:r>
            <a:r>
              <a:rPr lang="en-US" sz="885" u="sng" dirty="0">
                <a:solidFill>
                  <a:srgbClr val="8C6239"/>
                </a:solidFill>
                <a:hlinkClick r:id="rId7"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885" dirty="0">
                <a:solidFill>
                  <a:srgbClr val="333231"/>
                </a:solidFill>
              </a:rPr>
              <a:t>).</a:t>
            </a:r>
            <a:endParaRPr lang="en-US" sz="885" dirty="0"/>
          </a:p>
        </p:txBody>
      </p:sp>
      <p:sp>
        <p:nvSpPr>
          <p:cNvPr id="31" name="Quote panel"/>
          <p:cNvSpPr/>
          <p:nvPr/>
        </p:nvSpPr>
        <p:spPr>
          <a:xfrm>
            <a:off x="7315200" y="1238250"/>
            <a:ext cx="2324100" cy="1600200"/>
          </a:xfrm>
          <a:prstGeom prst="rect">
            <a:avLst/>
          </a:prstGeom>
          <a:solidFill>
            <a:srgbClr val="FAF7F3"/>
          </a:solidFill>
          <a:ln/>
        </p:spPr>
        <p:txBody>
          <a:bodyPr/>
          <a:lstStyle/>
          <a:p>
            <a:endParaRPr lang="en-US"/>
          </a:p>
        </p:txBody>
      </p:sp>
      <p:sp>
        <p:nvSpPr>
          <p:cNvPr id="32" name="Shape 29"/>
          <p:cNvSpPr/>
          <p:nvPr/>
        </p:nvSpPr>
        <p:spPr>
          <a:xfrm>
            <a:off x="7324725" y="1238250"/>
            <a:ext cx="0" cy="1600200"/>
          </a:xfrm>
          <a:prstGeom prst="line">
            <a:avLst/>
          </a:prstGeom>
          <a:noFill/>
          <a:ln w="28575">
            <a:solidFill>
              <a:srgbClr val="B68757"/>
            </a:solidFill>
            <a:prstDash val="solid"/>
          </a:ln>
        </p:spPr>
        <p:txBody>
          <a:bodyPr/>
          <a:lstStyle/>
          <a:p>
            <a:endParaRPr lang="en-US"/>
          </a:p>
        </p:txBody>
      </p:sp>
      <p:sp>
        <p:nvSpPr>
          <p:cNvPr id="33" name="Text 30"/>
          <p:cNvSpPr txBox="1"/>
          <p:nvPr/>
        </p:nvSpPr>
        <p:spPr>
          <a:xfrm>
            <a:off x="7486650" y="1390650"/>
            <a:ext cx="2000250" cy="857250"/>
          </a:xfrm>
          <a:prstGeom prst="rect">
            <a:avLst/>
          </a:prstGeom>
          <a:noFill/>
          <a:ln/>
        </p:spPr>
        <p:txBody>
          <a:bodyPr wrap="square" lIns="0" tIns="0" rIns="0" bIns="0" rtlCol="0" anchor="t"/>
          <a:lstStyle/>
          <a:p>
            <a:pPr marL="0" indent="0">
              <a:lnSpc>
                <a:spcPts val="1650"/>
              </a:lnSpc>
              <a:buNone/>
            </a:pPr>
            <a:r>
              <a:rPr lang="en-US" sz="1125" i="1" dirty="0">
                <a:solidFill>
                  <a:srgbClr val="1B1A1A"/>
                </a:solidFill>
                <a:latin typeface="+mj-lt" pitchFamily="34" charset="0"/>
              </a:rPr>
              <a:t>“The simplest way to describe today’s market is that buyers are acquiring capabilities rather than capacity.”</a:t>
            </a:r>
            <a:endParaRPr lang="en-US" sz="1125" dirty="0"/>
          </a:p>
        </p:txBody>
      </p:sp>
      <p:sp>
        <p:nvSpPr>
          <p:cNvPr id="34" name="Text 31"/>
          <p:cNvSpPr txBox="1"/>
          <p:nvPr/>
        </p:nvSpPr>
        <p:spPr>
          <a:xfrm>
            <a:off x="7486650" y="2381250"/>
            <a:ext cx="2000250" cy="419100"/>
          </a:xfrm>
          <a:prstGeom prst="rect">
            <a:avLst/>
          </a:prstGeom>
          <a:noFill/>
          <a:ln/>
        </p:spPr>
        <p:txBody>
          <a:bodyPr wrap="square" lIns="0" tIns="0" rIns="0" bIns="0" rtlCol="0" anchor="t"/>
          <a:lstStyle/>
          <a:p>
            <a:pPr marL="0" indent="0">
              <a:lnSpc>
                <a:spcPts val="1013"/>
              </a:lnSpc>
              <a:buNone/>
            </a:pPr>
            <a:r>
              <a:rPr lang="en-US" sz="713" dirty="0">
                <a:solidFill>
                  <a:srgbClr val="6F6A66"/>
                </a:solidFill>
              </a:rPr>
              <a:t>Gaurang Shastri, Managing Director, Lincoln International, speaking to Transport Topics (</a:t>
            </a:r>
            <a:r>
              <a:rPr lang="en-US" sz="713" u="sng" dirty="0">
                <a:solidFill>
                  <a:srgbClr val="8C6239"/>
                </a:solidFill>
                <a:hlinkClick r:id="rId8"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13" dirty="0">
                <a:solidFill>
                  <a:srgbClr val="6F6A66"/>
                </a:solidFill>
              </a:rPr>
              <a:t>)</a:t>
            </a:r>
            <a:endParaRPr lang="en-US" sz="713" dirty="0"/>
          </a:p>
        </p:txBody>
      </p:sp>
      <p:sp>
        <p:nvSpPr>
          <p:cNvPr id="35" name="Segment counts"/>
          <p:cNvSpPr/>
          <p:nvPr/>
        </p:nvSpPr>
        <p:spPr>
          <a:xfrm>
            <a:off x="7315200" y="2971800"/>
            <a:ext cx="2324100" cy="876300"/>
          </a:xfrm>
          <a:prstGeom prst="rect">
            <a:avLst/>
          </a:prstGeom>
          <a:solidFill>
            <a:srgbClr val="FFFFFF"/>
          </a:solidFill>
          <a:ln w="9525">
            <a:solidFill>
              <a:srgbClr val="E3DCD3"/>
            </a:solidFill>
            <a:prstDash val="solid"/>
          </a:ln>
        </p:spPr>
        <p:txBody>
          <a:bodyPr/>
          <a:lstStyle/>
          <a:p>
            <a:endParaRPr lang="en-US"/>
          </a:p>
        </p:txBody>
      </p:sp>
      <p:sp>
        <p:nvSpPr>
          <p:cNvPr id="36" name="Text 33"/>
          <p:cNvSpPr txBox="1"/>
          <p:nvPr/>
        </p:nvSpPr>
        <p:spPr>
          <a:xfrm>
            <a:off x="7486650" y="3086100"/>
            <a:ext cx="20383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 THIS SECTOR</a:t>
            </a:r>
            <a:endParaRPr lang="en-US" sz="675" dirty="0"/>
          </a:p>
        </p:txBody>
      </p:sp>
      <p:sp>
        <p:nvSpPr>
          <p:cNvPr id="37" name="Text 34"/>
          <p:cNvSpPr txBox="1"/>
          <p:nvPr/>
        </p:nvSpPr>
        <p:spPr>
          <a:xfrm>
            <a:off x="748665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3</a:t>
            </a:r>
            <a:endParaRPr lang="en-US" sz="1950" dirty="0"/>
          </a:p>
        </p:txBody>
      </p:sp>
      <p:sp>
        <p:nvSpPr>
          <p:cNvPr id="38" name="Text 35"/>
          <p:cNvSpPr txBox="1"/>
          <p:nvPr/>
        </p:nvSpPr>
        <p:spPr>
          <a:xfrm>
            <a:off x="7486650" y="3543300"/>
            <a:ext cx="95250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transactions closed in the past 24 months</a:t>
            </a:r>
            <a:endParaRPr lang="en-US" sz="713" dirty="0"/>
          </a:p>
        </p:txBody>
      </p:sp>
      <p:sp>
        <p:nvSpPr>
          <p:cNvPr id="39" name="Text 36"/>
          <p:cNvSpPr txBox="1"/>
          <p:nvPr/>
        </p:nvSpPr>
        <p:spPr>
          <a:xfrm>
            <a:off x="861060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14</a:t>
            </a:r>
            <a:endParaRPr lang="en-US" sz="1950" dirty="0"/>
          </a:p>
        </p:txBody>
      </p:sp>
      <p:sp>
        <p:nvSpPr>
          <p:cNvPr id="40" name="Text 37"/>
          <p:cNvSpPr txBox="1"/>
          <p:nvPr/>
        </p:nvSpPr>
        <p:spPr>
          <a:xfrm>
            <a:off x="8610600" y="3543300"/>
            <a:ext cx="85725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engagements in progress</a:t>
            </a:r>
            <a:endParaRPr lang="en-US" sz="713" dirty="0"/>
          </a:p>
        </p:txBody>
      </p:sp>
      <p:sp>
        <p:nvSpPr>
          <p:cNvPr id="41" name="Text 38"/>
          <p:cNvSpPr txBox="1"/>
          <p:nvPr/>
        </p:nvSpPr>
        <p:spPr>
          <a:xfrm>
            <a:off x="7315200" y="4514850"/>
            <a:ext cx="2324100" cy="133350"/>
          </a:xfrm>
          <a:prstGeom prst="rect">
            <a:avLst/>
          </a:prstGeom>
          <a:noFill/>
          <a:ln/>
        </p:spPr>
        <p:txBody>
          <a:bodyPr wrap="square" lIns="0" tIns="0" rIns="0" bIns="0" rtlCol="0" anchor="t"/>
          <a:lstStyle/>
          <a:p>
            <a:pPr marL="0" indent="0">
              <a:buNone/>
            </a:pPr>
            <a:r>
              <a:rPr lang="en-US" sz="675" b="1" kern="0" spc="200" dirty="0">
                <a:solidFill>
                  <a:srgbClr val="8C6239"/>
                </a:solidFill>
              </a:rPr>
              <a:t>TALK WITH THE TEAM</a:t>
            </a:r>
            <a:endParaRPr lang="en-US" sz="675" dirty="0"/>
          </a:p>
        </p:txBody>
      </p:sp>
      <p:sp>
        <p:nvSpPr>
          <p:cNvPr id="42" name="Jared Hardin card"/>
          <p:cNvSpPr/>
          <p:nvPr/>
        </p:nvSpPr>
        <p:spPr>
          <a:xfrm>
            <a:off x="7315200" y="4705350"/>
            <a:ext cx="2324100" cy="781050"/>
          </a:xfrm>
          <a:prstGeom prst="rect">
            <a:avLst/>
          </a:prstGeom>
          <a:solidFill>
            <a:srgbClr val="FAF7F3"/>
          </a:solidFill>
          <a:ln/>
        </p:spPr>
        <p:txBody>
          <a:bodyPr/>
          <a:lstStyle/>
          <a:p>
            <a:endParaRPr lang="en-US"/>
          </a:p>
        </p:txBody>
      </p:sp>
      <p:sp>
        <p:nvSpPr>
          <p:cNvPr id="43" name="Shape 40"/>
          <p:cNvSpPr/>
          <p:nvPr/>
        </p:nvSpPr>
        <p:spPr>
          <a:xfrm>
            <a:off x="7315200" y="4705350"/>
            <a:ext cx="2324100" cy="28575"/>
          </a:xfrm>
          <a:prstGeom prst="rect">
            <a:avLst/>
          </a:prstGeom>
          <a:solidFill>
            <a:srgbClr val="B68757"/>
          </a:solidFill>
          <a:ln/>
        </p:spPr>
        <p:txBody>
          <a:bodyPr/>
          <a:lstStyle/>
          <a:p>
            <a:endParaRPr lang="en-US"/>
          </a:p>
        </p:txBody>
      </p:sp>
      <p:pic>
        <p:nvPicPr>
          <p:cNvPr id="44" name="Image 1"/>
          <p:cNvPicPr>
            <a:picLocks noChangeAspect="1"/>
          </p:cNvPicPr>
          <p:nvPr/>
        </p:nvPicPr>
        <p:blipFill>
          <a:blip r:embed="rId9"/>
          <a:stretch>
            <a:fillRect/>
          </a:stretch>
        </p:blipFill>
        <p:spPr>
          <a:xfrm>
            <a:off x="7429500" y="4867275"/>
            <a:ext cx="476250" cy="476250"/>
          </a:xfrm>
          <a:prstGeom prst="ellipse">
            <a:avLst/>
          </a:prstGeom>
        </p:spPr>
      </p:pic>
      <p:sp>
        <p:nvSpPr>
          <p:cNvPr id="45" name="Text 41"/>
          <p:cNvSpPr txBox="1"/>
          <p:nvPr/>
        </p:nvSpPr>
        <p:spPr>
          <a:xfrm>
            <a:off x="8020050" y="481965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Jared Hardin</a:t>
            </a:r>
            <a:endParaRPr lang="en-US" sz="1125" dirty="0"/>
          </a:p>
        </p:txBody>
      </p:sp>
      <p:sp>
        <p:nvSpPr>
          <p:cNvPr id="46" name="Text 42"/>
          <p:cNvSpPr txBox="1"/>
          <p:nvPr/>
        </p:nvSpPr>
        <p:spPr>
          <a:xfrm>
            <a:off x="8020050" y="501015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47" name="Text 43"/>
          <p:cNvSpPr txBox="1"/>
          <p:nvPr/>
        </p:nvSpPr>
        <p:spPr>
          <a:xfrm>
            <a:off x="8020050" y="5143500"/>
            <a:ext cx="1524000" cy="304800"/>
          </a:xfrm>
          <a:prstGeom prst="rect">
            <a:avLst/>
          </a:prstGeom>
          <a:noFill/>
          <a:ln/>
        </p:spPr>
        <p:txBody>
          <a:bodyPr wrap="square" lIns="0" tIns="0" rIns="0" bIns="0" rtlCol="0" anchor="t"/>
          <a:lstStyle/>
          <a:p>
            <a:pPr marL="0" indent="0">
              <a:lnSpc>
                <a:spcPts val="1050"/>
              </a:lnSpc>
              <a:buNone/>
            </a:pPr>
            <a:r>
              <a:rPr lang="en-US" sz="750" u="sng" dirty="0">
                <a:solidFill>
                  <a:srgbClr val="8C6239"/>
                </a:solidFill>
                <a:hlinkClick r:id="rId10">
                  <a:extLst>
                    <a:ext uri="{A12FA001-AC4F-418D-AE19-62706E023703}">
                      <ahyp:hlinkClr xmlns:ahyp="http://schemas.microsoft.com/office/drawing/2018/hyperlinkcolor" val="tx"/>
                    </a:ext>
                  </a:extLst>
                </a:hlinkClick>
              </a:rPr>
              <a:t>813-771-6675</a:t>
            </a:r>
            <a:endParaRPr lang="en-US" sz="750" dirty="0"/>
          </a:p>
          <a:p>
            <a:pPr marL="0" indent="0">
              <a:lnSpc>
                <a:spcPts val="1050"/>
              </a:lnSpc>
              <a:buNone/>
            </a:pPr>
            <a:r>
              <a:rPr lang="en-US" sz="750" u="sng" dirty="0">
                <a:solidFill>
                  <a:srgbClr val="8C6239"/>
                </a:solidFill>
                <a:hlinkClick r:id="rId11">
                  <a:extLst>
                    <a:ext uri="{A12FA001-AC4F-418D-AE19-62706E023703}">
                      <ahyp:hlinkClr xmlns:ahyp="http://schemas.microsoft.com/office/drawing/2018/hyperlinkcolor" val="tx"/>
                    </a:ext>
                  </a:extLst>
                </a:hlinkClick>
              </a:rPr>
              <a:t>j.hardin@benchmarkintl.com</a:t>
            </a:r>
            <a:endParaRPr lang="en-US" sz="750" dirty="0"/>
          </a:p>
        </p:txBody>
      </p:sp>
      <p:sp>
        <p:nvSpPr>
          <p:cNvPr id="48" name="Jordan Houtz card"/>
          <p:cNvSpPr/>
          <p:nvPr/>
        </p:nvSpPr>
        <p:spPr>
          <a:xfrm>
            <a:off x="7315200" y="5600700"/>
            <a:ext cx="2324100" cy="781050"/>
          </a:xfrm>
          <a:prstGeom prst="rect">
            <a:avLst/>
          </a:prstGeom>
          <a:solidFill>
            <a:srgbClr val="FAF7F3"/>
          </a:solidFill>
          <a:ln/>
        </p:spPr>
        <p:txBody>
          <a:bodyPr/>
          <a:lstStyle/>
          <a:p>
            <a:endParaRPr lang="en-US"/>
          </a:p>
        </p:txBody>
      </p:sp>
      <p:sp>
        <p:nvSpPr>
          <p:cNvPr id="49" name="Shape 45"/>
          <p:cNvSpPr/>
          <p:nvPr/>
        </p:nvSpPr>
        <p:spPr>
          <a:xfrm>
            <a:off x="7315200" y="5600700"/>
            <a:ext cx="2324100" cy="28575"/>
          </a:xfrm>
          <a:prstGeom prst="rect">
            <a:avLst/>
          </a:prstGeom>
          <a:solidFill>
            <a:srgbClr val="B68757"/>
          </a:solidFill>
          <a:ln/>
        </p:spPr>
        <p:txBody>
          <a:bodyPr/>
          <a:lstStyle/>
          <a:p>
            <a:endParaRPr lang="en-US"/>
          </a:p>
        </p:txBody>
      </p:sp>
      <p:pic>
        <p:nvPicPr>
          <p:cNvPr id="50" name="Image 2"/>
          <p:cNvPicPr>
            <a:picLocks noChangeAspect="1"/>
          </p:cNvPicPr>
          <p:nvPr/>
        </p:nvPicPr>
        <p:blipFill>
          <a:blip r:embed="rId12"/>
          <a:stretch>
            <a:fillRect/>
          </a:stretch>
        </p:blipFill>
        <p:spPr>
          <a:xfrm>
            <a:off x="7429500" y="5762625"/>
            <a:ext cx="476250" cy="476250"/>
          </a:xfrm>
          <a:prstGeom prst="ellipse">
            <a:avLst/>
          </a:prstGeom>
        </p:spPr>
      </p:pic>
      <p:sp>
        <p:nvSpPr>
          <p:cNvPr id="51" name="Text 46"/>
          <p:cNvSpPr txBox="1"/>
          <p:nvPr/>
        </p:nvSpPr>
        <p:spPr>
          <a:xfrm>
            <a:off x="8020050" y="571500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Jordan Houtz</a:t>
            </a:r>
            <a:endParaRPr lang="en-US" sz="1125" dirty="0"/>
          </a:p>
        </p:txBody>
      </p:sp>
      <p:sp>
        <p:nvSpPr>
          <p:cNvPr id="52" name="Text 47"/>
          <p:cNvSpPr txBox="1"/>
          <p:nvPr/>
        </p:nvSpPr>
        <p:spPr>
          <a:xfrm>
            <a:off x="8020050" y="590550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53" name="Text 48"/>
          <p:cNvSpPr txBox="1"/>
          <p:nvPr/>
        </p:nvSpPr>
        <p:spPr>
          <a:xfrm>
            <a:off x="8020050" y="6038850"/>
            <a:ext cx="1524000" cy="304800"/>
          </a:xfrm>
          <a:prstGeom prst="rect">
            <a:avLst/>
          </a:prstGeom>
          <a:noFill/>
          <a:ln/>
        </p:spPr>
        <p:txBody>
          <a:bodyPr wrap="square" lIns="0" tIns="0" rIns="0" bIns="0" rtlCol="0" anchor="t"/>
          <a:lstStyle/>
          <a:p>
            <a:pPr marL="0" indent="0">
              <a:lnSpc>
                <a:spcPts val="1050"/>
              </a:lnSpc>
              <a:buNone/>
            </a:pPr>
            <a:r>
              <a:rPr lang="en-US" sz="750" dirty="0">
                <a:solidFill>
                  <a:srgbClr val="6F6A66"/>
                </a:solidFill>
              </a:rPr>
              <a:t/>
            </a:r>
            <a:endParaRPr lang="en-US" sz="750" dirty="0"/>
          </a:p>
        </p:txBody>
      </p:sp>
      <p:sp>
        <p:nvSpPr>
          <p:cNvPr id="54" name="Text 49"/>
          <p:cNvSpPr/>
          <p:nvPr/>
        </p:nvSpPr>
        <p:spPr>
          <a:xfrm>
            <a:off x="7315200" y="6572250"/>
            <a:ext cx="2324100" cy="30480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675" b="1" u="sng" kern="0" spc="150" dirty="0">
                <a:solidFill>
                  <a:srgbClr val="1B1A1A"/>
                </a:solidFill>
                <a:hlinkClick r:id="rId13">
                  <a:extLst>
                    <a:ext uri="{A12FA001-AC4F-418D-AE19-62706E023703}">
                      <ahyp:hlinkClr xmlns:ahyp="http://schemas.microsoft.com/office/drawing/2018/hyperlinkcolor" val="tx"/>
                    </a:ext>
                  </a:extLst>
                </a:hlinkClick>
              </a:rPr>
              <a:t>VIEW MORE TRANSACTIONS</a:t>
            </a:r>
            <a:endParaRPr lang="en-US" sz="675" dirty="0"/>
          </a:p>
        </p:txBody>
      </p:sp>
      <p:sp>
        <p:nvSpPr>
          <p:cNvPr id="5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02</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Industry Activity</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Acquirers announced transactions in every industrial sector during 2026, with sellers that ranged from founder-owned machine shops and customs brokers to companies bought by public acquirers for several billion dollars. Listed industrial companies trade at a median of 16.2 times EBITDA, and the indicators behind demand and financing are pointing in different directions.</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07</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Select recent industrial transactions</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09</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Benchmark International’s industrial transactions</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10</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Public company performance and trends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6"/>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13</a:t>
            </a:r>
            <a:endParaRPr lang="en-US" sz="825" dirty="0"/>
          </a:p>
        </p:txBody>
      </p:sp>
      <p:sp>
        <p:nvSpPr>
          <p:cNvPr id="20" name="Text 17"/>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Economic trends</a:t>
            </a:r>
            <a:endParaRPr lang="en-US" sz="975" dirty="0"/>
          </a:p>
        </p:txBody>
      </p:sp>
      <p:sp>
        <p:nvSpPr>
          <p:cNvPr id="21" name="Shape 18"/>
          <p:cNvSpPr/>
          <p:nvPr/>
        </p:nvSpPr>
        <p:spPr>
          <a:xfrm>
            <a:off x="609600" y="6705600"/>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Public acquirers disclosed prices of about 6 to 10 times EBITDA, and sponsor-owned platforms bought family-owned companies on undisclosed terms.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Transactions advised by Benchmark International appear on page 9.</a:t>
            </a:r>
            <a:endParaRPr lang="en-US" sz="675"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CAT PUMPS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FRANKLIN ELECTRIC</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Franklin Electric acquired Cat Pumps, a Minneapolis maker of high-pressure pumps, for $350 million in cash plus up to $50 million in stock (</a:t>
                      </a:r>
                      <a:r>
                        <a:rPr lang="en-US" sz="810" u="sng" dirty="0">
                          <a:solidFill>
                            <a:srgbClr val="8C6239"/>
                          </a:solidFill>
                          <a:hlinkClick r:id="rId3"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equals about 7.8 times 2025 adjusted EBITDA, by our calculation, for a business with a margin above 35%.</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ADVANCE MFG. 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PRECINMAC</a:t>
                      </a:r>
                      <a:endParaRPr lang="en-US" sz="1200" dirty="0"/>
                    </a:p>
                    <a:p>
                      <a:pPr marL="0" indent="0" algn="l">
                        <a:buNone/>
                      </a:pPr>
                      <a:r>
                        <a:rPr lang="en-US" sz="638" dirty="0">
                          <a:solidFill>
                            <a:srgbClr val="6F6A66"/>
                          </a:solidFill>
                        </a:rPr>
                        <a:t>Centerbridge Partners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Precinmac acquired Advance Mfg. Co. of Westfield, Massachusetts, family-owned since 1961, which supplies machined components, fabrications and Nadcap coating for defense and aerospace customers (</a:t>
                      </a:r>
                      <a:r>
                        <a:rPr lang="en-US" sz="810" u="sng" dirty="0">
                          <a:solidFill>
                            <a:srgbClr val="8C6239"/>
                          </a:solidFill>
                          <a:hlinkClick r:id="rId4"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Sponsor-owned platforms are assembling certified aerospace and defense machining capacity, and Precinmac had acquired Precision Aerospace Holdings of Dallas in April.</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FLOWORKS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FERGUSON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Ferguson agreed to buy FloWorks, a flow control distributor with about $1 billion of revenue, from Wynnchurch Capital for $1.6 billion and completed the purchase in August (</a:t>
                      </a:r>
                      <a:r>
                        <a:rPr lang="en-US" sz="810" u="sng" dirty="0">
                          <a:solidFill>
                            <a:srgbClr val="8C6239"/>
                          </a:solidFill>
                          <a:hlinkClick r:id="rId5"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MDM</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Ferguson described the price as about 10 times trailing adjusted EBITDA after including roughly $45 million of expected synergies (</a:t>
                      </a:r>
                      <a:r>
                        <a:rPr lang="en-US" sz="780" u="sng" dirty="0">
                          <a:solidFill>
                            <a:srgbClr val="8C6239"/>
                          </a:solidFill>
                          <a:hlinkClick r:id="rId6" tooltip="https://www.mdm.com/news/featured/featured-blog/ferguson-makes-1-6b-flow-control-bet-with-floworks-deal/">
                            <a:extLst>
                              <a:ext uri="{A12FA001-AC4F-418D-AE19-62706E023703}">
                                <ahyp:hlinkClr xmlns:ahyp="http://schemas.microsoft.com/office/drawing/2018/hyperlinkcolor" val="tx"/>
                              </a:ext>
                            </a:extLst>
                          </a:hlinkClick>
                        </a:rPr>
                        <a:t>MDM</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METROPLEX WELDING SUPPLY</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MERITUS GAS PARTNERS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Meritus Gas Partners acquired Metroplex Welding Supply of Dallas, a family-owned distributor of industrial gases and welding supplies founded in 1975 with five locations (</a:t>
                      </a:r>
                      <a:r>
                        <a:rPr lang="en-US" sz="810" u="sng" dirty="0">
                          <a:solidFill>
                            <a:srgbClr val="8C6239"/>
                          </a:solidFill>
                          <a:hlinkClick r:id="rId7"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MDM</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Meritus has announced at least five acquisitions in 2026, four of them since July, and nearly every product line now has a specialist acquirer of this kind.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1901 INC.</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LIMBACH HOLDINGS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Limbach acquired 1901 Inc., a mechanical, electrical and plumbing contractor in Madison, Wisconsin, that it expects to contribute about $140 million of revenue, for $63 million plus an earn-out of up to $6 million (</a:t>
                      </a:r>
                      <a:r>
                        <a:rPr lang="en-US" sz="810" u="sng" dirty="0">
                          <a:solidFill>
                            <a:srgbClr val="8C6239"/>
                          </a:solidFill>
                          <a:hlinkClick r:id="rId8" tooltip="https://pulse2.com/limbach-acquires-1901-for-63-million-plus-up-to-6-million-in-earnouts/">
                            <a:extLst>
                              <a:ext uri="{A12FA001-AC4F-418D-AE19-62706E023703}">
                                <ahyp:hlinkClr xmlns:ahyp="http://schemas.microsoft.com/office/drawing/2018/hyperlinkcolor" val="tx"/>
                              </a:ext>
                            </a:extLst>
                          </a:hlinkClick>
                        </a:rPr>
                        <a:t>Pulse 2.0</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is about 5.7 times expected 2027 adjusted EBITDA, by our calculation, just below the 6 to 9 times at which project-based contractors have traded.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 (Continued)</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Buyers in power, environmental services and logistics paid for technicians, permits, equipment supply and border capability they did not already have.</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Two transactions are shown for each of the five industrial sectors across pages 7 and 8.</a:t>
            </a:r>
            <a:endParaRPr lang="en-US" sz="675"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CLARK RIGGING &amp; RENTAL</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BAY CRANE</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Bay Crane acquired Clark Rigging &amp; Rental, a crane rental, rigging and heavy-haul company in upstate New York that had been family-owned since 1954 (</a:t>
                      </a:r>
                      <a:r>
                        <a:rPr lang="en-US" sz="810" u="sng" dirty="0">
                          <a:solidFill>
                            <a:srgbClr val="8C6239"/>
                          </a:solidFill>
                          <a:hlinkClick r:id="rId3"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RER</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Crane, rigging and pump rental each have an active acquirer buying family-owned regional operators.</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ENVIROSERVE</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CLEAN HARBORS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Clean Harbors agreed to buy EnviroServe, a remediation, industrial cleaning and emergency response company with 40 locations, from One Rock Capital Partners for $470 million (</a:t>
                      </a:r>
                      <a:r>
                        <a:rPr lang="en-US" sz="810" u="sng" dirty="0">
                          <a:solidFill>
                            <a:srgbClr val="8C6239"/>
                          </a:solidFill>
                          <a:hlinkClick r:id="rId4" tooltip="https://wasteadvantagemag.com/clean-harbors-to-acquire-enviroserve/">
                            <a:extLst>
                              <a:ext uri="{A12FA001-AC4F-418D-AE19-62706E023703}">
                                <ahyp:hlinkClr xmlns:ahyp="http://schemas.microsoft.com/office/drawing/2018/hyperlinkcolor" val="tx"/>
                              </a:ext>
                            </a:extLst>
                          </a:hlinkClick>
                        </a:rPr>
                        <a:t>Waste Advantage</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agreement followed Clean Harbors’ $305 million deal for ES&amp;H, which it described as 8.7 times EBITDA after synergies (</a:t>
                      </a:r>
                      <a:r>
                        <a:rPr lang="en-US" sz="780" u="sng" dirty="0">
                          <a:solidFill>
                            <a:srgbClr val="8C6239"/>
                          </a:solidFill>
                          <a:hlinkClick r:id="rId5" tooltip="https://www.sec.gov/Archives/edgar/data/0000822818/000082281826000031/clh-q22026pressrelease.htm">
                            <a:extLst>
                              <a:ext uri="{A12FA001-AC4F-418D-AE19-62706E023703}">
                                <ahyp:hlinkClr xmlns:ahyp="http://schemas.microsoft.com/office/drawing/2018/hyperlinkcolor" val="tx"/>
                              </a:ext>
                            </a:extLst>
                          </a:hlinkClick>
                        </a:rPr>
                        <a:t>Clean Harbors</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CORE TRANSFORMERS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MISSION CRITICAL GROUP</a:t>
                      </a:r>
                      <a:endParaRPr lang="en-US" sz="1200" dirty="0"/>
                    </a:p>
                    <a:p>
                      <a:pPr marL="0" indent="0" algn="l">
                        <a:buNone/>
                      </a:pPr>
                      <a:r>
                        <a:rPr lang="en-US" sz="638" dirty="0">
                          <a:solidFill>
                            <a:srgbClr val="6F6A66"/>
                          </a:solidFill>
                        </a:rPr>
                        <a:t>Emerald Lake Capital Management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Mission Critical Group acquired CORE Transformers, a founder-led supplier of new, made-to-order and remanufactured power transformers (</a:t>
                      </a:r>
                      <a:r>
                        <a:rPr lang="en-US" sz="810" u="sng" dirty="0">
                          <a:solidFill>
                            <a:srgbClr val="8C6239"/>
                          </a:solidFill>
                          <a:hlinkClick r:id="rId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It was the buyer’s second power equipment purchase in four months, after the Texas switchgear maker TxLa Systems.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OCTOBER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RXO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C.H. ROBINSON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C.H. Robinson agreed on October 5 to acquire RXO, a truck brokerage, managed transportation and last-mile provider, at an implied value of $5.8 billion, a 29% premium to RXO’s last closing price (</a:t>
                      </a:r>
                      <a:r>
                        <a:rPr lang="en-US" sz="810" u="sng" dirty="0">
                          <a:solidFill>
                            <a:srgbClr val="8C6239"/>
                          </a:solidFill>
                          <a:hlinkClick r:id="rId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About $300 million of expected annual cost savings supports the price at the top of the brokerage market.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MARCH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EELCO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REDWOOD LOGISTICS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Redwood Logistics acquired EELCO, a Laredo, Texas, customs brokerage with a foreign-trade-zone warehouse that had been founder-owned since 1991 (</a:t>
                      </a:r>
                      <a:r>
                        <a:rPr lang="en-US" sz="810" u="sng" dirty="0">
                          <a:solidFill>
                            <a:srgbClr val="8C6239"/>
                          </a:solidFill>
                          <a:hlinkClick r:id="rId8" tooltip="https://www.freightwaves.com/news/redwood-logistics-acquires-laredo-customs-broker-eelco">
                            <a:extLst>
                              <a:ext uri="{A12FA001-AC4F-418D-AE19-62706E023703}">
                                <ahyp:hlinkClr xmlns:ahyp="http://schemas.microsoft.com/office/drawing/2018/hyperlinkcolor" val="tx"/>
                              </a:ext>
                            </a:extLst>
                          </a:hlinkClick>
                        </a:rPr>
                        <a:t>FreightWaves</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Logistics platforms are buying brokers at the border as trade with Mexico sets monthly records.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Benchmark International’s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services is the most active sector, and strategic acquirers were the buyers in more than half of the sales.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tile links to the announcement on benchmarkintl.com. Counts are from Benchmark International’s transaction records for the 24 months to September 30, 2026; engagements in progress are shown in aggregate. Fifty-nine of the 85 closed transactions have been announced publicly.</a:t>
            </a:r>
            <a:endParaRPr lang="en-US" sz="675" dirty="0"/>
          </a:p>
        </p:txBody>
      </p:sp>
      <p:sp>
        <p:nvSpPr>
          <p:cNvPr id="5" name="Counts panel"/>
          <p:cNvSpPr/>
          <p:nvPr/>
        </p:nvSpPr>
        <p:spPr>
          <a:xfrm>
            <a:off x="419100" y="1238250"/>
            <a:ext cx="1752600" cy="5695950"/>
          </a:xfrm>
          <a:prstGeom prst="rect">
            <a:avLst/>
          </a:prstGeom>
          <a:solidFill>
            <a:srgbClr val="1B1A1A"/>
          </a:solidFill>
          <a:ln/>
        </p:spPr>
        <p:txBody>
          <a:bodyPr/>
          <a:lstStyle/>
          <a:p>
            <a:endParaRPr lang="en-US"/>
          </a:p>
        </p:txBody>
      </p:sp>
      <p:sp>
        <p:nvSpPr>
          <p:cNvPr id="6" name="Text 4"/>
          <p:cNvSpPr txBox="1"/>
          <p:nvPr/>
        </p:nvSpPr>
        <p:spPr>
          <a:xfrm>
            <a:off x="609600" y="1447800"/>
            <a:ext cx="1428750" cy="133350"/>
          </a:xfrm>
          <a:prstGeom prst="rect">
            <a:avLst/>
          </a:prstGeom>
          <a:noFill/>
          <a:ln/>
        </p:spPr>
        <p:txBody>
          <a:bodyPr wrap="square" lIns="0" tIns="0" rIns="0" bIns="0" rtlCol="0" anchor="t"/>
          <a:lstStyle/>
          <a:p>
            <a:pPr marL="0" indent="0">
              <a:buNone/>
            </a:pPr>
            <a:r>
              <a:rPr lang="en-US" sz="675" b="1" kern="0" spc="200" dirty="0">
                <a:solidFill>
                  <a:srgbClr val="8C6239"/>
                </a:solidFill>
              </a:rPr>
              <a:t>TRAILING 24 MONTHS</a:t>
            </a:r>
            <a:endParaRPr lang="en-US" sz="675" dirty="0"/>
          </a:p>
        </p:txBody>
      </p:sp>
      <p:sp>
        <p:nvSpPr>
          <p:cNvPr id="7" name="Text 5"/>
          <p:cNvSpPr txBox="1"/>
          <p:nvPr/>
        </p:nvSpPr>
        <p:spPr>
          <a:xfrm>
            <a:off x="609600" y="16954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85</a:t>
            </a:r>
            <a:endParaRPr lang="en-US" sz="3000" dirty="0"/>
          </a:p>
        </p:txBody>
      </p:sp>
      <p:sp>
        <p:nvSpPr>
          <p:cNvPr id="8" name="Text 6"/>
          <p:cNvSpPr txBox="1"/>
          <p:nvPr/>
        </p:nvSpPr>
        <p:spPr>
          <a:xfrm>
            <a:off x="609600" y="21526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transactions closed in the five sectors</a:t>
            </a:r>
            <a:endParaRPr lang="en-US" sz="795" dirty="0"/>
          </a:p>
        </p:txBody>
      </p:sp>
      <p:sp>
        <p:nvSpPr>
          <p:cNvPr id="9" name="Shape 7"/>
          <p:cNvSpPr/>
          <p:nvPr/>
        </p:nvSpPr>
        <p:spPr>
          <a:xfrm>
            <a:off x="609600" y="2838450"/>
            <a:ext cx="1371600" cy="0"/>
          </a:xfrm>
          <a:prstGeom prst="line">
            <a:avLst/>
          </a:prstGeom>
          <a:noFill/>
          <a:ln w="9525">
            <a:solidFill>
              <a:srgbClr val="5B4E40"/>
            </a:solidFill>
            <a:prstDash val="solid"/>
          </a:ln>
        </p:spPr>
        <p:txBody>
          <a:bodyPr/>
          <a:lstStyle/>
          <a:p>
            <a:endParaRPr lang="en-US"/>
          </a:p>
        </p:txBody>
      </p:sp>
      <p:sp>
        <p:nvSpPr>
          <p:cNvPr id="10" name="Text 8"/>
          <p:cNvSpPr txBox="1"/>
          <p:nvPr/>
        </p:nvSpPr>
        <p:spPr>
          <a:xfrm>
            <a:off x="609600" y="29527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212</a:t>
            </a:r>
            <a:endParaRPr lang="en-US" sz="3000" dirty="0"/>
          </a:p>
        </p:txBody>
      </p:sp>
      <p:sp>
        <p:nvSpPr>
          <p:cNvPr id="11" name="Text 9"/>
          <p:cNvSpPr txBox="1"/>
          <p:nvPr/>
        </p:nvSpPr>
        <p:spPr>
          <a:xfrm>
            <a:off x="609600" y="34099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engagements in progress as of October 1, 2026</a:t>
            </a:r>
            <a:endParaRPr lang="en-US" sz="795" dirty="0"/>
          </a:p>
        </p:txBody>
      </p:sp>
      <p:sp>
        <p:nvSpPr>
          <p:cNvPr id="12" name="Shape 10"/>
          <p:cNvSpPr/>
          <p:nvPr/>
        </p:nvSpPr>
        <p:spPr>
          <a:xfrm>
            <a:off x="609600" y="4095750"/>
            <a:ext cx="1371600" cy="0"/>
          </a:xfrm>
          <a:prstGeom prst="line">
            <a:avLst/>
          </a:prstGeom>
          <a:noFill/>
          <a:ln w="9525">
            <a:solidFill>
              <a:srgbClr val="5B4E40"/>
            </a:solidFill>
            <a:prstDash val="solid"/>
          </a:ln>
        </p:spPr>
        <p:txBody>
          <a:bodyPr/>
          <a:lstStyle/>
          <a:p>
            <a:endParaRPr lang="en-US"/>
          </a:p>
        </p:txBody>
      </p:sp>
      <p:sp>
        <p:nvSpPr>
          <p:cNvPr id="13" name="Text 11"/>
          <p:cNvSpPr txBox="1"/>
          <p:nvPr/>
        </p:nvSpPr>
        <p:spPr>
          <a:xfrm>
            <a:off x="609600" y="42100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56%</a:t>
            </a:r>
            <a:endParaRPr lang="en-US" sz="3000" dirty="0"/>
          </a:p>
        </p:txBody>
      </p:sp>
      <p:sp>
        <p:nvSpPr>
          <p:cNvPr id="14" name="Text 12"/>
          <p:cNvSpPr txBox="1"/>
          <p:nvPr/>
        </p:nvSpPr>
        <p:spPr>
          <a:xfrm>
            <a:off x="609600" y="46672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of the 71 companies with a classified buyer were bought by a strategic acquirer</a:t>
            </a:r>
            <a:endParaRPr lang="en-US" sz="795" dirty="0"/>
          </a:p>
        </p:txBody>
      </p:sp>
      <p:sp>
        <p:nvSpPr>
          <p:cNvPr id="15" name="Shape 13"/>
          <p:cNvSpPr/>
          <p:nvPr/>
        </p:nvSpPr>
        <p:spPr>
          <a:xfrm>
            <a:off x="609600" y="5848350"/>
            <a:ext cx="1371600" cy="0"/>
          </a:xfrm>
          <a:prstGeom prst="line">
            <a:avLst/>
          </a:prstGeom>
          <a:noFill/>
          <a:ln w="9525">
            <a:solidFill>
              <a:srgbClr val="5B4E40"/>
            </a:solidFill>
            <a:prstDash val="solid"/>
          </a:ln>
        </p:spPr>
        <p:txBody>
          <a:bodyPr/>
          <a:lstStyle/>
          <a:p>
            <a:endParaRPr lang="en-US"/>
          </a:p>
        </p:txBody>
      </p:sp>
      <p:sp>
        <p:nvSpPr>
          <p:cNvPr id="16" name="Text 14"/>
          <p:cNvSpPr txBox="1"/>
          <p:nvPr/>
        </p:nvSpPr>
        <p:spPr>
          <a:xfrm>
            <a:off x="609600" y="5943600"/>
            <a:ext cx="1371600" cy="914400"/>
          </a:xfrm>
          <a:prstGeom prst="rect">
            <a:avLst/>
          </a:prstGeom>
          <a:noFill/>
          <a:ln/>
        </p:spPr>
        <p:txBody>
          <a:bodyPr wrap="square" lIns="0" tIns="0" rIns="0" bIns="0" rtlCol="0" anchor="t"/>
          <a:lstStyle/>
          <a:p>
            <a:pPr marL="0" indent="0">
              <a:lnSpc>
                <a:spcPts val="1050"/>
              </a:lnSpc>
              <a:buNone/>
            </a:pPr>
            <a:r>
              <a:rPr lang="en-US" sz="720" dirty="0">
                <a:solidFill>
                  <a:srgbClr val="E8E2DA"/>
                </a:solidFill>
              </a:rPr>
              <a:t>Ranked the leading privately owned sell-side M&amp;A advisor in the world in PitchBook’s Q2 2026 Global League Tables (</a:t>
            </a:r>
            <a:r>
              <a:rPr lang="en-US" sz="720" u="sng" dirty="0">
                <a:solidFill>
                  <a:srgbClr val="D3AE84"/>
                </a:solidFill>
                <a:hlinkClick r:id="rId3" tooltip="https://www.benchmarkintl.com/">
                  <a:extLst>
                    <a:ext uri="{A12FA001-AC4F-418D-AE19-62706E023703}">
                      <ahyp:hlinkClr xmlns:ahyp="http://schemas.microsoft.com/office/drawing/2018/hyperlinkcolor" val="tx"/>
                    </a:ext>
                  </a:extLst>
                </a:hlinkClick>
              </a:rPr>
              <a:t>Benchmark International</a:t>
            </a:r>
            <a:r>
              <a:rPr lang="en-US" sz="720" dirty="0">
                <a:solidFill>
                  <a:srgbClr val="E8E2DA"/>
                </a:solidFill>
              </a:rPr>
              <a:t>).</a:t>
            </a:r>
            <a:endParaRPr lang="en-US" sz="720" dirty="0"/>
          </a:p>
        </p:txBody>
      </p:sp>
      <p:sp>
        <p:nvSpPr>
          <p:cNvPr id="17" name="Text 15"/>
          <p:cNvSpPr txBox="1"/>
          <p:nvPr/>
        </p:nvSpPr>
        <p:spPr>
          <a:xfrm>
            <a:off x="2324100" y="123825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BY SECTOR</a:t>
            </a:r>
            <a:endParaRPr lang="en-US" sz="675" dirty="0"/>
          </a:p>
        </p:txBody>
      </p:sp>
      <p:graphicFrame>
        <p:nvGraphicFramePr>
          <p:cNvPr id="18" name="Closed and in progress by segment"/>
          <p:cNvGraphicFramePr/>
          <p:nvPr/>
        </p:nvGraphicFramePr>
        <p:xfrm>
          <a:off x="2266950" y="1390650"/>
          <a:ext cx="2571750" cy="3676650"/>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6"/>
          <p:cNvSpPr/>
          <p:nvPr/>
        </p:nvSpPr>
        <p:spPr>
          <a:xfrm>
            <a:off x="2324100" y="5200650"/>
            <a:ext cx="2476500" cy="0"/>
          </a:xfrm>
          <a:prstGeom prst="line">
            <a:avLst/>
          </a:prstGeom>
          <a:noFill/>
          <a:ln w="19050">
            <a:solidFill>
              <a:srgbClr val="B68757"/>
            </a:solidFill>
            <a:prstDash val="solid"/>
          </a:ln>
        </p:spPr>
        <p:txBody>
          <a:bodyPr/>
          <a:lstStyle/>
          <a:p>
            <a:endParaRPr lang="en-US"/>
          </a:p>
        </p:txBody>
      </p:sp>
      <p:sp>
        <p:nvSpPr>
          <p:cNvPr id="20" name="Text 17"/>
          <p:cNvSpPr txBox="1"/>
          <p:nvPr/>
        </p:nvSpPr>
        <p:spPr>
          <a:xfrm>
            <a:off x="2324100" y="529590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WHO BOUGHT</a:t>
            </a:r>
            <a:endParaRPr lang="en-US" sz="675"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2324100" y="5486400"/>
          <a:ext cx="2476500" cy="1371600"/>
        </p:xfrm>
        <a:graphic>
          <a:graphicData uri="http://schemas.openxmlformats.org/drawingml/2006/table">
            <a:tbl>
              <a:tblPr/>
              <a:tblGrid>
                <a:gridCol w="1619250">
                  <a:extLst>
                    <a:ext uri="{9D8B030D-6E8A-4147-A177-3AD203B41FA5}">
                      <a16:colId xmlns:a16="http://schemas.microsoft.com/office/drawing/2014/main" val="20000"/>
                    </a:ext>
                  </a:extLst>
                </a:gridCol>
                <a:gridCol w="381000">
                  <a:extLst>
                    <a:ext uri="{9D8B030D-6E8A-4147-A177-3AD203B41FA5}">
                      <a16:colId xmlns:a16="http://schemas.microsoft.com/office/drawing/2014/main" val="20001"/>
                    </a:ext>
                  </a:extLst>
                </a:gridCol>
                <a:gridCol w="476250">
                  <a:extLst>
                    <a:ext uri="{9D8B030D-6E8A-4147-A177-3AD203B41FA5}">
                      <a16:colId xmlns:a16="http://schemas.microsoft.com/office/drawing/2014/main" val="20002"/>
                    </a:ext>
                  </a:extLst>
                </a:gridCol>
              </a:tblGrid>
              <a:tr h="342900">
                <a:tc>
                  <a:txBody>
                    <a:bodyPr/>
                    <a:lstStyle/>
                    <a:p>
                      <a:pPr marL="0" indent="0">
                        <a:buNone/>
                      </a:pPr>
                      <a:r>
                        <a:rPr lang="en-US" sz="720" dirty="0">
                          <a:solidFill>
                            <a:srgbClr val="333231"/>
                          </a:solidFill>
                        </a:rPr>
                        <a:t>Strategic acquirer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40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56%</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0"/>
                  </a:ext>
                </a:extLst>
              </a:tr>
              <a:tr h="342900">
                <a:tc>
                  <a:txBody>
                    <a:bodyPr/>
                    <a:lstStyle/>
                    <a:p>
                      <a:pPr marL="0" indent="0">
                        <a:buNone/>
                      </a:pPr>
                      <a:r>
                        <a:rPr lang="en-US" sz="720" dirty="0">
                          <a:solidFill>
                            <a:srgbClr val="333231"/>
                          </a:solidFill>
                        </a:rPr>
                        <a:t>Sponsor-owned platform</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13</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1"/>
                  </a:ext>
                </a:extLst>
              </a:tr>
              <a:tr h="342900">
                <a:tc>
                  <a:txBody>
                    <a:bodyPr/>
                    <a:lstStyle/>
                    <a:p>
                      <a:pPr marL="0" indent="0">
                        <a:buNone/>
                      </a:pPr>
                      <a:r>
                        <a:rPr lang="en-US" sz="720" dirty="0">
                          <a:solidFill>
                            <a:srgbClr val="333231"/>
                          </a:solidFill>
                        </a:rPr>
                        <a:t>Financial sponsor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14%</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2"/>
                  </a:ext>
                </a:extLst>
              </a:tr>
              <a:tr h="342900">
                <a:tc>
                  <a:txBody>
                    <a:bodyPr/>
                    <a:lstStyle/>
                    <a:p>
                      <a:pPr marL="0" indent="0">
                        <a:buNone/>
                      </a:pPr>
                      <a:r>
                        <a:rPr lang="en-US" sz="720" dirty="0">
                          <a:solidFill>
                            <a:srgbClr val="333231"/>
                          </a:solidFill>
                        </a:rPr>
                        <a:t>Individual investor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11%</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2" name="Text 18"/>
          <p:cNvSpPr txBox="1"/>
          <p:nvPr/>
        </p:nvSpPr>
        <p:spPr>
          <a:xfrm>
            <a:off x="4953000" y="1238250"/>
            <a:ext cx="4686300" cy="133350"/>
          </a:xfrm>
          <a:prstGeom prst="rect">
            <a:avLst/>
          </a:prstGeom>
          <a:noFill/>
          <a:ln/>
        </p:spPr>
        <p:txBody>
          <a:bodyPr wrap="square" lIns="0" tIns="0" rIns="0" bIns="0" rtlCol="0" anchor="t"/>
          <a:lstStyle/>
          <a:p>
            <a:pPr marL="0" indent="0">
              <a:buNone/>
            </a:pPr>
            <a:r>
              <a:rPr lang="en-US" sz="675" b="1" kern="0" spc="200" dirty="0">
                <a:solidFill>
                  <a:srgbClr val="8C6239"/>
                </a:solidFill>
              </a:rPr>
              <a:t>SELECTED ANNOUNCED ENGAGEMENTS</a:t>
            </a:r>
            <a:endParaRPr lang="en-US" sz="675" dirty="0"/>
          </a:p>
        </p:txBody>
      </p:sp>
      <p:sp>
        <p:nvSpPr>
          <p:cNvPr id="23" name="FPS Technologies, Inc. tile"/>
          <p:cNvSpPr/>
          <p:nvPr/>
        </p:nvSpPr>
        <p:spPr>
          <a:xfrm>
            <a:off x="495300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24" name="Shape 20"/>
          <p:cNvSpPr/>
          <p:nvPr/>
        </p:nvSpPr>
        <p:spPr>
          <a:xfrm>
            <a:off x="4953000" y="1447800"/>
            <a:ext cx="1504950" cy="28575"/>
          </a:xfrm>
          <a:prstGeom prst="rect">
            <a:avLst/>
          </a:prstGeom>
          <a:solidFill>
            <a:srgbClr val="B68757"/>
          </a:solidFill>
          <a:ln/>
        </p:spPr>
        <p:txBody>
          <a:bodyPr/>
          <a:lstStyle/>
          <a:p>
            <a:endParaRPr lang="en-US"/>
          </a:p>
        </p:txBody>
      </p:sp>
      <p:sp>
        <p:nvSpPr>
          <p:cNvPr id="25" name="Text 21"/>
          <p:cNvSpPr txBox="1"/>
          <p:nvPr/>
        </p:nvSpPr>
        <p:spPr>
          <a:xfrm>
            <a:off x="502920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5" tooltip="Announcement on benchmarkintl.com">
                  <a:extLst>
                    <a:ext uri="{A12FA001-AC4F-418D-AE19-62706E023703}">
                      <ahyp:hlinkClr xmlns:ahyp="http://schemas.microsoft.com/office/drawing/2018/hyperlinkcolor" val="tx"/>
                    </a:ext>
                  </a:extLst>
                </a:hlinkClick>
              </a:rPr>
              <a:t>FPS Technologies, Inc.</a:t>
            </a:r>
            <a:endParaRPr lang="en-US" sz="750" dirty="0"/>
          </a:p>
        </p:txBody>
      </p:sp>
      <p:sp>
        <p:nvSpPr>
          <p:cNvPr id="26" name="Text 22"/>
          <p:cNvSpPr txBox="1"/>
          <p:nvPr/>
        </p:nvSpPr>
        <p:spPr>
          <a:xfrm>
            <a:off x="502920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27" name="Shape 23"/>
          <p:cNvSpPr/>
          <p:nvPr/>
        </p:nvSpPr>
        <p:spPr>
          <a:xfrm>
            <a:off x="5029200" y="1933575"/>
            <a:ext cx="1352550" cy="266700"/>
          </a:xfrm>
          <a:prstGeom prst="rect">
            <a:avLst/>
          </a:prstGeom>
          <a:solidFill>
            <a:srgbClr val="FAF7F3"/>
          </a:solidFill>
          <a:ln/>
        </p:spPr>
        <p:txBody>
          <a:bodyPr/>
          <a:lstStyle/>
          <a:p>
            <a:endParaRPr lang="en-US"/>
          </a:p>
        </p:txBody>
      </p:sp>
      <p:sp>
        <p:nvSpPr>
          <p:cNvPr id="28" name="Text 24"/>
          <p:cNvSpPr txBox="1"/>
          <p:nvPr/>
        </p:nvSpPr>
        <p:spPr>
          <a:xfrm>
            <a:off x="504825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CINTAS CORPORATION</a:t>
            </a:r>
            <a:endParaRPr lang="en-US" sz="675" dirty="0"/>
          </a:p>
        </p:txBody>
      </p:sp>
      <p:sp>
        <p:nvSpPr>
          <p:cNvPr id="29" name="Text 25"/>
          <p:cNvSpPr txBox="1"/>
          <p:nvPr/>
        </p:nvSpPr>
        <p:spPr>
          <a:xfrm>
            <a:off x="502920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Fire suppression and detection systems</a:t>
            </a:r>
            <a:endParaRPr lang="en-US" sz="690" dirty="0"/>
          </a:p>
        </p:txBody>
      </p:sp>
      <p:sp>
        <p:nvSpPr>
          <p:cNvPr id="30" name="Text 26"/>
          <p:cNvSpPr txBox="1"/>
          <p:nvPr/>
        </p:nvSpPr>
        <p:spPr>
          <a:xfrm>
            <a:off x="502920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31" name="MaxVac Inc. tile"/>
          <p:cNvSpPr/>
          <p:nvPr/>
        </p:nvSpPr>
        <p:spPr>
          <a:xfrm>
            <a:off x="6543675"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32" name="Shape 28"/>
          <p:cNvSpPr/>
          <p:nvPr/>
        </p:nvSpPr>
        <p:spPr>
          <a:xfrm>
            <a:off x="6543675" y="1447800"/>
            <a:ext cx="1504950" cy="28575"/>
          </a:xfrm>
          <a:prstGeom prst="rect">
            <a:avLst/>
          </a:prstGeom>
          <a:solidFill>
            <a:srgbClr val="B68757"/>
          </a:solidFill>
          <a:ln/>
        </p:spPr>
        <p:txBody>
          <a:bodyPr/>
          <a:lstStyle/>
          <a:p>
            <a:endParaRPr lang="en-US"/>
          </a:p>
        </p:txBody>
      </p:sp>
      <p:sp>
        <p:nvSpPr>
          <p:cNvPr id="33" name="Text 29"/>
          <p:cNvSpPr txBox="1"/>
          <p:nvPr/>
        </p:nvSpPr>
        <p:spPr>
          <a:xfrm>
            <a:off x="6619875"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6" tooltip="Announcement on benchmarkintl.com">
                  <a:extLst>
                    <a:ext uri="{A12FA001-AC4F-418D-AE19-62706E023703}">
                      <ahyp:hlinkClr xmlns:ahyp="http://schemas.microsoft.com/office/drawing/2018/hyperlinkcolor" val="tx"/>
                    </a:ext>
                  </a:extLst>
                </a:hlinkClick>
              </a:rPr>
              <a:t>MaxVac Inc.</a:t>
            </a:r>
            <a:endParaRPr lang="en-US" sz="750" dirty="0"/>
          </a:p>
        </p:txBody>
      </p:sp>
      <p:sp>
        <p:nvSpPr>
          <p:cNvPr id="34" name="Text 30"/>
          <p:cNvSpPr txBox="1"/>
          <p:nvPr/>
        </p:nvSpPr>
        <p:spPr>
          <a:xfrm>
            <a:off x="6619875"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35" name="Shape 31"/>
          <p:cNvSpPr/>
          <p:nvPr/>
        </p:nvSpPr>
        <p:spPr>
          <a:xfrm>
            <a:off x="6619875" y="1933575"/>
            <a:ext cx="1352550" cy="266700"/>
          </a:xfrm>
          <a:prstGeom prst="rect">
            <a:avLst/>
          </a:prstGeom>
          <a:solidFill>
            <a:srgbClr val="FAF7F3"/>
          </a:solidFill>
          <a:ln/>
        </p:spPr>
        <p:txBody>
          <a:bodyPr/>
          <a:lstStyle/>
          <a:p>
            <a:endParaRPr lang="en-US"/>
          </a:p>
        </p:txBody>
      </p:sp>
      <p:sp>
        <p:nvSpPr>
          <p:cNvPr id="36" name="Text 32"/>
          <p:cNvSpPr txBox="1"/>
          <p:nvPr/>
        </p:nvSpPr>
        <p:spPr>
          <a:xfrm>
            <a:off x="6638925"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DXP ENTERPRISES, INC.</a:t>
            </a:r>
            <a:endParaRPr lang="en-US" sz="675" dirty="0"/>
          </a:p>
        </p:txBody>
      </p:sp>
      <p:sp>
        <p:nvSpPr>
          <p:cNvPr id="37" name="Text 33"/>
          <p:cNvSpPr txBox="1"/>
          <p:nvPr/>
        </p:nvSpPr>
        <p:spPr>
          <a:xfrm>
            <a:off x="6619875"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Sales, repair and maintenance of industrial vacuum pumps</a:t>
            </a:r>
            <a:endParaRPr lang="en-US" sz="690" dirty="0"/>
          </a:p>
        </p:txBody>
      </p:sp>
      <p:sp>
        <p:nvSpPr>
          <p:cNvPr id="38" name="Text 34"/>
          <p:cNvSpPr txBox="1"/>
          <p:nvPr/>
        </p:nvSpPr>
        <p:spPr>
          <a:xfrm>
            <a:off x="6619875"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39" name="Trinity Industrial Services, LLC tile"/>
          <p:cNvSpPr/>
          <p:nvPr/>
        </p:nvSpPr>
        <p:spPr>
          <a:xfrm>
            <a:off x="813435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40" name="Shape 36"/>
          <p:cNvSpPr/>
          <p:nvPr/>
        </p:nvSpPr>
        <p:spPr>
          <a:xfrm>
            <a:off x="8134350" y="1447800"/>
            <a:ext cx="1504950" cy="28575"/>
          </a:xfrm>
          <a:prstGeom prst="rect">
            <a:avLst/>
          </a:prstGeom>
          <a:solidFill>
            <a:srgbClr val="B68757"/>
          </a:solidFill>
          <a:ln/>
        </p:spPr>
        <p:txBody>
          <a:bodyPr/>
          <a:lstStyle/>
          <a:p>
            <a:endParaRPr lang="en-US"/>
          </a:p>
        </p:txBody>
      </p:sp>
      <p:sp>
        <p:nvSpPr>
          <p:cNvPr id="41" name="Text 37"/>
          <p:cNvSpPr txBox="1"/>
          <p:nvPr/>
        </p:nvSpPr>
        <p:spPr>
          <a:xfrm>
            <a:off x="821055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7" tooltip="Announcement on benchmarkintl.com">
                  <a:extLst>
                    <a:ext uri="{A12FA001-AC4F-418D-AE19-62706E023703}">
                      <ahyp:hlinkClr xmlns:ahyp="http://schemas.microsoft.com/office/drawing/2018/hyperlinkcolor" val="tx"/>
                    </a:ext>
                  </a:extLst>
                </a:hlinkClick>
              </a:rPr>
              <a:t>Trinity Industrial Services, LLC</a:t>
            </a:r>
            <a:endParaRPr lang="en-US" sz="750" dirty="0"/>
          </a:p>
        </p:txBody>
      </p:sp>
      <p:sp>
        <p:nvSpPr>
          <p:cNvPr id="42" name="Text 38"/>
          <p:cNvSpPr txBox="1"/>
          <p:nvPr/>
        </p:nvSpPr>
        <p:spPr>
          <a:xfrm>
            <a:off x="821055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43" name="Shape 39"/>
          <p:cNvSpPr/>
          <p:nvPr/>
        </p:nvSpPr>
        <p:spPr>
          <a:xfrm>
            <a:off x="8210550" y="1933575"/>
            <a:ext cx="1352550" cy="266700"/>
          </a:xfrm>
          <a:prstGeom prst="rect">
            <a:avLst/>
          </a:prstGeom>
          <a:solidFill>
            <a:srgbClr val="FAF7F3"/>
          </a:solidFill>
          <a:ln/>
        </p:spPr>
        <p:txBody>
          <a:bodyPr/>
          <a:lstStyle/>
          <a:p>
            <a:endParaRPr lang="en-US"/>
          </a:p>
        </p:txBody>
      </p:sp>
      <p:sp>
        <p:nvSpPr>
          <p:cNvPr id="44" name="Text 40"/>
          <p:cNvSpPr txBox="1"/>
          <p:nvPr/>
        </p:nvSpPr>
        <p:spPr>
          <a:xfrm>
            <a:off x="822960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AECON GROUP INC.</a:t>
            </a:r>
            <a:endParaRPr lang="en-US" sz="675" dirty="0"/>
          </a:p>
        </p:txBody>
      </p:sp>
      <p:sp>
        <p:nvSpPr>
          <p:cNvPr id="45" name="Text 41"/>
          <p:cNvSpPr txBox="1"/>
          <p:nvPr/>
        </p:nvSpPr>
        <p:spPr>
          <a:xfrm>
            <a:off x="821055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maintenance, capital projects and turnarounds</a:t>
            </a:r>
            <a:endParaRPr lang="en-US" sz="690" dirty="0"/>
          </a:p>
        </p:txBody>
      </p:sp>
      <p:sp>
        <p:nvSpPr>
          <p:cNvPr id="46" name="Text 42"/>
          <p:cNvSpPr txBox="1"/>
          <p:nvPr/>
        </p:nvSpPr>
        <p:spPr>
          <a:xfrm>
            <a:off x="821055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47" name="Invocon, Inc. tile"/>
          <p:cNvSpPr/>
          <p:nvPr/>
        </p:nvSpPr>
        <p:spPr>
          <a:xfrm>
            <a:off x="495300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48" name="Shape 44"/>
          <p:cNvSpPr/>
          <p:nvPr/>
        </p:nvSpPr>
        <p:spPr>
          <a:xfrm>
            <a:off x="4953000" y="2840831"/>
            <a:ext cx="1504950" cy="28575"/>
          </a:xfrm>
          <a:prstGeom prst="rect">
            <a:avLst/>
          </a:prstGeom>
          <a:solidFill>
            <a:srgbClr val="B68757"/>
          </a:solidFill>
          <a:ln/>
        </p:spPr>
        <p:txBody>
          <a:bodyPr/>
          <a:lstStyle/>
          <a:p>
            <a:endParaRPr lang="en-US"/>
          </a:p>
        </p:txBody>
      </p:sp>
      <p:sp>
        <p:nvSpPr>
          <p:cNvPr id="49" name="Text 45"/>
          <p:cNvSpPr txBox="1"/>
          <p:nvPr/>
        </p:nvSpPr>
        <p:spPr>
          <a:xfrm>
            <a:off x="502920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8" tooltip="Announcement on benchmarkintl.com">
                  <a:extLst>
                    <a:ext uri="{A12FA001-AC4F-418D-AE19-62706E023703}">
                      <ahyp:hlinkClr xmlns:ahyp="http://schemas.microsoft.com/office/drawing/2018/hyperlinkcolor" val="tx"/>
                    </a:ext>
                  </a:extLst>
                </a:hlinkClick>
              </a:rPr>
              <a:t>Invocon, Inc.</a:t>
            </a:r>
            <a:endParaRPr lang="en-US" sz="750" dirty="0"/>
          </a:p>
        </p:txBody>
      </p:sp>
      <p:sp>
        <p:nvSpPr>
          <p:cNvPr id="50" name="Text 46"/>
          <p:cNvSpPr txBox="1"/>
          <p:nvPr/>
        </p:nvSpPr>
        <p:spPr>
          <a:xfrm>
            <a:off x="502920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1" name="Shape 47"/>
          <p:cNvSpPr/>
          <p:nvPr/>
        </p:nvSpPr>
        <p:spPr>
          <a:xfrm>
            <a:off x="5029200" y="3326606"/>
            <a:ext cx="1352550" cy="266700"/>
          </a:xfrm>
          <a:prstGeom prst="rect">
            <a:avLst/>
          </a:prstGeom>
          <a:solidFill>
            <a:srgbClr val="FAF7F3"/>
          </a:solidFill>
          <a:ln/>
        </p:spPr>
        <p:txBody>
          <a:bodyPr/>
          <a:lstStyle/>
          <a:p>
            <a:endParaRPr lang="en-US"/>
          </a:p>
        </p:txBody>
      </p:sp>
      <p:sp>
        <p:nvSpPr>
          <p:cNvPr id="52" name="Text 48"/>
          <p:cNvSpPr txBox="1"/>
          <p:nvPr/>
        </p:nvSpPr>
        <p:spPr>
          <a:xfrm>
            <a:off x="504825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CEMTREX, INC.</a:t>
            </a:r>
            <a:endParaRPr lang="en-US" sz="675" dirty="0"/>
          </a:p>
        </p:txBody>
      </p:sp>
      <p:sp>
        <p:nvSpPr>
          <p:cNvPr id="53" name="Text 49"/>
          <p:cNvSpPr txBox="1"/>
          <p:nvPr/>
        </p:nvSpPr>
        <p:spPr>
          <a:xfrm>
            <a:off x="502920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Instrumentation and wireless sensing for aerospace platforms</a:t>
            </a:r>
            <a:endParaRPr lang="en-US" sz="690" dirty="0"/>
          </a:p>
        </p:txBody>
      </p:sp>
      <p:sp>
        <p:nvSpPr>
          <p:cNvPr id="54" name="Text 50"/>
          <p:cNvSpPr txBox="1"/>
          <p:nvPr/>
        </p:nvSpPr>
        <p:spPr>
          <a:xfrm>
            <a:off x="502920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55" name="Climate Engineering, Inc. tile"/>
          <p:cNvSpPr/>
          <p:nvPr/>
        </p:nvSpPr>
        <p:spPr>
          <a:xfrm>
            <a:off x="6543675"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56" name="Shape 52"/>
          <p:cNvSpPr/>
          <p:nvPr/>
        </p:nvSpPr>
        <p:spPr>
          <a:xfrm>
            <a:off x="6543675" y="2840831"/>
            <a:ext cx="1504950" cy="28575"/>
          </a:xfrm>
          <a:prstGeom prst="rect">
            <a:avLst/>
          </a:prstGeom>
          <a:solidFill>
            <a:srgbClr val="B68757"/>
          </a:solidFill>
          <a:ln/>
        </p:spPr>
        <p:txBody>
          <a:bodyPr/>
          <a:lstStyle/>
          <a:p>
            <a:endParaRPr lang="en-US"/>
          </a:p>
        </p:txBody>
      </p:sp>
      <p:sp>
        <p:nvSpPr>
          <p:cNvPr id="57" name="Text 53"/>
          <p:cNvSpPr txBox="1"/>
          <p:nvPr/>
        </p:nvSpPr>
        <p:spPr>
          <a:xfrm>
            <a:off x="6619875"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9" tooltip="Announcement on benchmarkintl.com">
                  <a:extLst>
                    <a:ext uri="{A12FA001-AC4F-418D-AE19-62706E023703}">
                      <ahyp:hlinkClr xmlns:ahyp="http://schemas.microsoft.com/office/drawing/2018/hyperlinkcolor" val="tx"/>
                    </a:ext>
                  </a:extLst>
                </a:hlinkClick>
              </a:rPr>
              <a:t>Climate Engineering, Inc.</a:t>
            </a:r>
            <a:endParaRPr lang="en-US" sz="750" dirty="0"/>
          </a:p>
        </p:txBody>
      </p:sp>
      <p:sp>
        <p:nvSpPr>
          <p:cNvPr id="58" name="Text 54"/>
          <p:cNvSpPr txBox="1"/>
          <p:nvPr/>
        </p:nvSpPr>
        <p:spPr>
          <a:xfrm>
            <a:off x="6619875"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9" name="Shape 55"/>
          <p:cNvSpPr/>
          <p:nvPr/>
        </p:nvSpPr>
        <p:spPr>
          <a:xfrm>
            <a:off x="6619875" y="3326606"/>
            <a:ext cx="1352550" cy="266700"/>
          </a:xfrm>
          <a:prstGeom prst="rect">
            <a:avLst/>
          </a:prstGeom>
          <a:solidFill>
            <a:srgbClr val="FAF7F3"/>
          </a:solidFill>
          <a:ln/>
        </p:spPr>
        <p:txBody>
          <a:bodyPr/>
          <a:lstStyle/>
          <a:p>
            <a:endParaRPr lang="en-US"/>
          </a:p>
        </p:txBody>
      </p:sp>
      <p:sp>
        <p:nvSpPr>
          <p:cNvPr id="60" name="Text 56"/>
          <p:cNvSpPr txBox="1"/>
          <p:nvPr/>
        </p:nvSpPr>
        <p:spPr>
          <a:xfrm>
            <a:off x="6638925"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HARRIS COMPANY</a:t>
            </a:r>
            <a:endParaRPr lang="en-US" sz="675" dirty="0"/>
          </a:p>
        </p:txBody>
      </p:sp>
      <p:sp>
        <p:nvSpPr>
          <p:cNvPr id="61" name="Text 57"/>
          <p:cNvSpPr txBox="1"/>
          <p:nvPr/>
        </p:nvSpPr>
        <p:spPr>
          <a:xfrm>
            <a:off x="6619875"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Commercial HVAC and building automation</a:t>
            </a:r>
            <a:endParaRPr lang="en-US" sz="690" dirty="0"/>
          </a:p>
        </p:txBody>
      </p:sp>
      <p:sp>
        <p:nvSpPr>
          <p:cNvPr id="62" name="Text 58"/>
          <p:cNvSpPr txBox="1"/>
          <p:nvPr/>
        </p:nvSpPr>
        <p:spPr>
          <a:xfrm>
            <a:off x="6619875"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63" name="Briggs Engineering &amp; Testing tile"/>
          <p:cNvSpPr/>
          <p:nvPr/>
        </p:nvSpPr>
        <p:spPr>
          <a:xfrm>
            <a:off x="813435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64" name="Shape 60"/>
          <p:cNvSpPr/>
          <p:nvPr/>
        </p:nvSpPr>
        <p:spPr>
          <a:xfrm>
            <a:off x="8134350" y="2840831"/>
            <a:ext cx="1504950" cy="28575"/>
          </a:xfrm>
          <a:prstGeom prst="rect">
            <a:avLst/>
          </a:prstGeom>
          <a:solidFill>
            <a:srgbClr val="B68757"/>
          </a:solidFill>
          <a:ln/>
        </p:spPr>
        <p:txBody>
          <a:bodyPr/>
          <a:lstStyle/>
          <a:p>
            <a:endParaRPr lang="en-US"/>
          </a:p>
        </p:txBody>
      </p:sp>
      <p:sp>
        <p:nvSpPr>
          <p:cNvPr id="65" name="Text 61"/>
          <p:cNvSpPr txBox="1"/>
          <p:nvPr/>
        </p:nvSpPr>
        <p:spPr>
          <a:xfrm>
            <a:off x="821055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0" tooltip="Announcement on benchmarkintl.com">
                  <a:extLst>
                    <a:ext uri="{A12FA001-AC4F-418D-AE19-62706E023703}">
                      <ahyp:hlinkClr xmlns:ahyp="http://schemas.microsoft.com/office/drawing/2018/hyperlinkcolor" val="tx"/>
                    </a:ext>
                  </a:extLst>
                </a:hlinkClick>
              </a:rPr>
              <a:t>Briggs Engineering &amp; Testing</a:t>
            </a:r>
            <a:endParaRPr lang="en-US" sz="750" dirty="0"/>
          </a:p>
        </p:txBody>
      </p:sp>
      <p:sp>
        <p:nvSpPr>
          <p:cNvPr id="66" name="Text 62"/>
          <p:cNvSpPr txBox="1"/>
          <p:nvPr/>
        </p:nvSpPr>
        <p:spPr>
          <a:xfrm>
            <a:off x="821055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67" name="Shape 63"/>
          <p:cNvSpPr/>
          <p:nvPr/>
        </p:nvSpPr>
        <p:spPr>
          <a:xfrm>
            <a:off x="8210550" y="3326606"/>
            <a:ext cx="1352550" cy="266700"/>
          </a:xfrm>
          <a:prstGeom prst="rect">
            <a:avLst/>
          </a:prstGeom>
          <a:solidFill>
            <a:srgbClr val="FAF7F3"/>
          </a:solidFill>
          <a:ln/>
        </p:spPr>
        <p:txBody>
          <a:bodyPr/>
          <a:lstStyle/>
          <a:p>
            <a:endParaRPr lang="en-US"/>
          </a:p>
        </p:txBody>
      </p:sp>
      <p:sp>
        <p:nvSpPr>
          <p:cNvPr id="68" name="Text 64"/>
          <p:cNvSpPr txBox="1"/>
          <p:nvPr/>
        </p:nvSpPr>
        <p:spPr>
          <a:xfrm>
            <a:off x="822960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PHENNA GROUP</a:t>
            </a:r>
            <a:endParaRPr lang="en-US" sz="675" dirty="0"/>
          </a:p>
        </p:txBody>
      </p:sp>
      <p:sp>
        <p:nvSpPr>
          <p:cNvPr id="69" name="Text 65"/>
          <p:cNvSpPr txBox="1"/>
          <p:nvPr/>
        </p:nvSpPr>
        <p:spPr>
          <a:xfrm>
            <a:off x="821055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Geotechnical and materials testing and special inspection</a:t>
            </a:r>
            <a:endParaRPr lang="en-US" sz="690" dirty="0"/>
          </a:p>
        </p:txBody>
      </p:sp>
      <p:sp>
        <p:nvSpPr>
          <p:cNvPr id="70" name="Text 66"/>
          <p:cNvSpPr txBox="1"/>
          <p:nvPr/>
        </p:nvSpPr>
        <p:spPr>
          <a:xfrm>
            <a:off x="821055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71" name="Capitol Plastics Recycling Inc. tile"/>
          <p:cNvSpPr/>
          <p:nvPr/>
        </p:nvSpPr>
        <p:spPr>
          <a:xfrm>
            <a:off x="495300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72" name="Shape 68"/>
          <p:cNvSpPr/>
          <p:nvPr/>
        </p:nvSpPr>
        <p:spPr>
          <a:xfrm>
            <a:off x="4953000" y="4233863"/>
            <a:ext cx="1504950" cy="28575"/>
          </a:xfrm>
          <a:prstGeom prst="rect">
            <a:avLst/>
          </a:prstGeom>
          <a:solidFill>
            <a:srgbClr val="B68757"/>
          </a:solidFill>
          <a:ln/>
        </p:spPr>
        <p:txBody>
          <a:bodyPr/>
          <a:lstStyle/>
          <a:p>
            <a:endParaRPr lang="en-US"/>
          </a:p>
        </p:txBody>
      </p:sp>
      <p:sp>
        <p:nvSpPr>
          <p:cNvPr id="73" name="Text 69"/>
          <p:cNvSpPr txBox="1"/>
          <p:nvPr/>
        </p:nvSpPr>
        <p:spPr>
          <a:xfrm>
            <a:off x="502920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1" tooltip="Announcement on benchmarkintl.com">
                  <a:extLst>
                    <a:ext uri="{A12FA001-AC4F-418D-AE19-62706E023703}">
                      <ahyp:hlinkClr xmlns:ahyp="http://schemas.microsoft.com/office/drawing/2018/hyperlinkcolor" val="tx"/>
                    </a:ext>
                  </a:extLst>
                </a:hlinkClick>
              </a:rPr>
              <a:t>Capitol Plastics Recycling Inc.</a:t>
            </a:r>
            <a:endParaRPr lang="en-US" sz="750" dirty="0"/>
          </a:p>
        </p:txBody>
      </p:sp>
      <p:sp>
        <p:nvSpPr>
          <p:cNvPr id="74" name="Text 70"/>
          <p:cNvSpPr txBox="1"/>
          <p:nvPr/>
        </p:nvSpPr>
        <p:spPr>
          <a:xfrm>
            <a:off x="502920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75" name="Shape 71"/>
          <p:cNvSpPr/>
          <p:nvPr/>
        </p:nvSpPr>
        <p:spPr>
          <a:xfrm>
            <a:off x="5029200" y="4719638"/>
            <a:ext cx="1352550" cy="266700"/>
          </a:xfrm>
          <a:prstGeom prst="rect">
            <a:avLst/>
          </a:prstGeom>
          <a:solidFill>
            <a:srgbClr val="FAF7F3"/>
          </a:solidFill>
          <a:ln/>
        </p:spPr>
        <p:txBody>
          <a:bodyPr/>
          <a:lstStyle/>
          <a:p>
            <a:endParaRPr lang="en-US"/>
          </a:p>
        </p:txBody>
      </p:sp>
      <p:sp>
        <p:nvSpPr>
          <p:cNvPr id="76" name="Text 72"/>
          <p:cNvSpPr txBox="1"/>
          <p:nvPr/>
        </p:nvSpPr>
        <p:spPr>
          <a:xfrm>
            <a:off x="504825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TRIUMVIRATE ENVIRONMENTAL</a:t>
            </a:r>
            <a:endParaRPr lang="en-US" sz="675" dirty="0"/>
          </a:p>
        </p:txBody>
      </p:sp>
      <p:sp>
        <p:nvSpPr>
          <p:cNvPr id="77" name="Text 73"/>
          <p:cNvSpPr txBox="1"/>
          <p:nvPr/>
        </p:nvSpPr>
        <p:spPr>
          <a:xfrm>
            <a:off x="502920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plastics recycling</a:t>
            </a:r>
            <a:endParaRPr lang="en-US" sz="690" dirty="0"/>
          </a:p>
        </p:txBody>
      </p:sp>
      <p:sp>
        <p:nvSpPr>
          <p:cNvPr id="78" name="Text 74"/>
          <p:cNvSpPr txBox="1"/>
          <p:nvPr/>
        </p:nvSpPr>
        <p:spPr>
          <a:xfrm>
            <a:off x="502920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79" name="WESCO Chemicals, Inc. tile"/>
          <p:cNvSpPr/>
          <p:nvPr/>
        </p:nvSpPr>
        <p:spPr>
          <a:xfrm>
            <a:off x="6543675"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0" name="Shape 76"/>
          <p:cNvSpPr/>
          <p:nvPr/>
        </p:nvSpPr>
        <p:spPr>
          <a:xfrm>
            <a:off x="6543675" y="4233863"/>
            <a:ext cx="1504950" cy="28575"/>
          </a:xfrm>
          <a:prstGeom prst="rect">
            <a:avLst/>
          </a:prstGeom>
          <a:solidFill>
            <a:srgbClr val="B68757"/>
          </a:solidFill>
          <a:ln/>
        </p:spPr>
        <p:txBody>
          <a:bodyPr/>
          <a:lstStyle/>
          <a:p>
            <a:endParaRPr lang="en-US"/>
          </a:p>
        </p:txBody>
      </p:sp>
      <p:sp>
        <p:nvSpPr>
          <p:cNvPr id="81" name="Text 77"/>
          <p:cNvSpPr txBox="1"/>
          <p:nvPr/>
        </p:nvSpPr>
        <p:spPr>
          <a:xfrm>
            <a:off x="6619875"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2" tooltip="Announcement on benchmarkintl.com">
                  <a:extLst>
                    <a:ext uri="{A12FA001-AC4F-418D-AE19-62706E023703}">
                      <ahyp:hlinkClr xmlns:ahyp="http://schemas.microsoft.com/office/drawing/2018/hyperlinkcolor" val="tx"/>
                    </a:ext>
                  </a:extLst>
                </a:hlinkClick>
              </a:rPr>
              <a:t>WESCO Chemicals, Inc.</a:t>
            </a:r>
            <a:endParaRPr lang="en-US" sz="750" dirty="0"/>
          </a:p>
        </p:txBody>
      </p:sp>
      <p:sp>
        <p:nvSpPr>
          <p:cNvPr id="82" name="Text 78"/>
          <p:cNvSpPr txBox="1"/>
          <p:nvPr/>
        </p:nvSpPr>
        <p:spPr>
          <a:xfrm>
            <a:off x="6619875"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83" name="Shape 79"/>
          <p:cNvSpPr/>
          <p:nvPr/>
        </p:nvSpPr>
        <p:spPr>
          <a:xfrm>
            <a:off x="6619875" y="4719638"/>
            <a:ext cx="1352550" cy="266700"/>
          </a:xfrm>
          <a:prstGeom prst="rect">
            <a:avLst/>
          </a:prstGeom>
          <a:solidFill>
            <a:srgbClr val="FAF7F3"/>
          </a:solidFill>
          <a:ln/>
        </p:spPr>
        <p:txBody>
          <a:bodyPr/>
          <a:lstStyle/>
          <a:p>
            <a:endParaRPr lang="en-US"/>
          </a:p>
        </p:txBody>
      </p:sp>
      <p:sp>
        <p:nvSpPr>
          <p:cNvPr id="84" name="Text 80"/>
          <p:cNvSpPr txBox="1"/>
          <p:nvPr/>
        </p:nvSpPr>
        <p:spPr>
          <a:xfrm>
            <a:off x="6638925"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APEX WATER AND PROCESS INC.</a:t>
            </a:r>
            <a:endParaRPr lang="en-US" sz="675" dirty="0"/>
          </a:p>
        </p:txBody>
      </p:sp>
      <p:sp>
        <p:nvSpPr>
          <p:cNvPr id="85" name="Text 81"/>
          <p:cNvSpPr txBox="1"/>
          <p:nvPr/>
        </p:nvSpPr>
        <p:spPr>
          <a:xfrm>
            <a:off x="6619875"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Water treatment chemical production and service</a:t>
            </a:r>
            <a:endParaRPr lang="en-US" sz="690" dirty="0"/>
          </a:p>
        </p:txBody>
      </p:sp>
      <p:sp>
        <p:nvSpPr>
          <p:cNvPr id="86" name="Text 82"/>
          <p:cNvSpPr txBox="1"/>
          <p:nvPr/>
        </p:nvSpPr>
        <p:spPr>
          <a:xfrm>
            <a:off x="6619875"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87" name="DW Industries tile"/>
          <p:cNvSpPr/>
          <p:nvPr/>
        </p:nvSpPr>
        <p:spPr>
          <a:xfrm>
            <a:off x="813435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8" name="Shape 84"/>
          <p:cNvSpPr/>
          <p:nvPr/>
        </p:nvSpPr>
        <p:spPr>
          <a:xfrm>
            <a:off x="8134350" y="4233863"/>
            <a:ext cx="1504950" cy="28575"/>
          </a:xfrm>
          <a:prstGeom prst="rect">
            <a:avLst/>
          </a:prstGeom>
          <a:solidFill>
            <a:srgbClr val="B68757"/>
          </a:solidFill>
          <a:ln/>
        </p:spPr>
        <p:txBody>
          <a:bodyPr/>
          <a:lstStyle/>
          <a:p>
            <a:endParaRPr lang="en-US"/>
          </a:p>
        </p:txBody>
      </p:sp>
      <p:sp>
        <p:nvSpPr>
          <p:cNvPr id="89" name="Text 85"/>
          <p:cNvSpPr txBox="1"/>
          <p:nvPr/>
        </p:nvSpPr>
        <p:spPr>
          <a:xfrm>
            <a:off x="821055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3" tooltip="Announcement on benchmarkintl.com">
                  <a:extLst>
                    <a:ext uri="{A12FA001-AC4F-418D-AE19-62706E023703}">
                      <ahyp:hlinkClr xmlns:ahyp="http://schemas.microsoft.com/office/drawing/2018/hyperlinkcolor" val="tx"/>
                    </a:ext>
                  </a:extLst>
                </a:hlinkClick>
              </a:rPr>
              <a:t>DW Industries</a:t>
            </a:r>
            <a:endParaRPr lang="en-US" sz="750" dirty="0"/>
          </a:p>
        </p:txBody>
      </p:sp>
      <p:sp>
        <p:nvSpPr>
          <p:cNvPr id="90" name="Text 86"/>
          <p:cNvSpPr txBox="1"/>
          <p:nvPr/>
        </p:nvSpPr>
        <p:spPr>
          <a:xfrm>
            <a:off x="821055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1" name="Shape 87"/>
          <p:cNvSpPr/>
          <p:nvPr/>
        </p:nvSpPr>
        <p:spPr>
          <a:xfrm>
            <a:off x="8210550" y="4719638"/>
            <a:ext cx="1352550" cy="266700"/>
          </a:xfrm>
          <a:prstGeom prst="rect">
            <a:avLst/>
          </a:prstGeom>
          <a:solidFill>
            <a:srgbClr val="FAF7F3"/>
          </a:solidFill>
          <a:ln/>
        </p:spPr>
        <p:txBody>
          <a:bodyPr/>
          <a:lstStyle/>
          <a:p>
            <a:endParaRPr lang="en-US"/>
          </a:p>
        </p:txBody>
      </p:sp>
      <p:sp>
        <p:nvSpPr>
          <p:cNvPr id="92" name="Text 88"/>
          <p:cNvSpPr txBox="1"/>
          <p:nvPr/>
        </p:nvSpPr>
        <p:spPr>
          <a:xfrm>
            <a:off x="822960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TIPCO TECHNOLOGIES</a:t>
            </a:r>
            <a:endParaRPr lang="en-US" sz="675" dirty="0"/>
          </a:p>
        </p:txBody>
      </p:sp>
      <p:sp>
        <p:nvSpPr>
          <p:cNvPr id="93" name="Text 89"/>
          <p:cNvSpPr txBox="1"/>
          <p:nvPr/>
        </p:nvSpPr>
        <p:spPr>
          <a:xfrm>
            <a:off x="821055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Hose and hose assemblies for industrial customers</a:t>
            </a:r>
            <a:endParaRPr lang="en-US" sz="690" dirty="0"/>
          </a:p>
        </p:txBody>
      </p:sp>
      <p:sp>
        <p:nvSpPr>
          <p:cNvPr id="94" name="Text 90"/>
          <p:cNvSpPr txBox="1"/>
          <p:nvPr/>
        </p:nvSpPr>
        <p:spPr>
          <a:xfrm>
            <a:off x="821055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95" name="A.T. Parker, Inc. (Solar Electronics) tile"/>
          <p:cNvSpPr/>
          <p:nvPr/>
        </p:nvSpPr>
        <p:spPr>
          <a:xfrm>
            <a:off x="495300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96" name="Shape 92"/>
          <p:cNvSpPr/>
          <p:nvPr/>
        </p:nvSpPr>
        <p:spPr>
          <a:xfrm>
            <a:off x="4953000" y="5626894"/>
            <a:ext cx="1504950" cy="28575"/>
          </a:xfrm>
          <a:prstGeom prst="rect">
            <a:avLst/>
          </a:prstGeom>
          <a:solidFill>
            <a:srgbClr val="B68757"/>
          </a:solidFill>
          <a:ln/>
        </p:spPr>
        <p:txBody>
          <a:bodyPr/>
          <a:lstStyle/>
          <a:p>
            <a:endParaRPr lang="en-US"/>
          </a:p>
        </p:txBody>
      </p:sp>
      <p:sp>
        <p:nvSpPr>
          <p:cNvPr id="97" name="Text 93"/>
          <p:cNvSpPr txBox="1"/>
          <p:nvPr/>
        </p:nvSpPr>
        <p:spPr>
          <a:xfrm>
            <a:off x="502920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4" tooltip="Announcement on benchmarkintl.com">
                  <a:extLst>
                    <a:ext uri="{A12FA001-AC4F-418D-AE19-62706E023703}">
                      <ahyp:hlinkClr xmlns:ahyp="http://schemas.microsoft.com/office/drawing/2018/hyperlinkcolor" val="tx"/>
                    </a:ext>
                  </a:extLst>
                </a:hlinkClick>
              </a:rPr>
              <a:t>A.T. Parker, Inc. (Solar Electronics)</a:t>
            </a:r>
            <a:endParaRPr lang="en-US" sz="750" dirty="0"/>
          </a:p>
        </p:txBody>
      </p:sp>
      <p:sp>
        <p:nvSpPr>
          <p:cNvPr id="98" name="Text 94"/>
          <p:cNvSpPr txBox="1"/>
          <p:nvPr/>
        </p:nvSpPr>
        <p:spPr>
          <a:xfrm>
            <a:off x="502920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9" name="Shape 95"/>
          <p:cNvSpPr/>
          <p:nvPr/>
        </p:nvSpPr>
        <p:spPr>
          <a:xfrm>
            <a:off x="5029200" y="6112669"/>
            <a:ext cx="1352550" cy="266700"/>
          </a:xfrm>
          <a:prstGeom prst="rect">
            <a:avLst/>
          </a:prstGeom>
          <a:solidFill>
            <a:srgbClr val="FAF7F3"/>
          </a:solidFill>
          <a:ln/>
        </p:spPr>
        <p:txBody>
          <a:bodyPr/>
          <a:lstStyle/>
          <a:p>
            <a:endParaRPr lang="en-US"/>
          </a:p>
        </p:txBody>
      </p:sp>
      <p:sp>
        <p:nvSpPr>
          <p:cNvPr id="100" name="Text 96"/>
          <p:cNvSpPr txBox="1"/>
          <p:nvPr/>
        </p:nvSpPr>
        <p:spPr>
          <a:xfrm>
            <a:off x="504825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ASSESSIMUS GROUP GMBH</a:t>
            </a:r>
            <a:endParaRPr lang="en-US" sz="675" dirty="0"/>
          </a:p>
        </p:txBody>
      </p:sp>
      <p:sp>
        <p:nvSpPr>
          <p:cNvPr id="101" name="Text 97"/>
          <p:cNvSpPr txBox="1"/>
          <p:nvPr/>
        </p:nvSpPr>
        <p:spPr>
          <a:xfrm>
            <a:off x="502920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Test equipment for electromagnetic interference</a:t>
            </a:r>
            <a:endParaRPr lang="en-US" sz="690" dirty="0"/>
          </a:p>
        </p:txBody>
      </p:sp>
      <p:sp>
        <p:nvSpPr>
          <p:cNvPr id="102" name="Text 98"/>
          <p:cNvSpPr txBox="1"/>
          <p:nvPr/>
        </p:nvSpPr>
        <p:spPr>
          <a:xfrm>
            <a:off x="502920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103" name="Clark Crane, LLC tile"/>
          <p:cNvSpPr/>
          <p:nvPr/>
        </p:nvSpPr>
        <p:spPr>
          <a:xfrm>
            <a:off x="6543675"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04" name="Shape 100"/>
          <p:cNvSpPr/>
          <p:nvPr/>
        </p:nvSpPr>
        <p:spPr>
          <a:xfrm>
            <a:off x="6543675" y="5626894"/>
            <a:ext cx="1504950" cy="28575"/>
          </a:xfrm>
          <a:prstGeom prst="rect">
            <a:avLst/>
          </a:prstGeom>
          <a:solidFill>
            <a:srgbClr val="B68757"/>
          </a:solidFill>
          <a:ln/>
        </p:spPr>
        <p:txBody>
          <a:bodyPr/>
          <a:lstStyle/>
          <a:p>
            <a:endParaRPr lang="en-US"/>
          </a:p>
        </p:txBody>
      </p:sp>
      <p:sp>
        <p:nvSpPr>
          <p:cNvPr id="105" name="Text 101"/>
          <p:cNvSpPr txBox="1"/>
          <p:nvPr/>
        </p:nvSpPr>
        <p:spPr>
          <a:xfrm>
            <a:off x="6619875"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5" tooltip="Announcement on benchmarkintl.com">
                  <a:extLst>
                    <a:ext uri="{A12FA001-AC4F-418D-AE19-62706E023703}">
                      <ahyp:hlinkClr xmlns:ahyp="http://schemas.microsoft.com/office/drawing/2018/hyperlinkcolor" val="tx"/>
                    </a:ext>
                  </a:extLst>
                </a:hlinkClick>
              </a:rPr>
              <a:t>Clark Crane, LLC</a:t>
            </a:r>
            <a:endParaRPr lang="en-US" sz="750" dirty="0"/>
          </a:p>
        </p:txBody>
      </p:sp>
      <p:sp>
        <p:nvSpPr>
          <p:cNvPr id="106" name="Text 102"/>
          <p:cNvSpPr txBox="1"/>
          <p:nvPr/>
        </p:nvSpPr>
        <p:spPr>
          <a:xfrm>
            <a:off x="6619875"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07" name="Shape 103"/>
          <p:cNvSpPr/>
          <p:nvPr/>
        </p:nvSpPr>
        <p:spPr>
          <a:xfrm>
            <a:off x="6619875" y="6112669"/>
            <a:ext cx="1352550" cy="266700"/>
          </a:xfrm>
          <a:prstGeom prst="rect">
            <a:avLst/>
          </a:prstGeom>
          <a:solidFill>
            <a:srgbClr val="FAF7F3"/>
          </a:solidFill>
          <a:ln/>
        </p:spPr>
        <p:txBody>
          <a:bodyPr/>
          <a:lstStyle/>
          <a:p>
            <a:endParaRPr lang="en-US"/>
          </a:p>
        </p:txBody>
      </p:sp>
      <p:sp>
        <p:nvSpPr>
          <p:cNvPr id="108" name="Text 104"/>
          <p:cNvSpPr txBox="1"/>
          <p:nvPr/>
        </p:nvSpPr>
        <p:spPr>
          <a:xfrm>
            <a:off x="6638925"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CAPITAL EXTENSION CRANE &amp; LIFT</a:t>
            </a:r>
            <a:endParaRPr lang="en-US" sz="675" dirty="0"/>
          </a:p>
        </p:txBody>
      </p:sp>
      <p:sp>
        <p:nvSpPr>
          <p:cNvPr id="109" name="Text 105"/>
          <p:cNvSpPr txBox="1"/>
          <p:nvPr/>
        </p:nvSpPr>
        <p:spPr>
          <a:xfrm>
            <a:off x="6619875"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Crane rental and rigging</a:t>
            </a:r>
            <a:endParaRPr lang="en-US" sz="690" dirty="0"/>
          </a:p>
        </p:txBody>
      </p:sp>
      <p:sp>
        <p:nvSpPr>
          <p:cNvPr id="110" name="Text 106"/>
          <p:cNvSpPr txBox="1"/>
          <p:nvPr/>
        </p:nvSpPr>
        <p:spPr>
          <a:xfrm>
            <a:off x="6619875"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111" name="Christian Network International tile"/>
          <p:cNvSpPr/>
          <p:nvPr/>
        </p:nvSpPr>
        <p:spPr>
          <a:xfrm>
            <a:off x="813435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12" name="Shape 108"/>
          <p:cNvSpPr/>
          <p:nvPr/>
        </p:nvSpPr>
        <p:spPr>
          <a:xfrm>
            <a:off x="8134350" y="5626894"/>
            <a:ext cx="1504950" cy="28575"/>
          </a:xfrm>
          <a:prstGeom prst="rect">
            <a:avLst/>
          </a:prstGeom>
          <a:solidFill>
            <a:srgbClr val="B68757"/>
          </a:solidFill>
          <a:ln/>
        </p:spPr>
        <p:txBody>
          <a:bodyPr/>
          <a:lstStyle/>
          <a:p>
            <a:endParaRPr lang="en-US"/>
          </a:p>
        </p:txBody>
      </p:sp>
      <p:sp>
        <p:nvSpPr>
          <p:cNvPr id="113" name="Text 109"/>
          <p:cNvSpPr txBox="1"/>
          <p:nvPr/>
        </p:nvSpPr>
        <p:spPr>
          <a:xfrm>
            <a:off x="821055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6" tooltip="Announcement on benchmarkintl.com">
                  <a:extLst>
                    <a:ext uri="{A12FA001-AC4F-418D-AE19-62706E023703}">
                      <ahyp:hlinkClr xmlns:ahyp="http://schemas.microsoft.com/office/drawing/2018/hyperlinkcolor" val="tx"/>
                    </a:ext>
                  </a:extLst>
                </a:hlinkClick>
              </a:rPr>
              <a:t>Christian Network International</a:t>
            </a:r>
            <a:endParaRPr lang="en-US" sz="750" dirty="0"/>
          </a:p>
        </p:txBody>
      </p:sp>
      <p:sp>
        <p:nvSpPr>
          <p:cNvPr id="114" name="Text 110"/>
          <p:cNvSpPr txBox="1"/>
          <p:nvPr/>
        </p:nvSpPr>
        <p:spPr>
          <a:xfrm>
            <a:off x="821055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15" name="Shape 111"/>
          <p:cNvSpPr/>
          <p:nvPr/>
        </p:nvSpPr>
        <p:spPr>
          <a:xfrm>
            <a:off x="8210550" y="6112669"/>
            <a:ext cx="1352550" cy="266700"/>
          </a:xfrm>
          <a:prstGeom prst="rect">
            <a:avLst/>
          </a:prstGeom>
          <a:solidFill>
            <a:srgbClr val="FAF7F3"/>
          </a:solidFill>
          <a:ln/>
        </p:spPr>
        <p:txBody>
          <a:bodyPr/>
          <a:lstStyle/>
          <a:p>
            <a:endParaRPr lang="en-US"/>
          </a:p>
        </p:txBody>
      </p:sp>
      <p:sp>
        <p:nvSpPr>
          <p:cNvPr id="116" name="Text 112"/>
          <p:cNvSpPr txBox="1"/>
          <p:nvPr/>
        </p:nvSpPr>
        <p:spPr>
          <a:xfrm>
            <a:off x="822960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SYMBIA LOGISTICS</a:t>
            </a:r>
            <a:endParaRPr lang="en-US" sz="675" dirty="0"/>
          </a:p>
        </p:txBody>
      </p:sp>
      <p:sp>
        <p:nvSpPr>
          <p:cNvPr id="117" name="Text 113"/>
          <p:cNvSpPr txBox="1"/>
          <p:nvPr/>
        </p:nvSpPr>
        <p:spPr>
          <a:xfrm>
            <a:off x="821055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Fulfillment and distribution</a:t>
            </a:r>
            <a:endParaRPr lang="en-US" sz="690" dirty="0"/>
          </a:p>
        </p:txBody>
      </p:sp>
      <p:sp>
        <p:nvSpPr>
          <p:cNvPr id="118" name="Text 114"/>
          <p:cNvSpPr txBox="1"/>
          <p:nvPr/>
        </p:nvSpPr>
        <p:spPr>
          <a:xfrm>
            <a:off x="821055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TRANSPORTATION</a:t>
            </a:r>
            <a:endParaRPr lang="en-US" sz="540" dirty="0"/>
          </a:p>
        </p:txBody>
      </p:sp>
      <p:sp>
        <p:nvSpPr>
          <p:cNvPr id="119"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History</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Manufacturing, distribution and transportation companies trade above every year-end multiple of the past five years.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 enterprise value to trailing EBITDA for 38 listed companies at each company’s fiscal year-end from 2021 to 2025 and today; the five-year high, low and median under each chart use the year-end values.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with share prices from September 28 to October 7, 2026. Multiples use reported EBITDA.</a:t>
            </a:r>
            <a:endParaRPr lang="en-US" sz="675" dirty="0"/>
          </a:p>
        </p:txBody>
      </p:sp>
      <p:sp>
        <p:nvSpPr>
          <p:cNvPr id="5" name="Manufacturing &amp; Industrial Tech panel"/>
          <p:cNvSpPr/>
          <p:nvPr/>
        </p:nvSpPr>
        <p:spPr>
          <a:xfrm>
            <a:off x="419100" y="1238250"/>
            <a:ext cx="1767840" cy="4438650"/>
          </a:xfrm>
          <a:prstGeom prst="rect">
            <a:avLst/>
          </a:prstGeom>
          <a:solidFill>
            <a:srgbClr val="FAF7F3"/>
          </a:solidFill>
          <a:ln/>
        </p:spPr>
        <p:txBody>
          <a:bodyPr/>
          <a:lstStyle/>
          <a:p>
            <a:endParaRPr lang="en-US"/>
          </a:p>
        </p:txBody>
      </p:sp>
      <p:sp>
        <p:nvSpPr>
          <p:cNvPr id="6" name="Shape 4"/>
          <p:cNvSpPr/>
          <p:nvPr/>
        </p:nvSpPr>
        <p:spPr>
          <a:xfrm>
            <a:off x="419100" y="1238250"/>
            <a:ext cx="1767840" cy="28575"/>
          </a:xfrm>
          <a:prstGeom prst="rect">
            <a:avLst/>
          </a:prstGeom>
          <a:solidFill>
            <a:srgbClr val="B68757"/>
          </a:solidFill>
          <a:ln/>
        </p:spPr>
        <p:txBody>
          <a:bodyPr/>
          <a:lstStyle/>
          <a:p>
            <a:endParaRPr lang="en-US"/>
          </a:p>
        </p:txBody>
      </p:sp>
      <p:pic>
        <p:nvPicPr>
          <p:cNvPr id="7" name="Image 0"/>
          <p:cNvPicPr>
            <a:picLocks noChangeAspect="1"/>
          </p:cNvPicPr>
          <p:nvPr/>
        </p:nvPicPr>
        <p:blipFill>
          <a:blip r:embed="rId4"/>
          <a:stretch>
            <a:fillRect/>
          </a:stretch>
        </p:blipFill>
        <p:spPr>
          <a:xfrm>
            <a:off x="533400" y="1409700"/>
            <a:ext cx="142875" cy="142875"/>
          </a:xfrm>
          <a:prstGeom prst="rect">
            <a:avLst/>
          </a:prstGeom>
        </p:spPr>
      </p:pic>
      <p:sp>
        <p:nvSpPr>
          <p:cNvPr id="8" name="Text 5"/>
          <p:cNvSpPr txBox="1"/>
          <p:nvPr/>
        </p:nvSpPr>
        <p:spPr>
          <a:xfrm>
            <a:off x="72390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Manufacturing &amp; Industrial Tech</a:t>
            </a:r>
            <a:endParaRPr lang="en-US" sz="780" dirty="0"/>
          </a:p>
        </p:txBody>
      </p:sp>
      <p:sp>
        <p:nvSpPr>
          <p:cNvPr id="9" name="Text 6"/>
          <p:cNvSpPr txBox="1"/>
          <p:nvPr/>
        </p:nvSpPr>
        <p:spPr>
          <a:xfrm>
            <a:off x="53340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23.0x</a:t>
            </a:r>
            <a:r>
              <a:rPr lang="en-US" sz="675" dirty="0">
                <a:solidFill>
                  <a:srgbClr val="6F6A66"/>
                </a:solidFill>
              </a:rPr>
              <a:t>  median today</a:t>
            </a:r>
            <a:endParaRPr lang="en-US" sz="2250" dirty="0"/>
          </a:p>
        </p:txBody>
      </p:sp>
      <p:graphicFrame>
        <p:nvGraphicFramePr>
          <p:cNvPr id="10" name="Manufacturing &amp; Industrial Tech multiple history"/>
          <p:cNvGraphicFramePr/>
          <p:nvPr/>
        </p:nvGraphicFramePr>
        <p:xfrm>
          <a:off x="438150" y="2076450"/>
          <a:ext cx="1729740" cy="186690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1435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12.8x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+7.3x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12" name="Shape 7"/>
          <p:cNvSpPr/>
          <p:nvPr/>
        </p:nvSpPr>
        <p:spPr>
          <a:xfrm>
            <a:off x="514350" y="4914900"/>
            <a:ext cx="1577340" cy="0"/>
          </a:xfrm>
          <a:prstGeom prst="line">
            <a:avLst/>
          </a:prstGeom>
          <a:noFill/>
          <a:ln w="9525">
            <a:solidFill>
              <a:srgbClr val="E3DCD3"/>
            </a:solidFill>
            <a:prstDash val="solid"/>
          </a:ln>
        </p:spPr>
        <p:txBody>
          <a:bodyPr/>
          <a:lstStyle/>
          <a:p>
            <a:endParaRPr lang="en-US"/>
          </a:p>
        </p:txBody>
      </p:sp>
      <p:sp>
        <p:nvSpPr>
          <p:cNvPr id="13" name="Text 8"/>
          <p:cNvSpPr txBox="1"/>
          <p:nvPr/>
        </p:nvSpPr>
        <p:spPr>
          <a:xfrm>
            <a:off x="51435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Parker Hannifin, Rockwell Automation, ITT, Flowserve, Franklin Electric, Sanmina, Howmet Aerospace</a:t>
            </a:r>
            <a:endParaRPr lang="en-US" sz="645" dirty="0"/>
          </a:p>
        </p:txBody>
      </p:sp>
      <p:sp>
        <p:nvSpPr>
          <p:cNvPr id="14" name="Distribution &amp; Services panel"/>
          <p:cNvSpPr/>
          <p:nvPr/>
        </p:nvSpPr>
        <p:spPr>
          <a:xfrm>
            <a:off x="2282190" y="1238250"/>
            <a:ext cx="1767840" cy="4438650"/>
          </a:xfrm>
          <a:prstGeom prst="rect">
            <a:avLst/>
          </a:prstGeom>
          <a:solidFill>
            <a:srgbClr val="FAF7F3"/>
          </a:solidFill>
          <a:ln/>
        </p:spPr>
        <p:txBody>
          <a:bodyPr/>
          <a:lstStyle/>
          <a:p>
            <a:endParaRPr lang="en-US"/>
          </a:p>
        </p:txBody>
      </p:sp>
      <p:sp>
        <p:nvSpPr>
          <p:cNvPr id="15" name="Shape 10"/>
          <p:cNvSpPr/>
          <p:nvPr/>
        </p:nvSpPr>
        <p:spPr>
          <a:xfrm>
            <a:off x="2282190" y="1238250"/>
            <a:ext cx="1767840" cy="28575"/>
          </a:xfrm>
          <a:prstGeom prst="rect">
            <a:avLst/>
          </a:prstGeom>
          <a:solidFill>
            <a:srgbClr val="B68757"/>
          </a:solidFill>
          <a:ln/>
        </p:spPr>
        <p:txBody>
          <a:bodyPr/>
          <a:lstStyle/>
          <a:p>
            <a:endParaRPr lang="en-US"/>
          </a:p>
        </p:txBody>
      </p:sp>
      <p:pic>
        <p:nvPicPr>
          <p:cNvPr id="16" name="Image 1"/>
          <p:cNvPicPr>
            <a:picLocks noChangeAspect="1"/>
          </p:cNvPicPr>
          <p:nvPr/>
        </p:nvPicPr>
        <p:blipFill>
          <a:blip r:embed="rId6"/>
          <a:stretch>
            <a:fillRect/>
          </a:stretch>
        </p:blipFill>
        <p:spPr>
          <a:xfrm>
            <a:off x="2396490" y="1409700"/>
            <a:ext cx="142875" cy="142875"/>
          </a:xfrm>
          <a:prstGeom prst="rect">
            <a:avLst/>
          </a:prstGeom>
        </p:spPr>
      </p:pic>
      <p:sp>
        <p:nvSpPr>
          <p:cNvPr id="17" name="Text 11"/>
          <p:cNvSpPr txBox="1"/>
          <p:nvPr/>
        </p:nvSpPr>
        <p:spPr>
          <a:xfrm>
            <a:off x="258699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Distribution &amp; Services</a:t>
            </a:r>
            <a:endParaRPr lang="en-US" sz="780" dirty="0"/>
          </a:p>
        </p:txBody>
      </p:sp>
      <p:sp>
        <p:nvSpPr>
          <p:cNvPr id="18" name="Text 12"/>
          <p:cNvSpPr txBox="1"/>
          <p:nvPr/>
        </p:nvSpPr>
        <p:spPr>
          <a:xfrm>
            <a:off x="239649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17.7x</a:t>
            </a:r>
            <a:r>
              <a:rPr lang="en-US" sz="675" dirty="0">
                <a:solidFill>
                  <a:srgbClr val="6F6A66"/>
                </a:solidFill>
              </a:rPr>
              <a:t>  median today</a:t>
            </a:r>
            <a:endParaRPr lang="en-US" sz="2250" dirty="0"/>
          </a:p>
        </p:txBody>
      </p:sp>
      <p:graphicFrame>
        <p:nvGraphicFramePr>
          <p:cNvPr id="19" name="Distribution &amp; Services multiple history"/>
          <p:cNvGraphicFramePr/>
          <p:nvPr/>
        </p:nvGraphicFramePr>
        <p:xfrm>
          <a:off x="2301240" y="2076450"/>
          <a:ext cx="1729740" cy="18669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237744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10.5x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14.3x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+3.4x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20" name="Shape 13"/>
          <p:cNvSpPr/>
          <p:nvPr/>
        </p:nvSpPr>
        <p:spPr>
          <a:xfrm>
            <a:off x="2377440" y="4914900"/>
            <a:ext cx="1577340" cy="0"/>
          </a:xfrm>
          <a:prstGeom prst="line">
            <a:avLst/>
          </a:prstGeom>
          <a:noFill/>
          <a:ln w="9525">
            <a:solidFill>
              <a:srgbClr val="E3DCD3"/>
            </a:solidFill>
            <a:prstDash val="solid"/>
          </a:ln>
        </p:spPr>
        <p:txBody>
          <a:bodyPr/>
          <a:lstStyle/>
          <a:p>
            <a:endParaRPr lang="en-US"/>
          </a:p>
        </p:txBody>
      </p:sp>
      <p:sp>
        <p:nvSpPr>
          <p:cNvPr id="22" name="Text 14"/>
          <p:cNvSpPr txBox="1"/>
          <p:nvPr/>
        </p:nvSpPr>
        <p:spPr>
          <a:xfrm>
            <a:off x="237744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Fastenal, W.W. Grainger, Applied Industrial Technologies, MSC Industrial Direct, DXP Enterprises, Distribution Solutions, APi, WESCO</a:t>
            </a:r>
            <a:endParaRPr lang="en-US" sz="645" dirty="0"/>
          </a:p>
        </p:txBody>
      </p:sp>
      <p:sp>
        <p:nvSpPr>
          <p:cNvPr id="23" name="Building Products &amp; Construction panel"/>
          <p:cNvSpPr/>
          <p:nvPr/>
        </p:nvSpPr>
        <p:spPr>
          <a:xfrm>
            <a:off x="4145280" y="1238250"/>
            <a:ext cx="1767840" cy="4438650"/>
          </a:xfrm>
          <a:prstGeom prst="rect">
            <a:avLst/>
          </a:prstGeom>
          <a:solidFill>
            <a:srgbClr val="FAF7F3"/>
          </a:solidFill>
          <a:ln/>
        </p:spPr>
        <p:txBody>
          <a:bodyPr/>
          <a:lstStyle/>
          <a:p>
            <a:endParaRPr lang="en-US"/>
          </a:p>
        </p:txBody>
      </p:sp>
      <p:sp>
        <p:nvSpPr>
          <p:cNvPr id="24" name="Shape 16"/>
          <p:cNvSpPr/>
          <p:nvPr/>
        </p:nvSpPr>
        <p:spPr>
          <a:xfrm>
            <a:off x="4145280" y="1238250"/>
            <a:ext cx="1767840" cy="28575"/>
          </a:xfrm>
          <a:prstGeom prst="rect">
            <a:avLst/>
          </a:prstGeom>
          <a:solidFill>
            <a:srgbClr val="B68757"/>
          </a:solidFill>
          <a:ln/>
        </p:spPr>
        <p:txBody>
          <a:bodyPr/>
          <a:lstStyle/>
          <a:p>
            <a:endParaRPr lang="en-US"/>
          </a:p>
        </p:txBody>
      </p:sp>
      <p:pic>
        <p:nvPicPr>
          <p:cNvPr id="25" name="Image 2"/>
          <p:cNvPicPr>
            <a:picLocks noChangeAspect="1"/>
          </p:cNvPicPr>
          <p:nvPr/>
        </p:nvPicPr>
        <p:blipFill>
          <a:blip r:embed="rId8"/>
          <a:stretch>
            <a:fillRect/>
          </a:stretch>
        </p:blipFill>
        <p:spPr>
          <a:xfrm>
            <a:off x="4259580" y="1409700"/>
            <a:ext cx="142875" cy="142875"/>
          </a:xfrm>
          <a:prstGeom prst="rect">
            <a:avLst/>
          </a:prstGeom>
        </p:spPr>
      </p:pic>
      <p:sp>
        <p:nvSpPr>
          <p:cNvPr id="26" name="Text 17"/>
          <p:cNvSpPr txBox="1"/>
          <p:nvPr/>
        </p:nvSpPr>
        <p:spPr>
          <a:xfrm>
            <a:off x="445008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Building Products &amp; Construction</a:t>
            </a:r>
            <a:endParaRPr lang="en-US" sz="780" dirty="0"/>
          </a:p>
        </p:txBody>
      </p:sp>
      <p:sp>
        <p:nvSpPr>
          <p:cNvPr id="27" name="Text 18"/>
          <p:cNvSpPr txBox="1"/>
          <p:nvPr/>
        </p:nvSpPr>
        <p:spPr>
          <a:xfrm>
            <a:off x="425958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15.1x</a:t>
            </a:r>
            <a:r>
              <a:rPr lang="en-US" sz="675" dirty="0">
                <a:solidFill>
                  <a:srgbClr val="6F6A66"/>
                </a:solidFill>
              </a:rPr>
              <a:t>  median today</a:t>
            </a:r>
            <a:endParaRPr lang="en-US" sz="2250" dirty="0"/>
          </a:p>
        </p:txBody>
      </p:sp>
      <p:graphicFrame>
        <p:nvGraphicFramePr>
          <p:cNvPr id="28" name="Building Products &amp; Construction multiple history"/>
          <p:cNvGraphicFramePr/>
          <p:nvPr/>
        </p:nvGraphicFramePr>
        <p:xfrm>
          <a:off x="4164330" y="2076450"/>
          <a:ext cx="1729740" cy="1866900"/>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424053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16.6x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9.9x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0" name="Shape 19"/>
          <p:cNvSpPr/>
          <p:nvPr/>
        </p:nvSpPr>
        <p:spPr>
          <a:xfrm>
            <a:off x="4240530" y="4914900"/>
            <a:ext cx="1577340" cy="0"/>
          </a:xfrm>
          <a:prstGeom prst="line">
            <a:avLst/>
          </a:prstGeom>
          <a:noFill/>
          <a:ln w="9525">
            <a:solidFill>
              <a:srgbClr val="E3DCD3"/>
            </a:solidFill>
            <a:prstDash val="solid"/>
          </a:ln>
        </p:spPr>
        <p:txBody>
          <a:bodyPr/>
          <a:lstStyle/>
          <a:p>
            <a:endParaRPr lang="en-US"/>
          </a:p>
        </p:txBody>
      </p:sp>
      <p:sp>
        <p:nvSpPr>
          <p:cNvPr id="29" name="Text 20"/>
          <p:cNvSpPr txBox="1"/>
          <p:nvPr/>
        </p:nvSpPr>
        <p:spPr>
          <a:xfrm>
            <a:off x="424053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Comfort Systems USA, EMCOR, IES, Limbach, Granite Construction, Construction Partners, Builders FirstSource, Watsco</a:t>
            </a:r>
            <a:endParaRPr lang="en-US" sz="645" dirty="0"/>
          </a:p>
        </p:txBody>
      </p:sp>
      <p:sp>
        <p:nvSpPr>
          <p:cNvPr id="32" name="Energy, Power &amp; Environmental panel"/>
          <p:cNvSpPr/>
          <p:nvPr/>
        </p:nvSpPr>
        <p:spPr>
          <a:xfrm>
            <a:off x="6008370" y="1238250"/>
            <a:ext cx="1767840" cy="4438650"/>
          </a:xfrm>
          <a:prstGeom prst="rect">
            <a:avLst/>
          </a:prstGeom>
          <a:solidFill>
            <a:srgbClr val="FAF7F3"/>
          </a:solidFill>
          <a:ln/>
        </p:spPr>
        <p:txBody>
          <a:bodyPr/>
          <a:lstStyle/>
          <a:p>
            <a:endParaRPr lang="en-US"/>
          </a:p>
        </p:txBody>
      </p:sp>
      <p:sp>
        <p:nvSpPr>
          <p:cNvPr id="33" name="Shape 22"/>
          <p:cNvSpPr/>
          <p:nvPr/>
        </p:nvSpPr>
        <p:spPr>
          <a:xfrm>
            <a:off x="6008370" y="1238250"/>
            <a:ext cx="1767840" cy="28575"/>
          </a:xfrm>
          <a:prstGeom prst="rect">
            <a:avLst/>
          </a:prstGeom>
          <a:solidFill>
            <a:srgbClr val="B68757"/>
          </a:solidFill>
          <a:ln/>
        </p:spPr>
        <p:txBody>
          <a:bodyPr/>
          <a:lstStyle/>
          <a:p>
            <a:endParaRPr lang="en-US"/>
          </a:p>
        </p:txBody>
      </p:sp>
      <p:pic>
        <p:nvPicPr>
          <p:cNvPr id="34" name="Image 3"/>
          <p:cNvPicPr>
            <a:picLocks noChangeAspect="1"/>
          </p:cNvPicPr>
          <p:nvPr/>
        </p:nvPicPr>
        <p:blipFill>
          <a:blip r:embed="rId10"/>
          <a:stretch>
            <a:fillRect/>
          </a:stretch>
        </p:blipFill>
        <p:spPr>
          <a:xfrm>
            <a:off x="6122670" y="1409700"/>
            <a:ext cx="142875" cy="142875"/>
          </a:xfrm>
          <a:prstGeom prst="rect">
            <a:avLst/>
          </a:prstGeom>
        </p:spPr>
      </p:pic>
      <p:sp>
        <p:nvSpPr>
          <p:cNvPr id="35" name="Text 23"/>
          <p:cNvSpPr txBox="1"/>
          <p:nvPr/>
        </p:nvSpPr>
        <p:spPr>
          <a:xfrm>
            <a:off x="631317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Energy, Power &amp; Environmental</a:t>
            </a:r>
            <a:endParaRPr lang="en-US" sz="780" dirty="0"/>
          </a:p>
        </p:txBody>
      </p:sp>
      <p:sp>
        <p:nvSpPr>
          <p:cNvPr id="36" name="Text 24"/>
          <p:cNvSpPr txBox="1"/>
          <p:nvPr/>
        </p:nvSpPr>
        <p:spPr>
          <a:xfrm>
            <a:off x="612267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16.2x</a:t>
            </a:r>
            <a:r>
              <a:rPr lang="en-US" sz="675" dirty="0">
                <a:solidFill>
                  <a:srgbClr val="6F6A66"/>
                </a:solidFill>
              </a:rPr>
              <a:t>  median today</a:t>
            </a:r>
            <a:endParaRPr lang="en-US" sz="2250" dirty="0"/>
          </a:p>
        </p:txBody>
      </p:sp>
      <p:graphicFrame>
        <p:nvGraphicFramePr>
          <p:cNvPr id="37" name="Energy, Power &amp; Environmental multiple history"/>
          <p:cNvGraphicFramePr/>
          <p:nvPr/>
        </p:nvGraphicFramePr>
        <p:xfrm>
          <a:off x="6027420" y="2076450"/>
          <a:ext cx="1729740" cy="1866900"/>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41" name="Table 3"/>
          <p:cNvGraphicFramePr>
            <a:graphicFrameLocks noGrp="1"/>
          </p:cNvGraphicFramePr>
          <p:nvPr>
            <p:extLst>
              <p:ext uri="{D42A27DB-BD31-4B8C-83A1-F6EECF244321}">
                <p14:modId xmlns:p14="http://schemas.microsoft.com/office/powerpoint/2010/main" val="1579011935"/>
              </p:ext>
            </p:extLst>
          </p:nvPr>
        </p:nvGraphicFramePr>
        <p:xfrm>
          <a:off x="610362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23.9x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16.7x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18.2x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−2.0x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9" name="Shape 25"/>
          <p:cNvSpPr/>
          <p:nvPr/>
        </p:nvSpPr>
        <p:spPr>
          <a:xfrm>
            <a:off x="6103620" y="4914900"/>
            <a:ext cx="1577340" cy="0"/>
          </a:xfrm>
          <a:prstGeom prst="line">
            <a:avLst/>
          </a:prstGeom>
          <a:noFill/>
          <a:ln w="9525">
            <a:solidFill>
              <a:srgbClr val="E3DCD3"/>
            </a:solidFill>
            <a:prstDash val="solid"/>
          </a:ln>
        </p:spPr>
        <p:txBody>
          <a:bodyPr/>
          <a:lstStyle/>
          <a:p>
            <a:endParaRPr lang="en-US"/>
          </a:p>
        </p:txBody>
      </p:sp>
      <p:sp>
        <p:nvSpPr>
          <p:cNvPr id="40" name="Text 26"/>
          <p:cNvSpPr txBox="1"/>
          <p:nvPr/>
        </p:nvSpPr>
        <p:spPr>
          <a:xfrm>
            <a:off x="610362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Generac, Quanta Services, Clean Harbors, Republic Services, Waste Connections, Casella Waste Systems, Xylem, Willdan</a:t>
            </a:r>
            <a:endParaRPr lang="en-US" sz="645" dirty="0"/>
          </a:p>
        </p:txBody>
      </p:sp>
      <p:sp>
        <p:nvSpPr>
          <p:cNvPr id="38" name="Transportation &amp; Logistics panel"/>
          <p:cNvSpPr/>
          <p:nvPr/>
        </p:nvSpPr>
        <p:spPr>
          <a:xfrm>
            <a:off x="7871460" y="1238250"/>
            <a:ext cx="1767840" cy="4438650"/>
          </a:xfrm>
          <a:prstGeom prst="rect">
            <a:avLst/>
          </a:prstGeom>
          <a:solidFill>
            <a:srgbClr val="FAF7F3"/>
          </a:solidFill>
          <a:ln/>
        </p:spPr>
        <p:txBody>
          <a:bodyPr/>
          <a:lstStyle/>
          <a:p>
            <a:endParaRPr lang="en-US"/>
          </a:p>
        </p:txBody>
      </p:sp>
      <p:sp>
        <p:nvSpPr>
          <p:cNvPr id="42" name="Shape 28"/>
          <p:cNvSpPr/>
          <p:nvPr/>
        </p:nvSpPr>
        <p:spPr>
          <a:xfrm>
            <a:off x="7871460" y="1238250"/>
            <a:ext cx="1767840" cy="28575"/>
          </a:xfrm>
          <a:prstGeom prst="rect">
            <a:avLst/>
          </a:prstGeom>
          <a:solidFill>
            <a:srgbClr val="B68757"/>
          </a:solidFill>
          <a:ln/>
        </p:spPr>
        <p:txBody>
          <a:bodyPr/>
          <a:lstStyle/>
          <a:p>
            <a:endParaRPr lang="en-US"/>
          </a:p>
        </p:txBody>
      </p:sp>
      <p:pic>
        <p:nvPicPr>
          <p:cNvPr id="43" name="Image 4"/>
          <p:cNvPicPr>
            <a:picLocks noChangeAspect="1"/>
          </p:cNvPicPr>
          <p:nvPr/>
        </p:nvPicPr>
        <p:blipFill>
          <a:blip r:embed="rId12"/>
          <a:stretch>
            <a:fillRect/>
          </a:stretch>
        </p:blipFill>
        <p:spPr>
          <a:xfrm>
            <a:off x="7985760" y="1409700"/>
            <a:ext cx="142875" cy="142875"/>
          </a:xfrm>
          <a:prstGeom prst="rect">
            <a:avLst/>
          </a:prstGeom>
        </p:spPr>
      </p:pic>
      <p:sp>
        <p:nvSpPr>
          <p:cNvPr id="44" name="Text 29"/>
          <p:cNvSpPr txBox="1"/>
          <p:nvPr/>
        </p:nvSpPr>
        <p:spPr>
          <a:xfrm>
            <a:off x="817626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Transportation &amp; Logistics</a:t>
            </a:r>
            <a:endParaRPr lang="en-US" sz="780" dirty="0"/>
          </a:p>
        </p:txBody>
      </p:sp>
      <p:sp>
        <p:nvSpPr>
          <p:cNvPr id="45" name="Text 30"/>
          <p:cNvSpPr txBox="1"/>
          <p:nvPr/>
        </p:nvSpPr>
        <p:spPr>
          <a:xfrm>
            <a:off x="798576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12.7x</a:t>
            </a:r>
            <a:r>
              <a:rPr lang="en-US" sz="675" dirty="0">
                <a:solidFill>
                  <a:srgbClr val="6F6A66"/>
                </a:solidFill>
              </a:rPr>
              <a:t>  median today</a:t>
            </a:r>
            <a:endParaRPr lang="en-US" sz="2250" dirty="0"/>
          </a:p>
        </p:txBody>
      </p:sp>
      <p:graphicFrame>
        <p:nvGraphicFramePr>
          <p:cNvPr id="46" name="Transportation &amp; Logistics multiple history"/>
          <p:cNvGraphicFramePr/>
          <p:nvPr/>
        </p:nvGraphicFramePr>
        <p:xfrm>
          <a:off x="7890510" y="2076450"/>
          <a:ext cx="1729740" cy="1866900"/>
        </p:xfrm>
        <a:graphic>
          <a:graphicData uri="http://schemas.openxmlformats.org/drawingml/2006/chart">
            <c:chart xmlns:c="http://schemas.openxmlformats.org/drawingml/2006/chart" xmlns:r="http://schemas.openxmlformats.org/officeDocument/2006/relationships" r:id="rId13"/>
          </a:graphicData>
        </a:graphic>
      </p:graphicFrame>
      <p:graphicFrame>
        <p:nvGraphicFramePr>
          <p:cNvPr id="51" name="Table 4"/>
          <p:cNvGraphicFramePr>
            <a:graphicFrameLocks noGrp="1"/>
          </p:cNvGraphicFramePr>
          <p:nvPr>
            <p:extLst>
              <p:ext uri="{D42A27DB-BD31-4B8C-83A1-F6EECF244321}">
                <p14:modId xmlns:p14="http://schemas.microsoft.com/office/powerpoint/2010/main" val="1579011935"/>
              </p:ext>
            </p:extLst>
          </p:nvPr>
        </p:nvGraphicFramePr>
        <p:xfrm>
          <a:off x="796671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12.2x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11.4x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48" name="Shape 31"/>
          <p:cNvSpPr/>
          <p:nvPr/>
        </p:nvSpPr>
        <p:spPr>
          <a:xfrm>
            <a:off x="7966710" y="4914900"/>
            <a:ext cx="1577340" cy="0"/>
          </a:xfrm>
          <a:prstGeom prst="line">
            <a:avLst/>
          </a:prstGeom>
          <a:noFill/>
          <a:ln w="9525">
            <a:solidFill>
              <a:srgbClr val="E3DCD3"/>
            </a:solidFill>
            <a:prstDash val="solid"/>
          </a:ln>
        </p:spPr>
        <p:txBody>
          <a:bodyPr/>
          <a:lstStyle/>
          <a:p>
            <a:endParaRPr lang="en-US"/>
          </a:p>
        </p:txBody>
      </p:sp>
      <p:sp>
        <p:nvSpPr>
          <p:cNvPr id="49" name="Text 32"/>
          <p:cNvSpPr txBox="1"/>
          <p:nvPr/>
        </p:nvSpPr>
        <p:spPr>
          <a:xfrm>
            <a:off x="796671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J.B. Hunt, Knight-Swift, Werner Enterprises, C.H. Robinson, Kirby, Landstar System, Schneider National</a:t>
            </a:r>
            <a:endParaRPr lang="en-US" sz="645" dirty="0"/>
          </a:p>
        </p:txBody>
      </p:sp>
      <p:sp>
        <p:nvSpPr>
          <p:cNvPr id="50" name="Private-market reference points"/>
          <p:cNvSpPr/>
          <p:nvPr/>
        </p:nvSpPr>
        <p:spPr>
          <a:xfrm>
            <a:off x="419100" y="5791200"/>
            <a:ext cx="9220200" cy="1143000"/>
          </a:xfrm>
          <a:prstGeom prst="rect">
            <a:avLst/>
          </a:prstGeom>
          <a:solidFill>
            <a:srgbClr val="1B1A1A"/>
          </a:solidFill>
          <a:ln/>
        </p:spPr>
        <p:txBody>
          <a:bodyPr/>
          <a:lstStyle/>
          <a:p>
            <a:endParaRPr lang="en-US"/>
          </a:p>
        </p:txBody>
      </p:sp>
      <p:sp>
        <p:nvSpPr>
          <p:cNvPr id="47" name="Text 34"/>
          <p:cNvSpPr txBox="1"/>
          <p:nvPr/>
        </p:nvSpPr>
        <p:spPr>
          <a:xfrm>
            <a:off x="609600" y="5924550"/>
            <a:ext cx="1809750" cy="266700"/>
          </a:xfrm>
          <a:prstGeom prst="rect">
            <a:avLst/>
          </a:prstGeom>
          <a:noFill/>
          <a:ln/>
        </p:spPr>
        <p:txBody>
          <a:bodyPr wrap="square" lIns="0" tIns="0" rIns="0" bIns="0" rtlCol="0" anchor="t"/>
          <a:lstStyle/>
          <a:p>
            <a:pPr marL="0" indent="0">
              <a:buNone/>
            </a:pPr>
            <a:r>
              <a:rPr lang="en-US" sz="675" b="1" kern="0" spc="200" dirty="0">
                <a:solidFill>
                  <a:srgbClr val="8C6239"/>
                </a:solidFill>
              </a:rPr>
              <a:t>PRIVATE-MARKET REFERENCE POINTS</a:t>
            </a:r>
            <a:endParaRPr lang="en-US" sz="675" dirty="0"/>
          </a:p>
        </p:txBody>
      </p:sp>
      <p:sp>
        <p:nvSpPr>
          <p:cNvPr id="52" name="Text 35"/>
          <p:cNvSpPr txBox="1"/>
          <p:nvPr/>
        </p:nvSpPr>
        <p:spPr>
          <a:xfrm>
            <a:off x="609600" y="6210300"/>
            <a:ext cx="1809750" cy="666750"/>
          </a:xfrm>
          <a:prstGeom prst="rect">
            <a:avLst/>
          </a:prstGeom>
          <a:noFill/>
          <a:ln/>
        </p:spPr>
        <p:txBody>
          <a:bodyPr wrap="square" lIns="0" tIns="0" rIns="0" bIns="0" rtlCol="0" anchor="t"/>
          <a:lstStyle/>
          <a:p>
            <a:pPr marL="0" indent="0">
              <a:lnSpc>
                <a:spcPts val="1200"/>
              </a:lnSpc>
              <a:buNone/>
            </a:pPr>
            <a:r>
              <a:rPr lang="en-US" sz="870" i="1" dirty="0">
                <a:solidFill>
                  <a:srgbClr val="FFFFFF"/>
                </a:solidFill>
                <a:latin typeface="+mj-lt" pitchFamily="34" charset="0"/>
              </a:rPr>
              <a:t>Listed multiples describe companies many times larger than a founder-owned business and show relative standing among the sectors.</a:t>
            </a:r>
            <a:endParaRPr lang="en-US" sz="870" dirty="0"/>
          </a:p>
        </p:txBody>
      </p:sp>
      <p:sp>
        <p:nvSpPr>
          <p:cNvPr id="53" name="Shape 36"/>
          <p:cNvSpPr/>
          <p:nvPr/>
        </p:nvSpPr>
        <p:spPr>
          <a:xfrm>
            <a:off x="2628900" y="5924550"/>
            <a:ext cx="0" cy="895350"/>
          </a:xfrm>
          <a:prstGeom prst="line">
            <a:avLst/>
          </a:prstGeom>
          <a:noFill/>
          <a:ln w="9525">
            <a:solidFill>
              <a:srgbClr val="5B4E40"/>
            </a:solidFill>
            <a:prstDash val="solid"/>
          </a:ln>
        </p:spPr>
        <p:txBody>
          <a:bodyPr/>
          <a:lstStyle/>
          <a:p>
            <a:endParaRPr lang="en-US"/>
          </a:p>
        </p:txBody>
      </p:sp>
      <p:sp>
        <p:nvSpPr>
          <p:cNvPr id="54" name="Text 37"/>
          <p:cNvSpPr txBox="1"/>
          <p:nvPr/>
        </p:nvSpPr>
        <p:spPr>
          <a:xfrm>
            <a:off x="27813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7.0x</a:t>
            </a:r>
            <a:endParaRPr lang="en-US" sz="1800" dirty="0"/>
          </a:p>
        </p:txBody>
      </p:sp>
      <p:sp>
        <p:nvSpPr>
          <p:cNvPr id="55" name="Text 38"/>
          <p:cNvSpPr txBox="1"/>
          <p:nvPr/>
        </p:nvSpPr>
        <p:spPr>
          <a:xfrm>
            <a:off x="27813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Average for completed middle-market transactions in all industries in the second quarter of 2026 (</a:t>
            </a:r>
            <a:r>
              <a:rPr lang="en-US" sz="720" u="sng" dirty="0">
                <a:solidFill>
                  <a:srgbClr val="D3AE84"/>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E8E2DA"/>
                </a:solidFill>
              </a:rPr>
              <a:t>)</a:t>
            </a:r>
            <a:endParaRPr lang="en-US" sz="720" dirty="0"/>
          </a:p>
        </p:txBody>
      </p:sp>
      <p:sp>
        <p:nvSpPr>
          <p:cNvPr id="56" name="Shape 39"/>
          <p:cNvSpPr/>
          <p:nvPr/>
        </p:nvSpPr>
        <p:spPr>
          <a:xfrm>
            <a:off x="4991100" y="5924550"/>
            <a:ext cx="0" cy="895350"/>
          </a:xfrm>
          <a:prstGeom prst="line">
            <a:avLst/>
          </a:prstGeom>
          <a:noFill/>
          <a:ln w="9525">
            <a:solidFill>
              <a:srgbClr val="5B4E40"/>
            </a:solidFill>
            <a:prstDash val="solid"/>
          </a:ln>
        </p:spPr>
        <p:txBody>
          <a:bodyPr/>
          <a:lstStyle/>
          <a:p>
            <a:endParaRPr lang="en-US"/>
          </a:p>
        </p:txBody>
      </p:sp>
      <p:sp>
        <p:nvSpPr>
          <p:cNvPr id="57" name="Text 40"/>
          <p:cNvSpPr txBox="1"/>
          <p:nvPr/>
        </p:nvSpPr>
        <p:spPr>
          <a:xfrm>
            <a:off x="51435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5.8x</a:t>
            </a:r>
            <a:endParaRPr lang="en-US" sz="1800" dirty="0"/>
          </a:p>
        </p:txBody>
      </p:sp>
      <p:sp>
        <p:nvSpPr>
          <p:cNvPr id="58" name="Text 41"/>
          <p:cNvSpPr txBox="1"/>
          <p:nvPr/>
        </p:nvSpPr>
        <p:spPr>
          <a:xfrm>
            <a:off x="51435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Median for transactions of $5 million to $50 million in all industries in the second quarter of 2026 (</a:t>
            </a:r>
            <a:r>
              <a:rPr lang="en-US" sz="720" u="sng" dirty="0">
                <a:solidFill>
                  <a:srgbClr val="D3AE84"/>
                </a:solidFill>
                <a:hlinkClick r:id="rId15"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E8E2DA"/>
                </a:solidFill>
              </a:rPr>
              <a:t>)</a:t>
            </a:r>
            <a:endParaRPr lang="en-US" sz="720" dirty="0"/>
          </a:p>
        </p:txBody>
      </p:sp>
      <p:sp>
        <p:nvSpPr>
          <p:cNvPr id="59" name="Shape 42"/>
          <p:cNvSpPr/>
          <p:nvPr/>
        </p:nvSpPr>
        <p:spPr>
          <a:xfrm>
            <a:off x="7353300" y="5924550"/>
            <a:ext cx="0" cy="895350"/>
          </a:xfrm>
          <a:prstGeom prst="line">
            <a:avLst/>
          </a:prstGeom>
          <a:noFill/>
          <a:ln w="9525">
            <a:solidFill>
              <a:srgbClr val="5B4E40"/>
            </a:solidFill>
            <a:prstDash val="solid"/>
          </a:ln>
        </p:spPr>
        <p:txBody>
          <a:bodyPr/>
          <a:lstStyle/>
          <a:p>
            <a:endParaRPr lang="en-US"/>
          </a:p>
        </p:txBody>
      </p:sp>
      <p:sp>
        <p:nvSpPr>
          <p:cNvPr id="60" name="Text 43"/>
          <p:cNvSpPr txBox="1"/>
          <p:nvPr/>
        </p:nvSpPr>
        <p:spPr>
          <a:xfrm>
            <a:off x="75057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5.0x to 8.0x</a:t>
            </a:r>
            <a:endParaRPr lang="en-US" sz="1800" dirty="0"/>
          </a:p>
        </p:txBody>
      </p:sp>
      <p:sp>
        <p:nvSpPr>
          <p:cNvPr id="61" name="Text 44"/>
          <p:cNvSpPr txBox="1"/>
          <p:nvPr/>
        </p:nvSpPr>
        <p:spPr>
          <a:xfrm>
            <a:off x="75057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Survey medians for manufacturing, wholesale and construction companies with $1 million to $25 million of EBITDA (</a:t>
            </a:r>
            <a:r>
              <a:rPr lang="en-US" sz="720" u="sng" dirty="0">
                <a:solidFill>
                  <a:srgbClr val="D3AE84"/>
                </a:solidFill>
                <a:hlinkClick r:id="rId16"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E8E2DA"/>
                </a:solidFill>
              </a:rPr>
              <a:t>)</a:t>
            </a:r>
            <a:endParaRPr lang="en-US" sz="720" dirty="0"/>
          </a:p>
        </p:txBody>
      </p:sp>
      <p:sp>
        <p:nvSpPr>
          <p:cNvPr id="62"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Operating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companies are growing revenue about 22% a year, and manufacturers earn the highest margins.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sector.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Trailing periods end between April and July 2026. EBITDA is as reported and is lower than the adjusted EBITDA that companies present. Forward estimates are not included.</a:t>
            </a:r>
            <a:endParaRPr lang="en-US" sz="675" dirty="0"/>
          </a:p>
        </p:txBody>
      </p:sp>
      <p:sp>
        <p:nvSpPr>
          <p:cNvPr id="5" name="Median revenue growth"/>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revenue growth</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against the prior twelve, including acquisitions</a:t>
            </a:r>
            <a:endParaRPr lang="en-US" sz="720" dirty="0"/>
          </a:p>
        </p:txBody>
      </p:sp>
      <p:graphicFrame>
        <p:nvGraphicFramePr>
          <p:cNvPr id="9" name="Median revenue growth"/>
          <p:cNvGraphicFramePr/>
          <p:nvPr/>
        </p:nvGraphicFramePr>
        <p:xfrm>
          <a:off x="514350" y="1790700"/>
          <a:ext cx="4305300" cy="21526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BITDA growth"/>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growth</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Latest fiscal year against the prior fiscal year, on reported EBITDA</a:t>
            </a:r>
            <a:endParaRPr lang="en-US" sz="720" dirty="0"/>
          </a:p>
        </p:txBody>
      </p:sp>
      <p:graphicFrame>
        <p:nvGraphicFramePr>
          <p:cNvPr id="14" name="Median EBITDA growth"/>
          <p:cNvGraphicFramePr/>
          <p:nvPr/>
        </p:nvGraphicFramePr>
        <p:xfrm>
          <a:off x="5200650" y="1790700"/>
          <a:ext cx="4305300" cy="21526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EBITDA margin"/>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margin</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on reported EBITDA</a:t>
            </a:r>
            <a:endParaRPr lang="en-US" sz="720" dirty="0"/>
          </a:p>
        </p:txBody>
      </p:sp>
      <p:graphicFrame>
        <p:nvGraphicFramePr>
          <p:cNvPr id="19" name="Median EBITDA margin"/>
          <p:cNvGraphicFramePr/>
          <p:nvPr/>
        </p:nvGraphicFramePr>
        <p:xfrm>
          <a:off x="514350" y="4705350"/>
          <a:ext cx="4305300" cy="21526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free cash flow conversion"/>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free cash flow conversion</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free cash flow as a share of trailing EBITDA</a:t>
            </a:r>
            <a:endParaRPr lang="en-US" sz="720" dirty="0"/>
          </a:p>
        </p:txBody>
      </p:sp>
      <p:graphicFrame>
        <p:nvGraphicFramePr>
          <p:cNvPr id="24" name="Median free cash flow conversion"/>
          <p:cNvGraphicFramePr/>
          <p:nvPr/>
        </p:nvGraphicFramePr>
        <p:xfrm>
          <a:off x="5200650" y="4705350"/>
          <a:ext cx="4305300" cy="21526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Transportation shares rose a median 43% in a year and still trade at the lowest multiple of EBITDA of the five sectors.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sector.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Year-end 2025 multiples stand in for the forward multiples that a licensed data service would provide. Three of the eight building products and construction companies hold more cash than debt.</a:t>
            </a:r>
            <a:endParaRPr lang="en-US" sz="675" dirty="0"/>
          </a:p>
        </p:txBody>
      </p:sp>
      <p:sp>
        <p:nvSpPr>
          <p:cNvPr id="5" name="Median enterprise value to trailing EBITDA"/>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trailing EBITDA</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Today, on share prices from September 28 to October 7, 2026</a:t>
            </a:r>
            <a:endParaRPr lang="en-US" sz="720" dirty="0"/>
          </a:p>
        </p:txBody>
      </p:sp>
      <p:graphicFrame>
        <p:nvGraphicFramePr>
          <p:cNvPr id="9" name="Median enterprise value to trailing EBITDA"/>
          <p:cNvGraphicFramePr/>
          <p:nvPr/>
        </p:nvGraphicFramePr>
        <p:xfrm>
          <a:off x="514350" y="1828800"/>
          <a:ext cx="4305300" cy="21145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nterprise value to EBITDA at fiscal year-end 2025"/>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EBITDA at fiscal year-end 2025</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At each company’s 2025 fiscal year-end, for comparison with today</a:t>
            </a:r>
            <a:endParaRPr lang="en-US" sz="720" dirty="0"/>
          </a:p>
        </p:txBody>
      </p:sp>
      <p:graphicFrame>
        <p:nvGraphicFramePr>
          <p:cNvPr id="14" name="Median enterprise value to EBITDA at fiscal year-end 2025"/>
          <p:cNvGraphicFramePr/>
          <p:nvPr/>
        </p:nvGraphicFramePr>
        <p:xfrm>
          <a:off x="5200650" y="1828800"/>
          <a:ext cx="4305300" cy="21145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change in share price over 52 weeks"/>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change in share price over 52 weeks</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Shares rose at 7 of 7 manufacturing, 8 of 8 distribution, 4 of 8 building, 3 of 8 energy and 7 of 7 transport companies</a:t>
            </a:r>
            <a:endParaRPr lang="en-US" sz="720" dirty="0"/>
          </a:p>
        </p:txBody>
      </p:sp>
      <p:graphicFrame>
        <p:nvGraphicFramePr>
          <p:cNvPr id="19" name="Median change in share price over 52 weeks"/>
          <p:cNvGraphicFramePr/>
          <p:nvPr/>
        </p:nvGraphicFramePr>
        <p:xfrm>
          <a:off x="514350" y="4743450"/>
          <a:ext cx="4305300" cy="21145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net debt to trailing EBITDA"/>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net debt to trailing EBITDA</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Total debt less cash, divided by trailing reported EBITDA</a:t>
            </a:r>
            <a:endParaRPr lang="en-US" sz="720" dirty="0"/>
          </a:p>
        </p:txBody>
      </p:sp>
      <p:graphicFrame>
        <p:nvGraphicFramePr>
          <p:cNvPr id="24" name="Median net debt to trailing EBITDA"/>
          <p:cNvGraphicFramePr/>
          <p:nvPr/>
        </p:nvGraphicFramePr>
        <p:xfrm>
          <a:off x="5200650" y="4743450"/>
          <a:ext cx="4305300" cy="21145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Economic Trends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Capital goods orders are 14% above a year ago, diesel is up 68% and the 10-year Treasury yield averaged 4.99%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series runs monthly from October 2021 to its latest reading, which is August 2026 for all series except diesel and the Treasury yield (September 2026). Recent months are preliminary and subject to revision.</a:t>
            </a:r>
            <a:endParaRPr lang="en-US" sz="675" dirty="0"/>
          </a:p>
        </p:txBody>
      </p:sp>
      <p:sp>
        <p:nvSpPr>
          <p:cNvPr id="5" name="Core capital goods orders"/>
          <p:cNvSpPr/>
          <p:nvPr/>
        </p:nvSpPr>
        <p:spPr>
          <a:xfrm>
            <a:off x="419100" y="1238250"/>
            <a:ext cx="2219325" cy="2790825"/>
          </a:xfrm>
          <a:prstGeom prst="rect">
            <a:avLst/>
          </a:prstGeom>
          <a:solidFill>
            <a:srgbClr val="FAF7F3"/>
          </a:solidFill>
          <a:ln/>
        </p:spPr>
        <p:txBody>
          <a:bodyPr/>
          <a:lstStyle/>
          <a:p>
            <a:endParaRPr lang="en-US"/>
          </a:p>
        </p:txBody>
      </p:sp>
      <p:sp>
        <p:nvSpPr>
          <p:cNvPr id="6" name="Shape 4"/>
          <p:cNvSpPr/>
          <p:nvPr/>
        </p:nvSpPr>
        <p:spPr>
          <a:xfrm>
            <a:off x="419100" y="1238250"/>
            <a:ext cx="2219325" cy="28575"/>
          </a:xfrm>
          <a:prstGeom prst="rect">
            <a:avLst/>
          </a:prstGeom>
          <a:solidFill>
            <a:srgbClr val="B68757"/>
          </a:solidFill>
          <a:ln/>
        </p:spPr>
        <p:txBody>
          <a:bodyPr/>
          <a:lstStyle/>
          <a:p>
            <a:endParaRPr lang="en-US"/>
          </a:p>
        </p:txBody>
      </p:sp>
      <p:sp>
        <p:nvSpPr>
          <p:cNvPr id="7" name="Text 5"/>
          <p:cNvSpPr txBox="1"/>
          <p:nvPr/>
        </p:nvSpPr>
        <p:spPr>
          <a:xfrm>
            <a:off x="54292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Core capital goods orders</a:t>
            </a:r>
            <a:endParaRPr lang="en-US" sz="855" dirty="0"/>
          </a:p>
        </p:txBody>
      </p:sp>
      <p:sp>
        <p:nvSpPr>
          <p:cNvPr id="8" name="Text 6"/>
          <p:cNvSpPr txBox="1"/>
          <p:nvPr/>
        </p:nvSpPr>
        <p:spPr>
          <a:xfrm>
            <a:off x="54292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Nondefense capital goods excluding aircraft, monthly, US Census Bureau</a:t>
            </a:r>
            <a:endParaRPr lang="en-US" sz="645" dirty="0"/>
          </a:p>
        </p:txBody>
      </p:sp>
      <p:sp>
        <p:nvSpPr>
          <p:cNvPr id="9" name="Text 7"/>
          <p:cNvSpPr txBox="1"/>
          <p:nvPr/>
        </p:nvSpPr>
        <p:spPr>
          <a:xfrm>
            <a:off x="54292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$87.6B</a:t>
            </a:r>
            <a:endParaRPr lang="en-US" sz="1875" dirty="0"/>
          </a:p>
        </p:txBody>
      </p:sp>
      <p:sp>
        <p:nvSpPr>
          <p:cNvPr id="10" name="Text 8"/>
          <p:cNvSpPr txBox="1"/>
          <p:nvPr/>
        </p:nvSpPr>
        <p:spPr>
          <a:xfrm>
            <a:off x="54292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11" name="Text 9"/>
          <p:cNvSpPr txBox="1"/>
          <p:nvPr/>
        </p:nvSpPr>
        <p:spPr>
          <a:xfrm>
            <a:off x="156210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+14.1%</a:t>
            </a:r>
            <a:endParaRPr lang="en-US" sz="900" dirty="0"/>
          </a:p>
        </p:txBody>
      </p:sp>
      <p:sp>
        <p:nvSpPr>
          <p:cNvPr id="12" name="Text 10"/>
          <p:cNvSpPr txBox="1"/>
          <p:nvPr/>
        </p:nvSpPr>
        <p:spPr>
          <a:xfrm>
            <a:off x="156210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13" name="Core capital goods orders"/>
          <p:cNvGraphicFramePr/>
          <p:nvPr/>
        </p:nvGraphicFramePr>
        <p:xfrm>
          <a:off x="457200" y="2228850"/>
          <a:ext cx="2143125" cy="1571625"/>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 11"/>
          <p:cNvSpPr txBox="1"/>
          <p:nvPr/>
        </p:nvSpPr>
        <p:spPr>
          <a:xfrm>
            <a:off x="54292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4">
                  <a:extLst>
                    <a:ext uri="{A12FA001-AC4F-418D-AE19-62706E023703}">
                      <ahyp:hlinkClr xmlns:ahyp="http://schemas.microsoft.com/office/drawing/2018/hyperlinkcolor" val="tx"/>
                    </a:ext>
                  </a:extLst>
                </a:hlinkClick>
              </a:rPr>
              <a:t>FRED, series NEWORDER</a:t>
            </a:r>
            <a:endParaRPr lang="en-US" sz="630" dirty="0"/>
          </a:p>
        </p:txBody>
      </p:sp>
      <p:sp>
        <p:nvSpPr>
          <p:cNvPr id="15" name="Manufacturing capacity utilization"/>
          <p:cNvSpPr/>
          <p:nvPr/>
        </p:nvSpPr>
        <p:spPr>
          <a:xfrm>
            <a:off x="2752725" y="1238250"/>
            <a:ext cx="2219325" cy="2790825"/>
          </a:xfrm>
          <a:prstGeom prst="rect">
            <a:avLst/>
          </a:prstGeom>
          <a:solidFill>
            <a:srgbClr val="FAF7F3"/>
          </a:solidFill>
          <a:ln/>
        </p:spPr>
        <p:txBody>
          <a:bodyPr/>
          <a:lstStyle/>
          <a:p>
            <a:endParaRPr lang="en-US"/>
          </a:p>
        </p:txBody>
      </p:sp>
      <p:sp>
        <p:nvSpPr>
          <p:cNvPr id="16" name="Shape 13"/>
          <p:cNvSpPr/>
          <p:nvPr/>
        </p:nvSpPr>
        <p:spPr>
          <a:xfrm>
            <a:off x="2752725" y="1238250"/>
            <a:ext cx="2219325" cy="28575"/>
          </a:xfrm>
          <a:prstGeom prst="rect">
            <a:avLst/>
          </a:prstGeom>
          <a:solidFill>
            <a:srgbClr val="B68757"/>
          </a:solidFill>
          <a:ln/>
        </p:spPr>
        <p:txBody>
          <a:bodyPr/>
          <a:lstStyle/>
          <a:p>
            <a:endParaRPr lang="en-US"/>
          </a:p>
        </p:txBody>
      </p:sp>
      <p:sp>
        <p:nvSpPr>
          <p:cNvPr id="17" name="Text 14"/>
          <p:cNvSpPr txBox="1"/>
          <p:nvPr/>
        </p:nvSpPr>
        <p:spPr>
          <a:xfrm>
            <a:off x="287655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capacity utilization</a:t>
            </a:r>
            <a:endParaRPr lang="en-US" sz="855" dirty="0"/>
          </a:p>
        </p:txBody>
      </p:sp>
      <p:sp>
        <p:nvSpPr>
          <p:cNvPr id="18" name="Text 15"/>
          <p:cNvSpPr txBox="1"/>
          <p:nvPr/>
        </p:nvSpPr>
        <p:spPr>
          <a:xfrm>
            <a:off x="287655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Share of manufacturing capacity in use, Federal Reserve</a:t>
            </a:r>
            <a:endParaRPr lang="en-US" sz="645" dirty="0"/>
          </a:p>
        </p:txBody>
      </p:sp>
      <p:sp>
        <p:nvSpPr>
          <p:cNvPr id="19" name="Text 16"/>
          <p:cNvSpPr txBox="1"/>
          <p:nvPr/>
        </p:nvSpPr>
        <p:spPr>
          <a:xfrm>
            <a:off x="287655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75.7%</a:t>
            </a:r>
            <a:endParaRPr lang="en-US" sz="1875" dirty="0"/>
          </a:p>
        </p:txBody>
      </p:sp>
      <p:sp>
        <p:nvSpPr>
          <p:cNvPr id="20" name="Text 17"/>
          <p:cNvSpPr txBox="1"/>
          <p:nvPr/>
        </p:nvSpPr>
        <p:spPr>
          <a:xfrm>
            <a:off x="287655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21" name="Text 18"/>
          <p:cNvSpPr txBox="1"/>
          <p:nvPr/>
        </p:nvSpPr>
        <p:spPr>
          <a:xfrm>
            <a:off x="389572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−0.1 pts</a:t>
            </a:r>
            <a:endParaRPr lang="en-US" sz="900" dirty="0"/>
          </a:p>
        </p:txBody>
      </p:sp>
      <p:sp>
        <p:nvSpPr>
          <p:cNvPr id="22" name="Text 19"/>
          <p:cNvSpPr txBox="1"/>
          <p:nvPr/>
        </p:nvSpPr>
        <p:spPr>
          <a:xfrm>
            <a:off x="389572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23" name="Manufacturing capacity utilization"/>
          <p:cNvGraphicFramePr/>
          <p:nvPr/>
        </p:nvGraphicFramePr>
        <p:xfrm>
          <a:off x="2790825" y="2228850"/>
          <a:ext cx="2143125" cy="1571625"/>
        </p:xfrm>
        <a:graphic>
          <a:graphicData uri="http://schemas.openxmlformats.org/drawingml/2006/chart">
            <c:chart xmlns:c="http://schemas.openxmlformats.org/drawingml/2006/chart" xmlns:r="http://schemas.openxmlformats.org/officeDocument/2006/relationships" r:id="rId5"/>
          </a:graphicData>
        </a:graphic>
      </p:graphicFrame>
      <p:sp>
        <p:nvSpPr>
          <p:cNvPr id="24" name="Text 20"/>
          <p:cNvSpPr txBox="1"/>
          <p:nvPr/>
        </p:nvSpPr>
        <p:spPr>
          <a:xfrm>
            <a:off x="287655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6">
                  <a:extLst>
                    <a:ext uri="{A12FA001-AC4F-418D-AE19-62706E023703}">
                      <ahyp:hlinkClr xmlns:ahyp="http://schemas.microsoft.com/office/drawing/2018/hyperlinkcolor" val="tx"/>
                    </a:ext>
                  </a:extLst>
                </a:hlinkClick>
              </a:rPr>
              <a:t>FRED, series MCUMFN</a:t>
            </a:r>
            <a:endParaRPr lang="en-US" sz="630" dirty="0"/>
          </a:p>
        </p:txBody>
      </p:sp>
      <p:sp>
        <p:nvSpPr>
          <p:cNvPr id="25" name="Total construction spending"/>
          <p:cNvSpPr/>
          <p:nvPr/>
        </p:nvSpPr>
        <p:spPr>
          <a:xfrm>
            <a:off x="5086350" y="1238250"/>
            <a:ext cx="2219325" cy="2790825"/>
          </a:xfrm>
          <a:prstGeom prst="rect">
            <a:avLst/>
          </a:prstGeom>
          <a:solidFill>
            <a:srgbClr val="FAF7F3"/>
          </a:solidFill>
          <a:ln/>
        </p:spPr>
        <p:txBody>
          <a:bodyPr/>
          <a:lstStyle/>
          <a:p>
            <a:endParaRPr lang="en-US"/>
          </a:p>
        </p:txBody>
      </p:sp>
      <p:sp>
        <p:nvSpPr>
          <p:cNvPr id="26" name="Shape 22"/>
          <p:cNvSpPr/>
          <p:nvPr/>
        </p:nvSpPr>
        <p:spPr>
          <a:xfrm>
            <a:off x="5086350" y="1238250"/>
            <a:ext cx="2219325" cy="28575"/>
          </a:xfrm>
          <a:prstGeom prst="rect">
            <a:avLst/>
          </a:prstGeom>
          <a:solidFill>
            <a:srgbClr val="B68757"/>
          </a:solidFill>
          <a:ln/>
        </p:spPr>
        <p:txBody>
          <a:bodyPr/>
          <a:lstStyle/>
          <a:p>
            <a:endParaRPr lang="en-US"/>
          </a:p>
        </p:txBody>
      </p:sp>
      <p:sp>
        <p:nvSpPr>
          <p:cNvPr id="27" name="Text 23"/>
          <p:cNvSpPr txBox="1"/>
          <p:nvPr/>
        </p:nvSpPr>
        <p:spPr>
          <a:xfrm>
            <a:off x="521017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Total construction spending</a:t>
            </a:r>
            <a:endParaRPr lang="en-US" sz="855" dirty="0"/>
          </a:p>
        </p:txBody>
      </p:sp>
      <p:sp>
        <p:nvSpPr>
          <p:cNvPr id="28" name="Text 24"/>
          <p:cNvSpPr txBox="1"/>
          <p:nvPr/>
        </p:nvSpPr>
        <p:spPr>
          <a:xfrm>
            <a:off x="521017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Seasonally adjusted annual rate, US Census Bureau</a:t>
            </a:r>
            <a:endParaRPr lang="en-US" sz="645" dirty="0"/>
          </a:p>
        </p:txBody>
      </p:sp>
      <p:sp>
        <p:nvSpPr>
          <p:cNvPr id="29" name="Text 25"/>
          <p:cNvSpPr txBox="1"/>
          <p:nvPr/>
        </p:nvSpPr>
        <p:spPr>
          <a:xfrm>
            <a:off x="521017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$2.20T</a:t>
            </a:r>
            <a:endParaRPr lang="en-US" sz="1875" dirty="0"/>
          </a:p>
        </p:txBody>
      </p:sp>
      <p:sp>
        <p:nvSpPr>
          <p:cNvPr id="30" name="Text 26"/>
          <p:cNvSpPr txBox="1"/>
          <p:nvPr/>
        </p:nvSpPr>
        <p:spPr>
          <a:xfrm>
            <a:off x="521017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31" name="Text 27"/>
          <p:cNvSpPr txBox="1"/>
          <p:nvPr/>
        </p:nvSpPr>
        <p:spPr>
          <a:xfrm>
            <a:off x="622935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−1.7%</a:t>
            </a:r>
            <a:endParaRPr lang="en-US" sz="900" dirty="0"/>
          </a:p>
        </p:txBody>
      </p:sp>
      <p:sp>
        <p:nvSpPr>
          <p:cNvPr id="32" name="Text 28"/>
          <p:cNvSpPr txBox="1"/>
          <p:nvPr/>
        </p:nvSpPr>
        <p:spPr>
          <a:xfrm>
            <a:off x="622935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33" name="Total construction spending"/>
          <p:cNvGraphicFramePr/>
          <p:nvPr/>
        </p:nvGraphicFramePr>
        <p:xfrm>
          <a:off x="5124450" y="2228850"/>
          <a:ext cx="2143125" cy="1571625"/>
        </p:xfrm>
        <a:graphic>
          <a:graphicData uri="http://schemas.openxmlformats.org/drawingml/2006/chart">
            <c:chart xmlns:c="http://schemas.openxmlformats.org/drawingml/2006/chart" xmlns:r="http://schemas.openxmlformats.org/officeDocument/2006/relationships" r:id="rId7"/>
          </a:graphicData>
        </a:graphic>
      </p:graphicFrame>
      <p:sp>
        <p:nvSpPr>
          <p:cNvPr id="34" name="Text 29"/>
          <p:cNvSpPr txBox="1"/>
          <p:nvPr/>
        </p:nvSpPr>
        <p:spPr>
          <a:xfrm>
            <a:off x="521017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8">
                  <a:extLst>
                    <a:ext uri="{A12FA001-AC4F-418D-AE19-62706E023703}">
                      <ahyp:hlinkClr xmlns:ahyp="http://schemas.microsoft.com/office/drawing/2018/hyperlinkcolor" val="tx"/>
                    </a:ext>
                  </a:extLst>
                </a:hlinkClick>
              </a:rPr>
              <a:t>FRED, series TTLCONS</a:t>
            </a:r>
            <a:endParaRPr lang="en-US" sz="630" dirty="0"/>
          </a:p>
        </p:txBody>
      </p:sp>
      <p:sp>
        <p:nvSpPr>
          <p:cNvPr id="35" name="Manufacturing construction"/>
          <p:cNvSpPr/>
          <p:nvPr/>
        </p:nvSpPr>
        <p:spPr>
          <a:xfrm>
            <a:off x="7419975" y="1238250"/>
            <a:ext cx="2219325" cy="2790825"/>
          </a:xfrm>
          <a:prstGeom prst="rect">
            <a:avLst/>
          </a:prstGeom>
          <a:solidFill>
            <a:srgbClr val="FAF7F3"/>
          </a:solidFill>
          <a:ln/>
        </p:spPr>
        <p:txBody>
          <a:bodyPr/>
          <a:lstStyle/>
          <a:p>
            <a:endParaRPr lang="en-US"/>
          </a:p>
        </p:txBody>
      </p:sp>
      <p:sp>
        <p:nvSpPr>
          <p:cNvPr id="36" name="Shape 31"/>
          <p:cNvSpPr/>
          <p:nvPr/>
        </p:nvSpPr>
        <p:spPr>
          <a:xfrm>
            <a:off x="7419975" y="1238250"/>
            <a:ext cx="2219325" cy="28575"/>
          </a:xfrm>
          <a:prstGeom prst="rect">
            <a:avLst/>
          </a:prstGeom>
          <a:solidFill>
            <a:srgbClr val="B68757"/>
          </a:solidFill>
          <a:ln/>
        </p:spPr>
        <p:txBody>
          <a:bodyPr/>
          <a:lstStyle/>
          <a:p>
            <a:endParaRPr lang="en-US"/>
          </a:p>
        </p:txBody>
      </p:sp>
      <p:sp>
        <p:nvSpPr>
          <p:cNvPr id="37" name="Text 32"/>
          <p:cNvSpPr txBox="1"/>
          <p:nvPr/>
        </p:nvSpPr>
        <p:spPr>
          <a:xfrm>
            <a:off x="754380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construction</a:t>
            </a:r>
            <a:endParaRPr lang="en-US" sz="855" dirty="0"/>
          </a:p>
        </p:txBody>
      </p:sp>
      <p:sp>
        <p:nvSpPr>
          <p:cNvPr id="38" name="Text 33"/>
          <p:cNvSpPr txBox="1"/>
          <p:nvPr/>
        </p:nvSpPr>
        <p:spPr>
          <a:xfrm>
            <a:off x="754380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Spending at a seasonally adjusted annual rate, US Census Bureau</a:t>
            </a:r>
            <a:endParaRPr lang="en-US" sz="645" dirty="0"/>
          </a:p>
        </p:txBody>
      </p:sp>
      <p:sp>
        <p:nvSpPr>
          <p:cNvPr id="39" name="Text 34"/>
          <p:cNvSpPr txBox="1"/>
          <p:nvPr/>
        </p:nvSpPr>
        <p:spPr>
          <a:xfrm>
            <a:off x="754380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$170.7B</a:t>
            </a:r>
            <a:endParaRPr lang="en-US" sz="1875" dirty="0"/>
          </a:p>
        </p:txBody>
      </p:sp>
      <p:sp>
        <p:nvSpPr>
          <p:cNvPr id="40" name="Text 35"/>
          <p:cNvSpPr txBox="1"/>
          <p:nvPr/>
        </p:nvSpPr>
        <p:spPr>
          <a:xfrm>
            <a:off x="754380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41" name="Text 36"/>
          <p:cNvSpPr txBox="1"/>
          <p:nvPr/>
        </p:nvSpPr>
        <p:spPr>
          <a:xfrm>
            <a:off x="856297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−19.2%</a:t>
            </a:r>
            <a:endParaRPr lang="en-US" sz="900" dirty="0"/>
          </a:p>
        </p:txBody>
      </p:sp>
      <p:sp>
        <p:nvSpPr>
          <p:cNvPr id="42" name="Text 37"/>
          <p:cNvSpPr txBox="1"/>
          <p:nvPr/>
        </p:nvSpPr>
        <p:spPr>
          <a:xfrm>
            <a:off x="856297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43" name="Manufacturing construction"/>
          <p:cNvGraphicFramePr/>
          <p:nvPr/>
        </p:nvGraphicFramePr>
        <p:xfrm>
          <a:off x="7458075" y="2228850"/>
          <a:ext cx="2143125" cy="1571625"/>
        </p:xfrm>
        <a:graphic>
          <a:graphicData uri="http://schemas.openxmlformats.org/drawingml/2006/chart">
            <c:chart xmlns:c="http://schemas.openxmlformats.org/drawingml/2006/chart" xmlns:r="http://schemas.openxmlformats.org/officeDocument/2006/relationships" r:id="rId9"/>
          </a:graphicData>
        </a:graphic>
      </p:graphicFrame>
      <p:sp>
        <p:nvSpPr>
          <p:cNvPr id="44" name="Text 38"/>
          <p:cNvSpPr txBox="1"/>
          <p:nvPr/>
        </p:nvSpPr>
        <p:spPr>
          <a:xfrm>
            <a:off x="754380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0">
                  <a:extLst>
                    <a:ext uri="{A12FA001-AC4F-418D-AE19-62706E023703}">
                      <ahyp:hlinkClr xmlns:ahyp="http://schemas.microsoft.com/office/drawing/2018/hyperlinkcolor" val="tx"/>
                    </a:ext>
                  </a:extLst>
                </a:hlinkClick>
              </a:rPr>
              <a:t>FRED, series TLMFGCONS</a:t>
            </a:r>
            <a:endParaRPr lang="en-US" sz="630" dirty="0"/>
          </a:p>
        </p:txBody>
      </p:sp>
      <p:sp>
        <p:nvSpPr>
          <p:cNvPr id="45" name="Steel mill product prices"/>
          <p:cNvSpPr/>
          <p:nvPr/>
        </p:nvSpPr>
        <p:spPr>
          <a:xfrm>
            <a:off x="419100" y="4143375"/>
            <a:ext cx="2219325" cy="2790825"/>
          </a:xfrm>
          <a:prstGeom prst="rect">
            <a:avLst/>
          </a:prstGeom>
          <a:solidFill>
            <a:srgbClr val="FAF7F3"/>
          </a:solidFill>
          <a:ln/>
        </p:spPr>
        <p:txBody>
          <a:bodyPr/>
          <a:lstStyle/>
          <a:p>
            <a:endParaRPr lang="en-US"/>
          </a:p>
        </p:txBody>
      </p:sp>
      <p:sp>
        <p:nvSpPr>
          <p:cNvPr id="46" name="Shape 40"/>
          <p:cNvSpPr/>
          <p:nvPr/>
        </p:nvSpPr>
        <p:spPr>
          <a:xfrm>
            <a:off x="419100" y="4143375"/>
            <a:ext cx="2219325" cy="28575"/>
          </a:xfrm>
          <a:prstGeom prst="rect">
            <a:avLst/>
          </a:prstGeom>
          <a:solidFill>
            <a:srgbClr val="B68757"/>
          </a:solidFill>
          <a:ln/>
        </p:spPr>
        <p:txBody>
          <a:bodyPr/>
          <a:lstStyle/>
          <a:p>
            <a:endParaRPr lang="en-US"/>
          </a:p>
        </p:txBody>
      </p:sp>
      <p:sp>
        <p:nvSpPr>
          <p:cNvPr id="47" name="Text 41"/>
          <p:cNvSpPr txBox="1"/>
          <p:nvPr/>
        </p:nvSpPr>
        <p:spPr>
          <a:xfrm>
            <a:off x="54292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Steel mill product prices</a:t>
            </a:r>
            <a:endParaRPr lang="en-US" sz="855" dirty="0"/>
          </a:p>
        </p:txBody>
      </p:sp>
      <p:sp>
        <p:nvSpPr>
          <p:cNvPr id="48" name="Text 42"/>
          <p:cNvSpPr txBox="1"/>
          <p:nvPr/>
        </p:nvSpPr>
        <p:spPr>
          <a:xfrm>
            <a:off x="54292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Producer price index, 1982 = 100, Bureau of Labor Statistics</a:t>
            </a:r>
            <a:endParaRPr lang="en-US" sz="645" dirty="0"/>
          </a:p>
        </p:txBody>
      </p:sp>
      <p:sp>
        <p:nvSpPr>
          <p:cNvPr id="49" name="Text 43"/>
          <p:cNvSpPr txBox="1"/>
          <p:nvPr/>
        </p:nvSpPr>
        <p:spPr>
          <a:xfrm>
            <a:off x="54292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381.2</a:t>
            </a:r>
            <a:endParaRPr lang="en-US" sz="1875" dirty="0"/>
          </a:p>
        </p:txBody>
      </p:sp>
      <p:sp>
        <p:nvSpPr>
          <p:cNvPr id="50" name="Text 44"/>
          <p:cNvSpPr txBox="1"/>
          <p:nvPr/>
        </p:nvSpPr>
        <p:spPr>
          <a:xfrm>
            <a:off x="54292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51" name="Text 45"/>
          <p:cNvSpPr txBox="1"/>
          <p:nvPr/>
        </p:nvSpPr>
        <p:spPr>
          <a:xfrm>
            <a:off x="156210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+23.4%</a:t>
            </a:r>
            <a:endParaRPr lang="en-US" sz="900" dirty="0"/>
          </a:p>
        </p:txBody>
      </p:sp>
      <p:sp>
        <p:nvSpPr>
          <p:cNvPr id="52" name="Text 46"/>
          <p:cNvSpPr txBox="1"/>
          <p:nvPr/>
        </p:nvSpPr>
        <p:spPr>
          <a:xfrm>
            <a:off x="156210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53" name="Steel mill product prices"/>
          <p:cNvGraphicFramePr/>
          <p:nvPr/>
        </p:nvGraphicFramePr>
        <p:xfrm>
          <a:off x="457200" y="5133975"/>
          <a:ext cx="2143125" cy="1571625"/>
        </p:xfrm>
        <a:graphic>
          <a:graphicData uri="http://schemas.openxmlformats.org/drawingml/2006/chart">
            <c:chart xmlns:c="http://schemas.openxmlformats.org/drawingml/2006/chart" xmlns:r="http://schemas.openxmlformats.org/officeDocument/2006/relationships" r:id="rId11"/>
          </a:graphicData>
        </a:graphic>
      </p:graphicFrame>
      <p:sp>
        <p:nvSpPr>
          <p:cNvPr id="54" name="Text 47"/>
          <p:cNvSpPr txBox="1"/>
          <p:nvPr/>
        </p:nvSpPr>
        <p:spPr>
          <a:xfrm>
            <a:off x="54292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2">
                  <a:extLst>
                    <a:ext uri="{A12FA001-AC4F-418D-AE19-62706E023703}">
                      <ahyp:hlinkClr xmlns:ahyp="http://schemas.microsoft.com/office/drawing/2018/hyperlinkcolor" val="tx"/>
                    </a:ext>
                  </a:extLst>
                </a:hlinkClick>
              </a:rPr>
              <a:t>FRED, series WPU1017</a:t>
            </a:r>
            <a:endParaRPr lang="en-US" sz="630" dirty="0"/>
          </a:p>
        </p:txBody>
      </p:sp>
      <p:sp>
        <p:nvSpPr>
          <p:cNvPr id="55" name="Diesel price"/>
          <p:cNvSpPr/>
          <p:nvPr/>
        </p:nvSpPr>
        <p:spPr>
          <a:xfrm>
            <a:off x="2752725" y="4143375"/>
            <a:ext cx="2219325" cy="2790825"/>
          </a:xfrm>
          <a:prstGeom prst="rect">
            <a:avLst/>
          </a:prstGeom>
          <a:solidFill>
            <a:srgbClr val="FAF7F3"/>
          </a:solidFill>
          <a:ln/>
        </p:spPr>
        <p:txBody>
          <a:bodyPr/>
          <a:lstStyle/>
          <a:p>
            <a:endParaRPr lang="en-US"/>
          </a:p>
        </p:txBody>
      </p:sp>
      <p:sp>
        <p:nvSpPr>
          <p:cNvPr id="56" name="Shape 49"/>
          <p:cNvSpPr/>
          <p:nvPr/>
        </p:nvSpPr>
        <p:spPr>
          <a:xfrm>
            <a:off x="2752725" y="4143375"/>
            <a:ext cx="2219325" cy="28575"/>
          </a:xfrm>
          <a:prstGeom prst="rect">
            <a:avLst/>
          </a:prstGeom>
          <a:solidFill>
            <a:srgbClr val="B68757"/>
          </a:solidFill>
          <a:ln/>
        </p:spPr>
        <p:txBody>
          <a:bodyPr/>
          <a:lstStyle/>
          <a:p>
            <a:endParaRPr lang="en-US"/>
          </a:p>
        </p:txBody>
      </p:sp>
      <p:sp>
        <p:nvSpPr>
          <p:cNvPr id="57" name="Text 50"/>
          <p:cNvSpPr txBox="1"/>
          <p:nvPr/>
        </p:nvSpPr>
        <p:spPr>
          <a:xfrm>
            <a:off x="287655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Diesel price</a:t>
            </a:r>
            <a:endParaRPr lang="en-US" sz="855" dirty="0"/>
          </a:p>
        </p:txBody>
      </p:sp>
      <p:sp>
        <p:nvSpPr>
          <p:cNvPr id="58" name="Text 51"/>
          <p:cNvSpPr txBox="1"/>
          <p:nvPr/>
        </p:nvSpPr>
        <p:spPr>
          <a:xfrm>
            <a:off x="287655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US average retail price per gallon, month end, EIA</a:t>
            </a:r>
            <a:endParaRPr lang="en-US" sz="645" dirty="0"/>
          </a:p>
        </p:txBody>
      </p:sp>
      <p:sp>
        <p:nvSpPr>
          <p:cNvPr id="59" name="Text 52"/>
          <p:cNvSpPr txBox="1"/>
          <p:nvPr/>
        </p:nvSpPr>
        <p:spPr>
          <a:xfrm>
            <a:off x="287655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$6.29</a:t>
            </a:r>
            <a:endParaRPr lang="en-US" sz="1875" dirty="0"/>
          </a:p>
        </p:txBody>
      </p:sp>
      <p:sp>
        <p:nvSpPr>
          <p:cNvPr id="60" name="Text 53"/>
          <p:cNvSpPr txBox="1"/>
          <p:nvPr/>
        </p:nvSpPr>
        <p:spPr>
          <a:xfrm>
            <a:off x="287655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61" name="Text 54"/>
          <p:cNvSpPr txBox="1"/>
          <p:nvPr/>
        </p:nvSpPr>
        <p:spPr>
          <a:xfrm>
            <a:off x="389572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+67.8%</a:t>
            </a:r>
            <a:endParaRPr lang="en-US" sz="900" dirty="0"/>
          </a:p>
        </p:txBody>
      </p:sp>
      <p:sp>
        <p:nvSpPr>
          <p:cNvPr id="62" name="Text 55"/>
          <p:cNvSpPr txBox="1"/>
          <p:nvPr/>
        </p:nvSpPr>
        <p:spPr>
          <a:xfrm>
            <a:off x="389572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63" name="Diesel price"/>
          <p:cNvGraphicFramePr/>
          <p:nvPr/>
        </p:nvGraphicFramePr>
        <p:xfrm>
          <a:off x="2790825" y="5133975"/>
          <a:ext cx="2143125" cy="1571625"/>
        </p:xfrm>
        <a:graphic>
          <a:graphicData uri="http://schemas.openxmlformats.org/drawingml/2006/chart">
            <c:chart xmlns:c="http://schemas.openxmlformats.org/drawingml/2006/chart" xmlns:r="http://schemas.openxmlformats.org/officeDocument/2006/relationships" r:id="rId13"/>
          </a:graphicData>
        </a:graphic>
      </p:graphicFrame>
      <p:sp>
        <p:nvSpPr>
          <p:cNvPr id="64" name="Text 56"/>
          <p:cNvSpPr txBox="1"/>
          <p:nvPr/>
        </p:nvSpPr>
        <p:spPr>
          <a:xfrm>
            <a:off x="287655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4">
                  <a:extLst>
                    <a:ext uri="{A12FA001-AC4F-418D-AE19-62706E023703}">
                      <ahyp:hlinkClr xmlns:ahyp="http://schemas.microsoft.com/office/drawing/2018/hyperlinkcolor" val="tx"/>
                    </a:ext>
                  </a:extLst>
                </a:hlinkClick>
              </a:rPr>
              <a:t>FRED, series GASDESM</a:t>
            </a:r>
            <a:endParaRPr lang="en-US" sz="630" dirty="0"/>
          </a:p>
        </p:txBody>
      </p:sp>
      <p:sp>
        <p:nvSpPr>
          <p:cNvPr id="65" name="Cass Freight Index: shipments"/>
          <p:cNvSpPr/>
          <p:nvPr/>
        </p:nvSpPr>
        <p:spPr>
          <a:xfrm>
            <a:off x="5086350" y="4143375"/>
            <a:ext cx="2219325" cy="2790825"/>
          </a:xfrm>
          <a:prstGeom prst="rect">
            <a:avLst/>
          </a:prstGeom>
          <a:solidFill>
            <a:srgbClr val="FAF7F3"/>
          </a:solidFill>
          <a:ln/>
        </p:spPr>
        <p:txBody>
          <a:bodyPr/>
          <a:lstStyle/>
          <a:p>
            <a:endParaRPr lang="en-US"/>
          </a:p>
        </p:txBody>
      </p:sp>
      <p:sp>
        <p:nvSpPr>
          <p:cNvPr id="66" name="Shape 58"/>
          <p:cNvSpPr/>
          <p:nvPr/>
        </p:nvSpPr>
        <p:spPr>
          <a:xfrm>
            <a:off x="5086350" y="4143375"/>
            <a:ext cx="2219325" cy="28575"/>
          </a:xfrm>
          <a:prstGeom prst="rect">
            <a:avLst/>
          </a:prstGeom>
          <a:solidFill>
            <a:srgbClr val="B68757"/>
          </a:solidFill>
          <a:ln/>
        </p:spPr>
        <p:txBody>
          <a:bodyPr/>
          <a:lstStyle/>
          <a:p>
            <a:endParaRPr lang="en-US"/>
          </a:p>
        </p:txBody>
      </p:sp>
      <p:sp>
        <p:nvSpPr>
          <p:cNvPr id="67" name="Text 59"/>
          <p:cNvSpPr txBox="1"/>
          <p:nvPr/>
        </p:nvSpPr>
        <p:spPr>
          <a:xfrm>
            <a:off x="521017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Cass Freight Index: shipments</a:t>
            </a:r>
            <a:endParaRPr lang="en-US" sz="855" dirty="0"/>
          </a:p>
        </p:txBody>
      </p:sp>
      <p:sp>
        <p:nvSpPr>
          <p:cNvPr id="68" name="Text 60"/>
          <p:cNvSpPr txBox="1"/>
          <p:nvPr/>
        </p:nvSpPr>
        <p:spPr>
          <a:xfrm>
            <a:off x="521017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January 1990 = 1.00, Cass Information Systems</a:t>
            </a:r>
            <a:endParaRPr lang="en-US" sz="645" dirty="0"/>
          </a:p>
        </p:txBody>
      </p:sp>
      <p:sp>
        <p:nvSpPr>
          <p:cNvPr id="69" name="Text 61"/>
          <p:cNvSpPr txBox="1"/>
          <p:nvPr/>
        </p:nvSpPr>
        <p:spPr>
          <a:xfrm>
            <a:off x="521017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1.038</a:t>
            </a:r>
            <a:endParaRPr lang="en-US" sz="1875" dirty="0"/>
          </a:p>
        </p:txBody>
      </p:sp>
      <p:sp>
        <p:nvSpPr>
          <p:cNvPr id="70" name="Text 62"/>
          <p:cNvSpPr txBox="1"/>
          <p:nvPr/>
        </p:nvSpPr>
        <p:spPr>
          <a:xfrm>
            <a:off x="521017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71" name="Text 63"/>
          <p:cNvSpPr txBox="1"/>
          <p:nvPr/>
        </p:nvSpPr>
        <p:spPr>
          <a:xfrm>
            <a:off x="622935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+2.1%</a:t>
            </a:r>
            <a:endParaRPr lang="en-US" sz="900" dirty="0"/>
          </a:p>
        </p:txBody>
      </p:sp>
      <p:sp>
        <p:nvSpPr>
          <p:cNvPr id="72" name="Text 64"/>
          <p:cNvSpPr txBox="1"/>
          <p:nvPr/>
        </p:nvSpPr>
        <p:spPr>
          <a:xfrm>
            <a:off x="622935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73" name="Cass Freight Index: shipments"/>
          <p:cNvGraphicFramePr/>
          <p:nvPr/>
        </p:nvGraphicFramePr>
        <p:xfrm>
          <a:off x="5124450" y="5133975"/>
          <a:ext cx="2143125" cy="1571625"/>
        </p:xfrm>
        <a:graphic>
          <a:graphicData uri="http://schemas.openxmlformats.org/drawingml/2006/chart">
            <c:chart xmlns:c="http://schemas.openxmlformats.org/drawingml/2006/chart" xmlns:r="http://schemas.openxmlformats.org/officeDocument/2006/relationships" r:id="rId15"/>
          </a:graphicData>
        </a:graphic>
      </p:graphicFrame>
      <p:sp>
        <p:nvSpPr>
          <p:cNvPr id="74" name="Text 65"/>
          <p:cNvSpPr txBox="1"/>
          <p:nvPr/>
        </p:nvSpPr>
        <p:spPr>
          <a:xfrm>
            <a:off x="521017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6">
                  <a:extLst>
                    <a:ext uri="{A12FA001-AC4F-418D-AE19-62706E023703}">
                      <ahyp:hlinkClr xmlns:ahyp="http://schemas.microsoft.com/office/drawing/2018/hyperlinkcolor" val="tx"/>
                    </a:ext>
                  </a:extLst>
                </a:hlinkClick>
              </a:rPr>
              <a:t>FRED, series FRGSHPUSM649NCIS</a:t>
            </a:r>
            <a:endParaRPr lang="en-US" sz="630" dirty="0"/>
          </a:p>
        </p:txBody>
      </p:sp>
      <p:sp>
        <p:nvSpPr>
          <p:cNvPr id="75" name="10-year Treasury yield"/>
          <p:cNvSpPr/>
          <p:nvPr/>
        </p:nvSpPr>
        <p:spPr>
          <a:xfrm>
            <a:off x="7419975" y="4143375"/>
            <a:ext cx="2219325" cy="2790825"/>
          </a:xfrm>
          <a:prstGeom prst="rect">
            <a:avLst/>
          </a:prstGeom>
          <a:solidFill>
            <a:srgbClr val="FAF7F3"/>
          </a:solidFill>
          <a:ln/>
        </p:spPr>
        <p:txBody>
          <a:bodyPr/>
          <a:lstStyle/>
          <a:p>
            <a:endParaRPr lang="en-US"/>
          </a:p>
        </p:txBody>
      </p:sp>
      <p:sp>
        <p:nvSpPr>
          <p:cNvPr id="76" name="Shape 67"/>
          <p:cNvSpPr/>
          <p:nvPr/>
        </p:nvSpPr>
        <p:spPr>
          <a:xfrm>
            <a:off x="7419975" y="4143375"/>
            <a:ext cx="2219325" cy="28575"/>
          </a:xfrm>
          <a:prstGeom prst="rect">
            <a:avLst/>
          </a:prstGeom>
          <a:solidFill>
            <a:srgbClr val="B68757"/>
          </a:solidFill>
          <a:ln/>
        </p:spPr>
        <p:txBody>
          <a:bodyPr/>
          <a:lstStyle/>
          <a:p>
            <a:endParaRPr lang="en-US"/>
          </a:p>
        </p:txBody>
      </p:sp>
      <p:sp>
        <p:nvSpPr>
          <p:cNvPr id="77" name="Text 68"/>
          <p:cNvSpPr txBox="1"/>
          <p:nvPr/>
        </p:nvSpPr>
        <p:spPr>
          <a:xfrm>
            <a:off x="754380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10-year Treasury yield</a:t>
            </a:r>
            <a:endParaRPr lang="en-US" sz="855" dirty="0"/>
          </a:p>
        </p:txBody>
      </p:sp>
      <p:sp>
        <p:nvSpPr>
          <p:cNvPr id="78" name="Text 69"/>
          <p:cNvSpPr txBox="1"/>
          <p:nvPr/>
        </p:nvSpPr>
        <p:spPr>
          <a:xfrm>
            <a:off x="754380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Monthly average of daily yields, Federal Reserve</a:t>
            </a:r>
            <a:endParaRPr lang="en-US" sz="645" dirty="0"/>
          </a:p>
        </p:txBody>
      </p:sp>
      <p:sp>
        <p:nvSpPr>
          <p:cNvPr id="79" name="Text 70"/>
          <p:cNvSpPr txBox="1"/>
          <p:nvPr/>
        </p:nvSpPr>
        <p:spPr>
          <a:xfrm>
            <a:off x="754380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4.99%</a:t>
            </a:r>
            <a:endParaRPr lang="en-US" sz="1875" dirty="0"/>
          </a:p>
        </p:txBody>
      </p:sp>
      <p:sp>
        <p:nvSpPr>
          <p:cNvPr id="80" name="Text 71"/>
          <p:cNvSpPr txBox="1"/>
          <p:nvPr/>
        </p:nvSpPr>
        <p:spPr>
          <a:xfrm>
            <a:off x="754380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81" name="Text 72"/>
          <p:cNvSpPr txBox="1"/>
          <p:nvPr/>
        </p:nvSpPr>
        <p:spPr>
          <a:xfrm>
            <a:off x="856297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+0.87 pts</a:t>
            </a:r>
            <a:endParaRPr lang="en-US" sz="900" dirty="0"/>
          </a:p>
        </p:txBody>
      </p:sp>
      <p:sp>
        <p:nvSpPr>
          <p:cNvPr id="82" name="Text 73"/>
          <p:cNvSpPr txBox="1"/>
          <p:nvPr/>
        </p:nvSpPr>
        <p:spPr>
          <a:xfrm>
            <a:off x="856297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83" name="10-year Treasury yield"/>
          <p:cNvGraphicFramePr/>
          <p:nvPr/>
        </p:nvGraphicFramePr>
        <p:xfrm>
          <a:off x="7458075" y="5133975"/>
          <a:ext cx="2143125" cy="1571625"/>
        </p:xfrm>
        <a:graphic>
          <a:graphicData uri="http://schemas.openxmlformats.org/drawingml/2006/chart">
            <c:chart xmlns:c="http://schemas.openxmlformats.org/drawingml/2006/chart" xmlns:r="http://schemas.openxmlformats.org/officeDocument/2006/relationships" r:id="rId17"/>
          </a:graphicData>
        </a:graphic>
      </p:graphicFrame>
      <p:sp>
        <p:nvSpPr>
          <p:cNvPr id="84" name="Text 74"/>
          <p:cNvSpPr txBox="1"/>
          <p:nvPr/>
        </p:nvSpPr>
        <p:spPr>
          <a:xfrm>
            <a:off x="754380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8">
                  <a:extLst>
                    <a:ext uri="{A12FA001-AC4F-418D-AE19-62706E023703}">
                      <ahyp:hlinkClr xmlns:ahyp="http://schemas.microsoft.com/office/drawing/2018/hyperlinkcolor" val="tx"/>
                    </a:ext>
                  </a:extLst>
                </a:hlinkClick>
              </a:rPr>
              <a:t>FRED, series GS10</a:t>
            </a:r>
            <a:endParaRPr lang="en-US" sz="630" dirty="0"/>
          </a:p>
        </p:txBody>
      </p:sp>
      <p:sp>
        <p:nvSpPr>
          <p:cNvPr id="8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03</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Connect With Us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Benchmark International's Middle Market team represents owners of privately held companies with $50 million to $500 million of total enterprise value in sales, recapitalizations and growth partnerships. The first step is a confidential conversation about your goals, your company and your options, with no pressure and no commitment.</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15</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Connect with our team</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16</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Our team</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17</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Important disclosures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3"/>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18</a:t>
            </a:r>
            <a:endParaRPr lang="en-US" sz="825" dirty="0"/>
          </a:p>
        </p:txBody>
      </p:sp>
      <p:sp>
        <p:nvSpPr>
          <p:cNvPr id="20" name="Text 14"/>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Sources</a:t>
            </a:r>
            <a:endParaRPr lang="en-US" sz="975" dirty="0"/>
          </a:p>
        </p:txBody>
      </p:sp>
      <p:sp>
        <p:nvSpPr>
          <p:cNvPr id="21" name="Shape 12"/>
          <p:cNvSpPr/>
          <p:nvPr/>
        </p:nvSpPr>
        <p:spPr>
          <a:xfrm>
            <a:off x="609600" y="6353175"/>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Connect With Our Team</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first conversation is confidential and carries no obligation.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Ranking based on PitchBook’s Q2 2026 Global League Tables, as published at </a:t>
            </a:r>
            <a:r>
              <a:rPr lang="en-US" sz="675" u="sng" dirty="0">
                <a:solidFill>
                  <a:srgbClr val="8C6239"/>
                </a:solidFill>
                <a:hlinkClick r:id="rId3" tooltip="https://www.benchmarkintl.com/">
                  <a:extLst>
                    <a:ext uri="{A12FA001-AC4F-418D-AE19-62706E023703}">
                      <ahyp:hlinkClr xmlns:ahyp="http://schemas.microsoft.com/office/drawing/2018/hyperlinkcolor" val="tx"/>
                    </a:ext>
                  </a:extLst>
                </a:hlinkClick>
              </a:rPr>
              <a:t>benchmarkintl.com</a:t>
            </a:r>
            <a:r>
              <a:rPr lang="en-US" sz="675" dirty="0">
                <a:solidFill>
                  <a:srgbClr val="6F6A66"/>
                </a:solidFill>
              </a:rPr>
              <a:t>. Team as listed on the Middle Market site in October 2026.</a:t>
            </a:r>
            <a:endParaRPr lang="en-US" sz="675" dirty="0"/>
          </a:p>
        </p:txBody>
      </p:sp>
      <p:sp>
        <p:nvSpPr>
          <p:cNvPr id="5" name="Text 3"/>
          <p:cNvSpPr txBox="1"/>
          <p:nvPr/>
        </p:nvSpPr>
        <p:spPr>
          <a:xfrm>
            <a:off x="419100" y="1257300"/>
            <a:ext cx="5715000" cy="133350"/>
          </a:xfrm>
          <a:prstGeom prst="rect">
            <a:avLst/>
          </a:prstGeom>
          <a:noFill/>
          <a:ln/>
        </p:spPr>
        <p:txBody>
          <a:bodyPr wrap="square" lIns="0" tIns="0" rIns="0" bIns="0" rtlCol="0" anchor="t"/>
          <a:lstStyle/>
          <a:p>
            <a:pPr marL="0" indent="0">
              <a:buNone/>
            </a:pPr>
            <a:r>
              <a:rPr lang="en-US" sz="675" b="1" kern="0" spc="200" dirty="0">
                <a:solidFill>
                  <a:srgbClr val="8C6239"/>
                </a:solidFill>
              </a:rPr>
              <a:t>CONFIDENTIAL. NO PRESSURE. NO COMMITMENTS.</a:t>
            </a:r>
            <a:endParaRPr lang="en-US" sz="675" dirty="0"/>
          </a:p>
        </p:txBody>
      </p:sp>
      <p:sp>
        <p:nvSpPr>
          <p:cNvPr id="6" name="Text 4"/>
          <p:cNvSpPr txBox="1"/>
          <p:nvPr/>
        </p:nvSpPr>
        <p:spPr>
          <a:xfrm>
            <a:off x="419100" y="1428750"/>
            <a:ext cx="6096000" cy="438150"/>
          </a:xfrm>
          <a:prstGeom prst="rect">
            <a:avLst/>
          </a:prstGeom>
          <a:noFill/>
          <a:ln/>
        </p:spPr>
        <p:txBody>
          <a:bodyPr wrap="square" lIns="0" tIns="0" rIns="0" bIns="0" rtlCol="0" anchor="t"/>
          <a:lstStyle/>
          <a:p>
            <a:pPr marL="0" indent="0">
              <a:buNone/>
            </a:pPr>
            <a:r>
              <a:rPr lang="en-US" sz="2700" b="1" dirty="0">
                <a:solidFill>
                  <a:srgbClr val="1B1A1A"/>
                </a:solidFill>
                <a:latin typeface="+mj-lt" pitchFamily="34" charset="0"/>
              </a:rPr>
              <a:t>It all starts with a conversation.</a:t>
            </a:r>
            <a:endParaRPr lang="en-US" sz="2700" dirty="0"/>
          </a:p>
        </p:txBody>
      </p:sp>
      <p:sp>
        <p:nvSpPr>
          <p:cNvPr id="7" name="Text 5"/>
          <p:cNvSpPr txBox="1"/>
          <p:nvPr/>
        </p:nvSpPr>
        <p:spPr>
          <a:xfrm>
            <a:off x="419100" y="1943100"/>
            <a:ext cx="5810250" cy="952500"/>
          </a:xfrm>
          <a:prstGeom prst="rect">
            <a:avLst/>
          </a:prstGeom>
          <a:noFill/>
          <a:ln/>
        </p:spPr>
        <p:txBody>
          <a:bodyPr wrap="square" lIns="0" tIns="0" rIns="0" bIns="0" rtlCol="0" anchor="t"/>
          <a:lstStyle/>
          <a:p>
            <a:pPr marL="0" indent="0">
              <a:lnSpc>
                <a:spcPts val="1463"/>
              </a:lnSpc>
              <a:buNone/>
            </a:pPr>
            <a:r>
              <a:rPr lang="en-US" sz="938" dirty="0">
                <a:solidFill>
                  <a:srgbClr val="333231"/>
                </a:solidFill>
              </a:rPr>
              <a:t>Owners considering a sale, a recapitalization or a growth partnership in any of the five industrial sectors, and the accountants, attorneys and wealth advisors who work with them, are welcome to call or write. Every engagement is led by the Middle Market team and backed by Benchmark International’s global network of strategic acquirers, private equity groups, family offices and independent sponsors.</a:t>
            </a:r>
            <a:endParaRPr lang="en-US" sz="938" dirty="0"/>
          </a:p>
        </p:txBody>
      </p:sp>
      <p:sp>
        <p:nvSpPr>
          <p:cNvPr id="8" name="Jared Hardin card"/>
          <p:cNvSpPr/>
          <p:nvPr/>
        </p:nvSpPr>
        <p:spPr>
          <a:xfrm>
            <a:off x="419100" y="3009900"/>
            <a:ext cx="2971800" cy="1047750"/>
          </a:xfrm>
          <a:prstGeom prst="rect">
            <a:avLst/>
          </a:prstGeom>
          <a:solidFill>
            <a:srgbClr val="FAF7F3"/>
          </a:solidFill>
          <a:ln/>
        </p:spPr>
        <p:txBody>
          <a:bodyPr/>
          <a:lstStyle/>
          <a:p>
            <a:endParaRPr lang="en-US"/>
          </a:p>
        </p:txBody>
      </p:sp>
      <p:sp>
        <p:nvSpPr>
          <p:cNvPr id="9" name="Shape 7"/>
          <p:cNvSpPr/>
          <p:nvPr/>
        </p:nvSpPr>
        <p:spPr>
          <a:xfrm>
            <a:off x="419100" y="3009900"/>
            <a:ext cx="2971800" cy="28575"/>
          </a:xfrm>
          <a:prstGeom prst="rect">
            <a:avLst/>
          </a:prstGeom>
          <a:solidFill>
            <a:srgbClr val="B68757"/>
          </a:solidFill>
          <a:ln/>
        </p:spPr>
        <p:txBody>
          <a:bodyPr/>
          <a:lstStyle/>
          <a:p>
            <a:endParaRPr lang="en-US"/>
          </a:p>
        </p:txBody>
      </p:sp>
      <p:pic>
        <p:nvPicPr>
          <p:cNvPr id="10" name="Image 0"/>
          <p:cNvPicPr>
            <a:picLocks noChangeAspect="1"/>
          </p:cNvPicPr>
          <p:nvPr/>
        </p:nvPicPr>
        <p:blipFill>
          <a:blip r:embed="rId4"/>
          <a:stretch>
            <a:fillRect/>
          </a:stretch>
        </p:blipFill>
        <p:spPr>
          <a:xfrm>
            <a:off x="590550" y="3162300"/>
            <a:ext cx="762000" cy="762000"/>
          </a:xfrm>
          <a:prstGeom prst="ellipse">
            <a:avLst/>
          </a:prstGeom>
        </p:spPr>
      </p:pic>
      <p:sp>
        <p:nvSpPr>
          <p:cNvPr id="11" name="Text 8"/>
          <p:cNvSpPr txBox="1"/>
          <p:nvPr/>
        </p:nvSpPr>
        <p:spPr>
          <a:xfrm>
            <a:off x="15049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Jared Hardin</a:t>
            </a:r>
            <a:endParaRPr lang="en-US" sz="1500" dirty="0"/>
          </a:p>
        </p:txBody>
      </p:sp>
      <p:sp>
        <p:nvSpPr>
          <p:cNvPr id="12" name="Text 9"/>
          <p:cNvSpPr txBox="1"/>
          <p:nvPr/>
        </p:nvSpPr>
        <p:spPr>
          <a:xfrm>
            <a:off x="15049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13" name="Text 10"/>
          <p:cNvSpPr txBox="1"/>
          <p:nvPr/>
        </p:nvSpPr>
        <p:spPr>
          <a:xfrm>
            <a:off x="15049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6">
                  <a:extLst>
                    <a:ext uri="{A12FA001-AC4F-418D-AE19-62706E023703}">
                      <ahyp:hlinkClr xmlns:ahyp="http://schemas.microsoft.com/office/drawing/2018/hyperlinkcolor" val="tx"/>
                    </a:ext>
                  </a:extLst>
                </a:hlinkClick>
              </a:rPr>
              <a:t>j.hardin@benchmarkintl.com</a:t>
            </a:r>
            <a:endParaRPr lang="en-US" sz="810" dirty="0"/>
          </a:p>
        </p:txBody>
      </p:sp>
      <p:sp>
        <p:nvSpPr>
          <p:cNvPr id="14" name="Jordan Houtz card"/>
          <p:cNvSpPr/>
          <p:nvPr/>
        </p:nvSpPr>
        <p:spPr>
          <a:xfrm>
            <a:off x="3505200" y="3009900"/>
            <a:ext cx="2971800" cy="1047750"/>
          </a:xfrm>
          <a:prstGeom prst="rect">
            <a:avLst/>
          </a:prstGeom>
          <a:solidFill>
            <a:srgbClr val="FAF7F3"/>
          </a:solidFill>
          <a:ln/>
        </p:spPr>
        <p:txBody>
          <a:bodyPr/>
          <a:lstStyle/>
          <a:p>
            <a:endParaRPr lang="en-US"/>
          </a:p>
        </p:txBody>
      </p:sp>
      <p:sp>
        <p:nvSpPr>
          <p:cNvPr id="15" name="Shape 12"/>
          <p:cNvSpPr/>
          <p:nvPr/>
        </p:nvSpPr>
        <p:spPr>
          <a:xfrm>
            <a:off x="3505200" y="3009900"/>
            <a:ext cx="2971800" cy="28575"/>
          </a:xfrm>
          <a:prstGeom prst="rect">
            <a:avLst/>
          </a:prstGeom>
          <a:solidFill>
            <a:srgbClr val="B68757"/>
          </a:solidFill>
          <a:ln/>
        </p:spPr>
        <p:txBody>
          <a:bodyPr/>
          <a:lstStyle/>
          <a:p>
            <a:endParaRPr lang="en-US"/>
          </a:p>
        </p:txBody>
      </p:sp>
      <p:pic>
        <p:nvPicPr>
          <p:cNvPr id="16" name="Image 1"/>
          <p:cNvPicPr>
            <a:picLocks noChangeAspect="1"/>
          </p:cNvPicPr>
          <p:nvPr/>
        </p:nvPicPr>
        <p:blipFill>
          <a:blip r:embed="rId7"/>
          <a:stretch>
            <a:fillRect/>
          </a:stretch>
        </p:blipFill>
        <p:spPr>
          <a:xfrm>
            <a:off x="3676650" y="3162300"/>
            <a:ext cx="762000" cy="762000"/>
          </a:xfrm>
          <a:prstGeom prst="ellipse">
            <a:avLst/>
          </a:prstGeom>
        </p:spPr>
      </p:pic>
      <p:sp>
        <p:nvSpPr>
          <p:cNvPr id="17" name="Text 13"/>
          <p:cNvSpPr txBox="1"/>
          <p:nvPr/>
        </p:nvSpPr>
        <p:spPr>
          <a:xfrm>
            <a:off x="45910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Jordan Houtz</a:t>
            </a:r>
            <a:endParaRPr lang="en-US" sz="1500" dirty="0"/>
          </a:p>
        </p:txBody>
      </p:sp>
      <p:sp>
        <p:nvSpPr>
          <p:cNvPr id="18" name="Text 14"/>
          <p:cNvSpPr txBox="1"/>
          <p:nvPr/>
        </p:nvSpPr>
        <p:spPr>
          <a:xfrm>
            <a:off x="45910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20" name="Alex Zykov card"/>
          <p:cNvSpPr/>
          <p:nvPr/>
        </p:nvSpPr>
        <p:spPr>
          <a:xfrm>
            <a:off x="419100" y="4171950"/>
            <a:ext cx="2971800" cy="1047750"/>
          </a:xfrm>
          <a:prstGeom prst="rect">
            <a:avLst/>
          </a:prstGeom>
          <a:solidFill>
            <a:srgbClr val="FAF7F3"/>
          </a:solidFill>
          <a:ln/>
        </p:spPr>
        <p:txBody>
          <a:bodyPr/>
          <a:lstStyle/>
          <a:p>
            <a:endParaRPr lang="en-US"/>
          </a:p>
        </p:txBody>
      </p:sp>
      <p:sp>
        <p:nvSpPr>
          <p:cNvPr id="21" name="Shape 17"/>
          <p:cNvSpPr/>
          <p:nvPr/>
        </p:nvSpPr>
        <p:spPr>
          <a:xfrm>
            <a:off x="419100" y="4171950"/>
            <a:ext cx="2971800" cy="28575"/>
          </a:xfrm>
          <a:prstGeom prst="rect">
            <a:avLst/>
          </a:prstGeom>
          <a:solidFill>
            <a:srgbClr val="B68757"/>
          </a:solidFill>
          <a:ln/>
        </p:spPr>
        <p:txBody>
          <a:bodyPr/>
          <a:lstStyle/>
          <a:p>
            <a:endParaRPr lang="en-US"/>
          </a:p>
        </p:txBody>
      </p:sp>
      <p:pic>
        <p:nvPicPr>
          <p:cNvPr id="22" name="Image 2"/>
          <p:cNvPicPr>
            <a:picLocks noChangeAspect="1"/>
          </p:cNvPicPr>
          <p:nvPr/>
        </p:nvPicPr>
        <p:blipFill>
          <a:blip r:embed="rId8"/>
          <a:stretch>
            <a:fillRect/>
          </a:stretch>
        </p:blipFill>
        <p:spPr>
          <a:xfrm>
            <a:off x="590550" y="4324350"/>
            <a:ext cx="762000" cy="762000"/>
          </a:xfrm>
          <a:prstGeom prst="ellipse">
            <a:avLst/>
          </a:prstGeom>
        </p:spPr>
      </p:pic>
      <p:sp>
        <p:nvSpPr>
          <p:cNvPr id="23" name="Text 18"/>
          <p:cNvSpPr txBox="1"/>
          <p:nvPr/>
        </p:nvSpPr>
        <p:spPr>
          <a:xfrm>
            <a:off x="15049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Alex Zykov</a:t>
            </a:r>
            <a:endParaRPr lang="en-US" sz="1500" dirty="0"/>
          </a:p>
        </p:txBody>
      </p:sp>
      <p:sp>
        <p:nvSpPr>
          <p:cNvPr id="24" name="Text 19"/>
          <p:cNvSpPr txBox="1"/>
          <p:nvPr/>
        </p:nvSpPr>
        <p:spPr>
          <a:xfrm>
            <a:off x="15049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TRANSACTION DIRECTOR</a:t>
            </a:r>
            <a:endParaRPr lang="en-US" sz="638" dirty="0"/>
          </a:p>
        </p:txBody>
      </p:sp>
      <p:sp>
        <p:nvSpPr>
          <p:cNvPr id="26" name="Shannon Hess card"/>
          <p:cNvSpPr/>
          <p:nvPr/>
        </p:nvSpPr>
        <p:spPr>
          <a:xfrm>
            <a:off x="3505200" y="4171950"/>
            <a:ext cx="2971800" cy="1047750"/>
          </a:xfrm>
          <a:prstGeom prst="rect">
            <a:avLst/>
          </a:prstGeom>
          <a:solidFill>
            <a:srgbClr val="FAF7F3"/>
          </a:solidFill>
          <a:ln/>
        </p:spPr>
        <p:txBody>
          <a:bodyPr/>
          <a:lstStyle/>
          <a:p>
            <a:endParaRPr lang="en-US"/>
          </a:p>
        </p:txBody>
      </p:sp>
      <p:sp>
        <p:nvSpPr>
          <p:cNvPr id="27" name="Shape 22"/>
          <p:cNvSpPr/>
          <p:nvPr/>
        </p:nvSpPr>
        <p:spPr>
          <a:xfrm>
            <a:off x="3505200" y="4171950"/>
            <a:ext cx="2971800" cy="28575"/>
          </a:xfrm>
          <a:prstGeom prst="rect">
            <a:avLst/>
          </a:prstGeom>
          <a:solidFill>
            <a:srgbClr val="B68757"/>
          </a:solidFill>
          <a:ln/>
        </p:spPr>
        <p:txBody>
          <a:bodyPr/>
          <a:lstStyle/>
          <a:p>
            <a:endParaRPr lang="en-US"/>
          </a:p>
        </p:txBody>
      </p:sp>
      <p:pic>
        <p:nvPicPr>
          <p:cNvPr id="28" name="Image 3"/>
          <p:cNvPicPr>
            <a:picLocks noChangeAspect="1"/>
          </p:cNvPicPr>
          <p:nvPr/>
        </p:nvPicPr>
        <p:blipFill>
          <a:blip r:embed="rId9"/>
          <a:stretch>
            <a:fillRect/>
          </a:stretch>
        </p:blipFill>
        <p:spPr>
          <a:xfrm>
            <a:off x="3676650" y="4324350"/>
            <a:ext cx="762000" cy="762000"/>
          </a:xfrm>
          <a:prstGeom prst="ellipse">
            <a:avLst/>
          </a:prstGeom>
        </p:spPr>
      </p:pic>
      <p:sp>
        <p:nvSpPr>
          <p:cNvPr id="29" name="Text 23"/>
          <p:cNvSpPr txBox="1"/>
          <p:nvPr/>
        </p:nvSpPr>
        <p:spPr>
          <a:xfrm>
            <a:off x="45910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Shannon Hess</a:t>
            </a:r>
            <a:endParaRPr lang="en-US" sz="1500" dirty="0"/>
          </a:p>
        </p:txBody>
      </p:sp>
      <p:sp>
        <p:nvSpPr>
          <p:cNvPr id="30" name="Text 24"/>
          <p:cNvSpPr txBox="1"/>
          <p:nvPr/>
        </p:nvSpPr>
        <p:spPr>
          <a:xfrm>
            <a:off x="45910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CLIENT ENGAGEMENT DIRECTOR</a:t>
            </a:r>
            <a:endParaRPr lang="en-US" sz="638" dirty="0"/>
          </a:p>
        </p:txBody>
      </p:sp>
      <p:sp>
        <p:nvSpPr>
          <p:cNvPr id="32" name="Shape 26"/>
          <p:cNvSpPr/>
          <p:nvPr/>
        </p:nvSpPr>
        <p:spPr>
          <a:xfrm>
            <a:off x="419100" y="5353050"/>
            <a:ext cx="1905000" cy="0"/>
          </a:xfrm>
          <a:prstGeom prst="line">
            <a:avLst/>
          </a:prstGeom>
          <a:noFill/>
          <a:ln w="9525">
            <a:solidFill>
              <a:srgbClr val="E3DCD3"/>
            </a:solidFill>
            <a:prstDash val="solid"/>
          </a:ln>
        </p:spPr>
        <p:txBody>
          <a:bodyPr/>
          <a:lstStyle/>
          <a:p>
            <a:endParaRPr lang="en-US"/>
          </a:p>
        </p:txBody>
      </p:sp>
      <p:sp>
        <p:nvSpPr>
          <p:cNvPr id="33" name="Text 27"/>
          <p:cNvSpPr txBox="1"/>
          <p:nvPr/>
        </p:nvSpPr>
        <p:spPr>
          <a:xfrm>
            <a:off x="4191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01</a:t>
            </a:r>
            <a:endParaRPr lang="en-US" sz="1350" dirty="0"/>
          </a:p>
        </p:txBody>
      </p:sp>
      <p:sp>
        <p:nvSpPr>
          <p:cNvPr id="34" name="Text 28"/>
          <p:cNvSpPr txBox="1"/>
          <p:nvPr/>
        </p:nvSpPr>
        <p:spPr>
          <a:xfrm>
            <a:off x="7239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Share a few details</a:t>
            </a:r>
            <a:endParaRPr lang="en-US" sz="863" dirty="0"/>
          </a:p>
        </p:txBody>
      </p:sp>
      <p:sp>
        <p:nvSpPr>
          <p:cNvPr id="35" name="Text 29"/>
          <p:cNvSpPr txBox="1"/>
          <p:nvPr/>
        </p:nvSpPr>
        <p:spPr>
          <a:xfrm>
            <a:off x="7239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Tell us about your company and what you are considering. Everything you share is held in strict confidence.</a:t>
            </a:r>
            <a:endParaRPr lang="en-US" sz="765" dirty="0"/>
          </a:p>
        </p:txBody>
      </p:sp>
      <p:sp>
        <p:nvSpPr>
          <p:cNvPr id="36" name="Shape 30"/>
          <p:cNvSpPr/>
          <p:nvPr/>
        </p:nvSpPr>
        <p:spPr>
          <a:xfrm>
            <a:off x="2457450" y="5353050"/>
            <a:ext cx="1905000" cy="0"/>
          </a:xfrm>
          <a:prstGeom prst="line">
            <a:avLst/>
          </a:prstGeom>
          <a:noFill/>
          <a:ln w="9525">
            <a:solidFill>
              <a:srgbClr val="E3DCD3"/>
            </a:solidFill>
            <a:prstDash val="solid"/>
          </a:ln>
        </p:spPr>
        <p:txBody>
          <a:bodyPr/>
          <a:lstStyle/>
          <a:p>
            <a:endParaRPr lang="en-US"/>
          </a:p>
        </p:txBody>
      </p:sp>
      <p:sp>
        <p:nvSpPr>
          <p:cNvPr id="37" name="Text 31"/>
          <p:cNvSpPr txBox="1"/>
          <p:nvPr/>
        </p:nvSpPr>
        <p:spPr>
          <a:xfrm>
            <a:off x="245745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02</a:t>
            </a:r>
            <a:endParaRPr lang="en-US" sz="1350" dirty="0"/>
          </a:p>
        </p:txBody>
      </p:sp>
      <p:sp>
        <p:nvSpPr>
          <p:cNvPr id="38" name="Text 32"/>
          <p:cNvSpPr txBox="1"/>
          <p:nvPr/>
        </p:nvSpPr>
        <p:spPr>
          <a:xfrm>
            <a:off x="276225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Talk with a Managing Director</a:t>
            </a:r>
            <a:endParaRPr lang="en-US" sz="863" dirty="0"/>
          </a:p>
        </p:txBody>
      </p:sp>
      <p:sp>
        <p:nvSpPr>
          <p:cNvPr id="39" name="Text 33"/>
          <p:cNvSpPr txBox="1"/>
          <p:nvPr/>
        </p:nvSpPr>
        <p:spPr>
          <a:xfrm>
            <a:off x="276225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A senior member of the team will set up a private conversation at a time that suits you.</a:t>
            </a:r>
            <a:endParaRPr lang="en-US" sz="765" dirty="0"/>
          </a:p>
        </p:txBody>
      </p:sp>
      <p:sp>
        <p:nvSpPr>
          <p:cNvPr id="40" name="Shape 34"/>
          <p:cNvSpPr/>
          <p:nvPr/>
        </p:nvSpPr>
        <p:spPr>
          <a:xfrm>
            <a:off x="4495800" y="5353050"/>
            <a:ext cx="1905000" cy="0"/>
          </a:xfrm>
          <a:prstGeom prst="line">
            <a:avLst/>
          </a:prstGeom>
          <a:noFill/>
          <a:ln w="9525">
            <a:solidFill>
              <a:srgbClr val="E3DCD3"/>
            </a:solidFill>
            <a:prstDash val="solid"/>
          </a:ln>
        </p:spPr>
        <p:txBody>
          <a:bodyPr/>
          <a:lstStyle/>
          <a:p>
            <a:endParaRPr lang="en-US"/>
          </a:p>
        </p:txBody>
      </p:sp>
      <p:sp>
        <p:nvSpPr>
          <p:cNvPr id="41" name="Text 35"/>
          <p:cNvSpPr txBox="1"/>
          <p:nvPr/>
        </p:nvSpPr>
        <p:spPr>
          <a:xfrm>
            <a:off x="44958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03</a:t>
            </a:r>
            <a:endParaRPr lang="en-US" sz="1350" dirty="0"/>
          </a:p>
        </p:txBody>
      </p:sp>
      <p:sp>
        <p:nvSpPr>
          <p:cNvPr id="42" name="Text 36"/>
          <p:cNvSpPr txBox="1"/>
          <p:nvPr/>
        </p:nvSpPr>
        <p:spPr>
          <a:xfrm>
            <a:off x="48006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See your options clearly</a:t>
            </a:r>
            <a:endParaRPr lang="en-US" sz="863" dirty="0"/>
          </a:p>
        </p:txBody>
      </p:sp>
      <p:sp>
        <p:nvSpPr>
          <p:cNvPr id="43" name="Text 37"/>
          <p:cNvSpPr txBox="1"/>
          <p:nvPr/>
        </p:nvSpPr>
        <p:spPr>
          <a:xfrm>
            <a:off x="48006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Understand the paths available, from a partial recapitalization to a full sale, and what each could mean for you.</a:t>
            </a:r>
            <a:endParaRPr lang="en-US" sz="765" dirty="0"/>
          </a:p>
        </p:txBody>
      </p:sp>
      <p:sp>
        <p:nvSpPr>
          <p:cNvPr id="44" name="Text 38"/>
          <p:cNvSpPr/>
          <p:nvPr/>
        </p:nvSpPr>
        <p:spPr>
          <a:xfrm>
            <a:off x="419100" y="6534150"/>
            <a:ext cx="2038350" cy="361950"/>
          </a:xfrm>
          <a:prstGeom prst="rect">
            <a:avLst/>
          </a:prstGeom>
          <a:solidFill>
            <a:srgbClr val="B68757"/>
          </a:solidFill>
          <a:ln/>
        </p:spPr>
        <p:txBody>
          <a:bodyPr wrap="square" lIns="0" tIns="0" rIns="0" bIns="0" rtlCol="0" anchor="ctr"/>
          <a:lstStyle/>
          <a:p>
            <a:pPr marL="0" indent="0" algn="ctr">
              <a:buNone/>
            </a:pPr>
            <a:r>
              <a:rPr lang="en-US" sz="713" b="1" u="sng" kern="0" spc="160" dirty="0">
                <a:solidFill>
                  <a:srgbClr val="FFFFFF"/>
                </a:solidFill>
                <a:hlinkClick r:id="rId6">
                  <a:extLst>
                    <a:ext uri="{A12FA001-AC4F-418D-AE19-62706E023703}">
                      <ahyp:hlinkClr xmlns:ahyp="http://schemas.microsoft.com/office/drawing/2018/hyperlinkcolor" val="tx"/>
                    </a:ext>
                  </a:extLst>
                </a:hlinkClick>
              </a:rPr>
              <a:t>SCHEDULE A CONVERSATION</a:t>
            </a:r>
            <a:endParaRPr lang="en-US" sz="713" dirty="0"/>
          </a:p>
        </p:txBody>
      </p:sp>
      <p:sp>
        <p:nvSpPr>
          <p:cNvPr id="45" name="Text 39"/>
          <p:cNvSpPr/>
          <p:nvPr/>
        </p:nvSpPr>
        <p:spPr>
          <a:xfrm>
            <a:off x="2571750" y="6534150"/>
            <a:ext cx="3009900" cy="36195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713" b="1" u="sng" kern="0" spc="160" dirty="0">
                <a:solidFill>
                  <a:srgbClr val="1B1A1A"/>
                </a:solidFill>
                <a:hlinkClick r:id="rId10">
                  <a:extLst>
                    <a:ext uri="{A12FA001-AC4F-418D-AE19-62706E023703}">
                      <ahyp:hlinkClr xmlns:ahyp="http://schemas.microsoft.com/office/drawing/2018/hyperlinkcolor" val="tx"/>
                    </a:ext>
                  </a:extLst>
                </a:hlinkClick>
              </a:rPr>
              <a:t>READ THE REPORT ONLINE</a:t>
            </a:r>
            <a:endParaRPr lang="en-US" sz="713" dirty="0"/>
          </a:p>
        </p:txBody>
      </p:sp>
      <p:sp>
        <p:nvSpPr>
          <p:cNvPr id="46" name="Firm panel"/>
          <p:cNvSpPr/>
          <p:nvPr/>
        </p:nvSpPr>
        <p:spPr>
          <a:xfrm>
            <a:off x="6915150" y="1238250"/>
            <a:ext cx="2724150" cy="5695950"/>
          </a:xfrm>
          <a:prstGeom prst="rect">
            <a:avLst/>
          </a:prstGeom>
          <a:solidFill>
            <a:srgbClr val="1B1A1A"/>
          </a:solidFill>
          <a:ln/>
        </p:spPr>
        <p:txBody>
          <a:bodyPr/>
          <a:lstStyle/>
          <a:p>
            <a:endParaRPr lang="en-US"/>
          </a:p>
        </p:txBody>
      </p:sp>
      <p:pic>
        <p:nvPicPr>
          <p:cNvPr id="47" name="Image 4"/>
          <p:cNvPicPr>
            <a:picLocks noChangeAspect="1"/>
          </p:cNvPicPr>
          <p:nvPr/>
        </p:nvPicPr>
        <p:blipFill>
          <a:blip r:embed="rId11"/>
          <a:stretch>
            <a:fillRect/>
          </a:stretch>
        </p:blipFill>
        <p:spPr>
          <a:xfrm>
            <a:off x="7143750" y="1485900"/>
            <a:ext cx="1638300" cy="304800"/>
          </a:xfrm>
          <a:prstGeom prst="rect">
            <a:avLst/>
          </a:prstGeom>
        </p:spPr>
      </p:pic>
      <p:sp>
        <p:nvSpPr>
          <p:cNvPr id="48" name="Text 41"/>
          <p:cNvSpPr txBox="1"/>
          <p:nvPr/>
        </p:nvSpPr>
        <p:spPr>
          <a:xfrm>
            <a:off x="7143750" y="1866900"/>
            <a:ext cx="2286000" cy="133350"/>
          </a:xfrm>
          <a:prstGeom prst="rect">
            <a:avLst/>
          </a:prstGeom>
          <a:noFill/>
          <a:ln/>
        </p:spPr>
        <p:txBody>
          <a:bodyPr wrap="square" lIns="0" tIns="0" rIns="0" bIns="0" rtlCol="0" anchor="t"/>
          <a:lstStyle/>
          <a:p>
            <a:pPr marL="0" indent="0">
              <a:buNone/>
            </a:pPr>
            <a:r>
              <a:rPr lang="en-US" sz="675" b="1" kern="0" spc="200" dirty="0">
                <a:solidFill>
                  <a:srgbClr val="8C6239"/>
                </a:solidFill>
              </a:rPr>
              <a:t>MIDDLE MARKET</a:t>
            </a:r>
            <a:endParaRPr lang="en-US" sz="675" dirty="0"/>
          </a:p>
        </p:txBody>
      </p:sp>
      <p:sp>
        <p:nvSpPr>
          <p:cNvPr id="49" name="Text 42"/>
          <p:cNvSpPr txBox="1"/>
          <p:nvPr/>
        </p:nvSpPr>
        <p:spPr>
          <a:xfrm>
            <a:off x="71437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a:t>
            </a:r>
            <a:endParaRPr lang="en-US" sz="1950" dirty="0"/>
          </a:p>
        </p:txBody>
      </p:sp>
      <p:sp>
        <p:nvSpPr>
          <p:cNvPr id="50" name="Text 43"/>
          <p:cNvSpPr txBox="1"/>
          <p:nvPr/>
        </p:nvSpPr>
        <p:spPr>
          <a:xfrm>
            <a:off x="71437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Privately owned sell-side M&amp;A advisor worldwide</a:t>
            </a:r>
            <a:endParaRPr lang="en-US" sz="705" dirty="0"/>
          </a:p>
        </p:txBody>
      </p:sp>
      <p:sp>
        <p:nvSpPr>
          <p:cNvPr id="51" name="Text 44"/>
          <p:cNvSpPr txBox="1"/>
          <p:nvPr/>
        </p:nvSpPr>
        <p:spPr>
          <a:xfrm>
            <a:off x="83629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15</a:t>
            </a:r>
            <a:endParaRPr lang="en-US" sz="1950" dirty="0"/>
          </a:p>
        </p:txBody>
      </p:sp>
      <p:sp>
        <p:nvSpPr>
          <p:cNvPr id="52" name="Text 45"/>
          <p:cNvSpPr txBox="1"/>
          <p:nvPr/>
        </p:nvSpPr>
        <p:spPr>
          <a:xfrm>
            <a:off x="83629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Global offices across the Americas, Europe and Africa</a:t>
            </a:r>
            <a:endParaRPr lang="en-US" sz="705" dirty="0"/>
          </a:p>
        </p:txBody>
      </p:sp>
      <p:sp>
        <p:nvSpPr>
          <p:cNvPr id="53" name="Text 46"/>
          <p:cNvSpPr txBox="1"/>
          <p:nvPr/>
        </p:nvSpPr>
        <p:spPr>
          <a:xfrm>
            <a:off x="7143750" y="2857500"/>
            <a:ext cx="22860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$50M to $500M</a:t>
            </a:r>
            <a:endParaRPr lang="en-US" sz="1800" dirty="0"/>
          </a:p>
        </p:txBody>
      </p:sp>
      <p:sp>
        <p:nvSpPr>
          <p:cNvPr id="54" name="Text 47"/>
          <p:cNvSpPr txBox="1"/>
          <p:nvPr/>
        </p:nvSpPr>
        <p:spPr>
          <a:xfrm>
            <a:off x="7143750" y="3162300"/>
            <a:ext cx="2286000" cy="152400"/>
          </a:xfrm>
          <a:prstGeom prst="rect">
            <a:avLst/>
          </a:prstGeom>
          <a:noFill/>
          <a:ln/>
        </p:spPr>
        <p:txBody>
          <a:bodyPr wrap="square" lIns="0" tIns="0" rIns="0" bIns="0" rtlCol="0" anchor="t"/>
          <a:lstStyle/>
          <a:p>
            <a:pPr marL="0" indent="0">
              <a:buNone/>
            </a:pPr>
            <a:r>
              <a:rPr lang="en-US" sz="705" dirty="0">
                <a:solidFill>
                  <a:srgbClr val="E8E2DA"/>
                </a:solidFill>
              </a:rPr>
              <a:t>Total enterprise value range the team serves</a:t>
            </a:r>
            <a:endParaRPr lang="en-US" sz="705" dirty="0"/>
          </a:p>
        </p:txBody>
      </p:sp>
      <p:sp>
        <p:nvSpPr>
          <p:cNvPr id="55" name="Shape 48"/>
          <p:cNvSpPr/>
          <p:nvPr/>
        </p:nvSpPr>
        <p:spPr>
          <a:xfrm>
            <a:off x="7143750" y="3448050"/>
            <a:ext cx="2266950" cy="0"/>
          </a:xfrm>
          <a:prstGeom prst="line">
            <a:avLst/>
          </a:prstGeom>
          <a:noFill/>
          <a:ln w="9525">
            <a:solidFill>
              <a:srgbClr val="5B4E40"/>
            </a:solidFill>
            <a:prstDash val="solid"/>
          </a:ln>
        </p:spPr>
        <p:txBody>
          <a:bodyPr/>
          <a:lstStyle/>
          <a:p>
            <a:endParaRPr lang="en-US"/>
          </a:p>
        </p:txBody>
      </p:sp>
      <p:sp>
        <p:nvSpPr>
          <p:cNvPr id="56" name="Text 49"/>
          <p:cNvSpPr txBox="1"/>
          <p:nvPr/>
        </p:nvSpPr>
        <p:spPr>
          <a:xfrm>
            <a:off x="7143750" y="35433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INDUSTRIAL COVERAGE</a:t>
            </a:r>
            <a:endParaRPr lang="en-US" sz="675" dirty="0"/>
          </a:p>
        </p:txBody>
      </p:sp>
      <p:pic>
        <p:nvPicPr>
          <p:cNvPr id="57" name="Image 5"/>
          <p:cNvPicPr>
            <a:picLocks noChangeAspect="1"/>
          </p:cNvPicPr>
          <p:nvPr/>
        </p:nvPicPr>
        <p:blipFill>
          <a:blip r:embed="rId12"/>
          <a:stretch>
            <a:fillRect/>
          </a:stretch>
        </p:blipFill>
        <p:spPr>
          <a:xfrm>
            <a:off x="7143750" y="3771900"/>
            <a:ext cx="142875" cy="142875"/>
          </a:xfrm>
          <a:prstGeom prst="rect">
            <a:avLst/>
          </a:prstGeom>
        </p:spPr>
      </p:pic>
      <p:sp>
        <p:nvSpPr>
          <p:cNvPr id="58" name="Text 50"/>
          <p:cNvSpPr txBox="1"/>
          <p:nvPr/>
        </p:nvSpPr>
        <p:spPr>
          <a:xfrm>
            <a:off x="7372350" y="3752850"/>
            <a:ext cx="2038350" cy="190500"/>
          </a:xfrm>
          <a:prstGeom prst="rect">
            <a:avLst/>
          </a:prstGeom>
          <a:noFill/>
          <a:ln/>
        </p:spPr>
        <p:txBody>
          <a:bodyPr wrap="square" lIns="0" tIns="0" rIns="0" bIns="0" rtlCol="0" anchor="ctr"/>
          <a:lstStyle/>
          <a:p>
            <a:pPr marL="0" indent="0">
              <a:buNone/>
            </a:pPr>
            <a:r>
              <a:rPr lang="en-US" sz="810" dirty="0">
                <a:solidFill>
                  <a:srgbClr val="F4EFE8"/>
                </a:solidFill>
              </a:rPr>
              <a:t>Manufacturing &amp; Industrial Technology</a:t>
            </a:r>
            <a:endParaRPr lang="en-US" sz="810" dirty="0"/>
          </a:p>
        </p:txBody>
      </p:sp>
      <p:pic>
        <p:nvPicPr>
          <p:cNvPr id="59" name="Image 6"/>
          <p:cNvPicPr>
            <a:picLocks noChangeAspect="1"/>
          </p:cNvPicPr>
          <p:nvPr/>
        </p:nvPicPr>
        <p:blipFill>
          <a:blip r:embed="rId13"/>
          <a:stretch>
            <a:fillRect/>
          </a:stretch>
        </p:blipFill>
        <p:spPr>
          <a:xfrm>
            <a:off x="7143750" y="4019550"/>
            <a:ext cx="142875" cy="142875"/>
          </a:xfrm>
          <a:prstGeom prst="rect">
            <a:avLst/>
          </a:prstGeom>
        </p:spPr>
      </p:pic>
      <p:sp>
        <p:nvSpPr>
          <p:cNvPr id="60" name="Text 51"/>
          <p:cNvSpPr txBox="1"/>
          <p:nvPr/>
        </p:nvSpPr>
        <p:spPr>
          <a:xfrm>
            <a:off x="7372350" y="4000500"/>
            <a:ext cx="2038350" cy="190500"/>
          </a:xfrm>
          <a:prstGeom prst="rect">
            <a:avLst/>
          </a:prstGeom>
          <a:noFill/>
          <a:ln/>
        </p:spPr>
        <p:txBody>
          <a:bodyPr wrap="square" lIns="0" tIns="0" rIns="0" bIns="0" rtlCol="0" anchor="ctr"/>
          <a:lstStyle/>
          <a:p>
            <a:pPr marL="0" indent="0">
              <a:buNone/>
            </a:pPr>
            <a:r>
              <a:rPr lang="en-US" sz="810" dirty="0">
                <a:solidFill>
                  <a:srgbClr val="F4EFE8"/>
                </a:solidFill>
              </a:rPr>
              <a:t>Industrial Distribution &amp; Services</a:t>
            </a:r>
            <a:endParaRPr lang="en-US" sz="810" dirty="0"/>
          </a:p>
        </p:txBody>
      </p:sp>
      <p:pic>
        <p:nvPicPr>
          <p:cNvPr id="61" name="Image 7"/>
          <p:cNvPicPr>
            <a:picLocks noChangeAspect="1"/>
          </p:cNvPicPr>
          <p:nvPr/>
        </p:nvPicPr>
        <p:blipFill>
          <a:blip r:embed="rId14"/>
          <a:stretch>
            <a:fillRect/>
          </a:stretch>
        </p:blipFill>
        <p:spPr>
          <a:xfrm>
            <a:off x="7143750" y="4267200"/>
            <a:ext cx="142875" cy="142875"/>
          </a:xfrm>
          <a:prstGeom prst="rect">
            <a:avLst/>
          </a:prstGeom>
        </p:spPr>
      </p:pic>
      <p:sp>
        <p:nvSpPr>
          <p:cNvPr id="62" name="Text 52"/>
          <p:cNvSpPr txBox="1"/>
          <p:nvPr/>
        </p:nvSpPr>
        <p:spPr>
          <a:xfrm>
            <a:off x="7372350" y="4248150"/>
            <a:ext cx="2038350" cy="190500"/>
          </a:xfrm>
          <a:prstGeom prst="rect">
            <a:avLst/>
          </a:prstGeom>
          <a:noFill/>
          <a:ln/>
        </p:spPr>
        <p:txBody>
          <a:bodyPr wrap="square" lIns="0" tIns="0" rIns="0" bIns="0" rtlCol="0" anchor="ctr"/>
          <a:lstStyle/>
          <a:p>
            <a:pPr marL="0" indent="0">
              <a:buNone/>
            </a:pPr>
            <a:r>
              <a:rPr lang="en-US" sz="810" dirty="0">
                <a:solidFill>
                  <a:srgbClr val="F4EFE8"/>
                </a:solidFill>
              </a:rPr>
              <a:t>Building Products &amp; Construction Services</a:t>
            </a:r>
            <a:endParaRPr lang="en-US" sz="810" dirty="0"/>
          </a:p>
        </p:txBody>
      </p:sp>
      <p:pic>
        <p:nvPicPr>
          <p:cNvPr id="63" name="Image 8"/>
          <p:cNvPicPr>
            <a:picLocks noChangeAspect="1"/>
          </p:cNvPicPr>
          <p:nvPr/>
        </p:nvPicPr>
        <p:blipFill>
          <a:blip r:embed="rId15"/>
          <a:stretch>
            <a:fillRect/>
          </a:stretch>
        </p:blipFill>
        <p:spPr>
          <a:xfrm>
            <a:off x="7143750" y="4514850"/>
            <a:ext cx="142875" cy="142875"/>
          </a:xfrm>
          <a:prstGeom prst="rect">
            <a:avLst/>
          </a:prstGeom>
        </p:spPr>
      </p:pic>
      <p:sp>
        <p:nvSpPr>
          <p:cNvPr id="64" name="Text 53"/>
          <p:cNvSpPr txBox="1"/>
          <p:nvPr/>
        </p:nvSpPr>
        <p:spPr>
          <a:xfrm>
            <a:off x="7372350" y="4495800"/>
            <a:ext cx="2038350" cy="190500"/>
          </a:xfrm>
          <a:prstGeom prst="rect">
            <a:avLst/>
          </a:prstGeom>
          <a:noFill/>
          <a:ln/>
        </p:spPr>
        <p:txBody>
          <a:bodyPr wrap="square" lIns="0" tIns="0" rIns="0" bIns="0" rtlCol="0" anchor="ctr"/>
          <a:lstStyle/>
          <a:p>
            <a:pPr marL="0" indent="0">
              <a:buNone/>
            </a:pPr>
            <a:r>
              <a:rPr lang="en-US" sz="810" dirty="0">
                <a:solidFill>
                  <a:srgbClr val="F4EFE8"/>
                </a:solidFill>
              </a:rPr>
              <a:t>Energy, Power &amp; Environmental Services</a:t>
            </a:r>
            <a:endParaRPr lang="en-US" sz="810" dirty="0"/>
          </a:p>
        </p:txBody>
      </p:sp>
      <p:pic>
        <p:nvPicPr>
          <p:cNvPr id="65" name="Image 9"/>
          <p:cNvPicPr>
            <a:picLocks noChangeAspect="1"/>
          </p:cNvPicPr>
          <p:nvPr/>
        </p:nvPicPr>
        <p:blipFill>
          <a:blip r:embed="rId16"/>
          <a:stretch>
            <a:fillRect/>
          </a:stretch>
        </p:blipFill>
        <p:spPr>
          <a:xfrm>
            <a:off x="7143750" y="4762500"/>
            <a:ext cx="142875" cy="142875"/>
          </a:xfrm>
          <a:prstGeom prst="rect">
            <a:avLst/>
          </a:prstGeom>
        </p:spPr>
      </p:pic>
      <p:sp>
        <p:nvSpPr>
          <p:cNvPr id="66" name="Text 54"/>
          <p:cNvSpPr txBox="1"/>
          <p:nvPr/>
        </p:nvSpPr>
        <p:spPr>
          <a:xfrm>
            <a:off x="7372350" y="4743450"/>
            <a:ext cx="2038350" cy="190500"/>
          </a:xfrm>
          <a:prstGeom prst="rect">
            <a:avLst/>
          </a:prstGeom>
          <a:noFill/>
          <a:ln/>
        </p:spPr>
        <p:txBody>
          <a:bodyPr wrap="square" lIns="0" tIns="0" rIns="0" bIns="0" rtlCol="0" anchor="ctr"/>
          <a:lstStyle/>
          <a:p>
            <a:pPr marL="0" indent="0">
              <a:buNone/>
            </a:pPr>
            <a:r>
              <a:rPr lang="en-US" sz="810" dirty="0">
                <a:solidFill>
                  <a:srgbClr val="F4EFE8"/>
                </a:solidFill>
              </a:rPr>
              <a:t>Transportation &amp; Logistics</a:t>
            </a:r>
            <a:endParaRPr lang="en-US" sz="810" dirty="0"/>
          </a:p>
        </p:txBody>
      </p:sp>
      <p:sp>
        <p:nvSpPr>
          <p:cNvPr id="67" name="Shape 55"/>
          <p:cNvSpPr/>
          <p:nvPr/>
        </p:nvSpPr>
        <p:spPr>
          <a:xfrm>
            <a:off x="7143750" y="5086350"/>
            <a:ext cx="2266950" cy="0"/>
          </a:xfrm>
          <a:prstGeom prst="line">
            <a:avLst/>
          </a:prstGeom>
          <a:noFill/>
          <a:ln w="9525">
            <a:solidFill>
              <a:srgbClr val="5B4E40"/>
            </a:solidFill>
            <a:prstDash val="solid"/>
          </a:ln>
        </p:spPr>
        <p:txBody>
          <a:bodyPr/>
          <a:lstStyle/>
          <a:p>
            <a:endParaRPr lang="en-US"/>
          </a:p>
        </p:txBody>
      </p:sp>
      <p:sp>
        <p:nvSpPr>
          <p:cNvPr id="68" name="Text 56"/>
          <p:cNvSpPr txBox="1"/>
          <p:nvPr/>
        </p:nvSpPr>
        <p:spPr>
          <a:xfrm>
            <a:off x="7143750" y="51816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AMERICAS HEADQUARTERS</a:t>
            </a:r>
            <a:endParaRPr lang="en-US" sz="675" dirty="0"/>
          </a:p>
        </p:txBody>
      </p:sp>
      <p:sp>
        <p:nvSpPr>
          <p:cNvPr id="69" name="Text 57"/>
          <p:cNvSpPr txBox="1"/>
          <p:nvPr/>
        </p:nvSpPr>
        <p:spPr>
          <a:xfrm>
            <a:off x="7143750" y="5353050"/>
            <a:ext cx="2266950" cy="457200"/>
          </a:xfrm>
          <a:prstGeom prst="rect">
            <a:avLst/>
          </a:prstGeom>
          <a:noFill/>
          <a:ln/>
        </p:spPr>
        <p:txBody>
          <a:bodyPr wrap="square" lIns="0" tIns="0" rIns="0" bIns="0" rtlCol="0" anchor="t"/>
          <a:lstStyle/>
          <a:p>
            <a:pPr marL="0" indent="0">
              <a:lnSpc>
                <a:spcPts val="1125"/>
              </a:lnSpc>
              <a:buNone/>
            </a:pPr>
            <a:r>
              <a:rPr lang="en-US" sz="780" dirty="0">
                <a:solidFill>
                  <a:srgbClr val="E8E2DA"/>
                </a:solidFill>
              </a:rPr>
              <a:t>4030 West Boy Scout Blvd., Suite 500</a:t>
            </a:r>
            <a:endParaRPr lang="en-US" sz="780" dirty="0"/>
          </a:p>
          <a:p>
            <a:pPr marL="0" indent="0">
              <a:lnSpc>
                <a:spcPts val="1125"/>
              </a:lnSpc>
              <a:buNone/>
            </a:pPr>
            <a:r>
              <a:rPr lang="en-US" sz="780" dirty="0">
                <a:solidFill>
                  <a:srgbClr val="E8E2DA"/>
                </a:solidFill>
              </a:rPr>
              <a:t>Tampa, FL 33607</a:t>
            </a:r>
            <a:endParaRPr lang="en-US" sz="780" dirty="0"/>
          </a:p>
          <a:p>
            <a:pPr marL="0" indent="0">
              <a:lnSpc>
                <a:spcPts val="1125"/>
              </a:lnSpc>
              <a:buNone/>
            </a:pPr>
            <a:r>
              <a:rPr lang="en-US" sz="780" dirty="0">
                <a:solidFill>
                  <a:srgbClr val="E8E2DA"/>
                </a:solidFill>
              </a:rPr>
              <a:t>+1 813 898 2350</a:t>
            </a:r>
            <a:endParaRPr lang="en-US" sz="780" dirty="0"/>
          </a:p>
        </p:txBody>
      </p:sp>
      <p:sp>
        <p:nvSpPr>
          <p:cNvPr id="70" name="Text 58"/>
          <p:cNvSpPr txBox="1"/>
          <p:nvPr/>
        </p:nvSpPr>
        <p:spPr>
          <a:xfrm>
            <a:off x="7143750" y="5886450"/>
            <a:ext cx="2266950" cy="914400"/>
          </a:xfrm>
          <a:prstGeom prst="rect">
            <a:avLst/>
          </a:prstGeom>
          <a:noFill/>
          <a:ln/>
        </p:spPr>
        <p:txBody>
          <a:bodyPr wrap="square" lIns="0" tIns="0" rIns="0" bIns="0" rtlCol="0" anchor="t"/>
          <a:lstStyle/>
          <a:p>
            <a:pPr marL="0" indent="0">
              <a:lnSpc>
                <a:spcPts val="1013"/>
              </a:lnSpc>
              <a:buNone/>
            </a:pPr>
            <a:r>
              <a:rPr lang="en-US" sz="705" b="1" dirty="0">
                <a:solidFill>
                  <a:srgbClr val="E8E2DA"/>
                </a:solidFill>
              </a:rPr>
              <a:t>Europe  </a:t>
            </a:r>
            <a:r>
              <a:rPr lang="en-US" sz="705" dirty="0">
                <a:solidFill>
                  <a:srgbClr val="C9C2B8"/>
                </a:solidFill>
              </a:rPr>
              <a:t>One New Bailey, 4 Stanley St., Manchester, M3 5JL</a:t>
            </a:r>
            <a:endParaRPr lang="en-US" sz="705" dirty="0"/>
          </a:p>
          <a:p>
            <a:pPr marL="0" indent="0">
              <a:lnSpc>
                <a:spcPts val="1013"/>
              </a:lnSpc>
              <a:buNone/>
            </a:pPr>
            <a:r>
              <a:rPr lang="en-US" sz="705" b="1" dirty="0">
                <a:solidFill>
                  <a:srgbClr val="E8E2DA"/>
                </a:solidFill>
              </a:rPr>
              <a:t>Africa  </a:t>
            </a:r>
            <a:r>
              <a:rPr lang="en-US" sz="705" dirty="0">
                <a:solidFill>
                  <a:srgbClr val="C9C2B8"/>
                </a:solidFill>
              </a:rPr>
              <a:t>Airport Office Park, Freight Rd., Cape Town Airport, 7525</a:t>
            </a:r>
            <a:endParaRPr lang="en-US" sz="705" dirty="0"/>
          </a:p>
        </p:txBody>
      </p:sp>
      <p:sp>
        <p:nvSpPr>
          <p:cNvPr id="71"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15</a:t>
            </a:fld>
            <a:endParaRPr lang="en-US"/>
          </a:p>
        </p:txBody>
      </p:sp>
      <p:sp>
        <p:nvSpPr>
          <p:cNvPr id="72" name="Text: jhoutz@benchmarkintl.com"/>
          <p:cNvSpPr txBox="1"/>
          <p:nvPr/>
        </p:nvSpPr>
        <p:spPr>
          <a:xfrm>
            <a:off x="45910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17">
                  <a:extLst>
                    <a:ext uri="{A12FA001-AC4F-418D-AE19-62706E023703}">
                      <ahyp:hlinkClr xmlns:ahyp="http://schemas.microsoft.com/office/drawing/2018/hyperlinkcolor" val="tx"/>
                    </a:ext>
                  </a:extLst>
                </a:hlinkClick>
              </a:rPr>
              <a:t>jhoutz@benchmarkintl.com</a:t>
            </a:r>
            <a:endParaRPr lang="en-US" sz="81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INDUSTRIAL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Box"/>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Box"/>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Box"/>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in sales, recapitalizations and growth partnerships.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963912"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INDUSTRIAL COVERAGE</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
        <p:nvSpPr>
          <p:cNvPr id="106" name="Text: jhoutz@benchmarkintl.com"/>
          <p:cNvSpPr txBox="1"/>
          <p:nvPr/>
        </p:nvSpPr>
        <p:spPr>
          <a:xfrm>
            <a:off x="2835920"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
        <p:nvSpPr>
          <p:cNvPr id="115" name="Text: Provider Services"/>
          <p:cNvSpPr txBox="1"/>
          <p:nvPr/>
        </p:nvSpPr>
        <p:spPr>
          <a:xfrm>
            <a:off x="26289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Manufacturing &amp; Industrial Technology</a:t>
            </a:r>
          </a:p>
        </p:txBody>
      </p:sp>
      <p:sp>
        <p:nvSpPr>
          <p:cNvPr id="116" name="Text: Provider Services"/>
          <p:cNvSpPr txBox="1"/>
          <p:nvPr/>
        </p:nvSpPr>
        <p:spPr>
          <a:xfrm>
            <a:off x="49657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Industrial Distribution &amp; Services</a:t>
            </a:r>
          </a:p>
        </p:txBody>
      </p:sp>
      <p:sp>
        <p:nvSpPr>
          <p:cNvPr id="117" name="Text: Provider Services"/>
          <p:cNvSpPr txBox="1"/>
          <p:nvPr/>
        </p:nvSpPr>
        <p:spPr>
          <a:xfrm>
            <a:off x="73025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Building Products &amp; Construction Services</a:t>
            </a:r>
          </a:p>
        </p:txBody>
      </p:sp>
      <p:sp>
        <p:nvSpPr>
          <p:cNvPr id="118" name="Text: Provider Services"/>
          <p:cNvSpPr txBox="1"/>
          <p:nvPr/>
        </p:nvSpPr>
        <p:spPr>
          <a:xfrm>
            <a:off x="26289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Energy, Power &amp; Environmental Services</a:t>
            </a:r>
          </a:p>
        </p:txBody>
      </p:sp>
      <p:sp>
        <p:nvSpPr>
          <p:cNvPr id="119" name="Text: Provider Services"/>
          <p:cNvSpPr txBox="1"/>
          <p:nvPr/>
        </p:nvSpPr>
        <p:spPr>
          <a:xfrm>
            <a:off x="49657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Transportation &amp; Logistics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Important Disclosures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These disclosures apply to this brief and to the Middle Market industry reports.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Information in this brief is as of October 7, 2026 unless stated otherwise.</a:t>
            </a:r>
            <a:endParaRPr lang="en-US" sz="675" dirty="0"/>
          </a:p>
        </p:txBody>
      </p:sp>
      <p:sp>
        <p:nvSpPr>
          <p:cNvPr id="5" name="Text 3"/>
          <p:cNvSpPr txBox="1"/>
          <p:nvPr/>
        </p:nvSpPr>
        <p:spPr>
          <a:xfrm>
            <a:off x="41910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nSpc>
                <a:spcPts val="1290"/>
              </a:lnSpc>
              <a:spcAft>
                <a:spcPts val="800"/>
              </a:spcAft>
              <a:buNone/>
            </a:pPr>
            <a:r>
              <a:rPr lang="en-US" sz="855" dirty="0">
                <a:solidFill>
                  <a:srgbClr val="333231"/>
                </a:solidFill>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nSpc>
                <a:spcPts val="1290"/>
              </a:lnSpc>
              <a:spcAft>
                <a:spcPts val="800"/>
              </a:spcAft>
              <a:buNone/>
            </a:pPr>
            <a:r>
              <a:rPr lang="en-US" sz="855" dirty="0">
                <a:solidFill>
                  <a:srgbClr val="333231"/>
                </a:solidFill>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p:txBody>
      </p:sp>
      <p:sp>
        <p:nvSpPr>
          <p:cNvPr id="6" name="Text 4"/>
          <p:cNvSpPr txBox="1"/>
          <p:nvPr/>
        </p:nvSpPr>
        <p:spPr>
          <a:xfrm>
            <a:off x="520065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nSpc>
                <a:spcPts val="1290"/>
              </a:lnSpc>
              <a:spcAft>
                <a:spcPts val="800"/>
              </a:spcAft>
              <a:buNone/>
            </a:pPr>
            <a:r>
              <a:rPr lang="en-US" sz="855" dirty="0">
                <a:solidFill>
                  <a:srgbClr val="333231"/>
                </a:solidFill>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nSpc>
                <a:spcPts val="1290"/>
              </a:lnSpc>
              <a:spcAft>
                <a:spcPts val="800"/>
              </a:spcAft>
              <a:buNone/>
            </a:pPr>
            <a:r>
              <a:rPr lang="en-US" sz="855" dirty="0">
                <a:solidFill>
                  <a:srgbClr val="333231"/>
                </a:solidFill>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16</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Sources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Every figure in this brief links to the page it came from, and the same links are collected here by section.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were gathered from these sources between October 2 and October 7, 2026.</a:t>
            </a:r>
            <a:endParaRPr lang="en-US" sz="675" dirty="0"/>
          </a:p>
        </p:txBody>
      </p:sp>
      <p:sp>
        <p:nvSpPr>
          <p:cNvPr id="5" name="Text 3"/>
          <p:cNvSpPr txBox="1"/>
          <p:nvPr/>
        </p:nvSpPr>
        <p:spPr>
          <a:xfrm>
            <a:off x="41910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INSIGHTS (PAGES 3 TO 5)</a:t>
            </a:r>
            <a:endParaRPr lang="en-US" sz="720" dirty="0"/>
          </a:p>
          <a:p>
            <a:pPr marL="0" indent="0">
              <a:lnSpc>
                <a:spcPts val="990"/>
              </a:lnSpc>
              <a:buNone/>
            </a:pPr>
            <a:r>
              <a:rPr lang="en-US" sz="720" u="sng" dirty="0">
                <a:solidFill>
                  <a:srgbClr val="8C6239"/>
                </a:solidFill>
                <a:hlinkClick r:id="rId3"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5" tooltip="https://www.federalreserve.gov/releases/g17/current/default.htm">
                  <a:extLst>
                    <a:ext uri="{A12FA001-AC4F-418D-AE19-62706E023703}">
                      <ahyp:hlinkClr xmlns:ahyp="http://schemas.microsoft.com/office/drawing/2018/hyperlinkcolor" val="tx"/>
                    </a:ext>
                  </a:extLst>
                </a:hlinkClick>
              </a:rPr>
              <a:t>Federal Reserve G.17</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6"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720" dirty="0">
                <a:solidFill>
                  <a:srgbClr val="6F6A66"/>
                </a:solidFill>
              </a:rPr>
              <a:t>  pitchbook.brightspotcdn.com</a:t>
            </a:r>
            <a:endParaRPr lang="en-US" sz="720" dirty="0"/>
          </a:p>
          <a:p>
            <a:pPr marL="0" indent="0">
              <a:lnSpc>
                <a:spcPts val="990"/>
              </a:lnSpc>
              <a:buNone/>
            </a:pPr>
            <a:r>
              <a:rPr lang="en-US" sz="720" u="sng" dirty="0">
                <a:solidFill>
                  <a:srgbClr val="8C6239"/>
                </a:solidFill>
                <a:hlinkClick r:id="rId7" tooltip="https://pyebarkerfs.com/?p=22122">
                  <a:extLst>
                    <a:ext uri="{A12FA001-AC4F-418D-AE19-62706E023703}">
                      <ahyp:hlinkClr xmlns:ahyp="http://schemas.microsoft.com/office/drawing/2018/hyperlinkcolor" val="tx"/>
                    </a:ext>
                  </a:extLst>
                </a:hlinkClick>
              </a:rPr>
              <a:t>Pye-Barker</a:t>
            </a:r>
            <a:r>
              <a:rPr lang="en-US" sz="720" dirty="0">
                <a:solidFill>
                  <a:srgbClr val="6F6A66"/>
                </a:solidFill>
              </a:rPr>
              <a:t>  pyebarkerfs.com</a:t>
            </a:r>
            <a:endParaRPr lang="en-US" sz="720" dirty="0"/>
          </a:p>
          <a:p>
            <a:pPr marL="0" indent="0">
              <a:lnSpc>
                <a:spcPts val="990"/>
              </a:lnSpc>
              <a:buNone/>
            </a:pPr>
            <a:r>
              <a:rPr lang="en-US" sz="720" u="sng" dirty="0">
                <a:solidFill>
                  <a:srgbClr val="8C6239"/>
                </a:solidFill>
                <a:hlinkClick r:id="rId8" tooltip="https://www.sec.gov/Archives/edgar/data/1035983/000110465926086255/fix-20260723xex99d1.htm">
                  <a:extLst>
                    <a:ext uri="{A12FA001-AC4F-418D-AE19-62706E023703}">
                      <ahyp:hlinkClr xmlns:ahyp="http://schemas.microsoft.com/office/drawing/2018/hyperlinkcolor" val="tx"/>
                    </a:ext>
                  </a:extLst>
                </a:hlinkClick>
              </a:rPr>
              <a:t>Comfort Systems USA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9" tooltip="https://aashtojournal.transportation.org/?p=41360">
                  <a:extLst>
                    <a:ext uri="{A12FA001-AC4F-418D-AE19-62706E023703}">
                      <ahyp:hlinkClr xmlns:ahyp="http://schemas.microsoft.com/office/drawing/2018/hyperlinkcolor" val="tx"/>
                    </a:ext>
                  </a:extLst>
                </a:hlinkClick>
              </a:rPr>
              <a:t>AASHTO Journal</a:t>
            </a:r>
            <a:r>
              <a:rPr lang="en-US" sz="720" dirty="0">
                <a:solidFill>
                  <a:srgbClr val="6F6A66"/>
                </a:solidFill>
              </a:rPr>
              <a:t>  aashtojournal.transportation.org</a:t>
            </a:r>
            <a:endParaRPr lang="en-US" sz="720" dirty="0"/>
          </a:p>
          <a:p>
            <a:pPr marL="0" indent="0">
              <a:lnSpc>
                <a:spcPts val="990"/>
              </a:lnSpc>
              <a:buNone/>
            </a:pPr>
            <a:r>
              <a:rPr lang="en-US" sz="720" u="sng" dirty="0">
                <a:solidFill>
                  <a:srgbClr val="8C6239"/>
                </a:solidFill>
                <a:hlinkClick r:id="rId10"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11"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720" dirty="0">
                <a:solidFill>
                  <a:srgbClr val="6F6A66"/>
                </a:solidFill>
              </a:rPr>
              <a:t>  transcat.com</a:t>
            </a:r>
            <a:endParaRPr lang="en-US" sz="720" dirty="0"/>
          </a:p>
          <a:p>
            <a:pPr marL="0" indent="0">
              <a:lnSpc>
                <a:spcPts val="990"/>
              </a:lnSpc>
              <a:buNone/>
            </a:pPr>
            <a:r>
              <a:rPr lang="en-US" sz="720" u="sng" dirty="0">
                <a:solidFill>
                  <a:srgbClr val="8C6239"/>
                </a:solidFill>
                <a:hlinkClick r:id="rId12"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720" dirty="0">
                <a:solidFill>
                  <a:srgbClr val="6F6A66"/>
                </a:solidFill>
              </a:rPr>
              <a:t>  globalbankingandfinance.com</a:t>
            </a:r>
            <a:endParaRPr lang="en-US" sz="720" dirty="0"/>
          </a:p>
          <a:p>
            <a:pPr marL="0" indent="0">
              <a:lnSpc>
                <a:spcPts val="990"/>
              </a:lnSpc>
              <a:buNone/>
            </a:pPr>
            <a:r>
              <a:rPr lang="en-US" sz="720" u="sng" dirty="0">
                <a:solidFill>
                  <a:srgbClr val="8C6239"/>
                </a:solidFill>
                <a:hlinkClick r:id="rId13"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6F6A66"/>
                </a:solidFill>
              </a:rPr>
              <a:t>  acg.org</a:t>
            </a:r>
            <a:endParaRPr lang="en-US" sz="720" dirty="0"/>
          </a:p>
          <a:p>
            <a:pPr marL="0" indent="0">
              <a:lnSpc>
                <a:spcPts val="990"/>
              </a:lnSpc>
              <a:buNone/>
            </a:pPr>
            <a:r>
              <a:rPr lang="en-US" sz="720" u="sng" dirty="0">
                <a:solidFill>
                  <a:srgbClr val="8C6239"/>
                </a:solidFill>
                <a:hlinkClick r:id="rId15" tooltip="https://www.eia.gov/outlooks/steo/report/elec_coal_renew.php">
                  <a:extLst>
                    <a:ext uri="{A12FA001-AC4F-418D-AE19-62706E023703}">
                      <ahyp:hlinkClr xmlns:ahyp="http://schemas.microsoft.com/office/drawing/2018/hyperlinkcolor" val="tx"/>
                    </a:ext>
                  </a:extLst>
                </a:hlinkClick>
              </a:rPr>
              <a:t>EIA</a:t>
            </a:r>
            <a:r>
              <a:rPr lang="en-US" sz="720" dirty="0">
                <a:solidFill>
                  <a:srgbClr val="6F6A66"/>
                </a:solidFill>
              </a:rPr>
              <a:t>  eia.gov</a:t>
            </a:r>
            <a:endParaRPr lang="en-US" sz="720" dirty="0"/>
          </a:p>
          <a:p>
            <a:pPr marL="0" indent="0">
              <a:lnSpc>
                <a:spcPts val="990"/>
              </a:lnSpc>
              <a:buNone/>
            </a:pPr>
            <a:r>
              <a:rPr lang="en-US" sz="720" u="sng" dirty="0">
                <a:solidFill>
                  <a:srgbClr val="8C6239"/>
                </a:solidFill>
                <a:hlinkClick r:id="rId16" tooltip="https://www.powermag.com/nerc-warns-long-term-grid-reliability-risks-mounting/">
                  <a:extLst>
                    <a:ext uri="{A12FA001-AC4F-418D-AE19-62706E023703}">
                      <ahyp:hlinkClr xmlns:ahyp="http://schemas.microsoft.com/office/drawing/2018/hyperlinkcolor" val="tx"/>
                    </a:ext>
                  </a:extLst>
                </a:hlinkClick>
              </a:rPr>
              <a:t>POWER Magazine</a:t>
            </a:r>
            <a:r>
              <a:rPr lang="en-US" sz="720" dirty="0">
                <a:solidFill>
                  <a:srgbClr val="6F6A66"/>
                </a:solidFill>
              </a:rPr>
              <a:t>  powermag.com</a:t>
            </a:r>
            <a:endParaRPr lang="en-US" sz="720" dirty="0"/>
          </a:p>
          <a:p>
            <a:pPr marL="0" indent="0">
              <a:lnSpc>
                <a:spcPts val="990"/>
              </a:lnSpc>
              <a:buNone/>
            </a:pPr>
            <a:r>
              <a:rPr lang="en-US" sz="720" u="sng" dirty="0">
                <a:solidFill>
                  <a:srgbClr val="8C6239"/>
                </a:solidFill>
                <a:hlinkClick r:id="rId17"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18"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19"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720" dirty="0">
                <a:solidFill>
                  <a:srgbClr val="6F6A66"/>
                </a:solidFill>
              </a:rPr>
              <a:t>  ajot.com</a:t>
            </a:r>
            <a:endParaRPr lang="en-US" sz="720" dirty="0"/>
          </a:p>
          <a:p>
            <a:pPr marL="0" indent="0">
              <a:lnSpc>
                <a:spcPts val="990"/>
              </a:lnSpc>
              <a:buNone/>
            </a:pPr>
            <a:r>
              <a:rPr lang="en-US" sz="720" u="sng" dirty="0">
                <a:solidFill>
                  <a:srgbClr val="8C6239"/>
                </a:solidFill>
                <a:hlinkClick r:id="rId20" tooltip="https://www.sec.gov/Archives/edgar/data/0001474735/000143774926024731/ex_994826.htm">
                  <a:extLst>
                    <a:ext uri="{A12FA001-AC4F-418D-AE19-62706E023703}">
                      <ahyp:hlinkClr xmlns:ahyp="http://schemas.microsoft.com/office/drawing/2018/hyperlinkcolor" val="tx"/>
                    </a:ext>
                  </a:extLst>
                </a:hlinkClick>
              </a:rPr>
              <a:t>Generac</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1"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2"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3"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4"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25"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20" dirty="0">
                <a:solidFill>
                  <a:srgbClr val="6F6A66"/>
                </a:solidFill>
              </a:rPr>
              <a:t>  dallasinnovates.com</a:t>
            </a:r>
            <a:endParaRPr lang="en-US" sz="720" dirty="0"/>
          </a:p>
          <a:p>
            <a:pPr marL="0" indent="0">
              <a:lnSpc>
                <a:spcPts val="990"/>
              </a:lnSpc>
              <a:buNone/>
            </a:pPr>
            <a:r>
              <a:rPr lang="en-US" sz="720" u="sng" dirty="0">
                <a:solidFill>
                  <a:srgbClr val="8C6239"/>
                </a:solidFill>
                <a:hlinkClick r:id="rId2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20" dirty="0">
                <a:solidFill>
                  <a:srgbClr val="6F6A66"/>
                </a:solidFill>
              </a:rPr>
              <a:t>  distributionstrategy.com</a:t>
            </a:r>
            <a:endParaRPr lang="en-US" sz="720" dirty="0"/>
          </a:p>
          <a:p>
            <a:pPr marL="0" indent="0">
              <a:lnSpc>
                <a:spcPts val="990"/>
              </a:lnSpc>
              <a:buNone/>
            </a:pPr>
            <a:r>
              <a:rPr lang="en-US" sz="720" u="sng" dirty="0">
                <a:solidFill>
                  <a:srgbClr val="8C6239"/>
                </a:solidFill>
                <a:hlinkClick r:id="rId27" tooltip="https://www.mdm.com/?p=436875">
                  <a:extLst>
                    <a:ext uri="{A12FA001-AC4F-418D-AE19-62706E023703}">
                      <ahyp:hlinkClr xmlns:ahyp="http://schemas.microsoft.com/office/drawing/2018/hyperlinkcolor" val="tx"/>
                    </a:ext>
                  </a:extLst>
                </a:hlinkClick>
              </a:rPr>
              <a:t>ABC analysis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28" tooltip="https://vertikal.net/en/news/story/49180/jk-takes-360">
                  <a:extLst>
                    <a:ext uri="{A12FA001-AC4F-418D-AE19-62706E023703}">
                      <ahyp:hlinkClr xmlns:ahyp="http://schemas.microsoft.com/office/drawing/2018/hyperlinkcolor" val="tx"/>
                    </a:ext>
                  </a:extLst>
                </a:hlinkClick>
              </a:rPr>
              <a:t>Vertikal</a:t>
            </a:r>
            <a:r>
              <a:rPr lang="en-US" sz="720" dirty="0">
                <a:solidFill>
                  <a:srgbClr val="6F6A66"/>
                </a:solidFill>
              </a:rPr>
              <a:t>  vertikal.net</a:t>
            </a:r>
            <a:endParaRPr lang="en-US" sz="720" dirty="0"/>
          </a:p>
          <a:p>
            <a:pPr marL="0" indent="0">
              <a:lnSpc>
                <a:spcPts val="990"/>
              </a:lnSpc>
              <a:buNone/>
            </a:pPr>
            <a:r>
              <a:rPr lang="en-US" sz="720" u="sng" dirty="0">
                <a:solidFill>
                  <a:srgbClr val="8C6239"/>
                </a:solidFill>
                <a:hlinkClick r:id="rId29" tooltip="https://www.rwbaird.com/siteassets/gib/pdf/electrical-power-solutions-sector-update-september-2026.pdf">
                  <a:extLst>
                    <a:ext uri="{A12FA001-AC4F-418D-AE19-62706E023703}">
                      <ahyp:hlinkClr xmlns:ahyp="http://schemas.microsoft.com/office/drawing/2018/hyperlinkcolor" val="tx"/>
                    </a:ext>
                  </a:extLst>
                </a:hlinkClick>
              </a:rPr>
              <a:t>Baird’s Perspectives on the Electrical Power Solutions Market, September 2026</a:t>
            </a:r>
            <a:r>
              <a:rPr lang="en-US" sz="720" dirty="0">
                <a:solidFill>
                  <a:srgbClr val="6F6A66"/>
                </a:solidFill>
              </a:rPr>
              <a:t>  rwbaird.com</a:t>
            </a:r>
            <a:endParaRPr lang="en-US" sz="720" dirty="0"/>
          </a:p>
          <a:p>
            <a:pPr marL="0" indent="0">
              <a:lnSpc>
                <a:spcPts val="990"/>
              </a:lnSpc>
              <a:buNone/>
            </a:pPr>
            <a:r>
              <a:rPr lang="en-US" sz="720" u="sng" dirty="0">
                <a:solidFill>
                  <a:srgbClr val="8C6239"/>
                </a:solidFill>
                <a:hlinkClick r:id="rId30"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1"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2"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3"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20" dirty="0">
                <a:solidFill>
                  <a:srgbClr val="6F6A66"/>
                </a:solidFill>
              </a:rPr>
              <a:t>  lincolninternational.com</a:t>
            </a:r>
          </a:p>
          <a:p>
            <a:pPr>
              <a:lnSpc>
                <a:spcPct val="100000"/>
              </a:lnSpc>
            </a:pPr>
            <a:r>
              <a:rPr lang="en-US" sz="800" u="sng" dirty="0">
                <a:hlinkClick r:id="rId34"/>
              </a:rPr>
              <a:t>Bg2 Pod</a:t>
            </a:r>
            <a:r>
              <a:rPr lang="en-US" sz="720" dirty="0"/>
              <a:t> </a:t>
            </a:r>
            <a:r>
              <a:rPr lang="en-US" sz="720" dirty="0">
                <a:solidFill>
                  <a:srgbClr val="6F6A66"/>
                </a:solidFill>
              </a:rPr>
              <a:t>bg2pod.com</a:t>
            </a:r>
          </a:p>
          <a:p>
            <a:pPr>
              <a:lnSpc>
                <a:spcPct val="100000"/>
              </a:lnSpc>
            </a:pPr>
            <a:r>
              <a:rPr lang="en-US" sz="800" dirty="0">
                <a:hlinkClick r:id="rId35"/>
              </a:rPr>
              <a:t>CNBC</a:t>
            </a:r>
            <a:r>
              <a:rPr lang="en-US" sz="800" dirty="0"/>
              <a:t> </a:t>
            </a:r>
            <a:r>
              <a:rPr lang="en-US" sz="720" dirty="0">
                <a:solidFill>
                  <a:srgbClr val="6F6A66"/>
                </a:solidFill>
              </a:rPr>
              <a:t>cnbc.com</a:t>
            </a:r>
          </a:p>
          <a:p>
            <a:pPr>
              <a:lnSpc>
                <a:spcPct val="100000"/>
              </a:lnSpc>
            </a:pPr>
            <a:r>
              <a:rPr lang="en-US" sz="720" dirty="0">
                <a:solidFill>
                  <a:srgbClr val="6F6A66"/>
                </a:solidFill>
                <a:hlinkClick r:id="rId36"/>
              </a:rPr>
              <a:t>EQT Corporation</a:t>
            </a:r>
            <a:r>
              <a:rPr lang="en-US" sz="720" dirty="0">
                <a:solidFill>
                  <a:srgbClr val="6F6A66"/>
                </a:solidFill>
              </a:rPr>
              <a:t>  youtube.com/@EQTCorp</a:t>
            </a:r>
          </a:p>
          <a:p>
            <a:r>
              <a:rPr lang="en-US" sz="800" u="sng" dirty="0">
                <a:hlinkClick r:id="rId37"/>
              </a:rPr>
              <a:t>Quanta Services</a:t>
            </a:r>
            <a:r>
              <a:rPr lang="en-US" sz="800" u="sng" dirty="0"/>
              <a:t> </a:t>
            </a:r>
            <a:r>
              <a:rPr lang="en-US" sz="720" dirty="0">
                <a:solidFill>
                  <a:srgbClr val="6F6A66"/>
                </a:solidFill>
              </a:rPr>
              <a:t>quantaservices.com/</a:t>
            </a:r>
          </a:p>
          <a:p>
            <a:pPr>
              <a:lnSpc>
                <a:spcPct val="100000"/>
              </a:lnSpc>
            </a:pPr>
            <a:endParaRPr lang="en-US" sz="720" dirty="0">
              <a:solidFill>
                <a:srgbClr val="6F6A66"/>
              </a:solidFill>
            </a:endParaRPr>
          </a:p>
        </p:txBody>
      </p:sp>
      <p:sp>
        <p:nvSpPr>
          <p:cNvPr id="6" name="Text 4"/>
          <p:cNvSpPr txBox="1"/>
          <p:nvPr/>
        </p:nvSpPr>
        <p:spPr>
          <a:xfrm>
            <a:off x="357505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TRANSACTIONS (PAGES 7 AND 8)</a:t>
            </a:r>
            <a:endParaRPr lang="en-US" sz="720" dirty="0"/>
          </a:p>
          <a:p>
            <a:pPr marL="0" indent="0">
              <a:lnSpc>
                <a:spcPts val="990"/>
              </a:lnSpc>
              <a:buNone/>
            </a:pPr>
            <a:r>
              <a:rPr lang="en-US" sz="720" u="sng" dirty="0">
                <a:solidFill>
                  <a:srgbClr val="8C6239"/>
                </a:solidFill>
                <a:hlinkClick r:id="rId38"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 and Cat Pumps: Franklin Electric</a:t>
            </a:r>
            <a:r>
              <a:rPr lang="en-US" sz="720" dirty="0">
                <a:solidFill>
                  <a:srgbClr val="6F6A66"/>
                </a:solidFill>
              </a:rPr>
              <a:t>  franklin-electric.com</a:t>
            </a:r>
            <a:endParaRPr lang="en-US" sz="720" dirty="0"/>
          </a:p>
          <a:p>
            <a:pPr marL="0" indent="0">
              <a:lnSpc>
                <a:spcPts val="990"/>
              </a:lnSpc>
              <a:buNone/>
            </a:pPr>
            <a:r>
              <a:rPr lang="en-US" sz="720" u="sng" dirty="0">
                <a:solidFill>
                  <a:srgbClr val="8C6239"/>
                </a:solidFill>
                <a:hlinkClick r:id="rId39"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 and Advance Mfg. Co.: Precinmac</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0"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1" tooltip="https://www.mdm.com/news/featured/featured-blog/ferguson-makes-1-6b-flow-control-bet-with-floworks-deal/">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2"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Meritus Gas Partners and Metroplex Welding Supply: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3" tooltip="https://pulse2.com/limbach-acquires-1901-for-63-million-plus-up-to-6-million-in-earnouts/">
                  <a:extLst>
                    <a:ext uri="{A12FA001-AC4F-418D-AE19-62706E023703}">
                      <ahyp:hlinkClr xmlns:ahyp="http://schemas.microsoft.com/office/drawing/2018/hyperlinkcolor" val="tx"/>
                    </a:ext>
                  </a:extLst>
                </a:hlinkClick>
              </a:rPr>
              <a:t>Limbach Holdings and 1901 Inc.: Pulse 2.0</a:t>
            </a:r>
            <a:r>
              <a:rPr lang="en-US" sz="720" dirty="0">
                <a:solidFill>
                  <a:srgbClr val="6F6A66"/>
                </a:solidFill>
              </a:rPr>
              <a:t>  pulse2.com</a:t>
            </a:r>
            <a:endParaRPr lang="en-US" sz="720" dirty="0"/>
          </a:p>
          <a:p>
            <a:pPr marL="0" indent="0">
              <a:lnSpc>
                <a:spcPts val="990"/>
              </a:lnSpc>
              <a:buNone/>
            </a:pPr>
            <a:r>
              <a:rPr lang="en-US" sz="720" u="sng" dirty="0">
                <a:solidFill>
                  <a:srgbClr val="8C6239"/>
                </a:solidFill>
                <a:hlinkClick r:id="rId44"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Bay Crane and Clark Rigging &amp; Rental: RER</a:t>
            </a:r>
            <a:r>
              <a:rPr lang="en-US" sz="720" dirty="0">
                <a:solidFill>
                  <a:srgbClr val="6F6A66"/>
                </a:solidFill>
              </a:rPr>
              <a:t>  rermag.com</a:t>
            </a:r>
            <a:endParaRPr lang="en-US" sz="720" dirty="0"/>
          </a:p>
          <a:p>
            <a:pPr marL="0" indent="0">
              <a:lnSpc>
                <a:spcPts val="990"/>
              </a:lnSpc>
              <a:buNone/>
            </a:pPr>
            <a:r>
              <a:rPr lang="en-US" sz="720" u="sng" dirty="0">
                <a:solidFill>
                  <a:srgbClr val="8C6239"/>
                </a:solidFill>
                <a:hlinkClick r:id="rId45" tooltip="https://wasteadvantagemag.com/clean-harbors-to-acquire-enviroserve/">
                  <a:extLst>
                    <a:ext uri="{A12FA001-AC4F-418D-AE19-62706E023703}">
                      <ahyp:hlinkClr xmlns:ahyp="http://schemas.microsoft.com/office/drawing/2018/hyperlinkcolor" val="tx"/>
                    </a:ext>
                  </a:extLst>
                </a:hlinkClick>
              </a:rPr>
              <a:t>Clean Harbors and EnviroServe: Waste Advantage</a:t>
            </a:r>
            <a:r>
              <a:rPr lang="en-US" sz="720" dirty="0">
                <a:solidFill>
                  <a:srgbClr val="6F6A66"/>
                </a:solidFill>
              </a:rPr>
              <a:t>  wasteadvantagemag.com</a:t>
            </a:r>
            <a:endParaRPr lang="en-US" sz="720" dirty="0"/>
          </a:p>
          <a:p>
            <a:pPr marL="0" indent="0">
              <a:lnSpc>
                <a:spcPts val="990"/>
              </a:lnSpc>
              <a:buNone/>
            </a:pPr>
            <a:r>
              <a:rPr lang="en-US" sz="720" u="sng" dirty="0">
                <a:solidFill>
                  <a:srgbClr val="8C6239"/>
                </a:solidFill>
                <a:hlinkClick r:id="rId46" tooltip="https://www.sec.gov/Archives/edgar/data/0000822818/000082281826000031/clh-q22026pressrelease.htm">
                  <a:extLst>
                    <a:ext uri="{A12FA001-AC4F-418D-AE19-62706E023703}">
                      <ahyp:hlinkClr xmlns:ahyp="http://schemas.microsoft.com/office/drawing/2018/hyperlinkcolor" val="tx"/>
                    </a:ext>
                  </a:extLst>
                </a:hlinkClick>
              </a:rPr>
              <a:t>Clean Harbors and EnviroServe: Clean Harbors</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4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720" dirty="0">
                <a:solidFill>
                  <a:srgbClr val="6F6A66"/>
                </a:solidFill>
              </a:rPr>
              <a:t>  sec.gov</a:t>
            </a:r>
            <a:endParaRPr lang="en-US" sz="720" dirty="0"/>
          </a:p>
          <a:p>
            <a:pPr marL="0" indent="0">
              <a:lnSpc>
                <a:spcPts val="990"/>
              </a:lnSpc>
              <a:spcBef>
                <a:spcPts val="800"/>
              </a:spcBef>
              <a:spcAft>
                <a:spcPts val="300"/>
              </a:spcAft>
              <a:buNone/>
            </a:pPr>
            <a:r>
              <a:rPr lang="en-US" sz="638" b="1" kern="0" spc="120" dirty="0">
                <a:solidFill>
                  <a:srgbClr val="8C6239"/>
                </a:solidFill>
              </a:rPr>
              <a:t>BENCHMARK INTERNATIONAL (PAGES 5, 9 AND 15)</a:t>
            </a:r>
            <a:endParaRPr lang="en-US" sz="720" dirty="0"/>
          </a:p>
          <a:p>
            <a:pPr marL="0" indent="0">
              <a:lnSpc>
                <a:spcPts val="990"/>
              </a:lnSpc>
              <a:buNone/>
            </a:pPr>
            <a:r>
              <a:rPr lang="en-US" sz="720" u="sng" dirty="0">
                <a:solidFill>
                  <a:srgbClr val="8C6239"/>
                </a:solidFill>
                <a:hlinkClick r:id="rId48" tooltip="https://www.benchmarkintl.com/insights/completed-transactions/benchmark-international-successfully-facilitated-the-transaction-between-the-carmi-companies-and-the-nearshore-company/">
                  <a:extLst>
                    <a:ext uri="{A12FA001-AC4F-418D-AE19-62706E023703}">
                      <ahyp:hlinkClr xmlns:ahyp="http://schemas.microsoft.com/office/drawing/2018/hyperlinkcolor" val="tx"/>
                    </a:ext>
                  </a:extLst>
                </a:hlinkClick>
              </a:rPr>
              <a:t>The Carmi Companies and The Nearshore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49" tooltip="https://www.benchmarkintl.com/insights/completed-transactions/benchmark-international-successfully-facilitated-the-transaction-between-fps-technologies-inc-and-cintas-corporation/">
                  <a:extLst>
                    <a:ext uri="{A12FA001-AC4F-418D-AE19-62706E023703}">
                      <ahyp:hlinkClr xmlns:ahyp="http://schemas.microsoft.com/office/drawing/2018/hyperlinkcolor" val="tx"/>
                    </a:ext>
                  </a:extLst>
                </a:hlinkClick>
              </a:rPr>
              <a:t>FPS Technologies, Inc. and Cintas Corporation</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0" tooltip="https://www.benchmarkintl.com/insights/completed-transactions/benchmark-international-successfully-facilitated-the-transaction-between-maxvac-inc-and-dxp-enterprises-inc/">
                  <a:extLst>
                    <a:ext uri="{A12FA001-AC4F-418D-AE19-62706E023703}">
                      <ahyp:hlinkClr xmlns:ahyp="http://schemas.microsoft.com/office/drawing/2018/hyperlinkcolor" val="tx"/>
                    </a:ext>
                  </a:extLst>
                </a:hlinkClick>
              </a:rPr>
              <a:t>MaxVac Inc. and DXP Enterprises,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1" tooltip="https://www.benchmarkintl.com/insights/completed-transactions/benchmark-international-facilitated-the-transaction-of-trinity-industrial-services-llc-and-aecon-group-inc/">
                  <a:extLst>
                    <a:ext uri="{A12FA001-AC4F-418D-AE19-62706E023703}">
                      <ahyp:hlinkClr xmlns:ahyp="http://schemas.microsoft.com/office/drawing/2018/hyperlinkcolor" val="tx"/>
                    </a:ext>
                  </a:extLst>
                </a:hlinkClick>
              </a:rPr>
              <a:t>Trinity Industrial Services, LLC and Aecon Group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2" tooltip="https://www.benchmarkintl.com/insights/completed-transactions/benchmark-international-successfully-facilitated-the-transaction-of-invocon-inc-and-cemtrex-inc/">
                  <a:extLst>
                    <a:ext uri="{A12FA001-AC4F-418D-AE19-62706E023703}">
                      <ahyp:hlinkClr xmlns:ahyp="http://schemas.microsoft.com/office/drawing/2018/hyperlinkcolor" val="tx"/>
                    </a:ext>
                  </a:extLst>
                </a:hlinkClick>
              </a:rPr>
              <a:t>Invocon, Inc. and Cemtrex,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3" tooltip="https://www.benchmarkintl.com/insights/completed-transactions/benchmark-international-successfully-facilitated-the-transaction-between-climate-engineering-inc-and-harris-company/">
                  <a:extLst>
                    <a:ext uri="{A12FA001-AC4F-418D-AE19-62706E023703}">
                      <ahyp:hlinkClr xmlns:ahyp="http://schemas.microsoft.com/office/drawing/2018/hyperlinkcolor" val="tx"/>
                    </a:ext>
                  </a:extLst>
                </a:hlinkClick>
              </a:rPr>
              <a:t>Climate Engineering, Inc. and Harris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4" tooltip="https://www.benchmarkintl.com/insights/completed-transactions/benchmark-international-successfully-facilitated-a-transaction-between-briggs-engineering-testing-and-phenna-group/">
                  <a:extLst>
                    <a:ext uri="{A12FA001-AC4F-418D-AE19-62706E023703}">
                      <ahyp:hlinkClr xmlns:ahyp="http://schemas.microsoft.com/office/drawing/2018/hyperlinkcolor" val="tx"/>
                    </a:ext>
                  </a:extLst>
                </a:hlinkClick>
              </a:rPr>
              <a:t>Briggs Engineering &amp; Testing and Phenna Group</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5" tooltip="https://www.benchmarkintl.com/insights/completed-transactions/benchmark-international-successfully-facilitated-the-transaction-of-capitol-plastics-recycling-inc-and-triumvirate-environmental/">
                  <a:extLst>
                    <a:ext uri="{A12FA001-AC4F-418D-AE19-62706E023703}">
                      <ahyp:hlinkClr xmlns:ahyp="http://schemas.microsoft.com/office/drawing/2018/hyperlinkcolor" val="tx"/>
                    </a:ext>
                  </a:extLst>
                </a:hlinkClick>
              </a:rPr>
              <a:t>Capitol Plastics Recycling Inc. and Triumvirate Environmental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6" tooltip="https://www.benchmarkintl.com/insights/completed-transactions/benchmark-international-successfully-facilitated-the-transaction-between-wesco-chemicals-inc-and-apex-water-and-process-inc/">
                  <a:extLst>
                    <a:ext uri="{A12FA001-AC4F-418D-AE19-62706E023703}">
                      <ahyp:hlinkClr xmlns:ahyp="http://schemas.microsoft.com/office/drawing/2018/hyperlinkcolor" val="tx"/>
                    </a:ext>
                  </a:extLst>
                </a:hlinkClick>
              </a:rPr>
              <a:t>WESCO Chemicals, Inc. and Apex Water and Process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7" tooltip="https://www.benchmarkintl.com/insights/benchmark-international-successfully-facilitated-the-transaction-between-dw-industries-and-tipco-technologies/">
                  <a:extLst>
                    <a:ext uri="{A12FA001-AC4F-418D-AE19-62706E023703}">
                      <ahyp:hlinkClr xmlns:ahyp="http://schemas.microsoft.com/office/drawing/2018/hyperlinkcolor" val="tx"/>
                    </a:ext>
                  </a:extLst>
                </a:hlinkClick>
              </a:rPr>
              <a:t>DW Industries and TIPCO Technologies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8" tooltip="https://www.benchmarkintl.com/insights/completed-transactions/benchmark-international-successfully-facilitated-the-transaction-between-at-parker-inc-and-assessimus-group-gmbh/">
                  <a:extLst>
                    <a:ext uri="{A12FA001-AC4F-418D-AE19-62706E023703}">
                      <ahyp:hlinkClr xmlns:ahyp="http://schemas.microsoft.com/office/drawing/2018/hyperlinkcolor" val="tx"/>
                    </a:ext>
                  </a:extLst>
                </a:hlinkClick>
              </a:rPr>
              <a:t>A.T. Parker, Inc. (Solar Electronics) and Assessimus Group GmbH</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9" tooltip="https://www.benchmarkintl.com/insights/completed-transactions/benchmark-international-successfully-facilitated-the-transaction-between-clark-crane-and-capital-extension-crane-lift/">
                  <a:extLst>
                    <a:ext uri="{A12FA001-AC4F-418D-AE19-62706E023703}">
                      <ahyp:hlinkClr xmlns:ahyp="http://schemas.microsoft.com/office/drawing/2018/hyperlinkcolor" val="tx"/>
                    </a:ext>
                  </a:extLst>
                </a:hlinkClick>
              </a:rPr>
              <a:t>Clark Crane, LLC and Capital Extension Crane &amp; Lift</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0" tooltip="https://www.benchmarkintl.com/insights/completed-transactions/benchmark-international-facilitated-the-transaction-of-christian-network-international-to-symbia-logistics/">
                  <a:extLst>
                    <a:ext uri="{A12FA001-AC4F-418D-AE19-62706E023703}">
                      <ahyp:hlinkClr xmlns:ahyp="http://schemas.microsoft.com/office/drawing/2018/hyperlinkcolor" val="tx"/>
                    </a:ext>
                  </a:extLst>
                </a:hlinkClick>
              </a:rPr>
              <a:t>Christian Network International and Symbia Logistics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1" tooltip="https://www.benchmarkintl.com/">
                  <a:extLst>
                    <a:ext uri="{A12FA001-AC4F-418D-AE19-62706E023703}">
                      <ahyp:hlinkClr xmlns:ahyp="http://schemas.microsoft.com/office/drawing/2018/hyperlinkcolor" val="tx"/>
                    </a:ext>
                  </a:extLst>
                </a:hlinkClick>
              </a:rPr>
              <a:t>Benchmark International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2" tooltip="https://jp-hardin.github.io/about/mid-market-practice/insights/industrial-industry-report-q4-2026.html">
                  <a:extLst>
                    <a:ext uri="{A12FA001-AC4F-418D-AE19-62706E023703}">
                      <ahyp:hlinkClr xmlns:ahyp="http://schemas.microsoft.com/office/drawing/2018/hyperlinkcolor" val="tx"/>
                    </a:ext>
                  </a:extLst>
                </a:hlinkClick>
              </a:rPr>
              <a:t>Middle Market: Industrial Q4 2026 M&amp;A Industry Report</a:t>
            </a:r>
            <a:r>
              <a:rPr lang="en-US" sz="720" dirty="0">
                <a:solidFill>
                  <a:srgbClr val="6F6A66"/>
                </a:solidFill>
              </a:rPr>
              <a:t>  jp-hardin.github.io</a:t>
            </a:r>
            <a:endParaRPr lang="en-US" sz="720" dirty="0"/>
          </a:p>
        </p:txBody>
      </p:sp>
      <p:sp>
        <p:nvSpPr>
          <p:cNvPr id="7" name="Text 5"/>
          <p:cNvSpPr txBox="1"/>
          <p:nvPr/>
        </p:nvSpPr>
        <p:spPr>
          <a:xfrm>
            <a:off x="6731000" y="1257300"/>
            <a:ext cx="2908300" cy="285750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PUBLIC COMPANIES AND ECONOMIC TRENDS (PAGES 10 TO 13)</a:t>
            </a:r>
            <a:endParaRPr lang="en-US" sz="720" dirty="0"/>
          </a:p>
          <a:p>
            <a:pPr marL="0" indent="0">
              <a:lnSpc>
                <a:spcPts val="990"/>
              </a:lnSpc>
              <a:buNone/>
            </a:pPr>
            <a:r>
              <a:rPr lang="en-US" sz="720" u="sng" dirty="0">
                <a:solidFill>
                  <a:srgbClr val="8C6239"/>
                </a:solidFill>
                <a:hlinkClick r:id="rId63"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6F6A66"/>
                </a:solidFill>
              </a:rPr>
              <a:t>  ibba.org</a:t>
            </a:r>
            <a:endParaRPr lang="en-US" sz="720" dirty="0"/>
          </a:p>
          <a:p>
            <a:pPr marL="0" indent="0">
              <a:lnSpc>
                <a:spcPts val="990"/>
              </a:lnSpc>
              <a:buNone/>
            </a:pPr>
            <a:r>
              <a:rPr lang="en-US" sz="720" u="sng" dirty="0">
                <a:solidFill>
                  <a:srgbClr val="8C6239"/>
                </a:solidFill>
                <a:hlinkClick r:id="rId64"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6F6A66"/>
                </a:solidFill>
              </a:rPr>
              <a:t>  digitalcommons.pepperdine.edu</a:t>
            </a:r>
            <a:endParaRPr lang="en-US" sz="720" dirty="0"/>
          </a:p>
          <a:p>
            <a:pPr marL="0" indent="0">
              <a:lnSpc>
                <a:spcPts val="990"/>
              </a:lnSpc>
              <a:buNone/>
            </a:pPr>
            <a:r>
              <a:rPr lang="en-US" sz="720" u="sng" dirty="0">
                <a:solidFill>
                  <a:srgbClr val="8C6239"/>
                </a:solidFill>
                <a:hlinkClick r:id="rId65" tooltip="https://stockanalysis.com/">
                  <a:extLst>
                    <a:ext uri="{A12FA001-AC4F-418D-AE19-62706E023703}">
                      <ahyp:hlinkClr xmlns:ahyp="http://schemas.microsoft.com/office/drawing/2018/hyperlinkcolor" val="tx"/>
                    </a:ext>
                  </a:extLst>
                </a:hlinkClick>
              </a:rPr>
              <a:t>StockAnalysis</a:t>
            </a:r>
            <a:r>
              <a:rPr lang="en-US" sz="720" dirty="0">
                <a:solidFill>
                  <a:srgbClr val="6F6A66"/>
                </a:solidFill>
              </a:rPr>
              <a:t>  stockanalysis.com</a:t>
            </a:r>
            <a:endParaRPr lang="en-US" sz="720" dirty="0"/>
          </a:p>
          <a:p>
            <a:pPr marL="0" indent="0">
              <a:lnSpc>
                <a:spcPts val="990"/>
              </a:lnSpc>
              <a:buNone/>
            </a:pPr>
            <a:r>
              <a:rPr lang="en-US" sz="720" u="sng" dirty="0">
                <a:solidFill>
                  <a:srgbClr val="8C6239"/>
                </a:solidFill>
                <a:hlinkClick r:id="rId66" tooltip="https://fred.stlouisfed.org/series/NEWORDER">
                  <a:extLst>
                    <a:ext uri="{A12FA001-AC4F-418D-AE19-62706E023703}">
                      <ahyp:hlinkClr xmlns:ahyp="http://schemas.microsoft.com/office/drawing/2018/hyperlinkcolor" val="tx"/>
                    </a:ext>
                  </a:extLst>
                </a:hlinkClick>
              </a:rPr>
              <a:t>FRED: Core capital goods orders (NEWORDER)</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7" tooltip="https://fred.stlouisfed.org/series/MCUMFN">
                  <a:extLst>
                    <a:ext uri="{A12FA001-AC4F-418D-AE19-62706E023703}">
                      <ahyp:hlinkClr xmlns:ahyp="http://schemas.microsoft.com/office/drawing/2018/hyperlinkcolor" val="tx"/>
                    </a:ext>
                  </a:extLst>
                </a:hlinkClick>
              </a:rPr>
              <a:t>FRED: Manufacturing capacity utilization (MCUMFN)</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8" tooltip="https://fred.stlouisfed.org/series/TTLCONS">
                  <a:extLst>
                    <a:ext uri="{A12FA001-AC4F-418D-AE19-62706E023703}">
                      <ahyp:hlinkClr xmlns:ahyp="http://schemas.microsoft.com/office/drawing/2018/hyperlinkcolor" val="tx"/>
                    </a:ext>
                  </a:extLst>
                </a:hlinkClick>
              </a:rPr>
              <a:t>FRED: Total construction spending (TTLCONS)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9" tooltip="https://fred.stlouisfed.org/series/TLMFGCONS">
                  <a:extLst>
                    <a:ext uri="{A12FA001-AC4F-418D-AE19-62706E023703}">
                      <ahyp:hlinkClr xmlns:ahyp="http://schemas.microsoft.com/office/drawing/2018/hyperlinkcolor" val="tx"/>
                    </a:ext>
                  </a:extLst>
                </a:hlinkClick>
              </a:rPr>
              <a:t>FRED: Manufacturing construction (TLMFGCONS)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0" tooltip="https://fred.stlouisfed.org/series/WPU1017">
                  <a:extLst>
                    <a:ext uri="{A12FA001-AC4F-418D-AE19-62706E023703}">
                      <ahyp:hlinkClr xmlns:ahyp="http://schemas.microsoft.com/office/drawing/2018/hyperlinkcolor" val="tx"/>
                    </a:ext>
                  </a:extLst>
                </a:hlinkClick>
              </a:rPr>
              <a:t>FRED: Steel mill product prices (WPU1017)</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1" tooltip="https://fred.stlouisfed.org/series/GASDESM">
                  <a:extLst>
                    <a:ext uri="{A12FA001-AC4F-418D-AE19-62706E023703}">
                      <ahyp:hlinkClr xmlns:ahyp="http://schemas.microsoft.com/office/drawing/2018/hyperlinkcolor" val="tx"/>
                    </a:ext>
                  </a:extLst>
                </a:hlinkClick>
              </a:rPr>
              <a:t>FRED: Diesel price (GASDESM)</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2" tooltip="https://fred.stlouisfed.org/series/FRGSHPUSM649NCIS">
                  <a:extLst>
                    <a:ext uri="{A12FA001-AC4F-418D-AE19-62706E023703}">
                      <ahyp:hlinkClr xmlns:ahyp="http://schemas.microsoft.com/office/drawing/2018/hyperlinkcolor" val="tx"/>
                    </a:ext>
                  </a:extLst>
                </a:hlinkClick>
              </a:rPr>
              <a:t>FRED: Cass Freight Index: shipments (FRGSHPUSM649NCIS)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3" tooltip="https://fred.stlouisfed.org/series/GS10">
                  <a:extLst>
                    <a:ext uri="{A12FA001-AC4F-418D-AE19-62706E023703}">
                      <ahyp:hlinkClr xmlns:ahyp="http://schemas.microsoft.com/office/drawing/2018/hyperlinkcolor" val="tx"/>
                    </a:ext>
                  </a:extLst>
                </a:hlinkClick>
              </a:rPr>
              <a:t>FRED: 10-year Treasury yield (GS10)</a:t>
            </a:r>
            <a:r>
              <a:rPr lang="en-US" sz="720" dirty="0">
                <a:solidFill>
                  <a:srgbClr val="6F6A66"/>
                </a:solidFill>
              </a:rPr>
              <a:t>  fred.stlouisfed.org</a:t>
            </a:r>
            <a:endParaRPr lang="en-US" sz="720" dirty="0"/>
          </a:p>
        </p:txBody>
      </p:sp>
      <p:sp>
        <p:nvSpPr>
          <p:cNvPr id="8" name="Method note"/>
          <p:cNvSpPr/>
          <p:nvPr/>
        </p:nvSpPr>
        <p:spPr>
          <a:xfrm>
            <a:off x="6731000" y="5334000"/>
            <a:ext cx="2908300" cy="1524000"/>
          </a:xfrm>
          <a:prstGeom prst="rect">
            <a:avLst/>
          </a:prstGeom>
          <a:solidFill>
            <a:srgbClr val="FAF7F3"/>
          </a:solidFill>
          <a:ln/>
        </p:spPr>
        <p:txBody>
          <a:bodyPr/>
          <a:lstStyle/>
          <a:p>
            <a:endParaRPr lang="en-US"/>
          </a:p>
        </p:txBody>
      </p:sp>
      <p:sp>
        <p:nvSpPr>
          <p:cNvPr id="9" name="Shape 7"/>
          <p:cNvSpPr/>
          <p:nvPr/>
        </p:nvSpPr>
        <p:spPr>
          <a:xfrm>
            <a:off x="6740525" y="5334000"/>
            <a:ext cx="0" cy="1524000"/>
          </a:xfrm>
          <a:prstGeom prst="line">
            <a:avLst/>
          </a:prstGeom>
          <a:noFill/>
          <a:ln w="28575">
            <a:solidFill>
              <a:srgbClr val="B68757"/>
            </a:solidFill>
            <a:prstDash val="solid"/>
          </a:ln>
        </p:spPr>
        <p:txBody>
          <a:bodyPr/>
          <a:lstStyle/>
          <a:p>
            <a:endParaRPr lang="en-US"/>
          </a:p>
        </p:txBody>
      </p:sp>
      <p:sp>
        <p:nvSpPr>
          <p:cNvPr id="10" name="Text 8"/>
          <p:cNvSpPr txBox="1"/>
          <p:nvPr/>
        </p:nvSpPr>
        <p:spPr>
          <a:xfrm>
            <a:off x="6845300" y="5448300"/>
            <a:ext cx="2679700" cy="1333500"/>
          </a:xfrm>
          <a:prstGeom prst="rect">
            <a:avLst/>
          </a:prstGeom>
          <a:noFill/>
          <a:ln/>
        </p:spPr>
        <p:txBody>
          <a:bodyPr wrap="square" lIns="0" tIns="0" rIns="0" bIns="0" rtlCol="0" anchor="t"/>
          <a:lstStyle/>
          <a:p>
            <a:pPr marL="0" indent="0">
              <a:lnSpc>
                <a:spcPts val="1050"/>
              </a:lnSpc>
              <a:buNone/>
            </a:pPr>
            <a:r>
              <a:rPr lang="en-US" sz="720" b="1" dirty="0">
                <a:solidFill>
                  <a:srgbClr val="1B1A1A"/>
                </a:solidFill>
              </a:rPr>
              <a:t>How the figures were gathered. </a:t>
            </a:r>
            <a:r>
              <a:rPr lang="en-US" sz="720" dirty="0">
                <a:solidFill>
                  <a:srgbClr val="333231"/>
                </a:solidFill>
              </a:rPr>
              <a:t>Listed-company figures are from StockAnalysis and use reported results. Economic series are from FRED. Benchmark International figures are from the firm’s transaction records as of October 1, 2026. Subscription and registration sources that would add depth, including GF Data, PitchBook and S&amp;P Capital IQ, are listed in a separate one-page companion.</a:t>
            </a:r>
            <a:endParaRPr lang="en-US" sz="720"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17</a:t>
            </a:fld>
            <a:endParaRPr lang="en-US"/>
          </a:p>
        </p:txBody>
      </p:sp>
    </p:spTree>
  </p:cSld>
  <p:clrMapOvr>
    <a:masterClrMapping/>
  </p:clrMapOvr>
</p:sld>
</file>

<file path=ppt/theme/theme1.xml><?xml version="1.0" encoding="utf-8"?>
<a:theme xmlns:a="http://schemas.openxmlformats.org/drawingml/2006/main" name="Benchmark International">
  <a:themeElements>
    <a:clrScheme name="Benchmark International">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C3BDB6"/>
      </a:accent5>
      <a:accent6>
        <a:srgbClr val="E3DCD3"/>
      </a:accent6>
      <a:hlink>
        <a:srgbClr val="8C6239"/>
      </a:hlink>
      <a:folHlink>
        <a:srgbClr val="5E4126"/>
      </a:folHlink>
    </a:clrScheme>
    <a:fontScheme name="Benchmark Internat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TotalTime>
  <Words>6107</Words>
  <Application>Microsoft Office PowerPoint</Application>
  <PresentationFormat>Custom</PresentationFormat>
  <Paragraphs>635</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Benchmark International</vt:lpstr>
      <vt:lpstr>PowerPoint Presentation</vt:lpstr>
      <vt:lpstr>Insights</vt:lpstr>
      <vt:lpstr>Market Insights: Q4 2026</vt:lpstr>
      <vt:lpstr>Power Demand: The Buildout Reaches Every Industrial Segment</vt:lpstr>
      <vt:lpstr>Featured Engagement: The Carmi Companies</vt:lpstr>
      <vt:lpstr>Sector Activity</vt:lpstr>
      <vt:lpstr>Select Recent Industrial Transactions</vt:lpstr>
      <vt:lpstr>Select Recent Industrial Transactions (Continued)</vt:lpstr>
      <vt:lpstr>Benchmark International’s Industrial Transactions</vt:lpstr>
      <vt:lpstr>Public Company Performance and Trends: Valuation History</vt:lpstr>
      <vt:lpstr>Public Company Performance and Trends: Operating Metrics</vt:lpstr>
      <vt:lpstr>Public Company Performance and Trends: Valuation Metrics</vt:lpstr>
      <vt:lpstr>Economic Trends</vt:lpstr>
      <vt:lpstr>Connect With Us</vt:lpstr>
      <vt:lpstr>Connect With Our Team</vt:lpstr>
      <vt:lpstr>Important Disclosures</vt:lpstr>
      <vt:lpstr>Sources</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Industrial Q4 2026 Industry Report</dc:title>
  <dc:subject>Industrial quarterly industry report, Q4 2026</dc:subject>
  <dc:creator>Jared Hardin, Benchmark International</dc:creator>
  <cp:lastModifiedBy>Benchmark International</cp:lastModifiedBy>
  <cp:revision>3</cp:revision>
  <dcterms:created xsi:type="dcterms:W3CDTF">2026-10-12T16:51:24Z</dcterms:created>
  <dcterms:modified xsi:type="dcterms:W3CDTF">2026-10-13T16:46:10Z</dcterms:modified>
  <dc:description/>
  <cp:keywords/>
</cp:coreProperties>
</file>